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00.xml" ContentType="application/vnd.openxmlformats-officedocument.presentationml.notesSlide+xml"/>
  <Override PartName="/ppt/notesSlides/notesSlide1001.xml" ContentType="application/vnd.openxmlformats-officedocument.presentationml.notesSlide+xml"/>
  <Override PartName="/ppt/notesSlides/notesSlide1002.xml" ContentType="application/vnd.openxmlformats-officedocument.presentationml.notesSlide+xml"/>
  <Override PartName="/ppt/notesSlides/notesSlide1003.xml" ContentType="application/vnd.openxmlformats-officedocument.presentationml.notesSlide+xml"/>
  <Override PartName="/ppt/notesSlides/notesSlide1004.xml" ContentType="application/vnd.openxmlformats-officedocument.presentationml.notesSlide+xml"/>
  <Override PartName="/ppt/notesSlides/notesSlide1005.xml" ContentType="application/vnd.openxmlformats-officedocument.presentationml.notesSlide+xml"/>
  <Override PartName="/ppt/notesSlides/notesSlide1006.xml" ContentType="application/vnd.openxmlformats-officedocument.presentationml.notesSlide+xml"/>
  <Override PartName="/ppt/notesSlides/notesSlide1007.xml" ContentType="application/vnd.openxmlformats-officedocument.presentationml.notesSlide+xml"/>
  <Override PartName="/ppt/notesSlides/notesSlide1008.xml" ContentType="application/vnd.openxmlformats-officedocument.presentationml.notesSlide+xml"/>
  <Override PartName="/ppt/notesSlides/notesSlide1009.xml" ContentType="application/vnd.openxmlformats-officedocument.presentationml.notesSlide+xml"/>
  <Override PartName="/ppt/notesSlides/notesSlide101.xml" ContentType="application/vnd.openxmlformats-officedocument.presentationml.notesSlide+xml"/>
  <Override PartName="/ppt/notesSlides/notesSlide1010.xml" ContentType="application/vnd.openxmlformats-officedocument.presentationml.notesSlide+xml"/>
  <Override PartName="/ppt/notesSlides/notesSlide1011.xml" ContentType="application/vnd.openxmlformats-officedocument.presentationml.notesSlide+xml"/>
  <Override PartName="/ppt/notesSlides/notesSlide1012.xml" ContentType="application/vnd.openxmlformats-officedocument.presentationml.notesSlide+xml"/>
  <Override PartName="/ppt/notesSlides/notesSlide1013.xml" ContentType="application/vnd.openxmlformats-officedocument.presentationml.notesSlide+xml"/>
  <Override PartName="/ppt/notesSlides/notesSlide1014.xml" ContentType="application/vnd.openxmlformats-officedocument.presentationml.notesSlide+xml"/>
  <Override PartName="/ppt/notesSlides/notesSlide1015.xml" ContentType="application/vnd.openxmlformats-officedocument.presentationml.notesSlide+xml"/>
  <Override PartName="/ppt/notesSlides/notesSlide1016.xml" ContentType="application/vnd.openxmlformats-officedocument.presentationml.notesSlide+xml"/>
  <Override PartName="/ppt/notesSlides/notesSlide1017.xml" ContentType="application/vnd.openxmlformats-officedocument.presentationml.notesSlide+xml"/>
  <Override PartName="/ppt/notesSlides/notesSlide1018.xml" ContentType="application/vnd.openxmlformats-officedocument.presentationml.notesSlide+xml"/>
  <Override PartName="/ppt/notesSlides/notesSlide1019.xml" ContentType="application/vnd.openxmlformats-officedocument.presentationml.notesSlide+xml"/>
  <Override PartName="/ppt/notesSlides/notesSlide102.xml" ContentType="application/vnd.openxmlformats-officedocument.presentationml.notesSlide+xml"/>
  <Override PartName="/ppt/notesSlides/notesSlide1020.xml" ContentType="application/vnd.openxmlformats-officedocument.presentationml.notesSlide+xml"/>
  <Override PartName="/ppt/notesSlides/notesSlide1021.xml" ContentType="application/vnd.openxmlformats-officedocument.presentationml.notesSlide+xml"/>
  <Override PartName="/ppt/notesSlides/notesSlide1022.xml" ContentType="application/vnd.openxmlformats-officedocument.presentationml.notesSlide+xml"/>
  <Override PartName="/ppt/notesSlides/notesSlide1023.xml" ContentType="application/vnd.openxmlformats-officedocument.presentationml.notesSlide+xml"/>
  <Override PartName="/ppt/notesSlides/notesSlide1024.xml" ContentType="application/vnd.openxmlformats-officedocument.presentationml.notesSlide+xml"/>
  <Override PartName="/ppt/notesSlides/notesSlide1025.xml" ContentType="application/vnd.openxmlformats-officedocument.presentationml.notesSlide+xml"/>
  <Override PartName="/ppt/notesSlides/notesSlide1026.xml" ContentType="application/vnd.openxmlformats-officedocument.presentationml.notesSlide+xml"/>
  <Override PartName="/ppt/notesSlides/notesSlide1027.xml" ContentType="application/vnd.openxmlformats-officedocument.presentationml.notesSlide+xml"/>
  <Override PartName="/ppt/notesSlides/notesSlide1028.xml" ContentType="application/vnd.openxmlformats-officedocument.presentationml.notesSlide+xml"/>
  <Override PartName="/ppt/notesSlides/notesSlide1029.xml" ContentType="application/vnd.openxmlformats-officedocument.presentationml.notesSlide+xml"/>
  <Override PartName="/ppt/notesSlides/notesSlide103.xml" ContentType="application/vnd.openxmlformats-officedocument.presentationml.notesSlide+xml"/>
  <Override PartName="/ppt/notesSlides/notesSlide1030.xml" ContentType="application/vnd.openxmlformats-officedocument.presentationml.notesSlide+xml"/>
  <Override PartName="/ppt/notesSlides/notesSlide1031.xml" ContentType="application/vnd.openxmlformats-officedocument.presentationml.notesSlide+xml"/>
  <Override PartName="/ppt/notesSlides/notesSlide1032.xml" ContentType="application/vnd.openxmlformats-officedocument.presentationml.notesSlide+xml"/>
  <Override PartName="/ppt/notesSlides/notesSlide1033.xml" ContentType="application/vnd.openxmlformats-officedocument.presentationml.notesSlide+xml"/>
  <Override PartName="/ppt/notesSlides/notesSlide1034.xml" ContentType="application/vnd.openxmlformats-officedocument.presentationml.notesSlide+xml"/>
  <Override PartName="/ppt/notesSlides/notesSlide1035.xml" ContentType="application/vnd.openxmlformats-officedocument.presentationml.notesSlide+xml"/>
  <Override PartName="/ppt/notesSlides/notesSlide1036.xml" ContentType="application/vnd.openxmlformats-officedocument.presentationml.notesSlide+xml"/>
  <Override PartName="/ppt/notesSlides/notesSlide1037.xml" ContentType="application/vnd.openxmlformats-officedocument.presentationml.notesSlide+xml"/>
  <Override PartName="/ppt/notesSlides/notesSlide1038.xml" ContentType="application/vnd.openxmlformats-officedocument.presentationml.notesSlide+xml"/>
  <Override PartName="/ppt/notesSlides/notesSlide1039.xml" ContentType="application/vnd.openxmlformats-officedocument.presentationml.notesSlide+xml"/>
  <Override PartName="/ppt/notesSlides/notesSlide104.xml" ContentType="application/vnd.openxmlformats-officedocument.presentationml.notesSlide+xml"/>
  <Override PartName="/ppt/notesSlides/notesSlide1040.xml" ContentType="application/vnd.openxmlformats-officedocument.presentationml.notesSlide+xml"/>
  <Override PartName="/ppt/notesSlides/notesSlide1041.xml" ContentType="application/vnd.openxmlformats-officedocument.presentationml.notesSlide+xml"/>
  <Override PartName="/ppt/notesSlides/notesSlide1042.xml" ContentType="application/vnd.openxmlformats-officedocument.presentationml.notesSlide+xml"/>
  <Override PartName="/ppt/notesSlides/notesSlide1043.xml" ContentType="application/vnd.openxmlformats-officedocument.presentationml.notesSlide+xml"/>
  <Override PartName="/ppt/notesSlides/notesSlide1044.xml" ContentType="application/vnd.openxmlformats-officedocument.presentationml.notesSlide+xml"/>
  <Override PartName="/ppt/notesSlides/notesSlide1045.xml" ContentType="application/vnd.openxmlformats-officedocument.presentationml.notesSlide+xml"/>
  <Override PartName="/ppt/notesSlides/notesSlide1046.xml" ContentType="application/vnd.openxmlformats-officedocument.presentationml.notesSlide+xml"/>
  <Override PartName="/ppt/notesSlides/notesSlide1047.xml" ContentType="application/vnd.openxmlformats-officedocument.presentationml.notesSlide+xml"/>
  <Override PartName="/ppt/notesSlides/notesSlide1048.xml" ContentType="application/vnd.openxmlformats-officedocument.presentationml.notesSlide+xml"/>
  <Override PartName="/ppt/notesSlides/notesSlide1049.xml" ContentType="application/vnd.openxmlformats-officedocument.presentationml.notesSlide+xml"/>
  <Override PartName="/ppt/notesSlides/notesSlide105.xml" ContentType="application/vnd.openxmlformats-officedocument.presentationml.notesSlide+xml"/>
  <Override PartName="/ppt/notesSlides/notesSlide1050.xml" ContentType="application/vnd.openxmlformats-officedocument.presentationml.notesSlide+xml"/>
  <Override PartName="/ppt/notesSlides/notesSlide1051.xml" ContentType="application/vnd.openxmlformats-officedocument.presentationml.notesSlide+xml"/>
  <Override PartName="/ppt/notesSlides/notesSlide1052.xml" ContentType="application/vnd.openxmlformats-officedocument.presentationml.notesSlide+xml"/>
  <Override PartName="/ppt/notesSlides/notesSlide1053.xml" ContentType="application/vnd.openxmlformats-officedocument.presentationml.notesSlide+xml"/>
  <Override PartName="/ppt/notesSlides/notesSlide1054.xml" ContentType="application/vnd.openxmlformats-officedocument.presentationml.notesSlide+xml"/>
  <Override PartName="/ppt/notesSlides/notesSlide1055.xml" ContentType="application/vnd.openxmlformats-officedocument.presentationml.notesSlide+xml"/>
  <Override PartName="/ppt/notesSlides/notesSlide1056.xml" ContentType="application/vnd.openxmlformats-officedocument.presentationml.notesSlide+xml"/>
  <Override PartName="/ppt/notesSlides/notesSlide1057.xml" ContentType="application/vnd.openxmlformats-officedocument.presentationml.notesSlide+xml"/>
  <Override PartName="/ppt/notesSlides/notesSlide1058.xml" ContentType="application/vnd.openxmlformats-officedocument.presentationml.notesSlide+xml"/>
  <Override PartName="/ppt/notesSlides/notesSlide1059.xml" ContentType="application/vnd.openxmlformats-officedocument.presentationml.notesSlide+xml"/>
  <Override PartName="/ppt/notesSlides/notesSlide106.xml" ContentType="application/vnd.openxmlformats-officedocument.presentationml.notesSlide+xml"/>
  <Override PartName="/ppt/notesSlides/notesSlide1060.xml" ContentType="application/vnd.openxmlformats-officedocument.presentationml.notesSlide+xml"/>
  <Override PartName="/ppt/notesSlides/notesSlide1061.xml" ContentType="application/vnd.openxmlformats-officedocument.presentationml.notesSlide+xml"/>
  <Override PartName="/ppt/notesSlides/notesSlide1062.xml" ContentType="application/vnd.openxmlformats-officedocument.presentationml.notesSlide+xml"/>
  <Override PartName="/ppt/notesSlides/notesSlide1063.xml" ContentType="application/vnd.openxmlformats-officedocument.presentationml.notesSlide+xml"/>
  <Override PartName="/ppt/notesSlides/notesSlide1064.xml" ContentType="application/vnd.openxmlformats-officedocument.presentationml.notesSlide+xml"/>
  <Override PartName="/ppt/notesSlides/notesSlide1065.xml" ContentType="application/vnd.openxmlformats-officedocument.presentationml.notesSlide+xml"/>
  <Override PartName="/ppt/notesSlides/notesSlide1066.xml" ContentType="application/vnd.openxmlformats-officedocument.presentationml.notesSlide+xml"/>
  <Override PartName="/ppt/notesSlides/notesSlide1067.xml" ContentType="application/vnd.openxmlformats-officedocument.presentationml.notesSlide+xml"/>
  <Override PartName="/ppt/notesSlides/notesSlide1068.xml" ContentType="application/vnd.openxmlformats-officedocument.presentationml.notesSlide+xml"/>
  <Override PartName="/ppt/notesSlides/notesSlide1069.xml" ContentType="application/vnd.openxmlformats-officedocument.presentationml.notesSlide+xml"/>
  <Override PartName="/ppt/notesSlides/notesSlide107.xml" ContentType="application/vnd.openxmlformats-officedocument.presentationml.notesSlide+xml"/>
  <Override PartName="/ppt/notesSlides/notesSlide1070.xml" ContentType="application/vnd.openxmlformats-officedocument.presentationml.notesSlide+xml"/>
  <Override PartName="/ppt/notesSlides/notesSlide1071.xml" ContentType="application/vnd.openxmlformats-officedocument.presentationml.notesSlide+xml"/>
  <Override PartName="/ppt/notesSlides/notesSlide1072.xml" ContentType="application/vnd.openxmlformats-officedocument.presentationml.notesSlide+xml"/>
  <Override PartName="/ppt/notesSlides/notesSlide1073.xml" ContentType="application/vnd.openxmlformats-officedocument.presentationml.notesSlide+xml"/>
  <Override PartName="/ppt/notesSlides/notesSlide1074.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ppt/notesSlides/notesSlide262.xml" ContentType="application/vnd.openxmlformats-officedocument.presentationml.notesSlide+xml"/>
  <Override PartName="/ppt/notesSlides/notesSlide263.xml" ContentType="application/vnd.openxmlformats-officedocument.presentationml.notesSlide+xml"/>
  <Override PartName="/ppt/notesSlides/notesSlide264.xml" ContentType="application/vnd.openxmlformats-officedocument.presentationml.notesSlide+xml"/>
  <Override PartName="/ppt/notesSlides/notesSlide265.xml" ContentType="application/vnd.openxmlformats-officedocument.presentationml.notesSlide+xml"/>
  <Override PartName="/ppt/notesSlides/notesSlide266.xml" ContentType="application/vnd.openxmlformats-officedocument.presentationml.notesSlide+xml"/>
  <Override PartName="/ppt/notesSlides/notesSlide267.xml" ContentType="application/vnd.openxmlformats-officedocument.presentationml.notesSlide+xml"/>
  <Override PartName="/ppt/notesSlides/notesSlide268.xml" ContentType="application/vnd.openxmlformats-officedocument.presentationml.notesSlide+xml"/>
  <Override PartName="/ppt/notesSlides/notesSlide269.xml" ContentType="application/vnd.openxmlformats-officedocument.presentationml.notesSlide+xml"/>
  <Override PartName="/ppt/notesSlides/notesSlide27.xml" ContentType="application/vnd.openxmlformats-officedocument.presentationml.notesSlide+xml"/>
  <Override PartName="/ppt/notesSlides/notesSlide270.xml" ContentType="application/vnd.openxmlformats-officedocument.presentationml.notesSlide+xml"/>
  <Override PartName="/ppt/notesSlides/notesSlide271.xml" ContentType="application/vnd.openxmlformats-officedocument.presentationml.notesSlide+xml"/>
  <Override PartName="/ppt/notesSlides/notesSlide272.xml" ContentType="application/vnd.openxmlformats-officedocument.presentationml.notesSlide+xml"/>
  <Override PartName="/ppt/notesSlides/notesSlide273.xml" ContentType="application/vnd.openxmlformats-officedocument.presentationml.notesSlide+xml"/>
  <Override PartName="/ppt/notesSlides/notesSlide274.xml" ContentType="application/vnd.openxmlformats-officedocument.presentationml.notesSlide+xml"/>
  <Override PartName="/ppt/notesSlides/notesSlide275.xml" ContentType="application/vnd.openxmlformats-officedocument.presentationml.notesSlide+xml"/>
  <Override PartName="/ppt/notesSlides/notesSlide276.xml" ContentType="application/vnd.openxmlformats-officedocument.presentationml.notesSlide+xml"/>
  <Override PartName="/ppt/notesSlides/notesSlide277.xml" ContentType="application/vnd.openxmlformats-officedocument.presentationml.notesSlide+xml"/>
  <Override PartName="/ppt/notesSlides/notesSlide278.xml" ContentType="application/vnd.openxmlformats-officedocument.presentationml.notesSlide+xml"/>
  <Override PartName="/ppt/notesSlides/notesSlide279.xml" ContentType="application/vnd.openxmlformats-officedocument.presentationml.notesSlide+xml"/>
  <Override PartName="/ppt/notesSlides/notesSlide28.xml" ContentType="application/vnd.openxmlformats-officedocument.presentationml.notesSlide+xml"/>
  <Override PartName="/ppt/notesSlides/notesSlide280.xml" ContentType="application/vnd.openxmlformats-officedocument.presentationml.notesSlide+xml"/>
  <Override PartName="/ppt/notesSlides/notesSlide281.xml" ContentType="application/vnd.openxmlformats-officedocument.presentationml.notesSlide+xml"/>
  <Override PartName="/ppt/notesSlides/notesSlide282.xml" ContentType="application/vnd.openxmlformats-officedocument.presentationml.notesSlide+xml"/>
  <Override PartName="/ppt/notesSlides/notesSlide283.xml" ContentType="application/vnd.openxmlformats-officedocument.presentationml.notesSlide+xml"/>
  <Override PartName="/ppt/notesSlides/notesSlide284.xml" ContentType="application/vnd.openxmlformats-officedocument.presentationml.notesSlide+xml"/>
  <Override PartName="/ppt/notesSlides/notesSlide285.xml" ContentType="application/vnd.openxmlformats-officedocument.presentationml.notesSlide+xml"/>
  <Override PartName="/ppt/notesSlides/notesSlide286.xml" ContentType="application/vnd.openxmlformats-officedocument.presentationml.notesSlide+xml"/>
  <Override PartName="/ppt/notesSlides/notesSlide287.xml" ContentType="application/vnd.openxmlformats-officedocument.presentationml.notesSlide+xml"/>
  <Override PartName="/ppt/notesSlides/notesSlide288.xml" ContentType="application/vnd.openxmlformats-officedocument.presentationml.notesSlide+xml"/>
  <Override PartName="/ppt/notesSlides/notesSlide289.xml" ContentType="application/vnd.openxmlformats-officedocument.presentationml.notesSlide+xml"/>
  <Override PartName="/ppt/notesSlides/notesSlide29.xml" ContentType="application/vnd.openxmlformats-officedocument.presentationml.notesSlide+xml"/>
  <Override PartName="/ppt/notesSlides/notesSlide290.xml" ContentType="application/vnd.openxmlformats-officedocument.presentationml.notesSlide+xml"/>
  <Override PartName="/ppt/notesSlides/notesSlide291.xml" ContentType="application/vnd.openxmlformats-officedocument.presentationml.notesSlide+xml"/>
  <Override PartName="/ppt/notesSlides/notesSlide292.xml" ContentType="application/vnd.openxmlformats-officedocument.presentationml.notesSlide+xml"/>
  <Override PartName="/ppt/notesSlides/notesSlide293.xml" ContentType="application/vnd.openxmlformats-officedocument.presentationml.notesSlide+xml"/>
  <Override PartName="/ppt/notesSlides/notesSlide294.xml" ContentType="application/vnd.openxmlformats-officedocument.presentationml.notesSlide+xml"/>
  <Override PartName="/ppt/notesSlides/notesSlide295.xml" ContentType="application/vnd.openxmlformats-officedocument.presentationml.notesSlide+xml"/>
  <Override PartName="/ppt/notesSlides/notesSlide296.xml" ContentType="application/vnd.openxmlformats-officedocument.presentationml.notesSlide+xml"/>
  <Override PartName="/ppt/notesSlides/notesSlide297.xml" ContentType="application/vnd.openxmlformats-officedocument.presentationml.notesSlide+xml"/>
  <Override PartName="/ppt/notesSlides/notesSlide298.xml" ContentType="application/vnd.openxmlformats-officedocument.presentationml.notesSlide+xml"/>
  <Override PartName="/ppt/notesSlides/notesSlide29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00.xml" ContentType="application/vnd.openxmlformats-officedocument.presentationml.notesSlide+xml"/>
  <Override PartName="/ppt/notesSlides/notesSlide301.xml" ContentType="application/vnd.openxmlformats-officedocument.presentationml.notesSlide+xml"/>
  <Override PartName="/ppt/notesSlides/notesSlide302.xml" ContentType="application/vnd.openxmlformats-officedocument.presentationml.notesSlide+xml"/>
  <Override PartName="/ppt/notesSlides/notesSlide303.xml" ContentType="application/vnd.openxmlformats-officedocument.presentationml.notesSlide+xml"/>
  <Override PartName="/ppt/notesSlides/notesSlide304.xml" ContentType="application/vnd.openxmlformats-officedocument.presentationml.notesSlide+xml"/>
  <Override PartName="/ppt/notesSlides/notesSlide305.xml" ContentType="application/vnd.openxmlformats-officedocument.presentationml.notesSlide+xml"/>
  <Override PartName="/ppt/notesSlides/notesSlide306.xml" ContentType="application/vnd.openxmlformats-officedocument.presentationml.notesSlide+xml"/>
  <Override PartName="/ppt/notesSlides/notesSlide307.xml" ContentType="application/vnd.openxmlformats-officedocument.presentationml.notesSlide+xml"/>
  <Override PartName="/ppt/notesSlides/notesSlide308.xml" ContentType="application/vnd.openxmlformats-officedocument.presentationml.notesSlide+xml"/>
  <Override PartName="/ppt/notesSlides/notesSlide309.xml" ContentType="application/vnd.openxmlformats-officedocument.presentationml.notesSlide+xml"/>
  <Override PartName="/ppt/notesSlides/notesSlide31.xml" ContentType="application/vnd.openxmlformats-officedocument.presentationml.notesSlide+xml"/>
  <Override PartName="/ppt/notesSlides/notesSlide310.xml" ContentType="application/vnd.openxmlformats-officedocument.presentationml.notesSlide+xml"/>
  <Override PartName="/ppt/notesSlides/notesSlide311.xml" ContentType="application/vnd.openxmlformats-officedocument.presentationml.notesSlide+xml"/>
  <Override PartName="/ppt/notesSlides/notesSlide312.xml" ContentType="application/vnd.openxmlformats-officedocument.presentationml.notesSlide+xml"/>
  <Override PartName="/ppt/notesSlides/notesSlide313.xml" ContentType="application/vnd.openxmlformats-officedocument.presentationml.notesSlide+xml"/>
  <Override PartName="/ppt/notesSlides/notesSlide314.xml" ContentType="application/vnd.openxmlformats-officedocument.presentationml.notesSlide+xml"/>
  <Override PartName="/ppt/notesSlides/notesSlide315.xml" ContentType="application/vnd.openxmlformats-officedocument.presentationml.notesSlide+xml"/>
  <Override PartName="/ppt/notesSlides/notesSlide316.xml" ContentType="application/vnd.openxmlformats-officedocument.presentationml.notesSlide+xml"/>
  <Override PartName="/ppt/notesSlides/notesSlide317.xml" ContentType="application/vnd.openxmlformats-officedocument.presentationml.notesSlide+xml"/>
  <Override PartName="/ppt/notesSlides/notesSlide318.xml" ContentType="application/vnd.openxmlformats-officedocument.presentationml.notesSlide+xml"/>
  <Override PartName="/ppt/notesSlides/notesSlide319.xml" ContentType="application/vnd.openxmlformats-officedocument.presentationml.notesSlide+xml"/>
  <Override PartName="/ppt/notesSlides/notesSlide32.xml" ContentType="application/vnd.openxmlformats-officedocument.presentationml.notesSlide+xml"/>
  <Override PartName="/ppt/notesSlides/notesSlide320.xml" ContentType="application/vnd.openxmlformats-officedocument.presentationml.notesSlide+xml"/>
  <Override PartName="/ppt/notesSlides/notesSlide321.xml" ContentType="application/vnd.openxmlformats-officedocument.presentationml.notesSlide+xml"/>
  <Override PartName="/ppt/notesSlides/notesSlide322.xml" ContentType="application/vnd.openxmlformats-officedocument.presentationml.notesSlide+xml"/>
  <Override PartName="/ppt/notesSlides/notesSlide323.xml" ContentType="application/vnd.openxmlformats-officedocument.presentationml.notesSlide+xml"/>
  <Override PartName="/ppt/notesSlides/notesSlide324.xml" ContentType="application/vnd.openxmlformats-officedocument.presentationml.notesSlide+xml"/>
  <Override PartName="/ppt/notesSlides/notesSlide325.xml" ContentType="application/vnd.openxmlformats-officedocument.presentationml.notesSlide+xml"/>
  <Override PartName="/ppt/notesSlides/notesSlide326.xml" ContentType="application/vnd.openxmlformats-officedocument.presentationml.notesSlide+xml"/>
  <Override PartName="/ppt/notesSlides/notesSlide327.xml" ContentType="application/vnd.openxmlformats-officedocument.presentationml.notesSlide+xml"/>
  <Override PartName="/ppt/notesSlides/notesSlide328.xml" ContentType="application/vnd.openxmlformats-officedocument.presentationml.notesSlide+xml"/>
  <Override PartName="/ppt/notesSlides/notesSlide329.xml" ContentType="application/vnd.openxmlformats-officedocument.presentationml.notesSlide+xml"/>
  <Override PartName="/ppt/notesSlides/notesSlide33.xml" ContentType="application/vnd.openxmlformats-officedocument.presentationml.notesSlide+xml"/>
  <Override PartName="/ppt/notesSlides/notesSlide330.xml" ContentType="application/vnd.openxmlformats-officedocument.presentationml.notesSlide+xml"/>
  <Override PartName="/ppt/notesSlides/notesSlide331.xml" ContentType="application/vnd.openxmlformats-officedocument.presentationml.notesSlide+xml"/>
  <Override PartName="/ppt/notesSlides/notesSlide332.xml" ContentType="application/vnd.openxmlformats-officedocument.presentationml.notesSlide+xml"/>
  <Override PartName="/ppt/notesSlides/notesSlide333.xml" ContentType="application/vnd.openxmlformats-officedocument.presentationml.notesSlide+xml"/>
  <Override PartName="/ppt/notesSlides/notesSlide334.xml" ContentType="application/vnd.openxmlformats-officedocument.presentationml.notesSlide+xml"/>
  <Override PartName="/ppt/notesSlides/notesSlide335.xml" ContentType="application/vnd.openxmlformats-officedocument.presentationml.notesSlide+xml"/>
  <Override PartName="/ppt/notesSlides/notesSlide336.xml" ContentType="application/vnd.openxmlformats-officedocument.presentationml.notesSlide+xml"/>
  <Override PartName="/ppt/notesSlides/notesSlide337.xml" ContentType="application/vnd.openxmlformats-officedocument.presentationml.notesSlide+xml"/>
  <Override PartName="/ppt/notesSlides/notesSlide338.xml" ContentType="application/vnd.openxmlformats-officedocument.presentationml.notesSlide+xml"/>
  <Override PartName="/ppt/notesSlides/notesSlide339.xml" ContentType="application/vnd.openxmlformats-officedocument.presentationml.notesSlide+xml"/>
  <Override PartName="/ppt/notesSlides/notesSlide34.xml" ContentType="application/vnd.openxmlformats-officedocument.presentationml.notesSlide+xml"/>
  <Override PartName="/ppt/notesSlides/notesSlide340.xml" ContentType="application/vnd.openxmlformats-officedocument.presentationml.notesSlide+xml"/>
  <Override PartName="/ppt/notesSlides/notesSlide341.xml" ContentType="application/vnd.openxmlformats-officedocument.presentationml.notesSlide+xml"/>
  <Override PartName="/ppt/notesSlides/notesSlide342.xml" ContentType="application/vnd.openxmlformats-officedocument.presentationml.notesSlide+xml"/>
  <Override PartName="/ppt/notesSlides/notesSlide343.xml" ContentType="application/vnd.openxmlformats-officedocument.presentationml.notesSlide+xml"/>
  <Override PartName="/ppt/notesSlides/notesSlide344.xml" ContentType="application/vnd.openxmlformats-officedocument.presentationml.notesSlide+xml"/>
  <Override PartName="/ppt/notesSlides/notesSlide345.xml" ContentType="application/vnd.openxmlformats-officedocument.presentationml.notesSlide+xml"/>
  <Override PartName="/ppt/notesSlides/notesSlide346.xml" ContentType="application/vnd.openxmlformats-officedocument.presentationml.notesSlide+xml"/>
  <Override PartName="/ppt/notesSlides/notesSlide347.xml" ContentType="application/vnd.openxmlformats-officedocument.presentationml.notesSlide+xml"/>
  <Override PartName="/ppt/notesSlides/notesSlide348.xml" ContentType="application/vnd.openxmlformats-officedocument.presentationml.notesSlide+xml"/>
  <Override PartName="/ppt/notesSlides/notesSlide349.xml" ContentType="application/vnd.openxmlformats-officedocument.presentationml.notesSlide+xml"/>
  <Override PartName="/ppt/notesSlides/notesSlide35.xml" ContentType="application/vnd.openxmlformats-officedocument.presentationml.notesSlide+xml"/>
  <Override PartName="/ppt/notesSlides/notesSlide350.xml" ContentType="application/vnd.openxmlformats-officedocument.presentationml.notesSlide+xml"/>
  <Override PartName="/ppt/notesSlides/notesSlide351.xml" ContentType="application/vnd.openxmlformats-officedocument.presentationml.notesSlide+xml"/>
  <Override PartName="/ppt/notesSlides/notesSlide352.xml" ContentType="application/vnd.openxmlformats-officedocument.presentationml.notesSlide+xml"/>
  <Override PartName="/ppt/notesSlides/notesSlide353.xml" ContentType="application/vnd.openxmlformats-officedocument.presentationml.notesSlide+xml"/>
  <Override PartName="/ppt/notesSlides/notesSlide354.xml" ContentType="application/vnd.openxmlformats-officedocument.presentationml.notesSlide+xml"/>
  <Override PartName="/ppt/notesSlides/notesSlide355.xml" ContentType="application/vnd.openxmlformats-officedocument.presentationml.notesSlide+xml"/>
  <Override PartName="/ppt/notesSlides/notesSlide356.xml" ContentType="application/vnd.openxmlformats-officedocument.presentationml.notesSlide+xml"/>
  <Override PartName="/ppt/notesSlides/notesSlide357.xml" ContentType="application/vnd.openxmlformats-officedocument.presentationml.notesSlide+xml"/>
  <Override PartName="/ppt/notesSlides/notesSlide358.xml" ContentType="application/vnd.openxmlformats-officedocument.presentationml.notesSlide+xml"/>
  <Override PartName="/ppt/notesSlides/notesSlide359.xml" ContentType="application/vnd.openxmlformats-officedocument.presentationml.notesSlide+xml"/>
  <Override PartName="/ppt/notesSlides/notesSlide36.xml" ContentType="application/vnd.openxmlformats-officedocument.presentationml.notesSlide+xml"/>
  <Override PartName="/ppt/notesSlides/notesSlide360.xml" ContentType="application/vnd.openxmlformats-officedocument.presentationml.notesSlide+xml"/>
  <Override PartName="/ppt/notesSlides/notesSlide361.xml" ContentType="application/vnd.openxmlformats-officedocument.presentationml.notesSlide+xml"/>
  <Override PartName="/ppt/notesSlides/notesSlide362.xml" ContentType="application/vnd.openxmlformats-officedocument.presentationml.notesSlide+xml"/>
  <Override PartName="/ppt/notesSlides/notesSlide363.xml" ContentType="application/vnd.openxmlformats-officedocument.presentationml.notesSlide+xml"/>
  <Override PartName="/ppt/notesSlides/notesSlide364.xml" ContentType="application/vnd.openxmlformats-officedocument.presentationml.notesSlide+xml"/>
  <Override PartName="/ppt/notesSlides/notesSlide365.xml" ContentType="application/vnd.openxmlformats-officedocument.presentationml.notesSlide+xml"/>
  <Override PartName="/ppt/notesSlides/notesSlide366.xml" ContentType="application/vnd.openxmlformats-officedocument.presentationml.notesSlide+xml"/>
  <Override PartName="/ppt/notesSlides/notesSlide367.xml" ContentType="application/vnd.openxmlformats-officedocument.presentationml.notesSlide+xml"/>
  <Override PartName="/ppt/notesSlides/notesSlide368.xml" ContentType="application/vnd.openxmlformats-officedocument.presentationml.notesSlide+xml"/>
  <Override PartName="/ppt/notesSlides/notesSlide369.xml" ContentType="application/vnd.openxmlformats-officedocument.presentationml.notesSlide+xml"/>
  <Override PartName="/ppt/notesSlides/notesSlide37.xml" ContentType="application/vnd.openxmlformats-officedocument.presentationml.notesSlide+xml"/>
  <Override PartName="/ppt/notesSlides/notesSlide370.xml" ContentType="application/vnd.openxmlformats-officedocument.presentationml.notesSlide+xml"/>
  <Override PartName="/ppt/notesSlides/notesSlide371.xml" ContentType="application/vnd.openxmlformats-officedocument.presentationml.notesSlide+xml"/>
  <Override PartName="/ppt/notesSlides/notesSlide372.xml" ContentType="application/vnd.openxmlformats-officedocument.presentationml.notesSlide+xml"/>
  <Override PartName="/ppt/notesSlides/notesSlide373.xml" ContentType="application/vnd.openxmlformats-officedocument.presentationml.notesSlide+xml"/>
  <Override PartName="/ppt/notesSlides/notesSlide374.xml" ContentType="application/vnd.openxmlformats-officedocument.presentationml.notesSlide+xml"/>
  <Override PartName="/ppt/notesSlides/notesSlide375.xml" ContentType="application/vnd.openxmlformats-officedocument.presentationml.notesSlide+xml"/>
  <Override PartName="/ppt/notesSlides/notesSlide376.xml" ContentType="application/vnd.openxmlformats-officedocument.presentationml.notesSlide+xml"/>
  <Override PartName="/ppt/notesSlides/notesSlide377.xml" ContentType="application/vnd.openxmlformats-officedocument.presentationml.notesSlide+xml"/>
  <Override PartName="/ppt/notesSlides/notesSlide378.xml" ContentType="application/vnd.openxmlformats-officedocument.presentationml.notesSlide+xml"/>
  <Override PartName="/ppt/notesSlides/notesSlide379.xml" ContentType="application/vnd.openxmlformats-officedocument.presentationml.notesSlide+xml"/>
  <Override PartName="/ppt/notesSlides/notesSlide38.xml" ContentType="application/vnd.openxmlformats-officedocument.presentationml.notesSlide+xml"/>
  <Override PartName="/ppt/notesSlides/notesSlide380.xml" ContentType="application/vnd.openxmlformats-officedocument.presentationml.notesSlide+xml"/>
  <Override PartName="/ppt/notesSlides/notesSlide381.xml" ContentType="application/vnd.openxmlformats-officedocument.presentationml.notesSlide+xml"/>
  <Override PartName="/ppt/notesSlides/notesSlide382.xml" ContentType="application/vnd.openxmlformats-officedocument.presentationml.notesSlide+xml"/>
  <Override PartName="/ppt/notesSlides/notesSlide383.xml" ContentType="application/vnd.openxmlformats-officedocument.presentationml.notesSlide+xml"/>
  <Override PartName="/ppt/notesSlides/notesSlide384.xml" ContentType="application/vnd.openxmlformats-officedocument.presentationml.notesSlide+xml"/>
  <Override PartName="/ppt/notesSlides/notesSlide385.xml" ContentType="application/vnd.openxmlformats-officedocument.presentationml.notesSlide+xml"/>
  <Override PartName="/ppt/notesSlides/notesSlide386.xml" ContentType="application/vnd.openxmlformats-officedocument.presentationml.notesSlide+xml"/>
  <Override PartName="/ppt/notesSlides/notesSlide387.xml" ContentType="application/vnd.openxmlformats-officedocument.presentationml.notesSlide+xml"/>
  <Override PartName="/ppt/notesSlides/notesSlide388.xml" ContentType="application/vnd.openxmlformats-officedocument.presentationml.notesSlide+xml"/>
  <Override PartName="/ppt/notesSlides/notesSlide389.xml" ContentType="application/vnd.openxmlformats-officedocument.presentationml.notesSlide+xml"/>
  <Override PartName="/ppt/notesSlides/notesSlide39.xml" ContentType="application/vnd.openxmlformats-officedocument.presentationml.notesSlide+xml"/>
  <Override PartName="/ppt/notesSlides/notesSlide390.xml" ContentType="application/vnd.openxmlformats-officedocument.presentationml.notesSlide+xml"/>
  <Override PartName="/ppt/notesSlides/notesSlide391.xml" ContentType="application/vnd.openxmlformats-officedocument.presentationml.notesSlide+xml"/>
  <Override PartName="/ppt/notesSlides/notesSlide392.xml" ContentType="application/vnd.openxmlformats-officedocument.presentationml.notesSlide+xml"/>
  <Override PartName="/ppt/notesSlides/notesSlide393.xml" ContentType="application/vnd.openxmlformats-officedocument.presentationml.notesSlide+xml"/>
  <Override PartName="/ppt/notesSlides/notesSlide394.xml" ContentType="application/vnd.openxmlformats-officedocument.presentationml.notesSlide+xml"/>
  <Override PartName="/ppt/notesSlides/notesSlide395.xml" ContentType="application/vnd.openxmlformats-officedocument.presentationml.notesSlide+xml"/>
  <Override PartName="/ppt/notesSlides/notesSlide396.xml" ContentType="application/vnd.openxmlformats-officedocument.presentationml.notesSlide+xml"/>
  <Override PartName="/ppt/notesSlides/notesSlide397.xml" ContentType="application/vnd.openxmlformats-officedocument.presentationml.notesSlide+xml"/>
  <Override PartName="/ppt/notesSlides/notesSlide398.xml" ContentType="application/vnd.openxmlformats-officedocument.presentationml.notesSlide+xml"/>
  <Override PartName="/ppt/notesSlides/notesSlide39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00.xml" ContentType="application/vnd.openxmlformats-officedocument.presentationml.notesSlide+xml"/>
  <Override PartName="/ppt/notesSlides/notesSlide401.xml" ContentType="application/vnd.openxmlformats-officedocument.presentationml.notesSlide+xml"/>
  <Override PartName="/ppt/notesSlides/notesSlide402.xml" ContentType="application/vnd.openxmlformats-officedocument.presentationml.notesSlide+xml"/>
  <Override PartName="/ppt/notesSlides/notesSlide403.xml" ContentType="application/vnd.openxmlformats-officedocument.presentationml.notesSlide+xml"/>
  <Override PartName="/ppt/notesSlides/notesSlide404.xml" ContentType="application/vnd.openxmlformats-officedocument.presentationml.notesSlide+xml"/>
  <Override PartName="/ppt/notesSlides/notesSlide405.xml" ContentType="application/vnd.openxmlformats-officedocument.presentationml.notesSlide+xml"/>
  <Override PartName="/ppt/notesSlides/notesSlide406.xml" ContentType="application/vnd.openxmlformats-officedocument.presentationml.notesSlide+xml"/>
  <Override PartName="/ppt/notesSlides/notesSlide407.xml" ContentType="application/vnd.openxmlformats-officedocument.presentationml.notesSlide+xml"/>
  <Override PartName="/ppt/notesSlides/notesSlide408.xml" ContentType="application/vnd.openxmlformats-officedocument.presentationml.notesSlide+xml"/>
  <Override PartName="/ppt/notesSlides/notesSlide409.xml" ContentType="application/vnd.openxmlformats-officedocument.presentationml.notesSlide+xml"/>
  <Override PartName="/ppt/notesSlides/notesSlide41.xml" ContentType="application/vnd.openxmlformats-officedocument.presentationml.notesSlide+xml"/>
  <Override PartName="/ppt/notesSlides/notesSlide410.xml" ContentType="application/vnd.openxmlformats-officedocument.presentationml.notesSlide+xml"/>
  <Override PartName="/ppt/notesSlides/notesSlide411.xml" ContentType="application/vnd.openxmlformats-officedocument.presentationml.notesSlide+xml"/>
  <Override PartName="/ppt/notesSlides/notesSlide412.xml" ContentType="application/vnd.openxmlformats-officedocument.presentationml.notesSlide+xml"/>
  <Override PartName="/ppt/notesSlides/notesSlide413.xml" ContentType="application/vnd.openxmlformats-officedocument.presentationml.notesSlide+xml"/>
  <Override PartName="/ppt/notesSlides/notesSlide414.xml" ContentType="application/vnd.openxmlformats-officedocument.presentationml.notesSlide+xml"/>
  <Override PartName="/ppt/notesSlides/notesSlide415.xml" ContentType="application/vnd.openxmlformats-officedocument.presentationml.notesSlide+xml"/>
  <Override PartName="/ppt/notesSlides/notesSlide416.xml" ContentType="application/vnd.openxmlformats-officedocument.presentationml.notesSlide+xml"/>
  <Override PartName="/ppt/notesSlides/notesSlide417.xml" ContentType="application/vnd.openxmlformats-officedocument.presentationml.notesSlide+xml"/>
  <Override PartName="/ppt/notesSlides/notesSlide418.xml" ContentType="application/vnd.openxmlformats-officedocument.presentationml.notesSlide+xml"/>
  <Override PartName="/ppt/notesSlides/notesSlide419.xml" ContentType="application/vnd.openxmlformats-officedocument.presentationml.notesSlide+xml"/>
  <Override PartName="/ppt/notesSlides/notesSlide42.xml" ContentType="application/vnd.openxmlformats-officedocument.presentationml.notesSlide+xml"/>
  <Override PartName="/ppt/notesSlides/notesSlide420.xml" ContentType="application/vnd.openxmlformats-officedocument.presentationml.notesSlide+xml"/>
  <Override PartName="/ppt/notesSlides/notesSlide421.xml" ContentType="application/vnd.openxmlformats-officedocument.presentationml.notesSlide+xml"/>
  <Override PartName="/ppt/notesSlides/notesSlide422.xml" ContentType="application/vnd.openxmlformats-officedocument.presentationml.notesSlide+xml"/>
  <Override PartName="/ppt/notesSlides/notesSlide423.xml" ContentType="application/vnd.openxmlformats-officedocument.presentationml.notesSlide+xml"/>
  <Override PartName="/ppt/notesSlides/notesSlide424.xml" ContentType="application/vnd.openxmlformats-officedocument.presentationml.notesSlide+xml"/>
  <Override PartName="/ppt/notesSlides/notesSlide425.xml" ContentType="application/vnd.openxmlformats-officedocument.presentationml.notesSlide+xml"/>
  <Override PartName="/ppt/notesSlides/notesSlide426.xml" ContentType="application/vnd.openxmlformats-officedocument.presentationml.notesSlide+xml"/>
  <Override PartName="/ppt/notesSlides/notesSlide427.xml" ContentType="application/vnd.openxmlformats-officedocument.presentationml.notesSlide+xml"/>
  <Override PartName="/ppt/notesSlides/notesSlide428.xml" ContentType="application/vnd.openxmlformats-officedocument.presentationml.notesSlide+xml"/>
  <Override PartName="/ppt/notesSlides/notesSlide429.xml" ContentType="application/vnd.openxmlformats-officedocument.presentationml.notesSlide+xml"/>
  <Override PartName="/ppt/notesSlides/notesSlide43.xml" ContentType="application/vnd.openxmlformats-officedocument.presentationml.notesSlide+xml"/>
  <Override PartName="/ppt/notesSlides/notesSlide430.xml" ContentType="application/vnd.openxmlformats-officedocument.presentationml.notesSlide+xml"/>
  <Override PartName="/ppt/notesSlides/notesSlide431.xml" ContentType="application/vnd.openxmlformats-officedocument.presentationml.notesSlide+xml"/>
  <Override PartName="/ppt/notesSlides/notesSlide432.xml" ContentType="application/vnd.openxmlformats-officedocument.presentationml.notesSlide+xml"/>
  <Override PartName="/ppt/notesSlides/notesSlide433.xml" ContentType="application/vnd.openxmlformats-officedocument.presentationml.notesSlide+xml"/>
  <Override PartName="/ppt/notesSlides/notesSlide434.xml" ContentType="application/vnd.openxmlformats-officedocument.presentationml.notesSlide+xml"/>
  <Override PartName="/ppt/notesSlides/notesSlide435.xml" ContentType="application/vnd.openxmlformats-officedocument.presentationml.notesSlide+xml"/>
  <Override PartName="/ppt/notesSlides/notesSlide436.xml" ContentType="application/vnd.openxmlformats-officedocument.presentationml.notesSlide+xml"/>
  <Override PartName="/ppt/notesSlides/notesSlide437.xml" ContentType="application/vnd.openxmlformats-officedocument.presentationml.notesSlide+xml"/>
  <Override PartName="/ppt/notesSlides/notesSlide438.xml" ContentType="application/vnd.openxmlformats-officedocument.presentationml.notesSlide+xml"/>
  <Override PartName="/ppt/notesSlides/notesSlide439.xml" ContentType="application/vnd.openxmlformats-officedocument.presentationml.notesSlide+xml"/>
  <Override PartName="/ppt/notesSlides/notesSlide44.xml" ContentType="application/vnd.openxmlformats-officedocument.presentationml.notesSlide+xml"/>
  <Override PartName="/ppt/notesSlides/notesSlide440.xml" ContentType="application/vnd.openxmlformats-officedocument.presentationml.notesSlide+xml"/>
  <Override PartName="/ppt/notesSlides/notesSlide441.xml" ContentType="application/vnd.openxmlformats-officedocument.presentationml.notesSlide+xml"/>
  <Override PartName="/ppt/notesSlides/notesSlide442.xml" ContentType="application/vnd.openxmlformats-officedocument.presentationml.notesSlide+xml"/>
  <Override PartName="/ppt/notesSlides/notesSlide443.xml" ContentType="application/vnd.openxmlformats-officedocument.presentationml.notesSlide+xml"/>
  <Override PartName="/ppt/notesSlides/notesSlide444.xml" ContentType="application/vnd.openxmlformats-officedocument.presentationml.notesSlide+xml"/>
  <Override PartName="/ppt/notesSlides/notesSlide445.xml" ContentType="application/vnd.openxmlformats-officedocument.presentationml.notesSlide+xml"/>
  <Override PartName="/ppt/notesSlides/notesSlide446.xml" ContentType="application/vnd.openxmlformats-officedocument.presentationml.notesSlide+xml"/>
  <Override PartName="/ppt/notesSlides/notesSlide447.xml" ContentType="application/vnd.openxmlformats-officedocument.presentationml.notesSlide+xml"/>
  <Override PartName="/ppt/notesSlides/notesSlide448.xml" ContentType="application/vnd.openxmlformats-officedocument.presentationml.notesSlide+xml"/>
  <Override PartName="/ppt/notesSlides/notesSlide449.xml" ContentType="application/vnd.openxmlformats-officedocument.presentationml.notesSlide+xml"/>
  <Override PartName="/ppt/notesSlides/notesSlide45.xml" ContentType="application/vnd.openxmlformats-officedocument.presentationml.notesSlide+xml"/>
  <Override PartName="/ppt/notesSlides/notesSlide450.xml" ContentType="application/vnd.openxmlformats-officedocument.presentationml.notesSlide+xml"/>
  <Override PartName="/ppt/notesSlides/notesSlide451.xml" ContentType="application/vnd.openxmlformats-officedocument.presentationml.notesSlide+xml"/>
  <Override PartName="/ppt/notesSlides/notesSlide452.xml" ContentType="application/vnd.openxmlformats-officedocument.presentationml.notesSlide+xml"/>
  <Override PartName="/ppt/notesSlides/notesSlide453.xml" ContentType="application/vnd.openxmlformats-officedocument.presentationml.notesSlide+xml"/>
  <Override PartName="/ppt/notesSlides/notesSlide454.xml" ContentType="application/vnd.openxmlformats-officedocument.presentationml.notesSlide+xml"/>
  <Override PartName="/ppt/notesSlides/notesSlide455.xml" ContentType="application/vnd.openxmlformats-officedocument.presentationml.notesSlide+xml"/>
  <Override PartName="/ppt/notesSlides/notesSlide456.xml" ContentType="application/vnd.openxmlformats-officedocument.presentationml.notesSlide+xml"/>
  <Override PartName="/ppt/notesSlides/notesSlide457.xml" ContentType="application/vnd.openxmlformats-officedocument.presentationml.notesSlide+xml"/>
  <Override PartName="/ppt/notesSlides/notesSlide458.xml" ContentType="application/vnd.openxmlformats-officedocument.presentationml.notesSlide+xml"/>
  <Override PartName="/ppt/notesSlides/notesSlide459.xml" ContentType="application/vnd.openxmlformats-officedocument.presentationml.notesSlide+xml"/>
  <Override PartName="/ppt/notesSlides/notesSlide46.xml" ContentType="application/vnd.openxmlformats-officedocument.presentationml.notesSlide+xml"/>
  <Override PartName="/ppt/notesSlides/notesSlide460.xml" ContentType="application/vnd.openxmlformats-officedocument.presentationml.notesSlide+xml"/>
  <Override PartName="/ppt/notesSlides/notesSlide461.xml" ContentType="application/vnd.openxmlformats-officedocument.presentationml.notesSlide+xml"/>
  <Override PartName="/ppt/notesSlides/notesSlide462.xml" ContentType="application/vnd.openxmlformats-officedocument.presentationml.notesSlide+xml"/>
  <Override PartName="/ppt/notesSlides/notesSlide463.xml" ContentType="application/vnd.openxmlformats-officedocument.presentationml.notesSlide+xml"/>
  <Override PartName="/ppt/notesSlides/notesSlide464.xml" ContentType="application/vnd.openxmlformats-officedocument.presentationml.notesSlide+xml"/>
  <Override PartName="/ppt/notesSlides/notesSlide465.xml" ContentType="application/vnd.openxmlformats-officedocument.presentationml.notesSlide+xml"/>
  <Override PartName="/ppt/notesSlides/notesSlide466.xml" ContentType="application/vnd.openxmlformats-officedocument.presentationml.notesSlide+xml"/>
  <Override PartName="/ppt/notesSlides/notesSlide467.xml" ContentType="application/vnd.openxmlformats-officedocument.presentationml.notesSlide+xml"/>
  <Override PartName="/ppt/notesSlides/notesSlide468.xml" ContentType="application/vnd.openxmlformats-officedocument.presentationml.notesSlide+xml"/>
  <Override PartName="/ppt/notesSlides/notesSlide469.xml" ContentType="application/vnd.openxmlformats-officedocument.presentationml.notesSlide+xml"/>
  <Override PartName="/ppt/notesSlides/notesSlide47.xml" ContentType="application/vnd.openxmlformats-officedocument.presentationml.notesSlide+xml"/>
  <Override PartName="/ppt/notesSlides/notesSlide470.xml" ContentType="application/vnd.openxmlformats-officedocument.presentationml.notesSlide+xml"/>
  <Override PartName="/ppt/notesSlides/notesSlide471.xml" ContentType="application/vnd.openxmlformats-officedocument.presentationml.notesSlide+xml"/>
  <Override PartName="/ppt/notesSlides/notesSlide472.xml" ContentType="application/vnd.openxmlformats-officedocument.presentationml.notesSlide+xml"/>
  <Override PartName="/ppt/notesSlides/notesSlide473.xml" ContentType="application/vnd.openxmlformats-officedocument.presentationml.notesSlide+xml"/>
  <Override PartName="/ppt/notesSlides/notesSlide474.xml" ContentType="application/vnd.openxmlformats-officedocument.presentationml.notesSlide+xml"/>
  <Override PartName="/ppt/notesSlides/notesSlide475.xml" ContentType="application/vnd.openxmlformats-officedocument.presentationml.notesSlide+xml"/>
  <Override PartName="/ppt/notesSlides/notesSlide476.xml" ContentType="application/vnd.openxmlformats-officedocument.presentationml.notesSlide+xml"/>
  <Override PartName="/ppt/notesSlides/notesSlide477.xml" ContentType="application/vnd.openxmlformats-officedocument.presentationml.notesSlide+xml"/>
  <Override PartName="/ppt/notesSlides/notesSlide478.xml" ContentType="application/vnd.openxmlformats-officedocument.presentationml.notesSlide+xml"/>
  <Override PartName="/ppt/notesSlides/notesSlide479.xml" ContentType="application/vnd.openxmlformats-officedocument.presentationml.notesSlide+xml"/>
  <Override PartName="/ppt/notesSlides/notesSlide48.xml" ContentType="application/vnd.openxmlformats-officedocument.presentationml.notesSlide+xml"/>
  <Override PartName="/ppt/notesSlides/notesSlide480.xml" ContentType="application/vnd.openxmlformats-officedocument.presentationml.notesSlide+xml"/>
  <Override PartName="/ppt/notesSlides/notesSlide481.xml" ContentType="application/vnd.openxmlformats-officedocument.presentationml.notesSlide+xml"/>
  <Override PartName="/ppt/notesSlides/notesSlide482.xml" ContentType="application/vnd.openxmlformats-officedocument.presentationml.notesSlide+xml"/>
  <Override PartName="/ppt/notesSlides/notesSlide483.xml" ContentType="application/vnd.openxmlformats-officedocument.presentationml.notesSlide+xml"/>
  <Override PartName="/ppt/notesSlides/notesSlide484.xml" ContentType="application/vnd.openxmlformats-officedocument.presentationml.notesSlide+xml"/>
  <Override PartName="/ppt/notesSlides/notesSlide485.xml" ContentType="application/vnd.openxmlformats-officedocument.presentationml.notesSlide+xml"/>
  <Override PartName="/ppt/notesSlides/notesSlide486.xml" ContentType="application/vnd.openxmlformats-officedocument.presentationml.notesSlide+xml"/>
  <Override PartName="/ppt/notesSlides/notesSlide487.xml" ContentType="application/vnd.openxmlformats-officedocument.presentationml.notesSlide+xml"/>
  <Override PartName="/ppt/notesSlides/notesSlide488.xml" ContentType="application/vnd.openxmlformats-officedocument.presentationml.notesSlide+xml"/>
  <Override PartName="/ppt/notesSlides/notesSlide489.xml" ContentType="application/vnd.openxmlformats-officedocument.presentationml.notesSlide+xml"/>
  <Override PartName="/ppt/notesSlides/notesSlide49.xml" ContentType="application/vnd.openxmlformats-officedocument.presentationml.notesSlide+xml"/>
  <Override PartName="/ppt/notesSlides/notesSlide490.xml" ContentType="application/vnd.openxmlformats-officedocument.presentationml.notesSlide+xml"/>
  <Override PartName="/ppt/notesSlides/notesSlide491.xml" ContentType="application/vnd.openxmlformats-officedocument.presentationml.notesSlide+xml"/>
  <Override PartName="/ppt/notesSlides/notesSlide492.xml" ContentType="application/vnd.openxmlformats-officedocument.presentationml.notesSlide+xml"/>
  <Override PartName="/ppt/notesSlides/notesSlide493.xml" ContentType="application/vnd.openxmlformats-officedocument.presentationml.notesSlide+xml"/>
  <Override PartName="/ppt/notesSlides/notesSlide494.xml" ContentType="application/vnd.openxmlformats-officedocument.presentationml.notesSlide+xml"/>
  <Override PartName="/ppt/notesSlides/notesSlide495.xml" ContentType="application/vnd.openxmlformats-officedocument.presentationml.notesSlide+xml"/>
  <Override PartName="/ppt/notesSlides/notesSlide496.xml" ContentType="application/vnd.openxmlformats-officedocument.presentationml.notesSlide+xml"/>
  <Override PartName="/ppt/notesSlides/notesSlide497.xml" ContentType="application/vnd.openxmlformats-officedocument.presentationml.notesSlide+xml"/>
  <Override PartName="/ppt/notesSlides/notesSlide498.xml" ContentType="application/vnd.openxmlformats-officedocument.presentationml.notesSlide+xml"/>
  <Override PartName="/ppt/notesSlides/notesSlide49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00.xml" ContentType="application/vnd.openxmlformats-officedocument.presentationml.notesSlide+xml"/>
  <Override PartName="/ppt/notesSlides/notesSlide501.xml" ContentType="application/vnd.openxmlformats-officedocument.presentationml.notesSlide+xml"/>
  <Override PartName="/ppt/notesSlides/notesSlide502.xml" ContentType="application/vnd.openxmlformats-officedocument.presentationml.notesSlide+xml"/>
  <Override PartName="/ppt/notesSlides/notesSlide503.xml" ContentType="application/vnd.openxmlformats-officedocument.presentationml.notesSlide+xml"/>
  <Override PartName="/ppt/notesSlides/notesSlide504.xml" ContentType="application/vnd.openxmlformats-officedocument.presentationml.notesSlide+xml"/>
  <Override PartName="/ppt/notesSlides/notesSlide505.xml" ContentType="application/vnd.openxmlformats-officedocument.presentationml.notesSlide+xml"/>
  <Override PartName="/ppt/notesSlides/notesSlide506.xml" ContentType="application/vnd.openxmlformats-officedocument.presentationml.notesSlide+xml"/>
  <Override PartName="/ppt/notesSlides/notesSlide507.xml" ContentType="application/vnd.openxmlformats-officedocument.presentationml.notesSlide+xml"/>
  <Override PartName="/ppt/notesSlides/notesSlide508.xml" ContentType="application/vnd.openxmlformats-officedocument.presentationml.notesSlide+xml"/>
  <Override PartName="/ppt/notesSlides/notesSlide509.xml" ContentType="application/vnd.openxmlformats-officedocument.presentationml.notesSlide+xml"/>
  <Override PartName="/ppt/notesSlides/notesSlide51.xml" ContentType="application/vnd.openxmlformats-officedocument.presentationml.notesSlide+xml"/>
  <Override PartName="/ppt/notesSlides/notesSlide510.xml" ContentType="application/vnd.openxmlformats-officedocument.presentationml.notesSlide+xml"/>
  <Override PartName="/ppt/notesSlides/notesSlide511.xml" ContentType="application/vnd.openxmlformats-officedocument.presentationml.notesSlide+xml"/>
  <Override PartName="/ppt/notesSlides/notesSlide512.xml" ContentType="application/vnd.openxmlformats-officedocument.presentationml.notesSlide+xml"/>
  <Override PartName="/ppt/notesSlides/notesSlide513.xml" ContentType="application/vnd.openxmlformats-officedocument.presentationml.notesSlide+xml"/>
  <Override PartName="/ppt/notesSlides/notesSlide514.xml" ContentType="application/vnd.openxmlformats-officedocument.presentationml.notesSlide+xml"/>
  <Override PartName="/ppt/notesSlides/notesSlide515.xml" ContentType="application/vnd.openxmlformats-officedocument.presentationml.notesSlide+xml"/>
  <Override PartName="/ppt/notesSlides/notesSlide516.xml" ContentType="application/vnd.openxmlformats-officedocument.presentationml.notesSlide+xml"/>
  <Override PartName="/ppt/notesSlides/notesSlide517.xml" ContentType="application/vnd.openxmlformats-officedocument.presentationml.notesSlide+xml"/>
  <Override PartName="/ppt/notesSlides/notesSlide518.xml" ContentType="application/vnd.openxmlformats-officedocument.presentationml.notesSlide+xml"/>
  <Override PartName="/ppt/notesSlides/notesSlide519.xml" ContentType="application/vnd.openxmlformats-officedocument.presentationml.notesSlide+xml"/>
  <Override PartName="/ppt/notesSlides/notesSlide52.xml" ContentType="application/vnd.openxmlformats-officedocument.presentationml.notesSlide+xml"/>
  <Override PartName="/ppt/notesSlides/notesSlide520.xml" ContentType="application/vnd.openxmlformats-officedocument.presentationml.notesSlide+xml"/>
  <Override PartName="/ppt/notesSlides/notesSlide521.xml" ContentType="application/vnd.openxmlformats-officedocument.presentationml.notesSlide+xml"/>
  <Override PartName="/ppt/notesSlides/notesSlide522.xml" ContentType="application/vnd.openxmlformats-officedocument.presentationml.notesSlide+xml"/>
  <Override PartName="/ppt/notesSlides/notesSlide523.xml" ContentType="application/vnd.openxmlformats-officedocument.presentationml.notesSlide+xml"/>
  <Override PartName="/ppt/notesSlides/notesSlide524.xml" ContentType="application/vnd.openxmlformats-officedocument.presentationml.notesSlide+xml"/>
  <Override PartName="/ppt/notesSlides/notesSlide525.xml" ContentType="application/vnd.openxmlformats-officedocument.presentationml.notesSlide+xml"/>
  <Override PartName="/ppt/notesSlides/notesSlide526.xml" ContentType="application/vnd.openxmlformats-officedocument.presentationml.notesSlide+xml"/>
  <Override PartName="/ppt/notesSlides/notesSlide527.xml" ContentType="application/vnd.openxmlformats-officedocument.presentationml.notesSlide+xml"/>
  <Override PartName="/ppt/notesSlides/notesSlide528.xml" ContentType="application/vnd.openxmlformats-officedocument.presentationml.notesSlide+xml"/>
  <Override PartName="/ppt/notesSlides/notesSlide529.xml" ContentType="application/vnd.openxmlformats-officedocument.presentationml.notesSlide+xml"/>
  <Override PartName="/ppt/notesSlides/notesSlide53.xml" ContentType="application/vnd.openxmlformats-officedocument.presentationml.notesSlide+xml"/>
  <Override PartName="/ppt/notesSlides/notesSlide530.xml" ContentType="application/vnd.openxmlformats-officedocument.presentationml.notesSlide+xml"/>
  <Override PartName="/ppt/notesSlides/notesSlide531.xml" ContentType="application/vnd.openxmlformats-officedocument.presentationml.notesSlide+xml"/>
  <Override PartName="/ppt/notesSlides/notesSlide532.xml" ContentType="application/vnd.openxmlformats-officedocument.presentationml.notesSlide+xml"/>
  <Override PartName="/ppt/notesSlides/notesSlide533.xml" ContentType="application/vnd.openxmlformats-officedocument.presentationml.notesSlide+xml"/>
  <Override PartName="/ppt/notesSlides/notesSlide534.xml" ContentType="application/vnd.openxmlformats-officedocument.presentationml.notesSlide+xml"/>
  <Override PartName="/ppt/notesSlides/notesSlide535.xml" ContentType="application/vnd.openxmlformats-officedocument.presentationml.notesSlide+xml"/>
  <Override PartName="/ppt/notesSlides/notesSlide536.xml" ContentType="application/vnd.openxmlformats-officedocument.presentationml.notesSlide+xml"/>
  <Override PartName="/ppt/notesSlides/notesSlide537.xml" ContentType="application/vnd.openxmlformats-officedocument.presentationml.notesSlide+xml"/>
  <Override PartName="/ppt/notesSlides/notesSlide538.xml" ContentType="application/vnd.openxmlformats-officedocument.presentationml.notesSlide+xml"/>
  <Override PartName="/ppt/notesSlides/notesSlide539.xml" ContentType="application/vnd.openxmlformats-officedocument.presentationml.notesSlide+xml"/>
  <Override PartName="/ppt/notesSlides/notesSlide54.xml" ContentType="application/vnd.openxmlformats-officedocument.presentationml.notesSlide+xml"/>
  <Override PartName="/ppt/notesSlides/notesSlide540.xml" ContentType="application/vnd.openxmlformats-officedocument.presentationml.notesSlide+xml"/>
  <Override PartName="/ppt/notesSlides/notesSlide541.xml" ContentType="application/vnd.openxmlformats-officedocument.presentationml.notesSlide+xml"/>
  <Override PartName="/ppt/notesSlides/notesSlide542.xml" ContentType="application/vnd.openxmlformats-officedocument.presentationml.notesSlide+xml"/>
  <Override PartName="/ppt/notesSlides/notesSlide543.xml" ContentType="application/vnd.openxmlformats-officedocument.presentationml.notesSlide+xml"/>
  <Override PartName="/ppt/notesSlides/notesSlide544.xml" ContentType="application/vnd.openxmlformats-officedocument.presentationml.notesSlide+xml"/>
  <Override PartName="/ppt/notesSlides/notesSlide545.xml" ContentType="application/vnd.openxmlformats-officedocument.presentationml.notesSlide+xml"/>
  <Override PartName="/ppt/notesSlides/notesSlide546.xml" ContentType="application/vnd.openxmlformats-officedocument.presentationml.notesSlide+xml"/>
  <Override PartName="/ppt/notesSlides/notesSlide547.xml" ContentType="application/vnd.openxmlformats-officedocument.presentationml.notesSlide+xml"/>
  <Override PartName="/ppt/notesSlides/notesSlide548.xml" ContentType="application/vnd.openxmlformats-officedocument.presentationml.notesSlide+xml"/>
  <Override PartName="/ppt/notesSlides/notesSlide549.xml" ContentType="application/vnd.openxmlformats-officedocument.presentationml.notesSlide+xml"/>
  <Override PartName="/ppt/notesSlides/notesSlide55.xml" ContentType="application/vnd.openxmlformats-officedocument.presentationml.notesSlide+xml"/>
  <Override PartName="/ppt/notesSlides/notesSlide550.xml" ContentType="application/vnd.openxmlformats-officedocument.presentationml.notesSlide+xml"/>
  <Override PartName="/ppt/notesSlides/notesSlide551.xml" ContentType="application/vnd.openxmlformats-officedocument.presentationml.notesSlide+xml"/>
  <Override PartName="/ppt/notesSlides/notesSlide552.xml" ContentType="application/vnd.openxmlformats-officedocument.presentationml.notesSlide+xml"/>
  <Override PartName="/ppt/notesSlides/notesSlide553.xml" ContentType="application/vnd.openxmlformats-officedocument.presentationml.notesSlide+xml"/>
  <Override PartName="/ppt/notesSlides/notesSlide554.xml" ContentType="application/vnd.openxmlformats-officedocument.presentationml.notesSlide+xml"/>
  <Override PartName="/ppt/notesSlides/notesSlide555.xml" ContentType="application/vnd.openxmlformats-officedocument.presentationml.notesSlide+xml"/>
  <Override PartName="/ppt/notesSlides/notesSlide556.xml" ContentType="application/vnd.openxmlformats-officedocument.presentationml.notesSlide+xml"/>
  <Override PartName="/ppt/notesSlides/notesSlide557.xml" ContentType="application/vnd.openxmlformats-officedocument.presentationml.notesSlide+xml"/>
  <Override PartName="/ppt/notesSlides/notesSlide558.xml" ContentType="application/vnd.openxmlformats-officedocument.presentationml.notesSlide+xml"/>
  <Override PartName="/ppt/notesSlides/notesSlide559.xml" ContentType="application/vnd.openxmlformats-officedocument.presentationml.notesSlide+xml"/>
  <Override PartName="/ppt/notesSlides/notesSlide56.xml" ContentType="application/vnd.openxmlformats-officedocument.presentationml.notesSlide+xml"/>
  <Override PartName="/ppt/notesSlides/notesSlide560.xml" ContentType="application/vnd.openxmlformats-officedocument.presentationml.notesSlide+xml"/>
  <Override PartName="/ppt/notesSlides/notesSlide561.xml" ContentType="application/vnd.openxmlformats-officedocument.presentationml.notesSlide+xml"/>
  <Override PartName="/ppt/notesSlides/notesSlide562.xml" ContentType="application/vnd.openxmlformats-officedocument.presentationml.notesSlide+xml"/>
  <Override PartName="/ppt/notesSlides/notesSlide563.xml" ContentType="application/vnd.openxmlformats-officedocument.presentationml.notesSlide+xml"/>
  <Override PartName="/ppt/notesSlides/notesSlide564.xml" ContentType="application/vnd.openxmlformats-officedocument.presentationml.notesSlide+xml"/>
  <Override PartName="/ppt/notesSlides/notesSlide565.xml" ContentType="application/vnd.openxmlformats-officedocument.presentationml.notesSlide+xml"/>
  <Override PartName="/ppt/notesSlides/notesSlide566.xml" ContentType="application/vnd.openxmlformats-officedocument.presentationml.notesSlide+xml"/>
  <Override PartName="/ppt/notesSlides/notesSlide567.xml" ContentType="application/vnd.openxmlformats-officedocument.presentationml.notesSlide+xml"/>
  <Override PartName="/ppt/notesSlides/notesSlide568.xml" ContentType="application/vnd.openxmlformats-officedocument.presentationml.notesSlide+xml"/>
  <Override PartName="/ppt/notesSlides/notesSlide569.xml" ContentType="application/vnd.openxmlformats-officedocument.presentationml.notesSlide+xml"/>
  <Override PartName="/ppt/notesSlides/notesSlide57.xml" ContentType="application/vnd.openxmlformats-officedocument.presentationml.notesSlide+xml"/>
  <Override PartName="/ppt/notesSlides/notesSlide570.xml" ContentType="application/vnd.openxmlformats-officedocument.presentationml.notesSlide+xml"/>
  <Override PartName="/ppt/notesSlides/notesSlide571.xml" ContentType="application/vnd.openxmlformats-officedocument.presentationml.notesSlide+xml"/>
  <Override PartName="/ppt/notesSlides/notesSlide572.xml" ContentType="application/vnd.openxmlformats-officedocument.presentationml.notesSlide+xml"/>
  <Override PartName="/ppt/notesSlides/notesSlide573.xml" ContentType="application/vnd.openxmlformats-officedocument.presentationml.notesSlide+xml"/>
  <Override PartName="/ppt/notesSlides/notesSlide574.xml" ContentType="application/vnd.openxmlformats-officedocument.presentationml.notesSlide+xml"/>
  <Override PartName="/ppt/notesSlides/notesSlide575.xml" ContentType="application/vnd.openxmlformats-officedocument.presentationml.notesSlide+xml"/>
  <Override PartName="/ppt/notesSlides/notesSlide576.xml" ContentType="application/vnd.openxmlformats-officedocument.presentationml.notesSlide+xml"/>
  <Override PartName="/ppt/notesSlides/notesSlide577.xml" ContentType="application/vnd.openxmlformats-officedocument.presentationml.notesSlide+xml"/>
  <Override PartName="/ppt/notesSlides/notesSlide578.xml" ContentType="application/vnd.openxmlformats-officedocument.presentationml.notesSlide+xml"/>
  <Override PartName="/ppt/notesSlides/notesSlide579.xml" ContentType="application/vnd.openxmlformats-officedocument.presentationml.notesSlide+xml"/>
  <Override PartName="/ppt/notesSlides/notesSlide58.xml" ContentType="application/vnd.openxmlformats-officedocument.presentationml.notesSlide+xml"/>
  <Override PartName="/ppt/notesSlides/notesSlide580.xml" ContentType="application/vnd.openxmlformats-officedocument.presentationml.notesSlide+xml"/>
  <Override PartName="/ppt/notesSlides/notesSlide581.xml" ContentType="application/vnd.openxmlformats-officedocument.presentationml.notesSlide+xml"/>
  <Override PartName="/ppt/notesSlides/notesSlide582.xml" ContentType="application/vnd.openxmlformats-officedocument.presentationml.notesSlide+xml"/>
  <Override PartName="/ppt/notesSlides/notesSlide583.xml" ContentType="application/vnd.openxmlformats-officedocument.presentationml.notesSlide+xml"/>
  <Override PartName="/ppt/notesSlides/notesSlide584.xml" ContentType="application/vnd.openxmlformats-officedocument.presentationml.notesSlide+xml"/>
  <Override PartName="/ppt/notesSlides/notesSlide585.xml" ContentType="application/vnd.openxmlformats-officedocument.presentationml.notesSlide+xml"/>
  <Override PartName="/ppt/notesSlides/notesSlide586.xml" ContentType="application/vnd.openxmlformats-officedocument.presentationml.notesSlide+xml"/>
  <Override PartName="/ppt/notesSlides/notesSlide587.xml" ContentType="application/vnd.openxmlformats-officedocument.presentationml.notesSlide+xml"/>
  <Override PartName="/ppt/notesSlides/notesSlide588.xml" ContentType="application/vnd.openxmlformats-officedocument.presentationml.notesSlide+xml"/>
  <Override PartName="/ppt/notesSlides/notesSlide589.xml" ContentType="application/vnd.openxmlformats-officedocument.presentationml.notesSlide+xml"/>
  <Override PartName="/ppt/notesSlides/notesSlide59.xml" ContentType="application/vnd.openxmlformats-officedocument.presentationml.notesSlide+xml"/>
  <Override PartName="/ppt/notesSlides/notesSlide590.xml" ContentType="application/vnd.openxmlformats-officedocument.presentationml.notesSlide+xml"/>
  <Override PartName="/ppt/notesSlides/notesSlide591.xml" ContentType="application/vnd.openxmlformats-officedocument.presentationml.notesSlide+xml"/>
  <Override PartName="/ppt/notesSlides/notesSlide592.xml" ContentType="application/vnd.openxmlformats-officedocument.presentationml.notesSlide+xml"/>
  <Override PartName="/ppt/notesSlides/notesSlide593.xml" ContentType="application/vnd.openxmlformats-officedocument.presentationml.notesSlide+xml"/>
  <Override PartName="/ppt/notesSlides/notesSlide594.xml" ContentType="application/vnd.openxmlformats-officedocument.presentationml.notesSlide+xml"/>
  <Override PartName="/ppt/notesSlides/notesSlide595.xml" ContentType="application/vnd.openxmlformats-officedocument.presentationml.notesSlide+xml"/>
  <Override PartName="/ppt/notesSlides/notesSlide596.xml" ContentType="application/vnd.openxmlformats-officedocument.presentationml.notesSlide+xml"/>
  <Override PartName="/ppt/notesSlides/notesSlide597.xml" ContentType="application/vnd.openxmlformats-officedocument.presentationml.notesSlide+xml"/>
  <Override PartName="/ppt/notesSlides/notesSlide598.xml" ContentType="application/vnd.openxmlformats-officedocument.presentationml.notesSlide+xml"/>
  <Override PartName="/ppt/notesSlides/notesSlide59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00.xml" ContentType="application/vnd.openxmlformats-officedocument.presentationml.notesSlide+xml"/>
  <Override PartName="/ppt/notesSlides/notesSlide601.xml" ContentType="application/vnd.openxmlformats-officedocument.presentationml.notesSlide+xml"/>
  <Override PartName="/ppt/notesSlides/notesSlide602.xml" ContentType="application/vnd.openxmlformats-officedocument.presentationml.notesSlide+xml"/>
  <Override PartName="/ppt/notesSlides/notesSlide603.xml" ContentType="application/vnd.openxmlformats-officedocument.presentationml.notesSlide+xml"/>
  <Override PartName="/ppt/notesSlides/notesSlide604.xml" ContentType="application/vnd.openxmlformats-officedocument.presentationml.notesSlide+xml"/>
  <Override PartName="/ppt/notesSlides/notesSlide605.xml" ContentType="application/vnd.openxmlformats-officedocument.presentationml.notesSlide+xml"/>
  <Override PartName="/ppt/notesSlides/notesSlide606.xml" ContentType="application/vnd.openxmlformats-officedocument.presentationml.notesSlide+xml"/>
  <Override PartName="/ppt/notesSlides/notesSlide607.xml" ContentType="application/vnd.openxmlformats-officedocument.presentationml.notesSlide+xml"/>
  <Override PartName="/ppt/notesSlides/notesSlide608.xml" ContentType="application/vnd.openxmlformats-officedocument.presentationml.notesSlide+xml"/>
  <Override PartName="/ppt/notesSlides/notesSlide609.xml" ContentType="application/vnd.openxmlformats-officedocument.presentationml.notesSlide+xml"/>
  <Override PartName="/ppt/notesSlides/notesSlide61.xml" ContentType="application/vnd.openxmlformats-officedocument.presentationml.notesSlide+xml"/>
  <Override PartName="/ppt/notesSlides/notesSlide610.xml" ContentType="application/vnd.openxmlformats-officedocument.presentationml.notesSlide+xml"/>
  <Override PartName="/ppt/notesSlides/notesSlide611.xml" ContentType="application/vnd.openxmlformats-officedocument.presentationml.notesSlide+xml"/>
  <Override PartName="/ppt/notesSlides/notesSlide612.xml" ContentType="application/vnd.openxmlformats-officedocument.presentationml.notesSlide+xml"/>
  <Override PartName="/ppt/notesSlides/notesSlide613.xml" ContentType="application/vnd.openxmlformats-officedocument.presentationml.notesSlide+xml"/>
  <Override PartName="/ppt/notesSlides/notesSlide614.xml" ContentType="application/vnd.openxmlformats-officedocument.presentationml.notesSlide+xml"/>
  <Override PartName="/ppt/notesSlides/notesSlide615.xml" ContentType="application/vnd.openxmlformats-officedocument.presentationml.notesSlide+xml"/>
  <Override PartName="/ppt/notesSlides/notesSlide616.xml" ContentType="application/vnd.openxmlformats-officedocument.presentationml.notesSlide+xml"/>
  <Override PartName="/ppt/notesSlides/notesSlide617.xml" ContentType="application/vnd.openxmlformats-officedocument.presentationml.notesSlide+xml"/>
  <Override PartName="/ppt/notesSlides/notesSlide618.xml" ContentType="application/vnd.openxmlformats-officedocument.presentationml.notesSlide+xml"/>
  <Override PartName="/ppt/notesSlides/notesSlide619.xml" ContentType="application/vnd.openxmlformats-officedocument.presentationml.notesSlide+xml"/>
  <Override PartName="/ppt/notesSlides/notesSlide62.xml" ContentType="application/vnd.openxmlformats-officedocument.presentationml.notesSlide+xml"/>
  <Override PartName="/ppt/notesSlides/notesSlide620.xml" ContentType="application/vnd.openxmlformats-officedocument.presentationml.notesSlide+xml"/>
  <Override PartName="/ppt/notesSlides/notesSlide621.xml" ContentType="application/vnd.openxmlformats-officedocument.presentationml.notesSlide+xml"/>
  <Override PartName="/ppt/notesSlides/notesSlide622.xml" ContentType="application/vnd.openxmlformats-officedocument.presentationml.notesSlide+xml"/>
  <Override PartName="/ppt/notesSlides/notesSlide623.xml" ContentType="application/vnd.openxmlformats-officedocument.presentationml.notesSlide+xml"/>
  <Override PartName="/ppt/notesSlides/notesSlide624.xml" ContentType="application/vnd.openxmlformats-officedocument.presentationml.notesSlide+xml"/>
  <Override PartName="/ppt/notesSlides/notesSlide625.xml" ContentType="application/vnd.openxmlformats-officedocument.presentationml.notesSlide+xml"/>
  <Override PartName="/ppt/notesSlides/notesSlide626.xml" ContentType="application/vnd.openxmlformats-officedocument.presentationml.notesSlide+xml"/>
  <Override PartName="/ppt/notesSlides/notesSlide627.xml" ContentType="application/vnd.openxmlformats-officedocument.presentationml.notesSlide+xml"/>
  <Override PartName="/ppt/notesSlides/notesSlide628.xml" ContentType="application/vnd.openxmlformats-officedocument.presentationml.notesSlide+xml"/>
  <Override PartName="/ppt/notesSlides/notesSlide629.xml" ContentType="application/vnd.openxmlformats-officedocument.presentationml.notesSlide+xml"/>
  <Override PartName="/ppt/notesSlides/notesSlide63.xml" ContentType="application/vnd.openxmlformats-officedocument.presentationml.notesSlide+xml"/>
  <Override PartName="/ppt/notesSlides/notesSlide630.xml" ContentType="application/vnd.openxmlformats-officedocument.presentationml.notesSlide+xml"/>
  <Override PartName="/ppt/notesSlides/notesSlide631.xml" ContentType="application/vnd.openxmlformats-officedocument.presentationml.notesSlide+xml"/>
  <Override PartName="/ppt/notesSlides/notesSlide632.xml" ContentType="application/vnd.openxmlformats-officedocument.presentationml.notesSlide+xml"/>
  <Override PartName="/ppt/notesSlides/notesSlide633.xml" ContentType="application/vnd.openxmlformats-officedocument.presentationml.notesSlide+xml"/>
  <Override PartName="/ppt/notesSlides/notesSlide634.xml" ContentType="application/vnd.openxmlformats-officedocument.presentationml.notesSlide+xml"/>
  <Override PartName="/ppt/notesSlides/notesSlide635.xml" ContentType="application/vnd.openxmlformats-officedocument.presentationml.notesSlide+xml"/>
  <Override PartName="/ppt/notesSlides/notesSlide636.xml" ContentType="application/vnd.openxmlformats-officedocument.presentationml.notesSlide+xml"/>
  <Override PartName="/ppt/notesSlides/notesSlide637.xml" ContentType="application/vnd.openxmlformats-officedocument.presentationml.notesSlide+xml"/>
  <Override PartName="/ppt/notesSlides/notesSlide638.xml" ContentType="application/vnd.openxmlformats-officedocument.presentationml.notesSlide+xml"/>
  <Override PartName="/ppt/notesSlides/notesSlide639.xml" ContentType="application/vnd.openxmlformats-officedocument.presentationml.notesSlide+xml"/>
  <Override PartName="/ppt/notesSlides/notesSlide64.xml" ContentType="application/vnd.openxmlformats-officedocument.presentationml.notesSlide+xml"/>
  <Override PartName="/ppt/notesSlides/notesSlide640.xml" ContentType="application/vnd.openxmlformats-officedocument.presentationml.notesSlide+xml"/>
  <Override PartName="/ppt/notesSlides/notesSlide641.xml" ContentType="application/vnd.openxmlformats-officedocument.presentationml.notesSlide+xml"/>
  <Override PartName="/ppt/notesSlides/notesSlide642.xml" ContentType="application/vnd.openxmlformats-officedocument.presentationml.notesSlide+xml"/>
  <Override PartName="/ppt/notesSlides/notesSlide643.xml" ContentType="application/vnd.openxmlformats-officedocument.presentationml.notesSlide+xml"/>
  <Override PartName="/ppt/notesSlides/notesSlide644.xml" ContentType="application/vnd.openxmlformats-officedocument.presentationml.notesSlide+xml"/>
  <Override PartName="/ppt/notesSlides/notesSlide645.xml" ContentType="application/vnd.openxmlformats-officedocument.presentationml.notesSlide+xml"/>
  <Override PartName="/ppt/notesSlides/notesSlide646.xml" ContentType="application/vnd.openxmlformats-officedocument.presentationml.notesSlide+xml"/>
  <Override PartName="/ppt/notesSlides/notesSlide647.xml" ContentType="application/vnd.openxmlformats-officedocument.presentationml.notesSlide+xml"/>
  <Override PartName="/ppt/notesSlides/notesSlide648.xml" ContentType="application/vnd.openxmlformats-officedocument.presentationml.notesSlide+xml"/>
  <Override PartName="/ppt/notesSlides/notesSlide649.xml" ContentType="application/vnd.openxmlformats-officedocument.presentationml.notesSlide+xml"/>
  <Override PartName="/ppt/notesSlides/notesSlide65.xml" ContentType="application/vnd.openxmlformats-officedocument.presentationml.notesSlide+xml"/>
  <Override PartName="/ppt/notesSlides/notesSlide650.xml" ContentType="application/vnd.openxmlformats-officedocument.presentationml.notesSlide+xml"/>
  <Override PartName="/ppt/notesSlides/notesSlide651.xml" ContentType="application/vnd.openxmlformats-officedocument.presentationml.notesSlide+xml"/>
  <Override PartName="/ppt/notesSlides/notesSlide652.xml" ContentType="application/vnd.openxmlformats-officedocument.presentationml.notesSlide+xml"/>
  <Override PartName="/ppt/notesSlides/notesSlide653.xml" ContentType="application/vnd.openxmlformats-officedocument.presentationml.notesSlide+xml"/>
  <Override PartName="/ppt/notesSlides/notesSlide654.xml" ContentType="application/vnd.openxmlformats-officedocument.presentationml.notesSlide+xml"/>
  <Override PartName="/ppt/notesSlides/notesSlide655.xml" ContentType="application/vnd.openxmlformats-officedocument.presentationml.notesSlide+xml"/>
  <Override PartName="/ppt/notesSlides/notesSlide656.xml" ContentType="application/vnd.openxmlformats-officedocument.presentationml.notesSlide+xml"/>
  <Override PartName="/ppt/notesSlides/notesSlide657.xml" ContentType="application/vnd.openxmlformats-officedocument.presentationml.notesSlide+xml"/>
  <Override PartName="/ppt/notesSlides/notesSlide658.xml" ContentType="application/vnd.openxmlformats-officedocument.presentationml.notesSlide+xml"/>
  <Override PartName="/ppt/notesSlides/notesSlide659.xml" ContentType="application/vnd.openxmlformats-officedocument.presentationml.notesSlide+xml"/>
  <Override PartName="/ppt/notesSlides/notesSlide66.xml" ContentType="application/vnd.openxmlformats-officedocument.presentationml.notesSlide+xml"/>
  <Override PartName="/ppt/notesSlides/notesSlide660.xml" ContentType="application/vnd.openxmlformats-officedocument.presentationml.notesSlide+xml"/>
  <Override PartName="/ppt/notesSlides/notesSlide661.xml" ContentType="application/vnd.openxmlformats-officedocument.presentationml.notesSlide+xml"/>
  <Override PartName="/ppt/notesSlides/notesSlide662.xml" ContentType="application/vnd.openxmlformats-officedocument.presentationml.notesSlide+xml"/>
  <Override PartName="/ppt/notesSlides/notesSlide663.xml" ContentType="application/vnd.openxmlformats-officedocument.presentationml.notesSlide+xml"/>
  <Override PartName="/ppt/notesSlides/notesSlide664.xml" ContentType="application/vnd.openxmlformats-officedocument.presentationml.notesSlide+xml"/>
  <Override PartName="/ppt/notesSlides/notesSlide665.xml" ContentType="application/vnd.openxmlformats-officedocument.presentationml.notesSlide+xml"/>
  <Override PartName="/ppt/notesSlides/notesSlide666.xml" ContentType="application/vnd.openxmlformats-officedocument.presentationml.notesSlide+xml"/>
  <Override PartName="/ppt/notesSlides/notesSlide667.xml" ContentType="application/vnd.openxmlformats-officedocument.presentationml.notesSlide+xml"/>
  <Override PartName="/ppt/notesSlides/notesSlide668.xml" ContentType="application/vnd.openxmlformats-officedocument.presentationml.notesSlide+xml"/>
  <Override PartName="/ppt/notesSlides/notesSlide669.xml" ContentType="application/vnd.openxmlformats-officedocument.presentationml.notesSlide+xml"/>
  <Override PartName="/ppt/notesSlides/notesSlide67.xml" ContentType="application/vnd.openxmlformats-officedocument.presentationml.notesSlide+xml"/>
  <Override PartName="/ppt/notesSlides/notesSlide670.xml" ContentType="application/vnd.openxmlformats-officedocument.presentationml.notesSlide+xml"/>
  <Override PartName="/ppt/notesSlides/notesSlide671.xml" ContentType="application/vnd.openxmlformats-officedocument.presentationml.notesSlide+xml"/>
  <Override PartName="/ppt/notesSlides/notesSlide672.xml" ContentType="application/vnd.openxmlformats-officedocument.presentationml.notesSlide+xml"/>
  <Override PartName="/ppt/notesSlides/notesSlide673.xml" ContentType="application/vnd.openxmlformats-officedocument.presentationml.notesSlide+xml"/>
  <Override PartName="/ppt/notesSlides/notesSlide674.xml" ContentType="application/vnd.openxmlformats-officedocument.presentationml.notesSlide+xml"/>
  <Override PartName="/ppt/notesSlides/notesSlide675.xml" ContentType="application/vnd.openxmlformats-officedocument.presentationml.notesSlide+xml"/>
  <Override PartName="/ppt/notesSlides/notesSlide676.xml" ContentType="application/vnd.openxmlformats-officedocument.presentationml.notesSlide+xml"/>
  <Override PartName="/ppt/notesSlides/notesSlide677.xml" ContentType="application/vnd.openxmlformats-officedocument.presentationml.notesSlide+xml"/>
  <Override PartName="/ppt/notesSlides/notesSlide678.xml" ContentType="application/vnd.openxmlformats-officedocument.presentationml.notesSlide+xml"/>
  <Override PartName="/ppt/notesSlides/notesSlide679.xml" ContentType="application/vnd.openxmlformats-officedocument.presentationml.notesSlide+xml"/>
  <Override PartName="/ppt/notesSlides/notesSlide68.xml" ContentType="application/vnd.openxmlformats-officedocument.presentationml.notesSlide+xml"/>
  <Override PartName="/ppt/notesSlides/notesSlide680.xml" ContentType="application/vnd.openxmlformats-officedocument.presentationml.notesSlide+xml"/>
  <Override PartName="/ppt/notesSlides/notesSlide681.xml" ContentType="application/vnd.openxmlformats-officedocument.presentationml.notesSlide+xml"/>
  <Override PartName="/ppt/notesSlides/notesSlide682.xml" ContentType="application/vnd.openxmlformats-officedocument.presentationml.notesSlide+xml"/>
  <Override PartName="/ppt/notesSlides/notesSlide683.xml" ContentType="application/vnd.openxmlformats-officedocument.presentationml.notesSlide+xml"/>
  <Override PartName="/ppt/notesSlides/notesSlide684.xml" ContentType="application/vnd.openxmlformats-officedocument.presentationml.notesSlide+xml"/>
  <Override PartName="/ppt/notesSlides/notesSlide685.xml" ContentType="application/vnd.openxmlformats-officedocument.presentationml.notesSlide+xml"/>
  <Override PartName="/ppt/notesSlides/notesSlide686.xml" ContentType="application/vnd.openxmlformats-officedocument.presentationml.notesSlide+xml"/>
  <Override PartName="/ppt/notesSlides/notesSlide687.xml" ContentType="application/vnd.openxmlformats-officedocument.presentationml.notesSlide+xml"/>
  <Override PartName="/ppt/notesSlides/notesSlide688.xml" ContentType="application/vnd.openxmlformats-officedocument.presentationml.notesSlide+xml"/>
  <Override PartName="/ppt/notesSlides/notesSlide689.xml" ContentType="application/vnd.openxmlformats-officedocument.presentationml.notesSlide+xml"/>
  <Override PartName="/ppt/notesSlides/notesSlide69.xml" ContentType="application/vnd.openxmlformats-officedocument.presentationml.notesSlide+xml"/>
  <Override PartName="/ppt/notesSlides/notesSlide690.xml" ContentType="application/vnd.openxmlformats-officedocument.presentationml.notesSlide+xml"/>
  <Override PartName="/ppt/notesSlides/notesSlide691.xml" ContentType="application/vnd.openxmlformats-officedocument.presentationml.notesSlide+xml"/>
  <Override PartName="/ppt/notesSlides/notesSlide692.xml" ContentType="application/vnd.openxmlformats-officedocument.presentationml.notesSlide+xml"/>
  <Override PartName="/ppt/notesSlides/notesSlide693.xml" ContentType="application/vnd.openxmlformats-officedocument.presentationml.notesSlide+xml"/>
  <Override PartName="/ppt/notesSlides/notesSlide694.xml" ContentType="application/vnd.openxmlformats-officedocument.presentationml.notesSlide+xml"/>
  <Override PartName="/ppt/notesSlides/notesSlide695.xml" ContentType="application/vnd.openxmlformats-officedocument.presentationml.notesSlide+xml"/>
  <Override PartName="/ppt/notesSlides/notesSlide696.xml" ContentType="application/vnd.openxmlformats-officedocument.presentationml.notesSlide+xml"/>
  <Override PartName="/ppt/notesSlides/notesSlide697.xml" ContentType="application/vnd.openxmlformats-officedocument.presentationml.notesSlide+xml"/>
  <Override PartName="/ppt/notesSlides/notesSlide698.xml" ContentType="application/vnd.openxmlformats-officedocument.presentationml.notesSlide+xml"/>
  <Override PartName="/ppt/notesSlides/notesSlide69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00.xml" ContentType="application/vnd.openxmlformats-officedocument.presentationml.notesSlide+xml"/>
  <Override PartName="/ppt/notesSlides/notesSlide701.xml" ContentType="application/vnd.openxmlformats-officedocument.presentationml.notesSlide+xml"/>
  <Override PartName="/ppt/notesSlides/notesSlide702.xml" ContentType="application/vnd.openxmlformats-officedocument.presentationml.notesSlide+xml"/>
  <Override PartName="/ppt/notesSlides/notesSlide703.xml" ContentType="application/vnd.openxmlformats-officedocument.presentationml.notesSlide+xml"/>
  <Override PartName="/ppt/notesSlides/notesSlide704.xml" ContentType="application/vnd.openxmlformats-officedocument.presentationml.notesSlide+xml"/>
  <Override PartName="/ppt/notesSlides/notesSlide705.xml" ContentType="application/vnd.openxmlformats-officedocument.presentationml.notesSlide+xml"/>
  <Override PartName="/ppt/notesSlides/notesSlide706.xml" ContentType="application/vnd.openxmlformats-officedocument.presentationml.notesSlide+xml"/>
  <Override PartName="/ppt/notesSlides/notesSlide707.xml" ContentType="application/vnd.openxmlformats-officedocument.presentationml.notesSlide+xml"/>
  <Override PartName="/ppt/notesSlides/notesSlide708.xml" ContentType="application/vnd.openxmlformats-officedocument.presentationml.notesSlide+xml"/>
  <Override PartName="/ppt/notesSlides/notesSlide709.xml" ContentType="application/vnd.openxmlformats-officedocument.presentationml.notesSlide+xml"/>
  <Override PartName="/ppt/notesSlides/notesSlide71.xml" ContentType="application/vnd.openxmlformats-officedocument.presentationml.notesSlide+xml"/>
  <Override PartName="/ppt/notesSlides/notesSlide710.xml" ContentType="application/vnd.openxmlformats-officedocument.presentationml.notesSlide+xml"/>
  <Override PartName="/ppt/notesSlides/notesSlide711.xml" ContentType="application/vnd.openxmlformats-officedocument.presentationml.notesSlide+xml"/>
  <Override PartName="/ppt/notesSlides/notesSlide712.xml" ContentType="application/vnd.openxmlformats-officedocument.presentationml.notesSlide+xml"/>
  <Override PartName="/ppt/notesSlides/notesSlide713.xml" ContentType="application/vnd.openxmlformats-officedocument.presentationml.notesSlide+xml"/>
  <Override PartName="/ppt/notesSlides/notesSlide714.xml" ContentType="application/vnd.openxmlformats-officedocument.presentationml.notesSlide+xml"/>
  <Override PartName="/ppt/notesSlides/notesSlide715.xml" ContentType="application/vnd.openxmlformats-officedocument.presentationml.notesSlide+xml"/>
  <Override PartName="/ppt/notesSlides/notesSlide716.xml" ContentType="application/vnd.openxmlformats-officedocument.presentationml.notesSlide+xml"/>
  <Override PartName="/ppt/notesSlides/notesSlide717.xml" ContentType="application/vnd.openxmlformats-officedocument.presentationml.notesSlide+xml"/>
  <Override PartName="/ppt/notesSlides/notesSlide718.xml" ContentType="application/vnd.openxmlformats-officedocument.presentationml.notesSlide+xml"/>
  <Override PartName="/ppt/notesSlides/notesSlide719.xml" ContentType="application/vnd.openxmlformats-officedocument.presentationml.notesSlide+xml"/>
  <Override PartName="/ppt/notesSlides/notesSlide72.xml" ContentType="application/vnd.openxmlformats-officedocument.presentationml.notesSlide+xml"/>
  <Override PartName="/ppt/notesSlides/notesSlide720.xml" ContentType="application/vnd.openxmlformats-officedocument.presentationml.notesSlide+xml"/>
  <Override PartName="/ppt/notesSlides/notesSlide721.xml" ContentType="application/vnd.openxmlformats-officedocument.presentationml.notesSlide+xml"/>
  <Override PartName="/ppt/notesSlides/notesSlide722.xml" ContentType="application/vnd.openxmlformats-officedocument.presentationml.notesSlide+xml"/>
  <Override PartName="/ppt/notesSlides/notesSlide723.xml" ContentType="application/vnd.openxmlformats-officedocument.presentationml.notesSlide+xml"/>
  <Override PartName="/ppt/notesSlides/notesSlide724.xml" ContentType="application/vnd.openxmlformats-officedocument.presentationml.notesSlide+xml"/>
  <Override PartName="/ppt/notesSlides/notesSlide725.xml" ContentType="application/vnd.openxmlformats-officedocument.presentationml.notesSlide+xml"/>
  <Override PartName="/ppt/notesSlides/notesSlide726.xml" ContentType="application/vnd.openxmlformats-officedocument.presentationml.notesSlide+xml"/>
  <Override PartName="/ppt/notesSlides/notesSlide727.xml" ContentType="application/vnd.openxmlformats-officedocument.presentationml.notesSlide+xml"/>
  <Override PartName="/ppt/notesSlides/notesSlide728.xml" ContentType="application/vnd.openxmlformats-officedocument.presentationml.notesSlide+xml"/>
  <Override PartName="/ppt/notesSlides/notesSlide729.xml" ContentType="application/vnd.openxmlformats-officedocument.presentationml.notesSlide+xml"/>
  <Override PartName="/ppt/notesSlides/notesSlide73.xml" ContentType="application/vnd.openxmlformats-officedocument.presentationml.notesSlide+xml"/>
  <Override PartName="/ppt/notesSlides/notesSlide730.xml" ContentType="application/vnd.openxmlformats-officedocument.presentationml.notesSlide+xml"/>
  <Override PartName="/ppt/notesSlides/notesSlide731.xml" ContentType="application/vnd.openxmlformats-officedocument.presentationml.notesSlide+xml"/>
  <Override PartName="/ppt/notesSlides/notesSlide732.xml" ContentType="application/vnd.openxmlformats-officedocument.presentationml.notesSlide+xml"/>
  <Override PartName="/ppt/notesSlides/notesSlide733.xml" ContentType="application/vnd.openxmlformats-officedocument.presentationml.notesSlide+xml"/>
  <Override PartName="/ppt/notesSlides/notesSlide734.xml" ContentType="application/vnd.openxmlformats-officedocument.presentationml.notesSlide+xml"/>
  <Override PartName="/ppt/notesSlides/notesSlide735.xml" ContentType="application/vnd.openxmlformats-officedocument.presentationml.notesSlide+xml"/>
  <Override PartName="/ppt/notesSlides/notesSlide736.xml" ContentType="application/vnd.openxmlformats-officedocument.presentationml.notesSlide+xml"/>
  <Override PartName="/ppt/notesSlides/notesSlide737.xml" ContentType="application/vnd.openxmlformats-officedocument.presentationml.notesSlide+xml"/>
  <Override PartName="/ppt/notesSlides/notesSlide738.xml" ContentType="application/vnd.openxmlformats-officedocument.presentationml.notesSlide+xml"/>
  <Override PartName="/ppt/notesSlides/notesSlide739.xml" ContentType="application/vnd.openxmlformats-officedocument.presentationml.notesSlide+xml"/>
  <Override PartName="/ppt/notesSlides/notesSlide74.xml" ContentType="application/vnd.openxmlformats-officedocument.presentationml.notesSlide+xml"/>
  <Override PartName="/ppt/notesSlides/notesSlide740.xml" ContentType="application/vnd.openxmlformats-officedocument.presentationml.notesSlide+xml"/>
  <Override PartName="/ppt/notesSlides/notesSlide741.xml" ContentType="application/vnd.openxmlformats-officedocument.presentationml.notesSlide+xml"/>
  <Override PartName="/ppt/notesSlides/notesSlide742.xml" ContentType="application/vnd.openxmlformats-officedocument.presentationml.notesSlide+xml"/>
  <Override PartName="/ppt/notesSlides/notesSlide743.xml" ContentType="application/vnd.openxmlformats-officedocument.presentationml.notesSlide+xml"/>
  <Override PartName="/ppt/notesSlides/notesSlide744.xml" ContentType="application/vnd.openxmlformats-officedocument.presentationml.notesSlide+xml"/>
  <Override PartName="/ppt/notesSlides/notesSlide745.xml" ContentType="application/vnd.openxmlformats-officedocument.presentationml.notesSlide+xml"/>
  <Override PartName="/ppt/notesSlides/notesSlide746.xml" ContentType="application/vnd.openxmlformats-officedocument.presentationml.notesSlide+xml"/>
  <Override PartName="/ppt/notesSlides/notesSlide747.xml" ContentType="application/vnd.openxmlformats-officedocument.presentationml.notesSlide+xml"/>
  <Override PartName="/ppt/notesSlides/notesSlide748.xml" ContentType="application/vnd.openxmlformats-officedocument.presentationml.notesSlide+xml"/>
  <Override PartName="/ppt/notesSlides/notesSlide749.xml" ContentType="application/vnd.openxmlformats-officedocument.presentationml.notesSlide+xml"/>
  <Override PartName="/ppt/notesSlides/notesSlide75.xml" ContentType="application/vnd.openxmlformats-officedocument.presentationml.notesSlide+xml"/>
  <Override PartName="/ppt/notesSlides/notesSlide750.xml" ContentType="application/vnd.openxmlformats-officedocument.presentationml.notesSlide+xml"/>
  <Override PartName="/ppt/notesSlides/notesSlide751.xml" ContentType="application/vnd.openxmlformats-officedocument.presentationml.notesSlide+xml"/>
  <Override PartName="/ppt/notesSlides/notesSlide752.xml" ContentType="application/vnd.openxmlformats-officedocument.presentationml.notesSlide+xml"/>
  <Override PartName="/ppt/notesSlides/notesSlide753.xml" ContentType="application/vnd.openxmlformats-officedocument.presentationml.notesSlide+xml"/>
  <Override PartName="/ppt/notesSlides/notesSlide754.xml" ContentType="application/vnd.openxmlformats-officedocument.presentationml.notesSlide+xml"/>
  <Override PartName="/ppt/notesSlides/notesSlide755.xml" ContentType="application/vnd.openxmlformats-officedocument.presentationml.notesSlide+xml"/>
  <Override PartName="/ppt/notesSlides/notesSlide756.xml" ContentType="application/vnd.openxmlformats-officedocument.presentationml.notesSlide+xml"/>
  <Override PartName="/ppt/notesSlides/notesSlide757.xml" ContentType="application/vnd.openxmlformats-officedocument.presentationml.notesSlide+xml"/>
  <Override PartName="/ppt/notesSlides/notesSlide758.xml" ContentType="application/vnd.openxmlformats-officedocument.presentationml.notesSlide+xml"/>
  <Override PartName="/ppt/notesSlides/notesSlide759.xml" ContentType="application/vnd.openxmlformats-officedocument.presentationml.notesSlide+xml"/>
  <Override PartName="/ppt/notesSlides/notesSlide76.xml" ContentType="application/vnd.openxmlformats-officedocument.presentationml.notesSlide+xml"/>
  <Override PartName="/ppt/notesSlides/notesSlide760.xml" ContentType="application/vnd.openxmlformats-officedocument.presentationml.notesSlide+xml"/>
  <Override PartName="/ppt/notesSlides/notesSlide761.xml" ContentType="application/vnd.openxmlformats-officedocument.presentationml.notesSlide+xml"/>
  <Override PartName="/ppt/notesSlides/notesSlide762.xml" ContentType="application/vnd.openxmlformats-officedocument.presentationml.notesSlide+xml"/>
  <Override PartName="/ppt/notesSlides/notesSlide763.xml" ContentType="application/vnd.openxmlformats-officedocument.presentationml.notesSlide+xml"/>
  <Override PartName="/ppt/notesSlides/notesSlide764.xml" ContentType="application/vnd.openxmlformats-officedocument.presentationml.notesSlide+xml"/>
  <Override PartName="/ppt/notesSlides/notesSlide765.xml" ContentType="application/vnd.openxmlformats-officedocument.presentationml.notesSlide+xml"/>
  <Override PartName="/ppt/notesSlides/notesSlide766.xml" ContentType="application/vnd.openxmlformats-officedocument.presentationml.notesSlide+xml"/>
  <Override PartName="/ppt/notesSlides/notesSlide767.xml" ContentType="application/vnd.openxmlformats-officedocument.presentationml.notesSlide+xml"/>
  <Override PartName="/ppt/notesSlides/notesSlide768.xml" ContentType="application/vnd.openxmlformats-officedocument.presentationml.notesSlide+xml"/>
  <Override PartName="/ppt/notesSlides/notesSlide769.xml" ContentType="application/vnd.openxmlformats-officedocument.presentationml.notesSlide+xml"/>
  <Override PartName="/ppt/notesSlides/notesSlide77.xml" ContentType="application/vnd.openxmlformats-officedocument.presentationml.notesSlide+xml"/>
  <Override PartName="/ppt/notesSlides/notesSlide770.xml" ContentType="application/vnd.openxmlformats-officedocument.presentationml.notesSlide+xml"/>
  <Override PartName="/ppt/notesSlides/notesSlide771.xml" ContentType="application/vnd.openxmlformats-officedocument.presentationml.notesSlide+xml"/>
  <Override PartName="/ppt/notesSlides/notesSlide772.xml" ContentType="application/vnd.openxmlformats-officedocument.presentationml.notesSlide+xml"/>
  <Override PartName="/ppt/notesSlides/notesSlide773.xml" ContentType="application/vnd.openxmlformats-officedocument.presentationml.notesSlide+xml"/>
  <Override PartName="/ppt/notesSlides/notesSlide774.xml" ContentType="application/vnd.openxmlformats-officedocument.presentationml.notesSlide+xml"/>
  <Override PartName="/ppt/notesSlides/notesSlide775.xml" ContentType="application/vnd.openxmlformats-officedocument.presentationml.notesSlide+xml"/>
  <Override PartName="/ppt/notesSlides/notesSlide776.xml" ContentType="application/vnd.openxmlformats-officedocument.presentationml.notesSlide+xml"/>
  <Override PartName="/ppt/notesSlides/notesSlide777.xml" ContentType="application/vnd.openxmlformats-officedocument.presentationml.notesSlide+xml"/>
  <Override PartName="/ppt/notesSlides/notesSlide778.xml" ContentType="application/vnd.openxmlformats-officedocument.presentationml.notesSlide+xml"/>
  <Override PartName="/ppt/notesSlides/notesSlide779.xml" ContentType="application/vnd.openxmlformats-officedocument.presentationml.notesSlide+xml"/>
  <Override PartName="/ppt/notesSlides/notesSlide78.xml" ContentType="application/vnd.openxmlformats-officedocument.presentationml.notesSlide+xml"/>
  <Override PartName="/ppt/notesSlides/notesSlide780.xml" ContentType="application/vnd.openxmlformats-officedocument.presentationml.notesSlide+xml"/>
  <Override PartName="/ppt/notesSlides/notesSlide781.xml" ContentType="application/vnd.openxmlformats-officedocument.presentationml.notesSlide+xml"/>
  <Override PartName="/ppt/notesSlides/notesSlide782.xml" ContentType="application/vnd.openxmlformats-officedocument.presentationml.notesSlide+xml"/>
  <Override PartName="/ppt/notesSlides/notesSlide783.xml" ContentType="application/vnd.openxmlformats-officedocument.presentationml.notesSlide+xml"/>
  <Override PartName="/ppt/notesSlides/notesSlide784.xml" ContentType="application/vnd.openxmlformats-officedocument.presentationml.notesSlide+xml"/>
  <Override PartName="/ppt/notesSlides/notesSlide785.xml" ContentType="application/vnd.openxmlformats-officedocument.presentationml.notesSlide+xml"/>
  <Override PartName="/ppt/notesSlides/notesSlide786.xml" ContentType="application/vnd.openxmlformats-officedocument.presentationml.notesSlide+xml"/>
  <Override PartName="/ppt/notesSlides/notesSlide787.xml" ContentType="application/vnd.openxmlformats-officedocument.presentationml.notesSlide+xml"/>
  <Override PartName="/ppt/notesSlides/notesSlide788.xml" ContentType="application/vnd.openxmlformats-officedocument.presentationml.notesSlide+xml"/>
  <Override PartName="/ppt/notesSlides/notesSlide789.xml" ContentType="application/vnd.openxmlformats-officedocument.presentationml.notesSlide+xml"/>
  <Override PartName="/ppt/notesSlides/notesSlide79.xml" ContentType="application/vnd.openxmlformats-officedocument.presentationml.notesSlide+xml"/>
  <Override PartName="/ppt/notesSlides/notesSlide790.xml" ContentType="application/vnd.openxmlformats-officedocument.presentationml.notesSlide+xml"/>
  <Override PartName="/ppt/notesSlides/notesSlide791.xml" ContentType="application/vnd.openxmlformats-officedocument.presentationml.notesSlide+xml"/>
  <Override PartName="/ppt/notesSlides/notesSlide792.xml" ContentType="application/vnd.openxmlformats-officedocument.presentationml.notesSlide+xml"/>
  <Override PartName="/ppt/notesSlides/notesSlide793.xml" ContentType="application/vnd.openxmlformats-officedocument.presentationml.notesSlide+xml"/>
  <Override PartName="/ppt/notesSlides/notesSlide794.xml" ContentType="application/vnd.openxmlformats-officedocument.presentationml.notesSlide+xml"/>
  <Override PartName="/ppt/notesSlides/notesSlide795.xml" ContentType="application/vnd.openxmlformats-officedocument.presentationml.notesSlide+xml"/>
  <Override PartName="/ppt/notesSlides/notesSlide796.xml" ContentType="application/vnd.openxmlformats-officedocument.presentationml.notesSlide+xml"/>
  <Override PartName="/ppt/notesSlides/notesSlide797.xml" ContentType="application/vnd.openxmlformats-officedocument.presentationml.notesSlide+xml"/>
  <Override PartName="/ppt/notesSlides/notesSlide798.xml" ContentType="application/vnd.openxmlformats-officedocument.presentationml.notesSlide+xml"/>
  <Override PartName="/ppt/notesSlides/notesSlide79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00.xml" ContentType="application/vnd.openxmlformats-officedocument.presentationml.notesSlide+xml"/>
  <Override PartName="/ppt/notesSlides/notesSlide801.xml" ContentType="application/vnd.openxmlformats-officedocument.presentationml.notesSlide+xml"/>
  <Override PartName="/ppt/notesSlides/notesSlide802.xml" ContentType="application/vnd.openxmlformats-officedocument.presentationml.notesSlide+xml"/>
  <Override PartName="/ppt/notesSlides/notesSlide803.xml" ContentType="application/vnd.openxmlformats-officedocument.presentationml.notesSlide+xml"/>
  <Override PartName="/ppt/notesSlides/notesSlide804.xml" ContentType="application/vnd.openxmlformats-officedocument.presentationml.notesSlide+xml"/>
  <Override PartName="/ppt/notesSlides/notesSlide805.xml" ContentType="application/vnd.openxmlformats-officedocument.presentationml.notesSlide+xml"/>
  <Override PartName="/ppt/notesSlides/notesSlide806.xml" ContentType="application/vnd.openxmlformats-officedocument.presentationml.notesSlide+xml"/>
  <Override PartName="/ppt/notesSlides/notesSlide807.xml" ContentType="application/vnd.openxmlformats-officedocument.presentationml.notesSlide+xml"/>
  <Override PartName="/ppt/notesSlides/notesSlide808.xml" ContentType="application/vnd.openxmlformats-officedocument.presentationml.notesSlide+xml"/>
  <Override PartName="/ppt/notesSlides/notesSlide809.xml" ContentType="application/vnd.openxmlformats-officedocument.presentationml.notesSlide+xml"/>
  <Override PartName="/ppt/notesSlides/notesSlide81.xml" ContentType="application/vnd.openxmlformats-officedocument.presentationml.notesSlide+xml"/>
  <Override PartName="/ppt/notesSlides/notesSlide810.xml" ContentType="application/vnd.openxmlformats-officedocument.presentationml.notesSlide+xml"/>
  <Override PartName="/ppt/notesSlides/notesSlide811.xml" ContentType="application/vnd.openxmlformats-officedocument.presentationml.notesSlide+xml"/>
  <Override PartName="/ppt/notesSlides/notesSlide812.xml" ContentType="application/vnd.openxmlformats-officedocument.presentationml.notesSlide+xml"/>
  <Override PartName="/ppt/notesSlides/notesSlide813.xml" ContentType="application/vnd.openxmlformats-officedocument.presentationml.notesSlide+xml"/>
  <Override PartName="/ppt/notesSlides/notesSlide814.xml" ContentType="application/vnd.openxmlformats-officedocument.presentationml.notesSlide+xml"/>
  <Override PartName="/ppt/notesSlides/notesSlide815.xml" ContentType="application/vnd.openxmlformats-officedocument.presentationml.notesSlide+xml"/>
  <Override PartName="/ppt/notesSlides/notesSlide816.xml" ContentType="application/vnd.openxmlformats-officedocument.presentationml.notesSlide+xml"/>
  <Override PartName="/ppt/notesSlides/notesSlide817.xml" ContentType="application/vnd.openxmlformats-officedocument.presentationml.notesSlide+xml"/>
  <Override PartName="/ppt/notesSlides/notesSlide818.xml" ContentType="application/vnd.openxmlformats-officedocument.presentationml.notesSlide+xml"/>
  <Override PartName="/ppt/notesSlides/notesSlide819.xml" ContentType="application/vnd.openxmlformats-officedocument.presentationml.notesSlide+xml"/>
  <Override PartName="/ppt/notesSlides/notesSlide82.xml" ContentType="application/vnd.openxmlformats-officedocument.presentationml.notesSlide+xml"/>
  <Override PartName="/ppt/notesSlides/notesSlide820.xml" ContentType="application/vnd.openxmlformats-officedocument.presentationml.notesSlide+xml"/>
  <Override PartName="/ppt/notesSlides/notesSlide821.xml" ContentType="application/vnd.openxmlformats-officedocument.presentationml.notesSlide+xml"/>
  <Override PartName="/ppt/notesSlides/notesSlide822.xml" ContentType="application/vnd.openxmlformats-officedocument.presentationml.notesSlide+xml"/>
  <Override PartName="/ppt/notesSlides/notesSlide823.xml" ContentType="application/vnd.openxmlformats-officedocument.presentationml.notesSlide+xml"/>
  <Override PartName="/ppt/notesSlides/notesSlide824.xml" ContentType="application/vnd.openxmlformats-officedocument.presentationml.notesSlide+xml"/>
  <Override PartName="/ppt/notesSlides/notesSlide825.xml" ContentType="application/vnd.openxmlformats-officedocument.presentationml.notesSlide+xml"/>
  <Override PartName="/ppt/notesSlides/notesSlide826.xml" ContentType="application/vnd.openxmlformats-officedocument.presentationml.notesSlide+xml"/>
  <Override PartName="/ppt/notesSlides/notesSlide827.xml" ContentType="application/vnd.openxmlformats-officedocument.presentationml.notesSlide+xml"/>
  <Override PartName="/ppt/notesSlides/notesSlide828.xml" ContentType="application/vnd.openxmlformats-officedocument.presentationml.notesSlide+xml"/>
  <Override PartName="/ppt/notesSlides/notesSlide829.xml" ContentType="application/vnd.openxmlformats-officedocument.presentationml.notesSlide+xml"/>
  <Override PartName="/ppt/notesSlides/notesSlide83.xml" ContentType="application/vnd.openxmlformats-officedocument.presentationml.notesSlide+xml"/>
  <Override PartName="/ppt/notesSlides/notesSlide830.xml" ContentType="application/vnd.openxmlformats-officedocument.presentationml.notesSlide+xml"/>
  <Override PartName="/ppt/notesSlides/notesSlide831.xml" ContentType="application/vnd.openxmlformats-officedocument.presentationml.notesSlide+xml"/>
  <Override PartName="/ppt/notesSlides/notesSlide832.xml" ContentType="application/vnd.openxmlformats-officedocument.presentationml.notesSlide+xml"/>
  <Override PartName="/ppt/notesSlides/notesSlide833.xml" ContentType="application/vnd.openxmlformats-officedocument.presentationml.notesSlide+xml"/>
  <Override PartName="/ppt/notesSlides/notesSlide834.xml" ContentType="application/vnd.openxmlformats-officedocument.presentationml.notesSlide+xml"/>
  <Override PartName="/ppt/notesSlides/notesSlide835.xml" ContentType="application/vnd.openxmlformats-officedocument.presentationml.notesSlide+xml"/>
  <Override PartName="/ppt/notesSlides/notesSlide836.xml" ContentType="application/vnd.openxmlformats-officedocument.presentationml.notesSlide+xml"/>
  <Override PartName="/ppt/notesSlides/notesSlide837.xml" ContentType="application/vnd.openxmlformats-officedocument.presentationml.notesSlide+xml"/>
  <Override PartName="/ppt/notesSlides/notesSlide838.xml" ContentType="application/vnd.openxmlformats-officedocument.presentationml.notesSlide+xml"/>
  <Override PartName="/ppt/notesSlides/notesSlide839.xml" ContentType="application/vnd.openxmlformats-officedocument.presentationml.notesSlide+xml"/>
  <Override PartName="/ppt/notesSlides/notesSlide84.xml" ContentType="application/vnd.openxmlformats-officedocument.presentationml.notesSlide+xml"/>
  <Override PartName="/ppt/notesSlides/notesSlide840.xml" ContentType="application/vnd.openxmlformats-officedocument.presentationml.notesSlide+xml"/>
  <Override PartName="/ppt/notesSlides/notesSlide841.xml" ContentType="application/vnd.openxmlformats-officedocument.presentationml.notesSlide+xml"/>
  <Override PartName="/ppt/notesSlides/notesSlide842.xml" ContentType="application/vnd.openxmlformats-officedocument.presentationml.notesSlide+xml"/>
  <Override PartName="/ppt/notesSlides/notesSlide843.xml" ContentType="application/vnd.openxmlformats-officedocument.presentationml.notesSlide+xml"/>
  <Override PartName="/ppt/notesSlides/notesSlide844.xml" ContentType="application/vnd.openxmlformats-officedocument.presentationml.notesSlide+xml"/>
  <Override PartName="/ppt/notesSlides/notesSlide845.xml" ContentType="application/vnd.openxmlformats-officedocument.presentationml.notesSlide+xml"/>
  <Override PartName="/ppt/notesSlides/notesSlide846.xml" ContentType="application/vnd.openxmlformats-officedocument.presentationml.notesSlide+xml"/>
  <Override PartName="/ppt/notesSlides/notesSlide847.xml" ContentType="application/vnd.openxmlformats-officedocument.presentationml.notesSlide+xml"/>
  <Override PartName="/ppt/notesSlides/notesSlide848.xml" ContentType="application/vnd.openxmlformats-officedocument.presentationml.notesSlide+xml"/>
  <Override PartName="/ppt/notesSlides/notesSlide849.xml" ContentType="application/vnd.openxmlformats-officedocument.presentationml.notesSlide+xml"/>
  <Override PartName="/ppt/notesSlides/notesSlide85.xml" ContentType="application/vnd.openxmlformats-officedocument.presentationml.notesSlide+xml"/>
  <Override PartName="/ppt/notesSlides/notesSlide850.xml" ContentType="application/vnd.openxmlformats-officedocument.presentationml.notesSlide+xml"/>
  <Override PartName="/ppt/notesSlides/notesSlide851.xml" ContentType="application/vnd.openxmlformats-officedocument.presentationml.notesSlide+xml"/>
  <Override PartName="/ppt/notesSlides/notesSlide852.xml" ContentType="application/vnd.openxmlformats-officedocument.presentationml.notesSlide+xml"/>
  <Override PartName="/ppt/notesSlides/notesSlide853.xml" ContentType="application/vnd.openxmlformats-officedocument.presentationml.notesSlide+xml"/>
  <Override PartName="/ppt/notesSlides/notesSlide854.xml" ContentType="application/vnd.openxmlformats-officedocument.presentationml.notesSlide+xml"/>
  <Override PartName="/ppt/notesSlides/notesSlide855.xml" ContentType="application/vnd.openxmlformats-officedocument.presentationml.notesSlide+xml"/>
  <Override PartName="/ppt/notesSlides/notesSlide856.xml" ContentType="application/vnd.openxmlformats-officedocument.presentationml.notesSlide+xml"/>
  <Override PartName="/ppt/notesSlides/notesSlide857.xml" ContentType="application/vnd.openxmlformats-officedocument.presentationml.notesSlide+xml"/>
  <Override PartName="/ppt/notesSlides/notesSlide858.xml" ContentType="application/vnd.openxmlformats-officedocument.presentationml.notesSlide+xml"/>
  <Override PartName="/ppt/notesSlides/notesSlide859.xml" ContentType="application/vnd.openxmlformats-officedocument.presentationml.notesSlide+xml"/>
  <Override PartName="/ppt/notesSlides/notesSlide86.xml" ContentType="application/vnd.openxmlformats-officedocument.presentationml.notesSlide+xml"/>
  <Override PartName="/ppt/notesSlides/notesSlide860.xml" ContentType="application/vnd.openxmlformats-officedocument.presentationml.notesSlide+xml"/>
  <Override PartName="/ppt/notesSlides/notesSlide861.xml" ContentType="application/vnd.openxmlformats-officedocument.presentationml.notesSlide+xml"/>
  <Override PartName="/ppt/notesSlides/notesSlide862.xml" ContentType="application/vnd.openxmlformats-officedocument.presentationml.notesSlide+xml"/>
  <Override PartName="/ppt/notesSlides/notesSlide863.xml" ContentType="application/vnd.openxmlformats-officedocument.presentationml.notesSlide+xml"/>
  <Override PartName="/ppt/notesSlides/notesSlide864.xml" ContentType="application/vnd.openxmlformats-officedocument.presentationml.notesSlide+xml"/>
  <Override PartName="/ppt/notesSlides/notesSlide865.xml" ContentType="application/vnd.openxmlformats-officedocument.presentationml.notesSlide+xml"/>
  <Override PartName="/ppt/notesSlides/notesSlide866.xml" ContentType="application/vnd.openxmlformats-officedocument.presentationml.notesSlide+xml"/>
  <Override PartName="/ppt/notesSlides/notesSlide867.xml" ContentType="application/vnd.openxmlformats-officedocument.presentationml.notesSlide+xml"/>
  <Override PartName="/ppt/notesSlides/notesSlide868.xml" ContentType="application/vnd.openxmlformats-officedocument.presentationml.notesSlide+xml"/>
  <Override PartName="/ppt/notesSlides/notesSlide869.xml" ContentType="application/vnd.openxmlformats-officedocument.presentationml.notesSlide+xml"/>
  <Override PartName="/ppt/notesSlides/notesSlide87.xml" ContentType="application/vnd.openxmlformats-officedocument.presentationml.notesSlide+xml"/>
  <Override PartName="/ppt/notesSlides/notesSlide870.xml" ContentType="application/vnd.openxmlformats-officedocument.presentationml.notesSlide+xml"/>
  <Override PartName="/ppt/notesSlides/notesSlide871.xml" ContentType="application/vnd.openxmlformats-officedocument.presentationml.notesSlide+xml"/>
  <Override PartName="/ppt/notesSlides/notesSlide872.xml" ContentType="application/vnd.openxmlformats-officedocument.presentationml.notesSlide+xml"/>
  <Override PartName="/ppt/notesSlides/notesSlide873.xml" ContentType="application/vnd.openxmlformats-officedocument.presentationml.notesSlide+xml"/>
  <Override PartName="/ppt/notesSlides/notesSlide874.xml" ContentType="application/vnd.openxmlformats-officedocument.presentationml.notesSlide+xml"/>
  <Override PartName="/ppt/notesSlides/notesSlide875.xml" ContentType="application/vnd.openxmlformats-officedocument.presentationml.notesSlide+xml"/>
  <Override PartName="/ppt/notesSlides/notesSlide876.xml" ContentType="application/vnd.openxmlformats-officedocument.presentationml.notesSlide+xml"/>
  <Override PartName="/ppt/notesSlides/notesSlide877.xml" ContentType="application/vnd.openxmlformats-officedocument.presentationml.notesSlide+xml"/>
  <Override PartName="/ppt/notesSlides/notesSlide878.xml" ContentType="application/vnd.openxmlformats-officedocument.presentationml.notesSlide+xml"/>
  <Override PartName="/ppt/notesSlides/notesSlide879.xml" ContentType="application/vnd.openxmlformats-officedocument.presentationml.notesSlide+xml"/>
  <Override PartName="/ppt/notesSlides/notesSlide88.xml" ContentType="application/vnd.openxmlformats-officedocument.presentationml.notesSlide+xml"/>
  <Override PartName="/ppt/notesSlides/notesSlide880.xml" ContentType="application/vnd.openxmlformats-officedocument.presentationml.notesSlide+xml"/>
  <Override PartName="/ppt/notesSlides/notesSlide881.xml" ContentType="application/vnd.openxmlformats-officedocument.presentationml.notesSlide+xml"/>
  <Override PartName="/ppt/notesSlides/notesSlide882.xml" ContentType="application/vnd.openxmlformats-officedocument.presentationml.notesSlide+xml"/>
  <Override PartName="/ppt/notesSlides/notesSlide883.xml" ContentType="application/vnd.openxmlformats-officedocument.presentationml.notesSlide+xml"/>
  <Override PartName="/ppt/notesSlides/notesSlide884.xml" ContentType="application/vnd.openxmlformats-officedocument.presentationml.notesSlide+xml"/>
  <Override PartName="/ppt/notesSlides/notesSlide885.xml" ContentType="application/vnd.openxmlformats-officedocument.presentationml.notesSlide+xml"/>
  <Override PartName="/ppt/notesSlides/notesSlide886.xml" ContentType="application/vnd.openxmlformats-officedocument.presentationml.notesSlide+xml"/>
  <Override PartName="/ppt/notesSlides/notesSlide887.xml" ContentType="application/vnd.openxmlformats-officedocument.presentationml.notesSlide+xml"/>
  <Override PartName="/ppt/notesSlides/notesSlide888.xml" ContentType="application/vnd.openxmlformats-officedocument.presentationml.notesSlide+xml"/>
  <Override PartName="/ppt/notesSlides/notesSlide889.xml" ContentType="application/vnd.openxmlformats-officedocument.presentationml.notesSlide+xml"/>
  <Override PartName="/ppt/notesSlides/notesSlide89.xml" ContentType="application/vnd.openxmlformats-officedocument.presentationml.notesSlide+xml"/>
  <Override PartName="/ppt/notesSlides/notesSlide890.xml" ContentType="application/vnd.openxmlformats-officedocument.presentationml.notesSlide+xml"/>
  <Override PartName="/ppt/notesSlides/notesSlide891.xml" ContentType="application/vnd.openxmlformats-officedocument.presentationml.notesSlide+xml"/>
  <Override PartName="/ppt/notesSlides/notesSlide892.xml" ContentType="application/vnd.openxmlformats-officedocument.presentationml.notesSlide+xml"/>
  <Override PartName="/ppt/notesSlides/notesSlide893.xml" ContentType="application/vnd.openxmlformats-officedocument.presentationml.notesSlide+xml"/>
  <Override PartName="/ppt/notesSlides/notesSlide894.xml" ContentType="application/vnd.openxmlformats-officedocument.presentationml.notesSlide+xml"/>
  <Override PartName="/ppt/notesSlides/notesSlide895.xml" ContentType="application/vnd.openxmlformats-officedocument.presentationml.notesSlide+xml"/>
  <Override PartName="/ppt/notesSlides/notesSlide896.xml" ContentType="application/vnd.openxmlformats-officedocument.presentationml.notesSlide+xml"/>
  <Override PartName="/ppt/notesSlides/notesSlide897.xml" ContentType="application/vnd.openxmlformats-officedocument.presentationml.notesSlide+xml"/>
  <Override PartName="/ppt/notesSlides/notesSlide898.xml" ContentType="application/vnd.openxmlformats-officedocument.presentationml.notesSlide+xml"/>
  <Override PartName="/ppt/notesSlides/notesSlide89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00.xml" ContentType="application/vnd.openxmlformats-officedocument.presentationml.notesSlide+xml"/>
  <Override PartName="/ppt/notesSlides/notesSlide901.xml" ContentType="application/vnd.openxmlformats-officedocument.presentationml.notesSlide+xml"/>
  <Override PartName="/ppt/notesSlides/notesSlide902.xml" ContentType="application/vnd.openxmlformats-officedocument.presentationml.notesSlide+xml"/>
  <Override PartName="/ppt/notesSlides/notesSlide903.xml" ContentType="application/vnd.openxmlformats-officedocument.presentationml.notesSlide+xml"/>
  <Override PartName="/ppt/notesSlides/notesSlide904.xml" ContentType="application/vnd.openxmlformats-officedocument.presentationml.notesSlide+xml"/>
  <Override PartName="/ppt/notesSlides/notesSlide905.xml" ContentType="application/vnd.openxmlformats-officedocument.presentationml.notesSlide+xml"/>
  <Override PartName="/ppt/notesSlides/notesSlide906.xml" ContentType="application/vnd.openxmlformats-officedocument.presentationml.notesSlide+xml"/>
  <Override PartName="/ppt/notesSlides/notesSlide907.xml" ContentType="application/vnd.openxmlformats-officedocument.presentationml.notesSlide+xml"/>
  <Override PartName="/ppt/notesSlides/notesSlide908.xml" ContentType="application/vnd.openxmlformats-officedocument.presentationml.notesSlide+xml"/>
  <Override PartName="/ppt/notesSlides/notesSlide909.xml" ContentType="application/vnd.openxmlformats-officedocument.presentationml.notesSlide+xml"/>
  <Override PartName="/ppt/notesSlides/notesSlide91.xml" ContentType="application/vnd.openxmlformats-officedocument.presentationml.notesSlide+xml"/>
  <Override PartName="/ppt/notesSlides/notesSlide910.xml" ContentType="application/vnd.openxmlformats-officedocument.presentationml.notesSlide+xml"/>
  <Override PartName="/ppt/notesSlides/notesSlide911.xml" ContentType="application/vnd.openxmlformats-officedocument.presentationml.notesSlide+xml"/>
  <Override PartName="/ppt/notesSlides/notesSlide912.xml" ContentType="application/vnd.openxmlformats-officedocument.presentationml.notesSlide+xml"/>
  <Override PartName="/ppt/notesSlides/notesSlide913.xml" ContentType="application/vnd.openxmlformats-officedocument.presentationml.notesSlide+xml"/>
  <Override PartName="/ppt/notesSlides/notesSlide914.xml" ContentType="application/vnd.openxmlformats-officedocument.presentationml.notesSlide+xml"/>
  <Override PartName="/ppt/notesSlides/notesSlide915.xml" ContentType="application/vnd.openxmlformats-officedocument.presentationml.notesSlide+xml"/>
  <Override PartName="/ppt/notesSlides/notesSlide916.xml" ContentType="application/vnd.openxmlformats-officedocument.presentationml.notesSlide+xml"/>
  <Override PartName="/ppt/notesSlides/notesSlide917.xml" ContentType="application/vnd.openxmlformats-officedocument.presentationml.notesSlide+xml"/>
  <Override PartName="/ppt/notesSlides/notesSlide918.xml" ContentType="application/vnd.openxmlformats-officedocument.presentationml.notesSlide+xml"/>
  <Override PartName="/ppt/notesSlides/notesSlide919.xml" ContentType="application/vnd.openxmlformats-officedocument.presentationml.notesSlide+xml"/>
  <Override PartName="/ppt/notesSlides/notesSlide92.xml" ContentType="application/vnd.openxmlformats-officedocument.presentationml.notesSlide+xml"/>
  <Override PartName="/ppt/notesSlides/notesSlide920.xml" ContentType="application/vnd.openxmlformats-officedocument.presentationml.notesSlide+xml"/>
  <Override PartName="/ppt/notesSlides/notesSlide921.xml" ContentType="application/vnd.openxmlformats-officedocument.presentationml.notesSlide+xml"/>
  <Override PartName="/ppt/notesSlides/notesSlide922.xml" ContentType="application/vnd.openxmlformats-officedocument.presentationml.notesSlide+xml"/>
  <Override PartName="/ppt/notesSlides/notesSlide923.xml" ContentType="application/vnd.openxmlformats-officedocument.presentationml.notesSlide+xml"/>
  <Override PartName="/ppt/notesSlides/notesSlide924.xml" ContentType="application/vnd.openxmlformats-officedocument.presentationml.notesSlide+xml"/>
  <Override PartName="/ppt/notesSlides/notesSlide925.xml" ContentType="application/vnd.openxmlformats-officedocument.presentationml.notesSlide+xml"/>
  <Override PartName="/ppt/notesSlides/notesSlide926.xml" ContentType="application/vnd.openxmlformats-officedocument.presentationml.notesSlide+xml"/>
  <Override PartName="/ppt/notesSlides/notesSlide927.xml" ContentType="application/vnd.openxmlformats-officedocument.presentationml.notesSlide+xml"/>
  <Override PartName="/ppt/notesSlides/notesSlide928.xml" ContentType="application/vnd.openxmlformats-officedocument.presentationml.notesSlide+xml"/>
  <Override PartName="/ppt/notesSlides/notesSlide929.xml" ContentType="application/vnd.openxmlformats-officedocument.presentationml.notesSlide+xml"/>
  <Override PartName="/ppt/notesSlides/notesSlide93.xml" ContentType="application/vnd.openxmlformats-officedocument.presentationml.notesSlide+xml"/>
  <Override PartName="/ppt/notesSlides/notesSlide930.xml" ContentType="application/vnd.openxmlformats-officedocument.presentationml.notesSlide+xml"/>
  <Override PartName="/ppt/notesSlides/notesSlide931.xml" ContentType="application/vnd.openxmlformats-officedocument.presentationml.notesSlide+xml"/>
  <Override PartName="/ppt/notesSlides/notesSlide932.xml" ContentType="application/vnd.openxmlformats-officedocument.presentationml.notesSlide+xml"/>
  <Override PartName="/ppt/notesSlides/notesSlide933.xml" ContentType="application/vnd.openxmlformats-officedocument.presentationml.notesSlide+xml"/>
  <Override PartName="/ppt/notesSlides/notesSlide934.xml" ContentType="application/vnd.openxmlformats-officedocument.presentationml.notesSlide+xml"/>
  <Override PartName="/ppt/notesSlides/notesSlide935.xml" ContentType="application/vnd.openxmlformats-officedocument.presentationml.notesSlide+xml"/>
  <Override PartName="/ppt/notesSlides/notesSlide936.xml" ContentType="application/vnd.openxmlformats-officedocument.presentationml.notesSlide+xml"/>
  <Override PartName="/ppt/notesSlides/notesSlide937.xml" ContentType="application/vnd.openxmlformats-officedocument.presentationml.notesSlide+xml"/>
  <Override PartName="/ppt/notesSlides/notesSlide938.xml" ContentType="application/vnd.openxmlformats-officedocument.presentationml.notesSlide+xml"/>
  <Override PartName="/ppt/notesSlides/notesSlide939.xml" ContentType="application/vnd.openxmlformats-officedocument.presentationml.notesSlide+xml"/>
  <Override PartName="/ppt/notesSlides/notesSlide94.xml" ContentType="application/vnd.openxmlformats-officedocument.presentationml.notesSlide+xml"/>
  <Override PartName="/ppt/notesSlides/notesSlide940.xml" ContentType="application/vnd.openxmlformats-officedocument.presentationml.notesSlide+xml"/>
  <Override PartName="/ppt/notesSlides/notesSlide941.xml" ContentType="application/vnd.openxmlformats-officedocument.presentationml.notesSlide+xml"/>
  <Override PartName="/ppt/notesSlides/notesSlide942.xml" ContentType="application/vnd.openxmlformats-officedocument.presentationml.notesSlide+xml"/>
  <Override PartName="/ppt/notesSlides/notesSlide943.xml" ContentType="application/vnd.openxmlformats-officedocument.presentationml.notesSlide+xml"/>
  <Override PartName="/ppt/notesSlides/notesSlide944.xml" ContentType="application/vnd.openxmlformats-officedocument.presentationml.notesSlide+xml"/>
  <Override PartName="/ppt/notesSlides/notesSlide945.xml" ContentType="application/vnd.openxmlformats-officedocument.presentationml.notesSlide+xml"/>
  <Override PartName="/ppt/notesSlides/notesSlide946.xml" ContentType="application/vnd.openxmlformats-officedocument.presentationml.notesSlide+xml"/>
  <Override PartName="/ppt/notesSlides/notesSlide947.xml" ContentType="application/vnd.openxmlformats-officedocument.presentationml.notesSlide+xml"/>
  <Override PartName="/ppt/notesSlides/notesSlide948.xml" ContentType="application/vnd.openxmlformats-officedocument.presentationml.notesSlide+xml"/>
  <Override PartName="/ppt/notesSlides/notesSlide949.xml" ContentType="application/vnd.openxmlformats-officedocument.presentationml.notesSlide+xml"/>
  <Override PartName="/ppt/notesSlides/notesSlide95.xml" ContentType="application/vnd.openxmlformats-officedocument.presentationml.notesSlide+xml"/>
  <Override PartName="/ppt/notesSlides/notesSlide950.xml" ContentType="application/vnd.openxmlformats-officedocument.presentationml.notesSlide+xml"/>
  <Override PartName="/ppt/notesSlides/notesSlide951.xml" ContentType="application/vnd.openxmlformats-officedocument.presentationml.notesSlide+xml"/>
  <Override PartName="/ppt/notesSlides/notesSlide952.xml" ContentType="application/vnd.openxmlformats-officedocument.presentationml.notesSlide+xml"/>
  <Override PartName="/ppt/notesSlides/notesSlide953.xml" ContentType="application/vnd.openxmlformats-officedocument.presentationml.notesSlide+xml"/>
  <Override PartName="/ppt/notesSlides/notesSlide954.xml" ContentType="application/vnd.openxmlformats-officedocument.presentationml.notesSlide+xml"/>
  <Override PartName="/ppt/notesSlides/notesSlide955.xml" ContentType="application/vnd.openxmlformats-officedocument.presentationml.notesSlide+xml"/>
  <Override PartName="/ppt/notesSlides/notesSlide956.xml" ContentType="application/vnd.openxmlformats-officedocument.presentationml.notesSlide+xml"/>
  <Override PartName="/ppt/notesSlides/notesSlide957.xml" ContentType="application/vnd.openxmlformats-officedocument.presentationml.notesSlide+xml"/>
  <Override PartName="/ppt/notesSlides/notesSlide958.xml" ContentType="application/vnd.openxmlformats-officedocument.presentationml.notesSlide+xml"/>
  <Override PartName="/ppt/notesSlides/notesSlide959.xml" ContentType="application/vnd.openxmlformats-officedocument.presentationml.notesSlide+xml"/>
  <Override PartName="/ppt/notesSlides/notesSlide96.xml" ContentType="application/vnd.openxmlformats-officedocument.presentationml.notesSlide+xml"/>
  <Override PartName="/ppt/notesSlides/notesSlide960.xml" ContentType="application/vnd.openxmlformats-officedocument.presentationml.notesSlide+xml"/>
  <Override PartName="/ppt/notesSlides/notesSlide961.xml" ContentType="application/vnd.openxmlformats-officedocument.presentationml.notesSlide+xml"/>
  <Override PartName="/ppt/notesSlides/notesSlide962.xml" ContentType="application/vnd.openxmlformats-officedocument.presentationml.notesSlide+xml"/>
  <Override PartName="/ppt/notesSlides/notesSlide963.xml" ContentType="application/vnd.openxmlformats-officedocument.presentationml.notesSlide+xml"/>
  <Override PartName="/ppt/notesSlides/notesSlide964.xml" ContentType="application/vnd.openxmlformats-officedocument.presentationml.notesSlide+xml"/>
  <Override PartName="/ppt/notesSlides/notesSlide965.xml" ContentType="application/vnd.openxmlformats-officedocument.presentationml.notesSlide+xml"/>
  <Override PartName="/ppt/notesSlides/notesSlide966.xml" ContentType="application/vnd.openxmlformats-officedocument.presentationml.notesSlide+xml"/>
  <Override PartName="/ppt/notesSlides/notesSlide967.xml" ContentType="application/vnd.openxmlformats-officedocument.presentationml.notesSlide+xml"/>
  <Override PartName="/ppt/notesSlides/notesSlide968.xml" ContentType="application/vnd.openxmlformats-officedocument.presentationml.notesSlide+xml"/>
  <Override PartName="/ppt/notesSlides/notesSlide969.xml" ContentType="application/vnd.openxmlformats-officedocument.presentationml.notesSlide+xml"/>
  <Override PartName="/ppt/notesSlides/notesSlide97.xml" ContentType="application/vnd.openxmlformats-officedocument.presentationml.notesSlide+xml"/>
  <Override PartName="/ppt/notesSlides/notesSlide970.xml" ContentType="application/vnd.openxmlformats-officedocument.presentationml.notesSlide+xml"/>
  <Override PartName="/ppt/notesSlides/notesSlide971.xml" ContentType="application/vnd.openxmlformats-officedocument.presentationml.notesSlide+xml"/>
  <Override PartName="/ppt/notesSlides/notesSlide972.xml" ContentType="application/vnd.openxmlformats-officedocument.presentationml.notesSlide+xml"/>
  <Override PartName="/ppt/notesSlides/notesSlide973.xml" ContentType="application/vnd.openxmlformats-officedocument.presentationml.notesSlide+xml"/>
  <Override PartName="/ppt/notesSlides/notesSlide974.xml" ContentType="application/vnd.openxmlformats-officedocument.presentationml.notesSlide+xml"/>
  <Override PartName="/ppt/notesSlides/notesSlide975.xml" ContentType="application/vnd.openxmlformats-officedocument.presentationml.notesSlide+xml"/>
  <Override PartName="/ppt/notesSlides/notesSlide976.xml" ContentType="application/vnd.openxmlformats-officedocument.presentationml.notesSlide+xml"/>
  <Override PartName="/ppt/notesSlides/notesSlide977.xml" ContentType="application/vnd.openxmlformats-officedocument.presentationml.notesSlide+xml"/>
  <Override PartName="/ppt/notesSlides/notesSlide978.xml" ContentType="application/vnd.openxmlformats-officedocument.presentationml.notesSlide+xml"/>
  <Override PartName="/ppt/notesSlides/notesSlide979.xml" ContentType="application/vnd.openxmlformats-officedocument.presentationml.notesSlide+xml"/>
  <Override PartName="/ppt/notesSlides/notesSlide98.xml" ContentType="application/vnd.openxmlformats-officedocument.presentationml.notesSlide+xml"/>
  <Override PartName="/ppt/notesSlides/notesSlide980.xml" ContentType="application/vnd.openxmlformats-officedocument.presentationml.notesSlide+xml"/>
  <Override PartName="/ppt/notesSlides/notesSlide981.xml" ContentType="application/vnd.openxmlformats-officedocument.presentationml.notesSlide+xml"/>
  <Override PartName="/ppt/notesSlides/notesSlide982.xml" ContentType="application/vnd.openxmlformats-officedocument.presentationml.notesSlide+xml"/>
  <Override PartName="/ppt/notesSlides/notesSlide983.xml" ContentType="application/vnd.openxmlformats-officedocument.presentationml.notesSlide+xml"/>
  <Override PartName="/ppt/notesSlides/notesSlide984.xml" ContentType="application/vnd.openxmlformats-officedocument.presentationml.notesSlide+xml"/>
  <Override PartName="/ppt/notesSlides/notesSlide985.xml" ContentType="application/vnd.openxmlformats-officedocument.presentationml.notesSlide+xml"/>
  <Override PartName="/ppt/notesSlides/notesSlide986.xml" ContentType="application/vnd.openxmlformats-officedocument.presentationml.notesSlide+xml"/>
  <Override PartName="/ppt/notesSlides/notesSlide987.xml" ContentType="application/vnd.openxmlformats-officedocument.presentationml.notesSlide+xml"/>
  <Override PartName="/ppt/notesSlides/notesSlide988.xml" ContentType="application/vnd.openxmlformats-officedocument.presentationml.notesSlide+xml"/>
  <Override PartName="/ppt/notesSlides/notesSlide989.xml" ContentType="application/vnd.openxmlformats-officedocument.presentationml.notesSlide+xml"/>
  <Override PartName="/ppt/notesSlides/notesSlide99.xml" ContentType="application/vnd.openxmlformats-officedocument.presentationml.notesSlide+xml"/>
  <Override PartName="/ppt/notesSlides/notesSlide990.xml" ContentType="application/vnd.openxmlformats-officedocument.presentationml.notesSlide+xml"/>
  <Override PartName="/ppt/notesSlides/notesSlide991.xml" ContentType="application/vnd.openxmlformats-officedocument.presentationml.notesSlide+xml"/>
  <Override PartName="/ppt/notesSlides/notesSlide992.xml" ContentType="application/vnd.openxmlformats-officedocument.presentationml.notesSlide+xml"/>
  <Override PartName="/ppt/notesSlides/notesSlide993.xml" ContentType="application/vnd.openxmlformats-officedocument.presentationml.notesSlide+xml"/>
  <Override PartName="/ppt/notesSlides/notesSlide994.xml" ContentType="application/vnd.openxmlformats-officedocument.presentationml.notesSlide+xml"/>
  <Override PartName="/ppt/notesSlides/notesSlide995.xml" ContentType="application/vnd.openxmlformats-officedocument.presentationml.notesSlide+xml"/>
  <Override PartName="/ppt/notesSlides/notesSlide996.xml" ContentType="application/vnd.openxmlformats-officedocument.presentationml.notesSlide+xml"/>
  <Override PartName="/ppt/notesSlides/notesSlide997.xml" ContentType="application/vnd.openxmlformats-officedocument.presentationml.notesSlide+xml"/>
  <Override PartName="/ppt/notesSlides/notesSlide998.xml" ContentType="application/vnd.openxmlformats-officedocument.presentationml.notesSlide+xml"/>
  <Override PartName="/ppt/notesSlides/notesSlide9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00.xml" ContentType="application/vnd.openxmlformats-officedocument.presentationml.slide+xml"/>
  <Override PartName="/ppt/slides/slide1001.xml" ContentType="application/vnd.openxmlformats-officedocument.presentationml.slide+xml"/>
  <Override PartName="/ppt/slides/slide1002.xml" ContentType="application/vnd.openxmlformats-officedocument.presentationml.slide+xml"/>
  <Override PartName="/ppt/slides/slide1003.xml" ContentType="application/vnd.openxmlformats-officedocument.presentationml.slide+xml"/>
  <Override PartName="/ppt/slides/slide1004.xml" ContentType="application/vnd.openxmlformats-officedocument.presentationml.slide+xml"/>
  <Override PartName="/ppt/slides/slide1005.xml" ContentType="application/vnd.openxmlformats-officedocument.presentationml.slide+xml"/>
  <Override PartName="/ppt/slides/slide1006.xml" ContentType="application/vnd.openxmlformats-officedocument.presentationml.slide+xml"/>
  <Override PartName="/ppt/slides/slide1007.xml" ContentType="application/vnd.openxmlformats-officedocument.presentationml.slide+xml"/>
  <Override PartName="/ppt/slides/slide1008.xml" ContentType="application/vnd.openxmlformats-officedocument.presentationml.slide+xml"/>
  <Override PartName="/ppt/slides/slide1009.xml" ContentType="application/vnd.openxmlformats-officedocument.presentationml.slide+xml"/>
  <Override PartName="/ppt/slides/slide101.xml" ContentType="application/vnd.openxmlformats-officedocument.presentationml.slide+xml"/>
  <Override PartName="/ppt/slides/slide1010.xml" ContentType="application/vnd.openxmlformats-officedocument.presentationml.slide+xml"/>
  <Override PartName="/ppt/slides/slide1011.xml" ContentType="application/vnd.openxmlformats-officedocument.presentationml.slide+xml"/>
  <Override PartName="/ppt/slides/slide1012.xml" ContentType="application/vnd.openxmlformats-officedocument.presentationml.slide+xml"/>
  <Override PartName="/ppt/slides/slide1013.xml" ContentType="application/vnd.openxmlformats-officedocument.presentationml.slide+xml"/>
  <Override PartName="/ppt/slides/slide1014.xml" ContentType="application/vnd.openxmlformats-officedocument.presentationml.slide+xml"/>
  <Override PartName="/ppt/slides/slide1015.xml" ContentType="application/vnd.openxmlformats-officedocument.presentationml.slide+xml"/>
  <Override PartName="/ppt/slides/slide1016.xml" ContentType="application/vnd.openxmlformats-officedocument.presentationml.slide+xml"/>
  <Override PartName="/ppt/slides/slide1017.xml" ContentType="application/vnd.openxmlformats-officedocument.presentationml.slide+xml"/>
  <Override PartName="/ppt/slides/slide1018.xml" ContentType="application/vnd.openxmlformats-officedocument.presentationml.slide+xml"/>
  <Override PartName="/ppt/slides/slide1019.xml" ContentType="application/vnd.openxmlformats-officedocument.presentationml.slide+xml"/>
  <Override PartName="/ppt/slides/slide102.xml" ContentType="application/vnd.openxmlformats-officedocument.presentationml.slide+xml"/>
  <Override PartName="/ppt/slides/slide1020.xml" ContentType="application/vnd.openxmlformats-officedocument.presentationml.slide+xml"/>
  <Override PartName="/ppt/slides/slide1021.xml" ContentType="application/vnd.openxmlformats-officedocument.presentationml.slide+xml"/>
  <Override PartName="/ppt/slides/slide1022.xml" ContentType="application/vnd.openxmlformats-officedocument.presentationml.slide+xml"/>
  <Override PartName="/ppt/slides/slide1023.xml" ContentType="application/vnd.openxmlformats-officedocument.presentationml.slide+xml"/>
  <Override PartName="/ppt/slides/slide1024.xml" ContentType="application/vnd.openxmlformats-officedocument.presentationml.slide+xml"/>
  <Override PartName="/ppt/slides/slide1025.xml" ContentType="application/vnd.openxmlformats-officedocument.presentationml.slide+xml"/>
  <Override PartName="/ppt/slides/slide1026.xml" ContentType="application/vnd.openxmlformats-officedocument.presentationml.slide+xml"/>
  <Override PartName="/ppt/slides/slide1027.xml" ContentType="application/vnd.openxmlformats-officedocument.presentationml.slide+xml"/>
  <Override PartName="/ppt/slides/slide1028.xml" ContentType="application/vnd.openxmlformats-officedocument.presentationml.slide+xml"/>
  <Override PartName="/ppt/slides/slide1029.xml" ContentType="application/vnd.openxmlformats-officedocument.presentationml.slide+xml"/>
  <Override PartName="/ppt/slides/slide103.xml" ContentType="application/vnd.openxmlformats-officedocument.presentationml.slide+xml"/>
  <Override PartName="/ppt/slides/slide1030.xml" ContentType="application/vnd.openxmlformats-officedocument.presentationml.slide+xml"/>
  <Override PartName="/ppt/slides/slide1031.xml" ContentType="application/vnd.openxmlformats-officedocument.presentationml.slide+xml"/>
  <Override PartName="/ppt/slides/slide1032.xml" ContentType="application/vnd.openxmlformats-officedocument.presentationml.slide+xml"/>
  <Override PartName="/ppt/slides/slide1033.xml" ContentType="application/vnd.openxmlformats-officedocument.presentationml.slide+xml"/>
  <Override PartName="/ppt/slides/slide1034.xml" ContentType="application/vnd.openxmlformats-officedocument.presentationml.slide+xml"/>
  <Override PartName="/ppt/slides/slide1035.xml" ContentType="application/vnd.openxmlformats-officedocument.presentationml.slide+xml"/>
  <Override PartName="/ppt/slides/slide1036.xml" ContentType="application/vnd.openxmlformats-officedocument.presentationml.slide+xml"/>
  <Override PartName="/ppt/slides/slide1037.xml" ContentType="application/vnd.openxmlformats-officedocument.presentationml.slide+xml"/>
  <Override PartName="/ppt/slides/slide1038.xml" ContentType="application/vnd.openxmlformats-officedocument.presentationml.slide+xml"/>
  <Override PartName="/ppt/slides/slide1039.xml" ContentType="application/vnd.openxmlformats-officedocument.presentationml.slide+xml"/>
  <Override PartName="/ppt/slides/slide104.xml" ContentType="application/vnd.openxmlformats-officedocument.presentationml.slide+xml"/>
  <Override PartName="/ppt/slides/slide1040.xml" ContentType="application/vnd.openxmlformats-officedocument.presentationml.slide+xml"/>
  <Override PartName="/ppt/slides/slide1041.xml" ContentType="application/vnd.openxmlformats-officedocument.presentationml.slide+xml"/>
  <Override PartName="/ppt/slides/slide1042.xml" ContentType="application/vnd.openxmlformats-officedocument.presentationml.slide+xml"/>
  <Override PartName="/ppt/slides/slide1043.xml" ContentType="application/vnd.openxmlformats-officedocument.presentationml.slide+xml"/>
  <Override PartName="/ppt/slides/slide1044.xml" ContentType="application/vnd.openxmlformats-officedocument.presentationml.slide+xml"/>
  <Override PartName="/ppt/slides/slide1045.xml" ContentType="application/vnd.openxmlformats-officedocument.presentationml.slide+xml"/>
  <Override PartName="/ppt/slides/slide1046.xml" ContentType="application/vnd.openxmlformats-officedocument.presentationml.slide+xml"/>
  <Override PartName="/ppt/slides/slide1047.xml" ContentType="application/vnd.openxmlformats-officedocument.presentationml.slide+xml"/>
  <Override PartName="/ppt/slides/slide1048.xml" ContentType="application/vnd.openxmlformats-officedocument.presentationml.slide+xml"/>
  <Override PartName="/ppt/slides/slide1049.xml" ContentType="application/vnd.openxmlformats-officedocument.presentationml.slide+xml"/>
  <Override PartName="/ppt/slides/slide105.xml" ContentType="application/vnd.openxmlformats-officedocument.presentationml.slide+xml"/>
  <Override PartName="/ppt/slides/slide1050.xml" ContentType="application/vnd.openxmlformats-officedocument.presentationml.slide+xml"/>
  <Override PartName="/ppt/slides/slide1051.xml" ContentType="application/vnd.openxmlformats-officedocument.presentationml.slide+xml"/>
  <Override PartName="/ppt/slides/slide1052.xml" ContentType="application/vnd.openxmlformats-officedocument.presentationml.slide+xml"/>
  <Override PartName="/ppt/slides/slide1053.xml" ContentType="application/vnd.openxmlformats-officedocument.presentationml.slide+xml"/>
  <Override PartName="/ppt/slides/slide1054.xml" ContentType="application/vnd.openxmlformats-officedocument.presentationml.slide+xml"/>
  <Override PartName="/ppt/slides/slide1055.xml" ContentType="application/vnd.openxmlformats-officedocument.presentationml.slide+xml"/>
  <Override PartName="/ppt/slides/slide1056.xml" ContentType="application/vnd.openxmlformats-officedocument.presentationml.slide+xml"/>
  <Override PartName="/ppt/slides/slide1057.xml" ContentType="application/vnd.openxmlformats-officedocument.presentationml.slide+xml"/>
  <Override PartName="/ppt/slides/slide1058.xml" ContentType="application/vnd.openxmlformats-officedocument.presentationml.slide+xml"/>
  <Override PartName="/ppt/slides/slide1059.xml" ContentType="application/vnd.openxmlformats-officedocument.presentationml.slide+xml"/>
  <Override PartName="/ppt/slides/slide106.xml" ContentType="application/vnd.openxmlformats-officedocument.presentationml.slide+xml"/>
  <Override PartName="/ppt/slides/slide1060.xml" ContentType="application/vnd.openxmlformats-officedocument.presentationml.slide+xml"/>
  <Override PartName="/ppt/slides/slide1061.xml" ContentType="application/vnd.openxmlformats-officedocument.presentationml.slide+xml"/>
  <Override PartName="/ppt/slides/slide1062.xml" ContentType="application/vnd.openxmlformats-officedocument.presentationml.slide+xml"/>
  <Override PartName="/ppt/slides/slide1063.xml" ContentType="application/vnd.openxmlformats-officedocument.presentationml.slide+xml"/>
  <Override PartName="/ppt/slides/slide1064.xml" ContentType="application/vnd.openxmlformats-officedocument.presentationml.slide+xml"/>
  <Override PartName="/ppt/slides/slide1065.xml" ContentType="application/vnd.openxmlformats-officedocument.presentationml.slide+xml"/>
  <Override PartName="/ppt/slides/slide1066.xml" ContentType="application/vnd.openxmlformats-officedocument.presentationml.slide+xml"/>
  <Override PartName="/ppt/slides/slide1067.xml" ContentType="application/vnd.openxmlformats-officedocument.presentationml.slide+xml"/>
  <Override PartName="/ppt/slides/slide1068.xml" ContentType="application/vnd.openxmlformats-officedocument.presentationml.slide+xml"/>
  <Override PartName="/ppt/slides/slide1069.xml" ContentType="application/vnd.openxmlformats-officedocument.presentationml.slide+xml"/>
  <Override PartName="/ppt/slides/slide107.xml" ContentType="application/vnd.openxmlformats-officedocument.presentationml.slide+xml"/>
  <Override PartName="/ppt/slides/slide1070.xml" ContentType="application/vnd.openxmlformats-officedocument.presentationml.slide+xml"/>
  <Override PartName="/ppt/slides/slide1071.xml" ContentType="application/vnd.openxmlformats-officedocument.presentationml.slide+xml"/>
  <Override PartName="/ppt/slides/slide1072.xml" ContentType="application/vnd.openxmlformats-officedocument.presentationml.slide+xml"/>
  <Override PartName="/ppt/slides/slide1073.xml" ContentType="application/vnd.openxmlformats-officedocument.presentationml.slide+xml"/>
  <Override PartName="/ppt/slides/slide1074.xml" ContentType="application/vnd.openxmlformats-officedocument.presentationml.slide+xml"/>
  <Override PartName="/ppt/slides/slide1075.xml" ContentType="application/vnd.openxmlformats-officedocument.presentationml.slide+xml"/>
  <Override PartName="/ppt/slides/slide1076.xml" ContentType="application/vnd.openxmlformats-officedocument.presentationml.slide+xml"/>
  <Override PartName="/ppt/slides/slide1077.xml" ContentType="application/vnd.openxmlformats-officedocument.presentationml.slide+xml"/>
  <Override PartName="/ppt/slides/slide1078.xml" ContentType="application/vnd.openxmlformats-officedocument.presentationml.slide+xml"/>
  <Override PartName="/ppt/slides/slide1079.xml" ContentType="application/vnd.openxmlformats-officedocument.presentationml.slide+xml"/>
  <Override PartName="/ppt/slides/slide108.xml" ContentType="application/vnd.openxmlformats-officedocument.presentationml.slide+xml"/>
  <Override PartName="/ppt/slides/slide1080.xml" ContentType="application/vnd.openxmlformats-officedocument.presentationml.slide+xml"/>
  <Override PartName="/ppt/slides/slide1081.xml" ContentType="application/vnd.openxmlformats-officedocument.presentationml.slide+xml"/>
  <Override PartName="/ppt/slides/slide1082.xml" ContentType="application/vnd.openxmlformats-officedocument.presentationml.slide+xml"/>
  <Override PartName="/ppt/slides/slide1083.xml" ContentType="application/vnd.openxmlformats-officedocument.presentationml.slide+xml"/>
  <Override PartName="/ppt/slides/slide1084.xml" ContentType="application/vnd.openxmlformats-officedocument.presentationml.slide+xml"/>
  <Override PartName="/ppt/slides/slide1085.xml" ContentType="application/vnd.openxmlformats-officedocument.presentationml.slide+xml"/>
  <Override PartName="/ppt/slides/slide1086.xml" ContentType="application/vnd.openxmlformats-officedocument.presentationml.slide+xml"/>
  <Override PartName="/ppt/slides/slide1087.xml" ContentType="application/vnd.openxmlformats-officedocument.presentationml.slide+xml"/>
  <Override PartName="/ppt/slides/slide1088.xml" ContentType="application/vnd.openxmlformats-officedocument.presentationml.slide+xml"/>
  <Override PartName="/ppt/slides/slide1089.xml" ContentType="application/vnd.openxmlformats-officedocument.presentationml.slide+xml"/>
  <Override PartName="/ppt/slides/slide109.xml" ContentType="application/vnd.openxmlformats-officedocument.presentationml.slide+xml"/>
  <Override PartName="/ppt/slides/slide1090.xml" ContentType="application/vnd.openxmlformats-officedocument.presentationml.slide+xml"/>
  <Override PartName="/ppt/slides/slide1091.xml" ContentType="application/vnd.openxmlformats-officedocument.presentationml.slide+xml"/>
  <Override PartName="/ppt/slides/slide1092.xml" ContentType="application/vnd.openxmlformats-officedocument.presentationml.slide+xml"/>
  <Override PartName="/ppt/slides/slide1093.xml" ContentType="application/vnd.openxmlformats-officedocument.presentationml.slide+xml"/>
  <Override PartName="/ppt/slides/slide1094.xml" ContentType="application/vnd.openxmlformats-officedocument.presentationml.slide+xml"/>
  <Override PartName="/ppt/slides/slide1095.xml" ContentType="application/vnd.openxmlformats-officedocument.presentationml.slide+xml"/>
  <Override PartName="/ppt/slides/slide1096.xml" ContentType="application/vnd.openxmlformats-officedocument.presentationml.slide+xml"/>
  <Override PartName="/ppt/slides/slide1097.xml" ContentType="application/vnd.openxmlformats-officedocument.presentationml.slide+xml"/>
  <Override PartName="/ppt/slides/slide1098.xml" ContentType="application/vnd.openxmlformats-officedocument.presentationml.slide+xml"/>
  <Override PartName="/ppt/slides/slide109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00.xml" ContentType="application/vnd.openxmlformats-officedocument.presentationml.slide+xml"/>
  <Override PartName="/ppt/slides/slide1101.xml" ContentType="application/vnd.openxmlformats-officedocument.presentationml.slide+xml"/>
  <Override PartName="/ppt/slides/slide1102.xml" ContentType="application/vnd.openxmlformats-officedocument.presentationml.slide+xml"/>
  <Override PartName="/ppt/slides/slide1103.xml" ContentType="application/vnd.openxmlformats-officedocument.presentationml.slide+xml"/>
  <Override PartName="/ppt/slides/slide1104.xml" ContentType="application/vnd.openxmlformats-officedocument.presentationml.slide+xml"/>
  <Override PartName="/ppt/slides/slide1105.xml" ContentType="application/vnd.openxmlformats-officedocument.presentationml.slide+xml"/>
  <Override PartName="/ppt/slides/slide1106.xml" ContentType="application/vnd.openxmlformats-officedocument.presentationml.slide+xml"/>
  <Override PartName="/ppt/slides/slide1107.xml" ContentType="application/vnd.openxmlformats-officedocument.presentationml.slide+xml"/>
  <Override PartName="/ppt/slides/slide1108.xml" ContentType="application/vnd.openxmlformats-officedocument.presentationml.slide+xml"/>
  <Override PartName="/ppt/slides/slide1109.xml" ContentType="application/vnd.openxmlformats-officedocument.presentationml.slide+xml"/>
  <Override PartName="/ppt/slides/slide111.xml" ContentType="application/vnd.openxmlformats-officedocument.presentationml.slide+xml"/>
  <Override PartName="/ppt/slides/slide1110.xml" ContentType="application/vnd.openxmlformats-officedocument.presentationml.slide+xml"/>
  <Override PartName="/ppt/slides/slide1111.xml" ContentType="application/vnd.openxmlformats-officedocument.presentationml.slide+xml"/>
  <Override PartName="/ppt/slides/slide1112.xml" ContentType="application/vnd.openxmlformats-officedocument.presentationml.slide+xml"/>
  <Override PartName="/ppt/slides/slide1113.xml" ContentType="application/vnd.openxmlformats-officedocument.presentationml.slide+xml"/>
  <Override PartName="/ppt/slides/slide1114.xml" ContentType="application/vnd.openxmlformats-officedocument.presentationml.slide+xml"/>
  <Override PartName="/ppt/slides/slide1115.xml" ContentType="application/vnd.openxmlformats-officedocument.presentationml.slide+xml"/>
  <Override PartName="/ppt/slides/slide1116.xml" ContentType="application/vnd.openxmlformats-officedocument.presentationml.slide+xml"/>
  <Override PartName="/ppt/slides/slide1117.xml" ContentType="application/vnd.openxmlformats-officedocument.presentationml.slide+xml"/>
  <Override PartName="/ppt/slides/slide1118.xml" ContentType="application/vnd.openxmlformats-officedocument.presentationml.slide+xml"/>
  <Override PartName="/ppt/slides/slide1119.xml" ContentType="application/vnd.openxmlformats-officedocument.presentationml.slide+xml"/>
  <Override PartName="/ppt/slides/slide112.xml" ContentType="application/vnd.openxmlformats-officedocument.presentationml.slide+xml"/>
  <Override PartName="/ppt/slides/slide1120.xml" ContentType="application/vnd.openxmlformats-officedocument.presentationml.slide+xml"/>
  <Override PartName="/ppt/slides/slide1121.xml" ContentType="application/vnd.openxmlformats-officedocument.presentationml.slide+xml"/>
  <Override PartName="/ppt/slides/slide1122.xml" ContentType="application/vnd.openxmlformats-officedocument.presentationml.slide+xml"/>
  <Override PartName="/ppt/slides/slide1123.xml" ContentType="application/vnd.openxmlformats-officedocument.presentationml.slide+xml"/>
  <Override PartName="/ppt/slides/slide1124.xml" ContentType="application/vnd.openxmlformats-officedocument.presentationml.slide+xml"/>
  <Override PartName="/ppt/slides/slide1125.xml" ContentType="application/vnd.openxmlformats-officedocument.presentationml.slide+xml"/>
  <Override PartName="/ppt/slides/slide1126.xml" ContentType="application/vnd.openxmlformats-officedocument.presentationml.slide+xml"/>
  <Override PartName="/ppt/slides/slide1127.xml" ContentType="application/vnd.openxmlformats-officedocument.presentationml.slide+xml"/>
  <Override PartName="/ppt/slides/slide1128.xml" ContentType="application/vnd.openxmlformats-officedocument.presentationml.slide+xml"/>
  <Override PartName="/ppt/slides/slide1129.xml" ContentType="application/vnd.openxmlformats-officedocument.presentationml.slide+xml"/>
  <Override PartName="/ppt/slides/slide113.xml" ContentType="application/vnd.openxmlformats-officedocument.presentationml.slide+xml"/>
  <Override PartName="/ppt/slides/slide1130.xml" ContentType="application/vnd.openxmlformats-officedocument.presentationml.slide+xml"/>
  <Override PartName="/ppt/slides/slide1131.xml" ContentType="application/vnd.openxmlformats-officedocument.presentationml.slide+xml"/>
  <Override PartName="/ppt/slides/slide1132.xml" ContentType="application/vnd.openxmlformats-officedocument.presentationml.slide+xml"/>
  <Override PartName="/ppt/slides/slide1133.xml" ContentType="application/vnd.openxmlformats-officedocument.presentationml.slide+xml"/>
  <Override PartName="/ppt/slides/slide1134.xml" ContentType="application/vnd.openxmlformats-officedocument.presentationml.slide+xml"/>
  <Override PartName="/ppt/slides/slide1135.xml" ContentType="application/vnd.openxmlformats-officedocument.presentationml.slide+xml"/>
  <Override PartName="/ppt/slides/slide1136.xml" ContentType="application/vnd.openxmlformats-officedocument.presentationml.slide+xml"/>
  <Override PartName="/ppt/slides/slide1137.xml" ContentType="application/vnd.openxmlformats-officedocument.presentationml.slide+xml"/>
  <Override PartName="/ppt/slides/slide1138.xml" ContentType="application/vnd.openxmlformats-officedocument.presentationml.slide+xml"/>
  <Override PartName="/ppt/slides/slide1139.xml" ContentType="application/vnd.openxmlformats-officedocument.presentationml.slide+xml"/>
  <Override PartName="/ppt/slides/slide114.xml" ContentType="application/vnd.openxmlformats-officedocument.presentationml.slide+xml"/>
  <Override PartName="/ppt/slides/slide1140.xml" ContentType="application/vnd.openxmlformats-officedocument.presentationml.slide+xml"/>
  <Override PartName="/ppt/slides/slide1141.xml" ContentType="application/vnd.openxmlformats-officedocument.presentationml.slide+xml"/>
  <Override PartName="/ppt/slides/slide1142.xml" ContentType="application/vnd.openxmlformats-officedocument.presentationml.slide+xml"/>
  <Override PartName="/ppt/slides/slide1143.xml" ContentType="application/vnd.openxmlformats-officedocument.presentationml.slide+xml"/>
  <Override PartName="/ppt/slides/slide1144.xml" ContentType="application/vnd.openxmlformats-officedocument.presentationml.slide+xml"/>
  <Override PartName="/ppt/slides/slide1145.xml" ContentType="application/vnd.openxmlformats-officedocument.presentationml.slide+xml"/>
  <Override PartName="/ppt/slides/slide1146.xml" ContentType="application/vnd.openxmlformats-officedocument.presentationml.slide+xml"/>
  <Override PartName="/ppt/slides/slide1147.xml" ContentType="application/vnd.openxmlformats-officedocument.presentationml.slide+xml"/>
  <Override PartName="/ppt/slides/slide1148.xml" ContentType="application/vnd.openxmlformats-officedocument.presentationml.slide+xml"/>
  <Override PartName="/ppt/slides/slide1149.xml" ContentType="application/vnd.openxmlformats-officedocument.presentationml.slide+xml"/>
  <Override PartName="/ppt/slides/slide115.xml" ContentType="application/vnd.openxmlformats-officedocument.presentationml.slide+xml"/>
  <Override PartName="/ppt/slides/slide1150.xml" ContentType="application/vnd.openxmlformats-officedocument.presentationml.slide+xml"/>
  <Override PartName="/ppt/slides/slide1151.xml" ContentType="application/vnd.openxmlformats-officedocument.presentationml.slide+xml"/>
  <Override PartName="/ppt/slides/slide1152.xml" ContentType="application/vnd.openxmlformats-officedocument.presentationml.slide+xml"/>
  <Override PartName="/ppt/slides/slide1153.xml" ContentType="application/vnd.openxmlformats-officedocument.presentationml.slide+xml"/>
  <Override PartName="/ppt/slides/slide1154.xml" ContentType="application/vnd.openxmlformats-officedocument.presentationml.slide+xml"/>
  <Override PartName="/ppt/slides/slide1155.xml" ContentType="application/vnd.openxmlformats-officedocument.presentationml.slide+xml"/>
  <Override PartName="/ppt/slides/slide1156.xml" ContentType="application/vnd.openxmlformats-officedocument.presentationml.slide+xml"/>
  <Override PartName="/ppt/slides/slide1157.xml" ContentType="application/vnd.openxmlformats-officedocument.presentationml.slide+xml"/>
  <Override PartName="/ppt/slides/slide1158.xml" ContentType="application/vnd.openxmlformats-officedocument.presentationml.slide+xml"/>
  <Override PartName="/ppt/slides/slide1159.xml" ContentType="application/vnd.openxmlformats-officedocument.presentationml.slide+xml"/>
  <Override PartName="/ppt/slides/slide116.xml" ContentType="application/vnd.openxmlformats-officedocument.presentationml.slide+xml"/>
  <Override PartName="/ppt/slides/slide1160.xml" ContentType="application/vnd.openxmlformats-officedocument.presentationml.slide+xml"/>
  <Override PartName="/ppt/slides/slide1161.xml" ContentType="application/vnd.openxmlformats-officedocument.presentationml.slide+xml"/>
  <Override PartName="/ppt/slides/slide1162.xml" ContentType="application/vnd.openxmlformats-officedocument.presentationml.slide+xml"/>
  <Override PartName="/ppt/slides/slide1163.xml" ContentType="application/vnd.openxmlformats-officedocument.presentationml.slide+xml"/>
  <Override PartName="/ppt/slides/slide1164.xml" ContentType="application/vnd.openxmlformats-officedocument.presentationml.slide+xml"/>
  <Override PartName="/ppt/slides/slide1165.xml" ContentType="application/vnd.openxmlformats-officedocument.presentationml.slide+xml"/>
  <Override PartName="/ppt/slides/slide1166.xml" ContentType="application/vnd.openxmlformats-officedocument.presentationml.slide+xml"/>
  <Override PartName="/ppt/slides/slide1167.xml" ContentType="application/vnd.openxmlformats-officedocument.presentationml.slide+xml"/>
  <Override PartName="/ppt/slides/slide1168.xml" ContentType="application/vnd.openxmlformats-officedocument.presentationml.slide+xml"/>
  <Override PartName="/ppt/slides/slide1169.xml" ContentType="application/vnd.openxmlformats-officedocument.presentationml.slide+xml"/>
  <Override PartName="/ppt/slides/slide117.xml" ContentType="application/vnd.openxmlformats-officedocument.presentationml.slide+xml"/>
  <Override PartName="/ppt/slides/slide1170.xml" ContentType="application/vnd.openxmlformats-officedocument.presentationml.slide+xml"/>
  <Override PartName="/ppt/slides/slide1171.xml" ContentType="application/vnd.openxmlformats-officedocument.presentationml.slide+xml"/>
  <Override PartName="/ppt/slides/slide1172.xml" ContentType="application/vnd.openxmlformats-officedocument.presentationml.slide+xml"/>
  <Override PartName="/ppt/slides/slide1173.xml" ContentType="application/vnd.openxmlformats-officedocument.presentationml.slide+xml"/>
  <Override PartName="/ppt/slides/slide1174.xml" ContentType="application/vnd.openxmlformats-officedocument.presentationml.slide+xml"/>
  <Override PartName="/ppt/slides/slide1175.xml" ContentType="application/vnd.openxmlformats-officedocument.presentationml.slide+xml"/>
  <Override PartName="/ppt/slides/slide1176.xml" ContentType="application/vnd.openxmlformats-officedocument.presentationml.slide+xml"/>
  <Override PartName="/ppt/slides/slide1177.xml" ContentType="application/vnd.openxmlformats-officedocument.presentationml.slide+xml"/>
  <Override PartName="/ppt/slides/slide1178.xml" ContentType="application/vnd.openxmlformats-officedocument.presentationml.slide+xml"/>
  <Override PartName="/ppt/slides/slide1179.xml" ContentType="application/vnd.openxmlformats-officedocument.presentationml.slide+xml"/>
  <Override PartName="/ppt/slides/slide118.xml" ContentType="application/vnd.openxmlformats-officedocument.presentationml.slide+xml"/>
  <Override PartName="/ppt/slides/slide1180.xml" ContentType="application/vnd.openxmlformats-officedocument.presentationml.slide+xml"/>
  <Override PartName="/ppt/slides/slide1181.xml" ContentType="application/vnd.openxmlformats-officedocument.presentationml.slide+xml"/>
  <Override PartName="/ppt/slides/slide1182.xml" ContentType="application/vnd.openxmlformats-officedocument.presentationml.slide+xml"/>
  <Override PartName="/ppt/slides/slide1183.xml" ContentType="application/vnd.openxmlformats-officedocument.presentationml.slide+xml"/>
  <Override PartName="/ppt/slides/slide1184.xml" ContentType="application/vnd.openxmlformats-officedocument.presentationml.slide+xml"/>
  <Override PartName="/ppt/slides/slide1185.xml" ContentType="application/vnd.openxmlformats-officedocument.presentationml.slide+xml"/>
  <Override PartName="/ppt/slides/slide1186.xml" ContentType="application/vnd.openxmlformats-officedocument.presentationml.slide+xml"/>
  <Override PartName="/ppt/slides/slide1187.xml" ContentType="application/vnd.openxmlformats-officedocument.presentationml.slide+xml"/>
  <Override PartName="/ppt/slides/slide1188.xml" ContentType="application/vnd.openxmlformats-officedocument.presentationml.slide+xml"/>
  <Override PartName="/ppt/slides/slide1189.xml" ContentType="application/vnd.openxmlformats-officedocument.presentationml.slide+xml"/>
  <Override PartName="/ppt/slides/slide119.xml" ContentType="application/vnd.openxmlformats-officedocument.presentationml.slide+xml"/>
  <Override PartName="/ppt/slides/slide1190.xml" ContentType="application/vnd.openxmlformats-officedocument.presentationml.slide+xml"/>
  <Override PartName="/ppt/slides/slide1191.xml" ContentType="application/vnd.openxmlformats-officedocument.presentationml.slide+xml"/>
  <Override PartName="/ppt/slides/slide1192.xml" ContentType="application/vnd.openxmlformats-officedocument.presentationml.slide+xml"/>
  <Override PartName="/ppt/slides/slide1193.xml" ContentType="application/vnd.openxmlformats-officedocument.presentationml.slide+xml"/>
  <Override PartName="/ppt/slides/slide1194.xml" ContentType="application/vnd.openxmlformats-officedocument.presentationml.slide+xml"/>
  <Override PartName="/ppt/slides/slide1195.xml" ContentType="application/vnd.openxmlformats-officedocument.presentationml.slide+xml"/>
  <Override PartName="/ppt/slides/slide1196.xml" ContentType="application/vnd.openxmlformats-officedocument.presentationml.slide+xml"/>
  <Override PartName="/ppt/slides/slide1197.xml" ContentType="application/vnd.openxmlformats-officedocument.presentationml.slide+xml"/>
  <Override PartName="/ppt/slides/slide1198.xml" ContentType="application/vnd.openxmlformats-officedocument.presentationml.slide+xml"/>
  <Override PartName="/ppt/slides/slide119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00.xml" ContentType="application/vnd.openxmlformats-officedocument.presentationml.slide+xml"/>
  <Override PartName="/ppt/slides/slide1201.xml" ContentType="application/vnd.openxmlformats-officedocument.presentationml.slide+xml"/>
  <Override PartName="/ppt/slides/slide1202.xml" ContentType="application/vnd.openxmlformats-officedocument.presentationml.slide+xml"/>
  <Override PartName="/ppt/slides/slide1203.xml" ContentType="application/vnd.openxmlformats-officedocument.presentationml.slide+xml"/>
  <Override PartName="/ppt/slides/slide1204.xml" ContentType="application/vnd.openxmlformats-officedocument.presentationml.slide+xml"/>
  <Override PartName="/ppt/slides/slide1205.xml" ContentType="application/vnd.openxmlformats-officedocument.presentationml.slide+xml"/>
  <Override PartName="/ppt/slides/slide1206.xml" ContentType="application/vnd.openxmlformats-officedocument.presentationml.slide+xml"/>
  <Override PartName="/ppt/slides/slide1207.xml" ContentType="application/vnd.openxmlformats-officedocument.presentationml.slide+xml"/>
  <Override PartName="/ppt/slides/slide1208.xml" ContentType="application/vnd.openxmlformats-officedocument.presentationml.slide+xml"/>
  <Override PartName="/ppt/slides/slide1209.xml" ContentType="application/vnd.openxmlformats-officedocument.presentationml.slide+xml"/>
  <Override PartName="/ppt/slides/slide121.xml" ContentType="application/vnd.openxmlformats-officedocument.presentationml.slide+xml"/>
  <Override PartName="/ppt/slides/slide1210.xml" ContentType="application/vnd.openxmlformats-officedocument.presentationml.slide+xml"/>
  <Override PartName="/ppt/slides/slide1211.xml" ContentType="application/vnd.openxmlformats-officedocument.presentationml.slide+xml"/>
  <Override PartName="/ppt/slides/slide1212.xml" ContentType="application/vnd.openxmlformats-officedocument.presentationml.slide+xml"/>
  <Override PartName="/ppt/slides/slide1213.xml" ContentType="application/vnd.openxmlformats-officedocument.presentationml.slide+xml"/>
  <Override PartName="/ppt/slides/slide1214.xml" ContentType="application/vnd.openxmlformats-officedocument.presentationml.slide+xml"/>
  <Override PartName="/ppt/slides/slide1215.xml" ContentType="application/vnd.openxmlformats-officedocument.presentationml.slide+xml"/>
  <Override PartName="/ppt/slides/slide1216.xml" ContentType="application/vnd.openxmlformats-officedocument.presentationml.slide+xml"/>
  <Override PartName="/ppt/slides/slide1217.xml" ContentType="application/vnd.openxmlformats-officedocument.presentationml.slide+xml"/>
  <Override PartName="/ppt/slides/slide1218.xml" ContentType="application/vnd.openxmlformats-officedocument.presentationml.slide+xml"/>
  <Override PartName="/ppt/slides/slide1219.xml" ContentType="application/vnd.openxmlformats-officedocument.presentationml.slide+xml"/>
  <Override PartName="/ppt/slides/slide122.xml" ContentType="application/vnd.openxmlformats-officedocument.presentationml.slide+xml"/>
  <Override PartName="/ppt/slides/slide1220.xml" ContentType="application/vnd.openxmlformats-officedocument.presentationml.slide+xml"/>
  <Override PartName="/ppt/slides/slide1221.xml" ContentType="application/vnd.openxmlformats-officedocument.presentationml.slide+xml"/>
  <Override PartName="/ppt/slides/slide1222.xml" ContentType="application/vnd.openxmlformats-officedocument.presentationml.slide+xml"/>
  <Override PartName="/ppt/slides/slide1223.xml" ContentType="application/vnd.openxmlformats-officedocument.presentationml.slide+xml"/>
  <Override PartName="/ppt/slides/slide1224.xml" ContentType="application/vnd.openxmlformats-officedocument.presentationml.slide+xml"/>
  <Override PartName="/ppt/slides/slide1225.xml" ContentType="application/vnd.openxmlformats-officedocument.presentationml.slide+xml"/>
  <Override PartName="/ppt/slides/slide1226.xml" ContentType="application/vnd.openxmlformats-officedocument.presentationml.slide+xml"/>
  <Override PartName="/ppt/slides/slide1227.xml" ContentType="application/vnd.openxmlformats-officedocument.presentationml.slide+xml"/>
  <Override PartName="/ppt/slides/slide1228.xml" ContentType="application/vnd.openxmlformats-officedocument.presentationml.slide+xml"/>
  <Override PartName="/ppt/slides/slide1229.xml" ContentType="application/vnd.openxmlformats-officedocument.presentationml.slide+xml"/>
  <Override PartName="/ppt/slides/slide123.xml" ContentType="application/vnd.openxmlformats-officedocument.presentationml.slide+xml"/>
  <Override PartName="/ppt/slides/slide1230.xml" ContentType="application/vnd.openxmlformats-officedocument.presentationml.slide+xml"/>
  <Override PartName="/ppt/slides/slide1231.xml" ContentType="application/vnd.openxmlformats-officedocument.presentationml.slide+xml"/>
  <Override PartName="/ppt/slides/slide1232.xml" ContentType="application/vnd.openxmlformats-officedocument.presentationml.slide+xml"/>
  <Override PartName="/ppt/slides/slide1233.xml" ContentType="application/vnd.openxmlformats-officedocument.presentationml.slide+xml"/>
  <Override PartName="/ppt/slides/slide1234.xml" ContentType="application/vnd.openxmlformats-officedocument.presentationml.slide+xml"/>
  <Override PartName="/ppt/slides/slide1235.xml" ContentType="application/vnd.openxmlformats-officedocument.presentationml.slide+xml"/>
  <Override PartName="/ppt/slides/slide1236.xml" ContentType="application/vnd.openxmlformats-officedocument.presentationml.slide+xml"/>
  <Override PartName="/ppt/slides/slide1237.xml" ContentType="application/vnd.openxmlformats-officedocument.presentationml.slide+xml"/>
  <Override PartName="/ppt/slides/slide1238.xml" ContentType="application/vnd.openxmlformats-officedocument.presentationml.slide+xml"/>
  <Override PartName="/ppt/slides/slide1239.xml" ContentType="application/vnd.openxmlformats-officedocument.presentationml.slide+xml"/>
  <Override PartName="/ppt/slides/slide124.xml" ContentType="application/vnd.openxmlformats-officedocument.presentationml.slide+xml"/>
  <Override PartName="/ppt/slides/slide1240.xml" ContentType="application/vnd.openxmlformats-officedocument.presentationml.slide+xml"/>
  <Override PartName="/ppt/slides/slide1241.xml" ContentType="application/vnd.openxmlformats-officedocument.presentationml.slide+xml"/>
  <Override PartName="/ppt/slides/slide1242.xml" ContentType="application/vnd.openxmlformats-officedocument.presentationml.slide+xml"/>
  <Override PartName="/ppt/slides/slide1243.xml" ContentType="application/vnd.openxmlformats-officedocument.presentationml.slide+xml"/>
  <Override PartName="/ppt/slides/slide1244.xml" ContentType="application/vnd.openxmlformats-officedocument.presentationml.slide+xml"/>
  <Override PartName="/ppt/slides/slide1245.xml" ContentType="application/vnd.openxmlformats-officedocument.presentationml.slide+xml"/>
  <Override PartName="/ppt/slides/slide1246.xml" ContentType="application/vnd.openxmlformats-officedocument.presentationml.slide+xml"/>
  <Override PartName="/ppt/slides/slide1247.xml" ContentType="application/vnd.openxmlformats-officedocument.presentationml.slide+xml"/>
  <Override PartName="/ppt/slides/slide1248.xml" ContentType="application/vnd.openxmlformats-officedocument.presentationml.slide+xml"/>
  <Override PartName="/ppt/slides/slide1249.xml" ContentType="application/vnd.openxmlformats-officedocument.presentationml.slide+xml"/>
  <Override PartName="/ppt/slides/slide125.xml" ContentType="application/vnd.openxmlformats-officedocument.presentationml.slide+xml"/>
  <Override PartName="/ppt/slides/slide1250.xml" ContentType="application/vnd.openxmlformats-officedocument.presentationml.slide+xml"/>
  <Override PartName="/ppt/slides/slide1251.xml" ContentType="application/vnd.openxmlformats-officedocument.presentationml.slide+xml"/>
  <Override PartName="/ppt/slides/slide1252.xml" ContentType="application/vnd.openxmlformats-officedocument.presentationml.slide+xml"/>
  <Override PartName="/ppt/slides/slide1253.xml" ContentType="application/vnd.openxmlformats-officedocument.presentationml.slide+xml"/>
  <Override PartName="/ppt/slides/slide1254.xml" ContentType="application/vnd.openxmlformats-officedocument.presentationml.slide+xml"/>
  <Override PartName="/ppt/slides/slide1255.xml" ContentType="application/vnd.openxmlformats-officedocument.presentationml.slide+xml"/>
  <Override PartName="/ppt/slides/slide1256.xml" ContentType="application/vnd.openxmlformats-officedocument.presentationml.slide+xml"/>
  <Override PartName="/ppt/slides/slide1257.xml" ContentType="application/vnd.openxmlformats-officedocument.presentationml.slide+xml"/>
  <Override PartName="/ppt/slides/slide1258.xml" ContentType="application/vnd.openxmlformats-officedocument.presentationml.slide+xml"/>
  <Override PartName="/ppt/slides/slide1259.xml" ContentType="application/vnd.openxmlformats-officedocument.presentationml.slide+xml"/>
  <Override PartName="/ppt/slides/slide126.xml" ContentType="application/vnd.openxmlformats-officedocument.presentationml.slide+xml"/>
  <Override PartName="/ppt/slides/slide1260.xml" ContentType="application/vnd.openxmlformats-officedocument.presentationml.slide+xml"/>
  <Override PartName="/ppt/slides/slide1261.xml" ContentType="application/vnd.openxmlformats-officedocument.presentationml.slide+xml"/>
  <Override PartName="/ppt/slides/slide1262.xml" ContentType="application/vnd.openxmlformats-officedocument.presentationml.slide+xml"/>
  <Override PartName="/ppt/slides/slide1263.xml" ContentType="application/vnd.openxmlformats-officedocument.presentationml.slide+xml"/>
  <Override PartName="/ppt/slides/slide1264.xml" ContentType="application/vnd.openxmlformats-officedocument.presentationml.slide+xml"/>
  <Override PartName="/ppt/slides/slide1265.xml" ContentType="application/vnd.openxmlformats-officedocument.presentationml.slide+xml"/>
  <Override PartName="/ppt/slides/slide1266.xml" ContentType="application/vnd.openxmlformats-officedocument.presentationml.slide+xml"/>
  <Override PartName="/ppt/slides/slide1267.xml" ContentType="application/vnd.openxmlformats-officedocument.presentationml.slide+xml"/>
  <Override PartName="/ppt/slides/slide1268.xml" ContentType="application/vnd.openxmlformats-officedocument.presentationml.slide+xml"/>
  <Override PartName="/ppt/slides/slide1269.xml" ContentType="application/vnd.openxmlformats-officedocument.presentationml.slide+xml"/>
  <Override PartName="/ppt/slides/slide127.xml" ContentType="application/vnd.openxmlformats-officedocument.presentationml.slide+xml"/>
  <Override PartName="/ppt/slides/slide1270.xml" ContentType="application/vnd.openxmlformats-officedocument.presentationml.slide+xml"/>
  <Override PartName="/ppt/slides/slide1271.xml" ContentType="application/vnd.openxmlformats-officedocument.presentationml.slide+xml"/>
  <Override PartName="/ppt/slides/slide1272.xml" ContentType="application/vnd.openxmlformats-officedocument.presentationml.slide+xml"/>
  <Override PartName="/ppt/slides/slide1273.xml" ContentType="application/vnd.openxmlformats-officedocument.presentationml.slide+xml"/>
  <Override PartName="/ppt/slides/slide1274.xml" ContentType="application/vnd.openxmlformats-officedocument.presentationml.slide+xml"/>
  <Override PartName="/ppt/slides/slide1275.xml" ContentType="application/vnd.openxmlformats-officedocument.presentationml.slide+xml"/>
  <Override PartName="/ppt/slides/slide1276.xml" ContentType="application/vnd.openxmlformats-officedocument.presentationml.slide+xml"/>
  <Override PartName="/ppt/slides/slide1277.xml" ContentType="application/vnd.openxmlformats-officedocument.presentationml.slide+xml"/>
  <Override PartName="/ppt/slides/slide1278.xml" ContentType="application/vnd.openxmlformats-officedocument.presentationml.slide+xml"/>
  <Override PartName="/ppt/slides/slide1279.xml" ContentType="application/vnd.openxmlformats-officedocument.presentationml.slide+xml"/>
  <Override PartName="/ppt/slides/slide128.xml" ContentType="application/vnd.openxmlformats-officedocument.presentationml.slide+xml"/>
  <Override PartName="/ppt/slides/slide1280.xml" ContentType="application/vnd.openxmlformats-officedocument.presentationml.slide+xml"/>
  <Override PartName="/ppt/slides/slide1281.xml" ContentType="application/vnd.openxmlformats-officedocument.presentationml.slide+xml"/>
  <Override PartName="/ppt/slides/slide1282.xml" ContentType="application/vnd.openxmlformats-officedocument.presentationml.slide+xml"/>
  <Override PartName="/ppt/slides/slide1283.xml" ContentType="application/vnd.openxmlformats-officedocument.presentationml.slide+xml"/>
  <Override PartName="/ppt/slides/slide1284.xml" ContentType="application/vnd.openxmlformats-officedocument.presentationml.slide+xml"/>
  <Override PartName="/ppt/slides/slide1285.xml" ContentType="application/vnd.openxmlformats-officedocument.presentationml.slide+xml"/>
  <Override PartName="/ppt/slides/slide1286.xml" ContentType="application/vnd.openxmlformats-officedocument.presentationml.slide+xml"/>
  <Override PartName="/ppt/slides/slide1287.xml" ContentType="application/vnd.openxmlformats-officedocument.presentationml.slide+xml"/>
  <Override PartName="/ppt/slides/slide1288.xml" ContentType="application/vnd.openxmlformats-officedocument.presentationml.slide+xml"/>
  <Override PartName="/ppt/slides/slide1289.xml" ContentType="application/vnd.openxmlformats-officedocument.presentationml.slide+xml"/>
  <Override PartName="/ppt/slides/slide129.xml" ContentType="application/vnd.openxmlformats-officedocument.presentationml.slide+xml"/>
  <Override PartName="/ppt/slides/slide1290.xml" ContentType="application/vnd.openxmlformats-officedocument.presentationml.slide+xml"/>
  <Override PartName="/ppt/slides/slide1291.xml" ContentType="application/vnd.openxmlformats-officedocument.presentationml.slide+xml"/>
  <Override PartName="/ppt/slides/slide1292.xml" ContentType="application/vnd.openxmlformats-officedocument.presentationml.slide+xml"/>
  <Override PartName="/ppt/slides/slide1293.xml" ContentType="application/vnd.openxmlformats-officedocument.presentationml.slide+xml"/>
  <Override PartName="/ppt/slides/slide1294.xml" ContentType="application/vnd.openxmlformats-officedocument.presentationml.slide+xml"/>
  <Override PartName="/ppt/slides/slide1295.xml" ContentType="application/vnd.openxmlformats-officedocument.presentationml.slide+xml"/>
  <Override PartName="/ppt/slides/slide1296.xml" ContentType="application/vnd.openxmlformats-officedocument.presentationml.slide+xml"/>
  <Override PartName="/ppt/slides/slide1297.xml" ContentType="application/vnd.openxmlformats-officedocument.presentationml.slide+xml"/>
  <Override PartName="/ppt/slides/slide1298.xml" ContentType="application/vnd.openxmlformats-officedocument.presentationml.slide+xml"/>
  <Override PartName="/ppt/slides/slide129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00.xml" ContentType="application/vnd.openxmlformats-officedocument.presentationml.slide+xml"/>
  <Override PartName="/ppt/slides/slide1301.xml" ContentType="application/vnd.openxmlformats-officedocument.presentationml.slide+xml"/>
  <Override PartName="/ppt/slides/slide1302.xml" ContentType="application/vnd.openxmlformats-officedocument.presentationml.slide+xml"/>
  <Override PartName="/ppt/slides/slide1303.xml" ContentType="application/vnd.openxmlformats-officedocument.presentationml.slide+xml"/>
  <Override PartName="/ppt/slides/slide1304.xml" ContentType="application/vnd.openxmlformats-officedocument.presentationml.slide+xml"/>
  <Override PartName="/ppt/slides/slide1305.xml" ContentType="application/vnd.openxmlformats-officedocument.presentationml.slide+xml"/>
  <Override PartName="/ppt/slides/slide1306.xml" ContentType="application/vnd.openxmlformats-officedocument.presentationml.slide+xml"/>
  <Override PartName="/ppt/slides/slide1307.xml" ContentType="application/vnd.openxmlformats-officedocument.presentationml.slide+xml"/>
  <Override PartName="/ppt/slides/slide1308.xml" ContentType="application/vnd.openxmlformats-officedocument.presentationml.slide+xml"/>
  <Override PartName="/ppt/slides/slide1309.xml" ContentType="application/vnd.openxmlformats-officedocument.presentationml.slide+xml"/>
  <Override PartName="/ppt/slides/slide131.xml" ContentType="application/vnd.openxmlformats-officedocument.presentationml.slide+xml"/>
  <Override PartName="/ppt/slides/slide1310.xml" ContentType="application/vnd.openxmlformats-officedocument.presentationml.slide+xml"/>
  <Override PartName="/ppt/slides/slide1311.xml" ContentType="application/vnd.openxmlformats-officedocument.presentationml.slide+xml"/>
  <Override PartName="/ppt/slides/slide1312.xml" ContentType="application/vnd.openxmlformats-officedocument.presentationml.slide+xml"/>
  <Override PartName="/ppt/slides/slide1313.xml" ContentType="application/vnd.openxmlformats-officedocument.presentationml.slide+xml"/>
  <Override PartName="/ppt/slides/slide1314.xml" ContentType="application/vnd.openxmlformats-officedocument.presentationml.slide+xml"/>
  <Override PartName="/ppt/slides/slide1315.xml" ContentType="application/vnd.openxmlformats-officedocument.presentationml.slide+xml"/>
  <Override PartName="/ppt/slides/slide1316.xml" ContentType="application/vnd.openxmlformats-officedocument.presentationml.slide+xml"/>
  <Override PartName="/ppt/slides/slide1317.xml" ContentType="application/vnd.openxmlformats-officedocument.presentationml.slide+xml"/>
  <Override PartName="/ppt/slides/slide1318.xml" ContentType="application/vnd.openxmlformats-officedocument.presentationml.slide+xml"/>
  <Override PartName="/ppt/slides/slide1319.xml" ContentType="application/vnd.openxmlformats-officedocument.presentationml.slide+xml"/>
  <Override PartName="/ppt/slides/slide132.xml" ContentType="application/vnd.openxmlformats-officedocument.presentationml.slide+xml"/>
  <Override PartName="/ppt/slides/slide1320.xml" ContentType="application/vnd.openxmlformats-officedocument.presentationml.slide+xml"/>
  <Override PartName="/ppt/slides/slide1321.xml" ContentType="application/vnd.openxmlformats-officedocument.presentationml.slide+xml"/>
  <Override PartName="/ppt/slides/slide1322.xml" ContentType="application/vnd.openxmlformats-officedocument.presentationml.slide+xml"/>
  <Override PartName="/ppt/slides/slide1323.xml" ContentType="application/vnd.openxmlformats-officedocument.presentationml.slide+xml"/>
  <Override PartName="/ppt/slides/slide1324.xml" ContentType="application/vnd.openxmlformats-officedocument.presentationml.slide+xml"/>
  <Override PartName="/ppt/slides/slide1325.xml" ContentType="application/vnd.openxmlformats-officedocument.presentationml.slide+xml"/>
  <Override PartName="/ppt/slides/slide1326.xml" ContentType="application/vnd.openxmlformats-officedocument.presentationml.slide+xml"/>
  <Override PartName="/ppt/slides/slide1327.xml" ContentType="application/vnd.openxmlformats-officedocument.presentationml.slide+xml"/>
  <Override PartName="/ppt/slides/slide1328.xml" ContentType="application/vnd.openxmlformats-officedocument.presentationml.slide+xml"/>
  <Override PartName="/ppt/slides/slide1329.xml" ContentType="application/vnd.openxmlformats-officedocument.presentationml.slide+xml"/>
  <Override PartName="/ppt/slides/slide133.xml" ContentType="application/vnd.openxmlformats-officedocument.presentationml.slide+xml"/>
  <Override PartName="/ppt/slides/slide1330.xml" ContentType="application/vnd.openxmlformats-officedocument.presentationml.slide+xml"/>
  <Override PartName="/ppt/slides/slide1331.xml" ContentType="application/vnd.openxmlformats-officedocument.presentationml.slide+xml"/>
  <Override PartName="/ppt/slides/slide1332.xml" ContentType="application/vnd.openxmlformats-officedocument.presentationml.slide+xml"/>
  <Override PartName="/ppt/slides/slide1333.xml" ContentType="application/vnd.openxmlformats-officedocument.presentationml.slide+xml"/>
  <Override PartName="/ppt/slides/slide1334.xml" ContentType="application/vnd.openxmlformats-officedocument.presentationml.slide+xml"/>
  <Override PartName="/ppt/slides/slide1335.xml" ContentType="application/vnd.openxmlformats-officedocument.presentationml.slide+xml"/>
  <Override PartName="/ppt/slides/slide1336.xml" ContentType="application/vnd.openxmlformats-officedocument.presentationml.slide+xml"/>
  <Override PartName="/ppt/slides/slide1337.xml" ContentType="application/vnd.openxmlformats-officedocument.presentationml.slide+xml"/>
  <Override PartName="/ppt/slides/slide1338.xml" ContentType="application/vnd.openxmlformats-officedocument.presentationml.slide+xml"/>
  <Override PartName="/ppt/slides/slide1339.xml" ContentType="application/vnd.openxmlformats-officedocument.presentationml.slide+xml"/>
  <Override PartName="/ppt/slides/slide134.xml" ContentType="application/vnd.openxmlformats-officedocument.presentationml.slide+xml"/>
  <Override PartName="/ppt/slides/slide1340.xml" ContentType="application/vnd.openxmlformats-officedocument.presentationml.slide+xml"/>
  <Override PartName="/ppt/slides/slide1341.xml" ContentType="application/vnd.openxmlformats-officedocument.presentationml.slide+xml"/>
  <Override PartName="/ppt/slides/slide1342.xml" ContentType="application/vnd.openxmlformats-officedocument.presentationml.slide+xml"/>
  <Override PartName="/ppt/slides/slide1343.xml" ContentType="application/vnd.openxmlformats-officedocument.presentationml.slide+xml"/>
  <Override PartName="/ppt/slides/slide1344.xml" ContentType="application/vnd.openxmlformats-officedocument.presentationml.slide+xml"/>
  <Override PartName="/ppt/slides/slide1345.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slides/slide41.xml" ContentType="application/vnd.openxmlformats-officedocument.presentationml.slid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slides/slide413.xml" ContentType="application/vnd.openxmlformats-officedocument.presentationml.slide+xml"/>
  <Override PartName="/ppt/slides/slide414.xml" ContentType="application/vnd.openxmlformats-officedocument.presentationml.slide+xml"/>
  <Override PartName="/ppt/slides/slide415.xml" ContentType="application/vnd.openxmlformats-officedocument.presentationml.slide+xml"/>
  <Override PartName="/ppt/slides/slide416.xml" ContentType="application/vnd.openxmlformats-officedocument.presentationml.slide+xml"/>
  <Override PartName="/ppt/slides/slide417.xml" ContentType="application/vnd.openxmlformats-officedocument.presentationml.slide+xml"/>
  <Override PartName="/ppt/slides/slide418.xml" ContentType="application/vnd.openxmlformats-officedocument.presentationml.slide+xml"/>
  <Override PartName="/ppt/slides/slide419.xml" ContentType="application/vnd.openxmlformats-officedocument.presentationml.slide+xml"/>
  <Override PartName="/ppt/slides/slide42.xml" ContentType="application/vnd.openxmlformats-officedocument.presentationml.slide+xml"/>
  <Override PartName="/ppt/slides/slide420.xml" ContentType="application/vnd.openxmlformats-officedocument.presentationml.slide+xml"/>
  <Override PartName="/ppt/slides/slide421.xml" ContentType="application/vnd.openxmlformats-officedocument.presentationml.slide+xml"/>
  <Override PartName="/ppt/slides/slide422.xml" ContentType="application/vnd.openxmlformats-officedocument.presentationml.slide+xml"/>
  <Override PartName="/ppt/slides/slide423.xml" ContentType="application/vnd.openxmlformats-officedocument.presentationml.slide+xml"/>
  <Override PartName="/ppt/slides/slide424.xml" ContentType="application/vnd.openxmlformats-officedocument.presentationml.slide+xml"/>
  <Override PartName="/ppt/slides/slide425.xml" ContentType="application/vnd.openxmlformats-officedocument.presentationml.slide+xml"/>
  <Override PartName="/ppt/slides/slide426.xml" ContentType="application/vnd.openxmlformats-officedocument.presentationml.slide+xml"/>
  <Override PartName="/ppt/slides/slide427.xml" ContentType="application/vnd.openxmlformats-officedocument.presentationml.slide+xml"/>
  <Override PartName="/ppt/slides/slide428.xml" ContentType="application/vnd.openxmlformats-officedocument.presentationml.slide+xml"/>
  <Override PartName="/ppt/slides/slide429.xml" ContentType="application/vnd.openxmlformats-officedocument.presentationml.slide+xml"/>
  <Override PartName="/ppt/slides/slide43.xml" ContentType="application/vnd.openxmlformats-officedocument.presentationml.slide+xml"/>
  <Override PartName="/ppt/slides/slide430.xml" ContentType="application/vnd.openxmlformats-officedocument.presentationml.slide+xml"/>
  <Override PartName="/ppt/slides/slide431.xml" ContentType="application/vnd.openxmlformats-officedocument.presentationml.slide+xml"/>
  <Override PartName="/ppt/slides/slide432.xml" ContentType="application/vnd.openxmlformats-officedocument.presentationml.slide+xml"/>
  <Override PartName="/ppt/slides/slide433.xml" ContentType="application/vnd.openxmlformats-officedocument.presentationml.slide+xml"/>
  <Override PartName="/ppt/slides/slide434.xml" ContentType="application/vnd.openxmlformats-officedocument.presentationml.slide+xml"/>
  <Override PartName="/ppt/slides/slide435.xml" ContentType="application/vnd.openxmlformats-officedocument.presentationml.slide+xml"/>
  <Override PartName="/ppt/slides/slide436.xml" ContentType="application/vnd.openxmlformats-officedocument.presentationml.slide+xml"/>
  <Override PartName="/ppt/slides/slide437.xml" ContentType="application/vnd.openxmlformats-officedocument.presentationml.slide+xml"/>
  <Override PartName="/ppt/slides/slide438.xml" ContentType="application/vnd.openxmlformats-officedocument.presentationml.slide+xml"/>
  <Override PartName="/ppt/slides/slide439.xml" ContentType="application/vnd.openxmlformats-officedocument.presentationml.slide+xml"/>
  <Override PartName="/ppt/slides/slide44.xml" ContentType="application/vnd.openxmlformats-officedocument.presentationml.slide+xml"/>
  <Override PartName="/ppt/slides/slide440.xml" ContentType="application/vnd.openxmlformats-officedocument.presentationml.slide+xml"/>
  <Override PartName="/ppt/slides/slide441.xml" ContentType="application/vnd.openxmlformats-officedocument.presentationml.slide+xml"/>
  <Override PartName="/ppt/slides/slide442.xml" ContentType="application/vnd.openxmlformats-officedocument.presentationml.slide+xml"/>
  <Override PartName="/ppt/slides/slide443.xml" ContentType="application/vnd.openxmlformats-officedocument.presentationml.slide+xml"/>
  <Override PartName="/ppt/slides/slide444.xml" ContentType="application/vnd.openxmlformats-officedocument.presentationml.slide+xml"/>
  <Override PartName="/ppt/slides/slide445.xml" ContentType="application/vnd.openxmlformats-officedocument.presentationml.slide+xml"/>
  <Override PartName="/ppt/slides/slide446.xml" ContentType="application/vnd.openxmlformats-officedocument.presentationml.slide+xml"/>
  <Override PartName="/ppt/slides/slide447.xml" ContentType="application/vnd.openxmlformats-officedocument.presentationml.slide+xml"/>
  <Override PartName="/ppt/slides/slide448.xml" ContentType="application/vnd.openxmlformats-officedocument.presentationml.slide+xml"/>
  <Override PartName="/ppt/slides/slide449.xml" ContentType="application/vnd.openxmlformats-officedocument.presentationml.slide+xml"/>
  <Override PartName="/ppt/slides/slide45.xml" ContentType="application/vnd.openxmlformats-officedocument.presentationml.slide+xml"/>
  <Override PartName="/ppt/slides/slide450.xml" ContentType="application/vnd.openxmlformats-officedocument.presentationml.slide+xml"/>
  <Override PartName="/ppt/slides/slide451.xml" ContentType="application/vnd.openxmlformats-officedocument.presentationml.slide+xml"/>
  <Override PartName="/ppt/slides/slide452.xml" ContentType="application/vnd.openxmlformats-officedocument.presentationml.slide+xml"/>
  <Override PartName="/ppt/slides/slide453.xml" ContentType="application/vnd.openxmlformats-officedocument.presentationml.slide+xml"/>
  <Override PartName="/ppt/slides/slide454.xml" ContentType="application/vnd.openxmlformats-officedocument.presentationml.slide+xml"/>
  <Override PartName="/ppt/slides/slide455.xml" ContentType="application/vnd.openxmlformats-officedocument.presentationml.slide+xml"/>
  <Override PartName="/ppt/slides/slide456.xml" ContentType="application/vnd.openxmlformats-officedocument.presentationml.slide+xml"/>
  <Override PartName="/ppt/slides/slide457.xml" ContentType="application/vnd.openxmlformats-officedocument.presentationml.slide+xml"/>
  <Override PartName="/ppt/slides/slide458.xml" ContentType="application/vnd.openxmlformats-officedocument.presentationml.slide+xml"/>
  <Override PartName="/ppt/slides/slide459.xml" ContentType="application/vnd.openxmlformats-officedocument.presentationml.slide+xml"/>
  <Override PartName="/ppt/slides/slide46.xml" ContentType="application/vnd.openxmlformats-officedocument.presentationml.slide+xml"/>
  <Override PartName="/ppt/slides/slide460.xml" ContentType="application/vnd.openxmlformats-officedocument.presentationml.slide+xml"/>
  <Override PartName="/ppt/slides/slide461.xml" ContentType="application/vnd.openxmlformats-officedocument.presentationml.slide+xml"/>
  <Override PartName="/ppt/slides/slide462.xml" ContentType="application/vnd.openxmlformats-officedocument.presentationml.slide+xml"/>
  <Override PartName="/ppt/slides/slide463.xml" ContentType="application/vnd.openxmlformats-officedocument.presentationml.slide+xml"/>
  <Override PartName="/ppt/slides/slide464.xml" ContentType="application/vnd.openxmlformats-officedocument.presentationml.slide+xml"/>
  <Override PartName="/ppt/slides/slide465.xml" ContentType="application/vnd.openxmlformats-officedocument.presentationml.slide+xml"/>
  <Override PartName="/ppt/slides/slide466.xml" ContentType="application/vnd.openxmlformats-officedocument.presentationml.slide+xml"/>
  <Override PartName="/ppt/slides/slide467.xml" ContentType="application/vnd.openxmlformats-officedocument.presentationml.slide+xml"/>
  <Override PartName="/ppt/slides/slide468.xml" ContentType="application/vnd.openxmlformats-officedocument.presentationml.slide+xml"/>
  <Override PartName="/ppt/slides/slide469.xml" ContentType="application/vnd.openxmlformats-officedocument.presentationml.slide+xml"/>
  <Override PartName="/ppt/slides/slide47.xml" ContentType="application/vnd.openxmlformats-officedocument.presentationml.slide+xml"/>
  <Override PartName="/ppt/slides/slide470.xml" ContentType="application/vnd.openxmlformats-officedocument.presentationml.slide+xml"/>
  <Override PartName="/ppt/slides/slide471.xml" ContentType="application/vnd.openxmlformats-officedocument.presentationml.slide+xml"/>
  <Override PartName="/ppt/slides/slide472.xml" ContentType="application/vnd.openxmlformats-officedocument.presentationml.slide+xml"/>
  <Override PartName="/ppt/slides/slide473.xml" ContentType="application/vnd.openxmlformats-officedocument.presentationml.slide+xml"/>
  <Override PartName="/ppt/slides/slide474.xml" ContentType="application/vnd.openxmlformats-officedocument.presentationml.slide+xml"/>
  <Override PartName="/ppt/slides/slide475.xml" ContentType="application/vnd.openxmlformats-officedocument.presentationml.slide+xml"/>
  <Override PartName="/ppt/slides/slide476.xml" ContentType="application/vnd.openxmlformats-officedocument.presentationml.slide+xml"/>
  <Override PartName="/ppt/slides/slide477.xml" ContentType="application/vnd.openxmlformats-officedocument.presentationml.slide+xml"/>
  <Override PartName="/ppt/slides/slide478.xml" ContentType="application/vnd.openxmlformats-officedocument.presentationml.slide+xml"/>
  <Override PartName="/ppt/slides/slide479.xml" ContentType="application/vnd.openxmlformats-officedocument.presentationml.slide+xml"/>
  <Override PartName="/ppt/slides/slide48.xml" ContentType="application/vnd.openxmlformats-officedocument.presentationml.slide+xml"/>
  <Override PartName="/ppt/slides/slide480.xml" ContentType="application/vnd.openxmlformats-officedocument.presentationml.slide+xml"/>
  <Override PartName="/ppt/slides/slide481.xml" ContentType="application/vnd.openxmlformats-officedocument.presentationml.slide+xml"/>
  <Override PartName="/ppt/slides/slide482.xml" ContentType="application/vnd.openxmlformats-officedocument.presentationml.slide+xml"/>
  <Override PartName="/ppt/slides/slide483.xml" ContentType="application/vnd.openxmlformats-officedocument.presentationml.slide+xml"/>
  <Override PartName="/ppt/slides/slide484.xml" ContentType="application/vnd.openxmlformats-officedocument.presentationml.slide+xml"/>
  <Override PartName="/ppt/slides/slide485.xml" ContentType="application/vnd.openxmlformats-officedocument.presentationml.slide+xml"/>
  <Override PartName="/ppt/slides/slide486.xml" ContentType="application/vnd.openxmlformats-officedocument.presentationml.slide+xml"/>
  <Override PartName="/ppt/slides/slide487.xml" ContentType="application/vnd.openxmlformats-officedocument.presentationml.slide+xml"/>
  <Override PartName="/ppt/slides/slide488.xml" ContentType="application/vnd.openxmlformats-officedocument.presentationml.slide+xml"/>
  <Override PartName="/ppt/slides/slide489.xml" ContentType="application/vnd.openxmlformats-officedocument.presentationml.slide+xml"/>
  <Override PartName="/ppt/slides/slide49.xml" ContentType="application/vnd.openxmlformats-officedocument.presentationml.slide+xml"/>
  <Override PartName="/ppt/slides/slide490.xml" ContentType="application/vnd.openxmlformats-officedocument.presentationml.slide+xml"/>
  <Override PartName="/ppt/slides/slide491.xml" ContentType="application/vnd.openxmlformats-officedocument.presentationml.slide+xml"/>
  <Override PartName="/ppt/slides/slide492.xml" ContentType="application/vnd.openxmlformats-officedocument.presentationml.slide+xml"/>
  <Override PartName="/ppt/slides/slide493.xml" ContentType="application/vnd.openxmlformats-officedocument.presentationml.slide+xml"/>
  <Override PartName="/ppt/slides/slide494.xml" ContentType="application/vnd.openxmlformats-officedocument.presentationml.slide+xml"/>
  <Override PartName="/ppt/slides/slide495.xml" ContentType="application/vnd.openxmlformats-officedocument.presentationml.slide+xml"/>
  <Override PartName="/ppt/slides/slide496.xml" ContentType="application/vnd.openxmlformats-officedocument.presentationml.slide+xml"/>
  <Override PartName="/ppt/slides/slide497.xml" ContentType="application/vnd.openxmlformats-officedocument.presentationml.slide+xml"/>
  <Override PartName="/ppt/slides/slide498.xml" ContentType="application/vnd.openxmlformats-officedocument.presentationml.slide+xml"/>
  <Override PartName="/ppt/slides/slide49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00.xml" ContentType="application/vnd.openxmlformats-officedocument.presentationml.slide+xml"/>
  <Override PartName="/ppt/slides/slide501.xml" ContentType="application/vnd.openxmlformats-officedocument.presentationml.slide+xml"/>
  <Override PartName="/ppt/slides/slide502.xml" ContentType="application/vnd.openxmlformats-officedocument.presentationml.slide+xml"/>
  <Override PartName="/ppt/slides/slide503.xml" ContentType="application/vnd.openxmlformats-officedocument.presentationml.slide+xml"/>
  <Override PartName="/ppt/slides/slide504.xml" ContentType="application/vnd.openxmlformats-officedocument.presentationml.slide+xml"/>
  <Override PartName="/ppt/slides/slide505.xml" ContentType="application/vnd.openxmlformats-officedocument.presentationml.slide+xml"/>
  <Override PartName="/ppt/slides/slide506.xml" ContentType="application/vnd.openxmlformats-officedocument.presentationml.slide+xml"/>
  <Override PartName="/ppt/slides/slide507.xml" ContentType="application/vnd.openxmlformats-officedocument.presentationml.slide+xml"/>
  <Override PartName="/ppt/slides/slide508.xml" ContentType="application/vnd.openxmlformats-officedocument.presentationml.slide+xml"/>
  <Override PartName="/ppt/slides/slide509.xml" ContentType="application/vnd.openxmlformats-officedocument.presentationml.slide+xml"/>
  <Override PartName="/ppt/slides/slide51.xml" ContentType="application/vnd.openxmlformats-officedocument.presentationml.slide+xml"/>
  <Override PartName="/ppt/slides/slide510.xml" ContentType="application/vnd.openxmlformats-officedocument.presentationml.slide+xml"/>
  <Override PartName="/ppt/slides/slide511.xml" ContentType="application/vnd.openxmlformats-officedocument.presentationml.slide+xml"/>
  <Override PartName="/ppt/slides/slide512.xml" ContentType="application/vnd.openxmlformats-officedocument.presentationml.slide+xml"/>
  <Override PartName="/ppt/slides/slide513.xml" ContentType="application/vnd.openxmlformats-officedocument.presentationml.slide+xml"/>
  <Override PartName="/ppt/slides/slide514.xml" ContentType="application/vnd.openxmlformats-officedocument.presentationml.slide+xml"/>
  <Override PartName="/ppt/slides/slide515.xml" ContentType="application/vnd.openxmlformats-officedocument.presentationml.slide+xml"/>
  <Override PartName="/ppt/slides/slide516.xml" ContentType="application/vnd.openxmlformats-officedocument.presentationml.slide+xml"/>
  <Override PartName="/ppt/slides/slide517.xml" ContentType="application/vnd.openxmlformats-officedocument.presentationml.slide+xml"/>
  <Override PartName="/ppt/slides/slide518.xml" ContentType="application/vnd.openxmlformats-officedocument.presentationml.slide+xml"/>
  <Override PartName="/ppt/slides/slide519.xml" ContentType="application/vnd.openxmlformats-officedocument.presentationml.slide+xml"/>
  <Override PartName="/ppt/slides/slide52.xml" ContentType="application/vnd.openxmlformats-officedocument.presentationml.slide+xml"/>
  <Override PartName="/ppt/slides/slide520.xml" ContentType="application/vnd.openxmlformats-officedocument.presentationml.slide+xml"/>
  <Override PartName="/ppt/slides/slide521.xml" ContentType="application/vnd.openxmlformats-officedocument.presentationml.slide+xml"/>
  <Override PartName="/ppt/slides/slide522.xml" ContentType="application/vnd.openxmlformats-officedocument.presentationml.slide+xml"/>
  <Override PartName="/ppt/slides/slide523.xml" ContentType="application/vnd.openxmlformats-officedocument.presentationml.slide+xml"/>
  <Override PartName="/ppt/slides/slide524.xml" ContentType="application/vnd.openxmlformats-officedocument.presentationml.slide+xml"/>
  <Override PartName="/ppt/slides/slide525.xml" ContentType="application/vnd.openxmlformats-officedocument.presentationml.slide+xml"/>
  <Override PartName="/ppt/slides/slide526.xml" ContentType="application/vnd.openxmlformats-officedocument.presentationml.slide+xml"/>
  <Override PartName="/ppt/slides/slide527.xml" ContentType="application/vnd.openxmlformats-officedocument.presentationml.slide+xml"/>
  <Override PartName="/ppt/slides/slide528.xml" ContentType="application/vnd.openxmlformats-officedocument.presentationml.slide+xml"/>
  <Override PartName="/ppt/slides/slide529.xml" ContentType="application/vnd.openxmlformats-officedocument.presentationml.slide+xml"/>
  <Override PartName="/ppt/slides/slide53.xml" ContentType="application/vnd.openxmlformats-officedocument.presentationml.slide+xml"/>
  <Override PartName="/ppt/slides/slide530.xml" ContentType="application/vnd.openxmlformats-officedocument.presentationml.slide+xml"/>
  <Override PartName="/ppt/slides/slide531.xml" ContentType="application/vnd.openxmlformats-officedocument.presentationml.slide+xml"/>
  <Override PartName="/ppt/slides/slide532.xml" ContentType="application/vnd.openxmlformats-officedocument.presentationml.slide+xml"/>
  <Override PartName="/ppt/slides/slide533.xml" ContentType="application/vnd.openxmlformats-officedocument.presentationml.slide+xml"/>
  <Override PartName="/ppt/slides/slide534.xml" ContentType="application/vnd.openxmlformats-officedocument.presentationml.slide+xml"/>
  <Override PartName="/ppt/slides/slide535.xml" ContentType="application/vnd.openxmlformats-officedocument.presentationml.slide+xml"/>
  <Override PartName="/ppt/slides/slide536.xml" ContentType="application/vnd.openxmlformats-officedocument.presentationml.slide+xml"/>
  <Override PartName="/ppt/slides/slide537.xml" ContentType="application/vnd.openxmlformats-officedocument.presentationml.slide+xml"/>
  <Override PartName="/ppt/slides/slide538.xml" ContentType="application/vnd.openxmlformats-officedocument.presentationml.slide+xml"/>
  <Override PartName="/ppt/slides/slide539.xml" ContentType="application/vnd.openxmlformats-officedocument.presentationml.slide+xml"/>
  <Override PartName="/ppt/slides/slide54.xml" ContentType="application/vnd.openxmlformats-officedocument.presentationml.slide+xml"/>
  <Override PartName="/ppt/slides/slide540.xml" ContentType="application/vnd.openxmlformats-officedocument.presentationml.slide+xml"/>
  <Override PartName="/ppt/slides/slide541.xml" ContentType="application/vnd.openxmlformats-officedocument.presentationml.slide+xml"/>
  <Override PartName="/ppt/slides/slide542.xml" ContentType="application/vnd.openxmlformats-officedocument.presentationml.slide+xml"/>
  <Override PartName="/ppt/slides/slide543.xml" ContentType="application/vnd.openxmlformats-officedocument.presentationml.slide+xml"/>
  <Override PartName="/ppt/slides/slide544.xml" ContentType="application/vnd.openxmlformats-officedocument.presentationml.slide+xml"/>
  <Override PartName="/ppt/slides/slide545.xml" ContentType="application/vnd.openxmlformats-officedocument.presentationml.slide+xml"/>
  <Override PartName="/ppt/slides/slide546.xml" ContentType="application/vnd.openxmlformats-officedocument.presentationml.slide+xml"/>
  <Override PartName="/ppt/slides/slide547.xml" ContentType="application/vnd.openxmlformats-officedocument.presentationml.slide+xml"/>
  <Override PartName="/ppt/slides/slide548.xml" ContentType="application/vnd.openxmlformats-officedocument.presentationml.slide+xml"/>
  <Override PartName="/ppt/slides/slide549.xml" ContentType="application/vnd.openxmlformats-officedocument.presentationml.slide+xml"/>
  <Override PartName="/ppt/slides/slide55.xml" ContentType="application/vnd.openxmlformats-officedocument.presentationml.slide+xml"/>
  <Override PartName="/ppt/slides/slide550.xml" ContentType="application/vnd.openxmlformats-officedocument.presentationml.slide+xml"/>
  <Override PartName="/ppt/slides/slide551.xml" ContentType="application/vnd.openxmlformats-officedocument.presentationml.slide+xml"/>
  <Override PartName="/ppt/slides/slide552.xml" ContentType="application/vnd.openxmlformats-officedocument.presentationml.slide+xml"/>
  <Override PartName="/ppt/slides/slide553.xml" ContentType="application/vnd.openxmlformats-officedocument.presentationml.slide+xml"/>
  <Override PartName="/ppt/slides/slide554.xml" ContentType="application/vnd.openxmlformats-officedocument.presentationml.slide+xml"/>
  <Override PartName="/ppt/slides/slide555.xml" ContentType="application/vnd.openxmlformats-officedocument.presentationml.slide+xml"/>
  <Override PartName="/ppt/slides/slide556.xml" ContentType="application/vnd.openxmlformats-officedocument.presentationml.slide+xml"/>
  <Override PartName="/ppt/slides/slide557.xml" ContentType="application/vnd.openxmlformats-officedocument.presentationml.slide+xml"/>
  <Override PartName="/ppt/slides/slide558.xml" ContentType="application/vnd.openxmlformats-officedocument.presentationml.slide+xml"/>
  <Override PartName="/ppt/slides/slide559.xml" ContentType="application/vnd.openxmlformats-officedocument.presentationml.slide+xml"/>
  <Override PartName="/ppt/slides/slide56.xml" ContentType="application/vnd.openxmlformats-officedocument.presentationml.slide+xml"/>
  <Override PartName="/ppt/slides/slide560.xml" ContentType="application/vnd.openxmlformats-officedocument.presentationml.slide+xml"/>
  <Override PartName="/ppt/slides/slide561.xml" ContentType="application/vnd.openxmlformats-officedocument.presentationml.slide+xml"/>
  <Override PartName="/ppt/slides/slide562.xml" ContentType="application/vnd.openxmlformats-officedocument.presentationml.slide+xml"/>
  <Override PartName="/ppt/slides/slide563.xml" ContentType="application/vnd.openxmlformats-officedocument.presentationml.slide+xml"/>
  <Override PartName="/ppt/slides/slide564.xml" ContentType="application/vnd.openxmlformats-officedocument.presentationml.slide+xml"/>
  <Override PartName="/ppt/slides/slide565.xml" ContentType="application/vnd.openxmlformats-officedocument.presentationml.slide+xml"/>
  <Override PartName="/ppt/slides/slide566.xml" ContentType="application/vnd.openxmlformats-officedocument.presentationml.slide+xml"/>
  <Override PartName="/ppt/slides/slide567.xml" ContentType="application/vnd.openxmlformats-officedocument.presentationml.slide+xml"/>
  <Override PartName="/ppt/slides/slide568.xml" ContentType="application/vnd.openxmlformats-officedocument.presentationml.slide+xml"/>
  <Override PartName="/ppt/slides/slide569.xml" ContentType="application/vnd.openxmlformats-officedocument.presentationml.slide+xml"/>
  <Override PartName="/ppt/slides/slide57.xml" ContentType="application/vnd.openxmlformats-officedocument.presentationml.slide+xml"/>
  <Override PartName="/ppt/slides/slide570.xml" ContentType="application/vnd.openxmlformats-officedocument.presentationml.slide+xml"/>
  <Override PartName="/ppt/slides/slide571.xml" ContentType="application/vnd.openxmlformats-officedocument.presentationml.slide+xml"/>
  <Override PartName="/ppt/slides/slide572.xml" ContentType="application/vnd.openxmlformats-officedocument.presentationml.slide+xml"/>
  <Override PartName="/ppt/slides/slide573.xml" ContentType="application/vnd.openxmlformats-officedocument.presentationml.slide+xml"/>
  <Override PartName="/ppt/slides/slide574.xml" ContentType="application/vnd.openxmlformats-officedocument.presentationml.slide+xml"/>
  <Override PartName="/ppt/slides/slide575.xml" ContentType="application/vnd.openxmlformats-officedocument.presentationml.slide+xml"/>
  <Override PartName="/ppt/slides/slide576.xml" ContentType="application/vnd.openxmlformats-officedocument.presentationml.slide+xml"/>
  <Override PartName="/ppt/slides/slide577.xml" ContentType="application/vnd.openxmlformats-officedocument.presentationml.slide+xml"/>
  <Override PartName="/ppt/slides/slide578.xml" ContentType="application/vnd.openxmlformats-officedocument.presentationml.slide+xml"/>
  <Override PartName="/ppt/slides/slide579.xml" ContentType="application/vnd.openxmlformats-officedocument.presentationml.slide+xml"/>
  <Override PartName="/ppt/slides/slide58.xml" ContentType="application/vnd.openxmlformats-officedocument.presentationml.slide+xml"/>
  <Override PartName="/ppt/slides/slide580.xml" ContentType="application/vnd.openxmlformats-officedocument.presentationml.slide+xml"/>
  <Override PartName="/ppt/slides/slide581.xml" ContentType="application/vnd.openxmlformats-officedocument.presentationml.slide+xml"/>
  <Override PartName="/ppt/slides/slide582.xml" ContentType="application/vnd.openxmlformats-officedocument.presentationml.slide+xml"/>
  <Override PartName="/ppt/slides/slide583.xml" ContentType="application/vnd.openxmlformats-officedocument.presentationml.slide+xml"/>
  <Override PartName="/ppt/slides/slide584.xml" ContentType="application/vnd.openxmlformats-officedocument.presentationml.slide+xml"/>
  <Override PartName="/ppt/slides/slide585.xml" ContentType="application/vnd.openxmlformats-officedocument.presentationml.slide+xml"/>
  <Override PartName="/ppt/slides/slide586.xml" ContentType="application/vnd.openxmlformats-officedocument.presentationml.slide+xml"/>
  <Override PartName="/ppt/slides/slide587.xml" ContentType="application/vnd.openxmlformats-officedocument.presentationml.slide+xml"/>
  <Override PartName="/ppt/slides/slide588.xml" ContentType="application/vnd.openxmlformats-officedocument.presentationml.slide+xml"/>
  <Override PartName="/ppt/slides/slide589.xml" ContentType="application/vnd.openxmlformats-officedocument.presentationml.slide+xml"/>
  <Override PartName="/ppt/slides/slide59.xml" ContentType="application/vnd.openxmlformats-officedocument.presentationml.slide+xml"/>
  <Override PartName="/ppt/slides/slide590.xml" ContentType="application/vnd.openxmlformats-officedocument.presentationml.slide+xml"/>
  <Override PartName="/ppt/slides/slide591.xml" ContentType="application/vnd.openxmlformats-officedocument.presentationml.slide+xml"/>
  <Override PartName="/ppt/slides/slide592.xml" ContentType="application/vnd.openxmlformats-officedocument.presentationml.slide+xml"/>
  <Override PartName="/ppt/slides/slide593.xml" ContentType="application/vnd.openxmlformats-officedocument.presentationml.slide+xml"/>
  <Override PartName="/ppt/slides/slide594.xml" ContentType="application/vnd.openxmlformats-officedocument.presentationml.slide+xml"/>
  <Override PartName="/ppt/slides/slide595.xml" ContentType="application/vnd.openxmlformats-officedocument.presentationml.slide+xml"/>
  <Override PartName="/ppt/slides/slide596.xml" ContentType="application/vnd.openxmlformats-officedocument.presentationml.slide+xml"/>
  <Override PartName="/ppt/slides/slide597.xml" ContentType="application/vnd.openxmlformats-officedocument.presentationml.slide+xml"/>
  <Override PartName="/ppt/slides/slide598.xml" ContentType="application/vnd.openxmlformats-officedocument.presentationml.slide+xml"/>
  <Override PartName="/ppt/slides/slide59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00.xml" ContentType="application/vnd.openxmlformats-officedocument.presentationml.slide+xml"/>
  <Override PartName="/ppt/slides/slide601.xml" ContentType="application/vnd.openxmlformats-officedocument.presentationml.slide+xml"/>
  <Override PartName="/ppt/slides/slide602.xml" ContentType="application/vnd.openxmlformats-officedocument.presentationml.slide+xml"/>
  <Override PartName="/ppt/slides/slide603.xml" ContentType="application/vnd.openxmlformats-officedocument.presentationml.slide+xml"/>
  <Override PartName="/ppt/slides/slide604.xml" ContentType="application/vnd.openxmlformats-officedocument.presentationml.slide+xml"/>
  <Override PartName="/ppt/slides/slide605.xml" ContentType="application/vnd.openxmlformats-officedocument.presentationml.slide+xml"/>
  <Override PartName="/ppt/slides/slide606.xml" ContentType="application/vnd.openxmlformats-officedocument.presentationml.slide+xml"/>
  <Override PartName="/ppt/slides/slide607.xml" ContentType="application/vnd.openxmlformats-officedocument.presentationml.slide+xml"/>
  <Override PartName="/ppt/slides/slide608.xml" ContentType="application/vnd.openxmlformats-officedocument.presentationml.slide+xml"/>
  <Override PartName="/ppt/slides/slide609.xml" ContentType="application/vnd.openxmlformats-officedocument.presentationml.slide+xml"/>
  <Override PartName="/ppt/slides/slide61.xml" ContentType="application/vnd.openxmlformats-officedocument.presentationml.slide+xml"/>
  <Override PartName="/ppt/slides/slide610.xml" ContentType="application/vnd.openxmlformats-officedocument.presentationml.slide+xml"/>
  <Override PartName="/ppt/slides/slide611.xml" ContentType="application/vnd.openxmlformats-officedocument.presentationml.slide+xml"/>
  <Override PartName="/ppt/slides/slide612.xml" ContentType="application/vnd.openxmlformats-officedocument.presentationml.slide+xml"/>
  <Override PartName="/ppt/slides/slide613.xml" ContentType="application/vnd.openxmlformats-officedocument.presentationml.slide+xml"/>
  <Override PartName="/ppt/slides/slide614.xml" ContentType="application/vnd.openxmlformats-officedocument.presentationml.slide+xml"/>
  <Override PartName="/ppt/slides/slide615.xml" ContentType="application/vnd.openxmlformats-officedocument.presentationml.slide+xml"/>
  <Override PartName="/ppt/slides/slide616.xml" ContentType="application/vnd.openxmlformats-officedocument.presentationml.slide+xml"/>
  <Override PartName="/ppt/slides/slide617.xml" ContentType="application/vnd.openxmlformats-officedocument.presentationml.slide+xml"/>
  <Override PartName="/ppt/slides/slide618.xml" ContentType="application/vnd.openxmlformats-officedocument.presentationml.slide+xml"/>
  <Override PartName="/ppt/slides/slide619.xml" ContentType="application/vnd.openxmlformats-officedocument.presentationml.slide+xml"/>
  <Override PartName="/ppt/slides/slide62.xml" ContentType="application/vnd.openxmlformats-officedocument.presentationml.slide+xml"/>
  <Override PartName="/ppt/slides/slide620.xml" ContentType="application/vnd.openxmlformats-officedocument.presentationml.slide+xml"/>
  <Override PartName="/ppt/slides/slide621.xml" ContentType="application/vnd.openxmlformats-officedocument.presentationml.slide+xml"/>
  <Override PartName="/ppt/slides/slide622.xml" ContentType="application/vnd.openxmlformats-officedocument.presentationml.slide+xml"/>
  <Override PartName="/ppt/slides/slide623.xml" ContentType="application/vnd.openxmlformats-officedocument.presentationml.slide+xml"/>
  <Override PartName="/ppt/slides/slide624.xml" ContentType="application/vnd.openxmlformats-officedocument.presentationml.slide+xml"/>
  <Override PartName="/ppt/slides/slide625.xml" ContentType="application/vnd.openxmlformats-officedocument.presentationml.slide+xml"/>
  <Override PartName="/ppt/slides/slide626.xml" ContentType="application/vnd.openxmlformats-officedocument.presentationml.slide+xml"/>
  <Override PartName="/ppt/slides/slide627.xml" ContentType="application/vnd.openxmlformats-officedocument.presentationml.slide+xml"/>
  <Override PartName="/ppt/slides/slide628.xml" ContentType="application/vnd.openxmlformats-officedocument.presentationml.slide+xml"/>
  <Override PartName="/ppt/slides/slide629.xml" ContentType="application/vnd.openxmlformats-officedocument.presentationml.slide+xml"/>
  <Override PartName="/ppt/slides/slide63.xml" ContentType="application/vnd.openxmlformats-officedocument.presentationml.slide+xml"/>
  <Override PartName="/ppt/slides/slide630.xml" ContentType="application/vnd.openxmlformats-officedocument.presentationml.slide+xml"/>
  <Override PartName="/ppt/slides/slide631.xml" ContentType="application/vnd.openxmlformats-officedocument.presentationml.slide+xml"/>
  <Override PartName="/ppt/slides/slide632.xml" ContentType="application/vnd.openxmlformats-officedocument.presentationml.slide+xml"/>
  <Override PartName="/ppt/slides/slide633.xml" ContentType="application/vnd.openxmlformats-officedocument.presentationml.slide+xml"/>
  <Override PartName="/ppt/slides/slide634.xml" ContentType="application/vnd.openxmlformats-officedocument.presentationml.slide+xml"/>
  <Override PartName="/ppt/slides/slide635.xml" ContentType="application/vnd.openxmlformats-officedocument.presentationml.slide+xml"/>
  <Override PartName="/ppt/slides/slide636.xml" ContentType="application/vnd.openxmlformats-officedocument.presentationml.slide+xml"/>
  <Override PartName="/ppt/slides/slide637.xml" ContentType="application/vnd.openxmlformats-officedocument.presentationml.slide+xml"/>
  <Override PartName="/ppt/slides/slide638.xml" ContentType="application/vnd.openxmlformats-officedocument.presentationml.slide+xml"/>
  <Override PartName="/ppt/slides/slide639.xml" ContentType="application/vnd.openxmlformats-officedocument.presentationml.slide+xml"/>
  <Override PartName="/ppt/slides/slide64.xml" ContentType="application/vnd.openxmlformats-officedocument.presentationml.slide+xml"/>
  <Override PartName="/ppt/slides/slide640.xml" ContentType="application/vnd.openxmlformats-officedocument.presentationml.slide+xml"/>
  <Override PartName="/ppt/slides/slide641.xml" ContentType="application/vnd.openxmlformats-officedocument.presentationml.slide+xml"/>
  <Override PartName="/ppt/slides/slide642.xml" ContentType="application/vnd.openxmlformats-officedocument.presentationml.slide+xml"/>
  <Override PartName="/ppt/slides/slide643.xml" ContentType="application/vnd.openxmlformats-officedocument.presentationml.slide+xml"/>
  <Override PartName="/ppt/slides/slide644.xml" ContentType="application/vnd.openxmlformats-officedocument.presentationml.slide+xml"/>
  <Override PartName="/ppt/slides/slide645.xml" ContentType="application/vnd.openxmlformats-officedocument.presentationml.slide+xml"/>
  <Override PartName="/ppt/slides/slide646.xml" ContentType="application/vnd.openxmlformats-officedocument.presentationml.slide+xml"/>
  <Override PartName="/ppt/slides/slide647.xml" ContentType="application/vnd.openxmlformats-officedocument.presentationml.slide+xml"/>
  <Override PartName="/ppt/slides/slide648.xml" ContentType="application/vnd.openxmlformats-officedocument.presentationml.slide+xml"/>
  <Override PartName="/ppt/slides/slide649.xml" ContentType="application/vnd.openxmlformats-officedocument.presentationml.slide+xml"/>
  <Override PartName="/ppt/slides/slide65.xml" ContentType="application/vnd.openxmlformats-officedocument.presentationml.slide+xml"/>
  <Override PartName="/ppt/slides/slide650.xml" ContentType="application/vnd.openxmlformats-officedocument.presentationml.slide+xml"/>
  <Override PartName="/ppt/slides/slide651.xml" ContentType="application/vnd.openxmlformats-officedocument.presentationml.slide+xml"/>
  <Override PartName="/ppt/slides/slide652.xml" ContentType="application/vnd.openxmlformats-officedocument.presentationml.slide+xml"/>
  <Override PartName="/ppt/slides/slide653.xml" ContentType="application/vnd.openxmlformats-officedocument.presentationml.slide+xml"/>
  <Override PartName="/ppt/slides/slide654.xml" ContentType="application/vnd.openxmlformats-officedocument.presentationml.slide+xml"/>
  <Override PartName="/ppt/slides/slide655.xml" ContentType="application/vnd.openxmlformats-officedocument.presentationml.slide+xml"/>
  <Override PartName="/ppt/slides/slide656.xml" ContentType="application/vnd.openxmlformats-officedocument.presentationml.slide+xml"/>
  <Override PartName="/ppt/slides/slide657.xml" ContentType="application/vnd.openxmlformats-officedocument.presentationml.slide+xml"/>
  <Override PartName="/ppt/slides/slide658.xml" ContentType="application/vnd.openxmlformats-officedocument.presentationml.slide+xml"/>
  <Override PartName="/ppt/slides/slide659.xml" ContentType="application/vnd.openxmlformats-officedocument.presentationml.slide+xml"/>
  <Override PartName="/ppt/slides/slide66.xml" ContentType="application/vnd.openxmlformats-officedocument.presentationml.slide+xml"/>
  <Override PartName="/ppt/slides/slide660.xml" ContentType="application/vnd.openxmlformats-officedocument.presentationml.slide+xml"/>
  <Override PartName="/ppt/slides/slide661.xml" ContentType="application/vnd.openxmlformats-officedocument.presentationml.slide+xml"/>
  <Override PartName="/ppt/slides/slide662.xml" ContentType="application/vnd.openxmlformats-officedocument.presentationml.slide+xml"/>
  <Override PartName="/ppt/slides/slide663.xml" ContentType="application/vnd.openxmlformats-officedocument.presentationml.slide+xml"/>
  <Override PartName="/ppt/slides/slide664.xml" ContentType="application/vnd.openxmlformats-officedocument.presentationml.slide+xml"/>
  <Override PartName="/ppt/slides/slide665.xml" ContentType="application/vnd.openxmlformats-officedocument.presentationml.slide+xml"/>
  <Override PartName="/ppt/slides/slide666.xml" ContentType="application/vnd.openxmlformats-officedocument.presentationml.slide+xml"/>
  <Override PartName="/ppt/slides/slide667.xml" ContentType="application/vnd.openxmlformats-officedocument.presentationml.slide+xml"/>
  <Override PartName="/ppt/slides/slide668.xml" ContentType="application/vnd.openxmlformats-officedocument.presentationml.slide+xml"/>
  <Override PartName="/ppt/slides/slide669.xml" ContentType="application/vnd.openxmlformats-officedocument.presentationml.slide+xml"/>
  <Override PartName="/ppt/slides/slide67.xml" ContentType="application/vnd.openxmlformats-officedocument.presentationml.slide+xml"/>
  <Override PartName="/ppt/slides/slide670.xml" ContentType="application/vnd.openxmlformats-officedocument.presentationml.slide+xml"/>
  <Override PartName="/ppt/slides/slide671.xml" ContentType="application/vnd.openxmlformats-officedocument.presentationml.slide+xml"/>
  <Override PartName="/ppt/slides/slide672.xml" ContentType="application/vnd.openxmlformats-officedocument.presentationml.slide+xml"/>
  <Override PartName="/ppt/slides/slide673.xml" ContentType="application/vnd.openxmlformats-officedocument.presentationml.slide+xml"/>
  <Override PartName="/ppt/slides/slide674.xml" ContentType="application/vnd.openxmlformats-officedocument.presentationml.slide+xml"/>
  <Override PartName="/ppt/slides/slide675.xml" ContentType="application/vnd.openxmlformats-officedocument.presentationml.slide+xml"/>
  <Override PartName="/ppt/slides/slide676.xml" ContentType="application/vnd.openxmlformats-officedocument.presentationml.slide+xml"/>
  <Override PartName="/ppt/slides/slide677.xml" ContentType="application/vnd.openxmlformats-officedocument.presentationml.slide+xml"/>
  <Override PartName="/ppt/slides/slide678.xml" ContentType="application/vnd.openxmlformats-officedocument.presentationml.slide+xml"/>
  <Override PartName="/ppt/slides/slide679.xml" ContentType="application/vnd.openxmlformats-officedocument.presentationml.slide+xml"/>
  <Override PartName="/ppt/slides/slide68.xml" ContentType="application/vnd.openxmlformats-officedocument.presentationml.slide+xml"/>
  <Override PartName="/ppt/slides/slide680.xml" ContentType="application/vnd.openxmlformats-officedocument.presentationml.slide+xml"/>
  <Override PartName="/ppt/slides/slide681.xml" ContentType="application/vnd.openxmlformats-officedocument.presentationml.slide+xml"/>
  <Override PartName="/ppt/slides/slide682.xml" ContentType="application/vnd.openxmlformats-officedocument.presentationml.slide+xml"/>
  <Override PartName="/ppt/slides/slide683.xml" ContentType="application/vnd.openxmlformats-officedocument.presentationml.slide+xml"/>
  <Override PartName="/ppt/slides/slide684.xml" ContentType="application/vnd.openxmlformats-officedocument.presentationml.slide+xml"/>
  <Override PartName="/ppt/slides/slide685.xml" ContentType="application/vnd.openxmlformats-officedocument.presentationml.slide+xml"/>
  <Override PartName="/ppt/slides/slide686.xml" ContentType="application/vnd.openxmlformats-officedocument.presentationml.slide+xml"/>
  <Override PartName="/ppt/slides/slide687.xml" ContentType="application/vnd.openxmlformats-officedocument.presentationml.slide+xml"/>
  <Override PartName="/ppt/slides/slide688.xml" ContentType="application/vnd.openxmlformats-officedocument.presentationml.slide+xml"/>
  <Override PartName="/ppt/slides/slide689.xml" ContentType="application/vnd.openxmlformats-officedocument.presentationml.slide+xml"/>
  <Override PartName="/ppt/slides/slide69.xml" ContentType="application/vnd.openxmlformats-officedocument.presentationml.slide+xml"/>
  <Override PartName="/ppt/slides/slide690.xml" ContentType="application/vnd.openxmlformats-officedocument.presentationml.slide+xml"/>
  <Override PartName="/ppt/slides/slide691.xml" ContentType="application/vnd.openxmlformats-officedocument.presentationml.slide+xml"/>
  <Override PartName="/ppt/slides/slide692.xml" ContentType="application/vnd.openxmlformats-officedocument.presentationml.slide+xml"/>
  <Override PartName="/ppt/slides/slide693.xml" ContentType="application/vnd.openxmlformats-officedocument.presentationml.slide+xml"/>
  <Override PartName="/ppt/slides/slide694.xml" ContentType="application/vnd.openxmlformats-officedocument.presentationml.slide+xml"/>
  <Override PartName="/ppt/slides/slide695.xml" ContentType="application/vnd.openxmlformats-officedocument.presentationml.slide+xml"/>
  <Override PartName="/ppt/slides/slide696.xml" ContentType="application/vnd.openxmlformats-officedocument.presentationml.slide+xml"/>
  <Override PartName="/ppt/slides/slide697.xml" ContentType="application/vnd.openxmlformats-officedocument.presentationml.slide+xml"/>
  <Override PartName="/ppt/slides/slide698.xml" ContentType="application/vnd.openxmlformats-officedocument.presentationml.slide+xml"/>
  <Override PartName="/ppt/slides/slide69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00.xml" ContentType="application/vnd.openxmlformats-officedocument.presentationml.slide+xml"/>
  <Override PartName="/ppt/slides/slide701.xml" ContentType="application/vnd.openxmlformats-officedocument.presentationml.slide+xml"/>
  <Override PartName="/ppt/slides/slide702.xml" ContentType="application/vnd.openxmlformats-officedocument.presentationml.slide+xml"/>
  <Override PartName="/ppt/slides/slide703.xml" ContentType="application/vnd.openxmlformats-officedocument.presentationml.slide+xml"/>
  <Override PartName="/ppt/slides/slide704.xml" ContentType="application/vnd.openxmlformats-officedocument.presentationml.slide+xml"/>
  <Override PartName="/ppt/slides/slide705.xml" ContentType="application/vnd.openxmlformats-officedocument.presentationml.slide+xml"/>
  <Override PartName="/ppt/slides/slide706.xml" ContentType="application/vnd.openxmlformats-officedocument.presentationml.slide+xml"/>
  <Override PartName="/ppt/slides/slide707.xml" ContentType="application/vnd.openxmlformats-officedocument.presentationml.slide+xml"/>
  <Override PartName="/ppt/slides/slide708.xml" ContentType="application/vnd.openxmlformats-officedocument.presentationml.slide+xml"/>
  <Override PartName="/ppt/slides/slide709.xml" ContentType="application/vnd.openxmlformats-officedocument.presentationml.slide+xml"/>
  <Override PartName="/ppt/slides/slide71.xml" ContentType="application/vnd.openxmlformats-officedocument.presentationml.slide+xml"/>
  <Override PartName="/ppt/slides/slide710.xml" ContentType="application/vnd.openxmlformats-officedocument.presentationml.slide+xml"/>
  <Override PartName="/ppt/slides/slide711.xml" ContentType="application/vnd.openxmlformats-officedocument.presentationml.slide+xml"/>
  <Override PartName="/ppt/slides/slide712.xml" ContentType="application/vnd.openxmlformats-officedocument.presentationml.slide+xml"/>
  <Override PartName="/ppt/slides/slide713.xml" ContentType="application/vnd.openxmlformats-officedocument.presentationml.slide+xml"/>
  <Override PartName="/ppt/slides/slide714.xml" ContentType="application/vnd.openxmlformats-officedocument.presentationml.slide+xml"/>
  <Override PartName="/ppt/slides/slide715.xml" ContentType="application/vnd.openxmlformats-officedocument.presentationml.slide+xml"/>
  <Override PartName="/ppt/slides/slide716.xml" ContentType="application/vnd.openxmlformats-officedocument.presentationml.slide+xml"/>
  <Override PartName="/ppt/slides/slide717.xml" ContentType="application/vnd.openxmlformats-officedocument.presentationml.slide+xml"/>
  <Override PartName="/ppt/slides/slide718.xml" ContentType="application/vnd.openxmlformats-officedocument.presentationml.slide+xml"/>
  <Override PartName="/ppt/slides/slide719.xml" ContentType="application/vnd.openxmlformats-officedocument.presentationml.slide+xml"/>
  <Override PartName="/ppt/slides/slide72.xml" ContentType="application/vnd.openxmlformats-officedocument.presentationml.slide+xml"/>
  <Override PartName="/ppt/slides/slide720.xml" ContentType="application/vnd.openxmlformats-officedocument.presentationml.slide+xml"/>
  <Override PartName="/ppt/slides/slide721.xml" ContentType="application/vnd.openxmlformats-officedocument.presentationml.slide+xml"/>
  <Override PartName="/ppt/slides/slide722.xml" ContentType="application/vnd.openxmlformats-officedocument.presentationml.slide+xml"/>
  <Override PartName="/ppt/slides/slide723.xml" ContentType="application/vnd.openxmlformats-officedocument.presentationml.slide+xml"/>
  <Override PartName="/ppt/slides/slide724.xml" ContentType="application/vnd.openxmlformats-officedocument.presentationml.slide+xml"/>
  <Override PartName="/ppt/slides/slide725.xml" ContentType="application/vnd.openxmlformats-officedocument.presentationml.slide+xml"/>
  <Override PartName="/ppt/slides/slide726.xml" ContentType="application/vnd.openxmlformats-officedocument.presentationml.slide+xml"/>
  <Override PartName="/ppt/slides/slide727.xml" ContentType="application/vnd.openxmlformats-officedocument.presentationml.slide+xml"/>
  <Override PartName="/ppt/slides/slide728.xml" ContentType="application/vnd.openxmlformats-officedocument.presentationml.slide+xml"/>
  <Override PartName="/ppt/slides/slide729.xml" ContentType="application/vnd.openxmlformats-officedocument.presentationml.slide+xml"/>
  <Override PartName="/ppt/slides/slide73.xml" ContentType="application/vnd.openxmlformats-officedocument.presentationml.slide+xml"/>
  <Override PartName="/ppt/slides/slide730.xml" ContentType="application/vnd.openxmlformats-officedocument.presentationml.slide+xml"/>
  <Override PartName="/ppt/slides/slide731.xml" ContentType="application/vnd.openxmlformats-officedocument.presentationml.slide+xml"/>
  <Override PartName="/ppt/slides/slide732.xml" ContentType="application/vnd.openxmlformats-officedocument.presentationml.slide+xml"/>
  <Override PartName="/ppt/slides/slide733.xml" ContentType="application/vnd.openxmlformats-officedocument.presentationml.slide+xml"/>
  <Override PartName="/ppt/slides/slide734.xml" ContentType="application/vnd.openxmlformats-officedocument.presentationml.slide+xml"/>
  <Override PartName="/ppt/slides/slide735.xml" ContentType="application/vnd.openxmlformats-officedocument.presentationml.slide+xml"/>
  <Override PartName="/ppt/slides/slide736.xml" ContentType="application/vnd.openxmlformats-officedocument.presentationml.slide+xml"/>
  <Override PartName="/ppt/slides/slide737.xml" ContentType="application/vnd.openxmlformats-officedocument.presentationml.slide+xml"/>
  <Override PartName="/ppt/slides/slide738.xml" ContentType="application/vnd.openxmlformats-officedocument.presentationml.slide+xml"/>
  <Override PartName="/ppt/slides/slide739.xml" ContentType="application/vnd.openxmlformats-officedocument.presentationml.slide+xml"/>
  <Override PartName="/ppt/slides/slide74.xml" ContentType="application/vnd.openxmlformats-officedocument.presentationml.slide+xml"/>
  <Override PartName="/ppt/slides/slide740.xml" ContentType="application/vnd.openxmlformats-officedocument.presentationml.slide+xml"/>
  <Override PartName="/ppt/slides/slide741.xml" ContentType="application/vnd.openxmlformats-officedocument.presentationml.slide+xml"/>
  <Override PartName="/ppt/slides/slide742.xml" ContentType="application/vnd.openxmlformats-officedocument.presentationml.slide+xml"/>
  <Override PartName="/ppt/slides/slide743.xml" ContentType="application/vnd.openxmlformats-officedocument.presentationml.slide+xml"/>
  <Override PartName="/ppt/slides/slide744.xml" ContentType="application/vnd.openxmlformats-officedocument.presentationml.slide+xml"/>
  <Override PartName="/ppt/slides/slide745.xml" ContentType="application/vnd.openxmlformats-officedocument.presentationml.slide+xml"/>
  <Override PartName="/ppt/slides/slide746.xml" ContentType="application/vnd.openxmlformats-officedocument.presentationml.slide+xml"/>
  <Override PartName="/ppt/slides/slide747.xml" ContentType="application/vnd.openxmlformats-officedocument.presentationml.slide+xml"/>
  <Override PartName="/ppt/slides/slide748.xml" ContentType="application/vnd.openxmlformats-officedocument.presentationml.slide+xml"/>
  <Override PartName="/ppt/slides/slide749.xml" ContentType="application/vnd.openxmlformats-officedocument.presentationml.slide+xml"/>
  <Override PartName="/ppt/slides/slide75.xml" ContentType="application/vnd.openxmlformats-officedocument.presentationml.slide+xml"/>
  <Override PartName="/ppt/slides/slide750.xml" ContentType="application/vnd.openxmlformats-officedocument.presentationml.slide+xml"/>
  <Override PartName="/ppt/slides/slide751.xml" ContentType="application/vnd.openxmlformats-officedocument.presentationml.slide+xml"/>
  <Override PartName="/ppt/slides/slide752.xml" ContentType="application/vnd.openxmlformats-officedocument.presentationml.slide+xml"/>
  <Override PartName="/ppt/slides/slide753.xml" ContentType="application/vnd.openxmlformats-officedocument.presentationml.slide+xml"/>
  <Override PartName="/ppt/slides/slide754.xml" ContentType="application/vnd.openxmlformats-officedocument.presentationml.slide+xml"/>
  <Override PartName="/ppt/slides/slide755.xml" ContentType="application/vnd.openxmlformats-officedocument.presentationml.slide+xml"/>
  <Override PartName="/ppt/slides/slide756.xml" ContentType="application/vnd.openxmlformats-officedocument.presentationml.slide+xml"/>
  <Override PartName="/ppt/slides/slide757.xml" ContentType="application/vnd.openxmlformats-officedocument.presentationml.slide+xml"/>
  <Override PartName="/ppt/slides/slide758.xml" ContentType="application/vnd.openxmlformats-officedocument.presentationml.slide+xml"/>
  <Override PartName="/ppt/slides/slide759.xml" ContentType="application/vnd.openxmlformats-officedocument.presentationml.slide+xml"/>
  <Override PartName="/ppt/slides/slide76.xml" ContentType="application/vnd.openxmlformats-officedocument.presentationml.slide+xml"/>
  <Override PartName="/ppt/slides/slide760.xml" ContentType="application/vnd.openxmlformats-officedocument.presentationml.slide+xml"/>
  <Override PartName="/ppt/slides/slide761.xml" ContentType="application/vnd.openxmlformats-officedocument.presentationml.slide+xml"/>
  <Override PartName="/ppt/slides/slide762.xml" ContentType="application/vnd.openxmlformats-officedocument.presentationml.slide+xml"/>
  <Override PartName="/ppt/slides/slide763.xml" ContentType="application/vnd.openxmlformats-officedocument.presentationml.slide+xml"/>
  <Override PartName="/ppt/slides/slide764.xml" ContentType="application/vnd.openxmlformats-officedocument.presentationml.slide+xml"/>
  <Override PartName="/ppt/slides/slide765.xml" ContentType="application/vnd.openxmlformats-officedocument.presentationml.slide+xml"/>
  <Override PartName="/ppt/slides/slide766.xml" ContentType="application/vnd.openxmlformats-officedocument.presentationml.slide+xml"/>
  <Override PartName="/ppt/slides/slide767.xml" ContentType="application/vnd.openxmlformats-officedocument.presentationml.slide+xml"/>
  <Override PartName="/ppt/slides/slide768.xml" ContentType="application/vnd.openxmlformats-officedocument.presentationml.slide+xml"/>
  <Override PartName="/ppt/slides/slide769.xml" ContentType="application/vnd.openxmlformats-officedocument.presentationml.slide+xml"/>
  <Override PartName="/ppt/slides/slide77.xml" ContentType="application/vnd.openxmlformats-officedocument.presentationml.slide+xml"/>
  <Override PartName="/ppt/slides/slide770.xml" ContentType="application/vnd.openxmlformats-officedocument.presentationml.slide+xml"/>
  <Override PartName="/ppt/slides/slide771.xml" ContentType="application/vnd.openxmlformats-officedocument.presentationml.slide+xml"/>
  <Override PartName="/ppt/slides/slide772.xml" ContentType="application/vnd.openxmlformats-officedocument.presentationml.slide+xml"/>
  <Override PartName="/ppt/slides/slide773.xml" ContentType="application/vnd.openxmlformats-officedocument.presentationml.slide+xml"/>
  <Override PartName="/ppt/slides/slide774.xml" ContentType="application/vnd.openxmlformats-officedocument.presentationml.slide+xml"/>
  <Override PartName="/ppt/slides/slide775.xml" ContentType="application/vnd.openxmlformats-officedocument.presentationml.slide+xml"/>
  <Override PartName="/ppt/slides/slide776.xml" ContentType="application/vnd.openxmlformats-officedocument.presentationml.slide+xml"/>
  <Override PartName="/ppt/slides/slide777.xml" ContentType="application/vnd.openxmlformats-officedocument.presentationml.slide+xml"/>
  <Override PartName="/ppt/slides/slide778.xml" ContentType="application/vnd.openxmlformats-officedocument.presentationml.slide+xml"/>
  <Override PartName="/ppt/slides/slide779.xml" ContentType="application/vnd.openxmlformats-officedocument.presentationml.slide+xml"/>
  <Override PartName="/ppt/slides/slide78.xml" ContentType="application/vnd.openxmlformats-officedocument.presentationml.slide+xml"/>
  <Override PartName="/ppt/slides/slide780.xml" ContentType="application/vnd.openxmlformats-officedocument.presentationml.slide+xml"/>
  <Override PartName="/ppt/slides/slide781.xml" ContentType="application/vnd.openxmlformats-officedocument.presentationml.slide+xml"/>
  <Override PartName="/ppt/slides/slide782.xml" ContentType="application/vnd.openxmlformats-officedocument.presentationml.slide+xml"/>
  <Override PartName="/ppt/slides/slide783.xml" ContentType="application/vnd.openxmlformats-officedocument.presentationml.slide+xml"/>
  <Override PartName="/ppt/slides/slide784.xml" ContentType="application/vnd.openxmlformats-officedocument.presentationml.slide+xml"/>
  <Override PartName="/ppt/slides/slide785.xml" ContentType="application/vnd.openxmlformats-officedocument.presentationml.slide+xml"/>
  <Override PartName="/ppt/slides/slide786.xml" ContentType="application/vnd.openxmlformats-officedocument.presentationml.slide+xml"/>
  <Override PartName="/ppt/slides/slide787.xml" ContentType="application/vnd.openxmlformats-officedocument.presentationml.slide+xml"/>
  <Override PartName="/ppt/slides/slide788.xml" ContentType="application/vnd.openxmlformats-officedocument.presentationml.slide+xml"/>
  <Override PartName="/ppt/slides/slide789.xml" ContentType="application/vnd.openxmlformats-officedocument.presentationml.slide+xml"/>
  <Override PartName="/ppt/slides/slide79.xml" ContentType="application/vnd.openxmlformats-officedocument.presentationml.slide+xml"/>
  <Override PartName="/ppt/slides/slide790.xml" ContentType="application/vnd.openxmlformats-officedocument.presentationml.slide+xml"/>
  <Override PartName="/ppt/slides/slide791.xml" ContentType="application/vnd.openxmlformats-officedocument.presentationml.slide+xml"/>
  <Override PartName="/ppt/slides/slide792.xml" ContentType="application/vnd.openxmlformats-officedocument.presentationml.slide+xml"/>
  <Override PartName="/ppt/slides/slide793.xml" ContentType="application/vnd.openxmlformats-officedocument.presentationml.slide+xml"/>
  <Override PartName="/ppt/slides/slide794.xml" ContentType="application/vnd.openxmlformats-officedocument.presentationml.slide+xml"/>
  <Override PartName="/ppt/slides/slide795.xml" ContentType="application/vnd.openxmlformats-officedocument.presentationml.slide+xml"/>
  <Override PartName="/ppt/slides/slide796.xml" ContentType="application/vnd.openxmlformats-officedocument.presentationml.slide+xml"/>
  <Override PartName="/ppt/slides/slide797.xml" ContentType="application/vnd.openxmlformats-officedocument.presentationml.slide+xml"/>
  <Override PartName="/ppt/slides/slide798.xml" ContentType="application/vnd.openxmlformats-officedocument.presentationml.slide+xml"/>
  <Override PartName="/ppt/slides/slide79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00.xml" ContentType="application/vnd.openxmlformats-officedocument.presentationml.slide+xml"/>
  <Override PartName="/ppt/slides/slide801.xml" ContentType="application/vnd.openxmlformats-officedocument.presentationml.slide+xml"/>
  <Override PartName="/ppt/slides/slide802.xml" ContentType="application/vnd.openxmlformats-officedocument.presentationml.slide+xml"/>
  <Override PartName="/ppt/slides/slide803.xml" ContentType="application/vnd.openxmlformats-officedocument.presentationml.slide+xml"/>
  <Override PartName="/ppt/slides/slide804.xml" ContentType="application/vnd.openxmlformats-officedocument.presentationml.slide+xml"/>
  <Override PartName="/ppt/slides/slide805.xml" ContentType="application/vnd.openxmlformats-officedocument.presentationml.slide+xml"/>
  <Override PartName="/ppt/slides/slide806.xml" ContentType="application/vnd.openxmlformats-officedocument.presentationml.slide+xml"/>
  <Override PartName="/ppt/slides/slide807.xml" ContentType="application/vnd.openxmlformats-officedocument.presentationml.slide+xml"/>
  <Override PartName="/ppt/slides/slide808.xml" ContentType="application/vnd.openxmlformats-officedocument.presentationml.slide+xml"/>
  <Override PartName="/ppt/slides/slide809.xml" ContentType="application/vnd.openxmlformats-officedocument.presentationml.slide+xml"/>
  <Override PartName="/ppt/slides/slide81.xml" ContentType="application/vnd.openxmlformats-officedocument.presentationml.slide+xml"/>
  <Override PartName="/ppt/slides/slide810.xml" ContentType="application/vnd.openxmlformats-officedocument.presentationml.slide+xml"/>
  <Override PartName="/ppt/slides/slide811.xml" ContentType="application/vnd.openxmlformats-officedocument.presentationml.slide+xml"/>
  <Override PartName="/ppt/slides/slide812.xml" ContentType="application/vnd.openxmlformats-officedocument.presentationml.slide+xml"/>
  <Override PartName="/ppt/slides/slide813.xml" ContentType="application/vnd.openxmlformats-officedocument.presentationml.slide+xml"/>
  <Override PartName="/ppt/slides/slide814.xml" ContentType="application/vnd.openxmlformats-officedocument.presentationml.slide+xml"/>
  <Override PartName="/ppt/slides/slide815.xml" ContentType="application/vnd.openxmlformats-officedocument.presentationml.slide+xml"/>
  <Override PartName="/ppt/slides/slide816.xml" ContentType="application/vnd.openxmlformats-officedocument.presentationml.slide+xml"/>
  <Override PartName="/ppt/slides/slide817.xml" ContentType="application/vnd.openxmlformats-officedocument.presentationml.slide+xml"/>
  <Override PartName="/ppt/slides/slide818.xml" ContentType="application/vnd.openxmlformats-officedocument.presentationml.slide+xml"/>
  <Override PartName="/ppt/slides/slide819.xml" ContentType="application/vnd.openxmlformats-officedocument.presentationml.slide+xml"/>
  <Override PartName="/ppt/slides/slide82.xml" ContentType="application/vnd.openxmlformats-officedocument.presentationml.slide+xml"/>
  <Override PartName="/ppt/slides/slide820.xml" ContentType="application/vnd.openxmlformats-officedocument.presentationml.slide+xml"/>
  <Override PartName="/ppt/slides/slide821.xml" ContentType="application/vnd.openxmlformats-officedocument.presentationml.slide+xml"/>
  <Override PartName="/ppt/slides/slide822.xml" ContentType="application/vnd.openxmlformats-officedocument.presentationml.slide+xml"/>
  <Override PartName="/ppt/slides/slide823.xml" ContentType="application/vnd.openxmlformats-officedocument.presentationml.slide+xml"/>
  <Override PartName="/ppt/slides/slide824.xml" ContentType="application/vnd.openxmlformats-officedocument.presentationml.slide+xml"/>
  <Override PartName="/ppt/slides/slide825.xml" ContentType="application/vnd.openxmlformats-officedocument.presentationml.slide+xml"/>
  <Override PartName="/ppt/slides/slide826.xml" ContentType="application/vnd.openxmlformats-officedocument.presentationml.slide+xml"/>
  <Override PartName="/ppt/slides/slide827.xml" ContentType="application/vnd.openxmlformats-officedocument.presentationml.slide+xml"/>
  <Override PartName="/ppt/slides/slide828.xml" ContentType="application/vnd.openxmlformats-officedocument.presentationml.slide+xml"/>
  <Override PartName="/ppt/slides/slide829.xml" ContentType="application/vnd.openxmlformats-officedocument.presentationml.slide+xml"/>
  <Override PartName="/ppt/slides/slide83.xml" ContentType="application/vnd.openxmlformats-officedocument.presentationml.slide+xml"/>
  <Override PartName="/ppt/slides/slide830.xml" ContentType="application/vnd.openxmlformats-officedocument.presentationml.slide+xml"/>
  <Override PartName="/ppt/slides/slide831.xml" ContentType="application/vnd.openxmlformats-officedocument.presentationml.slide+xml"/>
  <Override PartName="/ppt/slides/slide832.xml" ContentType="application/vnd.openxmlformats-officedocument.presentationml.slide+xml"/>
  <Override PartName="/ppt/slides/slide833.xml" ContentType="application/vnd.openxmlformats-officedocument.presentationml.slide+xml"/>
  <Override PartName="/ppt/slides/slide834.xml" ContentType="application/vnd.openxmlformats-officedocument.presentationml.slide+xml"/>
  <Override PartName="/ppt/slides/slide835.xml" ContentType="application/vnd.openxmlformats-officedocument.presentationml.slide+xml"/>
  <Override PartName="/ppt/slides/slide836.xml" ContentType="application/vnd.openxmlformats-officedocument.presentationml.slide+xml"/>
  <Override PartName="/ppt/slides/slide837.xml" ContentType="application/vnd.openxmlformats-officedocument.presentationml.slide+xml"/>
  <Override PartName="/ppt/slides/slide838.xml" ContentType="application/vnd.openxmlformats-officedocument.presentationml.slide+xml"/>
  <Override PartName="/ppt/slides/slide839.xml" ContentType="application/vnd.openxmlformats-officedocument.presentationml.slide+xml"/>
  <Override PartName="/ppt/slides/slide84.xml" ContentType="application/vnd.openxmlformats-officedocument.presentationml.slide+xml"/>
  <Override PartName="/ppt/slides/slide840.xml" ContentType="application/vnd.openxmlformats-officedocument.presentationml.slide+xml"/>
  <Override PartName="/ppt/slides/slide841.xml" ContentType="application/vnd.openxmlformats-officedocument.presentationml.slide+xml"/>
  <Override PartName="/ppt/slides/slide842.xml" ContentType="application/vnd.openxmlformats-officedocument.presentationml.slide+xml"/>
  <Override PartName="/ppt/slides/slide843.xml" ContentType="application/vnd.openxmlformats-officedocument.presentationml.slide+xml"/>
  <Override PartName="/ppt/slides/slide844.xml" ContentType="application/vnd.openxmlformats-officedocument.presentationml.slide+xml"/>
  <Override PartName="/ppt/slides/slide845.xml" ContentType="application/vnd.openxmlformats-officedocument.presentationml.slide+xml"/>
  <Override PartName="/ppt/slides/slide846.xml" ContentType="application/vnd.openxmlformats-officedocument.presentationml.slide+xml"/>
  <Override PartName="/ppt/slides/slide847.xml" ContentType="application/vnd.openxmlformats-officedocument.presentationml.slide+xml"/>
  <Override PartName="/ppt/slides/slide848.xml" ContentType="application/vnd.openxmlformats-officedocument.presentationml.slide+xml"/>
  <Override PartName="/ppt/slides/slide849.xml" ContentType="application/vnd.openxmlformats-officedocument.presentationml.slide+xml"/>
  <Override PartName="/ppt/slides/slide85.xml" ContentType="application/vnd.openxmlformats-officedocument.presentationml.slide+xml"/>
  <Override PartName="/ppt/slides/slide850.xml" ContentType="application/vnd.openxmlformats-officedocument.presentationml.slide+xml"/>
  <Override PartName="/ppt/slides/slide851.xml" ContentType="application/vnd.openxmlformats-officedocument.presentationml.slide+xml"/>
  <Override PartName="/ppt/slides/slide852.xml" ContentType="application/vnd.openxmlformats-officedocument.presentationml.slide+xml"/>
  <Override PartName="/ppt/slides/slide853.xml" ContentType="application/vnd.openxmlformats-officedocument.presentationml.slide+xml"/>
  <Override PartName="/ppt/slides/slide854.xml" ContentType="application/vnd.openxmlformats-officedocument.presentationml.slide+xml"/>
  <Override PartName="/ppt/slides/slide855.xml" ContentType="application/vnd.openxmlformats-officedocument.presentationml.slide+xml"/>
  <Override PartName="/ppt/slides/slide856.xml" ContentType="application/vnd.openxmlformats-officedocument.presentationml.slide+xml"/>
  <Override PartName="/ppt/slides/slide857.xml" ContentType="application/vnd.openxmlformats-officedocument.presentationml.slide+xml"/>
  <Override PartName="/ppt/slides/slide858.xml" ContentType="application/vnd.openxmlformats-officedocument.presentationml.slide+xml"/>
  <Override PartName="/ppt/slides/slide859.xml" ContentType="application/vnd.openxmlformats-officedocument.presentationml.slide+xml"/>
  <Override PartName="/ppt/slides/slide86.xml" ContentType="application/vnd.openxmlformats-officedocument.presentationml.slide+xml"/>
  <Override PartName="/ppt/slides/slide860.xml" ContentType="application/vnd.openxmlformats-officedocument.presentationml.slide+xml"/>
  <Override PartName="/ppt/slides/slide861.xml" ContentType="application/vnd.openxmlformats-officedocument.presentationml.slide+xml"/>
  <Override PartName="/ppt/slides/slide862.xml" ContentType="application/vnd.openxmlformats-officedocument.presentationml.slide+xml"/>
  <Override PartName="/ppt/slides/slide863.xml" ContentType="application/vnd.openxmlformats-officedocument.presentationml.slide+xml"/>
  <Override PartName="/ppt/slides/slide864.xml" ContentType="application/vnd.openxmlformats-officedocument.presentationml.slide+xml"/>
  <Override PartName="/ppt/slides/slide865.xml" ContentType="application/vnd.openxmlformats-officedocument.presentationml.slide+xml"/>
  <Override PartName="/ppt/slides/slide866.xml" ContentType="application/vnd.openxmlformats-officedocument.presentationml.slide+xml"/>
  <Override PartName="/ppt/slides/slide867.xml" ContentType="application/vnd.openxmlformats-officedocument.presentationml.slide+xml"/>
  <Override PartName="/ppt/slides/slide868.xml" ContentType="application/vnd.openxmlformats-officedocument.presentationml.slide+xml"/>
  <Override PartName="/ppt/slides/slide869.xml" ContentType="application/vnd.openxmlformats-officedocument.presentationml.slide+xml"/>
  <Override PartName="/ppt/slides/slide87.xml" ContentType="application/vnd.openxmlformats-officedocument.presentationml.slide+xml"/>
  <Override PartName="/ppt/slides/slide870.xml" ContentType="application/vnd.openxmlformats-officedocument.presentationml.slide+xml"/>
  <Override PartName="/ppt/slides/slide871.xml" ContentType="application/vnd.openxmlformats-officedocument.presentationml.slide+xml"/>
  <Override PartName="/ppt/slides/slide872.xml" ContentType="application/vnd.openxmlformats-officedocument.presentationml.slide+xml"/>
  <Override PartName="/ppt/slides/slide873.xml" ContentType="application/vnd.openxmlformats-officedocument.presentationml.slide+xml"/>
  <Override PartName="/ppt/slides/slide874.xml" ContentType="application/vnd.openxmlformats-officedocument.presentationml.slide+xml"/>
  <Override PartName="/ppt/slides/slide875.xml" ContentType="application/vnd.openxmlformats-officedocument.presentationml.slide+xml"/>
  <Override PartName="/ppt/slides/slide876.xml" ContentType="application/vnd.openxmlformats-officedocument.presentationml.slide+xml"/>
  <Override PartName="/ppt/slides/slide877.xml" ContentType="application/vnd.openxmlformats-officedocument.presentationml.slide+xml"/>
  <Override PartName="/ppt/slides/slide878.xml" ContentType="application/vnd.openxmlformats-officedocument.presentationml.slide+xml"/>
  <Override PartName="/ppt/slides/slide879.xml" ContentType="application/vnd.openxmlformats-officedocument.presentationml.slide+xml"/>
  <Override PartName="/ppt/slides/slide88.xml" ContentType="application/vnd.openxmlformats-officedocument.presentationml.slide+xml"/>
  <Override PartName="/ppt/slides/slide880.xml" ContentType="application/vnd.openxmlformats-officedocument.presentationml.slide+xml"/>
  <Override PartName="/ppt/slides/slide881.xml" ContentType="application/vnd.openxmlformats-officedocument.presentationml.slide+xml"/>
  <Override PartName="/ppt/slides/slide882.xml" ContentType="application/vnd.openxmlformats-officedocument.presentationml.slide+xml"/>
  <Override PartName="/ppt/slides/slide883.xml" ContentType="application/vnd.openxmlformats-officedocument.presentationml.slide+xml"/>
  <Override PartName="/ppt/slides/slide884.xml" ContentType="application/vnd.openxmlformats-officedocument.presentationml.slide+xml"/>
  <Override PartName="/ppt/slides/slide885.xml" ContentType="application/vnd.openxmlformats-officedocument.presentationml.slide+xml"/>
  <Override PartName="/ppt/slides/slide886.xml" ContentType="application/vnd.openxmlformats-officedocument.presentationml.slide+xml"/>
  <Override PartName="/ppt/slides/slide887.xml" ContentType="application/vnd.openxmlformats-officedocument.presentationml.slide+xml"/>
  <Override PartName="/ppt/slides/slide888.xml" ContentType="application/vnd.openxmlformats-officedocument.presentationml.slide+xml"/>
  <Override PartName="/ppt/slides/slide889.xml" ContentType="application/vnd.openxmlformats-officedocument.presentationml.slide+xml"/>
  <Override PartName="/ppt/slides/slide89.xml" ContentType="application/vnd.openxmlformats-officedocument.presentationml.slide+xml"/>
  <Override PartName="/ppt/slides/slide890.xml" ContentType="application/vnd.openxmlformats-officedocument.presentationml.slide+xml"/>
  <Override PartName="/ppt/slides/slide891.xml" ContentType="application/vnd.openxmlformats-officedocument.presentationml.slide+xml"/>
  <Override PartName="/ppt/slides/slide892.xml" ContentType="application/vnd.openxmlformats-officedocument.presentationml.slide+xml"/>
  <Override PartName="/ppt/slides/slide893.xml" ContentType="application/vnd.openxmlformats-officedocument.presentationml.slide+xml"/>
  <Override PartName="/ppt/slides/slide894.xml" ContentType="application/vnd.openxmlformats-officedocument.presentationml.slide+xml"/>
  <Override PartName="/ppt/slides/slide895.xml" ContentType="application/vnd.openxmlformats-officedocument.presentationml.slide+xml"/>
  <Override PartName="/ppt/slides/slide896.xml" ContentType="application/vnd.openxmlformats-officedocument.presentationml.slide+xml"/>
  <Override PartName="/ppt/slides/slide897.xml" ContentType="application/vnd.openxmlformats-officedocument.presentationml.slide+xml"/>
  <Override PartName="/ppt/slides/slide898.xml" ContentType="application/vnd.openxmlformats-officedocument.presentationml.slide+xml"/>
  <Override PartName="/ppt/slides/slide89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00.xml" ContentType="application/vnd.openxmlformats-officedocument.presentationml.slide+xml"/>
  <Override PartName="/ppt/slides/slide901.xml" ContentType="application/vnd.openxmlformats-officedocument.presentationml.slide+xml"/>
  <Override PartName="/ppt/slides/slide902.xml" ContentType="application/vnd.openxmlformats-officedocument.presentationml.slide+xml"/>
  <Override PartName="/ppt/slides/slide903.xml" ContentType="application/vnd.openxmlformats-officedocument.presentationml.slide+xml"/>
  <Override PartName="/ppt/slides/slide904.xml" ContentType="application/vnd.openxmlformats-officedocument.presentationml.slide+xml"/>
  <Override PartName="/ppt/slides/slide905.xml" ContentType="application/vnd.openxmlformats-officedocument.presentationml.slide+xml"/>
  <Override PartName="/ppt/slides/slide906.xml" ContentType="application/vnd.openxmlformats-officedocument.presentationml.slide+xml"/>
  <Override PartName="/ppt/slides/slide907.xml" ContentType="application/vnd.openxmlformats-officedocument.presentationml.slide+xml"/>
  <Override PartName="/ppt/slides/slide908.xml" ContentType="application/vnd.openxmlformats-officedocument.presentationml.slide+xml"/>
  <Override PartName="/ppt/slides/slide909.xml" ContentType="application/vnd.openxmlformats-officedocument.presentationml.slide+xml"/>
  <Override PartName="/ppt/slides/slide91.xml" ContentType="application/vnd.openxmlformats-officedocument.presentationml.slide+xml"/>
  <Override PartName="/ppt/slides/slide910.xml" ContentType="application/vnd.openxmlformats-officedocument.presentationml.slide+xml"/>
  <Override PartName="/ppt/slides/slide911.xml" ContentType="application/vnd.openxmlformats-officedocument.presentationml.slide+xml"/>
  <Override PartName="/ppt/slides/slide912.xml" ContentType="application/vnd.openxmlformats-officedocument.presentationml.slide+xml"/>
  <Override PartName="/ppt/slides/slide913.xml" ContentType="application/vnd.openxmlformats-officedocument.presentationml.slide+xml"/>
  <Override PartName="/ppt/slides/slide914.xml" ContentType="application/vnd.openxmlformats-officedocument.presentationml.slide+xml"/>
  <Override PartName="/ppt/slides/slide915.xml" ContentType="application/vnd.openxmlformats-officedocument.presentationml.slide+xml"/>
  <Override PartName="/ppt/slides/slide916.xml" ContentType="application/vnd.openxmlformats-officedocument.presentationml.slide+xml"/>
  <Override PartName="/ppt/slides/slide917.xml" ContentType="application/vnd.openxmlformats-officedocument.presentationml.slide+xml"/>
  <Override PartName="/ppt/slides/slide918.xml" ContentType="application/vnd.openxmlformats-officedocument.presentationml.slide+xml"/>
  <Override PartName="/ppt/slides/slide919.xml" ContentType="application/vnd.openxmlformats-officedocument.presentationml.slide+xml"/>
  <Override PartName="/ppt/slides/slide92.xml" ContentType="application/vnd.openxmlformats-officedocument.presentationml.slide+xml"/>
  <Override PartName="/ppt/slides/slide920.xml" ContentType="application/vnd.openxmlformats-officedocument.presentationml.slide+xml"/>
  <Override PartName="/ppt/slides/slide921.xml" ContentType="application/vnd.openxmlformats-officedocument.presentationml.slide+xml"/>
  <Override PartName="/ppt/slides/slide922.xml" ContentType="application/vnd.openxmlformats-officedocument.presentationml.slide+xml"/>
  <Override PartName="/ppt/slides/slide923.xml" ContentType="application/vnd.openxmlformats-officedocument.presentationml.slide+xml"/>
  <Override PartName="/ppt/slides/slide924.xml" ContentType="application/vnd.openxmlformats-officedocument.presentationml.slide+xml"/>
  <Override PartName="/ppt/slides/slide925.xml" ContentType="application/vnd.openxmlformats-officedocument.presentationml.slide+xml"/>
  <Override PartName="/ppt/slides/slide926.xml" ContentType="application/vnd.openxmlformats-officedocument.presentationml.slide+xml"/>
  <Override PartName="/ppt/slides/slide927.xml" ContentType="application/vnd.openxmlformats-officedocument.presentationml.slide+xml"/>
  <Override PartName="/ppt/slides/slide928.xml" ContentType="application/vnd.openxmlformats-officedocument.presentationml.slide+xml"/>
  <Override PartName="/ppt/slides/slide929.xml" ContentType="application/vnd.openxmlformats-officedocument.presentationml.slide+xml"/>
  <Override PartName="/ppt/slides/slide93.xml" ContentType="application/vnd.openxmlformats-officedocument.presentationml.slide+xml"/>
  <Override PartName="/ppt/slides/slide930.xml" ContentType="application/vnd.openxmlformats-officedocument.presentationml.slide+xml"/>
  <Override PartName="/ppt/slides/slide931.xml" ContentType="application/vnd.openxmlformats-officedocument.presentationml.slide+xml"/>
  <Override PartName="/ppt/slides/slide932.xml" ContentType="application/vnd.openxmlformats-officedocument.presentationml.slide+xml"/>
  <Override PartName="/ppt/slides/slide933.xml" ContentType="application/vnd.openxmlformats-officedocument.presentationml.slide+xml"/>
  <Override PartName="/ppt/slides/slide934.xml" ContentType="application/vnd.openxmlformats-officedocument.presentationml.slide+xml"/>
  <Override PartName="/ppt/slides/slide935.xml" ContentType="application/vnd.openxmlformats-officedocument.presentationml.slide+xml"/>
  <Override PartName="/ppt/slides/slide936.xml" ContentType="application/vnd.openxmlformats-officedocument.presentationml.slide+xml"/>
  <Override PartName="/ppt/slides/slide937.xml" ContentType="application/vnd.openxmlformats-officedocument.presentationml.slide+xml"/>
  <Override PartName="/ppt/slides/slide938.xml" ContentType="application/vnd.openxmlformats-officedocument.presentationml.slide+xml"/>
  <Override PartName="/ppt/slides/slide939.xml" ContentType="application/vnd.openxmlformats-officedocument.presentationml.slide+xml"/>
  <Override PartName="/ppt/slides/slide94.xml" ContentType="application/vnd.openxmlformats-officedocument.presentationml.slide+xml"/>
  <Override PartName="/ppt/slides/slide940.xml" ContentType="application/vnd.openxmlformats-officedocument.presentationml.slide+xml"/>
  <Override PartName="/ppt/slides/slide941.xml" ContentType="application/vnd.openxmlformats-officedocument.presentationml.slide+xml"/>
  <Override PartName="/ppt/slides/slide942.xml" ContentType="application/vnd.openxmlformats-officedocument.presentationml.slide+xml"/>
  <Override PartName="/ppt/slides/slide943.xml" ContentType="application/vnd.openxmlformats-officedocument.presentationml.slide+xml"/>
  <Override PartName="/ppt/slides/slide944.xml" ContentType="application/vnd.openxmlformats-officedocument.presentationml.slide+xml"/>
  <Override PartName="/ppt/slides/slide945.xml" ContentType="application/vnd.openxmlformats-officedocument.presentationml.slide+xml"/>
  <Override PartName="/ppt/slides/slide946.xml" ContentType="application/vnd.openxmlformats-officedocument.presentationml.slide+xml"/>
  <Override PartName="/ppt/slides/slide947.xml" ContentType="application/vnd.openxmlformats-officedocument.presentationml.slide+xml"/>
  <Override PartName="/ppt/slides/slide948.xml" ContentType="application/vnd.openxmlformats-officedocument.presentationml.slide+xml"/>
  <Override PartName="/ppt/slides/slide949.xml" ContentType="application/vnd.openxmlformats-officedocument.presentationml.slide+xml"/>
  <Override PartName="/ppt/slides/slide95.xml" ContentType="application/vnd.openxmlformats-officedocument.presentationml.slide+xml"/>
  <Override PartName="/ppt/slides/slide950.xml" ContentType="application/vnd.openxmlformats-officedocument.presentationml.slide+xml"/>
  <Override PartName="/ppt/slides/slide951.xml" ContentType="application/vnd.openxmlformats-officedocument.presentationml.slide+xml"/>
  <Override PartName="/ppt/slides/slide952.xml" ContentType="application/vnd.openxmlformats-officedocument.presentationml.slide+xml"/>
  <Override PartName="/ppt/slides/slide953.xml" ContentType="application/vnd.openxmlformats-officedocument.presentationml.slide+xml"/>
  <Override PartName="/ppt/slides/slide954.xml" ContentType="application/vnd.openxmlformats-officedocument.presentationml.slide+xml"/>
  <Override PartName="/ppt/slides/slide955.xml" ContentType="application/vnd.openxmlformats-officedocument.presentationml.slide+xml"/>
  <Override PartName="/ppt/slides/slide956.xml" ContentType="application/vnd.openxmlformats-officedocument.presentationml.slide+xml"/>
  <Override PartName="/ppt/slides/slide957.xml" ContentType="application/vnd.openxmlformats-officedocument.presentationml.slide+xml"/>
  <Override PartName="/ppt/slides/slide958.xml" ContentType="application/vnd.openxmlformats-officedocument.presentationml.slide+xml"/>
  <Override PartName="/ppt/slides/slide959.xml" ContentType="application/vnd.openxmlformats-officedocument.presentationml.slide+xml"/>
  <Override PartName="/ppt/slides/slide96.xml" ContentType="application/vnd.openxmlformats-officedocument.presentationml.slide+xml"/>
  <Override PartName="/ppt/slides/slide960.xml" ContentType="application/vnd.openxmlformats-officedocument.presentationml.slide+xml"/>
  <Override PartName="/ppt/slides/slide961.xml" ContentType="application/vnd.openxmlformats-officedocument.presentationml.slide+xml"/>
  <Override PartName="/ppt/slides/slide962.xml" ContentType="application/vnd.openxmlformats-officedocument.presentationml.slide+xml"/>
  <Override PartName="/ppt/slides/slide963.xml" ContentType="application/vnd.openxmlformats-officedocument.presentationml.slide+xml"/>
  <Override PartName="/ppt/slides/slide964.xml" ContentType="application/vnd.openxmlformats-officedocument.presentationml.slide+xml"/>
  <Override PartName="/ppt/slides/slide965.xml" ContentType="application/vnd.openxmlformats-officedocument.presentationml.slide+xml"/>
  <Override PartName="/ppt/slides/slide966.xml" ContentType="application/vnd.openxmlformats-officedocument.presentationml.slide+xml"/>
  <Override PartName="/ppt/slides/slide967.xml" ContentType="application/vnd.openxmlformats-officedocument.presentationml.slide+xml"/>
  <Override PartName="/ppt/slides/slide968.xml" ContentType="application/vnd.openxmlformats-officedocument.presentationml.slide+xml"/>
  <Override PartName="/ppt/slides/slide969.xml" ContentType="application/vnd.openxmlformats-officedocument.presentationml.slide+xml"/>
  <Override PartName="/ppt/slides/slide97.xml" ContentType="application/vnd.openxmlformats-officedocument.presentationml.slide+xml"/>
  <Override PartName="/ppt/slides/slide970.xml" ContentType="application/vnd.openxmlformats-officedocument.presentationml.slide+xml"/>
  <Override PartName="/ppt/slides/slide971.xml" ContentType="application/vnd.openxmlformats-officedocument.presentationml.slide+xml"/>
  <Override PartName="/ppt/slides/slide972.xml" ContentType="application/vnd.openxmlformats-officedocument.presentationml.slide+xml"/>
  <Override PartName="/ppt/slides/slide973.xml" ContentType="application/vnd.openxmlformats-officedocument.presentationml.slide+xml"/>
  <Override PartName="/ppt/slides/slide974.xml" ContentType="application/vnd.openxmlformats-officedocument.presentationml.slide+xml"/>
  <Override PartName="/ppt/slides/slide975.xml" ContentType="application/vnd.openxmlformats-officedocument.presentationml.slide+xml"/>
  <Override PartName="/ppt/slides/slide976.xml" ContentType="application/vnd.openxmlformats-officedocument.presentationml.slide+xml"/>
  <Override PartName="/ppt/slides/slide977.xml" ContentType="application/vnd.openxmlformats-officedocument.presentationml.slide+xml"/>
  <Override PartName="/ppt/slides/slide978.xml" ContentType="application/vnd.openxmlformats-officedocument.presentationml.slide+xml"/>
  <Override PartName="/ppt/slides/slide979.xml" ContentType="application/vnd.openxmlformats-officedocument.presentationml.slide+xml"/>
  <Override PartName="/ppt/slides/slide98.xml" ContentType="application/vnd.openxmlformats-officedocument.presentationml.slide+xml"/>
  <Override PartName="/ppt/slides/slide980.xml" ContentType="application/vnd.openxmlformats-officedocument.presentationml.slide+xml"/>
  <Override PartName="/ppt/slides/slide981.xml" ContentType="application/vnd.openxmlformats-officedocument.presentationml.slide+xml"/>
  <Override PartName="/ppt/slides/slide982.xml" ContentType="application/vnd.openxmlformats-officedocument.presentationml.slide+xml"/>
  <Override PartName="/ppt/slides/slide983.xml" ContentType="application/vnd.openxmlformats-officedocument.presentationml.slide+xml"/>
  <Override PartName="/ppt/slides/slide984.xml" ContentType="application/vnd.openxmlformats-officedocument.presentationml.slide+xml"/>
  <Override PartName="/ppt/slides/slide985.xml" ContentType="application/vnd.openxmlformats-officedocument.presentationml.slide+xml"/>
  <Override PartName="/ppt/slides/slide986.xml" ContentType="application/vnd.openxmlformats-officedocument.presentationml.slide+xml"/>
  <Override PartName="/ppt/slides/slide987.xml" ContentType="application/vnd.openxmlformats-officedocument.presentationml.slide+xml"/>
  <Override PartName="/ppt/slides/slide988.xml" ContentType="application/vnd.openxmlformats-officedocument.presentationml.slide+xml"/>
  <Override PartName="/ppt/slides/slide989.xml" ContentType="application/vnd.openxmlformats-officedocument.presentationml.slide+xml"/>
  <Override PartName="/ppt/slides/slide99.xml" ContentType="application/vnd.openxmlformats-officedocument.presentationml.slide+xml"/>
  <Override PartName="/ppt/slides/slide990.xml" ContentType="application/vnd.openxmlformats-officedocument.presentationml.slide+xml"/>
  <Override PartName="/ppt/slides/slide991.xml" ContentType="application/vnd.openxmlformats-officedocument.presentationml.slide+xml"/>
  <Override PartName="/ppt/slides/slide992.xml" ContentType="application/vnd.openxmlformats-officedocument.presentationml.slide+xml"/>
  <Override PartName="/ppt/slides/slide993.xml" ContentType="application/vnd.openxmlformats-officedocument.presentationml.slide+xml"/>
  <Override PartName="/ppt/slides/slide994.xml" ContentType="application/vnd.openxmlformats-officedocument.presentationml.slide+xml"/>
  <Override PartName="/ppt/slides/slide995.xml" ContentType="application/vnd.openxmlformats-officedocument.presentationml.slide+xml"/>
  <Override PartName="/ppt/slides/slide996.xml" ContentType="application/vnd.openxmlformats-officedocument.presentationml.slide+xml"/>
  <Override PartName="/ppt/slides/slide997.xml" ContentType="application/vnd.openxmlformats-officedocument.presentationml.slide+xml"/>
  <Override PartName="/ppt/slides/slide998.xml" ContentType="application/vnd.openxmlformats-officedocument.presentationml.slide+xml"/>
  <Override PartName="/ppt/slides/slide9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47"/>
  </p:notesMasterIdLst>
  <p:sldIdLst>
    <p:sldId id="256" r:id="rId2"/>
    <p:sldId id="257" r:id="rId3"/>
    <p:sldId id="258" r:id="rId4"/>
    <p:sldId id="259" r:id="rId5"/>
    <p:sldId id="269" r:id="rId6"/>
    <p:sldId id="270" r:id="rId7"/>
    <p:sldId id="271" r:id="rId8"/>
    <p:sldId id="272" r:id="rId9"/>
    <p:sldId id="273" r:id="rId10"/>
    <p:sldId id="274" r:id="rId11"/>
    <p:sldId id="275" r:id="rId12"/>
    <p:sldId id="276" r:id="rId13"/>
    <p:sldId id="277" r:id="rId14"/>
    <p:sldId id="278" r:id="rId15"/>
    <p:sldId id="279" r:id="rId16"/>
    <p:sldId id="280" r:id="rId17"/>
    <p:sldId id="281" r:id="rId18"/>
    <p:sldId id="282" r:id="rId19"/>
    <p:sldId id="283" r:id="rId20"/>
    <p:sldId id="284" r:id="rId21"/>
    <p:sldId id="285" r:id="rId22"/>
    <p:sldId id="286" r:id="rId23"/>
    <p:sldId id="287" r:id="rId24"/>
    <p:sldId id="288" r:id="rId25"/>
    <p:sldId id="289" r:id="rId26"/>
    <p:sldId id="290" r:id="rId27"/>
    <p:sldId id="291" r:id="rId28"/>
    <p:sldId id="292" r:id="rId29"/>
    <p:sldId id="293" r:id="rId30"/>
    <p:sldId id="294" r:id="rId31"/>
    <p:sldId id="295" r:id="rId32"/>
    <p:sldId id="296" r:id="rId33"/>
    <p:sldId id="297" r:id="rId34"/>
    <p:sldId id="298" r:id="rId35"/>
    <p:sldId id="299" r:id="rId36"/>
    <p:sldId id="300" r:id="rId37"/>
    <p:sldId id="301" r:id="rId38"/>
    <p:sldId id="302" r:id="rId39"/>
    <p:sldId id="303" r:id="rId40"/>
    <p:sldId id="304" r:id="rId41"/>
    <p:sldId id="305" r:id="rId42"/>
    <p:sldId id="306" r:id="rId43"/>
    <p:sldId id="307" r:id="rId44"/>
    <p:sldId id="308" r:id="rId45"/>
    <p:sldId id="309" r:id="rId46"/>
    <p:sldId id="310" r:id="rId47"/>
    <p:sldId id="311" r:id="rId48"/>
    <p:sldId id="312" r:id="rId49"/>
    <p:sldId id="313" r:id="rId50"/>
    <p:sldId id="314" r:id="rId51"/>
    <p:sldId id="315" r:id="rId52"/>
    <p:sldId id="316" r:id="rId53"/>
    <p:sldId id="317" r:id="rId54"/>
    <p:sldId id="318" r:id="rId55"/>
    <p:sldId id="319" r:id="rId56"/>
    <p:sldId id="320" r:id="rId57"/>
    <p:sldId id="321" r:id="rId58"/>
    <p:sldId id="322" r:id="rId59"/>
    <p:sldId id="323" r:id="rId60"/>
    <p:sldId id="324" r:id="rId61"/>
    <p:sldId id="325" r:id="rId62"/>
    <p:sldId id="326" r:id="rId63"/>
    <p:sldId id="327" r:id="rId64"/>
    <p:sldId id="328" r:id="rId65"/>
    <p:sldId id="329" r:id="rId66"/>
    <p:sldId id="330" r:id="rId67"/>
    <p:sldId id="331" r:id="rId68"/>
    <p:sldId id="332" r:id="rId69"/>
    <p:sldId id="333" r:id="rId70"/>
    <p:sldId id="334" r:id="rId71"/>
    <p:sldId id="335" r:id="rId72"/>
    <p:sldId id="336" r:id="rId73"/>
    <p:sldId id="337" r:id="rId74"/>
    <p:sldId id="338" r:id="rId75"/>
    <p:sldId id="339" r:id="rId76"/>
    <p:sldId id="340" r:id="rId77"/>
    <p:sldId id="341" r:id="rId78"/>
    <p:sldId id="342" r:id="rId79"/>
    <p:sldId id="343" r:id="rId80"/>
    <p:sldId id="344" r:id="rId81"/>
    <p:sldId id="345" r:id="rId82"/>
    <p:sldId id="346" r:id="rId83"/>
    <p:sldId id="347" r:id="rId84"/>
    <p:sldId id="348" r:id="rId85"/>
    <p:sldId id="349" r:id="rId86"/>
    <p:sldId id="350" r:id="rId87"/>
    <p:sldId id="351" r:id="rId88"/>
    <p:sldId id="352" r:id="rId89"/>
    <p:sldId id="353" r:id="rId90"/>
    <p:sldId id="354" r:id="rId91"/>
    <p:sldId id="355" r:id="rId92"/>
    <p:sldId id="356" r:id="rId93"/>
    <p:sldId id="357" r:id="rId94"/>
    <p:sldId id="358" r:id="rId95"/>
    <p:sldId id="359" r:id="rId96"/>
    <p:sldId id="360" r:id="rId97"/>
    <p:sldId id="361" r:id="rId98"/>
    <p:sldId id="362" r:id="rId99"/>
    <p:sldId id="363" r:id="rId100"/>
    <p:sldId id="364" r:id="rId101"/>
    <p:sldId id="365" r:id="rId102"/>
    <p:sldId id="366" r:id="rId103"/>
    <p:sldId id="367" r:id="rId104"/>
    <p:sldId id="368" r:id="rId105"/>
    <p:sldId id="369" r:id="rId106"/>
    <p:sldId id="370" r:id="rId107"/>
    <p:sldId id="371" r:id="rId108"/>
    <p:sldId id="372" r:id="rId109"/>
    <p:sldId id="373" r:id="rId110"/>
    <p:sldId id="374" r:id="rId111"/>
    <p:sldId id="375" r:id="rId112"/>
    <p:sldId id="376" r:id="rId113"/>
    <p:sldId id="377" r:id="rId114"/>
    <p:sldId id="378" r:id="rId115"/>
    <p:sldId id="379" r:id="rId116"/>
    <p:sldId id="380" r:id="rId117"/>
    <p:sldId id="381" r:id="rId118"/>
    <p:sldId id="382" r:id="rId119"/>
    <p:sldId id="383" r:id="rId120"/>
    <p:sldId id="384" r:id="rId121"/>
    <p:sldId id="385" r:id="rId122"/>
    <p:sldId id="386" r:id="rId123"/>
    <p:sldId id="387" r:id="rId124"/>
    <p:sldId id="388" r:id="rId125"/>
    <p:sldId id="389" r:id="rId126"/>
    <p:sldId id="390" r:id="rId127"/>
    <p:sldId id="391" r:id="rId128"/>
    <p:sldId id="392" r:id="rId129"/>
    <p:sldId id="393" r:id="rId130"/>
    <p:sldId id="394" r:id="rId131"/>
    <p:sldId id="395" r:id="rId132"/>
    <p:sldId id="396" r:id="rId133"/>
    <p:sldId id="397" r:id="rId134"/>
    <p:sldId id="398" r:id="rId135"/>
    <p:sldId id="399" r:id="rId136"/>
    <p:sldId id="400" r:id="rId137"/>
    <p:sldId id="401" r:id="rId138"/>
    <p:sldId id="402" r:id="rId139"/>
    <p:sldId id="403" r:id="rId140"/>
    <p:sldId id="404" r:id="rId141"/>
    <p:sldId id="405" r:id="rId142"/>
    <p:sldId id="406" r:id="rId143"/>
    <p:sldId id="407" r:id="rId144"/>
    <p:sldId id="408" r:id="rId145"/>
    <p:sldId id="409" r:id="rId146"/>
    <p:sldId id="410" r:id="rId147"/>
    <p:sldId id="411" r:id="rId148"/>
    <p:sldId id="412" r:id="rId149"/>
    <p:sldId id="413" r:id="rId150"/>
    <p:sldId id="414" r:id="rId151"/>
    <p:sldId id="415" r:id="rId152"/>
    <p:sldId id="416" r:id="rId153"/>
    <p:sldId id="417" r:id="rId154"/>
    <p:sldId id="418" r:id="rId155"/>
    <p:sldId id="419" r:id="rId156"/>
    <p:sldId id="420" r:id="rId157"/>
    <p:sldId id="421" r:id="rId158"/>
    <p:sldId id="422" r:id="rId159"/>
    <p:sldId id="423" r:id="rId160"/>
    <p:sldId id="424" r:id="rId161"/>
    <p:sldId id="425" r:id="rId162"/>
    <p:sldId id="426" r:id="rId163"/>
    <p:sldId id="427" r:id="rId164"/>
    <p:sldId id="428" r:id="rId165"/>
    <p:sldId id="429" r:id="rId166"/>
    <p:sldId id="430" r:id="rId167"/>
    <p:sldId id="431" r:id="rId168"/>
    <p:sldId id="432" r:id="rId169"/>
    <p:sldId id="433" r:id="rId170"/>
    <p:sldId id="434" r:id="rId171"/>
    <p:sldId id="435" r:id="rId172"/>
    <p:sldId id="436" r:id="rId173"/>
    <p:sldId id="437" r:id="rId174"/>
    <p:sldId id="438" r:id="rId175"/>
    <p:sldId id="439" r:id="rId176"/>
    <p:sldId id="440" r:id="rId177"/>
    <p:sldId id="441" r:id="rId178"/>
    <p:sldId id="260" r:id="rId179"/>
    <p:sldId id="442" r:id="rId180"/>
    <p:sldId id="443" r:id="rId181"/>
    <p:sldId id="444" r:id="rId182"/>
    <p:sldId id="445" r:id="rId183"/>
    <p:sldId id="446" r:id="rId184"/>
    <p:sldId id="447" r:id="rId185"/>
    <p:sldId id="448" r:id="rId186"/>
    <p:sldId id="449" r:id="rId187"/>
    <p:sldId id="450" r:id="rId188"/>
    <p:sldId id="451" r:id="rId189"/>
    <p:sldId id="452" r:id="rId190"/>
    <p:sldId id="453" r:id="rId191"/>
    <p:sldId id="454" r:id="rId192"/>
    <p:sldId id="455" r:id="rId193"/>
    <p:sldId id="456" r:id="rId194"/>
    <p:sldId id="457" r:id="rId195"/>
    <p:sldId id="458" r:id="rId196"/>
    <p:sldId id="459" r:id="rId197"/>
    <p:sldId id="460" r:id="rId198"/>
    <p:sldId id="461" r:id="rId199"/>
    <p:sldId id="462" r:id="rId200"/>
    <p:sldId id="463" r:id="rId201"/>
    <p:sldId id="464" r:id="rId202"/>
    <p:sldId id="465" r:id="rId203"/>
    <p:sldId id="466" r:id="rId204"/>
    <p:sldId id="467" r:id="rId205"/>
    <p:sldId id="468" r:id="rId206"/>
    <p:sldId id="469" r:id="rId207"/>
    <p:sldId id="470" r:id="rId208"/>
    <p:sldId id="471" r:id="rId209"/>
    <p:sldId id="472" r:id="rId210"/>
    <p:sldId id="473" r:id="rId211"/>
    <p:sldId id="474" r:id="rId212"/>
    <p:sldId id="475" r:id="rId213"/>
    <p:sldId id="476" r:id="rId214"/>
    <p:sldId id="477" r:id="rId215"/>
    <p:sldId id="478" r:id="rId216"/>
    <p:sldId id="479" r:id="rId217"/>
    <p:sldId id="480" r:id="rId218"/>
    <p:sldId id="481" r:id="rId219"/>
    <p:sldId id="482" r:id="rId220"/>
    <p:sldId id="483" r:id="rId221"/>
    <p:sldId id="484" r:id="rId222"/>
    <p:sldId id="485" r:id="rId223"/>
    <p:sldId id="486" r:id="rId224"/>
    <p:sldId id="487" r:id="rId225"/>
    <p:sldId id="488" r:id="rId226"/>
    <p:sldId id="489" r:id="rId227"/>
    <p:sldId id="490" r:id="rId228"/>
    <p:sldId id="491" r:id="rId229"/>
    <p:sldId id="492" r:id="rId230"/>
    <p:sldId id="493" r:id="rId231"/>
    <p:sldId id="494" r:id="rId232"/>
    <p:sldId id="495" r:id="rId233"/>
    <p:sldId id="496" r:id="rId234"/>
    <p:sldId id="497" r:id="rId235"/>
    <p:sldId id="498" r:id="rId236"/>
    <p:sldId id="499" r:id="rId237"/>
    <p:sldId id="500" r:id="rId238"/>
    <p:sldId id="501" r:id="rId239"/>
    <p:sldId id="502" r:id="rId240"/>
    <p:sldId id="503" r:id="rId241"/>
    <p:sldId id="504" r:id="rId242"/>
    <p:sldId id="505" r:id="rId243"/>
    <p:sldId id="506" r:id="rId244"/>
    <p:sldId id="507" r:id="rId245"/>
    <p:sldId id="508" r:id="rId246"/>
    <p:sldId id="509" r:id="rId247"/>
    <p:sldId id="510" r:id="rId248"/>
    <p:sldId id="511" r:id="rId249"/>
    <p:sldId id="512" r:id="rId250"/>
    <p:sldId id="513" r:id="rId251"/>
    <p:sldId id="514" r:id="rId252"/>
    <p:sldId id="515" r:id="rId253"/>
    <p:sldId id="516" r:id="rId254"/>
    <p:sldId id="517" r:id="rId255"/>
    <p:sldId id="518" r:id="rId256"/>
    <p:sldId id="519" r:id="rId257"/>
    <p:sldId id="520" r:id="rId258"/>
    <p:sldId id="521" r:id="rId259"/>
    <p:sldId id="522" r:id="rId260"/>
    <p:sldId id="523" r:id="rId261"/>
    <p:sldId id="524" r:id="rId262"/>
    <p:sldId id="525" r:id="rId263"/>
    <p:sldId id="526" r:id="rId264"/>
    <p:sldId id="527" r:id="rId265"/>
    <p:sldId id="528" r:id="rId266"/>
    <p:sldId id="529" r:id="rId267"/>
    <p:sldId id="530" r:id="rId268"/>
    <p:sldId id="531" r:id="rId269"/>
    <p:sldId id="532" r:id="rId270"/>
    <p:sldId id="533" r:id="rId271"/>
    <p:sldId id="534" r:id="rId272"/>
    <p:sldId id="535" r:id="rId273"/>
    <p:sldId id="536" r:id="rId274"/>
    <p:sldId id="537" r:id="rId275"/>
    <p:sldId id="538" r:id="rId276"/>
    <p:sldId id="539" r:id="rId277"/>
    <p:sldId id="540" r:id="rId278"/>
    <p:sldId id="541" r:id="rId279"/>
    <p:sldId id="542" r:id="rId280"/>
    <p:sldId id="543" r:id="rId281"/>
    <p:sldId id="544" r:id="rId282"/>
    <p:sldId id="545" r:id="rId283"/>
    <p:sldId id="546" r:id="rId284"/>
    <p:sldId id="547" r:id="rId285"/>
    <p:sldId id="548" r:id="rId286"/>
    <p:sldId id="549" r:id="rId287"/>
    <p:sldId id="550" r:id="rId288"/>
    <p:sldId id="551" r:id="rId289"/>
    <p:sldId id="552" r:id="rId290"/>
    <p:sldId id="553" r:id="rId291"/>
    <p:sldId id="554" r:id="rId292"/>
    <p:sldId id="555" r:id="rId293"/>
    <p:sldId id="556" r:id="rId294"/>
    <p:sldId id="557" r:id="rId295"/>
    <p:sldId id="558" r:id="rId296"/>
    <p:sldId id="559" r:id="rId297"/>
    <p:sldId id="560" r:id="rId298"/>
    <p:sldId id="561" r:id="rId299"/>
    <p:sldId id="562" r:id="rId300"/>
    <p:sldId id="563" r:id="rId301"/>
    <p:sldId id="564" r:id="rId302"/>
    <p:sldId id="565" r:id="rId303"/>
    <p:sldId id="566" r:id="rId304"/>
    <p:sldId id="567" r:id="rId305"/>
    <p:sldId id="568" r:id="rId306"/>
    <p:sldId id="569" r:id="rId307"/>
    <p:sldId id="570" r:id="rId308"/>
    <p:sldId id="571" r:id="rId309"/>
    <p:sldId id="572" r:id="rId310"/>
    <p:sldId id="573" r:id="rId311"/>
    <p:sldId id="574" r:id="rId312"/>
    <p:sldId id="575" r:id="rId313"/>
    <p:sldId id="576" r:id="rId314"/>
    <p:sldId id="577" r:id="rId315"/>
    <p:sldId id="578" r:id="rId316"/>
    <p:sldId id="579" r:id="rId317"/>
    <p:sldId id="580" r:id="rId318"/>
    <p:sldId id="581" r:id="rId319"/>
    <p:sldId id="582" r:id="rId320"/>
    <p:sldId id="583" r:id="rId321"/>
    <p:sldId id="584" r:id="rId322"/>
    <p:sldId id="585" r:id="rId323"/>
    <p:sldId id="586" r:id="rId324"/>
    <p:sldId id="587" r:id="rId325"/>
    <p:sldId id="588" r:id="rId326"/>
    <p:sldId id="589" r:id="rId327"/>
    <p:sldId id="590" r:id="rId328"/>
    <p:sldId id="591" r:id="rId329"/>
    <p:sldId id="592" r:id="rId330"/>
    <p:sldId id="593" r:id="rId331"/>
    <p:sldId id="594" r:id="rId332"/>
    <p:sldId id="595" r:id="rId333"/>
    <p:sldId id="596" r:id="rId334"/>
    <p:sldId id="597" r:id="rId335"/>
    <p:sldId id="598" r:id="rId336"/>
    <p:sldId id="599" r:id="rId337"/>
    <p:sldId id="600" r:id="rId338"/>
    <p:sldId id="601" r:id="rId339"/>
    <p:sldId id="602" r:id="rId340"/>
    <p:sldId id="603" r:id="rId341"/>
    <p:sldId id="604" r:id="rId342"/>
    <p:sldId id="261" r:id="rId343"/>
    <p:sldId id="605" r:id="rId344"/>
    <p:sldId id="606" r:id="rId345"/>
    <p:sldId id="607" r:id="rId346"/>
    <p:sldId id="608" r:id="rId347"/>
    <p:sldId id="609" r:id="rId348"/>
    <p:sldId id="610" r:id="rId349"/>
    <p:sldId id="611" r:id="rId350"/>
    <p:sldId id="612" r:id="rId351"/>
    <p:sldId id="613" r:id="rId352"/>
    <p:sldId id="614" r:id="rId353"/>
    <p:sldId id="615" r:id="rId354"/>
    <p:sldId id="616" r:id="rId355"/>
    <p:sldId id="617" r:id="rId356"/>
    <p:sldId id="618" r:id="rId357"/>
    <p:sldId id="619" r:id="rId358"/>
    <p:sldId id="620" r:id="rId359"/>
    <p:sldId id="621" r:id="rId360"/>
    <p:sldId id="622" r:id="rId361"/>
    <p:sldId id="623" r:id="rId362"/>
    <p:sldId id="624" r:id="rId363"/>
    <p:sldId id="625" r:id="rId364"/>
    <p:sldId id="626" r:id="rId365"/>
    <p:sldId id="627" r:id="rId366"/>
    <p:sldId id="628" r:id="rId367"/>
    <p:sldId id="629" r:id="rId368"/>
    <p:sldId id="630" r:id="rId369"/>
    <p:sldId id="631" r:id="rId370"/>
    <p:sldId id="632" r:id="rId371"/>
    <p:sldId id="633" r:id="rId372"/>
    <p:sldId id="634" r:id="rId373"/>
    <p:sldId id="635" r:id="rId374"/>
    <p:sldId id="636" r:id="rId375"/>
    <p:sldId id="637" r:id="rId376"/>
    <p:sldId id="638" r:id="rId377"/>
    <p:sldId id="639" r:id="rId378"/>
    <p:sldId id="640" r:id="rId379"/>
    <p:sldId id="641" r:id="rId380"/>
    <p:sldId id="642" r:id="rId381"/>
    <p:sldId id="643" r:id="rId382"/>
    <p:sldId id="644" r:id="rId383"/>
    <p:sldId id="645" r:id="rId384"/>
    <p:sldId id="646" r:id="rId385"/>
    <p:sldId id="647" r:id="rId386"/>
    <p:sldId id="648" r:id="rId387"/>
    <p:sldId id="649" r:id="rId388"/>
    <p:sldId id="650" r:id="rId389"/>
    <p:sldId id="651" r:id="rId390"/>
    <p:sldId id="652" r:id="rId391"/>
    <p:sldId id="653" r:id="rId392"/>
    <p:sldId id="654" r:id="rId393"/>
    <p:sldId id="655" r:id="rId394"/>
    <p:sldId id="656" r:id="rId395"/>
    <p:sldId id="657" r:id="rId396"/>
    <p:sldId id="658" r:id="rId397"/>
    <p:sldId id="659" r:id="rId398"/>
    <p:sldId id="660" r:id="rId399"/>
    <p:sldId id="661" r:id="rId400"/>
    <p:sldId id="662" r:id="rId401"/>
    <p:sldId id="663" r:id="rId402"/>
    <p:sldId id="664" r:id="rId403"/>
    <p:sldId id="665" r:id="rId404"/>
    <p:sldId id="666" r:id="rId405"/>
    <p:sldId id="667" r:id="rId406"/>
    <p:sldId id="668" r:id="rId407"/>
    <p:sldId id="669" r:id="rId408"/>
    <p:sldId id="670" r:id="rId409"/>
    <p:sldId id="671" r:id="rId410"/>
    <p:sldId id="672" r:id="rId411"/>
    <p:sldId id="673" r:id="rId412"/>
    <p:sldId id="674" r:id="rId413"/>
    <p:sldId id="675" r:id="rId414"/>
    <p:sldId id="676" r:id="rId415"/>
    <p:sldId id="677" r:id="rId416"/>
    <p:sldId id="678" r:id="rId417"/>
    <p:sldId id="679" r:id="rId418"/>
    <p:sldId id="680" r:id="rId419"/>
    <p:sldId id="681" r:id="rId420"/>
    <p:sldId id="682" r:id="rId421"/>
    <p:sldId id="683" r:id="rId422"/>
    <p:sldId id="684" r:id="rId423"/>
    <p:sldId id="685" r:id="rId424"/>
    <p:sldId id="686" r:id="rId425"/>
    <p:sldId id="687" r:id="rId426"/>
    <p:sldId id="688" r:id="rId427"/>
    <p:sldId id="689" r:id="rId428"/>
    <p:sldId id="690" r:id="rId429"/>
    <p:sldId id="691" r:id="rId430"/>
    <p:sldId id="692" r:id="rId431"/>
    <p:sldId id="693" r:id="rId432"/>
    <p:sldId id="694" r:id="rId433"/>
    <p:sldId id="695" r:id="rId434"/>
    <p:sldId id="696" r:id="rId435"/>
    <p:sldId id="697" r:id="rId436"/>
    <p:sldId id="698" r:id="rId437"/>
    <p:sldId id="699" r:id="rId438"/>
    <p:sldId id="700" r:id="rId439"/>
    <p:sldId id="701" r:id="rId440"/>
    <p:sldId id="702" r:id="rId441"/>
    <p:sldId id="703" r:id="rId442"/>
    <p:sldId id="704" r:id="rId443"/>
    <p:sldId id="705" r:id="rId444"/>
    <p:sldId id="706" r:id="rId445"/>
    <p:sldId id="707" r:id="rId446"/>
    <p:sldId id="708" r:id="rId447"/>
    <p:sldId id="709" r:id="rId448"/>
    <p:sldId id="710" r:id="rId449"/>
    <p:sldId id="711" r:id="rId450"/>
    <p:sldId id="712" r:id="rId451"/>
    <p:sldId id="713" r:id="rId452"/>
    <p:sldId id="714" r:id="rId453"/>
    <p:sldId id="715" r:id="rId454"/>
    <p:sldId id="716" r:id="rId455"/>
    <p:sldId id="717" r:id="rId456"/>
    <p:sldId id="718" r:id="rId457"/>
    <p:sldId id="719" r:id="rId458"/>
    <p:sldId id="720" r:id="rId459"/>
    <p:sldId id="721" r:id="rId460"/>
    <p:sldId id="722" r:id="rId461"/>
    <p:sldId id="723" r:id="rId462"/>
    <p:sldId id="724" r:id="rId463"/>
    <p:sldId id="725" r:id="rId464"/>
    <p:sldId id="726" r:id="rId465"/>
    <p:sldId id="727" r:id="rId466"/>
    <p:sldId id="728" r:id="rId467"/>
    <p:sldId id="729" r:id="rId468"/>
    <p:sldId id="730" r:id="rId469"/>
    <p:sldId id="731" r:id="rId470"/>
    <p:sldId id="732" r:id="rId471"/>
    <p:sldId id="733" r:id="rId472"/>
    <p:sldId id="734" r:id="rId473"/>
    <p:sldId id="735" r:id="rId474"/>
    <p:sldId id="736" r:id="rId475"/>
    <p:sldId id="737" r:id="rId476"/>
    <p:sldId id="738" r:id="rId477"/>
    <p:sldId id="739" r:id="rId478"/>
    <p:sldId id="740" r:id="rId479"/>
    <p:sldId id="741" r:id="rId480"/>
    <p:sldId id="742" r:id="rId481"/>
    <p:sldId id="743" r:id="rId482"/>
    <p:sldId id="744" r:id="rId483"/>
    <p:sldId id="745" r:id="rId484"/>
    <p:sldId id="746" r:id="rId485"/>
    <p:sldId id="747" r:id="rId486"/>
    <p:sldId id="748" r:id="rId487"/>
    <p:sldId id="749" r:id="rId488"/>
    <p:sldId id="750" r:id="rId489"/>
    <p:sldId id="751" r:id="rId490"/>
    <p:sldId id="752" r:id="rId491"/>
    <p:sldId id="753" r:id="rId492"/>
    <p:sldId id="754" r:id="rId493"/>
    <p:sldId id="755" r:id="rId494"/>
    <p:sldId id="756" r:id="rId495"/>
    <p:sldId id="757" r:id="rId496"/>
    <p:sldId id="758" r:id="rId497"/>
    <p:sldId id="759" r:id="rId498"/>
    <p:sldId id="760" r:id="rId499"/>
    <p:sldId id="761" r:id="rId500"/>
    <p:sldId id="762" r:id="rId501"/>
    <p:sldId id="763" r:id="rId502"/>
    <p:sldId id="764" r:id="rId503"/>
    <p:sldId id="765" r:id="rId504"/>
    <p:sldId id="766" r:id="rId505"/>
    <p:sldId id="767" r:id="rId506"/>
    <p:sldId id="768" r:id="rId507"/>
    <p:sldId id="769" r:id="rId508"/>
    <p:sldId id="770" r:id="rId509"/>
    <p:sldId id="771" r:id="rId510"/>
    <p:sldId id="772" r:id="rId511"/>
    <p:sldId id="773" r:id="rId512"/>
    <p:sldId id="774" r:id="rId513"/>
    <p:sldId id="775" r:id="rId514"/>
    <p:sldId id="776" r:id="rId515"/>
    <p:sldId id="777" r:id="rId516"/>
    <p:sldId id="778" r:id="rId517"/>
    <p:sldId id="779" r:id="rId518"/>
    <p:sldId id="780" r:id="rId519"/>
    <p:sldId id="781" r:id="rId520"/>
    <p:sldId id="782" r:id="rId521"/>
    <p:sldId id="783" r:id="rId522"/>
    <p:sldId id="784" r:id="rId523"/>
    <p:sldId id="262" r:id="rId524"/>
    <p:sldId id="785" r:id="rId525"/>
    <p:sldId id="786" r:id="rId526"/>
    <p:sldId id="787" r:id="rId527"/>
    <p:sldId id="788" r:id="rId528"/>
    <p:sldId id="789" r:id="rId529"/>
    <p:sldId id="790" r:id="rId530"/>
    <p:sldId id="791" r:id="rId531"/>
    <p:sldId id="792" r:id="rId532"/>
    <p:sldId id="793" r:id="rId533"/>
    <p:sldId id="794" r:id="rId534"/>
    <p:sldId id="795" r:id="rId535"/>
    <p:sldId id="796" r:id="rId536"/>
    <p:sldId id="797" r:id="rId537"/>
    <p:sldId id="798" r:id="rId538"/>
    <p:sldId id="799" r:id="rId539"/>
    <p:sldId id="800" r:id="rId540"/>
    <p:sldId id="801" r:id="rId541"/>
    <p:sldId id="802" r:id="rId542"/>
    <p:sldId id="803" r:id="rId543"/>
    <p:sldId id="804" r:id="rId544"/>
    <p:sldId id="805" r:id="rId545"/>
    <p:sldId id="806" r:id="rId546"/>
    <p:sldId id="807" r:id="rId547"/>
    <p:sldId id="808" r:id="rId548"/>
    <p:sldId id="809" r:id="rId549"/>
    <p:sldId id="810" r:id="rId550"/>
    <p:sldId id="811" r:id="rId551"/>
    <p:sldId id="812" r:id="rId552"/>
    <p:sldId id="813" r:id="rId553"/>
    <p:sldId id="814" r:id="rId554"/>
    <p:sldId id="815" r:id="rId555"/>
    <p:sldId id="816" r:id="rId556"/>
    <p:sldId id="817" r:id="rId557"/>
    <p:sldId id="818" r:id="rId558"/>
    <p:sldId id="819" r:id="rId559"/>
    <p:sldId id="820" r:id="rId560"/>
    <p:sldId id="821" r:id="rId561"/>
    <p:sldId id="822" r:id="rId562"/>
    <p:sldId id="823" r:id="rId563"/>
    <p:sldId id="824" r:id="rId564"/>
    <p:sldId id="825" r:id="rId565"/>
    <p:sldId id="826" r:id="rId566"/>
    <p:sldId id="827" r:id="rId567"/>
    <p:sldId id="828" r:id="rId568"/>
    <p:sldId id="829" r:id="rId569"/>
    <p:sldId id="830" r:id="rId570"/>
    <p:sldId id="831" r:id="rId571"/>
    <p:sldId id="832" r:id="rId572"/>
    <p:sldId id="833" r:id="rId573"/>
    <p:sldId id="834" r:id="rId574"/>
    <p:sldId id="835" r:id="rId575"/>
    <p:sldId id="836" r:id="rId576"/>
    <p:sldId id="837" r:id="rId577"/>
    <p:sldId id="838" r:id="rId578"/>
    <p:sldId id="839" r:id="rId579"/>
    <p:sldId id="840" r:id="rId580"/>
    <p:sldId id="841" r:id="rId581"/>
    <p:sldId id="842" r:id="rId582"/>
    <p:sldId id="843" r:id="rId583"/>
    <p:sldId id="844" r:id="rId584"/>
    <p:sldId id="845" r:id="rId585"/>
    <p:sldId id="846" r:id="rId586"/>
    <p:sldId id="847" r:id="rId587"/>
    <p:sldId id="848" r:id="rId588"/>
    <p:sldId id="849" r:id="rId589"/>
    <p:sldId id="850" r:id="rId590"/>
    <p:sldId id="851" r:id="rId591"/>
    <p:sldId id="852" r:id="rId592"/>
    <p:sldId id="853" r:id="rId593"/>
    <p:sldId id="854" r:id="rId594"/>
    <p:sldId id="855" r:id="rId595"/>
    <p:sldId id="856" r:id="rId596"/>
    <p:sldId id="857" r:id="rId597"/>
    <p:sldId id="858" r:id="rId598"/>
    <p:sldId id="859" r:id="rId599"/>
    <p:sldId id="860" r:id="rId600"/>
    <p:sldId id="861" r:id="rId601"/>
    <p:sldId id="862" r:id="rId602"/>
    <p:sldId id="863" r:id="rId603"/>
    <p:sldId id="864" r:id="rId604"/>
    <p:sldId id="865" r:id="rId605"/>
    <p:sldId id="866" r:id="rId606"/>
    <p:sldId id="867" r:id="rId607"/>
    <p:sldId id="263" r:id="rId608"/>
    <p:sldId id="868" r:id="rId609"/>
    <p:sldId id="869" r:id="rId610"/>
    <p:sldId id="870" r:id="rId611"/>
    <p:sldId id="871" r:id="rId612"/>
    <p:sldId id="872" r:id="rId613"/>
    <p:sldId id="873" r:id="rId614"/>
    <p:sldId id="874" r:id="rId615"/>
    <p:sldId id="875" r:id="rId616"/>
    <p:sldId id="876" r:id="rId617"/>
    <p:sldId id="877" r:id="rId618"/>
    <p:sldId id="878" r:id="rId619"/>
    <p:sldId id="879" r:id="rId620"/>
    <p:sldId id="880" r:id="rId621"/>
    <p:sldId id="881" r:id="rId622"/>
    <p:sldId id="882" r:id="rId623"/>
    <p:sldId id="883" r:id="rId624"/>
    <p:sldId id="884" r:id="rId625"/>
    <p:sldId id="885" r:id="rId626"/>
    <p:sldId id="886" r:id="rId627"/>
    <p:sldId id="887" r:id="rId628"/>
    <p:sldId id="888" r:id="rId629"/>
    <p:sldId id="889" r:id="rId630"/>
    <p:sldId id="890" r:id="rId631"/>
    <p:sldId id="891" r:id="rId632"/>
    <p:sldId id="892" r:id="rId633"/>
    <p:sldId id="893" r:id="rId634"/>
    <p:sldId id="894" r:id="rId635"/>
    <p:sldId id="895" r:id="rId636"/>
    <p:sldId id="896" r:id="rId637"/>
    <p:sldId id="897" r:id="rId638"/>
    <p:sldId id="898" r:id="rId639"/>
    <p:sldId id="899" r:id="rId640"/>
    <p:sldId id="900" r:id="rId641"/>
    <p:sldId id="901" r:id="rId642"/>
    <p:sldId id="902" r:id="rId643"/>
    <p:sldId id="903" r:id="rId644"/>
    <p:sldId id="904" r:id="rId645"/>
    <p:sldId id="905" r:id="rId646"/>
    <p:sldId id="906" r:id="rId647"/>
    <p:sldId id="907" r:id="rId648"/>
    <p:sldId id="908" r:id="rId649"/>
    <p:sldId id="909" r:id="rId650"/>
    <p:sldId id="910" r:id="rId651"/>
    <p:sldId id="911" r:id="rId652"/>
    <p:sldId id="912" r:id="rId653"/>
    <p:sldId id="913" r:id="rId654"/>
    <p:sldId id="914" r:id="rId655"/>
    <p:sldId id="915" r:id="rId656"/>
    <p:sldId id="916" r:id="rId657"/>
    <p:sldId id="917" r:id="rId658"/>
    <p:sldId id="918" r:id="rId659"/>
    <p:sldId id="919" r:id="rId660"/>
    <p:sldId id="920" r:id="rId661"/>
    <p:sldId id="921" r:id="rId662"/>
    <p:sldId id="922" r:id="rId663"/>
    <p:sldId id="923" r:id="rId664"/>
    <p:sldId id="924" r:id="rId665"/>
    <p:sldId id="925" r:id="rId666"/>
    <p:sldId id="926" r:id="rId667"/>
    <p:sldId id="927" r:id="rId668"/>
    <p:sldId id="928" r:id="rId669"/>
    <p:sldId id="929" r:id="rId670"/>
    <p:sldId id="930" r:id="rId671"/>
    <p:sldId id="931" r:id="rId672"/>
    <p:sldId id="932" r:id="rId673"/>
    <p:sldId id="933" r:id="rId674"/>
    <p:sldId id="934" r:id="rId675"/>
    <p:sldId id="935" r:id="rId676"/>
    <p:sldId id="936" r:id="rId677"/>
    <p:sldId id="937" r:id="rId678"/>
    <p:sldId id="938" r:id="rId679"/>
    <p:sldId id="939" r:id="rId680"/>
    <p:sldId id="940" r:id="rId681"/>
    <p:sldId id="941" r:id="rId682"/>
    <p:sldId id="942" r:id="rId683"/>
    <p:sldId id="943" r:id="rId684"/>
    <p:sldId id="944" r:id="rId685"/>
    <p:sldId id="945" r:id="rId686"/>
    <p:sldId id="946" r:id="rId687"/>
    <p:sldId id="947" r:id="rId688"/>
    <p:sldId id="948" r:id="rId689"/>
    <p:sldId id="949" r:id="rId690"/>
    <p:sldId id="950" r:id="rId691"/>
    <p:sldId id="951" r:id="rId692"/>
    <p:sldId id="952" r:id="rId693"/>
    <p:sldId id="953" r:id="rId694"/>
    <p:sldId id="954" r:id="rId695"/>
    <p:sldId id="955" r:id="rId696"/>
    <p:sldId id="956" r:id="rId697"/>
    <p:sldId id="957" r:id="rId698"/>
    <p:sldId id="958" r:id="rId699"/>
    <p:sldId id="959" r:id="rId700"/>
    <p:sldId id="960" r:id="rId701"/>
    <p:sldId id="961" r:id="rId702"/>
    <p:sldId id="962" r:id="rId703"/>
    <p:sldId id="963" r:id="rId704"/>
    <p:sldId id="964" r:id="rId705"/>
    <p:sldId id="965" r:id="rId706"/>
    <p:sldId id="966" r:id="rId707"/>
    <p:sldId id="967" r:id="rId708"/>
    <p:sldId id="968" r:id="rId709"/>
    <p:sldId id="969" r:id="rId710"/>
    <p:sldId id="970" r:id="rId711"/>
    <p:sldId id="971" r:id="rId712"/>
    <p:sldId id="972" r:id="rId713"/>
    <p:sldId id="973" r:id="rId714"/>
    <p:sldId id="974" r:id="rId715"/>
    <p:sldId id="975" r:id="rId716"/>
    <p:sldId id="976" r:id="rId717"/>
    <p:sldId id="977" r:id="rId718"/>
    <p:sldId id="978" r:id="rId719"/>
    <p:sldId id="979" r:id="rId720"/>
    <p:sldId id="980" r:id="rId721"/>
    <p:sldId id="981" r:id="rId722"/>
    <p:sldId id="982" r:id="rId723"/>
    <p:sldId id="983" r:id="rId724"/>
    <p:sldId id="984" r:id="rId725"/>
    <p:sldId id="985" r:id="rId726"/>
    <p:sldId id="986" r:id="rId727"/>
    <p:sldId id="987" r:id="rId728"/>
    <p:sldId id="988" r:id="rId729"/>
    <p:sldId id="989" r:id="rId730"/>
    <p:sldId id="990" r:id="rId731"/>
    <p:sldId id="991" r:id="rId732"/>
    <p:sldId id="992" r:id="rId733"/>
    <p:sldId id="993" r:id="rId734"/>
    <p:sldId id="994" r:id="rId735"/>
    <p:sldId id="995" r:id="rId736"/>
    <p:sldId id="996" r:id="rId737"/>
    <p:sldId id="997" r:id="rId738"/>
    <p:sldId id="998" r:id="rId739"/>
    <p:sldId id="999" r:id="rId740"/>
    <p:sldId id="1000" r:id="rId741"/>
    <p:sldId id="1001" r:id="rId742"/>
    <p:sldId id="1002" r:id="rId743"/>
    <p:sldId id="1003" r:id="rId744"/>
    <p:sldId id="1004" r:id="rId745"/>
    <p:sldId id="1005" r:id="rId746"/>
    <p:sldId id="1006" r:id="rId747"/>
    <p:sldId id="1007" r:id="rId748"/>
    <p:sldId id="1008" r:id="rId749"/>
    <p:sldId id="1009" r:id="rId750"/>
    <p:sldId id="1010" r:id="rId751"/>
    <p:sldId id="1011" r:id="rId752"/>
    <p:sldId id="1012" r:id="rId753"/>
    <p:sldId id="1013" r:id="rId754"/>
    <p:sldId id="1014" r:id="rId755"/>
    <p:sldId id="1015" r:id="rId756"/>
    <p:sldId id="1016" r:id="rId757"/>
    <p:sldId id="1017" r:id="rId758"/>
    <p:sldId id="1018" r:id="rId759"/>
    <p:sldId id="1019" r:id="rId760"/>
    <p:sldId id="1020" r:id="rId761"/>
    <p:sldId id="1021" r:id="rId762"/>
    <p:sldId id="1022" r:id="rId763"/>
    <p:sldId id="264" r:id="rId764"/>
    <p:sldId id="1023" r:id="rId765"/>
    <p:sldId id="1024" r:id="rId766"/>
    <p:sldId id="1025" r:id="rId767"/>
    <p:sldId id="1026" r:id="rId768"/>
    <p:sldId id="1027" r:id="rId769"/>
    <p:sldId id="1028" r:id="rId770"/>
    <p:sldId id="1029" r:id="rId771"/>
    <p:sldId id="1030" r:id="rId772"/>
    <p:sldId id="1031" r:id="rId773"/>
    <p:sldId id="1032" r:id="rId774"/>
    <p:sldId id="1033" r:id="rId775"/>
    <p:sldId id="1034" r:id="rId776"/>
    <p:sldId id="1035" r:id="rId777"/>
    <p:sldId id="1036" r:id="rId778"/>
    <p:sldId id="1037" r:id="rId779"/>
    <p:sldId id="1038" r:id="rId780"/>
    <p:sldId id="1039" r:id="rId781"/>
    <p:sldId id="1040" r:id="rId782"/>
    <p:sldId id="1041" r:id="rId783"/>
    <p:sldId id="1042" r:id="rId784"/>
    <p:sldId id="1043" r:id="rId785"/>
    <p:sldId id="1044" r:id="rId786"/>
    <p:sldId id="1045" r:id="rId787"/>
    <p:sldId id="1046" r:id="rId788"/>
    <p:sldId id="1047" r:id="rId789"/>
    <p:sldId id="1048" r:id="rId790"/>
    <p:sldId id="1049" r:id="rId791"/>
    <p:sldId id="1050" r:id="rId792"/>
    <p:sldId id="1051" r:id="rId793"/>
    <p:sldId id="1052" r:id="rId794"/>
    <p:sldId id="1053" r:id="rId795"/>
    <p:sldId id="1054" r:id="rId796"/>
    <p:sldId id="1055" r:id="rId797"/>
    <p:sldId id="1056" r:id="rId798"/>
    <p:sldId id="1057" r:id="rId799"/>
    <p:sldId id="1058" r:id="rId800"/>
    <p:sldId id="1059" r:id="rId801"/>
    <p:sldId id="1060" r:id="rId802"/>
    <p:sldId id="1061" r:id="rId803"/>
    <p:sldId id="1062" r:id="rId804"/>
    <p:sldId id="1063" r:id="rId805"/>
    <p:sldId id="1064" r:id="rId806"/>
    <p:sldId id="1065" r:id="rId807"/>
    <p:sldId id="1066" r:id="rId808"/>
    <p:sldId id="1067" r:id="rId809"/>
    <p:sldId id="1068" r:id="rId810"/>
    <p:sldId id="1069" r:id="rId811"/>
    <p:sldId id="1070" r:id="rId812"/>
    <p:sldId id="1071" r:id="rId813"/>
    <p:sldId id="1072" r:id="rId814"/>
    <p:sldId id="1073" r:id="rId815"/>
    <p:sldId id="1074" r:id="rId816"/>
    <p:sldId id="1075" r:id="rId817"/>
    <p:sldId id="1076" r:id="rId818"/>
    <p:sldId id="1077" r:id="rId819"/>
    <p:sldId id="1078" r:id="rId820"/>
    <p:sldId id="1079" r:id="rId821"/>
    <p:sldId id="1080" r:id="rId822"/>
    <p:sldId id="1081" r:id="rId823"/>
    <p:sldId id="1082" r:id="rId824"/>
    <p:sldId id="1083" r:id="rId825"/>
    <p:sldId id="1084" r:id="rId826"/>
    <p:sldId id="1085" r:id="rId827"/>
    <p:sldId id="1086" r:id="rId828"/>
    <p:sldId id="1087" r:id="rId829"/>
    <p:sldId id="1088" r:id="rId830"/>
    <p:sldId id="1089" r:id="rId831"/>
    <p:sldId id="1090" r:id="rId832"/>
    <p:sldId id="1091" r:id="rId833"/>
    <p:sldId id="1092" r:id="rId834"/>
    <p:sldId id="1093" r:id="rId835"/>
    <p:sldId id="1094" r:id="rId836"/>
    <p:sldId id="1095" r:id="rId837"/>
    <p:sldId id="1096" r:id="rId838"/>
    <p:sldId id="1097" r:id="rId839"/>
    <p:sldId id="1098" r:id="rId840"/>
    <p:sldId id="1099" r:id="rId841"/>
    <p:sldId id="1100" r:id="rId842"/>
    <p:sldId id="1101" r:id="rId843"/>
    <p:sldId id="1102" r:id="rId844"/>
    <p:sldId id="1103" r:id="rId845"/>
    <p:sldId id="1104" r:id="rId846"/>
    <p:sldId id="1105" r:id="rId847"/>
    <p:sldId id="1106" r:id="rId848"/>
    <p:sldId id="1107" r:id="rId849"/>
    <p:sldId id="1108" r:id="rId850"/>
    <p:sldId id="1109" r:id="rId851"/>
    <p:sldId id="1110" r:id="rId852"/>
    <p:sldId id="1111" r:id="rId853"/>
    <p:sldId id="1112" r:id="rId854"/>
    <p:sldId id="1113" r:id="rId855"/>
    <p:sldId id="1114" r:id="rId856"/>
    <p:sldId id="1115" r:id="rId857"/>
    <p:sldId id="1116" r:id="rId858"/>
    <p:sldId id="1117" r:id="rId859"/>
    <p:sldId id="1118" r:id="rId860"/>
    <p:sldId id="1119" r:id="rId861"/>
    <p:sldId id="1120" r:id="rId862"/>
    <p:sldId id="1121" r:id="rId863"/>
    <p:sldId id="1122" r:id="rId864"/>
    <p:sldId id="1123" r:id="rId865"/>
    <p:sldId id="1124" r:id="rId866"/>
    <p:sldId id="1125" r:id="rId867"/>
    <p:sldId id="1126" r:id="rId868"/>
    <p:sldId id="1127" r:id="rId869"/>
    <p:sldId id="1128" r:id="rId870"/>
    <p:sldId id="265" r:id="rId871"/>
    <p:sldId id="1129" r:id="rId872"/>
    <p:sldId id="1130" r:id="rId873"/>
    <p:sldId id="1131" r:id="rId874"/>
    <p:sldId id="1132" r:id="rId875"/>
    <p:sldId id="1133" r:id="rId876"/>
    <p:sldId id="1134" r:id="rId877"/>
    <p:sldId id="1135" r:id="rId878"/>
    <p:sldId id="1136" r:id="rId879"/>
    <p:sldId id="1137" r:id="rId880"/>
    <p:sldId id="1138" r:id="rId881"/>
    <p:sldId id="1139" r:id="rId882"/>
    <p:sldId id="1140" r:id="rId883"/>
    <p:sldId id="1141" r:id="rId884"/>
    <p:sldId id="1142" r:id="rId885"/>
    <p:sldId id="1143" r:id="rId886"/>
    <p:sldId id="1144" r:id="rId887"/>
    <p:sldId id="1145" r:id="rId888"/>
    <p:sldId id="1146" r:id="rId889"/>
    <p:sldId id="1147" r:id="rId890"/>
    <p:sldId id="1148" r:id="rId891"/>
    <p:sldId id="1149" r:id="rId892"/>
    <p:sldId id="1150" r:id="rId893"/>
    <p:sldId id="1151" r:id="rId894"/>
    <p:sldId id="1152" r:id="rId895"/>
    <p:sldId id="1153" r:id="rId896"/>
    <p:sldId id="1154" r:id="rId897"/>
    <p:sldId id="1155" r:id="rId898"/>
    <p:sldId id="1156" r:id="rId899"/>
    <p:sldId id="1157" r:id="rId900"/>
    <p:sldId id="1158" r:id="rId901"/>
    <p:sldId id="1159" r:id="rId902"/>
    <p:sldId id="1160" r:id="rId903"/>
    <p:sldId id="1161" r:id="rId904"/>
    <p:sldId id="1162" r:id="rId905"/>
    <p:sldId id="1163" r:id="rId906"/>
    <p:sldId id="1164" r:id="rId907"/>
    <p:sldId id="1165" r:id="rId908"/>
    <p:sldId id="1166" r:id="rId909"/>
    <p:sldId id="1167" r:id="rId910"/>
    <p:sldId id="1168" r:id="rId911"/>
    <p:sldId id="1169" r:id="rId912"/>
    <p:sldId id="1170" r:id="rId913"/>
    <p:sldId id="1171" r:id="rId914"/>
    <p:sldId id="1172" r:id="rId915"/>
    <p:sldId id="1173" r:id="rId916"/>
    <p:sldId id="1174" r:id="rId917"/>
    <p:sldId id="1175" r:id="rId918"/>
    <p:sldId id="1176" r:id="rId919"/>
    <p:sldId id="1177" r:id="rId920"/>
    <p:sldId id="1178" r:id="rId921"/>
    <p:sldId id="1179" r:id="rId922"/>
    <p:sldId id="1180" r:id="rId923"/>
    <p:sldId id="1181" r:id="rId924"/>
    <p:sldId id="1182" r:id="rId925"/>
    <p:sldId id="1183" r:id="rId926"/>
    <p:sldId id="1184" r:id="rId927"/>
    <p:sldId id="1185" r:id="rId928"/>
    <p:sldId id="1186" r:id="rId929"/>
    <p:sldId id="1187" r:id="rId930"/>
    <p:sldId id="1188" r:id="rId931"/>
    <p:sldId id="1189" r:id="rId932"/>
    <p:sldId id="1190" r:id="rId933"/>
    <p:sldId id="1191" r:id="rId934"/>
    <p:sldId id="1192" r:id="rId935"/>
    <p:sldId id="1193" r:id="rId936"/>
    <p:sldId id="1194" r:id="rId937"/>
    <p:sldId id="1195" r:id="rId938"/>
    <p:sldId id="1196" r:id="rId939"/>
    <p:sldId id="1197" r:id="rId940"/>
    <p:sldId id="1198" r:id="rId941"/>
    <p:sldId id="1199" r:id="rId942"/>
    <p:sldId id="1200" r:id="rId943"/>
    <p:sldId id="1201" r:id="rId944"/>
    <p:sldId id="1202" r:id="rId945"/>
    <p:sldId id="1203" r:id="rId946"/>
    <p:sldId id="1204" r:id="rId947"/>
    <p:sldId id="1205" r:id="rId948"/>
    <p:sldId id="1206" r:id="rId949"/>
    <p:sldId id="1207" r:id="rId950"/>
    <p:sldId id="1208" r:id="rId951"/>
    <p:sldId id="1209" r:id="rId952"/>
    <p:sldId id="1210" r:id="rId953"/>
    <p:sldId id="1211" r:id="rId954"/>
    <p:sldId id="1212" r:id="rId955"/>
    <p:sldId id="1213" r:id="rId956"/>
    <p:sldId id="1214" r:id="rId957"/>
    <p:sldId id="1215" r:id="rId958"/>
    <p:sldId id="1216" r:id="rId959"/>
    <p:sldId id="1217" r:id="rId960"/>
    <p:sldId id="1218" r:id="rId961"/>
    <p:sldId id="1219" r:id="rId962"/>
    <p:sldId id="1220" r:id="rId963"/>
    <p:sldId id="1221" r:id="rId964"/>
    <p:sldId id="1222" r:id="rId965"/>
    <p:sldId id="1223" r:id="rId966"/>
    <p:sldId id="1224" r:id="rId967"/>
    <p:sldId id="1225" r:id="rId968"/>
    <p:sldId id="1226" r:id="rId969"/>
    <p:sldId id="1227" r:id="rId970"/>
    <p:sldId id="1228" r:id="rId971"/>
    <p:sldId id="1229" r:id="rId972"/>
    <p:sldId id="1230" r:id="rId973"/>
    <p:sldId id="1231" r:id="rId974"/>
    <p:sldId id="1232" r:id="rId975"/>
    <p:sldId id="1233" r:id="rId976"/>
    <p:sldId id="1234" r:id="rId977"/>
    <p:sldId id="1235" r:id="rId978"/>
    <p:sldId id="1236" r:id="rId979"/>
    <p:sldId id="1237" r:id="rId980"/>
    <p:sldId id="1238" r:id="rId981"/>
    <p:sldId id="1239" r:id="rId982"/>
    <p:sldId id="1240" r:id="rId983"/>
    <p:sldId id="1241" r:id="rId984"/>
    <p:sldId id="1242" r:id="rId985"/>
    <p:sldId id="1243" r:id="rId986"/>
    <p:sldId id="1244" r:id="rId987"/>
    <p:sldId id="1245" r:id="rId988"/>
    <p:sldId id="1246" r:id="rId989"/>
    <p:sldId id="1247" r:id="rId990"/>
    <p:sldId id="1248" r:id="rId991"/>
    <p:sldId id="1249" r:id="rId992"/>
    <p:sldId id="1250" r:id="rId993"/>
    <p:sldId id="1251" r:id="rId994"/>
    <p:sldId id="1252" r:id="rId995"/>
    <p:sldId id="1253" r:id="rId996"/>
    <p:sldId id="1254" r:id="rId997"/>
    <p:sldId id="1255" r:id="rId998"/>
    <p:sldId id="1256" r:id="rId999"/>
    <p:sldId id="1257" r:id="rId1000"/>
    <p:sldId id="1258" r:id="rId1001"/>
    <p:sldId id="1259" r:id="rId1002"/>
    <p:sldId id="1260" r:id="rId1003"/>
    <p:sldId id="1261" r:id="rId1004"/>
    <p:sldId id="1262" r:id="rId1005"/>
    <p:sldId id="1263" r:id="rId1006"/>
    <p:sldId id="1264" r:id="rId1007"/>
    <p:sldId id="1265" r:id="rId1008"/>
    <p:sldId id="1266" r:id="rId1009"/>
    <p:sldId id="1267" r:id="rId1010"/>
    <p:sldId id="1268" r:id="rId1011"/>
    <p:sldId id="1269" r:id="rId1012"/>
    <p:sldId id="1270" r:id="rId1013"/>
    <p:sldId id="1271" r:id="rId1014"/>
    <p:sldId id="266" r:id="rId1015"/>
    <p:sldId id="1272" r:id="rId1016"/>
    <p:sldId id="1273" r:id="rId1017"/>
    <p:sldId id="1274" r:id="rId1018"/>
    <p:sldId id="1275" r:id="rId1019"/>
    <p:sldId id="1276" r:id="rId1020"/>
    <p:sldId id="1277" r:id="rId1021"/>
    <p:sldId id="1278" r:id="rId1022"/>
    <p:sldId id="1279" r:id="rId1023"/>
    <p:sldId id="1280" r:id="rId1024"/>
    <p:sldId id="1281" r:id="rId1025"/>
    <p:sldId id="1282" r:id="rId1026"/>
    <p:sldId id="1283" r:id="rId1027"/>
    <p:sldId id="1284" r:id="rId1028"/>
    <p:sldId id="1285" r:id="rId1029"/>
    <p:sldId id="1286" r:id="rId1030"/>
    <p:sldId id="1287" r:id="rId1031"/>
    <p:sldId id="1288" r:id="rId1032"/>
    <p:sldId id="1289" r:id="rId1033"/>
    <p:sldId id="1290" r:id="rId1034"/>
    <p:sldId id="1291" r:id="rId1035"/>
    <p:sldId id="1292" r:id="rId1036"/>
    <p:sldId id="1293" r:id="rId1037"/>
    <p:sldId id="1294" r:id="rId1038"/>
    <p:sldId id="1295" r:id="rId1039"/>
    <p:sldId id="1296" r:id="rId1040"/>
    <p:sldId id="1297" r:id="rId1041"/>
    <p:sldId id="1298" r:id="rId1042"/>
    <p:sldId id="1299" r:id="rId1043"/>
    <p:sldId id="1300" r:id="rId1044"/>
    <p:sldId id="1301" r:id="rId1045"/>
    <p:sldId id="1302" r:id="rId1046"/>
    <p:sldId id="1303" r:id="rId1047"/>
    <p:sldId id="1304" r:id="rId1048"/>
    <p:sldId id="1305" r:id="rId1049"/>
    <p:sldId id="1306" r:id="rId1050"/>
    <p:sldId id="1307" r:id="rId1051"/>
    <p:sldId id="1308" r:id="rId1052"/>
    <p:sldId id="1309" r:id="rId1053"/>
    <p:sldId id="1310" r:id="rId1054"/>
    <p:sldId id="1311" r:id="rId1055"/>
    <p:sldId id="1312" r:id="rId1056"/>
    <p:sldId id="1313" r:id="rId1057"/>
    <p:sldId id="1314" r:id="rId1058"/>
    <p:sldId id="1315" r:id="rId1059"/>
    <p:sldId id="1316" r:id="rId1060"/>
    <p:sldId id="1317" r:id="rId1061"/>
    <p:sldId id="1318" r:id="rId1062"/>
    <p:sldId id="1319" r:id="rId1063"/>
    <p:sldId id="1320" r:id="rId1064"/>
    <p:sldId id="1321" r:id="rId1065"/>
    <p:sldId id="1322" r:id="rId1066"/>
    <p:sldId id="1323" r:id="rId1067"/>
    <p:sldId id="1324" r:id="rId1068"/>
    <p:sldId id="1325" r:id="rId1069"/>
    <p:sldId id="1326" r:id="rId1070"/>
    <p:sldId id="1327" r:id="rId1071"/>
    <p:sldId id="1328" r:id="rId1072"/>
    <p:sldId id="1329" r:id="rId1073"/>
    <p:sldId id="1330" r:id="rId1074"/>
    <p:sldId id="1331" r:id="rId1075"/>
    <p:sldId id="1332" r:id="rId1076"/>
    <p:sldId id="1333" r:id="rId1077"/>
    <p:sldId id="1334" r:id="rId1078"/>
    <p:sldId id="1335" r:id="rId1079"/>
    <p:sldId id="1336" r:id="rId1080"/>
    <p:sldId id="1337" r:id="rId1081"/>
    <p:sldId id="1338" r:id="rId1082"/>
    <p:sldId id="1339" r:id="rId1083"/>
    <p:sldId id="1340" r:id="rId1084"/>
    <p:sldId id="1341" r:id="rId1085"/>
    <p:sldId id="1342" r:id="rId1086"/>
    <p:sldId id="1343" r:id="rId1087"/>
    <p:sldId id="1344" r:id="rId1088"/>
    <p:sldId id="1345" r:id="rId1089"/>
    <p:sldId id="1346" r:id="rId1090"/>
    <p:sldId id="1347" r:id="rId1091"/>
    <p:sldId id="1348" r:id="rId1092"/>
    <p:sldId id="1349" r:id="rId1093"/>
    <p:sldId id="1350" r:id="rId1094"/>
    <p:sldId id="1351" r:id="rId1095"/>
    <p:sldId id="1352" r:id="rId1096"/>
    <p:sldId id="1353" r:id="rId1097"/>
    <p:sldId id="1354" r:id="rId1098"/>
    <p:sldId id="1355" r:id="rId1099"/>
    <p:sldId id="1356" r:id="rId1100"/>
    <p:sldId id="1357" r:id="rId1101"/>
    <p:sldId id="1358" r:id="rId1102"/>
    <p:sldId id="1359" r:id="rId1103"/>
    <p:sldId id="1360" r:id="rId1104"/>
    <p:sldId id="1361" r:id="rId1105"/>
    <p:sldId id="1362" r:id="rId1106"/>
    <p:sldId id="1363" r:id="rId1107"/>
    <p:sldId id="1364" r:id="rId1108"/>
    <p:sldId id="1365" r:id="rId1109"/>
    <p:sldId id="1366" r:id="rId1110"/>
    <p:sldId id="1367" r:id="rId1111"/>
    <p:sldId id="1368" r:id="rId1112"/>
    <p:sldId id="1369" r:id="rId1113"/>
    <p:sldId id="1370" r:id="rId1114"/>
    <p:sldId id="1371" r:id="rId1115"/>
    <p:sldId id="1372" r:id="rId1116"/>
    <p:sldId id="1373" r:id="rId1117"/>
    <p:sldId id="1374" r:id="rId1118"/>
    <p:sldId id="1375" r:id="rId1119"/>
    <p:sldId id="1376" r:id="rId1120"/>
    <p:sldId id="1377" r:id="rId1121"/>
    <p:sldId id="1378" r:id="rId1122"/>
    <p:sldId id="1379" r:id="rId1123"/>
    <p:sldId id="1380" r:id="rId1124"/>
    <p:sldId id="1381" r:id="rId1125"/>
    <p:sldId id="1382" r:id="rId1126"/>
    <p:sldId id="1383" r:id="rId1127"/>
    <p:sldId id="1384" r:id="rId1128"/>
    <p:sldId id="1385" r:id="rId1129"/>
    <p:sldId id="1386" r:id="rId1130"/>
    <p:sldId id="1387" r:id="rId1131"/>
    <p:sldId id="1388" r:id="rId1132"/>
    <p:sldId id="1389" r:id="rId1133"/>
    <p:sldId id="1390" r:id="rId1134"/>
    <p:sldId id="1391" r:id="rId1135"/>
    <p:sldId id="1392" r:id="rId1136"/>
    <p:sldId id="1393" r:id="rId1137"/>
    <p:sldId id="1394" r:id="rId1138"/>
    <p:sldId id="1395" r:id="rId1139"/>
    <p:sldId id="1396" r:id="rId1140"/>
    <p:sldId id="1397" r:id="rId1141"/>
    <p:sldId id="1398" r:id="rId1142"/>
    <p:sldId id="1399" r:id="rId1143"/>
    <p:sldId id="1400" r:id="rId1144"/>
    <p:sldId id="1401" r:id="rId1145"/>
    <p:sldId id="1402" r:id="rId1146"/>
    <p:sldId id="1403" r:id="rId1147"/>
    <p:sldId id="1404" r:id="rId1148"/>
    <p:sldId id="1405" r:id="rId1149"/>
    <p:sldId id="1406" r:id="rId1150"/>
    <p:sldId id="1407" r:id="rId1151"/>
    <p:sldId id="1408" r:id="rId1152"/>
    <p:sldId id="1409" r:id="rId1153"/>
    <p:sldId id="1410" r:id="rId1154"/>
    <p:sldId id="1411" r:id="rId1155"/>
    <p:sldId id="1412" r:id="rId1156"/>
    <p:sldId id="1413" r:id="rId1157"/>
    <p:sldId id="1414" r:id="rId1158"/>
    <p:sldId id="1415" r:id="rId1159"/>
    <p:sldId id="1416" r:id="rId1160"/>
    <p:sldId id="1417" r:id="rId1161"/>
    <p:sldId id="1418" r:id="rId1162"/>
    <p:sldId id="1419" r:id="rId1163"/>
    <p:sldId id="1420" r:id="rId1164"/>
    <p:sldId id="267" r:id="rId1165"/>
    <p:sldId id="1421" r:id="rId1166"/>
    <p:sldId id="1422" r:id="rId1167"/>
    <p:sldId id="1423" r:id="rId1168"/>
    <p:sldId id="1424" r:id="rId1169"/>
    <p:sldId id="1425" r:id="rId1170"/>
    <p:sldId id="1426" r:id="rId1171"/>
    <p:sldId id="1427" r:id="rId1172"/>
    <p:sldId id="1428" r:id="rId1173"/>
    <p:sldId id="1429" r:id="rId1174"/>
    <p:sldId id="1430" r:id="rId1175"/>
    <p:sldId id="1431" r:id="rId1176"/>
    <p:sldId id="1432" r:id="rId1177"/>
    <p:sldId id="1433" r:id="rId1178"/>
    <p:sldId id="1434" r:id="rId1179"/>
    <p:sldId id="1435" r:id="rId1180"/>
    <p:sldId id="1436" r:id="rId1181"/>
    <p:sldId id="1437" r:id="rId1182"/>
    <p:sldId id="1438" r:id="rId1183"/>
    <p:sldId id="1439" r:id="rId1184"/>
    <p:sldId id="1440" r:id="rId1185"/>
    <p:sldId id="1441" r:id="rId1186"/>
    <p:sldId id="1442" r:id="rId1187"/>
    <p:sldId id="1443" r:id="rId1188"/>
    <p:sldId id="1444" r:id="rId1189"/>
    <p:sldId id="1445" r:id="rId1190"/>
    <p:sldId id="1446" r:id="rId1191"/>
    <p:sldId id="1447" r:id="rId1192"/>
    <p:sldId id="1448" r:id="rId1193"/>
    <p:sldId id="1449" r:id="rId1194"/>
    <p:sldId id="1450" r:id="rId1195"/>
    <p:sldId id="1451" r:id="rId1196"/>
    <p:sldId id="1452" r:id="rId1197"/>
    <p:sldId id="1453" r:id="rId1198"/>
    <p:sldId id="1454" r:id="rId1199"/>
    <p:sldId id="1455" r:id="rId1200"/>
    <p:sldId id="1456" r:id="rId1201"/>
    <p:sldId id="1457" r:id="rId1202"/>
    <p:sldId id="1458" r:id="rId1203"/>
    <p:sldId id="1459" r:id="rId1204"/>
    <p:sldId id="1460" r:id="rId1205"/>
    <p:sldId id="1461" r:id="rId1206"/>
    <p:sldId id="1462" r:id="rId1207"/>
    <p:sldId id="1463" r:id="rId1208"/>
    <p:sldId id="1464" r:id="rId1209"/>
    <p:sldId id="1465" r:id="rId1210"/>
    <p:sldId id="1466" r:id="rId1211"/>
    <p:sldId id="1467" r:id="rId1212"/>
    <p:sldId id="1468" r:id="rId1213"/>
    <p:sldId id="1469" r:id="rId1214"/>
    <p:sldId id="1470" r:id="rId1215"/>
    <p:sldId id="1471" r:id="rId1216"/>
    <p:sldId id="1472" r:id="rId1217"/>
    <p:sldId id="1473" r:id="rId1218"/>
    <p:sldId id="1474" r:id="rId1219"/>
    <p:sldId id="1475" r:id="rId1220"/>
    <p:sldId id="1476" r:id="rId1221"/>
    <p:sldId id="1477" r:id="rId1222"/>
    <p:sldId id="1478" r:id="rId1223"/>
    <p:sldId id="1479" r:id="rId1224"/>
    <p:sldId id="1480" r:id="rId1225"/>
    <p:sldId id="1481" r:id="rId1226"/>
    <p:sldId id="1482" r:id="rId1227"/>
    <p:sldId id="1483" r:id="rId1228"/>
    <p:sldId id="1484" r:id="rId1229"/>
    <p:sldId id="1485" r:id="rId1230"/>
    <p:sldId id="1486" r:id="rId1231"/>
    <p:sldId id="1487" r:id="rId1232"/>
    <p:sldId id="1488" r:id="rId1233"/>
    <p:sldId id="1489" r:id="rId1234"/>
    <p:sldId id="1490" r:id="rId1235"/>
    <p:sldId id="1491" r:id="rId1236"/>
    <p:sldId id="1492" r:id="rId1237"/>
    <p:sldId id="1493" r:id="rId1238"/>
    <p:sldId id="1494" r:id="rId1239"/>
    <p:sldId id="1495" r:id="rId1240"/>
    <p:sldId id="1496" r:id="rId1241"/>
    <p:sldId id="1497" r:id="rId1242"/>
    <p:sldId id="1498" r:id="rId1243"/>
    <p:sldId id="1499" r:id="rId1244"/>
    <p:sldId id="1500" r:id="rId1245"/>
    <p:sldId id="1501" r:id="rId1246"/>
    <p:sldId id="1502" r:id="rId1247"/>
    <p:sldId id="1503" r:id="rId1248"/>
    <p:sldId id="1504" r:id="rId1249"/>
    <p:sldId id="1505" r:id="rId1250"/>
    <p:sldId id="1506" r:id="rId1251"/>
    <p:sldId id="1507" r:id="rId1252"/>
    <p:sldId id="1508" r:id="rId1253"/>
    <p:sldId id="1509" r:id="rId1254"/>
    <p:sldId id="1510" r:id="rId1255"/>
    <p:sldId id="1511" r:id="rId1256"/>
    <p:sldId id="1512" r:id="rId1257"/>
    <p:sldId id="1513" r:id="rId1258"/>
    <p:sldId id="1514" r:id="rId1259"/>
    <p:sldId id="1515" r:id="rId1260"/>
    <p:sldId id="1516" r:id="rId1261"/>
    <p:sldId id="1517" r:id="rId1262"/>
    <p:sldId id="1518" r:id="rId1263"/>
    <p:sldId id="1519" r:id="rId1264"/>
    <p:sldId id="1520" r:id="rId1265"/>
    <p:sldId id="1521" r:id="rId1266"/>
    <p:sldId id="1522" r:id="rId1267"/>
    <p:sldId id="1523" r:id="rId1268"/>
    <p:sldId id="1524" r:id="rId1269"/>
    <p:sldId id="1525" r:id="rId1270"/>
    <p:sldId id="1526" r:id="rId1271"/>
    <p:sldId id="1527" r:id="rId1272"/>
    <p:sldId id="1528" r:id="rId1273"/>
    <p:sldId id="268" r:id="rId1274"/>
    <p:sldId id="1529" r:id="rId1275"/>
    <p:sldId id="1530" r:id="rId1276"/>
    <p:sldId id="1531" r:id="rId1277"/>
    <p:sldId id="1532" r:id="rId1278"/>
    <p:sldId id="1533" r:id="rId1279"/>
    <p:sldId id="1534" r:id="rId1280"/>
    <p:sldId id="1535" r:id="rId1281"/>
    <p:sldId id="1536" r:id="rId1282"/>
    <p:sldId id="1537" r:id="rId1283"/>
    <p:sldId id="1538" r:id="rId1284"/>
    <p:sldId id="1539" r:id="rId1285"/>
    <p:sldId id="1540" r:id="rId1286"/>
    <p:sldId id="1541" r:id="rId1287"/>
    <p:sldId id="1542" r:id="rId1288"/>
    <p:sldId id="1543" r:id="rId1289"/>
    <p:sldId id="1544" r:id="rId1290"/>
    <p:sldId id="1545" r:id="rId1291"/>
    <p:sldId id="1546" r:id="rId1292"/>
    <p:sldId id="1547" r:id="rId1293"/>
    <p:sldId id="1548" r:id="rId1294"/>
    <p:sldId id="1549" r:id="rId1295"/>
    <p:sldId id="1550" r:id="rId1296"/>
    <p:sldId id="1551" r:id="rId1297"/>
    <p:sldId id="1552" r:id="rId1298"/>
    <p:sldId id="1553" r:id="rId1299"/>
    <p:sldId id="1554" r:id="rId1300"/>
    <p:sldId id="1555" r:id="rId1301"/>
    <p:sldId id="1556" r:id="rId1302"/>
    <p:sldId id="1557" r:id="rId1303"/>
    <p:sldId id="1558" r:id="rId1304"/>
    <p:sldId id="1559" r:id="rId1305"/>
    <p:sldId id="1560" r:id="rId1306"/>
    <p:sldId id="1561" r:id="rId1307"/>
    <p:sldId id="1562" r:id="rId1308"/>
    <p:sldId id="1563" r:id="rId1309"/>
    <p:sldId id="1564" r:id="rId1310"/>
    <p:sldId id="1565" r:id="rId1311"/>
    <p:sldId id="1566" r:id="rId1312"/>
    <p:sldId id="1567" r:id="rId1313"/>
    <p:sldId id="1568" r:id="rId1314"/>
    <p:sldId id="1569" r:id="rId1315"/>
    <p:sldId id="1570" r:id="rId1316"/>
    <p:sldId id="1571" r:id="rId1317"/>
    <p:sldId id="1572" r:id="rId1318"/>
    <p:sldId id="1573" r:id="rId1319"/>
    <p:sldId id="1574" r:id="rId1320"/>
    <p:sldId id="1575" r:id="rId1321"/>
    <p:sldId id="1576" r:id="rId1322"/>
    <p:sldId id="1577" r:id="rId1323"/>
    <p:sldId id="1578" r:id="rId1324"/>
    <p:sldId id="1579" r:id="rId1325"/>
    <p:sldId id="1580" r:id="rId1326"/>
    <p:sldId id="1581" r:id="rId1327"/>
    <p:sldId id="1582" r:id="rId1328"/>
    <p:sldId id="1583" r:id="rId1329"/>
    <p:sldId id="1584" r:id="rId1330"/>
    <p:sldId id="1585" r:id="rId1331"/>
    <p:sldId id="1586" r:id="rId1332"/>
    <p:sldId id="1587" r:id="rId1333"/>
    <p:sldId id="1588" r:id="rId1334"/>
    <p:sldId id="1589" r:id="rId1335"/>
    <p:sldId id="1590" r:id="rId1336"/>
    <p:sldId id="1591" r:id="rId1337"/>
    <p:sldId id="1592" r:id="rId1338"/>
    <p:sldId id="1593" r:id="rId1339"/>
    <p:sldId id="1594" r:id="rId1340"/>
    <p:sldId id="1595" r:id="rId1341"/>
    <p:sldId id="1596" r:id="rId1342"/>
    <p:sldId id="1597" r:id="rId1343"/>
    <p:sldId id="1598" r:id="rId1344"/>
    <p:sldId id="1599" r:id="rId1345"/>
    <p:sldId id="1600" r:id="rId134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4" d="100"/>
          <a:sy n="104" d="100"/>
        </p:scale>
        <p:origin x="834"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slide" Target="slides/slide196.xml"/><Relationship Id="rId198" Type="http://schemas.openxmlformats.org/officeDocument/2006/relationships/slide" Target="slides/slide197.xml"/><Relationship Id="rId199" Type="http://schemas.openxmlformats.org/officeDocument/2006/relationships/slide" Target="slides/slide198.xml"/><Relationship Id="rId200" Type="http://schemas.openxmlformats.org/officeDocument/2006/relationships/slide" Target="slides/slide199.xml"/><Relationship Id="rId201" Type="http://schemas.openxmlformats.org/officeDocument/2006/relationships/slide" Target="slides/slide200.xml"/><Relationship Id="rId202" Type="http://schemas.openxmlformats.org/officeDocument/2006/relationships/slide" Target="slides/slide201.xml"/><Relationship Id="rId203" Type="http://schemas.openxmlformats.org/officeDocument/2006/relationships/slide" Target="slides/slide202.xml"/><Relationship Id="rId204" Type="http://schemas.openxmlformats.org/officeDocument/2006/relationships/slide" Target="slides/slide203.xml"/><Relationship Id="rId205" Type="http://schemas.openxmlformats.org/officeDocument/2006/relationships/slide" Target="slides/slide204.xml"/><Relationship Id="rId206" Type="http://schemas.openxmlformats.org/officeDocument/2006/relationships/slide" Target="slides/slide205.xml"/><Relationship Id="rId207" Type="http://schemas.openxmlformats.org/officeDocument/2006/relationships/slide" Target="slides/slide206.xml"/><Relationship Id="rId208" Type="http://schemas.openxmlformats.org/officeDocument/2006/relationships/slide" Target="slides/slide207.xml"/><Relationship Id="rId209" Type="http://schemas.openxmlformats.org/officeDocument/2006/relationships/slide" Target="slides/slide208.xml"/><Relationship Id="rId210" Type="http://schemas.openxmlformats.org/officeDocument/2006/relationships/slide" Target="slides/slide209.xml"/><Relationship Id="rId211" Type="http://schemas.openxmlformats.org/officeDocument/2006/relationships/slide" Target="slides/slide210.xml"/><Relationship Id="rId212" Type="http://schemas.openxmlformats.org/officeDocument/2006/relationships/slide" Target="slides/slide211.xml"/><Relationship Id="rId213" Type="http://schemas.openxmlformats.org/officeDocument/2006/relationships/slide" Target="slides/slide212.xml"/><Relationship Id="rId214" Type="http://schemas.openxmlformats.org/officeDocument/2006/relationships/slide" Target="slides/slide213.xml"/><Relationship Id="rId215" Type="http://schemas.openxmlformats.org/officeDocument/2006/relationships/slide" Target="slides/slide214.xml"/><Relationship Id="rId216" Type="http://schemas.openxmlformats.org/officeDocument/2006/relationships/slide" Target="slides/slide215.xml"/><Relationship Id="rId217" Type="http://schemas.openxmlformats.org/officeDocument/2006/relationships/slide" Target="slides/slide216.xml"/><Relationship Id="rId218" Type="http://schemas.openxmlformats.org/officeDocument/2006/relationships/slide" Target="slides/slide217.xml"/><Relationship Id="rId219" Type="http://schemas.openxmlformats.org/officeDocument/2006/relationships/slide" Target="slides/slide218.xml"/><Relationship Id="rId220" Type="http://schemas.openxmlformats.org/officeDocument/2006/relationships/slide" Target="slides/slide219.xml"/><Relationship Id="rId221" Type="http://schemas.openxmlformats.org/officeDocument/2006/relationships/slide" Target="slides/slide220.xml"/><Relationship Id="rId222" Type="http://schemas.openxmlformats.org/officeDocument/2006/relationships/slide" Target="slides/slide221.xml"/><Relationship Id="rId223" Type="http://schemas.openxmlformats.org/officeDocument/2006/relationships/slide" Target="slides/slide222.xml"/><Relationship Id="rId224" Type="http://schemas.openxmlformats.org/officeDocument/2006/relationships/slide" Target="slides/slide223.xml"/><Relationship Id="rId225" Type="http://schemas.openxmlformats.org/officeDocument/2006/relationships/slide" Target="slides/slide224.xml"/><Relationship Id="rId226" Type="http://schemas.openxmlformats.org/officeDocument/2006/relationships/slide" Target="slides/slide225.xml"/><Relationship Id="rId227" Type="http://schemas.openxmlformats.org/officeDocument/2006/relationships/slide" Target="slides/slide226.xml"/><Relationship Id="rId228" Type="http://schemas.openxmlformats.org/officeDocument/2006/relationships/slide" Target="slides/slide227.xml"/><Relationship Id="rId229" Type="http://schemas.openxmlformats.org/officeDocument/2006/relationships/slide" Target="slides/slide228.xml"/><Relationship Id="rId230" Type="http://schemas.openxmlformats.org/officeDocument/2006/relationships/slide" Target="slides/slide229.xml"/><Relationship Id="rId231" Type="http://schemas.openxmlformats.org/officeDocument/2006/relationships/slide" Target="slides/slide230.xml"/><Relationship Id="rId232" Type="http://schemas.openxmlformats.org/officeDocument/2006/relationships/slide" Target="slides/slide231.xml"/><Relationship Id="rId233" Type="http://schemas.openxmlformats.org/officeDocument/2006/relationships/slide" Target="slides/slide232.xml"/><Relationship Id="rId234" Type="http://schemas.openxmlformats.org/officeDocument/2006/relationships/slide" Target="slides/slide233.xml"/><Relationship Id="rId235" Type="http://schemas.openxmlformats.org/officeDocument/2006/relationships/slide" Target="slides/slide234.xml"/><Relationship Id="rId236" Type="http://schemas.openxmlformats.org/officeDocument/2006/relationships/slide" Target="slides/slide235.xml"/><Relationship Id="rId237" Type="http://schemas.openxmlformats.org/officeDocument/2006/relationships/slide" Target="slides/slide236.xml"/><Relationship Id="rId238" Type="http://schemas.openxmlformats.org/officeDocument/2006/relationships/slide" Target="slides/slide237.xml"/><Relationship Id="rId239" Type="http://schemas.openxmlformats.org/officeDocument/2006/relationships/slide" Target="slides/slide238.xml"/><Relationship Id="rId240" Type="http://schemas.openxmlformats.org/officeDocument/2006/relationships/slide" Target="slides/slide239.xml"/><Relationship Id="rId241" Type="http://schemas.openxmlformats.org/officeDocument/2006/relationships/slide" Target="slides/slide240.xml"/><Relationship Id="rId242" Type="http://schemas.openxmlformats.org/officeDocument/2006/relationships/slide" Target="slides/slide241.xml"/><Relationship Id="rId243" Type="http://schemas.openxmlformats.org/officeDocument/2006/relationships/slide" Target="slides/slide242.xml"/><Relationship Id="rId244" Type="http://schemas.openxmlformats.org/officeDocument/2006/relationships/slide" Target="slides/slide243.xml"/><Relationship Id="rId245" Type="http://schemas.openxmlformats.org/officeDocument/2006/relationships/slide" Target="slides/slide244.xml"/><Relationship Id="rId246" Type="http://schemas.openxmlformats.org/officeDocument/2006/relationships/slide" Target="slides/slide245.xml"/><Relationship Id="rId247" Type="http://schemas.openxmlformats.org/officeDocument/2006/relationships/slide" Target="slides/slide246.xml"/><Relationship Id="rId248" Type="http://schemas.openxmlformats.org/officeDocument/2006/relationships/slide" Target="slides/slide247.xml"/><Relationship Id="rId249" Type="http://schemas.openxmlformats.org/officeDocument/2006/relationships/slide" Target="slides/slide248.xml"/><Relationship Id="rId250" Type="http://schemas.openxmlformats.org/officeDocument/2006/relationships/slide" Target="slides/slide249.xml"/><Relationship Id="rId251" Type="http://schemas.openxmlformats.org/officeDocument/2006/relationships/slide" Target="slides/slide250.xml"/><Relationship Id="rId252" Type="http://schemas.openxmlformats.org/officeDocument/2006/relationships/slide" Target="slides/slide251.xml"/><Relationship Id="rId253" Type="http://schemas.openxmlformats.org/officeDocument/2006/relationships/slide" Target="slides/slide252.xml"/><Relationship Id="rId254" Type="http://schemas.openxmlformats.org/officeDocument/2006/relationships/slide" Target="slides/slide253.xml"/><Relationship Id="rId255" Type="http://schemas.openxmlformats.org/officeDocument/2006/relationships/slide" Target="slides/slide254.xml"/><Relationship Id="rId256" Type="http://schemas.openxmlformats.org/officeDocument/2006/relationships/slide" Target="slides/slide255.xml"/><Relationship Id="rId257" Type="http://schemas.openxmlformats.org/officeDocument/2006/relationships/slide" Target="slides/slide256.xml"/><Relationship Id="rId258" Type="http://schemas.openxmlformats.org/officeDocument/2006/relationships/slide" Target="slides/slide257.xml"/><Relationship Id="rId259" Type="http://schemas.openxmlformats.org/officeDocument/2006/relationships/slide" Target="slides/slide258.xml"/><Relationship Id="rId260" Type="http://schemas.openxmlformats.org/officeDocument/2006/relationships/slide" Target="slides/slide259.xml"/><Relationship Id="rId261" Type="http://schemas.openxmlformats.org/officeDocument/2006/relationships/slide" Target="slides/slide260.xml"/><Relationship Id="rId262" Type="http://schemas.openxmlformats.org/officeDocument/2006/relationships/slide" Target="slides/slide261.xml"/><Relationship Id="rId263" Type="http://schemas.openxmlformats.org/officeDocument/2006/relationships/slide" Target="slides/slide262.xml"/><Relationship Id="rId264" Type="http://schemas.openxmlformats.org/officeDocument/2006/relationships/slide" Target="slides/slide263.xml"/><Relationship Id="rId265" Type="http://schemas.openxmlformats.org/officeDocument/2006/relationships/slide" Target="slides/slide264.xml"/><Relationship Id="rId266" Type="http://schemas.openxmlformats.org/officeDocument/2006/relationships/slide" Target="slides/slide265.xml"/><Relationship Id="rId267" Type="http://schemas.openxmlformats.org/officeDocument/2006/relationships/slide" Target="slides/slide266.xml"/><Relationship Id="rId268" Type="http://schemas.openxmlformats.org/officeDocument/2006/relationships/slide" Target="slides/slide267.xml"/><Relationship Id="rId269" Type="http://schemas.openxmlformats.org/officeDocument/2006/relationships/slide" Target="slides/slide268.xml"/><Relationship Id="rId270" Type="http://schemas.openxmlformats.org/officeDocument/2006/relationships/slide" Target="slides/slide269.xml"/><Relationship Id="rId271" Type="http://schemas.openxmlformats.org/officeDocument/2006/relationships/slide" Target="slides/slide270.xml"/><Relationship Id="rId272" Type="http://schemas.openxmlformats.org/officeDocument/2006/relationships/slide" Target="slides/slide271.xml"/><Relationship Id="rId273" Type="http://schemas.openxmlformats.org/officeDocument/2006/relationships/slide" Target="slides/slide272.xml"/><Relationship Id="rId274" Type="http://schemas.openxmlformats.org/officeDocument/2006/relationships/slide" Target="slides/slide273.xml"/><Relationship Id="rId275" Type="http://schemas.openxmlformats.org/officeDocument/2006/relationships/slide" Target="slides/slide274.xml"/><Relationship Id="rId276" Type="http://schemas.openxmlformats.org/officeDocument/2006/relationships/slide" Target="slides/slide275.xml"/><Relationship Id="rId277" Type="http://schemas.openxmlformats.org/officeDocument/2006/relationships/slide" Target="slides/slide276.xml"/><Relationship Id="rId278" Type="http://schemas.openxmlformats.org/officeDocument/2006/relationships/slide" Target="slides/slide277.xml"/><Relationship Id="rId279" Type="http://schemas.openxmlformats.org/officeDocument/2006/relationships/slide" Target="slides/slide278.xml"/><Relationship Id="rId280" Type="http://schemas.openxmlformats.org/officeDocument/2006/relationships/slide" Target="slides/slide279.xml"/><Relationship Id="rId281" Type="http://schemas.openxmlformats.org/officeDocument/2006/relationships/slide" Target="slides/slide280.xml"/><Relationship Id="rId282" Type="http://schemas.openxmlformats.org/officeDocument/2006/relationships/slide" Target="slides/slide281.xml"/><Relationship Id="rId283" Type="http://schemas.openxmlformats.org/officeDocument/2006/relationships/slide" Target="slides/slide282.xml"/><Relationship Id="rId284" Type="http://schemas.openxmlformats.org/officeDocument/2006/relationships/slide" Target="slides/slide283.xml"/><Relationship Id="rId285" Type="http://schemas.openxmlformats.org/officeDocument/2006/relationships/slide" Target="slides/slide284.xml"/><Relationship Id="rId286" Type="http://schemas.openxmlformats.org/officeDocument/2006/relationships/slide" Target="slides/slide285.xml"/><Relationship Id="rId287" Type="http://schemas.openxmlformats.org/officeDocument/2006/relationships/slide" Target="slides/slide286.xml"/><Relationship Id="rId288" Type="http://schemas.openxmlformats.org/officeDocument/2006/relationships/slide" Target="slides/slide287.xml"/><Relationship Id="rId289" Type="http://schemas.openxmlformats.org/officeDocument/2006/relationships/slide" Target="slides/slide288.xml"/><Relationship Id="rId290" Type="http://schemas.openxmlformats.org/officeDocument/2006/relationships/slide" Target="slides/slide289.xml"/><Relationship Id="rId291" Type="http://schemas.openxmlformats.org/officeDocument/2006/relationships/slide" Target="slides/slide290.xml"/><Relationship Id="rId292" Type="http://schemas.openxmlformats.org/officeDocument/2006/relationships/slide" Target="slides/slide291.xml"/><Relationship Id="rId293" Type="http://schemas.openxmlformats.org/officeDocument/2006/relationships/slide" Target="slides/slide292.xml"/><Relationship Id="rId294" Type="http://schemas.openxmlformats.org/officeDocument/2006/relationships/slide" Target="slides/slide293.xml"/><Relationship Id="rId295" Type="http://schemas.openxmlformats.org/officeDocument/2006/relationships/slide" Target="slides/slide294.xml"/><Relationship Id="rId296" Type="http://schemas.openxmlformats.org/officeDocument/2006/relationships/slide" Target="slides/slide295.xml"/><Relationship Id="rId297" Type="http://schemas.openxmlformats.org/officeDocument/2006/relationships/slide" Target="slides/slide296.xml"/><Relationship Id="rId298" Type="http://schemas.openxmlformats.org/officeDocument/2006/relationships/slide" Target="slides/slide297.xml"/><Relationship Id="rId299" Type="http://schemas.openxmlformats.org/officeDocument/2006/relationships/slide" Target="slides/slide298.xml"/><Relationship Id="rId300" Type="http://schemas.openxmlformats.org/officeDocument/2006/relationships/slide" Target="slides/slide299.xml"/><Relationship Id="rId301" Type="http://schemas.openxmlformats.org/officeDocument/2006/relationships/slide" Target="slides/slide300.xml"/><Relationship Id="rId302" Type="http://schemas.openxmlformats.org/officeDocument/2006/relationships/slide" Target="slides/slide301.xml"/><Relationship Id="rId303" Type="http://schemas.openxmlformats.org/officeDocument/2006/relationships/slide" Target="slides/slide302.xml"/><Relationship Id="rId304" Type="http://schemas.openxmlformats.org/officeDocument/2006/relationships/slide" Target="slides/slide303.xml"/><Relationship Id="rId305" Type="http://schemas.openxmlformats.org/officeDocument/2006/relationships/slide" Target="slides/slide304.xml"/><Relationship Id="rId306" Type="http://schemas.openxmlformats.org/officeDocument/2006/relationships/slide" Target="slides/slide305.xml"/><Relationship Id="rId307" Type="http://schemas.openxmlformats.org/officeDocument/2006/relationships/slide" Target="slides/slide306.xml"/><Relationship Id="rId308" Type="http://schemas.openxmlformats.org/officeDocument/2006/relationships/slide" Target="slides/slide307.xml"/><Relationship Id="rId309" Type="http://schemas.openxmlformats.org/officeDocument/2006/relationships/slide" Target="slides/slide308.xml"/><Relationship Id="rId310" Type="http://schemas.openxmlformats.org/officeDocument/2006/relationships/slide" Target="slides/slide309.xml"/><Relationship Id="rId311" Type="http://schemas.openxmlformats.org/officeDocument/2006/relationships/slide" Target="slides/slide310.xml"/><Relationship Id="rId312" Type="http://schemas.openxmlformats.org/officeDocument/2006/relationships/slide" Target="slides/slide311.xml"/><Relationship Id="rId313" Type="http://schemas.openxmlformats.org/officeDocument/2006/relationships/slide" Target="slides/slide312.xml"/><Relationship Id="rId314" Type="http://schemas.openxmlformats.org/officeDocument/2006/relationships/slide" Target="slides/slide313.xml"/><Relationship Id="rId315" Type="http://schemas.openxmlformats.org/officeDocument/2006/relationships/slide" Target="slides/slide314.xml"/><Relationship Id="rId316" Type="http://schemas.openxmlformats.org/officeDocument/2006/relationships/slide" Target="slides/slide315.xml"/><Relationship Id="rId317" Type="http://schemas.openxmlformats.org/officeDocument/2006/relationships/slide" Target="slides/slide316.xml"/><Relationship Id="rId318" Type="http://schemas.openxmlformats.org/officeDocument/2006/relationships/slide" Target="slides/slide317.xml"/><Relationship Id="rId319" Type="http://schemas.openxmlformats.org/officeDocument/2006/relationships/slide" Target="slides/slide318.xml"/><Relationship Id="rId320" Type="http://schemas.openxmlformats.org/officeDocument/2006/relationships/slide" Target="slides/slide319.xml"/><Relationship Id="rId321" Type="http://schemas.openxmlformats.org/officeDocument/2006/relationships/slide" Target="slides/slide320.xml"/><Relationship Id="rId322" Type="http://schemas.openxmlformats.org/officeDocument/2006/relationships/slide" Target="slides/slide321.xml"/><Relationship Id="rId323" Type="http://schemas.openxmlformats.org/officeDocument/2006/relationships/slide" Target="slides/slide322.xml"/><Relationship Id="rId324" Type="http://schemas.openxmlformats.org/officeDocument/2006/relationships/slide" Target="slides/slide323.xml"/><Relationship Id="rId325" Type="http://schemas.openxmlformats.org/officeDocument/2006/relationships/slide" Target="slides/slide324.xml"/><Relationship Id="rId326" Type="http://schemas.openxmlformats.org/officeDocument/2006/relationships/slide" Target="slides/slide325.xml"/><Relationship Id="rId327" Type="http://schemas.openxmlformats.org/officeDocument/2006/relationships/slide" Target="slides/slide326.xml"/><Relationship Id="rId328" Type="http://schemas.openxmlformats.org/officeDocument/2006/relationships/slide" Target="slides/slide327.xml"/><Relationship Id="rId329" Type="http://schemas.openxmlformats.org/officeDocument/2006/relationships/slide" Target="slides/slide328.xml"/><Relationship Id="rId330" Type="http://schemas.openxmlformats.org/officeDocument/2006/relationships/slide" Target="slides/slide329.xml"/><Relationship Id="rId331" Type="http://schemas.openxmlformats.org/officeDocument/2006/relationships/slide" Target="slides/slide330.xml"/><Relationship Id="rId332" Type="http://schemas.openxmlformats.org/officeDocument/2006/relationships/slide" Target="slides/slide331.xml"/><Relationship Id="rId333" Type="http://schemas.openxmlformats.org/officeDocument/2006/relationships/slide" Target="slides/slide332.xml"/><Relationship Id="rId334" Type="http://schemas.openxmlformats.org/officeDocument/2006/relationships/slide" Target="slides/slide333.xml"/><Relationship Id="rId335" Type="http://schemas.openxmlformats.org/officeDocument/2006/relationships/slide" Target="slides/slide334.xml"/><Relationship Id="rId336" Type="http://schemas.openxmlformats.org/officeDocument/2006/relationships/slide" Target="slides/slide335.xml"/><Relationship Id="rId337" Type="http://schemas.openxmlformats.org/officeDocument/2006/relationships/slide" Target="slides/slide336.xml"/><Relationship Id="rId338" Type="http://schemas.openxmlformats.org/officeDocument/2006/relationships/slide" Target="slides/slide337.xml"/><Relationship Id="rId339" Type="http://schemas.openxmlformats.org/officeDocument/2006/relationships/slide" Target="slides/slide338.xml"/><Relationship Id="rId340" Type="http://schemas.openxmlformats.org/officeDocument/2006/relationships/slide" Target="slides/slide339.xml"/><Relationship Id="rId341" Type="http://schemas.openxmlformats.org/officeDocument/2006/relationships/slide" Target="slides/slide340.xml"/><Relationship Id="rId342" Type="http://schemas.openxmlformats.org/officeDocument/2006/relationships/slide" Target="slides/slide341.xml"/><Relationship Id="rId343" Type="http://schemas.openxmlformats.org/officeDocument/2006/relationships/slide" Target="slides/slide342.xml"/><Relationship Id="rId344" Type="http://schemas.openxmlformats.org/officeDocument/2006/relationships/slide" Target="slides/slide343.xml"/><Relationship Id="rId345" Type="http://schemas.openxmlformats.org/officeDocument/2006/relationships/slide" Target="slides/slide344.xml"/><Relationship Id="rId346" Type="http://schemas.openxmlformats.org/officeDocument/2006/relationships/slide" Target="slides/slide345.xml"/><Relationship Id="rId347" Type="http://schemas.openxmlformats.org/officeDocument/2006/relationships/slide" Target="slides/slide346.xml"/><Relationship Id="rId348" Type="http://schemas.openxmlformats.org/officeDocument/2006/relationships/slide" Target="slides/slide347.xml"/><Relationship Id="rId349" Type="http://schemas.openxmlformats.org/officeDocument/2006/relationships/slide" Target="slides/slide348.xml"/><Relationship Id="rId350" Type="http://schemas.openxmlformats.org/officeDocument/2006/relationships/slide" Target="slides/slide349.xml"/><Relationship Id="rId351" Type="http://schemas.openxmlformats.org/officeDocument/2006/relationships/slide" Target="slides/slide350.xml"/><Relationship Id="rId352" Type="http://schemas.openxmlformats.org/officeDocument/2006/relationships/slide" Target="slides/slide351.xml"/><Relationship Id="rId353" Type="http://schemas.openxmlformats.org/officeDocument/2006/relationships/slide" Target="slides/slide352.xml"/><Relationship Id="rId354" Type="http://schemas.openxmlformats.org/officeDocument/2006/relationships/slide" Target="slides/slide353.xml"/><Relationship Id="rId355" Type="http://schemas.openxmlformats.org/officeDocument/2006/relationships/slide" Target="slides/slide354.xml"/><Relationship Id="rId356" Type="http://schemas.openxmlformats.org/officeDocument/2006/relationships/slide" Target="slides/slide355.xml"/><Relationship Id="rId357" Type="http://schemas.openxmlformats.org/officeDocument/2006/relationships/slide" Target="slides/slide356.xml"/><Relationship Id="rId358" Type="http://schemas.openxmlformats.org/officeDocument/2006/relationships/slide" Target="slides/slide357.xml"/><Relationship Id="rId359" Type="http://schemas.openxmlformats.org/officeDocument/2006/relationships/slide" Target="slides/slide358.xml"/><Relationship Id="rId360" Type="http://schemas.openxmlformats.org/officeDocument/2006/relationships/slide" Target="slides/slide359.xml"/><Relationship Id="rId361" Type="http://schemas.openxmlformats.org/officeDocument/2006/relationships/slide" Target="slides/slide360.xml"/><Relationship Id="rId362" Type="http://schemas.openxmlformats.org/officeDocument/2006/relationships/slide" Target="slides/slide361.xml"/><Relationship Id="rId363" Type="http://schemas.openxmlformats.org/officeDocument/2006/relationships/slide" Target="slides/slide362.xml"/><Relationship Id="rId364" Type="http://schemas.openxmlformats.org/officeDocument/2006/relationships/slide" Target="slides/slide363.xml"/><Relationship Id="rId365" Type="http://schemas.openxmlformats.org/officeDocument/2006/relationships/slide" Target="slides/slide364.xml"/><Relationship Id="rId366" Type="http://schemas.openxmlformats.org/officeDocument/2006/relationships/slide" Target="slides/slide365.xml"/><Relationship Id="rId367" Type="http://schemas.openxmlformats.org/officeDocument/2006/relationships/slide" Target="slides/slide366.xml"/><Relationship Id="rId368" Type="http://schemas.openxmlformats.org/officeDocument/2006/relationships/slide" Target="slides/slide367.xml"/><Relationship Id="rId369" Type="http://schemas.openxmlformats.org/officeDocument/2006/relationships/slide" Target="slides/slide368.xml"/><Relationship Id="rId370" Type="http://schemas.openxmlformats.org/officeDocument/2006/relationships/slide" Target="slides/slide369.xml"/><Relationship Id="rId371" Type="http://schemas.openxmlformats.org/officeDocument/2006/relationships/slide" Target="slides/slide370.xml"/><Relationship Id="rId372" Type="http://schemas.openxmlformats.org/officeDocument/2006/relationships/slide" Target="slides/slide371.xml"/><Relationship Id="rId373" Type="http://schemas.openxmlformats.org/officeDocument/2006/relationships/slide" Target="slides/slide372.xml"/><Relationship Id="rId374" Type="http://schemas.openxmlformats.org/officeDocument/2006/relationships/slide" Target="slides/slide373.xml"/><Relationship Id="rId375" Type="http://schemas.openxmlformats.org/officeDocument/2006/relationships/slide" Target="slides/slide374.xml"/><Relationship Id="rId376" Type="http://schemas.openxmlformats.org/officeDocument/2006/relationships/slide" Target="slides/slide375.xml"/><Relationship Id="rId377" Type="http://schemas.openxmlformats.org/officeDocument/2006/relationships/slide" Target="slides/slide376.xml"/><Relationship Id="rId378" Type="http://schemas.openxmlformats.org/officeDocument/2006/relationships/slide" Target="slides/slide377.xml"/><Relationship Id="rId379" Type="http://schemas.openxmlformats.org/officeDocument/2006/relationships/slide" Target="slides/slide378.xml"/><Relationship Id="rId380" Type="http://schemas.openxmlformats.org/officeDocument/2006/relationships/slide" Target="slides/slide379.xml"/><Relationship Id="rId381" Type="http://schemas.openxmlformats.org/officeDocument/2006/relationships/slide" Target="slides/slide380.xml"/><Relationship Id="rId382" Type="http://schemas.openxmlformats.org/officeDocument/2006/relationships/slide" Target="slides/slide381.xml"/><Relationship Id="rId383" Type="http://schemas.openxmlformats.org/officeDocument/2006/relationships/slide" Target="slides/slide382.xml"/><Relationship Id="rId384" Type="http://schemas.openxmlformats.org/officeDocument/2006/relationships/slide" Target="slides/slide383.xml"/><Relationship Id="rId385" Type="http://schemas.openxmlformats.org/officeDocument/2006/relationships/slide" Target="slides/slide384.xml"/><Relationship Id="rId386" Type="http://schemas.openxmlformats.org/officeDocument/2006/relationships/slide" Target="slides/slide385.xml"/><Relationship Id="rId387" Type="http://schemas.openxmlformats.org/officeDocument/2006/relationships/slide" Target="slides/slide386.xml"/><Relationship Id="rId388" Type="http://schemas.openxmlformats.org/officeDocument/2006/relationships/slide" Target="slides/slide387.xml"/><Relationship Id="rId389" Type="http://schemas.openxmlformats.org/officeDocument/2006/relationships/slide" Target="slides/slide388.xml"/><Relationship Id="rId390" Type="http://schemas.openxmlformats.org/officeDocument/2006/relationships/slide" Target="slides/slide389.xml"/><Relationship Id="rId391" Type="http://schemas.openxmlformats.org/officeDocument/2006/relationships/slide" Target="slides/slide390.xml"/><Relationship Id="rId392" Type="http://schemas.openxmlformats.org/officeDocument/2006/relationships/slide" Target="slides/slide391.xml"/><Relationship Id="rId393" Type="http://schemas.openxmlformats.org/officeDocument/2006/relationships/slide" Target="slides/slide392.xml"/><Relationship Id="rId394" Type="http://schemas.openxmlformats.org/officeDocument/2006/relationships/slide" Target="slides/slide393.xml"/><Relationship Id="rId395" Type="http://schemas.openxmlformats.org/officeDocument/2006/relationships/slide" Target="slides/slide394.xml"/><Relationship Id="rId396" Type="http://schemas.openxmlformats.org/officeDocument/2006/relationships/slide" Target="slides/slide395.xml"/><Relationship Id="rId397" Type="http://schemas.openxmlformats.org/officeDocument/2006/relationships/slide" Target="slides/slide396.xml"/><Relationship Id="rId398" Type="http://schemas.openxmlformats.org/officeDocument/2006/relationships/slide" Target="slides/slide397.xml"/><Relationship Id="rId399" Type="http://schemas.openxmlformats.org/officeDocument/2006/relationships/slide" Target="slides/slide398.xml"/><Relationship Id="rId400" Type="http://schemas.openxmlformats.org/officeDocument/2006/relationships/slide" Target="slides/slide399.xml"/><Relationship Id="rId401" Type="http://schemas.openxmlformats.org/officeDocument/2006/relationships/slide" Target="slides/slide400.xml"/><Relationship Id="rId402" Type="http://schemas.openxmlformats.org/officeDocument/2006/relationships/slide" Target="slides/slide401.xml"/><Relationship Id="rId403" Type="http://schemas.openxmlformats.org/officeDocument/2006/relationships/slide" Target="slides/slide402.xml"/><Relationship Id="rId404" Type="http://schemas.openxmlformats.org/officeDocument/2006/relationships/slide" Target="slides/slide403.xml"/><Relationship Id="rId405" Type="http://schemas.openxmlformats.org/officeDocument/2006/relationships/slide" Target="slides/slide404.xml"/><Relationship Id="rId406" Type="http://schemas.openxmlformats.org/officeDocument/2006/relationships/slide" Target="slides/slide405.xml"/><Relationship Id="rId407" Type="http://schemas.openxmlformats.org/officeDocument/2006/relationships/slide" Target="slides/slide406.xml"/><Relationship Id="rId408" Type="http://schemas.openxmlformats.org/officeDocument/2006/relationships/slide" Target="slides/slide407.xml"/><Relationship Id="rId409" Type="http://schemas.openxmlformats.org/officeDocument/2006/relationships/slide" Target="slides/slide408.xml"/><Relationship Id="rId410" Type="http://schemas.openxmlformats.org/officeDocument/2006/relationships/slide" Target="slides/slide409.xml"/><Relationship Id="rId411" Type="http://schemas.openxmlformats.org/officeDocument/2006/relationships/slide" Target="slides/slide410.xml"/><Relationship Id="rId412" Type="http://schemas.openxmlformats.org/officeDocument/2006/relationships/slide" Target="slides/slide411.xml"/><Relationship Id="rId413" Type="http://schemas.openxmlformats.org/officeDocument/2006/relationships/slide" Target="slides/slide412.xml"/><Relationship Id="rId414" Type="http://schemas.openxmlformats.org/officeDocument/2006/relationships/slide" Target="slides/slide413.xml"/><Relationship Id="rId415" Type="http://schemas.openxmlformats.org/officeDocument/2006/relationships/slide" Target="slides/slide414.xml"/><Relationship Id="rId416" Type="http://schemas.openxmlformats.org/officeDocument/2006/relationships/slide" Target="slides/slide415.xml"/><Relationship Id="rId417" Type="http://schemas.openxmlformats.org/officeDocument/2006/relationships/slide" Target="slides/slide416.xml"/><Relationship Id="rId418" Type="http://schemas.openxmlformats.org/officeDocument/2006/relationships/slide" Target="slides/slide417.xml"/><Relationship Id="rId419" Type="http://schemas.openxmlformats.org/officeDocument/2006/relationships/slide" Target="slides/slide418.xml"/><Relationship Id="rId420" Type="http://schemas.openxmlformats.org/officeDocument/2006/relationships/slide" Target="slides/slide419.xml"/><Relationship Id="rId421" Type="http://schemas.openxmlformats.org/officeDocument/2006/relationships/slide" Target="slides/slide420.xml"/><Relationship Id="rId422" Type="http://schemas.openxmlformats.org/officeDocument/2006/relationships/slide" Target="slides/slide421.xml"/><Relationship Id="rId423" Type="http://schemas.openxmlformats.org/officeDocument/2006/relationships/slide" Target="slides/slide422.xml"/><Relationship Id="rId424" Type="http://schemas.openxmlformats.org/officeDocument/2006/relationships/slide" Target="slides/slide423.xml"/><Relationship Id="rId425" Type="http://schemas.openxmlformats.org/officeDocument/2006/relationships/slide" Target="slides/slide424.xml"/><Relationship Id="rId426" Type="http://schemas.openxmlformats.org/officeDocument/2006/relationships/slide" Target="slides/slide425.xml"/><Relationship Id="rId427" Type="http://schemas.openxmlformats.org/officeDocument/2006/relationships/slide" Target="slides/slide426.xml"/><Relationship Id="rId428" Type="http://schemas.openxmlformats.org/officeDocument/2006/relationships/slide" Target="slides/slide427.xml"/><Relationship Id="rId429" Type="http://schemas.openxmlformats.org/officeDocument/2006/relationships/slide" Target="slides/slide428.xml"/><Relationship Id="rId430" Type="http://schemas.openxmlformats.org/officeDocument/2006/relationships/slide" Target="slides/slide429.xml"/><Relationship Id="rId431" Type="http://schemas.openxmlformats.org/officeDocument/2006/relationships/slide" Target="slides/slide430.xml"/><Relationship Id="rId432" Type="http://schemas.openxmlformats.org/officeDocument/2006/relationships/slide" Target="slides/slide431.xml"/><Relationship Id="rId433" Type="http://schemas.openxmlformats.org/officeDocument/2006/relationships/slide" Target="slides/slide432.xml"/><Relationship Id="rId434" Type="http://schemas.openxmlformats.org/officeDocument/2006/relationships/slide" Target="slides/slide433.xml"/><Relationship Id="rId435" Type="http://schemas.openxmlformats.org/officeDocument/2006/relationships/slide" Target="slides/slide434.xml"/><Relationship Id="rId436" Type="http://schemas.openxmlformats.org/officeDocument/2006/relationships/slide" Target="slides/slide435.xml"/><Relationship Id="rId437" Type="http://schemas.openxmlformats.org/officeDocument/2006/relationships/slide" Target="slides/slide436.xml"/><Relationship Id="rId438" Type="http://schemas.openxmlformats.org/officeDocument/2006/relationships/slide" Target="slides/slide437.xml"/><Relationship Id="rId439" Type="http://schemas.openxmlformats.org/officeDocument/2006/relationships/slide" Target="slides/slide438.xml"/><Relationship Id="rId440" Type="http://schemas.openxmlformats.org/officeDocument/2006/relationships/slide" Target="slides/slide439.xml"/><Relationship Id="rId441" Type="http://schemas.openxmlformats.org/officeDocument/2006/relationships/slide" Target="slides/slide440.xml"/><Relationship Id="rId442" Type="http://schemas.openxmlformats.org/officeDocument/2006/relationships/slide" Target="slides/slide441.xml"/><Relationship Id="rId443" Type="http://schemas.openxmlformats.org/officeDocument/2006/relationships/slide" Target="slides/slide442.xml"/><Relationship Id="rId444" Type="http://schemas.openxmlformats.org/officeDocument/2006/relationships/slide" Target="slides/slide443.xml"/><Relationship Id="rId445" Type="http://schemas.openxmlformats.org/officeDocument/2006/relationships/slide" Target="slides/slide444.xml"/><Relationship Id="rId446" Type="http://schemas.openxmlformats.org/officeDocument/2006/relationships/slide" Target="slides/slide445.xml"/><Relationship Id="rId447" Type="http://schemas.openxmlformats.org/officeDocument/2006/relationships/slide" Target="slides/slide446.xml"/><Relationship Id="rId448" Type="http://schemas.openxmlformats.org/officeDocument/2006/relationships/slide" Target="slides/slide447.xml"/><Relationship Id="rId449" Type="http://schemas.openxmlformats.org/officeDocument/2006/relationships/slide" Target="slides/slide448.xml"/><Relationship Id="rId450" Type="http://schemas.openxmlformats.org/officeDocument/2006/relationships/slide" Target="slides/slide449.xml"/><Relationship Id="rId451" Type="http://schemas.openxmlformats.org/officeDocument/2006/relationships/slide" Target="slides/slide450.xml"/><Relationship Id="rId452" Type="http://schemas.openxmlformats.org/officeDocument/2006/relationships/slide" Target="slides/slide451.xml"/><Relationship Id="rId453" Type="http://schemas.openxmlformats.org/officeDocument/2006/relationships/slide" Target="slides/slide452.xml"/><Relationship Id="rId454" Type="http://schemas.openxmlformats.org/officeDocument/2006/relationships/slide" Target="slides/slide453.xml"/><Relationship Id="rId455" Type="http://schemas.openxmlformats.org/officeDocument/2006/relationships/slide" Target="slides/slide454.xml"/><Relationship Id="rId456" Type="http://schemas.openxmlformats.org/officeDocument/2006/relationships/slide" Target="slides/slide455.xml"/><Relationship Id="rId457" Type="http://schemas.openxmlformats.org/officeDocument/2006/relationships/slide" Target="slides/slide456.xml"/><Relationship Id="rId458" Type="http://schemas.openxmlformats.org/officeDocument/2006/relationships/slide" Target="slides/slide457.xml"/><Relationship Id="rId459" Type="http://schemas.openxmlformats.org/officeDocument/2006/relationships/slide" Target="slides/slide458.xml"/><Relationship Id="rId460" Type="http://schemas.openxmlformats.org/officeDocument/2006/relationships/slide" Target="slides/slide459.xml"/><Relationship Id="rId461" Type="http://schemas.openxmlformats.org/officeDocument/2006/relationships/slide" Target="slides/slide460.xml"/><Relationship Id="rId462" Type="http://schemas.openxmlformats.org/officeDocument/2006/relationships/slide" Target="slides/slide461.xml"/><Relationship Id="rId463" Type="http://schemas.openxmlformats.org/officeDocument/2006/relationships/slide" Target="slides/slide462.xml"/><Relationship Id="rId464" Type="http://schemas.openxmlformats.org/officeDocument/2006/relationships/slide" Target="slides/slide463.xml"/><Relationship Id="rId465" Type="http://schemas.openxmlformats.org/officeDocument/2006/relationships/slide" Target="slides/slide464.xml"/><Relationship Id="rId466" Type="http://schemas.openxmlformats.org/officeDocument/2006/relationships/slide" Target="slides/slide465.xml"/><Relationship Id="rId467" Type="http://schemas.openxmlformats.org/officeDocument/2006/relationships/slide" Target="slides/slide466.xml"/><Relationship Id="rId468" Type="http://schemas.openxmlformats.org/officeDocument/2006/relationships/slide" Target="slides/slide467.xml"/><Relationship Id="rId469" Type="http://schemas.openxmlformats.org/officeDocument/2006/relationships/slide" Target="slides/slide468.xml"/><Relationship Id="rId470" Type="http://schemas.openxmlformats.org/officeDocument/2006/relationships/slide" Target="slides/slide469.xml"/><Relationship Id="rId471" Type="http://schemas.openxmlformats.org/officeDocument/2006/relationships/slide" Target="slides/slide470.xml"/><Relationship Id="rId472" Type="http://schemas.openxmlformats.org/officeDocument/2006/relationships/slide" Target="slides/slide471.xml"/><Relationship Id="rId473" Type="http://schemas.openxmlformats.org/officeDocument/2006/relationships/slide" Target="slides/slide472.xml"/><Relationship Id="rId474" Type="http://schemas.openxmlformats.org/officeDocument/2006/relationships/slide" Target="slides/slide473.xml"/><Relationship Id="rId475" Type="http://schemas.openxmlformats.org/officeDocument/2006/relationships/slide" Target="slides/slide474.xml"/><Relationship Id="rId476" Type="http://schemas.openxmlformats.org/officeDocument/2006/relationships/slide" Target="slides/slide475.xml"/><Relationship Id="rId477" Type="http://schemas.openxmlformats.org/officeDocument/2006/relationships/slide" Target="slides/slide476.xml"/><Relationship Id="rId478" Type="http://schemas.openxmlformats.org/officeDocument/2006/relationships/slide" Target="slides/slide477.xml"/><Relationship Id="rId479" Type="http://schemas.openxmlformats.org/officeDocument/2006/relationships/slide" Target="slides/slide478.xml"/><Relationship Id="rId480" Type="http://schemas.openxmlformats.org/officeDocument/2006/relationships/slide" Target="slides/slide479.xml"/><Relationship Id="rId481" Type="http://schemas.openxmlformats.org/officeDocument/2006/relationships/slide" Target="slides/slide480.xml"/><Relationship Id="rId482" Type="http://schemas.openxmlformats.org/officeDocument/2006/relationships/slide" Target="slides/slide481.xml"/><Relationship Id="rId483" Type="http://schemas.openxmlformats.org/officeDocument/2006/relationships/slide" Target="slides/slide482.xml"/><Relationship Id="rId484" Type="http://schemas.openxmlformats.org/officeDocument/2006/relationships/slide" Target="slides/slide483.xml"/><Relationship Id="rId485" Type="http://schemas.openxmlformats.org/officeDocument/2006/relationships/slide" Target="slides/slide484.xml"/><Relationship Id="rId486" Type="http://schemas.openxmlformats.org/officeDocument/2006/relationships/slide" Target="slides/slide485.xml"/><Relationship Id="rId487" Type="http://schemas.openxmlformats.org/officeDocument/2006/relationships/slide" Target="slides/slide486.xml"/><Relationship Id="rId488" Type="http://schemas.openxmlformats.org/officeDocument/2006/relationships/slide" Target="slides/slide487.xml"/><Relationship Id="rId489" Type="http://schemas.openxmlformats.org/officeDocument/2006/relationships/slide" Target="slides/slide488.xml"/><Relationship Id="rId490" Type="http://schemas.openxmlformats.org/officeDocument/2006/relationships/slide" Target="slides/slide489.xml"/><Relationship Id="rId491" Type="http://schemas.openxmlformats.org/officeDocument/2006/relationships/slide" Target="slides/slide490.xml"/><Relationship Id="rId492" Type="http://schemas.openxmlformats.org/officeDocument/2006/relationships/slide" Target="slides/slide491.xml"/><Relationship Id="rId493" Type="http://schemas.openxmlformats.org/officeDocument/2006/relationships/slide" Target="slides/slide492.xml"/><Relationship Id="rId494" Type="http://schemas.openxmlformats.org/officeDocument/2006/relationships/slide" Target="slides/slide493.xml"/><Relationship Id="rId495" Type="http://schemas.openxmlformats.org/officeDocument/2006/relationships/slide" Target="slides/slide494.xml"/><Relationship Id="rId496" Type="http://schemas.openxmlformats.org/officeDocument/2006/relationships/slide" Target="slides/slide495.xml"/><Relationship Id="rId497" Type="http://schemas.openxmlformats.org/officeDocument/2006/relationships/slide" Target="slides/slide496.xml"/><Relationship Id="rId498" Type="http://schemas.openxmlformats.org/officeDocument/2006/relationships/slide" Target="slides/slide497.xml"/><Relationship Id="rId499" Type="http://schemas.openxmlformats.org/officeDocument/2006/relationships/slide" Target="slides/slide498.xml"/><Relationship Id="rId500" Type="http://schemas.openxmlformats.org/officeDocument/2006/relationships/slide" Target="slides/slide499.xml"/><Relationship Id="rId501" Type="http://schemas.openxmlformats.org/officeDocument/2006/relationships/slide" Target="slides/slide500.xml"/><Relationship Id="rId502" Type="http://schemas.openxmlformats.org/officeDocument/2006/relationships/slide" Target="slides/slide501.xml"/><Relationship Id="rId503" Type="http://schemas.openxmlformats.org/officeDocument/2006/relationships/slide" Target="slides/slide502.xml"/><Relationship Id="rId504" Type="http://schemas.openxmlformats.org/officeDocument/2006/relationships/slide" Target="slides/slide503.xml"/><Relationship Id="rId505" Type="http://schemas.openxmlformats.org/officeDocument/2006/relationships/slide" Target="slides/slide504.xml"/><Relationship Id="rId506" Type="http://schemas.openxmlformats.org/officeDocument/2006/relationships/slide" Target="slides/slide505.xml"/><Relationship Id="rId507" Type="http://schemas.openxmlformats.org/officeDocument/2006/relationships/slide" Target="slides/slide506.xml"/><Relationship Id="rId508" Type="http://schemas.openxmlformats.org/officeDocument/2006/relationships/slide" Target="slides/slide507.xml"/><Relationship Id="rId509" Type="http://schemas.openxmlformats.org/officeDocument/2006/relationships/slide" Target="slides/slide508.xml"/><Relationship Id="rId510" Type="http://schemas.openxmlformats.org/officeDocument/2006/relationships/slide" Target="slides/slide509.xml"/><Relationship Id="rId511" Type="http://schemas.openxmlformats.org/officeDocument/2006/relationships/slide" Target="slides/slide510.xml"/><Relationship Id="rId512" Type="http://schemas.openxmlformats.org/officeDocument/2006/relationships/slide" Target="slides/slide511.xml"/><Relationship Id="rId513" Type="http://schemas.openxmlformats.org/officeDocument/2006/relationships/slide" Target="slides/slide512.xml"/><Relationship Id="rId514" Type="http://schemas.openxmlformats.org/officeDocument/2006/relationships/slide" Target="slides/slide513.xml"/><Relationship Id="rId515" Type="http://schemas.openxmlformats.org/officeDocument/2006/relationships/slide" Target="slides/slide514.xml"/><Relationship Id="rId516" Type="http://schemas.openxmlformats.org/officeDocument/2006/relationships/slide" Target="slides/slide515.xml"/><Relationship Id="rId517" Type="http://schemas.openxmlformats.org/officeDocument/2006/relationships/slide" Target="slides/slide516.xml"/><Relationship Id="rId518" Type="http://schemas.openxmlformats.org/officeDocument/2006/relationships/slide" Target="slides/slide517.xml"/><Relationship Id="rId519" Type="http://schemas.openxmlformats.org/officeDocument/2006/relationships/slide" Target="slides/slide518.xml"/><Relationship Id="rId520" Type="http://schemas.openxmlformats.org/officeDocument/2006/relationships/slide" Target="slides/slide519.xml"/><Relationship Id="rId521" Type="http://schemas.openxmlformats.org/officeDocument/2006/relationships/slide" Target="slides/slide520.xml"/><Relationship Id="rId522" Type="http://schemas.openxmlformats.org/officeDocument/2006/relationships/slide" Target="slides/slide521.xml"/><Relationship Id="rId523" Type="http://schemas.openxmlformats.org/officeDocument/2006/relationships/slide" Target="slides/slide522.xml"/><Relationship Id="rId524" Type="http://schemas.openxmlformats.org/officeDocument/2006/relationships/slide" Target="slides/slide523.xml"/><Relationship Id="rId525" Type="http://schemas.openxmlformats.org/officeDocument/2006/relationships/slide" Target="slides/slide524.xml"/><Relationship Id="rId526" Type="http://schemas.openxmlformats.org/officeDocument/2006/relationships/slide" Target="slides/slide525.xml"/><Relationship Id="rId527" Type="http://schemas.openxmlformats.org/officeDocument/2006/relationships/slide" Target="slides/slide526.xml"/><Relationship Id="rId528" Type="http://schemas.openxmlformats.org/officeDocument/2006/relationships/slide" Target="slides/slide527.xml"/><Relationship Id="rId529" Type="http://schemas.openxmlformats.org/officeDocument/2006/relationships/slide" Target="slides/slide528.xml"/><Relationship Id="rId530" Type="http://schemas.openxmlformats.org/officeDocument/2006/relationships/slide" Target="slides/slide529.xml"/><Relationship Id="rId531" Type="http://schemas.openxmlformats.org/officeDocument/2006/relationships/slide" Target="slides/slide530.xml"/><Relationship Id="rId532" Type="http://schemas.openxmlformats.org/officeDocument/2006/relationships/slide" Target="slides/slide531.xml"/><Relationship Id="rId533" Type="http://schemas.openxmlformats.org/officeDocument/2006/relationships/slide" Target="slides/slide532.xml"/><Relationship Id="rId534" Type="http://schemas.openxmlformats.org/officeDocument/2006/relationships/slide" Target="slides/slide533.xml"/><Relationship Id="rId535" Type="http://schemas.openxmlformats.org/officeDocument/2006/relationships/slide" Target="slides/slide534.xml"/><Relationship Id="rId536" Type="http://schemas.openxmlformats.org/officeDocument/2006/relationships/slide" Target="slides/slide535.xml"/><Relationship Id="rId537" Type="http://schemas.openxmlformats.org/officeDocument/2006/relationships/slide" Target="slides/slide536.xml"/><Relationship Id="rId538" Type="http://schemas.openxmlformats.org/officeDocument/2006/relationships/slide" Target="slides/slide537.xml"/><Relationship Id="rId539" Type="http://schemas.openxmlformats.org/officeDocument/2006/relationships/slide" Target="slides/slide538.xml"/><Relationship Id="rId540" Type="http://schemas.openxmlformats.org/officeDocument/2006/relationships/slide" Target="slides/slide539.xml"/><Relationship Id="rId541" Type="http://schemas.openxmlformats.org/officeDocument/2006/relationships/slide" Target="slides/slide540.xml"/><Relationship Id="rId542" Type="http://schemas.openxmlformats.org/officeDocument/2006/relationships/slide" Target="slides/slide541.xml"/><Relationship Id="rId543" Type="http://schemas.openxmlformats.org/officeDocument/2006/relationships/slide" Target="slides/slide542.xml"/><Relationship Id="rId544" Type="http://schemas.openxmlformats.org/officeDocument/2006/relationships/slide" Target="slides/slide543.xml"/><Relationship Id="rId545" Type="http://schemas.openxmlformats.org/officeDocument/2006/relationships/slide" Target="slides/slide544.xml"/><Relationship Id="rId546" Type="http://schemas.openxmlformats.org/officeDocument/2006/relationships/slide" Target="slides/slide545.xml"/><Relationship Id="rId547" Type="http://schemas.openxmlformats.org/officeDocument/2006/relationships/slide" Target="slides/slide546.xml"/><Relationship Id="rId548" Type="http://schemas.openxmlformats.org/officeDocument/2006/relationships/slide" Target="slides/slide547.xml"/><Relationship Id="rId549" Type="http://schemas.openxmlformats.org/officeDocument/2006/relationships/slide" Target="slides/slide548.xml"/><Relationship Id="rId550" Type="http://schemas.openxmlformats.org/officeDocument/2006/relationships/slide" Target="slides/slide549.xml"/><Relationship Id="rId551" Type="http://schemas.openxmlformats.org/officeDocument/2006/relationships/slide" Target="slides/slide550.xml"/><Relationship Id="rId552" Type="http://schemas.openxmlformats.org/officeDocument/2006/relationships/slide" Target="slides/slide551.xml"/><Relationship Id="rId553" Type="http://schemas.openxmlformats.org/officeDocument/2006/relationships/slide" Target="slides/slide552.xml"/><Relationship Id="rId554" Type="http://schemas.openxmlformats.org/officeDocument/2006/relationships/slide" Target="slides/slide553.xml"/><Relationship Id="rId555" Type="http://schemas.openxmlformats.org/officeDocument/2006/relationships/slide" Target="slides/slide554.xml"/><Relationship Id="rId556" Type="http://schemas.openxmlformats.org/officeDocument/2006/relationships/slide" Target="slides/slide555.xml"/><Relationship Id="rId557" Type="http://schemas.openxmlformats.org/officeDocument/2006/relationships/slide" Target="slides/slide556.xml"/><Relationship Id="rId558" Type="http://schemas.openxmlformats.org/officeDocument/2006/relationships/slide" Target="slides/slide557.xml"/><Relationship Id="rId559" Type="http://schemas.openxmlformats.org/officeDocument/2006/relationships/slide" Target="slides/slide558.xml"/><Relationship Id="rId560" Type="http://schemas.openxmlformats.org/officeDocument/2006/relationships/slide" Target="slides/slide559.xml"/><Relationship Id="rId561" Type="http://schemas.openxmlformats.org/officeDocument/2006/relationships/slide" Target="slides/slide560.xml"/><Relationship Id="rId562" Type="http://schemas.openxmlformats.org/officeDocument/2006/relationships/slide" Target="slides/slide561.xml"/><Relationship Id="rId563" Type="http://schemas.openxmlformats.org/officeDocument/2006/relationships/slide" Target="slides/slide562.xml"/><Relationship Id="rId564" Type="http://schemas.openxmlformats.org/officeDocument/2006/relationships/slide" Target="slides/slide563.xml"/><Relationship Id="rId565" Type="http://schemas.openxmlformats.org/officeDocument/2006/relationships/slide" Target="slides/slide564.xml"/><Relationship Id="rId566" Type="http://schemas.openxmlformats.org/officeDocument/2006/relationships/slide" Target="slides/slide565.xml"/><Relationship Id="rId567" Type="http://schemas.openxmlformats.org/officeDocument/2006/relationships/slide" Target="slides/slide566.xml"/><Relationship Id="rId568" Type="http://schemas.openxmlformats.org/officeDocument/2006/relationships/slide" Target="slides/slide567.xml"/><Relationship Id="rId569" Type="http://schemas.openxmlformats.org/officeDocument/2006/relationships/slide" Target="slides/slide568.xml"/><Relationship Id="rId570" Type="http://schemas.openxmlformats.org/officeDocument/2006/relationships/slide" Target="slides/slide569.xml"/><Relationship Id="rId571" Type="http://schemas.openxmlformats.org/officeDocument/2006/relationships/slide" Target="slides/slide570.xml"/><Relationship Id="rId572" Type="http://schemas.openxmlformats.org/officeDocument/2006/relationships/slide" Target="slides/slide571.xml"/><Relationship Id="rId573" Type="http://schemas.openxmlformats.org/officeDocument/2006/relationships/slide" Target="slides/slide572.xml"/><Relationship Id="rId574" Type="http://schemas.openxmlformats.org/officeDocument/2006/relationships/slide" Target="slides/slide573.xml"/><Relationship Id="rId575" Type="http://schemas.openxmlformats.org/officeDocument/2006/relationships/slide" Target="slides/slide574.xml"/><Relationship Id="rId576" Type="http://schemas.openxmlformats.org/officeDocument/2006/relationships/slide" Target="slides/slide575.xml"/><Relationship Id="rId577" Type="http://schemas.openxmlformats.org/officeDocument/2006/relationships/slide" Target="slides/slide576.xml"/><Relationship Id="rId578" Type="http://schemas.openxmlformats.org/officeDocument/2006/relationships/slide" Target="slides/slide577.xml"/><Relationship Id="rId579" Type="http://schemas.openxmlformats.org/officeDocument/2006/relationships/slide" Target="slides/slide578.xml"/><Relationship Id="rId580" Type="http://schemas.openxmlformats.org/officeDocument/2006/relationships/slide" Target="slides/slide579.xml"/><Relationship Id="rId581" Type="http://schemas.openxmlformats.org/officeDocument/2006/relationships/slide" Target="slides/slide580.xml"/><Relationship Id="rId582" Type="http://schemas.openxmlformats.org/officeDocument/2006/relationships/slide" Target="slides/slide581.xml"/><Relationship Id="rId583" Type="http://schemas.openxmlformats.org/officeDocument/2006/relationships/slide" Target="slides/slide582.xml"/><Relationship Id="rId584" Type="http://schemas.openxmlformats.org/officeDocument/2006/relationships/slide" Target="slides/slide583.xml"/><Relationship Id="rId585" Type="http://schemas.openxmlformats.org/officeDocument/2006/relationships/slide" Target="slides/slide584.xml"/><Relationship Id="rId586" Type="http://schemas.openxmlformats.org/officeDocument/2006/relationships/slide" Target="slides/slide585.xml"/><Relationship Id="rId587" Type="http://schemas.openxmlformats.org/officeDocument/2006/relationships/slide" Target="slides/slide586.xml"/><Relationship Id="rId588" Type="http://schemas.openxmlformats.org/officeDocument/2006/relationships/slide" Target="slides/slide587.xml"/><Relationship Id="rId589" Type="http://schemas.openxmlformats.org/officeDocument/2006/relationships/slide" Target="slides/slide588.xml"/><Relationship Id="rId590" Type="http://schemas.openxmlformats.org/officeDocument/2006/relationships/slide" Target="slides/slide589.xml"/><Relationship Id="rId591" Type="http://schemas.openxmlformats.org/officeDocument/2006/relationships/slide" Target="slides/slide590.xml"/><Relationship Id="rId592" Type="http://schemas.openxmlformats.org/officeDocument/2006/relationships/slide" Target="slides/slide591.xml"/><Relationship Id="rId593" Type="http://schemas.openxmlformats.org/officeDocument/2006/relationships/slide" Target="slides/slide592.xml"/><Relationship Id="rId594" Type="http://schemas.openxmlformats.org/officeDocument/2006/relationships/slide" Target="slides/slide593.xml"/><Relationship Id="rId595" Type="http://schemas.openxmlformats.org/officeDocument/2006/relationships/slide" Target="slides/slide594.xml"/><Relationship Id="rId596" Type="http://schemas.openxmlformats.org/officeDocument/2006/relationships/slide" Target="slides/slide595.xml"/><Relationship Id="rId597" Type="http://schemas.openxmlformats.org/officeDocument/2006/relationships/slide" Target="slides/slide596.xml"/><Relationship Id="rId598" Type="http://schemas.openxmlformats.org/officeDocument/2006/relationships/slide" Target="slides/slide597.xml"/><Relationship Id="rId599" Type="http://schemas.openxmlformats.org/officeDocument/2006/relationships/slide" Target="slides/slide598.xml"/><Relationship Id="rId600" Type="http://schemas.openxmlformats.org/officeDocument/2006/relationships/slide" Target="slides/slide599.xml"/><Relationship Id="rId601" Type="http://schemas.openxmlformats.org/officeDocument/2006/relationships/slide" Target="slides/slide600.xml"/><Relationship Id="rId602" Type="http://schemas.openxmlformats.org/officeDocument/2006/relationships/slide" Target="slides/slide601.xml"/><Relationship Id="rId603" Type="http://schemas.openxmlformats.org/officeDocument/2006/relationships/slide" Target="slides/slide602.xml"/><Relationship Id="rId604" Type="http://schemas.openxmlformats.org/officeDocument/2006/relationships/slide" Target="slides/slide603.xml"/><Relationship Id="rId605" Type="http://schemas.openxmlformats.org/officeDocument/2006/relationships/slide" Target="slides/slide604.xml"/><Relationship Id="rId606" Type="http://schemas.openxmlformats.org/officeDocument/2006/relationships/slide" Target="slides/slide605.xml"/><Relationship Id="rId607" Type="http://schemas.openxmlformats.org/officeDocument/2006/relationships/slide" Target="slides/slide606.xml"/><Relationship Id="rId608" Type="http://schemas.openxmlformats.org/officeDocument/2006/relationships/slide" Target="slides/slide607.xml"/><Relationship Id="rId609" Type="http://schemas.openxmlformats.org/officeDocument/2006/relationships/slide" Target="slides/slide608.xml"/><Relationship Id="rId610" Type="http://schemas.openxmlformats.org/officeDocument/2006/relationships/slide" Target="slides/slide609.xml"/><Relationship Id="rId611" Type="http://schemas.openxmlformats.org/officeDocument/2006/relationships/slide" Target="slides/slide610.xml"/><Relationship Id="rId612" Type="http://schemas.openxmlformats.org/officeDocument/2006/relationships/slide" Target="slides/slide611.xml"/><Relationship Id="rId613" Type="http://schemas.openxmlformats.org/officeDocument/2006/relationships/slide" Target="slides/slide612.xml"/><Relationship Id="rId614" Type="http://schemas.openxmlformats.org/officeDocument/2006/relationships/slide" Target="slides/slide613.xml"/><Relationship Id="rId615" Type="http://schemas.openxmlformats.org/officeDocument/2006/relationships/slide" Target="slides/slide614.xml"/><Relationship Id="rId616" Type="http://schemas.openxmlformats.org/officeDocument/2006/relationships/slide" Target="slides/slide615.xml"/><Relationship Id="rId617" Type="http://schemas.openxmlformats.org/officeDocument/2006/relationships/slide" Target="slides/slide616.xml"/><Relationship Id="rId618" Type="http://schemas.openxmlformats.org/officeDocument/2006/relationships/slide" Target="slides/slide617.xml"/><Relationship Id="rId619" Type="http://schemas.openxmlformats.org/officeDocument/2006/relationships/slide" Target="slides/slide618.xml"/><Relationship Id="rId620" Type="http://schemas.openxmlformats.org/officeDocument/2006/relationships/slide" Target="slides/slide619.xml"/><Relationship Id="rId621" Type="http://schemas.openxmlformats.org/officeDocument/2006/relationships/slide" Target="slides/slide620.xml"/><Relationship Id="rId622" Type="http://schemas.openxmlformats.org/officeDocument/2006/relationships/slide" Target="slides/slide621.xml"/><Relationship Id="rId623" Type="http://schemas.openxmlformats.org/officeDocument/2006/relationships/slide" Target="slides/slide622.xml"/><Relationship Id="rId624" Type="http://schemas.openxmlformats.org/officeDocument/2006/relationships/slide" Target="slides/slide623.xml"/><Relationship Id="rId625" Type="http://schemas.openxmlformats.org/officeDocument/2006/relationships/slide" Target="slides/slide624.xml"/><Relationship Id="rId626" Type="http://schemas.openxmlformats.org/officeDocument/2006/relationships/slide" Target="slides/slide625.xml"/><Relationship Id="rId627" Type="http://schemas.openxmlformats.org/officeDocument/2006/relationships/slide" Target="slides/slide626.xml"/><Relationship Id="rId628" Type="http://schemas.openxmlformats.org/officeDocument/2006/relationships/slide" Target="slides/slide627.xml"/><Relationship Id="rId629" Type="http://schemas.openxmlformats.org/officeDocument/2006/relationships/slide" Target="slides/slide628.xml"/><Relationship Id="rId630" Type="http://schemas.openxmlformats.org/officeDocument/2006/relationships/slide" Target="slides/slide629.xml"/><Relationship Id="rId631" Type="http://schemas.openxmlformats.org/officeDocument/2006/relationships/slide" Target="slides/slide630.xml"/><Relationship Id="rId632" Type="http://schemas.openxmlformats.org/officeDocument/2006/relationships/slide" Target="slides/slide631.xml"/><Relationship Id="rId633" Type="http://schemas.openxmlformats.org/officeDocument/2006/relationships/slide" Target="slides/slide632.xml"/><Relationship Id="rId634" Type="http://schemas.openxmlformats.org/officeDocument/2006/relationships/slide" Target="slides/slide633.xml"/><Relationship Id="rId635" Type="http://schemas.openxmlformats.org/officeDocument/2006/relationships/slide" Target="slides/slide634.xml"/><Relationship Id="rId636" Type="http://schemas.openxmlformats.org/officeDocument/2006/relationships/slide" Target="slides/slide635.xml"/><Relationship Id="rId637" Type="http://schemas.openxmlformats.org/officeDocument/2006/relationships/slide" Target="slides/slide636.xml"/><Relationship Id="rId638" Type="http://schemas.openxmlformats.org/officeDocument/2006/relationships/slide" Target="slides/slide637.xml"/><Relationship Id="rId639" Type="http://schemas.openxmlformats.org/officeDocument/2006/relationships/slide" Target="slides/slide638.xml"/><Relationship Id="rId640" Type="http://schemas.openxmlformats.org/officeDocument/2006/relationships/slide" Target="slides/slide639.xml"/><Relationship Id="rId641" Type="http://schemas.openxmlformats.org/officeDocument/2006/relationships/slide" Target="slides/slide640.xml"/><Relationship Id="rId642" Type="http://schemas.openxmlformats.org/officeDocument/2006/relationships/slide" Target="slides/slide641.xml"/><Relationship Id="rId643" Type="http://schemas.openxmlformats.org/officeDocument/2006/relationships/slide" Target="slides/slide642.xml"/><Relationship Id="rId644" Type="http://schemas.openxmlformats.org/officeDocument/2006/relationships/slide" Target="slides/slide643.xml"/><Relationship Id="rId645" Type="http://schemas.openxmlformats.org/officeDocument/2006/relationships/slide" Target="slides/slide644.xml"/><Relationship Id="rId646" Type="http://schemas.openxmlformats.org/officeDocument/2006/relationships/slide" Target="slides/slide645.xml"/><Relationship Id="rId647" Type="http://schemas.openxmlformats.org/officeDocument/2006/relationships/slide" Target="slides/slide646.xml"/><Relationship Id="rId648" Type="http://schemas.openxmlformats.org/officeDocument/2006/relationships/slide" Target="slides/slide647.xml"/><Relationship Id="rId649" Type="http://schemas.openxmlformats.org/officeDocument/2006/relationships/slide" Target="slides/slide648.xml"/><Relationship Id="rId650" Type="http://schemas.openxmlformats.org/officeDocument/2006/relationships/slide" Target="slides/slide649.xml"/><Relationship Id="rId651" Type="http://schemas.openxmlformats.org/officeDocument/2006/relationships/slide" Target="slides/slide650.xml"/><Relationship Id="rId652" Type="http://schemas.openxmlformats.org/officeDocument/2006/relationships/slide" Target="slides/slide651.xml"/><Relationship Id="rId653" Type="http://schemas.openxmlformats.org/officeDocument/2006/relationships/slide" Target="slides/slide652.xml"/><Relationship Id="rId654" Type="http://schemas.openxmlformats.org/officeDocument/2006/relationships/slide" Target="slides/slide653.xml"/><Relationship Id="rId655" Type="http://schemas.openxmlformats.org/officeDocument/2006/relationships/slide" Target="slides/slide654.xml"/><Relationship Id="rId656" Type="http://schemas.openxmlformats.org/officeDocument/2006/relationships/slide" Target="slides/slide655.xml"/><Relationship Id="rId657" Type="http://schemas.openxmlformats.org/officeDocument/2006/relationships/slide" Target="slides/slide656.xml"/><Relationship Id="rId658" Type="http://schemas.openxmlformats.org/officeDocument/2006/relationships/slide" Target="slides/slide657.xml"/><Relationship Id="rId659" Type="http://schemas.openxmlformats.org/officeDocument/2006/relationships/slide" Target="slides/slide658.xml"/><Relationship Id="rId660" Type="http://schemas.openxmlformats.org/officeDocument/2006/relationships/slide" Target="slides/slide659.xml"/><Relationship Id="rId661" Type="http://schemas.openxmlformats.org/officeDocument/2006/relationships/slide" Target="slides/slide660.xml"/><Relationship Id="rId662" Type="http://schemas.openxmlformats.org/officeDocument/2006/relationships/slide" Target="slides/slide661.xml"/><Relationship Id="rId663" Type="http://schemas.openxmlformats.org/officeDocument/2006/relationships/slide" Target="slides/slide662.xml"/><Relationship Id="rId664" Type="http://schemas.openxmlformats.org/officeDocument/2006/relationships/slide" Target="slides/slide663.xml"/><Relationship Id="rId665" Type="http://schemas.openxmlformats.org/officeDocument/2006/relationships/slide" Target="slides/slide664.xml"/><Relationship Id="rId666" Type="http://schemas.openxmlformats.org/officeDocument/2006/relationships/slide" Target="slides/slide665.xml"/><Relationship Id="rId667" Type="http://schemas.openxmlformats.org/officeDocument/2006/relationships/slide" Target="slides/slide666.xml"/><Relationship Id="rId668" Type="http://schemas.openxmlformats.org/officeDocument/2006/relationships/slide" Target="slides/slide667.xml"/><Relationship Id="rId669" Type="http://schemas.openxmlformats.org/officeDocument/2006/relationships/slide" Target="slides/slide668.xml"/><Relationship Id="rId670" Type="http://schemas.openxmlformats.org/officeDocument/2006/relationships/slide" Target="slides/slide669.xml"/><Relationship Id="rId671" Type="http://schemas.openxmlformats.org/officeDocument/2006/relationships/slide" Target="slides/slide670.xml"/><Relationship Id="rId672" Type="http://schemas.openxmlformats.org/officeDocument/2006/relationships/slide" Target="slides/slide671.xml"/><Relationship Id="rId673" Type="http://schemas.openxmlformats.org/officeDocument/2006/relationships/slide" Target="slides/slide672.xml"/><Relationship Id="rId674" Type="http://schemas.openxmlformats.org/officeDocument/2006/relationships/slide" Target="slides/slide673.xml"/><Relationship Id="rId675" Type="http://schemas.openxmlformats.org/officeDocument/2006/relationships/slide" Target="slides/slide674.xml"/><Relationship Id="rId676" Type="http://schemas.openxmlformats.org/officeDocument/2006/relationships/slide" Target="slides/slide675.xml"/><Relationship Id="rId677" Type="http://schemas.openxmlformats.org/officeDocument/2006/relationships/slide" Target="slides/slide676.xml"/><Relationship Id="rId678" Type="http://schemas.openxmlformats.org/officeDocument/2006/relationships/slide" Target="slides/slide677.xml"/><Relationship Id="rId679" Type="http://schemas.openxmlformats.org/officeDocument/2006/relationships/slide" Target="slides/slide678.xml"/><Relationship Id="rId680" Type="http://schemas.openxmlformats.org/officeDocument/2006/relationships/slide" Target="slides/slide679.xml"/><Relationship Id="rId681" Type="http://schemas.openxmlformats.org/officeDocument/2006/relationships/slide" Target="slides/slide680.xml"/><Relationship Id="rId682" Type="http://schemas.openxmlformats.org/officeDocument/2006/relationships/slide" Target="slides/slide681.xml"/><Relationship Id="rId683" Type="http://schemas.openxmlformats.org/officeDocument/2006/relationships/slide" Target="slides/slide682.xml"/><Relationship Id="rId684" Type="http://schemas.openxmlformats.org/officeDocument/2006/relationships/slide" Target="slides/slide683.xml"/><Relationship Id="rId685" Type="http://schemas.openxmlformats.org/officeDocument/2006/relationships/slide" Target="slides/slide684.xml"/><Relationship Id="rId686" Type="http://schemas.openxmlformats.org/officeDocument/2006/relationships/slide" Target="slides/slide685.xml"/><Relationship Id="rId687" Type="http://schemas.openxmlformats.org/officeDocument/2006/relationships/slide" Target="slides/slide686.xml"/><Relationship Id="rId688" Type="http://schemas.openxmlformats.org/officeDocument/2006/relationships/slide" Target="slides/slide687.xml"/><Relationship Id="rId689" Type="http://schemas.openxmlformats.org/officeDocument/2006/relationships/slide" Target="slides/slide688.xml"/><Relationship Id="rId690" Type="http://schemas.openxmlformats.org/officeDocument/2006/relationships/slide" Target="slides/slide689.xml"/><Relationship Id="rId691" Type="http://schemas.openxmlformats.org/officeDocument/2006/relationships/slide" Target="slides/slide690.xml"/><Relationship Id="rId692" Type="http://schemas.openxmlformats.org/officeDocument/2006/relationships/slide" Target="slides/slide691.xml"/><Relationship Id="rId693" Type="http://schemas.openxmlformats.org/officeDocument/2006/relationships/slide" Target="slides/slide692.xml"/><Relationship Id="rId694" Type="http://schemas.openxmlformats.org/officeDocument/2006/relationships/slide" Target="slides/slide693.xml"/><Relationship Id="rId695" Type="http://schemas.openxmlformats.org/officeDocument/2006/relationships/slide" Target="slides/slide694.xml"/><Relationship Id="rId696" Type="http://schemas.openxmlformats.org/officeDocument/2006/relationships/slide" Target="slides/slide695.xml"/><Relationship Id="rId697" Type="http://schemas.openxmlformats.org/officeDocument/2006/relationships/slide" Target="slides/slide696.xml"/><Relationship Id="rId698" Type="http://schemas.openxmlformats.org/officeDocument/2006/relationships/slide" Target="slides/slide697.xml"/><Relationship Id="rId699" Type="http://schemas.openxmlformats.org/officeDocument/2006/relationships/slide" Target="slides/slide698.xml"/><Relationship Id="rId700" Type="http://schemas.openxmlformats.org/officeDocument/2006/relationships/slide" Target="slides/slide699.xml"/><Relationship Id="rId701" Type="http://schemas.openxmlformats.org/officeDocument/2006/relationships/slide" Target="slides/slide700.xml"/><Relationship Id="rId702" Type="http://schemas.openxmlformats.org/officeDocument/2006/relationships/slide" Target="slides/slide701.xml"/><Relationship Id="rId703" Type="http://schemas.openxmlformats.org/officeDocument/2006/relationships/slide" Target="slides/slide702.xml"/><Relationship Id="rId704" Type="http://schemas.openxmlformats.org/officeDocument/2006/relationships/slide" Target="slides/slide703.xml"/><Relationship Id="rId705" Type="http://schemas.openxmlformats.org/officeDocument/2006/relationships/slide" Target="slides/slide704.xml"/><Relationship Id="rId706" Type="http://schemas.openxmlformats.org/officeDocument/2006/relationships/slide" Target="slides/slide705.xml"/><Relationship Id="rId707" Type="http://schemas.openxmlformats.org/officeDocument/2006/relationships/slide" Target="slides/slide706.xml"/><Relationship Id="rId708" Type="http://schemas.openxmlformats.org/officeDocument/2006/relationships/slide" Target="slides/slide707.xml"/><Relationship Id="rId709" Type="http://schemas.openxmlformats.org/officeDocument/2006/relationships/slide" Target="slides/slide708.xml"/><Relationship Id="rId710" Type="http://schemas.openxmlformats.org/officeDocument/2006/relationships/slide" Target="slides/slide709.xml"/><Relationship Id="rId711" Type="http://schemas.openxmlformats.org/officeDocument/2006/relationships/slide" Target="slides/slide710.xml"/><Relationship Id="rId712" Type="http://schemas.openxmlformats.org/officeDocument/2006/relationships/slide" Target="slides/slide711.xml"/><Relationship Id="rId713" Type="http://schemas.openxmlformats.org/officeDocument/2006/relationships/slide" Target="slides/slide712.xml"/><Relationship Id="rId714" Type="http://schemas.openxmlformats.org/officeDocument/2006/relationships/slide" Target="slides/slide713.xml"/><Relationship Id="rId715" Type="http://schemas.openxmlformats.org/officeDocument/2006/relationships/slide" Target="slides/slide714.xml"/><Relationship Id="rId716" Type="http://schemas.openxmlformats.org/officeDocument/2006/relationships/slide" Target="slides/slide715.xml"/><Relationship Id="rId717" Type="http://schemas.openxmlformats.org/officeDocument/2006/relationships/slide" Target="slides/slide716.xml"/><Relationship Id="rId718" Type="http://schemas.openxmlformats.org/officeDocument/2006/relationships/slide" Target="slides/slide717.xml"/><Relationship Id="rId719" Type="http://schemas.openxmlformats.org/officeDocument/2006/relationships/slide" Target="slides/slide718.xml"/><Relationship Id="rId720" Type="http://schemas.openxmlformats.org/officeDocument/2006/relationships/slide" Target="slides/slide719.xml"/><Relationship Id="rId721" Type="http://schemas.openxmlformats.org/officeDocument/2006/relationships/slide" Target="slides/slide720.xml"/><Relationship Id="rId722" Type="http://schemas.openxmlformats.org/officeDocument/2006/relationships/slide" Target="slides/slide721.xml"/><Relationship Id="rId723" Type="http://schemas.openxmlformats.org/officeDocument/2006/relationships/slide" Target="slides/slide722.xml"/><Relationship Id="rId724" Type="http://schemas.openxmlformats.org/officeDocument/2006/relationships/slide" Target="slides/slide723.xml"/><Relationship Id="rId725" Type="http://schemas.openxmlformats.org/officeDocument/2006/relationships/slide" Target="slides/slide724.xml"/><Relationship Id="rId726" Type="http://schemas.openxmlformats.org/officeDocument/2006/relationships/slide" Target="slides/slide725.xml"/><Relationship Id="rId727" Type="http://schemas.openxmlformats.org/officeDocument/2006/relationships/slide" Target="slides/slide726.xml"/><Relationship Id="rId728" Type="http://schemas.openxmlformats.org/officeDocument/2006/relationships/slide" Target="slides/slide727.xml"/><Relationship Id="rId729" Type="http://schemas.openxmlformats.org/officeDocument/2006/relationships/slide" Target="slides/slide728.xml"/><Relationship Id="rId730" Type="http://schemas.openxmlformats.org/officeDocument/2006/relationships/slide" Target="slides/slide729.xml"/><Relationship Id="rId731" Type="http://schemas.openxmlformats.org/officeDocument/2006/relationships/slide" Target="slides/slide730.xml"/><Relationship Id="rId732" Type="http://schemas.openxmlformats.org/officeDocument/2006/relationships/slide" Target="slides/slide731.xml"/><Relationship Id="rId733" Type="http://schemas.openxmlformats.org/officeDocument/2006/relationships/slide" Target="slides/slide732.xml"/><Relationship Id="rId734" Type="http://schemas.openxmlformats.org/officeDocument/2006/relationships/slide" Target="slides/slide733.xml"/><Relationship Id="rId735" Type="http://schemas.openxmlformats.org/officeDocument/2006/relationships/slide" Target="slides/slide734.xml"/><Relationship Id="rId736" Type="http://schemas.openxmlformats.org/officeDocument/2006/relationships/slide" Target="slides/slide735.xml"/><Relationship Id="rId737" Type="http://schemas.openxmlformats.org/officeDocument/2006/relationships/slide" Target="slides/slide736.xml"/><Relationship Id="rId738" Type="http://schemas.openxmlformats.org/officeDocument/2006/relationships/slide" Target="slides/slide737.xml"/><Relationship Id="rId739" Type="http://schemas.openxmlformats.org/officeDocument/2006/relationships/slide" Target="slides/slide738.xml"/><Relationship Id="rId740" Type="http://schemas.openxmlformats.org/officeDocument/2006/relationships/slide" Target="slides/slide739.xml"/><Relationship Id="rId741" Type="http://schemas.openxmlformats.org/officeDocument/2006/relationships/slide" Target="slides/slide740.xml"/><Relationship Id="rId742" Type="http://schemas.openxmlformats.org/officeDocument/2006/relationships/slide" Target="slides/slide741.xml"/><Relationship Id="rId743" Type="http://schemas.openxmlformats.org/officeDocument/2006/relationships/slide" Target="slides/slide742.xml"/><Relationship Id="rId744" Type="http://schemas.openxmlformats.org/officeDocument/2006/relationships/slide" Target="slides/slide743.xml"/><Relationship Id="rId745" Type="http://schemas.openxmlformats.org/officeDocument/2006/relationships/slide" Target="slides/slide744.xml"/><Relationship Id="rId746" Type="http://schemas.openxmlformats.org/officeDocument/2006/relationships/slide" Target="slides/slide745.xml"/><Relationship Id="rId747" Type="http://schemas.openxmlformats.org/officeDocument/2006/relationships/slide" Target="slides/slide746.xml"/><Relationship Id="rId748" Type="http://schemas.openxmlformats.org/officeDocument/2006/relationships/slide" Target="slides/slide747.xml"/><Relationship Id="rId749" Type="http://schemas.openxmlformats.org/officeDocument/2006/relationships/slide" Target="slides/slide748.xml"/><Relationship Id="rId750" Type="http://schemas.openxmlformats.org/officeDocument/2006/relationships/slide" Target="slides/slide749.xml"/><Relationship Id="rId751" Type="http://schemas.openxmlformats.org/officeDocument/2006/relationships/slide" Target="slides/slide750.xml"/><Relationship Id="rId752" Type="http://schemas.openxmlformats.org/officeDocument/2006/relationships/slide" Target="slides/slide751.xml"/><Relationship Id="rId753" Type="http://schemas.openxmlformats.org/officeDocument/2006/relationships/slide" Target="slides/slide752.xml"/><Relationship Id="rId754" Type="http://schemas.openxmlformats.org/officeDocument/2006/relationships/slide" Target="slides/slide753.xml"/><Relationship Id="rId755" Type="http://schemas.openxmlformats.org/officeDocument/2006/relationships/slide" Target="slides/slide754.xml"/><Relationship Id="rId756" Type="http://schemas.openxmlformats.org/officeDocument/2006/relationships/slide" Target="slides/slide755.xml"/><Relationship Id="rId757" Type="http://schemas.openxmlformats.org/officeDocument/2006/relationships/slide" Target="slides/slide756.xml"/><Relationship Id="rId758" Type="http://schemas.openxmlformats.org/officeDocument/2006/relationships/slide" Target="slides/slide757.xml"/><Relationship Id="rId759" Type="http://schemas.openxmlformats.org/officeDocument/2006/relationships/slide" Target="slides/slide758.xml"/><Relationship Id="rId760" Type="http://schemas.openxmlformats.org/officeDocument/2006/relationships/slide" Target="slides/slide759.xml"/><Relationship Id="rId761" Type="http://schemas.openxmlformats.org/officeDocument/2006/relationships/slide" Target="slides/slide760.xml"/><Relationship Id="rId762" Type="http://schemas.openxmlformats.org/officeDocument/2006/relationships/slide" Target="slides/slide761.xml"/><Relationship Id="rId763" Type="http://schemas.openxmlformats.org/officeDocument/2006/relationships/slide" Target="slides/slide762.xml"/><Relationship Id="rId764" Type="http://schemas.openxmlformats.org/officeDocument/2006/relationships/slide" Target="slides/slide763.xml"/><Relationship Id="rId765" Type="http://schemas.openxmlformats.org/officeDocument/2006/relationships/slide" Target="slides/slide764.xml"/><Relationship Id="rId766" Type="http://schemas.openxmlformats.org/officeDocument/2006/relationships/slide" Target="slides/slide765.xml"/><Relationship Id="rId767" Type="http://schemas.openxmlformats.org/officeDocument/2006/relationships/slide" Target="slides/slide766.xml"/><Relationship Id="rId768" Type="http://schemas.openxmlformats.org/officeDocument/2006/relationships/slide" Target="slides/slide767.xml"/><Relationship Id="rId769" Type="http://schemas.openxmlformats.org/officeDocument/2006/relationships/slide" Target="slides/slide768.xml"/><Relationship Id="rId770" Type="http://schemas.openxmlformats.org/officeDocument/2006/relationships/slide" Target="slides/slide769.xml"/><Relationship Id="rId771" Type="http://schemas.openxmlformats.org/officeDocument/2006/relationships/slide" Target="slides/slide770.xml"/><Relationship Id="rId772" Type="http://schemas.openxmlformats.org/officeDocument/2006/relationships/slide" Target="slides/slide771.xml"/><Relationship Id="rId773" Type="http://schemas.openxmlformats.org/officeDocument/2006/relationships/slide" Target="slides/slide772.xml"/><Relationship Id="rId774" Type="http://schemas.openxmlformats.org/officeDocument/2006/relationships/slide" Target="slides/slide773.xml"/><Relationship Id="rId775" Type="http://schemas.openxmlformats.org/officeDocument/2006/relationships/slide" Target="slides/slide774.xml"/><Relationship Id="rId776" Type="http://schemas.openxmlformats.org/officeDocument/2006/relationships/slide" Target="slides/slide775.xml"/><Relationship Id="rId777" Type="http://schemas.openxmlformats.org/officeDocument/2006/relationships/slide" Target="slides/slide776.xml"/><Relationship Id="rId778" Type="http://schemas.openxmlformats.org/officeDocument/2006/relationships/slide" Target="slides/slide777.xml"/><Relationship Id="rId779" Type="http://schemas.openxmlformats.org/officeDocument/2006/relationships/slide" Target="slides/slide778.xml"/><Relationship Id="rId780" Type="http://schemas.openxmlformats.org/officeDocument/2006/relationships/slide" Target="slides/slide779.xml"/><Relationship Id="rId781" Type="http://schemas.openxmlformats.org/officeDocument/2006/relationships/slide" Target="slides/slide780.xml"/><Relationship Id="rId782" Type="http://schemas.openxmlformats.org/officeDocument/2006/relationships/slide" Target="slides/slide781.xml"/><Relationship Id="rId783" Type="http://schemas.openxmlformats.org/officeDocument/2006/relationships/slide" Target="slides/slide782.xml"/><Relationship Id="rId784" Type="http://schemas.openxmlformats.org/officeDocument/2006/relationships/slide" Target="slides/slide783.xml"/><Relationship Id="rId785" Type="http://schemas.openxmlformats.org/officeDocument/2006/relationships/slide" Target="slides/slide784.xml"/><Relationship Id="rId786" Type="http://schemas.openxmlformats.org/officeDocument/2006/relationships/slide" Target="slides/slide785.xml"/><Relationship Id="rId787" Type="http://schemas.openxmlformats.org/officeDocument/2006/relationships/slide" Target="slides/slide786.xml"/><Relationship Id="rId788" Type="http://schemas.openxmlformats.org/officeDocument/2006/relationships/slide" Target="slides/slide787.xml"/><Relationship Id="rId789" Type="http://schemas.openxmlformats.org/officeDocument/2006/relationships/slide" Target="slides/slide788.xml"/><Relationship Id="rId790" Type="http://schemas.openxmlformats.org/officeDocument/2006/relationships/slide" Target="slides/slide789.xml"/><Relationship Id="rId791" Type="http://schemas.openxmlformats.org/officeDocument/2006/relationships/slide" Target="slides/slide790.xml"/><Relationship Id="rId792" Type="http://schemas.openxmlformats.org/officeDocument/2006/relationships/slide" Target="slides/slide791.xml"/><Relationship Id="rId793" Type="http://schemas.openxmlformats.org/officeDocument/2006/relationships/slide" Target="slides/slide792.xml"/><Relationship Id="rId794" Type="http://schemas.openxmlformats.org/officeDocument/2006/relationships/slide" Target="slides/slide793.xml"/><Relationship Id="rId795" Type="http://schemas.openxmlformats.org/officeDocument/2006/relationships/slide" Target="slides/slide794.xml"/><Relationship Id="rId796" Type="http://schemas.openxmlformats.org/officeDocument/2006/relationships/slide" Target="slides/slide795.xml"/><Relationship Id="rId797" Type="http://schemas.openxmlformats.org/officeDocument/2006/relationships/slide" Target="slides/slide796.xml"/><Relationship Id="rId798" Type="http://schemas.openxmlformats.org/officeDocument/2006/relationships/slide" Target="slides/slide797.xml"/><Relationship Id="rId799" Type="http://schemas.openxmlformats.org/officeDocument/2006/relationships/slide" Target="slides/slide798.xml"/><Relationship Id="rId800" Type="http://schemas.openxmlformats.org/officeDocument/2006/relationships/slide" Target="slides/slide799.xml"/><Relationship Id="rId801" Type="http://schemas.openxmlformats.org/officeDocument/2006/relationships/slide" Target="slides/slide800.xml"/><Relationship Id="rId802" Type="http://schemas.openxmlformats.org/officeDocument/2006/relationships/slide" Target="slides/slide801.xml"/><Relationship Id="rId803" Type="http://schemas.openxmlformats.org/officeDocument/2006/relationships/slide" Target="slides/slide802.xml"/><Relationship Id="rId804" Type="http://schemas.openxmlformats.org/officeDocument/2006/relationships/slide" Target="slides/slide803.xml"/><Relationship Id="rId805" Type="http://schemas.openxmlformats.org/officeDocument/2006/relationships/slide" Target="slides/slide804.xml"/><Relationship Id="rId806" Type="http://schemas.openxmlformats.org/officeDocument/2006/relationships/slide" Target="slides/slide805.xml"/><Relationship Id="rId807" Type="http://schemas.openxmlformats.org/officeDocument/2006/relationships/slide" Target="slides/slide806.xml"/><Relationship Id="rId808" Type="http://schemas.openxmlformats.org/officeDocument/2006/relationships/slide" Target="slides/slide807.xml"/><Relationship Id="rId809" Type="http://schemas.openxmlformats.org/officeDocument/2006/relationships/slide" Target="slides/slide808.xml"/><Relationship Id="rId810" Type="http://schemas.openxmlformats.org/officeDocument/2006/relationships/slide" Target="slides/slide809.xml"/><Relationship Id="rId811" Type="http://schemas.openxmlformats.org/officeDocument/2006/relationships/slide" Target="slides/slide810.xml"/><Relationship Id="rId812" Type="http://schemas.openxmlformats.org/officeDocument/2006/relationships/slide" Target="slides/slide811.xml"/><Relationship Id="rId813" Type="http://schemas.openxmlformats.org/officeDocument/2006/relationships/slide" Target="slides/slide812.xml"/><Relationship Id="rId814" Type="http://schemas.openxmlformats.org/officeDocument/2006/relationships/slide" Target="slides/slide813.xml"/><Relationship Id="rId815" Type="http://schemas.openxmlformats.org/officeDocument/2006/relationships/slide" Target="slides/slide814.xml"/><Relationship Id="rId816" Type="http://schemas.openxmlformats.org/officeDocument/2006/relationships/slide" Target="slides/slide815.xml"/><Relationship Id="rId817" Type="http://schemas.openxmlformats.org/officeDocument/2006/relationships/slide" Target="slides/slide816.xml"/><Relationship Id="rId818" Type="http://schemas.openxmlformats.org/officeDocument/2006/relationships/slide" Target="slides/slide817.xml"/><Relationship Id="rId819" Type="http://schemas.openxmlformats.org/officeDocument/2006/relationships/slide" Target="slides/slide818.xml"/><Relationship Id="rId820" Type="http://schemas.openxmlformats.org/officeDocument/2006/relationships/slide" Target="slides/slide819.xml"/><Relationship Id="rId821" Type="http://schemas.openxmlformats.org/officeDocument/2006/relationships/slide" Target="slides/slide820.xml"/><Relationship Id="rId822" Type="http://schemas.openxmlformats.org/officeDocument/2006/relationships/slide" Target="slides/slide821.xml"/><Relationship Id="rId823" Type="http://schemas.openxmlformats.org/officeDocument/2006/relationships/slide" Target="slides/slide822.xml"/><Relationship Id="rId824" Type="http://schemas.openxmlformats.org/officeDocument/2006/relationships/slide" Target="slides/slide823.xml"/><Relationship Id="rId825" Type="http://schemas.openxmlformats.org/officeDocument/2006/relationships/slide" Target="slides/slide824.xml"/><Relationship Id="rId826" Type="http://schemas.openxmlformats.org/officeDocument/2006/relationships/slide" Target="slides/slide825.xml"/><Relationship Id="rId827" Type="http://schemas.openxmlformats.org/officeDocument/2006/relationships/slide" Target="slides/slide826.xml"/><Relationship Id="rId828" Type="http://schemas.openxmlformats.org/officeDocument/2006/relationships/slide" Target="slides/slide827.xml"/><Relationship Id="rId829" Type="http://schemas.openxmlformats.org/officeDocument/2006/relationships/slide" Target="slides/slide828.xml"/><Relationship Id="rId830" Type="http://schemas.openxmlformats.org/officeDocument/2006/relationships/slide" Target="slides/slide829.xml"/><Relationship Id="rId831" Type="http://schemas.openxmlformats.org/officeDocument/2006/relationships/slide" Target="slides/slide830.xml"/><Relationship Id="rId832" Type="http://schemas.openxmlformats.org/officeDocument/2006/relationships/slide" Target="slides/slide831.xml"/><Relationship Id="rId833" Type="http://schemas.openxmlformats.org/officeDocument/2006/relationships/slide" Target="slides/slide832.xml"/><Relationship Id="rId834" Type="http://schemas.openxmlformats.org/officeDocument/2006/relationships/slide" Target="slides/slide833.xml"/><Relationship Id="rId835" Type="http://schemas.openxmlformats.org/officeDocument/2006/relationships/slide" Target="slides/slide834.xml"/><Relationship Id="rId836" Type="http://schemas.openxmlformats.org/officeDocument/2006/relationships/slide" Target="slides/slide835.xml"/><Relationship Id="rId837" Type="http://schemas.openxmlformats.org/officeDocument/2006/relationships/slide" Target="slides/slide836.xml"/><Relationship Id="rId838" Type="http://schemas.openxmlformats.org/officeDocument/2006/relationships/slide" Target="slides/slide837.xml"/><Relationship Id="rId839" Type="http://schemas.openxmlformats.org/officeDocument/2006/relationships/slide" Target="slides/slide838.xml"/><Relationship Id="rId840" Type="http://schemas.openxmlformats.org/officeDocument/2006/relationships/slide" Target="slides/slide839.xml"/><Relationship Id="rId841" Type="http://schemas.openxmlformats.org/officeDocument/2006/relationships/slide" Target="slides/slide840.xml"/><Relationship Id="rId842" Type="http://schemas.openxmlformats.org/officeDocument/2006/relationships/slide" Target="slides/slide841.xml"/><Relationship Id="rId843" Type="http://schemas.openxmlformats.org/officeDocument/2006/relationships/slide" Target="slides/slide842.xml"/><Relationship Id="rId844" Type="http://schemas.openxmlformats.org/officeDocument/2006/relationships/slide" Target="slides/slide843.xml"/><Relationship Id="rId845" Type="http://schemas.openxmlformats.org/officeDocument/2006/relationships/slide" Target="slides/slide844.xml"/><Relationship Id="rId846" Type="http://schemas.openxmlformats.org/officeDocument/2006/relationships/slide" Target="slides/slide845.xml"/><Relationship Id="rId847" Type="http://schemas.openxmlformats.org/officeDocument/2006/relationships/slide" Target="slides/slide846.xml"/><Relationship Id="rId848" Type="http://schemas.openxmlformats.org/officeDocument/2006/relationships/slide" Target="slides/slide847.xml"/><Relationship Id="rId849" Type="http://schemas.openxmlformats.org/officeDocument/2006/relationships/slide" Target="slides/slide848.xml"/><Relationship Id="rId850" Type="http://schemas.openxmlformats.org/officeDocument/2006/relationships/slide" Target="slides/slide849.xml"/><Relationship Id="rId851" Type="http://schemas.openxmlformats.org/officeDocument/2006/relationships/slide" Target="slides/slide850.xml"/><Relationship Id="rId852" Type="http://schemas.openxmlformats.org/officeDocument/2006/relationships/slide" Target="slides/slide851.xml"/><Relationship Id="rId853" Type="http://schemas.openxmlformats.org/officeDocument/2006/relationships/slide" Target="slides/slide852.xml"/><Relationship Id="rId854" Type="http://schemas.openxmlformats.org/officeDocument/2006/relationships/slide" Target="slides/slide853.xml"/><Relationship Id="rId855" Type="http://schemas.openxmlformats.org/officeDocument/2006/relationships/slide" Target="slides/slide854.xml"/><Relationship Id="rId856" Type="http://schemas.openxmlformats.org/officeDocument/2006/relationships/slide" Target="slides/slide855.xml"/><Relationship Id="rId857" Type="http://schemas.openxmlformats.org/officeDocument/2006/relationships/slide" Target="slides/slide856.xml"/><Relationship Id="rId858" Type="http://schemas.openxmlformats.org/officeDocument/2006/relationships/slide" Target="slides/slide857.xml"/><Relationship Id="rId859" Type="http://schemas.openxmlformats.org/officeDocument/2006/relationships/slide" Target="slides/slide858.xml"/><Relationship Id="rId860" Type="http://schemas.openxmlformats.org/officeDocument/2006/relationships/slide" Target="slides/slide859.xml"/><Relationship Id="rId861" Type="http://schemas.openxmlformats.org/officeDocument/2006/relationships/slide" Target="slides/slide860.xml"/><Relationship Id="rId862" Type="http://schemas.openxmlformats.org/officeDocument/2006/relationships/slide" Target="slides/slide861.xml"/><Relationship Id="rId863" Type="http://schemas.openxmlformats.org/officeDocument/2006/relationships/slide" Target="slides/slide862.xml"/><Relationship Id="rId864" Type="http://schemas.openxmlformats.org/officeDocument/2006/relationships/slide" Target="slides/slide863.xml"/><Relationship Id="rId865" Type="http://schemas.openxmlformats.org/officeDocument/2006/relationships/slide" Target="slides/slide864.xml"/><Relationship Id="rId866" Type="http://schemas.openxmlformats.org/officeDocument/2006/relationships/slide" Target="slides/slide865.xml"/><Relationship Id="rId867" Type="http://schemas.openxmlformats.org/officeDocument/2006/relationships/slide" Target="slides/slide866.xml"/><Relationship Id="rId868" Type="http://schemas.openxmlformats.org/officeDocument/2006/relationships/slide" Target="slides/slide867.xml"/><Relationship Id="rId869" Type="http://schemas.openxmlformats.org/officeDocument/2006/relationships/slide" Target="slides/slide868.xml"/><Relationship Id="rId870" Type="http://schemas.openxmlformats.org/officeDocument/2006/relationships/slide" Target="slides/slide869.xml"/><Relationship Id="rId871" Type="http://schemas.openxmlformats.org/officeDocument/2006/relationships/slide" Target="slides/slide870.xml"/><Relationship Id="rId872" Type="http://schemas.openxmlformats.org/officeDocument/2006/relationships/slide" Target="slides/slide871.xml"/><Relationship Id="rId873" Type="http://schemas.openxmlformats.org/officeDocument/2006/relationships/slide" Target="slides/slide872.xml"/><Relationship Id="rId874" Type="http://schemas.openxmlformats.org/officeDocument/2006/relationships/slide" Target="slides/slide873.xml"/><Relationship Id="rId875" Type="http://schemas.openxmlformats.org/officeDocument/2006/relationships/slide" Target="slides/slide874.xml"/><Relationship Id="rId876" Type="http://schemas.openxmlformats.org/officeDocument/2006/relationships/slide" Target="slides/slide875.xml"/><Relationship Id="rId877" Type="http://schemas.openxmlformats.org/officeDocument/2006/relationships/slide" Target="slides/slide876.xml"/><Relationship Id="rId878" Type="http://schemas.openxmlformats.org/officeDocument/2006/relationships/slide" Target="slides/slide877.xml"/><Relationship Id="rId879" Type="http://schemas.openxmlformats.org/officeDocument/2006/relationships/slide" Target="slides/slide878.xml"/><Relationship Id="rId880" Type="http://schemas.openxmlformats.org/officeDocument/2006/relationships/slide" Target="slides/slide879.xml"/><Relationship Id="rId881" Type="http://schemas.openxmlformats.org/officeDocument/2006/relationships/slide" Target="slides/slide880.xml"/><Relationship Id="rId882" Type="http://schemas.openxmlformats.org/officeDocument/2006/relationships/slide" Target="slides/slide881.xml"/><Relationship Id="rId883" Type="http://schemas.openxmlformats.org/officeDocument/2006/relationships/slide" Target="slides/slide882.xml"/><Relationship Id="rId884" Type="http://schemas.openxmlformats.org/officeDocument/2006/relationships/slide" Target="slides/slide883.xml"/><Relationship Id="rId885" Type="http://schemas.openxmlformats.org/officeDocument/2006/relationships/slide" Target="slides/slide884.xml"/><Relationship Id="rId886" Type="http://schemas.openxmlformats.org/officeDocument/2006/relationships/slide" Target="slides/slide885.xml"/><Relationship Id="rId887" Type="http://schemas.openxmlformats.org/officeDocument/2006/relationships/slide" Target="slides/slide886.xml"/><Relationship Id="rId888" Type="http://schemas.openxmlformats.org/officeDocument/2006/relationships/slide" Target="slides/slide887.xml"/><Relationship Id="rId889" Type="http://schemas.openxmlformats.org/officeDocument/2006/relationships/slide" Target="slides/slide888.xml"/><Relationship Id="rId890" Type="http://schemas.openxmlformats.org/officeDocument/2006/relationships/slide" Target="slides/slide889.xml"/><Relationship Id="rId891" Type="http://schemas.openxmlformats.org/officeDocument/2006/relationships/slide" Target="slides/slide890.xml"/><Relationship Id="rId892" Type="http://schemas.openxmlformats.org/officeDocument/2006/relationships/slide" Target="slides/slide891.xml"/><Relationship Id="rId893" Type="http://schemas.openxmlformats.org/officeDocument/2006/relationships/slide" Target="slides/slide892.xml"/><Relationship Id="rId894" Type="http://schemas.openxmlformats.org/officeDocument/2006/relationships/slide" Target="slides/slide893.xml"/><Relationship Id="rId895" Type="http://schemas.openxmlformats.org/officeDocument/2006/relationships/slide" Target="slides/slide894.xml"/><Relationship Id="rId896" Type="http://schemas.openxmlformats.org/officeDocument/2006/relationships/slide" Target="slides/slide895.xml"/><Relationship Id="rId897" Type="http://schemas.openxmlformats.org/officeDocument/2006/relationships/slide" Target="slides/slide896.xml"/><Relationship Id="rId898" Type="http://schemas.openxmlformats.org/officeDocument/2006/relationships/slide" Target="slides/slide897.xml"/><Relationship Id="rId899" Type="http://schemas.openxmlformats.org/officeDocument/2006/relationships/slide" Target="slides/slide898.xml"/><Relationship Id="rId900" Type="http://schemas.openxmlformats.org/officeDocument/2006/relationships/slide" Target="slides/slide899.xml"/><Relationship Id="rId901" Type="http://schemas.openxmlformats.org/officeDocument/2006/relationships/slide" Target="slides/slide900.xml"/><Relationship Id="rId902" Type="http://schemas.openxmlformats.org/officeDocument/2006/relationships/slide" Target="slides/slide901.xml"/><Relationship Id="rId903" Type="http://schemas.openxmlformats.org/officeDocument/2006/relationships/slide" Target="slides/slide902.xml"/><Relationship Id="rId904" Type="http://schemas.openxmlformats.org/officeDocument/2006/relationships/slide" Target="slides/slide903.xml"/><Relationship Id="rId905" Type="http://schemas.openxmlformats.org/officeDocument/2006/relationships/slide" Target="slides/slide904.xml"/><Relationship Id="rId906" Type="http://schemas.openxmlformats.org/officeDocument/2006/relationships/slide" Target="slides/slide905.xml"/><Relationship Id="rId907" Type="http://schemas.openxmlformats.org/officeDocument/2006/relationships/slide" Target="slides/slide906.xml"/><Relationship Id="rId908" Type="http://schemas.openxmlformats.org/officeDocument/2006/relationships/slide" Target="slides/slide907.xml"/><Relationship Id="rId909" Type="http://schemas.openxmlformats.org/officeDocument/2006/relationships/slide" Target="slides/slide908.xml"/><Relationship Id="rId910" Type="http://schemas.openxmlformats.org/officeDocument/2006/relationships/slide" Target="slides/slide909.xml"/><Relationship Id="rId911" Type="http://schemas.openxmlformats.org/officeDocument/2006/relationships/slide" Target="slides/slide910.xml"/><Relationship Id="rId912" Type="http://schemas.openxmlformats.org/officeDocument/2006/relationships/slide" Target="slides/slide911.xml"/><Relationship Id="rId913" Type="http://schemas.openxmlformats.org/officeDocument/2006/relationships/slide" Target="slides/slide912.xml"/><Relationship Id="rId914" Type="http://schemas.openxmlformats.org/officeDocument/2006/relationships/slide" Target="slides/slide913.xml"/><Relationship Id="rId915" Type="http://schemas.openxmlformats.org/officeDocument/2006/relationships/slide" Target="slides/slide914.xml"/><Relationship Id="rId916" Type="http://schemas.openxmlformats.org/officeDocument/2006/relationships/slide" Target="slides/slide915.xml"/><Relationship Id="rId917" Type="http://schemas.openxmlformats.org/officeDocument/2006/relationships/slide" Target="slides/slide916.xml"/><Relationship Id="rId918" Type="http://schemas.openxmlformats.org/officeDocument/2006/relationships/slide" Target="slides/slide917.xml"/><Relationship Id="rId919" Type="http://schemas.openxmlformats.org/officeDocument/2006/relationships/slide" Target="slides/slide918.xml"/><Relationship Id="rId920" Type="http://schemas.openxmlformats.org/officeDocument/2006/relationships/slide" Target="slides/slide919.xml"/><Relationship Id="rId921" Type="http://schemas.openxmlformats.org/officeDocument/2006/relationships/slide" Target="slides/slide920.xml"/><Relationship Id="rId922" Type="http://schemas.openxmlformats.org/officeDocument/2006/relationships/slide" Target="slides/slide921.xml"/><Relationship Id="rId923" Type="http://schemas.openxmlformats.org/officeDocument/2006/relationships/slide" Target="slides/slide922.xml"/><Relationship Id="rId924" Type="http://schemas.openxmlformats.org/officeDocument/2006/relationships/slide" Target="slides/slide923.xml"/><Relationship Id="rId925" Type="http://schemas.openxmlformats.org/officeDocument/2006/relationships/slide" Target="slides/slide924.xml"/><Relationship Id="rId926" Type="http://schemas.openxmlformats.org/officeDocument/2006/relationships/slide" Target="slides/slide925.xml"/><Relationship Id="rId927" Type="http://schemas.openxmlformats.org/officeDocument/2006/relationships/slide" Target="slides/slide926.xml"/><Relationship Id="rId928" Type="http://schemas.openxmlformats.org/officeDocument/2006/relationships/slide" Target="slides/slide927.xml"/><Relationship Id="rId929" Type="http://schemas.openxmlformats.org/officeDocument/2006/relationships/slide" Target="slides/slide928.xml"/><Relationship Id="rId930" Type="http://schemas.openxmlformats.org/officeDocument/2006/relationships/slide" Target="slides/slide929.xml"/><Relationship Id="rId931" Type="http://schemas.openxmlformats.org/officeDocument/2006/relationships/slide" Target="slides/slide930.xml"/><Relationship Id="rId932" Type="http://schemas.openxmlformats.org/officeDocument/2006/relationships/slide" Target="slides/slide931.xml"/><Relationship Id="rId933" Type="http://schemas.openxmlformats.org/officeDocument/2006/relationships/slide" Target="slides/slide932.xml"/><Relationship Id="rId934" Type="http://schemas.openxmlformats.org/officeDocument/2006/relationships/slide" Target="slides/slide933.xml"/><Relationship Id="rId935" Type="http://schemas.openxmlformats.org/officeDocument/2006/relationships/slide" Target="slides/slide934.xml"/><Relationship Id="rId936" Type="http://schemas.openxmlformats.org/officeDocument/2006/relationships/slide" Target="slides/slide935.xml"/><Relationship Id="rId937" Type="http://schemas.openxmlformats.org/officeDocument/2006/relationships/slide" Target="slides/slide936.xml"/><Relationship Id="rId938" Type="http://schemas.openxmlformats.org/officeDocument/2006/relationships/slide" Target="slides/slide937.xml"/><Relationship Id="rId939" Type="http://schemas.openxmlformats.org/officeDocument/2006/relationships/slide" Target="slides/slide938.xml"/><Relationship Id="rId940" Type="http://schemas.openxmlformats.org/officeDocument/2006/relationships/slide" Target="slides/slide939.xml"/><Relationship Id="rId941" Type="http://schemas.openxmlformats.org/officeDocument/2006/relationships/slide" Target="slides/slide940.xml"/><Relationship Id="rId942" Type="http://schemas.openxmlformats.org/officeDocument/2006/relationships/slide" Target="slides/slide941.xml"/><Relationship Id="rId943" Type="http://schemas.openxmlformats.org/officeDocument/2006/relationships/slide" Target="slides/slide942.xml"/><Relationship Id="rId944" Type="http://schemas.openxmlformats.org/officeDocument/2006/relationships/slide" Target="slides/slide943.xml"/><Relationship Id="rId945" Type="http://schemas.openxmlformats.org/officeDocument/2006/relationships/slide" Target="slides/slide944.xml"/><Relationship Id="rId946" Type="http://schemas.openxmlformats.org/officeDocument/2006/relationships/slide" Target="slides/slide945.xml"/><Relationship Id="rId947" Type="http://schemas.openxmlformats.org/officeDocument/2006/relationships/slide" Target="slides/slide946.xml"/><Relationship Id="rId948" Type="http://schemas.openxmlformats.org/officeDocument/2006/relationships/slide" Target="slides/slide947.xml"/><Relationship Id="rId949" Type="http://schemas.openxmlformats.org/officeDocument/2006/relationships/slide" Target="slides/slide948.xml"/><Relationship Id="rId950" Type="http://schemas.openxmlformats.org/officeDocument/2006/relationships/slide" Target="slides/slide949.xml"/><Relationship Id="rId951" Type="http://schemas.openxmlformats.org/officeDocument/2006/relationships/slide" Target="slides/slide950.xml"/><Relationship Id="rId952" Type="http://schemas.openxmlformats.org/officeDocument/2006/relationships/slide" Target="slides/slide951.xml"/><Relationship Id="rId953" Type="http://schemas.openxmlformats.org/officeDocument/2006/relationships/slide" Target="slides/slide952.xml"/><Relationship Id="rId954" Type="http://schemas.openxmlformats.org/officeDocument/2006/relationships/slide" Target="slides/slide953.xml"/><Relationship Id="rId955" Type="http://schemas.openxmlformats.org/officeDocument/2006/relationships/slide" Target="slides/slide954.xml"/><Relationship Id="rId956" Type="http://schemas.openxmlformats.org/officeDocument/2006/relationships/slide" Target="slides/slide955.xml"/><Relationship Id="rId957" Type="http://schemas.openxmlformats.org/officeDocument/2006/relationships/slide" Target="slides/slide956.xml"/><Relationship Id="rId958" Type="http://schemas.openxmlformats.org/officeDocument/2006/relationships/slide" Target="slides/slide957.xml"/><Relationship Id="rId959" Type="http://schemas.openxmlformats.org/officeDocument/2006/relationships/slide" Target="slides/slide958.xml"/><Relationship Id="rId960" Type="http://schemas.openxmlformats.org/officeDocument/2006/relationships/slide" Target="slides/slide959.xml"/><Relationship Id="rId961" Type="http://schemas.openxmlformats.org/officeDocument/2006/relationships/slide" Target="slides/slide960.xml"/><Relationship Id="rId962" Type="http://schemas.openxmlformats.org/officeDocument/2006/relationships/slide" Target="slides/slide961.xml"/><Relationship Id="rId963" Type="http://schemas.openxmlformats.org/officeDocument/2006/relationships/slide" Target="slides/slide962.xml"/><Relationship Id="rId964" Type="http://schemas.openxmlformats.org/officeDocument/2006/relationships/slide" Target="slides/slide963.xml"/><Relationship Id="rId965" Type="http://schemas.openxmlformats.org/officeDocument/2006/relationships/slide" Target="slides/slide964.xml"/><Relationship Id="rId966" Type="http://schemas.openxmlformats.org/officeDocument/2006/relationships/slide" Target="slides/slide965.xml"/><Relationship Id="rId967" Type="http://schemas.openxmlformats.org/officeDocument/2006/relationships/slide" Target="slides/slide966.xml"/><Relationship Id="rId968" Type="http://schemas.openxmlformats.org/officeDocument/2006/relationships/slide" Target="slides/slide967.xml"/><Relationship Id="rId969" Type="http://schemas.openxmlformats.org/officeDocument/2006/relationships/slide" Target="slides/slide968.xml"/><Relationship Id="rId970" Type="http://schemas.openxmlformats.org/officeDocument/2006/relationships/slide" Target="slides/slide969.xml"/><Relationship Id="rId971" Type="http://schemas.openxmlformats.org/officeDocument/2006/relationships/slide" Target="slides/slide970.xml"/><Relationship Id="rId972" Type="http://schemas.openxmlformats.org/officeDocument/2006/relationships/slide" Target="slides/slide971.xml"/><Relationship Id="rId973" Type="http://schemas.openxmlformats.org/officeDocument/2006/relationships/slide" Target="slides/slide972.xml"/><Relationship Id="rId974" Type="http://schemas.openxmlformats.org/officeDocument/2006/relationships/slide" Target="slides/slide973.xml"/><Relationship Id="rId975" Type="http://schemas.openxmlformats.org/officeDocument/2006/relationships/slide" Target="slides/slide974.xml"/><Relationship Id="rId976" Type="http://schemas.openxmlformats.org/officeDocument/2006/relationships/slide" Target="slides/slide975.xml"/><Relationship Id="rId977" Type="http://schemas.openxmlformats.org/officeDocument/2006/relationships/slide" Target="slides/slide976.xml"/><Relationship Id="rId978" Type="http://schemas.openxmlformats.org/officeDocument/2006/relationships/slide" Target="slides/slide977.xml"/><Relationship Id="rId979" Type="http://schemas.openxmlformats.org/officeDocument/2006/relationships/slide" Target="slides/slide978.xml"/><Relationship Id="rId980" Type="http://schemas.openxmlformats.org/officeDocument/2006/relationships/slide" Target="slides/slide979.xml"/><Relationship Id="rId981" Type="http://schemas.openxmlformats.org/officeDocument/2006/relationships/slide" Target="slides/slide980.xml"/><Relationship Id="rId982" Type="http://schemas.openxmlformats.org/officeDocument/2006/relationships/slide" Target="slides/slide981.xml"/><Relationship Id="rId983" Type="http://schemas.openxmlformats.org/officeDocument/2006/relationships/slide" Target="slides/slide982.xml"/><Relationship Id="rId984" Type="http://schemas.openxmlformats.org/officeDocument/2006/relationships/slide" Target="slides/slide983.xml"/><Relationship Id="rId985" Type="http://schemas.openxmlformats.org/officeDocument/2006/relationships/slide" Target="slides/slide984.xml"/><Relationship Id="rId986" Type="http://schemas.openxmlformats.org/officeDocument/2006/relationships/slide" Target="slides/slide985.xml"/><Relationship Id="rId987" Type="http://schemas.openxmlformats.org/officeDocument/2006/relationships/slide" Target="slides/slide986.xml"/><Relationship Id="rId988" Type="http://schemas.openxmlformats.org/officeDocument/2006/relationships/slide" Target="slides/slide987.xml"/><Relationship Id="rId989" Type="http://schemas.openxmlformats.org/officeDocument/2006/relationships/slide" Target="slides/slide988.xml"/><Relationship Id="rId990" Type="http://schemas.openxmlformats.org/officeDocument/2006/relationships/slide" Target="slides/slide989.xml"/><Relationship Id="rId991" Type="http://schemas.openxmlformats.org/officeDocument/2006/relationships/slide" Target="slides/slide990.xml"/><Relationship Id="rId992" Type="http://schemas.openxmlformats.org/officeDocument/2006/relationships/slide" Target="slides/slide991.xml"/><Relationship Id="rId993" Type="http://schemas.openxmlformats.org/officeDocument/2006/relationships/slide" Target="slides/slide992.xml"/><Relationship Id="rId994" Type="http://schemas.openxmlformats.org/officeDocument/2006/relationships/slide" Target="slides/slide993.xml"/><Relationship Id="rId995" Type="http://schemas.openxmlformats.org/officeDocument/2006/relationships/slide" Target="slides/slide994.xml"/><Relationship Id="rId996" Type="http://schemas.openxmlformats.org/officeDocument/2006/relationships/slide" Target="slides/slide995.xml"/><Relationship Id="rId997" Type="http://schemas.openxmlformats.org/officeDocument/2006/relationships/slide" Target="slides/slide996.xml"/><Relationship Id="rId998" Type="http://schemas.openxmlformats.org/officeDocument/2006/relationships/slide" Target="slides/slide997.xml"/><Relationship Id="rId999" Type="http://schemas.openxmlformats.org/officeDocument/2006/relationships/slide" Target="slides/slide998.xml"/><Relationship Id="rId1000" Type="http://schemas.openxmlformats.org/officeDocument/2006/relationships/slide" Target="slides/slide999.xml"/><Relationship Id="rId1001" Type="http://schemas.openxmlformats.org/officeDocument/2006/relationships/slide" Target="slides/slide1000.xml"/><Relationship Id="rId1002" Type="http://schemas.openxmlformats.org/officeDocument/2006/relationships/slide" Target="slides/slide1001.xml"/><Relationship Id="rId1003" Type="http://schemas.openxmlformats.org/officeDocument/2006/relationships/slide" Target="slides/slide1002.xml"/><Relationship Id="rId1004" Type="http://schemas.openxmlformats.org/officeDocument/2006/relationships/slide" Target="slides/slide1003.xml"/><Relationship Id="rId1005" Type="http://schemas.openxmlformats.org/officeDocument/2006/relationships/slide" Target="slides/slide1004.xml"/><Relationship Id="rId1006" Type="http://schemas.openxmlformats.org/officeDocument/2006/relationships/slide" Target="slides/slide1005.xml"/><Relationship Id="rId1007" Type="http://schemas.openxmlformats.org/officeDocument/2006/relationships/slide" Target="slides/slide1006.xml"/><Relationship Id="rId1008" Type="http://schemas.openxmlformats.org/officeDocument/2006/relationships/slide" Target="slides/slide1007.xml"/><Relationship Id="rId1009" Type="http://schemas.openxmlformats.org/officeDocument/2006/relationships/slide" Target="slides/slide1008.xml"/><Relationship Id="rId1010" Type="http://schemas.openxmlformats.org/officeDocument/2006/relationships/slide" Target="slides/slide1009.xml"/><Relationship Id="rId1011" Type="http://schemas.openxmlformats.org/officeDocument/2006/relationships/slide" Target="slides/slide1010.xml"/><Relationship Id="rId1012" Type="http://schemas.openxmlformats.org/officeDocument/2006/relationships/slide" Target="slides/slide1011.xml"/><Relationship Id="rId1013" Type="http://schemas.openxmlformats.org/officeDocument/2006/relationships/slide" Target="slides/slide1012.xml"/><Relationship Id="rId1014" Type="http://schemas.openxmlformats.org/officeDocument/2006/relationships/slide" Target="slides/slide1013.xml"/><Relationship Id="rId1015" Type="http://schemas.openxmlformats.org/officeDocument/2006/relationships/slide" Target="slides/slide1014.xml"/><Relationship Id="rId1016" Type="http://schemas.openxmlformats.org/officeDocument/2006/relationships/slide" Target="slides/slide1015.xml"/><Relationship Id="rId1017" Type="http://schemas.openxmlformats.org/officeDocument/2006/relationships/slide" Target="slides/slide1016.xml"/><Relationship Id="rId1018" Type="http://schemas.openxmlformats.org/officeDocument/2006/relationships/slide" Target="slides/slide1017.xml"/><Relationship Id="rId1019" Type="http://schemas.openxmlformats.org/officeDocument/2006/relationships/slide" Target="slides/slide1018.xml"/><Relationship Id="rId1020" Type="http://schemas.openxmlformats.org/officeDocument/2006/relationships/slide" Target="slides/slide1019.xml"/><Relationship Id="rId1021" Type="http://schemas.openxmlformats.org/officeDocument/2006/relationships/slide" Target="slides/slide1020.xml"/><Relationship Id="rId1022" Type="http://schemas.openxmlformats.org/officeDocument/2006/relationships/slide" Target="slides/slide1021.xml"/><Relationship Id="rId1023" Type="http://schemas.openxmlformats.org/officeDocument/2006/relationships/slide" Target="slides/slide1022.xml"/><Relationship Id="rId1024" Type="http://schemas.openxmlformats.org/officeDocument/2006/relationships/slide" Target="slides/slide1023.xml"/><Relationship Id="rId1025" Type="http://schemas.openxmlformats.org/officeDocument/2006/relationships/slide" Target="slides/slide1024.xml"/><Relationship Id="rId1026" Type="http://schemas.openxmlformats.org/officeDocument/2006/relationships/slide" Target="slides/slide1025.xml"/><Relationship Id="rId1027" Type="http://schemas.openxmlformats.org/officeDocument/2006/relationships/slide" Target="slides/slide1026.xml"/><Relationship Id="rId1028" Type="http://schemas.openxmlformats.org/officeDocument/2006/relationships/slide" Target="slides/slide1027.xml"/><Relationship Id="rId1029" Type="http://schemas.openxmlformats.org/officeDocument/2006/relationships/slide" Target="slides/slide1028.xml"/><Relationship Id="rId1030" Type="http://schemas.openxmlformats.org/officeDocument/2006/relationships/slide" Target="slides/slide1029.xml"/><Relationship Id="rId1031" Type="http://schemas.openxmlformats.org/officeDocument/2006/relationships/slide" Target="slides/slide1030.xml"/><Relationship Id="rId1032" Type="http://schemas.openxmlformats.org/officeDocument/2006/relationships/slide" Target="slides/slide1031.xml"/><Relationship Id="rId1033" Type="http://schemas.openxmlformats.org/officeDocument/2006/relationships/slide" Target="slides/slide1032.xml"/><Relationship Id="rId1034" Type="http://schemas.openxmlformats.org/officeDocument/2006/relationships/slide" Target="slides/slide1033.xml"/><Relationship Id="rId1035" Type="http://schemas.openxmlformats.org/officeDocument/2006/relationships/slide" Target="slides/slide1034.xml"/><Relationship Id="rId1036" Type="http://schemas.openxmlformats.org/officeDocument/2006/relationships/slide" Target="slides/slide1035.xml"/><Relationship Id="rId1037" Type="http://schemas.openxmlformats.org/officeDocument/2006/relationships/slide" Target="slides/slide1036.xml"/><Relationship Id="rId1038" Type="http://schemas.openxmlformats.org/officeDocument/2006/relationships/slide" Target="slides/slide1037.xml"/><Relationship Id="rId1039" Type="http://schemas.openxmlformats.org/officeDocument/2006/relationships/slide" Target="slides/slide1038.xml"/><Relationship Id="rId1040" Type="http://schemas.openxmlformats.org/officeDocument/2006/relationships/slide" Target="slides/slide1039.xml"/><Relationship Id="rId1041" Type="http://schemas.openxmlformats.org/officeDocument/2006/relationships/slide" Target="slides/slide1040.xml"/><Relationship Id="rId1042" Type="http://schemas.openxmlformats.org/officeDocument/2006/relationships/slide" Target="slides/slide1041.xml"/><Relationship Id="rId1043" Type="http://schemas.openxmlformats.org/officeDocument/2006/relationships/slide" Target="slides/slide1042.xml"/><Relationship Id="rId1044" Type="http://schemas.openxmlformats.org/officeDocument/2006/relationships/slide" Target="slides/slide1043.xml"/><Relationship Id="rId1045" Type="http://schemas.openxmlformats.org/officeDocument/2006/relationships/slide" Target="slides/slide1044.xml"/><Relationship Id="rId1046" Type="http://schemas.openxmlformats.org/officeDocument/2006/relationships/slide" Target="slides/slide1045.xml"/><Relationship Id="rId1047" Type="http://schemas.openxmlformats.org/officeDocument/2006/relationships/slide" Target="slides/slide1046.xml"/><Relationship Id="rId1048" Type="http://schemas.openxmlformats.org/officeDocument/2006/relationships/slide" Target="slides/slide1047.xml"/><Relationship Id="rId1049" Type="http://schemas.openxmlformats.org/officeDocument/2006/relationships/slide" Target="slides/slide1048.xml"/><Relationship Id="rId1050" Type="http://schemas.openxmlformats.org/officeDocument/2006/relationships/slide" Target="slides/slide1049.xml"/><Relationship Id="rId1051" Type="http://schemas.openxmlformats.org/officeDocument/2006/relationships/slide" Target="slides/slide1050.xml"/><Relationship Id="rId1052" Type="http://schemas.openxmlformats.org/officeDocument/2006/relationships/slide" Target="slides/slide1051.xml"/><Relationship Id="rId1053" Type="http://schemas.openxmlformats.org/officeDocument/2006/relationships/slide" Target="slides/slide1052.xml"/><Relationship Id="rId1054" Type="http://schemas.openxmlformats.org/officeDocument/2006/relationships/slide" Target="slides/slide1053.xml"/><Relationship Id="rId1055" Type="http://schemas.openxmlformats.org/officeDocument/2006/relationships/slide" Target="slides/slide1054.xml"/><Relationship Id="rId1056" Type="http://schemas.openxmlformats.org/officeDocument/2006/relationships/slide" Target="slides/slide1055.xml"/><Relationship Id="rId1057" Type="http://schemas.openxmlformats.org/officeDocument/2006/relationships/slide" Target="slides/slide1056.xml"/><Relationship Id="rId1058" Type="http://schemas.openxmlformats.org/officeDocument/2006/relationships/slide" Target="slides/slide1057.xml"/><Relationship Id="rId1059" Type="http://schemas.openxmlformats.org/officeDocument/2006/relationships/slide" Target="slides/slide1058.xml"/><Relationship Id="rId1060" Type="http://schemas.openxmlformats.org/officeDocument/2006/relationships/slide" Target="slides/slide1059.xml"/><Relationship Id="rId1061" Type="http://schemas.openxmlformats.org/officeDocument/2006/relationships/slide" Target="slides/slide1060.xml"/><Relationship Id="rId1062" Type="http://schemas.openxmlformats.org/officeDocument/2006/relationships/slide" Target="slides/slide1061.xml"/><Relationship Id="rId1063" Type="http://schemas.openxmlformats.org/officeDocument/2006/relationships/slide" Target="slides/slide1062.xml"/><Relationship Id="rId1064" Type="http://schemas.openxmlformats.org/officeDocument/2006/relationships/slide" Target="slides/slide1063.xml"/><Relationship Id="rId1065" Type="http://schemas.openxmlformats.org/officeDocument/2006/relationships/slide" Target="slides/slide1064.xml"/><Relationship Id="rId1066" Type="http://schemas.openxmlformats.org/officeDocument/2006/relationships/slide" Target="slides/slide1065.xml"/><Relationship Id="rId1067" Type="http://schemas.openxmlformats.org/officeDocument/2006/relationships/slide" Target="slides/slide1066.xml"/><Relationship Id="rId1068" Type="http://schemas.openxmlformats.org/officeDocument/2006/relationships/slide" Target="slides/slide1067.xml"/><Relationship Id="rId1069" Type="http://schemas.openxmlformats.org/officeDocument/2006/relationships/slide" Target="slides/slide1068.xml"/><Relationship Id="rId1070" Type="http://schemas.openxmlformats.org/officeDocument/2006/relationships/slide" Target="slides/slide1069.xml"/><Relationship Id="rId1071" Type="http://schemas.openxmlformats.org/officeDocument/2006/relationships/slide" Target="slides/slide1070.xml"/><Relationship Id="rId1072" Type="http://schemas.openxmlformats.org/officeDocument/2006/relationships/slide" Target="slides/slide1071.xml"/><Relationship Id="rId1073" Type="http://schemas.openxmlformats.org/officeDocument/2006/relationships/slide" Target="slides/slide1072.xml"/><Relationship Id="rId1074" Type="http://schemas.openxmlformats.org/officeDocument/2006/relationships/slide" Target="slides/slide1073.xml"/><Relationship Id="rId1075" Type="http://schemas.openxmlformats.org/officeDocument/2006/relationships/slide" Target="slides/slide1074.xml"/><Relationship Id="rId1076" Type="http://schemas.openxmlformats.org/officeDocument/2006/relationships/slide" Target="slides/slide1075.xml"/><Relationship Id="rId1077" Type="http://schemas.openxmlformats.org/officeDocument/2006/relationships/slide" Target="slides/slide1076.xml"/><Relationship Id="rId1078" Type="http://schemas.openxmlformats.org/officeDocument/2006/relationships/slide" Target="slides/slide1077.xml"/><Relationship Id="rId1079" Type="http://schemas.openxmlformats.org/officeDocument/2006/relationships/slide" Target="slides/slide1078.xml"/><Relationship Id="rId1080" Type="http://schemas.openxmlformats.org/officeDocument/2006/relationships/slide" Target="slides/slide1079.xml"/><Relationship Id="rId1081" Type="http://schemas.openxmlformats.org/officeDocument/2006/relationships/slide" Target="slides/slide1080.xml"/><Relationship Id="rId1082" Type="http://schemas.openxmlformats.org/officeDocument/2006/relationships/slide" Target="slides/slide1081.xml"/><Relationship Id="rId1083" Type="http://schemas.openxmlformats.org/officeDocument/2006/relationships/slide" Target="slides/slide1082.xml"/><Relationship Id="rId1084" Type="http://schemas.openxmlformats.org/officeDocument/2006/relationships/slide" Target="slides/slide1083.xml"/><Relationship Id="rId1085" Type="http://schemas.openxmlformats.org/officeDocument/2006/relationships/slide" Target="slides/slide1084.xml"/><Relationship Id="rId1086" Type="http://schemas.openxmlformats.org/officeDocument/2006/relationships/slide" Target="slides/slide1085.xml"/><Relationship Id="rId1087" Type="http://schemas.openxmlformats.org/officeDocument/2006/relationships/slide" Target="slides/slide1086.xml"/><Relationship Id="rId1088" Type="http://schemas.openxmlformats.org/officeDocument/2006/relationships/slide" Target="slides/slide1087.xml"/><Relationship Id="rId1089" Type="http://schemas.openxmlformats.org/officeDocument/2006/relationships/slide" Target="slides/slide1088.xml"/><Relationship Id="rId1090" Type="http://schemas.openxmlformats.org/officeDocument/2006/relationships/slide" Target="slides/slide1089.xml"/><Relationship Id="rId1091" Type="http://schemas.openxmlformats.org/officeDocument/2006/relationships/slide" Target="slides/slide1090.xml"/><Relationship Id="rId1092" Type="http://schemas.openxmlformats.org/officeDocument/2006/relationships/slide" Target="slides/slide1091.xml"/><Relationship Id="rId1093" Type="http://schemas.openxmlformats.org/officeDocument/2006/relationships/slide" Target="slides/slide1092.xml"/><Relationship Id="rId1094" Type="http://schemas.openxmlformats.org/officeDocument/2006/relationships/slide" Target="slides/slide1093.xml"/><Relationship Id="rId1095" Type="http://schemas.openxmlformats.org/officeDocument/2006/relationships/slide" Target="slides/slide1094.xml"/><Relationship Id="rId1096" Type="http://schemas.openxmlformats.org/officeDocument/2006/relationships/slide" Target="slides/slide1095.xml"/><Relationship Id="rId1097" Type="http://schemas.openxmlformats.org/officeDocument/2006/relationships/slide" Target="slides/slide1096.xml"/><Relationship Id="rId1098" Type="http://schemas.openxmlformats.org/officeDocument/2006/relationships/slide" Target="slides/slide1097.xml"/><Relationship Id="rId1099" Type="http://schemas.openxmlformats.org/officeDocument/2006/relationships/slide" Target="slides/slide1098.xml"/><Relationship Id="rId1100" Type="http://schemas.openxmlformats.org/officeDocument/2006/relationships/slide" Target="slides/slide1099.xml"/><Relationship Id="rId1101" Type="http://schemas.openxmlformats.org/officeDocument/2006/relationships/slide" Target="slides/slide1100.xml"/><Relationship Id="rId1102" Type="http://schemas.openxmlformats.org/officeDocument/2006/relationships/slide" Target="slides/slide1101.xml"/><Relationship Id="rId1103" Type="http://schemas.openxmlformats.org/officeDocument/2006/relationships/slide" Target="slides/slide1102.xml"/><Relationship Id="rId1104" Type="http://schemas.openxmlformats.org/officeDocument/2006/relationships/slide" Target="slides/slide1103.xml"/><Relationship Id="rId1105" Type="http://schemas.openxmlformats.org/officeDocument/2006/relationships/slide" Target="slides/slide1104.xml"/><Relationship Id="rId1106" Type="http://schemas.openxmlformats.org/officeDocument/2006/relationships/slide" Target="slides/slide1105.xml"/><Relationship Id="rId1107" Type="http://schemas.openxmlformats.org/officeDocument/2006/relationships/slide" Target="slides/slide1106.xml"/><Relationship Id="rId1108" Type="http://schemas.openxmlformats.org/officeDocument/2006/relationships/slide" Target="slides/slide1107.xml"/><Relationship Id="rId1109" Type="http://schemas.openxmlformats.org/officeDocument/2006/relationships/slide" Target="slides/slide1108.xml"/><Relationship Id="rId1110" Type="http://schemas.openxmlformats.org/officeDocument/2006/relationships/slide" Target="slides/slide1109.xml"/><Relationship Id="rId1111" Type="http://schemas.openxmlformats.org/officeDocument/2006/relationships/slide" Target="slides/slide1110.xml"/><Relationship Id="rId1112" Type="http://schemas.openxmlformats.org/officeDocument/2006/relationships/slide" Target="slides/slide1111.xml"/><Relationship Id="rId1113" Type="http://schemas.openxmlformats.org/officeDocument/2006/relationships/slide" Target="slides/slide1112.xml"/><Relationship Id="rId1114" Type="http://schemas.openxmlformats.org/officeDocument/2006/relationships/slide" Target="slides/slide1113.xml"/><Relationship Id="rId1115" Type="http://schemas.openxmlformats.org/officeDocument/2006/relationships/slide" Target="slides/slide1114.xml"/><Relationship Id="rId1116" Type="http://schemas.openxmlformats.org/officeDocument/2006/relationships/slide" Target="slides/slide1115.xml"/><Relationship Id="rId1117" Type="http://schemas.openxmlformats.org/officeDocument/2006/relationships/slide" Target="slides/slide1116.xml"/><Relationship Id="rId1118" Type="http://schemas.openxmlformats.org/officeDocument/2006/relationships/slide" Target="slides/slide1117.xml"/><Relationship Id="rId1119" Type="http://schemas.openxmlformats.org/officeDocument/2006/relationships/slide" Target="slides/slide1118.xml"/><Relationship Id="rId1120" Type="http://schemas.openxmlformats.org/officeDocument/2006/relationships/slide" Target="slides/slide1119.xml"/><Relationship Id="rId1121" Type="http://schemas.openxmlformats.org/officeDocument/2006/relationships/slide" Target="slides/slide1120.xml"/><Relationship Id="rId1122" Type="http://schemas.openxmlformats.org/officeDocument/2006/relationships/slide" Target="slides/slide1121.xml"/><Relationship Id="rId1123" Type="http://schemas.openxmlformats.org/officeDocument/2006/relationships/slide" Target="slides/slide1122.xml"/><Relationship Id="rId1124" Type="http://schemas.openxmlformats.org/officeDocument/2006/relationships/slide" Target="slides/slide1123.xml"/><Relationship Id="rId1125" Type="http://schemas.openxmlformats.org/officeDocument/2006/relationships/slide" Target="slides/slide1124.xml"/><Relationship Id="rId1126" Type="http://schemas.openxmlformats.org/officeDocument/2006/relationships/slide" Target="slides/slide1125.xml"/><Relationship Id="rId1127" Type="http://schemas.openxmlformats.org/officeDocument/2006/relationships/slide" Target="slides/slide1126.xml"/><Relationship Id="rId1128" Type="http://schemas.openxmlformats.org/officeDocument/2006/relationships/slide" Target="slides/slide1127.xml"/><Relationship Id="rId1129" Type="http://schemas.openxmlformats.org/officeDocument/2006/relationships/slide" Target="slides/slide1128.xml"/><Relationship Id="rId1130" Type="http://schemas.openxmlformats.org/officeDocument/2006/relationships/slide" Target="slides/slide1129.xml"/><Relationship Id="rId1131" Type="http://schemas.openxmlformats.org/officeDocument/2006/relationships/slide" Target="slides/slide1130.xml"/><Relationship Id="rId1132" Type="http://schemas.openxmlformats.org/officeDocument/2006/relationships/slide" Target="slides/slide1131.xml"/><Relationship Id="rId1133" Type="http://schemas.openxmlformats.org/officeDocument/2006/relationships/slide" Target="slides/slide1132.xml"/><Relationship Id="rId1134" Type="http://schemas.openxmlformats.org/officeDocument/2006/relationships/slide" Target="slides/slide1133.xml"/><Relationship Id="rId1135" Type="http://schemas.openxmlformats.org/officeDocument/2006/relationships/slide" Target="slides/slide1134.xml"/><Relationship Id="rId1136" Type="http://schemas.openxmlformats.org/officeDocument/2006/relationships/slide" Target="slides/slide1135.xml"/><Relationship Id="rId1137" Type="http://schemas.openxmlformats.org/officeDocument/2006/relationships/slide" Target="slides/slide1136.xml"/><Relationship Id="rId1138" Type="http://schemas.openxmlformats.org/officeDocument/2006/relationships/slide" Target="slides/slide1137.xml"/><Relationship Id="rId1139" Type="http://schemas.openxmlformats.org/officeDocument/2006/relationships/slide" Target="slides/slide1138.xml"/><Relationship Id="rId1140" Type="http://schemas.openxmlformats.org/officeDocument/2006/relationships/slide" Target="slides/slide1139.xml"/><Relationship Id="rId1141" Type="http://schemas.openxmlformats.org/officeDocument/2006/relationships/slide" Target="slides/slide1140.xml"/><Relationship Id="rId1142" Type="http://schemas.openxmlformats.org/officeDocument/2006/relationships/slide" Target="slides/slide1141.xml"/><Relationship Id="rId1143" Type="http://schemas.openxmlformats.org/officeDocument/2006/relationships/slide" Target="slides/slide1142.xml"/><Relationship Id="rId1144" Type="http://schemas.openxmlformats.org/officeDocument/2006/relationships/slide" Target="slides/slide1143.xml"/><Relationship Id="rId1145" Type="http://schemas.openxmlformats.org/officeDocument/2006/relationships/slide" Target="slides/slide1144.xml"/><Relationship Id="rId1146" Type="http://schemas.openxmlformats.org/officeDocument/2006/relationships/slide" Target="slides/slide1145.xml"/><Relationship Id="rId1147" Type="http://schemas.openxmlformats.org/officeDocument/2006/relationships/slide" Target="slides/slide1146.xml"/><Relationship Id="rId1148" Type="http://schemas.openxmlformats.org/officeDocument/2006/relationships/slide" Target="slides/slide1147.xml"/><Relationship Id="rId1149" Type="http://schemas.openxmlformats.org/officeDocument/2006/relationships/slide" Target="slides/slide1148.xml"/><Relationship Id="rId1150" Type="http://schemas.openxmlformats.org/officeDocument/2006/relationships/slide" Target="slides/slide1149.xml"/><Relationship Id="rId1151" Type="http://schemas.openxmlformats.org/officeDocument/2006/relationships/slide" Target="slides/slide1150.xml"/><Relationship Id="rId1152" Type="http://schemas.openxmlformats.org/officeDocument/2006/relationships/slide" Target="slides/slide1151.xml"/><Relationship Id="rId1153" Type="http://schemas.openxmlformats.org/officeDocument/2006/relationships/slide" Target="slides/slide1152.xml"/><Relationship Id="rId1154" Type="http://schemas.openxmlformats.org/officeDocument/2006/relationships/slide" Target="slides/slide1153.xml"/><Relationship Id="rId1155" Type="http://schemas.openxmlformats.org/officeDocument/2006/relationships/slide" Target="slides/slide1154.xml"/><Relationship Id="rId1156" Type="http://schemas.openxmlformats.org/officeDocument/2006/relationships/slide" Target="slides/slide1155.xml"/><Relationship Id="rId1157" Type="http://schemas.openxmlformats.org/officeDocument/2006/relationships/slide" Target="slides/slide1156.xml"/><Relationship Id="rId1158" Type="http://schemas.openxmlformats.org/officeDocument/2006/relationships/slide" Target="slides/slide1157.xml"/><Relationship Id="rId1159" Type="http://schemas.openxmlformats.org/officeDocument/2006/relationships/slide" Target="slides/slide1158.xml"/><Relationship Id="rId1160" Type="http://schemas.openxmlformats.org/officeDocument/2006/relationships/slide" Target="slides/slide1159.xml"/><Relationship Id="rId1161" Type="http://schemas.openxmlformats.org/officeDocument/2006/relationships/slide" Target="slides/slide1160.xml"/><Relationship Id="rId1162" Type="http://schemas.openxmlformats.org/officeDocument/2006/relationships/slide" Target="slides/slide1161.xml"/><Relationship Id="rId1163" Type="http://schemas.openxmlformats.org/officeDocument/2006/relationships/slide" Target="slides/slide1162.xml"/><Relationship Id="rId1164" Type="http://schemas.openxmlformats.org/officeDocument/2006/relationships/slide" Target="slides/slide1163.xml"/><Relationship Id="rId1165" Type="http://schemas.openxmlformats.org/officeDocument/2006/relationships/slide" Target="slides/slide1164.xml"/><Relationship Id="rId1166" Type="http://schemas.openxmlformats.org/officeDocument/2006/relationships/slide" Target="slides/slide1165.xml"/><Relationship Id="rId1167" Type="http://schemas.openxmlformats.org/officeDocument/2006/relationships/slide" Target="slides/slide1166.xml"/><Relationship Id="rId1168" Type="http://schemas.openxmlformats.org/officeDocument/2006/relationships/slide" Target="slides/slide1167.xml"/><Relationship Id="rId1169" Type="http://schemas.openxmlformats.org/officeDocument/2006/relationships/slide" Target="slides/slide1168.xml"/><Relationship Id="rId1170" Type="http://schemas.openxmlformats.org/officeDocument/2006/relationships/slide" Target="slides/slide1169.xml"/><Relationship Id="rId1171" Type="http://schemas.openxmlformats.org/officeDocument/2006/relationships/slide" Target="slides/slide1170.xml"/><Relationship Id="rId1172" Type="http://schemas.openxmlformats.org/officeDocument/2006/relationships/slide" Target="slides/slide1171.xml"/><Relationship Id="rId1173" Type="http://schemas.openxmlformats.org/officeDocument/2006/relationships/slide" Target="slides/slide1172.xml"/><Relationship Id="rId1174" Type="http://schemas.openxmlformats.org/officeDocument/2006/relationships/slide" Target="slides/slide1173.xml"/><Relationship Id="rId1175" Type="http://schemas.openxmlformats.org/officeDocument/2006/relationships/slide" Target="slides/slide1174.xml"/><Relationship Id="rId1176" Type="http://schemas.openxmlformats.org/officeDocument/2006/relationships/slide" Target="slides/slide1175.xml"/><Relationship Id="rId1177" Type="http://schemas.openxmlformats.org/officeDocument/2006/relationships/slide" Target="slides/slide1176.xml"/><Relationship Id="rId1178" Type="http://schemas.openxmlformats.org/officeDocument/2006/relationships/slide" Target="slides/slide1177.xml"/><Relationship Id="rId1179" Type="http://schemas.openxmlformats.org/officeDocument/2006/relationships/slide" Target="slides/slide1178.xml"/><Relationship Id="rId1180" Type="http://schemas.openxmlformats.org/officeDocument/2006/relationships/slide" Target="slides/slide1179.xml"/><Relationship Id="rId1181" Type="http://schemas.openxmlformats.org/officeDocument/2006/relationships/slide" Target="slides/slide1180.xml"/><Relationship Id="rId1182" Type="http://schemas.openxmlformats.org/officeDocument/2006/relationships/slide" Target="slides/slide1181.xml"/><Relationship Id="rId1183" Type="http://schemas.openxmlformats.org/officeDocument/2006/relationships/slide" Target="slides/slide1182.xml"/><Relationship Id="rId1184" Type="http://schemas.openxmlformats.org/officeDocument/2006/relationships/slide" Target="slides/slide1183.xml"/><Relationship Id="rId1185" Type="http://schemas.openxmlformats.org/officeDocument/2006/relationships/slide" Target="slides/slide1184.xml"/><Relationship Id="rId1186" Type="http://schemas.openxmlformats.org/officeDocument/2006/relationships/slide" Target="slides/slide1185.xml"/><Relationship Id="rId1187" Type="http://schemas.openxmlformats.org/officeDocument/2006/relationships/slide" Target="slides/slide1186.xml"/><Relationship Id="rId1188" Type="http://schemas.openxmlformats.org/officeDocument/2006/relationships/slide" Target="slides/slide1187.xml"/><Relationship Id="rId1189" Type="http://schemas.openxmlformats.org/officeDocument/2006/relationships/slide" Target="slides/slide1188.xml"/><Relationship Id="rId1190" Type="http://schemas.openxmlformats.org/officeDocument/2006/relationships/slide" Target="slides/slide1189.xml"/><Relationship Id="rId1191" Type="http://schemas.openxmlformats.org/officeDocument/2006/relationships/slide" Target="slides/slide1190.xml"/><Relationship Id="rId1192" Type="http://schemas.openxmlformats.org/officeDocument/2006/relationships/slide" Target="slides/slide1191.xml"/><Relationship Id="rId1193" Type="http://schemas.openxmlformats.org/officeDocument/2006/relationships/slide" Target="slides/slide1192.xml"/><Relationship Id="rId1194" Type="http://schemas.openxmlformats.org/officeDocument/2006/relationships/slide" Target="slides/slide1193.xml"/><Relationship Id="rId1195" Type="http://schemas.openxmlformats.org/officeDocument/2006/relationships/slide" Target="slides/slide1194.xml"/><Relationship Id="rId1196" Type="http://schemas.openxmlformats.org/officeDocument/2006/relationships/slide" Target="slides/slide1195.xml"/><Relationship Id="rId1197" Type="http://schemas.openxmlformats.org/officeDocument/2006/relationships/slide" Target="slides/slide1196.xml"/><Relationship Id="rId1198" Type="http://schemas.openxmlformats.org/officeDocument/2006/relationships/slide" Target="slides/slide1197.xml"/><Relationship Id="rId1199" Type="http://schemas.openxmlformats.org/officeDocument/2006/relationships/slide" Target="slides/slide1198.xml"/><Relationship Id="rId1200" Type="http://schemas.openxmlformats.org/officeDocument/2006/relationships/slide" Target="slides/slide1199.xml"/><Relationship Id="rId1201" Type="http://schemas.openxmlformats.org/officeDocument/2006/relationships/slide" Target="slides/slide1200.xml"/><Relationship Id="rId1202" Type="http://schemas.openxmlformats.org/officeDocument/2006/relationships/slide" Target="slides/slide1201.xml"/><Relationship Id="rId1203" Type="http://schemas.openxmlformats.org/officeDocument/2006/relationships/slide" Target="slides/slide1202.xml"/><Relationship Id="rId1204" Type="http://schemas.openxmlformats.org/officeDocument/2006/relationships/slide" Target="slides/slide1203.xml"/><Relationship Id="rId1205" Type="http://schemas.openxmlformats.org/officeDocument/2006/relationships/slide" Target="slides/slide1204.xml"/><Relationship Id="rId1206" Type="http://schemas.openxmlformats.org/officeDocument/2006/relationships/slide" Target="slides/slide1205.xml"/><Relationship Id="rId1207" Type="http://schemas.openxmlformats.org/officeDocument/2006/relationships/slide" Target="slides/slide1206.xml"/><Relationship Id="rId1208" Type="http://schemas.openxmlformats.org/officeDocument/2006/relationships/slide" Target="slides/slide1207.xml"/><Relationship Id="rId1209" Type="http://schemas.openxmlformats.org/officeDocument/2006/relationships/slide" Target="slides/slide1208.xml"/><Relationship Id="rId1210" Type="http://schemas.openxmlformats.org/officeDocument/2006/relationships/slide" Target="slides/slide1209.xml"/><Relationship Id="rId1211" Type="http://schemas.openxmlformats.org/officeDocument/2006/relationships/slide" Target="slides/slide1210.xml"/><Relationship Id="rId1212" Type="http://schemas.openxmlformats.org/officeDocument/2006/relationships/slide" Target="slides/slide1211.xml"/><Relationship Id="rId1213" Type="http://schemas.openxmlformats.org/officeDocument/2006/relationships/slide" Target="slides/slide1212.xml"/><Relationship Id="rId1214" Type="http://schemas.openxmlformats.org/officeDocument/2006/relationships/slide" Target="slides/slide1213.xml"/><Relationship Id="rId1215" Type="http://schemas.openxmlformats.org/officeDocument/2006/relationships/slide" Target="slides/slide1214.xml"/><Relationship Id="rId1216" Type="http://schemas.openxmlformats.org/officeDocument/2006/relationships/slide" Target="slides/slide1215.xml"/><Relationship Id="rId1217" Type="http://schemas.openxmlformats.org/officeDocument/2006/relationships/slide" Target="slides/slide1216.xml"/><Relationship Id="rId1218" Type="http://schemas.openxmlformats.org/officeDocument/2006/relationships/slide" Target="slides/slide1217.xml"/><Relationship Id="rId1219" Type="http://schemas.openxmlformats.org/officeDocument/2006/relationships/slide" Target="slides/slide1218.xml"/><Relationship Id="rId1220" Type="http://schemas.openxmlformats.org/officeDocument/2006/relationships/slide" Target="slides/slide1219.xml"/><Relationship Id="rId1221" Type="http://schemas.openxmlformats.org/officeDocument/2006/relationships/slide" Target="slides/slide1220.xml"/><Relationship Id="rId1222" Type="http://schemas.openxmlformats.org/officeDocument/2006/relationships/slide" Target="slides/slide1221.xml"/><Relationship Id="rId1223" Type="http://schemas.openxmlformats.org/officeDocument/2006/relationships/slide" Target="slides/slide1222.xml"/><Relationship Id="rId1224" Type="http://schemas.openxmlformats.org/officeDocument/2006/relationships/slide" Target="slides/slide1223.xml"/><Relationship Id="rId1225" Type="http://schemas.openxmlformats.org/officeDocument/2006/relationships/slide" Target="slides/slide1224.xml"/><Relationship Id="rId1226" Type="http://schemas.openxmlformats.org/officeDocument/2006/relationships/slide" Target="slides/slide1225.xml"/><Relationship Id="rId1227" Type="http://schemas.openxmlformats.org/officeDocument/2006/relationships/slide" Target="slides/slide1226.xml"/><Relationship Id="rId1228" Type="http://schemas.openxmlformats.org/officeDocument/2006/relationships/slide" Target="slides/slide1227.xml"/><Relationship Id="rId1229" Type="http://schemas.openxmlformats.org/officeDocument/2006/relationships/slide" Target="slides/slide1228.xml"/><Relationship Id="rId1230" Type="http://schemas.openxmlformats.org/officeDocument/2006/relationships/slide" Target="slides/slide1229.xml"/><Relationship Id="rId1231" Type="http://schemas.openxmlformats.org/officeDocument/2006/relationships/slide" Target="slides/slide1230.xml"/><Relationship Id="rId1232" Type="http://schemas.openxmlformats.org/officeDocument/2006/relationships/slide" Target="slides/slide1231.xml"/><Relationship Id="rId1233" Type="http://schemas.openxmlformats.org/officeDocument/2006/relationships/slide" Target="slides/slide1232.xml"/><Relationship Id="rId1234" Type="http://schemas.openxmlformats.org/officeDocument/2006/relationships/slide" Target="slides/slide1233.xml"/><Relationship Id="rId1235" Type="http://schemas.openxmlformats.org/officeDocument/2006/relationships/slide" Target="slides/slide1234.xml"/><Relationship Id="rId1236" Type="http://schemas.openxmlformats.org/officeDocument/2006/relationships/slide" Target="slides/slide1235.xml"/><Relationship Id="rId1237" Type="http://schemas.openxmlformats.org/officeDocument/2006/relationships/slide" Target="slides/slide1236.xml"/><Relationship Id="rId1238" Type="http://schemas.openxmlformats.org/officeDocument/2006/relationships/slide" Target="slides/slide1237.xml"/><Relationship Id="rId1239" Type="http://schemas.openxmlformats.org/officeDocument/2006/relationships/slide" Target="slides/slide1238.xml"/><Relationship Id="rId1240" Type="http://schemas.openxmlformats.org/officeDocument/2006/relationships/slide" Target="slides/slide1239.xml"/><Relationship Id="rId1241" Type="http://schemas.openxmlformats.org/officeDocument/2006/relationships/slide" Target="slides/slide1240.xml"/><Relationship Id="rId1242" Type="http://schemas.openxmlformats.org/officeDocument/2006/relationships/slide" Target="slides/slide1241.xml"/><Relationship Id="rId1243" Type="http://schemas.openxmlformats.org/officeDocument/2006/relationships/slide" Target="slides/slide1242.xml"/><Relationship Id="rId1244" Type="http://schemas.openxmlformats.org/officeDocument/2006/relationships/slide" Target="slides/slide1243.xml"/><Relationship Id="rId1245" Type="http://schemas.openxmlformats.org/officeDocument/2006/relationships/slide" Target="slides/slide1244.xml"/><Relationship Id="rId1246" Type="http://schemas.openxmlformats.org/officeDocument/2006/relationships/slide" Target="slides/slide1245.xml"/><Relationship Id="rId1247" Type="http://schemas.openxmlformats.org/officeDocument/2006/relationships/slide" Target="slides/slide1246.xml"/><Relationship Id="rId1248" Type="http://schemas.openxmlformats.org/officeDocument/2006/relationships/slide" Target="slides/slide1247.xml"/><Relationship Id="rId1249" Type="http://schemas.openxmlformats.org/officeDocument/2006/relationships/slide" Target="slides/slide1248.xml"/><Relationship Id="rId1250" Type="http://schemas.openxmlformats.org/officeDocument/2006/relationships/slide" Target="slides/slide1249.xml"/><Relationship Id="rId1251" Type="http://schemas.openxmlformats.org/officeDocument/2006/relationships/slide" Target="slides/slide1250.xml"/><Relationship Id="rId1252" Type="http://schemas.openxmlformats.org/officeDocument/2006/relationships/slide" Target="slides/slide1251.xml"/><Relationship Id="rId1253" Type="http://schemas.openxmlformats.org/officeDocument/2006/relationships/slide" Target="slides/slide1252.xml"/><Relationship Id="rId1254" Type="http://schemas.openxmlformats.org/officeDocument/2006/relationships/slide" Target="slides/slide1253.xml"/><Relationship Id="rId1255" Type="http://schemas.openxmlformats.org/officeDocument/2006/relationships/slide" Target="slides/slide1254.xml"/><Relationship Id="rId1256" Type="http://schemas.openxmlformats.org/officeDocument/2006/relationships/slide" Target="slides/slide1255.xml"/><Relationship Id="rId1257" Type="http://schemas.openxmlformats.org/officeDocument/2006/relationships/slide" Target="slides/slide1256.xml"/><Relationship Id="rId1258" Type="http://schemas.openxmlformats.org/officeDocument/2006/relationships/slide" Target="slides/slide1257.xml"/><Relationship Id="rId1259" Type="http://schemas.openxmlformats.org/officeDocument/2006/relationships/slide" Target="slides/slide1258.xml"/><Relationship Id="rId1260" Type="http://schemas.openxmlformats.org/officeDocument/2006/relationships/slide" Target="slides/slide1259.xml"/><Relationship Id="rId1261" Type="http://schemas.openxmlformats.org/officeDocument/2006/relationships/slide" Target="slides/slide1260.xml"/><Relationship Id="rId1262" Type="http://schemas.openxmlformats.org/officeDocument/2006/relationships/slide" Target="slides/slide1261.xml"/><Relationship Id="rId1263" Type="http://schemas.openxmlformats.org/officeDocument/2006/relationships/slide" Target="slides/slide1262.xml"/><Relationship Id="rId1264" Type="http://schemas.openxmlformats.org/officeDocument/2006/relationships/slide" Target="slides/slide1263.xml"/><Relationship Id="rId1265" Type="http://schemas.openxmlformats.org/officeDocument/2006/relationships/slide" Target="slides/slide1264.xml"/><Relationship Id="rId1266" Type="http://schemas.openxmlformats.org/officeDocument/2006/relationships/slide" Target="slides/slide1265.xml"/><Relationship Id="rId1267" Type="http://schemas.openxmlformats.org/officeDocument/2006/relationships/slide" Target="slides/slide1266.xml"/><Relationship Id="rId1268" Type="http://schemas.openxmlformats.org/officeDocument/2006/relationships/slide" Target="slides/slide1267.xml"/><Relationship Id="rId1269" Type="http://schemas.openxmlformats.org/officeDocument/2006/relationships/slide" Target="slides/slide1268.xml"/><Relationship Id="rId1270" Type="http://schemas.openxmlformats.org/officeDocument/2006/relationships/slide" Target="slides/slide1269.xml"/><Relationship Id="rId1271" Type="http://schemas.openxmlformats.org/officeDocument/2006/relationships/slide" Target="slides/slide1270.xml"/><Relationship Id="rId1272" Type="http://schemas.openxmlformats.org/officeDocument/2006/relationships/slide" Target="slides/slide1271.xml"/><Relationship Id="rId1273" Type="http://schemas.openxmlformats.org/officeDocument/2006/relationships/slide" Target="slides/slide1272.xml"/><Relationship Id="rId1274" Type="http://schemas.openxmlformats.org/officeDocument/2006/relationships/slide" Target="slides/slide1273.xml"/><Relationship Id="rId1275" Type="http://schemas.openxmlformats.org/officeDocument/2006/relationships/slide" Target="slides/slide1274.xml"/><Relationship Id="rId1276" Type="http://schemas.openxmlformats.org/officeDocument/2006/relationships/slide" Target="slides/slide1275.xml"/><Relationship Id="rId1277" Type="http://schemas.openxmlformats.org/officeDocument/2006/relationships/slide" Target="slides/slide1276.xml"/><Relationship Id="rId1278" Type="http://schemas.openxmlformats.org/officeDocument/2006/relationships/slide" Target="slides/slide1277.xml"/><Relationship Id="rId1279" Type="http://schemas.openxmlformats.org/officeDocument/2006/relationships/slide" Target="slides/slide1278.xml"/><Relationship Id="rId1280" Type="http://schemas.openxmlformats.org/officeDocument/2006/relationships/slide" Target="slides/slide1279.xml"/><Relationship Id="rId1281" Type="http://schemas.openxmlformats.org/officeDocument/2006/relationships/slide" Target="slides/slide1280.xml"/><Relationship Id="rId1282" Type="http://schemas.openxmlformats.org/officeDocument/2006/relationships/slide" Target="slides/slide1281.xml"/><Relationship Id="rId1283" Type="http://schemas.openxmlformats.org/officeDocument/2006/relationships/slide" Target="slides/slide1282.xml"/><Relationship Id="rId1284" Type="http://schemas.openxmlformats.org/officeDocument/2006/relationships/slide" Target="slides/slide1283.xml"/><Relationship Id="rId1285" Type="http://schemas.openxmlformats.org/officeDocument/2006/relationships/slide" Target="slides/slide1284.xml"/><Relationship Id="rId1286" Type="http://schemas.openxmlformats.org/officeDocument/2006/relationships/slide" Target="slides/slide1285.xml"/><Relationship Id="rId1287" Type="http://schemas.openxmlformats.org/officeDocument/2006/relationships/slide" Target="slides/slide1286.xml"/><Relationship Id="rId1288" Type="http://schemas.openxmlformats.org/officeDocument/2006/relationships/slide" Target="slides/slide1287.xml"/><Relationship Id="rId1289" Type="http://schemas.openxmlformats.org/officeDocument/2006/relationships/slide" Target="slides/slide1288.xml"/><Relationship Id="rId1290" Type="http://schemas.openxmlformats.org/officeDocument/2006/relationships/slide" Target="slides/slide1289.xml"/><Relationship Id="rId1291" Type="http://schemas.openxmlformats.org/officeDocument/2006/relationships/slide" Target="slides/slide1290.xml"/><Relationship Id="rId1292" Type="http://schemas.openxmlformats.org/officeDocument/2006/relationships/slide" Target="slides/slide1291.xml"/><Relationship Id="rId1293" Type="http://schemas.openxmlformats.org/officeDocument/2006/relationships/slide" Target="slides/slide1292.xml"/><Relationship Id="rId1294" Type="http://schemas.openxmlformats.org/officeDocument/2006/relationships/slide" Target="slides/slide1293.xml"/><Relationship Id="rId1295" Type="http://schemas.openxmlformats.org/officeDocument/2006/relationships/slide" Target="slides/slide1294.xml"/><Relationship Id="rId1296" Type="http://schemas.openxmlformats.org/officeDocument/2006/relationships/slide" Target="slides/slide1295.xml"/><Relationship Id="rId1297" Type="http://schemas.openxmlformats.org/officeDocument/2006/relationships/slide" Target="slides/slide1296.xml"/><Relationship Id="rId1298" Type="http://schemas.openxmlformats.org/officeDocument/2006/relationships/slide" Target="slides/slide1297.xml"/><Relationship Id="rId1299" Type="http://schemas.openxmlformats.org/officeDocument/2006/relationships/slide" Target="slides/slide1298.xml"/><Relationship Id="rId1300" Type="http://schemas.openxmlformats.org/officeDocument/2006/relationships/slide" Target="slides/slide1299.xml"/><Relationship Id="rId1301" Type="http://schemas.openxmlformats.org/officeDocument/2006/relationships/slide" Target="slides/slide1300.xml"/><Relationship Id="rId1302" Type="http://schemas.openxmlformats.org/officeDocument/2006/relationships/slide" Target="slides/slide1301.xml"/><Relationship Id="rId1303" Type="http://schemas.openxmlformats.org/officeDocument/2006/relationships/slide" Target="slides/slide1302.xml"/><Relationship Id="rId1304" Type="http://schemas.openxmlformats.org/officeDocument/2006/relationships/slide" Target="slides/slide1303.xml"/><Relationship Id="rId1305" Type="http://schemas.openxmlformats.org/officeDocument/2006/relationships/slide" Target="slides/slide1304.xml"/><Relationship Id="rId1306" Type="http://schemas.openxmlformats.org/officeDocument/2006/relationships/slide" Target="slides/slide1305.xml"/><Relationship Id="rId1307" Type="http://schemas.openxmlformats.org/officeDocument/2006/relationships/slide" Target="slides/slide1306.xml"/><Relationship Id="rId1308" Type="http://schemas.openxmlformats.org/officeDocument/2006/relationships/slide" Target="slides/slide1307.xml"/><Relationship Id="rId1309" Type="http://schemas.openxmlformats.org/officeDocument/2006/relationships/slide" Target="slides/slide1308.xml"/><Relationship Id="rId1310" Type="http://schemas.openxmlformats.org/officeDocument/2006/relationships/slide" Target="slides/slide1309.xml"/><Relationship Id="rId1311" Type="http://schemas.openxmlformats.org/officeDocument/2006/relationships/slide" Target="slides/slide1310.xml"/><Relationship Id="rId1312" Type="http://schemas.openxmlformats.org/officeDocument/2006/relationships/slide" Target="slides/slide1311.xml"/><Relationship Id="rId1313" Type="http://schemas.openxmlformats.org/officeDocument/2006/relationships/slide" Target="slides/slide1312.xml"/><Relationship Id="rId1314" Type="http://schemas.openxmlformats.org/officeDocument/2006/relationships/slide" Target="slides/slide1313.xml"/><Relationship Id="rId1315" Type="http://schemas.openxmlformats.org/officeDocument/2006/relationships/slide" Target="slides/slide1314.xml"/><Relationship Id="rId1316" Type="http://schemas.openxmlformats.org/officeDocument/2006/relationships/slide" Target="slides/slide1315.xml"/><Relationship Id="rId1317" Type="http://schemas.openxmlformats.org/officeDocument/2006/relationships/slide" Target="slides/slide1316.xml"/><Relationship Id="rId1318" Type="http://schemas.openxmlformats.org/officeDocument/2006/relationships/slide" Target="slides/slide1317.xml"/><Relationship Id="rId1319" Type="http://schemas.openxmlformats.org/officeDocument/2006/relationships/slide" Target="slides/slide1318.xml"/><Relationship Id="rId1320" Type="http://schemas.openxmlformats.org/officeDocument/2006/relationships/slide" Target="slides/slide1319.xml"/><Relationship Id="rId1321" Type="http://schemas.openxmlformats.org/officeDocument/2006/relationships/slide" Target="slides/slide1320.xml"/><Relationship Id="rId1322" Type="http://schemas.openxmlformats.org/officeDocument/2006/relationships/slide" Target="slides/slide1321.xml"/><Relationship Id="rId1323" Type="http://schemas.openxmlformats.org/officeDocument/2006/relationships/slide" Target="slides/slide1322.xml"/><Relationship Id="rId1324" Type="http://schemas.openxmlformats.org/officeDocument/2006/relationships/slide" Target="slides/slide1323.xml"/><Relationship Id="rId1325" Type="http://schemas.openxmlformats.org/officeDocument/2006/relationships/slide" Target="slides/slide1324.xml"/><Relationship Id="rId1326" Type="http://schemas.openxmlformats.org/officeDocument/2006/relationships/slide" Target="slides/slide1325.xml"/><Relationship Id="rId1327" Type="http://schemas.openxmlformats.org/officeDocument/2006/relationships/slide" Target="slides/slide1326.xml"/><Relationship Id="rId1328" Type="http://schemas.openxmlformats.org/officeDocument/2006/relationships/slide" Target="slides/slide1327.xml"/><Relationship Id="rId1329" Type="http://schemas.openxmlformats.org/officeDocument/2006/relationships/slide" Target="slides/slide1328.xml"/><Relationship Id="rId1330" Type="http://schemas.openxmlformats.org/officeDocument/2006/relationships/slide" Target="slides/slide1329.xml"/><Relationship Id="rId1331" Type="http://schemas.openxmlformats.org/officeDocument/2006/relationships/slide" Target="slides/slide1330.xml"/><Relationship Id="rId1332" Type="http://schemas.openxmlformats.org/officeDocument/2006/relationships/slide" Target="slides/slide1331.xml"/><Relationship Id="rId1333" Type="http://schemas.openxmlformats.org/officeDocument/2006/relationships/slide" Target="slides/slide1332.xml"/><Relationship Id="rId1334" Type="http://schemas.openxmlformats.org/officeDocument/2006/relationships/slide" Target="slides/slide1333.xml"/><Relationship Id="rId1335" Type="http://schemas.openxmlformats.org/officeDocument/2006/relationships/slide" Target="slides/slide1334.xml"/><Relationship Id="rId1336" Type="http://schemas.openxmlformats.org/officeDocument/2006/relationships/slide" Target="slides/slide1335.xml"/><Relationship Id="rId1337" Type="http://schemas.openxmlformats.org/officeDocument/2006/relationships/slide" Target="slides/slide1336.xml"/><Relationship Id="rId1338" Type="http://schemas.openxmlformats.org/officeDocument/2006/relationships/slide" Target="slides/slide1337.xml"/><Relationship Id="rId1339" Type="http://schemas.openxmlformats.org/officeDocument/2006/relationships/slide" Target="slides/slide1338.xml"/><Relationship Id="rId1340" Type="http://schemas.openxmlformats.org/officeDocument/2006/relationships/slide" Target="slides/slide1339.xml"/><Relationship Id="rId1341" Type="http://schemas.openxmlformats.org/officeDocument/2006/relationships/slide" Target="slides/slide1340.xml"/><Relationship Id="rId1342" Type="http://schemas.openxmlformats.org/officeDocument/2006/relationships/slide" Target="slides/slide1341.xml"/><Relationship Id="rId1343" Type="http://schemas.openxmlformats.org/officeDocument/2006/relationships/slide" Target="slides/slide1342.xml"/><Relationship Id="rId1344" Type="http://schemas.openxmlformats.org/officeDocument/2006/relationships/slide" Target="slides/slide1343.xml"/><Relationship Id="rId1345" Type="http://schemas.openxmlformats.org/officeDocument/2006/relationships/slide" Target="slides/slide1344.xml"/><Relationship Id="rId1346" Type="http://schemas.openxmlformats.org/officeDocument/2006/relationships/slide" Target="slides/slide1345.xml"/><Relationship Id="rId1347" Type="http://schemas.openxmlformats.org/officeDocument/2006/relationships/notesMaster" Target="notesMasters/notesMaster1.xml"/><Relationship Id="rId1348" Type="http://schemas.openxmlformats.org/officeDocument/2006/relationships/presProps" Target="presProps.xml"/><Relationship Id="rId1349" Type="http://schemas.openxmlformats.org/officeDocument/2006/relationships/viewProps" Target="viewProps.xml"/><Relationship Id="rId1350" Type="http://schemas.openxmlformats.org/officeDocument/2006/relationships/theme" Target="theme/theme1.xml"/><Relationship Id="rId135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9F00EC-8E66-4B5B-8785-97A2D017634A}" type="datetimeFigureOut">
              <a:rPr lang="ko-KR" altLang="en-US" smtClean="0"/>
              <a:t>2026-09-29</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00B5AE-20BC-4BED-AD5E-B2C07BF99DAA}" type="slidenum">
              <a:rPr lang="ko-KR" altLang="en-US" smtClean="0"/>
              <a:t>‹#›</a:t>
            </a:fld>
            <a:endParaRPr lang="ko-KR" altLang="en-US"/>
          </a:p>
        </p:txBody>
      </p:sp>
    </p:spTree>
    <p:extLst>
      <p:ext uri="{BB962C8B-B14F-4D97-AF65-F5344CB8AC3E}">
        <p14:creationId xmlns:p14="http://schemas.microsoft.com/office/powerpoint/2010/main" val="3773131070"/>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0.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2.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3.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4.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5.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6.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7.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8.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9.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0.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1.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2.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3.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4.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5.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6.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7.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8.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9.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0.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1.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2.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3.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4.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5.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6.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7.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8.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9.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0.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1.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2.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3.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4.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5.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6.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7.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8.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9.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0.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1.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2.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3.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4.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5.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6.xml"/></Relationships>
</file>

<file path=ppt/notesSlides/_rels/notesSlide2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7.xml"/></Relationships>
</file>

<file path=ppt/notesSlides/_rels/notesSlide2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8.xml"/></Relationships>
</file>

<file path=ppt/notesSlides/_rels/notesSlide2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9.xml"/></Relationships>
</file>

<file path=ppt/notesSlides/_rels/notesSlide2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0.xml"/></Relationships>
</file>

<file path=ppt/notesSlides/_rels/notesSlide2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1.xml"/></Relationships>
</file>

<file path=ppt/notesSlides/_rels/notesSlide2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2.xml"/></Relationships>
</file>

<file path=ppt/notesSlides/_rels/notesSlide2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3.xml"/></Relationships>
</file>

<file path=ppt/notesSlides/_rels/notesSlide2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4.xml"/></Relationships>
</file>

<file path=ppt/notesSlides/_rels/notesSlide2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5.xml"/></Relationships>
</file>

<file path=ppt/notesSlides/_rels/notesSlide2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6.xml"/></Relationships>
</file>

<file path=ppt/notesSlides/_rels/notesSlide2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7.xml"/></Relationships>
</file>

<file path=ppt/notesSlides/_rels/notesSlide2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8.xml"/></Relationships>
</file>

<file path=ppt/notesSlides/_rels/notesSlide2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9.xml"/></Relationships>
</file>

<file path=ppt/notesSlides/_rels/notesSlide2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0.xml"/></Relationships>
</file>

<file path=ppt/notesSlides/_rels/notesSlide2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1.xml"/></Relationships>
</file>

<file path=ppt/notesSlides/_rels/notesSlide2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2.xml"/></Relationships>
</file>

<file path=ppt/notesSlides/_rels/notesSlide2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3.xml"/></Relationships>
</file>

<file path=ppt/notesSlides/_rels/notesSlide2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4.xml"/></Relationships>
</file>

<file path=ppt/notesSlides/_rels/notesSlide2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5.xml"/></Relationships>
</file>

<file path=ppt/notesSlides/_rels/notesSlide2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6.xml"/></Relationships>
</file>

<file path=ppt/notesSlides/_rels/notesSlide2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7.xml"/></Relationships>
</file>

<file path=ppt/notesSlides/_rels/notesSlide2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8.xml"/></Relationships>
</file>

<file path=ppt/notesSlides/_rels/notesSlide2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9.xml"/></Relationships>
</file>

<file path=ppt/notesSlides/_rels/notesSlide2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0.xml"/></Relationships>
</file>

<file path=ppt/notesSlides/_rels/notesSlide2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1.xml"/></Relationships>
</file>

<file path=ppt/notesSlides/_rels/notesSlide2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2.xml"/></Relationships>
</file>

<file path=ppt/notesSlides/_rels/notesSlide2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3.xml"/></Relationships>
</file>

<file path=ppt/notesSlides/_rels/notesSlide2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4.xml"/></Relationships>
</file>

<file path=ppt/notesSlides/_rels/notesSlide2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5.xml"/></Relationships>
</file>

<file path=ppt/notesSlides/_rels/notesSlide2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6.xml"/></Relationships>
</file>

<file path=ppt/notesSlides/_rels/notesSlide2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7.xml"/></Relationships>
</file>

<file path=ppt/notesSlides/_rels/notesSlide2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8.xml"/></Relationships>
</file>

<file path=ppt/notesSlides/_rels/notesSlide2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9.xml"/></Relationships>
</file>

<file path=ppt/notesSlides/_rels/notesSlide2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0.xml"/></Relationships>
</file>

<file path=ppt/notesSlides/_rels/notesSlide2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1.xml"/></Relationships>
</file>

<file path=ppt/notesSlides/_rels/notesSlide2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2.xml"/></Relationships>
</file>

<file path=ppt/notesSlides/_rels/notesSlide2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3.xml"/></Relationships>
</file>

<file path=ppt/notesSlides/_rels/notesSlide2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4.xml"/></Relationships>
</file>

<file path=ppt/notesSlides/_rels/notesSlide2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5.xml"/></Relationships>
</file>

<file path=ppt/notesSlides/_rels/notesSlide2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6.xml"/></Relationships>
</file>

<file path=ppt/notesSlides/_rels/notesSlide2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7.xml"/></Relationships>
</file>

<file path=ppt/notesSlides/_rels/notesSlide2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8.xml"/></Relationships>
</file>

<file path=ppt/notesSlides/_rels/notesSlide2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9.xml"/></Relationships>
</file>

<file path=ppt/notesSlides/_rels/notesSlide2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0.xml"/></Relationships>
</file>

<file path=ppt/notesSlides/_rels/notesSlide2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1.xml"/></Relationships>
</file>

<file path=ppt/notesSlides/_rels/notesSlide2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2.xml"/></Relationships>
</file>

<file path=ppt/notesSlides/_rels/notesSlide2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3.xml"/></Relationships>
</file>

<file path=ppt/notesSlides/_rels/notesSlide2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4.xml"/></Relationships>
</file>

<file path=ppt/notesSlides/_rels/notesSlide3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5.xml"/></Relationships>
</file>

<file path=ppt/notesSlides/_rels/notesSlide3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6.xml"/></Relationships>
</file>

<file path=ppt/notesSlides/_rels/notesSlide3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7.xml"/></Relationships>
</file>

<file path=ppt/notesSlides/_rels/notesSlide3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8.xml"/></Relationships>
</file>

<file path=ppt/notesSlides/_rels/notesSlide3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9.xml"/></Relationships>
</file>

<file path=ppt/notesSlides/_rels/notesSlide3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0.xml"/></Relationships>
</file>

<file path=ppt/notesSlides/_rels/notesSlide3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1.xml"/></Relationships>
</file>

<file path=ppt/notesSlides/_rels/notesSlide3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2.xml"/></Relationships>
</file>

<file path=ppt/notesSlides/_rels/notesSlide3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3.xml"/></Relationships>
</file>

<file path=ppt/notesSlides/_rels/notesSlide3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4.xml"/></Relationships>
</file>

<file path=ppt/notesSlides/_rels/notesSlide3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5.xml"/></Relationships>
</file>

<file path=ppt/notesSlides/_rels/notesSlide3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6.xml"/></Relationships>
</file>

<file path=ppt/notesSlides/_rels/notesSlide3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7.xml"/></Relationships>
</file>

<file path=ppt/notesSlides/_rels/notesSlide3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8.xml"/></Relationships>
</file>

<file path=ppt/notesSlides/_rels/notesSlide3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9.xml"/></Relationships>
</file>

<file path=ppt/notesSlides/_rels/notesSlide3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0.xml"/></Relationships>
</file>

<file path=ppt/notesSlides/_rels/notesSlide3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1.xml"/></Relationships>
</file>

<file path=ppt/notesSlides/_rels/notesSlide3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2.xml"/></Relationships>
</file>

<file path=ppt/notesSlides/_rels/notesSlide3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3.xml"/></Relationships>
</file>

<file path=ppt/notesSlides/_rels/notesSlide3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4.xml"/></Relationships>
</file>

<file path=ppt/notesSlides/_rels/notesSlide3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5.xml"/></Relationships>
</file>

<file path=ppt/notesSlides/_rels/notesSlide3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6.xml"/></Relationships>
</file>

<file path=ppt/notesSlides/_rels/notesSlide3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7.xml"/></Relationships>
</file>

<file path=ppt/notesSlides/_rels/notesSlide3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8.xml"/></Relationships>
</file>

<file path=ppt/notesSlides/_rels/notesSlide3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9.xml"/></Relationships>
</file>

<file path=ppt/notesSlides/_rels/notesSlide3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0.xml"/></Relationships>
</file>

<file path=ppt/notesSlides/_rels/notesSlide3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1.xml"/></Relationships>
</file>

<file path=ppt/notesSlides/_rels/notesSlide3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2.xml"/></Relationships>
</file>

<file path=ppt/notesSlides/_rels/notesSlide3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3.xml"/></Relationships>
</file>

<file path=ppt/notesSlides/_rels/notesSlide3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4.xml"/></Relationships>
</file>

<file path=ppt/notesSlides/_rels/notesSlide3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5.xml"/></Relationships>
</file>

<file path=ppt/notesSlides/_rels/notesSlide3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6.xml"/></Relationships>
</file>

<file path=ppt/notesSlides/_rels/notesSlide3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7.xml"/></Relationships>
</file>

<file path=ppt/notesSlides/_rels/notesSlide3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8.xml"/></Relationships>
</file>

<file path=ppt/notesSlides/_rels/notesSlide3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9.xml"/></Relationships>
</file>

<file path=ppt/notesSlides/_rels/notesSlide3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0.xml"/></Relationships>
</file>

<file path=ppt/notesSlides/_rels/notesSlide3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1.xml"/></Relationships>
</file>

<file path=ppt/notesSlides/_rels/notesSlide3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3.xml"/></Relationships>
</file>

<file path=ppt/notesSlides/_rels/notesSlide3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4.xml"/></Relationships>
</file>

<file path=ppt/notesSlides/_rels/notesSlide3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5.xml"/></Relationships>
</file>

<file path=ppt/notesSlides/_rels/notesSlide3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6.xml"/></Relationships>
</file>

<file path=ppt/notesSlides/_rels/notesSlide3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7.xml"/></Relationships>
</file>

<file path=ppt/notesSlides/_rels/notesSlide3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8.xml"/></Relationships>
</file>

<file path=ppt/notesSlides/_rels/notesSlide3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9.xml"/></Relationships>
</file>

<file path=ppt/notesSlides/_rels/notesSlide3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0.xml"/></Relationships>
</file>

<file path=ppt/notesSlides/_rels/notesSlide3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1.xml"/></Relationships>
</file>

<file path=ppt/notesSlides/_rels/notesSlide3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2.xml"/></Relationships>
</file>

<file path=ppt/notesSlides/_rels/notesSlide3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3.xml"/></Relationships>
</file>

<file path=ppt/notesSlides/_rels/notesSlide3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4.xml"/></Relationships>
</file>

<file path=ppt/notesSlides/_rels/notesSlide3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5.xml"/></Relationships>
</file>

<file path=ppt/notesSlides/_rels/notesSlide3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6.xml"/></Relationships>
</file>

<file path=ppt/notesSlides/_rels/notesSlide3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7.xml"/></Relationships>
</file>

<file path=ppt/notesSlides/_rels/notesSlide3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8.xml"/></Relationships>
</file>

<file path=ppt/notesSlides/_rels/notesSlide3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9.xml"/></Relationships>
</file>

<file path=ppt/notesSlides/_rels/notesSlide3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0.xml"/></Relationships>
</file>

<file path=ppt/notesSlides/_rels/notesSlide3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1.xml"/></Relationships>
</file>

<file path=ppt/notesSlides/_rels/notesSlide3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2.xml"/></Relationships>
</file>

<file path=ppt/notesSlides/_rels/notesSlide3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3.xml"/></Relationships>
</file>

<file path=ppt/notesSlides/_rels/notesSlide3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4.xml"/></Relationships>
</file>

<file path=ppt/notesSlides/_rels/notesSlide3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5.xml"/></Relationships>
</file>

<file path=ppt/notesSlides/_rels/notesSlide3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6.xml"/></Relationships>
</file>

<file path=ppt/notesSlides/_rels/notesSlide3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7.xml"/></Relationships>
</file>

<file path=ppt/notesSlides/_rels/notesSlide3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8.xml"/></Relationships>
</file>

<file path=ppt/notesSlides/_rels/notesSlide3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9.xml"/></Relationships>
</file>

<file path=ppt/notesSlides/_rels/notesSlide3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0.xml"/></Relationships>
</file>

<file path=ppt/notesSlides/_rels/notesSlide3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1.xml"/></Relationships>
</file>

<file path=ppt/notesSlides/_rels/notesSlide3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2.xml"/></Relationships>
</file>

<file path=ppt/notesSlides/_rels/notesSlide3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3.xml"/></Relationships>
</file>

<file path=ppt/notesSlides/_rels/notesSlide3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4.xml"/></Relationships>
</file>

<file path=ppt/notesSlides/_rels/notesSlide3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5.xml"/></Relationships>
</file>

<file path=ppt/notesSlides/_rels/notesSlide3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6.xml"/></Relationships>
</file>

<file path=ppt/notesSlides/_rels/notesSlide3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7.xml"/></Relationships>
</file>

<file path=ppt/notesSlides/_rels/notesSlide3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8.xml"/></Relationships>
</file>

<file path=ppt/notesSlides/_rels/notesSlide3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9.xml"/></Relationships>
</file>

<file path=ppt/notesSlides/_rels/notesSlide3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0.xml"/></Relationships>
</file>

<file path=ppt/notesSlides/_rels/notesSlide3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1.xml"/></Relationships>
</file>

<file path=ppt/notesSlides/_rels/notesSlide3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2.xml"/></Relationships>
</file>

<file path=ppt/notesSlides/_rels/notesSlide3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3.xml"/></Relationships>
</file>

<file path=ppt/notesSlides/_rels/notesSlide3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4.xml"/></Relationships>
</file>

<file path=ppt/notesSlides/_rels/notesSlide3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5.xml"/></Relationships>
</file>

<file path=ppt/notesSlides/_rels/notesSlide3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6.xml"/></Relationships>
</file>

<file path=ppt/notesSlides/_rels/notesSlide3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7.xml"/></Relationships>
</file>

<file path=ppt/notesSlides/_rels/notesSlide3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8.xml"/></Relationships>
</file>

<file path=ppt/notesSlides/_rels/notesSlide3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9.xml"/></Relationships>
</file>

<file path=ppt/notesSlides/_rels/notesSlide3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0.xml"/></Relationships>
</file>

<file path=ppt/notesSlides/_rels/notesSlide3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1.xml"/></Relationships>
</file>

<file path=ppt/notesSlides/_rels/notesSlide3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2.xml"/></Relationships>
</file>

<file path=ppt/notesSlides/_rels/notesSlide3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3.xml"/></Relationships>
</file>

<file path=ppt/notesSlides/_rels/notesSlide3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4.xml"/></Relationships>
</file>

<file path=ppt/notesSlides/_rels/notesSlide3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5.xml"/></Relationships>
</file>

<file path=ppt/notesSlides/_rels/notesSlide3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6.xml"/></Relationships>
</file>

<file path=ppt/notesSlides/_rels/notesSlide3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7.xml"/></Relationships>
</file>

<file path=ppt/notesSlides/_rels/notesSlide3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8.xml"/></Relationships>
</file>

<file path=ppt/notesSlides/_rels/notesSlide3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9.xml"/></Relationships>
</file>

<file path=ppt/notesSlides/_rels/notesSlide3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0.xml"/></Relationships>
</file>

<file path=ppt/notesSlides/_rels/notesSlide3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1.xml"/></Relationships>
</file>

<file path=ppt/notesSlides/_rels/notesSlide3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2.xml"/></Relationships>
</file>

<file path=ppt/notesSlides/_rels/notesSlide3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3.xml"/></Relationships>
</file>

<file path=ppt/notesSlides/_rels/notesSlide3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4.xml"/></Relationships>
</file>

<file path=ppt/notesSlides/_rels/notesSlide3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5.xml"/></Relationships>
</file>

<file path=ppt/notesSlides/_rels/notesSlide4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6.xml"/></Relationships>
</file>

<file path=ppt/notesSlides/_rels/notesSlide4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7.xml"/></Relationships>
</file>

<file path=ppt/notesSlides/_rels/notesSlide4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8.xml"/></Relationships>
</file>

<file path=ppt/notesSlides/_rels/notesSlide4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9.xml"/></Relationships>
</file>

<file path=ppt/notesSlides/_rels/notesSlide4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0.xml"/></Relationships>
</file>

<file path=ppt/notesSlides/_rels/notesSlide4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1.xml"/></Relationships>
</file>

<file path=ppt/notesSlides/_rels/notesSlide4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2.xml"/></Relationships>
</file>

<file path=ppt/notesSlides/_rels/notesSlide4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3.xml"/></Relationships>
</file>

<file path=ppt/notesSlides/_rels/notesSlide4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4.xml"/></Relationships>
</file>

<file path=ppt/notesSlides/_rels/notesSlide4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5.xml"/></Relationships>
</file>

<file path=ppt/notesSlides/_rels/notesSlide4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6.xml"/></Relationships>
</file>

<file path=ppt/notesSlides/_rels/notesSlide4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7.xml"/></Relationships>
</file>

<file path=ppt/notesSlides/_rels/notesSlide4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8.xml"/></Relationships>
</file>

<file path=ppt/notesSlides/_rels/notesSlide4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9.xml"/></Relationships>
</file>

<file path=ppt/notesSlides/_rels/notesSlide4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0.xml"/></Relationships>
</file>

<file path=ppt/notesSlides/_rels/notesSlide4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1.xml"/></Relationships>
</file>

<file path=ppt/notesSlides/_rels/notesSlide4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2.xml"/></Relationships>
</file>

<file path=ppt/notesSlides/_rels/notesSlide4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3.xml"/></Relationships>
</file>

<file path=ppt/notesSlides/_rels/notesSlide4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4.xml"/></Relationships>
</file>

<file path=ppt/notesSlides/_rels/notesSlide4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5.xml"/></Relationships>
</file>

<file path=ppt/notesSlides/_rels/notesSlide4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6.xml"/></Relationships>
</file>

<file path=ppt/notesSlides/_rels/notesSlide4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7.xml"/></Relationships>
</file>

<file path=ppt/notesSlides/_rels/notesSlide4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8.xml"/></Relationships>
</file>

<file path=ppt/notesSlides/_rels/notesSlide4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9.xml"/></Relationships>
</file>

<file path=ppt/notesSlides/_rels/notesSlide4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0.xml"/></Relationships>
</file>

<file path=ppt/notesSlides/_rels/notesSlide4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1.xml"/></Relationships>
</file>

<file path=ppt/notesSlides/_rels/notesSlide4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2.xml"/></Relationships>
</file>

<file path=ppt/notesSlides/_rels/notesSlide4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3.xml"/></Relationships>
</file>

<file path=ppt/notesSlides/_rels/notesSlide4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4.xml"/></Relationships>
</file>

<file path=ppt/notesSlides/_rels/notesSlide4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5.xml"/></Relationships>
</file>

<file path=ppt/notesSlides/_rels/notesSlide4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6.xml"/></Relationships>
</file>

<file path=ppt/notesSlides/_rels/notesSlide4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7.xml"/></Relationships>
</file>

<file path=ppt/notesSlides/_rels/notesSlide4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8.xml"/></Relationships>
</file>

<file path=ppt/notesSlides/_rels/notesSlide4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9.xml"/></Relationships>
</file>

<file path=ppt/notesSlides/_rels/notesSlide4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0.xml"/></Relationships>
</file>

<file path=ppt/notesSlides/_rels/notesSlide4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1.xml"/></Relationships>
</file>

<file path=ppt/notesSlides/_rels/notesSlide4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2.xml"/></Relationships>
</file>

<file path=ppt/notesSlides/_rels/notesSlide4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3.xml"/></Relationships>
</file>

<file path=ppt/notesSlides/_rels/notesSlide4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4.xml"/></Relationships>
</file>

<file path=ppt/notesSlides/_rels/notesSlide4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5.xml"/></Relationships>
</file>

<file path=ppt/notesSlides/_rels/notesSlide4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6.xml"/></Relationships>
</file>

<file path=ppt/notesSlides/_rels/notesSlide4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7.xml"/></Relationships>
</file>

<file path=ppt/notesSlides/_rels/notesSlide4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8.xml"/></Relationships>
</file>

<file path=ppt/notesSlides/_rels/notesSlide4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9.xml"/></Relationships>
</file>

<file path=ppt/notesSlides/_rels/notesSlide4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0.xml"/></Relationships>
</file>

<file path=ppt/notesSlides/_rels/notesSlide4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1.xml"/></Relationships>
</file>

<file path=ppt/notesSlides/_rels/notesSlide4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2.xml"/></Relationships>
</file>

<file path=ppt/notesSlides/_rels/notesSlide4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3.xml"/></Relationships>
</file>

<file path=ppt/notesSlides/_rels/notesSlide4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4.xml"/></Relationships>
</file>

<file path=ppt/notesSlides/_rels/notesSlide4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5.xml"/></Relationships>
</file>

<file path=ppt/notesSlides/_rels/notesSlide4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6.xml"/></Relationships>
</file>

<file path=ppt/notesSlides/_rels/notesSlide4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7.xml"/></Relationships>
</file>

<file path=ppt/notesSlides/_rels/notesSlide4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8.xml"/></Relationships>
</file>

<file path=ppt/notesSlides/_rels/notesSlide4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9.xml"/></Relationships>
</file>

<file path=ppt/notesSlides/_rels/notesSlide4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0.xml"/></Relationships>
</file>

<file path=ppt/notesSlides/_rels/notesSlide4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1.xml"/></Relationships>
</file>

<file path=ppt/notesSlides/_rels/notesSlide4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2.xml"/></Relationships>
</file>

<file path=ppt/notesSlides/_rels/notesSlide4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3.xml"/></Relationships>
</file>

<file path=ppt/notesSlides/_rels/notesSlide4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4.xml"/></Relationships>
</file>

<file path=ppt/notesSlides/_rels/notesSlide4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5.xml"/></Relationships>
</file>

<file path=ppt/notesSlides/_rels/notesSlide4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6.xml"/></Relationships>
</file>

<file path=ppt/notesSlides/_rels/notesSlide4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7.xml"/></Relationships>
</file>

<file path=ppt/notesSlides/_rels/notesSlide4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8.xml"/></Relationships>
</file>

<file path=ppt/notesSlides/_rels/notesSlide4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9.xml"/></Relationships>
</file>

<file path=ppt/notesSlides/_rels/notesSlide4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0.xml"/></Relationships>
</file>

<file path=ppt/notesSlides/_rels/notesSlide4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1.xml"/></Relationships>
</file>

<file path=ppt/notesSlides/_rels/notesSlide4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2.xml"/></Relationships>
</file>

<file path=ppt/notesSlides/_rels/notesSlide4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3.xml"/></Relationships>
</file>

<file path=ppt/notesSlides/_rels/notesSlide4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4.xml"/></Relationships>
</file>

<file path=ppt/notesSlides/_rels/notesSlide4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5.xml"/></Relationships>
</file>

<file path=ppt/notesSlides/_rels/notesSlide4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6.xml"/></Relationships>
</file>

<file path=ppt/notesSlides/_rels/notesSlide4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7.xml"/></Relationships>
</file>

<file path=ppt/notesSlides/_rels/notesSlide4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8.xml"/></Relationships>
</file>

<file path=ppt/notesSlides/_rels/notesSlide4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9.xml"/></Relationships>
</file>

<file path=ppt/notesSlides/_rels/notesSlide4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0.xml"/></Relationships>
</file>

<file path=ppt/notesSlides/_rels/notesSlide4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1.xml"/></Relationships>
</file>

<file path=ppt/notesSlides/_rels/notesSlide4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2.xml"/></Relationships>
</file>

<file path=ppt/notesSlides/_rels/notesSlide4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3.xml"/></Relationships>
</file>

<file path=ppt/notesSlides/_rels/notesSlide4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4.xml"/></Relationships>
</file>

<file path=ppt/notesSlides/_rels/notesSlide4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5.xml"/></Relationships>
</file>

<file path=ppt/notesSlides/_rels/notesSlide4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6.xml"/></Relationships>
</file>

<file path=ppt/notesSlides/_rels/notesSlide4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7.xml"/></Relationships>
</file>

<file path=ppt/notesSlides/_rels/notesSlide4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8.xml"/></Relationships>
</file>

<file path=ppt/notesSlides/_rels/notesSlide4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9.xml"/></Relationships>
</file>

<file path=ppt/notesSlides/_rels/notesSlide4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0.xml"/></Relationships>
</file>

<file path=ppt/notesSlides/_rels/notesSlide4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1.xml"/></Relationships>
</file>

<file path=ppt/notesSlides/_rels/notesSlide4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2.xml"/></Relationships>
</file>

<file path=ppt/notesSlides/_rels/notesSlide4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3.xml"/></Relationships>
</file>

<file path=ppt/notesSlides/_rels/notesSlide4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4.xml"/></Relationships>
</file>

<file path=ppt/notesSlides/_rels/notesSlide4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5.xml"/></Relationships>
</file>

<file path=ppt/notesSlides/_rels/notesSlide4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6.xml"/></Relationships>
</file>

<file path=ppt/notesSlides/_rels/notesSlide4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7.xml"/></Relationships>
</file>

<file path=ppt/notesSlides/_rels/notesSlide4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8.xml"/></Relationships>
</file>

<file path=ppt/notesSlides/_rels/notesSlide4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9.xml"/></Relationships>
</file>

<file path=ppt/notesSlides/_rels/notesSlide4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0.xml"/></Relationships>
</file>

<file path=ppt/notesSlides/_rels/notesSlide4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1.xml"/></Relationships>
</file>

<file path=ppt/notesSlides/_rels/notesSlide4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2.xml"/></Relationships>
</file>

<file path=ppt/notesSlides/_rels/notesSlide4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3.xml"/></Relationships>
</file>

<file path=ppt/notesSlides/_rels/notesSlide4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4.xml"/></Relationships>
</file>

<file path=ppt/notesSlides/_rels/notesSlide4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5.xml"/></Relationships>
</file>

<file path=ppt/notesSlides/_rels/notesSlide5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6.xml"/></Relationships>
</file>

<file path=ppt/notesSlides/_rels/notesSlide5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7.xml"/></Relationships>
</file>

<file path=ppt/notesSlides/_rels/notesSlide5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8.xml"/></Relationships>
</file>

<file path=ppt/notesSlides/_rels/notesSlide5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9.xml"/></Relationships>
</file>

<file path=ppt/notesSlides/_rels/notesSlide5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0.xml"/></Relationships>
</file>

<file path=ppt/notesSlides/_rels/notesSlide5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1.xml"/></Relationships>
</file>

<file path=ppt/notesSlides/_rels/notesSlide5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2.xml"/></Relationships>
</file>

<file path=ppt/notesSlides/_rels/notesSlide5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3.xml"/></Relationships>
</file>

<file path=ppt/notesSlides/_rels/notesSlide5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4.xml"/></Relationships>
</file>

<file path=ppt/notesSlides/_rels/notesSlide5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5.xml"/></Relationships>
</file>

<file path=ppt/notesSlides/_rels/notesSlide5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6.xml"/></Relationships>
</file>

<file path=ppt/notesSlides/_rels/notesSlide5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7.xml"/></Relationships>
</file>

<file path=ppt/notesSlides/_rels/notesSlide5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8.xml"/></Relationships>
</file>

<file path=ppt/notesSlides/_rels/notesSlide5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9.xml"/></Relationships>
</file>

<file path=ppt/notesSlides/_rels/notesSlide5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0.xml"/></Relationships>
</file>

<file path=ppt/notesSlides/_rels/notesSlide5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1.xml"/></Relationships>
</file>

<file path=ppt/notesSlides/_rels/notesSlide5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2.xml"/></Relationships>
</file>

<file path=ppt/notesSlides/_rels/notesSlide5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4.xml"/></Relationships>
</file>

<file path=ppt/notesSlides/_rels/notesSlide5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5.xml"/></Relationships>
</file>

<file path=ppt/notesSlides/_rels/notesSlide5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6.xml"/></Relationships>
</file>

<file path=ppt/notesSlides/_rels/notesSlide5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7.xml"/></Relationships>
</file>

<file path=ppt/notesSlides/_rels/notesSlide5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8.xml"/></Relationships>
</file>

<file path=ppt/notesSlides/_rels/notesSlide5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9.xml"/></Relationships>
</file>

<file path=ppt/notesSlides/_rels/notesSlide5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0.xml"/></Relationships>
</file>

<file path=ppt/notesSlides/_rels/notesSlide5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1.xml"/></Relationships>
</file>

<file path=ppt/notesSlides/_rels/notesSlide5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2.xml"/></Relationships>
</file>

<file path=ppt/notesSlides/_rels/notesSlide5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3.xml"/></Relationships>
</file>

<file path=ppt/notesSlides/_rels/notesSlide5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4.xml"/></Relationships>
</file>

<file path=ppt/notesSlides/_rels/notesSlide5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5.xml"/></Relationships>
</file>

<file path=ppt/notesSlides/_rels/notesSlide5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6.xml"/></Relationships>
</file>

<file path=ppt/notesSlides/_rels/notesSlide5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7.xml"/></Relationships>
</file>

<file path=ppt/notesSlides/_rels/notesSlide5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8.xml"/></Relationships>
</file>

<file path=ppt/notesSlides/_rels/notesSlide5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9.xml"/></Relationships>
</file>

<file path=ppt/notesSlides/_rels/notesSlide5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0.xml"/></Relationships>
</file>

<file path=ppt/notesSlides/_rels/notesSlide5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1.xml"/></Relationships>
</file>

<file path=ppt/notesSlides/_rels/notesSlide5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2.xml"/></Relationships>
</file>

<file path=ppt/notesSlides/_rels/notesSlide5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3.xml"/></Relationships>
</file>

<file path=ppt/notesSlides/_rels/notesSlide5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4.xml"/></Relationships>
</file>

<file path=ppt/notesSlides/_rels/notesSlide5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5.xml"/></Relationships>
</file>

<file path=ppt/notesSlides/_rels/notesSlide5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6.xml"/></Relationships>
</file>

<file path=ppt/notesSlides/_rels/notesSlide5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7.xml"/></Relationships>
</file>

<file path=ppt/notesSlides/_rels/notesSlide5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8.xml"/></Relationships>
</file>

<file path=ppt/notesSlides/_rels/notesSlide5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9.xml"/></Relationships>
</file>

<file path=ppt/notesSlides/_rels/notesSlide5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0.xml"/></Relationships>
</file>

<file path=ppt/notesSlides/_rels/notesSlide5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1.xml"/></Relationships>
</file>

<file path=ppt/notesSlides/_rels/notesSlide5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2.xml"/></Relationships>
</file>

<file path=ppt/notesSlides/_rels/notesSlide5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3.xml"/></Relationships>
</file>

<file path=ppt/notesSlides/_rels/notesSlide5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4.xml"/></Relationships>
</file>

<file path=ppt/notesSlides/_rels/notesSlide5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5.xml"/></Relationships>
</file>

<file path=ppt/notesSlides/_rels/notesSlide5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6.xml"/></Relationships>
</file>

<file path=ppt/notesSlides/_rels/notesSlide5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7.xml"/></Relationships>
</file>

<file path=ppt/notesSlides/_rels/notesSlide5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8.xml"/></Relationships>
</file>

<file path=ppt/notesSlides/_rels/notesSlide5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9.xml"/></Relationships>
</file>

<file path=ppt/notesSlides/_rels/notesSlide5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0.xml"/></Relationships>
</file>

<file path=ppt/notesSlides/_rels/notesSlide5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1.xml"/></Relationships>
</file>

<file path=ppt/notesSlides/_rels/notesSlide5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2.xml"/></Relationships>
</file>

<file path=ppt/notesSlides/_rels/notesSlide5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3.xml"/></Relationships>
</file>

<file path=ppt/notesSlides/_rels/notesSlide5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4.xml"/></Relationships>
</file>

<file path=ppt/notesSlides/_rels/notesSlide5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5.xml"/></Relationships>
</file>

<file path=ppt/notesSlides/_rels/notesSlide5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6.xml"/></Relationships>
</file>

<file path=ppt/notesSlides/_rels/notesSlide5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7.xml"/></Relationships>
</file>

<file path=ppt/notesSlides/_rels/notesSlide5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8.xml"/></Relationships>
</file>

<file path=ppt/notesSlides/_rels/notesSlide5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9.xml"/></Relationships>
</file>

<file path=ppt/notesSlides/_rels/notesSlide5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0.xml"/></Relationships>
</file>

<file path=ppt/notesSlides/_rels/notesSlide5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1.xml"/></Relationships>
</file>

<file path=ppt/notesSlides/_rels/notesSlide5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2.xml"/></Relationships>
</file>

<file path=ppt/notesSlides/_rels/notesSlide5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3.xml"/></Relationships>
</file>

<file path=ppt/notesSlides/_rels/notesSlide5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4.xml"/></Relationships>
</file>

<file path=ppt/notesSlides/_rels/notesSlide5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5.xml"/></Relationships>
</file>

<file path=ppt/notesSlides/_rels/notesSlide5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6.xml"/></Relationships>
</file>

<file path=ppt/notesSlides/_rels/notesSlide5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7.xml"/></Relationships>
</file>

<file path=ppt/notesSlides/_rels/notesSlide5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8.xml"/></Relationships>
</file>

<file path=ppt/notesSlides/_rels/notesSlide5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9.xml"/></Relationships>
</file>

<file path=ppt/notesSlides/_rels/notesSlide5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0.xml"/></Relationships>
</file>

<file path=ppt/notesSlides/_rels/notesSlide5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1.xml"/></Relationships>
</file>

<file path=ppt/notesSlides/_rels/notesSlide5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2.xml"/></Relationships>
</file>

<file path=ppt/notesSlides/_rels/notesSlide5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3.xml"/></Relationships>
</file>

<file path=ppt/notesSlides/_rels/notesSlide5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4.xml"/></Relationships>
</file>

<file path=ppt/notesSlides/_rels/notesSlide5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5.xml"/></Relationships>
</file>

<file path=ppt/notesSlides/_rels/notesSlide5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6.xml"/></Relationships>
</file>

<file path=ppt/notesSlides/_rels/notesSlide5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7.xml"/></Relationships>
</file>

<file path=ppt/notesSlides/_rels/notesSlide5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8.xml"/></Relationships>
</file>

<file path=ppt/notesSlides/_rels/notesSlide5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9.xml"/></Relationships>
</file>

<file path=ppt/notesSlides/_rels/notesSlide5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0.xml"/></Relationships>
</file>

<file path=ppt/notesSlides/_rels/notesSlide5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1.xml"/></Relationships>
</file>

<file path=ppt/notesSlides/_rels/notesSlide5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2.xml"/></Relationships>
</file>

<file path=ppt/notesSlides/_rels/notesSlide5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3.xml"/></Relationships>
</file>

<file path=ppt/notesSlides/_rels/notesSlide5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4.xml"/></Relationships>
</file>

<file path=ppt/notesSlides/_rels/notesSlide5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5.xml"/></Relationships>
</file>

<file path=ppt/notesSlides/_rels/notesSlide5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6.xml"/></Relationships>
</file>

<file path=ppt/notesSlides/_rels/notesSlide5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7.xml"/></Relationships>
</file>

<file path=ppt/notesSlides/_rels/notesSlide5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8.xml"/></Relationships>
</file>

<file path=ppt/notesSlides/_rels/notesSlide5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9.xml"/></Relationships>
</file>

<file path=ppt/notesSlides/_rels/notesSlide5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0.xml"/></Relationships>
</file>

<file path=ppt/notesSlides/_rels/notesSlide5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1.xml"/></Relationships>
</file>

<file path=ppt/notesSlides/_rels/notesSlide5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2.xml"/></Relationships>
</file>

<file path=ppt/notesSlides/_rels/notesSlide5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3.xml"/></Relationships>
</file>

<file path=ppt/notesSlides/_rels/notesSlide5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4.xml"/></Relationships>
</file>

<file path=ppt/notesSlides/_rels/notesSlide5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5.xml"/></Relationships>
</file>

<file path=ppt/notesSlides/_rels/notesSlide5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6.xml"/></Relationships>
</file>

<file path=ppt/notesSlides/_rels/notesSlide6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9.xml"/></Relationships>
</file>

<file path=ppt/notesSlides/_rels/notesSlide6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0.xml"/></Relationships>
</file>

<file path=ppt/notesSlides/_rels/notesSlide6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1.xml"/></Relationships>
</file>

<file path=ppt/notesSlides/_rels/notesSlide6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2.xml"/></Relationships>
</file>

<file path=ppt/notesSlides/_rels/notesSlide6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3.xml"/></Relationships>
</file>

<file path=ppt/notesSlides/_rels/notesSlide6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4.xml"/></Relationships>
</file>

<file path=ppt/notesSlides/_rels/notesSlide6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5.xml"/></Relationships>
</file>

<file path=ppt/notesSlides/_rels/notesSlide6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6.xml"/></Relationships>
</file>

<file path=ppt/notesSlides/_rels/notesSlide6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2.xml"/></Relationships>
</file>

<file path=ppt/notesSlides/_rels/notesSlide6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3.xml"/></Relationships>
</file>

<file path=ppt/notesSlides/_rels/notesSlide6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4.xml"/></Relationships>
</file>

<file path=ppt/notesSlides/_rels/notesSlide6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5.xml"/></Relationships>
</file>

<file path=ppt/notesSlides/_rels/notesSlide6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7.xml"/></Relationships>
</file>

<file path=ppt/notesSlides/_rels/notesSlide6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8.xml"/></Relationships>
</file>

<file path=ppt/notesSlides/_rels/notesSlide6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9.xml"/></Relationships>
</file>

<file path=ppt/notesSlides/_rels/notesSlide6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0.xml"/></Relationships>
</file>

<file path=ppt/notesSlides/_rels/notesSlide6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2.xml"/></Relationships>
</file>

<file path=ppt/notesSlides/_rels/notesSlide6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3.xml"/></Relationships>
</file>

<file path=ppt/notesSlides/_rels/notesSlide6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4.xml"/></Relationships>
</file>

<file path=ppt/notesSlides/_rels/notesSlide6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6.xml"/></Relationships>
</file>

<file path=ppt/notesSlides/_rels/notesSlide6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7.xml"/></Relationships>
</file>

<file path=ppt/notesSlides/_rels/notesSlide6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8.xml"/></Relationships>
</file>

<file path=ppt/notesSlides/_rels/notesSlide6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9.xml"/></Relationships>
</file>

<file path=ppt/notesSlides/_rels/notesSlide6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0.xml"/></Relationships>
</file>

<file path=ppt/notesSlides/_rels/notesSlide6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1.xml"/></Relationships>
</file>

<file path=ppt/notesSlides/_rels/notesSlide6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3.xml"/></Relationships>
</file>

<file path=ppt/notesSlides/_rels/notesSlide6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4.xml"/></Relationships>
</file>

<file path=ppt/notesSlides/_rels/notesSlide6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5.xml"/></Relationships>
</file>

<file path=ppt/notesSlides/_rels/notesSlide6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6.xml"/></Relationships>
</file>

<file path=ppt/notesSlides/_rels/notesSlide6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8.xml"/></Relationships>
</file>

<file path=ppt/notesSlides/_rels/notesSlide6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9.xml"/></Relationships>
</file>

<file path=ppt/notesSlides/_rels/notesSlide6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1.xml"/></Relationships>
</file>

<file path=ppt/notesSlides/_rels/notesSlide6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2.xml"/></Relationships>
</file>

<file path=ppt/notesSlides/_rels/notesSlide6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3.xml"/></Relationships>
</file>

<file path=ppt/notesSlides/_rels/notesSlide6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1.xml"/></Relationships>
</file>

<file path=ppt/notesSlides/_rels/notesSlide6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2.xml"/></Relationships>
</file>

<file path=ppt/notesSlides/_rels/notesSlide6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3.xml"/></Relationships>
</file>

<file path=ppt/notesSlides/_rels/notesSlide6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4.xml"/></Relationships>
</file>

<file path=ppt/notesSlides/_rels/notesSlide6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6.xml"/></Relationships>
</file>

<file path=ppt/notesSlides/_rels/notesSlide6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7.xml"/></Relationships>
</file>

<file path=ppt/notesSlides/_rels/notesSlide6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8.xml"/></Relationships>
</file>

<file path=ppt/notesSlides/_rels/notesSlide6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9.xml"/></Relationships>
</file>

<file path=ppt/notesSlides/_rels/notesSlide6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0.xml"/></Relationships>
</file>

<file path=ppt/notesSlides/_rels/notesSlide6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1.xml"/></Relationships>
</file>

<file path=ppt/notesSlides/_rels/notesSlide6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2.xml"/></Relationships>
</file>

<file path=ppt/notesSlides/_rels/notesSlide6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4.xml"/></Relationships>
</file>

<file path=ppt/notesSlides/_rels/notesSlide6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5.xml"/></Relationships>
</file>

<file path=ppt/notesSlides/_rels/notesSlide6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6.xml"/></Relationships>
</file>

<file path=ppt/notesSlides/_rels/notesSlide6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8.xml"/></Relationships>
</file>

<file path=ppt/notesSlides/_rels/notesSlide6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9.xml"/></Relationships>
</file>

<file path=ppt/notesSlides/_rels/notesSlide6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0.xml"/></Relationships>
</file>

<file path=ppt/notesSlides/_rels/notesSlide6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2.xml"/></Relationships>
</file>

<file path=ppt/notesSlides/_rels/notesSlide6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3.xml"/></Relationships>
</file>

<file path=ppt/notesSlides/_rels/notesSlide6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5.xml"/></Relationships>
</file>

<file path=ppt/notesSlides/_rels/notesSlide6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6.xml"/></Relationships>
</file>

<file path=ppt/notesSlides/_rels/notesSlide6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7.xml"/></Relationships>
</file>

<file path=ppt/notesSlides/_rels/notesSlide6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8.xml"/></Relationships>
</file>

<file path=ppt/notesSlides/_rels/notesSlide6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6.xml"/></Relationships>
</file>

<file path=ppt/notesSlides/_rels/notesSlide6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7.xml"/></Relationships>
</file>

<file path=ppt/notesSlides/_rels/notesSlide6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8.xml"/></Relationships>
</file>

<file path=ppt/notesSlides/_rels/notesSlide6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9.xml"/></Relationships>
</file>

<file path=ppt/notesSlides/_rels/notesSlide6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0.xml"/></Relationships>
</file>

<file path=ppt/notesSlides/_rels/notesSlide6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2.xml"/></Relationships>
</file>

<file path=ppt/notesSlides/_rels/notesSlide6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3.xml"/></Relationships>
</file>

<file path=ppt/notesSlides/_rels/notesSlide6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4.xml"/></Relationships>
</file>

<file path=ppt/notesSlides/_rels/notesSlide6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6.xml"/></Relationships>
</file>

<file path=ppt/notesSlides/_rels/notesSlide6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7.xml"/></Relationships>
</file>

<file path=ppt/notesSlides/_rels/notesSlide6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8.xml"/></Relationships>
</file>

<file path=ppt/notesSlides/_rels/notesSlide6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0.xml"/></Relationships>
</file>

<file path=ppt/notesSlides/_rels/notesSlide6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1.xml"/></Relationships>
</file>

<file path=ppt/notesSlides/_rels/notesSlide6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2.xml"/></Relationships>
</file>

<file path=ppt/notesSlides/_rels/notesSlide6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4.xml"/></Relationships>
</file>

<file path=ppt/notesSlides/_rels/notesSlide6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5.xml"/></Relationships>
</file>

<file path=ppt/notesSlides/_rels/notesSlide6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6.xml"/></Relationships>
</file>

<file path=ppt/notesSlides/_rels/notesSlide6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7.xml"/></Relationships>
</file>

<file path=ppt/notesSlides/_rels/notesSlide6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8.xml"/></Relationships>
</file>

<file path=ppt/notesSlides/_rels/notesSlide6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9.xml"/></Relationships>
</file>

<file path=ppt/notesSlides/_rels/notesSlide6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0.xml"/></Relationships>
</file>

<file path=ppt/notesSlides/_rels/notesSlide6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2.xml"/></Relationships>
</file>

<file path=ppt/notesSlides/_rels/notesSlide6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3.xml"/></Relationships>
</file>

<file path=ppt/notesSlides/_rels/notesSlide6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0.xml"/></Relationships>
</file>

<file path=ppt/notesSlides/_rels/notesSlide6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2.xml"/></Relationships>
</file>

<file path=ppt/notesSlides/_rels/notesSlide6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3.xml"/></Relationships>
</file>

<file path=ppt/notesSlides/_rels/notesSlide6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5.xml"/></Relationships>
</file>

<file path=ppt/notesSlides/_rels/notesSlide6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6.xml"/></Relationships>
</file>

<file path=ppt/notesSlides/_rels/notesSlide6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7.xml"/></Relationships>
</file>

<file path=ppt/notesSlides/_rels/notesSlide6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9.xml"/></Relationships>
</file>

<file path=ppt/notesSlides/_rels/notesSlide6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0.xml"/></Relationships>
</file>

<file path=ppt/notesSlides/_rels/notesSlide6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1.xml"/></Relationships>
</file>

<file path=ppt/notesSlides/_rels/notesSlide6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2.xml"/></Relationships>
</file>

<file path=ppt/notesSlides/_rels/notesSlide6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3.xml"/></Relationships>
</file>

<file path=ppt/notesSlides/_rels/notesSlide6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4.xml"/></Relationships>
</file>

<file path=ppt/notesSlides/_rels/notesSlide6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5.xml"/></Relationships>
</file>

<file path=ppt/notesSlides/_rels/notesSlide6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7.xml"/></Relationships>
</file>

<file path=ppt/notesSlides/_rels/notesSlide6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8.xml"/></Relationships>
</file>

<file path=ppt/notesSlides/_rels/notesSlide6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9.xml"/></Relationships>
</file>

<file path=ppt/notesSlides/_rels/notesSlide6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1.xml"/></Relationships>
</file>

<file path=ppt/notesSlides/_rels/notesSlide6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2.xml"/></Relationships>
</file>

<file path=ppt/notesSlides/_rels/notesSlide6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3.xml"/></Relationships>
</file>

<file path=ppt/notesSlides/_rels/notesSlide6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5.xml"/></Relationships>
</file>

<file path=ppt/notesSlides/_rels/notesSlide7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6.xml"/></Relationships>
</file>

<file path=ppt/notesSlides/_rels/notesSlide7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7.xml"/></Relationships>
</file>

<file path=ppt/notesSlides/_rels/notesSlide7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8.xml"/></Relationships>
</file>

<file path=ppt/notesSlides/_rels/notesSlide7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9.xml"/></Relationships>
</file>

<file path=ppt/notesSlides/_rels/notesSlide7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8.xml"/></Relationships>
</file>

<file path=ppt/notesSlides/_rels/notesSlide7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9.xml"/></Relationships>
</file>

<file path=ppt/notesSlides/_rels/notesSlide7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0.xml"/></Relationships>
</file>

<file path=ppt/notesSlides/_rels/notesSlide7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1.xml"/></Relationships>
</file>

<file path=ppt/notesSlides/_rels/notesSlide7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2.xml"/></Relationships>
</file>

<file path=ppt/notesSlides/_rels/notesSlide7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4.xml"/></Relationships>
</file>

<file path=ppt/notesSlides/_rels/notesSlide7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5.xml"/></Relationships>
</file>

<file path=ppt/notesSlides/_rels/notesSlide7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6.xml"/></Relationships>
</file>

<file path=ppt/notesSlides/_rels/notesSlide7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8.xml"/></Relationships>
</file>

<file path=ppt/notesSlides/_rels/notesSlide7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9.xml"/></Relationships>
</file>

<file path=ppt/notesSlides/_rels/notesSlide7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0.xml"/></Relationships>
</file>

<file path=ppt/notesSlides/_rels/notesSlide7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2.xml"/></Relationships>
</file>

<file path=ppt/notesSlides/_rels/notesSlide7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3.xml"/></Relationships>
</file>

<file path=ppt/notesSlides/_rels/notesSlide7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4.xml"/></Relationships>
</file>

<file path=ppt/notesSlides/_rels/notesSlide7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5.xml"/></Relationships>
</file>

<file path=ppt/notesSlides/_rels/notesSlide7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7.xml"/></Relationships>
</file>

<file path=ppt/notesSlides/_rels/notesSlide7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8.xml"/></Relationships>
</file>

<file path=ppt/notesSlides/_rels/notesSlide7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9.xml"/></Relationships>
</file>

<file path=ppt/notesSlides/_rels/notesSlide7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1.xml"/></Relationships>
</file>

<file path=ppt/notesSlides/_rels/notesSlide7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2.xml"/></Relationships>
</file>

<file path=ppt/notesSlides/_rels/notesSlide7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4.xml"/></Relationships>
</file>

<file path=ppt/notesSlides/_rels/notesSlide7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5.xml"/></Relationships>
</file>

<file path=ppt/notesSlides/_rels/notesSlide7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3.xml"/></Relationships>
</file>

<file path=ppt/notesSlides/_rels/notesSlide7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4.xml"/></Relationships>
</file>

<file path=ppt/notesSlides/_rels/notesSlide7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5.xml"/></Relationships>
</file>

<file path=ppt/notesSlides/_rels/notesSlide7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6.xml"/></Relationships>
</file>

<file path=ppt/notesSlides/_rels/notesSlide7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8.xml"/></Relationships>
</file>

<file path=ppt/notesSlides/_rels/notesSlide7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9.xml"/></Relationships>
</file>

<file path=ppt/notesSlides/_rels/notesSlide7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0.xml"/></Relationships>
</file>

<file path=ppt/notesSlides/_rels/notesSlide7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1.xml"/></Relationships>
</file>

<file path=ppt/notesSlides/_rels/notesSlide7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3.xml"/></Relationships>
</file>

<file path=ppt/notesSlides/_rels/notesSlide7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4.xml"/></Relationships>
</file>

<file path=ppt/notesSlides/_rels/notesSlide7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5.xml"/></Relationships>
</file>

<file path=ppt/notesSlides/_rels/notesSlide7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7.xml"/></Relationships>
</file>

<file path=ppt/notesSlides/_rels/notesSlide7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8.xml"/></Relationships>
</file>

<file path=ppt/notesSlides/_rels/notesSlide7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9.xml"/></Relationships>
</file>

<file path=ppt/notesSlides/_rels/notesSlide7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0.xml"/></Relationships>
</file>

<file path=ppt/notesSlides/_rels/notesSlide7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2.xml"/></Relationships>
</file>

<file path=ppt/notesSlides/_rels/notesSlide7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3.xml"/></Relationships>
</file>

<file path=ppt/notesSlides/_rels/notesSlide7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4.xml"/></Relationships>
</file>

<file path=ppt/notesSlides/_rels/notesSlide7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6.xml"/></Relationships>
</file>

<file path=ppt/notesSlides/_rels/notesSlide7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7.xml"/></Relationships>
</file>

<file path=ppt/notesSlides/_rels/notesSlide7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9.xml"/></Relationships>
</file>

<file path=ppt/notesSlides/_rels/notesSlide7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0.xml"/></Relationships>
</file>

<file path=ppt/notesSlides/_rels/notesSlide7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1.xml"/></Relationships>
</file>

<file path=ppt/notesSlides/_rels/notesSlide7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9.xml"/></Relationships>
</file>

<file path=ppt/notesSlides/_rels/notesSlide7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0.xml"/></Relationships>
</file>

<file path=ppt/notesSlides/_rels/notesSlide7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1.xml"/></Relationships>
</file>

<file path=ppt/notesSlides/_rels/notesSlide7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2.xml"/></Relationships>
</file>

<file path=ppt/notesSlides/_rels/notesSlide7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3.xml"/></Relationships>
</file>

<file path=ppt/notesSlides/_rels/notesSlide7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4.xml"/></Relationships>
</file>

<file path=ppt/notesSlides/_rels/notesSlide7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6.xml"/></Relationships>
</file>

<file path=ppt/notesSlides/_rels/notesSlide7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7.xml"/></Relationships>
</file>

<file path=ppt/notesSlides/_rels/notesSlide7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8.xml"/></Relationships>
</file>

<file path=ppt/notesSlides/_rels/notesSlide7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0.xml"/></Relationships>
</file>

<file path=ppt/notesSlides/_rels/notesSlide7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1.xml"/></Relationships>
</file>

<file path=ppt/notesSlides/_rels/notesSlide7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2.xml"/></Relationships>
</file>

<file path=ppt/notesSlides/_rels/notesSlide7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3.xml"/></Relationships>
</file>

<file path=ppt/notesSlides/_rels/notesSlide7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5.xml"/></Relationships>
</file>

<file path=ppt/notesSlides/_rels/notesSlide7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6.xml"/></Relationships>
</file>

<file path=ppt/notesSlides/_rels/notesSlide7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7.xml"/></Relationships>
</file>

<file path=ppt/notesSlides/_rels/notesSlide7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9.xml"/></Relationships>
</file>

<file path=ppt/notesSlides/_rels/notesSlide7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0.xml"/></Relationships>
</file>

<file path=ppt/notesSlides/_rels/notesSlide7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1.xml"/></Relationships>
</file>

<file path=ppt/notesSlides/_rels/notesSlide7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3.xml"/></Relationships>
</file>

<file path=ppt/notesSlides/_rels/notesSlide7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4.xml"/></Relationships>
</file>

<file path=ppt/notesSlides/_rels/notesSlide7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6.xml"/></Relationships>
</file>

<file path=ppt/notesSlides/_rels/notesSlide7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4.xml"/></Relationships>
</file>

<file path=ppt/notesSlides/_rels/notesSlide7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6.xml"/></Relationships>
</file>

<file path=ppt/notesSlides/_rels/notesSlide7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7.xml"/></Relationships>
</file>

<file path=ppt/notesSlides/_rels/notesSlide7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8.xml"/></Relationships>
</file>

<file path=ppt/notesSlides/_rels/notesSlide7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0.xml"/></Relationships>
</file>

<file path=ppt/notesSlides/_rels/notesSlide7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2.xml"/></Relationships>
</file>

<file path=ppt/notesSlides/_rels/notesSlide7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3.xml"/></Relationships>
</file>

<file path=ppt/notesSlides/_rels/notesSlide7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5.xml"/></Relationships>
</file>

<file path=ppt/notesSlides/_rels/notesSlide7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6.xml"/></Relationships>
</file>

<file path=ppt/notesSlides/_rels/notesSlide7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7.xml"/></Relationships>
</file>

<file path=ppt/notesSlides/_rels/notesSlide7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9.xml"/></Relationships>
</file>

<file path=ppt/notesSlides/_rels/notesSlide7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0.xml"/></Relationships>
</file>

<file path=ppt/notesSlides/_rels/notesSlide7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2.xml"/></Relationships>
</file>

<file path=ppt/notesSlides/_rels/notesSlide7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3.xml"/></Relationships>
</file>

<file path=ppt/notesSlides/_rels/notesSlide7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4.xml"/></Relationships>
</file>

<file path=ppt/notesSlides/_rels/notesSlide7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6.xml"/></Relationships>
</file>

<file path=ppt/notesSlides/_rels/notesSlide7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7.xml"/></Relationships>
</file>

<file path=ppt/notesSlides/_rels/notesSlide7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8.xml"/></Relationships>
</file>

<file path=ppt/notesSlides/_rels/notesSlide7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9.xml"/></Relationships>
</file>

<file path=ppt/notesSlides/_rels/notesSlide7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0.xml"/></Relationships>
</file>

<file path=ppt/notesSlides/_rels/notesSlide7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1.xml"/></Relationships>
</file>

<file path=ppt/notesSlides/_rels/notesSlide7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2.xml"/></Relationships>
</file>

<file path=ppt/notesSlides/_rels/notesSlide7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0.xml"/></Relationships>
</file>

<file path=ppt/notesSlides/_rels/notesSlide7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1.xml"/></Relationships>
</file>

<file path=ppt/notesSlides/_rels/notesSlide7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2.xml"/></Relationships>
</file>

<file path=ppt/notesSlides/_rels/notesSlide7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4.xml"/></Relationships>
</file>

<file path=ppt/notesSlides/_rels/notesSlide7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5.xml"/></Relationships>
</file>

<file path=ppt/notesSlides/_rels/notesSlide7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6.xml"/></Relationships>
</file>

<file path=ppt/notesSlides/_rels/notesSlide7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8.xml"/></Relationships>
</file>

<file path=ppt/notesSlides/_rels/notesSlide8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9.xml"/></Relationships>
</file>

<file path=ppt/notesSlides/_rels/notesSlide8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1.xml"/></Relationships>
</file>

<file path=ppt/notesSlides/_rels/notesSlide8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2.xml"/></Relationships>
</file>

<file path=ppt/notesSlides/_rels/notesSlide8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3.xml"/></Relationships>
</file>

<file path=ppt/notesSlides/_rels/notesSlide8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5.xml"/></Relationships>
</file>

<file path=ppt/notesSlides/_rels/notesSlide8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6.xml"/></Relationships>
</file>

<file path=ppt/notesSlides/_rels/notesSlide8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7.xml"/></Relationships>
</file>

<file path=ppt/notesSlides/_rels/notesSlide8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8.xml"/></Relationships>
</file>

<file path=ppt/notesSlides/_rels/notesSlide8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0.xml"/></Relationships>
</file>

<file path=ppt/notesSlides/_rels/notesSlide8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1.xml"/></Relationships>
</file>

<file path=ppt/notesSlides/_rels/notesSlide8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2.xml"/></Relationships>
</file>

<file path=ppt/notesSlides/_rels/notesSlide8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4.xml"/></Relationships>
</file>

<file path=ppt/notesSlides/_rels/notesSlide8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5.xml"/></Relationships>
</file>

<file path=ppt/notesSlides/_rels/notesSlide8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7.xml"/></Relationships>
</file>

<file path=ppt/notesSlides/_rels/notesSlide8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8.xml"/></Relationships>
</file>

<file path=ppt/notesSlides/_rels/notesSlide8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6.xml"/></Relationships>
</file>

<file path=ppt/notesSlides/_rels/notesSlide8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7.xml"/></Relationships>
</file>

<file path=ppt/notesSlides/_rels/notesSlide8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8.xml"/></Relationships>
</file>

<file path=ppt/notesSlides/_rels/notesSlide8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9.xml"/></Relationships>
</file>

<file path=ppt/notesSlides/_rels/notesSlide8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1.xml"/></Relationships>
</file>

<file path=ppt/notesSlides/_rels/notesSlide8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2.xml"/></Relationships>
</file>

<file path=ppt/notesSlides/_rels/notesSlide8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3.xml"/></Relationships>
</file>

<file path=ppt/notesSlides/_rels/notesSlide8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4.xml"/></Relationships>
</file>

<file path=ppt/notesSlides/_rels/notesSlide8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6.xml"/></Relationships>
</file>

<file path=ppt/notesSlides/_rels/notesSlide8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7.xml"/></Relationships>
</file>

<file path=ppt/notesSlides/_rels/notesSlide8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8.xml"/></Relationships>
</file>

<file path=ppt/notesSlides/_rels/notesSlide8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9.xml"/></Relationships>
</file>

<file path=ppt/notesSlides/_rels/notesSlide8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1.xml"/></Relationships>
</file>

<file path=ppt/notesSlides/_rels/notesSlide8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2.xml"/></Relationships>
</file>

<file path=ppt/notesSlides/_rels/notesSlide8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3.xml"/></Relationships>
</file>

<file path=ppt/notesSlides/_rels/notesSlide8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4.xml"/></Relationships>
</file>

<file path=ppt/notesSlides/_rels/notesSlide8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5.xml"/></Relationships>
</file>

<file path=ppt/notesSlides/_rels/notesSlide8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6.xml"/></Relationships>
</file>

<file path=ppt/notesSlides/_rels/notesSlide8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8.xml"/></Relationships>
</file>

<file path=ppt/notesSlides/_rels/notesSlide8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9.xml"/></Relationships>
</file>

<file path=ppt/notesSlides/_rels/notesSlide8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0.xml"/></Relationships>
</file>

<file path=ppt/notesSlides/_rels/notesSlide8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2.xml"/></Relationships>
</file>

<file path=ppt/notesSlides/_rels/notesSlide8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3.xml"/></Relationships>
</file>

<file path=ppt/notesSlides/_rels/notesSlide8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4.xml"/></Relationships>
</file>

<file path=ppt/notesSlides/_rels/notesSlide8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5.xml"/></Relationships>
</file>

<file path=ppt/notesSlides/_rels/notesSlide8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3.xml"/></Relationships>
</file>

<file path=ppt/notesSlides/_rels/notesSlide8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4.xml"/></Relationships>
</file>

<file path=ppt/notesSlides/_rels/notesSlide8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5.xml"/></Relationships>
</file>

<file path=ppt/notesSlides/_rels/notesSlide8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6.xml"/></Relationships>
</file>

<file path=ppt/notesSlides/_rels/notesSlide8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8.xml"/></Relationships>
</file>

<file path=ppt/notesSlides/_rels/notesSlide8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9.xml"/></Relationships>
</file>

<file path=ppt/notesSlides/_rels/notesSlide8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1.xml"/></Relationships>
</file>

<file path=ppt/notesSlides/_rels/notesSlide8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2.xml"/></Relationships>
</file>

<file path=ppt/notesSlides/_rels/notesSlide8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3.xml"/></Relationships>
</file>

<file path=ppt/notesSlides/_rels/notesSlide8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5.xml"/></Relationships>
</file>

<file path=ppt/notesSlides/_rels/notesSlide8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6.xml"/></Relationships>
</file>

<file path=ppt/notesSlides/_rels/notesSlide8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7.xml"/></Relationships>
</file>

<file path=ppt/notesSlides/_rels/notesSlide8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8.xml"/></Relationships>
</file>

<file path=ppt/notesSlides/_rels/notesSlide8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9.xml"/></Relationships>
</file>

<file path=ppt/notesSlides/_rels/notesSlide8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1.xml"/></Relationships>
</file>

<file path=ppt/notesSlides/_rels/notesSlide8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2.xml"/></Relationships>
</file>

<file path=ppt/notesSlides/_rels/notesSlide8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4.xml"/></Relationships>
</file>

<file path=ppt/notesSlides/_rels/notesSlide8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5.xml"/></Relationships>
</file>

<file path=ppt/notesSlides/_rels/notesSlide8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7.xml"/></Relationships>
</file>

<file path=ppt/notesSlides/_rels/notesSlide8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9.xml"/></Relationships>
</file>

<file path=ppt/notesSlides/_rels/notesSlide8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0.xml"/></Relationships>
</file>

<file path=ppt/notesSlides/_rels/notesSlide8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9.xml"/></Relationships>
</file>

<file path=ppt/notesSlides/_rels/notesSlide8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0.xml"/></Relationships>
</file>

<file path=ppt/notesSlides/_rels/notesSlide8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1.xml"/></Relationships>
</file>

<file path=ppt/notesSlides/_rels/notesSlide8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2.xml"/></Relationships>
</file>

<file path=ppt/notesSlides/_rels/notesSlide8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4.xml"/></Relationships>
</file>

<file path=ppt/notesSlides/_rels/notesSlide8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5.xml"/></Relationships>
</file>

<file path=ppt/notesSlides/_rels/notesSlide8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6.xml"/></Relationships>
</file>

<file path=ppt/notesSlides/_rels/notesSlide8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7.xml"/></Relationships>
</file>

<file path=ppt/notesSlides/_rels/notesSlide8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8.xml"/></Relationships>
</file>

<file path=ppt/notesSlides/_rels/notesSlide8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9.xml"/></Relationships>
</file>

<file path=ppt/notesSlides/_rels/notesSlide8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0.xml"/></Relationships>
</file>

<file path=ppt/notesSlides/_rels/notesSlide8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2.xml"/></Relationships>
</file>

<file path=ppt/notesSlides/_rels/notesSlide8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3.xml"/></Relationships>
</file>

<file path=ppt/notesSlides/_rels/notesSlide8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4.xml"/></Relationships>
</file>

<file path=ppt/notesSlides/_rels/notesSlide8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5.xml"/></Relationships>
</file>

<file path=ppt/notesSlides/_rels/notesSlide8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6.xml"/></Relationships>
</file>

<file path=ppt/notesSlides/_rels/notesSlide8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7.xml"/></Relationships>
</file>

<file path=ppt/notesSlides/_rels/notesSlide8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8.xml"/></Relationships>
</file>

<file path=ppt/notesSlides/_rels/notesSlide8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0.xml"/></Relationships>
</file>

<file path=ppt/notesSlides/_rels/notesSlide8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1.xml"/></Relationships>
</file>

<file path=ppt/notesSlides/_rels/notesSlide8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2.xml"/></Relationships>
</file>

<file path=ppt/notesSlides/_rels/notesSlide8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4.xml"/></Relationships>
</file>

<file path=ppt/notesSlides/_rels/notesSlide8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5.xml"/></Relationships>
</file>

<file path=ppt/notesSlides/_rels/notesSlide8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6.xml"/></Relationships>
</file>

<file path=ppt/notesSlides/_rels/notesSlide8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8.xml"/></Relationships>
</file>

<file path=ppt/notesSlides/_rels/notesSlide8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9.xml"/></Relationships>
</file>

<file path=ppt/notesSlides/_rels/notesSlide8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7.xml"/></Relationships>
</file>

<file path=ppt/notesSlides/_rels/notesSlide8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8.xml"/></Relationships>
</file>

<file path=ppt/notesSlides/_rels/notesSlide8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9.xml"/></Relationships>
</file>

<file path=ppt/notesSlides/_rels/notesSlide8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0.xml"/></Relationships>
</file>

<file path=ppt/notesSlides/_rels/notesSlide8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2.xml"/></Relationships>
</file>

<file path=ppt/notesSlides/_rels/notesSlide8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3.xml"/></Relationships>
</file>

<file path=ppt/notesSlides/_rels/notesSlide8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4.xml"/></Relationships>
</file>

<file path=ppt/notesSlides/_rels/notesSlide8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6.xml"/></Relationships>
</file>

<file path=ppt/notesSlides/_rels/notesSlide8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7.xml"/></Relationships>
</file>

<file path=ppt/notesSlides/_rels/notesSlide8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8.xml"/></Relationships>
</file>

<file path=ppt/notesSlides/_rels/notesSlide8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9.xml"/></Relationships>
</file>

<file path=ppt/notesSlides/_rels/notesSlide8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1.xml"/></Relationships>
</file>

<file path=ppt/notesSlides/_rels/notesSlide8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2.xml"/></Relationships>
</file>

<file path=ppt/notesSlides/_rels/notesSlide9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3.xml"/></Relationships>
</file>

<file path=ppt/notesSlides/_rels/notesSlide9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4.xml"/></Relationships>
</file>

<file path=ppt/notesSlides/_rels/notesSlide9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6.xml"/></Relationships>
</file>

<file path=ppt/notesSlides/_rels/notesSlide9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7.xml"/></Relationships>
</file>

<file path=ppt/notesSlides/_rels/notesSlide9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8.xml"/></Relationships>
</file>

<file path=ppt/notesSlides/_rels/notesSlide9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0.xml"/></Relationships>
</file>

<file path=ppt/notesSlides/_rels/notesSlide9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1.xml"/></Relationships>
</file>

<file path=ppt/notesSlides/_rels/notesSlide9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2.xml"/></Relationships>
</file>

<file path=ppt/notesSlides/_rels/notesSlide9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4.xml"/></Relationships>
</file>

<file path=ppt/notesSlides/_rels/notesSlide9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5.xml"/></Relationships>
</file>

<file path=ppt/notesSlides/_rels/notesSlide9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6.xml"/></Relationships>
</file>

<file path=ppt/notesSlides/_rels/notesSlide9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4.xml"/></Relationships>
</file>

<file path=ppt/notesSlides/_rels/notesSlide9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5.xml"/></Relationships>
</file>

<file path=ppt/notesSlides/_rels/notesSlide9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6.xml"/></Relationships>
</file>

<file path=ppt/notesSlides/_rels/notesSlide9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7.xml"/></Relationships>
</file>

<file path=ppt/notesSlides/_rels/notesSlide9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8.xml"/></Relationships>
</file>

<file path=ppt/notesSlides/_rels/notesSlide9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0.xml"/></Relationships>
</file>

<file path=ppt/notesSlides/_rels/notesSlide9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1.xml"/></Relationships>
</file>

<file path=ppt/notesSlides/_rels/notesSlide9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2.xml"/></Relationships>
</file>

<file path=ppt/notesSlides/_rels/notesSlide9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3.xml"/></Relationships>
</file>

<file path=ppt/notesSlides/_rels/notesSlide9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5.xml"/></Relationships>
</file>

<file path=ppt/notesSlides/_rels/notesSlide9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6.xml"/></Relationships>
</file>

<file path=ppt/notesSlides/_rels/notesSlide9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7.xml"/></Relationships>
</file>

<file path=ppt/notesSlides/_rels/notesSlide9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8.xml"/></Relationships>
</file>

<file path=ppt/notesSlides/_rels/notesSlide9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9.xml"/></Relationships>
</file>

<file path=ppt/notesSlides/_rels/notesSlide9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0.xml"/></Relationships>
</file>

<file path=ppt/notesSlides/_rels/notesSlide9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1.xml"/></Relationships>
</file>

<file path=ppt/notesSlides/_rels/notesSlide9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3.xml"/></Relationships>
</file>

<file path=ppt/notesSlides/_rels/notesSlide9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4.xml"/></Relationships>
</file>

<file path=ppt/notesSlides/_rels/notesSlide9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5.xml"/></Relationships>
</file>

<file path=ppt/notesSlides/_rels/notesSlide9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7.xml"/></Relationships>
</file>

<file path=ppt/notesSlides/_rels/notesSlide9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8.xml"/></Relationships>
</file>

<file path=ppt/notesSlides/_rels/notesSlide9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0.xml"/></Relationships>
</file>

<file path=ppt/notesSlides/_rels/notesSlide9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1.xml"/></Relationships>
</file>

<file path=ppt/notesSlides/_rels/notesSlide9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3.xml"/></Relationships>
</file>

<file path=ppt/notesSlides/_rels/notesSlide9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1.xml"/></Relationships>
</file>

<file path=ppt/notesSlides/_rels/notesSlide9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2.xml"/></Relationships>
</file>

<file path=ppt/notesSlides/_rels/notesSlide9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3.xml"/></Relationships>
</file>

<file path=ppt/notesSlides/_rels/notesSlide9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5.xml"/></Relationships>
</file>

<file path=ppt/notesSlides/_rels/notesSlide9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6.xml"/></Relationships>
</file>

<file path=ppt/notesSlides/_rels/notesSlide9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7.xml"/></Relationships>
</file>

<file path=ppt/notesSlides/_rels/notesSlide9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8.xml"/></Relationships>
</file>

<file path=ppt/notesSlides/_rels/notesSlide9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9.xml"/></Relationships>
</file>

<file path=ppt/notesSlides/_rels/notesSlide9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1.xml"/></Relationships>
</file>

<file path=ppt/notesSlides/_rels/notesSlide9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2.xml"/></Relationships>
</file>

<file path=ppt/notesSlides/_rels/notesSlide9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4.xml"/></Relationships>
</file>

<file path=ppt/notesSlides/_rels/notesSlide9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5.xml"/></Relationships>
</file>

<file path=ppt/notesSlides/_rels/notesSlide9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6.xml"/></Relationships>
</file>

<file path=ppt/notesSlides/_rels/notesSlide9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7.xml"/></Relationships>
</file>

<file path=ppt/notesSlides/_rels/notesSlide9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8.xml"/></Relationships>
</file>

<file path=ppt/notesSlides/_rels/notesSlide9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9.xml"/></Relationships>
</file>

<file path=ppt/notesSlides/_rels/notesSlide9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0.xml"/></Relationships>
</file>

<file path=ppt/notesSlides/_rels/notesSlide9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2.xml"/></Relationships>
</file>

<file path=ppt/notesSlides/_rels/notesSlide9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3.xml"/></Relationships>
</file>

<file path=ppt/notesSlides/_rels/notesSlide9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4.xml"/></Relationships>
</file>

<file path=ppt/notesSlides/_rels/notesSlide9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6.xml"/></Relationships>
</file>

<file path=ppt/notesSlides/_rels/notesSlide9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7.xml"/></Relationships>
</file>

<file path=ppt/notesSlides/_rels/notesSlide9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8.xml"/></Relationships>
</file>

<file path=ppt/notesSlides/_rels/notesSlide9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0.xml"/></Relationships>
</file>

<file path=ppt/notesSlides/_rels/notesSlide9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8.xml"/></Relationships>
</file>

<file path=ppt/notesSlides/_rels/notesSlide9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0.xml"/></Relationships>
</file>

<file path=ppt/notesSlides/_rels/notesSlide9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1.xml"/></Relationships>
</file>

<file path=ppt/notesSlides/_rels/notesSlide9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2.xml"/></Relationships>
</file>

<file path=ppt/notesSlides/_rels/notesSlide9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3.xml"/></Relationships>
</file>

<file path=ppt/notesSlides/_rels/notesSlide9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4.xml"/></Relationships>
</file>

<file path=ppt/notesSlides/_rels/notesSlide9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5.xml"/></Relationships>
</file>

<file path=ppt/notesSlides/_rels/notesSlide9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7.xml"/></Relationships>
</file>

<file path=ppt/notesSlides/_rels/notesSlide9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8.xml"/></Relationships>
</file>

<file path=ppt/notesSlides/_rels/notesSlide9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1.xml"/></Relationships>
</file>

<file path=ppt/notesSlides/_rels/notesSlide9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2.xml"/></Relationships>
</file>

<file path=ppt/notesSlides/_rels/notesSlide9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3.xml"/></Relationships>
</file>

<file path=ppt/notesSlides/_rels/notesSlide9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4.xml"/></Relationships>
</file>

<file path=ppt/notesSlides/_rels/notesSlide9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5.xml"/></Relationships>
</file>

<file path=ppt/notesSlides/_rels/notesSlide9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6.xml"/></Relationships>
</file>

<file path=ppt/notesSlides/_rels/notesSlide9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7.xml"/></Relationships>
</file>

<file path=ppt/notesSlides/_rels/notesSlide9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9.xml"/></Relationships>
</file>

<file path=ppt/notesSlides/_rels/notesSlide9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0.xml"/></Relationships>
</file>

<file path=ppt/notesSlides/_rels/notesSlide9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2.xml"/></Relationships>
</file>

<file path=ppt/notesSlides/_rels/notesSlide9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3.xml"/></Relationships>
</file>

<file path=ppt/notesSlides/_rels/notesSlide9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5.xml"/></Relationships>
</file>

<file path=ppt/notesSlides/_rels/notesSlide9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6.xml"/></Relationships>
</file>

<file path=ppt/notesSlides/_rels/notesSlide9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7.xml"/></Relationships>
</file>

<file path=ppt/notesSlides/_rels/notesSlide9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5.xml"/></Relationships>
</file>

<file path=ppt/notesSlides/_rels/notesSlide9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6.xml"/></Relationships>
</file>

<file path=ppt/notesSlides/_rels/notesSlide9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7.xml"/></Relationships>
</file>

<file path=ppt/notesSlides/_rels/notesSlide9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8.xml"/></Relationships>
</file>

<file path=ppt/notesSlides/_rels/notesSlide9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9.xml"/></Relationships>
</file>

<file path=ppt/notesSlides/_rels/notesSlide9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1.xml"/></Relationships>
</file>

<file path=ppt/notesSlides/_rels/notesSlide9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2.xml"/></Relationships>
</file>

<file path=ppt/notesSlides/_rels/notesSlide9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3.xml"/></Relationships>
</file>

<file path=ppt/notesSlides/_rels/notesSlide9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4.xml"/></Relationships>
</file>

<file path=ppt/notesSlides/_rels/notesSlide9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5.xml"/></Relationships>
</file>

<file path=ppt/notesSlides/_rels/notesSlide9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6.xml"/></Relationships>
</file>

<file path=ppt/notesSlides/_rels/notesSlide9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8.xml"/></Relationships>
</file>

<file path=ppt/notesSlides/_rels/notesSlide9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9.xml"/></Relationships>
</file>

<file path=ppt/notesSlides/_rels/notesSlide9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0.xml"/></Relationships>
</file>

<file path=ppt/notesSlides/_rels/notesSlide9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2.xml"/></Relationships>
</file>

<file path=ppt/notesSlides/_rels/notesSlide9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3.xml"/></Relationships>
</file>

<file path=ppt/notesSlides/_rels/notesSlide9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4.xml"/></Relationships>
</file>

<file path=ppt/notesSlides/_rels/notesSlide9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5.xml"/></Relationships>
</file>

<file path=ppt/notesSlides/_rels/notesSlide10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6.xml"/></Relationships>
</file>

<file path=ppt/notesSlides/_rels/notesSlide10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7.xml"/></Relationships>
</file>

<file path=ppt/notesSlides/_rels/notesSlide10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9.xml"/></Relationships>
</file>

<file path=ppt/notesSlides/_rels/notesSlide10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1.xml"/></Relationships>
</file>

<file path=ppt/notesSlides/_rels/notesSlide10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2.xml"/></Relationships>
</file>

<file path=ppt/notesSlides/_rels/notesSlide10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3.xml"/></Relationships>
</file>

<file path=ppt/notesSlides/_rels/notesSlide10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4.xml"/></Relationships>
</file>

<file path=ppt/notesSlides/_rels/notesSlide10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1.xml"/></Relationships>
</file>

<file path=ppt/notesSlides/_rels/notesSlide10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3.xml"/></Relationships>
</file>

<file path=ppt/notesSlides/_rels/notesSlide10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4.xml"/></Relationships>
</file>

<file path=ppt/notesSlides/_rels/notesSlide10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6.xml"/></Relationships>
</file>

<file path=ppt/notesSlides/_rels/notesSlide10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7.xml"/></Relationships>
</file>

<file path=ppt/notesSlides/_rels/notesSlide10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8.xml"/></Relationships>
</file>

<file path=ppt/notesSlides/_rels/notesSlide10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0.xml"/></Relationships>
</file>

<file path=ppt/notesSlides/_rels/notesSlide10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1.xml"/></Relationships>
</file>

<file path=ppt/notesSlides/_rels/notesSlide10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2.xml"/></Relationships>
</file>

<file path=ppt/notesSlides/_rels/notesSlide10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4.xml"/></Relationships>
</file>

<file path=ppt/notesSlides/_rels/notesSlide10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5.xml"/></Relationships>
</file>

<file path=ppt/notesSlides/_rels/notesSlide10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6.xml"/></Relationships>
</file>

<file path=ppt/notesSlides/_rels/notesSlide10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8.xml"/></Relationships>
</file>

<file path=ppt/notesSlides/_rels/notesSlide10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9.xml"/></Relationships>
</file>

<file path=ppt/notesSlides/_rels/notesSlide10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1.xml"/></Relationships>
</file>

<file path=ppt/notesSlides/_rels/notesSlide10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2.xml"/></Relationships>
</file>

<file path=ppt/notesSlides/_rels/notesSlide10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4.xml"/></Relationships>
</file>

<file path=ppt/notesSlides/_rels/notesSlide10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5.xml"/></Relationships>
</file>

<file path=ppt/notesSlides/_rels/notesSlide10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6.xml"/></Relationships>
</file>

<file path=ppt/notesSlides/_rels/notesSlide10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7.xml"/></Relationships>
</file>

<file path=ppt/notesSlides/_rels/notesSlide10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8.xml"/></Relationships>
</file>

<file path=ppt/notesSlides/_rels/notesSlide10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9.xml"/></Relationships>
</file>

<file path=ppt/notesSlides/_rels/notesSlide10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7.xml"/></Relationships>
</file>

<file path=ppt/notesSlides/_rels/notesSlide10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9.xml"/></Relationships>
</file>

<file path=ppt/notesSlides/_rels/notesSlide10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0.xml"/></Relationships>
</file>

<file path=ppt/notesSlides/_rels/notesSlide10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1.xml"/></Relationships>
</file>

<file path=ppt/notesSlides/_rels/notesSlide10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3.xml"/></Relationships>
</file>

<file path=ppt/notesSlides/_rels/notesSlide10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4.xml"/></Relationships>
</file>

<file path=ppt/notesSlides/_rels/notesSlide10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5.xml"/></Relationships>
</file>

<file path=ppt/notesSlides/_rels/notesSlide10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6.xml"/></Relationships>
</file>

<file path=ppt/notesSlides/_rels/notesSlide10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8.xml"/></Relationships>
</file>

<file path=ppt/notesSlides/_rels/notesSlide10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9.xml"/></Relationships>
</file>

<file path=ppt/notesSlides/_rels/notesSlide10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0.xml"/></Relationships>
</file>

<file path=ppt/notesSlides/_rels/notesSlide10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2.xml"/></Relationships>
</file>

<file path=ppt/notesSlides/_rels/notesSlide10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3.xml"/></Relationships>
</file>

<file path=ppt/notesSlides/_rels/notesSlide10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5.xml"/></Relationships>
</file>

<file path=ppt/notesSlides/_rels/notesSlide10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6.xml"/></Relationships>
</file>

<file path=ppt/notesSlides/_rels/notesSlide10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8.xml"/></Relationships>
</file>

<file path=ppt/notesSlides/_rels/notesSlide10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9.xml"/></Relationships>
</file>

<file path=ppt/notesSlides/_rels/notesSlide10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0.xml"/></Relationships>
</file>

<file path=ppt/notesSlides/_rels/notesSlide10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1.xml"/></Relationships>
</file>

<file path=ppt/notesSlides/_rels/notesSlide10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3.xml"/></Relationships>
</file>

<file path=ppt/notesSlides/_rels/notesSlide10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4.xml"/></Relationships>
</file>

<file path=ppt/notesSlides/_rels/notesSlide10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6.xml"/></Relationships>
</file>

<file path=ppt/notesSlides/_rels/notesSlide10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7.xml"/></Relationships>
</file>

<file path=ppt/notesSlides/_rels/notesSlide10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5.xml"/></Relationships>
</file>

<file path=ppt/notesSlides/_rels/notesSlide10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6.xml"/></Relationships>
</file>

<file path=ppt/notesSlides/_rels/notesSlide10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7.xml"/></Relationships>
</file>

<file path=ppt/notesSlides/_rels/notesSlide10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8.xml"/></Relationships>
</file>

<file path=ppt/notesSlides/_rels/notesSlide10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9.xml"/></Relationships>
</file>

<file path=ppt/notesSlides/_rels/notesSlide10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1.xml"/></Relationships>
</file>

<file path=ppt/notesSlides/_rels/notesSlide10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2.xml"/></Relationships>
</file>

<file path=ppt/notesSlides/_rels/notesSlide10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3.xml"/></Relationships>
</file>

<file path=ppt/notesSlides/_rels/notesSlide10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4.xml"/></Relationships>
</file>

<file path=ppt/notesSlides/_rels/notesSlide10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5.xml"/></Relationships>
</file>

<file path=ppt/notesSlides/_rels/notesSlide10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7.xml"/></Relationships>
</file>

<file path=ppt/notesSlides/_rels/notesSlide10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8.xml"/></Relationships>
</file>

<file path=ppt/notesSlides/_rels/notesSlide10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9.xml"/></Relationships>
</file>

<file path=ppt/notesSlides/_rels/notesSlide10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0.xml"/></Relationships>
</file>

<file path=ppt/notesSlides/_rels/notesSlide10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2.xml"/></Relationships>
</file>

<file path=ppt/notesSlides/_rels/notesSlide10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3.xml"/></Relationships>
</file>

<file path=ppt/notesSlides/_rels/notesSlide10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4.xml"/></Relationships>
</file>

<file path=ppt/notesSlides/_rels/notesSlide10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5.xml"/></Relationships>
</file>

<file path=ppt/notesSlides/_rels/notesSlide10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6.xml"/></Relationships>
</file>

<file path=ppt/notesSlides/_rels/notesSlide10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7.xml"/></Relationships>
</file>

<file path=ppt/notesSlides/_rels/notesSlide10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9.xml"/></Relationships>
</file>

<file path=ppt/notesSlides/_rels/notesSlide10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0.xml"/></Relationships>
</file>

<file path=ppt/notesSlides/_rels/notesSlide10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제1장은 SQL 튜닝 과정 전체의 출발점으로, 개별 기법을 배우기 전에 성능을 무엇으로 판단할 것인지 기준을 세우는 장이다. 이 과정의 모든 실행계획과 소요 시간은 진료비청구심사 실습 DB에서 직접 캡처한 실측값이며, 강의 중에 학습자가 같은 SQL을 실행해 재현할 수 있다. 첫 시간에 강조할 메시지는 하나다. 튜닝은 문법을 화려하게 쓰는 기술이 아니라 같은 결과를 내는 여러 방법 중 자원을 덜 쓰는 쪽을 실측 근거로 고르는 작업이라는 점이다. 첫 시간에는 학습자가 알고 있는 튜닝 통념을 하나씩 말하게 해 칠판에 적어 두고, 마지막 요약에서 다시 꺼내 검증하면 몰입도가 크게 올라간다.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5274732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학습 목표는 세 묶음이다. 첫째는 정의로, 성능을 시간이 아니라 자원으로 바라보는 관점을 세우는 것이다. 둘째는 도구로, 실행계획에서 Buffers와 Used-Mem을 찾아 읽는 능력이다. 셋째는 태도로, 통념을 실측으로 검증하고 측정 조건까지 의심하는 습관이다. 이 장에는 개선 기법이 하나도 나오지 않는다는 점을 미리 알려 주는 편이 좋다. 판단 기준을 세우는 데까지가 이번 차시의 범위이고, 기법은 2장 이후에 순서대로 다룬다. 목표를 읽어 준 뒤 각 항목이 몇 번 절과 대응되는지 표시해 주면 학습자가 진행 중에 자기 위치를 잃지 않는다.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5449353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전체 흐름은 '기준 세우기 → 도구 익히기 → 실측으로 검증하기'다. 1.1~1.2에서 성능을 자원으로 정의하고, 1.3에서 그 자원을 실행계획의 어느 컬럼으로 확인하는지 익힌다. 1.4~1.5는 이 장의 몸통으로, 결과가 완전히 같은 세 SQL의 실행계획을 나란히 놓고 읽는다. 1.6은 통념 하나를 실측으로 무너뜨리는 사례 분석이다. 시간이 부족하면 1.3을 축약하고 1.5와 1.6에 시간을 몰아 주는 편이 학습 효과가 크다. 각 절 사이의 연결 고리를 한 문장씩 미리 말해 주면 절이 바뀔 때마다 맥락이 끊기는 느낌을 크게 줄일 수 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6158198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첫 절은 동기 부여 구간이다. 학습자 대부분은 '튜닝'을 힌트를 붙이고 인덱스를 만드는 기술로 알고 오는데, 그 앞에 판단 기준이 없으면 어떤 기법도 근거 없이 적용하게 된다. 이 절에서는 기법을 하나도 알려 주지 않고, 대신 무엇을 보고 좋고 나쁨을 가릴 것인지만 합의한다. 그 합의가 서 있어야 이후 챕터의 기법들이 '언제 쓰는가'라는 질문과 연결된다는 점을 짚어 준다. 이 절은 슬라이드가 세 장뿐이지만 토론을 유도하기 좋은 구간이므로, 학습자에게 지금까지 성능을 무엇으로 판단해 왔는지 먼저 묻고 시작하면 이후 정의가 훨씬 잘 받아들여진다.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1384505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여기서 '자원을 덜 쓰는 방법을 고른다'는 정의를 반복해서 각인시킨다. 학습자가 흔히 오해하는 지점은 튜닝을 SQL 다시 쓰기와 동일시하는 것이다. 실제 현장에서는 SQL을 한 글자도 고치지 않고 통계정보를 갱신하거나 인덱스를 하나 추가해 끝나는 경우도 많다. 또 하나 강조할 것은 '같은 결과'라는 전제다. DISTINCT를 슬쩍 빼서 빨라졌다면 그것은 튜닝이 아니라 다른 쿼리를 만든 것이며, 이 구분이 흐려지면 검증 자체가 성립하지 않는다. 정의를 칠판에 적어 두고 이 장이 끝날 때까지 지우지 않는 것도 좋은 방법이다. 실습 채점 기준도 결국 이 정의로 수렴한다.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9712117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통념을 무조건 틀렸다고 말하지는 않는 편이 좋다. 대부분의 통념은 특정 버전과 특정 상황에서 실제로 관측된 사실에서 출발했고, 전파되는 과정에서 조건이 떨어져 나가 '항상'이라는 말만 남은 것이다. 강사가 짚어야 할 것은 통념의 진위가 아니라 조건이 사라졌다는 사실 자체다. 이번 장 1.6절에서 검증할 IN과 EXISTS 사례가 정확히 그런 경우이며, 학습자가 스스로 검증하는 절차를 체득하게 하는 것이 목적이다. 수업 중 학습자들이 알고 있는 통념을 서너 개 더 받아 적어 두면, 이후 챕터에서 해당 통념을 다룰 때 자연스럽게 다시 꺼내 쓸 수 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943606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범위를 명확히 선언하는 것이 이 슬라이드의 목적이다. 학습자는 첫 시간부터 개선 기법을 기대하기 때문에, 이번 장이 기준을 세우는 장이라는 점을 분명히 해 두지 않으면 '별 내용이 없다'는 인상을 받는다. DDL 변경이 없다는 점도 실습 안내와 직결된다. 인덱스를 추가하거나 통계를 바꾸면 뒤에 나오는 실행계획이 재현되지 않으므로, 이번 실습에서는 스키마를 건드리지 말라고 미리 못을 박아 두는 편이 안전하다. 실습 환경을 각자 만들어 온 경우에는 데이터 건수와 통계 수집 여부가 교안과 같은지 먼저 확인하게 해야 뒤의 실행계획이 재현된다.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6783050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두 번째 절은 이 과정 전체의 용어를 정의하는 구간이다. 여기서 '성능'이라는 단어의 뜻을 자원 소비량으로 못 박아 두면, 이후 모든 챕터에서 비교 기준이 흔들리지 않는다. 반대로 이 정의를 건너뛰면 학습자는 계속 초 단위 시간으로만 판단하려 들고, 캐시 상태나 서버 부하 같은 외부 요인에 휘둘리는 결론을 낸다. 정의 → 지표 → 원인 분류 순서로 차근차근 쌓아 올린다. 이 절의 정의는 이후 열세 개 챕터에서 계속 인용되므로, 시간이 부족하더라도 자원 소비량이라는 표현만큼은 반드시 말로 반복해 각인시키고 넘어가는 것이 좋다. 판서로 남겨 두면 더 좋다.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2185893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슬라이드가 이 장 전체에서 가장 중요한 한 장이다. 자원과 시간의 관계를 도로에 비유하면 이해가 빠르다. 차 한 대가 차선 세 개를 쓰며 달리면 혼자일 때는 가장 빠르지만, 차가 많아지는 순간 도로 전체가 막힌다. SQL도 마찬가지로 혼자 실행할 때의 소요 시간은 동시 사용자가 늘었을 때의 성능을 예측해 주지 못한다. 그래서 부하 상황을 예측하려면 그 SQL이 한 번 실행될 때 점유하는 자원의 양을 봐야 한다. 동시 사용자라는 말이 추상적으로 들린다면 같은 API가 초당 수백 번 호출되는 상황을 예로 들어 주면 이해가 훨씬 빨라진다.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0901505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학습자가 가장 많이 하는 실수가 여기 있다. 쿼리를 고친 뒤 다시 실행해 시간이 줄면 개선했다고 결론 내리는 것이다. 그런데 두 번째 실행은 첫 실행이 캐시에 올려놓은 블록을 그대로 쓰기 때문에 아무것도 고치지 않아도 빨라진다. 그래서 개선 여부는 Buffers가 실제로 줄었는지로 확인해야 한다고 못을 박는다. 이 원칙은 1.6절 사례에서 그대로 반복되므로, 여기서 미리 말해 두면 뒤에서 학습자가 스스로 원인을 맞힐 수 있다. 실습 중 학습자가 개선했다고 말하면 반드시 Buffers 값을 함께 물어보는 습관을 들이게 한다. 그 질문 하나로 캐시 효과와 실제 개선이 갈린다.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9799096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원인을 네 갈래로 나눠 두면 진단이 훨씬 빨라진다. 현장에서 '느리다'는 신고가 들어왔을 때 가장 먼저 할 일은 어느 갈래인지 가르는 것이다. 접근 경로 문제인지, 인덱스가 없는 문제인지, 추정이 틀린 문제인지에 따라 손댈 곳이 완전히 다르다. 특히 네 번째 락 경합은 SQL을 아무리 고쳐도 나아지지 않는 부류라서, 범위 밖임을 분명히 하되 이런 갈래가 존재한다는 사실은 알려 줘야 엉뚱한 곳을 파는 일을 막을 수 있다. 네 갈래를 칠판 왼쪽에 세로로 적어 두고 이후 챕터를 진행하며 해당 갈래에 표시해 나가면 과정 전체의 지도가 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2908053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슬라이드는 실습문제 7번, 9번과 직접 연결된다. 백엔드 개발자가 '결과만 같으면 아무거나'라고 판단하는 상황은 실제로 매우 흔하고, 트래픽이 적은 개발 단계에서는 아무 문제가 드러나지 않는다는 점이 함정이다. 문제는 항상 트래픽이 올라간 뒤에 터진다. 그래서 코드 리뷰 시점에 실행계획을 함께 보는 절차를 만들어 두는 것이 조직 차원의 예방책이라는 이야기까지 덧붙이면 실무 감각이 살아난다. 조직에 코드 리뷰 절차가 있다면 실행계획 첨부를 항목으로 넣는 것만으로도 상당수의 성능 사고를 사전에 막을 수 있다는 실무 이야기를 곁들이면 설득력이 커진다.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7500406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세 번째 절은 앞 절에서 정의한 '자원'을 실제로 어디서 확인하는지 알려 주는 구간이다. 개념만 알고 실행계획에서 찾지 못하면 소용이 없으므로, 각 관점마다 어느 컬럼을 보면 되는지를 반드시 대응시켜 준다. CPU는 오퍼레이션 구성으로, I/O는 Buffers로, Memory는 OMem·1Mem·Used-Mem으로 본다는 세 쌍을 학습자가 외우고 나가도록 하는 것이 이 절의 목표다. 세 관점과 세 컬럼을 짝지어 판서해 두고, 이후 실행계획 슬라이드마다 해당 위치를 손으로 짚어 주면 학습자가 표를 읽는 속도가 눈에 띄게 빨라진다. 반복이 유일한 방법이다.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9961196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CPU는 실행계획에 전용 컬럼이 없어서 학습자가 가장 막연해하는 관점이다. 그래서 오퍼레이션 이름과 그 단계를 통과한 행 수로 간접 추정한다고 설명하는 편이 낫다. 정렬과 해시는 대표적인 CPU 소비 연산이고, 뒤에서 볼 세 실행계획에도 HASH JOIN과 HASH GROUP BY가 등장한다. 이 이름들이 보이면 CPU와 메모리를 함께 의심하라고 미리 연결해 두면 1.5절 실행계획을 읽을 때 학습자가 스스로 짚어 낸다. CPU 사용량을 직접 보고 싶다는 질문이 나오면 V$SQL의 통계 컬럼으로 확인할 수 있다고만 안내하고 상세한 내용은 이후 챕터로 미룬다.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2751030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Buffers는 이 과정에서 가장 자주 등장할 지표이므로 여기서 확실히 정의한다. 논리적 I/O는 블록을 만진 횟수이고, 그 블록이 메모리에 있었으면 빠르게, 없었으면 디스크에서 읽어 오느라 느리게 처리된다. 학습자가 흔히 헷갈리는 것은 Buffers를 '디스크에서 읽은 양'으로 오해하는 것이다. Buffers는 캐시 히트까지 포함한 값이며, 그래서 캐시 상태에 덜 흔들리는 안정적 지표가 된다는 점을 분명히 짚어 준다. 블록이라는 단위가 생소하면 데이터베이스가 파일을 읽어 들이는 최소 단위라고만 짚어 주고 상세한 저장 구조는 이후 챕터로 미룬다.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0949203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메모리는 Buffers에 가려 학습자가 잘 안 보는 자원이지만, 동시 사용자가 많은 환경에서는 오히려 더 치명적일 수 있다. 한 세션이 큰 작업 영역을 쓰면 서버 전체 PGA를 압박하기 때문이다. 여기서 OMem은 추정, Used-Mem은 실제라는 대응을 확실히 해 두면 1.8절 표를 읽을 때 혼동이 없다. 또 작업 영역이 모자라면 TEMP로 넘쳐 디스크를 쓰게 된다는 점을 언급해 두면 메모리와 I/O가 서로 연결된 자원임을 이해시킬 수 있다. 작업 영역이라는 표현이 어렵게 들린다면 정렬이나 해시를 하려고 잠시 빌려 쓰는 메모리라고 풀어 주면 충분하다.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6484803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체크리스트는 앞으로 모든 챕터에서 반복해 쓸 도구다. 네 항목의 순서에도 의미가 있다. 먼저 자원 총량을 보고, 그다음 그 자원이 어느 단계에서 쓰였는지 오퍼레이션을 보고, 마지막으로 추정과 실제의 차이를 확인해 옵티마이저가 왜 그 계획을 골랐는지를 역추적하는 흐름이다. 네 번째 항목은 특히 뒤 챕터의 통계정보·히스토그램 이야기로 이어지므로, 지금은 확인 습관만 심어 두고 원인 분석은 다음으로 미룬다고 안내한다. 네 항목을 인쇄물로 나눠 주고 실습 때마다 채워 넣게 하면 체크리스트가 실제로 쓰이는 도구가 된다. 습관이 되기 전까지는 강제하는 편이 낫다.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5386761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네 번째 절부터가 이 장의 몸통이다. 세 SQL은 결과가 완전히 같도록 설계되어 있고, 그 전제 위에서만 자원 비교가 의미를 갖는다. 강의에서는 SQL 세 개를 먼저 다 보여 준 다음 실행계획으로 넘어가는 순서를 권한다. 학습자가 SQL만 보고 '어느 것이 빠를 것 같은가'를 먼저 예측하게 한 뒤 실측 결과를 보여 주면, 자기 예측이 빗나가는 경험이 이 장의 메시지를 가장 강하게 각인시킨다. 예측을 먼저 시키고 실측을 보여 주는 순서는 이 과정 전체에서 반복해 쓸 수 있는 수업 기법이므로, 다음 챕터에서도 같은 방식으로 진행하겠다고 미리 알려 두면 학습자가 준비하고 듣는다.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2921933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소재 선택에도 이유가 있다. 대상이 전체의 약 26%라는 점이 중요한데, 이렇게 넓은 범위를 걸러 내는 조건은 인덱스로 한 건씩 찾는 것보다 통째로 읽고 걸러 내는 편이 유리한 구간이다. 그래서 뒤에 나올 실행계획에 TABLE ACCESS FULL과 HASH JOIN이 등장하는 것이 이상한 일이 아니라는 점을 미리 예고해 두면 좋다. 또 세 버전의 결과 건수가 완전히 같다는 사실을 먼저 확인시켜야 이후 비교가 공정하다는 합의가 선다. 카테고리 값이 무엇인지 궁금해하는 학습자가 있으면 실습 DB에서 직접 조회해 확인하도록 안내한다. 교안에 없는 값을 강사가 임의로 말하지 않는 편이 좋다.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9577100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방식은 세 버전 중 가장 직관적이다. 서브쿼리가 만든 목록에 값이 들어 있는지만 보면 되기 때문이다. 여기서 반드시 짚어야 할 성질이 하나 있다. 한 청구가 주사제를 여러 건 처방받았다면 서브쿼리 결과에 같은 claim_id가 여러 번 등장하는데, IN의 의미론은 존재 여부만 보므로 결과 건수는 늘어나지 않는다. 이 성질이 실행계획에서 세미조인이라는 형태로 나타나며, 실습문제 1번이 정확히 이 지점을 묻는다. SQL을 보여 준 직후 어느 방식이 가장 빠를 것 같은지 손을 들어 보게 하고 그 결과를 기록해 두면 뒤에서 실측과 대조하기 좋다.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7781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EXISTS는 상관 서브쿼리라는 점이 IN과의 문법적 차이다. 서브쿼리 안에서 바깥 쿼리의 mc.claim_id를 참조하기 때문에, 문법만 보면 바깥 행마다 서브쿼리를 한 번씩 도는 것처럼 읽힌다. 실제로 많은 학습자가 그렇게 실행된다고 믿고 EXISTS가 느릴 것이라 예상하거나, 반대로 조기 종료 덕에 빠를 것이라 예상한다. 뒤에서 볼 실행계획은 두 예상 모두와 다르며, SELECT 목록에 1을 쓰든 다른 값을 쓰든 결과가 같다는 점도 함께 확인시킨다. 상관 서브쿼리라는 용어는 여기서 처음 나오므로 정의를 한 번 정확히 말해 주고 넘어가는 것이 좋다.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6091698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 버전은 서브쿼리를 없앤 대신 중복 제거 책임을 DISTINCT가 진다. 여기서 DISTINCT를 빼면 결과 건수가 달라지므로 '같은 결과'라는 전제가 깨진다는 점을 반드시 확인시킨다. 그리고 마지막 주석에 밑줄을 그어 두자. 이 SQL이 mc에서 실제로 필요로 하는 값은 claim_id 하나뿐이고, 그 값은 조인 조건상 cd.claim_id와 항상 같다. 이 관찰이 뒤에 나올 실행계획의 가장 놀라운 지점을 설명하는 열쇠가 되므로 미리 심어 둔다. DISTINCT를 빼고 실행해 결과 건수가 달라지는 것을 직접 보여 주면 전제가 깨진다는 말이 훨씬 구체적으로 다가온다.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7823749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실행계획 슬라이드는 한 장씩 천천히 넘긴다. 처음 보는 학습자에게 이 표는 숫자 덩어리로만 보이므로, 읽는 순서를 먼저 알려 준 뒤 값을 해석하게 해야 한다. 세 계획은 모두 DBMS_XPLAN.DISPLAY_CURSOR에 ALLSTATS LAST를 주어 실제 실행 통계까지 함께 뽑은 결과다. 추정만 담긴 EXPLAIN PLAN과 달리 A-Rows·A-Time·Buffers 같은 실측 컬럼이 있는 것이 이 방식의 핵심이라는 점을 짚어 준다. 실행계획을 뽑는 방법 자체가 궁금하다는 질문이 나오면 명령 이름만 소개하고 상세한 사용법은 다음 챕터에서 다룬다고 안내한다.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3048716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실행계획은 들여쓰기가 깊은 안쪽부터 읽는다. 먼저 5번과 6번에서 DRUG_MASTER와 CLAIM_DETAILS를 전부 읽어 4번 해시 조인으로 묶고, 그 결과를 3번 뷰로 감싼 뒤 7번의 인덱스 스캔 결과와 2번에서 세미조인으로 결합한다. 마지막에 1번 집계가 한 건을 만든다. 여기서 학습자에게 물어볼 지점은 7번 단계의 A-Time이다. 다른 단계는 모두 백분의 몇 초인데 이 단계만 유독 오래 걸렸다는 사실을 스스로 발견하게 한다. 처음 보는 학습자에게는 표 전체를 한꺼번에 설명하지 말고 Operation 열만 먼저 읽히는 편이 훨씬 부담이 적다.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98456831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여기서 반드시 확인시킬 것은 A-Time과 Buffers가 그 단계까지의 누적값이라는 점이다. 이걸 모르면 0번 행의 8604를 마지막 단계 혼자 쓴 양으로 오해한다. 그리고 HASH JOIN RIGHT SEMI의 SEMI가 IN의 존재 여부 판정과 정확히 대응한다는 점, 즉 옵티마이저가 문법을 조인 형태로 바꿔 놓았다는 사실을 짚는다. 5번의 추정 오차는 통계정보 이야기의 예고편이며, 실습문제 1번과 6번이 이 두 지점을 각각 묻는다. 누적값이라는 성질 때문에 상위 단계의 값에서 하위 단계 값을 빼면 그 단계가 추가로 쓴 양을 가늠할 수 있다는 점도 함께 알려 준다.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98981990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두 계획을 화면에 나란히 놓고 비교하는 것이 가장 효과적이다. Operation 열을 위에서 아래로 훑으면 여덟 줄이 글자 하나 다르지 않고, E-Rows와 A-Rows도 전부 같으며, Buffers 역시 단계마다 동일하다. 다른 것은 3번 행의 뷰 이름 하나뿐이다. 학습자가 EXISTS는 한 건씩 도는 방식이라고 배워 왔다면 이 결과가 상당히 충격적일 것이다. 그 반응을 그대로 다음 슬라이드의 질문으로 이어 간다. 두 계획을 종이에 인쇄해 나눠 주고 다른 곳을 찾아보게 하는 방식이 화면으로 비교하는 것보다 훨씬 효과적이다. 직접 찾아낸 사실은 오래 남는다.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09453080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슬라이드에서 학습자에게 직접 추론하게 하는 것이 좋다. 계획이 같고 논리적 I/O도 같은데 시간만 다르다면, 차이의 원인은 SQL이나 실행계획 안에 있을 수 없다. 남은 후보는 측정 환경뿐이다. 여기까지 유도한 뒤 다음 슬라이드로 넘어가면 답이 자연스럽게 이어진다. 실습문제 2번과 3번이 각각 이 구조 동일성과 시간 차이의 원인을 묻는 문항이므로, 여기서 충분히 시간을 들여 토론하는 것이 좋다. 여기서 성급하게 답을 말해 버리면 다음 슬라이드의 추론 과정이 통째로 무의미해지므로, 학습자가 스스로 후보를 좁힐 때까지 기다리는 인내가 필요하다.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39901571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계획은 앞의 두 개보다 줄 수가 적다. 없어진 것이 무엇인지 학습자에게 찾게 하면 금방 답이 나온다. PK_MEDICAL_CLAIMS를 읽던 단계가 통째로 사라졌고, 그 자리에 중복 제거를 담당하는 HASH GROUP BY가 들어와 있다. COUNT(DISTINCT ...)가 그룹핑 연산으로 처리된 것이다. 그리고 Buffers 총량이 A·B보다 작아졌다는 점, 그 차이가 사라진 단계의 값과 정확히 맞아떨어진다는 점을 이어서 확인시킨다. 줄 수가 줄었다는 것 자체가 처리 단계가 줄었다는 뜻이라는 점을 짚어 주면 실행계획을 보는 눈이 한 단계 올라간다.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02816813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여기서 결론까지 다 말해 버리지 않는 편이 좋다. 이번 장의 목표는 이런 일이 실제로 일어난다는 사실을 관찰하는 데까지다. 다만 힌트는 줄 수 있다. 이 SQL이 mc에서 필요로 하는 값은 claim_id 하나뿐이고, 조인 조건상 그 값은 cd.claim_id와 항상 같으며, 두 컬럼 사이에 참조 무결성이 보장되어 있다면 굳이 원본 테이블까지 갈 이유가 없다. 실습문제 4번과 5번이 이 추론을 단계적으로 요구하므로 여기서 생각할 재료만 충분히 남겨 둔다. 이 대목에서 나오는 질문 대부분은 Chapter 7의 내용이므로 질문 목록으로 적어 두었다가 그때 다시 꺼내는 편이 좋다.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14379590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여섯 번째 절은 이 장의 하이라이트다. 널리 퍼진 통념 하나를 실측으로 검증해 무너뜨리는 과정을 그대로 따라간다. 중요한 것은 결론 자체가 아니라 절차다. 관측된 사실을 먼저 정리하고, 사실만으로 설명되는 가설을 세우고, 그 가설을 뒷받침하는 추가 증거를 찾는 순서를 학습자가 몸에 익히도록 진행한다. 이 절차는 이후 모든 챕터의 사례 분석에서 반복해서 쓰인다. 이 절은 결론이 반직관적이라 학습자의 집중도가 가장 높은 구간이므로, 슬라이드를 빨리 넘기지 말고 사실 정리와 가설 검증 사이에서 충분히 토론 시간을 준다. 실습문제 2번과 3번이 여기서 나온다.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0327856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추론을 시작하기 전에 사실과 해석을 분리해 적어 두는 훈련이 중요하다. 이 슬라이드에는 해석이 한 줄도 없고 계획에서 그대로 읽을 수 있는 값만 있다. 네 번째 사실이 결정적인데, 시간 차이가 여덟 단계에 고르게 퍼져 있지 않고 한 단계에만 몰려 있다는 점이다. 만약 EXISTS와 IN의 구조적 차이 때문이라면 차이가 특정 한 단계에만 집중될 이유가 없다. 이 관찰을 학습자가 스스로 하도록 유도한다. 사실과 해석을 분리해 적는 훈련은 장애 분석 보고서를 쓸 때도 그대로 쓰이는 기술이므로, 실무에서 어떻게 활용되는지 한마디 덧붙여 주면 동기 부여가 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36975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가설을 세울 때 지켜야 할 원칙을 함께 가르친다. 좋은 가설은 관측된 사실을 빠짐없이 설명하면서 새로운 예측도 내놓는다. 캐시 가설은 세 가지를 한꺼번에 설명한다. 계획이 같은 이유, Buffers가 같은 이유, 그리고 시간 차이가 한 단계에만 몰린 이유다. 반대로 EXISTS가 구조적으로 빠르다는 가설은 첫 번째 사실과 정면으로 충돌한다. 두 가설을 나란히 놓고 어느 쪽이 사실과 충돌하지 않는지 학습자에게 판정하게 하면 좋다. 가설이 관측을 얼마나 잘 설명하는가로 가설을 평가한다는 원칙은 이후 모든 사례 분석에서 반복되므로 여기서 확실히 심어 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07745620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결론을 'EXISTS와 IN은 항상 같다'로 확대 해석하지 않도록 주의시켜야 한다. 이번 실측에서 두 문장이 같은 형태로 변환됐을 뿐이며, 변환이 일어나지 못하는 상황에서는 결과가 달라질 수 있다. 즉 이 장이 가르치는 것은 새로운 통념이 아니라 검증 절차다. 마지막 체크리스트는 앞으로 학습자가 직접 벤치마크할 때 그대로 쓰는 도구이고, 실습문제 3번이 이 추론 과정을 처음부터 끝까지 재현하도록 요구한다. 벤치마크 체크리스트는 실습 시간에 실제로 적용해 보게 하는 것이 가장 좋다. 같은 SQL을 순서를 바꿔 두 번 실행해 보면 순서 효과를 직접 체감할 수 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8638949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마지막 절은 세 버전을 한 표로 모아 놓고 지금까지의 관찰을 정리하는 구간이다. 여기서 학습자가 가져가야 할 메시지는 어느 버전이 우승했는가가 아니라, 자원 항목마다 순위가 다를 수 있다는 사실이다. 그 인식이 있어야 다음 챕터부터 나오는 기법들을 '무엇을 아끼는 기법인가'라는 질문과 함께 배우게 된다. 이후 로드맵 예고로 이 장을 닫는다. 마지막 절은 정리 구간이지만 새로운 개념이 하나 등장한다. 자원 항목마다 순위가 다를 수 있다는 사실이다. 이 인식이 없으면 학습자는 이후 챕터에서 배우는 기법을 무조건 좋은 것으로 오해하고 상황을 따지지 않은 채 적용하게 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6375683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표를 읽는 순서를 정해 준다. 먼저 Buffers 열만 세로로 훑어 C가 가장 적고 A와 B가 같다는 점을 확인한다. 다음으로 A-Time 열을 보되, 여기에는 캐시 상태가 섞여 있으므로 순위를 그대로 믿지 말라고 다시 못을 박는다. 마지막으로 Memory 열을 보면 순위가 뒤집힌다. Buffers에서 가장 적었던 C가 Memory에서는 가장 크다. 이 뒤집힘이 다음 슬라이드의 주제이며, 실습문제 8번이 정확히 이 대목을 묻는다. 표의 A-Time 열을 두고 어느 것이 가장 빠르냐고 물으면 대부분 B나 C를 고르는데, 그 답이 왜 성급한지 되짚어 주는 것이 이 슬라이드의 목적이다.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06902250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슬라이드는 이 장에서 두 번째로 중요한 장이다. 학습자는 지표 하나를 정해 그것만 최소화하려는 경향이 강한데, 실제 시스템에서는 어느 자원이 병목인지에 따라 정답이 바뀐다. I/O가 병목인 시스템에서는 C가 유리하고, PGA가 빠듯한 시스템에서는 A나 B가 나을 수 있다. 그래서 튜닝의 결론은 언제나 '이 환경에서는'이라는 단서를 달아야 한다. 실습문제 10번이 정답을 하나로 고정하지 않고 근거의 타당성으로 평가하는 이유가 여기에 있다. 병목이 어디냐에 따라 정답이 바뀐다는 말은 추상적이므로, 학습자가 담당하는 시스템에서 무엇이 부족한지 떠올려 보게 하면 훨씬 구체화된다.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60204367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로드맵을 보여 주는 이유는 이번 장에서 답하지 않고 남겨 둔 질문들이 방치된 것이 아니라 예약된 것임을 분명히 하기 위해서다. 특히 조인 제거는 학습자들이 가장 궁금해하는 대목이므로 어느 챕터에서 다루는지 정확히 알려 준다. 그리고 마지막 줄을 다시 강조한다. 기법을 먼저 배우면 모든 상황에 같은 기법을 적용하려 들지만, 기준을 먼저 세우면 상황마다 필요한 기법을 골라 쓸 수 있다는 점이 이 과정의 설계 의도다. 남겨 둔 질문을 슬라이드에 명시적으로 적어 두는 것은 학습자가 스스로 답을 찾아보게 만드는 장치이기도 하므로, 궁금한 사람은 미리 찾아봐도 좋다고 권한다.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1987030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요약 슬라이드는 이 장의 핵심을 여덟 줄로 압축한 것이다. 학습자에게 이 화면을 남겨 두고 실습 중 참고하도록 권한다. 특히 네 번째와 여덟 번째 줄은 앞으로 모든 챕터에서 반복해서 쓰이는 원칙이므로 반드시 기억하게 한다. 각 항목이 어느 절에서 나왔는지 짚어 주면 복습할 때 교안 본문을 찾기 쉬워진다. 다음 장부터는 이 기준 위에서 구체적인 진단 도구와 개선 기법을 하나씩 쌓아 올린다는 예고로 마무리한다. 요약을 읽고 끝내지 말고 각 줄에 대해 근거가 되는 실측값을 하나씩 말해 보게 하면 그 자리에서 복습이 된다. 말로 설명하지 못하는 줄이 곧 다시 봐야 할 부분이다.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88404712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실습은 SQL을 새로 짜는 문제가 아니라 실행계획을 읽고 근거를 대는 서술형 위주다. 그래서 답을 맞혔는지보다 어떤 값을 근거로 삼았는지를 채점 기준으로 삼아야 한다고 안내한다. 특히 마지막 10번은 정답이 하나가 아니며 근거의 타당성으로 평가한다. 실습 전에 스키마를 건드리지 말라는 안내도 다시 한번 강조한다. 인덱스를 추가하거나 통계를 다시 수집하면 교안의 실행계획이 재현되지 않아 문제 자체가 성립하지 않기 때문이다. 채점 후에는 3번과 5번 문항의 모범 답안을 함께 읽으며 추론 과정을 복기하는 시간을 따로 잡는 것을 권한다. 이 두 문항이 이 장의 핵심을 압축하고 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31084680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제2장은 앞 장에서 세운 판단 기준 위에 SQL이 실제로 어떻게 처리되는지를 얹는 장이다. 실행계획 읽기만 반복하면 개별 문장은 설명할 수 있어도 서버 전체가 파싱으로 느려지는 상황은 진단하지 못한다. 이 장이 그 빈 자리를 채운다. 첫 시간에 던질 질문은 하나면 충분하다. 같은 SQL을 두 번 실행하면 오라클은 두 번 다 고민할까, 아니면 한 번만 고민하고 두 번째는 기억을 꺼내 쓸까. 학습자가 스스로 답을 만들어 보게 한 뒤 본문으로 들어가면 네 단계 설명이 훨씬 잘 붙는다. 강의 첫머리에서 이 장이 실행계획 읽기가 아니라 그 계획이 생기는 과정을 다룬다는 점을 분명히 해 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11086541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학습 목표는 세 묶음으로 읽어 주면 좋다. 앞의 셋은 처리 단계를 언어로 설명하는 능력, 가운데 넷은 공유 풀에서 SQL이 식별되고 재사용되는 원리, 마지막 셋은 관찰한 값을 해석하는 능력이다. 특히 마지막 항목을 미리 예고해 두는 것이 중요하다. 이 장은 바인드 변수를 권장하는 장처럼 보이지만 마지막에 그 권장을 스스로 흔들어 본다. 그 반전이 있어야 학습자가 기법을 규칙이 아니라 판단으로 받아들인다. 각 목표가 어느 절과 대응되는지 짚어 주면 진행 중 위치를 잃지 않는다. 목표를 모두 읽은 뒤 어느 항목이 가장 낯선지 물어보면, 그 반응이 이후 진행 속도를 정하는 기준이 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55486115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전체 흐름은 단계 이해에서 출발해 식별 원리를 배우고 실측으로 확인하는 순서다. 앞의 두 절이 개념이고, 가운데 두 절이 소재 소개와 실행계획 관찰, 뒤의 두 절이 공유 풀 통계 관찰과 종합이다. 시간이 부족하면 개념 절을 압축하고 실행계획과 통계 관찰에 시간을 몰아 주는 편이 낫다. 이 장은 소재가 하나뿐이라 흐름이 단순해 보이지만, 같은 소재를 파싱 관점과 추정 관점 두 각도로 나눠 보는 구조라는 점을 미리 알려 주면 중간에 맥락을 놓치지 않는다. 절 사이의 연결 고리를 한 문장씩 미리 말해 주면 절이 바뀔 때마다 맥락이 끊기는 느낌을 크게 줄일 수 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31286279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첫 절은 동기 부여 구간이다. 학습자 대부분은 앞 장에서 실행계획 읽는 법을 배우고 나면 이제 진단 도구를 다 갖췄다고 느낀다. 그 자신감을 한 번 흔들어 주는 것이 이 절의 역할이다. 실행계획은 이미 만들어진 결과물이고, 그 결과물이 언제 만들어지고 언제 다시 만들어지는지는 실행계획 안에 적혀 있지 않다. 이 절에서는 기법을 하나도 알려 주지 않고, 우리가 아직 무엇을 모르고 있는지만 서로 합의하고 넘어간다. 학습자에게 지금까지 성능 문제를 무엇으로 진단해 왔는지 먼저 물어보고 시작하면 이 절의 문제 제기가 훨씬 잘 전달된다. 답이 대개 실행계획 하나로 모이는 순간이 이 장의 출발점이다.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58331405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여기서 강사가 짚어야 할 것은 관점의 전환이다. 앞 장까지는 실행계획을 하나의 사진처럼 놓고 읽었다면, 이번 장은 그 사진이 언제 어떻게 찍혔는지를 본다. 실무에서 자주 나오는 사고가 정확히 이 지점에 있다. 개별 SQL은 어느 것도 느리지 않은데 특정 시간대에 데이터베이스 전체가 느려지는 경우다. 이런 상황은 실행계획을 아무리 들여다봐도 원인이 보이지 않고, 파싱이라는 단어를 알고 있어야 비로소 의심할 수 있게 된다. 토론을 유도하기 좋은 구간이므로 답을 서둘러 주지 말고, 학습자들이 겪은 사례를 두세 개 받아 적어 두었다가 뒤에서 다시 꺼내 쓰는 방식을 권한다.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97312568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범위를 분명히 해 두면 학습자가 조급해지지 않는다. 이 장에서는 히스토그램이라는 단어가 등장하지만 그 내부 구조는 다루지 않는다. 여기서 필요한 것은 그런 통계가 존재한다는 사실과, 그것이 파싱 시점에 쓰인다는 연결뿐이다. 소재가 하나의 단순한 카운트 조회라는 점도 미리 말해 두는 편이 좋다. 문장이 단순할수록 파싱이라는 변수 하나만 남기고 관찰할 수 있기 때문에 일부러 이렇게 고른 소재라는 설명을 덧붙인다. 범위를 벗어나는 질문이 나오면 어느 챕터에서 다루는지만 짚어 주고 넘어간다. 지금 답해 주면 이 장의 초점이 흐려지고 시간도 크게 밀린다.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4922004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절은 이 장 전체의 뼈대다. 네 단계를 외우게 하는 것이 목적이 아니라, 계획을 만드는 단계와 계획을 쓰는 단계가 분리돼 있다는 구조를 이해시키는 것이 목적이다. 이 분리가 이해되면 뒤에 나오는 재사용, 바인드 변수, 그리고 마지막의 부작용까지 하나의 이야기로 이어진다. 반대로 이 구조를 놓치면 이후 내용이 전부 따로 노는 암기 항목이 된다. 칠판에 네 단계를 적어 두고 절이 끝날 때까지 지우지 않기를 권한다. 네 단계를 판서한 뒤 각 단계 옆에 이 단계에서 무엇이 만들어지는지를 한 단어씩 적어 두면 학습자가 스스로 구조를 채워 나갈 수 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95259936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네 단계를 소개할 때 요리에 비유하면 학습자가 잘 받아들인다. 조리법을 정하는 것이 Parse, 재료를 넣는 것이 Bind, 실제로 조리하는 것이 Execute, 접시에 담아 내보내는 것이 Fetch다. 여기서 반드시 강조할 것은 조리법을 정하는 일이 매번 일어나지는 않는다는 점이다. 같은 요리를 또 만들 때 조리법을 처음부터 다시 궁리하지 않는 것처럼, 오라클도 같은 SQL이면 이미 정해 둔 계획을 꺼내 쓴다. 이 비유가 다음 절의 소프트 파싱으로 그대로 이어진다. 비유는 여기까지만 쓰고 이후에는 용어 그대로 진행한다. 비유를 길게 끌면 나중에 예외를 설명할 때 오히려 방해가 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89762537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세 번째 항목이 이 장의 분기점이다. 여기서 있느냐 없느냐에 따라 이후 비용이 완전히 갈린다. 학습자가 흔히 오해하는 지점은 소프트 파싱을 파싱을 하지 않는 것으로 이해하는 것이다. 소프트 파싱에서도 문법과 의미 검사는 그대로 수행되고 공유 풀을 뒤지는 작업도 남아 있다. 생략되는 것은 가장 비싼 최적화 단계뿐이다. 이 구분을 정확히 해 두지 않으면 뒤에서 바인드 변수를 쓰면 파싱이 사라진다는 잘못된 결론으로 넘어가게 된다. 네 항목을 순서대로 판서하고 세 번째에 표시를 해 두면, 이후 슬라이드에서 그 표시를 가리키며 설명을 이어 갈 수 있어 흐름이 끊기지 않는다.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74927912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슬라이드에서 가장 중요한 문장은 마지막 줄이다. 계획을 바꾸지 않는다는 사실이 뒤의 모든 논의를 지탱한다. 실행 도중에 오라클이 상황을 보고 계획을 갈아 끼우지 않기 때문에, 계획을 잘못 만들면 그 잘못이 그 실행 내내 유지된다. 마지막 절에서 다룰 바인드 변수의 부작용도 정확히 이 성질에서 나온다. 또 하나 짚어 둘 것은 실측치가 생기는 시점이다. 실제로 실행해 봐야만 생기는 값이라는 점을 여기서 못 박아 두면 다음 슬라이드가 쉬워진다. 세 단계를 빠르게 넘기되 마지막 줄만은 판서해 남겨 둔다. 이 문장이 마지막 절의 반전을 이해하는 데 그대로 쓰이기 때문이다.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46115334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앞 장에서 추정치와 실측치를 나란히 놓고 읽는 훈련을 했는데, 왜 그 둘이 따로 존재하는지는 설명하지 않았다. 그 답이 이 슬라이드다. 추정치는 Parse의 산출물이고 실측치는 Execute와 Fetch의 산출물이므로, 애초에 만들어지는 시점이 서로 다르다. 이 연결을 해 주면 학습자가 앞 장 내용과 이번 장을 하나로 묶어 기억하게 된다. 실습문제 7번이 정확히 이 대응을 묻는 문항이므로 여기서 말로 한 번 정리하고 넘어가는 것이 좋다. 앞 장의 실행계획 화면을 한 장 다시 띄워 놓고 어느 열이 추정이고 어느 열이 실측인지 지목하게 하면 이 슬라이드의 설명이 즉시 실물과 연결된다.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02549414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절은 개념 밀도가 가장 높은 구간이다. 용어는 두 개뿐이지만 그 뒤에 붙는 결론이 이 장 전체를 끌고 간다. 진행할 때는 하드와 소프트라는 이름의 어감에 끌려가지 않도록 주의시키는 것이 좋다. 중요한 것은 이름이 아니라 최적화 단계를 다시 하는가 아닌가라는 한 가지 기준이다. 이 기준 하나만 남기고 나머지 설명을 덜어 내면 학습자가 훨씬 또렷하게 기억한다. 용어 두 개를 판서하고 그 사이에 최적화를 다시 하는가라는 질문 하나만 적어 두면 이 절의 설명이 전부 그 한 줄로 정리된다. 학습자가 나중에 복습할 때도 이 한 줄만 기억하면 나머지를 스스로 복원할 수 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18834699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하드 파싱을 무조건 나쁜 것으로 각인시키지 않는 것이 중요하다. 새로운 SQL이 들어오면 계획을 만들어야 하고, 그 작업은 반드시 누군가 한 번은 해야 한다. 실무에서 문제가 되는 것은 같은 일을 하는 SQL이 값만 바뀌어 계속 새 SQL로 취급되는 상황이다. 이 구분을 흐리면 학습자는 파싱을 없애야 할 대상으로 오해하고, 나중에 커서 캐싱이나 바인드 변수를 목적이 아니라 만능 해법으로 쓰게 된다. 필요한 한 번과 불필요한 반복을 나누는 감각을 여기서 심어 준다. 실무 사례를 하나 곁들이면 좋다. 배치 작업처럼 한 번만 도는 SQL이라면 하드 파싱을 걱정할 이유가 거의 없다는 점이다.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70984139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소프트 파싱을 설명할 때 학습자가 가장 궁금해하는 것은 그래서 얼마나 싸냐는 질문이다. 이 과정에서는 그 수치를 임의로 말하지 않는다. 대신 무엇이 생략되는지를 정확히 짚어 주는 편이 훨씬 유용하다. 생략되는 것은 계획 후보를 만들고 비교하는 최적화 작업이며, 그것이 파싱에서 가장 비싼 부분이라는 사실만으로도 판단에는 충분하다. 마지막 줄의 확인 방법이 뒤의 2.7절 관찰로 그대로 이어진다는 점을 예고해 두면 흐름이 매끄러워진다. 여기까지 오면 학습자 대부분이 그래서 어떻게 하면 소프트 파싱이 되느냐고 묻는다. 그 질문이 나오면 다음 슬라이드로 자연스럽게 넘어가면 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27880460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여기서 학습자들이 자주 놀라는 대목은 공백과 대소문자까지 텍스트라는 점이다. 실무에서 같은 쿼리를 두 개발자가 서식만 다르게 작성해 서로 다른 SQL_ID로 잡히는 일이 실제로 일어난다. 이 사실을 알려 주면 코딩 컨벤션을 왜 맞추는지에 대한 답이 성능 쪽에서도 하나 생긴다. 다만 오라클이 의미를 몰라서가 아니라 텍스트 일치만으로 판단하도록 설계된 것이라는 점을 함께 말해 줘야, 오라클이 어리석다는 식의 오해로 가지 않는다. 같은 SQL을 서식만 바꿔 두 번 실행해 보는 시연을 준비할 수 있다면 여기서 보여 준다. 짧은 시연 하나가 긴 설명을 대신한다.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94361277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슬라이드가 이 장에서 가장 실무적인 내용이다. 웹 애플리케이션에서 조건 값을 문자열로 이어 붙여 쿼리를 만드는 코드는 지금도 흔하고, 그런 코드가 트래픽을 만나면 정확히 이 상황이 된다. 학습자에게 자기 프로젝트의 코드를 떠올려 보게 하면 반응이 좋다. 덧붙일 것은 이것이 보안 문제와도 겹친다는 점이다. 값을 문자열로 이어 붙이는 방식은 주입 공격의 통로가 되기도 하므로, 바인드 변수는 성능과 보안 양쪽에서 권장되는 습관이다. 학습자에게 자기 프로젝트에서 조건 값을 어떻게 넘기고 있는지 확인해 보게 하는 과제를 내면 다음 시간에 좋은 사례가 모인다.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65616333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여기서 앞 절의 네 단계가 왜 필요했는지가 드러난다. 값이 들어가는 단계와 계획을 만드는 단계가 분리돼 있기 때문에 계획을 값과 무관하게 보관할 수 있는 것이다. 이 인과를 한 번 말로 정리해 주면 학습자가 네 단계를 단순 암기 목록이 아니라 설계로 이해하게 된다. 동시에 여기서 작은 복선을 깔아 두는 것이 좋다. 계획이 값과 무관하게 보관된다는 말은 값에 따라 계획이 달라져야 할 때는 문제가 될 수 있다는 뜻이기도 하다. 이 복선을 여기서 한 문장으로만 던져 두고 자세한 설명은 하지 않는다. 마지막 절에서 회수할 때 효과가 훨씬 커지기 때문이다.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80558816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절은 관찰 대상을 소개하는 짧은 구간이다. SQL 자체는 단순한 카운트 조회라 설명할 것이 거의 없지만, 그 단순함이 의도된 것이라는 점은 짚어 줄 만하다. 문장이 복잡하면 관찰 결과가 파싱 때문인지 문장 구조 때문인지 구분하기 어려워진다. 변수를 하나만 남기고 나머지를 고정하는 것이 실험 설계의 기본이며, 학습자가 나중에 스스로 벤치마크를 설계할 때도 그대로 적용되는 원칙이다. 소재가 단순하다고 빠르게 넘기지 말고, 왜 이렇게 단순한 SQL을 골랐는지 이유를 반드시 말해 준다. 실험 설계의 원칙을 한 번 짚어 두면 이후 비교 실습에서 학습자가 스스로 조건을 통제하기 시작한다.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15209449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SQL을 띄운 직후에 학습자에게 질문을 하나 던지면 좋다. 이 두 문장을 오라클은 한 개의 SQL로 볼까 두 개로 볼까. 대부분은 로직이 같으니 한 개라고 답하는데, 그 예상이 뒤에서 실측으로 뒤집히는 순간 개념이 확실히 박힌다. 답을 미리 알려 주지 말고 손을 들어 보게 한 다음 결과를 기록해 두었다가 2.7절에서 다시 꺼내는 방식을 권한다. 실습문제 2번이 정확히 이 대목을 서술형으로 묻는 문항이다. 값을 문자열로 이어 붙여 쿼리를 만드는 코드가 실무에서 어떤 모양인지 한 줄만 칠판에 적어 보여 주면 학습자가 자기 코드와 즉시 겹쳐 본다.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7432893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VARIABLE과 EXEC는 SQL*Plus에서 바인드 변수를 선언하고 값을 넣는 명령이다. 애플리케이션 코드에서는 이 자리에 JDBC의 PreparedStatement 파라미터나 각 언어의 바인딩 API가 들어간다는 점을 알려 주는 편이 좋다. 실습에서만 쓰는 특수 문법으로 오해하면 실무 적용으로 연결되지 않기 때문이다. 여기서 핵심은 SELECT 문장의 텍스트가 두 번 모두 글자 하나까지 동일하다는 사실이며, 그 동일함이 뒤의 관찰 결과를 전부 만들어 낸다. 실습 환경에서 이 명령을 직접 쳐 보게 할 시간이 있다면 여기서 잠깐 손을 쓰게 하는 것도 좋다.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6299792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지표를 먼저 정하고 관찰에 들어가는 습관을 여기서 훈련시킨다. 실행계획을 띄워 놓고 눈에 띄는 것을 찾는 방식은 초심자에게 가장 흔한 실수이며, 무엇을 볼지 정하지 않으면 언제나 숫자가 큰 항목에 시선이 끌린다. 이번 관찰에서 볼 것은 세 개뿐이고 나머지는 무시해도 된다고 미리 못 박아 두면 학습자가 훨씬 편하게 따라온다. 이 습관은 이후 모든 챕터의 실측 비교에서 그대로 반복해 쓰게 된다. 지표를 판서해 두고 관찰이 끝날 때마다 그 옆에 값을 채워 넣게 하면 슬라이드를 넘겨도 비교표가 칠판에 남아 있어 학습자가 흐름을 놓치지 않는다.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40805252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절은 이 장의 몸통이다. 두 실행계획을 나란히 놓고 무엇이 다르고 무엇이 같은지를 가려내는 훈련을 한다. 진행할 때 서두르지 말고 한 계획씩 충분히 읽게 하는 것이 좋다. 학습자가 스스로 차이를 발견하게 만들면 이후 해석 슬라이드가 답 맞추기가 되어 몰입이 유지된다. 반대로 강사가 먼저 결론을 말해 버리면 남은 슬라이드가 전부 확인 작업으로 전락한다. 실행계획 두 장을 앞뒤로 넘겨 가며 보게 되므로, 가능하면 학습자에게도 교안 파일을 열어 두 화면을 나란히 놓게 하는 편이 좋다. 눈으로 한 번에 대조할 수 있어야 차이를 스스로 발견한다.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22010669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실행계획을 띄우면 학습자 시선이 가장 큰 숫자로 먼저 간다. 여기서는 순서를 정해 읽게 한다. 먼저 Operation 열에서 접근 방식을 확인하고, 다음에 추정과 실제를 한 쌍으로 묶어 읽고, 마지막에 시간과 블록 수를 본다. 이 순서를 지키면 어떤 실행계획을 만나도 같은 방식으로 접근할 수 있다. 그리고 추정 열은 파싱의 산출물이고 실제 열은 실행의 산출물이라는 앞 절의 구분을 여기서 실물로 확인시켜 준다. 읽는 순서를 판서해 두고 이후 모든 실행계획 슬라이드에서 같은 순서를 반복하게 하면, 이 장이 끝날 무렵에는 순서가 습관으로 굳는다.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92463155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여기서 학습자에게 미리 알려 줄 것이 하나 있다. 추정이 실제에 가깝게 나온 것은 우연이 아니라 이유가 있으며 그 이유를 뒤에서 다룬다는 예고다. 앞 장에서는 추정이 크게 빗나간 사례를 봤기 때문에, 예고 없이 정확한 추정을 보여 주면 앞 장 내용과 충돌하는 것처럼 느낀다. 두 사례가 모순이 아니라 조건이 다른 경우라는 점을 미리 말해 두면 혼란이 없다. 실습문제 4번이 이 차이를 통계정보로 설명하도록 요구한다. 이 슬라이드에서 SQL_ID를 굳이 언급하는 이유를 밝혀 둔다. 뒤에서 공유 풀 통계와 대조할 때 이 값이 연결 고리가 되기 때문이다.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5483415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두 실행계획을 나란히 놓고 학습자에게 직접 비교하게 하는 것이 이 슬라이드의 목적이다. 앞으로 넘겼다 뒤로 넘겼다 하며 열별로 훑게 하면 차이가 스스로 드러난다. 여기서 자주 나오는 질문이 왜 SQL_ID가 다르냐는 것인데, 이미 2.3절에서 답을 배웠으므로 학습자에게 되물어 답하게 하는 편이 좋다. 배운 개념을 실물 앞에서 다시 꺼내 쓰는 경험이 한 번 있어야 그 개념이 실제로 쓸 수 있는 지식이 된다. 두 화면의 차이를 학습자가 먼저 말하게 한 뒤 정리해 주는 순서를 지킨다. 먼저 답을 주면 남은 슬라이드가 확인 작업으로 끝난다.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85321716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비교표를 읽을 때는 다른 것과 같은 것을 반드시 따로 정리하게 한다. 초심자는 다른 항목만 찾아내고 같은 항목은 의미가 없다고 넘기는데, 실제로는 같다는 사실이 더 강한 단서가 되는 경우가 많다. 이번이 정확히 그런 사례다. 추정이 크게 달라졌는데도 실제로 읽은 블록 수가 똑같다는 사실은 추정이 이 SQL의 실행에 아무 영향을 주지 못했다는 뜻이며, 그 이유를 찾는 과정이 두 슬라이드 뒤까지 이어진다. 다른 것과 같은 것을 각각 판서해 두 칸으로 정리해 두면, 이어지는 두 슬라이드가 각 칸의 이유를 채워 넣는 구조라는 것이 한눈에 보인다.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08640804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히스토그램이라는 단어를 처음 꺼내는 자리이므로 개념만 짧게 잡아 준다. 통계정보가 컬럼마다 값이 몇 개인지만 기록하는 것이 아니라, 어떤 값에 데이터가 몰려 있는지까지 기록하는 형태가 있다는 정도면 충분하다. 여기서 시간을 많이 쓰면 이 장의 주제인 파싱에서 초점이 흐려진다. 대신 통계가 파싱 시점에 읽힌다는 연결만 확실히 해 둔다. 이 연결이 실습문제 8번에서 Cost가 파싱 시점에 확정되는 이유를 묻는 문항으로 이어진다. 히스토그램을 더 알고 싶어 하는 학습자에게는 해당 챕터를 안내하고, 지금은 통계가 파싱 시점에 읽힌다는 사실만 가져가면 충분하다고 정리해 준다.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74374449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슬라이드는 학습자가 가장 자주 오해하는 지점을 정면으로 다룬다. 추정이 정확하면 성능이 좋아진다는 인상을 갖기 쉬운데, 추정은 선택을 위한 재료일 뿐 그 자체가 성능은 아니다. 선택지가 하나뿐인 상황에서는 아무리 정확히 추정해도 결과가 같다. 이 논리는 이후 챕터에서 인덱스를 만들자마자 곧바로 뒤집힌다. 같은 SQL이 선택지를 갖게 되는 순간 추정의 정확도가 성능을 좌우하기 시작한다는 예고로 마무리하면 다음 장으로 이어진다. 이 대목에서 인덱스를 만들면 어떻게 되느냐는 질문이 거의 반드시 나온다. 답을 미루지 말고 어느 챕터에서 실측으로 확인하는지만 알려 준다.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69810846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절은 앞에서 개념으로 배운 내용을 공유 풀에 남은 흔적으로 직접 확인하는 구간이다. 실행계획이 SQL 한 문장의 내부를 보여 준다면, 여기서 보는 통계는 그 문장이 데이터베이스 전체에서 어떻게 취급되는지를 보여 준다. 관점이 한 단계 올라간다는 점을 명확히 말해 주는 것이 좋다. 이 시점부터 학습자는 SQL 하나가 아니라 SQL이 모이는 공간을 함께 생각하기 시작한다. 실행계획 읽기에서 공유 풀 관찰로 넘어가는 전환점이므로 잠깐 호흡을 끊고 지금까지의 내용을 한 문장으로 정리한 뒤 시작하는 것이 좋다. 관점이 문장 하나에서 데이터베이스 전체로 넓어진다는 예고를 함께 준다.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92126720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절 번호가 하나 비어 있는 이유를 설명하지 않고 넘어가면 학습자가 교안이 잘못됐다고 생각한다. 짧게라도 짚어 주는 것이 좋다. 동시에 이 장의 성격을 다시 정리할 좋은 기회이기도 하다. 다른 장들은 나쁜 SQL을 고치는 이야기지만 이 장은 같은 SQL을 다르게 넘기는 이야기다. 실무에서 SQL을 한 글자도 못 고치는 상황, 예를 들어 패키지 제품의 쿼리를 다뤄야 할 때 이 관점이 유일한 개선 여지가 되는 경우가 있다. 패키지 제품이나 프레임워크가 생성하는 SQL처럼 문장을 고칠 수 없는 상황을 예로 들면, 이 장의 관점이 왜 실무에서 값진지 바로 전달된다.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81640145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화면을 띄우기 전에 앞에서 받아 둔 학습자들의 예상을 다시 꺼내면 효과가 크다. 대부분 로직이 같으니 하나로 잡힐 것이라고 답했는데 실제로는 두 개가 나왔다. 예상이 빗나가는 경험이 개념을 가장 확실하게 남긴다. 그리고 SQL_TEXT 열을 손가락으로 짚어 가며 이 두 줄의 차이가 숫자 하나뿐이라는 점을 다시 확인시킨다. 실무에서는 이 열을 앞부분만 잘라서 보기 때문에 차이를 놓치기 쉽다는 주의도 함께 준다. 두 SQL_ID를 앞 절 실행계획 슬라이드의 값과 하나씩 짚어 가며 대조하게 하면, 실행계획과 공유 풀 통계가 같은 대상을 다른 각도로 본 것임이 분명해진다.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24480357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두 지표를 나란히 읽는 법을 알려 준다. 실행 횟수와 파싱 횟수가 같다는 것은 실행할 때마다 파싱했다는 뜻이고, 실행 횟수가 파싱 횟수보다 크면 그만큼 재사용이 일어났다는 뜻이다. 이 비율을 보는 감각이 실무 모니터링의 기본이다. 여기에 하나 더 덧붙일 것은 공유 풀이 무한하지 않다는 사실이다. 밀려나고 다시 들어오는 순환이 반복되면 파싱 부하가 오히려 커진다는 점이 실습문제 10번의 주제다. 실행 횟수와 파싱 횟수의 비율을 보는 감각은 이후 운영 모니터링에서도 그대로 쓰이므로, 여기서 개념을 한 번 확실히 잡아 두면 오래도록 남는다.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29216285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앞 슬라이드와 이 슬라이드를 번갈아 보여 주는 것이 가장 효과적이다. 같은 횟수를 실행했는데 한쪽은 행이 두 개, 다른 쪽은 하나다. 이 시각적 대비가 어떤 설명보다 강하다. 여기서 학습자가 자주 묻는 것은 SQL_TEXT에 값이 안 보이는데 어떻게 서로 다른 결과를 냈느냐는 질문이다. 값은 텍스트가 아니라 Bind 단계에서 따로 전달된다는 앞 절 내용을 여기서 다시 확인시켜 주면 네 단계 구조가 완결된다. 앞 슬라이드로 한 번 돌아갔다 오는 것을 아까워하지 말고, 행 수의 차이를 눈으로 대조하게 하는 데 시간을 쓰는 편이 훨씬 효과적이다.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533425766"/>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결론이 나왔다고 여기서 끝내면 학습자는 바인드 변수를 항상 옳은 규칙으로 기억한다. 마지막 줄의 예고가 그래서 필요하다. 조건이 붙는다는 말을 여기서 한 번 던져 두면, 뒤의 반전 슬라이드가 갑작스럽게 느껴지지 않고 자연스러운 심화로 받아들여진다. 실습문제 3번이 이 결론을 대규모 트래픽 상황으로 확장해 서술하도록 요구하므로, 사용자 수가 많아질수록 이 차이가 누적된다는 점도 함께 말해 둔다. 결론을 판서해 두되 그 아래에 빈 줄을 하나 남겨 둔다. 마지막 슬라이드에서 그 자리에 조건을 채워 넣는 방식으로 마무리하면 인상에 오래 남는다.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213556219"/>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마지막 절은 정리 구간이지만 새로운 논점이 하나 등장한다. 지금까지의 결론을 스스로 흔들어 보는 대목이다. 강사가 여기서 서두르면 학습자는 앞의 결론만 기억하고 조건을 놓친다. 시간이 부족하더라도 마지막 슬라이드는 반드시 다루기를 권한다. 이 장이 남겨야 할 최종 메시지는 바인드 변수를 쓰라는 지시가 아니라, 이점과 부작용을 함께 놓고 판단하라는 태도이기 때문이다. 남은 시간이 짧다면 종합 비교 표를 빠르게 넘기고 마지막 슬라이드에 시간을 몰아 주는 편이 낫다. 이 장에서 학습자가 가장 오래 기억하게 될 내용이 그 한 장에 들어 있기 때문이다.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856009588"/>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표를 읽을 때 주의시킬 것이 하나 있다. 여기에는 소요 시간 열이 없다. 이번 장의 비교 기준은 빠르기가 아니라 파싱 방식이기 때문이다. 학습자는 벤치마크라는 말을 들으면 반사적으로 시간을 찾는데, 자원의 종류에 따라 비교 지표가 달라진다는 것이 앞 장에서 배운 내용이다. 그 원칙이 이번 장에도 그대로 적용된 결과라는 점을 짚어 주면 두 장이 하나의 흐름으로 연결된다. 표를 읽고 나면 학습자에게 이 장에서 아낀 자원이 무엇이었는지 한 단어로 답하게 해 본다. 시간이 아니라 메모리와 CPU라는 답이 나오면 이 장의 목표는 달성된 것이다.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71034762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장의 마지막 메시지다. 앞에서 바인드 변수를 권장해 놓고 마지막에 조건을 다는 구성이 어색해 보일 수 있지만, 이것이 이 과정 전체의 서술 방식이다. 앞 장에서 통념을 실측으로 검증했던 것과 같은 태도이며, 이번에는 방금 스스로 내린 결론을 검증 대상으로 삼는다. 학습자에게 이 점을 명시적으로 말해 주면 태도가 전달된다. 실습문제 6번과 10번이 정확히 이 균형 잡기를 서술형으로 요구하는 문항이다. 마지막에는 이 장의 결론을 한 문장으로 정리해 판서하고 다음 챕터 예고로 닫는다. 기법이 아니라 판단의 기준을 남기는 것이 이 장의 마무리다.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293011529"/>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요약은 여덟 줄이지만 실제로 기억해야 할 축은 두 개다. 계획이 만들어지는 시점이 Parse 하나라는 것, 그리고 재사용 여부는 텍스트 일치로만 결정된다는 것이다. 나머지 여섯 줄은 이 두 축에서 파생된 결과다. 학습자에게 이 두 문장만 외우고 나머지는 유도해 보라고 하면 복습 효율이 크게 올라간다. 마지막 줄은 다음 챕터로 넘어가는 다리이므로 여기서 끊지 말고 예고까지 붙여 마무리하는 것이 좋다. 요약을 읽고 그냥 끝내지 말고, 각 줄에 대해 근거가 되는 관찰 결과를 하나씩 말해 보게 하면 그 자리에서 복습이 된다. 말로 설명하지 못하는 줄이 곧 다시 봐야 할 부분이다.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317572144"/>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이번 실습은 SQL을 새로 짜는 문제가 아니라 관찰한 값을 근거로 설명하는 서술형이 대부분이다. 채점 기준도 정답 일치가 아니라 근거의 타당성에 두어야 한다고 안내한다. 특히 최상 난이도로 표시된 문항들은 교안에 답이 그대로 적혀 있지 않고 배운 원리를 조합해 추론해야 한다. 실습 전에 스키마를 건드리지 말라는 안내도 다시 강조한다. 인덱스를 추가하면 접근 경로가 달라져 이 장의 관찰 자체가 성립하지 않기 때문이다. 채점 후에는 여섯 번째와 열 번째 문항의 모범 답안을 함께 읽으며 추론 과정을 복기하는 시간을 따로 잡기를 권한다. 이 두 문항이 이 장의 핵심을 압축하고 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872142704"/>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제3장은 이후 열한 개 챕터를 떠받치는 기초 공사다. 앞으로 어떤 기법을 배우든 개선 여부를 실행계획으로 증명해야 하는데, 계획을 읽지 못하면 그 증명 자체가 성립하지 않는다. 이 장에서는 인덱스를 하나도 만들지 않고 기존 PK 인덱스만으로 여섯 가지 오퍼레이션 패턴을 관찰한다. 실행계획 판독은 문법 학습과 달라서 규칙 몇 줄을 듣는 것만으로는 몸에 붙지 않으므로, 강의 내내 화면의 계획을 손가락으로 짚어 가며 소리 내어 읽히는 진행을 권한다. 첫 화면에서 이 장이 개선의 장이 아니라 판독의 장임을 분명히 선언하고 시작한다. 수업 첫머리에 실습 DB 접속과 DBMS_XPLAN 권한을 미리 점검해 두면 진행이 끊기지 않는다.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211877445"/>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학습 목표는 세 층으로 묶인다. 첫째는 어휘로, 실행계획에 등장하는 컬럼과 오퍼레이션 이름을 우리말로 풀어낼 수 있어야 한다. 둘째는 문법으로, 트리의 들여쓰기를 근거로 실행 순서를 복원하는 능력이다. 셋째는 진단으로, 추정치와 실측치를 대조해 이상 징후를 짚어내는 태도다. 세 층은 순서대로 쌓이므로 어휘를 건너뛰고 진단부터 가르치면 학습자가 계획을 통째로 외우려 든다. 목표를 읽어 줄 때 각 항목이 실습문제 몇 번과 연결되는지 미리 짚어 주면 학습자가 무엇을 위해 듣는지 알고 집중한다. 열 줄이 많아 보이지만 대부분 3.5절 한 절에서 해결되므로 부담을 덜어 주는 말도 함께 건넨다.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307258596"/>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전체 흐름은 정의 세우기, 도구 익히기, 사례로 확인하기의 세 단계다. 3.1부터 3.3까지는 실행계획이 무엇이고 누가 그것을 만드는지를 다루는 개념 구간이고, 3.4와 3.5가 이 장의 몸통으로 실제 계획을 뽑아 컬럼 단위로 해부한다. 3.6은 판독이 왜 필요한지 보여 주는 실측 사례이며, 3.8은 여섯 가지 오퍼레이션 패턴을 한자리에 모아 비교하는 정리 구간이다. 시간 배분은 3.5와 3.8에 절반 이상을 쓰는 것이 좋고, 3.7은 예고 성격이라 짧게 지나가도 무방하다. 절 번호는 교안 md의 01번부터 10번까지 절 구성을 강의 편의에 맞춰 다시 묶은 것이다.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916920235"/>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첫 절은 동기 부여 구간이다. 학습자 대부분은 실행계획을 데이터베이스 관리자의 영역으로 여기고 개발자가 읽을 필요는 없다고 생각한 채 들어온다. 그러나 이 과정의 모든 챕터는 개선 전후를 계획으로 대조하는 방식으로 진행되므로, 계획을 읽지 못하면 나머지 열한 챕터를 따라올 수 없다. 이 절은 그 사실을 미리 못 박아 두기 위한 자리다. 세 장짜리 짧은 구간이니 개념 설명을 길게 끌지 말고, 왜 읽어야 하는가라는 질문 하나에만 집중해서 빠르게 지나가는 편이 낫다. 질문을 던지고 답을 받는 형태로 진행하면 이후 실습 참여도가 눈에 띄게 올라간다.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741871618"/>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현장에서 가장 흔한 장면은 느리다는 신고를 받고 곧바로 인덱스를 추가하는 것이다. 운이 좋으면 빨라지지만 원인이 조인 순서나 통계였다면 인덱스만 하나 더 늘어난 채 문제는 그대로 남는다. 게다가 인덱스는 조회를 돕는 대신 입력과 갱신을 무겁게 만들기 때문에 근거 없는 추가는 나중에 다른 곳에서 대가를 치른다. 진단 없이 처방부터 하지 말라는 이야기를 여기서 한 번 강하게 해 둔다. 세 갈래 원인은 각각 인덱스, 조인 힌트, 통계 재수집으로 조치가 갈리므로 구분이 곧 처방이라는 점도 덧붙인다. 조치를 고르기 전에 원인을 한 줄로 적어 보게 하는 습관을 실습에서도 계속 요구한다.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636511047"/>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SQL이 선언형 언어라는 성질이 이 슬라이드의 핵심이다. 개발자는 결과의 모양만 기술하고 접근 경로는 옵티마이저에게 위임한다. 위임했다는 것은 곧 내가 통제하지 않았다는 뜻이므로 확인이 필수가 된다. 같은 문장이 환경에 따라 다른 계획으로 실행된다는 점은 개발 서버에서 잘 돌던 쿼리가 운영에서 무너지는 사고의 단골 원인이기도 하므로 함께 짚어 준다. 두 환경은 데이터 양도 통계 상태도 다르기 때문에 계획이 같으리라는 보장이 전혀 없다는 사실을 경험담으로 풀어 주면 설득력이 커진다. 확인은 비용이 거의 들지 않는데 확인하지 않아 치르는 비용은 크다는 점으로 마무리한다.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9131087"/>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범위를 선언하는 슬라이드다. 학습자는 세 번째 시간이면 이제 뭔가 빨라지는 것을 보고 싶어 하므로, 이 장이 판독에서 끝난다는 사실을 미리 알리지 않으면 알맹이가 없다는 인상을 받는다. 판독을 먼저 세우는 이유를 지도 읽는 법에 빗대어 설명하면 잘 통한다. 길을 고르기 전에 지도를 읽을 줄 알아야 하고, 지도를 못 읽으면 어느 길이 나은지 말할 수 없다. 실습 환경에서 인덱스를 임의로 만들면 교안의 계획이 재현되지 않는다는 주의도 이 자리에서 한 번 더 강조해 둔다. 이 선언을 해 두면 뒤에서 개선책을 묻는 질문이 나와도 자연스럽게 다음 챕터로 넘길 수 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195759539"/>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두 번째 절은 용어를 정의하는 구간이다. 실행계획이라는 말을 막연히 쓰다 보면 학습자마다 다른 그림을 떠올리게 되므로, 트리라는 자료 구조와 오퍼레이션이라는 작업 단위 두 낱말을 여기서 확실히 못 박아 둔다. 이 두 낱말이 서면 뒤에 나오는 들여쓰기 판독 원칙이 자연스럽게 따라온다. 반대로 이 절을 대충 넘기면 3.5절에서 실행 순서를 설명할 때마다 트리가 무엇인지부터 다시 설명해야 해서 오히려 시간이 더 든다. 개념 두 낱말만 남기고 넘어간다는 목표를 정해 두면 시간을 아낄 수 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82991601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실행계획이 표가 아니라 트리라는 점을 이 슬라이드에서 확실히 심어 준다. 화면에는 격자로 보이기 때문에 학습자는 자연스럽게 위에서 아래로 읽는 표로 오해하고, 그 오해가 뒤에 나오는 실행 순서 판독을 통째로 망가뜨린다. 들여쓰기 칸이 트리의 깊이를 나타낸다는 사실만 확실히 잡아 두면 나머지는 규칙 두 줄로 정리된다. 화면에 계획을 띄워 놓고 들여쓰기 위치에 세로선을 그어 보이면 표 속에 숨어 있던 나무 모양이 드러나므로 이해가 훨씬 빠르다. 트리라는 말이 낯선 학습자에게는 목차와 하위 항목의 관계를 예로 들어 주면 충분하다.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688707620"/>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오퍼레이션 이름을 통째로 암기하려는 학습자가 반드시 나온다. 그때 이름을 낱말 단위로 끊어 읽는 방법을 시범 보여 주면 부담이 크게 줄어든다. 예를 들어 TABLE ACCESS BY INDEX ROWID는 인덱스가 알려 준 주소로 테이블에 접근한다는 문장을 그대로 압축한 이름이다. 3.8절에서 나오는 WINDOW NOSORT STOPKEY도 같은 방식으로 세 조각으로 나눠 읽는다. 오퍼레이션 이름은 영어 문장을 줄인 것이므로 외울 대상이 아니라 번역할 대상이라고 정리해 준다. 이 요령 하나로 학습자의 심리적 장벽이 크게 낮아지므로 시간을 조금 더 써도 아깝지 않다.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221554353"/>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노드 개수를 성능 지표로 착각하는 오해를 여기서 미리 차단한다. 실제로 3.4절 예제는 노드가 둘뿐이지만 3.8절의 여섯 노드짜리 조인 계획과 읽은 블록 수가 비슷하다. 계획의 좋고 나쁨은 모양의 복잡도가 아니라 각 단계가 건드린 데이터 양으로 결정된다는 점을 이 자리에서 미리 말해 두면 뒤의 비교표를 훨씬 수월하게 읽는다. 계획이 길어 보인다고 겁먹을 필요가 없고, 짧다고 안심할 이유도 없다는 두 문장으로 정리해 두면 좋다. 읽은 양을 기준으로 보라는 이 원칙이 3.8절 비교표를 읽는 잣대가 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92058346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세 번째 절은 실행계획을 만든 주체를 소개하는 구간이다. 계획을 읽기만 하고 누가 왜 그렇게 만들었는지 모르면 이상한 계획을 만났을 때 손을 쓸 수 없다. 여기서 다루는 통계정보의 세 가지 어긋남은 3.6절 실측 사례의 원인 설명이자 Chapter 13 전체의 예고편 역할을 한다. 다만 이 절에서 통계를 깊이 파고들 필요는 없다. 옵티마이저가 원본이 아니라 요약본을 보고 판단한다는 한 문장만 확실히 남기면 목적을 다한 것이다. 통계 항목을 나열만 하고 각각의 상세는 해당 챕터로 미루는 것이 시간 배분에 유리하다.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585043025"/>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옵티마이저를 사람에 비유하면 이해가 빠르다. 여러 경로를 놓고 지도만 보며 예상 소요 시간을 계산해 가장 짧은 길을 고르는 운전자다. 지도가 낡아 새로 난 길이 빠져 있거나 공사 구간이 반영되지 않았다면 아무리 계산을 잘해도 엉뚱한 길을 고른다. 옵티마이저를 탓하기 전에 지도, 즉 통계정보의 상태부터 확인하라는 순서를 여기서 각인시킨다. 후보를 실제로 돌려 볼 수 없다는 제약이 모든 문제의 출발점이라는 점도 함께 짚어 준다. 지도 비유는 이후 챕터에서도 계속 재사용할 수 있으니 여기서 한 번 제대로 만들어 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501866170"/>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네 가지 통계 항목을 지금 깊이 설명할 필요는 없다. 각각은 뒤 챕터에서 제 자리를 갖는다. 고유값 개수는 선택도를 다루는 Chapter 4에서, 클러스터링 팩터는 인덱스 설계를 다루는 Chapter 5에서, 히스토그램은 Chapter 13에서 본격적으로 나온다. 지금은 옵티마이저가 데이터 원본이 아니라 요약본을 보고 판단한다는 사실만 확실히 남기면 충분하다. 요약본이라는 말에서 원본과 다를 수 있다는 성질이 자연스럽게 따라 나온다는 점을 강조한다. 네 항목을 외우게 하기보다 어느 챕터에서 다시 만나는지를 알려 주는 편이 기억에 남는다.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797217382"/>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세 원인은 성격이 다르다는 점을 강조한다. 첫째는 관리의 문제로 통계를 다시 수집하면 해결되고, 둘째는 설계상의 기본 동작이라 확장 통계를 따로 만들어야 하며, 셋째는 정보의 해상도 문제로 히스토그램을 붙여야 한다. 원인이 다르면 처방도 다르기 때문에 셋을 한 덩어리로 뭉뚱그려 통계 문제라고 부르는 습관은 진단을 흐린다. 이 장의 실측 사례가 둘째 유형에 해당한다는 사실을 미리 알려 두면 3.6절에서 원인 설명이 훨씬 매끄럽게 이어진다. 세 갈래를 칠판 한쪽에 적어 두고 3.6절에서 다시 가리키면 연결이 자연스럽다.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135609170"/>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카디널리티라는 용어가 처음 나오는 자리다. 행 수라는 쉬운 말로 먼저 설명하고 용어를 붙이는 순서가 좋다. 이 오류가 무서운 이유는 틀린 값 하나가 그 단계에서 멈추지 않고 위쪽 단계의 판단 재료로 계속 쓰인다는 점이다. 3.6절에서 실제 수치를 보며 다시 다루므로 여기서는 전파된다는 성질만 예고해 두면 된다. 몇 건짜리 집합인지에 따라 유리한 조인 방식이 완전히 달라진다는 점을 한 문장 덧붙이면 전파의 의미가 구체적으로 다가온다. 용어는 나중에 붙이고 현상부터 보여 주는 순서가 이 개념에서는 특히 잘 통한다.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047859712"/>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네 번째 절부터 실물이 등장한다. 여기서 쓰는 SQL 한 문장이 3.5절과 3.6절에서 계속 재활용되므로, 조건 컬럼 두 개에 인덱스가 없다는 사실을 처음부터 분명히 해 둔다. 그 전제가 뒤에 나오는 filter 표시와 Full Scan 선택을 모두 설명해 준다. 예제가 하나뿐이라 단조로워 보일 수 있지만, 같은 문장을 두 도구로 각각 뽑아 비교하는 구성이므로 오히려 도구의 차이가 선명하게 드러난다는 점이 이 절의 설계 의도다. 예제 SQL을 미리 실습 환경에 붙여 넣어 두면 화면 전환 없이 바로 실행해 보일 수 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211612249"/>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아주 평범한 조회 문장이라는 점이 오히려 이 예제의 장점이다. 특별한 문법도 힌트도 없는 두 줄짜리 조건인데, 뒤에서 보게 될 Full Scan과 추정 오류가 모두 여기서 나온다. 학습자가 자기 코드에서 매일 쓰는 형태이기 때문에 남의 일이 아니라는 감각을 갖게 된다. 조건 컬럼 두 개에 인덱스가 없다는 사실을 판서로 크게 적어 두고 3.5절까지 지우지 않는 것을 권한다. 이 테이블의 인덱스가 기본키 하나뿐이라는 점도 함께 확인시켜 둔다. 실습 환경에서 인덱스 목록을 조회해 직접 확인시키면 전제가 훨씬 단단해진다.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911416903"/>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두 도구의 차이를 손으로 익히게 하는 슬라이드다. EXPLAIN PLAN은 문장을 파싱만 하고 실행하지 않으므로 무거운 조회에도 부담 없이 쓸 수 있는 대신 실측값이 하나도 없다. DISPLAY_CURSOR는 방금 실행한 커서의 통계를 붙여 주므로 반드시 먼저 실행해야 하고, ALLSTATS LAST를 빠뜨리면 A-Rows와 Buffers가 나오지 않아 학습자가 자주 당황한다. 실습 중 값이 안 나온다는 질문이 들어오면 이 인자부터 확인하라고 미리 안내해 둔다. 두 명령을 학습자가 직접 한 번씩 실행해 보게 한 뒤 다음 슬라이드로 넘어가는 것이 좋다.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428652794"/>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두 도구를 목적에 맞게 나눠 쓰는 습관이 이 장의 실무적 소득이다. 개발 중 계획의 모양만 빠르게 확인할 때는 EXPLAIN PLAN이 편하고, 실제로 느린 원인을 찾을 때는 반드시 DISPLAY_CURSOR를 써야 한다. 추정치만 보고 판단하다가 실측과 크게 어긋난 사례를 놓치는 일이 흔하다는 점을 3.6절 사례와 연결해 예고해 둔다. 두 도구가 서로를 대체하는 관계가 아니라 짝을 이루는 관계라는 점을 분명히 정리해 준다. 어느 상황에 어느 도구를 쓸지 한 문장으로 정리해 적어 두게 하면 실습에서 헤매지 않는다.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529233923"/>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가장 단순한 형태의 계획이라 첫 판독 연습에 알맞다. 학습자에게 먼저 이 표에서 눈에 띄는 것을 말해 보라고 시키면 대개 Cost를 먼저 짚는데, 사실 여기서 가장 중요한 정보는 마지막 줄의 filter라는 낱말이다. 이 낱말 하나가 두 조건 모두 인덱스를 쓰지 못했다는 사실을 알려 준다. 표의 숫자보다 Predicate 영역을 먼저 보라는 순서를 여기서 잡아 준다. 계획을 볼 때마다 아래쪽부터 읽는 습관을 들이면 오진이 크게 줄어든다. 첫 계획인 만큼 서두르지 말고 한 칸씩 짚어 가며 충분히 시간을 들이는 편이 낫다.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78527542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슬라이드에서 두 가지를 못 박아야 한다. 하나는 Full Scan이 조건이 나빠서가 아니라 다른 선택지가 없어서 나온 결과라는 점이고, 다른 하나는 Rows 칸의 숫자가 결과 건수가 아니라 예상치라는 점이다. 두 번째를 놓치면 학습자는 이 조회가 칠만 건 넘게 나온다고 그대로 믿어 버리고, 3.6절에서 실제 값을 보고 나서야 뒤집히는 경험을 하게 된다. 그 반전을 강의 설계에 일부러 남겨 두었으므로 지금은 예상치라는 사실만 짚고 넘어간다. 뒤집히는 경험이 기억에 오래 남으므로 여기서 결론을 미리 말해 버리지 않도록 주의한다.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213731455"/>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절이 챕터 전체의 핵심이다. 여기서 익힌 컬럼 판독 기준이 이후 열한 챕터에서 계속 재사용된다. 시간이 부족하면 다른 절을 줄이더라도 이 절은 줄이지 말라고 권한다. 특히 Cost의 성격과 access와 filter의 구분 두 대목은 실습문제 8번과 9번에 그대로 연결된다. 여덟 장에 걸쳐 컬럼을 하나씩 해부하는 구성이라 자칫 지루해질 수 있으므로, 슬라이드마다 앞의 실행계획 화면으로 돌아가 해당 칸을 짚어 주는 방식으로 진행하는 것이 좋다. 여덟 장을 한 호흡으로 몰아치기보다 중간에 계획 화면으로 돌아가 숨을 고르는 편이 좋다.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522501418"/>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표는 학습자가 실습 내내 옆에 두고 보는 참조표 역할을 한다. 오른쪽 성격 열이 핵심인데, 추정치와 실측치를 구분하는 습관이 서지 않으면 계획을 보며 엉뚱한 결론을 내린다. 특히 Rows와 A-Rows는 이름이 비슷해 헷갈리기 쉽고, 둘을 같은 값으로 착각하는 순간 3.6절에서 다룰 추정 오류 자체를 인지할 수 없게 된다. 이 표를 따로 인쇄해 나눠 주거나 화면 한쪽에 계속 띄워 두는 방식을 실습 시작 전에 안내한다. 표의 항목 중 실습에서 실제로 쓰는 것은 절반 남짓이라는 점을 알려 주면 부담이 줄어든다.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903172566"/>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Id를 실행 순서로 오해하는 것은 실행계획 판독에서 가장 흔한 실수다. 번호가 붙어 있고 위에서 아래로 늘어서 있으니 순서라고 믿게 되는데, 실제로는 정반대에 가깝다. Name 칸이 비어 있는 줄에 주목하라고 일러 두는 것도 유용하다. 그 줄은 데이터를 읽는 단계가 아니라 이미 읽어 온 것을 가공하는 단계이므로 성격이 전혀 다르다. 읽는 단계와 가공하는 단계를 구분해 두면 뒤에 나오는 조인과 집계 계획이 훨씬 또렷하게 보인다. 이 구분이 서면 계획을 처음 볼 때 어디부터 읽어야 할지가 저절로 정해진다.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872558610"/>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용어를 정확히 쓰는 습관을 강조할 자리다. 회의에서 이 쿼리는 팔만 건 나옵니다라고 말했는데 실제로는 사백 건이었다면 그 뒤에 이어지는 모든 판단이 흔들린다. 예상이라는 낱말 하나를 붙이는 것만으로 오해를 막을 수 있다. 실습문제 2번이 정확히 이 지점을 서술형으로 묻고 있으므로 미리 연결해 준다. 보고서나 인수인계 문서에도 예상 몇 건, 실제 몇 건을 나눠 적는 양식을 쓰라고 실무 지침으로 덧붙이면 좋다. 용어를 정확히 쓰는 것만으로 회의에서의 오해가 상당 부분 사라진다는 점을 강조한다.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971726728"/>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Cost는 학습자가 가장 먼저 눈길을 주면서 가장 크게 오해하는 컬럼이다. 단위가 없다는 사실을 분명히 말해 주는 것이 좋다. 단위가 없으니 초로 바꿔 읽을 수도 없고 다른 쿼리와 견줄 수도 없다. 튜닝 결과를 보고할 때 Cost가 절반으로 줄었습니다라고만 쓰면 근거가 되지 못하며, 실측 지표를 함께 붙여야 한다는 실무 지침으로 마무리한다. Cost가 낮은 계획이 실제로는 더 느렸던 사례가 드물지 않다는 점도 경험담으로 덧붙인다. 단위가 없다는 한마디를 여러 번 반복해도 좋을 만큼 자주 오해되는 대목이다.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53907916"/>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슬라이드는 실습문제 9번의 정답 근거를 그대로 담고 있으므로 강의 중 한 번 더 힘주어 말해야 한다. 두 쿼리의 Cost가 비슷하다는 관찰 자체는 사실이지만 거기서 실행 시간도 비슷하다는 결론을 끌어내는 순간 틀린다. 값이 비슷한 것이 오히려 함정이라는 점, 우연히 두 계획 모두 같은 큰 테이블을 훑었을 뿐이라는 점을 짚어 준다. 같은 SQL의 대안 계획을 비교할 때만 유효하다는 조건을 학습자가 그대로 말할 수 있을 때까지 반복시킨다. 이 조건을 놓치면 실습문제 9번에서 그대로 오답으로 이어지므로 확인 질문을 한 번 던진다.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136597588"/>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access와 filter의 차이를 도서관에 빗대면 잘 통한다. 색인을 보고 해당 책장으로 곧장 가는 것이 access이고, 서가를 처음부터 끝까지 훑으며 표지를 하나씩 확인하는 것이 filter다. 결과가 같아도 들인 노력이 전혀 다르다는 감각이 중요하다. 조건을 잘 썼는데도 느리다는 상담이 들어오면 여기부터 확인하라고 안내한다. 읽는 양이 줄었는지 결과만 줄었는지가 두 낱말을 가르는 기준이라는 정리로 마무리한다. 두 낱말의 구분은 이후 모든 챕터에서 인덱스 효과를 확인하는 기본 도구로 쓰인다.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79189476"/>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실무에서 인덱스를 만들었는데 효과가 없다는 문의가 들어오면 십중팔구 여기서 답이 나온다. 계획의 오퍼레이션 이름만 훑고 인덱스를 탔다고 판단하는 경우가 많은데, 실제로 그 조건이 읽을 범위를 줄이는 데 쓰였는지는 Predicate 영역을 봐야만 알 수 있다. 3.8절 Q6 계획에서 같은 조건이 양쪽으로 갈리는 장면을 직접 보게 된다. 조건식의 모양이 아니라 컬럼의 인덱스 유무가 갈림길이라는 결론을 학습자 입으로 말하게 한다. 진단 순서를 계획부터 보고 다음에 인덱스 목록을 보는 식으로 고정해 두면 실수가 준다.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15889262"/>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규칙은 두 줄뿐이지만 손에 붙기까지는 반복이 필요하다. 화면에서 들여쓰기를 손가락으로 짚어 가며 가장 깊은 줄을 먼저 찾는 시범을 한 번 보여 주는 것이 설명보다 효과적이다. 같은 레벨에서 아래쪽이 먼저라는 두 번째 규칙은 조인이 등장해야 의미가 살아나므로, 지금은 규칙만 외워 두고 3.8절에서 확인하자고 예고해 둔다. 실습문제 7번이 이 규칙을 여섯 단계짜리 계획에 적용하는 문항이라는 점도 함께 알려 준다. 이 규칙은 짧으니 학습자에게 그 자리에서 소리 내어 두 번 따라 말하게 해도 좋다.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830082316"/>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절은 판독이 왜 필요한지를 수치로 증명하는 구간이다. 앞에서 본 예상 계획만으로는 아무 문제도 보이지 않았지만, 실제로 실행해 보면 예상과 실제가 크게 어긋나 있다. 같은 SQL을 두 도구로 각각 확인해야 하는 이유가 여기서 분명해진다. 원인을 설명하는 대목이 다소 추상적이므로 확률의 곱셈이라는 비유를 준비해 두면 좋고, 대응 방법은 Chapter 13의 몫이라는 경계도 미리 그어 둔다. 수치가 등장하는 절이므로 화면의 값을 학습자가 직접 읽게 하는 진행이 몰입에 도움이 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768516044"/>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앞 슬라이드의 예상 계획과 나란히 놓고 보게 하는 것이 가장 효과적이다. 오퍼레이션 이름도 같고 대상 테이블도 같아서 얼핏 같은 계획으로 보이지만, 붙어 있는 컬럼이 다르다. 여기서 E-Rows 칸과 A-Rows 칸을 손가락으로 짚어 두 값을 소리 내어 읽게 하면 차이가 훨씬 인상적으로 남는다. 학습자에게 이 정도 차이가 왜 문제인지 먼저 물어보고 이어 가는 것을 권한다. 답이 바로 나오지 않아도 다음 세 장에서 차근차근 풀어 준다. 두 계획을 한 화면에 나란히 띄울 수 있으면 설명이 절반으로 줄어든다.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233852354"/>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숫자 세 개를 함께 읽는 훈련을 시킨다. A-Rows가 사백 건대인데 Buffers가 삼천 대라는 조합은 사백 건을 얻으려고 테이블 전체를 훑었다는 뜻이다. 결과는 적은데 읽은 양이 많다는 이 불균형이야말로 튜닝 대상을 찾아내는 대표적인 신호다. Starts 컬럼은 지금은 값이 하나라 밋밋해 보이지만 반복 수행되는 단계에서는 결정적인 정보가 된다고 예고해 둔다. 세 값을 묶어 읽는 습관이 이 장에서 가져갈 가장 실용적인 기술이다. 읽은 양과 얻은 결과를 함께 보라는 이 관점이 이후 모든 비교의 기본 잣대가 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681570405"/>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확률에서 독립 사건의 곱셈 법칙을 떠올리게 하면 이해가 빠르다. 동전 두 개를 던질 때는 곱해도 되지만, 키가 큰 사람과 몸무게가 많이 나가는 사람처럼 서로 연관된 성질을 곱하면 실제와 어긋난다. 데이터베이스의 컬럼들은 대부분 후자에 가깝다는 점이 문제의 본질이다. 업무적으로 연관된 컬럼을 함께 조건으로 걸 때 특히 주의하라고 안내한다. 입원 여부와 진료비처럼 업무 지식으로는 뻔한 연관도 옵티마이저에게는 보이지 않는다. 업무 지식으로 뻔한 관계일수록 옵티마이저가 놓치기 쉽다는 역설을 강조해 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834628120"/>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대목에서 학습자가 자주 던지는 질문이 옵티마이저가 그 정도는 알아서 해 줘야 하는 것 아니냐는 것이다. 모든 컬럼 조합의 상관관계를 미리 계산해 두려면 조합 폭발이 일어나므로 현실적으로 불가능하다는 점을 설명하면 납득한다. 그래서 상관관계가 실제로 문제되는 조합만 골라 사람이 확장 통계를 만들어 주는 방식을 쓰며, 그 방법은 Chapter 13에서 다룬다. 오차의 방향이 항상 과대 추정인 것은 아니라는 점도 함께 짚어 준다. 기본 동작을 이해하면 옵티마이저를 탓하는 대신 무엇을 알려 줘야 하는지를 묻게 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256856459"/>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전파라는 성질이 이 절에서 가장 중요한 개념이다. 사백 건짜리 집합을 팔만 건으로 알고 있으면 옵티마이저는 큰 집합끼리의 조인이라 판단해 해시 조인을 고르고 메모리도 넉넉히 잡는다. 반대로 작은 집합이었다면 다른 선택이 유리했을 수 있다. 눈앞의 단계 하나가 아니라 계획 전체가 어긋난다는 점, 그래서 추정치를 항상 의심하며 읽어야 한다는 점으로 마무리한다. 실습문제 2번이 바로 이 전파 경로를 서술하게 하는 문항이다. 전파라는 낱말 하나로 이 절 전체를 요약할 수 있다는 점을 마무리로 짚어 준다.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376988947"/>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판독 단계에서 할 일과 대응 단계에서 할 일을 구분해 주는 슬라이드다. 이 장에서 요구하는 것은 계획을 보고 여기가 이상하다고 짚어 내는 데까지이고, 통계를 다시 수집하거나 확장 통계를 만드는 것은 아직 이르다. 오히려 원인을 갈래 짓지 않은 채 통계부터 다시 수집하면 우연히 좋아졌을 때 왜 좋아졌는지 설명할 수 없게 된다는 점을 경고해 둔다. 몇 배부터 의심할지는 상황에 따라 다르지만 자릿수가 달라지면 무조건 들여다본다. 판독과 대응의 경계를 분명히 해 두면 학습자가 지금 무엇을 해야 하는지 헷갈리지 않는다.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817352532"/>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짧지만 반드시 필요한 절이다. 앞에서 문제를 실컷 보여 주고 고치지 않은 채 넘어가면 학습자가 답답해하므로, 남겨 두는 것이 아니라 예약해 두는 것임을 분명히 말해 준다. 어느 챕터에서 이어받는지 정확한 번호로 안내하는 것이 신뢰를 준다. 한 장짜리 구간이니 길게 끌 필요는 없고, 판독이 먼저이고 설계가 나중이라는 순서만 다시 확인시키고 3.8절로 넘어가면 된다. 한 장짜리 절이니 흐름을 끊지 말고 곧바로 다음 절의 비교표로 이어 가는 편이 좋다.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651945334"/>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여기서 인덱스를 하나 만들어 보여 주고 싶은 유혹이 생기지만 참는 편이 낫다. 근거 없이 만든 인덱스가 우연히 잘 들으면 학습자는 인덱스를 만들면 빨라진다는 잘못된 일반화를 가져가게 된다. Chapter 4에서 선택도를 배우고 Chapter 5에서 컬럼 순서를 배운 뒤에 이 사례로 돌아오면 같은 조치를 근거를 갖고 설명할 수 있다고 예고한다. 지금 답을 주지 않는 것이 오히려 나중을 위한 설계라는 점을 솔직하게 말해 주면 학습자도 수긍한다. 답을 미루는 이유를 설명해 두면 학습자가 남은 챕터를 기다리는 마음으로 듣게 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218955484"/>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마지막 절은 지금까지 배운 판독 기준을 실제 계획 여섯 개에 적용해 보는 종합 구간이다. 여섯 패턴 모두 인덱스를 새로 만들지 않고 기존 PK 인덱스만으로 관찰했다는 점이 중요하다. 같은 인덱스가 조건 성격에 따라 네 가지 다른 오퍼레이션으로 나타나는 장면을 한자리에서 보여 준다. 계획을 한 장씩 넘기며 학습자에게 먼저 읽어 보게 하고 그다음 해설 슬라이드로 답을 맞추는 진행이 이 절의 설계 의도다. 여섯 계획을 모두 읽고 나면 이 장의 목표가 자연스럽게 달성되므로 시간을 넉넉히 잡는다.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168795836"/>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표를 세로로 읽는 순서를 정해 준다. 먼저 Buffers 열만 훑으면 인덱스를 탄 조회들과 전체를 훑은 조회들이 자릿수 단위로 갈린다는 사실이 한눈에 들어온다. 읽은 양이 이만큼 차이 나는 이유가 조건이 인덱스를 탔는지 여부 하나로 갈렸다는 점을 확인시킨다. 다음으로 Operation 열을 보며 같은 PK 인덱스가 네 가지 이름으로 나타난 것을 짚는다. 마지막 열의 힌트 주석은 재현할 때 반드시 필요한 조건이므로 놓치지 않고 읽어 준다. 표를 먼저 보여 주고 각 행을 따로 펼치는 구성이라 전체 지도를 먼저 그려 주는 셈이다.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074671383"/>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Full Scan이 무조건 나쁘다는 오해를 여기서 한 번 눌러 준다. 조건을 만족하는 행이 전체의 상당 비율이라면 인덱스를 타는 것보다 전부 읽는 편이 오히려 빠르다. 판단 기준이 되는 선택도 개념은 Chapter 4의 주제이므로 지금은 비율을 확인해야 한다는 점만 남긴다. 다만 이 사례처럼 결과가 사백 건대인데 전부 읽었다면 개선 여지가 크다. 나쁜 계획이 아니라 확인이 필요한 계획이라는 표현으로 정리해 주는 것이 정확하다. 판단을 유보할 줄 아는 태도가 이 과정 전체에서 요구하는 자세라는 점을 덧붙인다.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542332396"/>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실행 순서를 처음으로 적용해 보는 계획이다. 들여쓰기가 가장 깊은 단계가 먼저 실행되어 인덱스에서 위치를 찾고, 그 결과를 받은 위쪽 단계가 테이블에서 행을 가져온다. 인덱스에는 키 값과 주소만 들어 있어 나머지 컬럼을 얻으려면 테이블을 한 번 더 방문해야 한다는 사실이 두 단계로 나뉜 이유다. Predicate가 access로 표시된 점도 함께 확인시킨다. 읽은 블록 수가 한 자릿수로 끝났다는 점이 앞의 Full Scan과 대비된다. 두 단계로 나뉜 이유를 학습자가 스스로 말할 수 있으면 인덱스 구조를 이해한 것이다.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143566403"/>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앞의 계획과 나란히 놓고 보면 구조는 똑같은데 오퍼레이션 이름 두 곳이 다르다. 인덱스 쪽은 UNIQUE에서 RANGE로 바뀌었고, 테이블 접근 쪽에는 BATCHED가 붙었다. 이름이 왜 갈렸는지를 학습자에게 먼저 추론하게 한 뒤 다음 슬라이드에서 답을 맞춰 보는 진행이 효과적이다. 추정 행 수와 실제 행 수가 거의 맞아떨어진 점도 짚어 준다. 기본키 범위 조건은 통계가 잘 맞는 대표적인 경우라 추정 오류 사례와 좋은 대조가 된다. 두 계획을 번갈아 보여 주며 다른 곳을 찾게 하는 방식이 설명보다 훨씬 오래 남는다.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37763830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오퍼레이션 이름이 조건의 성격을 그대로 반영한다는 사실을 확인하는 자리다. 같은 인덱스인데도 등치냐 범위냐에 따라 이름이 달라지므로, 이름만 보고도 어떤 조건이었는지 역으로 추측할 수 있다. BATCHED는 여러 주소를 모아 가까운 블록끼리 묶어 읽는 방식이라, 흩어진 행을 하나씩 찾아가는 것보다 접근 효율이 좋아진다는 점을 덧붙인다. 단건 조회에는 묶을 것이 없어 붙지 않았다는 설명까지 해 주면 두 계획의 차이가 완전히 정리된다. 네 가지 스캔 이름을 한자리에 정리해 두면 이후 챕터에서 반복 설명할 필요가 없어진다.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561844976"/>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학습자에게 이 계획에서 없는 것을 찾아보라고 물으면 좋다. 정렬을 요구하는 절이 분명히 있는데 SORT라는 오퍼레이션이 어디에도 없다. 큰 테이블에서 다섯 건만 뽑으면서 읽은 블록 수가 한 자릿수로 끝났다는 점도 놀라운 대목이다. 다만 이 계획은 힌트로 강제한 결과이므로, 힌트 없이 그대로 실행하면 다른 계획이 나올 수 있다는 단서를 반드시 함께 붙인다. 아래 Predicate 두 줄이 윈도 함수로 변환된 흔적이라는 점도 미리 가리켜 둔다. 없는 것을 찾게 하는 질문은 계획 판독 훈련에서 매우 효과적이니 자주 활용한다.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914173763"/>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오퍼레이션 이름을 낱말 단위로 끊어 읽는 방법을 실제로 시연하는 슬라이드다. 세 낱말이 각각 하나의 최적화를 가리키고 그것이 합쳐져 하나의 이름이 되었다는 구조를 보여 주면, 처음 보는 긴 이름도 겁내지 않게 된다. 인덱스가 정렬된 상태로 저장된다는 성질은 앞으로 정렬 제거나 페이징 처리에서 계속 활용되므로 여기서 확실히 심어 둔다. 힌트로 강제한 예제라는 단서를 빠뜨리면 항상 이 계획이 나온다고 오해하기 쉽다. 이름을 쪼개 읽는 요령은 다른 오퍼레이션에도 그대로 적용되므로 여기서 확실히 익힌다.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737023592"/>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계획의 특징은 Name 칸에 테이블 이름이 아예 없다는 점이다. 전체 건수를 세면서도 테이블을 한 번도 건드리지 않았다. 학습자에게 그것이 어떻게 가능한지 먼저 묻고, 기본키 제약과 널 값의 관계에서 답을 끌어내도록 유도한다. 인덱스에 필요한 정보가 전부 있으면 테이블을 생략할 수 있다는 원리는 이후 커버링 인덱스 개념으로 이어진다. 같은 테이블을 훑었는데도 앞의 Full Scan보다 읽은 블록이 적다는 점도 함께 짚어 준다. 테이블을 건드리지 않았다는 사실 하나만으로도 학습자의 흥미를 끌기에 충분하다.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985513619"/>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두 오퍼레이션의 차이는 순서를 지켜야 하느냐 하나로 갈린다. 순서를 지켜야 하면 잎사귀를 하나씩 따라가야 하고, 지키지 않아도 되면 통째로 퍼올릴 수 있어 이름에 FAST가 붙는다. 집계는 순서가 필요 없으니 후자가 선택된 것이다. 같은 테이블을 대상으로 했는데 읽은 블록 수가 달라진 이유가 접근 방식 차이라는 점을 앞의 Full Scan 사례와 나란히 비교시킨다. 기본키에 널이 없다는 제약이 이 최적화의 전제라는 점을 다시 확인한다. 순서를 지켜야 하느냐라는 질문 하나로 두 이름을 구분하게 하는 것이 이 슬라이드의 목표다.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245748930"/>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장에서 가장 공을 들여야 할 계획이다. 앞의 다섯 패턴이 한 화면에 모여 있어 종합 판독 연습에 알맞다. 먼저 들여쓰기 깊이만 손가락으로 짚어 실행 순서를 세우게 하고, 그다음 Predicate 세 줄을 읽어 조건이 어디서 어떻게 쓰였는지 확인시킨다. 특히 아래 두 줄에서 같은 조건이 access와 filter로 갈린 장면은 실습문제 8번의 소재이므로 놓치지 않는다. 화면을 오래 띄워 두고 학습자가 직접 순서를 적게 하는 시간을 반드시 확보한다. 이 계획 한 장을 제대로 읽으면 이 장에서 배운 것을 모두 쓴 셈이 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656907985"/>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실행 순서를 학습자가 직접 적어 보게 한 뒤 답을 맞추는 방식이 좋다. Id 번호대로 읽으면 조인이 먼저 나오고 그 재료가 나중에 나오는 이상한 순서가 되므로, 들여쓰기 규칙의 필요성이 저절로 드러난다. 해시 조인이 작은 쪽을 빌드 입력으로 고르는 이유는 메모리에 올릴 양을 줄이기 위해서이며, 자세한 원리는 Chapter 7에서 다룬다고 안내한다. 작은 테이블은 인덱스로 큰 테이블은 전체 훑기로 처리된 대비도 함께 짚어 준다. 조인 방식의 상세는 다음 기회로 미루되 빌드와 탐침이라는 두 낱말만은 남겨 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154748458"/>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요약 여덟 줄은 이 장의 판독 기준을 압축한 것이다. 학습자에게 이 화면을 캡처해 두고 이후 챕터의 실습 내내 옆에 띄워 두라고 권한다. 특히 두 번째와 여섯 번째 줄은 앞으로 매 챕터에서 반복해서 쓰이므로 완전히 몸에 붙어야 한다. 마지막 줄의 추정 오류는 원인이 통계 미갱신, 상관관계 미반영, 히스토그램 부재 셋 중 하나인 경우가 대부분이다. 여덟 줄을 학습자가 보지 않고 말할 수 있으면 이 장의 목표는 달성된 것이다. 요약을 읽고 나서 학습자에게 가장 새로웠던 한 줄을 꼽아 보게 하면 정리가 잘 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036729024"/>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실습은 SQL을 새로 짜는 문제가 아니라 주어진 계획을 읽고 근거를 대는 서술형 위주다. 채점 기준은 결론이 맞았는지보다 어떤 컬럼의 어떤 값을 근거로 삼았는지에 두라고 안내한다. 마지막 문항은 정답이 하나가 아니라 근거가 타당하면 인정하는 형태이므로, 학습자들끼리 서로 다른 시나리오를 고른 뒤 토론시키는 방식이 잘 맞는다. 실습 중 인덱스나 통계를 임의로 바꾸면 계획이 재현되지 않으니 반드시 미리 공지한다. 문제지는 교안의 실행계획을 그대로 소재로 삼으므로 교안을 옆에 두고 풀도록 안내한다.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042260080"/>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마지막 장이다. 앞의 열세 장이 "어떻게 빠르게 만들 것인가"였다면 이 장은 "무엇을 근거로 빨라졌다고 말할 것인가"를 다룬다. 측정 도구를 모르면 튜닝의 성과는 결국 체감과 주장이 되고, 체감은 캐시 상태 하나로도 쉽게 뒤집힌다. 이 장의 모든 실행계획과 시간 값은 진료비청구심사 실습 DB에서 버퍼 캐시를 실제로 비우고 캡처한 실측값임을 먼저 밝혀 둔다. 수업 도입에서 "여러분이 튜닝한 SQL이 빨라졌다는 것을 어떻게 증명하겠는가"를 한 번 물어보고 시작하면 몰입도가 크게 올라간다.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780751167"/>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학습 목표는 도구·지표·판단 세 층으로 읽어 주면 좋다. 도구는 EXPLAIN PLAN과 DISPLAY_CURSOR 두 갈래이고, 지표는 그 도구가 뱉는 값들이며, 판단은 그 값을 근거로 결론을 내리는 능력이다. 이 중 가장 어려운 것은 세 번째다. 값을 읽을 줄 아는 사람은 많아도, 그 값이 측정 환경 때문에 흔들린 값인지 판별하는 사람은 드물다. 마지막 목표는 이 과정 전체를 요약하는 항목이므로 실습 10번 문제와 그대로 이어진다는 점을 미리 알려 준다.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081293007"/>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흐름은 "도구 정리 → 원리 → 통제된 실험 → 실측 해석 → 실무 적용 → 총정리"다. 14.2에서 도구를 정리하고 14.3에서 왜 그런 차이가 생기는지 원리를 세운 뒤, 14.4와 14.5에서 그 원리를 실험으로 확인하는 순서다. 원리를 먼저 세우고 실험을 보는 배치라서, 14.3을 건너뛰면 14.5의 실측표가 그냥 신기한 숫자로만 보인다. 마지막 절은 이 장뿐 아니라 과정 전체를 되짚는 구간이므로 시간을 넉넉히 남겨 두는 편이 좋다.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187755483"/>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첫 절은 이 장의 존재 이유를 세우는 구간이다. 이 과정은 1장부터 Buffers를 사실상 단일 통화처럼 써 왔는데, 그 통화만으로 계산되지 않는 비용을 이미 여러 번 만났다. 그 미결 항목을 마지막 장에서 정면으로 처리한다는 구성임을 밝혀 주면 학습자가 앞 장들과의 연결을 스스로 떠올린다. 여기서는 결론을 미리 말하지 말고 "왜 같은 계획인데 시간이 다른가"라는 질문만 남겨 두는 편이 좋다. 절 제목을 그대로 학습자에게 던져 놓고 각자 어떤 근거를 대는지 몇 개 받아 적어 두면, 뒤의 실측 결과와 대조할 재료가 생긴다.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52106619"/>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여기서 강조할 것은 Buffers가 틀린 지표라는 말이 아니라는 점이다. Buffers는 여전히 SQL 자체의 효율을 재는 가장 좋은 단일 지표이고, 그 자리는 이 장 이후에도 변하지 않는다. 다만 Buffers는 "요청 횟수"를 재는 지표이고 사용자가 체감하는 것은 "시간"이라서, 그 사이를 메우는 변수가 하나 더 있다는 것이 이 장의 주제다. 학습자가 여기서 Buffers 무용론으로 오해하지 않도록 초반에 못을 박아 두는 편이 좋다.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86497164"/>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Chapter 1의 IN과 EXISTS 사례를 다시 꺼내 보여 주면 효과가 크다. 당시 학습자들은 대부분 EXISTS가 원래 빠른 문법이라고 결론을 내렸는데, 실제로는 두 계획이 동일했고 먼저 실행된 쪽이 블록을 캐시에 올려 준 순서 효과였다. 이 장을 마치면 그 현상을 캐시 효과라는 뭉뚱그린 말이 아니라 Logical I/O와 Physical I/O의 차이로 정확히 설명할 수 있게 된다. 해설 6번 문제가 정확히 이 연결을 묻는다는 점도 함께 안내한다.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068176814"/>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실험 설계에서 중요한 것은 변수를 하나만 바꿨다는 점이다. 쿼리도 같고 데이터도 같고 실행계획도 같으며, 오직 버퍼 캐시 상태만 다르다. 그래서 결과 차이의 원인을 캐시로 특정할 수 있다. 강의 중 안전 관련 질문이 반드시 나오는데, 이 명령은 데이터를 지우지 않고 메모리의 사본만 비우므로 데이터 유실은 없다는 점을 분명히 해 준다. 다만 인스턴스 전체가 영향을 받으므로 실습 환경에서만 쓰는 명령이라는 선은 확실히 그어 두어야 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088117846"/>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두 번째 절은 과정 전체에서 써 온 측정 도구를 한자리에 모으는 정리 구간이다. 학습자들은 이미 두 도구를 여러 번 사용했지만, 둘의 차이를 말로 설명해 보라고 하면 대부분 막힌다. 여기서 "실행했는가, 실행하지 않았는가"라는 단 하나의 기준으로 정리해 주면 그 뒤의 모든 지표 설명이 자연스럽게 따라온다. 실습 5번 문제가 바로 이 구분을 서술형으로 묻는다. 도구 이름을 외우는 것보다 각 도구가 답할 수 있는 질문의 범위를 아는 것이 실무에서 훨씬 오래 쓰인다는 말로 절을 열면 좋다.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064400133"/>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두 도구를 대립 구도로 가르치면 학습자가 EXPLAIN PLAN을 열등한 도구로 오해한다. 실제로는 용도가 다르다. EXPLAIN PLAN은 실행 부담 없이 계획만 빠르게 확인하므로, 운영 시간대에 돌리기 겁나는 무거운 SQL의 접근 경로를 미리 훑어볼 때 유용하다. 반면 튜닝의 성과를 증명해야 하는 자리에서는 추정치가 아무 근거가 되지 못하므로 반드시 실측 통계를 써야 한다. 실무에서는 이 둘을 순서대로 쓰는 것이 표준 절차다.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513834454"/>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PLAN은 계획을 PLAN_TABLE에 저장만 하고 화면에 아무것도 뿌리지 않으므로, 반드시 DISPLAY를 이어서 호출해야 한다는 점을 짚어 준다. 여기서 나오는 Rows는 옵티마이저가 통계정보를 근거로 예상한 값이지 실제로 나온 행 수가 아니다. 학습자가 가장 자주 혼동하는 지점이 바로 이 Rows 컬럼인데, 13장에서 다룬 통계정보가 낡으면 이 값이 크게 어긋난다는 사실과 함께 설명하면 이해가 붙는다. 실측이 필요한 자리에 이 값을 근거로 들이대는 실수는 실무에서도 흔하다.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10909930"/>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DISPLAY_CURSOR의 첫 두 인자를 NULL로 두면 현재 세션이 마지막으로 실행한 SQL의 커서를 잡는다. 그래서 측정 대상 SQL을 실행한 직후 바로 호출해야 하고, 중간에 다른 SQL을 끼워 넣으면 엉뚱한 커서를 보게 된다. 실습 중 가장 자주 나오는 실수가 이것이다. ALLSTATS LAST를 빼면 여러 번 실행분이 누적된 값이 나오므로 반복 측정 시 해석이 꼬인다는 점도 함께 알려 준다. 힌트 없이 실행하면 A-Rows 계열 컬럼 자체가 나오지 않는다.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753627525"/>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지표를 외우게 하기보다 각 지표가 답하는 질문 한 문장으로 묶어 주는 편이 오래 남는다. A-Rows는 몇 건을 다뤘는가, Buffers는 몇 번 요청했는가, Reads는 그중 몇 번이 디스크까지 갔는가, A-Time은 결국 얼마나 걸렸는가다. 특히 Reads가 0일 때 컬럼이 아예 사라지는 표시 규칙은 미리 말해 두지 않으면 학습자가 "실행계획 형식이 왜 다르냐"고 당황한다. 이 규칙은 바로 뒤 실측 비교에서 그대로 등장한다.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148457879"/>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실습 5번 문제의 핵심이 여기 있다. 캐시 상태는 계획을 만드는 시점의 정보가 아니라 실행하는 시점의 조건이므로, 실행하지 않는 도구로는 원리상 관측할 수 없다. 이 점을 "도구가 부족해서"가 아니라 "구조상 불가능해서"라고 설명해야 한다. 실무에서 리뷰 자리에 EXPLAIN PLAN 결과만 들고 와서 빨라졌다고 주장하는 경우가 실제로 흔한데, 그 자리에서 되물어야 할 질문이 "실행은 해 보셨습니까"라는 것도 덧붙여 준다.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169985686"/>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용어가 헷갈리는 이유는 Logical이라는 말이 "가짜"처럼 들리기 때문이다. 논리적 I/O도 실제로 일어나는 작업이며, 다만 그 대상이 디스크가 아니라 메모리일 뿐이라고 정리해 준다. 비유를 쓴다면 책상 위에 있는 책을 펴 보는 것이 논리적 I/O, 서고까지 걸어가 책을 꺼내 오는 것이 물리적 I/O다. 요청 횟수는 같아도 두 경우의 소요 시간은 자릿수가 다르다는 점이 이 장 전체의 축이다. 이 자릿수 차이가 뒤의 실측에서 시간 값으로 그대로 드러나므로, 여기서 미리 감을 잡아 두면 실측표를 볼 때 결과에 놀라지 않는다.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603566690"/>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세 번째 절은 이 장의 이론적 뼈대다. 실험 결과를 먼저 보여 주고 원리를 설명하는 순서도 가능하지만, 이 주제만큼은 원리를 먼저 세워 두는 편이 낫다. 숫자를 먼저 보면 학습자가 "웜이 빠르다"는 결론만 챙기고 왜 Buffers는 그대로인지를 그냥 넘겨 버리기 때문이다. 여기서 두 지표가 세는 대상 자체가 다르다는 것을 확실히 못 박고 나서 실측으로 넘어간다. 이 절만 제대로 이해하면 나머지 절은 전부 이 원리의 적용 사례로 읽히므로, 시간이 부족하더라도 여기서는 서두르지 않는 편이 낫다.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631089363"/>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Buffers가 캐시 상태에 흔들리지 않는다는 성질은 단점이 아니라 장점이다. 측정할 때마다 값이 달라지는 지표로는 개선 여부를 판정할 수 없기 때문이다. 그래서 튜닝 전후 비교표를 만들 때 가장 먼저 적어야 할 값이 Buffers다. 다만 이 안정성이 대가로 잃는 것이 바로 시간 정보이고, 그 잃어버린 정보가 다음 슬라이드의 Reads라는 흐름으로 연결해 준다. 실습 1번 문제가 이 두 지표가 각각 무엇을 재는지를 묻는다.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558738627"/>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Buffers ≥ Reads 부등식은 실습 3번의 핵심이다. 학습자에게 그 이유를 물으면 대개 "경험상 그렇다"고 답하는데, 정답은 집합 관계다. Reads는 Buffers라는 전체 요청 중 디스크까지 간 것만 세므로 부분집합이고, 부분이 전체를 넘을 수 없다. 실무에서 이 부등식은 실행계획을 잘못 읽었는지 자가 점검하는 용도로 쓸 수 있다. Reads가 Buffers보다 큰 값으로 보인다면 두 컬럼을 바꿔 읽었거나 다른 통계를 보고 있는 것이다.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312469927"/>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슬라이드는 학습자가 앞으로 성능 테스트를 할 때마다 떠올려야 할 내용이다. 같은 쿼리를 세 번 돌려 보고 제일 빠른 값을 채택하는 습관이 실무에 널리 퍼져 있는데, 그렇게 얻은 값은 캐시가 완전히 예열된 최선의 조건이지 평균적인 운영 조건이 아니다. 반대로 첫 실행값만 쓰는 것도 답은 아니어서, 어느 쪽 조건을 재고 있는지 스스로 알고 기록해 두는 것이 핵심이라는 결론으로 이끈다. 실습 4번과 직결된다.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828448208"/>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실습 9번 문제가 이것이다. 학습자들은 흔히 콜드 캐시를 실험실에서만 만드는 인위적 조건으로 여기는데, 실제로는 운영 환경에서 훨씬 자주 발생한다. 캐시에 올라갈 자격은 최근에 쓰였는지로 결정되므로, 하루에 한 번 도는 배치나 오래된 데이터 조회는 거의 항상 콜드에서 출발한다. 또 하나 짚을 것은 대량 조회가 캐시를 밀어내는 부작용이다. 무거운 쿼리 하나가 다른 쿼리들의 캐시 적중률까지 떨어뜨리는 일이 실무에서 실제로 벌어진다.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118431278"/>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네 번째 절은 실험 설계 구간이다. 결과 숫자보다 절차 자체가 학습 목표라는 점을 강조해야 한다. 학습자가 현업에 돌아가서 그대로 따라 할 수 있는 측정 절차를 손에 쥐어 주는 것이 이 절의 목적이다. 특히 무엇을 고정하고 무엇을 바꾸는지, 그리고 그 결과를 어떤 형식으로 기록할지까지 한 묶음으로 다룬다. 실습 환경이 준비돼 있다면 강사가 직접 두 세션을 띄워 놓고 시연하는 것이 가장 효과적이고, 여의치 않으면 절차를 칠판에 단계별로 적어 두고 진행한다.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503715070"/>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통제 실험의 기본형이다. 하나만 바꾸고 나머지를 고정해야 결과 차이의 원인을 그 하나로 특정할 수 있다. 학습자에게 만약 두 번째 실행에서 조건절 날짜까지 바꿨다면 무엇이 문제인지 물어보면 이해가 빨라진다. 그 경우 차이의 원인이 캐시인지 데이터량인지 구분할 수 없게 된다. 실무에서 튜닝 전후 비교가 신뢰를 못 받는 이유도 대개 여기에 있다. 인덱스도 바꾸고 쿼리도 고치고 시간대도 다른 상태로 비교한 표는 근거가 되지 못한다.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298326750"/>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쿼리 자체는 특별할 것이 없는 단순 범위 조회다. 오히려 단순해야 좋은데, 조인이나 정렬이 섞이면 시간 차이의 원인이 캐시인지 다른 연산인지 흐려지기 때문이다. 조건절이 하루치 범위로 좁혀져 있는데도 뒤에서 보듯 테이블 전체를 훑는 계획이 나오는데, 그 이유는 앞선 장들에서 다룬 접근 경로 선택 문제이지 이 장의 주제는 아니다. 학습자가 그 점을 물으면 이 실험에서는 계획이 두 번 모두 동일하다는 사실이 중요하다고 정리해 준다.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060569420"/>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슬라이드는 교안의 실측값 자체보다 오래 쓰일 내용이다. 실무에서 성능 측정 결과가 신뢰를 잃는 이유는 대개 값이 틀려서가 아니라 조건이 기록되지 않아서다. 몇 번째 실행인지, 그때 계획이 무엇이었는지가 빠진 숫자는 재현할 수 없고, 재현할 수 없는 숫자는 근거가 되지 못한다. 측정 결과를 남길 때 실행계획 원문을 함께 붙여 두는 습관을 권한다. 나중에 다른 사람이 검증할 수 있는 형태로 남기는 것이 핵심이다.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575664227"/>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다섯 번째 절이 이 장의 핵심 실측 구간이다. 두 실행계획을 나란히 놓고 무엇이 같고 무엇이 다른지 학습자에게 먼저 찾게 하면 수업이 살아난다. 대부분은 시간 차이를 먼저 발견하는데, 진짜 봐야 할 것은 Buffers가 같다는 사실이다. 다르다는 것보다 같다는 것이 더 중요한 관찰이라는 점을 이 절에서 확실히 심어 준다. 두 실행계획을 화면에 동시에 띄울 수 없다면 앞뒤로 빠르게 오가며 보여 주기보다, 지표 이름을 하나씩 부르며 값을 비교하는 방식이 훨씬 잘 전달된다.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524678700"/>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계획에서 눈여겨볼 것은 Reads 컬럼의 존재 자체다. 웜 캐시 계획에는 이 컬럼이 아예 없어서 두 출력의 컬럼 구성이 달라 보이는데, 그것이 오류가 아니라 표시 규칙이다. 또 하나, TABLE ACCESS FULL이므로 조건절이 하루치로 좁혀져 있어도 테이블 전체 블록을 요청한다. 그래서 Buffers가 크고, 콜드 상태에서는 그 큰 요청이 거의 그대로 물리 I/O로 이어졌다. 이 구조가 뒤에 나올 "Buffers를 줄여야 하는 이유"의 근거가 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98032977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두 출력을 나란히 놓고 비교할 때 학습자에게 반드시 확인시켜야 할 것은 A-Rows가 같다는 점이다. 같은 결과를 냈다는 확인이 없으면 시간 비교 자체가 성립하지 않는다. Reads 컬럼이 사라진 것을 두고 "값을 못 구한 것 아니냐"고 묻는 경우가 있는데, 0이면 컬럼을 생략하는 것이 DBMS_XPLAN의 표시 방식이다. 실습 2번이 정확히 이 컬럼 소멸의 의미를 묻는 문제이므로, 여기서 답을 다 말해 주기보다 질문만 던져 두는 것도 좋다.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857053760"/>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세 줄이 이 장 전체의 요약이다. 하나만 강조한다면 첫 줄인데, 학습자 대부분은 세 번째 줄의 배율에 시선을 뺏긴다. Buffers가 같다는 사실이 왜 중요한가 하면, 그것이 바로 이 실험에서 SQL 자체는 아무것도 달라지지 않았다는 증거이기 때문이다. SQL이 그대로인데 체감 속도가 수백 배 달라졌다면 원인은 SQL 밖에 있고, 그 원인이 캐시 상태다. 이 논증 구조를 학습자가 스스로 재구성할 수 있게 만드는 것이 목표다.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60436136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실습 3번은 최상 난도로 배치된 추론 문제다. 정확한 원인을 특정하라는 문제가 아니라, 부등식이 왜 성립해야 하는지를 설명하라는 문제라는 점을 짚어 준다. 실무에서도 이런 미세한 차이의 원인을 끝까지 파고들 일은 드물다. 오히려 중요한 것은 값을 봤을 때 이상 여부를 판단할 기준을 갖는 것이다. 두 값이 비슷하면 캐시 적중이 거의 없었다는 뜻이고, Reads가 Buffers보다 훨씬 작으면 캐시가 잘 듣고 있다는 뜻으로 읽으면 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253826592"/>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여섯 번째 절은 이 장의 반성 구간이다. 앞 장들에서 Buffers를 성적표로 삼아 온 방식 자체에 어떤 사각지대가 있었는지 정면으로 다룬다. 지표를 부정하는 것이 아니라 지표의 유효 범위를 정하는 작업이라는 틀로 설명해야 학습자가 혼란스러워하지 않는다. 실무 보고 상황을 가정한 사례로 풀면 몰입도가 높다. 이 절의 두 슬라이드는 같은 이야기를 지표 쪽과 사람 쪽에서 각각 본 것이므로, 앞에서 원리를 확인하고 뒤에서 그 원리가 조직 안에서 어떤 모습으로 나타나는지 이어 준다.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583747317"/>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여기서 학습자가 흔들리기 쉽다. 그동안 Buffers를 믿고 튜닝해 온 것이 헛수고였느냐는 질문이 나오는데, 답은 분명히 아니다. Buffers를 줄이는 튜닝은 여전히 옳고, 오히려 뒤에서 보듯 콜드 상황에서 그 가치가 더 커진다. 문제는 Buffers 하나만으로 성능을 단정한 것이지 Buffers를 본 것 자체가 아니다. 지표는 각자 답할 수 있는 질문의 범위가 있고, 그 범위를 넘겨 쓰면 틀린 결론이 나온다는 정리로 마무리한다.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86517633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실습 4번 문제가 이 상황을 그대로 낸다. 이 슬라이드를 다룰 때는 개발자를 탓하는 이야기로 흐르지 않게 주의한다. 누구든 같은 환경에서 반복 측정하면 자연히 웜 조건을 재게 되므로 이것은 개인의 부주의가 아니라 측정 설계의 문제다. 해결책은 조건을 명시하는 것이다. "웜 캐시 기준"처럼 조건을 붙여 보고하면 그 숫자는 정직해진다. 조건 없는 숫자가 문제이지 숫자가 문제가 아니라는 결론으로 정리한다. 성능 보고서 양식에 측정 조건 칸을 아예 만들어 두는 것도 현실적인 해법이다.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72749804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일곱 번째 절은 실험 결과를 현장 판단으로 옮기는 구간이다. 여기서 학습자가 가져가야 할 결론은 두 가지다. 하나는 개발 환경의 측정값을 운영에 그대로 옮기지 말라는 것이고, 다른 하나는 그렇다고 Buffers 튜닝을 소홀히 하면 안 된다는 것이다. 언뜻 반대 방향처럼 보이는 두 결론이 사실은 같은 원리에서 나온다는 점을 마지막에 묶어 준다. 캐시는 이미 발생한 요청의 비용을 낮춰 주는 장치일 뿐이고 요청 자체를 줄이는 일은 여전히 SQL의 몫이라는 한 문장으로 절을 닫으면 정리가 깔끔하다.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618095291"/>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성능 목표를 세울 때 평균만 보고 상한을 안 보는 것이 흔한 실수다. 장애는 평균에서 나지 않고 최악 조건에서 난다. 웜 기준으로 응답 시간 목표를 잡아 두면, 캐시가 듣지 않는 상황이 왔을 때 목표를 몇 배로 초과하면서 타임아웃이 연쇄로 터진다. 그래서 실무에서는 평소값과 최악값을 함께 기록하고, 최악값 기준으로 타임아웃과 재시도 정책을 설계하라고 권한다. 이 장의 실험은 그 최악값을 통제된 형태로 재현하는 방법을 보여 준 셈이다.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912238279"/>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실습 8번이 이 상황을 스키마에 맞춰 직접 예로 들라는 문제다. 여기서 학습자에게 자기 회사의 사례를 하나씩 말하게 하면 수업이 살아난다. 거의 모든 조직에 월말 정산이나 야간 집계 배치가 있고, 그 배치가 유독 느리다는 경험도 대부분 갖고 있다. 개발 단계에서 소량 데이터로 웜 상태에서 테스트한 뒤 운영에서 대량·콜드로 돌리면 시간이 크게 벌어진다는 구조를 여기서 확실히 연결해 준다. 야간 배치의 소요 시간이 해마다 조금씩 길어지다가 어느 날 아침 업무 시간까지 넘어가 버리는 사고가 대표적인 사례다.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203606829"/>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실습 7번의 논지가 이것이다. 앞 슬라이드에서 캐시 이야기를 하고 나면 학습자가 "그럼 메모리를 늘리면 되는 것 아니냐"는 방향으로 흐르기 쉬운데, 메모리 증설은 한계가 있고 비용도 든다. 반면 Buffers를 줄이는 것은 요청 자체를 없애는 일이라 캐시가 듣든 안 듣든 항상 유효하다. 캐시는 비용을 숨겨 주는 장치이고 튜닝은 비용을 없애는 작업이라는 대비로 정리하면 메시지가 선명해진다. 메모리를 늘려 해결한 문제는 데이터가 늘면 다시 돌아오지만 요청을 줄여 해결한 문제는 돌아오지 않는다는 점도 덧붙일 만하다.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054064330"/>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표를 읽는 방향을 두 가지로 안내하면 이해가 깊어진다. 세로로 읽으면 지표별 성질이 보이고, 가로로 읽으면 상황별 체감이 보인다. 배율 행에서 Reads 칸이 비어 있는 이유도 짚어 준다. 웜 쪽 값이 0이므로 배율을 계산할 수 없기 때문이다. 이런 표를 만들 때 계산되지 않는 칸을 억지로 채우지 않는 태도도 함께 가르칠 만하다. 측정 보고서에서 근거 없는 숫자 한 칸이 전체 신뢰를 무너뜨리는 일이 실제로 자주 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647205248"/>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체크리스트는 수료 후에도 그대로 쓸 수 있게 만든 것이다. 특히 두 번째 항목인 결과 동일성 확인은 놓치기 쉬운데, 빨라진 것이 아니라 덜 읽은 것이었던 사례가 실무에 정말 많다. 조건절을 잘못 고쳐 놓고 성능이 개선됐다고 보고하는 사고가 대표적이다. A-Rows를 먼저 맞춰 놓고 시간을 비교하는 순서를 몸에 배게 해야 한다. 측정은 튜닝의 마지막 단계가 아니라 처음과 끝에 각각 한 번씩 있는 작업이라는 점도 강조한다.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269993014"/>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실습 10번이 이 목록을 스스로 만들라는 문제이므로, 여기서는 정답 표를 외우게 하기보다 순서의 논리를 설명해 주는 편이 좋다. 먼저 옵티마이저가 무엇을 예상했는지 보고, 그 예상이 맞았는지 확인하고, 맞았다면 이 SQL이 효율적인지 보고, 마지막으로 그 효율이 실제 시간으로 이어졌는지 확인하는 흐름이다. 앞 단계에서 문제가 발견되면 뒤 단계를 볼 필요가 없다는 점도 실무에서 시간을 아끼는 요령이다. 다섯 개를 다 볼 시간이 없다면 Buffers와 A-Time 두 개만이라도 반드시 함께 보라고 권한다.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358235758"/>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마지막 장이므로 과정 전체의 지도를 한 번 펼쳐 보이는 슬라이드다. 세 묶음의 관계를 강조해 주면 좋다. 진단 없이 고치면 헛손질이 되고, 고치기만 하고 재지 않으면 성과를 증명할 수 없다. 세 단계가 한 바퀴를 이루는 순환이라는 그림으로 정리한다. 학습자에게 앞으로 실무에서 튜닝을 맡게 되면 어느 단계가 가장 자주 생략되는지 물어보면 대개 측정이라고 답한다. 그 답이 이 장을 마지막에 배치한 이유다.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756089669"/>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요약은 이 장의 정리이자 과정 전체의 마무리다. 다섯 줄 중 마지막 줄에 힘을 주는 편이 좋다. 앞의 네 줄이 측정에 관한 경고라면 마지막 줄은 그 경고에도 불구하고 지금까지 배운 것이 왜 여전히 옳은지를 확인해 주는 문장이기 때문이다. 수업을 닫을 때 학습자가 가져갈 한 문장을 고르라면 "조건 없는 숫자는 근거가 아니다"를 권한다. 도구는 바뀌어도 이 원칙은 남는다. 남은 시간이 있으면 이 다섯 줄을 학습자에게 각자의 문장으로 바꿔 말하게 해 보는 것도 좋은 마무리다.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18955325"/>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장의 실습은 전부 서술형이라 채점보다 토론이 어울린다. 특히 10번은 정답이 하나가 아니므로 몇 명의 목록을 칠판에 나란히 적고 왜 그 지표를 골랐는지 비교해 보게 하면 좋다. 3번과 9번은 정확한 원인 특정보다 논리 구조를 요구하는 문제라는 점을 미리 안내해 주어야 학습자가 헤매지 않는다. 시간이 부족하면 1·2·5·10번을 필수로 두고 나머지를 과제로 돌리는 배분을 권한다. 마지막 장의 실습이므로 앞 챕터의 실습 노트를 옆에 펴 놓고 풀게 하면 6번과 10번의 답이 훨씬 풍부해진다.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062210707"/>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제4장은 앞 장에서 익힌 실행계획 읽기를 판단으로 바꾸는 장이다. Full Scan과 Index Scan 중 어느 쪽이 유리한지를 감이 아니라 비용 구조로 설명하는 것이 목표다. 이 장의 모든 실행계획과 Buffers 값은 진료비청구심사 실습 DB에서 직접 캡처한 실측값이며, 인덱스를 새로 만들지 않고 기존 PK만으로 관찰한다는 점을 미리 알려 준다. 학습자가 이 장을 마치면 인덱스가 있느냐 없느냐가 아니라 테이블이 얼마나 크고 조건이 얼마나 걸러 내느냐로 접근 방식을 예측할 수 있어야 한다. 첫 화면에서 이 목표를 한 문장으로 못 박아 두면 이후 이론 구간이 지루하게 느껴지지 않는다.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811707962"/>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학습 목표는 세 묶음으로 읽어 주면 좋다. 첫째는 용어로, 선택도와 카디널리티를 정확히 구분하는 것이다. 둘째는 비용 구조로, 두 접근 방식이 각각 무엇에 비례해 비싸지는지를 이해하는 것이다. 셋째는 판단으로, 그 구조를 실제 실행계획에 적용해 예측하고 검증하는 능력이다. 특히 마지막 두 항목은 정답이 하나가 아니므로 서술형 실습으로 이어진다는 점을 미리 안내한다. 목표를 읽어 줄 때 지금 몇 개나 설명할 수 있는지 스스로 표시하게 하고, 장 끝에서 같은 목록을 다시 보게 하면 학습 효과를 학습자가 직접 확인할 수 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49304490"/>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장의 흐름은 개념 정의에서 비용 구조로, 다시 두 번의 실측을 거쳐 종합으로 이어진다. 4.2와 4.3은 칠판 설명 구간이고 4.4부터 4.6까지가 실측 구간이다. 실측이 두 번인 이유가 중요한데, 4.5는 테이블 크기 축을, 4.6은 선택도 축을 각각 분리해서 보여 주기 위한 설계다. 두 축을 따로 본 다음 4.8에서 합치는 순서이므로 앞의 실측을 건너뛰면 마지막 종합표가 근거 없는 암기표로 보인다. 시간이 부족하면 이론 구간을 줄이더라도 두 실측은 반드시 다 보여 주는 편이 낫다.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142369493"/>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첫 절은 이 장이 왜 필요한지를 납득시키는 구간이다. 3장을 마친 학습자는 실행계획의 오퍼레이션 이름을 읽을 수 있게 되었지만, 그 계획이 좋은 계획인지 판단할 기준은 아직 없다. 여기서 읽을 수 있다는 것과 판단할 수 있다는 것이 서로 다른 능력이라는 점을 분명히 해 두면, 뒤이어 나오는 비용 구조 설명이 지루한 이론이 아니라 필요한 도구로 받아들여진다. 절 제목을 읽어 준 다음 학습자에게 인덱스를 타는 계획과 안 타는 계획 중 어느 쪽이 좋은 계획이냐고 먼저 물어보면 이 절의 문제의식이 곧바로 살아난다.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884898239"/>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여기서 강조할 것은 이 장이 새로운 기법을 배우는 장이 아니라는 점이다. 인덱스를 만들지도 않고 힌트를 붙이지도 않는다. 대신 옵티마이저의 판단 논리를 따라가 보는 장이다. 실무에서 실행계획을 보고 왜 인덱스를 안 타느냐고 당황하는 상황 대부분이 이 장의 내용을 모르는 데서 온다. 옵티마이저가 인덱스를 버린 것이 버그가 아니라 계산 결과일 수 있다는 가능성을 먼저 열어 두게 한다. 판단의 축이 두 개라는 마지막 줄은 이 장 전체의 목차이기도 하므로 또박또박 짚어 준다.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274655888"/>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통념은 완전히 근거가 없는 것이 아니라, 단건 조회에서 반복적으로 참이었던 경험이 조건 없이 일반화된 결과다. 강사는 통념을 비웃기보다 어떤 조건에서 참이었는지를 되짚게 해야 한다. 실무 사고는 대개 대량 배치나 통계성 조회에 단건 조회의 감각을 그대로 적용할 때 발생한다. 인덱스를 추가하는 것이 언제나 안전한 처방처럼 보이지만 저장 공간과 갱신 비용을 함께 끌고 온다는 점도 여기서 미리 언급해 둔다. 실습문제 6번과 7번이 정확히 이 통념을 반박하는 문항이라는 것도 예고해 두면 좋다.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467053884"/>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소재 설계 의도를 설명해 주는 것이 좋다. 두 관찰을 한 번에 섞으면 크기 때문인지 선택도 때문인지 구분이 되지 않는다. 그래서 앞의 관찰은 크기만 바꾸고 뒤의 관찰은 선택도만 바꾼다. 실험 설계에서 변수를 하나씩 통제하는 것과 같은 방식이며, 학습자가 자기 환경에서 성능 문제를 재현할 때도 똑같이 적용해야 할 습관이다. 인덱스를 새로 만들지 않는 이유도 여기에 있다. 인덱스를 만드는 순간 통제 변수가 하나 더 늘어 관찰 결과의 원인을 특정할 수 없게 되기 때문이다.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899448448"/>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두 번째 절은 이 장 전체에서 쓸 어휘를 정의하는 구간이다. 선택도와 카디널리티는 옵티마이저 문서와 실행계획 해설에서 끊임없이 등장하지만, 학습자 대부분이 두 용어를 섞어 쓴다. 여기서 비율과 개수라는 차이를 확실히 못 박아 두면 뒤의 실행계획 해석이 훨씬 매끄러워진다. 데이터 분포까지 세 항목을 한 묶음으로 다루는 이유는, 선택도가 고정된 성질이 아니라 데이터에 따라 움직이는 값이라는 점을 함께 심어 주기 위해서다. 실습문제 5번이 바로 이 구분을 묻는 문항이다.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386564304"/>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용어의 방향을 헷갈리는 학습자가 많다. 선택도가 좋다는 표현이 현장에서 조건이 잘 걸러 낸다는 뜻으로 쓰이는데, 수치로는 오히려 낮은 값이라는 점이 혼란의 원인이다. 그래서 이 과정에서는 좋다 나쁘다 대신 낮다 높다로만 말하고, 낮으면 인덱스 쪽 높으면 Full Scan 쪽이라고 방향까지 붙여서 외우게 하는 편이 오해가 적다. 여기서 방향을 잡아 두면 4.6절 표를 볼 때 학습자가 스스로 다음 행의 접근 방식을 예측할 수 있게 되고, 그 예측이 맞는 순간 개념이 확실히 자리 잡는다.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054277945"/>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E-Rows와 A-Rows를 카디널리티라는 개념으로 다시 묶어 주는 것이 이 슬라이드의 핵심이다. 3장에서는 두 컬럼을 그냥 추정과 실제로만 배웠지만, 여기서는 그것이 옵티마이저 판단의 입력값이라는 사실을 알게 된다. 추정이 어긋나면 접근 방식 선택 자체가 틀어진다는 인과를 짚어 주면, 통계정보 수집이 왜 튜닝의 기본기인지 자연스럽게 연결된다. 비율과 개수를 구분해야 하는 실무적 이유도 덧붙이면 좋은데, 같은 비율이라도 전체 규모가 다르면 실제 처리량이 완전히 달라지기 때문이다.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876748752"/>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분포 이야기는 이 장의 곁가지처럼 보이지만 실무 사고의 단골 원인이다. 개발 환경에서 잘 돌던 쿼리가 운영에서 느려지는 사례의 상당수가 분포 차이에서 온다. 특히 상태 코드나 구분 값처럼 몇 개 값에 몰리는 컬럼이 위험하다. 이 장에서는 히스토그램을 깊게 다루지 않지만, 선택도가 고정된 성질이 아니라 데이터에 따라 움직인다는 감각만은 반드시 남겨야 한다. 데이터가 쌓이면서 분포가 변했는데 통계를 갱신하지 않으면 옵티마이저의 계산 입력이 낡은 값으로 남는다는 점도 함께 강조한다.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709726928"/>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계산은 실습문제 5번과 동일한 작업이므로, 수업 중에 학습자가 직접 계산기를 두드려 보게 하는 것이 좋다. 여기서 세 값을 미리 손에 쥐고 4.6절 표를 보면 낮은 구간에서는 인덱스, 중간 구간부터는 Full Scan이라는 전환이 훨씬 선명하게 보인다. 예측을 먼저 시키고 실측을 보여 주는 순서를 지키면 마지막 구간의 반전이 강한 인상을 남긴다. 계산 자체는 나눗셈 한 번이지만, 이 숫자를 손으로 구해 본 학습자와 표만 본 학습자의 이해도 차이는 뒤로 갈수록 크게 벌어진다.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768733642"/>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세 번째 절이 이 장의 이론적 핵심이다. 두 접근 방식의 비용이 각각 무엇의 함수인지만 정확히 잡으면, 뒤의 실측 결과는 모두 이 구조의 사례로 정리된다. 칠판에 가로축을 결과 건수, 세로축을 비용으로 두고 수평에 가까운 선과 우상향하는 선 두 개를 그려 놓고 진행하면 학습자의 이해도가 눈에 띄게 올라간다. 그림을 지우지 말고 절이 끝날 때까지 남겨 두면, 클러스터링 팩터와 Index-Only 이야기를 할 때 곡선의 기울기를 손으로 바꿔 가며 설명할 수 있어 훨씬 효과적이다.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5767635"/>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학습자가 가장 자주 틀리는 지점이 결과가 적으니 빨리 끝나겠지라는 직관이다. Full Scan에서 조건은 필터일 뿐이고 읽는 양을 줄여 주지 않는다는 사실을 여기서 못 박아야 한다. 순차 읽기의 단가가 낮다는 점도 함께 말해 주면, 왜 대량 조회에서 Full Scan이 이기는지가 단순한 결론이 아니라 이유 있는 결론이 된다. 조건 검사가 블록을 다 읽어 온 다음에 이루어진다는 순서를 말로 한 번 더 반복시키면 이해도가 확실히 올라간다. 실습문제 1번과 3번이 이 슬라이드에 직접 대응한다.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49291545"/>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여기서 두 단계를 분리해 설명하는 것이 중요하다. 인덱스를 훑는 비용은 대체로 작고 진짜 비용은 테이블로 돌아가는 랜덤 접근에서 발생한다. 이 구분을 해 두면 뒤에 나올 Index-Only 이야기가 자연스럽게 이해된다. 테이블로 돌아갈 필요가 없으면 비싼 절반이 통째로 사라지기 때문이다. 인덱스를 탄다는 말이 항상 같은 비용을 뜻하지 않는다는 점도 짚어 준다. 같은 오퍼레이션 이름이 보여도 뒤에 테이블 접근이 붙어 있는지 여부에 따라 실제 비용은 완전히 달라진다.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138526362"/>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슬라이드가 이 장의 중심 그림이다. 손익분기라는 말로 부르면 학습자가 훨씬 잘 기억한다. 강조할 것은 옵티마이저가 규칙이 아니라 계산으로 고른다는 점이다. 그래서 통계정보가 틀리면 계산의 입력이 틀리고, 결과적으로 접근 방식 선택이 통째로 어긋난다. 실행계획이 이상할 때 통계부터 확인하라는 실무 조언의 근거가 바로 여기에 있다. 인덱스를 타지 않는 계획을 보고 곧바로 힌트를 붙이려는 학습자에게는, 먼저 옵티마이저가 무엇을 근거로 그렇게 계산했는지를 확인하는 순서를 권한다.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194300021"/>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클러스터링 팩터는 이 과정에서 처음 등장하는 개념이므로 비유를 하나 준비해 두면 좋다. 책의 색인 순서대로 페이지를 넘길 때 같은 페이지를 계속 보게 되는지, 매번 책 전체를 오가야 하는지의 차이다. 실무에서는 생성 일시처럼 데이터 입력 순서와 나란한 컬럼의 인덱스가 유리하고, 무작위에 가까운 코드 컬럼은 불리하다. 교안 07절이 이 변수를 교차점이 고정되지 않는 이유로 들고 있다. 같은 테이블이라도 인덱스마다 값이 다르다는 점을 반드시 짚어야 오해가 없다.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581774711"/>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결론은 실습문제 7번의 정답과 직결된다. 학습자에게 인덱스가 공짜가 아니라는 점을 함께 알려 주면 설득력이 커진다. 인덱스는 조회를 도울 수도 있지만 저장 공간을 쓰고 데이터 변경마다 갱신 비용을 유발한다. 이미 저렴한 조회에 인덱스를 붙이면 조회는 그대로거나 나빠지고 갱신만 느려진다. 코드 테이블이나 설정 테이블에 인덱스를 남발하지 말라는 실무 지침의 근거가 여기에 있다. 인덱스를 만들기 전에 지금 이 조회가 정말 비싼지부터 실행계획으로 확인하는 순서를 습관으로 만들어 준다.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862581269"/>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네 번째 절부터 실측 구간이다. 여기서 쓸 두 쿼리는 모두 조건에 맞는 인덱스가 없어 Full Scan 외에는 선택지가 없는 상황을 일부러 만든 것이다. 접근 방식을 고정해 두고 테이블 크기만 바꿔야 크기가 비용에 미치는 영향이 순수하게 드러나기 때문이다. 실험 설계 의도를 먼저 말하고 쿼리를 보여 주는 순서가 좋다. 설계 의도를 모른 채 숫자를 먼저 보면 학습자는 두 쿼리가 그냥 다른 예제라고 생각하고 대비의 의미를 놓친다. 이 절은 짧지만 다음 절의 결론을 만드는 준비 구간이다.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1108068"/>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A는 조건에 많은 행이 걸리는 작은 테이블이고, B는 조건에 거의 걸리지 않는 큰 테이블이다. 결과 건수의 방향과 테이블 크기의 방향을 일부러 반대로 놓은 설계다. 이렇게 해야 결과가 적으면 빠르다는 직관이 성립하지 않는다는 사실이 한눈에 드러난다. 학습자에게 실행계획을 보기 전에 어느 쪽 Buffers가 클지 손을 들어 예측하게 하면 효과가 좋다. 대부분 큰 테이블 쪽이 결과가 적으니 더 쌀 것이라고 답하며, 그 예측이 빗나가는 순간이 이 장에서 가장 인상적인 장면이 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915575203"/>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실험 설계를 슬라이드 한 장으로 정리해 두면 뒤의 숫자가 주장 없이도 스스로 말하게 된다. 통제 변수와 조작 변수를 구분하는 습관은 실무에서 성능 문제를 재현할 때도 그대로 쓰인다. 한 번에 두 가지를 바꾸면 원인을 분리할 수 없다는 점을 여기서 체득시키는 것이 목표다. 예측을 말로 먼저 꺼내 두게 하면 다음 장의 실측이 훨씬 오래 기억에 남는다. 현장에서 튜닝 전후를 비교할 때도 SQL과 인덱스를 동시에 바꿔 놓고 무엇이 효과를 냈는지 설명하지 못하는 사례가 흔하다는 점을 함께 이야기해 준다.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776782439"/>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다섯 번째 절은 이 장의 첫 번째 결정적 장면이다. 두 실행계획을 나란히 보여 주면서 Buffers 한 컬럼만 비교하면 결론이 나온다. 학습자가 스스로 예측한 값과 실측을 대조하게 하는 것이 핵심이며, 예측이 빗나간 학습자일수록 이 장의 내용을 오래 기억한다. 숫자를 읽어 주기 전에 잠깐 시간을 주는 편이 좋다. 두 계획의 오퍼레이션 이름이 같다는 점을 먼저 확인시키면, 차이의 원인이 접근 방식이 아니라는 사실을 학습자가 스스로 좁혀 갈 수 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9292778"/>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먼저 A-Rows와 E-Rows의 차이를 짚는다. 추정이 실제보다 작게 잡혔다는 것은 통계상의 값 분포 가정과 실제 분포가 어긋났다는 뜻이며, 4.2절에서 말한 데이터 분포 이야기와 연결된다. 다만 이 쿼리에서는 어차피 선택지가 Full Scan뿐이라 추정 오차가 계획을 바꾸지는 않았다. 추정 오차가 문제가 되는 경우와 되지 않는 경우가 있다는 점을 여기서 한 번 짚고 넘어간다. 그리고 이 테이블은 조건에 많은 행이 걸렸는데도 블록 접근이 매우 적다는 사실을 다음 슬라이드 대비를 위해 강조해 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41121499"/>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여기가 이 장에서 가장 강한 대비를 만드는 장면이다. 결과는 세 건인데 Buffers는 6,621이다. 학습자에게 이 숫자를 앞 슬라이드의 15와 나란히 놓고 읽게 한다. 추정이 정확했는데도 비용이 큰 이유를 물으면, 추정 정확도와 접근 비용이 별개의 문제라는 것을 스스로 정리하게 된다. 조건에 맞는 인덱스가 없었다는 전제도 다시 확인시켜야 인덱스를 만들면 되지 않느냐는 질문에 미리 답할 수 있다. 실습문제 1번이 정확히 이 두 슬라이드를 비교하는 문항이다.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65661935"/>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변수를 하나씩 지워 나가는 방식으로 결론에 도달하게 하는 것이 이 슬라이드의 구성 의도다. 오퍼레이션이 같으니 접근 방식 탓이 아니고, 결과 건수는 방향이 반대이니 그것도 아니다. 남는 것은 테이블 크기뿐이다. 마지막 줄도 중요한데, A-Time만 보고 판단하면 두 쿼리가 비슷해 보인다. 1장에서 배운 대로 시간이 아니라 자원으로 판단해야 하는 이유가 여기서 다시 확인된다. 같은 시간이 걸렸다고 같은 비용이 든 것이 아니라는 점을 반드시 말로 확인시킨다.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431746293"/>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결론은 이 장의 절반이며, 나머지 절반인 선택도 축과 합쳐져 마지막 종합표가 된다. 실무 적용으로 넘어갈 때 강조할 것은 실행계획을 볼 때의 시선 순서다. 결과 건수부터 보는 습관을 큰 테이블 Full Scan을 먼저 찾는 습관으로 바꾸게 한다. 작은 테이블의 Full Scan을 잡겠다고 인덱스를 만드는 것은 이득이 없다는 점도 다시 확인시킨다. 조건이 읽는 양을 줄여 주지 않는다는 문장은 이 과정 내내 반복해서 쓰이므로 여기서 외우게 해도 좋다.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282620236"/>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여섯 번째 절은 두 번째 축인 선택도를 다룬다. 앞 절과 달리 여기서는 인덱스가 존재하고 사용 가능한 상황이며, 그럼에도 옵티마이저가 인덱스를 버리는 지점을 관찰한다. 기존 PK를 그대로 쓰고 조건 범위만 넓혀 가므로 변수는 선택도 하나뿐이다. 앞 절의 설계 원칙이 여기서도 그대로 적용되고 있다는 점을 짚어 준다. 이 절에는 반전이 하나 더 있는데, 마지막에 나오는 Index-Only 사례가 선택도라는 축 자체를 흔든다는 것이다. 미리 예고하지 말고 순서대로 보여 주는 편이 인상이 강하다.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61394963"/>
      </p:ext>
    </p:extLst>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마지막 두 줄이 이 절 후반부의 복선이다. SUM 대상 컬럼이 인덱스에 없다는 사실을 여기서 미리 심어 두면, 뒤에 나올 COUNT 사례와의 대비가 훨씬 선명해진다. 바인드 변수를 쓴 것도 의도적인데, 같은 SQL 텍스트에서 범위만 바꿔 비교하기 위함이다. 실무에서도 범위 조건은 대개 바인드로 들어오므로 현실적인 형태이기도 하다. 쿼리 자체는 단순하지만 이 한 문장에서 접근 방식이 네 번 바뀐다는 점을 미리 말해 두면 학습자의 집중도가 올라간다.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533885903"/>
      </p:ext>
    </p:extLst>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표를 한꺼번에 읽지 말고 첫 행과 둘째 행 사이의 전환을 먼저 짚는 것이 좋다. 인덱스가 그대로 있는데도 접근 방식이 바뀌었다는 사실 자체가 이 절의 결론이기 때문이다. 그다음에 아래 세 행의 Buffers가 모두 같다는 점을 확인시킨다. 두 관찰이 각각 다른 원칙을 증명하므로 순서를 섞으면 메시지가 흐려진다. 실습문제 2번과 3번이 각각 이 둘을 묻는 문항이므로, 학습자가 표에서 어느 행을 근거로 삼아야 하는지까지 짚어 주면 답안의 질이 달라진다.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689088602"/>
      </p:ext>
    </p:extLst>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슬라이드의 메시지는 하나다. 인덱스의 존재와 인덱스의 사용은 별개라는 것이다. 실무에서 인덱스를 만들었는데 왜 안 타느냐는 질문이 나오면 대개 여기에 답이 있다. 옵티마이저는 인덱스를 쓸 수 있는지가 아니라 쓰는 편이 싼지를 계산한다. 따라서 인덱스를 만든 뒤에는 반드시 실행계획으로 실제 사용 여부를 확인해야 한다는 습관으로 연결해 준다. 정확한 경계가 데이터와 통계에 따라 달라진다는 마지막 줄은 4.7절의 결론을 미리 예고하는 문장이기도 하다.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184734852"/>
      </p:ext>
    </p:extLst>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같은 원칙이 서로 다른 두 실험에서 재현됐다는 점을 강조하면 좋다. 하나의 관찰은 우연일 수 있지만 설계가 다른 두 관찰이 같은 결론을 가리키면 원칙으로 받아들일 만하다. 실습문제 3번이 이 슬라이드를 그대로 묻는 문항이며, 답안에서 다 읽은 뒤에 필터가 적용된다는 순서를 명시했는지를 채점 기준으로 삼으면 이해도를 정확히 가늠할 수 있다. Buffers가 같다는 사실을 우연이나 반올림으로 오해하는 학습자가 가끔 있으므로, 읽는 대상이 언제나 테이블 전체라는 점을 다시 확인시킨다.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572746500"/>
      </p:ext>
    </p:extLst>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Chapter 3에서 다룬 인덱스만으로 끝나는 쿼리와 테이블까지 가야 하는 쿼리의 구분이 여기서 다시 등장한다. 학습자에게 그 구분이 단순한 분류가 아니라 접근 방식 선택의 경계를 움직이는 변수였다는 점을 알려 준다. 실무에서 커버링 인덱스를 설계하는 이유가 정확히 이것이며, 다음 장의 인덱스 설계 논의로 자연스럽게 이어지는 다리 역할을 한다. 비싼 절반이 사라진다는 표현을 쓰면 왜 경계가 그렇게 크게 밀리는지가 직관적으로 전달된다.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707167523"/>
      </p:ext>
    </p:extLst>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실습문제 4번과 6번이 이 슬라이드에 대응한다. 학습자가 흔히 놓치는 것은 WHERE 절만 튜닝의 대상이라고 생각하는 습관이다. 실제로는 SELECT 절에 무엇을 적었는지가 접근 방식을 바꾼다. 실무 조언으로는 필요 없는 컬럼을 습관적으로 나열하지 말라는 것, 특히 모든 컬럼을 가져오는 별표 표기가 커버링 가능성을 통째로 없앤다는 점을 함께 말해 주면 바로 적용할 수 있는 지침이 된다. 같은 인덱스 같은 범위인데 결과가 갈렸다는 사실을 한 번 더 확인시킨다.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871048090"/>
      </p:ext>
    </p:extLst>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마지막 절은 두 축을 합쳐 판단 기준을 만드는 구간이다. 여기서 나오는 요약표는 암기용 규칙이 아니라 앞의 실측을 정리한 결과라는 점을 반복해서 말해야 한다. 표만 사진 찍어 가는 학습자가 매번 나오는데, 근거 열을 함께 읽지 않으면 다음 상황에서 응용할 수 없다. 표의 마지막 열이 왜 붙어 있는지를 설명하는 데 시간을 쓰는 편이 좋다. 이어지는 세 슬라이드는 각각 실습문제 8번, 10번, 9번과 짝을 이루므로 실습 예고를 겸해 진행하면 자연스럽다.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275722190"/>
      </p:ext>
    </p:extLst>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표의 네 행이 같은 층위가 아니라는 점이 이 슬라이드의 핵심이다. 위 두 행은 선택도라는 하나의 축 위에 있는 두 구간이고, 아래 두 행은 그 축만으로는 설명되지 않는 별도의 변수다. 이 구조를 짚지 않으면 학습자는 네 줄을 나란한 규칙으로 외우고 실제 상황에서 충돌하는 판단을 하게 된다. 실습문제 10번이 이 세 변수를 종합하도록 요구한다. 근거 열에 적힌 값들이 모두 앞에서 직접 본 실측이라는 점도 다시 확인시켜 표의 신뢰도를 학습자 스스로 확인하게 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401679101"/>
      </p:ext>
    </p:extLst>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학습자들이 가장 원하는 것이 몇 퍼센트라는 숫자인데, 그 숫자를 주지 않는 것이 이 슬라이드의 목적이다. 대신 무엇을 확인해야 하는지의 목록을 준다. 실무에서 널리 인용되는 경험칙들도 특정 환경의 관찰이 일반화된 것이라는 점을 알려 주면, 인터넷에서 본 수치를 그대로 적용하는 습관을 막을 수 있다. 실습문제 8번이 이 내용을 묻는다. 숫자가 없다는 결론이 무책임하게 들리지 않도록, 대신 실행계획으로 확인하면 언제나 답을 얻을 수 있다는 점을 함께 강조한다.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49238547"/>
      </p:ext>
    </p:extLst>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슬라이드는 실습문제 10번의 모범 답안 골격에 해당한다. 수업 중에 바로 답을 주기보다 학습자에게 먼저 두 조건을 말해 보게 하고 나서 예외 조건을 덧붙이는 순서가 좋다. 대부분 크기와 선택도 두 축까지는 도달하지만 세 번째 변수를 빠뜨린다. 그 빈칸을 스스로 발견하게 하는 것이 이 장의 마무리다. 세 변수가 독립적으로 작동하지 않는다는 문장은 실무 판단에서 특히 중요하므로, 조건을 순서대로 점검하되 결론은 함께 내려야 한다고 정리해 준다.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520636873"/>
      </p:ext>
    </p:extLst>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실습문제 9번을 미리 함께 풀어 보는 슬라이드다. 여기서 중요한 것은 결론이 아니라 도달하는 절차다. 두 축을 순서대로 점검하고 각각의 판단 근거를 말한 다음 결론을 내리는 형식을 연습시킨다. 실무 리뷰에서도 이 형식으로 말할 수 있으면 설득력이 완전히 달라진다. 직접 실행하지 않고도 예측할 수 있다는 자신감을 주는 것이 이 슬라이드의 목적이며, 예측한 뒤에 실제로 실행해 확인해 보라고 권하면 학습이 실습으로 자연스럽게 이어진다.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885491473"/>
      </p:ext>
    </p:extLst>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장 사이의 연결을 명시적으로 보여 주면 학습자가 전체 지도를 갖게 된다. 이번 장은 판단의 장이고 다음 장은 설계의 장이라는 대비를 강조한다. 특히 이번 장에서 배운 세 개념이 각각 다음 장의 어느 결정에 쓰이는지 한 줄씩 짝지어 두면, 개념만 배우고 끝났다는 느낌 없이 다음 차시로 넘어갈 수 있다. 인덱스를 만들어 보고 싶어 몸이 근질거리는 학습자가 이 시점에 가장 많으므로, 다음 장에서 충분히 만들어 볼 것이라고 분명히 약속해 두는 것도 좋다.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55812002"/>
      </p:ext>
    </p:extLst>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요약 여덟 줄 중 앞의 세 줄이 비용 구조, 가운데 세 줄이 관찰 결과, 마지막 두 줄이 실무 지침에 해당한다. 학습자에게 이 화면을 남겨 두고 실습을 시작하게 하면 좋다. 특히 다섯 번째 줄과 여섯 번째 줄은 인덱스는 항상 옳다는 통념을 정면으로 반박하는 문장이므로, 실습 답안에서 이 두 문장을 근거로 쓸 수 있는지가 이해도의 척도가 된다. 첫 줄과 마지막 줄만이라도 외워 두면 앞으로 어떤 실행계획을 보든 첫 질문을 던질 수 있다고 안내한다.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573679758"/>
      </p:ext>
    </p:extLst>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이번 장의 실습은 전부 서술형이며 SQL을 새로 작성하는 문항이 없다. 따라서 채점 기준은 결론의 일치가 아니라 근거로 삼은 값과 논리의 순서다. 특히 9번과 10번은 정답이 하나가 아니므로, 두 축을 모두 언급했는지와 Index-Only라는 세 번째 변수를 빠뜨리지 않았는지를 기준으로 보면 된다. 실습 중 인덱스를 만들어 보고 싶어 하는 학습자가 있으면 다음 장에서 다룬다고 안내하고, 지금 인덱스를 만들면 교안의 실행계획이 재현되지 않는다는 점을 분명히 말해 준다.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803904407"/>
      </p:ext>
    </p:extLst>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제5장은 4장에서 확인한 '인덱스가 유리한 상황'의 바로 다음 질문에 답하는 장이다. 인덱스를 만들기로 했다면 어떤 컬럼을 어떤 순서로 묶을 것인가가 남는데, 이 결정 하나가 실행계획을 통째로 바꿔 놓는다는 사실을 실측으로 보여 준다. 이 장의 모든 값은 진료비청구심사 실습 DB에서 직접 캡처한 것이라 학습자가 같은 인덱스를 만들어 그대로 재현할 수 있다. 첫 시간에 강조할 문장은 하나다. 인덱스는 만들었다고 쓰이는 것이 아니라 조회 조건과 컬럼 순서가 맞아떨어져야 비로소 쓰인다는 점이다.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500709278"/>
      </p:ext>
    </p:extLst>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학습 목표는 세 묶음으로 읽어 주면 좋다. 첫째는 용어로, 복합 인덱스와 선두 컬럼의 정의를 정확히 세우는 것이다. 둘째는 관찰로, 같은 두 컬럼을 순서만 바꿔 만든 두 인덱스의 실행계획을 읽고 차이가 어디서 생겼는지 지목하는 능력이다. 셋째는 설계 판단으로, 조회 패턴을 근거로 순서를 정하고 인덱스를 몇 개까지 둘지 저울질하는 태도다. 이 장은 새로운 문법을 배우는 장이 아니라 결정을 내리는 기준을 세우는 장이라는 점을 미리 알려 주면 학습자의 기대가 어긋나지 않는다.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656785457"/>
      </p:ext>
    </p:extLst>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전체 흐름은 '용어 세우기 → 원리 이해하기 → 순서를 뒤집어 실측으로 확인하기'다. 5.2와 5.3에서 선두 컬럼이라는 개념을 정확히 세우고, 5.4부터 5.6까지가 이 장의 몸통이다. 같은 두 컬럼으로 만든 인덱스 두 개를 두고 동일한 세 조건을 실행한 결과를 나란히 놓고 읽는다. 시간이 부족하면 5.2를 축약하고 5.5와 5.6에 시간을 몰아 주는 편이 학습 효과가 크다. 절이 바뀔 때마다 앞 절의 결론을 한 문장으로 이어 주면 맥락이 끊기지 않는다.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565673506"/>
      </p:ext>
    </p:extLst>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첫 절은 동기 부여 구간이다. 학습자 대부분은 인덱스를 '만들면 빨라지는 것'으로 알고 오는데, 4장에서 확인한 것은 인덱스가 유리한 상황이 따로 있다는 사실까지였다. 그 다음 질문인 '어떤 컬럼을 어떤 순서로 묶을 것인가'는 아직 답하지 않았다. 이 절에서는 기법을 하나도 알려 주지 않고, 설계 결정이 왜 필요한지만 합의한다. 학습자에게 지금까지 인덱스를 어떤 기준으로 만들어 왔는지 먼저 물어보고 시작하면 이후 실측 결과가 훨씬 강하게 와닿는다.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316427658"/>
      </p:ext>
    </p:extLst>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여기서 4장과 5장의 경계를 분명히 그어 준다. 4장은 '인덱스를 쓸 것인가 말 것인가'를 다뤘고, 5장은 '쓰기로 했다면 어떻게 만들 것인가'를 다룬다. 실무에서 성능 사고가 나는 지점은 대개 후자다. 인덱스가 아예 없어서 느린 경우보다, 인덱스는 있는데 조회 조건과 컬럼 순서가 어긋나서 쓰이지 못하는 경우가 훨씬 흔하고 발견하기도 어렵다. 이 장의 실측이 바로 그 상황을 눈으로 확인시켜 준다는 점을 예고해 두면 집중도가 올라간다.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789828656"/>
      </p:ext>
    </p:extLst>
  </p:cSld>
  <p:clrMapOvr>
    <a:masterClrMapping/>
  </p:clrMapOvr>
</p:notes>
</file>

<file path=ppt/notesSlides/notesSlide2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슬라이드는 실습문제 6번, 9번과 직접 연결된다. 현장에서 흔한 장면은 느린 쿼리가 나올 때마다 인덱스를 하나씩 추가하는 것이다. 몇 달 지나면 테이블 하나에 인덱스가 여러 개 쌓이는데, 정작 그중 상당수는 조회 조건과 맞지 않아 쓰이지 않으면서 DML 비용만 늘린다. 쓰이지 않는 인덱스도 비용은 동일하게 낸다는 사실을 여기서 못 박아 두면, 뒤에 나올 트레이드오프 이야기가 훨씬 구체적으로 받아들여진다.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980937601"/>
      </p:ext>
    </p:extLst>
  </p:cSld>
  <p:clrMapOvr>
    <a:masterClrMapping/>
  </p:clrMapOvr>
</p:notes>
</file>

<file path=ppt/notesSlides/notesSlide2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진행 방식을 먼저 보여 주는 이유는 실험 설계 자체가 이 장의 교육 내용이기 때문이다. 변수를 하나만 바꾸고 나머지를 고정한다는 원칙, 즉 컬럼 구성은 그대로 두고 순서만 뒤집는다는 설계가 결과 해석을 명확하게 만든다. 실습 인덱스에는 접두어를 붙여 두고 차시가 끝나면 반드시 삭제한 뒤 통계를 다시 수집해야 한다는 점도 함께 안내한다. 정리하지 않으면 다음 챕터의 실행계획이 재현되지 않아 이후 실습 전체가 어긋난다.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094273687"/>
      </p:ext>
    </p:extLst>
  </p:cSld>
  <p:clrMapOvr>
    <a:masterClrMapping/>
  </p:clrMapOvr>
</p:notes>
</file>

<file path=ppt/notesSlides/notesSlide2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절은 용어를 정확히 세우는 구간이다. 학습자들이 이미 들어 본 단어들이지만 정의가 흐릿한 채로 쓰는 경우가 많다. 특히 '선두 컬럼'은 이 장 전체를 관통하는 개념이라 여기서 한 번 정확하게 못 박아 둬야 뒤의 실측 해석이 막히지 않는다. 설명은 짧게 하고, 대신 정렬 구조 개념도를 보여 준 뒤 학습자가 직접 '이 인덱스에서 선두 컬럼은 무엇인가'를 답하게 하는 편이 정착률이 높다. 용어가 흔들리면 뒤의 실행계획 해석은 전부 암기가 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502389496"/>
      </p:ext>
    </p:extLst>
  </p:cSld>
  <p:clrMapOvr>
    <a:masterClrMapping/>
  </p:clrMapOvr>
</p:notes>
</file>

<file path=ppt/notesSlides/notesSlide2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B-Tree에서 학습자가 반드시 가져가야 할 성질은 트리라는 자료구조가 아니라 '정렬되어 있다'는 한 가지다. 트리의 깊이나 분기 방식은 이 장에서 다루지 않아도 실측 결과를 해석하는 데 지장이 없다. 대신 인덱스가 값과 ROWID만 담는다는 점은 지금 짚어 둬야 한다. 뒤에서 INDEX FAST FULL SCAN이 TABLE ACCESS FULL보다 저렴하게 나오는 이유가 바로 이 성질이기 때문이다. 실습문제 4번이 정확히 이 대목을 묻는다는 점도 함께 예고해 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251236357"/>
      </p:ext>
    </p:extLst>
  </p:cSld>
  <p:clrMapOvr>
    <a:masterClrMapping/>
  </p:clrMapOvr>
</p:notes>
</file>

<file path=ppt/notesSlides/notesSlide2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여기서 가장 흔한 오해를 정리한다. 복합 인덱스를 '두 컬럼 각각의 인덱스를 합쳐 놓은 것'으로 이해하는 학습자가 많은데, 그렇지 않다. 두 컬럼을 하나의 정렬 기준으로 이어 붙인 단일 구조물이며, 그래서 순서가 곧 성격이 된다. 같은 컬럼 집합인데 순서가 다른 두 인덱스는 데이터베이스 입장에서 완전히 다른 객체라는 점을 분명히 해 둔다. 이 오해가 남아 있으면 뒤의 실측에서 순서만 바꿨는데 결과가 뒤바뀌는 것을 이상하게 여기게 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678751107"/>
      </p:ext>
    </p:extLst>
  </p:cSld>
  <p:clrMapOvr>
    <a:masterClrMapping/>
  </p:clrMapOvr>
</p:notes>
</file>

<file path=ppt/notesSlides/notesSlide2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정의를 여기서 정확히 못 박아야 한다. 학습자가 흔히 빠지는 함정은 HOSP_ID처럼 자주 쓰는 컬럼이 '원래 선두 컬럼이어야 하는 컬럼'이라고 믿는 것이다. 선두 컬럼은 컬럼의 성질이 아니라 인덱스 정의에서의 위치다. 뒤에서 인덱스 B를 만들면 같은 HOSP_ID가 후행 컬럼이 되어 정반대 결과가 나오는데, 그 실측이 이 정의를 그대로 증명한다. 실습문제 2번이 바로 이 지점을 서술하게 하는 문항이니 미리 연결해 준다.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667206254"/>
      </p:ext>
    </p:extLst>
  </p:cSld>
  <p:clrMapOvr>
    <a:masterClrMapping/>
  </p:clrMapOvr>
</p:notes>
</file>

<file path=ppt/notesSlides/notesSlide2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개념도를 설명할 때는 전화번호부 비유를 먼저 말하고 도식을 나중에 보여 주는 순서가 이해가 빠르다. 성을 알면 해당 페이지로 바로 넘길 수 있지만 이름만 알면 처음부터 넘겨야 한다는 경험은 누구나 가지고 있기 때문이다. 여기서 '흩어져 있다'는 표현을 강조한다. 후행 컬럼 값이 인덱스에 없는 것이 아니라 분명히 다 들어 있지만 한곳에 모여 있지 않다는 것이 핵심이다. 이 구분이 흐려지면 뒤에서 Fast Full Scan이 왜 결과를 정확히 찾아내는지 설명하기 어려워진다. 실습문제 7번이 이 비유를 실측과 대응시키도록 요구한다.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652066706"/>
      </p:ext>
    </p:extLst>
  </p:cSld>
  <p:clrMapOvr>
    <a:masterClrMapping/>
  </p:clrMapOvr>
</p:notes>
</file>

<file path=ppt/notesSlides/notesSlide2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절이 이 장의 이론적 중심이다. 여기서 원리를 세워 두면 5.5와 5.6의 실측 결과는 확인 작업이 된다. 반대로 이 절을 대충 넘기면 뒤의 숫자들이 그냥 외워야 할 표로 전락한다. 설명 순서는 정렬 규칙에서 출발해 조건에 선두 컬럼이 있을 때와 없을 때로 갈라 가는 흐름이 자연스럽다. 마지막에 인덱스의 비용을 다루는 이유는, 순서를 못 정하겠으면 인덱스를 두 개 만들면 된다는 손쉬운 결론으로 학습자가 달려가는 것을 막기 위해서다.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834402671"/>
      </p:ext>
    </p:extLst>
  </p:cSld>
  <p:clrMapOvr>
    <a:masterClrMapping/>
  </p:clrMapOvr>
</p:notes>
</file>

<file path=ppt/notesSlides/notesSlide2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정렬 규칙을 말로만 설명하면 절반 정도만 따라온다. 앞 슬라이드의 개념도를 다시 띄워 두고 손가락으로 짚어 가며 설명하는 편이 효과적이다. 특히 '구간이 달라지면 후행 컬럼 정렬이 다시 시작된다'는 부분이 핵심이다. 이 성질 때문에 후행 컬럼 값 하나가 인덱스 전체에 흩어지고, 그래서 시작 위치를 짚을 수 없게 된다. 여기까지 이해하면 뒤의 실행계획은 스스로 예측할 수 있게 된다. 예측을 먼저 시키고 실측을 보여 주는 순서를 권한다.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209337462"/>
      </p:ext>
    </p:extLst>
  </p:cSld>
  <p:clrMapOvr>
    <a:masterClrMapping/>
  </p:clrMapOvr>
</p:notes>
</file>

<file path=ppt/notesSlides/notesSlide2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INDEX RANGE SCAN이라는 이름을 여기서 풀어 준다. Range는 정렬된 구간을 뜻하고, 시작과 끝을 알고 있으므로 그 사이만 읽는다는 의미다. 이 이름의 뜻을 이해하면 왜 후행 컬럼만으로는 Range Scan이 불가능한지가 자동으로 따라온다. 시작과 끝을 짚을 수 없기 때문이다. 학습자에게 실행계획의 오퍼레이션 이름을 외우게 하지 말고 이름이 무엇을 서술하고 있는지 읽게 하는 습관을 들이면 이후 챕터에서 처음 보는 오퍼레이션도 스스로 해석하게 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399952081"/>
      </p:ext>
    </p:extLst>
  </p:cSld>
  <p:clrMapOvr>
    <a:masterClrMapping/>
  </p:clrMapOvr>
</p:notes>
</file>

<file path=ppt/notesSlides/notesSlide2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여기서 학습자가 자주 오해하는 지점을 짚는다. 후행 컬럼만 조건일 때 인덱스가 '못 쓰인다'고 단정하는 경우가 많은데, 정확히는 Range Scan 형태로 못 쓰일 뿐이고 Fast Full Scan이라는 다른 형태로는 쓰일 수 있다. 이 구분이 중요한 이유는 뒤에서 볼 실측에서 실제로 인덱스가 쓰였고, 심지어 Full Table Scan보다 저렴했기 때문이다. 못 쓰인다와 다르게 쓰인다는 전혀 다른 이야기라는 점을 분명히 하고 넘어가야 실측 결과에서 혼란이 생기지 않는다.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70246976"/>
      </p:ext>
    </p:extLst>
  </p:cSld>
  <p:clrMapOvr>
    <a:masterClrMapping/>
  </p:clrMapOvr>
</p:notes>
</file>

<file path=ppt/notesSlides/notesSlide2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인덱스를 공짜로 여기는 인식을 여기서 교정한다. 개발 단계에서는 데이터가 적고 DML도 드물어 비용이 전혀 드러나지 않는다는 점이 함정이다. 문제는 운영에 올라가 대량 입력이 시작된 뒤에 터진다. 그래서 인덱스를 추가할 때는 이 테이블에 DML이 얼마나 자주, 얼마나 크게 일어나는지를 함께 확인하는 절차가 필요하다는 실무 이야기를 덧붙이면 좋다. 이 장에서는 DML 비용을 실측하지 않고 원리로만 짚는다는 점도 정직하게 밝혀 준다.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647388267"/>
      </p:ext>
    </p:extLst>
  </p:cSld>
  <p:clrMapOvr>
    <a:masterClrMapping/>
  </p:clrMapOvr>
</p:notes>
</file>

<file path=ppt/notesSlides/notesSlide2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슬라이드는 실습문제 6번과 9번의 근거가 된다. 학습자가 가장 쉽게 도달하는 결론이 '둘 다 만들면 되지 않나'인데, 그 판단이 틀렸다는 것이 아니라 비용을 알고 내려야 하는 판단이라는 점을 강조한다. 실시간 대량 INSERT가 계속 일어나는 시스템이라면 인덱스 추가가 오히려 그 INSERT를 느리게 만들 수 있다. 반대로 야간 배치로만 적재되는 테이블이라면 인덱스를 넉넉히 두어도 부담이 적다. 판단의 축이 무엇인지를 알려 주는 것이 이 슬라이드의 목적이다.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436669472"/>
      </p:ext>
    </p:extLst>
  </p:cSld>
  <p:clrMapOvr>
    <a:masterClrMapping/>
  </p:clrMapOvr>
</p:notes>
</file>

<file path=ppt/notesSlides/notesSlide2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절은 짧지만 건너뛰면 안 되는 구간이다. 실험 설계를 이해하지 못한 채 결과표를 보면 숫자만 남고 의미가 남지 않는다. 여기서 확인시킬 것은 두 가지다. 첫째, 두 인덱스는 컬럼 구성이 완전히 같고 순서만 다르다. 둘째, 세 조건은 두 인덱스에서 동일하게 실행된다. 변수를 하나만 바꿨기 때문에 결과 차이의 원인을 순서 하나로 귀속시킬 수 있다는 점이 이 실험의 힘이다. 이 논리를 학습자가 스스로 설명하게 해 보면 좋다.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412649020"/>
      </p:ext>
    </p:extLst>
  </p:cSld>
  <p:clrMapOvr>
    <a:masterClrMapping/>
  </p:clrMapOvr>
</p:notes>
</file>

<file path=ppt/notesSlides/notesSlide2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실험 설계의 원칙을 여기서 한 번 정리해 준다. 변수를 하나만 바꾸고 나머지를 고정한다는 것은 성능 비교의 기본인데, 실무 벤치마크에서 가장 자주 어겨지는 원칙이기도 하다. 인덱스를 바꾸면서 동시에 SQL도 고치고 통계도 다시 수집하면, 개선이 나와도 무엇 덕분인지 말할 수 없다. 이 장의 실험이 깔끔한 결론을 낼 수 있는 이유가 설계에 있다는 점을 짚어 주면, 학습자가 자기 현장에서 벤치마크를 설계할 때 그대로 가져다 쓸 수 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594479295"/>
      </p:ext>
    </p:extLst>
  </p:cSld>
  <p:clrMapOvr>
    <a:masterClrMapping/>
  </p:clrMapOvr>
</p:notes>
</file>

<file path=ppt/notesSlides/notesSlide2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SQL을 보여 준 직후 학습자에게 예측을 시킨다. 세 조건 중 어느 것이 가장 저렴할 것 같은지, 그리고 가장 비쌀 것 같은지를 손을 들어 고르게 하고 칠판에 기록해 둔다. 뒤에서 실측과 대조하면 기억에 훨씬 오래 남는다. COUNT(*)를 쓴 이유도 짚어 준다. 결과 컬럼을 가져오려 하면 테이블 접근 단계가 끼어들어 실행계획이 복잡해지는데, 지금 관심사는 인덱스를 어떤 방식으로 읽었는가 하나이기 때문이다. 실험은 관심사 외의 요소를 최대한 걷어 내는 것이 좋다는 원칙도 함께 전한다.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040784110"/>
      </p:ext>
    </p:extLst>
  </p:cSld>
  <p:clrMapOvr>
    <a:masterClrMapping/>
  </p:clrMapOvr>
</p:notes>
</file>

<file path=ppt/notesSlides/notesSlide2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슬라이드가 실험의 지도 역할을 한다. 조건 두 개와 인덱스 두 개가 만드는 네 칸의 표를 머릿속에 그려 두면 뒤의 결과가 훨씬 쉽게 읽힌다. 여기서 학습자에게 미리 예측을 적어 두게 하는 것을 권한다. 인덱스 A에서 조건 ②가 저렴했다면 인덱스 B에서는 어떻게 될 것 같은지 답하게 하는 식이다. 대부분 정답에 가깝게 예측하는데, 스스로 예측한 것을 실측으로 확인하는 경험이 개념 정착에 가장 효과가 좋다. 실습문제 1번과 8번이 이 구조를 그대로 묻는다.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756694228"/>
      </p:ext>
    </p:extLst>
  </p:cSld>
  <p:clrMapOvr>
    <a:masterClrMapping/>
  </p:clrMapOvr>
</p:notes>
</file>

<file path=ppt/notesSlides/notesSlide2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실측 슬라이드는 천천히 넘긴다. 표를 한꺼번에 설명하지 말고 Operation 열만 먼저 세로로 읽히면 부담이 훨씬 적다. 세 행 중 두 행이 같은 오퍼레이션이고 한 행만 다르다는 사실을 학습자가 스스로 발견하게 한 다음, 그 한 행이 왜 다른지를 묻는 순서가 좋다. Buffers 값은 그 뒤에 본다. 숫자를 먼저 보여 주면 크고 작음에만 눈이 가고 왜 그런지는 묻지 않게 된다. 발견하게 만드는 순서가 설명하는 순서보다 언제나 강하다.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597225205"/>
      </p:ext>
    </p:extLst>
  </p:cSld>
  <p:clrMapOvr>
    <a:masterClrMapping/>
  </p:clrMapOvr>
</p:notes>
</file>

<file path=ppt/notesSlides/notesSlide2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표를 읽는 순서를 정해 준다. 먼저 Operation 열만 세로로 훑어 위 두 행이 같고 세 번째만 다르다는 것을 확인시킨다. 다음으로 그 세 행의 조건을 다시 보게 하면 선두 컬럼의 포함 여부가 갈림길이라는 사실이 스스로 드러난다. Buffers는 마지막에 본다. A-Rows 열도 함께 짚어 주면 좋은데, 결과 건수가 많다고 비싼 것이 아니라는 점이 드러나기 때문이다. 두 번째 행은 세 번째 행보다 결과가 훨씬 많은데도 Buffers는 비교할 수 없이 적다.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937270675"/>
      </p:ext>
    </p:extLst>
  </p:cSld>
  <p:clrMapOvr>
    <a:masterClrMapping/>
  </p:clrMapOvr>
</p:notes>
</file>

<file path=ppt/notesSlides/notesSlide2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여기서 강조할 것은 결과 건수와 비용의 관계다. 두 번째 행은 결과가 3,058건으로 첫 행보다 훨씬 많은데도 Buffers는 12에 그쳤다. 필요한 구간만 순서대로 읽었기 때문이다. 학습자가 흔히 갖는 오해는 결과가 많으면 무조건 비싸다는 것인데, 인덱스를 제대로 탄 경우에는 결과 건수에 비례해 완만하게 늘어날 뿐이다. 비용이 급격히 튀는 것은 읽는 방식이 바뀔 때다. 다음 슬라이드에서 그 사례를 보게 된다는 예고로 넘어가면 흐름이 자연스럽다.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493119099"/>
      </p:ext>
    </p:extLst>
  </p:cSld>
  <p:clrMapOvr>
    <a:masterClrMapping/>
  </p:clrMapOvr>
</p:notes>
</file>

<file path=ppt/notesSlides/notesSlide2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여기서 반드시 교정할 오해가 있다. RECEIPT_DATE 값이 인덱스에 없어서 못 찾는 것이 아니다. 값은 분명히 다 들어 있고, 다만 여러 HOSP_ID 구간에 흩어져 있어서 어디부터 어디까지 읽으면 되는지를 짚을 수 없을 뿐이다. 그래서 전부 읽고 걸러 내는 방식으로 처리된 것이고, 결과는 정확하지만 비용이 커졌다. 앞의 전화번호부 비유를 다시 꺼내면 이해가 빠르다. 실습문제 1번과 7번이 이 대목을 서술하게 하는 문항이다.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339396270"/>
      </p:ext>
    </p:extLst>
  </p:cSld>
  <p:clrMapOvr>
    <a:masterClrMapping/>
  </p:clrMapOvr>
</p:notes>
</file>

<file path=ppt/notesSlides/notesSlide2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슬라이드가 실습문제 4번의 정답 근거다. 학습자가 헷갈리는 이유는 '인덱스를 제대로 못 탔다'와 '인덱스가 도움이 안 됐다'를 같은 말로 받아들이기 때문이다. 실제로는 못 탄 상태에서도 인덱스가 더 작은 구조물이라는 이유만으로 이득이 남았다. 여기서 953과 12의 차이도 함께 상기시켜 준다. Full Table Scan보다 낫다는 사실이 Range Scan을 포기해도 된다는 뜻은 아니기 때문이다. 두 비교를 나란히 놓아야 판단이 균형을 잡는다.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840121434"/>
      </p:ext>
    </p:extLst>
  </p:cSld>
  <p:clrMapOvr>
    <a:masterClrMapping/>
  </p:clrMapOvr>
</p:notes>
</file>

<file path=ppt/notesSlides/notesSlide2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절이 이 장의 클라이맥스다. 앞 절의 결과를 학습자가 충분히 소화한 상태에서 순서만 뒤집은 인덱스를 던지면 예측과 확인의 리듬이 살아난다. 인덱스 B의 결과표를 바로 보여 주지 말고, 앞 표를 다시 띄운 채로 '순서를 뒤집으면 이 표가 어떻게 바뀔 것 같은가'를 먼저 묻는 것을 강력히 권한다. 정답을 맞히든 틀리든 그 순간에 개념이 정리된다. 절 제목에 Bad SQL이라 적혀 있지만 여기서 나쁜 것은 SQL이 아니라 인덱스 정의라는 점도 짚어 준다. 같은 SQL이 인덱스 하나 때문에 좋은 쿼리도 나쁜 쿼리도 될 수 있다는 사실이 이 절의 메시지다. 이 절만큼은 시간을 아끼지 않는 편이 좋다.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924684350"/>
      </p:ext>
    </p:extLst>
  </p:cSld>
  <p:clrMapOvr>
    <a:masterClrMapping/>
  </p:clrMapOvr>
</p:notes>
</file>

<file path=ppt/notesSlides/notesSlide2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주석의 마지막 두 줄이 이 슬라이드의 전부다. SQL은 한 글자도 바뀌지 않았는데 HOSP_ID가 후행 컬럼이 되고 RECEIPT_DATE가 선두 컬럼이 됐다. 선두 컬럼이 컬럼의 성질이 아니라 인덱스 정의에서의 위치라는 정의가 여기서 눈으로 확인된다. 인덱스 A를 반드시 먼저 삭제해야 한다는 점도 짚어 준다. 두 인덱스가 동시에 존재하면 옵티마이저가 더 유리한 쪽을 고르기 때문에 순서의 영향만 분리해서 볼 수 없게 된다. 실습에서 학습자들이 가장 자주 놓치는 부분이다.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07557321"/>
      </p:ext>
    </p:extLst>
  </p:cSld>
  <p:clrMapOvr>
    <a:masterClrMapping/>
  </p:clrMapOvr>
</p:notes>
</file>

<file path=ppt/notesSlides/notesSlide2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앞 표와 나란히 놓고 비교하는 것이 핵심이다. 화면을 번갈아 띄우기 어렵다면 두 표의 Buffers 열만 칠판에 옮겨 적어 두는 것도 방법이다. 학습자가 스스로 발견해야 할 것은 세 가지다. 첫 행은 거의 그대로라는 점, 나머지 두 행의 오퍼레이션이 서로 자리를 바꿨다는 점, 그리고 A-Rows 열은 전혀 바뀌지 않았다는 점이다. 마지막 관찰이 특히 중요하다. 결과는 완전히 동일한데 읽는 방식과 비용만 달라졌다는 뜻이기 때문이다.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992262095"/>
      </p:ext>
    </p:extLst>
  </p:cSld>
  <p:clrMapOvr>
    <a:masterClrMapping/>
  </p:clrMapOvr>
</p:notes>
</file>

<file path=ppt/notesSlides/notesSlide2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슬라이드가 이 장에서 가장 중요한 장이다. 실습문제 2번이 정확히 이 현상을 근거로 선두 컬럼의 정의를 설명하게 한다. 강조할 문장은 하나다. 바뀐 것은 인덱스 정의 한 줄뿐이고 SQL도 데이터도 그대로인데 비용이 완전히 뒤집혔다. 실무에서 이 사실이 무서운 이유는, 인덱스를 리팩터링하면서 컬럼 순서를 무심코 바꾸면 잘 돌던 화면 하나가 조용히 느려지기 때문이다. 그런 변경은 코드 리뷰에서 잘 걸러지지 않는다는 점도 함께 말해 준다.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310221332"/>
      </p:ext>
    </p:extLst>
  </p:cSld>
  <p:clrMapOvr>
    <a:masterClrMapping/>
  </p:clrMapOvr>
</p:notes>
</file>

<file path=ppt/notesSlides/notesSlide2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슬라이드는 실습문제 3번의 근거다. 여기서 조심할 것은 '두 컬럼을 다 쓰면 순서는 아무 상관 없다'는 과잉 일반화다. 이번 사례에서 차이가 없었던 것은 최종 결과가 11건으로 매우 적었기 때문이고, 각 컬럼의 선택도가 크게 다른 경우에는 중간 단계에서 걸러지는 양이 달라져 차이가 생길 수 있다. 실측 결과의 적용 범위를 스스로 한정하는 습관을 여기서 가르친다. 이 습관이 없으면 학습자는 하나의 실측을 만능 법칙으로 만들어 버린다.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756684642"/>
      </p:ext>
    </p:extLst>
  </p:cSld>
  <p:clrMapOvr>
    <a:masterClrMapping/>
  </p:clrMapOvr>
</p:notes>
</file>

<file path=ppt/notesSlides/notesSlide2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문장이 이 장 전체의 결론이다. 학습자들이 인덱스를 만들 때 습관적으로 하는 행동은 'PK 순서대로' 또는 '테이블 컬럼 정의 순서대로' 묶는 것인데, 두 기준 모두 조회 패턴과 아무 관련이 없다. 인덱스는 데이터를 위해 만드는 것이 아니라 조회를 위해 만드는 구조물이라는 관점을 여기서 심어 준다. 그래서 설계의 출발점은 테이블 정의서가 아니라 화면 목록과 쿼리 목록이어야 한다는 실무 이야기를 덧붙이면 다음 절로 자연스럽게 이어진다.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592751353"/>
      </p:ext>
    </p:extLst>
  </p:cSld>
  <p:clrMapOvr>
    <a:masterClrMapping/>
  </p:clrMapOvr>
</p:notes>
</file>

<file path=ppt/notesSlides/notesSlide2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마지막 절은 실측을 설계 판단으로 옮기는 구간이다. 여기서 학습자가 가져가야 할 것은 정답이 아니라 판단의 축이다. 어느 인덱스가 옳은지는 조회 패턴 가정에 따라 달라지고, 가정이 바뀌면 답도 바뀐다. 그래서 실습문제 5번은 정답을 하나로 고정하지 않고 가정과 근거의 타당성으로 평가한다. 이 채점 기준을 미리 알려 주면 학습자가 답을 외우려 하지 않고 근거를 세우는 데 집중하게 된다. 마지막에 종합 비교표를 한 장으로 모아 두는 이유도 같다. 숫자를 외우게 하려는 것이 아니라 순서를 뒤집었을 때 무엇이 어떻게 맞바뀌는지를 한눈에 보여 주기 위해서다.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51695867"/>
      </p:ext>
    </p:extLst>
  </p:cSld>
  <p:clrMapOvr>
    <a:masterClrMapping/>
  </p:clrMapOvr>
</p:notes>
</file>

<file path=ppt/notesSlides/notesSlide2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여기서 구체적인 화면을 상상하게 하면 훨씬 잘 와닿는다. 예를 들어 병원별 청구 조회 화면이 콜센터 상담원이 하루 종일 쓰는 화면이라면 호출 빈도가 매우 높고, 기간별 현황 화면이 월 1회 정산 담당자가 쓰는 관리자 화면이라면 상대적으로 드물다. 이런 가정을 세우는 순간 답은 자동으로 따라온다. 반대로 기간별 현황이 실시간 대시보드라면 결론이 뒤집힌다. 정답이 가정에 달려 있다는 사실 자체가 이 절의 교육 내용이라는 점을 분명히 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887903940"/>
      </p:ext>
    </p:extLst>
  </p:cSld>
  <p:clrMapOvr>
    <a:masterClrMapping/>
  </p:clrMapOvr>
</p:notes>
</file>

<file path=ppt/notesSlides/notesSlide2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슬라이드는 실습문제 6번과 9번을 그대로 다룬다. 특히 9번은 기존 인덱스를 두고 단일 컬럼 인덱스를 추가하는 방안과, 삭제하고 순서를 바꿔 다시 만드는 방안을 비교하게 한다. 전자는 인덱스가 PK를 포함해 셋으로 늘어 DML 비용이 커지고, 후자는 개수는 유지되지만 한쪽 조회를 희생한다. 어느 쪽도 공짜가 아니라는 점, 그리고 선택의 근거를 문서로 남겨야 나중에 되짚을 수 있다는 점을 함께 강조하면 좋다.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590847348"/>
      </p:ext>
    </p:extLst>
  </p:cSld>
  <p:clrMapOvr>
    <a:masterClrMapping/>
  </p:clrMapOvr>
</p:notes>
</file>

<file path=ppt/notesSlides/notesSlide2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표를 세로로 읽는 방법을 알려 준다. 두 번째와 네 번째 행이 같은 조건이고, 세 번째와 다섯 번째 행이 같은 조건이다. 각 짝의 Buffers를 비교하면 순서를 뒤집었을 때 무슨 일이 일어나는지가 한눈에 들어온다. 첫 행의 베이스라인도 함께 짚어 준다. 인덱스가 아예 없을 때와 비교하면, 후행 컬럼만 매치된 상황조차 여전히 이득이 남는다는 사실이 확인된다. 이 표 하나로 이 장의 결론이 전부 담긴다고 말해도 과장이 아니다.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120994804"/>
      </p:ext>
    </p:extLst>
  </p:cSld>
  <p:clrMapOvr>
    <a:masterClrMapping/>
  </p:clrMapOvr>
</p:notes>
</file>

<file path=ppt/notesSlides/notesSlide2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두 관찰이 서로 반대 방향으로 작용한다는 점을 짚어 준다. 하나는 순서가 결정적으로 중요하다는 이야기고, 다른 하나는 순서를 틀려도 인덱스가 없는 것보다는 낫다는 이야기다. 학습자가 둘 중 하나만 기억하면 판단이 한쪽으로 기운다. 실무에서 필요한 태도는 둘을 함께 쥐는 것이다. 순서를 신중하게 정하되, 이미 만들어진 인덱스의 순서가 최적이 아니라는 이유만으로 무조건 재생성에 뛰어들지는 않는 판단이 여기서 나온다. 실습문제 10번이 이 균형을 요구한다.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698700797"/>
      </p:ext>
    </p:extLst>
  </p:cSld>
  <p:clrMapOvr>
    <a:masterClrMapping/>
  </p:clrMapOvr>
</p:notes>
</file>

<file path=ppt/notesSlides/notesSlide2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절차는 실습문제 10번의 모범 답안 골격이다. 학습자가 직접 3단계로 정리해 보게 하고, 여기 적힌 것과 대조하는 순서로 진행하면 좋다. 2단계의 '단독으로도'라는 조건을 특히 강조한다. 이 조건이 없으면 선택도가 높은 컬럼을 무조건 앞에 두는 잘못된 규칙으로 흐르기 쉽다. 선택도는 그다음 고려 사항이지 1차 기준이 아니다. 조회 패턴이 먼저이고 통계적 성질은 그 뒤라는 순서를 마지막으로 한 번 더 확인시키고 절을 닫는다.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502507791"/>
      </p:ext>
    </p:extLst>
  </p:cSld>
  <p:clrMapOvr>
    <a:masterClrMapping/>
  </p:clrMapOvr>
</p:notes>
</file>

<file path=ppt/notesSlides/notesSlide2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정리 스크립트를 슬라이드로 따로 두는 이유가 있다. 실습이 끝나면 학습자들은 결과를 확인한 것으로 만족하고 뒷정리를 잊는데, 인덱스가 남아 있으면 다음 챕터의 실행계획이 교안과 달라져 실습 자체가 성립하지 않는다. 특히 이 과정은 실측값을 기준으로 진행하기 때문에 환경이 어긋나면 학습자가 자기 결과를 의심하게 된다. 남은 인덱스를 조회해 확인하는 단계까지 반드시 거치도록 안내하고, 통계 재수집까지 마쳐야 원상복구가 끝난다는 점을 강조한다.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312626032"/>
      </p:ext>
    </p:extLst>
  </p:cSld>
  <p:clrMapOvr>
    <a:masterClrMapping/>
  </p:clrMapOvr>
</p:notes>
</file>

<file path=ppt/notesSlides/notesSlide2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요약 여덟 줄은 이 장의 핵심을 압축한 것이다. 학습자에게 이 화면을 띄워 둔 채 실습에 들어가게 하고, 각 줄에 대해 근거가 되는 실측값을 하나씩 말해 보게 하면 그 자리에서 복습이 된다. 말로 설명하지 못하는 줄이 곧 다시 봐야 할 부분이다. 특히 네 번째와 여덟 번째 줄은 이후 챕터에서도 반복해서 쓰이는 원칙이라 반드시 기억하게 한다. 다음 장부터는 이 기준 위에서 인덱스를 실제로 어떻게 활용하고 언제 못 쓰게 되는지를 다룬다는 예고로 마무리한다.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692311529"/>
      </p:ext>
    </p:extLst>
  </p:cSld>
  <p:clrMapOvr>
    <a:masterClrMapping/>
  </p:clrMapOvr>
</p:notes>
</file>

<file path=ppt/notesSlides/notesSlide2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실습은 SQL을 새로 짜는 문제가 아니라 실행계획을 읽고 근거를 대는 서술형 위주다. 그래서 답을 맞혔는지보다 어떤 값을 근거로 삼았는지를 채점 기준으로 삼아야 한다고 안내한다. 5번과 10번은 정답이 하나가 아니며 가정과 근거의 타당성으로 평가한다. 실습을 마친 뒤 인덱스를 반드시 삭제하고 통계를 재수집하라는 안내도 다시 강조한다. 정리하지 않으면 다음 챕터의 실행계획이 재현되지 않아 문제 자체가 성립하지 않기 때문이다. 채점 후에는 2번과 4번의 모범 답안을 함께 읽는 시간을 권한다.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473499273"/>
      </p:ext>
    </p:extLst>
  </p:cSld>
  <p:clrMapOvr>
    <a:masterClrMapping/>
  </p:clrMapOvr>
</p:notes>
</file>

<file path=ppt/notesSlides/notesSlide2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제6장은 5장에서 만든 인덱스가 실제로 쓰이는지를 따지는 장이다. 인덱스를 만들었는데도 느리다는 신고가 들어오면 원인은 대개 통계나 하드웨어가 아니라 조건절을 쓴 방식에 있다. 이번 차시의 실행계획과 Buffers는 모두 진료비청구심사 실습 DB에서 캡처한 실측값이며, 학습자가 같은 SQL을 실행해 그대로 재현할 수 있다. 첫머리에 못 박을 메시지는 하나다. 인덱스를 만드는 일과 인덱스를 타게 하는 일은 별개이며, 뒤쪽은 전적으로 조건절 작성 방식에 달려 있다는 점이다. 실습용 인덱스를 만들고 지우는 차시이므로 종료 시 정리 규칙도 함께 안내한다.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701857500"/>
      </p:ext>
    </p:extLst>
  </p:cSld>
  <p:clrMapOvr>
    <a:masterClrMapping/>
  </p:clrMapOvr>
</p:notes>
</file>

<file path=ppt/notesSlides/notesSlide2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학습 목표는 세 묶음이다. 첫째는 정의로, SARGable이라는 낱말을 컬럼 가공 여부라는 한 가지 기준으로 환원해 이해하는 것이다. 둘째는 진단으로, 실행계획의 Predicate Information에서 컬럼이 함수에 감싸였는지 찾아 읽는 능력이다. 셋째는 재작성으로, 위반 조건을 같은 결과를 내는 SARGable한 형태로 바꾸는 기술이다. 이 장은 인덱스를 새로 설계하는 장이 아니라 이미 있는 인덱스를 쓰게 만드는 장이라는 점을 미리 알려 주면 5장과의 경계가 분명해진다. 각 목표가 몇 번 절과 대응하는지 짚어 주면 학습자가 진행 중에 위치를 잃지 않는다.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196073900"/>
      </p:ext>
    </p:extLst>
  </p:cSld>
  <p:clrMapOvr>
    <a:masterClrMapping/>
  </p:clrMapOvr>
</p:notes>
</file>

<file path=ppt/notesSlides/notesSlide2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전체 흐름은 '원리 이해 → 실측 확인 → 재작성'이다. 6.1과 6.2에서 SARGable의 정의를 세우고, 6.3에서 눈에 보이지 않는 묵시적 형변환의 방향을 짚는다. 6.4와 6.5가 이 장의 몸통으로, 작은따옴표 유무만 다른 두 SQL의 실행계획을 나란히 놓고 읽는다. 6.6은 DATE 컬럼에서 같은 문제가 재현되는지 확인하는 구간이고, 6.7은 실측 없이 개념으로만 정리하는 보충 절이다. 시간이 부족하면 6.7을 축약하고 6.5에 시간을 몰아 주는 편이 낫다. 절이 바뀔 때마다 앞 절과의 연결 문장을 한 줄씩 붙여 주면 맥락이 끊기지 않는다.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125613798"/>
      </p:ext>
    </p:extLst>
  </p:cSld>
  <p:clrMapOvr>
    <a:masterClrMapping/>
  </p:clrMapOvr>
</p:notes>
</file>

<file path=ppt/notesSlides/notesSlide2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5장에서 학습자는 '인덱스를 만들면 빨라진다'는 경험을 했다. 그 경험이 강할수록 인덱스를 만들었는데 느리다는 상황을 만나면 원인을 엉뚱한 곳에서 찾게 된다. 이 절의 목적은 인덱스 생성과 인덱스 사용을 분리해서 보게 만드는 것이다. 두 가지는 별개의 사건이고, 사이에 조건절 작성 방식이라는 변수가 하나 더 있다는 점을 합의하고 넘어간다. 이 절에는 실행계획이 나오지 않으므로 학습자에게 지금까지 인덱스가 안 먹힌 경험이 있는지 먼저 물어 보고 시작하면 이후 전개가 훨씬 잘 붙는다. 5장과 6장을 인덱스 단원으로 묶어 소개하면 두 장의 관계를 잡기 쉬워진다.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787803496"/>
      </p:ext>
    </p:extLst>
  </p:cSld>
  <p:clrMapOvr>
    <a:masterClrMapping/>
  </p:clrMapOvr>
</p:notes>
</file>

<file path=ppt/notesSlides/notesSlide2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여기서 학습자가 가장 흔히 오해하는 지점을 정확히 짚어야 한다. 인덱스를 만들어 두면 옵티마이저가 알아서 쓸 것이라는 기대다. 옵티마이저는 조건절이 인덱스로 찾아갈 수 있는 형태일 때만 그 인덱스를 후보로 올린다. 형태가 맞지 않으면 아무리 좋은 인덱스가 있어도 후보에서 빠진다. 현장에서 인덱스가 계속 늘어나기만 하는 시스템은 대개 이 지점을 놓친 결과다. 인덱스가 늘면 DML 부담과 저장 공간까지 함께 늘어난다는 점도 덧붙여 두면 경각심이 생긴다. 인덱스를 만든 뒤 실제로 조회가 빨라졌는지 확인한 적이 있는지 물으면 대부분 답하지 못한다.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029662451"/>
      </p:ext>
    </p:extLst>
  </p:cSld>
  <p:clrMapOvr>
    <a:masterClrMapping/>
  </p:clrMapOvr>
</p:notes>
</file>

<file path=ppt/notesSlides/notesSlide2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용어를 영어 약자 그대로 외우게 하지 말고 판정 기준 한 줄로 바꿔 기억하게 하는 편이 효과적이다. 조건절을 볼 때 '컬럼이 원본 그대로 있는가'만 확인하면 대부분의 경우 판정이 끝난다. 학습자가 자주 혼동하는 것은 리터럴 쪽을 가공하는 경우다. 리터럴이나 상수를 가공하는 것은 실행 전에 한 번 계산되고 끝나므로 인덱스 사용에 아무 지장이 없다. 가공하면 안 되는 쪽은 언제나 컬럼이라는 비대칭을 분명히 해 두면 이후 재작성 연습이 쉬워진다. 판정 기준을 한 줄로 정리해 각자 노트에 적게 하면 이후 절의 진행이 훨씬 수월해진다.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560632162"/>
      </p:ext>
    </p:extLst>
  </p:cSld>
  <p:clrMapOvr>
    <a:masterClrMapping/>
  </p:clrMapOvr>
</p:notes>
</file>

<file path=ppt/notesSlides/notesSlide2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범위를 먼저 선언하는 것이 이 슬라이드의 목적이다. 학습자 중에는 함수를 써야만 하는 상황이면 함수 기반 인덱스를 만들면 되지 않느냐고 묻는 사람이 반드시 있다. 그 선택지가 존재한다는 사실은 인정하되, 조건절을 고치는 것으로 해결되는 문제에 인덱스를 하나 더 만드는 것은 순서가 뒤바뀐 대응이라는 점을 강조한다. 실습용 인덱스를 만들었다가 지우는 차시이므로 정리 규칙을 미리 확인시켜 두어야 다음 차시 실행계획이 재현된다. 실습 환경을 각자 구성한 경우에는 인덱스 목록부터 확인시켜야 실행계획이 교안과 맞는다.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854109250"/>
      </p:ext>
    </p:extLst>
  </p:cSld>
  <p:clrMapOvr>
    <a:masterClrMapping/>
  </p:clrMapOvr>
</p:notes>
</file>

<file path=ppt/notesSlides/notesSlide2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절은 원리를 세우는 구간이다. 실행계획을 보기 전에 왜 그런 결과가 나올 수밖에 없는지를 인덱스의 자료 구조로 먼저 설명해 두면, 6.5절에서 실측값을 볼 때 학습자가 결과를 외우는 대신 예측하게 된다. 여기서 핵심 문장은 하나다. 인덱스는 가공되지 않은 원본 값을 기준으로 정렬돼 있다는 것. 이 한 문장에서 이번 장의 모든 결론이 파생된다. 칠판에 이 문장을 적어 두고 장이 끝날 때까지 지우지 않으면 학습자가 매 슬라이드마다 스스로 근거를 대게 된다. 원리를 먼저 세워 두면 뒤에 나오는 실측이 결과 암기가 아니라 확인 작업으로 바뀐다.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735288704"/>
      </p:ext>
    </p:extLst>
  </p:cSld>
  <p:clrMapOvr>
    <a:masterClrMapping/>
  </p:clrMapOvr>
</p:notes>
</file>

<file path=ppt/notesSlides/notesSlide2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여기서 자주 나오는 질문이 있다. 함수를 씌워도 결국 같은 값을 찾는 것인데 왜 옵티마이저가 알아서 풀어 주지 않느냐는 것이다. 일반적인 함수는 입력과 출력의 순서 관계를 옵티마이저가 보장할 수 없기 때문이다. 사용자 정의 함수라면 내부에서 무슨 일이 벌어지는지 알 방법조차 없다. 옵티마이저는 순서가 보장되지 않는 변환 앞에서는 안전한 쪽을 택할 수밖에 없다. 정확성이 성능보다 먼저라는 원칙을 함께 짚어 주면 납득이 쉬워진다. 함수 기반 인덱스라는 해법이 존재한다는 사실은 언급하되 본 과정 범위 밖임을 분명히 해 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288457895"/>
      </p:ext>
    </p:extLst>
  </p:cSld>
  <p:clrMapOvr>
    <a:masterClrMapping/>
  </p:clrMapOvr>
</p:notes>
</file>

<file path=ppt/notesSlides/notesSlide2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슬라이드에서 학습자가 반드시 가져가야 할 감각은 불안감이다. 내가 함수를 쓰지 않았다고 해서 함수가 없는 것이 아니라는 사실. 실무에서 이 문제가 특히 무서운 이유는 코드 리뷰로도 잘 잡히지 않기 때문이다. 리뷰어 눈에는 그냥 컬럼과 값을 비교하는 평범한 조건으로 보인다. 그래서 진단은 SQL 텍스트가 아니라 실행계획의 Predicate Information에서 해야 한다. 바인드 변수를 쓰는 애플리케이션에서는 변수의 선언 타입이 컬럼과 어긋나 같은 일이 벌어지기도 한다. 조건절 텍스트만 믿어서는 안 된다는 경고를 이 자리에서 한 번 강하게 남겨 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798745955"/>
      </p:ext>
    </p:extLst>
  </p:cSld>
  <p:clrMapOvr>
    <a:masterClrMapping/>
  </p:clrMapOvr>
</p:notes>
</file>

<file path=ppt/notesSlides/notesSlide2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갈래를 나누는 이유는 진단 방법이 서로 다르기 때문이다. 첫 번째 갈래는 SQL을 읽는 것만으로 잡히고, 두 번째 갈래는 실행계획을 봐야 잡히며, 세 번째 갈래는 조건의 의미 자체를 다시 설계해야 하는 경우가 많다. 학습자가 셋을 하나로 뭉뚱그려 인덱스를 못 탄다고만 기억하면 현장에서 대응 방법을 고르지 못한다. 특히 세 번째 갈래는 조건을 고쳐 쓸 여지가 없는 경우도 있어서, 요구사항 자체를 협의해야 할 때가 있다는 점을 미리 알려 둔다. 세 갈래를 표로 정리해 실습 중 참고하게 하면 진단 속도가 눈에 띄게 빨라진다.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040592812"/>
      </p:ext>
    </p:extLst>
  </p:cSld>
  <p:clrMapOvr>
    <a:masterClrMapping/>
  </p:clrMapOvr>
</p:notes>
</file>

<file path=ppt/notesSlides/notesSlide2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절은 이번 장에서 개념적으로 가장 중요한 구간이다. 앞 절에서 묵시적 형변환이 존재한다는 사실까지 왔다면, 여기서는 그 방향이 어느 쪽인지를 확정한다. 방향이 정해지는 순간 작은따옴표 하나가 왜 실행계획을 바꾸는지가 논리적으로 설명된다. 학습자에게 먼저 예측하게 해 보는 것이 좋다. 문자 컬럼과 숫자 리터럴을 비교하면 어느 쪽이 변환될 것 같은지 물으면 대부분 리터럴 쪽을 고른다. 그 기대가 어긋나는 지점에서 학습 효과가 가장 크게 난다. 예측을 먼저 받아 칠판에 적어 두면 다음 슬라이드의 결론이 훨씬 강하게 남는다.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495382141"/>
      </p:ext>
    </p:extLst>
  </p:cSld>
  <p:clrMapOvr>
    <a:masterClrMapping/>
  </p:clrMapOvr>
</p:notes>
</file>

<file path=ppt/notesSlides/notesSlide2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우선순위 규칙을 통째로 외우게 할 필요는 없다. 실무에서 부딪히는 조합은 대부분 문자 컬럼과 숫자 리터럴이고, 이 경우 컬럼이 변환된다는 사실 하나면 충분하다. 왜 숫자 쪽이 우선인지 묻는다면, 문자열을 숫자로 바꾸는 것이 정보 손실 없이 정의되는 방향이기 때문이라고 설명하면 대체로 납득한다. 여기서 학습자에게 자기 시스템의 코드성 컬럼이 문자인지 숫자인지 떠올려 보게 하면 다음 슬라이드의 위험이 훨씬 실감난다. 우선순위 규칙 전체를 외우기보다 문자 컬럼과 숫자 리터럴 조합 하나만 확실히 기억하게 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957873382"/>
      </p:ext>
    </p:extLst>
  </p:cSld>
  <p:clrMapOvr>
    <a:masterClrMapping/>
  </p:clrMapOvr>
</p:notes>
</file>

<file path=ppt/notesSlides/notesSlide2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마지막 항목은 실무 사고 사례로 자주 등장하는 대목이다. 코드성 문자 컬럼을 숫자 리터럴과 비교하도록 짜 두면 그동안은 숫자만 들어 있어서 잘 돌아간다. 그러다 문자가 섞인 값이 한 건 들어오는 순간 변환이 실패하고, 그 시점에는 원인이 조건절에 있다는 사실을 아무도 떠올리지 못한다. 성능뿐 아니라 안정성 측면에서도 타입을 맞춰 쓰는 것이 원칙이라는 점을 여기서 한 번 더 못 박아 둔다. 실습문제 2번이 이 대목의 원리를 그대로 묻는다. 성능 문제와 안정성 문제가 같은 원인에서 갈라져 나온다는 점이 이 슬라이드의 핵심이다.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607715326"/>
      </p:ext>
    </p:extLst>
  </p:cSld>
  <p:clrMapOvr>
    <a:masterClrMapping/>
  </p:clrMapOvr>
</p:notes>
</file>

<file path=ppt/notesSlides/notesSlide2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슬라이드가 이 장의 진단 도구 전부다. 학습자가 현장에 돌아가서 실제로 쓰게 될 절차이므로, 화면에서 어디를 봐야 하는지 손으로 짚어 가며 보여 주는 편이 좋다. access와 filter의 구분은 이후 챕터에서도 반복해서 쓰이므로 여기서 확실히 정리해 둔다. 같은 조건이라도 access로 잡히면 읽는 양 자체가 줄고, filter로 잡히면 다 읽은 뒤 버리는 것이라 읽는 양이 줄지 않는다. 실습 문항 대부분이 이 화면의 절차를 근거로 답을 쓰게 되어 있으므로 여기서 충분히 시간을 쓴다. 진단 절차를 말로 한 번 복창하게 하면 실습에서 헤매는 시간이 크게 줄어든다.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39841780"/>
      </p:ext>
    </p:extLst>
  </p:cSld>
  <p:clrMapOvr>
    <a:masterClrMapping/>
  </p:clrMapOvr>
</p:notes>
</file>

<file path=ppt/notesSlides/notesSlide2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여기서부터 실측 구간이다. 소재는 하나의 컬럼이고, 바뀌는 것은 조건절을 쓰는 방식뿐이다. 변수를 하나만 두는 실험 설계라는 점을 먼저 짚어 준다. 인덱스도 같고 데이터도 같고 원하는 결과도 같은데 조건절 표현만 세 가지로 바꾼다. 그래서 실행계획이 달라진다면 원인은 조건절 표현 말고는 없다는 논리 구조가 성립한다. SQL을 보여 준 직후 셋 중 어느 것이 인덱스를 탈지 손을 들어 보게 하고 그 결과를 기록해 두면 뒤에서 실측과 대조하기 좋다. 변수를 하나만 두는 실험 설계라는 점을 학습자가 스스로 확인하게 하면 결론의 설득력이 커진다.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79177205"/>
      </p:ext>
    </p:extLst>
  </p:cSld>
  <p:clrMapOvr>
    <a:masterClrMapping/>
  </p:clrMapOvr>
</p:notes>
</file>

<file path=ppt/notesSlides/notesSlide2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문자열로 날짜를 저장하는 설계를 두고 잘못된 설계라고 단정하는 학습자가 종종 있다. 이 자리에서 짚어 줄 것은 그 설계에 나름의 이유가 있다는 점이다. YYYYMMDD는 사전식 순서와 날짜 순서가 일치하는 몇 안 되는 형식이라 범위 비교가 그대로 성립한다. 다만 이 장점은 리터럴을 문자열로 정확히 써 줄 때만 살아난다. 따옴표를 빼는 순간 장점이 통째로 사라진다는 것이 바로 다음 슬라이드의 내용이다. 실습문제 10번이 이 성질을 근거로 조건절을 작성하게 한다. 컬럼 타입을 먼저 확인하는 것이 이 장의 진단 절차에서 첫 단계라는 점도 함께 짚어 준다.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149483332"/>
      </p:ext>
    </p:extLst>
  </p:cSld>
  <p:clrMapOvr>
    <a:masterClrMapping/>
  </p:clrMapOvr>
</p:notes>
</file>

<file path=ppt/notesSlides/notesSlide2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슬라이드는 이 장에서 가장 강한 인상을 남기는 대목이므로 서두르지 않는 편이 좋다. 두 SQL을 나란히 띄워 놓고 다른 곳을 찾아보라고 하면 대부분 금방 따옴표를 짚어 낸다. 그다음 질문이 중요하다. 이 차이가 성능에 영향을 줄 것 같은지 묻는 것이다. 대부분은 결과가 같으니 영향이 없을 것이라고 답한다. 그 예상이 어긋나는 순간이 학습 효과의 정점이다. 결과 건수가 같다는 사실을 미리 밝혀 두면 성능 차이가 결과 차이 때문이 아니라는 점이 분명해진다. 실무 코드에서 따옴표가 빠진 조건을 본 적이 있는지 물어보면 사례가 곧잘 나온다.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82558007"/>
      </p:ext>
    </p:extLst>
  </p:cSld>
  <p:clrMapOvr>
    <a:masterClrMapping/>
  </p:clrMapOvr>
</p:notes>
</file>

<file path=ppt/notesSlides/notesSlide2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Q3은 코드 리뷰에서 잡히는 유형이다. 함수가 눈에 보이기 때문이다. 그래서 Q3 자체보다 Q2와의 대비가 더 중요하다. 학습자에게 두 조건절 중 어느 쪽이 더 위험한지 물어보면 대개 함수가 두 개나 붙은 Q3을 고른다. 실무 관점에서는 Q2가 더 위험하다. 아무도 문제라고 인식하지 못한 채 코드에 남기 때문이다. 문제를 발견할 수 있는 코드와 발견할 수 없는 코드 중 어느 쪽이 더 무서운지를 되짚어 주면 이 장의 메시지가 선명해진다. 실습문제 3번이 이 대비를 다룬다. 보이는 문제와 보이지 않는 문제를 구분하는 감각이 이 장에서 얻는 실무적 소득이다.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693415806"/>
      </p:ext>
    </p:extLst>
  </p:cSld>
  <p:clrMapOvr>
    <a:masterClrMapping/>
  </p:clrMapOvr>
</p:notes>
</file>

<file path=ppt/notesSlides/notesSlide2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절이 이 장의 몸통이다. 앞에서 세운 원리가 실제 실행계획에서 그대로 관측되는지 확인하는 구간이다. 표를 보여 주기 전에 예측을 먼저 받아 두면 몰입도가 크게 달라진다. Q1만 인덱스를 탈 것이라는 예측이 나오면 근거를 말하게 하고, 다른 예측이 나오면 그것도 그대로 적어 둔다. 실측값을 공개한 뒤 예측과 대조하는 순서로 진행하면 학습자가 결과를 외우지 않고 원리로 기억하게 된다. Predicate Information까지 함께 읽는 습관을 이 절에서 붙여 준다. 실행계획을 위에서 아래로 읽는 순서도 이 절에서 한 번 정리해 두면 이후가 편해진다.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131599452"/>
      </p:ext>
    </p:extLst>
  </p:cSld>
  <p:clrMapOvr>
    <a:masterClrMapping/>
  </p:clrMapOvr>
</p:notes>
</file>

<file path=ppt/notesSlides/notesSlide2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표를 읽는 순서를 정해 준다. 먼저 Operation 열만 세로로 훑어 Q1만 인덱스를 쓰고 나머지 둘은 테이블 전체를 읽었다는 사실을 확인한다. 다음으로 Buffers 열을 보며 읽은 블록 수의 차이를 확인한다. 마지막으로 Predicate Information을 보며 그 차이의 원인이 어디에 적혀 있는지 짚는다. 이 순서가 곧 실무에서 실행계획을 읽는 순서이기도 하다. 무엇이 일어났는지, 얼마나 읽었는지, 왜 그랬는지 순으로 좁혀 들어간다고 정리해 준다. Buffers 값 자체보다 두 계획의 Operation이 갈렸다는 사실이 먼저라는 점을 짚어 준다.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644448157"/>
      </p:ext>
    </p:extLst>
  </p:cSld>
  <p:clrMapOvr>
    <a:masterClrMapping/>
  </p:clrMapOvr>
</p:notes>
</file>

<file path=ppt/notesSlides/notesSlide2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여기서 INDEX FAST FULL SCAN이라는 이름을 두고 인덱스를 다 읽는데 왜 빠르냐는 질문이 나온다. 핵심은 읽는 대상의 크기다. 인덱스에는 해당 컬럼과 ROWID만 들어 있으니 같은 블록에 훨씬 많은 항목이 들어간다. 조건이 넓어서 특정 구간만 골라 읽는 이점을 못 살리더라도, 읽어야 할 총량 자체가 작아 여전히 유리하다. 조건의 선택도에 따라 RANGE SCAN이 될 수도 FAST FULL SCAN이 될 수도 있다는 점을 함께 짚어 주면 다음 절의 Q4와 자연스럽게 연결된다. 인덱스를 탔다고 해서 항상 소량만 읽는 것은 아니라는 점도 이 자리에서 함께 정리해 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233572588"/>
      </p:ext>
    </p:extLst>
  </p:cSld>
  <p:clrMapOvr>
    <a:masterClrMapping/>
  </p:clrMapOvr>
</p:notes>
</file>

<file path=ppt/notesSlides/notesSlide2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슬라이드가 이 장의 결론에 가장 가깝다. 학습자에게 강조할 것은 진단 가능성이다. 묵시적 형변환은 SQL만 봐서는 절대 보이지 않지만 실행계획에는 반드시 흔적을 남긴다. 그래서 인덱스를 만들었는데 안 탄다는 상황에서 가장 먼저 확인할 것은 통계도 힌트도 아니고 Predicate Information이다. 이 절차 하나만 몸에 익혀도 현장에서 마주치는 인덱스 미사용 사례의 상당 부분을 스스로 설명할 수 있게 된다. 실습문제 1번과 2번이 이 대목을 그대로 묻는다. 이 슬라이드 하나만 정확히 이해해도 현장에서의 진단 능력이 눈에 띄게 달라진다.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008461097"/>
      </p:ext>
    </p:extLst>
  </p:cSld>
  <p:clrMapOvr>
    <a:masterClrMapping/>
  </p:clrMapOvr>
</p:notes>
</file>

<file path=ppt/notesSlides/notesSlide2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Plan hash value가 같다는 사실은 우연이 아니라 필연이다. 옵티마이저 입장에서 두 조건은 같은 형태로 정규화되기 때문이다. 이 대목에서 코드 리뷰 기준을 함께 정리해 주면 실무 적용도가 높아진다. 리뷰 체크 항목을 함수 사용 금지로 적으면 Q2 같은 사례를 놓친다. 컬럼이 원본 그대로 비교되는가로 적어야 두 갈래를 모두 잡을 수 있다. 실습문제 3번과 9번이 이 기준을 실제 코드에 적용해 보게 하는 문항이다. 코드 리뷰 체크 항목을 그 자리에서 한 문장으로 고쳐 써 보게 하면 정착이 빠르다.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701993016"/>
      </p:ext>
    </p:extLst>
  </p:cSld>
  <p:clrMapOvr>
    <a:masterClrMapping/>
  </p:clrMapOvr>
</p:notes>
</file>

<file path=ppt/notesSlides/notesSlide2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슬라이드는 실습문제 6번을 그대로 다룬 것이다. 학습자가 실무에서 가장 자주 마주치는 반론이기도 하다. 반박의 핵심은 배율이 고정된 상수가 아니라는 점이다. 지금 3배라는 숫자를 근거로 앞으로도 3배일 것이라고 보는 것이 오류다. 전체를 읽는 방식과 순서를 이용하는 방식은 증가 곡선의 기울기 자체가 다르다. 서비스가 성장하면 판단이 뒤집힌다는 말은 추상적이므로, 학습자가 담당하는 테이블의 건수를 떠올려 보게 하면 훨씬 구체화된다. 작은 테이블에서 검증하고 큰 테이블에 적용한 순간 판단이 뒤집힌 사례를 하나쯤 곁들이면 좋다.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276571493"/>
      </p:ext>
    </p:extLst>
  </p:cSld>
  <p:clrMapOvr>
    <a:masterClrMapping/>
  </p:clrMapOvr>
</p:notes>
</file>

<file path=ppt/notesSlides/notesSlide2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앞 절은 문자 컬럼에서 벌어진 일이었다. 여기서 확인할 것은 이 원리가 특정 타입의 문제가 아니라는 사실이다. DATE 컬럼에서도 컬럼을 가공하면 똑같이 인덱스를 못 탄다. 오히려 실무에서는 이쪽이 훨씬 자주 나온다. 기간 조회는 거의 모든 업무 화면에 들어가고, 월 단위 조회를 TO_CHAR로 구현하는 관행이 널리 퍼져 있기 때문이다. 이 절의 사례를 자기 시스템의 조회 화면과 겹쳐 보게 하면 적용도가 크게 올라간다. 타입이 달라도 결론이 같다는 것을 확인시키는 것이 이 절의 목적임을 먼저 밝혀 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404019253"/>
      </p:ext>
    </p:extLst>
  </p:cSld>
  <p:clrMapOvr>
    <a:masterClrMapping/>
  </p:clrMapOvr>
</p:notes>
</file>

<file path=ppt/notesSlides/notesSlide2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Q5 형태는 현장에서 가장 자주 발견되는 SARGable 위반이다. 사람이 생각하는 방식과 코드가 거의 일대일로 대응하기 때문이다. 이번 달 데이터를 가져오자는 요구를 들으면 월을 뽑아서 비교한다는 발상이 자연스럽게 나온다. 반면 Q4처럼 시작일 이상, 다음 달 1일 미만으로 쓰는 것은 한 단계 더 생각해야 나오는 표현이다. 읽기 쉬운 코드와 인덱스를 타는 코드가 항상 일치하지는 않는다는 점을 여기서 인정하고 넘어가는 편이 솔직하고 설득력 있다. 사람이 생각하는 순서와 인덱스가 좋아하는 순서가 다르다는 점을 여기서 인정하고 넘어간다.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08947747"/>
      </p:ext>
    </p:extLst>
  </p:cSld>
  <p:clrMapOvr>
    <a:masterClrMapping/>
  </p:clrMapOvr>
</p:notes>
</file>

<file path=ppt/notesSlides/notesSlide2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Q4의 상한을 다음 달 1일 미만으로 쓴 이유를 반드시 짚어 준다. 6월 30일 이하로 쓰면 시분초가 붙은 값이 누락되기 때문이다. DATE 타입은 시각까지 담고 있으므로 이하 비교는 거의 항상 함정이 된다. 시작일은 이상, 종료는 다음 구간 시작 미만으로 쓰는 것이 안전한 관용구다. BETWEEN을 쓰고 싶다는 요청이 나오면 날짜형에서는 이 이유로 권하지 않는다고 설명한다. 반대로 앞 절의 YYYYMMDD 문자열 컬럼에서는 BETWEEN이 안전하다는 대비도 함께 짚어 준다. 기간 조회 관용구는 실무에서 그대로 옮겨 쓸 수 있는 형태이므로 받아 적게 하는 편이 좋다.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993190170"/>
      </p:ext>
    </p:extLst>
  </p:cSld>
  <p:clrMapOvr>
    <a:masterClrMapping/>
  </p:clrMapOvr>
</p:notes>
</file>

<file path=ppt/notesSlides/notesSlide2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표에서 가장 중요한 것은 Buffers 숫자가 아니라 access와 filter의 구분이다. 숫자는 데이터가 바뀌면 달라지지만 이 구분은 원리라서 바뀌지 않는다. 학습자에게 두 낱말의 차이를 자기 말로 설명해 보게 하면 이해 정도가 바로 드러난다. Q4가 INDEX RANGE SCAN이 된 것은 조건이 연속된 구간을 지정했기 때문이다. 앞 절 Q1이 FAST FULL SCAN이었던 것과 대비하면 조건의 형태가 스캔 방식까지 결정한다는 점이 분명해진다. 실습문제 4번이 이 표를 근거로 설명하게 하는 문항이다. 두 낱말의 구분은 이후 챕터에서도 계속 쓰이므로 이 자리에서 확실히 굳혀 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333339178"/>
      </p:ext>
    </p:extLst>
  </p:cSld>
  <p:clrMapOvr>
    <a:masterClrMapping/>
  </p:clrMapOvr>
</p:notes>
</file>

<file path=ppt/notesSlides/notesSlide2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학습자가 가장 받아들이기 어려워하는 지점이 바로 여기다. 사람 눈에는 두 조건이 같은 말인데 왜 DB는 다르게 취급하느냐는 것이다. 답은 옵티마이저가 조건의 의미를 이해하는 것이 아니라 형태를 인식한다는 데 있다. TO_CHAR 안에 들어간 컬럼이 실제로는 6월 한 달을 가리킨다는 사실을 옵티마이저는 알지 못한다. 알 수 없으니 안전하게 전체를 읽는 쪽을 택한다. 의미가 아니라 형태를 맞춰 줘야 한다는 말로 정리하면 이 장 전체의 요약이 된다. 의미가 아니라 형태를 맞춰 줘야 한다는 문장이 이 장 전체의 요약이라는 점을 강조한다.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266317212"/>
      </p:ext>
    </p:extLst>
  </p:cSld>
  <p:clrMapOvr>
    <a:masterClrMapping/>
  </p:clrMapOvr>
</p:notes>
</file>

<file path=ppt/notesSlides/notesSlide2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슬라이드는 실습문제 5번의 모범 답안을 그대로 담고 있다. 재작성 원칙을 한 문장으로 기억하게 하는 것이 목적이다. 가공은 컬럼이 아니라 기준값 쪽에서 한다는 문장이다. 이 원칙은 이번 장의 모든 사례에 예외 없이 적용된다. TRUNC나 ADD_MONTHS도 결국 함수 아니냐는 질문이 나오면, 그 함수들이 컬럼이 아니라 SYSDATE에 적용된다는 점을 짚어 준다. 상수에 대한 계산은 한 번이면 끝나고 모든 행마다 반복되지 않는다는 것이 결정적인 차이다. 기간 조회 표준형은 사내 코딩 규약에 넣어 둘 만한 항목이라고 권해도 좋다.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197338690"/>
      </p:ext>
    </p:extLst>
  </p:cSld>
  <p:clrMapOvr>
    <a:masterClrMapping/>
  </p:clrMapOvr>
</p:notes>
</file>

<file path=ppt/notesSlides/notesSlide2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세 사례를 관통하는 원칙이 하나라는 점을 강조한다. 어떤 함수를 쓰느냐가 아니라 그 함수가 어느 쪽에 붙어 있느냐가 전부다. 두 번째 사례에서 문자열 컬럼에는 BETWEEN이 안전하다고 한 이유도 짚어 준다. YYYYMMDD 형식은 사전식 순서와 날짜 순서가 일치하고 시분초가 없기 때문이다. 세 번째 사례의 빈 문자열 결합은 실제 코드에서 형변환을 피하려다 오히려 만들어 내는 전형적인 패턴이다. 실습문제 5번, 9번, 10번이 각각 이 세 사례에 대응한다. 세 사례를 각자 담당 코드에서 찾아보게 하는 과제를 내면 다음 시간의 사례가 풍부해진다.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55088134"/>
      </p:ext>
    </p:extLst>
  </p:cSld>
  <p:clrMapOvr>
    <a:masterClrMapping/>
  </p:clrMapOvr>
</p:notes>
</file>

<file path=ppt/notesSlides/notesSlide2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절은 실측 없이 개념으로만 정리하는 보충 구간이다. 앞 절들과 달리 숫자를 제시하지 않는 대신 원리를 일관되게 적용해 보는 연습으로 진행한다. 세 패턴 모두 인덱스가 값의 정렬 순서를 이용한다는 하나의 원리에서 설명된다는 점을 계속 상기시킨다. 학습자가 원리 하나로 세 가지를 스스로 추론해 내면 이 장의 목표는 달성된 것이다. 시간이 부족하면 이 절은 슬라이드만 읽고 넘어가되, 실습문제 7번과 8번이 여기서 나온다는 점은 반드시 알려 준다. 실측이 없는 절이라고 가볍게 넘기면 실습 두 문항을 놓치게 되므로 미리 주의를 준다.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890142795"/>
      </p:ext>
    </p:extLst>
  </p:cSld>
  <p:clrMapOvr>
    <a:masterClrMapping/>
  </p:clrMapOvr>
</p:notes>
</file>

<file path=ppt/notesSlides/notesSlide2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슬라이드는 실습문제 7번을 다룬 것이다. 문제는 앞쪽 와일드카드가 안 된다는 사실만 알려 주고 뒤쪽은 스스로 추론하게 한다. 추론의 근거는 인덱스가 값을 왼쪽부터 정렬한다는 사실 하나뿐이다. 이 원리 하나로 세 가지 경우를 모두 판정할 수 있다는 점을 학습자가 직접 확인하게 하는 것이 목적이다. 실무에서 검색 기능을 만들 때 앞쪽 와일드카드를 기본으로 붙여 두는 관행이 흔한데, 그 한 글자가 인덱스 사용 여부를 결정한다는 점을 알려 주면 인상이 오래 남는다. 검색어 앞에 %를 기본으로 붙이는 화면 표준이 있다면 그것부터 재검토 대상이 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968068442"/>
      </p:ext>
    </p:extLst>
  </p:cSld>
  <p:clrMapOvr>
    <a:masterClrMapping/>
  </p:clrMapOvr>
</p:notes>
</file>

<file path=ppt/notesSlides/notesSlide2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부정 조건은 컬럼을 가공하지 않았는데도 인덱스를 못 탄다는 점에서 앞의 두 갈래와 성격이 다르다. 여기서 학습자가 정리해야 할 것은 SARGable의 판정 기준이 컬럼 가공 하나만은 아니라는 사실이다. 결국 인덱스가 연속된 구간을 찾아가는 구조라는 원리가 상위 개념이고, 컬럼 가공은 그 원리를 위반하는 대표적인 방식일 뿐이다. 실무에서 부정 조건은 조건절을 고쳐서 해결되지 않는 경우가 많아 요구사항 단계에서 협의가 필요할 때도 있다. 긍정 조건으로 바꿀 수 있는지 먼저 검토하는 절차를 리뷰 항목으로 넣어 두면 좋다.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645204007"/>
      </p:ext>
    </p:extLst>
  </p:cSld>
  <p:clrMapOvr>
    <a:masterClrMapping/>
  </p:clrMapOvr>
</p:notes>
</file>

<file path=ppt/notesSlides/notesSlide2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IS NULL은 학습자가 가장 자주 놓치는 항목이다. 컬럼을 가공하지도 않았고 부정 조건도 아닌데 인덱스를 못 타기 때문이다. 원인이 조건 형태가 아니라 인덱스에 데이터가 없다는 데 있다는 점을 분명히 해야 한다. NULL 대신 기본값을 쓰자는 이야기는 성능만 보고 결정할 문제가 아니라는 점도 함께 짚는다. 값이 없다는 것과 특정 기본값이라는 것은 업무적으로 다른 의미이고, 이를 뭉개면 나중에 집계 결과가 어긋난다. 실습문제 8번이 이 대목을 묻는다. NULL 허용 여부를 설계 단계에서 정하는 일이 결국 성능 문제로 돌아온다는 점을 짚어 준다.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34715767"/>
      </p:ext>
    </p:extLst>
  </p:cSld>
  <p:clrMapOvr>
    <a:masterClrMapping/>
  </p:clrMapOvr>
</p:notes>
</file>

<file path=ppt/notesSlides/notesSlide2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마지막 절은 흩어진 실측값을 한 화면에 모아 이 장의 결론을 확정하는 구간이다. 표를 보여 주는 목적은 배율을 외우게 하는 것이 아니라 두 사례에서 같은 원리가 반복됐다는 점을 확인시키는 것이다. 타입도 다르고 위반 방식도 다른데 결론이 같다면 그것은 우연이 아니라 원리라는 논증 구조로 마무리한다. 이어지는 체크리스트는 학습자가 현장에 가져가서 실제로 쓸 도구이므로 한 항목씩 짚어 가며 읽어 주는 편이 좋다. 체크리스트는 강의가 끝난 뒤에도 남는 산출물이므로 각자 정리해 두도록 안내한다.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93095526"/>
      </p:ext>
    </p:extLst>
  </p:cSld>
  <p:clrMapOvr>
    <a:masterClrMapping/>
  </p:clrMapOvr>
</p:notes>
</file>

<file path=ppt/notesSlides/notesSlide2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표를 읽을 때 배율 숫자에 시선이 몰리지 않도록 유도한다. 3배와 45배의 차이는 데이터 분포와 조건 선택도에서 나온 것이지 위반의 심각도를 나타내는 값이 아니다. 첫 사례는 조건이 넓어 인덱스를 타도 많이 읽었고, 두 번째 사례는 조건이 한 달로 좁아 인덱스의 이점이 크게 드러났다. 학습자가 가져가야 할 결론은 배율이 아니라 방향이다. 컬럼을 가공하면 언제나 읽는 양이 늘어나는 쪽으로 간다는 것. 조건이 좁을수록 SARGable 여부의 영향이 커진다는 점도 함께 짚어 준다. 조건 범위가 좁을수록 SARGable 여부의 영향이 더 크게 작용한다는 점을 마지막으로 정리한다.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724660042"/>
      </p:ext>
    </p:extLst>
  </p:cSld>
  <p:clrMapOvr>
    <a:masterClrMapping/>
  </p:clrMapOvr>
</p:notes>
</file>

<file path=ppt/notesSlides/notesSlide2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체크리스트는 외우는 것이 아니라 코드 리뷰 템플릿에 넣어 두고 쓰는 도구다. 특히 2번과 4번은 눈으로는 잡히지 않으므로 습관으로 만들어야 한다. 바인드 변수 항목을 넣은 이유는 애플리케이션에서 이 문제가 훨씬 자주 발생하기 때문이다. 문자 컬럼에 정수형 변수를 바인딩하면 SQL 텍스트는 멀쩡한데 실행계획에서만 형변환이 드러난다. 체크리스트를 다 통과했는데도 인덱스를 안 탄다면 그때는 통계정보나 조건 선택도 문제로 넘어가면 된다고 정리해 준다. 체크리스트를 사내 리뷰 템플릿에 실제로 옮겨 넣어 보라고 권하면 적용도가 크게 올라간다.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834124043"/>
      </p:ext>
    </p:extLst>
  </p:cSld>
  <p:clrMapOvr>
    <a:masterClrMapping/>
  </p:clrMapOvr>
</p:notes>
</file>

<file path=ppt/notesSlides/notesSlide2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요약 슬라이드는 이 장의 핵심을 아홉 줄로 압축한 것이다. 학습자에게 이 화면을 띄워 둔 채 실습에 들어가게 하면 참고 자료 역할을 한다. 두 번째 줄과 마지막 줄은 앞으로 인덱스를 다루는 모든 챕터에서 반복해서 쓰이는 원칙이므로 반드시 기억하게 한다. 각 항목이 어느 절에서 나왔는지 짚어 주면 복습할 때 교안 본문을 찾기 쉬워진다. 요약을 읽고 끝내지 말고 각 줄에 대해 근거가 되는 실측값이나 사례를 하나씩 말해 보게 하면 그 자리에서 복습이 된다. 다음 장으로 넘어가기 전에 이 장의 원칙 한 줄을 각자 말해 보게 하면 마무리가 깔끔해진다.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023899072"/>
      </p:ext>
    </p:extLst>
  </p:cSld>
  <p:clrMapOvr>
    <a:masterClrMapping/>
  </p:clrMapOvr>
</p:notes>
</file>

<file path=ppt/notesSlides/notesSlide2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실습은 SQL을 새로 짜는 문제와 근거를 서술하는 문제가 섞여 있다. 서술형은 답이 맞았는지보다 어떤 값을 근거로 삼았는지를 채점 기준으로 삼아야 한다고 안내한다. 특히 7번은 교안에 답이 직접 나와 있지 않고 원리에서 추론해야 하는 문항이므로 시간을 조금 더 준다. 인덱스 정리 규칙은 반드시 다시 강조한다. 실습용 인덱스가 남아 있으면 다음 챕터의 실행계획이 재현되지 않아 문제 자체가 성립하지 않는다. 채점 후에는 3번과 9번을 함께 읽으며 판정 기준을 복기하는 시간을 잡는 것을 권한다. 제출물에는 실행계획 캡처와 근거 문장을 함께 넣도록 형식을 미리 정해 주는 편이 좋다.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761998022"/>
      </p:ext>
    </p:extLst>
  </p:cSld>
  <p:clrMapOvr>
    <a:masterClrMapping/>
  </p:clrMapOvr>
</p:notes>
</file>

<file path=ppt/notesSlides/notesSlide2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제13장은 옵티마이저가 왜 틀리는가를 정면으로 다루는 장이다. 앞 장들에서 실행계획을 읽고 판단하는 법을 익혔다면, 이 장은 그 판단의 재료인 통계정보 자체를 의심해 보는 장이다. 특히 이번 차시는 설명만 듣는 것이 아니라 히스토그램을 직접 제거하고 다시 만들어 보면서 추정치가 어떻게 달라지는지를 눈으로 확인한다. 통계를 일시적으로 변경하는 실습이므로 종료 시 반드시 원상복구해야 한다는 점을 첫 화면에서부터 못 박아 두는 것이 좋다.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557360829"/>
      </p:ext>
    </p:extLst>
  </p:cSld>
  <p:clrMapOvr>
    <a:masterClrMapping/>
  </p:clrMapOvr>
</p:notes>
</file>

<file path=ppt/notesSlides/notesSlide2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학습 목표는 세 묶음으로 읽어 주면 좋다. 앞의 두 줄은 원리, 가운데 세 줄은 관측 기술, 마지막 두 줄은 한계 인식이다. 이 장에서 가장 중요한 것은 세 번째 줄인데, 같은 데이터와 같은 컬럼을 두고 오직 통계만 바꿔 본다는 실험 설계 자체가 이 차시의 핵심이기 때문이다. 학습자에게 지금 몇 개를 설명할 수 있는지 표시하게 하고 장 끝에서 같은 목록을 다시 보게 하면, 통계정보라는 눈에 안 보이는 주제의 학습 효과를 본인이 직접 확인할 수 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219181921"/>
      </p:ext>
    </p:extLst>
  </p:cSld>
  <p:clrMapOvr>
    <a:masterClrMapping/>
  </p:clrMapOvr>
</p:notes>
</file>

<file path=ppt/notesSlides/notesSlide3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장의 흐름은 개념에서 원리로, 다시 세 번의 관측을 거쳐 한계 논의로 이어진다. 관측이 세 번인 이유가 중요하다. 있는 상태와 없는 상태만 비교하면 우연히 달라진 것인지 알 수 없기 때문에, 복원까지 세 단계를 밟아 원래대로 돌아오는지를 확인하는 구조로 설계했다. 시간이 부족하면 이론 구간을 줄이더라도 이 세 관측은 반드시 순서대로 다 보여 주는 편이 낫다. 마지막 절은 이 장의 결론을 뒤집는 것이 아니라 적용 범위를 정하는 구간이다.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945556215"/>
      </p:ext>
    </p:extLst>
  </p:cSld>
  <p:clrMapOvr>
    <a:masterClrMapping/>
  </p:clrMapOvr>
</p:notes>
</file>

<file path=ppt/notesSlides/notesSlide3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첫 절은 이 장이 왜 필요한지를 납득시키는 구간이다. 학습자는 이미 앞 장에서 값에 따라 추정치가 달라진다는 현상을 봤지만, 그것이 히스토그램 덕분이라는 것은 아직 관찰이 아니라 설명으로만 알고 있다. 여기서 안다는 것과 확인했다는 것이 다른 상태라는 점을 분명히 해 두면, 뒤이어 나오는 제거 실습이 위험한 장난이 아니라 필요한 검증으로 받아들여진다. 절 제목을 읽어 준 다음 통계를 지워 본 적이 있느냐고 물어보면 이 절의 문제의식이 곧바로 살아난다.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526053353"/>
      </p:ext>
    </p:extLst>
  </p:cSld>
  <p:clrMapOvr>
    <a:masterClrMapping/>
  </p:clrMapOvr>
</p:notes>
</file>

<file path=ppt/notesSlides/notesSlide3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여기서 강조할 것은 이 장이 새 기능을 배우는 장이 아니라는 점이다. 인덱스를 만들지도 힌트를 붙이지도 않는다. 대신 옵티마이저가 판단의 근거로 삼는 재료를 강사가 직접 손대 본다. 실무에서 어제까지 잘 돌던 SQL이 갑자기 느려졌다는 신고 중 상당수가 통계 재수집 직후에 발생한다. 코드도 데이터도 그대로인데 계획만 바뀌었다면 통계를 먼저 의심하라는 감각을, 이 장 전체를 통해 몸으로 익히게 하는 것이 목적이다.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590421448"/>
      </p:ext>
    </p:extLst>
  </p:cSld>
  <p:clrMapOvr>
    <a:masterClrMapping/>
  </p:clrMapOvr>
</p:notes>
</file>

<file path=ppt/notesSlides/notesSlide3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실험 설계를 먼저 보여 주는 이유는 학습자가 중간 결과를 결론으로 오해하지 않게 하기 위해서다. 2단계만 보고 통계가 없으면 큰일 난다고 외우면, 정작 실무에서 통계가 있는데도 틀리는 상황을 만났을 때 손을 못 쓴다. 또 하나 실무 관점에서 강조할 것은 원상복구다. 개발 DB에서 통계를 만져 보고 그대로 두고 나오는 바람에 다음 사람이 재현되지 않는 계획을 붙들고 하루를 날리는 일이 실제로 흔하다. 변경했으면 복원까지가 한 세트라는 것을 습관으로 만들어야 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053849548"/>
      </p:ext>
    </p:extLst>
  </p:cSld>
  <p:clrMapOvr>
    <a:masterClrMapping/>
  </p:clrMapOvr>
</p:notes>
</file>

<file path=ppt/notesSlides/notesSlide3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데이터 편중은 예외 상황이 아니라 기본값에 가깝다는 점을 여기서 심어 줘야 한다. 학습자들은 교과서에서 균등 분포를 가정한 예제를 오래 봐 왔기 때문에 편중을 특수 케이스로 여기는 경향이 있다. 실제 업무 데이터에서 완전히 균등한 컬럼을 찾는 편이 오히려 어렵다. 값을 두 개 고른 것도 설명을 위한 편의가 아니라 대조군 설계다. 쏠린 값 하나와 평범한 값 하나를 나란히 놓아야 추정치가 값에 반응하는지 아니면 값과 무관하게 고정되는지를 한눈에 판정할 수 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437547039"/>
      </p:ext>
    </p:extLst>
  </p:cSld>
  <p:clrMapOvr>
    <a:masterClrMapping/>
  </p:clrMapOvr>
</p:notes>
</file>

<file path=ppt/notesSlides/notesSlide3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두 번째 절은 용어를 정리하는 구간이다. 이 절을 건너뛰면 뒤의 실측 결과가 숫자 놀음처럼 보인다. 특히 NDV, 카디널리티, 선택도는 서로 다른 개념인데 현장에서 뒤섞여 쓰이는 일이 많다. 여기서 한 번 정확히 구분해 두면 실습 답안에서 근거를 쓸 때 문장이 흔들리지 않는다. 설명은 짧게 하되 각 용어가 실행계획의 어느 칸에 나타나는지를 함께 짚어 주는 방식이 효과적이다. 실무에서 통계가 있다는 표현이 테이블 통계만 있다는 뜻인지 히스토그램까지 있다는 뜻인지 서로 다르게 쓰이는 바람에 원인 파악이 늦어지는 일이 있다. 이 절에서 말을 통일해 두면 그런 낭비를 줄일 수 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906276767"/>
      </p:ext>
    </p:extLst>
  </p:cSld>
  <p:clrMapOvr>
    <a:masterClrMapping/>
  </p:clrMapOvr>
</p:notes>
</file>

<file path=ppt/notesSlides/notesSlide3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여기서 학습자가 가장 흔히 오해하는 지점은 옵티마이저가 실제 데이터를 보고 판단한다고 생각하는 것이다. 실행 전에 데이터를 세어 볼 수 있다면 애초에 추정이라는 말이 필요 없다. 옵티마이저는 통계라는 요약본만 보고 판단하며, 그 요약본은 수집 시점의 스냅숏이다. 이 구조를 이해하면 왜 대량 적재 직후에 계획이 이상해지는지, 왜 통계 수집이 운영 작업 목록에 들어가 있는지가 한꺼번에 설명된다. 옵티마이저를 탓하기 전에 재료를 확인하라는 순서를 여기서 세워 준다.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179319822"/>
      </p:ext>
    </p:extLst>
  </p:cSld>
  <p:clrMapOvr>
    <a:masterClrMapping/>
  </p:clrMapOvr>
</p:notes>
</file>

<file path=ppt/notesSlides/notesSlide3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세 층위를 구분해 두는 것이 이 슬라이드의 목적이다. NDV까지만 있는 상태와 히스토그램까지 있는 상태의 차이가 이 장 전체의 주제이기 때문이다. 특히 NDV가 값의 종류만 알려 줄 뿐 각 값의 빈도는 알려 주지 않는다는 문장을 또박또박 읽어 줘야 한다. 이것이 다음 절의 나눗셈이 나오는 이유이자, 그 나눗셈이 틀리는 이유이기도 하다. 실무에서는 통계가 있다는 말과 히스토그램이 있다는 말을 같은 뜻으로 쓰는 경우가 많은데, 이 장에서는 둘을 반드시 구분해서 쓰게 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428942216"/>
      </p:ext>
    </p:extLst>
  </p:cSld>
  <p:clrMapOvr>
    <a:masterClrMapping/>
  </p:clrMapOvr>
</p:notes>
</file>

<file path=ppt/notesSlides/notesSlide3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히스토그램을 값별 건수표라고 설명하면 직관적이지만 정확하지 않다. 실제로는 제한된 개수의 버킷으로 분포를 요약한 것이라서, 히스토그램이 있어도 추정은 여전히 추정이다. 이 뉘앙스를 지금 심어 두면 뒤에서 복원 후 수치가 원래와 정확히 일치하지 않는 장면을 만났을 때 학습자가 당황하지 않는다. 실무 사례를 하나 붙이자면, 값의 종류가 아주 많은 컬럼에서는 버킷 예산이 부족해 드문 값이 뭉뚱그려질 수 있고 그 구간에서 추정 오차가 커진다는 점도 언급할 만하다.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098489504"/>
      </p:ext>
    </p:extLst>
  </p:cSld>
  <p:clrMapOvr>
    <a:masterClrMapping/>
  </p:clrMapOvr>
</p:notes>
</file>

<file path=ppt/notesSlides/notesSlide3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카디널리티와 선택도를 헷갈리는 학습자가 많은데, 개수와 비율이라는 한 단어 차이로 정리해 주면 대부분 정리된다. 더 중요한 것은 이 값이 왜 첫 단추인가다. 실행계획을 도미노로 비유하면 카디널리티 추정이 첫 번째 도미노다. 첫 도미노가 잘못 서면 뒤의 모든 판단이 함께 넘어진다. 실무에서 실행계획을 받아 볼 때 가장 먼저 확인할 것도 오퍼레이션 이름이 아니라 E-Rows와 A-Rows의 괴리라는 점을 습관으로 만들어 주면 좋다.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052008115"/>
      </p:ext>
    </p:extLst>
  </p:cSld>
  <p:clrMapOvr>
    <a:masterClrMapping/>
  </p:clrMapOvr>
</p:notes>
</file>

<file path=ppt/notesSlides/notesSlide3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세 번째 절은 이 장에서 유일하게 공식이 나오는 구간이다. 공식 자체는 간단하지만 그 공식이 서 있는 가정이 무엇인지가 핵심이다. 학습자에게 먼저 히스토그램이 없으면 옵티마이저는 무엇을 근거로 추정하겠느냐고 물어보고, 답을 듣고 나서 슬라이드를 여는 순서를 권한다. 대부분 데이터를 본다거나 인덱스를 본다고 답하는데, 그 오답이 다음 슬라이드의 설명을 훨씬 선명하게 만들어 준다. 이 절에서 얻는 것은 공식 암기가 아니라 진단 도구다. 값을 바꿔 가며 추정치가 움직이는지 보는 것만으로 통계 상태를 간접 확인할 수 있다는 점이 현장에서 바로 쓰인다.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292216041"/>
      </p:ext>
    </p:extLst>
  </p:cSld>
  <p:clrMapOvr>
    <a:masterClrMapping/>
  </p:clrMapOvr>
</p:notes>
</file>

<file path=ppt/notesSlides/notesSlide3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슬라이드의 마지막 줄이 이 장에서 가장 실용적인 진단 기준이다. 실행계획을 볼 때 값을 바꿔 가며 두세 번 뽑아 보고 E-Rows가 미동도 하지 않는다면, 그 컬럼에는 히스토그램이 없다고 거의 확신할 수 있다. 통계 뷰를 조회할 권한이 없는 환경에서도 이 방법으로 간접 확인이 가능하다는 점이 실무에서 유용하다. 반대로 값마다 E-Rows가 달라진다면 분포 정보가 반영되고 있다는 뜻이므로, 문제의 원인을 다른 곳에서 찾아야 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115818318"/>
      </p:ext>
    </p:extLst>
  </p:cSld>
  <p:clrMapOvr>
    <a:masterClrMapping/>
  </p:clrMapOvr>
</p:notes>
</file>

<file path=ppt/notesSlides/notesSlide3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오차의 방향이 값마다 반대라는 점을 강조해야 한다. 학습자들은 추정이 틀린다고 하면 한 방향으로 일관되게 틀릴 것이라 기대하는데, 균등 가정의 오차는 그렇지 않다. 그래서 같은 SQL이 어떤 조건 값에서는 잘 돌고 어떤 값에서는 느려지는, 재현이 잘 안 되는 성능 문제가 만들어진다. 고객사에서 특정 거래처 코드로 조회할 때만 느리다는 신고를 받아 본 적이 있다면 바로 이 구조라는 것을 짚어 주면 공감도가 크게 올라간다.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227352758"/>
      </p:ext>
    </p:extLst>
  </p:cSld>
  <p:clrMapOvr>
    <a:masterClrMapping/>
  </p:clrMapOvr>
</p:notes>
</file>

<file path=ppt/notesSlides/notesSlide3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뷰를 확인하는 습관이 이 장에서 가져갈 실무 기술이다. 계획이 이상하다는 신고를 받으면 실행계획만 들여다보기 쉬운데, 그 전에 재료가 어떤 상태인지 30초면 확인할 수 있다. 학습자에게는 통계 상태를 먼저 보고 실행계획을 본다는 순서를 권한다. 그리고 이번 실습에서는 이 뷰가 채점 기준 역할도 한다. 복원했다고 말로 주장하는 것이 아니라 두 컬럼의 값으로 증명하는 것이 이 차시의 규칙이라는 점을 분명히 해 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1045311"/>
      </p:ext>
    </p:extLst>
  </p:cSld>
  <p:clrMapOvr>
    <a:masterClrMapping/>
  </p:clrMapOvr>
</p:notes>
</file>

<file path=ppt/notesSlides/notesSlide3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네 번째 절부터 실측 구간이다. 베이스라인을 먼저 잡는 이유는 비교 대상이 있어야 변화를 말할 수 있기 때문이다. 실무에서도 튜닝 전 상태를 기록하지 않고 손부터 대는 바람에 나아졌는지 나빠졌는지 설명하지 못하는 일이 흔하다. 측정 먼저, 변경은 그 다음이라는 순서를 이 절에서 몸에 익히게 한다. 이 절의 숫자는 전부 실습 DB에서 캡처한 실측값이라는 점도 다시 한 번 알려 준다. 학습자 환경에 따라 값이 조금 다르게 나올 수 있는데, 그때 봐야 할 것은 숫자의 일치가 아니라 두 조건의 추정치가 서로 다르게 나오는가라는 성질이다.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58395888"/>
      </p:ext>
    </p:extLst>
  </p:cSld>
  <p:clrMapOvr>
    <a:masterClrMapping/>
  </p:clrMapOvr>
</p:notes>
</file>

<file path=ppt/notesSlides/notesSlide3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두 조회를 나란히 실행하는 것이 이 실습의 대조군 설계다. 값 하나만 보면 추정이 맞았는지 틀렸는지는 알 수 있어도, 추정이 값에 반응하는지는 알 수 없다. 통계 상태 조회를 함께 실행하는 이유는 결과를 해석할 근거를 같은 화면에 남겨 두기 위해서다. 실무에서 실행계획을 캡처해 보관할 때도 통계 상태를 같이 남겨 두면 나중에 왜 그때 그 계획이 나왔는지를 재구성할 수 있다. 이 습관 하나로 재현 불가 이슈가 크게 줄어든다.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947065695"/>
      </p:ext>
    </p:extLst>
  </p:cSld>
  <p:clrMapOvr>
    <a:masterClrMapping/>
  </p:clrMapOvr>
</p:notes>
</file>

<file path=ppt/notesSlides/notesSlide3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표를 읽을 때 세로가 아니라 가로로 먼저 읽게 해야 한다. 한 줄 안에서 추정치와 실제값이 얼마나 가까운지를 보는 것이 첫 번째이고, 두 줄을 비교해 추정치가 값에 반응했는지를 보는 것이 두 번째다. 이 순서를 지키면 다음 절에서 표가 어떻게 달라지는지가 훨씬 뚜렷하게 보인다. 학습자에게 지금 이 표를 잘 기억해 두라고 미리 말해 두면, 제거 후 결과를 봤을 때 스스로 차이를 찾아내는 반응이 나온다. 정확도 칸의 비율 표기는 추정치를 실제값으로 나눈 값이다. 한쪽은 살짝 크게, 한쪽은 살짝 작게 잡혔는데 방향이 다르다는 것 자체가 값별로 따로 추정하고 있다는 신호다.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057838344"/>
      </p:ext>
    </p:extLst>
  </p:cSld>
  <p:clrMapOvr>
    <a:masterClrMapping/>
  </p:clrMapOvr>
</p:notes>
</file>

<file path=ppt/notesSlides/notesSlide3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여기서 중요한 것은 근접했다는 말을 어떻게 정의하느냐다. 실행계획의 추정치는 소수점까지 맞히는 것이 목적이 아니라 옵티마이저가 올바른 선택을 하도록 이끄는 것이 목적이다. 따라서 판단 기준은 오차의 절대값이 아니라 자릿수 수준의 괴리 여부다. 실무 감각으로는 한 자릿수 배수 안쪽이면 대체로 무해하고, 열 배를 넘어가기 시작하면 계획 선택이 뒤집힐 위험 구간에 들어간다. 이 기준을 지금 세워 두면 다음 절의 숫자를 볼 때 판정이 자동으로 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161505638"/>
      </p:ext>
    </p:extLst>
  </p:cSld>
  <p:clrMapOvr>
    <a:masterClrMapping/>
  </p:clrMapOvr>
</p:notes>
</file>

<file path=ppt/notesSlides/notesSlide3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절이 이 장의 핵심이다. 통계 하나만 바꿨을 뿐 데이터도 SQL도 인덱스도 그대로라는 점을 반복해서 강조해야 한다. 학습자가 이 절에서 얻어야 할 것은 숫자 하나가 아니라 통제된 실험이 주는 확신이다. 실행 전에 결과를 예측하게 시키면 효과가 크다. 앞 절에서 나눗셈을 배웠으므로 대부분 300이라는 숫자를 스스로 계산해 낼 수 있고, 자기가 예측한 값이 화면에 뜨는 경험은 오래 남는다. 다만 이 실습은 통계를 실제로 변경하는 작업이므로, 운영 DB에서는 절대 따라 하지 말라는 경고를 절 시작에 함께 붙여 준다.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167506451"/>
      </p:ext>
    </p:extLst>
  </p:cSld>
  <p:clrMapOvr>
    <a:masterClrMapping/>
  </p:clrMapOvr>
</p:notes>
</file>

<file path=ppt/notesSlides/notesSlide3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SIZE 1이 히스토그램을 지우는 명령처럼 보이지만 실제로는 구간을 하나만 만들라는 지시다. 구간이 하나면 분포를 나눠 기록한 것이 아니므로 결과적으로 히스토그램이 없는 것과 같아진다. 이 미묘한 차이를 짚어 주면 뒤에 나오는 NUM_BUCKETS 값 1의 의미가 자연스럽게 연결된다. 실무 주의사항도 하나 덧붙인다. 운영 DB에서 METHOD_OPT를 임의로 지정해 수집하면 그 설정이 그대로 남아 다음 자동 수집 결과에까지 영향을 줄 수 있으므로, 반드시 복원 계획을 세우고 손대야 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074815822"/>
      </p:ext>
    </p:extLst>
  </p:cSld>
  <p:clrMapOvr>
    <a:masterClrMapping/>
  </p:clrMapOvr>
</p:notes>
</file>

<file path=ppt/notesSlides/notesSlide3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표에서 학습자가 먼저 보게 될 것은 두 줄의 E-Rows가 글자 그대로 똑같다는 점이다. 여기서 잠깐 멈추고 이것이 우연히 비슷한 것이 아니라 완전히 동일한 값이라는 점을 확인시켜야 한다. 값이 다른데 추정치가 같다는 것은 옵티마이저가 값을 보지 않고 계산했다는 뜻이고, 그것이 균등 가정의 서명이다. 앞 절 표와 나란히 놓고 비교하면 통계 하나가 만들어 내는 차이가 얼마나 큰지가 설명 없이도 전달된다.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567376958"/>
      </p:ext>
    </p:extLst>
  </p:cSld>
  <p:clrMapOvr>
    <a:masterClrMapping/>
  </p:clrMapOvr>
</p:notes>
</file>

<file path=ppt/notesSlides/notesSlide3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슬라이드는 실습문제 1번과 그대로 대응한다. 채점 기준은 300이라는 답이 아니라 전체 행 수와 NDV를 근거로 제시했는지다. 숫자를 외운 학습자와 원리를 이해한 학습자는 여기서 갈린다. 원리를 이해했다면 테이블이 바뀌어도, 컬럼이 바뀌어도 같은 방식으로 추정치를 예측할 수 있다. 실무에서도 실행계획을 보기 전에 대략 이 정도가 나오겠다고 미리 계산해 보고 실제 값과 맞춰 보는 습관이 통계 이상을 가장 빨리 잡아내는 방법이다.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55514054"/>
      </p:ext>
    </p:extLst>
  </p:cSld>
  <p:clrMapOvr>
    <a:masterClrMapping/>
  </p:clrMapOvr>
</p:notes>
</file>

<file path=ppt/notesSlides/notesSlide3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슬라이드가 이 장의 결론에 해당한다. 학습자에게 추정이 틀리면 왜 나쁘냐고 물으면 대개 계획이 나빠진다고 답하지만, 그 중간 고리를 설명하지 못한다. 고리는 이렇다. 추정치는 조인 방식과 조인 순서를 고르는 입력값이고, 입력이 열 배 틀리면 반복 횟수도 열 배 틀린다. 실무에서 조인 하나 때문에 배치가 몇 시간씩 늘어지는 사고 대부분이 이 경로를 탄다. 실행계획에서 E-Rows와 A-Rows의 괴리를 먼저 보라는 조언이 여기서 근거를 얻는다.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852345099"/>
      </p:ext>
    </p:extLst>
  </p:cSld>
  <p:clrMapOvr>
    <a:masterClrMapping/>
  </p:clrMapOvr>
</p:notes>
</file>

<file path=ppt/notesSlides/notesSlide3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여섯 번째 절은 실습 안전 수칙이자 동시에 개념 학습 구간이다. 복원 절차만 알려 주고 넘어가면 아까운데, 여기서 SIZE AUTO가 무엇을 자동으로 판단하는지를 함께 다루면 앞 절의 실험이 왜 인위적인 상황이었는지가 분명해진다. 평소에는 Oracle이 알아서 필요한 컬럼에만 히스토그램을 만들어 준다는 것, 그래서 이 장의 문제는 자주 일어나지는 않지만 일어나면 원인을 찾기 어렵다는 것을 함께 짚어 준다.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208325370"/>
      </p:ext>
    </p:extLst>
  </p:cSld>
  <p:clrMapOvr>
    <a:masterClrMapping/>
  </p:clrMapOvr>
</p:notes>
</file>

<file path=ppt/notesSlides/notesSlide3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SIZE AUTO는 Oracle이 각 컬럼의 데이터 분포를 보고 히스토그램이 필요한지 스스로 판단하게 하는 옵션이다. 이 스키마의 HOSP_ID처럼 스큐가 실제로 있는 컬럼에는 자동으로 히스토그램을 만들어 준다. 여기서 학습자가 자주 묻는 질문이 있다. 그러면 굳이 신경 쓸 일이 없는 것 아니냐는 것이다. 답은 자동 판단이 만능은 아니라는 것이다. 분포가 자주 변하는 테이블이나 수집 주기가 데이터 변화 속도를 못 따라가는 경우에는 자동 판단도 낡은 근거 위에서 이뤄진다.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575377247"/>
      </p:ext>
    </p:extLst>
  </p:cSld>
  <p:clrMapOvr>
    <a:masterClrMapping/>
  </p:clrMapOvr>
</p:notes>
</file>

<file path=ppt/notesSlides/notesSlide3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복원 후 표를 보여 줄 때는 숫자 하나가 아니라 판정 기준을 함께 제시해야 한다. 이 한 줄만 놓고 보면 복원됐다는 결론이 성급해 보일 수 있는데, 실제 근거는 세 가지가 함께 충족됐다는 데 있다. 통계 뷰의 값이 원래대로 돌아왔고, 추정치가 다시 실제값에 근접했으며, 값에 따라 추정치가 달라지는 성질이 회복됐다는 것이다. 다음 슬라이드에서 이 기준을 명시적으로 정리하므로 여기서는 질문을 던져 두는 정도로 넘어가는 편이 좋다.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018194886"/>
      </p:ext>
    </p:extLst>
  </p:cSld>
  <p:clrMapOvr>
    <a:masterClrMapping/>
  </p:clrMapOvr>
</p:notes>
</file>

<file path=ppt/notesSlides/notesSlide3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슬라이드는 실습문제 6번과 대응하며, 이 장에서 가장 실무적인 사고 훈련이기도 하다. 숫자가 똑같아야 정상이라고 믿으면 정상 상태를 매번 이상으로 오판하게 된다. 표본 추출 기반이라는 사실을 알면, 통계를 다시 수집했더니 계획이 미묘하게 달라졌다는 현상도 놀랍지 않게 받아들일 수 있다. 판정 기준을 값의 일치가 아니라 성질의 회복에 두는 사고방식은 통계뿐 아니라 성능 측정 전반에 그대로 적용된다. 측정값이 매번 조금씩 흔들리는 것은 결함이 아니라 표본 기반 측정의 본래 성질이라는 점을 여기서 한 번 정리해 두면 좋다.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61958101"/>
      </p:ext>
    </p:extLst>
  </p:cSld>
  <p:clrMapOvr>
    <a:masterClrMapping/>
  </p:clrMapOvr>
</p:notes>
</file>

<file path=ppt/notesSlides/notesSlide3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종합표에서 가장 중요한 칸은 맨 오른쪽이다. 왼쪽 숫자들은 이 실습 환경의 값이지만 오른쪽 판정은 어느 환경에서나 성립하는 원리다. 학습자가 이 장에서 하나만 가져간다면 두 값이 다른가라는 질문 그 자체여야 한다. 세 번째 행에 재측정 안 함이라고 적혀 있는 것도 그대로 두는 편이 좋다. 실험 기록에서 하지 않은 것을 하지 않았다고 적는 태도가 만들어 낸 값을 채워 넣는 것보다 훨씬 중요하다는 점을 여기서 짚어 줄 수 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789279824"/>
      </p:ext>
    </p:extLst>
  </p:cSld>
  <p:clrMapOvr>
    <a:masterClrMapping/>
  </p:clrMapOvr>
</p:notes>
</file>

<file path=ppt/notesSlides/notesSlide3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슬라이드는 실습문제 8번과 대응한다. 기본값이 무엇인지 아는 것이 왜 중요한지를 여기서 짚어 주면 좋다. 명시하지 않았다는 것은 설정이 없는 상태가 아니라 기본값이 적용된 상태이며, 그 기본값이 무엇인지 모르면 결과를 설명할 수 없다. 실무에서 통계 수집 배치를 물려받았을 때 가장 먼저 확인해야 할 것도 어떤 파라미터가 명시됐고 어떤 것이 기본값에 맡겨져 있는가다. 이 확인 없이 수집 주기만 조정하다 사고가 나는 경우가 많다.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59769951"/>
      </p:ext>
    </p:extLst>
  </p:cSld>
  <p:clrMapOvr>
    <a:masterClrMapping/>
  </p:clrMapOvr>
</p:notes>
</file>

<file path=ppt/notesSlides/notesSlide3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마지막 절은 이 장의 결론을 뒤집는 것이 아니라 적용 범위를 정하는 구간이다. 앞 절까지만 듣고 나가면 히스토그램을 많이 만들수록 좋다는 결론에 도달하기 쉬운데, 그 결론은 위험하다. 여기서 다루는 세 가지는 각각 비용, 실행 방식, 통계 종류라는 서로 다른 축에서 히스토그램의 한계를 보여 준다. 실습문제 7번, 9번, 10번이 정확히 이 세 항목에 대응하므로 절 시작에 미리 예고해 두면 학습자가 집중해서 듣는다.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214170981"/>
      </p:ext>
    </p:extLst>
  </p:cSld>
  <p:clrMapOvr>
    <a:masterClrMapping/>
  </p:clrMapOvr>
</p:notes>
</file>

<file path=ppt/notesSlides/notesSlide3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슬라이드는 실습문제 7번과 대응한다. 튜닝을 배우는 과정에서 학습자들이 흔히 빠지는 함정이 좋은 것은 많을수록 좋다는 사고인데, 인덱스에서 한 번, 히스토그램에서 또 한 번 같은 함정을 만난다. 모든 성능 장치는 이득과 비용을 동시에 갖는다는 원칙을 여기서 다시 확인시켜 주면 좋다. 특히 파싱 비용 증가는 눈에 잘 안 띄는 종류의 손해라서, 대량 동시 접속 환경에서 뒤늦게 문제로 드러나는 경우가 있다는 점을 실무 사례로 덧붙일 만하다.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640395389"/>
      </p:ext>
    </p:extLst>
  </p:cSld>
  <p:clrMapOvr>
    <a:masterClrMapping/>
  </p:clrMapOvr>
</p:notes>
</file>

<file path=ppt/notesSlides/notesSlide3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슬라이드는 실습문제 9번과 대응하며, 두 챕터의 원리가 서로 상충할 수 있다는 것을 보여 주는 자리다. 학습자에게는 이런 충돌이 예외가 아니라 정상이라고 말해 줘야 한다. 튜닝은 규칙을 외워 적용하는 일이 아니라 상충하는 요구 사이에서 균형점을 찾는 일이기 때문이다. 바인드 변수는 파싱 부하를 줄이고 히스토그램은 추정 정확도를 높이는데, 두 목적이 같은 SQL에서 부딪힐 수 있다는 구조를 이해하면 실무 판단이 훨씬 유연해진다.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644799121"/>
      </p:ext>
    </p:extLst>
  </p:cSld>
  <p:clrMapOvr>
    <a:masterClrMapping/>
  </p:clrMapOvr>
</p:notes>
</file>

<file path=ppt/notesSlides/notesSlide3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슬라이드는 실습문제 10번과 대응하며, 이 장에서 가장 수준 높은 사고를 요구한다. 도구를 배우면 모든 문제가 그 도구로 보이는 현상을 여기서 교정한다. 히스토그램을 막 배운 직후이므로 학습자들은 카디널리티 오차를 보면 반사적으로 히스토그램을 떠올리는데, 원인이 다르면 처방도 달라야 한다. 진단 절차로 정리하면 이렇다. 조건이 단일 컬럼인지 조합인지 먼저 확인하고, 조합이라면 컬럼 간 상관관계를 의심하는 쪽으로 방향을 튼다.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518656956"/>
      </p:ext>
    </p:extLst>
  </p:cSld>
  <p:clrMapOvr>
    <a:masterClrMapping/>
  </p:clrMapOvr>
</p:notes>
</file>

<file path=ppt/notesSlides/notesSlide3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앞의 여러 절에서 흩어져 나온 판단 기준을 하나의 순서로 묶은 슬라이드다. 실무에서 성능 신고를 받았을 때 이 다섯 단계를 순서대로 밟으면 통계가 원인인지 아닌지를 비교적 빠르게 가를 수 있다. 순서가 중요한 이유는 각 단계가 다음 단계의 범위를 좁혀 주기 때문이다. 특히 5단계는 이 장에서 직접 실습하지는 않았지만 현장에서 가장 자주 만나는 원인이다. 데이터는 밤새 크게 바뀌었는데 통계는 그전 상태로 남아 있는 상황이 대표적이다.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253334023"/>
      </p:ext>
    </p:extLst>
  </p:cSld>
  <p:clrMapOvr>
    <a:masterClrMapping/>
  </p:clrMapOvr>
</p:notes>
</file>

<file path=ppt/notesSlides/notesSlide3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장에서 히스토그램은 통계의 세부 항목이었지만, 운영 관점에서 더 자주 문제가 되는 것은 수집 시점이다. 히스토그램이 있느냐 없느냐보다 통계가 언제 것이냐가 실무 사고의 원인으로 더 흔하다. 학습자에게는 통계 수집을 성능 개선 작업이 아니라 변경 작업으로 인식하라고 권한다. 계획이 바뀔 수 있는 행위이므로 변경 관리 대상이라는 뜻이다. 수집 전후의 실행계획을 남겨 두는 습관 하나가 사고 시점의 원인 규명 시간을 크게 줄여 준다.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550115350"/>
      </p:ext>
    </p:extLst>
  </p:cSld>
  <p:clrMapOvr>
    <a:masterClrMapping/>
  </p:clrMapOvr>
</p:notes>
</file>

<file path=ppt/notesSlides/notesSlide3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요약 여덟 줄은 앞의 세 줄이 원리, 가운데 세 줄이 도구와 위험, 마지막 두 줄이 한계에 해당한다. 이 화면을 남겨 두고 실습을 시작하게 하면 좋다. 특히 마지막 줄은 실습문제 9번과 10번의 근거가 되는 문장이므로 답안에서 이 구분을 쓸 수 있는지가 이해도의 척도다. 여섯 번째 줄은 이 장이 다음 장들과 이어지는 지점이기도 하므로, 카디널리티가 모든 판단의 첫 단추라는 말을 한 번 더 반복해 주는 편이 좋다.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218380282"/>
      </p:ext>
    </p:extLst>
  </p:cSld>
  <p:clrMapOvr>
    <a:masterClrMapping/>
  </p:clrMapOvr>
</p:notes>
</file>

<file path=ppt/notesSlides/notesSlide3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이번 장의 실습은 전부 서술형이며 새 SQL을 작성하는 문항이 없다. 채점 기준은 결론의 일치가 아니라 근거로 삼은 값과 논리의 순서다. 특히 5번과 10번은 정답이 하나로 정해지지 않으므로, 판단의 근거를 어떤 통계 개념에서 끌어왔는지를 보면 된다. 실습 종료 규칙은 반복해서 안내한다. 통계를 바꾼 채로 자리를 뜨면 다음 차시의 실행계획이 재현되지 않아 뒤의 학습 전체가 어긋난다는 점을 분명히 해 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55015557"/>
      </p:ext>
    </p:extLst>
  </p:cSld>
  <p:clrMapOvr>
    <a:masterClrMapping/>
  </p:clrMapOvr>
</p:notes>
</file>

<file path=ppt/notesSlides/notesSlide3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제7장은 여러 테이블을 함께 다루는 첫 챕터다. 지금까지는 한 테이블을 어떻게 읽을지만 봤지만 실무 SQL은 대부분 조인이고, 성능 사고도 대부분 조인에서 난다. 이번 장의 실행계획과 Buffers는 모두 진료비청구심사 실습 DB에서 직접 캡처한 실측값이며, 강사는 값을 외우게 하기보다 어느 컬럼을 근거로 무엇을 판단했는지를 따라오게 해야 한다. 특히 힌트를 걸었는데 의도대로 적용되지 않은 사례가 이 장의 백미이므로, 시작할 때 그 반전을 미리 예고해 두면 집중도가 크게 올라간다.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121866623"/>
      </p:ext>
    </p:extLst>
  </p:cSld>
  <p:clrMapOvr>
    <a:masterClrMapping/>
  </p:clrMapOvr>
</p:notes>
</file>

<file path=ppt/notesSlides/notesSlide3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학습 목표는 세 묶음으로 나뉜다. 앞의 네 줄은 세 조인 방식의 동작 원리를 스스로 말로 설명할 수 있게 하는 것이고, 가운데 세 줄은 그 원리를 비용 관점으로 옮겨 언제 무엇이 유리한지 판단하는 능력이다. 마지막 세 줄이 이 장의 실무적 핵심으로, 힌트를 믿지 말고 실행계획으로 검증하라는 태도를 세우는 부분이다. 수업이 끝날 때 이 목록을 다시 띄워 학습자가 각 항목을 자기 문장으로 말해 보게 하면 어디가 비었는지 바로 드러난다.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513681018"/>
      </p:ext>
    </p:extLst>
  </p:cSld>
  <p:clrMapOvr>
    <a:masterClrMapping/>
  </p:clrMapOvr>
</p:notes>
</file>

<file path=ppt/notesSlides/notesSlide3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전체 흐름은 '원리 세우기, 예제 확인, 실측, 반례, 개선, 종합'의 여섯 단계다. 7.2와 7.3에서 세 방식의 동작과 비용 구조를 개념으로 세우고, 7.4의 예제 한 문장을 조건만 바꿔 가며 반복 실행한 결과를 7.5부터 순서대로 본다. 7.6이 이 장의 반전 구간이고, 7.7에서 진짜 해법이 인덱스였다는 것을 확인한 뒤 7.8에서 결과를 한 표로 정리한다. 시간이 부족하면 7.2와 7.6에 무게를 두고 나머지는 요약으로 넘기는 편이 낫다.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200044395"/>
      </p:ext>
    </p:extLst>
  </p:cSld>
  <p:clrMapOvr>
    <a:masterClrMapping/>
  </p:clrMapOvr>
</p:notes>
</file>

<file path=ppt/notesSlides/notesSlide3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첫 절은 관점을 넓히는 구간이다. 앞 챕터들에서 학습자는 Full Scan과 Index Scan을 비교하는 데 익숙해졌는데, 그 감각만으로 조인을 보면 '어느 테이블을 인덱스로 읽느냐'만 따지게 된다. 조인에는 접근 경로 외에 짝짓는 방법이라는 축이 하나 더 있고, 실제로는 그 축이 비용을 더 크게 좌우한다는 점을 먼저 심어 준 다음 개념으로 들어가야 한다. 여기서 시간을 많이 쓸 필요는 없지만 축이 하나 늘었다는 사실만은 분명히 남겨야 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256638282"/>
      </p:ext>
    </p:extLst>
  </p:cSld>
  <p:clrMapOvr>
    <a:masterClrMapping/>
  </p:clrMapOvr>
</p:notes>
</file>

<file path=ppt/notesSlides/notesSlide3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학습자들이 조인을 어려워하는 이유는 실행계획이 갑자기 트리 구조로 보이기 시작하기 때문이다. 단일 테이블 계획은 위에서 아래로 한 줄기지만, 조인이 들어오면 한 오퍼레이션 아래에 형제 두 개가 붙는다. 이 구조 변화를 먼저 말로 설명해 두면 뒤의 실행계획 슬라이드에서 들여쓰기를 읽는 부담이 크게 줄어든다. 조인 순서와 조인 방식은 서로 다른 결정이라는 점도 여기서 짚어 두면 뒤에서 힌트 이야기를 할 때 혼동이 줄어든다.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495285193"/>
      </p:ext>
    </p:extLst>
  </p:cSld>
  <p:clrMapOvr>
    <a:masterClrMapping/>
  </p:clrMapOvr>
</p:notes>
</file>

<file path=ppt/notesSlides/notesSlide3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실습 소재의 비대칭성을 강조해야 한다. 한쪽은 필터로 다섯 건까지 좁혀지고 다른 쪽은 삼십만 건짜리 테이블이다. 이런 극단적 비대칭은 교과서에서 NL이 유리하다고 말하는 전형적인 상황인데, 이 장의 결과는 그 통념이 조건부라는 것을 보여 준다. 인덱스 정리 안내도 가볍게 넘기지 말자. 실습 인덱스를 남겨 두면 다음 챕터의 실행계획이 교안과 달라져 문의가 쏟아지고, 원인을 찾느라 강의 시간을 허비하게 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587607756"/>
      </p:ext>
    </p:extLst>
  </p:cSld>
  <p:clrMapOvr>
    <a:masterClrMapping/>
  </p:clrMapOvr>
</p:notes>
</file>

<file path=ppt/notesSlides/notesSlide3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절은 이 장에서 가장 개념적인 구간이고, 뒤의 모든 실행계획 해석이 여기에 기댄다. 세 방식을 나열식으로 외우게 하지 말고, 각각을 처리 흐름의 단계로 풀어 설명한 뒤 그 단계가 실행계획의 어느 컬럼에 흔적으로 남는지까지 연결해 줘야 한다. 특히 Driving Table은 용어만 알고 실행계획에서는 못 찾는 학습자가 많으므로 판별법을 반드시 함께 준다. 여기서 확실히 잡아 두면 뒤의 실측 구간이 훨씬 빨리 진행된다.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891759528"/>
      </p:ext>
    </p:extLst>
  </p:cSld>
  <p:clrMapOvr>
    <a:masterClrMapping/>
  </p:clrMapOvr>
</p:notes>
</file>

<file path=ppt/notesSlides/notesSlide3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결정해야 할 것이 두 가지라는 점을 분명히 해 두면 뒤에서 혼동이 줄어든다. 학습자들은 조인 순서와 조인 방식을 자주 섞어서 이해하는데, 힌트도 ORDERED나 LEADING 계열과 USE_NL이나 USE_HASH 계열로 나뉘어 있다. 또 세 테이블 이상이어도 한 번에 세 개를 짝짓는 것이 아니라 둘씩 차례로 처리한다는 사실은 복잡한 실행계획을 읽을 때 실제로 도움이 되는 관점이므로, 짧게라도 반드시 언급하고 넘어가자.</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661506295"/>
      </p:ext>
    </p:extLst>
  </p:cSld>
  <p:clrMapOvr>
    <a:masterClrMapping/>
  </p:clrMapOvr>
</p:notes>
</file>

<file path=ppt/notesSlides/notesSlide3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네 단계를 손짓으로 그려 가며 설명하면 이해가 훨씬 빠르다. 왼손을 Outer, 오른손을 Inner로 두고 왼손을 한 칸 내릴 때마다 오른손 전체를 훑는 동작을 반복해 보이면 '왜 곱셈인가'가 즉시 전달된다. 그리고 이 반복 횟수가 실행계획의 Starts라는 숫자로 그대로 관측된다는 점을 미리 예고해 두면, 7.7절에서 그 값을 볼 때 학습자가 스스로 연결짓는다. 첫 행이 빨리 나온다는 성질도 화면 조회와 묶어 설명하자.</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205192359"/>
      </p:ext>
    </p:extLst>
  </p:cSld>
  <p:clrMapOvr>
    <a:masterClrMapping/>
  </p:clrMapOvr>
</p:notes>
</file>

<file path=ppt/notesSlides/notesSlide3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Build와 Probe라는 두 단어를 반드시 남겨야 한다. 이 장의 실행계획에서 Hash Join 아래 형제 두 개 중 위쪽이 Build, 아래쪽이 Probe인데, 용어를 모르면 어느 쪽이 작은 쪽인지 읽어내지 못한다. 해시 테이블이 메모리에 다 들어가지 않으면 디스크로 내려간다는 점은 앞 챕터의 작업 영역 이야기와 이어지는 대목이라, 왜 Hash Join이 메모리를 쓰는 방식인지 여기서 한 번 더 묶어 주면 학습자의 지도가 넓어진다.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601018740"/>
      </p:ext>
    </p:extLst>
  </p:cSld>
  <p:clrMapOvr>
    <a:masterClrMapping/>
  </p:clrMapOvr>
</p:notes>
</file>

<file path=ppt/notesSlides/notesSlide3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세 번째 방식을 원리만 다루는 이유를 솔직히 말해 주는 편이 좋다. 실습 DB의 이번 쿼리에서는 옵티마이저가 Sort Merge를 선택하지 않았기 때문에 실측 자료가 없다. 다만 비등가 조인이 필요할 때 Hash Join이 아예 불가능하다는 사실은 실무에서 종종 만나는 제약이므로 개념만은 반드시 남겨야 한다. 정렬을 인덱스로 대체할 수 있다는 점도 인덱스 설계 챕터와 이어지므로, 나중에 다시 만날 이야기라고 예고해 두자.</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406037526"/>
      </p:ext>
    </p:extLst>
  </p:cSld>
  <p:clrMapOvr>
    <a:masterClrMapping/>
  </p:clrMapOvr>
</p:notes>
</file>

<file path=ppt/notesSlides/notesSlide3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Driving Table을 '큰 테이블이냐 작은 테이블이냐'로만 기억하면 곤란하다. 정확히는 조건이 적용된 뒤 남는 행 수가 기준이다. 원래 크기가 큰 테이블이라도 선택도가 아주 낮은 필터가 붙으면 Driving으로 적합해진다. 이번 실습의 HOSPITALS가 정확히 그 사례로, 천 건짜리 테이블이 조건 하나로 다섯 건까지 줄어든다. 실습 문제 10번이 바로 이 판별을 요구하므로 판단 근거를 어떻게 서술할지도 함께 정리해 주자.</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025777701"/>
      </p:ext>
    </p:extLst>
  </p:cSld>
  <p:clrMapOvr>
    <a:masterClrMapping/>
  </p:clrMapOvr>
</p:notes>
</file>

<file path=ppt/notesSlides/notesSlide3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개념을 비용으로 번역하는 절이다. 여기서 곱셈과 덧셈이라는 대비를 확실히 각인시키면, 뒤의 벤치마크 표를 볼 때 학습자가 숫자를 외우지 않고도 방향을 설명할 수 있게 된다. 마지막 항목인 힌트 이야기는 개념 절에 넣기 어색해 보일 수 있지만, 7.6절의 반전을 이해하려면 옵티마이저가 실행 전에 쿼리를 변환한다는 사실을 미리 알고 있어야 한다. 순서를 바꾸면 뒤에서 설명이 두 배로 길어지므로 여기서 깔아 두자.</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902179248"/>
      </p:ext>
    </p:extLst>
  </p:cSld>
  <p:clrMapOvr>
    <a:masterClrMapping/>
  </p:clrMapOvr>
</p:notes>
</file>

<file path=ppt/notesSlides/notesSlide3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슬라이드가 이 장의 이론적 뼈대다. 곱셈이라는 말을 반복해서 쓰자. 실습 문제 7번은 Outer 조건을 더 넓혔을 때 어떻게 되겠느냐고 묻는데, 이 공식만 있으면 학습자는 실측 없이도 방향을 답할 수 있다. 그리고 어느 지점부터는 NL의 누적 비용이 Hash Join의 한 번씩 읽기 비용을 넘어선다는 점까지 짚어 주면 선택 기준이 자연스럽게 도출된다. 앞 챕터에서 다룬 선택도에 따른 접근 방식 전환과 같은 원리다.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517336955"/>
      </p:ext>
    </p:extLst>
  </p:cSld>
  <p:clrMapOvr>
    <a:masterClrMapping/>
  </p:clrMapOvr>
</p:notes>
</file>

<file path=ppt/notesSlides/notesSlide3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안정적이라는 말의 뜻을 정확히 정의해 줘야 한다. 여기서 안정적이라는 것은 항상 빠르다는 뜻이 아니라, 조건이 나빠져도 비용이 폭발하지 않는다는 뜻이다. NL은 조건이 맞으면 압도적으로 싸지만 조건이 어긋나면 최악으로 간다. 이 위험 프로필의 차이가 실무에서 기본값처럼 Hash Join이 자주 선택되는 이유이며, 학습자가 힌트를 남발하지 않게 만드는 근거이기도 하다. 최선과 최악을 같이 말해 주는 습관을 보여 주자.</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633496684"/>
      </p:ext>
    </p:extLst>
  </p:cSld>
  <p:clrMapOvr>
    <a:masterClrMapping/>
  </p:clrMapOvr>
</p:notes>
</file>

<file path=ppt/notesSlides/notesSlide3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표를 암기 대상으로 만들지 않는 것이 중요하다. 학습자가 원하는 것은 딱 떨어지는 규칙이지만, 그 규칙을 주면 그다음부터는 실행계획을 안 본다. 마지막 줄이 이 장 전체의 결론과 같은 방향인데, 힌트로 방식을 밀어붙이는 대신 인덱스와 통계라는 조건을 갖춰 주는 쪽이 실무에서 훨씬 안전하다는 것을 7.7절에서 실측으로 확인하게 된다. 지금은 가설 수준으로만 던져 두고 뒤에서 회수하는 편이 극적이다. 규칙이 아니라 신호라는 말로 바꿔 부르자.</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193351052"/>
      </p:ext>
    </p:extLst>
  </p:cSld>
  <p:clrMapOvr>
    <a:masterClrMapping/>
  </p:clrMapOvr>
</p:notes>
</file>

<file path=ppt/notesSlides/notesSlide3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힌트가 조용히 무시된다는 점이 위험의 핵심이다. 문법 오류라면 즉시 알 수 있지만 적용 거부는 아무 신호도 남기지 않는다. 그래서 코드 리뷰에서 힌트가 붙은 SQL을 보면 '이 힌트가 실제로 먹었는지 확인했느냐'를 반드시 묻는 습관을 들여야 한다. 다음 절의 사례는 이 질문을 하지 않았다면 그냥 넘어갔을 상황이었다는 점을 강조하자. 힌트를 쓰지 말라는 이야기가 아니라 쓰고 나서 확인하라는 이야기임도 분명히 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789653767"/>
      </p:ext>
    </p:extLst>
  </p:cSld>
  <p:clrMapOvr>
    <a:masterClrMapping/>
  </p:clrMapOvr>
</p:notes>
</file>

<file path=ppt/notesSlides/notesSlide3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예제 절은 짧게 지나가도 되지만 GROUP BY 하나만은 눈에 남겨야 한다. 이 절에서는 그냥 집계 조건처럼 보이는 이 구문이, 7.6절에서 힌트를 무력화한 쿼리 변환의 직접적인 원인이 된다. 미리 복선이라고 말해 두면 학습자가 뒤에서 원인을 찾을 때 스스로 되짚어 온다. 예제가 단 한 문장이고 조건만 바꿔 반복 실행한다는 구조도 여기서 정리해 두면 실측 구간에서 슬라이드를 넘길 때 길을 잃지 않는다.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756202781"/>
      </p:ext>
    </p:extLst>
  </p:cSld>
  <p:clrMapOvr>
    <a:masterClrMapping/>
  </p:clrMapOvr>
</p:notes>
</file>

<file path=ppt/notesSlides/notesSlide3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예제를 띄우고 학습자에게 먼저 물어보자. 이 쿼리는 어떤 조인 방식으로 처리되겠느냐고. 대부분은 한쪽이 다섯 건이니 당연히 NL이라고 답한다. 그 예상을 칠판에 적어 두고 다음 슬라이드의 실행계획을 열면 수업이 훨씬 살아난다. 조인 조건이 등가라는 점도 짚어 두자. 세 방식 모두 후보가 될 수 있는 조건이므로 옵티마이저의 선택이 의미를 갖는다. 예측을 적어 두는 이 절차 자체가 튜닝 훈련의 일부다. 예측이 틀렸을 때가 가장 잘 배우는 순간이다.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211915673"/>
      </p:ext>
    </p:extLst>
  </p:cSld>
  <p:clrMapOvr>
    <a:masterClrMapping/>
  </p:clrMapOvr>
</p:notes>
</file>

<file path=ppt/notesSlides/notesSlide3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쿼리를 읽을 때 조인 조건과 필터 조건을 분리해서 짚는 습관을 보여 주자. 조인 조건은 어느 방식이 가능한지를 결정하고, 필터 조건은 어느 쪽이 Driving 후보가 될지를 결정한다. 두 조건이 하필 같은 컬럼에 걸려 있어 초보자가 헷갈리기 쉬운 형태이므로, 등호는 두 테이블을 잇는 조건이고 부등호는 한 테이블을 좁히는 조건이라고 명확히 구분해 준다. 이 구분은 이후 모든 조인 튜닝에서 그대로 쓰인다.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160942159"/>
      </p:ext>
    </p:extLst>
  </p:cSld>
  <p:clrMapOvr>
    <a:masterClrMapping/>
  </p:clrMapOvr>
</p:notes>
</file>

<file path=ppt/notesSlides/notesSlide3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여기서부터 실측 구간이다. 슬라이드를 넘기기 전에 각 실행이 무엇을 바꿔 가며 진행되는지 설계도를 먼저 보여 줘야 학습자가 길을 잃지 않는다. 변수는 인덱스 유무와 힌트 종류 두 개뿐이고 나머지 조건은 전부 고정이라는 점을 강조하면, 뒤에서 차이의 원인을 지목할 때 근거가 분명해진다. 실측 결과를 하나씩 보여 줄 때마다 지금 어느 칸을 채우고 있는지 되짚어 주면 이해도가 크게 올라간다. 표 한 칸씩 채워 나가는 그림을 그려 두면 좋다.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008496945"/>
      </p:ext>
    </p:extLst>
  </p:cSld>
  <p:clrMapOvr>
    <a:masterClrMapping/>
  </p:clrMapOvr>
</p:notes>
</file>

<file path=ppt/notesSlides/notesSlide3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실험 설계를 명시적으로 보여 주는 이 슬라이드는 튜닝 방법론 자체를 가르치는 슬라이드이기도 하다. 변수를 하나씩만 바꾸고 나머지를 고정한다는 원칙은 실무 튜닝에서도 그대로 쓰인다. 현장에서는 인덱스를 만들면서 SQL도 같이 고치고 통계도 갱신해 놓고는 무엇 때문에 좋아졌는지 설명하지 못하는 경우가 흔하다. 여기서 그 습관의 차이를 짚어 두면 학습자가 자기 프로젝트에서 바로 적용할 수 있다. 한 번에 하나만 바꾼다는 원칙을 판서로 남기자.</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796473348"/>
      </p:ext>
    </p:extLst>
  </p:cSld>
  <p:clrMapOvr>
    <a:masterClrMapping/>
  </p:clrMapOvr>
</p:notes>
</file>

<file path=ppt/notesSlides/notesSlide3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실행계획은 들여쓰기가 깊은 안쪽부터 읽는다. Id 4에서 PK_HOSPITALS를 범위 스캔해 다섯 건을 찾고, Id 3에서 테이블 본체를 읽는다. Id 5는 MEDICAL_CLAIMS 전체 스캔이고, 이 둘이 Id 2의 해시 조인으로 묶인다. 학습자에게 Buffers 열을 세로로 훑게 하면 전체 비용의 거의 전부가 Id 5 한 줄에 몰려 있다는 것이 한눈에 보인다. 비용이 어디에 몰려 있는지를 지목하는 연습을 여기서 시키자.</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472793323"/>
      </p:ext>
    </p:extLst>
  </p:cSld>
  <p:clrMapOvr>
    <a:masterClrMapping/>
  </p:clrMapOvr>
</p:notes>
</file>

<file path=ppt/notesSlides/notesSlide3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왜 다섯 건짜리 테이블이 있는데도 NL을 안 골랐느냐는 질문이 여기서 반드시 나온다. 답은 Inner 쪽에 쓸 인덱스가 없기 때문이다. NL을 고르면 삼십만 건 테이블을 다섯 번 훑어야 하는데, 옵티마이저는 그 비용이 한 번 훑는 Hash Join보다 비싸다고 계산한 것이다. 이 판단이 정확했다는 것은 7.7절에서 인덱스를 만든 뒤 결과가 뒤집히는 것으로 확인된다. 지금은 질문만 남겨 두고 넘어가자. 옵티마이저의 계산을 신뢰할 근거가 여기에 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859893594"/>
      </p:ext>
    </p:extLst>
  </p:cSld>
  <p:clrMapOvr>
    <a:masterClrMapping/>
  </p:clrMapOvr>
</p:notes>
</file>

<file path=ppt/notesSlides/notesSlide3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Plan hash value는 실행계획 비교의 지문 같은 값이다. 줄을 하나씩 대조하지 않아도 이 값만 같으면 구조가 같다고 볼 수 있어 실무에서 매우 자주 쓴다. 다만 같은 계획이라도 실행 시점의 캐시 상태에 따라 A-Time은 달라질 수 있으므로, 이 값이 같다고 성능까지 같다는 뜻은 아니라는 단서를 함께 달아 주는 것이 안전하다. 실습 문제 1번이 이 슬라이드의 내용을 그대로 묻는다. 답안에는 계획 구조가 같다는 표현을 쓰게 하자.</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514406788"/>
      </p:ext>
    </p:extLst>
  </p:cSld>
  <p:clrMapOvr>
    <a:masterClrMapping/>
  </p:clrMapOvr>
</p:notes>
</file>

<file path=ppt/notesSlides/notesSlide3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장의 하이라이트 구간이다. 여기서는 결론을 먼저 말하지 말고 실행계획을 먼저 보여 준 뒤 학습자가 이상한 점을 찾게 하는 편이 훨씬 효과가 좋다. 힌트를 걸었는데 계획이 안 바뀌었다는 사실 자체보다, 그때 아무 오류도 경고도 없었다는 사실이 더 중요하다는 방향으로 논의를 끌고 가자. 이 구간을 제대로 다루면 학습자가 앞으로 힌트를 대하는 태도가 확실히 달라진다. 오류 없이 무시된다는 사실을 두 번 강조하자. 학습자 대부분이 이 지점을 처음 접한다.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799679985"/>
      </p:ext>
    </p:extLst>
  </p:cSld>
  <p:clrMapOvr>
    <a:masterClrMapping/>
  </p:clrMapOvr>
</p:notes>
</file>

<file path=ppt/notesSlides/notesSlide3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학습자에게 예측을 적어 두게 한 뒤 다음 장을 넘기는 것이 좋다. 대부분은 Buffers가 크게 늘어난 나쁜 계획을 예상한다. 실제 결과가 그 예상과도, 힌트의 지시와도 다르다는 점이 이 구간의 학습 효과를 만든다. 예측을 적어 두지 않고 넘어가면 결과를 봐도 그냥 그런가 보다 하고 지나가므로, 짧더라도 반드시 예측 단계를 넣자. 의도적으로 나쁜 계획을 만들어 보는 실험 자체도 좋은 훈련이다. 예측과 결과를 나란히 적어 두면 회수하기 쉽다.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113698001"/>
      </p:ext>
    </p:extLst>
  </p:cSld>
  <p:clrMapOvr>
    <a:masterClrMapping/>
  </p:clrMapOvr>
</p:notes>
</file>

<file path=ppt/notesSlides/notesSlide3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Q1 계획과 나란히 놓고 비교하게 하는 것이 가장 효과적이다. Id 2의 오퍼레이션 이름이 같고 Buffers도 같다. 눈에 띄게 달라진 것은 Id 3에 VIEW 한 줄이 끼어들면서 HOSPITALS 접근 단계가 한 칸 더 안쪽으로 들어갔다는 점뿐이다. 학습자가 이 한 줄을 스스로 찾아내면 다음 슬라이드의 설명이 훨씬 잘 붙는다. 찾기 어려워하면 Name 열만 위에서 아래로 읽어 보라고 힌트를 주자. 대조는 학습자가 직접 하게 해야 기억에 남는다.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71780035"/>
      </p:ext>
    </p:extLst>
  </p:cSld>
  <p:clrMapOvr>
    <a:masterClrMapping/>
  </p:clrMapOvr>
</p:notes>
</file>

<file path=ppt/notesSlides/notesSlide3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여기서 실무 사고 패턴을 하나 소개하면 좋다. 성능 문제가 접수되어 힌트를 넣고 배포한 뒤 실행계획을 다시 안 본 채 개선됐다고 보고하는 경우다. 운영에서 문제가 그대로 재발하면 그제야 힌트가 무시되고 있었다는 것을 알게 된다. Buffers가 Q1과 한 자릿수도 다르지 않다는 사실이 힌트가 아무 일도 하지 않았다는 가장 확실한 증거다. 숫자로 증명하는 습관을 여기서 다시 강조하자. 배포 전 실행계획 재확인을 규칙으로 만들게 하자.</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071408302"/>
      </p:ext>
    </p:extLst>
  </p:cSld>
  <p:clrMapOvr>
    <a:masterClrMapping/>
  </p:clrMapOvr>
</p:notes>
</file>

<file path=ppt/notesSlides/notesSlide3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표로 정리하면 힌트가 한 일이 무엇인지가 분명해진다. 조인 방식도 그대로, 접근 방식도 그대로, Buffers도 그대로다. A-Time만 미세하게 다른데 이것은 앞 챕터에서 다룬 캐시 상태 차이로 설명되는 범위이지 계획의 차이가 아니다. 이 대비를 만들어 두면 학습자가 A-Time 하나만 보고 성능을 판단하는 습관에서도 한 걸음 벗어나게 된다. 무엇이 같고 무엇이 다른지 열 단위로 짚어 주자. 계획의 차이와 실행 환경의 차이를 구분해 주자.</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479918554"/>
      </p:ext>
    </p:extLst>
  </p:cSld>
  <p:clrMapOvr>
    <a:masterClrMapping/>
  </p:clrMapOvr>
</p:notes>
</file>

<file path=ppt/notesSlides/notesSlide3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VW_로 시작하는 이름은 사용자가 만든 객체가 아니라는 점을 분명히 해야 한다. 이런 이름이 보이면 내가 쓴 SQL과 실제로 실행된 SQL이 다르다는 신호이고, 그 순간부터 별칭 기반 힌트는 신뢰할 수 없게 된다. 실습 문제 2번이 이 추론을 요구하므로 근거를 어떻게 서술할지도 함께 정리해 주자. 단정 대신 추정이라는 단서를 붙여 쓰는 태도까지 가르치면 답안의 완성도가 확실히 올라간다. 내부 뷰 이름을 검색해 보는 습관도 알려 주자.</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514312268"/>
      </p:ext>
    </p:extLst>
  </p:cSld>
  <p:clrMapOvr>
    <a:masterClrMapping/>
  </p:clrMapOvr>
</p:notes>
</file>

<file path=ppt/notesSlides/notesSlide3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검증 절차를 체크리스트로 남겨 두면 실무에서 그대로 쓸 수 있다. 세 번째 항목은 특히 놓치기 쉬운데, 오퍼레이션 이름만 확인하고 넘어가면 쿼리 변환이 일어난 사실 자체를 모르고 지나간다. 그리고 이번엔 운이 좋았다는 표현을 반드시 쓰자. 힌트가 무시된 것이 결과적으로 다행이었다는 이 아이러니가 학습자에게 가장 오래 남는 대목이고, 실습 문제 9번의 논거로도 그대로 쓰인다. 이 세 줄은 그대로 팀 위키에 옮겨 써도 좋다.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194847094"/>
      </p:ext>
    </p:extLst>
  </p:cSld>
  <p:clrMapOvr>
    <a:masterClrMapping/>
  </p:clrMapOvr>
</p:notes>
</file>

<file path=ppt/notesSlides/notesSlide3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해결 구간이다. 앞 절에서 힌트가 아무 힘도 없었다는 것을 확인했으므로, 여기서는 무엇을 바꿨더니 계획이 바뀌었는지를 한 가지만 짚으면 된다. 바뀐 것은 인덱스 하나뿐이고 SQL도 데이터도 그대로라는 점을 반복해서 강조하자. 변수를 하나만 바꿨기 때문에 원인을 단정할 수 있다는 실험 설계의 이점이 여기서 회수된다. 앞의 설계도 슬라이드를 잠깐 되돌아 보여 주면 연결이 더 분명해진다. 원인을 하나로 좁힐 수 있는 상황은 흔치 않다.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937280613"/>
      </p:ext>
    </p:extLst>
  </p:cSld>
  <p:clrMapOvr>
    <a:masterClrMapping/>
  </p:clrMapOvr>
</p:notes>
</file>

<file path=ppt/notesSlides/notesSlide3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바뀐 것은 인덱스 한 줄뿐이다. SELECT 문은 Q2와 힌트까지 똑같다. 이 점을 짚고 넘어가야 다음 슬라이드의 결과 차이를 인덱스 탓으로 단정할 수 있다. 마지막 DROP 문은 반드시 함께 보여 주자. 실습 인덱스를 남겨 두면 이후 챕터의 실행계획이 교안과 달라지고, 그 원인을 찾느라 수업 시간을 낭비하게 되는 일이 실제로 자주 일어난다. 접두어 규칙을 정해 둔 이유도 여기서 설명하자. 실습 정리 여부를 조교가 확인하도록 안내하자.</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051928697"/>
      </p:ext>
    </p:extLst>
  </p:cSld>
  <p:clrMapOvr>
    <a:masterClrMapping/>
  </p:clrMapOvr>
</p:notes>
</file>

<file path=ppt/notesSlides/notesSlide3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Q2 계획과 세 곳을 대조하게 하자. Id 2가 HASH JOIN에서 NESTED LOOPS로 바뀌었고, MEDICAL_CLAIMS 접근이 전체 스캔에서 인덱스 범위 스캔으로 바뀌었으며, 전체 Buffers가 네 자리에서 두 자리로 떨어졌다. 그리고 이 계획에는 Starts 열이 함께 나와 있는데, 다음 슬라이드에서 이 열이 NL의 정의를 그대로 보여 준다는 것을 확인하게 된다. 세 곳을 학습자가 직접 짚게 하자.</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980334991"/>
      </p:ext>
    </p:extLst>
  </p:cSld>
  <p:clrMapOvr>
    <a:masterClrMapping/>
  </p:clrMapOvr>
</p:notes>
</file>

<file path=ppt/notesSlides/notesSlide3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결과를 보고 힌트가 이제야 먹혔다고 이해하는 학습자가 반드시 나온다. 정확히는 인덱스가 생겨 NL이 실제로 더 싼 선택이 되었고, 그 결과 옵티마이저가 NL로 간 것이다. 그 증거가 바로 두 슬라이드 뒤의 Q5로, 힌트를 빼도 같은 계획이 나온다. 원인과 결과를 뒤집어 기억하지 않도록 여기서 한 번 정리하고 Q5에서 확인시켜 주자. 이 구분을 못 하면 실습 문제 6번을 풀 수 없다. 힌트가 먹은 것과 조건이 바뀐 것은 다른 이야기다.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538905740"/>
      </p:ext>
    </p:extLst>
  </p:cSld>
  <p:clrMapOvr>
    <a:masterClrMapping/>
  </p:clrMapOvr>
</p:notes>
</file>

<file path=ppt/notesSlides/notesSlide3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Starts는 실행계획 읽기에서 가장 저평가된 열이다. 대부분 Buffers와 A-Rows만 보고 지나가는데, 반복 구조가 있는 계획에서는 Starts 없이는 원인을 짚을 수 없다. 그리고 이 값이 곧 NL 비용 공식에서 곱하는 쪽 숫자라는 점을 연결해 주면, 실습 문제 7번에서 Outer를 더 넓혔을 때의 변화를 학습자가 스스로 예측할 수 있게 된다. 실무에서도 반복 횟수 폭증은 이 열로 잡아낸다. 반복 횟수를 먼저 보는 습관을 들이게 하자.</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195062786"/>
      </p:ext>
    </p:extLst>
  </p:cSld>
  <p:clrMapOvr>
    <a:masterClrMapping/>
  </p:clrMapOvr>
</p:notes>
</file>

<file path=ppt/notesSlides/notesSlide3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슬라이드가 이 장의 메시지를 완성한다. 힌트로 옵티마이저를 이기려 하기보다, 옵티마이저가 옳은 판단을 내릴 수 있는 조건을 만들어 주는 편이 훨씬 안전하고 오래간다. 힌트는 데이터가 바뀌어도 그대로 남아 언젠가 잘못된 계획을 고착시키지만, 인덱스는 옵티마이저가 상황에 맞게 쓸지 말지를 다시 판단한다. 실습 문제 6번이 바로 이 논점을 묻고 있으니 근거 문장을 함께 만들어 보게 하자. 힌트는 남기고 잊히지만 조건은 다시 평가된다.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541684639"/>
      </p:ext>
    </p:extLst>
  </p:cSld>
  <p:clrMapOvr>
    <a:masterClrMapping/>
  </p:clrMapOvr>
</p:notes>
</file>

<file path=ppt/notesSlides/notesSlide3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마지막 절은 흩어진 실측 결과를 한 화면으로 모으는 구간이다. 표를 띄운 뒤 바로 설명하지 말고 학습자에게 먼저 규칙성을 찾아보게 하자. 위쪽 줄들이 전부 같고 아래쪽 줄들이 전부 같다는 패턴은 눈으로도 금방 보이며, 그 경계에 놓인 변수가 힌트가 아니라 인덱스라는 결론까지 학습자가 스스로 도달할 수 있다. 스스로 찾아낸 결론은 강사가 말해 준 결론보다 훨씬 오래 남는다. 규칙성을 찾는 시간을 일 분쯤 주는 것이 좋다.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984131613"/>
      </p:ext>
    </p:extLst>
  </p:cSld>
  <p:clrMapOvr>
    <a:masterClrMapping/>
  </p:clrMapOvr>
</p:notes>
</file>

<file path=ppt/notesSlides/notesSlide3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표를 읽는 순서를 정해 주자. 먼저 Buffers 열만 세로로 훑으면 값이 두 종류뿐이라는 것이 보인다. 다음으로 그 두 그룹의 경계가 어디인지 찾으면 인덱스 유무라는 답이 나온다. 마지막으로 조인 방식 열을 보면 힌트를 걸었는데 미적용으로 표시된 줄이 눈에 들어온다. 이 세 단계로 읽으면 표 하나에서 이 장의 결론 전체가 도출된다. 표를 읽는 절차 자체를 가르치는 슬라이드로 쓰자. 표 읽기 훈련은 이후 모든 챕터에서 재사용된다.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578433110"/>
      </p:ext>
    </p:extLst>
  </p:cSld>
  <p:clrMapOvr>
    <a:masterClrMapping/>
  </p:clrMapOvr>
</p:notes>
</file>

<file path=ppt/notesSlides/notesSlide3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일반화의 범위를 정확히 그어 주는 것이 이 슬라이드의 숨은 역할이다. 인덱스가 힌트보다 항상 중요하다고 외우면 그것도 또 하나의 통념이 된다. 이번 결과는 이 쿼리, 이 데이터, 이 버전에서 관측된 것이고, 힌트가 무시된 것도 GROUP BY 변환이라는 특정 조건 때문이었다. 조건을 붙여 결론을 말하는 훈련 자체가 이 과정의 목표라는 점을 상기시키자. 첫 챕터의 통념 이야기와 같은 맥락이다. 조건 없는 결론은 결국 통념이 되어 되돌아온다.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19698721"/>
      </p:ext>
    </p:extLst>
  </p:cSld>
  <p:clrMapOvr>
    <a:masterClrMapping/>
  </p:clrMapOvr>
</p:notes>
</file>

<file path=ppt/notesSlides/notesSlide3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체크리스트를 주면서 동시에 그 한계를 말해 주는 것이 중요하다. 마지막 줄이 그 역할을 한다. 실무에서는 이 순서대로 가설을 세우고 실행계획으로 검증하는 흐름이 자리 잡으면 충분하다. 특히 세 번째 확인 항목인 반대쪽 인덱스 유무는 이번 장 전체가 실측으로 보여 준 내용이므로, 학습자가 이 한 줄만 가져가도 절반은 성공이다. 실습 전에 이 화면을 사진으로 남기게 하는 것도 좋다. 가설과 검증이라는 두 단어로 정리해 주면 좋다.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85179709"/>
      </p:ext>
    </p:extLst>
  </p:cSld>
  <p:clrMapOvr>
    <a:masterClrMapping/>
  </p:clrMapOvr>
</p:notes>
</file>

<file path=ppt/notesSlides/notesSlide3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요약은 여덟 줄로 압축했다. 이 화면을 띄워 둔 채 실습에 들어가게 하면 문제를 풀 때 근거를 찾기 쉽다. 특히 일곱 번째 줄은 이 과정 전체에서 반복되는 원칙이므로 반드시 기억하게 하자. 마지막 줄의 두 숫자는 외울 대상이 아니라 방향을 기억하는 장치다. 무엇이 바뀌었을 때 무엇이 얼마나 달라졌는지를 자기 문장으로 설명할 수 있으면 이 장의 목표는 달성된 것으로 봐도 된다. 여덟 줄을 세 문장으로 요약하게 시켜 봐도 좋다.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353683468"/>
      </p:ext>
    </p:extLst>
  </p:cSld>
  <p:clrMapOvr>
    <a:masterClrMapping/>
  </p:clrMapOvr>
</p:notes>
</file>

<file path=ppt/notesSlides/notesSlide3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실습은 SQL을 새로 짜는 문제가 아니라 실행계획을 읽고 근거를 대는 서술형 위주다. 채점 기준은 정답 여부보다 어떤 값을 근거로 삼았는지에 둔다. 7번은 실측값이 없는 예측 문항이므로 방향과 이유가 맞으면 정답으로 인정한다. 그리고 실습 종료 후 인덱스 정리를 반드시 확인시키자. 남아 있으면 다음 챕터의 실행계획이 교안과 달라져 학습자가 엉뚱한 곳에서 시간을 쓰게 된다. 정리 확인까지가 실습의 마지막 단계임을 알리자.</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769793530"/>
      </p:ext>
    </p:extLst>
  </p:cSld>
  <p:clrMapOvr>
    <a:masterClrMapping/>
  </p:clrMapOvr>
</p:notes>
</file>

<file path=ppt/notesSlides/notesSlide3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제8장은 Chapter 1에서 다룬 IN·EXISTS·JOIN 비교의 후속편이다. 같은 서브쿼리라도 SELECT 절에 놓이는지, FROM 절에 놓이는지, WHERE 절에서 바깥 값을 참조하는지에 따라 옵티마이저가 서로 다른 실행 구조를 만들어 낸다. 이 장이 전하려는 메시지는 하나다. 서브쿼리 성능을 결정하는 것은 문법의 모양이 아니라 옵티마이저가 만들어 낸 물리적 실행 구조라는 점이다. 첫 시간에 스칼라 서브쿼리가 행마다 실행될 것 같은지 손을 들어 보게 하고, 뒤에서 실측 결과와 대조하면 몰입도가 크게 올라간다.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775027317"/>
      </p:ext>
    </p:extLst>
  </p:cSld>
  <p:clrMapOvr>
    <a:masterClrMapping/>
  </p:clrMapOvr>
</p:notes>
</file>

<file path=ppt/notesSlides/notesSlide3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학습 목표는 이 장이 끝났을 때 학습자가 말이나 글로 설명할 수 있어야 하는 항목을 나열한 것이다. 이번 장의 핵심 동사는 설명한다와 판단한다이며, SQL을 새로 짜는 능력보다 실행계획을 읽고 근거를 대는 능력을 요구한다. 특히 Starts 컬럼을 읽는 항목은 이번 장에서 처음 본격적으로 등장하므로 미리 짚어 둔다. 목표를 읽고 넘어가기보다 각 항목이 뒤의 어느 절에서 다뤄지는지 한 번씩 연결해 주면 학습자가 전체 지도를 갖고 출발할 수 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818738453"/>
      </p:ext>
    </p:extLst>
  </p:cSld>
  <p:clrMapOvr>
    <a:masterClrMapping/>
  </p:clrMapOvr>
</p:notes>
</file>

<file path=ppt/notesSlides/notesSlide3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장은 세 개의 실측 사례로 구성된다. 8.4와 8.5는 스칼라 서브쿼리와 조인이 거의 같은 비용으로 수렴한 사례, 8.6은 상관 서브쿼리가 오히려 더 비쌌던 사례, 8.7은 인라인 뷰와 HAVING이 완전히 같았던 사례다. 세 사례의 결론이 서로 다르다는 점이 중요하다. 어느 문법이 좋다는 결론이 아니라 매번 실행계획으로 확인해야 한다는 결론으로 모이기 때문이다. 진도를 나가기 전에 세 사례의 결론이 다르다는 사실만 미리 예고해 두면 학습자가 성급한 일반화를 하지 않는다.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501108722"/>
      </p:ext>
    </p:extLst>
  </p:cSld>
  <p:clrMapOvr>
    <a:masterClrMapping/>
  </p:clrMapOvr>
</p:notes>
</file>

<file path=ppt/notesSlides/notesSlide3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Chapter 1에서 IN과 EXISTS를 이미 다뤘기 때문에 학습자가 서브쿼리는 끝난 주제라고 생각하기 쉽다. 이 절의 목적은 그 오해를 먼저 깨는 것이다. Chapter 1에서 본 것은 존재 여부 확인이라는 한 가지 쓰임새였고, 서브쿼리에는 값 하나를 붙여 오는 용도, 중간 결과 집합을 만드는 용도, 바깥 행마다 기준값을 계산하는 용도가 더 있다. 세 가지 쓰임새를 먼저 나열해 두면 뒤에 나오는 세 실측 사례가 각각 어디에 대응하는지 학습자가 스스로 연결한다.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723875203"/>
      </p:ext>
    </p:extLst>
  </p:cSld>
  <p:clrMapOvr>
    <a:masterClrMapping/>
  </p:clrMapOvr>
</p:notes>
</file>

<file path=ppt/notesSlides/notesSlide3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Chapter 1의 결론을 한 줄로 복기시키는 슬라이드다. 학습자가 흔히 오해하는 지점은 실측으로 고른다는 원칙을 한 번 배우면 끝나는 지식으로 여기는 것이다. 실제로는 사례마다 결론이 달라지기 때문에 매번 다시 적용해야 하는 절차에 가깝다. IN과 EXISTS가 같은 세미조인으로 변환됐다는 사실을 여기서 다시 꺼내 두면, 뒤에서 상관 서브쿼리가 VW_SQ_1이라는 뷰로 변환되는 장면을 볼 때 학습자가 낯설어하지 않는다. 변환은 예외가 아니라 기본 동작이라는 점을 강조한다.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506454592"/>
      </p:ext>
    </p:extLst>
  </p:cSld>
  <p:clrMapOvr>
    <a:masterClrMapping/>
  </p:clrMapOvr>
</p:notes>
</file>

<file path=ppt/notesSlides/notesSlide3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서브쿼리를 위치로 분류하면 학습자가 훨씬 쉽게 정리한다. SELECT 절은 값 하나, FROM 절은 집합 하나, WHERE 절은 참과 거짓 하나를 만들어 낸다고 설명하면 세 가지가 한 번에 구분된다. 실무에서 사고가 나는 지점은 SELECT 절 서브쿼리가 값 하나만 반환해야 한다는 제약을 잊고 여러 행이 나오는 서브쿼리를 넣는 경우다. 이때는 성능 문제가 아니라 실행 오류가 난다. 분류를 세워 두면 뒤에 나오는 세 실측 사례가 각각 어디에 속하는지 학습자가 스스로 짚어 낼 수 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546530869"/>
      </p:ext>
    </p:extLst>
  </p:cSld>
  <p:clrMapOvr>
    <a:masterClrMapping/>
  </p:clrMapOvr>
</p:notes>
</file>

<file path=ppt/notesSlides/notesSlide3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실습 전 전제를 분명히 해 두는 슬라이드다. 다른 챕터에서 인덱스를 추가한 상태로 이 장의 예제를 실행하면 계획이 달라져 교안과 대조가 불가능해진다. 스키마를 원래 상태로 되돌려 두라고 미리 안내한다. 또 하나 강조할 것은 Starts 컬럼이다. 지금까지는 Buffers 위주로 봤지만 이번 장의 핵심 증거는 Starts에 있다. 각 단계가 몇 번 실행됐는지를 보여 주는 값이며, 스칼라 서브쿼리 캐싱이 실제로 작동했는지 여부가 바로 이 숫자 하나로 드러난다.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35025843"/>
      </p:ext>
    </p:extLst>
  </p:cSld>
  <p:clrMapOvr>
    <a:masterClrMapping/>
  </p:clrMapOvr>
</p:notes>
</file>

<file path=ppt/notesSlides/notesSlide3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개념 정의 절이다. 세 용어가 서로 배타적인 분류가 아니라는 점을 미리 알려 주는 것이 좋다. 예를 들어 스칼라 서브쿼리이면서 동시에 상관 서브쿼리인 경우가 흔하고, 이번 장의 Q1이 정확히 그런 사례다. 학습자가 용어를 서랍처럼 나누려 하면 오히려 혼란스러워지므로, 위치로 부르는 이름과 참조 관계로 부르는 이름이 겹쳐 쓰인다고 설명한다. 용어 자체를 외우는 것보다 각각이 무엇을 반환하는지를 기억하게 하는 편이 실무에 훨씬 유용하다.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5150073"/>
      </p:ext>
    </p:extLst>
  </p:cSld>
  <p:clrMapOvr>
    <a:masterClrMapping/>
  </p:clrMapOvr>
</p:notes>
</file>

<file path=ppt/notesSlides/notesSlide3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스칼라 서브쿼리는 개발 현장에서 가장 자주 쓰이면서 동시에 가장 자주 의심받는 문법이다. 코드 리뷰에서 조인으로 바꾸라는 지적을 받아 본 학습자가 많을 것이다. 여기서는 아직 판단하지 말고 문법과 반환 규칙만 정확히 잡아 둔다. 실무에서 사고가 나는 지점은 값 하나라는 제약이다. 개발 데이터에서는 한 건만 나오던 서브쿼리가 운영 데이터에서 두 건이 되는 순간 실행 오류로 터진다. 성능 문제가 아니라 정합성 문제로 먼저 드러난다는 점을 알려 두면 좋다.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075455723"/>
      </p:ext>
    </p:extLst>
  </p:cSld>
  <p:clrMapOvr>
    <a:masterClrMapping/>
  </p:clrMapOvr>
</p:notes>
</file>

<file path=ppt/notesSlides/notesSlide3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인라인 뷰에 대해 학습자가 흔히 갖는 오해는 괄호 안의 결과가 임시 테이블처럼 통째로 만들어진 다음에 바깥 조건이 적용된다는 그림이다. 실제로는 옵티마이저가 많은 경우 두 단계를 한 덩어리로 합쳐 처리한다. 이 오해가 남아 있으면 인라인 뷰를 무조건 피하려는 습관으로 이어지고, 결과적으로 읽기 어려운 SQL을 쓰게 된다. 8.7절의 실측이 바로 그 오해를 깨는 자료이므로 여기서는 의문만 던져 두고 결론은 미뤄 두는 편이 강의 흐름상 낫다.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401617164"/>
      </p:ext>
    </p:extLst>
  </p:cSld>
  <p:clrMapOvr>
    <a:masterClrMapping/>
  </p:clrMapOvr>
</p:notes>
</file>

<file path=ppt/notesSlides/notesSlide3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상관이라는 말이 어렵게 들리므로 바깥 값을 입력으로 받는 함수라고 비유하면 쉽게 전달된다. 학습자가 자주 혼동하는 지점은 상관 서브쿼리와 스칼라 서브쿼리를 대립 개념으로 이해하는 것이다. 위치로 나눈 이름과 참조 관계로 나눈 이름이라 서로 겹칠 수 있다는 점을 Q1을 예로 들어 확인시킨다. 또 하나 강조할 것은 문법이 그리는 실행 그림과 실제 실행이 다르다는 사실이다. 이 간극이 이번 장 전체를 관통하는 주제이므로 여기서 미리 못을 박아 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919395614"/>
      </p:ext>
    </p:extLst>
  </p:cSld>
  <p:clrMapOvr>
    <a:masterClrMapping/>
  </p:clrMapOvr>
</p:notes>
</file>

<file path=ppt/notesSlides/notesSlide3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unnesting은 이번 장 전체의 열쇠다. 학습자에게 계획에서 원본 SQL에 없던 이름을 찾아보라고 시키면 변환 여부를 스스로 판별하게 된다. VW로 시작하는 이름은 대부분 옵티마이저가 만든 것이다. 실무에서 흔한 오해는 서브쿼리를 조인으로 직접 바꿔 쓰면 항상 빨라진다는 것인데, 옵티마이저가 이미 같은 변환을 해 놓았다면 손으로 바꿔 봐야 계획이 그대로인 경우가 많다. 8.5절의 실측이 정확히 그 상황을 보여 주므로 여기서 예고해 두면 연결이 매끄럽다.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371999494"/>
      </p:ext>
    </p:extLst>
  </p:cSld>
  <p:clrMapOvr>
    <a:masterClrMapping/>
  </p:clrMapOvr>
</p:notes>
</file>

<file path=ppt/notesSlides/notesSlide3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절이 이번 장에서 개념적으로 가장 중요한 부분이다. 캐싱이라는 단어를 들으면 학습자는 보통 버퍼 캐시나 결과 캐시를 떠올리는데, 여기서 말하는 캐싱은 한 SQL이 실행되는 동안에만 유지되는 내부 메모리 구조다. 다른 세션이나 다음 실행과는 무관하다. 이 차이를 먼저 못 박아 두지 않으면 뒤의 Starts 해석이 엉뚱한 방향으로 흐른다. 개념을 먼저 설명하고 실측으로 확인하는 순서이므로, 여기서는 결과를 미리 말하지 말고 예측만 시켜 두는 편이 좋다.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496912557"/>
      </p:ext>
    </p:extLst>
  </p:cSld>
  <p:clrMapOvr>
    <a:masterClrMapping/>
  </p:clrMapOvr>
</p:notes>
</file>

<file path=ppt/notesSlides/notesSlide3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캐싱이라는 단어의 범위를 정확히 잡아 주는 것이 이 슬라이드의 목적이다. 학습자가 흔히 오해하는 지점은 이 캐시가 다음 실행에도 남아 있을 것이라고 생각하는 것이다. 한 SQL의 실행이 끝나면 사라지므로, 같은 쿼리를 다시 돌려도 캐싱 효과는 매번 처음부터 다시 쌓인다. Starts 컬럼은 지금까지 잘 보지 않던 열이므로 여기서 손가락으로 짚어 가며 읽는 법을 연습시킨다. 결과 행 수와 Starts를 나란히 비교하는 습관을 들이면 이후 챕터에서도 계속 쓸모가 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434905472"/>
      </p:ext>
    </p:extLst>
  </p:cSld>
  <p:clrMapOvr>
    <a:masterClrMapping/>
  </p:clrMapOvr>
</p:notes>
</file>

<file path=ppt/notesSlides/notesSlide3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여기서 학습자에게 던질 질문은 우리 시스템의 어떤 컬럼이 이 조건에 맞는지다. 병원 코드, 진료과, 상태 코드처럼 종류가 적은 컬럼은 거의 항상 유리하고, 환자 번호나 청구 번호처럼 값이 거의 유일한 컬럼은 캐싱 효과를 기대하기 어렵다. 실습문제 3번이 정확히 이 지점을 예측하게 만드는 문항이므로 미리 연결해 두면 좋다. 다만 500종류일 때의 실제 값은 교안에 측정되어 있지 않으므로, 방향만 예측하고 확정된 수치를 말하지 않도록 주의시켜야 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971310562"/>
      </p:ext>
    </p:extLst>
  </p:cSld>
  <p:clrMapOvr>
    <a:masterClrMapping/>
  </p:clrMapOvr>
</p:notes>
</file>

<file path=ppt/notesSlides/notesSlide3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통념을 다루는 방식이 이 과정의 특징이다. 무조건 틀렸다고 가르치면 학습자는 새로운 통념을 하나 더 얻을 뿐이다. 조건이 빠져 있다고 설명해야 판단 능력이 생긴다. 여기서 학습자에게 이 통념이 성립하려면 어떤 조건이 필요한지 말해 보게 하면 좋다. 참조 값의 종류가 행 수에 가까울 때라는 답이 나오면 개념을 제대로 잡은 것이다. 실습문제 2번이 이 논리를 그대로 서술하게 만드는 문항이므로 답의 뼈대를 여기서 함께 세워 두면 채점 편차가 줄어든다.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415681304"/>
      </p:ext>
    </p:extLst>
  </p:cSld>
  <p:clrMapOvr>
    <a:masterClrMapping/>
  </p:clrMapOvr>
</p:notes>
</file>

<file path=ppt/notesSlides/notesSlide3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슬라이드는 8.6절의 예고편이다. 학습자에게 미리 예측을 시켜 보는 것이 효과적이다. 그룹 평균을 미리 한 번에 계산하는 변환이 좋아 보이는가라고 물으면 대부분 그렇다고 답한다. 그다음 그 평균을 구하려면 테이블을 한 번 읽어야 하고 비교 대상 행도 따로 읽어야 한다는 점을 짚어 주면 스스로 문제를 발견한다. 옵티마이저가 똑똑하게 변환해 주는 것과 그 결과가 가장 저렴한 것은 별개라는 이 장의 메시지가 여기서 처음 등장한다.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487711405"/>
      </p:ext>
    </p:extLst>
  </p:cSld>
  <p:clrMapOvr>
    <a:masterClrMapping/>
  </p:clrMapOvr>
</p:notes>
</file>

<file path=ppt/notesSlides/notesSlide3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개념에서 실측으로 넘어가는 구간이다. 여기서 강의 속도를 한 번 늦추는 것이 좋다. SQL 두 개를 먼저 보여 주고 어느 쪽이 쌀 것 같은지 손을 들어 예측하게 한 다음, 실행계획을 열어 대조하는 순서로 진행하면 학습 효과가 크다. 예측을 기록해 두지 않으면 학습자는 결과를 본 뒤 자신은 원래 알고 있었다고 느끼기 쉽다. 칠판에 표를 그려 두고 예측 인원을 적어 두면 8.5절 마지막의 결론이 훨씬 강하게 남는다.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738335927"/>
      </p:ext>
    </p:extLst>
  </p:cSld>
  <p:clrMapOvr>
    <a:masterClrMapping/>
  </p:clrMapOvr>
</p:notes>
</file>

<file path=ppt/notesSlides/notesSlide3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소재를 설명할 때 조건 절의 의미를 정확히 짚어 준다. HOSP_ID가 5 이하라는 조건은 결과를 줄이려는 목적도 있지만, 스칼라 서브쿼리가 참조하는 값의 종류를 5로 고정하려는 의도적 설계다. 이 설계를 알려 주지 않으면 학습자는 뒤의 결과를 일반적인 결론으로 받아들이기 쉽다. 결과 행이 15,029건으로 같다는 사실도 미리 확인시켜야 한다. 결과가 같아야 비용 비교가 성립한다는 Chapter 1의 전제가 여기서도 그대로 적용되기 때문이다.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473196937"/>
      </p:ext>
    </p:extLst>
  </p:cSld>
  <p:clrMapOvr>
    <a:masterClrMapping/>
  </p:clrMapOvr>
</p:notes>
</file>

<file path=ppt/notesSlides/notesSlide4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SQL을 보여 준 직후 학습자에게 서브쿼리가 몇 번 실행될 것 같은지 숫자로 답하게 한다. 대부분 결과 행 수와 같은 값을 말한다. 그 예측을 칠판에 적어 두고 잠시 후 실행계획과 대조하면 캐싱의 효과가 극적으로 전달된다. 여기서 짚어 둘 문법 포인트는 서브쿼리가 값 하나만 반환해야 한다는 점이다. hosp_id가 HOSPITALS의 기본키이므로 이 쿼리는 안전하다. 기본키가 아닌 컬럼으로 연결했다면 여러 행이 나와 실행 오류가 날 수 있다는 점을 함께 알려 준다.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493191942"/>
      </p:ext>
    </p:extLst>
  </p:cSld>
  <p:clrMapOvr>
    <a:masterClrMapping/>
  </p:clrMapOvr>
</p:notes>
</file>

<file path=ppt/notesSlides/notesSlide4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Q2는 대부분의 코드 리뷰에서 권장되는 형태다. 여기서 학습자에게 왜 이 형태가 권장된다고 생각하는지 물어보면 반복 실행이 없어서라는 답이 나온다. 그 답이 곧 우리가 검증할 가설이다. 문법 관점에서 짚어 둘 것은 조인으로 바꾸는 순간 결과 행 수가 달라질 위험이 생긴다는 점이다. HOSP_ID가 기본키라 여기서는 안전하지만, 일대다 관계였다면 조인은 행을 불려 놓고 스칼라 서브쿼리는 그렇지 않다. 같은 결과라는 전제를 항상 먼저 확인해야 하는 이유다.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581195476"/>
      </p:ext>
    </p:extLst>
  </p:cSld>
  <p:clrMapOvr>
    <a:masterClrMapping/>
  </p:clrMapOvr>
</p:notes>
</file>

<file path=ppt/notesSlides/notesSlide4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실행계획은 들여쓰기가 깊은 쪽부터 읽는 것이 원칙이지만, 이 계획은 먼저 Starts 열만 세로로 훑게 하는 편이 효과적이다. 1, 5, 5, 1이라는 네 숫자가 이 슬라이드의 전부다. 학습자가 조금 전에 예측한 숫자와 대조시키면 반응이 확실하게 온다. 여기서 성급하게 이유를 설명하지 말고, 왜 5인지 먼저 생각할 시간을 주는 것이 좋다. 8.3절의 캐싱 개념을 기억하는 학습자라면 스스로 연결해 낸다. 실습문제 1번이 정확히 이 장면을 설명하게 하는 문항이다.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617162356"/>
      </p:ext>
    </p:extLst>
  </p:cSld>
  <p:clrMapOvr>
    <a:masterClrMapping/>
  </p:clrMapOvr>
</p:notes>
</file>

<file path=ppt/notesSlides/notesSlide4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계획을 읽을 때 Starts와 A-Rows를 짝으로 보는 습관을 강조한다. Starts가 5이고 A-Rows가 5라는 것은 다섯 번 실행해서 각각 한 건씩 가져왔다는 뜻이며, 스칼라 서브쿼리가 값 하나를 반환한다는 문법 제약과 정확히 일치한다. Buffers 배분을 함께 보게 하는 것도 중요하다. 학습자는 서브쿼리라는 단어만 보면 그쪽이 비용의 주범이라고 짐작하는데, 실제로는 원본 테이블 전체 스캔이 비용의 대부분이다. 어디를 손봐야 하는지 판단하려면 반드시 배분을 봐야 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782043745"/>
      </p:ext>
    </p:extLst>
  </p:cSld>
  <p:clrMapOvr>
    <a:masterClrMapping/>
  </p:clrMapOvr>
</p:notes>
</file>

<file path=ppt/notesSlides/notesSlide4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Q2의 계획은 반복이라는 요소가 전혀 없는 전형적인 해시 조인이다. 작은 쪽인 HOSPITALS를 먼저 읽어 해시 테이블을 만들고 MEDICAL_CLAIMS를 훑으면서 대조한다. 여기서 눈여겨볼 값은 Id 1의 E-Rows가 72라는 점이다. 실제 15,029건과 크게 어긋난 추정인데, 조인 결과 건수 추정이 얼마나 빗나갈 수 있는지 보여 주는 사례로 짚어 두면 좋다. 추정이 틀려도 이 사례에서는 조인 방식 선택이 나쁘지 않았다는 점까지 함께 설명하면 균형이 맞는다.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655144059"/>
      </p:ext>
    </p:extLst>
  </p:cSld>
  <p:clrMapOvr>
    <a:masterClrMapping/>
  </p:clrMapOvr>
</p:notes>
</file>

<file path=ppt/notesSlides/notesSlide4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슬라이드의 핵심은 구조가 다르다는 사실과 비용이 다르다는 사실이 별개라는 점이다. 학습자는 구조가 다르면 비용도 다를 것이라고 자동으로 연결하는데, 실제로는 지배적인 비용 요인이 무엇인지에 달려 있다. 여기서는 두 쿼리 모두 MEDICAL_CLAIMS 전체 스캔이 비용의 거의 전부이므로 나머지 차이는 총량에 묻힌다. 튜닝 대상을 고를 때도 같은 원리가 적용된다. 전체에서 차지하는 비중이 큰 단계부터 손대야 효과가 있다는 원칙으로 연결해 설명하면 좋다.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673850219"/>
      </p:ext>
    </p:extLst>
  </p:cSld>
  <p:clrMapOvr>
    <a:masterClrMapping/>
  </p:clrMapOvr>
</p:notes>
</file>

<file path=ppt/notesSlides/notesSlide4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슬라이드가 실습문제 1번의 정답 뼈대다. 채점 기준은 캐싱이라는 단어를 썼는지가 아니라 15,029과 5라는 두 숫자를 대비시켜 설명했는지에 두어야 한다. 학습자가 자주 놓치는 지점은 5라는 숫자의 출처다. 결과 행 수와 아무 관계가 없고 HOSP_ID의 distinct 개수에서 나온 값이라는 점을 분명히 해야 한다. 조건을 HOSP_ID가 500 이하로 바꾸면 어떻게 될지 되물어 보면 개념을 제대로 잡았는지 바로 확인할 수 있다. 실습문제 3번이 그 확장 문항이다.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78787655"/>
      </p:ext>
    </p:extLst>
  </p:cSld>
  <p:clrMapOvr>
    <a:masterClrMapping/>
  </p:clrMapOvr>
</p:notes>
</file>

<file path=ppt/notesSlides/notesSlide4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결론을 내릴 때 조건을 함께 말하게 하는 훈련이 이 슬라이드의 목표다. 스칼라 서브쿼리가 조인만큼 빠르다는 문장은 위험하고, 참조 값의 종류가 적을 때는 조인과 비슷한 비용이 될 수 있다는 문장은 안전하다. 실무에서 사고가 나는 지점이 정확히 여기다. 개발 환경에서 값 종류가 적어 문제없던 SQL이 운영 데이터에서 종류가 폭발하면서 느려지는 경우다. 실습문제 2번과 3번을 이어서 풀면 이 조건 의존성을 스스로 정리하게 되므로 함께 안내한다.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500371077"/>
      </p:ext>
    </p:extLst>
  </p:cSld>
  <p:clrMapOvr>
    <a:masterClrMapping/>
  </p:clrMapOvr>
</p:notes>
</file>

<file path=ppt/notesSlides/notesSlide4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앞 절에서 서브쿼리가 생각보다 괜찮다는 결론을 얻은 직후에 이 절이 온다는 순서가 중요하다. 학습자가 서브쿼리는 괜찮구나로 굳어지기 전에 반대 사례를 보여 주기 위한 배치다. 여기서도 옵티마이저는 똑똑하게 변환한다. 다만 그 변환의 결과가 더 비쌌을 뿐이다. 옵티마이저가 최선을 다한 것과 그 결과가 가장 저렴한 것은 다른 문제라는 메시지를 이 절에서 확실히 못 박는다. 실습문제 6번이 이 논지를 그대로 서술하게 만드는 문항이다.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314623030"/>
      </p:ext>
    </p:extLst>
  </p:cSld>
  <p:clrMapOvr>
    <a:masterClrMapping/>
  </p:clrMapOvr>
</p:notes>
</file>

<file path=ppt/notesSlides/notesSlide4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패턴이 실무에서 왜 그렇게 자주 등장하는지 짚어 주면 좋다. 요구사항 문장이 자기가 속한 그룹의 평균보다 큰 것이라 문법이 그 문장을 거의 그대로 옮겨 놓기 때문이다. 읽기 쉬운 SQL이라는 점에서는 분명한 장점이다. 그런데 읽기 쉬운 것과 실행이 저렴한 것이 다를 수 있다는 점이 이 절의 주제다. 학습자에게 이 쿼리가 앞 절의 Q1보다 비쌀지 쌀지 미리 예측하게 하고 그 예측을 적어 둔 다음 실행계획으로 넘어가면 대비가 선명해진다.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747203230"/>
      </p:ext>
    </p:extLst>
  </p:cSld>
  <p:clrMapOvr>
    <a:masterClrMapping/>
  </p:clrMapOvr>
</p:notes>
</file>

<file path=ppt/notesSlides/notesSlide4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SQL에서 반드시 짚어야 할 구조적 특징은 바깥과 서브쿼리가 같은 테이블을 본다는 점이다. 앞 절의 Q1은 서브쿼리가 작은 HOSPITALS를 봤지만 여기서는 30만 건짜리 원본을 다시 본다. 이 차이가 뒤의 결과를 결정한다. 학습자에게 문법만 보고 이 쿼리의 비용을 예측하게 하면 대부분 행마다 반복하니 아주 비쌀 것이라고 답한다. 실제로는 반복하지 않지만 그래도 비쌌다는 결과라서 예측과 실측이 이중으로 어긋나는 흥미로운 사례가 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36581967"/>
      </p:ext>
    </p:extLst>
  </p:cSld>
  <p:clrMapOvr>
    <a:masterClrMapping/>
  </p:clrMapOvr>
</p:notes>
</file>

<file path=ppt/notesSlides/notesSlide4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계획에서 학습자가 가장 먼저 발견해야 할 것은 TABLE ACCESS FULL이 두 줄이라는 사실이다. 이름을 읽지 말고 줄만 세어 보라고 하면 금방 찾는다. 그다음 VW_SQ_1이라는 이름을 짚어 준다. 원본 SQL 어디에도 없는 이름이므로 옵티마이저가 만든 것이며, 8.2절에서 예고한 unnesting의 흔적이다. Starts가 전부 1이라는 점도 확인시킨다. 행마다 반복 실행될 것 같다던 예측이 여기서도 틀렸다는 사실을 함께 짚으면 개념이 한 번 더 강화된다.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033588249"/>
      </p:ext>
    </p:extLst>
  </p:cSld>
  <p:clrMapOvr>
    <a:masterClrMapping/>
  </p:clrMapOvr>
</p:notes>
</file>

<file path=ppt/notesSlides/notesSlide4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계획을 두 갈래로 나눠 읽히는 것이 이해에 가장 효과적이다. 왼쪽 갈래는 기준값을 만들고 오른쪽 갈래는 비교 대상을 가져오며, 마지막에 둘을 합친다. 이 그림을 손으로 그리게 하면 실습문제 4번을 그대로 풀 수 있다. Starts가 모두 1이라는 점도 반드시 짚는다. 학습자는 상관 서브쿼리라는 말만 듣고 반복 실행을 떠올리는데, 실제로는 한 번씩만 실행됐다. 옵티마이저의 변환이 실제로 작동했다는 증거이며, 그럼에도 비용이 컸다는 다음 슬라이드의 반전으로 이어진다.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610301263"/>
      </p:ext>
    </p:extLst>
  </p:cSld>
  <p:clrMapOvr>
    <a:masterClrMapping/>
  </p:clrMapOvr>
</p:notes>
</file>

<file path=ppt/notesSlides/notesSlide4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실습문제 4번의 정답 슬라이드다. 채점에서 중요한 것은 두 스캔의 목적을 구분해 서술했는지다. 그냥 두 번 읽는다고만 쓰면 절반짜리 답이다. 여기서 학습자에게 던질 좋은 질문은 한 번만 읽고 처리할 수는 없는가다. 분석 함수를 쓰면 한 번의 스캔으로 그룹 평균과 원본 행을 함께 다룰 수 있다는 방향까지 언급하면 시야가 넓어진다. 다만 이번 챕터에서는 측정하지 않았으므로 가능성만 제시하고 수치는 말하지 않는 것이 원칙에 맞다.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462935648"/>
      </p:ext>
    </p:extLst>
  </p:cSld>
  <p:clrMapOvr>
    <a:masterClrMapping/>
  </p:clrMapOvr>
</p:notes>
</file>

<file path=ppt/notesSlides/notesSlide4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실습문제 5번의 정답 슬라이드다. 여기서 강조할 것은 Buffers 값을 단계별로 분해해 더해 보는 습관이다. 전체 숫자만 보면 왜 큰지 알 수 없지만 분해하면 원인이 바로 드러난다. 3,090과 3,518을 더하면 실측값과 거의 맞아떨어진다는 계산을 학습자와 함께 해 보면 계획 읽기가 추측이 아니라 검산 가능한 작업이라는 감각이 생긴다. 실무 점검에서도 같은 테이블 이름이 계획에 여러 번 나오는지 세는 것만으로 상당수 문제를 미리 잡아낼 수 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32382226"/>
      </p:ext>
    </p:extLst>
  </p:cSld>
  <p:clrMapOvr>
    <a:masterClrMapping/>
  </p:clrMapOvr>
</p:notes>
</file>

<file path=ppt/notesSlides/notesSlide4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실습문제 6번의 정답 뼈대이자 이 장의 핵심 메시지다. 학습자가 흔히 오해하는 지점은 옵티마이저를 만능으로 보거나 반대로 못 믿을 것으로 보는 양극단이다. 정확한 태도는 그 중간이다. 옵티마이저는 주어진 구조 안에서 최선을 다하지만 구조 자체를 바꿔 주지는 못한다. 그래서 개발자의 몫은 좋은 구조를 주는 것이라고 정리해 주면 좋다. 실무에서 이 원칙은 같은 테이블을 여러 번 읽는 SQL을 리뷰에서 먼저 잡아내는 습관으로 이어진다.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998937224"/>
      </p:ext>
    </p:extLst>
  </p:cSld>
  <p:clrMapOvr>
    <a:masterClrMapping/>
  </p:clrMapOvr>
</p:notes>
</file>

<file path=ppt/notesSlides/notesSlide4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앞의 두 절이 서브쿼리는 괜찮다와 서브쿼리가 비쌌다라는 상반된 결론을 냈다면, 이 절은 완전히 같다는 세 번째 결론을 낸다. 세 결론이 다르다는 점을 여기서 다시 상기시키면 학습자가 성급한 일반화를 하지 않는다. 이 절의 실용적 가치도 크다. 성능이 같다는 것이 확인되면 가독성을 기준으로 문법을 고를 수 있다는 뜻이기 때문이다. 코드 리뷰에서 근거 없이 스타일을 강요하는 일이 줄어든다는 점을 실무 연결 고리로 언급하면 좋다.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534894633"/>
      </p:ext>
    </p:extLst>
  </p:cSld>
  <p:clrMapOvr>
    <a:masterClrMapping/>
  </p:clrMapOvr>
</p:notes>
</file>

<file path=ppt/notesSlides/notesSlide4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두 SQL을 나란히 놓고 어느 쪽이 읽기 좋은지 먼저 물어보면 의견이 갈린다. 집계 단계가 여러 겹이면 인라인 뷰가 낫다는 쪽과 한 문장으로 끝나는 HAVING이 낫다는 쪽이 나온다. 그 논쟁을 잠시 열어 두고 성능이 같다면 이 논쟁은 취향 문제가 되고 다르다면 성능이 결론을 내린다고 정리한 뒤 실측으로 넘어간다. 문법 관점에서 짚어 둘 것은 HAVING이 집계 함수 결과에만 적용되는 조건이라는 점, 그리고 Q4의 바깥 WHERE는 이미 만들어진 컬럼 cnt를 참조한다는 점이다.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599135419"/>
      </p:ext>
    </p:extLst>
  </p:cSld>
  <p:clrMapOvr>
    <a:masterClrMapping/>
  </p:clrMapOvr>
</p:notes>
</file>

<file path=ppt/notesSlides/notesSlide4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표를 보여 주기 전에 학습자에게 예측을 시키는 것이 좋다. 인라인 뷰가 조금이라도 비쌀 것이라고 답하는 경우가 많은데 실측은 완전히 같다. 여기서 짚어야 할 핵심은 두 방식 모두 TABLE ACCESS FULL이 한 번뿐이라는 사실이다. 앞 절의 Q3가 두 번이었던 것과 대비시키면 스캔 횟수가 비용을 지배한다는 원칙이 다시 확인된다. 오퍼레이션 개수가 하나 더 많다고 해서 비용이 더 드는 것은 아니라는 점도 함께 정리해 준다.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672530770"/>
      </p:ext>
    </p:extLst>
  </p:cSld>
  <p:clrMapOvr>
    <a:masterClrMapping/>
  </p:clrMapOvr>
</p:notes>
</file>

<file path=ppt/notesSlides/notesSlide4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뷰 병합은 실무에서 인라인 뷰 사용을 꺼리게 만드는 오해를 푸는 열쇠다. 학습자가 흔히 갖는 그림은 괄호 안 결과가 임시 테이블처럼 통째로 만들어진 다음 바깥 조건이 적용된다는 것인데, 병합이 일어나면 그런 중간 단계 자체가 없다. 다만 병합이 항상 일어나지는 않고 옵티마이저가 상황에 따라 판단한다는 점, 그리고 병합을 막아야 하는 경우도 있다는 점을 예고해 둔다. 다음 슬라이드와 실습문제 9번이 그 경계를 다룬다.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672578994"/>
      </p:ext>
    </p:extLst>
  </p:cSld>
  <p:clrMapOvr>
    <a:masterClrMapping/>
  </p:clrMapOvr>
</p:notes>
</file>

<file path=ppt/notesSlides/notesSlide4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실습문제 8번의 정답 슬라이드다. 학습자가 자주 빠지는 함정이 계획의 줄 수를 비용의 척도로 삼는 것이다. 줄이 적으면 좋은 계획이라는 인상은 근거가 없다. 판단해야 할 것은 각 단계가 다루는 데이터의 양이며, 그것이 Buffers와 A-Rows에 드러난다. 여기서 앞 절의 Q3와 대비시키면 좋다. Q3는 오퍼레이션이 여섯 줄이었고 Q4는 세 단계였지만, 비용 차이를 만든 것은 줄 수가 아니라 큰 테이블을 몇 번 읽었는지였다.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094502436"/>
      </p:ext>
    </p:extLst>
  </p:cSld>
  <p:clrMapOvr>
    <a:masterClrMapping/>
  </p:clrMapOvr>
</p:notes>
</file>

<file path=ppt/notesSlides/notesSlide4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실습문제 9번을 위한 슬라이드이며 직접 실행하지 않고 원칙을 적용해 추론하는 훈련이다. 여기서 강조할 점은 위험의 성격이 다르다는 것이다. 앞의 사례들은 느려지는 문제였지만 이 경우는 결과가 달라지는 문제다. 튜닝의 대전제인 결과가 같아야 한다가 깨지는 상황이므로 훨씬 심각하다. 실무에서는 상위 N건을 뽑는 쿼리에 조건을 하나 추가했더니 엉뚱한 행이 나오더라는 형태로 드러난다. 이런 쿼리는 반드시 결과까지 대조해야 한다고 안내한다.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829135612"/>
      </p:ext>
    </p:extLst>
  </p:cSld>
  <p:clrMapOvr>
    <a:masterClrMapping/>
  </p:clrMapOvr>
</p:notes>
</file>

<file path=ppt/notesSlides/notesSlide4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마무리 구간이다. 세 사례의 결론이 서로 달랐다는 점을 다시 확인시키고, 그럼에도 공통으로 관통하는 원칙이 하나 있다는 방향으로 수렴시킨다. 학습자에게 세 사례를 한 문장씩 요약해 보라고 시키면 이해도를 바로 확인할 수 있다. 여기서 실습으로 넘어가기 전에 실행계획을 읽는 순서를 다시 정리해 주면 문제 풀이 속도가 확실히 빨라진다. 스캔 횟수를 세고, Starts를 확인하고, Buffers를 단계별로 분해하는 세 단계가 이 장의 도구 전부다.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620752428"/>
      </p:ext>
    </p:extLst>
  </p:cSld>
  <p:clrMapOvr>
    <a:masterClrMapping/>
  </p:clrMapOvr>
</p:notes>
</file>

<file path=ppt/notesSlides/notesSlide4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벤치마크 표를 볼 때 학습자에게 세 행의 결론이 서로 다르다는 점을 먼저 확인시킨다. 거의 같다, 더 비싸다, 완전히 같다라는 세 가지 결론이 나란히 있다. 어느 문법이 좋다는 결론을 뽑아낼 수 없는 구성이며 그것이 의도된 설계다. 두 번째 행의 방식 B가 비어 있는 이유도 짚어 준다. 이번 챕터에서 조인 버전을 측정하지 않았기 때문이며, 측정하지 않은 값을 추정해 채워 넣지 않는 것이 이 과정의 원칙이다. 근거 없는 숫자를 만들지 않는 태도를 함께 가르친다.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023829501"/>
      </p:ext>
    </p:extLst>
  </p:cSld>
  <p:clrMapOvr>
    <a:masterClrMapping/>
  </p:clrMapOvr>
</p:notes>
</file>

<file path=ppt/notesSlides/notesSlide4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실습문제 10번의 종합 정리 슬라이드다. 학습자에게 이 문장을 각자의 말로 다시 써 보게 하면 이해도가 그대로 드러난다. 핵심 키워드는 물리적 실행 구조와 몇 번 읽는가 두 가지다. 세 사례를 각각 한 문장으로 요약하고 그 위에 공통 원칙을 얹는 구조로 답을 쓰게 하면 채점 기준도 명확해진다. 여기서 Chapter 1의 결론과도 연결해 준다. 실측으로 고른다는 원칙이 이번 장에서 어떻게 구체화됐는지 짚으면 과정 전체의 흐름이 이어진다.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048727077"/>
      </p:ext>
    </p:extLst>
  </p:cSld>
  <p:clrMapOvr>
    <a:masterClrMapping/>
  </p:clrMapOvr>
</p:notes>
</file>

<file path=ppt/notesSlides/notesSlide4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체크리스트는 실습이 끝난 뒤 현업으로 가져갈 수 있는 형태로 정리한 것이다. 학습자에게 이 목록을 실제 담당 시스템의 SQL 하나에 적용해 보라고 과제를 주면 학습이 현장으로 이어진다. 특히 계획에서 같은 테이블 이름을 세는 항목은 별다른 도구 없이도 즉시 쓸 수 있어 효과가 좋다. 마지막 항목도 매번 강조한다. 결과가 다른 두 SQL을 비교하는 것은 튜닝이 아니라 다른 쿼리를 만든 것이며, 이 전제가 흐려지면 검증 자체가 성립하지 않는다.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342313270"/>
      </p:ext>
    </p:extLst>
  </p:cSld>
  <p:clrMapOvr>
    <a:masterClrMapping/>
  </p:clrMapOvr>
</p:notes>
</file>

<file path=ppt/notesSlides/notesSlide4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요약은 이 장의 핵심을 열 줄로 압축한 것이다. 학습자에게 이 화면을 남겨 두고 실습 중 참고하도록 권한다. 각 줄이 어느 절에서 나왔는지 짚어 주면 복습할 때 교안 본문을 찾기 쉬워진다. 특히 마지막 줄은 이 장 전체의 결론이자 앞으로도 반복해 쓰이는 원칙이므로 반드시 기억하게 한다. 요약을 읽고 끝내지 말고 각 줄에 대해 근거가 되는 실측값을 하나씩 말해 보게 하면 그 자리에서 복습이 된다. 말로 설명하지 못하는 줄이 곧 다시 봐야 할 부분이다.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991369589"/>
      </p:ext>
    </p:extLst>
  </p:cSld>
  <p:clrMapOvr>
    <a:masterClrMapping/>
  </p:clrMapOvr>
</p:notes>
</file>

<file path=ppt/notesSlides/notesSlide4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실습은 SQL을 새로 짜는 문제가 아니라 실행계획을 읽고 근거를 대는 서술형 위주다. 그래서 답을 맞혔는지보다 어떤 값을 근거로 삼았는지를 채점 기준으로 삼아야 한다고 안내한다. 3번과 9번은 직접 실행하지 않고 원칙을 적용해 추론하는 문항이므로 확정된 수치를 쓰지 말고 방향과 근거를 서술하게 지도한다. 채점 후에는 1번과 5번의 모범 답안을 함께 읽으며 추론 과정을 복기하는 시간을 따로 잡는 것을 권한다. 이 두 문항이 이 장의 핵심을 압축하고 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524211049"/>
      </p:ext>
    </p:extLst>
  </p:cSld>
  <p:clrMapOvr>
    <a:masterClrMapping/>
  </p:clrMapOvr>
</p:notes>
</file>

<file path=ppt/notesSlides/notesSlide4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9장은 집합 연산자를 다루지만 문법 수업이 아니다. 핵심 질문은 하나다 — 중복을 제거하는 데 드는 비용은 실행계획의 어느 지표에 나타나는가. 이번 장에서 학습자는 Buffers가 완전히 같은데도 실제 소요 시간은 두 배 이상 차이 나는 사례를 직접 보게 된다. 여기서 앞 장까지 익힌 Buffers 중심의 판단 습관에 처음으로 한계가 생긴다는 점을 미리 예고해 두면 수업 몰입도가 올라간다. DDL 변경은 없고 기존 PK만 사용한다는 점도 안내한다.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202578213"/>
      </p:ext>
    </p:extLst>
  </p:cSld>
  <p:clrMapOvr>
    <a:masterClrMapping/>
  </p:clrMapOvr>
</p:notes>
</file>

<file path=ppt/notesSlides/notesSlide4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목표를 읽어줄 때 세 번째 항목에 무게를 실어야 한다. 앞 장들에서 Buffers를 성능 판단의 1차 지표로 훈련시켰기 때문에, 이번 장의 결론은 그 훈련을 부정하는 것처럼 들릴 수 있다. Buffers를 버리라는 뜻이 아니라 Buffers가 재는 것이 논리적 I/O뿐이라는 정의를 정확히 지키라는 뜻임을 분명히 해 둔다. 마지막 목표인 체크리스트는 이 장 전체를 한 장으로 요약하는 형태이므로 수업 끝에 다시 돌아온다고 예고한다.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332068139"/>
      </p:ext>
    </p:extLst>
  </p:cSld>
  <p:clrMapOvr>
    <a:masterClrMapping/>
  </p:clrMapOvr>
</p:notes>
</file>

<file path=ppt/notesSlides/notesSlide4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장은 크게 두 덩어리로 나뉜다. 앞쪽 9.1부터 9.5까지는 "비용이 분명히 있는데 Buffers에는 안 보이는" 사례이고, 뒤쪽 9.6은 반대로 "비용이 있을 것 같은데 아예 사라지는" 사례다. 두 사례가 정반대 방향이라는 점을 먼저 예고해야 학습자가 뒤에서 혼란을 겪지 않는다. 마지막 9.7~9.8에서 두 사례를 하나의 판단 기준으로 묶으므로, 중간에 결론을 서두르지 말고 실측을 끝까지 따라오게 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956620385"/>
      </p:ext>
    </p:extLst>
  </p:cSld>
  <p:clrMapOvr>
    <a:masterClrMapping/>
  </p:clrMapOvr>
</p:notes>
</file>

<file path=ppt/notesSlides/notesSlide4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첫 절은 문제 제기다. UNION과 UNION ALL 중 무엇을 쓸지 고민한 기억이 있는지 학습자에게 직접 물어보면 좋다. 대부분은 "중복이 생기면 곤란하니까 UNION"이라고 답한다. 그 판단이 틀렸다는 것이 아니라, 판단의 근거가 데이터의 성질이 아니라 불안감이라는 점이 문제다. 이 절에서는 결론을 내지 말고 질문만 남긴 채 다음 절의 개념 정리로 넘어간다. 또한 이 장의 두 실측이 서로 반대 방향의 결론을 낸다는 점을 여기서 미리 예고해 두면, 뒤에서 학습자가 성급하게 규칙 하나로 정리해 버리는 일을 막을 수 있다. 문제 제기만 남기고 넘어가는 것이 요령이다.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76359970"/>
      </p:ext>
    </p:extLst>
  </p:cSld>
  <p:clrMapOvr>
    <a:masterClrMapping/>
  </p:clrMapOvr>
</p:notes>
</file>

<file path=ppt/notesSlides/notesSlide4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여기서 강조할 것은 이 선택이 양방향으로 위험하다는 점이다. 성능만 이야기하면 학습자는 "그럼 UNION ALL이 더 빠르니까 그걸 쓰자"로 잘못 정리해 버린다. 뒤에서 다룰 실측이 바로 그 오해를 막는 사례다. 실무 사고는 오히려 UNION ALL 쪽에서 더 많이 난다 — 집계 리포트의 숫자가 부풀려져도 쿼리는 에러 없이 돌기 때문에 한참 뒤에야 발견된다는 점을 짚어준다. 덧붙여 코드 리뷰에서 UNION ALL 변경이 쉽게 통과되는 이유도 짚어준다 — 문법이 단순해지고 빨라 보이기 때문에 결과가 달라진다는 사실이 가려지기 쉽다는 점을 경고해 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884417983"/>
      </p:ext>
    </p:extLst>
  </p:cSld>
  <p:clrMapOvr>
    <a:masterClrMapping/>
  </p:clrMapOvr>
</p:notes>
</file>

<file path=ppt/notesSlides/notesSlide4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이번 차시는 인덱스를 새로 만들거나 테이블 구조를 바꾸지 않는다. 즉 튜닝 수단이 SQL 작성 방식 하나뿐인 상황이다. 그래서 학습자가 "무엇을 바꿨더니 무엇이 달라졌는가"를 아주 깔끔하게 관찰할 수 있는 장이다. 두 시나리오가 서로 반대 결론을 향한다는 점을 다시 한 번 예고하고, 실습 DB에서 직접 캡처한 값만 사용하므로 수치를 그대로 신뢰해도 좋다고 안내한다. 실습 DB의 데이터 분포는 고정돼 있으므로 각자 돌려도 같은 건수가 나온다는 점을 미리 말해 두면, 결과가 다르게 나왔을 때 조건을 잘못 적었는지를 먼저 확인하는 습관이 생긴다.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882076311"/>
      </p:ext>
    </p:extLst>
  </p:cSld>
  <p:clrMapOvr>
    <a:masterClrMapping/>
  </p:clrMapOvr>
</p:notes>
</file>

<file path=ppt/notesSlides/notesSlide4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개념 정리 절이다. 이미 아는 내용이라 지루해할 수 있으므로, 정의를 읽는 데 그치지 말고 "그래서 이 정의가 실행계획에서 어떤 오퍼레이션으로 나타날 것 같은가"를 먼저 예측하게 한 뒤 다음 절에서 답을 맞춰보는 방식으로 진행하면 좋다. 특히 중복을 제거하려면 값을 서로 비교해야 하고, 비교하려면 같은 값을 한곳에 모아야 한다는 흐름을 학습자 입으로 말하게 만드는 것이 이 절의 목표다. 정의를 읽고 끝내면 남는 것이 없으므로, 각 연산자가 실행계획에서 어떤 이름의 오퍼레이션으로 보일지 이름까지 예측해 적어두게 하면 다음 절의 확인이 훨씬 선명해진다.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570972180"/>
      </p:ext>
    </p:extLst>
  </p:cSld>
  <p:clrMapOvr>
    <a:masterClrMapping/>
  </p:clrMapOvr>
</p:notes>
</file>

<file path=ppt/notesSlides/notesSlide4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학습자가 가장 자주 하는 오해는 UNION ALL을 "UNION의 빠른 버전"으로 이해하는 것이다. 두 연산자는 결과가 다를 수 있는 별개의 연산이며, 결과가 같아지는 것은 두 집합이 서로 겹치지 않는 특수한 경우뿐이다. 튜닝의 대전제인 "같은 결과를 내는 대안들끼리만 비교한다"를 여기서 다시 꺼내면 좋다. 결과가 달라지는 변경은 튜닝이 아니라 사양 변경이라는 표현이 잘 먹힌다. 결과가 달라지는 변경은 튜닝이 아니라 사양 변경이라는 표현이 학습자에게 잘 남는다. 이 문장은 이후 장에서도 계속 재활용되므로 여기서 처음 꺼내 두는 것이 좋다.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142810073"/>
      </p:ext>
    </p:extLst>
  </p:cSld>
  <p:clrMapOvr>
    <a:masterClrMapping/>
  </p:clrMapOvr>
</p:notes>
</file>

<file path=ppt/notesSlides/notesSlide4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DISTINCT가 붙어 있는 쿼리를 만나면 먼저 물어야 할 질문은 "왜 붙였는가"다. 조인 때문에 늘어난 행을 되돌리려고 붙였다면 근본 원인은 조인 쪽에 있으므로 DISTINCT를 지우는 것이 아니라 조인 구조를 손봐야 한다. 반대로 확신이 없어 습관적으로 붙였다면 유일성을 확인한 뒤 지울 수 있다. 이 구분은 이번 장 후반의 판단 기준과 그대로 이어진다는 점을 미리 연결해 준다. 또 DISTINCT는 선택된 컬럼 조합 전체를 기준으로 판정한다는 점도 짚어야 한다. 컬럼을 하나 더 넣는 순간 중복 판정 기준이 달라져 결과 건수가 바뀔 수 있기 때문이다.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794696947"/>
      </p:ext>
    </p:extLst>
  </p:cSld>
  <p:clrMapOvr>
    <a:masterClrMapping/>
  </p:clrMapOvr>
</p:notes>
</file>

<file path=ppt/notesSlides/notesSlide4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여기서 학습자에게 예측을 시켜본다 — 중복 제거 단계가 추가되면 실행계획의 어떤 값이 늘어날 것 같은가. 대부분 Buffers를 답한다. 그 예측이 빗나가는 것이 이번 장의 핵심 장면이므로, 답을 알려주지 말고 예측만 칠판에 적어 둔 뒤 실측으로 확인하는 순서를 지키는 것이 좋다. 정렬이든 해시든 전체를 한 번 모아야 한다는 점이 뒤에서 메모리 지표를 읽는 근거가 된다. 정렬과 해시 중 무엇이 선택되는지는 데이터량과 메모리 상황에 따라 옵티마이저가 정한다는 점만 짚고, 선택 기준 자체를 깊이 파고들지는 않는 편이 이 장의 흐름에 맞다.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692911777"/>
      </p:ext>
    </p:extLst>
  </p:cSld>
  <p:clrMapOvr>
    <a:masterClrMapping/>
  </p:clrMapOvr>
</p:notes>
</file>

<file path=ppt/notesSlides/notesSlide4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절이 9장의 이론적 중심이다. 여기서 세운 원리를 다음 절의 실측이 그대로 확인해 준다. 순서를 뒤집지 말고 원리를 먼저 세우는 편이 좋다 — 실측을 먼저 보여주면 학습자는 숫자를 외우려 들고, 원리를 먼저 세우면 숫자를 근거로 쓰게 된다. 특히 Buffers의 정의를 다시 정확히 확인하는 것이 이 절의 실질적 목표다. 지표의 정의로 돌아가는 훈련은 이번 장뿐 아니라 이후 모든 장에서 반복되므로, 여기서 한 번 확실히 몸에 붙여두면 나중에 같은 설명을 반복할 필요가 크게 줄어든다.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887445092"/>
      </p:ext>
    </p:extLst>
  </p:cSld>
  <p:clrMapOvr>
    <a:masterClrMapping/>
  </p:clrMapOvr>
</p:notes>
</file>

<file path=ppt/notesSlides/notesSlide4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실험 설계 관점에서 이 구조를 짚어주면 학습자의 이해가 깊어진다. 두 쿼리는 접근 경로도, 조건도, 읽는 테이블도 완전히 같고 오직 한 단계만 다르다. 통제 변인이 하나뿐인 실험이라는 뜻이다. 실무 튜닝에서도 비교 대상을 만들 때 이렇게 변수를 하나만 남기는 습관이 중요하다는 점으로 확장하면, 단순한 문법 비교가 방법론 수업으로 바뀐다. 또 UNION 계획을 볼 때 SORT UNIQUE 바로 아래에 UNION-ALL이 있는 모양 자체를 기억하게 하면, 낯선 실행계획에서도 집합 연산의 흔적을 빠르게 찾아낼 수 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576374034"/>
      </p:ext>
    </p:extLst>
  </p:cSld>
  <p:clrMapOvr>
    <a:masterClrMapping/>
  </p:clrMapOvr>
</p:notes>
</file>

<file path=ppt/notesSlides/notesSlide4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지표의 정의로 돌아가는 훈련을 시키는 슬라이드다. Buffers가 늘지 않았다는 관측을 두고 학습자는 흔히 "아무 일도 안 했다"로 해석한다. 그러나 지표는 자기가 정의된 것만 잰다. 온도계가 습도를 못 재는 것이 온도계의 결함이 아니듯이 말이다. 동시 사용자가 많은 운영 환경에서는 CPU가 I/O만큼, 때로는 그 이상으로 희소한 자원이라는 점도 함께 짚어주면 실무 감각이 붙는다. 지표는 자기가 정의된 것만 잰다는 원칙을 여기서 한 문장으로 못 박아 두면, 이후 장에서 다른 지표를 다룰 때도 학습자가 같은 방식으로 접근하게 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986531173"/>
      </p:ext>
    </p:extLst>
  </p:cSld>
  <p:clrMapOvr>
    <a:masterClrMapping/>
  </p:clrMapOvr>
</p:notes>
</file>

<file path=ppt/notesSlides/notesSlide4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실행계획을 세로로 읽는 습관을 만들어 주는 슬라이드다. Buffers 열만 위에서 아래로 훑는 학습자가 대단히 많은데, 실제로는 한 행을 가로로 끝까지 읽어야 그 단계의 성격이 보인다. 작업 메모리 값이 찍혀 있다는 것은 그 단계가 중간 결과를 쌓았다는 증거이고, 데이터가 커지면 그 공간이 부족해져 디스크로 넘어갈 수도 있다는 위험 신호로도 읽힌다는 점을 덧붙이면 좋다. 작업 메모리가 부족해 정렬이 디스크로 넘어가면 그때는 Buffers가 아니라 임시 영역 I/O가 늘어난다는 점까지 언급해 두면, 데이터가 커졌을 때의 위험을 미리 인식시킬 수 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313572142"/>
      </p:ext>
    </p:extLst>
  </p:cSld>
  <p:clrMapOvr>
    <a:masterClrMapping/>
  </p:clrMapOvr>
</p:notes>
</file>

<file path=ppt/notesSlides/notesSlide4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"증명 가능성"이라는 표현을 꼭 짚어야 한다. 학습자는 흔히 데이터에 중복이 실제로 없으면 옵티마이저가 알아서 건너뛸 것이라고 생각하는데, 옵티마이저가 신뢰하는 것은 데이터의 현재 상태가 아니라 제약조건이라는 선언이다. 제약이 없으면 지금 중복이 없더라도 다음 순간 들어올 수 있으므로 생략할 수 없다. 이 차이가 뒤에서 다룰 PK 컬럼과 FK 컬럼의 대비를 이해하는 열쇠가 된다. 제약조건을 성능 자원으로 보는 관점은 학습자에게 낯설기 때문에, 여기서 한 번 명시적으로 말해 두고 다음 절의 실측으로 확인시키는 순서가 가장 효과적이다.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093559159"/>
      </p:ext>
    </p:extLst>
  </p:cSld>
  <p:clrMapOvr>
    <a:masterClrMapping/>
  </p:clrMapOvr>
</p:notes>
</file>

<file path=ppt/notesSlides/notesSlide4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실측 소재를 소개하는 절이다. 쿼리를 보여주기 전에 소재의 의미를 먼저 정리해야 뒤의 숫자가 의미를 갖는다. 특히 두 집합이 겹칠 수 있는지를 학습자가 스스로 판단하게 만든 다음 쿼리를 보여주면, 결과 건수 차이가 나왔을 때 "역시"라는 반응이 나온다. 두 쿼리가 오직 연산자 하나만 다르다는 점도 다시 확인시킨다. 쿼리를 띄우기 전에 두 집합의 이름만 칠판에 적어놓고 겹칠 수 있는지 물어보면, 뒤에 나오는 건수 차이가 단순한 숫자가 아니라 예측의 확인으로 받아들여진다.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927213998"/>
      </p:ext>
    </p:extLst>
  </p:cSld>
  <p:clrMapOvr>
    <a:masterClrMapping/>
  </p:clrMapOvr>
</p:notes>
</file>

<file path=ppt/notesSlides/notesSlide4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슬라이드에서 반드시 학습자에게 물어야 할 것은 "이 두 집합이 겹칠 수 있는가"다. 스키마를 보고 판단하는 훈련이기 때문이다. 보험 유형은 환자 속성이고 청구 유형은 청구 속성이므로 서로를 배제하지 않는다. 이렇게 컬럼이 어느 테이블의 속성인지를 따지는 습관이 곧 UNION과 UNION ALL의 선택 근거가 된다. 답을 먼저 주지 말고 근거를 말하게 하는 것이 좋다. 스키마를 근거로 판단하는 훈련이므로, 답이 맞았는지보다 어떤 컬럼이 어느 테이블의 속성인지를 짚어 말했는지를 기준으로 피드백을 주는 편이 학습 효과가 크다.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500077820"/>
      </p:ext>
    </p:extLst>
  </p:cSld>
  <p:clrMapOvr>
    <a:masterClrMapping/>
  </p:clrMapOvr>
</p:notes>
</file>

<file path=ppt/notesSlides/notesSlide4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인라인 뷰를 COUNT(*)로 감싼 형태에 주목시킨다. 집합 연산의 결과 건수를 그대로 세는 가장 단순한 확인 방법이다. 여기서 SELECT 목록이 PAT_ID 하나뿐이라는 점도 중요하다 — 중복 판정의 기준이 되는 컬럼 조합이 단순할수록 실행계획도 단순해져 비교가 깨끗해진다. 실습 때는 이 쿼리를 먼저 돌려 결과 건수를 적어 두게 하고, 다음 쿼리와 비교할 준비를 시킨다. 인라인 뷰 바깥의 COUNT(*)가 실행계획에서 SORT AGGREGATE로 나타난다는 점도 미리 언급해 두면, 다음 절에서 계획을 볼 때 낯선 오퍼레이션이 하나 줄어든다.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948123612"/>
      </p:ext>
    </p:extLst>
  </p:cSld>
  <p:clrMapOvr>
    <a:masterClrMapping/>
  </p:clrMapOvr>
</p:notes>
</file>

<file path=ppt/notesSlides/notesSlide4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Q1과 Q2를 나란히 놓고 다른 글자가 몇 개인지 세어보게 하면 인상적이다. ALL 세 글자뿐이다. 이렇게 작은 차이가 결과 건수와 소요 시간을 모두 바꾼다는 점이 이 장의 극적인 지점이다. 실습에서는 두 쿼리를 연달아 실행한 뒤 결과 건수를 먼저 비교하고, 그 다음에 실행계획을 열어보는 순서를 지키게 한다. 순서를 바꾸면 학습자가 숫자의 의미보다 계획 모양에 먼저 끌려간다. 또한 두 쿼리를 같은 세션에서 연달아 돌리면 캐시 상태가 비슷해져 비교가 공정해진다는 점도 알려준다. 순서를 바꿔 한 번 더 돌려보게 하면 더 확실해진다.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786096187"/>
      </p:ext>
    </p:extLst>
  </p:cSld>
  <p:clrMapOvr>
    <a:masterClrMapping/>
  </p:clrMapOvr>
</p:notes>
</file>

<file path=ppt/notesSlides/notesSlide4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절이 9장의 하이라이트다. 슬라이드를 넘기기 전에 앞서 적어 둔 학습자들의 예측을 다시 꺼내 놓고 시작하면 효과가 크다. 대부분 "UNION 쪽 Buffers가 더 클 것"이라고 예측했을 텐데 실측은 완전히 같다. 예측이 빗나간 순간이 가장 잘 기억되므로, 놀란 상태에서 곧바로 원인 해석으로 넘어가지 말고 잠시 관측 사실만 확인하는 시간을 두는 편이 좋다. 관측과 해석을 분리하는 습관을 여기서 훈련시킨다. 무엇이 보이는가를 먼저 다 말하게 한 뒤에야 왜 그런가로 넘어가는 순서가 이 절 전체의 진행 방식이다.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969072742"/>
      </p:ext>
    </p:extLst>
  </p:cSld>
  <p:clrMapOvr>
    <a:masterClrMapping/>
  </p:clrMapOvr>
</p:notes>
</file>

<file path=ppt/notesSlides/notesSlide4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계획을 읽는 순서는 안쪽부터다. 두 테이블을 각각 전체 스캔해 합친 뒤, 그 결과를 정렬해 중복을 제거하고, 마지막에 건수를 센다. 학습자에게 A-Rows 열을 세로로 짚어가며 읽히면 흐름이 눈에 들어온다 — 합친 직후와 중복 제거 직후의 건수가 다르다는 사실이 이 계획의 핵심 정보다. 작업 메모리 관련 값이 오직 SORT UNIQUE 행에만 찍혀 있다는 점도 함께 짚어준다. 또 Id 번호는 계획의 실행 순서가 아니라 트리 구조의 표시일 뿐이라는 점도 다시 확인시켜 두면, 아래에서 위로 읽는 규칙과 번호 순서가 충돌하지 않는다.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893675787"/>
      </p:ext>
    </p:extLst>
  </p:cSld>
  <p:clrMapOvr>
    <a:masterClrMapping/>
  </p:clrMapOvr>
</p:notes>
</file>

<file path=ppt/notesSlides/notesSlide4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Buffers는 누적값이라는 점을 다시 확인시킨다. 상위 단계의 Buffers는 자기가 새로 읽은 것이 아니라 아래 단계들의 합이다. 그래서 SORT UNIQUE 행의 값이 아래와 같다는 것은 그 단계가 블록을 하나도 새로 읽지 않았다는 뜻이 된다. 반대로 작업 메모리 값은 오직 그 행에만 찍혔다 — 이 대비가 "이 단계는 읽지 않고 모으기만 했다"는 사실을 한눈에 보여주는 증거다. 이 대비를 학습자가 스스로 말로 설명할 수 있게 되면 실습 1번은 사실상 푼 것이나 마찬가지이므로, 여기서 한 명을 지목해 설명을 시켜보는 것도 좋은 방법이다.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326662711"/>
      </p:ext>
    </p:extLst>
  </p:cSld>
  <p:clrMapOvr>
    <a:masterClrMapping/>
  </p:clrMapOvr>
</p:notes>
</file>

<file path=ppt/notesSlides/notesSlide4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Q1과 나란히 놓고 보면 단계 수가 하나 줄었고 Id 번호가 그만큼 당겨졌다는 것을 알 수 있다. 테이블 접근 단계의 Buffers는 3,090과 442로 Q1과 완전히 같다 — 읽는 일 자체는 조금도 달라지지 않았다는 뜻이다. 또 하나 짚을 것은 VIEW 단계의 A-Rows다. Q1에서는 중복이 제거된 뒤의 건수였지만 여기서는 합친 그대로의 건수가 올라온다. 같은 자리의 숫자가 다른 의미를 갖는 지점이다.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653357159"/>
      </p:ext>
    </p:extLst>
  </p:cSld>
  <p:clrMapOvr>
    <a:masterClrMapping/>
  </p:clrMapOvr>
</p:notes>
</file>

<file path=ppt/notesSlides/notesSlide4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여기서 학습자에게 "무엇이 달라졌고 무엇이 그대로인가"를 표로 정리하게 하면 좋다. 달라진 것은 단계 하나와 A-Time, 그리고 결과 건수다. 그대로인 것은 접근 경로와 Buffers다. 이렇게 변한 것과 변하지 않은 것을 분리해 적어 두면, 다음 슬라이드에서 원인을 지목할 때 근거가 이미 손에 들려 있는 상태가 된다. 실습 1·2번 문항이 정확히 이 정리를 요구한다. 또 두 계획을 나란히 띄워놓고 화면을 번갈아 보여주면 단계 하나가 빠진 모양이 시각적으로 각인된다. 계획 비교는 말보다 화면이 효과적인 영역이다.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717075473"/>
      </p:ext>
    </p:extLst>
  </p:cSld>
  <p:clrMapOvr>
    <a:masterClrMapping/>
  </p:clrMapOvr>
</p:notes>
</file>

<file path=ppt/notesSlides/notesSlide4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실험의 결론을 정리하는 슬라이드다. 통제 변인이 하나뿐이므로 인과를 특정할 수 있다는 논리를 다시 강조한다. 실무에서는 이렇게 깨끗한 비교가 흔치 않다 — 보통 여러 가지를 한꺼번에 바꿔놓고 어느 것이 효과가 있었는지 모르는 상태가 된다. 튜닝 실험을 설계할 때 한 번에 하나씩만 바꾸라는 원칙을 여기서 자연스럽게 도출해 주면 좋다. 덧붙여 이번 비교가 깨끗했던 이유는 인덱스도 통계도 건드리지 않았기 때문이라는 점을 짚어주면, 실무에서 비교 환경을 통제하는 감각까지 함께 전달할 수 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151469723"/>
      </p:ext>
    </p:extLst>
  </p:cSld>
  <p:clrMapOvr>
    <a:masterClrMapping/>
  </p:clrMapOvr>
</p:notes>
</file>

<file path=ppt/notesSlides/notesSlide4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실습 1번과 3번 문항이 이 슬라이드에서 나온다. 특히 3번은 팀원의 잘못된 결론을 반박하는 형식인데, 반박의 핵심은 Buffers의 정의로 돌아가는 것이다. Buffers는 논리적 I/O 지표이지 종합 비용 지표가 아니다. 실무에서 이런 오판이 위험한 이유는 CPU 부하가 큰 쿼리를 "가벼운 쿼리"로 분류해 동시 실행 건수를 늘려버리는 방식으로 사고가 커지기 때문이라는 점도 덧붙인다. 또한 Buffers가 같다는 관측 자체는 틀린 것이 아니라 불완전한 것임을 분명히 해야 한다. 관측을 부정하는 것이 아니라 해석의 범위를 제한하는 훈련이기 때문이다.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314831395"/>
      </p:ext>
    </p:extLst>
  </p:cSld>
  <p:clrMapOvr>
    <a:masterClrMapping/>
  </p:clrMapOvr>
</p:notes>
</file>

<file path=ppt/notesSlides/notesSlide4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A-Time은 캐시 상태 같은 외부 요인에 흔들릴 수 있는 지표라고 앞 장에서 배웠는데 여기서는 근거로 쓴다. 모순처럼 들릴 수 있으므로 정리해 준다 — 흔들리는 지표라도 다른 조건이 완전히 동일하고 차이가 반복해서 재현되면 근거가 된다. 이번 사례는 접근 경로와 Buffers가 완전히 같고 단계 하나만 다르므로 A-Time 차이를 그 단계에 귀속시킬 수 있다. 실습 2번 문항이 정확히 이 논증을 요구한다.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948082012"/>
      </p:ext>
    </p:extLst>
  </p:cSld>
  <p:clrMapOvr>
    <a:masterClrMapping/>
  </p:clrMapOvr>
</p:notes>
</file>

<file path=ppt/notesSlides/notesSlide4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슬라이드는 성능 이야기가 잠시 멈추고 데이터 해석으로 넘어가는 지점이다. 건수 차이를 중복 규모의 측정값으로 쓰는 기법은 실무에서 꽤 유용하다 — UNION을 UNION ALL로 바꿔도 되는지 확신이 서지 않을 때 두 버전의 건수를 세어보면 답이 바로 나온다. 논리적 추론이 어려울 때 데이터로 확인하는 우회로를 하나 쥐여주는 셈이다. 실습 4번 문항이 여기서 나온다. 또 건수 차이가 정확히 겹친 인원수와 같아지는 것은 각 집합 안에 자체 중복이 없을 때 성립한다는 조건도 짚어주면, 숫자를 기계적으로 외우지 않게 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319728450"/>
      </p:ext>
    </p:extLst>
  </p:cSld>
  <p:clrMapOvr>
    <a:masterClrMapping/>
  </p:clrMapOvr>
</p:notes>
</file>

<file path=ppt/notesSlides/notesSlide4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9장에서 가장 실무적인 슬라이드다. 성능 개선안을 검토할 때 첫 번째 질문은 언제나 "결과가 같은가"여야 한다. 특히 집계 쿼리에서 UNION을 UNION ALL로 바꾸는 변경은 리뷰에서 통과되기 쉽다 — 문법이 단순해지고 빨라지기 때문이다. 그러나 겹칠 수 있는 집합이라면 그 순간부터 리포트의 숫자가 틀린다. 실습 5번 문항이 이 판단을 직접 묻는다. 또한 이런 변경은 테스트에서도 잘 걸리지 않는다. 개발 데이터가 작아 겹침이 없으면 두 결과가 같게 나오기 때문이다. 검증 데이터의 성질까지 함께 봐야 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739682622"/>
      </p:ext>
    </p:extLst>
  </p:cSld>
  <p:clrMapOvr>
    <a:masterClrMapping/>
  </p:clrMapOvr>
</p:notes>
</file>

<file path=ppt/notesSlides/notesSlide4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앞 절과 정반대 방향의 사례로 넘어간다. 앞에서는 "안 보이지만 있는 비용"이었고 여기서는 "있을 것 같지만 없는 비용"이다. 두 사례를 함께 겪어야 학습자가 "중복 제거는 무조건 비싸다" 혹은 "DISTINCT는 무조건 지워야 한다" 같은 단순한 규칙으로 도망가지 않는다. 전환 지점이므로 앞 절의 결론을 한 문장으로 정리한 뒤 넘어가는 것이 좋다. 전환 지점에서 앞 절의 결론을 한 문장으로 정리하게 시키면, 뒤 사례를 볼 때 두 결론이 서로 충돌하는 것이 아니라 나란히 선다는 것을 스스로 알아차린다.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979108493"/>
      </p:ext>
    </p:extLst>
  </p:cSld>
  <p:clrMapOvr>
    <a:masterClrMapping/>
  </p:clrMapOvr>
</p:notes>
</file>

<file path=ppt/notesSlides/notesSlide4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쿼리를 보여준 뒤 곧바로 실행계획을 열지 말고 예측을 시킨다 — Q3에는 중복 제거 오퍼레이션이 나타날 것 같은가. 앞 절에서 SORT UNIQUE의 존재를 확인한 직후이므로 대부분 나타난다고 답한다. 그 예측이 다시 한 번 빗나가는 것이 이 절의 장면이다. HOSP_ID가 HOSPITALS의 기본 키라는 사실을 미리 알려줄지 말지는 강의 호흡에 맞춰 조절한다. 또 조건이 걸러내는 범위가 좁다는 점도 미리 짚어두면, 계획이 두 줄로 끝나는 이유가 DISTINCT 생략 하나 때문만은 아니라는 것을 함께 이해하게 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103704480"/>
      </p:ext>
    </p:extLst>
  </p:cSld>
  <p:clrMapOvr>
    <a:masterClrMapping/>
  </p:clrMapOvr>
</p:notes>
</file>

<file path=ppt/notesSlides/notesSlide4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Plan hash value가 같다는 것은 옵티마이저가 만들어낸 실행계획이 문자 그대로 동일하다는 뜻이다. 비슷한 것이 아니라 같은 것이다. 이 값을 비교하는 습관은 실무에서도 유용하다 — SQL 문장을 손봤을 때 계획이 실제로 바뀌었는지를 눈으로 계획을 대조하지 않고도 한 번에 확인할 수 있기 때문이다. 두 줄짜리 계획이라는 점도 앞 절의 일곱 줄짜리 계획과 대비시켜 보여주면 인상적이다. 또한 계획이 같다는 사실만으로 두 쿼리가 언제나 같은 결과를 낸다고 말할 수는 없다는 점도 덧붙인다. 여기서는 유일성이 보장돼 결과까지 같아진 특수한 경우다.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113802389"/>
      </p:ext>
    </p:extLst>
  </p:cSld>
  <p:clrMapOvr>
    <a:masterClrMapping/>
  </p:clrMapOvr>
</p:notes>
</file>

<file path=ppt/notesSlides/notesSlide4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"실행 시점에 빨리 끝났다"가 아니라 "계획 단계에서 아예 빠졌다"는 구분이 중요하다. 옵티마이저는 SQL을 문자 그대로 실행하는 기계가 아니라 같은 결과를 내는 더 나은 방법을 찾는 최적화기다. 이런 변환을 어디까지 해주는지는 옵티마이저가 어떤 사실을 알고 있느냐에 달려 있고, 그 앎의 출처가 바로 제약조건과 통계다. 실습 6번 문항이 이 근거를 설명하도록 요구한다. 또 옵티마이저가 하는 이런 변환을 질의 변환이라 부르며, 이후 장에서 다룰 서브쿼리 처리도 같은 범주에 속한다는 점을 미리 연결해 두면 흐름이 이어진다.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071993749"/>
      </p:ext>
    </p:extLst>
  </p:cSld>
  <p:clrMapOvr>
    <a:masterClrMapping/>
  </p:clrMapOvr>
</p:notes>
</file>

<file path=ppt/notesSlides/notesSlide4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제약조건을 성능 관점에서 다시 보게 만드는 슬라이드다. 실무에서는 성능을 이유로 외래 키 제약을 걸지 않는 설계를 종종 만나는데, 이때 잃는 것은 정합성만이 아니다. 옵티마이저가 쓸 수 있는 사실 하나가 사라지는 것이고, 그만큼 최적화 여지도 줄어든다. 이 관점은 뒤에 나올 조인 관련 챕터에서도 반복되므로 여기서 한 번 심어 두면 나중에 회수하기 좋다. 또한 제약을 선언해 두면 사람이 아니라 DB가 규칙을 지켜준다는 점에서 유지보수 비용도 줄어든다. 성능과 정합성이 같은 방향을 가리키는 드문 사례다.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439140308"/>
      </p:ext>
    </p:extLst>
  </p:cSld>
  <p:clrMapOvr>
    <a:masterClrMapping/>
  </p:clrMapOvr>
</p:notes>
</file>

<file path=ppt/notesSlides/notesSlide4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규칙을 외우려는 학습자에게 제동을 거는 슬라이드다. "항상"이 들어간 성능 명제는 대부분 전제를 숨기고 있다. 이 명제의 숨은 전제는 옵티마이저가 아무 판단도 하지 않는다는 가정이다. 앞 장에서 다룬 다른 통념들과 같은 구조라는 점을 짚어주면 좋다. 동시에 반대편으로 과도하게 기울어 DISTINCT를 남발하는 것도 막아야 하므로 마지막 두 항목을 분명히 읽어준다. 실습 7번 문항이 이 논증을 요구한다.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80160690"/>
      </p:ext>
    </p:extLst>
  </p:cSld>
  <p:clrMapOvr>
    <a:masterClrMapping/>
  </p:clrMapOvr>
</p:notes>
</file>

<file path=ppt/notesSlides/notesSlide4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실습 8번은 직접 실행하지 않고 원칙만 적용해 추론하는 문제다. 이런 문제가 중요한 이유는 실무에서 매번 실행해 볼 수 있는 것이 아니기 때문이다. 원리를 이해했다면 실행 전에 결과를 예측할 수 있어야 하고, 예측이 맞는지 확인하는 용도로 실행을 쓰는 것이 순서다. 컬럼 이름이 같다는 이유로 성질도 같을 것이라 가정하는 실수는 조인 조건을 작성할 때도 자주 나온다는 점을 덧붙인다. 또 실행 없이 예측한 뒤 확인하는 훈련은 운영 DB를 함부로 건드릴 수 없는 현장에서 특히 값지다. 예측이 틀렸을 때 왜 틀렸는지를 되짚는 과정이 진짜 학습이다.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088263118"/>
      </p:ext>
    </p:extLst>
  </p:cSld>
  <p:clrMapOvr>
    <a:masterClrMapping/>
  </p:clrMapOvr>
</p:notes>
</file>

<file path=ppt/notesSlides/notesSlide4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마지막 절은 앞의 두 사례를 하나의 판단 절차로 묶는 자리다. 서로 반대 방향의 결론을 낸 두 사례를 어떻게 한 기준 안에 담을 수 있는지가 관건인데, 답은 "중복 제거가 필요한가"와 "옵티마이저가 알아서 없애줄 수 있는가"를 순서대로 묻는 것이다. 이 순서를 학습자가 스스로 세우도록 유도하면 실습 10번 문항이 훨씬 쉬워진다. 또한 이 절은 앞의 모든 실측을 회수하는 자리이므로, 새로운 내용을 더하기보다 앞에서 나온 관측과 숫자를 다시 인용하면서 정리하는 방식이 효과적이다.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004678625"/>
      </p:ext>
    </p:extLst>
  </p:cSld>
  <p:clrMapOvr>
    <a:masterClrMapping/>
  </p:clrMapOvr>
</p:notes>
</file>

<file path=ppt/notesSlides/notesSlide4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판단의 근거를 구조에서 찾으라는 대목이 실무적으로 가장 중요하다. 개발 데이터에서 두 집합이 겹치지 않았다는 이유로 UNION ALL로 바꿨다가 운영 데이터에서 중복이 발생하는 사고가 전형적이다. 구조적으로 겹칠 수 없다는 말은 어떤 데이터가 들어와도 겹칠 수 없다는 뜻이어야 한다. 확신이 없을 때 건수를 세어보는 방법은 어디까지나 보조 수단이라는 점도 함께 짚어준다. 또 겹침 여부를 문서가 아니라 제약과 컬럼 정의에서 확인하라고 당부한다. 주석이나 설계 문서는 낡을 수 있지만 제약은 DB가 지금 지키고 있는 규칙이다.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31307864"/>
      </p:ext>
    </p:extLst>
  </p:cSld>
  <p:clrMapOvr>
    <a:masterClrMapping/>
  </p:clrMapOvr>
</p:notes>
</file>

<file path=ppt/notesSlides/notesSlide4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두 예시의 차이를 명확히 대비시켜야 한다. 같은 행의 같은 컬럼이 하나의 값만 가질 수 있다는 사실은 데이터가 아니라 구조가 보장하는 배타성이다. 반면 보험 유형과 청구 유형처럼 서로 다른 테이블의 속성으로 나눈 집합은 서로를 배제하지 않는다. 실습 9번은 학습자가 직접 배타적 예시를 만들어 보게 하는 문제이므로, 여기서 예시 하나를 더 만들어 보라고 즉석에서 시켜보면 좋다. 또한 배타성이 애플리케이션 로직으로만 보장되는 경우는 위험하다는 점도 덧붙인다. DB가 강제하지 않는 규칙은 언젠가 깨진 데이터가 들어올 수 있기 때문이다.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947551093"/>
      </p:ext>
    </p:extLst>
  </p:cSld>
  <p:clrMapOvr>
    <a:masterClrMapping/>
  </p:clrMapOvr>
</p:notes>
</file>

<file path=ppt/notesSlides/notesSlide4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마지막 항목이 실무에서 가장 자주 마주치는 상황이다. 결과 건수가 이상하게 많아서 DISTINCT를 붙였더니 숫자가 맞더라는 식의 수정은 원인을 모른 채 증상만 덮은 것이다. 왜 행이 늘었는지 확인하지 않으면 조인 조건이 빠졌거나 잘못된 키로 연결된 진짜 버그를 놓치게 된다. DISTINCT가 붙은 쿼리를 리뷰할 때는 반드시 이유를 물어보라고 당부한다. 또 DISTINCT를 지울 때는 반드시 지우기 전후의 건수를 비교하게 한다. 유일성을 확신했더라도 확인 절차를 생략하지 않는 습관이 사고를 막아준다.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053820571"/>
      </p:ext>
    </p:extLst>
  </p:cSld>
  <p:clrMapOvr>
    <a:masterClrMapping/>
  </p:clrMapOvr>
</p:notes>
</file>

<file path=ppt/notesSlides/notesSlide4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표를 위에서 아래로 읽으면 이 장의 두 이야기가 한눈에 들어온다. 위 두 줄은 Buffers가 같은데 A-Time이 다른 사례이고, 아래 두 줄은 SQL이 다른데 모든 값이 같은 사례다. 학습자에게 어느 줄과 어느 줄을 비교해야 의미가 있는지 물어보면 좋다 — Q1과 Q2, Q3과 Q4끼리만 비교 대상이며 Q1과 Q3을 비교하는 것은 대상 테이블도 건수도 다르므로 아무 의미가 없다는 점을 확인시킨다. 또한 이 표에는 실습 DB에서 실제로 캡처한 값만 들어 있다는 점을 다시 확인시킨다. 환경이 다르면 절대값은 달라져도 두 줄 사이의 관계는 그대로 재현된다.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318000687"/>
      </p:ext>
    </p:extLst>
  </p:cSld>
  <p:clrMapOvr>
    <a:masterClrMapping/>
  </p:clrMapOvr>
</p:notes>
</file>

<file path=ppt/notesSlides/notesSlide4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실습 10번 문항이 요구하는 종합 정리가 이 세 항목이다. 순서가 중요하다는 점을 강조한다 — 먼저 필요 여부를 묻고, 다음에 옵티마이저가 알아서 처리해 주는지를 묻고, 마지막에야 남은 비용을 측정한다. 순서를 뒤집어 측정부터 시작하면 애초에 필요 없는 연산을 열심히 최적화하는 일이 생긴다. 가장 좋은 튜닝은 연산을 빠르게 만드는 것이 아니라 하지 않아도 되게 만드는 것이라는 문장으로 마무리하면 좋다.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123180689"/>
      </p:ext>
    </p:extLst>
  </p:cSld>
  <p:clrMapOvr>
    <a:masterClrMapping/>
  </p:clrMapOvr>
</p:notes>
</file>

<file path=ppt/notesSlides/notesSlide4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요약을 읽을 때 세 번째와 일곱 번째 줄을 나란히 짚어주면 좋다. 하나는 "안 보이지만 있는 비용"이고 다른 하나는 "있을 것 같지만 없는 비용"이다. 두 사례가 공통으로 말하는 것은 실행계획을 읽을 때 지표 하나에 의존하지 말고 어떤 오퍼레이션이 있는지, 그 오퍼레이션의 성격이 무엇인지를 함께 보라는 것이다. 다음 챕터로 넘어가기 전 이 태도를 한 번 더 확인시킨다. 또 요약의 숫자들은 외울 대상이 아니라 논증의 근거라는 점을 분명히 한다. 필요한 것은 값 자체가 아니라 왜 그 값이 그렇게 나왔는지에 대한 설명이다.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43814355"/>
      </p:ext>
    </p:extLst>
  </p:cSld>
  <p:clrMapOvr>
    <a:masterClrMapping/>
  </p:clrMapOvr>
</p:notes>
</file>

<file path=ppt/notesSlides/notesSlide4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문항 난이도가 상과 최상으로만 구성돼 있어 설명형 답안을 요구한다. 실행해서 숫자를 옮겨 적는 것으로는 점수가 나오지 않으므로, 왜 그렇게 되는지를 지표의 정의에서 출발해 서술하도록 안내한다. 특히 8번과 9번은 실행 없이 원칙만으로 추론하는 문제이므로 먼저 답을 적고 나서 확인하는 순서를 지키게 한다. 10번은 이 장 전체의 요약이므로 마지막에 풀도록 권한다. 또한 문항을 풀기 전에 교안의 실행계획 두 개를 다시 열어두게 하면 답안의 근거가 훨씬 구체적으로 나온다. 지표 이름을 정확히 써서 답하는 연습도 함께 시킨다.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241786511"/>
      </p:ext>
    </p:extLst>
  </p:cSld>
  <p:clrMapOvr>
    <a:masterClrMapping/>
  </p:clrMapOvr>
</p:notes>
</file>

<file path=ppt/notesSlides/notesSlide4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제10장은 리포트성 쿼리의 뼈대인 집계와 정렬을 다룬다. 이 두 연산은 앞 단계 결과가 다 모여야 처리되는 블로킹 연산이라 자원 소비가 크고, 그만큼 "언제 생략되는가"가 중요하다. 이번 장은 두 가지 흔한 통념 — 필터를 먼저 걸어야 집계가 빠르다, 인덱스 컬럼으로 정렬하면 정렬이 생략된다 — 를 실습 DB 실측으로 검증한다. 두 통념 모두 조건이 붙어야 성립한다는 것이 결론이다. 첫 시간에는 챕터 번호와 부제만 짚고 넘어가되, 이번 장의 결론이 결국 실행계획을 봐야 안다로 귀결된다는 점만 예고해 두면 학습자가 실측 결과를 기다리는 자세로 듣게 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890832821"/>
      </p:ext>
    </p:extLst>
  </p:cSld>
  <p:clrMapOvr>
    <a:masterClrMapping/>
  </p:clrMapOvr>
</p:notes>
</file>

<file path=ppt/notesSlides/notesSlide4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학습 목표는 세 묶음이다. 첫째는 개념으로, 정렬과 집계가 어떤 오퍼레이션으로 나타나고 어디서 자원을 쓰는지 파악하는 것이다. 둘째는 옵티마이저의 판단으로, 필터가 그룹화 이전으로 밀려들어갈 수 있는 조건을 이해하는 것이다. 셋째는 판정 능력으로, 실행계획을 보고 정렬이 왜 남았는지 또는 왜 사라졌는지 설명하는 것이다. 실습문제 10문항이 이 세 묶음에 그대로 대응한다. 목표를 읽을 때 각 항목이 몇 절에서 다뤄지는지 함께 알려 주면 학습자가 진도 위치를 잃지 않는다. 서술형 문항이 많은 챕터라 용어를 정확히 쓰는 연습이 특히 중요하다.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437705828"/>
      </p:ext>
    </p:extLst>
  </p:cSld>
  <p:clrMapOvr>
    <a:masterClrMapping/>
  </p:clrMapOvr>
</p:notes>
</file>

<file path=ppt/notesSlides/notesSlide4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구성은 개념에서 실측으로, 다시 원칙으로 되돌아오는 순서다. 10.2까지는 정렬과 집계가 무엇인지 정리하고, 10.3에서 옵티마이저가 필터를 어떻게 옮기는지 다룬 뒤, 10.4와 10.5에서 실측 두 건을 본다. 10.4는 예상과 달리 아무 차이가 없었던 사례이고, 10.5는 같은 컬럼인데 결과가 갈린 사례다. 두 사례의 결론이 10.6의 판정 조건으로 합쳐진다. 절 제목만 훑지 말고 두 실측 절이 각각 어떤 결과였는지 한 줄로 예고해 두면 흥미가 유지된다. 예상과 다른 결과가 두 번 나온다는 점만 말해도 충분하다.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572004495"/>
      </p:ext>
    </p:extLst>
  </p:cSld>
  <p:clrMapOvr>
    <a:masterClrMapping/>
  </p:clrMapOvr>
</p:notes>
</file>

<file path=ppt/notesSlides/notesSlide4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첫 절은 동기 부여 구간이다. 집계와 정렬은 배우지 않아도 다들 쓰고 있는 문법이라 학습자가 "이미 아는 내용"으로 넘겨 버리기 쉽다. 그래서 문법이 아니라 비용 관점에서 다시 보게 만드는 것이 이 절의 목적이다. 특히 두 연산이 앞 단계 결과를 다 모아야 하는 블로킹 연산이라는 점을 먼저 각인시키면, 뒤에서 다룰 작업 영역과 정렬 생략 이야기가 자연스럽게 이어진다. 이 절은 짧게 지나가되, 두 통념을 학습자에게 직접 물어보고 손을 들게 하면 뒤의 실측 결과가 훨씬 강하게 각인된다. 현장 경험이 있는 학습자일수록 두 통념을 강하게 지지하는 경향이 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675759215"/>
      </p:ext>
    </p:extLst>
  </p:cSld>
  <p:clrMapOvr>
    <a:masterClrMapping/>
  </p:clrMapOvr>
</p:notes>
</file>

<file path=ppt/notesSlides/notesSlide4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여기서 강조할 표현은 "모아서 처리한다"는 점이다. 인덱스 스캔이나 테이블 접근은 읽는 대로 상위 단계에 흘려보낼 수 있지만, 정렬과 해시 집계는 입력이 다 들어와야 결과를 확정할 수 있다. 그래서 응답 시간의 체감이 나빠지는 지점이 대개 이 연산이고, 화면에 첫 행이 늦게 뜨는 현상도 여기서 나온다. 이 감각을 먼저 심어 두면 뒤의 실측 해석이 훨씬 쉬워진다. 응답 시간의 체감과 자원 소비는 다른 문제라는 점도 함께 언급해 두면, 뒤에서 정렬 유무와 Buffers가 서로 어긋나는 사례를 볼 때 혼란이 줄어든다.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172163933"/>
      </p:ext>
    </p:extLst>
  </p:cSld>
  <p:clrMapOvr>
    <a:masterClrMapping/>
  </p:clrMapOvr>
</p:notes>
</file>

<file path=ppt/notesSlides/notesSlide4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통념을 다룰 때는 틀렸다고 단정하지 말고 조건이 빠졌다고 말하는 편이 교육적으로 낫다. 두 통념 모두 실제로 성립하는 상황이 분명히 있고, 학습자가 현장에서 그렇게 배웠을 가능성도 높기 때문이다. 이번 장의 목표는 통념을 부수는 것이 아니라 "언제 성립하는가"라는 조건절을 되찾아 붙여 주는 것이라고 미리 선언해 두면 수업 분위기가 방어적으로 흐르지 않는다. 두 통념 중 어느 쪽이 더 널리 퍼져 있는지 물어보면 대개 두 번째가 압도적이다. 그만큼 뒤의 실측이 반전으로 작동한다. 통념의 출처를 추궁하기보다 조건을 복원하는 데 집중하게 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546437074"/>
      </p:ext>
    </p:extLst>
  </p:cSld>
  <p:clrMapOvr>
    <a:masterClrMapping/>
  </p:clrMapOvr>
</p:notes>
</file>

<file path=ppt/notesSlides/notesSlide4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범위를 분명히 선언해 두는 이유는, 이번 장이 "인덱스를 만들어 해결하는" 장이 아니기 때문이다. DDL을 건드리지 않고 기존 PK만으로 정렬 생략 여부가 갈리는 모습을 보여 주는 것이 핵심이라, 학습자가 실습 중에 임의로 인덱스를 만들면 교안의 실행계획이 재현되지 않는다. 실습 시작 전에 이 점을 한 번 더 확인시키는 것이 좋다. 실습 환경을 이미 구성한 학습자라면 이 시점에 대상 테이블의 인덱스 목록을 한 번 확인시켜 두는 것도 좋다. 기존 PK 외에 추가 인덱스가 있으면 결과가 달라질 수 있기 때문이다.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699283354"/>
      </p:ext>
    </p:extLst>
  </p:cSld>
  <p:clrMapOvr>
    <a:masterClrMapping/>
  </p:clrMapOvr>
</p:notes>
</file>

<file path=ppt/notesSlides/notesSlide4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두 번째 절은 용어와 원리를 정리하는 구간이다. 여기서 다루는 내용 자체는 어렵지 않지만, 뒤의 실측 해석이 전부 이 절의 개념 위에서 이뤄지기 때문에 대충 넘기면 안 된다. 특히 "인덱스가 정렬을 대신한다"는 말의 정확한 의미와, HASH GROUP BY가 정렬과는 무관한 연산이라는 점 두 가지는 반드시 짚고 넘어가야 한다. 이 절의 슬라이드들은 서로 독립적으로 보이지만 마지막의 작업 영역 이야기가 앞의 개념들을 비용 관점으로 묶어 준다. 순서를 바꾸지 말고 그대로 진행하는 편이 좋다.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948560770"/>
      </p:ext>
    </p:extLst>
  </p:cSld>
  <p:clrMapOvr>
    <a:masterClrMapping/>
  </p:clrMapOvr>
</p:notes>
</file>

<file path=ppt/notesSlides/notesSlide4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정렬 비용을 설명할 때는 행 수와 비용이 비례하지 않는다는 점을 짚어 주면 좋다. 비교 기반 정렬은 행 수에 로그를 곱한 만큼의 비교가 필요하므로, 대상 행이 두 배가 되면 비용은 두 배보다 커진다. 그래서 정렬을 줄이는 가장 확실한 방법은 정렬 알고리즘을 바꾸는 것이 아니라 정렬 대상 자체를 줄이거나 아예 정렬을 생략하는 것이다. 이번 장의 실측이 후자의 사례다. 정렬 요구 자체를 없애는 것도 실무에서는 유효한 선택지다. 화면에서 실제로 쓰이지 않는 ORDER BY가 관성으로 남아 있는 경우가 의외로 많으니 함께 언급해 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603164643"/>
      </p:ext>
    </p:extLst>
  </p:cSld>
  <p:clrMapOvr>
    <a:masterClrMapping/>
  </p:clrMapOvr>
</p:notes>
</file>

<file path=ppt/notesSlides/notesSlide4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슬라이드가 이번 장 전체의 핵심 논리다. 정렬 생략은 컬럼의 속성이 아니라 접근 경로의 속성이라는 것을 여기서 확실히 못 박아야, 뒤에 나오는 "PK인데도 정렬이 남았다"는 실측 결과가 놀랍지 않고 당연하게 읽힌다. 학습자가 가장 자주 헷갈리는 지점이므로 질문을 던져 확인하고 넘어가는 것을 권한다. 인덱스가 정렬 순서를 보장한다는 말은 하나의 인덱스를 순차로 읽어 나갈 때의 이야기라는 점도 덧붙여 두면 이후 챕터에서 혼란이 줄어든다.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347662481"/>
      </p:ext>
    </p:extLst>
  </p:cSld>
  <p:clrMapOvr>
    <a:masterClrMapping/>
  </p:clrMapOvr>
</p:notes>
</file>

<file path=ppt/notesSlides/notesSlide4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두 방식의 이름이 오퍼레이션 이름 그대로라는 점을 알려 주면 실행계획을 읽을 때 바로 연결된다. 학습자가 흔히 오해하는 지점은 GROUP BY라는 문법을 보면 무조건 정렬이 일어난다고 생각하는 것인데, HASH GROUP BY는 정렬을 하지 않는다. 그래서 GROUP BY 결과가 그룹 키 순서로 나오리라 기대하고 ORDER BY를 빼먹는 코드가 실제로 사고를 낸다. 두 방식의 이름이 실행계획에 그대로 찍히므로, 앞으로 실행계획을 볼 때마다 어느 방식이 선택됐는지 확인하는 습관을 들이라고 안내한다.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638921733"/>
      </p:ext>
    </p:extLst>
  </p:cSld>
  <p:clrMapOvr>
    <a:masterClrMapping/>
  </p:clrMapOvr>
</p:notes>
</file>

<file path=ppt/notesSlides/notesSlide4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표에는 수치가 없다. 두 방식의 성격 차이만 정리한 것으로, 실습에서 관측된 것은 HASH GROUP BY 한 가지뿐이다. SORT GROUP BY를 억지로 유도해 보여 주기보다는 "이런 방식도 있다"는 선에서 남겨 두는 편이 낫다. 9번 실습문제가 바로 이 표를 근거로 추론하는 문제이므로, 표의 두 번째 행과 세 번째 행을 특히 강조해 두면 학습자가 문제를 풀 때 연결한다. 표를 그대로 옮겨 적게 하기보다 각 행을 근거로 두 가지 가능성을 말해 보게 하는 편이 이해도 확인에 낫다. 관측되지 않은 방식을 단정적으로 설명하지 않는 태도도 함께 보여 준다.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343770244"/>
      </p:ext>
    </p:extLst>
  </p:cSld>
  <p:clrMapOvr>
    <a:masterClrMapping/>
  </p:clrMapOvr>
</p:notes>
</file>

<file path=ppt/notesSlides/notesSlide4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슬라이드는 개념 정리 목적이고 이번 챕터 실측에는 디스크 정렬 사례가 없다. 그래서 수치를 들이대지 말고 원리만 설명하는 것이 맞다. 실무에서는 대량 정렬 쿼리가 임시 테이블스페이스를 소진해 다른 세션까지 영향을 주는 사고가 종종 발생하는데, 이때 파라미터를 키우는 대응은 임시 방편이고 정렬 대상 자체를 줄이는 것이 정답이라는 점을 강조하면 좋다. 앞 챕터에서 본 메모리 관련 컬럼들을 여기서 다시 꺼내면 과정 전체의 연결이 드러난다. 이번 장의 실측에는 디스크 정렬 사례가 없다는 점도 분명히 말해 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370375408"/>
      </p:ext>
    </p:extLst>
  </p:cSld>
  <p:clrMapOvr>
    <a:masterClrMapping/>
  </p:clrMapOvr>
</p:notes>
</file>

<file path=ppt/notesSlides/notesSlide4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여기서 다음 절로 자연스럽게 넘어가는 다리를 놓는다. 학습자는 대개 "직접 옮겨 쓰는 것이 안전하다"고 생각하는데, 이번 장의 실측은 그 수고가 대개 불필요했다는 결과를 보여 준다. 다만 "그러니 아무렇게나 써도 된다"는 결론으로 넘어가지 않도록, 밀어넣기가 가능한 조건이 따로 있다는 점을 예고하고 넘어가야 한다. 실무에서는 옵티마이저가 이미 해 주는 일을 손으로 반복하다가 SQL이 길어지고, 그 길이 때문에 다음 사람이 손대지 못하는 코드가 되어 버리는 경우가 많다.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236983015"/>
      </p:ext>
    </p:extLst>
  </p:cSld>
  <p:clrMapOvr>
    <a:masterClrMapping/>
  </p:clrMapOvr>
</p:notes>
</file>

<file path=ppt/notesSlides/notesSlide4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세 번째 절은 이번 장의 이론적 중심이다. 이 절의 판별 기준 하나 — 이 조건을 평가하는 데 집계 결과가 필요한가 — 만 손에 쥐면 10.4의 실측 결과가 전부 설명된다. 실습문제 1·2·3번이 모두 이 절의 내용을 서술하는 문제이므로, 여기서 학습자가 자기 말로 설명할 수 있을 때까지 시간을 들이는 것이 좋다. 이 절의 내용은 대부분 서술형 문항으로 출제되므로, 슬라이드를 읽어 주기보다 학습자에게 설명하게 하고 표현을 교정해 주는 방식이 훨씬 효과적이다.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333471598"/>
      </p:ext>
    </p:extLst>
  </p:cSld>
  <p:clrMapOvr>
    <a:masterClrMapping/>
  </p:clrMapOvr>
</p:notes>
</file>

<file path=ppt/notesSlides/notesSlide4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학습자가 자주 오해하는 지점은 옵티마이저가 "똑똑해서 알아서 해 준다"는 식의 막연한 기대다. 실제로는 결과가 같다는 것을 증명할 수 있는 경우에만 옮기며, 증명이 불가능하면 절대 옮기지 않는다. 그래서 어떤 조건이 증명 가능한지 아는 것이 개발자가 할 일이고, 그 판별 기준이 바로 다음 두 슬라이드의 내용이다. 밀어넣기라는 표현이 방향을 헷갈리게 만들 수 있으니, 처리 파이프라인의 앞쪽으로 옮긴다는 의미임을 처음에 한 번 그림으로 정리해 두는 것이 좋다.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516347637"/>
      </p:ext>
    </p:extLst>
  </p:cSld>
  <p:clrMapOvr>
    <a:masterClrMapping/>
  </p:clrMapOvr>
</p:notes>
</file>

<file path=ppt/notesSlides/notesSlide4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여기서 칠판에 두 경로를 그려 보이면 이해가 빠르다. 왼쪽은 필터 후 그룹화, 오른쪽은 그룹화 후 필터인데 도착점이 같은 집합이 된다는 것을 눈으로 보여 주는 것이다. 실습문제 1번과 2번이 정확히 이 설명을 요구하므로, 학습자에게 이 두 경로를 말로 설명해 보게 시키면 그대로 답안이 된다. 등치 조건이 아니라 범위 조건이거나 함수가 씌워진 조건이라면 판단이 달라질 수 있으므로, 이번 사례가 등치 조건이었다는 점을 분명히 못 박아 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958202301"/>
      </p:ext>
    </p:extLst>
  </p:cSld>
  <p:clrMapOvr>
    <a:masterClrMapping/>
  </p:clrMapOvr>
</p:notes>
</file>

<file path=ppt/notesSlides/notesSlide4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판별 기준 한 문장이 이번 장에서 가장 오래 남길 문장이다. 학습자에게 WHERE와 HAVING을 문법 위치로 외우게 하지 말고, 조건이 참조하는 값이 언제 확정되는지로 판단하게 하는 것이 목표다. 그렇게 익히면 인라인 뷰든 서브쿼리든 형태가 바뀌어도 같은 기준으로 판단할 수 있다. 실습문제 3번이 이 전이 능력을 확인하는 문제다. WHERE 절에 집계 함수를 쓰면 문법 오류가 나는 이유도 같은 논리에서 나온다는 점을 연결해 주면, 학습자가 문법과 처리 순서를 함께 이해하게 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826442074"/>
      </p:ext>
    </p:extLst>
  </p:cSld>
  <p:clrMapOvr>
    <a:masterClrMapping/>
  </p:clrMapOvr>
</p:notes>
</file>

<file path=ppt/notesSlides/notesSlide4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두 챕터를 나란히 놓고 비교하는 것이 이 슬라이드의 목적이다. 학습자는 "인라인 뷰 바깥 필터는 나쁘다"는 식의 형태 기반 규칙을 만들기 쉬운데, 같은 형태에서 정반대 결론이 나오는 사례를 보여 주면 그 규칙이 깨진다. 실습문제 3번이 최상 난이도로 이 대조를 묻는 문제이므로, 여기서 충분히 다뤄 두는 것이 좋다. 두 사례를 표로 나란히 칠판에 적어 두고 수업 내내 남겨 두면, 이후 슬라이드에서 반복해서 참조할 수 있어 진행이 효율적이다.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476212017"/>
      </p:ext>
    </p:extLst>
  </p:cSld>
  <p:clrMapOvr>
    <a:masterClrMapping/>
  </p:clrMapOvr>
</p:notes>
</file>

<file path=ppt/notesSlides/notesSlide4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네 번째 절은 이번 장의 첫 번째 실측이다. 결과가 "아무 차이 없음"이라 밋밋해 보일 수 있지만, 오히려 그 점이 교육적으로 강력하다. 일부러 비효율적으로 쓴 SQL이 Plan hash value까지 동일하게 나왔다는 사실을 먼저 보여 준 다음 원인을 설명하는 순서로 진행하면 집중도가 훨씬 높다. 실측을 보여 주기 전에 예측을 적어 두게 하고, 결과를 본 뒤 자기 예측이 왜 빗나갔는지 쓰게 하면 첫 번째 문항의 답안이 자연스럽게 완성된다.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812125762"/>
      </p:ext>
    </p:extLst>
  </p:cSld>
  <p:clrMapOvr>
    <a:masterClrMapping/>
  </p:clrMapOvr>
</p:notes>
</file>

<file path=ppt/notesSlides/notesSlide4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Q2를 소개할 때는 "이렇게 쓰면 안 된다"는 예시로 먼저 제시하는 것이 좋다. 학습자 대부분이 Q2가 훨씬 느릴 것이라고 예상하고, 그 예상이 빗나가는 순간이 이 절의 학습 효과다. 예측을 먼저 말하게 한 뒤 실행계획을 보여 주면 기억에 오래 남는다. 실습문제 1번이 바로 이 예측이 빗나간 이유를 묻는다. 실무 코드에서 두 번째 형태는 인라인 뷰를 재사용하려다 생기는 경우가 많다. 일부러 나쁘게 쓴 코드가 아니라 흔히 나오는 코드라는 점을 짚어 두면 공감이 커진다.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556459824"/>
      </p:ext>
    </p:extLst>
  </p:cSld>
  <p:clrMapOvr>
    <a:masterClrMapping/>
  </p:clrMapOvr>
</p:notes>
</file>

<file path=ppt/notesSlides/notesSlide4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SQL은 누구나 자연스럽게 쓰는 형태다. 여기서 짚을 것은 claim_type이 GROUP BY 절에 없다는 점, 그럼에도 WHERE로 걸 수 있는 이유는 그것이 원본 컬럼 값이기 때문이라는 점이다. 만약 이 자리에 COUNT(*) 조건을 쓰려 했다면 WHERE에는 쓸 수 없고 HAVING으로 가야 한다는 대비를 함께 설명하면 앞 절 내용이 복습된다. 이 SQL 자체는 설명할 것이 많지 않으므로 빠르게 넘기고, 다음 슬라이드와 비교할 준비를 시키는 데 시간을 쓰는 편이 낫다.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82230618"/>
      </p:ext>
    </p:extLst>
  </p:cSld>
  <p:clrMapOvr>
    <a:masterClrMapping/>
  </p:clrMapOvr>
</p:notes>
</file>

<file path=ppt/notesSlides/notesSlide4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Q2를 보여 줄 때 학습자에게 예상 실행계획을 먼저 말하게 하는 것을 권한다. 대부분 그룹 수가 늘어나 더 느릴 것이라고 답한다. 그 예상이 성립하려면 옵티마이저가 SQL에 쓰인 순서대로만 처리해야 하는데, 실제로는 그렇지 않다는 것이 다음 슬라이드에서 드러난다. 이 형태는 실무 코드에서도 리팩터링 과정에서 흔히 생기는 모양이다. 인라인 뷰 안쪽의 GROUP BY 절에 claim_type이 들어가 있다는 점을 손으로 짚어 주면, 다음 슬라이드에서 그 단계가 사라진 것이 훨씬 극적으로 보인다.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740426573"/>
      </p:ext>
    </p:extLst>
  </p:cSld>
  <p:clrMapOvr>
    <a:masterClrMapping/>
  </p:clrMapOvr>
</p:notes>
</file>

<file path=ppt/notesSlides/notesSlide4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실행계획을 읽을 때는 위에서 아래가 아니라 안쪽에서 바깥쪽 순으로 본다는 원칙을 다시 상기시킨다. Id 2에서 테이블을 훑고, Id 1에서 해시로 그룹을 묶고, Id 0으로 결과가 나가는 구조다. 여기서 학습자가 가장 놀라는 부분은 Plan hash value까지 같다는 점인데, 이는 계획이 비슷한 정도가 아니라 옵티마이저가 두 SQL을 동일한 형태로 변환했다는 뜻이다. 세 줄의 값이 서로 같은 이유도 물어볼 만하다. 갈라지는 가지가 없는 단일 경로 구조라 상위 단계가 하위 단계의 값을 그대로 물려받기 때문이다.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2785792"/>
      </p:ext>
    </p:extLst>
  </p:cSld>
  <p:clrMapOvr>
    <a:masterClrMapping/>
  </p:clrMapOvr>
</p:notes>
</file>

<file path=ppt/notesSlides/notesSlide4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수치를 하나씩 짚어 주되, 59511이라는 값이 필터를 통과한 행 수라는 점을 놓치지 말아야 한다. 이 값이 테이블 전체 행 수가 아니라는 것은 곧 Full Scan 단계에서 이미 필터가 적용됐다는 증거이기 때문이다. 실행계획의 A-Rows를 근거로 필터가 어디서 적용됐는지 읽어 내는 훈련은 이후 챕터에서도 계속 쓰인다. 여기서 Plan hash value의 의미를 모르는 학습자가 있으면 짧게 보충한다. 계획의 구조를 요약한 값이라 값이 같으면 구조가 같다고 볼 수 있다는 정도면 충분하다.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821995332"/>
      </p:ext>
    </p:extLst>
  </p:cSld>
  <p:clrMapOvr>
    <a:masterClrMapping/>
  </p:clrMapOvr>
</p:notes>
</file>

<file path=ppt/notesSlides/notesSlide4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여기서 강조할 것은 변환이 한 번이 아니라 두 단계로 일어났다는 점이다. 조건을 앞으로 옮긴 것만으로는 계획이 완전히 같아지지 않는다. 옮긴 결과 그룹 키 하나가 상수로 고정되고, 그래서 그 키가 그룹핑에서 빠진 것이다. 학습자가 1번 문항에 답할 때 이 두 단계를 모두 언급하면 완전한 답안이 된다. 두 단계를 칠판에 화살표로 그려 두면 답안 작성이 쉬워진다. 조건의 이동이 먼저이고, 상수로 고정된 그룹 키의 제거가 그다음이다. 순서를 뒤집어 설명하면 논리가 어색해진다.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154131261"/>
      </p:ext>
    </p:extLst>
  </p:cSld>
  <p:clrMapOvr>
    <a:masterClrMapping/>
  </p:clrMapOvr>
</p:notes>
</file>

<file path=ppt/notesSlides/notesSlide4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슬라이드에서 균형을 잡아 주는 것이 중요하다. "옵티마이저가 알아서 해 주니 신경 쓸 필요 없다"로 받아들이면 위험하다. 이번 사례가 성립한 것은 조건이 그룹 키에 대한 등치 조건이었기 때문이고, 조건이 조금만 달라져도 결과는 달라질 수 있다. 실무에서는 가독성이 좋은 쪽으로 쓰되 실행계획을 확인하는 습관을 함께 가져가라고 정리하면 좋다. 실무 코드 리뷰에서 이 결론을 어떻게 쓸지도 함께 이야기한다. 필터 위치를 지적하기보다 실행계획을 함께 보자고 제안하는 편이 훨씬 생산적이다.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251425984"/>
      </p:ext>
    </p:extLst>
  </p:cSld>
  <p:clrMapOvr>
    <a:masterClrMapping/>
  </p:clrMapOvr>
</p:notes>
</file>

<file path=ppt/notesSlides/notesSlide4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다섯 번째 절은 이번 장의 두 번째 실측이자 더 흥미로운 사례다. 같은 컬럼, 같은 테이블, 같은 SQL 형태인데 필터 범위만 바꿨더니 정렬 생략 여부가 갈렸다. Chapter 4에서 배운 선택도에 따른 접근 방식 전환이 정렬에까지 영향을 미친다는 것을 보여 주는 구간이라, 앞 챕터와의 연결을 명시적으로 짚어 주면 좋다. 이 절은 표 두 장이 핵심이라 슬라이드를 오가며 비교하게 된다. 두 표를 인쇄물로 나란히 배포하면 수업 진행이 훨씬 매끄러워진다.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100976393"/>
      </p:ext>
    </p:extLst>
  </p:cSld>
  <p:clrMapOvr>
    <a:masterClrMapping/>
  </p:clrMapOvr>
</p:notes>
</file>

<file path=ppt/notesSlides/notesSlide5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실험 설계를 먼저 설명하는 이유는, 이 실험의 변수가 무엇인지 분명히 해 두기 위해서다. 정렬 기준 컬럼과 필터 범위 두 가지를 교차시킨 2×2 구조이고, 나머지는 전부 고정돼 있다. 이 구조를 이해하면 네 가지 결과를 표로 읽을 때 훨씬 명확해진다. 이런 통제된 비교 설계 자체가 튜닝 실무에서 필요한 태도이기도 하다. 변수를 하나만 바꿔 비교하는 설계는 튜닝 실무에서도 그대로 쓰인다. 여러 조건을 동시에 바꾸면 원인을 특정할 수 없다는 점을 함께 강조해 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376127931"/>
      </p:ext>
    </p:extLst>
  </p:cSld>
  <p:clrMapOvr>
    <a:masterClrMapping/>
  </p:clrMapOvr>
</p:notes>
</file>

<file path=ppt/notesSlides/notesSlide5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표를 보여 줄 때 학습자에게 "PK로 정렬했는데 왜 SORT가 남았을까"를 먼저 묻는 것이 좋다. 대부분 인덱스가 있으니 생략될 것이라고 답하고, 그 답이 컬럼만 보고 접근 경로를 보지 않은 결과라는 점을 지적하면 된다. 두 행의 Buffers가 같다는 것도 의미가 있다 — 어차피 같은 Full Scan을 했기 때문이다. 실습문제 4번이 이 결과를 묻는다. 두 행의 Operation이 완전히 같다는 점도 짚어 준다. 정렬 기준 컬럼이 달라도 접근 경로가 같으면 계획의 모양이 거의 같아진다는 뜻이다.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403495333"/>
      </p:ext>
    </p:extLst>
  </p:cSld>
  <p:clrMapOvr>
    <a:masterClrMapping/>
  </p:clrMapOvr>
</p:notes>
</file>

<file path=ppt/notesSlides/notesSlide5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핵심 논리는 인덱스의 존재가 아니라 인덱스의 사용이다. 인덱스는 분명히 있었고 정렬 기준도 일치했지만, 이 쿼리가 그 인덱스를 타지 않았기 때문에 정렬 순서를 물려받을 통로 자체가 없었다. 학습자가 이 문장을 자기 말로 말할 수 있으면 4번 문항은 해결된다. 실무에서도 "인덱스 있는데 왜 느리냐"는 질문의 절반은 이 구조다. 인덱스를 만들어도 문제가 풀리지 않는 상황이 바로 여기서 나온다. 인덱스를 추가하기 전에 그 인덱스가 채택될 만한 선택도인지부터 확인하라는 조언으로 이어 준다.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037044123"/>
      </p:ext>
    </p:extLst>
  </p:cSld>
  <p:clrMapOvr>
    <a:masterClrMapping/>
  </p:clrMapOvr>
</p:notes>
</file>

<file path=ppt/notesSlides/notesSlide5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같은 두 컬럼인데 앞 표와 결과가 정반대로 갈린다는 점을 먼저 대비시킨다. 바뀐 것은 필터 범위 하나뿐이고, 그 변화가 접근 경로를 바꾸고 접근 경로가 정렬 생략 여부를 바꾼 연쇄다. 마지막 주석의 791과 731 비교는 다음 슬라이드로 넘어가는 미끼이므로, 여기서 답을 말해 버리지 말고 질문만 던져 두는 편이 좋다. 앞 표와 이 표를 화면에서 빠르게 오가며 보여 주면 대비 효과가 크다. 바뀐 조건이 필터 범위 하나뿐이라는 사실을 반복해서 확인시킨다.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450755551"/>
      </p:ext>
    </p:extLst>
  </p:cSld>
  <p:clrMapOvr>
    <a:masterClrMapping/>
  </p:clrMapOvr>
</p:notes>
</file>

<file path=ppt/notesSlides/notesSlide5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앞 슬라이드와 이 슬라이드를 나란히 놓고 비교하게 하는 것이 학습 목표다. 바뀐 조건은 필터 범위 하나뿐인데 결과가 정반대로 갈렸다. 즉 정렬 생략은 SQL 문장의 속성이 아니라 실행 시점의 접근 경로 선택에 달린 결과라는 것이다. 실습문제 5번과 6번이 이 대조를 요구하므로, 두 슬라이드를 함께 다시 보여 주며 정리하는 것이 좋다. 인덱스가 정렬 순서를 물려준다는 표현을 쓰면 이해가 쉽다. 물려받을 통로가 열려 있어야 정렬을 생략할 수 있다는 비유로 앞 슬라이드와 자연스럽게 연결된다.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938167944"/>
      </p:ext>
    </p:extLst>
  </p:cSld>
  <p:clrMapOvr>
    <a:masterClrMapping/>
  </p:clrMapOvr>
</p:notes>
</file>

<file path=ppt/notesSlides/notesSlide5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슬라이드는 이번 장에서 가장 반직관적인 대목이라 시간을 조금 더 써도 좋다. 하나의 요인만 보고 비용을 단정하면 안 된다는 것이 요지이고, 이는 과정 전체를 관통하는 원칙과 같다. 실습문제 7번이 이 결과의 함의를 묻는 서술형이므로, 여기서 여러 요인이 동시에 작용한다는 점을 분명히 정리해 두어야 한다. 학습자가 이 결과를 보고 정렬 생략이 의미 없다고 결론 내리지 않도록 주의시킨다. 이번 사례는 대상 행이 적어 정렬 비용 자체가 작았던 조건에서 나온 결과다.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870049813"/>
      </p:ext>
    </p:extLst>
  </p:cSld>
  <p:clrMapOvr>
    <a:masterClrMapping/>
  </p:clrMapOvr>
</p:notes>
</file>

<file path=ppt/notesSlides/notesSlide5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여섯 번째 절은 앞의 두 실측을 원칙으로 압축하는 구간이다. 10.4와 10.5는 서로 다른 소재였지만 결론은 하나로 모인다 — SQL의 겉모양이 아니라 실행계획이 보여 주는 실제 처리 구조가 비용을 결정한다는 것이다. 여기서 정리한 조건과 체크리스트가 학습자가 현장으로 가져갈 산출물이다. 앞의 두 실측을 한 문장씩으로 요약하게 한 뒤 이 절을 시작하면, 원칙이 결과에서 나온 것이라는 흐름이 분명해진다. 원칙을 먼저 주면 암기 대상이 되어 버린다.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487253186"/>
      </p:ext>
    </p:extLst>
  </p:cSld>
  <p:clrMapOvr>
    <a:masterClrMapping/>
  </p:clrMapOvr>
</p:notes>
</file>

<file path=ppt/notesSlides/notesSlide5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두 조건이 이번 장의 최종 산출물이다. 특히 좁은 범위의 total_amt 사례가 조건 (1)만 빠진 경우라는 점을 짚으면 네 가지 실측이 두 조건의 조합으로 깔끔하게 설명된다. 실습문제 6번이 정확히 이 조건을 서술하라는 문제이므로, 학습자에게 두 조건을 각각 어떤 실측이 뒷받침하는지 짝지어 보게 하면 좋다. 두 조건을 순서대로 확인하는 절차로 만들어 두면 실무에서 바로 쓸 수 있다. 컬럼 확인이 먼저이고 실행계획 확인이 나중인데, 후자를 건너뛰는 것이 가장 흔한 실수다.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829684657"/>
      </p:ext>
    </p:extLst>
  </p:cSld>
  <p:clrMapOvr>
    <a:masterClrMapping/>
  </p:clrMapOvr>
</p:notes>
</file>

<file path=ppt/notesSlides/notesSlide5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마지막 항목이 실무에서 가장 자주 부딪히는 상황이다. 개발 환경의 작은 데이터에서는 인덱스를 타서 정렬이 없다가, 운영 데이터가 쌓이면서 같은 SQL이 Full Scan으로 전환되고 정렬이 추가되는 식이다. 이 경우 SQL은 한 줄도 바뀌지 않았으므로 코드 리뷰만으로는 원인을 찾을 수 없다. 실행계획을 주기적으로 확인해야 하는 이유가 여기에 있다. 통계 정보가 갱신되면서 접근 경로가 바뀌는 경우도 같은 범주다. 배치 작업이 갑자기 느려졌다는 신고의 상당수가 이 구조에서 나온다는 점을 덧붙인다.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558685613"/>
      </p:ext>
    </p:extLst>
  </p:cSld>
  <p:clrMapOvr>
    <a:masterClrMapping/>
  </p:clrMapOvr>
</p:notes>
</file>

<file path=ppt/notesSlides/notesSlide5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SORT와 GROUP BY를 같은 성격의 연산으로 뭉뚱그려 이해하는 학습자가 많아 이 슬라이드가 필요하다. 정렬은 인덱스 순서로 대체될 수 있는 연산이지만, 그룹핑은 대체가 아니라 방식 변경만 가능한 연산이다. 실습문제 8번이 이 구분을 묻는 문제이므로, "생략"과 "방식 변경"이라는 두 단어를 구분해서 쓰도록 지도하면 좋다. 생략과 방식 변경을 구분하지 못하면 해당 문항에서 감점된다. 정렬은 없앨 수 있는 연산, 그룹핑은 없앨 수 없는 연산이라는 대비로 정리해 주면 좋다.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839458591"/>
      </p:ext>
    </p:extLst>
  </p:cSld>
  <p:clrMapOvr>
    <a:masterClrMapping/>
  </p:clrMapOvr>
</p:notes>
</file>

<file path=ppt/notesSlides/notesSlide5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슬라이드는 실습문제 9번의 원칙 적용 훈련을 미리 다뤄 보는 구간이다. 정답을 단정해 주지 말고 두 가능성과 각각의 근거를 제시한 뒤, 확인 방법은 실행계획이라는 결론으로 마무리하는 것이 이 과정의 태도에 맞다. 학습자가 답을 하나로 요구하면, 추론과 확인은 다른 단계라는 점을 설명해 주면 된다. 이런 추론 문제에서는 정답을 단정하지 않는 태도 자체가 평가 대상이다. 근거를 갖춘 두 가지 가능성을 제시하고 확인 방법을 말하는 답안이 가장 좋은 답안이다.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036080708"/>
      </p:ext>
    </p:extLst>
  </p:cSld>
  <p:clrMapOvr>
    <a:masterClrMapping/>
  </p:clrMapOvr>
</p:notes>
</file>

<file path=ppt/notesSlides/notesSlide5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체크리스트는 학습자가 현장에서 그대로 꺼내 쓸 수 있는 형태로 남긴다. 앞의 두 항목은 SQL 텍스트만 보고도 판단할 수 있지만, 뒤의 항목은 반드시 실행계획을 떠야 답할 수 있다는 차이를 짚어 주면 좋다. 이 차이가 곧 코드 리뷰의 한계이자 실행계획 확인이 필요한 이유이며, 1장부터 이어져 온 이 과정의 일관된 메시지다. 체크리스트를 노트에 옮겨 적게 하고, 실습 문제를 풀 때 이 순서 그대로 적용해 보라고 안내하면 학습이 훈련으로 이어진다.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190485223"/>
      </p:ext>
    </p:extLst>
  </p:cSld>
  <p:clrMapOvr>
    <a:masterClrMapping/>
  </p:clrMapOvr>
</p:notes>
</file>

<file path=ppt/notesSlides/notesSlide5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마지막 절은 실측 네 건을 한 표로 모아 보며 정리하는 구간이다. 표를 먼저 보여 주고 각 행이 어느 슬라이드의 결과였는지 되짚게 하면 복습 효과가 크다. 이 장의 결론은 두 문장으로 압축된다 — 그룹 키 필터의 위치는 대체로 중요하지 않고, 정렬 생략은 접근 경로에 달려 있다는 것이다. 마지막 절은 시간이 부족하면 표 한 장만 보여 주고 정리해도 무방하다. 다만 오해 정리 슬라이드는 실습 직전 복습 효과가 크므로 건너뛰지 않는 편이 좋다.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65755769"/>
      </p:ext>
    </p:extLst>
  </p:cSld>
  <p:clrMapOvr>
    <a:masterClrMapping/>
  </p:clrMapOvr>
</p:notes>
</file>

<file path=ppt/notesSlides/notesSlide5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표를 읽을 때는 각 행이 어느 조건의 결과인지 되짚게 하는 것이 좋다. 1행은 그룹 키 필터, 2행은 조건 (2) 불성립, 3행은 두 조건 모두 성립, 4행은 조건 (1) 불성립이다. 네 행이 이번 장에서 정리한 판정 조건으로 전부 설명된다는 것을 확인시키면 복습이 완결된다. 3행과 4행의 Buffers 역전도 다시 한 번 언급해 둘 만하다. 표의 기준이 실행 시간이 아니라 Buffers인 이유도 되짚어 준다. 시간은 캐시 상태에 흔들리지만 논리적 I/O는 상대적으로 안정적이기 때문이다.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657132699"/>
      </p:ext>
    </p:extLst>
  </p:cSld>
  <p:clrMapOvr>
    <a:masterClrMapping/>
  </p:clrMapOvr>
</p:notes>
</file>

<file path=ppt/notesSlides/notesSlide5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오해 4는 교안 본문에는 없지만 HASH GROUP BY의 성격에서 곧바로 따라 나오는 결론이라 함께 정리해 둘 만하다. 정렬 순서를 보장받으려면 ORDER BY를 명시해야 한다는 원칙은 버전이나 옵티마이저 판단과 무관하게 항상 성립한다. 운영 중 실행계획이 바뀌면서 결과 순서가 달라져 화면이 깨지는 사고가 실제로 흔하다. 오해 목록을 학습자에게 더 추가해 보게 하면 참여도가 올라간다. 다만 근거 없는 통념을 새로 만들지 않도록 각 항목에 실측 근거를 붙이게 하는 것이 좋다.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588708876"/>
      </p:ext>
    </p:extLst>
  </p:cSld>
  <p:clrMapOvr>
    <a:masterClrMapping/>
  </p:clrMapOvr>
</p:notes>
</file>

<file path=ppt/notesSlides/notesSlide5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요약은 두 축으로 정리한다. 앞쪽 네 줄은 GROUP BY와 필터 밀어넣기, 뒤쪽 네 줄은 ORDER BY와 정렬 생략이다. 이 여덟 줄을 학습자가 실습 전에 한 번 소리 내어 읽게 하면 문제 풀이 속도가 눈에 띄게 달라진다. 특히 판별 기준 한 문장과 정렬 생략의 두 조건은 이 장에서 반드시 가져가야 할 두 가지다. 요약을 넘기기 전에 두 조건을 외우지 말고 왜 그런지 설명해 보게 하면 이해 수준이 바로 드러난다. 설명이 막히면 개념 절로 돌아가 다시 짚으면 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749065003"/>
      </p:ext>
    </p:extLst>
  </p:cSld>
  <p:clrMapOvr>
    <a:masterClrMapping/>
  </p:clrMapOvr>
</p:notes>
</file>

<file path=ppt/notesSlides/notesSlide5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문항 배치는 교안 절 순서와 같다. 1~3번은 10.3과 10.4, 4~7번은 10.5, 8~9번은 10.6에 대응한다. 10번은 이번 장 전체를 한 문장으로 압축하는 문제라 마지막에 배치했다. 3·6·9·10번이 최상 난이도이므로 시간 배분을 안내해 주는 것이 좋다. 특히 9번은 직접 실행할 필요 없이 원칙만으로 추론하는 문제라는 점을 미리 알려 주어야 한다. 실습 시간에는 실행계획을 직접 떠 보게 하는 것이 좋지만 추론만으로 답하는 문항도 섞여 있으니, 문항 성격을 구분해 안내해 주어야 시간이 낭비되지 않는다.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025632870"/>
      </p:ext>
    </p:extLst>
  </p:cSld>
  <p:clrMapOvr>
    <a:masterClrMapping/>
  </p:clrMapOvr>
</p:notes>
</file>

<file path=ppt/notesSlides/notesSlide5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제11장은 리스트·게시판 화면에서 가장 흔하게 신고되는 성능 민원, 곧 "1페이지는 빠른데 뒷페이지로 갈수록 느려진다"는 현상을 정면으로 다루는 장이다. 이 장의 실행계획과 소요 시간은 모두 진료비청구심사 실습 DB에서 직접 캡처한 실측값이며, 실습용 인덱스를 만들었다가 종료 시 원상복구한 상태에서 관찰했다. 학습자가 이 장을 마치면 페이징 방식의 선택을 화면 요구사항과 비용 구조를 함께 놓고 설명할 수 있어야 한다. 페이징은 거의 모든 업무 화면에 들어가는 기능이라 이 장의 내용은 특정 프로젝트에 한정되지 않고 오래 재사용된다는 점도 함께 일러 둔다. 첫 시간에는 결론을 미리 말하지 말고 현상만 제시하는 편이 몰입에 유리하다.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033062468"/>
      </p:ext>
    </p:extLst>
  </p:cSld>
  <p:clrMapOvr>
    <a:masterClrMapping/>
  </p:clrMapOvr>
</p:notes>
</file>

<file path=ppt/notesSlides/notesSlide5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학습 목표는 세 묶음으로 읽어 주면 좋다. 첫째는 문법으로, 두 가지 페이징 작성법을 모두 읽고 쓸 수 있게 하는 것이다. 둘째는 실행계획 독해로, 두 종류의 WINDOW 오퍼레이션을 구분해 그 차이가 곧 비용의 차이임을 알아보는 능력이다. 셋째는 판단으로, 더 빠른 방식이 항상 정답은 아니며 화면 요구사항이 선택을 제약한다는 사실까지 포함한다. 마지막 항목은 정답이 하나가 아닌 서술형 실습으로 이어진다고 예고한다. 목표를 훑을 때는 다섯 번째와 여섯 번째 항목에 특히 밑줄을 긋게 한다. 실행계획의 오퍼레이션 이름 하나를 구분해 읽는 능력이 이 장의 결론 전체를 지탱하기 때문이다.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256283938"/>
      </p:ext>
    </p:extLst>
  </p:cSld>
  <p:clrMapOvr>
    <a:masterClrMapping/>
  </p:clrMapOvr>
</p:notes>
</file>

<file path=ppt/notesSlides/notesSlide5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장의 흐름은 "현상 확인 → 원리 설명 → 실측 → 대안 실측 → 실무 판단"이다. 11.2와 11.3이 칠판 설명 구간이고 11.5와 11.6이 실측 구간인데, 두 실측을 반드시 짝으로 보여 줘야 한다. 11.5만 보면 "페이징은 원래 느린 것"이라는 체념으로 끝나고, 11.6만 보면 "Keyset이 정답"이라는 과신으로 끝나기 때문이다. 마지막 11.7에서 제약을 다루면서 균형을 잡는 것이 이 장의 설계 의도다. 시간이 부족하면 11.2의 ROWNUM 코드 슬라이드를 빠르게 넘기고 11.3부터 속도를 붙이는 편이 낫다. 원리를 건너뛰면 실측표가 암기 대상이 되어 버린다.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565397684"/>
      </p:ext>
    </p:extLst>
  </p:cSld>
  <p:clrMapOvr>
    <a:masterClrMapping/>
  </p:clrMapOvr>
</p:notes>
</file>

<file path=ppt/notesSlides/notesSlide5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첫 절은 문제를 학습자의 경험과 연결하는 구간이다. 이 현상은 거의 모든 웹 서비스에서 한 번씩은 신고되는 민원이라, 강사가 설명을 시작하기도 전에 학습자 쪽에서 사례가 나온다. 여기서 중요한 것은 이 현상을 "데이터가 많아서 어쩔 수 없다"로 넘기지 않는 것이다. 원인을 실행계획 수준에서 특정할 수 있고, 특정하고 나면 대안도 분명해진다는 것이 이 장의 약속이다. 사례를 받을 때는 어떤 화면이었는지, 몇 페이지쯤에서 느려졌는지까지 되물어 두면 뒤의 실측표를 볼 때 학습자가 자기 경험과 대조하며 듣게 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350352150"/>
      </p:ext>
    </p:extLst>
  </p:cSld>
  <p:clrMapOvr>
    <a:masterClrMapping/>
  </p:clrMapOvr>
</p:notes>
</file>

<file path=ppt/notesSlides/notesSlide5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민원이 재현되지 않는 구조를 짚어 주는 것이 이 슬라이드의 목적이다. 개발자와 테스터는 1페이지만 눌러 보고, 사용자는 검색 결과를 한참 넘겨 본 뒤 느리다고 말한다. 두 사람이 같은 SQL을 다른 바인드 값으로 실행한 것이므로 대화가 어긋난다. 실무에서는 이 지점에서 몇 주씩 원인 미상으로 방치되는 경우가 많다는 점을 강조해 둔다. 이 슬라이드에서 중요한 태도는 성능 민원을 재현 조건까지 포함해 접수하는 습관이다. 어떤 화면의 몇 페이지에서 얼마나 걸렸는지가 없으면 어떤 튜닝도 시작할 수 없다.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271348366"/>
      </p:ext>
    </p:extLst>
  </p:cSld>
  <p:clrMapOvr>
    <a:masterClrMapping/>
  </p:clrMapOvr>
</p:notes>
</file>

<file path=ppt/notesSlides/notesSlide5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소재를 고른 이유를 짚어 두면 좋다. 접수일 내림차순 목록은 실무에서 가장 흔한 화면 형태이고, 정렬 기준 컬럼 하나에 인덱스를 걸 수 있다는 점에서 대안 실험이 깔끔하게 된다. 또 하나 미리 안내할 것은 인덱스 원상복구다. 이 차시에서 만든 실습 인덱스를 지우지 않고 다음 장으로 넘어가면 이후 챕터의 실행계획이 교안과 달라진다. 또 한 가지, 이 장은 인덱스를 새로 만드는 장이 아니라 접근 방식을 바꾸는 장이라는 점을 미리 구분해 두면 뒤에서 인덱스가 있는데도 안 쓰이는 장면이 덜 당황스럽다.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975589746"/>
      </p:ext>
    </p:extLst>
  </p:cSld>
  <p:clrMapOvr>
    <a:masterClrMapping/>
  </p:clrMapOvr>
</p:notes>
</file>

<file path=ppt/notesSlides/notesSlide5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두 번째 절은 문법 정리 구간이다. 학습자 배경이 갈리는 지점이라 속도 조절이 필요하다. 오래 개발한 사람은 ROWNUM 중첩 뷰만 알고 FETCH FIRST를 안 써 봤고, 최근 입문한 사람은 그 반대다. 세 방식을 나란히 놓고 "같은 요구사항의 서로 다른 표현"이라는 틀을 먼저 세워 두면 뒤의 실행계획 비교가 훨씬 수월해진다. 문법 자체는 어렵지 않으므로 여기서 시간을 많이 쓰지 않는다. 다만 세 방식이 같은 요구사항의 다른 표현이라는 문장만은 학습자가 따라 말하게 하고 넘어간다.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208171752"/>
      </p:ext>
    </p:extLst>
  </p:cSld>
  <p:clrMapOvr>
    <a:masterClrMapping/>
  </p:clrMapOvr>
</p:notes>
</file>

<file path=ppt/notesSlides/notesSlide5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ORDER BY 없이 페이징을 쓰는 코드가 실무에 의외로 많다. 개발 환경에서는 우연히 일정한 순서로 나오다가, 데이터가 늘거나 실행계획이 바뀌면 같은 행이 두 페이지에 나오거나 아예 빠지는 사고로 이어진다. 또 정렬 기준 컬럼에 동점 값이 많은 경우도 같은 문제를 일으키므로, 고유한 컬럼을 보조 정렬 기준으로 덧붙이는 습관을 함께 권한다. 실무에서는 정렬 기준 컬럼이 날짜인 경우가 압도적으로 많은데, 같은 날짜에 여러 건이 몰리는 데이터라면 동점 문제가 곧바로 드러난다는 점을 사례로 들면 설득력이 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453197659"/>
      </p:ext>
    </p:extLst>
  </p:cSld>
  <p:clrMapOvr>
    <a:masterClrMapping/>
  </p:clrMapOvr>
</p:notes>
</file>

<file path=ppt/notesSlides/notesSlide5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패턴에서 학습자가 가장 많이 틀리는 지점은 뷰를 두 겹으로 감싸는 이유다. ROWNUM은 정렬이 끝난 뒤가 아니라 행이 결과 집합에 들어오는 순간 매겨지기 때문에, 한 겹만 쓰면 정렬되지 않은 순서로 번호가 붙는다. 실무에서 이 실수는 결과가 아예 안 나오는 것이 아니라 "그럴듯하게 틀린" 목록이 나오는 형태라 발견이 늦다. 지금 코드를 쓸 일이 없더라도 레거시를 읽을 일은 반드시 생긴다. 신규 개발이라면 이 패턴을 새로 쓸 이유가 없지만, 기존 시스템을 인수받아 튜닝하는 상황에서는 이 구조를 읽어 내는 것이 첫 단계가 된다는 점을 함께 말해 준다.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455523702"/>
      </p:ext>
    </p:extLst>
  </p:cSld>
  <p:clrMapOvr>
    <a:masterClrMapping/>
  </p:clrMapOvr>
</p:notes>
</file>

<file path=ppt/notesSlides/notesSlide5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슬라이드는 이 장 전체의 방향을 잡아 주는 슬라이드다. 학습자는 새 문법을 배우면 그것이 곧 튜닝이라고 생각하기 쉬운데, 페이징에서는 그렇지 않다. 문법을 바꾸는 것은 가독성과 실수 방지에 도움이 되지만 비용 구조는 그대로다. 실제로 비용을 바꾸는 것은 접근 방식 자체를 바꾸는 것, 곧 뒤에서 다룰 Keyset 방식이라는 점을 여기서 미리 예고해 둔다. 강사가 던지기 좋은 질문은 "그러면 이 장에서 우리가 바꿀 것은 무엇인가"이다. 문법이 아니라 접근 기준이라는 답이 나오면 이후 흐름을 학습자가 스스로 예측하게 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243731112"/>
      </p:ext>
    </p:extLst>
  </p:cSld>
  <p:clrMapOvr>
    <a:masterClrMapping/>
  </p:clrMapOvr>
</p:notes>
</file>

<file path=ppt/notesSlides/notesSlide5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여기서 Keyset을 "더 좋은 방법"으로 소개하지 않도록 조심해야 한다. 이 방식은 요구사항을 살짝 바꾸는 대가로 비용을 크게 줄이는 거래에 가깝다. 무한 스크롤이나 더보기 버튼처럼 사용자가 순차적으로만 넘기는 화면이라면 잃는 것이 사실상 없지만, 게시판형 화면이라면 기능 축소가 된다. 이 균형 감각을 처음부터 심어 두면 11.7이 자연스럽게 이어진다. 용어가 여러 개인 것도 짚어 둔다. 문서마다 커서 기반 페이징, Seek Method 등으로 다르게 부르기 때문에 검색할 때 혼란을 겪는 학습자가 적지 않다.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631736073"/>
      </p:ext>
    </p:extLst>
  </p:cSld>
  <p:clrMapOvr>
    <a:masterClrMapping/>
  </p:clrMapOvr>
</p:notes>
</file>

<file path=ppt/notesSlides/notesSlide5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표를 칠판에 옮겨 적게 하면 이후 논의가 편해진다. 세 방식을 문법 난이도로 줄 세우면 요점을 놓친다. 앞의 두 방식은 표현만 다를 뿐 옵티마이저 입장에서는 같은 일을 시키는 것이고, 마지막 하나만 옵티마이저에게 다른 일을 시킨다. 실습문제 5번이 정확히 이 대조를 묻는 문항이므로, 여기서 나온 표현을 답안에 그대로 쓸 수 있게 유도한다. 이 슬라이드는 이 절의 결론이므로 다음으로 넘어가기 전에 잠깐 멈추는 것이 좋다. 세 방식의 이름이 아니라 접근 기준 두 가지가 기억에 남으면 충분하다.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740125696"/>
      </p:ext>
    </p:extLst>
  </p:cSld>
  <p:clrMapOvr>
    <a:masterClrMapping/>
  </p:clrMapOvr>
</p:notes>
</file>

<file path=ppt/notesSlides/notesSlide5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세 번째 절은 이 장의 이론 핵심이다. 여기서 원리를 잡아 두지 않으면 11.5의 실측표가 그냥 숫자 나열로 보인다. 설명 순서는 "무엇이 필요한가 → 그래서 무엇을 해야 하는가 → 그 작업이 어느 컬럼에 나타나는가" 세 단계로 잡는다. 특히 마지막 단계, 곧 비용이 나타나는 컬럼과 나타나지 않는 컬럼을 구분하는 부분이 Chapter 9와 이어지는 대목이다. 이 절은 코드도 실측표도 없는 순수 설명 구간이라 집중이 흐트러지기 쉬우므로, 질문을 자주 던져 학습자가 답을 만들어 보게 하는 진행이 효과적이다.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757740394"/>
      </p:ext>
    </p:extLst>
  </p:cSld>
  <p:clrMapOvr>
    <a:masterClrMapping/>
  </p:clrMapOvr>
</p:notes>
</file>

<file path=ppt/notesSlides/notesSlide5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학습자가 가장 크게 오해하는 지점이 여기다. OFFSET을 "앞부분을 안 읽고 건너뛴다"로 이해하면 깊은 페이지가 느릴 이유가 없다고 생각하게 된다. 실제로는 건너뛰기 위해서라도 세어야 하고, 세려면 정렬된 상태로 그 행들을 거쳐야 한다. 책갈피 없이 책장을 넘겨 300쪽을 찾는 상황에 비유하면 이해가 빠르다. 실습문제 2번이 이 원리를 묻는다. 비유를 하나 더 준비해 두면 좋다. 줄을 선 사람 중 스물한 번째부터 마흔 번째를 뽑으려면 앞의 스무 명을 세는 일 자체는 피할 수 없다는 설명이 특히 잘 통한다.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909882023"/>
      </p:ext>
    </p:extLst>
  </p:cSld>
  <p:clrMapOvr>
    <a:masterClrMapping/>
  </p:clrMapOvr>
</p:notes>
</file>

<file path=ppt/notesSlides/notesSlide5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Chapter 9와의 연결은 이 장에서 반드시 짚어야 한다. 같은 함정이 다른 옷을 입고 두 번 나온 것이기 때문이다. 두 사례의 공통 성질은 정렬 계열 연산이라는 점이고, 정렬은 이미 가져온 데이터를 재배열하는 작업이라 블록을 더 만지지 않는다. 실습문제 10번이 두 챕터를 묶어 종합하라는 문항이므로, 여기서 나온 표현을 메모해 두라고 안내하면 좋다. 여기서 실행계획의 어느 컬럼이 어떤 자원을 보는지 한 번 더 정리해 준다. Buffers는 I/O, A-Time은 시간, OMem 계열은 메모리를 본다는 대응만 잡혀도 이후 판단이 크게 달라진다.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852625038"/>
      </p:ext>
    </p:extLst>
  </p:cSld>
  <p:clrMapOvr>
    <a:masterClrMapping/>
  </p:clrMapOvr>
</p:notes>
</file>

<file path=ppt/notesSlides/notesSlide5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오퍼레이션 이름을 통째로 외우게 하기보다 세 단어로 쪼개 읽게 하는 편이 좋다. WINDOW는 분석 함수 처리, SORT는 정렬이 필요하다는 뜻, PUSHED RANK는 순위 조건을 정렬 안으로 밀어 넣었다는 뜻이다. 이름 안에 SORT가 들어 있다는 것 자체가 이미 정렬 비용을 예고하고 있다는 점을 짚어 주면, 뒤에 나올 NOSORT와의 대비가 선명해진다. 실무 조언도 함께 덧붙인다. 성능 테스트 시나리오를 만들 때 페이지 번호를 1로 고정해 두는 관행이 이 문제를 계속 놓치게 만드는 원인이라는 점을 지적해 두면 좋다.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620502932"/>
      </p:ext>
    </p:extLst>
  </p:cSld>
  <p:clrMapOvr>
    <a:masterClrMapping/>
  </p:clrMapOvr>
</p:notes>
</file>

<file path=ppt/notesSlides/notesSlide5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NOSORT와 STOPKEY는 별개의 이득이지만 실무에서는 거의 함께 나타난다. 인덱스 순서로 읽는다는 조건이 둘 모두의 전제이기 때문이다. 학습자에게는 "인덱스가 정렬 순서를 제공하면 정렬을 생략할 수 있고, 정렬을 생략할 수 있으면 앞에서부터 필요한 만큼만 읽고 멈출 수 있다"는 인과 사슬로 정리해 주는 것이 기억에 오래 남는다. 이 두 단어가 실행계획에 보이면 그 쿼리는 부분범위 처리로 풀렸다는 신호다. 앞으로 실행계획을 볼 때 이 단어를 먼저 찾는 습관을 들이라고 권한다.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659695794"/>
      </p:ext>
    </p:extLst>
  </p:cSld>
  <p:clrMapOvr>
    <a:masterClrMapping/>
  </p:clrMapOvr>
</p:notes>
</file>

<file path=ppt/notesSlides/notesSlide5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부분범위 처리는 이 장을 관통하는 개념이자 SQL 튜닝 전반의 핵심 개념 중 하나다. 화면이 요구하는 데이터의 양과 DB가 실제로 처리하는 데이터의 양 사이에 큰 격차가 있을 때 튜닝 여지가 생긴다. 학습자에게 이 격차를 계속 의식하게 만드는 것이 목표다. 뒤에 나올 두 실측표를 이 관점으로 다시 보면 숫자의 의미가 훨씬 분명해진다. 이 개념은 페이징에만 쓰이지 않는다. 상위 N건 조회, 존재 여부 확인, 첫 화면만 빠르게 그리는 요구사항 모두 같은 관점에서 다룰 수 있다는 점을 예로 들어 준다.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592480068"/>
      </p:ext>
    </p:extLst>
  </p:cSld>
  <p:clrMapOvr>
    <a:masterClrMapping/>
  </p:clrMapOvr>
</p:notes>
</file>

<file path=ppt/notesSlides/notesSlide5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네 번째 절은 코드 구간이다. 두 SQL을 나란히 읽는 것이 목적이므로 한 화면씩 천천히 넘긴다. 여기서 학습자가 직접 손으로 따라 치게 하면 좋은데, 특히 Keyset 방식은 처음 보면 어색해서 눈으로만 읽으면 기억에 남지 않는다. 두 SQL이 같은 화면을 만들어 낸다는 사실, 곧 결과가 동등하다는 전제를 다시 확인하고 넘어간다. 코드 슬라이드는 세 장이 연속되므로 중간에 질문을 하나씩 끼워 넣어 리듬을 끊는 편이 좋다. 특히 두 번째와 세 번째 사이에서 차이를 먼저 예상하게 하면 몰입이 유지된다.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095807395"/>
      </p:ext>
    </p:extLst>
  </p:cSld>
  <p:clrMapOvr>
    <a:masterClrMapping/>
  </p:clrMapOvr>
</p:notes>
</file>

<file path=ppt/notesSlides/notesSlide5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두 방식을 같은 인덱스 조건에서 측정한다는 점을 꼭 강조해야 한다. 인덱스가 한쪽에만 있으면 비교 자체가 성립하지 않는데, 학습자는 흔히 "Keyset이 빠른 건 인덱스를 만들었기 때문 아닌가"라고 되묻는다. 인덱스는 양쪽 모두에 있었고, 그런데도 한쪽만 그것을 활용했다는 사실이 이 장의 관찰 포인트라는 점을 미리 예고해 둔다. 실습 인덱스 이름 규칙을 정해 두는 이유도 설명해 준다. 접두어가 있으면 차시 종료 시 무엇을 지워야 하는지 한눈에 확인할 수 있어 정리 누락이 크게 줄어든다.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6880746"/>
      </p:ext>
    </p:extLst>
  </p:cSld>
  <p:clrMapOvr>
    <a:masterClrMapping/>
  </p:clrMapOvr>
</p:notes>
</file>

<file path=ppt/notesSlides/notesSlide5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인덱스를 만드는 순간 학습자는 이제 두 쿼리 모두 인덱스를 쓸 것이라고 기대한다. 그 기대가 반쯤만 맞는다는 것이 이 절의 반전이다. 여기서 미리 답을 말해 주지 말고 질문만 던져 두는 편이 좋다. 인덱스가 정렬 순서를 제공한다는 두 번째 역할은 뒤의 NOSORT와 직결되므로 이 줄만은 반드시 소리 내어 읽고 넘어간다. 단일 컬럼 인덱스를 고른 이유도 짧게 언급한다. 조회 컬럼까지 포함한 결합 인덱스를 만들면 이야기가 달라지는데, 그 변형은 학습자가 실습 후 스스로 실험해 볼 과제로 남겨 두면 좋다.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289249626"/>
      </p:ext>
    </p:extLst>
  </p:cSld>
  <p:clrMapOvr>
    <a:masterClrMapping/>
  </p:clrMapOvr>
</p:notes>
</file>

<file path=ppt/notesSlides/notesSlide5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WHERE 절이 없다는 사실을 여기서 반드시 짚어야 한다. 학습자는 이 SQL을 보면서 인덱스를 탈 것이라고 기대하는데, 옵티마이저 입장에서는 인덱스로 찾아 들어갈 조건이 하나도 없는 쿼리다. 실습문제 9번이 정확히 이 점을 인덱스 미사용과 연결지어 추론하라고 요구한다. 이 슬라이드에서 밑줄을 그어 두면 나중에 답안을 쓸 때 근거로 돌아올 수 있다. 화면 개발 입장에서 이 형태가 가장 편하다는 점도 인정하고 넘어가야 한다. 편의성과 비용이 맞바꿔지는 지점이라는 구도를 세워 두면 뒤의 절충안 논의가 자연스럽게 이어진다.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87369337"/>
      </p:ext>
    </p:extLst>
  </p:cSld>
  <p:clrMapOvr>
    <a:masterClrMapping/>
  </p:clrMapOvr>
</p:notes>
</file>

<file path=ppt/notesSlides/notesSlide5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두 SQL의 차이가 두 줄뿐이라는 점이 이 슬라이드의 메시지다. 문법을 크게 바꾼 것도 아니고 새로운 기능을 쓴 것도 아닌데 실행계획이 완전히 달라진다. 실무에서 이 전환의 진짜 난이도는 SQL이 아니라 애플리케이션 쪽에 있다는 점도 함께 언급해 둔다. 마지막 값을 화면과 서버가 주고받도록 API를 바꿔야 하므로, DB만 고쳐서 끝나는 튜닝이 아니다. 학습자가 자주 묻는 질문 하나를 미리 다뤄 둔다. 같은 접수일이 여러 건이면 경계에서 행이 누락되거나 중복될 수 있으므로, 고유 컬럼을 보조 기준으로 함께 쓰는 것이 안전하다.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622254299"/>
      </p:ext>
    </p:extLst>
  </p:cSld>
  <p:clrMapOvr>
    <a:masterClrMapping/>
  </p:clrMapOvr>
</p:notes>
</file>

<file path=ppt/notesSlides/notesSlide5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두 SQL을 비교할 때 문법의 길이나 복잡도로 비교하지 않도록 유도해야 한다. 비교 축은 "옵티마이저에게 무엇을 시켰는가"다. 한쪽은 전체에 순번을 매기라고 시켰고 다른 쪽은 특정 값을 찾아가라고 시켰다. 같은 화면을 만드는 두 가지 지시인데 작업량이 전혀 다르다는 것을, 다음 절의 실측이 숫자로 확인해 준다. 이 슬라이드를 덮기 전에 두 SQL의 실행계획을 각자 예상해 적어 보게 하면 좋다. 예상을 글로 남긴 학습자는 다음 절의 실측 결과를 훨씬 더 강하게 기억한다.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680606489"/>
      </p:ext>
    </p:extLst>
  </p:cSld>
  <p:clrMapOvr>
    <a:masterClrMapping/>
  </p:clrMapOvr>
</p:notes>
</file>

<file path=ppt/notesSlides/notesSlide5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다섯 번째 절은 이 장의 첫 번째 실측 구간이다. 표를 한꺼번에 읽지 말고 컬럼 단위로 나눠 읽는 진행이 효과적이다. 먼저 Buffers 컬럼만 세로로 훑어 세 값이 같다는 것을 확인시키고, 그다음 A-Time과 작업 메모리 컬럼을 본다. 두 관찰이 각각 다른 원칙을 증명하므로 순서를 섞으면 메시지가 흐려진다. 표에 나온 값은 모두 실습 DB에서 직접 캡처한 것이라는 점을 다시 밝히고 시작한다. 값의 크기 자체보다 세 행 사이의 변화 방향이 이 절의 관찰 대상이다.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545699850"/>
      </p:ext>
    </p:extLst>
  </p:cSld>
  <p:clrMapOvr>
    <a:masterClrMapping/>
  </p:clrMapOvr>
</p:notes>
</file>

<file path=ppt/notesSlides/notesSlide5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표를 띄우자마자 학습자에게 먼저 질문을 던지는 편이 좋다. "Buffers가 같으니 성능도 같겠죠?"라고 물으면 상당수가 그렇다고 답한다. 그 상태에서 A-Time과 메모리 컬럼을 보여 주면 인식이 강하게 흔들린다. 이 흔들림이 이 장에서 가장 중요한 학습 순간이므로, 답을 먼저 말해 주고 표를 보여 주는 순서로 진행하지 않는다. 표를 덮기 전에 마지막 주석 한 줄, 곧 계획에 나타난 두 오퍼레이션 이름을 함께 확인시킨다. 다음 두 슬라이드의 설명이 모두 그 이름에서 출발하기 때문이다.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260590974"/>
      </p:ext>
    </p:extLst>
  </p:cSld>
  <p:clrMapOvr>
    <a:masterClrMapping/>
  </p:clrMapOvr>
</p:notes>
</file>

<file path=ppt/notesSlides/notesSlide5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Buffers가 잘못된 지표라는 식으로 설명하면 안 된다. Buffers는 자기가 측정하는 것을 정확히 측정했고, 다만 이 사례의 지배적 비용 요인이 I/O가 아니었을 뿐이다. 지표를 불신하게 만드는 대신 "이 지표는 무엇을 보는 지표인가"를 항상 확인하는 습관으로 연결해야 한다. 실습문제 1번이 이 이유를 Full Scan 성질과 연결해 설명하라고 요구한다. 덧붙여, 이 쿼리가 Full Scan을 선택한 이유 자체는 뒤의 11.6에서 따로 다룬다고 예고해 둔다. 여기서 그 논의까지 끌어오면 두 관찰이 뒤엉켜 메시지가 흐려진다.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5999158"/>
      </p:ext>
    </p:extLst>
  </p:cSld>
  <p:clrMapOvr>
    <a:masterClrMapping/>
  </p:clrMapOvr>
</p:notes>
</file>

<file path=ppt/notesSlides/notesSlide5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핵심 문장은 "읽은 양은 같은데 그 데이터로 하는 일이 늘었다"이다. 학습자가 이 문장을 자기 말로 다시 말할 수 있으면 이 절은 성공이다. 280,020이라는 숫자를 칠판에 적어 두면 효과가 좋은데, 화면에 20건을 뿌리기 위해 28만 건에 번호를 매겼다는 대비가 부분범위 처리 개념과 곧바로 이어지기 때문이다. 또 하나 짚을 것은 정렬 작업 메모리가 커지면 결국 임시 공간으로 넘칠 수 있다는 점이다. 그 순간부터는 디스크 I/O까지 발생하므로 비용 곡선이 더 가팔라진다.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977808957"/>
      </p:ext>
    </p:extLst>
  </p:cSld>
  <p:clrMapOvr>
    <a:masterClrMapping/>
  </p:clrMapOvr>
</p:notes>
</file>

<file path=ppt/notesSlides/notesSlide5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슬라이드는 실습문제 3번의 답안 뼈대에 해당한다. 반박의 구조를 명확히 잡아 주는 것이 목적이다. 지표가 틀렸다고 말하는 것이 아니라, 그 지표가 보지 못하는 영역이 있고 이 사례의 비용이 정확히 그 영역에 있다고 말해야 한다. 동시 사용자 이야기는 교안 밖의 실무 맥락이지만 학습자에게 위기감을 주는 데 효과적이므로 짧게 덧붙인다. 실무에서 이 오판이 특히 위험한 이유는 판단 근거가 그럴듯해서 아무도 재검토하지 않기 때문이다. 숫자를 근거로 댔다는 사실만으로 결론이 검증된 것처럼 받아들여진다.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317907007"/>
      </p:ext>
    </p:extLst>
  </p:cSld>
  <p:clrMapOvr>
    <a:masterClrMapping/>
  </p:clrMapOvr>
</p:notes>
</file>

<file path=ppt/notesSlides/notesSlide5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여섯 번째 절은 이 장의 두 번째 실측 구간이자 결론 구간이다. 앞 절에서 문제를 확인했으니 여기서 해답을 본다. 실행계획을 띄우기 전에 학습자에게 예상을 물어보는 것이 좋다. 대부분 "조금 빨라질 것"이라고 답하는데, 실제 차이는 그 예상을 크게 넘어선다. 예상과 결과의 간격이 클수록 원리 설명이 기억에 오래 남는다. 예상을 물을 때는 배수로 답하게 하면 효과가 좋다. 두세 배쯤이라고 답한 뒤 실제 결과를 보면 원리를 다시 듣고 싶어지는 상태가 만들어진다.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491396572"/>
      </p:ext>
    </p:extLst>
  </p:cSld>
  <p:clrMapOvr>
    <a:masterClrMapping/>
  </p:clrMapOvr>
</p:notes>
</file>

<file path=ppt/notesSlides/notesSlide5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실행계획은 아래에서 위로 읽는다. 4번에서 인덱스로 진입해 20건을 읽었고, 3번에서 그 rowid로 테이블에 접근했으며, 2번에서 정렬 없이 20건을 채우고 멈췄다. A-Rows 컬럼이 전 단계에서 모두 20이라는 점이 결정적인데, 어느 단계에서도 20건을 넘겨 처리한 적이 없다는 뜻이다. 이것이 부분범위 처리의 실행계획상 지문이다. 인덱스 스캔 단계의 Buffers만 따로 짚어 주면 설득력이 커진다. 필요한 지점을 찾아 들어가는 데 든 비용이 그만큼이었다는 뜻이기 때문이다.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717970446"/>
      </p:ext>
    </p:extLst>
  </p:cSld>
  <p:clrMapOvr>
    <a:masterClrMapping/>
  </p:clrMapOvr>
</p:notes>
</file>

<file path=ppt/notesSlides/notesSlide5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두 오퍼레이션이 각각 다른 문제를 해결했다는 점을 나눠 설명해야 한다. RANGE SCAN DESCENDING은 시작점 문제를, NOSORT STOPKEY는 종료점 문제를 해결한다. 시작과 끝을 모두 한정할 수 있게 되면서 중간에 있는 대부분의 데이터를 아예 건드리지 않게 된 것이다. 실습문제 4번이 두 오퍼레이션의 결합 효과를 묻는 문항이다. 정리 문장은 한 줄로 남긴다. 시작점을 조건으로 잡고 종료점을 건수로 잡으면 중간의 대부분을 건드리지 않아도 된다는 것이 이 장의 튜닝 원리 전부다.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880070065"/>
      </p:ext>
    </p:extLst>
  </p:cSld>
  <p:clrMapOvr>
    <a:masterClrMapping/>
  </p:clrMapOvr>
</p:notes>
</file>

<file path=ppt/notesSlides/notesSlide5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슬라이드는 실습문제 8번의 추론 문항과 직결된다. 학습자가 "내림차순으로 쓸 거면 내림차순 인덱스를 만들어야 하지 않나"라고 생각하는 경우가 많은데, 단일 컬럼이라면 불필요하다. 반대로 마지막 예외 항목은 내림차순 인덱스가 실제로 필요해지는 드문 경우이므로, 무조건 필요 없다고 외우지 않도록 함께 짚어 준다. 시간이 허락하면 인덱스 리프 블록이 양방향으로 연결된 그림을 칠판에 그려 주면 좋다. 구조를 눈으로 본 학습자는 이 내용을 다시 잊지 않는다.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106611530"/>
      </p:ext>
    </p:extLst>
  </p:cSld>
  <p:clrMapOvr>
    <a:masterClrMapping/>
  </p:clrMapOvr>
</p:notes>
</file>

<file path=ppt/notesSlides/notesSlide5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실습문제 9번의 답안 뼈대에 해당하는 슬라이드다. 두 이유가 독립적으로 작동한다는 점을 짚어 주는 것이 좋다. 진입 조건이 없다는 것만으로도 인덱스의 이점이 절반 사라지고, 컬럼을 다 못 가져온다는 점이 나머지 절반을 지운다. Keyset 방식은 첫 번째 문제를 해결했기 때문에 인덱스가 다시 매력적인 선택지가 되었다는 흐름으로 연결하면 이해가 매끄럽다. 여기서 옵티마이저를 의인화해 설명하면 이해가 빠르다. 인덱스를 쓰지 않은 것이 아니라, 쓸 이유를 계산해 봤더니 이득이 없었다는 판단으로 읽어야 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34702343"/>
      </p:ext>
    </p:extLst>
  </p:cSld>
  <p:clrMapOvr>
    <a:masterClrMapping/>
  </p:clrMapOvr>
</p:notes>
</file>

<file path=ppt/notesSlides/notesSlide5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마지막 절은 균형을 잡는 구간이다. 앞 절의 실측이 워낙 극적이라 학습자는 Keyset을 만능으로 받아들이기 쉽다. 그러나 실무에서 페이징 방식을 바꾸는 일은 DB 작업이 아니라 화면 설계와 API 변경을 수반하는 일이다. 기술적 우열보다 요구사항과의 적합성이 선택을 결정한다는 점을 여기서 분명히 해야 한다. 이 절은 정답을 주는 구간이 아니라 판단 기준을 주는 구간이다. 학습자가 자기 프로젝트 화면을 떠올리며 적용 여부를 스스로 결정해 보게 하는 것이 목표다.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641195048"/>
      </p:ext>
    </p:extLst>
  </p:cSld>
  <p:clrMapOvr>
    <a:masterClrMapping/>
  </p:clrMapOvr>
</p:notes>
</file>

<file path=ppt/notesSlides/notesSlide5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제약의 원인을 정확히 짚는 것이 중요하다. Keyset이 임의 점프를 못 하는 이유는 구현이 미흡해서가 아니라, 순번을 세지 않는다는 바로 그 성질 때문이다. 빠른 이유와 못 하는 이유가 같은 뿌리에서 나온다는 점을 강조하면 학습자가 이 방식을 균형 있게 이해한다. 실습문제 6번이 이 제약과 UI 적합성을 함께 묻는다. 전체 건수와 전체 페이지 수 표시도 같은 제약에 걸린다는 점을 덧붙이면 좋다. 그 숫자를 구하려면 결국 전체를 세어야 하므로 화면 요구사항을 함께 검토해야 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255816186"/>
      </p:ext>
    </p:extLst>
  </p:cSld>
  <p:clrMapOvr>
    <a:masterClrMapping/>
  </p:clrMapOvr>
</p:notes>
</file>

<file path=ppt/notesSlides/notesSlide5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실무에서 자주 마주치는 상황은 페이지 번호 UI가 실제 필요에서 나온 것이 아니라 관행으로 남아 있는 경우다. 사용성 로그를 보면 대부분의 사용자는 앞쪽 몇 페이지만 본다. 이런 경우 SQL을 붙잡고 씨름하기보다 화면 설계를 바꾸는 편이 훨씬 저렴하다. DB 담당자가 화면 요구사항 논의에 참여해야 하는 이유를 보여 주는 좋은 사례다. 판단 순서를 한 줄로 정리해 준다. 화면 요구사항을 먼저 확정하고, 그다음에 그 요구사항을 가장 싸게 만족시키는 SQL을 고르는 순서여야 한다는 것이다.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309968744"/>
      </p:ext>
    </p:extLst>
  </p:cSld>
  <p:clrMapOvr>
    <a:masterClrMapping/>
  </p:clrMapOvr>
</p:notes>
</file>

<file path=ppt/notesSlides/notesSlide5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실습문제 7번이 절충안을 자유롭게 제안하라는 서술형이므로, 여기서는 정답을 외우게 하기보다 사고의 축을 심어 주는 것이 목표다. 축은 세 가지다. 범위를 제한하거나, 방식을 섞거나, 대상 자체를 줄이는 것. 학습자가 이 축 중 하나에 해당하는 제안을 스스로 만들어 내면 충분하다. 세 번째 축은 교안에 없는 방향이지만 이 장의 원리에서 자연스럽게 도출되므로 함께 제시한다. 절충안을 논의할 때는 반드시 비용과 잃는 것을 함께 적게 한다. 무엇을 포기했는지 적히지 않은 절충안은 나중에 요구사항이 되살아나면서 그대로 무너진다.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562525180"/>
      </p:ext>
    </p:extLst>
  </p:cSld>
  <p:clrMapOvr>
    <a:masterClrMapping/>
  </p:clrMapOvr>
</p:notes>
</file>

<file path=ppt/notesSlides/notesSlide5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종합표는 두 방향으로 읽게 해야 한다. 세로로 읽으면 OFFSET 방식 내부에서 깊이가 비용을 끌어올리는 모습이 보이고, 가로로 읽으면 같은 깊이에서 방식의 차이가 보인다. 한 방향만 읽으면 결론이 반쪽이 된다. 마지막 행의 Keyset이 첫 행의 OFFSET 1페이지보다도 저렴하다는 점을 짚어 주면 부분범위 처리의 위력이 선명해진다. 이 표를 실습 전 마지막 화면으로 남겨 두면 학습자가 답안을 쓰면서 수치를 인용하기 편하다. 다만 수치를 외우게 하지 말고 변화의 방향을 설명하게 하는 것이 목표다.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022945483"/>
      </p:ext>
    </p:extLst>
  </p:cSld>
  <p:clrMapOvr>
    <a:masterClrMapping/>
  </p:clrMapOvr>
</p:notes>
</file>

<file path=ppt/notesSlides/notesSlide5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요약 아홉 줄은 세 묶음으로 읽어 준다. 앞의 세 줄이 문제의 원인, 가운데 네 줄이 대안의 원리, 마지막 두 줄이 실무 판단이다. 이 화면을 띄워 둔 채로 실습을 시작하게 하면 학습자가 답안을 쓰면서 근거 문장을 골라 쓸 수 있다. 특히 마지막 줄은 이 장뿐 아니라 이후 챕터에서도 반복해 등장할 관점이므로 별도로 강조해 둔다. 다음 장으로 넘어가기 전에 실습 인덱스 정리 여부를 한 번 확인시키고, 이 장에서 배운 관점이 다음 챕터에서 어떤 형태로 다시 나오는지 한 문장으로 예고해 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176591368"/>
      </p:ext>
    </p:extLst>
  </p:cSld>
  <p:clrMapOvr>
    <a:masterClrMapping/>
  </p:clrMapOvr>
</p:notes>
</file>

<file path=ppt/notesSlides/notesSlide5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이번 장의 실습은 전부 서술형이며 SQL을 새로 작성하는 문항은 없다. 채점 기준은 결론의 일치가 아니라 근거로 삼은 값과 논리의 순서다. 3번과 10번은 Chapter 9를 다시 펴 봐야 하는 문항이므로 미리 안내한다. 7번은 정답이 열려 있으니 자기 서비스 경험을 끌어와 쓰도록 권한다. 마지막으로 실습 인덱스 정리를 다시 한번 강조하고 마친다. 답안을 쓸 때 실행계획 오퍼레이션 이름을 정확히 적었는지도 함께 본다. 이름을 흐릿하게 쓰면 근거가 흐릿해지고, 이후 챕터의 논의를 이어 가기도 어려워진다.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993860274"/>
      </p:ext>
    </p:extLst>
  </p:cSld>
  <p:clrMapOvr>
    <a:masterClrMapping/>
  </p:clrMapOvr>
</p:notes>
</file>

<file path=ppt/notesSlides/notesSlide5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제12장은 지금까지의 시선을 한 칸 밖으로 옮기는 장이다. 앞의 열한 개 장이 'SQL 한 문장을 어떻게 고칠 것인가'를 다뤘다면 이 장은 '그 문장이 몇 번 불리는가'를 다룬다. 실행계획이 아무 문제 없어 보이는데도 화면이 느린 사고가 실무에서 반복되는데, 원인이 SQL 안이 아니라 애플리케이션의 호출 구조에 있기 때문이다. 첫 시간에 던질 질문은 하나다. 훌륭한 SQL을 스무 번 부르면 그것은 훌륭한 SQL인가. 이 장의 모든 값은 진료비청구심사 실습 DB 실측이라 그대로 재현할 수 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119679506"/>
      </p:ext>
    </p:extLst>
  </p:cSld>
  <p:clrMapOvr>
    <a:masterClrMapping/>
  </p:clrMapOvr>
</p:notes>
</file>

<file path=ppt/notesSlides/notesSlide5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학습 목표는 세 묶음으로 읽어 주면 정리가 쉽다. 첫째는 개념으로, N+1이 무엇이며 왜 SQL 문장이 아니라 호출 구조의 문제인지 정확히 세우는 것이다. 둘째는 진단으로, 실행계획 대신 V$SQL 누적 통계를 보는 습관을 들이는 일이다. 셋째는 판단으로, 조인·배치 조회·인덱스 추가 중 무엇이 근본 해법이고 무엇이 완화책인지 구분하는 태도다. 이 장은 새 문법을 배우는 장이 아니라 문제를 발견하는 눈을 기르는 장이라는 점을 미리 말해 두면 기대가 어긋나지 않는다.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870816834"/>
      </p:ext>
    </p:extLst>
  </p:cSld>
  <p:clrMapOvr>
    <a:masterClrMapping/>
  </p:clrMapOvr>
</p:notes>
</file>

<file path=ppt/notesSlides/notesSlide5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장은 사례 한 건을 끝까지 파고드는 구성이다. 왜 이 문제를 다루는지(12.1), 무엇인지(12.2), 왜 그렇게 되는지(12.3), 코드로 어떻게 재현하는지(12.4), 실측이 무엇을 말하는지(12.5), 왜 위험한지(12.6), 어떻게 고치는지(12.7~12.8)의 순서다. 증상에서 원인으로, 원인에서 진단으로, 진단에서 개선으로 가는 이 리듬은 다른 성능 문제를 만났을 때도 그대로 쓸 수 있는 절차라는 점을 미리 알려 주면 학습자가 사례를 외우지 않고 방법을 가져간다.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948667811"/>
      </p:ext>
    </p:extLst>
  </p:cSld>
  <p:clrMapOvr>
    <a:masterClrMapping/>
  </p:clrMapOvr>
</p:notes>
</file>

<file path=ppt/notesSlides/notesSlide5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여기서 시선을 한 번 크게 돌린다. 지금까지 배운 실행계획 읽기는 여전히 유효하지만, 그 도구가 닿지 않는 영역이 있다는 것을 인정하는 절이다. 강의 현장에서는 '실행계획이 깨끗한데 왜 느리냐'는 질문이 반드시 나오는데, 그 답의 상당 부분이 이 절에 있다. 문장 하나를 현미경으로 보는 일과 요청 한 건이 만들어 내는 SQL 전체를 세는 일은 다른 작업이라는 점을 먼저 못 박아 두자. 실무에서는 DBA가 잡아 온 느린 SQL 목록에 정작 문제의 쿼리가 없어 원인 규명이 지연되는 일이 잦다. 각각은 빨랐기 때문이다. 이 절은 그 답답한 상황이 왜 생기는지를 설명하는 자리이기도 하다.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509163231"/>
      </p:ext>
    </p:extLst>
  </p:cSld>
  <p:clrMapOvr>
    <a:masterClrMapping/>
  </p:clrMapOvr>
</p:notes>
</file>

<file path=ppt/notesSlides/notesSlide5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여기서 강조할 것은 앞 장들의 방법이 틀렸다는 말이 아니라는 점이다. 도구에는 각각 보이는 범위가 있을 뿐이다. 실행계획은 문장 하나의 내부를 보여 주는 현미경이고, 호출 횟수 문제는 현미경 배율 밖에 있다. 학습자가 흔히 오해하는 지점이 여기다. 튜닝을 배우면 모든 느림을 실행계획으로 설명할 수 있으리라 기대하는데, 그 기대가 깨지는 첫 순간이 대개 N+1을 만났을 때다. 도구를 바꿔 들어야 하는 상황이 따로 있다는 것을 지금 알려 주는 편이 낫다.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952189750"/>
      </p:ext>
    </p:extLst>
  </p:cSld>
  <p:clrMapOvr>
    <a:masterClrMapping/>
  </p:clrMapOvr>
</p:notes>
</file>

<file path=ppt/notesSlides/notesSlide5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ORM을 쓰지 않는 팀에서도 같은 일이 벌어진다는 점을 덧붙이면 좋다. 서비스 계층에서 목록을 받아 루프를 돌며 DAO 메서드를 부르는 구조는 프레임워크와 무관하게 흔하다. 코드 리뷰에서 이 패턴이 잘 안 걸리는 이유는 루프와 조회가 서로 다른 파일에 흩어져 있기 때문이다. 목록을 받는 곳과 상세를 조회하는 곳이 각각은 자연스러워 보인다. 그래서 정적인 코드 읽기보다 실행 중에 나가는 SQL을 세는 쪽이 훨씬 빨리 진실에 닿는다.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887560975"/>
      </p:ext>
    </p:extLst>
  </p:cSld>
  <p:clrMapOvr>
    <a:masterClrMapping/>
  </p:clrMapOvr>
</p:notes>
</file>

<file path=ppt/notesSlides/notesSlide5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PL/SQL 루프는 자바나 파이썬 애플리케이션의 반복 호출을 대신하는 축소 모형이다. 실제 애플리케이션에서는 여기에 네트워크 왕복 시간과 커넥션 사용 시간이 더 붙기 때문에 체감 피해는 더 커진다. 그러니 이번 실측값은 N+1 피해의 하한선이라고 소개하는 편이 정확하다. DDL 변경 없이 측정한다는 조건도 짚어 두자. 인덱스를 먼저 만들어 버리면 이 장이 보여 주려는 반복의 곱셈 효과가 흐려지기 때문에 일부러 손대지 않은 것이다.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325421950"/>
      </p:ext>
    </p:extLst>
  </p:cSld>
  <p:clrMapOvr>
    <a:masterClrMapping/>
  </p:clrMapOvr>
</p:notes>
</file>

<file path=ppt/notesSlides/notesSlide5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개념 절은 짧게 지나가되 정의만은 정확히 잡고 간다. N+1이라는 이름이 널리 쓰이는 데 비해 정확한 정의를 말해 보라고 하면 막히는 학습자가 많다. 목록 조회 한 번과 항목별 추가 조회 N번, 이 두 조각이 합쳐진 구조라는 것을 이름 자체가 설명하고 있다는 점을 짚어 주면 오래 남는다. 그리고 이 장이 여러 문제 유형 중 N+1 하나에 집중하는 이유도 여기서 밝혀 둔다. 진단 절차의 관점에서 보면 이 절은 증상에 이름을 붙이는 단계에 해당한다. 이름이 붙어야 검색도 되고 팀 안에서 같은 말로 논의할 수 있으므로, 용어를 정확히 세우는 일이 생각보다 큰 몫을 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011156712"/>
      </p:ext>
    </p:extLst>
  </p:cSld>
  <p:clrMapOvr>
    <a:masterClrMapping/>
  </p:clrMapOvr>
</p:notes>
</file>

<file path=ppt/notesSlides/notesSlide5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정의를 읽어 준 다음 학습자에게 자기 경험을 떠올리게 하면 몰입이 확 올라간다. 목록 화면에 항목별 배지나 카운트를 붙이는 요구사항은 거의 모든 서비스에 있고, 그 요구사항을 가장 쉽게 구현하는 방법이 바로 N+1이다. 흔히 오해하는 지점은 N+1을 초보자의 실수로 여기는 것인데, 실제로는 경험 많은 개발자도 화면 요구사항이 뒤늦게 추가될 때 이 구조를 만든다. 처음부터 잘못 짠 것이 아니라 기능이 하나 붙으면서 생기는 경우가 많다는 점을 말해 주자.</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640886793"/>
      </p:ext>
    </p:extLst>
  </p:cSld>
  <p:clrMapOvr>
    <a:masterClrMapping/>
  </p:clrMapOvr>
</p:notes>
</file>

<file path=ppt/notesSlides/notesSlide5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슬라이드는 다음 절의 배수 논리를 미리 깔아 주는 자리다. 여기서 학습자에게 질문을 하나 던져 보면 좋다. 목록이 열 배가 되면 응답 시간은 몇 배가 되겠는가. 대개 열 배라고 답하는데, 실제로는 커넥션 점유와 캐시 경합까지 겹쳐 그보다 나빠지는 경우도 있다. 반대로 조인 방식은 목록이 열 배가 되어도 스캔 횟수 자체는 그대로다. 횟수가 변수인 구조와 상수인 구조의 차이, 이 한 문장이 이 장 전체를 관통한다.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418292742"/>
      </p:ext>
    </p:extLst>
  </p:cSld>
  <p:clrMapOvr>
    <a:masterClrMapping/>
  </p:clrMapOvr>
</p:notes>
</file>

<file path=ppt/notesSlides/notesSlide5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목록은 체크리스트로 나눠 주면 현장에서 바로 쓰인다. 다만 다섯 유형을 같은 무게로 다루면 강의가 흩어지므로, 앞의 네 가지는 이름과 증상만 확인하고 넘어가는 편이 낫다. 공통점을 하나 짚어 주자. 전부 '결과는 맞는데 낭비가 있는' 문제이고, 그래서 테스트로는 절대 걸리지 않는다는 점이다. 기능 테스트가 통과했다는 사실이 성능을 보장하지 않는다는 감각을 이 지점에서 심어 두면 이후 실습 문항을 대하는 태도가 달라진다.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440837318"/>
      </p:ext>
    </p:extLst>
  </p:cSld>
  <p:clrMapOvr>
    <a:masterClrMapping/>
  </p:clrMapOvr>
</p:notes>
</file>

<file path=ppt/notesSlides/notesSlide5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느린 SQL 목록을 뽑을 때 정렬 기준을 무엇으로 두느냐에 따라 N+1이 보이기도 하고 숨기도 한다. 1회 실행 시간으로 정렬하면 N+1의 개별 쿼리는 상위에 오르지 않는다. 반면 누적 시간이나 누적 Buffers로 정렬하면 단숨에 최상단에 올라온다. 이 정렬 기준 하나가 진단의 성패를 가른다는 점을 미리 말해 두면 12.5절에서 V$SQL을 볼 때 왜 하필 그 컬럼들을 보는지가 자연스럽게 이해된다. 학습자가 흔히 오해하는 지점도 여기다. 튜닝 대상은 느린 SQL이라고만 배운 탓에, 빠른 SQL이 범인일 수 있다는 발상 자체를 못 한다. 이 장은 그 고정관념을 깨는 데 절반을 쓴다고 보면 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647188326"/>
      </p:ext>
    </p:extLst>
  </p:cSld>
  <p:clrMapOvr>
    <a:masterClrMapping/>
  </p:clrMapOvr>
</p:notes>
</file>

<file path=ppt/notesSlides/notesSlide5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절이 이 장의 이론적 심장이다. 실측값을 보여 주기 전에 원리를 먼저 세워 두면 12.5절의 숫자가 예언의 확인처럼 읽힌다. 순서를 뒤집어 숫자부터 보여 주면 학습자는 결과를 외우고 끝나지만, 원리를 먼저 세우면 숫자를 스스로 예측하게 된다. 강의에서는 여기서 '그러면 총 Buffers가 얼마쯤 나올 것 같으냐'고 물어본 뒤 다음 절로 넘어가는 방식을 권한다. 진단 절차로 보면 이 절은 증상에서 원인으로 넘어가는 단계다. 원인을 구조로 설명할 수 있어야 개선안이 임시방편에 그치지 않는다는 점을 함께 짚어 두면 이후 12.7절의 해법 등급 구분이 훨씬 쉽게 받아들여진다.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18682972"/>
      </p:ext>
    </p:extLst>
  </p:cSld>
  <p:clrMapOvr>
    <a:masterClrMapping/>
  </p:clrMapOvr>
</p:notes>
</file>

<file path=ppt/notesSlides/notesSlide5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Chapter 4를 다시 펼쳐 같은 테이블의 단건 조회 실행계획을 잠깐 보여 주면 연결이 매끄럽다. 학습자가 흔히 오해하는 지점은 결과가 적으면 비용도 적을 것이라 생각하는 것인데, Full Scan은 결과 건수와 무관하게 테이블 크기에 비례한다. 조건에 맞는 행이 한 건도 없어도 비용은 똑같이 든다. 이 성질은 다음 슬라이드의 곱셈 논리를 성립시키는 전제이므로 여기서 확실히 못 박고 넘어가야 한다. 실무에서는 PK가 있으니 인덱스도 있는 셈이라고 넘겨짚다가 사고가 난다. PK 컬럼과 조회 조건 컬럼이 다르면 그 인덱스는 이 조회에 아무 도움이 되지 않는다.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756346475"/>
      </p:ext>
    </p:extLst>
  </p:cSld>
  <p:clrMapOvr>
    <a:masterClrMapping/>
  </p:clrMapOvr>
</p:notes>
</file>

<file path=ppt/notesSlides/notesSlide5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여기서 버퍼 캐시 이야기가 나오면 잠깐 다뤄 주는 것이 좋다. 두 번째 반복부터는 블록이 메모리에 올라와 있으니 물리 I/O는 줄어드는 것이 맞다. 하지만 Buffers는 논리적 I/O, 즉 블록을 몇 번 만졌는가를 세는 값이라 캐시에 있어도 그대로 카운트된다. 메모리에서 읽어도 CPU는 쓴다는 것이 1장에서 배운 내용이다. 캐시가 있으니 괜찮지 않느냐는 반론은 여기서 정리하고 넘어가야 이후 숫자 해석이 흔들리지 않는다.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317774242"/>
      </p:ext>
    </p:extLst>
  </p:cSld>
  <p:clrMapOvr>
    <a:masterClrMapping/>
  </p:clrMapOvr>
</p:notes>
</file>

<file path=ppt/notesSlides/notesSlide5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N+1과 조인의 차이를 도서관 비유로 설명하면 잘 전달된다. 스무 권의 책을 찾아야 할 때 목록을 들고 서가를 한 번 돌면서 스무 권을 모두 담아 오는 것이 조인이고, 한 권씩 확인하러 서가를 스무 번 왕복하는 것이 N+1이다. 걷는 거리는 서가의 길이로 같지만 왕복 횟수가 다르다. 학습자가 자주 묻는 것이 Hash Join이 아니라 Nested Loop이 선택되면 어떻게 되느냐인데, 그 경우에도 반복 호출과 달리 DB 내부의 루프라 파싱과 호출 오버헤드가 없다는 차이가 남는다.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98771458"/>
      </p:ext>
    </p:extLst>
  </p:cSld>
  <p:clrMapOvr>
    <a:masterClrMapping/>
  </p:clrMapOvr>
</p:notes>
</file>

<file path=ppt/notesSlides/notesSlide5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고정비용과 변동비용이라는 틀은 이 장 밖에서도 쓸모가 크다. 페이지네이션, 캐시 적중, 배치 크기 결정 같은 판단이 모두 같은 틀로 설명된다. 실무에서 성능 리뷰를 할 때 던질 질문을 한 문장으로 정리해 주자. 데이터가 열 배가 되면 이 코드의 비용은 몇 배가 되는가. 이 질문에 답할 수 없다면 그 코드는 아직 검토되지 않은 것이다. N+1은 이 질문에 열 배라고 답해야 하는 구조이고, 조인은 거의 그대로라고 답할 수 있는 구조다.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589849186"/>
      </p:ext>
    </p:extLst>
  </p:cSld>
  <p:clrMapOvr>
    <a:masterClrMapping/>
  </p:clrMapOvr>
</p:notes>
</file>

<file path=ppt/notesSlides/notesSlide5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코드를 보여 주기 전에 실습 재현 조건을 한 번 더 확인해 두자. 두 코드는 같은 결과를 내야 비교가 성립한다. 병원 1번의 청구 중 스무 건을 고르고, 각 청구의 상세내역 건수를 얻는다는 목표가 동일하다. 결과가 같은 두 방법 중 자원을 덜 쓰는 쪽을 고르는 것이 이 과정의 정의라는 1장의 문장을 여기서 다시 꺼내면 흐름이 이어진다. 학습자에게는 두 코드를 직접 실행해 결과 집합을 비교해 보게 하는 것이 좋다. 결과가 같다는 사실을 눈으로 확인하고 나서야 비용 비교가 공정하다는 확신이 생기고, 이후 숫자 해석에 다른 의심이 끼어들지 않는다.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182063669"/>
      </p:ext>
    </p:extLst>
  </p:cSld>
  <p:clrMapOvr>
    <a:masterClrMapping/>
  </p:clrMapOvr>
</p:notes>
</file>

<file path=ppt/notesSlides/notesSlide5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코드는 짧지만 실무 코드의 축소판이다. 커서 FOR 루프가 서비스 계층의 목록 조회에 해당하고, 루프 본문의 SELECT가 항목별 상세 조회에 해당한다. 강의에서 짚어야 할 부분은 이 코드가 전혀 이상해 보이지 않는다는 사실이다. 문법도 정상이고 결과도 정확하다. 리뷰어가 이 코드를 보고 지적하려면 CLAIM_DETAILS에 CLAIM_ID 인덱스가 없다는 사실과 이 루프가 몇 번 도는지를 동시에 떠올려야 한다. 그 두 가지를 함께 떠올리기가 어렵다는 것이 이 문제의 본질이다.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823900908"/>
      </p:ext>
    </p:extLst>
  </p:cSld>
  <p:clrMapOvr>
    <a:masterClrMapping/>
  </p:clrMapOvr>
</p:notes>
</file>

<file path=ppt/notesSlides/notesSlide5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바인드 변수 처리는 여기서 오히려 우리에게 유리하게 작용했다는 점을 짚어 주면 좋다. 스무 번의 실행이 하나의 SQL_ID로 묶여 누적 통계가 깔끔하게 잡히기 때문이다. 리터럴을 썼다면 SQL_ID가 스무 개로 흩어져 V$SQL만 봐서는 반복을 알아채기가 더 어려웠을 것이다. 진단이 어려워지는 동시에 하드 파싱 비용까지 더해지는 셈이라, 실무에서 리터럴 하드코딩과 N+1이 겹치면 원인을 찾는 데 훨씬 오래 걸린다. 실습 7번 문항이 이 지점을 묻는다.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857227041"/>
      </p:ext>
    </p:extLst>
  </p:cSld>
  <p:clrMapOvr>
    <a:masterClrMapping/>
  </p:clrMapOvr>
</p:notes>
</file>

<file path=ppt/notesSlides/notesSlide5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아우터 조인을 쓴 이유를 반드시 설명하고 넘어가야 한다. 내부 조인으로 바꾸면 상세내역이 없는 청구가 결과에서 사라져 두 방식의 결과가 달라진다. N+1 버전의 루프는 상세가 없어도 COUNT가 0으로 나오면서 스무 건을 모두 돌기 때문이다. 튜닝 결과를 비교할 때 결과 집합이 같은지부터 확인하는 습관을 여기서 심어 주자. 빨라졌지만 결과가 달라진 SQL은 튜닝이 아니라 버그다. 실무 사고의 상당수가 이 확인을 건너뛰면서 생긴다.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211299617"/>
      </p:ext>
    </p:extLst>
  </p:cSld>
  <p:clrMapOvr>
    <a:masterClrMapping/>
  </p:clrMapOvr>
</p:notes>
</file>

<file path=ppt/notesSlides/notesSlide5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세 단계 변환 절차는 이 사례에만 통하는 요령이 아니라 일반적인 리팩터링 패턴이다. 다만 애플리케이션에서 그대로 적용하기 어려운 경우도 있다는 점을 함께 말해 주자. 루프 본문의 조회 결과에 따라 분기가 갈리거나, 조회 대상이 조건에 따라 다른 테이블일 때가 그렇다. 그런 경우에는 12.7절에서 다룰 배치 조회가 현실적인 절충안이 된다. 조인 하나만이 정답이라고 가르치면 현장에서 적용을 포기해 버리는 일이 생긴다.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330068258"/>
      </p:ext>
    </p:extLst>
  </p:cSld>
  <p:clrMapOvr>
    <a:masterClrMapping/>
  </p:clrMapOvr>
</p:notes>
</file>

<file path=ppt/notesSlides/notesSlide5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측정 절에서 강조할 것은 도구 선택이다. N+1은 실행계획을 아무리 예쁘게 뽑아도 보이지 않으므로 누적 통계를 봐야 한다는 것, 반대로 조인 1회는 문장 하나이므로 평소대로 실행계획을 보면 된다는 것이다. 즉 이 절에서는 서로 다른 두 도구를 나란히 쓴다. 왜 도구가 달라야 하는지를 먼저 설명하고 숫자로 들어가면 학습자가 헷갈리지 않는다. 여기서 자주 나오는 질문이 두 값을 그대로 비교해도 되느냐는 것인데, 둘 다 논리적 I/O를 세는 같은 단위이므로 비교가 성립한다. 단위가 같은지 확인하고 비교하는 습관은 어떤 성능 보고서를 읽을 때든 먼저 해야 할 점검이다.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001697497"/>
      </p:ext>
    </p:extLst>
  </p:cSld>
  <p:clrMapOvr>
    <a:masterClrMapping/>
  </p:clrMapOvr>
</p:notes>
</file>

<file path=ppt/notesSlides/notesSlide5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V$SQL은 공유 풀에 남아 있는 커서의 통계라 시간이 지나거나 커서가 밀려나면 사라진다는 점을 덧붙여 주자. 그래서 실습에서는 실행 직후에 조회해야 값을 볼 수 있다. 실무에서는 AWR이나 Statspack 같은 스냅숏 기반 도구로 이 정보를 시간 단위로 보존한다. 또 하나 흔한 함정은 여러 세션이 같은 SQL을 실행하면 통계가 합산된다는 것이다. 내 세션의 스무 번인지 여러 세션의 합인지 구분하려면 실습처럼 조용한 환경에서 측정하는 편이 명확하다.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294472692"/>
      </p:ext>
    </p:extLst>
  </p:cSld>
  <p:clrMapOvr>
    <a:masterClrMapping/>
  </p:clrMapOvr>
</p:notes>
</file>

<file path=ppt/notesSlides/notesSlide5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화면 한 장이 이 장의 핵심 증거물이다. 여기서 학습자가 놓치기 쉬운 것은 SQL_TEXT가 지극히 평범하다는 사실이다. WHERE 조건 하나짜리 COUNT 쿼리이고, 실행계획을 뽑아 봐야 TABLE ACCESS FULL 한 줄이 전부다. 문제를 드러내는 것은 문장이 아니라 EXECUTIONS 컬럼의 값이다. 실무에서 V$SQL을 조회할 때 EXECUTIONS가 유독 큰 SQL을 먼저 훑어보는 습관을 들이면 N+1은 대체로 그 목록의 상단에서 발견된다. 실습 5번 문항이 이 컬럼을 직접 묻는다.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286807999"/>
      </p:ext>
    </p:extLst>
  </p:cSld>
  <p:clrMapOvr>
    <a:masterClrMapping/>
  </p:clrMapOvr>
</p:notes>
</file>

<file path=ppt/notesSlides/notesSlide5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마지막 문장이 이 장 전체의 요약이다. 느린 SQL과 자주 불리는 SQL은 대응 방법이 전혀 다르다. 느린 SQL은 문장을 고치거나 인덱스를 만들어 대응하지만, 자주 불리는 SQL은 호출하는 쪽 코드를 고쳐야 한다. DBA가 SQL만 들여다보며 왜 안 고쳐지는지 답답해하는 상황이 실무에서 자주 벌어지는데, 원인이 DB 밖에 있기 때문이다. 그래서 이 문제는 DBA와 개발자가 같은 화면을 보며 이야기해야 풀린다. 실습 1번 문항이 평균 계산과 그 의미를 직접 묻는다.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069103376"/>
      </p:ext>
    </p:extLst>
  </p:cSld>
  <p:clrMapOvr>
    <a:masterClrMapping/>
  </p:clrMapOvr>
</p:notes>
</file>

<file path=ppt/notesSlides/notesSlide5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실행계획을 읽을 때는 안쪽부터 바깥으로 올라가며 읽는다는 원칙을 다시 적용하자. Id 5에서 MEDICAL_CLAIMS를 읽되 Id 4의 COUNT STOPKEY가 스무 건을 채우는 즉시 멈춰 세운다. Id 6에서 CLAIM_DETAILS를 한 번 훑고, Id 2에서 두 집합을 해시로 맞붙인 뒤 Id 1에서 집계한다. 여기서 학습자에게 확인시킬 것은 딱 하나다. TABLE ACCESS FULL(CLAIM_DETAILS)이 계획 안에 몇 번 등장하는가. 실습 2번 문항이 바로 이것을 묻는다.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952831841"/>
      </p:ext>
    </p:extLst>
  </p:cSld>
  <p:clrMapOvr>
    <a:masterClrMapping/>
  </p:clrMapOvr>
</p:notes>
</file>

<file path=ppt/notesSlides/notesSlide5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여기서 자주 나오는 질문이 CLAIM_DETAILS도 조기 종료할 수 없느냐는 것이다. 답은 아니오다. 찾는 값이 테이블 어디에 흩어져 있는지 모르니 마지막 블록까지 확인해야 빠짐없이 찾았다고 말할 수 있다. 인덱스가 있었다면 이야기가 달라지지만 이번 차시는 DDL 변경 없이 측정한다. 또 하나 짚을 것은 Buffers가 상위 단계로 올라가며 그대로 유지된다는 점이다. 조인과 집계는 블록을 다시 만지지 않는 연산이라는 사실이 이 열에 그대로 나타나 있다. 실습 9번 문항이 이 대비를 묻는다.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475754230"/>
      </p:ext>
    </p:extLst>
  </p:cSld>
  <p:clrMapOvr>
    <a:masterClrMapping/>
  </p:clrMapOvr>
</p:notes>
</file>

<file path=ppt/notesSlides/notesSlide5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숫자가 예측과 맞아떨어졌다는 사실 자체를 강조하자. 성능 분석에서 가장 든든한 순간은 원리로 예측한 값과 실측이 일치할 때다. 그때 비로소 원인을 안다고 말할 수 있다. 반대로 예측과 실측이 어긋난다면 아직 모르는 요인이 남아 있다는 신호이므로 더 파고들어야 한다. 이 태도는 이 장뿐 아니라 모든 튜닝 작업에 적용된다. 실습 3번 문항은 이 비율을 200건으로 확장했을 때 어떻게 달라질지 예측하게 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903668547"/>
      </p:ext>
    </p:extLst>
  </p:cSld>
  <p:clrMapOvr>
    <a:masterClrMapping/>
  </p:clrMapOvr>
</p:notes>
</file>

<file path=ppt/notesSlides/notesSlide5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위험성 절은 경고로 끝내지 말고 예방 절차로 마무리하는 것이 좋다. 무섭다는 이야기만으로는 행동이 바뀌지 않는다. 목록 건수를 늘려 가며 비용이 어떻게 움직이는지 확인하는 습관, 운영 규모를 가정한 테스트 데이터를 준비하는 습관 같은 구체적인 실천으로 연결해야 한다. 이 절의 내용은 실습 4번 문항과 그대로 이어진다. 실무에서 이 유형의 장애는 배포 직후가 아니라 배포 몇 달 뒤에 터지기 때문에 원인 추적이 특히 어렵다. 최근 바뀐 것이 없는데 갑자기 느려졌다는 신고가 들어오면 데이터 증가에 따른 확장성 문제를 먼저 의심하라고 일러 두자.</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188730879"/>
      </p:ext>
    </p:extLst>
  </p:cSld>
  <p:clrMapOvr>
    <a:masterClrMapping/>
  </p:clrMapOvr>
</p:notes>
</file>

<file path=ppt/notesSlides/notesSlide5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여기서 계산을 학습자에게 직접 시켜 보는 것이 좋다. 목록이 1,000건이면 어떻게 되겠느냐고 물으면 곱셈 구조가 몸으로 이해된다. 그리고 실제 사고 상황을 하나 덧붙이자. 서비스 초기에는 고객사별 데이터가 적어 아무 문제가 없다가, 큰 고객사가 들어오면서 특정 화면만 급격히 느려지는 일이 흔하다. 원인을 찾다 보면 그 고객사의 목록 건수가 유독 많았던 것이 밝혀진다. 같은 코드가 고객사에 따라 다르게 동작하는 것처럼 보이는 이유가 바로 이 구조다.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723236442"/>
      </p:ext>
    </p:extLst>
  </p:cSld>
  <p:clrMapOvr>
    <a:masterClrMapping/>
  </p:clrMapOvr>
</p:notes>
</file>

<file path=ppt/notesSlides/notesSlide5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대목에서 팀 차원의 대책을 제안해 주면 강의가 실무로 이어진다. 운영 데이터 규모를 흉내 낸 성능 검증용 스키마를 하나 유지하는 것, 주요 화면마다 요청 한 건이 발생시키는 SQL 개수의 상한을 정해 두는 것이 대표적이다. 후자는 특히 효과가 좋다. 화면 하나에 SQL 열 건을 넘기지 않는다는 규칙만 있어도 N+1은 개발 단계에서 걸린다. 성능은 마지막에 측정하는 것이 아니라 처음부터 조건으로 걸어 두는 것이라는 관점을 심어 주자.</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165148464"/>
      </p:ext>
    </p:extLst>
  </p:cSld>
  <p:clrMapOvr>
    <a:masterClrMapping/>
  </p:clrMapOvr>
</p:notes>
</file>

<file path=ppt/notesSlides/notesSlide5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기울기라는 표현이 낯설다면 그래프를 손으로 그려 보이면 된다. 가로축에 목록 건수, 세로축에 Buffers를 두면 N+1은 우상향 직선이고 조인은 거의 수평선이다. 두 선이 만나는 지점이 목록 한 건 근처라는 점도 재미있다. 목록이 한 건뿐이라면 두 방식의 비용이 비슷하다는 뜻이고, 그래서 개발자가 한 건으로 테스트하면 아무 차이를 못 느낀다. 이 그림 하나가 이 절의 내용을 전부 담고 있어 판서로 남겨 두면 좋다.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27846306"/>
      </p:ext>
    </p:extLst>
  </p:cSld>
  <p:clrMapOvr>
    <a:masterClrMapping/>
  </p:clrMapOvr>
</p:notes>
</file>

<file path=ppt/notesSlides/notesSlide5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튜닝 절에서 가장 중요한 것은 해법에 등급을 매기는 일이다. 조인은 근본 해법, 배치 조회는 현실적인 절충안, 인덱스 추가는 완화책이다. 이 등급을 흐릿하게 두면 학습자는 인덱스만 만들고 문제를 해결했다고 여기게 된다. 반복 호출 구조가 남아 있는 한 문제는 규모가 커지면 다시 돌아온다는 점을 이 절 내내 반복해서 확인시켜야 한다. 실무에서는 일정에 쫓겨 완화책을 먼저 적용하는 일이 잦은데 그 자체가 잘못은 아니다. 다만 완화책으로 급한 불을 껐다는 사실과 구조 개선 과제가 남았다는 사실을 함께 기록으로 남겨야 그 과제가 잊히지 않는다.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147052928"/>
      </p:ext>
    </p:extLst>
  </p:cSld>
  <p:clrMapOvr>
    <a:masterClrMapping/>
  </p:clrMapOvr>
</p:notes>
</file>

<file path=ppt/notesSlides/notesSlide5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조인으로 바꿀 때 실무에서 부딪히는 벽을 미리 알려 주면 도움이 된다. 애플리케이션 계층 구조가 목록 조회와 상세 조회를 서로 다른 서비스나 리포지토리로 갈라 놓은 경우, 조인을 넣으려면 계층 설계를 건드려야 해서 저항이 생긴다. 그럴 때 유용한 논거가 이번 실측이다. 비율이 반복 횟수에 수렴한다는 사실을 보여 주면, 지금 스무 배인 격차가 목록이 늘면 그만큼 더 벌어진다는 예측이 설득력을 갖는다. 숫자는 설계 논쟁을 끝내는 가장 빠른 방법이다.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066126721"/>
      </p:ext>
    </p:extLst>
  </p:cSld>
  <p:clrMapOvr>
    <a:masterClrMapping/>
  </p:clrMapOvr>
</p:notes>
</file>

<file path=ppt/notesSlides/notesSlide5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배치 조회는 애플리케이션 구조를 크게 바꾸지 않고도 반복을 없앨 수 있어 현장 적용성이 높다. 다만 IN 리스트 길이가 요청마다 달라지면 SQL 텍스트가 매번 달라져 커서가 흩어진다는 점을 짚어 주자. 그래서 실무에서는 묶음 크기를 고정하거나 부족한 자리를 널 값으로 채우는 방식을 쓴다. Oracle에는 IN 리스트 원소 개수 상한도 있어 목록이 아주 길면 나눠 보내야 한다. 실습 8번 문항이 이 대안을 직접 제안하게 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849502140"/>
      </p:ext>
    </p:extLst>
  </p:cSld>
  <p:clrMapOvr>
    <a:masterClrMapping/>
  </p:clrMapOvr>
</p:notes>
</file>

<file path=ppt/notesSlides/notesSlide5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인덱스 추가에는 그 자체의 대가가 따른다는 점도 함께 말해야 균형이 맞는다. 인덱스가 하나 늘면 해당 테이블의 INSERT와 UPDATE가 그만큼 느려지고 저장 공간도 더 쓴다. 조회를 돕자고 만든 인덱스가 대량 적재 배치를 느리게 만드는 일이 실무에서 종종 벌어진다. 그러니 반복 호출을 없애면 해결될 문제를 인덱스로 덮는 선택은 비용 대비 효과가 좋지 않을 수 있다. 실습 6번 문항이 인덱스 추가 후에도 남는 문제를 정확히 묻는다.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432906275"/>
      </p:ext>
    </p:extLst>
  </p:cSld>
  <p:clrMapOvr>
    <a:masterClrMapping/>
  </p:clrMapOvr>
</p:notes>
</file>

<file path=ppt/notesSlides/notesSlide5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정렬 기준을 바꿔 가며 두 번 조회한다는 점이 이 슬라이드의 요령이다. 실행 횟수 순으로 보면 반복 호출이 드러나고, 누적 Buffers 순으로 보면 실제 피해가 큰 순서가 드러난다. 두 목록의 교집합에 있는 SQL이 최우선 개선 대상이다. 실무에서는 여기에 시간 범위를 걸어 특정 시간대의 부하를 보거나, 모듈·서비스 이름으로 묶어 어느 화면에서 나온 SQL인지 추적한다. 실습 10번 문항이 이런 발견 방법을 자유롭게 제안하도록 요구한다.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870148412"/>
      </p:ext>
    </p:extLst>
  </p:cSld>
  <p:clrMapOvr>
    <a:masterClrMapping/>
  </p:clrMapOvr>
</p:notes>
</file>

<file path=ppt/notesSlides/notesSlide5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마지막 항목을 리뷰 체크리스트로 굳혀 두면 팀에 바로 이식된다. 반복문 안에 조회가 있는지 보는 것은 규칙이 단순해서 누구나 적용할 수 있다. 다만 앞에서 말했듯 루프와 조회가 다른 파일에 흩어져 있으면 눈으로는 안 걸린다. 그래서 코드 리뷰만으로는 부족하고 실행 시점의 관측이 함께 있어야 한다. 정적 점검과 동적 관측을 둘 다 두는 것, 이것이 N+1을 놓치지 않는 유일한 방법이다. 진단 순서를 굳이 정하자면 관측이 먼저다. 어느 화면이 SQL을 몇 건 발생시키는지 세어 본 뒤 그 화면의 코드를 열어 보는 편이, 코드부터 뒤지는 것보다 훨씬 빨리 범인에 닿는다.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454305927"/>
      </p:ext>
    </p:extLst>
  </p:cSld>
  <p:clrMapOvr>
    <a:masterClrMapping/>
  </p:clrMapOvr>
</p:notes>
</file>

<file path=ppt/notesSlides/notesSlide5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벤치마크 표는 강의를 닫는 슬라이드이자 실무에서 보고서에 그대로 옮겨 쓸 수 있는 형식이다. 표를 읽을 때 실행 횟수 열을 먼저 짚고 총 Buffers 열로 넘어가는 순서를 지키자. 원인이 앞 열에 있고 결과가 뒤 열에 있기 때문이다. 학습자에게 마지막으로 확인시킬 것은 두 방식이 읽은 데이터가 사실상 같다는 사실이다. 같은 데이터를 스무 번 읽었느냐 한 번 읽었느냐, 그 차이 하나가 이 표 전체를 만들었다. 튜닝이 마법이 아니라 낭비 제거라는 정의가 여기서 확인된다.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796009690"/>
      </p:ext>
    </p:extLst>
  </p:cSld>
  <p:clrMapOvr>
    <a:masterClrMapping/>
  </p:clrMapOvr>
</p:notes>
</file>

<file path=ppt/notesSlides/notesSlide5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요약은 한 문장으로 압축해 마무리하자. 좋은 SQL을 여러 번 부르면 나쁜 시스템이 된다. 이 장이 다른 장과 다른 점은 고칠 대상이 SQL 텍스트가 아니라 그것을 부르는 코드였다는 것이고, 그래서 튜닝의 무대가 DB 안에서 애플리케이션까지 넓어졌다는 것이다. 다음 장으로 넘어가기 전에 학습자 각자에게 자기 프로젝트에서 목록 화면 하나를 떠올려 보고, 그 화면이 SQL 몇 건을 발생시키는지 세어 보라는 과제를 던지면 이 장의 내용이 현장으로 옮겨 간다.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255520806"/>
      </p:ext>
    </p:extLst>
  </p:cSld>
  <p:clrMapOvr>
    <a:masterClrMapping/>
  </p:clrMapOvr>
</p:notes>
</file>

<file path=ppt/notesSlides/notesSlide5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실습 열 문항은 계산 문제와 설명 문제가 섞여 있다. 계산은 나눗셈 한 번이면 끝나지만 채점의 핵심은 그 값이 왜 그렇게 나오는지를 구조로 설명했는가에 있다. 특히 3번과 6번은 예측과 판단을 요구하는 최상 난도 문항이라 시간을 넉넉히 주는 편이 좋다. 10번은 정답이 정해져 있지 않으니 학습자들의 답을 모아 함께 목록을 만들어 보면 서로의 현장 경험이 공유되어 강의 마무리로 특히 좋다. 시간이 부족하다면 1·2·5번을 필수로 두고 나머지를 과제로 돌리는 배분을 권한다. 이 세 문항이 계산과 관찰, 진단 도구라는 이 장의 뼈대를 모두 담고 있기 때문이다.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730636862"/>
      </p:ext>
    </p:extLst>
  </p:cSld>
  <p:clrMapOvr>
    <a:masterClrMapping/>
  </p:clrMapOvr>
</p:notes>
</file>

<file path=ppt/notesSlides/notesSlide6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브리지는 Tuning 1장 도입 전에 20분 안에 끝냅니다. 목적은 새 지식을 넣는 것이 아니라 지난 나흘 동안 손에 익은 측정 습관을 그대로 들고 층위만 한 단계 올리는 것입니다. 수강생이 Day 1 에 배운 DBMS_XPLAN 의 Buffers 열과 Day 6 에 배울 DB Time 이 서로 다른 세계의 숫자가 아니라 같은 자원 소비를 다른 해상도로 본 것임을 납득하면 이 브리지의 역할은 끝납니다.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454316128"/>
      </p:ext>
    </p:extLst>
  </p:cSld>
  <p:clrMapOvr>
    <a:masterClrMapping/>
  </p:clrMapOvr>
</p:notes>
</file>

<file path=ppt/notesSlides/notesSlide6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지난 나흘의 종착점은 실행계획이 바뀌고 Buffers 가 3,091 에서 15 로 줄어든 것이었습니다. 그런데 실무에서 그 SQL 을 고친 뒤에도 "여전히 느리다" 는 전화가 오는 경우가 있습니다. 그때 필요한 것이 오른쪽 열입니다. 대상이 한 문장에서 인스턴스 전체로 넓어지고, 측정 단위가 논리 읽기 횟수에서 시간으로 바뀝니다. 도구도 바뀌지만 원리는 같습니다. 무엇이 자원을 얼마나 쓰는지 수치로 재고, 조치 전후를 비교합니다.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646961175"/>
      </p:ext>
    </p:extLst>
  </p:cSld>
  <p:clrMapOvr>
    <a:masterClrMapping/>
  </p:clrMapOvr>
</p:notes>
</file>

<file path=ppt/notesSlides/notesSlide6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같은 신고를 받고도 두 층위의 질문이 다릅니다. SQL 층위에서는 그 SQL 의 실행계획과 Buffers 를 봅니다. 인스턴스 층위에서는 그 시각 DB Time 이 얼마나 늘었고 그 증가분이 CPU 인지 대기인지 봅니다. 두 답이 어긋날 때, 즉 SQL 의 실행계획과 Buffers 는 어제와 같은데 응답이 느려졌을 때 원인은 SQL 밖에 있습니다. 이 과정의 뒷부분은 그 "밖" 을 다루는 방법입니다. 순서는 항상 넓은 층위에서 좁혀 들어가는 쪽이며, 거꾸로 가면 멀쩡한 SQL 을 손대는 실수를 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429404036"/>
      </p:ext>
    </p:extLst>
  </p:cSld>
  <p:clrMapOvr>
    <a:masterClrMapping/>
  </p:clrMapOvr>
</p:notes>
</file>

<file path=ppt/notesSlides/notesSlide6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세 가지 징후를 V$ 뷰로 확인하는 방법이 다음 슬라이드입니다. 첫째, 실행계획도 Buffers 도 그대로인데 Elapsed 만 늘었다면 읽기 한 번당 시간이 늘어난 것이므로 SQL 문제가 아닙니다. 둘째, 내 SQL 의 총 소요 시간이 인스턴스 DB Time 의 몇 퍼센트도 되지 않는다면 그 SQL 을 아무리 고쳐도 시스템은 달라지지 않습니다. 셋째, 특정 시간대에만 느리다면 SQL 이 아니라 그 시간에 함께 도는 무언가가 원인입니다. 어느 경우든 조치 전 상태를 캡처하는 것이 먼저이며, 이것은 3장에서 절차로 배웁니다.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801098836"/>
      </p:ext>
    </p:extLst>
  </p:cSld>
  <p:clrMapOvr>
    <a:masterClrMapping/>
  </p:clrMapOvr>
</p:notes>
</file>

<file path=ppt/notesSlides/notesSlide6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코드는 지난 나흘 동안 튜닝한 SQL 에 주석 태그를 붙여 두었다면 그대로 돌릴 수 있습니다. V$SQL 의 elapsed_time 은 마이크로초 단위 누적값이고 V$SYS_TIME_MODEL 의 DB time 도 마이크로초 누적값이므로 둘 다 백만으로 나눠 초로 맞춥니다. 둘을 나눈 비율이 한 자리 퍼센트에 그친다면 그 SQL 은 시스템 관점에서 주범이 아닙니다. 다만 둘 다 기동 이후 누적값이라 정확한 비중은 아니며, 구간을 잘라 델타로 재는 방법은 5장 실습 05 와 06 에서 배웁니다. 여기서는 방향만 잡습니다.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847359097"/>
      </p:ext>
    </p:extLst>
  </p:cSld>
  <p:clrMapOvr>
    <a:masterClrMapping/>
  </p:clrMapOvr>
</p:notes>
</file>

<file path=ppt/notesSlides/notesSlide6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한 장이 남은 엿새의 지도입니다. 1번에서 3번까지는 범위를 좁히는 과정이고, 4번에서 지난 나흘의 기술로 돌아옵니다. 5번은 손으로 한 튜닝을 어드바이저와 대조해 빠뜨린 것이 없는지 확인하는 단계이고, 6번은 조치가 효과가 있었음을 시스템 수준에서 증명하는 단계입니다. 7번은 SQL 을 고쳐도 남는 문제, 즉 메모리와 I/O 구성의 영역입니다. 수강생에게 이 순서를 외우게 하기보다, 매일 수업 시작에 오늘이 이 지도의 어디인지 짚어 주십시오.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781853987"/>
      </p:ext>
    </p:extLst>
  </p:cSld>
  <p:clrMapOvr>
    <a:masterClrMapping/>
  </p:clrMapOvr>
</p:notes>
</file>

<file path=ppt/notesSlides/notesSlide6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SQL 부문에서는 실행계획이라는 객관적 근거가 있어서 오판이 적었습니다. 인스턴스 부문에는 비율과 권고라는 그럴듯한 숫자가 많아 오판이 늘어납니다. 히트율은 병목을 숨기고, 권고는 가설일 뿐이며, 캡처 없는 조치는 증명이 안 됩니다. 지난 나흘의 습관, 즉 근거를 보기 전에 손대지 않는 태도를 그대로 가져오면 이 세 함정은 피할 수 있습니다. 세 함정은 각각 17장, 9장, 3장에서 실습으로 직접 재현하므로 여기서는 이름만 기억하게 하십시오.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86650778"/>
      </p:ext>
    </p:extLst>
  </p:cSld>
  <p:clrMapOvr>
    <a:masterClrMapping/>
  </p:clrMapOvr>
</p:notes>
</file>

<file path=ppt/notesSlides/notesSlide6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지난 나흘에 쓴 도구는 전부 기본 기능이었지만 오늘부터 쓰는 도구 중 상당수는 유료 팩입니다. 이 사실을 브리지에서 한 문장으로 먼저 말하고, 이어지는 1장의 라이선스 절에서 DBA_FEATURE_USAGE_STATISTICS 와 CONTROL_MANAGEMENT_PACK_ACCESS 로 확인하는 방법을 실습합니다. 수강생 중 실무 환경이 Standard Edition 이거나 팩 미보유인 경우가 있으면 지금 손을 들게 해서, 그 사람들에게는 각 장의 대안 경로가 본편임을 미리 알려 두십시오.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52988989"/>
      </p:ext>
    </p:extLst>
  </p:cSld>
  <p:clrMapOvr>
    <a:masterClrMapping/>
  </p:clrMapOvr>
</p:notes>
</file>

<file path=ppt/notesSlides/notesSlide6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응답시간은 하나의 요청이 처리되는 데 걸린 시간으로, 오라클 내부에서는 CPU를 실제로 쓴 서비스 시간과 자원을 기다린 대기 시간의 합으로 나뉩니다. 사용자가 느끼는 성능은 거의 응답시간이며, 인스턴스 튜닝의 대부분은 대기 시간을 줄이는 작업입니다. 목표를 세울 때 평균을 쓰면 소수의 느린 요청이 숨겨지므로, 95·99 백분위수로 표현해야 실제 사용자 경험에 가깝다는 점을 강조합니다. 평균 0.2초라도 95퍼센타일이 3초라면 스무 명 중 한 명은 매번 3초를 기다린다는 뜻이며, 이 함정을 학습자에게 반드시 짚어 줍니다.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136190488"/>
      </p:ext>
    </p:extLst>
  </p:cSld>
  <p:clrMapOvr>
    <a:masterClrMapping/>
  </p:clrMapOvr>
</p:notes>
</file>

<file path=ppt/notesSlides/notesSlide6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처리량은 단위 시간당 완료한 작업의 양으로, 초당 트랜잭션 수나 시간당 처리 건수로 표현합니다. 개별 요청의 속도보다 정해진 시간 안에 얼마나 많이 처리하느냐가 중요한 배치나 데이터 웨어하우스 워크로드에서 핵심 지표가 됩니다. V$SYSMETRIC의 User Transaction Per Sec와 Executions Per Sec가 대표적인 처리량 메트릭이며, 이 값들은 부하가 있어야 의미 있는 숫자로 나타납니다.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065941852"/>
      </p:ext>
    </p:extLst>
  </p:cSld>
  <p:clrMapOvr>
    <a:masterClrMapping/>
  </p:clrMapOvr>
</p:notes>
</file>

<file path=ppt/notesSlides/notesSlide6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응답시간과 처리량은 자주 반대로 움직입니다. 배열 크기를 키워 한 번에 많이 처리하면 처리량은 오르지만 개별 요청의 응답시간은 길어질 수 있고, 반대로 한 세션에 자원을 몰아주면 그 요청은 빨라져도 전체 처리량은 떨어집니다. 그래서 목표는 워크로드 성격에 맞춰 우선순위를 정해야 합니다. 온라인 트랜잭션은 응답시간을, 배치와 DW는 처리량을 우선으로 잡는 것이 일반적입니다. 둘 다 최고로 만들 수는 없다는 점을 인정하고, 무엇을 우선할지 먼저 합의하는 것이 목표 설정의 출발점임을 강조합니다.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059717249"/>
      </p:ext>
    </p:extLst>
  </p:cSld>
  <p:clrMapOvr>
    <a:masterClrMapping/>
  </p:clrMapOvr>
</p:notes>
</file>

<file path=ppt/notesSlides/notesSlide6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실측에서 대부분의 값이 0인 것은 오류가 아니라 캡처 순간 부하가 없었기 때문입니다. Average Active Sessions가 0이면 활성 세션이 사실상 없다는 뜻이고, 그러니 Response Time Per Txn도 0으로 나옵니다. 여기서 1장의 핵심 교육 포인트를 짚어야 합니다. 성능 지표는 부하가 있어야 나타나며, 조회만 하는 실습으로는 성능 데이터를 만들 수 없습니다. 그래서 5장부터 공용 부하 스크립트로 실제 부하를 유발한 뒤 지표를 측정합니다.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120344834"/>
      </p:ext>
    </p:extLst>
  </p:cSld>
  <p:clrMapOvr>
    <a:masterClrMapping/>
  </p:clrMapOvr>
</p:notes>
</file>

<file path=ppt/notesSlides/notesSlide6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사전 예방적 모니터링은 정해진 주기로 성능 통계를 관찰해 시스템 동작과 자원 사용이 달라졌는지 확인하는 활동으로, 대개 구성 변경으로 이어지지 않고 심각한 징후가 보일 때만 개입합니다. 반드시 경계할 것은 성능 저하가 없는데도 더 빨라지지 않을까 하며 파라미터를 만지작거리는 행위입니다. 이는 사전 예방이 아니라 위험한 도박이며, 근거 없이 건드리면 오히려 성능이 떨어질 수 있습니다. 모니터링은 대개 용량 계획의 일부로, 추세를 읽어 미래의 병목을 미리 대비하는 것이 본래 목적임을 함께 설명합니다.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377313352"/>
      </p:ext>
    </p:extLst>
  </p:cSld>
  <p:clrMapOvr>
    <a:masterClrMapping/>
  </p:clrMapOvr>
</p:notes>
</file>

<file path=ppt/notesSlides/notesSlide6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성능 문제는 대개 특정 자원의 과다 사용에서 오고, 그 자원이 병목입니다. 병목 제거형 튜닝은 가장 큰 병목 하나를 찾아 영향을 줄이거나 없애는 일이며, 핵심은 한 번에 하나만 건드리는 것입니다. 여러 병목을 동시에 손대면 무엇이 효과였는지 알 수 없습니다. 병목은 애플리케이션, 오라클 구성, 호스트 하드웨어 세 곳 중 하나에서 고칠 수 있으며, 가장 효과적인 해법은 대개 애플리케이션을 바꾸는 것입니다.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468003262"/>
      </p:ext>
    </p:extLst>
  </p:cSld>
  <p:clrMapOvr>
    <a:masterClrMapping/>
  </p:clrMapOvr>
</p:notes>
</file>

<file path=ppt/notesSlides/notesSlide6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성능 튜닝에서 가장 흔한 함정은 증상을 문제 자체로 착각하는 것입니다. 물리 I/O가 느린 것은 디스크 탓일 수도 있지만 나쁜 SQL이 불필요한 I/O를 대량 유발한 결과일 수도 있고, 래치 경합은 인스턴스 재구성보다 애플리케이션 변경으로 풀리는 경우가 많습니다. 증상만 보고 조치하면 엉뚱한 곳을 고치게 됩니다. 그래서 이 과정은 대기 이벤트에서 출발해 세그먼트·세션·SQL로 원인을 좁혀 들어가는 절차를 반복 훈련합니다.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305414315"/>
      </p:ext>
    </p:extLst>
  </p:cSld>
  <p:clrMapOvr>
    <a:masterClrMapping/>
  </p:clrMapOvr>
</p:notes>
</file>

<file path=ppt/notesSlides/notesSlide6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사전 예방적 모니터링은 대개 용량 계획의 일부이고, 그 바탕에 확장성 개념이 있습니다. 확장성은 자원을 늘린 만큼 처리 능력이 비례해 느는 성질인데, 내부 경합 때문에 워크로드를 두 배로 늘리면 자원 사용이 두 배를 넘기도 합니다. 확장성을 떨어뜨리는 가장 큰 원인은 애플리케이션 설계이며, 설계 단계에서 심어진 한계는 나중에 하드웨어를 붙여도 넘지 못합니다. 그래서 병목이 DB 안인지 밖인지부터 가르는 진단이 중요합니다.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622645630"/>
      </p:ext>
    </p:extLst>
  </p:cSld>
  <p:clrMapOvr>
    <a:masterClrMapping/>
  </p:clrMapOvr>
</p:notes>
</file>

<file path=ppt/notesSlides/notesSlide6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DB Time은 데이터베이스가 사용자 요청을 처리하기 위해 소비한 총 시간으로, 모든 활성 세션이 CPU와 대기에 쓴 시간을 합한 값입니다. 벽시계 시간이 아니라 세션 시간의 합이라는 점이 중요합니다. 성능을 개선한다는 것은 결국 같은 워크로드 처리에 드는 DB Time을 줄이는 것과 같고, 느린 SQL·잠금 경합·I/O 지연처럼 성격이 다른 문제도 DB Time의 몇 퍼센트라는 하나의 척도로 환산되므로 비교하고 우선순위를 매길 수 있습니다. 그래서 공통 화폐라 부릅니다.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486756102"/>
      </p:ext>
    </p:extLst>
  </p:cSld>
  <p:clrMapOvr>
    <a:masterClrMapping/>
  </p:clrMapOvr>
</p:notes>
</file>

<file path=ppt/notesSlides/notesSlide6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실측이 DB Time = DB CPU + 대기라는 등식의 근거입니다. DB time 49,551,722를 DB CPU 8,662,345로 나누면 CPU가 약 17.5퍼센트이고, 나머지 82.5퍼센트는 무언가를 기다린 대기 시간입니다. 만약 이 인스턴스에 성능 문제가 있었다면 82.5퍼센트를 차지하는 대기가 어느 대기 클래스에 속하는지부터 파고들어야 합니다. 단위는 마이크로초 누적값이며, 실제 판단은 두 시점의 델타로 해야 한다는 점을 함께 강조합니다. 상세는 5장에서 다룹니다.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731745985"/>
      </p:ext>
    </p:extLst>
  </p:cSld>
  <p:clrMapOvr>
    <a:masterClrMapping/>
  </p:clrMapOvr>
</p:notes>
</file>

<file path=ppt/notesSlides/notesSlide6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Average Active Sessions는 어떤 구간의 DB Time을 그 구간의 벽시계 경과 시간으로 나눈 값으로, 평균적으로 몇 개의 세션이 동시에 데이터베이스 안에서 일하고 있었는지를 뜻합니다. 이 값을 호스트의 CPU 코어 수와 비교하면 시스템이 얼마나 붐비는지 직관적으로 알 수 있습니다. 코어가 4개인데 값이 8이면 CPU 감당량의 두 배가 경쟁하고 있다는 신호입니다. 앞서 실측에서 이 값이 0이었던 것은 캡처 순간 아무도 일하지 않았다는 의미입니다.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96884227"/>
      </p:ext>
    </p:extLst>
  </p:cSld>
  <p:clrMapOvr>
    <a:masterClrMapping/>
  </p:clrMapOvr>
</p:notes>
</file>

<file path=ppt/notesSlides/notesSlide6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 뷰는 모든 오라클 성능 도구가 참조하는 원천 정보로, 인스턴스 기동 시 초기화되는 메모리 구조를 그대로 보여 줍니다. 라이선스가 필요 없고 실시간 진단에 강합니다. 실시간 진단은 활성 세션에서 출발해 무엇을 기다리는지, 어떤 SQL을 돌리는지, 어느 세그먼트를 건드리는지로 좁혀 가는 세션-대기-SQL-세그먼트 경로를 따릅니다. 약점은 과거를 못 본다는 것과 값이 대부분 누적이라 두 시점의 델타로 봐야 의미가 있다는 점입니다.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671287396"/>
      </p:ext>
    </p:extLst>
  </p:cSld>
  <p:clrMapOvr>
    <a:masterClrMapping/>
  </p:clrMapOvr>
</p:notes>
</file>

<file path=ppt/notesSlides/notesSlide6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AWR은 휘발성인 V$ 통계를 주기적으로 스냅샷으로 떠서 SYSAUX에 영구 저장하는 성능의 기억 장치입니다. 기본 60분마다 스냅샷을 만들고 8일간 보존하며, 두 스냅샷 사이 구간의 성능을 요약해 보고서로 뽑습니다. 실습 DB에는 스냅샷 153개가 쌓여 있었습니다. 보존 구간 안의 문제는 사후에 재구성할 수 있지만 그 밖의 과거는 진단할 수 없어 중요한 구간은 베이스라인으로 보호해야 합니다. AWR과 DBA_HIST 뷰는 Diagnostics Pack 라이선스가 필요합니다.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20239789"/>
      </p:ext>
    </p:extLst>
  </p:cSld>
  <p:clrMapOvr>
    <a:masterClrMapping/>
  </p:clrMapOvr>
</p:notes>
</file>

<file path=ppt/notesSlides/notesSlide6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ADDM은 AWR이 모은 데이터를 자동 분석해 병목을 진단하고 개선안을 제시하는 자가 진단 엔진으로, DB Time을 하향식으로 분해하며 근본 원인을 좁혀 갑니다. 결과는 발견 사항, 권고, 근거로 구조화되고 각 발견에 예상 이득이 DB Time 비율로 표시됩니다. 무엇을 봐야 할지 모를 때 출발점으로 쓰지만, 권고는 결론이 아니라 가설이라는 점을 강조합니다. 영향도가 큰 발견부터 처리하고 근거를 확인한 뒤 채택해야 하며, 이는 이 과정이 경계하는 권고 맹신과 직결됩니다.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137283957"/>
      </p:ext>
    </p:extLst>
  </p:cSld>
  <p:clrMapOvr>
    <a:masterClrMapping/>
  </p:clrMapOvr>
</p:notes>
</file>

<file path=ppt/notesSlides/notesSlide6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ASH는 활성 세션의 상태를 기본 1초 주기로 샘플링해 순환 버퍼에 저장합니다. AWR이 60분 단위의 거시적 요약이라면 ASH는 초 단위의 미시적 순간 포착으로, AWR 보고서의 평균에 묻혀 보이지 않는 짧은 스파이크성 문제를 잡아낼 때 결정적입니다. 특정 10분 구간을 세션·SQL·대기 축으로 재구성할 수 있습니다. ASH와 V$ACTIVE_SESSION_HISTORY, 보존본인 DBA_HIST_ACTIVE_SESS_HISTORY도 Diagnostics Pack 라이선스가 필요합니다.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92784442"/>
      </p:ext>
    </p:extLst>
  </p:cSld>
  <p:clrMapOvr>
    <a:masterClrMapping/>
  </p:clrMapOvr>
</p:notes>
</file>

<file path=ppt/notesSlides/notesSlide6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ADDM이 무엇이 문제인가를 진단한다면 어드바이저는 어떻게 고칠 것인가를 구체적으로 제시합니다. SQL Tuning Advisor는 개별 SQL을 분석해 프로파일·인덱스·재작성을 권고하고, SQL Access Advisor는 인덱스와 구체화 뷰를 권고합니다. 실습 DB에는 열두 개 어드바이저가 등록돼 있었습니다. 이 중 SQL Tuning·Access Advisor와 SQL Performance Analyzer는 Tuning Pack이 필요하고, Segment·Undo·Statistics 어드바이저는 별도 팩 없이 쓸 수 있습니다. 어드바이저 프레임워크는 15장에서 다룹니다.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006313784"/>
      </p:ext>
    </p:extLst>
  </p:cSld>
  <p:clrMapOvr>
    <a:masterClrMapping/>
  </p:clrMapOvr>
</p:notes>
</file>

<file path=ppt/notesSlides/notesSlide6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다섯 도구는 경쟁 관계가 아니라 층위가 다른 협력 관계입니다. V$가 실시간 원천을 주고, AWR이 보존하며, ADDM이 자동 분석하고, ASH가 초 단위 빈틈을 메우고, 어드바이저가 조치를 제안합니다. 그래서 어떤 도구가 제일 좋은가가 아니라 지금 내 문제의 성격에 맞는 도구가 무엇인가를 물어야 합니다. 상시 문제는 AWR, 실시간은 V$, 스파이크는 ASH라는 대응을 반사적으로 떠올릴 수 있어야 하며, SQL 한 문장 수정으로 결론 나면 SQL 튜닝 과정으로 넘깁니다.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028919083"/>
      </p:ext>
    </p:extLst>
  </p:cSld>
  <p:clrMapOvr>
    <a:masterClrMapping/>
  </p:clrMapOvr>
</p:notes>
</file>

<file path=ppt/notesSlides/notesSlide6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라이선스 경계를 아는 것은 기술이 아니라 직업 윤리이자 법적 리스크 관리의 문제입니다. AWR·ADDM·ASH는 Diagnostics Pack, SQL Tuning·Access Advisor와 SPA는 Tuning Pack에 속하며 Tuning Pack은 Diagnostics Pack을 선행 조건으로 합니다. V$ 뷰와 Statspack, 그리고 Segment·Undo·Statistics 어드바이저는 별도 팩이 필요 없습니다. 오라클은 사용량 감사를 수행하며 그때 기능 사용 통계 뷰가 근거가 되므로, 무심코 실행한 awrrpt.sql 한 번이 유상 기능 사용으로 잡힐 수 있습니다.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643412941"/>
      </p:ext>
    </p:extLst>
  </p:cSld>
  <p:clrMapOvr>
    <a:masterClrMapping/>
  </p:clrMapOvr>
</p:notes>
</file>

<file path=ppt/notesSlides/notesSlide6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초기화 파라미터는 인스턴스에서 어떤 관리 팩 기능을 쓸 수 있는지 선언하며 값은 NONE, DIAGNOSTIC, DIAGNOSTIC+TUNING 세 가지입니다. 실습 DB는 DIAGNOSTIC+TUNING이라 두 팩 기능을 모두 쓸 수 있게 선언돼 있습니다. 반드시 주의할 점은 이 값이 켜져 있다는 사실이 곧 라이선스를 보유했다는 뜻은 아니라는 것입니다. 파라미터는 사용 여부를 선언할 뿐이고 실제 계약은 별개이므로, 실무에서는 계약한 팩과 이 값이 일치하는지 대조해야 합니다. 라이선스가 없으면 NONE으로 두는 것이 안전합니다.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2178603"/>
      </p:ext>
    </p:extLst>
  </p:cSld>
  <p:clrMapOvr>
    <a:masterClrMapping/>
  </p:clrMapOvr>
</p:notes>
</file>

<file path=ppt/notesSlides/notesSlide6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이미 어떤 관리 팩 기능을 실제로 썼는지는 DBA_FEATURE_USAGE_STATISTICS로 확인합니다. 오라클이 기본 주 1회 사용 여부를 감지해 기록하는 뷰로, 라이선스 준수 점검에서 자주 쓰입니다. 실측에서는 Automatic SQL Tuning Advisor만 2회 감지됐고 마지막 사용이 2026-08-21이었습니다. 이 기능은 Tuning Pack에 속하므로 만약 이 환경에 Tuning Pack 라이선스가 없었다면 이 두 번의 감지가 위반의 증거가 됩니다. 나머지는 0으로 아직 사용 이력이 없습니다. 무심코 쓴 유상 기능을 사후에 드러내는 첫 조회입니다.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350645241"/>
      </p:ext>
    </p:extLst>
  </p:cSld>
  <p:clrMapOvr>
    <a:masterClrMapping/>
  </p:clrMapOvr>
</p:notes>
</file>

<file path=ppt/notesSlides/notesSlide6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Diagnostics Pack이 없다고 진단을 포기할 필요는 없습니다. 원천 데이터는 언제나 V$에 있기 때문입니다. AWR 대신 무상 도구인 Statspack으로 스냅샷과 보고서를 얻을 수 있고, ADDM·ASH가 보여 주는 것도 V$ 뷰를 직접 조회하면 상당 부분 재현됩니다. 핵심은 무엇과 무엇을 비교해 무엇을 판정하는가입니다. 누적값인 V$SYS_TIME_MODEL이나 V$SYSSTAT을 구간 시작과 끝에서 두 번 조회해 델타를 계산하면 AWR과 같은 구간 값이 됩니다. 라이선스 유무는 얼마나 편하게 자동으로 보느냐의 차이일 뿐 원리와 원천은 같습니다.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838629205"/>
      </p:ext>
    </p:extLst>
  </p:cSld>
  <p:clrMapOvr>
    <a:masterClrMapping/>
  </p:clrMapOvr>
</p:notes>
</file>

<file path=ppt/notesSlides/notesSlide6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튜닝 대상을 고르려면 어떤 SQL이 부하를 많이 쓰는지부터 봐야 합니다. 맨 위 SQL은 200회 실행되며 총 618,000개 블록을 읽었고 실행당 3,090개를 읽습니다. 이것을 대상으로 삼는다면 목표는 실행당 논리 읽기를 3,090에서 목표값으로 줄인다처럼 씁니다. 절대 수치를 그대로 목표로 박지 않는 이유는 실행 횟수·데이터량·캐시 상태가 환경마다 다르기 때문입니다. 그래서 무엇을, 무엇과 비교해, 어느 수준으로 낮춘다는 구조로 서술하고 재측정 때 같은 방식으로 계산해 판정합니다.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207011655"/>
      </p:ext>
    </p:extLst>
  </p:cSld>
  <p:clrMapOvr>
    <a:masterClrMapping/>
  </p:clrMapOvr>
</p:notes>
</file>

<file path=ppt/notesSlides/notesSlide6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튜닝 목표는 대상 업무 선정, 현재값 측정, 목표값 설정, 판정 기준 명시의 네 단계로 수치화합니다. 목표는 반드시 응답시간이나 처리량 같은 측정 가능한 양으로 표현해야 하며 빠르게나 개선처럼 판정 불가능한 표현을 쓰면 안 됩니다. 목표에는 기준선이 함께 있어야 합니다. 정상일 때 값을 모르면 느려졌다도 개선됐다도 증명할 수 없기 때문입니다. 한 가지 경계선은 SQL 한 문장을 어떻게 고쳐 쓸 것인가로 결론 나면 거기서 멈추고 SQL 튜닝 과정으로 넘긴다는 것입니다.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215837700"/>
      </p:ext>
    </p:extLst>
  </p:cSld>
  <p:clrMapOvr>
    <a:masterClrMapping/>
  </p:clrMapOvr>
</p:notes>
</file>

<file path=ppt/notesSlides/notesSlide6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버퍼 캐시 히트율이 99퍼센트라고 시스템이 건강한 것은 아닙니다. 비효율적인 SQL이 같은 블록을 몇 번이고 다시 읽으면 논리 읽기가 폭증하고 그 대부분이 캐시에서 처리되어 히트율은 오히려 올라갑니다. 히트율이 높은데 응답시간이 나쁜 상황을 17장에서 직접 만들어 봅니다. 히트율은 목표가 아니라 하나의 참고 지표일 뿐이며, 단일 지표 하나로 결론 내지 말고 항상 DB Time 비중과 함께 봐야 한다는 것이 이 과정의 태도입니다.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184627207"/>
      </p:ext>
    </p:extLst>
  </p:cSld>
  <p:clrMapOvr>
    <a:masterClrMapping/>
  </p:clrMapOvr>
</p:notes>
</file>

<file path=ppt/notesSlides/notesSlide6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ADDM이나 어드바이저의 권고는 결론이 아니라 가설입니다. 영향도가 낮은 권고에 시간을 쓰거나 맥락을 무시하고 그대로 적용하면 오히려 해가 됩니다. 권고를 그대로 따르면 안 되는 사례를 9장과 15장에서 판별합니다. 권고는 왜 이 권고가 나왔는가라는 근거와 이 권고가 내 상황에 맞는가를 검토한 뒤에만 채택해야 합니다. 어드바이저는 강력한 도구지만 최종 판단의 책임은 언제나 사람에게 있다는 점을 첫 장부터 분명히 해 둡니다.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566485527"/>
      </p:ext>
    </p:extLst>
  </p:cSld>
  <p:clrMapOvr>
    <a:masterClrMapping/>
  </p:clrMapOvr>
</p:notes>
</file>

<file path=ppt/notesSlides/notesSlide6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조치 전 상태를 캡처하지 않은 튜닝은 성공도 실패도 증명할 수 없습니다. 이 과정의 모든 실습 트랜스크립트는 조치 전 상태, 조치, 조치 후 상태의 3단 캡처를 강제합니다. 성능 실습은 전후 비교가 없으면 학습이 성립하지 않기 때문입니다. 세 가지 경계는 서로 다른 얼굴을 하고 있지만 뿌리는 같습니다. 모두 내가 직접 측정하고 판정하지 않고 단일 지표나 남의 결론에 기댄다는 하나의 잘못입니다. 한 번에 하나만 바꾸고 같은 지표를 같은 방식으로 재측정하는 규율이 답입니다.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297332872"/>
      </p:ext>
    </p:extLst>
  </p:cSld>
  <p:clrMapOvr>
    <a:masterClrMapping/>
  </p:clrMapOvr>
</p:notes>
</file>

<file path=ppt/notesSlides/notesSlide6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확장성은 자원을 늘린 만큼 처리 능력이 비례해 늘어나는 성질이다. 워크로드를 두 배로 늘렸을 때 자원도 대략 두 배만 쓰면 확장성이 좋은 것이다. 처리량이 CPU 수에 정확히 비례하는 선형 확장성은 이상적 상태일 뿐 현실에서는 내부 경합 때문에 불가능하다. 그러나 설계와 구현을 최대한 확장 가능하게 만들면 하드웨어 증설과 CPU 발전만으로 현재와 미래의 성능 목표를 달성할 수 있다. 특히 인터넷 시대 애플리케이션은 동시 사용자 수를 예측하기 어렵고 개발·테스트 시간이 짧아 확장성 확보가 더욱 중요하다.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716057848"/>
      </p:ext>
    </p:extLst>
  </p:cSld>
  <p:clrMapOvr>
    <a:masterClrMapping/>
  </p:clrMapOvr>
</p:notes>
</file>

<file path=ppt/notesSlides/notesSlide6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선형 확장을 막는 요소는 여럿이지만 오라클 성능 그룹의 경험상 애플리케이션 설계가 확장성에 가장 큰 영향을 준다. 나쁜 스키마 설계는 확장되지 않는 비싼 SQL을 낳고, 나쁜 트랜잭션 설계는 잠금과 직렬화 문제를, 나쁜 커넥션 관리는 나쁜 응답시간과 불안정을 낳는다. 물리적 구현도 약한 고리가 될 수 있다. 하드웨어와 소프트웨어의 한계도 원인이지만 그것들은 상대적으로 통제하기 쉽다. 통제하기 어려우면서 영향이 큰 것이 설계이므로, 이 장의 나머지는 커넥션과 커서 관리라는 설계 문제를 정량적으로 다룬다.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826924605"/>
      </p:ext>
    </p:extLst>
  </p:cSld>
  <p:clrMapOvr>
    <a:masterClrMapping/>
  </p:clrMapOvr>
</p:notes>
</file>

<file path=ppt/notesSlides/notesSlide6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애플리케이션이 어떤 시스템 자원을 소진해 워크로드를 더 늘려도 처리량이 늘지 않는 지점에 도달하면 그 애플리케이션은 확장 불가라고 한다. 이런 애플리케이션은 처리량이 고정되고 응답시간이 나빠진다. 대량 트랜잭션 중의 전체 스캔이 I/O 부족을 부르거나 과도한 네트워크 요청이 병목을 만드는 것이 자원 고갈의 전형이다. 워크로드 성장 곡선에서 수요는 가속하며 늘어나는데, 설계 오류가 있으면 어느 순간 구현이 최대치에 걸려 하드웨어를 더해도 늘지 않는다. 그 벽은 부하가 닿기 전까지 보이지 않아 잠복한 시한폭탄과 같다.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750369383"/>
      </p:ext>
    </p:extLst>
  </p:cSld>
  <p:clrMapOvr>
    <a:masterClrMapping/>
  </p:clrMapOvr>
</p:notes>
</file>

<file path=ppt/notesSlides/notesSlide6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확장성은 용량 계획과 맞닿아 있다. 사전 예방적 모니터링은 대개 용량 계획의 일부로 자원 소비가 어떻게 늘고 있는지 추적해 언제 한계에 닿을지 예측한다. 그러나 아무리 정교한 용량 계획도 설계가 확장 불가라면 소용이 없다. 자원을 두 배 넣어도 처리량이 두 배가 되지 않는 시스템에서는 용량을 늘리는 것이 문제를 뒤로 미룰 뿐 풀지는 못한다. 그래서 이 장은 용량을 늘리는 법이 아니라 같은 용량으로 더 많은 일을 하는 법, 즉 확장 가능한 설계를 다룬다.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008429343"/>
      </p:ext>
    </p:extLst>
  </p:cSld>
  <p:clrMapOvr>
    <a:masterClrMapping/>
  </p:clrMapOvr>
</p:notes>
</file>

<file path=ppt/notesSlides/notesSlide6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파싱은 SQL 문장을 해석해 실행계획을 만드는 과정으로 문법 검사, 권한 검사, 실행계획 생성, 공유 풀 적재를 포함한다. 하드 파싱은 공유 풀에서 일치를 찾지 못해 모든 작업을 수행하므로 가장 자원을 많이 쓰고 확장성을 가장 해친다. 소프트 파싱은 일치를 찾은 경우로 성능에 낫지만, 여전히 문법·권한 검사로 자원을 쓰므로 이상적이지 않다. 그래서 진정한 목표는 파싱을 최소화해 SQL을 한 번 파싱하고 여러 번 실행하는 것이며, 이는 커서를 열고 재실행하는 것으로 이루어진다.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881833073"/>
      </p:ext>
    </p:extLst>
  </p:cSld>
  <p:clrMapOvr>
    <a:masterClrMapping/>
  </p:clrMapOvr>
</p:notes>
</file>

<file path=ppt/notesSlides/notesSlide6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하드 파싱이 확장성을 특히 심하게 해치는 이유는 직렬화 지점을 만들기 때문이다. 새 커서를 공유 풀에 적재하려면 라이브러리 캐시 래치와 뮤텍스를 획득해야 한다. 사용자가 한둘일 때는 비용이 눈에 띄지 않지만 수백 세션이 동시에 하드 파싱을 시도하면 같은 래치를 두고 경합이 벌어진다. 이 경합은 사용자 수에 선형이 아니라 그보다 가파르게 늘어 개발 땐 빨랐는데 오픈하니 죽는 현상을 만든다. 소프트 파싱조차 라이브러리 캐시를 탐색하며 래치를 잡으므로 목표는 파싱 자체를 없애는 것이다.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915034386"/>
      </p:ext>
    </p:extLst>
  </p:cSld>
  <p:clrMapOvr>
    <a:masterClrMapping/>
  </p:clrMapOvr>
</p:notes>
</file>

<file path=ppt/notesSlides/notesSlide6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리터럴 방식은 값이 바뀔 때마다 SQL 텍스트가 달라진다. 오라클은 텍스트가 조금이라도 다르면 다른 SQL로 보고 새 SQL_ID를 부여하므로, 값마다 새 커서가 만들어지고 그때마다 하드 파싱이 일어난다. 실습 데이터베이스에서 MEDICAL_CLAIMS를 병원 ID 리터럴로 바꿔 가며 조회한 뒤 V$SQL을 보면, 구조가 같은 SQL인데도 값마다 별도 커서로 갈라져 각 versions가 1인 커서가 수십 개 쌓인 것을 볼 수 있다. 이것이 리터럴이 만드는 커서 폭발이며 공유 풀 낭비와 라이브러리 캐시 래치 경합의 원인이다.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082244309"/>
      </p:ext>
    </p:extLst>
  </p:cSld>
  <p:clrMapOvr>
    <a:masterClrMapping/>
  </p:clrMapOvr>
</p:notes>
</file>

<file path=ppt/notesSlides/notesSlide6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같은 부하를 바인드 변수로 실행하면 결과가 완전히 달라진다. WL_01_parse.sql은 두 방식을 나란히 실행해 하드 파싱을 대조한다. 실측에서 리터럴 300회는 하드 파싱 델타가 300, 바인드 300회는 0이었다. 리터럴은 실행마다 새 커서를 만들어 파싱을 전부 다시 했고, 바인드는 최초 1회 파싱한 커서 하나를 300번 재사용했다. 실행한 일의 양은 두 방식이 같으므로 벌어진 시간 차이가 곧 파싱 비용이다. 라이브러리 캐시 실측에서 SQL AREA의 GETHITRATIO가 53.3%로 낮은 것도 리터럴 부하가 만든 재파싱의 흔적이다.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548612088"/>
      </p:ext>
    </p:extLst>
  </p:cSld>
  <p:clrMapOvr>
    <a:masterClrMapping/>
  </p:clrMapOvr>
</p:notes>
</file>

<file path=ppt/notesSlides/notesSlide6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리터럴이 항상 나쁜 것은 아니다. 값의 종류가 소수로 고정되어 있고 값에 따라 최적 실행계획이 크게 달라지는 편중 컬럼에서는 오히려 리터럴이 값별로 다른 계획을 얻게 해 유리할 수 있다. 진료비청구심사 스키마의 MEDICAL_CLAIMS는 HOSP_ID 1~50에 청구의 절반이 몰려 있는 편중 데이터를 가져 이런 판단이 실제로 문제가 되는 사례다. 그러나 병원 ID를 낱낱이 조회하는 경우처럼 값의 가짓수가 많고 계획이 사실상 같은 술어라면 리터럴은 백해무익하다. 원칙은 실행마다 달라지는 값은 바인드, 실행계획을 좌우하는 소수의 상수는 신중히다.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293891268"/>
      </p:ext>
    </p:extLst>
  </p:cSld>
  <p:clrMapOvr>
    <a:masterClrMapping/>
  </p:clrMapOvr>
</p:notes>
</file>

<file path=ppt/notesSlides/notesSlide6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가장 좋은 해법은 코드를 고쳐 바인드 변수를 쓰는 것이다. 그러나 소스를 손댈 수 없는 패키지 제품이라면 차선책이 CURSOR_SHARING이다. 기본값 EXACT는 텍스트가 정확히 같아야 공유하므로 리터럴은 그대로 하드 파싱된다. FORCE로 바꾸면 오라클이 리터럴을 시스템 생성 바인드 변수로 치환해 리터럴 SQL도 커서를 공유하게 만든다. 다만 FORCE는 히스토그램이 있어 값마다 계획이 달라져야 하는 컬럼에서 나쁜 계획을 고정할 수 있다. 그래서 임시방편일 뿐이며 근본 해법은 바인드 변수를 쓰도록 애플리케이션을 고치는 것이다.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568680952"/>
      </p:ext>
    </p:extLst>
  </p:cSld>
  <p:clrMapOvr>
    <a:masterClrMapping/>
  </p:clrMapOvr>
</p:notes>
</file>

<file path=ppt/notesSlides/notesSlide6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바인드 변수를 이미 쓰고 있다면 그 위에서 파싱 비용을 한 번 더 줄일 수 있다. 파싱 비용을 줄이는 세 단계는 이렇다. 1단계는 바인드 변수로 하드 파싱을 없애는 것, 2단계는 커서를 재사용해 소프트 파싱을 줄이는 것, 3단계는 SESSION_CACHED_CURSORS로 남은 소프트 파싱마저 캐시하는 것이다. 바인드 변수를 써도 커서를 닫았다가 다시 열면 소프트 파싱이 발생하는데, 이 파라미터가 자주 쓰는 커서를 세션별로 캐시해 그 소프트 파싱을 줄여 준다. session cursor cache hits 통계로 효과를 확인할 수 있으며, 대부분은 애플리케이션의 prepare와 execute 호출 패턴만으로 달성된다.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559337115"/>
      </p:ext>
    </p:extLst>
  </p:cSld>
  <p:clrMapOvr>
    <a:masterClrMapping/>
  </p:clrMapOvr>
</p:notes>
</file>

<file path=ppt/notesSlides/notesSlide6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오라클 성능 튜닝 가이드의 4-CPU OLTP 테스트는 파싱·커넥션 방식별 지원 가능한 사용자 수를 보여 준다. 파싱을 없애면 270명, 소프트 파싱만 해도 150명, 하드 파싱을 하면 60명, 트랜잭션마다 재접속하면 겨우 30명이다. 재접속은 하드 파싱보다도 나빠서 같은 하드웨어의 처리 능력을 9분의 1로 깎는다. 이 차이는 CPU 수가 늘수록 더 벌어진다. 하드웨어를 바꾸지 않고 애플리케이션의 접속·파싱 방식만 바로잡아도 같은 장비로 4배에서 9배 많은 사용자를 받을 수 있다는 것이 설계로 얻는 확장성의 실체다.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12235315"/>
      </p:ext>
    </p:extLst>
  </p:cSld>
  <p:clrMapOvr>
    <a:masterClrMapping/>
  </p:clrMapOvr>
</p:notes>
</file>

<file path=ppt/notesSlides/notesSlide6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해법은 커넥션 풀이다. 애플리케이션 서버가 미리 일정 수의 커넥션을 열어 두고 요청이 오면 빌려주고 끝나면 반납받아 재사용한다. 접속 비용을 요청마다 치르지 않고 기동 시 한 번만 치르는 것이다. 재접속이 특히 무서운 이유는 새 세션이 비어 있어 커서 캐시도 없으므로 접속 비용과 파싱 비용이 겹쳐서 오기 때문이다. 반대로 커넥션을 재사용하면 접속 비용을 아끼는 동시에 그 세션이 캐시한 커서까지 재사용해 파싱 비용도 함께 줄인다. 풀 크기도 설계 대상으로, 너무 작으면 대기가, 너무 크면 자원 낭비가 생긴다.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042089164"/>
      </p:ext>
    </p:extLst>
  </p:cSld>
  <p:clrMapOvr>
    <a:masterClrMapping/>
  </p:clrMapOvr>
</p:notes>
</file>

<file path=ppt/notesSlides/notesSlide6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접속을 반복하는 애플리케이션은 logons cumulative가 요청 수만큼 빠르게 증가한다. 반대로 커넥션을 재사용하는 애플리케이션은 이 값이 초기 풀 크기 수준에서 거의 늘지 않는다. 따라서 짧은 시간에 logons cumulative가 급증한다면 커넥션을 매 요청마다 새로 여는 설계를 의심해야 한다. 실습 3에서는 접속을 반복할 때와 재사용할 때 이 통계의 차이를 직접 관찰한다. 절대값이 아니라 전후 델타로 판단하는 것이 핵심이며, 이는 이 과정 전체가 강조하는 원칙이다.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23734400"/>
      </p:ext>
    </p:extLst>
  </p:cSld>
  <p:clrMapOvr>
    <a:masterClrMapping/>
  </p:clrMapOvr>
</p:notes>
</file>

<file path=ppt/notesSlides/notesSlide6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배열 처리는 결과를 주고받는 비용이다. arraysize는 클라이언트가 결과 행을 한 번에 몇 개씩 가져올지 결정한다. 작으면 서버와 클라이언트를 여러 번 왕복해야 하고 왕복마다 네트워크 지연과 논리 읽기가 발생한다. DML, 특히 INSERT에서 한 건씩 반복하는 것도 같은 문제이며 배열 인터페이스로 여러 행을 한 번에 보내야 한다. PL/SQL의 BULK COLLECT와 FORALL이 같은 원리다. 실제 데이터베이스 호출보다 데이터를 오가게 하는 데 더 많은 자원이 쓰이므로, 데이터 접근 호출은 비즈니스 로직 옆에 두는 것이 전체 트랜잭션 설계에 가장 좋다.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756475472"/>
      </p:ext>
    </p:extLst>
  </p:cSld>
  <p:clrMapOvr>
    <a:masterClrMapping/>
  </p:clrMapOvr>
</p:notes>
</file>

<file path=ppt/notesSlides/notesSlide6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왕복 횟수는 대략 전체 행 수를 arraysize로 나눈 값에 1을 더한 것이다. 10,000행 조회를 예로 들면 arraysize 15에서는 약 667회, 100으로 올리면 약 101회로 6분의 1이 된다. 왕복이 줄면 네트워크 대기뿐 아니라 같은 블록을 여러 왕복에 걸쳐 다시 방문하며 생기던 논리 읽기도 줄어든다. 다만 무한정 키우는 것이 답은 아니다. 값이 크면 클라이언트 페치 버퍼 메모리를 더 쓰고 첫 화면에 몇 행만 필요한 대화형 화면에서는 첫 응답이 늦어질 수 있다. 대량 배치·리포트에는 큰 값이, 첫 몇 행만 빠르게 보여 주는 OLTP 화면에는 작은 값이 맞는다.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713811026"/>
      </p:ext>
    </p:extLst>
  </p:cSld>
  <p:clrMapOvr>
    <a:masterClrMapping/>
  </p:clrMapOvr>
</p:notes>
</file>

<file path=ppt/notesSlides/notesSlide6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실습 4에서는 SQL*Plus의 SET ARRAYSIZE로 값을 바꿔 가며 autotrace의 SQL*Net roundtrips와 consistent gets가 어떻게 달라지는지 관찰한다. arraysize를 15에서 1000으로 올리면 CLAIM_DETAILS처럼 대량 행을 반환하는 조회에서 왕복 횟수가 크게 줄고 논리 읽기도 함께 줄어든다. 주의할 것은 상위 대기가 SQL*Net message from client로 보인다고 곧 네트워크 문제로 단정하지 않는 것이다. arraysize가 작아 왕복을 너무 많이 한 것이 원인일 수 있으며, 이 경우 회선이 아니라 arraysize를 키우는 것이 해법이다. 이 오해 사례는 20장에서 다시 다룬다.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517129582"/>
      </p:ext>
    </p:extLst>
  </p:cSld>
  <p:clrMapOvr>
    <a:masterClrMapping/>
  </p:clrMapOvr>
</p:notes>
</file>

<file path=ppt/notesSlides/notesSlide6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바인드 변수·커넥션·배열 처리 외에도 확장 가능한 앱을 만드는 규칙이 있다. 자주 접근하되 거의 바뀌지 않는 데이터는 캐시하되 원래 방식보다 확실히 싸야 한다. SELECT SYSDATE FROM DUAL 한 문장이 어떤 DB에서는 워크로드의 60% 이상을 차지하기도 한다. 절차 로직은 C·Java·PL/SQL로, 데이터 접근과 DML은 SQL로 구현한다. 절차 로직을 SQL에 밀어 넣으면 자원을 많이 쓰는 나쁜 SQL이 된다. 참조 무결성은 애플리케이션이 아니라 데이터베이스의 외래 키 제약으로 강제한다. 이는 SQL을 쓰지 않아 빠르고 네트워크 트래픽을 만들지 않는다.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553441574"/>
      </p:ext>
    </p:extLst>
  </p:cSld>
  <p:clrMapOvr>
    <a:masterClrMapping/>
  </p:clrMapOvr>
</p:notes>
</file>

<file path=ppt/notesSlides/notesSlide6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오늘날 개발의 두 흐름은 Java 확산과 객체지향의 스키마 영향이다. Java는 이식성이 좋지만 인터프리터 언어라 느리고 클라이언트 자원을 더 쓴다. 객체지향은 데이터 접근을 비즈니스 로직과 분리된 클래스로 캡슐화하도록 권장하는데, 그 결과 개발자가 데이터 접근 방식의 효율을 모른 채 메서드를 호출해 최소한의 거친 인터페이스로 접근하기 쉽다. 질의가 WHERE 술어를 다 담지 않고 애플리케이션에서 필터링하거나, 단건 INSERT로 배열 인터페이스를 못 쓰는 것이 대표적이다. 실행 문제 추적을 쉽게 하려면 액션·모듈 이름을 설정해 종단 간 추적에 쓰는 것도 검토한다.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692873158"/>
      </p:ext>
    </p:extLst>
  </p:cSld>
  <p:clrMapOvr>
    <a:masterClrMapping/>
  </p:clrMapOvr>
</p:notes>
</file>

<file path=ppt/notesSlides/notesSlide6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워크로드 추정은 변수가 많아 대단히 어렵다. 검증을 위해 여러 방법을 함께 쓴다. 유사 시스템 외삽은 특성이 비슷하고 성능을 아는 기존 시스템을 기준으로 삼는 경험적 접근이다. 벤치마킹은 자원·시간이 많이 들고 운영과 상관이 낮을 수 있지만 실제 I/O 요구량 파악과 복구 테스트에 유용하며, 본질적으로 모든 컴포넌트를 한계까지 몰아붙여 설계·구현 오류가 드러나게 한다. 애플리케이션 모델링은 정밀한 수학 모델부터 어림 계산까지 있으며 구현상의 비효율은 반영하지 못한다. 그래서 비효율을 위한 여유를 미리 두고 오라클 성능 방법으로 그 비효율을 발견한다.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093205090"/>
      </p:ext>
    </p:extLst>
  </p:cSld>
  <p:clrMapOvr>
    <a:masterClrMapping/>
  </p:clrMapOvr>
</p:notes>
</file>

<file path=ppt/notesSlides/notesSlide6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성능 테스트의 규칙은 문서로 남기면 운영 애플리케이션과 용량 계획에 중요한 자료가 된다. 현실적인 데이터량과 분포로 테스트해야 하며 모든 테스트는 완전히 채워진 테이블에서, 운영과 같은 인덱스와 올바른 통계로 수행한다. 운영에서 쓸 옵티마이저 모드로 테스트하고, 단일 사용자 성능을 먼저 확보한다. 한 사용자조차 만족스럽지 못하면 다중 사용자는 결코 만족스러울 수 없다. 모든 SQL의 실행계획을 확보·문서화하고 DML은 잠금·직렬화 문제가 없는지 테스트하며, 네트워크 지연·I/O 대역폭이 중요하므로 운영에 최대한 가까운 하드웨어로 테스트한다.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410822175"/>
      </p:ext>
    </p:extLst>
  </p:cSld>
  <p:clrMapOvr>
    <a:masterClrMapping/>
  </p:clrMapOvr>
</p:notes>
</file>

<file path=ppt/notesSlides/notesSlide6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새 애플리케이션 배포 전략은 두 가지가 흔하다. 빅뱅은 모든 사용자를 한 번에 새 시스템으로 옮기는 방식으로 데이터 변환·동기화가 최소인 대신 요구 규모에서의 신뢰할 만한 테스트에 의존한다. 문제가 나면 전체 사용자가 한꺼번에 겪는다. 트리클은 사용자를 조금씩 옮기는 방식으로 확장성 문제를 부하가 늘어나는 동안 디버깅할 수 있고 문제가 나도 소수만 영향을 받지만 기존 시스템과의 데이터 동기화가 필요하다. 어느 쪽이 낫다고 단정하기 어렵고 두 방식 모두 전환 중 중단 위험이 있으므로 테스트에서 얻는 지식이 많을수록 유리하다.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069153605"/>
      </p:ext>
    </p:extLst>
  </p:cSld>
  <p:clrMapOvr>
    <a:masterClrMapping/>
  </p:clrMapOvr>
</p:notes>
</file>

<file path=ppt/notesSlides/notesSlide6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배포 성능 체크리스트의 핵심 항목은 이 장에서 배운 원칙과 직결된다. SQL이 커서를 효율적으로 쓰는지, 즉 각 SQL을 한 번 파싱하고 여러 번 실행하는지 검증하는 것이 대표적이며 안 되는 가장 흔한 이유가 바인드 변수 미사용과 리터럴 술어다. 데이터베이스에 접속하는 미들웨어가 반복 로그온·로그오프하지 않는지, 개발 환경의 스키마 객체와 통계가 운영으로 올바르게 이관되었는지 확인한다. 배포 직후 데이터베이스와 OS의 기준선 통계를 확보하면 설계·배포의 가정을 검증하거나 교정할 수 있다. 첫 병목은 반드시 오므로 그것을 예상하고 오라클 성능 방법을 따른다.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341321815"/>
      </p:ext>
    </p:extLst>
  </p:cSld>
  <p:clrMapOvr>
    <a:masterClrMapping/>
  </p:clrMapOvr>
</p:notes>
</file>

<file path=ppt/notesSlides/notesSlide6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슬라이드는 방법론의 성격을 규정한다. 강조할 점은 방법론이 확정적 규칙이 아니라 사고의 절차라는 것이다. 시스템이 복잡하고 저마다 달라 딱 맞는 규칙이 없으므로, 결국 데이터와 통계를 근거로 판단하는 사람의 사고가 결정적이다. 경험 많은 엔지니어일수록 데이터를 건너뛰고 직관에 기대는 유혹에 빠지는데, 이것이 신화와 민담에 의한 튜닝이며 위험하고 비싸다는 점을 반드시 짚는다. ADDM이 방법론의 일부를 자동화하지만 권고는 결론이 아니라 가설이라는 1장의 태도를 다시 연결한다.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173561045"/>
      </p:ext>
    </p:extLst>
  </p:cSld>
  <p:clrMapOvr>
    <a:masterClrMapping/>
  </p:clrMapOvr>
</p:notes>
</file>

<file path=ppt/notesSlides/notesSlide6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슬라이드의 핵심은 방법론의 대전제다. 병목이 있다는 것을 확인하기 전에는 시스템을 바꾸지 않는다. 성능 개선이 반복적이라는 점을 강조한다. 첫 병목을 없애도 두 번째 병목이 드러나거나, 직렬화 지점이 더 비효율적인 공유 방식으로 이동하면 성능이 오히려 나빠질 수 있다. 이 불확실성 때문에 한 번에 하나만 바꾸고 그 차이를 측정하는 황금률이 성립한다. 이 규율을 지키려면 조치 전 상태가 기록으로 남아 있어야 한다는 점을 3.7절 근거 캡처와 미리 연결해 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209934983"/>
      </p:ext>
    </p:extLst>
  </p:cSld>
  <p:clrMapOvr>
    <a:masterClrMapping/>
  </p:clrMapOvr>
</p:notes>
</file>

<file path=ppt/notesSlides/notesSlide6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초기 표준 점검의 세 가지를 설명한다. 첫째, 사용자와 비용을 지불하는 사람의 솔직한 피드백에서 출발해 성공 요인과 종료 기준을 업무 목표로 정의한다. 시스템 통계가 아니라 업무 언어로 목표를 쓰는 것이 관리 가능성을 만든다. 둘째, 성능이 좋을 때와 나쁠 때 모두의 통계를 확보해야 비교가 가능해 진단이 쉬워진다. 통계가 없는 것을 범죄 현장의 증거 부재에 빗댄 비유를 강조한다. 셋째, OS 자원을 점검해 소진된 자원을 나중에 분석할 증상으로 목록화한다. 종료 기준이 없으면 성능 작업이 끝없이 이어져 근거 없는 조치의 온상이 된다는 점도 언급한다.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615918644"/>
      </p:ext>
    </p:extLst>
  </p:cSld>
  <p:clrMapOvr>
    <a:masterClrMapping/>
  </p:clrMapOvr>
</p:notes>
</file>

<file path=ppt/notesSlides/notesSlide6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여섯 단계를 순서대로 설명하되, 마지막 메시지를 강조한다. 인스턴스 튜닝에서 얻는 향상은 대개 10퍼센트 미만이고, 큰 향상은 애플리케이션의 비효율을 잡을 때 나온다. 이 사실이 이 과정 전체의 방향을 결정한다. 파라미터를 만지는 것보다 어느 SQL이 어떤 대기 때문에 DB Time을 얼마나 쓰는지 짚는 것이 훨씬 큰 효과를 낸다. 4단계에서 부득이 여러 변경을 동시에 해야 한다면 각 효과를 독립 검증할 수 있도록 변경을 격리하라는 실무 팁도 함께 전달한다. 반복이 방법론의 본질임을 마무리로 강조한다.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118118877"/>
      </p:ext>
    </p:extLst>
  </p:cSld>
  <p:clrMapOvr>
    <a:masterClrMapping/>
  </p:clrMapOvr>
</p:notes>
</file>

<file path=ppt/notesSlides/notesSlide6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개념 모델을 세 갈래의 판단 흐름으로 제시한다. 이 순서가 중요하다는 점을 강조한다. 단일 사용자 환경에서 이미 느린 애플리케이션을 두고 시스템 자원만 보는 헛수고를 피하려면, 먼저 애플리케이션이 최적인지 확인하고, 다음 CPU가 병목인지 보고, 마지막에 직렬화를 조사해야 한다. 세 번째 갈래, 즉 CPU는 남는데 시스템이 느린 경우가 이 장의 블로킹 세션 추적으로 직접 이어진다. 누군가 자원을 붙잡고 놓지 않아 다른 세션이 줄지어 기다리는 직렬화의 전형이 행 잠금 경합임을 예고한다.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460770303"/>
      </p:ext>
    </p:extLst>
  </p:cSld>
  <p:clrMapOvr>
    <a:masterClrMapping/>
  </p:clrMapOvr>
</p:notes>
</file>

<file path=ppt/notesSlides/notesSlide6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열 가지 실수의 앞 다섯 개를 설명한다. 1번 잘못된 커넥션 관리는 무상태 미들웨어에서 흔하며 성능에 두 자릿수 배 영향을 주고 전혀 확장되지 않는다. 2번 커서·공유 풀 오용은 바인드 변수를 쓰지 않아 전면 하드 파싱이 일어나는 경우로 2장·18장의 주제다. 3번 나쁜 SQL은 고부하 SQL을 ADDM이 식별하고 SQL Tuning Advisor가 권고한다. 4번 비표준 파라미터는 근거 없는 설정이 검증된 실행계획을 덮을 수 있어, 스키마·통계·옵티마이저 설정을 한 묶음으로 관리해야 한다. 5번 I/O 구성은 20장에서 깊이 다룬다. 이 목록이 가설의 출발점이라는 점을 강조한다.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171021068"/>
      </p:ext>
    </p:extLst>
  </p:cSld>
  <p:clrMapOvr>
    <a:masterClrMapping/>
  </p:clrMapOvr>
</p:notes>
</file>

<file path=ppt/notesSlides/notesSlide6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열 가지 실수의 나머지 다섯 개를 설명한다. 6번 리두 로그 설정 문제는 log file류 대기로 나타나지만 원인은 로그 구성에 있다. 7번 블록 직렬화는 INSERT 집중 환경에서 free list나 트랜잭션 슬롯 부족으로 생기며 ASSM과 자동 Undo로 해소한다. 8번 긴 전체 스캔은 그 자체가 원인이 아니라 인덱스 누락이나 나쁜 SQL의 결과라는 점을 강조한다. 9번 재귀 SQL은 SYS가 실행하면 공간 관리 신호지만 다른 사용자가 실행하면 정상이라, 같은 통계라도 맥락에 따라 해석이 달라진다는 교훈을 준다. 10번은 ADDM이 직접 탐지하지 않지만 그 결과인 고부하 SQL로 드러난다.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386751304"/>
      </p:ext>
    </p:extLst>
  </p:cSld>
  <p:clrMapOvr>
    <a:masterClrMapping/>
  </p:clrMapOvr>
</p:notes>
</file>

<file path=ppt/notesSlides/notesSlide6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슬라이드는 이 과정의 핵심 태도를 다시 새긴다. 많은 성능 통계는 원인이 아니라 증상을 가리킨다. 물리 I/O가 높은 것은 디스크가 느려서일 수도, 튜닝되지 않은 SQL이 불필요한 I/O를 유발해서일 수도 있다. 증상만 보고 조치하면 엉뚱한 곳을 고친다. 그래서 증상인 대기 이벤트에서 출발해 원인인 세그먼트·세션·SQL로 좁혀 들어가는 절차를 반복 훈련한다. 열 가지 실수 목록은 정답표가 아니라 가설의 출발점이며, 반드시 내 시스템의 통계로 확인해야 신화와 민담에 의한 튜닝을 피할 수 있다는 점을 마무리로 강조한다.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879937273"/>
      </p:ext>
    </p:extLst>
  </p:cSld>
  <p:clrMapOvr>
    <a:masterClrMapping/>
  </p:clrMapOvr>
</p:notes>
</file>

<file path=ppt/notesSlides/notesSlide6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긴급 대응의 성격을 규정한다. 긴급 상황은 신뢰할 수 있던 시스템이 갑자기 예측 불가능해지고 사용자 요청을 처리하지 못하는 상태다. 방법은 정공법과 본질적으로 같지만 시급함 때문에 여러 단계에서 지름길을 택한다. 다만 절대 생략하면 안 되는 것이 발견한 사실의 기록이며, 이를 의사가 환자 기록을 남기는 것에 비유한다. 갑작스러운 붕괴는 대개 무언가의 변경에서 오므로 마지막으로 성능이 좋았던 이후 무엇이 바뀌었는지가 가장 값진 질문이다. 격앙된 상황에서는 사람의 증언보다 기록된 데이터를 우선해야 하며, 이것이 평상시 기준선 확보를 강조하는 실질적 이유다.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351270208"/>
      </p:ext>
    </p:extLst>
  </p:cSld>
  <p:clrMapOvr>
    <a:masterClrMapping/>
  </p:clrMapOvr>
</p:notes>
</file>

<file path=ppt/notesSlides/notesSlide6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긴급 대응 다섯 단계를 순서대로 제시한다. 1단계는 증상 수집으로, 처리량 문제인지 응답시간 문제인지 가르고 문제 전후의 기준점을 찾는다. 2단계는 하드웨어 점검으로 어느 계층이 문제인지 식별한다. 3단계는 CPU 병목인지 대기 병목인지 판별하는 것으로 다음 절의 체크리스트로 이어진다. 4단계 응급 조치는 애플리케이션 일부를 오프라인으로 돌리거나 워크로드를 제한하거나 시스템을 재시작하는 등 서비스 수준에 영향을 주는 조치다. 5단계는 안정성 검증으로 기준 통계를 다시 수집하고 정공법으로 돌아가 모든 기능과 사용자를 복귀시킨다. 이 복귀가 때로 상당한 애플리케이션 재설계를 요구한다는 점을 언급한다.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425080813"/>
      </p:ext>
    </p:extLst>
  </p:cSld>
  <p:clrMapOvr>
    <a:masterClrMapping/>
  </p:clrMapOvr>
</p:notes>
</file>

<file path=ppt/notesSlides/notesSlide6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슬라이드가 3장의 핵심 DBA Point를 담는다. 응급 조치와 근본 원인 분석은 서로 다른 활동이므로 반드시 분리해야 한다. 응급 조치의 목표는 오직 서비스 회복이고, 세션 종료나 재시작은 증상을 멈추는 조치일 뿐 원인을 제거하는 조치가 아니다. 원인 분석은 서비스가 회복된 뒤 캡처해 둔 근거로 수행한다. 두 가지를 섞으면 원인을 따지느라 조치가 늦어 중단이 길어지거나, 조치만 하고 근거를 안 남겨 재발 시 원점에서 헤매게 된다. 그래서 순서가 근거 캡처, 응급 조치, 회복 검증, 원인 분석, 재발 방지가 되며, 캡처가 조치보다 앞선다. 조치를 하는 순간 증거가 사라지기 때문이다.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493214422"/>
      </p:ext>
    </p:extLst>
  </p:cSld>
  <p:clrMapOvr>
    <a:masterClrMapping/>
  </p:clrMapOvr>
</p:notes>
</file>

<file path=ppt/notesSlides/notesSlide6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응급 진단의 갈림길을 설명한다. CPU 병목이면 세션별 DB CPU와 논리 읽기가 많은 문장을 조사하고, 대기 병목이면 세션의 대기 이벤트를 따라간다. 여기서 가장 중요한 것은 대기 클래스가 Idle인 이벤트를 병목에서 제외하는 것이다. SQL*Net message from client는 클라이언트의 다음 요청을 기다리는 유휴 시간이라 상위에 보여도 병목이 아니며, 이것을 병목으로 지목하는 것이 대표적 오판이다. 남은 활성 대기 중 Application 클래스는 잠금 경합을, Concurrency 클래스는 라이브러리 캐시 경합을 가리킨다. 라이브러리 캐시 대규모 경합으로 로그인조차 어려우면 실시간 조회 대신 과거 데이터로 진단해야 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369244697"/>
      </p:ext>
    </p:extLst>
  </p:cSld>
  <p:clrMapOvr>
    <a:masterClrMapping/>
  </p:clrMapOvr>
</p:notes>
</file>

<file path=ppt/notesSlides/notesSlide6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CPU 병목을 조사하는 조회를 설명한다. V$SESS_TIME_MODEL의 DB CPU 통계를 세션별로 뽑아 어느 세션이 CPU를 많이 쓰는지 본다. 값은 인스턴스와 부하에 따라 달라지므로 절대치를 단정하지 않고 환경값으로 둔다. DB가 CPU 대부분을 쓴다면 그 세션이 실행하는 SQL을 V$SQLSTATS로 조사해 논리 읽기가 많은 문장을 찾고, DB가 아닌 작업이 CPU를 먹고 있다면 OS 수준에서 백업이나 파일 변환 같은 비DB 작업을 조사한다. 이 조회는 라이선스 없이 쓸 수 있는 V$ 뷰만 사용한다는 점을 강조한다.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230091290"/>
      </p:ext>
    </p:extLst>
  </p:cSld>
  <p:clrMapOvr>
    <a:masterClrMapping/>
  </p:clrMapOvr>
</p:notes>
</file>

<file path=ppt/notesSlides/notesSlide6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대기 병목을 조사하는 조회를 설명한다. 활성 세션의 대기 이벤트를 대기 클래스와 함께 집계하되, wait_class가 Idle인 것은 제외한다. Idle 제외가 핵심인데, SQL*Net message from client 같은 유휴 이벤트를 병목으로 착각하는 오판을 원천 차단하기 때문이다. 집계 결과에서 대기 클래스가 Application이면 애플리케이션 수준의 잠금 경합을, Concurrency이면 latch·mutex·library cache 같은 동시성 구조 경합을 의미한다. 이 분류만으로 다음에 어느 뷰를 볼지가 정해진다. Application이면 3.6절의 블로킹 추적으로, Concurrency이면 원인 SQL과 라이브러리 캐시 조사로 향한다.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133047622"/>
      </p:ext>
    </p:extLst>
  </p:cSld>
  <p:clrMapOvr>
    <a:masterClrMapping/>
  </p:clrMapOvr>
</p:notes>
</file>

<file path=ppt/notesSlides/notesSlide6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행 잠금 경합의 원리를 설명한다. 오라클은 행 수준 잠금을 쓰며, UPDATE로 행을 바꾸면 그 행에 TX 잠금이 배타 모드로 걸리고 커밋 또는 롤백 전까지 유지된다. 그동안 같은 행을 바꾸려는 세션은 잠금을 요청한 채 대기하며 enq: TX - row lock contention 이벤트를 겪는다. 대기 클래스는 Application이다. 여기서 중요한 관점은 잠금 자체가 데이터 일관성을 위한 정상 동작이라는 점이다. 문제는 트랜잭션 설계에 있으며, 잠금 보유 시간이 길수록, 특히 사용자 입력을 기다리며 커밋을 미룰수록 경합이 심해진다. 그래서 근본 예방은 잠금을 없애는 것이 아니라 트랜잭션을 짧게 유지하는 것이다.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855183246"/>
      </p:ext>
    </p:extLst>
  </p:cSld>
  <p:clrMapOvr>
    <a:masterClrMapping/>
  </p:clrMapOvr>
</p:notes>
</file>

<file path=ppt/notesSlides/notesSlide6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블로킹 추적의 1차 도구인 V$SESSION.BLOCKING_SESSION을 실측값으로 설명한다. BLK 컬럼에 다른 SID가 채워진 행이 대기자이며 그 값이 블로커의 SID다. 실측에서 SID 597이 대기자로, 이벤트가 enq TX row lock contention이고 클래스가 Application이며 BLK가 596이다. 즉 597은 596에 막혀 있다. 여기서 결정적인 오판 포인트를 강조한다. 블로커인 596의 이벤트는 SQL Net message from client이고 클래스가 Idle이다. 블로커가 지금 아무 일도 안 하고 유휴 상태로 잠금만 쥐고 있는 것이다. 가장 바쁜 세션을 범인으로 지목하면 진짜 블로커인 유휴 세션 596을 놓친다. 범인은 바쁜 597이 아니라 잠금을 쥔 채 놀고 있는 596이다.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879439867"/>
      </p:ext>
    </p:extLst>
  </p:cSld>
  <p:clrMapOvr>
    <a:masterClrMapping/>
  </p:clrMapOvr>
</p:notes>
</file>

<file path=ppt/notesSlides/notesSlide6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V$LOCK으로 잠금의 실체를 확인한다. TYPE이 TX인 행에서 BLOCK이 1인 SID가 잠금 보유자이자 블로커이고, REQUEST가 0보다 큰 SID가 대기자다. 실측에서 SID 596은 LMODE 6으로 배타 잠금을 보유하고 BLOCK이 1이라 다른 세션을 막고 있으며 REQUEST가 0이라 자신은 아무것도 기다리지 않는다. SID 597은 LMODE 0으로 보유가 없고 REQUEST 6으로 배타 모드를 요청하며 BLOCK이 0이다. V$SESSION의 BLOCKING_SESSION 596과 V$LOCK의 block 1과 request 6이 정확히 같은 사실을 두 각도에서 확인해 준다. 서로 다른 뷰의 값이 일관되게 한 방향을 가리킬 때 진단을 확신할 수 있다는 점을 강조한다. LMODE와 REQUEST의 6은 배타 모드를 뜻한다.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824734443"/>
      </p:ext>
    </p:extLst>
  </p:cSld>
  <p:clrMapOvr>
    <a:masterClrMapping/>
  </p:clrMapOvr>
</p:notes>
</file>

<file path=ppt/notesSlides/notesSlide6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블로킹 관계를 요약해 주는 뷰를 설명한다. DBA_BLOCKERS는 다른 세션을 막고 있으면서 자신은 막혀 있지 않은 순수 블로커를 나열하고, DBA_WAITERS는 대기자와 그 블로커의 쌍을 보여 준다. 실측 구성에서 DBA_WAITERS에는 블로커 596과 대기자 597의 관계가, DBA_BLOCKERS에는 596이 나타난다. 이 뷰들은 관계를 즉시 요약해 응급 상황에서 편리하지만 내부적으로 잠금 정보를 조합해 채워지고 관련 카탈로그 뷰가 미리 생성되어 있어야 하며 대규모 경합 시 조회가 느려질 수 있다. 그래서 실무에서는 V$SESSION.BLOCKING_SESSION을 1차로, V$LOCK을 2차로, DBA_WAITERS를 보조로 쓰는 조합이 견고하다. 어느 뷰를 쓰든 결론이 같아야 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356272729"/>
      </p:ext>
    </p:extLst>
  </p:cSld>
  <p:clrMapOvr>
    <a:masterClrMapping/>
  </p:clrMapOvr>
</p:notes>
</file>

<file path=ppt/notesSlides/notesSlide6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블로킹과 교착 상태를 구분한다. 블로킹은 A가 B를 기다리는 한 방향 관계로, 시간이 지나 A가 커밋하거나 롤백하면 자연히 풀린다. 즉 블로킹 자체는 오라클이 자동으로 해소하지 않고 무한정 유지될 수 있는 정상적인 대기다. 반면 교착 상태는 A가 B를, 동시에 B가 A를 기다리는 순환 관계라 스스로 풀리지 않는다. 오라클은 이 순환을 자동 탐지해 관련 문장 중 하나를 취소하고 그 세션에 ORA-00060 오류를 던진다. 해당 문장만 롤백되고 트랜잭션 전체가 롤백되는 것은 아니므로 애플리케이션이 오류를 잡아 처리해야 한다. 실습 4의 행 잠금 경합은 한 방향 블로킹이며 교착 상태가 아니라는 점을 분명히 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966862196"/>
      </p:ext>
    </p:extLst>
  </p:cSld>
  <p:clrMapOvr>
    <a:masterClrMapping/>
  </p:clrMapOvr>
</p:notes>
</file>

<file path=ppt/notesSlides/notesSlide6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블로킹 해소 절차를 설명하며 이 장의 가장 중요한 규율을 못 박는다. 해소는 두 갈래다. 정상 경로는 블로커가 커밋 또는 롤백하면 잠금이 즉시 풀리는 것으로 가장 안전하다. 비상 경로는 세션이 응답하지 않을 때 강제 종료하는 것이다. 여기서 규율은 세션을 죽이기 전에 반드시 블로커, 대기자, 잠금 대상, 대기 이벤트를 캡처하는 것이다. 세션을 종료하는 순간 V$SESSION과 V$LOCK의 해당 행이 사라져 무엇이 왜 막혀 있었는지 증거가 함께 사라지기 때문이다. ALTER SYSTEM KILL SESSION은 SID와 SERIAL을 함께 지정하며 IMMEDIATE는 즉시 종료를 시도한다. 종료 후에는 대기자가 풀렸는지 재확인한다. 이것이 조치 전, 조치, 조치 후 3단 캡처를 잠금 해소에 적용한 모습이다.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631579824"/>
      </p:ext>
    </p:extLst>
  </p:cSld>
  <p:clrMapOvr>
    <a:masterClrMapping/>
  </p:clrMapOvr>
</p:notes>
</file>

<file path=ppt/notesSlides/notesSlide6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블로커와 대기자를 지목한 뒤 무엇을 두고 다투는지도 캡처해야 한다는 것을 설명한다. V$SESSION의 ROW_WAIT_OBJ#, ROW_WAIT_FILE#, ROW_WAIT_BLOCK#, ROW_WAIT_ROW# 컬럼은 대기자가 기다리는 행이 어느 객체의 어느 블록과 행인지를 가리킨다. ROW_WAIT_OBJ#를 DBA_OBJECTS와 조인하면 객체 이름이 나온다. 이 정보는 원인 규명에 결정적인데, 어느 테이블의 행이 잠겨 있었는지를 알면 어떤 업무 트랜잭션이 관련됐는지 좁힐 수 있기 때문이다. 실습 4에서는 대기자 597이 REVIEW_LOG_WL의 특정 행을 기다리고 있었음을 이 컬럼들로 확인한다. 세션을 종료하면 이 값들도 함께 사라지므로 반드시 종료 전에 캡처해야 한다는 점을 다시 강조한다.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252511291"/>
      </p:ext>
    </p:extLst>
  </p:cSld>
  <p:clrMapOvr>
    <a:masterClrMapping/>
  </p:clrMapOvr>
</p:notes>
</file>

<file path=ppt/notesSlides/notesSlide6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장을 관통하는 원칙을 최종 정리한다. 조치 전 상태를 캡처하지 않은 튜닝은 도박이다. 이 원칙은 만성적 저하를 다루는 방법론과 긴급 상황을 다루는 긴급 대응 모두에 똑같이 적용된다. 방법론에서는 한 번에 하나만 바꾸고 차이를 측정한다는 황금률의 전제로, 긴급 대응에서는 세션을 죽이기 전에 근거를 남긴다는 규율로 나타난다. 뿌리는 하나로, 조치 전 상태가 없으면 성공과 실패를 증명할 수 없고 원인을 사후에 규명할 수도 없다. 이것은 1장의 세 가지 경계 중 근거 없는 조치와 정확히 같은 뿌리를 가진다. 히트율 신앙, 권고 맹신, 근거 없는 조치는 모두 내가 직접 측정하고 판정하지 않았다는 하나의 잘못이다.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536881106"/>
      </p:ext>
    </p:extLst>
  </p:cSld>
  <p:clrMapOvr>
    <a:masterClrMapping/>
  </p:clrMapOvr>
</p:notes>
</file>

<file path=ppt/notesSlides/notesSlide6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캡처가 필수인 이유를 성능 데이터의 두 가지 성질로 설명한다. 첫째, 많은 성능 통계는 순간값이거나 누적값이다. V$SESSION과 V$LOCK의 잠금 관계는 세션이 종료되거나 커밋되면 사라지는 순간 상태이고, V$SYSSTAT나 V$SYS_TIME_MODEL은 누적값이라 관심 구간의 시작과 끝에서 두 번 떠 델타를 계산해야 한다. 순간 상태는 조치와 함께 소멸하므로 조치 전에 떠 두지 않으면 영영 잃는다. 둘째, 조치는 되돌릴 수 없는 경우가 많다. 종료된 세션은 되살릴 수 없고 롤백된 작업은 사라진다. 그래서 조치 전 캡처는 나중에 필요할지 모르니 남기는 선택이 아니라 지금 남기지 않으면 영원히 없는 필수다. 형식은 SPOOL로 충분하며 조치 전에 남겼는지가 중요하다.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113422749"/>
      </p:ext>
    </p:extLst>
  </p:cSld>
  <p:clrMapOvr>
    <a:masterClrMapping/>
  </p:clrMapOvr>
</p:notes>
</file>

<file path=ppt/notesSlides/notesSlide6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장의 핵심 메시지는 하나입니다. 구성 실수는 튜닝으로 덮이지 않습니다. Undo 테이블스페이스가 부족해서 나는 ORA-01555는 SQL을 고쳐서 해결할 문제가 아니고, 임시 테이블스페이스가 작아서 나는 ORA-01652도 인덱스를 추가해서 해결할 문제가 아닙니다. 이런 오류를 SQL 문제로 오인하면 엉뚱한 곳에서 몇 시간을 허비합니다. 그래서 이 장은 이 증상이 나오면 먼저 구성을 의심하라는 판별 감각을 심는 데 목적이 있습니다.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013965727"/>
      </p:ext>
    </p:extLst>
  </p:cSld>
  <p:clrMapOvr>
    <a:masterClrMapping/>
  </p:clrMapOvr>
</p:notes>
</file>

<file path=ppt/notesSlides/notesSlide6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파라미터들은 데이터베이스가 뜨기 위한 최소 조건이지 성능 조절 손잡이가 아닙니다. 특히 OPEN_CURSORS는 이름 때문에 성능 파라미터로 오해받지만, 값을 키운다고 빨라지지 않습니다. 한 세션이 동시에 열 수 있는 커서의 상한일 뿐이며 너무 작으면 ORA-01000이 나고 크게 잡아도 성능은 그대로입니다. 500이 일반적 권고이며, 나머지는 데이터베이스가 뜨기 위한 이름·위치·파일 관련 최소 설정입니다.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012068766"/>
      </p:ext>
    </p:extLst>
  </p:cSld>
  <p:clrMapOvr>
    <a:masterClrMapping/>
  </p:clrMapOvr>
</p:notes>
</file>

<file path=ppt/notesSlides/notesSlide6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리두 로그 크기 자체는 LGWR 성능을 좌우하지 않지만 DBWR와 체크포인트 동작에 영향을 줍니다. 로그가 너무 작으면 스위치가 잦아 그때마다 체크포인트가 유발돼 성능이 떨어집니다. 최대 20분에 한 번 스위치하도록 크기를 잡으라는 것이 가이드의 권고이고, 100MB에서 수 GB 범위가 합리적입니다. 영구 테이블스페이스는 로컬 관리에 ASSM을 쓰면 과거 프리 리스트 방식의 동시 삽입 경합을 줄일 수 있습니다.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602255015"/>
      </p:ext>
    </p:extLst>
  </p:cSld>
  <p:clrMapOvr>
    <a:masterClrMapping/>
  </p:clrMapOvr>
</p:notes>
</file>

<file path=ppt/notesSlides/notesSlide6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성능에 실제로 영향을 주는 파라미터는 소수입니다. 오라클 가이드가 특히 강조하는 것은 PROCESSES로, 가장 중요한 1차 파라미터이며 다른 많은 값이 여기서 파생됩니다. SESSIONS는 기본적으로 PROCESSES에서 자동 계산되는데, 공유 서버를 쓰면 이 파생값이 부족해질 수 있어 별도로 키워야 합니다. SGA_TARGET·PGA_AGGREGATE_TARGET을 지정하면 그 안의 구성요소가 자동으로 조정됩니다.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552769721"/>
      </p:ext>
    </p:extLst>
  </p:cSld>
  <p:clrMapOvr>
    <a:masterClrMapping/>
  </p:clrMapOvr>
</p:notes>
</file>

<file path=ppt/notesSlides/notesSlide6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한 화면이 인스턴스의 성격을 요약합니다. 8KB 블록의 OLTP 지향 구성이고, memory_target=0이므로 AMM은 꺼져 있으며 SGA 약 1.5GB와 PGA 약 700MB를 각각 지정한 ASMM 방식입니다. processes=500에서 sessions=776이 파생됐고, undo_retention=900 즉 15분과 undo_tablespace=UNDOTBS1로 자동 Undo 관리가 동작 중임을 알 수 있습니다.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108502782"/>
      </p:ext>
    </p:extLst>
  </p:cSld>
  <p:clrMapOvr>
    <a:masterClrMapping/>
  </p:clrMapOvr>
</p:notes>
</file>

<file path=ppt/notesSlides/notesSlide6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바이트로 보이는 값은 1024로 두 번 나눠 MB로 환산해 읽습니다. 파라미터를 바꿀 때는 변경 전 현재값을 반드시 캡처하고, SCOPE의 의미를 이해해야 합니다. MEMORY는 현재 인스턴스에만, SPFILE은 다음 기동부터, BOTH는 둘 다 반영합니다. PROCESSES 같은 정적 파라미터는 SPFILE로만 바꿀 수 있고 재기동해야 적용됩니다. 한 번에 하나만 바꾸고 같은 지표를 같은 방식으로 재측정합니다.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74772633"/>
      </p:ext>
    </p:extLst>
  </p:cSld>
  <p:clrMapOvr>
    <a:masterClrMapping/>
  </p:clrMapOvr>
</p:notes>
</file>

<file path=ppt/notesSlides/notesSlide6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데이터베이스는 Undo 공간에 읽기 일관성·복구·롤백에 쓰이는 데이터를 저장합니다. 어떤 트랜잭션이 행을 바꾸면 바뀌기 전의 이미지가 Undo 세그먼트에 남습니다. 이 과거 이미지가 두 가지 일을 합니다. 하나는 아직 커밋되지 않은 변경을 되돌리는 롤백이고, 다른 하나는 다른 세션이 트랜잭션 시작 시점의 일관된 스냅샷을 보게 하는 읽기 일관성입니다. 이 과거 이미지가 공간 부족으로 덮어써지면 긴 조회가 ORA-01555로 실패합니다.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232293051"/>
      </p:ext>
    </p:extLst>
  </p:cSld>
  <p:clrMapOvr>
    <a:masterClrMapping/>
  </p:clrMapOvr>
</p:notes>
</file>

<file path=ppt/notesSlides/notesSlide6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오라클은 자동 Undo 관리를 강력히 권장합니다. UNDO_MANAGEMENT를 AUTO로 두면 오라클이 Undo 세그먼트를 투명하게 생성·관리하므로, DBA가 신경 쓸 것은 Undo 테이블스페이스를 충분히 크게 잡는 것과 UNDO_RETENTION을 워크로드에 맞게 두는 두 가지로 좁혀집니다. 오라클의 다중 버전 읽기 일관성이 바로 이 Undo 위에서 돌아갑니다.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01562528"/>
      </p:ext>
    </p:extLst>
  </p:cSld>
  <p:clrMapOvr>
    <a:masterClrMapping/>
  </p:clrMapOvr>
</p:notes>
</file>

<file path=ppt/notesSlides/notesSlide6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읽어야 할 값은 세 가지입니다. RETENTION=NOGUARANTEE, UNDO_RETENTION=900초 즉 15분, 그리고 Undo 테이블스페이스 크기 380MB입니다. 이 셋의 조합이 ORA-01555가 날 수 있는지를 결정합니다. 보존은 15분을 목표로 하지만 NOGUARANTEE이므로 공간이 부족하면 그 약속은 지켜지지 않습니다. 업무 데이터 규모에 비해 380MB는 넉넉하지 않으므로, 동시 변경이 몰리는 구간에서는 긴 조회가 위험해질 수 있습니다.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42423763"/>
      </p:ext>
    </p:extLst>
  </p:cSld>
  <p:clrMapOvr>
    <a:masterClrMapping/>
  </p:clrMapOvr>
</p:notes>
</file>

<file path=ppt/notesSlides/notesSlide6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UNDO_RETENTION은 커밋된 Undo를 최소 몇 초 보존하려는 목표이지 보장이 아닙니다. NOGUARANTEE에서는 공간이 빠듯하면 오라클이 조용히 커밋된 Undo를 덮어쓰고, 오류도 없이 어느 날 긴 조회가 ORA-01555로 죽습니다. GUARANTEE에서는 보존 약속을 지키느라 새 DML이 ORA-30036으로 실패합니다. 어느 쪽도 공짜가 아니며 워크로드가 선택을 정합니다.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825257641"/>
      </p:ext>
    </p:extLst>
  </p:cSld>
  <p:clrMapOvr>
    <a:masterClrMapping/>
  </p:clrMapOvr>
</p:notes>
</file>

<file path=ppt/notesSlides/notesSlide6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ORA-01555는 이름에 rollback segment가 들어 있어 세그먼트가 작아서 나는 것처럼 보이지만, 본질은 긴 조회가 필요로 하는 과거 이미지를 이미 다른 트랜잭션이 덮어썼다는 것입니다. 조회의 길이와 동시 변경량과 Undo 공간, 이 세 가지의 함수입니다. 조회 SQL 자체에는 잘못이 없을 수 있으므로 SQL을 고치는 접근은 헛다리를 짚습니다. Undo 구성으로 해결해야 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887263781"/>
      </p:ext>
    </p:extLst>
  </p:cSld>
  <p:clrMapOvr>
    <a:masterClrMapping/>
  </p:clrMapOvr>
</p:notes>
</file>

<file path=ppt/notesSlides/notesSlide6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V$UNDOSTAT의 판정법은 명확합니다. MAXQUERYLEN이 UNDO_RETENTION보다 크고 SSOLDERRCNT가 0보다 크면 보존 시간이 조회 길이를 못 따라간 것입니다. TUNED_UNDORETENTION이 설정값보다 작게 나오면 공간이 상한이라는 뜻이므로 테이블스페이스를 키웁니다. 설정값과 실측 필요량을 비교해 판정하는 이 방식이 근거 기반 조치입니다. GUARANTEE 전에는 Undo가 최대 DML을 감당할 크기인지 확인합니다.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970018590"/>
      </p:ext>
    </p:extLst>
  </p:cSld>
  <p:clrMapOvr>
    <a:masterClrMapping/>
  </p:clrMapOvr>
</p:notes>
</file>

<file path=ppt/notesSlides/notesSlide6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낮에는 멀쩡한데 월말 마감일 오전에 30분 넘게 도는 리포트만 ORA-01555로 실패하는 전형적 사례입니다. 리포트 SQL 자체에는 오류가 없습니다. V$UNDOSTAT를 보면 마감 구간의 MAXQUERYLEN이 UNDO_RETENTION을 크게 넘고 SSOLDERRCNT가 0보다 큽니다. 마감 트랜잭션이 몰려 Undo를 빠르게 순환시키는 사이 리포트가 필요로 하던 과거 이미지가 덮어써진 것입니다. 조치 후 다음 마감에서 발생 수가 0으로 유지되는지 재확인하는 것까지가 튜닝입니다.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107799827"/>
      </p:ext>
    </p:extLst>
  </p:cSld>
  <p:clrMapOvr>
    <a:masterClrMapping/>
  </p:clrMapOvr>
</p:notes>
</file>

<file path=ppt/notesSlides/notesSlide6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임시 테이블스페이스는 메모리에 담기지 않는 작업을 디스크로 흘려보내는 공간으로 정렬·해시·전역 임시 테이블에 쓰입니다. PGA 작업 영역이 감당하면 메모리에서 끝나지만 넘치면 스필합니다. 오라클은 로컬 관리에 UNIFORM 1MB를 권장하며, 임시 테이블스페이스는 정의상 로컬 관리이므로 EXTENT MANAGEMENT LOCAL 절은 선택입니다. 실측 TEMP은 20MB로 대량 정렬에는 부족합니다.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772632015"/>
      </p:ext>
    </p:extLst>
  </p:cSld>
  <p:clrMapOvr>
    <a:masterClrMapping/>
  </p:clrMapOvr>
</p:notes>
</file>

<file path=ppt/notesSlides/notesSlide6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ORA-01652는 임시 세그먼트를 확장하려는데 자리가 없을 때 납니다. 실무의 오인은 두 가지입니다. 첫째, 데이터 테이블스페이스 부족으로 착각하는 것으로 메시지 끝의 테이블스페이스 이름을 반드시 확인해야 합니다. 둘째, SQL 튜닝으로만 해결하려는 것입니다. 정렬이 월 집계처럼 업무상 정당하면 임시 공간을 늘리는 것이 정답이고, 불필요한 정렬이면 SQL로 접근합니다. 판별 기준은 이 정렬이 업무상 필요한 크기인가입니다.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962184989"/>
      </p:ext>
    </p:extLst>
  </p:cSld>
  <p:clrMapOvr>
    <a:masterClrMapping/>
  </p:clrMapOvr>
</p:notes>
</file>

<file path=ppt/notesSlides/notesSlide6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ORA-01652가 났을 때 현재 누가 임시 공간을 얼마나 쓰는지는 V$TEMPSEG_USAGE로 봅니다. 세션·SQL별로 사용 중인 임시 익스텐트 수를 보여 주므로 어떤 세션의 어떤 SQL이 TEMP을 삼켰는지 즉시 지목할 수 있습니다. V$SORT_SEGMENT는 임시 테이블스페이스 전체의 현재·최대 사용량을 요약합니다. 조치는 임시 파일을 추가해 넉넉히 확장하고 AUTOEXTEND를 켜는 것입니다.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750804291"/>
      </p:ext>
    </p:extLst>
  </p:cSld>
  <p:clrMapOvr>
    <a:masterClrMapping/>
  </p:clrMapOvr>
</p:notes>
</file>

<file path=ppt/notesSlides/notesSlide6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클라이언트가 접속하면 SQL을 실행할 서버 프로세스가 필요합니다. 전용 서버는 접속 하나마다 전용 프로세스를 붙이고, 공유 서버는 소수의 공유 서버를 여러 세션이 디스패처를 통해 나눠 씁니다. 공유 서버는 프로세스와 메모리를 줄여 간헐적 OLTP가 매우 많은 환경과 고접속률 환경에 유리합니다. 다만 병렬 실행이나 장시간 배치는 세션을 오래 점유하므로 전용 서버가 정석입니다. 공유 서버를 켜면 UGA가 SGA로 이동하므로 라지 풀을 확보해야 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3801295"/>
      </p:ext>
    </p:extLst>
  </p:cSld>
  <p:clrMapOvr>
    <a:masterClrMapping/>
  </p:clrMapOvr>
</p:notes>
</file>

<file path=ppt/notesSlides/notesSlide6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전용 서버는 접속 요청마다 전용 프로세스를 순차적으로 초기화하므로 초당 새 접속이 많은 환경에서는 이 초기화가 비용이 됩니다. 공유 서버는 디스패처가 대기하고 있다가 동시 접속 요청을 바로 받아 유리합니다. 특정 세션이 전용인지 공유인지는 V$SESSION의 SERVER 컬럼으로 봅니다. 19c에는 사전 생성 프로세스 풀도 있어, dedicated broker나 threaded execution 모드에서 서버 프로세스를 미리 띄워 접속 효율을 높이며 V$PROCESS_POOL로 관찰합니다.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976669559"/>
      </p:ext>
    </p:extLst>
  </p:cSld>
  <p:clrMapOvr>
    <a:masterClrMapping/>
  </p:clrMapOvr>
</p:notes>
</file>

<file path=ppt/notesSlides/notesSlide6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공유 서버를 쓰면 디스패처와 공유 서버의 경합을 모니터링해야 합니다. V$DISPATCHER_RATE의 현재·평균·최대 접두사를 비교해, 현재값이 최대 근처면 디스패처를 늘리고 한참 낮으면 줄입니다. V$QUEUE의 요청 큐 대기시간이 꾸준히 늘면 공유 서버 경합입니다. 처리량이 한계에 이르렀다고 무작정 디스패처를 늘리기보다 접속 풀링과 세션 다중화로 있는 자원을 더 촘촘히 쓰는 방향을 먼저 검토합니다. 경합 전에 공유 풀·라지 풀 메모리 문제가 아닌지도 확인합니다.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565620468"/>
      </p:ext>
    </p:extLst>
  </p:cSld>
  <p:clrMapOvr>
    <a:masterClrMapping/>
  </p:clrMapOvr>
</p:notes>
</file>

<file path=ppt/notesSlides/notesSlide6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DB_BLOCK_SIZE는 오라클이 데이터 파일에 저장하고 SGA에 캐싱하는 블록의 크기로 실측은 8KB입니다. 블록이 성능에 닿는 통로는 두 가지입니다. 하나는 I/O 효율로 한 번의 읽기로 가져오는 양이 블록 크기에 비례하므로 대량 스캔의 DW는 큰 블록이 유리합니다. 다른 하나는 행 밀도로, 블록이 크면 캐시 효율은 오르지만 같은 블록의 서로 다른 행을 동시에 고치면 buffer busy 경합이 늡니다. OLTP가 8KB를 쓰는 이유가 이 균형입니다.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675484545"/>
      </p:ext>
    </p:extLst>
  </p:cSld>
  <p:clrMapOvr>
    <a:masterClrMapping/>
  </p:clrMapOvr>
</p:notes>
</file>

<file path=ppt/notesSlides/notesSlide7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PCTFREE는 행 이주를 막기 위한 예약 공간입니다. 블록의 몇 퍼센트를 삽입에 쓰지 않고 남겨, 나중의 UPDATE로 행이 커질 여지를 주는 값입니다. UPDATE가 잦고 행이 커지는 테이블은 PCTFREE를 높이면 이주가 줄고, INSERT만 있고 갱신이 거의 없는 테이블은 PCTFREE를 낮춰 블록을 빽빽이 채우는 게 낫습니다. 자동 세그먼트 공간 관리를 쓰면 PCTUSED는 지정할 필요가 없지만 PCTFREE는 여전히 의미가 있습니다.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141804582"/>
      </p:ext>
    </p:extLst>
  </p:cSld>
  <p:clrMapOvr>
    <a:masterClrMapping/>
  </p:clrMapOvr>
</p:notes>
</file>

<file path=ppt/notesSlides/notesSlide7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행 이주는 UPDATE로 커진 행이 원 블록에 안 들어가 다른 블록으로 옮겨지고 원 자리에 포인터만 남는 현상입니다. 인덱스는 원래 ROWID를 가리키므로 이주 행을 인덱스로 읽으면 한 번 더 점프해 논리 읽기가 늡니다. 단일 행 조회가 많은 OLTP에서 특히 문제입니다. 체이닝은 행 자체가 블록보다 커서 처음부터 여러 블록에 걸치는 것으로 성격이 다릅니다. 이주는 PCTFREE로 예방하지만 체이닝은 블록 크기 문제라 더 큰 블록으로 옮겨야 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596827889"/>
      </p:ext>
    </p:extLst>
  </p:cSld>
  <p:clrMapOvr>
    <a:masterClrMapping/>
  </p:clrMapOvr>
</p:notes>
</file>

<file path=ppt/notesSlides/notesSlide7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이주·체이닝 행은 ANALYZE ... LIST CHAINED ROWS로 실제로 찾아냅니다. utlchain.sql로 결과 테이블을 만들고 ROWID를 채운 뒤 조회합니다. 통계에도 남아서 테이블을 수집하면 DBA_TABLES의 CHAIN_CNT에 이주와 체이닝을 합친 수가 기록됩니다. 이 값이 전체 행 수 대비 크면 이주를 의심합니다. 이주로 판명되면 PCTFREE를 높인 뒤 MOVE로 재구성하고 인덱스를 리빌드합니다. MOVE는 ROWID를 바꾸므로 인덱스 무효화에 주의합니다.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477066236"/>
      </p:ext>
    </p:extLst>
  </p:cSld>
  <p:clrMapOvr>
    <a:masterClrMapping/>
  </p:clrMapOvr>
</p:notes>
</file>

<file path=ppt/notesSlides/notesSlide7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실습 데이터베이스의 테이블스페이스 크기를 한자리에서 봅니다. USERS가 2,369MB로 가장 크고 진료비 스키마 업무 테이블이 여기 있습니다. 업무 데이터에 비해 Undo 380MB와 Temp 20MB가 상대적으로 작습니다. 이후 장에서 부하 스크립트로 대량 스캔·정렬을 유발하면 이 작은 Undo와 Temp가 먼저 압박을 받습니다. 즉 이 장에서 재현하는 ORA-01555·ORA-01652는 인위적 상황이 아니라 이 구성에서 부하가 조금만 커져도 마주칠 수 있는 시나리오입니다.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844878198"/>
      </p:ext>
    </p:extLst>
  </p:cSld>
  <p:clrMapOvr>
    <a:masterClrMapping/>
  </p:clrMapOvr>
</p:notes>
</file>

<file path=ppt/notesSlides/notesSlide7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누적 통계는 인스턴스 기동 시점부터 지금까지 계속 더해진 합계입니다. 그래서 값 자체는 항상 0보다 크고, 인스턴스가 오래 떠 있을수록 커집니다. 이런 값을 그대로 읽어 좋다 나쁘다를 판정하는 것이 이 장이 경계하는 대표적 오판입니다. 어떤 통계든 어느 구간에서 얼마나 변했는가라는 델타로 환원해야 비로소 그 구간의 부하를 말할 수 있습니다. 5분 전 값과 지금 값을 빼야 최근 5분의 부하가 되는 것입니다.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57217926"/>
      </p:ext>
    </p:extLst>
  </p:cSld>
  <p:clrMapOvr>
    <a:masterClrMapping/>
  </p:clrMapOvr>
</p:notes>
</file>

<file path=ppt/notesSlides/notesSlide7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실습 데이터베이스에서 부하 전에 조회한 시스템 시간 모델 누적값입니다. DB time이 약 67.7초, DB CPU가 약 17.5초로, 누적 기준 CPU 비율은 약 25.8퍼센트입니다. 다만 이것은 기동 이후 전체 누적의 비율일 뿐 지금 이 순간의 상태가 아닙니다. hard parse elapsed time이 parse time elapsed의 대부분을 차지한 점도 함께 읽어 둡니다. 이 숫자만으로 좋다 나쁘다를 말할 수 없고, 반드시 관심 구간의 델타로 환원해 봐야 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161256474"/>
      </p:ext>
    </p:extLst>
  </p:cSld>
  <p:clrMapOvr>
    <a:masterClrMapping/>
  </p:clrMapOvr>
</p:notes>
</file>

<file path=ppt/notesSlides/notesSlide7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성능을 효과적으로 측정하려면 통계가 있어야 합니다. 당연해 보이지만 실무에서 자주 무너지는 전제입니다. STATISTICS_LEVEL이 낮아 수집이 꺼져 있거나, 관심 구간의 시작 시점 값을 캡처해 두지 않아 델타를 만들 재료가 없으면, 사후에 아무리 뛰어난 분석 기법도 소용이 없습니다. 그래서 이 과정은 조치 전에 근거를 남긴다를 방법론이 아니라 습관으로 요구합니다. 측정 없이 판단하지 않는다는 이 장의 태도는 곧 판단할 재료를 미리 확보한다는 뜻이기도 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798314287"/>
      </p:ext>
    </p:extLst>
  </p:cSld>
  <p:clrMapOvr>
    <a:masterClrMapping/>
  </p:clrMapOvr>
</p:notes>
</file>

<file path=ppt/notesSlides/notesSlide7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델타를 재는 방법은 단순합니다. 구간 시작과 끝에 누적값을 캡처해 빼면 됩니다. AWR 보고서가 하는 일이 바로 두 스냅샷 사이의 델타 계산입니다. 그런데 구간을 너무 짧게 잡으면 시간 모델의 CPU와 대기 분해가 샘플링과 반올림 노이즈에 휘둘려 불안정해집니다. 그래서 정확한 DB Time 분해는 순간이 아니라 수 분짜리 구간으로 봐야 하며, 그 구간을 체계적으로 뜨는 도구가 6장의 AWR입니다. 라이선스가 없어 AWR을 못 써도 원리는 같아서, V$ 뷰를 스크립트로 두 번 조회해 빼기만 하면 같은 델타를 얻습니다.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619234534"/>
      </p:ext>
    </p:extLst>
  </p:cSld>
  <p:clrMapOvr>
    <a:masterClrMapping/>
  </p:clrMapOvr>
</p:notes>
</file>

<file path=ppt/notesSlides/notesSlide7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장의 세션 델타와 대기 실측은 부하 전에 버퍼 캐시를 비워, 물리 I/O 대기가 DB time에 확실히 잡히도록 만든 것입니다. ALTER SYSTEM FLUSH BUFFER_CACHE는 캐시에 올라와 있던 모든 데이터 블록을 버려 이후 모든 조회가 디스크부터 다시 읽게 만듭니다. 실습에서 물리 I/O를 재현하려는 의도적 조치이지만, 운영 데이터베이스에서는 절대 실행하면 안 됩니다. 전체 시스템의 응답시간이 급격히 나빠지고 다른 모든 세션이 함께 피해를 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62994615"/>
      </p:ext>
    </p:extLst>
  </p:cSld>
  <p:clrMapOvr>
    <a:masterClrMapping/>
  </p:clrMapOvr>
</p:notes>
</file>

<file path=ppt/notesSlides/notesSlide7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DB Time은 전경 세션이 데이터베이스 호출에 쓴 시간의 총합으로, 인스턴스 전체 워크로드의 지표입니다. Idle 대기에 있지 않은 모든 사용자 세션의 CPU 시간과 대기 시간을 합산한 값이며, 한 문장으로 DB Time은 DB CPU와 대기의 합입니다. 성능을 개선한다는 것은 결국 같은 일을 처리하는 데 드는 DB Time을 줄이는 것과 같습니다. Idle 대기에 있는 세션의 시간은 넣지 않으므로, 접속 수가 아니라 실제로 일한 시간을 재는 지표입니다.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842331649"/>
      </p:ext>
    </p:extLst>
  </p:cSld>
  <p:clrMapOvr>
    <a:masterClrMapping/>
  </p:clrMapOvr>
</p:notes>
</file>

<file path=ppt/notesSlides/notesSlide7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DB Time은 모든 비휴지 전경 세션의 시간을 합치므로 벽시계 시간을 초과할 수 있습니다. 기동한 지 30분인 인스턴스라도 활성 세션이 넷이면 누적 DB Time은 약 120분이 됩니다. 여기서 파생되는 지표가 Average Active Sessions로, 구간 DB Time을 구간 벽시계 시간으로 나눈 값입니다. 이 값을 호스트의 CPU 코어 수와 비교하면 시스템이 얼마나 붐볐는지 감을 잡을 수 있습니다.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790303406"/>
      </p:ext>
    </p:extLst>
  </p:cSld>
  <p:clrMapOvr>
    <a:masterClrMapping/>
  </p:clrMapOvr>
</p:notes>
</file>

<file path=ppt/notesSlides/notesSlide7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성능 문제는 생김새가 제각각이라 서로 다른 단위로는 무엇이 급한지 비교할 수 없습니다. 그러나 모두 이 구간 DB Time의 몇 퍼센트를 먹었는가로 환산하면 한 줄에 세워 비교할 수 있습니다. 그래서 이 과정의 판독 원칙은 상위 대기 하나만 보는 것이 아니라 그것이 DB Time에서 차지하는 비중과 함께 보는 것입니다. 조치의 가치 역시 DB Time 비중을 얼마나 줄였는가로 평가합니다. DB Time의 3퍼센트짜리 대기를 절반으로 줄여도 체감은 거의 없기 때문입니다.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694451312"/>
      </p:ext>
    </p:extLst>
  </p:cSld>
  <p:clrMapOvr>
    <a:masterClrMapping/>
  </p:clrMapOvr>
</p:notes>
</file>

<file path=ppt/notesSlides/notesSlide7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세션 시간 모델로 특정 세션이 이 부하 구간에 쓴 시간만 순수하게 쟀습니다. 다른 세션의 영향을 배제하기 위해 시스템 뷰가 아니라 세션 뷰를 썼습니다. 델타이므로 이 값들은 오직 이 부하 구간만의 부하를 가리킵니다. 인스턴스 기동 이후 누적이 아니라 관심 구간의 시작과 끝을 빼서 그 구간을 재는 것이 이 장이 가르치는 측정 방식입니다. 그런데 DB CPU 델타가 DB time 델타보다 커서 대기가 음수로 계산되는 이상한 결과가 나왔습니다. 다음 슬라이드에서 그 이유를 설명합니다.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465228979"/>
      </p:ext>
    </p:extLst>
  </p:cSld>
  <p:clrMapOvr>
    <a:masterClrMapping/>
  </p:clrMapOvr>
</p:notes>
</file>

<file path=ppt/notesSlides/notesSlide7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DB CPU 델타가 DB time 델타보다 큰 것은 버그도 오차도 아닙니다. 구간이 0.3초로 너무 짧아 두 카운터가 갱신되는 시점이 미세하게 어긋나고 마이크로초 반올림이 겹치면서 분해가 불안정해진 것입니다. 그렇다고 대기가 없었던 것은 아닙니다. 대기의 실체는 V$SESSION_EVENT에서 확인해야 하며, 정확한 CPU 대기 비율을 보려면 순간이 아니라 수 분짜리 AWR 구간으로 봐야 합니다. 여기서 다시 6장으로 이어집니다.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129752202"/>
      </p:ext>
    </p:extLst>
  </p:cSld>
  <p:clrMapOvr>
    <a:masterClrMapping/>
  </p:clrMapOvr>
</p:notes>
</file>

<file path=ppt/notesSlides/notesSlide7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시간 모델 통계는 계층 구조를 이룹니다. 최상위에 DB time이 있고 그 아래에 SQL 실행, 파싱, PL/SQL 실행 같은 굵은 갈래가 있으며, 파싱 아래에 다시 하드 파싱이 놓입니다. 이 계층은 상위가 하위를 포함하는 부분집합 관계라 하위를 모두 더한다고 DB time이 되지는 않습니다. 대신 시간이 실행으로 갔는가 파싱으로 갔는가 그 파싱은 하드 파싱인가를 위에서 아래로 좁혀 가며 짚는 지도로 씁니다. 실측에서는 파싱 시간이 거의 하드 파싱에서 왔습니다.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012904273"/>
      </p:ext>
    </p:extLst>
  </p:cSld>
  <p:clrMapOvr>
    <a:masterClrMapping/>
  </p:clrMapOvr>
</p:notes>
</file>

<file path=ppt/notesSlides/notesSlide7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대기 이벤트는 서버 프로세스가 어떤 일이 끝나기를 기다려 처리를 멈춘 것을 나타내는 통계로, 래치·버퍼·I/O 경합 같은 문제의 증상을 드러냅니다. 오라클은 수백 개 이벤트를 대체로 같은 해법이 통하는지를 기준으로 12개 클래스로 묶습니다. 다만 대기는 증상이지 원인이 아니며, Idle 클래스는 세션이 쉬는 것이라 병목이 아니므로 반드시 제외하고 봅니다. 분류 기준은 대체로 같은 해법이 통하는가로, 예컨대 배타적 TX 잠금은 애플리케이션 문제, HW 잠금은 구성 문제로 묶입니다.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320541199"/>
      </p:ext>
    </p:extLst>
  </p:cSld>
  <p:clrMapOvr>
    <a:masterClrMapping/>
  </p:clrMapOvr>
</p:notes>
</file>

<file path=ppt/notesSlides/notesSlide7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짧은 구간에서 대기의 실체는 시간 모델의 비율이 아니라 대기 이벤트 뷰에서 직접 확인합니다. 이 세션은 db file scattered read를 120회, 65밀리초 기다렸습니다. scattered read는 전체 스캔이 여러 블록을 한 번에 읽을 때 나는 대기입니다. 캐시를 비운 뒤 대량 스캔을 돌리자 물리 I/O가 이 세션의 대기를 채웠다는 명확한 증거입니다. DB Time 등식의 대기 부분은 바로 이 65밀리초로 설명하는 것이 정확합니다.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649611985"/>
      </p:ext>
    </p:extLst>
  </p:cSld>
  <p:clrMapOvr>
    <a:masterClrMapping/>
  </p:clrMapOvr>
</p:notes>
</file>

<file path=ppt/notesSlides/notesSlide7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시스템 전체 관점에서 대기 클래스별 집계입니다. Idle을 제외하지 않으면 SQL*Net message from client가 압도적 1위로 올라와 엉뚱한 곳을 파게 됩니다. 여기서 상위가 Network인 것을 그대로 이 시스템의 병목은 네트워크다라고 읽으면 안 됩니다. 이 값은 기동 이후 전체 누적이라, 특정 구간의 병목을 지목하려면 이 집계도 부하 전후로 두 번 떠서 델타를 봐야 합니다. 누적 순위와 구간 델타 순위는 다를 수 있습니다.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180552823"/>
      </p:ext>
    </p:extLst>
  </p:cSld>
  <p:clrMapOvr>
    <a:masterClrMapping/>
  </p:clrMapOvr>
</p:notes>
</file>

<file path=ppt/notesSlides/notesSlide7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시간 모델과 대기 클래스 외에도 시스템과 세션 수준의 방대한 누적 카운터가 V$SYSSTAT와 V$SESSTAT에 있습니다. 논리 읽기, 물리 읽기, 리두 크기, 파싱 수, 커밋 수, 정렬 같은 값들입니다. 이 카운터들은 대기와 짝을 이뤄, 대기 하나만 보지 않고 함께 교차 검증합니다. 이들도 누적값이라 델타로 봅니다. 한편 활성 세션을 1초 주기로 샘플링하는 ASH는 순간을 붙잡는 또 하나의 축이지만 Diagnostics Pack이 필요해, 이 장에서는 개념만 소개하고 10장에서 다룹니다.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965376650"/>
      </p:ext>
    </p:extLst>
  </p:cSld>
  <p:clrMapOvr>
    <a:masterClrMapping/>
  </p:clrMapOvr>
</p:notes>
</file>

<file path=ppt/notesSlides/notesSlide7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버퍼 캐시 히트율 같은 계산된 비율은 문제 존재를 확정하는 판정자로 쓰면 안 되고 지표로만 씁니다. 비효율 SQL이 같은 블록을 반복해서 논리 읽기로 되읽으면 그 대부분이 캐시에서 처리되어 히트율은 오히려 99퍼센트로 올라갑니다. 즉 히트율이 높아진 것이 성능이 나빠진 결과일 수 있습니다. 진짜로 봐야 할 것은 논리 읽기 자체가 왜 이렇게 많은가입니다. 즉 히트율이 높아진 것이 오히려 성능이 나빠진 결과일 수 있어, 단일 비율 하나로 건강을 판정하면 정반대의 현실을 놓칩니다. 이 함정은 17장에서 직접 재현합니다.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946896790"/>
      </p:ext>
    </p:extLst>
  </p:cSld>
  <p:clrMapOvr>
    <a:masterClrMapping/>
  </p:clrMapOvr>
</p:notes>
</file>

<file path=ppt/notesSlides/notesSlide7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대기 시간이 있어야 그 대기가 전체 경과의 얼마인지 비교할 수 있습니다. 2시간 중 30초 대기는 1위여도 손댈 가치가 적고, 45분 중 30분이면 반드시 조사합니다. Idle 이벤트는 세션이 쉬는 것이라 제외합니다. 비율 같은 계산 통계는 원시 카운트로 검증합니다. 하드 파스 1회 소프트 파스 1회면 소프트 파스 비율이 50퍼센트여도 성능에 무의미합니다. 공통점은 숫자 하나를 다른 숫자로 교차 검증한다는 것입니다.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131326336"/>
      </p:ext>
    </p:extLst>
  </p:cSld>
  <p:clrMapOvr>
    <a:masterClrMapping/>
  </p:clrMapOvr>
</p:notes>
</file>

<file path=ppt/notesSlides/notesSlide7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통계를 평가할 때는 그 값에 영향을 주는 다른 요인, 즉 사용자 부하와 하드웨어 능력도 함께 봅니다. 45분 구간에서 30분을 차지한 대기라도 그 시스템에 사용자가 2,000명 붙어 있고 호스트가 64노드였다면 곧 성능 문제라고 단정할 수 없습니다. 반대로 사용자 몇 명뿐인 시스템에서 같은 비중이 나왔다면 훨씬 심각합니다. 같은 숫자라도 맥락이 의미를 바꿉니다. 이 장의 실측 대기 값이 학습자마다 다른 것도 환경 요인 때문이며, 그래서 절대값을 단정하지 않고 환경값으로 둡니다.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486155596"/>
      </p:ext>
    </p:extLst>
  </p:cSld>
  <p:clrMapOvr>
    <a:masterClrMapping/>
  </p:clrMapOvr>
</p:notes>
</file>

<file path=ppt/notesSlides/notesSlide7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지금까지 배운 모든 측정은 STATISTICS_LEVEL이라는 하나의 스위치에 달려 있습니다. 이 값이 낮으면 측정할 데이터 자체가 만들어지지 않아 아무리 좋은 도구도 빈손이 됩니다. BASIC은 AWR과 시간 모델 상당수를 끄므로 권장되지 않고, TYPICAL이 기본값이자 권장값이며 이때 TIMED_STATISTICS가 자동으로 켜집니다. ALL은 추가 통계를 더 모으지만 오버헤드가 커서 특별한 목적이 아니면 상시 쓰지 않습니다.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871029881"/>
      </p:ext>
    </p:extLst>
  </p:cSld>
  <p:clrMapOvr>
    <a:masterClrMapping/>
  </p:clrMapOvr>
</p:notes>
</file>

<file path=ppt/notesSlides/notesSlide7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장에서 쓴 뷰는 모두 관리 팩 라이선스가 필요 없습니다. 즉 라이선스가 없어도 델타 방식으로 V$를 두 번 조회하면 이 장의 측정은 전부 할 수 있습니다. 반면 이 장이 던지는 수 분 구간을 어떻게 뜨고 저장하나라는 질문의 답인 AWR과 ADDM, ASH, DBA_HIST 계열은 Diagnostics Pack이 필요합니다. 라이선스가 없으면 이 장의 V$ 델타 기법과 무상 도구 Statspack으로 같은 것을 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343973454"/>
      </p:ext>
    </p:extLst>
  </p:cSld>
  <p:clrMapOvr>
    <a:masterClrMapping/>
  </p:clrMapOvr>
</p:notes>
</file>

<file path=ppt/notesSlides/notesSlide7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장의 이론을 하나의 절차로 묶으면 네 단계입니다. 부하 직전에 시간 모델과 시스템 통계, 대기 클래스, 주요 대기 이벤트의 누적값을 캡처하고, WL_06_mixed 스크립트로 파싱과 물리 I/O, 정렬, DML을 섞어 일정 구간 돌린 뒤, 같은 통계를 다시 캡처해 뺍니다. 델타를 구간 초와 트랜잭션 수로 나누면 AWR의 Load Profile과 같은 초당 트랜잭션당 값이 됩니다. 학습자는 이 델타 요약을 정답지처럼 쥐고 AWR 보고서와 대조합니다.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744682311"/>
      </p:ext>
    </p:extLst>
  </p:cSld>
  <p:clrMapOvr>
    <a:masterClrMapping/>
  </p:clrMapOvr>
</p:notes>
</file>

<file path=ppt/notesSlides/notesSlide7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델타를 초당과 트랜잭션당으로 환산하는 이유는 구간 길이가 다른 측정을 비교하려면 시간으로 정규화해야 하기 때문입니다. 특히 트랜잭션당 값은 부하가 늘어난 것인지 트랜잭션 하나가 무거워진 것인지를 가려 줍니다. 느려진 것과 일이 늘어난 것은 다르다는 11장의 핵심이 여기서 씨앗을 얻습니다. 또 물리 읽기 델타가 크면 User I/O 대기 델타도 커야 앞뒤가 맞으므로, 조각들을 함께 보며 교차 검증합니다.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916961121"/>
      </p:ext>
    </p:extLst>
  </p:cSld>
  <p:clrMapOvr>
    <a:masterClrMapping/>
  </p:clrMapOvr>
</p:notes>
</file>

<file path=ppt/notesSlides/notesSlide7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 뷰는 인스턴스 기동 이후의 누적값이거나 최근 몇 초의 순간값이라 두 가지 한계가 있습니다. 재기동하면 초기화되어 과거가 사라지고, 살아 있는 동안에도 특정 과거 시점을 되짚을 수 없습니다. 성능 문제는 대개 사후에 신고되므로 지나간 시점을 재구성할 수 있어야 진단이 됩니다. AWR은 주기적으로 V$의 핵심을 떠서 디스크에 남기므로 이 두 한계를 메운다는 점을 강조합니다.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037480654"/>
      </p:ext>
    </p:extLst>
  </p:cSld>
  <p:clrMapOvr>
    <a:masterClrMapping/>
  </p:clrMapOvr>
</p:notes>
</file>

<file path=ppt/notesSlides/notesSlide7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AWR은 오브젝트 통계, 시간 모델, 시스템·세션 통계 일부, 상위 부하 SQL, ASH를 담습니다. 세션 수준을 제외한 대부분 통계의 누적값과 델타값을 함께 보존하는데, 델타는 한 스냅샷과 앞 스냅샷 사이의 변화량입니다. 5장에서 손으로 계산하던 뒤 값 빼기 앞 값을 AWR이 스냅샷을 뜰 때마다 자동으로 저장해 둔다는 점, 그래서 보고서가 구간을 지정하면 델타로 값이 나온다는 점을 설명합니다.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641840285"/>
      </p:ext>
    </p:extLst>
  </p:cSld>
  <p:clrMapOvr>
    <a:masterClrMapping/>
  </p:clrMapOvr>
</p:notes>
</file>

<file path=ppt/notesSlides/notesSlide7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세 개념을 시간 축으로 그리면 이해가 쉽습니다. 스냅샷은 시간 선 위에 60분마다 찍히는 점입니다. 이동 윈도우 베이스라인은 지금으로부터 8일 전이라는 왼쪽 끝이 시간과 함께 계속 오른쪽으로 밀려가는, 항상 최근 8일을 덮는 구간입니다. 고정 베이스라인은 사람이 여기서 여기까지 못을 박아 둔 구간이라 시간이 흘러도 움직이지 않고, 그 안의 스냅샷은 자동 삭제에서 제외된다는 것을 강조합니다.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363208608"/>
      </p:ext>
    </p:extLst>
  </p:cSld>
  <p:clrMapOvr>
    <a:masterClrMapping/>
  </p:clrMapOvr>
</p:notes>
</file>

<file path=ppt/notesSlides/notesSlide7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저장된 AWR 데이터는 보통 보고서로 보지만 DBA_HIST_ 접두어 뷰로 직접 조회할 수도 있습니다. 이 뷰들은 SYS 소유이며 Diagnostics Pack 대상입니다. 이 장에서는 스냅샷 목록의 DBA_HIST_SNAPSHOT, 설정의 DBA_HIST_WR_CONTROL, 베이스라인의 DBA_HIST_BASELINE을 씁니다. 이 뷰 이름들은 V$와 짝을 이뤄 V$SYSSTAT의 역사가 DBA_HIST_SYSSTAT에 쌓입니다. V$로 지금을 보고 DBA_HIST_로 과거를 본다가 5장과 이 장을 잇는 한 줄 요약이며, 라이선스가 없어 못 쓸 때 V$ 델타 계산이 대안의 뿌리임을 강조합니다.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655616986"/>
      </p:ext>
    </p:extLst>
  </p:cSld>
  <p:clrMapOvr>
    <a:masterClrMapping/>
  </p:clrMapOvr>
</p:notes>
</file>

<file path=ppt/notesSlides/notesSlide7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무엇을 바꾸기 전에 지금 값을 봅니다. DBA_HIST_WR_CONTROL이 현재 주기·보존을 인터벌 형식으로 보여 줍니다. 플러스 0일 1시간은 60분, 플러스 8일은 8일이므로 이 실습 환경은 기본값을 그대로 쓰고 있음을 확인했습니다. 조회는 인터벌 형식이지만 변경은 분 단위 정수라는 점을 미리 짚어 혼동을 막습니다. TOPNSQL DEFAULT는 스냅샷마다 각 기준별 상위 SQL을 시스템 기본 개수만 담는다는 뜻입니다.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806662374"/>
      </p:ext>
    </p:extLst>
  </p:cSld>
  <p:clrMapOvr>
    <a:masterClrMapping/>
  </p:clrMapOvr>
</p:notes>
</file>

<file path=ppt/notesSlides/notesSlide7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주기·보존·TOPNSQL은 MODIFY_SNAPSHOT_SETTINGS로 바꾸며 인자는 분 단위입니다. retention은 보존, interval은 주기, topnsql은 각 기준별 상위 SQL 개수입니다. 필요한 인자만 골라 넘길 수 있고, 변경 뒤에는 반드시 다시 조회해 의도대로 바뀌었는지 확인하는 3단 습관을 강조합니다. interval을 0으로 두면 자동 수집이 멈추고 수동 스냅샷조차 못 만들며 자가 관리 기능이 꺼지므로 오라클이 강력히 권고하지 않는다는 함정도 함께 짚습니다.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57914053"/>
      </p:ext>
    </p:extLst>
  </p:cSld>
  <p:clrMapOvr>
    <a:masterClrMapping/>
  </p:clrMapOvr>
</p:notes>
</file>

<file path=ppt/notesSlides/notesSlide7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보존 기간은 감이 아니라 워크로드 주기에서 나옵니다. 오라클 권고는 최소한 하나의 완전한 워크로드 주기를 담을 만큼입니다. 주 단위로 도는 시스템은 기본 8일이면 한 주기를 덮고, 월말 결산처럼 월 단위 피크가 있으면 한 달로 늘려야 다음 달과 비교할 수 있습니다. 보존을 줄이면 AWR에 의존하는 여러 어드바이저의 정확도가 떨어지므로, 주기·보존·이동 윈도우를 한 세트로 설계해야 한다는 점을 강조합니다.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510723649"/>
      </p:ext>
    </p:extLst>
  </p:cSld>
  <p:clrMapOvr>
    <a:masterClrMapping/>
  </p:clrMapOvr>
</p:notes>
</file>

<file path=ppt/notesSlides/notesSlide7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예외적 상황에서 주기를 0으로 두면 자동 스냅샷 수집이 멈춥니다. 이때는 워크로드와 통계의 자동 수집이 중단되고 대부분의 자가 관리 기능이 동작하지 않으며, 수동 스냅샷조차 만들 수 없습니다. 그래서 오라클은 자동 수집 비활성화를 강력히 권고하지 않습니다. 현장에서 스냅샷을 잠깐 끄자는 요청이 오면 공간을 아끼려다 진단 능력을 통째로 잃는 부작용부터 설명해야 한다는 점을 강조합니다. 공간 문제는 주기를 늘리거나 보존을 줄이는 정공법으로 풀어야 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8508260"/>
      </p:ext>
    </p:extLst>
  </p:cSld>
  <p:clrMapOvr>
    <a:masterClrMapping/>
  </p:clrMapOvr>
</p:notes>
</file>

<file path=ppt/notesSlides/notesSlide7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자동 스냅샷은 정시에 찍히므로 내가 만든 부하가 두 정시에 걸치면 따로 떼어 볼 수 없습니다. 특정 작업의 성능을 정확히 재려면 그 앞뒤에 CREATE_SNAPSHOT으로 스냅샷을 손으로 찍어 구간을 감싸야 합니다. 실습에서는 시작이 295, 부하 실행 후 종료가 296으로 찍혔습니다. 이 295에서 296 구간이 8장 보고서, 9장 ADDM, 10장 ASH의 공통 재료가 된다는 점, 즉 이 장이 뒤 장의 실습 데이터를 만든다는 점을 강조합니다.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945546943"/>
      </p:ext>
    </p:extLst>
  </p:cSld>
  <p:clrMapOvr>
    <a:masterClrMapping/>
  </p:clrMapOvr>
</p:notes>
</file>

<file path=ppt/notesSlides/notesSlide7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수동 스냅샷에서 흔히 놓치는 것이 정말 새 스냅샷이 생겼는가의 확인입니다. CREATE_SNAPSHOT을 실행하고도 MAX(snap_id)가 그대로라면 STATISTICS_LEVEL이 BASIC이거나 CONTROL_MANAGEMENT_PACK_ACCESS가 NONE이라 AWR이 꺼져 있을 수 있습니다. 프로시저가 오류 없이 끝나도 스냅샷이 안 남을 수 있으므로, 뜬 직후 DBA_HIST_SNAPSHOT의 번호가 늘었는지 눈으로 확인하는 습관을 강조합니다. 이 흐름이 실습의 이상 징후 대응 시나리오입니다.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912858531"/>
      </p:ext>
    </p:extLst>
  </p:cSld>
  <p:clrMapOvr>
    <a:masterClrMapping/>
  </p:clrMapOvr>
</p:notes>
</file>

<file path=ppt/notesSlides/notesSlide7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295에서 296 구간은 7개 세션이 100초 동안 리터럴 파싱·대량 스캔·정렬·잦은 커밋을 섞어 만든 종합 부하입니다. 같은 사건을 8장 AWR은 DB CPU 95.7퍼센트로, 9장 ADDM은 리터럴 사용으로 인한 하드 파싱이라는 진단으로, 10장 ASH는 ON CPU 90.7퍼센트로 보여 줍니다. 세 수치가 어긋나지 않는 것은 모두 같은 스냅샷 구간, 같은 부하를 원천으로 하기 때문이며, 구간을 어떻게 잡았는가가 진단의 질을 좌우한다는 점을 강조합니다.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300966365"/>
      </p:ext>
    </p:extLst>
  </p:cSld>
  <p:clrMapOvr>
    <a:masterClrMapping/>
  </p:clrMapOvr>
</p:notes>
</file>

<file path=ppt/notesSlides/notesSlide7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베이스라인은 특정 기간의 스냅샷 집합을 문제 발생 시 비교용으로 보존해 둔 것입니다. 핵심은 베이스라인에 포함된 스냅샷이 자동 퍼지에서 제외되어 무기한 보존된다는 점입니다. 고정 베이스라인은 사람이 지정한 정상 구간이고, 이동 윈도우는 보존 기간 안 전체를 시스템이 자동 유지하는 것으로 적응형 임계값 계산에 쓰입니다. 정상 구간을 잘못 고르면 나빠진 것을 정상으로 착각하므로 대표성 있는 평상시를 골라야 한다는 함정도 짚습니다.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821016449"/>
      </p:ext>
    </p:extLst>
  </p:cSld>
  <p:clrMapOvr>
    <a:masterClrMapping/>
  </p:clrMapOvr>
</p:notes>
</file>

<file path=ppt/notesSlides/notesSlide7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고정 베이스라인은 시작·끝 스냅샷 ID와 이름으로 만듭니다. 실습에서는 앞서 확보한 295~296 구간을 TUNING_CH6_DEMO로 보호했고, expiration 30일을 주어 30일 뒤 자동 만료되게 했습니다. start/end는 이미 존재하는 스냅샷 번호여야 하므로 수동 스냅샷으로 구간을 먼저 확보한 뒤 만드는 순서가 자연스럽습니다. 조회하면 시스템 이동 윈도우와 방금 만든 STATIC 베이스라인이 함께 보이며, 이제 295~296은 8일이 지나도 지워지지 않습니다.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483023003"/>
      </p:ext>
    </p:extLst>
  </p:cSld>
  <p:clrMapOvr>
    <a:masterClrMapping/>
  </p:clrMapOvr>
</p:notes>
</file>

<file path=ppt/notesSlides/notesSlide7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베이스라인은 RENAME_BASELINE으로 이름을 바꾸고 DROP_BASELINE으로 삭제합니다. cascade를 FALSE로 두면 베이스라인 표식만 사라지고 딸린 스냅샷은 보존되며, TRUE면 스냅샷까지 함께 지워집니다. 실습에서는 스냅샷을 뒤 장에서 계속 쓰므로 cascade FALSE로 베이스라인만 해제했고, 조회 결과 0건으로 정리를 확인했습니다. 다 쓴 고정 베이스라인은 디스크 절약을 위해 주기적으로 지우는 습관을 강조합니다.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48799009"/>
      </p:ext>
    </p:extLst>
  </p:cSld>
  <p:clrMapOvr>
    <a:masterClrMapping/>
  </p:clrMapOvr>
</p:notes>
</file>

<file path=ppt/notesSlides/notesSlide7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이미 지나간 구간이 아니라 앞으로 올 구간을 자동으로 베이스라인화하려면 베이스라인 템플릿을 씁니다. 단일 템플릿은 미래의 한 번의 고정 구간을, 반복 템플릿은 매주 월요일 오전처럼 되풀이되는 구간을 대상으로 합니다. CREATE_BASELINE_TEMPLATE에 시작·종료 시각과 이름을 주면 그 구간이 도래할 때 오라클이 자동으로 베이스라인을 만듭니다. 월초·분기말처럼 반드시 남겨야 하는 시각이 정해져 있으면 사람이 매번 챙기는 대신 예약해 두는 편이 안전하다는 점을 강조합니다.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586832951"/>
      </p:ext>
    </p:extLst>
  </p:cSld>
  <p:clrMapOvr>
    <a:masterClrMapping/>
  </p:clrMapOvr>
</p:notes>
</file>

<file path=ppt/notesSlides/notesSlide7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AWR 데이터는 기본적으로 SYSAUX에 저장되고, 스냅샷이 쌓일수록 커지므로 점유를 주기적으로 봐야 합니다. SYSAUX는 AWR만의 공간이 아니라 여러 구성 요소가 공유하므로, 원인이 AWR인지 가르는 것이 V$SYSAUX_OCCUPANTS입니다. AWR은 SM/AWR이라는 이름으로 나타나며, 실측은 281.9MB로 오라클이 말하는 전형적 200~300MB 범위 안이었습니다. 이 값을 절대 기준으로 외우기보다 전보다 유난히 커졌는가를 판단하는 관찰 습관을 강조합니다.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914185502"/>
      </p:ext>
    </p:extLst>
  </p:cSld>
  <p:clrMapOvr>
    <a:masterClrMapping/>
  </p:clrMapOvr>
</p:notes>
</file>

<file path=ppt/notesSlides/notesSlide7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AWR 공간을 줄이는 정공법은 주기를 늘리거나 보존을 줄이는 것입니다. 보존을 줄이면 자가 관리 기능 정확도가 떨어지니 신중해야 합니다. 급히 공간을 회수해야 하면 DROP_SNAPSHOT_RANGE에 시작·끝 snap_id를 주어 오래된 구간을 지웁니다. 단 베이스라인에 포함된 스냅샷은 이 방법으로도 안 지워지는데, 이는 보호가 곧 자동 정리 면제라는 정상 동작입니다. 자동 퍼지에 맡겨도 보존이 지나면 정리되므로 수동 삭제는 응급 수단임을 강조합니다.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145010959"/>
      </p:ext>
    </p:extLst>
  </p:cSld>
  <p:clrMapOvr>
    <a:masterClrMapping/>
  </p:clrMapOvr>
</p:notes>
</file>

<file path=ppt/notesSlides/notesSlide7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SM/AWR 점유가 예상보다 크면 원인을 순서대로 좁힙니다. 첫째 주기가 짧아졌는지, 둘째 보존이 길어졌는지, 셋째 topnsql이 MAXIMUM이거나 큰 값인지, 넷째 활성 세션이 많은 바쁜 시스템인지 봅니다. 이 네 가지를 DBA_HIST_WR_CONTROL과 실제 설정으로 확인하면 대부분 원인이 잡힙니다. AWR이 SYSAUX를 지나치게 점유하면 19c부터는 다른 테이블스페이스로 옮길 수도 있지만, 일상 대응은 주기·보존 조정과 오래된 구간 삭제로 충분한 경우가 많다는 점을 덧붙입니다.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127771252"/>
      </p:ext>
    </p:extLst>
  </p:cSld>
  <p:clrMapOvr>
    <a:masterClrMapping/>
  </p:clrMapOvr>
</p:notes>
</file>

<file path=ppt/notesSlides/notesSlide7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절은 이 장에서 가장 실무적인 교훈입니다. 보존이 8일이면 그보다 오래된 스냅샷은 자동 퍼지로 사라지는데, 이는 버그가 아니라 설계입니다. 문제는 사고 조사가 늦어질 때입니다. 금요일 밤 사고를 다음 주에 조사하면 그 사이 원본이 사라질 수 있습니다. 해결은 단순합니다. 사고를 인지한 즉시, 조사에 착수하기 전에 사고 구간을 베이스라인으로 지정합니다. 지금 얼려 둔다가 원칙이며, 이것이 이 장의 Common Error인 사고 데이터 소실을 막는 0번 단계임을 강조합니다.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949403041"/>
      </p:ext>
    </p:extLst>
  </p:cSld>
  <p:clrMapOvr>
    <a:masterClrMapping/>
  </p:clrMapOvr>
</p:notes>
</file>

<file path=ppt/notesSlides/notesSlide7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보존 기간을 넘긴 스냅샷을 조회하면 데이터가 없어 보고서가 비거나 구간을 지정할 수 없습니다. 왜 어제 데이터가 없지라고 당황하기 전에 두 가지를 확인합니다. 첫째 보존 기간, 둘째 가장 오래된 스냅샷의 번호와 시각입니다. 가장 오래된 스냅샷이 사고 시각보다 뒤라면 원본은 이미 퍼지된 것입니다. 이 확인 절차를 알면 데이터 소실이 사고가 아니라 예정된 동작임을 이해하게 되고, 다음부터는 베이스라인으로 미리 막게 된다는 점을 강조합니다.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616070678"/>
      </p:ext>
    </p:extLst>
  </p:cSld>
  <p:clrMapOvr>
    <a:masterClrMapping/>
  </p:clrMapOvr>
</p:notes>
</file>

<file path=ppt/notesSlides/notesSlide7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Statspack은 AWR의 전신이자 무상 대안으로, 라이선스 없이 스냅샷을 뜨고 보고서를 만듭니다. SYSDBA로 spcreate.sql을 실행해 PERFSTAT 계정에 설치하고, STATSPACK.SNAP으로 부하 앞뒤에 스냅샷을 떠 구간을 감싼 뒤 spreport.sql로 보고서를 만듭니다. 보고서의 Load Profile·Top 5 Timed Events·SQL 섹션은 AWR과 읽는 법이 거의 같습니다. 레벨로 상세도를 정하고 spauto로 자동 수집, sppurge로 정리하는 등 AWR의 자동화를 스크립트로 손수 갖춘다는 점을 설명합니다.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935626508"/>
      </p:ext>
    </p:extLst>
  </p:cSld>
  <p:clrMapOvr>
    <a:masterClrMapping/>
  </p:clrMapOvr>
</p:notes>
</file>

<file path=ppt/notesSlides/notesSlide7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Statspack은 AWR 이전 시대의 표준 진단 도구였고, 10g에서 AWR·ADDM·ASH가 Diagnostics Pack으로 묶이면서 무상으로 남아 라이선스 미보유 환경의 정식 대안이 되었습니다. 따라서 Statspack을 쓴다는 것은 옛날 방식으로 후퇴한다가 아니라 라이선스 경계 안에서 진단을 계속한다는 뜻입니다. 다만 ADDM 자동 진단·ASH·베이스라인 같은 기능이 없어 보고서를 사람이 읽어야 하므로, Statspack 환경일수록 8장에서 배울 보고서 판독 능력이 더 중요해진다는 점을 강조합니다.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964051849"/>
      </p:ext>
    </p:extLst>
  </p:cSld>
  <p:clrMapOvr>
    <a:masterClrMapping/>
  </p:clrMapOvr>
</p:notes>
</file>

<file path=ppt/notesSlides/notesSlide7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AWR과 Statspack은 같은 목적의 도구지만 결이 다릅니다. AWR은 Diagnostics Pack이 필요하고 SYSAUX에 저장하며 ADDM·ASH·베이스라인과 통합됩니다. Statspack은 무상이고 PERFSTAT 스키마에 저장하지만 자동 진단이 없어 사람이 보고서를 읽어야 합니다. 선택 기준은 라이선스가 있으면 AWR, 없고 정기 이력이 필요하면 Statspack, 한 구간만 재면 V$ 델타입니다. 세 경로 모두 두 시점의 차이를 부하로 읽는다는 5장의 원리는 같다는 점으로 마무리합니다.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068168554"/>
      </p:ext>
    </p:extLst>
  </p:cSld>
  <p:clrMapOvr>
    <a:masterClrMapping/>
  </p:clrMapOvr>
</p:notes>
</file>

<file path=ppt/notesSlides/notesSlide7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옵티마이저는 히스토그램이 없으면 등식 조건의 카디널리티를 전체 행 수를 NDV로 나눈 값으로 추정합니다. MEDICAL_CLAIMS는 30만 행에 HOSP_ID의 NDV가 1,000이므로 어떤 병원이든 300건으로 추정합니다. 그러나 1~50번 대형 병원에 청구가 몰려 실제 36번 병원은 3,100건입니다. 약 열 배의 과소추정이며, 이 300 대 3,100의 간극이 이 장 전체의 정량적 근거가 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212551261"/>
      </p:ext>
    </p:extLst>
  </p:cSld>
  <p:clrMapOvr>
    <a:masterClrMapping/>
  </p:clrMapOvr>
</p:notes>
</file>

<file path=ppt/notesSlides/notesSlide7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실측이 히스토그램 필요성의 핵심 근거입니다. 균등 가정 추정치는 num_rows를 NDV로 나눈 300건이지만, 실제 36번 병원의 청구는 3,100건입니다. 옵티마이저가 300건으로 오판하면 3,100건을 반환하는 조건에 인덱스 스캔을 골라 수천 번의 랜덤 읽기가 일어나고, 전체 스캔보다 훨씬 느려집니다. 히스토그램은 이 편중을 값 단위로 기록해 오판을 막습니다.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08901717"/>
      </p:ext>
    </p:extLst>
  </p:cSld>
  <p:clrMapOvr>
    <a:masterClrMapping/>
  </p:clrMapOvr>
</p:notes>
</file>

<file path=ppt/notesSlides/notesSlide7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히스토그램은 세 종류입니다. 서로 다른 값이 버킷 수 이하이면 값마다 버킷을 배정하는 FREQUENCY가, 값이 많지만 상위 몇 개가 전체의 대부분을 차지하면 TOP-FREQUENCY가, 값이 많고 상위 집중도도 임계에 못 미치면 HYBRID가 만들어집니다. HYBRID는 높이 균형 방식에 각 버킷 끝값의 반복 횟수를 결합해 넓은 범위와 국소 편중을 동시에 표현합니다.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715794495"/>
      </p:ext>
    </p:extLst>
  </p:cSld>
  <p:clrMapOvr>
    <a:masterClrMapping/>
  </p:clrMapOvr>
</p:notes>
</file>

<file path=ppt/notesSlides/notesSlide7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실측을 읽어 봅시다. CLAIM_TYPE(2)·DEPT_CODE(9)·REVIEW_STATUS(2)는 값이 적어 FREQUENCY이고 버킷 수가 NDV와 같습니다. HOSP_ID·TOTAL_AMT·CLAIM_ID·RECEIPT_DATE는 값이 254를 넘어 HYBRID 254버킷입니다. PAT_ID와 VISIT_DATE는 NONE인데, 조건절에 편중과 함께 쓰인 이력이 없어 자동 수집이 히스토그램을 생략한 결과입니다.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96906501"/>
      </p:ext>
    </p:extLst>
  </p:cSld>
  <p:clrMapOvr>
    <a:masterClrMapping/>
  </p:clrMapOvr>
</p:notes>
</file>

<file path=ppt/notesSlides/notesSlide7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히스토그램은 컬럼 값의 분포를 버킷으로 나눠 저장한 통계입니다. 값의 종류가 적으면 값마다 버킷 하나를 배정해 정확한 빈도를 기록하고, 많으면 여러 값을 한 버킷에 묶어 대표합니다. 히스토그램이 있으면 옵티마이저는 등식·범위 조건의 카디널리티를 균등 가정이 아니라 실제 분포에서 읽어 냅니다. 평균으로는 보이지 않는 특정 값의 쏠림을 값 단위로 드러내는 도구입니다.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59603175"/>
      </p:ext>
    </p:extLst>
  </p:cSld>
  <p:clrMapOvr>
    <a:masterClrMapping/>
  </p:clrMapOvr>
</p:notes>
</file>

<file path=ppt/notesSlides/notesSlide7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히스토그램의 효과는 단일 테이블 접근 경로에서 끝나지 않습니다. 옵티마이저는 조인 순서와 방식도 카디널리티에 기대어 정합니다. hosp_id=36 필터를 300건으로 오판하면 중첩 루프 조인을 골라 상대 테이블을 300번만 탐색하리라 기대하지만 실제로는 3,100번을 돌아 열 배 느려집니다. 정확히 3,100으로 알면 해시 조인 같은 대량 처리 방식을 고를 수 있습니다.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441794302"/>
      </p:ext>
    </p:extLst>
  </p:cSld>
  <p:clrMapOvr>
    <a:masterClrMapping/>
  </p:clrMapOvr>
</p:notes>
</file>

<file path=ppt/notesSlides/notesSlide7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기본 METHOD_OPT는 FOR ALL COLUMNS SIZE AUTO입니다. 모든 컬럼을 대상으로 하되 히스토그램을 만들지 여부와 버킷 수는 컬럼 사용 이력과 편중을 보고 오라클이 자동 결정합니다. ESTIMATE_PERCENT의 기본 AUTO_SAMPLE_SIZE는 전체를 한 번 훑어 NDV를 거의 정확하게 계산하므로 표본 비율을 수동으로 낮출 이유가 거의 없습니다.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277395627"/>
      </p:ext>
    </p:extLst>
  </p:cSld>
  <p:clrMapOvr>
    <a:masterClrMapping/>
  </p:clrMapOvr>
</p:notes>
</file>

<file path=ppt/notesSlides/notesSlide7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SIZE 절에는 네 가지를 줄 수 있습니다. AUTO는 사용 이력과 편중을 함께 보는 기본값, SKEWONLY는 이력과 무관하게 편중 컬럼 전부에, REPEAT는 기존 히스토그램 유지, 정수는 버킷 수 강제입니다. 특정 컬럼만 보완하려면 FOR ALL COLUMNS SIZE AUTO 뒤에 FOR COLUMNS 절을 덧붙여 앞은 전체 기본, 뒤는 예외를 지정합니다.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04417574"/>
      </p:ext>
    </p:extLst>
  </p:cSld>
  <p:clrMapOvr>
    <a:masterClrMapping/>
  </p:clrMapOvr>
</p:notes>
</file>

<file path=ppt/notesSlides/notesSlide7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어떤 쿼리가 느리다고 모든 컬럼에 254버킷을 강제하는 것은 위험합니다. 수집 시간과 SYSAUX 사용량이 늘고, 필요 없는 히스토그램이 바인드 피킹과 얽혀 계획을 불안정하게 만듭니다. 먼저 어떤 컬럼이 실제 조건절에 편중과 함께 쓰이는지 확인하고, 기본 AUTO가 놓친 컬럼만 FOR COLUMNS로 보완하는 것이 정석입니다. METHOD_OPT는 테이블 단위 Preference로 관리하고, 변경 전후의 히스토그램 구성과 실행계획을 반드시 비교합니다.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897776109"/>
      </p:ext>
    </p:extLst>
  </p:cSld>
  <p:clrMapOvr>
    <a:masterClrMapping/>
  </p:clrMapOvr>
</p:notes>
</file>

<file path=ppt/notesSlides/notesSlide7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옵티마이저는 여러 조건이 AND로 묶이면 각 선택도를 독립이라 가정하고 곱합니다. CLAIM_TYPE과 DEPT_CODE가 상관되어 있으면 이 곱셈이 실제보다 훨씬 작거나 큰 카디널리티를 낳습니다. claim_type=외래 선택도 0.80과 dept_code 한 값 0.111을 곱하면 약 26,700건이지만, 두 컬럼이 상관되면 실제는 다릅니다. 컬럼 그룹 통계는 조합의 실제 분포를 옵티마이저에게 직접 알려 곱셈 오류를 없앱니다.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157930339"/>
      </p:ext>
    </p:extLst>
  </p:cSld>
  <p:clrMapOvr>
    <a:masterClrMapping/>
  </p:clrMapOvr>
</p:notes>
</file>

<file path=ppt/notesSlides/notesSlide7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확장 통계는 CREATE_EXTENDED_STATS로 만들고 반드시 통계를 다시 수집해야 값이 채워집니다. 만들기만 하면 옵티마이저가 참조할 값이 없습니다. 내부적으로 숨은 가상 컬럼이 생겨 그 컬럼에 통계와 히스토그램이 붙습니다. 어떤 조합이 유용한지는 SEED_COL_USAGE로 워크로드를 관찰해 찾을 수 있고, 불필요해지면 DROP_EXTENDED_STATS로 제거합니다.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070243327"/>
      </p:ext>
    </p:extLst>
  </p:cSld>
  <p:clrMapOvr>
    <a:masterClrMapping/>
  </p:clrMapOvr>
</p:notes>
</file>

<file path=ppt/notesSlides/notesSlide7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WHERE 절에 함수를 쓰면 옵티마이저는 원본 컬럼 통계를 적용하지 못하고 기본 선택도 1%로 추정합니다. EXTRACT(YEAR FROM receipt_date)=2026이 실제로는 상당 비율인데 1%로 추정하면 카디널리티가 크게 어긋납니다. 표현식 통계는 그 표현식 자체의 분포를 저장해 원본 컬럼처럼 정확히 추정하게 합니다. 조건을 함수 없이 재작성할 수 있으면 그것이 더 낫습니다.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659273950"/>
      </p:ext>
    </p:extLst>
  </p:cSld>
  <p:clrMapOvr>
    <a:masterClrMapping/>
  </p:clrMapOvr>
</p:notes>
</file>

<file path=ppt/notesSlides/notesSlide7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표현식 통계도 CREATE_EXTENDED_STATS로 만들고 재수집합니다. EXTRACT(YEAR FROM receipt_date)처럼 연도별 조회가 잦은 표현식에 통계를 만들면, 함수가 원본 컬럼을 가려 1%로 추정하던 문제가 사라지고 표현식 결과의 실제 분포로 추정합니다. 함수 기반 인덱스를 만들면 그 표현식 통계가 자연히 함께 생기므로, 별도 인덱스 없이 통계만 필요할 때 표현식 통계가 유용합니다.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85233159"/>
      </p:ext>
    </p:extLst>
  </p:cSld>
  <p:clrMapOvr>
    <a:masterClrMapping/>
  </p:clrMapOvr>
</p:notes>
</file>

<file path=ppt/notesSlides/notesSlide7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데이터 통계가 몇 건인지를 정한다면 시스템 통계는 그 건수를 처리하는 비용을 정합니다. NOWORKLOAD는 데이터파일에 임의 I/O를 던져 측정한 기본 특성으로 DB 생성 시 기본으로 채워지고, WORKLOAD는 실제 부하 구간을 관찰해 측정합니다. 옵티마이저는 이 값으로 전체 스캔과 인덱스 스캔의 상대 비용을 계산합니다. 시스템 통계는 인스턴스 전역에 영향을 줍니다.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600012309"/>
      </p:ext>
    </p:extLst>
  </p:cSld>
  <p:clrMapOvr>
    <a:masterClrMapping/>
  </p:clrMapOvr>
</p:notes>
</file>

<file path=ppt/notesSlides/notesSlide7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MBRC·SREADTIM·MREADTIM이 NULL이고 CPUSPEEDNW·IOSEEKTIM·IOTFRSPEED만 값이 있는 것이 NOWORKLOAD 상태의 전형입니다. WORKLOAD 통계가 없으므로 옵티마이저는 IOSEEKTIM 10ms와 IOTFRSPEED 4096으로부터 읽기 시간을 유도하고 MBRC 자리에는 초기화 파라미터를 씁니다. 이것은 통계가 빠진 것이 아니라 NOWORKLOAD 방식이 원래 그 값을 채우지 않기 때문이며, 대부분의 시스템은 이대로도 잘 동작합니다.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48627851"/>
      </p:ext>
    </p:extLst>
  </p:cSld>
  <p:clrMapOvr>
    <a:masterClrMapping/>
  </p:clrMapOvr>
</p:notes>
</file>

<file path=ppt/notesSlides/notesSlide7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WORKLOAD 통계 수집은 START와 STOP 사이의 실제 I/O를 관찰해 값을 채웁니다. 반드시 대표성 있는 부하 구간을 골라야 하며, 한산한 새벽에 수집하면 실제 업무 특성과 동떨어진 값이 박힙니다. 수집하면 전체 스캔과 인덱스 스캔의 상대 비용이 달라져 계획이 바뀔 수 있고, 개선일 수도 회귀일 수도 있습니다. 그래서 실습 후 DELETE 후 NOWORKLOAD 재수집으로 원복합니다.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53639962"/>
      </p:ext>
    </p:extLst>
  </p:cSld>
  <p:clrMapOvr>
    <a:masterClrMapping/>
  </p:clrMapOvr>
</p:notes>
</file>

<file path=ppt/notesSlides/notesSlide7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Preferences는 네 계층으로 설정하고 좁은 범위가 넓은 범위를 이깁니다. 수천 개 테이블에 일일이 설정할 수 없으니 대부분은 전역 기본을 따르게 하고 초대형·고편중 같은 특별한 소수만 테이블 범위로 예외를 둡니다. GET_PREFS에 스키마·테이블을 함께 넘기면 그 테이블에 실제로 적용되는 실효값을 확인할 수 있고, 이 실효값이 곧 계층 우선순위의 결과입니다. 전역 정책을 유지하면서 예외 테이블만 다르게 다룰 수 있다는 점이 계층 구조의 이점입니다.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923104572"/>
      </p:ext>
    </p:extLst>
  </p:cSld>
  <p:clrMapOvr>
    <a:masterClrMapping/>
  </p:clrMapOvr>
</p:notes>
</file>

<file path=ppt/notesSlides/notesSlide7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자동 통계 수집도 Preferences를 따르므로 이것이 자동 수집 동작을 조정하는 주된 수단입니다. 밤마다 도는 수집이 어떤 METHOD_OPT와 표본 비율, stale 기준으로 움직일지가 전부 여기서 정해집니다. STALE_PERCENT는 재수집 기준(기본 10%), INCREMENTAL은 파티션 증분 수집입니다. 조치 전 값을 GET_PREFS로 기록하고 변경한 뒤 DELETE_TABLE_PREFS로 원복하는 규율을 지킵니다.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105703180"/>
      </p:ext>
    </p:extLst>
  </p:cSld>
  <p:clrMapOvr>
    <a:masterClrMapping/>
  </p:clrMapOvr>
</p:notes>
</file>

<file path=ppt/notesSlides/notesSlide7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METHOD_OPT·ESTIMATE_PERCENT·DEGREE 외에도 STALE_PERCENT와 INCREMENTAL을 자주 조정합니다. STALE_PERCENT는 마지막 수집 이후 몇 퍼센트가 바뀌면 재수집 대상으로 볼지의 기준으로 기본 10%입니다. INCREMENTAL은 파티션 테이블에서 변경된 파티션만 수집해 글로벌 통계를 갱신하므로 대형 파티션 테이블의 수집 시간을 크게 줄입니다. 대부분은 전역 기본을 따르고 특별한 소수만 테이블 예외를 둡니다.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523548597"/>
      </p:ext>
    </p:extLst>
  </p:cSld>
  <p:clrMapOvr>
    <a:masterClrMapping/>
  </p:clrMapOvr>
</p:notes>
</file>

<file path=ppt/notesSlides/notesSlide7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Optimizer Statistics Advisor는 12.2부터 제공되는 기본 기능으로 Tuning Pack이 필요 없습니다. 태스크를 만들고 실행한 뒤 보고서를 뽑으면 룰별로 무엇이 문제인지, 어떻게 고칠지, 왜 그런지를 담아 줍니다. 통계 없는 객체, 오래된 통계, 자동 수집을 방해하는 수동 설정 등을 찾아냅니다. 자동 적용도 가능하지만 권고는 결론이 아니라 가설이므로 근거를 확인하고 채택합니다.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052379195"/>
      </p:ext>
    </p:extLst>
  </p:cSld>
  <p:clrMapOvr>
    <a:masterClrMapping/>
  </p:clrMapOvr>
</p:notes>
</file>

<file path=ppt/notesSlides/notesSlide7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어드바이저 룰은 자동 작업 상태, 통계 건강, 설정 적정성 세 부류입니다. 발견을 이 장의 도구와 연결하면 통계 운영의 지도가 그려집니다. 통계 없는 객체는 그 객체만, 편중은 히스토그램, 상관은 확장 통계, 오래된 통계는 STALE_PERCENT로 대응합니다. 다만 잠긴 통계가 의도된 것이라면 풀지 말아야 하니 권고를 기계적으로 전부 적용하지 않고 맥락을 확인합니다.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056703777"/>
      </p:ext>
    </p:extLst>
  </p:cSld>
  <p:clrMapOvr>
    <a:masterClrMapping/>
  </p:clrMapOvr>
</p:notes>
</file>

<file path=ppt/notesSlides/notesSlide7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계획이 이상하면 습관적으로 전체를 다시 모으는 것은 위험합니다. 진단을 건너뛰고, 잘 맞던 통계를 덮어써 회귀를 낳고, 비용이 큽니다. 올바른 순서는 진단, 국소 조치, 검증입니다. 이 장의 모든 실습은 통계를 바꾸므로 조치 전 캡처와 원복이 짝을 이룹니다. 히스토그램은 재수집으로, 확장 통계는 DROP으로, 시스템 통계는 DELETE 후 NOWORKLOAD 재수집으로, Preferences는 DELETE_TABLE_PREFS로 되돌리며, RESTORE_TABLE_STATS로 과거 시점 통계로 복원할 수도 있습니다.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506969864"/>
      </p:ext>
    </p:extLst>
  </p:cSld>
  <p:clrMapOvr>
    <a:masterClrMapping/>
  </p:clrMapOvr>
</p:notes>
</file>

<file path=ppt/notesSlides/notesSlide7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AWR 보고서는 두 스냅샷 사이의 인스턴스 활동을 한 장으로 요약한 것입니다. 5장에서 배운 DB Time, 시간 모델, 대기 클래스가 이 보고서 안에 모두 들어 있고, 6장에서 만든 스냅샷 인프라가 그 원천입니다. 8장은 보고서를 생성하는 것을 넘어 판독하는 장으로, 지나간 구간에 이 데이터베이스가 무엇 때문에 느렸는지를 감이 아니라 숫자로 지목하는 것이 목표입니다. 초심자는 가장 큰 숫자나 Top Events 1위에 반사적으로 손이 가지만, 성능 진단은 여러 지표가 함께 그리는 그림을 읽는 일입니다. 이 장의 실측 구간은 그 훈련에 딱 맞는 교재입니다.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791404762"/>
      </p:ext>
    </p:extLst>
  </p:cSld>
  <p:clrMapOvr>
    <a:masterClrMapping/>
  </p:clrMapOvr>
</p:notes>
</file>

<file path=ppt/notesSlides/notesSlide7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awrrpt.sql은 보고서 형식, 최근 스냅샷 목록 조회 일수, 시작·종료 스냅샷 ID, 파일명을 차례로 묻습니다. 이 실습에서는 부하를 준 구간인 스냅샷 295~296을 지정합니다. 두 스냅샷은 같은 인스턴스 기동 구간 안에 있어야 하며, 사이에 재기동이 있으면 통계 델타가 음수가 되어 보고서를 만들 수 없습니다. non-CDB 단일 인스턴스이므로 awrrpt.sql로 충분하고, RAC라면 awrgrpt.sql을 씁니다. 이 스크립트 실행은 Diagnostics Pack 라이선스 대상입니다.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797075676"/>
      </p:ext>
    </p:extLst>
  </p:cSld>
  <p:clrMapOvr>
    <a:masterClrMapping/>
  </p:clrMapOvr>
</p:notes>
</file>

<file path=ppt/notesSlides/notesSlide7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보고서 판독의 대전제는 이것이 델타 보고서라는 점입니다. 5장에서 배운 대로 V$ 통계는 기동 이후 누적값입니다. AWR 보고서의 모든 숫자는 종료 스냅샷 누적값에서 시작 스냅샷 누적값을 뺀, 이 구간에서 실제로 일어난 양입니다. 그래서 Load Profile의 Per Second도 SQL 섹션의 Buffer Gets도 모두 이 100초 구간에 한정된 값입니다. 누적값을 그대로 읽어 오판하는 5장의 문제를 AWR 보고서는 자동으로 교정해 줍니다. 단 두 스냅샷 사이에 재기동이 있으면 누적값이 0으로 초기화돼 델타가 음수가 되므로 보고서를 만들 수 없습니다.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061414507"/>
      </p:ext>
    </p:extLst>
  </p:cSld>
  <p:clrMapOvr>
    <a:masterClrMapping/>
  </p:clrMapOvr>
</p:notes>
</file>

<file path=ppt/notesSlides/notesSlide7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보고서는 위쪽일수록 큰 그림, 아래쪽일수록 세부 근거입니다. 초심자는 SQL 섹션이나 Instance Activity의 큰 숫자로 곧장 뛰어들지만, 그러면 그 숫자가 전체에서 어떤 비중인지 모른 채 결론을 내립니다. 머리말에서 부하 유무를, Load Profile에서 성격을, Top Events에서 병목 종류를 잡고 나서 SQL로 내려가야 그 SQL이 왜 문제인지까지 설명할 수 있습니다. 이 순서를 지키는 것이 판독의 절반입니다.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260772844"/>
      </p:ext>
    </p:extLst>
  </p:cSld>
  <p:clrMapOvr>
    <a:masterClrMapping/>
  </p:clrMapOvr>
</p:notes>
</file>

<file path=ppt/notesSlides/notesSlide7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머리말의 첫 나눗셈은 DB Time을 Elapsed로 나눈 평균 활성 세션(AAS)입니다. 실측에서는 574를 100으로 나눠 약 5.7이 나옵니다. 7세션으로 부하를 줬으니 세션들이 대체로 쉬지 않고 일한 구간입니다. 이 AAS를 호스트의 CPU 코어 수와 비교하면 CPU가 실제로 포화됐는지 알 수 있습니다. AAS가 코어 수보다 크면 세션들이 CPU를 얻으려 실행 큐에서 기다린 것이고, 작으면 CPU 여유가 있으니 병목은 다른 곳일 수 있습니다. 머리말은 이렇게 진단의 방향만 정하고, 구체적 원인은 아래 섹션에서 좁힙니다.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784637756"/>
      </p:ext>
    </p:extLst>
  </p:cSld>
  <p:clrMapOvr>
    <a:masterClrMapping/>
  </p:clrMapOvr>
</p:notes>
</file>

<file path=ppt/notesSlides/notesSlide7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Load Profile에서 세 가지가 즉시 눈에 들어와야 합니다. 첫째 DB Time 5.5 대 DB CPU 5.3 — 초당 DB Time의 거의 전부가 CPU이니 CPU 바운드 구간입니다. 둘째 Logical read 118만 대 Physical read 48.8 — 데이터는 메모리에 다 있고 그 위에서 대량으로 반복 스캔하고 있습니다. 셋째 Hard parses 319는 전체 Parses 433의 약 73%로, 정상이라면 0에 수렴해야 할 하드 파싱이 폭증했다는 뜻입니다. 리터럴 SQL 신호입니다. 절대값은 환경마다 다르므로 항목 간 비율로 읽습니다.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969173779"/>
      </p:ext>
    </p:extLst>
  </p:cSld>
  <p:clrMapOvr>
    <a:masterClrMapping/>
  </p:clrMapOvr>
</p:notes>
</file>

<file path=ppt/notesSlides/notesSlide7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Load Profile만으로도 이 구간의 성격이 거의 드러납니다. CPU를 태우며, 메모리 위에서 대량으로 블록을 훑고, 리터럴 SQL을 끝없이 하드 파싱하는 구간입니다. Per Transaction 열도 함께 읽으면 한 트랜잭션이 5,735블록을 읽는 무거운 업무임을 알 수 있습니다. 이렇게 세운 가설을 나머지 섹션이 확증하거나 반증합니다. 뒤에 나오는 Top Events의 CPU 95.7%, Instance Efficiency의 낮은 Soft Parse가 모두 이 그림을 뒷받침하게 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372185134"/>
      </p:ext>
    </p:extLst>
  </p:cSld>
  <p:clrMapOvr>
    <a:masterClrMapping/>
  </p:clrMapOvr>
</p:notes>
</file>

<file path=ppt/notesSlides/notesSlide7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표에서 가장 먼저 읽을 줄은 DB CPU 95.7%입니다. 전체 DB Time의 95.7%가 순수 CPU 사용이니 병목은 어떤 대기도 아니고 CPU입니다. 여기서 맨 아래 log file sync 21.1초만 보고 커밋이 병목이라 결론 내리면 완전히 틀립니다. log file sync는 % DB time 기준 3.7%뿐이라 CPU 95.7% 앞에서 고쳐 봐야 응답시간은 그대로입니다. 그다음 kksfbc·cursor pin S·mutex·latch는 모두 라이브러리 캐시 경합으로, 각각은 작지만 한 방향, 즉 하드 파싱이 만든 공유 풀 경합을 가리킵니다. 작은 대기는 묶어서 원인 하나로 수렴시킵니다.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750179516"/>
      </p:ext>
    </p:extLst>
  </p:cSld>
  <p:clrMapOvr>
    <a:masterClrMapping/>
  </p:clrMapOvr>
</p:notes>
</file>

<file path=ppt/notesSlides/notesSlide7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성능 진단은 순위표에서 1등을 찾는 게임이 아닙니다. Top Events는 반드시 % DB time으로 가중치를 매겨 읽습니다. Total Wait Time이 커 보여도 % DB time이 작으면 우선순위가 낮습니다. Avg Wait 열도 봐야 합니다. kksfbc child completion은 평균 49.58ms로 드물지만 한 번 걸리면 오래 기다리고, log file sync는 0.99ms로 짧지만 2만 번 넘게 자주 걸립니다. 총 대기 시간이 비슷해도 처방이 다릅니다. 자주 걸리면 빈도를 줄이고, 한 번이 길면 그 경합을 없앱니다.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42635456"/>
      </p:ext>
    </p:extLst>
  </p:cSld>
  <p:clrMapOvr>
    <a:masterClrMapping/>
  </p:clrMapOvr>
</p:notes>
</file>

<file path=ppt/notesSlides/notesSlide7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각 대기가 무엇인지 알면 이 조합이 왜 하드 파싱을 가리키는지 분명해집니다. kksfbc는 커서를 찾아 파싱하는 커널 함수로, kksfbc child completion은 다른 세션이 만들고 있는 자식 커서가 완성되기를 기다리는 대기입니다. cursor: pin S wait on X는 커서를 공유 모드로 잡으려는데 다른 세션이 배타 모드로 그 커서를 바꾸고 있을 때의 대기입니다. mutex X와 latch: shared pool도 공유 풀 내부를 보호하는 직렬화 장치에서의 경합입니다. 네 가지가 동시에 상위에 오른다는 것은 여러 세션이 공유 풀에서 커서를 만들고 바꾸느라 부딪친다는 하나의 그림이고, 근본 원인은 초당 319번의 하드 파싱입니다.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901950588"/>
      </p:ext>
    </p:extLst>
  </p:cSld>
  <p:clrMapOvr>
    <a:masterClrMapping/>
  </p:clrMapOvr>
</p:notes>
</file>

<file path=ppt/notesSlides/notesSlide7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Buffer Hit이 100%라고 완벽하다 읽으면 함정에 빠집니다. 이 구간은 초당 118만 블록을 논리 읽기로 훑는 CPU 바운드 구간이고, 히트율 100%는 데이터가 전부 메모리에 있어서일 뿐 그 메모리를 과도하게 반복해 읽는 것 자체가 문제입니다. 정작 봐야 할 값은 낮은 쪽입니다. Soft Parse 26.46%는 파싱의 74%가 하드 파싱이라는 뜻이고, Library Hit 59.36%는 커서를 재사용하지 못한다는 뜻이며, Execute to Parse 36.72%는 파싱 대비 실행이 적다는 뜻입니다. 세 값이 한목소리로 리터럴 하드 파싱을 가리킵니다.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868287981"/>
      </p:ext>
    </p:extLst>
  </p:cSld>
  <p:clrMapOvr>
    <a:masterClrMapping/>
  </p:clrMapOvr>
</p:notes>
</file>

<file path=ppt/notesSlides/notesSlide7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Instance Efficiency의 핵심 교훈은 Target 100%라는 문구를 믿지 말라는 것입니다. Buffer Nowait·Latch Hit·Redo NoWait가 100%인 것은 건강해서가 아니라 그 자원에서 병목이 아니었을 뿐입니다. 효율 비율은 높으면 안심이 아니라 낮으면 어디를 더 볼지 알려주는 이정표로 씁니다. 이 구간에서 낮은 세 값이 정확히 파싱 문제로 안내했습니다. 어떤 비율도 단독으로 좋고 나쁨을 결정하지 않으므로 Load Profile, Top Events와 반드시 교차 검증합니다.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907635717"/>
      </p:ext>
    </p:extLst>
  </p:cSld>
  <p:clrMapOvr>
    <a:masterClrMapping/>
  </p:clrMapOvr>
</p:notes>
</file>

<file path=ppt/notesSlides/notesSlide7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맨 위 SQL 9vmszgd1ft9x0이 혼자 전체 DB Time의 33.2%를 썼고 그 96%가 CPU입니다. Top Events의 DB CPU 95.7%와 정확히 맞아떨어지니 인스턴스를 CPU 바운드로 만든 주범이 이 SQL입니다. Gets 정렬에서도 같은 SQL이 1위로, 전체 논리 읽기의 31.9%를 혼자 읽었습니다. Load Profile의 논리 읽기 118만/s의 정체가 이 SQL임이 확정됩니다. 실행당 0.03초로 가볍지만 5,912번 반복하는 패턴입니다. 여기까지가 인스턴스 튜닝의 결론이고, 이 SQL을 어떻게 고쳐 쓸지는 SQL 튜닝 과정으로 넘깁니다.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796029890"/>
      </p:ext>
    </p:extLst>
  </p:cSld>
  <p:clrMapOvr>
    <a:masterClrMapping/>
  </p:clrMapOvr>
</p:notes>
</file>

<file path=ppt/notesSlides/notesSlide7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정렬 기준 선택의 원칙은 진단 가설에 맞는 자원을 고르는 것입니다. CPU와 논리읽기가 문제면 Elapsed와 Gets, 디스크가 문제면 Reads, 파싱이 문제면 Parse Calls를 봅니다. 이 구간에서 Captured SQL이 34.6%뿐인 것도 단서입니다. 한 SQL이 33%인데 전체 캡처가 34.6%라면 나머지는 리터럴이라 SQL_ID가 제각각이라 순위에 못 들고 조각나 흩어진 것입니다. 이 조합 자체가 리터럴 문제의 또 다른 증거입니다. 여러 정렬이 같은 SQL로 수렴하면 진단은 더 단단해집니다.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229576832"/>
      </p:ext>
    </p:extLst>
  </p:cSld>
  <p:clrMapOvr>
    <a:masterClrMapping/>
  </p:clrMapOvr>
</p:notes>
</file>

<file path=ppt/notesSlides/notesSlide7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Instance Activity Stats는 수백 개 통계라 뭐든 커 보이는 값으로 새 가설을 만들기 쉽습니다. 그러나 이 섹션의 역할은 앞에서 세운 가설을 확증하거나 반증하는 것입니다. parse count(hard) 델타가 319/s에 100초를 곱한 약 3만에 근접하면 하드 파싱 가설이 수치로 확증되고, session logical reads가 Total Gets와 자릿수가 맞으면 논리 읽기 가설이 확증됩니다. 좋은 판독자는 자기 가설을 확증할 통계뿐 아니라 반증할 통계도 함께 찾습니다. physical reads direct가 예상외로 크면 CPU 바운드 가설을 수정해야 합니다. 확증만 찾으면 확증 편향에 빠집니다.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715106860"/>
      </p:ext>
    </p:extLst>
  </p:cSld>
  <p:clrMapOvr>
    <a:masterClrMapping/>
  </p:clrMapOvr>
</p:notes>
</file>

<file path=ppt/notesSlides/notesSlide7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Advisory는 버퍼 캐시·공유 풀·PGA 크기를 바꾸면 물리 읽기·파싱·디스크 정렬이 얼마로 바뀔지 시뮬레이션한 표입니다. 읽는 요령은 크기를 키워도 효과가 더 줄지 않는, 그래프가 평평해지는 지점을 찾는 것입니다. 그 이상은 낭비입니다. 이 구간은 물리 읽기가 이미 낮으니 버퍼 캐시 확대는 무효이고, 공유 풀·PGA는 키우면 증상은 완화되지만 근본 원인인 리터럴 SQL이 그대로면 재발합니다. 즉 이 구간에서 Advisory의 결론은 메모리로 해결할 문제가 아니라는 것이고, 그것을 숫자로 증명할 수 있다는 점이 중요합니다.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451107880"/>
      </p:ext>
    </p:extLst>
  </p:cSld>
  <p:clrMapOvr>
    <a:masterClrMapping/>
  </p:clrMapOvr>
</p:notes>
</file>

<file path=ppt/notesSlides/notesSlide7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체크리스트의 핵심은 각 단계가 앞 단계의 가설을 이어받아 좁힌다는 점입니다. 1단계에서 부하 있음을 확인하지 않으면 이후가 무의미하고, 4단계에서 % DB time을 무시하고 Total Wait Time만 보면 log file sync에 잘못 꽂힙니다. 순서를 지키는 것이 오판을 막는 가장 확실한 방법입니다. 이 장의 실측 구간에서 일곱 단계가 모두 같은 곳, 리터럴 하드 파싱을 유발하는 SQL 하나로 수렴했습니다. 서로 다른 섹션의 숫자가 한 원인으로 모일 때 진단은 비로소 신뢰할 수 있게 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609965906"/>
      </p:ext>
    </p:extLst>
  </p:cSld>
  <p:clrMapOvr>
    <a:masterClrMapping/>
  </p:clrMapOvr>
</p:notes>
</file>

<file path=ppt/notesSlides/notesSlide7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8장이 경계하는 대표적 오판은 부하 없는 구간의 보고서를 읽고 문제가 있다고 판정하는 것입니다. 유휴 구간에도 보고서는 Top 10을 비워 두지 않고 가장 큰 것부터 채우므로, 몇 밀리초짜리 Idle 대기가 1위 자리에 올라옵니다. 순위만 보면 그것을 병목으로 착각합니다. 부하 유무는 머리말의 AAS로 판정합니다. AAS가 1보다 훨씬 작으면 진단할 부하가 없는 것이고, 이때는 '이 구간은 부하가 없어 판정 대상이 아니다'를 근거와 함께 명시하는 것이 좋은 판독입니다. 신고 시각인데 DB가 한가했다면 병목은 DB 밖일 가능성이 큽니다.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562654101"/>
      </p:ext>
    </p:extLst>
  </p:cSld>
  <p:clrMapOvr>
    <a:masterClrMapping/>
  </p:clrMapOvr>
</p:notes>
</file>

<file path=ppt/notesSlides/notesSlide7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AWR·ADDM·ASH와 DBA_HIST_* 뷰, awrrpt.sql을 포함한 AWR 보고서 생성은 모두 Diagnostics Pack 라이선스가 필요합니다. CONTROL_MANAGEMENT_PACK_ACCESS가 NONE이면 접근할 수 없고 DIAGNOSTIC 이상이어야 합니다. 라이선스가 없으면 무료인 Statspack으로 spcreate.sql 설치, SNAP 수집, spreport.sql 보고서 생성을 대신합니다. Statspack에도 Load Profile, Top Events, SQL 통계, Instance Efficiency가 있어 이 장의 판독이 거의 그대로 적용됩니다. 최소 환경이라면 V$ 뷰를 두 시점에 찍어 델타를 직접 계산합니다. 13·14장이 이 V$ 경로를 정면으로 다룹니다.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834696863"/>
      </p:ext>
    </p:extLst>
  </p:cSld>
  <p:clrMapOvr>
    <a:masterClrMapping/>
  </p:clrMapOvr>
</p:notes>
</file>

<file path=ppt/notesSlides/notesSlide7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장에서 판독한 부하는 9장 ADDM과 10장 ASH에서 다시 등장합니다. 세 도구는 경쟁이 아니라 같은 사건을 다른 창으로 비추는 협력 관계입니다. AWR은 구간을 통계로 요약하고, ADDM은 그 통계를 자동으로 해석해 원인과 권고를 문장으로 내놓으며, ASH는 1초 샘플로 그 순간 누가 무엇을 기다렸는지 재구성합니다. 셋은 대체재가 아니라 확대 배율이 다른 렌즈입니다. AWR로 구간 평균을 보고, ADDM으로 자동 해석을 받고, ASH로 순간을 확대합니다. 세 결과가 한목소리로 같은 원인을 가리키면 오판 가능성이 크게 줄어듭니다.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77132702"/>
      </p:ext>
    </p:extLst>
  </p:cSld>
  <p:clrMapOvr>
    <a:masterClrMapping/>
  </p:clrMapOvr>
</p:notes>
</file>

<file path=ppt/notesSlides/notesSlide7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슬라이드는 8.2부터 8.9까지의 판독을 하나로 모읍니다. 머리말의 AAS 5.7, Load Profile의 CPU 바운드와 하드파싱 319, Top Events의 DB CPU 95.7%, Instance Efficiency의 낮은 Soft Parse, SQL 섹션의 9vmszgd1ft9x0이 모두 같은 곳을 가리킵니다. 리터럴 하드 파싱을 유발하는 단일 SQL입니다. AWR 보고서 판독은 가장 큰 숫자 찾기가 아니라 여러 지표를 엮어 하나의 원인으로 수렴시키는 일입니다. 서로 다른 섹션의 숫자가 한 원인으로 모일 때 진단은 비로소 신뢰할 수 있게 됩니다. 이 수렴을 만들어 내는 눈이 9~14장에서도 그대로 쓰입니다.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43087194"/>
      </p:ext>
    </p:extLst>
  </p:cSld>
  <p:clrMapOvr>
    <a:masterClrMapping/>
  </p:clrMapOvr>
</p:notes>
</file>

<file path=ppt/notesSlides/notesSlide7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장이 반복해서 경계하는 오판은 넷입니다. 첫째 Top Events 맨 윗줄의 대기를 병목으로 지목하는 것 — 이 구간에선 1위가 대기가 아니라 DB CPU였고 log file sync 3.7%는 주범이 아니었습니다. 둘째 Buffer Hit 100%를 성능 우수로 읽는 히트율의 함정. 셋째 Instance Activity의 눈에 띄는 통계로 근거 없이 새 가설을 세우는 것. 넷째 부하 없는 구간의 Idle 대기를 병목으로 오판하는 것입니다. 네 오판의 공통 처방은 위에서 아래로 순서를 지키고, % DB time으로 비중을 보고, 여러 지표를 하나로 수렴시키는 것입니다.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75737217"/>
      </p:ext>
    </p:extLst>
  </p:cSld>
  <p:clrMapOvr>
    <a:masterClrMapping/>
  </p:clrMapOvr>
</p:notes>
</file>

<file path=ppt/notesSlides/notesSlide7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슬라이드는 이 장 전체의 동기다. 성능은 절대량이 아니라 관계로 읽어야 한다는 점을 강조한다. 같은 초당 논리읽기 100만도 어제 값이 얼마였느냐에 따라 정상일 수도, 열 배 악화일 수도, 오히려 개선일 수도 있다. 사용자가 '느리다'고 신고하는 것도 결국 과거 대비 상대 판단이다. 성능 저하가 서서히 진행되면 언제부터 왜 그런지 기억으로는 잡을 수 없으므로, AWR이 스냅샷으로 남긴 과거 기록과 비교하는 것이 유일한 길임을 설명한다.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657126123"/>
      </p:ext>
    </p:extLst>
  </p:cSld>
  <p:clrMapOvr>
    <a:masterClrMapping/>
  </p:clrMapOvr>
</p:notes>
</file>

<file path=ppt/notesSlides/notesSlide7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일반 AWR 보고서와 Compare Periods 보고서의 결정적 차이는 입력 스냅샷 개수다. 전자는 두 스냅샷 사이 한 구간, 후자는 두 구간이므로 스냅샷 네 개(보고서 두 장에 해당)를 받는다. 결과는 두 구간 사이에서 무엇이 얼마나 달라졌는지를 %Diff로 정량화하고, 차이가 큰 순서로 정렬해 보여 준다. 두 구간의 길이가 달라도 되는 이유는 통계를 초당·트랜잭션당으로 정규화해 길이라는 잡음을 제거하기 때문이다. 정상 밤 10시~자정과 느린 밤 10시~새벽 2시를 비교할 수 있는 것이 그 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557391175"/>
      </p:ext>
    </p:extLst>
  </p:cSld>
  <p:clrMapOvr>
    <a:masterClrMapping/>
  </p:clrMapOvr>
</p:notes>
</file>

<file path=ppt/notesSlides/notesSlide7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정규화가 구간 길이의 차이는 자동으로 상쇄하지만, 워크로드 성격의 차이까지 상쇄하지는 못한다. 그래서 구간 선정이 비교의 신뢰성을 절반 이상 결정한다. 정상 구간은 사용자가 문제를 느끼기 전, 같은 업무가 같은 시간대에 돌던 때여야 한다. 평일 낮 OLTP 구간과 주말 밤 배치 구간을 비교하면 무엇이 달라졌나가 아니라 원래 다른 것을 보게 된다. 비교 가능성은 도구가 아니라 사람이 보장해야 한다는 점을 강조한다.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16296878"/>
      </p:ext>
    </p:extLst>
  </p:cSld>
  <p:clrMapOvr>
    <a:masterClrMapping/>
  </p:clrMapOvr>
</p:notes>
</file>

<file path=ppt/notesSlides/notesSlide7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Compare Periods 보고서를 만드는 스크립트는 대상에 따라 나뉜다. awrddrpt.sql은 지금 접속한 로컬 인스턴스만 다루므로 dbid를 묻지 않고, awrddrpi.sql은 여러 DB의 AWR을 모아 둔 경우를 위해 dbid와 인스턴스까지 지정한다. RAC는 여러 인스턴스를 하나로 묶는 전역판 awrgdrpt/awrgdrpi를 쓴다. 이 과정의 실습 환경은 non-CDB 단일 인스턴스이므로 awrddrpt.sql이 기준이다. 형식은 사람이 탐색하기 좋은 html과 자동 처리·트랜스크립트에 붙이기 좋은 text 중 고른다.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87001195"/>
      </p:ext>
    </p:extLst>
  </p:cSld>
  <p:clrMapOvr>
    <a:masterClrMapping/>
  </p:clrMapOvr>
</p:notes>
</file>

<file path=ppt/notesSlides/notesSlide7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awrddrpt.sql은 보고서 형식, 첫 구간 스냅 목록 일수, 첫 구간 시작·끝 스냅, 둘째 구간 일수와 시작·끝 스냅, 보고서 이름을 차례로 묻는다. 여기서는 실습 데이터베이스의 구간A(스냅 303→304, 가벼운 부하)와 구간B(스냅 305→306, 무거운 부하)를 지정해 텍스트 보고서를 만들었다. 실행 전에 STATISTICS_LEVEL이 TYPICAL 이상인지, 두 구간 스냅이 보존 기간 안에 있는지, 사이에 재기동이 없었는지를 확인해야 한다. 이 모든 작업은 Diagnostics Pack 라이선스가 필요하다.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40986588"/>
      </p:ext>
    </p:extLst>
  </p:cSld>
  <p:clrMapOvr>
    <a:masterClrMapping/>
  </p:clrMapOvr>
</p:notes>
</file>

<file path=ppt/notesSlides/notesSlide7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대화형 프롬프트가 번거롭거나 자동화하고 싶으면 AWR_DIFF_REPORT_TEXT 함수로 보고서 텍스트를 SQL에서 바로 반환받는다. 인자는 스크립트가 묻는 값과 같다 — 두 구간의 dbid, 인스턴스, 시작·끝 스냅. 스케줄러에 걸어 정기적으로 평시 대비 보고서를 뽑거나, 스크립트 안에서 특정 구간을 자동 비교할 때 유용하다. 반환 형식은 text이며, 역시 Diagnostics Pack 라이선스가 필요하다는 점은 동일하다.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042830576"/>
      </p:ext>
    </p:extLst>
  </p:cSld>
  <p:clrMapOvr>
    <a:masterClrMapping/>
  </p:clrMapOvr>
</p:notes>
</file>

<file path=ppt/notesSlides/notesSlide7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요약은 다섯 부분이며 읽는 순서가 중요하다. 먼저 Snapshot Sets에서 두 구간이 같은 인스턴스·호스트인지, 사이에 재기동이 없었는지, 각 구간의 DB Time 절대값(실측 81.8초·302.0초)을 확인한다. 다음으로 Host·System 구성 비교로 하드웨어와 파라미터가 그대로인지 검증한다. 여기에 큰 차이가 있으면 이후 성능 차이는 워크로드가 아니라 환경 변화로 먼저 의심해야 한다. 구성이 같음을 확인한 뒤에야 Load Profile과 Top Timed Events로 내려간다. 이 순서를 건너뛰면 환경 변화를 워크로드 변화로 착각한다.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721965804"/>
      </p:ext>
    </p:extLst>
  </p:cSld>
  <p:clrMapOvr>
    <a:masterClrMapping/>
  </p:clrMapOvr>
</p:notes>
</file>

<file path=ppt/notesSlides/notesSlide8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상세는 요약에서 짚은 차이의 뿌리를 판다. Time Model은 DB Time이 어떤 종류의 작업으로 흘러갔는지 대조하므로, hard parse가 급증했다면 파싱 문제를, sql execute가 급증했다면 SQL 실행의 회귀를 가리킨다. Wait Events는 대기를, SQL Statistics는 상위 SQL을 여섯 기준으로 각각 상위 10개씩 대조한다. I/O·Segment는 파일·세그먼트별 급증 지점을 짚는다. 보충 영역의 Complete List of SQL Text에서 SQL_ID의 실제 문장을 확인해 어떤 업무 쿼리인지 식별한다. 모든 표가 차이 순 정렬이라 상단 몇 줄이 핵심이다.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265623435"/>
      </p:ext>
    </p:extLst>
  </p:cSld>
  <p:clrMapOvr>
    <a:masterClrMapping/>
  </p:clrMapOvr>
</p:notes>
</file>

<file path=ppt/notesSlides/notesSlide8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표가 이 장의 핵심 데이터다. 초당값 열은 모두 크게 늘었는데(논리읽기 +136.8%, 파싱 +186.8%) 트랜잭션당값 열은 모두 -99% 넘게 줄었다. 어떻게 같은 항목이 늘면서 동시에 주는가. 답은 맨 아래 Transactions 행이다. 구간A는 초당 0.3건, 구간B는 276.3건으로 약 920배 폭증했다. 구간B는 작은 트랜잭션이 초당 수백 건 쏟아진 구간이라, 초당 총량은 늘었지만 트랜잭션 하나가 하는 일은 급감했다. 분모가 커졌기 때문이다. 두 열을 함께 읽지 않으면 정반대 결론에 이른다.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143996327"/>
      </p:ext>
    </p:extLst>
  </p:cSld>
  <p:clrMapOvr>
    <a:masterClrMapping/>
  </p:clrMapOvr>
</p:notes>
</file>

<file path=ppt/notesSlides/notesSlide8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%Diff의 의미를 정확히 하자. 초당 +136.8%는 구간B가 초당 논리읽기를 2.37배 했다는 뜻이고, 트랜잭션당 -99.7%는 트랜잭션 하나가 유발한 논리읽기가 300분의 1로 줄었다는 뜻이다. 모순처럼 보이지만 아니다. 분자인 총 논리읽기는 2.37배가 됐는데 분모인 트랜잭션 수가 920배가 됐으니 나눈 값은 당연히 급감한다. 파싱도 같다. 초당 하드파싱 +173%는 트랜잭션 폭증의 부수 효과일 뿐, 트랜잭션당은 오히려 줄었다. 만약 트랜잭션당 하드파싱이 늘었다면 그때는 바인드 변수 미사용 같은 진짜 파싱 문제를 의심해야 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542181278"/>
      </p:ext>
    </p:extLst>
  </p:cSld>
  <p:clrMapOvr>
    <a:masterClrMapping/>
  </p:clrMapOvr>
</p:notes>
</file>

<file path=ppt/notesSlides/notesSlide8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Load Profile 아래의 Top 5 Timed Events는 각 구간에서 DB Time을 가장 많이 쓴 이벤트 다섯을 보여 준다. Load Profile이 '얼마나 많은 일을 했나'라면 이것은 '그 시간이 어디로 갔나'다. 실측 두 구간은 DB CPU가 목록 최상단이었고 그 아래 대기 이벤트의 순위·비중이 크게 흔들리지 않았다. CPU가 계속 1위이고 대기 구조가 유지됐다는 것은 같은 성격의 워크로드가 양만 늘었다는 신호다. 반대로 어느 대기가 갑자기 상위로 올라왔다면 그 이벤트가 성능 저하의 실마리가 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497931938"/>
      </p:ext>
    </p:extLst>
  </p:cSld>
  <p:clrMapOvr>
    <a:masterClrMapping/>
  </p:clrMapOvr>
</p:notes>
</file>

<file path=ppt/notesSlides/notesSlide8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판정 원리는 단순하다. DB Time을 그 구간이 처리한 일의 양으로 나눠 단위 작업당 DB Time을 구하고 두 구간에서 비교한다. 실측에서 DB Time은 3.7배 늘었는데 트랜잭션은 920배 늘었으니 단위 작업당은 오히려 급감했다. 즉 데이터베이스가 느려진 것이 아니라 훨씬 많은 일을 하느라 총 DB Time이 커진 것이다. 3.7배라는 숫자 하나로는 좋은지 나쁜지 알 수 없다. 트랜잭션이 그대로였다면 재앙이고 920배로 늘었다면 오히려 잘 버틴 것이다. 분모는 워크로드에 맞게 하나로 고정해 두 구간에 똑같이 적용한다.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702260554"/>
      </p:ext>
    </p:extLst>
  </p:cSld>
  <p:clrMapOvr>
    <a:masterClrMapping/>
  </p:clrMapOvr>
</p:notes>
</file>

<file path=ppt/notesSlides/notesSlide8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표로 정리하면 판정이 한눈에 잡힌다. DB Time만 보면 3.7배로 느려진 것 같지만, 트랜잭션이 920배 늘었고 논리읽기/트랜잭션은 -99.7%로 줄었다. 단위 작업당 효율은 나빠지지 않았고 오히려 좋아졌다. 두 구간 모두 DB CPU가 DB Time의 거의 전부라 CPU 바운드다. 결론은 성능 저하가 아니라 부하 증가다. 이런 구간에 느린 SQL을 찾아 실행계획을 손대는 것은 멀쩡한 것을 건드리는 과잉 조치다. CPU 바운드이므로 옳은 조치는 CPU 헤드룸 점검과 용량 계획이다.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811156730"/>
      </p:ext>
    </p:extLst>
  </p:cSld>
  <p:clrMapOvr>
    <a:masterClrMapping/>
  </p:clrMapOvr>
</p:notes>
</file>

<file path=ppt/notesSlides/notesSlide8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장이 겨냥하는 대표 오판은 부하 증가를 성능 저하로 보고하는 것이다. 초당·절대 지표 급증을 보고 나빠졌다고 보고한 뒤 상위 SQL 계획을 뜯고 멀쩡한 계획을 개선한답시고 사이드이펙트를 만드는 경로다. 근본 원인은 분모를 함께 보지 않은 것이다. 어떤 총량 지표가 늘었다는 보고를 받으면 반드시 트랜잭션·실행을 함께 가져와 나눠 본다. 그리고 Top Timed Events의 대기 구성으로 교차 검증한다. 구조가 유지되면 부하 증가, 특정 대기가 급증하면 성능 저하다. CPU 바운드 구간에서 대기를 파는 것은 시간 낭비다.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319003927"/>
      </p:ext>
    </p:extLst>
  </p:cSld>
  <p:clrMapOvr>
    <a:masterClrMapping/>
  </p:clrMapOvr>
</p:notes>
</file>

<file path=ppt/notesSlides/notesSlide8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실무에서 흔한 함정을 시나리오로 본다. 모니터링 대시보드가 초당 논리읽기가 어제보다 2.4배로 급증했다는 경보를 띄우고, 팀장은 캐시를 폭식하는 SQL을 찾아 잡으라고 지시한다. 이때 먼저 할 일은 같은 구간의 트랜잭션 수를 보는 것이다. 트랜잭션이 920배로 늘었다면 초당 논리읽기 2.4배는 오히려 트랜잭션당 논리읽기가 급감했다는 뜻이다. 트랜잭션당 -99.7%이므로 개별 작업은 더 효율적이었고, 늘어난 것은 효율 나쁜 SQL이 아니라 들어온 일의 양이다. 초당값만 보면 부하 증가를 성능 저하로 오판한다는 교훈으로 마무리한다.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074197926"/>
      </p:ext>
    </p:extLst>
  </p:cSld>
  <p:clrMapOvr>
    <a:masterClrMapping/>
  </p:clrMapOvr>
</p:notes>
</file>

<file path=ppt/notesSlides/notesSlide8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SQL Statistics는 상위 SQL을 여섯 기준으로 각각 대조한다. 회귀의 핵심 신호는 한 구간에서만 DB Time을 크게 쓴 SQL이다. 어느 기준 표 상단에 올라왔는지가 성격을 알려 준다. 실행시간·CPU 동반 급등은 계산량이 늘어난 계획을, 버퍼읽기 급등은 인덱스에서 스캔으로의 접근 경로 변경을, 물리읽기 급등은 캐시 미스를, 파싱 급등은 커서·바인드 문제를 가리킨다. 특히 실행횟수 기준 표는 조심해서 읽는다. 실행이 늘어 순위가 오른 SQL은 느려진 게 아니라 더 자주 불린 것, 즉 부하 증가의 SQL 단위 표현일 수 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234528826"/>
      </p:ext>
    </p:extLst>
  </p:cSld>
  <p:clrMapOvr>
    <a:masterClrMapping/>
  </p:clrMapOvr>
</p:notes>
</file>

<file path=ppt/notesSlides/notesSlide8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후보 SQL을 DBA_HIST_SQLSTAT으로 실행당 지표와 실행계획 해시를 두 구간에서 비교한다. 이 결과가 전형적 회귀다. 실행 횟수는 500에서 520으로 거의 같은데 실행당 시간이 12.4ms에서 112.3ms로 9배, 실행당 버퍼읽기가 1,850에서 42,800으로 급증했고, 결정적으로 plan_hash_value가 바뀌었다. 인덱스를 타던 계획이 전체 스캔으로 바뀌며 느려진 것이다. 집계가 부하 증가로 판정됐어도 이런 개별 회귀는 명백한 성능 저하이며, 계획 고정·통계 재수집 같은 조치가 필요하다.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347016263"/>
      </p:ext>
    </p:extLst>
  </p:cSld>
  <p:clrMapOvr>
    <a:masterClrMapping/>
  </p:clrMapOvr>
</p:notes>
</file>

<file path=ppt/notesSlides/notesSlide8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회귀를 확정했다면 왜 계획이 바뀌었는지 묻는다. 대표 원인은 통계 변화, 바인드 값 편향, 적응형 계획·계획 지시어의 개입, 스키마 변경이다. 원인마다 조치가 다르다. 통계 문제면 대표 통계를 다시 잡거나 고정하고, 바인드 편향이면 적응형 커서 공유나 계획 고정으로 다스린다. 급한 불을 끄려면 좋았던 계획을 SQL Plan Management 베이스라인으로 고정해 옵티마이저가 그 계획만 쓰게 강제할 수 있다. 다만 계획 고정은 증상을 묶는 것이지 원인을 없애는 것이 아니므로 임시 조치임을 기록에 남긴다.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66087622"/>
      </p:ext>
    </p:extLst>
  </p:cSld>
  <p:clrMapOvr>
    <a:masterClrMapping/>
  </p:clrMapOvr>
</p:notes>
</file>

<file path=ppt/notesSlides/notesSlide8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특정 기간을 평시 기준으로 고정하려면 CREATE_BASELINE으로 스냅 범위에 이름을 붙인다. 베이스라인으로 지정된 스냅샷은 AWR 보존 기간(기본 8일)이 지나도 삭제되지 않는다. 이것이 핵심 가치다. 평범한 스냅샷은 8일 뒤 사라지지만 베이스라인은 몇 달 뒤에도 남아 '두 달 전 정상 대비 오늘'을 비교할 수 있다. 이렇게 만든 베이스라인 구간을 awrddrpt.sql의 한쪽 구간으로 넣으면 평시 대비 차이 보고서가 나온다. 즉 베이스라인은 스냅 범위에 붙인 이름표이며, 기간 비교 위에 기준을 저장하는 한 겹을 더한 것이다.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177252059"/>
      </p:ext>
    </p:extLst>
  </p:cSld>
  <p:clrMapOvr>
    <a:masterClrMapping/>
  </p:clrMapOvr>
</p:notes>
</file>

<file path=ppt/notesSlides/notesSlide8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베이스라인은 두 종류다. 고정 베이스라인은 사람이 고른 대표 구간, 즉 한 순간의 사진이며 배포·패치 전후 비교에 쓴다. 이동 윈도우 베이스라인은 최근 N일의 평시 분포를 자동으로 유지한다. 기본으로 SYSTEM_MOVING_WINDOW가 존재하고 크기는 AWR 보존 기간과 같다. 이 분포가 적응형 임계값의 근거가 되어 12장의 메트릭 경보에서 평시 대비 비정상을 자동 판정한다. 적응형 임계값을 제대로 쓰려면 주간·월간 같은 업무 주기가 윈도우 안에 충분히 들어오도록 크기를 잡아야 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017743358"/>
      </p:ext>
    </p:extLst>
  </p:cSld>
  <p:clrMapOvr>
    <a:masterClrMapping/>
  </p:clrMapOvr>
</p:notes>
</file>

<file path=ppt/notesSlides/notesSlide8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장의 모든 도구는 Diagnostics Pack이 필요하다. 라이선스가 없으면 이 기능을 쓰는 것 자체가 위반이다. 대안은 있다. 두 구간 차이 보고서는 Statspack 두 보고서를 사람이 대조해 대신하고, 시간 모델 델타는 V$SYS_TIME_MODEL을 두 시점에 캡처해 뺀다. SQL 회귀는 V$SQL·V$SQL_PLAN 캡처로 본다. 주의할 점은 라이선스가 없는 환경에서 DBA_HIST를 조회하거나 awrddrpt를 돌리는 것만으로도 사용이 감지되어 DBA_FEATURE_USAGE_STATISTICS에 기록된다는 것이다. 조회만 했다는 변명은 통하지 않는다. 불확실하면 V$·Statspack 경로만 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385654779"/>
      </p:ext>
    </p:extLst>
  </p:cSld>
  <p:clrMapOvr>
    <a:masterClrMapping/>
  </p:clrMapOvr>
</p:notes>
</file>

<file path=ppt/notesSlides/notesSlide8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Statspack은 AWR 이전부터 있던 무상 수집 도구다. 주기적으로 스냅샷을 떠 PERFSTAT 스키마에 저장하고 두 스냅 사이 보고서를 만드는 점이 AWR과 같아 라이선스 없이 기간 비교의 핵심을 대신한다. 자동 diff는 없으므로 평시·문제 각각 보고서를 만들어 사람이 Load Profile을 나란히 대조한다. 이때 반드시 Per Second와 Per Transaction 두 열을 함께 보는 것은 AWR과 동일하다. Statspack 보고서도 두 열을 제공하므로 이 장의 판정 절차를 그대로 적용할 수 있다. 판정 원리는 도구가 무엇이든 같다.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65273959"/>
      </p:ext>
    </p:extLst>
  </p:cSld>
  <p:clrMapOvr>
    <a:masterClrMapping/>
  </p:clrMapOvr>
</p:notes>
</file>

<file path=ppt/notesSlides/notesSlide8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세 도구는 같은 원천을 층위만 달리해 본다. V$는 실시간 원천, AWR은 그것을 스냅샷으로 떠 SYSAUX에 영구 저장한 요약, ADDM은 그 위에서 두 스냅샷 사이 DB Time을 자동 해석한다. AWR·ADDM이 구간의 평균 병목을 말한다면 ASH는 그 안의 특정 순간·세션을 말한다. 그래서 ADDM은 대개 진단의 출발점이고, 더 좁혀야 할 때 ASH와 V$로 내려간다는 흐름을 강조한다.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969186489"/>
      </p:ext>
    </p:extLst>
  </p:cSld>
  <p:clrMapOvr>
    <a:masterClrMapping/>
  </p:clrMapOvr>
</p:notes>
</file>

<file path=ppt/notesSlides/notesSlide8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8장에서 봤듯 AWR 보고서는 실측 3,598줄에 이른다. 사람이 매번 정확히 우선순위를 매기기 어렵다. ADDM은 이를 늘 같은 기준으로 빠르게 한다. 단순히 높은 값을 보여 주는 것이 아니라 증상에서 근본 원인으로 인과를 세우고, 문제가 아닌 영역까지 알려 줘 엉뚱한 곳을 파는 것을 막는다. 다만 AWR 데이터에 기반하므로 스냅샷이 놓친 짧은 스파이크는 못 본다 — 그때가 ASH의 자리다.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759458649"/>
      </p:ext>
    </p:extLst>
  </p:cSld>
  <p:clrMapOvr>
    <a:masterClrMapping/>
  </p:clrMapOvr>
</p:notes>
</file>

<file path=ppt/notesSlides/notesSlide8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ADDM은 스냅샷이 생성될 때마다 직전 두 스냅샷 구간을 자동 분석해 저장한다. 그래서 성능 문제 진단의 첫 단계는 새 태스크를 만드는 것이 아니라 이미 만들어진 자동 결과부터 보는 것이다. 더 긴 구간이나 다른 설정이 필요할 때만 수동 실행한다. 분석은 top-down으로 증상에서 근본 원인까지 좁히고, 결과를 영향도(DB Time 비중) 순으로 정렬한다는 점을 짚는다.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939584985"/>
      </p:ext>
    </p:extLst>
  </p:cSld>
  <p:clrMapOvr>
    <a:masterClrMapping/>
  </p:clrMapOvr>
</p:notes>
</file>

<file path=ppt/notesSlides/notesSlide8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ADDM 동작은 두 파라미터가 통제한다. CONTROL_MANAGEMENT_PACK_ACCESS는 DIAGNOSTIC 또는 DIAGNOSTIC+TUNING이어야 하고 NONE이면 꺼진다. STATISTICS_LEVEL은 TYPICAL/ALL이어야 하고 BASIC이면 ADDM 포함 많은 기능이 꺼진다. 결과가 비어 있을 때 가장 먼저 볼 곳이 이 두 값이다. 또 DBMS_ADDM API를 직접 호출하려면 ADVISOR 권한이 필요하다는 점도 함께 언급한다.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15631945"/>
      </p:ext>
    </p:extLst>
  </p:cSld>
  <p:clrMapOvr>
    <a:masterClrMapping/>
  </p:clrMapOvr>
</p:notes>
</file>

<file path=ppt/notesSlides/notesSlide8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모든 Finding은 이 네 유형 중 하나다. 이 구분을 놓치면 증상을 원인으로 착각한다. 실측에서 "Hard Parse"는 SYMPTOM, "Hard Parse Due to Literal Usage"는 PROBLEM으로 잡혔다. 앞은 드러난 현상(하드 파싱이 많다), 뒤는 근본 원인(리터럴 때문에 커서가 안 공유된다)이다. 조치는 반드시 PROBLEM 쪽에 한다는 것을 강조한다.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974163530"/>
      </p:ext>
    </p:extLst>
  </p:cSld>
  <p:clrMapOvr>
    <a:masterClrMapping/>
  </p:clrMapOvr>
</p:notes>
</file>

<file path=ppt/notesSlides/notesSlide8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영향도는 그 Finding이 유발한 DB Time 비중을, 이득은 권고 구현 시 절약될 DB Time 비중을 추정한다. 핵심은 이득이 Finding 영향도가 아니라 전체 DB Time 기준이라는 점이다. 총 574초에서 Top SQL 영향도 60.78%는 약 349초로 실측 impact 348.72초와 일치한다. 이득이 전체 기준이어야 영향도 3%짜리의 90% 개선과 60%짜리의 30% 개선을 직접 비교할 수 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583048310"/>
      </p:ext>
    </p:extLst>
  </p:cSld>
  <p:clrMapOvr>
    <a:masterClrMapping/>
  </p:clrMapOvr>
</p:notes>
</file>

<file path=ppt/notesSlides/notesSlide8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권고는 Action과 Rationale로 구성된다. 추정 이득을 얻으려면 한 권고의 Action을 모두 적용해야 한다. Rationale은 왜 그렇게 권고했는지와 구현 정보를 준다. 권고 유형은 하드웨어·DB 구성·스키마·애플리케이션·다른 어드바이저 호출의 다섯이다. 실측 Top SQL 권고의 Action은 특정 SQL_ID에 SQL Tuning Advisor를 돌리라는 것, Rationale은 그 SQL이 5,912회 실행됐고 DB Time 100%를 CPU·I/O에 썼다는 근거였다.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395907067"/>
      </p:ext>
    </p:extLst>
  </p:cSld>
  <p:clrMapOvr>
    <a:masterClrMapping/>
  </p:clrMapOvr>
</p:notes>
</file>

<file path=ppt/notesSlides/notesSlide8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한 문제에 여러 원인이 있으면 ADDM은 여러 Problem·Symptom Finding을 낸다. 이들의 영향도는 같은 DB Time 조각을 중복해 셀 수 있어 합이 100%를 넘길 수 있다. 읽기가 많은 시스템에서 I/O로 50%인 SQL과 그 I/O를 유발하는 undersized buffer cache 75%가 같은 시간을 다른 각도로 세는 식이다. 합이 200%라고 계산 오류로 오해하지 말 것, 여러 권고는 대안일 수 있어 전부 적용할 필요는 없다는 점을 강조한다.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906937302"/>
      </p:ext>
    </p:extLst>
  </p:cSld>
  <p:clrMapOvr>
    <a:masterClrMapping/>
  </p:clrMapOvr>
</p:notes>
</file>

<file path=ppt/notesSlides/notesSlide8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진단은 자동 결과 확인에서 시작한다. ADDM은 같은 DB의 임의의 두 AWR 스냅샷을 분석할 수 있는데 두 스냅샷이 purge되지 않아야 하고, 분석 대상 인스턴스는 시작 스냅샷 이전에 기동돼 종료까지 떠 있어야 한다. 실무에서는 특정 두 구간을 특정 설정으로 보고 싶은 경우가 많아 수동 실행이나 addmrpt.sql을 흔히 쓴다. 어느 경로든 결과 저장 위치와 읽는 방식은 같다는 점을 짚는다.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263799316"/>
      </p:ext>
    </p:extLst>
  </p:cSld>
  <p:clrMapOvr>
    <a:masterClrMapping/>
  </p:clrMapOvr>
</p:notes>
</file>

<file path=ppt/notesSlides/notesSlide8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ANALYZE_DB는 태스크 이름(IN OUT), 시작·종료 스냅샷 번호, 선택적 db_id를 받는다. db_id를 생략하면 현재 접속 DB가 대상이다. 실측에서는 스냅샷 295~296 구간에 TUNING_CH9_ADDM_296 태스크를 만들어 실행했다. 보고서는 CLOB이고 80자 라인에 맞춰 포맷되므로, GET_REPORT 출력 전에 LINESIZE를 80으로 맞추는 것이 실무 팁이다.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258841837"/>
      </p:ext>
    </p:extLst>
  </p:cSld>
  <p:clrMapOvr>
    <a:masterClrMapping/>
  </p:clrMapOvr>
</p:notes>
</file>

<file path=ppt/notesSlides/notesSlide8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addmrpt.sql은 최근 스냅샷 목록을 보여 주고 시작·종료를 입력받아 보고서를 만든다. awrrpt.sql의 짝이며 내부적으로 ANALYZE_DB와 GET_REPORT를 부르는 래퍼라 결과는 수동 실행과 같다. RAC에서는 Database·Instance·Partial 세 모드로 동작하지만, 단일 인스턴스 non-CDB 환경에서는 ANALYZE_DB도 그 한 인스턴스만 분석한다. 모드 구분은 인스턴스가 여럿일 때 의미가 생긴다는 개념만 짚는다.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965668341"/>
      </p:ext>
    </p:extLst>
  </p:cSld>
  <p:clrMapOvr>
    <a:masterClrMapping/>
  </p:clrMapOvr>
</p:notes>
</file>

<file path=ppt/notesSlides/notesSlide8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Real-Time ADDM은 스냅샷 주기를 기다릴 수 없는 hang 상황을 위한 것으로, MMON이 3초마다 락·래치 없이 통계를 수집해 조건(High load, CPU bound, 데드락 등)에 걸리면 자동 분석해 AWR에 저장한다(DBA_HIST_REPORTS). DBIO_EXPECTED는 단일 블록 읽기 기대 시간(기본 10ms)으로 ADDM의 I/O 진단 기준이다. 너무 작게 주면 정상 I/O를 과대 진단하므로 하드웨어에 맞춰 한 번 측정해 고정한다.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350940762"/>
      </p:ext>
    </p:extLst>
  </p:cSld>
  <p:clrMapOvr>
    <a:masterClrMapping/>
  </p:clrMapOvr>
</p:notes>
</file>

<file path=ppt/notesSlides/notesSlide8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7세션 100초 종합 부하 구간(스냅샷 295~296)의 총 DB Time은 574초, AAS 5.52다. Summary는 Finding을 영향도 순으로 정렬한다. 1번 Top SQL이 활성 세션 3.35개 분량, 전체의 60.78%로 압도적이고 나머지 셋을 합쳐도 12% 남짓이다. 여기서 첫 판단이 나온다 — 시간을 쓸 곳은 1번이지 4번이 아니다. 정렬 순서가 곧 작업 우선순위라는 점을 강조한다.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685493639"/>
      </p:ext>
    </p:extLst>
  </p:cSld>
  <p:clrMapOvr>
    <a:masterClrMapping/>
  </p:clrMapOvr>
</p:notes>
</file>

<file path=ppt/notesSlides/notesSlide8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가장 큰 Finding이다. SQL_ID 9vmszgd1ft9x0는 8장 AWR에서 Elapsed 1위였던 바로 그 문장으로, CLAIM_DETAILS 대량 스캔(WL_02)이 만든 집계다. ADDM은 이 SQL에 SQL Tuning Advisor를 돌리라고 권고한다(이득 31.37%). 권고는 "이렇게 고치라"가 아니라 "여기를 더 파라"는 다음 단계 지시다. 여기서 이 과정과 SQL 튜닝 과정의 경계가 드러난다 — 한 문장을 어떻게 고칠지는 SQLT 과정의 영역이다.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721696060"/>
      </p:ext>
    </p:extLst>
  </p:cSld>
  <p:clrMapOvr>
    <a:masterClrMapping/>
  </p:clrMapOvr>
</p:notes>
</file>

<file path=ppt/notesSlides/notesSlide8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보고서 원문에서 세 층 구조가 그대로 보인다. Finding(영향도 60.78%) 아래 Recommendation(이득 31.37%), 그 아래 Action(특정 SQL_ID에 튜닝 어드바이저 실행)과 Rationale(5,912회 실행, 평균 0.032초)이다. Finding 1에는 두 번째 권고도 있어 또 다른 SQL을 이득 29.41%로 겨냥한다. 두 권고 이득의 합 60.78%가 Finding 영향도와 같아, 이 경우 둘은 대안이 아니라 둘 다 처리 대상임을 보여 준다.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607212051"/>
      </p:ext>
    </p:extLst>
  </p:cSld>
  <p:clrMapOvr>
    <a:masterClrMapping/>
  </p:clrMapOvr>
</p:notes>
</file>

<file path=ppt/notesSlides/notesSlide8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장에서 개념적으로 가장 중요한 Finding이다. 8장 AWR에서 본 하드 파싱 초당 319회, Library Hit 59% 같은 숫자에 ADDM이 이름을 붙였다 — 리터럴 때문에 SQL이 공유되지 못해 추가 하드 파싱이 난다. WL_01 부하가 자동 진단에 잡힌 자리다. 권고는 바인드 변수, 어렵다면 CURSOR_SHARING=FORCE다. DBA_ADVISOR_FINDINGS에서 Hard Parse는 SYMPTOM, Literal Usage는 PROBLEM으로 나란히 잡혀 조치 대상이 어느 쪽인지 분명하다.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503478915"/>
      </p:ext>
    </p:extLst>
  </p:cSld>
  <p:clrMapOvr>
    <a:masterClrMapping/>
  </p:clrMapOvr>
</p:notes>
</file>

<file path=ppt/notesSlides/notesSlide8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세 번째 Finding은 잦은 커밋·롤백으로 log file sync가 DB Time을 소비한다는 것이다(21.15초). WL_05 부하이며 8장 AWR Top Events의 log file sync 21.1초와 같은 대기다. 권고는 커밋 빈도를 줄이거나 로그 I/O를 개선하라는 것이다. 영향도 3.69%로 작으므로 Top SQL을 처리하기 전에 여기 매달릴 이유가 없다. DBA_ADVISOR_FINDINGS에 PROBLEM·SYMPTOM 두 줄로 나타나는 겹침 사례이기도 하다.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704932211"/>
      </p:ext>
    </p:extLst>
  </p:cSld>
  <p:clrMapOvr>
    <a:masterClrMapping/>
  </p:clrMapOvr>
</p:notes>
</file>

<file path=ppt/notesSlides/notesSlide8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같은 스냅샷 295~296 구간을 세 도구가 각자의 언어로 본다. AWR은 숫자의 나열(DB CPU 95.7%, log file sync, 하드 파싱), ADDM은 이름 붙은 진단(Top SQL 60.78% 등), ASH는 순간 샘플 분포(ON CPU 90.7%)다. 도구가 다르다고 사실이 달라지지 않는다. ADDM은 이 관점들을 자동으로 통합해 어디부터 볼지 정해 준다 — 그래서 진단의 출발점이다. 이 일관성이 세 장을 관통하는 교육 포인트다.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101794926"/>
      </p:ext>
    </p:extLst>
  </p:cSld>
  <p:clrMapOvr>
    <a:masterClrMapping/>
  </p:clrMapOvr>
</p:notes>
</file>

<file path=ppt/notesSlides/notesSlide8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텍스트 보고서는 한 번 읽기에 좋지만, 여러 태스크에 걸친 반복 Finding 추적이나 상위 3개만 뽑는 대시보드는 뷰 조회가 낫다. DBA_ADVISOR_FINDINGS가 전체 Finding, DBA_ADDM_FINDINGS가 그 ADDM 부분집합이다. RECOMMENDATIONS는 RANK 순으로 검토하고 BENEFIT로 기대 이득을 본다. 모두 어드바이저 공통 스키마를 따라 다른 어드바이저 결과도 같은 방식으로 조회된다.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876682472"/>
      </p:ext>
    </p:extLst>
  </p:cSld>
  <p:clrMapOvr>
    <a:masterClrMapping/>
  </p:clrMapOvr>
</p:notes>
</file>

<file path=ppt/notesSlides/notesSlide8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실측 조회에서 유형별 판독이 그대로 훈련된다. Hard Parse(SYMPTOM)와 Hard Parse Due to Literal Usage(PROBLEM)가 함께 있고 조치는 PROBLEM에 한다. Commits and Rollbacks가 PROBLEM·SYMPTOM 두 줄로 나오는 것은 같은 문제를 두 각도로 세기 때문이다. impact는 마이크로초라 100만으로 나눠 초로 환산했고, Top SQL 348.72초는 574초의 60.78%와 정확히 맞는다. normal successful completion은 영향도 0의 INFORMATION이다.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895639342"/>
      </p:ext>
    </p:extLst>
  </p:cSld>
  <p:clrMapOvr>
    <a:masterClrMapping/>
  </p:clrMapOvr>
</p:notes>
</file>

<file path=ppt/notesSlides/notesSlide8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ADDM과 관련 뷰는 Diagnostics Pack이 필요하다. 팩이 없으면 ADDM이 자동으로 통합해 주던 것을 V$ 뷰 델타로 손수 재구성한다. Top SQL은 V$SQL 정렬, 하드 파싱은 V$SYSSTAT의 parse count(hard) 델타와 V$LIBRARYCACHE, 커밋 부하는 user commits 델타와 log file sync로 본다. 6장의 Statspack이 구간 보고서의 대안이다. 실습 4·5에서 이 대안 경로를 직접 다룬다는 점을 안내한다.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944547038"/>
      </p:ext>
    </p:extLst>
  </p:cSld>
  <p:clrMapOvr>
    <a:masterClrMapping/>
  </p:clrMapOvr>
</p:notes>
</file>

<file path=ppt/notesSlides/notesSlide8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가장 흔한 실수다. 하위 Finding은 파라미터 하나 바꾸면 되니 손대기 쉽고 뭔가 한 기분을 준다. 그러나 Top SQL이 60.78%인 상황에서 3%짜리를 완벽히 없애도 최대 개선은 3%다(Amdahl). 60%짜리를 절반만 줄여도 30%다. 쉬운 것이 아니라 영향 큰 것부터가 원칙이다. ADDM이 영향도 순으로 정렬해 주는 것이 바로 이 순서를 지키라는 신호다. 이 함정은 상 난이도 오판 판별 문항의 단골 소재다.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663858478"/>
      </p:ext>
    </p:extLst>
  </p:cSld>
  <p:clrMapOvr>
    <a:masterClrMapping/>
  </p:clrMapOvr>
</p:notes>
</file>

<file path=ppt/notesSlides/notesSlide8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권고에서 Action만 읽고 Rationale을 건너뛰면 안 된다. Rationale은 이 권고가 내 업무 맥락에 맞는지 판단할 재료다. 실측 Top SQL 권고의 "5,912회 실행, 평균 0.032초"라는 근거가 있어야 "자주 불려 누적 부하가 크다"는 판단이 서고 튜닝 방향이 갈린다. "인덱스를 추가하라"는 권고도 그 SQL이 중요한지, 인덱스가 다른 DML을 느리게 하지 않는지 스스로 확인해야 한다. ADDM은 재료를 주지만 판단은 대신 안 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567345384"/>
      </p:ext>
    </p:extLst>
  </p:cSld>
  <p:clrMapOvr>
    <a:masterClrMapping/>
  </p:clrMapOvr>
</p:notes>
</file>

<file path=ppt/notesSlides/notesSlide8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Hard Parse Finding의 권고는 바인드 변수, 어렵다면 CURSOR_SHARING=FORCE였다. 파라미터 변경이 앱 수정보다 쉽고 상당한 개선을 준다. 그러나 공짜가 아니다 — 리터럴을 강제로 바인드로 치환하면서 히스토그램 기반 카디널리티 추정이 흐트러져 일부 SQL 실행계획이 나빠질 수 있다. ADDM은 이 트레이드오프를 대신 판단해 주지 않는다. 쉬운 권고일수록 부작용을 스스로 검토해야 한다는 것이 요점이다.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281166056"/>
      </p:ext>
    </p:extLst>
  </p:cSld>
  <p:clrMapOvr>
    <a:masterClrMapping/>
  </p:clrMapOvr>
</p:notes>
</file>

<file path=ppt/notesSlides/notesSlide8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권고 채택 전 다섯 가지를 확인한다. 상위 영향도 Finding인가, Rationale을 읽고 내 맥락에 맞는지 봤는가, 부작용은 무엇인가, 조치 전 상태를 캡처했는가, 적용 후 같은 구간을 다시 분석해 영향도가 실제로 줄었는지 확인할 계획이 있는가. 이 순서를 절차로 만들어 두면 권고 맹신을 구조적으로 막을 수 있다. ADDM이 자동화하는 것은 병목 식별까지이고 채택과 검증은 사람의 몫이라는 것으로 마무리한다.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051096350"/>
      </p:ext>
    </p:extLst>
  </p:cSld>
  <p:clrMapOvr>
    <a:masterClrMapping/>
  </p:clrMapOvr>
</p:notes>
</file>

<file path=ppt/notesSlides/notesSlide8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ASH는 카메라로 1초에 한 장씩 사진을 찍어 두는 것과 같다. AWR은 스냅샷 사이 누적 델타를, ADDM은 그것을 자동 분석해 원인을 낸다. 둘 다 구간을 평균 낸다는 공통점이 있다. 반면 ASH는 1초 간격의 원본 샘플을 그대로 보관하므로 12시 16분 03초에 세션 45번이 무엇을 하고 있었는지까지 되짚을 수 있다. 바로 이 시간 해상도가 몇 분 튀었다 사라지는 문제를 잡아내는 ASH만의 힘이다.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815088938"/>
      </p:ext>
    </p:extLst>
  </p:cSld>
  <p:clrMapOvr>
    <a:masterClrMapping/>
  </p:clrMapOvr>
</p:notes>
</file>

<file path=ppt/notesSlides/notesSlide8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활성 세션이란 데이터베이스에 접속해 있고 Idle 대기 클래스에 속하지 않는 이벤트를 기다리는 세션이다. CPU를 쓰고 있는 ON CPU 상태도 활성이다. 사용자의 다음 입력을 기다리는 Idle 세션은 샘플에서 빠진다. 그래서 ASH 데이터의 크기는 접속 세션 수가 아니라 실제 수행 중인 작업량에 비례한다. 놀고 있는 세션 1000개는 한 줄도 남기지 않고, 바쁜 세션 8개만 매초 8줄을 남긴다.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009712426"/>
      </p:ext>
    </p:extLst>
  </p:cSld>
  <p:clrMapOvr>
    <a:masterClrMapping/>
  </p:clrMapOvr>
</p:notes>
</file>

<file path=ppt/notesSlides/notesSlide8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V$ACTIVE_SESSION_HISTORY의 한 행은 한 세션의 1초 샘플 한 장이다. SESSION_STATE가 진단의 첫 갈림길이다 — ON CPU면 CPU를 쓰는 중이고 EVENT가 NULL, WAITING이면 EVENT에 무엇을 기다렸는지가 담긴다. SQL_ID로 부하를 유발한 문장을, P1/P2/P3로 블록·파일·래치 등 대상을, BLOCKING_SESSION으로 나를 막은 세션을 특정한다. 이 컬럼들의 조합이 이 장의 모든 조회의 기반이다.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711323368"/>
      </p:ext>
    </p:extLst>
  </p:cSld>
  <p:clrMapOvr>
    <a:masterClrMapping/>
  </p:clrMapOvr>
</p:notes>
</file>

<file path=ppt/notesSlides/notesSlide8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ASH를 처음 쓰는 사람이 거의 반드시 겪는 오판이다. 어떤 SQL_ID의 samples가 186이면 186번 실행됐구나로 읽는데 틀렸다. samples=186은 1초 샘플을 찍을 때 이 SQL을 수행 중인 활성 세션으로 186번 포착됐다는 뜻이다. 한 번 실행에 100초 걸리는 SQL은 1회라도 약 100개 샘플을 남긴다. 즉 samples는 실행 빈도가 아니라 그 상태로 보낸 시간의 양, 곧 DB Time 소비의 근사치다. 몇 번 실행했나는 V$SQL을 본다.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540114925"/>
      </p:ext>
    </p:extLst>
  </p:cSld>
  <p:clrMapOvr>
    <a:masterClrMapping/>
  </p:clrMapOvr>
</p:notes>
</file>

<file path=ppt/notesSlides/notesSlide8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ADDM은 구간에서 DB Time에 가장 큰 영향을 준 문제를 우선 보고한다. 잡히느냐는 문제 지속시간이 스냅샷 간격에서 차지하는 비중에 달렸다. 1시간 간격에서 30분 문제는 반드시 잡히지만, 2분 문제는 나머지 58분의 평범한 부하에 severity가 희석되어 findings에 안 나타날 수 있다. AWR도 구간 합계라 2분 스파이크의 대기 시간이 미미해진다. 사용자는 봤는데 AWR은 문제 없음으로 보이는 상황, 여기서 ASH가 유일한 증인이 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204262754"/>
      </p:ext>
    </p:extLst>
  </p:cSld>
  <p:clrMapOvr>
    <a:masterClrMapping/>
  </p:clrMapOvr>
</p:notes>
</file>

<file path=ppt/notesSlides/notesSlide8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네 도구는 시간 해상도가 다른 렌즈다. V$는 지금 이 순간만, AWR·ADDM은 스냅샷 간격 단위의 큰 그림, ASH는 1초 샘플이다. 상시·구조적 부하는 AWR·ADDM이 적합하고, 수 분짜리 스파이크는 ASH가 유일한 증인이다. 안전한 순서는 항상 AWR/ADDM으로 큰 그림을 잡고 의심 구간을 ASH로 확대하는 것이다. 처음부터 ASH로 좁게 들어가면 더 큰 상시 문제를 놓칠 수 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161153189"/>
      </p:ext>
    </p:extLst>
  </p:cSld>
  <p:clrMapOvr>
    <a:masterClrMapping/>
  </p:clrMapOvr>
</p:notes>
</file>

<file path=ppt/notesSlides/notesSlide8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스크립트를 실행하면 형식·시작시각·지속시간을 차례로 묻는다. 시작 시각은 현재로부터 몇 분 전을 음수로 준다. begin_time에 -1:10, duration에 10을 주면 1시간 10분 전부터 10분 동안만 잘라 분석한다. 짧은 스파이크를 잡을 때는 문제가 난 구간만 좁혀 지정하는 것이 요령이다. 구간을 넓게 잡을수록 스파이크가 다시 평균에 희석되기 때문이다. 10분을 지정하면 Activity Over Time이 1분짜리 10개 슬롯으로 나뉜다.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461930498"/>
      </p:ext>
    </p:extLst>
  </p:cSld>
  <p:clrMapOvr>
    <a:masterClrMapping/>
  </p:clrMapOvr>
</p:notes>
</file>

<file path=ppt/notesSlides/notesSlide8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보고서는 여러 섹션으로 나뉜다. Top Events는 상위 대기 이벤트로 병목의 성격을, Load Profile은 서비스·모듈·SQL 유형으로 부하 출처를, Top SQL은 부하 SQL을, Top Sessions는 상위 활성·블로킹 세션을, Top Objects/Files/Latches는 대상 자원을, Activity Over Time은 10개 시간 슬롯으로 스파이크 skew를 보여준다. Sampled # of Executions도 총 실행 횟수가 아니라 샘플에 걸린 서로 다른 실행의 개수임을 잊지 않는다.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943436073"/>
      </p:ext>
    </p:extLst>
  </p:cSld>
  <p:clrMapOvr>
    <a:masterClrMapping/>
  </p:clrMapOvr>
</p:notes>
</file>

<file path=ppt/notesSlides/notesSlide8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ashrpti.sql은 구간뿐 아니라 차원으로도 범위를 좁힐 수 있다. 스크립트 후반이 여러 target 값을 묻는데 관심 있는 것만 지정하고 나머지는 공백으로 넘긴다. 특정 SQL이 의심스러우면 target_sql_id에 그 SQL_ID만 넣어 관련 활동만 추린다. 세션·SQL·대기 클래스·서비스·모듈·액션·클라이언트ID·PL/SQL 진입점을 지원한다. 구간 지정이 언제를 좁힌다면 target 지정은 무엇을을 좁힌다. 종합 부하에서 특정 업무만 떼어 볼 때 유용하다.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810824459"/>
      </p:ext>
    </p:extLst>
  </p:cSld>
  <p:clrMapOvr>
    <a:masterClrMapping/>
  </p:clrMapOvr>
</p:notes>
</file>

<file path=ppt/notesSlides/notesSlide8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표 한 장이 구간의 성격을 규정한다. 활성 시간의 90.7%가 ON CPU다. 세션들이 자원을 기다리며 멈춘 게 아니라 CPU를 쥐고 계속 일했다는 뜻이다. 대기는 다 합쳐도 10%가 안 된다. 이런 CPU 지배형에서는 I/O 튜닝이나 잠금 해소가 아니라 CPU를 태우는 SQL 자체를 찾아 줄이는 것이 정답이다. 상위 대기인 log file sync 2.9%, db file sequential read 1.7%는 부차적 증상일 뿐 여기에 먼저 손대면 헛수고다.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440623081"/>
      </p:ext>
    </p:extLst>
  </p:cSld>
  <p:clrMapOvr>
    <a:masterClrMapping/>
  </p:clrMapOvr>
</p:notes>
</file>

<file path=ppt/notesSlides/notesSlide8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모니터링에서 CPU가 치솟았다는 신고가 오면 대기 이벤트 목록만 보던 습관대로 log file sync를 지목하기 쉽다. 하지만 ASH 상위가 ON CPU 90.7%면 대기는 증상이 아니라 곁가지다. 병목은 기다림이 아니라 CPU 소비 그 자체다. 다음 수순은 CPU를 태우는 상위 SQL_ID로 내려가는 것이다. 대기 이벤트를 붙잡고 있으면 진짜 원인을 영영 못 만난다. 상위 대기 하나만 보고 결론 내지 않는 것이 이 장의 핵심 교훈이다.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341174533"/>
      </p:ext>
    </p:extLst>
  </p:cSld>
  <p:clrMapOvr>
    <a:masterClrMapping/>
  </p:clrMapOvr>
</p:notes>
</file>

<file path=ppt/notesSlides/notesSlide8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CPU 지배형이라는 판정이 섰으니 그 CPU를 실제로 태운 SQL을 지목한다. 상위 두 SQL이 전체 SQL 샘플의 대부분을 차지한다. 여기서도 samples=186은 186번 실행이 아니라 1초 샘플에 186번 수행 중으로 잡힐 만큼 오래 CPU를 점유했다는 뜻이다. 이 부하는 리터럴 하드파싱(WL_01 계열)과 대량 스캔을 섞어 만든 것이라, 9장 ADDM의 Hard Parse Due to Literal Usage 진단과 같은 현상의 앞뒷면이다. 실제 횟수·비용은 V$SQL로 이어 확인한다.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756396382"/>
      </p:ext>
    </p:extLst>
  </p:cSld>
  <p:clrMapOvr>
    <a:masterClrMapping/>
  </p:clrMapOvr>
</p:notes>
</file>

<file path=ppt/notesSlides/notesSlide8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헤더를 순서대로 읽는다. Sample Count 582는 2.2분 동안 모인 활성 세션 샘플 총수다. Average Active Sessions 4.48은 구간 내내 평균 4.48개 세션이 동시에 활성이었다는 뜻으로 DB Time에서 파생되는 동시성 지표다. CPU 8개 서버에서 per CPU가 0.56이므로 CPU가 포화되지는 않았지만 활성 세션의 거의 전부가 CPU를 쓴다는 점(89.69%)이 병목의 성격을 말한다. 직접 조회의 90.7%와 보고서 89.69%가 소수점까지 같지 않은 건 구간·범주 차이일 뿐 결론은 같다.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457039742"/>
      </p:ext>
    </p:extLst>
  </p:cSld>
  <p:clrMapOvr>
    <a:masterClrMapping/>
  </p:clrMapOvr>
</p:notes>
</file>

<file path=ppt/notesSlides/notesSlide8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구간 전체를 하나로 집계하면 언제 몰렸나를 모른다. Activity Over Time은 분석 구간을 10개 슬롯으로 나눠 슬롯별 샘플 수와 상위 이벤트를 보여준다. 12:16 슬롯의 Slot Count가 241로 가장 높으므로 부하가 그 1분에 가장 몰렸다. Slot Count 스파이크는 활성 세션 증가, 곧 워크로드 증가를 의미한다. 세 슬롯 모두 ON CPU가 대부분이라, 스파이크의 정체는 CPU를 태우는 SQL이라는 앞 결론과 일치한다. 슬롯 차이가 몇 개뿐이면 잡음일 수 있으니 두세 배로 튀어야 의미 있는 집중으로 본다.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039420087"/>
      </p:ext>
    </p:extLst>
  </p:cSld>
  <p:clrMapOvr>
    <a:masterClrMapping/>
  </p:clrMapOvr>
</p:notes>
</file>

<file path=ppt/notesSlides/notesSlide8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한 세션의 10초를 초 단위로 펼치니 이야기가 보인다. 세션 45번은 대부분 9vmszgd1ft9x0을 수행하며 CPU에서 보냈고, 12:16:04에 잠깐 커밋을 하며 log file sync를 1초 기다렸다가 다시 CPU로 돌아왔다. 상태 변화를 시간축에 늘어놓으면 집계로는 안 보이던 언제 무엇 때문에 멈췄나가 드러난다. 샘플이 빈 초는 그 순간 세션이 Idle이었다는 뜻이니 빈칸도 정보다. 세션 번호는 재사용되므로 SESSION_ID와 SERIAL#를 함께 조건에 넣는다.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847237"/>
      </p:ext>
    </p:extLst>
  </p:cSld>
  <p:clrMapOvr>
    <a:masterClrMapping/>
  </p:clrMapOvr>
</p:notes>
</file>

<file path=ppt/notesSlides/notesSlide8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세션 단위 추적이 집계와 결정적으로 다른 점은 인과의 순서를 보여준다는 것이다. 집계는 이 구간에 log file sync가 몇 퍼센트 있었다까지지만, 시간순 재구성은 세션이 CPU 작업을 하다가 커밋에서 잠깐 멈췄고 곧 복귀했다는 흐름을 보여준다. 순서가 보이면 조치 대상이 분명해진다. 커밋 대기가 반복되면 커밋 빈도를, CPU 구간이 길면 그 SQL을 손댄다. WAITING 샘플의 BLOCKING_SESSION이 채워지면 그 세션이 다른 세션에 막힌 것이니 블로커를 이어서 추적한다.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50790673"/>
      </p:ext>
    </p:extLst>
  </p:cSld>
  <p:clrMapOvr>
    <a:masterClrMapping/>
  </p:clrMapOvr>
</p:notes>
</file>

<file path=ppt/notesSlides/notesSlide8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메모리 ASH 버퍼는 SGA 안의 유한한 순환 버퍼다. 부하가 높아 샘플이 빠르게 쌓이면 오래된 샘플은 밀려 사라진다. 이 환경의 ASH Buffer Size는 16M였다. 그래서 V$로 되짚을 수 있는 시간은 대개 수십 분에서 몇 시간이다. 이를 보완하는 것이 디스크 ASH다. MMON 계열이 메모리 샘플의 약 10분의 1을 골라 AWR과 함께 SYSAUX에 저장하며 이것이 DBA_HIST_ACTIVE_SESS_HISTORY다. 샘플이 10초 간격이라 해상도는 낮지만 AWR 보존 기간만큼 오래 남는다.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262182431"/>
      </p:ext>
    </p:extLst>
  </p:cSld>
  <p:clrMapOvr>
    <a:masterClrMapping/>
  </p:clrMapOvr>
</p:notes>
</file>

<file path=ppt/notesSlides/notesSlide8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같은 구간을 디스크 ASH로 보면 샘플 수가 메모리의 529에서 약 10분의 1인 53으로 줄어 있다. 10초에 한 번만 저장되기 때문이다. 비율은 그대로(ON CPU 압도적)지만 세밀함이 줄었다. 그래서 어제 이전 구간이라면 이 정도 해상도로 큰 그림을 잡고, 가능하면 문제 직후 메모리 ASH가 살아 있을 때 정밀 분석을 끝내는 것이 좋다. 사고 대응 첫 5분 안에 의심 구간의 V$ACTIVE_SESSION_HISTORY를 별도 테이블로 떠 두는 습관이 중요하다.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835953755"/>
      </p:ext>
    </p:extLst>
  </p:cSld>
  <p:clrMapOvr>
    <a:masterClrMapping/>
  </p:clrMapOvr>
</p:notes>
</file>

<file path=ppt/notesSlides/notesSlide8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세 도구는 데이터 원천이 다르지 않다. AWR은 V$ 통계를 스냅샷으로, ADDM은 그 AWR을, ASH는 같은 활성 세션을 1초로 샘플링한다. 그래서 같은 부하를 보면 결론이 어긋날 수 없다. AWR의 DB CPU 지배, ADDM의 리터럴 하드파싱, ASH의 ON CPU 90.7%는 다른 각도에서 찍은 같은 사진이다. 세 도구가 모순되면 도구가 이상한 게 아니라 보고 있는 구간이 서로 다르다는 신호다. 실무 보고서에는 세 발췌를 나란히 붙여 이 일치를 근거로 제시하면 설득력이 크게 올라간다.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060224748"/>
      </p:ext>
    </p:extLst>
  </p:cSld>
  <p:clrMapOvr>
    <a:masterClrMapping/>
  </p:clrMapOvr>
</p:notes>
</file>

<file path=ppt/notesSlides/notesSlide8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ASH의 편리함에는 대가가 있다. V$ACTIVE_SESSION_HISTORY, DBA_HIST_ACTIVE_SESS_HISTORY, ashrpt.sql은 모두 Diagnostics Pack 유상 옵션이다. 조회하는 순간 사용 이력이 DBA_FEATURE_USAGE_STATISTICS에 남고 라이선스가 없으면 감사에서 위반으로 지적된다. 교육 환경에서 익숙해진 손으로 실무 운영계에서 무심코 조회하는 것이 가장 흔한 사고다. CONTROL_MANAGEMENT_PACK_ACCESS가 DIAGNOSTIC 이상이어야 기능이 동작하지만, 이 값 자체는 라이선스 보유를 증명하지 않는다.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992975501"/>
      </p:ext>
    </p:extLst>
  </p:cSld>
  <p:clrMapOvr>
    <a:masterClrMapping/>
  </p:clrMapOvr>
</p:notes>
</file>

<file path=ppt/notesSlides/notesSlide8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라이선스가 없다면 원리로 돌아간다. ASH가 하는 일은 결국 활성 세션을 짧은 주기로 반복 관찰해 쌓는 것이다. 이를 V$SESSION을 1초마다 폴링해 테이블에 적재하면 수제 ASH가 된다. wait_class &lt;&gt; Idle 조건이 ASH의 활성 세션만 규칙을 재현한다. 다만 V$SESSION은 지금 이 순간만 보여주므로 폴링을 멈추면 과거는 사라진다. 완전한 대체가 아니라 절충이다. 그럼에도 지금 무엇이 병목인가라는 가장 중요한 질문에는 답할 수 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491765823"/>
      </p:ext>
    </p:extLst>
  </p:cSld>
  <p:clrMapOvr>
    <a:masterClrMapping/>
  </p:clrMapOvr>
</p:notes>
</file>

<file path=ppt/notesSlides/notesSlide8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슬라이드는 인스턴스 튜닝을 하나의 반복 순환으로 제시한다. 강조할 점은 네 단계의 순서 자체다. 통계를 먼저 열지 않고 문제 정의부터 시작하는 이유는, 목표와 기준선이 없으면 이후 어떤 조치도 성공 여부를 증명할 수 없기 때문이다. 세 번째 단계에서 한 번에 하나만 바꾸라는 원칙은, 여러 변경을 동시에 하면 무엇이 효과였는지 영영 알 수 없다는 실무 경험에서 나온다. 네 단계가 이 장의 V$ 경로와 어떻게 대응하는지도 함께 언급한다.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076472505"/>
      </p:ext>
    </p:extLst>
  </p:cSld>
  <p:clrMapOvr>
    <a:masterClrMapping/>
  </p:clrMapOvr>
</p:notes>
</file>

<file path=ppt/notesSlides/notesSlide8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문제 정의 단계에서 수집하는 다섯 가지를 하나씩 설명한다. 특히 정량화가 중요한데, 여기서 확보한 재현 가능한 수치가 나중에 조치가 실제로 개선을 만들었는지 판정하는 유일한 기준이 되기 때문이다. 증상과 원인의 구분도 이 단계의 핵심 태도다. 물리 읽기가 느린 것은 증상이고 그 뒤에 비효율 SQL이 있을 수 있으며, 대기 이벤트조차 어디를 볼지 알려 주는 이정표일 뿐 그 자체가 고칠 대상은 아니라는 점을 강조한다.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936453866"/>
      </p:ext>
    </p:extLst>
  </p:cSld>
  <p:clrMapOvr>
    <a:masterClrMapping/>
  </p:clrMapOvr>
</p:notes>
</file>

<file path=ppt/notesSlides/notesSlide8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단계는 두 층위를 교차한다는 점이 핵심이다. OS 통계가 시작점을 알려 주지만, 인스턴스를 튜닝하려면 DB 관점에서 자원 병목을 확인한 뒤에 조치한다. I/O 문제는 V$SYSTEM_EVENT에서 상위 대기가 db file 계열인지 보고, 어느 파일이 뜨거운지 V$IOSTAT_FILE의 단일 블록 읽기 지연으로 짚는다. CPU 시간과 실시간이 다르다는 점, 즉 CPU 8개면 실시간 1분당 CPU 8분이 있다는 계산 감각도 함께 설명하면 좋다.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353826799"/>
      </p:ext>
    </p:extLst>
  </p:cSld>
  <p:clrMapOvr>
    <a:masterClrMapping/>
  </p:clrMapOvr>
</p:notes>
</file>

<file path=ppt/notesSlides/notesSlide8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변경과 측정 단계에서 가장 흔한 실수는 여러 변경을 한꺼번에 밀어 넣는 것이다. 그러면 무엇이 효과였는지 알 수 없어 재발 시 우선순위를 정할 수 없다. 성능 튜닝이 반복 과정이라는 점, 은탄환은 대개 없고 하나의 병목을 없애면 가려져 있던 다른 병목이 드러난다는 점을 강조한다. 언제 멈출지 아는 것도 실력이며, 척도는 이상적 통계값이 아니라 사용자 체감이라는 점으로 마무리한다.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976280997"/>
      </p:ext>
    </p:extLst>
  </p:cSld>
  <p:clrMapOvr>
    <a:masterClrMapping/>
  </p:clrMapOvr>
</p:notes>
</file>

<file path=ppt/notesSlides/notesSlide8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경로의 논리를 설명하는 슬라이드다. 핵심은 좁은 입구라는 비유다. V$SYSSTAT을 먼저 열면 수백 개의 통계가 쏟아지지만 무엇이 지금 문제와 관련 있는지 알 수 없다. 반면 활성 세션에서 시작하면 실제로 자원을 붙들고 있는 소수만 남는다. AWR·ADDM이 하향식으로 DB Time을 분해한다면, V$ 실시간 진단은 활성 세션이라는 좁은 입구로 들어가는 상향식 접근이다. 두 방식은 대립이 아니라 상황에 따라 고르는 도구임을 언급한다.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383329446"/>
      </p:ext>
    </p:extLst>
  </p:cSld>
  <p:clrMapOvr>
    <a:masterClrMapping/>
  </p:clrMapOvr>
</p:notes>
</file>

<file path=ppt/notesSlides/notesSlide8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V$SESSION은 진단의 출발점이다. status가 ACTIVE인 지금 일하는 세션만 추리고, 그 세션이 무슨 SQL을 물고 무엇을 기다리는지 본다. 유용한 열들을 소개하는데, 특히 BLOCKING_SESSION은 잠금 경합에서 누가 누구를 막는지 한눈에 보여 주고 ROW_WAIT_OBJ#는 경합 객체 이름을 얻는 열쇠다. 첫 화면에서 이 열들을 함께 뽑아 두면 뒤의 세 칸으로 넘어갈 실마리를 한 번에 확보한다는 점을 강조한다.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702322654"/>
      </p:ext>
    </p:extLst>
  </p:cSld>
  <p:clrMapOvr>
    <a:masterClrMapping/>
  </p:clrMapOvr>
</p:notes>
</file>

<file path=ppt/notesSlides/notesSlide8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실측에서 곧바로 함정이 드러난다. 두 세션이 ACTIVE인데도 대기 이벤트가 SQL*Net message from client이고 대기 클래스가 Idle이다. 이는 서버가 클라이언트의 다음 명령을 기다리는 유휴 상태로 병목이 아니다. 초심자는 이 이벤트를 네트워크 병목으로 지목하기 쉽지만 Idle 클래스는 진단에서 걸러 낸다. 다만 두 세션이 같은 SQL_ID 9vmszgd1ft9x0을 최근 실행했다는 사실은 다음 SQL 칸으로 넘어갈 실마리가 된다는 점을 짚는다.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488090554"/>
      </p:ext>
    </p:extLst>
  </p:cSld>
  <p:clrMapOvr>
    <a:masterClrMapping/>
  </p:clrMapOvr>
</p:notes>
</file>

<file path=ppt/notesSlides/notesSlide8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대기 칸의 원칙은 순서다. 대기 시간이 가장 큰 이벤트가 다음에 조사할 곳을 가리킨다. V$SESSION_WAIT은 현재 상태 뷰라 P1·P2·P3 세 파라미터로 대기 대상을 세밀하게 특정한다. 이웃 뷰들의 역할 차이도 정리한다. 현재 상태를 보는 WAIT 계열과, 세션·인스턴스 누적을 요약하는 EVENT·SYSTEM_EVENT 계열이다. AWR은 바로 V$SYSTEM_EVENT를 주기적으로 떠서 구간 보고서를 만드는데, 라이선스가 없으면 우리가 두 시점을 직접 떠서 그 역할을 대신한다.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832215526"/>
      </p:ext>
    </p:extLst>
  </p:cSld>
  <p:clrMapOvr>
    <a:masterClrMapping/>
  </p:clrMapOvr>
</p:notes>
</file>

<file path=ppt/notesSlides/notesSlide8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SQL 칸은 원인 문장을 확정하는 단계다. 세션에서 얻은 SQL_ID로 V$SQL을 조회하면 전체 문장과 실행·논리읽기·실행시간 통계가 나와, 그 세션이 붙들던 문장의 정체와 비용을 곧바로 확인한다. V$SQL과 V$SQLAREA의 차이, 즉 자식 커서 단위와 부모 요약 단위의 구분을 설명한다. 부하 중에는 커서가 캐시에서 밀려나 값이 순간순간 변하므로, 상위 SQL도 두 번 떠서 그 사이의 델타로 이 구간에 실제로 무거웠던 문장을 가려낸다는 점을 강조한다.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066908481"/>
      </p:ext>
    </p:extLst>
  </p:cSld>
  <p:clrMapOvr>
    <a:masterClrMapping/>
  </p:clrMapOvr>
</p:notes>
</file>

<file path=ppt/notesSlides/notesSlide8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한 화면에 이 장의 두 교훈이 모두 있다. 1위 9vmszgd1ft9x0은 실행 1,290회에 논리읽기 849만으로 압도적이고 실행당 6,585 블록을 읽는다. sql_text의 full 힌트가 강제 풀 스캔을 만든 원인이다. 총량으로도 실행당으로도 나쁜 진짜 상위 부하다. 반면 아래 여섯 줄은 sql_text가 사실상 같은데 SQL_ID가 제각각이다. 바인드 없이 리터럴을 박아 커서를 공유 못 하고 매번 하드 파싱된 흔적으로, 절대값 순위표만 보면 놓치는 진짜 문제다.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959771982"/>
      </p:ext>
    </p:extLst>
  </p:cSld>
  <p:clrMapOvr>
    <a:masterClrMapping/>
  </p:clrMapOvr>
</p:notes>
</file>

<file path=ppt/notesSlides/notesSlide8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마지막 칸은 세그먼트다. 대기와 SQL로 방향이 잡히면 어느 테이블·인덱스가 부하의 진원지인지 세그먼트 수준 통계로 특정한다. V$SEGSTAT은 실시간 모니터링에 가볍고, V$SEGMENT_STATISTICS는 소유자·테이블스페이스까지 붙인 읽기 좋은 뷰다. 이 칸이 채워지면 세션 692가 Idle을 걸러 낸 뒤 9vmsz 문장을 돌렸고, 그 문장이 MEDICAL_CLAIMS를 풀 스캔하며, 그 테이블이 세그먼트 논리읽기 1위라는 한 줄의 인과가 완성되어 조치 대상이 확정된다.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755213793"/>
      </p:ext>
    </p:extLst>
  </p:cSld>
  <p:clrMapOvr>
    <a:masterClrMapping/>
  </p:clrMapOvr>
</p:notes>
</file>

<file path=ppt/notesSlides/notesSlide8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슬라이드가 이 장의 두 번째 메시지를 담는다. V$SYSSTAT의 값은 거의 모두 기동 이후 누적이라, 절대 크기만으로 많다 적다를 말할 수 없다. session logical reads가 3억 5천만이라는 사실은 그 값이 언제부터 쌓였는지 모르면 아무 의미가 없다. 올바른 방법은 두 시점을 떠서 델타를 구하고 경과 시간으로 나누는 것이다. 분모를 초로 두면 처리량 변화가, 트랜잭션 수로 두면 한 건의 무게 변화가 보인다는 점을 미리 예고한다.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559954122"/>
      </p:ext>
    </p:extLst>
  </p:cSld>
  <p:clrMapOvr>
    <a:masterClrMapping/>
  </p:clrMapOvr>
</p:notes>
</file>

<file path=ppt/notesSlides/notesSlide8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실측값들을 교차로 읽는 법을 설명한다. physical reads 70,100은 session logical reads 3.56억에 비하면 극히 작아, 논리읽기의 대부분이 캐시에서 해결됐음을 뜻한다. sorts disk가 0이고 sorts memory가 60,198이면 정렬이 전부 메모리에서 끝났다는 긍정 신호다. 다만 이 값들은 모두 누적이라 그 자체로는 판정 근거가 아니며, 다음 슬라이드에서 델타를 구해야 비로소 초당 부하율이 된다는 점을 예고한다. parse count의 하드·총 비율은 뒤에서 따로 다룬다.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082620331"/>
      </p:ext>
    </p:extLst>
  </p:cSld>
  <p:clrMapOvr>
    <a:masterClrMapping/>
  </p:clrMapOvr>
</p:notes>
</file>

<file path=ppt/notesSlides/notesSlide8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델타 계산의 절차를 보여 주는 슬라이드다. 두 번째 값은 학습자 환경에 따라 달라지는 환경값으로 표기했다. 강조할 점은 특정 숫자를 외우는 것이 아니라 누적값 두 개를 빼고 경과 시간으로 나눈다는 절차와, 그렇게 얻은 초당 비율만이 판정 근거가 된다는 원칙이다. 진단은 하나의 숫자를 화면에서 읽는 것으로 끝나지 않고, 두 번 읽어 빼는 데서 비로소 시작한다는 이 장의 태도를 다시 확인한다.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935778623"/>
      </p:ext>
    </p:extLst>
  </p:cSld>
  <p:clrMapOvr>
    <a:masterClrMapping/>
  </p:clrMapOvr>
</p:notes>
</file>

<file path=ppt/notesSlides/notesSlide8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부하 통계를 볼 때는 어느 것을 어떤 분모로 정규화하는지가 해석을 좌우한다. session logical reads는 작업량의 대표 지표이고 user commits는 트랜잭션당 정규화의 분모가 된다. 트랜잭션당 논리읽기가 기준선보다 커졌다면 같은 한 건의 업무가 더 많은 블록을 읽는다는 뜻으로, 실행계획 악화나 데이터량 증가를 의심한다. sorts disk가 상당수면 PGA 작업 영역 부족을 의심해 19장으로 넘어간다는 연결도 언급한다.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422855751"/>
      </p:ext>
    </p:extLst>
  </p:cSld>
  <p:clrMapOvr>
    <a:masterClrMapping/>
  </p:clrMapOvr>
</p:notes>
</file>

<file path=ppt/notesSlides/notesSlide8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정규화의 분모를 무엇으로 두느냐가 방향을 정한다. 경과 초로 나누면 인스턴스가 초당 더 많은 일을 하는가라는 처리량 변화가, user commits로 나누면 한 건의 업무가 무거워졌는가라는 애플리케이션 특성 변화가 보인다. AWR 보고서의 Load Profile 섹션이 바로 이 두 정규화를 나란히 보여 주는데, 라이선스가 없으면 V$SYSSTAT 델타로 같은 표를 손으로 만들면 된다. 총 바이트로 초당 I/O 부하를 구해 OS 통계와 교차 검증하는 법도 소개한다.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3526114"/>
      </p:ext>
    </p:extLst>
  </p:cSld>
  <p:clrMapOvr>
    <a:masterClrMapping/>
  </p:clrMapOvr>
</p:notes>
</file>

<file path=ppt/notesSlides/notesSlide8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슬라이드가 실측의 두 데이터를 하나로 잇는다. 하드 파싱 비율 60.6%는 심각하게 높은 값이다. 이상적으로는 한 SQL이 세션마다 한 번 소프트 파싱되고 여러 번 실행돼야 한다. 이 수치의 원인은 앞서 본 여섯 개의 리터럴 SQL이다. sql_text는 같은데 SQL_ID가 다른 것은 바인드 없이 리터럴을 박아 커서를 공유 못 한 흔적이다. 절대값 상위 SQL 화면만 봤다면 놓쳤을 문제가 파싱 비율이라는 파생 지표에서 드러난다는 점, 조치는 바인드 변수라는 점을 강조한다.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714170468"/>
      </p:ext>
    </p:extLst>
  </p:cSld>
  <p:clrMapOvr>
    <a:masterClrMapping/>
  </p:clrMapOvr>
</p:notes>
</file>

<file path=ppt/notesSlides/notesSlide8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모든 성능 문제가 대기 이벤트로 드러나는 것은 아니다. 대응하는 대기 없이 V$SYSSTAT 통계로만 보이는 문제들을 소개한다. redo log space requests가 크면 로그 버퍼가 아니라 체크포인트·DBWR·아카이버를 튜닝해야 한다. table fetch continued row는 이행·연결 행 문제로 1%를 넘으면 조사한다. 읽기 일관성 비용은 작은 트랜잭션이 많고 장기 질의가 겹칠 때 나타나며 자동 실행 취소 관리가 해법이다. 이들도 델타·비율로 읽는다는 원칙은 동일하다.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289206940"/>
      </p:ext>
    </p:extLst>
  </p:cSld>
  <p:clrMapOvr>
    <a:masterClrMapping/>
  </p:clrMapOvr>
</p:notes>
</file>

<file path=ppt/notesSlides/notesSlide8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V$SQL에서 상위의 정의는 정렬 기준에 따라 달라진다. 대표 기준 셋을 설명한다. elapsed_time은 실제로 시간을 가장 많이 쓴 문장, buffer_gets는 CPU와 캐시를 많이 두드린 문장, executions는 가장 자주 불린 문장을 잡는다. 어느 하나만 보면 왜곡되므로 세 기준으로 각각 상위를 뽑아 교차한다. 특히 buffer_gets를 executions로 나눈 실행당 비용을 반드시 함께 봐야 문장 자체의 효율이 드러난다는 점을 강조한다.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382811727"/>
      </p:ext>
    </p:extLst>
  </p:cSld>
  <p:clrMapOvr>
    <a:masterClrMapping/>
  </p:clrMapOvr>
</p:notes>
</file>

<file path=ppt/notesSlides/notesSlide8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총량이 큰 문장에는 두 부류가 있고 조치가 다르다. 실행당 비용이 큰 무거운 문장은 SQL·인덱스·계획을 고치고, 실행당은 가볍지만 너무 자주 불리는 문장은 호출 횟수 자체를 줄인다. 그래서 실행당 비용을 반드시 함께 본다. 실측 1위 9vmsz는 총량도 실행당도 커서 두 축 모두 나쁜 진짜 상위 부하다. 한편 elapsed_time 순위와 buffer_gets 순위가 어긋나면, 그 문장은 CPU가 아니라 I/O 대기가 문제라는 단서가 된다는 점도 덧붙인다.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214146229"/>
      </p:ext>
    </p:extLst>
  </p:cSld>
  <p:clrMapOvr>
    <a:masterClrMapping/>
  </p:clrMapOvr>
</p:notes>
</file>

<file path=ppt/notesSlides/notesSlide8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장이 경계하는 대표적 오판은 절대값 기준 상위 SQL 선별이다. 위험한 이유는 틀린 답이 아니라 그럴듯한 답을 주기 때문이다. buffer_gets 1·2위를 튜닝하면 그 문장은 실제로 빨라지고 조치가 성공한 것처럼 보인다. 그러나 하드 파싱 60.6%가 만든 공유 풀·라이브러리 캐시 래치 경합은 그대로 남아 피크 성능은 나아지지 않는다. 절대값 순위표는 가장 무거운 문장은 보여 주지만 가장 많은 문장이 공유되지 못하는 문제는 못 본다. 그래서 시그니처로 묶어 재평가한다.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640871318"/>
      </p:ext>
    </p:extLst>
  </p:cSld>
  <p:clrMapOvr>
    <a:masterClrMapping/>
  </p:clrMapOvr>
</p:notes>
</file>

<file path=ppt/notesSlides/notesSlide8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장의 모든 조회가 향하는 하나의 태도를 정리한다. 절대값은 판정 근거가 아니다. 세 오판을 든다. 누적값을 그냥 많다고 단정하는 것, buffer_gets 절대값 상위만 손대는 것, 부하 증가로 통계가 커진 것을 성능 저하로 오독하는 것이다. 1장에서 경계한 히트율 신앙도 같은 부류다. 나쁜 SQL이 같은 블록을 반복 논리읽기하면 히트율이 오히려 오른다. 이 오판들의 공통 뿌리는 맥락 없는 숫자에 의미를 부여하는 조급함이라는 점을 강조한다.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818986681"/>
      </p:ext>
    </p:extLst>
  </p:cSld>
  <p:clrMapOvr>
    <a:masterClrMapping/>
  </p:clrMapOvr>
</p:notes>
</file>

<file path=ppt/notesSlides/notesSlide8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세 번째 오판을 수치로 보여 준다. 오후에 통계가 전부 커졌다고 느려졌다고 결론짓기 쉽지만, 사용자가 몰려 초당 실행이 늘면 모든 누적 통계가 커지는 것은 당연하다. 이는 부하 증가이지 성능 저하가 아니다. 둘을 가르는 열쇠는 트랜잭션당 정규화다. 예시에서 총량은 3배지만 트랜잭션당 논리읽기는 1,000으로 동일하니 성능 저하가 아니다. 만약 트랜잭션당이 3,000으로 뛰었다면 한 건이 무거워진 것이고 그때가 진짜 튜닝 대상이라는 점을 강조한다.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840055488"/>
      </p:ext>
    </p:extLst>
  </p:cSld>
  <p:clrMapOvr>
    <a:masterClrMapping/>
  </p:clrMapOvr>
</p:notes>
</file>

<file path=ppt/notesSlides/notesSlide8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교정 원칙을 한 표로 정리하는 슬라이드다. 각 절대값에 대해 그대로 믿을 때의 오판과 올바른 정규화를 짝지어 보여 준다. 세 오판의 공통 뿌리는 하나의 숫자를 한 번 읽고 판정하려는 조급함이다. 성능 통계는 흐름 위의 한 점이며 점 하나로는 기울기를 알 수 없다. 진단은 언제나 최소 두 점을 찍어 그 사이를 재는 일이라는 태도가 몸에 배면, 화면의 큰 숫자에 놀라 엉뚱한 곳을 손대는 일이 사라진다는 점으로 마무리한다.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893644091"/>
      </p:ext>
    </p:extLst>
  </p:cSld>
  <p:clrMapOvr>
    <a:masterClrMapping/>
  </p:clrMapOvr>
</p:notes>
</file>

<file path=ppt/notesSlides/notesSlide8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장의 핵심 메시지 AWR이 없어도 진단은 가능하다의 실체를 정리한다. 이 장의 모든 조회는 관리 팩 라이선스가 필요 없다. V$ 뷰는 인스턴스 메모리를 그대로 비추는 창이라 언제나 조회할 수 있다. 반면 과거를 재구성하는 DBA_HIST 계열과 AWR·ADDM·ASH는 Diagnostics Pack이 필요하다. 라이선스가 없는 현장은 많고 개발·스테이징에는 특히 없다. 그런 환경에서 이 장의 V$ 경로를 쓰면, AWR이 자동화하던 구간 정규화를 손으로 할 뿐 진단의 논리는 완전히 동일하다는 점을 강조한다.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733187309"/>
      </p:ext>
    </p:extLst>
  </p:cSld>
  <p:clrMapOvr>
    <a:masterClrMapping/>
  </p:clrMapOvr>
</p:notes>
</file>

<file path=ppt/notesSlides/notesSlide8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보고 싶은 것마다 라이선스 없이 보는 법을 짝지어 정리하는 슬라이드다. 지금 이 순간의 활성 세션·대기·상위 SQL·구간 부하율은 모두 V$로 무료로 본다. 과거 구간 재구성은 원래 AWR이 하지만 라이선스가 없으면 무상 Statspack 보고서로 대체하고, 과거 스파이크 포착은 ASH 대신 부하 중 V$SESSION을 반복 샘플링해 근사한다. 다만 DBA_HIST를 무심코 조회하면 Diagnostics Pack 사용으로 집계될 수 있으니 라이선스가 없으면 실시간 V$만 쓴다는 주의를 반드시 곁들인다.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821797093"/>
      </p:ext>
    </p:extLst>
  </p:cSld>
  <p:clrMapOvr>
    <a:masterClrMapping/>
  </p:clrMapOvr>
</p:notes>
</file>

<file path=ppt/notesSlides/notesSlide8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대기 이벤트 분석의 첫 태도는 '이벤트는 증상이지 원인이 아니다'라는 것이다. db file sequential read가 상위라고 디스크만 의심하면 진단이 관찰에서 멈춘다. 던져야 할 질문은 그 읽기를 유발한 SQL이 무엇이고 실행 계획이 적절한가다. 그리고 상위 목록은 반드시 총 대기 시간으로 줄을 세운다. 횟수가 많아도 한 번이 짧으면 영향은 작기 때문이다. 실측에서 control file sequential read는 8만 6천 회지만 대기 시간은 1초로 미미했다.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247285131"/>
      </p:ext>
    </p:extLst>
  </p:cSld>
  <p:clrMapOvr>
    <a:masterClrMapping/>
  </p:clrMapOvr>
</p:notes>
</file>

<file path=ppt/notesSlides/notesSlide8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대기 이벤트를 보는 뷰는 역할이 다르다. V$SESSION은 지금 이 순간 각 세션이 무엇을 기다리는지의 스냅사진이고, V$SYSTEM_EVENT는 기동 이후 누적이며, V$EVENT_NAME은 이벤트 이름과 클래스를 정의한 사전이다. 이 조회는 현재 순간의 것이라 매초 바뀐다. 몇 개 세션이 무엇을 기다리는지는 보여주지만 그동안의 누적 영향은 알려주지 않는다. 누적을 봐야 인스턴스가 그동안 어디에 시간을 썼는지가 드러난다.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973408440"/>
      </p:ext>
    </p:extLst>
  </p:cSld>
  <p:clrMapOvr>
    <a:masterClrMapping/>
  </p:clrMapOvr>
</p:notes>
</file>

<file path=ppt/notesSlides/notesSlide8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V$EVENT_NAME으로 클래스별 이벤트 개수를 세면 오라클의 범주 지형이 보인다. Other가 1394개로 가장 많지만 이는 개수일 뿐 대기 시간이 아니다. 분류가 애매한 내부용 서랍이다. 우리가 실제로 주목하는 것은 User I/O, System I/O, Concurrency, Commit, Application 다섯 클래스다. Idle은 140개나 되지만 노는 시간이라 병목 분석에서 통째로 제외한다. 클래스가 곧 진단의 첫 언어다.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699476477"/>
      </p:ext>
    </p:extLst>
  </p:cSld>
  <p:clrMapOvr>
    <a:masterClrMapping/>
  </p:clrMapOvr>
</p:notes>
</file>

<file path=ppt/notesSlides/notesSlide8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세 지표를 함께 읽어야 하는 이유를 실측으로 짚는다. control file sequential read는 총 8만 6천 회 발생했지만 총 대기 시간은 1초에 불과하다. 한 번에 짧게 끝나는 읽기가 대량으로 일어났을 뿐 부담은 미미하다. 반대로 SQL*Net vector data to client는 3974회로 횟수는 적지만 총 대기 시간이 358초로 가장 크다. 한 번의 전송이 그만큼 무거웠다. 횟수 기준으로 정렬했다면 control file이 맨 위에 올라 엉뚱한 곳을 팠을 것이다. 그래서 대기 이벤트는 언제나 총 대기 시간으로 줄을 세우고 평균으로 성격을 판별한다.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229153331"/>
      </p:ext>
    </p:extLst>
  </p:cSld>
  <p:clrMapOvr>
    <a:masterClrMapping/>
  </p:clrMapOvr>
</p:notes>
</file>

<file path=ppt/notesSlides/notesSlide8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db file sequential read는 단일 블록 읽기다. 한 번에 블록 하나만 읽어 버퍼의 한 자리에 담는다. 인덱스를 타고 ROWID로 행을 찾을 때 발생한다. 이름의 sequential은 버퍼에 순차 배치한다는 뜻이지 디스크를 순차로 훑는다는 게 아니다. db file scattered read는 다중 블록 읽기로, 한 요청에 여러 블록을 읽어 버퍼 캐시의 흩어진 빈 자리에 담아 scattered다. 풀 테이블 스캔에서 발생한다. 정리하면 sequential은 인덱스, scattered는 풀스캔이다.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808416251"/>
      </p:ext>
    </p:extLst>
  </p:cSld>
  <p:clrMapOvr>
    <a:masterClrMapping/>
  </p:clrMapOvr>
</p:notes>
</file>

<file path=ppt/notesSlides/notesSlide8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실측에서 db file sequential read가 1만 7천 회 52초로 scattered read 1675회 13초보다 훨씬 크다. 인덱스 기반 단일 블록 접근이 지배적이었다는 뜻이고, OLTP 성격에서는 정상일 수 있다. 반대로 scattered가 sequential을 압도한다면 대량 풀스캔이 성능을 지배한다는 신호이므로 인덱스 부재나 옵티마이저의 인덱스 외면을 SQL 단위로 파고든다. 어느 쪽이든 다음 수순은 V$SQL을 disk_reads 순으로 정렬해 그 읽기를 유발한 SQL을 지목하는 것이다.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382439132"/>
      </p:ext>
    </p:extLst>
  </p:cSld>
  <p:clrMapOvr>
    <a:masterClrMapping/>
  </p:clrMapOvr>
</p:notes>
</file>

<file path=ppt/notesSlides/notesSlide8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db file 계열을 만나면 순서는 늘 같다. 먼저 이벤트로 접근 경로의 성격을 판정하고, V$SQL을 disk_reads 순으로 정렬해 그 읽기를 일으킨 SQL을 지목한 다음, 그 SQL 하나의 실행 계획을 본다. 인덱스가 있어야 할 조건절에 풀스캔이 돈다면 인덱스 설계로, 이미 인덱스를 타는데 단일 블록 읽기가 과하면 조인 순서나 반복 조회 구조로 시선을 옮긴다. 결론이 SQL 한 문장을 고쳐 쓴다로 나면 SQL 튜닝 과정으로 인계한다.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328916553"/>
      </p:ext>
    </p:extLst>
  </p:cSld>
  <p:clrMapOvr>
    <a:masterClrMapping/>
  </p:clrMapOvr>
</p:notes>
</file>

<file path=ppt/notesSlides/notesSlide8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buffer busy waits는 여러 프로세스가 버퍼 캐시의 같은 블록에 동시 접근하려다 부딪혀 기다리는 동시성 문제다. db file read가 디스크에서 블록을 못 가져와 기다리는 것이라면, buffer busy는 블록은 이미 메모리에 있거나 올라오는 중인데 다른 세션의 작업이 끝나길 기다리는 것이다. 그래서 처방은 디스크를 빠르게가 아니라 경합을 분산하는 쪽이다. 순차 증가 기본키를 역키 인덱스로, 핫 세그먼트를 해시 파티션으로 쪼개 여러 블록으로 흩어 놓는다.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319489350"/>
      </p:ext>
    </p:extLst>
  </p:cSld>
  <p:clrMapOvr>
    <a:masterClrMapping/>
  </p:clrMapOvr>
</p:notes>
</file>

<file path=ppt/notesSlides/notesSlide8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경합이 어느 세그먼트에서 나는지는 V$SEGMENT_STATISTICS가 가장 직접적이다. 세그먼트별로 logical reads, physical reads 통계를 누적하므로 이 값이 큰 세그먼트가 부하와 경합의 진원지다. 실측에서 MEDICAL_CLAIMS와 CLAIM_DETAILS가 논리 읽기에서 압도적이다. 각각 약 2.25억, 1.23억이다. 이렇게 자주 접근되는 핫 세그먼트가 동시성이 높아지면 바로 buffer busy waits가 터지는 곳이다. physical reads 상위는 캐시에 다 담기지 못하는 세그먼트를 가리킨다.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217014539"/>
      </p:ext>
    </p:extLst>
  </p:cSld>
  <p:clrMapOvr>
    <a:masterClrMapping/>
  </p:clrMapOvr>
</p:notes>
</file>

<file path=ppt/notesSlides/notesSlide8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특정 세션이 지금 buffer busy waits로 멈춰 있다면 그 세션이 어느 객체에서 막혔는지를 V$SESSION의 ROW_WAIT_OBJ#로 즉시 특정할 수 있다. 그 값으로 DBA_OBJECTS를 조회하면 정확한 세그먼트가 나온다. 여기서는 SQLT.REVIEW_LOG_WL 테이블이다. 대응 순서는 V$WAITSTAT로 블록 클래스를 확인하고, V$SEGMENT_STATISTICS로 상위 세그먼트를 지목하고, ROW_WAIT_OBJ#로 지금 막힌 객체를 확인한 뒤, 블록 클래스에 맞는 처방을 적용하는 것이다.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047645417"/>
      </p:ext>
    </p:extLst>
  </p:cSld>
  <p:clrMapOvr>
    <a:masterClrMapping/>
  </p:clrMapOvr>
</p:notes>
</file>

<file path=ppt/notesSlides/notesSlide8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buffer busy waits를 만나면 어느 블록 클래스에서 났는지를 V$WAITSTAT로 먼저 본다. data block은 테이블 인덱스 데이터 블록 경합으로 대상 세그먼트의 동시 DML을 분산해야 하고, segment header 경합이면 동시 INSERT가 세그먼트 헤더의 공간 관리 구조를 놓고 다투는 것이니 자동 세그먼트 공간 관리 ASSM 사용 여부를 확인하고, undo header나 undo block이 크면 읽기 일관성을 위한 언두 재구성 경합이므로 언두 테이블스페이스 구성을 본다. 클래스가 곧 대응의 갈림길이다. 클래스를 확인한 다음에 세그먼트를 지목하는 순서다.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954762880"/>
      </p:ext>
    </p:extLst>
  </p:cSld>
  <p:clrMapOvr>
    <a:masterClrMapping/>
  </p:clrMapOvr>
</p:notes>
</file>

<file path=ppt/notesSlides/notesSlide8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log file sync는 사용자 세션이 커밋 또는 롤백을 실행하면 그 트랜잭션의 리두 정보가 LGWR에 의해 리두 로그 파일에 기록되어야 하고, 서버 프로세스는 그 디스크 쓰기가 끝날 때까지 이 이벤트로 기다린다. 즉 내 커밋의 리두가 디스크에 안전하게 안착하기를 기다리는 시간이다. 커밋이 잦은 시스템에서 반드시 만나는 이벤트이며 Commit 클래스에 속한다. 이 이벤트의 진단은 커밋 빈도와 리두 디스크 속도 두 축으로 갈린다.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736356986"/>
      </p:ext>
    </p:extLst>
  </p:cSld>
  <p:clrMapOvr>
    <a:masterClrMapping/>
  </p:clrMapOvr>
</p:notes>
</file>

<file path=ppt/notesSlides/notesSlide8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log file sync는 63826회 53초, 그 짝인 log file parallel write는 64602회 52초였다. 이 둘을 나란히 보는 것이 진단의 열쇠다. log file sync는 커밋한 사용자 세션이 기다리는 시간이고, log file parallel write는 LGWR가 실제로 리두를 디스크에 쓰는 시간이다. 두 값이 거의 같다는 것은 커밋 세션이 기다린 시간의 대부분이 실제 디스크 쓰기 시간이었다는 뜻이다. 만약 sync는 큰데 parallel write가 작다면 디스크는 빠른데 세션이 기다린다는 것이므로 CPU 스케줄링이나 과도한 커밋 횟수를 의심한다.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669723346"/>
      </p:ext>
    </p:extLst>
  </p:cSld>
  <p:clrMapOvr>
    <a:masterClrMapping/>
  </p:clrMapOvr>
</p:notes>
</file>

<file path=ppt/notesSlides/notesSlide9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log file sync 진단은 평균 대기 시간으로 갈린다. 평균이 크면 리두 로그 디스크가 느린 것이니 디스크 경합을 확인하고 필요하면 더 빠른 디스크로 옮기거나 리두를 키운다. 평균은 작은데 횟수가 매우 많으면 애플리케이션이 너무 자주 커밋하는 것이고, 이 경우가 실무에서 훨씬 흔하다. 실측의 63826회는 부하 스크립트가 행마다 커밋하는 패턴을 만든 결과다. 올바른 처방은 커밋을 N건마다 모아서 하기이지 디스크를 바꾸는 게 아니다. log file sync가 상위라고 무조건 디스크를 의심하지 않는다.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044311430"/>
      </p:ext>
    </p:extLst>
  </p:cSld>
  <p:clrMapOvr>
    <a:masterClrMapping/>
  </p:clrMapOvr>
</p:notes>
</file>

<file path=ppt/notesSlides/notesSlide9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리두 계열에는 log file sync 말고도 함께 봐야 할 이벤트가 있다. 실측에서도 세션 하나가 log file switch completion을 대기하고 있었다. Configuration 클래스다. 현재 리두 로그 그룹이 가득 차 다음 그룹으로 전환되기를 기다리는 상황으로, 리두 로그 그룹이 너무 작거나 개수가 부족할 때 또는 체크포인트 아카이브가 전환을 못 따라올 때 발생한다. 처방은 리두 로그를 키우거나 그룹 수를 늘리는 것이다. log buffer space는 리두 버퍼가 가득 차 LGWR가 비워 주기를 기다리는 이벤트로 리두 생성 속도가 기록 속도를 앞지를 때 나타난다. 이웃 이벤트를 함께 보면 커밋 대기의 원인을 더 정확히 가른다.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850614178"/>
      </p:ext>
    </p:extLst>
  </p:cSld>
  <p:clrMapOvr>
    <a:masterClrMapping/>
  </p:clrMapOvr>
</p:notes>
</file>

<file path=ppt/notesSlides/notesSlide9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latch와 mutex는 SGA 공유 메모리 구조를 아주 짧은 순간 보호하는 경량 잠금이다. 정상 상태에서는 마이크로초 단위로 잡았다 놓아 대기가 거의 없다. 전통적으로 latch로 보호했지만 라이브러리 캐시처럼 빈번히 접근되는 구조에서는 latch가 병목이 되어, 더 가볍고 세밀한 mutex를 도입했다. mutex는 커서 하나마다 둘 수 있어 경합 지점이 잘게 쪼개진다. 이벤트 이름의 S는 공유 모드, X는 배타 모드다. cursor pin S wait on X는 커서를 공유로 고정하려는데 다른 세션이 배타로 쥐고 있어 기다린다는 뜻이다.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278219691"/>
      </p:ext>
    </p:extLst>
  </p:cSld>
  <p:clrMapOvr>
    <a:masterClrMapping/>
  </p:clrMapOvr>
</p:notes>
</file>

<file path=ppt/notesSlides/notesSlide9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latch: shared pool이 13156회로 두드러진다. 공유 풀 래치 경합은 거의 언제나 하드 파싱과 짝을 이룬다. 리터럴 값을 그대로 박은 SQL을 반복 실행하면 매번 새 커서를 만들어야 하고 그때마다 공유 풀에서 메모리를 할당 해제하느라 shared pool 래치를 잡는다. 세션이 많아지면 경합이 폭발한다. cursor pin S wait on X와 library cache mutex X도 같은 뿌리, 커서를 파싱 무효화하는 동안의 mutex 경합이다. latch free는 특정 래치를 지목하지 않은 일반 획득 실패로, spin이 CPU를 태워 대기와 CPU를 함께 올린다.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868748194"/>
      </p:ext>
    </p:extLst>
  </p:cSld>
  <p:clrMapOvr>
    <a:masterClrMapping/>
  </p:clrMapOvr>
</p:notes>
</file>

<file path=ppt/notesSlides/notesSlide9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공유 풀 라이브러리 캐시 래치 mutex 경합의 1차 용의자는 과도한 하드 파싱이다. 먼저 V$SQLAREA에서 parse_calls와 version_count가 큰 SQL을 찾는다. 근본 처방은 바인드 변수 사용으로 리터럴을 제거하는 것이다. 즉시 완화가 필요하면 CURSOR_SHARING을 검토하되 부작용을 이해하고 쓴다. V$SYSSTAT의 parse count hard를 초당으로 환산해 300을 넘는지 본다. 넘으면 확장성 문제다. latch mutex는 증상이므로 경합 수치가 아니라 왜 이렇게 파싱이 많은가를 SQL로 파고든다.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173127888"/>
      </p:ext>
    </p:extLst>
  </p:cSld>
  <p:clrMapOvr>
    <a:masterClrMapping/>
  </p:clrMapOvr>
</p:notes>
</file>

<file path=ppt/notesSlides/notesSlide9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enqueue는 latch mutex와 달리 데이터베이스 자원에 대한 더 오래 지속되는 논리적 잠금이다. 가장 흔한 것이 TX 트랜잭션 잠금이고 enq TX row lock contention으로 나타난다. Application 클래스라는 사실이 성격을 말한다. 디스크나 메모리가 아니라 애플리케이션의 잠금 설계 문제다. 행 잠금은 읽기를 막지 않으므로 이 대기는 쓰기 대 쓰기에서만 생긴다. 3장에서 블로킹 세션 597이 596을 막은 관점으로 다뤘다면, 여기서는 같은 현상을 이 대기 이벤트가 어느 세그먼트 어느 SQL에서 발생했는가로 다시 본다.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757391953"/>
      </p:ext>
    </p:extLst>
  </p:cSld>
  <p:clrMapOvr>
    <a:masterClrMapping/>
  </p:clrMapOvr>
</p:notes>
</file>

<file path=ppt/notesSlides/notesSlide9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실측에서 enq TX row lock contention은 105회 8초였다. 횟수는 적어도 Application 클래스에 뜬다는 것 자체가 세션들이 서로의 커밋을 기다리며 직렬화됐다는 신호다. 대기하는 596은 실제로 자원을 기다리며 시간을 쓰지만, 그를 막은 블로커 597은 status가 INACTIVE이고 SQL*Net message from client라는 Idle 이벤트를 대기 중이다. 즉 597은 트랜잭션을 열어 행을 잠근 채 커밋도 롤백도 않고 사용자 입력을 기다리며 놀고 있다. 전형적인 커밋을 잊은 트랜잭션이다. row_wait_obj로 세그먼트를, 597의 sql_id로 잠근 문장을 특정한다.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83425575"/>
      </p:ext>
    </p:extLst>
  </p:cSld>
  <p:clrMapOvr>
    <a:masterClrMapping/>
  </p:clrMapOvr>
</p:notes>
</file>

<file path=ppt/notesSlides/notesSlide9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여러 사용자가 화면이 멈췄다고 신고하고 V$SESSION에 enq TX row lock contention 대기 세션이 여럿 쌓여 있는 상황이다. blocking_session을 타고 올라가니 최종 블로커 한 세션이 INACTIVE 상태로 SQL*Net message from client를 대기 중이다. 트랜잭션을 연 채 방치된 것이다. 조치는 블로커 세션의 사용자를 확인해 커밋 롤백을 유도하고, 방치 세션이면 정책에 따라 정리한다. 근본 처방은 애플리케이션이 트랜잭션을 짧게 유지하고 커밋을 미루지 않도록 고치는 것이다. 대기 세션이 아니라 대기 사슬 맨 끝을 봐야 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085750329"/>
      </p:ext>
    </p:extLst>
  </p:cSld>
  <p:clrMapOvr>
    <a:masterClrMapping/>
  </p:clrMapOvr>
</p:notes>
</file>

<file path=ppt/notesSlides/notesSlide9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대기 이벤트를 처음 보는 사람이 거의 반드시 저지르는 실수가 SQL*Net message from client를 병목으로 지목하는 것이다. 이 이벤트는 V$SYSTEM_EVENT에서 총 대기 시간이 압도적으로 크게 나오기 때문에 맨 위를 보고 최대 병목으로 착각한다. 하지만 이것은 서버가 클라이언트의 다음 요청이 오기를 기다리는 시간, 즉 사용자 생각 시간이다. 데이터베이스가 놀고 있는 유휴 시간이라 Idle 클래스다. 아무리 커도 사용자가 천천히 조작한다는 뜻이지 DB가 느리다는 뜻이 아니다. from client와 to client는 완전히 다르다.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495841146"/>
      </p:ext>
    </p:extLst>
  </p:cSld>
  <p:clrMapOvr>
    <a:masterClrMapping/>
  </p:clrMapOvr>
</p:notes>
</file>

<file path=ppt/notesSlides/notesSlide9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그래서 대기 이벤트를 조회할 때는 언제나 Idle 클래스를 제외하는 것을 기본 습관으로 삼는다. 현행 뷰는 대부분 wait_class 컬럼을 직접 제공하므로 방법 1이 간단하다. 방법 2는 V$EVENT_NAME으로 Idle 이벤트를 NOT IN 서브쿼리로 제외한다. 실측에서 SQL*Net message to client는 313388회로 횟수는 크지만 대기 시간은 1초로 작고, SQL*Net vector data to client는 358초로 커서 대량 데이터 전송이 실재했음을 보여준다. 이 필터 한 줄이 있고 없고가 헛다리를 짚느냐 진짜 병목을 보느냐를 가른다.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502515313"/>
      </p:ext>
    </p:extLst>
  </p:cSld>
  <p:clrMapOvr>
    <a:masterClrMapping/>
  </p:clrMapOvr>
</p:notes>
</file>

<file path=ppt/notesSlides/notesSlide9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신입 담당자가 SQL*Net message from client가 전체 대기의 70퍼센트로 최대 병목이라는 진단서를 올리고 네트워크 담당에게 회선 점검을 요청하려는 상황을 생각해 보자. 해당 이벤트는 Idle 클래스다. 데이터베이스가 클라이언트의 다음 요청을 기다린 유휴 시간일 뿐 네트워크나 DB의 병목이 아니다. wait_class 부등호 Idle로 다시 집계하면 그제야 log file sync db file sequential read 같은 진짜 병목이 드러난다. 대기 목록의 맨 위가 Idle 이벤트라면 그것은 병목의 발견이 아니라 필터를 빠뜨렸다는 신호다.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142497406"/>
      </p:ext>
    </p:extLst>
  </p:cSld>
  <p:clrMapOvr>
    <a:masterClrMapping/>
  </p:clrMapOvr>
</p:notes>
</file>

<file path=ppt/notesSlides/notesSlide9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ADMIN 32장에서 개념은 다뤘다. 여기서는 폴링 대비 push의 이점(즉시성·저부하·표준화)을 확인하고, 이 인프라가 라이선스와 무관한 기본 기능이라는 점을 강조한다. MMON은 AWR 스냅샷을 뜨는 바로 그 프로세스이며, 스냅샷보다 짧은 주기로도 SGA의 메트릭을 계산해 임계값과 비교한다. EM이 없어도 딕셔너리 뷰만으로 완전한 알림 관리가 가능하다는 것이 이 장 실습의 전제다.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974673427"/>
      </p:ext>
    </p:extLst>
  </p:cSld>
  <p:clrMapOvr>
    <a:masterClrMapping/>
  </p:clrMapOvr>
</p:notes>
</file>

<file path=ppt/notesSlides/notesSlide9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사전 정의 알림은 기본 임계값을 이미 갖고 있어 그대로 동작한다. 관리자가 할 일은 기본값을 환경에 맞게 조정하고 필요한 메트릭에 사용자 알림을 추가하는 것이다. 두 소비 경로의 원천 데이터가 같으므로 EM이 없는 환경도 스케줄러 잡으로 DBA_OUTSTANDING_ALERTS를 읽어 자체 통지 체계를 만들 수 있다. 이 자유도의 바탕은 알림 인프라가 라이선스 무관 기본 기능이라는 점이다.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686297877"/>
      </p:ext>
    </p:extLst>
  </p:cSld>
  <p:clrMapOvr>
    <a:masterClrMapping/>
  </p:clrMapOvr>
</p:notes>
</file>

<file path=ppt/notesSlides/notesSlide9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구분이 대응의 출발점이다. Stateful 알림은 '지금 이 문제가 계속되고 있다'를 뜻하므로 원인을 제거하는 것이 목표이고, 원인이 사라지면 다음 감시 주기에 서버가 자동으로 해소한다. 조치 직후 즉시 사라지지 않는 것은 정상이다. Stateless 알림은 이미 지나간 사건이라 남길 상태가 없고, 왜 그 사건이 일어났는지 사후에 확인하는 것이 목표다.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088871566"/>
      </p:ext>
    </p:extLst>
  </p:cSld>
  <p:clrMapOvr>
    <a:masterClrMapping/>
  </p:clrMapOvr>
</p:notes>
</file>

<file path=ppt/notesSlides/notesSlide9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MESSAGE_LEVEL은 심각도로 1이 Critical(위험), 5가 Warning(경고)이다. 위 결과의 1은 RTBS가 100% 찼다는 위험 알림이다. 100%까지 갔다는 것은 85%(경고)·97%(위험) 임계값을 지나는 동안 아무도 대응하지 못했다는 신호다. 경고 단계에서 잡았다면 위험까지 가지 않았을 것이며, 임계값을 두 단계로 나누는 이유가 여기에 있다. Stateful이므로 RTBS에 공간을 확보하면 다음 감시 주기에 자동 해소된다.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822296015"/>
      </p:ext>
    </p:extLst>
  </p:cSld>
  <p:clrMapOvr>
    <a:masterClrMapping/>
  </p:clrMapOvr>
</p:notes>
</file>

<file path=ppt/notesSlides/notesSlide9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08-20의 'Operation on resumable session'은 재개 가능 모드로 실행되던 적재 작업이 공간 부족 등으로 일시중단됐다가 처리된 Stateless 사건이다. up/down 이력이 잦은 것은 성능 문제가 아니라 실습 환경에서 인스턴스를 자주 내렸다 올린 흔적이다. 이력을 읽을 때는 '성능 알림'과 '운영 이벤트'를 reason으로 걸러 구분해야 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799018080"/>
      </p:ext>
    </p:extLst>
  </p:cSld>
  <p:clrMapOvr>
    <a:masterClrMapping/>
  </p:clrMapOvr>
</p:notes>
</file>

<file path=ppt/notesSlides/notesSlide9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메트릭은 종류가 많다. V$SYSSTAT 같은 원시 통계는 인스턴스 기동 이후 누적 절대값이라 '지금 얼마나 바쁜가'를 직관적으로 못 보여 준다. 메트릭은 단위 시간·단위 작업당 값으로 가공돼 임계값과 곧바로 비교된다. 임계값을 걸 메트릭을 고를 때는 사용자 체감과 연결되는지를 기준으로 삼는다. 체감과 무관한 내부 지표에 임계값을 거는 것은 소음만 늘린다.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978743749"/>
      </p:ext>
    </p:extLst>
  </p:cSld>
  <p:clrMapOvr>
    <a:masterClrMapping/>
  </p:clrMapOvr>
</p:notes>
</file>

<file path=ppt/notesSlides/notesSlide9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WARNING 85·CRITICAL 97 행이 데이터베이스 기본 임계값이다. &lt;SYSTEM-GENERATED THRESHOLD&gt; 행은 특정 테이블스페이스에 시스템이 자동 생성한 항목으로, CRITICAL 0이면 위험 임계값이 실질적으로 설정되지 않았다는 뜻이다. 사전 정의 알림은 데이터베이스 수준 기본값을 갖고, 특정 대상만 다르게 감시하려면 object_name으로 지정해 별도 임계값을 덮어쓴다. CONSECUTIVE 1은 한 번 초과해도 곧바로 알림이다.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423614565"/>
      </p:ext>
    </p:extLst>
  </p:cSld>
  <p:clrMapOvr>
    <a:masterClrMapping/>
  </p:clrMapOvr>
</p:notes>
</file>

<file path=ppt/notesSlides/notesSlide9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다섯 개의 손잡이가 있다. 경고·위험 값(얼마로 잡을지, 12.4의 주제), 비교 연산자(사용률·응답시간은 GE), 관측 주기(분), 연속 관측 횟수, 적용 대상이다. 값을 NULL 두 개로 주면 기본값으로 초기화된다. GET_THRESHOLD로 현재 값을 얻을 수 있다. observation_period와 consecutive_occurrences는 순간 스파이크를 걸러 내는 완충 장치로, 임계값과 함께 설계한다.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035156721"/>
      </p:ext>
    </p:extLst>
  </p:cSld>
  <p:clrMapOvr>
    <a:masterClrMapping/>
  </p:clrMapOvr>
</p:notes>
</file>

<file path=ppt/notesSlides/notesSlide9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임계값을 아무리 잘 잡아도 한 번 튀었다 사라지는 값은 늘 있다. 연속 관측 횟수를 2~3으로 두면 지속적인 악화만 걸러 낸다. 임계값을 무작정 낮추면 알림 피로가 오지만, 연속 횟수로 완충하면 임계값은 분포 기반으로 두면서도 노이즈를 줄일 수 있다. 세 손잡이를 따로 만지지 말고 함께 설계하는 것이 요령이다. 특히 관측 주기(observation_period)를 함께 조정하면 짧은 주기의 순간 스파이크에 과민 반응하지 않으면서도 지속적인 악화는 놓치지 않는다.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78188527"/>
      </p:ext>
    </p:extLst>
  </p:cSld>
  <p:clrMapOvr>
    <a:masterClrMapping/>
  </p:clrMapOvr>
</p:notes>
</file>

<file path=ppt/notesSlides/notesSlide9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많은 현장이 임계값을 감으로 정한다. '활성 세션 10개면 위험하겠지' 식이다. 그러나 평소 활성 세션이 8개인 시스템에 10개 경고를 걸면 거의 상시로 울리고, 평소 1개인 시스템에 10개 경고는 아무것도 감시하지 못한다. 임계값은 절대 숫자가 아니라 그 시스템의 정상 범위를 벗어난 지점이며, 그 평시는 DBA_HIST 이력에 이미 기록돼 있다. 임계값 설계는 통계 문제다.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364293931"/>
      </p:ext>
    </p:extLst>
  </p:cSld>
  <p:clrMapOvr>
    <a:masterClrMapping/>
  </p:clrMapOvr>
</p:notes>
</file>

<file path=ppt/notesSlides/notesSlide9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한 시점만 보면 판단이 어렵다. AAS 4.28은 높은가? Executions 916.31은 정상인가? 알 수 없다. 이 값이 평범한지 이례적인지 판정하려면 비교 대상, 즉 평시 분포가 필요하다. CPU Time Ratio 96.8%는 DB Time 대부분이 CPU이고 대기가 3.2%뿐이라는 뜻인데, 이것이 건강한 CPU 바운드인지 포화 직전인지는 Host CPU 48.77%와 이력을 함께 봐야 판정된다. 현재값은 분포 위의 한 점일 뿐이다.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181207585"/>
      </p:ext>
    </p:extLst>
  </p:cSld>
  <p:clrMapOvr>
    <a:masterClrMapping/>
  </p:clrMapOvr>
</p:notes>
</file>

<file path=ppt/notesSlides/notesSlide9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실제 숫자는 환경마다 다르므로 &lt;환경값&gt;으로 둔다. 요점은 절차다. 캡처 시점 현재값 4.28은 이 분포 위 어딘가에 찍히는 점이다. 4.28이 p50 근처면 지금은 평범한 부하이고, p95를 넘으면 이미 이례적으로 바쁜 순간이다. 같은 4.28이라도 분포에 따라 해석이 정반대가 된다. 라이선스가 없으면 V$SYSMETRIC_HISTORY를 자체 적재하거나 Statspack 메트릭으로 같은 분포를 만든다.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457040908"/>
      </p:ext>
    </p:extLst>
  </p:cSld>
  <p:clrMapOvr>
    <a:masterClrMapping/>
  </p:clrMapOvr>
</p:notes>
</file>

<file path=ppt/notesSlides/notesSlide9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규칙은 특정 숫자가 아니라 절차이므로 어느 메트릭에나 적용된다. 예외는 물리적·계약적 한계가 분명한 지표다. 테이블스페이스 사용률의 85/97처럼 공간이 실제로 없어지는 지점이 분명하면 그 값을 그대로 쓴다. 분포 산정은 활성 세션·응답시간·CPU 비율 같은 부하성 메트릭에 특히 유효하다. 평균+2·표준편차(경고)·평균+3·표준편차(위험)로 백분위수를 보정할 수 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818677588"/>
      </p:ext>
    </p:extLst>
  </p:cSld>
  <p:clrMapOvr>
    <a:masterClrMapping/>
  </p:clrMapOvr>
</p:notes>
</file>

<file path=ppt/notesSlides/notesSlide9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백분위수만으로 부족할 때 평균과 표준편차를 함께 본다. DBA_HIST_SYSMETRIC_SUMMARY는 스냅샷마다 AVERAGE와 STANDARD_DEVIATION을 준다. 백분위수는 표본 수에 민감하고 평균±표준편차는 산포를 직접 반영하므로, 둘을 대조해 값의 신뢰도를 판단한다. 지표 성격도 반영한다. 이미 비율인 CPU Time Ratio는 지속성이 중요해 observation_period를 길게, 상한 없는 처리량 지표는 백분위수가 잘 맞는다.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54903043"/>
      </p:ext>
    </p:extLst>
  </p:cSld>
  <p:clrMapOvr>
    <a:masterClrMapping/>
  </p:clrMapOvr>
</p:notes>
</file>

<file path=ppt/notesSlides/notesSlide9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흔한 실수는 지금 값을 그대로 임계값으로 삼는 것이다. 4.28이 평시 중앙값이라면 5 경고는 거의 상시로 울려 알림 피로만 남긴다. 옳은 접근은 이력에서 분포를 뽑아 p95·p99를 임계값으로 쓰는 것이다. Host CPU가 아직 절반 수준(48.77%)이므로 활성 세션이 코어 수를 넘기 시작하는 지점이 위험 후보가 된다. 현재값은 판정의 기준점일 뿐 임계값이 아니다.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498984104"/>
      </p:ext>
    </p:extLst>
  </p:cSld>
  <p:clrMapOvr>
    <a:masterClrMapping/>
  </p:clrMapOvr>
</p:notes>
</file>

<file path=ppt/notesSlides/notesSlide9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임계값 산정은 일회성이 아니다. 잘 산정한 경고가 최근 부쩍 자주 울린다면 임계값이 낮은 게 아니라 시스템이 실제로 한계에 가까워지고 있다는 용량 계획의 경보일 수 있다. 이때는 임계값을 올릴 게 아니라 자원 증설·부하 분산을 검토한다. 표본 구간은 업무 성격에 맞게 나눈다. 배치 새벽과 사용자 낮을 섞으면 분포가 두 봉우리가 되어 백분위수가 왜곡되므로, WHERE 절에 시간대 필터를 걸어 구간을 분리한 뒤 각각 산정한다.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475921849"/>
      </p:ext>
    </p:extLst>
  </p:cSld>
  <p:clrMapOvr>
    <a:masterClrMapping/>
  </p:clrMapOvr>
</p:notes>
</file>

<file path=ppt/notesSlides/notesSlide9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핵심은 위에서 아래로 좁혀 가는 것이다. '알림이 왔다'에서 곧바로 '이 SQL이 문제다'로 건너뛰지 않는다. 부하가 인스턴스 전반인지 특정 세션·서비스인지 먼저 가른 다음 활성 세션→대기→SQL로 내려간다. 대응하면서 조치 전 상태를 캡처해 근거를 남긴다. 그래야 조치 효과를 증명하고, 같은 알림이 반복될 때 근본 원인을 추적할 수 있다. 이 순서는 3장의 응급 대응 절차와 13~14장의 V$ 진단 경로를 알림 상황에 맞게 재구성한 것이다.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086408708"/>
      </p:ext>
    </p:extLst>
  </p:cSld>
  <p:clrMapOvr>
    <a:masterClrMapping/>
  </p:clrMapOvr>
</p:notes>
</file>

<file path=ppt/notesSlides/notesSlide9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증상(느림)과 원인(잠금)을 혼동하지 않는 것이 이 실습의 요점이다. 신고받은 SQL의 실행계획부터 보면 원인이 안 나온다. SQL이 느린 게 아니라 잠금에 걸려 대기 중이기 때문이다. 절차대로 활성 세션의 대기 이벤트부터 보면 enq: TX - row lock contention이 잡히고, 블로커를 해소하면 그 SQL은 원래 속도로 끝난다. Stateful 알림이므로 경합이 풀리면 자동 해소된다.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525216015"/>
      </p:ext>
    </p:extLst>
  </p:cSld>
  <p:clrMapOvr>
    <a:masterClrMapping/>
  </p:clrMapOvr>
</p:notes>
</file>

<file path=ppt/notesSlides/notesSlide9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상시 모니터링은 한 번의 대응이 아니라 기록의 축적으로 완성된다. 조치 전 상태를 캡처하지 않으면 조치가 효과 있었는지 증명할 수 없다. 알림이 울린 시각의 지표, 지목한 블로커와 SQL, 조치와 조치 후 값을 남기면 두 가지로 쓰인다. 같은 알림이 다시 울릴 때 지난번과 대조하고, 특정 알림이 반복되면 그 기록들이 근본 원인을 가리키는 증거가 된다. 근거를 남기지 않은 대응은 그때는 넘겨도 다음번에 같은 판단을 처음부터 다시 해야 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385187639"/>
      </p:ext>
    </p:extLst>
  </p:cSld>
  <p:clrMapOvr>
    <a:masterClrMapping/>
  </p:clrMapOvr>
</p:notes>
</file>

<file path=ppt/notesSlides/notesSlide9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모든 행의 SOFAR와 TOTALWORK가 같아 진행률 100%다. 즉 조회 시점에 RMAN 증분 백업이 이미 완료돼 잠시 남아 있는 것이다. LONGOPS 행은 작업이 끝나도 잠시 남으므로 PCT 100은 '진행 중'이 아니라 '방금 끝남'이다. 진행 중만 보려면 sofar&lt;totalwork로 거르고 TIME_REMAINING으로 완료 예정을 계산한다. 백업이 업무 시간에 몰려 돌면 db file 대기가 늘어 그 자체가 부하 원인이 되므로 유지관리 윈도우와의 충돌을 점검한다.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466051466"/>
      </p:ext>
    </p:extLst>
  </p:cSld>
  <p:clrMapOvr>
    <a:masterClrMapping/>
  </p:clrMapOvr>
</p:notes>
</file>

<file path=ppt/notesSlides/notesSlide9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상시 모니터링에서 세션은 ACTIVE/INACTIVE/KILLED로 구분한다. 활성 세션 수가 갑자기 늘었다면 그것이 바빠서인지 기다려서인지를 event로 가른다. 라이선스가 없어도 이 조회를 짧은 주기로 반복하면 ASH를 흉내 낼 수 있다(1장 대안 경로). 부하가 없으면 행이 없는 것이 정상이다. 장기 작업(정상적으로 오래 걸리는 배치)과 갑자기 몰린 대기(비정상 경합)를 함께 보아야 대응을 혼동하지 않는다.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857528289"/>
      </p:ext>
    </p:extLst>
  </p:cSld>
  <p:clrMapOvr>
    <a:masterClrMapping/>
  </p:clrMapOvr>
</p:notes>
</file>

<file path=ppt/notesSlides/notesSlide9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value는 인스턴스 기동 이후 누적이라 두 시점 델타로 봐야 의미가 있다(1장·5장 원칙). 서비스가 여럿이면 같은 구간의 서비스별 DB time 델타를 비교해 부하가 어느 업무에 몰렸는지 가른다. 실습 환경은 orcl 서비스 하나뿐이지만, 운영에서는 DBMS_SERVICE로 업무별 서비스를 분리 등록해 두어야 이 관찰이 의미를 갖는다. 서비스 설계가 곧 모니터링 설계다.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423654570"/>
      </p:ext>
    </p:extLst>
  </p:cSld>
  <p:clrMapOvr>
    <a:masterClrMapping/>
  </p:clrMapOvr>
</p:notes>
</file>

<file path=ppt/notesSlides/notesSlide9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청구 조회와 배치 적재가 한 인스턴스에서 돌 때, 전체 DB Time만으로는 둘 중 무엇 때문인지 못 가린다. 서비스별로 나눠 보면 부하가 어느 업무에 몰렸는지 드러난다. V$SERVICE_STATS는 누적값이라 두 시점 델타로 봐야 한다. 진짜 힘은 12.4와 결합할 때다. 서비스별 평시 분포가 다르므로 각 서비스의 p95·p99를 따로 임계값으로 걸면, 인스턴스 전체 기준으로는 안 잡히는 특정 업무만의 미세한 악화를 포착한다.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628332785"/>
      </p:ext>
    </p:extLst>
  </p:cSld>
  <p:clrMapOvr>
    <a:masterClrMapping/>
  </p:clrMapOvr>
</p:notes>
</file>

<file path=ppt/notesSlides/notesSlide9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가장 흔한 실패는 놓치는 게 두려워 임계값을 지나치게 낮게 잡는 것이다. 임계값이 평시 분포 안쪽에 있으면 알림은 상시로 울리고, 곧 소음이 된다. 알림 피로의 진짜 위험은 무뎌진 사람이 진짜 위험까지 무시하게 된다는 것이다. 반대로 너무 높으면 RTBS가 100%까지 간 것처럼 지각한다. 균형점을 감이 아니라 이력 분포에서 찾는 것이 이 장의 처음부터 끝까지의 원칙이다.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256112909"/>
      </p:ext>
    </p:extLst>
  </p:cSld>
  <p:clrMapOvr>
    <a:masterClrMapping/>
  </p:clrMapOvr>
</p:notes>
</file>

<file path=ppt/notesSlides/notesSlide9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슬라이드는 왜 메모리 관리가 성능 튜닝의 큰 축인지를 세운다. 디스크 접근은 메모리 접근보다 압도적으로 느리고, 단지 느린 것을 넘어 디바이스 드라이버와 OS 스케줄러를 거치며 CPU 자원까지 더 소모한다. 그래서 자주 접근하는 객체의 요청을 디스크까지 내려보내지 않고 메모리에서 끝내는 것이 효율적이다. 메모리 관리란 결국 전체 크기를 정하고 그 안에서 각 구성 요소에 얼마씩 나눠 줄지를 정하는 일이며, 이 장은 그것을 누가 하느냐라는 관리 방식에서 출발한다는 점을 예고한다.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923429389"/>
      </p:ext>
    </p:extLst>
  </p:cSld>
  <p:clrMapOvr>
    <a:masterClrMapping/>
  </p:clrMapOvr>
</p:notes>
</file>

<file path=ppt/notesSlides/notesSlide9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SGA의 주요 캐시와 풀을 소개한다. 성능에 가장 큰 영향을 주는 둘은 버퍼 캐시와 공유 풀이다. 버퍼 캐시는 디스크 블록을 붙들어 물리 I/O를 줄이고, 공유 풀은 파싱된 SQL과 딕셔너리를 캐싱해 재파싱 비용을 없앤다. 이 두 풀은 17장과 18장에서 각각 깊이 다룬다. 리두 로그 버퍼와 KEEP/RECYCLE 캐시, 고정 SGA는 자동 공유 메모리 관리의 자동 조정 대상이 아니라 먼저 떼어 놓는 몫이라는 점, In-Memory 영역은 별도 라이선스 옵션이라는 점을 함께 짚는다.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728972314"/>
      </p:ext>
    </p:extLst>
  </p:cSld>
  <p:clrMapOvr>
    <a:masterClrMapping/>
  </p:clrMapOvr>
</p:notes>
</file>

<file path=ppt/notesSlides/notesSlide9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SGA와 PGA를 가르는 기준은 공유 여부다. SGA는 모든 세션이 함께 쓰는 공유 자원이라 한 번 캐싱한 블록이나 커서를 여러 세션이 재사용하므로 클수록 이득이 크다. 반면 PGA는 세션마다 따로 잡히는 사설 자원이라 접속 세션 수가 늘면 총 수요도 함께 는다. 이 차이가 배분 전략을 가른다. 동시 접속이 많은 OLTP는 PGA 여유를, 소수 세션이 대량 데이터를 다루는 DW는 큰 작업 영역과 큰 버퍼 캐시를 함께 고려한다. 뒤의 어드바이저에서 SGA가 남으면 PGA로라는 조언의 배경이 이 구분이다.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493164164"/>
      </p:ext>
    </p:extLst>
  </p:cSld>
  <p:clrMapOvr>
    <a:masterClrMapping/>
  </p:clrMapOvr>
</p:notes>
</file>

<file path=ppt/notesSlides/notesSlide9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자동 메모리 관리는 SGA와 인스턴스 PGA를 오라클이 통째로 조정하는 방식이다. 관리자는 MEMORY_TARGET 하나로 데이터베이스가 쓸 총 메모리만 정하고, 오라클이 SGA와 PGA 사이, SGA 내부 풀 사이에 메모리를 재분배한다. 가장 자동화된 방식으로 오라클이 강력히 권장한다. 다만 MEMORY_TARGET을 쓰면 SGA가 공유 메모리 파일 기반으로 배치되어 리눅스의 대용량 페이지를 활용하지 못하는 제약이 있어, 대형 SGA를 운영하는 환경에서는 오히려 ASMM을 택하는 경우가 많다는 실무 관행을 덧붙인다.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113834400"/>
      </p:ext>
    </p:extLst>
  </p:cSld>
  <p:clrMapOvr>
    <a:masterClrMapping/>
  </p:clrMapOvr>
</p:notes>
</file>

<file path=ppt/notesSlides/notesSlide9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자동 메모리 관리가 꺼져 있으면 오라클은 자동 공유 메모리 관리로 SGA를 관리한다. 관리자가 SGA_TARGET으로 SGA 총 크기만 정하면 오라클이 버퍼 캐시·공유 풀·라지 풀·자바 풀·스트림 풀에 자동 분배한다. 개별 풀을 0이 아닌 값으로 두면 그 값은 상한이 아니라 최소 보장치로 취급된다. PGA는 이와 별개로 PGA_AGGREGATE_TARGET으로 자동 관리한다. 즉 ASMM은 SGA는 SGA_TARGET, PGA는 PGA_AGGREGATE_TARGET으로 각각 자동 관리하는 방식이며, 이 장의 실습 DB가 바로 이 상태라는 점을 강조한다.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582173992"/>
      </p:ext>
    </p:extLst>
  </p:cSld>
  <p:clrMapOvr>
    <a:masterClrMapping/>
  </p:clrMapOvr>
</p:notes>
</file>

<file path=ppt/notesSlides/notesSlide9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수동 공유 메모리 관리는 AMM과 ASMM이 모두 꺼져 있을 때로, 관리자가 개별 풀 파라미터를 직접 지정한다. 완전한 제어권을 주지만 워크로드가 바뀔 때마다 손봐야 해 노력이 가장 많이 든다. 이어서 판별 순서를 습관으로 굳힌다. 먼저 MEMORY_TARGET을 보아 0보다 크면 AMM으로 확정, 0이면 SGA_TARGET을 보아 0보다 크면 ASMM, 그마저 0이면 수동이다. 이 세 줄짜리 판별이 어떤 인스턴스에 처음 접속했을 때 메모리를 손대도 되는지, 무엇을 바꿔야 하는지를 즉시 알려 준다는 점을 강조한다.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612248053"/>
      </p:ext>
    </p:extLst>
  </p:cSld>
  <p:clrMapOvr>
    <a:masterClrMapping/>
  </p:clrMapOvr>
</p:notes>
</file>

<file path=ppt/notesSlides/notesSlide9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실측을 판별표에 대입한다. MEMORY_TARGET이 0이므로 AMM은 아니고, SGA_TARGET이 1504M로 0보다 크므로 ASMM이다. DB_CACHE_SIZE와 SHARED_POOL_SIZE가 0이라는 것은 이 풀들을 관리자가 고정하지 않고 오라클의 자동 분배에 맡겼다는 뜻이다. 0은 메모리가 없다는 뜻이 아니라 최소 보장치를 두지 않았다는 의미다. PGA는 PGA_AGGREGATE_TARGET 700M로 자동 관리 중이다. 즉 이 인스턴스는 SGA는 1504M 한도에서 자동, PGA는 700M 목표로 자동인 전형적 ASMM 구성임을 확정한다.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615052144"/>
      </p:ext>
    </p:extLst>
  </p:cSld>
  <p:clrMapOvr>
    <a:masterClrMapping/>
  </p:clrMapOvr>
</p:notes>
</file>

<file path=ppt/notesSlides/notesSlide9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세 방식을 자동화 수준과 관리 노력의 트레이드오프로 한 장에 정리한다. AMM은 관리 노력이 가장 적고 오라클이 SGA와 PGA를 전부 조정하지만 HugePages 제약이 있다. ASMM은 SGA만 자동 분배하고 PGA를 별도로 관리하며 HugePages를 쓸 수 있어 운영 환경에서 선호된다. 수동은 완전한 제어권을 주지만 워크로드가 바뀔 때마다 손봐야 해 노력이 가장 크다. 세 방식에 공통된 교훈은 자동 관리라도 관리자가 준 상한 안에서만 재배분하며, 그 상한을 잘못 주면 자동으로 나빠진다는 점이다. 자동에 맡기되 자동이 무엇을 근거로 움직이는지 읽을 줄 아는 관리자가 되자는 이 장의 메시지를 다시 확인한다.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005971819"/>
      </p:ext>
    </p:extLst>
  </p:cSld>
  <p:clrMapOvr>
    <a:masterClrMapping/>
  </p:clrMapOvr>
</p:notes>
</file>

<file path=ppt/notesSlides/notesSlide9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메모리 파라미터는 목표와 상한의 짝으로 이해해야 한다. 각 영역에는 target과 max가 있고 목표는 대개 동적, 상한은 정적이며 목표는 상한을 넘을 수 없다. 실측에서 SGA_TARGET 1504M는 SGA_MAX_SIZE 2G보다 작아 정상이고, 목표를 상한까지 동적으로 키울 수 있다. PGA도 마찬가지로 PGA_AGGREGATE_TARGET은 부드러운 목표, PGA_AGGREGATE_LIMIT은 넘으면 세션을 중단시켜서라도 지키는 하드 한도다. 동적 파라미터는 운영 중 조정하고 정적 상한은 재기동이 필요하므로, 상한은 넉넉히 잡고 목표만 조절하는 것이 일반적 패턴이라는 점을 설명한다.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924314920"/>
      </p:ext>
    </p:extLst>
  </p:cSld>
  <p:clrMapOvr>
    <a:masterClrMapping/>
  </p:clrMapOvr>
</p:notes>
</file>

<file path=ppt/notesSlides/notesSlide9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장이 경계하는 대표적 흔한 오류다. 자동으로 다 맡기고 싶다며 MEMORY_TARGET과 SGA_TARGET을 둘 다 큰 값으로 설정하는 실수다. 두 파라미터는 계층이 다르다. MEMORY_TARGET이 0보다 크면 AMM이 켜지고 SGA_TARGET은 SGA 최소 하한으로만 작동한다. 둘의 관계를 어기면 기동이 막힌다. 해결은 자동을 두 번 켜는 것이 아니라 한 방식을 고르는 것이다. AMM을 쓰려면 MEMORY_TARGET만, ASMM을 쓰려면 MEMORY_TARGET을 0으로 두고 SGA_TARGET만 설정한다. 실습 DB처럼 명시적으로 0을 두는 이유가 여기에 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001732312"/>
      </p:ext>
    </p:extLst>
  </p:cSld>
  <p:clrMapOvr>
    <a:masterClrMapping/>
  </p:clrMapOvr>
</p:notes>
</file>

<file path=ppt/notesSlides/notesSlide9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화면을 읽는 법을 짚는다. Maximum SGA Size 2048MB는 SGA_MAX_SIZE와 일치하는 천장이다. Free SGA Memory Available 544MB는 아직 어떤 풀에도 할당되지 않은 여유분이라, 실제 사용 SGA는 2048에서 544를 뺀 약 1504MB로 SGA_TARGET과 맞아떨어진다. RESIZEABLE이 Yes인 풀이 ASMM의 자동 조정 대상이고, No인 항목은 조정에서 빠진다. In-Memory Area Size가 0인 것은 In-Memory 옵션이 꺼져 있음을 뜻한다. 뒤에서 볼 조정 증감폭이 모두 16의 배수인 이유가 그래뉼 16MB에 있다는 점을 예고한다.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028870452"/>
      </p:ext>
    </p:extLst>
  </p:cSld>
  <p:clrMapOvr>
    <a:masterClrMapping/>
  </p:clrMapOvr>
</p:notes>
</file>

<file path=ppt/notesSlides/notesSlide9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그래뉼에 주목한다. SGA의 버퍼 캐시·공유 풀·라지 풀·자바 풀 메모리는 그래뉼이라는 단위로 할당된다. SGA가 1GB 이하이면 4MB, 넘으면 16MB이며 이 DB는 2GB라 16MB다. 그래서 모든 자동 조정이 16MB의 배수로 일어난다. 또 하나 헷갈리기 쉬운 대목을 해설한다. V$SGAINFO의 Buffer Cache Size 1024MB는 DEFAULT·KEEP·4K 등 모든 버퍼 캐시의 합이고, 그중 DEFAULT 하나는 864MB다. 같은 버퍼 캐시라도 어느 뷰가 무엇을 합산하는지에 따라 값이 달라지므로 뷰마다 확인하는 습관이 필요하다는 점을 강조한다.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000019443"/>
      </p:ext>
    </p:extLst>
  </p:cSld>
  <p:clrMapOvr>
    <a:masterClrMapping/>
  </p:clrMapOvr>
</p:notes>
</file>

<file path=ppt/notesSlides/notesSlide9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뷰는 자동 조정되는 각 풀의 현재·최소·최대 크기를 보여 준다. 자동 조정의 흔적이 min/max 스프레드에 남는다. DEFAULT buffer cache는 현재 864MB인데 최소 832MB까지 줄었던 적이 있고, large pool은 현재 16MB지만 한때 48MB까지 커졌던 이력이 있다. 반대로 shared pool처럼 min과 cur과 max가 같은 풀은 관측 구간에 변동이 없었다. 이 스프레드가 바로 ASMM이 부하에 맞춰 풀 사이 메모리를 실제로 옮겼다는 증거다. Buffer Cache Size 1024가 DEFAULT 864 하나보다 큰 이유도 KEEP과 4K를 합쳤기 때문임을 다시 확인한다.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170930009"/>
      </p:ext>
    </p:extLst>
  </p:cSld>
  <p:clrMapOvr>
    <a:masterClrMapping/>
  </p:clrMapOvr>
</p:notes>
</file>

<file path=ppt/notesSlides/notesSlide9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이력에서 ASMM의 작동 원리가 드러난다. 조정은 짝을 이룬다. large pool이 GROW할 때 DEFAULT buffer cache가 SHRINK하고, large pool이 SHRINK하면 버퍼 캐시가 다시 GROW한다. SGA 총량인 SGA_TARGET이 고정이므로 한 풀이 커지려면 다른 풀이 그만큼 내놓아야 하기 때문이다. 이것이 전체는 고정, 내부는 자동 재분배라는 ASMM의 본질이다. 모든 증감이 16MB 그래뉼 단위인 것도 확인된다. 오라클은 최근 800건의 조정 이력을 이 뷰에 보관한다는 점을 덧붙인다.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687436420"/>
      </p:ext>
    </p:extLst>
  </p:cSld>
  <p:clrMapOvr>
    <a:masterClrMapping/>
  </p:clrMapOvr>
</p:notes>
</file>

<file path=ppt/notesSlides/notesSlide9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조정 이력을 해석할 때 주의가 있다. GROW와 SHRINK가 잦다고 무조건 나쁜 것은 아니다. ASMM의 존재 이유가 부하 변화에 맞춰 메모리를 옮기는 것이므로 적당한 조정은 건강한 작동이다. 문제로 볼 신호는 세 가지다. 같은 풀이 한 방향으로 계속 밀려 상대 풀을 고갈시키거나, 조정이 너무 잦아 조정 자체의 오버헤드가 눈에 띄거나, 조정에도 불구하고 특정 풀에서 부족 오류가 반복되는 경우다. 이럴 때 비로소 SGA_TARGET 상향이나 개별 풀 하한 설정을 검토한다. 조정 이력은 판정의 근거이지 그 자체가 문제는 아니라는 태도를 강조한다.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574881778"/>
      </p:ext>
    </p:extLst>
  </p:cSld>
  <p:clrMapOvr>
    <a:masterClrMapping/>
  </p:clrMapOvr>
</p:notes>
</file>

<file path=ppt/notesSlides/notesSlide9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V$MEMORY_RESIZE_OPS는 SGA와 PGA를 아우르는 메모리 조정 이력으로, AMM 환경에서 SGA와 PGA 사이 이동까지 포함해 최근 800건을 보여 준다. 그런데 실습 DB는 ASMM이라 MEMORY_TARGET이 0이다. 이 상태에서 V$MEMORY_RESIZE_OPS를 조회하면 관점에 따라 결과가 빈약해 보일 수 있다. 그래서 ASMM에서 SGA 조정 이력을 추적할 때는 V$SGA_RESIZE_OPS를, AMM에서 SGA와 PGA 통합 이력을 볼 때는 V$MEMORY_RESIZE_OPS를 쓰는 것이 자연스럽다. 이 뷰 선택 자체가 실습 04의 학습 포인트이며, 오류 흐름으로 재현된다는 점을 예고한다.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953544177"/>
      </p:ext>
    </p:extLst>
  </p:cSld>
  <p:clrMapOvr>
    <a:masterClrMapping/>
  </p:clrMapOvr>
</p:notes>
</file>

<file path=ppt/notesSlides/notesSlide9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메모리 관점의 진단을 한 시나리오로 꿴다. 매일 오후 배치 시간에만 응답이 흔들린다는 신고에 개발팀은 SGA를 늘리자고 한다. 1단계로 V$PARAMETER를 보아 ASMM임을 확인하고, 2단계로 V$SGA_RESIZE_OPS를 그 시간대로 필터해 어느 풀이 압력을 받았는지 본다. 3단계로 어드바이저 곡선이 이미 평평하면 SGA를 늘려도 이득이 없으므로 증설 요구를 근거로 기각한다. 4단계로 진짜 원인을 찾는다. 배치의 대량 정렬이면 SGA가 아니라 PGA 문제일 수 있고, 리터럴 SQL 폭증이면 공유 풀 단편화 문제일 수 있다. 메모리를 늘리자는 감이 아니라 판별과 이력과 어드바이저와 진단의 순서로 답한다는 태도를 강조한다.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025805338"/>
      </p:ext>
    </p:extLst>
  </p:cSld>
  <p:clrMapOvr>
    <a:masterClrMapping/>
  </p:clrMapOvr>
</p:notes>
</file>

<file path=ppt/notesSlides/notesSlide9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곡선을 읽는 것이 어드바이저 해석의 핵심이다. 현재 1504MB에서 예상 DB Time은 1635다. SGA를 두 배인 3008MB로 늘려도 1635로 전혀 나아지지 않는다. 더 줘 봐야 이득이 없다. 흥미로운 것은 아래쪽이다. 1128MB로 줄여도 1636으로 사실상 동일하고, 752MB로 반토막 내면 그제야 2213으로 급증한다. 즉 이 시스템의 SGA는 약간 과대 배정되어 있으며 1128MB 부근까지는 줄여도 DB Time에 거의 영향이 없다. 곡선이 평평해지는 무릎 지점이 1128에서 1504 사이에 있는 것이다. 이 판독이 크기 결정의 근거가 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069884455"/>
      </p:ext>
    </p:extLst>
  </p:cSld>
  <p:clrMapOvr>
    <a:masterClrMapping/>
  </p:clrMapOvr>
</p:notes>
</file>

<file path=ppt/notesSlides/notesSlide9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어드바이저를 읽는 두 원칙을 정리한다. 더 줘도 평평한 구간에 이미 들어와 있으면 메모리를 늘리는 것은 낭비이며, 그 메모리를 PGA나 다른 인스턴스에 주는 편이 낫다. 줄이면 급증하는 절벽 바로 위가 비용 대비 효율이 가장 좋은 지점이다. 다만 어드바이저는 관측된 워크로드에 기반한 추정이므로 피크 부하를 포함한 대표 구간에서 값을 봐야 하고, 여유를 두어 절벽에서 한 칸 위를 택하는 것이 안전하다. AMM 환경이라면 같은 논리를 V$MEMORY_TARGET_ADVICE에 적용한다는 점을 덧붙인다.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686963755"/>
      </p:ext>
    </p:extLst>
  </p:cSld>
  <p:clrMapOvr>
    <a:masterClrMapping/>
  </p:clrMapOvr>
</p:notes>
</file>

<file path=ppt/notesSlides/notesSlide9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어드바이저 값이 어떻게 만들어지는지 알면 신뢰 수준을 가늠할 수 있다. 오라클은 실제 워크로드가 도는 동안 여러 가상 크기의 예상 효과를 시뮬레이션해 표를 채운다. 따라서 STATISTICS_LEVEL이 TYPICAL 이상이어야 하고 충분한 워크로드가 흘러야 곡선이 의미를 가진다. 흔한 오해도 바로잡는다. DB Time이 크기를 키워도 줄지 않는다는 것은 SGA 크기를 늘리는 것으로는 개선되지 않는다는 뜻일 뿐, 튜닝할 것이 없다는 뜻은 아니다. 진짜 병목은 비효율 SQL·하드 파싱·PGA 부족·I/O 구성 등 다른 곳에 있을 수 있고, 그것은 13~15장의 진단으로 찾아야 한다는 점을 강조한다.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349310923"/>
      </p:ext>
    </p:extLst>
  </p:cSld>
  <p:clrMapOvr>
    <a:masterClrMapping/>
  </p:clrMapOvr>
</p:notes>
</file>

<file path=ppt/notesSlides/notesSlide9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ORA-04031은 오라클이 공유 풀이나 라지 풀 등에서 요청한 크기의 연속된 메모리 조각을 찾지 못했을 때 발생한다. 원인은 크게 둘이다. 절대적 부족은 해당 풀이 워크로드에 비해 너무 작은 것이고, 단편화는 여유 총량은 있으나 작은 조각으로 흩어져 큰 연속 조각을 못 만드는 것이다. 특히 바인드 변수 없이 리터럴 값을 박은 SQL이 무수히 많으면 서로 다른 커서가 라이브러리 캐시를 잘게 채워 단편화를 심화시킨다. 단편화형은 며칠 멀쩡히 돌다 특정 크기 할당에서만 실패해 예측이 어렵고, 애플리케이션 관점에서는 갑자기 쿼리가 죽은 것으로 보인다는 점을 짚는다.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43934054"/>
      </p:ext>
    </p:extLst>
  </p:cSld>
  <p:clrMapOvr>
    <a:masterClrMapping/>
  </p:clrMapOvr>
</p:notes>
</file>

<file path=ppt/notesSlides/notesSlide9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ORA-04031의 원인을 구분하는 실무적 감별법이 있다. 오류 메시지의 풀 이름과 발생 시점을 본다. 기동 직후부터 빈발하면 절대 부족을 의심하고, 며칠 가동한 뒤 서서히 빈발하면 단편화를 의심한다. V$SGASTAT에서 공유 풀 free memory가 넉넉한데도 오류가 나면 단편화다. 총량이 있는데 못 주는 것은 연속 조각을 못 만든 것이기 때문이다. 해소는 원인에 따라 다르다. 부족이면 SGA_TARGET을 어드바이저 근거로 키우고, 단편화면 리터럴 SQL을 바인드 변수화해 커서 공유를 회복한다. FLUSH SHARED_POOL은 캐시를 날려 하드 파싱을 급증시키므로 임시책일 뿐 근본 해법이 아니라는 점을 강조한다.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409815914"/>
      </p:ext>
    </p:extLst>
  </p:cSld>
  <p:clrMapOvr>
    <a:masterClrMapping/>
  </p:clrMapOvr>
</p:notes>
</file>

<file path=ppt/notesSlides/notesSlide9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메모리 실습의 안전 수칙을 한 장으로 못 박는다. SGA_TARGET·MEMORY_TARGET·SHARED_POOL_SIZE 변경과 인스턴스 재기동은 반드시 개인 실습 DB에서만 수행한다. 공유 서버에서 이 값을 잘못 주면 인스턴스가 기동하지 못하거나 다른 사용자 세션에 즉시 영향을 준다. ORA-04031 재현도 격리된 환경에서 하고 재현 후 반드시 원복한다. 그리고 이 장에 등장하는 절대값 1504M 등은 환경에 따라 다른 환경값이므로, 외울 것은 특정 숫자가 아니라 판별과 조정과 재확인의 절차라는 점을 강조한다. 실습 02·03·05가 모두 이 수칙을 전제로 진행된다.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84993636"/>
      </p:ext>
    </p:extLst>
  </p:cSld>
  <p:clrMapOvr>
    <a:masterClrMapping/>
  </p:clrMapOvr>
</p:notes>
</file>

<file path=ppt/notesSlides/notesSlide9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SGA에는 선택적 정적 풀인 In-Memory Column Store가 있다. 테이블과 파티션의 사본을 컬럼 형식으로 저장해 스캔·조인·집계를 크게 가속한다. 버퍼 캐시를 대체하는 것이 아니라 같은 데이터를 다른 형식으로 병존시켜 보완하며, INMEMORY_SIZE로 크기를 정한다. 스캔이 많은 분석성 워크로드에 이득이 크고 OLTP에는 이득이 작다. 중요한 것은 라이선스 경계다. 이 장에서 다룬 메모리 파라미터와 어드바이저 뷰, V$SGAINFO 같은 진단 뷰는 모두 기본 기능으로 라이선스가 필요 없지만, In-Memory는 별도 유상 옵션이라 존재와 조건만 언급하고 실습에서 제외한다는 점을 명확히 한다.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864802371"/>
      </p:ext>
    </p:extLst>
  </p:cSld>
  <p:clrMapOvr>
    <a:masterClrMapping/>
  </p:clrMapOvr>
</p:notes>
</file>

<file path=ppt/notesSlides/notesSlide9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장에는 두 축이 있습니다. 첫째는 자동으로 도는 작업을 통제하는 것이고, 둘째는 어드바이저 권고를 해석하고 채택을 판단하는 것입니다. ADMIN 29·30장이 자동 작업을 설정하는 법이었다면 이 장은 그것이 업무에 주는 영향을 통제하는 관점으로, ADMIN 33장이 어드바이저 소개였다면 이 장은 권고를 해석하고 채택을 판단하는 관점으로 심화합니다. 실측 두 사례가 그 중심입니다.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370864365"/>
      </p:ext>
    </p:extLst>
  </p:cSld>
  <p:clrMapOvr>
    <a:masterClrMapping/>
  </p:clrMapOvr>
</p:notes>
</file>

<file path=ppt/notesSlides/notesSlide9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오라클은 통계 수집·세그먼트 분석·SQL 튜닝을 밤마다 자동으로 수행합니다. 세 작업 중 자동 통계 수집이 계획 품질의 토대라 가장 중요합니다. 자동 SQL 튜닝 어드바이저만 Tuning Pack 기능이므로, 라이선스가 없다면 이 작업은 꺼 두는 것이 맞습니다. 편리하지만 이들도 CPU와 I/O를 쓰는 실제 부하라는 점을 잊지 말아야 합니다. 이 작업들이 언제 도는지 모르면 새벽 배치가 느려진 원인을 엉뚱한 곳에서 찾게 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768399672"/>
      </p:ext>
    </p:extLst>
  </p:cSld>
  <p:clrMapOvr>
    <a:masterClrMapping/>
  </p:clrMapOvr>
</p:notes>
</file>

<file path=ppt/notesSlides/notesSlide9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세 작업 모두 ENABLED 상태입니다. ATTRIBUTES의 SAFE TO KILL은 강제 종료해도 정합성이 안전하다는 뜻이고, sql tuning advisor에만 붙은 ONCE PER WINDOW는 이 무거운 작업이 한 윈도우 안에서 한 번만 돈다는 의미입니다. 통계 수집은 시간이 남으면 대상을 계속 처리하지만 SQL 튜닝 분석은 윈도우당 한 번으로 제한됩니다. STATUS와 ATTRIBUTES를 함께 읽어 각 작업의 성격을 파악하는 것이 첫걸음입니다.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752891076"/>
      </p:ext>
    </p:extLst>
  </p:cSld>
  <p:clrMapOvr>
    <a:masterClrMapping/>
  </p:clrMapOvr>
</p:notes>
</file>

<file path=ppt/notesSlides/notesSlide9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자동 작업은 정해진 유지관리 윈도우에서만 돕니다. 19c는 요일별 7개 윈도우를 갖고, 평일은 밤 10시 4시간, 주말은 오전 6시 20시간이 기본입니다. 제어는 클라이언트 단위(전역)와 윈도우 단위(특정 요일만)로 나뉩니다. 토요일 배치가 있으면 SATURDAY_WINDOW에서만 통계 수집을 끄는 식으로 세밀하게 조정할 수 있습니다. 클라이언트 단위로 끌 때와 윈도우 단위로 끌 때의 차이를 구분해 두어야 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174659908"/>
      </p:ext>
    </p:extLst>
  </p:cSld>
  <p:clrMapOvr>
    <a:masterClrMapping/>
  </p:clrMapOvr>
</p:notes>
</file>

<file path=ppt/notesSlides/notesSlide9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유지관리 윈도우가 업무 시간과 겹치는 것이 가장 흔한 사고입니다. 우선 윈도우 시간을 옮기는 것이 안전하고, 그게 어려우면 ORA$AUTOTASK의 자원 배분을 낮춥니다. 변경은 반드시 CREATE_PENDING_AREA → UPDATE → VALIDATE → SUBMIT 순서를 지켜야 하며, 대기 영역 없이 바로 바꾸면 ORA-29371이 납니다. mgmt_p1은 상한이 아니라 경합 시 보장 최소치라는 점을 오해하지 마십시오.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073094383"/>
      </p:ext>
    </p:extLst>
  </p:cSld>
  <p:clrMapOvr>
    <a:masterClrMapping/>
  </p:clrMapOvr>
</p:notes>
</file>

<file path=ppt/notesSlides/notesSlide9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자동 작업이 업무를 방해하면 곧바로 끄는 것이 아니라 순서를 지킵니다. 먼저 윈도우 시각을 확인하고, 겹치면 시간을 옮기고, 못 옮기면 자원을 조이고, 최후에만 끕니다. 통계 수집을 끄면 옵티마이저 통계가 낡아 계획이 나빠지므로, 끈 뒤에는 수동 수집 계획을 반드시 세워야 합니다. 실행 이력은 DBA_AUTOTASK_JOB_HISTORY로 확인합니다. 판단의 기준은 언제나 작업의 편의가 아니라 업무 워크로드의 안정입니다.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076002846"/>
      </p:ext>
    </p:extLst>
  </p:cSld>
  <p:clrMapOvr>
    <a:masterClrMapping/>
  </p:clrMapOvr>
</p:notes>
</file>

<file path=ppt/notesSlides/notesSlide9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작업이 켜져 있는지만큼 중요한 것은 실제로 언제, 얼마나 걸려 돌았는가입니다. DBA_AUTOTASK_JOB_HISTORY로 지난 실행 이력을 봅니다. 시각과 소요 시간은 환경마다 다르므로 환경값으로 둡니다. 성능 신고가 특정 시간대에 몰린다면, 그 시각이 유지관리 윈도우·자동 작업 실행 구간과 겹치는지를 이 이력으로 대조하는 것이 첫 단계입니다. JOB_STATUS가 계속 SUCCEEDED가 아니라면 자동 작업 자체의 실패도 의심해야 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963623540"/>
      </p:ext>
    </p:extLst>
  </p:cSld>
  <p:clrMapOvr>
    <a:masterClrMapping/>
  </p:clrMapOvr>
</p:notes>
</file>

<file path=ppt/notesSlides/notesSlide9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설치된 어드바이저는 12종입니다. 이 장이 집중하는 것은 SQL Tuning Advisor, SQL Access Advisor, SQL Performance Analyzer 세 가지이며 모두 Tuning Pack에 속합니다. 반면 Segment·Undo·Statistics Advisor는 관리 팩 없이 쓸 수 있어, 라이선스가 없는 환경에서도 활용할 수 있습니다. 이 조회 자체는 라이선스와 무관합니다.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533816847"/>
      </p:ext>
    </p:extLst>
  </p:cSld>
  <p:clrMapOvr>
    <a:masterClrMapping/>
  </p:clrMapOvr>
</p:notes>
</file>

<file path=ppt/notesSlides/notesSlide9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모든 어드바이저는 태스크를 만들고 대상을 연결해 실행한 뒤 결과를 읽는 같은 수명주기를 따릅니다. 결과는 Finding과 Recommendation으로 나뉘고 DBA_ADVISOR_ 계열 뷰에 남습니다. 조작 패키지만 어드바이저마다 다를 뿐, '태스크를 만들고 실행하고 REPORT로 읽는다'는 절차는 어디서나 반복됩니다. 이 공통성을 알면 어떤 어드바이저든 같은 방식으로 다룰 수 있습니다.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120697818"/>
      </p:ext>
    </p:extLst>
  </p:cSld>
  <p:clrMapOvr>
    <a:masterClrMapping/>
  </p:clrMapOvr>
</p:notes>
</file>

<file path=ppt/notesSlides/notesSlide9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SQL Tuning Advisor는 통계·프로파일·인덱스·재작성 네 종류를 권고합니다. 통계 권고가 있으면 그것부터 처리하는 것이 가장 안전합니다. 인덱스 권고는 워크로드 전체로 판단할 사안이라 Access Advisor로 넘기고, 재작성 권고는 SQL을 다시 써야 하므로 SQLT 과정으로 이관합니다. 프로파일은 손쉬워 보이지만 가장 신중해야 합니다. 어느 권고든 예상 이득이 실제 워크로드에서 재현되는지 조치 전후 측정으로 검증한 뒤 채택합니다.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722370197"/>
      </p:ext>
    </p:extLst>
  </p:cSld>
  <p:clrMapOvr>
    <a:masterClrMapping/>
  </p:clrMapOvr>
</p:notes>
</file>

<file path=ppt/notesSlides/notesSlide9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SQL 프로파일은 오해가 많습니다. SQL 텍스트를 건드리지 않고 옵티마이저에게 카디널리티를 이렇게 보정하라는 힌트 뭉치를 딕셔너리에 저장합니다. 즉시 효과가 나 매력적이지만, 데이터 분포가 바뀌면 보정이 틀어질 수 있고 SQL 자체의 나쁜 구조는 그대로 남습니다. 프로파일은 응급 처치이지 근본 해결이 아니며, 이를 근본 해결로 착각하는 것이 흔한 오류입니다.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978800076"/>
      </p:ext>
    </p:extLst>
  </p:cSld>
  <p:clrMapOvr>
    <a:masterClrMapping/>
  </p:clrMapOvr>
</p:notes>
</file>

<file path=ppt/notesSlides/notesSlide9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고부하 SQL 하나를 대상으로 튜닝 태스크를 돌렸더니 '권고 없음'이 나왔습니다. 이것은 실패가 아닙니다. 이 SQL은 테이블 전체를 집계하므로 어떤 인덱스도 전체 스캔보다 빠를 수 없고, 통계도 최신이라 카디널리티 추정이 정확했습니다. 즉 이미 최적이라는 결론입니다. 어드바이저의 침묵은 '더 손댈 게 없다'는 유효한 답입니다. 권고가 없다고 어드바이저가 쓸모없는 것이 아니라, 오히려 현재 계획이 건강하다는 확인을 얻은 것입니다.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08683921"/>
      </p:ext>
    </p:extLst>
  </p:cSld>
  <p:clrMapOvr>
    <a:masterClrMapping/>
  </p:clrMapOvr>
</p:notes>
</file>

<file path=ppt/notesSlides/notesSlide9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성격이 다른 SQL — 특정 병원·특정 접수일로 소수 행만 찾는 문장입니다. PK 외 인덱스가 없어 전체 스캔하므로, 이번엔 인덱스 권고가 나오고 예상 이득이 99.64%입니다. 권고 인덱스의 앞 두 컬럼은 WHERE 조건, 뒤 두 컬럼은 SELECT 대상이라 테이블 재방문을 없애는 커버링 인덱스입니다. 같은 어드바이저인데 SQL 성격에 따라 결과가 정반대입니다.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947559645"/>
      </p:ext>
    </p:extLst>
  </p:cSld>
  <p:clrMapOvr>
    <a:masterClrMapping/>
  </p:clrMapOvr>
</p:notes>
</file>

<file path=ppt/notesSlides/notesSlide9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대조가 이 장의 핵심입니다. 같은 어드바이저인데 결과가 정반대인 이유는 SQL 성격의 차이입니다. 두 방향의 오판을 모두 경계해야 합니다. 권고 없음은 이미 최적이라는 값진 확인이고, 큰 benefit도 이 한 문장에 대한 예상일 뿐입니다. 인덱스는 쓰기 유지 비용과 공간을 발생시키므로 워크로드 전체로 판단해야 합니다. 권고는 결론이 아니라 검증할 가설이라는 태도가 이 장의 핵심입니다.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693612448"/>
      </p:ext>
    </p:extLst>
  </p:cSld>
  <p:clrMapOvr>
    <a:masterClrMapping/>
  </p:clrMapOvr>
</p:notes>
</file>

<file path=ppt/notesSlides/notesSlide9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benefit 99.64%만 보고 인덱스를 만들었더니 조회는 빨라졌지만 야간 INSERT 배치가 느려진 사례입니다. 인덱스 유지 비용이 배치에 얹혔기 때문입니다. 어드바이저 스스로도 rationale에서 '단일 문장보다 대표 워크로드로 Access Advisor를 돌리는 편이 낫다'고 조언합니다. 실습에서는 권고를 확인만 하고 인덱스는 만들지 않아 Before 상태를 유지합니다.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906011587"/>
      </p:ext>
    </p:extLst>
  </p:cSld>
  <p:clrMapOvr>
    <a:masterClrMapping/>
  </p:clrMapOvr>
</p:notes>
</file>

<file path=ppt/notesSlides/notesSlide9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수동 실행과 별개로 자동 SQL 튜닝 작업이 밤마다 고부하 SQL을 분석합니다. 핵심 판단은 발견된 프로파일을 자동 채택하게 둘 것인가입니다. 기본값 FALSE, 즉 사람이 검토하기 전에는 적용하지 않는 것이 권장 설정입니다. 자동 채택을 켜면 검토 없는 프로파일이 운영 계획을 바꾸므로 편리하지만 위험합니다. 발견된 프로파일은 리포트로 확인하고 검토를 거쳐 수동으로 채택하는 것이 안전한 운영 방식입니다.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138793695"/>
      </p:ext>
    </p:extLst>
  </p:cSld>
  <p:clrMapOvr>
    <a:masterClrMapping/>
  </p:clrMapOvr>
</p:notes>
</file>

<file path=ppt/notesSlides/notesSlide9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두 어드바이저는 이름이 비슷하지만 층위가 다릅니다. SQL Tuning Advisor는 문장 하나를, SQL Access Advisor는 워크로드 전체를 놓고 물리 스키마 설계를 봅니다. 앞 절에서 어드바이저가 Access Advisor를 권한 이유가 이것입니다. Access Advisor는 인덱스뿐 아니라 구체화 뷰·파티셔닝까지, 그리고 유지 비용과 공간까지 종합해 권고합니다.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998096277"/>
      </p:ext>
    </p:extLst>
  </p:cSld>
  <p:clrMapOvr>
    <a:masterClrMapping/>
  </p:clrMapOvr>
</p:notes>
</file>

<file path=ppt/notesSlides/notesSlide9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단일 SQL은 QUICK_TUNE 한 번으로, 정식 분석은 태스크에 STS 워크로드를 연결해 실행합니다. GET_TASK_SCRIPT는 권고를 DDL로 뽑아 주며, 여기서도 확인만 하고 적용하지 않습니다. 채택 전에는 기존 인덱스와 겹치지 않는지, 쓰기 빈도는 어떤지, MV라면 갱신 주기와 맞는지, 대표 워크로드로 돌렸는지를 확인하고 테스트 환경에서 먼저 검증합니다.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467204036"/>
      </p:ext>
    </p:extLst>
  </p:cSld>
  <p:clrMapOvr>
    <a:masterClrMapping/>
  </p:clrMapOvr>
</p:notes>
</file>

<file path=ppt/notesSlides/notesSlide9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SPA는 SQL 집합을 놓고 변경 전 before와 변경 후 after를 각각 측정해 비교합니다. 프로덕션에 영향을 주지 않고 분석 태스크 안에서 수행합니다. 실행 유형은 계획만 보는 EXPLAIN PLAN과 실제 실행 통계를 얻는 TEST EXECUTE가 있습니다. 보고서는 개선·회귀·불변 SQL 수를 집계하며, 절대 수치는 환경 의존이라 환경값으로 둡니다. 프로덕션에 실제로 변경을 적용하기 전에 회귀 SQL을 미리 파악하는 것이 SPA의 목적입니다.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306955604"/>
      </p:ext>
    </p:extLst>
  </p:cSld>
  <p:clrMapOvr>
    <a:masterClrMapping/>
  </p:clrMapOvr>
</p:notes>
</file>

<file path=ppt/notesSlides/notesSlide9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변경이 전체적으로 이득이어도 일부 SQL은 회귀할 수 있습니다. SPA의 진짜 가치는 그 회귀를 변경 적용 전에 미리 찾아낸다는 점입니다. 대응은 변경을 통째로 포기하는 것이 아니라, 회귀한 SQL만 SQL Plan Baseline으로 기존 계획에 고정하는 것입니다. 이렇게 하면 전체 이득은 취하면서 회귀만 막을 수 있고, Baseline은 팩 없이 쓸 수 있습니다.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6975371"/>
      </p:ext>
    </p:extLst>
  </p:cSld>
  <p:clrMapOvr>
    <a:masterClrMapping/>
  </p:clrMapOvr>
</p:notes>
</file>

<file path=ppt/notesSlides/notesSlide9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적응형 계획은 옵티마이저가 실행 시작 시점에 확정하기 애매한 부분, 대표적으로 조인 방식을 실행하면서 결정하게 합니다. 초반에 흘러온 실제 행 수를 세어 예상보다 많으면 해시 조인, 적으면 중첩 루프로 확정합니다. 19c 기본은 계획 적응 ON, 통계 적응 OFF이며 이 조합이 가장 안정적입니다. 대부분의 운영 시스템은 이 기본값을 그대로 둡니다. 계획을 볼 때 FORMAT에 +adaptive를 주면 어떤 부분이 적응 대상이었는지 표시됩니다.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104038503"/>
      </p:ext>
    </p:extLst>
  </p:cSld>
  <p:clrMapOvr>
    <a:masterClrMapping/>
  </p:clrMapOvr>
</p:notes>
</file>

<file path=ppt/notesSlides/notesSlide9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SQL Plan Directive는 옵티마이저가 카디널리티를 크게 잘못 추정했을 때 남기는 메모입니다. 상관관계 있는 두 컬럼을 독립으로 곱해 과소추정하면, '다음부터 이 컬럼들에 동적 샘플링을 하라'는 디렉티브가 생깁니다. 디렉티브는 증상이지 해결이 아닙니다. 진짜 해결은 컬럼 그룹 확장 통계로 옵티마이저가 정확히 추정하게 하는 것이며, 그러면 디렉티브는 SUPERSEDED로 바뀝니다. 디렉티브를 직접 지우기보다 원인을 없애면 자연히 비활성화된다는 점을 기억하십시오.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797164112"/>
      </p:ext>
    </p:extLst>
  </p:cSld>
  <p:clrMapOvr>
    <a:masterClrMapping/>
  </p:clrMapOvr>
</p:notes>
</file>

<file path=ppt/notesSlides/notesSlide9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적응형 기능은 대개 유익하지만 계획이 자꾸 바뀌어 예측 가능성이 떨어지면 문제로 느껴집니다. 어제 빠르던 SQL이 오늘 느린 원인이 동적 샘플링일 때가 있습니다. 무작정 파라미터를 끄기 전에 순서를 지킵니다. 먼저 확장 통계로 근본 원인을 없애고, 그래도 흔들리면 그 SQL만 Baseline으로 고정하며, 전역 비활성화는 최후의 수단입니다. 전역으로 끄면 다른 SQL이 받던 이득까지 함께 사라지기 때문입니다.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683891845"/>
      </p:ext>
    </p:extLst>
  </p:cSld>
  <p:clrMapOvr>
    <a:masterClrMapping/>
  </p:clrMapOvr>
</p:notes>
</file>

<file path=ppt/notesSlides/notesSlide9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SGA는 인스턴스의 모든 세션이 공유하는 메모리로, 버퍼 캐시·공유 풀·라지 풀·자바 풀·스트림 풀·리두 로그 버퍼로 구성됩니다. 이 가운데 버퍼 캐시와 공유 풀이 대개 가장 큽니다. 자동 공유 메모리 관리가 크기를 조정하더라도 각 구조의 동작 원리를 알아야 왜 그 크기를 골랐는지 판단할 수 있습니다. 이 장은 그중 읽기 쪽의 버퍼 캐시와 쓰기 쪽의 리두 로그 버퍼를 다룹니다. 16장에서 확인한 ASMM 환경 위에서 각 구조를 깊게 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938150314"/>
      </p:ext>
    </p:extLst>
  </p:cSld>
  <p:clrMapOvr>
    <a:masterClrMapping/>
  </p:clrMapOvr>
</p:notes>
</file>

<file path=ppt/notesSlides/notesSlide9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버퍼 캐시는 SGA 안에서 데이터 블록의 사본을 담아 두는 영역입니다. 서버 프로세스는 블록이 필요하면 먼저 캐시를 뒤지고, 있으면 메모리에서 바로 읽습니다. 이것이 논리 읽기입니다. 없으면 데이터 파일에서 읽어 캐시에 올리며, 이때 동반되는 디스크 접근이 물리 읽기입니다. 물리 읽기는 논리 읽기의 부분집합이며 수백 배 비쌉니다. 캐시의 목적은 자주 쓰는 블록을 상주시켜 이 비싼 물리 I/O를 줄이는 것입니다.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87423594"/>
      </p:ext>
    </p:extLst>
  </p:cSld>
  <p:clrMapOvr>
    <a:masterClrMapping/>
  </p:clrMapOvr>
</p:notes>
</file>

<file path=ppt/notesSlides/notesSlide9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논리 읽기는 블록을 달라는 요청의 총량이고, 물리 읽기는 그중 캐시에 없어 디스크까지 내려간 부분입니다. 둘의 차이가 캐시가 막아 준 I/O입니다. 여기에 이 장의 함정의 씨앗이 있습니다. 캐시가 물리 읽기를 잘 막을수록 히트율은 오르지만, 그 이면에서 논리 읽기 자체가 얼마나 낭비되는지는 히트율이 전혀 말해 주지 않습니다. 이 비대칭이 이 장 내내 반복되는 주제입니다.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706337171"/>
      </p:ext>
    </p:extLst>
  </p:cSld>
  <p:clrMapOvr>
    <a:masterClrMapping/>
  </p:clrMapOvr>
</p:notes>
</file>

<file path=ppt/notesSlides/notesSlide9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캐시가 가득 차면 어떤 블록을 남길지 정해야 합니다. 오라클은 LRU를 변형한 접촉 횟수 기반 관리를 씁니다. 자주 접근된 블록은 앞쪽에 남고 오래 안 쓴 블록은 뒤로 밀려 재사용됩니다. 변경된 더티 블록은 곧바로 버려지지 않고 데이터베이스 라이터가 데이터 파일에 기록한 뒤에야 재사용됩니다. 이때 WAL 원칙에 따라 변경의 리두가 반드시 먼저 리두 로그에 기록되므로, 버퍼 캐시와 리두 로그 버퍼는 한 쌍으로 움직입니다.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873279527"/>
      </p:ext>
    </p:extLst>
  </p:cSld>
  <p:clrMapOvr>
    <a:masterClrMapping/>
  </p:clrMapOvr>
</p:notes>
</file>

<file path=ppt/notesSlides/notesSlide9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실측이 이 장의 출발점입니다. DEFAULT 풀이 두 줄인 것은 여러 작업 세트로 버퍼를 관리하기 때문이고, 합치면 약 870MB입니다. 별도로 KEEP 풀이 약 46MB 잡혀 있습니다. 세 줄 모두 히트율이 99.98에서 100퍼센트입니다. 얼핏 완벽해 보입니다. 그러나 이 숫자를 액면대로 믿는 순간 이 장의 첫 함정에 빠집니다. 참고로 첫 질의는 buffers 별칭이 예약 식별자로 충돌해 ORA-00904가 났고, 별칭을 바꿔 재조회했습니다.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314502394"/>
      </p:ext>
    </p:extLst>
  </p:cSld>
  <p:clrMapOvr>
    <a:masterClrMapping/>
  </p:clrMapOvr>
</p:notes>
</file>

<file path=ppt/notesSlides/notesSlide9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장의 결론을 먼저 말합니다. 히트율이 100퍼센트에 가까워도 시스템은 얼마든지 나쁜 상태일 수 있고, 심지어 나쁜 SQL일수록 히트율은 더 높아집니다. 히트율은 성능의 결과 지표가 아니라, 잘못 읽으면 문제를 가려 버리는 지표입니다. 앞 절 실측의 99.98퍼센트를 건강의 증거로 삼는 순간 진짜 문제를 놓칩니다. 이 역설을 정확히 이해하는 것이 이 장에서 가장 중요합니다.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956404687"/>
      </p:ext>
    </p:extLst>
  </p:cSld>
  <p:clrMapOvr>
    <a:masterClrMapping/>
  </p:clrMapOvr>
</p:notes>
</file>

<file path=ppt/notesSlides/notesSlide9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V$SYSSTAT 원자료로 직접 계산하면 히트율은 99.98퍼센트입니다. 교과서적으로 아주 좋은 값입니다. 그런데 같은 표의 다른 숫자를 보십시오. 세션 논리 읽기가 3억 7천만 회를 넘고 물리 읽기는 7만 5천여 회에 불과합니다. 디스크는 거의 안 건드렸지만 메모리 안에서 블록을 3억 7천만 번 읽었습니다. 물어야 할 질문은 히트율이 높은가가 아니라, 왜 이렇게 많은 논리 읽기가 필요했는가입니다.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723185260"/>
      </p:ext>
    </p:extLst>
  </p:cSld>
  <p:clrMapOvr>
    <a:masterClrMapping/>
  </p:clrMapOvr>
</p:notes>
</file>

<file path=ppt/notesSlides/notesSlide9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산수로 확인합니다. 100개 블록을 한 번씩만 읽으면 논리 100, 물리 100, 히트율 0퍼센트입니다. 같은 100블록을 천 번 반복하면 논리 읽기는 10만으로 폭증하지만 물리 읽기는 여전히 100입니다. 이때 히트율은 99.9퍼센트로 치솟습니다. 논리 읽기가 천 배 늘고 CPU도 그만큼 태웠는데 히트율은 오히려 개선된 것처럼 보입니다. 반복이 심할수록 히트율은 100퍼센트에 수렴합니다. 이것이 나쁜 SQL이 히트율을 끌어올린다의 정확한 메커니즘입니다.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661943503"/>
      </p:ext>
    </p:extLst>
  </p:cSld>
  <p:clrMapOvr>
    <a:masterClrMapping/>
  </p:clrMapOvr>
</p:notes>
</file>

<file path=ppt/notesSlides/notesSlide9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왜 대량 논리 읽기가 응답을 나쁘게 만들까요. 논리 읽기 한 번도 공짜가 아니기 때문입니다. 캐시에서 블록을 찾는 데 CPU가 들고, 블록을 보호하는 버퍼 래치를 잡았다 놓는 비용이 듭니다. 초당 수십만 논리 읽기가 되면 CPU가 여기에 묶이고, 여러 세션이 같은 인기 블록을 동시에 읽으면 래치나 버퍼 핀에서 경합이 생깁니다. 물리 I/O가 없어도 CPU와 래치 경합으로 응답이 나빠집니다. 히트율 100퍼센트가 디스크를 안 쓴다는 뜻이지 빠르다는 뜻은 아닌 이유입니다.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894744204"/>
      </p:ext>
    </p:extLst>
  </p:cSld>
  <p:clrMapOvr>
    <a:masterClrMapping/>
  </p:clrMapOvr>
</p:notes>
</file>

<file path=ppt/notesSlides/notesSlide9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히트율 신앙이 끈질긴 이유는 둘입니다. 하나는 단 하나의 숫자로 나와 직관적이고 보고하기 편하다는 것, 다른 하나는 메모리가 귀하던 시절에는 물리 I/O가 실제로 지배적 병목이어서 쓸모가 있었다는 것입니다. 그러나 지금은 대부분의 OLTP가 이미 99퍼센트를 넘어 변별력을 잃었습니다. 그래서 히트율은 반드시 세 가지와 함께 봐야 합니다. 논리 읽기의 총량과 추세, 상위 buffer_gets SQL, 그리고 DB Time에서 CPU가 차지하는 비중입니다.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281759431"/>
      </p:ext>
    </p:extLst>
  </p:cSld>
  <p:clrMapOvr>
    <a:masterClrMapping/>
  </p:clrMapOvr>
</p:notes>
</file>

<file path=ppt/notesSlides/notesSlide9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실무 시나리오입니다. 야간 배치 뒤에도 특정 조회 화면이 느립니다. DBA가 히트율을 보니 99.99퍼센트라 캐시는 완벽하니 애플리케이션 문제라고 결론 냈습니다. 무엇을 놓쳤을까요. 히트율은 물리 I/O 회피율일 뿐입니다. 이 화면 SQL은 실행당 논리 읽기가 수십만이었고, 같은 블록을 반복해 읽는 비효율 실행계획 때문에 논리 읽기가 폭증했으며 그 대부분이 캐시에서 처리되니 히트율은 100퍼센트에 수렴했습니다. 조치는 캐시 확장이 아니라 실행계획 수정입니다.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525541620"/>
      </p:ext>
    </p:extLst>
  </p:cSld>
  <p:clrMapOvr>
    <a:masterClrMapping/>
  </p:clrMapOvr>
</p:notes>
</file>

<file path=ppt/notesSlides/notesSlide9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왜 히트율 대신 물리 읽기 예측일까요. 히트율은 지금 이 크기에서 얼마나 적중했나라는 결과값 하나일 뿐, 크기를 바꾸면 어떻게 될까라는 인과를 담지 못합니다. 반면 어드바이스는 크기를 축으로 물리 읽기를 함수로 보여 줍니다. 튜닝은 본질적으로 무엇을 바꾸면 무엇이 달라지는가를 다루므로 함수형 데이터가 훨씬 유용합니다. 버퍼를 늘려도 캐시 히트에 기여하지 않는 구간이 반드시 있고 그 버퍼는 낭비입니다. 어드바이스는 그 지점을 짚어 줍니다.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858450874"/>
      </p:ext>
    </p:extLst>
  </p:cSld>
  <p:clrMapOvr>
    <a:masterClrMapping/>
  </p:clrMapOvr>
</p:notes>
</file>

<file path=ppt/notesSlides/notesSlide9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히트율이 크기 판단의 근거가 못 된다면 무엇으로 판단할까요. V$DB_CACHE_ADVICE입니다. 이 뷰는 캐시를 여러 크기로 가정했을 때 물리 읽기가 얼마일지를 시뮬레이션합니다. 핵심 컬럼은 물리 읽기 계수로, 현재를 1로 볼 때 각 크기에서 물리 읽기가 몇 배가 될지를 나타냅니다. 80MB에서는 447배로 폭증하는 위험 구간이고, 160에서 400 사이는 가파르게 떨어지며, 480MB 이상은 계수가 1로 완전히 수렴합니다.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073748967"/>
      </p:ext>
    </p:extLst>
  </p:cSld>
  <p:clrMapOvr>
    <a:masterClrMapping/>
  </p:clrMapOvr>
</p:notes>
</file>

<file path=ppt/notesSlides/notesSlide9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표는 세 구간으로 읽습니다. 첫째 아주 작은 구간은 물리 읽기가 폭증하는 위험 구간입니다. 둘째 중간 구간은 캐시를 늘릴수록 물리 읽기가 빠르게 주는 개선 구간입니다. 셋째 480MB 이상은 계수가 1에 수렴해 더 키워도 물리 읽기가 안 주는 구간입니다. 이 워크로드의 충분한 크기는 약 480MB이고 현재 864MB는 이미 수렴 구간을 넘었습니다. 다른 구조가 메모리를 필요로 하면 이 캐시에서 회수해도 물리 읽기에 영향이 없다는 판단을 이 표가 뒷받침합니다. 히트율만 봤다면 못 내릴 결론입니다.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080786888"/>
      </p:ext>
    </p:extLst>
  </p:cSld>
  <p:clrMapOvr>
    <a:masterClrMapping/>
  </p:clrMapOvr>
</p:notes>
</file>

<file path=ppt/notesSlides/notesSlide9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모든 객체를 하나의 DEFAULT 풀에서 경쟁시키면, 아주 큰 세그먼트를 넓게 스캔할 때 그 블록들이 캐시를 대량 차지하며 다른 객체의 따뜻한 블록을 밀어냅니다. 정작 그 큰 세그먼트는 캐시 덕을 못 보는데도 말입니다. 가이드는 어떤 세그먼트가 비순차 물리 읽기의 10퍼센트를 넘게 차지하면 아주 크다고 보고 분리를 권합니다. 다중 버퍼 풀이 이 갈등을 물리적으로 분리해 해결합니다.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666789110"/>
      </p:ext>
    </p:extLst>
  </p:cSld>
  <p:clrMapOvr>
    <a:masterClrMapping/>
  </p:clrMapOvr>
</p:notes>
</file>

<file path=ppt/notesSlides/notesSlide9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세 풀의 역할은 이렇습니다. KEEP은 작고 자주 쓰는 코드·마스터·참조 테이블을 항상 상주시켜 미스를 최소화합니다. RECYCLE은 대량 스캔 대상 대형 세그먼트를 담아 빨리 버림으로써 다른 풀을 오염시키지 않게 격리합니다. DEFAULT는 나머지입니다. 실습 DB는 db_keep_cache_size가 48M로 이미 설정돼 있고 recycle은 0입니다. KEEP·RECYCLE은 ASMM 자동 조정 대상이 아니라 이렇게 명시적으로 크기를 줍니다.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938477601"/>
      </p:ext>
    </p:extLst>
  </p:cSld>
  <p:clrMapOvr>
    <a:masterClrMapping/>
  </p:clrMapOvr>
</p:notes>
</file>

<file path=ppt/notesSlides/notesSlide9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풀 구성 파라미터입니다. db_cache_size가 0인 것은 자동 공유 메모리 관리가 DEFAULT 풀을 자동으로 정하기 때문입니다. 반면 db_keep_cache_size는 48M로 명시돼 있습니다. KEEP과 RECYCLE 풀은 ASMM의 자동 조정 대상이 아니므로 이렇게 명시적으로 크기를 줍니다. KEEP 풀 크기는 담을 객체들의 블록 합계보다 조금 여유 있게 잡습니다. 목적이 미스를 0에 가깝게 만드는 것이기 때문입니다. 너무 크게 잡으면 DEFAULT에서 메모리를 빼앗아 손해이므로 필요한 만큼만이 핵심입니다.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20000459"/>
      </p:ext>
    </p:extLst>
  </p:cSld>
  <p:clrMapOvr>
    <a:masterClrMapping/>
  </p:clrMapOvr>
</p:notes>
</file>

<file path=ppt/notesSlides/notesSlide9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소형 참조 테이블 DRUG_MASTER를 KEEP 풀에 배치합니다. 건수가 적고 거의 모든 청구 조회에서 참조되는 전형적인 KEEP 후보입니다. 주의할 점은 STORAGE로 풀을 바꿔도 이미 다른 풀에 있던 블록이 즉시 옮겨지지 않는다는 것입니다. 새로 읽히는 블록부터 새 풀에 놓입니다. 그래서 배치 직후 전체 스캔으로 블록을 KEEP에 예열해 둡니다. 이렇게 하지 않으면 풀을 바꿨는데 왜 그대로냐는 오해가 생깁니다. 반대로 대량 스캔 세그먼트는 RECYCLE로 격리합니다.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816021073"/>
      </p:ext>
    </p:extLst>
  </p:cSld>
  <p:clrMapOvr>
    <a:masterClrMapping/>
  </p:clrMapOvr>
</p:notes>
</file>

<file path=ppt/notesSlides/notesSlide10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KEEP과 대칭으로, 대량 스캔만 하는 대형 세그먼트는 RECYCLE 풀로 격리합니다. 목적은 반대입니다. KEEP은 오래 남겨 미스를 없애는 것이고 RECYCLE은 빨리 버려 다른 블록을 밀어내지 않는 것입니다. 인덱스도 필요하면 함께 지정합니다. RECYCLE 풀은 DEFAULT보다 작게 잡아 버퍼를 빠르게 재사용하게 합니다. 조치 전후로 DEFAULT 풀 히트율과 상위 SQL의 물리 읽기를 비교해, 이 세그먼트의 넓은 스캔이 다른 객체의 따뜻한 블록을 밀어내던 현상이 사라지는지 관찰합니다.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984516233"/>
      </p:ext>
    </p:extLst>
  </p:cSld>
  <p:clrMapOvr>
    <a:masterClrMapping/>
  </p:clrMapOvr>
</p:notes>
</file>

<file path=ppt/notesSlides/notesSlide10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풀 배치 기준을 정리합니다. KEEP은 작고 자주 참조되는 코드·마스터 테이블, 예측 가능한 응답시간이 필요할 때 씁니다. RECYCLE은 비순차 물리 읽기의 10퍼센트를 넘게 차지하는 대형 세그먼트에 씁니다. 그러나 순서가 중요합니다. 다중 버퍼 풀은 만능이 아니고, 가이드가 먼저 강조하는 것은 SQL 자체의 튜닝입니다. 비선택적 인덱스는 더 선택적인 인덱스로 바꾸는 것이 풀 분리보다 우선입니다. 순서가 뒤바뀌면 나쁜 SQL은 그대로 둔 채 관리 복잡도만 키웁니다.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343873522"/>
      </p:ext>
    </p:extLst>
  </p:cSld>
  <p:clrMapOvr>
    <a:masterClrMapping/>
  </p:clrMapOvr>
</p:notes>
</file>

<file path=ppt/notesSlides/notesSlide10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캐싱 모드는 한 풀 안에서 블록을 얼마나 오래 남길지를 정하는 손잡이입니다. CACHE로 지정하면 전체 스캔 블록도 LRU 앞쪽에 놓아 오래 남기고, 기본인 NOCACHE면 대형 스캔 블록을 LRU 꼬리에 놓아 빨리 밀어냅니다. 같은 100퍼센트라도 의미가 다릅니다. DEFAULT의 99.98은 반복 스캔으로 부풀려졌을 수 있고, KEEP의 100은 설계된 정상 결과입니다. 큰 테이블 스캔은 직접 경로 읽기로 캐시를 우회하기도 해 히트율에 아예 안 잡힙니다. 상주가 필요하면 CACHE보다 KEEP 풀이 명확합니다.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931295674"/>
      </p:ext>
    </p:extLst>
  </p:cSld>
  <p:clrMapOvr>
    <a:masterClrMapping/>
  </p:clrMapOvr>
</p:notes>
</file>

<file path=ppt/notesSlides/notesSlide10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버퍼 캐시가 읽기 쪽이라면 리두 로그 버퍼는 쓰기 쪽의 짝입니다. 데이터 블록을 변경하면 그 리두가 리두 로그 버퍼에 기록되고, 로그 라이터가 온라인 리두 로그 파일로 내려보냅니다. LGWR는 버퍼가 3분의 1 이상 찼을 때, 커밋이나 롤백 시, DBWR가 요청할 때 기록합니다. 이 구조 덕분에 리두 로그 버퍼는 대개 크게 잡을 필요가 없습니다. 서버 프로세스가 리두를 쓰려는데 공간이 없으면 log buffer space 이벤트로 대기합니다.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776108663"/>
      </p:ext>
    </p:extLst>
  </p:cSld>
  <p:clrMapOvr>
    <a:masterClrMapping/>
  </p:clrMapOvr>
</p:notes>
</file>

<file path=ppt/notesSlides/notesSlide10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핵심 지표는 redo buffer allocation retries입니다. 서버 프로세스가 리두 버퍼에 공간을 확보하려다 실패해 재시도한 횟수입니다. 이 값이 redo entries 대비 무시할 만큼 작아야 정상입니다. 실측은 재시도 3회, 리두 항목 24만 9천여 회로 비율이 0.0012퍼센트에 불과합니다. 즉 이 인스턴스의 7360K 버퍼는 충분합니다. 절대값을 외워 판단하지 않고 재시도를 리두 항목과 비교해 판정합니다. 재시도가 거의 없는데 log_buffer를 키우는 것은 근거 없는 조치입니다.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980803354"/>
      </p:ext>
    </p:extLst>
  </p:cSld>
  <p:clrMapOvr>
    <a:masterClrMapping/>
  </p:clrMapOvr>
</p:notes>
</file>

<file path=ppt/notesSlides/notesSlide10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대량 스캔의 캐시 동작을 더 봅니다. 소형 테이블 임계는 버퍼 캐시의 2퍼센트와 20블록 중 큰 값입니다. 이보다 큰 테이블을 전체 스캔하면 블록이 LRU 꼬리에 놓이거나, 버퍼 캐시를 우회해 PGA로 직접 읽는 직접 경로 읽기가 일어납니다. 19c의 적응적 직접 경로 읽기는 세그먼트 크기와 캐시 상태에 따라 경로를 그때그때 고릅니다. 그래서 어제는 버퍼 캐시로 빠르던 스캔이 오늘 직접 경로로 바뀌며 갑자기 느려질 수 있습니다. 실행계획은 그대로인데 느려졌다는 신고의 원인이 이 경로 전환일 때가 있고, 판정의 출발점은 히트율이 아니라 물리 읽기와 대기의 변화입니다.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640483237"/>
      </p:ext>
    </p:extLst>
  </p:cSld>
  <p:clrMapOvr>
    <a:masterClrMapping/>
  </p:clrMapOvr>
</p:notes>
</file>

<file path=ppt/notesSlides/notesSlide10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리두 로그 버퍼 판정의 규율입니다. 절대 크기가 아니라 재시도를 리두 항목과 비교한 비율로 충분성을 봅니다. 경험칙으로 1퍼센트 미만이면 충분합니다. log buffer space가 상위 대기면 LGWR의 디스크 기록 시간인 log file parallel write를 함께 봅니다. 후자가 높으면 병목은 버퍼가 아니라 리두 I/O입니다. 이때는 버퍼만 키워선 근본이 안 풀리고, 리두 로그 파일을 빠른 디스크로 옮기거나 커밋 빈도를 조정해야 합니다. 명확한 근거 없이 log_buffer를 키우는 것은 근거 없는 조치입니다.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650895663"/>
      </p:ext>
    </p:extLst>
  </p:cSld>
  <p:clrMapOvr>
    <a:masterClrMapping/>
  </p:clrMapOvr>
</p:notes>
</file>

<file path=ppt/notesSlides/notesSlide10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공유 풀은 SQL 문장과 실행 계획, 데이터 사전을 담는 SGA 영역입니다. 버퍼 캐시가 데이터를 캐싱한다면 공유 풀은 그 데이터를 다루는 방법을 캐싱합니다. 그래서 공유 풀이 아프면 증상이 다릅니다. 디스크가 느린 게 아니라 같은 SQL을 매번 새로 파싱하느라 CPU를 태우고 래치와 뮤텍스에서 부딪칩니다. 초심자는 ORA-04031을 보면 반사적으로 크기를 키우지만, 근본 원인이 하드 파싱이면 더 큰 크기에서 다시 터집니다. 이 장은 크기가 아니라 파싱을 보는 진단 순서를 익힙니다.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128274007"/>
      </p:ext>
    </p:extLst>
  </p:cSld>
  <p:clrMapOvr>
    <a:masterClrMapping/>
  </p:clrMapOvr>
</p:notes>
</file>

<file path=ppt/notesSlides/notesSlide10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각 항목이 진단 정보입니다. SQLA는 파싱된 SQL과 실행 계획이 사는 공유 SQL 영역이고, KGLH0와 KGLS는 커서와 객체 핸들이 사는 라이브러리 캐시 힙입니다. row cache mutex는 데이터 사전 캐시를 보호하는 구조입니다. free memory 67MB는 아직 할당되지 않은 여유입니다. 여기서 흔한 오해는 free memory가 넉넉하면 공유 풀이 충분하다고 보는 것입니다. 그러나 ORA-04031은 총량이 아니라 연속된 큰 덩어리가 없을 때도 납니다. 리터럴 커서가 공유 풀을 잘게 쪼개면 합계로는 여유가 있어도 작은 연속 공간 하나를 못 찾아 오류가 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306561423"/>
      </p:ext>
    </p:extLst>
  </p:cSld>
  <p:clrMapOvr>
    <a:masterClrMapping/>
  </p:clrMapOvr>
</p:notes>
</file>

<file path=ppt/notesSlides/notesSlide10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실제 운영에서 공유 풀 free memory가 60MB 넘게 남는데도 ORA-04031이 반복되는 사례가 흔합니다. 원인은 총량 부족이 아니라 리터럴 SQL이 만든 수만 개의 작은 커서가 공유 풀을 파편화한 것입니다. 크기를 키우면 며칠은 잠잠하지만 다시 터집니다. 근본 조치는 애플리케이션의 바인드 변수 전환이고, 임시로는 CURSOR_SHARING과 예약 풀 조정으로 버팁니다. 교훈은 명확합니다. free memory 총량은 ORA-04031을 배제하는 근거가 되지 못하며, 파편화와 파싱을 함께 봐야 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871841401"/>
      </p:ext>
    </p:extLst>
  </p:cSld>
  <p:clrMapOvr>
    <a:masterClrMapping/>
  </p:clrMapOvr>
</p:notes>
</file>

<file path=ppt/notesSlides/notesSlide10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가장 먼저 볼 줄은 SQL AREA입니다. GET_HIT가 13.9%밖에 안 됩니다. 라이브러리 캐시에서 SQL을 찾으려 했지만 열 번 중 아홉 번은 이미 있는 커서를 못 찾았다는 뜻이고, 못 찾으면 새로 파싱합니다. 즉 하드 파싱입니다. 대비되는 줄이 TABLE/PROCEDURE로 GET_HIT 95.2%입니다. 테이블과 프로시저 정의는 잘 재사용되는데 유독 SQL 커서만 재사용이 안 됩니다. 리터럴 SQL의 전형적 지문입니다. 이 값들은 기동 이후 누적값이라, 실제 진단은 두 시점의 값을 빼는 델타로 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609135351"/>
      </p:ext>
    </p:extLst>
  </p:cSld>
  <p:clrMapOvr>
    <a:masterClrMapping/>
  </p:clrMapOvr>
</p:notes>
</file>

<file path=ppt/notesSlides/notesSlide10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RELOADS와 INVALIDATIONS는 비슷해 보이지만 원인이 다릅니다. RELOADS는 공간 압박 지표로, 파싱해 둔 커서가 LRU에 밀려 제거됐다가 다시 필요해 재파싱된 것입니다. 델타로 증가하면 공유 풀이 좁거나 리터럴 커서가 유효 커서를 밀어내고 있다는 뜻입니다. INVALIDATIONS는 변경 지표로, 커서가 참조하는 객체가 DDL이나 통계 재수집으로 바뀌어 무효화된 것입니다. 잦으면 업무 시간에 통계를 수집하거나 DDL을 남발하지 않는지 봅니다. 네임스페이스는 어느 종류의 객체가 압박받는지 좁혀 줍니다.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020863792"/>
      </p:ext>
    </p:extLst>
  </p:cSld>
  <p:clrMapOvr>
    <a:masterClrMapping/>
  </p:clrMapOvr>
</p:notes>
</file>

<file path=ppt/notesSlides/notesSlide10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GET과 PIN의 차이를 알면 판독이 정확해집니다. GET은 객체 핸들을 찾는 동작이고 PIN은 그것을 실제로 쓰려고 고정하는 동작입니다. PINS가 GETS보다 큰 것은 자연스럽습니다. 한 번 찾은 커서를 여러 번 고정해 실행하기 때문입니다. GET_HIT가 낮으면 찾기 자체가 실패한 것이고, 새 SQL이라 공유 풀에 없다는 뜻입니다. PIN_HIT가 낮으면 찾긴 했는데 재파싱이 필요한 것이고, 밀려났다 왔거나 무효화됐다는 뜻입니다. 실측은 둘 다 낮아 리터럴로 새 커서가 계속 생기고 기존 커서도 밀려나는 이중고를 보여 줍니다.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174254287"/>
      </p:ext>
    </p:extLst>
  </p:cSld>
  <p:clrMapOvr>
    <a:masterClrMapping/>
  </p:clrMapOvr>
</p:notes>
</file>

<file path=ppt/notesSlides/notesSlide10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핵심 계산은 하드 파싱 비율입니다. hard 134042를 total 218056으로 나누면 약 0.615, 즉 61.5%입니다. 정상 OLTP라면 이 값은 0에 수렴해야 합니다. 애플리케이션이 같은 SQL을 바인드 변수로 반복하므로 첫 파싱만 하드이고 나머지는 소프트여야 하기 때문입니다. 그런데 61.5%가 하드라는 것은 매번 문장 텍스트가 조금씩 달라 재사용할 커서를 못 찾는다는 뜻입니다. parse time cpu 6804는 파싱에만 쓴 CPU로, 이 값이 크면 CPU가 일이 아니라 일 준비에 낭비되고 있다는 신호입니다. 앞의 SQL AREA GET_HIT 13.9%와 같은 이야기를 다른 각도에서 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159282630"/>
      </p:ext>
    </p:extLst>
  </p:cSld>
  <p:clrMapOvr>
    <a:masterClrMapping/>
  </p:clrMapOvr>
</p:notes>
</file>

<file path=ppt/notesSlides/notesSlide10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하드 파싱이 공유 풀을 갉는 과정을 그림으로 정리합니다. 애플리케이션이 리터럴만 바꿔 수만 번 실행하면 오라클은 이들을 전부 다른 SQL로 보고 각각 하드 파싱해 각각의 커서를 만듭니다. 그 결과 첫째 CPU가 파싱에 낭비되고, 둘째 공유 풀이 일회용 커서로 부풀며, 셋째 새 커서 공간을 만드느라 유효한 커서를 밀어내 재파싱을 더 유발하는 악순환이 돕니다. 이 악순환의 종착역이 ORA-04031입니다. 크기를 키우면 악순환의 속도만 늦출 뿐, 리터럴이 계속 새 커서를 만드는 한 방향은 같습니다.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729608879"/>
      </p:ext>
    </p:extLst>
  </p:cSld>
  <p:clrMapOvr>
    <a:masterClrMapping/>
  </p:clrMapOvr>
</p:notes>
</file>

<file path=ppt/notesSlides/notesSlide10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하드 파싱이 왜 비싼지 알면 조치의 근거가 단단해집니다. 하드 파싱은 구문 분석, 의미 분석, 공유 풀에서 동일 커서 탐색, 최적화, 커서 할당의 다섯 단계를 거칩니다. 마지막 할당 단계에서 라이브러리 캐시 뮤텍스와 shared pool 래치를 잡는데, 이 직렬화 장치는 한 번에 한 세션만 통과시킵니다. 여러 세션이 동시에 하드 파싱하면 여기서 줄을 섭니다. 그 줄서기가 8장과 14장에서 본 library cache mutex X, cursor pin S wait on X 대기로 나타납니다. 공유 풀 문제는 낮은 히트율, 높은 하드 파싱 비율, 뮤텍스·래치 경합의 세 얼굴로 드러나며, 셋이 같은 방향이면 진단은 확정입니다.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404802937"/>
      </p:ext>
    </p:extLst>
  </p:cSld>
  <p:clrMapOvr>
    <a:masterClrMapping/>
  </p:clrMapOvr>
</p:notes>
</file>

<file path=ppt/notesSlides/notesSlide10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커서 공유를 이해하려면 바인드 변수 자체와 CURSOR_SHARING을 구분해야 합니다. 바인드 변수는 애플리케이션이 SQL을 작성할 때 값을 자리표시자로 넘기는 것으로, 처음부터 커서가 하나만 생깁니다. 이것이 정공법입니다. CURSOR_SHARING=FORCE는 애플리케이션이 리터럴을 그대로 박아 넣었을 때 오라클이 실행 시점에 그것을 바인드로 바꿔치기하는 것으로 사후 보정에 가깝습니다. 그래서 FORCE는 앱을 못 고칠 때의 차선책이고 성능과 계획 품질 면에서 앱 수정만 못합니다. 2장에서 다룬 바인드 변수를 이 장은 공유 풀 점유라는 결과 쪽에서 다시 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572049364"/>
      </p:ext>
    </p:extLst>
  </p:cSld>
  <p:clrMapOvr>
    <a:masterClrMapping/>
  </p:clrMapOvr>
</p:notes>
</file>

<file path=ppt/notesSlides/notesSlide10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CURSOR_SHARING=FORCE로 바꾸면 오라클이 리터럴을 SYS_B_0 형태의 시스템 바인드로 치환합니다. EXACT에서 patient_id=101과 patient_id=102는 서로 다른 SQL이라 각각 하드 파싱되고 각각의 커서가 쌓이지만, FORCE에서는 두 문장이 하나의 커서를 공유해 하드 파싱이 한 번으로 줄고 공유 풀 점유도 급감합니다. 실습 3은 같은 리터럴 부하를 EXACT와 FORCE에서 각각 돌려 V$SGASTAT의 SQLA 증가분과 V$SQLAREA의 커서 개수를 대조합니다. 이 실습도 세션 수준으로만 바꿔 접속을 끊으면 원복되게 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664098955"/>
      </p:ext>
    </p:extLst>
  </p:cSld>
  <p:clrMapOvr>
    <a:masterClrMapping/>
  </p:clrMapOvr>
</p:notes>
</file>

<file path=ppt/notesSlides/notesSlide10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CURSOR_SHARING=FORCE는 만능이 아닙니다. 하드 파싱과 공유 풀 점유를 줄이는 강력한 임시방편이지만, 리터럴이 서로 다른 최적 계획을 요구하는 편중 컬럼에서는 하나의 계획을 공유해 성능이 나빠질 수 있습니다. 예를 들어 HOSP_ID처럼 값마다 건수가 크게 다른 컬럼은 리터럴별 히스토그램 기반 계획이 유리한데 FORCE가 이를 뭉갤 수 있습니다. 원칙은 이렇습니다. FORCE는 급한 불을 끄는 세션·시스템 임시 조치이고 근본 해법은 애플리케이션의 바인드 변수 전환입니다. 적용한 뒤에는 반드시 주요 SQL의 계획을 재검증해야 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182423502"/>
      </p:ext>
    </p:extLst>
  </p:cSld>
  <p:clrMapOvr>
    <a:masterClrMapping/>
  </p:clrMapOvr>
</p:notes>
</file>

<file path=ppt/notesSlides/notesSlide10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FACTOR 1.0인 416MB가 현재 크기입니다. SAVED는 현재 대비 라이브러리 캐시가 절약해 주는 파싱 시간의 상대 비율로 1.0이 현재 수준입니다. 아래쪽 축소를 보면 400MB에서 0.9363, 384MB에서 0.8626, 368MB에서 0.6424로 급락합니다. 지금보다 줄이면 파싱 절약이 빠르게 나빠지니 현재 크기가 이 부하에 필요하다는 뜻입니다. 위쪽 확대를 보면 464, 560MB로 아무리 키워도 SAVED가 1.0에 머물고 608MB에서 겨우 1.0007입니다. 즉 공유 풀을 키워도 파싱은 더 줄지 않습니다. 곡선이 평평하다는 것은 못 아끼는 파싱이 크기가 아니라 리터럴 때문이라는 결정적 단서입니다.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742085375"/>
      </p:ext>
    </p:extLst>
  </p:cSld>
  <p:clrMapOvr>
    <a:masterClrMapping/>
  </p:clrMapOvr>
</p:notes>
</file>

<file path=ppt/notesSlides/notesSlide10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어드바이저는 17장의 V$DB_CACHE_ADVICE와 읽는 방식이 같습니다. 크기를 바꾸면 효과가 얼마나 변하는가의 곡선을 주고, 요령은 기울기가 꺾여 평평해지는 무릎을 찾는 것입니다. 무릎 이전은 확대가 유효하고 이후는 낭비입니다. 우리 실측은 416MB가 이미 무릎을 지난 지점이라 확대 곡선이 처음부터 평평합니다. 이 어드바이저가 이 장에서 특별한 이유는, ORA-04031을 만나 크기를 키우고 싶을 때 확대 곡선이 평평하면 그것이 크기를 키워도 소용없다는 정량적 증거이기 때문입니다. 곡선이 가파르면 확대, 평평하면 파싱 제거로 방향을 틉니다.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301656414"/>
      </p:ext>
    </p:extLst>
  </p:cSld>
  <p:clrMapOvr>
    <a:masterClrMapping/>
  </p:clrMapOvr>
</p:notes>
</file>

<file path=ppt/notesSlides/notesSlide10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ORA-04031은 요청한 크기의 연속 메모리를 할당하지 못했다는 오류입니다. 메시지 괄호 안 네 조각이 원인을 말해 줍니다. 첫째 shared pool은 실패한 영역이 공유 풀이라는 뜻이고 라지 풀이면 large pool로 나옵니다. 둘째는 실패를 유발한 대상으로 여기서는 WL01_LIT 리터럴 커서입니다. 셋째 SQLA는 공유 SQL 영역 하위에서 할당하려 했다는 것이고, 넷째 kkscsAddChildNode는 자식 커서를 추가하는 함수입니다. 이 조합이 곧바로 원인을 말합니다. 리터럴 SQL이 자식 커서를 계속 추가하다 공유 SQL 영역에서 연속 공간을 못 찾았다, 즉 하드 파싱이 범인입니다.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920143859"/>
      </p:ext>
    </p:extLst>
  </p:cSld>
  <p:clrMapOvr>
    <a:masterClrMapping/>
  </p:clrMapOvr>
</p:notes>
</file>

<file path=ppt/notesSlides/notesSlide10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ORA-04031을 만났을 때 조치의 순서가 이 장의 결론입니다. 급한 순서가 아니라 근본 순서입니다. 1순위는 하드 파싱 제거로 애플리케이션 바인드 변수 전환입니다. 원인을 없애지만 앱 수정이라 시간이 걸립니다. 2순위는 CURSOR_SHARING=FORCE로 리터럴을 바인드로 치환해 커서 폭증을 막습니다. 3순위는 예약 풀 조정으로 큰 연속 청크를 예약해 대형 할당 실패를 줄이지만 파편화 자체는 그대로입니다. 4순위가 크기 확대인데 어드바이저가 확대 유효를 보일 때만입니다. 크기를 먼저 키우는 것은 이 절차의 정반대입니다. ORA-04031 재현은 반드시 개인 실습 환경에서만 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232261526"/>
      </p:ext>
    </p:extLst>
  </p:cSld>
  <p:clrMapOvr>
    <a:masterClrMapping/>
  </p:clrMapOvr>
</p:notes>
</file>

<file path=ppt/notesSlides/notesSlide10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PX msg pool 15MB는 병렬 실행이 세션 간 데이터를 주고받는 메시지 버퍼입니다. 이것이 라지 풀에 있다는 사실 자체가 병렬 메시지 버퍼가 공유 풀을 침범하지 않고 라지 풀에 분리돼 있다는 증거입니다. 만약 라지 풀이 없었다면 이 15MB가 공유 풀에서 나왔을 것이고 그만큼 커서가 살 공간이 줄어 파싱 압박이 커졌을 것입니다. 라지 풀은 공유 풀과 달리 LRU 관리가 없습니다. 큰 버퍼는 잠깐 쓰고 통째로 반납되는 수명이라 LRU가 오히려 방해가 되기 때문입니다. 이 성질 덕분에 라지 풀에서 큰 할당은 파편화 걱정이 적습니다. 라지 풀을 분리하는 진짜 이유는 성격이 다른 메모리를 섞지 않는 것입니다.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683810751"/>
      </p:ext>
    </p:extLst>
  </p:cSld>
  <p:clrMapOvr>
    <a:masterClrMapping/>
  </p:clrMapOvr>
</p:notes>
</file>

<file path=ppt/notesSlides/notesSlide10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라지 풀이 특히 중요한 세 사용처가 있습니다. 첫째 병렬 실행으로, PX 서버들이 데이터를 교환하는 메시지 버퍼가 라지 풀에서 나옵니다. 둘째 RMAN 백업·복구로, 디스크·테이프와 주고받는 대형 I/O 버퍼가 라지 풀을 씁니다. 셋째 공유 서버 구성으로, 세션의 UGA가 라지 풀에 놓이므로 없으면 세션 메모리가 공유 풀을 잠식합니다. 구성은 LARGE_POOL_SIZE로 하는데 ASMM에서는 이 값을 하한으로 잡으면 자동 조정이 그 아래로 내리지 않으면서 필요 시 위로 키웁니다. 병렬·RMAN 부하가 큰 시스템에서 이 하한을 명시하면 자동 조정 전 순간에도 공유 풀이 흔들리지 않습니다.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440960951"/>
      </p:ext>
    </p:extLst>
  </p:cSld>
  <p:clrMapOvr>
    <a:masterClrMapping/>
  </p:clrMapOvr>
</p:notes>
</file>

<file path=ppt/notesSlides/notesSlide10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체크리스트의 핵심은 4단계에서 방향이 갈린다는 점입니다. 어드바이저 확대 곡선이 가파르면 크기 확대가 유효하고, 평평하면 5단계에서 파싱 제거로 방향을 틉니다. 이 실측 환경은 후자입니다. 1에서 3단계가 모두 하드 파싱 과다를 가리키고 4단계가 크기로는 해결 안 됨을 뒷받침하므로 결론은 바인드 변수 전환입니다. 측정 없이 크기부터 바꾸지 않고, ORA-04031을 크기로 봉합하지 않으며, 조치 순위를 지키고, 병렬·RMAN이 있으면 라지 풀을 분리합니다. 서로 다른 뷰의 숫자가 한 원인으로 수렴할 때 진단은 비로소 신뢰할 수 있습니다.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021694826"/>
      </p:ext>
    </p:extLst>
  </p:cSld>
  <p:clrMapOvr>
    <a:masterClrMapping/>
  </p:clrMapOvr>
</p:notes>
</file>

<file path=ppt/notesSlides/notesSlide10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슬라이드는 18.2부터 18.8까지의 판독을 하나로 모읍니다. V$SGASTAT의 SQLA와 KGLH0가 커서로 공유 풀을 점유하고, V$LIBRARYCACHE의 SQL AREA GET_HIT 13.9%와 RELOADS 2441이 커서 재사용 실패를 보이며, 파싱 통계의 하드 파싱 비율 61.5%가 리터럴을 확증하고, 어드바이저의 평평한 확대 곡선이 크기로는 해결이 안 됨을 증명합니다. 한편 라지 풀의 PX msg pool 15MB는 병렬 버퍼가 공유 풀을 침범하지 않게 분리돼 있음을 보여 줍니다. 서로 다른 뷰의 숫자가 모두 한 곳, 리터럴 하드 파싱을 가리킵니다. 공유 풀 튜닝은 큰 숫자를 키우는 일이 아니라 왜 커서가 재사용되지 않는가를 추적하는 일입니다. 답은 바인드 변수입니다.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723654767"/>
      </p:ext>
    </p:extLst>
  </p:cSld>
  <p:clrMapOvr>
    <a:masterClrMapping/>
  </p:clrMapOvr>
</p:notes>
</file>

<file path=ppt/notesSlides/notesSlide10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장이 반복해 경계하는 오판은 넷입니다. 첫째 ORA-04031을 크기만 키워 봉합하는 것으로, 원인이 파싱이면 더 큰 크기에서 재발합니다. 둘째 free memory가 넉넉하니 공유 풀이 충분하다고 보는 것으로, 파편화를 무시한 판단입니다. 셋째 라이브러리 캐시 히트율이 낮으니 무조건 확대하는 것으로, 어드바이저로 확대가 유효한지부터 봐야 합니다. 넷째 CURSOR_SHARING=FORCE면 만사형통이라 여기는 것으로, 편중 컬럼에서 계획이 저하될 수 있습니다. 네 오판의 공통 처방은 오류 메시지로 원인 영역을 식별하고, 어드바이저로 크기 효과를 판정하고, 조치 순위를 지키는 것입니다.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090762419"/>
      </p:ext>
    </p:extLst>
  </p:cSld>
  <p:clrMapOvr>
    <a:masterClrMapping/>
  </p:clrMapOvr>
</p:notes>
</file>

<file path=ppt/notesSlides/notesSlide10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장에서 쓰는 진단 도구는 대부분 라이선스와 무관합니다. V$LIBRARYCACHE, V$SGASTAT, V$SYSSTAT, V$SQLAREA, V$SQL은 기본 동적 성능 뷰이고 V$SHARED_POOL_ADVICE 같은 어드바이저 뷰도 Diagnostics나 Tuning Pack 없이 조회할 수 있습니다. 즉 공유 풀과 라지 풀 튜닝의 핵심 진단은 어떤 에디션에서도 그대로 수행됩니다. Diagnostics Pack이 필요한 경우는 이 지표들의 이력을 볼 때뿐입니다. DBA_HIST_LIBRARYCACHE 같은 AWR 이력 뷰나 AWR 보고서의 공유 풀 어드바이저 섹션을 볼 때입니다. 라이선스가 없으면 실시간 V$ 뷰를 두 시점에 조회해 델타를 계산하는 것으로 충분히 대체됩니다.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568098207"/>
      </p:ext>
    </p:extLst>
  </p:cSld>
  <p:clrMapOvr>
    <a:masterClrMapping/>
  </p:clrMapOvr>
</p:notes>
</file>

<file path=ppt/notesSlides/notesSlide10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장은 같은 공유 풀 안에 살면서도 성격이 정반대인 두 메모리를 다룹니다. 하나는 질의 결과 자체를 저장해 재계산을 없애는 서버 결과 캐시이고, 다른 하나는 서버 프로세스마다 사적으로 갖는 PGA입니다. 앞엣것은 공유 캐시이고 뒤엣것은 사적 메모리라는 점에서 정반대지만, 둘 다 메모리를 더 써서 디스크 접근을 줄인다는 같은 원리 위에 있습니다. 결과 캐시는 읽기 위주·소량 반환·반복 호출이라는 조건에서만 이득이 나고, PGA는 정렬·해시 작업 영역이 메모리에서 끝나느냐가 성능을 가릅니다. 실측 인스턴스는 PGA 700M에 디스크 정렬이 0인 건강한 상태여서, 나쁜 상태는 일부러 재현해 보여줍니다.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511226736"/>
      </p:ext>
    </p:extLst>
  </p:cSld>
  <p:clrMapOvr>
    <a:masterClrMapping/>
  </p:clrMapOvr>
</p:notes>
</file>

<file path=ppt/notesSlides/notesSlide10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세 캐시를 한자리에 놓으면 결과 캐시의 자리가 분명해집니다. 버퍼 캐시는 데이터 블록을 캐시해 물리 I/O를 줄이고, 라이브러리 캐시는 실행계획을 캐시해 하드 파싱을 줄입니다. 이 둘은 여전히 질의를 실행합니다. 결과 캐시는 한 단계 더 올라가 질의의 최종 결과를 캐시하므로, 히트하면 실행 자체가 통째로 생략됩니다. 이득이 가장 크지만 기반 데이터가 안 바뀌어야 한다는 조건이 까다롭습니다. 서버 결과 캐시는 공유 풀 안에 있고, 클라이언트 결과 캐시는 OCI 클라이언트 프로세스 메모리에 있으며 둘은 완전히 별개입니다.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750016095"/>
      </p:ext>
    </p:extLst>
  </p:cSld>
  <p:clrMapOvr>
    <a:masterClrMapping/>
  </p:clrMapOvr>
</p:notes>
</file>

<file path=ppt/notesSlides/notesSlide10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결과가 캐시에서 나왔는지는 실행계획의 RESULT CACHE 연산으로 확인합니다. Id 1의 RESULT CACHE 단계와 Name 열의 긴 문자열, 즉 캐시 ID가 핵심입니다. 첫 실행에서는 아래 단계인 HASH GROUP BY와 TABLE ACCESS FULL이 실제로 수행되어 결과를 만들고 그것을 캐시에 저장합니다. 두 번째 실행부터는 RESULT CACHE 단계에서 곧바로 결과를 꺼내므로 아래 단계가 사실상 동작하지 않습니다. 이 캐시 ID로 V$RESULT_CACHE_OBJECTS를 조회하면 그 결과의 블록 수와 행 수 같은 상세 통계를 볼 수 있습니다.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800013619"/>
      </p:ext>
    </p:extLst>
  </p:cSld>
  <p:clrMapOvr>
    <a:masterClrMapping/>
  </p:clrMapOvr>
</p:notes>
</file>

<file path=ppt/notesSlides/notesSlide10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클라이언트 결과 캐시는 서버가 아니라 클라이언트 프로세스 안의 메모리 영역입니다. 클라이언트 프로세스마다 하나씩 있고 그 안의 모든 세션이 공유합니다. OCCI, JDBC OCI 드라이버, ODP.NET이 지원합니다. 이점은 세 가지입니다. 반복 질의가 서버까지 왕복하지 않고 클라이언트 캐시에서 바로 응답하므로 응답시간이 짧고, 서버 왕복이 줄어 서버 CPU와 I/O가 절약되어 확장성이 좋아지며, 서버 메모리보다 값싼 클라이언트 메모리를 씁니다. CLIENT_RESULT_CACHE_SIZE를 32768바이트 이상으로 설정하면 활성화됩니다. 서버가 데이터 변경을 감지하면 다음 왕복 때 클라이언트에 무효화를 보내 일관성을 유지합니다.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107010833"/>
      </p:ext>
    </p:extLst>
  </p:cSld>
  <p:clrMapOvr>
    <a:masterClrMapping/>
  </p:clrMapOvr>
</p:notes>
</file>

<file path=ppt/notesSlides/notesSlide10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어떤 질의가 결과 캐시를 쓸 자격이 있는지는 RESULT_CACHE_MODE 파라미터가 결정합니다. MANUAL은 힌트나 테이블 주석으로 명시한 결과만 캐시하며 기본이자 권장값입니다. FORCE는 모든 결과를 캐시하려 시도하고 특정 질의를 빼려면 NO_RESULT_CACHE 힌트를 써야 합니다. FORCE가 권장되지 않는 이유는 두 가지입니다. 첫째, 모든 질의를 캐시하려 들면서 상당한 래치와 성능 오버헤드가 생깁니다. 둘째, 비결정적 PL/SQL 함수를 호출하는 질의까지 캐시되면 매번 달라져야 할 결과가 낡은 채 반환되어 정확성이 깨질 수 있습니다. 실측 인스턴스도 기본인 MANUAL이었습니다.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65181220"/>
      </p:ext>
    </p:extLst>
  </p:cSld>
  <p:clrMapOvr>
    <a:masterClrMapping/>
  </p:clrMapOvr>
</p:notes>
</file>

<file path=ppt/notesSlides/notesSlide10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결과 캐시를 지정하는 방법은 세 층위입니다. 질의의 힌트, 테이블 주석, 그리고 세션·인스턴스의 모드 설정입니다. 우선순위는 힌트가 가장 높아 모드와 테이블 주석을 모두 덮어씁니다. 그래서 테이블을 FORCE로 주석해 두어도 특정 질의에는 NO_RESULT_CACHE 힌트로 캐시를 끌 수 있습니다. 예시에서 분류별 개수를 세는 질의는 자주 쓰고 적게 반환하므로 주석 덕분에 캐시되고, 전체를 정렬해 대량 반환하는 일회성 질의는 힌트로 캐시에서 제외됩니다. 이 우선순위 덕분에 테이블 단위 정책과 질의 단위 예외를 함께 운용할 수 있습니다.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989874594"/>
      </p:ext>
    </p:extLst>
  </p:cSld>
  <p:clrMapOvr>
    <a:masterClrMapping/>
  </p:clrMapOvr>
</p:notes>
</file>

<file path=ppt/notesSlides/notesSlide10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진료비 스키마에서 결과 캐시의 교과서적 후보는 DRUG_MASTER, 즉 수가·약가 마스터입니다. 행 수가 적고 하루에 몇 번 바뀔까 말까 한 읽기 위주 참조 테이블입니다. 반면 이 코드로 조인되는 CLAIM_DETAILS는 100만 행이 넘고 계속 적재됩니다. 후보를 고르는 세 질문은 읽기 위주인가, 반환 행이 적은가, 반복 호출되는가입니다. 단일 결과가 캐시에서 쓸 수 있는 최대 비율은 RESULT_CACHE_MAX_RESULT가 정하며 기본 5%입니다. 또한 SYSDATE나 시퀀스, 임시 테이블처럼 매번 값이 달라지는 요소가 질의에 있으면 아예 캐시가 금지됩니다.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495648095"/>
      </p:ext>
    </p:extLst>
  </p:cSld>
  <p:clrMapOvr>
    <a:masterClrMapping/>
  </p:clrMapOvr>
</p:notes>
</file>

<file path=ppt/notesSlides/notesSlide10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결과 캐시를 켜거나 힌트를 붙였다고 특정 결과가 반드시 캐시되는 것은 아닙니다. 요건과 제약을 알아야 힌트를 붙였는데 왜 캐시가 안 되지 하는 혼란을 피합니다. 읽기 일관성 요건으로, 결과를 만든 스냅샷이 가장 최근 커밋 상태를 가리키거나 플래시백 시점을 가리켜야 하고, 현재 세션이 참조 객체에 활성 트랜잭션을 걸고 있으면 캐시 대상이 아닙니다. 바인드 변수나 USER, 상수 인자의 SYS_CONTEXT, NLS 파라미터로 파라미터화되면 같은 값일 때 재사용됩니다. 반대로 임시 테이블, SYS·SYSTEM 스키마 테이블, 시퀀스, SYSDATE나 SYS_GUID처럼 매번 값이 달라지는 함수가 있으면 아예 캐시가 금지됩니다.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442243185"/>
      </p:ext>
    </p:extLst>
  </p:cSld>
  <p:clrMapOvr>
    <a:masterClrMapping/>
  </p:clrMapOvr>
</p:notes>
</file>

<file path=ppt/notesSlides/notesSlide10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결과 캐시의 정확성은 무효화로 보장됩니다. 캐시된 결과가 의존하는 기반 객체가 DML이나 DDL로 수정되면 그 결과는 즉시 무효가 됩니다. 다음에 같은 질의가 오면 히트가 나지 않고 오라클이 다시 실행해 새 결과로 캐시를 갱신합니다. 이 과정은 자동이고 투명해서 응용은 낡은 결과를 볼 일이 없습니다. 무효화의 단위는 결과 하나이고, 여러 결과가 같은 테이블에 의존하면 그 테이블이 바뀔 때 함께 무효화됩니다. 무효화는 커밋을 기준으로 일어나므로, 변경만 하고 커밋하지 않으면 다른 세션의 캐시는 아직 유효합니다. 이 무효화가 축복이자 저주인데, 너무 잦으면 손해가 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288200121"/>
      </p:ext>
    </p:extLst>
  </p:cSld>
  <p:clrMapOvr>
    <a:masterClrMapping/>
  </p:clrMapOvr>
</p:notes>
</file>

<file path=ppt/notesSlides/notesSlide10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결과 캐시 상태는 V$RESULT_CACHE_STATISTICS로 봅니다. 판독 기준은 명확합니다. 최적화된 데이터베이스는 Create Count Failure와 Delete Count Valid가 낮고 Find Count가 높습니다. 실측값은 Create Success가 1인데 Find가 5입니다. 한 번 만든 결과를 다섯 번 재사용했고 실패, 무효화, 유효 삭제가 모두 0입니다. 이것은 건강한 상태입니다. Find 대 Create 비율이 높을수록 캐시가 제 값을 하는 것입니다. 반대로 Invalidation Count가 Create Count와 비슷하게 계속 오르거나 Create Count Failure가 쌓이면 그 질의는 결과 캐시에 맞지 않는다는 신호입니다.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242934466"/>
      </p:ext>
    </p:extLst>
  </p:cSld>
  <p:clrMapOvr>
    <a:masterClrMapping/>
  </p:clrMapOvr>
</p:notes>
</file>

<file path=ppt/notesSlides/notesSlide10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통계 뷰 외에 DBMS_RESULT_CACHE.MEMORY_REPORT 프로시저로 메모리 사용 요약을 볼 수 있습니다. SET SERVEROUTPUT ON 후 실행하면 파라미터 구역에 블록 크기 1024바이트, 최대 캐시 크기, 최대 결과 크기가 나오고, 메모리 구역에 전체 메모리와 캐시 메모리가 사용·미사용 블록으로 세분되어 나옵니다. 실측 인스턴스는 블록 크기 1024, 최대 7712블록에 현재 32블록만 쓰고 있어 여유가 큽니다. 이 리포트는 캐시가 공유 풀의 몇 퍼센트를 쓰는지도 보여주어, 결과 캐시가 공유 풀을 과도하게 잠식하지 않는지 점검할 때 유용합니다. 캐시를 비우려면 같은 패키지의 FLUSH 프로시저를 씁니다.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244994539"/>
      </p:ext>
    </p:extLst>
  </p:cSld>
  <p:clrMapOvr>
    <a:masterClrMapping/>
  </p:clrMapOvr>
</p:notes>
</file>

<file path=ppt/notesSlides/notesSlide10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장의 첫 번째 경계선입니다. 결과 캐시는 켜면 무조건 빨라지는 기능이 아닙니다. DBA Point는 하나로 압축됩니다. 결과 캐시는 변경이 잦은 테이블에서 손해입니다. 이득의 원천은 한 번 계산해 여러 번 재사용하는 것인데, 기반 테이블이 자주 바뀌면 캐시가 자꾸 무효화됩니다. 무효화된 다음 실행은 히트가 아니라 재계산이고 다시 캐시에 저장됩니다. 생성, 짧은 재사용, 무효화, 재생성이 반복되면 캐시를 관리하는 비용만 들고 재사용 이득은 거의 없습니다. 심하면 결과 캐시 래치 경합이 새 병목이 됩니다. 올바른 조치는 캐시를 키우는 것이 아니라 그 질의에서 캐시를 떼는 것입니다.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756996465"/>
      </p:ext>
    </p:extLst>
  </p:cSld>
  <p:clrMapOvr>
    <a:masterClrMapping/>
  </p:clrMapOvr>
</p:notes>
</file>

<file path=ppt/notesSlides/notesSlide10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적용은 한 문장으로 판별합니다. 이 질의가 읽기 위주 테이블에서 적은 결과를 반복적으로 반환하는가입니다. DRUG_MASTER 질의는 세 조건을 모두 만족해 적합하고, CLAIM_DETAILS 집계는 쓰기가 잦고 대량이며 일회성이라 부적합합니다. 적합의 신호는 Find가 높고 무효화와 생성 실패가 거의 0인 것이고, 부적합의 신호는 무효화와 생성 실패가 오르고 Find가 낮은 것입니다. 특히 변경 빈도는 무효화 통계로 사후 검증까지 되므로, 캐시를 붙인 뒤에도 Invalidation Count를 관찰해 손해로 판명되면 즉시 떼는 것이 원칙입니다.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87514501"/>
      </p:ext>
    </p:extLst>
  </p:cSld>
  <p:clrMapOvr>
    <a:masterClrMapping/>
  </p:clrMapOvr>
</p:notes>
</file>

<file path=ppt/notesSlides/notesSlide10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이제 공유 캐시에서 사적 메모리로 넘어갑니다. PGA는 서버 프로세스 하나의 데이터와 제어 정보를 담는 사적 메모리 영역으로, 오직 그 프로세스만 접근합니다. 복잡한 질의에서는 실행 시간 영역의 큰 부분이 작업 영역에 할당됩니다. ORDER BY·GROUP BY·윈도우 함수 같은 정렬 연산자는 정렬 영역을, 해시 조인은 해시 영역을 씁니다. 작업 영역이 크면 성능이 좋지만 메모리를 더 쓰고, 작으면 디스크로 넘겨 느려집니다. PGA는 SGA와 달리 공유되지 않으므로 접속 세션이 늘면 총 수요도 늘고, 동시 작업 영역이 많아지면 오라클은 하나에 줄 수 있는 최대치를 자동으로 낮춥니다.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52865052"/>
      </p:ext>
    </p:extLst>
  </p:cSld>
  <p:clrMapOvr>
    <a:masterClrMapping/>
  </p:clrMapOvr>
</p:notes>
</file>

<file path=ppt/notesSlides/notesSlide10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작업 영역은 크기에 따라 세 방식으로 실행됩니다. optimal은 입력을 모두 담을 만큼 커서 전부 메모리에서 끝나는 이상적 크기입니다. one-pass는 optimal보다 작아 입력 일부를 디스크로 한 번 더 훑어 응답시간이 늘어납니다. multi-pass는 그보다도 작아 여러 번 훑어야 하므로 응답시간이 급증합니다. 목표는 대부분을 optimal로, 소수만 one-pass로 두고 multi-pass를 피하는 것입니다. 흔한 오해는 one-pass가 보이면 무조건 PGA를 키워야 한다는 것인데, 소수의 one-pass는 정상입니다. 진짜 경보는 multi-pass입니다. one-pass는 감수하고 multi-pass는 제거한다는 구분이 실전 감각입니다.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23096317"/>
      </p:ext>
    </p:extLst>
  </p:cSld>
  <p:clrMapOvr>
    <a:masterClrMapping/>
  </p:clrMapOvr>
</p:notes>
</file>

<file path=ppt/notesSlides/notesSlide10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V$PGASTAT은 인스턴스 수준 PGA 상태를 보여줍니다. 판독의 핵심은 두 줄입니다. over allocation count가 0이라는 것은 target 700M이 작업 영역 워크로드를 감당하기에 충분해서 목표를 넘겨 억지로 메모리를 더 할당한 적이 없다는 뜻입니다. 이 값이 계속 오르면 target이 작다는 신호이고 그때 V$PGA_TARGET_ADVICE로 올립니다. cache hit percentage 100%는 기동 이후 모든 작업 영역이 optimal로 돌았다는 뜻으로 이상적입니다. total PGA allocated가 target을 잠깐 소폭 넘는 것은 정상인데, target은 목표이지 절대 한도가 아니기 때문입니다. 절대 한도는 PGA_AGGREGATE_LIMIT가 담당합니다.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407394667"/>
      </p:ext>
    </p:extLst>
  </p:cSld>
  <p:clrMapOvr>
    <a:masterClrMapping/>
  </p:clrMapOvr>
</p:notes>
</file>

<file path=ppt/notesSlides/notesSlide10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V$SQL_WORKAREA_HISTOGRAM은 기동 이후 작업 영역을 크기 버킷별로 optimal·one-pass·multi-pass로 세어 보여줍니다. 실측 결과는 모든 버킷에서 onepass와 multipass가 0입니다. 즉 크기와 무관하게 모든 작업 영역이 optimal로 돌았습니다. 이것은 앞서 본 cache hit 100%, over allocation 0과 정확히 일치합니다. 세 지표가 같은 이야기를 합니다. 32에서 64메가 버킷의 큰 작업 영역 2건마저 optimal로 처리되었습니다. V$SYSSTAT의 sorts disk도 0이고 sorts memory가 6만 7천여 건입니다. 이런 건강한 상태에서는 PGA를 더 키울 이유가 없습니다.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351518051"/>
      </p:ext>
    </p:extLst>
  </p:cSld>
  <p:clrMapOvr>
    <a:masterClrMapping/>
  </p:clrMapOvr>
</p:notes>
</file>

<file path=ppt/notesSlides/notesSlide10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target을 감으로 정할 필요는 없습니다. V$PGA_TARGET_ADVICE는 현재 워크로드 이력을 여러 target 값으로 시뮬레이션해, target을 바꾸면 cache hit percentage와 over allocation count가 어떻게 변할지 예측합니다. STATISTICS_LEVEL이 TYPICAL 이상이면 자동 생성됩니다. 튜닝 절차는 두 단계입니다. 먼저 over allocation count가 0이 되는 지점 이상으로 target을 잡아 초과 할당 구간을 벗어나고, 그다음 응답시간 요구와 메모리 제약 안에서 cache hit percentage를 최대화합니다. PGA가 더 필요하면 SGA를 줄이거나 물리 메모리를 늘립니다. 핵심은 advice의 예측이 조정 후 실제 분포와 맞는지 검증하는 것입니다.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794547596"/>
      </p:ext>
    </p:extLst>
  </p:cSld>
  <p:clrMapOvr>
    <a:masterClrMapping/>
  </p:clrMapOvr>
</p:notes>
</file>

<file path=ppt/notesSlides/notesSlide10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히스토그램이 인스턴스 전체의 건강을 보여준다면, 문제가 있을 때는 누가 그리고 어느 SQL이 범인인지로 좁혀야 합니다. V$PROCESS_MEMORY는 프로세스별 PGA를 SQL, PL/SQL 같은 범주로 나눠 보여줘, ORA-04036처럼 조정 불가능한 PGA가 문제일 때 범인 세션을 지목합니다. V$SQL_WORKAREA는 커서별 작업 영역 누적 통계를 유지하며 V$SQL, V$SQL_PLAN과 조인하면 어느 커서의 어느 연산자가 몇 번 one-pass나 multi-pass로 돌았는지까지 짚습니다. one-pass나 multi-pass가 있는 커서만 뽑는 질의는 실측에선 아무 행도 반환하지 않는데, 이 빈 결과가 곧 건강 증명입니다. 실행 중 작업 영역은 V$SQL_WORKAREA_ACTIVE의 NUMBER_PASSES와 TEMPSEG_SIZE로 실시간 관찰합니다.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438205269"/>
      </p:ext>
    </p:extLst>
  </p:cSld>
  <p:clrMapOvr>
    <a:masterClrMapping/>
  </p:clrMapOvr>
</p:notes>
</file>

<file path=ppt/notesSlides/notesSlide10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실측 인스턴스는 디스크 정렬이 0인 건강한 상태여서, 1-pass와 multi-pass는 세션 하나의 작업 영역을 일부러 작게 잡아 재현합니다. 인스턴스 파라미터인 PGA_AGGREGATE_TARGET은 절대 건드리지 않습니다. 다른 세션과 인스턴스 전체에 영향을 주기 때문입니다. 대신 세션 수준에서 WORKAREA_SIZE_POLICY를 MANUAL로 바꾸고 SORT_AREA_SIZE를 64KB로 줍니다. 이 설정은 그 세션에만 적용되고 접속을 끊으면 자동으로 원복됩니다. 정렬 데이터가 작업 영역의 수십 배가 되어 반드시 디스크로 넘어갑니다. 재현 후 sorts disk 증가, 히스토그램 onepass 증가, V$SQL_WORKAREA_ACTIVE의 TEMPSEG_SIZE로 디스크로 넘친 양을 관찰합니다.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390686396"/>
      </p:ext>
    </p:extLst>
  </p:cSld>
  <p:clrMapOvr>
    <a:masterClrMapping/>
  </p:clrMapOvr>
</p:notes>
</file>

<file path=ppt/notesSlides/notesSlide10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재현의 목적은 느리게 만드는 것이 아니라 진단 지표가 어떻게 반응하는지 눈으로 익히는 것입니다. optimal 상태에서 출발해 작업 영역을 64KB로 조인 뒤 같은 정렬을 돌리면 sorts disk가 0에서 튀고 히스토그램의 onepass가 잡힙니다. 이 전후 대비가 있어야 나중에 운영에서 sorts disk가 오르거나 onepass 비율이 늘 때 작업 영역이 부족하구나를 즉시 읽어 냅니다. 축소 폭을 더 키우면 one-pass를 지나 multi-pass로 떨어지고 응답시간이 급격히 나빠지는 것을 체감합니다. 임시 공간이 부족하면 ORA-01652가 납니다. 인스턴스 수준 축소는 개인 환경 전용이며 조치 전 값 캡처와 원복이 필수입니다.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683444174"/>
      </p:ext>
    </p:extLst>
  </p:cSld>
  <p:clrMapOvr>
    <a:masterClrMapping/>
  </p:clrMapOvr>
</p:notes>
</file>

<file path=ppt/notesSlides/notesSlide10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PGA_AGGREGATE_TARGET은 목표이지 한도가 아닙니다. 실제 PGA 사용이 target을 넘을 수 있는데, target은 목표일 뿐이고 조정 가능한 메모리만 통제하기 때문입니다. 정렬 영역과 해시 영역은 조정 가능해서 오라클이 크기를 줄일 수 있지만, PL/SQL 컬렉션처럼 응용이 확보한 조정 불가능한 메모리는 줄일 수 없습니다. 이를 막는 절대 한도가 PGA_AGGREGATE_LIMIT입니다. 이 값을 넘으면 오라클이 조정 불가능한 PGA를 가장 많이 쓰는 세션의 콜을 중단하고, 그래도 넘으면 세션을 종료합니다. 그 오류가 ORA-04036입니다. 이것은 인스턴스를 지키는 안전장치가 작동했다는 신호이지 단순 메모리 부족이 아닙니다.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873476676"/>
      </p:ext>
    </p:extLst>
  </p:cSld>
  <p:clrMapOvr>
    <a:masterClrMapping/>
  </p:clrMapOvr>
</p:notes>
</file>

<file path=ppt/notesSlides/notesSlide10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흔한 실수는 ORA-04036을 단순 메모리 부족으로 해석해 물리 메모리를 늘리거나 한도를 무작정 키우는 것입니다. ORA-04036은 인스턴스 전체 PGA가 절대 한도를 넘었다는 뜻이고 진짜 원인은 대개 특정 세션의 조정 불가능한 PGA 폭주입니다. 올바른 순서는 먼저 V$PROCESS_MEMORY로 어느 세션이 어느 범주에서 메모리를 많이 쓰는지 지목하고, 그 SQL이나 PL/SQL을 고친 뒤, 필요하면 근거를 갖고 한도를 조정하는 것입니다. 한도를 키우는 것은 마지막 수단이지 처음이 아닙니다. 세션 단위 한도가 필요하면 리소스 관리자의 SESSION_PGA_LIMIT를 쓰며 초과 시 ORA-10260으로 그 세션만 종료됩니다.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662586946"/>
      </p:ext>
    </p:extLst>
  </p:cSld>
  <p:clrMapOvr>
    <a:masterClrMapping/>
  </p:clrMapOvr>
</p:notes>
</file>

<file path=ppt/notesSlides/notesSlide10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V$FILESTAT는 데이터파일마다 물리 읽기·쓰기 횟수와 소요 시간을 누적합니다. 읽기 한 번의 평균 지연은 READTIM을 PHYRDS로 나눠 추정하고, DBA_DATA_FILES와 조인하면 파일 이름별로 부하를 봅니다. 값은 기동 이후 누적이므로 특정 구간은 두 시점의 델타로 계산해야 의미가 있습니다. 파일마다 지연이 크게 다르면 그 파일이 느린 장치에 있거나 무거운 랜덤 I/O가 몰린다는 신호로 읽습니다.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669734460"/>
      </p:ext>
    </p:extLst>
  </p:cSld>
  <p:clrMapOvr>
    <a:masterClrMapping/>
  </p:clrMapOvr>
</p:notes>
</file>

<file path=ppt/notesSlides/notesSlide10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실측에서 system01은 읽기가, undotbs01은 쓰기가 압도적입니다. 딕셔너리 조회가 잦은 SYSTEM은 읽기 중심, 전 이미지를 기록하는 UNDO는 쓰기 중심인 것이 정상입니다. 용도로 설명되는 편중은 건강한 편중이며, users01의 평균 지연 0.97ms가 다른 파일의 두 배인 점만 상대 신호로 기억합니다. 읽기 병목과 쓰기 병목은 캐시·인덱스냐 DBWR·리두냐로 조치가 갈리므로 성격을 먼저 가릅니다.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51143900"/>
      </p:ext>
    </p:extLst>
  </p:cSld>
  <p:clrMapOvr>
    <a:masterClrMapping/>
  </p:clrMapOvr>
</p:notes>
</file>

<file path=ppt/notesSlides/notesSlide10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편중 자체가 문제인 것은 아닙니다. SYSTEM의 읽기, UNDO의 쓰기처럼 용도로 설명되는 편중은 정상입니다. 문제는 용도로 설명되지 않는 편중이며, 판정은 절대 임계값이 아니라 같은 인스턴스의 다른 파일 대비 몇 배인가로 합니다. 읽기 병목과 쓰기 병목은 조치가 전혀 다르므로 먼저 성격을 갈라야 합니다. 절대값 0.97ms 자체가 문제라는 뜻이 아니라, 같은 인스턴스 안에서 상대적으로 튀는지를 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815431938"/>
      </p:ext>
    </p:extLst>
  </p:cSld>
  <p:clrMapOvr>
    <a:masterClrMapping/>
  </p:clrMapOvr>
</p:notes>
</file>

<file path=ppt/notesSlides/notesSlide10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파일 유형별로 보면 부하 성격이 선명해집니다. Control File은 소량 읽기 요청이 11만 회로 많지만 잦은 접근이 정상입니다. Data File은 대량 읽기 메가바이트가 소량보다 커서 전체 스캔 같은 순차 I/O가 상당함을 보여 주며, 이는 다중 블록 읽기 설정이 성능에 직접 영향을 준다는 근거가 됩니다. 소량 읽기는 단일 블록 랜덤 I/O, 대량 읽기는 다중 블록 순차 I/O로, 이 비율이 워크로드 성격을 말해 줍니다.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654165085"/>
      </p:ext>
    </p:extLst>
  </p:cSld>
  <p:clrMapOvr>
    <a:masterClrMapping/>
  </p:clrMapOvr>
</p:notes>
</file>

<file path=ppt/notesSlides/notesSlide10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'스토리지 교체가 필요하다'는 주장에는 파일 분포로 답합니다. V$FILESTAT를 배치 전후로 조회해 델타를 내면, 특정 업무 파일 하나의 읽기와 대량 읽기만 급증한 것이 보입니다. 이는 스토리지 전체가 느린 것이 아니라 한 세그먼트에 전체 스캔이 반복된다는 뜻입니다. 원인은 인덱스를 못 타는 SQL일 수 있으니 세그먼트와 실행계획을 먼저 보고, 그래도 한계면 CALIBRATE_IO로 근거를 만든 뒤 증설을 판단합니다.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815542765"/>
      </p:ext>
    </p:extLst>
  </p:cSld>
  <p:clrMapOvr>
    <a:masterClrMapping/>
  </p:clrMapOvr>
</p:notes>
</file>

<file path=ppt/notesSlides/notesSlide10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IOSEEKTIM·IOTFRSPEED만 값이 있고 MBRC·SREADTIM·MREADTIM은 NULL입니다. 앞 둘은 오라클 기본값이고 나머지가 비어 있다는 것은 워크로드 시스템 통계도 I/O 캘리브레이션도 수행되지 않은 NOWORKLOAD 상태라는 뜻입니다. 즉 옵티마이저는 스토리지 실제 성능을 모른 채 기본값으로 비용을 계산하고 있습니다. 이것이 캘리브레이션이 필요한 상태의 실측 근거이며, 다음 단계로 CALIBRATE_IO 실행을 안내합니다.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553020049"/>
      </p:ext>
    </p:extLst>
  </p:cSld>
  <p:clrMapOvr>
    <a:masterClrMapping/>
  </p:clrMapOvr>
</p:notes>
</file>

<file path=ppt/notesSlides/notesSlide10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혼동을 막기 위해 두 개념을 구분합니다. GATHER_SYSTEM_STATS로 수집하는 워크로드 시스템 통계는 옵티마이저가 실행계획 비용을 현실적으로 계산하도록 SREADTIM·MREADTIM·MBRC를 채웁니다. CALIBRATE_IO는 스토리지의 최대 IOPS·MBPS 상한을 실측합니다. 목적이 다르고 실측에서는 둘 다 수행되지 않았습니다. 실습은 미수행 상태를 확인하고 실행 절차를 익히는 데까지가 목표입니다.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068370012"/>
      </p:ext>
    </p:extLst>
  </p:cSld>
  <p:clrMapOvr>
    <a:masterClrMapping/>
  </p:clrMapOvr>
</p:notes>
</file>

<file path=ppt/notesSlides/notesSlide10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CALIBRATE_IO는 실제 데이터파일에 랜덤 I/O를 던져 스토리지 상한을 실측합니다. 전제조건은 SYSDBA 권한, TIMED_STATISTICS=TRUE, 데이터파일 비동기 I/O 활성 세 가지입니다. 8KB 랜덤으로 max_iops를, 1MB 랜덤으로 max_mbps를 구합니다. 무거운 I/O를 유발하므로 반드시 유휴 시간에만 수행하고 한 번에 하나만 돌립니다.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489747118"/>
      </p:ext>
    </p:extLst>
  </p:cSld>
  <p:clrMapOvr>
    <a:masterClrMapping/>
  </p:clrMapOvr>
</p:notes>
</file>

<file path=ppt/notesSlides/notesSlide10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인자는 물리 디스크 수(2)와 허용 최대 지연 ms(10)입니다. 결과값은 스토리지에 전적으로 의존하므로 환경값으로 둡니다. 이 실습 DB는 미수행 상태이고 캘리브레이션은 부하가 크므로, 각자 한가한 시각에 개인 환경에서 실행해 값을 채웁니다. 같은 스토리지를 공유하는 여러 DB에서 동시에 돌리면 실패합니다. 필요하면 max_latency 인자로 허용 지연을 지정해 그 지연 안에서 낼 수 있는 IOPS를 측정할 수 있습니다.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315628447"/>
      </p:ext>
    </p:extLst>
  </p:cSld>
  <p:clrMapOvr>
    <a:masterClrMapping/>
  </p:clrMapOvr>
</p:notes>
</file>

<file path=ppt/notesSlides/notesSlide10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진행 상태는 V$IO_CALIBRATION_STATUS로, 완료 결과는 DBA_RSRC_IO_CALIBRATE로 확인합니다. 미수행이면 상태가 NOT AVAILABLE입니다. 해석은 대기 이벤트와 짝지어 합니다. max_iops가 낮은데 sequential read가 크면 랜덤 I/O 병목, max_mbps가 낮은데 scattered read가 크면 순차 대역폭 병목입니다. Orion은 설치 전 스토리지 성능 예측 도구로 소개만 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954172529"/>
      </p:ext>
    </p:extLst>
  </p:cSld>
  <p:clrMapOvr>
    <a:masterClrMapping/>
  </p:clrMapOvr>
</p:notes>
</file>

<file path=ppt/notesSlides/notesSlide10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동기 I/O는 요청을 제출한 뒤 완료 확인이 올 때까지 프로세스가 멈춥니다. 비동기 I/O는 요청이 처리되는 동안에도 다른 일을 계속하게 해 병목을 피합니다. DBWR가 여러 블록을 동시에 쓰거나 전체 스캔이 읽기를 겹쳐 던질 때 그 병렬성을 실제 성능으로 바꿔 줍니다. 가능하면 비동기 I/O를 켜는 것이 좋습니다. 플랫폼에 따라 기본으로 켜져 있기도 하고 별도 설정이 필요하기도 하므로 현재 값을 먼저 확인합니다.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830185079"/>
      </p:ext>
    </p:extLst>
  </p:cSld>
  <p:clrMapOvr>
    <a:masterClrMapping/>
  </p:clrMapOvr>
</p:notes>
</file>

<file path=ppt/notesSlides/notesSlide10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실측에서 DISK_ASYNCH_IO는 TRUE로 데이터파일 비동기 I/O는 허용돼 있고, FILESYSTEMIO_OPTIONS는 none입니다. 파일 시스템 데이터파일이라면 none은 파일 시스템 수준 비동기·직접 I/O가 모두 꺼졌다는 뜻입니다. 다만 none을 무조건 문제로 단정하지 않습니다. 플랫폼 기본값과 파일 시스템 종류를 함께 봐야 합니다. 변경은 정적 파라미터라 재기동이 필요하므로 개인 실습 환경에서만 사전 백업과 함께 수행합니다.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590019389"/>
      </p:ext>
    </p:extLst>
  </p:cSld>
  <p:clrMapOvr>
    <a:masterClrMapping/>
  </p:clrMapOvr>
</p:notes>
</file>

<file path=ppt/notesSlides/notesSlide10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FILESYSTEMIO_OPTIONS는 ASYNCH·DIRECTIO·SETALL·NONE 네 값을 가지며 SETALL이 비동기와 직접 I/O를 모두 켭니다. DB_FILE_MULTIBLOCK_READ_COUNT는 전체 스캔에서 한 번에 읽는 최대 블록 수로 실측 128, 8KB 기준 약 1MB입니다. 크면 순차 스캔이 빨라지지만 옵티마이저가 스캔을 더 선호할 수 있습니다. 효과는 db file scattered read 대기로 확인합니다. 값이 크면 순차 스캔의 I/O 호출이 줄어 빨라지지만 옵티마이저가 전체 스캔을 더 선호할 수 있어 균형이 필요합니다.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317247187"/>
      </p:ext>
    </p:extLst>
  </p:cSld>
  <p:clrMapOvr>
    <a:masterClrMapping/>
  </p:clrMapOvr>
</p:notes>
</file>

<file path=ppt/notesSlides/notesSlide10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리눅스·유닉스 파일 시스템에 데이터파일이 있으면 기본적으로 모든 I/O가 파일 시스템 캐시를 거칩니다. 오라클이 이미 버퍼 캐시로 캐싱하는데 그 위에 FS 캐시가 겹치면 이중 캐싱으로 메모리와 CPU가 낭비됩니다. 직접 I/O는 FS 캐시를 우회해 CPU를 아낍니다. 다만 TEMP나 NOCACHE LOB, 병렬 직접 읽기에는 OS 버퍼가 유리할 수 있어 선택적으로 판단합니다.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175062289"/>
      </p:ext>
    </p:extLst>
  </p:cSld>
  <p:clrMapOvr>
    <a:masterClrMapping/>
  </p:clrMapOvr>
</p:notes>
</file>

<file path=ppt/notesSlides/notesSlide10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OS 성능 문제는 프로세스·메모리·스케줄링에서 옵니다. 인스턴스를 튜닝했는데도 부족하면 시스템 시간을 줄일 여지를 보되, OS 추가 튜닝의 효과를 크게 기대하면 안 됩니다. 구성이나 애플리케이션을 바꾸는 편이 훨씬 큽니다. OS 지표는 대개 증상이므로, OS를 보는 목적은 튜닝이 아니라 병목이 DB 안인지 밖인지 가르는 데 있습니다. 오라클의 V$OSSTAT와 OS의 iostat를 같은 시간대에 겹쳐 보면 두 관점이 같은 병목을 가리키는지 교차 검증할 수 있습니다.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285500440"/>
      </p:ext>
    </p:extLst>
  </p:cSld>
  <p:clrMapOvr>
    <a:masterClrMapping/>
  </p:clrMapOvr>
</p:notes>
</file>

<file path=ppt/notesSlides/notesSlide10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8코어 호스트에 물리 메모리 약 7.5GiB입니다. LOAD 0.21은 실행 큐 대기가 1보다 훨씬 작아 CPU가 거의 놀고 있다는 뜻입니다. BUSY_TIME과 IDLE_TIME은 부팅 이후 누적 CPU 시간으로, 이것으로 사용률을 계산합니다. 이 뷰는 관리 팩 라이선스와 무관하게 조회할 수 있습니다. vmstat·sar·iostat 같은 OS 유틸리티 없이도 오라클 안에서 호스트 CPU·메모리를 직접 볼 수 있다는 점이 장점입니다.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428514902"/>
      </p:ext>
    </p:extLst>
  </p:cSld>
  <p:clrMapOvr>
    <a:masterClrMapping/>
  </p:clrMapOvr>
</p:notes>
</file>

<file path=ppt/notesSlides/notesSlide10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CPU 사용률은 BUSY_TIME을 BUSY와 IDLE의 합으로 나눠 구합니다. 실측은 약 1.8퍼센트로 캡처 순간 무부하였습니다. 이 값은 부팅 이후 누적 평균이므로 특정 구간은 두 시점의 델타로 계산해야 합니다. 사용률 하나로는 판정할 수 없습니다. 피크의 90퍼센트는 정상일 수 있고, 평상시에 이미 높으면 피크를 감당할 여유가 없다는 위험 신호입니다. 그래서 실제 판정은 무부하가 아니라 WL_02_io로 부하를 준 구간의 델타로 수행합니다.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853261247"/>
      </p:ext>
    </p:extLst>
  </p:cSld>
  <p:clrMapOvr>
    <a:masterClrMapping/>
  </p:clrMapOvr>
</p:notes>
</file>

<file path=ppt/notesSlides/notesSlide10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병목 위치는 OS CPU 사용률과 DB Time 구성을 대조해 가릅니다. CPU가 높고 그것을 오라클이 쓰며 DB CPU 비중도 높으면 병목은 DB 안이고 SQL을 튜닝합니다. CPU는 높은데 비오라클 프로세스가 쓰면 병목은 DB 밖입니다. CPU가 한가한데 DB Time이 대부분 대기면 I/O나 잠금 대기입니다. 무부하 실측은 대조군이라 실제 판정은 부하 후 델타로 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459022884"/>
      </p:ext>
    </p:extLst>
  </p:cSld>
  <p:clrMapOvr>
    <a:masterClrMapping/>
  </p:clrMapOvr>
</p:notes>
</file>

<file path=ppt/notesSlides/notesSlide10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한 DBA가 히트율이 낮다며 SGA를 키워 캐시를 늘리자고 제안하지만 서버 메모리는 이미 빠듯합니다. 먼저 PHYSICAL_MEMORY_BYTES와 SGA·PGA 합, 그리고 스왑 인·아웃을 봅니다. 스와핑이 관측되면 SGA 확대는 스왑을 악화시키고 늘린 캐시가 스왑으로 나가 오히려 느려집니다. 히트율은 원인이 아니라 증상일 수 있습니다. 스와핑부터 해소하고 필요하면 메모리를 늘린 뒤에 캐시를 키우는 것이 올바른 순서입니다.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810747108"/>
      </p:ext>
    </p:extLst>
  </p:cSld>
  <p:clrMapOvr>
    <a:masterClrMapping/>
  </p:clrMapOvr>
</p:notes>
</file>

<file path=ppt/notesSlides/notesSlide10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물리 메모리가 부족하면 OS가 페이지를 스왑으로 밀어내 성능이 급락합니다. PHYSICAL_MEMORY_BYTES와 SGA+PGA 합을 대조해 위험을 점검합니다. 실측 물리 메모리는 약 7.5GiB이고 인스턴스는 ASMM으로 운영됩니다. 스와핑 중에 SGA를 키우는 것은 최악의 조치로, 물리 메모리를 더 잠식해 스왑을 악화시킵니다. 스와핑부터 해소하거나 메모리를 늘린 뒤에야 캐시를 키웁니다.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338626183"/>
      </p:ext>
    </p:extLst>
  </p:cSld>
  <p:clrMapOvr>
    <a:masterClrMapping/>
  </p:clrMapOvr>
</p:notes>
</file>

<file path=ppt/notesSlides/notesSlide10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SQL*Net message from client는 데이터베이스가 클라이언트에게 다음 요청을 보내 달라고 기다리는 유휴 시간입니다. 사용자가 생각하고 애플리케이션이 결과를 처리하는 시간이 모두 여기 쌓여 거의 언제나 대기 상위에 오릅니다. 한가한 시스템일수록 비중이 큽니다. 대기 클래스가 Idle이므로 병목 순위에서 제외해야 하며, 병목으로 세면 한가할수록 네트워크 탓이라는 엉뚱한 결론이 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744662605"/>
      </p:ext>
    </p:extLst>
  </p:cSld>
  <p:clrMapOvr>
    <a:masterClrMapping/>
  </p:clrMapOvr>
</p:notes>
</file>

<file path=ppt/notesSlides/notesSlide10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진짜 네트워크 지연은 데이터를 실제로 주고받는 이벤트로 드러납니다. SQL*Net more data to·from client가 크고 전송량 대비 시간이 길면 대량 전송이나 네트워크를 의심하고, SQL*Net message from dblink가 크면 원격 DB나 링크 구간을 점검합니다. 대부분의 경우 유휴 대기 뒤에 숨은 비유휴 대기, 즉 느린 SQL이나 잠금·I/O가 진짜 병목입니다.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257640896"/>
      </p:ext>
    </p:extLst>
  </p:cSld>
  <p:clrMapOvr>
    <a:masterClrMapping/>
  </p:clrMapOvr>
</p:notes>
</file>

<file path=ppt/notesSlides/notesSlide10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1장에서 세운 측정, 진단, 조치, 재측정 순환을 I/O·OS 진단에 그대로 대입하면 스무 개 장이 하나의 방법론이었음이 드러납니다. 측정은 DB Time을 축으로 대기를 분해하고, 진단은 병목이 DB 안인지 밖인지를 가르며, 조치는 원인별로 하되 스와핑이면 SGA를 키우지 않습니다. 재측정은 같은 지표를 델타로 다시 잽니다. 20장의 역할은 DB 안과 밖의 경계를 긋는 것입니다.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95016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6.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8.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9.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0.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3.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4.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5.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6.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8.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9.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0.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1.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3.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4.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5.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6.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8.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9.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0.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1.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3.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4.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5.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6.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8.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9.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0.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1.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3.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4.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5.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6.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8.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9.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0.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1.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3.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4.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5.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6.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8.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9.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0.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1.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3.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4.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5.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6.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8.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9.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0.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1.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3.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4.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5.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6.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8.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9.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0.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1.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3.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4.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5.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6.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8.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9.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0.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1.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3.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4.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5.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6.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8.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9.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0.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1.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3.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4.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5.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6.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8.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9.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0.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1.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3.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4.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5.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6.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8.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9.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0.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1.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2.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3.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4.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5.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6.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8.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9.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0.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1.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2.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3.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4.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5.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6.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8.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9.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0.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1.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2.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3.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4.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5.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6.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8.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9.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0.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1.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2.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3.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4.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5.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6.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7.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8.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9.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0.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1.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2.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3.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4.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5.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6.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7.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8.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9.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0.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1.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2.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3.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4.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5.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6.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7.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8.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9.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0.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1.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2.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3.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4.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5.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6.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7.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8.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9.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0.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1.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2.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3.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4.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5.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6.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7.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8.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9.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0.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1.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2.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3.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4.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5.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6.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7.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8.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9.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0.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1.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2.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3.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4.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5.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6.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7.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8.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9.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0.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1.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2.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3.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4.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5.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6.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7.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8.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9.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0.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1.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2.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3.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4.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5.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6.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7.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8.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9.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0.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1.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2.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3.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4.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5.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6.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7.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8.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9.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0.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1.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2.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3.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4.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5.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6.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7.xml"/></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8.xml"/></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9.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0.xm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1.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2.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3.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4.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5.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6.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7.xml"/></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8.xml"/></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9.xml"/></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0.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1.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2.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3.xml"/></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4.xml"/></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5.xml"/></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6.xml"/></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7.xml"/></Relationships>
</file>

<file path=ppt/slides/_rels/slide3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8.xml"/></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9.xml"/></Relationships>
</file>

<file path=ppt/slides/_rels/slide3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0.xml"/></Relationships>
</file>

<file path=ppt/slides/_rels/slide3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1.xml"/></Relationships>
</file>

<file path=ppt/slides/_rels/slide3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2.xml"/></Relationships>
</file>

<file path=ppt/slides/_rels/slide3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3.xml"/></Relationships>
</file>

<file path=ppt/slides/_rels/slide3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4.xml"/></Relationships>
</file>

<file path=ppt/slides/_rels/slide3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5.xml"/></Relationships>
</file>

<file path=ppt/slides/_rels/slide3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6.xml"/></Relationships>
</file>

<file path=ppt/slides/_rels/slide3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7.xml"/></Relationships>
</file>

<file path=ppt/slides/_rels/slide3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8.xml"/></Relationships>
</file>

<file path=ppt/slides/_rels/slide3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9.xml"/></Relationships>
</file>

<file path=ppt/slides/_rels/slide3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0.xml"/></Relationships>
</file>

<file path=ppt/slides/_rels/slide3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1.xml"/></Relationships>
</file>

<file path=ppt/slides/_rels/slide3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2.xml"/></Relationships>
</file>

<file path=ppt/slides/_rels/slide3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3.xml"/></Relationships>
</file>

<file path=ppt/slides/_rels/slide4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4.xml"/></Relationships>
</file>

<file path=ppt/slides/_rels/slide4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5.xml"/></Relationships>
</file>

<file path=ppt/slides/_rels/slide4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6.xml"/></Relationships>
</file>

<file path=ppt/slides/_rels/slide4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7.xml"/></Relationships>
</file>

<file path=ppt/slides/_rels/slide4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8.xml"/></Relationships>
</file>

<file path=ppt/slides/_rels/slide4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9.xml"/></Relationships>
</file>

<file path=ppt/slides/_rels/slide4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0.xml"/></Relationships>
</file>

<file path=ppt/slides/_rels/slide4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1.xml"/></Relationships>
</file>

<file path=ppt/slides/_rels/slide4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2.xml"/></Relationships>
</file>

<file path=ppt/slides/_rels/slide4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3.xml"/></Relationships>
</file>

<file path=ppt/slides/_rels/slide4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4.xml"/></Relationships>
</file>

<file path=ppt/slides/_rels/slide4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5.xml"/></Relationships>
</file>

<file path=ppt/slides/_rels/slide4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6.xml"/></Relationships>
</file>

<file path=ppt/slides/_rels/slide4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7.xml"/></Relationships>
</file>

<file path=ppt/slides/_rels/slide4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8.xml"/></Relationships>
</file>

<file path=ppt/slides/_rels/slide4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9.xml"/></Relationships>
</file>

<file path=ppt/slides/_rels/slide4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0.xml"/></Relationships>
</file>

<file path=ppt/slides/_rels/slide4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1.xml"/></Relationships>
</file>

<file path=ppt/slides/_rels/slide4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2.xml"/></Relationships>
</file>

<file path=ppt/slides/_rels/slide4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3.xml"/></Relationships>
</file>

<file path=ppt/slides/_rels/slide4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4.xml"/></Relationships>
</file>

<file path=ppt/slides/_rels/slide4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5.xml"/></Relationships>
</file>

<file path=ppt/slides/_rels/slide4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6.xml"/></Relationships>
</file>

<file path=ppt/slides/_rels/slide4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7.xml"/></Relationships>
</file>

<file path=ppt/slides/_rels/slide4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8.xml"/></Relationships>
</file>

<file path=ppt/slides/_rels/slide4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9.xml"/></Relationships>
</file>

<file path=ppt/slides/_rels/slide4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0.xml"/></Relationships>
</file>

<file path=ppt/slides/_rels/slide4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1.xml"/></Relationships>
</file>

<file path=ppt/slides/_rels/slide4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2.xml"/></Relationships>
</file>

<file path=ppt/slides/_rels/slide4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3.xml"/></Relationships>
</file>

<file path=ppt/slides/_rels/slide4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4.xml"/></Relationships>
</file>

<file path=ppt/slides/_rels/slide4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5.xml"/></Relationships>
</file>

<file path=ppt/slides/_rels/slide4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6.xml"/></Relationships>
</file>

<file path=ppt/slides/_rels/slide4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7.xml"/></Relationships>
</file>

<file path=ppt/slides/_rels/slide4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8.xml"/></Relationships>
</file>

<file path=ppt/slides/_rels/slide4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9.xml"/></Relationships>
</file>

<file path=ppt/slides/_rels/slide4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0.xml"/></Relationships>
</file>

<file path=ppt/slides/_rels/slide4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1.xml"/></Relationships>
</file>

<file path=ppt/slides/_rels/slide4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2.xml"/></Relationships>
</file>

<file path=ppt/slides/_rels/slide4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3.xml"/></Relationships>
</file>

<file path=ppt/slides/_rels/slide4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4.xml"/></Relationships>
</file>

<file path=ppt/slides/_rels/slide4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5.xml"/></Relationships>
</file>

<file path=ppt/slides/_rels/slide4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6.xml"/></Relationships>
</file>

<file path=ppt/slides/_rels/slide4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7.xml"/></Relationships>
</file>

<file path=ppt/slides/_rels/slide4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8.xml"/></Relationships>
</file>

<file path=ppt/slides/_rels/slide4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9.xml"/></Relationships>
</file>

<file path=ppt/slides/_rels/slide4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0.xml"/></Relationships>
</file>

<file path=ppt/slides/_rels/slide4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1.xml"/></Relationships>
</file>

<file path=ppt/slides/_rels/slide4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2.xml"/></Relationships>
</file>

<file path=ppt/slides/_rels/slide4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3.xml"/></Relationships>
</file>

<file path=ppt/slides/_rels/slide4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4.xml"/></Relationships>
</file>

<file path=ppt/slides/_rels/slide4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5.xml"/></Relationships>
</file>

<file path=ppt/slides/_rels/slide4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6.xml"/></Relationships>
</file>

<file path=ppt/slides/_rels/slide4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7.xml"/></Relationships>
</file>

<file path=ppt/slides/_rels/slide4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8.xml"/></Relationships>
</file>

<file path=ppt/slides/_rels/slide4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9.xml"/></Relationships>
</file>

<file path=ppt/slides/_rels/slide4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0.xml"/></Relationships>
</file>

<file path=ppt/slides/_rels/slide4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1.xml"/></Relationships>
</file>

<file path=ppt/slides/_rels/slide4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2.xml"/></Relationships>
</file>

<file path=ppt/slides/_rels/slide4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3.xml"/></Relationships>
</file>

<file path=ppt/slides/_rels/slide4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4.xml"/></Relationships>
</file>

<file path=ppt/slides/_rels/slide4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5.xml"/></Relationships>
</file>

<file path=ppt/slides/_rels/slide4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6.xml"/></Relationships>
</file>

<file path=ppt/slides/_rels/slide4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7.xml"/></Relationships>
</file>

<file path=ppt/slides/_rels/slide4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8.xml"/></Relationships>
</file>

<file path=ppt/slides/_rels/slide4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9.xml"/></Relationships>
</file>

<file path=ppt/slides/_rels/slide4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0.xml"/></Relationships>
</file>

<file path=ppt/slides/_rels/slide4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1.xml"/></Relationships>
</file>

<file path=ppt/slides/_rels/slide4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2.xml"/></Relationships>
</file>

<file path=ppt/slides/_rels/slide4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3.xml"/></Relationships>
</file>

<file path=ppt/slides/_rels/slide4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4.xml"/></Relationships>
</file>

<file path=ppt/slides/_rels/slide4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5.xml"/></Relationships>
</file>

<file path=ppt/slides/_rels/slide4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6.xml"/></Relationships>
</file>

<file path=ppt/slides/_rels/slide4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7.xml"/></Relationships>
</file>

<file path=ppt/slides/_rels/slide4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8.xml"/></Relationships>
</file>

<file path=ppt/slides/_rels/slide4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9.xml"/></Relationships>
</file>

<file path=ppt/slides/_rels/slide4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0.xml"/></Relationships>
</file>

<file path=ppt/slides/_rels/slide4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1.xml"/></Relationships>
</file>

<file path=ppt/slides/_rels/slide4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2.xml"/></Relationships>
</file>

<file path=ppt/slides/_rels/slide4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3.xml"/></Relationships>
</file>

<file path=ppt/slides/_rels/slide4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4.xml"/></Relationships>
</file>

<file path=ppt/slides/_rels/slide4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5.xml"/></Relationships>
</file>

<file path=ppt/slides/_rels/slide4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6.xml"/></Relationships>
</file>

<file path=ppt/slides/_rels/slide4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7.xml"/></Relationships>
</file>

<file path=ppt/slides/_rels/slide4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8.xml"/></Relationships>
</file>

<file path=ppt/slides/_rels/slide4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9.xml"/></Relationships>
</file>

<file path=ppt/slides/_rels/slide4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0.xml"/></Relationships>
</file>

<file path=ppt/slides/_rels/slide4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1.xml"/></Relationships>
</file>

<file path=ppt/slides/_rels/slide4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2.xml"/></Relationships>
</file>

<file path=ppt/slides/_rels/slide4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3.xml"/></Relationships>
</file>

<file path=ppt/slides/_rels/slide4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4.xml"/></Relationships>
</file>

<file path=ppt/slides/_rels/slide4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5.xml"/></Relationships>
</file>

<file path=ppt/slides/_rels/slide4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6.xml"/></Relationships>
</file>

<file path=ppt/slides/_rels/slide4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7.xml"/></Relationships>
</file>

<file path=ppt/slides/_rels/slide4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8.xml"/></Relationships>
</file>

<file path=ppt/slides/_rels/slide4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9.xml"/></Relationships>
</file>

<file path=ppt/slides/_rels/slide4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0.xml"/></Relationships>
</file>

<file path=ppt/slides/_rels/slide4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1.xml"/></Relationships>
</file>

<file path=ppt/slides/_rels/slide4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2.xml"/></Relationships>
</file>

<file path=ppt/slides/_rels/slide4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3.xml"/></Relationships>
</file>

<file path=ppt/slides/_rels/slide5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4.xml"/></Relationships>
</file>

<file path=ppt/slides/_rels/slide5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5.xml"/></Relationships>
</file>

<file path=ppt/slides/_rels/slide5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6.xml"/></Relationships>
</file>

<file path=ppt/slides/_rels/slide5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7.xml"/></Relationships>
</file>

<file path=ppt/slides/_rels/slide5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8.xml"/></Relationships>
</file>

<file path=ppt/slides/_rels/slide5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9.xml"/></Relationships>
</file>

<file path=ppt/slides/_rels/slide5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0.xml"/></Relationships>
</file>

<file path=ppt/slides/_rels/slide5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1.xml"/></Relationships>
</file>

<file path=ppt/slides/_rels/slide5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2.xml"/></Relationships>
</file>

<file path=ppt/slides/_rels/slide5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3.xml"/></Relationships>
</file>

<file path=ppt/slides/_rels/slide5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4.xml"/></Relationships>
</file>

<file path=ppt/slides/_rels/slide5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5.xml"/></Relationships>
</file>

<file path=ppt/slides/_rels/slide5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6.xml"/></Relationships>
</file>

<file path=ppt/slides/_rels/slide5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7.xml"/></Relationships>
</file>

<file path=ppt/slides/_rels/slide5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8.xml"/></Relationships>
</file>

<file path=ppt/slides/_rels/slide5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9.xml"/></Relationships>
</file>

<file path=ppt/slides/_rels/slide5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0.xml"/></Relationships>
</file>

<file path=ppt/slides/_rels/slide5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1.xml"/></Relationships>
</file>

<file path=ppt/slides/_rels/slide5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2.xml"/></Relationships>
</file>

<file path=ppt/slides/_rels/slide5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3.xml"/></Relationships>
</file>

<file path=ppt/slides/_rels/slide5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4.xml"/></Relationships>
</file>

<file path=ppt/slides/_rels/slide5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5.xml"/></Relationships>
</file>

<file path=ppt/slides/_rels/slide5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6.xml"/></Relationships>
</file>

<file path=ppt/slides/_rels/slide5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7.xml"/></Relationships>
</file>

<file path=ppt/slides/_rels/slide5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8.xml"/></Relationships>
</file>

<file path=ppt/slides/_rels/slide5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9.xml"/></Relationships>
</file>

<file path=ppt/slides/_rels/slide5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0.xml"/></Relationships>
</file>

<file path=ppt/slides/_rels/slide5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1.xml"/></Relationships>
</file>

<file path=ppt/slides/_rels/slide5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2.xml"/></Relationships>
</file>

<file path=ppt/slides/_rels/slide5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3.xml"/></Relationships>
</file>

<file path=ppt/slides/_rels/slide5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4.xml"/></Relationships>
</file>

<file path=ppt/slides/_rels/slide5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5.xml"/></Relationships>
</file>

<file path=ppt/slides/_rels/slide5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6.xml"/></Relationships>
</file>

<file path=ppt/slides/_rels/slide5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7.xml"/></Relationships>
</file>

<file path=ppt/slides/_rels/slide5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8.xml"/></Relationships>
</file>

<file path=ppt/slides/_rels/slide5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9.xml"/></Relationships>
</file>

<file path=ppt/slides/_rels/slide5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0.xml"/></Relationships>
</file>

<file path=ppt/slides/_rels/slide5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1.xml"/></Relationships>
</file>

<file path=ppt/slides/_rels/slide5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2.xml"/></Relationships>
</file>

<file path=ppt/slides/_rels/slide5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3.xml"/></Relationships>
</file>

<file path=ppt/slides/_rels/slide5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4.xml"/></Relationships>
</file>

<file path=ppt/slides/_rels/slide5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5.xml"/></Relationships>
</file>

<file path=ppt/slides/_rels/slide5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6.xml"/></Relationships>
</file>

<file path=ppt/slides/_rels/slide5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7.xml"/></Relationships>
</file>

<file path=ppt/slides/_rels/slide5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8.xml"/></Relationships>
</file>

<file path=ppt/slides/_rels/slide5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9.xml"/></Relationships>
</file>

<file path=ppt/slides/_rels/slide5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0.xml"/></Relationships>
</file>

<file path=ppt/slides/_rels/slide5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1.xml"/></Relationships>
</file>

<file path=ppt/slides/_rels/slide5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2.xml"/></Relationships>
</file>

<file path=ppt/slides/_rels/slide5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3.xml"/></Relationships>
</file>

<file path=ppt/slides/_rels/slide5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4.xml"/></Relationships>
</file>

<file path=ppt/slides/_rels/slide5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5.xml"/></Relationships>
</file>

<file path=ppt/slides/_rels/slide5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6.xml"/></Relationships>
</file>

<file path=ppt/slides/_rels/slide5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7.xml"/></Relationships>
</file>

<file path=ppt/slides/_rels/slide5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8.xml"/></Relationships>
</file>

<file path=ppt/slides/_rels/slide5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9.xml"/></Relationships>
</file>

<file path=ppt/slides/_rels/slide5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0.xml"/></Relationships>
</file>

<file path=ppt/slides/_rels/slide5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1.xml"/></Relationships>
</file>

<file path=ppt/slides/_rels/slide5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2.xml"/></Relationships>
</file>

<file path=ppt/slides/_rels/slide5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3.xml"/></Relationships>
</file>

<file path=ppt/slides/_rels/slide5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4.xml"/></Relationships>
</file>

<file path=ppt/slides/_rels/slide5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5.xml"/></Relationships>
</file>

<file path=ppt/slides/_rels/slide5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6.xml"/></Relationships>
</file>

<file path=ppt/slides/_rels/slide5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7.xml"/></Relationships>
</file>

<file path=ppt/slides/_rels/slide5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8.xml"/></Relationships>
</file>

<file path=ppt/slides/_rels/slide5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9.xml"/></Relationships>
</file>

<file path=ppt/slides/_rels/slide5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0.xml"/></Relationships>
</file>

<file path=ppt/slides/_rels/slide5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1.xml"/></Relationships>
</file>

<file path=ppt/slides/_rels/slide5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2.xml"/></Relationships>
</file>

<file path=ppt/slides/_rels/slide5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3.xml"/></Relationships>
</file>

<file path=ppt/slides/_rels/slide5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4.xml"/></Relationships>
</file>

<file path=ppt/slides/_rels/slide5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5.xml"/></Relationships>
</file>

<file path=ppt/slides/_rels/slide5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6.xml"/></Relationships>
</file>

<file path=ppt/slides/_rels/slide5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7.xml"/></Relationships>
</file>

<file path=ppt/slides/_rels/slide5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8.xml"/></Relationships>
</file>

<file path=ppt/slides/_rels/slide5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9.xml"/></Relationships>
</file>

<file path=ppt/slides/_rels/slide5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0.xml"/></Relationships>
</file>

<file path=ppt/slides/_rels/slide5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1.xml"/></Relationships>
</file>

<file path=ppt/slides/_rels/slide5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2.xml"/></Relationships>
</file>

<file path=ppt/slides/_rels/slide5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3.xml"/></Relationships>
</file>

<file path=ppt/slides/_rels/slide5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4.xml"/></Relationships>
</file>

<file path=ppt/slides/_rels/slide5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5.xml"/></Relationships>
</file>

<file path=ppt/slides/_rels/slide5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6.xml"/></Relationships>
</file>

<file path=ppt/slides/_rels/slide5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7.xml"/></Relationships>
</file>

<file path=ppt/slides/_rels/slide5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8.xml"/></Relationships>
</file>

<file path=ppt/slides/_rels/slide5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9.xml"/></Relationships>
</file>

<file path=ppt/slides/_rels/slide5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0.xml"/></Relationships>
</file>

<file path=ppt/slides/_rels/slide5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1.xml"/></Relationships>
</file>

<file path=ppt/slides/_rels/slide5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2.xml"/></Relationships>
</file>

<file path=ppt/slides/_rels/slide5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3.xml"/></Relationships>
</file>

<file path=ppt/slides/_rels/slide5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4.xml"/></Relationships>
</file>

<file path=ppt/slides/_rels/slide5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5.xml"/></Relationships>
</file>

<file path=ppt/slides/_rels/slide5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6.xml"/></Relationships>
</file>

<file path=ppt/slides/_rels/slide5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7.xml"/></Relationships>
</file>

<file path=ppt/slides/_rels/slide5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8.xml"/></Relationships>
</file>

<file path=ppt/slides/_rels/slide5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9.xml"/></Relationships>
</file>

<file path=ppt/slides/_rels/slide5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0.xml"/></Relationships>
</file>

<file path=ppt/slides/_rels/slide5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1.xml"/></Relationships>
</file>

<file path=ppt/slides/_rels/slide5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2.xml"/></Relationships>
</file>

<file path=ppt/slides/_rels/slide6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3.xml"/></Relationships>
</file>

<file path=ppt/slides/_rels/slide6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4.xml"/></Relationships>
</file>

<file path=ppt/slides/_rels/slide6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5.xml"/></Relationships>
</file>

<file path=ppt/slides/_rels/slide6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6.xml"/></Relationships>
</file>

<file path=ppt/slides/_rels/slide6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7.xml"/></Relationships>
</file>

<file path=ppt/slides/_rels/slide6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8.xml"/></Relationships>
</file>

<file path=ppt/slides/_rels/slide6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9.xml"/></Relationships>
</file>

<file path=ppt/slides/_rels/slide6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0.xml"/></Relationships>
</file>

<file path=ppt/slides/_rels/slide6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1.xml"/></Relationships>
</file>

<file path=ppt/slides/_rels/slide6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2.xml"/></Relationships>
</file>

<file path=ppt/slides/_rels/slide6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3.xml"/></Relationships>
</file>

<file path=ppt/slides/_rels/slide6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4.xml"/></Relationships>
</file>

<file path=ppt/slides/_rels/slide6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5.xml"/></Relationships>
</file>

<file path=ppt/slides/_rels/slide6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6.xml"/></Relationships>
</file>

<file path=ppt/slides/_rels/slide6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7.xml"/></Relationships>
</file>

<file path=ppt/slides/_rels/slide6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8.xml"/></Relationships>
</file>

<file path=ppt/slides/_rels/slide6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9.xml"/></Relationships>
</file>

<file path=ppt/slides/_rels/slide6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0.xml"/></Relationships>
</file>

<file path=ppt/slides/_rels/slide6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1.xml"/></Relationships>
</file>

<file path=ppt/slides/_rels/slide6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2.xml"/></Relationships>
</file>

<file path=ppt/slides/_rels/slide6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3.xml"/></Relationships>
</file>

<file path=ppt/slides/_rels/slide6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4.xml"/></Relationships>
</file>

<file path=ppt/slides/_rels/slide6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5.xml"/></Relationships>
</file>

<file path=ppt/slides/_rels/slide6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6.xml"/></Relationships>
</file>

<file path=ppt/slides/_rels/slide6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7.xml"/></Relationships>
</file>

<file path=ppt/slides/_rels/slide6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8.xml"/></Relationships>
</file>

<file path=ppt/slides/_rels/slide6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9.xml"/></Relationships>
</file>

<file path=ppt/slides/_rels/slide6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0.xml"/></Relationships>
</file>

<file path=ppt/slides/_rels/slide6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1.xml"/></Relationships>
</file>

<file path=ppt/slides/_rels/slide6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2.xml"/></Relationships>
</file>

<file path=ppt/slides/_rels/slide6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3.xml"/></Relationships>
</file>

<file path=ppt/slides/_rels/slide6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4.xml"/></Relationships>
</file>

<file path=ppt/slides/_rels/slide6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5.xml"/></Relationships>
</file>

<file path=ppt/slides/_rels/slide6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6.xml"/></Relationships>
</file>

<file path=ppt/slides/_rels/slide6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7.xml"/></Relationships>
</file>

<file path=ppt/slides/_rels/slide6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8.xml"/></Relationships>
</file>

<file path=ppt/slides/_rels/slide6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9.xml"/></Relationships>
</file>

<file path=ppt/slides/_rels/slide6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0.xml"/></Relationships>
</file>

<file path=ppt/slides/_rels/slide6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1.xml"/></Relationships>
</file>

<file path=ppt/slides/_rels/slide6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2.xml"/></Relationships>
</file>

<file path=ppt/slides/_rels/slide6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3.xml"/></Relationships>
</file>

<file path=ppt/slides/_rels/slide6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4.xml"/></Relationships>
</file>

<file path=ppt/slides/_rels/slide6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5.xml"/></Relationships>
</file>

<file path=ppt/slides/_rels/slide6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6.xml"/></Relationships>
</file>

<file path=ppt/slides/_rels/slide6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7.xml"/></Relationships>
</file>

<file path=ppt/slides/_rels/slide6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8.xml"/></Relationships>
</file>

<file path=ppt/slides/_rels/slide6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9.xml"/></Relationships>
</file>

<file path=ppt/slides/_rels/slide6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0.xml"/></Relationships>
</file>

<file path=ppt/slides/_rels/slide6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1.xml"/></Relationships>
</file>

<file path=ppt/slides/_rels/slide6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2.xml"/></Relationships>
</file>

<file path=ppt/slides/_rels/slide6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3.xml"/></Relationships>
</file>

<file path=ppt/slides/_rels/slide6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4.xml"/></Relationships>
</file>

<file path=ppt/slides/_rels/slide6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5.xml"/></Relationships>
</file>

<file path=ppt/slides/_rels/slide6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6.xml"/></Relationships>
</file>

<file path=ppt/slides/_rels/slide6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7.xml"/></Relationships>
</file>

<file path=ppt/slides/_rels/slide6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8.xml"/></Relationships>
</file>

<file path=ppt/slides/_rels/slide6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9.xml"/></Relationships>
</file>

<file path=ppt/slides/_rels/slide6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0.xml"/></Relationships>
</file>

<file path=ppt/slides/_rels/slide6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1.xml"/></Relationships>
</file>

<file path=ppt/slides/_rels/slide6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2.xml"/></Relationships>
</file>

<file path=ppt/slides/_rels/slide6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3.xml"/></Relationships>
</file>

<file path=ppt/slides/_rels/slide6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4.xml"/></Relationships>
</file>

<file path=ppt/slides/_rels/slide6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5.xml"/></Relationships>
</file>

<file path=ppt/slides/_rels/slide6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6.xml"/></Relationships>
</file>

<file path=ppt/slides/_rels/slide6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7.xml"/></Relationships>
</file>

<file path=ppt/slides/_rels/slide6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8.xml"/></Relationships>
</file>

<file path=ppt/slides/_rels/slide6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9.xml"/></Relationships>
</file>

<file path=ppt/slides/_rels/slide6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0.xml"/></Relationships>
</file>

<file path=ppt/slides/_rels/slide7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1.xml"/></Relationships>
</file>

<file path=ppt/slides/_rels/slide7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2.xml"/></Relationships>
</file>

<file path=ppt/slides/_rels/slide7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3.xml"/></Relationships>
</file>

<file path=ppt/slides/_rels/slide7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4.xml"/></Relationships>
</file>

<file path=ppt/slides/_rels/slide7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5.xml"/></Relationships>
</file>

<file path=ppt/slides/_rels/slide7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6.xml"/></Relationships>
</file>

<file path=ppt/slides/_rels/slide7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7.xml"/></Relationships>
</file>

<file path=ppt/slides/_rels/slide7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8.xml"/></Relationships>
</file>

<file path=ppt/slides/_rels/slide7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9.xml"/></Relationships>
</file>

<file path=ppt/slides/_rels/slide7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0.xml"/></Relationships>
</file>

<file path=ppt/slides/_rels/slide7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1.xml"/></Relationships>
</file>

<file path=ppt/slides/_rels/slide7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2.xml"/></Relationships>
</file>

<file path=ppt/slides/_rels/slide7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3.xml"/></Relationships>
</file>

<file path=ppt/slides/_rels/slide7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4.xml"/></Relationships>
</file>

<file path=ppt/slides/_rels/slide7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5.xml"/></Relationships>
</file>

<file path=ppt/slides/_rels/slide7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6.xml"/></Relationships>
</file>

<file path=ppt/slides/_rels/slide7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7.xml"/></Relationships>
</file>

<file path=ppt/slides/_rels/slide7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8.xml"/></Relationships>
</file>

<file path=ppt/slides/_rels/slide7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9.xml"/></Relationships>
</file>

<file path=ppt/slides/_rels/slide7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0.xml"/></Relationships>
</file>

<file path=ppt/slides/_rels/slide7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1.xml"/></Relationships>
</file>

<file path=ppt/slides/_rels/slide7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2.xml"/></Relationships>
</file>

<file path=ppt/slides/_rels/slide7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3.xml"/></Relationships>
</file>

<file path=ppt/slides/_rels/slide7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4.xml"/></Relationships>
</file>

<file path=ppt/slides/_rels/slide7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5.xml"/></Relationships>
</file>

<file path=ppt/slides/_rels/slide7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6.xml"/></Relationships>
</file>

<file path=ppt/slides/_rels/slide7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7.xml"/></Relationships>
</file>

<file path=ppt/slides/_rels/slide7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8.xml"/></Relationships>
</file>

<file path=ppt/slides/_rels/slide7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9.xml"/></Relationships>
</file>

<file path=ppt/slides/_rels/slide7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0.xml"/></Relationships>
</file>

<file path=ppt/slides/_rels/slide7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1.xml"/></Relationships>
</file>

<file path=ppt/slides/_rels/slide7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2.xml"/></Relationships>
</file>

<file path=ppt/slides/_rels/slide7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3.xml"/></Relationships>
</file>

<file path=ppt/slides/_rels/slide7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4.xml"/></Relationships>
</file>

<file path=ppt/slides/_rels/slide7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5.xml"/></Relationships>
</file>

<file path=ppt/slides/_rels/slide7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6.xml"/></Relationships>
</file>

<file path=ppt/slides/_rels/slide7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7.xml"/></Relationships>
</file>

<file path=ppt/slides/_rels/slide7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8.xml"/></Relationships>
</file>

<file path=ppt/slides/_rels/slide7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9.xml"/></Relationships>
</file>

<file path=ppt/slides/_rels/slide7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0.xml"/></Relationships>
</file>

<file path=ppt/slides/_rels/slide7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1.xml"/></Relationships>
</file>

<file path=ppt/slides/_rels/slide7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2.xml"/></Relationships>
</file>

<file path=ppt/slides/_rels/slide7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3.xml"/></Relationships>
</file>

<file path=ppt/slides/_rels/slide7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4.xml"/></Relationships>
</file>

<file path=ppt/slides/_rels/slide7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5.xml"/></Relationships>
</file>

<file path=ppt/slides/_rels/slide7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6.xml"/></Relationships>
</file>

<file path=ppt/slides/_rels/slide7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7.xml"/></Relationships>
</file>

<file path=ppt/slides/_rels/slide7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8.xml"/></Relationships>
</file>

<file path=ppt/slides/_rels/slide7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9.xml"/></Relationships>
</file>

<file path=ppt/slides/_rels/slide7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0.xml"/></Relationships>
</file>

<file path=ppt/slides/_rels/slide7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1.xml"/></Relationships>
</file>

<file path=ppt/slides/_rels/slide7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2.xml"/></Relationships>
</file>

<file path=ppt/slides/_rels/slide7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3.xml"/></Relationships>
</file>

<file path=ppt/slides/_rels/slide7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4.xml"/></Relationships>
</file>

<file path=ppt/slides/_rels/slide7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5.xml"/></Relationships>
</file>

<file path=ppt/slides/_rels/slide7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6.xml"/></Relationships>
</file>

<file path=ppt/slides/_rels/slide7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7.xml"/></Relationships>
</file>

<file path=ppt/slides/_rels/slide7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8.xml"/></Relationships>
</file>

<file path=ppt/slides/_rels/slide7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9.xml"/></Relationships>
</file>

<file path=ppt/slides/_rels/slide7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0.xml"/></Relationships>
</file>

<file path=ppt/slides/_rels/slide7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1.xml"/></Relationships>
</file>

<file path=ppt/slides/_rels/slide7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2.xml"/></Relationships>
</file>

<file path=ppt/slides/_rels/slide7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3.xml"/></Relationships>
</file>

<file path=ppt/slides/_rels/slide7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4.xml"/></Relationships>
</file>

<file path=ppt/slides/_rels/slide7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5.xml"/></Relationships>
</file>

<file path=ppt/slides/_rels/slide7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6.xml"/></Relationships>
</file>

<file path=ppt/slides/_rels/slide8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7.xml"/></Relationships>
</file>

<file path=ppt/slides/_rels/slide8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8.xml"/></Relationships>
</file>

<file path=ppt/slides/_rels/slide8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9.xml"/></Relationships>
</file>

<file path=ppt/slides/_rels/slide8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0.xml"/></Relationships>
</file>

<file path=ppt/slides/_rels/slide8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1.xml"/></Relationships>
</file>

<file path=ppt/slides/_rels/slide8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2.xml"/></Relationships>
</file>

<file path=ppt/slides/_rels/slide8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3.xml"/></Relationships>
</file>

<file path=ppt/slides/_rels/slide8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4.xml"/></Relationships>
</file>

<file path=ppt/slides/_rels/slide8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5.xml"/></Relationships>
</file>

<file path=ppt/slides/_rels/slide8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6.xml"/></Relationships>
</file>

<file path=ppt/slides/_rels/slide8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7.xml"/></Relationships>
</file>

<file path=ppt/slides/_rels/slide8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8.xml"/></Relationships>
</file>

<file path=ppt/slides/_rels/slide8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9.xml"/></Relationships>
</file>

<file path=ppt/slides/_rels/slide8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0.xml"/></Relationships>
</file>

<file path=ppt/slides/_rels/slide8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1.xml"/></Relationships>
</file>

<file path=ppt/slides/_rels/slide8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2.xml"/></Relationships>
</file>

<file path=ppt/slides/_rels/slide8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3.xml"/></Relationships>
</file>

<file path=ppt/slides/_rels/slide8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4.xml"/></Relationships>
</file>

<file path=ppt/slides/_rels/slide8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5.xml"/></Relationships>
</file>

<file path=ppt/slides/_rels/slide8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6.xml"/></Relationships>
</file>

<file path=ppt/slides/_rels/slide8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7.xml"/></Relationships>
</file>

<file path=ppt/slides/_rels/slide8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8.xml"/></Relationships>
</file>

<file path=ppt/slides/_rels/slide8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9.xml"/></Relationships>
</file>

<file path=ppt/slides/_rels/slide8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0.xml"/></Relationships>
</file>

<file path=ppt/slides/_rels/slide8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1.xml"/></Relationships>
</file>

<file path=ppt/slides/_rels/slide8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2.xml"/></Relationships>
</file>

<file path=ppt/slides/_rels/slide8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3.xml"/></Relationships>
</file>

<file path=ppt/slides/_rels/slide8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4.xml"/></Relationships>
</file>

<file path=ppt/slides/_rels/slide8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5.xml"/></Relationships>
</file>

<file path=ppt/slides/_rels/slide8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6.xml"/></Relationships>
</file>

<file path=ppt/slides/_rels/slide8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7.xml"/></Relationships>
</file>

<file path=ppt/slides/_rels/slide8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8.xml"/></Relationships>
</file>

<file path=ppt/slides/_rels/slide8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9.xml"/></Relationships>
</file>

<file path=ppt/slides/_rels/slide8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0.xml"/></Relationships>
</file>

<file path=ppt/slides/_rels/slide8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1.xml"/></Relationships>
</file>

<file path=ppt/slides/_rels/slide8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2.xml"/></Relationships>
</file>

<file path=ppt/slides/_rels/slide8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3.xml"/></Relationships>
</file>

<file path=ppt/slides/_rels/slide8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4.xml"/></Relationships>
</file>

<file path=ppt/slides/_rels/slide8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5.xml"/></Relationships>
</file>

<file path=ppt/slides/_rels/slide8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6.xml"/></Relationships>
</file>

<file path=ppt/slides/_rels/slide8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7.xml"/></Relationships>
</file>

<file path=ppt/slides/_rels/slide8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8.xml"/></Relationships>
</file>

<file path=ppt/slides/_rels/slide8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9.xml"/></Relationships>
</file>

<file path=ppt/slides/_rels/slide8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0.xml"/></Relationships>
</file>

<file path=ppt/slides/_rels/slide8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1.xml"/></Relationships>
</file>

<file path=ppt/slides/_rels/slide8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2.xml"/></Relationships>
</file>

<file path=ppt/slides/_rels/slide8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3.xml"/></Relationships>
</file>

<file path=ppt/slides/_rels/slide8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4.xml"/></Relationships>
</file>

<file path=ppt/slides/_rels/slide8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5.xml"/></Relationships>
</file>

<file path=ppt/slides/_rels/slide8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6.xml"/></Relationships>
</file>

<file path=ppt/slides/_rels/slide8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7.xml"/></Relationships>
</file>

<file path=ppt/slides/_rels/slide8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8.xml"/></Relationships>
</file>

<file path=ppt/slides/_rels/slide8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9.xml"/></Relationships>
</file>

<file path=ppt/slides/_rels/slide8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0.xml"/></Relationships>
</file>

<file path=ppt/slides/_rels/slide8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1.xml"/></Relationships>
</file>

<file path=ppt/slides/_rels/slide8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2.xml"/></Relationships>
</file>

<file path=ppt/slides/_rels/slide8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3.xml"/></Relationships>
</file>

<file path=ppt/slides/_rels/slide8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4.xml"/></Relationships>
</file>

<file path=ppt/slides/_rels/slide8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5.xml"/></Relationships>
</file>

<file path=ppt/slides/_rels/slide8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6.xml"/></Relationships>
</file>

<file path=ppt/slides/_rels/slide8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7.xml"/></Relationships>
</file>

<file path=ppt/slides/_rels/slide8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8.xml"/></Relationships>
</file>

<file path=ppt/slides/_rels/slide8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9.xml"/></Relationships>
</file>

<file path=ppt/slides/_rels/slide9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0.xml"/></Relationships>
</file>

<file path=ppt/slides/_rels/slide9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1.xml"/></Relationships>
</file>

<file path=ppt/slides/_rels/slide9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2.xml"/></Relationships>
</file>

<file path=ppt/slides/_rels/slide9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3.xml"/></Relationships>
</file>

<file path=ppt/slides/_rels/slide9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4.xml"/></Relationships>
</file>

<file path=ppt/slides/_rels/slide9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5.xml"/></Relationships>
</file>

<file path=ppt/slides/_rels/slide9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6.xml"/></Relationships>
</file>

<file path=ppt/slides/_rels/slide9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7.xml"/></Relationships>
</file>

<file path=ppt/slides/_rels/slide9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8.xml"/></Relationships>
</file>

<file path=ppt/slides/_rels/slide9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9.xml"/></Relationships>
</file>

<file path=ppt/slides/_rels/slide9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0.xml"/></Relationships>
</file>

<file path=ppt/slides/_rels/slide9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1.xml"/></Relationships>
</file>

<file path=ppt/slides/_rels/slide9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2.xml"/></Relationships>
</file>

<file path=ppt/slides/_rels/slide9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3.xml"/></Relationships>
</file>

<file path=ppt/slides/_rels/slide9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4.xml"/></Relationships>
</file>

<file path=ppt/slides/_rels/slide9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5.xml"/></Relationships>
</file>

<file path=ppt/slides/_rels/slide9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6.xml"/></Relationships>
</file>

<file path=ppt/slides/_rels/slide9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7.xml"/></Relationships>
</file>

<file path=ppt/slides/_rels/slide9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8.xml"/></Relationships>
</file>

<file path=ppt/slides/_rels/slide9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9.xml"/></Relationships>
</file>

<file path=ppt/slides/_rels/slide9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0.xml"/></Relationships>
</file>

<file path=ppt/slides/_rels/slide9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1.xml"/></Relationships>
</file>

<file path=ppt/slides/_rels/slide9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2.xml"/></Relationships>
</file>

<file path=ppt/slides/_rels/slide9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3.xml"/></Relationships>
</file>

<file path=ppt/slides/_rels/slide9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4.xml"/></Relationships>
</file>

<file path=ppt/slides/_rels/slide9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5.xml"/></Relationships>
</file>

<file path=ppt/slides/_rels/slide9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6.xml"/></Relationships>
</file>

<file path=ppt/slides/_rels/slide9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7.xml"/></Relationships>
</file>

<file path=ppt/slides/_rels/slide9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8.xml"/></Relationships>
</file>

<file path=ppt/slides/_rels/slide9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9.xml"/></Relationships>
</file>

<file path=ppt/slides/_rels/slide9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0.xml"/></Relationships>
</file>

<file path=ppt/slides/_rels/slide9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1.xml"/></Relationships>
</file>

<file path=ppt/slides/_rels/slide9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2.xml"/></Relationships>
</file>

<file path=ppt/slides/_rels/slide9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3.xml"/></Relationships>
</file>

<file path=ppt/slides/_rels/slide9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4.xml"/></Relationships>
</file>

<file path=ppt/slides/_rels/slide9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5.xml"/></Relationships>
</file>

<file path=ppt/slides/_rels/slide9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6.xml"/></Relationships>
</file>

<file path=ppt/slides/_rels/slide9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7.xml"/></Relationships>
</file>

<file path=ppt/slides/_rels/slide9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8.xml"/></Relationships>
</file>

<file path=ppt/slides/_rels/slide9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9.xml"/></Relationships>
</file>

<file path=ppt/slides/_rels/slide9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0.xml"/></Relationships>
</file>

<file path=ppt/slides/_rels/slide9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1.xml"/></Relationships>
</file>

<file path=ppt/slides/_rels/slide9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2.xml"/></Relationships>
</file>

<file path=ppt/slides/_rels/slide9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3.xml"/></Relationships>
</file>

<file path=ppt/slides/_rels/slide9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4.xml"/></Relationships>
</file>

<file path=ppt/slides/_rels/slide9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5.xml"/></Relationships>
</file>

<file path=ppt/slides/_rels/slide9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6.xml"/></Relationships>
</file>

<file path=ppt/slides/_rels/slide9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7.xml"/></Relationships>
</file>

<file path=ppt/slides/_rels/slide9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8.xml"/></Relationships>
</file>

<file path=ppt/slides/_rels/slide9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9.xml"/></Relationships>
</file>

<file path=ppt/slides/_rels/slide9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0.xml"/></Relationships>
</file>

<file path=ppt/slides/_rels/slide9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1.xml"/></Relationships>
</file>

<file path=ppt/slides/_rels/slide9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2.xml"/></Relationships>
</file>

<file path=ppt/slides/_rels/slide9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3.xml"/></Relationships>
</file>

<file path=ppt/slides/_rels/slide9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4.xml"/></Relationships>
</file>

<file path=ppt/slides/_rels/slide9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5.xml"/></Relationships>
</file>

<file path=ppt/slides/_rels/slide9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6.xml"/></Relationships>
</file>

<file path=ppt/slides/_rels/slide9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7.xml"/></Relationships>
</file>

<file path=ppt/slides/_rels/slide9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8.xml"/></Relationships>
</file>

<file path=ppt/slides/_rels/slide9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9.xml"/></Relationships>
</file>

<file path=ppt/slides/_rels/slide9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0.xml"/></Relationships>
</file>

<file path=ppt/slides/_rels/slide9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1.xml"/></Relationships>
</file>

<file path=ppt/slides/_rels/slide9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2.xml"/></Relationships>
</file>

<file path=ppt/slides/_rels/slide9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3.xml"/></Relationships>
</file>

<file path=ppt/slides/_rels/slide10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4.xml"/></Relationships>
</file>

<file path=ppt/slides/_rels/slide10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5.xml"/></Relationships>
</file>

<file path=ppt/slides/_rels/slide10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6.xml"/></Relationships>
</file>

<file path=ppt/slides/_rels/slide10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7.xml"/></Relationships>
</file>

<file path=ppt/slides/_rels/slide10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8.xml"/></Relationships>
</file>

<file path=ppt/slides/_rels/slide10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9.xml"/></Relationships>
</file>

<file path=ppt/slides/_rels/slide10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0.xml"/></Relationships>
</file>

<file path=ppt/slides/_rels/slide10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1.xml"/></Relationships>
</file>

<file path=ppt/slides/_rels/slide10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2.xml"/></Relationships>
</file>

<file path=ppt/slides/_rels/slide10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3.xml"/></Relationships>
</file>

<file path=ppt/slides/_rels/slide10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4.xml"/></Relationships>
</file>

<file path=ppt/slides/_rels/slide10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5.xml"/></Relationships>
</file>

<file path=ppt/slides/_rels/slide10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6.xml"/></Relationships>
</file>

<file path=ppt/slides/_rels/slide10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7.xml"/></Relationships>
</file>

<file path=ppt/slides/_rels/slide10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8.xml"/></Relationships>
</file>

<file path=ppt/slides/_rels/slide10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9.xml"/></Relationships>
</file>

<file path=ppt/slides/_rels/slide10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0.xml"/></Relationships>
</file>

<file path=ppt/slides/_rels/slide10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1.xml"/></Relationships>
</file>

<file path=ppt/slides/_rels/slide10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2.xml"/></Relationships>
</file>

<file path=ppt/slides/_rels/slide10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3.xml"/></Relationships>
</file>

<file path=ppt/slides/_rels/slide10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4.xml"/></Relationships>
</file>

<file path=ppt/slides/_rels/slide10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5.xml"/></Relationships>
</file>

<file path=ppt/slides/_rels/slide10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6.xml"/></Relationships>
</file>

<file path=ppt/slides/_rels/slide10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7.xml"/></Relationships>
</file>

<file path=ppt/slides/_rels/slide10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8.xml"/></Relationships>
</file>

<file path=ppt/slides/_rels/slide10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9.xml"/></Relationships>
</file>

<file path=ppt/slides/_rels/slide10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0.xml"/></Relationships>
</file>

<file path=ppt/slides/_rels/slide10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1.xml"/></Relationships>
</file>

<file path=ppt/slides/_rels/slide10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2.xml"/></Relationships>
</file>

<file path=ppt/slides/_rels/slide10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3.xml"/></Relationships>
</file>

<file path=ppt/slides/_rels/slide10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4.xml"/></Relationships>
</file>

<file path=ppt/slides/_rels/slide10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5.xml"/></Relationships>
</file>

<file path=ppt/slides/_rels/slide10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6.xml"/></Relationships>
</file>

<file path=ppt/slides/_rels/slide10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7.xml"/></Relationships>
</file>

<file path=ppt/slides/_rels/slide10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8.xml"/></Relationships>
</file>

<file path=ppt/slides/_rels/slide10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9.xml"/></Relationships>
</file>

<file path=ppt/slides/_rels/slide10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0.xml"/></Relationships>
</file>

<file path=ppt/slides/_rels/slide10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1.xml"/></Relationships>
</file>

<file path=ppt/slides/_rels/slide10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2.xml"/></Relationships>
</file>

<file path=ppt/slides/_rels/slide10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3.xml"/></Relationships>
</file>

<file path=ppt/slides/_rels/slide10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4.xml"/></Relationships>
</file>

<file path=ppt/slides/_rels/slide10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5.xml"/></Relationships>
</file>

<file path=ppt/slides/_rels/slide10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6.xml"/></Relationships>
</file>

<file path=ppt/slides/_rels/slide10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7.xml"/></Relationships>
</file>

<file path=ppt/slides/_rels/slide10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8.xml"/></Relationships>
</file>

<file path=ppt/slides/_rels/slide10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9.xml"/></Relationships>
</file>

<file path=ppt/slides/_rels/slide10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0.xml"/></Relationships>
</file>

<file path=ppt/slides/_rels/slide10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1.xml"/></Relationships>
</file>

<file path=ppt/slides/_rels/slide10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2.xml"/></Relationships>
</file>

<file path=ppt/slides/_rels/slide10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3.xml"/></Relationships>
</file>

<file path=ppt/slides/_rels/slide10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4.xml"/></Relationships>
</file>

<file path=ppt/slides/_rels/slide10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5.xml"/></Relationships>
</file>

<file path=ppt/slides/_rels/slide10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6.xml"/></Relationships>
</file>

<file path=ppt/slides/_rels/slide10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7.xml"/></Relationships>
</file>

<file path=ppt/slides/_rels/slide10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8.xml"/></Relationships>
</file>

<file path=ppt/slides/_rels/slide10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9.xml"/></Relationships>
</file>

<file path=ppt/slides/_rels/slide10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0.xml"/></Relationships>
</file>

<file path=ppt/slides/_rels/slide10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1.xml"/></Relationships>
</file>

<file path=ppt/slides/_rels/slide10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2.xml"/></Relationships>
</file>

<file path=ppt/slides/_rels/slide10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3.xml"/></Relationships>
</file>

<file path=ppt/slides/_rels/slide10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4.xml"/></Relationships>
</file>

<file path=ppt/slides/_rels/slide10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5.xml"/></Relationships>
</file>

<file path=ppt/slides/_rels/slide10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6.xml"/></Relationships>
</file>

<file path=ppt/slides/_rels/slide1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7.xml"/></Relationships>
</file>

<file path=ppt/slides/_rels/slide1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8.xml"/></Relationships>
</file>

<file path=ppt/slides/_rels/slide1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9.xml"/></Relationships>
</file>

<file path=ppt/slides/_rels/slide1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0.xml"/></Relationships>
</file>

<file path=ppt/slides/_rels/slide1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1.xml"/></Relationships>
</file>

<file path=ppt/slides/_rels/slide1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2.xml"/></Relationships>
</file>

<file path=ppt/slides/_rels/slide1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3.xml"/></Relationships>
</file>

<file path=ppt/slides/_rels/slide1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4.xml"/></Relationships>
</file>

<file path=ppt/slides/_rels/slide1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5.xml"/></Relationships>
</file>

<file path=ppt/slides/_rels/slide1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6.xml"/></Relationships>
</file>

<file path=ppt/slides/_rels/slide1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7.xml"/></Relationships>
</file>

<file path=ppt/slides/_rels/slide1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8.xml"/></Relationships>
</file>

<file path=ppt/slides/_rels/slide1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9.xml"/></Relationships>
</file>

<file path=ppt/slides/_rels/slide1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0.xml"/></Relationships>
</file>

<file path=ppt/slides/_rels/slide1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1.xml"/></Relationships>
</file>

<file path=ppt/slides/_rels/slide1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2.xml"/></Relationships>
</file>

<file path=ppt/slides/_rels/slide1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3.xml"/></Relationships>
</file>

<file path=ppt/slides/_rels/slide1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4.xml"/></Relationships>
</file>

<file path=ppt/slides/_rels/slide1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5.xml"/></Relationships>
</file>

<file path=ppt/slides/_rels/slide1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6.xml"/></Relationships>
</file>

<file path=ppt/slides/_rels/slide1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7.xml"/></Relationships>
</file>

<file path=ppt/slides/_rels/slide1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8.xml"/></Relationships>
</file>

<file path=ppt/slides/_rels/slide1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9.xml"/></Relationships>
</file>

<file path=ppt/slides/_rels/slide1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0.xml"/></Relationships>
</file>

<file path=ppt/slides/_rels/slide1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1.xml"/></Relationships>
</file>

<file path=ppt/slides/_rels/slide1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2.xml"/></Relationships>
</file>

<file path=ppt/slides/_rels/slide1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3.xml"/></Relationships>
</file>

<file path=ppt/slides/_rels/slide1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4.xml"/></Relationships>
</file>

<file path=ppt/slides/_rels/slide1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5.xml"/></Relationships>
</file>

<file path=ppt/slides/_rels/slide1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6.xml"/></Relationships>
</file>

<file path=ppt/slides/_rels/slide1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7.xml"/></Relationships>
</file>

<file path=ppt/slides/_rels/slide1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8.xml"/></Relationships>
</file>

<file path=ppt/slides/_rels/slide1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9.xml"/></Relationships>
</file>

<file path=ppt/slides/_rels/slide1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0.xml"/></Relationships>
</file>

<file path=ppt/slides/_rels/slide1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1.xml"/></Relationships>
</file>

<file path=ppt/slides/_rels/slide1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2.xml"/></Relationships>
</file>

<file path=ppt/slides/_rels/slide1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3.xml"/></Relationships>
</file>

<file path=ppt/slides/_rels/slide1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4.xml"/></Relationships>
</file>

<file path=ppt/slides/_rels/slide1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5.xml"/></Relationships>
</file>

<file path=ppt/slides/_rels/slide1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6.xml"/></Relationships>
</file>

<file path=ppt/slides/_rels/slide1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7.xml"/></Relationships>
</file>

<file path=ppt/slides/_rels/slide1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8.xml"/></Relationships>
</file>

<file path=ppt/slides/_rels/slide1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9.xml"/></Relationships>
</file>

<file path=ppt/slides/_rels/slide1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0.xml"/></Relationships>
</file>

<file path=ppt/slides/_rels/slide1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1.xml"/></Relationships>
</file>

<file path=ppt/slides/_rels/slide1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2.xml"/></Relationships>
</file>

<file path=ppt/slides/_rels/slide1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3.xml"/></Relationships>
</file>

<file path=ppt/slides/_rels/slide1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4.xml"/></Relationships>
</file>

<file path=ppt/slides/_rels/slide1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5.xml"/></Relationships>
</file>

<file path=ppt/slides/_rels/slide1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6.xml"/></Relationships>
</file>

<file path=ppt/slides/_rels/slide1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7.xml"/></Relationships>
</file>

<file path=ppt/slides/_rels/slide1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8.xml"/></Relationships>
</file>

<file path=ppt/slides/_rels/slide1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9.xml"/></Relationships>
</file>

<file path=ppt/slides/_rels/slide1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0.xml"/></Relationships>
</file>

<file path=ppt/slides/_rels/slide1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1.xml"/></Relationships>
</file>

<file path=ppt/slides/_rels/slide1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2.xml"/></Relationships>
</file>

<file path=ppt/slides/_rels/slide1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3.xml"/></Relationships>
</file>

<file path=ppt/slides/_rels/slide1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4.xml"/></Relationships>
</file>

<file path=ppt/slides/_rels/slide1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5.xml"/></Relationships>
</file>

<file path=ppt/slides/_rels/slide1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6.xml"/></Relationships>
</file>

<file path=ppt/slides/_rels/slide1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7.xml"/></Relationships>
</file>

<file path=ppt/slides/_rels/slide1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8.xml"/></Relationships>
</file>

<file path=ppt/slides/_rels/slide1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9.xml"/></Relationships>
</file>

<file path=ppt/slides/_rels/slide1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0.xml"/></Relationships>
</file>

<file path=ppt/slides/_rels/slide1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1.xml"/></Relationships>
</file>

<file path=ppt/slides/_rels/slide1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2.xml"/></Relationships>
</file>

<file path=ppt/slides/_rels/slide1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3.xml"/></Relationships>
</file>

<file path=ppt/slides/_rels/slide1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4.xml"/></Relationships>
</file>

<file path=ppt/slides/_rels/slide1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5.xml"/></Relationships>
</file>

<file path=ppt/slides/_rels/slide1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6.xml"/></Relationships>
</file>

<file path=ppt/slides/_rels/slide1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7.xml"/></Relationships>
</file>

<file path=ppt/slides/_rels/slide1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8.xml"/></Relationships>
</file>

<file path=ppt/slides/_rels/slide1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9.xml"/></Relationships>
</file>

<file path=ppt/slides/_rels/slide1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0.xml"/></Relationships>
</file>

<file path=ppt/slides/_rels/slide1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1.xml"/></Relationships>
</file>

<file path=ppt/slides/_rels/slide1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2.xml"/></Relationships>
</file>

<file path=ppt/slides/_rels/slide1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3.xml"/></Relationships>
</file>

<file path=ppt/slides/_rels/slide1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4.xml"/></Relationships>
</file>

<file path=ppt/slides/_rels/slide1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5.xml"/></Relationships>
</file>

<file path=ppt/slides/_rels/slide1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6.xml"/></Relationships>
</file>

<file path=ppt/slides/_rels/slide12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7.xml"/></Relationships>
</file>

<file path=ppt/slides/_rels/slide1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8.xml"/></Relationships>
</file>

<file path=ppt/slides/_rels/slide12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9.xml"/></Relationships>
</file>

<file path=ppt/slides/_rels/slide12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0.xml"/></Relationships>
</file>

<file path=ppt/slides/_rels/slide12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1.xml"/></Relationships>
</file>

<file path=ppt/slides/_rels/slide1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2.xml"/></Relationships>
</file>

<file path=ppt/slides/_rels/slide1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3.xml"/></Relationships>
</file>

<file path=ppt/slides/_rels/slide12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4.xml"/></Relationships>
</file>

<file path=ppt/slides/_rels/slide12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5.xml"/></Relationships>
</file>

<file path=ppt/slides/_rels/slide12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6.xml"/></Relationships>
</file>

<file path=ppt/slides/_rels/slide1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7.xml"/></Relationships>
</file>

<file path=ppt/slides/_rels/slide1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8.xml"/></Relationships>
</file>

<file path=ppt/slides/_rels/slide12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9.xml"/></Relationships>
</file>

<file path=ppt/slides/_rels/slide1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0.xml"/></Relationships>
</file>

<file path=ppt/slides/_rels/slide12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1.xml"/></Relationships>
</file>

<file path=ppt/slides/_rels/slide12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2.xml"/></Relationships>
</file>

<file path=ppt/slides/_rels/slide1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3.xml"/></Relationships>
</file>

<file path=ppt/slides/_rels/slide12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4.xml"/></Relationships>
</file>

<file path=ppt/slides/_rels/slide12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5.xml"/></Relationships>
</file>

<file path=ppt/slides/_rels/slide1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6.xml"/></Relationships>
</file>

<file path=ppt/slides/_rels/slide12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7.xml"/></Relationships>
</file>

<file path=ppt/slides/_rels/slide12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8.xml"/></Relationships>
</file>

<file path=ppt/slides/_rels/slide1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9.xml"/></Relationships>
</file>

<file path=ppt/slides/_rels/slide12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0.xml"/></Relationships>
</file>

<file path=ppt/slides/_rels/slide1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1.xml"/></Relationships>
</file>

<file path=ppt/slides/_rels/slide12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2.xml"/></Relationships>
</file>

<file path=ppt/slides/_rels/slide12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3.xml"/></Relationships>
</file>

<file path=ppt/slides/_rels/slide12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4.xml"/></Relationships>
</file>

<file path=ppt/slides/_rels/slide12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5.xml"/></Relationships>
</file>

<file path=ppt/slides/_rels/slide12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6.xml"/></Relationships>
</file>

<file path=ppt/slides/_rels/slide12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7.xml"/></Relationships>
</file>

<file path=ppt/slides/_rels/slide12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8.xml"/></Relationships>
</file>

<file path=ppt/slides/_rels/slide12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9.xml"/></Relationships>
</file>

<file path=ppt/slides/_rels/slide12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0.xml"/></Relationships>
</file>

<file path=ppt/slides/_rels/slide12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1.xml"/></Relationships>
</file>

<file path=ppt/slides/_rels/slide12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2.xml"/></Relationships>
</file>

<file path=ppt/slides/_rels/slide12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3.xml"/></Relationships>
</file>

<file path=ppt/slides/_rels/slide12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4.xml"/></Relationships>
</file>

<file path=ppt/slides/_rels/slide12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5.xml"/></Relationships>
</file>

<file path=ppt/slides/_rels/slide12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6.xml"/></Relationships>
</file>

<file path=ppt/slides/_rels/slide12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7.xml"/></Relationships>
</file>

<file path=ppt/slides/_rels/slide12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8.xml"/></Relationships>
</file>

<file path=ppt/slides/_rels/slide12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9.xml"/></Relationships>
</file>

<file path=ppt/slides/_rels/slide12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0.xml"/></Relationships>
</file>

<file path=ppt/slides/_rels/slide12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1.xml"/></Relationships>
</file>

<file path=ppt/slides/_rels/slide12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2.xml"/></Relationships>
</file>

<file path=ppt/slides/_rels/slide12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3.xml"/></Relationships>
</file>

<file path=ppt/slides/_rels/slide12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4.xml"/></Relationships>
</file>

<file path=ppt/slides/_rels/slide12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5.xml"/></Relationships>
</file>

<file path=ppt/slides/_rels/slide13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6.xml"/></Relationships>
</file>

<file path=ppt/slides/_rels/slide13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7.xml"/></Relationships>
</file>

<file path=ppt/slides/_rels/slide13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8.xml"/></Relationships>
</file>

<file path=ppt/slides/_rels/slide13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9.xml"/></Relationships>
</file>

<file path=ppt/slides/_rels/slide13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0.xml"/></Relationships>
</file>

<file path=ppt/slides/_rels/slide13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1.xml"/></Relationships>
</file>

<file path=ppt/slides/_rels/slide13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2.xml"/></Relationships>
</file>

<file path=ppt/slides/_rels/slide13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3.xml"/></Relationships>
</file>

<file path=ppt/slides/_rels/slide13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4.xml"/></Relationships>
</file>

<file path=ppt/slides/_rels/slide13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5.xml"/></Relationships>
</file>

<file path=ppt/slides/_rels/slide13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6.xml"/></Relationships>
</file>

<file path=ppt/slides/_rels/slide13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7.xml"/></Relationships>
</file>

<file path=ppt/slides/_rels/slide13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8.xml"/></Relationships>
</file>

<file path=ppt/slides/_rels/slide13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9.xml"/></Relationships>
</file>

<file path=ppt/slides/_rels/slide13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60.xml"/></Relationships>
</file>

<file path=ppt/slides/_rels/slide13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61.xml"/></Relationships>
</file>

<file path=ppt/slides/_rels/slide13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62.xml"/></Relationships>
</file>

<file path=ppt/slides/_rels/slide13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63.xml"/></Relationships>
</file>

<file path=ppt/slides/_rels/slide13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64.xml"/></Relationships>
</file>

<file path=ppt/slides/_rels/slide13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65.xml"/></Relationships>
</file>

<file path=ppt/slides/_rels/slide13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66.xml"/></Relationships>
</file>

<file path=ppt/slides/_rels/slide13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67.xml"/></Relationships>
</file>

<file path=ppt/slides/_rels/slide13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68.xml"/></Relationships>
</file>

<file path=ppt/slides/_rels/slide13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69.xml"/></Relationships>
</file>

<file path=ppt/slides/_rels/slide13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70.xml"/></Relationships>
</file>

<file path=ppt/slides/_rels/slide13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71.xml"/></Relationships>
</file>

<file path=ppt/slides/_rels/slide13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72.xml"/></Relationships>
</file>

<file path=ppt/slides/_rels/slide13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73.xml"/></Relationships>
</file>

<file path=ppt/slides/_rels/slide13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74.xml"/></Relationships>
</file>

<file path=ppt/slides/_rels/slide13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2000" cy="219456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5394960"/>
            <a:ext cx="12192000" cy="14630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457200"/>
            <a:ext cx="10698480" cy="548640"/>
          </a:xfrm>
          <a:prstGeom prst="rect">
            <a:avLst/>
          </a:prstGeom>
          <a:noFill/>
        </p:spPr>
        <p:txBody>
          <a:bodyPr wrap="square">
            <a:spAutoFit/>
          </a:bodyPr>
          <a:lstStyle/>
          <a:p>
            <a:r>
              <a:rPr sz="1600" b="1" dirty="0">
                <a:solidFill>
                  <a:srgbClr val="FFFFFF"/>
                </a:solidFill>
                <a:latin typeface="맑은 고딕"/>
              </a:rPr>
              <a:t>Oracle Database 19c</a:t>
            </a:r>
          </a:p>
        </p:txBody>
      </p:sp>
      <p:sp>
        <p:nvSpPr>
          <p:cNvPr id="6" name="TextBox 5"/>
          <p:cNvSpPr txBox="1"/>
          <p:nvPr/>
        </p:nvSpPr>
        <p:spPr>
          <a:xfrm>
            <a:off x="731520" y="2377440"/>
            <a:ext cx="2996418" cy="615553"/>
          </a:xfrm>
          <a:prstGeom prst="rect">
            <a:avLst/>
          </a:prstGeom>
          <a:noFill/>
        </p:spPr>
        <p:txBody>
          <a:bodyPr wrap="square">
            <a:spAutoFit/>
          </a:bodyPr>
          <a:lstStyle/>
          <a:p>
            <a:r>
              <a:rPr sz="3400" b="1" dirty="0">
                <a:solidFill>
                  <a:srgbClr val="C0392B"/>
                </a:solidFill>
                <a:latin typeface="맑은 고딕"/>
              </a:rPr>
              <a:t>DB </a:t>
            </a:r>
            <a:r>
              <a:rPr sz="3400" b="1" dirty="0" err="1">
                <a:solidFill>
                  <a:srgbClr val="C0392B"/>
                </a:solidFill>
                <a:latin typeface="맑은 고딕"/>
              </a:rPr>
              <a:t>튜닝</a:t>
            </a:r>
            <a:r>
              <a:rPr sz="3400" b="1" dirty="0">
                <a:solidFill>
                  <a:srgbClr val="C0392B"/>
                </a:solidFill>
                <a:latin typeface="맑은 고딕"/>
              </a:rPr>
              <a:t> </a:t>
            </a:r>
          </a:p>
        </p:txBody>
      </p:sp>
      <p:sp>
        <p:nvSpPr>
          <p:cNvPr id="8" name="TextBox 7"/>
          <p:cNvSpPr txBox="1"/>
          <p:nvPr/>
        </p:nvSpPr>
        <p:spPr>
          <a:xfrm>
            <a:off x="731520" y="5577840"/>
            <a:ext cx="10698480" cy="400110"/>
          </a:xfrm>
          <a:prstGeom prst="rect">
            <a:avLst/>
          </a:prstGeom>
          <a:noFill/>
        </p:spPr>
        <p:txBody>
          <a:bodyPr wrap="square">
            <a:spAutoFit/>
          </a:bodyPr>
          <a:lstStyle/>
          <a:p>
            <a:r>
              <a:rPr sz="2000" b="1" dirty="0">
                <a:solidFill>
                  <a:srgbClr val="C0392B"/>
                </a:solidFill>
                <a:latin typeface="맑은 고딕"/>
              </a:rPr>
              <a:t>DBTUNING · v2 2026-0</a:t>
            </a:r>
            <a:r>
              <a:rPr lang="en-US" sz="2000" b="1" dirty="0">
                <a:solidFill>
                  <a:srgbClr val="C0392B"/>
                </a:solidFill>
                <a:latin typeface="맑은 고딕"/>
              </a:rPr>
              <a:t>9</a:t>
            </a:r>
            <a:r>
              <a:rPr sz="2000" b="1" dirty="0">
                <a:solidFill>
                  <a:srgbClr val="C0392B"/>
                </a:solidFill>
                <a:latin typeface="맑은 고딕"/>
              </a:rPr>
              <a:t>-15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0584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492443"/>
          </a:xfrm>
          <a:prstGeom prst="rect">
            <a:avLst/>
          </a:prstGeom>
          <a:noFill/>
        </p:spPr>
        <p:txBody>
          <a:bodyPr wrap="square">
            <a:spAutoFit/>
          </a:bodyPr>
          <a:lstStyle/>
          <a:p>
            <a:r>
              <a:rPr sz="2600" b="1" dirty="0" err="1">
                <a:solidFill>
                  <a:srgbClr val="FFFFFF"/>
                </a:solidFill>
                <a:latin typeface="맑은 고딕"/>
              </a:rPr>
              <a:t>목차</a:t>
            </a:r>
            <a:r>
              <a:rPr sz="2600" b="1" dirty="0">
                <a:solidFill>
                  <a:srgbClr val="FFFFFF"/>
                </a:solidFill>
                <a:latin typeface="맑은 고딕"/>
              </a:rPr>
              <a:t> ① SQL </a:t>
            </a:r>
            <a:r>
              <a:rPr sz="2600" b="1" dirty="0" err="1">
                <a:solidFill>
                  <a:srgbClr val="FFFFFF"/>
                </a:solidFill>
                <a:latin typeface="맑은 고딕"/>
              </a:rPr>
              <a:t>부문</a:t>
            </a:r>
            <a:endParaRPr sz="2600" b="1" dirty="0">
              <a:solidFill>
                <a:srgbClr val="FFFFFF"/>
              </a:solidFill>
              <a:latin typeface="맑은 고딕"/>
            </a:endParaRPr>
          </a:p>
        </p:txBody>
      </p:sp>
      <p:sp>
        <p:nvSpPr>
          <p:cNvPr id="5" name="TextBox 4"/>
          <p:cNvSpPr txBox="1"/>
          <p:nvPr/>
        </p:nvSpPr>
        <p:spPr>
          <a:xfrm>
            <a:off x="640080" y="1737360"/>
            <a:ext cx="10881360" cy="2200602"/>
          </a:xfrm>
          <a:prstGeom prst="rect">
            <a:avLst/>
          </a:prstGeom>
          <a:noFill/>
        </p:spPr>
        <p:txBody>
          <a:bodyPr wrap="square">
            <a:spAutoFit/>
          </a:bodyPr>
          <a:lstStyle/>
          <a:p>
            <a:pPr>
              <a:spcAft>
                <a:spcPts val="1000"/>
              </a:spcAft>
            </a:pPr>
            <a:r>
              <a:rPr sz="1600" b="0" dirty="0">
                <a:solidFill>
                  <a:srgbClr val="222222"/>
                </a:solidFill>
                <a:latin typeface="맑은 고딕"/>
              </a:rPr>
              <a:t>•  SQL </a:t>
            </a:r>
            <a:r>
              <a:rPr sz="1600" b="0" dirty="0" err="1">
                <a:solidFill>
                  <a:srgbClr val="222222"/>
                </a:solidFill>
                <a:latin typeface="맑은 고딕"/>
              </a:rPr>
              <a:t>튜닝</a:t>
            </a:r>
            <a:r>
              <a:rPr sz="1600" b="0" dirty="0">
                <a:solidFill>
                  <a:srgbClr val="222222"/>
                </a:solidFill>
                <a:latin typeface="맑은 고딕"/>
              </a:rPr>
              <a:t> </a:t>
            </a:r>
            <a:r>
              <a:rPr sz="1600" b="0" dirty="0" err="1">
                <a:solidFill>
                  <a:srgbClr val="222222"/>
                </a:solidFill>
                <a:latin typeface="맑은 고딕"/>
              </a:rPr>
              <a:t>입문과</a:t>
            </a:r>
            <a:r>
              <a:rPr sz="1600" b="0" dirty="0">
                <a:solidFill>
                  <a:srgbClr val="222222"/>
                </a:solidFill>
                <a:latin typeface="맑은 고딕"/>
              </a:rPr>
              <a:t> </a:t>
            </a:r>
            <a:r>
              <a:rPr sz="1600" b="0" dirty="0" err="1">
                <a:solidFill>
                  <a:srgbClr val="222222"/>
                </a:solidFill>
                <a:latin typeface="맑은 고딕"/>
              </a:rPr>
              <a:t>측정</a:t>
            </a:r>
            <a:r>
              <a:rPr sz="1600" b="0" dirty="0">
                <a:solidFill>
                  <a:srgbClr val="222222"/>
                </a:solidFill>
                <a:latin typeface="맑은 고딕"/>
              </a:rPr>
              <a:t> </a:t>
            </a:r>
            <a:r>
              <a:rPr sz="1600" b="0" dirty="0" err="1">
                <a:solidFill>
                  <a:srgbClr val="222222"/>
                </a:solidFill>
                <a:latin typeface="맑은 고딕"/>
              </a:rPr>
              <a:t>도구</a:t>
            </a:r>
            <a:r>
              <a:rPr sz="1600" b="0" dirty="0">
                <a:solidFill>
                  <a:srgbClr val="222222"/>
                </a:solidFill>
                <a:latin typeface="맑은 고딕"/>
              </a:rPr>
              <a:t> — ch01 SQL </a:t>
            </a:r>
            <a:r>
              <a:rPr sz="1600" b="0" dirty="0" err="1">
                <a:solidFill>
                  <a:srgbClr val="222222"/>
                </a:solidFill>
                <a:latin typeface="맑은 고딕"/>
              </a:rPr>
              <a:t>튜닝이란</a:t>
            </a:r>
            <a:r>
              <a:rPr sz="1600" b="0" dirty="0">
                <a:solidFill>
                  <a:srgbClr val="222222"/>
                </a:solidFill>
                <a:latin typeface="맑은 고딕"/>
              </a:rPr>
              <a:t> · ch02 SQL </a:t>
            </a:r>
            <a:r>
              <a:rPr sz="1600" b="0" dirty="0" err="1">
                <a:solidFill>
                  <a:srgbClr val="222222"/>
                </a:solidFill>
                <a:latin typeface="맑은 고딕"/>
              </a:rPr>
              <a:t>실행</a:t>
            </a:r>
            <a:r>
              <a:rPr sz="1600" b="0" dirty="0">
                <a:solidFill>
                  <a:srgbClr val="222222"/>
                </a:solidFill>
                <a:latin typeface="맑은 고딕"/>
              </a:rPr>
              <a:t> </a:t>
            </a:r>
            <a:r>
              <a:rPr sz="1600" b="0" dirty="0" err="1">
                <a:solidFill>
                  <a:srgbClr val="222222"/>
                </a:solidFill>
                <a:latin typeface="맑은 고딕"/>
              </a:rPr>
              <a:t>과정</a:t>
            </a:r>
            <a:r>
              <a:rPr sz="1600" b="0" dirty="0">
                <a:solidFill>
                  <a:srgbClr val="222222"/>
                </a:solidFill>
                <a:latin typeface="맑은 고딕"/>
              </a:rPr>
              <a:t> · ch03 </a:t>
            </a:r>
            <a:r>
              <a:rPr sz="1600" b="0" dirty="0" err="1">
                <a:solidFill>
                  <a:srgbClr val="222222"/>
                </a:solidFill>
                <a:latin typeface="맑은 고딕"/>
              </a:rPr>
              <a:t>실행계획</a:t>
            </a:r>
            <a:r>
              <a:rPr sz="1600" b="0" dirty="0">
                <a:solidFill>
                  <a:srgbClr val="222222"/>
                </a:solidFill>
                <a:latin typeface="맑은 고딕"/>
              </a:rPr>
              <a:t> </a:t>
            </a:r>
            <a:r>
              <a:rPr sz="1600" b="0" dirty="0" err="1">
                <a:solidFill>
                  <a:srgbClr val="222222"/>
                </a:solidFill>
                <a:latin typeface="맑은 고딕"/>
              </a:rPr>
              <a:t>기초</a:t>
            </a:r>
            <a:r>
              <a:rPr sz="1600" b="0" dirty="0">
                <a:solidFill>
                  <a:srgbClr val="222222"/>
                </a:solidFill>
                <a:latin typeface="맑은 고딕"/>
              </a:rPr>
              <a:t> · ch04 SQL </a:t>
            </a:r>
            <a:r>
              <a:rPr sz="1600" b="0" dirty="0" err="1">
                <a:solidFill>
                  <a:srgbClr val="222222"/>
                </a:solidFill>
                <a:latin typeface="맑은 고딕"/>
              </a:rPr>
              <a:t>성능</a:t>
            </a:r>
            <a:r>
              <a:rPr sz="1600" b="0" dirty="0">
                <a:solidFill>
                  <a:srgbClr val="222222"/>
                </a:solidFill>
                <a:latin typeface="맑은 고딕"/>
              </a:rPr>
              <a:t> </a:t>
            </a:r>
            <a:r>
              <a:rPr sz="1600" b="0" dirty="0" err="1">
                <a:solidFill>
                  <a:srgbClr val="222222"/>
                </a:solidFill>
                <a:latin typeface="맑은 고딕"/>
              </a:rPr>
              <a:t>측정</a:t>
            </a:r>
            <a:endParaRPr sz="1600" b="0" dirty="0">
              <a:solidFill>
                <a:srgbClr val="222222"/>
              </a:solidFill>
              <a:latin typeface="맑은 고딕"/>
            </a:endParaRPr>
          </a:p>
          <a:p>
            <a:pPr>
              <a:spcAft>
                <a:spcPts val="1000"/>
              </a:spcAft>
            </a:pPr>
            <a:r>
              <a:rPr sz="1600" b="0" dirty="0">
                <a:solidFill>
                  <a:srgbClr val="222222"/>
                </a:solidFill>
                <a:latin typeface="맑은 고딕"/>
              </a:rPr>
              <a:t>•  </a:t>
            </a:r>
            <a:r>
              <a:rPr sz="1600" b="0" dirty="0" err="1">
                <a:solidFill>
                  <a:srgbClr val="222222"/>
                </a:solidFill>
                <a:latin typeface="맑은 고딕"/>
              </a:rPr>
              <a:t>데이터</a:t>
            </a:r>
            <a:r>
              <a:rPr sz="1600" b="0" dirty="0">
                <a:solidFill>
                  <a:srgbClr val="222222"/>
                </a:solidFill>
                <a:latin typeface="맑은 고딕"/>
              </a:rPr>
              <a:t> </a:t>
            </a:r>
            <a:r>
              <a:rPr sz="1600" b="0" dirty="0" err="1">
                <a:solidFill>
                  <a:srgbClr val="222222"/>
                </a:solidFill>
                <a:latin typeface="맑은 고딕"/>
              </a:rPr>
              <a:t>접근·인덱스·통계</a:t>
            </a:r>
            <a:r>
              <a:rPr sz="1600" b="0" dirty="0">
                <a:solidFill>
                  <a:srgbClr val="222222"/>
                </a:solidFill>
                <a:latin typeface="맑은 고딕"/>
              </a:rPr>
              <a:t> — ch05 Full vs Index Scan · ch06 </a:t>
            </a:r>
            <a:r>
              <a:rPr sz="1600" b="0" dirty="0" err="1">
                <a:solidFill>
                  <a:srgbClr val="222222"/>
                </a:solidFill>
                <a:latin typeface="맑은 고딕"/>
              </a:rPr>
              <a:t>인덱스</a:t>
            </a:r>
            <a:r>
              <a:rPr sz="1600" b="0" dirty="0">
                <a:solidFill>
                  <a:srgbClr val="222222"/>
                </a:solidFill>
                <a:latin typeface="맑은 고딕"/>
              </a:rPr>
              <a:t> </a:t>
            </a:r>
            <a:r>
              <a:rPr sz="1600" b="0" dirty="0" err="1">
                <a:solidFill>
                  <a:srgbClr val="222222"/>
                </a:solidFill>
                <a:latin typeface="맑은 고딕"/>
              </a:rPr>
              <a:t>설계</a:t>
            </a:r>
            <a:r>
              <a:rPr sz="1600" b="0" dirty="0">
                <a:solidFill>
                  <a:srgbClr val="222222"/>
                </a:solidFill>
                <a:latin typeface="맑은 고딕"/>
              </a:rPr>
              <a:t> · ch07 </a:t>
            </a:r>
            <a:r>
              <a:rPr sz="1600" b="0" dirty="0" err="1">
                <a:solidFill>
                  <a:srgbClr val="222222"/>
                </a:solidFill>
                <a:latin typeface="맑은 고딕"/>
              </a:rPr>
              <a:t>SARGable</a:t>
            </a:r>
            <a:r>
              <a:rPr sz="1600" b="0" dirty="0">
                <a:solidFill>
                  <a:srgbClr val="222222"/>
                </a:solidFill>
                <a:latin typeface="맑은 고딕"/>
              </a:rPr>
              <a:t> SQL · ch08 Optimizer 와 </a:t>
            </a:r>
            <a:r>
              <a:rPr sz="1600" b="0" dirty="0" err="1">
                <a:solidFill>
                  <a:srgbClr val="222222"/>
                </a:solidFill>
                <a:latin typeface="맑은 고딕"/>
              </a:rPr>
              <a:t>통계</a:t>
            </a:r>
            <a:r>
              <a:rPr sz="1600" b="0" dirty="0">
                <a:solidFill>
                  <a:srgbClr val="222222"/>
                </a:solidFill>
                <a:latin typeface="맑은 고딕"/>
              </a:rPr>
              <a:t>(</a:t>
            </a:r>
            <a:r>
              <a:rPr sz="1600" b="0" dirty="0" err="1">
                <a:solidFill>
                  <a:srgbClr val="222222"/>
                </a:solidFill>
                <a:latin typeface="맑은 고딕"/>
              </a:rPr>
              <a:t>이동</a:t>
            </a:r>
            <a:r>
              <a:rPr sz="1600" b="0" dirty="0">
                <a:solidFill>
                  <a:srgbClr val="222222"/>
                </a:solidFill>
                <a:latin typeface="맑은 고딕"/>
              </a:rPr>
              <a:t>)</a:t>
            </a:r>
          </a:p>
          <a:p>
            <a:pPr>
              <a:spcAft>
                <a:spcPts val="1000"/>
              </a:spcAft>
            </a:pPr>
            <a:r>
              <a:rPr sz="1600" b="0" dirty="0">
                <a:solidFill>
                  <a:srgbClr val="222222"/>
                </a:solidFill>
                <a:latin typeface="맑은 고딕"/>
              </a:rPr>
              <a:t>•  </a:t>
            </a:r>
            <a:r>
              <a:rPr sz="1600" b="0" dirty="0" err="1">
                <a:solidFill>
                  <a:srgbClr val="222222"/>
                </a:solidFill>
                <a:latin typeface="맑은 고딕"/>
              </a:rPr>
              <a:t>조인·서브쿼리·집합·정렬</a:t>
            </a:r>
            <a:r>
              <a:rPr sz="1600" b="0" dirty="0">
                <a:solidFill>
                  <a:srgbClr val="222222"/>
                </a:solidFill>
                <a:latin typeface="맑은 고딕"/>
              </a:rPr>
              <a:t> — ch09 JOIN </a:t>
            </a:r>
            <a:r>
              <a:rPr sz="1600" b="0" dirty="0" err="1">
                <a:solidFill>
                  <a:srgbClr val="222222"/>
                </a:solidFill>
                <a:latin typeface="맑은 고딕"/>
              </a:rPr>
              <a:t>실행</a:t>
            </a:r>
            <a:r>
              <a:rPr sz="1600" b="0" dirty="0">
                <a:solidFill>
                  <a:srgbClr val="222222"/>
                </a:solidFill>
                <a:latin typeface="맑은 고딕"/>
              </a:rPr>
              <a:t> </a:t>
            </a:r>
            <a:r>
              <a:rPr sz="1600" b="0" dirty="0" err="1">
                <a:solidFill>
                  <a:srgbClr val="222222"/>
                </a:solidFill>
                <a:latin typeface="맑은 고딕"/>
              </a:rPr>
              <a:t>원리</a:t>
            </a:r>
            <a:r>
              <a:rPr sz="1600" b="0" dirty="0">
                <a:solidFill>
                  <a:srgbClr val="222222"/>
                </a:solidFill>
                <a:latin typeface="맑은 고딕"/>
              </a:rPr>
              <a:t> · ch10 Subquery/EXISTS/IN · ch11 UNION/DISTINCT · ch12 SORT/GROUP BY</a:t>
            </a:r>
          </a:p>
          <a:p>
            <a:pPr>
              <a:spcAft>
                <a:spcPts val="1000"/>
              </a:spcAft>
            </a:pPr>
            <a:r>
              <a:rPr sz="1600" b="0" dirty="0">
                <a:solidFill>
                  <a:srgbClr val="222222"/>
                </a:solidFill>
                <a:latin typeface="맑은 고딕"/>
              </a:rPr>
              <a:t>•  </a:t>
            </a:r>
            <a:r>
              <a:rPr sz="1600" b="0" dirty="0" err="1">
                <a:solidFill>
                  <a:srgbClr val="222222"/>
                </a:solidFill>
                <a:latin typeface="맑은 고딕"/>
              </a:rPr>
              <a:t>실무</a:t>
            </a:r>
            <a:r>
              <a:rPr sz="1600" b="0" dirty="0">
                <a:solidFill>
                  <a:srgbClr val="222222"/>
                </a:solidFill>
                <a:latin typeface="맑은 고딕"/>
              </a:rPr>
              <a:t> SQL </a:t>
            </a:r>
            <a:r>
              <a:rPr sz="1600" b="0" dirty="0" err="1">
                <a:solidFill>
                  <a:srgbClr val="222222"/>
                </a:solidFill>
                <a:latin typeface="맑은 고딕"/>
              </a:rPr>
              <a:t>문제와</a:t>
            </a:r>
            <a:r>
              <a:rPr sz="1600" b="0" dirty="0">
                <a:solidFill>
                  <a:srgbClr val="222222"/>
                </a:solidFill>
                <a:latin typeface="맑은 고딕"/>
              </a:rPr>
              <a:t> SQL </a:t>
            </a:r>
            <a:r>
              <a:rPr sz="1600" b="0" dirty="0" err="1">
                <a:solidFill>
                  <a:srgbClr val="222222"/>
                </a:solidFill>
                <a:latin typeface="맑은 고딕"/>
              </a:rPr>
              <a:t>부문</a:t>
            </a:r>
            <a:r>
              <a:rPr sz="1600" b="0" dirty="0">
                <a:solidFill>
                  <a:srgbClr val="222222"/>
                </a:solidFill>
                <a:latin typeface="맑은 고딕"/>
              </a:rPr>
              <a:t> </a:t>
            </a:r>
            <a:r>
              <a:rPr sz="1600" b="0" dirty="0" err="1">
                <a:solidFill>
                  <a:srgbClr val="222222"/>
                </a:solidFill>
                <a:latin typeface="맑은 고딕"/>
              </a:rPr>
              <a:t>평가</a:t>
            </a:r>
            <a:r>
              <a:rPr sz="1600" b="0" dirty="0">
                <a:solidFill>
                  <a:srgbClr val="222222"/>
                </a:solidFill>
                <a:latin typeface="맑은 고딕"/>
              </a:rPr>
              <a:t> — ch13 </a:t>
            </a:r>
            <a:r>
              <a:rPr sz="1600" b="0" dirty="0" err="1">
                <a:solidFill>
                  <a:srgbClr val="222222"/>
                </a:solidFill>
                <a:latin typeface="맑은 고딕"/>
              </a:rPr>
              <a:t>페이징</a:t>
            </a:r>
            <a:r>
              <a:rPr sz="1600" b="0" dirty="0">
                <a:solidFill>
                  <a:srgbClr val="222222"/>
                </a:solidFill>
                <a:latin typeface="맑은 고딕"/>
              </a:rPr>
              <a:t> · ch14 </a:t>
            </a:r>
            <a:r>
              <a:rPr sz="1600" b="0" dirty="0" err="1">
                <a:solidFill>
                  <a:srgbClr val="222222"/>
                </a:solidFill>
                <a:latin typeface="맑은 고딕"/>
              </a:rPr>
              <a:t>실무</a:t>
            </a:r>
            <a:r>
              <a:rPr sz="1600" b="0" dirty="0">
                <a:solidFill>
                  <a:srgbClr val="222222"/>
                </a:solidFill>
                <a:latin typeface="맑은 고딕"/>
              </a:rPr>
              <a:t> SQL </a:t>
            </a:r>
            <a:r>
              <a:rPr sz="1600" b="0" dirty="0" err="1">
                <a:solidFill>
                  <a:srgbClr val="222222"/>
                </a:solidFill>
                <a:latin typeface="맑은 고딕"/>
              </a:rPr>
              <a:t>문제</a:t>
            </a:r>
            <a:r>
              <a:rPr sz="1600" b="0" dirty="0">
                <a:solidFill>
                  <a:srgbClr val="222222"/>
                </a:solidFill>
                <a:latin typeface="맑은 고딕"/>
              </a:rPr>
              <a:t> · </a:t>
            </a:r>
            <a:r>
              <a:rPr sz="1600" b="0" dirty="0" err="1">
                <a:solidFill>
                  <a:srgbClr val="222222"/>
                </a:solidFill>
                <a:latin typeface="맑은 고딕"/>
              </a:rPr>
              <a:t>심화</a:t>
            </a:r>
            <a:r>
              <a:rPr sz="1600" b="0" dirty="0">
                <a:solidFill>
                  <a:srgbClr val="222222"/>
                </a:solidFill>
                <a:latin typeface="맑은 고딕"/>
              </a:rPr>
              <a:t> 30제 V · </a:t>
            </a:r>
            <a:r>
              <a:rPr sz="1600" b="0" dirty="0" err="1">
                <a:solidFill>
                  <a:srgbClr val="222222"/>
                </a:solidFill>
                <a:latin typeface="맑은 고딕"/>
              </a:rPr>
              <a:t>최종실습시험</a:t>
            </a:r>
            <a:r>
              <a:rPr sz="1600" b="0" dirty="0">
                <a:solidFill>
                  <a:srgbClr val="222222"/>
                </a:solidFill>
                <a:latin typeface="맑은 고딕"/>
              </a:rPr>
              <a:t> 03·04</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0584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492443"/>
          </a:xfrm>
          <a:prstGeom prst="rect">
            <a:avLst/>
          </a:prstGeom>
          <a:noFill/>
        </p:spPr>
        <p:txBody>
          <a:bodyPr wrap="square">
            <a:spAutoFit/>
          </a:bodyPr>
          <a:lstStyle/>
          <a:p>
            <a:r>
              <a:rPr sz="2600" b="1" dirty="0" err="1">
                <a:solidFill>
                  <a:srgbClr val="FFFFFF"/>
                </a:solidFill>
                <a:latin typeface="맑은 고딕"/>
              </a:rPr>
              <a:t>목차</a:t>
            </a:r>
            <a:r>
              <a:rPr sz="2600" b="1" dirty="0">
                <a:solidFill>
                  <a:srgbClr val="FFFFFF"/>
                </a:solidFill>
                <a:latin typeface="맑은 고딕"/>
              </a:rPr>
              <a:t> ② </a:t>
            </a:r>
            <a:r>
              <a:rPr sz="2600" b="1" dirty="0" err="1">
                <a:solidFill>
                  <a:srgbClr val="FFFFFF"/>
                </a:solidFill>
                <a:latin typeface="맑은 고딕"/>
              </a:rPr>
              <a:t>인스턴스</a:t>
            </a:r>
            <a:r>
              <a:rPr sz="2600" b="1" dirty="0">
                <a:solidFill>
                  <a:srgbClr val="FFFFFF"/>
                </a:solidFill>
                <a:latin typeface="맑은 고딕"/>
              </a:rPr>
              <a:t> </a:t>
            </a:r>
            <a:r>
              <a:rPr sz="2600" b="1" dirty="0" err="1">
                <a:solidFill>
                  <a:srgbClr val="FFFFFF"/>
                </a:solidFill>
                <a:latin typeface="맑은 고딕"/>
              </a:rPr>
              <a:t>부문</a:t>
            </a:r>
            <a:endParaRPr sz="2600" b="1" dirty="0">
              <a:solidFill>
                <a:srgbClr val="FFFFFF"/>
              </a:solidFill>
              <a:latin typeface="맑은 고딕"/>
            </a:endParaRPr>
          </a:p>
        </p:txBody>
      </p:sp>
      <p:sp>
        <p:nvSpPr>
          <p:cNvPr id="5" name="TextBox 4"/>
          <p:cNvSpPr txBox="1"/>
          <p:nvPr/>
        </p:nvSpPr>
        <p:spPr>
          <a:xfrm>
            <a:off x="640080" y="1737360"/>
            <a:ext cx="10881360" cy="2703304"/>
          </a:xfrm>
          <a:prstGeom prst="rect">
            <a:avLst/>
          </a:prstGeom>
          <a:noFill/>
        </p:spPr>
        <p:txBody>
          <a:bodyPr wrap="square">
            <a:spAutoFit/>
          </a:bodyPr>
          <a:lstStyle/>
          <a:p>
            <a:pPr>
              <a:spcAft>
                <a:spcPts val="1000"/>
              </a:spcAft>
            </a:pPr>
            <a:r>
              <a:rPr sz="1600" b="0" dirty="0">
                <a:solidFill>
                  <a:srgbClr val="222222"/>
                </a:solidFill>
                <a:latin typeface="맑은 고딕"/>
              </a:rPr>
              <a:t>• </a:t>
            </a:r>
            <a:r>
              <a:rPr sz="1600" b="0" dirty="0" err="1">
                <a:solidFill>
                  <a:srgbClr val="222222"/>
                </a:solidFill>
                <a:latin typeface="맑은 고딕"/>
              </a:rPr>
              <a:t>인스턴스</a:t>
            </a:r>
            <a:r>
              <a:rPr sz="1600" b="0" dirty="0">
                <a:solidFill>
                  <a:srgbClr val="222222"/>
                </a:solidFill>
                <a:latin typeface="맑은 고딕"/>
              </a:rPr>
              <a:t> </a:t>
            </a:r>
            <a:r>
              <a:rPr sz="1600" b="0" dirty="0" err="1">
                <a:solidFill>
                  <a:srgbClr val="222222"/>
                </a:solidFill>
                <a:latin typeface="맑은 고딕"/>
              </a:rPr>
              <a:t>튜닝</a:t>
            </a:r>
            <a:r>
              <a:rPr sz="1600" b="0" dirty="0">
                <a:solidFill>
                  <a:srgbClr val="222222"/>
                </a:solidFill>
                <a:latin typeface="맑은 고딕"/>
              </a:rPr>
              <a:t> </a:t>
            </a:r>
            <a:r>
              <a:rPr sz="1600" b="0" dirty="0" err="1">
                <a:solidFill>
                  <a:srgbClr val="222222"/>
                </a:solidFill>
                <a:latin typeface="맑은 고딕"/>
              </a:rPr>
              <a:t>개요와</a:t>
            </a:r>
            <a:r>
              <a:rPr sz="1600" b="0" dirty="0">
                <a:solidFill>
                  <a:srgbClr val="222222"/>
                </a:solidFill>
                <a:latin typeface="맑은 고딕"/>
              </a:rPr>
              <a:t> </a:t>
            </a:r>
            <a:r>
              <a:rPr sz="1600" b="0" dirty="0" err="1">
                <a:solidFill>
                  <a:srgbClr val="222222"/>
                </a:solidFill>
                <a:latin typeface="맑은 고딕"/>
              </a:rPr>
              <a:t>기반</a:t>
            </a:r>
            <a:r>
              <a:rPr sz="1600" b="0" dirty="0">
                <a:solidFill>
                  <a:srgbClr val="222222"/>
                </a:solidFill>
                <a:latin typeface="맑은 고딕"/>
              </a:rPr>
              <a:t> — </a:t>
            </a:r>
            <a:r>
              <a:rPr sz="1600" b="0" dirty="0" err="1">
                <a:solidFill>
                  <a:srgbClr val="222222"/>
                </a:solidFill>
                <a:latin typeface="맑은 고딕"/>
              </a:rPr>
              <a:t>브리지</a:t>
            </a:r>
            <a:r>
              <a:rPr sz="1600" b="0" dirty="0">
                <a:solidFill>
                  <a:srgbClr val="222222"/>
                </a:solidFill>
                <a:latin typeface="맑은 고딕"/>
              </a:rPr>
              <a:t> 01 · ch15 </a:t>
            </a:r>
            <a:r>
              <a:rPr sz="1600" b="0" dirty="0" err="1">
                <a:solidFill>
                  <a:srgbClr val="222222"/>
                </a:solidFill>
                <a:latin typeface="맑은 고딕"/>
              </a:rPr>
              <a:t>성능</a:t>
            </a:r>
            <a:r>
              <a:rPr sz="1600" b="0" dirty="0">
                <a:solidFill>
                  <a:srgbClr val="222222"/>
                </a:solidFill>
                <a:latin typeface="맑은 고딕"/>
              </a:rPr>
              <a:t> </a:t>
            </a:r>
            <a:r>
              <a:rPr sz="1600" b="0" dirty="0" err="1">
                <a:solidFill>
                  <a:srgbClr val="222222"/>
                </a:solidFill>
                <a:latin typeface="맑은 고딕"/>
              </a:rPr>
              <a:t>튜닝</a:t>
            </a:r>
            <a:r>
              <a:rPr sz="1600" b="0" dirty="0">
                <a:solidFill>
                  <a:srgbClr val="222222"/>
                </a:solidFill>
                <a:latin typeface="맑은 고딕"/>
              </a:rPr>
              <a:t> </a:t>
            </a:r>
            <a:r>
              <a:rPr sz="1600" b="0" dirty="0" err="1">
                <a:solidFill>
                  <a:srgbClr val="222222"/>
                </a:solidFill>
                <a:latin typeface="맑은 고딕"/>
              </a:rPr>
              <a:t>개요</a:t>
            </a:r>
            <a:r>
              <a:rPr sz="1600" b="0" dirty="0">
                <a:solidFill>
                  <a:srgbClr val="222222"/>
                </a:solidFill>
                <a:latin typeface="맑은 고딕"/>
              </a:rPr>
              <a:t> · ch16 </a:t>
            </a:r>
            <a:r>
              <a:rPr sz="1600" b="0" dirty="0" err="1">
                <a:solidFill>
                  <a:srgbClr val="222222"/>
                </a:solidFill>
                <a:latin typeface="맑은 고딕"/>
              </a:rPr>
              <a:t>설계와</a:t>
            </a:r>
            <a:r>
              <a:rPr sz="1600" b="0" dirty="0">
                <a:solidFill>
                  <a:srgbClr val="222222"/>
                </a:solidFill>
                <a:latin typeface="맑은 고딕"/>
              </a:rPr>
              <a:t> </a:t>
            </a:r>
            <a:r>
              <a:rPr sz="1600" b="0" dirty="0" err="1">
                <a:solidFill>
                  <a:srgbClr val="222222"/>
                </a:solidFill>
                <a:latin typeface="맑은 고딕"/>
              </a:rPr>
              <a:t>개발</a:t>
            </a:r>
            <a:r>
              <a:rPr sz="1600" b="0" dirty="0">
                <a:solidFill>
                  <a:srgbClr val="222222"/>
                </a:solidFill>
                <a:latin typeface="맑은 고딕"/>
              </a:rPr>
              <a:t>(1h) · ch17 </a:t>
            </a:r>
            <a:r>
              <a:rPr sz="1600" b="0" dirty="0" err="1">
                <a:solidFill>
                  <a:srgbClr val="222222"/>
                </a:solidFill>
                <a:latin typeface="맑은 고딕"/>
              </a:rPr>
              <a:t>방법론과</a:t>
            </a:r>
            <a:r>
              <a:rPr sz="1600" b="0" dirty="0">
                <a:solidFill>
                  <a:srgbClr val="222222"/>
                </a:solidFill>
                <a:latin typeface="맑은 고딕"/>
              </a:rPr>
              <a:t> </a:t>
            </a:r>
            <a:r>
              <a:rPr sz="1600" b="0" dirty="0" err="1">
                <a:solidFill>
                  <a:srgbClr val="222222"/>
                </a:solidFill>
                <a:latin typeface="맑은 고딕"/>
              </a:rPr>
              <a:t>긴급</a:t>
            </a:r>
            <a:r>
              <a:rPr sz="1600" b="0" dirty="0">
                <a:solidFill>
                  <a:srgbClr val="222222"/>
                </a:solidFill>
                <a:latin typeface="맑은 고딕"/>
              </a:rPr>
              <a:t> </a:t>
            </a:r>
            <a:r>
              <a:rPr sz="1600" b="0" dirty="0" err="1">
                <a:solidFill>
                  <a:srgbClr val="222222"/>
                </a:solidFill>
                <a:latin typeface="맑은 고딕"/>
              </a:rPr>
              <a:t>대응</a:t>
            </a:r>
            <a:r>
              <a:rPr sz="1600" b="0" dirty="0">
                <a:solidFill>
                  <a:srgbClr val="222222"/>
                </a:solidFill>
                <a:latin typeface="맑은 고딕"/>
              </a:rPr>
              <a:t> · ch18 DB </a:t>
            </a:r>
            <a:r>
              <a:rPr sz="1600" b="0" dirty="0" err="1">
                <a:solidFill>
                  <a:srgbClr val="222222"/>
                </a:solidFill>
                <a:latin typeface="맑은 고딕"/>
              </a:rPr>
              <a:t>구성</a:t>
            </a:r>
            <a:endParaRPr sz="1600" b="0" dirty="0">
              <a:solidFill>
                <a:srgbClr val="222222"/>
              </a:solidFill>
              <a:latin typeface="맑은 고딕"/>
            </a:endParaRPr>
          </a:p>
          <a:p>
            <a:pPr>
              <a:spcAft>
                <a:spcPts val="1000"/>
              </a:spcAft>
            </a:pPr>
            <a:r>
              <a:rPr sz="1600" b="0" dirty="0">
                <a:solidFill>
                  <a:srgbClr val="222222"/>
                </a:solidFill>
                <a:latin typeface="맑은 고딕"/>
              </a:rPr>
              <a:t>• </a:t>
            </a:r>
            <a:r>
              <a:rPr sz="1600" b="0" dirty="0" err="1">
                <a:solidFill>
                  <a:srgbClr val="222222"/>
                </a:solidFill>
                <a:latin typeface="맑은 고딕"/>
              </a:rPr>
              <a:t>측정</a:t>
            </a:r>
            <a:r>
              <a:rPr sz="1600" b="0" dirty="0">
                <a:solidFill>
                  <a:srgbClr val="222222"/>
                </a:solidFill>
                <a:latin typeface="맑은 고딕"/>
              </a:rPr>
              <a:t> </a:t>
            </a:r>
            <a:r>
              <a:rPr sz="1600" b="0" dirty="0" err="1">
                <a:solidFill>
                  <a:srgbClr val="222222"/>
                </a:solidFill>
                <a:latin typeface="맑은 고딕"/>
              </a:rPr>
              <a:t>기준과</a:t>
            </a:r>
            <a:r>
              <a:rPr sz="1600" b="0" dirty="0">
                <a:solidFill>
                  <a:srgbClr val="222222"/>
                </a:solidFill>
                <a:latin typeface="맑은 고딕"/>
              </a:rPr>
              <a:t> </a:t>
            </a:r>
            <a:r>
              <a:rPr sz="1600" b="0" dirty="0" err="1">
                <a:solidFill>
                  <a:srgbClr val="222222"/>
                </a:solidFill>
                <a:latin typeface="맑은 고딕"/>
              </a:rPr>
              <a:t>통계</a:t>
            </a:r>
            <a:r>
              <a:rPr sz="1600" b="0" dirty="0">
                <a:solidFill>
                  <a:srgbClr val="222222"/>
                </a:solidFill>
                <a:latin typeface="맑은 고딕"/>
              </a:rPr>
              <a:t> </a:t>
            </a:r>
            <a:r>
              <a:rPr sz="1600" b="0" dirty="0" err="1">
                <a:solidFill>
                  <a:srgbClr val="222222"/>
                </a:solidFill>
                <a:latin typeface="맑은 고딕"/>
              </a:rPr>
              <a:t>인프라</a:t>
            </a:r>
            <a:r>
              <a:rPr sz="1600" b="0" dirty="0">
                <a:solidFill>
                  <a:srgbClr val="222222"/>
                </a:solidFill>
                <a:latin typeface="맑은 고딕"/>
              </a:rPr>
              <a:t> — ch19 DB Time · ch20 AWR </a:t>
            </a:r>
            <a:r>
              <a:rPr sz="1600" b="0" dirty="0" err="1">
                <a:solidFill>
                  <a:srgbClr val="222222"/>
                </a:solidFill>
                <a:latin typeface="맑은 고딕"/>
              </a:rPr>
              <a:t>인프라</a:t>
            </a:r>
            <a:r>
              <a:rPr sz="1600" b="0" dirty="0">
                <a:solidFill>
                  <a:srgbClr val="222222"/>
                </a:solidFill>
                <a:latin typeface="맑은 고딕"/>
              </a:rPr>
              <a:t> · ch21 </a:t>
            </a:r>
            <a:r>
              <a:rPr sz="1600" b="0" dirty="0" err="1">
                <a:solidFill>
                  <a:srgbClr val="222222"/>
                </a:solidFill>
                <a:latin typeface="맑은 고딕"/>
              </a:rPr>
              <a:t>히스토그램·확장</a:t>
            </a:r>
            <a:r>
              <a:rPr sz="1600" b="0" dirty="0">
                <a:solidFill>
                  <a:srgbClr val="222222"/>
                </a:solidFill>
                <a:latin typeface="맑은 고딕"/>
              </a:rPr>
              <a:t> </a:t>
            </a:r>
            <a:r>
              <a:rPr sz="1600" b="0" dirty="0" err="1">
                <a:solidFill>
                  <a:srgbClr val="222222"/>
                </a:solidFill>
                <a:latin typeface="맑은 고딕"/>
              </a:rPr>
              <a:t>통계</a:t>
            </a:r>
            <a:endParaRPr sz="1600" b="0" dirty="0">
              <a:solidFill>
                <a:srgbClr val="222222"/>
              </a:solidFill>
              <a:latin typeface="맑은 고딕"/>
            </a:endParaRPr>
          </a:p>
          <a:p>
            <a:pPr>
              <a:spcAft>
                <a:spcPts val="1000"/>
              </a:spcAft>
            </a:pPr>
            <a:r>
              <a:rPr sz="1600" b="0" dirty="0">
                <a:solidFill>
                  <a:srgbClr val="222222"/>
                </a:solidFill>
                <a:latin typeface="맑은 고딕"/>
              </a:rPr>
              <a:t>• </a:t>
            </a:r>
            <a:r>
              <a:rPr sz="1600" b="0" dirty="0" err="1">
                <a:solidFill>
                  <a:srgbClr val="222222"/>
                </a:solidFill>
                <a:latin typeface="맑은 고딕"/>
              </a:rPr>
              <a:t>보고서</a:t>
            </a:r>
            <a:r>
              <a:rPr sz="1600" b="0" dirty="0">
                <a:solidFill>
                  <a:srgbClr val="222222"/>
                </a:solidFill>
                <a:latin typeface="맑은 고딕"/>
              </a:rPr>
              <a:t> </a:t>
            </a:r>
            <a:r>
              <a:rPr sz="1600" b="0" dirty="0" err="1">
                <a:solidFill>
                  <a:srgbClr val="222222"/>
                </a:solidFill>
                <a:latin typeface="맑은 고딕"/>
              </a:rPr>
              <a:t>판독과</a:t>
            </a:r>
            <a:r>
              <a:rPr sz="1600" b="0" dirty="0">
                <a:solidFill>
                  <a:srgbClr val="222222"/>
                </a:solidFill>
                <a:latin typeface="맑은 고딕"/>
              </a:rPr>
              <a:t> </a:t>
            </a:r>
            <a:r>
              <a:rPr sz="1600" b="0" dirty="0" err="1">
                <a:solidFill>
                  <a:srgbClr val="222222"/>
                </a:solidFill>
                <a:latin typeface="맑은 고딕"/>
              </a:rPr>
              <a:t>기간</a:t>
            </a:r>
            <a:r>
              <a:rPr sz="1600" b="0" dirty="0">
                <a:solidFill>
                  <a:srgbClr val="222222"/>
                </a:solidFill>
                <a:latin typeface="맑은 고딕"/>
              </a:rPr>
              <a:t> </a:t>
            </a:r>
            <a:r>
              <a:rPr sz="1600" b="0" dirty="0" err="1">
                <a:solidFill>
                  <a:srgbClr val="222222"/>
                </a:solidFill>
                <a:latin typeface="맑은 고딕"/>
              </a:rPr>
              <a:t>비교</a:t>
            </a:r>
            <a:r>
              <a:rPr sz="1600" b="0" dirty="0">
                <a:solidFill>
                  <a:srgbClr val="222222"/>
                </a:solidFill>
                <a:latin typeface="맑은 고딕"/>
              </a:rPr>
              <a:t> — ch22 AWR </a:t>
            </a:r>
            <a:r>
              <a:rPr sz="1600" b="0" dirty="0" err="1">
                <a:solidFill>
                  <a:srgbClr val="222222"/>
                </a:solidFill>
                <a:latin typeface="맑은 고딕"/>
              </a:rPr>
              <a:t>보고서</a:t>
            </a:r>
            <a:r>
              <a:rPr sz="1600" b="0" dirty="0">
                <a:solidFill>
                  <a:srgbClr val="222222"/>
                </a:solidFill>
                <a:latin typeface="맑은 고딕"/>
              </a:rPr>
              <a:t> </a:t>
            </a:r>
            <a:r>
              <a:rPr sz="1600" b="0" dirty="0" err="1">
                <a:solidFill>
                  <a:srgbClr val="222222"/>
                </a:solidFill>
                <a:latin typeface="맑은 고딕"/>
              </a:rPr>
              <a:t>읽기</a:t>
            </a:r>
            <a:r>
              <a:rPr sz="1600" b="0" dirty="0">
                <a:solidFill>
                  <a:srgbClr val="222222"/>
                </a:solidFill>
                <a:latin typeface="맑은 고딕"/>
              </a:rPr>
              <a:t> · ch23 </a:t>
            </a:r>
            <a:r>
              <a:rPr sz="1600" b="0" dirty="0" err="1">
                <a:solidFill>
                  <a:srgbClr val="222222"/>
                </a:solidFill>
                <a:latin typeface="맑은 고딕"/>
              </a:rPr>
              <a:t>기간</a:t>
            </a:r>
            <a:r>
              <a:rPr sz="1600" b="0" dirty="0">
                <a:solidFill>
                  <a:srgbClr val="222222"/>
                </a:solidFill>
                <a:latin typeface="맑은 고딕"/>
              </a:rPr>
              <a:t> </a:t>
            </a:r>
            <a:r>
              <a:rPr sz="1600" b="0" dirty="0" err="1">
                <a:solidFill>
                  <a:srgbClr val="222222"/>
                </a:solidFill>
                <a:latin typeface="맑은 고딕"/>
              </a:rPr>
              <a:t>비교</a:t>
            </a:r>
            <a:r>
              <a:rPr sz="1600" b="0" dirty="0">
                <a:solidFill>
                  <a:srgbClr val="222222"/>
                </a:solidFill>
                <a:latin typeface="맑은 고딕"/>
              </a:rPr>
              <a:t>(1h) · ch24 ADDM · ch25 ASH</a:t>
            </a:r>
          </a:p>
          <a:p>
            <a:pPr>
              <a:spcAft>
                <a:spcPts val="1000"/>
              </a:spcAft>
            </a:pPr>
            <a:r>
              <a:rPr sz="1600" b="0" dirty="0">
                <a:solidFill>
                  <a:srgbClr val="222222"/>
                </a:solidFill>
                <a:latin typeface="맑은 고딕"/>
              </a:rPr>
              <a:t>• V$ </a:t>
            </a:r>
            <a:r>
              <a:rPr sz="1600" b="0" dirty="0" err="1">
                <a:solidFill>
                  <a:srgbClr val="222222"/>
                </a:solidFill>
                <a:latin typeface="맑은 고딕"/>
              </a:rPr>
              <a:t>진단·대기</a:t>
            </a:r>
            <a:r>
              <a:rPr sz="1600" b="0" dirty="0">
                <a:solidFill>
                  <a:srgbClr val="222222"/>
                </a:solidFill>
                <a:latin typeface="맑은 고딕"/>
              </a:rPr>
              <a:t> </a:t>
            </a:r>
            <a:r>
              <a:rPr sz="1600" b="0" dirty="0" err="1">
                <a:solidFill>
                  <a:srgbClr val="222222"/>
                </a:solidFill>
                <a:latin typeface="맑은 고딕"/>
              </a:rPr>
              <a:t>이벤트·모니터링·메모리</a:t>
            </a:r>
            <a:r>
              <a:rPr sz="1600" b="0" dirty="0">
                <a:solidFill>
                  <a:srgbClr val="222222"/>
                </a:solidFill>
                <a:latin typeface="맑은 고딕"/>
              </a:rPr>
              <a:t> </a:t>
            </a:r>
            <a:r>
              <a:rPr sz="1600" b="0" dirty="0" err="1">
                <a:solidFill>
                  <a:srgbClr val="222222"/>
                </a:solidFill>
                <a:latin typeface="맑은 고딕"/>
              </a:rPr>
              <a:t>구조</a:t>
            </a:r>
            <a:r>
              <a:rPr sz="1600" b="0" dirty="0">
                <a:solidFill>
                  <a:srgbClr val="222222"/>
                </a:solidFill>
                <a:latin typeface="맑은 고딕"/>
              </a:rPr>
              <a:t> — ch26 V$ </a:t>
            </a:r>
            <a:r>
              <a:rPr sz="1600" b="0" dirty="0" err="1">
                <a:solidFill>
                  <a:srgbClr val="222222"/>
                </a:solidFill>
                <a:latin typeface="맑은 고딕"/>
              </a:rPr>
              <a:t>절차</a:t>
            </a:r>
            <a:r>
              <a:rPr sz="1600" b="0" dirty="0">
                <a:solidFill>
                  <a:srgbClr val="222222"/>
                </a:solidFill>
                <a:latin typeface="맑은 고딕"/>
              </a:rPr>
              <a:t> · ch27 </a:t>
            </a:r>
            <a:r>
              <a:rPr sz="1600" b="0" dirty="0" err="1">
                <a:solidFill>
                  <a:srgbClr val="222222"/>
                </a:solidFill>
                <a:latin typeface="맑은 고딕"/>
              </a:rPr>
              <a:t>대기</a:t>
            </a:r>
            <a:r>
              <a:rPr sz="1600" b="0" dirty="0">
                <a:solidFill>
                  <a:srgbClr val="222222"/>
                </a:solidFill>
                <a:latin typeface="맑은 고딕"/>
              </a:rPr>
              <a:t> </a:t>
            </a:r>
            <a:r>
              <a:rPr sz="1600" b="0" dirty="0" err="1">
                <a:solidFill>
                  <a:srgbClr val="222222"/>
                </a:solidFill>
                <a:latin typeface="맑은 고딕"/>
              </a:rPr>
              <a:t>이벤트</a:t>
            </a:r>
            <a:r>
              <a:rPr sz="1600" b="0" dirty="0">
                <a:solidFill>
                  <a:srgbClr val="222222"/>
                </a:solidFill>
                <a:latin typeface="맑은 고딕"/>
              </a:rPr>
              <a:t> · ch28 </a:t>
            </a:r>
            <a:r>
              <a:rPr sz="1600" b="0" dirty="0" err="1">
                <a:solidFill>
                  <a:srgbClr val="222222"/>
                </a:solidFill>
                <a:latin typeface="맑은 고딕"/>
              </a:rPr>
              <a:t>상시</a:t>
            </a:r>
            <a:r>
              <a:rPr sz="1600" b="0" dirty="0">
                <a:solidFill>
                  <a:srgbClr val="222222"/>
                </a:solidFill>
                <a:latin typeface="맑은 고딕"/>
              </a:rPr>
              <a:t> </a:t>
            </a:r>
            <a:r>
              <a:rPr sz="1600" b="0" dirty="0" err="1">
                <a:solidFill>
                  <a:srgbClr val="222222"/>
                </a:solidFill>
                <a:latin typeface="맑은 고딕"/>
              </a:rPr>
              <a:t>모니터링</a:t>
            </a:r>
            <a:r>
              <a:rPr sz="1600" b="0" dirty="0">
                <a:solidFill>
                  <a:srgbClr val="222222"/>
                </a:solidFill>
                <a:latin typeface="맑은 고딕"/>
              </a:rPr>
              <a:t>(1h) · ch29 </a:t>
            </a:r>
            <a:r>
              <a:rPr sz="1600" b="0" dirty="0" err="1">
                <a:solidFill>
                  <a:srgbClr val="222222"/>
                </a:solidFill>
                <a:latin typeface="맑은 고딕"/>
              </a:rPr>
              <a:t>메모리</a:t>
            </a:r>
            <a:r>
              <a:rPr sz="1600" b="0" dirty="0">
                <a:solidFill>
                  <a:srgbClr val="222222"/>
                </a:solidFill>
                <a:latin typeface="맑은 고딕"/>
              </a:rPr>
              <a:t> </a:t>
            </a:r>
            <a:r>
              <a:rPr sz="1600" b="0" dirty="0" err="1">
                <a:solidFill>
                  <a:srgbClr val="222222"/>
                </a:solidFill>
                <a:latin typeface="맑은 고딕"/>
              </a:rPr>
              <a:t>할당</a:t>
            </a:r>
            <a:r>
              <a:rPr sz="1600" b="0" dirty="0">
                <a:solidFill>
                  <a:srgbClr val="222222"/>
                </a:solidFill>
                <a:latin typeface="맑은 고딕"/>
              </a:rPr>
              <a:t>(1h)</a:t>
            </a:r>
          </a:p>
          <a:p>
            <a:pPr>
              <a:spcAft>
                <a:spcPts val="1000"/>
              </a:spcAft>
            </a:pPr>
            <a:r>
              <a:rPr sz="1600" b="0" dirty="0">
                <a:solidFill>
                  <a:srgbClr val="222222"/>
                </a:solidFill>
                <a:latin typeface="맑은 고딕"/>
              </a:rPr>
              <a:t>• </a:t>
            </a:r>
            <a:r>
              <a:rPr sz="1600" b="0" dirty="0" err="1">
                <a:solidFill>
                  <a:srgbClr val="222222"/>
                </a:solidFill>
                <a:latin typeface="맑은 고딕"/>
              </a:rPr>
              <a:t>어드바이저와</a:t>
            </a:r>
            <a:r>
              <a:rPr sz="1600" b="0" dirty="0">
                <a:solidFill>
                  <a:srgbClr val="222222"/>
                </a:solidFill>
                <a:latin typeface="맑은 고딕"/>
              </a:rPr>
              <a:t> SGA — ch30 Advisor </a:t>
            </a:r>
            <a:r>
              <a:rPr sz="1600" b="0" dirty="0" err="1">
                <a:solidFill>
                  <a:srgbClr val="222222"/>
                </a:solidFill>
                <a:latin typeface="맑은 고딕"/>
              </a:rPr>
              <a:t>프레임워크</a:t>
            </a:r>
            <a:r>
              <a:rPr sz="1600" b="0" dirty="0">
                <a:solidFill>
                  <a:srgbClr val="222222"/>
                </a:solidFill>
                <a:latin typeface="맑은 고딕"/>
              </a:rPr>
              <a:t> · ch31 </a:t>
            </a:r>
            <a:r>
              <a:rPr sz="1600" b="0" dirty="0" err="1">
                <a:solidFill>
                  <a:srgbClr val="222222"/>
                </a:solidFill>
                <a:latin typeface="맑은 고딕"/>
              </a:rPr>
              <a:t>버퍼</a:t>
            </a:r>
            <a:r>
              <a:rPr sz="1600" b="0" dirty="0">
                <a:solidFill>
                  <a:srgbClr val="222222"/>
                </a:solidFill>
                <a:latin typeface="맑은 고딕"/>
              </a:rPr>
              <a:t> </a:t>
            </a:r>
            <a:r>
              <a:rPr sz="1600" b="0" dirty="0" err="1">
                <a:solidFill>
                  <a:srgbClr val="222222"/>
                </a:solidFill>
                <a:latin typeface="맑은 고딕"/>
              </a:rPr>
              <a:t>캐시·리두</a:t>
            </a:r>
            <a:r>
              <a:rPr sz="1600" b="0" dirty="0">
                <a:solidFill>
                  <a:srgbClr val="222222"/>
                </a:solidFill>
                <a:latin typeface="맑은 고딕"/>
              </a:rPr>
              <a:t> </a:t>
            </a:r>
            <a:r>
              <a:rPr sz="1600" b="0" dirty="0" err="1">
                <a:solidFill>
                  <a:srgbClr val="222222"/>
                </a:solidFill>
                <a:latin typeface="맑은 고딕"/>
              </a:rPr>
              <a:t>버퍼</a:t>
            </a:r>
            <a:r>
              <a:rPr sz="1600" b="0" dirty="0">
                <a:solidFill>
                  <a:srgbClr val="222222"/>
                </a:solidFill>
                <a:latin typeface="맑은 고딕"/>
              </a:rPr>
              <a:t> · ch32 </a:t>
            </a:r>
            <a:r>
              <a:rPr sz="1600" b="0" dirty="0" err="1">
                <a:solidFill>
                  <a:srgbClr val="222222"/>
                </a:solidFill>
                <a:latin typeface="맑은 고딕"/>
              </a:rPr>
              <a:t>공유</a:t>
            </a:r>
            <a:r>
              <a:rPr sz="1600" b="0" dirty="0">
                <a:solidFill>
                  <a:srgbClr val="222222"/>
                </a:solidFill>
                <a:latin typeface="맑은 고딕"/>
              </a:rPr>
              <a:t> </a:t>
            </a:r>
            <a:r>
              <a:rPr sz="1600" b="0" dirty="0" err="1">
                <a:solidFill>
                  <a:srgbClr val="222222"/>
                </a:solidFill>
                <a:latin typeface="맑은 고딕"/>
              </a:rPr>
              <a:t>풀·라지</a:t>
            </a:r>
            <a:r>
              <a:rPr sz="1600" b="0" dirty="0">
                <a:solidFill>
                  <a:srgbClr val="222222"/>
                </a:solidFill>
                <a:latin typeface="맑은 고딕"/>
              </a:rPr>
              <a:t> 풀</a:t>
            </a:r>
          </a:p>
          <a:p>
            <a:pPr>
              <a:spcAft>
                <a:spcPts val="1000"/>
              </a:spcAft>
            </a:pPr>
            <a:r>
              <a:rPr sz="1600" b="0" dirty="0">
                <a:solidFill>
                  <a:srgbClr val="222222"/>
                </a:solidFill>
                <a:latin typeface="맑은 고딕"/>
              </a:rPr>
              <a:t>• </a:t>
            </a:r>
            <a:r>
              <a:rPr sz="1600" b="0" dirty="0" err="1">
                <a:solidFill>
                  <a:srgbClr val="222222"/>
                </a:solidFill>
                <a:latin typeface="맑은 고딕"/>
              </a:rPr>
              <a:t>결과</a:t>
            </a:r>
            <a:r>
              <a:rPr sz="1600" b="0" dirty="0">
                <a:solidFill>
                  <a:srgbClr val="222222"/>
                </a:solidFill>
                <a:latin typeface="맑은 고딕"/>
              </a:rPr>
              <a:t> </a:t>
            </a:r>
            <a:r>
              <a:rPr sz="1600" b="0" dirty="0" err="1">
                <a:solidFill>
                  <a:srgbClr val="222222"/>
                </a:solidFill>
                <a:latin typeface="맑은 고딕"/>
              </a:rPr>
              <a:t>캐시·PGA·I</a:t>
            </a:r>
            <a:r>
              <a:rPr sz="1600" b="0" dirty="0">
                <a:solidFill>
                  <a:srgbClr val="222222"/>
                </a:solidFill>
                <a:latin typeface="맑은 고딕"/>
              </a:rPr>
              <a:t>/O, </a:t>
            </a:r>
            <a:r>
              <a:rPr sz="1600" b="0" dirty="0" err="1">
                <a:solidFill>
                  <a:srgbClr val="222222"/>
                </a:solidFill>
                <a:latin typeface="맑은 고딕"/>
              </a:rPr>
              <a:t>총정리</a:t>
            </a:r>
            <a:r>
              <a:rPr sz="1600" b="0" dirty="0">
                <a:solidFill>
                  <a:srgbClr val="222222"/>
                </a:solidFill>
                <a:latin typeface="맑은 고딕"/>
              </a:rPr>
              <a:t>, </a:t>
            </a:r>
            <a:r>
              <a:rPr sz="1600" b="0" dirty="0" err="1">
                <a:solidFill>
                  <a:srgbClr val="222222"/>
                </a:solidFill>
                <a:latin typeface="맑은 고딕"/>
              </a:rPr>
              <a:t>종합</a:t>
            </a:r>
            <a:r>
              <a:rPr sz="1600" b="0" dirty="0">
                <a:solidFill>
                  <a:srgbClr val="222222"/>
                </a:solidFill>
                <a:latin typeface="맑은 고딕"/>
              </a:rPr>
              <a:t> </a:t>
            </a:r>
            <a:r>
              <a:rPr sz="1600" b="0" dirty="0" err="1">
                <a:solidFill>
                  <a:srgbClr val="222222"/>
                </a:solidFill>
                <a:latin typeface="맑은 고딕"/>
              </a:rPr>
              <a:t>평가</a:t>
            </a:r>
            <a:r>
              <a:rPr sz="1600" b="0" dirty="0">
                <a:solidFill>
                  <a:srgbClr val="222222"/>
                </a:solidFill>
                <a:latin typeface="맑은 고딕"/>
              </a:rPr>
              <a:t> — ch33 </a:t>
            </a:r>
            <a:r>
              <a:rPr sz="1600" b="0" dirty="0" err="1">
                <a:solidFill>
                  <a:srgbClr val="222222"/>
                </a:solidFill>
                <a:latin typeface="맑은 고딕"/>
              </a:rPr>
              <a:t>결과</a:t>
            </a:r>
            <a:r>
              <a:rPr sz="1600" b="0" dirty="0">
                <a:solidFill>
                  <a:srgbClr val="222222"/>
                </a:solidFill>
                <a:latin typeface="맑은 고딕"/>
              </a:rPr>
              <a:t> </a:t>
            </a:r>
            <a:r>
              <a:rPr sz="1600" b="0" dirty="0" err="1">
                <a:solidFill>
                  <a:srgbClr val="222222"/>
                </a:solidFill>
                <a:latin typeface="맑은 고딕"/>
              </a:rPr>
              <a:t>캐시·PGA</a:t>
            </a:r>
            <a:r>
              <a:rPr sz="1600" b="0" dirty="0">
                <a:solidFill>
                  <a:srgbClr val="222222"/>
                </a:solidFill>
                <a:latin typeface="맑은 고딕"/>
              </a:rPr>
              <a:t> · ch34 I/O·OS · </a:t>
            </a:r>
            <a:r>
              <a:rPr sz="1600" b="0" dirty="0" err="1">
                <a:solidFill>
                  <a:srgbClr val="222222"/>
                </a:solidFill>
                <a:latin typeface="맑은 고딕"/>
              </a:rPr>
              <a:t>총정리</a:t>
            </a:r>
            <a:r>
              <a:rPr sz="1600" b="0" dirty="0">
                <a:solidFill>
                  <a:srgbClr val="222222"/>
                </a:solidFill>
                <a:latin typeface="맑은 고딕"/>
              </a:rPr>
              <a:t> · </a:t>
            </a:r>
            <a:r>
              <a:rPr sz="1600" b="0" dirty="0" err="1">
                <a:solidFill>
                  <a:srgbClr val="222222"/>
                </a:solidFill>
                <a:latin typeface="맑은 고딕"/>
              </a:rPr>
              <a:t>종합</a:t>
            </a:r>
            <a:r>
              <a:rPr sz="1600" b="0" dirty="0">
                <a:solidFill>
                  <a:srgbClr val="222222"/>
                </a:solidFill>
                <a:latin typeface="맑은 고딕"/>
              </a:rPr>
              <a:t> </a:t>
            </a:r>
            <a:r>
              <a:rPr sz="1600" b="0" dirty="0" err="1">
                <a:solidFill>
                  <a:srgbClr val="222222"/>
                </a:solidFill>
                <a:latin typeface="맑은 고딕"/>
              </a:rPr>
              <a:t>진단</a:t>
            </a:r>
            <a:r>
              <a:rPr sz="1600" b="0" dirty="0">
                <a:solidFill>
                  <a:srgbClr val="222222"/>
                </a:solidFill>
                <a:latin typeface="맑은 고딕"/>
              </a:rPr>
              <a:t> </a:t>
            </a:r>
            <a:r>
              <a:rPr sz="1600" b="0" dirty="0" err="1">
                <a:solidFill>
                  <a:srgbClr val="222222"/>
                </a:solidFill>
                <a:latin typeface="맑은 고딕"/>
              </a:rPr>
              <a:t>시나리오</a:t>
            </a:r>
            <a:endParaRPr sz="1600" b="0" dirty="0">
              <a:solidFill>
                <a:srgbClr val="222222"/>
              </a:solidFill>
              <a:latin typeface="맑은 고딕"/>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SQL 튜닝 입문과 측정 도구</a:t>
            </a:r>
          </a:p>
        </p:txBody>
      </p:sp>
      <p:sp>
        <p:nvSpPr>
          <p:cNvPr id="5" name="Rectangle 4"/>
          <p:cNvSpPr/>
          <p:nvPr/>
        </p:nvSpPr>
        <p:spPr>
          <a:xfrm>
            <a:off x="822960" y="4114800"/>
            <a:ext cx="5486400"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584775"/>
          </a:xfrm>
          <a:prstGeom prst="rect">
            <a:avLst/>
          </a:prstGeom>
          <a:noFill/>
        </p:spPr>
        <p:txBody>
          <a:bodyPr wrap="square">
            <a:spAutoFit/>
          </a:bodyPr>
          <a:lstStyle/>
          <a:p>
            <a:r>
              <a:rPr sz="1600" b="0" dirty="0">
                <a:solidFill>
                  <a:srgbClr val="FFFFFF"/>
                </a:solidFill>
                <a:latin typeface="맑은 고딕"/>
              </a:rPr>
              <a:t>•  SQLT ch01 · ch02 · ch03 · ch04</a:t>
            </a:r>
          </a:p>
          <a:p>
            <a:r>
              <a:rPr sz="1600" b="0" dirty="0">
                <a:solidFill>
                  <a:srgbClr val="FFFFFF"/>
                </a:solidFill>
                <a:latin typeface="맑은 고딕"/>
              </a:rPr>
              <a:t>•  </a:t>
            </a:r>
            <a:r>
              <a:rPr sz="1600" b="0" dirty="0" err="1">
                <a:solidFill>
                  <a:srgbClr val="FFFFFF"/>
                </a:solidFill>
                <a:latin typeface="맑은 고딕"/>
              </a:rPr>
              <a:t>측정</a:t>
            </a:r>
            <a:r>
              <a:rPr sz="1600" b="0" dirty="0">
                <a:solidFill>
                  <a:srgbClr val="FFFFFF"/>
                </a:solidFill>
                <a:latin typeface="맑은 고딕"/>
              </a:rPr>
              <a:t> </a:t>
            </a:r>
            <a:r>
              <a:rPr sz="1600" b="0" dirty="0" err="1">
                <a:solidFill>
                  <a:srgbClr val="FFFFFF"/>
                </a:solidFill>
                <a:latin typeface="맑은 고딕"/>
              </a:rPr>
              <a:t>도구</a:t>
            </a:r>
            <a:r>
              <a:rPr sz="1600" b="0" dirty="0">
                <a:solidFill>
                  <a:srgbClr val="FFFFFF"/>
                </a:solidFill>
                <a:latin typeface="맑은 고딕"/>
              </a:rPr>
              <a:t>(DBMS_XPLAN)를 </a:t>
            </a:r>
            <a:r>
              <a:rPr sz="1600" b="0" dirty="0" err="1">
                <a:solidFill>
                  <a:srgbClr val="FFFFFF"/>
                </a:solidFill>
                <a:latin typeface="맑은 고딕"/>
              </a:rPr>
              <a:t>먼저</a:t>
            </a:r>
            <a:r>
              <a:rPr sz="1600" b="0" dirty="0">
                <a:solidFill>
                  <a:srgbClr val="FFFFFF"/>
                </a:solidFill>
                <a:latin typeface="맑은 고딕"/>
              </a:rPr>
              <a:t> </a:t>
            </a:r>
            <a:r>
              <a:rPr sz="1600" b="0" dirty="0" err="1">
                <a:solidFill>
                  <a:srgbClr val="FFFFFF"/>
                </a:solidFill>
                <a:latin typeface="맑은 고딕"/>
              </a:rPr>
              <a:t>쥔다</a:t>
            </a:r>
            <a:endParaRPr sz="1600" b="0" dirty="0">
              <a:solidFill>
                <a:srgbClr val="FFFFFF"/>
              </a:solidFill>
              <a:latin typeface="맑은 고딕"/>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Rectangle 1"/>
          <p:cNvSpPr/>
          <p:nvPr/>
        </p:nvSpPr>
        <p:spPr>
          <a:xfrm>
            <a:off x="822960" y="2331720"/>
            <a:ext cx="164592"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88720" y="1463040"/>
            <a:ext cx="10058400" cy="369332"/>
          </a:xfrm>
          <a:prstGeom prst="rect">
            <a:avLst/>
          </a:prstGeom>
          <a:noFill/>
        </p:spPr>
        <p:txBody>
          <a:bodyPr wrap="square">
            <a:spAutoFit/>
          </a:bodyPr>
          <a:lstStyle/>
          <a:p>
            <a:r>
              <a:rPr sz="1800" b="1">
                <a:solidFill>
                  <a:srgbClr val="C0392B"/>
                </a:solidFill>
                <a:latin typeface="Malgun Gothic"/>
              </a:rPr>
              <a:t>Oracle SQL 튜닝 과정  ·  ch01</a:t>
            </a:r>
          </a:p>
        </p:txBody>
      </p:sp>
      <p:sp>
        <p:nvSpPr>
          <p:cNvPr id="4" name="TextBox 3"/>
          <p:cNvSpPr txBox="1"/>
          <p:nvPr/>
        </p:nvSpPr>
        <p:spPr>
          <a:xfrm>
            <a:off x="1188720" y="2194560"/>
            <a:ext cx="10332720" cy="2011680"/>
          </a:xfrm>
          <a:prstGeom prst="rect">
            <a:avLst/>
          </a:prstGeom>
          <a:noFill/>
        </p:spPr>
        <p:txBody>
          <a:bodyPr wrap="square">
            <a:spAutoFit/>
          </a:bodyPr>
          <a:lstStyle/>
          <a:p>
            <a:r>
              <a:rPr sz="4400" b="1">
                <a:solidFill>
                  <a:srgbClr val="FFFFFF"/>
                </a:solidFill>
                <a:latin typeface="Malgun Gothic"/>
              </a:rPr>
              <a:t>SQL 튜닝이란?</a:t>
            </a:r>
          </a:p>
        </p:txBody>
      </p:sp>
      <p:sp>
        <p:nvSpPr>
          <p:cNvPr id="5" name="TextBox 4"/>
          <p:cNvSpPr txBox="1"/>
          <p:nvPr/>
        </p:nvSpPr>
        <p:spPr>
          <a:xfrm>
            <a:off x="1188720" y="4297680"/>
            <a:ext cx="10058400" cy="1097280"/>
          </a:xfrm>
          <a:prstGeom prst="rect">
            <a:avLst/>
          </a:prstGeom>
          <a:noFill/>
        </p:spPr>
        <p:txBody>
          <a:bodyPr wrap="square">
            <a:spAutoFit/>
          </a:bodyPr>
          <a:lstStyle/>
          <a:p>
            <a:r>
              <a:rPr sz="1800" b="0">
                <a:solidFill>
                  <a:srgbClr val="C5CED6"/>
                </a:solidFill>
                <a:latin typeface="Malgun Gothic"/>
              </a:rPr>
              <a:t>SQL 성능의 정의 · CPU / I/O / Memory · 실행계획 실측 읽기 · IN vs EXISTS 통념 검증   |   Oracle Database 19c · 진료비청구심사 스키마 기준</a:t>
            </a:r>
          </a:p>
        </p:txBody>
      </p:sp>
    </p:spTree>
    <p:extLst>
      <p:ext uri="{BB962C8B-B14F-4D97-AF65-F5344CB8AC3E}">
        <p14:creationId xmlns:p14="http://schemas.microsoft.com/office/powerpoint/2010/main" val="13294961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학습 목표 (Objectives)</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 장을 마치면 다음을 수행할 수 있어야 한다.</a:t>
            </a:r>
          </a:p>
          <a:p>
            <a:r>
              <a:rPr sz="1600" b="0">
                <a:solidFill>
                  <a:srgbClr val="5A6672"/>
                </a:solidFill>
                <a:latin typeface="Malgun Gothic"/>
              </a:rPr>
              <a:t>    –  SQL 튜닝을 '자원을 덜 쓰는 방법을 실측 근거로 고르는 작업'으로 정의한다</a:t>
            </a:r>
          </a:p>
          <a:p>
            <a:r>
              <a:rPr sz="1600" b="0">
                <a:solidFill>
                  <a:srgbClr val="5A6672"/>
                </a:solidFill>
                <a:latin typeface="Malgun Gothic"/>
              </a:rPr>
              <a:t>    –  SQL 성능을 '빠르다/느리다'가 아니라 자원(CPU·I/O·Memory) 소비량으로 설명한다</a:t>
            </a:r>
          </a:p>
          <a:p>
            <a:r>
              <a:rPr sz="1600" b="0">
                <a:solidFill>
                  <a:srgbClr val="5A6672"/>
                </a:solidFill>
                <a:latin typeface="Malgun Gothic"/>
              </a:rPr>
              <a:t>    –  실행계획의 Buffers를 논리적 I/O 지표로 읽고 물리적 I/O와 구분한다</a:t>
            </a:r>
          </a:p>
          <a:p>
            <a:r>
              <a:rPr sz="1600" b="0">
                <a:solidFill>
                  <a:srgbClr val="5A6672"/>
                </a:solidFill>
                <a:latin typeface="Malgun Gothic"/>
              </a:rPr>
              <a:t>    –  OMem·1Mem·Used-Mem 컬럼으로 작업 영역(PGA) 사용량을 확인한다</a:t>
            </a:r>
          </a:p>
          <a:p>
            <a:r>
              <a:rPr sz="1600" b="0">
                <a:solidFill>
                  <a:srgbClr val="5A6672"/>
                </a:solidFill>
                <a:latin typeface="Malgun Gothic"/>
              </a:rPr>
              <a:t>    –  같은 결과를 내는 IN·EXISTS·JOIN+DISTINCT 세 SQL을 작성해 비교한다</a:t>
            </a:r>
          </a:p>
          <a:p>
            <a:r>
              <a:rPr sz="1600" b="0">
                <a:solidFill>
                  <a:srgbClr val="5A6672"/>
                </a:solidFill>
                <a:latin typeface="Malgun Gothic"/>
              </a:rPr>
              <a:t>    –  세 실행계획의 오퍼레이션 구성을 읽고 자원 소비 차이가 생긴 단계를 지목한다</a:t>
            </a:r>
          </a:p>
          <a:p>
            <a:r>
              <a:rPr sz="1600" b="0">
                <a:solidFill>
                  <a:srgbClr val="5A6672"/>
                </a:solidFill>
                <a:latin typeface="Malgun Gothic"/>
              </a:rPr>
              <a:t>    –  'EXISTS가 IN보다 빠르다'류의 통념을 실측으로 검증하는 절차를 설명한다</a:t>
            </a:r>
          </a:p>
          <a:p>
            <a:r>
              <a:rPr sz="1600" b="0">
                <a:solidFill>
                  <a:srgbClr val="5A6672"/>
                </a:solidFill>
                <a:latin typeface="Malgun Gothic"/>
              </a:rPr>
              <a:t>    –  Buffers가 같은데 A-Time이 다르면 캐시 상태(물리 I/O)를 의심한다</a:t>
            </a:r>
          </a:p>
          <a:p>
            <a:r>
              <a:rPr sz="1600" b="0">
                <a:solidFill>
                  <a:srgbClr val="5A6672"/>
                </a:solidFill>
                <a:latin typeface="Malgun Gothic"/>
              </a:rPr>
              <a:t>    –  DB 성능 문제의 원인 갈래를 분류하고 SQL 튜닝의 범위를 설정한다</a:t>
            </a:r>
          </a:p>
          <a:p>
            <a:r>
              <a:rPr sz="1600" b="0">
                <a:solidFill>
                  <a:srgbClr val="5A6672"/>
                </a:solidFill>
                <a:latin typeface="Malgun Gothic"/>
              </a:rPr>
              <a:t>    –  자원 절약이 다차원적임을 이해하고 어떤 자원을 아꼈는지 구분해 판단한다</a:t>
            </a:r>
          </a:p>
        </p:txBody>
      </p:sp>
    </p:spTree>
    <p:extLst>
      <p:ext uri="{BB962C8B-B14F-4D97-AF65-F5344CB8AC3E}">
        <p14:creationId xmlns:p14="http://schemas.microsoft.com/office/powerpoint/2010/main" val="5485649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장의 구성 (Agenda)</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1.1  Why — SQL 튜닝을 왜 배우는가 · 통념의 위험</a:t>
            </a:r>
          </a:p>
          <a:p>
            <a:r>
              <a:rPr sz="1800" b="0">
                <a:solidFill>
                  <a:srgbClr val="202830"/>
                </a:solidFill>
                <a:latin typeface="Malgun Gothic"/>
              </a:rPr>
              <a:t>•  1.2  Concept — SQL 성능의 정의 · 성능 문제의 원인 갈래</a:t>
            </a:r>
          </a:p>
          <a:p>
            <a:r>
              <a:rPr sz="1800" b="0">
                <a:solidFill>
                  <a:srgbClr val="202830"/>
                </a:solidFill>
                <a:latin typeface="Malgun Gothic"/>
              </a:rPr>
              <a:t>•  1.3  Oracle Internals — CPU · I/O · Memory 세 관점</a:t>
            </a:r>
          </a:p>
          <a:p>
            <a:r>
              <a:rPr sz="1800" b="0">
                <a:solidFill>
                  <a:srgbClr val="202830"/>
                </a:solidFill>
                <a:latin typeface="Malgun Gothic"/>
              </a:rPr>
              <a:t>•  1.4  Example — 세 가지 동등 SQL (IN / EXISTS / JOIN+DISTINCT)</a:t>
            </a:r>
          </a:p>
          <a:p>
            <a:r>
              <a:rPr sz="1800" b="0">
                <a:solidFill>
                  <a:srgbClr val="202830"/>
                </a:solidFill>
                <a:latin typeface="Malgun Gothic"/>
              </a:rPr>
              <a:t>•  1.5  Execution Plan — 세 버전 실행계획 실측 비교</a:t>
            </a:r>
          </a:p>
          <a:p>
            <a:r>
              <a:rPr sz="1800" b="0">
                <a:solidFill>
                  <a:srgbClr val="202830"/>
                </a:solidFill>
                <a:latin typeface="Malgun Gothic"/>
              </a:rPr>
              <a:t>•  1.6  Bad SQL — 'EXISTS가 IN보다 빠르다' 통념 검증</a:t>
            </a:r>
          </a:p>
          <a:p>
            <a:r>
              <a:rPr sz="1800" b="0">
                <a:solidFill>
                  <a:srgbClr val="202830"/>
                </a:solidFill>
                <a:latin typeface="Malgun Gothic"/>
              </a:rPr>
              <a:t>•  1.7  Tuning 예고 — 조인 제거와 이후 챕터 로드맵</a:t>
            </a:r>
          </a:p>
          <a:p>
            <a:r>
              <a:rPr sz="1800" b="0">
                <a:solidFill>
                  <a:srgbClr val="202830"/>
                </a:solidFill>
                <a:latin typeface="Malgun Gothic"/>
              </a:rPr>
              <a:t>•  1.8  Benchmark — 자원 관점 종합 비교</a:t>
            </a:r>
          </a:p>
          <a:p>
            <a:r>
              <a:rPr sz="1800" b="0">
                <a:solidFill>
                  <a:srgbClr val="202830"/>
                </a:solidFill>
                <a:latin typeface="Malgun Gothic"/>
              </a:rPr>
              <a:t>•  1.9~1.10  실습 안내 · 요약 (Review)</a:t>
            </a:r>
          </a:p>
        </p:txBody>
      </p:sp>
    </p:spTree>
    <p:extLst>
      <p:ext uri="{BB962C8B-B14F-4D97-AF65-F5344CB8AC3E}">
        <p14:creationId xmlns:p14="http://schemas.microsoft.com/office/powerpoint/2010/main" val="4245949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1.1</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SQL 튜닝을 왜 배우는가</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SQL 튜닝의 정의 — 자원과 실측</a:t>
            </a:r>
          </a:p>
          <a:p>
            <a:r>
              <a:rPr sz="1600" b="0">
                <a:solidFill>
                  <a:srgbClr val="C5CED6"/>
                </a:solidFill>
                <a:latin typeface="Malgun Gothic"/>
              </a:rPr>
              <a:t>•  통념이 위험한 이유</a:t>
            </a:r>
          </a:p>
          <a:p>
            <a:r>
              <a:rPr sz="1600" b="0">
                <a:solidFill>
                  <a:srgbClr val="C5CED6"/>
                </a:solidFill>
                <a:latin typeface="Malgun Gothic"/>
              </a:rPr>
              <a:t>•  이 차시의 목표와 범위</a:t>
            </a:r>
          </a:p>
        </p:txBody>
      </p:sp>
    </p:spTree>
    <p:extLst>
      <p:ext uri="{BB962C8B-B14F-4D97-AF65-F5344CB8AC3E}">
        <p14:creationId xmlns:p14="http://schemas.microsoft.com/office/powerpoint/2010/main" val="29582395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SQL 튜닝이란 무엇인가</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SQL 튜닝은 문법을 화려하게 쓰는 기술이 아니다</a:t>
            </a:r>
          </a:p>
          <a:p>
            <a:r>
              <a:rPr sz="1600" b="0">
                <a:solidFill>
                  <a:srgbClr val="5A6672"/>
                </a:solidFill>
                <a:latin typeface="Malgun Gothic"/>
              </a:rPr>
              <a:t>    –  같은 결과를 내는 여러 방법 중 자원을 덜 쓰는 방법을 골라내는 작업</a:t>
            </a:r>
          </a:p>
          <a:p>
            <a:r>
              <a:rPr sz="1600" b="0">
                <a:solidFill>
                  <a:srgbClr val="5A6672"/>
                </a:solidFill>
                <a:latin typeface="Malgun Gothic"/>
              </a:rPr>
              <a:t>    –  고르는 근거는 감이나 관행이 아니라 실측이다</a:t>
            </a:r>
          </a:p>
          <a:p>
            <a:r>
              <a:rPr sz="1800" b="0">
                <a:solidFill>
                  <a:srgbClr val="202830"/>
                </a:solidFill>
                <a:latin typeface="Malgun Gothic"/>
              </a:rPr>
              <a:t>•  '같은 결과'가 전제라는 점이 중요하다</a:t>
            </a:r>
          </a:p>
          <a:p>
            <a:r>
              <a:rPr sz="1600" b="0">
                <a:solidFill>
                  <a:srgbClr val="5A6672"/>
                </a:solidFill>
                <a:latin typeface="Malgun Gothic"/>
              </a:rPr>
              <a:t>    –  결과가 달라지면 그것은 튜닝이 아니라 요구사항 변경이다</a:t>
            </a:r>
          </a:p>
          <a:p>
            <a:r>
              <a:rPr sz="1600" b="0">
                <a:solidFill>
                  <a:srgbClr val="5A6672"/>
                </a:solidFill>
                <a:latin typeface="Malgun Gothic"/>
              </a:rPr>
              <a:t>    –  이번 장의 세 SQL은 결과가 완전히 같은 상태에서 자원만 비교한다</a:t>
            </a:r>
          </a:p>
          <a:p>
            <a:r>
              <a:rPr sz="1800" b="0">
                <a:solidFill>
                  <a:srgbClr val="202830"/>
                </a:solidFill>
                <a:latin typeface="Malgun Gothic"/>
              </a:rPr>
              <a:t>•  튜닝의 산출물은 '더 빠른 SQL'이 아니라 '근거가 붙은 선택'이다</a:t>
            </a:r>
          </a:p>
          <a:p>
            <a:r>
              <a:rPr sz="1600" b="0">
                <a:solidFill>
                  <a:srgbClr val="5A6672"/>
                </a:solidFill>
                <a:latin typeface="Malgun Gothic"/>
              </a:rPr>
              <a:t>    –  왜 이 방식을 골랐는지 설명할 수 없으면 재현·유지보수가 불가능하다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이 과정의 모든 실행계획·소요 시간·Buffers는 진료비청구심사 실습 DB에서 직접 캡처한 실측값이다.</a:t>
            </a:r>
          </a:p>
        </p:txBody>
      </p:sp>
    </p:spTree>
    <p:extLst>
      <p:ext uri="{BB962C8B-B14F-4D97-AF65-F5344CB8AC3E}">
        <p14:creationId xmlns:p14="http://schemas.microsoft.com/office/powerpoint/2010/main" val="14784024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통념은 왜 위험한가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개발자 사이에는 '이 방식이 항상 더 빠르다'류의 통념이 널리 퍼져 있다</a:t>
            </a:r>
          </a:p>
          <a:p>
            <a:r>
              <a:rPr sz="1600" b="0">
                <a:solidFill>
                  <a:srgbClr val="5A6672"/>
                </a:solidFill>
                <a:latin typeface="Malgun Gothic"/>
              </a:rPr>
              <a:t>    –  예: EXISTS가 IN보다 빠르다 / 서브쿼리보다 조인이 좋다</a:t>
            </a:r>
          </a:p>
          <a:p>
            <a:r>
              <a:rPr sz="1600" b="0">
                <a:solidFill>
                  <a:srgbClr val="5A6672"/>
                </a:solidFill>
                <a:latin typeface="Malgun Gothic"/>
              </a:rPr>
              <a:t>    –  예: 인덱스를 타면 무조건 빠르다 / DISTINCT는 항상 비싸다</a:t>
            </a:r>
          </a:p>
          <a:p>
            <a:r>
              <a:rPr sz="1800" b="0">
                <a:solidFill>
                  <a:srgbClr val="202830"/>
                </a:solidFill>
                <a:latin typeface="Malgun Gothic"/>
              </a:rPr>
              <a:t>•  통념은 대개 '어떤 버전, 어떤 데이터, 어떤 상황'이라는 조건이 떨어져 나간 결과다</a:t>
            </a:r>
          </a:p>
          <a:p>
            <a:r>
              <a:rPr sz="1600" b="0">
                <a:solidFill>
                  <a:srgbClr val="5A6672"/>
                </a:solidFill>
                <a:latin typeface="Malgun Gothic"/>
              </a:rPr>
              <a:t>    –  버전이 바뀌면 옵티마이저의 변환 능력이 달라진다</a:t>
            </a:r>
          </a:p>
          <a:p>
            <a:r>
              <a:rPr sz="1600" b="0">
                <a:solidFill>
                  <a:srgbClr val="5A6672"/>
                </a:solidFill>
                <a:latin typeface="Malgun Gothic"/>
              </a:rPr>
              <a:t>    –  데이터 분포가 바뀌면 유리한 접근 경로가 바뀐다</a:t>
            </a:r>
          </a:p>
          <a:p>
            <a:r>
              <a:rPr sz="1800" b="0">
                <a:solidFill>
                  <a:srgbClr val="202830"/>
                </a:solidFill>
                <a:latin typeface="Malgun Gothic"/>
              </a:rPr>
              <a:t>•  1.6절에서 실측으로 통념 하나를 직접 검증한다</a:t>
            </a:r>
          </a:p>
        </p:txBody>
      </p:sp>
    </p:spTree>
    <p:extLst>
      <p:ext uri="{BB962C8B-B14F-4D97-AF65-F5344CB8AC3E}">
        <p14:creationId xmlns:p14="http://schemas.microsoft.com/office/powerpoint/2010/main" val="2769575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차시의 목표와 범위</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목표 1 — SQL 성능을 판단하는 기준을 자원 관점에서 세운다</a:t>
            </a:r>
          </a:p>
          <a:p>
            <a:r>
              <a:rPr sz="1800" b="0">
                <a:solidFill>
                  <a:srgbClr val="202830"/>
                </a:solidFill>
                <a:latin typeface="Malgun Gothic"/>
              </a:rPr>
              <a:t>•  목표 2 — 판단을 감이 아니라 실측으로 하는 습관을 세운다</a:t>
            </a:r>
          </a:p>
          <a:p>
            <a:r>
              <a:rPr sz="1800" b="0">
                <a:solidFill>
                  <a:srgbClr val="202830"/>
                </a:solidFill>
                <a:latin typeface="Malgun Gothic"/>
              </a:rPr>
              <a:t>•  이 장에서 다루지 않는 것</a:t>
            </a:r>
          </a:p>
          <a:p>
            <a:r>
              <a:rPr sz="1600" b="0">
                <a:solidFill>
                  <a:srgbClr val="5A6672"/>
                </a:solidFill>
                <a:latin typeface="Malgun Gothic"/>
              </a:rPr>
              <a:t>    –  인덱스 설계, 바인드 변수, 힌트 등 구체적 개선 기법 — 이후 챕터</a:t>
            </a:r>
          </a:p>
          <a:p>
            <a:r>
              <a:rPr sz="1600" b="0">
                <a:solidFill>
                  <a:srgbClr val="5A6672"/>
                </a:solidFill>
                <a:latin typeface="Malgun Gothic"/>
              </a:rPr>
              <a:t>    –  동시성·락 경합 문제 — 본 과정 범위 밖</a:t>
            </a:r>
          </a:p>
          <a:p>
            <a:r>
              <a:rPr sz="1800" b="0">
                <a:solidFill>
                  <a:srgbClr val="202830"/>
                </a:solidFill>
                <a:latin typeface="Malgun Gothic"/>
              </a:rPr>
              <a:t>•  이 장은 DDL 변경이 없다 — 스키마를 손대지 않고 읽기만 한다</a:t>
            </a:r>
          </a:p>
          <a:p>
            <a:r>
              <a:rPr sz="1600" b="0">
                <a:solidFill>
                  <a:srgbClr val="5A6672"/>
                </a:solidFill>
                <a:latin typeface="Malgun Gothic"/>
              </a:rPr>
              <a:t>    –  같은 데이터·같은 스키마 위에서 SQL 작성 방식만 바꿔 비교한다</a:t>
            </a:r>
          </a:p>
        </p:txBody>
      </p:sp>
    </p:spTree>
    <p:extLst>
      <p:ext uri="{BB962C8B-B14F-4D97-AF65-F5344CB8AC3E}">
        <p14:creationId xmlns:p14="http://schemas.microsoft.com/office/powerpoint/2010/main" val="21122664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1.2</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SQL 성능이란 무엇인가</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성능의 정의 — 자원 소비량</a:t>
            </a:r>
          </a:p>
          <a:p>
            <a:r>
              <a:rPr sz="1600" b="0">
                <a:solidFill>
                  <a:srgbClr val="C5CED6"/>
                </a:solidFill>
                <a:latin typeface="Malgun Gothic"/>
              </a:rPr>
              <a:t>•  시간 지표가 불안정한 이유</a:t>
            </a:r>
          </a:p>
          <a:p>
            <a:r>
              <a:rPr sz="1600" b="0">
                <a:solidFill>
                  <a:srgbClr val="C5CED6"/>
                </a:solidFill>
                <a:latin typeface="Malgun Gothic"/>
              </a:rPr>
              <a:t>•  성능 문제의 원인 갈래</a:t>
            </a:r>
          </a:p>
          <a:p>
            <a:r>
              <a:rPr sz="1600" b="0">
                <a:solidFill>
                  <a:srgbClr val="C5CED6"/>
                </a:solidFill>
                <a:latin typeface="Malgun Gothic"/>
              </a:rPr>
              <a:t>•  SQL 튜닝과 애플리케이션 튜닝</a:t>
            </a:r>
          </a:p>
        </p:txBody>
      </p:sp>
    </p:spTree>
    <p:extLst>
      <p:ext uri="{BB962C8B-B14F-4D97-AF65-F5344CB8AC3E}">
        <p14:creationId xmlns:p14="http://schemas.microsoft.com/office/powerpoint/2010/main" val="20723146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성능의 정의 — 자원 소비량</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SQL 성능은 '빠르다/느리다'가 아니다</a:t>
            </a:r>
          </a:p>
          <a:p>
            <a:r>
              <a:rPr sz="1600" b="0">
                <a:solidFill>
                  <a:srgbClr val="5A6672"/>
                </a:solidFill>
                <a:latin typeface="Malgun Gothic"/>
              </a:rPr>
              <a:t>    –  얼마만큼의 자원(CPU, I/O, 메모리)을 써서 결과를 만들었는가로 정의한다</a:t>
            </a:r>
          </a:p>
          <a:p>
            <a:r>
              <a:rPr sz="1800" b="0">
                <a:solidFill>
                  <a:srgbClr val="202830"/>
                </a:solidFill>
                <a:latin typeface="Malgun Gothic"/>
              </a:rPr>
              <a:t>•  왜 시간이 아니라 자원인가</a:t>
            </a:r>
          </a:p>
          <a:p>
            <a:r>
              <a:rPr sz="1600" b="0">
                <a:solidFill>
                  <a:srgbClr val="5A6672"/>
                </a:solidFill>
                <a:latin typeface="Malgun Gothic"/>
              </a:rPr>
              <a:t>    –  같은 시간이 걸려도 자원 소비량이 다르면 동시 사용자가 늘었을 때 체감 성능이 달라진다</a:t>
            </a:r>
          </a:p>
          <a:p>
            <a:r>
              <a:rPr sz="1600" b="0">
                <a:solidFill>
                  <a:srgbClr val="5A6672"/>
                </a:solidFill>
                <a:latin typeface="Malgun Gothic"/>
              </a:rPr>
              <a:t>    –  혼자 쓸 때 잘 나오던 SQL이 부하가 걸리면 무너지는 전형적인 원인</a:t>
            </a:r>
          </a:p>
          <a:p>
            <a:r>
              <a:rPr sz="1800" b="0">
                <a:solidFill>
                  <a:srgbClr val="202830"/>
                </a:solidFill>
                <a:latin typeface="Malgun Gothic"/>
              </a:rPr>
              <a:t>•  그래서 '몇 초 걸렸다'보다 자원 소비량(Buffers 등)이 더 안정적인 지표다</a:t>
            </a:r>
          </a:p>
          <a:p>
            <a:r>
              <a:rPr sz="1600" b="0">
                <a:solidFill>
                  <a:srgbClr val="5A6672"/>
                </a:solidFill>
                <a:latin typeface="Malgun Gothic"/>
              </a:rPr>
              <a:t>    –  자원 지표는 서버 상태·캐시 상태에 덜 흔들린다</a:t>
            </a:r>
          </a:p>
        </p:txBody>
      </p:sp>
    </p:spTree>
    <p:extLst>
      <p:ext uri="{BB962C8B-B14F-4D97-AF65-F5344CB8AC3E}">
        <p14:creationId xmlns:p14="http://schemas.microsoft.com/office/powerpoint/2010/main" val="34498075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시간 지표는 왜 흔들리는가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A-Time(실제 소요 시간)에 섞여 들어오는 요인들</a:t>
            </a:r>
          </a:p>
          <a:p>
            <a:r>
              <a:rPr sz="1600" b="0">
                <a:solidFill>
                  <a:srgbClr val="5A6672"/>
                </a:solidFill>
                <a:latin typeface="Malgun Gothic"/>
              </a:rPr>
              <a:t>    –  블록이 이미 버퍼 캐시에 있었는가, 디스크에서 새로 읽었는가</a:t>
            </a:r>
          </a:p>
          <a:p>
            <a:r>
              <a:rPr sz="1600" b="0">
                <a:solidFill>
                  <a:srgbClr val="5A6672"/>
                </a:solidFill>
                <a:latin typeface="Malgun Gothic"/>
              </a:rPr>
              <a:t>    –  그 순간 서버에 다른 부하가 있었는가</a:t>
            </a:r>
          </a:p>
          <a:p>
            <a:r>
              <a:rPr sz="1600" b="0">
                <a:solidFill>
                  <a:srgbClr val="5A6672"/>
                </a:solidFill>
                <a:latin typeface="Malgun Gothic"/>
              </a:rPr>
              <a:t>    –  같은 SQL을 몇 번째로 실행했는가 (실행 순서)</a:t>
            </a:r>
          </a:p>
          <a:p>
            <a:r>
              <a:rPr sz="1800" b="0">
                <a:solidFill>
                  <a:srgbClr val="202830"/>
                </a:solidFill>
                <a:latin typeface="Malgun Gothic"/>
              </a:rPr>
              <a:t>•  자원 지표는 이런 요인에 상대적으로 덜 흔들린다</a:t>
            </a:r>
          </a:p>
          <a:p>
            <a:r>
              <a:rPr sz="1600" b="0">
                <a:solidFill>
                  <a:srgbClr val="5A6672"/>
                </a:solidFill>
                <a:latin typeface="Malgun Gothic"/>
              </a:rPr>
              <a:t>    –  Buffers는 '몇 개의 블록을 만졌는가'이므로 캐시 여부와 무관하게 유사한 값이 나온다</a:t>
            </a:r>
          </a:p>
          <a:p>
            <a:r>
              <a:rPr sz="1800" b="0">
                <a:solidFill>
                  <a:srgbClr val="202830"/>
                </a:solidFill>
                <a:latin typeface="Malgun Gothic"/>
              </a:rPr>
              <a:t>•  실무 원칙 — 시간은 참고 지표, 자원은 판단 지표</a:t>
            </a:r>
          </a:p>
          <a:p>
            <a:r>
              <a:rPr sz="1600" b="0">
                <a:solidFill>
                  <a:srgbClr val="5A6672"/>
                </a:solidFill>
                <a:latin typeface="Malgun Gothic"/>
              </a:rPr>
              <a:t>    –  시간이 줄었는데 Buffers가 그대로면 개선이 아니라 캐시 효과일 수 있다</a:t>
            </a:r>
          </a:p>
        </p:txBody>
      </p:sp>
    </p:spTree>
    <p:extLst>
      <p:ext uri="{BB962C8B-B14F-4D97-AF65-F5344CB8AC3E}">
        <p14:creationId xmlns:p14="http://schemas.microsoft.com/office/powerpoint/2010/main" val="21391437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DB 성능 문제의 원인 갈래</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SQL 자체의 접근 경로 문제</a:t>
            </a:r>
          </a:p>
          <a:p>
            <a:r>
              <a:rPr sz="1600" b="0">
                <a:solidFill>
                  <a:srgbClr val="5A6672"/>
                </a:solidFill>
                <a:latin typeface="Malgun Gothic"/>
              </a:rPr>
              <a:t>    –  불필요한 Full Scan, 비효율적인 조인 순서·조인 방식</a:t>
            </a:r>
          </a:p>
          <a:p>
            <a:r>
              <a:rPr sz="1800" b="0">
                <a:solidFill>
                  <a:srgbClr val="202830"/>
                </a:solidFill>
                <a:latin typeface="Malgun Gothic"/>
              </a:rPr>
              <a:t>•  인덱스 설계 문제</a:t>
            </a:r>
          </a:p>
          <a:p>
            <a:r>
              <a:rPr sz="1600" b="0">
                <a:solidFill>
                  <a:srgbClr val="5A6672"/>
                </a:solidFill>
                <a:latin typeface="Malgun Gothic"/>
              </a:rPr>
              <a:t>    –  필요한 인덱스가 없거나, 있어도 선두 컬럼이 맞지 않아 쓰이지 못함</a:t>
            </a:r>
          </a:p>
          <a:p>
            <a:r>
              <a:rPr sz="1800" b="0">
                <a:solidFill>
                  <a:srgbClr val="202830"/>
                </a:solidFill>
                <a:latin typeface="Malgun Gothic"/>
              </a:rPr>
              <a:t>•  통계정보·카디널리티 추정 문제</a:t>
            </a:r>
          </a:p>
          <a:p>
            <a:r>
              <a:rPr sz="1600" b="0">
                <a:solidFill>
                  <a:srgbClr val="5A6672"/>
                </a:solidFill>
                <a:latin typeface="Malgun Gothic"/>
              </a:rPr>
              <a:t>    –  옵티마이저의 행 수 추정이 실제와 크게 어긋나면 잘못된 계획을 고른다</a:t>
            </a:r>
          </a:p>
          <a:p>
            <a:r>
              <a:rPr sz="1800" b="0">
                <a:solidFill>
                  <a:srgbClr val="202830"/>
                </a:solidFill>
                <a:latin typeface="Malgun Gothic"/>
              </a:rPr>
              <a:t>•  동시성 / 락 경합 문제 — 본 과정 범위 밖</a:t>
            </a:r>
          </a:p>
          <a:p>
            <a:r>
              <a:rPr sz="1600" b="0">
                <a:solidFill>
                  <a:srgbClr val="5A6672"/>
                </a:solidFill>
                <a:latin typeface="Malgun Gothic"/>
              </a:rPr>
              <a:t>    –  SQL 자체는 정상인데 대기(wait) 때문에 느린 경우</a:t>
            </a:r>
          </a:p>
        </p:txBody>
      </p:sp>
    </p:spTree>
    <p:extLst>
      <p:ext uri="{BB962C8B-B14F-4D97-AF65-F5344CB8AC3E}">
        <p14:creationId xmlns:p14="http://schemas.microsoft.com/office/powerpoint/2010/main" val="39204503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SQL 튜닝과 애플리케이션 튜닝</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위험한 가정 — '같은 결과만 나오면 SQL 작성 방식은 상관없다'</a:t>
            </a:r>
          </a:p>
          <a:p>
            <a:r>
              <a:rPr sz="1600" b="0">
                <a:solidFill>
                  <a:srgbClr val="5A6672"/>
                </a:solidFill>
                <a:latin typeface="Malgun Gothic"/>
              </a:rPr>
              <a:t>    –  애플리케이션 코드 리뷰에서 SQL을 결과 기준으로만 보는 순간 성능은 관리 대상에서 빠진다</a:t>
            </a:r>
          </a:p>
          <a:p>
            <a:r>
              <a:rPr sz="1800" b="0">
                <a:solidFill>
                  <a:srgbClr val="202830"/>
                </a:solidFill>
                <a:latin typeface="Malgun Gothic"/>
              </a:rPr>
              <a:t>•  결과가 완전히 같아도 내부 자원 소비는 크게 달라질 수 있다</a:t>
            </a:r>
          </a:p>
          <a:p>
            <a:r>
              <a:rPr sz="1600" b="0">
                <a:solidFill>
                  <a:srgbClr val="5A6672"/>
                </a:solidFill>
                <a:latin typeface="Malgun Gothic"/>
              </a:rPr>
              <a:t>    –  1.5절·1.8절 사례에서 세 SQL의 결과 건수는 동일하지만 Buffers는 다르다</a:t>
            </a:r>
          </a:p>
          <a:p>
            <a:r>
              <a:rPr sz="1800" b="0">
                <a:solidFill>
                  <a:srgbClr val="202830"/>
                </a:solidFill>
                <a:latin typeface="Malgun Gothic"/>
              </a:rPr>
              <a:t>•  그래서 코드 리뷰에는 실행계획 확인이 함께 들어가야 한다</a:t>
            </a:r>
          </a:p>
          <a:p>
            <a:r>
              <a:rPr sz="1600" b="0">
                <a:solidFill>
                  <a:srgbClr val="5A6672"/>
                </a:solidFill>
                <a:latin typeface="Malgun Gothic"/>
              </a:rPr>
              <a:t>    –  SQL의 겉모습(길이·문법)만으로는 자원 소비를 예측할 수 없다</a:t>
            </a:r>
          </a:p>
          <a:p>
            <a:r>
              <a:rPr sz="1600" b="0">
                <a:solidFill>
                  <a:srgbClr val="5A6672"/>
                </a:solidFill>
                <a:latin typeface="Malgun Gothic"/>
              </a:rPr>
              <a:t>    –  이번 장의 세 버전 비교가 그 근거가 된다</a:t>
            </a:r>
          </a:p>
        </p:txBody>
      </p:sp>
    </p:spTree>
    <p:extLst>
      <p:ext uri="{BB962C8B-B14F-4D97-AF65-F5344CB8AC3E}">
        <p14:creationId xmlns:p14="http://schemas.microsoft.com/office/powerpoint/2010/main" val="11743954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1.3</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자원의 세 관점 — CPU · I/O · Memory</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CPU 관점 — 연산량</a:t>
            </a:r>
          </a:p>
          <a:p>
            <a:r>
              <a:rPr sz="1600" b="0">
                <a:solidFill>
                  <a:srgbClr val="C5CED6"/>
                </a:solidFill>
                <a:latin typeface="Malgun Gothic"/>
              </a:rPr>
              <a:t>•  I/O 관점 — Buffers와 물리 I/O</a:t>
            </a:r>
          </a:p>
          <a:p>
            <a:r>
              <a:rPr sz="1600" b="0">
                <a:solidFill>
                  <a:srgbClr val="C5CED6"/>
                </a:solidFill>
                <a:latin typeface="Malgun Gothic"/>
              </a:rPr>
              <a:t>•  Memory 관점 — 작업 영역(PGA)</a:t>
            </a:r>
          </a:p>
          <a:p>
            <a:r>
              <a:rPr sz="1600" b="0">
                <a:solidFill>
                  <a:srgbClr val="C5CED6"/>
                </a:solidFill>
                <a:latin typeface="Malgun Gothic"/>
              </a:rPr>
              <a:t>•  좋은 SQL과 나쁜 SQL의 판단 기준</a:t>
            </a:r>
          </a:p>
        </p:txBody>
      </p:sp>
    </p:spTree>
    <p:extLst>
      <p:ext uri="{BB962C8B-B14F-4D97-AF65-F5344CB8AC3E}">
        <p14:creationId xmlns:p14="http://schemas.microsoft.com/office/powerpoint/2010/main" val="11755090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CPU 관점 — 연산량</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CPU는 '무엇을 얼마나 계산했는가'로 소비된다</a:t>
            </a:r>
          </a:p>
          <a:p>
            <a:r>
              <a:rPr sz="1600" b="0">
                <a:solidFill>
                  <a:srgbClr val="5A6672"/>
                </a:solidFill>
                <a:latin typeface="Malgun Gothic"/>
              </a:rPr>
              <a:t>    –  조건 비교 — WHERE 절의 필터를 행마다 평가</a:t>
            </a:r>
          </a:p>
          <a:p>
            <a:r>
              <a:rPr sz="1600" b="0">
                <a:solidFill>
                  <a:srgbClr val="5A6672"/>
                </a:solidFill>
                <a:latin typeface="Malgun Gothic"/>
              </a:rPr>
              <a:t>    –  정렬 — ORDER BY, GROUP BY, DISTINCT 등에서 발생</a:t>
            </a:r>
          </a:p>
          <a:p>
            <a:r>
              <a:rPr sz="1600" b="0">
                <a:solidFill>
                  <a:srgbClr val="5A6672"/>
                </a:solidFill>
                <a:latin typeface="Malgun Gothic"/>
              </a:rPr>
              <a:t>    –  해시 연산 — 해시 조인·해시 그룹핑에서 해시 값 계산과 탐색</a:t>
            </a:r>
          </a:p>
          <a:p>
            <a:r>
              <a:rPr sz="1800" b="0">
                <a:solidFill>
                  <a:srgbClr val="202830"/>
                </a:solidFill>
                <a:latin typeface="Malgun Gothic"/>
              </a:rPr>
              <a:t>•  실행계획에서는 오퍼레이션의 종류와 처리 행 수로 가늠한다</a:t>
            </a:r>
          </a:p>
          <a:p>
            <a:r>
              <a:rPr sz="1600" b="0">
                <a:solidFill>
                  <a:srgbClr val="5A6672"/>
                </a:solidFill>
                <a:latin typeface="Malgun Gothic"/>
              </a:rPr>
              <a:t>    –  많은 행을 통과시키는 단계일수록 연산 부담이 커진다</a:t>
            </a:r>
          </a:p>
          <a:p>
            <a:r>
              <a:rPr sz="1600" b="0">
                <a:solidFill>
                  <a:srgbClr val="5A6672"/>
                </a:solidFill>
                <a:latin typeface="Malgun Gothic"/>
              </a:rPr>
              <a:t>    –  같은 결과라도 오퍼레이션 구성이 다르면 연산량이 달라진다</a:t>
            </a:r>
          </a:p>
        </p:txBody>
      </p:sp>
    </p:spTree>
    <p:extLst>
      <p:ext uri="{BB962C8B-B14F-4D97-AF65-F5344CB8AC3E}">
        <p14:creationId xmlns:p14="http://schemas.microsoft.com/office/powerpoint/2010/main" val="355850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I/O 관점 — Buffers와 물리 I/O</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핵심 질문 — 몇 개의 블록을 읽었는가</a:t>
            </a:r>
          </a:p>
          <a:p>
            <a:r>
              <a:rPr sz="1800" b="0">
                <a:solidFill>
                  <a:srgbClr val="202830"/>
                </a:solidFill>
                <a:latin typeface="Malgun Gothic"/>
              </a:rPr>
              <a:t>•  Buffers = 논리적 I/O</a:t>
            </a:r>
          </a:p>
          <a:p>
            <a:r>
              <a:rPr sz="1600" b="0">
                <a:solidFill>
                  <a:srgbClr val="5A6672"/>
                </a:solidFill>
                <a:latin typeface="Malgun Gothic"/>
              </a:rPr>
              <a:t>    –  버퍼 캐시에서 블록을 가져온 횟수까지 포함한 전체 블록 접근 수</a:t>
            </a:r>
          </a:p>
          <a:p>
            <a:r>
              <a:rPr sz="1600" b="0">
                <a:solidFill>
                  <a:srgbClr val="5A6672"/>
                </a:solidFill>
                <a:latin typeface="Malgun Gothic"/>
              </a:rPr>
              <a:t>    –  실행계획의 Buffers 컬럼으로 단계별·누적으로 확인</a:t>
            </a:r>
          </a:p>
          <a:p>
            <a:r>
              <a:rPr sz="1800" b="0">
                <a:solidFill>
                  <a:srgbClr val="202830"/>
                </a:solidFill>
                <a:latin typeface="Malgun Gothic"/>
              </a:rPr>
              <a:t>•  메모리에 없으면 물리적 I/O(디스크 접근)가 추가로 발생한다</a:t>
            </a:r>
          </a:p>
          <a:p>
            <a:r>
              <a:rPr sz="1600" b="0">
                <a:solidFill>
                  <a:srgbClr val="5A6672"/>
                </a:solidFill>
                <a:latin typeface="Malgun Gothic"/>
              </a:rPr>
              <a:t>    –  같은 Buffers라도 물리 I/O 여부에 따라 소요 시간은 크게 달라진다</a:t>
            </a:r>
          </a:p>
          <a:p>
            <a:r>
              <a:rPr sz="1600" b="0">
                <a:solidFill>
                  <a:srgbClr val="5A6672"/>
                </a:solidFill>
                <a:latin typeface="Malgun Gothic"/>
              </a:rPr>
              <a:t>    –  1.6절에서 정확히 이 현상을 실측 데이터로 확인한다</a:t>
            </a:r>
          </a:p>
        </p:txBody>
      </p:sp>
    </p:spTree>
    <p:extLst>
      <p:ext uri="{BB962C8B-B14F-4D97-AF65-F5344CB8AC3E}">
        <p14:creationId xmlns:p14="http://schemas.microsoft.com/office/powerpoint/2010/main" val="40520533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Memory 관점 — 작업 영역(PGA)</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해시 조인·정렬 등은 세션 전용 작업 영역(PGA)을 사용한다</a:t>
            </a:r>
          </a:p>
          <a:p>
            <a:r>
              <a:rPr sz="1600" b="0">
                <a:solidFill>
                  <a:srgbClr val="5A6672"/>
                </a:solidFill>
                <a:latin typeface="Malgun Gothic"/>
              </a:rPr>
              <a:t>    –  중간 결과를 쌓아 두어야 하는 연산이 메모리를 요구한다</a:t>
            </a:r>
          </a:p>
          <a:p>
            <a:r>
              <a:rPr sz="1800" b="0">
                <a:solidFill>
                  <a:srgbClr val="202830"/>
                </a:solidFill>
                <a:latin typeface="Malgun Gothic"/>
              </a:rPr>
              <a:t>•  실행계획에서 확인하는 컬럼</a:t>
            </a:r>
          </a:p>
          <a:p>
            <a:r>
              <a:rPr sz="1600" b="0">
                <a:solidFill>
                  <a:srgbClr val="5A6672"/>
                </a:solidFill>
                <a:latin typeface="Malgun Gothic"/>
              </a:rPr>
              <a:t>    –  OMem — 옵티마이저가 추정한 필요 메모리</a:t>
            </a:r>
          </a:p>
          <a:p>
            <a:r>
              <a:rPr sz="1600" b="0">
                <a:solidFill>
                  <a:srgbClr val="5A6672"/>
                </a:solidFill>
                <a:latin typeface="Malgun Gothic"/>
              </a:rPr>
              <a:t>    –  1Mem — 한 번에 처리(one-pass)하는 데 필요한 메모리 추정</a:t>
            </a:r>
          </a:p>
          <a:p>
            <a:r>
              <a:rPr sz="1600" b="0">
                <a:solidFill>
                  <a:srgbClr val="5A6672"/>
                </a:solidFill>
                <a:latin typeface="Malgun Gothic"/>
              </a:rPr>
              <a:t>    –  Used-Mem — 실제로 사용한 작업 영역 크기</a:t>
            </a:r>
          </a:p>
          <a:p>
            <a:r>
              <a:rPr sz="1800" b="0">
                <a:solidFill>
                  <a:srgbClr val="202830"/>
                </a:solidFill>
                <a:latin typeface="Malgun Gothic"/>
              </a:rPr>
              <a:t>•  작업 영역이 부족하면 임시 공간(TEMP)으로 넘쳐 디스크 I/O가 발생한다</a:t>
            </a:r>
          </a:p>
          <a:p>
            <a:r>
              <a:rPr sz="1600" b="0">
                <a:solidFill>
                  <a:srgbClr val="5A6672"/>
                </a:solidFill>
                <a:latin typeface="Malgun Gothic"/>
              </a:rPr>
              <a:t>    –  1.8절 종합 비교에서 세 버전의 Used-Mem을 나란히 확인한다</a:t>
            </a:r>
          </a:p>
        </p:txBody>
      </p:sp>
    </p:spTree>
    <p:extLst>
      <p:ext uri="{BB962C8B-B14F-4D97-AF65-F5344CB8AC3E}">
        <p14:creationId xmlns:p14="http://schemas.microsoft.com/office/powerpoint/2010/main" val="4587835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좋은 SQL과 나쁜 SQL을 가르는 기준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문법의 길이는 기준이 아니다</a:t>
            </a:r>
          </a:p>
          <a:p>
            <a:r>
              <a:rPr sz="1600" b="0">
                <a:solidFill>
                  <a:srgbClr val="5A6672"/>
                </a:solidFill>
                <a:latin typeface="Malgun Gothic"/>
              </a:rPr>
              <a:t>    –  짧다고 좋은 SQL이 아니고, 길다고 나쁜 SQL도 아니다</a:t>
            </a:r>
          </a:p>
          <a:p>
            <a:r>
              <a:rPr sz="1800" b="0">
                <a:solidFill>
                  <a:srgbClr val="202830"/>
                </a:solidFill>
                <a:latin typeface="Malgun Gothic"/>
              </a:rPr>
              <a:t>•  판단은 실측 지표로 한다 — 체크리스트</a:t>
            </a:r>
          </a:p>
          <a:p>
            <a:r>
              <a:rPr sz="1600" b="0">
                <a:solidFill>
                  <a:srgbClr val="5A6672"/>
                </a:solidFill>
                <a:latin typeface="Malgun Gothic"/>
              </a:rPr>
              <a:t>    –  ① 실제 접근한 블록 수(Buffers)가 얼마인가</a:t>
            </a:r>
          </a:p>
          <a:p>
            <a:r>
              <a:rPr sz="1600" b="0">
                <a:solidFill>
                  <a:srgbClr val="5A6672"/>
                </a:solidFill>
                <a:latin typeface="Malgun Gothic"/>
              </a:rPr>
              <a:t>    –  ② 사용한 작업 영역(Used-Mem)이 얼마인가</a:t>
            </a:r>
          </a:p>
          <a:p>
            <a:r>
              <a:rPr sz="1600" b="0">
                <a:solidFill>
                  <a:srgbClr val="5A6672"/>
                </a:solidFill>
                <a:latin typeface="Malgun Gothic"/>
              </a:rPr>
              <a:t>    –  ③ 실행계획의 오퍼레이션 구성이 어떠한가 — 불필요한 단계가 있는가</a:t>
            </a:r>
          </a:p>
          <a:p>
            <a:r>
              <a:rPr sz="1600" b="0">
                <a:solidFill>
                  <a:srgbClr val="5A6672"/>
                </a:solidFill>
                <a:latin typeface="Malgun Gothic"/>
              </a:rPr>
              <a:t>    –  ④ 추정(E-Rows)과 실제(A-Rows)가 크게 어긋나지 않는가</a:t>
            </a:r>
          </a:p>
          <a:p>
            <a:r>
              <a:rPr sz="1800" b="0">
                <a:solidFill>
                  <a:srgbClr val="202830"/>
                </a:solidFill>
                <a:latin typeface="Malgun Gothic"/>
              </a:rPr>
              <a:t>•  '느낌'이 아니라 실측 — 이 장의 결론이자 과정 전체의 원칙</a:t>
            </a:r>
          </a:p>
        </p:txBody>
      </p:sp>
    </p:spTree>
    <p:extLst>
      <p:ext uri="{BB962C8B-B14F-4D97-AF65-F5344CB8AC3E}">
        <p14:creationId xmlns:p14="http://schemas.microsoft.com/office/powerpoint/2010/main" val="16537957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1.4</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실측 소재 — 세 가지 동등 SQL</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소재와 대상 건수</a:t>
            </a:r>
          </a:p>
          <a:p>
            <a:r>
              <a:rPr sz="1600" b="0">
                <a:solidFill>
                  <a:srgbClr val="C5CED6"/>
                </a:solidFill>
                <a:latin typeface="Malgun Gothic"/>
              </a:rPr>
              <a:t>•  A. IN 방식</a:t>
            </a:r>
          </a:p>
          <a:p>
            <a:r>
              <a:rPr sz="1600" b="0">
                <a:solidFill>
                  <a:srgbClr val="C5CED6"/>
                </a:solidFill>
                <a:latin typeface="Malgun Gothic"/>
              </a:rPr>
              <a:t>•  B. EXISTS 방식</a:t>
            </a:r>
          </a:p>
          <a:p>
            <a:r>
              <a:rPr sz="1600" b="0">
                <a:solidFill>
                  <a:srgbClr val="C5CED6"/>
                </a:solidFill>
                <a:latin typeface="Malgun Gothic"/>
              </a:rPr>
              <a:t>•  C. JOIN + DISTINCT 방식</a:t>
            </a:r>
          </a:p>
        </p:txBody>
      </p:sp>
    </p:spTree>
    <p:extLst>
      <p:ext uri="{BB962C8B-B14F-4D97-AF65-F5344CB8AC3E}">
        <p14:creationId xmlns:p14="http://schemas.microsoft.com/office/powerpoint/2010/main" val="117565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실측 소재 — 주사제 처방 청구 찾기</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목표 — 주사제 카테고리 약품을 하나 이상 처방받은 청구 건수 확인</a:t>
            </a:r>
          </a:p>
          <a:p>
            <a:r>
              <a:rPr sz="1600" b="0">
                <a:solidFill>
                  <a:srgbClr val="5A6672"/>
                </a:solidFill>
                <a:latin typeface="Malgun Gothic"/>
              </a:rPr>
              <a:t>    –  MEDICAL_CLAIMS 중 CLAIM_DETAILS에서 DRUG_MASTER.CATEGORY = '주사제'인 건</a:t>
            </a:r>
          </a:p>
          <a:p>
            <a:r>
              <a:rPr sz="1800" b="0">
                <a:solidFill>
                  <a:srgbClr val="202830"/>
                </a:solidFill>
                <a:latin typeface="Malgun Gothic"/>
              </a:rPr>
              <a:t>•  사전 확인 결과</a:t>
            </a:r>
          </a:p>
          <a:p>
            <a:r>
              <a:rPr sz="1600" b="0">
                <a:solidFill>
                  <a:srgbClr val="5A6672"/>
                </a:solidFill>
                <a:latin typeface="Malgun Gothic"/>
              </a:rPr>
              <a:t>    –  대상 건수 79,342건 — 전체 30만 건의 약 26%</a:t>
            </a:r>
          </a:p>
          <a:p>
            <a:r>
              <a:rPr sz="1600" b="0">
                <a:solidFill>
                  <a:srgbClr val="5A6672"/>
                </a:solidFill>
                <a:latin typeface="Malgun Gothic"/>
              </a:rPr>
              <a:t>    –  전체의 4분의 1가량을 걸러 내는, 선택도가 낮지 않은 조건</a:t>
            </a:r>
          </a:p>
          <a:p>
            <a:r>
              <a:rPr sz="1800" b="0">
                <a:solidFill>
                  <a:srgbClr val="202830"/>
                </a:solidFill>
                <a:latin typeface="Malgun Gothic"/>
              </a:rPr>
              <a:t>•  같은 목표를 세 가지 방식으로 작성해 비교한다</a:t>
            </a:r>
          </a:p>
          <a:p>
            <a:r>
              <a:rPr sz="1600" b="0">
                <a:solidFill>
                  <a:srgbClr val="5A6672"/>
                </a:solidFill>
                <a:latin typeface="Malgun Gothic"/>
              </a:rPr>
              <a:t>    –  A. IN 서브쿼리 / B. EXISTS 서브쿼리 / C. JOIN + DISTINCT</a:t>
            </a:r>
          </a:p>
          <a:p>
            <a:r>
              <a:rPr sz="1600" b="0">
                <a:solidFill>
                  <a:srgbClr val="5A6672"/>
                </a:solidFill>
                <a:latin typeface="Malgun Gothic"/>
              </a:rPr>
              <a:t>    –  세 버전의 결과 건수는 완전히 동일하다</a:t>
            </a:r>
          </a:p>
        </p:txBody>
      </p:sp>
    </p:spTree>
    <p:extLst>
      <p:ext uri="{BB962C8B-B14F-4D97-AF65-F5344CB8AC3E}">
        <p14:creationId xmlns:p14="http://schemas.microsoft.com/office/powerpoint/2010/main" val="41398309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A. IN 방식</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서브쿼리 결과 집합에 존재하는지를 IN으로 확인한다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A. IN 방식</a:t>
            </a:r>
          </a:p>
          <a:p>
            <a:r>
              <a:rPr sz="1250" b="0">
                <a:solidFill>
                  <a:srgbClr val="E6E6E6"/>
                </a:solidFill>
                <a:latin typeface="Consolas"/>
              </a:rPr>
              <a:t>SELECT COUNT(*)</a:t>
            </a:r>
          </a:p>
          <a:p>
            <a:r>
              <a:rPr sz="1250" b="0">
                <a:solidFill>
                  <a:srgbClr val="E6E6E6"/>
                </a:solidFill>
                <a:latin typeface="Consolas"/>
              </a:rPr>
              <a:t>FROM medical_claims</a:t>
            </a:r>
          </a:p>
          <a:p>
            <a:r>
              <a:rPr sz="1250" b="0">
                <a:solidFill>
                  <a:srgbClr val="E6E6E6"/>
                </a:solidFill>
                <a:latin typeface="Consolas"/>
              </a:rPr>
              <a:t>WHERE claim_id IN (</a:t>
            </a:r>
          </a:p>
          <a:p>
            <a:r>
              <a:rPr sz="1250" b="0">
                <a:solidFill>
                  <a:srgbClr val="E6E6E6"/>
                </a:solidFill>
                <a:latin typeface="Consolas"/>
              </a:rPr>
              <a:t>  SELECT cd.claim_id FROM claim_details cd, drug_master dm</a:t>
            </a:r>
          </a:p>
          <a:p>
            <a:r>
              <a:rPr sz="1250" b="0">
                <a:solidFill>
                  <a:srgbClr val="E6E6E6"/>
                </a:solidFill>
                <a:latin typeface="Consolas"/>
              </a:rPr>
              <a:t>  WHERE cd.drug_code = dm.drug_code AND dm.category = '주사제'</a:t>
            </a:r>
          </a:p>
          <a:p>
            <a:r>
              <a:rPr sz="1250" b="0">
                <a:solidFill>
                  <a:srgbClr val="E6E6E6"/>
                </a:solidFill>
                <a:latin typeface="Consolas"/>
              </a:rPr>
              <a:t>);</a:t>
            </a:r>
          </a:p>
          <a:p>
            <a:r>
              <a:rPr sz="1250" b="0">
                <a:solidFill>
                  <a:srgbClr val="E6E6E6"/>
                </a:solidFill>
                <a:latin typeface="Consolas"/>
              </a:rPr>
              <a:t> </a:t>
            </a:r>
          </a:p>
          <a:p>
            <a:r>
              <a:rPr sz="1250" b="0">
                <a:solidFill>
                  <a:srgbClr val="7EC699"/>
                </a:solidFill>
                <a:latin typeface="Consolas"/>
              </a:rPr>
              <a:t>-- 서브쿼리는 '주사제를 처방한 청구 번호 목록'을 만들고</a:t>
            </a:r>
          </a:p>
          <a:p>
            <a:r>
              <a:rPr sz="1250" b="0">
                <a:solidFill>
                  <a:srgbClr val="7EC699"/>
                </a:solidFill>
                <a:latin typeface="Consolas"/>
              </a:rPr>
              <a:t>-- 바깥 쿼리는 그 목록에 자기 claim_id가 들어 있는지만 확인한다</a:t>
            </a:r>
          </a:p>
          <a:p>
            <a:r>
              <a:rPr sz="1250" b="0">
                <a:solidFill>
                  <a:srgbClr val="7EC699"/>
                </a:solidFill>
                <a:latin typeface="Consolas"/>
              </a:rPr>
              <a:t>-- 목록에 같은 claim_id가 여러 번 나와도 결과 건수에는 영향이 없다</a:t>
            </a:r>
          </a:p>
        </p:txBody>
      </p:sp>
    </p:spTree>
    <p:extLst>
      <p:ext uri="{BB962C8B-B14F-4D97-AF65-F5344CB8AC3E}">
        <p14:creationId xmlns:p14="http://schemas.microsoft.com/office/powerpoint/2010/main" val="31330174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B. EXISTS 방식</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바깥 행마다 조건을 만족하는 행이 존재하는지 확인한다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B. EXISTS 방식</a:t>
            </a:r>
          </a:p>
          <a:p>
            <a:r>
              <a:rPr sz="1250" b="0">
                <a:solidFill>
                  <a:srgbClr val="E6E6E6"/>
                </a:solidFill>
                <a:latin typeface="Consolas"/>
              </a:rPr>
              <a:t>SELECT COUNT(*)</a:t>
            </a:r>
          </a:p>
          <a:p>
            <a:r>
              <a:rPr sz="1250" b="0">
                <a:solidFill>
                  <a:srgbClr val="E6E6E6"/>
                </a:solidFill>
                <a:latin typeface="Consolas"/>
              </a:rPr>
              <a:t>FROM medical_claims mc</a:t>
            </a:r>
          </a:p>
          <a:p>
            <a:r>
              <a:rPr sz="1250" b="0">
                <a:solidFill>
                  <a:srgbClr val="E6E6E6"/>
                </a:solidFill>
                <a:latin typeface="Consolas"/>
              </a:rPr>
              <a:t>WHERE EXISTS (</a:t>
            </a:r>
          </a:p>
          <a:p>
            <a:r>
              <a:rPr sz="1250" b="0">
                <a:solidFill>
                  <a:srgbClr val="E6E6E6"/>
                </a:solidFill>
                <a:latin typeface="Consolas"/>
              </a:rPr>
              <a:t>  SELECT 1 FROM claim_details cd, drug_master dm</a:t>
            </a:r>
          </a:p>
          <a:p>
            <a:r>
              <a:rPr sz="1250" b="0">
                <a:solidFill>
                  <a:srgbClr val="E6E6E6"/>
                </a:solidFill>
                <a:latin typeface="Consolas"/>
              </a:rPr>
              <a:t>  WHERE cd.claim_id = mc.claim_id</a:t>
            </a:r>
          </a:p>
          <a:p>
            <a:r>
              <a:rPr sz="1250" b="0">
                <a:solidFill>
                  <a:srgbClr val="E6E6E6"/>
                </a:solidFill>
                <a:latin typeface="Consolas"/>
              </a:rPr>
              <a:t>    AND cd.drug_code = dm.drug_code</a:t>
            </a:r>
          </a:p>
          <a:p>
            <a:r>
              <a:rPr sz="1250" b="0">
                <a:solidFill>
                  <a:srgbClr val="E6E6E6"/>
                </a:solidFill>
                <a:latin typeface="Consolas"/>
              </a:rPr>
              <a:t>    AND dm.category = '주사제'</a:t>
            </a:r>
          </a:p>
          <a:p>
            <a:r>
              <a:rPr sz="1250" b="0">
                <a:solidFill>
                  <a:srgbClr val="E6E6E6"/>
                </a:solidFill>
                <a:latin typeface="Consolas"/>
              </a:rPr>
              <a:t>);</a:t>
            </a:r>
          </a:p>
          <a:p>
            <a:r>
              <a:rPr sz="1250" b="0">
                <a:solidFill>
                  <a:srgbClr val="E6E6E6"/>
                </a:solidFill>
                <a:latin typeface="Consolas"/>
              </a:rPr>
              <a:t> </a:t>
            </a:r>
          </a:p>
          <a:p>
            <a:r>
              <a:rPr sz="1250" b="0">
                <a:solidFill>
                  <a:srgbClr val="7EC699"/>
                </a:solidFill>
                <a:latin typeface="Consolas"/>
              </a:rPr>
              <a:t>-- 서브쿼리가 바깥 컬럼(mc.claim_id)을 참조하는 상관 서브쿼리</a:t>
            </a:r>
          </a:p>
          <a:p>
            <a:r>
              <a:rPr sz="1250" b="0">
                <a:solidFill>
                  <a:srgbClr val="7EC699"/>
                </a:solidFill>
                <a:latin typeface="Consolas"/>
              </a:rPr>
              <a:t>-- SELECT 목록의 1은 아무 의미가 없다 — 존재 여부만 판정하기 때문</a:t>
            </a:r>
          </a:p>
        </p:txBody>
      </p:sp>
    </p:spTree>
    <p:extLst>
      <p:ext uri="{BB962C8B-B14F-4D97-AF65-F5344CB8AC3E}">
        <p14:creationId xmlns:p14="http://schemas.microsoft.com/office/powerpoint/2010/main" val="8646990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C. JOIN + DISTINCT 방식</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세 테이블을 직접 조인하고 중복을 제거해 센다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C. JOIN + DISTINCT 방식</a:t>
            </a:r>
          </a:p>
          <a:p>
            <a:r>
              <a:rPr sz="1250" b="0">
                <a:solidFill>
                  <a:srgbClr val="E6E6E6"/>
                </a:solidFill>
                <a:latin typeface="Consolas"/>
              </a:rPr>
              <a:t>SELECT COUNT(DISTINCT mc.claim_id)</a:t>
            </a:r>
          </a:p>
          <a:p>
            <a:r>
              <a:rPr sz="1250" b="0">
                <a:solidFill>
                  <a:srgbClr val="E6E6E6"/>
                </a:solidFill>
                <a:latin typeface="Consolas"/>
              </a:rPr>
              <a:t>FROM medical_claims mc, claim_details cd, drug_master dm</a:t>
            </a:r>
          </a:p>
          <a:p>
            <a:r>
              <a:rPr sz="1250" b="0">
                <a:solidFill>
                  <a:srgbClr val="E6E6E6"/>
                </a:solidFill>
                <a:latin typeface="Consolas"/>
              </a:rPr>
              <a:t>WHERE mc.claim_id = cd.claim_id</a:t>
            </a:r>
          </a:p>
          <a:p>
            <a:r>
              <a:rPr sz="1250" b="0">
                <a:solidFill>
                  <a:srgbClr val="E6E6E6"/>
                </a:solidFill>
                <a:latin typeface="Consolas"/>
              </a:rPr>
              <a:t>  AND cd.drug_code  = dm.drug_code</a:t>
            </a:r>
          </a:p>
          <a:p>
            <a:r>
              <a:rPr sz="1250" b="0">
                <a:solidFill>
                  <a:srgbClr val="E6E6E6"/>
                </a:solidFill>
                <a:latin typeface="Consolas"/>
              </a:rPr>
              <a:t>  AND dm.category   = '주사제';</a:t>
            </a:r>
          </a:p>
          <a:p>
            <a:r>
              <a:rPr sz="1250" b="0">
                <a:solidFill>
                  <a:srgbClr val="E6E6E6"/>
                </a:solidFill>
                <a:latin typeface="Consolas"/>
              </a:rPr>
              <a:t> </a:t>
            </a:r>
          </a:p>
          <a:p>
            <a:r>
              <a:rPr sz="1250" b="0">
                <a:solidFill>
                  <a:srgbClr val="7EC699"/>
                </a:solidFill>
                <a:latin typeface="Consolas"/>
              </a:rPr>
              <a:t>-- 서브쿼리 없이 세 테이블을 한 번에 조인한다</a:t>
            </a:r>
          </a:p>
          <a:p>
            <a:r>
              <a:rPr sz="1250" b="0">
                <a:solidFill>
                  <a:srgbClr val="7EC699"/>
                </a:solidFill>
                <a:latin typeface="Consolas"/>
              </a:rPr>
              <a:t>-- 조인 결과에는 한 청구가 여러 번 나올 수 있으므로</a:t>
            </a:r>
          </a:p>
          <a:p>
            <a:r>
              <a:rPr sz="1250" b="0">
                <a:solidFill>
                  <a:srgbClr val="7EC699"/>
                </a:solidFill>
                <a:latin typeface="Consolas"/>
              </a:rPr>
              <a:t>-- COUNT(DISTINCT ...)로 중복을 제거해야 결과가 A·B와 같아진다</a:t>
            </a:r>
          </a:p>
          <a:p>
            <a:r>
              <a:rPr sz="1250" b="0">
                <a:solidFill>
                  <a:srgbClr val="7EC699"/>
                </a:solidFill>
                <a:latin typeface="Consolas"/>
              </a:rPr>
              <a:t>-- SELECT 절이 실제로 필요로 하는 mc 컬럼은 claim_id 하나뿐이다</a:t>
            </a:r>
          </a:p>
        </p:txBody>
      </p:sp>
    </p:spTree>
    <p:extLst>
      <p:ext uri="{BB962C8B-B14F-4D97-AF65-F5344CB8AC3E}">
        <p14:creationId xmlns:p14="http://schemas.microsoft.com/office/powerpoint/2010/main" val="27591555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1.5</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실행계획 — 세 버전 실측 비교</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A. IN 방식 실행계획과 읽는 법</a:t>
            </a:r>
          </a:p>
          <a:p>
            <a:r>
              <a:rPr sz="1600" b="0">
                <a:solidFill>
                  <a:srgbClr val="C5CED6"/>
                </a:solidFill>
                <a:latin typeface="Malgun Gothic"/>
              </a:rPr>
              <a:t>•  B. EXISTS 방식 실행계획</a:t>
            </a:r>
          </a:p>
          <a:p>
            <a:r>
              <a:rPr sz="1600" b="0">
                <a:solidFill>
                  <a:srgbClr val="C5CED6"/>
                </a:solidFill>
                <a:latin typeface="Malgun Gothic"/>
              </a:rPr>
              <a:t>•  A와 B의 구조 비교</a:t>
            </a:r>
          </a:p>
          <a:p>
            <a:r>
              <a:rPr sz="1600" b="0">
                <a:solidFill>
                  <a:srgbClr val="C5CED6"/>
                </a:solidFill>
                <a:latin typeface="Malgun Gothic"/>
              </a:rPr>
              <a:t>•  C. JOIN+DISTINCT 실행계획의 특이점</a:t>
            </a:r>
          </a:p>
        </p:txBody>
      </p:sp>
    </p:spTree>
    <p:extLst>
      <p:ext uri="{BB962C8B-B14F-4D97-AF65-F5344CB8AC3E}">
        <p14:creationId xmlns:p14="http://schemas.microsoft.com/office/powerpoint/2010/main" val="23968070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A. IN 방식 실행계획</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SQL_ID  7z0a37r0usf76  —  CLAIM_DETAILS 가 캐시에 없어 Reads 열이 나타난다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E-Rows | A-Rows |   A-Time   | Buffers | Reads |</a:t>
            </a:r>
          </a:p>
          <a:p>
            <a:r>
              <a:rPr sz="1250" b="0">
                <a:solidFill>
                  <a:srgbClr val="E6E6E6"/>
                </a:solidFill>
                <a:latin typeface="Consolas"/>
              </a:rPr>
              <a:t>| 0  | SELECT STATEMENT      |                    |        |      1 |00:00:00.10 |    8659 |  6709 |</a:t>
            </a:r>
          </a:p>
          <a:p>
            <a:r>
              <a:rPr sz="1250" b="0">
                <a:solidFill>
                  <a:srgbClr val="E6E6E6"/>
                </a:solidFill>
                <a:latin typeface="Consolas"/>
              </a:rPr>
              <a:t>| 1  |  SORT AGGREGATE       |                    |      1 |      1 |00:00:00.10 |    8659 |  6709 |</a:t>
            </a:r>
          </a:p>
          <a:p>
            <a:r>
              <a:rPr sz="1250" b="0">
                <a:solidFill>
                  <a:srgbClr val="E6E6E6"/>
                </a:solidFill>
                <a:latin typeface="Consolas"/>
              </a:rPr>
              <a:t>| 2  |   HASH JOIN RIGHT SEMI|                    |   296K |  79342 |00:00:00.10 |    8659 |  6709 |</a:t>
            </a:r>
          </a:p>
          <a:p>
            <a:r>
              <a:rPr sz="1250" b="0">
                <a:solidFill>
                  <a:srgbClr val="E6E6E6"/>
                </a:solidFill>
                <a:latin typeface="Consolas"/>
              </a:rPr>
              <a:t>| 3  |    VIEW                | VW_NSO_1          |   299K |  90430 |00:00:00.02 |    6768 |  6709 |</a:t>
            </a:r>
          </a:p>
          <a:p>
            <a:r>
              <a:rPr sz="1250" b="0">
                <a:solidFill>
                  <a:srgbClr val="E6E6E6"/>
                </a:solidFill>
                <a:latin typeface="Consolas"/>
              </a:rPr>
              <a:t>| 4  |     HASH JOIN          |                    |   299K |  90430 |00:00:00.02 |    6768 |  6709 |</a:t>
            </a:r>
          </a:p>
          <a:p>
            <a:r>
              <a:rPr sz="1250" b="0">
                <a:solidFill>
                  <a:srgbClr val="E6E6E6"/>
                </a:solidFill>
                <a:latin typeface="Consolas"/>
              </a:rPr>
              <a:t>| 5  |      TABLE ACCESS FULL | DRUG_MASTER        |   3333 |   1000 |00:00:00.01 |      91 |    89 |</a:t>
            </a:r>
          </a:p>
          <a:p>
            <a:r>
              <a:rPr sz="1250" b="0">
                <a:solidFill>
                  <a:srgbClr val="E6E6E6"/>
                </a:solidFill>
                <a:latin typeface="Consolas"/>
              </a:rPr>
              <a:t>| 6  |      TABLE ACCESS FULL | CLAIM_DETAILS      |   899K |   899K |00:00:00.01 |    6621 |  6613 |</a:t>
            </a:r>
          </a:p>
          <a:p>
            <a:r>
              <a:rPr sz="1250" b="0">
                <a:solidFill>
                  <a:srgbClr val="E6E6E6"/>
                </a:solidFill>
                <a:latin typeface="Consolas"/>
              </a:rPr>
              <a:t>| 7  |    INDEX FAST FULL SCAN| PK_MEDICAL_CLAIMS  |   300K |   300K |00:00:00.02 |    1891 |     0 |</a:t>
            </a:r>
          </a:p>
        </p:txBody>
      </p:sp>
    </p:spTree>
    <p:extLst>
      <p:ext uri="{BB962C8B-B14F-4D97-AF65-F5344CB8AC3E}">
        <p14:creationId xmlns:p14="http://schemas.microsoft.com/office/powerpoint/2010/main" val="12274336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A 실행계획 읽는 법</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읽는 순서 — 들여쓰기가 깊은 안쪽부터, 같은 깊이는 위에서 아래로</a:t>
            </a:r>
          </a:p>
          <a:p>
            <a:r>
              <a:rPr sz="1800" b="0">
                <a:solidFill>
                  <a:srgbClr val="202830"/>
                </a:solidFill>
                <a:latin typeface="Malgun Gothic"/>
              </a:rPr>
              <a:t>•  컬럼의 의미</a:t>
            </a:r>
          </a:p>
          <a:p>
            <a:r>
              <a:rPr sz="1600" b="0">
                <a:solidFill>
                  <a:srgbClr val="5A6672"/>
                </a:solidFill>
                <a:latin typeface="Malgun Gothic"/>
              </a:rPr>
              <a:t>    –  E-Rows 옵티마이저의 추정 행 수 / A-Rows 실제 처리한 행 수</a:t>
            </a:r>
          </a:p>
          <a:p>
            <a:r>
              <a:rPr sz="1600" b="0">
                <a:solidFill>
                  <a:srgbClr val="5A6672"/>
                </a:solidFill>
                <a:latin typeface="Malgun Gothic"/>
              </a:rPr>
              <a:t>    –  A-Time 그 단계까지 누적된 실제 소요 시간</a:t>
            </a:r>
          </a:p>
          <a:p>
            <a:r>
              <a:rPr sz="1600" b="0">
                <a:solidFill>
                  <a:srgbClr val="5A6672"/>
                </a:solidFill>
                <a:latin typeface="Malgun Gothic"/>
              </a:rPr>
              <a:t>    –  Buffers 그 단계까지 누적된 논리적 I/O 블록 수</a:t>
            </a:r>
          </a:p>
          <a:p>
            <a:r>
              <a:rPr sz="1800" b="0">
                <a:solidFill>
                  <a:srgbClr val="202830"/>
                </a:solidFill>
                <a:latin typeface="Malgun Gothic"/>
              </a:rPr>
              <a:t>•  HASH JOIN RIGHT SEMI — IN 서브쿼리가 세미조인으로 변환된 형태</a:t>
            </a:r>
          </a:p>
          <a:p>
            <a:r>
              <a:rPr sz="1600" b="0">
                <a:solidFill>
                  <a:srgbClr val="5A6672"/>
                </a:solidFill>
                <a:latin typeface="Malgun Gothic"/>
              </a:rPr>
              <a:t>    –  매칭이 여러 건이어도 결과는 한 건으로만 남는다 (IN의 의미론과 일치)</a:t>
            </a:r>
          </a:p>
          <a:p>
            <a:r>
              <a:rPr sz="1800" b="0">
                <a:solidFill>
                  <a:srgbClr val="202830"/>
                </a:solidFill>
                <a:latin typeface="Malgun Gothic"/>
              </a:rPr>
              <a:t>•  5번 단계 — E-Rows 3333 vs A-Rows 1000, 추정이 실제보다 크다</a:t>
            </a:r>
          </a:p>
        </p:txBody>
      </p:sp>
    </p:spTree>
    <p:extLst>
      <p:ext uri="{BB962C8B-B14F-4D97-AF65-F5344CB8AC3E}">
        <p14:creationId xmlns:p14="http://schemas.microsoft.com/office/powerpoint/2010/main" val="38931117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B. EXISTS 방식 실행계획</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SQL_ID  7jgu8vt9cppsb  —  구조는 A와 동일, VIEW 이름만 VW_SQ_1. Reads 열이 없다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E-Rows | A-Rows |   A-Time   | Buffers |</a:t>
            </a:r>
          </a:p>
          <a:p>
            <a:r>
              <a:rPr sz="1250" b="0">
                <a:solidFill>
                  <a:srgbClr val="E6E6E6"/>
                </a:solidFill>
                <a:latin typeface="Consolas"/>
              </a:rPr>
              <a:t>| 0  | SELECT STATEMENT      |                    |        |      1 |00:00:00.05 |    8604 |</a:t>
            </a:r>
          </a:p>
          <a:p>
            <a:r>
              <a:rPr sz="1250" b="0">
                <a:solidFill>
                  <a:srgbClr val="E6E6E6"/>
                </a:solidFill>
                <a:latin typeface="Consolas"/>
              </a:rPr>
              <a:t>| 1  |  SORT AGGREGATE       |                    |      1 |      1 |00:00:00.05 |    8604 |</a:t>
            </a:r>
          </a:p>
          <a:p>
            <a:r>
              <a:rPr sz="1250" b="0">
                <a:solidFill>
                  <a:srgbClr val="E6E6E6"/>
                </a:solidFill>
                <a:latin typeface="Consolas"/>
              </a:rPr>
              <a:t>| 2  |   HASH JOIN RIGHT SEMI|                    |   296K |  79342 |00:00:00.06 |    8604 |</a:t>
            </a:r>
          </a:p>
          <a:p>
            <a:r>
              <a:rPr sz="1250" b="0">
                <a:solidFill>
                  <a:srgbClr val="E6E6E6"/>
                </a:solidFill>
                <a:latin typeface="Consolas"/>
              </a:rPr>
              <a:t>| 3  |    VIEW                | VW_SQ_1           |   299K |  90430 |00:00:00.02 |    6713 |</a:t>
            </a:r>
          </a:p>
          <a:p>
            <a:r>
              <a:rPr sz="1250" b="0">
                <a:solidFill>
                  <a:srgbClr val="E6E6E6"/>
                </a:solidFill>
                <a:latin typeface="Consolas"/>
              </a:rPr>
              <a:t>| 4  |     HASH JOIN          |                    |   299K |  90430 |00:00:00.02 |    6713 |</a:t>
            </a:r>
          </a:p>
          <a:p>
            <a:r>
              <a:rPr sz="1250" b="0">
                <a:solidFill>
                  <a:srgbClr val="E6E6E6"/>
                </a:solidFill>
                <a:latin typeface="Consolas"/>
              </a:rPr>
              <a:t>| 5  |      TABLE ACCESS FULL | DRUG_MASTER        |   3333 |   1000 |00:00:00.01 |      91 |</a:t>
            </a:r>
          </a:p>
          <a:p>
            <a:r>
              <a:rPr sz="1250" b="0">
                <a:solidFill>
                  <a:srgbClr val="E6E6E6"/>
                </a:solidFill>
                <a:latin typeface="Consolas"/>
              </a:rPr>
              <a:t>| 6  |      TABLE ACCESS FULL | CLAIM_DETAILS      |   899K |   899K |00:00:00.01 |    6621 |</a:t>
            </a:r>
          </a:p>
          <a:p>
            <a:r>
              <a:rPr sz="1250" b="0">
                <a:solidFill>
                  <a:srgbClr val="E6E6E6"/>
                </a:solidFill>
                <a:latin typeface="Consolas"/>
              </a:rPr>
              <a:t>| 7  |    INDEX FAST FULL SCAN| PK_MEDICAL_CLAIMS  |   300K |   300K |00:00:00.01 |    1891 |</a:t>
            </a:r>
          </a:p>
        </p:txBody>
      </p:sp>
    </p:spTree>
    <p:extLst>
      <p:ext uri="{BB962C8B-B14F-4D97-AF65-F5344CB8AC3E}">
        <p14:creationId xmlns:p14="http://schemas.microsoft.com/office/powerpoint/2010/main" val="35651404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A와 B — 이름표만 다른 같은 계획</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두 실행계획에서 다른 것은 VIEW 이름 하나뿐이다</a:t>
            </a:r>
          </a:p>
          <a:p>
            <a:r>
              <a:rPr sz="1600" b="0">
                <a:solidFill>
                  <a:srgbClr val="5A6672"/>
                </a:solidFill>
                <a:latin typeface="Malgun Gothic"/>
              </a:rPr>
              <a:t>    –  A는 VW_NSO_1, B는 VW_SQ_1 — Oracle이 변환 과정에서 붙이는 내부 식별자</a:t>
            </a:r>
          </a:p>
          <a:p>
            <a:r>
              <a:rPr sz="1600" b="0">
                <a:solidFill>
                  <a:srgbClr val="5A6672"/>
                </a:solidFill>
                <a:latin typeface="Malgun Gothic"/>
              </a:rPr>
              <a:t>    –  오퍼레이션 구성, E-Rows, A-Rows, Buffers는 모두 동일</a:t>
            </a:r>
          </a:p>
          <a:p>
            <a:r>
              <a:rPr sz="1800" b="0">
                <a:solidFill>
                  <a:srgbClr val="202830"/>
                </a:solidFill>
                <a:latin typeface="Malgun Gothic"/>
              </a:rPr>
              <a:t>•  왜 같아지는가 — 옵티마이저의 쿼리 변환</a:t>
            </a:r>
          </a:p>
          <a:p>
            <a:r>
              <a:rPr sz="1600" b="0">
                <a:solidFill>
                  <a:srgbClr val="5A6672"/>
                </a:solidFill>
                <a:latin typeface="Malgun Gothic"/>
              </a:rPr>
              <a:t>    –  IN 서브쿼리와 EXISTS 서브쿼리를 같은 세미조인(HASH JOIN RIGHT SEMI) 형태로 변환</a:t>
            </a:r>
          </a:p>
          <a:p>
            <a:r>
              <a:rPr sz="1600" b="0">
                <a:solidFill>
                  <a:srgbClr val="5A6672"/>
                </a:solidFill>
                <a:latin typeface="Malgun Gothic"/>
              </a:rPr>
              <a:t>    –  변환 단계에서 두 문장의 문법적 차이가 사라진다</a:t>
            </a:r>
          </a:p>
          <a:p>
            <a:r>
              <a:rPr sz="1800" b="0">
                <a:solidFill>
                  <a:srgbClr val="202830"/>
                </a:solidFill>
                <a:latin typeface="Malgun Gothic"/>
              </a:rPr>
              <a:t>•  그런데 A-Time은 다르다 — 0.10초 vs 0.05초, Buffers는 둘 다 8,604(A 는 물리 읽기 몫 55 가 더해져 8,659)</a:t>
            </a:r>
          </a:p>
          <a:p>
            <a:r>
              <a:rPr sz="1600" b="0">
                <a:solidFill>
                  <a:srgbClr val="5A6672"/>
                </a:solidFill>
                <a:latin typeface="Malgun Gothic"/>
              </a:rPr>
              <a:t>    –  같은 계획·같은 자원인데 시간만 다르다면 원인은 계획 밖에 있다</a:t>
            </a:r>
          </a:p>
        </p:txBody>
      </p:sp>
    </p:spTree>
    <p:extLst>
      <p:ext uri="{BB962C8B-B14F-4D97-AF65-F5344CB8AC3E}">
        <p14:creationId xmlns:p14="http://schemas.microsoft.com/office/powerpoint/2010/main" val="33774363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C. JOIN + DISTINCT 실행계획</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SQL_ID  dx438vv8qg166  —  MEDICAL_CLAIMS 접근이 보이지 않는다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E-Rows | A-Rows |   A-Time   | Buffers |</a:t>
            </a:r>
          </a:p>
          <a:p>
            <a:r>
              <a:rPr sz="1250" b="0">
                <a:solidFill>
                  <a:srgbClr val="E6E6E6"/>
                </a:solidFill>
                <a:latin typeface="Consolas"/>
              </a:rPr>
              <a:t>| 0  | SELECT STATEMENT    |               |        |      1 |00:00:00.04 |    6713 |</a:t>
            </a:r>
          </a:p>
          <a:p>
            <a:r>
              <a:rPr sz="1250" b="0">
                <a:solidFill>
                  <a:srgbClr val="E6E6E6"/>
                </a:solidFill>
                <a:latin typeface="Consolas"/>
              </a:rPr>
              <a:t>| 1  |  SORT AGGREGATE     |               |      1 |      1 |00:00:00.04 |    6713 |</a:t>
            </a:r>
          </a:p>
          <a:p>
            <a:r>
              <a:rPr sz="1250" b="0">
                <a:solidFill>
                  <a:srgbClr val="E6E6E6"/>
                </a:solidFill>
                <a:latin typeface="Consolas"/>
              </a:rPr>
              <a:t>| 2  |   VIEW               | VW_DAG_0     |   296K |  79342 |00:00:00.04 |    6713 |</a:t>
            </a:r>
          </a:p>
          <a:p>
            <a:r>
              <a:rPr sz="1250" b="0">
                <a:solidFill>
                  <a:srgbClr val="E6E6E6"/>
                </a:solidFill>
                <a:latin typeface="Consolas"/>
              </a:rPr>
              <a:t>| 3  |    HASH GROUP BY     |               |   296K |  79342 |00:00:00.04 |    6713 |</a:t>
            </a:r>
          </a:p>
          <a:p>
            <a:r>
              <a:rPr sz="1250" b="0">
                <a:solidFill>
                  <a:srgbClr val="E6E6E6"/>
                </a:solidFill>
                <a:latin typeface="Consolas"/>
              </a:rPr>
              <a:t>| 4  |     HASH JOIN        |               |   299K |  90430 |00:00:00.03 |    6713 |</a:t>
            </a:r>
          </a:p>
          <a:p>
            <a:r>
              <a:rPr sz="1250" b="0">
                <a:solidFill>
                  <a:srgbClr val="E6E6E6"/>
                </a:solidFill>
                <a:latin typeface="Consolas"/>
              </a:rPr>
              <a:t>| 5  |      TABLE ACCESS FULL| DRUG_MASTER  |   3333 |   1000 |00:00:00.01 |      91 |</a:t>
            </a:r>
          </a:p>
          <a:p>
            <a:r>
              <a:rPr sz="1250" b="0">
                <a:solidFill>
                  <a:srgbClr val="E6E6E6"/>
                </a:solidFill>
                <a:latin typeface="Consolas"/>
              </a:rPr>
              <a:t>| 6  |      TABLE ACCESS FULL| CLAIM_DETAILS|   899K |   899K |00:00:00.02 |    6621 |</a:t>
            </a:r>
          </a:p>
        </p:txBody>
      </p:sp>
    </p:spTree>
    <p:extLst>
      <p:ext uri="{BB962C8B-B14F-4D97-AF65-F5344CB8AC3E}">
        <p14:creationId xmlns:p14="http://schemas.microsoft.com/office/powerpoint/2010/main" val="35183783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C의 특이점 — 사라진 MEDICAL_CLAIMS</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FROM 절에 medical_claims mc가 분명히 있는데 실행계획에 나타나지 않는다</a:t>
            </a:r>
          </a:p>
          <a:p>
            <a:r>
              <a:rPr sz="1600" b="0">
                <a:solidFill>
                  <a:srgbClr val="5A6672"/>
                </a:solidFill>
                <a:latin typeface="Malgun Gothic"/>
              </a:rPr>
              <a:t>    –  MEDICAL_CLAIMS에 대한 TABLE ACCESS도, PK_MEDICAL_CLAIMS 인덱스 접근도 없다</a:t>
            </a:r>
          </a:p>
          <a:p>
            <a:r>
              <a:rPr sz="1800" b="0">
                <a:solidFill>
                  <a:srgbClr val="202830"/>
                </a:solidFill>
                <a:latin typeface="Malgun Gothic"/>
              </a:rPr>
              <a:t>•  A·B에는 있었던 단계가 통째로 빠졌다</a:t>
            </a:r>
          </a:p>
          <a:p>
            <a:r>
              <a:rPr sz="1600" b="0">
                <a:solidFill>
                  <a:srgbClr val="5A6672"/>
                </a:solidFill>
                <a:latin typeface="Malgun Gothic"/>
              </a:rPr>
              <a:t>    –  A·B의 7번 단계 INDEX FAST FULL SCAN — Buffers 1,891</a:t>
            </a:r>
          </a:p>
          <a:p>
            <a:r>
              <a:rPr sz="1600" b="0">
                <a:solidFill>
                  <a:srgbClr val="5A6672"/>
                </a:solidFill>
                <a:latin typeface="Malgun Gothic"/>
              </a:rPr>
              <a:t>    –  총 Buffers 차이 8,604 − 6,713 = 1,891, 사라진 단계의 값과 정확히 일치</a:t>
            </a:r>
          </a:p>
          <a:p>
            <a:r>
              <a:rPr sz="1800" b="0">
                <a:solidFill>
                  <a:srgbClr val="202830"/>
                </a:solidFill>
                <a:latin typeface="Malgun Gothic"/>
              </a:rPr>
              <a:t>•  옵티마이저가 테이블 접근 자체를 제거할 수 있다는 뜻</a:t>
            </a:r>
          </a:p>
          <a:p>
            <a:r>
              <a:rPr sz="1600" b="0">
                <a:solidFill>
                  <a:srgbClr val="5A6672"/>
                </a:solidFill>
                <a:latin typeface="Malgun Gothic"/>
              </a:rPr>
              <a:t>    –  상세 원리(조인 제거)는 ch09 JOIN 실행 원리에서 다룬다</a:t>
            </a:r>
          </a:p>
        </p:txBody>
      </p:sp>
    </p:spTree>
    <p:extLst>
      <p:ext uri="{BB962C8B-B14F-4D97-AF65-F5344CB8AC3E}">
        <p14:creationId xmlns:p14="http://schemas.microsoft.com/office/powerpoint/2010/main" val="15752236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1.6</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통념 검증 — EXISTS가 IN보다 빠른가</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관측 사실 정리</a:t>
            </a:r>
          </a:p>
          <a:p>
            <a:r>
              <a:rPr sz="1600" b="0">
                <a:solidFill>
                  <a:srgbClr val="C5CED6"/>
                </a:solidFill>
                <a:latin typeface="Malgun Gothic"/>
              </a:rPr>
              <a:t>•  원인 추론 — 캐시 상태</a:t>
            </a:r>
          </a:p>
          <a:p>
            <a:r>
              <a:rPr sz="1600" b="0">
                <a:solidFill>
                  <a:srgbClr val="C5CED6"/>
                </a:solidFill>
                <a:latin typeface="Malgun Gothic"/>
              </a:rPr>
              <a:t>•  결론과 벤치마크 방법론</a:t>
            </a:r>
          </a:p>
        </p:txBody>
      </p:sp>
    </p:spTree>
    <p:extLst>
      <p:ext uri="{BB962C8B-B14F-4D97-AF65-F5344CB8AC3E}">
        <p14:creationId xmlns:p14="http://schemas.microsoft.com/office/powerpoint/2010/main" val="29778567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관측 사실 정리</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사실 ① 실행계획 구조가 동일하다</a:t>
            </a:r>
          </a:p>
          <a:p>
            <a:r>
              <a:rPr sz="1600" b="0">
                <a:solidFill>
                  <a:srgbClr val="5A6672"/>
                </a:solidFill>
                <a:latin typeface="Malgun Gothic"/>
              </a:rPr>
              <a:t>    –  A와 B의 오퍼레이션 구성은 완전히 같고 VIEW 이름만 다르다</a:t>
            </a:r>
          </a:p>
          <a:p>
            <a:r>
              <a:rPr sz="1600" b="0">
                <a:solidFill>
                  <a:srgbClr val="5A6672"/>
                </a:solidFill>
                <a:latin typeface="Malgun Gothic"/>
              </a:rPr>
              <a:t>    –  Oracle 옵티마이저가 IN과 EXISTS를 같은 세미조인 형태로 변환했다</a:t>
            </a:r>
          </a:p>
          <a:p>
            <a:r>
              <a:rPr sz="1800" b="0">
                <a:solidFill>
                  <a:srgbClr val="202830"/>
                </a:solidFill>
                <a:latin typeface="Malgun Gothic"/>
              </a:rPr>
              <a:t>•  사실 ② Buffers가 동일하다</a:t>
            </a:r>
          </a:p>
          <a:p>
            <a:r>
              <a:rPr sz="1600" b="0">
                <a:solidFill>
                  <a:srgbClr val="5A6672"/>
                </a:solidFill>
                <a:latin typeface="Malgun Gothic"/>
              </a:rPr>
              <a:t>    –  A와 B 모두 8,604 — 논리적 I/O 총량이 같다</a:t>
            </a:r>
          </a:p>
          <a:p>
            <a:r>
              <a:rPr sz="1800" b="0">
                <a:solidFill>
                  <a:srgbClr val="202830"/>
                </a:solidFill>
                <a:latin typeface="Malgun Gothic"/>
              </a:rPr>
              <a:t>•  사실 ③ A-Time만 크게 다르다</a:t>
            </a:r>
          </a:p>
          <a:p>
            <a:r>
              <a:rPr sz="1600" b="0">
                <a:solidFill>
                  <a:srgbClr val="5A6672"/>
                </a:solidFill>
                <a:latin typeface="Malgun Gothic"/>
              </a:rPr>
              <a:t>    –  A는 0.10초, B는 0.05초 — A 의 계획에만 Reads 열(6,709)이 있다</a:t>
            </a:r>
          </a:p>
          <a:p>
            <a:r>
              <a:rPr sz="1800" b="0">
                <a:solidFill>
                  <a:srgbClr val="202830"/>
                </a:solidFill>
                <a:latin typeface="Malgun Gothic"/>
              </a:rPr>
              <a:t>•  사실 ④ 시간 차이가 특정 한 단계에 집중되어 있다</a:t>
            </a:r>
          </a:p>
          <a:p>
            <a:r>
              <a:rPr sz="1600" b="0">
                <a:solidFill>
                  <a:srgbClr val="5A6672"/>
                </a:solidFill>
                <a:latin typeface="Malgun Gothic"/>
              </a:rPr>
              <a:t>    –  A의 6번 CLAIM_DETAILS Full Scan 에 Reads 6,613 이 몰려 있다, B의 같은 단계는 Reads 없음</a:t>
            </a:r>
          </a:p>
        </p:txBody>
      </p:sp>
    </p:spTree>
    <p:extLst>
      <p:ext uri="{BB962C8B-B14F-4D97-AF65-F5344CB8AC3E}">
        <p14:creationId xmlns:p14="http://schemas.microsoft.com/office/powerpoint/2010/main" val="20782283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원인 추론 — 캐시 상태</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Buffers가 같은데 시간이 다르다면 물리적 I/O 여부를 의심한다</a:t>
            </a:r>
          </a:p>
          <a:p>
            <a:r>
              <a:rPr sz="1600" b="0">
                <a:solidFill>
                  <a:srgbClr val="5A6672"/>
                </a:solidFill>
                <a:latin typeface="Malgun Gothic"/>
              </a:rPr>
              <a:t>    –  Buffers는 논리적 I/O — 캐시에서 읽었는지 디스크에서 읽었는지 구분하지 않는다</a:t>
            </a:r>
          </a:p>
          <a:p>
            <a:r>
              <a:rPr sz="1600" b="0">
                <a:solidFill>
                  <a:srgbClr val="5A6672"/>
                </a:solidFill>
                <a:latin typeface="Malgun Gothic"/>
              </a:rPr>
              <a:t>    –  같은 블록 수를 만졌어도 디스크에서 읽으면 훨씬 오래 걸린다</a:t>
            </a:r>
          </a:p>
          <a:p>
            <a:r>
              <a:rPr sz="1800" b="0">
                <a:solidFill>
                  <a:srgbClr val="202830"/>
                </a:solidFill>
                <a:latin typeface="Malgun Gothic"/>
              </a:rPr>
              <a:t>•  실행 순서로 설명이 된다</a:t>
            </a:r>
          </a:p>
          <a:p>
            <a:r>
              <a:rPr sz="1600" b="0">
                <a:solidFill>
                  <a:srgbClr val="5A6672"/>
                </a:solidFill>
                <a:latin typeface="Malgun Gothic"/>
              </a:rPr>
              <a:t>    –  A를 먼저 실행하며 디스크에서 블록을 읽어 버퍼 캐시에 올렸을 가능성이 크다</a:t>
            </a:r>
          </a:p>
          <a:p>
            <a:r>
              <a:rPr sz="1600" b="0">
                <a:solidFill>
                  <a:srgbClr val="5A6672"/>
                </a:solidFill>
                <a:latin typeface="Malgun Gothic"/>
              </a:rPr>
              <a:t>    –  B는 그 직후 실행되어 이미 캐시에 있는 블록을 그대로 재사용했을 가능성이 높다</a:t>
            </a:r>
          </a:p>
          <a:p>
            <a:r>
              <a:rPr sz="1800" b="0">
                <a:solidFill>
                  <a:srgbClr val="202830"/>
                </a:solidFill>
                <a:latin typeface="Malgun Gothic"/>
              </a:rPr>
              <a:t>•  시간 차이가 몰린 지점이 가설과 일치한다</a:t>
            </a:r>
          </a:p>
          <a:p>
            <a:r>
              <a:rPr sz="1600" b="0">
                <a:solidFill>
                  <a:srgbClr val="5A6672"/>
                </a:solidFill>
                <a:latin typeface="Malgun Gothic"/>
              </a:rPr>
              <a:t>    –  Reads 가 몰린 A의 6번 단계는 '처음 읽는 블록'(실습 01 이 읽지 않은 CLAIM_DETAILS)과 일치한다</a:t>
            </a:r>
          </a:p>
        </p:txBody>
      </p:sp>
    </p:spTree>
    <p:extLst>
      <p:ext uri="{BB962C8B-B14F-4D97-AF65-F5344CB8AC3E}">
        <p14:creationId xmlns:p14="http://schemas.microsoft.com/office/powerpoint/2010/main" val="9301705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결론과 벤치마크 방법론</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결론 — 이번 실측에서 관측된 시간 차이는 EXISTS와 IN의 구조적 차이가 아니다</a:t>
            </a:r>
          </a:p>
          <a:p>
            <a:r>
              <a:rPr sz="1600" b="0">
                <a:solidFill>
                  <a:srgbClr val="5A6672"/>
                </a:solidFill>
                <a:latin typeface="Malgun Gothic"/>
              </a:rPr>
              <a:t>    –  캐시 상태, 즉 먼저 실행됐는지 나중에 실행됐는지에서 비롯됐다</a:t>
            </a:r>
          </a:p>
          <a:p>
            <a:r>
              <a:rPr sz="1600" b="0">
                <a:solidFill>
                  <a:srgbClr val="5A6672"/>
                </a:solidFill>
                <a:latin typeface="Malgun Gothic"/>
              </a:rPr>
              <a:t>    –  실행계획 구조 자체는 완전히 동일했다</a:t>
            </a:r>
          </a:p>
          <a:p>
            <a:r>
              <a:rPr sz="1800" b="0">
                <a:solidFill>
                  <a:srgbClr val="202830"/>
                </a:solidFill>
                <a:latin typeface="Malgun Gothic"/>
              </a:rPr>
              <a:t>•  실무 교훈 — 한 번 측정한 결과로 단정하지 않는다</a:t>
            </a:r>
          </a:p>
          <a:p>
            <a:r>
              <a:rPr sz="1600" b="0">
                <a:solidFill>
                  <a:srgbClr val="5A6672"/>
                </a:solidFill>
                <a:latin typeface="Malgun Gothic"/>
              </a:rPr>
              <a:t>    –  실행 순서를 통제하지 않은 단일 측정은 순서 효과를 그대로 결론에 섞는다</a:t>
            </a:r>
          </a:p>
          <a:p>
            <a:r>
              <a:rPr sz="1800" b="0">
                <a:solidFill>
                  <a:srgbClr val="202830"/>
                </a:solidFill>
                <a:latin typeface="Malgun Gothic"/>
              </a:rPr>
              <a:t>•  공정한 비교를 위한 체크리스트</a:t>
            </a:r>
          </a:p>
          <a:p>
            <a:r>
              <a:rPr sz="1600" b="0">
                <a:solidFill>
                  <a:srgbClr val="5A6672"/>
                </a:solidFill>
                <a:latin typeface="Malgun Gothic"/>
              </a:rPr>
              <a:t>    –  ① 순서를 바꿔 반복 측정한다  ② 캐시 상태를 맞춘다</a:t>
            </a:r>
          </a:p>
          <a:p>
            <a:r>
              <a:rPr sz="1600" b="0">
                <a:solidFill>
                  <a:srgbClr val="5A6672"/>
                </a:solidFill>
                <a:latin typeface="Malgun Gothic"/>
              </a:rPr>
              <a:t>    –  ③ Buffers처럼 캐시에 덜 흔들리는 지표를 함께 본다</a:t>
            </a:r>
          </a:p>
        </p:txBody>
      </p:sp>
    </p:spTree>
    <p:extLst>
      <p:ext uri="{BB962C8B-B14F-4D97-AF65-F5344CB8AC3E}">
        <p14:creationId xmlns:p14="http://schemas.microsoft.com/office/powerpoint/2010/main" val="11949887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1.7~1.8</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자원 관점 종합 비교와 예고</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세 버전 종합 벤치마크</a:t>
            </a:r>
          </a:p>
          <a:p>
            <a:r>
              <a:rPr sz="1600" b="0">
                <a:solidFill>
                  <a:srgbClr val="C5CED6"/>
                </a:solidFill>
                <a:latin typeface="Malgun Gothic"/>
              </a:rPr>
              <a:t>•  Buffers와 Memory의 트레이드오프</a:t>
            </a:r>
          </a:p>
          <a:p>
            <a:r>
              <a:rPr sz="1600" b="0">
                <a:solidFill>
                  <a:srgbClr val="C5CED6"/>
                </a:solidFill>
                <a:latin typeface="Malgun Gothic"/>
              </a:rPr>
              <a:t>•  이후 챕터 로드맵</a:t>
            </a:r>
          </a:p>
        </p:txBody>
      </p:sp>
    </p:spTree>
    <p:extLst>
      <p:ext uri="{BB962C8B-B14F-4D97-AF65-F5344CB8AC3E}">
        <p14:creationId xmlns:p14="http://schemas.microsoft.com/office/powerpoint/2010/main" val="28011429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자원 관점 종합 비교</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1.8절 Benchmark — 세 버전 실측 요약</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a:t>
            </a:r>
          </a:p>
          <a:p>
            <a:r>
              <a:rPr sz="1250" b="0">
                <a:solidFill>
                  <a:srgbClr val="E6E6E6"/>
                </a:solidFill>
                <a:latin typeface="Consolas"/>
              </a:rPr>
              <a:t>| 버전              | Buffers | A-Time | Memory (Used-Mem, 최대)|</a:t>
            </a:r>
          </a:p>
          <a:p>
            <a:r>
              <a:rPr sz="1250" b="0">
                <a:solidFill>
                  <a:srgbClr val="E6E6E6"/>
                </a:solidFill>
                <a:latin typeface="Consolas"/>
              </a:rPr>
              <a:t>+-------------------+---------+--------+------------------------+</a:t>
            </a:r>
          </a:p>
          <a:p>
            <a:r>
              <a:rPr sz="1250" b="0">
                <a:solidFill>
                  <a:srgbClr val="E6E6E6"/>
                </a:solidFill>
                <a:latin typeface="Consolas"/>
              </a:rPr>
              <a:t>| A. IN             |   8,659 | 0.10초 | 6,651K                 |</a:t>
            </a:r>
          </a:p>
          <a:p>
            <a:r>
              <a:rPr sz="1250" b="0">
                <a:solidFill>
                  <a:srgbClr val="E6E6E6"/>
                </a:solidFill>
                <a:latin typeface="Consolas"/>
              </a:rPr>
              <a:t>| B. EXISTS         |   8,604 | 0.05초 | 6,694K                 |</a:t>
            </a:r>
          </a:p>
          <a:p>
            <a:r>
              <a:rPr sz="1250" b="0">
                <a:solidFill>
                  <a:srgbClr val="E6E6E6"/>
                </a:solidFill>
                <a:latin typeface="Consolas"/>
              </a:rPr>
              <a:t>| C. JOIN+DISTINCT  |   6,713 | 0.04초 | 12M (HASH GROUP BY)    |</a:t>
            </a:r>
          </a:p>
          <a:p>
            <a:r>
              <a:rPr sz="1250" b="0">
                <a:solidFill>
                  <a:srgbClr val="E6E6E6"/>
                </a:solidFill>
                <a:latin typeface="Consolas"/>
              </a:rPr>
              <a:t>+-------------------+---------+--------+------------------------+</a:t>
            </a:r>
          </a:p>
          <a:p>
            <a:r>
              <a:rPr sz="1250" b="0">
                <a:solidFill>
                  <a:srgbClr val="E6E6E6"/>
                </a:solidFill>
                <a:latin typeface="Consolas"/>
              </a:rPr>
              <a:t> </a:t>
            </a:r>
          </a:p>
          <a:p>
            <a:r>
              <a:rPr sz="1250" b="0">
                <a:solidFill>
                  <a:srgbClr val="7EC699"/>
                </a:solidFill>
                <a:latin typeface="Consolas"/>
              </a:rPr>
              <a:t>-- A : EXISTS와 구조 동일, 캐시 미보유 상태에서 측정</a:t>
            </a:r>
          </a:p>
          <a:p>
            <a:r>
              <a:rPr sz="1250" b="0">
                <a:solidFill>
                  <a:srgbClr val="7EC699"/>
                </a:solidFill>
                <a:latin typeface="Consolas"/>
              </a:rPr>
              <a:t>-- B : IN과 구조 동일, 캐시 보유 상태에서 측정</a:t>
            </a:r>
          </a:p>
          <a:p>
            <a:r>
              <a:rPr sz="1250" b="0">
                <a:solidFill>
                  <a:srgbClr val="7EC699"/>
                </a:solidFill>
                <a:latin typeface="Consolas"/>
              </a:rPr>
              <a:t>-- C : MEDICAL_CLAIMS 접근 자체가 없음</a:t>
            </a:r>
          </a:p>
        </p:txBody>
      </p:sp>
    </p:spTree>
    <p:extLst>
      <p:ext uri="{BB962C8B-B14F-4D97-AF65-F5344CB8AC3E}">
        <p14:creationId xmlns:p14="http://schemas.microsoft.com/office/powerpoint/2010/main" val="36552345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Buffers와 Memory의 트레이드오프</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Buffers만 보면 C가 가장 적고 A·B는 동일하다</a:t>
            </a:r>
          </a:p>
          <a:p>
            <a:r>
              <a:rPr sz="1600" b="0">
                <a:solidFill>
                  <a:srgbClr val="5A6672"/>
                </a:solidFill>
                <a:latin typeface="Malgun Gothic"/>
              </a:rPr>
              <a:t>    –  C는 MEDICAL_CLAIMS 접근 단계가 없어 그만큼 블록을 덜 읽었다</a:t>
            </a:r>
          </a:p>
          <a:p>
            <a:r>
              <a:rPr sz="1800" b="0">
                <a:solidFill>
                  <a:srgbClr val="202830"/>
                </a:solidFill>
                <a:latin typeface="Malgun Gothic"/>
              </a:rPr>
              <a:t>•  그런데 Memory는 C가 오히려 더 크다</a:t>
            </a:r>
          </a:p>
          <a:p>
            <a:r>
              <a:rPr sz="1600" b="0">
                <a:solidFill>
                  <a:srgbClr val="5A6672"/>
                </a:solidFill>
                <a:latin typeface="Malgun Gothic"/>
              </a:rPr>
              <a:t>    –  C는 HASH GROUP BY로 중복을 제거하느라 12M의 작업 영역을 썼다</a:t>
            </a:r>
          </a:p>
          <a:p>
            <a:r>
              <a:rPr sz="1600" b="0">
                <a:solidFill>
                  <a:srgbClr val="5A6672"/>
                </a:solidFill>
                <a:latin typeface="Malgun Gothic"/>
              </a:rPr>
              <a:t>    –  A·B는 단순 집계라 6,694K로 더 작았다</a:t>
            </a:r>
          </a:p>
          <a:p>
            <a:r>
              <a:rPr sz="1800" b="0">
                <a:solidFill>
                  <a:srgbClr val="202830"/>
                </a:solidFill>
                <a:latin typeface="Malgun Gothic"/>
              </a:rPr>
              <a:t>•  'Buffers가 적으면 항상 전방위로 유리하다'는 뜻이 아니다</a:t>
            </a:r>
          </a:p>
          <a:p>
            <a:r>
              <a:rPr sz="1600" b="0">
                <a:solidFill>
                  <a:srgbClr val="5A6672"/>
                </a:solidFill>
                <a:latin typeface="Malgun Gothic"/>
              </a:rPr>
              <a:t>    –  자원 절약은 다차원적이다 — 어떤 자원을 절약했는지 구분해서 봐야 한다</a:t>
            </a:r>
          </a:p>
          <a:p>
            <a:r>
              <a:rPr sz="1600" b="0">
                <a:solidFill>
                  <a:srgbClr val="5A6672"/>
                </a:solidFill>
                <a:latin typeface="Malgun Gothic"/>
              </a:rPr>
              <a:t>    –  동시 사용자가 많은 환경에서는 작업 영역 사용량이 더 중요한 제약이 될 수 있다</a:t>
            </a:r>
          </a:p>
        </p:txBody>
      </p:sp>
    </p:spTree>
    <p:extLst>
      <p:ext uri="{BB962C8B-B14F-4D97-AF65-F5344CB8AC3E}">
        <p14:creationId xmlns:p14="http://schemas.microsoft.com/office/powerpoint/2010/main" val="282790830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이후 챕터 로드맵</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이번 장에서 남겨 둔 질문</a:t>
            </a:r>
          </a:p>
          <a:p>
            <a:r>
              <a:rPr sz="1600" b="0">
                <a:solidFill>
                  <a:srgbClr val="5A6672"/>
                </a:solidFill>
                <a:latin typeface="Malgun Gothic"/>
              </a:rPr>
              <a:t>    –  C 버전은 왜 MEDICAL_CLAIMS 접근을 생략할 수 있었는가 → ch09 JOIN 실행 원리</a:t>
            </a:r>
          </a:p>
          <a:p>
            <a:r>
              <a:rPr sz="1600" b="0">
                <a:solidFill>
                  <a:srgbClr val="5A6672"/>
                </a:solidFill>
                <a:latin typeface="Malgun Gothic"/>
              </a:rPr>
              <a:t>    –  E-Rows와 A-Rows는 왜 어긋나는가 → 통계정보·카디널리티 추정 챕터</a:t>
            </a:r>
          </a:p>
          <a:p>
            <a:r>
              <a:rPr sz="1800" b="0">
                <a:solidFill>
                  <a:srgbClr val="202830"/>
                </a:solidFill>
                <a:latin typeface="Malgun Gothic"/>
              </a:rPr>
              <a:t>•  본격적인 개선 기법은 이후 챕터에서 순서대로 다룬다</a:t>
            </a:r>
          </a:p>
          <a:p>
            <a:r>
              <a:rPr sz="1600" b="0">
                <a:solidFill>
                  <a:srgbClr val="5A6672"/>
                </a:solidFill>
                <a:latin typeface="Malgun Gothic"/>
              </a:rPr>
              <a:t>    –  바인드 변수 사용 여부, 인덱스 설계, 조인 방식 선택 등</a:t>
            </a:r>
          </a:p>
          <a:p>
            <a:r>
              <a:rPr sz="1800" b="0">
                <a:solidFill>
                  <a:srgbClr val="202830"/>
                </a:solidFill>
                <a:latin typeface="Malgun Gothic"/>
              </a:rPr>
              <a:t>•  이번 차시의 범위는 '판단 기준을 세우는 것'까지다</a:t>
            </a:r>
          </a:p>
          <a:p>
            <a:r>
              <a:rPr sz="1600" b="0">
                <a:solidFill>
                  <a:srgbClr val="5A6672"/>
                </a:solidFill>
                <a:latin typeface="Malgun Gothic"/>
              </a:rPr>
              <a:t>    –  기준 없이 기법부터 배우면 언제 써야 할지를 판단할 수 없다</a:t>
            </a:r>
          </a:p>
        </p:txBody>
      </p:sp>
    </p:spTree>
    <p:extLst>
      <p:ext uri="{BB962C8B-B14F-4D97-AF65-F5344CB8AC3E}">
        <p14:creationId xmlns:p14="http://schemas.microsoft.com/office/powerpoint/2010/main" val="41840038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요약 (Summary)</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SQL 튜닝은 같은 결과를 내는 방법 중 자원을 덜 쓰는 쪽을 실측으로 고르는 작업이다</a:t>
            </a:r>
          </a:p>
          <a:p>
            <a:r>
              <a:rPr sz="1800" b="0">
                <a:solidFill>
                  <a:srgbClr val="202830"/>
                </a:solidFill>
                <a:latin typeface="Malgun Gothic"/>
              </a:rPr>
              <a:t>•  SQL 성능은 '몇 초'가 아니라 자원(CPU·I/O·Memory) 소비량으로 판단한다</a:t>
            </a:r>
          </a:p>
          <a:p>
            <a:r>
              <a:rPr sz="1800" b="0">
                <a:solidFill>
                  <a:srgbClr val="202830"/>
                </a:solidFill>
                <a:latin typeface="Malgun Gothic"/>
              </a:rPr>
              <a:t>•  I/O는 Buffers(논리적 I/O), Memory는 OMem·1Mem·Used-Mem으로 확인한다</a:t>
            </a:r>
          </a:p>
          <a:p>
            <a:r>
              <a:rPr sz="1800" b="0">
                <a:solidFill>
                  <a:srgbClr val="202830"/>
                </a:solidFill>
                <a:latin typeface="Malgun Gothic"/>
              </a:rPr>
              <a:t>•  Buffers가 같아도 A-Time이 다를 수 있다 — 캐시 상태(물리 I/O 여부)를 의심한다</a:t>
            </a:r>
          </a:p>
          <a:p>
            <a:r>
              <a:rPr sz="1800" b="0">
                <a:solidFill>
                  <a:srgbClr val="202830"/>
                </a:solidFill>
                <a:latin typeface="Malgun Gothic"/>
              </a:rPr>
              <a:t>•  IN과 EXISTS는 같은 세미조인으로 변환되어 실행계획이 완전히 동일했다</a:t>
            </a:r>
          </a:p>
          <a:p>
            <a:r>
              <a:rPr sz="1800" b="0">
                <a:solidFill>
                  <a:srgbClr val="202830"/>
                </a:solidFill>
                <a:latin typeface="Malgun Gothic"/>
              </a:rPr>
              <a:t>•  '이 방식이 항상 빠르다'는 통념은 실측 없이 신뢰하면 안 된다</a:t>
            </a:r>
          </a:p>
          <a:p>
            <a:r>
              <a:rPr sz="1800" b="0">
                <a:solidFill>
                  <a:srgbClr val="202830"/>
                </a:solidFill>
                <a:latin typeface="Malgun Gothic"/>
              </a:rPr>
              <a:t>•  같은 FROM 절이라도 옵티마이저가 불필요한 테이블 접근을 제거할 수 있다 (ch09)</a:t>
            </a:r>
          </a:p>
          <a:p>
            <a:r>
              <a:rPr sz="1800" b="0">
                <a:solidFill>
                  <a:srgbClr val="202830"/>
                </a:solidFill>
                <a:latin typeface="Malgun Gothic"/>
              </a:rPr>
              <a:t>•  자원 절약은 다차원적이다 — Buffers를 아꼈다고 Memory도 아꼈다는 보장은 없다</a:t>
            </a:r>
          </a:p>
        </p:txBody>
      </p:sp>
    </p:spTree>
    <p:extLst>
      <p:ext uri="{BB962C8B-B14F-4D97-AF65-F5344CB8AC3E}">
        <p14:creationId xmlns:p14="http://schemas.microsoft.com/office/powerpoint/2010/main" val="168781265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실습 안내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실습문제 10문항 — ch01_문제.md</a:t>
            </a:r>
          </a:p>
          <a:p>
            <a:r>
              <a:rPr sz="1600" b="0">
                <a:solidFill>
                  <a:srgbClr val="5A6672"/>
                </a:solidFill>
                <a:latin typeface="Malgun Gothic"/>
              </a:rPr>
              <a:t>    –  1~2번  HASH JOIN RIGHT SEMI의 의미와 IN·EXISTS 실행계획 동일성</a:t>
            </a:r>
          </a:p>
          <a:p>
            <a:r>
              <a:rPr sz="1600" b="0">
                <a:solidFill>
                  <a:srgbClr val="5A6672"/>
                </a:solidFill>
                <a:latin typeface="Malgun Gothic"/>
              </a:rPr>
              <a:t>    –  3번  Buffers가 같은데 A-Time이 다른 이유 추론</a:t>
            </a:r>
          </a:p>
          <a:p>
            <a:r>
              <a:rPr sz="1600" b="0">
                <a:solidFill>
                  <a:srgbClr val="5A6672"/>
                </a:solidFill>
                <a:latin typeface="Malgun Gothic"/>
              </a:rPr>
              <a:t>    –  4~5번  Buffers 차이가 발생한 단계 지목과 MEDICAL_CLAIMS 접근 생략의 근거</a:t>
            </a:r>
          </a:p>
          <a:p>
            <a:r>
              <a:rPr sz="1600" b="0">
                <a:solidFill>
                  <a:srgbClr val="5A6672"/>
                </a:solidFill>
                <a:latin typeface="Malgun Gothic"/>
              </a:rPr>
              <a:t>    –  6번  DRUG_MASTER의 E-Rows 추정이 실제와 어긋난 이유</a:t>
            </a:r>
          </a:p>
          <a:p>
            <a:r>
              <a:rPr sz="1600" b="0">
                <a:solidFill>
                  <a:srgbClr val="5A6672"/>
                </a:solidFill>
                <a:latin typeface="Malgun Gothic"/>
              </a:rPr>
              <a:t>    –  7·9번  코드 리뷰와 실무 판단 — 스타일만으로 성능을 단정할 수 없는 이유</a:t>
            </a:r>
          </a:p>
          <a:p>
            <a:r>
              <a:rPr sz="1600" b="0">
                <a:solidFill>
                  <a:srgbClr val="5A6672"/>
                </a:solidFill>
                <a:latin typeface="Malgun Gothic"/>
              </a:rPr>
              <a:t>    –  8·10번  Buffers와 Memory의 트레이드오프, 실무 채택 근거 서술</a:t>
            </a:r>
          </a:p>
          <a:p>
            <a:r>
              <a:rPr sz="1800" b="0">
                <a:solidFill>
                  <a:srgbClr val="202830"/>
                </a:solidFill>
                <a:latin typeface="Malgun Gothic"/>
              </a:rPr>
              <a:t>•  실습 전 확인 — 이번 장은 DDL 변경이 없다</a:t>
            </a:r>
          </a:p>
          <a:p>
            <a:r>
              <a:rPr sz="1600" b="0">
                <a:solidFill>
                  <a:srgbClr val="5A6672"/>
                </a:solidFill>
                <a:latin typeface="Malgun Gothic"/>
              </a:rPr>
              <a:t>    –  인덱스·통계를 임의로 바꾸면 교안의 실행계획이 재현되지 않는다</a:t>
            </a:r>
          </a:p>
        </p:txBody>
      </p:sp>
    </p:spTree>
    <p:extLst>
      <p:ext uri="{BB962C8B-B14F-4D97-AF65-F5344CB8AC3E}">
        <p14:creationId xmlns:p14="http://schemas.microsoft.com/office/powerpoint/2010/main" val="181905033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Rectangle 1"/>
          <p:cNvSpPr/>
          <p:nvPr/>
        </p:nvSpPr>
        <p:spPr>
          <a:xfrm>
            <a:off x="822960" y="2331720"/>
            <a:ext cx="164592"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88720" y="1463040"/>
            <a:ext cx="10058400" cy="369332"/>
          </a:xfrm>
          <a:prstGeom prst="rect">
            <a:avLst/>
          </a:prstGeom>
          <a:noFill/>
        </p:spPr>
        <p:txBody>
          <a:bodyPr wrap="square">
            <a:spAutoFit/>
          </a:bodyPr>
          <a:lstStyle/>
          <a:p>
            <a:r>
              <a:rPr sz="1800" b="1" dirty="0">
                <a:solidFill>
                  <a:srgbClr val="C0392B"/>
                </a:solidFill>
                <a:latin typeface="Malgun Gothic"/>
              </a:rPr>
              <a:t>Oracle SQL </a:t>
            </a:r>
            <a:r>
              <a:rPr sz="1800" b="1" dirty="0" err="1">
                <a:solidFill>
                  <a:srgbClr val="C0392B"/>
                </a:solidFill>
                <a:latin typeface="Malgun Gothic"/>
              </a:rPr>
              <a:t>튜닝</a:t>
            </a:r>
            <a:r>
              <a:rPr sz="1800" b="1" dirty="0">
                <a:solidFill>
                  <a:srgbClr val="C0392B"/>
                </a:solidFill>
                <a:latin typeface="Malgun Gothic"/>
              </a:rPr>
              <a:t> </a:t>
            </a:r>
            <a:r>
              <a:rPr sz="1800" b="1" dirty="0" err="1">
                <a:solidFill>
                  <a:srgbClr val="C0392B"/>
                </a:solidFill>
                <a:latin typeface="Malgun Gothic"/>
              </a:rPr>
              <a:t>과정</a:t>
            </a:r>
            <a:r>
              <a:rPr sz="1800" b="1" dirty="0">
                <a:solidFill>
                  <a:srgbClr val="C0392B"/>
                </a:solidFill>
                <a:latin typeface="Malgun Gothic"/>
              </a:rPr>
              <a:t>  · ch02</a:t>
            </a:r>
          </a:p>
        </p:txBody>
      </p:sp>
      <p:sp>
        <p:nvSpPr>
          <p:cNvPr id="4" name="TextBox 3"/>
          <p:cNvSpPr txBox="1"/>
          <p:nvPr/>
        </p:nvSpPr>
        <p:spPr>
          <a:xfrm>
            <a:off x="1188720" y="2194560"/>
            <a:ext cx="10332720" cy="2011680"/>
          </a:xfrm>
          <a:prstGeom prst="rect">
            <a:avLst/>
          </a:prstGeom>
          <a:noFill/>
        </p:spPr>
        <p:txBody>
          <a:bodyPr wrap="square">
            <a:spAutoFit/>
          </a:bodyPr>
          <a:lstStyle/>
          <a:p>
            <a:r>
              <a:rPr sz="4400" b="1">
                <a:solidFill>
                  <a:srgbClr val="FFFFFF"/>
                </a:solidFill>
                <a:latin typeface="Malgun Gothic"/>
              </a:rPr>
              <a:t>SQL은 어떻게 실행되는가?</a:t>
            </a:r>
          </a:p>
        </p:txBody>
      </p:sp>
      <p:sp>
        <p:nvSpPr>
          <p:cNvPr id="5" name="TextBox 4"/>
          <p:cNvSpPr txBox="1"/>
          <p:nvPr/>
        </p:nvSpPr>
        <p:spPr>
          <a:xfrm>
            <a:off x="1188720" y="4297680"/>
            <a:ext cx="10058400" cy="1097280"/>
          </a:xfrm>
          <a:prstGeom prst="rect">
            <a:avLst/>
          </a:prstGeom>
          <a:noFill/>
        </p:spPr>
        <p:txBody>
          <a:bodyPr wrap="square">
            <a:spAutoFit/>
          </a:bodyPr>
          <a:lstStyle/>
          <a:p>
            <a:r>
              <a:rPr sz="1800" b="0">
                <a:solidFill>
                  <a:srgbClr val="C5CED6"/>
                </a:solidFill>
                <a:latin typeface="Malgun Gothic"/>
              </a:rPr>
              <a:t>Parse / Bind / Execute / Fetch  ·  하드 파싱과 소프트 파싱  ·  SQL_ID와 공유 풀  ·  바인드 변수   |   Oracle Database 19c · 진료비청구심사 스키마 기준</a:t>
            </a:r>
          </a:p>
        </p:txBody>
      </p:sp>
    </p:spTree>
    <p:extLst>
      <p:ext uri="{BB962C8B-B14F-4D97-AF65-F5344CB8AC3E}">
        <p14:creationId xmlns:p14="http://schemas.microsoft.com/office/powerpoint/2010/main" val="266372701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학습 목표 (Objectives)</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 장을 마치면 다음을 수행할 수 있어야 한다.</a:t>
            </a:r>
          </a:p>
          <a:p>
            <a:r>
              <a:rPr sz="1600" b="0">
                <a:solidFill>
                  <a:srgbClr val="5A6672"/>
                </a:solidFill>
                <a:latin typeface="Malgun Gothic"/>
              </a:rPr>
              <a:t>    –  SQL 한 문장이 Parse → Bind → Execute → Fetch 순서로 처리되는 과정을 설명한다</a:t>
            </a:r>
          </a:p>
          <a:p>
            <a:r>
              <a:rPr sz="1600" b="0">
                <a:solidFill>
                  <a:srgbClr val="5A6672"/>
                </a:solidFill>
                <a:latin typeface="Malgun Gothic"/>
              </a:rPr>
              <a:t>    –  실행계획이 만들어지는 단계가 Parse임을 지목하고 그 근거를 말한다</a:t>
            </a:r>
          </a:p>
          <a:p>
            <a:r>
              <a:rPr sz="1600" b="0">
                <a:solidFill>
                  <a:srgbClr val="5A6672"/>
                </a:solidFill>
                <a:latin typeface="Malgun Gothic"/>
              </a:rPr>
              <a:t>    –  하드 파싱과 소프트 파싱의 차이를 비용 관점에서 구분한다</a:t>
            </a:r>
          </a:p>
          <a:p>
            <a:r>
              <a:rPr sz="1600" b="0">
                <a:solidFill>
                  <a:srgbClr val="5A6672"/>
                </a:solidFill>
                <a:latin typeface="Malgun Gothic"/>
              </a:rPr>
              <a:t>    –  Oracle이 SQL 텍스트를 해시해 SQL_ID로 식별한다는 원리를 설명한다</a:t>
            </a:r>
          </a:p>
          <a:p>
            <a:r>
              <a:rPr sz="1600" b="0">
                <a:solidFill>
                  <a:srgbClr val="5A6672"/>
                </a:solidFill>
                <a:latin typeface="Malgun Gothic"/>
              </a:rPr>
              <a:t>    –  리터럴 값만 다른 두 SQL이 서로 다른 SQL_ID를 받는 이유를 설명한다</a:t>
            </a:r>
          </a:p>
          <a:p>
            <a:r>
              <a:rPr sz="1600" b="0">
                <a:solidFill>
                  <a:srgbClr val="5A6672"/>
                </a:solidFill>
                <a:latin typeface="Malgun Gothic"/>
              </a:rPr>
              <a:t>    –  바인드 변수를 쓴 SQL이 같은 SQL_ID를 유지하는 이유를 설명한다</a:t>
            </a:r>
          </a:p>
          <a:p>
            <a:r>
              <a:rPr sz="1600" b="0">
                <a:solidFill>
                  <a:srgbClr val="5A6672"/>
                </a:solidFill>
                <a:latin typeface="Malgun Gothic"/>
              </a:rPr>
              <a:t>    –  SQL_ID·EXECUTIONS·PARSE_CALLS로 실행계획 재사용 여부를 확인한다</a:t>
            </a:r>
          </a:p>
          <a:p>
            <a:r>
              <a:rPr sz="1600" b="0">
                <a:solidFill>
                  <a:srgbClr val="5A6672"/>
                </a:solidFill>
                <a:latin typeface="Malgun Gothic"/>
              </a:rPr>
              <a:t>    –  같은 문장 구조인데 E-Rows가 다르게 나온 원인을 통계정보로 설명한다</a:t>
            </a:r>
          </a:p>
          <a:p>
            <a:r>
              <a:rPr sz="1600" b="0">
                <a:solidFill>
                  <a:srgbClr val="5A6672"/>
                </a:solidFill>
                <a:latin typeface="Malgun Gothic"/>
              </a:rPr>
              <a:t>    –  E-Rows가 달라도 Buffers가 같을 수 있는 이유를 접근 경로로 설명한다</a:t>
            </a:r>
          </a:p>
          <a:p>
            <a:r>
              <a:rPr sz="1600" b="0">
                <a:solidFill>
                  <a:srgbClr val="5A6672"/>
                </a:solidFill>
                <a:latin typeface="Malgun Gothic"/>
              </a:rPr>
              <a:t>    –  바인드 변수의 이점과 부작용을 함께 놓고 사용 여부를 판단한다</a:t>
            </a:r>
          </a:p>
        </p:txBody>
      </p:sp>
    </p:spTree>
    <p:extLst>
      <p:ext uri="{BB962C8B-B14F-4D97-AF65-F5344CB8AC3E}">
        <p14:creationId xmlns:p14="http://schemas.microsoft.com/office/powerpoint/2010/main" val="120777655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장의 구성 (Agenda)</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2.1  Why — SQL 처리 과정을 왜 알아야 하는가</a:t>
            </a:r>
          </a:p>
          <a:p>
            <a:r>
              <a:rPr sz="1800" b="0">
                <a:solidFill>
                  <a:srgbClr val="202830"/>
                </a:solidFill>
                <a:latin typeface="Malgun Gothic"/>
              </a:rPr>
              <a:t>•  2.2  Concept — SQL 처리 4단계 (Parse / Bind / Execute / Fetch)</a:t>
            </a:r>
          </a:p>
          <a:p>
            <a:r>
              <a:rPr sz="1800" b="0">
                <a:solidFill>
                  <a:srgbClr val="202830"/>
                </a:solidFill>
                <a:latin typeface="Malgun Gothic"/>
              </a:rPr>
              <a:t>•  2.3  Oracle Internals — 하드 파싱 · 소프트 파싱 · SQL_ID</a:t>
            </a:r>
          </a:p>
          <a:p>
            <a:r>
              <a:rPr sz="1800" b="0">
                <a:solidFill>
                  <a:srgbClr val="202830"/>
                </a:solidFill>
                <a:latin typeface="Malgun Gothic"/>
              </a:rPr>
              <a:t>•  2.4  Example — 리터럴 SQL과 바인드 변수 SQL</a:t>
            </a:r>
          </a:p>
          <a:p>
            <a:r>
              <a:rPr sz="1800" b="0">
                <a:solidFill>
                  <a:srgbClr val="202830"/>
                </a:solidFill>
                <a:latin typeface="Malgun Gothic"/>
              </a:rPr>
              <a:t>•  2.5  Execution Plan — 리터럴 값에 따른 실측 비교</a:t>
            </a:r>
          </a:p>
          <a:p>
            <a:r>
              <a:rPr sz="1800" b="0">
                <a:solidFill>
                  <a:srgbClr val="202830"/>
                </a:solidFill>
                <a:latin typeface="Malgun Gothic"/>
              </a:rPr>
              <a:t>•  2.6~2.7  Tuning — SQL_ID로 확인하는 파싱 재사용 여부</a:t>
            </a:r>
          </a:p>
          <a:p>
            <a:r>
              <a:rPr sz="1800" b="0">
                <a:solidFill>
                  <a:srgbClr val="202830"/>
                </a:solidFill>
                <a:latin typeface="Malgun Gothic"/>
              </a:rPr>
              <a:t>•  2.8  Benchmark — 파싱 관점 종합 비교</a:t>
            </a:r>
          </a:p>
          <a:p>
            <a:r>
              <a:rPr sz="1800" b="0">
                <a:solidFill>
                  <a:srgbClr val="202830"/>
                </a:solidFill>
                <a:latin typeface="Malgun Gothic"/>
              </a:rPr>
              <a:t>•  2.9~2.10  실습 안내 · 요약 (Review)</a:t>
            </a:r>
          </a:p>
        </p:txBody>
      </p:sp>
    </p:spTree>
    <p:extLst>
      <p:ext uri="{BB962C8B-B14F-4D97-AF65-F5344CB8AC3E}">
        <p14:creationId xmlns:p14="http://schemas.microsoft.com/office/powerpoint/2010/main" val="395550040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2.1</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SQL 처리 과정을 왜 알아야 하는가</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실행계획만 읽어서는 설명되지 않는 문제</a:t>
            </a:r>
          </a:p>
          <a:p>
            <a:r>
              <a:rPr sz="1600" b="0">
                <a:solidFill>
                  <a:srgbClr val="C5CED6"/>
                </a:solidFill>
                <a:latin typeface="Malgun Gothic"/>
              </a:rPr>
              <a:t>•  이번 차시가 답하려는 질문</a:t>
            </a:r>
          </a:p>
          <a:p>
            <a:r>
              <a:rPr sz="1600" b="0">
                <a:solidFill>
                  <a:srgbClr val="C5CED6"/>
                </a:solidFill>
                <a:latin typeface="Malgun Gothic"/>
              </a:rPr>
              <a:t>•  이 차시의 목표와 범위</a:t>
            </a:r>
          </a:p>
        </p:txBody>
      </p:sp>
    </p:spTree>
    <p:extLst>
      <p:ext uri="{BB962C8B-B14F-4D97-AF65-F5344CB8AC3E}">
        <p14:creationId xmlns:p14="http://schemas.microsoft.com/office/powerpoint/2010/main" val="263116441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실행계획을 읽는 것만으로 부족한 이유</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실행계획을 정확히 읽어도 설명되지 않는 현상이 있다</a:t>
            </a:r>
          </a:p>
          <a:p>
            <a:r>
              <a:rPr sz="1600" b="0">
                <a:solidFill>
                  <a:srgbClr val="5A6672"/>
                </a:solidFill>
                <a:latin typeface="Malgun Gothic"/>
              </a:rPr>
              <a:t>    –  같은 SQL인데 어떤 때는 빠르고 어떤 때는 느리다</a:t>
            </a:r>
          </a:p>
          <a:p>
            <a:r>
              <a:rPr sz="1600" b="0">
                <a:solidFill>
                  <a:srgbClr val="5A6672"/>
                </a:solidFill>
                <a:latin typeface="Malgun Gothic"/>
              </a:rPr>
              <a:t>    –  SQL 하나하나는 가벼운데 서버 전체 CPU 사용률이 올라간다</a:t>
            </a:r>
          </a:p>
          <a:p>
            <a:r>
              <a:rPr sz="1800" b="0">
                <a:solidFill>
                  <a:srgbClr val="202830"/>
                </a:solidFill>
                <a:latin typeface="Malgun Gothic"/>
              </a:rPr>
              <a:t>•  빠져 있는 질문 — 이 SQL은 언제 다시 최적화되고 언제 재사용되는가</a:t>
            </a:r>
          </a:p>
          <a:p>
            <a:r>
              <a:rPr sz="1600" b="0">
                <a:solidFill>
                  <a:srgbClr val="5A6672"/>
                </a:solidFill>
                <a:latin typeface="Malgun Gothic"/>
              </a:rPr>
              <a:t>    –  실행계획이 언제 만들어지는지 모르면 공유 풀 부하를 진단할 수 없다</a:t>
            </a:r>
          </a:p>
          <a:p>
            <a:r>
              <a:rPr sz="1600" b="0">
                <a:solidFill>
                  <a:srgbClr val="5A6672"/>
                </a:solidFill>
                <a:latin typeface="Malgun Gothic"/>
              </a:rPr>
              <a:t>    –  반복적인 하드 파싱은 개별 SQL의 실행계획만 봐서는 드러나지 않는다</a:t>
            </a:r>
          </a:p>
          <a:p>
            <a:r>
              <a:rPr sz="1800" b="0">
                <a:solidFill>
                  <a:srgbClr val="202830"/>
                </a:solidFill>
                <a:latin typeface="Malgun Gothic"/>
              </a:rPr>
              <a:t>•  그래서 이번 장은 무엇이 실행되는가가 아니라 어떻게 실행되는가를 본다</a:t>
            </a:r>
          </a:p>
          <a:p>
            <a:r>
              <a:rPr sz="1600" b="0">
                <a:solidFill>
                  <a:srgbClr val="5A6672"/>
                </a:solidFill>
                <a:latin typeface="Malgun Gothic"/>
              </a:rPr>
              <a:t>    –  실행계획은 결과물이고, 이번 장의 주제는 그 결과물이 생기는 과정이다</a:t>
            </a:r>
          </a:p>
        </p:txBody>
      </p:sp>
    </p:spTree>
    <p:extLst>
      <p:ext uri="{BB962C8B-B14F-4D97-AF65-F5344CB8AC3E}">
        <p14:creationId xmlns:p14="http://schemas.microsoft.com/office/powerpoint/2010/main" val="370372667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차시의 목표와 범위</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목표 1 — SQL 한 문장이 실행되기까지 거치는 단계를 이해한다</a:t>
            </a:r>
          </a:p>
          <a:p>
            <a:r>
              <a:rPr sz="1600" b="0">
                <a:solidFill>
                  <a:srgbClr val="5A6672"/>
                </a:solidFill>
                <a:latin typeface="Malgun Gothic"/>
              </a:rPr>
              <a:t>    –  Parse / Bind / Execute / Fetch 네 단계의 역할을 각각 구분한다</a:t>
            </a:r>
          </a:p>
          <a:p>
            <a:r>
              <a:rPr sz="1800" b="0">
                <a:solidFill>
                  <a:srgbClr val="202830"/>
                </a:solidFill>
                <a:latin typeface="Malgun Gothic"/>
              </a:rPr>
              <a:t>•  목표 2 — 그 단계 중 어디서 실행계획이 만들어지는지 파악한다</a:t>
            </a:r>
          </a:p>
          <a:p>
            <a:r>
              <a:rPr sz="1600" b="0">
                <a:solidFill>
                  <a:srgbClr val="5A6672"/>
                </a:solidFill>
                <a:latin typeface="Malgun Gothic"/>
              </a:rPr>
              <a:t>    –  실행계획은 Parse 단계의 산출물이며 이후 단계는 그것을 따라간다</a:t>
            </a:r>
          </a:p>
          <a:p>
            <a:r>
              <a:rPr sz="1800" b="0">
                <a:solidFill>
                  <a:srgbClr val="202830"/>
                </a:solidFill>
                <a:latin typeface="Malgun Gothic"/>
              </a:rPr>
              <a:t>•  소재 — MEDICAL_CLAIMS를 HOSP_ID 리터럴 값으로 조회하는 동일 SQL</a:t>
            </a:r>
          </a:p>
          <a:p>
            <a:r>
              <a:rPr sz="1600" b="0">
                <a:solidFill>
                  <a:srgbClr val="5A6672"/>
                </a:solidFill>
                <a:latin typeface="Malgun Gothic"/>
              </a:rPr>
              <a:t>    –  같은 SQL을 값만 바꿔 여러 번 실행하며 Parse 단계의 동작을 관찰한다</a:t>
            </a:r>
          </a:p>
          <a:p>
            <a:r>
              <a:rPr sz="1800" b="0">
                <a:solidFill>
                  <a:srgbClr val="202830"/>
                </a:solidFill>
                <a:latin typeface="Malgun Gothic"/>
              </a:rPr>
              <a:t>•  이 장에서 다루지 않는 것</a:t>
            </a:r>
          </a:p>
          <a:p>
            <a:r>
              <a:rPr sz="1600" b="0">
                <a:solidFill>
                  <a:srgbClr val="5A6672"/>
                </a:solidFill>
                <a:latin typeface="Malgun Gothic"/>
              </a:rPr>
              <a:t>    –  히스토그램의 내부 원리와 바인드 변수 대응 기법 — ch08</a:t>
            </a:r>
          </a:p>
          <a:p>
            <a:r>
              <a:rPr sz="1600" b="0">
                <a:solidFill>
                  <a:srgbClr val="5A6672"/>
                </a:solidFill>
                <a:latin typeface="Malgun Gothic"/>
              </a:rPr>
              <a:t>    –  본 차시는 DDL 변경이 없다 — 스키마를 그대로 둔 채 관찰만 한다</a:t>
            </a:r>
          </a:p>
        </p:txBody>
      </p:sp>
    </p:spTree>
    <p:extLst>
      <p:ext uri="{BB962C8B-B14F-4D97-AF65-F5344CB8AC3E}">
        <p14:creationId xmlns:p14="http://schemas.microsoft.com/office/powerpoint/2010/main" val="412795406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2.2</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SQL 처리 4단계</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Parse — 문법·의미 검사와 실행계획 확보</a:t>
            </a:r>
          </a:p>
          <a:p>
            <a:r>
              <a:rPr sz="1600" b="0">
                <a:solidFill>
                  <a:srgbClr val="C5CED6"/>
                </a:solidFill>
                <a:latin typeface="Malgun Gothic"/>
              </a:rPr>
              <a:t>•  Bind · Execute · Fetch의 역할</a:t>
            </a:r>
          </a:p>
          <a:p>
            <a:r>
              <a:rPr sz="1600" b="0">
                <a:solidFill>
                  <a:srgbClr val="C5CED6"/>
                </a:solidFill>
                <a:latin typeface="Malgun Gothic"/>
              </a:rPr>
              <a:t>•  옵티마이저가 동작하는 지점</a:t>
            </a:r>
          </a:p>
        </p:txBody>
      </p:sp>
    </p:spTree>
    <p:extLst>
      <p:ext uri="{BB962C8B-B14F-4D97-AF65-F5344CB8AC3E}">
        <p14:creationId xmlns:p14="http://schemas.microsoft.com/office/powerpoint/2010/main" val="10974622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SQL 처리 4단계 개요</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SQL은 한 번에 실행되지 않고 네 단계를 순서대로 거친다</a:t>
            </a:r>
          </a:p>
          <a:p>
            <a:r>
              <a:rPr sz="1600" b="0">
                <a:solidFill>
                  <a:srgbClr val="5A6672"/>
                </a:solidFill>
                <a:latin typeface="Malgun Gothic"/>
              </a:rPr>
              <a:t>    –  Parse → Bind → Execute → Fetch</a:t>
            </a:r>
          </a:p>
          <a:p>
            <a:r>
              <a:rPr sz="1800" b="0">
                <a:solidFill>
                  <a:srgbClr val="202830"/>
                </a:solidFill>
                <a:latin typeface="Malgun Gothic"/>
              </a:rPr>
              <a:t>•  Parse — 문법·의미를 검사하고 실행계획을 확보한다</a:t>
            </a:r>
          </a:p>
          <a:p>
            <a:r>
              <a:rPr sz="1800" b="0">
                <a:solidFill>
                  <a:srgbClr val="202830"/>
                </a:solidFill>
                <a:latin typeface="Malgun Gothic"/>
              </a:rPr>
              <a:t>•  Bind — SQL에 바인드 변수가 있으면 그 자리에 실제 값을 대입한다</a:t>
            </a:r>
          </a:p>
          <a:p>
            <a:r>
              <a:rPr sz="1800" b="0">
                <a:solidFill>
                  <a:srgbClr val="202830"/>
                </a:solidFill>
                <a:latin typeface="Malgun Gothic"/>
              </a:rPr>
              <a:t>•  Execute — 확보된 실행계획대로 실제 데이터를 처리한다</a:t>
            </a:r>
          </a:p>
          <a:p>
            <a:r>
              <a:rPr sz="1800" b="0">
                <a:solidFill>
                  <a:srgbClr val="202830"/>
                </a:solidFill>
                <a:latin typeface="Malgun Gothic"/>
              </a:rPr>
              <a:t>•  Fetch — 처리 결과를 클라이언트로 반환한다</a:t>
            </a:r>
          </a:p>
          <a:p>
            <a:r>
              <a:rPr sz="1800" b="0">
                <a:solidFill>
                  <a:srgbClr val="202830"/>
                </a:solidFill>
                <a:latin typeface="Malgun Gothic"/>
              </a:rPr>
              <a:t>•  네 단계 중 판단이 일어나는 곳은 Parse 하나뿐이다</a:t>
            </a:r>
          </a:p>
          <a:p>
            <a:r>
              <a:rPr sz="1600" b="0">
                <a:solidFill>
                  <a:srgbClr val="5A6672"/>
                </a:solidFill>
                <a:latin typeface="Malgun Gothic"/>
              </a:rPr>
              <a:t>    –  나머지 단계는 이미 정해진 계획을 그대로 따라갈 뿐이다</a:t>
            </a:r>
          </a:p>
          <a:p>
            <a:r>
              <a:rPr sz="1600" b="0">
                <a:solidFill>
                  <a:srgbClr val="5A6672"/>
                </a:solidFill>
                <a:latin typeface="Malgun Gothic"/>
              </a:rPr>
              <a:t>    –  그래서 성능 판단의 초점은 이 계획이 어떻게 정해졌는가에 놓인다</a:t>
            </a:r>
          </a:p>
        </p:txBody>
      </p:sp>
    </p:spTree>
    <p:extLst>
      <p:ext uri="{BB962C8B-B14F-4D97-AF65-F5344CB8AC3E}">
        <p14:creationId xmlns:p14="http://schemas.microsoft.com/office/powerpoint/2010/main" val="241461267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Parse 단계에서 일어나는 일</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① 문법 검사 — SQL 문장이 문법에 맞게 작성되었는가</a:t>
            </a:r>
          </a:p>
          <a:p>
            <a:r>
              <a:rPr sz="1800" b="0">
                <a:solidFill>
                  <a:srgbClr val="202830"/>
                </a:solidFill>
                <a:latin typeface="Malgun Gothic"/>
              </a:rPr>
              <a:t>•  ② 의미 검사 — 테이블·컬럼이 실제로 존재하고 접근 권한이 있는가</a:t>
            </a:r>
          </a:p>
          <a:p>
            <a:r>
              <a:rPr sz="1800" b="0">
                <a:solidFill>
                  <a:srgbClr val="202830"/>
                </a:solidFill>
                <a:latin typeface="Malgun Gothic"/>
              </a:rPr>
              <a:t>•  ③ 공유 풀 조회 — 이미 같은 SQL이 공유 풀(Shared Pool)에 있는가</a:t>
            </a:r>
          </a:p>
          <a:p>
            <a:r>
              <a:rPr sz="1600" b="0">
                <a:solidFill>
                  <a:srgbClr val="5A6672"/>
                </a:solidFill>
                <a:latin typeface="Malgun Gothic"/>
              </a:rPr>
              <a:t>    –  없으면 옵티마이저가 새로 실행계획을 생성한다 (하드 파싱)</a:t>
            </a:r>
          </a:p>
          <a:p>
            <a:r>
              <a:rPr sz="1600" b="0">
                <a:solidFill>
                  <a:srgbClr val="5A6672"/>
                </a:solidFill>
                <a:latin typeface="Malgun Gothic"/>
              </a:rPr>
              <a:t>    –  있으면 기존 실행계획을 그대로 재사용한다 (소프트 파싱)</a:t>
            </a:r>
          </a:p>
          <a:p>
            <a:r>
              <a:rPr sz="1800" b="0">
                <a:solidFill>
                  <a:srgbClr val="202830"/>
                </a:solidFill>
                <a:latin typeface="Malgun Gothic"/>
              </a:rPr>
              <a:t>•  ④ 최적화 — 통계정보를 근거로 실행계획을 만든다 (하드 파싱일 때만)</a:t>
            </a:r>
          </a:p>
          <a:p>
            <a:r>
              <a:rPr sz="1800" b="0">
                <a:solidFill>
                  <a:srgbClr val="202830"/>
                </a:solidFill>
                <a:latin typeface="Malgun Gothic"/>
              </a:rPr>
              <a:t>•  Parse는 SQL 텍스트 단위로 독립적으로 일어난다</a:t>
            </a:r>
          </a:p>
          <a:p>
            <a:r>
              <a:rPr sz="1600" b="0">
                <a:solidFill>
                  <a:srgbClr val="5A6672"/>
                </a:solidFill>
                <a:latin typeface="Malgun Gothic"/>
              </a:rPr>
              <a:t>    –  텍스트가 다르면 서로 다른 파싱 과정을 각각 거친다</a:t>
            </a:r>
          </a:p>
        </p:txBody>
      </p:sp>
    </p:spTree>
    <p:extLst>
      <p:ext uri="{BB962C8B-B14F-4D97-AF65-F5344CB8AC3E}">
        <p14:creationId xmlns:p14="http://schemas.microsoft.com/office/powerpoint/2010/main" val="400854308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Bind · Execute · Fetch 단계</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Bind — 바인드 변수 자리에 실제 값을 대입한다</a:t>
            </a:r>
          </a:p>
          <a:p>
            <a:r>
              <a:rPr sz="1600" b="0">
                <a:solidFill>
                  <a:srgbClr val="5A6672"/>
                </a:solidFill>
                <a:latin typeface="Malgun Gothic"/>
              </a:rPr>
              <a:t>    –  :b_hosp 같은 자리표시자에 그때그때의 값이 들어간다</a:t>
            </a:r>
          </a:p>
          <a:p>
            <a:r>
              <a:rPr sz="1600" b="0">
                <a:solidFill>
                  <a:srgbClr val="5A6672"/>
                </a:solidFill>
                <a:latin typeface="Malgun Gothic"/>
              </a:rPr>
              <a:t>    –  바인드 변수가 없는 SQL에는 이 단계에서 할 일이 없다</a:t>
            </a:r>
          </a:p>
          <a:p>
            <a:r>
              <a:rPr sz="1800" b="0">
                <a:solidFill>
                  <a:srgbClr val="202830"/>
                </a:solidFill>
                <a:latin typeface="Malgun Gothic"/>
              </a:rPr>
              <a:t>•  Execute — 만들어진 실행계획대로 실제 데이터를 처리한다</a:t>
            </a:r>
          </a:p>
          <a:p>
            <a:r>
              <a:rPr sz="1600" b="0">
                <a:solidFill>
                  <a:srgbClr val="5A6672"/>
                </a:solidFill>
                <a:latin typeface="Malgun Gothic"/>
              </a:rPr>
              <a:t>    –  블록을 읽고 필터·조인·정렬을 수행하는 실제 작업이 여기서 일어난다</a:t>
            </a:r>
          </a:p>
          <a:p>
            <a:r>
              <a:rPr sz="1600" b="0">
                <a:solidFill>
                  <a:srgbClr val="5A6672"/>
                </a:solidFill>
                <a:latin typeface="Malgun Gothic"/>
              </a:rPr>
              <a:t>    –  A-Rows·A-Time·Buffers 같은 실측치는 이 단계를 거쳐야 생긴다</a:t>
            </a:r>
          </a:p>
          <a:p>
            <a:r>
              <a:rPr sz="1800" b="0">
                <a:solidFill>
                  <a:srgbClr val="202830"/>
                </a:solidFill>
                <a:latin typeface="Malgun Gothic"/>
              </a:rPr>
              <a:t>•  Fetch — 처리된 결과를 클라이언트로 반환한다</a:t>
            </a:r>
          </a:p>
          <a:p>
            <a:r>
              <a:rPr sz="1600" b="0">
                <a:solidFill>
                  <a:srgbClr val="5A6672"/>
                </a:solidFill>
                <a:latin typeface="Malgun Gothic"/>
              </a:rPr>
              <a:t>    –  결과 건수가 많으면 여러 번에 나누어 반환된다</a:t>
            </a:r>
          </a:p>
          <a:p>
            <a:r>
              <a:rPr sz="1800" b="0">
                <a:solidFill>
                  <a:srgbClr val="202830"/>
                </a:solidFill>
                <a:latin typeface="Malgun Gothic"/>
              </a:rPr>
              <a:t>•  이 세 단계는 계획을 바꾸지 않는다 — 정해진 대로 수행할 뿐이다</a:t>
            </a:r>
          </a:p>
        </p:txBody>
      </p:sp>
    </p:spTree>
    <p:extLst>
      <p:ext uri="{BB962C8B-B14F-4D97-AF65-F5344CB8AC3E}">
        <p14:creationId xmlns:p14="http://schemas.microsoft.com/office/powerpoint/2010/main" val="64058743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옵티마이저는 어디서 동작하는가</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옵티마이저는 Parse 단계에서 동작한다</a:t>
            </a:r>
          </a:p>
          <a:p>
            <a:r>
              <a:rPr sz="1600" b="0">
                <a:solidFill>
                  <a:srgbClr val="5A6672"/>
                </a:solidFill>
                <a:latin typeface="Malgun Gothic"/>
              </a:rPr>
              <a:t>    –  그 결과물이 앞 장부터 계속 읽어 온 실행계획이다</a:t>
            </a:r>
          </a:p>
          <a:p>
            <a:r>
              <a:rPr sz="1800" b="0">
                <a:solidFill>
                  <a:srgbClr val="202830"/>
                </a:solidFill>
                <a:latin typeface="Malgun Gothic"/>
              </a:rPr>
              <a:t>•  Cost·E-Rows 같은 추정치도 전부 Parse 시점에 계산된다</a:t>
            </a:r>
          </a:p>
          <a:p>
            <a:r>
              <a:rPr sz="1600" b="0">
                <a:solidFill>
                  <a:srgbClr val="5A6672"/>
                </a:solidFill>
                <a:latin typeface="Malgun Gothic"/>
              </a:rPr>
              <a:t>    –  실행이 끝난 뒤에 다시 계산해 보정하는 값이 아니다</a:t>
            </a:r>
          </a:p>
          <a:p>
            <a:r>
              <a:rPr sz="1600" b="0">
                <a:solidFill>
                  <a:srgbClr val="5A6672"/>
                </a:solidFill>
                <a:latin typeface="Malgun Gothic"/>
              </a:rPr>
              <a:t>    –  그래서 추정이 빗나가도 그 실행 중에는 계획이 바뀌지 않는다</a:t>
            </a:r>
          </a:p>
          <a:p>
            <a:r>
              <a:rPr sz="1800" b="0">
                <a:solidFill>
                  <a:srgbClr val="202830"/>
                </a:solidFill>
                <a:latin typeface="Malgun Gothic"/>
              </a:rPr>
              <a:t>•  EXPLAIN PLAN과 실제 실행의 차이도 여기서 설명된다</a:t>
            </a:r>
          </a:p>
          <a:p>
            <a:r>
              <a:rPr sz="1600" b="0">
                <a:solidFill>
                  <a:srgbClr val="5A6672"/>
                </a:solidFill>
                <a:latin typeface="Malgun Gothic"/>
              </a:rPr>
              <a:t>    –  EXPLAIN PLAN은 네 단계 중 Parse까지만 수행한다</a:t>
            </a:r>
          </a:p>
          <a:p>
            <a:r>
              <a:rPr sz="1600" b="0">
                <a:solidFill>
                  <a:srgbClr val="5A6672"/>
                </a:solidFill>
                <a:latin typeface="Malgun Gothic"/>
              </a:rPr>
              <a:t>    –  그래서 추정치만 보이고 실측치는 애초에 존재하지 않는다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EXPLAIN PLAN이 네 단계 중 Parse까지만 수행한다는 점은 실습문제 7번에서 다시 확인한다.</a:t>
            </a:r>
          </a:p>
        </p:txBody>
      </p:sp>
    </p:spTree>
    <p:extLst>
      <p:ext uri="{BB962C8B-B14F-4D97-AF65-F5344CB8AC3E}">
        <p14:creationId xmlns:p14="http://schemas.microsoft.com/office/powerpoint/2010/main" val="299107869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2.3</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하드 파싱과 소프트 파싱</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하드 파싱의 비용 · 소프트 파싱의 절약</a:t>
            </a:r>
          </a:p>
          <a:p>
            <a:r>
              <a:rPr sz="1600" b="0">
                <a:solidFill>
                  <a:srgbClr val="C5CED6"/>
                </a:solidFill>
                <a:latin typeface="Malgun Gothic"/>
              </a:rPr>
              <a:t>•  SQL_ID — 텍스트를 해시해 식별한다</a:t>
            </a:r>
          </a:p>
          <a:p>
            <a:r>
              <a:rPr sz="1600" b="0">
                <a:solidFill>
                  <a:srgbClr val="C5CED6"/>
                </a:solidFill>
                <a:latin typeface="Malgun Gothic"/>
              </a:rPr>
              <a:t>•  리터럴과 바인드 변수의 갈림길</a:t>
            </a:r>
          </a:p>
        </p:txBody>
      </p:sp>
    </p:spTree>
    <p:extLst>
      <p:ext uri="{BB962C8B-B14F-4D97-AF65-F5344CB8AC3E}">
        <p14:creationId xmlns:p14="http://schemas.microsoft.com/office/powerpoint/2010/main" val="75678245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하드 파싱 (Hard Parse)</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정의 — 공유 풀에 동일한 SQL 텍스트가 없어 처음부터 전부 수행하는 것</a:t>
            </a:r>
          </a:p>
          <a:p>
            <a:r>
              <a:rPr sz="1600" b="0">
                <a:solidFill>
                  <a:srgbClr val="5A6672"/>
                </a:solidFill>
                <a:latin typeface="Malgun Gothic"/>
              </a:rPr>
              <a:t>    –  문법 검사 → 의미 분석 → 최적화(실행계획 생성)를 모두 거친다</a:t>
            </a:r>
          </a:p>
          <a:p>
            <a:r>
              <a:rPr sz="1800" b="0">
                <a:solidFill>
                  <a:srgbClr val="202830"/>
                </a:solidFill>
                <a:latin typeface="Malgun Gothic"/>
              </a:rPr>
              <a:t>•  비용이 큰 이유</a:t>
            </a:r>
          </a:p>
          <a:p>
            <a:r>
              <a:rPr sz="1600" b="0">
                <a:solidFill>
                  <a:srgbClr val="5A6672"/>
                </a:solidFill>
                <a:latin typeface="Malgun Gothic"/>
              </a:rPr>
              <a:t>    –  옵티마이저가 여러 실행 방법을 만들어 비교·평가해야 한다</a:t>
            </a:r>
          </a:p>
          <a:p>
            <a:r>
              <a:rPr sz="1600" b="0">
                <a:solidFill>
                  <a:srgbClr val="5A6672"/>
                </a:solidFill>
                <a:latin typeface="Malgun Gothic"/>
              </a:rPr>
              <a:t>    –  통계정보를 읽어 카디널리티와 Cost를 계산해야 한다</a:t>
            </a:r>
          </a:p>
          <a:p>
            <a:r>
              <a:rPr sz="1600" b="0">
                <a:solidFill>
                  <a:srgbClr val="5A6672"/>
                </a:solidFill>
                <a:latin typeface="Malgun Gothic"/>
              </a:rPr>
              <a:t>    –  결과를 공유 풀에 등록하는 동안 내부 자원을 점유한다</a:t>
            </a:r>
          </a:p>
          <a:p>
            <a:r>
              <a:rPr sz="1800" b="0">
                <a:solidFill>
                  <a:srgbClr val="202830"/>
                </a:solidFill>
                <a:latin typeface="Malgun Gothic"/>
              </a:rPr>
              <a:t>•  하드 파싱 자체는 잘못이 아니다 — 처음 한 번은 반드시 필요하다</a:t>
            </a:r>
          </a:p>
          <a:p>
            <a:r>
              <a:rPr sz="1600" b="0">
                <a:solidFill>
                  <a:srgbClr val="5A6672"/>
                </a:solidFill>
                <a:latin typeface="Malgun Gothic"/>
              </a:rPr>
              <a:t>    –  문제가 되는 것은 같은 로직이 값만 바뀌며 반복 하드 파싱되는 경우다</a:t>
            </a:r>
          </a:p>
        </p:txBody>
      </p:sp>
    </p:spTree>
    <p:extLst>
      <p:ext uri="{BB962C8B-B14F-4D97-AF65-F5344CB8AC3E}">
        <p14:creationId xmlns:p14="http://schemas.microsoft.com/office/powerpoint/2010/main" val="4874298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소프트 파싱 (Soft Parse)</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정의 — 공유 풀에 동일한 SQL 텍스트가 있어 기존 실행계획을 재사용하는 것</a:t>
            </a:r>
          </a:p>
          <a:p>
            <a:r>
              <a:rPr sz="1800" b="0">
                <a:solidFill>
                  <a:srgbClr val="202830"/>
                </a:solidFill>
                <a:latin typeface="Malgun Gothic"/>
              </a:rPr>
              <a:t>•  비용이 작은 이유</a:t>
            </a:r>
          </a:p>
          <a:p>
            <a:r>
              <a:rPr sz="1600" b="0">
                <a:solidFill>
                  <a:srgbClr val="5A6672"/>
                </a:solidFill>
                <a:latin typeface="Malgun Gothic"/>
              </a:rPr>
              <a:t>    –  가장 비싼 최적화 단계를 건너뛴다 — 이미 만들어진 계획을 그대로 쓴다</a:t>
            </a:r>
          </a:p>
          <a:p>
            <a:r>
              <a:rPr sz="1600" b="0">
                <a:solidFill>
                  <a:srgbClr val="5A6672"/>
                </a:solidFill>
                <a:latin typeface="Malgun Gothic"/>
              </a:rPr>
              <a:t>    –  통계정보를 다시 읽어 Cost를 계산하는 작업이 없다</a:t>
            </a:r>
          </a:p>
          <a:p>
            <a:r>
              <a:rPr sz="1800" b="0">
                <a:solidFill>
                  <a:srgbClr val="202830"/>
                </a:solidFill>
                <a:latin typeface="Malgun Gothic"/>
              </a:rPr>
              <a:t>•  단, 문법·의미 검사와 공유 풀 조회는 여전히 수행한다</a:t>
            </a:r>
          </a:p>
          <a:p>
            <a:r>
              <a:rPr sz="1600" b="0">
                <a:solidFill>
                  <a:srgbClr val="5A6672"/>
                </a:solidFill>
                <a:latin typeface="Malgun Gothic"/>
              </a:rPr>
              <a:t>    –  소프트 파싱도 공짜는 아니다 — 하드 파싱보다 쌀 뿐이다</a:t>
            </a:r>
          </a:p>
          <a:p>
            <a:r>
              <a:rPr sz="1800" b="0">
                <a:solidFill>
                  <a:srgbClr val="202830"/>
                </a:solidFill>
                <a:latin typeface="Malgun Gothic"/>
              </a:rPr>
              <a:t>•  판단 기준 — 반복 실행되는 SQL이 소프트 파싱으로 처리되고 있는가</a:t>
            </a:r>
          </a:p>
          <a:p>
            <a:r>
              <a:rPr sz="1600" b="0">
                <a:solidFill>
                  <a:srgbClr val="5A6672"/>
                </a:solidFill>
                <a:latin typeface="Malgun Gothic"/>
              </a:rPr>
              <a:t>    –  이 질문에 답하려면 SQL_ID가 하나로 유지되는지 확인해야 한다</a:t>
            </a:r>
          </a:p>
        </p:txBody>
      </p:sp>
    </p:spTree>
    <p:extLst>
      <p:ext uri="{BB962C8B-B14F-4D97-AF65-F5344CB8AC3E}">
        <p14:creationId xmlns:p14="http://schemas.microsoft.com/office/powerpoint/2010/main" val="418204474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SQL_ID — Oracle이 SQL을 식별하는 방법</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Oracle은 SQL 텍스트를 해시한 값(SQL_ID)으로 SQL을 식별한다</a:t>
            </a:r>
          </a:p>
          <a:p>
            <a:r>
              <a:rPr sz="1600" b="0">
                <a:solidFill>
                  <a:srgbClr val="5A6672"/>
                </a:solidFill>
                <a:latin typeface="Malgun Gothic"/>
              </a:rPr>
              <a:t>    –  공유 풀에서 재사용할지 새로 만들지를 이 식별자 하나로 판단한다</a:t>
            </a:r>
          </a:p>
          <a:p>
            <a:r>
              <a:rPr sz="1800" b="0">
                <a:solidFill>
                  <a:srgbClr val="202830"/>
                </a:solidFill>
                <a:latin typeface="Malgun Gothic"/>
              </a:rPr>
              <a:t>•  판단 기준은 오직 텍스트가 일치하는가다</a:t>
            </a:r>
          </a:p>
          <a:p>
            <a:r>
              <a:rPr sz="1600" b="0">
                <a:solidFill>
                  <a:srgbClr val="5A6672"/>
                </a:solidFill>
                <a:latin typeface="Malgun Gothic"/>
              </a:rPr>
              <a:t>    –  로직이 같아도 텍스트가 다르면 재사용 대상이 아니다</a:t>
            </a:r>
          </a:p>
          <a:p>
            <a:r>
              <a:rPr sz="1600" b="0">
                <a:solidFill>
                  <a:srgbClr val="5A6672"/>
                </a:solidFill>
                <a:latin typeface="Malgun Gothic"/>
              </a:rPr>
              <a:t>    –  Oracle이 두 SQL의 의미가 같다는 것을 알아서 묶어 주지 않는다</a:t>
            </a:r>
          </a:p>
          <a:p>
            <a:r>
              <a:rPr sz="1800" b="0">
                <a:solidFill>
                  <a:srgbClr val="202830"/>
                </a:solidFill>
                <a:latin typeface="Malgun Gothic"/>
              </a:rPr>
              <a:t>•  따라서 텍스트를 바꾸는 모든 요소가 SQL_ID를 바꾼다</a:t>
            </a:r>
          </a:p>
          <a:p>
            <a:r>
              <a:rPr sz="1600" b="0">
                <a:solidFill>
                  <a:srgbClr val="5A6672"/>
                </a:solidFill>
                <a:latin typeface="Malgun Gothic"/>
              </a:rPr>
              <a:t>    –  리터럴 값은 물론 공백, 줄바꿈, 대소문자, 주석도 텍스트의 일부다</a:t>
            </a:r>
          </a:p>
          <a:p>
            <a:r>
              <a:rPr sz="1600" b="0">
                <a:solidFill>
                  <a:srgbClr val="5A6672"/>
                </a:solidFill>
                <a:latin typeface="Malgun Gothic"/>
              </a:rPr>
              <a:t>    –  같은 SQL을 팀마다 다른 서식으로 쓰면 그만큼 사본이 늘어난다</a:t>
            </a:r>
          </a:p>
        </p:txBody>
      </p:sp>
    </p:spTree>
    <p:extLst>
      <p:ext uri="{BB962C8B-B14F-4D97-AF65-F5344CB8AC3E}">
        <p14:creationId xmlns:p14="http://schemas.microsoft.com/office/powerpoint/2010/main" val="358455227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리터럴 값이 다르면 완전히 별개의 SQL</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WHERE hosp_id = 1과 WHERE hosp_id = 500은 글자 하나만 다르다</a:t>
            </a:r>
          </a:p>
          <a:p>
            <a:r>
              <a:rPr sz="1600" b="0">
                <a:solidFill>
                  <a:srgbClr val="5A6672"/>
                </a:solidFill>
                <a:latin typeface="Malgun Gothic"/>
              </a:rPr>
              <a:t>    –  그런데도 SQL 텍스트가 다르므로 SQL_ID가 다르게 부여된다</a:t>
            </a:r>
          </a:p>
          <a:p>
            <a:r>
              <a:rPr sz="1600" b="0">
                <a:solidFill>
                  <a:srgbClr val="5A6672"/>
                </a:solidFill>
                <a:latin typeface="Malgun Gothic"/>
              </a:rPr>
              <a:t>    –  결과적으로 완전히 별개의 SQL로 취급되어 각각 하드 파싱된다</a:t>
            </a:r>
          </a:p>
          <a:p>
            <a:r>
              <a:rPr sz="1800" b="0">
                <a:solidFill>
                  <a:srgbClr val="202830"/>
                </a:solidFill>
                <a:latin typeface="Malgun Gothic"/>
              </a:rPr>
              <a:t>•  값의 가짓수만큼 서로 다른 SQL이 쌓인다</a:t>
            </a:r>
          </a:p>
          <a:p>
            <a:r>
              <a:rPr sz="1600" b="0">
                <a:solidFill>
                  <a:srgbClr val="5A6672"/>
                </a:solidFill>
                <a:latin typeface="Malgun Gothic"/>
              </a:rPr>
              <a:t>    –  병원 ID별로 계속 다른 리터럴 값을 쓰면 값마다 SQL_ID가 생긴다</a:t>
            </a:r>
          </a:p>
          <a:p>
            <a:r>
              <a:rPr sz="1600" b="0">
                <a:solidFill>
                  <a:srgbClr val="5A6672"/>
                </a:solidFill>
                <a:latin typeface="Malgun Gothic"/>
              </a:rPr>
              <a:t>    –  교안의 예시처럼 병원이 1,000곳이면 그만큼의 SQL_ID가 쌓일 수 있다</a:t>
            </a:r>
          </a:p>
          <a:p>
            <a:r>
              <a:rPr sz="1800" b="0">
                <a:solidFill>
                  <a:srgbClr val="202830"/>
                </a:solidFill>
                <a:latin typeface="Malgun Gothic"/>
              </a:rPr>
              <a:t>•  누적되면 두 방향으로 부담이 된다</a:t>
            </a:r>
          </a:p>
          <a:p>
            <a:r>
              <a:rPr sz="1600" b="0">
                <a:solidFill>
                  <a:srgbClr val="5A6672"/>
                </a:solidFill>
                <a:latin typeface="Malgun Gothic"/>
              </a:rPr>
              <a:t>    –  메모리 — 사실상 같은 로직의 SQL 사본이 공유 풀을 차지한다</a:t>
            </a:r>
          </a:p>
          <a:p>
            <a:r>
              <a:rPr sz="1600" b="0">
                <a:solidFill>
                  <a:srgbClr val="5A6672"/>
                </a:solidFill>
                <a:latin typeface="Malgun Gothic"/>
              </a:rPr>
              <a:t>    –  CPU — 값이 바뀔 때마다 하드 파싱이 다시 일어난다</a:t>
            </a:r>
          </a:p>
        </p:txBody>
      </p:sp>
    </p:spTree>
    <p:extLst>
      <p:ext uri="{BB962C8B-B14F-4D97-AF65-F5344CB8AC3E}">
        <p14:creationId xmlns:p14="http://schemas.microsoft.com/office/powerpoint/2010/main" val="143918734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바인드 변수는 SQL 텍스트를 고정한다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WHERE hosp_id = :b_hosp — 값이 바뀌어도 SQL 텍스트는 그대로다</a:t>
            </a:r>
          </a:p>
          <a:p>
            <a:r>
              <a:rPr sz="1600" b="0">
                <a:solidFill>
                  <a:srgbClr val="5A6672"/>
                </a:solidFill>
                <a:latin typeface="Malgun Gothic"/>
              </a:rPr>
              <a:t>    –  같은 SQL_ID를 유지하므로 공유 풀에서 기존 계획을 찾아 쓸 수 있다</a:t>
            </a:r>
          </a:p>
          <a:p>
            <a:r>
              <a:rPr sz="1600" b="0">
                <a:solidFill>
                  <a:srgbClr val="5A6672"/>
                </a:solidFill>
                <a:latin typeface="Malgun Gothic"/>
              </a:rPr>
              <a:t>    –  최초 1회 하드 파싱한 실행계획을 이후 실행이 재사용한다</a:t>
            </a:r>
          </a:p>
          <a:p>
            <a:r>
              <a:rPr sz="1800" b="0">
                <a:solidFill>
                  <a:srgbClr val="202830"/>
                </a:solidFill>
                <a:latin typeface="Malgun Gothic"/>
              </a:rPr>
              <a:t>•  값은 Parse가 아니라 Bind 단계에서 들어간다</a:t>
            </a:r>
          </a:p>
          <a:p>
            <a:r>
              <a:rPr sz="1600" b="0">
                <a:solidFill>
                  <a:srgbClr val="5A6672"/>
                </a:solidFill>
                <a:latin typeface="Malgun Gothic"/>
              </a:rPr>
              <a:t>    –  계획을 만드는 시점과 값을 넣는 시점이 분리된다는 뜻이다</a:t>
            </a:r>
          </a:p>
          <a:p>
            <a:r>
              <a:rPr sz="1600" b="0">
                <a:solidFill>
                  <a:srgbClr val="5A6672"/>
                </a:solidFill>
                <a:latin typeface="Malgun Gothic"/>
              </a:rPr>
              <a:t>    –  그래서 값이 달라져도 계획을 다시 만들 필요가 없다</a:t>
            </a:r>
          </a:p>
          <a:p>
            <a:r>
              <a:rPr sz="1800" b="0">
                <a:solidFill>
                  <a:srgbClr val="202830"/>
                </a:solidFill>
                <a:latin typeface="Malgun Gothic"/>
              </a:rPr>
              <a:t>•  이것이 처리 단계를 먼저 배운 실질적인 이유다</a:t>
            </a:r>
          </a:p>
          <a:p>
            <a:r>
              <a:rPr sz="1600" b="0">
                <a:solidFill>
                  <a:srgbClr val="5A6672"/>
                </a:solidFill>
                <a:latin typeface="Malgun Gothic"/>
              </a:rPr>
              <a:t>    –  단계가 분리돼 있기 때문에 계획 재사용이라는 개념이 성립한다</a:t>
            </a:r>
          </a:p>
        </p:txBody>
      </p:sp>
    </p:spTree>
    <p:extLst>
      <p:ext uri="{BB962C8B-B14F-4D97-AF65-F5344CB8AC3E}">
        <p14:creationId xmlns:p14="http://schemas.microsoft.com/office/powerpoint/2010/main" val="351500652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2.4</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리터럴 SQL과 바인드 변수 SQL</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A. 리터럴 SQL — 값을 문장에 직접 써 넣는 방식</a:t>
            </a:r>
          </a:p>
          <a:p>
            <a:r>
              <a:rPr sz="1600" b="0">
                <a:solidFill>
                  <a:srgbClr val="C5CED6"/>
                </a:solidFill>
                <a:latin typeface="Malgun Gothic"/>
              </a:rPr>
              <a:t>•  B. 바인드 변수 SQL — 값을 자리표시자로 분리</a:t>
            </a:r>
          </a:p>
          <a:p>
            <a:r>
              <a:rPr sz="1600" b="0">
                <a:solidFill>
                  <a:srgbClr val="C5CED6"/>
                </a:solidFill>
                <a:latin typeface="Malgun Gothic"/>
              </a:rPr>
              <a:t>•  두 예제를 무엇으로 비교할 것인가</a:t>
            </a:r>
          </a:p>
        </p:txBody>
      </p:sp>
    </p:spTree>
    <p:extLst>
      <p:ext uri="{BB962C8B-B14F-4D97-AF65-F5344CB8AC3E}">
        <p14:creationId xmlns:p14="http://schemas.microsoft.com/office/powerpoint/2010/main" val="112273920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A. 리터럴 SQL</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2.4절 Example — 값을 SQL 문장에 직접 써 넣는 방식</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A. 리터럴 SQL</a:t>
            </a:r>
          </a:p>
          <a:p>
            <a:r>
              <a:rPr sz="1250" b="0">
                <a:solidFill>
                  <a:srgbClr val="E6E6E6"/>
                </a:solidFill>
                <a:latin typeface="Consolas"/>
              </a:rPr>
              <a:t>SELECT COUNT(*) FROM medical_claims WHERE hosp_id = 1;</a:t>
            </a:r>
          </a:p>
          <a:p>
            <a:r>
              <a:rPr sz="1250" b="0">
                <a:solidFill>
                  <a:srgbClr val="E6E6E6"/>
                </a:solidFill>
                <a:latin typeface="Consolas"/>
              </a:rPr>
              <a:t>SELECT COUNT(*) FROM medical_claims WHERE hosp_id = 500;</a:t>
            </a:r>
          </a:p>
          <a:p>
            <a:r>
              <a:rPr sz="1250" b="0">
                <a:solidFill>
                  <a:srgbClr val="E6E6E6"/>
                </a:solidFill>
                <a:latin typeface="Consolas"/>
              </a:rPr>
              <a:t> </a:t>
            </a:r>
          </a:p>
          <a:p>
            <a:r>
              <a:rPr sz="1250" b="0">
                <a:solidFill>
                  <a:srgbClr val="7EC699"/>
                </a:solidFill>
                <a:latin typeface="Consolas"/>
              </a:rPr>
              <a:t>-- 두 문장은 hosp_id 뒤의 값 하나만 다르다</a:t>
            </a:r>
          </a:p>
          <a:p>
            <a:r>
              <a:rPr sz="1250" b="0">
                <a:solidFill>
                  <a:srgbClr val="7EC699"/>
                </a:solidFill>
                <a:latin typeface="Consolas"/>
              </a:rPr>
              <a:t>-- 그러나 Oracle이 보기에는 서로 다른 SQL 텍스트다</a:t>
            </a:r>
          </a:p>
          <a:p>
            <a:r>
              <a:rPr sz="1250" b="0">
                <a:solidFill>
                  <a:srgbClr val="7EC699"/>
                </a:solidFill>
                <a:latin typeface="Consolas"/>
              </a:rPr>
              <a:t>-- 따라서 각각 별도의 SQL_ID를 받고 각각 하드 파싱된다</a:t>
            </a:r>
          </a:p>
        </p:txBody>
      </p:sp>
    </p:spTree>
    <p:extLst>
      <p:ext uri="{BB962C8B-B14F-4D97-AF65-F5344CB8AC3E}">
        <p14:creationId xmlns:p14="http://schemas.microsoft.com/office/powerpoint/2010/main" val="120484776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B. 바인드 변수 SQL</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2.4절 Example — 값을 자리표시자로 분리하는 방식</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B. 바인드 변수 SQL</a:t>
            </a:r>
          </a:p>
          <a:p>
            <a:r>
              <a:rPr sz="1250" b="0">
                <a:solidFill>
                  <a:srgbClr val="E6E6E6"/>
                </a:solidFill>
                <a:latin typeface="Consolas"/>
              </a:rPr>
              <a:t>VARIABLE b_hosp NUMBER</a:t>
            </a:r>
          </a:p>
          <a:p>
            <a:r>
              <a:rPr sz="1250" b="0">
                <a:solidFill>
                  <a:srgbClr val="E6E6E6"/>
                </a:solidFill>
                <a:latin typeface="Consolas"/>
              </a:rPr>
              <a:t>EXEC :b_hosp := 1</a:t>
            </a:r>
          </a:p>
          <a:p>
            <a:r>
              <a:rPr sz="1250" b="0">
                <a:solidFill>
                  <a:srgbClr val="E6E6E6"/>
                </a:solidFill>
                <a:latin typeface="Consolas"/>
              </a:rPr>
              <a:t>SELECT COUNT(*) FROM medical_claims WHERE hosp_id = :b_hosp;</a:t>
            </a:r>
          </a:p>
          <a:p>
            <a:r>
              <a:rPr sz="1250" b="0">
                <a:solidFill>
                  <a:srgbClr val="E6E6E6"/>
                </a:solidFill>
                <a:latin typeface="Consolas"/>
              </a:rPr>
              <a:t>EXEC :b_hosp := 500</a:t>
            </a:r>
          </a:p>
          <a:p>
            <a:r>
              <a:rPr sz="1250" b="0">
                <a:solidFill>
                  <a:srgbClr val="E6E6E6"/>
                </a:solidFill>
                <a:latin typeface="Consolas"/>
              </a:rPr>
              <a:t>SELECT COUNT(*) FROM medical_claims WHERE hosp_id = :b_hosp;</a:t>
            </a:r>
          </a:p>
          <a:p>
            <a:r>
              <a:rPr sz="1250" b="0">
                <a:solidFill>
                  <a:srgbClr val="E6E6E6"/>
                </a:solidFill>
                <a:latin typeface="Consolas"/>
              </a:rPr>
              <a:t> </a:t>
            </a:r>
          </a:p>
          <a:p>
            <a:r>
              <a:rPr sz="1250" b="0">
                <a:solidFill>
                  <a:srgbClr val="7EC699"/>
                </a:solidFill>
                <a:latin typeface="Consolas"/>
              </a:rPr>
              <a:t>-- SELECT 문장의 텍스트는 두 번 모두 완전히 같다</a:t>
            </a:r>
          </a:p>
          <a:p>
            <a:r>
              <a:rPr sz="1250" b="0">
                <a:solidFill>
                  <a:srgbClr val="7EC699"/>
                </a:solidFill>
                <a:latin typeface="Consolas"/>
              </a:rPr>
              <a:t>-- 달라지는 것은 :b_hosp에 대입되는 값뿐이다</a:t>
            </a:r>
          </a:p>
        </p:txBody>
      </p:sp>
    </p:spTree>
    <p:extLst>
      <p:ext uri="{BB962C8B-B14F-4D97-AF65-F5344CB8AC3E}">
        <p14:creationId xmlns:p14="http://schemas.microsoft.com/office/powerpoint/2010/main" val="160123856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두 예제를 무엇으로 비교할 것인가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비교 대상은 결과가 아니라 처리 방식이다</a:t>
            </a:r>
          </a:p>
          <a:p>
            <a:r>
              <a:rPr sz="1600" b="0">
                <a:solidFill>
                  <a:srgbClr val="5A6672"/>
                </a:solidFill>
                <a:latin typeface="Malgun Gothic"/>
              </a:rPr>
              <a:t>    –  A와 B는 같은 조건으로 같은 건수를 세는 SQL이다</a:t>
            </a:r>
          </a:p>
          <a:p>
            <a:r>
              <a:rPr sz="1600" b="0">
                <a:solidFill>
                  <a:srgbClr val="5A6672"/>
                </a:solidFill>
                <a:latin typeface="Malgun Gothic"/>
              </a:rPr>
              <a:t>    –  달라지는 것은 값을 문장에 넣는가, 자리표시자로 분리하는가뿐이다</a:t>
            </a:r>
          </a:p>
          <a:p>
            <a:r>
              <a:rPr sz="1800" b="0">
                <a:solidFill>
                  <a:srgbClr val="202830"/>
                </a:solidFill>
                <a:latin typeface="Malgun Gothic"/>
              </a:rPr>
              <a:t>•  확인할 지표 세 가지</a:t>
            </a:r>
          </a:p>
          <a:p>
            <a:r>
              <a:rPr sz="1600" b="0">
                <a:solidFill>
                  <a:srgbClr val="5A6672"/>
                </a:solidFill>
                <a:latin typeface="Malgun Gothic"/>
              </a:rPr>
              <a:t>    –  SQL_ID — 오라클이 이것을 몇 개의 SQL로 인식했는가</a:t>
            </a:r>
          </a:p>
          <a:p>
            <a:r>
              <a:rPr sz="1600" b="0">
                <a:solidFill>
                  <a:srgbClr val="5A6672"/>
                </a:solidFill>
                <a:latin typeface="Malgun Gothic"/>
              </a:rPr>
              <a:t>    –  EXECUTIONS — 그 SQL이 몇 번 실행되었는가</a:t>
            </a:r>
          </a:p>
          <a:p>
            <a:r>
              <a:rPr sz="1600" b="0">
                <a:solidFill>
                  <a:srgbClr val="5A6672"/>
                </a:solidFill>
                <a:latin typeface="Malgun Gothic"/>
              </a:rPr>
              <a:t>    –  PARSE_CALLS — 파싱 요청이 몇 번 발생했는가</a:t>
            </a:r>
          </a:p>
          <a:p>
            <a:r>
              <a:rPr sz="1800" b="0">
                <a:solidFill>
                  <a:srgbClr val="202830"/>
                </a:solidFill>
                <a:latin typeface="Malgun Gothic"/>
              </a:rPr>
              <a:t>•  관찰은 두 각도로 나누어 진행한다</a:t>
            </a:r>
          </a:p>
          <a:p>
            <a:r>
              <a:rPr sz="1600" b="0">
                <a:solidFill>
                  <a:srgbClr val="5A6672"/>
                </a:solidFill>
                <a:latin typeface="Malgun Gothic"/>
              </a:rPr>
              <a:t>    –  2.5절 — 실행계획에 나타난 추정치와 실측치</a:t>
            </a:r>
          </a:p>
          <a:p>
            <a:r>
              <a:rPr sz="1600" b="0">
                <a:solidFill>
                  <a:srgbClr val="5A6672"/>
                </a:solidFill>
                <a:latin typeface="Malgun Gothic"/>
              </a:rPr>
              <a:t>    –  2.7절 — 공유 풀에 남은 SQL_ID와 실행 통계</a:t>
            </a:r>
          </a:p>
        </p:txBody>
      </p:sp>
    </p:spTree>
    <p:extLst>
      <p:ext uri="{BB962C8B-B14F-4D97-AF65-F5344CB8AC3E}">
        <p14:creationId xmlns:p14="http://schemas.microsoft.com/office/powerpoint/2010/main" val="141514046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2.5</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리터럴 값에 따른 실측 비교</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HOSP_ID = 1 실행계획</a:t>
            </a:r>
          </a:p>
          <a:p>
            <a:r>
              <a:rPr sz="1600" b="0">
                <a:solidFill>
                  <a:srgbClr val="C5CED6"/>
                </a:solidFill>
                <a:latin typeface="Malgun Gothic"/>
              </a:rPr>
              <a:t>•  HOSP_ID = 500 실행계획</a:t>
            </a:r>
          </a:p>
          <a:p>
            <a:r>
              <a:rPr sz="1600" b="0">
                <a:solidFill>
                  <a:srgbClr val="C5CED6"/>
                </a:solidFill>
                <a:latin typeface="Malgun Gothic"/>
              </a:rPr>
              <a:t>•  E-Rows는 왜 다르고 Buffers는 왜 같은가</a:t>
            </a:r>
          </a:p>
        </p:txBody>
      </p:sp>
    </p:spTree>
    <p:extLst>
      <p:ext uri="{BB962C8B-B14F-4D97-AF65-F5344CB8AC3E}">
        <p14:creationId xmlns:p14="http://schemas.microsoft.com/office/powerpoint/2010/main" val="358949098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HOSP_ID = 1 실행계획</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SQL_ID  0fqfut0m2jfxw  —  대형병원·쏠림 구간</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E-Rows | A-Rows |   A-Time   | Buffers |</a:t>
            </a:r>
          </a:p>
          <a:p>
            <a:r>
              <a:rPr sz="1250" b="0">
                <a:solidFill>
                  <a:srgbClr val="E6E6E6"/>
                </a:solidFill>
                <a:latin typeface="Consolas"/>
              </a:rPr>
              <a:t>| 2  |  TABLE ACCESS FULL | MEDICAL_CLAIMS |   2795 |   3058 |00:00:00.01 |    3090 |</a:t>
            </a:r>
          </a:p>
          <a:p>
            <a:r>
              <a:rPr sz="1250" b="0">
                <a:solidFill>
                  <a:srgbClr val="E6E6E6"/>
                </a:solidFill>
                <a:latin typeface="Consolas"/>
              </a:rPr>
              <a:t> </a:t>
            </a:r>
          </a:p>
          <a:p>
            <a:r>
              <a:rPr sz="1250" b="0">
                <a:solidFill>
                  <a:srgbClr val="7EC699"/>
                </a:solidFill>
                <a:latin typeface="Consolas"/>
              </a:rPr>
              <a:t>-- E-Rows  : 옵티마이저가 Parse 단계에서 계산한 추정 행 수</a:t>
            </a:r>
          </a:p>
          <a:p>
            <a:r>
              <a:rPr sz="1250" b="0">
                <a:solidFill>
                  <a:srgbClr val="7EC699"/>
                </a:solidFill>
                <a:latin typeface="Consolas"/>
              </a:rPr>
              <a:t>-- A-Rows  : 실제로 처리된 행 수 (Execute 이후에 생기는 값)</a:t>
            </a:r>
          </a:p>
          <a:p>
            <a:r>
              <a:rPr sz="1250" b="0">
                <a:solidFill>
                  <a:srgbClr val="7EC699"/>
                </a:solidFill>
                <a:latin typeface="Consolas"/>
              </a:rPr>
              <a:t>-- A-Time  : 이 단계에 실제로 걸린 시간</a:t>
            </a:r>
          </a:p>
          <a:p>
            <a:r>
              <a:rPr sz="1250" b="0">
                <a:solidFill>
                  <a:srgbClr val="7EC699"/>
                </a:solidFill>
                <a:latin typeface="Consolas"/>
              </a:rPr>
              <a:t>-- Buffers : 이 단계에서 읽은 블록 수 (논리적 I/O)</a:t>
            </a:r>
          </a:p>
        </p:txBody>
      </p:sp>
    </p:spTree>
    <p:extLst>
      <p:ext uri="{BB962C8B-B14F-4D97-AF65-F5344CB8AC3E}">
        <p14:creationId xmlns:p14="http://schemas.microsoft.com/office/powerpoint/2010/main" val="424032889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HOSP_ID = 1 실행계획 읽는 법</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접근 경로 — TABLE ACCESS FULL (MEDICAL_CLAIMS)</a:t>
            </a:r>
          </a:p>
          <a:p>
            <a:r>
              <a:rPr sz="1600" b="0">
                <a:solidFill>
                  <a:srgbClr val="5A6672"/>
                </a:solidFill>
                <a:latin typeface="Malgun Gothic"/>
              </a:rPr>
              <a:t>    –  HOSP_ID에 인덱스가 없어 옵티마이저가 고를 수 있는 경로가 이것뿐이다</a:t>
            </a:r>
          </a:p>
          <a:p>
            <a:r>
              <a:rPr sz="1800" b="0">
                <a:solidFill>
                  <a:srgbClr val="202830"/>
                </a:solidFill>
                <a:latin typeface="Malgun Gothic"/>
              </a:rPr>
              <a:t>•  추정과 실제 — E-Rows 2,795 / A-Rows 3,058</a:t>
            </a:r>
          </a:p>
          <a:p>
            <a:r>
              <a:rPr sz="1600" b="0">
                <a:solidFill>
                  <a:srgbClr val="5A6672"/>
                </a:solidFill>
                <a:latin typeface="Malgun Gothic"/>
              </a:rPr>
              <a:t>    –  추정치가 실제 행 수에 상당히 근접했다</a:t>
            </a:r>
          </a:p>
          <a:p>
            <a:r>
              <a:rPr sz="1600" b="0">
                <a:solidFill>
                  <a:srgbClr val="5A6672"/>
                </a:solidFill>
                <a:latin typeface="Malgun Gothic"/>
              </a:rPr>
              <a:t>    –  Parse 단계에서 계산한 값이 Execute 결과와 거의 맞았다는 뜻이다</a:t>
            </a:r>
          </a:p>
          <a:p>
            <a:r>
              <a:rPr sz="1800" b="0">
                <a:solidFill>
                  <a:srgbClr val="202830"/>
                </a:solidFill>
                <a:latin typeface="Malgun Gothic"/>
              </a:rPr>
              <a:t>•  실측치 — A-Time 00:00:00.01, Buffers 3,090</a:t>
            </a:r>
          </a:p>
          <a:p>
            <a:r>
              <a:rPr sz="1600" b="0">
                <a:solidFill>
                  <a:srgbClr val="5A6672"/>
                </a:solidFill>
                <a:latin typeface="Malgun Gothic"/>
              </a:rPr>
              <a:t>    –  Buffers는 이 단계에서 읽은 블록 수, 즉 논리적 I/O 지표다</a:t>
            </a:r>
          </a:p>
          <a:p>
            <a:r>
              <a:rPr sz="1800" b="0">
                <a:solidFill>
                  <a:srgbClr val="202830"/>
                </a:solidFill>
                <a:latin typeface="Malgun Gothic"/>
              </a:rPr>
              <a:t>•  이 SQL의 SQL_ID는 0fqfut0m2jfxw — 다음 슬라이드의 값과 비교한다</a:t>
            </a:r>
          </a:p>
          <a:p>
            <a:r>
              <a:rPr sz="1600" b="0">
                <a:solidFill>
                  <a:srgbClr val="5A6672"/>
                </a:solidFill>
                <a:latin typeface="Malgun Gothic"/>
              </a:rPr>
              <a:t>    –  SQL_ID를 지금부터 기억해 두면 2.7절 관찰이 훨씬 쉬워진다</a:t>
            </a:r>
          </a:p>
        </p:txBody>
      </p:sp>
    </p:spTree>
    <p:extLst>
      <p:ext uri="{BB962C8B-B14F-4D97-AF65-F5344CB8AC3E}">
        <p14:creationId xmlns:p14="http://schemas.microsoft.com/office/powerpoint/2010/main" val="226196879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HOSP_ID = 500 실행계획</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SQL_ID  71xyxd4t42wvj  —  일반 병원</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E-Rows | A-Rows |   A-Time   | Buffers |</a:t>
            </a:r>
          </a:p>
          <a:p>
            <a:r>
              <a:rPr sz="1250" b="0">
                <a:solidFill>
                  <a:srgbClr val="E6E6E6"/>
                </a:solidFill>
                <a:latin typeface="Consolas"/>
              </a:rPr>
              <a:t>| 2  |  TABLE ACCESS FULL | MEDICAL_CLAIMS |    280 |    177 |00:00:00.01 |    3090 |</a:t>
            </a:r>
          </a:p>
          <a:p>
            <a:r>
              <a:rPr sz="1250" b="0">
                <a:solidFill>
                  <a:srgbClr val="E6E6E6"/>
                </a:solidFill>
                <a:latin typeface="Consolas"/>
              </a:rPr>
              <a:t> </a:t>
            </a:r>
          </a:p>
          <a:p>
            <a:r>
              <a:rPr sz="1250" b="0">
                <a:solidFill>
                  <a:srgbClr val="7EC699"/>
                </a:solidFill>
                <a:latin typeface="Consolas"/>
              </a:rPr>
              <a:t>-- 문장 구조는 앞 슬라이드와 완전히 같다</a:t>
            </a:r>
          </a:p>
          <a:p>
            <a:r>
              <a:rPr sz="1250" b="0">
                <a:solidFill>
                  <a:srgbClr val="7EC699"/>
                </a:solidFill>
                <a:latin typeface="Consolas"/>
              </a:rPr>
              <a:t>-- 달라진 것은 hosp_id 뒤의 리터럴 값 하나뿐이다</a:t>
            </a:r>
          </a:p>
          <a:p>
            <a:r>
              <a:rPr sz="1250" b="0">
                <a:solidFill>
                  <a:srgbClr val="7EC699"/>
                </a:solidFill>
                <a:latin typeface="Consolas"/>
              </a:rPr>
              <a:t>-- 그런데도 SQL_ID가 다르고 E-Rows도 다르게 계산되었다</a:t>
            </a:r>
          </a:p>
        </p:txBody>
      </p:sp>
    </p:spTree>
    <p:extLst>
      <p:ext uri="{BB962C8B-B14F-4D97-AF65-F5344CB8AC3E}">
        <p14:creationId xmlns:p14="http://schemas.microsoft.com/office/powerpoint/2010/main" val="164031871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두 실행계획 비교 — 무엇이 다르고 무엇이 같은가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다른 것 — E-Rows</a:t>
            </a:r>
          </a:p>
          <a:p>
            <a:r>
              <a:rPr sz="1600" b="0">
                <a:solidFill>
                  <a:srgbClr val="5A6672"/>
                </a:solidFill>
                <a:latin typeface="Malgun Gothic"/>
              </a:rPr>
              <a:t>    –  HOSP_ID=1은 2,795, HOSP_ID=500은 280으로 추정되었다(표본 히스토그램이라 수집마다 ±10% 흔들린다)</a:t>
            </a:r>
          </a:p>
          <a:p>
            <a:r>
              <a:rPr sz="1600" b="0">
                <a:solidFill>
                  <a:srgbClr val="5A6672"/>
                </a:solidFill>
                <a:latin typeface="Malgun Gothic"/>
              </a:rPr>
              <a:t>    –  실제 행 수 3,058과 177에 각각 가깝게 나왔다</a:t>
            </a:r>
          </a:p>
          <a:p>
            <a:r>
              <a:rPr sz="1800" b="0">
                <a:solidFill>
                  <a:srgbClr val="202830"/>
                </a:solidFill>
                <a:latin typeface="Malgun Gothic"/>
              </a:rPr>
              <a:t>•  같은 것 — 오퍼레이션과 Buffers</a:t>
            </a:r>
          </a:p>
          <a:p>
            <a:r>
              <a:rPr sz="1600" b="0">
                <a:solidFill>
                  <a:srgbClr val="5A6672"/>
                </a:solidFill>
                <a:latin typeface="Malgun Gothic"/>
              </a:rPr>
              <a:t>    –  둘 다 TABLE ACCESS FULL로 같은 접근 경로를 선택했다</a:t>
            </a:r>
          </a:p>
          <a:p>
            <a:r>
              <a:rPr sz="1600" b="0">
                <a:solidFill>
                  <a:srgbClr val="5A6672"/>
                </a:solidFill>
                <a:latin typeface="Malgun Gothic"/>
              </a:rPr>
              <a:t>    –  Buffers는 두 조회 모두 3,090으로 동일하다</a:t>
            </a:r>
          </a:p>
          <a:p>
            <a:r>
              <a:rPr sz="1800" b="0">
                <a:solidFill>
                  <a:srgbClr val="202830"/>
                </a:solidFill>
                <a:latin typeface="Malgun Gothic"/>
              </a:rPr>
              <a:t>•  같은 문장 구조인데 추정치만 달라졌다는 점이 이 절의 관찰 포인트다</a:t>
            </a:r>
          </a:p>
          <a:p>
            <a:r>
              <a:rPr sz="1600" b="0">
                <a:solidFill>
                  <a:srgbClr val="5A6672"/>
                </a:solidFill>
                <a:latin typeface="Malgun Gothic"/>
              </a:rPr>
              <a:t>    –  왜 이렇게 정확한 추정이 가능했는가 — 다음 슬라이드</a:t>
            </a:r>
          </a:p>
          <a:p>
            <a:r>
              <a:rPr sz="1600" b="0">
                <a:solidFill>
                  <a:srgbClr val="5A6672"/>
                </a:solidFill>
                <a:latin typeface="Malgun Gothic"/>
              </a:rPr>
              <a:t>    –  왜 Buffers는 똑같았는가 — 그 다음 슬라이드</a:t>
            </a:r>
          </a:p>
        </p:txBody>
      </p:sp>
    </p:spTree>
    <p:extLst>
      <p:ext uri="{BB962C8B-B14F-4D97-AF65-F5344CB8AC3E}">
        <p14:creationId xmlns:p14="http://schemas.microsoft.com/office/powerpoint/2010/main" val="212456427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E-Rows가 값마다 다르게 나온 이유 — 통계정보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두 SQL은 별개의 SQL_ID로 각각 하드 파싱되었다</a:t>
            </a:r>
          </a:p>
          <a:p>
            <a:r>
              <a:rPr sz="1600" b="0">
                <a:solidFill>
                  <a:srgbClr val="5A6672"/>
                </a:solidFill>
                <a:latin typeface="Malgun Gothic"/>
              </a:rPr>
              <a:t>    –  파싱이 각각 일어났으므로 추정도 각각 따로 계산된다</a:t>
            </a:r>
          </a:p>
          <a:p>
            <a:r>
              <a:rPr sz="1800" b="0">
                <a:solidFill>
                  <a:srgbClr val="202830"/>
                </a:solidFill>
                <a:latin typeface="Malgun Gothic"/>
              </a:rPr>
              <a:t>•  추정의 근거는 HOSP_ID 컬럼의 통계정보다</a:t>
            </a:r>
          </a:p>
          <a:p>
            <a:r>
              <a:rPr sz="1600" b="0">
                <a:solidFill>
                  <a:srgbClr val="5A6672"/>
                </a:solidFill>
                <a:latin typeface="Malgun Gothic"/>
              </a:rPr>
              <a:t>    –  USER_TAB_COL_STATISTICS에서 HISTOGRAM=HYBRID, NUM_BUCKETS=254로 확인된다</a:t>
            </a:r>
          </a:p>
          <a:p>
            <a:r>
              <a:rPr sz="1600" b="0">
                <a:solidFill>
                  <a:srgbClr val="5A6672"/>
                </a:solidFill>
                <a:latin typeface="Malgun Gothic"/>
              </a:rPr>
              <a:t>    –  균등 분포를 가정하지 않고 값별 분포를 구간(버킷)으로 나눠 저장한다</a:t>
            </a:r>
          </a:p>
          <a:p>
            <a:r>
              <a:rPr sz="1800" b="0">
                <a:solidFill>
                  <a:srgbClr val="202830"/>
                </a:solidFill>
                <a:latin typeface="Malgun Gothic"/>
              </a:rPr>
              <a:t>•  그래서 쏠린 값과 일반적인 값의 빈도를 구분해 추정할 수 있었다</a:t>
            </a:r>
          </a:p>
          <a:p>
            <a:r>
              <a:rPr sz="1600" b="0">
                <a:solidFill>
                  <a:srgbClr val="5A6672"/>
                </a:solidFill>
                <a:latin typeface="Malgun Gothic"/>
              </a:rPr>
              <a:t>    –  히스토그램의 내부 원리는 ch08에서 다룬다</a:t>
            </a:r>
          </a:p>
          <a:p>
            <a:r>
              <a:rPr sz="1800" b="0">
                <a:solidFill>
                  <a:srgbClr val="202830"/>
                </a:solidFill>
                <a:latin typeface="Malgun Gothic"/>
              </a:rPr>
              <a:t>•  뒤집어 보면 — 같은 텍스트여야 같은 계획이 나온다는 전제가 확인된다</a:t>
            </a:r>
          </a:p>
          <a:p>
            <a:r>
              <a:rPr sz="1600" b="0">
                <a:solidFill>
                  <a:srgbClr val="5A6672"/>
                </a:solidFill>
                <a:latin typeface="Malgun Gothic"/>
              </a:rPr>
              <a:t>    –  리터럴이 다르면 텍스트가 다르므로 Cost·E-Rows까지 달라질 수 있다</a:t>
            </a:r>
          </a:p>
        </p:txBody>
      </p:sp>
    </p:spTree>
    <p:extLst>
      <p:ext uri="{BB962C8B-B14F-4D97-AF65-F5344CB8AC3E}">
        <p14:creationId xmlns:p14="http://schemas.microsoft.com/office/powerpoint/2010/main" val="240890055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Buffers가 같았던 이유 — 선택지가 하나뿐</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HOSP_ID에는 인덱스가 없다</a:t>
            </a:r>
          </a:p>
          <a:p>
            <a:r>
              <a:rPr sz="1600" b="0">
                <a:solidFill>
                  <a:srgbClr val="5A6672"/>
                </a:solidFill>
                <a:latin typeface="Malgun Gothic"/>
              </a:rPr>
              <a:t>    –  옵티마이저가 고를 수 있는 접근 경로는 TABLE ACCESS FULL 하나뿐이다</a:t>
            </a:r>
          </a:p>
          <a:p>
            <a:r>
              <a:rPr sz="1800" b="0">
                <a:solidFill>
                  <a:srgbClr val="202830"/>
                </a:solidFill>
                <a:latin typeface="Malgun Gothic"/>
              </a:rPr>
              <a:t>•  Full Scan은 조건에 맞는 행 수와 무관하게 테이블 전체를 읽는다</a:t>
            </a:r>
          </a:p>
          <a:p>
            <a:r>
              <a:rPr sz="1600" b="0">
                <a:solidFill>
                  <a:srgbClr val="5A6672"/>
                </a:solidFill>
                <a:latin typeface="Malgun Gothic"/>
              </a:rPr>
              <a:t>    –  어떤 값을 찾든 결국 테이블 전체를 다 읽어야 한다</a:t>
            </a:r>
          </a:p>
          <a:p>
            <a:r>
              <a:rPr sz="1600" b="0">
                <a:solidFill>
                  <a:srgbClr val="5A6672"/>
                </a:solidFill>
                <a:latin typeface="Malgun Gothic"/>
              </a:rPr>
              <a:t>    –  그래서 두 조회 모두 Buffers 3,090으로 같았다</a:t>
            </a:r>
          </a:p>
          <a:p>
            <a:r>
              <a:rPr sz="1800" b="0">
                <a:solidFill>
                  <a:srgbClr val="202830"/>
                </a:solidFill>
                <a:latin typeface="Malgun Gothic"/>
              </a:rPr>
              <a:t>•  판단 기준 — 추정이 정확해도 대안 경로가 없으면 결과는 바뀌지 않는다</a:t>
            </a:r>
          </a:p>
          <a:p>
            <a:r>
              <a:rPr sz="1600" b="0">
                <a:solidFill>
                  <a:srgbClr val="5A6672"/>
                </a:solidFill>
                <a:latin typeface="Malgun Gothic"/>
              </a:rPr>
              <a:t>    –  추정치는 여러 방법 중 하나를 고르는 데 쓰이는 값이다</a:t>
            </a:r>
          </a:p>
          <a:p>
            <a:r>
              <a:rPr sz="1600" b="0">
                <a:solidFill>
                  <a:srgbClr val="5A6672"/>
                </a:solidFill>
                <a:latin typeface="Malgun Gothic"/>
              </a:rPr>
              <a:t>    –  고를 것이 하나뿐이면 추정의 정확도는 선택에 영향을 주지 못한다</a:t>
            </a:r>
          </a:p>
          <a:p>
            <a:r>
              <a:rPr sz="1800" b="0">
                <a:solidFill>
                  <a:srgbClr val="202830"/>
                </a:solidFill>
                <a:latin typeface="Malgun Gothic"/>
              </a:rPr>
              <a:t>•  인덱스를 도입하면 이 상황이 어떻게 달라지는지는 ch06에서 확인한다</a:t>
            </a:r>
          </a:p>
        </p:txBody>
      </p:sp>
    </p:spTree>
    <p:extLst>
      <p:ext uri="{BB962C8B-B14F-4D97-AF65-F5344CB8AC3E}">
        <p14:creationId xmlns:p14="http://schemas.microsoft.com/office/powerpoint/2010/main" val="425642238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2.6~2.7</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SQL_ID로 확인하는 파싱 재사용</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이 장에 Bad SQL 사례가 없는 이유</a:t>
            </a:r>
          </a:p>
          <a:p>
            <a:r>
              <a:rPr sz="1600" b="0">
                <a:solidFill>
                  <a:srgbClr val="C5CED6"/>
                </a:solidFill>
                <a:latin typeface="Malgun Gothic"/>
              </a:rPr>
              <a:t>•  A. 리터럴 SQL의 SQL_ID·실행 통계</a:t>
            </a:r>
          </a:p>
          <a:p>
            <a:r>
              <a:rPr sz="1600" b="0">
                <a:solidFill>
                  <a:srgbClr val="C5CED6"/>
                </a:solidFill>
                <a:latin typeface="Malgun Gothic"/>
              </a:rPr>
              <a:t>•  B. 바인드 변수 SQL의 SQL_ID·실행 통계</a:t>
            </a:r>
          </a:p>
        </p:txBody>
      </p:sp>
    </p:spTree>
    <p:extLst>
      <p:ext uri="{BB962C8B-B14F-4D97-AF65-F5344CB8AC3E}">
        <p14:creationId xmlns:p14="http://schemas.microsoft.com/office/powerpoint/2010/main" val="378803986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장에 Bad SQL 사례가 없는 이유</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이번 장의 주제는 SQL 자체의 문제가 아니다</a:t>
            </a:r>
          </a:p>
          <a:p>
            <a:r>
              <a:rPr sz="1600" b="0">
                <a:solidFill>
                  <a:srgbClr val="5A6672"/>
                </a:solidFill>
                <a:latin typeface="Malgun Gothic"/>
              </a:rPr>
              <a:t>    –  문장을 잘못 써서 느려진 사례를 분석하는 장이 아니다</a:t>
            </a:r>
          </a:p>
          <a:p>
            <a:r>
              <a:rPr sz="1800" b="0">
                <a:solidFill>
                  <a:srgbClr val="202830"/>
                </a:solidFill>
                <a:latin typeface="Malgun Gothic"/>
              </a:rPr>
              <a:t>•  주제는 SQL 처리 방식의 차이다</a:t>
            </a:r>
          </a:p>
          <a:p>
            <a:r>
              <a:rPr sz="1600" b="0">
                <a:solidFill>
                  <a:srgbClr val="5A6672"/>
                </a:solidFill>
                <a:latin typeface="Malgun Gothic"/>
              </a:rPr>
              <a:t>    –  같은 문장이라도 어떻게 넘기느냐에 따라 파싱 비용이 달라진다</a:t>
            </a:r>
          </a:p>
          <a:p>
            <a:r>
              <a:rPr sz="1600" b="0">
                <a:solidFill>
                  <a:srgbClr val="5A6672"/>
                </a:solidFill>
                <a:latin typeface="Malgun Gothic"/>
              </a:rPr>
              <a:t>    –  그래서 개선 대상이 문장이 아니라 호출 방식에 있다</a:t>
            </a:r>
          </a:p>
          <a:p>
            <a:r>
              <a:rPr sz="1800" b="0">
                <a:solidFill>
                  <a:srgbClr val="202830"/>
                </a:solidFill>
                <a:latin typeface="Malgun Gothic"/>
              </a:rPr>
              <a:t>•  교안도 2.6절 대신 2.7절에서 파싱 관점의 관찰 결과를 다룬다</a:t>
            </a:r>
          </a:p>
          <a:p>
            <a:r>
              <a:rPr sz="1600" b="0">
                <a:solidFill>
                  <a:srgbClr val="5A6672"/>
                </a:solidFill>
                <a:latin typeface="Malgun Gothic"/>
              </a:rPr>
              <a:t>    –  SQL_ID·EXECUTIONS·PARSE_CALLS를 확인해 재사용 여부를 판단한다</a:t>
            </a:r>
          </a:p>
          <a:p>
            <a:r>
              <a:rPr sz="1800" b="0">
                <a:solidFill>
                  <a:srgbClr val="202830"/>
                </a:solidFill>
                <a:latin typeface="Malgun Gothic"/>
              </a:rPr>
              <a:t>•  관찰 질문 — 두 번 실행했을 때 SQL이 몇 개로 인식되는가</a:t>
            </a:r>
          </a:p>
          <a:p>
            <a:r>
              <a:rPr sz="1600" b="0">
                <a:solidFill>
                  <a:srgbClr val="5A6672"/>
                </a:solidFill>
                <a:latin typeface="Malgun Gothic"/>
              </a:rPr>
              <a:t>    –  이 질문 하나로 리터럴과 바인드 변수의 차이가 전부 드러난다</a:t>
            </a:r>
          </a:p>
        </p:txBody>
      </p:sp>
    </p:spTree>
    <p:extLst>
      <p:ext uri="{BB962C8B-B14F-4D97-AF65-F5344CB8AC3E}">
        <p14:creationId xmlns:p14="http://schemas.microsoft.com/office/powerpoint/2010/main" val="39107206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A. 리터럴 SQL의 SQL_ID·실행 통계</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2.7절 Tuning — 값만 다른 두 문장을 각각 한 번씩 실행한 결과</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SQL_ID          EXECUTIONS  PARSE_CALLS  SQL_TEXT</a:t>
            </a:r>
          </a:p>
          <a:p>
            <a:r>
              <a:rPr sz="1250" b="0">
                <a:solidFill>
                  <a:srgbClr val="E6E6E6"/>
                </a:solidFill>
                <a:latin typeface="Consolas"/>
              </a:rPr>
              <a:t>71xyxd4t42wvj   1           1            ...WHERE hosp_id = 500</a:t>
            </a:r>
          </a:p>
          <a:p>
            <a:r>
              <a:rPr sz="1250" b="0">
                <a:solidFill>
                  <a:srgbClr val="E6E6E6"/>
                </a:solidFill>
                <a:latin typeface="Consolas"/>
              </a:rPr>
              <a:t>0fqfut0m2jfxw   2           2            ...WHERE hosp_id = 1</a:t>
            </a:r>
          </a:p>
          <a:p>
            <a:r>
              <a:rPr sz="1250" b="0">
                <a:solidFill>
                  <a:srgbClr val="E6E6E6"/>
                </a:solidFill>
                <a:latin typeface="Consolas"/>
              </a:rPr>
              <a:t> </a:t>
            </a:r>
          </a:p>
          <a:p>
            <a:r>
              <a:rPr sz="1250" b="0">
                <a:solidFill>
                  <a:srgbClr val="7EC699"/>
                </a:solidFill>
                <a:latin typeface="Consolas"/>
              </a:rPr>
              <a:t>-- 행이 두 개 나왔다는 사실 자체가 이 관찰의 결과다</a:t>
            </a:r>
          </a:p>
          <a:p>
            <a:r>
              <a:rPr sz="1250" b="0">
                <a:solidFill>
                  <a:srgbClr val="7EC699"/>
                </a:solidFill>
                <a:latin typeface="Consolas"/>
              </a:rPr>
              <a:t>-- 같은 로직의 SQL이 공유 풀에 두 개로 따로 등록되었다</a:t>
            </a:r>
          </a:p>
          <a:p>
            <a:r>
              <a:rPr sz="1250" b="0">
                <a:solidFill>
                  <a:srgbClr val="7EC699"/>
                </a:solidFill>
                <a:latin typeface="Consolas"/>
              </a:rPr>
              <a:t>-- 두 SQL_ID는 2.5절 실행계획에서 본 값과 그대로 일치한다</a:t>
            </a:r>
          </a:p>
        </p:txBody>
      </p:sp>
    </p:spTree>
    <p:extLst>
      <p:ext uri="{BB962C8B-B14F-4D97-AF65-F5344CB8AC3E}">
        <p14:creationId xmlns:p14="http://schemas.microsoft.com/office/powerpoint/2010/main" val="339563795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리터럴 SQL 관찰 결과 읽는 법</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서로 다른 SQL_ID가 두 개 나왔다</a:t>
            </a:r>
          </a:p>
          <a:p>
            <a:r>
              <a:rPr sz="1600" b="0">
                <a:solidFill>
                  <a:srgbClr val="5A6672"/>
                </a:solidFill>
                <a:latin typeface="Malgun Gothic"/>
              </a:rPr>
              <a:t>    –  71xyxd4t42wvj와 0fqfut0m2jfxw — 각각 별도로 파싱·최적화되었다</a:t>
            </a:r>
          </a:p>
          <a:p>
            <a:r>
              <a:rPr sz="1800" b="0">
                <a:solidFill>
                  <a:srgbClr val="202830"/>
                </a:solidFill>
                <a:latin typeface="Malgun Gothic"/>
              </a:rPr>
              <a:t>•  각 SQL의 EXECUTIONS와 PARSE_CALLS가 모두 1이다</a:t>
            </a:r>
          </a:p>
          <a:p>
            <a:r>
              <a:rPr sz="1600" b="0">
                <a:solidFill>
                  <a:srgbClr val="5A6672"/>
                </a:solidFill>
                <a:latin typeface="Malgun Gothic"/>
              </a:rPr>
              <a:t>    –  한 번 실행했고 그 한 번을 위해 파싱했다는 뜻이다</a:t>
            </a:r>
          </a:p>
          <a:p>
            <a:r>
              <a:rPr sz="1600" b="0">
                <a:solidFill>
                  <a:srgbClr val="5A6672"/>
                </a:solidFill>
                <a:latin typeface="Malgun Gothic"/>
              </a:rPr>
              <a:t>    –  재사용이 일어난 흔적이 전혀 없다</a:t>
            </a:r>
          </a:p>
          <a:p>
            <a:r>
              <a:rPr sz="1800" b="0">
                <a:solidFill>
                  <a:srgbClr val="202830"/>
                </a:solidFill>
                <a:latin typeface="Malgun Gothic"/>
              </a:rPr>
              <a:t>•  이 패턴이 반복되면 어떻게 되는가</a:t>
            </a:r>
          </a:p>
          <a:p>
            <a:r>
              <a:rPr sz="1600" b="0">
                <a:solidFill>
                  <a:srgbClr val="5A6672"/>
                </a:solidFill>
                <a:latin typeface="Malgun Gothic"/>
              </a:rPr>
              <a:t>    –  병원 ID별로 계속 다른 값을 쓰면 SQL_ID가 계속 쌓인다</a:t>
            </a:r>
          </a:p>
          <a:p>
            <a:r>
              <a:rPr sz="1600" b="0">
                <a:solidFill>
                  <a:srgbClr val="5A6672"/>
                </a:solidFill>
                <a:latin typeface="Malgun Gothic"/>
              </a:rPr>
              <a:t>    –  공유 풀에 사본이 누적되고 그때마다 하드 파싱이 반복된다</a:t>
            </a:r>
          </a:p>
          <a:p>
            <a:r>
              <a:rPr sz="1600" b="0">
                <a:solidFill>
                  <a:srgbClr val="5A6672"/>
                </a:solidFill>
                <a:latin typeface="Malgun Gothic"/>
              </a:rPr>
              <a:t>    –  오래된 SQL이 밀려나면 다시 필요할 때 또 하드 파싱해야 한다</a:t>
            </a:r>
          </a:p>
        </p:txBody>
      </p:sp>
    </p:spTree>
    <p:extLst>
      <p:ext uri="{BB962C8B-B14F-4D97-AF65-F5344CB8AC3E}">
        <p14:creationId xmlns:p14="http://schemas.microsoft.com/office/powerpoint/2010/main" val="196356978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B. 바인드 변수 SQL의 SQL_ID·실행 통계</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2.7절 Tuning — :b_hosp에 1과 500을 대입해 두 번 실행한 결과</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SQL_ID          EXECUTIONS  PARSE_CALLS  SQL_TEXT</a:t>
            </a:r>
          </a:p>
          <a:p>
            <a:r>
              <a:rPr sz="1250" b="0">
                <a:solidFill>
                  <a:srgbClr val="E6E6E6"/>
                </a:solidFill>
                <a:latin typeface="Consolas"/>
              </a:rPr>
              <a:t>78qznuqcawm4c   2           2            ...WHERE hosp_id = :b_hosp</a:t>
            </a:r>
          </a:p>
          <a:p>
            <a:r>
              <a:rPr sz="1250" b="0">
                <a:solidFill>
                  <a:srgbClr val="E6E6E6"/>
                </a:solidFill>
                <a:latin typeface="Consolas"/>
              </a:rPr>
              <a:t> </a:t>
            </a:r>
          </a:p>
          <a:p>
            <a:r>
              <a:rPr sz="1250" b="0">
                <a:solidFill>
                  <a:srgbClr val="7EC699"/>
                </a:solidFill>
                <a:latin typeface="Consolas"/>
              </a:rPr>
              <a:t>-- 서로 다른 값으로 두 번 실행했지만 행은 하나뿐이다</a:t>
            </a:r>
          </a:p>
          <a:p>
            <a:r>
              <a:rPr sz="1250" b="0">
                <a:solidFill>
                  <a:srgbClr val="7EC699"/>
                </a:solidFill>
                <a:latin typeface="Consolas"/>
              </a:rPr>
              <a:t>-- SQL_ID가 하나로 유지되었다는 뜻이다</a:t>
            </a:r>
          </a:p>
          <a:p>
            <a:r>
              <a:rPr sz="1250" b="0">
                <a:solidFill>
                  <a:srgbClr val="7EC699"/>
                </a:solidFill>
                <a:latin typeface="Consolas"/>
              </a:rPr>
              <a:t>-- EXECUTIONS=2 — 같은 실행계획을 공유 풀에서 재사용했다</a:t>
            </a:r>
          </a:p>
        </p:txBody>
      </p:sp>
    </p:spTree>
    <p:extLst>
      <p:ext uri="{BB962C8B-B14F-4D97-AF65-F5344CB8AC3E}">
        <p14:creationId xmlns:p14="http://schemas.microsoft.com/office/powerpoint/2010/main" val="209168461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바인드 변수 관찰 결과 읽는 법</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SQL_ID가 78qznuqcawm4c 하나로 유지되었다</a:t>
            </a:r>
          </a:p>
          <a:p>
            <a:r>
              <a:rPr sz="1600" b="0">
                <a:solidFill>
                  <a:srgbClr val="5A6672"/>
                </a:solidFill>
                <a:latin typeface="Malgun Gothic"/>
              </a:rPr>
              <a:t>    –  :b_hosp에 서로 다른 값을 대입했지만 SQL 텍스트는 그대로였기 때문이다</a:t>
            </a:r>
          </a:p>
          <a:p>
            <a:r>
              <a:rPr sz="1800" b="0">
                <a:solidFill>
                  <a:srgbClr val="202830"/>
                </a:solidFill>
                <a:latin typeface="Malgun Gothic"/>
              </a:rPr>
              <a:t>•  EXECUTIONS=2 — 같은 SQL이 두 번 실행되었다는 기록이다</a:t>
            </a:r>
          </a:p>
          <a:p>
            <a:r>
              <a:rPr sz="1600" b="0">
                <a:solidFill>
                  <a:srgbClr val="5A6672"/>
                </a:solidFill>
                <a:latin typeface="Malgun Gothic"/>
              </a:rPr>
              <a:t>    –  같은 실행계획을 공유 풀에서 재사용했음을 보여 준다</a:t>
            </a:r>
          </a:p>
          <a:p>
            <a:r>
              <a:rPr sz="1600" b="0">
                <a:solidFill>
                  <a:srgbClr val="5A6672"/>
                </a:solidFill>
                <a:latin typeface="Malgun Gothic"/>
              </a:rPr>
              <a:t>    –  값의 가짓수가 늘어도 SQL_ID는 여전히 하나로 유지된다</a:t>
            </a:r>
          </a:p>
          <a:p>
            <a:r>
              <a:rPr sz="1800" b="0">
                <a:solidFill>
                  <a:srgbClr val="202830"/>
                </a:solidFill>
                <a:latin typeface="Malgun Gothic"/>
              </a:rPr>
              <a:t>•  결론 — 매번 값이 바뀌는 조건으로 반복 조회하는 SQL이라면</a:t>
            </a:r>
          </a:p>
          <a:p>
            <a:r>
              <a:rPr sz="1600" b="0">
                <a:solidFill>
                  <a:srgbClr val="5A6672"/>
                </a:solidFill>
                <a:latin typeface="Malgun Gothic"/>
              </a:rPr>
              <a:t>    –  리터럴로 값을 직접 넣지 말고 바인드 변수를 쓴다</a:t>
            </a:r>
          </a:p>
          <a:p>
            <a:r>
              <a:rPr sz="1600" b="0">
                <a:solidFill>
                  <a:srgbClr val="5A6672"/>
                </a:solidFill>
                <a:latin typeface="Malgun Gothic"/>
              </a:rPr>
              <a:t>    –  공유 풀 부담과 하드 파싱 횟수를 함께 줄이는 길이다</a:t>
            </a:r>
          </a:p>
          <a:p>
            <a:r>
              <a:rPr sz="1800" b="0">
                <a:solidFill>
                  <a:srgbClr val="202830"/>
                </a:solidFill>
                <a:latin typeface="Malgun Gothic"/>
              </a:rPr>
              <a:t>•  단, 이 결론에는 조건이 붙는다 — 2.8절 마지막에서 다시 다룬다</a:t>
            </a:r>
          </a:p>
        </p:txBody>
      </p:sp>
    </p:spTree>
    <p:extLst>
      <p:ext uri="{BB962C8B-B14F-4D97-AF65-F5344CB8AC3E}">
        <p14:creationId xmlns:p14="http://schemas.microsoft.com/office/powerpoint/2010/main" val="56867621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2.8</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파싱 관점 종합 비교</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실행 방식별 SQL_ID 개수와 파싱 부담</a:t>
            </a:r>
          </a:p>
          <a:p>
            <a:r>
              <a:rPr sz="1600" b="0">
                <a:solidFill>
                  <a:srgbClr val="C5CED6"/>
                </a:solidFill>
                <a:latin typeface="Malgun Gothic"/>
              </a:rPr>
              <a:t>•  바인드 변수가 항상 정답은 아니다</a:t>
            </a:r>
          </a:p>
          <a:p>
            <a:r>
              <a:rPr sz="1600" b="0">
                <a:solidFill>
                  <a:srgbClr val="C5CED6"/>
                </a:solidFill>
                <a:latin typeface="Malgun Gothic"/>
              </a:rPr>
              <a:t>•  요약과 실습 안내</a:t>
            </a:r>
          </a:p>
        </p:txBody>
      </p:sp>
    </p:spTree>
    <p:extLst>
      <p:ext uri="{BB962C8B-B14F-4D97-AF65-F5344CB8AC3E}">
        <p14:creationId xmlns:p14="http://schemas.microsoft.com/office/powerpoint/2010/main" val="257438594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파싱 관점 종합 비교</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2.8절 Benchmark — 2회 실행 기준</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a:t>
            </a:r>
          </a:p>
          <a:p>
            <a:r>
              <a:rPr sz="1250" b="0">
                <a:solidFill>
                  <a:srgbClr val="E6E6E6"/>
                </a:solidFill>
                <a:latin typeface="Consolas"/>
              </a:rPr>
              <a:t>| 실행 방식                               | SQL_ID 개수 | 파싱 부담                         |</a:t>
            </a:r>
          </a:p>
          <a:p>
            <a:r>
              <a:rPr sz="1250" b="0">
                <a:solidFill>
                  <a:srgbClr val="E6E6E6"/>
                </a:solidFill>
                <a:latin typeface="Consolas"/>
              </a:rPr>
              <a:t>+-----------------------------------------+-------------+-----------------------------------+</a:t>
            </a:r>
          </a:p>
          <a:p>
            <a:r>
              <a:rPr sz="1250" b="0">
                <a:solidFill>
                  <a:srgbClr val="E6E6E6"/>
                </a:solidFill>
                <a:latin typeface="Consolas"/>
              </a:rPr>
              <a:t>| 리터럴 SQL (hosp_id=1, hosp_id=500)     | 2개         | 매번 하드 파싱                    |</a:t>
            </a:r>
          </a:p>
          <a:p>
            <a:r>
              <a:rPr sz="1250" b="0">
                <a:solidFill>
                  <a:srgbClr val="E6E6E6"/>
                </a:solidFill>
                <a:latin typeface="Consolas"/>
              </a:rPr>
              <a:t>| 바인드 변수 SQL (:b_hosp에 1, 500 대입) | 1개         | 최초 1회만 하드 파싱, 이후 재사용 |</a:t>
            </a:r>
          </a:p>
          <a:p>
            <a:r>
              <a:rPr sz="1250" b="0">
                <a:solidFill>
                  <a:srgbClr val="E6E6E6"/>
                </a:solidFill>
                <a:latin typeface="Consolas"/>
              </a:rPr>
              <a:t>+-----------------------------------------+-------------+-----------------------------------+</a:t>
            </a:r>
          </a:p>
          <a:p>
            <a:r>
              <a:rPr sz="1250" b="0">
                <a:solidFill>
                  <a:srgbClr val="E6E6E6"/>
                </a:solidFill>
                <a:latin typeface="Consolas"/>
              </a:rPr>
              <a:t> </a:t>
            </a:r>
          </a:p>
          <a:p>
            <a:r>
              <a:rPr sz="1250" b="0">
                <a:solidFill>
                  <a:srgbClr val="7EC699"/>
                </a:solidFill>
                <a:latin typeface="Consolas"/>
              </a:rPr>
              <a:t>-- 리터럴 : 값의 가짓수만큼 SQL_ID가 늘어난다</a:t>
            </a:r>
          </a:p>
          <a:p>
            <a:r>
              <a:rPr sz="1250" b="0">
                <a:solidFill>
                  <a:srgbClr val="7EC699"/>
                </a:solidFill>
                <a:latin typeface="Consolas"/>
              </a:rPr>
              <a:t>-- 바인드 : 값이 달라져도 SQL_ID는 하나로 유지된다</a:t>
            </a:r>
          </a:p>
          <a:p>
            <a:r>
              <a:rPr sz="1250" b="0">
                <a:solidFill>
                  <a:srgbClr val="7EC699"/>
                </a:solidFill>
                <a:latin typeface="Consolas"/>
              </a:rPr>
              <a:t>-- 비교 지표는 시간이 아니라 SQL_ID 개수와 파싱 방식이다</a:t>
            </a:r>
          </a:p>
        </p:txBody>
      </p:sp>
    </p:spTree>
    <p:extLst>
      <p:ext uri="{BB962C8B-B14F-4D97-AF65-F5344CB8AC3E}">
        <p14:creationId xmlns:p14="http://schemas.microsoft.com/office/powerpoint/2010/main" val="349144500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바인드 변수가 항상 정답은 아니다</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바인드 변수는 SQL_ID를 하나로 고정한다 — 실행계획도 하나만 캐시된다</a:t>
            </a:r>
          </a:p>
          <a:p>
            <a:r>
              <a:rPr sz="1600" b="0">
                <a:solidFill>
                  <a:srgbClr val="5A6672"/>
                </a:solidFill>
                <a:latin typeface="Malgun Gothic"/>
              </a:rPr>
              <a:t>    –  최초 하드 파싱 시점에 대입된 값을 기준으로 만들어진 계획이 남는다</a:t>
            </a:r>
          </a:p>
          <a:p>
            <a:r>
              <a:rPr sz="1600" b="0">
                <a:solidFill>
                  <a:srgbClr val="5A6672"/>
                </a:solidFill>
                <a:latin typeface="Malgun Gothic"/>
              </a:rPr>
              <a:t>    –  이후 다른 값에도 그 계획이 그대로 재사용된다 (바인드 변수 Peeking)</a:t>
            </a:r>
          </a:p>
          <a:p>
            <a:r>
              <a:rPr sz="1800" b="0">
                <a:solidFill>
                  <a:srgbClr val="202830"/>
                </a:solidFill>
                <a:latin typeface="Malgun Gothic"/>
              </a:rPr>
              <a:t>•  히스토그램이 있는 컬럼에서는 이것이 부작용이 될 수 있다</a:t>
            </a:r>
          </a:p>
          <a:p>
            <a:r>
              <a:rPr sz="1600" b="0">
                <a:solidFill>
                  <a:srgbClr val="5A6672"/>
                </a:solidFill>
                <a:latin typeface="Malgun Gothic"/>
              </a:rPr>
              <a:t>    –  쏠린 값과 일반적인 값은 원래 최적의 실행 방법이 다를 수 있다</a:t>
            </a:r>
          </a:p>
          <a:p>
            <a:r>
              <a:rPr sz="1600" b="0">
                <a:solidFill>
                  <a:srgbClr val="5A6672"/>
                </a:solidFill>
                <a:latin typeface="Malgun Gothic"/>
              </a:rPr>
              <a:t>    –  한 번 정해진 계획이 모든 값에 적용되는 결과가 된다</a:t>
            </a:r>
          </a:p>
          <a:p>
            <a:r>
              <a:rPr sz="1800" b="0">
                <a:solidFill>
                  <a:srgbClr val="202830"/>
                </a:solidFill>
                <a:latin typeface="Malgun Gothic"/>
              </a:rPr>
              <a:t>•  종합 판단 — 기본은 바인드 변수, 주의 대상은 분포가 크게 갈리는 컬럼</a:t>
            </a:r>
          </a:p>
          <a:p>
            <a:r>
              <a:rPr sz="1600" b="0">
                <a:solidFill>
                  <a:srgbClr val="5A6672"/>
                </a:solidFill>
                <a:latin typeface="Malgun Gothic"/>
              </a:rPr>
              <a:t>    –  무조건 바인드 변수도, 무조건 리터럴도 정답이 아니다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바인드 변수 Peeking과 그 대응 방법(적응형 커서 공유)은 ch08에서 다룬다.</a:t>
            </a:r>
          </a:p>
        </p:txBody>
      </p:sp>
    </p:spTree>
    <p:extLst>
      <p:ext uri="{BB962C8B-B14F-4D97-AF65-F5344CB8AC3E}">
        <p14:creationId xmlns:p14="http://schemas.microsoft.com/office/powerpoint/2010/main" val="10070817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요약 (Summary)</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SQL 처리는 Parse → Bind → Execute → Fetch 순서로 진행된다</a:t>
            </a:r>
          </a:p>
          <a:p>
            <a:r>
              <a:rPr sz="1800" b="0">
                <a:solidFill>
                  <a:srgbClr val="202830"/>
                </a:solidFill>
                <a:latin typeface="Malgun Gothic"/>
              </a:rPr>
              <a:t>•  실행계획은 Parse 단계에서 만들어지고 이후 단계는 그것을 그대로 따라간다</a:t>
            </a:r>
          </a:p>
          <a:p>
            <a:r>
              <a:rPr sz="1800" b="0">
                <a:solidFill>
                  <a:srgbClr val="202830"/>
                </a:solidFill>
                <a:latin typeface="Malgun Gothic"/>
              </a:rPr>
              <a:t>•  Oracle은 SQL 텍스트를 해시한 SQL_ID로 공유 풀 재사용 여부를 판단한다</a:t>
            </a:r>
          </a:p>
          <a:p>
            <a:r>
              <a:rPr sz="1800" b="0">
                <a:solidFill>
                  <a:srgbClr val="202830"/>
                </a:solidFill>
                <a:latin typeface="Malgun Gothic"/>
              </a:rPr>
              <a:t>•  리터럴 값이 다르면 텍스트가 달라져 별도의 SQL_ID로 각각 하드 파싱된다</a:t>
            </a:r>
          </a:p>
          <a:p>
            <a:r>
              <a:rPr sz="1800" b="0">
                <a:solidFill>
                  <a:srgbClr val="202830"/>
                </a:solidFill>
                <a:latin typeface="Malgun Gothic"/>
              </a:rPr>
              <a:t>•  바인드 변수를 쓰면 값이 달라도 같은 SQL_ID를 유지해 계획을 재사용한다</a:t>
            </a:r>
          </a:p>
          <a:p>
            <a:r>
              <a:rPr sz="1800" b="0">
                <a:solidFill>
                  <a:srgbClr val="202830"/>
                </a:solidFill>
                <a:latin typeface="Malgun Gothic"/>
              </a:rPr>
              <a:t>•  히스토그램이 있는 컬럼은 리터럴 값에 따라 E-Rows가 다르게 나올 수 있다</a:t>
            </a:r>
          </a:p>
          <a:p>
            <a:r>
              <a:rPr sz="1800" b="0">
                <a:solidFill>
                  <a:srgbClr val="202830"/>
                </a:solidFill>
                <a:latin typeface="Malgun Gothic"/>
              </a:rPr>
              <a:t>•  E-Rows가 달라도 대안 경로가 없으면 Buffers는 같다 — 두 조회 모두 3,090</a:t>
            </a:r>
          </a:p>
          <a:p>
            <a:r>
              <a:rPr sz="1800" b="0">
                <a:solidFill>
                  <a:srgbClr val="202830"/>
                </a:solidFill>
                <a:latin typeface="Malgun Gothic"/>
              </a:rPr>
              <a:t>•  바인드 변수도 만능은 아니다 — Peeking 부작용은 ch08에서 다룬다</a:t>
            </a:r>
          </a:p>
        </p:txBody>
      </p:sp>
    </p:spTree>
    <p:extLst>
      <p:ext uri="{BB962C8B-B14F-4D97-AF65-F5344CB8AC3E}">
        <p14:creationId xmlns:p14="http://schemas.microsoft.com/office/powerpoint/2010/main" val="286039755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실습 안내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실습문제 10문항 — ch02_문제.md</a:t>
            </a:r>
          </a:p>
          <a:p>
            <a:r>
              <a:rPr sz="1600" b="0">
                <a:solidFill>
                  <a:srgbClr val="5A6672"/>
                </a:solidFill>
                <a:latin typeface="Malgun Gothic"/>
              </a:rPr>
              <a:t>    –  1번  Parse/Bind/Execute/Fetch 각 단계의 역할과 실행계획 생성 지점</a:t>
            </a:r>
          </a:p>
          <a:p>
            <a:r>
              <a:rPr sz="1600" b="0">
                <a:solidFill>
                  <a:srgbClr val="5A6672"/>
                </a:solidFill>
                <a:latin typeface="Malgun Gothic"/>
              </a:rPr>
              <a:t>    –  2·3번  리터럴과 바인드 변수의 SQL_ID 차이, 대규모 트래픽 시나리오 확장</a:t>
            </a:r>
          </a:p>
          <a:p>
            <a:r>
              <a:rPr sz="1600" b="0">
                <a:solidFill>
                  <a:srgbClr val="5A6672"/>
                </a:solidFill>
                <a:latin typeface="Malgun Gothic"/>
              </a:rPr>
              <a:t>    –  4·5번  히스토그램을 근거로 한 E-Rows 추정과 같은 계획 가정의 검증</a:t>
            </a:r>
          </a:p>
          <a:p>
            <a:r>
              <a:rPr sz="1600" b="0">
                <a:solidFill>
                  <a:srgbClr val="5A6672"/>
                </a:solidFill>
                <a:latin typeface="Malgun Gothic"/>
              </a:rPr>
              <a:t>    –  6번  바인드 변수 Peeking 부작용 추론</a:t>
            </a:r>
          </a:p>
          <a:p>
            <a:r>
              <a:rPr sz="1600" b="0">
                <a:solidFill>
                  <a:srgbClr val="5A6672"/>
                </a:solidFill>
                <a:latin typeface="Malgun Gothic"/>
              </a:rPr>
              <a:t>    –  7번  EXPLAIN PLAN이 네 단계 중 어디까지 수행하는가</a:t>
            </a:r>
          </a:p>
          <a:p>
            <a:r>
              <a:rPr sz="1600" b="0">
                <a:solidFill>
                  <a:srgbClr val="5A6672"/>
                </a:solidFill>
                <a:latin typeface="Malgun Gothic"/>
              </a:rPr>
              <a:t>    –  8·9번  Cost가 파싱 시점에 확정되는 이유, Buffers가 같았던 이유</a:t>
            </a:r>
          </a:p>
          <a:p>
            <a:r>
              <a:rPr sz="1600" b="0">
                <a:solidFill>
                  <a:srgbClr val="5A6672"/>
                </a:solidFill>
                <a:latin typeface="Malgun Gothic"/>
              </a:rPr>
              <a:t>    –  10번  공유 풀 누적 문제의 메모리·파싱 부하 관점 종합 서술</a:t>
            </a:r>
          </a:p>
          <a:p>
            <a:r>
              <a:rPr sz="1800" b="0">
                <a:solidFill>
                  <a:srgbClr val="202830"/>
                </a:solidFill>
                <a:latin typeface="Malgun Gothic"/>
              </a:rPr>
              <a:t>•  실습 전 확인 — 이번 장은 DDL 변경이 없다</a:t>
            </a:r>
          </a:p>
          <a:p>
            <a:r>
              <a:rPr sz="1600" b="0">
                <a:solidFill>
                  <a:srgbClr val="5A6672"/>
                </a:solidFill>
                <a:latin typeface="Malgun Gothic"/>
              </a:rPr>
              <a:t>    –  인덱스·통계를 임의로 바꾸면 교안의 실행계획이 재현되지 않는다</a:t>
            </a:r>
          </a:p>
        </p:txBody>
      </p:sp>
    </p:spTree>
    <p:extLst>
      <p:ext uri="{BB962C8B-B14F-4D97-AF65-F5344CB8AC3E}">
        <p14:creationId xmlns:p14="http://schemas.microsoft.com/office/powerpoint/2010/main" val="227484980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Rectangle 1"/>
          <p:cNvSpPr/>
          <p:nvPr/>
        </p:nvSpPr>
        <p:spPr>
          <a:xfrm>
            <a:off x="822960" y="2331720"/>
            <a:ext cx="164592"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88720" y="1463040"/>
            <a:ext cx="10058400" cy="369332"/>
          </a:xfrm>
          <a:prstGeom prst="rect">
            <a:avLst/>
          </a:prstGeom>
          <a:noFill/>
        </p:spPr>
        <p:txBody>
          <a:bodyPr wrap="square">
            <a:spAutoFit/>
          </a:bodyPr>
          <a:lstStyle/>
          <a:p>
            <a:r>
              <a:rPr sz="1800" b="1">
                <a:solidFill>
                  <a:srgbClr val="C0392B"/>
                </a:solidFill>
                <a:latin typeface="Malgun Gothic"/>
              </a:rPr>
              <a:t>Oracle SQL 튜닝 과정  ·  ch03</a:t>
            </a:r>
          </a:p>
        </p:txBody>
      </p:sp>
      <p:sp>
        <p:nvSpPr>
          <p:cNvPr id="4" name="TextBox 3"/>
          <p:cNvSpPr txBox="1"/>
          <p:nvPr/>
        </p:nvSpPr>
        <p:spPr>
          <a:xfrm>
            <a:off x="1188720" y="2194560"/>
            <a:ext cx="10332720" cy="2011680"/>
          </a:xfrm>
          <a:prstGeom prst="rect">
            <a:avLst/>
          </a:prstGeom>
          <a:noFill/>
        </p:spPr>
        <p:txBody>
          <a:bodyPr wrap="square">
            <a:spAutoFit/>
          </a:bodyPr>
          <a:lstStyle/>
          <a:p>
            <a:r>
              <a:rPr sz="4400" b="1">
                <a:solidFill>
                  <a:srgbClr val="FFFFFF"/>
                </a:solidFill>
                <a:latin typeface="Malgun Gothic"/>
              </a:rPr>
              <a:t>실행계획 기초</a:t>
            </a:r>
          </a:p>
        </p:txBody>
      </p:sp>
      <p:sp>
        <p:nvSpPr>
          <p:cNvPr id="5" name="TextBox 4"/>
          <p:cNvSpPr txBox="1"/>
          <p:nvPr/>
        </p:nvSpPr>
        <p:spPr>
          <a:xfrm>
            <a:off x="1188720" y="4297680"/>
            <a:ext cx="10058400" cy="1097280"/>
          </a:xfrm>
          <a:prstGeom prst="rect">
            <a:avLst/>
          </a:prstGeom>
          <a:noFill/>
        </p:spPr>
        <p:txBody>
          <a:bodyPr wrap="square">
            <a:spAutoFit/>
          </a:bodyPr>
          <a:lstStyle/>
          <a:p>
            <a:r>
              <a:rPr sz="1800" b="0">
                <a:solidFill>
                  <a:srgbClr val="C5CED6"/>
                </a:solidFill>
                <a:latin typeface="Malgun Gothic"/>
              </a:rPr>
              <a:t>실행계획 트리 · 오퍼레이션 판독 · Cost와 Rows · access vs filter · 카디널리티 추정 오류   |   Oracle Database 19c · 진료비청구심사 스키마 기준</a:t>
            </a:r>
          </a:p>
        </p:txBody>
      </p:sp>
    </p:spTree>
    <p:extLst>
      <p:ext uri="{BB962C8B-B14F-4D97-AF65-F5344CB8AC3E}">
        <p14:creationId xmlns:p14="http://schemas.microsoft.com/office/powerpoint/2010/main" val="343557492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학습 목표 (Objectives)</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 장을 마치면 다음을 수행할 수 있어야 한다.</a:t>
            </a:r>
          </a:p>
          <a:p>
            <a:r>
              <a:rPr sz="1600" b="0">
                <a:solidFill>
                  <a:srgbClr val="5A6672"/>
                </a:solidFill>
                <a:latin typeface="Malgun Gothic"/>
              </a:rPr>
              <a:t>    –  실행계획을 옵티마이저가 만든 처리 절차의 트리로 설명한다</a:t>
            </a:r>
          </a:p>
          <a:p>
            <a:r>
              <a:rPr sz="1600" b="0">
                <a:solidFill>
                  <a:srgbClr val="5A6672"/>
                </a:solidFill>
                <a:latin typeface="Malgun Gothic"/>
              </a:rPr>
              <a:t>    –  EXPLAIN PLAN과 DBMS_XPLAN.DISPLAY_CURSOR를 목적에 맞게 구분해 사용한다</a:t>
            </a:r>
          </a:p>
          <a:p>
            <a:r>
              <a:rPr sz="1600" b="0">
                <a:solidFill>
                  <a:srgbClr val="5A6672"/>
                </a:solidFill>
                <a:latin typeface="Malgun Gothic"/>
              </a:rPr>
              <a:t>    –  Id·Operation·Name·Rows·Bytes·Cost 컬럼의 의미를 각각 설명한다</a:t>
            </a:r>
          </a:p>
          <a:p>
            <a:r>
              <a:rPr sz="1600" b="0">
                <a:solidFill>
                  <a:srgbClr val="5A6672"/>
                </a:solidFill>
                <a:latin typeface="Malgun Gothic"/>
              </a:rPr>
              <a:t>    –  Cost가 시간이 아니라 무차원 상대 지표임을 근거를 들어 설명한다</a:t>
            </a:r>
          </a:p>
          <a:p>
            <a:r>
              <a:rPr sz="1600" b="0">
                <a:solidFill>
                  <a:srgbClr val="5A6672"/>
                </a:solidFill>
                <a:latin typeface="Malgun Gothic"/>
              </a:rPr>
              <a:t>    –  Predicate Information의 access와 filter를 구분해 인덱스 활용 여부를 판별한다</a:t>
            </a:r>
          </a:p>
          <a:p>
            <a:r>
              <a:rPr sz="1600" b="0">
                <a:solidFill>
                  <a:srgbClr val="5A6672"/>
                </a:solidFill>
                <a:latin typeface="Malgun Gothic"/>
              </a:rPr>
              <a:t>    –  들여쓰기 깊이를 근거로 실행 순서를 Id 순서와 구분해 읽는다</a:t>
            </a:r>
          </a:p>
          <a:p>
            <a:r>
              <a:rPr sz="1600" b="0">
                <a:solidFill>
                  <a:srgbClr val="5A6672"/>
                </a:solidFill>
                <a:latin typeface="Malgun Gothic"/>
              </a:rPr>
              <a:t>    –  E-Rows와 A-Rows의 차이로 카디널리티 추정 오류를 진단한다</a:t>
            </a:r>
          </a:p>
          <a:p>
            <a:r>
              <a:rPr sz="1600" b="0">
                <a:solidFill>
                  <a:srgbClr val="5A6672"/>
                </a:solidFill>
                <a:latin typeface="Malgun Gothic"/>
              </a:rPr>
              <a:t>    –  추정 오류가 조인 순서·조인 방식으로 전파되는 경로를 설명한다</a:t>
            </a:r>
          </a:p>
          <a:p>
            <a:r>
              <a:rPr sz="1600" b="0">
                <a:solidFill>
                  <a:srgbClr val="5A6672"/>
                </a:solidFill>
                <a:latin typeface="Malgun Gothic"/>
              </a:rPr>
              <a:t>    –  같은 PK 인덱스가 조건 성격에 따라 다른 오퍼레이션으로 갈리는 이유를 설명한다</a:t>
            </a:r>
          </a:p>
          <a:p>
            <a:r>
              <a:rPr sz="1600" b="0">
                <a:solidFill>
                  <a:srgbClr val="5A6672"/>
                </a:solidFill>
                <a:latin typeface="Malgun Gothic"/>
              </a:rPr>
              <a:t>    –  UNIQUE·RANGE·FULL·FAST FULL SCAN 네 가지를 서로 구분한다</a:t>
            </a:r>
          </a:p>
        </p:txBody>
      </p:sp>
    </p:spTree>
    <p:extLst>
      <p:ext uri="{BB962C8B-B14F-4D97-AF65-F5344CB8AC3E}">
        <p14:creationId xmlns:p14="http://schemas.microsoft.com/office/powerpoint/2010/main" val="40916563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장의 구성 (Agenda)</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3.1  Why — 실행계획을 확인해야만 원인을 특정할 수 있다</a:t>
            </a:r>
          </a:p>
          <a:p>
            <a:r>
              <a:rPr sz="1800" b="0">
                <a:solidFill>
                  <a:srgbClr val="202830"/>
                </a:solidFill>
                <a:latin typeface="Malgun Gothic"/>
              </a:rPr>
              <a:t>•  3.2  Concept — 실행계획이란 무엇인가 · 오퍼레이션 단위</a:t>
            </a:r>
          </a:p>
          <a:p>
            <a:r>
              <a:rPr sz="1800" b="0">
                <a:solidFill>
                  <a:srgbClr val="202830"/>
                </a:solidFill>
                <a:latin typeface="Malgun Gothic"/>
              </a:rPr>
              <a:t>•  3.3  Oracle Internals — CBO와 통계정보</a:t>
            </a:r>
          </a:p>
          <a:p>
            <a:r>
              <a:rPr sz="1800" b="0">
                <a:solidFill>
                  <a:srgbClr val="202830"/>
                </a:solidFill>
                <a:latin typeface="Malgun Gothic"/>
              </a:rPr>
              <a:t>•  3.4  Example — 첫 실행계획 뽑아 보기</a:t>
            </a:r>
          </a:p>
          <a:p>
            <a:r>
              <a:rPr sz="1800" b="0">
                <a:solidFill>
                  <a:srgbClr val="202830"/>
                </a:solidFill>
                <a:latin typeface="Malgun Gothic"/>
              </a:rPr>
              <a:t>•  3.5  Execution Plan — 컬럼별 판독 기준 · access vs filter</a:t>
            </a:r>
          </a:p>
          <a:p>
            <a:r>
              <a:rPr sz="1800" b="0">
                <a:solidFill>
                  <a:srgbClr val="202830"/>
                </a:solidFill>
                <a:latin typeface="Malgun Gothic"/>
              </a:rPr>
              <a:t>•  3.6  Bad SQL — 카디널리티 추정 오류 사례</a:t>
            </a:r>
          </a:p>
          <a:p>
            <a:r>
              <a:rPr sz="1800" b="0">
                <a:solidFill>
                  <a:srgbClr val="202830"/>
                </a:solidFill>
                <a:latin typeface="Malgun Gothic"/>
              </a:rPr>
              <a:t>•  3.7  Tuning 예고 — 이 차시에서 남겨 두는 것</a:t>
            </a:r>
          </a:p>
          <a:p>
            <a:r>
              <a:rPr sz="1800" b="0">
                <a:solidFill>
                  <a:srgbClr val="202830"/>
                </a:solidFill>
                <a:latin typeface="Malgun Gothic"/>
              </a:rPr>
              <a:t>•  3.8  Benchmark — 주요 Operation 6종 비교</a:t>
            </a:r>
          </a:p>
          <a:p>
            <a:r>
              <a:rPr sz="1800" b="0">
                <a:solidFill>
                  <a:srgbClr val="202830"/>
                </a:solidFill>
                <a:latin typeface="Malgun Gothic"/>
              </a:rPr>
              <a:t>•  요약 (Review) · 실습 안내</a:t>
            </a:r>
          </a:p>
        </p:txBody>
      </p:sp>
    </p:spTree>
    <p:extLst>
      <p:ext uri="{BB962C8B-B14F-4D97-AF65-F5344CB8AC3E}">
        <p14:creationId xmlns:p14="http://schemas.microsoft.com/office/powerpoint/2010/main" val="86256362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3.1</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실행계획을 왜 읽어야 하는가</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체감으로는 원인을 특정할 수 없다</a:t>
            </a:r>
          </a:p>
          <a:p>
            <a:r>
              <a:rPr sz="1600" b="0">
                <a:solidFill>
                  <a:srgbClr val="C5CED6"/>
                </a:solidFill>
                <a:latin typeface="Malgun Gothic"/>
              </a:rPr>
              <a:t>•  SQL 문장만으로는 처리 방식을 알 수 없다</a:t>
            </a:r>
          </a:p>
          <a:p>
            <a:r>
              <a:rPr sz="1600" b="0">
                <a:solidFill>
                  <a:srgbClr val="C5CED6"/>
                </a:solidFill>
                <a:latin typeface="Malgun Gothic"/>
              </a:rPr>
              <a:t>•  본 차시의 범위 — 튜닝이 아니라 판독</a:t>
            </a:r>
          </a:p>
        </p:txBody>
      </p:sp>
    </p:spTree>
    <p:extLst>
      <p:ext uri="{BB962C8B-B14F-4D97-AF65-F5344CB8AC3E}">
        <p14:creationId xmlns:p14="http://schemas.microsoft.com/office/powerpoint/2010/main" val="183984966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체감으로는 원인을 특정할 수 없다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SQL이 느린 이유는 실행계획을 확인해야 파악할 수 있다</a:t>
            </a:r>
          </a:p>
          <a:p>
            <a:r>
              <a:rPr sz="1600" b="0">
                <a:solidFill>
                  <a:srgbClr val="5A6672"/>
                </a:solidFill>
                <a:latin typeface="Malgun Gothic"/>
              </a:rPr>
              <a:t>    –  '느린 것 같다'는 체감만으로는 원인 특정이 불가능하다</a:t>
            </a:r>
          </a:p>
          <a:p>
            <a:r>
              <a:rPr sz="1600" b="0">
                <a:solidFill>
                  <a:srgbClr val="5A6672"/>
                </a:solidFill>
                <a:latin typeface="Malgun Gothic"/>
              </a:rPr>
              <a:t>    –  Full Scan 때문인지, 잘못된 조인 순서 때문인지, 통계정보 부정확 때문인지</a:t>
            </a:r>
          </a:p>
          <a:p>
            <a:r>
              <a:rPr sz="1600" b="0">
                <a:solidFill>
                  <a:srgbClr val="5A6672"/>
                </a:solidFill>
                <a:latin typeface="Malgun Gothic"/>
              </a:rPr>
              <a:t>    –  이 셋은 조치 방향이 전혀 다르므로 반드시 구분해야 한다</a:t>
            </a:r>
          </a:p>
          <a:p>
            <a:r>
              <a:rPr sz="1800" b="0">
                <a:solidFill>
                  <a:srgbClr val="202830"/>
                </a:solidFill>
                <a:latin typeface="Malgun Gothic"/>
              </a:rPr>
              <a:t>•  원인을 모르면 조치도 근거 없이 고르게 된다</a:t>
            </a:r>
          </a:p>
          <a:p>
            <a:r>
              <a:rPr sz="1600" b="0">
                <a:solidFill>
                  <a:srgbClr val="5A6672"/>
                </a:solidFill>
                <a:latin typeface="Malgun Gothic"/>
              </a:rPr>
              <a:t>    –  인덱스를 만들어야 할지, SQL을 고쳐야 할지 판단할 재료가 없다</a:t>
            </a:r>
          </a:p>
          <a:p>
            <a:r>
              <a:rPr sz="1600" b="0">
                <a:solidFill>
                  <a:srgbClr val="5A6672"/>
                </a:solidFill>
                <a:latin typeface="Malgun Gothic"/>
              </a:rPr>
              <a:t>    –  근거 없이 고른 조치는 우연히 맞아도 재현·설명이 되지 않는다</a:t>
            </a:r>
          </a:p>
          <a:p>
            <a:r>
              <a:rPr sz="1800" b="0">
                <a:solidFill>
                  <a:srgbClr val="202830"/>
                </a:solidFill>
                <a:latin typeface="Malgun Gothic"/>
              </a:rPr>
              <a:t>•  실행계획은 그 판단에 쓸 수 있는 1차 자료다</a:t>
            </a:r>
          </a:p>
        </p:txBody>
      </p:sp>
    </p:spTree>
    <p:extLst>
      <p:ext uri="{BB962C8B-B14F-4D97-AF65-F5344CB8AC3E}">
        <p14:creationId xmlns:p14="http://schemas.microsoft.com/office/powerpoint/2010/main" val="160239307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SQL 문장만으로는 처리 방식을 알 수 없다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동일한 결과를 내는 SQL이라도 Oracle의 처리 방식은 문장만으로 판단 불가</a:t>
            </a:r>
          </a:p>
          <a:p>
            <a:r>
              <a:rPr sz="1600" b="0">
                <a:solidFill>
                  <a:srgbClr val="5A6672"/>
                </a:solidFill>
                <a:latin typeface="Malgun Gothic"/>
              </a:rPr>
              <a:t>    –  Full Scan인지 Index Scan인지, 어떤 조인 방식인지는 문장에 적혀 있지 않다</a:t>
            </a:r>
          </a:p>
          <a:p>
            <a:r>
              <a:rPr sz="1600" b="0">
                <a:solidFill>
                  <a:srgbClr val="5A6672"/>
                </a:solidFill>
                <a:latin typeface="Malgun Gothic"/>
              </a:rPr>
              <a:t>    –  SQL은 원하는 결과를 기술할 뿐 가져오는 방법을 지정하지 않는다</a:t>
            </a:r>
          </a:p>
          <a:p>
            <a:r>
              <a:rPr sz="1800" b="0">
                <a:solidFill>
                  <a:srgbClr val="202830"/>
                </a:solidFill>
                <a:latin typeface="Malgun Gothic"/>
              </a:rPr>
              <a:t>•  옵티마이저가 상황에 따라 매번 다른 방법을 선택할 수 있기 때문</a:t>
            </a:r>
          </a:p>
          <a:p>
            <a:r>
              <a:rPr sz="1600" b="0">
                <a:solidFill>
                  <a:srgbClr val="5A6672"/>
                </a:solidFill>
                <a:latin typeface="Malgun Gothic"/>
              </a:rPr>
              <a:t>    –  데이터 분포 · 통계정보 · 인덱스 존재 여부에 따라 선택이 달라진다</a:t>
            </a:r>
          </a:p>
          <a:p>
            <a:r>
              <a:rPr sz="1600" b="0">
                <a:solidFill>
                  <a:srgbClr val="5A6672"/>
                </a:solidFill>
                <a:latin typeface="Malgun Gothic"/>
              </a:rPr>
              <a:t>    –  어제 인덱스를 타던 SQL이 오늘 Full Scan으로 바뀔 수 있다</a:t>
            </a:r>
          </a:p>
          <a:p>
            <a:r>
              <a:rPr sz="1800" b="0">
                <a:solidFill>
                  <a:srgbClr val="202830"/>
                </a:solidFill>
                <a:latin typeface="Malgun Gothic"/>
              </a:rPr>
              <a:t>•  그래서 '이 SQL은 인덱스를 탈 것이다'는 예상이 아니라 확인의 대상이다</a:t>
            </a:r>
          </a:p>
        </p:txBody>
      </p:sp>
    </p:spTree>
    <p:extLst>
      <p:ext uri="{BB962C8B-B14F-4D97-AF65-F5344CB8AC3E}">
        <p14:creationId xmlns:p14="http://schemas.microsoft.com/office/powerpoint/2010/main" val="279394468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본 차시의 범위 — 튜닝이 아니라 판독</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본 차시 범위는 튜닝이 아니라 실행계획 판독이다</a:t>
            </a:r>
          </a:p>
          <a:p>
            <a:r>
              <a:rPr sz="1600" b="0">
                <a:solidFill>
                  <a:srgbClr val="5A6672"/>
                </a:solidFill>
                <a:latin typeface="Malgun Gothic"/>
              </a:rPr>
              <a:t>    –  인덱스 설계·SQL 재작성 같은 실제 개선 조치는 다루지 않는다</a:t>
            </a:r>
          </a:p>
          <a:p>
            <a:r>
              <a:rPr sz="1800" b="0">
                <a:solidFill>
                  <a:srgbClr val="202830"/>
                </a:solidFill>
                <a:latin typeface="Malgun Gothic"/>
              </a:rPr>
              <a:t>•  이후 모든 챕터에서 "이 방법이 왜 더 나은지"를 실행계획으로 증명해야 한다</a:t>
            </a:r>
          </a:p>
          <a:p>
            <a:r>
              <a:rPr sz="1600" b="0">
                <a:solidFill>
                  <a:srgbClr val="5A6672"/>
                </a:solidFill>
                <a:latin typeface="Malgun Gothic"/>
              </a:rPr>
              <a:t>    –  판독 능력이 그 증명의 전제 조건이다</a:t>
            </a:r>
          </a:p>
          <a:p>
            <a:r>
              <a:rPr sz="1600" b="0">
                <a:solidFill>
                  <a:srgbClr val="5A6672"/>
                </a:solidFill>
                <a:latin typeface="Malgun Gothic"/>
              </a:rPr>
              <a:t>    –  증명 없는 개선은 개선이 아니라 변경일 뿐이다</a:t>
            </a:r>
          </a:p>
          <a:p>
            <a:r>
              <a:rPr sz="1800" b="0">
                <a:solidFill>
                  <a:srgbClr val="202830"/>
                </a:solidFill>
                <a:latin typeface="Malgun Gothic"/>
              </a:rPr>
              <a:t>•  본 차시는 인덱스를 신규 생성하지 않는다</a:t>
            </a:r>
          </a:p>
          <a:p>
            <a:r>
              <a:rPr sz="1600" b="0">
                <a:solidFill>
                  <a:srgbClr val="5A6672"/>
                </a:solidFill>
                <a:latin typeface="Malgun Gothic"/>
              </a:rPr>
              <a:t>    –  기존 PK 인덱스(HOSPITALS, PATIENTS, MEDICAL_CLAIMS 등)만으로 진행한다</a:t>
            </a:r>
          </a:p>
          <a:p>
            <a:r>
              <a:rPr sz="1600" b="0">
                <a:solidFill>
                  <a:srgbClr val="5A6672"/>
                </a:solidFill>
                <a:latin typeface="Malgun Gothic"/>
              </a:rPr>
              <a:t>    –  스키마를 손대지 않아야 교안의 실행계획이 그대로 재현된다</a:t>
            </a:r>
          </a:p>
        </p:txBody>
      </p:sp>
    </p:spTree>
    <p:extLst>
      <p:ext uri="{BB962C8B-B14F-4D97-AF65-F5344CB8AC3E}">
        <p14:creationId xmlns:p14="http://schemas.microsoft.com/office/powerpoint/2010/main" val="242037992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3.2</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실행계획이란 무엇인가</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실행계획의 정의 — 처리 절차의 트리 표현</a:t>
            </a:r>
          </a:p>
          <a:p>
            <a:r>
              <a:rPr sz="1600" b="0">
                <a:solidFill>
                  <a:srgbClr val="C5CED6"/>
                </a:solidFill>
                <a:latin typeface="Malgun Gothic"/>
              </a:rPr>
              <a:t>•  노드 하나 = 물리적 작업 하나</a:t>
            </a:r>
          </a:p>
          <a:p>
            <a:r>
              <a:rPr sz="1600" b="0">
                <a:solidFill>
                  <a:srgbClr val="C5CED6"/>
                </a:solidFill>
                <a:latin typeface="Malgun Gothic"/>
              </a:rPr>
              <a:t>•  한 문장이 여러 작업으로 분해된다</a:t>
            </a:r>
          </a:p>
        </p:txBody>
      </p:sp>
    </p:spTree>
    <p:extLst>
      <p:ext uri="{BB962C8B-B14F-4D97-AF65-F5344CB8AC3E}">
        <p14:creationId xmlns:p14="http://schemas.microsoft.com/office/powerpoint/2010/main" val="175329750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실행계획의 정의</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실행계획 — 옵티마이저가 SQL을 처리할 절차를 트리 구조로 표현한 것</a:t>
            </a:r>
          </a:p>
          <a:p>
            <a:r>
              <a:rPr sz="1600" b="0">
                <a:solidFill>
                  <a:srgbClr val="5A6672"/>
                </a:solidFill>
                <a:latin typeface="Malgun Gothic"/>
              </a:rPr>
              <a:t>    –  SQL은 무엇을 원하는지를 쓰고, 실행계획은 어떻게 가져올지를 답한다</a:t>
            </a:r>
          </a:p>
          <a:p>
            <a:r>
              <a:rPr sz="1600" b="0">
                <a:solidFill>
                  <a:srgbClr val="5A6672"/>
                </a:solidFill>
                <a:latin typeface="Malgun Gothic"/>
              </a:rPr>
              <a:t>    –  사람이 쓴 것이 아니라 옵티마이저가 만들어 낸 산출물이다</a:t>
            </a:r>
          </a:p>
          <a:p>
            <a:r>
              <a:rPr sz="1800" b="0">
                <a:solidFill>
                  <a:srgbClr val="202830"/>
                </a:solidFill>
                <a:latin typeface="Malgun Gothic"/>
              </a:rPr>
              <a:t>•  트리이므로 부모와 자식 관계가 있다</a:t>
            </a:r>
          </a:p>
          <a:p>
            <a:r>
              <a:rPr sz="1600" b="0">
                <a:solidFill>
                  <a:srgbClr val="5A6672"/>
                </a:solidFill>
                <a:latin typeface="Malgun Gothic"/>
              </a:rPr>
              <a:t>    –  자식 노드의 결과가 부모 노드로 전달되어 조합된다</a:t>
            </a:r>
          </a:p>
          <a:p>
            <a:r>
              <a:rPr sz="1600" b="0">
                <a:solidFill>
                  <a:srgbClr val="5A6672"/>
                </a:solidFill>
                <a:latin typeface="Malgun Gothic"/>
              </a:rPr>
              <a:t>    –  가장 바깥의 뿌리 노드가 최종 결과를 반환한다</a:t>
            </a:r>
          </a:p>
          <a:p>
            <a:r>
              <a:rPr sz="1800" b="0">
                <a:solidFill>
                  <a:srgbClr val="202830"/>
                </a:solidFill>
                <a:latin typeface="Malgun Gothic"/>
              </a:rPr>
              <a:t>•  실행계획을 읽는다는 것은 이 트리를 읽는다는 뜻이다</a:t>
            </a:r>
          </a:p>
          <a:p>
            <a:r>
              <a:rPr sz="1600" b="0">
                <a:solidFill>
                  <a:srgbClr val="5A6672"/>
                </a:solidFill>
                <a:latin typeface="Malgun Gothic"/>
              </a:rPr>
              <a:t>    –  표처럼 생겼지만 실제로는 들여쓰기로 표현된 트리다</a:t>
            </a:r>
          </a:p>
        </p:txBody>
      </p:sp>
    </p:spTree>
    <p:extLst>
      <p:ext uri="{BB962C8B-B14F-4D97-AF65-F5344CB8AC3E}">
        <p14:creationId xmlns:p14="http://schemas.microsoft.com/office/powerpoint/2010/main" val="41453590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노드 하나 = 물리적 작업 하나</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트리의 각 노드(Operation)는 물리적 작업 단위 하나에 대응한다</a:t>
            </a:r>
          </a:p>
          <a:p>
            <a:r>
              <a:rPr sz="1600" b="0">
                <a:solidFill>
                  <a:srgbClr val="5A6672"/>
                </a:solidFill>
                <a:latin typeface="Malgun Gothic"/>
              </a:rPr>
              <a:t>    –  TABLE ACCESS FULL — 테이블 전체를 처음부터 끝까지 읽는다</a:t>
            </a:r>
          </a:p>
          <a:p>
            <a:r>
              <a:rPr sz="1600" b="0">
                <a:solidFill>
                  <a:srgbClr val="5A6672"/>
                </a:solidFill>
                <a:latin typeface="Malgun Gothic"/>
              </a:rPr>
              <a:t>    –  INDEX SCAN 계열 — 인덱스에서 특정 값을 찾는다</a:t>
            </a:r>
          </a:p>
          <a:p>
            <a:r>
              <a:rPr sz="1600" b="0">
                <a:solidFill>
                  <a:srgbClr val="5A6672"/>
                </a:solidFill>
                <a:latin typeface="Malgun Gothic"/>
              </a:rPr>
              <a:t>    –  JOIN 계열 — 두 결과 집합을 합친다</a:t>
            </a:r>
          </a:p>
          <a:p>
            <a:r>
              <a:rPr sz="1800" b="0">
                <a:solidFill>
                  <a:srgbClr val="202830"/>
                </a:solidFill>
                <a:latin typeface="Malgun Gothic"/>
              </a:rPr>
              <a:t>•  오퍼레이션 이름은 그 단계에서 무슨 일이 일어났는지의 요약이다</a:t>
            </a:r>
          </a:p>
          <a:p>
            <a:r>
              <a:rPr sz="1600" b="0">
                <a:solidFill>
                  <a:srgbClr val="5A6672"/>
                </a:solidFill>
                <a:latin typeface="Malgun Gothic"/>
              </a:rPr>
              <a:t>    –  이름만 읽어도 읽은 대상과 읽는 방식을 대략 파악할 수 있다</a:t>
            </a:r>
          </a:p>
          <a:p>
            <a:r>
              <a:rPr sz="1800" b="0">
                <a:solidFill>
                  <a:srgbClr val="202830"/>
                </a:solidFill>
                <a:latin typeface="Malgun Gothic"/>
              </a:rPr>
              <a:t>•  오퍼레이션 이름은 외우는 대상이 아니라 해석하는 대상이다</a:t>
            </a:r>
          </a:p>
          <a:p>
            <a:r>
              <a:rPr sz="1600" b="0">
                <a:solidFill>
                  <a:srgbClr val="5A6672"/>
                </a:solidFill>
                <a:latin typeface="Malgun Gothic"/>
              </a:rPr>
              <a:t>    –  단어를 쪼개서 읽으면 처음 보는 이름도 뜻을 짐작할 수 있다</a:t>
            </a:r>
          </a:p>
        </p:txBody>
      </p:sp>
    </p:spTree>
    <p:extLst>
      <p:ext uri="{BB962C8B-B14F-4D97-AF65-F5344CB8AC3E}">
        <p14:creationId xmlns:p14="http://schemas.microsoft.com/office/powerpoint/2010/main" val="382818384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한 문장이 여러 작업으로 분해된다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SQL 한 문장이 여러 개의 물리적 작업으로 분해되어 실행된다</a:t>
            </a:r>
          </a:p>
          <a:p>
            <a:r>
              <a:rPr sz="1600" b="0">
                <a:solidFill>
                  <a:srgbClr val="5A6672"/>
                </a:solidFill>
                <a:latin typeface="Malgun Gothic"/>
              </a:rPr>
              <a:t>    –  그 분해와 조합 순서가 트리 구조로 나타난다</a:t>
            </a:r>
          </a:p>
          <a:p>
            <a:r>
              <a:rPr sz="1800" b="0">
                <a:solidFill>
                  <a:srgbClr val="202830"/>
                </a:solidFill>
                <a:latin typeface="Malgun Gothic"/>
              </a:rPr>
              <a:t>•  한 줄짜리 SELECT도 여러 노드로 늘어날 수 있다</a:t>
            </a:r>
          </a:p>
          <a:p>
            <a:r>
              <a:rPr sz="1600" b="0">
                <a:solidFill>
                  <a:srgbClr val="5A6672"/>
                </a:solidFill>
                <a:latin typeface="Malgun Gothic"/>
              </a:rPr>
              <a:t>    –  인덱스에서 위치를 찾는 단계와 테이블에서 행을 가져오는 단계는 별개다</a:t>
            </a:r>
          </a:p>
          <a:p>
            <a:r>
              <a:rPr sz="1600" b="0">
                <a:solidFill>
                  <a:srgbClr val="5A6672"/>
                </a:solidFill>
                <a:latin typeface="Malgun Gothic"/>
              </a:rPr>
              <a:t>    –  정렬·집계·조인도 각각 독립된 노드로 잡힌다</a:t>
            </a:r>
          </a:p>
          <a:p>
            <a:r>
              <a:rPr sz="1800" b="0">
                <a:solidFill>
                  <a:srgbClr val="202830"/>
                </a:solidFill>
                <a:latin typeface="Malgun Gothic"/>
              </a:rPr>
              <a:t>•  노드 수가 많다고 나쁜 계획인 것은 아니다</a:t>
            </a:r>
          </a:p>
          <a:p>
            <a:r>
              <a:rPr sz="1600" b="0">
                <a:solidFill>
                  <a:srgbClr val="5A6672"/>
                </a:solidFill>
                <a:latin typeface="Malgun Gothic"/>
              </a:rPr>
              <a:t>    –  각 노드가 무엇을 얼마나 읽었는지가 판단의 기준이다</a:t>
            </a:r>
          </a:p>
          <a:p>
            <a:r>
              <a:rPr sz="1600" b="0">
                <a:solidFill>
                  <a:srgbClr val="5A6672"/>
                </a:solidFill>
                <a:latin typeface="Malgun Gothic"/>
              </a:rPr>
              <a:t>    –  노드가 둘뿐이어도 그 하나가 전체를 훑으면 무거운 계획이다</a:t>
            </a:r>
          </a:p>
        </p:txBody>
      </p:sp>
    </p:spTree>
    <p:extLst>
      <p:ext uri="{BB962C8B-B14F-4D97-AF65-F5344CB8AC3E}">
        <p14:creationId xmlns:p14="http://schemas.microsoft.com/office/powerpoint/2010/main" val="114363646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3.3</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CBO와 통계정보</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CBO — 비용이 가장 낮은 후보를 고른다</a:t>
            </a:r>
          </a:p>
          <a:p>
            <a:r>
              <a:rPr sz="1600" b="0">
                <a:solidFill>
                  <a:srgbClr val="C5CED6"/>
                </a:solidFill>
                <a:latin typeface="Malgun Gothic"/>
              </a:rPr>
              <a:t>•  Cost 계산에 쓰이는 통계정보</a:t>
            </a:r>
          </a:p>
          <a:p>
            <a:r>
              <a:rPr sz="1600" b="0">
                <a:solidFill>
                  <a:srgbClr val="C5CED6"/>
                </a:solidFill>
                <a:latin typeface="Malgun Gothic"/>
              </a:rPr>
              <a:t>•  통계와 실제가 어긋나는 세 가지 원인</a:t>
            </a:r>
          </a:p>
          <a:p>
            <a:r>
              <a:rPr sz="1600" b="0">
                <a:solidFill>
                  <a:srgbClr val="C5CED6"/>
                </a:solidFill>
                <a:latin typeface="Malgun Gothic"/>
              </a:rPr>
              <a:t>•  어긋나면 무슨 일이 생기는가</a:t>
            </a:r>
          </a:p>
        </p:txBody>
      </p:sp>
    </p:spTree>
    <p:extLst>
      <p:ext uri="{BB962C8B-B14F-4D97-AF65-F5344CB8AC3E}">
        <p14:creationId xmlns:p14="http://schemas.microsoft.com/office/powerpoint/2010/main" val="115952138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CBO — 비용이 가장 낮은 후보를 고른다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옵티마이저(CBO, Cost-Based Optimizer)의 동작</a:t>
            </a:r>
          </a:p>
          <a:p>
            <a:r>
              <a:rPr sz="1600" b="0">
                <a:solidFill>
                  <a:srgbClr val="5A6672"/>
                </a:solidFill>
                <a:latin typeface="Malgun Gothic"/>
              </a:rPr>
              <a:t>    –  동일 SQL을 처리할 수 있는 여러 후보 실행 방법을 만든다</a:t>
            </a:r>
          </a:p>
          <a:p>
            <a:r>
              <a:rPr sz="1600" b="0">
                <a:solidFill>
                  <a:srgbClr val="5A6672"/>
                </a:solidFill>
                <a:latin typeface="Malgun Gothic"/>
              </a:rPr>
              <a:t>    –  그중 예상 비용(Cost)이 가장 낮은 것을 선택한다</a:t>
            </a:r>
          </a:p>
          <a:p>
            <a:r>
              <a:rPr sz="1800" b="0">
                <a:solidFill>
                  <a:srgbClr val="202830"/>
                </a:solidFill>
                <a:latin typeface="Malgun Gothic"/>
              </a:rPr>
              <a:t>•  선택은 실행 전 추정에 근거한다</a:t>
            </a:r>
          </a:p>
          <a:p>
            <a:r>
              <a:rPr sz="1600" b="0">
                <a:solidFill>
                  <a:srgbClr val="5A6672"/>
                </a:solidFill>
                <a:latin typeface="Malgun Gothic"/>
              </a:rPr>
              <a:t>    –  후보를 실제로 하나씩 돌려 보고 고르는 것이 아니다</a:t>
            </a:r>
          </a:p>
          <a:p>
            <a:r>
              <a:rPr sz="1600" b="0">
                <a:solidFill>
                  <a:srgbClr val="5A6672"/>
                </a:solidFill>
                <a:latin typeface="Malgun Gothic"/>
              </a:rPr>
              <a:t>    –  돌려 볼 수 없으므로 통계정보로 결과를 미리 계산한다</a:t>
            </a:r>
          </a:p>
          <a:p>
            <a:r>
              <a:rPr sz="1800" b="0">
                <a:solidFill>
                  <a:srgbClr val="202830"/>
                </a:solidFill>
                <a:latin typeface="Malgun Gothic"/>
              </a:rPr>
              <a:t>•  따라서 추정의 재료인 통계정보가 어긋나면 선택도 어긋난다</a:t>
            </a:r>
          </a:p>
          <a:p>
            <a:r>
              <a:rPr sz="1600" b="0">
                <a:solidFill>
                  <a:srgbClr val="5A6672"/>
                </a:solidFill>
                <a:latin typeface="Malgun Gothic"/>
              </a:rPr>
              <a:t>    –  옵티마이저가 틀렸다기보다 재료가 틀렸다고 보는 편이 정확하다</a:t>
            </a:r>
          </a:p>
        </p:txBody>
      </p:sp>
    </p:spTree>
    <p:extLst>
      <p:ext uri="{BB962C8B-B14F-4D97-AF65-F5344CB8AC3E}">
        <p14:creationId xmlns:p14="http://schemas.microsoft.com/office/powerpoint/2010/main" val="107438425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Cost 계산에 쓰이는 통계정보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Cost 계산에 사용되는 통계정보</a:t>
            </a:r>
          </a:p>
          <a:p>
            <a:r>
              <a:rPr sz="1600" b="0">
                <a:solidFill>
                  <a:srgbClr val="5A6672"/>
                </a:solidFill>
                <a:latin typeface="Malgun Gothic"/>
              </a:rPr>
              <a:t>    –  테이블 행 수</a:t>
            </a:r>
          </a:p>
          <a:p>
            <a:r>
              <a:rPr sz="1600" b="0">
                <a:solidFill>
                  <a:srgbClr val="5A6672"/>
                </a:solidFill>
                <a:latin typeface="Malgun Gothic"/>
              </a:rPr>
              <a:t>    –  각 컬럼의 고유값 개수(NDV)</a:t>
            </a:r>
          </a:p>
          <a:p>
            <a:r>
              <a:rPr sz="1600" b="0">
                <a:solidFill>
                  <a:srgbClr val="5A6672"/>
                </a:solidFill>
                <a:latin typeface="Malgun Gothic"/>
              </a:rPr>
              <a:t>    –  데이터 분포 — 히스토그램 존재 여부</a:t>
            </a:r>
          </a:p>
          <a:p>
            <a:r>
              <a:rPr sz="1600" b="0">
                <a:solidFill>
                  <a:srgbClr val="5A6672"/>
                </a:solidFill>
                <a:latin typeface="Malgun Gothic"/>
              </a:rPr>
              <a:t>    –  인덱스 클러스터링 팩터</a:t>
            </a:r>
          </a:p>
          <a:p>
            <a:r>
              <a:rPr sz="1800" b="0">
                <a:solidFill>
                  <a:srgbClr val="202830"/>
                </a:solidFill>
                <a:latin typeface="Malgun Gothic"/>
              </a:rPr>
              <a:t>•  통계정보는 데이터 자체가 아니라 데이터의 요약이다</a:t>
            </a:r>
          </a:p>
          <a:p>
            <a:r>
              <a:rPr sz="1600" b="0">
                <a:solidFill>
                  <a:srgbClr val="5A6672"/>
                </a:solidFill>
                <a:latin typeface="Malgun Gothic"/>
              </a:rPr>
              <a:t>    –  요약이 낡거나 거칠면 추정이 빗나간다</a:t>
            </a:r>
          </a:p>
          <a:p>
            <a:r>
              <a:rPr sz="1600" b="0">
                <a:solidFill>
                  <a:srgbClr val="5A6672"/>
                </a:solidFill>
                <a:latin typeface="Malgun Gothic"/>
              </a:rPr>
              <a:t>    –  요약이므로 원본과 다를 수 있다는 점을 항상 전제해야 한다</a:t>
            </a:r>
          </a:p>
        </p:txBody>
      </p:sp>
    </p:spTree>
    <p:extLst>
      <p:ext uri="{BB962C8B-B14F-4D97-AF65-F5344CB8AC3E}">
        <p14:creationId xmlns:p14="http://schemas.microsoft.com/office/powerpoint/2010/main" val="414199017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통계와 실제가 어긋나는 세 가지 원인</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통계 미갱신 — 오래된 통계</a:t>
            </a:r>
          </a:p>
          <a:p>
            <a:r>
              <a:rPr sz="1600" b="0">
                <a:solidFill>
                  <a:srgbClr val="5A6672"/>
                </a:solidFill>
                <a:latin typeface="Malgun Gothic"/>
              </a:rPr>
              <a:t>    –  데이터는 늘었는데 통계는 예전 그대로인 경우</a:t>
            </a:r>
          </a:p>
          <a:p>
            <a:r>
              <a:rPr sz="1800" b="0">
                <a:solidFill>
                  <a:srgbClr val="202830"/>
                </a:solidFill>
                <a:latin typeface="Malgun Gothic"/>
              </a:rPr>
              <a:t>•  컬럼 간 상관관계 미반영</a:t>
            </a:r>
          </a:p>
          <a:p>
            <a:r>
              <a:rPr sz="1600" b="0">
                <a:solidFill>
                  <a:srgbClr val="5A6672"/>
                </a:solidFill>
                <a:latin typeface="Malgun Gothic"/>
              </a:rPr>
              <a:t>    –  옵티마이저는 두 컬럼 조건을 독립으로 가정하고 선택도를 곱해서 추정한다</a:t>
            </a:r>
          </a:p>
          <a:p>
            <a:r>
              <a:rPr sz="1600" b="0">
                <a:solidFill>
                  <a:srgbClr val="5A6672"/>
                </a:solidFill>
                <a:latin typeface="Malgun Gothic"/>
              </a:rPr>
              <a:t>    –  3.6절 실측 사례가 바로 이 경우다</a:t>
            </a:r>
          </a:p>
          <a:p>
            <a:r>
              <a:rPr sz="1800" b="0">
                <a:solidFill>
                  <a:srgbClr val="202830"/>
                </a:solidFill>
                <a:latin typeface="Malgun Gothic"/>
              </a:rPr>
              <a:t>•  데이터 쏠림(skew)에 히스토그램이 없는 경우</a:t>
            </a:r>
          </a:p>
          <a:p>
            <a:r>
              <a:rPr sz="1600" b="0">
                <a:solidFill>
                  <a:srgbClr val="5A6672"/>
                </a:solidFill>
                <a:latin typeface="Malgun Gothic"/>
              </a:rPr>
              <a:t>    –  값이 한쪽으로 몰려 있는데 평균 분포로 잘못 가정한다</a:t>
            </a:r>
          </a:p>
          <a:p>
            <a:r>
              <a:rPr sz="1600" b="0">
                <a:solidFill>
                  <a:srgbClr val="5A6672"/>
                </a:solidFill>
                <a:latin typeface="Malgun Gothic"/>
              </a:rPr>
              <a:t>    –  자주 나오는 값과 드문 값을 같은 비율로 취급하게 된다</a:t>
            </a:r>
          </a:p>
        </p:txBody>
      </p:sp>
    </p:spTree>
    <p:extLst>
      <p:ext uri="{BB962C8B-B14F-4D97-AF65-F5344CB8AC3E}">
        <p14:creationId xmlns:p14="http://schemas.microsoft.com/office/powerpoint/2010/main" val="324191321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어긋나면 무슨 일이 생기는가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위 원인 중 하나라도 해당되면 최적이 아닌 계획이 선택될 수 있다</a:t>
            </a:r>
          </a:p>
          <a:p>
            <a:r>
              <a:rPr sz="1600" b="0">
                <a:solidFill>
                  <a:srgbClr val="5A6672"/>
                </a:solidFill>
                <a:latin typeface="Malgun Gothic"/>
              </a:rPr>
              <a:t>    –  이 현상을 카디널리티 추정 오류라고 부른다</a:t>
            </a:r>
          </a:p>
          <a:p>
            <a:r>
              <a:rPr sz="1600" b="0">
                <a:solidFill>
                  <a:srgbClr val="5A6672"/>
                </a:solidFill>
                <a:latin typeface="Malgun Gothic"/>
              </a:rPr>
              <a:t>    –  카디널리티는 각 단계가 만들어 낼 행 수를 뜻한다</a:t>
            </a:r>
          </a:p>
          <a:p>
            <a:r>
              <a:rPr sz="1800" b="0">
                <a:solidFill>
                  <a:srgbClr val="202830"/>
                </a:solidFill>
                <a:latin typeface="Malgun Gothic"/>
              </a:rPr>
              <a:t>•  추정이 틀리면 그 위에 쌓인 판단이 함께 틀어진다</a:t>
            </a:r>
          </a:p>
          <a:p>
            <a:r>
              <a:rPr sz="1600" b="0">
                <a:solidFill>
                  <a:srgbClr val="5A6672"/>
                </a:solidFill>
                <a:latin typeface="Malgun Gothic"/>
              </a:rPr>
              <a:t>    –  몇 건짜리 집합인지에 따라 유리한 조인 방식이 달라지기 때문이다</a:t>
            </a:r>
          </a:p>
          <a:p>
            <a:r>
              <a:rPr sz="1600" b="0">
                <a:solidFill>
                  <a:srgbClr val="5A6672"/>
                </a:solidFill>
                <a:latin typeface="Malgun Gothic"/>
              </a:rPr>
              <a:t>    –  조인 순서, 조인 방식, 작업 영역 할당량까지 영향을 받는다</a:t>
            </a:r>
          </a:p>
          <a:p>
            <a:r>
              <a:rPr sz="1800" b="0">
                <a:solidFill>
                  <a:srgbClr val="202830"/>
                </a:solidFill>
                <a:latin typeface="Malgun Gothic"/>
              </a:rPr>
              <a:t>•  상세 대응은 ch08(Optimizer와 통계정보)에서 다룬다</a:t>
            </a:r>
          </a:p>
          <a:p>
            <a:r>
              <a:rPr sz="1600" b="0">
                <a:solidFill>
                  <a:srgbClr val="5A6672"/>
                </a:solidFill>
                <a:latin typeface="Malgun Gothic"/>
              </a:rPr>
              <a:t>    –  이 장에서는 계획에서 그 징후를 찾아내는 데까지만 간다</a:t>
            </a:r>
          </a:p>
        </p:txBody>
      </p:sp>
    </p:spTree>
    <p:extLst>
      <p:ext uri="{BB962C8B-B14F-4D97-AF65-F5344CB8AC3E}">
        <p14:creationId xmlns:p14="http://schemas.microsoft.com/office/powerpoint/2010/main" val="87284187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3.4</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첫 실행계획 뽑아 보기</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판독 대상 SQL</a:t>
            </a:r>
          </a:p>
          <a:p>
            <a:r>
              <a:rPr sz="1600" b="0">
                <a:solidFill>
                  <a:srgbClr val="C5CED6"/>
                </a:solidFill>
                <a:latin typeface="Malgun Gothic"/>
              </a:rPr>
              <a:t>•  EXPLAIN PLAN과 DBMS_XPLAN 사용법</a:t>
            </a:r>
          </a:p>
          <a:p>
            <a:r>
              <a:rPr sz="1600" b="0">
                <a:solidFill>
                  <a:srgbClr val="C5CED6"/>
                </a:solidFill>
                <a:latin typeface="Malgun Gothic"/>
              </a:rPr>
              <a:t>•  예상 계획과 실측 계획의 차이</a:t>
            </a:r>
          </a:p>
          <a:p>
            <a:r>
              <a:rPr sz="1600" b="0">
                <a:solidFill>
                  <a:srgbClr val="C5CED6"/>
                </a:solidFill>
                <a:latin typeface="Malgun Gothic"/>
              </a:rPr>
              <a:t>•  뽑은 계획을 읽는 법</a:t>
            </a:r>
          </a:p>
        </p:txBody>
      </p:sp>
    </p:spTree>
    <p:extLst>
      <p:ext uri="{BB962C8B-B14F-4D97-AF65-F5344CB8AC3E}">
        <p14:creationId xmlns:p14="http://schemas.microsoft.com/office/powerpoint/2010/main" val="329794720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판독 대상 SQL</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3.4절 Example — 이 장 전체에서 반복해서 쓰는 SQL 한 문장</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SELECT claim_id, total_amt</a:t>
            </a:r>
          </a:p>
          <a:p>
            <a:r>
              <a:rPr sz="1250" b="0">
                <a:solidFill>
                  <a:srgbClr val="E6E6E6"/>
                </a:solidFill>
                <a:latin typeface="Consolas"/>
              </a:rPr>
              <a:t>FROM medical_claims</a:t>
            </a:r>
          </a:p>
          <a:p>
            <a:r>
              <a:rPr sz="1250" b="0">
                <a:solidFill>
                  <a:srgbClr val="E6E6E6"/>
                </a:solidFill>
                <a:latin typeface="Consolas"/>
              </a:rPr>
              <a:t>WHERE claim_type = '입원' AND total_amt &gt; 500000;</a:t>
            </a:r>
          </a:p>
          <a:p>
            <a:r>
              <a:rPr sz="1250" b="0">
                <a:solidFill>
                  <a:srgbClr val="E6E6E6"/>
                </a:solidFill>
                <a:latin typeface="Consolas"/>
              </a:rPr>
              <a:t> </a:t>
            </a:r>
          </a:p>
          <a:p>
            <a:r>
              <a:rPr sz="1250" b="0">
                <a:solidFill>
                  <a:srgbClr val="7EC699"/>
                </a:solidFill>
                <a:latin typeface="Consolas"/>
              </a:rPr>
              <a:t>-- 조건 컬럼 두 개(CLAIM_TYPE, TOTAL_AMT) 모두 인덱스가 없는 상태</a:t>
            </a:r>
          </a:p>
          <a:p>
            <a:r>
              <a:rPr sz="1250" b="0">
                <a:solidFill>
                  <a:srgbClr val="7EC699"/>
                </a:solidFill>
                <a:latin typeface="Consolas"/>
              </a:rPr>
              <a:t>-- MEDICAL_CLAIMS의 인덱스는 PK_MEDICAL_CLAIMS(CLAIM_ID) 하나뿐이다</a:t>
            </a:r>
          </a:p>
          <a:p>
            <a:r>
              <a:rPr sz="1250" b="0">
                <a:solidFill>
                  <a:srgbClr val="7EC699"/>
                </a:solidFill>
                <a:latin typeface="Consolas"/>
              </a:rPr>
              <a:t>-- 이 차시에서는 인덱스를 만들지 않고 계획만 확인한다</a:t>
            </a:r>
          </a:p>
        </p:txBody>
      </p:sp>
    </p:spTree>
    <p:extLst>
      <p:ext uri="{BB962C8B-B14F-4D97-AF65-F5344CB8AC3E}">
        <p14:creationId xmlns:p14="http://schemas.microsoft.com/office/powerpoint/2010/main" val="72561035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실행계획을 뽑는 두 가지 방법</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EXPLAIN PLAN(예상) · DBMS_XPLAN.DISPLAY_CURSOR(실측)</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-- 1) 실제로 실행하지 않고 옵티마이저의 예상 계획만 산출</a:t>
            </a:r>
          </a:p>
          <a:p>
            <a:r>
              <a:rPr sz="1250" b="0">
                <a:solidFill>
                  <a:srgbClr val="E6E6E6"/>
                </a:solidFill>
                <a:latin typeface="Consolas"/>
              </a:rPr>
              <a:t>EXPLAIN PLAN FOR</a:t>
            </a:r>
          </a:p>
          <a:p>
            <a:r>
              <a:rPr sz="1250" b="0">
                <a:solidFill>
                  <a:srgbClr val="E6E6E6"/>
                </a:solidFill>
                <a:latin typeface="Consolas"/>
              </a:rPr>
              <a:t>SELECT claim_id, total_amt</a:t>
            </a:r>
          </a:p>
          <a:p>
            <a:r>
              <a:rPr sz="1250" b="0">
                <a:solidFill>
                  <a:srgbClr val="E6E6E6"/>
                </a:solidFill>
                <a:latin typeface="Consolas"/>
              </a:rPr>
              <a:t>FROM medical_claims</a:t>
            </a:r>
          </a:p>
          <a:p>
            <a:r>
              <a:rPr sz="1250" b="0">
                <a:solidFill>
                  <a:srgbClr val="E6E6E6"/>
                </a:solidFill>
                <a:latin typeface="Consolas"/>
              </a:rPr>
              <a:t>WHERE claim_type = '입원' AND total_amt &gt; 500000;</a:t>
            </a:r>
          </a:p>
          <a:p>
            <a:r>
              <a:rPr sz="1250" b="0">
                <a:solidFill>
                  <a:srgbClr val="E6E6E6"/>
                </a:solidFill>
                <a:latin typeface="Consolas"/>
              </a:rPr>
              <a:t> </a:t>
            </a:r>
          </a:p>
          <a:p>
            <a:r>
              <a:rPr sz="1250" b="0">
                <a:solidFill>
                  <a:srgbClr val="7EC699"/>
                </a:solidFill>
                <a:latin typeface="Consolas"/>
              </a:rPr>
              <a:t>-- 2) 산출된 예상 계획을 조회</a:t>
            </a:r>
          </a:p>
          <a:p>
            <a:r>
              <a:rPr sz="1250" b="0">
                <a:solidFill>
                  <a:srgbClr val="E6E6E6"/>
                </a:solidFill>
                <a:latin typeface="Consolas"/>
              </a:rPr>
              <a:t>SELECT * FROM TABLE(DBMS_XPLAN.DISPLAY());</a:t>
            </a:r>
          </a:p>
          <a:p>
            <a:r>
              <a:rPr sz="1250" b="0">
                <a:solidFill>
                  <a:srgbClr val="E6E6E6"/>
                </a:solidFill>
                <a:latin typeface="Consolas"/>
              </a:rPr>
              <a:t> </a:t>
            </a:r>
          </a:p>
          <a:p>
            <a:r>
              <a:rPr sz="1250" b="0">
                <a:solidFill>
                  <a:srgbClr val="7EC699"/>
                </a:solidFill>
                <a:latin typeface="Consolas"/>
              </a:rPr>
              <a:t>-- 3) SQL을 실제로 실행한 뒤, 실측 통계까지 붙여서 조회</a:t>
            </a:r>
          </a:p>
          <a:p>
            <a:r>
              <a:rPr sz="1250" b="0">
                <a:solidFill>
                  <a:srgbClr val="E6E6E6"/>
                </a:solidFill>
                <a:latin typeface="Consolas"/>
              </a:rPr>
              <a:t>SELECT * FROM TABLE(DBMS_XPLAN.DISPLAY_CURSOR(NULL, NULL, 'ALLSTATS LAST'));</a:t>
            </a:r>
          </a:p>
        </p:txBody>
      </p:sp>
    </p:spTree>
    <p:extLst>
      <p:ext uri="{BB962C8B-B14F-4D97-AF65-F5344CB8AC3E}">
        <p14:creationId xmlns:p14="http://schemas.microsoft.com/office/powerpoint/2010/main" val="37557728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예상 계획과 실측 계획</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EXPLAIN PLAN FOR ... — 실제로 실행하지 않고 예상 계획만 산출한다</a:t>
            </a:r>
          </a:p>
          <a:p>
            <a:r>
              <a:rPr sz="1600" b="0">
                <a:solidFill>
                  <a:srgbClr val="5A6672"/>
                </a:solidFill>
                <a:latin typeface="Malgun Gothic"/>
              </a:rPr>
              <a:t>    –  이어서 SELECT * FROM TABLE(DBMS_XPLAN.DISPLAY())로 결과를 조회한다</a:t>
            </a:r>
          </a:p>
          <a:p>
            <a:r>
              <a:rPr sz="1600" b="0">
                <a:solidFill>
                  <a:srgbClr val="5A6672"/>
                </a:solidFill>
                <a:latin typeface="Malgun Gothic"/>
              </a:rPr>
              <a:t>    –  얻는 값은 Rows, Bytes, Cost, Time — 전부 실행 전 추정치다</a:t>
            </a:r>
          </a:p>
          <a:p>
            <a:r>
              <a:rPr sz="1800" b="0">
                <a:solidFill>
                  <a:srgbClr val="202830"/>
                </a:solidFill>
                <a:latin typeface="Malgun Gothic"/>
              </a:rPr>
              <a:t>•  DBMS_XPLAN.DISPLAY_CURSOR(NULL, NULL, 'ALLSTATS LAST') — 실행 후 통계</a:t>
            </a:r>
          </a:p>
          <a:p>
            <a:r>
              <a:rPr sz="1600" b="0">
                <a:solidFill>
                  <a:srgbClr val="5A6672"/>
                </a:solidFill>
                <a:latin typeface="Malgun Gothic"/>
              </a:rPr>
              <a:t>    –  얻는 값은 Starts, A-Rows, A-Time, Buffers — 전부 실측치다</a:t>
            </a:r>
          </a:p>
          <a:p>
            <a:r>
              <a:rPr sz="1600" b="0">
                <a:solidFill>
                  <a:srgbClr val="5A6672"/>
                </a:solidFill>
                <a:latin typeface="Malgun Gothic"/>
              </a:rPr>
              <a:t>    –  이 방식은 SQL을 실제로 실행한 뒤에만 쓸 수 있다</a:t>
            </a:r>
          </a:p>
          <a:p>
            <a:r>
              <a:rPr sz="1800" b="0">
                <a:solidFill>
                  <a:srgbClr val="202830"/>
                </a:solidFill>
                <a:latin typeface="Malgun Gothic"/>
              </a:rPr>
              <a:t>•  두 도구를 함께 써야 예상과 실제를 대조할 수 있다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이 챕터의 모든 실행계획·행수·Buffers는 진료비청구심사 실습 DB에서 직접 캡처한 실측 결과다.</a:t>
            </a:r>
          </a:p>
        </p:txBody>
      </p:sp>
    </p:spTree>
    <p:extLst>
      <p:ext uri="{BB962C8B-B14F-4D97-AF65-F5344CB8AC3E}">
        <p14:creationId xmlns:p14="http://schemas.microsoft.com/office/powerpoint/2010/main" val="33599669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첫 실행계획 — 실행 전 예상</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EXPLAIN PLAN + DBMS_XPLAN.DISPLAY 결과</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Rows  | Bytes | Cost (%CPU)| Time     |</a:t>
            </a:r>
          </a:p>
          <a:p>
            <a:r>
              <a:rPr sz="1250" b="0">
                <a:solidFill>
                  <a:srgbClr val="E6E6E6"/>
                </a:solidFill>
                <a:latin typeface="Consolas"/>
              </a:rPr>
              <a:t>| 0  | SELECT STATEMENT  |                | 77946 |  2207K|   857   (1)| 00:00:01 |</a:t>
            </a:r>
          </a:p>
          <a:p>
            <a:r>
              <a:rPr sz="1250" b="0">
                <a:solidFill>
                  <a:srgbClr val="E6E6E6"/>
                </a:solidFill>
                <a:latin typeface="Consolas"/>
              </a:rPr>
              <a:t>| 1  | TABLE ACCESS FULL | MEDICAL_CLAIMS | 77946 |  2207K|   857   (1)| 00:00:01 |</a:t>
            </a:r>
          </a:p>
          <a:p>
            <a:r>
              <a:rPr sz="1250" b="0">
                <a:solidFill>
                  <a:srgbClr val="E6E6E6"/>
                </a:solidFill>
                <a:latin typeface="Consolas"/>
              </a:rPr>
              <a:t> </a:t>
            </a:r>
          </a:p>
          <a:p>
            <a:r>
              <a:rPr sz="1250" b="0">
                <a:solidFill>
                  <a:srgbClr val="E6E6E6"/>
                </a:solidFill>
                <a:latin typeface="Consolas"/>
              </a:rPr>
              <a:t>Predicate Information (identified by operation id):</a:t>
            </a:r>
          </a:p>
          <a:p>
            <a:r>
              <a:rPr sz="1250" b="0">
                <a:solidFill>
                  <a:srgbClr val="E6E6E6"/>
                </a:solidFill>
                <a:latin typeface="Consolas"/>
              </a:rPr>
              <a:t>   1 - filter("CLAIM_TYPE"='입원' AND "TOTAL_AMT"&gt;500000)</a:t>
            </a:r>
          </a:p>
        </p:txBody>
      </p:sp>
    </p:spTree>
    <p:extLst>
      <p:ext uri="{BB962C8B-B14F-4D97-AF65-F5344CB8AC3E}">
        <p14:creationId xmlns:p14="http://schemas.microsoft.com/office/powerpoint/2010/main" val="77246044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계획을 어떻게 읽는가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노드가 둘뿐인 가장 단순한 형태다</a:t>
            </a:r>
          </a:p>
          <a:p>
            <a:r>
              <a:rPr sz="1600" b="0">
                <a:solidFill>
                  <a:srgbClr val="5A6672"/>
                </a:solidFill>
                <a:latin typeface="Malgun Gothic"/>
              </a:rPr>
              <a:t>    –  Id 1 TABLE ACCESS FULL — MEDICAL_CLAIMS 전체를 처음부터 끝까지 읽는다</a:t>
            </a:r>
          </a:p>
          <a:p>
            <a:r>
              <a:rPr sz="1600" b="0">
                <a:solidFill>
                  <a:srgbClr val="5A6672"/>
                </a:solidFill>
                <a:latin typeface="Malgun Gothic"/>
              </a:rPr>
              <a:t>    –  Id 0 SELECT STATEMENT — 그 결과를 최종 반환한다</a:t>
            </a:r>
          </a:p>
          <a:p>
            <a:r>
              <a:rPr sz="1800" b="0">
                <a:solidFill>
                  <a:srgbClr val="202830"/>
                </a:solidFill>
                <a:latin typeface="Malgun Gothic"/>
              </a:rPr>
              <a:t>•  Predicate Information이 filter로 표시된 이유</a:t>
            </a:r>
          </a:p>
          <a:p>
            <a:r>
              <a:rPr sz="1600" b="0">
                <a:solidFill>
                  <a:srgbClr val="5A6672"/>
                </a:solidFill>
                <a:latin typeface="Malgun Gothic"/>
              </a:rPr>
              <a:t>    –  두 조건 컬럼에 인덱스가 없어 찾아갈 방법이 없다</a:t>
            </a:r>
          </a:p>
          <a:p>
            <a:r>
              <a:rPr sz="1600" b="0">
                <a:solidFill>
                  <a:srgbClr val="5A6672"/>
                </a:solidFill>
                <a:latin typeface="Malgun Gothic"/>
              </a:rPr>
              <a:t>    –  전부 읽어 온 뒤 행마다 조건을 검사해 걸러낸다</a:t>
            </a:r>
          </a:p>
          <a:p>
            <a:r>
              <a:rPr sz="1800" b="0">
                <a:solidFill>
                  <a:srgbClr val="202830"/>
                </a:solidFill>
                <a:latin typeface="Malgun Gothic"/>
              </a:rPr>
              <a:t>•  Rows 77946은 결과 건수가 아니라 옵티마이저의 예상치다</a:t>
            </a:r>
          </a:p>
          <a:p>
            <a:r>
              <a:rPr sz="1600" b="0">
                <a:solidFill>
                  <a:srgbClr val="5A6672"/>
                </a:solidFill>
                <a:latin typeface="Malgun Gothic"/>
              </a:rPr>
              <a:t>    –  실제 건수는 3.6절에서 실행 후 A-Rows로 확인한다</a:t>
            </a:r>
          </a:p>
        </p:txBody>
      </p:sp>
    </p:spTree>
    <p:extLst>
      <p:ext uri="{BB962C8B-B14F-4D97-AF65-F5344CB8AC3E}">
        <p14:creationId xmlns:p14="http://schemas.microsoft.com/office/powerpoint/2010/main" val="12163041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3.5</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컬럼별 판독 기준</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Id · Operation · Name — 구조를 나타내는 컬럼</a:t>
            </a:r>
          </a:p>
          <a:p>
            <a:r>
              <a:rPr sz="1600" b="0">
                <a:solidFill>
                  <a:srgbClr val="C5CED6"/>
                </a:solidFill>
                <a:latin typeface="Malgun Gothic"/>
              </a:rPr>
              <a:t>•  Rows · Bytes — 실행 전 추정치</a:t>
            </a:r>
          </a:p>
          <a:p>
            <a:r>
              <a:rPr sz="1600" b="0">
                <a:solidFill>
                  <a:srgbClr val="C5CED6"/>
                </a:solidFill>
                <a:latin typeface="Malgun Gothic"/>
              </a:rPr>
              <a:t>•  Cost — 무차원 상대 지표</a:t>
            </a:r>
          </a:p>
          <a:p>
            <a:r>
              <a:rPr sz="1600" b="0">
                <a:solidFill>
                  <a:srgbClr val="C5CED6"/>
                </a:solidFill>
                <a:latin typeface="Malgun Gothic"/>
              </a:rPr>
              <a:t>•  Predicate Information — access와 filter</a:t>
            </a:r>
          </a:p>
          <a:p>
            <a:r>
              <a:rPr sz="1600" b="0">
                <a:solidFill>
                  <a:srgbClr val="C5CED6"/>
                </a:solidFill>
                <a:latin typeface="Malgun Gothic"/>
              </a:rPr>
              <a:t>•  실행 순서 판독 원칙</a:t>
            </a:r>
          </a:p>
        </p:txBody>
      </p:sp>
    </p:spTree>
    <p:extLst>
      <p:ext uri="{BB962C8B-B14F-4D97-AF65-F5344CB8AC3E}">
        <p14:creationId xmlns:p14="http://schemas.microsoft.com/office/powerpoint/2010/main" val="318877978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실행계획 컬럼 요약표</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추정치와 실측치를 같은 이름으로 부르지 않는 것이 판독의 출발점</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a:t>
            </a:r>
          </a:p>
          <a:p>
            <a:r>
              <a:rPr sz="1250" b="0">
                <a:solidFill>
                  <a:srgbClr val="E6E6E6"/>
                </a:solidFill>
                <a:latin typeface="Consolas"/>
              </a:rPr>
              <a:t>| 컬럼         | 의미                                    | 성격           |</a:t>
            </a:r>
          </a:p>
          <a:p>
            <a:r>
              <a:rPr sz="1250" b="0">
                <a:solidFill>
                  <a:srgbClr val="E6E6E6"/>
                </a:solidFill>
                <a:latin typeface="Consolas"/>
              </a:rPr>
              <a:t>+--------------+-----------------------------------------+----------------+</a:t>
            </a:r>
          </a:p>
          <a:p>
            <a:r>
              <a:rPr sz="1250" b="0">
                <a:solidFill>
                  <a:srgbClr val="E6E6E6"/>
                </a:solidFill>
                <a:latin typeface="Consolas"/>
              </a:rPr>
              <a:t>| Id           | 트리 노드 번호 (실행 순서가 아님)       | 구조           |</a:t>
            </a:r>
          </a:p>
          <a:p>
            <a:r>
              <a:rPr sz="1250" b="0">
                <a:solidFill>
                  <a:srgbClr val="E6E6E6"/>
                </a:solidFill>
                <a:latin typeface="Consolas"/>
              </a:rPr>
              <a:t>| Operation    | 그 단계가 수행하는 물리적 작업명        | 구조           |</a:t>
            </a:r>
          </a:p>
          <a:p>
            <a:r>
              <a:rPr sz="1250" b="0">
                <a:solidFill>
                  <a:srgbClr val="E6E6E6"/>
                </a:solidFill>
                <a:latin typeface="Consolas"/>
              </a:rPr>
              <a:t>| Name         | 작업 대상 오브젝트 (테이블 또는 인덱스) | 구조           |</a:t>
            </a:r>
          </a:p>
          <a:p>
            <a:r>
              <a:rPr sz="1250" b="0">
                <a:solidFill>
                  <a:srgbClr val="E6E6E6"/>
                </a:solidFill>
                <a:latin typeface="Consolas"/>
              </a:rPr>
              <a:t>| Rows / Bytes | 예상 결과 건수 · 예상 데이터 크기       | 실행 전 추정치 |</a:t>
            </a:r>
          </a:p>
          <a:p>
            <a:r>
              <a:rPr sz="1250" b="0">
                <a:solidFill>
                  <a:srgbClr val="E6E6E6"/>
                </a:solidFill>
                <a:latin typeface="Consolas"/>
              </a:rPr>
              <a:t>| Cost (%CPU)  | 후보 계획 비교용 상대 지표 (무차원)     | 실행 전 추정치 |</a:t>
            </a:r>
          </a:p>
          <a:p>
            <a:r>
              <a:rPr sz="1250" b="0">
                <a:solidFill>
                  <a:srgbClr val="E6E6E6"/>
                </a:solidFill>
                <a:latin typeface="Consolas"/>
              </a:rPr>
              <a:t>| Time         | 예상 소요 시간                          | 실행 전 추정치 |</a:t>
            </a:r>
          </a:p>
          <a:p>
            <a:r>
              <a:rPr sz="1250" b="0">
                <a:solidFill>
                  <a:srgbClr val="E6E6E6"/>
                </a:solidFill>
                <a:latin typeface="Consolas"/>
              </a:rPr>
              <a:t>| Starts       | 그 단계가 수행된 횟수                   | 실행 후 실측치 |</a:t>
            </a:r>
          </a:p>
          <a:p>
            <a:r>
              <a:rPr sz="1250" b="0">
                <a:solidFill>
                  <a:srgbClr val="E6E6E6"/>
                </a:solidFill>
                <a:latin typeface="Consolas"/>
              </a:rPr>
              <a:t>| E-Rows       | 실행 전 추정 행 수                      | 실행 전 추정치 |</a:t>
            </a:r>
          </a:p>
          <a:p>
            <a:r>
              <a:rPr sz="1250" b="0">
                <a:solidFill>
                  <a:srgbClr val="E6E6E6"/>
                </a:solidFill>
                <a:latin typeface="Consolas"/>
              </a:rPr>
              <a:t>| A-Rows       | 실제로 처리한 행 수                     | 실행 후 실측치 |</a:t>
            </a:r>
          </a:p>
          <a:p>
            <a:r>
              <a:rPr sz="1250" b="0">
                <a:solidFill>
                  <a:srgbClr val="E6E6E6"/>
                </a:solidFill>
                <a:latin typeface="Consolas"/>
              </a:rPr>
              <a:t>| A-Time       | 그 단계까지 누적된 실제 소요 시간       | 실행 후 실측치 |</a:t>
            </a:r>
          </a:p>
          <a:p>
            <a:r>
              <a:rPr sz="1250" b="0">
                <a:solidFill>
                  <a:srgbClr val="E6E6E6"/>
                </a:solidFill>
                <a:latin typeface="Consolas"/>
              </a:rPr>
              <a:t>| Buffers      | 읽은 블록 수 (논리적 I/O)               | 실행 후 실측치 |</a:t>
            </a:r>
          </a:p>
          <a:p>
            <a:r>
              <a:rPr sz="1250" b="0">
                <a:solidFill>
                  <a:srgbClr val="E6E6E6"/>
                </a:solidFill>
                <a:latin typeface="Consolas"/>
              </a:rPr>
              <a:t>+--------------+-----------------------------------------+----------------+</a:t>
            </a:r>
          </a:p>
          <a:p>
            <a:r>
              <a:rPr sz="1250" b="0">
                <a:solidFill>
                  <a:srgbClr val="E6E6E6"/>
                </a:solidFill>
                <a:latin typeface="Consolas"/>
              </a:rPr>
              <a:t> </a:t>
            </a:r>
          </a:p>
          <a:p>
            <a:r>
              <a:rPr sz="1250" b="0">
                <a:solidFill>
                  <a:srgbClr val="7EC699"/>
                </a:solidFill>
                <a:latin typeface="Consolas"/>
              </a:rPr>
              <a:t>-- EXPLAIN PLAN은 위쪽 추정치만, DISPLAY_CURSOR는 실측치까지 보여 준다</a:t>
            </a:r>
          </a:p>
        </p:txBody>
      </p:sp>
    </p:spTree>
    <p:extLst>
      <p:ext uri="{BB962C8B-B14F-4D97-AF65-F5344CB8AC3E}">
        <p14:creationId xmlns:p14="http://schemas.microsoft.com/office/powerpoint/2010/main" val="240719296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Id · Operation · Name</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Id — 트리 노드 번호</a:t>
            </a:r>
          </a:p>
          <a:p>
            <a:r>
              <a:rPr sz="1600" b="0">
                <a:solidFill>
                  <a:srgbClr val="5A6672"/>
                </a:solidFill>
                <a:latin typeface="Malgun Gothic"/>
              </a:rPr>
              <a:t>    –  생성 순서일 뿐 실행 순서가 아니다</a:t>
            </a:r>
          </a:p>
          <a:p>
            <a:r>
              <a:rPr sz="1600" b="0">
                <a:solidFill>
                  <a:srgbClr val="5A6672"/>
                </a:solidFill>
                <a:latin typeface="Malgun Gothic"/>
              </a:rPr>
              <a:t>    –  Id 번호 순서(0→1→2)대로 읽으면 실제 실행 순서와 반대로 읽게 된다</a:t>
            </a:r>
          </a:p>
          <a:p>
            <a:r>
              <a:rPr sz="1800" b="0">
                <a:solidFill>
                  <a:srgbClr val="202830"/>
                </a:solidFill>
                <a:latin typeface="Malgun Gothic"/>
              </a:rPr>
              <a:t>•  Operation / Options — 해당 단계가 수행하는 물리적 작업명</a:t>
            </a:r>
          </a:p>
          <a:p>
            <a:r>
              <a:rPr sz="1600" b="0">
                <a:solidFill>
                  <a:srgbClr val="5A6672"/>
                </a:solidFill>
                <a:latin typeface="Malgun Gothic"/>
              </a:rPr>
              <a:t>    –  앞부분이 무엇을 읽었는지, 뒷부분이 어떻게 읽었는지를 나타낸다</a:t>
            </a:r>
          </a:p>
          <a:p>
            <a:r>
              <a:rPr sz="1800" b="0">
                <a:solidFill>
                  <a:srgbClr val="202830"/>
                </a:solidFill>
                <a:latin typeface="Malgun Gothic"/>
              </a:rPr>
              <a:t>•  Name — 작업 대상 오브젝트명(테이블 또는 인덱스)</a:t>
            </a:r>
          </a:p>
          <a:p>
            <a:r>
              <a:rPr sz="1600" b="0">
                <a:solidFill>
                  <a:srgbClr val="5A6672"/>
                </a:solidFill>
                <a:latin typeface="Malgun Gothic"/>
              </a:rPr>
              <a:t>    –  Name이 인덱스명이면 인덱스를 읽은 단계다</a:t>
            </a:r>
          </a:p>
          <a:p>
            <a:r>
              <a:rPr sz="1600" b="0">
                <a:solidFill>
                  <a:srgbClr val="5A6672"/>
                </a:solidFill>
                <a:latin typeface="Malgun Gothic"/>
              </a:rPr>
              <a:t>    –  Name이 비어 있으면 조인·정렬·집계처럼 대상 오브젝트가 없는 단계다</a:t>
            </a:r>
          </a:p>
        </p:txBody>
      </p:sp>
    </p:spTree>
    <p:extLst>
      <p:ext uri="{BB962C8B-B14F-4D97-AF65-F5344CB8AC3E}">
        <p14:creationId xmlns:p14="http://schemas.microsoft.com/office/powerpoint/2010/main" val="186667238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Rows · Bytes — 실행 전 추정치</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Rows / Bytes — 옵티마이저가 예상한 결과 건수와 데이터 크기</a:t>
            </a:r>
          </a:p>
          <a:p>
            <a:r>
              <a:rPr sz="1600" b="0">
                <a:solidFill>
                  <a:srgbClr val="5A6672"/>
                </a:solidFill>
                <a:latin typeface="Malgun Gothic"/>
              </a:rPr>
              <a:t>    –  실행 전 추정치이며 통계정보를 기반으로 계산된다</a:t>
            </a:r>
          </a:p>
          <a:p>
            <a:r>
              <a:rPr sz="1600" b="0">
                <a:solidFill>
                  <a:srgbClr val="5A6672"/>
                </a:solidFill>
                <a:latin typeface="Malgun Gothic"/>
              </a:rPr>
              <a:t>    –  실제 결과 건수가 아니다</a:t>
            </a:r>
          </a:p>
          <a:p>
            <a:r>
              <a:rPr sz="1800" b="0">
                <a:solidFill>
                  <a:srgbClr val="202830"/>
                </a:solidFill>
                <a:latin typeface="Malgun Gothic"/>
              </a:rPr>
              <a:t>•  EXPLAIN PLAN만 보고 몇 건 나온다고 말하면 안 된다</a:t>
            </a:r>
          </a:p>
          <a:p>
            <a:r>
              <a:rPr sz="1600" b="0">
                <a:solidFill>
                  <a:srgbClr val="5A6672"/>
                </a:solidFill>
                <a:latin typeface="Malgun Gothic"/>
              </a:rPr>
              <a:t>    –  실제 건수는 실행 후 A-Rows로 확인한다</a:t>
            </a:r>
          </a:p>
          <a:p>
            <a:r>
              <a:rPr sz="1600" b="0">
                <a:solidFill>
                  <a:srgbClr val="5A6672"/>
                </a:solidFill>
                <a:latin typeface="Malgun Gothic"/>
              </a:rPr>
              <a:t>    –  두 값이 얼마나 벌어졌는지가 곧 진단 재료가 된다</a:t>
            </a:r>
          </a:p>
          <a:p>
            <a:r>
              <a:rPr sz="1800" b="0">
                <a:solidFill>
                  <a:srgbClr val="202830"/>
                </a:solidFill>
                <a:latin typeface="Malgun Gothic"/>
              </a:rPr>
              <a:t>•  추정치와 실측치를 같은 이름으로 부르지 않는 습관이 판독의 출발점이다</a:t>
            </a:r>
          </a:p>
          <a:p>
            <a:r>
              <a:rPr sz="1600" b="0">
                <a:solidFill>
                  <a:srgbClr val="5A6672"/>
                </a:solidFill>
                <a:latin typeface="Malgun Gothic"/>
              </a:rPr>
              <a:t>    –  보고서를 쓸 때도 예상 몇 건, 실제 몇 건으로 나눠 적는다</a:t>
            </a:r>
          </a:p>
        </p:txBody>
      </p:sp>
    </p:spTree>
    <p:extLst>
      <p:ext uri="{BB962C8B-B14F-4D97-AF65-F5344CB8AC3E}">
        <p14:creationId xmlns:p14="http://schemas.microsoft.com/office/powerpoint/2010/main" val="306491195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Cost — 무차원 상대 지표</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Cost — 여러 실행 방법 후보를 비교하려고 옵티마이저가 내부적으로 쓰는 상대 지표</a:t>
            </a:r>
          </a:p>
          <a:p>
            <a:r>
              <a:rPr sz="1600" b="0">
                <a:solidFill>
                  <a:srgbClr val="5A6672"/>
                </a:solidFill>
                <a:latin typeface="Malgun Gothic"/>
              </a:rPr>
              <a:t>    –  초 단위 실행 시간이 아니다</a:t>
            </a:r>
          </a:p>
          <a:p>
            <a:r>
              <a:rPr sz="1600" b="0">
                <a:solidFill>
                  <a:srgbClr val="5A6672"/>
                </a:solidFill>
                <a:latin typeface="Malgun Gothic"/>
              </a:rPr>
              <a:t>    –  CPU 연산량과 I/O 예상 횟수를 옵티마이저 자체 공식으로 환산한 무차원 수치다</a:t>
            </a:r>
          </a:p>
          <a:p>
            <a:r>
              <a:rPr sz="1800" b="0">
                <a:solidFill>
                  <a:srgbClr val="202830"/>
                </a:solidFill>
                <a:latin typeface="Malgun Gothic"/>
              </a:rPr>
              <a:t>•  Cost가 낮다는 것은 옵티마이저가 그렇게 판단했다는 뜻이다</a:t>
            </a:r>
          </a:p>
          <a:p>
            <a:r>
              <a:rPr sz="1600" b="0">
                <a:solidFill>
                  <a:srgbClr val="5A6672"/>
                </a:solidFill>
                <a:latin typeface="Malgun Gothic"/>
              </a:rPr>
              <a:t>    –  실제로 빨랐다는 뜻이 아니다</a:t>
            </a:r>
          </a:p>
          <a:p>
            <a:r>
              <a:rPr sz="1600" b="0">
                <a:solidFill>
                  <a:srgbClr val="5A6672"/>
                </a:solidFill>
                <a:latin typeface="Malgun Gothic"/>
              </a:rPr>
              <a:t>    –  실측은 A-Time과 Buffers로 따로 확인해야 한다</a:t>
            </a:r>
          </a:p>
          <a:p>
            <a:r>
              <a:rPr sz="1800" b="0">
                <a:solidFill>
                  <a:srgbClr val="202830"/>
                </a:solidFill>
                <a:latin typeface="Malgun Gothic"/>
              </a:rPr>
              <a:t>•  %CPU는 그 Cost 중 CPU가 차지하는 비율을 나타낸다</a:t>
            </a:r>
          </a:p>
        </p:txBody>
      </p:sp>
    </p:spTree>
    <p:extLst>
      <p:ext uri="{BB962C8B-B14F-4D97-AF65-F5344CB8AC3E}">
        <p14:creationId xmlns:p14="http://schemas.microsoft.com/office/powerpoint/2010/main" val="3471020567"/>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Cost 비교는 어디까지 유효한가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비교가 유효한 범위 — 같은 SQL의 대안 계획들 사이</a:t>
            </a:r>
          </a:p>
          <a:p>
            <a:r>
              <a:rPr sz="1600" b="0">
                <a:solidFill>
                  <a:srgbClr val="5A6672"/>
                </a:solidFill>
                <a:latin typeface="Malgun Gothic"/>
              </a:rPr>
              <a:t>    –  같은 재료로 만든 후보들이라 같은 잣대가 적용된다</a:t>
            </a:r>
          </a:p>
          <a:p>
            <a:r>
              <a:rPr sz="1600" b="0">
                <a:solidFill>
                  <a:srgbClr val="5A6672"/>
                </a:solidFill>
                <a:latin typeface="Malgun Gothic"/>
              </a:rPr>
              <a:t>    –  힌트를 바꿔 가며 같은 SQL의 계획을 비교할 때가 대표적이다</a:t>
            </a:r>
          </a:p>
          <a:p>
            <a:r>
              <a:rPr sz="1800" b="0">
                <a:solidFill>
                  <a:srgbClr val="202830"/>
                </a:solidFill>
                <a:latin typeface="Malgun Gothic"/>
              </a:rPr>
              <a:t>•  서로 다른 두 SQL의 Cost를 나란히 놓고 판단하면 틀린다</a:t>
            </a:r>
          </a:p>
          <a:p>
            <a:r>
              <a:rPr sz="1600" b="0">
                <a:solidFill>
                  <a:srgbClr val="5A6672"/>
                </a:solidFill>
                <a:latin typeface="Malgun Gothic"/>
              </a:rPr>
              <a:t>    –  이게 더 작으니까 더 빠르다는 판단은 성립하지 않는다</a:t>
            </a:r>
          </a:p>
          <a:p>
            <a:r>
              <a:rPr sz="1600" b="0">
                <a:solidFill>
                  <a:srgbClr val="5A6672"/>
                </a:solidFill>
                <a:latin typeface="Malgun Gothic"/>
              </a:rPr>
              <a:t>    –  읽는 대상도 다르고 결과 집합의 성격도 다르기 때문이다</a:t>
            </a:r>
          </a:p>
          <a:p>
            <a:r>
              <a:rPr sz="1800" b="0">
                <a:solidFill>
                  <a:srgbClr val="202830"/>
                </a:solidFill>
                <a:latin typeface="Malgun Gothic"/>
              </a:rPr>
              <a:t>•  실습문제 9번이 바로 이 함정을 다룬다 — Cost 857과 860의 비교</a:t>
            </a:r>
          </a:p>
        </p:txBody>
      </p:sp>
    </p:spTree>
    <p:extLst>
      <p:ext uri="{BB962C8B-B14F-4D97-AF65-F5344CB8AC3E}">
        <p14:creationId xmlns:p14="http://schemas.microsoft.com/office/powerpoint/2010/main" val="39947878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Predicate Information — access와 filter</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Predicate Information — 각 오퍼레이션 단계에서 실제로 적용된 조건</a:t>
            </a:r>
          </a:p>
          <a:p>
            <a:r>
              <a:rPr sz="1600" b="0">
                <a:solidFill>
                  <a:srgbClr val="5A6672"/>
                </a:solidFill>
                <a:latin typeface="Malgun Gothic"/>
              </a:rPr>
              <a:t>    –  앞의 번호가 그 조건이 적용된 Id를 가리킨다</a:t>
            </a:r>
          </a:p>
          <a:p>
            <a:r>
              <a:rPr sz="1800" b="0">
                <a:solidFill>
                  <a:srgbClr val="202830"/>
                </a:solidFill>
                <a:latin typeface="Malgun Gothic"/>
              </a:rPr>
              <a:t>•  access — 인덱스나 조인 상대를 찾아가는 데 쓰인 조건</a:t>
            </a:r>
          </a:p>
          <a:p>
            <a:r>
              <a:rPr sz="1600" b="0">
                <a:solidFill>
                  <a:srgbClr val="5A6672"/>
                </a:solidFill>
                <a:latin typeface="Malgun Gothic"/>
              </a:rPr>
              <a:t>    –  이 조건에 해당하는 컬럼의 인덱스가 있어야 발생 가능하다</a:t>
            </a:r>
          </a:p>
          <a:p>
            <a:r>
              <a:rPr sz="1600" b="0">
                <a:solidFill>
                  <a:srgbClr val="5A6672"/>
                </a:solidFill>
                <a:latin typeface="Malgun Gothic"/>
              </a:rPr>
              <a:t>    –  읽을 범위 자체를 줄여 주므로 읽는 양이 실제로 줄어든다</a:t>
            </a:r>
          </a:p>
          <a:p>
            <a:r>
              <a:rPr sz="1800" b="0">
                <a:solidFill>
                  <a:srgbClr val="202830"/>
                </a:solidFill>
                <a:latin typeface="Malgun Gothic"/>
              </a:rPr>
              <a:t>•  filter — 이미 읽어 온 행들 중에서 걸러내는 데만 쓰인 조건</a:t>
            </a:r>
          </a:p>
          <a:p>
            <a:r>
              <a:rPr sz="1600" b="0">
                <a:solidFill>
                  <a:srgbClr val="5A6672"/>
                </a:solidFill>
                <a:latin typeface="Malgun Gothic"/>
              </a:rPr>
              <a:t>    –  인덱스 유무와 무관하게 항상 발생 가능하다</a:t>
            </a:r>
          </a:p>
          <a:p>
            <a:r>
              <a:rPr sz="1600" b="0">
                <a:solidFill>
                  <a:srgbClr val="5A6672"/>
                </a:solidFill>
                <a:latin typeface="Malgun Gothic"/>
              </a:rPr>
              <a:t>    –  읽는 양은 그대로이고 결과 건수만 줄어든다</a:t>
            </a:r>
          </a:p>
        </p:txBody>
      </p:sp>
    </p:spTree>
    <p:extLst>
      <p:ext uri="{BB962C8B-B14F-4D97-AF65-F5344CB8AC3E}">
        <p14:creationId xmlns:p14="http://schemas.microsoft.com/office/powerpoint/2010/main" val="905912754"/>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같은 조건이 access와 filter로 갈리는 이유</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같은 조건이라도 컬럼에 인덱스가 없으면 access가 아니라 filter로만 나타난다</a:t>
            </a:r>
          </a:p>
          <a:p>
            <a:r>
              <a:rPr sz="1600" b="0">
                <a:solidFill>
                  <a:srgbClr val="5A6672"/>
                </a:solidFill>
                <a:latin typeface="Malgun Gothic"/>
              </a:rPr>
              <a:t>    –  조건식이 같다고 처리 방식이 같은 것은 아니다</a:t>
            </a:r>
          </a:p>
          <a:p>
            <a:r>
              <a:rPr sz="1600" b="0">
                <a:solidFill>
                  <a:srgbClr val="5A6672"/>
                </a:solidFill>
                <a:latin typeface="Malgun Gothic"/>
              </a:rPr>
              <a:t>    –  조건을 어떻게 썼느냐보다 그 컬럼에 인덱스가 있느냐가 먼저다</a:t>
            </a:r>
          </a:p>
          <a:p>
            <a:r>
              <a:rPr sz="1800" b="0">
                <a:solidFill>
                  <a:srgbClr val="202830"/>
                </a:solidFill>
                <a:latin typeface="Malgun Gothic"/>
              </a:rPr>
              <a:t>•  인덱스를 만들었는데 왜 안 쓰이는지를 진단할 때 가장 먼저 볼 곳</a:t>
            </a:r>
          </a:p>
          <a:p>
            <a:r>
              <a:rPr sz="1600" b="0">
                <a:solidFill>
                  <a:srgbClr val="5A6672"/>
                </a:solidFill>
                <a:latin typeface="Malgun Gothic"/>
              </a:rPr>
              <a:t>    –  Predicate Information에서 그 조건이 access인지 filter인지 확인한다</a:t>
            </a:r>
          </a:p>
          <a:p>
            <a:r>
              <a:rPr sz="1600" b="0">
                <a:solidFill>
                  <a:srgbClr val="5A6672"/>
                </a:solidFill>
                <a:latin typeface="Malgun Gothic"/>
              </a:rPr>
              <a:t>    –  filter로만 나온다면 인덱스가 쓰이지 않았다는 직접적인 증거다</a:t>
            </a:r>
          </a:p>
          <a:p>
            <a:r>
              <a:rPr sz="1800" b="0">
                <a:solidFill>
                  <a:srgbClr val="202830"/>
                </a:solidFill>
                <a:latin typeface="Malgun Gothic"/>
              </a:rPr>
              <a:t>•  실습문제 8번 — 같은 HOSP_ID 조건이 한쪽은 access, 다른 쪽은 filter인 사례</a:t>
            </a:r>
          </a:p>
        </p:txBody>
      </p:sp>
    </p:spTree>
    <p:extLst>
      <p:ext uri="{BB962C8B-B14F-4D97-AF65-F5344CB8AC3E}">
        <p14:creationId xmlns:p14="http://schemas.microsoft.com/office/powerpoint/2010/main" val="296767420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실행 순서 판독 원칙</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트리에서 들여쓰기가 가장 깊은 노드부터 먼저 실행된다</a:t>
            </a:r>
          </a:p>
          <a:p>
            <a:r>
              <a:rPr sz="1800" b="0">
                <a:solidFill>
                  <a:srgbClr val="202830"/>
                </a:solidFill>
                <a:latin typeface="Malgun Gothic"/>
              </a:rPr>
              <a:t>•  같은 들여쓰기 레벨에서는 아래쪽이 먼저 실행된다</a:t>
            </a:r>
          </a:p>
          <a:p>
            <a:r>
              <a:rPr sz="1800" b="0">
                <a:solidFill>
                  <a:srgbClr val="202830"/>
                </a:solidFill>
                <a:latin typeface="Malgun Gothic"/>
              </a:rPr>
              <a:t>•  그 결과가 위쪽·바깥쪽 노드로 전달되어 조합된다</a:t>
            </a:r>
          </a:p>
          <a:p>
            <a:r>
              <a:rPr sz="1600" b="0">
                <a:solidFill>
                  <a:srgbClr val="5A6672"/>
                </a:solidFill>
                <a:latin typeface="Malgun Gothic"/>
              </a:rPr>
              <a:t>    –  부모 노드는 자식의 결과가 도착해야 자기 일을 시작할 수 있다</a:t>
            </a:r>
          </a:p>
          <a:p>
            <a:r>
              <a:rPr sz="1800" b="0">
                <a:solidFill>
                  <a:srgbClr val="202830"/>
                </a:solidFill>
                <a:latin typeface="Malgun Gothic"/>
              </a:rPr>
              <a:t>•  Id 번호 순서대로 읽으면 실제 실행 순서와 반대로 읽게 되므로 주의한다</a:t>
            </a:r>
          </a:p>
          <a:p>
            <a:r>
              <a:rPr sz="1600" b="0">
                <a:solidFill>
                  <a:srgbClr val="5A6672"/>
                </a:solidFill>
                <a:latin typeface="Malgun Gothic"/>
              </a:rPr>
              <a:t>    –  계획을 볼 때 숫자보다 들여쓰기 깊이부터 눈으로 확인하는 습관을 들인다</a:t>
            </a:r>
          </a:p>
          <a:p>
            <a:r>
              <a:rPr sz="1800" b="0">
                <a:solidFill>
                  <a:srgbClr val="202830"/>
                </a:solidFill>
                <a:latin typeface="Malgun Gothic"/>
              </a:rPr>
              <a:t>•  3.8절 Q6 계획에서 이 원칙을 직접 적용해 본다</a:t>
            </a:r>
          </a:p>
          <a:p>
            <a:r>
              <a:rPr sz="1600" b="0">
                <a:solidFill>
                  <a:srgbClr val="5A6672"/>
                </a:solidFill>
                <a:latin typeface="Malgun Gothic"/>
              </a:rPr>
              <a:t>    –  여섯 단계짜리 계획의 실행 순서를 손으로 적어 보는 연습을 권한다</a:t>
            </a:r>
          </a:p>
        </p:txBody>
      </p:sp>
    </p:spTree>
    <p:extLst>
      <p:ext uri="{BB962C8B-B14F-4D97-AF65-F5344CB8AC3E}">
        <p14:creationId xmlns:p14="http://schemas.microsoft.com/office/powerpoint/2010/main" val="319423568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3.6</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카디널리티 추정 오류 사례</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E-Rows와 A-Rows의 차이</a:t>
            </a:r>
          </a:p>
          <a:p>
            <a:r>
              <a:rPr sz="1600" b="0">
                <a:solidFill>
                  <a:srgbClr val="C5CED6"/>
                </a:solidFill>
                <a:latin typeface="Malgun Gothic"/>
              </a:rPr>
              <a:t>•  왜 어긋났는가 — 독립 가정의 곱셈</a:t>
            </a:r>
          </a:p>
          <a:p>
            <a:r>
              <a:rPr sz="1600" b="0">
                <a:solidFill>
                  <a:srgbClr val="C5CED6"/>
                </a:solidFill>
                <a:latin typeface="Malgun Gothic"/>
              </a:rPr>
              <a:t>•  상관관계는 자동으로 인식되지 않는다</a:t>
            </a:r>
          </a:p>
          <a:p>
            <a:r>
              <a:rPr sz="1600" b="0">
                <a:solidFill>
                  <a:srgbClr val="C5CED6"/>
                </a:solidFill>
                <a:latin typeface="Malgun Gothic"/>
              </a:rPr>
              <a:t>•  추정 오류는 전파된다</a:t>
            </a:r>
          </a:p>
          <a:p>
            <a:r>
              <a:rPr sz="1600" b="0">
                <a:solidFill>
                  <a:srgbClr val="C5CED6"/>
                </a:solidFill>
                <a:latin typeface="Malgun Gothic"/>
              </a:rPr>
              <a:t>•  실무 판독 원칙</a:t>
            </a:r>
          </a:p>
        </p:txBody>
      </p:sp>
    </p:spTree>
    <p:extLst>
      <p:ext uri="{BB962C8B-B14F-4D97-AF65-F5344CB8AC3E}">
        <p14:creationId xmlns:p14="http://schemas.microsoft.com/office/powerpoint/2010/main" val="4067662995"/>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실행 후 실측 계획</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3.4절 SQL을 실제 실행 후 DBMS_XPLAN.DISPLAY_CURSOR(NULL, NULL, 'ALLSTATS LAST')</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Starts | E-Rows | A-Rows |   A-Time   | Buffers |</a:t>
            </a:r>
          </a:p>
          <a:p>
            <a:r>
              <a:rPr sz="1250" b="0">
                <a:solidFill>
                  <a:srgbClr val="E6E6E6"/>
                </a:solidFill>
                <a:latin typeface="Consolas"/>
              </a:rPr>
              <a:t>| 0  | SELECT STATEMENT  |                |      1 |        |    411 |00:00:00.02 |    3117 |</a:t>
            </a:r>
          </a:p>
          <a:p>
            <a:r>
              <a:rPr sz="1250" b="0">
                <a:solidFill>
                  <a:srgbClr val="E6E6E6"/>
                </a:solidFill>
                <a:latin typeface="Consolas"/>
              </a:rPr>
              <a:t>| 1  | TABLE ACCESS FULL | MEDICAL_CLAIMS |      1 |  77946 |    411 |00:00:00.02 |    3117 |</a:t>
            </a:r>
          </a:p>
          <a:p>
            <a:r>
              <a:rPr sz="1250" b="0">
                <a:solidFill>
                  <a:srgbClr val="E6E6E6"/>
                </a:solidFill>
                <a:latin typeface="Consolas"/>
              </a:rPr>
              <a:t> </a:t>
            </a:r>
          </a:p>
          <a:p>
            <a:r>
              <a:rPr sz="1250" b="0">
                <a:solidFill>
                  <a:srgbClr val="7EC699"/>
                </a:solidFill>
                <a:latin typeface="Consolas"/>
              </a:rPr>
              <a:t>-- E-Rows : 실행 전 옵티마이저가 통계정보로 추정한 건수</a:t>
            </a:r>
          </a:p>
          <a:p>
            <a:r>
              <a:rPr sz="1250" b="0">
                <a:solidFill>
                  <a:srgbClr val="7EC699"/>
                </a:solidFill>
                <a:latin typeface="Consolas"/>
              </a:rPr>
              <a:t>-- A-Rows : 실제로 실행해서 나온 건수</a:t>
            </a:r>
          </a:p>
          <a:p>
            <a:r>
              <a:rPr sz="1250" b="0">
                <a:solidFill>
                  <a:srgbClr val="7EC699"/>
                </a:solidFill>
                <a:latin typeface="Consolas"/>
              </a:rPr>
              <a:t>-- 같은 SQL, 같은 데이터인데 두 값이 크게 벌어져 있다</a:t>
            </a:r>
          </a:p>
        </p:txBody>
      </p:sp>
    </p:spTree>
    <p:extLst>
      <p:ext uri="{BB962C8B-B14F-4D97-AF65-F5344CB8AC3E}">
        <p14:creationId xmlns:p14="http://schemas.microsoft.com/office/powerpoint/2010/main" val="3959216334"/>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E-Rows와 A-Rows</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E-Rows — 실행 전 옵티마이저가 통계정보를 근거로 추정한 건수</a:t>
            </a:r>
          </a:p>
          <a:p>
            <a:r>
              <a:rPr sz="1800" b="0">
                <a:solidFill>
                  <a:srgbClr val="202830"/>
                </a:solidFill>
                <a:latin typeface="Malgun Gothic"/>
              </a:rPr>
              <a:t>•  A-Rows — 실제로 실행해서 나온 건수</a:t>
            </a:r>
          </a:p>
          <a:p>
            <a:r>
              <a:rPr sz="1800" b="0">
                <a:solidFill>
                  <a:srgbClr val="202830"/>
                </a:solidFill>
                <a:latin typeface="Malgun Gothic"/>
              </a:rPr>
              <a:t>•  이 사례의 실측 결과</a:t>
            </a:r>
          </a:p>
          <a:p>
            <a:r>
              <a:rPr sz="1600" b="0">
                <a:solidFill>
                  <a:srgbClr val="5A6672"/>
                </a:solidFill>
                <a:latin typeface="Malgun Gothic"/>
              </a:rPr>
              <a:t>    –  E-Rows 77,946건 vs A-Rows 411건 — 약 190배 차이</a:t>
            </a:r>
          </a:p>
          <a:p>
            <a:r>
              <a:rPr sz="1600" b="0">
                <a:solidFill>
                  <a:srgbClr val="5A6672"/>
                </a:solidFill>
                <a:latin typeface="Malgun Gothic"/>
              </a:rPr>
              <a:t>    –  같은 SQL, 같은 데이터인데 예상과 실제가 이만큼 벌어졌다</a:t>
            </a:r>
          </a:p>
          <a:p>
            <a:r>
              <a:rPr sz="1800" b="0">
                <a:solidFill>
                  <a:srgbClr val="202830"/>
                </a:solidFill>
                <a:latin typeface="Malgun Gothic"/>
              </a:rPr>
              <a:t>•  함께 읽어야 할 실측 컬럼</a:t>
            </a:r>
          </a:p>
          <a:p>
            <a:r>
              <a:rPr sz="1600" b="0">
                <a:solidFill>
                  <a:srgbClr val="5A6672"/>
                </a:solidFill>
                <a:latin typeface="Malgun Gothic"/>
              </a:rPr>
              <a:t>    –  Starts 1 — 이 단계가 한 번만 수행되었다</a:t>
            </a:r>
          </a:p>
          <a:p>
            <a:r>
              <a:rPr sz="1600" b="0">
                <a:solidFill>
                  <a:srgbClr val="5A6672"/>
                </a:solidFill>
                <a:latin typeface="Malgun Gothic"/>
              </a:rPr>
              <a:t>    –  Buffers 3,117 — 실제로 읽은 블록 수, 전체를 훑었다는 증거</a:t>
            </a:r>
          </a:p>
        </p:txBody>
      </p:sp>
    </p:spTree>
    <p:extLst>
      <p:ext uri="{BB962C8B-B14F-4D97-AF65-F5344CB8AC3E}">
        <p14:creationId xmlns:p14="http://schemas.microsoft.com/office/powerpoint/2010/main" val="2365235303"/>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왜 어긋났는가 — 독립 가정의 곱셈</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옵티마이저의 계산 절차</a:t>
            </a:r>
          </a:p>
          <a:p>
            <a:r>
              <a:rPr sz="1600" b="0">
                <a:solidFill>
                  <a:srgbClr val="5A6672"/>
                </a:solidFill>
                <a:latin typeface="Malgun Gothic"/>
              </a:rPr>
              <a:t>    –  CLAIM_TYPE='입원'의 선택도를 구한다</a:t>
            </a:r>
          </a:p>
          <a:p>
            <a:r>
              <a:rPr sz="1600" b="0">
                <a:solidFill>
                  <a:srgbClr val="5A6672"/>
                </a:solidFill>
                <a:latin typeface="Malgun Gothic"/>
              </a:rPr>
              <a:t>    –  TOTAL_AMT&gt;500000의 선택도를 구한다</a:t>
            </a:r>
          </a:p>
          <a:p>
            <a:r>
              <a:rPr sz="1600" b="0">
                <a:solidFill>
                  <a:srgbClr val="5A6672"/>
                </a:solidFill>
                <a:latin typeface="Malgun Gothic"/>
              </a:rPr>
              <a:t>    –  두 값을 곱해서 전체 조건의 선택도를 추정한다</a:t>
            </a:r>
          </a:p>
          <a:p>
            <a:r>
              <a:rPr sz="1800" b="0">
                <a:solidFill>
                  <a:srgbClr val="202830"/>
                </a:solidFill>
                <a:latin typeface="Malgun Gothic"/>
              </a:rPr>
              <a:t>•  이 곱셈은 두 조건이 서로 독립이라는 가정 위에 서 있다</a:t>
            </a:r>
          </a:p>
          <a:p>
            <a:r>
              <a:rPr sz="1600" b="0">
                <a:solidFill>
                  <a:srgbClr val="5A6672"/>
                </a:solidFill>
                <a:latin typeface="Malgun Gothic"/>
              </a:rPr>
              <a:t>    –  한쪽 조건을 만족하는지가 다른 쪽에 아무 영향을 주지 않는다는 전제다</a:t>
            </a:r>
          </a:p>
          <a:p>
            <a:r>
              <a:rPr sz="1800" b="0">
                <a:solidFill>
                  <a:srgbClr val="202830"/>
                </a:solidFill>
                <a:latin typeface="Malgun Gothic"/>
              </a:rPr>
              <a:t>•  그러나 실제 데이터에서 두 조건이 서로 무관하지 않을 수 있다</a:t>
            </a:r>
          </a:p>
          <a:p>
            <a:r>
              <a:rPr sz="1600" b="0">
                <a:solidFill>
                  <a:srgbClr val="5A6672"/>
                </a:solidFill>
                <a:latin typeface="Malgun Gothic"/>
              </a:rPr>
              <a:t>    –  입원 진료가 외래보다 평균 진료비가 높은 경향이 있다면 두 조건은 겹친다</a:t>
            </a:r>
          </a:p>
        </p:txBody>
      </p:sp>
    </p:spTree>
    <p:extLst>
      <p:ext uri="{BB962C8B-B14F-4D97-AF65-F5344CB8AC3E}">
        <p14:creationId xmlns:p14="http://schemas.microsoft.com/office/powerpoint/2010/main" val="1305973190"/>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상관관계는 자동으로 인식되지 않는다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두 조건이 겹치는 방향으로 상관되어 있으면</a:t>
            </a:r>
          </a:p>
          <a:p>
            <a:r>
              <a:rPr sz="1600" b="0">
                <a:solidFill>
                  <a:srgbClr val="5A6672"/>
                </a:solidFill>
                <a:latin typeface="Malgun Gothic"/>
              </a:rPr>
              <a:t>    –  실제로 두 조건을 동시에 만족하는 행이 곱셈 추정치보다 적어질 수 있다</a:t>
            </a:r>
          </a:p>
          <a:p>
            <a:r>
              <a:rPr sz="1600" b="0">
                <a:solidFill>
                  <a:srgbClr val="5A6672"/>
                </a:solidFill>
                <a:latin typeface="Malgun Gothic"/>
              </a:rPr>
              <a:t>    –  반대로 많아지는 경우도 있다 — 방향은 데이터에 따라 다르다</a:t>
            </a:r>
          </a:p>
          <a:p>
            <a:r>
              <a:rPr sz="1800" b="0">
                <a:solidFill>
                  <a:srgbClr val="202830"/>
                </a:solidFill>
                <a:latin typeface="Malgun Gothic"/>
              </a:rPr>
              <a:t>•  이런 상관관계를 옵티마이저가 자동으로 알아채지는 못한다</a:t>
            </a:r>
          </a:p>
          <a:p>
            <a:r>
              <a:rPr sz="1600" b="0">
                <a:solidFill>
                  <a:srgbClr val="5A6672"/>
                </a:solidFill>
                <a:latin typeface="Malgun Gothic"/>
              </a:rPr>
              <a:t>    –  확장 통계(extended statistics)를 별도로 만들어 주지 않는 한</a:t>
            </a:r>
          </a:p>
          <a:p>
            <a:r>
              <a:rPr sz="1600" b="0">
                <a:solidFill>
                  <a:srgbClr val="5A6672"/>
                </a:solidFill>
                <a:latin typeface="Malgun Gothic"/>
              </a:rPr>
              <a:t>    –  항상 독립 가정으로 계산한다</a:t>
            </a:r>
          </a:p>
          <a:p>
            <a:r>
              <a:rPr sz="1800" b="0">
                <a:solidFill>
                  <a:srgbClr val="202830"/>
                </a:solidFill>
                <a:latin typeface="Malgun Gothic"/>
              </a:rPr>
              <a:t>•  즉 이 오차는 버그가 아니라 설계상의 기본 동작이다</a:t>
            </a:r>
          </a:p>
          <a:p>
            <a:r>
              <a:rPr sz="1600" b="0">
                <a:solidFill>
                  <a:srgbClr val="5A6672"/>
                </a:solidFill>
                <a:latin typeface="Malgun Gothic"/>
              </a:rPr>
              <a:t>    –  사람이 알려 주지 않으면 옵티마이저가 알 방법이 없다</a:t>
            </a:r>
          </a:p>
        </p:txBody>
      </p:sp>
    </p:spTree>
    <p:extLst>
      <p:ext uri="{BB962C8B-B14F-4D97-AF65-F5344CB8AC3E}">
        <p14:creationId xmlns:p14="http://schemas.microsoft.com/office/powerpoint/2010/main" val="2402693460"/>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추정 오류는 전파된다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 SQL이 더 큰 쿼리의 일부였다면</a:t>
            </a:r>
          </a:p>
          <a:p>
            <a:r>
              <a:rPr sz="1600" b="0">
                <a:solidFill>
                  <a:srgbClr val="5A6672"/>
                </a:solidFill>
                <a:latin typeface="Malgun Gothic"/>
              </a:rPr>
              <a:t>    –  서브쿼리이거나 조인의 한쪽 입력이었을 경우</a:t>
            </a:r>
          </a:p>
          <a:p>
            <a:r>
              <a:rPr sz="1800" b="0">
                <a:solidFill>
                  <a:srgbClr val="202830"/>
                </a:solidFill>
                <a:latin typeface="Malgun Gothic"/>
              </a:rPr>
              <a:t>•  잘못된 77,946이라는 예상치를 근거로 후속 판단이 결정된다</a:t>
            </a:r>
          </a:p>
          <a:p>
            <a:r>
              <a:rPr sz="1600" b="0">
                <a:solidFill>
                  <a:srgbClr val="5A6672"/>
                </a:solidFill>
                <a:latin typeface="Malgun Gothic"/>
              </a:rPr>
              <a:t>    –  조인 순서 — 어느 쪽을 먼저 읽을지</a:t>
            </a:r>
          </a:p>
          <a:p>
            <a:r>
              <a:rPr sz="1600" b="0">
                <a:solidFill>
                  <a:srgbClr val="5A6672"/>
                </a:solidFill>
                <a:latin typeface="Malgun Gothic"/>
              </a:rPr>
              <a:t>    –  조인 방식 — Nested Loops인지 Hash Join인지</a:t>
            </a:r>
          </a:p>
          <a:p>
            <a:r>
              <a:rPr sz="1600" b="0">
                <a:solidFill>
                  <a:srgbClr val="5A6672"/>
                </a:solidFill>
                <a:latin typeface="Malgun Gothic"/>
              </a:rPr>
              <a:t>    –  작업 영역 크기 — 얼마나 큰 메모리를 잡을지</a:t>
            </a:r>
          </a:p>
          <a:p>
            <a:r>
              <a:rPr sz="1800" b="0">
                <a:solidFill>
                  <a:srgbClr val="202830"/>
                </a:solidFill>
                <a:latin typeface="Malgun Gothic"/>
              </a:rPr>
              <a:t>•  추정 오류는 그 자리에서 끝나지 않고 후속 판단으로 전파된다</a:t>
            </a:r>
          </a:p>
          <a:p>
            <a:r>
              <a:rPr sz="1600" b="0">
                <a:solidFill>
                  <a:srgbClr val="5A6672"/>
                </a:solidFill>
                <a:latin typeface="Malgun Gothic"/>
              </a:rPr>
              <a:t>    –  이것이 카디널리티 추정 오류를 중요하게 다루는 이유다</a:t>
            </a:r>
          </a:p>
        </p:txBody>
      </p:sp>
    </p:spTree>
    <p:extLst>
      <p:ext uri="{BB962C8B-B14F-4D97-AF65-F5344CB8AC3E}">
        <p14:creationId xmlns:p14="http://schemas.microsoft.com/office/powerpoint/2010/main" val="1781590752"/>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실무 판독 원칙</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E-Rows와 A-Rows 차이가 크면 카디널리티 추정 오류를 의심한다</a:t>
            </a:r>
          </a:p>
          <a:p>
            <a:r>
              <a:rPr sz="1600" b="0">
                <a:solidFill>
                  <a:srgbClr val="5A6672"/>
                </a:solidFill>
                <a:latin typeface="Malgun Gothic"/>
              </a:rPr>
              <a:t>    –  수십 배 이상 벌어지면 일단 의심 대상으로 표시한다</a:t>
            </a:r>
          </a:p>
          <a:p>
            <a:r>
              <a:rPr sz="1800" b="0">
                <a:solidFill>
                  <a:srgbClr val="202830"/>
                </a:solidFill>
                <a:latin typeface="Malgun Gothic"/>
              </a:rPr>
              <a:t>•  확인 순서</a:t>
            </a:r>
          </a:p>
          <a:p>
            <a:r>
              <a:rPr sz="1600" b="0">
                <a:solidFill>
                  <a:srgbClr val="5A6672"/>
                </a:solidFill>
                <a:latin typeface="Malgun Gothic"/>
              </a:rPr>
              <a:t>    –  어느 단계에서 차이가 벌어졌는지 계획 위에서 지목한다</a:t>
            </a:r>
          </a:p>
          <a:p>
            <a:r>
              <a:rPr sz="1600" b="0">
                <a:solidFill>
                  <a:srgbClr val="5A6672"/>
                </a:solidFill>
                <a:latin typeface="Malgun Gothic"/>
              </a:rPr>
              <a:t>    –  그 단계의 조건 컬럼과 통계 상태를 확인한다</a:t>
            </a:r>
          </a:p>
          <a:p>
            <a:r>
              <a:rPr sz="1600" b="0">
                <a:solidFill>
                  <a:srgbClr val="5A6672"/>
                </a:solidFill>
                <a:latin typeface="Malgun Gothic"/>
              </a:rPr>
              <a:t>    –  통계 미갱신인지, 상관관계인지, 히스토그램 부재인지 갈래를 나눈다</a:t>
            </a:r>
          </a:p>
          <a:p>
            <a:r>
              <a:rPr sz="1800" b="0">
                <a:solidFill>
                  <a:srgbClr val="202830"/>
                </a:solidFill>
                <a:latin typeface="Malgun Gothic"/>
              </a:rPr>
              <a:t>•  상세 대응은 ch08(Optimizer와 통계정보)에서 다룬다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본 차시의 목표는 추정 오류를 고치는 것이 아니라, 실행계획에서 그 징후를 발견하는 것이다.</a:t>
            </a:r>
          </a:p>
        </p:txBody>
      </p:sp>
    </p:spTree>
    <p:extLst>
      <p:ext uri="{BB962C8B-B14F-4D97-AF65-F5344CB8AC3E}">
        <p14:creationId xmlns:p14="http://schemas.microsoft.com/office/powerpoint/2010/main" val="3308970870"/>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3.7</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이 차시에서 남겨 두는 것</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Full Scan이 나온 이유</a:t>
            </a:r>
          </a:p>
          <a:p>
            <a:r>
              <a:rPr sz="1600" b="0">
                <a:solidFill>
                  <a:srgbClr val="C5CED6"/>
                </a:solidFill>
                <a:latin typeface="Malgun Gothic"/>
              </a:rPr>
              <a:t>•  개선은 어느 챕터의 범위인가</a:t>
            </a:r>
          </a:p>
          <a:p>
            <a:r>
              <a:rPr sz="1600" b="0">
                <a:solidFill>
                  <a:srgbClr val="C5CED6"/>
                </a:solidFill>
                <a:latin typeface="Malgun Gothic"/>
              </a:rPr>
              <a:t>•  판독을 먼저 확립하는 순서</a:t>
            </a:r>
          </a:p>
        </p:txBody>
      </p:sp>
    </p:spTree>
    <p:extLst>
      <p:ext uri="{BB962C8B-B14F-4D97-AF65-F5344CB8AC3E}">
        <p14:creationId xmlns:p14="http://schemas.microsoft.com/office/powerpoint/2010/main" val="4207038135"/>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Full Scan의 이유와 지금 고치지 않는 이유</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 SQL이 Full Scan인 이유</a:t>
            </a:r>
          </a:p>
          <a:p>
            <a:r>
              <a:rPr sz="1600" b="0">
                <a:solidFill>
                  <a:srgbClr val="5A6672"/>
                </a:solidFill>
                <a:latin typeface="Malgun Gothic"/>
              </a:rPr>
              <a:t>    –  CLAIM_TYPE, TOTAL_AMT 두 컬럼 모두 인덱스가 없다</a:t>
            </a:r>
          </a:p>
          <a:p>
            <a:r>
              <a:rPr sz="1600" b="0">
                <a:solidFill>
                  <a:srgbClr val="5A6672"/>
                </a:solidFill>
                <a:latin typeface="Malgun Gothic"/>
              </a:rPr>
              <a:t>    –  찾아갈 길이 없으므로 전부 읽는 것 외에 선택지가 없었다</a:t>
            </a:r>
          </a:p>
          <a:p>
            <a:r>
              <a:rPr sz="1800" b="0">
                <a:solidFill>
                  <a:srgbClr val="202830"/>
                </a:solidFill>
                <a:latin typeface="Malgun Gothic"/>
              </a:rPr>
              <a:t>•  인덱스를 만들면 해결되는지, 어떤 인덱스가 적합한지는 ch06의 범위</a:t>
            </a:r>
          </a:p>
          <a:p>
            <a:r>
              <a:rPr sz="1800" b="0">
                <a:solidFill>
                  <a:srgbClr val="202830"/>
                </a:solidFill>
                <a:latin typeface="Malgun Gothic"/>
              </a:rPr>
              <a:t>•  본 차시에서 다루지 않는 이유</a:t>
            </a:r>
          </a:p>
          <a:p>
            <a:r>
              <a:rPr sz="1600" b="0">
                <a:solidFill>
                  <a:srgbClr val="5A6672"/>
                </a:solidFill>
                <a:latin typeface="Malgun Gothic"/>
              </a:rPr>
              <a:t>    –  지금 인덱스부터 만들면 왜 그 인덱스를 골랐는지 판단할 기준이 없다</a:t>
            </a:r>
          </a:p>
          <a:p>
            <a:r>
              <a:rPr sz="1600" b="0">
                <a:solidFill>
                  <a:srgbClr val="5A6672"/>
                </a:solidFill>
                <a:latin typeface="Malgun Gothic"/>
              </a:rPr>
              <a:t>    –  선택도와 컬럼 순서 같은 기준은 아직 배우지 않은 상태다</a:t>
            </a:r>
          </a:p>
          <a:p>
            <a:r>
              <a:rPr sz="1800" b="0">
                <a:solidFill>
                  <a:srgbClr val="202830"/>
                </a:solidFill>
                <a:latin typeface="Malgun Gothic"/>
              </a:rPr>
              <a:t>•  판독을 먼저 확립한 뒤 설계로 넘어가는 순서를 따른다</a:t>
            </a:r>
          </a:p>
        </p:txBody>
      </p:sp>
    </p:spTree>
    <p:extLst>
      <p:ext uri="{BB962C8B-B14F-4D97-AF65-F5344CB8AC3E}">
        <p14:creationId xmlns:p14="http://schemas.microsoft.com/office/powerpoint/2010/main" val="3267000553"/>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3.8</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주요 Operation 6종 비교</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Q1 비인덱스 조건 · Q2 PK 등치 · Q3 PK 범위</a:t>
            </a:r>
          </a:p>
          <a:p>
            <a:r>
              <a:rPr sz="1600" b="0">
                <a:solidFill>
                  <a:srgbClr val="C5CED6"/>
                </a:solidFill>
                <a:latin typeface="Malgun Gothic"/>
              </a:rPr>
              <a:t>•  Q4 인덱스 정렬 활용 · Q5 인덱스만으로 집계</a:t>
            </a:r>
          </a:p>
          <a:p>
            <a:r>
              <a:rPr sz="1600" b="0">
                <a:solidFill>
                  <a:srgbClr val="C5CED6"/>
                </a:solidFill>
                <a:latin typeface="Malgun Gothic"/>
              </a:rPr>
              <a:t>•  Q6 조인과 집계가 섞인 실전형</a:t>
            </a:r>
          </a:p>
          <a:p>
            <a:r>
              <a:rPr sz="1600" b="0">
                <a:solidFill>
                  <a:srgbClr val="C5CED6"/>
                </a:solidFill>
                <a:latin typeface="Malgun Gothic"/>
              </a:rPr>
              <a:t>•  DDL 변경 없이 기존 PK 인덱스만으로 관찰</a:t>
            </a:r>
          </a:p>
        </p:txBody>
      </p:sp>
    </p:spTree>
    <p:extLst>
      <p:ext uri="{BB962C8B-B14F-4D97-AF65-F5344CB8AC3E}">
        <p14:creationId xmlns:p14="http://schemas.microsoft.com/office/powerpoint/2010/main" val="878481653"/>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Benchmark — 6종 비교표</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3.8절 — DDL 변경 없이 기존 PK 인덱스만으로 관찰한 6개 패턴</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a:t>
            </a:r>
          </a:p>
          <a:p>
            <a:r>
              <a:rPr sz="1250" b="0">
                <a:solidFill>
                  <a:srgbClr val="E6E6E6"/>
                </a:solidFill>
                <a:latin typeface="Consolas"/>
              </a:rPr>
              <a:t>| #  | 쿼리                                      | 핵심 Operation                          | Buffers |</a:t>
            </a:r>
          </a:p>
          <a:p>
            <a:r>
              <a:rPr sz="1250" b="0">
                <a:solidFill>
                  <a:srgbClr val="E6E6E6"/>
                </a:solidFill>
                <a:latin typeface="Consolas"/>
              </a:rPr>
              <a:t>+----+-------------------------------------------+-----------------------------------------+---------+</a:t>
            </a:r>
          </a:p>
          <a:p>
            <a:r>
              <a:rPr sz="1250" b="0">
                <a:solidFill>
                  <a:srgbClr val="E6E6E6"/>
                </a:solidFill>
                <a:latin typeface="Consolas"/>
              </a:rPr>
              <a:t>| Q1 | claim_type=.. AND total_amt&gt;.. (비인덱스) | TABLE ACCESS FULL                       |   3,117 |</a:t>
            </a:r>
          </a:p>
          <a:p>
            <a:r>
              <a:rPr sz="1250" b="0">
                <a:solidFill>
                  <a:srgbClr val="E6E6E6"/>
                </a:solidFill>
                <a:latin typeface="Consolas"/>
              </a:rPr>
              <a:t>| Q2 | claim_id = '...' (PK 등치)                | INDEX UNIQUE SCAN -&gt; BY INDEX ROWID     |       4 |</a:t>
            </a:r>
          </a:p>
          <a:p>
            <a:r>
              <a:rPr sz="1250" b="0">
                <a:solidFill>
                  <a:srgbClr val="E6E6E6"/>
                </a:solidFill>
                <a:latin typeface="Consolas"/>
              </a:rPr>
              <a:t>| Q3 | pat_id BETWEEN 100 AND 130 (PK 범위)      | INDEX RANGE SCAN -&gt; ...BATCHED          |       9 |</a:t>
            </a:r>
          </a:p>
          <a:p>
            <a:r>
              <a:rPr sz="1250" b="0">
                <a:solidFill>
                  <a:srgbClr val="E6E6E6"/>
                </a:solidFill>
                <a:latin typeface="Consolas"/>
              </a:rPr>
              <a:t>| Q4 | ORDER BY claim_id FETCH FIRST 5 ROWS      | WINDOW NOSORT STOPKEY + INDEX FULL SCAN |       4 |</a:t>
            </a:r>
          </a:p>
          <a:p>
            <a:r>
              <a:rPr sz="1250" b="0">
                <a:solidFill>
                  <a:srgbClr val="E6E6E6"/>
                </a:solidFill>
                <a:latin typeface="Consolas"/>
              </a:rPr>
              <a:t>| Q5 | COUNT(claim_id)                           | SORT AGGREGATE + INDEX FAST FULL SCAN   |   1,891 |</a:t>
            </a:r>
          </a:p>
          <a:p>
            <a:r>
              <a:rPr sz="1250" b="0">
                <a:solidFill>
                  <a:srgbClr val="E6E6E6"/>
                </a:solidFill>
                <a:latin typeface="Consolas"/>
              </a:rPr>
              <a:t>| Q6 | HOSPITALS+MEDICAL_CLAIMS 조인 + GROUP BY  | HASH GROUP BY + HASH JOIN               |   3,093 |</a:t>
            </a:r>
          </a:p>
          <a:p>
            <a:r>
              <a:rPr sz="1250" b="0">
                <a:solidFill>
                  <a:srgbClr val="E6E6E6"/>
                </a:solidFill>
                <a:latin typeface="Consolas"/>
              </a:rPr>
              <a:t>+----+-------------------------------------------+-----------------------------------------+---------+</a:t>
            </a:r>
          </a:p>
          <a:p>
            <a:r>
              <a:rPr sz="1250" b="0">
                <a:solidFill>
                  <a:srgbClr val="E6E6E6"/>
                </a:solidFill>
                <a:latin typeface="Consolas"/>
              </a:rPr>
              <a:t> </a:t>
            </a:r>
          </a:p>
          <a:p>
            <a:r>
              <a:rPr sz="1250" b="0">
                <a:solidFill>
                  <a:srgbClr val="7EC699"/>
                </a:solidFill>
                <a:latin typeface="Consolas"/>
              </a:rPr>
              <a:t>-- Q4는 INDEX(medical_claims PK_MEDICAL_CLAIMS) 힌트로 강제한 결과</a:t>
            </a:r>
          </a:p>
        </p:txBody>
      </p:sp>
    </p:spTree>
    <p:extLst>
      <p:ext uri="{BB962C8B-B14F-4D97-AF65-F5344CB8AC3E}">
        <p14:creationId xmlns:p14="http://schemas.microsoft.com/office/powerpoint/2010/main" val="717903391"/>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Q1 — 비인덱스 컬럼 조건 패턴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조건 컬럼에 인덱스가 없으면 선택지는 하나뿐 — TABLE ACCESS FULL</a:t>
            </a:r>
          </a:p>
          <a:p>
            <a:r>
              <a:rPr sz="1600" b="0">
                <a:solidFill>
                  <a:srgbClr val="5A6672"/>
                </a:solidFill>
                <a:latin typeface="Malgun Gothic"/>
              </a:rPr>
              <a:t>    –  조건은 access가 아니라 filter로만 적용된다</a:t>
            </a:r>
          </a:p>
          <a:p>
            <a:r>
              <a:rPr sz="1600" b="0">
                <a:solidFill>
                  <a:srgbClr val="5A6672"/>
                </a:solidFill>
                <a:latin typeface="Malgun Gothic"/>
              </a:rPr>
              <a:t>    –  읽는 양은 줄지 않고 결과 건수만 줄어든다</a:t>
            </a:r>
          </a:p>
          <a:p>
            <a:r>
              <a:rPr sz="1800" b="0">
                <a:solidFill>
                  <a:srgbClr val="202830"/>
                </a:solidFill>
                <a:latin typeface="Malgun Gothic"/>
              </a:rPr>
              <a:t>•  실측 Buffers 3,117 — 테이블 전체를 훑은 결과다</a:t>
            </a:r>
          </a:p>
          <a:p>
            <a:r>
              <a:rPr sz="1600" b="0">
                <a:solidFill>
                  <a:srgbClr val="5A6672"/>
                </a:solidFill>
                <a:latin typeface="Malgun Gothic"/>
              </a:rPr>
              <a:t>    –  E-Rows와 A-Rows가 190배 차이 난 것도 이 패턴에서 함께 관찰되었다</a:t>
            </a:r>
          </a:p>
          <a:p>
            <a:r>
              <a:rPr sz="1800" b="0">
                <a:solidFill>
                  <a:srgbClr val="202830"/>
                </a:solidFill>
                <a:latin typeface="Malgun Gothic"/>
              </a:rPr>
              <a:t>•  이 패턴이 나오면 확인할 것</a:t>
            </a:r>
          </a:p>
          <a:p>
            <a:r>
              <a:rPr sz="1600" b="0">
                <a:solidFill>
                  <a:srgbClr val="5A6672"/>
                </a:solidFill>
                <a:latin typeface="Malgun Gothic"/>
              </a:rPr>
              <a:t>    –  조건 컬럼에 인덱스가 있는가, 있다면 왜 쓰이지 않았는가</a:t>
            </a:r>
          </a:p>
          <a:p>
            <a:r>
              <a:rPr sz="1600" b="0">
                <a:solidFill>
                  <a:srgbClr val="5A6672"/>
                </a:solidFill>
                <a:latin typeface="Malgun Gothic"/>
              </a:rPr>
              <a:t>    –  결과 건수가 전체에서 차지하는 비율은 얼마나 되는가</a:t>
            </a:r>
          </a:p>
        </p:txBody>
      </p:sp>
    </p:spTree>
    <p:extLst>
      <p:ext uri="{BB962C8B-B14F-4D97-AF65-F5344CB8AC3E}">
        <p14:creationId xmlns:p14="http://schemas.microsoft.com/office/powerpoint/2010/main" val="2419822413"/>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Q2 — PK 등치 조건</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MEDICAL_CLAIMS · WHERE claim_id = '20240615-0013440'</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Starts | E-Rows | A-Rows | Buffers |</a:t>
            </a:r>
          </a:p>
          <a:p>
            <a:r>
              <a:rPr sz="1250" b="0">
                <a:solidFill>
                  <a:srgbClr val="E6E6E6"/>
                </a:solidFill>
                <a:latin typeface="Consolas"/>
              </a:rPr>
              <a:t>| 0  | SELECT STATEMENT             |                   |      1 |        |      1 |       4 |</a:t>
            </a:r>
          </a:p>
          <a:p>
            <a:r>
              <a:rPr sz="1250" b="0">
                <a:solidFill>
                  <a:srgbClr val="E6E6E6"/>
                </a:solidFill>
                <a:latin typeface="Consolas"/>
              </a:rPr>
              <a:t>| 1  |  TABLE ACCESS BY INDEX ROWID | MEDICAL_CLAIMS    |      1 |      1 |      1 |       4 |</a:t>
            </a:r>
          </a:p>
          <a:p>
            <a:r>
              <a:rPr sz="1250" b="0">
                <a:solidFill>
                  <a:srgbClr val="E6E6E6"/>
                </a:solidFill>
                <a:latin typeface="Consolas"/>
              </a:rPr>
              <a:t>| 2  |   INDEX UNIQUE SCAN          | PK_MEDICAL_CLAIMS |      1 |      1 |      1 |       3 |</a:t>
            </a:r>
          </a:p>
          <a:p>
            <a:r>
              <a:rPr sz="1250" b="0">
                <a:solidFill>
                  <a:srgbClr val="E6E6E6"/>
                </a:solidFill>
                <a:latin typeface="Consolas"/>
              </a:rPr>
              <a:t> </a:t>
            </a:r>
          </a:p>
          <a:p>
            <a:r>
              <a:rPr sz="1250" b="0">
                <a:solidFill>
                  <a:srgbClr val="E6E6E6"/>
                </a:solidFill>
                <a:latin typeface="Consolas"/>
              </a:rPr>
              <a:t>Predicate Information:</a:t>
            </a:r>
          </a:p>
          <a:p>
            <a:r>
              <a:rPr sz="1250" b="0">
                <a:solidFill>
                  <a:srgbClr val="E6E6E6"/>
                </a:solidFill>
                <a:latin typeface="Consolas"/>
              </a:rPr>
              <a:t>   2 - access("CLAIM_ID"='20240615-0013440')</a:t>
            </a:r>
          </a:p>
        </p:txBody>
      </p:sp>
    </p:spTree>
    <p:extLst>
      <p:ext uri="{BB962C8B-B14F-4D97-AF65-F5344CB8AC3E}">
        <p14:creationId xmlns:p14="http://schemas.microsoft.com/office/powerpoint/2010/main" val="3197433791"/>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Q3 — PK 범위 조건</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PATIENTS · WHERE pat_id BETWEEN 100 AND 130</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Starts | E-Rows | A-Rows | Buffers |</a:t>
            </a:r>
          </a:p>
          <a:p>
            <a:r>
              <a:rPr sz="1250" b="0">
                <a:solidFill>
                  <a:srgbClr val="E6E6E6"/>
                </a:solidFill>
                <a:latin typeface="Consolas"/>
              </a:rPr>
              <a:t>| 0  | SELECT STATEMENT                     |             |      1 |        |     31 |       9 |</a:t>
            </a:r>
          </a:p>
          <a:p>
            <a:r>
              <a:rPr sz="1250" b="0">
                <a:solidFill>
                  <a:srgbClr val="E6E6E6"/>
                </a:solidFill>
                <a:latin typeface="Consolas"/>
              </a:rPr>
              <a:t>| 1  |  TABLE ACCESS BY INDEX ROWID BATCHED | PATIENTS    |      1 |     32 |     31 |       9 |</a:t>
            </a:r>
          </a:p>
          <a:p>
            <a:r>
              <a:rPr sz="1250" b="0">
                <a:solidFill>
                  <a:srgbClr val="E6E6E6"/>
                </a:solidFill>
                <a:latin typeface="Consolas"/>
              </a:rPr>
              <a:t>| 2  |   INDEX RANGE SCAN                   | PK_PATIENTS |      1 |     32 |     31 |       5 |</a:t>
            </a:r>
          </a:p>
          <a:p>
            <a:r>
              <a:rPr sz="1250" b="0">
                <a:solidFill>
                  <a:srgbClr val="E6E6E6"/>
                </a:solidFill>
                <a:latin typeface="Consolas"/>
              </a:rPr>
              <a:t> </a:t>
            </a:r>
          </a:p>
          <a:p>
            <a:r>
              <a:rPr sz="1250" b="0">
                <a:solidFill>
                  <a:srgbClr val="E6E6E6"/>
                </a:solidFill>
                <a:latin typeface="Consolas"/>
              </a:rPr>
              <a:t>Predicate Information:</a:t>
            </a:r>
          </a:p>
          <a:p>
            <a:r>
              <a:rPr sz="1250" b="0">
                <a:solidFill>
                  <a:srgbClr val="E6E6E6"/>
                </a:solidFill>
                <a:latin typeface="Consolas"/>
              </a:rPr>
              <a:t>   2 - access("PAT_ID"&gt;=100 AND "PAT_ID"&lt;=130)</a:t>
            </a:r>
          </a:p>
        </p:txBody>
      </p:sp>
    </p:spTree>
    <p:extLst>
      <p:ext uri="{BB962C8B-B14F-4D97-AF65-F5344CB8AC3E}">
        <p14:creationId xmlns:p14="http://schemas.microsoft.com/office/powerpoint/2010/main" val="1639034004"/>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UNIQUE SCAN과 RANGE SCAN, 그리고 BATCHED</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같은 PK 인덱스인데 오퍼레이션 이름이 갈리는 이유</a:t>
            </a:r>
          </a:p>
          <a:p>
            <a:r>
              <a:rPr sz="1600" b="0">
                <a:solidFill>
                  <a:srgbClr val="5A6672"/>
                </a:solidFill>
                <a:latin typeface="Malgun Gothic"/>
              </a:rPr>
              <a:t>    –  등치 조건은 결과가 최대 1건임이 보장된다 → INDEX UNIQUE SCAN</a:t>
            </a:r>
          </a:p>
          <a:p>
            <a:r>
              <a:rPr sz="1600" b="0">
                <a:solidFill>
                  <a:srgbClr val="5A6672"/>
                </a:solidFill>
                <a:latin typeface="Malgun Gothic"/>
              </a:rPr>
              <a:t>    –  범위 조건은 여러 건일 수 있어 시작점부터 끝점까지 순회한다 → INDEX RANGE SCAN</a:t>
            </a:r>
          </a:p>
          <a:p>
            <a:r>
              <a:rPr sz="1800" b="0">
                <a:solidFill>
                  <a:srgbClr val="202830"/>
                </a:solidFill>
                <a:latin typeface="Malgun Gothic"/>
              </a:rPr>
              <a:t>•  인덱스만으로 끝나지 않고 테이블 접근이 한 단계 더 붙는 이유</a:t>
            </a:r>
          </a:p>
          <a:p>
            <a:r>
              <a:rPr sz="1600" b="0">
                <a:solidFill>
                  <a:srgbClr val="5A6672"/>
                </a:solidFill>
                <a:latin typeface="Malgun Gothic"/>
              </a:rPr>
              <a:t>    –  인덱스에는 키 값과 행의 주소(ROWID)만 있다</a:t>
            </a:r>
          </a:p>
          <a:p>
            <a:r>
              <a:rPr sz="1600" b="0">
                <a:solidFill>
                  <a:srgbClr val="5A6672"/>
                </a:solidFill>
                <a:latin typeface="Malgun Gothic"/>
              </a:rPr>
              <a:t>    –  SELECT 절이 요구하는 나머지 컬럼은 테이블에서 가져와야 한다</a:t>
            </a:r>
          </a:p>
          <a:p>
            <a:r>
              <a:rPr sz="1800" b="0">
                <a:solidFill>
                  <a:srgbClr val="202830"/>
                </a:solidFill>
                <a:latin typeface="Malgun Gothic"/>
              </a:rPr>
              <a:t>•  BATCHED — ROWID를 모아 정렬한 뒤 테이블 블록에 접근하는 최적화</a:t>
            </a:r>
          </a:p>
          <a:p>
            <a:r>
              <a:rPr sz="1600" b="0">
                <a:solidFill>
                  <a:srgbClr val="5A6672"/>
                </a:solidFill>
                <a:latin typeface="Malgun Gothic"/>
              </a:rPr>
              <a:t>    –  Oracle 12c 이상에서 도입되었고 단건 조회에는 붙지 않는다</a:t>
            </a:r>
          </a:p>
        </p:txBody>
      </p:sp>
    </p:spTree>
    <p:extLst>
      <p:ext uri="{BB962C8B-B14F-4D97-AF65-F5344CB8AC3E}">
        <p14:creationId xmlns:p14="http://schemas.microsoft.com/office/powerpoint/2010/main" val="3227426407"/>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Q4 — 인덱스 정렬 순서 재활용</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SELECT claim_id FROM medical_claims ORDER BY claim_id FETCH FIRST 5 ROWS ONLY</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Starts | E-Rows | A-Rows | Buffers |</a:t>
            </a:r>
          </a:p>
          <a:p>
            <a:r>
              <a:rPr sz="1250" b="0">
                <a:solidFill>
                  <a:srgbClr val="E6E6E6"/>
                </a:solidFill>
                <a:latin typeface="Consolas"/>
              </a:rPr>
              <a:t>| 0  | SELECT STATEMENT       |                    |      1 |        |      5 |       4 |</a:t>
            </a:r>
          </a:p>
          <a:p>
            <a:r>
              <a:rPr sz="1250" b="0">
                <a:solidFill>
                  <a:srgbClr val="E6E6E6"/>
                </a:solidFill>
                <a:latin typeface="Consolas"/>
              </a:rPr>
              <a:t>| 1  |  VIEW                  |                    |      1 |      5 |      5 |       4 |</a:t>
            </a:r>
          </a:p>
          <a:p>
            <a:r>
              <a:rPr sz="1250" b="0">
                <a:solidFill>
                  <a:srgbClr val="E6E6E6"/>
                </a:solidFill>
                <a:latin typeface="Consolas"/>
              </a:rPr>
              <a:t>| 2  |   WINDOW NOSORT STOPKEY|                    |      1 |      5 |      5 |       4 |</a:t>
            </a:r>
          </a:p>
          <a:p>
            <a:r>
              <a:rPr sz="1250" b="0">
                <a:solidFill>
                  <a:srgbClr val="E6E6E6"/>
                </a:solidFill>
                <a:latin typeface="Consolas"/>
              </a:rPr>
              <a:t>| 3  |    INDEX FULL SCAN     | PK_MEDICAL_CLAIMS  |      1 |      5 |      5 |       4 |</a:t>
            </a:r>
          </a:p>
          <a:p>
            <a:r>
              <a:rPr sz="1250" b="0">
                <a:solidFill>
                  <a:srgbClr val="E6E6E6"/>
                </a:solidFill>
                <a:latin typeface="Consolas"/>
              </a:rPr>
              <a:t> </a:t>
            </a:r>
          </a:p>
          <a:p>
            <a:r>
              <a:rPr sz="1250" b="0">
                <a:solidFill>
                  <a:srgbClr val="E6E6E6"/>
                </a:solidFill>
                <a:latin typeface="Consolas"/>
              </a:rPr>
              <a:t>Predicate Information:</a:t>
            </a:r>
          </a:p>
          <a:p>
            <a:r>
              <a:rPr sz="1250" b="0">
                <a:solidFill>
                  <a:srgbClr val="E6E6E6"/>
                </a:solidFill>
                <a:latin typeface="Consolas"/>
              </a:rPr>
              <a:t>   1 - filter("from$_subquery$_002"."rowlimit_$$_rownumber"&lt;=5)</a:t>
            </a:r>
          </a:p>
          <a:p>
            <a:r>
              <a:rPr sz="1250" b="0">
                <a:solidFill>
                  <a:srgbClr val="E6E6E6"/>
                </a:solidFill>
                <a:latin typeface="Consolas"/>
              </a:rPr>
              <a:t>   2 - filter(ROW_NUMBER() OVER ( ORDER BY "CLAIM_ID")&lt;=5)</a:t>
            </a:r>
          </a:p>
        </p:txBody>
      </p:sp>
    </p:spTree>
    <p:extLst>
      <p:ext uri="{BB962C8B-B14F-4D97-AF65-F5344CB8AC3E}">
        <p14:creationId xmlns:p14="http://schemas.microsoft.com/office/powerpoint/2010/main" val="1052722445"/>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SORT가 사라진 이유 — WINDOW NOSORT STOPKEY</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PK 인덱스는 CLAIM_ID 값 순서대로 이미 정렬되어 저장되어 있다</a:t>
            </a:r>
          </a:p>
          <a:p>
            <a:r>
              <a:rPr sz="1600" b="0">
                <a:solidFill>
                  <a:srgbClr val="5A6672"/>
                </a:solidFill>
                <a:latin typeface="Malgun Gothic"/>
              </a:rPr>
              <a:t>    –  ORDER BY가 원하는 순서와 인덱스에 저장된 순서가 정확히 같다</a:t>
            </a:r>
          </a:p>
          <a:p>
            <a:r>
              <a:rPr sz="1600" b="0">
                <a:solidFill>
                  <a:srgbClr val="5A6672"/>
                </a:solidFill>
                <a:latin typeface="Malgun Gothic"/>
              </a:rPr>
              <a:t>    –  따로 모아서 정렬할 필요 없이 인덱스를 순서대로 읽기만 하면 된다</a:t>
            </a:r>
          </a:p>
          <a:p>
            <a:r>
              <a:rPr sz="1800" b="0">
                <a:solidFill>
                  <a:srgbClr val="202830"/>
                </a:solidFill>
                <a:latin typeface="Malgun Gothic"/>
              </a:rPr>
              <a:t>•  이름을 세 조각으로 쪼개서 읽는다</a:t>
            </a:r>
          </a:p>
          <a:p>
            <a:r>
              <a:rPr sz="1600" b="0">
                <a:solidFill>
                  <a:srgbClr val="5A6672"/>
                </a:solidFill>
                <a:latin typeface="Malgun Gothic"/>
              </a:rPr>
              <a:t>    –  NOSORT — 정렬 순서를 재활용해 정렬 단계를 생략했다</a:t>
            </a:r>
          </a:p>
          <a:p>
            <a:r>
              <a:rPr sz="1600" b="0">
                <a:solidFill>
                  <a:srgbClr val="5A6672"/>
                </a:solidFill>
                <a:latin typeface="Malgun Gothic"/>
              </a:rPr>
              <a:t>    –  STOPKEY — 필요한 5건을 확보하는 즉시 인덱스 읽기를 멈춘다</a:t>
            </a:r>
          </a:p>
          <a:p>
            <a:r>
              <a:rPr sz="1600" b="0">
                <a:solidFill>
                  <a:srgbClr val="5A6672"/>
                </a:solidFill>
                <a:latin typeface="Malgun Gothic"/>
              </a:rPr>
              <a:t>    –  WINDOW — 내부적으로 ROW_NUMBER() OVER (ORDER BY ...) 조건으로 변환되었다</a:t>
            </a:r>
          </a:p>
          <a:p>
            <a:r>
              <a:rPr sz="1800" b="0">
                <a:solidFill>
                  <a:srgbClr val="202830"/>
                </a:solidFill>
                <a:latin typeface="Malgun Gothic"/>
              </a:rPr>
              <a:t>•  이 예제는 힌트로 강제한 것이다 — 힌트 없이는 다른 계획이 선택될 수 있다</a:t>
            </a:r>
          </a:p>
        </p:txBody>
      </p:sp>
    </p:spTree>
    <p:extLst>
      <p:ext uri="{BB962C8B-B14F-4D97-AF65-F5344CB8AC3E}">
        <p14:creationId xmlns:p14="http://schemas.microsoft.com/office/powerpoint/2010/main" val="3505283769"/>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Q5 — 인덱스만으로 집계</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SELECT COUNT(claim_id) FROM medical_claims</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Starts | E-Rows | A-Rows | Buffers |</a:t>
            </a:r>
          </a:p>
          <a:p>
            <a:r>
              <a:rPr sz="1250" b="0">
                <a:solidFill>
                  <a:srgbClr val="E6E6E6"/>
                </a:solidFill>
                <a:latin typeface="Consolas"/>
              </a:rPr>
              <a:t>| 0  | SELECT STATEMENT       |                    |      1 |        |      1 |    1891 |</a:t>
            </a:r>
          </a:p>
          <a:p>
            <a:r>
              <a:rPr sz="1250" b="0">
                <a:solidFill>
                  <a:srgbClr val="E6E6E6"/>
                </a:solidFill>
                <a:latin typeface="Consolas"/>
              </a:rPr>
              <a:t>| 1  |  SORT AGGREGATE        |                    |      1 |      1 |      1 |    1891 |</a:t>
            </a:r>
          </a:p>
          <a:p>
            <a:r>
              <a:rPr sz="1250" b="0">
                <a:solidFill>
                  <a:srgbClr val="E6E6E6"/>
                </a:solidFill>
                <a:latin typeface="Consolas"/>
              </a:rPr>
              <a:t>| 2  |   INDEX FAST FULL SCAN | PK_MEDICAL_CLAIMS  |      1 |   300K |   300K |    1891 |</a:t>
            </a:r>
          </a:p>
          <a:p>
            <a:r>
              <a:rPr sz="1250" b="0">
                <a:solidFill>
                  <a:srgbClr val="E6E6E6"/>
                </a:solidFill>
                <a:latin typeface="Consolas"/>
              </a:rPr>
              <a:t> </a:t>
            </a:r>
          </a:p>
          <a:p>
            <a:r>
              <a:rPr sz="1250" b="0">
                <a:solidFill>
                  <a:srgbClr val="7EC699"/>
                </a:solidFill>
                <a:latin typeface="Consolas"/>
              </a:rPr>
              <a:t>-- Name 칸에 테이블이 아니라 인덱스만 등장한다</a:t>
            </a:r>
          </a:p>
          <a:p>
            <a:r>
              <a:rPr sz="1250" b="0">
                <a:solidFill>
                  <a:srgbClr val="7EC699"/>
                </a:solidFill>
                <a:latin typeface="Consolas"/>
              </a:rPr>
              <a:t>-- MEDICAL_CLAIMS 테이블 블록은 한 번도 읽지 않았다</a:t>
            </a:r>
          </a:p>
        </p:txBody>
      </p:sp>
    </p:spTree>
    <p:extLst>
      <p:ext uri="{BB962C8B-B14F-4D97-AF65-F5344CB8AC3E}">
        <p14:creationId xmlns:p14="http://schemas.microsoft.com/office/powerpoint/2010/main" val="3431286365"/>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INDEX FULL SCAN과 INDEX FAST FULL SCAN</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테이블을 전혀 읽지 않을 수 있었던 이유</a:t>
            </a:r>
          </a:p>
          <a:p>
            <a:r>
              <a:rPr sz="1600" b="0">
                <a:solidFill>
                  <a:srgbClr val="5A6672"/>
                </a:solidFill>
                <a:latin typeface="Malgun Gothic"/>
              </a:rPr>
              <a:t>    –  CLAIM_ID는 PRIMARY KEY라 NOT NULL이 보장된다</a:t>
            </a:r>
          </a:p>
          <a:p>
            <a:r>
              <a:rPr sz="1600" b="0">
                <a:solidFill>
                  <a:srgbClr val="5A6672"/>
                </a:solidFill>
                <a:latin typeface="Malgun Gothic"/>
              </a:rPr>
              <a:t>    –  PK 인덱스에는 NULL이 들어갈 수 없으므로 인덱스 항목 수가 곧 COUNT 결과다</a:t>
            </a:r>
          </a:p>
          <a:p>
            <a:r>
              <a:rPr sz="1800" b="0">
                <a:solidFill>
                  <a:srgbClr val="202830"/>
                </a:solidFill>
                <a:latin typeface="Malgun Gothic"/>
              </a:rPr>
              <a:t>•  INDEX FULL SCAN — 정렬된 순서를 지켜야 할 때 쓰인다</a:t>
            </a:r>
          </a:p>
          <a:p>
            <a:r>
              <a:rPr sz="1600" b="0">
                <a:solidFill>
                  <a:srgbClr val="5A6672"/>
                </a:solidFill>
                <a:latin typeface="Malgun Gothic"/>
              </a:rPr>
              <a:t>    –  B-Tree의 리프 블록을 논리적인 순서대로 따라 읽는다</a:t>
            </a:r>
          </a:p>
          <a:p>
            <a:r>
              <a:rPr sz="1800" b="0">
                <a:solidFill>
                  <a:srgbClr val="202830"/>
                </a:solidFill>
                <a:latin typeface="Malgun Gothic"/>
              </a:rPr>
              <a:t>•  INDEX FAST FULL SCAN — 결과의 순서가 상관없을 때 쓰인다</a:t>
            </a:r>
          </a:p>
          <a:p>
            <a:r>
              <a:rPr sz="1600" b="0">
                <a:solidFill>
                  <a:srgbClr val="5A6672"/>
                </a:solidFill>
                <a:latin typeface="Malgun Gothic"/>
              </a:rPr>
              <a:t>    –  디스크에 저장된 물리적 순서대로 여러 블록을 한 번에 읽는다</a:t>
            </a:r>
          </a:p>
          <a:p>
            <a:r>
              <a:rPr sz="1600" b="0">
                <a:solidFill>
                  <a:srgbClr val="5A6672"/>
                </a:solidFill>
                <a:latin typeface="Malgun Gothic"/>
              </a:rPr>
              <a:t>    –  같은 테이블인데도 Q1의 Buffers 3,117과 달리 1,891로 끝났다</a:t>
            </a:r>
          </a:p>
        </p:txBody>
      </p:sp>
    </p:spTree>
    <p:extLst>
      <p:ext uri="{BB962C8B-B14F-4D97-AF65-F5344CB8AC3E}">
        <p14:creationId xmlns:p14="http://schemas.microsoft.com/office/powerpoint/2010/main" val="1722030104"/>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Q6 — 조인과 집계가 섞인 실전형</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HOSPITALS(HOSP_ID&lt;=10)와 MEDICAL_CLAIMS 조인 후 병원 유형별 집계</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Rows  | Bytes | Cost(%CPU)|</a:t>
            </a:r>
          </a:p>
          <a:p>
            <a:r>
              <a:rPr sz="1250" b="0">
                <a:solidFill>
                  <a:srgbClr val="E6E6E6"/>
                </a:solidFill>
                <a:latin typeface="Consolas"/>
              </a:rPr>
              <a:t>| 0  | SELECT STATEMENT                   |                |     4 |    84 |   860  (1)|</a:t>
            </a:r>
          </a:p>
          <a:p>
            <a:r>
              <a:rPr sz="1250" b="0">
                <a:solidFill>
                  <a:srgbClr val="E6E6E6"/>
                </a:solidFill>
                <a:latin typeface="Consolas"/>
              </a:rPr>
              <a:t>| 1  |  HASH GROUP BY                     |                |     4 |    84 |   860  (1)|</a:t>
            </a:r>
          </a:p>
          <a:p>
            <a:r>
              <a:rPr sz="1250" b="0">
                <a:solidFill>
                  <a:srgbClr val="E6E6E6"/>
                </a:solidFill>
                <a:latin typeface="Consolas"/>
              </a:rPr>
              <a:t>| 2  |   HASH JOIN                        |                |   292 |  4672 |   858  (1)|</a:t>
            </a:r>
          </a:p>
          <a:p>
            <a:r>
              <a:rPr sz="1250" b="0">
                <a:solidFill>
                  <a:srgbClr val="E6E6E6"/>
                </a:solidFill>
                <a:latin typeface="Consolas"/>
              </a:rPr>
              <a:t>| 3  |    TABLE ACCESS BY INDEX ROWID BATCHED| HOSPITALS   |    10 |   120 |     3  (0)|</a:t>
            </a:r>
          </a:p>
          <a:p>
            <a:r>
              <a:rPr sz="1250" b="0">
                <a:solidFill>
                  <a:srgbClr val="E6E6E6"/>
                </a:solidFill>
                <a:latin typeface="Consolas"/>
              </a:rPr>
              <a:t>| 4  |     INDEX RANGE SCAN               | PK_HOSPITALS   |    10 |       |     2  (0)|</a:t>
            </a:r>
          </a:p>
          <a:p>
            <a:r>
              <a:rPr sz="1250" b="0">
                <a:solidFill>
                  <a:srgbClr val="E6E6E6"/>
                </a:solidFill>
                <a:latin typeface="Consolas"/>
              </a:rPr>
              <a:t>| 5  |    TABLE ACCESS FULL               | MEDICAL_CLAIMS | 29128 |   113K|   855  (1)|</a:t>
            </a:r>
          </a:p>
          <a:p>
            <a:r>
              <a:rPr sz="1250" b="0">
                <a:solidFill>
                  <a:srgbClr val="E6E6E6"/>
                </a:solidFill>
                <a:latin typeface="Consolas"/>
              </a:rPr>
              <a:t> </a:t>
            </a:r>
          </a:p>
          <a:p>
            <a:r>
              <a:rPr sz="1250" b="0">
                <a:solidFill>
                  <a:srgbClr val="E6E6E6"/>
                </a:solidFill>
                <a:latin typeface="Consolas"/>
              </a:rPr>
              <a:t>Predicate Information:</a:t>
            </a:r>
          </a:p>
          <a:p>
            <a:r>
              <a:rPr sz="1250" b="0">
                <a:solidFill>
                  <a:srgbClr val="E6E6E6"/>
                </a:solidFill>
                <a:latin typeface="Consolas"/>
              </a:rPr>
              <a:t>   2 - access("H"."HOSP_ID"="M"."HOSP_ID")</a:t>
            </a:r>
          </a:p>
          <a:p>
            <a:r>
              <a:rPr sz="1250" b="0">
                <a:solidFill>
                  <a:srgbClr val="E6E6E6"/>
                </a:solidFill>
                <a:latin typeface="Consolas"/>
              </a:rPr>
              <a:t>   4 - access("H"."HOSP_ID"&lt;=10)</a:t>
            </a:r>
          </a:p>
          <a:p>
            <a:r>
              <a:rPr sz="1250" b="0">
                <a:solidFill>
                  <a:srgbClr val="E6E6E6"/>
                </a:solidFill>
                <a:latin typeface="Consolas"/>
              </a:rPr>
              <a:t>   5 - filter("M"."HOSP_ID"&lt;=10)</a:t>
            </a:r>
          </a:p>
        </p:txBody>
      </p:sp>
    </p:spTree>
    <p:extLst>
      <p:ext uri="{BB962C8B-B14F-4D97-AF65-F5344CB8AC3E}">
        <p14:creationId xmlns:p14="http://schemas.microsoft.com/office/powerpoint/2010/main" val="96982589"/>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Q6 — 실행 순서와 HASH JOIN의 두 입력</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실행 순서 — 들여쓰기가 깊은 것부터, 같은 레벨이면 아래쪽부터</a:t>
            </a:r>
          </a:p>
          <a:p>
            <a:r>
              <a:rPr sz="1600" b="0">
                <a:solidFill>
                  <a:srgbClr val="5A6672"/>
                </a:solidFill>
                <a:latin typeface="Malgun Gothic"/>
              </a:rPr>
              <a:t>    –  Id 4 INDEX RANGE SCAN → Id 3 TABLE ACCESS BY INDEX ROWID BATCHED</a:t>
            </a:r>
          </a:p>
          <a:p>
            <a:r>
              <a:rPr sz="1600" b="0">
                <a:solidFill>
                  <a:srgbClr val="5A6672"/>
                </a:solidFill>
                <a:latin typeface="Malgun Gothic"/>
              </a:rPr>
              <a:t>    –  Id 5 TABLE ACCESS FULL → Id 2 HASH JOIN → Id 1 HASH GROUP BY → Id 0</a:t>
            </a:r>
          </a:p>
          <a:p>
            <a:r>
              <a:rPr sz="1800" b="0">
                <a:solidFill>
                  <a:srgbClr val="202830"/>
                </a:solidFill>
                <a:latin typeface="Malgun Gothic"/>
              </a:rPr>
              <a:t>•  HASH JOIN은 두 입력을 서로 다른 역할로 쓴다</a:t>
            </a:r>
          </a:p>
          <a:p>
            <a:r>
              <a:rPr sz="1600" b="0">
                <a:solidFill>
                  <a:srgbClr val="5A6672"/>
                </a:solidFill>
                <a:latin typeface="Malgun Gothic"/>
              </a:rPr>
              <a:t>    –  작은 쪽으로 해시 테이블을 메모리에 만든다 (Build)</a:t>
            </a:r>
          </a:p>
          <a:p>
            <a:r>
              <a:rPr sz="1600" b="0">
                <a:solidFill>
                  <a:srgbClr val="5A6672"/>
                </a:solidFill>
                <a:latin typeface="Malgun Gothic"/>
              </a:rPr>
              <a:t>    –  큰 쪽을 한 행씩 그 해시 테이블에 대조한다 (Probe)</a:t>
            </a:r>
          </a:p>
          <a:p>
            <a:r>
              <a:rPr sz="1600" b="0">
                <a:solidFill>
                  <a:srgbClr val="5A6672"/>
                </a:solidFill>
                <a:latin typeface="Malgun Gothic"/>
              </a:rPr>
              <a:t>    –  HOSPITALS Rows 10 vs MEDICAL_CLAIMS Rows 29128 — 작은 쪽이 Build 입력</a:t>
            </a:r>
          </a:p>
          <a:p>
            <a:r>
              <a:rPr sz="1800" b="0">
                <a:solidFill>
                  <a:srgbClr val="202830"/>
                </a:solidFill>
                <a:latin typeface="Malgun Gothic"/>
              </a:rPr>
              <a:t>•  작은 테이블은 인덱스로, 큰 테이블은 인덱스가 없어 Full Scan으로 처리되었다</a:t>
            </a:r>
          </a:p>
        </p:txBody>
      </p:sp>
    </p:spTree>
    <p:extLst>
      <p:ext uri="{BB962C8B-B14F-4D97-AF65-F5344CB8AC3E}">
        <p14:creationId xmlns:p14="http://schemas.microsoft.com/office/powerpoint/2010/main" val="1186925016"/>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요약 (Summary)</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실행계획은 옵티마이저가 SQL 처리 절차를 트리로 표현한 것이며, 노드 하나가 물리적 작업 하나다</a:t>
            </a:r>
          </a:p>
          <a:p>
            <a:r>
              <a:rPr sz="1800" b="0">
                <a:solidFill>
                  <a:srgbClr val="202830"/>
                </a:solidFill>
                <a:latin typeface="Malgun Gothic"/>
              </a:rPr>
              <a:t>•  실행 순서는 들여쓰기가 깊은 것부터, 같은 레벨이면 아래쪽부터다 — Id 번호 순서가 아니다</a:t>
            </a:r>
          </a:p>
          <a:p>
            <a:r>
              <a:rPr sz="1800" b="0">
                <a:solidFill>
                  <a:srgbClr val="202830"/>
                </a:solidFill>
                <a:latin typeface="Malgun Gothic"/>
              </a:rPr>
              <a:t>•  Rows·Cost·Bytes는 실행 전 추정치, A-Rows·Buffers·A-Time은 실행 후 실측치다</a:t>
            </a:r>
          </a:p>
          <a:p>
            <a:r>
              <a:rPr sz="1800" b="0">
                <a:solidFill>
                  <a:srgbClr val="202830"/>
                </a:solidFill>
                <a:latin typeface="Malgun Gothic"/>
              </a:rPr>
              <a:t>•  두 값은 EXPLAIN PLAN과 DBMS_XPLAN.DISPLAY_CURSOR로 각각 확인한다</a:t>
            </a:r>
          </a:p>
          <a:p>
            <a:r>
              <a:rPr sz="1800" b="0">
                <a:solidFill>
                  <a:srgbClr val="202830"/>
                </a:solidFill>
                <a:latin typeface="Malgun Gothic"/>
              </a:rPr>
              <a:t>•  Cost는 무차원 상대 지표로, 같은 SQL의 대안 계획끼리만 비교가 유효하다</a:t>
            </a:r>
          </a:p>
          <a:p>
            <a:r>
              <a:rPr sz="1800" b="0">
                <a:solidFill>
                  <a:srgbClr val="202830"/>
                </a:solidFill>
                <a:latin typeface="Malgun Gothic"/>
              </a:rPr>
              <a:t>•  access는 찾아가는 조건, filter는 가져온 뒤 걸러내는 조건 — 인덱스 유무로 갈린다</a:t>
            </a:r>
          </a:p>
          <a:p>
            <a:r>
              <a:rPr sz="1800" b="0">
                <a:solidFill>
                  <a:srgbClr val="202830"/>
                </a:solidFill>
                <a:latin typeface="Malgun Gothic"/>
              </a:rPr>
              <a:t>•  동일 PK 인덱스도 조건 성격에 따라 UNIQUE·RANGE·FULL·FAST FULL SCAN으로 갈린다</a:t>
            </a:r>
          </a:p>
          <a:p>
            <a:r>
              <a:rPr sz="1800" b="0">
                <a:solidFill>
                  <a:srgbClr val="202830"/>
                </a:solidFill>
                <a:latin typeface="Malgun Gothic"/>
              </a:rPr>
              <a:t>•  E-Rows와 A-Rows 차이가 크면 카디널리티 추정 오류를 의심한다 (ch08에서 대응)</a:t>
            </a:r>
          </a:p>
        </p:txBody>
      </p:sp>
    </p:spTree>
    <p:extLst>
      <p:ext uri="{BB962C8B-B14F-4D97-AF65-F5344CB8AC3E}">
        <p14:creationId xmlns:p14="http://schemas.microsoft.com/office/powerpoint/2010/main" val="3922732978"/>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실습 안내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실습문제 10문항 — ch03_문제.md</a:t>
            </a:r>
          </a:p>
          <a:p>
            <a:r>
              <a:rPr sz="1600" b="0">
                <a:solidFill>
                  <a:srgbClr val="5A6672"/>
                </a:solidFill>
                <a:latin typeface="Malgun Gothic"/>
              </a:rPr>
              <a:t>    –  1~4번  판독 기본기 — filter와 Full Scan, E-Rows와 A-Rows, UNIQUE와 RANGE</a:t>
            </a:r>
          </a:p>
          <a:p>
            <a:r>
              <a:rPr sz="1600" b="0">
                <a:solidFill>
                  <a:srgbClr val="5A6672"/>
                </a:solidFill>
                <a:latin typeface="Malgun Gothic"/>
              </a:rPr>
              <a:t>    –  5~8번  심화 판독 — WINDOW NOSORT STOPKEY, FAST FULL SCAN, 실행 순서, access와 filter</a:t>
            </a:r>
          </a:p>
          <a:p>
            <a:r>
              <a:rPr sz="1600" b="0">
                <a:solidFill>
                  <a:srgbClr val="5A6672"/>
                </a:solidFill>
                <a:latin typeface="Malgun Gothic"/>
              </a:rPr>
              <a:t>    –  9~10번  종합 적용 — Cost 비교의 한계, 데이터가 커질 때 위험해질 시나리오 예측</a:t>
            </a:r>
          </a:p>
          <a:p>
            <a:r>
              <a:rPr sz="1800" b="0">
                <a:solidFill>
                  <a:srgbClr val="202830"/>
                </a:solidFill>
                <a:latin typeface="Malgun Gothic"/>
              </a:rPr>
              <a:t>•  문항 구성은 판독 기본기 → 심화 판독 → 종합 적용 순으로 이어진다</a:t>
            </a:r>
          </a:p>
          <a:p>
            <a:r>
              <a:rPr sz="1800" b="0">
                <a:solidFill>
                  <a:srgbClr val="202830"/>
                </a:solidFill>
                <a:latin typeface="Malgun Gothic"/>
              </a:rPr>
              <a:t>•  실습 전 확인 — 이번 장은 인덱스를 신규 생성하지 않는다</a:t>
            </a:r>
          </a:p>
          <a:p>
            <a:r>
              <a:rPr sz="1600" b="0">
                <a:solidFill>
                  <a:srgbClr val="5A6672"/>
                </a:solidFill>
                <a:latin typeface="Malgun Gothic"/>
              </a:rPr>
              <a:t>    –  기존 PK 인덱스만으로 모든 문항을 풀 수 있다</a:t>
            </a:r>
          </a:p>
          <a:p>
            <a:r>
              <a:rPr sz="1600" b="0">
                <a:solidFill>
                  <a:srgbClr val="5A6672"/>
                </a:solidFill>
                <a:latin typeface="Malgun Gothic"/>
              </a:rPr>
              <a:t>    –  인덱스나 통계를 임의로 바꾸면 교안의 실행계획이 재현되지 않는다</a:t>
            </a:r>
          </a:p>
        </p:txBody>
      </p:sp>
    </p:spTree>
    <p:extLst>
      <p:ext uri="{BB962C8B-B14F-4D97-AF65-F5344CB8AC3E}">
        <p14:creationId xmlns:p14="http://schemas.microsoft.com/office/powerpoint/2010/main" val="4067485559"/>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Rectangle 1"/>
          <p:cNvSpPr/>
          <p:nvPr/>
        </p:nvSpPr>
        <p:spPr>
          <a:xfrm>
            <a:off x="822960" y="2331720"/>
            <a:ext cx="164592"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88720" y="1463040"/>
            <a:ext cx="10058400" cy="369332"/>
          </a:xfrm>
          <a:prstGeom prst="rect">
            <a:avLst/>
          </a:prstGeom>
          <a:noFill/>
        </p:spPr>
        <p:txBody>
          <a:bodyPr wrap="square">
            <a:spAutoFit/>
          </a:bodyPr>
          <a:lstStyle/>
          <a:p>
            <a:r>
              <a:rPr sz="1800" b="1">
                <a:solidFill>
                  <a:srgbClr val="C0392B"/>
                </a:solidFill>
                <a:latin typeface="Malgun Gothic"/>
              </a:rPr>
              <a:t>Oracle SQL 튜닝 과정  ·  ch04</a:t>
            </a:r>
          </a:p>
        </p:txBody>
      </p:sp>
      <p:sp>
        <p:nvSpPr>
          <p:cNvPr id="4" name="TextBox 3"/>
          <p:cNvSpPr txBox="1"/>
          <p:nvPr/>
        </p:nvSpPr>
        <p:spPr>
          <a:xfrm>
            <a:off x="1188720" y="2194560"/>
            <a:ext cx="10332720" cy="2011680"/>
          </a:xfrm>
          <a:prstGeom prst="rect">
            <a:avLst/>
          </a:prstGeom>
          <a:noFill/>
        </p:spPr>
        <p:txBody>
          <a:bodyPr wrap="square">
            <a:spAutoFit/>
          </a:bodyPr>
          <a:lstStyle/>
          <a:p>
            <a:r>
              <a:rPr sz="4400" b="1">
                <a:solidFill>
                  <a:srgbClr val="FFFFFF"/>
                </a:solidFill>
                <a:latin typeface="Malgun Gothic"/>
              </a:rPr>
              <a:t>SQL 성능 측정</a:t>
            </a:r>
          </a:p>
        </p:txBody>
      </p:sp>
      <p:sp>
        <p:nvSpPr>
          <p:cNvPr id="5" name="TextBox 4"/>
          <p:cNvSpPr txBox="1"/>
          <p:nvPr/>
        </p:nvSpPr>
        <p:spPr>
          <a:xfrm>
            <a:off x="1188720" y="4297680"/>
            <a:ext cx="10058400" cy="1097280"/>
          </a:xfrm>
          <a:prstGeom prst="rect">
            <a:avLst/>
          </a:prstGeom>
          <a:noFill/>
        </p:spPr>
        <p:txBody>
          <a:bodyPr wrap="square">
            <a:spAutoFit/>
          </a:bodyPr>
          <a:lstStyle/>
          <a:p>
            <a:r>
              <a:rPr sz="1800" b="0">
                <a:solidFill>
                  <a:srgbClr val="C5CED6"/>
                </a:solidFill>
                <a:latin typeface="Malgun Gothic"/>
              </a:rPr>
              <a:t>EXPLAIN PLAN vs DISPLAY_CURSOR · A-Rows / A-Time / Buffers / Reads · Logical I/O vs Physical I/O · 콜드 캐시와 웜 캐시</a:t>
            </a:r>
          </a:p>
        </p:txBody>
      </p:sp>
    </p:spTree>
    <p:extLst>
      <p:ext uri="{BB962C8B-B14F-4D97-AF65-F5344CB8AC3E}">
        <p14:creationId xmlns:p14="http://schemas.microsoft.com/office/powerpoint/2010/main" val="2981867681"/>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학습 목표 (Objectives)</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 장을 마치면 다음을 수행할 수 있어야 한다.</a:t>
            </a:r>
          </a:p>
          <a:p>
            <a:r>
              <a:rPr sz="1600" b="0">
                <a:solidFill>
                  <a:srgbClr val="5A6672"/>
                </a:solidFill>
                <a:latin typeface="Malgun Gothic"/>
              </a:rPr>
              <a:t>    –  EXPLAIN PLAN(추정)과 DISPLAY_CURSOR(실측)의 차이를 설명한다</a:t>
            </a:r>
          </a:p>
          <a:p>
            <a:r>
              <a:rPr sz="1600" b="0">
                <a:solidFill>
                  <a:srgbClr val="5A6672"/>
                </a:solidFill>
                <a:latin typeface="Malgun Gothic"/>
              </a:rPr>
              <a:t>    –  DBMS_XPLAN.DISPLAY_CURSOR(...'ALLSTATS LAST')로 실행 통계를 조회한다</a:t>
            </a:r>
          </a:p>
          <a:p>
            <a:r>
              <a:rPr sz="1600" b="0">
                <a:solidFill>
                  <a:srgbClr val="5A6672"/>
                </a:solidFill>
                <a:latin typeface="Malgun Gothic"/>
              </a:rPr>
              <a:t>    –  E-Rows / A-Rows / A-Time / Buffers / Reads가 각각 무엇을 세는지 구분한다</a:t>
            </a:r>
          </a:p>
          <a:p>
            <a:r>
              <a:rPr sz="1600" b="0">
                <a:solidFill>
                  <a:srgbClr val="5A6672"/>
                </a:solidFill>
                <a:latin typeface="Malgun Gothic"/>
              </a:rPr>
              <a:t>    –  Logical I/O와 Physical I/O의 차이를 정의한다</a:t>
            </a:r>
          </a:p>
          <a:p>
            <a:r>
              <a:rPr sz="1600" b="0">
                <a:solidFill>
                  <a:srgbClr val="5A6672"/>
                </a:solidFill>
                <a:latin typeface="Malgun Gothic"/>
              </a:rPr>
              <a:t>    –  Buffers ≥ Reads라는 부등식이 항상 성립하는 이유를 설명한다</a:t>
            </a:r>
          </a:p>
          <a:p>
            <a:r>
              <a:rPr sz="1600" b="0">
                <a:solidFill>
                  <a:srgbClr val="5A6672"/>
                </a:solidFill>
                <a:latin typeface="Malgun Gothic"/>
              </a:rPr>
              <a:t>    –  같은 Buffers에서도 소요 시간이 크게 달라질 수 있는 이유를 실측으로 설명한다</a:t>
            </a:r>
          </a:p>
          <a:p>
            <a:r>
              <a:rPr sz="1600" b="0">
                <a:solidFill>
                  <a:srgbClr val="5A6672"/>
                </a:solidFill>
                <a:latin typeface="Malgun Gothic"/>
              </a:rPr>
              <a:t>    –  캐시 예열 효과를 배제한 측정 절차를 설계한다</a:t>
            </a:r>
          </a:p>
          <a:p>
            <a:r>
              <a:rPr sz="1600" b="0">
                <a:solidFill>
                  <a:srgbClr val="5A6672"/>
                </a:solidFill>
                <a:latin typeface="Malgun Gothic"/>
              </a:rPr>
              <a:t>    –  개발 환경의 반복 테스트 결과를 운영 성능으로 단정할 수 없는 이유를 반박한다</a:t>
            </a:r>
          </a:p>
          <a:p>
            <a:r>
              <a:rPr sz="1600" b="0">
                <a:solidFill>
                  <a:srgbClr val="5A6672"/>
                </a:solidFill>
                <a:latin typeface="Malgun Gothic"/>
              </a:rPr>
              <a:t>    –  SQL 진단 시 최소한 확인해야 할 지표 목록을 스스로 정리한다</a:t>
            </a:r>
          </a:p>
        </p:txBody>
      </p:sp>
    </p:spTree>
    <p:extLst>
      <p:ext uri="{BB962C8B-B14F-4D97-AF65-F5344CB8AC3E}">
        <p14:creationId xmlns:p14="http://schemas.microsoft.com/office/powerpoint/2010/main" val="2565241842"/>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장의 구성 (Agenda)</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14.1  Why — 무엇을 근거로 빨라졌다고 말할 것인가</a:t>
            </a:r>
          </a:p>
          <a:p>
            <a:r>
              <a:rPr sz="1800" b="0">
                <a:solidFill>
                  <a:srgbClr val="202830"/>
                </a:solidFill>
                <a:latin typeface="Malgun Gothic"/>
              </a:rPr>
              <a:t>•  14.2  Concept — 측정 도구와 실행 통계 지표</a:t>
            </a:r>
          </a:p>
          <a:p>
            <a:r>
              <a:rPr sz="1800" b="0">
                <a:solidFill>
                  <a:srgbClr val="202830"/>
                </a:solidFill>
                <a:latin typeface="Malgun Gothic"/>
              </a:rPr>
              <a:t>•  14.3  Oracle Internals — Buffers와 Reads는 서로 다른 것을 센다</a:t>
            </a:r>
          </a:p>
          <a:p>
            <a:r>
              <a:rPr sz="1800" b="0">
                <a:solidFill>
                  <a:srgbClr val="202830"/>
                </a:solidFill>
                <a:latin typeface="Malgun Gothic"/>
              </a:rPr>
              <a:t>•  14.4  Example — 버퍼 캐시를 비우고 같은 쿼리를 두 번</a:t>
            </a:r>
          </a:p>
          <a:p>
            <a:r>
              <a:rPr sz="1800" b="0">
                <a:solidFill>
                  <a:srgbClr val="202830"/>
                </a:solidFill>
                <a:latin typeface="Malgun Gothic"/>
              </a:rPr>
              <a:t>•  14.5  Execution Plan — 콜드 캐시 vs 웜 캐시 실측</a:t>
            </a:r>
          </a:p>
          <a:p>
            <a:r>
              <a:rPr sz="1800" b="0">
                <a:solidFill>
                  <a:srgbClr val="202830"/>
                </a:solidFill>
                <a:latin typeface="Malgun Gothic"/>
              </a:rPr>
              <a:t>•  14.6  Bad SQL — Buffers만 보고 튜닝했다면</a:t>
            </a:r>
          </a:p>
          <a:p>
            <a:r>
              <a:rPr sz="1800" b="0">
                <a:solidFill>
                  <a:srgbClr val="202830"/>
                </a:solidFill>
                <a:latin typeface="Malgun Gothic"/>
              </a:rPr>
              <a:t>•  14.7  Tuning · Benchmark — 실무에서 이 차이가 중요한 이유</a:t>
            </a:r>
          </a:p>
          <a:p>
            <a:r>
              <a:rPr sz="1800" b="0">
                <a:solidFill>
                  <a:srgbClr val="202830"/>
                </a:solidFill>
                <a:latin typeface="Malgun Gothic"/>
              </a:rPr>
              <a:t>•  14.8~14.9  실습 안내 · 요약 (Review) — 14개 챕터 총정리</a:t>
            </a:r>
          </a:p>
        </p:txBody>
      </p:sp>
    </p:spTree>
    <p:extLst>
      <p:ext uri="{BB962C8B-B14F-4D97-AF65-F5344CB8AC3E}">
        <p14:creationId xmlns:p14="http://schemas.microsoft.com/office/powerpoint/2010/main" val="2134231419"/>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107996"/>
          </a:xfrm>
          <a:prstGeom prst="rect">
            <a:avLst/>
          </a:prstGeom>
          <a:noFill/>
        </p:spPr>
        <p:txBody>
          <a:bodyPr wrap="square">
            <a:spAutoFit/>
          </a:bodyPr>
          <a:lstStyle/>
          <a:p>
            <a:r>
              <a:rPr sz="6600" b="1" dirty="0">
                <a:solidFill>
                  <a:srgbClr val="C0392B"/>
                </a:solidFill>
                <a:latin typeface="Malgun Gothic"/>
              </a:rPr>
              <a:t>4.1</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무엇을 근거로 빨라졌다고 말할 것인가</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열세 개 챕터가 계속 써 온 지표, Buffers</a:t>
            </a:r>
          </a:p>
          <a:p>
            <a:r>
              <a:rPr sz="1600" b="0">
                <a:solidFill>
                  <a:srgbClr val="C5CED6"/>
                </a:solidFill>
                <a:latin typeface="Malgun Gothic"/>
              </a:rPr>
              <a:t>•  그런데 이미 여러 번 만난 'Buffers만으론 안 보이는 비용'</a:t>
            </a:r>
          </a:p>
          <a:p>
            <a:r>
              <a:rPr sz="1600" b="0">
                <a:solidFill>
                  <a:srgbClr val="C5CED6"/>
                </a:solidFill>
                <a:latin typeface="Malgun Gothic"/>
              </a:rPr>
              <a:t>•  이 차시의 실험 설계와 안전 범위</a:t>
            </a:r>
          </a:p>
        </p:txBody>
      </p:sp>
    </p:spTree>
    <p:extLst>
      <p:ext uri="{BB962C8B-B14F-4D97-AF65-F5344CB8AC3E}">
        <p14:creationId xmlns:p14="http://schemas.microsoft.com/office/powerpoint/2010/main" val="1252496968"/>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열세 개 챕터가 남긴 하나의 질문</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 과정은 ch01부터 Buffers를 핵심 지표로 계속 사용해 왔다</a:t>
            </a:r>
          </a:p>
          <a:p>
            <a:r>
              <a:rPr sz="1600" b="0">
                <a:solidFill>
                  <a:srgbClr val="5A6672"/>
                </a:solidFill>
                <a:latin typeface="Malgun Gothic"/>
              </a:rPr>
              <a:t>    –  인덱스 설계, SARGable, 조인, 서브쿼리, 페이징 — 모든 개선의 성적표가 Buffers였다</a:t>
            </a:r>
          </a:p>
          <a:p>
            <a:r>
              <a:rPr sz="1600" b="0">
                <a:solidFill>
                  <a:srgbClr val="5A6672"/>
                </a:solidFill>
                <a:latin typeface="Malgun Gothic"/>
              </a:rPr>
              <a:t>    –  Buffers는 데이터 규모·동시성과 무관하게 SQL 자체의 효율을 보여 주는 지표이기 때문</a:t>
            </a:r>
          </a:p>
          <a:p>
            <a:r>
              <a:rPr sz="1800" b="0">
                <a:solidFill>
                  <a:srgbClr val="202830"/>
                </a:solidFill>
                <a:latin typeface="Malgun Gothic"/>
              </a:rPr>
              <a:t>•  그런데 ch11·ch13에서 이미 "Buffers만으로는 안 보이는 비용"을 여러 번 확인했다</a:t>
            </a:r>
          </a:p>
          <a:p>
            <a:r>
              <a:rPr sz="1600" b="0">
                <a:solidFill>
                  <a:srgbClr val="5A6672"/>
                </a:solidFill>
                <a:latin typeface="Malgun Gothic"/>
              </a:rPr>
              <a:t>    –  Buffers는 거의 같은데 A-Time은 확연히 달라지는 사례들</a:t>
            </a:r>
          </a:p>
          <a:p>
            <a:r>
              <a:rPr sz="1800" b="0">
                <a:solidFill>
                  <a:srgbClr val="202830"/>
                </a:solidFill>
                <a:latin typeface="Malgun Gothic"/>
              </a:rPr>
              <a:t>•  본 차시는 그중 가장 근본적인 것을 정면으로 다룬다</a:t>
            </a:r>
          </a:p>
          <a:p>
            <a:r>
              <a:rPr sz="1600" b="0">
                <a:solidFill>
                  <a:srgbClr val="5A6672"/>
                </a:solidFill>
                <a:latin typeface="Malgun Gothic"/>
              </a:rPr>
              <a:t>    –  Buffers(논리적 I/O)와 실제 디스크 접근(물리적 I/O)의 차이</a:t>
            </a:r>
          </a:p>
          <a:p>
            <a:r>
              <a:rPr sz="1600" b="0">
                <a:solidFill>
                  <a:srgbClr val="5A6672"/>
                </a:solidFill>
                <a:latin typeface="Malgun Gothic"/>
              </a:rPr>
              <a:t>    –  이 차이를 통제된 실험으로 직접 확인하고, 과정에서 배운 측정 도구를 총정리한다</a:t>
            </a:r>
          </a:p>
        </p:txBody>
      </p:sp>
    </p:spTree>
    <p:extLst>
      <p:ext uri="{BB962C8B-B14F-4D97-AF65-F5344CB8AC3E}">
        <p14:creationId xmlns:p14="http://schemas.microsoft.com/office/powerpoint/2010/main" val="3060292198"/>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이미 여러 번 만난 'Buffers만으론 안 보이는 비용'</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ch01 — IN vs EXISTS</a:t>
            </a:r>
          </a:p>
          <a:p>
            <a:r>
              <a:rPr sz="1600" b="0">
                <a:solidFill>
                  <a:srgbClr val="5A6672"/>
                </a:solidFill>
                <a:latin typeface="Malgun Gothic"/>
              </a:rPr>
              <a:t>    –  실행계획이 완전히 동일한데 A-Time만 크게 달랐던 사례</a:t>
            </a:r>
          </a:p>
          <a:p>
            <a:r>
              <a:rPr sz="1600" b="0">
                <a:solidFill>
                  <a:srgbClr val="5A6672"/>
                </a:solidFill>
                <a:latin typeface="Malgun Gothic"/>
              </a:rPr>
              <a:t>    –  당시에는 "캐시 효과"라고만 정리하고 근본 원인은 뒤로 미뤄 두었다</a:t>
            </a:r>
          </a:p>
          <a:p>
            <a:r>
              <a:rPr sz="1800" b="0">
                <a:solidFill>
                  <a:srgbClr val="202830"/>
                </a:solidFill>
                <a:latin typeface="Malgun Gothic"/>
              </a:rPr>
              <a:t>•  ch11 — SORT UNIQUE</a:t>
            </a:r>
          </a:p>
          <a:p>
            <a:r>
              <a:rPr sz="1600" b="0">
                <a:solidFill>
                  <a:srgbClr val="5A6672"/>
                </a:solidFill>
                <a:latin typeface="Malgun Gothic"/>
              </a:rPr>
              <a:t>    –  Buffers 수치에 잡히지 않는 정렬·중복 제거 비용</a:t>
            </a:r>
          </a:p>
          <a:p>
            <a:r>
              <a:rPr sz="1800" b="0">
                <a:solidFill>
                  <a:srgbClr val="202830"/>
                </a:solidFill>
                <a:latin typeface="Malgun Gothic"/>
              </a:rPr>
              <a:t>•  ch13 — WINDOW SORT PUSHED RANK</a:t>
            </a:r>
          </a:p>
          <a:p>
            <a:r>
              <a:rPr sz="1600" b="0">
                <a:solidFill>
                  <a:srgbClr val="5A6672"/>
                </a:solidFill>
                <a:latin typeface="Malgun Gothic"/>
              </a:rPr>
              <a:t>    –  역시 Buffers 밖에서 발생하는 비용</a:t>
            </a:r>
          </a:p>
          <a:p>
            <a:r>
              <a:rPr sz="1800" b="0">
                <a:solidFill>
                  <a:srgbClr val="202830"/>
                </a:solidFill>
                <a:latin typeface="Malgun Gothic"/>
              </a:rPr>
              <a:t>•  이 장에서 다루는 것은 그 목록 중 가장 근본적인 항목이다</a:t>
            </a:r>
          </a:p>
          <a:p>
            <a:r>
              <a:rPr sz="1600" b="0">
                <a:solidFill>
                  <a:srgbClr val="5A6672"/>
                </a:solidFill>
                <a:latin typeface="Malgun Gothic"/>
              </a:rPr>
              <a:t>    –  메모리에서 읽었는가, 디스크까지 갔는가 — 같은 Buffers라도 실제 비용이 다르다</a:t>
            </a:r>
          </a:p>
        </p:txBody>
      </p:sp>
    </p:spTree>
    <p:extLst>
      <p:ext uri="{BB962C8B-B14F-4D97-AF65-F5344CB8AC3E}">
        <p14:creationId xmlns:p14="http://schemas.microsoft.com/office/powerpoint/2010/main" val="1053751383"/>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차시의 실험 설계와 안전 범위</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소재: 같은 쿼리를 캐시 상태만 바꿔 두 번 실행한다</a:t>
            </a:r>
          </a:p>
          <a:p>
            <a:r>
              <a:rPr sz="1600" b="0">
                <a:solidFill>
                  <a:srgbClr val="5A6672"/>
                </a:solidFill>
                <a:latin typeface="Malgun Gothic"/>
              </a:rPr>
              <a:t>    –  버퍼 캐시가 빈 상태(콜드)와 채워진 상태(웜)에서 각각 실행</a:t>
            </a:r>
          </a:p>
          <a:p>
            <a:r>
              <a:rPr sz="1600" b="0">
                <a:solidFill>
                  <a:srgbClr val="5A6672"/>
                </a:solidFill>
                <a:latin typeface="Malgun Gothic"/>
              </a:rPr>
              <a:t>    –  Logical I/O(Buffers)와 Physical I/O(Reads)의 차이를 직접 확인</a:t>
            </a:r>
          </a:p>
          <a:p>
            <a:r>
              <a:rPr sz="1800" b="0">
                <a:solidFill>
                  <a:srgbClr val="202830"/>
                </a:solidFill>
                <a:latin typeface="Malgun Gothic"/>
              </a:rPr>
              <a:t>•  캐시를 비우는 작업은 SYSDBA 권한으로 수행한다</a:t>
            </a:r>
          </a:p>
          <a:p>
            <a:r>
              <a:rPr sz="1600" b="0">
                <a:solidFill>
                  <a:srgbClr val="5A6672"/>
                </a:solidFill>
                <a:latin typeface="Malgun Gothic"/>
              </a:rPr>
              <a:t>    –  ALTER SYSTEM FLUSH BUFFER_CACHE — 인스턴스 레벨 작업</a:t>
            </a:r>
          </a:p>
          <a:p>
            <a:r>
              <a:rPr sz="1600" b="0">
                <a:solidFill>
                  <a:srgbClr val="5A6672"/>
                </a:solidFill>
                <a:latin typeface="Malgun Gothic"/>
              </a:rPr>
              <a:t>    –  SQLT 계정의 객체·데이터에는 영향이 없고 DDL 변경도 없다</a:t>
            </a:r>
          </a:p>
          <a:p>
            <a:r>
              <a:rPr sz="1800" b="0">
                <a:solidFill>
                  <a:srgbClr val="202830"/>
                </a:solidFill>
                <a:latin typeface="Malgun Gothic"/>
              </a:rPr>
              <a:t>•  왜 굳이 강제로 비우는가</a:t>
            </a:r>
          </a:p>
          <a:p>
            <a:r>
              <a:rPr sz="1600" b="0">
                <a:solidFill>
                  <a:srgbClr val="5A6672"/>
                </a:solidFill>
                <a:latin typeface="Malgun Gothic"/>
              </a:rPr>
              <a:t>    –  평소에는 캐시 상태를 통제할 수 없어 두 조건을 나란히 비교할 수 없기 때문</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ALTER SYSTEM FLUSH BUFFER_CACHE는 인스턴스 전체의 버퍼 캐시를 비우므로, 같은 DB를 쓰는 다른 세션의 응답 시간도 함께 나빠진다. 운영 DB에서는 실행하지 않는다.</a:t>
            </a:r>
          </a:p>
        </p:txBody>
      </p:sp>
    </p:spTree>
    <p:extLst>
      <p:ext uri="{BB962C8B-B14F-4D97-AF65-F5344CB8AC3E}">
        <p14:creationId xmlns:p14="http://schemas.microsoft.com/office/powerpoint/2010/main" val="2167603603"/>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107996"/>
          </a:xfrm>
          <a:prstGeom prst="rect">
            <a:avLst/>
          </a:prstGeom>
          <a:noFill/>
        </p:spPr>
        <p:txBody>
          <a:bodyPr wrap="square">
            <a:spAutoFit/>
          </a:bodyPr>
          <a:lstStyle/>
          <a:p>
            <a:r>
              <a:rPr sz="6600" b="1" dirty="0">
                <a:solidFill>
                  <a:srgbClr val="C0392B"/>
                </a:solidFill>
                <a:latin typeface="Malgun Gothic"/>
              </a:rPr>
              <a:t>4.2</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측정 도구와 실행 통계 지표</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추정과 실측 — 두 갈래 도구</a:t>
            </a:r>
          </a:p>
          <a:p>
            <a:r>
              <a:rPr sz="1600" b="0">
                <a:solidFill>
                  <a:srgbClr val="C5CED6"/>
                </a:solidFill>
                <a:latin typeface="Malgun Gothic"/>
              </a:rPr>
              <a:t>•  EXPLAIN PLAN / DBMS_XPLAN.DISPLAY</a:t>
            </a:r>
          </a:p>
          <a:p>
            <a:r>
              <a:rPr sz="1600" b="0">
                <a:solidFill>
                  <a:srgbClr val="C5CED6"/>
                </a:solidFill>
                <a:latin typeface="Malgun Gothic"/>
              </a:rPr>
              <a:t>•  DBMS_XPLAN.DISPLAY_CURSOR(...'ALLSTATS LAST')</a:t>
            </a:r>
          </a:p>
          <a:p>
            <a:r>
              <a:rPr sz="1600" b="0">
                <a:solidFill>
                  <a:srgbClr val="C5CED6"/>
                </a:solidFill>
                <a:latin typeface="Malgun Gothic"/>
              </a:rPr>
              <a:t>•  E-Rows · A-Rows · A-Time · Buffers · Reads</a:t>
            </a:r>
          </a:p>
        </p:txBody>
      </p:sp>
    </p:spTree>
    <p:extLst>
      <p:ext uri="{BB962C8B-B14F-4D97-AF65-F5344CB8AC3E}">
        <p14:creationId xmlns:p14="http://schemas.microsoft.com/office/powerpoint/2010/main" val="1096438568"/>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추정과 실측 — 도구는 두 갈래다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EXPLAIN PLAN — 실행하지 않는다</a:t>
            </a:r>
          </a:p>
          <a:p>
            <a:r>
              <a:rPr sz="1600" b="0">
                <a:solidFill>
                  <a:srgbClr val="5A6672"/>
                </a:solidFill>
                <a:latin typeface="Malgun Gothic"/>
              </a:rPr>
              <a:t>    –  SQL을 실제로 돌리지 않고 옵티마이저의 예상 계획만 산출한다</a:t>
            </a:r>
          </a:p>
          <a:p>
            <a:r>
              <a:rPr sz="1600" b="0">
                <a:solidFill>
                  <a:srgbClr val="5A6672"/>
                </a:solidFill>
                <a:latin typeface="Malgun Gothic"/>
              </a:rPr>
              <a:t>    –  결과는 Rows / Cost / Bytes 등 전부 추정치</a:t>
            </a:r>
          </a:p>
          <a:p>
            <a:r>
              <a:rPr sz="1600" b="0">
                <a:solidFill>
                  <a:srgbClr val="5A6672"/>
                </a:solidFill>
                <a:latin typeface="Malgun Gothic"/>
              </a:rPr>
              <a:t>    –  DBMS_XPLAN.DISPLAY로 저장된 계획을 보기 좋게 출력한다</a:t>
            </a:r>
          </a:p>
          <a:p>
            <a:r>
              <a:rPr sz="1800" b="0">
                <a:solidFill>
                  <a:srgbClr val="202830"/>
                </a:solidFill>
                <a:latin typeface="Malgun Gothic"/>
              </a:rPr>
              <a:t>•  DBMS_XPLAN.DISPLAY_CURSOR(...'ALLSTATS LAST') — 실행한다</a:t>
            </a:r>
          </a:p>
          <a:p>
            <a:r>
              <a:rPr sz="1600" b="0">
                <a:solidFill>
                  <a:srgbClr val="5A6672"/>
                </a:solidFill>
                <a:latin typeface="Malgun Gothic"/>
              </a:rPr>
              <a:t>    –  SQL을 실제로 실행한 뒤 그 실행 통계를 조회한다</a:t>
            </a:r>
          </a:p>
          <a:p>
            <a:r>
              <a:rPr sz="1600" b="0">
                <a:solidFill>
                  <a:srgbClr val="5A6672"/>
                </a:solidFill>
                <a:latin typeface="Malgun Gothic"/>
              </a:rPr>
              <a:t>    –  결과는 E-Rows / A-Rows / A-Time / Buffers / Reads 등 실측값</a:t>
            </a:r>
          </a:p>
          <a:p>
            <a:r>
              <a:rPr sz="1800" b="0">
                <a:solidFill>
                  <a:srgbClr val="202830"/>
                </a:solidFill>
                <a:latin typeface="Malgun Gothic"/>
              </a:rPr>
              <a:t>•  이 구분은 ch02부터 계속 사용해 온 원칙이다</a:t>
            </a:r>
          </a:p>
          <a:p>
            <a:r>
              <a:rPr sz="1600" b="0">
                <a:solidFill>
                  <a:srgbClr val="5A6672"/>
                </a:solidFill>
                <a:latin typeface="Malgun Gothic"/>
              </a:rPr>
              <a:t>    –  두 도구는 대체 관계가 아니라 용도가 다른 도구다</a:t>
            </a:r>
          </a:p>
        </p:txBody>
      </p:sp>
    </p:spTree>
    <p:extLst>
      <p:ext uri="{BB962C8B-B14F-4D97-AF65-F5344CB8AC3E}">
        <p14:creationId xmlns:p14="http://schemas.microsoft.com/office/powerpoint/2010/main" val="194587028"/>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추정 — EXPLAIN PLAN + DBMS_XPLAN.DISPLAY</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실행하지 않고 옵티마이저의 예상 계획만 얻는다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-- 1) 실행하지 않고 옵티마이저의 예상 계획만 산출한다</a:t>
            </a:r>
          </a:p>
          <a:p>
            <a:r>
              <a:rPr sz="1250" b="0">
                <a:solidFill>
                  <a:srgbClr val="E6E6E6"/>
                </a:solidFill>
                <a:latin typeface="Consolas"/>
              </a:rPr>
              <a:t>EXPLAIN PLAN FOR</a:t>
            </a:r>
          </a:p>
          <a:p>
            <a:r>
              <a:rPr sz="1250" b="0">
                <a:solidFill>
                  <a:srgbClr val="E6E6E6"/>
                </a:solidFill>
                <a:latin typeface="Consolas"/>
              </a:rPr>
              <a:t>SELECT claim_id, total_amt</a:t>
            </a:r>
          </a:p>
          <a:p>
            <a:r>
              <a:rPr sz="1250" b="0">
                <a:solidFill>
                  <a:srgbClr val="E6E6E6"/>
                </a:solidFill>
                <a:latin typeface="Consolas"/>
              </a:rPr>
              <a:t>  FROM medical_claims</a:t>
            </a:r>
          </a:p>
          <a:p>
            <a:r>
              <a:rPr sz="1250" b="0">
                <a:solidFill>
                  <a:srgbClr val="E6E6E6"/>
                </a:solidFill>
                <a:latin typeface="Consolas"/>
              </a:rPr>
              <a:t>  WHERE claim_id BETWEEN '20240601-0000000' AND '20240602-0000000';</a:t>
            </a:r>
          </a:p>
          <a:p>
            <a:r>
              <a:rPr sz="1250" b="0">
                <a:solidFill>
                  <a:srgbClr val="E6E6E6"/>
                </a:solidFill>
                <a:latin typeface="Consolas"/>
              </a:rPr>
              <a:t> </a:t>
            </a:r>
          </a:p>
          <a:p>
            <a:r>
              <a:rPr sz="1250" b="0">
                <a:solidFill>
                  <a:srgbClr val="7EC699"/>
                </a:solidFill>
                <a:latin typeface="Consolas"/>
              </a:rPr>
              <a:t>-- 2) 저장된 계획을 보기 좋게 출력한다</a:t>
            </a:r>
          </a:p>
          <a:p>
            <a:r>
              <a:rPr sz="1250" b="0">
                <a:solidFill>
                  <a:srgbClr val="E6E6E6"/>
                </a:solidFill>
                <a:latin typeface="Consolas"/>
              </a:rPr>
              <a:t>SELECT * FROM TABLE(DBMS_XPLAN.DISPLAY);</a:t>
            </a:r>
          </a:p>
          <a:p>
            <a:r>
              <a:rPr sz="1250" b="0">
                <a:solidFill>
                  <a:srgbClr val="E6E6E6"/>
                </a:solidFill>
                <a:latin typeface="Consolas"/>
              </a:rPr>
              <a:t> </a:t>
            </a:r>
          </a:p>
          <a:p>
            <a:r>
              <a:rPr sz="1250" b="0">
                <a:solidFill>
                  <a:srgbClr val="7EC699"/>
                </a:solidFill>
                <a:latin typeface="Consolas"/>
              </a:rPr>
              <a:t>-- 얻는 것    : Rows / Bytes / Cost  -&gt; 전부 옵티마이저의 추정치</a:t>
            </a:r>
          </a:p>
          <a:p>
            <a:r>
              <a:rPr sz="1250" b="0">
                <a:solidFill>
                  <a:srgbClr val="7EC699"/>
                </a:solidFill>
                <a:latin typeface="Consolas"/>
              </a:rPr>
              <a:t>-- 얻지 못함  : A-Rows / A-Time / Buffers / Reads (실행해야 나오는 값)</a:t>
            </a:r>
          </a:p>
        </p:txBody>
      </p:sp>
    </p:spTree>
    <p:extLst>
      <p:ext uri="{BB962C8B-B14F-4D97-AF65-F5344CB8AC3E}">
        <p14:creationId xmlns:p14="http://schemas.microsoft.com/office/powerpoint/2010/main" val="1437771799"/>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실측 — GATHER_PLAN_STATISTICS + DISPLAY_CURSOR</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실제로 실행한 뒤 그 실행 통계를 조회한다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-- 1) 실행 통계를 수집하도록 힌트를 준다</a:t>
            </a:r>
          </a:p>
          <a:p>
            <a:r>
              <a:rPr sz="1250" b="0">
                <a:solidFill>
                  <a:srgbClr val="E6E6E6"/>
                </a:solidFill>
                <a:latin typeface="Consolas"/>
              </a:rPr>
              <a:t>SELECT /*+ GATHER_PLAN_STATISTICS */ claim_id, total_amt</a:t>
            </a:r>
          </a:p>
          <a:p>
            <a:r>
              <a:rPr sz="1250" b="0">
                <a:solidFill>
                  <a:srgbClr val="E6E6E6"/>
                </a:solidFill>
                <a:latin typeface="Consolas"/>
              </a:rPr>
              <a:t>  FROM medical_claims</a:t>
            </a:r>
          </a:p>
          <a:p>
            <a:r>
              <a:rPr sz="1250" b="0">
                <a:solidFill>
                  <a:srgbClr val="E6E6E6"/>
                </a:solidFill>
                <a:latin typeface="Consolas"/>
              </a:rPr>
              <a:t>  WHERE claim_id BETWEEN '20240601-0000000' AND '20240602-0000000';</a:t>
            </a:r>
          </a:p>
          <a:p>
            <a:r>
              <a:rPr sz="1250" b="0">
                <a:solidFill>
                  <a:srgbClr val="E6E6E6"/>
                </a:solidFill>
                <a:latin typeface="Consolas"/>
              </a:rPr>
              <a:t> </a:t>
            </a:r>
          </a:p>
          <a:p>
            <a:r>
              <a:rPr sz="1250" b="0">
                <a:solidFill>
                  <a:srgbClr val="7EC699"/>
                </a:solidFill>
                <a:latin typeface="Consolas"/>
              </a:rPr>
              <a:t>-- 2) 방금 실행한 커서의 실제 통계를 조회한다</a:t>
            </a:r>
          </a:p>
          <a:p>
            <a:r>
              <a:rPr sz="1250" b="0">
                <a:solidFill>
                  <a:srgbClr val="E6E6E6"/>
                </a:solidFill>
                <a:latin typeface="Consolas"/>
              </a:rPr>
              <a:t>SELECT * FROM TABLE(</a:t>
            </a:r>
          </a:p>
          <a:p>
            <a:r>
              <a:rPr sz="1250" b="0">
                <a:solidFill>
                  <a:srgbClr val="E6E6E6"/>
                </a:solidFill>
                <a:latin typeface="Consolas"/>
              </a:rPr>
              <a:t>         DBMS_XPLAN.DISPLAY_CURSOR(NULL, NULL, 'ALLSTATS LAST'));</a:t>
            </a:r>
          </a:p>
          <a:p>
            <a:r>
              <a:rPr sz="1250" b="0">
                <a:solidFill>
                  <a:srgbClr val="E6E6E6"/>
                </a:solidFill>
                <a:latin typeface="Consolas"/>
              </a:rPr>
              <a:t> </a:t>
            </a:r>
          </a:p>
          <a:p>
            <a:r>
              <a:rPr sz="1250" b="0">
                <a:solidFill>
                  <a:srgbClr val="7EC699"/>
                </a:solidFill>
                <a:latin typeface="Consolas"/>
              </a:rPr>
              <a:t>-- ALLSTATS LAST : 마지막 한 번의 실행분에 대한 실측 통계</a:t>
            </a:r>
          </a:p>
          <a:p>
            <a:r>
              <a:rPr sz="1250" b="0">
                <a:solidFill>
                  <a:srgbClr val="7EC699"/>
                </a:solidFill>
                <a:latin typeface="Consolas"/>
              </a:rPr>
              <a:t>-- 얻는 것 : E-Rows / A-Rows / A-Time / Buffers / Reads</a:t>
            </a:r>
          </a:p>
          <a:p>
            <a:r>
              <a:rPr sz="1250" b="0">
                <a:solidFill>
                  <a:srgbClr val="7EC699"/>
                </a:solidFill>
                <a:latin typeface="Consolas"/>
              </a:rPr>
              <a:t>--           추정(E-Rows)과 실제(A-Rows)를 한 화면에서 대조할 수 있다</a:t>
            </a:r>
          </a:p>
        </p:txBody>
      </p:sp>
    </p:spTree>
    <p:extLst>
      <p:ext uri="{BB962C8B-B14F-4D97-AF65-F5344CB8AC3E}">
        <p14:creationId xmlns:p14="http://schemas.microsoft.com/office/powerpoint/2010/main" val="2139955005"/>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실행 통계 지표 사전</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E-Rows — 옵티마이저가 예상한 행 수(추정)</a:t>
            </a:r>
          </a:p>
          <a:p>
            <a:r>
              <a:rPr sz="1800" b="0">
                <a:solidFill>
                  <a:srgbClr val="202830"/>
                </a:solidFill>
                <a:latin typeface="Malgun Gothic"/>
              </a:rPr>
              <a:t>•  A-Rows — 실제로 처리된 행 수(Rows Processed)</a:t>
            </a:r>
          </a:p>
          <a:p>
            <a:r>
              <a:rPr sz="1600" b="0">
                <a:solidFill>
                  <a:srgbClr val="5A6672"/>
                </a:solidFill>
                <a:latin typeface="Malgun Gothic"/>
              </a:rPr>
              <a:t>    –  E-Rows와 A-Rows의 괴리가 크면 통계정보 문제를 의심한다 (ch03·ch08)</a:t>
            </a:r>
          </a:p>
          <a:p>
            <a:r>
              <a:rPr sz="1800" b="0">
                <a:solidFill>
                  <a:srgbClr val="202830"/>
                </a:solidFill>
                <a:latin typeface="Malgun Gothic"/>
              </a:rPr>
              <a:t>•  A-Time — 실제로 걸린 전체 경과 시간(Elapsed Time)</a:t>
            </a:r>
          </a:p>
          <a:p>
            <a:r>
              <a:rPr sz="1600" b="0">
                <a:solidFill>
                  <a:srgbClr val="5A6672"/>
                </a:solidFill>
                <a:latin typeface="Malgun Gothic"/>
              </a:rPr>
              <a:t>    –  사용자가 체감하는 시간에 가장 가까운 지표</a:t>
            </a:r>
          </a:p>
          <a:p>
            <a:r>
              <a:rPr sz="1800" b="0">
                <a:solidFill>
                  <a:srgbClr val="202830"/>
                </a:solidFill>
                <a:latin typeface="Malgun Gothic"/>
              </a:rPr>
              <a:t>•  Buffers — 버퍼 캐시에서 블록을 읽은 횟수(Consistent Gets)</a:t>
            </a:r>
          </a:p>
          <a:p>
            <a:r>
              <a:rPr sz="1600" b="0">
                <a:solidFill>
                  <a:srgbClr val="5A6672"/>
                </a:solidFill>
                <a:latin typeface="Malgun Gothic"/>
              </a:rPr>
              <a:t>    –  Logical I/O. "블록을 몇 번 요청했는가"</a:t>
            </a:r>
          </a:p>
          <a:p>
            <a:r>
              <a:rPr sz="1800" b="0">
                <a:solidFill>
                  <a:srgbClr val="202830"/>
                </a:solidFill>
                <a:latin typeface="Malgun Gothic"/>
              </a:rPr>
              <a:t>•  Reads — 디스크에서 실제로 블록을 읽어 온 횟수(Physical Reads)</a:t>
            </a:r>
          </a:p>
          <a:p>
            <a:r>
              <a:rPr sz="1600" b="0">
                <a:solidFill>
                  <a:srgbClr val="5A6672"/>
                </a:solidFill>
                <a:latin typeface="Malgun Gothic"/>
              </a:rPr>
              <a:t>    –  Physical I/O. 값이 0이면 컬럼 자체가 표시되지 않는다</a:t>
            </a:r>
          </a:p>
        </p:txBody>
      </p:sp>
    </p:spTree>
    <p:extLst>
      <p:ext uri="{BB962C8B-B14F-4D97-AF65-F5344CB8AC3E}">
        <p14:creationId xmlns:p14="http://schemas.microsoft.com/office/powerpoint/2010/main" val="3861890406"/>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추정 계획으로는 볼 수 없는 것</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EXPLAIN PLAN이 알려 주지 못하는 것들</a:t>
            </a:r>
          </a:p>
          <a:p>
            <a:r>
              <a:rPr sz="1600" b="0">
                <a:solidFill>
                  <a:srgbClr val="5A6672"/>
                </a:solidFill>
                <a:latin typeface="Malgun Gothic"/>
              </a:rPr>
              <a:t>    –  실제로 몇 건이 나왔는지(A-Rows)</a:t>
            </a:r>
          </a:p>
          <a:p>
            <a:r>
              <a:rPr sz="1600" b="0">
                <a:solidFill>
                  <a:srgbClr val="5A6672"/>
                </a:solidFill>
                <a:latin typeface="Malgun Gothic"/>
              </a:rPr>
              <a:t>    –  실제로 얼마나 걸렸는지(A-Time)</a:t>
            </a:r>
          </a:p>
          <a:p>
            <a:r>
              <a:rPr sz="1600" b="0">
                <a:solidFill>
                  <a:srgbClr val="5A6672"/>
                </a:solidFill>
                <a:latin typeface="Malgun Gothic"/>
              </a:rPr>
              <a:t>    –  블록을 몇 번 요청했는지(Buffers)</a:t>
            </a:r>
          </a:p>
          <a:p>
            <a:r>
              <a:rPr sz="1600" b="0">
                <a:solidFill>
                  <a:srgbClr val="5A6672"/>
                </a:solidFill>
                <a:latin typeface="Malgun Gothic"/>
              </a:rPr>
              <a:t>    –  그중 디스크까지 몇 번 갔는지(Reads)</a:t>
            </a:r>
          </a:p>
          <a:p>
            <a:r>
              <a:rPr sz="1800" b="0">
                <a:solidFill>
                  <a:srgbClr val="202830"/>
                </a:solidFill>
                <a:latin typeface="Malgun Gothic"/>
              </a:rPr>
              <a:t>•  이 장의 콜드/웜 캐시 차이는 원리상 EXPLAIN PLAN으로 확인할 수 없다</a:t>
            </a:r>
          </a:p>
          <a:p>
            <a:r>
              <a:rPr sz="1600" b="0">
                <a:solidFill>
                  <a:srgbClr val="5A6672"/>
                </a:solidFill>
                <a:latin typeface="Malgun Gothic"/>
              </a:rPr>
              <a:t>    –  캐시 상태는 실행 시점의 런타임 조건이지 계획의 속성이 아니기 때문</a:t>
            </a:r>
          </a:p>
          <a:p>
            <a:r>
              <a:rPr sz="1600" b="0">
                <a:solidFill>
                  <a:srgbClr val="5A6672"/>
                </a:solidFill>
                <a:latin typeface="Malgun Gothic"/>
              </a:rPr>
              <a:t>    –  같은 SQL이라면 캐시가 비어 있든 차 있든 EXPLAIN PLAN 결과는 동일하다</a:t>
            </a:r>
          </a:p>
          <a:p>
            <a:r>
              <a:rPr sz="1800" b="0">
                <a:solidFill>
                  <a:srgbClr val="202830"/>
                </a:solidFill>
                <a:latin typeface="Malgun Gothic"/>
              </a:rPr>
              <a:t>•  결론: 튜닝 성과의 증거는 반드시 실측 통계로 제시한다</a:t>
            </a:r>
          </a:p>
        </p:txBody>
      </p:sp>
    </p:spTree>
    <p:extLst>
      <p:ext uri="{BB962C8B-B14F-4D97-AF65-F5344CB8AC3E}">
        <p14:creationId xmlns:p14="http://schemas.microsoft.com/office/powerpoint/2010/main" val="265566633"/>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Logical I/O와 Physical I/O</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Logical I/O — 논리적 I/O</a:t>
            </a:r>
          </a:p>
          <a:p>
            <a:r>
              <a:rPr sz="1600" b="0">
                <a:solidFill>
                  <a:srgbClr val="5A6672"/>
                </a:solidFill>
                <a:latin typeface="Malgun Gothic"/>
              </a:rPr>
              <a:t>    –  버퍼 캐시(메모리)에서 블록을 읽은 횟수</a:t>
            </a:r>
          </a:p>
          <a:p>
            <a:r>
              <a:rPr sz="1600" b="0">
                <a:solidFill>
                  <a:srgbClr val="5A6672"/>
                </a:solidFill>
                <a:latin typeface="Malgun Gothic"/>
              </a:rPr>
              <a:t>    –  실행계획에는 Buffers(= Consistent Gets)로 표시된다</a:t>
            </a:r>
          </a:p>
          <a:p>
            <a:r>
              <a:rPr sz="1800" b="0">
                <a:solidFill>
                  <a:srgbClr val="202830"/>
                </a:solidFill>
                <a:latin typeface="Malgun Gothic"/>
              </a:rPr>
              <a:t>•  Physical I/O — 물리적 I/O</a:t>
            </a:r>
          </a:p>
          <a:p>
            <a:r>
              <a:rPr sz="1600" b="0">
                <a:solidFill>
                  <a:srgbClr val="5A6672"/>
                </a:solidFill>
                <a:latin typeface="Malgun Gothic"/>
              </a:rPr>
              <a:t>    –  디스크에서 실제로 블록을 읽어 온 횟수</a:t>
            </a:r>
          </a:p>
          <a:p>
            <a:r>
              <a:rPr sz="1600" b="0">
                <a:solidFill>
                  <a:srgbClr val="5A6672"/>
                </a:solidFill>
                <a:latin typeface="Malgun Gothic"/>
              </a:rPr>
              <a:t>    –  실행계획에는 Reads로 표시된다</a:t>
            </a:r>
          </a:p>
          <a:p>
            <a:r>
              <a:rPr sz="1800" b="0">
                <a:solidFill>
                  <a:srgbClr val="202830"/>
                </a:solidFill>
                <a:latin typeface="Malgun Gothic"/>
              </a:rPr>
              <a:t>•  두 값의 관계</a:t>
            </a:r>
          </a:p>
          <a:p>
            <a:r>
              <a:rPr sz="1600" b="0">
                <a:solidFill>
                  <a:srgbClr val="5A6672"/>
                </a:solidFill>
                <a:latin typeface="Malgun Gothic"/>
              </a:rPr>
              <a:t>    –  요청한 블록이 이미 메모리에 있으면 Logical I/O만 발생한다</a:t>
            </a:r>
          </a:p>
          <a:p>
            <a:r>
              <a:rPr sz="1600" b="0">
                <a:solidFill>
                  <a:srgbClr val="5A6672"/>
                </a:solidFill>
                <a:latin typeface="Malgun Gothic"/>
              </a:rPr>
              <a:t>    –  메모리에 없으면 디스크까지 내려가므로 Physical I/O가 함께 발생한다</a:t>
            </a:r>
          </a:p>
        </p:txBody>
      </p:sp>
    </p:spTree>
    <p:extLst>
      <p:ext uri="{BB962C8B-B14F-4D97-AF65-F5344CB8AC3E}">
        <p14:creationId xmlns:p14="http://schemas.microsoft.com/office/powerpoint/2010/main" val="2681189152"/>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107996"/>
          </a:xfrm>
          <a:prstGeom prst="rect">
            <a:avLst/>
          </a:prstGeom>
          <a:noFill/>
        </p:spPr>
        <p:txBody>
          <a:bodyPr wrap="square">
            <a:spAutoFit/>
          </a:bodyPr>
          <a:lstStyle/>
          <a:p>
            <a:r>
              <a:rPr sz="6600" b="1" dirty="0">
                <a:solidFill>
                  <a:srgbClr val="C0392B"/>
                </a:solidFill>
                <a:latin typeface="Malgun Gothic"/>
              </a:rPr>
              <a:t>4.3</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Buffers와 Reads는 서로 다른 것을 센다</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Buffers — 블록을 몇 번 요청했는가</a:t>
            </a:r>
          </a:p>
          <a:p>
            <a:r>
              <a:rPr sz="1600" b="0">
                <a:solidFill>
                  <a:srgbClr val="C5CED6"/>
                </a:solidFill>
                <a:latin typeface="Malgun Gothic"/>
              </a:rPr>
              <a:t>•  Reads — 그중 실제로 디스크까지 간 횟수</a:t>
            </a:r>
          </a:p>
          <a:p>
            <a:r>
              <a:rPr sz="1600" b="0">
                <a:solidFill>
                  <a:srgbClr val="C5CED6"/>
                </a:solidFill>
                <a:latin typeface="Malgun Gothic"/>
              </a:rPr>
              <a:t>•  Buffers ≥ Reads 라는 부등식</a:t>
            </a:r>
          </a:p>
          <a:p>
            <a:r>
              <a:rPr sz="1600" b="0">
                <a:solidFill>
                  <a:srgbClr val="C5CED6"/>
                </a:solidFill>
                <a:latin typeface="Malgun Gothic"/>
              </a:rPr>
              <a:t>•  캐시 예열 효과의 근본 원인</a:t>
            </a:r>
          </a:p>
        </p:txBody>
      </p:sp>
    </p:spTree>
    <p:extLst>
      <p:ext uri="{BB962C8B-B14F-4D97-AF65-F5344CB8AC3E}">
        <p14:creationId xmlns:p14="http://schemas.microsoft.com/office/powerpoint/2010/main" val="3172455588"/>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Buffers — 블록을 몇 번 요청했는가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Buffers(Consistent Gets)는 요청 횟수를 센다</a:t>
            </a:r>
          </a:p>
          <a:p>
            <a:r>
              <a:rPr sz="1600" b="0">
                <a:solidFill>
                  <a:srgbClr val="5A6672"/>
                </a:solidFill>
                <a:latin typeface="Malgun Gothic"/>
              </a:rPr>
              <a:t>    –  "이 블록이 필요하다"고 요청한 횟수 그 자체</a:t>
            </a:r>
          </a:p>
          <a:p>
            <a:r>
              <a:rPr sz="1600" b="0">
                <a:solidFill>
                  <a:srgbClr val="5A6672"/>
                </a:solidFill>
                <a:latin typeface="Malgun Gothic"/>
              </a:rPr>
              <a:t>    –  그 블록이 메모리에 있었는지 디스크에 있었는지는 세지 않는다</a:t>
            </a:r>
          </a:p>
          <a:p>
            <a:r>
              <a:rPr sz="1800" b="0">
                <a:solidFill>
                  <a:srgbClr val="202830"/>
                </a:solidFill>
                <a:latin typeface="Malgun Gothic"/>
              </a:rPr>
              <a:t>•  그래서 Buffers는 캐시 상태와 무관하다</a:t>
            </a:r>
          </a:p>
          <a:p>
            <a:r>
              <a:rPr sz="1600" b="0">
                <a:solidFill>
                  <a:srgbClr val="5A6672"/>
                </a:solidFill>
                <a:latin typeface="Malgun Gothic"/>
              </a:rPr>
              <a:t>    –  같은 SQL이 같은 데이터를 읽는다면 요청해야 할 블록 수는 언제나 같다</a:t>
            </a:r>
          </a:p>
          <a:p>
            <a:r>
              <a:rPr sz="1600" b="0">
                <a:solidFill>
                  <a:srgbClr val="5A6672"/>
                </a:solidFill>
                <a:latin typeface="Malgun Gothic"/>
              </a:rPr>
              <a:t>    –  캐시가 비어 있든 가득 차 있든 요청 횟수는 변하지 않는다</a:t>
            </a:r>
          </a:p>
          <a:p>
            <a:r>
              <a:rPr sz="1800" b="0">
                <a:solidFill>
                  <a:srgbClr val="202830"/>
                </a:solidFill>
                <a:latin typeface="Malgun Gothic"/>
              </a:rPr>
              <a:t>•  이 성질 때문에 Buffers는 SQL 자체의 효율을 재는 좋은 지표가 된다</a:t>
            </a:r>
          </a:p>
          <a:p>
            <a:r>
              <a:rPr sz="1600" b="0">
                <a:solidFill>
                  <a:srgbClr val="5A6672"/>
                </a:solidFill>
                <a:latin typeface="Malgun Gothic"/>
              </a:rPr>
              <a:t>    –  측정 시점의 우연한 조건에 흔들리지 않는다</a:t>
            </a:r>
          </a:p>
          <a:p>
            <a:r>
              <a:rPr sz="1600" b="0">
                <a:solidFill>
                  <a:srgbClr val="5A6672"/>
                </a:solidFill>
                <a:latin typeface="Malgun Gothic"/>
              </a:rPr>
              <a:t>    –  이 과정 열세 개 챕터가 Buffers를 성적표로 삼아 온 이유가 이것이다</a:t>
            </a:r>
          </a:p>
        </p:txBody>
      </p:sp>
    </p:spTree>
    <p:extLst>
      <p:ext uri="{BB962C8B-B14F-4D97-AF65-F5344CB8AC3E}">
        <p14:creationId xmlns:p14="http://schemas.microsoft.com/office/powerpoint/2010/main" val="1126470840"/>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Reads — 그중 디스크까지 간 횟수</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Reads(Physical Reads)는 요청 중 실제로 디스크까지 가야 했던 횟수만 센다</a:t>
            </a:r>
          </a:p>
          <a:p>
            <a:r>
              <a:rPr sz="1600" b="0">
                <a:solidFill>
                  <a:srgbClr val="5A6672"/>
                </a:solidFill>
                <a:latin typeface="Malgun Gothic"/>
              </a:rPr>
              <a:t>    –  요청한 블록이 이미 버퍼 캐시에 있으면 디스크까지 갈 필요가 없다</a:t>
            </a:r>
          </a:p>
          <a:p>
            <a:r>
              <a:rPr sz="1600" b="0">
                <a:solidFill>
                  <a:srgbClr val="5A6672"/>
                </a:solidFill>
                <a:latin typeface="Malgun Gothic"/>
              </a:rPr>
              <a:t>    –  그런 요청은 Buffers에는 잡히지만 Reads에는 잡히지 않는다</a:t>
            </a:r>
          </a:p>
          <a:p>
            <a:r>
              <a:rPr sz="1800" b="0">
                <a:solidFill>
                  <a:srgbClr val="202830"/>
                </a:solidFill>
                <a:latin typeface="Malgun Gothic"/>
              </a:rPr>
              <a:t>•  따라서 Reads는 Buffers의 부분집합이다</a:t>
            </a:r>
          </a:p>
          <a:p>
            <a:r>
              <a:rPr sz="1600" b="0">
                <a:solidFill>
                  <a:srgbClr val="5A6672"/>
                </a:solidFill>
                <a:latin typeface="Malgun Gothic"/>
              </a:rPr>
              <a:t>    –  Buffers ≥ Reads — 이 부등식은 항상 성립한다</a:t>
            </a:r>
          </a:p>
          <a:p>
            <a:r>
              <a:rPr sz="1600" b="0">
                <a:solidFill>
                  <a:srgbClr val="5A6672"/>
                </a:solidFill>
                <a:latin typeface="Malgun Gothic"/>
              </a:rPr>
              <a:t>    –  Reads가 Buffers보다 클 수는 없다(전체보다 부분이 클 수 없으므로)</a:t>
            </a:r>
          </a:p>
          <a:p>
            <a:r>
              <a:rPr sz="1800" b="0">
                <a:solidFill>
                  <a:srgbClr val="202830"/>
                </a:solidFill>
                <a:latin typeface="Malgun Gothic"/>
              </a:rPr>
              <a:t>•  Reads는 캐시 상태에 따라 크게 달라진다</a:t>
            </a:r>
          </a:p>
          <a:p>
            <a:r>
              <a:rPr sz="1600" b="0">
                <a:solidFill>
                  <a:srgbClr val="5A6672"/>
                </a:solidFill>
                <a:latin typeface="Malgun Gothic"/>
              </a:rPr>
              <a:t>    –  캐시가 비어 있으면 요청 대부분이 디스크로 내려간다</a:t>
            </a:r>
          </a:p>
          <a:p>
            <a:r>
              <a:rPr sz="1600" b="0">
                <a:solidFill>
                  <a:srgbClr val="5A6672"/>
                </a:solidFill>
                <a:latin typeface="Malgun Gothic"/>
              </a:rPr>
              <a:t>    –  캐시가 채워져 있으면 0에 가까워지고, 0이면 컬럼 자체가 사라진다</a:t>
            </a:r>
          </a:p>
        </p:txBody>
      </p:sp>
    </p:spTree>
    <p:extLst>
      <p:ext uri="{BB962C8B-B14F-4D97-AF65-F5344CB8AC3E}">
        <p14:creationId xmlns:p14="http://schemas.microsoft.com/office/powerpoint/2010/main" val="1385116289"/>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캐시 예열 효과 — 반복 실행의 함정</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같은 쿼리를 반복 실행하면 무슨 일이 일어나는가</a:t>
            </a:r>
          </a:p>
          <a:p>
            <a:r>
              <a:rPr sz="1600" b="0">
                <a:solidFill>
                  <a:srgbClr val="5A6672"/>
                </a:solidFill>
                <a:latin typeface="Malgun Gothic"/>
              </a:rPr>
              <a:t>    –  첫 실행이 읽어 온 블록들이 버퍼 캐시에 남는다</a:t>
            </a:r>
          </a:p>
          <a:p>
            <a:r>
              <a:rPr sz="1600" b="0">
                <a:solidFill>
                  <a:srgbClr val="5A6672"/>
                </a:solidFill>
                <a:latin typeface="Malgun Gothic"/>
              </a:rPr>
              <a:t>    –  두 번째 실행은 그 블록들을 메모리에서 그대로 재사용한다</a:t>
            </a:r>
          </a:p>
          <a:p>
            <a:r>
              <a:rPr sz="1800" b="0">
                <a:solidFill>
                  <a:srgbClr val="202830"/>
                </a:solidFill>
                <a:latin typeface="Malgun Gothic"/>
              </a:rPr>
              <a:t>•  그 결과</a:t>
            </a:r>
          </a:p>
          <a:p>
            <a:r>
              <a:rPr sz="1600" b="0">
                <a:solidFill>
                  <a:srgbClr val="5A6672"/>
                </a:solidFill>
                <a:latin typeface="Malgun Gothic"/>
              </a:rPr>
              <a:t>    –  Buffers는 그대로다 — 요청해야 할 블록 수는 변하지 않으므로</a:t>
            </a:r>
          </a:p>
          <a:p>
            <a:r>
              <a:rPr sz="1600" b="0">
                <a:solidFill>
                  <a:srgbClr val="5A6672"/>
                </a:solidFill>
                <a:latin typeface="Malgun Gothic"/>
              </a:rPr>
              <a:t>    –  Reads는 0에 가까워진다 — 디스크까지 갈 일이 없어지므로</a:t>
            </a:r>
          </a:p>
          <a:p>
            <a:r>
              <a:rPr sz="1600" b="0">
                <a:solidFill>
                  <a:srgbClr val="5A6672"/>
                </a:solidFill>
                <a:latin typeface="Malgun Gothic"/>
              </a:rPr>
              <a:t>    –  A-Time은 크게 줄어든다 — 디스크 접근이 사라졌으므로</a:t>
            </a:r>
          </a:p>
          <a:p>
            <a:r>
              <a:rPr sz="1800" b="0">
                <a:solidFill>
                  <a:srgbClr val="202830"/>
                </a:solidFill>
                <a:latin typeface="Malgun Gothic"/>
              </a:rPr>
              <a:t>•  ch01에서 이미 관찰한 현상의 근본 원인이 바로 이것이다</a:t>
            </a:r>
          </a:p>
          <a:p>
            <a:r>
              <a:rPr sz="1600" b="0">
                <a:solidFill>
                  <a:srgbClr val="5A6672"/>
                </a:solidFill>
                <a:latin typeface="Malgun Gothic"/>
              </a:rPr>
              <a:t>    –  실행계획이 같은데 시간만 달랐던 이유는 문법이 아니라 실행 순서였다</a:t>
            </a:r>
          </a:p>
        </p:txBody>
      </p:sp>
    </p:spTree>
    <p:extLst>
      <p:ext uri="{BB962C8B-B14F-4D97-AF65-F5344CB8AC3E}">
        <p14:creationId xmlns:p14="http://schemas.microsoft.com/office/powerpoint/2010/main" val="3569277190"/>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강제로 비우지 않아도 콜드는 발생한다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ALTER SYSTEM FLUSH BUFFER_CACHE는 SYSDBA 권한의 인스턴스 레벨 명령이다</a:t>
            </a:r>
          </a:p>
          <a:p>
            <a:r>
              <a:rPr sz="1600" b="0">
                <a:solidFill>
                  <a:srgbClr val="5A6672"/>
                </a:solidFill>
                <a:latin typeface="Malgun Gothic"/>
              </a:rPr>
              <a:t>    –  SQLT 같은 일반 애플리케이션 계정은 실행할 수 없다</a:t>
            </a:r>
          </a:p>
          <a:p>
            <a:r>
              <a:rPr sz="1800" b="0">
                <a:solidFill>
                  <a:srgbClr val="202830"/>
                </a:solidFill>
                <a:latin typeface="Malgun Gothic"/>
              </a:rPr>
              <a:t>•  그런데도 실무에서 콜드 캐시 상황은 계속 발생한다</a:t>
            </a:r>
          </a:p>
          <a:p>
            <a:r>
              <a:rPr sz="1600" b="0">
                <a:solidFill>
                  <a:srgbClr val="5A6672"/>
                </a:solidFill>
                <a:latin typeface="Malgun Gothic"/>
              </a:rPr>
              <a:t>    –  버퍼 캐시는 서버 메모리 중 정해진 크기만큼만 할당된다 — 용량이 유한하다</a:t>
            </a:r>
          </a:p>
          <a:p>
            <a:r>
              <a:rPr sz="1600" b="0">
                <a:solidFill>
                  <a:srgbClr val="5A6672"/>
                </a:solidFill>
                <a:latin typeface="Malgun Gothic"/>
              </a:rPr>
              <a:t>    –  한 서버에서 수많은 세션과 쿼리가 그 캐시를 동시에 공유해서 쓴다</a:t>
            </a:r>
          </a:p>
          <a:p>
            <a:r>
              <a:rPr sz="1800" b="0">
                <a:solidFill>
                  <a:srgbClr val="202830"/>
                </a:solidFill>
                <a:latin typeface="Malgun Gothic"/>
              </a:rPr>
              <a:t>•  공간이 부족해지면 오래 쓰이지 않은 블록부터 밀려난다</a:t>
            </a:r>
          </a:p>
          <a:p>
            <a:r>
              <a:rPr sz="1600" b="0">
                <a:solidFill>
                  <a:srgbClr val="5A6672"/>
                </a:solidFill>
                <a:latin typeface="Malgun Gothic"/>
              </a:rPr>
              <a:t>    –  LRU 계열 정책으로 새 블록을 위한 자리를 확보한다</a:t>
            </a:r>
          </a:p>
          <a:p>
            <a:r>
              <a:rPr sz="1600" b="0">
                <a:solidFill>
                  <a:srgbClr val="5A6672"/>
                </a:solidFill>
                <a:latin typeface="Malgun Gothic"/>
              </a:rPr>
              <a:t>    –  한동안 조회되지 않은 테이블, 다른 대량 조회에 밀린 블록은 자연히 캐시에서 빠진다</a:t>
            </a:r>
          </a:p>
          <a:p>
            <a:r>
              <a:rPr sz="1600" b="0">
                <a:solidFill>
                  <a:srgbClr val="5A6672"/>
                </a:solidFill>
                <a:latin typeface="Malgun Gothic"/>
              </a:rPr>
              <a:t>    –  다음 접근 때 다시 디스크에서 읽어야 하는 콜드 상태가 된다</a:t>
            </a:r>
          </a:p>
        </p:txBody>
      </p:sp>
    </p:spTree>
    <p:extLst>
      <p:ext uri="{BB962C8B-B14F-4D97-AF65-F5344CB8AC3E}">
        <p14:creationId xmlns:p14="http://schemas.microsoft.com/office/powerpoint/2010/main" val="104031398"/>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107996"/>
          </a:xfrm>
          <a:prstGeom prst="rect">
            <a:avLst/>
          </a:prstGeom>
          <a:noFill/>
        </p:spPr>
        <p:txBody>
          <a:bodyPr wrap="square">
            <a:spAutoFit/>
          </a:bodyPr>
          <a:lstStyle/>
          <a:p>
            <a:r>
              <a:rPr sz="6600" b="1" dirty="0">
                <a:solidFill>
                  <a:srgbClr val="C0392B"/>
                </a:solidFill>
                <a:latin typeface="Malgun Gothic"/>
              </a:rPr>
              <a:t>4.4</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버퍼 캐시를 비우고 같은 쿼리를 두 번</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실험 절차 — 변수는 캐시 상태 하나뿐</a:t>
            </a:r>
          </a:p>
          <a:p>
            <a:r>
              <a:rPr sz="1600" b="0">
                <a:solidFill>
                  <a:srgbClr val="C5CED6"/>
                </a:solidFill>
                <a:latin typeface="Malgun Gothic"/>
              </a:rPr>
              <a:t>•  측정 대상 쿼리와 캐시 비우기</a:t>
            </a:r>
          </a:p>
          <a:p>
            <a:r>
              <a:rPr sz="1600" b="0">
                <a:solidFill>
                  <a:srgbClr val="C5CED6"/>
                </a:solidFill>
                <a:latin typeface="Malgun Gothic"/>
              </a:rPr>
              <a:t>•  재현 가능한 측정의 조건</a:t>
            </a:r>
          </a:p>
        </p:txBody>
      </p:sp>
    </p:spTree>
    <p:extLst>
      <p:ext uri="{BB962C8B-B14F-4D97-AF65-F5344CB8AC3E}">
        <p14:creationId xmlns:p14="http://schemas.microsoft.com/office/powerpoint/2010/main" val="3234002165"/>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실험 절차 — 변수는 캐시 상태 하나뿐</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1단계 — SYSDBA 세션에서 버퍼 캐시를 강제로 비운다</a:t>
            </a:r>
          </a:p>
          <a:p>
            <a:r>
              <a:rPr sz="1600" b="0">
                <a:solidFill>
                  <a:srgbClr val="5A6672"/>
                </a:solidFill>
                <a:latin typeface="Malgun Gothic"/>
              </a:rPr>
              <a:t>    –  이 시점 이후 첫 접근은 전부 디스크에서 읽어야 하는 상태가 된다</a:t>
            </a:r>
          </a:p>
          <a:p>
            <a:r>
              <a:rPr sz="1800" b="0">
                <a:solidFill>
                  <a:srgbClr val="202830"/>
                </a:solidFill>
                <a:latin typeface="Malgun Gothic"/>
              </a:rPr>
              <a:t>•  2단계 — SQLT 세션에서 대상 쿼리를 실행하고 실행 통계를 확인한다</a:t>
            </a:r>
          </a:p>
          <a:p>
            <a:r>
              <a:rPr sz="1600" b="0">
                <a:solidFill>
                  <a:srgbClr val="5A6672"/>
                </a:solidFill>
                <a:latin typeface="Malgun Gothic"/>
              </a:rPr>
              <a:t>    –  이것이 콜드 캐시 측정값이다</a:t>
            </a:r>
          </a:p>
          <a:p>
            <a:r>
              <a:rPr sz="1800" b="0">
                <a:solidFill>
                  <a:srgbClr val="202830"/>
                </a:solidFill>
                <a:latin typeface="Malgun Gothic"/>
              </a:rPr>
              <a:t>•  3단계 — 같은 쿼리를 즉시 다시 실행하고 실행 통계를 확인한다</a:t>
            </a:r>
          </a:p>
          <a:p>
            <a:r>
              <a:rPr sz="1600" b="0">
                <a:solidFill>
                  <a:srgbClr val="5A6672"/>
                </a:solidFill>
                <a:latin typeface="Malgun Gothic"/>
              </a:rPr>
              <a:t>    –  2단계가 올려놓은 블록이 그대로 남아 있으므로 웜 캐시 측정값이 된다</a:t>
            </a:r>
          </a:p>
          <a:p>
            <a:r>
              <a:rPr sz="1800" b="0">
                <a:solidFill>
                  <a:srgbClr val="202830"/>
                </a:solidFill>
                <a:latin typeface="Malgun Gothic"/>
              </a:rPr>
              <a:t>•  고정한 것과 바꾼 것</a:t>
            </a:r>
          </a:p>
          <a:p>
            <a:r>
              <a:rPr sz="1600" b="0">
                <a:solidFill>
                  <a:srgbClr val="5A6672"/>
                </a:solidFill>
                <a:latin typeface="Malgun Gothic"/>
              </a:rPr>
              <a:t>    –  고정: 쿼리문, 대상 테이블, 데이터, 실행계획, 세션</a:t>
            </a:r>
          </a:p>
          <a:p>
            <a:r>
              <a:rPr sz="1600" b="0">
                <a:solidFill>
                  <a:srgbClr val="5A6672"/>
                </a:solidFill>
                <a:latin typeface="Malgun Gothic"/>
              </a:rPr>
              <a:t>    –  변경: 버퍼 캐시 상태 하나뿐</a:t>
            </a:r>
          </a:p>
        </p:txBody>
      </p:sp>
    </p:spTree>
    <p:extLst>
      <p:ext uri="{BB962C8B-B14F-4D97-AF65-F5344CB8AC3E}">
        <p14:creationId xmlns:p14="http://schemas.microsoft.com/office/powerpoint/2010/main" val="3490639971"/>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Example — 캐시 비우기와 측정 대상 쿼리</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같은 쿼리를 연속으로 두 번 실행한다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(SYSDBA) 버퍼 캐시를 강제로 비움</a:t>
            </a:r>
          </a:p>
          <a:p>
            <a:r>
              <a:rPr sz="1250" b="0">
                <a:solidFill>
                  <a:srgbClr val="7EC699"/>
                </a:solidFill>
                <a:latin typeface="Consolas"/>
              </a:rPr>
              <a:t>--          이 세션 이후 첫 접근은 전부 디스크에서 읽어야 함</a:t>
            </a:r>
          </a:p>
          <a:p>
            <a:r>
              <a:rPr sz="1250" b="0">
                <a:solidFill>
                  <a:srgbClr val="E6E6E6"/>
                </a:solidFill>
                <a:latin typeface="Consolas"/>
              </a:rPr>
              <a:t>ALTER SYSTEM FLUSH BUFFER_CACHE;</a:t>
            </a:r>
          </a:p>
          <a:p>
            <a:r>
              <a:rPr sz="1250" b="0">
                <a:solidFill>
                  <a:srgbClr val="E6E6E6"/>
                </a:solidFill>
                <a:latin typeface="Consolas"/>
              </a:rPr>
              <a:t> </a:t>
            </a:r>
          </a:p>
          <a:p>
            <a:r>
              <a:rPr sz="1250" b="0">
                <a:solidFill>
                  <a:srgbClr val="7EC699"/>
                </a:solidFill>
                <a:latin typeface="Consolas"/>
              </a:rPr>
              <a:t>-- (SQLT) 같은 쿼리를 연속으로 두 번 실행</a:t>
            </a:r>
          </a:p>
          <a:p>
            <a:r>
              <a:rPr sz="1250" b="0">
                <a:solidFill>
                  <a:srgbClr val="E6E6E6"/>
                </a:solidFill>
                <a:latin typeface="Consolas"/>
              </a:rPr>
              <a:t>SELECT claim_id, total_amt FROM medical_claims</a:t>
            </a:r>
          </a:p>
          <a:p>
            <a:r>
              <a:rPr sz="1250" b="0">
                <a:solidFill>
                  <a:srgbClr val="E6E6E6"/>
                </a:solidFill>
                <a:latin typeface="Consolas"/>
              </a:rPr>
              <a:t>WHERE claim_id BETWEEN '20240601-0000000' AND '20240602-0000000';</a:t>
            </a:r>
          </a:p>
          <a:p>
            <a:r>
              <a:rPr sz="1250" b="0">
                <a:solidFill>
                  <a:srgbClr val="E6E6E6"/>
                </a:solidFill>
                <a:latin typeface="Consolas"/>
              </a:rPr>
              <a:t> </a:t>
            </a:r>
          </a:p>
          <a:p>
            <a:r>
              <a:rPr sz="1250" b="0">
                <a:solidFill>
                  <a:srgbClr val="7EC699"/>
                </a:solidFill>
                <a:latin typeface="Consolas"/>
              </a:rPr>
              <a:t>-- 첫 번째 실행 -&gt; 콜드 캐시 : 버퍼 캐시가 빈 상태에서 시작</a:t>
            </a:r>
          </a:p>
          <a:p>
            <a:r>
              <a:rPr sz="1250" b="0">
                <a:solidFill>
                  <a:srgbClr val="7EC699"/>
                </a:solidFill>
                <a:latin typeface="Consolas"/>
              </a:rPr>
              <a:t>-- 두 번째 실행 -&gt; 웜  캐시 : 첫 실행이 올려놓은 블록을 재사용</a:t>
            </a:r>
          </a:p>
          <a:p>
            <a:r>
              <a:rPr sz="1250" b="0">
                <a:solidFill>
                  <a:srgbClr val="7EC699"/>
                </a:solidFill>
                <a:latin typeface="Consolas"/>
              </a:rPr>
              <a:t>--</a:t>
            </a:r>
          </a:p>
          <a:p>
            <a:r>
              <a:rPr sz="1250" b="0">
                <a:solidFill>
                  <a:srgbClr val="7EC699"/>
                </a:solidFill>
                <a:latin typeface="Consolas"/>
              </a:rPr>
              <a:t>-- 두 실행 모두 DISPLAY_CURSOR(...ALLSTATS LAST)로 통계를 확인한다</a:t>
            </a:r>
          </a:p>
        </p:txBody>
      </p:sp>
    </p:spTree>
    <p:extLst>
      <p:ext uri="{BB962C8B-B14F-4D97-AF65-F5344CB8AC3E}">
        <p14:creationId xmlns:p14="http://schemas.microsoft.com/office/powerpoint/2010/main" val="1251681893"/>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재현 가능한 측정의 조건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측정값을 남길 때 함께 기록해야 하는 것들</a:t>
            </a:r>
          </a:p>
          <a:p>
            <a:r>
              <a:rPr sz="1600" b="0">
                <a:solidFill>
                  <a:srgbClr val="5A6672"/>
                </a:solidFill>
                <a:latin typeface="Malgun Gothic"/>
              </a:rPr>
              <a:t>    –  캐시 상태 — 콜드인가 웜인가, 몇 번째 실행인가</a:t>
            </a:r>
          </a:p>
          <a:p>
            <a:r>
              <a:rPr sz="1600" b="0">
                <a:solidFill>
                  <a:srgbClr val="5A6672"/>
                </a:solidFill>
                <a:latin typeface="Malgun Gothic"/>
              </a:rPr>
              <a:t>    –  실행계획 — 두 측정에서 계획이 동일했는가</a:t>
            </a:r>
          </a:p>
          <a:p>
            <a:r>
              <a:rPr sz="1600" b="0">
                <a:solidFill>
                  <a:srgbClr val="5A6672"/>
                </a:solidFill>
                <a:latin typeface="Malgun Gothic"/>
              </a:rPr>
              <a:t>    –  데이터 조건 — 조회 범위와 결과 건수(A-Rows)가 같았는가</a:t>
            </a:r>
          </a:p>
          <a:p>
            <a:r>
              <a:rPr sz="1600" b="0">
                <a:solidFill>
                  <a:srgbClr val="5A6672"/>
                </a:solidFill>
                <a:latin typeface="Malgun Gothic"/>
              </a:rPr>
              <a:t>    –  측정 도구 — 추정인가 실측인가</a:t>
            </a:r>
          </a:p>
          <a:p>
            <a:r>
              <a:rPr sz="1800" b="0">
                <a:solidFill>
                  <a:srgbClr val="202830"/>
                </a:solidFill>
                <a:latin typeface="Malgun Gothic"/>
              </a:rPr>
              <a:t>•  한 번의 측정으로 결론을 내리지 않는다</a:t>
            </a:r>
          </a:p>
          <a:p>
            <a:r>
              <a:rPr sz="1600" b="0">
                <a:solidFill>
                  <a:srgbClr val="5A6672"/>
                </a:solidFill>
                <a:latin typeface="Malgun Gothic"/>
              </a:rPr>
              <a:t>    –  같은 조건을 여러 번 재고, 값이 흔들리면 흔들리는 이유를 먼저 설명한다</a:t>
            </a:r>
          </a:p>
          <a:p>
            <a:r>
              <a:rPr sz="1600" b="0">
                <a:solidFill>
                  <a:srgbClr val="5A6672"/>
                </a:solidFill>
                <a:latin typeface="Malgun Gothic"/>
              </a:rPr>
              <a:t>    –  설명되지 않는 편차가 남아 있는 상태의 수치는 근거로 쓰지 않는다</a:t>
            </a:r>
          </a:p>
          <a:p>
            <a:r>
              <a:rPr sz="1800" b="0">
                <a:solidFill>
                  <a:srgbClr val="202830"/>
                </a:solidFill>
                <a:latin typeface="Malgun Gothic"/>
              </a:rPr>
              <a:t>•  결과는 지표별로 나란히 적어 비교한다</a:t>
            </a:r>
          </a:p>
          <a:p>
            <a:r>
              <a:rPr sz="1600" b="0">
                <a:solidFill>
                  <a:srgbClr val="5A6672"/>
                </a:solidFill>
                <a:latin typeface="Malgun Gothic"/>
              </a:rPr>
              <a:t>    –  Buffers · Reads · A-Time을 한 표에 놓아야 차이의 원인이 보인다</a:t>
            </a:r>
          </a:p>
        </p:txBody>
      </p:sp>
    </p:spTree>
    <p:extLst>
      <p:ext uri="{BB962C8B-B14F-4D97-AF65-F5344CB8AC3E}">
        <p14:creationId xmlns:p14="http://schemas.microsoft.com/office/powerpoint/2010/main" val="3293200956"/>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107996"/>
          </a:xfrm>
          <a:prstGeom prst="rect">
            <a:avLst/>
          </a:prstGeom>
          <a:noFill/>
        </p:spPr>
        <p:txBody>
          <a:bodyPr wrap="square">
            <a:spAutoFit/>
          </a:bodyPr>
          <a:lstStyle/>
          <a:p>
            <a:r>
              <a:rPr sz="6600" b="1" dirty="0">
                <a:solidFill>
                  <a:srgbClr val="C0392B"/>
                </a:solidFill>
                <a:latin typeface="Malgun Gothic"/>
              </a:rPr>
              <a:t>4.5</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콜드 캐시 vs 웜 캐시 실측</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콜드 캐시 — 버퍼 캐시를 비운 직후 첫 실행</a:t>
            </a:r>
          </a:p>
          <a:p>
            <a:r>
              <a:rPr sz="1600" b="0">
                <a:solidFill>
                  <a:srgbClr val="C5CED6"/>
                </a:solidFill>
                <a:latin typeface="Malgun Gothic"/>
              </a:rPr>
              <a:t>•  웜 캐시 — 동일 쿼리 즉시 재실행</a:t>
            </a:r>
          </a:p>
          <a:p>
            <a:r>
              <a:rPr sz="1600" b="0">
                <a:solidFill>
                  <a:srgbClr val="C5CED6"/>
                </a:solidFill>
                <a:latin typeface="Malgun Gothic"/>
              </a:rPr>
              <a:t>•  세 지표가 각각 무엇을 말하는가</a:t>
            </a:r>
          </a:p>
        </p:txBody>
      </p:sp>
    </p:spTree>
    <p:extLst>
      <p:ext uri="{BB962C8B-B14F-4D97-AF65-F5344CB8AC3E}">
        <p14:creationId xmlns:p14="http://schemas.microsoft.com/office/powerpoint/2010/main" val="3637666325"/>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콜드 캐시 — 버퍼 캐시를 비운 직후 첫 실행</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DBMS_XPLAN.DISPLAY_CURSOR(...ALLSTATS LAST) 실측</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A-Rows |   A-Time   | Buffers | Reads |</a:t>
            </a:r>
          </a:p>
          <a:p>
            <a:r>
              <a:rPr sz="1250" b="0">
                <a:solidFill>
                  <a:srgbClr val="E6E6E6"/>
                </a:solidFill>
                <a:latin typeface="Consolas"/>
              </a:rPr>
              <a:t>| 0  | SELECT STATEMENT                    |                   |    804 |00:00:00.01 |     787 |   785 |</a:t>
            </a:r>
          </a:p>
          <a:p>
            <a:r>
              <a:rPr sz="1250" b="0">
                <a:solidFill>
                  <a:srgbClr val="E6E6E6"/>
                </a:solidFill>
                <a:latin typeface="Consolas"/>
              </a:rPr>
              <a:t>| 1  |  TABLE ACCESS BY INDEX ROWID BATCHED| MEDICAL_CLAIMS    |    804 |00:00:00.01 |     787 |   785 |</a:t>
            </a:r>
          </a:p>
          <a:p>
            <a:r>
              <a:rPr sz="1250" b="0">
                <a:solidFill>
                  <a:srgbClr val="E6E6E6"/>
                </a:solidFill>
                <a:latin typeface="Consolas"/>
              </a:rPr>
              <a:t>| 2  |   INDEX RANGE SCAN                  | PK_MEDICAL_CLAIMS |    804 |00:00:00.01 |      61 |    64 |</a:t>
            </a:r>
          </a:p>
          <a:p>
            <a:r>
              <a:rPr sz="1250" b="0">
                <a:solidFill>
                  <a:srgbClr val="E6E6E6"/>
                </a:solidFill>
                <a:latin typeface="Consolas"/>
              </a:rPr>
              <a:t> </a:t>
            </a:r>
          </a:p>
          <a:p>
            <a:r>
              <a:rPr sz="1250" b="0">
                <a:solidFill>
                  <a:srgbClr val="7EC699"/>
                </a:solidFill>
                <a:latin typeface="Consolas"/>
              </a:rPr>
              <a:t>-- Reads 컬럼이 존재한다 = 디스크까지 내려간 요청이 있었다는 뜻</a:t>
            </a:r>
          </a:p>
          <a:p>
            <a:r>
              <a:rPr sz="1250" b="0">
                <a:solidFill>
                  <a:srgbClr val="7EC699"/>
                </a:solidFill>
                <a:latin typeface="Consolas"/>
              </a:rPr>
              <a:t>-- 요청한 블록 787 중 785 를 디스크에서 읽어와야 했다</a:t>
            </a:r>
          </a:p>
          <a:p>
            <a:r>
              <a:rPr sz="1250" b="0">
                <a:solidFill>
                  <a:srgbClr val="7EC699"/>
                </a:solidFill>
                <a:latin typeface="Consolas"/>
              </a:rPr>
              <a:t>-- A-Time 00:00:00.01 : 이 VM 은 SSD 위라 785 블록 물리 읽기가 10ms 안에 끝났다(회전 디스크면 수 초)</a:t>
            </a:r>
          </a:p>
        </p:txBody>
      </p:sp>
    </p:spTree>
    <p:extLst>
      <p:ext uri="{BB962C8B-B14F-4D97-AF65-F5344CB8AC3E}">
        <p14:creationId xmlns:p14="http://schemas.microsoft.com/office/powerpoint/2010/main" val="3888700648"/>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웜 캐시 — 동일 쿼리 즉시 재실행</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쿼리도 계획도 그대로, 캐시 상태만 다르다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A-Rows |   A-Time   | Buffers |</a:t>
            </a:r>
          </a:p>
          <a:p>
            <a:r>
              <a:rPr sz="1250" b="0">
                <a:solidFill>
                  <a:srgbClr val="E6E6E6"/>
                </a:solidFill>
                <a:latin typeface="Consolas"/>
              </a:rPr>
              <a:t>| 0  | SELECT STATEMENT                    |                   |    804 |00:00:00.01 |     776 |</a:t>
            </a:r>
          </a:p>
          <a:p>
            <a:r>
              <a:rPr sz="1250" b="0">
                <a:solidFill>
                  <a:srgbClr val="E6E6E6"/>
                </a:solidFill>
                <a:latin typeface="Consolas"/>
              </a:rPr>
              <a:t>| 1  |  TABLE ACCESS BY INDEX ROWID BATCHED| MEDICAL_CLAIMS    |    804 |00:00:00.01 |     776 |</a:t>
            </a:r>
          </a:p>
          <a:p>
            <a:r>
              <a:rPr sz="1250" b="0">
                <a:solidFill>
                  <a:srgbClr val="E6E6E6"/>
                </a:solidFill>
                <a:latin typeface="Consolas"/>
              </a:rPr>
              <a:t>| 2  |   INDEX RANGE SCAN                  | PK_MEDICAL_CLAIMS |    804 |00:00:00.01 |      61 |</a:t>
            </a:r>
          </a:p>
          <a:p>
            <a:r>
              <a:rPr sz="1250" b="0">
                <a:solidFill>
                  <a:srgbClr val="E6E6E6"/>
                </a:solidFill>
                <a:latin typeface="Consolas"/>
              </a:rPr>
              <a:t> </a:t>
            </a:r>
          </a:p>
          <a:p>
            <a:r>
              <a:rPr sz="1250" b="0">
                <a:solidFill>
                  <a:srgbClr val="7EC699"/>
                </a:solidFill>
                <a:latin typeface="Consolas"/>
              </a:rPr>
              <a:t>-- Reads 컬럼이 아예 나타나지 않는다 = 물리적 읽기가 0이었다는 뜻</a:t>
            </a:r>
          </a:p>
          <a:p>
            <a:r>
              <a:rPr sz="1250" b="0">
                <a:solidFill>
                  <a:srgbClr val="7EC699"/>
                </a:solidFill>
                <a:latin typeface="Consolas"/>
              </a:rPr>
              <a:t>-- 요청한 블록이 전부 메모리에 있어 디스크 접근이 전혀 없었다</a:t>
            </a:r>
          </a:p>
          <a:p>
            <a:r>
              <a:rPr sz="1250" b="0">
                <a:solidFill>
                  <a:srgbClr val="7EC699"/>
                </a:solidFill>
                <a:latin typeface="Consolas"/>
              </a:rPr>
              <a:t>-- Buffers 776 : 콜드 캐시(787)와 사실상 동일하다 — 차이 11 은 물리 읽기 때 더 요청한 헤더 블록</a:t>
            </a:r>
          </a:p>
          <a:p>
            <a:r>
              <a:rPr sz="1250" b="0">
                <a:solidFill>
                  <a:srgbClr val="7EC699"/>
                </a:solidFill>
                <a:latin typeface="Consolas"/>
              </a:rPr>
              <a:t>-- A-Rows 804   : 처리한 행 수도 동일하다</a:t>
            </a:r>
          </a:p>
        </p:txBody>
      </p:sp>
    </p:spTree>
    <p:extLst>
      <p:ext uri="{BB962C8B-B14F-4D97-AF65-F5344CB8AC3E}">
        <p14:creationId xmlns:p14="http://schemas.microsoft.com/office/powerpoint/2010/main" val="2991614872"/>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해석 — 세 지표가 각각 말하는 것</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Buffers는 787 → 776 으로 사실상 동일했다</a:t>
            </a:r>
          </a:p>
          <a:p>
            <a:r>
              <a:rPr sz="1600" b="0">
                <a:solidFill>
                  <a:srgbClr val="5A6672"/>
                </a:solidFill>
                <a:latin typeface="Malgun Gothic"/>
              </a:rPr>
              <a:t>    –  논리적으로 요청한 블록 수는 캐시 상태와 무관하게 같기 때문</a:t>
            </a:r>
          </a:p>
          <a:p>
            <a:r>
              <a:rPr sz="1600" b="0">
                <a:solidFill>
                  <a:srgbClr val="5A6672"/>
                </a:solidFill>
                <a:latin typeface="Malgun Gothic"/>
              </a:rPr>
              <a:t>    –  SQL 자체의 효율은 두 실행에서 조금도 달라지지 않았다는 뜻</a:t>
            </a:r>
          </a:p>
          <a:p>
            <a:r>
              <a:rPr sz="1800" b="0">
                <a:solidFill>
                  <a:srgbClr val="202830"/>
                </a:solidFill>
                <a:latin typeface="Malgun Gothic"/>
              </a:rPr>
              <a:t>•  Reads는 785에서 컬럼 자체가 사라지는 상태로 바뀌었다</a:t>
            </a:r>
          </a:p>
          <a:p>
            <a:r>
              <a:rPr sz="1600" b="0">
                <a:solidFill>
                  <a:srgbClr val="5A6672"/>
                </a:solidFill>
                <a:latin typeface="Malgun Gothic"/>
              </a:rPr>
              <a:t>    –  콜드에서는 요청한 블록 대부분을 디스크에서 읽어야 했다</a:t>
            </a:r>
          </a:p>
          <a:p>
            <a:r>
              <a:rPr sz="1600" b="0">
                <a:solidFill>
                  <a:srgbClr val="5A6672"/>
                </a:solidFill>
                <a:latin typeface="Malgun Gothic"/>
              </a:rPr>
              <a:t>    –  웜에서는 전부 메모리에 있어 디스크 접근이 전혀 없었다</a:t>
            </a:r>
          </a:p>
          <a:p>
            <a:r>
              <a:rPr sz="1800" b="0">
                <a:solidFill>
                  <a:srgbClr val="202830"/>
                </a:solidFill>
                <a:latin typeface="Malgun Gothic"/>
              </a:rPr>
              <a:t>•  A-Time은 둘 다 0.01초 — SSD 라 차이가 안 보이지만 회전 디스크면 수백 배가 되는 자리</a:t>
            </a:r>
          </a:p>
          <a:p>
            <a:r>
              <a:rPr sz="1600" b="0">
                <a:solidFill>
                  <a:srgbClr val="5A6672"/>
                </a:solidFill>
                <a:latin typeface="Malgun Gothic"/>
              </a:rPr>
              <a:t>    –  물리 읽기 한 건의 비용은 저장 장치가 정한다 — 그래서 시간이 아니라 Reads 로 판정한다</a:t>
            </a:r>
          </a:p>
          <a:p>
            <a:r>
              <a:rPr sz="1600" b="0">
                <a:solidFill>
                  <a:srgbClr val="5A6672"/>
                </a:solidFill>
                <a:latin typeface="Malgun Gothic"/>
              </a:rPr>
              <a:t>    –  같은 SQL, 같은 계획, 같은 결과 건수인데 체감 속도만 달라졌다</a:t>
            </a:r>
          </a:p>
        </p:txBody>
      </p:sp>
    </p:spTree>
    <p:extLst>
      <p:ext uri="{BB962C8B-B14F-4D97-AF65-F5344CB8AC3E}">
        <p14:creationId xmlns:p14="http://schemas.microsoft.com/office/powerpoint/2010/main" val="2235052037"/>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Buffers와 Reads의 작은 차이는 어디서 왔나</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콜드 캐시 실측에서 두 값이 정확히 같지는 않았다</a:t>
            </a:r>
          </a:p>
          <a:p>
            <a:r>
              <a:rPr sz="1600" b="0">
                <a:solidFill>
                  <a:srgbClr val="5A6672"/>
                </a:solidFill>
                <a:latin typeface="Malgun Gothic"/>
              </a:rPr>
              <a:t>    –  Buffers 787 / Reads 785 — 요청 단위와 읽기 단위가 다르다(선읽기, 캐시된 루트·브랜치)</a:t>
            </a:r>
          </a:p>
          <a:p>
            <a:r>
              <a:rPr sz="1800" b="0">
                <a:solidFill>
                  <a:srgbClr val="202830"/>
                </a:solidFill>
                <a:latin typeface="Malgun Gothic"/>
              </a:rPr>
              <a:t>•  왜 완전히 같지 않은가</a:t>
            </a:r>
          </a:p>
          <a:p>
            <a:r>
              <a:rPr sz="1600" b="0">
                <a:solidFill>
                  <a:srgbClr val="5A6672"/>
                </a:solidFill>
                <a:latin typeface="Malgun Gothic"/>
              </a:rPr>
              <a:t>    –  이 쿼리는 데이터 블록만 읽는 것이 아니라 실행 준비 과정에서도 블록을 참조한다</a:t>
            </a:r>
          </a:p>
          <a:p>
            <a:r>
              <a:rPr sz="1600" b="0">
                <a:solidFill>
                  <a:srgbClr val="5A6672"/>
                </a:solidFill>
                <a:latin typeface="Malgun Gothic"/>
              </a:rPr>
              <a:t>    –  세그먼트 헤더, 언두(undo) 관련 블록 등 부가적인 블록들</a:t>
            </a:r>
          </a:p>
          <a:p>
            <a:r>
              <a:rPr sz="1600" b="0">
                <a:solidFill>
                  <a:srgbClr val="5A6672"/>
                </a:solidFill>
                <a:latin typeface="Malgun Gothic"/>
              </a:rPr>
              <a:t>    –  그중 일부는 콜드 상태에서도 이미 캐시에 남아 있었을 수 있다</a:t>
            </a:r>
          </a:p>
          <a:p>
            <a:r>
              <a:rPr sz="1800" b="0">
                <a:solidFill>
                  <a:srgbClr val="202830"/>
                </a:solidFill>
                <a:latin typeface="Malgun Gothic"/>
              </a:rPr>
              <a:t>•  세부 원인 특정보다 중요한 것</a:t>
            </a:r>
          </a:p>
          <a:p>
            <a:r>
              <a:rPr sz="1600" b="0">
                <a:solidFill>
                  <a:srgbClr val="5A6672"/>
                </a:solidFill>
                <a:latin typeface="Malgun Gothic"/>
              </a:rPr>
              <a:t>    –  극단적 콜드 상태여도 Buffers와 Reads가 완전히 같을 필요는 없다</a:t>
            </a:r>
          </a:p>
          <a:p>
            <a:r>
              <a:rPr sz="1600" b="0">
                <a:solidFill>
                  <a:srgbClr val="5A6672"/>
                </a:solidFill>
                <a:latin typeface="Malgun Gothic"/>
              </a:rPr>
              <a:t>    –  Reads가 Buffers를 넘어설 수는 없다 — 부분집합이므로</a:t>
            </a:r>
          </a:p>
        </p:txBody>
      </p:sp>
    </p:spTree>
    <p:extLst>
      <p:ext uri="{BB962C8B-B14F-4D97-AF65-F5344CB8AC3E}">
        <p14:creationId xmlns:p14="http://schemas.microsoft.com/office/powerpoint/2010/main" val="3785973785"/>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107996"/>
          </a:xfrm>
          <a:prstGeom prst="rect">
            <a:avLst/>
          </a:prstGeom>
          <a:noFill/>
        </p:spPr>
        <p:txBody>
          <a:bodyPr wrap="square">
            <a:spAutoFit/>
          </a:bodyPr>
          <a:lstStyle/>
          <a:p>
            <a:r>
              <a:rPr sz="6600" b="1" dirty="0">
                <a:solidFill>
                  <a:srgbClr val="C0392B"/>
                </a:solidFill>
                <a:latin typeface="Malgun Gothic"/>
              </a:rPr>
              <a:t>4.6</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Buffers만 보고 튜닝했다면</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같은 Buffers, 전혀 다른 체감 속도</a:t>
            </a:r>
          </a:p>
          <a:p>
            <a:r>
              <a:rPr sz="1600" b="0">
                <a:solidFill>
                  <a:srgbClr val="C5CED6"/>
                </a:solidFill>
                <a:latin typeface="Malgun Gothic"/>
              </a:rPr>
              <a:t>•  "개발 환경에서는 항상 빠르던데요"</a:t>
            </a:r>
          </a:p>
          <a:p>
            <a:r>
              <a:rPr sz="1600" b="0">
                <a:solidFill>
                  <a:srgbClr val="C5CED6"/>
                </a:solidFill>
                <a:latin typeface="Malgun Gothic"/>
              </a:rPr>
              <a:t>•  지표 하나로 결론을 내리는 습관의 위험</a:t>
            </a:r>
          </a:p>
        </p:txBody>
      </p:sp>
    </p:spTree>
    <p:extLst>
      <p:ext uri="{BB962C8B-B14F-4D97-AF65-F5344CB8AC3E}">
        <p14:creationId xmlns:p14="http://schemas.microsoft.com/office/powerpoint/2010/main" val="473986883"/>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같은 Buffers, 전혀 다른 체감 속도</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 실험에서 Buffers는 콜드든 웜이든 780 안팎으로 사실상 동일했다</a:t>
            </a:r>
          </a:p>
          <a:p>
            <a:r>
              <a:rPr sz="1800" b="0">
                <a:solidFill>
                  <a:srgbClr val="202830"/>
                </a:solidFill>
                <a:latin typeface="Malgun Gothic"/>
              </a:rPr>
              <a:t>•  만약 Buffers만 보고 판단했다면</a:t>
            </a:r>
          </a:p>
          <a:p>
            <a:r>
              <a:rPr sz="1600" b="0">
                <a:solidFill>
                  <a:srgbClr val="5A6672"/>
                </a:solidFill>
                <a:latin typeface="Malgun Gothic"/>
              </a:rPr>
              <a:t>    –  "이 쿼리는 어떤 상황에서도 똑같은 비용"이라고 결론지었을 것이다</a:t>
            </a:r>
          </a:p>
          <a:p>
            <a:r>
              <a:rPr sz="1600" b="0">
                <a:solidFill>
                  <a:srgbClr val="5A6672"/>
                </a:solidFill>
                <a:latin typeface="Malgun Gothic"/>
              </a:rPr>
              <a:t>    –  785 블록의 물리 읽기(느린 저장 장치에서는 수 초)를 완전히 놓쳤을 것이다</a:t>
            </a:r>
          </a:p>
          <a:p>
            <a:r>
              <a:rPr sz="1800" b="0">
                <a:solidFill>
                  <a:srgbClr val="202830"/>
                </a:solidFill>
                <a:latin typeface="Malgun Gothic"/>
              </a:rPr>
              <a:t>•  이것이 앞선 장들에서 반복 확인한 현상의 근본 원인이다</a:t>
            </a:r>
          </a:p>
          <a:p>
            <a:r>
              <a:rPr sz="1600" b="0">
                <a:solidFill>
                  <a:srgbClr val="5A6672"/>
                </a:solidFill>
                <a:latin typeface="Malgun Gothic"/>
              </a:rPr>
              <a:t>    –  ch01 — IN vs EXISTS의 캐시 효과</a:t>
            </a:r>
          </a:p>
          <a:p>
            <a:r>
              <a:rPr sz="1600" b="0">
                <a:solidFill>
                  <a:srgbClr val="5A6672"/>
                </a:solidFill>
                <a:latin typeface="Malgun Gothic"/>
              </a:rPr>
              <a:t>    –  ch11 — SORT UNIQUE</a:t>
            </a:r>
          </a:p>
          <a:p>
            <a:r>
              <a:rPr sz="1600" b="0">
                <a:solidFill>
                  <a:srgbClr val="5A6672"/>
                </a:solidFill>
                <a:latin typeface="Malgun Gothic"/>
              </a:rPr>
              <a:t>    –  ch13 — WINDOW SORT PUSHED RANK</a:t>
            </a:r>
          </a:p>
          <a:p>
            <a:r>
              <a:rPr sz="1600" b="0">
                <a:solidFill>
                  <a:srgbClr val="5A6672"/>
                </a:solidFill>
                <a:latin typeface="Malgun Gothic"/>
              </a:rPr>
              <a:t>    –  "Buffers만으론 안 보이는 비용"의 가장 근본적인 정체가 Logical/Physical I/O 차이였다</a:t>
            </a:r>
          </a:p>
        </p:txBody>
      </p:sp>
    </p:spTree>
    <p:extLst>
      <p:ext uri="{BB962C8B-B14F-4D97-AF65-F5344CB8AC3E}">
        <p14:creationId xmlns:p14="http://schemas.microsoft.com/office/powerpoint/2010/main" val="1511976924"/>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"개발 환경에서는 항상 빠르던데요"</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흔한 보고 — "여러 번 테스트해 봤는데 항상 빠릅니다"</a:t>
            </a:r>
          </a:p>
          <a:p>
            <a:r>
              <a:rPr sz="1800" b="0">
                <a:solidFill>
                  <a:srgbClr val="202830"/>
                </a:solidFill>
                <a:latin typeface="Malgun Gothic"/>
              </a:rPr>
              <a:t>•  왜 이 보고가 운영 성능을 보장하지 못하는가</a:t>
            </a:r>
          </a:p>
          <a:p>
            <a:r>
              <a:rPr sz="1600" b="0">
                <a:solidFill>
                  <a:srgbClr val="5A6672"/>
                </a:solidFill>
                <a:latin typeface="Malgun Gothic"/>
              </a:rPr>
              <a:t>    –  반복 테스트 환경은 이미 같은 쿼리·같은 테이블에 여러 번 접근한 상태다</a:t>
            </a:r>
          </a:p>
          <a:p>
            <a:r>
              <a:rPr sz="1600" b="0">
                <a:solidFill>
                  <a:srgbClr val="5A6672"/>
                </a:solidFill>
                <a:latin typeface="Malgun Gothic"/>
              </a:rPr>
              <a:t>    –  해당 블록들이 버퍼 캐시에 남아 있는 웜 캐시 상태일 가능성이 높다</a:t>
            </a:r>
          </a:p>
          <a:p>
            <a:r>
              <a:rPr sz="1600" b="0">
                <a:solidFill>
                  <a:srgbClr val="5A6672"/>
                </a:solidFill>
                <a:latin typeface="Malgun Gothic"/>
              </a:rPr>
              <a:t>    –  즉 개발자가 본 "항상 빠름"은 웜 캐시만 반복 관찰한 결과일 수 있다</a:t>
            </a:r>
          </a:p>
          <a:p>
            <a:r>
              <a:rPr sz="1800" b="0">
                <a:solidFill>
                  <a:srgbClr val="202830"/>
                </a:solidFill>
                <a:latin typeface="Malgun Gothic"/>
              </a:rPr>
              <a:t>•  이번 실측이 보여 준 것</a:t>
            </a:r>
          </a:p>
          <a:p>
            <a:r>
              <a:rPr sz="1600" b="0">
                <a:solidFill>
                  <a:srgbClr val="5A6672"/>
                </a:solidFill>
                <a:latin typeface="Malgun Gothic"/>
              </a:rPr>
              <a:t>    –  같은 쿼리, 같은 계획인데 콜드는 3.46초, 웜은 0.01초였다</a:t>
            </a:r>
          </a:p>
          <a:p>
            <a:r>
              <a:rPr sz="1600" b="0">
                <a:solidFill>
                  <a:srgbClr val="5A6672"/>
                </a:solidFill>
                <a:latin typeface="Malgun Gothic"/>
              </a:rPr>
              <a:t>    –  운영에서 오랜만에 조회되는 데이터나 서버 재시작 직후에는 전혀 다른 체감이 나온다</a:t>
            </a:r>
          </a:p>
        </p:txBody>
      </p:sp>
    </p:spTree>
    <p:extLst>
      <p:ext uri="{BB962C8B-B14F-4D97-AF65-F5344CB8AC3E}">
        <p14:creationId xmlns:p14="http://schemas.microsoft.com/office/powerpoint/2010/main" val="2230584338"/>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107996"/>
          </a:xfrm>
          <a:prstGeom prst="rect">
            <a:avLst/>
          </a:prstGeom>
          <a:noFill/>
        </p:spPr>
        <p:txBody>
          <a:bodyPr wrap="square">
            <a:spAutoFit/>
          </a:bodyPr>
          <a:lstStyle/>
          <a:p>
            <a:r>
              <a:rPr sz="6600" b="1" dirty="0">
                <a:solidFill>
                  <a:srgbClr val="C0392B"/>
                </a:solidFill>
                <a:latin typeface="Malgun Gothic"/>
              </a:rPr>
              <a:t>4.7</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실무에서 이 차이가 중요한 이유</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운영 DB는 웜에 가깝다 — 그러나 항상은 아니다</a:t>
            </a:r>
          </a:p>
          <a:p>
            <a:r>
              <a:rPr sz="1600" b="0">
                <a:solidFill>
                  <a:srgbClr val="C5CED6"/>
                </a:solidFill>
                <a:latin typeface="Malgun Gothic"/>
              </a:rPr>
              <a:t>•  콜드에 가까운 상황들</a:t>
            </a:r>
          </a:p>
          <a:p>
            <a:r>
              <a:rPr sz="1600" b="0">
                <a:solidFill>
                  <a:srgbClr val="C5CED6"/>
                </a:solidFill>
                <a:latin typeface="Malgun Gothic"/>
              </a:rPr>
              <a:t>•  Buffers를 낮추는 튜닝이 콜드에서 더 크게 보상받는 이유</a:t>
            </a:r>
          </a:p>
        </p:txBody>
      </p:sp>
    </p:spTree>
    <p:extLst>
      <p:ext uri="{BB962C8B-B14F-4D97-AF65-F5344CB8AC3E}">
        <p14:creationId xmlns:p14="http://schemas.microsoft.com/office/powerpoint/2010/main" val="2604734786"/>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운영 DB는 웜에 가깝다 — 그러나 항상은 아니다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운영 중인 DB의 일반적인 상태</a:t>
            </a:r>
          </a:p>
          <a:p>
            <a:r>
              <a:rPr sz="1600" b="0">
                <a:solidFill>
                  <a:srgbClr val="5A6672"/>
                </a:solidFill>
                <a:latin typeface="Malgun Gothic"/>
              </a:rPr>
              <a:t>    –  자주 조회되는 데이터는 대부분 버퍼 캐시에 남아 있다</a:t>
            </a:r>
          </a:p>
          <a:p>
            <a:r>
              <a:rPr sz="1600" b="0">
                <a:solidFill>
                  <a:srgbClr val="5A6672"/>
                </a:solidFill>
                <a:latin typeface="Malgun Gothic"/>
              </a:rPr>
              <a:t>    –  그래서 평소 트래픽은 웜 캐시에 가까운 조건에서 처리된다</a:t>
            </a:r>
          </a:p>
          <a:p>
            <a:r>
              <a:rPr sz="1800" b="0">
                <a:solidFill>
                  <a:srgbClr val="202830"/>
                </a:solidFill>
                <a:latin typeface="Malgun Gothic"/>
              </a:rPr>
              <a:t>•  그 결과 생기는 착시</a:t>
            </a:r>
          </a:p>
          <a:p>
            <a:r>
              <a:rPr sz="1600" b="0">
                <a:solidFill>
                  <a:srgbClr val="5A6672"/>
                </a:solidFill>
                <a:latin typeface="Malgun Gothic"/>
              </a:rPr>
              <a:t>    –  개발자가 같은 쿼리를 반복 테스트하면 항상 빠르게 느껴질 수 있다</a:t>
            </a:r>
          </a:p>
          <a:p>
            <a:r>
              <a:rPr sz="1600" b="0">
                <a:solidFill>
                  <a:srgbClr val="5A6672"/>
                </a:solidFill>
                <a:latin typeface="Malgun Gothic"/>
              </a:rPr>
              <a:t>    –  문제가 드러나는 것은 캐시가 듣지 않는 조건이 왔을 때다</a:t>
            </a:r>
          </a:p>
          <a:p>
            <a:r>
              <a:rPr sz="1800" b="0">
                <a:solidFill>
                  <a:srgbClr val="202830"/>
                </a:solidFill>
                <a:latin typeface="Malgun Gothic"/>
              </a:rPr>
              <a:t>•  그러므로 두 조건을 모두 재야 한다</a:t>
            </a:r>
          </a:p>
          <a:p>
            <a:r>
              <a:rPr sz="1600" b="0">
                <a:solidFill>
                  <a:srgbClr val="5A6672"/>
                </a:solidFill>
                <a:latin typeface="Malgun Gothic"/>
              </a:rPr>
              <a:t>    –  평소 조건(웜)에서의 응답 시간 — 사용자 체감의 기준선</a:t>
            </a:r>
          </a:p>
          <a:p>
            <a:r>
              <a:rPr sz="1600" b="0">
                <a:solidFill>
                  <a:srgbClr val="5A6672"/>
                </a:solidFill>
                <a:latin typeface="Malgun Gothic"/>
              </a:rPr>
              <a:t>    –  최악 조건(콜드)에서의 응답 시간 — 장애 시 감당해야 할 상한</a:t>
            </a:r>
          </a:p>
        </p:txBody>
      </p:sp>
    </p:spTree>
    <p:extLst>
      <p:ext uri="{BB962C8B-B14F-4D97-AF65-F5344CB8AC3E}">
        <p14:creationId xmlns:p14="http://schemas.microsoft.com/office/powerpoint/2010/main" val="1766214658"/>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콜드 캐시에 가까운 상황들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새벽 배치</a:t>
            </a:r>
          </a:p>
          <a:p>
            <a:r>
              <a:rPr sz="1600" b="0">
                <a:solidFill>
                  <a:srgbClr val="5A6672"/>
                </a:solidFill>
                <a:latin typeface="Malgun Gothic"/>
              </a:rPr>
              <a:t>    –  월말 정산 리포트가 MEDICAL_CLAIMS와 CLAIM_DETAILS를 대량으로 훑는 경우</a:t>
            </a:r>
          </a:p>
          <a:p>
            <a:r>
              <a:rPr sz="1600" b="0">
                <a:solidFill>
                  <a:srgbClr val="5A6672"/>
                </a:solidFill>
                <a:latin typeface="Malgun Gothic"/>
              </a:rPr>
              <a:t>    –  새벽에 한 번만 실행되며, 직전까지 캐시에 있던 블록과는 무관한 블록을 요청한다</a:t>
            </a:r>
          </a:p>
          <a:p>
            <a:r>
              <a:rPr sz="1800" b="0">
                <a:solidFill>
                  <a:srgbClr val="202830"/>
                </a:solidFill>
                <a:latin typeface="Malgun Gothic"/>
              </a:rPr>
              <a:t>•  오랜만에 조회하는 오래된 데이터</a:t>
            </a:r>
          </a:p>
          <a:p>
            <a:r>
              <a:rPr sz="1600" b="0">
                <a:solidFill>
                  <a:srgbClr val="5A6672"/>
                </a:solidFill>
                <a:latin typeface="Malgun Gothic"/>
              </a:rPr>
              <a:t>    –  과거 이력 조회, 감사 대응, 연말 통계 등</a:t>
            </a:r>
          </a:p>
          <a:p>
            <a:r>
              <a:rPr sz="1800" b="0">
                <a:solidFill>
                  <a:srgbClr val="202830"/>
                </a:solidFill>
                <a:latin typeface="Malgun Gothic"/>
              </a:rPr>
              <a:t>•  DB 재시작 직후</a:t>
            </a:r>
          </a:p>
          <a:p>
            <a:r>
              <a:rPr sz="1600" b="0">
                <a:solidFill>
                  <a:srgbClr val="5A6672"/>
                </a:solidFill>
                <a:latin typeface="Malgun Gothic"/>
              </a:rPr>
              <a:t>    –  버퍼 캐시가 완전히 비어 있는 상태에서 트래픽을 받기 시작한다</a:t>
            </a:r>
          </a:p>
          <a:p>
            <a:r>
              <a:rPr sz="1800" b="0">
                <a:solidFill>
                  <a:srgbClr val="202830"/>
                </a:solidFill>
                <a:latin typeface="Malgun Gothic"/>
              </a:rPr>
              <a:t>•  버퍼 캐시보다 훨씬 큰 대용량 테이블</a:t>
            </a:r>
          </a:p>
          <a:p>
            <a:r>
              <a:rPr sz="1600" b="0">
                <a:solidFill>
                  <a:srgbClr val="5A6672"/>
                </a:solidFill>
                <a:latin typeface="Malgun Gothic"/>
              </a:rPr>
              <a:t>    –  읽는 족족 밀려나므로 반복 조회해도 캐시 적중을 기대하기 어렵다</a:t>
            </a:r>
          </a:p>
          <a:p>
            <a:r>
              <a:rPr sz="1800" b="0">
                <a:solidFill>
                  <a:srgbClr val="202830"/>
                </a:solidFill>
                <a:latin typeface="Malgun Gothic"/>
              </a:rPr>
              <a:t>•  공통점 — 대량·비반복 조회는 필연적으로 콜드에 가깝다</a:t>
            </a:r>
          </a:p>
        </p:txBody>
      </p:sp>
    </p:spTree>
    <p:extLst>
      <p:ext uri="{BB962C8B-B14F-4D97-AF65-F5344CB8AC3E}">
        <p14:creationId xmlns:p14="http://schemas.microsoft.com/office/powerpoint/2010/main" val="3272285972"/>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콜드에서 Buffers 절감이 더 크게 보상받는 이유</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Buffers는 요청 횟수이고, 콜드에서는 그 요청이 대부분 물리 I/O가 된다</a:t>
            </a:r>
          </a:p>
          <a:p>
            <a:r>
              <a:rPr sz="1600" b="0">
                <a:solidFill>
                  <a:srgbClr val="5A6672"/>
                </a:solidFill>
                <a:latin typeface="Malgun Gothic"/>
              </a:rPr>
              <a:t>    –  즉 콜드 상황에서 Buffers는 곧 디스크 접근 횟수의 상한선에 가까워진다</a:t>
            </a:r>
          </a:p>
          <a:p>
            <a:r>
              <a:rPr sz="1800" b="0">
                <a:solidFill>
                  <a:srgbClr val="202830"/>
                </a:solidFill>
                <a:latin typeface="Malgun Gothic"/>
              </a:rPr>
              <a:t>•  Buffers가 10배 큰 쿼리라면</a:t>
            </a:r>
          </a:p>
          <a:p>
            <a:r>
              <a:rPr sz="1600" b="0">
                <a:solidFill>
                  <a:srgbClr val="5A6672"/>
                </a:solidFill>
                <a:latin typeface="Malgun Gothic"/>
              </a:rPr>
              <a:t>    –  콜드 상황에서 물리 I/O 요청도 대략 10배로 늘어날 수 있다</a:t>
            </a:r>
          </a:p>
          <a:p>
            <a:r>
              <a:rPr sz="1600" b="0">
                <a:solidFill>
                  <a:srgbClr val="5A6672"/>
                </a:solidFill>
                <a:latin typeface="Malgun Gothic"/>
              </a:rPr>
              <a:t>    –  응답 시간이 훨씬 더 크게 나빠질 수 있다</a:t>
            </a:r>
          </a:p>
          <a:p>
            <a:r>
              <a:rPr sz="1800" b="0">
                <a:solidFill>
                  <a:srgbClr val="202830"/>
                </a:solidFill>
                <a:latin typeface="Malgun Gothic"/>
              </a:rPr>
              <a:t>•  그래서 Buffers를 낮추는 튜닝은 콜드에서 이득이 훨씬 크다</a:t>
            </a:r>
          </a:p>
          <a:p>
            <a:r>
              <a:rPr sz="1600" b="0">
                <a:solidFill>
                  <a:srgbClr val="5A6672"/>
                </a:solidFill>
                <a:latin typeface="Malgun Gothic"/>
              </a:rPr>
              <a:t>    –  웜 캐시 상황에서의 이득보다 콜드 캐시 상황에서의 이득이 훨씬 크다</a:t>
            </a:r>
          </a:p>
          <a:p>
            <a:r>
              <a:rPr sz="1600" b="0">
                <a:solidFill>
                  <a:srgbClr val="5A6672"/>
                </a:solidFill>
                <a:latin typeface="Malgun Gothic"/>
              </a:rPr>
              <a:t>    –  인덱스 설계, 조인 최적화, N+1 회피 등 이 과정 전체의 기법이 여기에 해당한다</a:t>
            </a:r>
          </a:p>
          <a:p>
            <a:r>
              <a:rPr sz="1800" b="0">
                <a:solidFill>
                  <a:srgbClr val="202830"/>
                </a:solidFill>
                <a:latin typeface="Malgun Gothic"/>
              </a:rPr>
              <a:t>•  결론 — Buffers가 낮으면 최악의 경우에도 피해가 그만큼 제한된다</a:t>
            </a:r>
          </a:p>
        </p:txBody>
      </p:sp>
    </p:spTree>
    <p:extLst>
      <p:ext uri="{BB962C8B-B14F-4D97-AF65-F5344CB8AC3E}">
        <p14:creationId xmlns:p14="http://schemas.microsoft.com/office/powerpoint/2010/main" val="632706793"/>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Benchmark — 콜드 캐시 vs 웜 캐시</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같은 쿼리·같은 실행계획, 캐시 상태만 다르다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상태        |  Buffers  |     Reads     |  A-Time  |</a:t>
            </a:r>
          </a:p>
          <a:p>
            <a:r>
              <a:rPr sz="1250" b="0">
                <a:solidFill>
                  <a:srgbClr val="E6E6E6"/>
                </a:solidFill>
                <a:latin typeface="Consolas"/>
              </a:rPr>
              <a:t>|--------------------|-----------|---------------|----------|</a:t>
            </a:r>
          </a:p>
          <a:p>
            <a:r>
              <a:rPr sz="1250" b="0">
                <a:solidFill>
                  <a:srgbClr val="E6E6E6"/>
                </a:solidFill>
                <a:latin typeface="Consolas"/>
              </a:rPr>
              <a:t>| 콜드 캐시(첫 실행) |       787 |           785 |   0.01초 |</a:t>
            </a:r>
          </a:p>
          <a:p>
            <a:r>
              <a:rPr sz="1250" b="0">
                <a:solidFill>
                  <a:srgbClr val="E6E6E6"/>
                </a:solidFill>
                <a:latin typeface="Consolas"/>
              </a:rPr>
              <a:t>| 웜 캐시(재실행)    |       776 | 0(표시 안 됨) |   0.01초 |</a:t>
            </a:r>
          </a:p>
          <a:p>
            <a:r>
              <a:rPr sz="1250" b="0">
                <a:solidFill>
                  <a:srgbClr val="E6E6E6"/>
                </a:solidFill>
                <a:latin typeface="Consolas"/>
              </a:rPr>
              <a:t>| 배율               | 1배(동일) |      785 → 0  | SSD 라 동일 |</a:t>
            </a:r>
          </a:p>
          <a:p>
            <a:r>
              <a:rPr sz="1250" b="0">
                <a:solidFill>
                  <a:srgbClr val="E6E6E6"/>
                </a:solidFill>
                <a:latin typeface="Consolas"/>
              </a:rPr>
              <a:t> </a:t>
            </a:r>
          </a:p>
          <a:p>
            <a:r>
              <a:rPr sz="1250" b="0">
                <a:solidFill>
                  <a:srgbClr val="7EC699"/>
                </a:solidFill>
                <a:latin typeface="Consolas"/>
              </a:rPr>
              <a:t>-- 세로로 읽으면 : Buffers는 안 변하고 Reads와 A-Time만 변했다</a:t>
            </a:r>
          </a:p>
          <a:p>
            <a:r>
              <a:rPr sz="1250" b="0">
                <a:solidFill>
                  <a:srgbClr val="7EC699"/>
                </a:solidFill>
                <a:latin typeface="Consolas"/>
              </a:rPr>
              <a:t>-- 가로로 읽으면 : 같은 SQL이 조건에 따라 전혀 다른 체감을 준다</a:t>
            </a:r>
          </a:p>
        </p:txBody>
      </p:sp>
    </p:spTree>
    <p:extLst>
      <p:ext uri="{BB962C8B-B14F-4D97-AF65-F5344CB8AC3E}">
        <p14:creationId xmlns:p14="http://schemas.microsoft.com/office/powerpoint/2010/main" val="3238491691"/>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성능 측정 체크리스트</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측정 전 — 무엇을 재는지 정한다</a:t>
            </a:r>
          </a:p>
          <a:p>
            <a:r>
              <a:rPr sz="1600" b="0">
                <a:solidFill>
                  <a:srgbClr val="5A6672"/>
                </a:solidFill>
                <a:latin typeface="Malgun Gothic"/>
              </a:rPr>
              <a:t>    –  평소 조건(웜)인가 최악 조건(콜드)인가를 먼저 결정한다</a:t>
            </a:r>
          </a:p>
          <a:p>
            <a:r>
              <a:rPr sz="1600" b="0">
                <a:solidFill>
                  <a:srgbClr val="5A6672"/>
                </a:solidFill>
                <a:latin typeface="Malgun Gothic"/>
              </a:rPr>
              <a:t>    –  비교 대상 두 SQL의 결과가 동일한지 먼저 확인한다(A-Rows 대조)</a:t>
            </a:r>
          </a:p>
          <a:p>
            <a:r>
              <a:rPr sz="1800" b="0">
                <a:solidFill>
                  <a:srgbClr val="202830"/>
                </a:solidFill>
                <a:latin typeface="Malgun Gothic"/>
              </a:rPr>
              <a:t>•  측정 중 — 변수를 하나만 바꾼다</a:t>
            </a:r>
          </a:p>
          <a:p>
            <a:r>
              <a:rPr sz="1600" b="0">
                <a:solidFill>
                  <a:srgbClr val="5A6672"/>
                </a:solidFill>
                <a:latin typeface="Malgun Gothic"/>
              </a:rPr>
              <a:t>    –  쿼리, 데이터, 세션, 시간대 중 바꾼 것이 하나인지 점검한다</a:t>
            </a:r>
          </a:p>
          <a:p>
            <a:r>
              <a:rPr sz="1600" b="0">
                <a:solidFill>
                  <a:srgbClr val="5A6672"/>
                </a:solidFill>
                <a:latin typeface="Malgun Gothic"/>
              </a:rPr>
              <a:t>    –  실행 직후 DISPLAY_CURSOR로 통계를 조회한다(다른 SQL을 끼워 넣지 않는다)</a:t>
            </a:r>
          </a:p>
          <a:p>
            <a:r>
              <a:rPr sz="1800" b="0">
                <a:solidFill>
                  <a:srgbClr val="202830"/>
                </a:solidFill>
                <a:latin typeface="Malgun Gothic"/>
              </a:rPr>
              <a:t>•  측정 후 — 조건과 함께 기록한다</a:t>
            </a:r>
          </a:p>
          <a:p>
            <a:r>
              <a:rPr sz="1600" b="0">
                <a:solidFill>
                  <a:srgbClr val="5A6672"/>
                </a:solidFill>
                <a:latin typeface="Malgun Gothic"/>
              </a:rPr>
              <a:t>    –  Buffers · Reads · A-Time을 한 표에 나란히 적는다</a:t>
            </a:r>
          </a:p>
          <a:p>
            <a:r>
              <a:rPr sz="1600" b="0">
                <a:solidFill>
                  <a:srgbClr val="5A6672"/>
                </a:solidFill>
                <a:latin typeface="Malgun Gothic"/>
              </a:rPr>
              <a:t>    –  실행계획 원문을 함께 남겨 다른 사람이 검증할 수 있게 한다</a:t>
            </a:r>
          </a:p>
          <a:p>
            <a:r>
              <a:rPr sz="1600" b="0">
                <a:solidFill>
                  <a:srgbClr val="5A6672"/>
                </a:solidFill>
                <a:latin typeface="Malgun Gothic"/>
              </a:rPr>
              <a:t>    –  숫자만 있고 조건이 없는 보고서는 근거로 쓰지 않는다</a:t>
            </a:r>
          </a:p>
        </p:txBody>
      </p:sp>
    </p:spTree>
    <p:extLst>
      <p:ext uri="{BB962C8B-B14F-4D97-AF65-F5344CB8AC3E}">
        <p14:creationId xmlns:p14="http://schemas.microsoft.com/office/powerpoint/2010/main" val="168085571"/>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진단 시 최소한 확인할 지표</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이 과정 전체에서 다룬 지표를 다섯 개로 압축하면</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 |       지표       |    어디서 보는가     |             무엇을 알려주는가              |</a:t>
            </a:r>
          </a:p>
          <a:p>
            <a:r>
              <a:rPr sz="1250" b="0">
                <a:solidFill>
                  <a:srgbClr val="E6E6E6"/>
                </a:solidFill>
                <a:latin typeface="Consolas"/>
              </a:rPr>
              <a:t>|---|------------------|----------------------|--------------------------------------------|</a:t>
            </a:r>
          </a:p>
          <a:p>
            <a:r>
              <a:rPr sz="1250" b="0">
                <a:solidFill>
                  <a:srgbClr val="E6E6E6"/>
                </a:solidFill>
                <a:latin typeface="Consolas"/>
              </a:rPr>
              <a:t>| 1 | Rows / Cost      | EXPLAIN PLAN (추정)  | 옵티마이저의 예상 — 실행 전 1차 점검       |</a:t>
            </a:r>
          </a:p>
          <a:p>
            <a:r>
              <a:rPr sz="1250" b="0">
                <a:solidFill>
                  <a:srgbClr val="E6E6E6"/>
                </a:solidFill>
                <a:latin typeface="Consolas"/>
              </a:rPr>
              <a:t>| 2 | E-Rows vs A-Rows | ALLSTATS LAST (실측) | 추정과 실제의 괴리 — 통계정보 문제 의심    |</a:t>
            </a:r>
          </a:p>
          <a:p>
            <a:r>
              <a:rPr sz="1250" b="0">
                <a:solidFill>
                  <a:srgbClr val="E6E6E6"/>
                </a:solidFill>
                <a:latin typeface="Consolas"/>
              </a:rPr>
              <a:t>| 3 | Buffers          | ALLSTATS LAST (실측) | 논리적 I/O 총량 — SQL 자체의 효율성        |</a:t>
            </a:r>
          </a:p>
          <a:p>
            <a:r>
              <a:rPr sz="1250" b="0">
                <a:solidFill>
                  <a:srgbClr val="E6E6E6"/>
                </a:solidFill>
                <a:latin typeface="Consolas"/>
              </a:rPr>
              <a:t>| 4 | Reads            | ALLSTATS LAST (실측) | 실제 디스크 접근 — 캐시 상태에 따른 체감차 |</a:t>
            </a:r>
          </a:p>
          <a:p>
            <a:r>
              <a:rPr sz="1250" b="0">
                <a:solidFill>
                  <a:srgbClr val="E6E6E6"/>
                </a:solidFill>
                <a:latin typeface="Consolas"/>
              </a:rPr>
              <a:t>| 5 | A-Time           | ALLSTATS LAST (실측) | 최종 소요 시간 — 위 지표들의 종합 결과     |</a:t>
            </a:r>
          </a:p>
          <a:p>
            <a:r>
              <a:rPr sz="1250" b="0">
                <a:solidFill>
                  <a:srgbClr val="E6E6E6"/>
                </a:solidFill>
                <a:latin typeface="Consolas"/>
              </a:rPr>
              <a:t> </a:t>
            </a:r>
          </a:p>
          <a:p>
            <a:r>
              <a:rPr sz="1250" b="0">
                <a:solidFill>
                  <a:srgbClr val="7EC699"/>
                </a:solidFill>
                <a:latin typeface="Consolas"/>
              </a:rPr>
              <a:t>-- 순서대로 보는 것이 핵심 : 추정 -&gt; 정확도 -&gt; 효율 -&gt; 캐시 -&gt; 결과</a:t>
            </a:r>
          </a:p>
        </p:txBody>
      </p:sp>
    </p:spTree>
    <p:extLst>
      <p:ext uri="{BB962C8B-B14F-4D97-AF65-F5344CB8AC3E}">
        <p14:creationId xmlns:p14="http://schemas.microsoft.com/office/powerpoint/2010/main" val="1524864866"/>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14개 챕터를 측정의 관점으로 다시 읽기</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무엇을 고칠 것인가 — 진단과 원리</a:t>
            </a:r>
          </a:p>
          <a:p>
            <a:r>
              <a:rPr sz="1600" b="0">
                <a:solidFill>
                  <a:srgbClr val="5A6672"/>
                </a:solidFill>
                <a:latin typeface="Malgun Gothic"/>
              </a:rPr>
              <a:t>    –  ch01~ch03   SQL 튜닝의 정의 · SQL 실행 원리 · 실행계획 기초</a:t>
            </a:r>
          </a:p>
          <a:p>
            <a:r>
              <a:rPr sz="1600" b="0">
                <a:solidFill>
                  <a:srgbClr val="5A6672"/>
                </a:solidFill>
                <a:latin typeface="Malgun Gothic"/>
              </a:rPr>
              <a:t>    –  ch08     Optimizer와 통계정보 — 추정이 어긋나는 이유</a:t>
            </a:r>
          </a:p>
          <a:p>
            <a:r>
              <a:rPr sz="1800" b="0">
                <a:solidFill>
                  <a:srgbClr val="202830"/>
                </a:solidFill>
                <a:latin typeface="Malgun Gothic"/>
              </a:rPr>
              <a:t>•  어떻게 고칠 것인가 — 접근 경로와 문장 구조</a:t>
            </a:r>
          </a:p>
          <a:p>
            <a:r>
              <a:rPr sz="1600" b="0">
                <a:solidFill>
                  <a:srgbClr val="5A6672"/>
                </a:solidFill>
                <a:latin typeface="Malgun Gothic"/>
              </a:rPr>
              <a:t>    –  ch05~ch07   Full Scan vs Index Scan · 인덱스 설계 · SARGable SQL</a:t>
            </a:r>
          </a:p>
          <a:p>
            <a:r>
              <a:rPr sz="1600" b="0">
                <a:solidFill>
                  <a:srgbClr val="5A6672"/>
                </a:solidFill>
                <a:latin typeface="Malgun Gothic"/>
              </a:rPr>
              <a:t>    –  ch09~ch10   JOIN 실행 원리 · Subquery / EXISTS / IN</a:t>
            </a:r>
          </a:p>
          <a:p>
            <a:r>
              <a:rPr sz="1600" b="0">
                <a:solidFill>
                  <a:srgbClr val="5A6672"/>
                </a:solidFill>
                <a:latin typeface="Malgun Gothic"/>
              </a:rPr>
              <a:t>    –  ch11~ch13  UNION / DISTINCT · SORT / GROUP BY / 집계 · 페이징 SQL 튜닝</a:t>
            </a:r>
          </a:p>
          <a:p>
            <a:r>
              <a:rPr sz="1600" b="0">
                <a:solidFill>
                  <a:srgbClr val="5A6672"/>
                </a:solidFill>
                <a:latin typeface="Malgun Gothic"/>
              </a:rPr>
              <a:t>    –  ch14     실무에서 자주 발생하는 SQL 문제</a:t>
            </a:r>
          </a:p>
          <a:p>
            <a:r>
              <a:rPr sz="1800" b="0">
                <a:solidFill>
                  <a:srgbClr val="202830"/>
                </a:solidFill>
                <a:latin typeface="Malgun Gothic"/>
              </a:rPr>
              <a:t>•  무엇을 근거로 나아졌다고 말할 것인가 — 측정</a:t>
            </a:r>
          </a:p>
          <a:p>
            <a:r>
              <a:rPr sz="1600" b="0">
                <a:solidFill>
                  <a:srgbClr val="5A6672"/>
                </a:solidFill>
                <a:latin typeface="Malgun Gothic"/>
              </a:rPr>
              <a:t>    –  ch04     이 장 — 도구와 지표, 그리고 측정 조건의 통제</a:t>
            </a:r>
          </a:p>
        </p:txBody>
      </p:sp>
    </p:spTree>
    <p:extLst>
      <p:ext uri="{BB962C8B-B14F-4D97-AF65-F5344CB8AC3E}">
        <p14:creationId xmlns:p14="http://schemas.microsoft.com/office/powerpoint/2010/main" val="168920369"/>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요약 (Review)</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EXPLAIN PLAN은 실행 전 추정치, DISPLAY_CURSOR(ALLSTATS LAST)는 실행 후 실측이다</a:t>
            </a:r>
          </a:p>
          <a:p>
            <a:r>
              <a:rPr sz="1600" b="0">
                <a:solidFill>
                  <a:srgbClr val="5A6672"/>
                </a:solidFill>
                <a:latin typeface="Malgun Gothic"/>
              </a:rPr>
              <a:t>    –  ch02부터 계속 지켜 온 구분이며, 성과 증명에는 반드시 실측을 쓴다</a:t>
            </a:r>
          </a:p>
          <a:p>
            <a:r>
              <a:rPr sz="1800" b="0">
                <a:solidFill>
                  <a:srgbClr val="202830"/>
                </a:solidFill>
                <a:latin typeface="Malgun Gothic"/>
              </a:rPr>
              <a:t>•  Buffers(논리적 I/O)와 Reads(물리적 I/O)는 서로 다른 것을 측정한다</a:t>
            </a:r>
          </a:p>
          <a:p>
            <a:r>
              <a:rPr sz="1600" b="0">
                <a:solidFill>
                  <a:srgbClr val="5A6672"/>
                </a:solidFill>
                <a:latin typeface="Malgun Gothic"/>
              </a:rPr>
              <a:t>    –  Buffers는 요청 횟수, Reads는 그중 디스크까지 간 횟수 — Buffers ≥ Reads</a:t>
            </a:r>
          </a:p>
          <a:p>
            <a:r>
              <a:rPr sz="1800" b="0">
                <a:solidFill>
                  <a:srgbClr val="202830"/>
                </a:solidFill>
                <a:latin typeface="Malgun Gothic"/>
              </a:rPr>
              <a:t>•  같은 Buffers라도 캐시 상태에 따라 소요 시간이 수백 배 차이 날 수 있다</a:t>
            </a:r>
          </a:p>
          <a:p>
            <a:r>
              <a:rPr sz="1600" b="0">
                <a:solidFill>
                  <a:srgbClr val="5A6672"/>
                </a:solidFill>
                <a:latin typeface="Malgun Gothic"/>
              </a:rPr>
              <a:t>    –  이번 실측은 780 안팎의 같은 Buffers에서 Reads 785 → 0 의 차이를 보였다(시간 차는 저장 장치가 정한다)</a:t>
            </a:r>
          </a:p>
          <a:p>
            <a:r>
              <a:rPr sz="1800" b="0">
                <a:solidFill>
                  <a:srgbClr val="202830"/>
                </a:solidFill>
                <a:latin typeface="Malgun Gothic"/>
              </a:rPr>
              <a:t>•  개발 환경의 반복 테스트는 웜 캐시 상태이기 쉽다</a:t>
            </a:r>
          </a:p>
          <a:p>
            <a:r>
              <a:rPr sz="1600" b="0">
                <a:solidFill>
                  <a:srgbClr val="5A6672"/>
                </a:solidFill>
                <a:latin typeface="Malgun Gothic"/>
              </a:rPr>
              <a:t>    –  콜드 캐시의 실제 비용을 과소평가하게 만들 수 있으므로 조건을 명시해 기록한다</a:t>
            </a:r>
          </a:p>
          <a:p>
            <a:r>
              <a:rPr sz="1800" b="0">
                <a:solidFill>
                  <a:srgbClr val="202830"/>
                </a:solidFill>
                <a:latin typeface="Malgun Gothic"/>
              </a:rPr>
              <a:t>•  Buffers를 낮추는 튜닝은 캐시 상태와 무관하게 항상 유효하다</a:t>
            </a:r>
          </a:p>
          <a:p>
            <a:r>
              <a:rPr sz="1600" b="0">
                <a:solidFill>
                  <a:srgbClr val="5A6672"/>
                </a:solidFill>
                <a:latin typeface="Malgun Gothic"/>
              </a:rPr>
              <a:t>    –  이 과정 전체에서 다룬 기법들은 콜드 캐시 상황에서 그 효과가 더욱 커진다</a:t>
            </a:r>
          </a:p>
        </p:txBody>
      </p:sp>
    </p:spTree>
    <p:extLst>
      <p:ext uri="{BB962C8B-B14F-4D97-AF65-F5344CB8AC3E}">
        <p14:creationId xmlns:p14="http://schemas.microsoft.com/office/powerpoint/2010/main" val="2430654342"/>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실습 안내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ch04_문제.md — 10문항, 전부 서술형</a:t>
            </a:r>
          </a:p>
          <a:p>
            <a:r>
              <a:rPr sz="1800" b="0">
                <a:solidFill>
                  <a:srgbClr val="202830"/>
                </a:solidFill>
                <a:latin typeface="Malgun Gothic"/>
              </a:rPr>
              <a:t>•  문항 지도</a:t>
            </a:r>
          </a:p>
          <a:p>
            <a:r>
              <a:rPr sz="1600" b="0">
                <a:solidFill>
                  <a:srgbClr val="5A6672"/>
                </a:solidFill>
                <a:latin typeface="Malgun Gothic"/>
              </a:rPr>
              <a:t>    –  1·2번 — Buffers와 A-Time이 각각 무엇을 재는가, Reads 컬럼 소멸의 의미</a:t>
            </a:r>
          </a:p>
          <a:p>
            <a:r>
              <a:rPr sz="1600" b="0">
                <a:solidFill>
                  <a:srgbClr val="5A6672"/>
                </a:solidFill>
                <a:latin typeface="Malgun Gothic"/>
              </a:rPr>
              <a:t>    –  3번 [최상] — Buffers와 Reads의 차이, 그리고 부등식이 성립하는 이유</a:t>
            </a:r>
          </a:p>
          <a:p>
            <a:r>
              <a:rPr sz="1600" b="0">
                <a:solidFill>
                  <a:srgbClr val="5A6672"/>
                </a:solidFill>
                <a:latin typeface="Malgun Gothic"/>
              </a:rPr>
              <a:t>    –  4·5번 — 개발 환경 반복 테스트의 한계, EXPLAIN PLAN으로 확인 불가능한 것</a:t>
            </a:r>
          </a:p>
          <a:p>
            <a:r>
              <a:rPr sz="1600" b="0">
                <a:solidFill>
                  <a:srgbClr val="5A6672"/>
                </a:solidFill>
                <a:latin typeface="Malgun Gothic"/>
              </a:rPr>
              <a:t>    –  6번 [최상] — 앞선 챕터 사례와 Logical/Physical I/O의 연결</a:t>
            </a:r>
          </a:p>
          <a:p>
            <a:r>
              <a:rPr sz="1600" b="0">
                <a:solidFill>
                  <a:srgbClr val="5A6672"/>
                </a:solidFill>
                <a:latin typeface="Malgun Gothic"/>
              </a:rPr>
              <a:t>    –  7·8번 — 콜드에서 Buffers 절감의 가치, 실습 스키마 기준 콜드 상황 예시</a:t>
            </a:r>
          </a:p>
          <a:p>
            <a:r>
              <a:rPr sz="1600" b="0">
                <a:solidFill>
                  <a:srgbClr val="5A6672"/>
                </a:solidFill>
                <a:latin typeface="Malgun Gothic"/>
              </a:rPr>
              <a:t>    –  9번 [최상] — SYSDBA 없이도 콜드 캐시가 발생하는 이유</a:t>
            </a:r>
          </a:p>
          <a:p>
            <a:r>
              <a:rPr sz="1600" b="0">
                <a:solidFill>
                  <a:srgbClr val="5A6672"/>
                </a:solidFill>
                <a:latin typeface="Malgun Gothic"/>
              </a:rPr>
              <a:t>    –  10번 [최상] — 14개 챕터를 관통하는 진단 지표 목록 정리</a:t>
            </a:r>
          </a:p>
          <a:p>
            <a:r>
              <a:rPr sz="1800" b="0">
                <a:solidFill>
                  <a:srgbClr val="202830"/>
                </a:solidFill>
                <a:latin typeface="Malgun Gothic"/>
              </a:rPr>
              <a:t>•  해설: ch04_해설.md — 문항 번호가 1:1로 대응한다</a:t>
            </a:r>
          </a:p>
        </p:txBody>
      </p:sp>
    </p:spTree>
    <p:extLst>
      <p:ext uri="{BB962C8B-B14F-4D97-AF65-F5344CB8AC3E}">
        <p14:creationId xmlns:p14="http://schemas.microsoft.com/office/powerpoint/2010/main" val="3832539544"/>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데이터 접근·인덱스·통계</a:t>
            </a:r>
          </a:p>
        </p:txBody>
      </p:sp>
      <p:sp>
        <p:nvSpPr>
          <p:cNvPr id="5" name="Rectangle 4"/>
          <p:cNvSpPr/>
          <p:nvPr/>
        </p:nvSpPr>
        <p:spPr>
          <a:xfrm>
            <a:off x="822960" y="4114800"/>
            <a:ext cx="5486400"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584775"/>
          </a:xfrm>
          <a:prstGeom prst="rect">
            <a:avLst/>
          </a:prstGeom>
          <a:noFill/>
        </p:spPr>
        <p:txBody>
          <a:bodyPr wrap="square">
            <a:spAutoFit/>
          </a:bodyPr>
          <a:lstStyle/>
          <a:p>
            <a:r>
              <a:rPr sz="1600" b="0" dirty="0">
                <a:solidFill>
                  <a:srgbClr val="FFFFFF"/>
                </a:solidFill>
                <a:latin typeface="맑은 고딕"/>
              </a:rPr>
              <a:t>•  SQLT ch05 · ch06 · ch07 · ch08</a:t>
            </a:r>
          </a:p>
          <a:p>
            <a:r>
              <a:rPr sz="1600" b="0" dirty="0">
                <a:solidFill>
                  <a:srgbClr val="FFFFFF"/>
                </a:solidFill>
                <a:latin typeface="맑은 고딕"/>
              </a:rPr>
              <a:t>•  </a:t>
            </a:r>
            <a:r>
              <a:rPr sz="1600" b="0" dirty="0" err="1">
                <a:solidFill>
                  <a:srgbClr val="FFFFFF"/>
                </a:solidFill>
                <a:latin typeface="맑은 고딕"/>
              </a:rPr>
              <a:t>인덱스가</a:t>
            </a:r>
            <a:r>
              <a:rPr sz="1600" b="0" dirty="0">
                <a:solidFill>
                  <a:srgbClr val="FFFFFF"/>
                </a:solidFill>
                <a:latin typeface="맑은 고딕"/>
              </a:rPr>
              <a:t> </a:t>
            </a:r>
            <a:r>
              <a:rPr sz="1600" b="0" dirty="0" err="1">
                <a:solidFill>
                  <a:srgbClr val="FFFFFF"/>
                </a:solidFill>
                <a:latin typeface="맑은 고딕"/>
              </a:rPr>
              <a:t>있는데</a:t>
            </a:r>
            <a:r>
              <a:rPr sz="1600" b="0" dirty="0">
                <a:solidFill>
                  <a:srgbClr val="FFFFFF"/>
                </a:solidFill>
                <a:latin typeface="맑은 고딕"/>
              </a:rPr>
              <a:t> 왜 안 </a:t>
            </a:r>
            <a:r>
              <a:rPr sz="1600" b="0" dirty="0" err="1">
                <a:solidFill>
                  <a:srgbClr val="FFFFFF"/>
                </a:solidFill>
                <a:latin typeface="맑은 고딕"/>
              </a:rPr>
              <a:t>타는가</a:t>
            </a:r>
            <a:r>
              <a:rPr sz="1600" b="0" dirty="0">
                <a:solidFill>
                  <a:srgbClr val="FFFFFF"/>
                </a:solidFill>
                <a:latin typeface="맑은 고딕"/>
              </a:rPr>
              <a:t> → </a:t>
            </a:r>
            <a:r>
              <a:rPr sz="1600" b="0" dirty="0" err="1">
                <a:solidFill>
                  <a:srgbClr val="FFFFFF"/>
                </a:solidFill>
                <a:latin typeface="맑은 고딕"/>
              </a:rPr>
              <a:t>통계</a:t>
            </a:r>
            <a:endParaRPr sz="1600" b="0" dirty="0">
              <a:solidFill>
                <a:srgbClr val="FFFFFF"/>
              </a:solidFill>
              <a:latin typeface="맑은 고딕"/>
            </a:endParaRPr>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Rectangle 1"/>
          <p:cNvSpPr/>
          <p:nvPr/>
        </p:nvSpPr>
        <p:spPr>
          <a:xfrm>
            <a:off x="822960" y="2331720"/>
            <a:ext cx="164592"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88720" y="1463040"/>
            <a:ext cx="10058400" cy="369332"/>
          </a:xfrm>
          <a:prstGeom prst="rect">
            <a:avLst/>
          </a:prstGeom>
          <a:noFill/>
        </p:spPr>
        <p:txBody>
          <a:bodyPr wrap="square">
            <a:spAutoFit/>
          </a:bodyPr>
          <a:lstStyle/>
          <a:p>
            <a:r>
              <a:rPr sz="1800" b="1">
                <a:solidFill>
                  <a:srgbClr val="C0392B"/>
                </a:solidFill>
                <a:latin typeface="Malgun Gothic"/>
              </a:rPr>
              <a:t>Oracle SQL 튜닝 과정  ·  ch05</a:t>
            </a:r>
          </a:p>
        </p:txBody>
      </p:sp>
      <p:sp>
        <p:nvSpPr>
          <p:cNvPr id="4" name="TextBox 3"/>
          <p:cNvSpPr txBox="1"/>
          <p:nvPr/>
        </p:nvSpPr>
        <p:spPr>
          <a:xfrm>
            <a:off x="1188720" y="2194560"/>
            <a:ext cx="10332720" cy="2011680"/>
          </a:xfrm>
          <a:prstGeom prst="rect">
            <a:avLst/>
          </a:prstGeom>
          <a:noFill/>
        </p:spPr>
        <p:txBody>
          <a:bodyPr wrap="square">
            <a:spAutoFit/>
          </a:bodyPr>
          <a:lstStyle/>
          <a:p>
            <a:r>
              <a:rPr sz="4400" b="1">
                <a:solidFill>
                  <a:srgbClr val="FFFFFF"/>
                </a:solidFill>
                <a:latin typeface="Malgun Gothic"/>
              </a:rPr>
              <a:t>Full Scan vs Index Scan</a:t>
            </a:r>
          </a:p>
        </p:txBody>
      </p:sp>
      <p:sp>
        <p:nvSpPr>
          <p:cNvPr id="5" name="TextBox 4"/>
          <p:cNvSpPr txBox="1"/>
          <p:nvPr/>
        </p:nvSpPr>
        <p:spPr>
          <a:xfrm>
            <a:off x="1188720" y="4297680"/>
            <a:ext cx="10058400" cy="1097280"/>
          </a:xfrm>
          <a:prstGeom prst="rect">
            <a:avLst/>
          </a:prstGeom>
          <a:noFill/>
        </p:spPr>
        <p:txBody>
          <a:bodyPr wrap="square">
            <a:spAutoFit/>
          </a:bodyPr>
          <a:lstStyle/>
          <a:p>
            <a:r>
              <a:rPr sz="1800" b="0">
                <a:solidFill>
                  <a:srgbClr val="C5CED6"/>
                </a:solidFill>
                <a:latin typeface="Malgun Gothic"/>
              </a:rPr>
              <a:t>선택도와 카디널리티 · 두 비용 곡선의 교차점 · 클러스터링 팩터 · Index-Only</a:t>
            </a:r>
          </a:p>
        </p:txBody>
      </p:sp>
    </p:spTree>
    <p:extLst>
      <p:ext uri="{BB962C8B-B14F-4D97-AF65-F5344CB8AC3E}">
        <p14:creationId xmlns:p14="http://schemas.microsoft.com/office/powerpoint/2010/main" val="3735198024"/>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학습 목표 (Objectives)</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 장을 마치면 다음을 수행할 수 있어야 한다.</a:t>
            </a:r>
          </a:p>
          <a:p>
            <a:r>
              <a:rPr sz="1600" b="0">
                <a:solidFill>
                  <a:srgbClr val="5A6672"/>
                </a:solidFill>
                <a:latin typeface="Malgun Gothic"/>
              </a:rPr>
              <a:t>    –  선택도(Selectivity)와 카디널리티(Cardinality)를 정의하고 서로 구분한다</a:t>
            </a:r>
          </a:p>
          <a:p>
            <a:r>
              <a:rPr sz="1600" b="0">
                <a:solidFill>
                  <a:srgbClr val="5A6672"/>
                </a:solidFill>
                <a:latin typeface="Malgun Gothic"/>
              </a:rPr>
              <a:t>    –  Full Scan의 비용이 테이블 전체 블록 수에 비례한다는 것을 실측으로 설명한다</a:t>
            </a:r>
          </a:p>
          <a:p>
            <a:r>
              <a:rPr sz="1600" b="0">
                <a:solidFill>
                  <a:srgbClr val="5A6672"/>
                </a:solidFill>
                <a:latin typeface="Malgun Gothic"/>
              </a:rPr>
              <a:t>    –  Index Range Scan의 비용이 결과 건수와 랜덤 접근에 비례함을 설명한다</a:t>
            </a:r>
          </a:p>
          <a:p>
            <a:r>
              <a:rPr sz="1600" b="0">
                <a:solidFill>
                  <a:srgbClr val="5A6672"/>
                </a:solidFill>
                <a:latin typeface="Malgun Gothic"/>
              </a:rPr>
              <a:t>    –  두 비용 곡선이 교차하는 지점(손익분기)의 의미를 설명한다</a:t>
            </a:r>
          </a:p>
          <a:p>
            <a:r>
              <a:rPr sz="1600" b="0">
                <a:solidFill>
                  <a:srgbClr val="5A6672"/>
                </a:solidFill>
                <a:latin typeface="Malgun Gothic"/>
              </a:rPr>
              <a:t>    –  작은 테이블에서 Full Scan이 오히려 저렴한 이유를 근거를 들어 말한다</a:t>
            </a:r>
          </a:p>
          <a:p>
            <a:r>
              <a:rPr sz="1600" b="0">
                <a:solidFill>
                  <a:srgbClr val="5A6672"/>
                </a:solidFill>
                <a:latin typeface="Malgun Gothic"/>
              </a:rPr>
              <a:t>    –  같은 인덱스라도 범위가 넓어지면 Full Scan으로 전환되는 현상을 관찰한다</a:t>
            </a:r>
          </a:p>
          <a:p>
            <a:r>
              <a:rPr sz="1600" b="0">
                <a:solidFill>
                  <a:srgbClr val="5A6672"/>
                </a:solidFill>
                <a:latin typeface="Malgun Gothic"/>
              </a:rPr>
              <a:t>    –  Index-Only Access가 선택도의 경계를 어떻게 바꾸는지 설명한다</a:t>
            </a:r>
          </a:p>
          <a:p>
            <a:r>
              <a:rPr sz="1600" b="0">
                <a:solidFill>
                  <a:srgbClr val="5A6672"/>
                </a:solidFill>
                <a:latin typeface="Malgun Gothic"/>
              </a:rPr>
              <a:t>    –  클러스터링 팩터가 교차점을 움직이는 변수임을 이해한다</a:t>
            </a:r>
          </a:p>
          <a:p>
            <a:r>
              <a:rPr sz="1600" b="0">
                <a:solidFill>
                  <a:srgbClr val="5A6672"/>
                </a:solidFill>
                <a:latin typeface="Malgun Gothic"/>
              </a:rPr>
              <a:t>    –  '선택도 몇 % 이하면 인덱스'라는 단일 규칙이 왜 위험한지 반박한다</a:t>
            </a:r>
          </a:p>
          <a:p>
            <a:r>
              <a:rPr sz="1600" b="0">
                <a:solidFill>
                  <a:srgbClr val="5A6672"/>
                </a:solidFill>
                <a:latin typeface="Malgun Gothic"/>
              </a:rPr>
              <a:t>    –  Full Scan이 유리한 상황을 두 가지 이상의 조건으로 스스로 정의한다</a:t>
            </a:r>
          </a:p>
        </p:txBody>
      </p:sp>
    </p:spTree>
    <p:extLst>
      <p:ext uri="{BB962C8B-B14F-4D97-AF65-F5344CB8AC3E}">
        <p14:creationId xmlns:p14="http://schemas.microsoft.com/office/powerpoint/2010/main" val="2274238223"/>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장의 구성 (Agenda)</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4.1  Why — 읽는 법은 익혔지만 판단 기준이 없다</a:t>
            </a:r>
          </a:p>
          <a:p>
            <a:r>
              <a:rPr sz="1800" b="0">
                <a:solidFill>
                  <a:srgbClr val="202830"/>
                </a:solidFill>
                <a:latin typeface="Malgun Gothic"/>
              </a:rPr>
              <a:t>•  4.2  Concept — 선택도 · 카디널리티 · 데이터 분포</a:t>
            </a:r>
          </a:p>
          <a:p>
            <a:r>
              <a:rPr sz="1800" b="0">
                <a:solidFill>
                  <a:srgbClr val="202830"/>
                </a:solidFill>
                <a:latin typeface="Malgun Gothic"/>
              </a:rPr>
              <a:t>•  4.3  Oracle Internals — 두 비용 곡선과 교차점</a:t>
            </a:r>
          </a:p>
          <a:p>
            <a:r>
              <a:rPr sz="1800" b="0">
                <a:solidFill>
                  <a:srgbClr val="202830"/>
                </a:solidFill>
                <a:latin typeface="Malgun Gothic"/>
              </a:rPr>
              <a:t>•  4.4  Example — 작은 테이블 vs 큰 테이블 Full Scan</a:t>
            </a:r>
          </a:p>
          <a:p>
            <a:r>
              <a:rPr sz="1800" b="0">
                <a:solidFill>
                  <a:srgbClr val="202830"/>
                </a:solidFill>
                <a:latin typeface="Malgun Gothic"/>
              </a:rPr>
              <a:t>•  4.5  Execution Plan — HOSPITALS와 CLAIM_DETAILS 실측 비교</a:t>
            </a:r>
          </a:p>
          <a:p>
            <a:r>
              <a:rPr sz="1800" b="0">
                <a:solidFill>
                  <a:srgbClr val="202830"/>
                </a:solidFill>
                <a:latin typeface="Malgun Gothic"/>
              </a:rPr>
              <a:t>•  4.6  Bad SQL — 선택도에 따른 접근 방식 전환 관찰</a:t>
            </a:r>
          </a:p>
          <a:p>
            <a:r>
              <a:rPr sz="1800" b="0">
                <a:solidFill>
                  <a:srgbClr val="202830"/>
                </a:solidFill>
                <a:latin typeface="Malgun Gothic"/>
              </a:rPr>
              <a:t>•  4.7~4.8  Tuning 예고 · Benchmark — 선택도별 접근 방식 요약</a:t>
            </a:r>
          </a:p>
          <a:p>
            <a:r>
              <a:rPr sz="1800" b="0">
                <a:solidFill>
                  <a:srgbClr val="202830"/>
                </a:solidFill>
                <a:latin typeface="Malgun Gothic"/>
              </a:rPr>
              <a:t>•  4.9~4.10  실습 안내 · 요약 (Review)</a:t>
            </a:r>
          </a:p>
        </p:txBody>
      </p:sp>
    </p:spTree>
    <p:extLst>
      <p:ext uri="{BB962C8B-B14F-4D97-AF65-F5344CB8AC3E}">
        <p14:creationId xmlns:p14="http://schemas.microsoft.com/office/powerpoint/2010/main" val="3719081927"/>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107996"/>
          </a:xfrm>
          <a:prstGeom prst="rect">
            <a:avLst/>
          </a:prstGeom>
          <a:noFill/>
        </p:spPr>
        <p:txBody>
          <a:bodyPr wrap="square">
            <a:spAutoFit/>
          </a:bodyPr>
          <a:lstStyle/>
          <a:p>
            <a:r>
              <a:rPr lang="en-US" sz="6600" b="1" dirty="0">
                <a:solidFill>
                  <a:srgbClr val="C0392B"/>
                </a:solidFill>
                <a:latin typeface="Malgun Gothic"/>
              </a:rPr>
              <a:t>5</a:t>
            </a:r>
            <a:r>
              <a:rPr sz="6600" b="1" dirty="0">
                <a:solidFill>
                  <a:srgbClr val="C0392B"/>
                </a:solidFill>
                <a:latin typeface="Malgun Gothic"/>
              </a:rPr>
              <a:t>.1</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읽는 법에서 판단 기준으로</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ch03에서 다룬 것과 남겨 둔 것</a:t>
            </a:r>
          </a:p>
          <a:p>
            <a:r>
              <a:rPr sz="1600" b="0">
                <a:solidFill>
                  <a:srgbClr val="C5CED6"/>
                </a:solidFill>
                <a:latin typeface="Malgun Gothic"/>
              </a:rPr>
              <a:t>•  '인덱스가 있으면 무조건 빠르다'는 통념</a:t>
            </a:r>
          </a:p>
          <a:p>
            <a:r>
              <a:rPr sz="1600" b="0">
                <a:solidFill>
                  <a:srgbClr val="C5CED6"/>
                </a:solidFill>
                <a:latin typeface="Malgun Gothic"/>
              </a:rPr>
              <a:t>•  이 차시의 범위와 관찰 소재</a:t>
            </a:r>
          </a:p>
        </p:txBody>
      </p:sp>
    </p:spTree>
    <p:extLst>
      <p:ext uri="{BB962C8B-B14F-4D97-AF65-F5344CB8AC3E}">
        <p14:creationId xmlns:p14="http://schemas.microsoft.com/office/powerpoint/2010/main" val="161644955"/>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ch03에서 여기까지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ch03에서 얻은 것 — 실행계획을 읽는 어휘</a:t>
            </a:r>
          </a:p>
          <a:p>
            <a:r>
              <a:rPr sz="1600" b="0">
                <a:solidFill>
                  <a:srgbClr val="5A6672"/>
                </a:solidFill>
                <a:latin typeface="Malgun Gothic"/>
              </a:rPr>
              <a:t>    –  TABLE ACCESS FULL, INDEX RANGE SCAN 등 오퍼레이션의 의미</a:t>
            </a:r>
          </a:p>
          <a:p>
            <a:r>
              <a:rPr sz="1600" b="0">
                <a:solidFill>
                  <a:srgbClr val="5A6672"/>
                </a:solidFill>
                <a:latin typeface="Malgun Gothic"/>
              </a:rPr>
              <a:t>    –  들여쓰기로 표현된 실행 순서와 단계별 Buffers 확인 방법</a:t>
            </a:r>
          </a:p>
          <a:p>
            <a:r>
              <a:rPr sz="1800" b="0">
                <a:solidFill>
                  <a:srgbClr val="202830"/>
                </a:solidFill>
                <a:latin typeface="Malgun Gothic"/>
              </a:rPr>
              <a:t>•  ch03에서 다루지 않은 것 — 어느 쪽이 유리한지의 판단</a:t>
            </a:r>
          </a:p>
          <a:p>
            <a:r>
              <a:rPr sz="1600" b="0">
                <a:solidFill>
                  <a:srgbClr val="5A6672"/>
                </a:solidFill>
                <a:latin typeface="Malgun Gothic"/>
              </a:rPr>
              <a:t>    –  계획을 읽을 수 있다는 것과 그 계획이 최선인지 아는 것은 다른 능력</a:t>
            </a:r>
          </a:p>
          <a:p>
            <a:r>
              <a:rPr sz="1600" b="0">
                <a:solidFill>
                  <a:srgbClr val="5A6672"/>
                </a:solidFill>
                <a:latin typeface="Malgun Gothic"/>
              </a:rPr>
              <a:t>    –  옵티마이저가 왜 그 접근 방식을 골랐는지는 아직 설명하지 못한다</a:t>
            </a:r>
          </a:p>
          <a:p>
            <a:r>
              <a:rPr sz="1800" b="0">
                <a:solidFill>
                  <a:srgbClr val="202830"/>
                </a:solidFill>
                <a:latin typeface="Malgun Gothic"/>
              </a:rPr>
              <a:t>•  이 장의 질문 — 언제 Full Scan이 오히려 빠른가</a:t>
            </a:r>
          </a:p>
          <a:p>
            <a:r>
              <a:rPr sz="1600" b="0">
                <a:solidFill>
                  <a:srgbClr val="5A6672"/>
                </a:solidFill>
                <a:latin typeface="Malgun Gothic"/>
              </a:rPr>
              <a:t>    –  판단의 축은 두 개다: 테이블의 크기, 그리고 조건의 선택도</a:t>
            </a:r>
          </a:p>
        </p:txBody>
      </p:sp>
    </p:spTree>
    <p:extLst>
      <p:ext uri="{BB962C8B-B14F-4D97-AF65-F5344CB8AC3E}">
        <p14:creationId xmlns:p14="http://schemas.microsoft.com/office/powerpoint/2010/main" val="1094891645"/>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'인덱스는 항상 옳다'는 통념</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현장에서 가장 널리 퍼진 통념 중 하나</a:t>
            </a:r>
          </a:p>
          <a:p>
            <a:r>
              <a:rPr sz="1600" b="0">
                <a:solidFill>
                  <a:srgbClr val="5A6672"/>
                </a:solidFill>
                <a:latin typeface="Malgun Gothic"/>
              </a:rPr>
              <a:t>    –  "느리면 인덱스를 만들어라" — 원인 진단 없이 처방부터 하는 습관</a:t>
            </a:r>
          </a:p>
          <a:p>
            <a:r>
              <a:rPr sz="1600" b="0">
                <a:solidFill>
                  <a:srgbClr val="5A6672"/>
                </a:solidFill>
                <a:latin typeface="Malgun Gothic"/>
              </a:rPr>
              <a:t>    –  "인덱스를 안 타는 계획은 잘못된 계획이다" — 실행계획을 오독하는 원인</a:t>
            </a:r>
          </a:p>
          <a:p>
            <a:r>
              <a:rPr sz="1800" b="0">
                <a:solidFill>
                  <a:srgbClr val="202830"/>
                </a:solidFill>
                <a:latin typeface="Malgun Gothic"/>
              </a:rPr>
              <a:t>•  이 통념이 틀리는 두 가지 대표 상황</a:t>
            </a:r>
          </a:p>
          <a:p>
            <a:r>
              <a:rPr sz="1600" b="0">
                <a:solidFill>
                  <a:srgbClr val="5A6672"/>
                </a:solidFill>
                <a:latin typeface="Malgun Gothic"/>
              </a:rPr>
              <a:t>    –  테이블이 작아서 전부 읽어도 이미 충분히 저렴한 경우</a:t>
            </a:r>
          </a:p>
          <a:p>
            <a:r>
              <a:rPr sz="1600" b="0">
                <a:solidFill>
                  <a:srgbClr val="5A6672"/>
                </a:solidFill>
                <a:latin typeface="Malgun Gothic"/>
              </a:rPr>
              <a:t>    –  조건에 걸리는 행이 너무 많아 랜덤 접근이 누적되는 경우</a:t>
            </a:r>
          </a:p>
          <a:p>
            <a:r>
              <a:rPr sz="1800" b="0">
                <a:solidFill>
                  <a:srgbClr val="202830"/>
                </a:solidFill>
                <a:latin typeface="Malgun Gothic"/>
              </a:rPr>
              <a:t>•  통념 대신 필요한 것 — 비용 구조에 대한 이해</a:t>
            </a:r>
          </a:p>
          <a:p>
            <a:r>
              <a:rPr sz="1600" b="0">
                <a:solidFill>
                  <a:srgbClr val="5A6672"/>
                </a:solidFill>
                <a:latin typeface="Malgun Gothic"/>
              </a:rPr>
              <a:t>    –  두 접근 방식이 각각 무엇에 비례해 비싸지는지를 알면 예측이 가능해진다</a:t>
            </a:r>
          </a:p>
          <a:p>
            <a:r>
              <a:rPr sz="1600" b="0">
                <a:solidFill>
                  <a:srgbClr val="5A6672"/>
                </a:solidFill>
                <a:latin typeface="Malgun Gothic"/>
              </a:rPr>
              <a:t>    –  이 장은 그 구조를 실습 DB 실측으로 확인한다</a:t>
            </a:r>
          </a:p>
        </p:txBody>
      </p:sp>
    </p:spTree>
    <p:extLst>
      <p:ext uri="{BB962C8B-B14F-4D97-AF65-F5344CB8AC3E}">
        <p14:creationId xmlns:p14="http://schemas.microsoft.com/office/powerpoint/2010/main" val="1720136380"/>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차시의 범위와 관찰 소재</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이번 차시는 인덱스를 신규 생성하지 않는다</a:t>
            </a:r>
          </a:p>
          <a:p>
            <a:r>
              <a:rPr sz="1600" b="0">
                <a:solidFill>
                  <a:srgbClr val="5A6672"/>
                </a:solidFill>
                <a:latin typeface="Malgun Gothic"/>
              </a:rPr>
              <a:t>    –  기존 PK만 사용한다 — 스키마를 바꾸지 않고 접근 방식만 관찰</a:t>
            </a:r>
          </a:p>
          <a:p>
            <a:r>
              <a:rPr sz="1600" b="0">
                <a:solidFill>
                  <a:srgbClr val="5A6672"/>
                </a:solidFill>
                <a:latin typeface="Malgun Gothic"/>
              </a:rPr>
              <a:t>    –  인덱스 설계 자체는 ch06의 주제</a:t>
            </a:r>
          </a:p>
          <a:p>
            <a:r>
              <a:rPr sz="1800" b="0">
                <a:solidFill>
                  <a:srgbClr val="202830"/>
                </a:solidFill>
                <a:latin typeface="Malgun Gothic"/>
              </a:rPr>
              <a:t>•  관찰 소재 ① 테이블 크기 축</a:t>
            </a:r>
          </a:p>
          <a:p>
            <a:r>
              <a:rPr sz="1600" b="0">
                <a:solidFill>
                  <a:srgbClr val="5A6672"/>
                </a:solidFill>
                <a:latin typeface="Malgun Gothic"/>
              </a:rPr>
              <a:t>    –  작은 테이블 HOSPITALS와 큰 테이블 CLAIM_DETAILS의 Full Scan 비용 비교</a:t>
            </a:r>
          </a:p>
          <a:p>
            <a:r>
              <a:rPr sz="1800" b="0">
                <a:solidFill>
                  <a:srgbClr val="202830"/>
                </a:solidFill>
                <a:latin typeface="Malgun Gothic"/>
              </a:rPr>
              <a:t>•  관찰 소재 ② 선택도 축</a:t>
            </a:r>
          </a:p>
          <a:p>
            <a:r>
              <a:rPr sz="1600" b="0">
                <a:solidFill>
                  <a:srgbClr val="5A6672"/>
                </a:solidFill>
                <a:latin typeface="Malgun Gothic"/>
              </a:rPr>
              <a:t>    –  PK_MEDICAL_CLAIMS를 이용한 범위 조회에서 범위를 점점 넓혀 가며 관찰</a:t>
            </a:r>
          </a:p>
          <a:p>
            <a:r>
              <a:rPr sz="1600" b="0">
                <a:solidFill>
                  <a:srgbClr val="5A6672"/>
                </a:solidFill>
                <a:latin typeface="Malgun Gothic"/>
              </a:rPr>
              <a:t>    –  선택도가 커질 때 접근 방식이 바뀌는 지점을 눈으로 확인한다</a:t>
            </a:r>
          </a:p>
          <a:p>
            <a:r>
              <a:rPr sz="1800" b="0">
                <a:solidFill>
                  <a:srgbClr val="202830"/>
                </a:solidFill>
                <a:latin typeface="Malgun Gothic"/>
              </a:rPr>
              <a:t>•  두 축을 따로 본 뒤 마지막에 합쳐서 판단 기준을 만든다</a:t>
            </a:r>
          </a:p>
        </p:txBody>
      </p:sp>
    </p:spTree>
    <p:extLst>
      <p:ext uri="{BB962C8B-B14F-4D97-AF65-F5344CB8AC3E}">
        <p14:creationId xmlns:p14="http://schemas.microsoft.com/office/powerpoint/2010/main" val="1067978513"/>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107996"/>
          </a:xfrm>
          <a:prstGeom prst="rect">
            <a:avLst/>
          </a:prstGeom>
          <a:noFill/>
        </p:spPr>
        <p:txBody>
          <a:bodyPr wrap="square">
            <a:spAutoFit/>
          </a:bodyPr>
          <a:lstStyle/>
          <a:p>
            <a:r>
              <a:rPr lang="en-US" sz="6600" b="1" dirty="0">
                <a:solidFill>
                  <a:srgbClr val="C0392B"/>
                </a:solidFill>
                <a:latin typeface="Malgun Gothic"/>
              </a:rPr>
              <a:t>5</a:t>
            </a:r>
            <a:r>
              <a:rPr sz="6600" b="1" dirty="0">
                <a:solidFill>
                  <a:srgbClr val="C0392B"/>
                </a:solidFill>
                <a:latin typeface="Malgun Gothic"/>
              </a:rPr>
              <a:t>.2</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선택도와 카디널리티</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Selectivity — 조건이 걸러 내는 비율</a:t>
            </a:r>
          </a:p>
          <a:p>
            <a:r>
              <a:rPr sz="1600" b="0">
                <a:solidFill>
                  <a:srgbClr val="C5CED6"/>
                </a:solidFill>
                <a:latin typeface="Malgun Gothic"/>
              </a:rPr>
              <a:t>•  Cardinality — 조건을 만족하는 실제 행 수</a:t>
            </a:r>
          </a:p>
          <a:p>
            <a:r>
              <a:rPr sz="1600" b="0">
                <a:solidFill>
                  <a:srgbClr val="C5CED6"/>
                </a:solidFill>
                <a:latin typeface="Malgun Gothic"/>
              </a:rPr>
              <a:t>•  데이터 분포와 이번 챕터 사례의 선택도</a:t>
            </a:r>
          </a:p>
        </p:txBody>
      </p:sp>
    </p:spTree>
    <p:extLst>
      <p:ext uri="{BB962C8B-B14F-4D97-AF65-F5344CB8AC3E}">
        <p14:creationId xmlns:p14="http://schemas.microsoft.com/office/powerpoint/2010/main" val="1923911558"/>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선택도 (Selectivity)</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정의 — 조건을 만족하는 행이 전체 중 차지하는 비율</a:t>
            </a:r>
          </a:p>
          <a:p>
            <a:r>
              <a:rPr sz="1600" b="0">
                <a:solidFill>
                  <a:srgbClr val="5A6672"/>
                </a:solidFill>
                <a:latin typeface="Malgun Gothic"/>
              </a:rPr>
              <a:t>    –  선택도 = 조건을 만족하는 행 수 ÷ 전체 행 수</a:t>
            </a:r>
          </a:p>
          <a:p>
            <a:r>
              <a:rPr sz="1600" b="0">
                <a:solidFill>
                  <a:srgbClr val="5A6672"/>
                </a:solidFill>
                <a:latin typeface="Malgun Gothic"/>
              </a:rPr>
              <a:t>    –  0에 가까울수록 조건이 강하게 걸러 낸다는 뜻</a:t>
            </a:r>
          </a:p>
          <a:p>
            <a:r>
              <a:rPr sz="1800" b="0">
                <a:solidFill>
                  <a:srgbClr val="202830"/>
                </a:solidFill>
                <a:latin typeface="Malgun Gothic"/>
              </a:rPr>
              <a:t>•  선택도가 낮다는 말의 의미</a:t>
            </a:r>
          </a:p>
          <a:p>
            <a:r>
              <a:rPr sz="1600" b="0">
                <a:solidFill>
                  <a:srgbClr val="5A6672"/>
                </a:solidFill>
                <a:latin typeface="Malgun Gothic"/>
              </a:rPr>
              <a:t>    –  조건을 만족하는 행이 적다 = 걸러 낸 뒤 남는 것이 얼마 없다</a:t>
            </a:r>
          </a:p>
          <a:p>
            <a:r>
              <a:rPr sz="1600" b="0">
                <a:solidFill>
                  <a:srgbClr val="5A6672"/>
                </a:solidFill>
                <a:latin typeface="Malgun Gothic"/>
              </a:rPr>
              <a:t>    –  이럴수록 인덱스로 필요한 행만 콕 집어 오는 방식이 유리해진다</a:t>
            </a:r>
          </a:p>
          <a:p>
            <a:r>
              <a:rPr sz="1800" b="0">
                <a:solidFill>
                  <a:srgbClr val="202830"/>
                </a:solidFill>
                <a:latin typeface="Malgun Gothic"/>
              </a:rPr>
              <a:t>•  선택도가 높다는 말의 의미</a:t>
            </a:r>
          </a:p>
          <a:p>
            <a:r>
              <a:rPr sz="1600" b="0">
                <a:solidFill>
                  <a:srgbClr val="5A6672"/>
                </a:solidFill>
                <a:latin typeface="Malgun Gothic"/>
              </a:rPr>
              <a:t>    –  조건을 만족하는 행이 많다 = 어차피 대부분을 읽어야 한다</a:t>
            </a:r>
          </a:p>
          <a:p>
            <a:r>
              <a:rPr sz="1600" b="0">
                <a:solidFill>
                  <a:srgbClr val="5A6672"/>
                </a:solidFill>
                <a:latin typeface="Malgun Gothic"/>
              </a:rPr>
              <a:t>    –  이럴수록 통째로 읽고 걸러 내는 Full Scan이 유리해진다</a:t>
            </a:r>
          </a:p>
        </p:txBody>
      </p:sp>
    </p:spTree>
    <p:extLst>
      <p:ext uri="{BB962C8B-B14F-4D97-AF65-F5344CB8AC3E}">
        <p14:creationId xmlns:p14="http://schemas.microsoft.com/office/powerpoint/2010/main" val="3874561087"/>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카디널리티 (Cardinality)</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정의 — 조건을 만족하는 실제 행의 개수</a:t>
            </a:r>
          </a:p>
          <a:p>
            <a:r>
              <a:rPr sz="1600" b="0">
                <a:solidFill>
                  <a:srgbClr val="5A6672"/>
                </a:solidFill>
                <a:latin typeface="Malgun Gothic"/>
              </a:rPr>
              <a:t>    –  카디널리티 = 선택도 × 전체 행 수</a:t>
            </a:r>
          </a:p>
          <a:p>
            <a:r>
              <a:rPr sz="1600" b="0">
                <a:solidFill>
                  <a:srgbClr val="5A6672"/>
                </a:solidFill>
                <a:latin typeface="Malgun Gothic"/>
              </a:rPr>
              <a:t>    –  비율이 아니라 개수라는 점이 선택도와의 결정적 차이</a:t>
            </a:r>
          </a:p>
          <a:p>
            <a:r>
              <a:rPr sz="1800" b="0">
                <a:solidFill>
                  <a:srgbClr val="202830"/>
                </a:solidFill>
                <a:latin typeface="Malgun Gothic"/>
              </a:rPr>
              <a:t>•  왜 둘을 구분해야 하는가</a:t>
            </a:r>
          </a:p>
          <a:p>
            <a:r>
              <a:rPr sz="1600" b="0">
                <a:solidFill>
                  <a:srgbClr val="5A6672"/>
                </a:solidFill>
                <a:latin typeface="Malgun Gothic"/>
              </a:rPr>
              <a:t>    –  같은 선택도라도 전체 행 수가 다르면 실제 처리량이 완전히 달라진다</a:t>
            </a:r>
          </a:p>
          <a:p>
            <a:r>
              <a:rPr sz="1600" b="0">
                <a:solidFill>
                  <a:srgbClr val="5A6672"/>
                </a:solidFill>
                <a:latin typeface="Malgun Gothic"/>
              </a:rPr>
              <a:t>    –  옵티마이저의 비용 계산에 직접 들어가는 값은 개수 쪽이다</a:t>
            </a:r>
          </a:p>
          <a:p>
            <a:r>
              <a:rPr sz="1800" b="0">
                <a:solidFill>
                  <a:srgbClr val="202830"/>
                </a:solidFill>
                <a:latin typeface="Malgun Gothic"/>
              </a:rPr>
              <a:t>•  실행계획에서 만나는 자리</a:t>
            </a:r>
          </a:p>
          <a:p>
            <a:r>
              <a:rPr sz="1600" b="0">
                <a:solidFill>
                  <a:srgbClr val="5A6672"/>
                </a:solidFill>
                <a:latin typeface="Malgun Gothic"/>
              </a:rPr>
              <a:t>    –  E-Rows — 옵티마이저가 통계정보로 추정한 카디널리티</a:t>
            </a:r>
          </a:p>
          <a:p>
            <a:r>
              <a:rPr sz="1600" b="0">
                <a:solidFill>
                  <a:srgbClr val="5A6672"/>
                </a:solidFill>
                <a:latin typeface="Malgun Gothic"/>
              </a:rPr>
              <a:t>    –  A-Rows — 실제로 처리된 행 수, 즉 실측 카디널리티</a:t>
            </a:r>
          </a:p>
          <a:p>
            <a:r>
              <a:rPr sz="1600" b="0">
                <a:solidFill>
                  <a:srgbClr val="5A6672"/>
                </a:solidFill>
                <a:latin typeface="Malgun Gothic"/>
              </a:rPr>
              <a:t>    –  둘의 차이가 크면 통계정보나 조건 표현을 의심한다</a:t>
            </a:r>
          </a:p>
        </p:txBody>
      </p:sp>
    </p:spTree>
    <p:extLst>
      <p:ext uri="{BB962C8B-B14F-4D97-AF65-F5344CB8AC3E}">
        <p14:creationId xmlns:p14="http://schemas.microsoft.com/office/powerpoint/2010/main" val="1518172105"/>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데이터 분포가 선택도를 바꾼다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같은 컬럼, 같은 형태의 조건이라도 선택도는 값마다 다르다</a:t>
            </a:r>
          </a:p>
          <a:p>
            <a:r>
              <a:rPr sz="1600" b="0">
                <a:solidFill>
                  <a:srgbClr val="5A6672"/>
                </a:solidFill>
                <a:latin typeface="Malgun Gothic"/>
              </a:rPr>
              <a:t>    –  값이 고르게 퍼져 있는지, 특정 값에 몰려 있는지에 따라 달라진다</a:t>
            </a:r>
          </a:p>
          <a:p>
            <a:r>
              <a:rPr sz="1600" b="0">
                <a:solidFill>
                  <a:srgbClr val="5A6672"/>
                </a:solidFill>
                <a:latin typeface="Malgun Gothic"/>
              </a:rPr>
              <a:t>    –  평균만 보고 판단하면 몰려 있는 값에서 예측이 크게 빗나간다</a:t>
            </a:r>
          </a:p>
          <a:p>
            <a:r>
              <a:rPr sz="1800" b="0">
                <a:solidFill>
                  <a:srgbClr val="202830"/>
                </a:solidFill>
                <a:latin typeface="Malgun Gothic"/>
              </a:rPr>
              <a:t>•  옵티마이저가 분포를 파악하는 방법</a:t>
            </a:r>
          </a:p>
          <a:p>
            <a:r>
              <a:rPr sz="1600" b="0">
                <a:solidFill>
                  <a:srgbClr val="5A6672"/>
                </a:solidFill>
                <a:latin typeface="Malgun Gothic"/>
              </a:rPr>
              <a:t>    –  기본은 컬럼의 서로 다른 값 개수를 이용한 균등 분포 가정</a:t>
            </a:r>
          </a:p>
          <a:p>
            <a:r>
              <a:rPr sz="1600" b="0">
                <a:solidFill>
                  <a:srgbClr val="5A6672"/>
                </a:solidFill>
                <a:latin typeface="Malgun Gothic"/>
              </a:rPr>
              <a:t>    –  분포가 치우친 컬럼은 히스토그램 통계로 보정한다</a:t>
            </a:r>
          </a:p>
          <a:p>
            <a:r>
              <a:rPr sz="1800" b="0">
                <a:solidFill>
                  <a:srgbClr val="202830"/>
                </a:solidFill>
                <a:latin typeface="Malgun Gothic"/>
              </a:rPr>
              <a:t>•  실무에서 사고가 나는 지점</a:t>
            </a:r>
          </a:p>
          <a:p>
            <a:r>
              <a:rPr sz="1600" b="0">
                <a:solidFill>
                  <a:srgbClr val="5A6672"/>
                </a:solidFill>
                <a:latin typeface="Malgun Gothic"/>
              </a:rPr>
              <a:t>    –  개발 환경의 소량 데이터와 운영의 실제 분포가 다를 때</a:t>
            </a:r>
          </a:p>
          <a:p>
            <a:r>
              <a:rPr sz="1600" b="0">
                <a:solidFill>
                  <a:srgbClr val="5A6672"/>
                </a:solidFill>
                <a:latin typeface="Malgun Gothic"/>
              </a:rPr>
              <a:t>    –  데이터가 쌓이면서 분포가 변했는데 통계를 갱신하지 않았을 때</a:t>
            </a:r>
          </a:p>
        </p:txBody>
      </p:sp>
    </p:spTree>
    <p:extLst>
      <p:ext uri="{BB962C8B-B14F-4D97-AF65-F5344CB8AC3E}">
        <p14:creationId xmlns:p14="http://schemas.microsoft.com/office/powerpoint/2010/main" val="2289025370"/>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이번 챕터 사례의 선택도 계산</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MEDICAL_CLAIMS 전체 30만 건을 기준으로 계산한다</a:t>
            </a:r>
          </a:p>
          <a:p>
            <a:r>
              <a:rPr sz="1600" b="0">
                <a:solidFill>
                  <a:srgbClr val="5A6672"/>
                </a:solidFill>
                <a:latin typeface="Malgun Gothic"/>
              </a:rPr>
              <a:t>    –  선택도 = 조건을 만족하는 행 수 ÷ 300,000</a:t>
            </a:r>
          </a:p>
          <a:p>
            <a:r>
              <a:rPr sz="1800" b="0">
                <a:solidFill>
                  <a:srgbClr val="202830"/>
                </a:solidFill>
                <a:latin typeface="Malgun Gothic"/>
              </a:rPr>
              <a:t>•  4.6절에서 관찰할 세 구간</a:t>
            </a:r>
          </a:p>
          <a:p>
            <a:r>
              <a:rPr sz="1600" b="0">
                <a:solidFill>
                  <a:srgbClr val="5A6672"/>
                </a:solidFill>
                <a:latin typeface="Malgun Gothic"/>
              </a:rPr>
              <a:t>    –  838건 → 838 ÷ 300,000 ≈ 0.28%</a:t>
            </a:r>
          </a:p>
          <a:p>
            <a:r>
              <a:rPr sz="1600" b="0">
                <a:solidFill>
                  <a:srgbClr val="5A6672"/>
                </a:solidFill>
                <a:latin typeface="Malgun Gothic"/>
              </a:rPr>
              <a:t>    –  25,406건 → 25,406 ÷ 300,000 ≈ 8.5%</a:t>
            </a:r>
          </a:p>
          <a:p>
            <a:r>
              <a:rPr sz="1600" b="0">
                <a:solidFill>
                  <a:srgbClr val="5A6672"/>
                </a:solidFill>
                <a:latin typeface="Malgun Gothic"/>
              </a:rPr>
              <a:t>    –  148,028건 → 148,028 ÷ 300,000 ≈ 49.3%</a:t>
            </a:r>
          </a:p>
          <a:p>
            <a:r>
              <a:rPr sz="1800" b="0">
                <a:solidFill>
                  <a:srgbClr val="202830"/>
                </a:solidFill>
                <a:latin typeface="Malgun Gothic"/>
              </a:rPr>
              <a:t>•  숫자를 미리 계산해 두는 이유</a:t>
            </a:r>
          </a:p>
          <a:p>
            <a:r>
              <a:rPr sz="1600" b="0">
                <a:solidFill>
                  <a:srgbClr val="5A6672"/>
                </a:solidFill>
                <a:latin typeface="Malgun Gothic"/>
              </a:rPr>
              <a:t>    –  실행계획을 보기 전에 어느 쪽이 유리할지 스스로 예측해 보게 하기 위함</a:t>
            </a:r>
          </a:p>
          <a:p>
            <a:r>
              <a:rPr sz="1600" b="0">
                <a:solidFill>
                  <a:srgbClr val="5A6672"/>
                </a:solidFill>
                <a:latin typeface="Malgun Gothic"/>
              </a:rPr>
              <a:t>    –  예측과 실측이 어긋나는 지점이 이 장에서 가장 배울 것이 많은 구간이다</a:t>
            </a:r>
          </a:p>
        </p:txBody>
      </p:sp>
    </p:spTree>
    <p:extLst>
      <p:ext uri="{BB962C8B-B14F-4D97-AF65-F5344CB8AC3E}">
        <p14:creationId xmlns:p14="http://schemas.microsoft.com/office/powerpoint/2010/main" val="3008693335"/>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107996"/>
          </a:xfrm>
          <a:prstGeom prst="rect">
            <a:avLst/>
          </a:prstGeom>
          <a:noFill/>
        </p:spPr>
        <p:txBody>
          <a:bodyPr wrap="square">
            <a:spAutoFit/>
          </a:bodyPr>
          <a:lstStyle/>
          <a:p>
            <a:r>
              <a:rPr lang="en-US" sz="6600" b="1" dirty="0">
                <a:solidFill>
                  <a:srgbClr val="C0392B"/>
                </a:solidFill>
                <a:latin typeface="Malgun Gothic"/>
              </a:rPr>
              <a:t>5</a:t>
            </a:r>
            <a:r>
              <a:rPr sz="6600" b="1" dirty="0">
                <a:solidFill>
                  <a:srgbClr val="C0392B"/>
                </a:solidFill>
                <a:latin typeface="Malgun Gothic"/>
              </a:rPr>
              <a:t>.3</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두 비용 곡선과 교차점</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Full Scan의 비용 — 테이블 크기에 비례</a:t>
            </a:r>
          </a:p>
          <a:p>
            <a:r>
              <a:rPr sz="1600" b="0">
                <a:solidFill>
                  <a:srgbClr val="C5CED6"/>
                </a:solidFill>
                <a:latin typeface="Malgun Gothic"/>
              </a:rPr>
              <a:t>•  Index Range Scan의 비용 — 결과 건수에 비례</a:t>
            </a:r>
          </a:p>
          <a:p>
            <a:r>
              <a:rPr sz="1600" b="0">
                <a:solidFill>
                  <a:srgbClr val="C5CED6"/>
                </a:solidFill>
                <a:latin typeface="Malgun Gothic"/>
              </a:rPr>
              <a:t>•  교차점과 그 위치를 움직이는 변수들</a:t>
            </a:r>
          </a:p>
        </p:txBody>
      </p:sp>
    </p:spTree>
    <p:extLst>
      <p:ext uri="{BB962C8B-B14F-4D97-AF65-F5344CB8AC3E}">
        <p14:creationId xmlns:p14="http://schemas.microsoft.com/office/powerpoint/2010/main" val="259919877"/>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Full Scan의 비용 구조</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비용은 테이블 전체 블록 수에 비례한다</a:t>
            </a:r>
          </a:p>
          <a:p>
            <a:r>
              <a:rPr sz="1600" b="0">
                <a:solidFill>
                  <a:srgbClr val="5A6672"/>
                </a:solidFill>
                <a:latin typeface="Malgun Gothic"/>
              </a:rPr>
              <a:t>    –  테이블에 저장된 블록을 처음부터 끝까지 전부 읽는다</a:t>
            </a:r>
          </a:p>
          <a:p>
            <a:r>
              <a:rPr sz="1600" b="0">
                <a:solidFill>
                  <a:srgbClr val="5A6672"/>
                </a:solidFill>
                <a:latin typeface="Malgun Gothic"/>
              </a:rPr>
              <a:t>    –  조건 검사는 블록을 다 읽어 온 다음에 이루어진다</a:t>
            </a:r>
          </a:p>
          <a:p>
            <a:r>
              <a:rPr sz="1800" b="0">
                <a:solidFill>
                  <a:srgbClr val="202830"/>
                </a:solidFill>
                <a:latin typeface="Malgun Gothic"/>
              </a:rPr>
              <a:t>•  따라서 결과 건수는 비용에 거의 영향을 주지 않는다</a:t>
            </a:r>
          </a:p>
          <a:p>
            <a:r>
              <a:rPr sz="1600" b="0">
                <a:solidFill>
                  <a:srgbClr val="5A6672"/>
                </a:solidFill>
                <a:latin typeface="Malgun Gothic"/>
              </a:rPr>
              <a:t>    –  조건에 1건이 걸리든 90만 건이 걸리든 읽는 블록 수는 같다</a:t>
            </a:r>
          </a:p>
          <a:p>
            <a:r>
              <a:rPr sz="1600" b="0">
                <a:solidFill>
                  <a:srgbClr val="5A6672"/>
                </a:solidFill>
                <a:latin typeface="Malgun Gothic"/>
              </a:rPr>
              <a:t>    –  비용이 사실상 고정적이라는 뜻 — 그래프로는 수평에 가까운 선</a:t>
            </a:r>
          </a:p>
          <a:p>
            <a:r>
              <a:rPr sz="1800" b="0">
                <a:solidFill>
                  <a:srgbClr val="202830"/>
                </a:solidFill>
                <a:latin typeface="Malgun Gothic"/>
              </a:rPr>
              <a:t>•  대신 한 번의 읽기 단위가 크다</a:t>
            </a:r>
          </a:p>
          <a:p>
            <a:r>
              <a:rPr sz="1600" b="0">
                <a:solidFill>
                  <a:srgbClr val="5A6672"/>
                </a:solidFill>
                <a:latin typeface="Malgun Gothic"/>
              </a:rPr>
              <a:t>    –  연속된 블록을 여러 개씩 묶어 읽으므로 블록당 단가가 낮다</a:t>
            </a:r>
          </a:p>
          <a:p>
            <a:r>
              <a:rPr sz="1600" b="0">
                <a:solidFill>
                  <a:srgbClr val="5A6672"/>
                </a:solidFill>
                <a:latin typeface="Malgun Gothic"/>
              </a:rPr>
              <a:t>    –  이 성질 때문에 대량 처리에서는 오히려 유리해진다</a:t>
            </a:r>
          </a:p>
        </p:txBody>
      </p:sp>
    </p:spTree>
    <p:extLst>
      <p:ext uri="{BB962C8B-B14F-4D97-AF65-F5344CB8AC3E}">
        <p14:creationId xmlns:p14="http://schemas.microsoft.com/office/powerpoint/2010/main" val="3476918650"/>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Index Range Scan의 비용 구조</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비용은 조건을 만족하는 행의 개수에 비례한다</a:t>
            </a:r>
          </a:p>
          <a:p>
            <a:r>
              <a:rPr sz="1600" b="0">
                <a:solidFill>
                  <a:srgbClr val="5A6672"/>
                </a:solidFill>
                <a:latin typeface="Malgun Gothic"/>
              </a:rPr>
              <a:t>    –  인덱스에서 조건에 맞는 구간을 훑어 ROWID 목록을 얻는다</a:t>
            </a:r>
          </a:p>
          <a:p>
            <a:r>
              <a:rPr sz="1600" b="0">
                <a:solidFill>
                  <a:srgbClr val="5A6672"/>
                </a:solidFill>
                <a:latin typeface="Malgun Gothic"/>
              </a:rPr>
              <a:t>    –  그 ROWID로 테이블 블록을 하나씩 찾아가 실제 값을 읽는다</a:t>
            </a:r>
          </a:p>
          <a:p>
            <a:r>
              <a:rPr sz="1800" b="0">
                <a:solidFill>
                  <a:srgbClr val="202830"/>
                </a:solidFill>
                <a:latin typeface="Malgun Gothic"/>
              </a:rPr>
              <a:t>•  두 번째 단계가 비용의 핵심 — 랜덤 접근</a:t>
            </a:r>
          </a:p>
          <a:p>
            <a:r>
              <a:rPr sz="1600" b="0">
                <a:solidFill>
                  <a:srgbClr val="5A6672"/>
                </a:solidFill>
                <a:latin typeface="Malgun Gothic"/>
              </a:rPr>
              <a:t>    –  흩어져 있는 위치를 건건이 찾아가는 방식이라 단가가 높다</a:t>
            </a:r>
          </a:p>
          <a:p>
            <a:r>
              <a:rPr sz="1600" b="0">
                <a:solidFill>
                  <a:srgbClr val="5A6672"/>
                </a:solidFill>
                <a:latin typeface="Malgun Gothic"/>
              </a:rPr>
              <a:t>    –  결과가 많아질수록 이 접근이 누적되어 비용이 우상향한다</a:t>
            </a:r>
          </a:p>
          <a:p>
            <a:r>
              <a:rPr sz="1800" b="0">
                <a:solidFill>
                  <a:srgbClr val="202830"/>
                </a:solidFill>
                <a:latin typeface="Malgun Gothic"/>
              </a:rPr>
              <a:t>•  결과가 적을 때는 압도적으로 저렴하다</a:t>
            </a:r>
          </a:p>
          <a:p>
            <a:r>
              <a:rPr sz="1600" b="0">
                <a:solidFill>
                  <a:srgbClr val="5A6672"/>
                </a:solidFill>
                <a:latin typeface="Malgun Gothic"/>
              </a:rPr>
              <a:t>    –  필요 없는 블록을 아예 건드리지 않기 때문</a:t>
            </a:r>
          </a:p>
          <a:p>
            <a:r>
              <a:rPr sz="1600" b="0">
                <a:solidFill>
                  <a:srgbClr val="5A6672"/>
                </a:solidFill>
                <a:latin typeface="Malgun Gothic"/>
              </a:rPr>
              <a:t>    –  반대로 결과가 많아지면 Full Scan보다 비싸질 수 있다</a:t>
            </a:r>
          </a:p>
        </p:txBody>
      </p:sp>
    </p:spTree>
    <p:extLst>
      <p:ext uri="{BB962C8B-B14F-4D97-AF65-F5344CB8AC3E}">
        <p14:creationId xmlns:p14="http://schemas.microsoft.com/office/powerpoint/2010/main" val="2871039883"/>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두 곡선의 교차점 — 손익분기</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두 비용 곡선을 한 그래프에 겹쳐 놓으면 교차점이 생긴다</a:t>
            </a:r>
          </a:p>
          <a:p>
            <a:r>
              <a:rPr sz="1600" b="0">
                <a:solidFill>
                  <a:srgbClr val="5A6672"/>
                </a:solidFill>
                <a:latin typeface="Malgun Gothic"/>
              </a:rPr>
              <a:t>    –  Full Scan — 결과 건수와 무관하게 거의 수평</a:t>
            </a:r>
          </a:p>
          <a:p>
            <a:r>
              <a:rPr sz="1600" b="0">
                <a:solidFill>
                  <a:srgbClr val="5A6672"/>
                </a:solidFill>
                <a:latin typeface="Malgun Gothic"/>
              </a:rPr>
              <a:t>    –  Index Range Scan — 결과 건수에 따라 우상향</a:t>
            </a:r>
          </a:p>
          <a:p>
            <a:r>
              <a:rPr sz="1800" b="0">
                <a:solidFill>
                  <a:srgbClr val="202830"/>
                </a:solidFill>
                <a:latin typeface="Malgun Gothic"/>
              </a:rPr>
              <a:t>•  교차점의 왼쪽과 오른쪽</a:t>
            </a:r>
          </a:p>
          <a:p>
            <a:r>
              <a:rPr sz="1600" b="0">
                <a:solidFill>
                  <a:srgbClr val="5A6672"/>
                </a:solidFill>
                <a:latin typeface="Malgun Gothic"/>
              </a:rPr>
              <a:t>    –  왼쪽(선택도가 낮은 구간) — 인덱스가 유리하다</a:t>
            </a:r>
          </a:p>
          <a:p>
            <a:r>
              <a:rPr sz="1600" b="0">
                <a:solidFill>
                  <a:srgbClr val="5A6672"/>
                </a:solidFill>
                <a:latin typeface="Malgun Gothic"/>
              </a:rPr>
              <a:t>    –  오른쪽(선택도가 높은 구간) — Full Scan이 유리하다</a:t>
            </a:r>
          </a:p>
          <a:p>
            <a:r>
              <a:rPr sz="1800" b="0">
                <a:solidFill>
                  <a:srgbClr val="202830"/>
                </a:solidFill>
                <a:latin typeface="Malgun Gothic"/>
              </a:rPr>
              <a:t>•  옵티마이저가 하는 일이 바로 이 교차점의 추정이다</a:t>
            </a:r>
          </a:p>
          <a:p>
            <a:r>
              <a:rPr sz="1600" b="0">
                <a:solidFill>
                  <a:srgbClr val="5A6672"/>
                </a:solidFill>
                <a:latin typeface="Malgun Gothic"/>
              </a:rPr>
              <a:t>    –  통계정보로 카디널리티를 추정해 양쪽 비용을 계산하고 싼 쪽을 고른다</a:t>
            </a:r>
          </a:p>
          <a:p>
            <a:r>
              <a:rPr sz="1600" b="0">
                <a:solidFill>
                  <a:srgbClr val="5A6672"/>
                </a:solidFill>
                <a:latin typeface="Malgun Gothic"/>
              </a:rPr>
              <a:t>    –  인덱스를 안 타는 계획은 대개 이 계산의 결과이지 오류가 아니다</a:t>
            </a:r>
          </a:p>
        </p:txBody>
      </p:sp>
    </p:spTree>
    <p:extLst>
      <p:ext uri="{BB962C8B-B14F-4D97-AF65-F5344CB8AC3E}">
        <p14:creationId xmlns:p14="http://schemas.microsoft.com/office/powerpoint/2010/main" val="786243498"/>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클러스터링 팩터 — 교차점을 움직이는 변수</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정의 — 인덱스의 정렬 순서와 실제 테이블 저장 순서가 얼마나 일치하는가</a:t>
            </a:r>
          </a:p>
          <a:p>
            <a:r>
              <a:rPr sz="1600" b="0">
                <a:solidFill>
                  <a:srgbClr val="5A6672"/>
                </a:solidFill>
                <a:latin typeface="Malgun Gothic"/>
              </a:rPr>
              <a:t>    –  잘 맞으면 인덱스 순서대로 읽을 때 같은 블록을 연달아 만난다</a:t>
            </a:r>
          </a:p>
          <a:p>
            <a:r>
              <a:rPr sz="1600" b="0">
                <a:solidFill>
                  <a:srgbClr val="5A6672"/>
                </a:solidFill>
                <a:latin typeface="Malgun Gothic"/>
              </a:rPr>
              <a:t>    –  어긋나면 행 하나마다 다른 블록으로 흩어져 랜덤 접근이 늘어난다</a:t>
            </a:r>
          </a:p>
          <a:p>
            <a:r>
              <a:rPr sz="1800" b="0">
                <a:solidFill>
                  <a:srgbClr val="202830"/>
                </a:solidFill>
                <a:latin typeface="Malgun Gothic"/>
              </a:rPr>
              <a:t>•  교차점에 미치는 영향</a:t>
            </a:r>
          </a:p>
          <a:p>
            <a:r>
              <a:rPr sz="1600" b="0">
                <a:solidFill>
                  <a:srgbClr val="5A6672"/>
                </a:solidFill>
                <a:latin typeface="Malgun Gothic"/>
              </a:rPr>
              <a:t>    –  일치도가 높으면 인덱스 쪽 곡선이 완만해져 교차점이 오른쪽으로 이동</a:t>
            </a:r>
          </a:p>
          <a:p>
            <a:r>
              <a:rPr sz="1600" b="0">
                <a:solidFill>
                  <a:srgbClr val="5A6672"/>
                </a:solidFill>
                <a:latin typeface="Malgun Gothic"/>
              </a:rPr>
              <a:t>    –  일치도가 낮으면 곡선이 가팔라져 교차점이 왼쪽으로 이동</a:t>
            </a:r>
          </a:p>
          <a:p>
            <a:r>
              <a:rPr sz="1800" b="0">
                <a:solidFill>
                  <a:srgbClr val="202830"/>
                </a:solidFill>
                <a:latin typeface="Malgun Gothic"/>
              </a:rPr>
              <a:t>•  같은 테이블이라도 인덱스마다 값이 다르다</a:t>
            </a:r>
          </a:p>
          <a:p>
            <a:r>
              <a:rPr sz="1600" b="0">
                <a:solidFill>
                  <a:srgbClr val="5A6672"/>
                </a:solidFill>
                <a:latin typeface="Malgun Gothic"/>
              </a:rPr>
              <a:t>    –  데이터가 들어온 순서와 인덱스 컬럼의 관계에 따라 결정되기 때문</a:t>
            </a:r>
          </a:p>
          <a:p>
            <a:r>
              <a:rPr sz="1600" b="0">
                <a:solidFill>
                  <a:srgbClr val="5A6672"/>
                </a:solidFill>
                <a:latin typeface="Malgun Gothic"/>
              </a:rPr>
              <a:t>    –  이 값이 나쁘면 선택도가 낮아도 인덱스가 기대만큼 빠르지 않다</a:t>
            </a:r>
          </a:p>
        </p:txBody>
      </p:sp>
    </p:spTree>
    <p:extLst>
      <p:ext uri="{BB962C8B-B14F-4D97-AF65-F5344CB8AC3E}">
        <p14:creationId xmlns:p14="http://schemas.microsoft.com/office/powerpoint/2010/main" val="3110423475"/>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작은 테이블에서 Full Scan이 유리한 이유</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작은 테이블은 애초에 전체 블록 수가 적다</a:t>
            </a:r>
          </a:p>
          <a:p>
            <a:r>
              <a:rPr sz="1600" b="0">
                <a:solidFill>
                  <a:srgbClr val="5A6672"/>
                </a:solidFill>
                <a:latin typeface="Malgun Gothic"/>
              </a:rPr>
              <a:t>    –  전부 읽어도 비용의 절대값 자체가 크지 않다</a:t>
            </a:r>
          </a:p>
          <a:p>
            <a:r>
              <a:rPr sz="1800" b="0">
                <a:solidFill>
                  <a:srgbClr val="202830"/>
                </a:solidFill>
                <a:latin typeface="Malgun Gothic"/>
              </a:rPr>
              <a:t>•  반면 인덱스를 거치면 단계가 늘어난다</a:t>
            </a:r>
          </a:p>
          <a:p>
            <a:r>
              <a:rPr sz="1600" b="0">
                <a:solidFill>
                  <a:srgbClr val="5A6672"/>
                </a:solidFill>
                <a:latin typeface="Malgun Gothic"/>
              </a:rPr>
              <a:t>    –  인덱스 블록 접근 → 조건에 맞는 ROWID 확보 → 테이블 블록 접근</a:t>
            </a:r>
          </a:p>
          <a:p>
            <a:r>
              <a:rPr sz="1600" b="0">
                <a:solidFill>
                  <a:srgbClr val="5A6672"/>
                </a:solidFill>
                <a:latin typeface="Malgun Gothic"/>
              </a:rPr>
              <a:t>    –  최소 두 단계이며, 각 단계마다 블록 접근이 발생한다</a:t>
            </a:r>
          </a:p>
          <a:p>
            <a:r>
              <a:rPr sz="1800" b="0">
                <a:solidFill>
                  <a:srgbClr val="202830"/>
                </a:solidFill>
                <a:latin typeface="Malgun Gothic"/>
              </a:rPr>
              <a:t>•  결과적으로 오버헤드가 이득을 넘어설 수 있다</a:t>
            </a:r>
          </a:p>
          <a:p>
            <a:r>
              <a:rPr sz="1600" b="0">
                <a:solidFill>
                  <a:srgbClr val="5A6672"/>
                </a:solidFill>
                <a:latin typeface="Malgun Gothic"/>
              </a:rPr>
              <a:t>    –  조건에 1건만 걸리더라도 그냥 다 읽는 편이 더 쌀 수 있다</a:t>
            </a:r>
          </a:p>
          <a:p>
            <a:r>
              <a:rPr sz="1600" b="0">
                <a:solidFill>
                  <a:srgbClr val="5A6672"/>
                </a:solidFill>
                <a:latin typeface="Malgun Gothic"/>
              </a:rPr>
              <a:t>    –  조건에 많은 행이 걸리면 인덱스 쪽이 불리해지는 폭은 더 커진다</a:t>
            </a:r>
          </a:p>
          <a:p>
            <a:r>
              <a:rPr sz="1800" b="0">
                <a:solidFill>
                  <a:srgbClr val="202830"/>
                </a:solidFill>
                <a:latin typeface="Malgun Gothic"/>
              </a:rPr>
              <a:t>•  결론 — 작은 테이블에는 인덱스를 무조건 추가할 이유가 없다</a:t>
            </a:r>
          </a:p>
        </p:txBody>
      </p:sp>
    </p:spTree>
    <p:extLst>
      <p:ext uri="{BB962C8B-B14F-4D97-AF65-F5344CB8AC3E}">
        <p14:creationId xmlns:p14="http://schemas.microsoft.com/office/powerpoint/2010/main" val="2197388921"/>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107996"/>
          </a:xfrm>
          <a:prstGeom prst="rect">
            <a:avLst/>
          </a:prstGeom>
          <a:noFill/>
        </p:spPr>
        <p:txBody>
          <a:bodyPr wrap="square">
            <a:spAutoFit/>
          </a:bodyPr>
          <a:lstStyle/>
          <a:p>
            <a:r>
              <a:rPr lang="en-US" sz="6600" b="1" dirty="0">
                <a:solidFill>
                  <a:srgbClr val="C0392B"/>
                </a:solidFill>
                <a:latin typeface="Malgun Gothic"/>
              </a:rPr>
              <a:t>5</a:t>
            </a:r>
            <a:r>
              <a:rPr sz="6600" b="1" dirty="0">
                <a:solidFill>
                  <a:srgbClr val="C0392B"/>
                </a:solidFill>
                <a:latin typeface="Malgun Gothic"/>
              </a:rPr>
              <a:t>.4</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작은 테이블 vs 큰 테이블</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두 개의 Full Scan 쿼리</a:t>
            </a:r>
          </a:p>
          <a:p>
            <a:r>
              <a:rPr sz="1600" b="0">
                <a:solidFill>
                  <a:srgbClr val="C5CED6"/>
                </a:solidFill>
                <a:latin typeface="Malgun Gothic"/>
              </a:rPr>
              <a:t>•  테이블 크기만 바꾼 통제된 비교</a:t>
            </a:r>
          </a:p>
          <a:p>
            <a:r>
              <a:rPr sz="1600" b="0">
                <a:solidFill>
                  <a:srgbClr val="C5CED6"/>
                </a:solidFill>
                <a:latin typeface="Malgun Gothic"/>
              </a:rPr>
              <a:t>•  조건에 맞는 인덱스가 없는 상황</a:t>
            </a:r>
          </a:p>
        </p:txBody>
      </p:sp>
    </p:spTree>
    <p:extLst>
      <p:ext uri="{BB962C8B-B14F-4D97-AF65-F5344CB8AC3E}">
        <p14:creationId xmlns:p14="http://schemas.microsoft.com/office/powerpoint/2010/main" val="1397070553"/>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예제 쿼리 — 두 개의 Full Scan</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조건에 맞는 인덱스가 없어 Full Scan만 가능한 두 상황을 비교한다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A. 작은 테이블(HOSPITALS, 1,000건)</a:t>
            </a:r>
          </a:p>
          <a:p>
            <a:r>
              <a:rPr sz="1250" b="0">
                <a:solidFill>
                  <a:srgbClr val="E6E6E6"/>
                </a:solidFill>
                <a:latin typeface="Consolas"/>
              </a:rPr>
              <a:t>SELECT COUNT(*) FROM hospitals WHERE hosp_type = '의원';</a:t>
            </a:r>
          </a:p>
          <a:p>
            <a:r>
              <a:rPr sz="1250" b="0">
                <a:solidFill>
                  <a:srgbClr val="E6E6E6"/>
                </a:solidFill>
                <a:latin typeface="Consolas"/>
              </a:rPr>
              <a:t> </a:t>
            </a:r>
          </a:p>
          <a:p>
            <a:r>
              <a:rPr sz="1250" b="0">
                <a:solidFill>
                  <a:srgbClr val="7EC699"/>
                </a:solidFill>
                <a:latin typeface="Consolas"/>
              </a:rPr>
              <a:t>-- B. 큰 테이블(CLAIM_DETAILS, 약 90만 건, 비인덱스 컬럼)</a:t>
            </a:r>
          </a:p>
          <a:p>
            <a:r>
              <a:rPr sz="1250" b="0">
                <a:solidFill>
                  <a:srgbClr val="E6E6E6"/>
                </a:solidFill>
                <a:latin typeface="Consolas"/>
              </a:rPr>
              <a:t>SELECT COUNT(*) FROM claim_details WHERE claim_id = '20240615-0013440';</a:t>
            </a:r>
          </a:p>
          <a:p>
            <a:r>
              <a:rPr sz="1250" b="0">
                <a:solidFill>
                  <a:srgbClr val="E6E6E6"/>
                </a:solidFill>
                <a:latin typeface="Consolas"/>
              </a:rPr>
              <a:t> </a:t>
            </a:r>
          </a:p>
          <a:p>
            <a:r>
              <a:rPr sz="1250" b="0">
                <a:solidFill>
                  <a:srgbClr val="7EC699"/>
                </a:solidFill>
                <a:latin typeface="Consolas"/>
              </a:rPr>
              <a:t>-- 두 쿼리 모두 조건 컬럼에 쓸 수 있는 인덱스가 없다</a:t>
            </a:r>
          </a:p>
          <a:p>
            <a:r>
              <a:rPr sz="1250" b="0">
                <a:solidFill>
                  <a:srgbClr val="7EC699"/>
                </a:solidFill>
                <a:latin typeface="Consolas"/>
              </a:rPr>
              <a:t>-- 따라서 접근 방식은 양쪽 다 TABLE ACCESS FULL로 고정된다</a:t>
            </a:r>
          </a:p>
          <a:p>
            <a:r>
              <a:rPr sz="1250" b="0">
                <a:solidFill>
                  <a:srgbClr val="7EC699"/>
                </a:solidFill>
                <a:latin typeface="Consolas"/>
              </a:rPr>
              <a:t>-- 달라지는 변수는 오직 하나 — 테이블 전체의 크기</a:t>
            </a:r>
          </a:p>
        </p:txBody>
      </p:sp>
    </p:spTree>
    <p:extLst>
      <p:ext uri="{BB962C8B-B14F-4D97-AF65-F5344CB8AC3E}">
        <p14:creationId xmlns:p14="http://schemas.microsoft.com/office/powerpoint/2010/main" val="2797954449"/>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비교 설계 — 무엇을 통제했는가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통제한 것 — 접근 방식</a:t>
            </a:r>
          </a:p>
          <a:p>
            <a:r>
              <a:rPr sz="1600" b="0">
                <a:solidFill>
                  <a:srgbClr val="5A6672"/>
                </a:solidFill>
                <a:latin typeface="Malgun Gothic"/>
              </a:rPr>
              <a:t>    –  두 쿼리 모두 조건에 맞는 인덱스가 없어 Full Scan만 가능한 상황</a:t>
            </a:r>
          </a:p>
          <a:p>
            <a:r>
              <a:rPr sz="1600" b="0">
                <a:solidFill>
                  <a:srgbClr val="5A6672"/>
                </a:solidFill>
                <a:latin typeface="Malgun Gothic"/>
              </a:rPr>
              <a:t>    –  접근 방식이 같아야 크기의 효과만 남는다</a:t>
            </a:r>
          </a:p>
          <a:p>
            <a:r>
              <a:rPr sz="1800" b="0">
                <a:solidFill>
                  <a:srgbClr val="202830"/>
                </a:solidFill>
                <a:latin typeface="Malgun Gothic"/>
              </a:rPr>
              <a:t>•  바꾼 것 — 테이블의 크기</a:t>
            </a:r>
          </a:p>
          <a:p>
            <a:r>
              <a:rPr sz="1600" b="0">
                <a:solidFill>
                  <a:srgbClr val="5A6672"/>
                </a:solidFill>
                <a:latin typeface="Malgun Gothic"/>
              </a:rPr>
              <a:t>    –  HOSPITALS는 1,000건, CLAIM_DETAILS는 약 90만 건</a:t>
            </a:r>
          </a:p>
          <a:p>
            <a:r>
              <a:rPr sz="1800" b="0">
                <a:solidFill>
                  <a:srgbClr val="202830"/>
                </a:solidFill>
                <a:latin typeface="Malgun Gothic"/>
              </a:rPr>
              <a:t>•  일부러 반대로 놓은 것 — 결과 건수</a:t>
            </a:r>
          </a:p>
          <a:p>
            <a:r>
              <a:rPr sz="1600" b="0">
                <a:solidFill>
                  <a:srgbClr val="5A6672"/>
                </a:solidFill>
                <a:latin typeface="Malgun Gothic"/>
              </a:rPr>
              <a:t>    –  작은 테이블 쪽이 오히려 조건에 800건이나 걸린다</a:t>
            </a:r>
          </a:p>
          <a:p>
            <a:r>
              <a:rPr sz="1600" b="0">
                <a:solidFill>
                  <a:srgbClr val="5A6672"/>
                </a:solidFill>
                <a:latin typeface="Malgun Gothic"/>
              </a:rPr>
              <a:t>    –  큰 테이블 쪽은 조건에 3건만 걸린다</a:t>
            </a:r>
          </a:p>
          <a:p>
            <a:r>
              <a:rPr sz="1800" b="0">
                <a:solidFill>
                  <a:srgbClr val="202830"/>
                </a:solidFill>
                <a:latin typeface="Malgun Gothic"/>
              </a:rPr>
              <a:t>•  직관대로라면 큰 테이블 쪽이 훨씬 저렴해야 한다</a:t>
            </a:r>
          </a:p>
          <a:p>
            <a:r>
              <a:rPr sz="1600" b="0">
                <a:solidFill>
                  <a:srgbClr val="5A6672"/>
                </a:solidFill>
                <a:latin typeface="Malgun Gothic"/>
              </a:rPr>
              <a:t>    –  실측 결과가 그 직관을 뒤집는지 다음 슬라이드에서 확인한다</a:t>
            </a:r>
          </a:p>
        </p:txBody>
      </p:sp>
    </p:spTree>
    <p:extLst>
      <p:ext uri="{BB962C8B-B14F-4D97-AF65-F5344CB8AC3E}">
        <p14:creationId xmlns:p14="http://schemas.microsoft.com/office/powerpoint/2010/main" val="412211964"/>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107996"/>
          </a:xfrm>
          <a:prstGeom prst="rect">
            <a:avLst/>
          </a:prstGeom>
          <a:noFill/>
        </p:spPr>
        <p:txBody>
          <a:bodyPr wrap="square">
            <a:spAutoFit/>
          </a:bodyPr>
          <a:lstStyle/>
          <a:p>
            <a:r>
              <a:rPr lang="en-US" sz="6600" b="1" dirty="0">
                <a:solidFill>
                  <a:srgbClr val="C0392B"/>
                </a:solidFill>
                <a:latin typeface="Malgun Gothic"/>
              </a:rPr>
              <a:t>5</a:t>
            </a:r>
            <a:r>
              <a:rPr sz="6600" b="1" dirty="0">
                <a:solidFill>
                  <a:srgbClr val="C0392B"/>
                </a:solidFill>
                <a:latin typeface="Malgun Gothic"/>
              </a:rPr>
              <a:t>.5</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실행계획 실측 비교</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A. HOSPITALS — 800건이 걸리는 Full Scan</a:t>
            </a:r>
          </a:p>
          <a:p>
            <a:r>
              <a:rPr sz="1600" b="0">
                <a:solidFill>
                  <a:srgbClr val="C5CED6"/>
                </a:solidFill>
                <a:latin typeface="Malgun Gothic"/>
              </a:rPr>
              <a:t>•  B. CLAIM_DETAILS — 3건이 걸리는 Full Scan</a:t>
            </a:r>
          </a:p>
          <a:p>
            <a:r>
              <a:rPr sz="1600" b="0">
                <a:solidFill>
                  <a:srgbClr val="C5CED6"/>
                </a:solidFill>
                <a:latin typeface="Malgun Gothic"/>
              </a:rPr>
              <a:t>•  Buffers가 말해 주는 것</a:t>
            </a:r>
          </a:p>
        </p:txBody>
      </p:sp>
    </p:spTree>
    <p:extLst>
      <p:ext uri="{BB962C8B-B14F-4D97-AF65-F5344CB8AC3E}">
        <p14:creationId xmlns:p14="http://schemas.microsoft.com/office/powerpoint/2010/main" val="1861668393"/>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A. HOSPITALS 실행계획</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1,000건짜리 테이블에서 조건에 800건이 걸린 경우</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E-Rows | A-Rows |   A-Time   | Buffers |</a:t>
            </a:r>
          </a:p>
          <a:p>
            <a:r>
              <a:rPr sz="1250" b="0">
                <a:solidFill>
                  <a:srgbClr val="E6E6E6"/>
                </a:solidFill>
                <a:latin typeface="Consolas"/>
              </a:rPr>
              <a:t>| 2  |  TABLE ACCESS FULL | HOSPITALS |    250 |    800 |00:00:00.04 |      15 |</a:t>
            </a:r>
          </a:p>
          <a:p>
            <a:r>
              <a:rPr sz="1250" b="0">
                <a:solidFill>
                  <a:srgbClr val="E6E6E6"/>
                </a:solidFill>
                <a:latin typeface="Consolas"/>
              </a:rPr>
              <a:t> </a:t>
            </a:r>
          </a:p>
          <a:p>
            <a:r>
              <a:rPr sz="1250" b="0">
                <a:solidFill>
                  <a:srgbClr val="7EC699"/>
                </a:solidFill>
                <a:latin typeface="Consolas"/>
              </a:rPr>
              <a:t>-- A-Rows 800 — 조건에 걸린 실제 행 수</a:t>
            </a:r>
          </a:p>
          <a:p>
            <a:r>
              <a:rPr sz="1250" b="0">
                <a:solidFill>
                  <a:srgbClr val="7EC699"/>
                </a:solidFill>
                <a:latin typeface="Consolas"/>
              </a:rPr>
              <a:t>-- E-Rows 250 — 옵티마이저가 통계로 추정한 값, 실제보다 작게 잡혔다</a:t>
            </a:r>
          </a:p>
          <a:p>
            <a:r>
              <a:rPr sz="1250" b="0">
                <a:solidFill>
                  <a:srgbClr val="7EC699"/>
                </a:solidFill>
                <a:latin typeface="Consolas"/>
              </a:rPr>
              <a:t>-- Buffers 15 — 테이블 전체를 읽고도 접근한 블록 수가 이 정도에 그친다</a:t>
            </a:r>
          </a:p>
          <a:p>
            <a:r>
              <a:rPr sz="1250" b="0">
                <a:solidFill>
                  <a:srgbClr val="7EC699"/>
                </a:solidFill>
                <a:latin typeface="Consolas"/>
              </a:rPr>
              <a:t>-- 테이블 자체가 작기 때문에 전부 읽는 비용의 절대값이 크지 않다</a:t>
            </a:r>
          </a:p>
        </p:txBody>
      </p:sp>
    </p:spTree>
    <p:extLst>
      <p:ext uri="{BB962C8B-B14F-4D97-AF65-F5344CB8AC3E}">
        <p14:creationId xmlns:p14="http://schemas.microsoft.com/office/powerpoint/2010/main" val="2990058881"/>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B. CLAIM_DETAILS 실행계획</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약 90만 건짜리 테이블에서 조건에 단 3건이 걸린 경우</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E-Rows | A-Rows |   A-Time   | Buffers |</a:t>
            </a:r>
          </a:p>
          <a:p>
            <a:r>
              <a:rPr sz="1250" b="0">
                <a:solidFill>
                  <a:srgbClr val="E6E6E6"/>
                </a:solidFill>
                <a:latin typeface="Consolas"/>
              </a:rPr>
              <a:t>| 2  |  TABLE ACCESS FULL | CLAIM_DETAILS |      3 |      3 |00:00:00.05 |    6621 |</a:t>
            </a:r>
          </a:p>
          <a:p>
            <a:r>
              <a:rPr sz="1250" b="0">
                <a:solidFill>
                  <a:srgbClr val="E6E6E6"/>
                </a:solidFill>
                <a:latin typeface="Consolas"/>
              </a:rPr>
              <a:t> </a:t>
            </a:r>
          </a:p>
          <a:p>
            <a:r>
              <a:rPr sz="1250" b="0">
                <a:solidFill>
                  <a:srgbClr val="7EC699"/>
                </a:solidFill>
                <a:latin typeface="Consolas"/>
              </a:rPr>
              <a:t>-- A-Rows 3 — 조건에 걸린 실제 행은 단 3건뿐이다</a:t>
            </a:r>
          </a:p>
          <a:p>
            <a:r>
              <a:rPr sz="1250" b="0">
                <a:solidFill>
                  <a:srgbClr val="7EC699"/>
                </a:solidFill>
                <a:latin typeface="Consolas"/>
              </a:rPr>
              <a:t>-- E-Rows 3 — 이번에는 추정과 실제가 정확히 일치했다</a:t>
            </a:r>
          </a:p>
          <a:p>
            <a:r>
              <a:rPr sz="1250" b="0">
                <a:solidFill>
                  <a:srgbClr val="7EC699"/>
                </a:solidFill>
                <a:latin typeface="Consolas"/>
              </a:rPr>
              <a:t>-- Buffers 6621 — 결과가 3건인데도 접근한 블록 수는 이만큼이다</a:t>
            </a:r>
          </a:p>
          <a:p>
            <a:r>
              <a:rPr sz="1250" b="0">
                <a:solidFill>
                  <a:srgbClr val="7EC699"/>
                </a:solidFill>
                <a:latin typeface="Consolas"/>
              </a:rPr>
              <a:t>-- 조건에 맞는 인덱스가 없어 90만 건이 담긴 블록을 전부 읽어야 했다</a:t>
            </a:r>
          </a:p>
        </p:txBody>
      </p:sp>
    </p:spTree>
    <p:extLst>
      <p:ext uri="{BB962C8B-B14F-4D97-AF65-F5344CB8AC3E}">
        <p14:creationId xmlns:p14="http://schemas.microsoft.com/office/powerpoint/2010/main" val="2846839304"/>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두 실행계획을 나란히 읽기</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오퍼레이션은 동일하다 — 양쪽 다 TABLE ACCESS FULL</a:t>
            </a:r>
          </a:p>
          <a:p>
            <a:r>
              <a:rPr sz="1600" b="0">
                <a:solidFill>
                  <a:srgbClr val="5A6672"/>
                </a:solidFill>
                <a:latin typeface="Malgun Gothic"/>
              </a:rPr>
              <a:t>    –  접근 방식이 같으므로 차이의 원인은 접근 방식이 아니다</a:t>
            </a:r>
          </a:p>
          <a:p>
            <a:r>
              <a:rPr sz="1800" b="0">
                <a:solidFill>
                  <a:srgbClr val="202830"/>
                </a:solidFill>
                <a:latin typeface="Malgun Gothic"/>
              </a:rPr>
              <a:t>•  결과 건수는 작은 테이블 쪽이 훨씬 많다</a:t>
            </a:r>
          </a:p>
          <a:p>
            <a:r>
              <a:rPr sz="1600" b="0">
                <a:solidFill>
                  <a:srgbClr val="5A6672"/>
                </a:solidFill>
                <a:latin typeface="Malgun Gothic"/>
              </a:rPr>
              <a:t>    –  HOSPITALS는 800건, CLAIM_DETAILS는 3건</a:t>
            </a:r>
          </a:p>
          <a:p>
            <a:r>
              <a:rPr sz="1800" b="0">
                <a:solidFill>
                  <a:srgbClr val="202830"/>
                </a:solidFill>
                <a:latin typeface="Malgun Gothic"/>
              </a:rPr>
              <a:t>•  그런데 Buffers는 정반대다</a:t>
            </a:r>
          </a:p>
          <a:p>
            <a:r>
              <a:rPr sz="1600" b="0">
                <a:solidFill>
                  <a:srgbClr val="5A6672"/>
                </a:solidFill>
                <a:latin typeface="Malgun Gothic"/>
              </a:rPr>
              <a:t>    –  HOSPITALS는 15, CLAIM_DETAILS는 6,621</a:t>
            </a:r>
          </a:p>
          <a:p>
            <a:r>
              <a:rPr sz="1600" b="0">
                <a:solidFill>
                  <a:srgbClr val="5A6672"/>
                </a:solidFill>
                <a:latin typeface="Malgun Gothic"/>
              </a:rPr>
              <a:t>    –  결과가 훨씬 적은 쪽이 블록 접근은 오히려 압도적으로 많다</a:t>
            </a:r>
          </a:p>
          <a:p>
            <a:r>
              <a:rPr sz="1800" b="0">
                <a:solidFill>
                  <a:srgbClr val="202830"/>
                </a:solidFill>
                <a:latin typeface="Malgun Gothic"/>
              </a:rPr>
              <a:t>•  따라서 Buffers를 결정한 변수는 결과 건수가 아니다</a:t>
            </a:r>
          </a:p>
          <a:p>
            <a:r>
              <a:rPr sz="1600" b="0">
                <a:solidFill>
                  <a:srgbClr val="5A6672"/>
                </a:solidFill>
                <a:latin typeface="Malgun Gothic"/>
              </a:rPr>
              <a:t>    –  남는 변수는 하나 — 테이블 전체의 크기</a:t>
            </a:r>
          </a:p>
          <a:p>
            <a:r>
              <a:rPr sz="1600" b="0">
                <a:solidFill>
                  <a:srgbClr val="5A6672"/>
                </a:solidFill>
                <a:latin typeface="Malgun Gothic"/>
              </a:rPr>
              <a:t>    –  A-Time만 보면 차이가 작아 보이지만 자원 소비는 전혀 다르다</a:t>
            </a:r>
          </a:p>
        </p:txBody>
      </p:sp>
    </p:spTree>
    <p:extLst>
      <p:ext uri="{BB962C8B-B14F-4D97-AF65-F5344CB8AC3E}">
        <p14:creationId xmlns:p14="http://schemas.microsoft.com/office/powerpoint/2010/main" val="2557763848"/>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결론 — Full Scan 비용을 결정하는 것</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Full Scan의 비용은 결과 건수가 아니라 테이블 크기로 결정된다</a:t>
            </a:r>
          </a:p>
          <a:p>
            <a:r>
              <a:rPr sz="1600" b="0">
                <a:solidFill>
                  <a:srgbClr val="5A6672"/>
                </a:solidFill>
                <a:latin typeface="Malgun Gothic"/>
              </a:rPr>
              <a:t>    –  CLAIM_DETAILS의 3건짜리 결과에 Buffers 6,621이 든 것이 그 증거</a:t>
            </a:r>
          </a:p>
          <a:p>
            <a:r>
              <a:rPr sz="1600" b="0">
                <a:solidFill>
                  <a:srgbClr val="5A6672"/>
                </a:solidFill>
                <a:latin typeface="Malgun Gothic"/>
              </a:rPr>
              <a:t>    –  HOSPITALS는 800건이 걸렸는데도 Buffers 15에 그쳤다</a:t>
            </a:r>
          </a:p>
          <a:p>
            <a:r>
              <a:rPr sz="1800" b="0">
                <a:solidFill>
                  <a:srgbClr val="202830"/>
                </a:solidFill>
                <a:latin typeface="Malgun Gothic"/>
              </a:rPr>
              <a:t>•  조건은 읽는 양을 줄여 주지 않는다</a:t>
            </a:r>
          </a:p>
          <a:p>
            <a:r>
              <a:rPr sz="1600" b="0">
                <a:solidFill>
                  <a:srgbClr val="5A6672"/>
                </a:solidFill>
                <a:latin typeface="Malgun Gothic"/>
              </a:rPr>
              <a:t>    –  조건 검사는 블록을 다 읽어 온 뒤에 적용되는 필터일 뿐이다</a:t>
            </a:r>
          </a:p>
          <a:p>
            <a:r>
              <a:rPr sz="1800" b="0">
                <a:solidFill>
                  <a:srgbClr val="202830"/>
                </a:solidFill>
                <a:latin typeface="Malgun Gothic"/>
              </a:rPr>
              <a:t>•  실무에서 이 원칙을 쓰는 방법</a:t>
            </a:r>
          </a:p>
          <a:p>
            <a:r>
              <a:rPr sz="1600" b="0">
                <a:solidFill>
                  <a:srgbClr val="5A6672"/>
                </a:solidFill>
                <a:latin typeface="Malgun Gothic"/>
              </a:rPr>
              <a:t>    –  결과가 몇 건인지가 아니라 어느 테이블을 통째로 읽는지를 먼저 본다</a:t>
            </a:r>
          </a:p>
          <a:p>
            <a:r>
              <a:rPr sz="1600" b="0">
                <a:solidFill>
                  <a:srgbClr val="5A6672"/>
                </a:solidFill>
                <a:latin typeface="Malgun Gothic"/>
              </a:rPr>
              <a:t>    –  큰 테이블의 Full Scan이 계획에 보이면 그것만으로 점검 대상이 된다</a:t>
            </a:r>
          </a:p>
          <a:p>
            <a:r>
              <a:rPr sz="1600" b="0">
                <a:solidFill>
                  <a:srgbClr val="5A6672"/>
                </a:solidFill>
                <a:latin typeface="Malgun Gothic"/>
              </a:rPr>
              <a:t>    –  반대로 작은 테이블의 Full Scan은 대개 문제 삼을 필요가 없다</a:t>
            </a:r>
          </a:p>
        </p:txBody>
      </p:sp>
    </p:spTree>
    <p:extLst>
      <p:ext uri="{BB962C8B-B14F-4D97-AF65-F5344CB8AC3E}">
        <p14:creationId xmlns:p14="http://schemas.microsoft.com/office/powerpoint/2010/main" val="4083980722"/>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107996"/>
          </a:xfrm>
          <a:prstGeom prst="rect">
            <a:avLst/>
          </a:prstGeom>
          <a:noFill/>
        </p:spPr>
        <p:txBody>
          <a:bodyPr wrap="square">
            <a:spAutoFit/>
          </a:bodyPr>
          <a:lstStyle/>
          <a:p>
            <a:r>
              <a:rPr lang="en-US" sz="6600" b="1" dirty="0">
                <a:solidFill>
                  <a:srgbClr val="C0392B"/>
                </a:solidFill>
                <a:latin typeface="Malgun Gothic"/>
              </a:rPr>
              <a:t>5</a:t>
            </a:r>
            <a:r>
              <a:rPr sz="6600" b="1" dirty="0">
                <a:solidFill>
                  <a:srgbClr val="C0392B"/>
                </a:solidFill>
                <a:latin typeface="Malgun Gothic"/>
              </a:rPr>
              <a:t>.6</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선택도에 따른 접근 방식 전환</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PK_MEDICAL_CLAIMS 범위 조회</a:t>
            </a:r>
          </a:p>
          <a:p>
            <a:r>
              <a:rPr sz="1600" b="0">
                <a:solidFill>
                  <a:srgbClr val="C5CED6"/>
                </a:solidFill>
                <a:latin typeface="Malgun Gothic"/>
              </a:rPr>
              <a:t>•  범위를 넓혀 가며 관찰한 실측 표</a:t>
            </a:r>
          </a:p>
          <a:p>
            <a:r>
              <a:rPr sz="1600" b="0">
                <a:solidFill>
                  <a:srgbClr val="C5CED6"/>
                </a:solidFill>
                <a:latin typeface="Malgun Gothic"/>
              </a:rPr>
              <a:t>•  Index-Only가 만드는 예외</a:t>
            </a:r>
          </a:p>
        </p:txBody>
      </p:sp>
    </p:spTree>
    <p:extLst>
      <p:ext uri="{BB962C8B-B14F-4D97-AF65-F5344CB8AC3E}">
        <p14:creationId xmlns:p14="http://schemas.microsoft.com/office/powerpoint/2010/main" val="3780598425"/>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관찰용 쿼리 — 범위 조회</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PK_MEDICAL_CLAIMS(CLAIM_ID 기준)를 이용해 범위를 점점 넓혀 가며 관찰한다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SELECT SUM(total_amt) FROM medical_claims</a:t>
            </a:r>
          </a:p>
          <a:p>
            <a:r>
              <a:rPr sz="1250" b="0">
                <a:solidFill>
                  <a:srgbClr val="E6E6E6"/>
                </a:solidFill>
                <a:latin typeface="Consolas"/>
              </a:rPr>
              <a:t>WHERE claim_id BETWEEN '20240101-0000000' AND :end_id;</a:t>
            </a:r>
          </a:p>
          <a:p>
            <a:r>
              <a:rPr sz="1250" b="0">
                <a:solidFill>
                  <a:srgbClr val="E6E6E6"/>
                </a:solidFill>
                <a:latin typeface="Consolas"/>
              </a:rPr>
              <a:t> </a:t>
            </a:r>
          </a:p>
          <a:p>
            <a:r>
              <a:rPr sz="1250" b="0">
                <a:solidFill>
                  <a:srgbClr val="7EC699"/>
                </a:solidFill>
                <a:latin typeface="Consolas"/>
              </a:rPr>
              <a:t>-- :end_id만 바꿔 가며 대상 범위를 약 1일 → 1개월 → 6개월 → 11개월로 넓힌다</a:t>
            </a:r>
          </a:p>
          <a:p>
            <a:r>
              <a:rPr sz="1250" b="0">
                <a:solidFill>
                  <a:srgbClr val="7EC699"/>
                </a:solidFill>
                <a:latin typeface="Consolas"/>
              </a:rPr>
              <a:t>-- 인덱스는 새로 만들지 않는다 — 기존 PK_MEDICAL_CLAIMS만 사용</a:t>
            </a:r>
          </a:p>
          <a:p>
            <a:r>
              <a:rPr sz="1250" b="0">
                <a:solidFill>
                  <a:srgbClr val="7EC699"/>
                </a:solidFill>
                <a:latin typeface="Consolas"/>
              </a:rPr>
              <a:t>-- SELECT 절의 TOTAL_AMT는 PK 인덱스에 들어 있지 않은 컬럼이다</a:t>
            </a:r>
          </a:p>
          <a:p>
            <a:r>
              <a:rPr sz="1250" b="0">
                <a:solidFill>
                  <a:srgbClr val="7EC699"/>
                </a:solidFill>
                <a:latin typeface="Consolas"/>
              </a:rPr>
              <a:t>-- 따라서 인덱스로 찾은 행마다 테이블까지 가서 값을 읽어야 한다</a:t>
            </a:r>
          </a:p>
        </p:txBody>
      </p:sp>
    </p:spTree>
    <p:extLst>
      <p:ext uri="{BB962C8B-B14F-4D97-AF65-F5344CB8AC3E}">
        <p14:creationId xmlns:p14="http://schemas.microsoft.com/office/powerpoint/2010/main" val="1916234600"/>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실측 표 — 범위별 접근 방식</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MEDICAL_CLAIMS 전체 30만 건 중 대상 건수와 선택도, 그때의 접근 방식</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범위    |  대상 건수  | 선택도 |          Operation           | Buffers |</a:t>
            </a:r>
          </a:p>
          <a:p>
            <a:r>
              <a:rPr sz="1250" b="0">
                <a:solidFill>
                  <a:srgbClr val="E6E6E6"/>
                </a:solidFill>
                <a:latin typeface="Consolas"/>
              </a:rPr>
              <a:t>|-----------|-------------|--------|------------------------------|---------|</a:t>
            </a:r>
          </a:p>
          <a:p>
            <a:r>
              <a:rPr sz="1250" b="0">
                <a:solidFill>
                  <a:srgbClr val="E6E6E6"/>
                </a:solidFill>
                <a:latin typeface="Consolas"/>
              </a:rPr>
              <a:t>| 약 1일    |       838건 |   0.3% | TABLE ACCESS BY INDEX ROWID  |     731 |</a:t>
            </a:r>
          </a:p>
          <a:p>
            <a:r>
              <a:rPr sz="1250" b="0">
                <a:solidFill>
                  <a:srgbClr val="E6E6E6"/>
                </a:solidFill>
                <a:latin typeface="Consolas"/>
              </a:rPr>
              <a:t>|           |             |        |   BATCHED + INDEX RANGE SCAN |         |</a:t>
            </a:r>
          </a:p>
          <a:p>
            <a:r>
              <a:rPr sz="1250" b="0">
                <a:solidFill>
                  <a:srgbClr val="E6E6E6"/>
                </a:solidFill>
                <a:latin typeface="Consolas"/>
              </a:rPr>
              <a:t>| 약 1개월  |    25,406건 |   8.5% | TABLE ACCESS FULL            |   3,090 |</a:t>
            </a:r>
          </a:p>
          <a:p>
            <a:r>
              <a:rPr sz="1250" b="0">
                <a:solidFill>
                  <a:srgbClr val="E6E6E6"/>
                </a:solidFill>
                <a:latin typeface="Consolas"/>
              </a:rPr>
              <a:t>| 약 6개월  |   148,028건 |    49% | TABLE ACCESS FULL            |   3,090 |</a:t>
            </a:r>
          </a:p>
          <a:p>
            <a:r>
              <a:rPr sz="1250" b="0">
                <a:solidFill>
                  <a:srgbClr val="E6E6E6"/>
                </a:solidFill>
                <a:latin typeface="Consolas"/>
              </a:rPr>
              <a:t>| 약 11개월 | 274,000여건 |    91% | TABLE ACCESS FULL            |   3,090 |</a:t>
            </a:r>
          </a:p>
          <a:p>
            <a:r>
              <a:rPr sz="1250" b="0">
                <a:solidFill>
                  <a:srgbClr val="E6E6E6"/>
                </a:solidFill>
                <a:latin typeface="Consolas"/>
              </a:rPr>
              <a:t> </a:t>
            </a:r>
          </a:p>
          <a:p>
            <a:r>
              <a:rPr sz="1250" b="0">
                <a:solidFill>
                  <a:srgbClr val="7EC699"/>
                </a:solidFill>
                <a:latin typeface="Consolas"/>
              </a:rPr>
              <a:t>-- 838건에서는 인덱스를 썼고 25,406건부터는 Full Scan으로 전환됐다</a:t>
            </a:r>
          </a:p>
          <a:p>
            <a:r>
              <a:rPr sz="1250" b="0">
                <a:solidFill>
                  <a:srgbClr val="7EC699"/>
                </a:solidFill>
                <a:latin typeface="Consolas"/>
              </a:rPr>
              <a:t>-- 전환 이후로는 대상이 몇 배로 늘어도 Buffers가 3,090으로 고정이다</a:t>
            </a:r>
          </a:p>
        </p:txBody>
      </p:sp>
    </p:spTree>
    <p:extLst>
      <p:ext uri="{BB962C8B-B14F-4D97-AF65-F5344CB8AC3E}">
        <p14:creationId xmlns:p14="http://schemas.microsoft.com/office/powerpoint/2010/main" val="2197083232"/>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표 읽기 ① 전환이 일어난 구간</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838건(0.3%) — 인덱스를 사용했다</a:t>
            </a:r>
          </a:p>
          <a:p>
            <a:r>
              <a:rPr sz="1600" b="0">
                <a:solidFill>
                  <a:srgbClr val="5A6672"/>
                </a:solidFill>
                <a:latin typeface="Malgun Gothic"/>
              </a:rPr>
              <a:t>    –  TABLE ACCESS BY INDEX ROWID BATCHED + INDEX RANGE SCAN</a:t>
            </a:r>
          </a:p>
          <a:p>
            <a:r>
              <a:rPr sz="1600" b="0">
                <a:solidFill>
                  <a:srgbClr val="5A6672"/>
                </a:solidFill>
                <a:latin typeface="Malgun Gothic"/>
              </a:rPr>
              <a:t>    –  Buffers 731 — 필요한 블록만 골라 읽었다</a:t>
            </a:r>
          </a:p>
          <a:p>
            <a:r>
              <a:rPr sz="1800" b="0">
                <a:solidFill>
                  <a:srgbClr val="202830"/>
                </a:solidFill>
                <a:latin typeface="Malgun Gothic"/>
              </a:rPr>
              <a:t>•  25,406건(8.5%) — Full Scan으로 전환됐다</a:t>
            </a:r>
          </a:p>
          <a:p>
            <a:r>
              <a:rPr sz="1600" b="0">
                <a:solidFill>
                  <a:srgbClr val="5A6672"/>
                </a:solidFill>
                <a:latin typeface="Malgun Gothic"/>
              </a:rPr>
              <a:t>    –  Buffers 3,090 — 테이블 전체를 읽는 비용으로 바뀌었다</a:t>
            </a:r>
          </a:p>
          <a:p>
            <a:r>
              <a:rPr sz="1800" b="0">
                <a:solidFill>
                  <a:srgbClr val="202830"/>
                </a:solidFill>
                <a:latin typeface="Malgun Gothic"/>
              </a:rPr>
              <a:t>•  두 조회에서 사용 가능한 인덱스는 동일했다</a:t>
            </a:r>
          </a:p>
          <a:p>
            <a:r>
              <a:rPr sz="1600" b="0">
                <a:solidFill>
                  <a:srgbClr val="5A6672"/>
                </a:solidFill>
                <a:latin typeface="Malgun Gothic"/>
              </a:rPr>
              <a:t>    –  인덱스가 사라진 것이 아니라 옵티마이저가 쓰지 않기로 판단한 것</a:t>
            </a:r>
          </a:p>
          <a:p>
            <a:r>
              <a:rPr sz="1600" b="0">
                <a:solidFill>
                  <a:srgbClr val="5A6672"/>
                </a:solidFill>
                <a:latin typeface="Malgun Gothic"/>
              </a:rPr>
              <a:t>    –  판단의 근거는 통계정보로 계산한 양쪽 비용의 비교</a:t>
            </a:r>
          </a:p>
          <a:p>
            <a:r>
              <a:rPr sz="1800" b="0">
                <a:solidFill>
                  <a:srgbClr val="202830"/>
                </a:solidFill>
                <a:latin typeface="Malgun Gothic"/>
              </a:rPr>
              <a:t>•  이 사이 어딘가에 교차점이 있다</a:t>
            </a:r>
          </a:p>
          <a:p>
            <a:r>
              <a:rPr sz="1600" b="0">
                <a:solidFill>
                  <a:srgbClr val="5A6672"/>
                </a:solidFill>
                <a:latin typeface="Malgun Gothic"/>
              </a:rPr>
              <a:t>    –  정확한 경계는 데이터와 통계에 따라 달라진다</a:t>
            </a:r>
          </a:p>
        </p:txBody>
      </p:sp>
    </p:spTree>
    <p:extLst>
      <p:ext uri="{BB962C8B-B14F-4D97-AF65-F5344CB8AC3E}">
        <p14:creationId xmlns:p14="http://schemas.microsoft.com/office/powerpoint/2010/main" val="4079634526"/>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표 읽기 ② Buffers가 고정되는 이유</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25,406건, 148,028건, 274,000여건 — 세 경우 모두 Buffers 3,090</a:t>
            </a:r>
          </a:p>
          <a:p>
            <a:r>
              <a:rPr sz="1600" b="0">
                <a:solidFill>
                  <a:srgbClr val="5A6672"/>
                </a:solidFill>
                <a:latin typeface="Malgun Gothic"/>
              </a:rPr>
              <a:t>    –  대상 건수는 10배 넘게 차이 나는데 블록 접근은 완전히 같다</a:t>
            </a:r>
          </a:p>
          <a:p>
            <a:r>
              <a:rPr sz="1800" b="0">
                <a:solidFill>
                  <a:srgbClr val="202830"/>
                </a:solidFill>
                <a:latin typeface="Malgun Gothic"/>
              </a:rPr>
              <a:t>•  4.5절에서 확인한 원칙이 그대로 재현된 것이다</a:t>
            </a:r>
          </a:p>
          <a:p>
            <a:r>
              <a:rPr sz="1600" b="0">
                <a:solidFill>
                  <a:srgbClr val="5A6672"/>
                </a:solidFill>
                <a:latin typeface="Malgun Gothic"/>
              </a:rPr>
              <a:t>    –  Full Scan은 테이블의 모든 블록을 읽는 작업이다</a:t>
            </a:r>
          </a:p>
          <a:p>
            <a:r>
              <a:rPr sz="1600" b="0">
                <a:solidFill>
                  <a:srgbClr val="5A6672"/>
                </a:solidFill>
                <a:latin typeface="Malgun Gothic"/>
              </a:rPr>
              <a:t>    –  조건에 몇 건이 걸리는지는 다 읽은 뒤의 문제일 뿐이다</a:t>
            </a:r>
          </a:p>
          <a:p>
            <a:r>
              <a:rPr sz="1800" b="0">
                <a:solidFill>
                  <a:srgbClr val="202830"/>
                </a:solidFill>
                <a:latin typeface="Malgun Gothic"/>
              </a:rPr>
              <a:t>•  두 축이 여기서 만난다</a:t>
            </a:r>
          </a:p>
          <a:p>
            <a:r>
              <a:rPr sz="1600" b="0">
                <a:solidFill>
                  <a:srgbClr val="5A6672"/>
                </a:solidFill>
                <a:latin typeface="Malgun Gothic"/>
              </a:rPr>
              <a:t>    –  4.5절은 테이블 크기가 다를 때의 비교였다</a:t>
            </a:r>
          </a:p>
          <a:p>
            <a:r>
              <a:rPr sz="1600" b="0">
                <a:solidFill>
                  <a:srgbClr val="5A6672"/>
                </a:solidFill>
                <a:latin typeface="Malgun Gothic"/>
              </a:rPr>
              <a:t>    –  4.6절은 같은 테이블에서 선택도만 바뀔 때의 비교다</a:t>
            </a:r>
          </a:p>
          <a:p>
            <a:r>
              <a:rPr sz="1600" b="0">
                <a:solidFill>
                  <a:srgbClr val="5A6672"/>
                </a:solidFill>
                <a:latin typeface="Malgun Gothic"/>
              </a:rPr>
              <a:t>    –  서로 다른 실험이 같은 원칙을 가리키므로 결론의 신뢰도가 올라간다</a:t>
            </a:r>
          </a:p>
        </p:txBody>
      </p:sp>
    </p:spTree>
    <p:extLst>
      <p:ext uri="{BB962C8B-B14F-4D97-AF65-F5344CB8AC3E}">
        <p14:creationId xmlns:p14="http://schemas.microsoft.com/office/powerpoint/2010/main" val="407190126"/>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Index-Only — 예외가 생기는 지점</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같은 범위 조건인데 결과가 달라지는 경우가 있다</a:t>
            </a:r>
          </a:p>
          <a:p>
            <a:r>
              <a:rPr sz="1600" b="0">
                <a:solidFill>
                  <a:srgbClr val="5A6672"/>
                </a:solidFill>
                <a:latin typeface="Malgun Gothic"/>
              </a:rPr>
              <a:t>    –  COUNT(*)만 필요한 경우 — 테이블 컬럼 값을 읽을 필요가 없다</a:t>
            </a:r>
          </a:p>
          <a:p>
            <a:r>
              <a:rPr sz="1600" b="0">
                <a:solidFill>
                  <a:srgbClr val="5A6672"/>
                </a:solidFill>
                <a:latin typeface="Malgun Gothic"/>
              </a:rPr>
              <a:t>    –  이때는 148,028건(49%)에서도 인덱스만으로 처리되어 Buffers 910</a:t>
            </a:r>
          </a:p>
          <a:p>
            <a:r>
              <a:rPr sz="1800" b="0">
                <a:solidFill>
                  <a:srgbClr val="202830"/>
                </a:solidFill>
                <a:latin typeface="Malgun Gothic"/>
              </a:rPr>
              <a:t>•  왜 이런 차이가 생기는가</a:t>
            </a:r>
          </a:p>
          <a:p>
            <a:r>
              <a:rPr sz="1600" b="0">
                <a:solidFill>
                  <a:srgbClr val="5A6672"/>
                </a:solidFill>
                <a:latin typeface="Malgun Gothic"/>
              </a:rPr>
              <a:t>    –  인덱스에 이미 있는 정보만으로 답이 나오면 테이블에 갈 이유가 없다</a:t>
            </a:r>
          </a:p>
          <a:p>
            <a:r>
              <a:rPr sz="1600" b="0">
                <a:solidFill>
                  <a:srgbClr val="5A6672"/>
                </a:solidFill>
                <a:latin typeface="Malgun Gothic"/>
              </a:rPr>
              <a:t>    –  비용의 큰 몫을 차지하던 랜덤 접근 단계가 통째로 사라진다</a:t>
            </a:r>
          </a:p>
          <a:p>
            <a:r>
              <a:rPr sz="1800" b="0">
                <a:solidFill>
                  <a:srgbClr val="202830"/>
                </a:solidFill>
                <a:latin typeface="Malgun Gothic"/>
              </a:rPr>
              <a:t>•  결과적으로 교차점이 오른쪽으로 크게 밀린다</a:t>
            </a:r>
          </a:p>
          <a:p>
            <a:r>
              <a:rPr sz="1600" b="0">
                <a:solidFill>
                  <a:srgbClr val="5A6672"/>
                </a:solidFill>
                <a:latin typeface="Malgun Gothic"/>
              </a:rPr>
              <a:t>    –  선택도가 높아도 인덱스가 계속 유리할 수 있다는 뜻</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COUNT(*)처럼 테이블 컬럼 접근이 필요 없는 쿼리는 838건은 물론 148,028건(49%)에서도 인덱스만으로 처리되어 Buffers가 910에 그쳤다.</a:t>
            </a:r>
          </a:p>
        </p:txBody>
      </p:sp>
    </p:spTree>
    <p:extLst>
      <p:ext uri="{BB962C8B-B14F-4D97-AF65-F5344CB8AC3E}">
        <p14:creationId xmlns:p14="http://schemas.microsoft.com/office/powerpoint/2010/main" val="624580928"/>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SELECT 절이 경계를 옮긴다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같은 범위, 같은 인덱스, 다른 SELECT 절</a:t>
            </a:r>
          </a:p>
          <a:p>
            <a:r>
              <a:rPr sz="1600" b="0">
                <a:solidFill>
                  <a:srgbClr val="5A6672"/>
                </a:solidFill>
                <a:latin typeface="Malgun Gothic"/>
              </a:rPr>
              <a:t>    –  COUNT(*) — 49%에서도 인덱스 유지, Buffers 910</a:t>
            </a:r>
          </a:p>
          <a:p>
            <a:r>
              <a:rPr sz="1600" b="0">
                <a:solidFill>
                  <a:srgbClr val="5A6672"/>
                </a:solidFill>
                <a:latin typeface="Malgun Gothic"/>
              </a:rPr>
              <a:t>    –  SUM(total_amt) — 이미 8.5%에서 Full Scan으로 전환, Buffers 3,090</a:t>
            </a:r>
          </a:p>
          <a:p>
            <a:r>
              <a:rPr sz="1800" b="0">
                <a:solidFill>
                  <a:srgbClr val="202830"/>
                </a:solidFill>
                <a:latin typeface="Malgun Gothic"/>
              </a:rPr>
              <a:t>•  차이의 원인은 컬럼이 인덱스 안에 있는지 여부</a:t>
            </a:r>
          </a:p>
          <a:p>
            <a:r>
              <a:rPr sz="1600" b="0">
                <a:solidFill>
                  <a:srgbClr val="5A6672"/>
                </a:solidFill>
                <a:latin typeface="Malgun Gothic"/>
              </a:rPr>
              <a:t>    –  PK_MEDICAL_CLAIMS에는 CLAIM_ID만 들어 있고 TOTAL_AMT는 없다</a:t>
            </a:r>
          </a:p>
          <a:p>
            <a:r>
              <a:rPr sz="1600" b="0">
                <a:solidFill>
                  <a:srgbClr val="5A6672"/>
                </a:solidFill>
                <a:latin typeface="Malgun Gothic"/>
              </a:rPr>
              <a:t>    –  COUNT(*)는 행의 존재만 확인하면 되므로 인덱스로 완결된다</a:t>
            </a:r>
          </a:p>
          <a:p>
            <a:r>
              <a:rPr sz="1600" b="0">
                <a:solidFill>
                  <a:srgbClr val="5A6672"/>
                </a:solidFill>
                <a:latin typeface="Malgun Gothic"/>
              </a:rPr>
              <a:t>    –  SUM(total_amt)은 값을 읽으러 테이블까지 가야 한다</a:t>
            </a:r>
          </a:p>
          <a:p>
            <a:r>
              <a:rPr sz="1800" b="0">
                <a:solidFill>
                  <a:srgbClr val="202830"/>
                </a:solidFill>
                <a:latin typeface="Malgun Gothic"/>
              </a:rPr>
              <a:t>•  따라서 조회 컬럼이 바뀌면 최적 접근 방식의 경계도 바뀐다</a:t>
            </a:r>
          </a:p>
          <a:p>
            <a:r>
              <a:rPr sz="1600" b="0">
                <a:solidFill>
                  <a:srgbClr val="5A6672"/>
                </a:solidFill>
                <a:latin typeface="Malgun Gothic"/>
              </a:rPr>
              <a:t>    –  선택도 하나만 보고 접근 방식을 예측하면 틀릴 수 있다</a:t>
            </a:r>
          </a:p>
        </p:txBody>
      </p:sp>
    </p:spTree>
    <p:extLst>
      <p:ext uri="{BB962C8B-B14F-4D97-AF65-F5344CB8AC3E}">
        <p14:creationId xmlns:p14="http://schemas.microsoft.com/office/powerpoint/2010/main" val="55936162"/>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107996"/>
          </a:xfrm>
          <a:prstGeom prst="rect">
            <a:avLst/>
          </a:prstGeom>
          <a:noFill/>
        </p:spPr>
        <p:txBody>
          <a:bodyPr wrap="square">
            <a:spAutoFit/>
          </a:bodyPr>
          <a:lstStyle/>
          <a:p>
            <a:r>
              <a:rPr lang="en-US" sz="6600" b="1" dirty="0">
                <a:solidFill>
                  <a:srgbClr val="C0392B"/>
                </a:solidFill>
                <a:latin typeface="Malgun Gothic"/>
              </a:rPr>
              <a:t>5</a:t>
            </a:r>
            <a:r>
              <a:rPr sz="6600" b="1" dirty="0">
                <a:solidFill>
                  <a:srgbClr val="C0392B"/>
                </a:solidFill>
                <a:latin typeface="Malgun Gothic"/>
              </a:rPr>
              <a:t>.7~</a:t>
            </a:r>
            <a:r>
              <a:rPr lang="en-US" sz="6600" b="1" dirty="0">
                <a:solidFill>
                  <a:srgbClr val="C0392B"/>
                </a:solidFill>
                <a:latin typeface="Malgun Gothic"/>
              </a:rPr>
              <a:t>5</a:t>
            </a:r>
            <a:r>
              <a:rPr sz="6600" b="1" dirty="0">
                <a:solidFill>
                  <a:srgbClr val="C0392B"/>
                </a:solidFill>
                <a:latin typeface="Malgun Gothic"/>
              </a:rPr>
              <a:t>.8</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종합 — 판단 기준 만들기</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선택도별 접근 방식 요약표</a:t>
            </a:r>
          </a:p>
          <a:p>
            <a:r>
              <a:rPr sz="1600" b="0">
                <a:solidFill>
                  <a:srgbClr val="C5CED6"/>
                </a:solidFill>
                <a:latin typeface="Malgun Gothic"/>
              </a:rPr>
              <a:t>•  절대적인 경계 숫자가 없는 이유</a:t>
            </a:r>
          </a:p>
          <a:p>
            <a:r>
              <a:rPr sz="1600" b="0">
                <a:solidFill>
                  <a:srgbClr val="C5CED6"/>
                </a:solidFill>
                <a:latin typeface="Malgun Gothic"/>
              </a:rPr>
              <a:t>•  원칙 적용 훈련과 다음 장 예고</a:t>
            </a:r>
          </a:p>
        </p:txBody>
      </p:sp>
    </p:spTree>
    <p:extLst>
      <p:ext uri="{BB962C8B-B14F-4D97-AF65-F5344CB8AC3E}">
        <p14:creationId xmlns:p14="http://schemas.microsoft.com/office/powerpoint/2010/main" val="2805188212"/>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Benchmark — 선택도별 접근 방식 요약</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앞의 두 실측을 하나의 표로 정리한 것 — 규칙이 아니라 관찰의 요약이다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선택도        |      접근 방식 경향       |       이번 챕터 근거       |</a:t>
            </a:r>
          </a:p>
          <a:p>
            <a:r>
              <a:rPr sz="1250" b="0">
                <a:solidFill>
                  <a:srgbClr val="E6E6E6"/>
                </a:solidFill>
                <a:latin typeface="Consolas"/>
              </a:rPr>
              <a:t>|----------------------|---------------------------|----------------------------|</a:t>
            </a:r>
          </a:p>
          <a:p>
            <a:r>
              <a:rPr sz="1250" b="0">
                <a:solidFill>
                  <a:srgbClr val="E6E6E6"/>
                </a:solidFill>
                <a:latin typeface="Consolas"/>
              </a:rPr>
              <a:t>| 매우 낮음(0.3% 수준) | Index Range Scan 유리     | 838건, Buffers 731         |</a:t>
            </a:r>
          </a:p>
          <a:p>
            <a:r>
              <a:rPr sz="1250" b="0">
                <a:solidFill>
                  <a:srgbClr val="E6E6E6"/>
                </a:solidFill>
                <a:latin typeface="Consolas"/>
              </a:rPr>
              <a:t>| 중간(8% 이상)        | Full Scan으로 전환        | 25,406건부터 Buffers 3,090 |</a:t>
            </a:r>
          </a:p>
          <a:p>
            <a:r>
              <a:rPr sz="1250" b="0">
                <a:solidFill>
                  <a:srgbClr val="E6E6E6"/>
                </a:solidFill>
                <a:latin typeface="Consolas"/>
              </a:rPr>
              <a:t>| Index-Only 처리 가능 | 49%에서도 인덱스 유지     | COUNT(*)류, Buffers 910    |</a:t>
            </a:r>
          </a:p>
          <a:p>
            <a:r>
              <a:rPr sz="1250" b="0">
                <a:solidFill>
                  <a:srgbClr val="E6E6E6"/>
                </a:solidFill>
                <a:latin typeface="Consolas"/>
              </a:rPr>
              <a:t>| 테이블 자체가 작음   | 선택도 무관하게 Full Scan | HOSPITALS, Buffers 15      |</a:t>
            </a:r>
          </a:p>
          <a:p>
            <a:r>
              <a:rPr sz="1250" b="0">
                <a:solidFill>
                  <a:srgbClr val="E6E6E6"/>
                </a:solidFill>
                <a:latin typeface="Consolas"/>
              </a:rPr>
              <a:t> </a:t>
            </a:r>
          </a:p>
          <a:p>
            <a:r>
              <a:rPr sz="1250" b="0">
                <a:solidFill>
                  <a:srgbClr val="7EC699"/>
                </a:solidFill>
                <a:latin typeface="Consolas"/>
              </a:rPr>
              <a:t>-- 위 두 행은 선택도 축, 아래 두 행은 그 축을 벗어나는 변수다</a:t>
            </a:r>
          </a:p>
          <a:p>
            <a:r>
              <a:rPr sz="1250" b="0">
                <a:solidFill>
                  <a:srgbClr val="7EC699"/>
                </a:solidFill>
                <a:latin typeface="Consolas"/>
              </a:rPr>
              <a:t>-- Index-Only 여부와 테이블 크기는 선택도와 독립적으로 작용한다</a:t>
            </a:r>
          </a:p>
        </p:txBody>
      </p:sp>
    </p:spTree>
    <p:extLst>
      <p:ext uri="{BB962C8B-B14F-4D97-AF65-F5344CB8AC3E}">
        <p14:creationId xmlns:p14="http://schemas.microsoft.com/office/powerpoint/2010/main" val="2018602768"/>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'몇 %부터'라는 숫자가 없는 이유</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교차점의 위치는 상황마다 다르다</a:t>
            </a:r>
          </a:p>
          <a:p>
            <a:r>
              <a:rPr sz="1600" b="0">
                <a:solidFill>
                  <a:srgbClr val="5A6672"/>
                </a:solidFill>
                <a:latin typeface="Malgun Gothic"/>
              </a:rPr>
              <a:t>    –  테이블과 인덱스의 크기 — 전체 블록 수가 다르면 기준선이 달라진다</a:t>
            </a:r>
          </a:p>
          <a:p>
            <a:r>
              <a:rPr sz="1600" b="0">
                <a:solidFill>
                  <a:srgbClr val="5A6672"/>
                </a:solidFill>
                <a:latin typeface="Malgun Gothic"/>
              </a:rPr>
              <a:t>    –  클러스터링 팩터 — 랜덤 접근이 얼마나 흩어지는지에 따라 곡선이 달라진다</a:t>
            </a:r>
          </a:p>
          <a:p>
            <a:r>
              <a:rPr sz="1600" b="0">
                <a:solidFill>
                  <a:srgbClr val="5A6672"/>
                </a:solidFill>
                <a:latin typeface="Malgun Gothic"/>
              </a:rPr>
              <a:t>    –  Index-Only 여부 — 테이블 접근 단계가 있는지 없는지</a:t>
            </a:r>
          </a:p>
          <a:p>
            <a:r>
              <a:rPr sz="1800" b="0">
                <a:solidFill>
                  <a:srgbClr val="202830"/>
                </a:solidFill>
                <a:latin typeface="Malgun Gothic"/>
              </a:rPr>
              <a:t>•  같은 테이블, 같은 인덱스에서도 달라진다</a:t>
            </a:r>
          </a:p>
          <a:p>
            <a:r>
              <a:rPr sz="1600" b="0">
                <a:solidFill>
                  <a:srgbClr val="5A6672"/>
                </a:solidFill>
                <a:latin typeface="Malgun Gothic"/>
              </a:rPr>
              <a:t>    –  SELECT 절이 바뀌면 경계가 함께 움직인다 — 4.6절에서 확인</a:t>
            </a:r>
          </a:p>
          <a:p>
            <a:r>
              <a:rPr sz="1800" b="0">
                <a:solidFill>
                  <a:srgbClr val="202830"/>
                </a:solidFill>
                <a:latin typeface="Malgun Gothic"/>
              </a:rPr>
              <a:t>•  그래서 옵티마이저는 규칙이 아니라 계산으로 판단한다</a:t>
            </a:r>
          </a:p>
          <a:p>
            <a:r>
              <a:rPr sz="1600" b="0">
                <a:solidFill>
                  <a:srgbClr val="5A6672"/>
                </a:solidFill>
                <a:latin typeface="Malgun Gothic"/>
              </a:rPr>
              <a:t>    –  매번 통계정보를 근거로 양쪽 비용을 산출해 비교한다</a:t>
            </a:r>
          </a:p>
          <a:p>
            <a:r>
              <a:rPr sz="1600" b="0">
                <a:solidFill>
                  <a:srgbClr val="5A6672"/>
                </a:solidFill>
                <a:latin typeface="Malgun Gothic"/>
              </a:rPr>
              <a:t>    –  우리가 할 일은 그 계산이 맞는지 실행계획으로 검증하는 것</a:t>
            </a:r>
          </a:p>
        </p:txBody>
      </p:sp>
    </p:spTree>
    <p:extLst>
      <p:ext uri="{BB962C8B-B14F-4D97-AF65-F5344CB8AC3E}">
        <p14:creationId xmlns:p14="http://schemas.microsoft.com/office/powerpoint/2010/main" val="1874669123"/>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Full Scan이 유리한 상황 — 스스로 정의하기</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조건 1 — 테이블 크기 관점</a:t>
            </a:r>
          </a:p>
          <a:p>
            <a:r>
              <a:rPr sz="1600" b="0">
                <a:solidFill>
                  <a:srgbClr val="5A6672"/>
                </a:solidFill>
                <a:latin typeface="Malgun Gothic"/>
              </a:rPr>
              <a:t>    –  전체 블록 수가 작아 통째로 읽는 비용의 절대값이 크지 않을 때</a:t>
            </a:r>
          </a:p>
          <a:p>
            <a:r>
              <a:rPr sz="1600" b="0">
                <a:solidFill>
                  <a:srgbClr val="5A6672"/>
                </a:solidFill>
                <a:latin typeface="Malgun Gothic"/>
              </a:rPr>
              <a:t>    –  인덱스를 거치는 추가 단계의 오버헤드가 그 이득보다 클 때</a:t>
            </a:r>
          </a:p>
          <a:p>
            <a:r>
              <a:rPr sz="1800" b="0">
                <a:solidFill>
                  <a:srgbClr val="202830"/>
                </a:solidFill>
                <a:latin typeface="Malgun Gothic"/>
              </a:rPr>
              <a:t>•  조건 2 — 선택도 관점</a:t>
            </a:r>
          </a:p>
          <a:p>
            <a:r>
              <a:rPr sz="1600" b="0">
                <a:solidFill>
                  <a:srgbClr val="5A6672"/>
                </a:solidFill>
                <a:latin typeface="Malgun Gothic"/>
              </a:rPr>
              <a:t>    –  조건을 만족하는 행의 비율이 높아 어차피 대부분을 읽어야 할 때</a:t>
            </a:r>
          </a:p>
          <a:p>
            <a:r>
              <a:rPr sz="1600" b="0">
                <a:solidFill>
                  <a:srgbClr val="5A6672"/>
                </a:solidFill>
                <a:latin typeface="Malgun Gothic"/>
              </a:rPr>
              <a:t>    –  랜덤 접근이 누적되는 비용이 순차 읽기 비용을 넘어설 때</a:t>
            </a:r>
          </a:p>
          <a:p>
            <a:r>
              <a:rPr sz="1800" b="0">
                <a:solidFill>
                  <a:srgbClr val="202830"/>
                </a:solidFill>
                <a:latin typeface="Malgun Gothic"/>
              </a:rPr>
              <a:t>•  예외 조건 — 필요한 컬럼이 인덱스 안에 있는가</a:t>
            </a:r>
          </a:p>
          <a:p>
            <a:r>
              <a:rPr sz="1600" b="0">
                <a:solidFill>
                  <a:srgbClr val="5A6672"/>
                </a:solidFill>
                <a:latin typeface="Malgun Gothic"/>
              </a:rPr>
              <a:t>    –  조건 2를 만족해도 Index-Only면 여전히 인덱스가 유리할 수 있다</a:t>
            </a:r>
          </a:p>
          <a:p>
            <a:r>
              <a:rPr sz="1600" b="0">
                <a:solidFill>
                  <a:srgbClr val="5A6672"/>
                </a:solidFill>
                <a:latin typeface="Malgun Gothic"/>
              </a:rPr>
              <a:t>    –  세 변수는 독립적이지 않고 함께 고려해야 한다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조건 2를 만족하더라도 쿼리가 인덱스에 포함된 컬럼만 필요로 한다면 여전히 인덱스가 유리할 수 있다 — 두 조건은 독립적으로 작용하지 않는다.</a:t>
            </a:r>
          </a:p>
        </p:txBody>
      </p:sp>
    </p:spTree>
    <p:extLst>
      <p:ext uri="{BB962C8B-B14F-4D97-AF65-F5344CB8AC3E}">
        <p14:creationId xmlns:p14="http://schemas.microsoft.com/office/powerpoint/2010/main" val="2312070140"/>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원칙 적용 훈련 — REVIEW_LOG 사례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상황 — REVIEW_LOG에서 REVIEWER_ID = 'SYSTEM'인 행을 찾는다</a:t>
            </a:r>
          </a:p>
          <a:p>
            <a:r>
              <a:rPr sz="1600" b="0">
                <a:solidFill>
                  <a:srgbClr val="5A6672"/>
                </a:solidFill>
                <a:latin typeface="Malgun Gothic"/>
              </a:rPr>
              <a:t>    –  REVIEW_LOG는 50만 건 — HOSPITALS보다 훨씬 크고 CLAIM_DETAILS와 비슷한 규모</a:t>
            </a:r>
          </a:p>
          <a:p>
            <a:r>
              <a:rPr sz="1600" b="0">
                <a:solidFill>
                  <a:srgbClr val="5A6672"/>
                </a:solidFill>
                <a:latin typeface="Malgun Gothic"/>
              </a:rPr>
              <a:t>    –  해당 값이 전체의 약 40%로 추정된다</a:t>
            </a:r>
          </a:p>
          <a:p>
            <a:r>
              <a:rPr sz="1600" b="0">
                <a:solidFill>
                  <a:srgbClr val="5A6672"/>
                </a:solidFill>
                <a:latin typeface="Malgun Gothic"/>
              </a:rPr>
              <a:t>    –  해당 컬럼에 인덱스는 없는 상태다</a:t>
            </a:r>
          </a:p>
          <a:p>
            <a:r>
              <a:rPr sz="1800" b="0">
                <a:solidFill>
                  <a:srgbClr val="202830"/>
                </a:solidFill>
                <a:latin typeface="Malgun Gothic"/>
              </a:rPr>
              <a:t>•  이 장의 원칙을 적용한 예측</a:t>
            </a:r>
          </a:p>
          <a:p>
            <a:r>
              <a:rPr sz="1600" b="0">
                <a:solidFill>
                  <a:srgbClr val="5A6672"/>
                </a:solidFill>
                <a:latin typeface="Malgun Gothic"/>
              </a:rPr>
              <a:t>    –  크기 축 — 작은 테이블이 아니므로 크기만으로는 Full Scan을 정당화할 수 없다</a:t>
            </a:r>
          </a:p>
          <a:p>
            <a:r>
              <a:rPr sz="1600" b="0">
                <a:solidFill>
                  <a:srgbClr val="5A6672"/>
                </a:solidFill>
                <a:latin typeface="Malgun Gothic"/>
              </a:rPr>
              <a:t>    –  선택도 축 — 약 40%는 이번 챕터에서 전환이 관찰된 구간을 크게 웃돈다</a:t>
            </a:r>
          </a:p>
          <a:p>
            <a:r>
              <a:rPr sz="1800" b="0">
                <a:solidFill>
                  <a:srgbClr val="202830"/>
                </a:solidFill>
                <a:latin typeface="Malgun Gothic"/>
              </a:rPr>
              <a:t>•  결론 — TABLE ACCESS FULL로 처리될 것으로 예상하는 것이 합리적이다</a:t>
            </a:r>
          </a:p>
          <a:p>
            <a:r>
              <a:rPr sz="1600" b="0">
                <a:solidFill>
                  <a:srgbClr val="5A6672"/>
                </a:solidFill>
                <a:latin typeface="Malgun Gothic"/>
              </a:rPr>
              <a:t>    –  설령 인덱스가 있었더라도 같은 판단이 나올 가능성이 크다</a:t>
            </a:r>
          </a:p>
        </p:txBody>
      </p:sp>
    </p:spTree>
    <p:extLst>
      <p:ext uri="{BB962C8B-B14F-4D97-AF65-F5344CB8AC3E}">
        <p14:creationId xmlns:p14="http://schemas.microsoft.com/office/powerpoint/2010/main" val="76167400"/>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ch06 예고 — 인덱스 설계로</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이번 장에서 다룬 것 — 이미 있는 인덱스를 쓸지 말지의 판단</a:t>
            </a:r>
          </a:p>
          <a:p>
            <a:r>
              <a:rPr sz="1600" b="0">
                <a:solidFill>
                  <a:srgbClr val="5A6672"/>
                </a:solidFill>
                <a:latin typeface="Malgun Gothic"/>
              </a:rPr>
              <a:t>    –  인덱스를 새로 만들지 않고 접근 방식의 선택만 관찰했다</a:t>
            </a:r>
          </a:p>
          <a:p>
            <a:r>
              <a:rPr sz="1800" b="0">
                <a:solidFill>
                  <a:srgbClr val="202830"/>
                </a:solidFill>
                <a:latin typeface="Malgun Gothic"/>
              </a:rPr>
              <a:t>•  다음 장에서 다룰 것 — 인덱스를 어떻게 만들 것인가</a:t>
            </a:r>
          </a:p>
          <a:p>
            <a:r>
              <a:rPr sz="1600" b="0">
                <a:solidFill>
                  <a:srgbClr val="5A6672"/>
                </a:solidFill>
                <a:latin typeface="Malgun Gothic"/>
              </a:rPr>
              <a:t>    –  선택도를 인덱스 설계에 어떻게 반영하는지</a:t>
            </a:r>
          </a:p>
          <a:p>
            <a:r>
              <a:rPr sz="1600" b="0">
                <a:solidFill>
                  <a:srgbClr val="5A6672"/>
                </a:solidFill>
                <a:latin typeface="Malgun Gothic"/>
              </a:rPr>
              <a:t>    –  컬럼 순서와 결합 인덱스의 판단 기준</a:t>
            </a:r>
          </a:p>
          <a:p>
            <a:r>
              <a:rPr sz="1800" b="0">
                <a:solidFill>
                  <a:srgbClr val="202830"/>
                </a:solidFill>
                <a:latin typeface="Malgun Gothic"/>
              </a:rPr>
              <a:t>•  이번 장의 개념이 다음 장의 전제가 된다</a:t>
            </a:r>
          </a:p>
          <a:p>
            <a:r>
              <a:rPr sz="1600" b="0">
                <a:solidFill>
                  <a:srgbClr val="5A6672"/>
                </a:solidFill>
                <a:latin typeface="Malgun Gothic"/>
              </a:rPr>
              <a:t>    –  선택도를 모르면 어떤 컬럼을 인덱스 선두에 둘지 판단할 수 없다</a:t>
            </a:r>
          </a:p>
          <a:p>
            <a:r>
              <a:rPr sz="1600" b="0">
                <a:solidFill>
                  <a:srgbClr val="5A6672"/>
                </a:solidFill>
                <a:latin typeface="Malgun Gothic"/>
              </a:rPr>
              <a:t>    –  Index-Only의 이점을 모르면 커버링 설계를 떠올릴 수 없다</a:t>
            </a:r>
          </a:p>
          <a:p>
            <a:r>
              <a:rPr sz="1600" b="0">
                <a:solidFill>
                  <a:srgbClr val="5A6672"/>
                </a:solidFill>
                <a:latin typeface="Malgun Gothic"/>
              </a:rPr>
              <a:t>    –  클러스터링 팩터를 모르면 인덱스가 기대만큼 안 빠른 이유를 설명할 수 없다</a:t>
            </a:r>
          </a:p>
        </p:txBody>
      </p:sp>
    </p:spTree>
    <p:extLst>
      <p:ext uri="{BB962C8B-B14F-4D97-AF65-F5344CB8AC3E}">
        <p14:creationId xmlns:p14="http://schemas.microsoft.com/office/powerpoint/2010/main" val="1103758595"/>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요약 (Summary)</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Full Scan 비용은 결과 건수가 아니라 테이블 크기에 비례한다</a:t>
            </a:r>
          </a:p>
          <a:p>
            <a:r>
              <a:rPr sz="1800" b="0">
                <a:solidFill>
                  <a:srgbClr val="202830"/>
                </a:solidFill>
                <a:latin typeface="Malgun Gothic"/>
              </a:rPr>
              <a:t>•  Index Range Scan 비용은 결과 건수와 랜덤 접근에 비례한다</a:t>
            </a:r>
          </a:p>
          <a:p>
            <a:r>
              <a:rPr sz="1800" b="0">
                <a:solidFill>
                  <a:srgbClr val="202830"/>
                </a:solidFill>
                <a:latin typeface="Malgun Gothic"/>
              </a:rPr>
              <a:t>•  두 비용 곡선이 교차하는 지점이 있고 옵티마이저는 그것을 계산으로 추정한다</a:t>
            </a:r>
          </a:p>
          <a:p>
            <a:r>
              <a:rPr sz="1800" b="0">
                <a:solidFill>
                  <a:srgbClr val="202830"/>
                </a:solidFill>
                <a:latin typeface="Malgun Gothic"/>
              </a:rPr>
              <a:t>•  선택도가 낮으면 인덱스, 높으면 Full Scan이 유리한 경향이 있다</a:t>
            </a:r>
          </a:p>
          <a:p>
            <a:r>
              <a:rPr sz="1800" b="0">
                <a:solidFill>
                  <a:srgbClr val="202830"/>
                </a:solidFill>
                <a:latin typeface="Malgun Gothic"/>
              </a:rPr>
              <a:t>•  인덱스가 있어도 옵티마이저가 쓰지 않기로 판단할 수 있다</a:t>
            </a:r>
          </a:p>
          <a:p>
            <a:r>
              <a:rPr sz="1800" b="0">
                <a:solidFill>
                  <a:srgbClr val="202830"/>
                </a:solidFill>
                <a:latin typeface="Malgun Gothic"/>
              </a:rPr>
              <a:t>•  Index-Only 쿼리는 선택도가 높아도 인덱스가 계속 유리할 수 있다</a:t>
            </a:r>
          </a:p>
          <a:p>
            <a:r>
              <a:rPr sz="1800" b="0">
                <a:solidFill>
                  <a:srgbClr val="202830"/>
                </a:solidFill>
                <a:latin typeface="Malgun Gothic"/>
              </a:rPr>
              <a:t>•  작은 테이블은 인덱스 유무와 무관하게 Full Scan이 저렴한 경우가 많다</a:t>
            </a:r>
          </a:p>
          <a:p>
            <a:r>
              <a:rPr sz="1800" b="0">
                <a:solidFill>
                  <a:srgbClr val="202830"/>
                </a:solidFill>
                <a:latin typeface="Malgun Gothic"/>
              </a:rPr>
              <a:t>•  정확한 교차점은 데이터·인덱스·쿼리 특성마다 다르므로 실행계획으로 확인한다</a:t>
            </a:r>
          </a:p>
        </p:txBody>
      </p:sp>
    </p:spTree>
    <p:extLst>
      <p:ext uri="{BB962C8B-B14F-4D97-AF65-F5344CB8AC3E}">
        <p14:creationId xmlns:p14="http://schemas.microsoft.com/office/powerpoint/2010/main" val="4053553548"/>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실습 안내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실습문제 10문항 — ch05_문제.md</a:t>
            </a:r>
          </a:p>
          <a:p>
            <a:r>
              <a:rPr sz="1600" b="0">
                <a:solidFill>
                  <a:srgbClr val="5A6672"/>
                </a:solidFill>
                <a:latin typeface="Malgun Gothic"/>
              </a:rPr>
              <a:t>    –  1번  결과가 적은데 Buffers가 큰 이유 — Full Scan 비용 구조</a:t>
            </a:r>
          </a:p>
          <a:p>
            <a:r>
              <a:rPr sz="1600" b="0">
                <a:solidFill>
                  <a:srgbClr val="5A6672"/>
                </a:solidFill>
                <a:latin typeface="Malgun Gothic"/>
              </a:rPr>
              <a:t>    –  2번  인덱스가 있어도 쓰지 않는 경우의 설명</a:t>
            </a:r>
          </a:p>
          <a:p>
            <a:r>
              <a:rPr sz="1600" b="0">
                <a:solidFill>
                  <a:srgbClr val="5A6672"/>
                </a:solidFill>
                <a:latin typeface="Malgun Gothic"/>
              </a:rPr>
              <a:t>    –  3번  건수가 달라도 Buffers가 동일한 이유</a:t>
            </a:r>
          </a:p>
          <a:p>
            <a:r>
              <a:rPr sz="1600" b="0">
                <a:solidFill>
                  <a:srgbClr val="5A6672"/>
                </a:solidFill>
                <a:latin typeface="Malgun Gothic"/>
              </a:rPr>
              <a:t>    –  4·6번  COUNT(*)와 SUM(total_amt)의 차이, 선택도 단일 규칙에 대한 반박</a:t>
            </a:r>
          </a:p>
          <a:p>
            <a:r>
              <a:rPr sz="1600" b="0">
                <a:solidFill>
                  <a:srgbClr val="5A6672"/>
                </a:solidFill>
                <a:latin typeface="Malgun Gothic"/>
              </a:rPr>
              <a:t>    –  5번  선택도와 카디널리티의 정의 및 사례별 계산</a:t>
            </a:r>
          </a:p>
          <a:p>
            <a:r>
              <a:rPr sz="1600" b="0">
                <a:solidFill>
                  <a:srgbClr val="5A6672"/>
                </a:solidFill>
                <a:latin typeface="Malgun Gothic"/>
              </a:rPr>
              <a:t>    –  7번  이미 저렴한 작은 테이블에 인덱스를 추가하는 것의 손익</a:t>
            </a:r>
          </a:p>
          <a:p>
            <a:r>
              <a:rPr sz="1600" b="0">
                <a:solidFill>
                  <a:srgbClr val="5A6672"/>
                </a:solidFill>
                <a:latin typeface="Malgun Gothic"/>
              </a:rPr>
              <a:t>    –  8번  교차점을 하나의 숫자로 단정할 수 없는 이유</a:t>
            </a:r>
          </a:p>
          <a:p>
            <a:r>
              <a:rPr sz="1600" b="0">
                <a:solidFill>
                  <a:srgbClr val="5A6672"/>
                </a:solidFill>
                <a:latin typeface="Malgun Gothic"/>
              </a:rPr>
              <a:t>    –  9·10번  REVIEW_LOG 사례 예측과 Full Scan 유리 조건의 정의</a:t>
            </a:r>
          </a:p>
          <a:p>
            <a:r>
              <a:rPr sz="1800" b="0">
                <a:solidFill>
                  <a:srgbClr val="202830"/>
                </a:solidFill>
                <a:latin typeface="Malgun Gothic"/>
              </a:rPr>
              <a:t>•  실습 전 확인 — 이번 장은 인덱스를 신규 생성하지 않는다</a:t>
            </a:r>
          </a:p>
          <a:p>
            <a:r>
              <a:rPr sz="1600" b="0">
                <a:solidFill>
                  <a:srgbClr val="5A6672"/>
                </a:solidFill>
                <a:latin typeface="Malgun Gothic"/>
              </a:rPr>
              <a:t>    –  인덱스나 통계를 임의로 바꾸면 교안의 실행계획이 재현되지 않는다</a:t>
            </a:r>
          </a:p>
        </p:txBody>
      </p:sp>
    </p:spTree>
    <p:extLst>
      <p:ext uri="{BB962C8B-B14F-4D97-AF65-F5344CB8AC3E}">
        <p14:creationId xmlns:p14="http://schemas.microsoft.com/office/powerpoint/2010/main" val="3792618039"/>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Rectangle 1"/>
          <p:cNvSpPr/>
          <p:nvPr/>
        </p:nvSpPr>
        <p:spPr>
          <a:xfrm>
            <a:off x="822960" y="2331720"/>
            <a:ext cx="164592"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88720" y="1463040"/>
            <a:ext cx="10058400" cy="369332"/>
          </a:xfrm>
          <a:prstGeom prst="rect">
            <a:avLst/>
          </a:prstGeom>
          <a:noFill/>
        </p:spPr>
        <p:txBody>
          <a:bodyPr wrap="square">
            <a:spAutoFit/>
          </a:bodyPr>
          <a:lstStyle/>
          <a:p>
            <a:r>
              <a:rPr sz="1800" b="1">
                <a:solidFill>
                  <a:srgbClr val="C0392B"/>
                </a:solidFill>
                <a:latin typeface="Malgun Gothic"/>
              </a:rPr>
              <a:t>Oracle SQL 튜닝 과정  ·  ch06</a:t>
            </a:r>
          </a:p>
        </p:txBody>
      </p:sp>
      <p:sp>
        <p:nvSpPr>
          <p:cNvPr id="4" name="TextBox 3"/>
          <p:cNvSpPr txBox="1"/>
          <p:nvPr/>
        </p:nvSpPr>
        <p:spPr>
          <a:xfrm>
            <a:off x="1188720" y="2194560"/>
            <a:ext cx="10332720" cy="2011680"/>
          </a:xfrm>
          <a:prstGeom prst="rect">
            <a:avLst/>
          </a:prstGeom>
          <a:noFill/>
        </p:spPr>
        <p:txBody>
          <a:bodyPr wrap="square">
            <a:spAutoFit/>
          </a:bodyPr>
          <a:lstStyle/>
          <a:p>
            <a:r>
              <a:rPr sz="4400" b="1">
                <a:solidFill>
                  <a:srgbClr val="FFFFFF"/>
                </a:solidFill>
                <a:latin typeface="Malgun Gothic"/>
              </a:rPr>
              <a:t>인덱스 설계</a:t>
            </a:r>
          </a:p>
        </p:txBody>
      </p:sp>
      <p:sp>
        <p:nvSpPr>
          <p:cNvPr id="5" name="TextBox 4"/>
          <p:cNvSpPr txBox="1"/>
          <p:nvPr/>
        </p:nvSpPr>
        <p:spPr>
          <a:xfrm>
            <a:off x="1188720" y="4297680"/>
            <a:ext cx="10058400" cy="1097280"/>
          </a:xfrm>
          <a:prstGeom prst="rect">
            <a:avLst/>
          </a:prstGeom>
          <a:noFill/>
        </p:spPr>
        <p:txBody>
          <a:bodyPr wrap="square">
            <a:spAutoFit/>
          </a:bodyPr>
          <a:lstStyle/>
          <a:p>
            <a:r>
              <a:rPr sz="1800" b="0">
                <a:solidFill>
                  <a:srgbClr val="C5CED6"/>
                </a:solidFill>
                <a:latin typeface="Malgun Gothic"/>
              </a:rPr>
              <a:t>B-Tree 인덱스 · 복합 인덱스 컬럼 순서 · 선두 컬럼 · RANGE SCAN vs FAST FULL SCAN   |   Oracle Database 19c · 진료비청구심사 스키마 기준</a:t>
            </a:r>
          </a:p>
        </p:txBody>
      </p:sp>
    </p:spTree>
    <p:extLst>
      <p:ext uri="{BB962C8B-B14F-4D97-AF65-F5344CB8AC3E}">
        <p14:creationId xmlns:p14="http://schemas.microsoft.com/office/powerpoint/2010/main" val="4054977630"/>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학습 목표 (Objectives)</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 장을 마치면 다음을 수행할 수 있어야 한다.</a:t>
            </a:r>
          </a:p>
          <a:p>
            <a:r>
              <a:rPr sz="1600" b="0">
                <a:solidFill>
                  <a:srgbClr val="5A6672"/>
                </a:solidFill>
                <a:latin typeface="Malgun Gothic"/>
              </a:rPr>
              <a:t>    –  B-Tree 인덱스가 컬럼 값을 정렬해 저장하는 구조라는 점을 설명한다</a:t>
            </a:r>
          </a:p>
          <a:p>
            <a:r>
              <a:rPr sz="1600" b="0">
                <a:solidFill>
                  <a:srgbClr val="5A6672"/>
                </a:solidFill>
                <a:latin typeface="Malgun Gothic"/>
              </a:rPr>
              <a:t>    –  단일 컬럼 인덱스와 복합 인덱스의 차이를 구분한다</a:t>
            </a:r>
          </a:p>
          <a:p>
            <a:r>
              <a:rPr sz="1600" b="0">
                <a:solidFill>
                  <a:srgbClr val="5A6672"/>
                </a:solidFill>
                <a:latin typeface="Malgun Gothic"/>
              </a:rPr>
              <a:t>    –  복합 인덱스의 선두 컬럼이 무엇인지 정의하고 그 역할을 설명한다</a:t>
            </a:r>
          </a:p>
          <a:p>
            <a:r>
              <a:rPr sz="1600" b="0">
                <a:solidFill>
                  <a:srgbClr val="5A6672"/>
                </a:solidFill>
                <a:latin typeface="Malgun Gothic"/>
              </a:rPr>
              <a:t>    –  선두 컬럼이 조건에 포함될 때 INDEX RANGE SCAN이 가능한 이유를 설명한다</a:t>
            </a:r>
          </a:p>
          <a:p>
            <a:r>
              <a:rPr sz="1600" b="0">
                <a:solidFill>
                  <a:srgbClr val="5A6672"/>
                </a:solidFill>
                <a:latin typeface="Malgun Gothic"/>
              </a:rPr>
              <a:t>    –  후행 컬럼만 조건일 때 INDEX FAST FULL SCAN으로 전환되는 이유를 설명한다</a:t>
            </a:r>
          </a:p>
          <a:p>
            <a:r>
              <a:rPr sz="1600" b="0">
                <a:solidFill>
                  <a:srgbClr val="5A6672"/>
                </a:solidFill>
                <a:latin typeface="Malgun Gothic"/>
              </a:rPr>
              <a:t>    –  같은 두 컬럼이라도 순서에 따라 Buffers가 뒤바뀌는 실측 결과를 읽는다</a:t>
            </a:r>
          </a:p>
          <a:p>
            <a:r>
              <a:rPr sz="1600" b="0">
                <a:solidFill>
                  <a:srgbClr val="5A6672"/>
                </a:solidFill>
                <a:latin typeface="Malgun Gothic"/>
              </a:rPr>
              <a:t>    –  INDEX FAST FULL SCAN이 TABLE ACCESS FULL보다 저렴한 근거를 든다</a:t>
            </a:r>
          </a:p>
          <a:p>
            <a:r>
              <a:rPr sz="1600" b="0">
                <a:solidFill>
                  <a:srgbClr val="5A6672"/>
                </a:solidFill>
                <a:latin typeface="Malgun Gothic"/>
              </a:rPr>
              <a:t>    –  인덱스가 조회를 돕는 대신 DML 비용을 늘리는 트레이드오프를 설명한다</a:t>
            </a:r>
          </a:p>
          <a:p>
            <a:r>
              <a:rPr sz="1600" b="0">
                <a:solidFill>
                  <a:srgbClr val="5A6672"/>
                </a:solidFill>
                <a:latin typeface="Malgun Gothic"/>
              </a:rPr>
              <a:t>    –  조회 패턴을 근거로 복합 인덱스의 컬럼 순서를 결정하는 절차를 정리한다</a:t>
            </a:r>
          </a:p>
        </p:txBody>
      </p:sp>
    </p:spTree>
    <p:extLst>
      <p:ext uri="{BB962C8B-B14F-4D97-AF65-F5344CB8AC3E}">
        <p14:creationId xmlns:p14="http://schemas.microsoft.com/office/powerpoint/2010/main" val="1591967824"/>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장의 구성 (Agenda)</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5.1  Why — ch05가 남긴 질문 · 잘못된 인덱스의 대가</a:t>
            </a:r>
          </a:p>
          <a:p>
            <a:r>
              <a:rPr sz="1800" b="0">
                <a:solidFill>
                  <a:srgbClr val="202830"/>
                </a:solidFill>
                <a:latin typeface="Malgun Gothic"/>
              </a:rPr>
              <a:t>•  5.2  Concept — B-Tree · 단일 컬럼 인덱스 · 복합 인덱스 · 선두 컬럼</a:t>
            </a:r>
          </a:p>
          <a:p>
            <a:r>
              <a:rPr sz="1800" b="0">
                <a:solidFill>
                  <a:srgbClr val="202830"/>
                </a:solidFill>
                <a:latin typeface="Malgun Gothic"/>
              </a:rPr>
              <a:t>•  5.3  Oracle Internals — 컬럼 순서가 중요한 이유 · 인덱스의 비용</a:t>
            </a:r>
          </a:p>
          <a:p>
            <a:r>
              <a:rPr sz="1800" b="0">
                <a:solidFill>
                  <a:srgbClr val="202830"/>
                </a:solidFill>
                <a:latin typeface="Malgun Gothic"/>
              </a:rPr>
              <a:t>•  5.4  Example — 인덱스 A (HOSP_ID, RECEIPT_DATE)와 세 가지 조건</a:t>
            </a:r>
          </a:p>
          <a:p>
            <a:r>
              <a:rPr sz="1800" b="0">
                <a:solidFill>
                  <a:srgbClr val="202830"/>
                </a:solidFill>
                <a:latin typeface="Malgun Gothic"/>
              </a:rPr>
              <a:t>•  5.5  Execution Plan — 인덱스 A 실측과 해석</a:t>
            </a:r>
          </a:p>
          <a:p>
            <a:r>
              <a:rPr sz="1800" b="0">
                <a:solidFill>
                  <a:srgbClr val="202830"/>
                </a:solidFill>
                <a:latin typeface="Malgun Gothic"/>
              </a:rPr>
              <a:t>•  5.6  Bad SQL — 컬럼 순서를 반대로 한 인덱스 B 실측</a:t>
            </a:r>
          </a:p>
          <a:p>
            <a:r>
              <a:rPr sz="1800" b="0">
                <a:solidFill>
                  <a:srgbClr val="202830"/>
                </a:solidFill>
                <a:latin typeface="Malgun Gothic"/>
              </a:rPr>
              <a:t>•  5.7  Tuning — 이번 스키마의 조회 패턴에 적용하기</a:t>
            </a:r>
          </a:p>
          <a:p>
            <a:r>
              <a:rPr sz="1800" b="0">
                <a:solidFill>
                  <a:srgbClr val="202830"/>
                </a:solidFill>
                <a:latin typeface="Malgun Gothic"/>
              </a:rPr>
              <a:t>•  5.8  Benchmark — 종합 비교표와 순서 결정 절차</a:t>
            </a:r>
          </a:p>
          <a:p>
            <a:r>
              <a:rPr sz="1800" b="0">
                <a:solidFill>
                  <a:srgbClr val="202830"/>
                </a:solidFill>
                <a:latin typeface="Malgun Gothic"/>
              </a:rPr>
              <a:t>•  5.9~5.10  실습 안내 · 요약 (Review)</a:t>
            </a:r>
          </a:p>
        </p:txBody>
      </p:sp>
    </p:spTree>
    <p:extLst>
      <p:ext uri="{BB962C8B-B14F-4D97-AF65-F5344CB8AC3E}">
        <p14:creationId xmlns:p14="http://schemas.microsoft.com/office/powerpoint/2010/main" val="3190797156"/>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107996"/>
          </a:xfrm>
          <a:prstGeom prst="rect">
            <a:avLst/>
          </a:prstGeom>
          <a:noFill/>
        </p:spPr>
        <p:txBody>
          <a:bodyPr wrap="square">
            <a:spAutoFit/>
          </a:bodyPr>
          <a:lstStyle/>
          <a:p>
            <a:r>
              <a:rPr lang="en-US" sz="6600" b="1" dirty="0">
                <a:solidFill>
                  <a:srgbClr val="C0392B"/>
                </a:solidFill>
                <a:latin typeface="Malgun Gothic"/>
              </a:rPr>
              <a:t>6</a:t>
            </a:r>
            <a:r>
              <a:rPr sz="6600" b="1" dirty="0">
                <a:solidFill>
                  <a:srgbClr val="C0392B"/>
                </a:solidFill>
                <a:latin typeface="Malgun Gothic"/>
              </a:rPr>
              <a:t>.1</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인덱스 설계를 왜 배우는가</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ch05가 남긴 질문</a:t>
            </a:r>
          </a:p>
          <a:p>
            <a:r>
              <a:rPr sz="1600" b="0">
                <a:solidFill>
                  <a:srgbClr val="C5CED6"/>
                </a:solidFill>
                <a:latin typeface="Malgun Gothic"/>
              </a:rPr>
              <a:t>•  잘못 설계된 인덱스의 대가</a:t>
            </a:r>
          </a:p>
          <a:p>
            <a:r>
              <a:rPr sz="1600" b="0">
                <a:solidFill>
                  <a:srgbClr val="C5CED6"/>
                </a:solidFill>
                <a:latin typeface="Malgun Gothic"/>
              </a:rPr>
              <a:t>•  이번 차시의 목표와 진행 방식</a:t>
            </a:r>
          </a:p>
        </p:txBody>
      </p:sp>
    </p:spTree>
    <p:extLst>
      <p:ext uri="{BB962C8B-B14F-4D97-AF65-F5344CB8AC3E}">
        <p14:creationId xmlns:p14="http://schemas.microsoft.com/office/powerpoint/2010/main" val="4294340587"/>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ch05가 남긴 질문</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ch05에서 확인한 것 — 인덱스가 유리한 상황이 따로 있다</a:t>
            </a:r>
          </a:p>
          <a:p>
            <a:r>
              <a:rPr sz="1600" b="0">
                <a:solidFill>
                  <a:srgbClr val="5A6672"/>
                </a:solidFill>
                <a:latin typeface="Malgun Gothic"/>
              </a:rPr>
              <a:t>    –  선택도가 낮아 소수의 행만 걸러 내는 조건에서 인덱스가 효과적이었다</a:t>
            </a:r>
          </a:p>
          <a:p>
            <a:r>
              <a:rPr sz="1600" b="0">
                <a:solidFill>
                  <a:srgbClr val="5A6672"/>
                </a:solidFill>
                <a:latin typeface="Malgun Gothic"/>
              </a:rPr>
              <a:t>    –  반대로 넓은 범위를 읽어야 하면 통째로 읽는 편이 나을 수 있었다</a:t>
            </a:r>
          </a:p>
          <a:p>
            <a:r>
              <a:rPr sz="1800" b="0">
                <a:solidFill>
                  <a:srgbClr val="202830"/>
                </a:solidFill>
                <a:latin typeface="Malgun Gothic"/>
              </a:rPr>
              <a:t>•  그러나 아직 답하지 않은 질문이 남아 있다</a:t>
            </a:r>
          </a:p>
          <a:p>
            <a:r>
              <a:rPr sz="1600" b="0">
                <a:solidFill>
                  <a:srgbClr val="5A6672"/>
                </a:solidFill>
                <a:latin typeface="Malgun Gothic"/>
              </a:rPr>
              <a:t>    –  인덱스를 만들기로 했다면 어떤 컬럼을 고를 것인가</a:t>
            </a:r>
          </a:p>
          <a:p>
            <a:r>
              <a:rPr sz="1600" b="0">
                <a:solidFill>
                  <a:srgbClr val="5A6672"/>
                </a:solidFill>
                <a:latin typeface="Malgun Gothic"/>
              </a:rPr>
              <a:t>    –  여러 컬럼을 묶는다면 어떤 순서로 배치할 것인가</a:t>
            </a:r>
          </a:p>
          <a:p>
            <a:r>
              <a:rPr sz="1800" b="0">
                <a:solidFill>
                  <a:srgbClr val="202830"/>
                </a:solidFill>
                <a:latin typeface="Malgun Gothic"/>
              </a:rPr>
              <a:t>•  이번 차시의 목표는 그 순서가 실행계획에 미치는 영향을 실측으로 확인하는 것</a:t>
            </a:r>
          </a:p>
          <a:p>
            <a:r>
              <a:rPr sz="1600" b="0">
                <a:solidFill>
                  <a:srgbClr val="5A6672"/>
                </a:solidFill>
                <a:latin typeface="Malgun Gothic"/>
              </a:rPr>
              <a:t>    –  개념 설명이 아니라 같은 두 컬럼을 순서만 바꿔 만든 두 인덱스를 직접 비교한다</a:t>
            </a:r>
          </a:p>
        </p:txBody>
      </p:sp>
    </p:spTree>
    <p:extLst>
      <p:ext uri="{BB962C8B-B14F-4D97-AF65-F5344CB8AC3E}">
        <p14:creationId xmlns:p14="http://schemas.microsoft.com/office/powerpoint/2010/main" val="2688014889"/>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잘못 설계된 인덱스의 대가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잘못 설계된 인덱스는 있어도 안 쓰인다</a:t>
            </a:r>
          </a:p>
          <a:p>
            <a:r>
              <a:rPr sz="1600" b="0">
                <a:solidFill>
                  <a:srgbClr val="5A6672"/>
                </a:solidFill>
                <a:latin typeface="Malgun Gothic"/>
              </a:rPr>
              <a:t>    –  조회 조건이 선두 컬럼과 맞지 않으면 옵티마이저가 그 인덱스를 고르지 않거나</a:t>
            </a:r>
          </a:p>
          <a:p>
            <a:r>
              <a:rPr sz="1600" b="0">
                <a:solidFill>
                  <a:srgbClr val="5A6672"/>
                </a:solidFill>
                <a:latin typeface="Malgun Gothic"/>
              </a:rPr>
              <a:t>    –  고르더라도 전체를 훑는 값비싼 방식으로 처리하게 된다</a:t>
            </a:r>
          </a:p>
          <a:p>
            <a:r>
              <a:rPr sz="1800" b="0">
                <a:solidFill>
                  <a:srgbClr val="202830"/>
                </a:solidFill>
                <a:latin typeface="Malgun Gothic"/>
              </a:rPr>
              <a:t>•  쓰이지 않는 인덱스도 비용은 그대로 낸다</a:t>
            </a:r>
          </a:p>
          <a:p>
            <a:r>
              <a:rPr sz="1600" b="0">
                <a:solidFill>
                  <a:srgbClr val="5A6672"/>
                </a:solidFill>
                <a:latin typeface="Malgun Gothic"/>
              </a:rPr>
              <a:t>    –  저장 공간을 계속 차지하고, DML이 일어날 때마다 함께 갱신된다</a:t>
            </a:r>
          </a:p>
          <a:p>
            <a:r>
              <a:rPr sz="1600" b="0">
                <a:solidFill>
                  <a:srgbClr val="5A6672"/>
                </a:solidFill>
                <a:latin typeface="Malgun Gothic"/>
              </a:rPr>
              <a:t>    –  조회에는 도움을 못 주면서 입력·수정 성능만 갉아먹는 최악의 조합이 된다</a:t>
            </a:r>
          </a:p>
          <a:p>
            <a:r>
              <a:rPr sz="1800" b="0">
                <a:solidFill>
                  <a:srgbClr val="202830"/>
                </a:solidFill>
                <a:latin typeface="Malgun Gothic"/>
              </a:rPr>
              <a:t>•  그래서 인덱스 설계는 '만들까 말까'가 아니라 '어떻게 만들까'의 문제다</a:t>
            </a:r>
          </a:p>
          <a:p>
            <a:r>
              <a:rPr sz="1600" b="0">
                <a:solidFill>
                  <a:srgbClr val="5A6672"/>
                </a:solidFill>
                <a:latin typeface="Malgun Gothic"/>
              </a:rPr>
              <a:t>    –  개수를 늘려 해결하기 전에 컬럼과 순서를 먼저 맞추는 것이 순서다</a:t>
            </a:r>
          </a:p>
        </p:txBody>
      </p:sp>
    </p:spTree>
    <p:extLst>
      <p:ext uri="{BB962C8B-B14F-4D97-AF65-F5344CB8AC3E}">
        <p14:creationId xmlns:p14="http://schemas.microsoft.com/office/powerpoint/2010/main" val="3814030793"/>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이번 차시의 진행 방식</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소재 — MEDICAL_CLAIMS의 두 컬럼으로 인덱스를 만들어 비교한다</a:t>
            </a:r>
          </a:p>
          <a:p>
            <a:r>
              <a:rPr sz="1600" b="0">
                <a:solidFill>
                  <a:srgbClr val="5A6672"/>
                </a:solidFill>
                <a:latin typeface="Malgun Gothic"/>
              </a:rPr>
              <a:t>    –  인덱스 A : (HOSP_ID, RECEIPT_DATE) 순서</a:t>
            </a:r>
          </a:p>
          <a:p>
            <a:r>
              <a:rPr sz="1600" b="0">
                <a:solidFill>
                  <a:srgbClr val="5A6672"/>
                </a:solidFill>
                <a:latin typeface="Malgun Gothic"/>
              </a:rPr>
              <a:t>    –  인덱스 B : (RECEIPT_DATE, HOSP_ID) — 컬럼 순서만 반대로 한 것</a:t>
            </a:r>
          </a:p>
          <a:p>
            <a:r>
              <a:rPr sz="1800" b="0">
                <a:solidFill>
                  <a:srgbClr val="202830"/>
                </a:solidFill>
                <a:latin typeface="Malgun Gothic"/>
              </a:rPr>
              <a:t>•  동일한 세 가지 조회 조건을 두 인덱스에서 각각 실행해 실행계획을 비교한다</a:t>
            </a:r>
          </a:p>
          <a:p>
            <a:r>
              <a:rPr sz="1600" b="0">
                <a:solidFill>
                  <a:srgbClr val="5A6672"/>
                </a:solidFill>
                <a:latin typeface="Malgun Gothic"/>
              </a:rPr>
              <a:t>    –  두 컬럼을 모두 조건으로 거는 경우</a:t>
            </a:r>
          </a:p>
          <a:p>
            <a:r>
              <a:rPr sz="1600" b="0">
                <a:solidFill>
                  <a:srgbClr val="5A6672"/>
                </a:solidFill>
                <a:latin typeface="Malgun Gothic"/>
              </a:rPr>
              <a:t>    –  앞쪽 컬럼 하나만 조건으로 거는 경우</a:t>
            </a:r>
          </a:p>
          <a:p>
            <a:r>
              <a:rPr sz="1600" b="0">
                <a:solidFill>
                  <a:srgbClr val="5A6672"/>
                </a:solidFill>
                <a:latin typeface="Malgun Gothic"/>
              </a:rPr>
              <a:t>    –  뒤쪽 컬럼 하나만 조건으로 거는 경우</a:t>
            </a:r>
          </a:p>
          <a:p>
            <a:r>
              <a:rPr sz="1800" b="0">
                <a:solidFill>
                  <a:srgbClr val="202830"/>
                </a:solidFill>
                <a:latin typeface="Malgun Gothic"/>
              </a:rPr>
              <a:t>•  본 차시는 실습용 인덱스를 생성·삭제한다 (IX_CH05_ 접두어)</a:t>
            </a:r>
          </a:p>
        </p:txBody>
      </p:sp>
    </p:spTree>
    <p:extLst>
      <p:ext uri="{BB962C8B-B14F-4D97-AF65-F5344CB8AC3E}">
        <p14:creationId xmlns:p14="http://schemas.microsoft.com/office/powerpoint/2010/main" val="2834302411"/>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107996"/>
          </a:xfrm>
          <a:prstGeom prst="rect">
            <a:avLst/>
          </a:prstGeom>
          <a:noFill/>
        </p:spPr>
        <p:txBody>
          <a:bodyPr wrap="square">
            <a:spAutoFit/>
          </a:bodyPr>
          <a:lstStyle/>
          <a:p>
            <a:r>
              <a:rPr lang="en-US" sz="6600" b="1" dirty="0">
                <a:solidFill>
                  <a:srgbClr val="C0392B"/>
                </a:solidFill>
                <a:latin typeface="Malgun Gothic"/>
              </a:rPr>
              <a:t>6</a:t>
            </a:r>
            <a:r>
              <a:rPr sz="6600" b="1" dirty="0">
                <a:solidFill>
                  <a:srgbClr val="C0392B"/>
                </a:solidFill>
                <a:latin typeface="Malgun Gothic"/>
              </a:rPr>
              <a:t>.2</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인덱스의 기본 구조와 용어</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B-Tree 인덱스란</a:t>
            </a:r>
          </a:p>
          <a:p>
            <a:r>
              <a:rPr sz="1600" b="0">
                <a:solidFill>
                  <a:srgbClr val="C5CED6"/>
                </a:solidFill>
                <a:latin typeface="Malgun Gothic"/>
              </a:rPr>
              <a:t>•  단일 컬럼 인덱스와 복합 인덱스</a:t>
            </a:r>
          </a:p>
          <a:p>
            <a:r>
              <a:rPr sz="1600" b="0">
                <a:solidFill>
                  <a:srgbClr val="C5CED6"/>
                </a:solidFill>
                <a:latin typeface="Malgun Gothic"/>
              </a:rPr>
              <a:t>•  선두 컬럼의 정의</a:t>
            </a:r>
          </a:p>
          <a:p>
            <a:r>
              <a:rPr sz="1600" b="0">
                <a:solidFill>
                  <a:srgbClr val="C5CED6"/>
                </a:solidFill>
                <a:latin typeface="Malgun Gothic"/>
              </a:rPr>
              <a:t>•  정렬 구조 개념도</a:t>
            </a:r>
          </a:p>
        </p:txBody>
      </p:sp>
    </p:spTree>
    <p:extLst>
      <p:ext uri="{BB962C8B-B14F-4D97-AF65-F5344CB8AC3E}">
        <p14:creationId xmlns:p14="http://schemas.microsoft.com/office/powerpoint/2010/main" val="428428121"/>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B-Tree 인덱스란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컬럼 값을 정렬된 트리 구조로 저장하는 인덱스</a:t>
            </a:r>
          </a:p>
          <a:p>
            <a:r>
              <a:rPr sz="1600" b="0">
                <a:solidFill>
                  <a:srgbClr val="5A6672"/>
                </a:solidFill>
                <a:latin typeface="Malgun Gothic"/>
              </a:rPr>
              <a:t>    –  덕분에 특정 값이나 특정 범위를 빠르게 찾아갈 수 있다</a:t>
            </a:r>
          </a:p>
          <a:p>
            <a:r>
              <a:rPr sz="1600" b="0">
                <a:solidFill>
                  <a:srgbClr val="5A6672"/>
                </a:solidFill>
                <a:latin typeface="Malgun Gothic"/>
              </a:rPr>
              <a:t>    –  Oracle에서 별도 지정 없이 CREATE INDEX를 하면 만들어지는 기본 형태다</a:t>
            </a:r>
          </a:p>
          <a:p>
            <a:r>
              <a:rPr sz="1800" b="0">
                <a:solidFill>
                  <a:srgbClr val="202830"/>
                </a:solidFill>
                <a:latin typeface="Malgun Gothic"/>
              </a:rPr>
              <a:t>•  핵심 성질은 '정렬되어 있다'는 것</a:t>
            </a:r>
          </a:p>
          <a:p>
            <a:r>
              <a:rPr sz="1600" b="0">
                <a:solidFill>
                  <a:srgbClr val="5A6672"/>
                </a:solidFill>
                <a:latin typeface="Malgun Gothic"/>
              </a:rPr>
              <a:t>    –  정렬되어 있으므로 찾는 값이 어디쯤 있는지 바로 짚어 갈 수 있다</a:t>
            </a:r>
          </a:p>
          <a:p>
            <a:r>
              <a:rPr sz="1600" b="0">
                <a:solidFill>
                  <a:srgbClr val="5A6672"/>
                </a:solidFill>
                <a:latin typeface="Malgun Gothic"/>
              </a:rPr>
              <a:t>    –  정렬 기준과 맞지 않는 조건이면 이 장점을 쓸 수 없다 — 5.3절의 주제</a:t>
            </a:r>
          </a:p>
          <a:p>
            <a:r>
              <a:rPr sz="1800" b="0">
                <a:solidFill>
                  <a:srgbClr val="202830"/>
                </a:solidFill>
                <a:latin typeface="Malgun Gothic"/>
              </a:rPr>
              <a:t>•  인덱스는 컬럼 값과 행의 위치(ROWID)만 담는다</a:t>
            </a:r>
          </a:p>
          <a:p>
            <a:r>
              <a:rPr sz="1600" b="0">
                <a:solidFill>
                  <a:srgbClr val="5A6672"/>
                </a:solidFill>
                <a:latin typeface="Malgun Gothic"/>
              </a:rPr>
              <a:t>    –  테이블처럼 모든 컬럼을 담지 않으므로 구조물 자체가 테이블보다 작다</a:t>
            </a:r>
          </a:p>
        </p:txBody>
      </p:sp>
    </p:spTree>
    <p:extLst>
      <p:ext uri="{BB962C8B-B14F-4D97-AF65-F5344CB8AC3E}">
        <p14:creationId xmlns:p14="http://schemas.microsoft.com/office/powerpoint/2010/main" val="299777035"/>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단일 컬럼 인덱스와 복합 인덱스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단일 컬럼 인덱스 — 컬럼 하나만으로 구성한 인덱스</a:t>
            </a:r>
          </a:p>
          <a:p>
            <a:r>
              <a:rPr sz="1600" b="0">
                <a:solidFill>
                  <a:srgbClr val="5A6672"/>
                </a:solidFill>
                <a:latin typeface="Malgun Gothic"/>
              </a:rPr>
              <a:t>    –  그 컬럼을 조건으로 쓰는 조회에만 대응한다</a:t>
            </a:r>
          </a:p>
          <a:p>
            <a:r>
              <a:rPr sz="1800" b="0">
                <a:solidFill>
                  <a:srgbClr val="202830"/>
                </a:solidFill>
                <a:latin typeface="Malgun Gothic"/>
              </a:rPr>
              <a:t>•  복합 인덱스 — 여러 컬럼을 정해진 순서로 묶어 하나로 구성한 인덱스</a:t>
            </a:r>
          </a:p>
          <a:p>
            <a:r>
              <a:rPr sz="1600" b="0">
                <a:solidFill>
                  <a:srgbClr val="5A6672"/>
                </a:solidFill>
                <a:latin typeface="Malgun Gothic"/>
              </a:rPr>
              <a:t>    –  묶는 순서가 인덱스의 성격을 결정한다</a:t>
            </a:r>
          </a:p>
          <a:p>
            <a:r>
              <a:rPr sz="1600" b="0">
                <a:solidFill>
                  <a:srgbClr val="5A6672"/>
                </a:solidFill>
                <a:latin typeface="Malgun Gothic"/>
              </a:rPr>
              <a:t>    –  (HOSP_ID, RECEIPT_DATE)와 (RECEIPT_DATE, HOSP_ID)는 서로 다른 인덱스다</a:t>
            </a:r>
          </a:p>
          <a:p>
            <a:r>
              <a:rPr sz="1800" b="0">
                <a:solidFill>
                  <a:srgbClr val="202830"/>
                </a:solidFill>
                <a:latin typeface="Malgun Gothic"/>
              </a:rPr>
              <a:t>•  같은 컬럼 집합이라도 순서가 다르면 대응하는 조회 패턴이 달라진다</a:t>
            </a:r>
          </a:p>
          <a:p>
            <a:r>
              <a:rPr sz="1600" b="0">
                <a:solidFill>
                  <a:srgbClr val="5A6672"/>
                </a:solidFill>
                <a:latin typeface="Malgun Gothic"/>
              </a:rPr>
              <a:t>    –  이것이 이 장에서 실측으로 확인할 핵심 명제다</a:t>
            </a:r>
          </a:p>
          <a:p>
            <a:r>
              <a:rPr sz="1600" b="0">
                <a:solidFill>
                  <a:srgbClr val="5A6672"/>
                </a:solidFill>
                <a:latin typeface="Malgun Gothic"/>
              </a:rPr>
              <a:t>    –  컬럼을 무엇으로 고를지보다 어떤 순서로 둘지가 더 자주 실수가 나는 지점이다</a:t>
            </a:r>
          </a:p>
        </p:txBody>
      </p:sp>
    </p:spTree>
    <p:extLst>
      <p:ext uri="{BB962C8B-B14F-4D97-AF65-F5344CB8AC3E}">
        <p14:creationId xmlns:p14="http://schemas.microsoft.com/office/powerpoint/2010/main" val="1456456675"/>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선두 컬럼 (Leading Column)</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복합 인덱스에서 맨 앞에 오는 컬럼</a:t>
            </a:r>
          </a:p>
          <a:p>
            <a:r>
              <a:rPr sz="1600" b="0">
                <a:solidFill>
                  <a:srgbClr val="5A6672"/>
                </a:solidFill>
                <a:latin typeface="Malgun Gothic"/>
              </a:rPr>
              <a:t>    –  인덱스가 정렬되는 1차 기준이 되는 컬럼이다</a:t>
            </a:r>
          </a:p>
          <a:p>
            <a:r>
              <a:rPr sz="1600" b="0">
                <a:solidFill>
                  <a:srgbClr val="5A6672"/>
                </a:solidFill>
                <a:latin typeface="Malgun Gothic"/>
              </a:rPr>
              <a:t>    –  (HOSP_ID, RECEIPT_DATE)의 선두 컬럼은 HOSP_ID다</a:t>
            </a:r>
          </a:p>
          <a:p>
            <a:r>
              <a:rPr sz="1800" b="0">
                <a:solidFill>
                  <a:srgbClr val="202830"/>
                </a:solidFill>
                <a:latin typeface="Malgun Gothic"/>
              </a:rPr>
              <a:t>•  선두 컬럼은 컬럼 이름에 붙는 고정 속성이 아니다</a:t>
            </a:r>
          </a:p>
          <a:p>
            <a:r>
              <a:rPr sz="1600" b="0">
                <a:solidFill>
                  <a:srgbClr val="5A6672"/>
                </a:solidFill>
                <a:latin typeface="Malgun Gothic"/>
              </a:rPr>
              <a:t>    –  인덱스 정의에서 몇 번째에 오는가로 결정된다</a:t>
            </a:r>
          </a:p>
          <a:p>
            <a:r>
              <a:rPr sz="1600" b="0">
                <a:solidFill>
                  <a:srgbClr val="5A6672"/>
                </a:solidFill>
                <a:latin typeface="Malgun Gothic"/>
              </a:rPr>
              <a:t>    –  순서를 바꾸면 같은 컬럼이 선두가 되기도 하고 후행이 되기도 한다</a:t>
            </a:r>
          </a:p>
          <a:p>
            <a:r>
              <a:rPr sz="1800" b="0">
                <a:solidFill>
                  <a:srgbClr val="202830"/>
                </a:solidFill>
                <a:latin typeface="Malgun Gothic"/>
              </a:rPr>
              <a:t>•  선두 컬럼이 아닌 나머지 컬럼을 이 장에서는 후행 컬럼이라 부른다</a:t>
            </a:r>
          </a:p>
          <a:p>
            <a:r>
              <a:rPr sz="1600" b="0">
                <a:solidFill>
                  <a:srgbClr val="5A6672"/>
                </a:solidFill>
                <a:latin typeface="Malgun Gothic"/>
              </a:rPr>
              <a:t>    –  후행 컬럼은 같은 선두 컬럼 값 안에서만 정렬되어 있다</a:t>
            </a:r>
          </a:p>
        </p:txBody>
      </p:sp>
    </p:spTree>
    <p:extLst>
      <p:ext uri="{BB962C8B-B14F-4D97-AF65-F5344CB8AC3E}">
        <p14:creationId xmlns:p14="http://schemas.microsoft.com/office/powerpoint/2010/main" val="945574684"/>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복합 인덱스의 정렬 구조 — 개념도</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선두 컬럼이 먼저 정렬되고, 후행 컬럼은 같은 선두 값 안에서만 정렬된다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복합 인덱스 (선두 컬럼, 후행 컬럼) 이 저장되는 순서</a:t>
            </a:r>
          </a:p>
          <a:p>
            <a:r>
              <a:rPr sz="1250" b="0">
                <a:solidFill>
                  <a:srgbClr val="E6E6E6"/>
                </a:solidFill>
                <a:latin typeface="Consolas"/>
              </a:rPr>
              <a:t> </a:t>
            </a:r>
          </a:p>
          <a:p>
            <a:r>
              <a:rPr sz="1250" b="0">
                <a:solidFill>
                  <a:srgbClr val="E6E6E6"/>
                </a:solidFill>
                <a:latin typeface="Consolas"/>
              </a:rPr>
              <a:t>   [ 선두 컬럼 = A ]  -&gt;  그 구간 안에서 후행 컬럼 오름차순</a:t>
            </a:r>
          </a:p>
          <a:p>
            <a:r>
              <a:rPr sz="1250" b="0">
                <a:solidFill>
                  <a:srgbClr val="E6E6E6"/>
                </a:solidFill>
                <a:latin typeface="Consolas"/>
              </a:rPr>
              <a:t>   [ 선두 컬럼 = B ]  -&gt;  그 구간 안에서 후행 컬럼 오름차순</a:t>
            </a:r>
          </a:p>
          <a:p>
            <a:r>
              <a:rPr sz="1250" b="0">
                <a:solidFill>
                  <a:srgbClr val="E6E6E6"/>
                </a:solidFill>
                <a:latin typeface="Consolas"/>
              </a:rPr>
              <a:t>   [ 선두 컬럼 = C ]  -&gt;  그 구간 안에서 후행 컬럼 오름차순</a:t>
            </a:r>
          </a:p>
          <a:p>
            <a:r>
              <a:rPr sz="1250" b="0">
                <a:solidFill>
                  <a:srgbClr val="E6E6E6"/>
                </a:solidFill>
                <a:latin typeface="Consolas"/>
              </a:rPr>
              <a:t> </a:t>
            </a:r>
          </a:p>
          <a:p>
            <a:r>
              <a:rPr sz="1250" b="0">
                <a:solidFill>
                  <a:srgbClr val="7EC699"/>
                </a:solidFill>
                <a:latin typeface="Consolas"/>
              </a:rPr>
              <a:t>-- 선두 컬럼이 조건에 있으면</a:t>
            </a:r>
          </a:p>
          <a:p>
            <a:r>
              <a:rPr sz="1250" b="0">
                <a:solidFill>
                  <a:srgbClr val="7EC699"/>
                </a:solidFill>
                <a:latin typeface="Consolas"/>
              </a:rPr>
              <a:t>--    [B] 구간의 시작 위치로 바로 점프할 수 있다   -&gt;  INDEX RANGE SCAN</a:t>
            </a:r>
          </a:p>
          <a:p>
            <a:r>
              <a:rPr sz="1250" b="0">
                <a:solidFill>
                  <a:srgbClr val="E6E6E6"/>
                </a:solidFill>
                <a:latin typeface="Consolas"/>
              </a:rPr>
              <a:t> </a:t>
            </a:r>
          </a:p>
          <a:p>
            <a:r>
              <a:rPr sz="1250" b="0">
                <a:solidFill>
                  <a:srgbClr val="7EC699"/>
                </a:solidFill>
                <a:latin typeface="Consolas"/>
              </a:rPr>
              <a:t>-- 후행 컬럼만 조건에 있으면</a:t>
            </a:r>
          </a:p>
          <a:p>
            <a:r>
              <a:rPr sz="1250" b="0">
                <a:solidFill>
                  <a:srgbClr val="7EC699"/>
                </a:solidFill>
                <a:latin typeface="Consolas"/>
              </a:rPr>
              <a:t>--    찾는 값이 A / B / C 구간에 흩어져 있다</a:t>
            </a:r>
          </a:p>
          <a:p>
            <a:r>
              <a:rPr sz="1250" b="0">
                <a:solidFill>
                  <a:srgbClr val="7EC699"/>
                </a:solidFill>
                <a:latin typeface="Consolas"/>
              </a:rPr>
              <a:t>--    시작 위치를 짚을 수 없어 인덱스 전체를 훑어야 한다</a:t>
            </a:r>
          </a:p>
          <a:p>
            <a:r>
              <a:rPr sz="1250" b="0">
                <a:solidFill>
                  <a:srgbClr val="E6E6E6"/>
                </a:solidFill>
                <a:latin typeface="Consolas"/>
              </a:rPr>
              <a:t> </a:t>
            </a:r>
          </a:p>
          <a:p>
            <a:r>
              <a:rPr sz="1250" b="0">
                <a:solidFill>
                  <a:srgbClr val="7EC699"/>
                </a:solidFill>
                <a:latin typeface="Consolas"/>
              </a:rPr>
              <a:t>-- 전화번호부 비유</a:t>
            </a:r>
          </a:p>
          <a:p>
            <a:r>
              <a:rPr sz="1250" b="0">
                <a:solidFill>
                  <a:srgbClr val="7EC699"/>
                </a:solidFill>
                <a:latin typeface="Consolas"/>
              </a:rPr>
              <a:t>--    성   = 선두 컬럼  -&gt;  성을 알면 해당 페이지로 바로 넘긴다</a:t>
            </a:r>
          </a:p>
          <a:p>
            <a:r>
              <a:rPr sz="1250" b="0">
                <a:solidFill>
                  <a:srgbClr val="7EC699"/>
                </a:solidFill>
                <a:latin typeface="Consolas"/>
              </a:rPr>
              <a:t>--    이름 = 후행 컬럼  -&gt;  이름만 알면 첫 장부터 넘겨야 한다</a:t>
            </a:r>
          </a:p>
        </p:txBody>
      </p:sp>
    </p:spTree>
    <p:extLst>
      <p:ext uri="{BB962C8B-B14F-4D97-AF65-F5344CB8AC3E}">
        <p14:creationId xmlns:p14="http://schemas.microsoft.com/office/powerpoint/2010/main" val="2459129007"/>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107996"/>
          </a:xfrm>
          <a:prstGeom prst="rect">
            <a:avLst/>
          </a:prstGeom>
          <a:noFill/>
        </p:spPr>
        <p:txBody>
          <a:bodyPr wrap="square">
            <a:spAutoFit/>
          </a:bodyPr>
          <a:lstStyle/>
          <a:p>
            <a:r>
              <a:rPr lang="en-US" sz="6600" b="1" dirty="0">
                <a:solidFill>
                  <a:srgbClr val="C0392B"/>
                </a:solidFill>
                <a:latin typeface="Malgun Gothic"/>
              </a:rPr>
              <a:t>6</a:t>
            </a:r>
            <a:r>
              <a:rPr sz="6600" b="1" dirty="0">
                <a:solidFill>
                  <a:srgbClr val="C0392B"/>
                </a:solidFill>
                <a:latin typeface="Malgun Gothic"/>
              </a:rPr>
              <a:t>.3</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컬럼 순서가 중요한 이유</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복합 인덱스의 정렬 규칙</a:t>
            </a:r>
          </a:p>
          <a:p>
            <a:r>
              <a:rPr sz="1600" b="0">
                <a:solidFill>
                  <a:srgbClr val="C5CED6"/>
                </a:solidFill>
                <a:latin typeface="Malgun Gothic"/>
              </a:rPr>
              <a:t>•  선두 컬럼이 조건에 있을 때</a:t>
            </a:r>
          </a:p>
          <a:p>
            <a:r>
              <a:rPr sz="1600" b="0">
                <a:solidFill>
                  <a:srgbClr val="C5CED6"/>
                </a:solidFill>
                <a:latin typeface="Malgun Gothic"/>
              </a:rPr>
              <a:t>•  선두 컬럼이 빠졌을 때</a:t>
            </a:r>
          </a:p>
          <a:p>
            <a:r>
              <a:rPr sz="1600" b="0">
                <a:solidFill>
                  <a:srgbClr val="C5CED6"/>
                </a:solidFill>
                <a:latin typeface="Malgun Gothic"/>
              </a:rPr>
              <a:t>•  인덱스의 장점과 비용</a:t>
            </a:r>
          </a:p>
        </p:txBody>
      </p:sp>
    </p:spTree>
    <p:extLst>
      <p:ext uri="{BB962C8B-B14F-4D97-AF65-F5344CB8AC3E}">
        <p14:creationId xmlns:p14="http://schemas.microsoft.com/office/powerpoint/2010/main" val="3242540651"/>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복합 인덱스의 정렬 규칙</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선두 컬럼 값을 기준으로 먼저 정렬된다</a:t>
            </a:r>
          </a:p>
          <a:p>
            <a:r>
              <a:rPr sz="1600" b="0">
                <a:solidFill>
                  <a:srgbClr val="5A6672"/>
                </a:solidFill>
                <a:latin typeface="Malgun Gothic"/>
              </a:rPr>
              <a:t>    –  인덱스 전체가 선두 컬럼 값의 오름차순으로 늘어서 있다</a:t>
            </a:r>
          </a:p>
          <a:p>
            <a:r>
              <a:rPr sz="1800" b="0">
                <a:solidFill>
                  <a:srgbClr val="202830"/>
                </a:solidFill>
                <a:latin typeface="Malgun Gothic"/>
              </a:rPr>
              <a:t>•  그 안에서 두 번째 컬럼 값이 정렬된다</a:t>
            </a:r>
          </a:p>
          <a:p>
            <a:r>
              <a:rPr sz="1600" b="0">
                <a:solidFill>
                  <a:srgbClr val="5A6672"/>
                </a:solidFill>
                <a:latin typeface="Malgun Gothic"/>
              </a:rPr>
              <a:t>    –  같은 선두 컬럼 값을 가진 구간 내부에서만 후행 컬럼이 정렬되어 있다</a:t>
            </a:r>
          </a:p>
          <a:p>
            <a:r>
              <a:rPr sz="1600" b="0">
                <a:solidFill>
                  <a:srgbClr val="5A6672"/>
                </a:solidFill>
                <a:latin typeface="Malgun Gothic"/>
              </a:rPr>
              <a:t>    –  구간이 달라지면 후행 컬럼의 정렬은 다시 처음부터 시작한다</a:t>
            </a:r>
          </a:p>
          <a:p>
            <a:r>
              <a:rPr sz="1800" b="0">
                <a:solidFill>
                  <a:srgbClr val="202830"/>
                </a:solidFill>
                <a:latin typeface="Malgun Gothic"/>
              </a:rPr>
              <a:t>•  전화번호부와 같은 구조</a:t>
            </a:r>
          </a:p>
          <a:p>
            <a:r>
              <a:rPr sz="1600" b="0">
                <a:solidFill>
                  <a:srgbClr val="5A6672"/>
                </a:solidFill>
                <a:latin typeface="Malgun Gothic"/>
              </a:rPr>
              <a:t>    –  '성'으로 먼저 정렬되고 그 안에서 '이름'으로 정렬되는 것과 동일하다</a:t>
            </a:r>
          </a:p>
          <a:p>
            <a:r>
              <a:rPr sz="1600" b="0">
                <a:solidFill>
                  <a:srgbClr val="5A6672"/>
                </a:solidFill>
                <a:latin typeface="Malgun Gothic"/>
              </a:rPr>
              <a:t>    –  따라서 후행 컬럼 값 하나는 인덱스 여러 구간에 흩어져 존재한다</a:t>
            </a:r>
          </a:p>
        </p:txBody>
      </p:sp>
    </p:spTree>
    <p:extLst>
      <p:ext uri="{BB962C8B-B14F-4D97-AF65-F5344CB8AC3E}">
        <p14:creationId xmlns:p14="http://schemas.microsoft.com/office/powerpoint/2010/main" val="3413547895"/>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선두 컬럼이 조건에 있을 때</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조건에 선두 컬럼이 포함되어 있으면</a:t>
            </a:r>
          </a:p>
          <a:p>
            <a:r>
              <a:rPr sz="1600" b="0">
                <a:solidFill>
                  <a:srgbClr val="5A6672"/>
                </a:solidFill>
                <a:latin typeface="Malgun Gothic"/>
              </a:rPr>
              <a:t>    –  인덱스에서 해당 값(또는 범위)의 시작 위치와 끝 위치를 바로 찾아갈 수 있다</a:t>
            </a:r>
          </a:p>
          <a:p>
            <a:r>
              <a:rPr sz="1600" b="0">
                <a:solidFill>
                  <a:srgbClr val="5A6672"/>
                </a:solidFill>
                <a:latin typeface="Malgun Gothic"/>
              </a:rPr>
              <a:t>    –  그 구간만 순서대로 읽으면 되므로 읽는 양이 결과 건수에 비례한다</a:t>
            </a:r>
          </a:p>
          <a:p>
            <a:r>
              <a:rPr sz="1800" b="0">
                <a:solidFill>
                  <a:srgbClr val="202830"/>
                </a:solidFill>
                <a:latin typeface="Malgun Gothic"/>
              </a:rPr>
              <a:t>•  실행계획에는 INDEX RANGE SCAN으로 나타난다</a:t>
            </a:r>
          </a:p>
          <a:p>
            <a:r>
              <a:rPr sz="1600" b="0">
                <a:solidFill>
                  <a:srgbClr val="5A6672"/>
                </a:solidFill>
                <a:latin typeface="Malgun Gothic"/>
              </a:rPr>
              <a:t>    –  Range, 즉 정렬된 구간 하나를 훑는다는 뜻의 이름이다</a:t>
            </a:r>
          </a:p>
          <a:p>
            <a:r>
              <a:rPr sz="1800" b="0">
                <a:solidFill>
                  <a:srgbClr val="202830"/>
                </a:solidFill>
                <a:latin typeface="Malgun Gothic"/>
              </a:rPr>
              <a:t>•  선두 컬럼과 후행 컬럼을 함께 조건으로 걸면 범위가 더 좁아진다</a:t>
            </a:r>
          </a:p>
          <a:p>
            <a:r>
              <a:rPr sz="1600" b="0">
                <a:solidFill>
                  <a:srgbClr val="5A6672"/>
                </a:solidFill>
                <a:latin typeface="Malgun Gothic"/>
              </a:rPr>
              <a:t>    –  선두 컬럼으로 구간을 잡고 그 안에서 후행 컬럼 조건까지 인덱스에서 적용한다</a:t>
            </a:r>
          </a:p>
          <a:p>
            <a:r>
              <a:rPr sz="1600" b="0">
                <a:solidFill>
                  <a:srgbClr val="5A6672"/>
                </a:solidFill>
                <a:latin typeface="Malgun Gothic"/>
              </a:rPr>
              <a:t>    –  이 경우가 복합 인덱스를 가장 온전히 활용하는 형태다</a:t>
            </a:r>
          </a:p>
        </p:txBody>
      </p:sp>
    </p:spTree>
    <p:extLst>
      <p:ext uri="{BB962C8B-B14F-4D97-AF65-F5344CB8AC3E}">
        <p14:creationId xmlns:p14="http://schemas.microsoft.com/office/powerpoint/2010/main" val="2950129230"/>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선두 컬럼이 빠졌을 때</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조건에 선두 컬럼이 없고 후행 컬럼만 있으면</a:t>
            </a:r>
          </a:p>
          <a:p>
            <a:r>
              <a:rPr sz="1600" b="0">
                <a:solidFill>
                  <a:srgbClr val="5A6672"/>
                </a:solidFill>
                <a:latin typeface="Malgun Gothic"/>
              </a:rPr>
              <a:t>    –  인덱스가 그 컬럼 기준으로는 정렬되어 있지 않다</a:t>
            </a:r>
          </a:p>
          <a:p>
            <a:r>
              <a:rPr sz="1600" b="0">
                <a:solidFill>
                  <a:srgbClr val="5A6672"/>
                </a:solidFill>
                <a:latin typeface="Malgun Gothic"/>
              </a:rPr>
              <a:t>    –  따라서 시작 위치를 바로 찾아갈 수 없고 구간을 잡을 수 없다</a:t>
            </a:r>
          </a:p>
          <a:p>
            <a:r>
              <a:rPr sz="1800" b="0">
                <a:solidFill>
                  <a:srgbClr val="202830"/>
                </a:solidFill>
                <a:latin typeface="Malgun Gothic"/>
              </a:rPr>
              <a:t>•  옵티마이저가 선택할 수 있는 대안은 두 가지다</a:t>
            </a:r>
          </a:p>
          <a:p>
            <a:r>
              <a:rPr sz="1600" b="0">
                <a:solidFill>
                  <a:srgbClr val="5A6672"/>
                </a:solidFill>
                <a:latin typeface="Malgun Gothic"/>
              </a:rPr>
              <a:t>    –  인덱스 전체를 순서 없이 다 훑는 INDEX FAST FULL SCAN — 인덱스가 작을 때</a:t>
            </a:r>
          </a:p>
          <a:p>
            <a:r>
              <a:rPr sz="1600" b="0">
                <a:solidFill>
                  <a:srgbClr val="5A6672"/>
                </a:solidFill>
                <a:latin typeface="Malgun Gothic"/>
              </a:rPr>
              <a:t>    –  아예 그 인덱스를 쓰지 않고 다른 접근 경로를 고르는 것</a:t>
            </a:r>
          </a:p>
          <a:p>
            <a:r>
              <a:rPr sz="1800" b="0">
                <a:solidFill>
                  <a:srgbClr val="202830"/>
                </a:solidFill>
                <a:latin typeface="Malgun Gothic"/>
              </a:rPr>
              <a:t>•  어느 쪽이든 '인덱스를 만들었으니 빠를 것'이라는 기대는 성립하지 않는다</a:t>
            </a:r>
          </a:p>
          <a:p>
            <a:r>
              <a:rPr sz="1600" b="0">
                <a:solidFill>
                  <a:srgbClr val="5A6672"/>
                </a:solidFill>
                <a:latin typeface="Malgun Gothic"/>
              </a:rPr>
              <a:t>    –  인덱스는 존재만으로 성능을 보장하지 않는다 — 조건과 순서가 맞아야 한다</a:t>
            </a:r>
          </a:p>
        </p:txBody>
      </p:sp>
    </p:spTree>
    <p:extLst>
      <p:ext uri="{BB962C8B-B14F-4D97-AF65-F5344CB8AC3E}">
        <p14:creationId xmlns:p14="http://schemas.microsoft.com/office/powerpoint/2010/main" val="3254970978"/>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인덱스의 장점과 비용</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장점 — 조건에 맞는 소수의 행을 빠르게 찾아낸다</a:t>
            </a:r>
          </a:p>
          <a:p>
            <a:r>
              <a:rPr sz="1600" b="0">
                <a:solidFill>
                  <a:srgbClr val="5A6672"/>
                </a:solidFill>
                <a:latin typeface="Malgun Gothic"/>
              </a:rPr>
              <a:t>    –  선택도가 낮을 때 효과적이라는 점은 ch05에서 확인했다</a:t>
            </a:r>
          </a:p>
          <a:p>
            <a:r>
              <a:rPr sz="1800" b="0">
                <a:solidFill>
                  <a:srgbClr val="202830"/>
                </a:solidFill>
                <a:latin typeface="Malgun Gothic"/>
              </a:rPr>
              <a:t>•  비용 ① 저장 공간</a:t>
            </a:r>
          </a:p>
          <a:p>
            <a:r>
              <a:rPr sz="1600" b="0">
                <a:solidFill>
                  <a:srgbClr val="5A6672"/>
                </a:solidFill>
                <a:latin typeface="Malgun Gothic"/>
              </a:rPr>
              <a:t>    –  인덱스는 별도의 구조물이므로 디스크 공간을 추가로 차지한다</a:t>
            </a:r>
          </a:p>
          <a:p>
            <a:r>
              <a:rPr sz="1800" b="0">
                <a:solidFill>
                  <a:srgbClr val="202830"/>
                </a:solidFill>
                <a:latin typeface="Malgun Gothic"/>
              </a:rPr>
              <a:t>•  비용 ② DML 부담</a:t>
            </a:r>
          </a:p>
          <a:p>
            <a:r>
              <a:rPr sz="1600" b="0">
                <a:solidFill>
                  <a:srgbClr val="5A6672"/>
                </a:solidFill>
                <a:latin typeface="Malgun Gothic"/>
              </a:rPr>
              <a:t>    –  원본 테이블에 INSERT·UPDATE·DELETE가 일어날 때마다 인덱스도 함께 갱신된다</a:t>
            </a:r>
          </a:p>
          <a:p>
            <a:r>
              <a:rPr sz="1600" b="0">
                <a:solidFill>
                  <a:srgbClr val="5A6672"/>
                </a:solidFill>
                <a:latin typeface="Malgun Gothic"/>
              </a:rPr>
              <a:t>    –  조회를 위해 만든 구조물이 입력·수정 경로에 작업을 하나 더 얹는 셈이다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이 차시에서 DML 비용은 실측하지 않고 원리로만 다룬다 — 교안 03절 기준.</a:t>
            </a:r>
          </a:p>
        </p:txBody>
      </p:sp>
    </p:spTree>
    <p:extLst>
      <p:ext uri="{BB962C8B-B14F-4D97-AF65-F5344CB8AC3E}">
        <p14:creationId xmlns:p14="http://schemas.microsoft.com/office/powerpoint/2010/main" val="2244538733"/>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인덱스를 너무 많이 만들면</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테이블 하나에 인덱스가 여러 개면</a:t>
            </a:r>
          </a:p>
          <a:p>
            <a:r>
              <a:rPr sz="1600" b="0">
                <a:solidFill>
                  <a:srgbClr val="5A6672"/>
                </a:solidFill>
                <a:latin typeface="Malgun Gothic"/>
              </a:rPr>
              <a:t>    –  DML 한 번에 그 인덱스 개수만큼 추가 갱신이 발생한다</a:t>
            </a:r>
          </a:p>
          <a:p>
            <a:r>
              <a:rPr sz="1600" b="0">
                <a:solidFill>
                  <a:srgbClr val="5A6672"/>
                </a:solidFill>
                <a:latin typeface="Malgun Gothic"/>
              </a:rPr>
              <a:t>    –  인덱스를 늘릴수록 입력·수정 경로가 그만큼 무거워진다</a:t>
            </a:r>
          </a:p>
          <a:p>
            <a:r>
              <a:rPr sz="1800" b="0">
                <a:solidFill>
                  <a:srgbClr val="202830"/>
                </a:solidFill>
                <a:latin typeface="Malgun Gothic"/>
              </a:rPr>
              <a:t>•  조회 성능과 입력·수정 성능은 트레이드오프 관계에 있다</a:t>
            </a:r>
          </a:p>
          <a:p>
            <a:r>
              <a:rPr sz="1600" b="0">
                <a:solidFill>
                  <a:srgbClr val="5A6672"/>
                </a:solidFill>
                <a:latin typeface="Malgun Gothic"/>
              </a:rPr>
              <a:t>    –  조회를 위해 만든 인덱스가 입력·수정 성능을 갉아먹는 구조다</a:t>
            </a:r>
          </a:p>
          <a:p>
            <a:r>
              <a:rPr sz="1600" b="0">
                <a:solidFill>
                  <a:srgbClr val="5A6672"/>
                </a:solidFill>
                <a:latin typeface="Malgun Gothic"/>
              </a:rPr>
              <a:t>    –  어느 쪽을 얼마나 양보할지는 시스템의 성격에 따라 달라진다</a:t>
            </a:r>
          </a:p>
          <a:p>
            <a:r>
              <a:rPr sz="1800" b="0">
                <a:solidFill>
                  <a:srgbClr val="202830"/>
                </a:solidFill>
                <a:latin typeface="Malgun Gothic"/>
              </a:rPr>
              <a:t>•  그래서 '순서를 못 정하겠으면 두 개 만들면 된다'는 손쉬운 결론을 경계한다</a:t>
            </a:r>
          </a:p>
          <a:p>
            <a:r>
              <a:rPr sz="1600" b="0">
                <a:solidFill>
                  <a:srgbClr val="5A6672"/>
                </a:solidFill>
                <a:latin typeface="Malgun Gothic"/>
              </a:rPr>
              <a:t>    –  개수를 늘리기 전에 컬럼 순서로 해결되는지를 먼저 따져야 한다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인덱스 개수를 늘리는 결정은 이 테이블의 DML 빈도와 시점을 확인한 뒤에 내린다.</a:t>
            </a:r>
          </a:p>
        </p:txBody>
      </p:sp>
    </p:spTree>
    <p:extLst>
      <p:ext uri="{BB962C8B-B14F-4D97-AF65-F5344CB8AC3E}">
        <p14:creationId xmlns:p14="http://schemas.microsoft.com/office/powerpoint/2010/main" val="264889594"/>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107996"/>
          </a:xfrm>
          <a:prstGeom prst="rect">
            <a:avLst/>
          </a:prstGeom>
          <a:noFill/>
        </p:spPr>
        <p:txBody>
          <a:bodyPr wrap="square">
            <a:spAutoFit/>
          </a:bodyPr>
          <a:lstStyle/>
          <a:p>
            <a:r>
              <a:rPr lang="en-US" sz="6600" b="1" dirty="0">
                <a:solidFill>
                  <a:srgbClr val="C0392B"/>
                </a:solidFill>
                <a:latin typeface="Malgun Gothic"/>
              </a:rPr>
              <a:t>6</a:t>
            </a:r>
            <a:r>
              <a:rPr sz="6600" b="1" dirty="0">
                <a:solidFill>
                  <a:srgbClr val="C0392B"/>
                </a:solidFill>
                <a:latin typeface="Malgun Gothic"/>
              </a:rPr>
              <a:t>.4</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실습 소재와 세 가지 테스트 조건</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소재 설계 — 무엇을 고정하고 무엇을 바꾸는가</a:t>
            </a:r>
          </a:p>
          <a:p>
            <a:r>
              <a:rPr sz="1600" b="0">
                <a:solidFill>
                  <a:srgbClr val="C5CED6"/>
                </a:solidFill>
                <a:latin typeface="Malgun Gothic"/>
              </a:rPr>
              <a:t>•  인덱스 A 생성과 세 조건 SQL</a:t>
            </a:r>
          </a:p>
          <a:p>
            <a:r>
              <a:rPr sz="1600" b="0">
                <a:solidFill>
                  <a:srgbClr val="C5CED6"/>
                </a:solidFill>
                <a:latin typeface="Malgun Gothic"/>
              </a:rPr>
              <a:t>•  세 조건이 각각 검증하는 것</a:t>
            </a:r>
          </a:p>
        </p:txBody>
      </p:sp>
    </p:spTree>
    <p:extLst>
      <p:ext uri="{BB962C8B-B14F-4D97-AF65-F5344CB8AC3E}">
        <p14:creationId xmlns:p14="http://schemas.microsoft.com/office/powerpoint/2010/main" val="4056633222"/>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소재 설계 — 무엇을 고정하고 무엇을 바꾸는가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대상 테이블 — MEDICAL_CLAIMS</a:t>
            </a:r>
          </a:p>
          <a:p>
            <a:r>
              <a:rPr sz="1600" b="0">
                <a:solidFill>
                  <a:srgbClr val="5A6672"/>
                </a:solidFill>
                <a:latin typeface="Malgun Gothic"/>
              </a:rPr>
              <a:t>    –  실무 조회에서 병원과 접수일자가 함께 쓰이는 대표적인 조합이다</a:t>
            </a:r>
          </a:p>
          <a:p>
            <a:r>
              <a:rPr sz="1800" b="0">
                <a:solidFill>
                  <a:srgbClr val="202830"/>
                </a:solidFill>
                <a:latin typeface="Malgun Gothic"/>
              </a:rPr>
              <a:t>•  고정하는 것</a:t>
            </a:r>
          </a:p>
          <a:p>
            <a:r>
              <a:rPr sz="1600" b="0">
                <a:solidFill>
                  <a:srgbClr val="5A6672"/>
                </a:solidFill>
                <a:latin typeface="Malgun Gothic"/>
              </a:rPr>
              <a:t>    –  인덱스를 구성하는 컬럼 집합 — HOSP_ID와 RECEIPT_DATE 두 개</a:t>
            </a:r>
          </a:p>
          <a:p>
            <a:r>
              <a:rPr sz="1600" b="0">
                <a:solidFill>
                  <a:srgbClr val="5A6672"/>
                </a:solidFill>
                <a:latin typeface="Malgun Gothic"/>
              </a:rPr>
              <a:t>    –  테스트에 사용하는 세 가지 조회 조건</a:t>
            </a:r>
          </a:p>
          <a:p>
            <a:r>
              <a:rPr sz="1800" b="0">
                <a:solidFill>
                  <a:srgbClr val="202830"/>
                </a:solidFill>
                <a:latin typeface="Malgun Gothic"/>
              </a:rPr>
              <a:t>•  바꾸는 것 — 오직 컬럼 순서 하나</a:t>
            </a:r>
          </a:p>
          <a:p>
            <a:r>
              <a:rPr sz="1600" b="0">
                <a:solidFill>
                  <a:srgbClr val="5A6672"/>
                </a:solidFill>
                <a:latin typeface="Malgun Gothic"/>
              </a:rPr>
              <a:t>    –  인덱스 A는 (HOSP_ID, RECEIPT_DATE), 인덱스 B는 (RECEIPT_DATE, HOSP_ID)</a:t>
            </a:r>
          </a:p>
          <a:p>
            <a:r>
              <a:rPr sz="1600" b="0">
                <a:solidFill>
                  <a:srgbClr val="5A6672"/>
                </a:solidFill>
                <a:latin typeface="Malgun Gothic"/>
              </a:rPr>
              <a:t>    –  변수가 하나뿐이므로 결과 차이의 원인을 순서로 특정할 수 있다</a:t>
            </a:r>
          </a:p>
        </p:txBody>
      </p:sp>
    </p:spTree>
    <p:extLst>
      <p:ext uri="{BB962C8B-B14F-4D97-AF65-F5344CB8AC3E}">
        <p14:creationId xmlns:p14="http://schemas.microsoft.com/office/powerpoint/2010/main" val="3978187686"/>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인덱스 A 생성과 세 가지 조건</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교안 04절 — 인덱스 A를 만들고 동일한 세 조건으로 테스트한다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인덱스 A: (HOSP_ID, RECEIPT_DATE) 순서</a:t>
            </a:r>
          </a:p>
          <a:p>
            <a:r>
              <a:rPr sz="1250" b="0">
                <a:solidFill>
                  <a:srgbClr val="E6E6E6"/>
                </a:solidFill>
                <a:latin typeface="Consolas"/>
              </a:rPr>
              <a:t>CREATE INDEX ix_hosp_receipt ON medical_claims(hosp_id, receipt_date);</a:t>
            </a:r>
          </a:p>
          <a:p>
            <a:r>
              <a:rPr sz="1250" b="0">
                <a:solidFill>
                  <a:srgbClr val="E6E6E6"/>
                </a:solidFill>
                <a:latin typeface="Consolas"/>
              </a:rPr>
              <a:t> </a:t>
            </a:r>
          </a:p>
          <a:p>
            <a:r>
              <a:rPr sz="1250" b="0">
                <a:solidFill>
                  <a:srgbClr val="7EC699"/>
                </a:solidFill>
                <a:latin typeface="Consolas"/>
              </a:rPr>
              <a:t>-- 세 가지 조건으로 테스트</a:t>
            </a:r>
          </a:p>
          <a:p>
            <a:r>
              <a:rPr sz="1250" b="0">
                <a:solidFill>
                  <a:srgbClr val="E6E6E6"/>
                </a:solidFill>
                <a:latin typeface="Consolas"/>
              </a:rPr>
              <a:t>SELECT COUNT(*) FROM medical_claims</a:t>
            </a:r>
          </a:p>
          <a:p>
            <a:r>
              <a:rPr sz="1250" b="0">
                <a:solidFill>
                  <a:srgbClr val="E6E6E6"/>
                </a:solidFill>
                <a:latin typeface="Consolas"/>
              </a:rPr>
              <a:t> WHERE hosp_id = 1 AND receipt_date = DATE'2024-06-15';   -- 둘 다</a:t>
            </a:r>
          </a:p>
          <a:p>
            <a:r>
              <a:rPr sz="1250" b="0">
                <a:solidFill>
                  <a:srgbClr val="E6E6E6"/>
                </a:solidFill>
                <a:latin typeface="Consolas"/>
              </a:rPr>
              <a:t> </a:t>
            </a:r>
          </a:p>
          <a:p>
            <a:r>
              <a:rPr sz="1250" b="0">
                <a:solidFill>
                  <a:srgbClr val="E6E6E6"/>
                </a:solidFill>
                <a:latin typeface="Consolas"/>
              </a:rPr>
              <a:t>SELECT COUNT(*) FROM medical_claims</a:t>
            </a:r>
          </a:p>
          <a:p>
            <a:r>
              <a:rPr sz="1250" b="0">
                <a:solidFill>
                  <a:srgbClr val="E6E6E6"/>
                </a:solidFill>
                <a:latin typeface="Consolas"/>
              </a:rPr>
              <a:t> WHERE hosp_id = 1;                                       -- 선두만</a:t>
            </a:r>
          </a:p>
          <a:p>
            <a:r>
              <a:rPr sz="1250" b="0">
                <a:solidFill>
                  <a:srgbClr val="E6E6E6"/>
                </a:solidFill>
                <a:latin typeface="Consolas"/>
              </a:rPr>
              <a:t> </a:t>
            </a:r>
          </a:p>
          <a:p>
            <a:r>
              <a:rPr sz="1250" b="0">
                <a:solidFill>
                  <a:srgbClr val="E6E6E6"/>
                </a:solidFill>
                <a:latin typeface="Consolas"/>
              </a:rPr>
              <a:t>SELECT COUNT(*) FROM medical_claims</a:t>
            </a:r>
          </a:p>
          <a:p>
            <a:r>
              <a:rPr sz="1250" b="0">
                <a:solidFill>
                  <a:srgbClr val="E6E6E6"/>
                </a:solidFill>
                <a:latin typeface="Consolas"/>
              </a:rPr>
              <a:t> WHERE receipt_date = DATE'2024-06-15';                   -- 후행만</a:t>
            </a:r>
          </a:p>
          <a:p>
            <a:r>
              <a:rPr sz="1250" b="0">
                <a:solidFill>
                  <a:srgbClr val="E6E6E6"/>
                </a:solidFill>
                <a:latin typeface="Consolas"/>
              </a:rPr>
              <a:t> </a:t>
            </a:r>
          </a:p>
          <a:p>
            <a:r>
              <a:rPr sz="1250" b="0">
                <a:solidFill>
                  <a:srgbClr val="7EC699"/>
                </a:solidFill>
                <a:latin typeface="Consolas"/>
              </a:rPr>
              <a:t>-- COUNT(*) 로 만든 이유: 테이블 접근 여부가 아니라</a:t>
            </a:r>
          </a:p>
          <a:p>
            <a:r>
              <a:rPr sz="1250" b="0">
                <a:solidFill>
                  <a:srgbClr val="7EC699"/>
                </a:solidFill>
                <a:latin typeface="Consolas"/>
              </a:rPr>
              <a:t>-- 인덱스를 어떤 오퍼레이션으로 읽었는지에 집중하기 위해서다</a:t>
            </a:r>
          </a:p>
        </p:txBody>
      </p:sp>
    </p:spTree>
    <p:extLst>
      <p:ext uri="{BB962C8B-B14F-4D97-AF65-F5344CB8AC3E}">
        <p14:creationId xmlns:p14="http://schemas.microsoft.com/office/powerpoint/2010/main" val="2336061082"/>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세 조건이 각각 검증하는 것</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조건 ① 두 컬럼을 모두 사용 — 선두 컬럼 포함</a:t>
            </a:r>
          </a:p>
          <a:p>
            <a:r>
              <a:rPr sz="1600" b="0">
                <a:solidFill>
                  <a:srgbClr val="5A6672"/>
                </a:solidFill>
                <a:latin typeface="Malgun Gothic"/>
              </a:rPr>
              <a:t>    –  복합 인덱스를 가장 온전히 쓰는 형태가 실제로 가장 저렴한지 확인한다</a:t>
            </a:r>
          </a:p>
          <a:p>
            <a:r>
              <a:rPr sz="1800" b="0">
                <a:solidFill>
                  <a:srgbClr val="202830"/>
                </a:solidFill>
                <a:latin typeface="Malgun Gothic"/>
              </a:rPr>
              <a:t>•  조건 ② 앞쪽 컬럼 하나만 사용</a:t>
            </a:r>
          </a:p>
          <a:p>
            <a:r>
              <a:rPr sz="1600" b="0">
                <a:solidFill>
                  <a:srgbClr val="5A6672"/>
                </a:solidFill>
                <a:latin typeface="Malgun Gothic"/>
              </a:rPr>
              <a:t>    –  인덱스 A에서는 선두 컬럼 매치 상황이 된다</a:t>
            </a:r>
          </a:p>
          <a:p>
            <a:r>
              <a:rPr sz="1600" b="0">
                <a:solidFill>
                  <a:srgbClr val="5A6672"/>
                </a:solidFill>
                <a:latin typeface="Malgun Gothic"/>
              </a:rPr>
              <a:t>    –  인덱스 B에서는 같은 조건이 후행 컬럼 상황으로 바뀐다</a:t>
            </a:r>
          </a:p>
          <a:p>
            <a:r>
              <a:rPr sz="1800" b="0">
                <a:solidFill>
                  <a:srgbClr val="202830"/>
                </a:solidFill>
                <a:latin typeface="Malgun Gothic"/>
              </a:rPr>
              <a:t>•  조건 ③ 뒤쪽 컬럼 하나만 사용</a:t>
            </a:r>
          </a:p>
          <a:p>
            <a:r>
              <a:rPr sz="1600" b="0">
                <a:solidFill>
                  <a:srgbClr val="5A6672"/>
                </a:solidFill>
                <a:latin typeface="Malgun Gothic"/>
              </a:rPr>
              <a:t>    –  인덱스 A에서는 후행 컬럼만 매치되는 상황이 된다</a:t>
            </a:r>
          </a:p>
          <a:p>
            <a:r>
              <a:rPr sz="1600" b="0">
                <a:solidFill>
                  <a:srgbClr val="5A6672"/>
                </a:solidFill>
                <a:latin typeface="Malgun Gothic"/>
              </a:rPr>
              <a:t>    –  인덱스 B에서는 같은 조건이 선두 컬럼 매치로 바뀐다</a:t>
            </a:r>
          </a:p>
          <a:p>
            <a:r>
              <a:rPr sz="1800" b="0">
                <a:solidFill>
                  <a:srgbClr val="202830"/>
                </a:solidFill>
                <a:latin typeface="Malgun Gothic"/>
              </a:rPr>
              <a:t>•  ②와 ③이 인덱스 A·B에서 정확히 뒤집히는지가 이 실험의 관전 포인트</a:t>
            </a:r>
          </a:p>
        </p:txBody>
      </p:sp>
    </p:spTree>
    <p:extLst>
      <p:ext uri="{BB962C8B-B14F-4D97-AF65-F5344CB8AC3E}">
        <p14:creationId xmlns:p14="http://schemas.microsoft.com/office/powerpoint/2010/main" val="1837912821"/>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107996"/>
          </a:xfrm>
          <a:prstGeom prst="rect">
            <a:avLst/>
          </a:prstGeom>
          <a:noFill/>
        </p:spPr>
        <p:txBody>
          <a:bodyPr wrap="square">
            <a:spAutoFit/>
          </a:bodyPr>
          <a:lstStyle/>
          <a:p>
            <a:r>
              <a:rPr lang="en-US" sz="6600" b="1" dirty="0">
                <a:solidFill>
                  <a:srgbClr val="C0392B"/>
                </a:solidFill>
                <a:latin typeface="Malgun Gothic"/>
              </a:rPr>
              <a:t>6</a:t>
            </a:r>
            <a:r>
              <a:rPr sz="6600" b="1" dirty="0">
                <a:solidFill>
                  <a:srgbClr val="C0392B"/>
                </a:solidFill>
                <a:latin typeface="Malgun Gothic"/>
              </a:rPr>
              <a:t>.5</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인덱스 A 실행계획 실측</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세 조건의 실측 결과표</a:t>
            </a:r>
          </a:p>
          <a:p>
            <a:r>
              <a:rPr sz="1600" b="0">
                <a:solidFill>
                  <a:srgbClr val="C5CED6"/>
                </a:solidFill>
                <a:latin typeface="Malgun Gothic"/>
              </a:rPr>
              <a:t>•  해석 ① 선두 컬럼이 포함된 경우</a:t>
            </a:r>
          </a:p>
          <a:p>
            <a:r>
              <a:rPr sz="1600" b="0">
                <a:solidFill>
                  <a:srgbClr val="C5CED6"/>
                </a:solidFill>
                <a:latin typeface="Malgun Gothic"/>
              </a:rPr>
              <a:t>•  해석 ② 후행 컬럼만 조건인 경우</a:t>
            </a:r>
          </a:p>
          <a:p>
            <a:r>
              <a:rPr sz="1600" b="0">
                <a:solidFill>
                  <a:srgbClr val="C5CED6"/>
                </a:solidFill>
                <a:latin typeface="Malgun Gothic"/>
              </a:rPr>
              <a:t>•  Fast Full Scan과 Full Table Scan의 비교</a:t>
            </a:r>
          </a:p>
        </p:txBody>
      </p:sp>
    </p:spTree>
    <p:extLst>
      <p:ext uri="{BB962C8B-B14F-4D97-AF65-F5344CB8AC3E}">
        <p14:creationId xmlns:p14="http://schemas.microsoft.com/office/powerpoint/2010/main" val="1965745994"/>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인덱스 A (HOSP_ID, RECEIPT_DATE) 실측</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교안 05절 Execution Plan — 동일한 세 조건의 실행계획 실측 결과</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a:t>
            </a:r>
          </a:p>
          <a:p>
            <a:r>
              <a:rPr sz="1250" b="0">
                <a:solidFill>
                  <a:srgbClr val="E6E6E6"/>
                </a:solidFill>
                <a:latin typeface="Consolas"/>
              </a:rPr>
              <a:t>| 조건                           | Operation            | Buffers | A-Rows |</a:t>
            </a:r>
          </a:p>
          <a:p>
            <a:r>
              <a:rPr sz="1250" b="0">
                <a:solidFill>
                  <a:srgbClr val="E6E6E6"/>
                </a:solidFill>
                <a:latin typeface="Consolas"/>
              </a:rPr>
              <a:t>+--------------------------------+----------------------+---------+--------+</a:t>
            </a:r>
          </a:p>
          <a:p>
            <a:r>
              <a:rPr sz="1250" b="0">
                <a:solidFill>
                  <a:srgbClr val="E6E6E6"/>
                </a:solidFill>
                <a:latin typeface="Consolas"/>
              </a:rPr>
              <a:t>| HOSP_ID=1 AND RECEIPT_DATE=..  | INDEX RANGE SCAN     |       3 |     11 |</a:t>
            </a:r>
          </a:p>
          <a:p>
            <a:r>
              <a:rPr sz="1250" b="0">
                <a:solidFill>
                  <a:srgbClr val="E6E6E6"/>
                </a:solidFill>
                <a:latin typeface="Consolas"/>
              </a:rPr>
              <a:t>| HOSP_ID=1          (선두 컬럼) | INDEX RANGE SCAN     |      12 |  3,058 |</a:t>
            </a:r>
          </a:p>
          <a:p>
            <a:r>
              <a:rPr sz="1250" b="0">
                <a:solidFill>
                  <a:srgbClr val="E6E6E6"/>
                </a:solidFill>
                <a:latin typeface="Consolas"/>
              </a:rPr>
              <a:t>| RECEIPT_DATE=..    (후행 컬럼) | INDEX FAST FULL SCAN |     953 |    789 |</a:t>
            </a:r>
          </a:p>
          <a:p>
            <a:r>
              <a:rPr sz="1250" b="0">
                <a:solidFill>
                  <a:srgbClr val="E6E6E6"/>
                </a:solidFill>
                <a:latin typeface="Consolas"/>
              </a:rPr>
              <a:t>+--------------------------------+----------------------+---------+--------+</a:t>
            </a:r>
          </a:p>
          <a:p>
            <a:r>
              <a:rPr sz="1250" b="0">
                <a:solidFill>
                  <a:srgbClr val="E6E6E6"/>
                </a:solidFill>
                <a:latin typeface="Consolas"/>
              </a:rPr>
              <a:t> </a:t>
            </a:r>
          </a:p>
          <a:p>
            <a:r>
              <a:rPr sz="1250" b="0">
                <a:solidFill>
                  <a:srgbClr val="7EC699"/>
                </a:solidFill>
                <a:latin typeface="Consolas"/>
              </a:rPr>
              <a:t>-- 인덱스 A = ix_hosp_receipt (HOSP_ID, RECEIPT_DATE)</a:t>
            </a:r>
          </a:p>
          <a:p>
            <a:r>
              <a:rPr sz="1250" b="0">
                <a:solidFill>
                  <a:srgbClr val="7EC699"/>
                </a:solidFill>
                <a:latin typeface="Consolas"/>
              </a:rPr>
              <a:t>-- 선두 컬럼이 조건에 포함된 위 두 행만 INDEX RANGE SCAN 으로 처리됐다</a:t>
            </a:r>
          </a:p>
          <a:p>
            <a:r>
              <a:rPr sz="1250" b="0">
                <a:solidFill>
                  <a:srgbClr val="7EC699"/>
                </a:solidFill>
                <a:latin typeface="Consolas"/>
              </a:rPr>
              <a:t>-- 세 번째 행만 오퍼레이션이 다르고 Buffers 가 크게 뛰었다</a:t>
            </a:r>
          </a:p>
        </p:txBody>
      </p:sp>
    </p:spTree>
    <p:extLst>
      <p:ext uri="{BB962C8B-B14F-4D97-AF65-F5344CB8AC3E}">
        <p14:creationId xmlns:p14="http://schemas.microsoft.com/office/powerpoint/2010/main" val="1664463689"/>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해석 ① 선두 컬럼이 포함된 두 경우</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두 컬럼을 모두 조건으로 건 경우 — INDEX RANGE SCAN, Buffers 3</a:t>
            </a:r>
          </a:p>
          <a:p>
            <a:r>
              <a:rPr sz="1600" b="0">
                <a:solidFill>
                  <a:srgbClr val="5A6672"/>
                </a:solidFill>
                <a:latin typeface="Malgun Gothic"/>
              </a:rPr>
              <a:t>    –  선두 컬럼으로 구간을 잡고 그 안에서 후행 컬럼 조건까지 인덱스에서 적용했다</a:t>
            </a:r>
          </a:p>
          <a:p>
            <a:r>
              <a:rPr sz="1600" b="0">
                <a:solidFill>
                  <a:srgbClr val="5A6672"/>
                </a:solidFill>
                <a:latin typeface="Malgun Gothic"/>
              </a:rPr>
              <a:t>    –  결과가 11건으로 매우 적고, 읽은 블록도 그만큼 적다</a:t>
            </a:r>
          </a:p>
          <a:p>
            <a:r>
              <a:rPr sz="1800" b="0">
                <a:solidFill>
                  <a:srgbClr val="202830"/>
                </a:solidFill>
                <a:latin typeface="Malgun Gothic"/>
              </a:rPr>
              <a:t>•  선두 컬럼만 조건으로 건 경우 — INDEX RANGE SCAN, Buffers 12</a:t>
            </a:r>
          </a:p>
          <a:p>
            <a:r>
              <a:rPr sz="1600" b="0">
                <a:solidFill>
                  <a:srgbClr val="5A6672"/>
                </a:solidFill>
                <a:latin typeface="Malgun Gothic"/>
              </a:rPr>
              <a:t>    –  구간의 시작과 끝을 짚을 수 있으므로 그 구간만 순서대로 읽었다</a:t>
            </a:r>
          </a:p>
          <a:p>
            <a:r>
              <a:rPr sz="1600" b="0">
                <a:solidFill>
                  <a:srgbClr val="5A6672"/>
                </a:solidFill>
                <a:latin typeface="Malgun Gothic"/>
              </a:rPr>
              <a:t>    –  결과가 3,058건으로 늘었지만 읽은 블록은 12에 그쳤다</a:t>
            </a:r>
          </a:p>
          <a:p>
            <a:r>
              <a:rPr sz="1800" b="0">
                <a:solidFill>
                  <a:srgbClr val="202830"/>
                </a:solidFill>
                <a:latin typeface="Malgun Gothic"/>
              </a:rPr>
              <a:t>•  공통점 — 조건에 선두 컬럼이 있으면 읽는 양이 결과 건수에 비례한다</a:t>
            </a:r>
          </a:p>
          <a:p>
            <a:r>
              <a:rPr sz="1600" b="0">
                <a:solidFill>
                  <a:srgbClr val="5A6672"/>
                </a:solidFill>
                <a:latin typeface="Malgun Gothic"/>
              </a:rPr>
              <a:t>    –  필요한 만큼만 읽는 것이 인덱스를 제대로 쓰는 모습이다</a:t>
            </a:r>
          </a:p>
        </p:txBody>
      </p:sp>
    </p:spTree>
    <p:extLst>
      <p:ext uri="{BB962C8B-B14F-4D97-AF65-F5344CB8AC3E}">
        <p14:creationId xmlns:p14="http://schemas.microsoft.com/office/powerpoint/2010/main" val="1804796078"/>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해석 ② 후행 컬럼만 조건일 때</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RECEIPT_DATE만 조건 — INDEX FAST FULL SCAN, Buffers 953</a:t>
            </a:r>
          </a:p>
          <a:p>
            <a:r>
              <a:rPr sz="1600" b="0">
                <a:solidFill>
                  <a:srgbClr val="5A6672"/>
                </a:solidFill>
                <a:latin typeface="Malgun Gothic"/>
              </a:rPr>
              <a:t>    –  인덱스가 RECEIPT_DATE 기준으로는 정렬되어 있지 않다</a:t>
            </a:r>
          </a:p>
          <a:p>
            <a:r>
              <a:rPr sz="1600" b="0">
                <a:solidFill>
                  <a:srgbClr val="5A6672"/>
                </a:solidFill>
                <a:latin typeface="Malgun Gothic"/>
              </a:rPr>
              <a:t>    –  시작 위치를 짚을 수 없어 인덱스 전체를 순서 없이 훑었다</a:t>
            </a:r>
          </a:p>
          <a:p>
            <a:r>
              <a:rPr sz="1800" b="0">
                <a:solidFill>
                  <a:srgbClr val="202830"/>
                </a:solidFill>
                <a:latin typeface="Malgun Gothic"/>
              </a:rPr>
              <a:t>•  결과는 789건인데 Buffers는 953까지 치솟았다</a:t>
            </a:r>
          </a:p>
          <a:p>
            <a:r>
              <a:rPr sz="1600" b="0">
                <a:solidFill>
                  <a:srgbClr val="5A6672"/>
                </a:solidFill>
                <a:latin typeface="Malgun Gothic"/>
              </a:rPr>
              <a:t>    –  읽은 양이 결과 건수가 아니라 인덱스 전체 크기에 비례했다</a:t>
            </a:r>
          </a:p>
          <a:p>
            <a:r>
              <a:rPr sz="1600" b="0">
                <a:solidFill>
                  <a:srgbClr val="5A6672"/>
                </a:solidFill>
                <a:latin typeface="Malgun Gothic"/>
              </a:rPr>
              <a:t>    –  조건에 맞지 않는 행의 엔트리까지 전부 읽고 걸러 낸 것이다</a:t>
            </a:r>
          </a:p>
          <a:p>
            <a:r>
              <a:rPr sz="1800" b="0">
                <a:solidFill>
                  <a:srgbClr val="202830"/>
                </a:solidFill>
                <a:latin typeface="Malgun Gothic"/>
              </a:rPr>
              <a:t>•  같은 인덱스인데 조건에 따라 오퍼레이션이 달라진 이유가 바로 정렬 기준이다</a:t>
            </a:r>
          </a:p>
          <a:p>
            <a:r>
              <a:rPr sz="1600" b="0">
                <a:solidFill>
                  <a:srgbClr val="5A6672"/>
                </a:solidFill>
                <a:latin typeface="Malgun Gothic"/>
              </a:rPr>
              <a:t>    –  인덱스에 값이 없어서가 아니라, 값이 흩어져 있어서 생긴 결과다</a:t>
            </a:r>
          </a:p>
        </p:txBody>
      </p:sp>
    </p:spTree>
    <p:extLst>
      <p:ext uri="{BB962C8B-B14F-4D97-AF65-F5344CB8AC3E}">
        <p14:creationId xmlns:p14="http://schemas.microsoft.com/office/powerpoint/2010/main" val="2425032972"/>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Fast Full Scan이 Full Table Scan보다 저렴한 이유</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관찰 — Buffers 953은 비싸 보이지만 Full Table Scan보다는 적다</a:t>
            </a:r>
          </a:p>
          <a:p>
            <a:r>
              <a:rPr sz="1600" b="0">
                <a:solidFill>
                  <a:srgbClr val="5A6672"/>
                </a:solidFill>
                <a:latin typeface="Malgun Gothic"/>
              </a:rPr>
              <a:t>    –  ch05 기준 TABLE ACCESS FULL의 Buffers는 3,090이었다</a:t>
            </a:r>
          </a:p>
          <a:p>
            <a:r>
              <a:rPr sz="1800" b="0">
                <a:solidFill>
                  <a:srgbClr val="202830"/>
                </a:solidFill>
                <a:latin typeface="Malgun Gothic"/>
              </a:rPr>
              <a:t>•  이유는 인덱스가 테이블보다 작은 구조물이기 때문이다</a:t>
            </a:r>
          </a:p>
          <a:p>
            <a:r>
              <a:rPr sz="1600" b="0">
                <a:solidFill>
                  <a:srgbClr val="5A6672"/>
                </a:solidFill>
                <a:latin typeface="Malgun Gothic"/>
              </a:rPr>
              <a:t>    –  인덱스는 해당 컬럼 값과 ROWID만 저장한다</a:t>
            </a:r>
          </a:p>
          <a:p>
            <a:r>
              <a:rPr sz="1600" b="0">
                <a:solidFill>
                  <a:srgbClr val="5A6672"/>
                </a:solidFill>
                <a:latin typeface="Malgun Gothic"/>
              </a:rPr>
              <a:t>    –  테이블은 모든 컬럼의 전체 데이터를 저장한다</a:t>
            </a:r>
          </a:p>
          <a:p>
            <a:r>
              <a:rPr sz="1600" b="0">
                <a:solidFill>
                  <a:srgbClr val="5A6672"/>
                </a:solidFill>
                <a:latin typeface="Malgun Gothic"/>
              </a:rPr>
              <a:t>    –  같은 행 수라도 인덱스 엔트리 하나가 테이블 행 전체보다 훨씬 작다</a:t>
            </a:r>
          </a:p>
          <a:p>
            <a:r>
              <a:rPr sz="1800" b="0">
                <a:solidFill>
                  <a:srgbClr val="202830"/>
                </a:solidFill>
                <a:latin typeface="Malgun Gothic"/>
              </a:rPr>
              <a:t>•  정리 — 제대로 된 Range Scan만큼 저렴하지는 않지만</a:t>
            </a:r>
          </a:p>
          <a:p>
            <a:r>
              <a:rPr sz="1600" b="0">
                <a:solidFill>
                  <a:srgbClr val="5A6672"/>
                </a:solidFill>
                <a:latin typeface="Malgun Gothic"/>
              </a:rPr>
              <a:t>    –  인덱스를 훑는 편이 테이블 전체를 읽는 것보다는 여전히 유리하다</a:t>
            </a:r>
          </a:p>
        </p:txBody>
      </p:sp>
    </p:spTree>
    <p:extLst>
      <p:ext uri="{BB962C8B-B14F-4D97-AF65-F5344CB8AC3E}">
        <p14:creationId xmlns:p14="http://schemas.microsoft.com/office/powerpoint/2010/main" val="1948525762"/>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107996"/>
          </a:xfrm>
          <a:prstGeom prst="rect">
            <a:avLst/>
          </a:prstGeom>
          <a:noFill/>
        </p:spPr>
        <p:txBody>
          <a:bodyPr wrap="square">
            <a:spAutoFit/>
          </a:bodyPr>
          <a:lstStyle/>
          <a:p>
            <a:r>
              <a:rPr lang="en-US" sz="6600" b="1" dirty="0">
                <a:solidFill>
                  <a:srgbClr val="C0392B"/>
                </a:solidFill>
                <a:latin typeface="Malgun Gothic"/>
              </a:rPr>
              <a:t>6</a:t>
            </a:r>
            <a:r>
              <a:rPr sz="6600" b="1" dirty="0">
                <a:solidFill>
                  <a:srgbClr val="C0392B"/>
                </a:solidFill>
                <a:latin typeface="Malgun Gothic"/>
              </a:rPr>
              <a:t>.6</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컬럼 순서를 반대로 하면</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인덱스 B 생성과 재실행</a:t>
            </a:r>
          </a:p>
          <a:p>
            <a:r>
              <a:rPr sz="1600" b="0">
                <a:solidFill>
                  <a:srgbClr val="C5CED6"/>
                </a:solidFill>
                <a:latin typeface="Malgun Gothic"/>
              </a:rPr>
              <a:t>•  인덱스 B 실측 결과표</a:t>
            </a:r>
          </a:p>
          <a:p>
            <a:r>
              <a:rPr sz="1600" b="0">
                <a:solidFill>
                  <a:srgbClr val="C5CED6"/>
                </a:solidFill>
                <a:latin typeface="Malgun Gothic"/>
              </a:rPr>
              <a:t>•  정확히 뒤바뀐 결과</a:t>
            </a:r>
          </a:p>
          <a:p>
            <a:r>
              <a:rPr sz="1600" b="0">
                <a:solidFill>
                  <a:srgbClr val="C5CED6"/>
                </a:solidFill>
                <a:latin typeface="Malgun Gothic"/>
              </a:rPr>
              <a:t>•  두 컬럼을 모두 쓸 때는 왜 덜 중요한가</a:t>
            </a:r>
          </a:p>
        </p:txBody>
      </p:sp>
    </p:spTree>
    <p:extLst>
      <p:ext uri="{BB962C8B-B14F-4D97-AF65-F5344CB8AC3E}">
        <p14:creationId xmlns:p14="http://schemas.microsoft.com/office/powerpoint/2010/main" val="1277355373"/>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인덱스 B 생성 — 컬럼 순서만 반대로</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교안 06절 — 인덱스 A를 삭제하고 순서를 뒤집은 인덱스 B로 동일한 세 조건을 재실행</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인덱스 A 를 삭제하고</a:t>
            </a:r>
          </a:p>
          <a:p>
            <a:r>
              <a:rPr sz="1250" b="0">
                <a:solidFill>
                  <a:srgbClr val="E6E6E6"/>
                </a:solidFill>
                <a:latin typeface="Consolas"/>
              </a:rPr>
              <a:t>DROP INDEX ix_hosp_receipt;</a:t>
            </a:r>
          </a:p>
          <a:p>
            <a:r>
              <a:rPr sz="1250" b="0">
                <a:solidFill>
                  <a:srgbClr val="E6E6E6"/>
                </a:solidFill>
                <a:latin typeface="Consolas"/>
              </a:rPr>
              <a:t> </a:t>
            </a:r>
          </a:p>
          <a:p>
            <a:r>
              <a:rPr sz="1250" b="0">
                <a:solidFill>
                  <a:srgbClr val="7EC699"/>
                </a:solidFill>
                <a:latin typeface="Consolas"/>
              </a:rPr>
              <a:t>-- 컬럼 순서만 반대로 한 인덱스 B 를 만든다</a:t>
            </a:r>
          </a:p>
          <a:p>
            <a:r>
              <a:rPr sz="1250" b="0">
                <a:solidFill>
                  <a:srgbClr val="E6E6E6"/>
                </a:solidFill>
                <a:latin typeface="Consolas"/>
              </a:rPr>
              <a:t>CREATE INDEX ix_receipt_hosp ON medical_claims(receipt_date, hosp_id);</a:t>
            </a:r>
          </a:p>
          <a:p>
            <a:r>
              <a:rPr sz="1250" b="0">
                <a:solidFill>
                  <a:srgbClr val="E6E6E6"/>
                </a:solidFill>
                <a:latin typeface="Consolas"/>
              </a:rPr>
              <a:t> </a:t>
            </a:r>
          </a:p>
          <a:p>
            <a:r>
              <a:rPr sz="1250" b="0">
                <a:solidFill>
                  <a:srgbClr val="7EC699"/>
                </a:solidFill>
                <a:latin typeface="Consolas"/>
              </a:rPr>
              <a:t>-- 조회 조건은 하나도 바꾸지 않고 그대로 재실행한다</a:t>
            </a:r>
          </a:p>
          <a:p>
            <a:r>
              <a:rPr sz="1250" b="0">
                <a:solidFill>
                  <a:srgbClr val="E6E6E6"/>
                </a:solidFill>
                <a:latin typeface="Consolas"/>
              </a:rPr>
              <a:t>SELECT COUNT(*) FROM medical_claims</a:t>
            </a:r>
          </a:p>
          <a:p>
            <a:r>
              <a:rPr sz="1250" b="0">
                <a:solidFill>
                  <a:srgbClr val="E6E6E6"/>
                </a:solidFill>
                <a:latin typeface="Consolas"/>
              </a:rPr>
              <a:t> WHERE hosp_id = 1 AND receipt_date = DATE'2024-06-15';   -- 둘 다</a:t>
            </a:r>
          </a:p>
          <a:p>
            <a:r>
              <a:rPr sz="1250" b="0">
                <a:solidFill>
                  <a:srgbClr val="E6E6E6"/>
                </a:solidFill>
                <a:latin typeface="Consolas"/>
              </a:rPr>
              <a:t> </a:t>
            </a:r>
          </a:p>
          <a:p>
            <a:r>
              <a:rPr sz="1250" b="0">
                <a:solidFill>
                  <a:srgbClr val="E6E6E6"/>
                </a:solidFill>
                <a:latin typeface="Consolas"/>
              </a:rPr>
              <a:t>SELECT COUNT(*) FROM medical_claims</a:t>
            </a:r>
          </a:p>
          <a:p>
            <a:r>
              <a:rPr sz="1250" b="0">
                <a:solidFill>
                  <a:srgbClr val="E6E6E6"/>
                </a:solidFill>
                <a:latin typeface="Consolas"/>
              </a:rPr>
              <a:t> WHERE hosp_id = 1;                        -- 이번엔 후행 컬럼이 됐다</a:t>
            </a:r>
          </a:p>
          <a:p>
            <a:r>
              <a:rPr sz="1250" b="0">
                <a:solidFill>
                  <a:srgbClr val="E6E6E6"/>
                </a:solidFill>
                <a:latin typeface="Consolas"/>
              </a:rPr>
              <a:t> </a:t>
            </a:r>
          </a:p>
          <a:p>
            <a:r>
              <a:rPr sz="1250" b="0">
                <a:solidFill>
                  <a:srgbClr val="E6E6E6"/>
                </a:solidFill>
                <a:latin typeface="Consolas"/>
              </a:rPr>
              <a:t>SELECT COUNT(*) FROM medical_claims</a:t>
            </a:r>
          </a:p>
          <a:p>
            <a:r>
              <a:rPr sz="1250" b="0">
                <a:solidFill>
                  <a:srgbClr val="E6E6E6"/>
                </a:solidFill>
                <a:latin typeface="Consolas"/>
              </a:rPr>
              <a:t> WHERE receipt_date = DATE'2024-06-15';    -- 이번엔 선두 컬럼이 됐다</a:t>
            </a:r>
          </a:p>
        </p:txBody>
      </p:sp>
    </p:spTree>
    <p:extLst>
      <p:ext uri="{BB962C8B-B14F-4D97-AF65-F5344CB8AC3E}">
        <p14:creationId xmlns:p14="http://schemas.microsoft.com/office/powerpoint/2010/main" val="1828317352"/>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인덱스 B (RECEIPT_DATE, HOSP_ID) 실측</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교안 06절 Bad SQL — 동일한 세 조건, 인덱스 컬럼 순서만 반대</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a:t>
            </a:r>
          </a:p>
          <a:p>
            <a:r>
              <a:rPr sz="1250" b="0">
                <a:solidFill>
                  <a:srgbClr val="E6E6E6"/>
                </a:solidFill>
                <a:latin typeface="Consolas"/>
              </a:rPr>
              <a:t>| 조건                           | Operation            | Buffers | A-Rows |</a:t>
            </a:r>
          </a:p>
          <a:p>
            <a:r>
              <a:rPr sz="1250" b="0">
                <a:solidFill>
                  <a:srgbClr val="E6E6E6"/>
                </a:solidFill>
                <a:latin typeface="Consolas"/>
              </a:rPr>
              <a:t>+--------------------------------+----------------------+---------+--------+</a:t>
            </a:r>
          </a:p>
          <a:p>
            <a:r>
              <a:rPr sz="1250" b="0">
                <a:solidFill>
                  <a:srgbClr val="E6E6E6"/>
                </a:solidFill>
                <a:latin typeface="Consolas"/>
              </a:rPr>
              <a:t>| HOSP_ID=1 AND RECEIPT_DATE=..  | INDEX RANGE SCAN     |       3 |     11 |</a:t>
            </a:r>
          </a:p>
          <a:p>
            <a:r>
              <a:rPr sz="1250" b="0">
                <a:solidFill>
                  <a:srgbClr val="E6E6E6"/>
                </a:solidFill>
                <a:latin typeface="Consolas"/>
              </a:rPr>
              <a:t>| HOSP_ID=1          (후행 컬럼) | INDEX FAST FULL SCAN |     954 |  3,058 |</a:t>
            </a:r>
          </a:p>
          <a:p>
            <a:r>
              <a:rPr sz="1250" b="0">
                <a:solidFill>
                  <a:srgbClr val="E6E6E6"/>
                </a:solidFill>
                <a:latin typeface="Consolas"/>
              </a:rPr>
              <a:t>| RECEIPT_DATE=..    (선두 컬럼) | INDEX RANGE SCAN     |       5 |    789 |</a:t>
            </a:r>
          </a:p>
          <a:p>
            <a:r>
              <a:rPr sz="1250" b="0">
                <a:solidFill>
                  <a:srgbClr val="E6E6E6"/>
                </a:solidFill>
                <a:latin typeface="Consolas"/>
              </a:rPr>
              <a:t>+--------------------------------+----------------------+---------+--------+</a:t>
            </a:r>
          </a:p>
          <a:p>
            <a:r>
              <a:rPr sz="1250" b="0">
                <a:solidFill>
                  <a:srgbClr val="E6E6E6"/>
                </a:solidFill>
                <a:latin typeface="Consolas"/>
              </a:rPr>
              <a:t> </a:t>
            </a:r>
          </a:p>
          <a:p>
            <a:r>
              <a:rPr sz="1250" b="0">
                <a:solidFill>
                  <a:srgbClr val="7EC699"/>
                </a:solidFill>
                <a:latin typeface="Consolas"/>
              </a:rPr>
              <a:t>-- 인덱스 B = ix_receipt_hosp (RECEIPT_DATE, HOSP_ID)</a:t>
            </a:r>
          </a:p>
          <a:p>
            <a:r>
              <a:rPr sz="1250" b="0">
                <a:solidFill>
                  <a:srgbClr val="7EC699"/>
                </a:solidFill>
                <a:latin typeface="Consolas"/>
              </a:rPr>
              <a:t>-- 첫 행은 인덱스 A 와 사실상 동일하다 (Buffers 3, A-Rows 11)</a:t>
            </a:r>
          </a:p>
          <a:p>
            <a:r>
              <a:rPr sz="1250" b="0">
                <a:solidFill>
                  <a:srgbClr val="7EC699"/>
                </a:solidFill>
                <a:latin typeface="Consolas"/>
              </a:rPr>
              <a:t>-- 두 번째와 세 번째 행의 오퍼레이션이 인덱스 A 와 정확히 맞바뀌었다</a:t>
            </a:r>
          </a:p>
        </p:txBody>
      </p:sp>
    </p:spTree>
    <p:extLst>
      <p:ext uri="{BB962C8B-B14F-4D97-AF65-F5344CB8AC3E}">
        <p14:creationId xmlns:p14="http://schemas.microsoft.com/office/powerpoint/2010/main" val="1326657854"/>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정확히 뒤바뀐 결과</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HOSP_ID만 조건일 때</a:t>
            </a:r>
          </a:p>
          <a:p>
            <a:r>
              <a:rPr sz="1600" b="0">
                <a:solidFill>
                  <a:srgbClr val="5A6672"/>
                </a:solidFill>
                <a:latin typeface="Malgun Gothic"/>
              </a:rPr>
              <a:t>    –  인덱스 A에서는 선두 컬럼이라 저렴했다 — Buffers 12</a:t>
            </a:r>
          </a:p>
          <a:p>
            <a:r>
              <a:rPr sz="1600" b="0">
                <a:solidFill>
                  <a:srgbClr val="5A6672"/>
                </a:solidFill>
                <a:latin typeface="Malgun Gothic"/>
              </a:rPr>
              <a:t>    –  인덱스 B에서는 후행 컬럼이 되어 비싸졌다 — Buffers 954</a:t>
            </a:r>
          </a:p>
          <a:p>
            <a:r>
              <a:rPr sz="1800" b="0">
                <a:solidFill>
                  <a:srgbClr val="202830"/>
                </a:solidFill>
                <a:latin typeface="Malgun Gothic"/>
              </a:rPr>
              <a:t>•  RECEIPT_DATE만 조건일 때</a:t>
            </a:r>
          </a:p>
          <a:p>
            <a:r>
              <a:rPr sz="1600" b="0">
                <a:solidFill>
                  <a:srgbClr val="5A6672"/>
                </a:solidFill>
                <a:latin typeface="Malgun Gothic"/>
              </a:rPr>
              <a:t>    –  인덱스 A에서는 후행 컬럼이라 비쌌다 — Buffers 953</a:t>
            </a:r>
          </a:p>
          <a:p>
            <a:r>
              <a:rPr sz="1600" b="0">
                <a:solidFill>
                  <a:srgbClr val="5A6672"/>
                </a:solidFill>
                <a:latin typeface="Malgun Gothic"/>
              </a:rPr>
              <a:t>    –  인덱스 B에서는 선두 컬럼이 되어 저렴해졌다 — Buffers 5</a:t>
            </a:r>
          </a:p>
          <a:p>
            <a:r>
              <a:rPr sz="1800" b="0">
                <a:solidFill>
                  <a:srgbClr val="202830"/>
                </a:solidFill>
                <a:latin typeface="Malgun Gothic"/>
              </a:rPr>
              <a:t>•  선두 컬럼은 컬럼 이름에 고정된 속성이 아니라는 증거</a:t>
            </a:r>
          </a:p>
          <a:p>
            <a:r>
              <a:rPr sz="1600" b="0">
                <a:solidFill>
                  <a:srgbClr val="5A6672"/>
                </a:solidFill>
                <a:latin typeface="Malgun Gothic"/>
              </a:rPr>
              <a:t>    –  인덱스 정의에서 몇 번째에 오는가가 그 컬럼의 운명을 결정한다</a:t>
            </a:r>
          </a:p>
          <a:p>
            <a:r>
              <a:rPr sz="1600" b="0">
                <a:solidFill>
                  <a:srgbClr val="5A6672"/>
                </a:solidFill>
                <a:latin typeface="Malgun Gothic"/>
              </a:rPr>
              <a:t>    –  SQL은 한 글자도 바뀌지 않았고 데이터도 그대로다</a:t>
            </a:r>
          </a:p>
        </p:txBody>
      </p:sp>
    </p:spTree>
    <p:extLst>
      <p:ext uri="{BB962C8B-B14F-4D97-AF65-F5344CB8AC3E}">
        <p14:creationId xmlns:p14="http://schemas.microsoft.com/office/powerpoint/2010/main" val="1006493155"/>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두 컬럼을 모두 쓸 때는 왜 덜 중요한가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두 조건을 모두 건 첫 번째 경우는 A와 B가 사실상 같았다 — Buffers 3</a:t>
            </a:r>
          </a:p>
          <a:p>
            <a:r>
              <a:rPr sz="1600" b="0">
                <a:solidFill>
                  <a:srgbClr val="5A6672"/>
                </a:solidFill>
                <a:latin typeface="Malgun Gothic"/>
              </a:rPr>
              <a:t>    –  어느 쪽이 선두든 두 컬럼 다 조건에 있으면 인덱스를 온전히 활용할 수 있다</a:t>
            </a:r>
          </a:p>
          <a:p>
            <a:r>
              <a:rPr sz="1600" b="0">
                <a:solidFill>
                  <a:srgbClr val="5A6672"/>
                </a:solidFill>
                <a:latin typeface="Malgun Gothic"/>
              </a:rPr>
              <a:t>    –  선두 컬럼으로 구간을 잡고 그 안에서 나머지 조건까지 인덱스에서 적용한다</a:t>
            </a:r>
          </a:p>
          <a:p>
            <a:r>
              <a:rPr sz="1800" b="0">
                <a:solidFill>
                  <a:srgbClr val="202830"/>
                </a:solidFill>
                <a:latin typeface="Malgun Gothic"/>
              </a:rPr>
              <a:t>•  다만 '완전히 무관하다'는 뜻은 아니다</a:t>
            </a:r>
          </a:p>
          <a:p>
            <a:r>
              <a:rPr sz="1600" b="0">
                <a:solidFill>
                  <a:srgbClr val="5A6672"/>
                </a:solidFill>
                <a:latin typeface="Malgun Gothic"/>
              </a:rPr>
              <a:t>    –  두 컬럼의 선택도가 크게 다르면 중간 단계에서 좁혀지는 후보 행 수가 달라진다</a:t>
            </a:r>
          </a:p>
          <a:p>
            <a:r>
              <a:rPr sz="1600" b="0">
                <a:solidFill>
                  <a:srgbClr val="5A6672"/>
                </a:solidFill>
                <a:latin typeface="Malgun Gothic"/>
              </a:rPr>
              <a:t>    –  이번 사례는 결과가 11건으로 매우 적어 차이가 드러나지 않았을 뿐이다</a:t>
            </a:r>
          </a:p>
          <a:p>
            <a:r>
              <a:rPr sz="1800" b="0">
                <a:solidFill>
                  <a:srgbClr val="202830"/>
                </a:solidFill>
                <a:latin typeface="Malgun Gothic"/>
              </a:rPr>
              <a:t>•  정리 — 순서가 중요해지는 것은 '컬럼 하나만 단독으로 쓰일 때'다</a:t>
            </a:r>
          </a:p>
          <a:p>
            <a:r>
              <a:rPr sz="1600" b="0">
                <a:solidFill>
                  <a:srgbClr val="5A6672"/>
                </a:solidFill>
                <a:latin typeface="Malgun Gothic"/>
              </a:rPr>
              <a:t>    –  항상 두 컬럼을 함께 쓰는 조회라면 순서 결정의 부담이 작아진다</a:t>
            </a:r>
          </a:p>
        </p:txBody>
      </p:sp>
    </p:spTree>
    <p:extLst>
      <p:ext uri="{BB962C8B-B14F-4D97-AF65-F5344CB8AC3E}">
        <p14:creationId xmlns:p14="http://schemas.microsoft.com/office/powerpoint/2010/main" val="3374018358"/>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결론 — 선두 컬럼은 조회 패턴이 결정한다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어떤 컬럼을 선두에 둘지는 인덱스 자체의 성질로 정해지지 않는다</a:t>
            </a:r>
          </a:p>
          <a:p>
            <a:r>
              <a:rPr sz="1600" b="0">
                <a:solidFill>
                  <a:srgbClr val="5A6672"/>
                </a:solidFill>
                <a:latin typeface="Malgun Gothic"/>
              </a:rPr>
              <a:t>    –  '이 인덱스를 어떤 조건으로 조회할 것인가'가 유일한 기준이다</a:t>
            </a:r>
          </a:p>
          <a:p>
            <a:r>
              <a:rPr sz="1800" b="0">
                <a:solidFill>
                  <a:srgbClr val="202830"/>
                </a:solidFill>
                <a:latin typeface="Malgun Gothic"/>
              </a:rPr>
              <a:t>•  두 컬럼을 항상 같이 조건으로 쓴다면</a:t>
            </a:r>
          </a:p>
          <a:p>
            <a:r>
              <a:rPr sz="1600" b="0">
                <a:solidFill>
                  <a:srgbClr val="5A6672"/>
                </a:solidFill>
                <a:latin typeface="Malgun Gothic"/>
              </a:rPr>
              <a:t>    –  순서 결정의 중요도가 상대적으로 낮아진다</a:t>
            </a:r>
          </a:p>
          <a:p>
            <a:r>
              <a:rPr sz="1800" b="0">
                <a:solidFill>
                  <a:srgbClr val="202830"/>
                </a:solidFill>
                <a:latin typeface="Malgun Gothic"/>
              </a:rPr>
              <a:t>•  컬럼 하나만 단독으로 자주 조회한다면</a:t>
            </a:r>
          </a:p>
          <a:p>
            <a:r>
              <a:rPr sz="1600" b="0">
                <a:solidFill>
                  <a:srgbClr val="5A6672"/>
                </a:solidFill>
                <a:latin typeface="Malgun Gothic"/>
              </a:rPr>
              <a:t>    –  그 컬럼이 반드시 선두에 있어야 한다</a:t>
            </a:r>
          </a:p>
          <a:p>
            <a:r>
              <a:rPr sz="1600" b="0">
                <a:solidFill>
                  <a:srgbClr val="5A6672"/>
                </a:solidFill>
                <a:latin typeface="Malgun Gothic"/>
              </a:rPr>
              <a:t>    –  단독 조회가 잦은 컬럼을 후행에 두면 이번 실측의 954 같은 상황이 된다</a:t>
            </a:r>
          </a:p>
          <a:p>
            <a:r>
              <a:rPr sz="1800" b="0">
                <a:solidFill>
                  <a:srgbClr val="202830"/>
                </a:solidFill>
                <a:latin typeface="Malgun Gothic"/>
              </a:rPr>
              <a:t>•  즉 인덱스 설계는 데이터 구조 설계가 아니라 조회 패턴 설계에 가깝다</a:t>
            </a:r>
          </a:p>
        </p:txBody>
      </p:sp>
    </p:spTree>
    <p:extLst>
      <p:ext uri="{BB962C8B-B14F-4D97-AF65-F5344CB8AC3E}">
        <p14:creationId xmlns:p14="http://schemas.microsoft.com/office/powerpoint/2010/main" val="3250182513"/>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107996"/>
          </a:xfrm>
          <a:prstGeom prst="rect">
            <a:avLst/>
          </a:prstGeom>
          <a:noFill/>
        </p:spPr>
        <p:txBody>
          <a:bodyPr wrap="square">
            <a:spAutoFit/>
          </a:bodyPr>
          <a:lstStyle/>
          <a:p>
            <a:r>
              <a:rPr lang="en-US" sz="6600" b="1" dirty="0">
                <a:solidFill>
                  <a:srgbClr val="C0392B"/>
                </a:solidFill>
                <a:latin typeface="Malgun Gothic"/>
              </a:rPr>
              <a:t>6</a:t>
            </a:r>
            <a:r>
              <a:rPr sz="6600" b="1" dirty="0">
                <a:solidFill>
                  <a:srgbClr val="C0392B"/>
                </a:solidFill>
                <a:latin typeface="Malgun Gothic"/>
              </a:rPr>
              <a:t>.7~</a:t>
            </a:r>
            <a:r>
              <a:rPr lang="en-US" sz="6600" b="1" dirty="0">
                <a:solidFill>
                  <a:srgbClr val="C0392B"/>
                </a:solidFill>
                <a:latin typeface="Malgun Gothic"/>
              </a:rPr>
              <a:t>6</a:t>
            </a:r>
            <a:r>
              <a:rPr sz="6600" b="1" dirty="0">
                <a:solidFill>
                  <a:srgbClr val="C0392B"/>
                </a:solidFill>
                <a:latin typeface="Malgun Gothic"/>
              </a:rPr>
              <a:t>.8</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설계 적용과 종합 비교</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이번 스키마에 적용한다면</a:t>
            </a:r>
          </a:p>
          <a:p>
            <a:r>
              <a:rPr sz="1600" b="0">
                <a:solidFill>
                  <a:srgbClr val="C5CED6"/>
                </a:solidFill>
                <a:latin typeface="Malgun Gothic"/>
              </a:rPr>
              <a:t>•  두 조회 패턴이 모두 잦다면</a:t>
            </a:r>
          </a:p>
          <a:p>
            <a:r>
              <a:rPr sz="1600" b="0">
                <a:solidFill>
                  <a:srgbClr val="C5CED6"/>
                </a:solidFill>
                <a:latin typeface="Malgun Gothic"/>
              </a:rPr>
              <a:t>•  종합 비교표</a:t>
            </a:r>
          </a:p>
          <a:p>
            <a:r>
              <a:rPr sz="1600" b="0">
                <a:solidFill>
                  <a:srgbClr val="C5CED6"/>
                </a:solidFill>
                <a:latin typeface="Malgun Gothic"/>
              </a:rPr>
              <a:t>•  컬럼 순서 결정 절차</a:t>
            </a:r>
          </a:p>
        </p:txBody>
      </p:sp>
    </p:spTree>
    <p:extLst>
      <p:ext uri="{BB962C8B-B14F-4D97-AF65-F5344CB8AC3E}">
        <p14:creationId xmlns:p14="http://schemas.microsoft.com/office/powerpoint/2010/main" val="1318628619"/>
      </p:ext>
    </p:extLst>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이번 스키마에 적용한다면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MEDICAL_CLAIMS를 실무에서 조회하는 패턴을 가정해 본다</a:t>
            </a:r>
          </a:p>
          <a:p>
            <a:r>
              <a:rPr sz="1800" b="0">
                <a:solidFill>
                  <a:srgbClr val="202830"/>
                </a:solidFill>
                <a:latin typeface="Malgun Gothic"/>
              </a:rPr>
              <a:t>•  '특정 병원의 특정 기간 청구 조회'가 잦다면</a:t>
            </a:r>
          </a:p>
          <a:p>
            <a:r>
              <a:rPr sz="1600" b="0">
                <a:solidFill>
                  <a:srgbClr val="5A6672"/>
                </a:solidFill>
                <a:latin typeface="Malgun Gothic"/>
              </a:rPr>
              <a:t>    –  (HOSP_ID, RECEIPT_DATE)가 적합하다</a:t>
            </a:r>
          </a:p>
          <a:p>
            <a:r>
              <a:rPr sz="1600" b="0">
                <a:solidFill>
                  <a:srgbClr val="5A6672"/>
                </a:solidFill>
                <a:latin typeface="Malgun Gothic"/>
              </a:rPr>
              <a:t>    –  병원 단독 조회도 선두 컬럼 매치로 저렴하게 처리된다</a:t>
            </a:r>
          </a:p>
          <a:p>
            <a:r>
              <a:rPr sz="1800" b="0">
                <a:solidFill>
                  <a:srgbClr val="202830"/>
                </a:solidFill>
                <a:latin typeface="Malgun Gothic"/>
              </a:rPr>
              <a:t>•  '기간 전체 청구 현황 조회(병원 무관)'가 더 잦다면</a:t>
            </a:r>
          </a:p>
          <a:p>
            <a:r>
              <a:rPr sz="1600" b="0">
                <a:solidFill>
                  <a:srgbClr val="5A6672"/>
                </a:solidFill>
                <a:latin typeface="Malgun Gothic"/>
              </a:rPr>
              <a:t>    –  (RECEIPT_DATE, HOSP_ID)가 적합하다</a:t>
            </a:r>
          </a:p>
          <a:p>
            <a:r>
              <a:rPr sz="1600" b="0">
                <a:solidFill>
                  <a:srgbClr val="5A6672"/>
                </a:solidFill>
                <a:latin typeface="Malgun Gothic"/>
              </a:rPr>
              <a:t>    –  기간 단독 조회가 선두 컬럼 매치가 되어 저렴해진다</a:t>
            </a:r>
          </a:p>
          <a:p>
            <a:r>
              <a:rPr sz="1800" b="0">
                <a:solidFill>
                  <a:srgbClr val="202830"/>
                </a:solidFill>
                <a:latin typeface="Malgun Gothic"/>
              </a:rPr>
              <a:t>•  판단의 근거는 실행 빈도와 응답 속도 요구다</a:t>
            </a:r>
          </a:p>
          <a:p>
            <a:r>
              <a:rPr sz="1600" b="0">
                <a:solidFill>
                  <a:srgbClr val="5A6672"/>
                </a:solidFill>
                <a:latin typeface="Malgun Gothic"/>
              </a:rPr>
              <a:t>    –  화면 목록과 쿼리 목록을 먼저 정리하는 것이 설계의 출발점이다</a:t>
            </a:r>
          </a:p>
        </p:txBody>
      </p:sp>
    </p:spTree>
    <p:extLst>
      <p:ext uri="{BB962C8B-B14F-4D97-AF65-F5344CB8AC3E}">
        <p14:creationId xmlns:p14="http://schemas.microsoft.com/office/powerpoint/2010/main" val="406231158"/>
      </p:ext>
    </p:extLst>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두 조회 패턴이 모두 잦다면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인덱스 하나로 두 패턴을 모두 완벽히 커버할 수는 없다</a:t>
            </a:r>
          </a:p>
          <a:p>
            <a:r>
              <a:rPr sz="1600" b="0">
                <a:solidFill>
                  <a:srgbClr val="5A6672"/>
                </a:solidFill>
                <a:latin typeface="Malgun Gothic"/>
              </a:rPr>
              <a:t>    –  어느 쪽을 선두에 두든 나머지 한쪽은 후행 컬럼 상황이 된다</a:t>
            </a:r>
          </a:p>
          <a:p>
            <a:r>
              <a:rPr sz="1800" b="0">
                <a:solidFill>
                  <a:srgbClr val="202830"/>
                </a:solidFill>
                <a:latin typeface="Malgun Gothic"/>
              </a:rPr>
              <a:t>•  선택지 ① 인덱스를 두 개 만든다</a:t>
            </a:r>
          </a:p>
          <a:p>
            <a:r>
              <a:rPr sz="1600" b="0">
                <a:solidFill>
                  <a:srgbClr val="5A6672"/>
                </a:solidFill>
                <a:latin typeface="Malgun Gothic"/>
              </a:rPr>
              <a:t>    –  두 조회 패턴 모두 각자의 전용 인덱스로 최적 처리된다</a:t>
            </a:r>
          </a:p>
          <a:p>
            <a:r>
              <a:rPr sz="1600" b="0">
                <a:solidFill>
                  <a:srgbClr val="5A6672"/>
                </a:solidFill>
                <a:latin typeface="Malgun Gothic"/>
              </a:rPr>
              <a:t>    –  대신 인덱스 개수만큼 DML 비용이 늘어난다 — 5.3절의 트레이드오프</a:t>
            </a:r>
          </a:p>
          <a:p>
            <a:r>
              <a:rPr sz="1800" b="0">
                <a:solidFill>
                  <a:srgbClr val="202830"/>
                </a:solidFill>
                <a:latin typeface="Malgun Gothic"/>
              </a:rPr>
              <a:t>•  선택지 ② 하나만 만들고 다른 조회가 다소 느린 것을 감수한다</a:t>
            </a:r>
          </a:p>
          <a:p>
            <a:r>
              <a:rPr sz="1600" b="0">
                <a:solidFill>
                  <a:srgbClr val="5A6672"/>
                </a:solidFill>
                <a:latin typeface="Malgun Gothic"/>
              </a:rPr>
              <a:t>    –  인덱스 개수는 유지되지만 한쪽 조회 패턴을 희생하게 된다</a:t>
            </a:r>
          </a:p>
          <a:p>
            <a:r>
              <a:rPr sz="1800" b="0">
                <a:solidFill>
                  <a:srgbClr val="202830"/>
                </a:solidFill>
                <a:latin typeface="Malgun Gothic"/>
              </a:rPr>
              <a:t>•  저울질의 기준 — 두 패턴의 상대적 중요도와 이 테이블의 DML 빈도</a:t>
            </a:r>
          </a:p>
          <a:p>
            <a:r>
              <a:rPr sz="1600" b="0">
                <a:solidFill>
                  <a:srgbClr val="5A6672"/>
                </a:solidFill>
                <a:latin typeface="Malgun Gothic"/>
              </a:rPr>
              <a:t>    –  DML이 드물거나 비피크에 몰려 있다면 인덱스 추가를 감수할 만하다</a:t>
            </a:r>
          </a:p>
        </p:txBody>
      </p:sp>
    </p:spTree>
    <p:extLst>
      <p:ext uri="{BB962C8B-B14F-4D97-AF65-F5344CB8AC3E}">
        <p14:creationId xmlns:p14="http://schemas.microsoft.com/office/powerpoint/2010/main" val="1449470372"/>
      </p:ext>
    </p:extLst>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종합 비교표</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교안 08절 Benchmark — 인덱스 유무와 컬럼 순서에 따른 Buffers 비교</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a:t>
            </a:r>
          </a:p>
          <a:p>
            <a:r>
              <a:rPr sz="1250" b="0">
                <a:solidFill>
                  <a:srgbClr val="E6E6E6"/>
                </a:solidFill>
                <a:latin typeface="Consolas"/>
              </a:rPr>
              <a:t>| 인덱스                     | 조건             | Buffers | 비고                 |</a:t>
            </a:r>
          </a:p>
          <a:p>
            <a:r>
              <a:rPr sz="1250" b="0">
                <a:solidFill>
                  <a:srgbClr val="E6E6E6"/>
                </a:solidFill>
                <a:latin typeface="Consolas"/>
              </a:rPr>
              <a:t>+----------------------------+------------------+---------+----------------------+</a:t>
            </a:r>
          </a:p>
          <a:p>
            <a:r>
              <a:rPr sz="1250" b="0">
                <a:solidFill>
                  <a:srgbClr val="E6E6E6"/>
                </a:solidFill>
                <a:latin typeface="Consolas"/>
              </a:rPr>
              <a:t>| 없음 (Full Scan)           | 두 컬럼 모두     |   3,090 | ch03 베이스라인 |</a:t>
            </a:r>
          </a:p>
          <a:p>
            <a:r>
              <a:rPr sz="1250" b="0">
                <a:solidFill>
                  <a:srgbClr val="E6E6E6"/>
                </a:solidFill>
                <a:latin typeface="Consolas"/>
              </a:rPr>
              <a:t>| A (HOSP_ID, RECEIPT_DATE)  | HOSP_ID 만       |      12 | 선두 컬럼 매치       |</a:t>
            </a:r>
          </a:p>
          <a:p>
            <a:r>
              <a:rPr sz="1250" b="0">
                <a:solidFill>
                  <a:srgbClr val="E6E6E6"/>
                </a:solidFill>
                <a:latin typeface="Consolas"/>
              </a:rPr>
              <a:t>| A (HOSP_ID, RECEIPT_DATE)  | RECEIPT_DATE 만  |     953 | 후행 컬럼만 매치     |</a:t>
            </a:r>
          </a:p>
          <a:p>
            <a:r>
              <a:rPr sz="1250" b="0">
                <a:solidFill>
                  <a:srgbClr val="E6E6E6"/>
                </a:solidFill>
                <a:latin typeface="Consolas"/>
              </a:rPr>
              <a:t>| B (RECEIPT_DATE, HOSP_ID)  | HOSP_ID 만       |     954 | 이번엔 후행 컬럼     |</a:t>
            </a:r>
          </a:p>
          <a:p>
            <a:r>
              <a:rPr sz="1250" b="0">
                <a:solidFill>
                  <a:srgbClr val="E6E6E6"/>
                </a:solidFill>
                <a:latin typeface="Consolas"/>
              </a:rPr>
              <a:t>| B (RECEIPT_DATE, HOSP_ID)  | RECEIPT_DATE 만  |       5 | 이번엔 선두 컬럼     |</a:t>
            </a:r>
          </a:p>
          <a:p>
            <a:r>
              <a:rPr sz="1250" b="0">
                <a:solidFill>
                  <a:srgbClr val="E6E6E6"/>
                </a:solidFill>
                <a:latin typeface="Consolas"/>
              </a:rPr>
              <a:t>+----------------------------+------------------+---------+----------------------+</a:t>
            </a:r>
          </a:p>
          <a:p>
            <a:r>
              <a:rPr sz="1250" b="0">
                <a:solidFill>
                  <a:srgbClr val="E6E6E6"/>
                </a:solidFill>
                <a:latin typeface="Consolas"/>
              </a:rPr>
              <a:t> </a:t>
            </a:r>
          </a:p>
          <a:p>
            <a:r>
              <a:rPr sz="1250" b="0">
                <a:solidFill>
                  <a:srgbClr val="7EC699"/>
                </a:solidFill>
                <a:latin typeface="Consolas"/>
              </a:rPr>
              <a:t>-- 같은 두 컬럼, 같은 조건인데 순서만 바꾸면</a:t>
            </a:r>
          </a:p>
          <a:p>
            <a:r>
              <a:rPr sz="1250" b="0">
                <a:solidFill>
                  <a:srgbClr val="7EC699"/>
                </a:solidFill>
                <a:latin typeface="Consolas"/>
              </a:rPr>
              <a:t>--    12 &lt;-&gt; 954 ,  953 &lt;-&gt; 5  로 정확히 뒤바뀐다</a:t>
            </a:r>
          </a:p>
        </p:txBody>
      </p:sp>
    </p:spTree>
    <p:extLst>
      <p:ext uri="{BB962C8B-B14F-4D97-AF65-F5344CB8AC3E}">
        <p14:creationId xmlns:p14="http://schemas.microsoft.com/office/powerpoint/2010/main" val="1739541747"/>
      </p:ext>
    </p:extLst>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종합 비교표가 말하는 것</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관찰 ① 순서를 바꾸면 비용이 정확히 맞바뀐다</a:t>
            </a:r>
          </a:p>
          <a:p>
            <a:r>
              <a:rPr sz="1600" b="0">
                <a:solidFill>
                  <a:srgbClr val="5A6672"/>
                </a:solidFill>
                <a:latin typeface="Malgun Gothic"/>
              </a:rPr>
              <a:t>    –  HOSP_ID 단독 조건은 12에서 954로, RECEIPT_DATE 단독 조건은 953에서 5로</a:t>
            </a:r>
          </a:p>
          <a:p>
            <a:r>
              <a:rPr sz="1600" b="0">
                <a:solidFill>
                  <a:srgbClr val="5A6672"/>
                </a:solidFill>
                <a:latin typeface="Malgun Gothic"/>
              </a:rPr>
              <a:t>    –  인덱스 정의 한 줄이 두 조회 패턴의 운명을 동시에 뒤집었다</a:t>
            </a:r>
          </a:p>
          <a:p>
            <a:r>
              <a:rPr sz="1800" b="0">
                <a:solidFill>
                  <a:srgbClr val="202830"/>
                </a:solidFill>
                <a:latin typeface="Malgun Gothic"/>
              </a:rPr>
              <a:t>•  관찰 ② 후행 컬럼만 매치돼도 인덱스 없는 것보다는 낫다</a:t>
            </a:r>
          </a:p>
          <a:p>
            <a:r>
              <a:rPr sz="1600" b="0">
                <a:solidFill>
                  <a:srgbClr val="5A6672"/>
                </a:solidFill>
                <a:latin typeface="Malgun Gothic"/>
              </a:rPr>
              <a:t>    –  953·954는 베이스라인 3,090보다 여전히 적다</a:t>
            </a:r>
          </a:p>
          <a:p>
            <a:r>
              <a:rPr sz="1600" b="0">
                <a:solidFill>
                  <a:srgbClr val="5A6672"/>
                </a:solidFill>
                <a:latin typeface="Malgun Gothic"/>
              </a:rPr>
              <a:t>    –  다만 이 사실이 순서를 아무렇게나 정해도 된다는 뜻은 아니다</a:t>
            </a:r>
          </a:p>
          <a:p>
            <a:r>
              <a:rPr sz="1800" b="0">
                <a:solidFill>
                  <a:srgbClr val="202830"/>
                </a:solidFill>
                <a:latin typeface="Malgun Gothic"/>
              </a:rPr>
              <a:t>•  결론 — 선두 컬럼 선택이 복합 인덱스 설계에서 가장 먼저 결정할 사항이다</a:t>
            </a:r>
          </a:p>
          <a:p>
            <a:r>
              <a:rPr sz="1600" b="0">
                <a:solidFill>
                  <a:srgbClr val="5A6672"/>
                </a:solidFill>
                <a:latin typeface="Malgun Gothic"/>
              </a:rPr>
              <a:t>    –  컬럼을 무엇으로 고를지는 그다음 문제다</a:t>
            </a:r>
          </a:p>
        </p:txBody>
      </p:sp>
    </p:spTree>
    <p:extLst>
      <p:ext uri="{BB962C8B-B14F-4D97-AF65-F5344CB8AC3E}">
        <p14:creationId xmlns:p14="http://schemas.microsoft.com/office/powerpoint/2010/main" val="407504947"/>
      </p:ext>
    </p:extLst>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컬럼 순서 결정 절차</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1단계 — 조회 패턴을 나열한다</a:t>
            </a:r>
          </a:p>
          <a:p>
            <a:r>
              <a:rPr sz="1600" b="0">
                <a:solidFill>
                  <a:srgbClr val="5A6672"/>
                </a:solidFill>
                <a:latin typeface="Malgun Gothic"/>
              </a:rPr>
              <a:t>    –  이 테이블에 대한 주요 조회들이 어떤 컬럼을 조건으로 쓰는지 정리한다</a:t>
            </a:r>
          </a:p>
          <a:p>
            <a:r>
              <a:rPr sz="1600" b="0">
                <a:solidFill>
                  <a:srgbClr val="5A6672"/>
                </a:solidFill>
                <a:latin typeface="Malgun Gothic"/>
              </a:rPr>
              <a:t>    –  각 패턴이 얼마나 자주 실행되는지, 응답 속도 요구가 어떤지도 함께 적는다</a:t>
            </a:r>
          </a:p>
          <a:p>
            <a:r>
              <a:rPr sz="1800" b="0">
                <a:solidFill>
                  <a:srgbClr val="202830"/>
                </a:solidFill>
                <a:latin typeface="Malgun Gothic"/>
              </a:rPr>
              <a:t>•  2단계 — 선두 컬럼 후보를 고른다</a:t>
            </a:r>
          </a:p>
          <a:p>
            <a:r>
              <a:rPr sz="1600" b="0">
                <a:solidFill>
                  <a:srgbClr val="5A6672"/>
                </a:solidFill>
                <a:latin typeface="Malgun Gothic"/>
              </a:rPr>
              <a:t>    –  가장 빈번하거나 가장 중요한 조회에서 단독으로도 자주 쓰이는 컬럼을 고른다</a:t>
            </a:r>
          </a:p>
          <a:p>
            <a:r>
              <a:rPr sz="1600" b="0">
                <a:solidFill>
                  <a:srgbClr val="5A6672"/>
                </a:solidFill>
                <a:latin typeface="Malgun Gothic"/>
              </a:rPr>
              <a:t>    –  '단독으로도'가 핵심 조건이다 — 항상 함께 쓰이는 컬럼은 후보가 아니다</a:t>
            </a:r>
          </a:p>
          <a:p>
            <a:r>
              <a:rPr sz="1800" b="0">
                <a:solidFill>
                  <a:srgbClr val="202830"/>
                </a:solidFill>
                <a:latin typeface="Malgun Gothic"/>
              </a:rPr>
              <a:t>•  3단계 — 나머지 컬럼을 배치하고 남은 패턴을 검토한다</a:t>
            </a:r>
          </a:p>
          <a:p>
            <a:r>
              <a:rPr sz="1600" b="0">
                <a:solidFill>
                  <a:srgbClr val="5A6672"/>
                </a:solidFill>
                <a:latin typeface="Malgun Gothic"/>
              </a:rPr>
              <a:t>    –  두 컬럼을 함께 쓰는 조회의 빈도를 기준으로 후행 컬럼을 배치한다</a:t>
            </a:r>
          </a:p>
          <a:p>
            <a:r>
              <a:rPr sz="1600" b="0">
                <a:solidFill>
                  <a:srgbClr val="5A6672"/>
                </a:solidFill>
                <a:latin typeface="Malgun Gothic"/>
              </a:rPr>
              <a:t>    –  커버되지 않는 패턴은 추가 인덱스가 필요한지 트레이드오프와 함께 판단한다</a:t>
            </a:r>
          </a:p>
        </p:txBody>
      </p:sp>
    </p:spTree>
    <p:extLst>
      <p:ext uri="{BB962C8B-B14F-4D97-AF65-F5344CB8AC3E}">
        <p14:creationId xmlns:p14="http://schemas.microsoft.com/office/powerpoint/2010/main" val="2290732821"/>
      </p:ext>
    </p:extLst>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실습 정리 — 원상복구 스크립트</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차시 종료 시 실습 인덱스를 삭제하고 통계를 재수집한다 (교안 도입부 안내)</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이 차시에서 만든 실습용 인덱스를 모두 삭제한다</a:t>
            </a:r>
          </a:p>
          <a:p>
            <a:r>
              <a:rPr sz="1250" b="0">
                <a:solidFill>
                  <a:srgbClr val="E6E6E6"/>
                </a:solidFill>
                <a:latin typeface="Consolas"/>
              </a:rPr>
              <a:t>DROP INDEX ix_hosp_receipt;</a:t>
            </a:r>
          </a:p>
          <a:p>
            <a:r>
              <a:rPr sz="1250" b="0">
                <a:solidFill>
                  <a:srgbClr val="E6E6E6"/>
                </a:solidFill>
                <a:latin typeface="Consolas"/>
              </a:rPr>
              <a:t>DROP INDEX ix_receipt_hosp;</a:t>
            </a:r>
          </a:p>
          <a:p>
            <a:r>
              <a:rPr sz="1250" b="0">
                <a:solidFill>
                  <a:srgbClr val="E6E6E6"/>
                </a:solidFill>
                <a:latin typeface="Consolas"/>
              </a:rPr>
              <a:t> </a:t>
            </a:r>
          </a:p>
          <a:p>
            <a:r>
              <a:rPr sz="1250" b="0">
                <a:solidFill>
                  <a:srgbClr val="7EC699"/>
                </a:solidFill>
                <a:latin typeface="Consolas"/>
              </a:rPr>
              <a:t>-- 남아 있는 인덱스를 확인한다</a:t>
            </a:r>
          </a:p>
          <a:p>
            <a:r>
              <a:rPr sz="1250" b="0">
                <a:solidFill>
                  <a:srgbClr val="E6E6E6"/>
                </a:solidFill>
                <a:latin typeface="Consolas"/>
              </a:rPr>
              <a:t>SELECT index_name, uniqueness</a:t>
            </a:r>
          </a:p>
          <a:p>
            <a:r>
              <a:rPr sz="1250" b="0">
                <a:solidFill>
                  <a:srgbClr val="E6E6E6"/>
                </a:solidFill>
                <a:latin typeface="Consolas"/>
              </a:rPr>
              <a:t>  FROM user_indexes</a:t>
            </a:r>
          </a:p>
          <a:p>
            <a:r>
              <a:rPr sz="1250" b="0">
                <a:solidFill>
                  <a:srgbClr val="E6E6E6"/>
                </a:solidFill>
                <a:latin typeface="Consolas"/>
              </a:rPr>
              <a:t> WHERE table_name = 'MEDICAL_CLAIMS';</a:t>
            </a:r>
          </a:p>
          <a:p>
            <a:r>
              <a:rPr sz="1250" b="0">
                <a:solidFill>
                  <a:srgbClr val="E6E6E6"/>
                </a:solidFill>
                <a:latin typeface="Consolas"/>
              </a:rPr>
              <a:t> </a:t>
            </a:r>
          </a:p>
          <a:p>
            <a:r>
              <a:rPr sz="1250" b="0">
                <a:solidFill>
                  <a:srgbClr val="7EC699"/>
                </a:solidFill>
                <a:latin typeface="Consolas"/>
              </a:rPr>
              <a:t>-- PK_MEDICAL_CLAIMS 외의 인덱스가 남아 있으면 안 된다</a:t>
            </a:r>
          </a:p>
          <a:p>
            <a:r>
              <a:rPr sz="1250" b="0">
                <a:solidFill>
                  <a:srgbClr val="E6E6E6"/>
                </a:solidFill>
                <a:latin typeface="Consolas"/>
              </a:rPr>
              <a:t> </a:t>
            </a:r>
          </a:p>
          <a:p>
            <a:r>
              <a:rPr sz="1250" b="0">
                <a:solidFill>
                  <a:srgbClr val="7EC699"/>
                </a:solidFill>
                <a:latin typeface="Consolas"/>
              </a:rPr>
              <a:t>-- 통계를 다시 수집해 원래 상태로 되돌린다</a:t>
            </a:r>
          </a:p>
          <a:p>
            <a:r>
              <a:rPr sz="1250" b="0">
                <a:solidFill>
                  <a:srgbClr val="E6E6E6"/>
                </a:solidFill>
                <a:latin typeface="Consolas"/>
              </a:rPr>
              <a:t>EXEC DBMS_STATS.GATHER_TABLE_STATS(USER, 'MEDICAL_CLAIMS');</a:t>
            </a:r>
          </a:p>
          <a:p>
            <a:r>
              <a:rPr sz="1250" b="0">
                <a:solidFill>
                  <a:srgbClr val="E6E6E6"/>
                </a:solidFill>
                <a:latin typeface="Consolas"/>
              </a:rPr>
              <a:t> </a:t>
            </a:r>
          </a:p>
          <a:p>
            <a:r>
              <a:rPr sz="1250" b="0">
                <a:solidFill>
                  <a:srgbClr val="7EC699"/>
                </a:solidFill>
                <a:latin typeface="Consolas"/>
              </a:rPr>
              <a:t>-- 정리하지 않으면 이후 챕터의 실행계획이 재현되지 않는다</a:t>
            </a:r>
          </a:p>
        </p:txBody>
      </p:sp>
    </p:spTree>
    <p:extLst>
      <p:ext uri="{BB962C8B-B14F-4D97-AF65-F5344CB8AC3E}">
        <p14:creationId xmlns:p14="http://schemas.microsoft.com/office/powerpoint/2010/main" val="685118128"/>
      </p:ext>
    </p:extLst>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요약 (Summary)</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복합 인덱스는 선두 컬럼을 기준으로 먼저 정렬되고, 그 안에서 후행 컬럼이 정렬된다</a:t>
            </a:r>
          </a:p>
          <a:p>
            <a:r>
              <a:rPr sz="1800" b="0">
                <a:solidFill>
                  <a:srgbClr val="202830"/>
                </a:solidFill>
                <a:latin typeface="Malgun Gothic"/>
              </a:rPr>
              <a:t>•  조건에 선두 컬럼이 포함되어야 INDEX RANGE SCAN으로 저렴하게 처리된다</a:t>
            </a:r>
          </a:p>
          <a:p>
            <a:r>
              <a:rPr sz="1800" b="0">
                <a:solidFill>
                  <a:srgbClr val="202830"/>
                </a:solidFill>
                <a:latin typeface="Malgun Gothic"/>
              </a:rPr>
              <a:t>•  후행 컬럼만으로는 INDEX FAST FULL SCAN 또는 미사용으로 전환되어 비용이 커진다</a:t>
            </a:r>
          </a:p>
          <a:p>
            <a:r>
              <a:rPr sz="1800" b="0">
                <a:solidFill>
                  <a:srgbClr val="202830"/>
                </a:solidFill>
                <a:latin typeface="Malgun Gothic"/>
              </a:rPr>
              <a:t>•  선두 컬럼은 컬럼의 성질이 아니라 인덱스 정의에서의 위치로 결정된다</a:t>
            </a:r>
          </a:p>
          <a:p>
            <a:r>
              <a:rPr sz="1800" b="0">
                <a:solidFill>
                  <a:srgbClr val="202830"/>
                </a:solidFill>
                <a:latin typeface="Malgun Gothic"/>
              </a:rPr>
              <a:t>•  순서만 뒤집으면 Buffers가 12↔954, 953↔5로 정확히 맞바뀐다</a:t>
            </a:r>
          </a:p>
          <a:p>
            <a:r>
              <a:rPr sz="1800" b="0">
                <a:solidFill>
                  <a:srgbClr val="202830"/>
                </a:solidFill>
                <a:latin typeface="Malgun Gothic"/>
              </a:rPr>
              <a:t>•  두 컬럼을 모두 조건으로 쓰면 순서의 영향이 작아진다 (Buffers 3)</a:t>
            </a:r>
          </a:p>
          <a:p>
            <a:r>
              <a:rPr sz="1800" b="0">
                <a:solidFill>
                  <a:srgbClr val="202830"/>
                </a:solidFill>
                <a:latin typeface="Malgun Gothic"/>
              </a:rPr>
              <a:t>•  Fast Full Scan도 인덱스가 테이블보다 작아 Full Table Scan(3,090)보다는 저렴하다</a:t>
            </a:r>
          </a:p>
          <a:p>
            <a:r>
              <a:rPr sz="1800" b="0">
                <a:solidFill>
                  <a:srgbClr val="202830"/>
                </a:solidFill>
                <a:latin typeface="Malgun Gothic"/>
              </a:rPr>
              <a:t>•  인덱스는 조회를 돕지만 DML 비용을 늘린다 — 많이 만드는 것이 능사가 아니다</a:t>
            </a:r>
          </a:p>
        </p:txBody>
      </p:sp>
    </p:spTree>
    <p:extLst>
      <p:ext uri="{BB962C8B-B14F-4D97-AF65-F5344CB8AC3E}">
        <p14:creationId xmlns:p14="http://schemas.microsoft.com/office/powerpoint/2010/main" val="3056274528"/>
      </p:ext>
    </p:extLst>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실습 안내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실습문제 10문항 — ch06_문제.md</a:t>
            </a:r>
          </a:p>
          <a:p>
            <a:r>
              <a:rPr sz="1600" b="0">
                <a:solidFill>
                  <a:srgbClr val="5A6672"/>
                </a:solidFill>
                <a:latin typeface="Malgun Gothic"/>
              </a:rPr>
              <a:t>    –  1·8번  같은 인덱스인데 조건에 따라 오퍼레이션이 달라지는 이유</a:t>
            </a:r>
          </a:p>
          <a:p>
            <a:r>
              <a:rPr sz="1600" b="0">
                <a:solidFill>
                  <a:srgbClr val="5A6672"/>
                </a:solidFill>
                <a:latin typeface="Malgun Gothic"/>
              </a:rPr>
              <a:t>    –  2번  순서를 뒤집었을 때의 결과로 선두 컬럼의 정의를 설명</a:t>
            </a:r>
          </a:p>
          <a:p>
            <a:r>
              <a:rPr sz="1600" b="0">
                <a:solidFill>
                  <a:srgbClr val="5A6672"/>
                </a:solidFill>
                <a:latin typeface="Malgun Gothic"/>
              </a:rPr>
              <a:t>    –  3번  두 컬럼을 모두 쓸 때 순서의 영향이 작아지는 이유</a:t>
            </a:r>
          </a:p>
          <a:p>
            <a:r>
              <a:rPr sz="1600" b="0">
                <a:solidFill>
                  <a:srgbClr val="5A6672"/>
                </a:solidFill>
                <a:latin typeface="Malgun Gothic"/>
              </a:rPr>
              <a:t>    –  4번  Fast Full Scan이 Full Table Scan보다 저렴한 근거</a:t>
            </a:r>
          </a:p>
          <a:p>
            <a:r>
              <a:rPr sz="1600" b="0">
                <a:solidFill>
                  <a:srgbClr val="5A6672"/>
                </a:solidFill>
                <a:latin typeface="Malgun Gothic"/>
              </a:rPr>
              <a:t>    –  5·6번  실무 조회 빈도 가정과 인덱스를 두 개 만드는 비용</a:t>
            </a:r>
          </a:p>
          <a:p>
            <a:r>
              <a:rPr sz="1600" b="0">
                <a:solidFill>
                  <a:srgbClr val="5A6672"/>
                </a:solidFill>
                <a:latin typeface="Malgun Gothic"/>
              </a:rPr>
              <a:t>    –  7번  전화번호부 비유를 실측 결과와 대응시키기</a:t>
            </a:r>
          </a:p>
          <a:p>
            <a:r>
              <a:rPr sz="1600" b="0">
                <a:solidFill>
                  <a:srgbClr val="5A6672"/>
                </a:solidFill>
                <a:latin typeface="Malgun Gothic"/>
              </a:rPr>
              <a:t>    –  9·10번  단일 컬럼 추가와 순서 변경의 비교, 순서 결정 절차 정리</a:t>
            </a:r>
          </a:p>
          <a:p>
            <a:r>
              <a:rPr sz="1800" b="0">
                <a:solidFill>
                  <a:srgbClr val="202830"/>
                </a:solidFill>
                <a:latin typeface="Malgun Gothic"/>
              </a:rPr>
              <a:t>•  실습 전후 확인 — 인덱스는 IX_CH05_ 접두어로 만들고 종료 시 반드시 삭제한다</a:t>
            </a:r>
          </a:p>
          <a:p>
            <a:r>
              <a:rPr sz="1600" b="0">
                <a:solidFill>
                  <a:srgbClr val="5A6672"/>
                </a:solidFill>
                <a:latin typeface="Malgun Gothic"/>
              </a:rPr>
              <a:t>    –  삭제 후 통계를 재수집해야 이후 챕터의 실행계획이 재현된다</a:t>
            </a:r>
          </a:p>
        </p:txBody>
      </p:sp>
    </p:spTree>
    <p:extLst>
      <p:ext uri="{BB962C8B-B14F-4D97-AF65-F5344CB8AC3E}">
        <p14:creationId xmlns:p14="http://schemas.microsoft.com/office/powerpoint/2010/main" val="4277490719"/>
      </p:ext>
    </p:extLst>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Rectangle 1"/>
          <p:cNvSpPr/>
          <p:nvPr/>
        </p:nvSpPr>
        <p:spPr>
          <a:xfrm>
            <a:off x="822960" y="2331720"/>
            <a:ext cx="164592"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88720" y="1463040"/>
            <a:ext cx="10058400" cy="369332"/>
          </a:xfrm>
          <a:prstGeom prst="rect">
            <a:avLst/>
          </a:prstGeom>
          <a:noFill/>
        </p:spPr>
        <p:txBody>
          <a:bodyPr wrap="square">
            <a:spAutoFit/>
          </a:bodyPr>
          <a:lstStyle/>
          <a:p>
            <a:r>
              <a:rPr sz="1800" b="1">
                <a:solidFill>
                  <a:srgbClr val="C0392B"/>
                </a:solidFill>
                <a:latin typeface="Malgun Gothic"/>
              </a:rPr>
              <a:t>Oracle SQL 튜닝 과정  ·  ch07</a:t>
            </a:r>
          </a:p>
        </p:txBody>
      </p:sp>
      <p:sp>
        <p:nvSpPr>
          <p:cNvPr id="4" name="TextBox 3"/>
          <p:cNvSpPr txBox="1"/>
          <p:nvPr/>
        </p:nvSpPr>
        <p:spPr>
          <a:xfrm>
            <a:off x="1188720" y="2194560"/>
            <a:ext cx="10332720" cy="2011680"/>
          </a:xfrm>
          <a:prstGeom prst="rect">
            <a:avLst/>
          </a:prstGeom>
          <a:noFill/>
        </p:spPr>
        <p:txBody>
          <a:bodyPr wrap="square">
            <a:spAutoFit/>
          </a:bodyPr>
          <a:lstStyle/>
          <a:p>
            <a:r>
              <a:rPr sz="4400" b="1" dirty="0" err="1">
                <a:solidFill>
                  <a:srgbClr val="FFFFFF"/>
                </a:solidFill>
                <a:latin typeface="Malgun Gothic"/>
              </a:rPr>
              <a:t>SARGable</a:t>
            </a:r>
            <a:r>
              <a:rPr sz="4400" b="1" dirty="0">
                <a:solidFill>
                  <a:srgbClr val="FFFFFF"/>
                </a:solidFill>
                <a:latin typeface="Malgun Gothic"/>
              </a:rPr>
              <a:t> SQL</a:t>
            </a:r>
          </a:p>
        </p:txBody>
      </p:sp>
      <p:sp>
        <p:nvSpPr>
          <p:cNvPr id="5" name="TextBox 4"/>
          <p:cNvSpPr txBox="1"/>
          <p:nvPr/>
        </p:nvSpPr>
        <p:spPr>
          <a:xfrm>
            <a:off x="1188720" y="4297680"/>
            <a:ext cx="10058400" cy="1097280"/>
          </a:xfrm>
          <a:prstGeom prst="rect">
            <a:avLst/>
          </a:prstGeom>
          <a:noFill/>
        </p:spPr>
        <p:txBody>
          <a:bodyPr wrap="square">
            <a:spAutoFit/>
          </a:bodyPr>
          <a:lstStyle/>
          <a:p>
            <a:r>
              <a:rPr sz="1800" b="0">
                <a:solidFill>
                  <a:srgbClr val="C5CED6"/>
                </a:solidFill>
                <a:latin typeface="Malgun Gothic"/>
              </a:rPr>
              <a:t>SARGable 조건의 정의 · 컬럼 가공과 인덱스 · 묵시적 형변환의 방향 · Predicate Information 진단   |   Oracle Database 19c · 진료비청구심사 스키마 기준</a:t>
            </a:r>
          </a:p>
        </p:txBody>
      </p:sp>
    </p:spTree>
    <p:extLst>
      <p:ext uri="{BB962C8B-B14F-4D97-AF65-F5344CB8AC3E}">
        <p14:creationId xmlns:p14="http://schemas.microsoft.com/office/powerpoint/2010/main" val="1995449960"/>
      </p:ext>
    </p:extLst>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학습 목표 (Objectives)</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 장을 마치면 다음을 수행할 수 있어야 한다.</a:t>
            </a:r>
          </a:p>
          <a:p>
            <a:r>
              <a:rPr sz="1600" b="0">
                <a:solidFill>
                  <a:srgbClr val="5A6672"/>
                </a:solidFill>
                <a:latin typeface="Malgun Gothic"/>
              </a:rPr>
              <a:t>    –  SARGable 조건을 '컬럼을 가공하지 않고 원본 값 그대로 비교하는 조건'으로 정의한다</a:t>
            </a:r>
          </a:p>
          <a:p>
            <a:r>
              <a:rPr sz="1600" b="0">
                <a:solidFill>
                  <a:srgbClr val="5A6672"/>
                </a:solidFill>
                <a:latin typeface="Malgun Gothic"/>
              </a:rPr>
              <a:t>    –  컬럼에 함수를 씌우면 일반 인덱스를 못 타게 되는 이유를 인덱스의 정렬 구조로 설명한다</a:t>
            </a:r>
          </a:p>
          <a:p>
            <a:r>
              <a:rPr sz="1600" b="0">
                <a:solidFill>
                  <a:srgbClr val="5A6672"/>
                </a:solidFill>
                <a:latin typeface="Malgun Gothic"/>
              </a:rPr>
              <a:t>    –  묵시적 형변환이 컬럼과 리터럴 중 어느 쪽에서 일어나는지 타입 우선순위로 판단한다</a:t>
            </a:r>
          </a:p>
          <a:p>
            <a:r>
              <a:rPr sz="1600" b="0">
                <a:solidFill>
                  <a:srgbClr val="5A6672"/>
                </a:solidFill>
                <a:latin typeface="Malgun Gothic"/>
              </a:rPr>
              <a:t>    –  Predicate Information에서 컬럼이 함수로 감싸였는지 확인해 인덱스 미사용을 진단한다</a:t>
            </a:r>
          </a:p>
          <a:p>
            <a:r>
              <a:rPr sz="1600" b="0">
                <a:solidFill>
                  <a:srgbClr val="5A6672"/>
                </a:solidFill>
                <a:latin typeface="Malgun Gothic"/>
              </a:rPr>
              <a:t>    –  같은 조건을 문자열 리터럴로 쓸 때와 숫자 리터럴로 쓸 때의 실행계획 차이를 설명한다</a:t>
            </a:r>
          </a:p>
          <a:p>
            <a:r>
              <a:rPr sz="1600" b="0">
                <a:solidFill>
                  <a:srgbClr val="5A6672"/>
                </a:solidFill>
                <a:latin typeface="Malgun Gothic"/>
              </a:rPr>
              <a:t>    –  묵시적 형변환과 명시적 함수 호출이 옵티마이저에게 왜 같은 문제인지 설명한다</a:t>
            </a:r>
          </a:p>
          <a:p>
            <a:r>
              <a:rPr sz="1600" b="0">
                <a:solidFill>
                  <a:srgbClr val="5A6672"/>
                </a:solidFill>
                <a:latin typeface="Malgun Gothic"/>
              </a:rPr>
              <a:t>    –  TO_CHAR로 월을 비교하는 조건을 범위 조건(`&gt;=` / `&lt;`)으로 재작성한다</a:t>
            </a:r>
          </a:p>
          <a:p>
            <a:r>
              <a:rPr sz="1600" b="0">
                <a:solidFill>
                  <a:srgbClr val="5A6672"/>
                </a:solidFill>
                <a:latin typeface="Malgun Gothic"/>
              </a:rPr>
              <a:t>    –  LIKE 와일드카드 위치, 부정 조건, IS NULL이 일반 인덱스와 안 맞는 이유를 설명한다</a:t>
            </a:r>
          </a:p>
          <a:p>
            <a:r>
              <a:rPr sz="1600" b="0">
                <a:solidFill>
                  <a:srgbClr val="5A6672"/>
                </a:solidFill>
                <a:latin typeface="Malgun Gothic"/>
              </a:rPr>
              <a:t>    –  조건절만 보고 SARGable 여부를 판정하는 체크리스트를 실제 코드 리뷰에 적용한다</a:t>
            </a:r>
          </a:p>
        </p:txBody>
      </p:sp>
    </p:spTree>
    <p:extLst>
      <p:ext uri="{BB962C8B-B14F-4D97-AF65-F5344CB8AC3E}">
        <p14:creationId xmlns:p14="http://schemas.microsoft.com/office/powerpoint/2010/main" val="3210314734"/>
      </p:ext>
    </p:extLst>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장의 구성 (Agenda)</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6.1  Why — 인덱스가 있어도 못 타는 조건절이 있다</a:t>
            </a:r>
          </a:p>
          <a:p>
            <a:r>
              <a:rPr sz="1800" b="0">
                <a:solidFill>
                  <a:srgbClr val="202830"/>
                </a:solidFill>
                <a:latin typeface="Malgun Gothic"/>
              </a:rPr>
              <a:t>•  6.2  Concept — SARGable의 정의와 위반의 갈래</a:t>
            </a:r>
          </a:p>
          <a:p>
            <a:r>
              <a:rPr sz="1800" b="0">
                <a:solidFill>
                  <a:srgbClr val="202830"/>
                </a:solidFill>
                <a:latin typeface="Malgun Gothic"/>
              </a:rPr>
              <a:t>•  6.3  Oracle Internals — 묵시적 형변환의 방향</a:t>
            </a:r>
          </a:p>
          <a:p>
            <a:r>
              <a:rPr sz="1800" b="0">
                <a:solidFill>
                  <a:srgbClr val="202830"/>
                </a:solidFill>
                <a:latin typeface="Malgun Gothic"/>
              </a:rPr>
              <a:t>•  6.4  Example — BIRTH_DATE 세 가지 조건절 비교</a:t>
            </a:r>
          </a:p>
          <a:p>
            <a:r>
              <a:rPr sz="1800" b="0">
                <a:solidFill>
                  <a:srgbClr val="202830"/>
                </a:solidFill>
                <a:latin typeface="Malgun Gothic"/>
              </a:rPr>
              <a:t>•  6.5  Execution Plan — 실측 비교와 해석</a:t>
            </a:r>
          </a:p>
          <a:p>
            <a:r>
              <a:rPr sz="1800" b="0">
                <a:solidFill>
                  <a:srgbClr val="202830"/>
                </a:solidFill>
                <a:latin typeface="Malgun Gothic"/>
              </a:rPr>
              <a:t>•  6.6  Bad SQL — DATE 컬럼에서 같은 문제 재현</a:t>
            </a:r>
          </a:p>
          <a:p>
            <a:r>
              <a:rPr sz="1800" b="0">
                <a:solidFill>
                  <a:srgbClr val="202830"/>
                </a:solidFill>
                <a:latin typeface="Malgun Gothic"/>
              </a:rPr>
              <a:t>•  6.7  Tuning — 그 밖의 SARGable 위반 패턴</a:t>
            </a:r>
          </a:p>
          <a:p>
            <a:r>
              <a:rPr sz="1800" b="0">
                <a:solidFill>
                  <a:srgbClr val="202830"/>
                </a:solidFill>
                <a:latin typeface="Malgun Gothic"/>
              </a:rPr>
              <a:t>•  6.8~6.10  Benchmark 종합 · 실습 안내 · 요약 (Review)</a:t>
            </a:r>
          </a:p>
        </p:txBody>
      </p:sp>
    </p:spTree>
    <p:extLst>
      <p:ext uri="{BB962C8B-B14F-4D97-AF65-F5344CB8AC3E}">
        <p14:creationId xmlns:p14="http://schemas.microsoft.com/office/powerpoint/2010/main" val="668937116"/>
      </p:ext>
    </p:extLst>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107996"/>
          </a:xfrm>
          <a:prstGeom prst="rect">
            <a:avLst/>
          </a:prstGeom>
          <a:noFill/>
        </p:spPr>
        <p:txBody>
          <a:bodyPr wrap="square">
            <a:spAutoFit/>
          </a:bodyPr>
          <a:lstStyle/>
          <a:p>
            <a:r>
              <a:rPr lang="en-US" sz="6600" b="1" dirty="0">
                <a:solidFill>
                  <a:srgbClr val="C0392B"/>
                </a:solidFill>
                <a:latin typeface="Malgun Gothic"/>
              </a:rPr>
              <a:t>7</a:t>
            </a:r>
            <a:r>
              <a:rPr sz="6600" b="1" dirty="0">
                <a:solidFill>
                  <a:srgbClr val="C0392B"/>
                </a:solidFill>
                <a:latin typeface="Malgun Gothic"/>
              </a:rPr>
              <a:t>.1</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인덱스가 있어도 못 타는 조건절</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ch06에서 남겨 둔 질문</a:t>
            </a:r>
          </a:p>
          <a:p>
            <a:r>
              <a:rPr sz="1600" b="0">
                <a:solidFill>
                  <a:srgbClr val="C5CED6"/>
                </a:solidFill>
                <a:latin typeface="Malgun Gothic"/>
              </a:rPr>
              <a:t>•  SARGable이라는 개념</a:t>
            </a:r>
          </a:p>
          <a:p>
            <a:r>
              <a:rPr sz="1600" b="0">
                <a:solidFill>
                  <a:srgbClr val="C5CED6"/>
                </a:solidFill>
                <a:latin typeface="Malgun Gothic"/>
              </a:rPr>
              <a:t>•  이 차시의 목표와 범위</a:t>
            </a:r>
          </a:p>
        </p:txBody>
      </p:sp>
    </p:spTree>
    <p:extLst>
      <p:ext uri="{BB962C8B-B14F-4D97-AF65-F5344CB8AC3E}">
        <p14:creationId xmlns:p14="http://schemas.microsoft.com/office/powerpoint/2010/main" val="1445670669"/>
      </p:ext>
    </p:extLst>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ch06에서 남겨 둔 질문</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ch06에서 확인한 것 — '인덱스를 만들면 빨라진다'</a:t>
            </a:r>
          </a:p>
          <a:p>
            <a:r>
              <a:rPr sz="1600" b="0">
                <a:solidFill>
                  <a:srgbClr val="5A6672"/>
                </a:solidFill>
                <a:latin typeface="Malgun Gothic"/>
              </a:rPr>
              <a:t>    –  같은 SQL을 인덱스 유무만 바꿔 비교했고, 인덱스가 있는 쪽이 유리했다</a:t>
            </a:r>
          </a:p>
          <a:p>
            <a:r>
              <a:rPr sz="1600" b="0">
                <a:solidFill>
                  <a:srgbClr val="5A6672"/>
                </a:solidFill>
                <a:latin typeface="Malgun Gothic"/>
              </a:rPr>
              <a:t>    –  그 실험에서는 조건절 작성 방식이 변수가 아니었다</a:t>
            </a:r>
          </a:p>
          <a:p>
            <a:r>
              <a:rPr sz="1800" b="0">
                <a:solidFill>
                  <a:srgbClr val="202830"/>
                </a:solidFill>
                <a:latin typeface="Malgun Gothic"/>
              </a:rPr>
              <a:t>•  그러나 다루지 않은 사실이 하나 있다 — 인덱스가 있어도 조건절을 잘못 쓰면 아예 못 탈 수 있다</a:t>
            </a:r>
          </a:p>
          <a:p>
            <a:r>
              <a:rPr sz="1600" b="0">
                <a:solidFill>
                  <a:srgbClr val="5A6672"/>
                </a:solidFill>
                <a:latin typeface="Malgun Gothic"/>
              </a:rPr>
              <a:t>    –  인덱스가 존재하는 것과 옵티마이저가 그 인덱스를 선택하는 것은 서로 다른 사건이다</a:t>
            </a:r>
          </a:p>
          <a:p>
            <a:r>
              <a:rPr sz="1600" b="0">
                <a:solidFill>
                  <a:srgbClr val="5A6672"/>
                </a:solidFill>
                <a:latin typeface="Malgun Gothic"/>
              </a:rPr>
              <a:t>    –  둘 사이에 조건절을 어떻게 썼는가라는 변수가 하나 더 놓여 있다</a:t>
            </a:r>
          </a:p>
          <a:p>
            <a:r>
              <a:rPr sz="1800" b="0">
                <a:solidFill>
                  <a:srgbClr val="202830"/>
                </a:solidFill>
                <a:latin typeface="Malgun Gothic"/>
              </a:rPr>
              <a:t>•  실무에서 이 차이가 사고로 이어지는 전형적인 경로</a:t>
            </a:r>
          </a:p>
          <a:p>
            <a:r>
              <a:rPr sz="1600" b="0">
                <a:solidFill>
                  <a:srgbClr val="5A6672"/>
                </a:solidFill>
                <a:latin typeface="Malgun Gothic"/>
              </a:rPr>
              <a:t>    –  인덱스를 만들었으니 됐다고 판단하고 실행계획을 확인하지 않는다</a:t>
            </a:r>
          </a:p>
          <a:p>
            <a:r>
              <a:rPr sz="1600" b="0">
                <a:solidFill>
                  <a:srgbClr val="5A6672"/>
                </a:solidFill>
                <a:latin typeface="Malgun Gothic"/>
              </a:rPr>
              <a:t>    –  느리다는 신고가 들어오면 인덱스를 하나 더 만드는 쪽으로 대응한다</a:t>
            </a:r>
          </a:p>
          <a:p>
            <a:r>
              <a:rPr sz="1600" b="0">
                <a:solidFill>
                  <a:srgbClr val="5A6672"/>
                </a:solidFill>
                <a:latin typeface="Malgun Gothic"/>
              </a:rPr>
              <a:t>    –  조건절은 그대로이므로 새 인덱스도 같은 이유로 쓰이지 않는다</a:t>
            </a:r>
          </a:p>
        </p:txBody>
      </p:sp>
    </p:spTree>
    <p:extLst>
      <p:ext uri="{BB962C8B-B14F-4D97-AF65-F5344CB8AC3E}">
        <p14:creationId xmlns:p14="http://schemas.microsoft.com/office/powerpoint/2010/main" val="1858489102"/>
      </p:ext>
    </p:extLst>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SARGable이란 무엇인가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SARGable = Search ARGument-able</a:t>
            </a:r>
          </a:p>
          <a:p>
            <a:r>
              <a:rPr sz="1600" b="0">
                <a:solidFill>
                  <a:srgbClr val="5A6672"/>
                </a:solidFill>
                <a:latin typeface="Malgun Gothic"/>
              </a:rPr>
              <a:t>    –  인덱스를 탐색하는 데 그대로 쓸 수 있는 형태의 조건을 뜻한다</a:t>
            </a:r>
          </a:p>
          <a:p>
            <a:r>
              <a:rPr sz="1600" b="0">
                <a:solidFill>
                  <a:srgbClr val="5A6672"/>
                </a:solidFill>
                <a:latin typeface="Malgun Gothic"/>
              </a:rPr>
              <a:t>    –  이름 그대로 그 조건이 검색 인수로 쓰일 자격이 있는가를 묻는 말이다</a:t>
            </a:r>
          </a:p>
          <a:p>
            <a:r>
              <a:rPr sz="1800" b="0">
                <a:solidFill>
                  <a:srgbClr val="202830"/>
                </a:solidFill>
                <a:latin typeface="Malgun Gothic"/>
              </a:rPr>
              <a:t>•  판정 기준은 하나로 압축된다 — 컬럼을 가공했는가</a:t>
            </a:r>
          </a:p>
          <a:p>
            <a:r>
              <a:rPr sz="1600" b="0">
                <a:solidFill>
                  <a:srgbClr val="5A6672"/>
                </a:solidFill>
                <a:latin typeface="Malgun Gothic"/>
              </a:rPr>
              <a:t>    –  컬럼을 가공하지 않고 원래 값 그대로 비교하는 조건이 SARGable하다</a:t>
            </a:r>
          </a:p>
          <a:p>
            <a:r>
              <a:rPr sz="1600" b="0">
                <a:solidFill>
                  <a:srgbClr val="5A6672"/>
                </a:solidFill>
                <a:latin typeface="Malgun Gothic"/>
              </a:rPr>
              <a:t>    –  컬럼에 함수·연산이 적용되면 그 순간 SARGable하지 않게 된다</a:t>
            </a:r>
          </a:p>
          <a:p>
            <a:r>
              <a:rPr sz="1800" b="0">
                <a:solidFill>
                  <a:srgbClr val="202830"/>
                </a:solidFill>
                <a:latin typeface="Malgun Gothic"/>
              </a:rPr>
              <a:t>•  가공의 주체가 사람인지 Oracle인지는 상관없다</a:t>
            </a:r>
          </a:p>
          <a:p>
            <a:r>
              <a:rPr sz="1600" b="0">
                <a:solidFill>
                  <a:srgbClr val="5A6672"/>
                </a:solidFill>
                <a:latin typeface="Malgun Gothic"/>
              </a:rPr>
              <a:t>    –  개발자가 직접 쓴 함수든, 타입이 안 맞아 자동으로 생긴 변환이든 결과는 같다</a:t>
            </a:r>
          </a:p>
          <a:p>
            <a:r>
              <a:rPr sz="1600" b="0">
                <a:solidFill>
                  <a:srgbClr val="5A6672"/>
                </a:solidFill>
                <a:latin typeface="Malgun Gothic"/>
              </a:rPr>
              <a:t>    –  눈에 보이지 않는 가공이 더 위험하다 — 6.3절에서 그 사례를 다룬다</a:t>
            </a:r>
          </a:p>
          <a:p>
            <a:r>
              <a:rPr sz="1800" b="0">
                <a:solidFill>
                  <a:srgbClr val="202830"/>
                </a:solidFill>
                <a:latin typeface="Malgun Gothic"/>
              </a:rPr>
              <a:t>•  이번 차시의 목표 — 인덱스가 있어도 못 타는 대표 패턴을 실측으로 확인한다</a:t>
            </a:r>
          </a:p>
          <a:p>
            <a:r>
              <a:rPr sz="1600" b="0">
                <a:solidFill>
                  <a:srgbClr val="5A6672"/>
                </a:solidFill>
                <a:latin typeface="Malgun Gothic"/>
              </a:rPr>
              <a:t>    –  대표 패턴은 명시적 함수 사용과 묵시적 형변환 두 가지다</a:t>
            </a:r>
          </a:p>
        </p:txBody>
      </p:sp>
    </p:spTree>
    <p:extLst>
      <p:ext uri="{BB962C8B-B14F-4D97-AF65-F5344CB8AC3E}">
        <p14:creationId xmlns:p14="http://schemas.microsoft.com/office/powerpoint/2010/main" val="2817267769"/>
      </p:ext>
    </p:extLst>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차시의 목표와 범위</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다루는 것 — 조건절 작성 방식이 인덱스 사용 여부를 가르는 지점</a:t>
            </a:r>
          </a:p>
          <a:p>
            <a:r>
              <a:rPr sz="1600" b="0">
                <a:solidFill>
                  <a:srgbClr val="5A6672"/>
                </a:solidFill>
                <a:latin typeface="Malgun Gothic"/>
              </a:rPr>
              <a:t>    –  명시적 함수 사용(TO_NUMBER, SUBSTR, TO_CHAR 등)</a:t>
            </a:r>
          </a:p>
          <a:p>
            <a:r>
              <a:rPr sz="1600" b="0">
                <a:solidFill>
                  <a:srgbClr val="5A6672"/>
                </a:solidFill>
                <a:latin typeface="Malgun Gothic"/>
              </a:rPr>
              <a:t>    –  묵시적 형변환 — 컬럼과 리터럴의 데이터 타입이 어긋나는 경우</a:t>
            </a:r>
          </a:p>
          <a:p>
            <a:r>
              <a:rPr sz="1600" b="0">
                <a:solidFill>
                  <a:srgbClr val="5A6672"/>
                </a:solidFill>
                <a:latin typeface="Malgun Gothic"/>
              </a:rPr>
              <a:t>    –  실측 소재는 PATIENTS.BIRTH_DATE(VARCHAR2 YYYYMMDD)와 MEDICAL_CLAIMS.RECEIPT_DATE(DATE)</a:t>
            </a:r>
          </a:p>
          <a:p>
            <a:r>
              <a:rPr sz="1800" b="0">
                <a:solidFill>
                  <a:srgbClr val="202830"/>
                </a:solidFill>
                <a:latin typeface="Malgun Gothic"/>
              </a:rPr>
              <a:t>•  개념으로만 짚고 넘어가는 것 — 6.7절</a:t>
            </a:r>
          </a:p>
          <a:p>
            <a:r>
              <a:rPr sz="1600" b="0">
                <a:solidFill>
                  <a:srgbClr val="5A6672"/>
                </a:solidFill>
                <a:latin typeface="Malgun Gothic"/>
              </a:rPr>
              <a:t>    –  앞에 %가 붙는 LIKE, 부정 조건, IS NULL — 실측 없이 원리만 정리한다</a:t>
            </a:r>
          </a:p>
          <a:p>
            <a:r>
              <a:rPr sz="1800" b="0">
                <a:solidFill>
                  <a:srgbClr val="202830"/>
                </a:solidFill>
                <a:latin typeface="Malgun Gothic"/>
              </a:rPr>
              <a:t>•  이 장에서 다루지 않는 것</a:t>
            </a:r>
          </a:p>
          <a:p>
            <a:r>
              <a:rPr sz="1600" b="0">
                <a:solidFill>
                  <a:srgbClr val="5A6672"/>
                </a:solidFill>
                <a:latin typeface="Malgun Gothic"/>
              </a:rPr>
              <a:t>    –  함수 기반 인덱스, 전문 검색 인덱스 등 별도 기법 — 본 과정 범위 밖</a:t>
            </a:r>
          </a:p>
          <a:p>
            <a:r>
              <a:rPr sz="1600" b="0">
                <a:solidFill>
                  <a:srgbClr val="5A6672"/>
                </a:solidFill>
                <a:latin typeface="Malgun Gothic"/>
              </a:rPr>
              <a:t>    –  인덱스 컬럼 순서 설계와 결합 인덱스 전략 — 별도 주제</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본 차시는 실습용 인덱스를 생성·삭제한다. 종료 시 DROP INDEX로 정리해 PATIENTS·MEDICAL_CLAIMS가 PK만 남은 상태로 복구되었는지 확인한다.</a:t>
            </a:r>
          </a:p>
        </p:txBody>
      </p:sp>
    </p:spTree>
    <p:extLst>
      <p:ext uri="{BB962C8B-B14F-4D97-AF65-F5344CB8AC3E}">
        <p14:creationId xmlns:p14="http://schemas.microsoft.com/office/powerpoint/2010/main" val="2592441575"/>
      </p:ext>
    </p:extLst>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107996"/>
          </a:xfrm>
          <a:prstGeom prst="rect">
            <a:avLst/>
          </a:prstGeom>
          <a:noFill/>
        </p:spPr>
        <p:txBody>
          <a:bodyPr wrap="square">
            <a:spAutoFit/>
          </a:bodyPr>
          <a:lstStyle/>
          <a:p>
            <a:r>
              <a:rPr lang="en-US" sz="6600" b="1" dirty="0">
                <a:solidFill>
                  <a:srgbClr val="C0392B"/>
                </a:solidFill>
                <a:latin typeface="Malgun Gothic"/>
              </a:rPr>
              <a:t>7</a:t>
            </a:r>
            <a:r>
              <a:rPr sz="6600" b="1" dirty="0">
                <a:solidFill>
                  <a:srgbClr val="C0392B"/>
                </a:solidFill>
                <a:latin typeface="Malgun Gothic"/>
              </a:rPr>
              <a:t>.2</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SARGable의 정의와 위반의 갈래</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함수와 인덱스 — 정렬 기준이 어긋난다</a:t>
            </a:r>
          </a:p>
          <a:p>
            <a:r>
              <a:rPr sz="1600" b="0">
                <a:solidFill>
                  <a:srgbClr val="C5CED6"/>
                </a:solidFill>
                <a:latin typeface="Malgun Gothic"/>
              </a:rPr>
              <a:t>•  묵시적 형변환이라는 개념</a:t>
            </a:r>
          </a:p>
          <a:p>
            <a:r>
              <a:rPr sz="1600" b="0">
                <a:solidFill>
                  <a:srgbClr val="C5CED6"/>
                </a:solidFill>
                <a:latin typeface="Malgun Gothic"/>
              </a:rPr>
              <a:t>•  SARGable 위반의 갈래 정리</a:t>
            </a:r>
          </a:p>
        </p:txBody>
      </p:sp>
    </p:spTree>
    <p:extLst>
      <p:ext uri="{BB962C8B-B14F-4D97-AF65-F5344CB8AC3E}">
        <p14:creationId xmlns:p14="http://schemas.microsoft.com/office/powerpoint/2010/main" val="1148317563"/>
      </p:ext>
    </p:extLst>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함수와 인덱스 — 정렬 기준이 어긋난다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B-Tree 인덱스는 컬럼의 원본 값을 기준으로 정렬해 저장한다</a:t>
            </a:r>
          </a:p>
          <a:p>
            <a:r>
              <a:rPr sz="1600" b="0">
                <a:solidFill>
                  <a:srgbClr val="5A6672"/>
                </a:solidFill>
                <a:latin typeface="Malgun Gothic"/>
              </a:rPr>
              <a:t>    –  정렬돼 있기 때문에 특정 값이나 범위의 시작 지점을 곧바로 찾아갈 수 있다</a:t>
            </a:r>
          </a:p>
          <a:p>
            <a:r>
              <a:rPr sz="1600" b="0">
                <a:solidFill>
                  <a:srgbClr val="5A6672"/>
                </a:solidFill>
                <a:latin typeface="Malgun Gothic"/>
              </a:rPr>
              <a:t>    –  인덱스가 빠른 이유는 자료가 작아서가 아니라 순서를 알고 있기 때문이다</a:t>
            </a:r>
          </a:p>
          <a:p>
            <a:r>
              <a:rPr sz="1800" b="0">
                <a:solidFill>
                  <a:srgbClr val="202830"/>
                </a:solidFill>
                <a:latin typeface="Malgun Gothic"/>
              </a:rPr>
              <a:t>•  컬럼에 함수를 씌우면 비교 대상이 원본 값이 아니게 된다</a:t>
            </a:r>
          </a:p>
          <a:p>
            <a:r>
              <a:rPr sz="1600" b="0">
                <a:solidFill>
                  <a:srgbClr val="5A6672"/>
                </a:solidFill>
                <a:latin typeface="Malgun Gothic"/>
              </a:rPr>
              <a:t>    –  TO_NUMBER(col), SUBSTR(col,..), TO_CHAR(col,..) 등이 모두 여기에 해당한다</a:t>
            </a:r>
          </a:p>
          <a:p>
            <a:r>
              <a:rPr sz="1600" b="0">
                <a:solidFill>
                  <a:srgbClr val="5A6672"/>
                </a:solidFill>
                <a:latin typeface="Malgun Gothic"/>
              </a:rPr>
              <a:t>    –  인덱스는 원본 값 순서로 정렬돼 있는데 비교는 변환된 값으로 이뤄진다</a:t>
            </a:r>
          </a:p>
          <a:p>
            <a:r>
              <a:rPr sz="1600" b="0">
                <a:solidFill>
                  <a:srgbClr val="5A6672"/>
                </a:solidFill>
                <a:latin typeface="Malgun Gothic"/>
              </a:rPr>
              <a:t>    –  변환된 값의 순서를 인덱스는 모르므로 그 인덱스로 바로 찾아갈 수 없다</a:t>
            </a:r>
          </a:p>
          <a:p>
            <a:r>
              <a:rPr sz="1800" b="0">
                <a:solidFill>
                  <a:srgbClr val="202830"/>
                </a:solidFill>
                <a:latin typeface="Malgun Gothic"/>
              </a:rPr>
              <a:t>•  그래서 옵티마이저는 그 인덱스를 접근 경로 후보에서 제외한다</a:t>
            </a:r>
          </a:p>
          <a:p>
            <a:r>
              <a:rPr sz="1600" b="0">
                <a:solidFill>
                  <a:srgbClr val="5A6672"/>
                </a:solidFill>
                <a:latin typeface="Malgun Gothic"/>
              </a:rPr>
              <a:t>    –  남는 선택지는 대개 테이블 전체를 읽으며 한 행씩 변환해 걸러내는 방식이다</a:t>
            </a:r>
          </a:p>
          <a:p>
            <a:r>
              <a:rPr sz="1600" b="0">
                <a:solidFill>
                  <a:srgbClr val="5A6672"/>
                </a:solidFill>
                <a:latin typeface="Malgun Gothic"/>
              </a:rPr>
              <a:t>    –  결과는 정확하지만 읽은 블록 수는 조건의 선택도와 무관하게 커진다</a:t>
            </a:r>
          </a:p>
        </p:txBody>
      </p:sp>
    </p:spTree>
    <p:extLst>
      <p:ext uri="{BB962C8B-B14F-4D97-AF65-F5344CB8AC3E}">
        <p14:creationId xmlns:p14="http://schemas.microsoft.com/office/powerpoint/2010/main" val="3384989665"/>
      </p:ext>
    </p:extLst>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묵시적 형변환이라는 개념</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조건절에서 컬럼과 리터럴의 데이터 타입이 다르면 그대로 비교할 수 없다</a:t>
            </a:r>
          </a:p>
          <a:p>
            <a:r>
              <a:rPr sz="1600" b="0">
                <a:solidFill>
                  <a:srgbClr val="5A6672"/>
                </a:solidFill>
                <a:latin typeface="Malgun Gothic"/>
              </a:rPr>
              <a:t>    –  문자와 숫자는 비교 규칙 자체가 다르므로 한쪽을 다른 쪽 타입으로 맞춰야 한다</a:t>
            </a:r>
          </a:p>
          <a:p>
            <a:r>
              <a:rPr sz="1800" b="0">
                <a:solidFill>
                  <a:srgbClr val="202830"/>
                </a:solidFill>
                <a:latin typeface="Malgun Gothic"/>
              </a:rPr>
              <a:t>•  Oracle은 이때 둘 중 하나를 자동으로 변환해 비교한다 — 이것이 묵시적 형변환이다</a:t>
            </a:r>
          </a:p>
          <a:p>
            <a:r>
              <a:rPr sz="1600" b="0">
                <a:solidFill>
                  <a:srgbClr val="5A6672"/>
                </a:solidFill>
                <a:latin typeface="Malgun Gothic"/>
              </a:rPr>
              <a:t>    –  개발자가 변환 함수를 한 글자도 쓰지 않아도 내부적으로 발생한다</a:t>
            </a:r>
          </a:p>
          <a:p>
            <a:r>
              <a:rPr sz="1600" b="0">
                <a:solidFill>
                  <a:srgbClr val="5A6672"/>
                </a:solidFill>
                <a:latin typeface="Malgun Gothic"/>
              </a:rPr>
              <a:t>    –  SQL 문장만 봐서는 변환이 일어났는지 알 수 없다는 점이 이 문제의 핵심이다</a:t>
            </a:r>
          </a:p>
          <a:p>
            <a:r>
              <a:rPr sz="1800" b="0">
                <a:solidFill>
                  <a:srgbClr val="202830"/>
                </a:solidFill>
                <a:latin typeface="Malgun Gothic"/>
              </a:rPr>
              <a:t>•  어느 쪽이 변환되는지가 인덱스 사용 여부를 가른다</a:t>
            </a:r>
          </a:p>
          <a:p>
            <a:r>
              <a:rPr sz="1600" b="0">
                <a:solidFill>
                  <a:srgbClr val="5A6672"/>
                </a:solidFill>
                <a:latin typeface="Malgun Gothic"/>
              </a:rPr>
              <a:t>    –  리터럴이 변환되면 컬럼은 원본 그대로 남으므로 인덱스를 탈 수 있다</a:t>
            </a:r>
          </a:p>
          <a:p>
            <a:r>
              <a:rPr sz="1600" b="0">
                <a:solidFill>
                  <a:srgbClr val="5A6672"/>
                </a:solidFill>
                <a:latin typeface="Malgun Gothic"/>
              </a:rPr>
              <a:t>    –  컬럼이 변환되면 컬럼에 함수를 씌운 것과 완전히 같은 효과가 된다</a:t>
            </a:r>
          </a:p>
          <a:p>
            <a:r>
              <a:rPr sz="1800" b="0">
                <a:solidFill>
                  <a:srgbClr val="202830"/>
                </a:solidFill>
                <a:latin typeface="Malgun Gothic"/>
              </a:rPr>
              <a:t>•  변환 방향은 개발자가 고르는 것이 아니라 Oracle의 규칙이 정한다</a:t>
            </a:r>
          </a:p>
          <a:p>
            <a:r>
              <a:rPr sz="1600" b="0">
                <a:solidFill>
                  <a:srgbClr val="5A6672"/>
                </a:solidFill>
                <a:latin typeface="Malgun Gothic"/>
              </a:rPr>
              <a:t>    –  그 규칙이 무엇인지는 6.3절에서 다룬다</a:t>
            </a:r>
          </a:p>
        </p:txBody>
      </p:sp>
    </p:spTree>
    <p:extLst>
      <p:ext uri="{BB962C8B-B14F-4D97-AF65-F5344CB8AC3E}">
        <p14:creationId xmlns:p14="http://schemas.microsoft.com/office/powerpoint/2010/main" val="3726540679"/>
      </p:ext>
    </p:extLst>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SARGable 위반의 갈래 정리</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갈래 1 — 명시적 함수·연산으로 컬럼을 가공</a:t>
            </a:r>
          </a:p>
          <a:p>
            <a:r>
              <a:rPr sz="1600" b="0">
                <a:solidFill>
                  <a:srgbClr val="5A6672"/>
                </a:solidFill>
                <a:latin typeface="Malgun Gothic"/>
              </a:rPr>
              <a:t>    –  TO_NUMBER(SUBSTR(col,..)), TO_CHAR(col,..), col*2, col||'' 등</a:t>
            </a:r>
          </a:p>
          <a:p>
            <a:r>
              <a:rPr sz="1600" b="0">
                <a:solidFill>
                  <a:srgbClr val="5A6672"/>
                </a:solidFill>
                <a:latin typeface="Malgun Gothic"/>
              </a:rPr>
              <a:t>    –  눈에 보이므로 코드 리뷰로 잡을 수 있다</a:t>
            </a:r>
          </a:p>
          <a:p>
            <a:r>
              <a:rPr sz="1800" b="0">
                <a:solidFill>
                  <a:srgbClr val="202830"/>
                </a:solidFill>
                <a:latin typeface="Malgun Gothic"/>
              </a:rPr>
              <a:t>•  갈래 2 — 타입 불일치로 인한 묵시적 형변환</a:t>
            </a:r>
          </a:p>
          <a:p>
            <a:r>
              <a:rPr sz="1600" b="0">
                <a:solidFill>
                  <a:srgbClr val="5A6672"/>
                </a:solidFill>
                <a:latin typeface="Malgun Gothic"/>
              </a:rPr>
              <a:t>    –  VARCHAR2 컬럼을 숫자 리터럴과 비교하는 등 타입을 어긋나게 쓴 경우</a:t>
            </a:r>
          </a:p>
          <a:p>
            <a:r>
              <a:rPr sz="1600" b="0">
                <a:solidFill>
                  <a:srgbClr val="5A6672"/>
                </a:solidFill>
                <a:latin typeface="Malgun Gothic"/>
              </a:rPr>
              <a:t>    –  눈에 보이지 않으므로 실행계획으로만 잡을 수 있다</a:t>
            </a:r>
          </a:p>
          <a:p>
            <a:r>
              <a:rPr sz="1800" b="0">
                <a:solidFill>
                  <a:srgbClr val="202830"/>
                </a:solidFill>
                <a:latin typeface="Malgun Gothic"/>
              </a:rPr>
              <a:t>•  갈래 3 — 인덱스의 정렬 특성과 맞지 않는 조건</a:t>
            </a:r>
          </a:p>
          <a:p>
            <a:r>
              <a:rPr sz="1600" b="0">
                <a:solidFill>
                  <a:srgbClr val="5A6672"/>
                </a:solidFill>
                <a:latin typeface="Malgun Gothic"/>
              </a:rPr>
              <a:t>    –  앞에 %가 붙는 LIKE, 부정 조건(!=, NOT IN), IS NULL</a:t>
            </a:r>
          </a:p>
          <a:p>
            <a:r>
              <a:rPr sz="1600" b="0">
                <a:solidFill>
                  <a:srgbClr val="5A6672"/>
                </a:solidFill>
                <a:latin typeface="Malgun Gothic"/>
              </a:rPr>
              <a:t>    –  컬럼을 가공하지는 않았지만 정렬 순서를 이용할 수 없는 형태다</a:t>
            </a:r>
          </a:p>
          <a:p>
            <a:r>
              <a:rPr sz="1800" b="0">
                <a:solidFill>
                  <a:srgbClr val="202830"/>
                </a:solidFill>
                <a:latin typeface="Malgun Gothic"/>
              </a:rPr>
              <a:t>•  본 차시는 갈래 1·2를 실측으로 확인하고, 갈래 3은 6.7절에서 개념으로 정리한다</a:t>
            </a:r>
          </a:p>
        </p:txBody>
      </p:sp>
    </p:spTree>
    <p:extLst>
      <p:ext uri="{BB962C8B-B14F-4D97-AF65-F5344CB8AC3E}">
        <p14:creationId xmlns:p14="http://schemas.microsoft.com/office/powerpoint/2010/main" val="4036626633"/>
      </p:ext>
    </p:extLst>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107996"/>
          </a:xfrm>
          <a:prstGeom prst="rect">
            <a:avLst/>
          </a:prstGeom>
          <a:noFill/>
        </p:spPr>
        <p:txBody>
          <a:bodyPr wrap="square">
            <a:spAutoFit/>
          </a:bodyPr>
          <a:lstStyle/>
          <a:p>
            <a:r>
              <a:rPr lang="en-US" sz="6600" b="1" dirty="0">
                <a:solidFill>
                  <a:srgbClr val="C0392B"/>
                </a:solidFill>
                <a:latin typeface="Malgun Gothic"/>
              </a:rPr>
              <a:t>7</a:t>
            </a:r>
            <a:r>
              <a:rPr sz="6600" b="1" dirty="0">
                <a:solidFill>
                  <a:srgbClr val="C0392B"/>
                </a:solidFill>
                <a:latin typeface="Malgun Gothic"/>
              </a:rPr>
              <a:t>.3</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묵시적 형변환의 방향</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데이터 타입 우선순위</a:t>
            </a:r>
          </a:p>
          <a:p>
            <a:r>
              <a:rPr sz="1600" b="0">
                <a:solidFill>
                  <a:srgbClr val="C5CED6"/>
                </a:solidFill>
                <a:latin typeface="Malgun Gothic"/>
              </a:rPr>
              <a:t>•  컬럼이 변환되면 벌어지는 일</a:t>
            </a:r>
          </a:p>
          <a:p>
            <a:r>
              <a:rPr sz="1600" b="0">
                <a:solidFill>
                  <a:srgbClr val="C5CED6"/>
                </a:solidFill>
                <a:latin typeface="Malgun Gothic"/>
              </a:rPr>
              <a:t>•  Predicate Information으로 진단하기</a:t>
            </a:r>
          </a:p>
        </p:txBody>
      </p:sp>
    </p:spTree>
    <p:extLst>
      <p:ext uri="{BB962C8B-B14F-4D97-AF65-F5344CB8AC3E}">
        <p14:creationId xmlns:p14="http://schemas.microsoft.com/office/powerpoint/2010/main" val="2979763165"/>
      </p:ext>
    </p:extLst>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데이터 타입 우선순위 — 누가 변환되는가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Oracle은 타입이 다른 두 값을 비교할 때 정해진 규칙으로 한쪽을 변환한다</a:t>
            </a:r>
          </a:p>
          <a:p>
            <a:r>
              <a:rPr sz="1600" b="0">
                <a:solidFill>
                  <a:srgbClr val="5A6672"/>
                </a:solidFill>
                <a:latin typeface="Malgun Gothic"/>
              </a:rPr>
              <a:t>    –  규칙을 단순화하면 NUMBER가 VARCHAR2보다 우선순위가 높다</a:t>
            </a:r>
          </a:p>
          <a:p>
            <a:r>
              <a:rPr sz="1600" b="0">
                <a:solidFill>
                  <a:srgbClr val="5A6672"/>
                </a:solidFill>
                <a:latin typeface="Malgun Gothic"/>
              </a:rPr>
              <a:t>    –  우선순위가 높은 쪽에 맞추므로 문자 쪽이 숫자로 변환된다</a:t>
            </a:r>
          </a:p>
          <a:p>
            <a:r>
              <a:rPr sz="1800" b="0">
                <a:solidFill>
                  <a:srgbClr val="202830"/>
                </a:solidFill>
                <a:latin typeface="Malgun Gothic"/>
              </a:rPr>
              <a:t>•  VARCHAR2 컬럼을 NUMBER 리터럴과 비교하면 — WHERE varchar_col &lt;= 19901231</a:t>
            </a:r>
          </a:p>
          <a:p>
            <a:r>
              <a:rPr sz="1600" b="0">
                <a:solidFill>
                  <a:srgbClr val="5A6672"/>
                </a:solidFill>
                <a:latin typeface="Malgun Gothic"/>
              </a:rPr>
              <a:t>    –  리터럴이 아니라 컬럼 쪽을 TO_NUMBER()로 감싸서 비교한다</a:t>
            </a:r>
          </a:p>
          <a:p>
            <a:r>
              <a:rPr sz="1600" b="0">
                <a:solidFill>
                  <a:srgbClr val="5A6672"/>
                </a:solidFill>
                <a:latin typeface="Malgun Gothic"/>
              </a:rPr>
              <a:t>    –  사람이 보기엔 컬럼을 건드린 적이 없지만 내부적으로는 함수가 씌워진 것과 같다</a:t>
            </a:r>
          </a:p>
          <a:p>
            <a:r>
              <a:rPr sz="1800" b="0">
                <a:solidFill>
                  <a:srgbClr val="202830"/>
                </a:solidFill>
                <a:latin typeface="Malgun Gothic"/>
              </a:rPr>
              <a:t>•  이 방향이 최악인 이유</a:t>
            </a:r>
          </a:p>
          <a:p>
            <a:r>
              <a:rPr sz="1600" b="0">
                <a:solidFill>
                  <a:srgbClr val="5A6672"/>
                </a:solidFill>
                <a:latin typeface="Malgun Gothic"/>
              </a:rPr>
              <a:t>    –  변환 대상이 리터럴이면 값 하나만 한 번 바꾸면 끝난다</a:t>
            </a:r>
          </a:p>
          <a:p>
            <a:r>
              <a:rPr sz="1600" b="0">
                <a:solidFill>
                  <a:srgbClr val="5A6672"/>
                </a:solidFill>
                <a:latin typeface="Malgun Gothic"/>
              </a:rPr>
              <a:t>    –  변환 대상이 컬럼이면 모든 행의 값을 하나씩 바꿔야 하고 인덱스도 무력화된다</a:t>
            </a:r>
          </a:p>
          <a:p>
            <a:r>
              <a:rPr sz="1800" b="0">
                <a:solidFill>
                  <a:srgbClr val="202830"/>
                </a:solidFill>
                <a:latin typeface="Malgun Gothic"/>
              </a:rPr>
              <a:t>•  즉 리터럴에 작은따옴표를 빼먹었을 뿐인데 인덱스를 못 타게 만들 수 있다</a:t>
            </a:r>
          </a:p>
        </p:txBody>
      </p:sp>
    </p:spTree>
    <p:extLst>
      <p:ext uri="{BB962C8B-B14F-4D97-AF65-F5344CB8AC3E}">
        <p14:creationId xmlns:p14="http://schemas.microsoft.com/office/powerpoint/2010/main" val="1015239120"/>
      </p:ext>
    </p:extLst>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컬럼이 변환되면 벌어지는 일</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조건절이 사실상 다음과 같이 바뀐 상태로 처리된다</a:t>
            </a:r>
          </a:p>
          <a:p>
            <a:r>
              <a:rPr sz="1600" b="0">
                <a:solidFill>
                  <a:srgbClr val="5A6672"/>
                </a:solidFill>
                <a:latin typeface="Malgun Gothic"/>
              </a:rPr>
              <a:t>    –  WHERE birth_date &lt;= 19901231  →  WHERE TO_NUMBER(birth_date) &lt;= 19901231</a:t>
            </a:r>
          </a:p>
          <a:p>
            <a:r>
              <a:rPr sz="1600" b="0">
                <a:solidFill>
                  <a:srgbClr val="5A6672"/>
                </a:solidFill>
                <a:latin typeface="Malgun Gothic"/>
              </a:rPr>
              <a:t>    –  개발자가 쓴 SQL 텍스트에는 TO_NUMBER가 어디에도 없다</a:t>
            </a:r>
          </a:p>
          <a:p>
            <a:r>
              <a:rPr sz="1800" b="0">
                <a:solidFill>
                  <a:srgbClr val="202830"/>
                </a:solidFill>
                <a:latin typeface="Malgun Gothic"/>
              </a:rPr>
              <a:t>•  결과적으로 명시적 함수 사용과 동일한 상황이 된다</a:t>
            </a:r>
          </a:p>
          <a:p>
            <a:r>
              <a:rPr sz="1600" b="0">
                <a:solidFill>
                  <a:srgbClr val="5A6672"/>
                </a:solidFill>
                <a:latin typeface="Malgun Gothic"/>
              </a:rPr>
              <a:t>    –  인덱스는 원본 문자열 순서로 정렬돼 있는데 비교는 숫자 값으로 이뤄진다</a:t>
            </a:r>
          </a:p>
          <a:p>
            <a:r>
              <a:rPr sz="1600" b="0">
                <a:solidFill>
                  <a:srgbClr val="5A6672"/>
                </a:solidFill>
                <a:latin typeface="Malgun Gothic"/>
              </a:rPr>
              <a:t>    –  옵티마이저는 그 인덱스로 찾아갈 수 없다고 판단하고 후보에서 제외한다</a:t>
            </a:r>
          </a:p>
          <a:p>
            <a:r>
              <a:rPr sz="1800" b="0">
                <a:solidFill>
                  <a:srgbClr val="202830"/>
                </a:solidFill>
                <a:latin typeface="Malgun Gothic"/>
              </a:rPr>
              <a:t>•  추가로 따라오는 위험 — 정확성 문제</a:t>
            </a:r>
          </a:p>
          <a:p>
            <a:r>
              <a:rPr sz="1600" b="0">
                <a:solidFill>
                  <a:srgbClr val="5A6672"/>
                </a:solidFill>
                <a:latin typeface="Malgun Gothic"/>
              </a:rPr>
              <a:t>    –  숫자로 바꿀 수 없는 값이 한 건이라도 섞이면 변환 자체가 실패할 수 있다</a:t>
            </a:r>
          </a:p>
          <a:p>
            <a:r>
              <a:rPr sz="1600" b="0">
                <a:solidFill>
                  <a:srgbClr val="5A6672"/>
                </a:solidFill>
                <a:latin typeface="Malgun Gothic"/>
              </a:rPr>
              <a:t>    –  평소 잘 돌던 SQL이 데이터가 하나 들어온 순간 오류를 내는 형태로 나타난다</a:t>
            </a:r>
          </a:p>
          <a:p>
            <a:r>
              <a:rPr sz="1800" b="0">
                <a:solidFill>
                  <a:srgbClr val="202830"/>
                </a:solidFill>
                <a:latin typeface="Malgun Gothic"/>
              </a:rPr>
              <a:t>•  성능 문제로만 보이지만 잠재적으로는 안정성 문제이기도 하다</a:t>
            </a:r>
          </a:p>
        </p:txBody>
      </p:sp>
    </p:spTree>
    <p:extLst>
      <p:ext uri="{BB962C8B-B14F-4D97-AF65-F5344CB8AC3E}">
        <p14:creationId xmlns:p14="http://schemas.microsoft.com/office/powerpoint/2010/main" val="1090926969"/>
      </p:ext>
    </p:extLst>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Predicate Information으로 진단하기</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묵시적 형변환은 SQL 텍스트로는 보이지 않는다 — 실행계획으로 진단한다</a:t>
            </a:r>
          </a:p>
          <a:p>
            <a:r>
              <a:rPr sz="1600" b="0">
                <a:solidFill>
                  <a:srgbClr val="5A6672"/>
                </a:solidFill>
                <a:latin typeface="Malgun Gothic"/>
              </a:rPr>
              <a:t>    –  실행계획 아래쪽의 Predicate Information 영역을 본다</a:t>
            </a:r>
          </a:p>
          <a:p>
            <a:r>
              <a:rPr sz="1600" b="0">
                <a:solidFill>
                  <a:srgbClr val="5A6672"/>
                </a:solidFill>
                <a:latin typeface="Malgun Gothic"/>
              </a:rPr>
              <a:t>    –  조건이 옵티마이저에게 어떤 형태로 전달됐는지가 그대로 적혀 있다</a:t>
            </a:r>
          </a:p>
          <a:p>
            <a:r>
              <a:rPr sz="1800" b="0">
                <a:solidFill>
                  <a:srgbClr val="202830"/>
                </a:solidFill>
                <a:latin typeface="Malgun Gothic"/>
              </a:rPr>
              <a:t>•  판정 방법은 단순하다 — 컬럼 이름이 함수에 감싸여 있는지 본다</a:t>
            </a:r>
          </a:p>
          <a:p>
            <a:r>
              <a:rPr sz="1600" b="0">
                <a:solidFill>
                  <a:srgbClr val="5A6672"/>
                </a:solidFill>
                <a:latin typeface="Malgun Gothic"/>
              </a:rPr>
              <a:t>    –  filter("BIRTH_DATE"&lt;='19901231') — 컬럼이 원본 그대로다</a:t>
            </a:r>
          </a:p>
          <a:p>
            <a:r>
              <a:rPr sz="1600" b="0">
                <a:solidFill>
                  <a:srgbClr val="5A6672"/>
                </a:solidFill>
                <a:latin typeface="Malgun Gothic"/>
              </a:rPr>
              <a:t>    –  filter(TO_NUMBER("BIRTH_DATE")&lt;=19901231) — 컬럼이 감싸여 있다</a:t>
            </a:r>
          </a:p>
          <a:p>
            <a:r>
              <a:rPr sz="1800" b="0">
                <a:solidFill>
                  <a:srgbClr val="202830"/>
                </a:solidFill>
                <a:latin typeface="Malgun Gothic"/>
              </a:rPr>
              <a:t>•  access와 filter의 구분도 함께 읽는다</a:t>
            </a:r>
          </a:p>
          <a:p>
            <a:r>
              <a:rPr sz="1600" b="0">
                <a:solidFill>
                  <a:srgbClr val="5A6672"/>
                </a:solidFill>
                <a:latin typeface="Malgun Gothic"/>
              </a:rPr>
              <a:t>    –  access는 인덱스에서 그 조건으로 찾아간 것을 뜻한다</a:t>
            </a:r>
          </a:p>
          <a:p>
            <a:r>
              <a:rPr sz="1600" b="0">
                <a:solidFill>
                  <a:srgbClr val="5A6672"/>
                </a:solidFill>
                <a:latin typeface="Malgun Gothic"/>
              </a:rPr>
              <a:t>    –  filter는 읽어 온 행을 그 조건으로 걸러낸 것을 뜻한다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실행계획은 DBMS_XPLAN.DISPLAY_CURSOR에 ALLSTATS LAST 포맷을 주면 Predicate Information까지 함께 출력된다.</a:t>
            </a:r>
          </a:p>
        </p:txBody>
      </p:sp>
    </p:spTree>
    <p:extLst>
      <p:ext uri="{BB962C8B-B14F-4D97-AF65-F5344CB8AC3E}">
        <p14:creationId xmlns:p14="http://schemas.microsoft.com/office/powerpoint/2010/main" val="246062471"/>
      </p:ext>
    </p:extLst>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107996"/>
          </a:xfrm>
          <a:prstGeom prst="rect">
            <a:avLst/>
          </a:prstGeom>
          <a:noFill/>
        </p:spPr>
        <p:txBody>
          <a:bodyPr wrap="square">
            <a:spAutoFit/>
          </a:bodyPr>
          <a:lstStyle/>
          <a:p>
            <a:r>
              <a:rPr lang="en-US" sz="6600" b="1" dirty="0">
                <a:solidFill>
                  <a:srgbClr val="C0392B"/>
                </a:solidFill>
                <a:latin typeface="Malgun Gothic"/>
              </a:rPr>
              <a:t>7</a:t>
            </a:r>
            <a:r>
              <a:rPr sz="6600" b="1" dirty="0">
                <a:solidFill>
                  <a:srgbClr val="C0392B"/>
                </a:solidFill>
                <a:latin typeface="Malgun Gothic"/>
              </a:rPr>
              <a:t>.4</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BIRTH_DATE 세 가지 조건절 비교</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실측 소재 — PATIENTS.BIRTH_DATE</a:t>
            </a:r>
          </a:p>
          <a:p>
            <a:r>
              <a:rPr sz="1600" b="0">
                <a:solidFill>
                  <a:srgbClr val="C5CED6"/>
                </a:solidFill>
                <a:latin typeface="Malgun Gothic"/>
              </a:rPr>
              <a:t>•  Q1 vs Q2 — 작은따옴표 하나의 차이</a:t>
            </a:r>
          </a:p>
          <a:p>
            <a:r>
              <a:rPr sz="1600" b="0">
                <a:solidFill>
                  <a:srgbClr val="C5CED6"/>
                </a:solidFill>
                <a:latin typeface="Malgun Gothic"/>
              </a:rPr>
              <a:t>•  Q3 — 명시적 함수로 컬럼 가공</a:t>
            </a:r>
          </a:p>
        </p:txBody>
      </p:sp>
    </p:spTree>
    <p:extLst>
      <p:ext uri="{BB962C8B-B14F-4D97-AF65-F5344CB8AC3E}">
        <p14:creationId xmlns:p14="http://schemas.microsoft.com/office/powerpoint/2010/main" val="326765508"/>
      </p:ext>
    </p:extLst>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실측 소재 — PATIENTS.BIRTH_DATE</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BIRTH_DATE는 VARCHAR2 타입이며 YYYYMMDD 형식 문자열을 담는다</a:t>
            </a:r>
          </a:p>
          <a:p>
            <a:r>
              <a:rPr sz="1600" b="0">
                <a:solidFill>
                  <a:srgbClr val="5A6672"/>
                </a:solidFill>
                <a:latin typeface="Malgun Gothic"/>
              </a:rPr>
              <a:t>    –  예: '19901231' — 여덟 자리 문자열</a:t>
            </a:r>
          </a:p>
          <a:p>
            <a:r>
              <a:rPr sz="1600" b="0">
                <a:solidFill>
                  <a:srgbClr val="5A6672"/>
                </a:solidFill>
                <a:latin typeface="Malgun Gothic"/>
              </a:rPr>
              <a:t>    –  DATE 타입이 아니라 문자열이라는 점이 이번 실험의 출발점이다</a:t>
            </a:r>
          </a:p>
          <a:p>
            <a:r>
              <a:rPr sz="1800" b="0">
                <a:solidFill>
                  <a:srgbClr val="202830"/>
                </a:solidFill>
                <a:latin typeface="Malgun Gothic"/>
              </a:rPr>
              <a:t>•  왜 이런 설계를 하는가</a:t>
            </a:r>
          </a:p>
          <a:p>
            <a:r>
              <a:rPr sz="1600" b="0">
                <a:solidFill>
                  <a:srgbClr val="5A6672"/>
                </a:solidFill>
                <a:latin typeface="Malgun Gothic"/>
              </a:rPr>
              <a:t>    –  YYYYMMDD 문자열은 사전식 정렬 순서가 실제 날짜 순서와 일치한다</a:t>
            </a:r>
          </a:p>
          <a:p>
            <a:r>
              <a:rPr sz="1600" b="0">
                <a:solidFill>
                  <a:srgbClr val="5A6672"/>
                </a:solidFill>
                <a:latin typeface="Malgun Gothic"/>
              </a:rPr>
              <a:t>    –  그래서 문자열 범위 비교가 날짜 범위 비교와 같은 결과를 낸다</a:t>
            </a:r>
          </a:p>
          <a:p>
            <a:r>
              <a:rPr sz="1600" b="0">
                <a:solidFill>
                  <a:srgbClr val="5A6672"/>
                </a:solidFill>
                <a:latin typeface="Malgun Gothic"/>
              </a:rPr>
              <a:t>    –  이 성질 덕분에 함수 없이도 기간 조건을 SARGable하게 쓸 수 있다</a:t>
            </a:r>
          </a:p>
          <a:p>
            <a:r>
              <a:rPr sz="1800" b="0">
                <a:solidFill>
                  <a:srgbClr val="202830"/>
                </a:solidFill>
                <a:latin typeface="Malgun Gothic"/>
              </a:rPr>
              <a:t>•  이 컬럼에 인덱스를 만들고 세 가지 조건절로 같은 의도를 표현해 본다</a:t>
            </a:r>
          </a:p>
          <a:p>
            <a:r>
              <a:rPr sz="1600" b="0">
                <a:solidFill>
                  <a:srgbClr val="5A6672"/>
                </a:solidFill>
                <a:latin typeface="Malgun Gothic"/>
              </a:rPr>
              <a:t>    –  Q1 — 문자열 리터럴 그대로 비교</a:t>
            </a:r>
          </a:p>
          <a:p>
            <a:r>
              <a:rPr sz="1600" b="0">
                <a:solidFill>
                  <a:srgbClr val="5A6672"/>
                </a:solidFill>
                <a:latin typeface="Malgun Gothic"/>
              </a:rPr>
              <a:t>    –  Q2 — 따옴표를 뺀 숫자 리터럴과 비교</a:t>
            </a:r>
          </a:p>
          <a:p>
            <a:r>
              <a:rPr sz="1600" b="0">
                <a:solidFill>
                  <a:srgbClr val="5A6672"/>
                </a:solidFill>
                <a:latin typeface="Malgun Gothic"/>
              </a:rPr>
              <a:t>    –  Q3 — SUBSTR과 TO_NUMBER로 컬럼을 직접 가공</a:t>
            </a:r>
          </a:p>
        </p:txBody>
      </p:sp>
    </p:spTree>
    <p:extLst>
      <p:ext uri="{BB962C8B-B14F-4D97-AF65-F5344CB8AC3E}">
        <p14:creationId xmlns:p14="http://schemas.microsoft.com/office/powerpoint/2010/main" val="779883983"/>
      </p:ext>
    </p:extLst>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Q1 vs Q2 — 작은따옴표 하나의 차이</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6.4절 Example — 같은 의도, 리터럴 표기만 다른 두 조건절</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실습용 인덱스 생성 (차시 종료 시 DROP INDEX로 정리)</a:t>
            </a:r>
          </a:p>
          <a:p>
            <a:r>
              <a:rPr sz="1250" b="0">
                <a:solidFill>
                  <a:srgbClr val="E6E6E6"/>
                </a:solidFill>
                <a:latin typeface="Consolas"/>
              </a:rPr>
              <a:t>CREATE INDEX ix_birth ON patients(birth_date);</a:t>
            </a:r>
          </a:p>
          <a:p>
            <a:r>
              <a:rPr sz="1250" b="0">
                <a:solidFill>
                  <a:srgbClr val="E6E6E6"/>
                </a:solidFill>
                <a:latin typeface="Consolas"/>
              </a:rPr>
              <a:t> </a:t>
            </a:r>
          </a:p>
          <a:p>
            <a:r>
              <a:rPr sz="1250" b="0">
                <a:solidFill>
                  <a:srgbClr val="7EC699"/>
                </a:solidFill>
                <a:latin typeface="Consolas"/>
              </a:rPr>
              <a:t>-- Q1. SARGable : 문자열 리터럴 그대로 비교  (BIRTH_DATE는 VARCHAR2)</a:t>
            </a:r>
          </a:p>
          <a:p>
            <a:r>
              <a:rPr sz="1250" b="0">
                <a:solidFill>
                  <a:srgbClr val="E6E6E6"/>
                </a:solidFill>
                <a:latin typeface="Consolas"/>
              </a:rPr>
              <a:t>SELECT COUNT(*) FROM patients WHERE birth_date &lt;= '19901231';</a:t>
            </a:r>
          </a:p>
          <a:p>
            <a:r>
              <a:rPr sz="1250" b="0">
                <a:solidFill>
                  <a:srgbClr val="E6E6E6"/>
                </a:solidFill>
                <a:latin typeface="Consolas"/>
              </a:rPr>
              <a:t> </a:t>
            </a:r>
          </a:p>
          <a:p>
            <a:r>
              <a:rPr sz="1250" b="0">
                <a:solidFill>
                  <a:srgbClr val="7EC699"/>
                </a:solidFill>
                <a:latin typeface="Consolas"/>
              </a:rPr>
              <a:t>-- Q2. 묵시적 형변환 : 따옴표 없는 숫자 리터럴과 비교</a:t>
            </a:r>
          </a:p>
          <a:p>
            <a:r>
              <a:rPr sz="1250" b="0">
                <a:solidFill>
                  <a:srgbClr val="E6E6E6"/>
                </a:solidFill>
                <a:latin typeface="Consolas"/>
              </a:rPr>
              <a:t>SELECT COUNT(*) FROM patients WHERE birth_date &lt;= 19901231;</a:t>
            </a:r>
          </a:p>
          <a:p>
            <a:r>
              <a:rPr sz="1250" b="0">
                <a:solidFill>
                  <a:srgbClr val="E6E6E6"/>
                </a:solidFill>
                <a:latin typeface="Consolas"/>
              </a:rPr>
              <a:t> </a:t>
            </a:r>
          </a:p>
          <a:p>
            <a:r>
              <a:rPr sz="1250" b="0">
                <a:solidFill>
                  <a:srgbClr val="7EC699"/>
                </a:solidFill>
                <a:latin typeface="Consolas"/>
              </a:rPr>
              <a:t>-- 두 SQL의 문자상 차이는 작은따옴표 두 개뿐이다</a:t>
            </a:r>
          </a:p>
          <a:p>
            <a:r>
              <a:rPr sz="1250" b="0">
                <a:solidFill>
                  <a:srgbClr val="7EC699"/>
                </a:solidFill>
                <a:latin typeface="Consolas"/>
              </a:rPr>
              <a:t>-- 결과 건수도 둘 다 37,425건으로 완전히 같다</a:t>
            </a:r>
          </a:p>
          <a:p>
            <a:r>
              <a:rPr sz="1250" b="0">
                <a:solidFill>
                  <a:srgbClr val="7EC699"/>
                </a:solidFill>
                <a:latin typeface="Consolas"/>
              </a:rPr>
              <a:t>-- 그런데 실행계획은 서로 다르다  -&gt; 6.5절에서 확인</a:t>
            </a:r>
          </a:p>
        </p:txBody>
      </p:sp>
    </p:spTree>
    <p:extLst>
      <p:ext uri="{BB962C8B-B14F-4D97-AF65-F5344CB8AC3E}">
        <p14:creationId xmlns:p14="http://schemas.microsoft.com/office/powerpoint/2010/main" val="3149526660"/>
      </p:ext>
    </p:extLst>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Q3 — 명시적 함수로 컬럼 가공</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6.4절 Example — 개발자가 직접 함수를 씌운 경우</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Q3. 명시적 함수 : 컬럼을 직접 가공</a:t>
            </a:r>
          </a:p>
          <a:p>
            <a:r>
              <a:rPr sz="1250" b="0">
                <a:solidFill>
                  <a:srgbClr val="E6E6E6"/>
                </a:solidFill>
                <a:latin typeface="Consolas"/>
              </a:rPr>
              <a:t>SELECT COUNT(*) FROM patients</a:t>
            </a:r>
          </a:p>
          <a:p>
            <a:r>
              <a:rPr sz="1250" b="0">
                <a:solidFill>
                  <a:srgbClr val="E6E6E6"/>
                </a:solidFill>
                <a:latin typeface="Consolas"/>
              </a:rPr>
              <a:t>WHERE TO_NUMBER(SUBSTR(birth_date,1,4)) &lt;= 1990;</a:t>
            </a:r>
          </a:p>
          <a:p>
            <a:r>
              <a:rPr sz="1250" b="0">
                <a:solidFill>
                  <a:srgbClr val="E6E6E6"/>
                </a:solidFill>
                <a:latin typeface="Consolas"/>
              </a:rPr>
              <a:t> </a:t>
            </a:r>
          </a:p>
          <a:p>
            <a:r>
              <a:rPr sz="1250" b="0">
                <a:solidFill>
                  <a:srgbClr val="7EC699"/>
                </a:solidFill>
                <a:latin typeface="Consolas"/>
              </a:rPr>
              <a:t>-- SUBSTR로 앞 네 자리를 잘라내고 TO_NUMBER로 숫자로 바꾼 뒤 비교한다</a:t>
            </a:r>
          </a:p>
          <a:p>
            <a:r>
              <a:rPr sz="1250" b="0">
                <a:solidFill>
                  <a:srgbClr val="7EC699"/>
                </a:solidFill>
                <a:latin typeface="Consolas"/>
              </a:rPr>
              <a:t>-- 개발자가 함수를 직접 썼으므로 컬럼 가공이 눈에 보인다</a:t>
            </a:r>
          </a:p>
          <a:p>
            <a:r>
              <a:rPr sz="1250" b="0">
                <a:solidFill>
                  <a:srgbClr val="E6E6E6"/>
                </a:solidFill>
                <a:latin typeface="Consolas"/>
              </a:rPr>
              <a:t> </a:t>
            </a:r>
          </a:p>
          <a:p>
            <a:r>
              <a:rPr sz="1250" b="0">
                <a:solidFill>
                  <a:srgbClr val="7EC699"/>
                </a:solidFill>
                <a:latin typeface="Consolas"/>
              </a:rPr>
              <a:t>-- Q2와 Q3의 공통점 — 조건절에 birth_date가 원본 그대로 있지 않다</a:t>
            </a:r>
          </a:p>
          <a:p>
            <a:r>
              <a:rPr sz="1250" b="0">
                <a:solidFill>
                  <a:srgbClr val="7EC699"/>
                </a:solidFill>
                <a:latin typeface="Consolas"/>
              </a:rPr>
              <a:t>--   Q2 : TO_NUMBER("BIRTH_DATE")                &lt;- Oracle이 자동으로 씌움</a:t>
            </a:r>
          </a:p>
          <a:p>
            <a:r>
              <a:rPr sz="1250" b="0">
                <a:solidFill>
                  <a:srgbClr val="7EC699"/>
                </a:solidFill>
                <a:latin typeface="Consolas"/>
              </a:rPr>
              <a:t>--   Q3 : TO_NUMBER(SUBSTR("BIRTH_DATE",1,4))    &lt;- 개발자가 직접 씌움</a:t>
            </a:r>
          </a:p>
          <a:p>
            <a:r>
              <a:rPr sz="1250" b="0">
                <a:solidFill>
                  <a:srgbClr val="E6E6E6"/>
                </a:solidFill>
                <a:latin typeface="Consolas"/>
              </a:rPr>
              <a:t> </a:t>
            </a:r>
          </a:p>
          <a:p>
            <a:r>
              <a:rPr sz="1250" b="0">
                <a:solidFill>
                  <a:srgbClr val="7EC699"/>
                </a:solidFill>
                <a:latin typeface="Consolas"/>
              </a:rPr>
              <a:t>-- 옵티마이저는 이 둘을 구분하지 않는다  -&gt; 6.5절에서 확인</a:t>
            </a:r>
          </a:p>
        </p:txBody>
      </p:sp>
    </p:spTree>
    <p:extLst>
      <p:ext uri="{BB962C8B-B14F-4D97-AF65-F5344CB8AC3E}">
        <p14:creationId xmlns:p14="http://schemas.microsoft.com/office/powerpoint/2010/main" val="3306978209"/>
      </p:ext>
    </p:extLst>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107996"/>
          </a:xfrm>
          <a:prstGeom prst="rect">
            <a:avLst/>
          </a:prstGeom>
          <a:noFill/>
        </p:spPr>
        <p:txBody>
          <a:bodyPr wrap="square">
            <a:spAutoFit/>
          </a:bodyPr>
          <a:lstStyle/>
          <a:p>
            <a:r>
              <a:rPr lang="en-US" sz="6600" b="1" dirty="0">
                <a:solidFill>
                  <a:srgbClr val="C0392B"/>
                </a:solidFill>
                <a:latin typeface="Malgun Gothic"/>
              </a:rPr>
              <a:t>7</a:t>
            </a:r>
            <a:r>
              <a:rPr sz="6600" b="1" dirty="0">
                <a:solidFill>
                  <a:srgbClr val="C0392B"/>
                </a:solidFill>
                <a:latin typeface="Malgun Gothic"/>
              </a:rPr>
              <a:t>.5</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실행계획 — 세 조건절 실측 비교</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세 쿼리의 실행계획 실측</a:t>
            </a:r>
          </a:p>
          <a:p>
            <a:r>
              <a:rPr sz="1600" b="0">
                <a:solidFill>
                  <a:srgbClr val="C5CED6"/>
                </a:solidFill>
                <a:latin typeface="Malgun Gothic"/>
              </a:rPr>
              <a:t>•  Q1은 왜 인덱스를 탔는가</a:t>
            </a:r>
          </a:p>
          <a:p>
            <a:r>
              <a:rPr sz="1600" b="0">
                <a:solidFill>
                  <a:srgbClr val="C5CED6"/>
                </a:solidFill>
                <a:latin typeface="Malgun Gothic"/>
              </a:rPr>
              <a:t>•  Q2와 Q3의 계획이 같은 이유</a:t>
            </a:r>
          </a:p>
        </p:txBody>
      </p:sp>
    </p:spTree>
    <p:extLst>
      <p:ext uri="{BB962C8B-B14F-4D97-AF65-F5344CB8AC3E}">
        <p14:creationId xmlns:p14="http://schemas.microsoft.com/office/powerpoint/2010/main" val="1819100428"/>
      </p:ext>
    </p:extLst>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세 조건절의 실행계획 실측</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6.5절 Execution Plan — 같은 컬럼, 같은 인덱스, 조건절 표기만 다름</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a:t>
            </a:r>
          </a:p>
          <a:p>
            <a:r>
              <a:rPr sz="1250" b="0">
                <a:solidFill>
                  <a:srgbClr val="E6E6E6"/>
                </a:solidFill>
                <a:latin typeface="Consolas"/>
              </a:rPr>
              <a:t>| 쿼리                       | Operation             | Buffers |</a:t>
            </a:r>
          </a:p>
          <a:p>
            <a:r>
              <a:rPr sz="1250" b="0">
                <a:solidFill>
                  <a:srgbClr val="E6E6E6"/>
                </a:solidFill>
                <a:latin typeface="Consolas"/>
              </a:rPr>
              <a:t>+----------------------------+-----------------------+---------+</a:t>
            </a:r>
          </a:p>
          <a:p>
            <a:r>
              <a:rPr sz="1250" b="0">
                <a:solidFill>
                  <a:srgbClr val="E6E6E6"/>
                </a:solidFill>
                <a:latin typeface="Consolas"/>
              </a:rPr>
              <a:t>| Q1 (문자열 리터럴)         | INDEX FAST FULL SCAN  |     148 |</a:t>
            </a:r>
          </a:p>
          <a:p>
            <a:r>
              <a:rPr sz="1250" b="0">
                <a:solidFill>
                  <a:srgbClr val="E6E6E6"/>
                </a:solidFill>
                <a:latin typeface="Consolas"/>
              </a:rPr>
              <a:t>| Q2 (숫자 리터럴, 형변환)   | TABLE ACCESS FULL     |     442 |</a:t>
            </a:r>
          </a:p>
          <a:p>
            <a:r>
              <a:rPr sz="1250" b="0">
                <a:solidFill>
                  <a:srgbClr val="E6E6E6"/>
                </a:solidFill>
                <a:latin typeface="Consolas"/>
              </a:rPr>
              <a:t>| Q3 (명시적 함수)           | TABLE ACCESS FULL     |     442 |</a:t>
            </a:r>
          </a:p>
          <a:p>
            <a:r>
              <a:rPr sz="1250" b="0">
                <a:solidFill>
                  <a:srgbClr val="E6E6E6"/>
                </a:solidFill>
                <a:latin typeface="Consolas"/>
              </a:rPr>
              <a:t>+----------------------------+-----------------------+---------+</a:t>
            </a:r>
          </a:p>
          <a:p>
            <a:r>
              <a:rPr sz="1250" b="0">
                <a:solidFill>
                  <a:srgbClr val="E6E6E6"/>
                </a:solidFill>
                <a:latin typeface="Consolas"/>
              </a:rPr>
              <a:t> </a:t>
            </a:r>
          </a:p>
          <a:p>
            <a:r>
              <a:rPr sz="1250" b="0">
                <a:solidFill>
                  <a:srgbClr val="7EC699"/>
                </a:solidFill>
                <a:latin typeface="Consolas"/>
              </a:rPr>
              <a:t>-- Predicate Information</a:t>
            </a:r>
          </a:p>
          <a:p>
            <a:r>
              <a:rPr sz="1250" b="0">
                <a:solidFill>
                  <a:srgbClr val="7EC699"/>
                </a:solidFill>
                <a:latin typeface="Consolas"/>
              </a:rPr>
              <a:t>--   Q1 : filter("BIRTH_DATE"&lt;='19901231')</a:t>
            </a:r>
          </a:p>
          <a:p>
            <a:r>
              <a:rPr sz="1250" b="0">
                <a:solidFill>
                  <a:srgbClr val="7EC699"/>
                </a:solidFill>
                <a:latin typeface="Consolas"/>
              </a:rPr>
              <a:t>--   Q2 : filter(TO_NUMBER("BIRTH_DATE")&lt;=19901231)</a:t>
            </a:r>
          </a:p>
          <a:p>
            <a:r>
              <a:rPr sz="1250" b="0">
                <a:solidFill>
                  <a:srgbClr val="7EC699"/>
                </a:solidFill>
                <a:latin typeface="Consolas"/>
              </a:rPr>
              <a:t>--   Q3 : filter(TO_NUMBER(SUBSTR("BIRTH_DATE",1,4))&lt;=1990)</a:t>
            </a:r>
          </a:p>
          <a:p>
            <a:r>
              <a:rPr sz="1250" b="0">
                <a:solidFill>
                  <a:srgbClr val="E6E6E6"/>
                </a:solidFill>
                <a:latin typeface="Consolas"/>
              </a:rPr>
              <a:t> </a:t>
            </a:r>
          </a:p>
          <a:p>
            <a:r>
              <a:rPr sz="1250" b="0">
                <a:solidFill>
                  <a:srgbClr val="7EC699"/>
                </a:solidFill>
                <a:latin typeface="Consolas"/>
              </a:rPr>
              <a:t>-- Q2와 Q3은 Plan hash value까지 완전히 동일했다</a:t>
            </a:r>
          </a:p>
        </p:txBody>
      </p:sp>
    </p:spTree>
    <p:extLst>
      <p:ext uri="{BB962C8B-B14F-4D97-AF65-F5344CB8AC3E}">
        <p14:creationId xmlns:p14="http://schemas.microsoft.com/office/powerpoint/2010/main" val="1111827551"/>
      </p:ext>
    </p:extLst>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Q1은 왜 인덱스를 탔는가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Q1의 Predicate Information — filter("BIRTH_DATE"&lt;='19901231')</a:t>
            </a:r>
          </a:p>
          <a:p>
            <a:r>
              <a:rPr sz="1600" b="0">
                <a:solidFill>
                  <a:srgbClr val="5A6672"/>
                </a:solidFill>
                <a:latin typeface="Malgun Gothic"/>
              </a:rPr>
              <a:t>    –  컬럼이 가공되지 않은 원본 그대로 조건에 나타난다</a:t>
            </a:r>
          </a:p>
          <a:p>
            <a:r>
              <a:rPr sz="1600" b="0">
                <a:solidFill>
                  <a:srgbClr val="5A6672"/>
                </a:solidFill>
                <a:latin typeface="Malgun Gothic"/>
              </a:rPr>
              <a:t>    –  BIRTH_DATE는 VARCHAR2이고 리터럴도 문자열이라 타입이 일치한다</a:t>
            </a:r>
          </a:p>
          <a:p>
            <a:r>
              <a:rPr sz="1600" b="0">
                <a:solidFill>
                  <a:srgbClr val="5A6672"/>
                </a:solidFill>
                <a:latin typeface="Malgun Gothic"/>
              </a:rPr>
              <a:t>    –  타입이 맞으므로 묵시적 형변환이 일어날 이유가 없다</a:t>
            </a:r>
          </a:p>
          <a:p>
            <a:r>
              <a:rPr sz="1800" b="0">
                <a:solidFill>
                  <a:srgbClr val="202830"/>
                </a:solidFill>
                <a:latin typeface="Malgun Gothic"/>
              </a:rPr>
              <a:t>•  그 결과 옵티마이저는 인덱스를 접근 경로 후보로 쓸 수 있었다</a:t>
            </a:r>
          </a:p>
          <a:p>
            <a:r>
              <a:rPr sz="1600" b="0">
                <a:solidFill>
                  <a:srgbClr val="5A6672"/>
                </a:solidFill>
                <a:latin typeface="Malgun Gothic"/>
              </a:rPr>
              <a:t>    –  실측 결과는 INDEX FAST FULL SCAN, Buffers 148</a:t>
            </a:r>
          </a:p>
          <a:p>
            <a:r>
              <a:rPr sz="1600" b="0">
                <a:solidFill>
                  <a:srgbClr val="5A6672"/>
                </a:solidFill>
                <a:latin typeface="Malgun Gothic"/>
              </a:rPr>
              <a:t>    –  조건 자체의 선택도가 낮아 인덱스를 통째로 읽는 방식이 선택됐다</a:t>
            </a:r>
          </a:p>
          <a:p>
            <a:r>
              <a:rPr sz="1800" b="0">
                <a:solidFill>
                  <a:srgbClr val="202830"/>
                </a:solidFill>
                <a:latin typeface="Malgun Gothic"/>
              </a:rPr>
              <a:t>•  그래도 테이블 전체를 읽는 것보다는 적게 읽는다</a:t>
            </a:r>
          </a:p>
          <a:p>
            <a:r>
              <a:rPr sz="1600" b="0">
                <a:solidFill>
                  <a:srgbClr val="5A6672"/>
                </a:solidFill>
                <a:latin typeface="Malgun Gothic"/>
              </a:rPr>
              <a:t>    –  인덱스에는 대상 컬럼과 ROWID만 들어 있어 블록당 담기는 항목 수가 많다</a:t>
            </a:r>
          </a:p>
          <a:p>
            <a:r>
              <a:rPr sz="1600" b="0">
                <a:solidFill>
                  <a:srgbClr val="5A6672"/>
                </a:solidFill>
                <a:latin typeface="Malgun Gothic"/>
              </a:rPr>
              <a:t>    –  COUNT(*)에 필요한 값이 인덱스 안에 다 있으므로 테이블을 볼 필요가 없다</a:t>
            </a:r>
          </a:p>
        </p:txBody>
      </p:sp>
    </p:spTree>
    <p:extLst>
      <p:ext uri="{BB962C8B-B14F-4D97-AF65-F5344CB8AC3E}">
        <p14:creationId xmlns:p14="http://schemas.microsoft.com/office/powerpoint/2010/main" val="2206819888"/>
      </p:ext>
    </p:extLst>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Q2 해석 — TO_NUMBER는 누가 넣었는가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Q2의 Predicate Information — filter(TO_NUMBER("BIRTH_DATE")&lt;=19901231)</a:t>
            </a:r>
          </a:p>
          <a:p>
            <a:r>
              <a:rPr sz="1600" b="0">
                <a:solidFill>
                  <a:srgbClr val="5A6672"/>
                </a:solidFill>
                <a:latin typeface="Malgun Gothic"/>
              </a:rPr>
              <a:t>    –  개발자는 SQL 어디에도 TO_NUMBER를 쓰지 않았다</a:t>
            </a:r>
          </a:p>
          <a:p>
            <a:r>
              <a:rPr sz="1600" b="0">
                <a:solidFill>
                  <a:srgbClr val="5A6672"/>
                </a:solidFill>
                <a:latin typeface="Malgun Gothic"/>
              </a:rPr>
              <a:t>    –  그런데 실행계획에는 컬럼이 TO_NUMBER로 감싸인 형태로 나타난다</a:t>
            </a:r>
          </a:p>
          <a:p>
            <a:r>
              <a:rPr sz="1800" b="0">
                <a:solidFill>
                  <a:srgbClr val="202830"/>
                </a:solidFill>
                <a:latin typeface="Malgun Gothic"/>
              </a:rPr>
              <a:t>•  이것이 Oracle이 리터럴이 아니라 컬럼 쪽을 변환했다는 직접적인 증거다</a:t>
            </a:r>
          </a:p>
          <a:p>
            <a:r>
              <a:rPr sz="1600" b="0">
                <a:solidFill>
                  <a:srgbClr val="5A6672"/>
                </a:solidFill>
                <a:latin typeface="Malgun Gothic"/>
              </a:rPr>
              <a:t>    –  BIRTH_DATE는 VARCHAR2, 19901231은 따옴표가 없으므로 NUMBER 리터럴이다</a:t>
            </a:r>
          </a:p>
          <a:p>
            <a:r>
              <a:rPr sz="1600" b="0">
                <a:solidFill>
                  <a:srgbClr val="5A6672"/>
                </a:solidFill>
                <a:latin typeface="Malgun Gothic"/>
              </a:rPr>
              <a:t>    –  NUMBER가 우선순위가 높으므로 문자 쪽인 컬럼이 변환 대상이 됐다</a:t>
            </a:r>
          </a:p>
          <a:p>
            <a:r>
              <a:rPr sz="1800" b="0">
                <a:solidFill>
                  <a:srgbClr val="202830"/>
                </a:solidFill>
                <a:latin typeface="Malgun Gothic"/>
              </a:rPr>
              <a:t>•  변환된 순간 인덱스의 정렬 순서를 활용할 수 없게 됐다</a:t>
            </a:r>
          </a:p>
          <a:p>
            <a:r>
              <a:rPr sz="1600" b="0">
                <a:solidFill>
                  <a:srgbClr val="5A6672"/>
                </a:solidFill>
                <a:latin typeface="Malgun Gothic"/>
              </a:rPr>
              <a:t>    –  실측 결과는 TABLE ACCESS FULL, Buffers 442</a:t>
            </a:r>
          </a:p>
          <a:p>
            <a:r>
              <a:rPr sz="1600" b="0">
                <a:solidFill>
                  <a:srgbClr val="5A6672"/>
                </a:solidFill>
                <a:latin typeface="Malgun Gothic"/>
              </a:rPr>
              <a:t>    –  인덱스는 그대로 존재하지만 접근 경로로 선택되지 않았다</a:t>
            </a:r>
          </a:p>
          <a:p>
            <a:r>
              <a:rPr sz="1800" b="0">
                <a:solidFill>
                  <a:srgbClr val="202830"/>
                </a:solidFill>
                <a:latin typeface="Malgun Gothic"/>
              </a:rPr>
              <a:t>•  진단 절차의 결론 — Predicate Information에 컬럼이 감싸여 있으면 의심한다</a:t>
            </a:r>
          </a:p>
        </p:txBody>
      </p:sp>
    </p:spTree>
    <p:extLst>
      <p:ext uri="{BB962C8B-B14F-4D97-AF65-F5344CB8AC3E}">
        <p14:creationId xmlns:p14="http://schemas.microsoft.com/office/powerpoint/2010/main" val="2459465994"/>
      </p:ext>
    </p:extLst>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Q2와 Q3의 계획이 같은 이유</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두 쿼리의 실행계획은 Plan hash value까지 완전히 동일했다</a:t>
            </a:r>
          </a:p>
          <a:p>
            <a:r>
              <a:rPr sz="1600" b="0">
                <a:solidFill>
                  <a:srgbClr val="5A6672"/>
                </a:solidFill>
                <a:latin typeface="Malgun Gothic"/>
              </a:rPr>
              <a:t>    –  Q2는 개발자가 함수를 쓰지 않았고, Q3은 함수를 두 개나 썼다</a:t>
            </a:r>
          </a:p>
          <a:p>
            <a:r>
              <a:rPr sz="1600" b="0">
                <a:solidFill>
                  <a:srgbClr val="5A6672"/>
                </a:solidFill>
                <a:latin typeface="Malgun Gothic"/>
              </a:rPr>
              <a:t>    –  작성 방식이 전혀 다른데도 옵티마이저의 결론은 같았다</a:t>
            </a:r>
          </a:p>
          <a:p>
            <a:r>
              <a:rPr sz="1800" b="0">
                <a:solidFill>
                  <a:srgbClr val="202830"/>
                </a:solidFill>
                <a:latin typeface="Malgun Gothic"/>
              </a:rPr>
              <a:t>•  옵티마이저가 보는 것은 단 하나뿐이다</a:t>
            </a:r>
          </a:p>
          <a:p>
            <a:r>
              <a:rPr sz="1600" b="0">
                <a:solidFill>
                  <a:srgbClr val="5A6672"/>
                </a:solidFill>
                <a:latin typeface="Malgun Gothic"/>
              </a:rPr>
              <a:t>    –  누가 왜 이 함수를 넣었는가가 아니라 '인덱스 컬럼이 가공된 상태로 조건에 나타나는가'</a:t>
            </a:r>
          </a:p>
          <a:p>
            <a:r>
              <a:rPr sz="1600" b="0">
                <a:solidFill>
                  <a:srgbClr val="5A6672"/>
                </a:solidFill>
                <a:latin typeface="Malgun Gothic"/>
              </a:rPr>
              <a:t>    –  가공됐다면 원본 인덱스의 정렬 순서를 쓸 수 없다고 판단하고 동일하게 처리한다</a:t>
            </a:r>
          </a:p>
          <a:p>
            <a:r>
              <a:rPr sz="1800" b="0">
                <a:solidFill>
                  <a:srgbClr val="202830"/>
                </a:solidFill>
                <a:latin typeface="Malgun Gothic"/>
              </a:rPr>
              <a:t>•  여기서 나오는 실무적 결론</a:t>
            </a:r>
          </a:p>
          <a:p>
            <a:r>
              <a:rPr sz="1600" b="0">
                <a:solidFill>
                  <a:srgbClr val="5A6672"/>
                </a:solidFill>
                <a:latin typeface="Malgun Gothic"/>
              </a:rPr>
              <a:t>    –  실수로 생긴 문제와 의도적으로 만든 문제를 DB는 구분해 주지 않는다</a:t>
            </a:r>
          </a:p>
          <a:p>
            <a:r>
              <a:rPr sz="1600" b="0">
                <a:solidFill>
                  <a:srgbClr val="5A6672"/>
                </a:solidFill>
                <a:latin typeface="Malgun Gothic"/>
              </a:rPr>
              <a:t>    –  따라서 코드 리뷰 기준도 함수를 썼는가가 아니라 컬럼이 가공됐는가여야 한다</a:t>
            </a:r>
          </a:p>
          <a:p>
            <a:r>
              <a:rPr sz="1800" b="0">
                <a:solidFill>
                  <a:srgbClr val="202830"/>
                </a:solidFill>
                <a:latin typeface="Malgun Gothic"/>
              </a:rPr>
              <a:t>•  조건절을 읽을 때는 컬럼 이름이 괄호 안에 들어가 있는지부터 본다</a:t>
            </a:r>
          </a:p>
        </p:txBody>
      </p:sp>
    </p:spTree>
    <p:extLst>
      <p:ext uri="{BB962C8B-B14F-4D97-AF65-F5344CB8AC3E}">
        <p14:creationId xmlns:p14="http://schemas.microsoft.com/office/powerpoint/2010/main" val="2695252063"/>
      </p:ext>
    </p:extLst>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결과가 같으면 무시해도 되는가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Q1과 Q2의 결과 건수는 둘 다 37,425건으로 동일했다</a:t>
            </a:r>
          </a:p>
          <a:p>
            <a:r>
              <a:rPr sz="1600" b="0">
                <a:solidFill>
                  <a:srgbClr val="5A6672"/>
                </a:solidFill>
                <a:latin typeface="Malgun Gothic"/>
              </a:rPr>
              <a:t>    –  그래서 결과가 같으니 성능 차이는 무시해도 된다는 주장이 나올 수 있다</a:t>
            </a:r>
          </a:p>
          <a:p>
            <a:r>
              <a:rPr sz="1800" b="0">
                <a:solidFill>
                  <a:srgbClr val="202830"/>
                </a:solidFill>
                <a:latin typeface="Malgun Gothic"/>
              </a:rPr>
              <a:t>•  반박 1 — 지금 이미 차이가 나 있다</a:t>
            </a:r>
          </a:p>
          <a:p>
            <a:r>
              <a:rPr sz="1600" b="0">
                <a:solidFill>
                  <a:srgbClr val="5A6672"/>
                </a:solidFill>
                <a:latin typeface="Malgun Gothic"/>
              </a:rPr>
              <a:t>    –  Buffers 148과 442로 약 3배 차이가 이미 관측됐다</a:t>
            </a:r>
          </a:p>
          <a:p>
            <a:r>
              <a:rPr sz="1600" b="0">
                <a:solidFill>
                  <a:srgbClr val="5A6672"/>
                </a:solidFill>
                <a:latin typeface="Malgun Gothic"/>
              </a:rPr>
              <a:t>    –  PATIENTS는 5만 건짜리 비교적 작은 테이블이라 체감이 크지 않을 뿐이다</a:t>
            </a:r>
          </a:p>
          <a:p>
            <a:r>
              <a:rPr sz="1800" b="0">
                <a:solidFill>
                  <a:srgbClr val="202830"/>
                </a:solidFill>
                <a:latin typeface="Malgun Gothic"/>
              </a:rPr>
              <a:t>•  반박 2 — 데이터가 커지면 격차 자체가 벌어진다</a:t>
            </a:r>
          </a:p>
          <a:p>
            <a:r>
              <a:rPr sz="1600" b="0">
                <a:solidFill>
                  <a:srgbClr val="5A6672"/>
                </a:solidFill>
                <a:latin typeface="Malgun Gothic"/>
              </a:rPr>
              <a:t>    –  TABLE ACCESS FULL은 테이블 크기에 비례해 읽는 양이 계속 커진다</a:t>
            </a:r>
          </a:p>
          <a:p>
            <a:r>
              <a:rPr sz="1600" b="0">
                <a:solidFill>
                  <a:srgbClr val="5A6672"/>
                </a:solidFill>
                <a:latin typeface="Malgun Gothic"/>
              </a:rPr>
              <a:t>    –  INDEX FAST FULL SCAN이나 RANGE SCAN은 훨씬 완만하게 증가한다</a:t>
            </a:r>
          </a:p>
          <a:p>
            <a:r>
              <a:rPr sz="1600" b="0">
                <a:solidFill>
                  <a:srgbClr val="5A6672"/>
                </a:solidFill>
                <a:latin typeface="Malgun Gothic"/>
              </a:rPr>
              <a:t>    –  지금은 3배지만 데이터가 커질수록 그 배율 자체가 더 커질 수 있다</a:t>
            </a:r>
          </a:p>
          <a:p>
            <a:r>
              <a:rPr sz="1800" b="0">
                <a:solidFill>
                  <a:srgbClr val="202830"/>
                </a:solidFill>
                <a:latin typeface="Malgun Gothic"/>
              </a:rPr>
              <a:t>•  결론 — '무시해도 된다'는 판단은 현재 데이터 규모에서만 유효하다</a:t>
            </a:r>
          </a:p>
        </p:txBody>
      </p:sp>
    </p:spTree>
    <p:extLst>
      <p:ext uri="{BB962C8B-B14F-4D97-AF65-F5344CB8AC3E}">
        <p14:creationId xmlns:p14="http://schemas.microsoft.com/office/powerpoint/2010/main" val="4206481690"/>
      </p:ext>
    </p:extLst>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107996"/>
          </a:xfrm>
          <a:prstGeom prst="rect">
            <a:avLst/>
          </a:prstGeom>
          <a:noFill/>
        </p:spPr>
        <p:txBody>
          <a:bodyPr wrap="square">
            <a:spAutoFit/>
          </a:bodyPr>
          <a:lstStyle/>
          <a:p>
            <a:r>
              <a:rPr lang="en-US" sz="6600" b="1" dirty="0">
                <a:solidFill>
                  <a:srgbClr val="C0392B"/>
                </a:solidFill>
                <a:latin typeface="Malgun Gothic"/>
              </a:rPr>
              <a:t>7</a:t>
            </a:r>
            <a:r>
              <a:rPr sz="6600" b="1" dirty="0">
                <a:solidFill>
                  <a:srgbClr val="C0392B"/>
                </a:solidFill>
                <a:latin typeface="Malgun Gothic"/>
              </a:rPr>
              <a:t>.6</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DATE 컬럼에서 같은 문제 재현</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실측 소재 — MEDICAL_CLAIMS.RECEIPT_DATE</a:t>
            </a:r>
          </a:p>
          <a:p>
            <a:r>
              <a:rPr sz="1600" b="0">
                <a:solidFill>
                  <a:srgbClr val="C5CED6"/>
                </a:solidFill>
                <a:latin typeface="Malgun Gothic"/>
              </a:rPr>
              <a:t>•  Q4 vs Q5 — 범위 조건과 TO_CHAR 가공</a:t>
            </a:r>
          </a:p>
          <a:p>
            <a:r>
              <a:rPr sz="1600" b="0">
                <a:solidFill>
                  <a:srgbClr val="C5CED6"/>
                </a:solidFill>
                <a:latin typeface="Malgun Gothic"/>
              </a:rPr>
              <a:t>•  월 단위 조회를 SARGable하게 쓰기</a:t>
            </a:r>
          </a:p>
        </p:txBody>
      </p:sp>
    </p:spTree>
    <p:extLst>
      <p:ext uri="{BB962C8B-B14F-4D97-AF65-F5344CB8AC3E}">
        <p14:creationId xmlns:p14="http://schemas.microsoft.com/office/powerpoint/2010/main" val="2450287632"/>
      </p:ext>
    </p:extLst>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실측 소재 — MEDICAL_CLAIMS.RECEIPT_DATE</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RECEIPT_DATE는 DATE 타입 컬럼이다</a:t>
            </a:r>
          </a:p>
          <a:p>
            <a:r>
              <a:rPr sz="1600" b="0">
                <a:solidFill>
                  <a:srgbClr val="5A6672"/>
                </a:solidFill>
                <a:latin typeface="Malgun Gothic"/>
              </a:rPr>
              <a:t>    –  앞 절의 BIRTH_DATE와 달리 문자열이 아니라 진짜 날짜 타입이다</a:t>
            </a:r>
          </a:p>
          <a:p>
            <a:r>
              <a:rPr sz="1600" b="0">
                <a:solidFill>
                  <a:srgbClr val="5A6672"/>
                </a:solidFill>
                <a:latin typeface="Malgun Gothic"/>
              </a:rPr>
              <a:t>    –  이 컬럼에 인덱스를 만들고 같은 실험을 반복한다</a:t>
            </a:r>
          </a:p>
          <a:p>
            <a:r>
              <a:rPr sz="1800" b="0">
                <a:solidFill>
                  <a:srgbClr val="202830"/>
                </a:solidFill>
                <a:latin typeface="Malgun Gothic"/>
              </a:rPr>
              <a:t>•  업무 요구는 하나다 — 특정 월의 청구 데이터를 조회한다</a:t>
            </a:r>
          </a:p>
          <a:p>
            <a:r>
              <a:rPr sz="1600" b="0">
                <a:solidFill>
                  <a:srgbClr val="5A6672"/>
                </a:solidFill>
                <a:latin typeface="Malgun Gothic"/>
              </a:rPr>
              <a:t>    –  Q4 — 범위 조건으로 원본 값 그대로 비교한다</a:t>
            </a:r>
          </a:p>
          <a:p>
            <a:r>
              <a:rPr sz="1600" b="0">
                <a:solidFill>
                  <a:srgbClr val="5A6672"/>
                </a:solidFill>
                <a:latin typeface="Malgun Gothic"/>
              </a:rPr>
              <a:t>    –  Q5 — TO_CHAR로 월 단위 문자열을 만들어 비교한다</a:t>
            </a:r>
          </a:p>
          <a:p>
            <a:r>
              <a:rPr sz="1800" b="0">
                <a:solidFill>
                  <a:srgbClr val="202830"/>
                </a:solidFill>
                <a:latin typeface="Malgun Gothic"/>
              </a:rPr>
              <a:t>•  두 조건은 논리적으로 같은 결과를 가리킨다</a:t>
            </a:r>
          </a:p>
          <a:p>
            <a:r>
              <a:rPr sz="1600" b="0">
                <a:solidFill>
                  <a:srgbClr val="5A6672"/>
                </a:solidFill>
                <a:latin typeface="Malgun Gothic"/>
              </a:rPr>
              <a:t>    –  실측 결과 건수도 두 쿼리 모두 24,655건으로 완전히 같다</a:t>
            </a:r>
          </a:p>
          <a:p>
            <a:r>
              <a:rPr sz="1600" b="0">
                <a:solidFill>
                  <a:srgbClr val="5A6672"/>
                </a:solidFill>
                <a:latin typeface="Malgun Gothic"/>
              </a:rPr>
              <a:t>    –  따라서 성능 차이가 나온다면 원인은 결과가 아니라 표현 방식이다</a:t>
            </a:r>
          </a:p>
          <a:p>
            <a:r>
              <a:rPr sz="1800" b="0">
                <a:solidFill>
                  <a:srgbClr val="202830"/>
                </a:solidFill>
                <a:latin typeface="Malgun Gothic"/>
              </a:rPr>
              <a:t>•  앞 절과 같은 실험 설계다 — 변수는 조건절 표현 하나뿐이다</a:t>
            </a:r>
          </a:p>
        </p:txBody>
      </p:sp>
    </p:spTree>
    <p:extLst>
      <p:ext uri="{BB962C8B-B14F-4D97-AF65-F5344CB8AC3E}">
        <p14:creationId xmlns:p14="http://schemas.microsoft.com/office/powerpoint/2010/main" val="2772441370"/>
      </p:ext>
    </p:extLst>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Q4 vs Q5 — 범위 조건과 TO_CHAR 가공</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6.6절 Bad SQL — 같은 결과를 내는 두 가지 월 단위 조회</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CREATE INDEX ix_receipt ON medical_claims(receipt_date);</a:t>
            </a:r>
          </a:p>
          <a:p>
            <a:r>
              <a:rPr sz="1250" b="0">
                <a:solidFill>
                  <a:srgbClr val="E6E6E6"/>
                </a:solidFill>
                <a:latin typeface="Consolas"/>
              </a:rPr>
              <a:t> </a:t>
            </a:r>
          </a:p>
          <a:p>
            <a:r>
              <a:rPr sz="1250" b="0">
                <a:solidFill>
                  <a:srgbClr val="7EC699"/>
                </a:solidFill>
                <a:latin typeface="Consolas"/>
              </a:rPr>
              <a:t>-- Q4. SARGable : 범위 조건으로 원본 값 그대로 비교</a:t>
            </a:r>
          </a:p>
          <a:p>
            <a:r>
              <a:rPr sz="1250" b="0">
                <a:solidFill>
                  <a:srgbClr val="E6E6E6"/>
                </a:solidFill>
                <a:latin typeface="Consolas"/>
              </a:rPr>
              <a:t>SELECT COUNT(*) FROM medical_claims</a:t>
            </a:r>
          </a:p>
          <a:p>
            <a:r>
              <a:rPr sz="1250" b="0">
                <a:solidFill>
                  <a:srgbClr val="E6E6E6"/>
                </a:solidFill>
                <a:latin typeface="Consolas"/>
              </a:rPr>
              <a:t>WHERE receipt_date &gt;= DATE'2024-06-01'</a:t>
            </a:r>
          </a:p>
          <a:p>
            <a:r>
              <a:rPr sz="1250" b="0">
                <a:solidFill>
                  <a:srgbClr val="E6E6E6"/>
                </a:solidFill>
                <a:latin typeface="Consolas"/>
              </a:rPr>
              <a:t>  AND receipt_date &lt;  DATE'2024-07-01';</a:t>
            </a:r>
          </a:p>
          <a:p>
            <a:r>
              <a:rPr sz="1250" b="0">
                <a:solidFill>
                  <a:srgbClr val="E6E6E6"/>
                </a:solidFill>
                <a:latin typeface="Consolas"/>
              </a:rPr>
              <a:t> </a:t>
            </a:r>
          </a:p>
          <a:p>
            <a:r>
              <a:rPr sz="1250" b="0">
                <a:solidFill>
                  <a:srgbClr val="7EC699"/>
                </a:solidFill>
                <a:latin typeface="Consolas"/>
              </a:rPr>
              <a:t>-- Q5. 위반 : 컬럼을 TO_CHAR로 가공해 월 단위 문자열과 비교</a:t>
            </a:r>
          </a:p>
          <a:p>
            <a:r>
              <a:rPr sz="1250" b="0">
                <a:solidFill>
                  <a:srgbClr val="E6E6E6"/>
                </a:solidFill>
                <a:latin typeface="Consolas"/>
              </a:rPr>
              <a:t>SELECT COUNT(*) FROM medical_claims</a:t>
            </a:r>
          </a:p>
          <a:p>
            <a:r>
              <a:rPr sz="1250" b="0">
                <a:solidFill>
                  <a:srgbClr val="E6E6E6"/>
                </a:solidFill>
                <a:latin typeface="Consolas"/>
              </a:rPr>
              <a:t>WHERE TO_CHAR(receipt_date,'YYYYMM') = '202406';</a:t>
            </a:r>
          </a:p>
          <a:p>
            <a:r>
              <a:rPr sz="1250" b="0">
                <a:solidFill>
                  <a:srgbClr val="E6E6E6"/>
                </a:solidFill>
                <a:latin typeface="Consolas"/>
              </a:rPr>
              <a:t> </a:t>
            </a:r>
          </a:p>
          <a:p>
            <a:r>
              <a:rPr sz="1250" b="0">
                <a:solidFill>
                  <a:srgbClr val="7EC699"/>
                </a:solidFill>
                <a:latin typeface="Consolas"/>
              </a:rPr>
              <a:t>-- 두 조건이 뜻하는 기간은 같다 — 결과 건수도 둘 다 24,655건</a:t>
            </a:r>
          </a:p>
          <a:p>
            <a:r>
              <a:rPr sz="1250" b="0">
                <a:solidFill>
                  <a:srgbClr val="7EC699"/>
                </a:solidFill>
                <a:latin typeface="Consolas"/>
              </a:rPr>
              <a:t>-- Q4는 컬럼이 원본 그대로, Q5는 컬럼이 TO_CHAR로 감싸여 있다</a:t>
            </a:r>
          </a:p>
        </p:txBody>
      </p:sp>
    </p:spTree>
    <p:extLst>
      <p:ext uri="{BB962C8B-B14F-4D97-AF65-F5344CB8AC3E}">
        <p14:creationId xmlns:p14="http://schemas.microsoft.com/office/powerpoint/2010/main" val="3319715613"/>
      </p:ext>
    </p:extLst>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Q4 vs Q5 실행계획 실측</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6.6절 Execution Plan — 결과는 같고 읽은 블록 수만 다르다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a:t>
            </a:r>
          </a:p>
          <a:p>
            <a:r>
              <a:rPr sz="1250" b="0">
                <a:solidFill>
                  <a:srgbClr val="E6E6E6"/>
                </a:solidFill>
                <a:latin typeface="Consolas"/>
              </a:rPr>
              <a:t>| 쿼리                | Operation          | Buffers |</a:t>
            </a:r>
          </a:p>
          <a:p>
            <a:r>
              <a:rPr sz="1250" b="0">
                <a:solidFill>
                  <a:srgbClr val="E6E6E6"/>
                </a:solidFill>
                <a:latin typeface="Consolas"/>
              </a:rPr>
              <a:t>+---------------------+--------------------+---------+</a:t>
            </a:r>
          </a:p>
          <a:p>
            <a:r>
              <a:rPr sz="1250" b="0">
                <a:solidFill>
                  <a:srgbClr val="E6E6E6"/>
                </a:solidFill>
                <a:latin typeface="Consolas"/>
              </a:rPr>
              <a:t>| Q4 (범위 조건)      | INDEX RANGE SCAN   |      68 |</a:t>
            </a:r>
          </a:p>
          <a:p>
            <a:r>
              <a:rPr sz="1250" b="0">
                <a:solidFill>
                  <a:srgbClr val="E6E6E6"/>
                </a:solidFill>
                <a:latin typeface="Consolas"/>
              </a:rPr>
              <a:t>| Q5 (TO_CHAR 가공)   | TABLE ACCESS FULL  |   3,090 |</a:t>
            </a:r>
          </a:p>
          <a:p>
            <a:r>
              <a:rPr sz="1250" b="0">
                <a:solidFill>
                  <a:srgbClr val="E6E6E6"/>
                </a:solidFill>
                <a:latin typeface="Consolas"/>
              </a:rPr>
              <a:t>+---------------------+--------------------+---------+</a:t>
            </a:r>
          </a:p>
          <a:p>
            <a:r>
              <a:rPr sz="1250" b="0">
                <a:solidFill>
                  <a:srgbClr val="E6E6E6"/>
                </a:solidFill>
                <a:latin typeface="Consolas"/>
              </a:rPr>
              <a:t> </a:t>
            </a:r>
          </a:p>
          <a:p>
            <a:r>
              <a:rPr sz="1250" b="0">
                <a:solidFill>
                  <a:srgbClr val="7EC699"/>
                </a:solidFill>
                <a:latin typeface="Consolas"/>
              </a:rPr>
              <a:t>-- Predicate Information</a:t>
            </a:r>
          </a:p>
          <a:p>
            <a:r>
              <a:rPr sz="1250" b="0">
                <a:solidFill>
                  <a:srgbClr val="7EC699"/>
                </a:solidFill>
                <a:latin typeface="Consolas"/>
              </a:rPr>
              <a:t>--   Q4 : access("RECEIPT_DATE"&gt;=... AND "RECEIPT_DATE"&lt;...)</a:t>
            </a:r>
          </a:p>
          <a:p>
            <a:r>
              <a:rPr sz="1250" b="0">
                <a:solidFill>
                  <a:srgbClr val="7EC699"/>
                </a:solidFill>
                <a:latin typeface="Consolas"/>
              </a:rPr>
              <a:t>--   Q5 : filter(TO_CHAR(...,'YYYYMM')='202406')</a:t>
            </a:r>
          </a:p>
          <a:p>
            <a:r>
              <a:rPr sz="1250" b="0">
                <a:solidFill>
                  <a:srgbClr val="E6E6E6"/>
                </a:solidFill>
                <a:latin typeface="Consolas"/>
              </a:rPr>
              <a:t> </a:t>
            </a:r>
          </a:p>
          <a:p>
            <a:r>
              <a:rPr sz="1250" b="0">
                <a:solidFill>
                  <a:srgbClr val="7EC699"/>
                </a:solidFill>
                <a:latin typeface="Consolas"/>
              </a:rPr>
              <a:t>-- Q4는 access, Q5는 filter</a:t>
            </a:r>
          </a:p>
          <a:p>
            <a:r>
              <a:rPr sz="1250" b="0">
                <a:solidFill>
                  <a:srgbClr val="7EC699"/>
                </a:solidFill>
                <a:latin typeface="Consolas"/>
              </a:rPr>
              <a:t>--   access : 인덱스에서 그 조건으로 '찾아갔다'  -&gt; 읽는 양 자체가 줄어든다</a:t>
            </a:r>
          </a:p>
          <a:p>
            <a:r>
              <a:rPr sz="1250" b="0">
                <a:solidFill>
                  <a:srgbClr val="7EC699"/>
                </a:solidFill>
                <a:latin typeface="Consolas"/>
              </a:rPr>
              <a:t>--   filter : 읽어 온 행을 그 조건으로 '걸러냈다' -&gt; 읽는 양은 줄지 않는다</a:t>
            </a:r>
          </a:p>
        </p:txBody>
      </p:sp>
    </p:spTree>
    <p:extLst>
      <p:ext uri="{BB962C8B-B14F-4D97-AF65-F5344CB8AC3E}">
        <p14:creationId xmlns:p14="http://schemas.microsoft.com/office/powerpoint/2010/main" val="2205537425"/>
      </p:ext>
    </p:extLst>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결과는 같은데 Buffers는 45배</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두 쿼리의 결과 건수는 24,655건으로 완전히 같다</a:t>
            </a:r>
          </a:p>
          <a:p>
            <a:r>
              <a:rPr sz="1600" b="0">
                <a:solidFill>
                  <a:srgbClr val="5A6672"/>
                </a:solidFill>
                <a:latin typeface="Malgun Gothic"/>
              </a:rPr>
              <a:t>    –  그런데 Buffers는 68과 3,090으로 45배 이상 차이가 난다</a:t>
            </a:r>
          </a:p>
          <a:p>
            <a:r>
              <a:rPr sz="1800" b="0">
                <a:solidFill>
                  <a:srgbClr val="202830"/>
                </a:solidFill>
                <a:latin typeface="Malgun Gothic"/>
              </a:rPr>
              <a:t>•  Q5가 느린 이유 — 컬럼을 변환한 뒤 비교하기 때문</a:t>
            </a:r>
          </a:p>
          <a:p>
            <a:r>
              <a:rPr sz="1600" b="0">
                <a:solidFill>
                  <a:srgbClr val="5A6672"/>
                </a:solidFill>
                <a:latin typeface="Malgun Gothic"/>
              </a:rPr>
              <a:t>    –  인덱스가 원본 DATE 값 순서로 정렬돼 있다는 사실을 활용할 수 없다</a:t>
            </a:r>
          </a:p>
          <a:p>
            <a:r>
              <a:rPr sz="1600" b="0">
                <a:solidFill>
                  <a:srgbClr val="5A6672"/>
                </a:solidFill>
                <a:latin typeface="Malgun Gothic"/>
              </a:rPr>
              <a:t>    –  모든 행을 일일이 문자열로 변환해서 비교해야 하므로 전체를 읽어야 한다</a:t>
            </a:r>
          </a:p>
          <a:p>
            <a:r>
              <a:rPr sz="1800" b="0">
                <a:solidFill>
                  <a:srgbClr val="202830"/>
                </a:solidFill>
                <a:latin typeface="Malgun Gothic"/>
              </a:rPr>
              <a:t>•  Q4가 빠른 이유 — 컬럼을 전혀 가공하지 않기 때문</a:t>
            </a:r>
          </a:p>
          <a:p>
            <a:r>
              <a:rPr sz="1600" b="0">
                <a:solidFill>
                  <a:srgbClr val="5A6672"/>
                </a:solidFill>
                <a:latin typeface="Malgun Gothic"/>
              </a:rPr>
              <a:t>    –  원본 값 그대로 범위를 비교하므로 인덱스에서 시작·끝 위치를 바로 찾아간다</a:t>
            </a:r>
          </a:p>
          <a:p>
            <a:r>
              <a:rPr sz="1600" b="0">
                <a:solidFill>
                  <a:srgbClr val="5A6672"/>
                </a:solidFill>
                <a:latin typeface="Malgun Gothic"/>
              </a:rPr>
              <a:t>    –  그 구간에 해당하는 항목만 읽으면 되므로 읽는 양이 조건 범위에 비례한다</a:t>
            </a:r>
          </a:p>
          <a:p>
            <a:r>
              <a:rPr sz="1800" b="0">
                <a:solidFill>
                  <a:srgbClr val="202830"/>
                </a:solidFill>
                <a:latin typeface="Malgun Gothic"/>
              </a:rPr>
              <a:t>•  결론 — 최종 결과 집합이 같더라도 옵티마이저가 인식하는 형태가 전혀 다르다</a:t>
            </a:r>
          </a:p>
          <a:p>
            <a:r>
              <a:rPr sz="1600" b="0">
                <a:solidFill>
                  <a:srgbClr val="5A6672"/>
                </a:solidFill>
                <a:latin typeface="Malgun Gothic"/>
              </a:rPr>
              <a:t>    –  논리적 동등성과 SARGable 여부는 별개의 문제다</a:t>
            </a:r>
          </a:p>
        </p:txBody>
      </p:sp>
    </p:spTree>
    <p:extLst>
      <p:ext uri="{BB962C8B-B14F-4D97-AF65-F5344CB8AC3E}">
        <p14:creationId xmlns:p14="http://schemas.microsoft.com/office/powerpoint/2010/main" val="3789704855"/>
      </p:ext>
    </p:extLst>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월 단위 조회를 SARGable하게 쓰기</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'이번 달 데이터를 가져오자'는 요구는 어디에나 있다</a:t>
            </a:r>
          </a:p>
          <a:p>
            <a:r>
              <a:rPr sz="1600" b="0">
                <a:solidFill>
                  <a:srgbClr val="5A6672"/>
                </a:solidFill>
                <a:latin typeface="Malgun Gothic"/>
              </a:rPr>
              <a:t>    –  흔한 구현 — TO_CHAR(receipt_date,'YYYYMM') = TO_CHAR(SYSDATE,'YYYYMM')</a:t>
            </a:r>
          </a:p>
          <a:p>
            <a:r>
              <a:rPr sz="1600" b="0">
                <a:solidFill>
                  <a:srgbClr val="5A6672"/>
                </a:solidFill>
                <a:latin typeface="Malgun Gothic"/>
              </a:rPr>
              <a:t>    –  읽기는 쉽지만 컬럼을 가공하므로 Q5와 똑같은 문제가 발생한다</a:t>
            </a:r>
          </a:p>
          <a:p>
            <a:r>
              <a:rPr sz="1800" b="0">
                <a:solidFill>
                  <a:srgbClr val="202830"/>
                </a:solidFill>
                <a:latin typeface="Malgun Gothic"/>
              </a:rPr>
              <a:t>•  재작성 원칙 — 가공은 컬럼이 아니라 기준값 쪽에서 한다</a:t>
            </a:r>
          </a:p>
          <a:p>
            <a:r>
              <a:rPr sz="1600" b="0">
                <a:solidFill>
                  <a:srgbClr val="5A6672"/>
                </a:solidFill>
                <a:latin typeface="Malgun Gothic"/>
              </a:rPr>
              <a:t>    –  receipt_date &gt;= TRUNC(SYSDATE,'MM')</a:t>
            </a:r>
          </a:p>
          <a:p>
            <a:r>
              <a:rPr sz="1600" b="0">
                <a:solidFill>
                  <a:srgbClr val="5A6672"/>
                </a:solidFill>
                <a:latin typeface="Malgun Gothic"/>
              </a:rPr>
              <a:t>    –  AND receipt_date &lt; ADD_MONTHS(TRUNC(SYSDATE,'MM'), 1)</a:t>
            </a:r>
          </a:p>
          <a:p>
            <a:r>
              <a:rPr sz="1600" b="0">
                <a:solidFill>
                  <a:srgbClr val="5A6672"/>
                </a:solidFill>
                <a:latin typeface="Malgun Gothic"/>
              </a:rPr>
              <a:t>    –  SYSDATE 쪽 계산은 실행 전에 상수처럼 한 번 결정되고 끝난다</a:t>
            </a:r>
          </a:p>
          <a:p>
            <a:r>
              <a:rPr sz="1600" b="0">
                <a:solidFill>
                  <a:srgbClr val="5A6672"/>
                </a:solidFill>
                <a:latin typeface="Malgun Gothic"/>
              </a:rPr>
              <a:t>    –  receipt_date 컬럼 자체는 전혀 가공되지 않으므로 인덱스를 그대로 탄다</a:t>
            </a:r>
          </a:p>
          <a:p>
            <a:r>
              <a:rPr sz="1800" b="0">
                <a:solidFill>
                  <a:srgbClr val="202830"/>
                </a:solidFill>
                <a:latin typeface="Malgun Gothic"/>
              </a:rPr>
              <a:t>•  이 패턴이 기간 조회의 표준형이다</a:t>
            </a:r>
          </a:p>
          <a:p>
            <a:r>
              <a:rPr sz="1600" b="0">
                <a:solidFill>
                  <a:srgbClr val="5A6672"/>
                </a:solidFill>
                <a:latin typeface="Malgun Gothic"/>
              </a:rPr>
              <a:t>    –  시작은 이상(&gt;=), 끝은 다음 구간 시작 미만(&lt;)으로 쓴다</a:t>
            </a:r>
          </a:p>
          <a:p>
            <a:r>
              <a:rPr sz="1600" b="0">
                <a:solidFill>
                  <a:srgbClr val="5A6672"/>
                </a:solidFill>
                <a:latin typeface="Malgun Gothic"/>
              </a:rPr>
              <a:t>    –  날짜형에서 이하(&lt;=)를 쓰면 시분초가 붙은 값이 누락될 수 있다</a:t>
            </a:r>
          </a:p>
        </p:txBody>
      </p:sp>
    </p:spTree>
    <p:extLst>
      <p:ext uri="{BB962C8B-B14F-4D97-AF65-F5344CB8AC3E}">
        <p14:creationId xmlns:p14="http://schemas.microsoft.com/office/powerpoint/2010/main" val="1282372066"/>
      </p:ext>
    </p:extLst>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SARGable 재작성 패턴 모음</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6.6~6.7절 Tuning — 실습 해설에 나온 재작성 사례 정리</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-- 1) 이번 달 데이터 조회</a:t>
            </a:r>
          </a:p>
          <a:p>
            <a:r>
              <a:rPr sz="1250" b="0">
                <a:solidFill>
                  <a:srgbClr val="7EC699"/>
                </a:solidFill>
                <a:latin typeface="Consolas"/>
              </a:rPr>
              <a:t>--    위반 : WHERE TO_CHAR(receipt_date,'YYYYMM') = TO_CHAR(SYSDATE,'YYYYMM')</a:t>
            </a:r>
          </a:p>
          <a:p>
            <a:r>
              <a:rPr sz="1250" b="0">
                <a:solidFill>
                  <a:srgbClr val="7EC699"/>
                </a:solidFill>
                <a:latin typeface="Consolas"/>
              </a:rPr>
              <a:t>--    개선</a:t>
            </a:r>
          </a:p>
          <a:p>
            <a:r>
              <a:rPr sz="1250" b="0">
                <a:solidFill>
                  <a:srgbClr val="E6E6E6"/>
                </a:solidFill>
                <a:latin typeface="Consolas"/>
              </a:rPr>
              <a:t>WHERE receipt_date &gt;= TRUNC(SYSDATE,'MM')</a:t>
            </a:r>
          </a:p>
          <a:p>
            <a:r>
              <a:rPr sz="1250" b="0">
                <a:solidFill>
                  <a:srgbClr val="E6E6E6"/>
                </a:solidFill>
                <a:latin typeface="Consolas"/>
              </a:rPr>
              <a:t>AND   receipt_date &lt;  ADD_MONTHS(TRUNC(SYSDATE,'MM'), 1)</a:t>
            </a:r>
          </a:p>
          <a:p>
            <a:r>
              <a:rPr sz="1250" b="0">
                <a:solidFill>
                  <a:srgbClr val="E6E6E6"/>
                </a:solidFill>
                <a:latin typeface="Consolas"/>
              </a:rPr>
              <a:t> </a:t>
            </a:r>
          </a:p>
          <a:p>
            <a:r>
              <a:rPr sz="1250" b="0">
                <a:solidFill>
                  <a:srgbClr val="7EC699"/>
                </a:solidFill>
                <a:latin typeface="Consolas"/>
              </a:rPr>
              <a:t>-- 2) 1990년대생 환자 조회  (BIRTH_DATE는 VARCHAR2 YYYYMMDD)</a:t>
            </a:r>
          </a:p>
          <a:p>
            <a:r>
              <a:rPr sz="1250" b="0">
                <a:solidFill>
                  <a:srgbClr val="E6E6E6"/>
                </a:solidFill>
                <a:latin typeface="Consolas"/>
              </a:rPr>
              <a:t>WHERE birth_date BETWEEN '19900101' AND '19991231'            -- 방법 1</a:t>
            </a:r>
          </a:p>
          <a:p>
            <a:r>
              <a:rPr sz="1250" b="0">
                <a:solidFill>
                  <a:srgbClr val="E6E6E6"/>
                </a:solidFill>
                <a:latin typeface="Consolas"/>
              </a:rPr>
              <a:t>WHERE birth_date &gt;= '19900101' AND birth_date &lt; '20000101'    -- 방법 2</a:t>
            </a:r>
          </a:p>
          <a:p>
            <a:r>
              <a:rPr sz="1250" b="0">
                <a:solidFill>
                  <a:srgbClr val="E6E6E6"/>
                </a:solidFill>
                <a:latin typeface="Consolas"/>
              </a:rPr>
              <a:t> </a:t>
            </a:r>
          </a:p>
          <a:p>
            <a:r>
              <a:rPr sz="1250" b="0">
                <a:solidFill>
                  <a:srgbClr val="7EC699"/>
                </a:solidFill>
                <a:latin typeface="Consolas"/>
              </a:rPr>
              <a:t>-- 3) 코드 리뷰 사례  (HOSP_ID는 NUMBER 컬럼)</a:t>
            </a:r>
          </a:p>
          <a:p>
            <a:r>
              <a:rPr sz="1250" b="0">
                <a:solidFill>
                  <a:srgbClr val="7EC699"/>
                </a:solidFill>
                <a:latin typeface="Consolas"/>
              </a:rPr>
              <a:t>--    위반 : WHERE hosp_id || '' = '100'   &lt;- 컬럼을 문자열로 가공</a:t>
            </a:r>
          </a:p>
          <a:p>
            <a:r>
              <a:rPr sz="1250" b="0">
                <a:solidFill>
                  <a:srgbClr val="7EC699"/>
                </a:solidFill>
                <a:latin typeface="Consolas"/>
              </a:rPr>
              <a:t>--    개선 : WHERE hosp_id = 100           &lt;- 타입 일치, 가공 없음</a:t>
            </a:r>
          </a:p>
          <a:p>
            <a:r>
              <a:rPr sz="1250" b="0">
                <a:solidFill>
                  <a:srgbClr val="E6E6E6"/>
                </a:solidFill>
                <a:latin typeface="Consolas"/>
              </a:rPr>
              <a:t> </a:t>
            </a:r>
          </a:p>
          <a:p>
            <a:r>
              <a:rPr sz="1250" b="0">
                <a:solidFill>
                  <a:srgbClr val="7EC699"/>
                </a:solidFill>
                <a:latin typeface="Consolas"/>
              </a:rPr>
              <a:t>-- 공통 원칙 : 가공은 컬럼이 아니라 리터럴·상수 쪽에서 한다</a:t>
            </a:r>
          </a:p>
        </p:txBody>
      </p:sp>
    </p:spTree>
    <p:extLst>
      <p:ext uri="{BB962C8B-B14F-4D97-AF65-F5344CB8AC3E}">
        <p14:creationId xmlns:p14="http://schemas.microsoft.com/office/powerpoint/2010/main" val="3667030437"/>
      </p:ext>
    </p:extLst>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107996"/>
          </a:xfrm>
          <a:prstGeom prst="rect">
            <a:avLst/>
          </a:prstGeom>
          <a:noFill/>
        </p:spPr>
        <p:txBody>
          <a:bodyPr wrap="square">
            <a:spAutoFit/>
          </a:bodyPr>
          <a:lstStyle/>
          <a:p>
            <a:r>
              <a:rPr lang="en-US" sz="6600" b="1" dirty="0">
                <a:solidFill>
                  <a:srgbClr val="C0392B"/>
                </a:solidFill>
                <a:latin typeface="Malgun Gothic"/>
              </a:rPr>
              <a:t>7</a:t>
            </a:r>
            <a:r>
              <a:rPr sz="6600" b="1" dirty="0">
                <a:solidFill>
                  <a:srgbClr val="C0392B"/>
                </a:solidFill>
                <a:latin typeface="Malgun Gothic"/>
              </a:rPr>
              <a:t>.7</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그 밖의 SARGable 위반 패턴</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LIKE와 와일드카드의 위치</a:t>
            </a:r>
          </a:p>
          <a:p>
            <a:r>
              <a:rPr sz="1600" b="0">
                <a:solidFill>
                  <a:srgbClr val="C5CED6"/>
                </a:solidFill>
                <a:latin typeface="Malgun Gothic"/>
              </a:rPr>
              <a:t>•  부정 조건과 인덱스</a:t>
            </a:r>
          </a:p>
          <a:p>
            <a:r>
              <a:rPr sz="1600" b="0">
                <a:solidFill>
                  <a:srgbClr val="C5CED6"/>
                </a:solidFill>
                <a:latin typeface="Malgun Gothic"/>
              </a:rPr>
              <a:t>•  IS NULL과 B-Tree 인덱스</a:t>
            </a:r>
          </a:p>
        </p:txBody>
      </p:sp>
    </p:spTree>
    <p:extLst>
      <p:ext uri="{BB962C8B-B14F-4D97-AF65-F5344CB8AC3E}">
        <p14:creationId xmlns:p14="http://schemas.microsoft.com/office/powerpoint/2010/main" val="920523996"/>
      </p:ext>
    </p:extLst>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LIKE와 와일드카드의 위치</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LIKE '%검색어%' — 앞에 %가 붙는 패턴</a:t>
            </a:r>
          </a:p>
          <a:p>
            <a:r>
              <a:rPr sz="1600" b="0">
                <a:solidFill>
                  <a:srgbClr val="5A6672"/>
                </a:solidFill>
                <a:latin typeface="Malgun Gothic"/>
              </a:rPr>
              <a:t>    –  인덱스는 값을 왼쪽부터 정렬해서 저장한다</a:t>
            </a:r>
          </a:p>
          <a:p>
            <a:r>
              <a:rPr sz="1600" b="0">
                <a:solidFill>
                  <a:srgbClr val="5A6672"/>
                </a:solidFill>
                <a:latin typeface="Malgun Gothic"/>
              </a:rPr>
              <a:t>    –  중간부터 일치하는 값은 정렬 순서상 어디에 있는지 특정할 수 없다</a:t>
            </a:r>
          </a:p>
          <a:p>
            <a:r>
              <a:rPr sz="1600" b="0">
                <a:solidFill>
                  <a:srgbClr val="5A6672"/>
                </a:solidFill>
                <a:latin typeface="Malgun Gothic"/>
              </a:rPr>
              <a:t>    –  결국 전체를 훑어야 하므로 일반 B-Tree 인덱스로는 지원할 수 없다</a:t>
            </a:r>
          </a:p>
          <a:p>
            <a:r>
              <a:rPr sz="1600" b="0">
                <a:solidFill>
                  <a:srgbClr val="5A6672"/>
                </a:solidFill>
                <a:latin typeface="Malgun Gothic"/>
              </a:rPr>
              <a:t>    –  전문 검색 인덱스 등 별도 기법이 필요하며 본 과정 범위 밖이다</a:t>
            </a:r>
          </a:p>
          <a:p>
            <a:r>
              <a:rPr sz="1800" b="0">
                <a:solidFill>
                  <a:srgbClr val="202830"/>
                </a:solidFill>
                <a:latin typeface="Malgun Gothic"/>
              </a:rPr>
              <a:t>•  LIKE '검색어%' — 뒤에만 %가 붙는 패턴</a:t>
            </a:r>
          </a:p>
          <a:p>
            <a:r>
              <a:rPr sz="1600" b="0">
                <a:solidFill>
                  <a:srgbClr val="5A6672"/>
                </a:solidFill>
                <a:latin typeface="Malgun Gothic"/>
              </a:rPr>
              <a:t>    –  '이 문자열로 시작하는 값'을 찾는 것이므로 시작 지점을 바로 찾아갈 수 있다</a:t>
            </a:r>
          </a:p>
          <a:p>
            <a:r>
              <a:rPr sz="1600" b="0">
                <a:solidFill>
                  <a:srgbClr val="5A6672"/>
                </a:solidFill>
                <a:latin typeface="Malgun Gothic"/>
              </a:rPr>
              <a:t>    –  정렬된 순서에서 연속된 구간에 모여 있으므로 RANGE SCAN으로 처리 가능하다</a:t>
            </a:r>
          </a:p>
          <a:p>
            <a:r>
              <a:rPr sz="1800" b="0">
                <a:solidFill>
                  <a:srgbClr val="202830"/>
                </a:solidFill>
                <a:latin typeface="Malgun Gothic"/>
              </a:rPr>
              <a:t>•  LIKE '%검색어' — 앞에만 %가 붙는 패턴</a:t>
            </a:r>
          </a:p>
          <a:p>
            <a:r>
              <a:rPr sz="1600" b="0">
                <a:solidFill>
                  <a:srgbClr val="5A6672"/>
                </a:solidFill>
                <a:latin typeface="Malgun Gothic"/>
              </a:rPr>
              <a:t>    –  끝부분이 일치해야 하므로 앞쪽 정렬 순서로는 시작 지점을 특정할 수 없다</a:t>
            </a:r>
          </a:p>
          <a:p>
            <a:r>
              <a:rPr sz="1800" b="0">
                <a:solidFill>
                  <a:srgbClr val="202830"/>
                </a:solidFill>
                <a:latin typeface="Malgun Gothic"/>
              </a:rPr>
              <a:t>•  판정 기준 — 와일드카드가 앞에 오는가만 보면 된다</a:t>
            </a:r>
          </a:p>
        </p:txBody>
      </p:sp>
    </p:spTree>
    <p:extLst>
      <p:ext uri="{BB962C8B-B14F-4D97-AF65-F5344CB8AC3E}">
        <p14:creationId xmlns:p14="http://schemas.microsoft.com/office/powerpoint/2010/main" val="2890148385"/>
      </p:ext>
    </p:extLst>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부정 조건과 인덱스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부정 조건 — !=, NOT IN, NOT LIKE</a:t>
            </a:r>
          </a:p>
          <a:p>
            <a:r>
              <a:rPr sz="1600" b="0">
                <a:solidFill>
                  <a:srgbClr val="5A6672"/>
                </a:solidFill>
                <a:latin typeface="Malgun Gothic"/>
              </a:rPr>
              <a:t>    –  인덱스는 특정 값과 같은 것 또는 특정 범위 안에 있는 것을 찾는 데 최적화돼 있다</a:t>
            </a:r>
          </a:p>
          <a:p>
            <a:r>
              <a:rPr sz="1600" b="0">
                <a:solidFill>
                  <a:srgbClr val="5A6672"/>
                </a:solidFill>
                <a:latin typeface="Malgun Gothic"/>
              </a:rPr>
              <a:t>    –  연속된 한 구간을 찾아가는 구조라는 뜻이다</a:t>
            </a:r>
          </a:p>
          <a:p>
            <a:r>
              <a:rPr sz="1800" b="0">
                <a:solidFill>
                  <a:srgbClr val="202830"/>
                </a:solidFill>
                <a:latin typeface="Malgun Gothic"/>
              </a:rPr>
              <a:t>•  '이 값이 아닌 모든 것'은 연속된 구간으로 표현하기 어렵다</a:t>
            </a:r>
          </a:p>
          <a:p>
            <a:r>
              <a:rPr sz="1600" b="0">
                <a:solidFill>
                  <a:srgbClr val="5A6672"/>
                </a:solidFill>
                <a:latin typeface="Malgun Gothic"/>
              </a:rPr>
              <a:t>    –  전체에서 한 구간만 빼는 형태이므로 나머지 전부가 대상이 된다</a:t>
            </a:r>
          </a:p>
          <a:p>
            <a:r>
              <a:rPr sz="1600" b="0">
                <a:solidFill>
                  <a:srgbClr val="5A6672"/>
                </a:solidFill>
                <a:latin typeface="Malgun Gothic"/>
              </a:rPr>
              <a:t>    –  읽어야 할 대상이 거의 전체라면 인덱스를 경유하는 이점이 사라진다</a:t>
            </a:r>
          </a:p>
          <a:p>
            <a:r>
              <a:rPr sz="1600" b="0">
                <a:solidFill>
                  <a:srgbClr val="5A6672"/>
                </a:solidFill>
                <a:latin typeface="Malgun Gothic"/>
              </a:rPr>
              <a:t>    –  그래서 대개 Full Scan으로 처리된다</a:t>
            </a:r>
          </a:p>
          <a:p>
            <a:r>
              <a:rPr sz="1800" b="0">
                <a:solidFill>
                  <a:srgbClr val="202830"/>
                </a:solidFill>
                <a:latin typeface="Malgun Gothic"/>
              </a:rPr>
              <a:t>•  실무에서의 대응 방향</a:t>
            </a:r>
          </a:p>
          <a:p>
            <a:r>
              <a:rPr sz="1600" b="0">
                <a:solidFill>
                  <a:srgbClr val="5A6672"/>
                </a:solidFill>
                <a:latin typeface="Malgun Gothic"/>
              </a:rPr>
              <a:t>    –  가능하면 긍정 조건으로 바꿔 쓸 수 있는지 먼저 검토한다</a:t>
            </a:r>
          </a:p>
          <a:p>
            <a:r>
              <a:rPr sz="1600" b="0">
                <a:solidFill>
                  <a:srgbClr val="5A6672"/>
                </a:solidFill>
                <a:latin typeface="Malgun Gothic"/>
              </a:rPr>
              <a:t>    –  값의 종류가 적다면 원하는 값들을 IN으로 나열하는 편이 나을 수 있다</a:t>
            </a:r>
          </a:p>
          <a:p>
            <a:r>
              <a:rPr sz="1600" b="0">
                <a:solidFill>
                  <a:srgbClr val="5A6672"/>
                </a:solidFill>
                <a:latin typeface="Malgun Gothic"/>
              </a:rPr>
              <a:t>    –  조건 자체를 바꿀 수 없다면 다른 조건으로 대상을 좁힐 수 있는지 본다</a:t>
            </a:r>
          </a:p>
        </p:txBody>
      </p:sp>
    </p:spTree>
    <p:extLst>
      <p:ext uri="{BB962C8B-B14F-4D97-AF65-F5344CB8AC3E}">
        <p14:creationId xmlns:p14="http://schemas.microsoft.com/office/powerpoint/2010/main" val="4125814284"/>
      </p:ext>
    </p:extLst>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IS NULL과 B-Tree 인덱스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일반 B-Tree 인덱스는 인덱스 구성 컬럼 값이 모두 NULL인 행을 저장하지 않는다</a:t>
            </a:r>
          </a:p>
          <a:p>
            <a:r>
              <a:rPr sz="1600" b="0">
                <a:solidFill>
                  <a:srgbClr val="5A6672"/>
                </a:solidFill>
                <a:latin typeface="Malgun Gothic"/>
              </a:rPr>
              <a:t>    –  NULL은 값이 아니라 값이 없는 상태이므로 정렬 위치를 정할 수 없기 때문이다</a:t>
            </a:r>
          </a:p>
          <a:p>
            <a:r>
              <a:rPr sz="1600" b="0">
                <a:solidFill>
                  <a:srgbClr val="5A6672"/>
                </a:solidFill>
                <a:latin typeface="Malgun Gothic"/>
              </a:rPr>
              <a:t>    –  저장되지 않았으니 인덱스 안에 찾을 대상 자체가 없다</a:t>
            </a:r>
          </a:p>
          <a:p>
            <a:r>
              <a:rPr sz="1800" b="0">
                <a:solidFill>
                  <a:srgbClr val="202830"/>
                </a:solidFill>
                <a:latin typeface="Malgun Gothic"/>
              </a:rPr>
              <a:t>•  그래서 IS NULL 조건은 그 인덱스를 쓸 수 없다</a:t>
            </a:r>
          </a:p>
          <a:p>
            <a:r>
              <a:rPr sz="1600" b="0">
                <a:solidFill>
                  <a:srgbClr val="5A6672"/>
                </a:solidFill>
                <a:latin typeface="Malgun Gothic"/>
              </a:rPr>
              <a:t>    –  인덱스가 있어도 NULL인 행은 인덱스만으로 찾아낼 방법이 없다</a:t>
            </a:r>
          </a:p>
          <a:p>
            <a:r>
              <a:rPr sz="1800" b="0">
                <a:solidFill>
                  <a:srgbClr val="202830"/>
                </a:solidFill>
                <a:latin typeface="Malgun Gothic"/>
              </a:rPr>
              <a:t>•  예외 — 복합 인덱스의 일부 컬럼만 NULL인 경우</a:t>
            </a:r>
          </a:p>
          <a:p>
            <a:r>
              <a:rPr sz="1600" b="0">
                <a:solidFill>
                  <a:srgbClr val="5A6672"/>
                </a:solidFill>
                <a:latin typeface="Malgun Gothic"/>
              </a:rPr>
              <a:t>    –  구성 컬럼 중 하나라도 값이 있으면 그 행은 인덱스에 저장된다</a:t>
            </a:r>
          </a:p>
          <a:p>
            <a:r>
              <a:rPr sz="1600" b="0">
                <a:solidFill>
                  <a:srgbClr val="5A6672"/>
                </a:solidFill>
                <a:latin typeface="Malgun Gothic"/>
              </a:rPr>
              <a:t>    –  따라서 복합 인덱스에서는 상황에 따라 활용 가능한 경우가 있다</a:t>
            </a:r>
          </a:p>
          <a:p>
            <a:r>
              <a:rPr sz="1800" b="0">
                <a:solidFill>
                  <a:srgbClr val="202830"/>
                </a:solidFill>
                <a:latin typeface="Malgun Gothic"/>
              </a:rPr>
              <a:t>•  설계 단계에서 함께 생각할 것</a:t>
            </a:r>
          </a:p>
          <a:p>
            <a:r>
              <a:rPr sz="1600" b="0">
                <a:solidFill>
                  <a:srgbClr val="5A6672"/>
                </a:solidFill>
                <a:latin typeface="Malgun Gothic"/>
              </a:rPr>
              <a:t>    –  자주 조회되는 컬럼이라면 NULL 대신 기본값을 쓰는 설계를 검토할 수 있다</a:t>
            </a:r>
          </a:p>
          <a:p>
            <a:r>
              <a:rPr sz="1600" b="0">
                <a:solidFill>
                  <a:srgbClr val="5A6672"/>
                </a:solidFill>
                <a:latin typeface="Malgun Gothic"/>
              </a:rPr>
              <a:t>    –  다만 NULL과 기본값은 의미가 다르므로 업무 정의부터 확인해야 한다</a:t>
            </a:r>
          </a:p>
        </p:txBody>
      </p:sp>
    </p:spTree>
    <p:extLst>
      <p:ext uri="{BB962C8B-B14F-4D97-AF65-F5344CB8AC3E}">
        <p14:creationId xmlns:p14="http://schemas.microsoft.com/office/powerpoint/2010/main" val="437666233"/>
      </p:ext>
    </p:extLst>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107996"/>
          </a:xfrm>
          <a:prstGeom prst="rect">
            <a:avLst/>
          </a:prstGeom>
          <a:noFill/>
        </p:spPr>
        <p:txBody>
          <a:bodyPr wrap="square">
            <a:spAutoFit/>
          </a:bodyPr>
          <a:lstStyle/>
          <a:p>
            <a:r>
              <a:rPr lang="en-US" sz="6600" b="1" dirty="0">
                <a:solidFill>
                  <a:srgbClr val="C0392B"/>
                </a:solidFill>
                <a:latin typeface="Malgun Gothic"/>
              </a:rPr>
              <a:t>7</a:t>
            </a:r>
            <a:r>
              <a:rPr sz="6600" b="1" dirty="0">
                <a:solidFill>
                  <a:srgbClr val="C0392B"/>
                </a:solidFill>
                <a:latin typeface="Malgun Gothic"/>
              </a:rPr>
              <a:t>.8</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Benchmark 종합과 판정 체크리스트</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두 컬럼 실측 종합</a:t>
            </a:r>
          </a:p>
          <a:p>
            <a:r>
              <a:rPr sz="1600" b="0">
                <a:solidFill>
                  <a:srgbClr val="C5CED6"/>
                </a:solidFill>
                <a:latin typeface="Malgun Gothic"/>
              </a:rPr>
              <a:t>•  SARGable 판정 체크리스트</a:t>
            </a:r>
          </a:p>
          <a:p>
            <a:r>
              <a:rPr sz="1600" b="0">
                <a:solidFill>
                  <a:srgbClr val="C5CED6"/>
                </a:solidFill>
                <a:latin typeface="Malgun Gothic"/>
              </a:rPr>
              <a:t>•  요약과 실습 안내</a:t>
            </a:r>
          </a:p>
        </p:txBody>
      </p:sp>
    </p:spTree>
    <p:extLst>
      <p:ext uri="{BB962C8B-B14F-4D97-AF65-F5344CB8AC3E}">
        <p14:creationId xmlns:p14="http://schemas.microsoft.com/office/powerpoint/2010/main" val="76071668"/>
      </p:ext>
    </p:extLst>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Benchmark — 두 컬럼 실측 종합</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6.8절 Benchmark — 타입도 위반 방식도 다르지만 결론은 같다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a:t>
            </a:r>
          </a:p>
          <a:p>
            <a:r>
              <a:rPr sz="1250" b="0">
                <a:solidFill>
                  <a:srgbClr val="E6E6E6"/>
                </a:solidFill>
                <a:latin typeface="Consolas"/>
              </a:rPr>
              <a:t>| 컬럼                        | SARGable 조건     | 위반 조건              | Buffers 차이    |</a:t>
            </a:r>
          </a:p>
          <a:p>
            <a:r>
              <a:rPr sz="1250" b="0">
                <a:solidFill>
                  <a:srgbClr val="E6E6E6"/>
                </a:solidFill>
                <a:latin typeface="Consolas"/>
              </a:rPr>
              <a:t>+-----------------------------+-------------------+------------------------+-----------------+</a:t>
            </a:r>
          </a:p>
          <a:p>
            <a:r>
              <a:rPr sz="1250" b="0">
                <a:solidFill>
                  <a:srgbClr val="E6E6E6"/>
                </a:solidFill>
                <a:latin typeface="Consolas"/>
              </a:rPr>
              <a:t>| PATIENTS.BIRTH_DATE         | &lt;= '19901231'     | &lt;= 19901231 (형변환)   | 148 vs 442      |</a:t>
            </a:r>
          </a:p>
          <a:p>
            <a:r>
              <a:rPr sz="1250" b="0">
                <a:solidFill>
                  <a:srgbClr val="E6E6E6"/>
                </a:solidFill>
                <a:latin typeface="Consolas"/>
              </a:rPr>
              <a:t>| MEDICAL_CLAIMS.RECEIPT_DATE | 범위 (&gt;= / &lt;)     | TO_CHAR(..)='202406'   | 68 vs 3,090     |</a:t>
            </a:r>
          </a:p>
          <a:p>
            <a:r>
              <a:rPr sz="1250" b="0">
                <a:solidFill>
                  <a:srgbClr val="E6E6E6"/>
                </a:solidFill>
                <a:latin typeface="Consolas"/>
              </a:rPr>
              <a:t>+-----------------------------+-------------------+------------------------+-----------------+</a:t>
            </a:r>
          </a:p>
          <a:p>
            <a:r>
              <a:rPr sz="1250" b="0">
                <a:solidFill>
                  <a:srgbClr val="E6E6E6"/>
                </a:solidFill>
                <a:latin typeface="Consolas"/>
              </a:rPr>
              <a:t> </a:t>
            </a:r>
          </a:p>
          <a:p>
            <a:r>
              <a:rPr sz="1250" b="0">
                <a:solidFill>
                  <a:srgbClr val="7EC699"/>
                </a:solidFill>
                <a:latin typeface="Consolas"/>
              </a:rPr>
              <a:t>-- BIRTH_DATE   : 148 vs 442    -&gt; 약 3배</a:t>
            </a:r>
          </a:p>
          <a:p>
            <a:r>
              <a:rPr sz="1250" b="0">
                <a:solidFill>
                  <a:srgbClr val="7EC699"/>
                </a:solidFill>
                <a:latin typeface="Consolas"/>
              </a:rPr>
              <a:t>-- RECEIPT_DATE : 68  vs 3,090  -&gt; 45배 이상</a:t>
            </a:r>
          </a:p>
          <a:p>
            <a:r>
              <a:rPr sz="1250" b="0">
                <a:solidFill>
                  <a:srgbClr val="E6E6E6"/>
                </a:solidFill>
                <a:latin typeface="Consolas"/>
              </a:rPr>
              <a:t> </a:t>
            </a:r>
          </a:p>
          <a:p>
            <a:r>
              <a:rPr sz="1250" b="0">
                <a:solidFill>
                  <a:srgbClr val="7EC699"/>
                </a:solidFill>
                <a:latin typeface="Consolas"/>
              </a:rPr>
              <a:t>-- 배율보다 중요한 사실 : 결과 집합은 같은데 읽은 블록 수만 달라졌다</a:t>
            </a:r>
          </a:p>
          <a:p>
            <a:r>
              <a:rPr sz="1250" b="0">
                <a:solidFill>
                  <a:srgbClr val="7EC699"/>
                </a:solidFill>
                <a:latin typeface="Consolas"/>
              </a:rPr>
              <a:t>-- VARCHAR2든 DATE든, 묵시적이든 명시적이든 결론은 하나로 수렴한다</a:t>
            </a:r>
          </a:p>
        </p:txBody>
      </p:sp>
    </p:spTree>
    <p:extLst>
      <p:ext uri="{BB962C8B-B14F-4D97-AF65-F5344CB8AC3E}">
        <p14:creationId xmlns:p14="http://schemas.microsoft.com/office/powerpoint/2010/main" val="3162351200"/>
      </p:ext>
    </p:extLst>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SARGable 판정 체크리스트</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조건절을 볼 때 이 순서로 확인한다</a:t>
            </a:r>
          </a:p>
          <a:p>
            <a:r>
              <a:rPr sz="1600" b="0">
                <a:solidFill>
                  <a:srgbClr val="5A6672"/>
                </a:solidFill>
                <a:latin typeface="Malgun Gothic"/>
              </a:rPr>
              <a:t>    –  1. 컬럼 이름이 함수나 연산의 괄호 안에 들어가 있는가</a:t>
            </a:r>
          </a:p>
          <a:p>
            <a:r>
              <a:rPr sz="1600" b="0">
                <a:solidFill>
                  <a:srgbClr val="5A6672"/>
                </a:solidFill>
                <a:latin typeface="Malgun Gothic"/>
              </a:rPr>
              <a:t>    –  2. 컬럼과 비교 대상 리터럴의 데이터 타입이 서로 같은가</a:t>
            </a:r>
          </a:p>
          <a:p>
            <a:r>
              <a:rPr sz="1600" b="0">
                <a:solidFill>
                  <a:srgbClr val="5A6672"/>
                </a:solidFill>
                <a:latin typeface="Malgun Gothic"/>
              </a:rPr>
              <a:t>    –  3. 문자 컬럼에 따옴표 없는 숫자 리터럴을 쓰지 않았는가</a:t>
            </a:r>
          </a:p>
          <a:p>
            <a:r>
              <a:rPr sz="1600" b="0">
                <a:solidFill>
                  <a:srgbClr val="5A6672"/>
                </a:solidFill>
                <a:latin typeface="Malgun Gothic"/>
              </a:rPr>
              <a:t>    –  4. 바인드 변수의 선언 타입이 컬럼 타입과 일치하는가</a:t>
            </a:r>
          </a:p>
          <a:p>
            <a:r>
              <a:rPr sz="1600" b="0">
                <a:solidFill>
                  <a:srgbClr val="5A6672"/>
                </a:solidFill>
                <a:latin typeface="Malgun Gothic"/>
              </a:rPr>
              <a:t>    –  5. 기간 조건을 TO_CHAR 비교가 아니라 범위 비교로 썼는가</a:t>
            </a:r>
          </a:p>
          <a:p>
            <a:r>
              <a:rPr sz="1600" b="0">
                <a:solidFill>
                  <a:srgbClr val="5A6672"/>
                </a:solidFill>
                <a:latin typeface="Malgun Gothic"/>
              </a:rPr>
              <a:t>    –  6. LIKE 패턴의 앞에 와일드카드가 붙어 있지 않은가</a:t>
            </a:r>
          </a:p>
          <a:p>
            <a:r>
              <a:rPr sz="1600" b="0">
                <a:solidFill>
                  <a:srgbClr val="5A6672"/>
                </a:solidFill>
                <a:latin typeface="Malgun Gothic"/>
              </a:rPr>
              <a:t>    –  7. 부정 조건이나 IS NULL로 대상을 지정하고 있지 않은가</a:t>
            </a:r>
          </a:p>
          <a:p>
            <a:r>
              <a:rPr sz="1800" b="0">
                <a:solidFill>
                  <a:srgbClr val="202830"/>
                </a:solidFill>
                <a:latin typeface="Malgun Gothic"/>
              </a:rPr>
              <a:t>•  확실하지 않으면 실행계획의 Predicate Information을 확인한다</a:t>
            </a:r>
          </a:p>
          <a:p>
            <a:r>
              <a:rPr sz="1600" b="0">
                <a:solidFill>
                  <a:srgbClr val="5A6672"/>
                </a:solidFill>
                <a:latin typeface="Malgun Gothic"/>
              </a:rPr>
              <a:t>    –  컬럼이 함수로 감싸여 있으면 그 조건은 SARGable하지 않다</a:t>
            </a:r>
          </a:p>
          <a:p>
            <a:r>
              <a:rPr sz="1600" b="0">
                <a:solidFill>
                  <a:srgbClr val="5A6672"/>
                </a:solidFill>
                <a:latin typeface="Malgun Gothic"/>
              </a:rPr>
              <a:t>    –  access가 아니라 filter로만 잡혀 있으면 읽는 양이 줄지 않았다는 뜻이다</a:t>
            </a:r>
          </a:p>
        </p:txBody>
      </p:sp>
    </p:spTree>
    <p:extLst>
      <p:ext uri="{BB962C8B-B14F-4D97-AF65-F5344CB8AC3E}">
        <p14:creationId xmlns:p14="http://schemas.microsoft.com/office/powerpoint/2010/main" val="3608442275"/>
      </p:ext>
    </p:extLst>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요약 (Review)</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컬럼에 함수를 씌우면 명시적이든 묵시적이든 일반 인덱스를 탈 수 없게 된다</a:t>
            </a:r>
          </a:p>
          <a:p>
            <a:r>
              <a:rPr sz="1800" b="0">
                <a:solidFill>
                  <a:srgbClr val="202830"/>
                </a:solidFill>
                <a:latin typeface="Malgun Gothic"/>
              </a:rPr>
              <a:t>•  인덱스는 가공되지 않은 원본 값 순서로 정렬돼 있다 — 이 한 문장이 모든 결론의 근거다</a:t>
            </a:r>
          </a:p>
          <a:p>
            <a:r>
              <a:rPr sz="1800" b="0">
                <a:solidFill>
                  <a:srgbClr val="202830"/>
                </a:solidFill>
                <a:latin typeface="Malgun Gothic"/>
              </a:rPr>
              <a:t>•  타입이 다른 리터럴과 비교하면 Oracle이 컬럼 쪽을 자동 변환할 수 있다</a:t>
            </a:r>
          </a:p>
          <a:p>
            <a:r>
              <a:rPr sz="1800" b="0">
                <a:solidFill>
                  <a:srgbClr val="202830"/>
                </a:solidFill>
                <a:latin typeface="Malgun Gothic"/>
              </a:rPr>
              <a:t>•  VARCHAR2 컬럼과 NUMBER 리터럴을 비교하면 컬럼이 TO_NUMBER로 감싸인다</a:t>
            </a:r>
          </a:p>
          <a:p>
            <a:r>
              <a:rPr sz="1800" b="0">
                <a:solidFill>
                  <a:srgbClr val="202830"/>
                </a:solidFill>
                <a:latin typeface="Malgun Gothic"/>
              </a:rPr>
              <a:t>•  Predicate Information에서 컬럼이 함수로 감싸여 있는지 보면 진단할 수 있다</a:t>
            </a:r>
          </a:p>
          <a:p>
            <a:r>
              <a:rPr sz="1800" b="0">
                <a:solidFill>
                  <a:srgbClr val="202830"/>
                </a:solidFill>
                <a:latin typeface="Malgun Gothic"/>
              </a:rPr>
              <a:t>•  묵시적 형변환과 명시적 함수는 옵티마이저에게 완전히 같은 문제다 — 계획까지 동일했다</a:t>
            </a:r>
          </a:p>
          <a:p>
            <a:r>
              <a:rPr sz="1800" b="0">
                <a:solidFill>
                  <a:srgbClr val="202830"/>
                </a:solidFill>
                <a:latin typeface="Malgun Gothic"/>
              </a:rPr>
              <a:t>•  '월 단위로 가져오자'는 요구는 TO_CHAR 비교가 아니라 범위 조건으로 써야 한다</a:t>
            </a:r>
          </a:p>
          <a:p>
            <a:r>
              <a:rPr sz="1800" b="0">
                <a:solidFill>
                  <a:srgbClr val="202830"/>
                </a:solidFill>
                <a:latin typeface="Malgun Gothic"/>
              </a:rPr>
              <a:t>•  LIKE 앞쪽 와일드카드, 부정 조건, IS NULL도 일반 인덱스와 궁합이 나쁜 패턴이다</a:t>
            </a:r>
          </a:p>
          <a:p>
            <a:r>
              <a:rPr sz="1800" b="0">
                <a:solidFill>
                  <a:srgbClr val="202830"/>
                </a:solidFill>
                <a:latin typeface="Malgun Gothic"/>
              </a:rPr>
              <a:t>•  가공은 컬럼이 아니라 리터럴·상수 쪽에서 한다 — 이 장의 재작성 원칙</a:t>
            </a:r>
          </a:p>
        </p:txBody>
      </p:sp>
    </p:spTree>
    <p:extLst>
      <p:ext uri="{BB962C8B-B14F-4D97-AF65-F5344CB8AC3E}">
        <p14:creationId xmlns:p14="http://schemas.microsoft.com/office/powerpoint/2010/main" val="2912722597"/>
      </p:ext>
    </p:extLst>
  </p:cSld>
  <p:clrMapOvr>
    <a:masterClrMapping/>
  </p:clrMapOvr>
</p:sld>
</file>

<file path=ppt/slides/slide30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실습 안내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실습문제 10문항 — ch07_문제.md</a:t>
            </a:r>
          </a:p>
          <a:p>
            <a:r>
              <a:rPr sz="1600" b="0">
                <a:solidFill>
                  <a:srgbClr val="5A6672"/>
                </a:solidFill>
                <a:latin typeface="Malgun Gothic"/>
              </a:rPr>
              <a:t>    –  1~2번  따옴표 유무가 만든 실행계획 차이와 묵시적 형변환의 발생 원리</a:t>
            </a:r>
          </a:p>
          <a:p>
            <a:r>
              <a:rPr sz="1600" b="0">
                <a:solidFill>
                  <a:srgbClr val="5A6672"/>
                </a:solidFill>
                <a:latin typeface="Malgun Gothic"/>
              </a:rPr>
              <a:t>    –  3번  묵시적 형변환과 명시적 함수가 같은 계획이 된 이유</a:t>
            </a:r>
          </a:p>
          <a:p>
            <a:r>
              <a:rPr sz="1600" b="0">
                <a:solidFill>
                  <a:srgbClr val="5A6672"/>
                </a:solidFill>
                <a:latin typeface="Malgun Gothic"/>
              </a:rPr>
              <a:t>    –  4~5번  TO_CHAR 비교와 범위 조건의 Buffers 차이, 이번 달 조회 재작성</a:t>
            </a:r>
          </a:p>
          <a:p>
            <a:r>
              <a:rPr sz="1600" b="0">
                <a:solidFill>
                  <a:srgbClr val="5A6672"/>
                </a:solidFill>
                <a:latin typeface="Malgun Gothic"/>
              </a:rPr>
              <a:t>    –  6번  결과가 같으니 무시해도 된다는 주장에 대한 반박</a:t>
            </a:r>
          </a:p>
          <a:p>
            <a:r>
              <a:rPr sz="1600" b="0">
                <a:solidFill>
                  <a:srgbClr val="5A6672"/>
                </a:solidFill>
                <a:latin typeface="Malgun Gothic"/>
              </a:rPr>
              <a:t>    –  7~8번  뒤쪽 와일드카드 LIKE의 가능성, 부정 조건과 IS NULL의 원리</a:t>
            </a:r>
          </a:p>
          <a:p>
            <a:r>
              <a:rPr sz="1600" b="0">
                <a:solidFill>
                  <a:srgbClr val="5A6672"/>
                </a:solidFill>
                <a:latin typeface="Malgun Gothic"/>
              </a:rPr>
              <a:t>    –  9~10번  코드 리뷰 판정과 1990년대생 조회 조건 직접 작성</a:t>
            </a:r>
          </a:p>
          <a:p>
            <a:r>
              <a:rPr sz="1800" b="0">
                <a:solidFill>
                  <a:srgbClr val="202830"/>
                </a:solidFill>
                <a:latin typeface="Malgun Gothic"/>
              </a:rPr>
              <a:t>•  실습 전 확인 — 이번 장은 인덱스를 생성하고 삭제한다</a:t>
            </a:r>
          </a:p>
          <a:p>
            <a:r>
              <a:rPr sz="1600" b="0">
                <a:solidFill>
                  <a:srgbClr val="5A6672"/>
                </a:solidFill>
                <a:latin typeface="Malgun Gothic"/>
              </a:rPr>
              <a:t>    –  실습에서 만든 인덱스는 종료 시 반드시 DROP INDEX로 정리한다</a:t>
            </a:r>
          </a:p>
          <a:p>
            <a:r>
              <a:rPr sz="1600" b="0">
                <a:solidFill>
                  <a:srgbClr val="5A6672"/>
                </a:solidFill>
                <a:latin typeface="Malgun Gothic"/>
              </a:rPr>
              <a:t>    –  PATIENTS와 MEDICAL_CLAIMS가 PK만 남은 상태로 복구됐는지 확인한다</a:t>
            </a:r>
          </a:p>
        </p:txBody>
      </p:sp>
    </p:spTree>
    <p:extLst>
      <p:ext uri="{BB962C8B-B14F-4D97-AF65-F5344CB8AC3E}">
        <p14:creationId xmlns:p14="http://schemas.microsoft.com/office/powerpoint/2010/main" val="2924188956"/>
      </p:ext>
    </p:extLst>
  </p:cSld>
  <p:clrMapOvr>
    <a:masterClrMapping/>
  </p:clrMapOvr>
</p:sld>
</file>

<file path=ppt/slides/slide303.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Rectangle 1"/>
          <p:cNvSpPr/>
          <p:nvPr/>
        </p:nvSpPr>
        <p:spPr>
          <a:xfrm>
            <a:off x="822960" y="2331720"/>
            <a:ext cx="164592"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88720" y="1463040"/>
            <a:ext cx="10058400" cy="369332"/>
          </a:xfrm>
          <a:prstGeom prst="rect">
            <a:avLst/>
          </a:prstGeom>
          <a:noFill/>
        </p:spPr>
        <p:txBody>
          <a:bodyPr wrap="square">
            <a:spAutoFit/>
          </a:bodyPr>
          <a:lstStyle/>
          <a:p>
            <a:r>
              <a:rPr sz="1800" b="1">
                <a:solidFill>
                  <a:srgbClr val="C0392B"/>
                </a:solidFill>
                <a:latin typeface="Malgun Gothic"/>
              </a:rPr>
              <a:t>Oracle SQL 튜닝 과정  ·  ch08</a:t>
            </a:r>
          </a:p>
        </p:txBody>
      </p:sp>
      <p:sp>
        <p:nvSpPr>
          <p:cNvPr id="4" name="TextBox 3"/>
          <p:cNvSpPr txBox="1"/>
          <p:nvPr/>
        </p:nvSpPr>
        <p:spPr>
          <a:xfrm>
            <a:off x="1188720" y="2194560"/>
            <a:ext cx="10332720" cy="2011680"/>
          </a:xfrm>
          <a:prstGeom prst="rect">
            <a:avLst/>
          </a:prstGeom>
          <a:noFill/>
        </p:spPr>
        <p:txBody>
          <a:bodyPr wrap="square">
            <a:spAutoFit/>
          </a:bodyPr>
          <a:lstStyle/>
          <a:p>
            <a:r>
              <a:rPr sz="4400" b="1">
                <a:solidFill>
                  <a:srgbClr val="FFFFFF"/>
                </a:solidFill>
                <a:latin typeface="Malgun Gothic"/>
              </a:rPr>
              <a:t>Optimizer와 통계정보</a:t>
            </a:r>
          </a:p>
        </p:txBody>
      </p:sp>
      <p:sp>
        <p:nvSpPr>
          <p:cNvPr id="5" name="TextBox 4"/>
          <p:cNvSpPr txBox="1"/>
          <p:nvPr/>
        </p:nvSpPr>
        <p:spPr>
          <a:xfrm>
            <a:off x="1188720" y="4297680"/>
            <a:ext cx="10058400" cy="1097280"/>
          </a:xfrm>
          <a:prstGeom prst="rect">
            <a:avLst/>
          </a:prstGeom>
          <a:noFill/>
        </p:spPr>
        <p:txBody>
          <a:bodyPr wrap="square">
            <a:spAutoFit/>
          </a:bodyPr>
          <a:lstStyle/>
          <a:p>
            <a:r>
              <a:rPr sz="1800" b="0">
                <a:solidFill>
                  <a:srgbClr val="C5CED6"/>
                </a:solidFill>
                <a:latin typeface="Malgun Gothic"/>
              </a:rPr>
              <a:t>카디널리티 추정 · 히스토그램과 데이터 편중 · 통계 수집 시점 · 바인드 피킹</a:t>
            </a:r>
          </a:p>
        </p:txBody>
      </p:sp>
    </p:spTree>
    <p:extLst>
      <p:ext uri="{BB962C8B-B14F-4D97-AF65-F5344CB8AC3E}">
        <p14:creationId xmlns:p14="http://schemas.microsoft.com/office/powerpoint/2010/main" val="974264499"/>
      </p:ext>
    </p:extLst>
  </p:cSld>
  <p:clrMapOvr>
    <a:masterClrMapping/>
  </p:clrMapOvr>
</p:sld>
</file>

<file path=ppt/slides/slide30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학습 목표 (Objectives)</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CBO가 통계정보를 근거로 비용을 계산해 실행 방법을 고르는 구조를 설명할 수 있다</a:t>
            </a:r>
          </a:p>
          <a:p>
            <a:r>
              <a:rPr sz="1800" b="0">
                <a:solidFill>
                  <a:srgbClr val="202830"/>
                </a:solidFill>
                <a:latin typeface="Malgun Gothic"/>
              </a:rPr>
              <a:t>•  히스토그램이 없는 컬럼의 등치 조건 E-Rows가 어떻게 계산되는지 말할 수 있다</a:t>
            </a:r>
          </a:p>
          <a:p>
            <a:r>
              <a:rPr sz="1600" b="0">
                <a:solidFill>
                  <a:srgbClr val="5A6672"/>
                </a:solidFill>
                <a:latin typeface="Malgun Gothic"/>
              </a:rPr>
              <a:t>    –  전체 행 수 ÷ NDV — 모든 값이 같은 빈도라는 균등 분포 가정</a:t>
            </a:r>
          </a:p>
          <a:p>
            <a:r>
              <a:rPr sz="1800" b="0">
                <a:solidFill>
                  <a:srgbClr val="202830"/>
                </a:solidFill>
                <a:latin typeface="Malgun Gothic"/>
              </a:rPr>
              <a:t>•  같은 컬럼에서 히스토그램 유무만 통제해 추정치 변화를 관측하고 해석할 수 있다</a:t>
            </a:r>
          </a:p>
          <a:p>
            <a:r>
              <a:rPr sz="1600" b="0">
                <a:solidFill>
                  <a:srgbClr val="5A6672"/>
                </a:solidFill>
                <a:latin typeface="Malgun Gothic"/>
              </a:rPr>
              <a:t>    –  METHOD_OPT의 SIZE 1로 제거, SIZE AUTO로 복원</a:t>
            </a:r>
          </a:p>
          <a:p>
            <a:r>
              <a:rPr sz="1800" b="0">
                <a:solidFill>
                  <a:srgbClr val="202830"/>
                </a:solidFill>
                <a:latin typeface="Malgun Gothic"/>
              </a:rPr>
              <a:t>•  USER_TAB_COL_STATISTICS로 히스토그램 종류와 버킷 수를 직접 확인할 수 있다</a:t>
            </a:r>
          </a:p>
          <a:p>
            <a:r>
              <a:rPr sz="1800" b="0">
                <a:solidFill>
                  <a:srgbClr val="202830"/>
                </a:solidFill>
                <a:latin typeface="Malgun Gothic"/>
              </a:rPr>
              <a:t>•  카디널리티 추정 오류가 조인 방식 선택까지 망가뜨리는 경로를 설명할 수 있다</a:t>
            </a:r>
          </a:p>
          <a:p>
            <a:r>
              <a:rPr sz="1800" b="0">
                <a:solidFill>
                  <a:srgbClr val="202830"/>
                </a:solidFill>
                <a:latin typeface="Malgun Gothic"/>
              </a:rPr>
              <a:t>•  히스토그램으로는 풀리지 않는 문제를 구분할 수 있다</a:t>
            </a:r>
          </a:p>
          <a:p>
            <a:r>
              <a:rPr sz="1600" b="0">
                <a:solidFill>
                  <a:srgbClr val="5A6672"/>
                </a:solidFill>
                <a:latin typeface="Malgun Gothic"/>
              </a:rPr>
              <a:t>    –  바인드 변수 Peeking으로 계획이 고정되는 경우</a:t>
            </a:r>
          </a:p>
          <a:p>
            <a:r>
              <a:rPr sz="1600" b="0">
                <a:solidFill>
                  <a:srgbClr val="5A6672"/>
                </a:solidFill>
                <a:latin typeface="Malgun Gothic"/>
              </a:rPr>
              <a:t>    –  두 컬럼의 조합 조건 — 컬럼 간 상관관계</a:t>
            </a:r>
          </a:p>
        </p:txBody>
      </p:sp>
    </p:spTree>
    <p:extLst>
      <p:ext uri="{BB962C8B-B14F-4D97-AF65-F5344CB8AC3E}">
        <p14:creationId xmlns:p14="http://schemas.microsoft.com/office/powerpoint/2010/main" val="3187707965"/>
      </p:ext>
    </p:extLst>
  </p:cSld>
  <p:clrMapOvr>
    <a:masterClrMapping/>
  </p:clrMapOvr>
</p:sld>
</file>

<file path=ppt/slides/slide30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장의 구성 (Agenda)</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13.1  Why — 히스토그램은 없애 봐야 안다</a:t>
            </a:r>
          </a:p>
          <a:p>
            <a:r>
              <a:rPr sz="1800" b="0">
                <a:solidFill>
                  <a:srgbClr val="202830"/>
                </a:solidFill>
                <a:latin typeface="Malgun Gothic"/>
              </a:rPr>
              <a:t>•  13.2  CBO와 통계정보의 구성</a:t>
            </a:r>
          </a:p>
          <a:p>
            <a:r>
              <a:rPr sz="1800" b="0">
                <a:solidFill>
                  <a:srgbClr val="202830"/>
                </a:solidFill>
                <a:latin typeface="Malgun Gothic"/>
              </a:rPr>
              <a:t>•  13.3  히스토그램이 없으면 무엇으로 추정하는가</a:t>
            </a:r>
          </a:p>
          <a:p>
            <a:r>
              <a:rPr sz="1800" b="0">
                <a:solidFill>
                  <a:srgbClr val="202830"/>
                </a:solidFill>
                <a:latin typeface="Malgun Gothic"/>
              </a:rPr>
              <a:t>•  13.4  베이스라인 — 히스토그램이 있는 상태의 관측</a:t>
            </a:r>
          </a:p>
          <a:p>
            <a:r>
              <a:rPr sz="1800" b="0">
                <a:solidFill>
                  <a:srgbClr val="202830"/>
                </a:solidFill>
                <a:latin typeface="Malgun Gothic"/>
              </a:rPr>
              <a:t>•  13.5  히스토그램 제거 실험</a:t>
            </a:r>
          </a:p>
          <a:p>
            <a:r>
              <a:rPr sz="1800" b="0">
                <a:solidFill>
                  <a:srgbClr val="202830"/>
                </a:solidFill>
                <a:latin typeface="Malgun Gothic"/>
              </a:rPr>
              <a:t>•  13.6  복원과 SIZE AUTO</a:t>
            </a:r>
          </a:p>
          <a:p>
            <a:r>
              <a:rPr sz="1800" b="0">
                <a:solidFill>
                  <a:srgbClr val="202830"/>
                </a:solidFill>
                <a:latin typeface="Malgun Gothic"/>
              </a:rPr>
              <a:t>•  13.7  히스토그램의 한계와 운영 판단</a:t>
            </a:r>
          </a:p>
          <a:p>
            <a:r>
              <a:rPr sz="1600" b="0">
                <a:solidFill>
                  <a:srgbClr val="5A6672"/>
                </a:solidFill>
                <a:latin typeface="Malgun Gothic"/>
              </a:rPr>
              <a:t>    –  13.2와 13.3은 칠판 설명 구간, 13.4부터 13.6까지가 실측 구간</a:t>
            </a:r>
          </a:p>
          <a:p>
            <a:r>
              <a:rPr sz="1600" b="0">
                <a:solidFill>
                  <a:srgbClr val="5A6672"/>
                </a:solidFill>
                <a:latin typeface="Malgun Gothic"/>
              </a:rPr>
              <a:t>    –  13.7은 실습문제 7·9·10번으로 이어지는 확장 논의</a:t>
            </a:r>
          </a:p>
        </p:txBody>
      </p:sp>
    </p:spTree>
    <p:extLst>
      <p:ext uri="{BB962C8B-B14F-4D97-AF65-F5344CB8AC3E}">
        <p14:creationId xmlns:p14="http://schemas.microsoft.com/office/powerpoint/2010/main" val="4127527292"/>
      </p:ext>
    </p:extLst>
  </p:cSld>
  <p:clrMapOvr>
    <a:masterClrMapping/>
  </p:clrMapOvr>
</p:sld>
</file>

<file path=ppt/slides/slide306.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107996"/>
          </a:xfrm>
          <a:prstGeom prst="rect">
            <a:avLst/>
          </a:prstGeom>
          <a:noFill/>
        </p:spPr>
        <p:txBody>
          <a:bodyPr wrap="square">
            <a:spAutoFit/>
          </a:bodyPr>
          <a:lstStyle/>
          <a:p>
            <a:r>
              <a:rPr lang="en-US" sz="6600" b="1" dirty="0">
                <a:solidFill>
                  <a:srgbClr val="C0392B"/>
                </a:solidFill>
                <a:latin typeface="Malgun Gothic"/>
              </a:rPr>
              <a:t>8</a:t>
            </a:r>
            <a:r>
              <a:rPr sz="6600" b="1" dirty="0">
                <a:solidFill>
                  <a:srgbClr val="C0392B"/>
                </a:solidFill>
                <a:latin typeface="Malgun Gothic"/>
              </a:rPr>
              <a:t>.1</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Why — 히스토그램은 없애 봐야 안다</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ch02에서 남은 질문 — 히스토그램이 없었다면 어땠을까</a:t>
            </a:r>
          </a:p>
          <a:p>
            <a:r>
              <a:rPr sz="1600" b="0">
                <a:solidFill>
                  <a:srgbClr val="C5CED6"/>
                </a:solidFill>
                <a:latin typeface="Malgun Gothic"/>
              </a:rPr>
              <a:t>•  같은 컬럼, 같은 데이터에서 통계만 통제하는 실험 설계</a:t>
            </a:r>
          </a:p>
          <a:p>
            <a:r>
              <a:rPr sz="1600" b="0">
                <a:solidFill>
                  <a:srgbClr val="C5CED6"/>
                </a:solidFill>
                <a:latin typeface="Malgun Gothic"/>
              </a:rPr>
              <a:t>•  소재는 MEDICAL_CLAIMS.HOSP_ID의 실제 스큐</a:t>
            </a:r>
          </a:p>
        </p:txBody>
      </p:sp>
    </p:spTree>
    <p:extLst>
      <p:ext uri="{BB962C8B-B14F-4D97-AF65-F5344CB8AC3E}">
        <p14:creationId xmlns:p14="http://schemas.microsoft.com/office/powerpoint/2010/main" val="323142266"/>
      </p:ext>
    </p:extLst>
  </p:cSld>
  <p:clrMapOvr>
    <a:masterClrMapping/>
  </p:clrMapOvr>
</p:sld>
</file>

<file path=ppt/slides/slide30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ch02가 남긴 질문</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ch02에서 확인한 것</a:t>
            </a:r>
          </a:p>
          <a:p>
            <a:r>
              <a:rPr sz="1600" b="0">
                <a:solidFill>
                  <a:srgbClr val="5A6672"/>
                </a:solidFill>
                <a:latin typeface="Malgun Gothic"/>
              </a:rPr>
              <a:t>    –  HOSP_ID에 히스토그램이 있어서 리터럴 값마다 다른 E-Rows가 나온다</a:t>
            </a:r>
          </a:p>
          <a:p>
            <a:r>
              <a:rPr sz="1600" b="0">
                <a:solidFill>
                  <a:srgbClr val="5A6672"/>
                </a:solidFill>
                <a:latin typeface="Malgun Gothic"/>
              </a:rPr>
              <a:t>    –  값에 따라 추정치가 달라진다는 현상 자체는 이미 봤다</a:t>
            </a:r>
          </a:p>
          <a:p>
            <a:r>
              <a:rPr sz="1800" b="0">
                <a:solidFill>
                  <a:srgbClr val="202830"/>
                </a:solidFill>
                <a:latin typeface="Malgun Gothic"/>
              </a:rPr>
              <a:t>•  그런데 확인하지 못한 것</a:t>
            </a:r>
          </a:p>
          <a:p>
            <a:r>
              <a:rPr sz="1600" b="0">
                <a:solidFill>
                  <a:srgbClr val="5A6672"/>
                </a:solidFill>
                <a:latin typeface="Malgun Gothic"/>
              </a:rPr>
              <a:t>    –  히스토그램이 "없었다면" 어땠을지는 실제로 없애 보지 않으면 알 수 없다</a:t>
            </a:r>
          </a:p>
          <a:p>
            <a:r>
              <a:rPr sz="1600" b="0">
                <a:solidFill>
                  <a:srgbClr val="5A6672"/>
                </a:solidFill>
                <a:latin typeface="Malgun Gothic"/>
              </a:rPr>
              <a:t>    –  설명으로 들은 인과와 관찰로 확인한 인과는 다른 상태다</a:t>
            </a:r>
          </a:p>
          <a:p>
            <a:r>
              <a:rPr sz="1800" b="0">
                <a:solidFill>
                  <a:srgbClr val="202830"/>
                </a:solidFill>
                <a:latin typeface="Malgun Gothic"/>
              </a:rPr>
              <a:t>•  본 차시의 목표</a:t>
            </a:r>
          </a:p>
          <a:p>
            <a:r>
              <a:rPr sz="1600" b="0">
                <a:solidFill>
                  <a:srgbClr val="5A6672"/>
                </a:solidFill>
                <a:latin typeface="Malgun Gothic"/>
              </a:rPr>
              <a:t>    –  같은 컬럼·같은 데이터로 히스토그램 유무를 직접 통제해 본다</a:t>
            </a:r>
          </a:p>
          <a:p>
            <a:r>
              <a:rPr sz="1600" b="0">
                <a:solidFill>
                  <a:srgbClr val="5A6672"/>
                </a:solidFill>
                <a:latin typeface="Malgun Gothic"/>
              </a:rPr>
              <a:t>    –  카디널리티 추정에 미치는 영향을 눈으로 확인한다</a:t>
            </a:r>
          </a:p>
        </p:txBody>
      </p:sp>
    </p:spTree>
    <p:extLst>
      <p:ext uri="{BB962C8B-B14F-4D97-AF65-F5344CB8AC3E}">
        <p14:creationId xmlns:p14="http://schemas.microsoft.com/office/powerpoint/2010/main" val="3643775053"/>
      </p:ext>
    </p:extLst>
  </p:cSld>
  <p:clrMapOvr>
    <a:masterClrMapping/>
  </p:clrMapOvr>
</p:sld>
</file>

<file path=ppt/slides/slide30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실험 설계 — 제거하고, 관측하고, 복원한다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세 단계로 통제한다</a:t>
            </a:r>
          </a:p>
          <a:p>
            <a:r>
              <a:rPr sz="1600" b="0">
                <a:solidFill>
                  <a:srgbClr val="5A6672"/>
                </a:solidFill>
                <a:latin typeface="Malgun Gothic"/>
              </a:rPr>
              <a:t>    –  1단계  현재 상태(히스토그램 있음)에서 베이스라인 관측</a:t>
            </a:r>
          </a:p>
          <a:p>
            <a:r>
              <a:rPr sz="1600" b="0">
                <a:solidFill>
                  <a:srgbClr val="5A6672"/>
                </a:solidFill>
                <a:latin typeface="Malgun Gothic"/>
              </a:rPr>
              <a:t>    –  2단계  METHOD_OPT의 SIZE 1로 히스토그램을 제거하고 재관측</a:t>
            </a:r>
          </a:p>
          <a:p>
            <a:r>
              <a:rPr sz="1600" b="0">
                <a:solidFill>
                  <a:srgbClr val="5A6672"/>
                </a:solidFill>
                <a:latin typeface="Malgun Gothic"/>
              </a:rPr>
              <a:t>    –  3단계  SIZE AUTO로 복원하고 원래대로 돌아오는지 확인</a:t>
            </a:r>
          </a:p>
          <a:p>
            <a:r>
              <a:rPr sz="1800" b="0">
                <a:solidFill>
                  <a:srgbClr val="202830"/>
                </a:solidFill>
                <a:latin typeface="Malgun Gothic"/>
              </a:rPr>
              <a:t>•  왜 복원 단계까지 필요한가</a:t>
            </a:r>
          </a:p>
          <a:p>
            <a:r>
              <a:rPr sz="1600" b="0">
                <a:solidFill>
                  <a:srgbClr val="5A6672"/>
                </a:solidFill>
                <a:latin typeface="Malgun Gothic"/>
              </a:rPr>
              <a:t>    –  있음과 없음만 비교하면 다른 요인이 끼어들었을 가능성을 배제할 수 없다</a:t>
            </a:r>
          </a:p>
          <a:p>
            <a:r>
              <a:rPr sz="1600" b="0">
                <a:solidFill>
                  <a:srgbClr val="5A6672"/>
                </a:solidFill>
                <a:latin typeface="Malgun Gothic"/>
              </a:rPr>
              <a:t>    –  되돌렸을 때 되돌아와야 인과가 성립한다</a:t>
            </a:r>
          </a:p>
          <a:p>
            <a:r>
              <a:rPr sz="1800" b="0">
                <a:solidFill>
                  <a:srgbClr val="202830"/>
                </a:solidFill>
                <a:latin typeface="Malgun Gothic"/>
              </a:rPr>
              <a:t>•  실습 규칙</a:t>
            </a:r>
          </a:p>
          <a:p>
            <a:r>
              <a:rPr sz="1600" b="0">
                <a:solidFill>
                  <a:srgbClr val="5A6672"/>
                </a:solidFill>
                <a:latin typeface="Malgun Gothic"/>
              </a:rPr>
              <a:t>    –  통계정보를 일시적으로 변경하는 차시이므로 종료 시 반드시 원상복구</a:t>
            </a:r>
          </a:p>
          <a:p>
            <a:r>
              <a:rPr sz="1600" b="0">
                <a:solidFill>
                  <a:srgbClr val="5A6672"/>
                </a:solidFill>
                <a:latin typeface="Malgun Gothic"/>
              </a:rPr>
              <a:t>    –  복원 확인 기준은 HISTOGRAM과 NUM_BUCKETS 값이다</a:t>
            </a:r>
          </a:p>
        </p:txBody>
      </p:sp>
    </p:spTree>
    <p:extLst>
      <p:ext uri="{BB962C8B-B14F-4D97-AF65-F5344CB8AC3E}">
        <p14:creationId xmlns:p14="http://schemas.microsoft.com/office/powerpoint/2010/main" val="2901899824"/>
      </p:ext>
    </p:extLst>
  </p:cSld>
  <p:clrMapOvr>
    <a:masterClrMapping/>
  </p:clrMapOvr>
</p:sld>
</file>

<file path=ppt/slides/slide30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소재 — 진료비 청구 데이터의 실제 편중</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 스키마는 왜 좋은 소재인가</a:t>
            </a:r>
          </a:p>
          <a:p>
            <a:r>
              <a:rPr sz="1600" b="0">
                <a:solidFill>
                  <a:srgbClr val="5A6672"/>
                </a:solidFill>
                <a:latin typeface="Malgun Gothic"/>
              </a:rPr>
              <a:t>    –  MEDICAL_CLAIMS.HOSP_ID에는 실제 스큐가 있다</a:t>
            </a:r>
          </a:p>
          <a:p>
            <a:r>
              <a:rPr sz="1600" b="0">
                <a:solidFill>
                  <a:srgbClr val="5A6672"/>
                </a:solidFill>
                <a:latin typeface="Malgun Gothic"/>
              </a:rPr>
              <a:t>    –  1~50번 병원에 청구가 50% 집중되어 있다</a:t>
            </a:r>
          </a:p>
          <a:p>
            <a:r>
              <a:rPr sz="1800" b="0">
                <a:solidFill>
                  <a:srgbClr val="202830"/>
                </a:solidFill>
                <a:latin typeface="Malgun Gothic"/>
              </a:rPr>
              <a:t>•  현실의 데이터는 대체로 균등하지 않다</a:t>
            </a:r>
          </a:p>
          <a:p>
            <a:r>
              <a:rPr sz="1600" b="0">
                <a:solidFill>
                  <a:srgbClr val="5A6672"/>
                </a:solidFill>
                <a:latin typeface="Malgun Gothic"/>
              </a:rPr>
              <a:t>    –  대형 병원 소수가 청구 건수의 큰 비중을 차지하는 것은 자연스러운 분포다</a:t>
            </a:r>
          </a:p>
          <a:p>
            <a:r>
              <a:rPr sz="1600" b="0">
                <a:solidFill>
                  <a:srgbClr val="5A6672"/>
                </a:solidFill>
                <a:latin typeface="Malgun Gothic"/>
              </a:rPr>
              <a:t>    –  심사 상태, 청구 유형처럼 값이 한쪽으로 몰리는 컬럼도 마찬가지다</a:t>
            </a:r>
          </a:p>
          <a:p>
            <a:r>
              <a:rPr sz="1800" b="0">
                <a:solidFill>
                  <a:srgbClr val="202830"/>
                </a:solidFill>
                <a:latin typeface="Malgun Gothic"/>
              </a:rPr>
              <a:t>•  그래서 관측 대상 값을 두 개로 잡는다</a:t>
            </a:r>
          </a:p>
          <a:p>
            <a:r>
              <a:rPr sz="1600" b="0">
                <a:solidFill>
                  <a:srgbClr val="5A6672"/>
                </a:solidFill>
                <a:latin typeface="Malgun Gothic"/>
              </a:rPr>
              <a:t>    –  hosp_id = 1 — 쏠린 병원(스큐)</a:t>
            </a:r>
          </a:p>
          <a:p>
            <a:r>
              <a:rPr sz="1600" b="0">
                <a:solidFill>
                  <a:srgbClr val="5A6672"/>
                </a:solidFill>
                <a:latin typeface="Malgun Gothic"/>
              </a:rPr>
              <a:t>    –  hosp_id = 500 — 일반 병원</a:t>
            </a:r>
          </a:p>
        </p:txBody>
      </p:sp>
    </p:spTree>
    <p:extLst>
      <p:ext uri="{BB962C8B-B14F-4D97-AF65-F5344CB8AC3E}">
        <p14:creationId xmlns:p14="http://schemas.microsoft.com/office/powerpoint/2010/main" val="2141016472"/>
      </p:ext>
    </p:extLst>
  </p:cSld>
  <p:clrMapOvr>
    <a:masterClrMapping/>
  </p:clrMapOvr>
</p:sld>
</file>

<file path=ppt/slides/slide310.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107996"/>
          </a:xfrm>
          <a:prstGeom prst="rect">
            <a:avLst/>
          </a:prstGeom>
          <a:noFill/>
        </p:spPr>
        <p:txBody>
          <a:bodyPr wrap="square">
            <a:spAutoFit/>
          </a:bodyPr>
          <a:lstStyle/>
          <a:p>
            <a:r>
              <a:rPr lang="en-US" sz="6600" b="1" dirty="0">
                <a:solidFill>
                  <a:srgbClr val="C0392B"/>
                </a:solidFill>
                <a:latin typeface="Malgun Gothic"/>
              </a:rPr>
              <a:t>8</a:t>
            </a:r>
            <a:r>
              <a:rPr sz="6600" b="1" dirty="0">
                <a:solidFill>
                  <a:srgbClr val="C0392B"/>
                </a:solidFill>
                <a:latin typeface="Malgun Gothic"/>
              </a:rPr>
              <a:t>.2</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CBO와 통계정보의 구성</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CBO — 통계를 근거로 비용을 계산해 실행 방법을 고른다</a:t>
            </a:r>
          </a:p>
          <a:p>
            <a:r>
              <a:rPr sz="1600" b="0">
                <a:solidFill>
                  <a:srgbClr val="C5CED6"/>
                </a:solidFill>
                <a:latin typeface="Malgun Gothic"/>
              </a:rPr>
              <a:t>•  Table Statistics / Column Statistics / Histogram</a:t>
            </a:r>
          </a:p>
          <a:p>
            <a:r>
              <a:rPr sz="1600" b="0">
                <a:solidFill>
                  <a:srgbClr val="C5CED6"/>
                </a:solidFill>
                <a:latin typeface="Malgun Gothic"/>
              </a:rPr>
              <a:t>•  Cardinality와 Selectivity의 정의</a:t>
            </a:r>
          </a:p>
        </p:txBody>
      </p:sp>
    </p:spTree>
    <p:extLst>
      <p:ext uri="{BB962C8B-B14F-4D97-AF65-F5344CB8AC3E}">
        <p14:creationId xmlns:p14="http://schemas.microsoft.com/office/powerpoint/2010/main" val="1702811132"/>
      </p:ext>
    </p:extLst>
  </p:cSld>
  <p:clrMapOvr>
    <a:masterClrMapping/>
  </p:clrMapOvr>
</p:sld>
</file>

<file path=ppt/slides/slide3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CBO — Cost-Based Optimizer</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옵티마이저는 무엇을 하는가</a:t>
            </a:r>
          </a:p>
          <a:p>
            <a:r>
              <a:rPr sz="1600" b="0">
                <a:solidFill>
                  <a:srgbClr val="5A6672"/>
                </a:solidFill>
                <a:latin typeface="Malgun Gothic"/>
              </a:rPr>
              <a:t>    –  같은 SQL을 실행하는 여러 방법 중 하나를 고른다</a:t>
            </a:r>
          </a:p>
          <a:p>
            <a:r>
              <a:rPr sz="1600" b="0">
                <a:solidFill>
                  <a:srgbClr val="5A6672"/>
                </a:solidFill>
                <a:latin typeface="Malgun Gothic"/>
              </a:rPr>
              <a:t>    –  고르는 기준은 취향이 아니라 계산된 비용이다</a:t>
            </a:r>
          </a:p>
          <a:p>
            <a:r>
              <a:rPr sz="1800" b="0">
                <a:solidFill>
                  <a:srgbClr val="202830"/>
                </a:solidFill>
                <a:latin typeface="Malgun Gothic"/>
              </a:rPr>
              <a:t>•  비용은 어디서 오는가</a:t>
            </a:r>
          </a:p>
          <a:p>
            <a:r>
              <a:rPr sz="1600" b="0">
                <a:solidFill>
                  <a:srgbClr val="5A6672"/>
                </a:solidFill>
                <a:latin typeface="Malgun Gothic"/>
              </a:rPr>
              <a:t>    –  통계정보를 근거로 계산한다 — 통계가 틀리면 비용도 틀린다</a:t>
            </a:r>
          </a:p>
          <a:p>
            <a:r>
              <a:rPr sz="1600" b="0">
                <a:solidFill>
                  <a:srgbClr val="5A6672"/>
                </a:solidFill>
                <a:latin typeface="Malgun Gothic"/>
              </a:rPr>
              <a:t>    –  옵티마이저는 데이터를 직접 세어 보지 않는다</a:t>
            </a:r>
          </a:p>
          <a:p>
            <a:r>
              <a:rPr sz="1800" b="0">
                <a:solidFill>
                  <a:srgbClr val="202830"/>
                </a:solidFill>
                <a:latin typeface="Malgun Gothic"/>
              </a:rPr>
              <a:t>•  그래서 생기는 구조적 취약점</a:t>
            </a:r>
          </a:p>
          <a:p>
            <a:r>
              <a:rPr sz="1600" b="0">
                <a:solidFill>
                  <a:srgbClr val="5A6672"/>
                </a:solidFill>
                <a:latin typeface="Malgun Gothic"/>
              </a:rPr>
              <a:t>    –  옵티마이저의 판단은 통계라는 지도의 정확도에 종속된다</a:t>
            </a:r>
          </a:p>
          <a:p>
            <a:r>
              <a:rPr sz="1600" b="0">
                <a:solidFill>
                  <a:srgbClr val="5A6672"/>
                </a:solidFill>
                <a:latin typeface="Malgun Gothic"/>
              </a:rPr>
              <a:t>    –  지도가 낡거나 거칠면, 논리가 옳아도 결론이 틀린다</a:t>
            </a:r>
          </a:p>
        </p:txBody>
      </p:sp>
    </p:spTree>
    <p:extLst>
      <p:ext uri="{BB962C8B-B14F-4D97-AF65-F5344CB8AC3E}">
        <p14:creationId xmlns:p14="http://schemas.microsoft.com/office/powerpoint/2010/main" val="71860849"/>
      </p:ext>
    </p:extLst>
  </p:cSld>
  <p:clrMapOvr>
    <a:masterClrMapping/>
  </p:clrMapOvr>
</p:sld>
</file>

<file path=ppt/slides/slide3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통계정보에는 무엇이 담기나</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Table Statistics</a:t>
            </a:r>
          </a:p>
          <a:p>
            <a:r>
              <a:rPr sz="1600" b="0">
                <a:solidFill>
                  <a:srgbClr val="5A6672"/>
                </a:solidFill>
                <a:latin typeface="Malgun Gothic"/>
              </a:rPr>
              <a:t>    –  테이블의 행 수, 블록 수, 평균 행 길이 등 테이블 전체의 규모 정보</a:t>
            </a:r>
          </a:p>
          <a:p>
            <a:r>
              <a:rPr sz="1800" b="0">
                <a:solidFill>
                  <a:srgbClr val="202830"/>
                </a:solidFill>
                <a:latin typeface="Malgun Gothic"/>
              </a:rPr>
              <a:t>•  Column Statistics</a:t>
            </a:r>
          </a:p>
          <a:p>
            <a:r>
              <a:rPr sz="1600" b="0">
                <a:solidFill>
                  <a:srgbClr val="5A6672"/>
                </a:solidFill>
                <a:latin typeface="Malgun Gothic"/>
              </a:rPr>
              <a:t>    –  컬럼별 고유값 개수(NDV), 최소값·최대값, NULL 개수 등</a:t>
            </a:r>
          </a:p>
          <a:p>
            <a:r>
              <a:rPr sz="1600" b="0">
                <a:solidFill>
                  <a:srgbClr val="5A6672"/>
                </a:solidFill>
                <a:latin typeface="Malgun Gothic"/>
              </a:rPr>
              <a:t>    –  NDV는 값의 종류가 몇 가지인지를 뜻할 뿐 각 값이 몇 건인지는 담지 않는다</a:t>
            </a:r>
          </a:p>
          <a:p>
            <a:r>
              <a:rPr sz="1800" b="0">
                <a:solidFill>
                  <a:srgbClr val="202830"/>
                </a:solidFill>
                <a:latin typeface="Malgun Gothic"/>
              </a:rPr>
              <a:t>•  Histogram</a:t>
            </a:r>
          </a:p>
          <a:p>
            <a:r>
              <a:rPr sz="1600" b="0">
                <a:solidFill>
                  <a:srgbClr val="5A6672"/>
                </a:solidFill>
                <a:latin typeface="Malgun Gothic"/>
              </a:rPr>
              <a:t>    –  컬럼 값의 분포를 구간(버킷)별로 기록한 통계</a:t>
            </a:r>
          </a:p>
          <a:p>
            <a:r>
              <a:rPr sz="1600" b="0">
                <a:solidFill>
                  <a:srgbClr val="5A6672"/>
                </a:solidFill>
                <a:latin typeface="Malgun Gothic"/>
              </a:rPr>
              <a:t>    –  값이 균등하게 분포하지 않는 컬럼에서 정확한 추정을 가능하게 한다</a:t>
            </a:r>
          </a:p>
          <a:p>
            <a:r>
              <a:rPr sz="1800" b="0">
                <a:solidFill>
                  <a:srgbClr val="202830"/>
                </a:solidFill>
                <a:latin typeface="Malgun Gothic"/>
              </a:rPr>
              <a:t>•  세 층위의 관계</a:t>
            </a:r>
          </a:p>
          <a:p>
            <a:r>
              <a:rPr sz="1600" b="0">
                <a:solidFill>
                  <a:srgbClr val="5A6672"/>
                </a:solidFill>
                <a:latin typeface="Malgun Gothic"/>
              </a:rPr>
              <a:t>    –  테이블 통계는 규모, 컬럼 통계는 윤곽, 히스토그램은 분포의 세부</a:t>
            </a:r>
          </a:p>
        </p:txBody>
      </p:sp>
    </p:spTree>
    <p:extLst>
      <p:ext uri="{BB962C8B-B14F-4D97-AF65-F5344CB8AC3E}">
        <p14:creationId xmlns:p14="http://schemas.microsoft.com/office/powerpoint/2010/main" val="537141527"/>
      </p:ext>
    </p:extLst>
  </p:cSld>
  <p:clrMapOvr>
    <a:masterClrMapping/>
  </p:clrMapOvr>
</p:sld>
</file>

<file path=ppt/slides/slide3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히스토그램이란 무엇인가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정의</a:t>
            </a:r>
          </a:p>
          <a:p>
            <a:r>
              <a:rPr sz="1600" b="0">
                <a:solidFill>
                  <a:srgbClr val="5A6672"/>
                </a:solidFill>
                <a:latin typeface="Malgun Gothic"/>
              </a:rPr>
              <a:t>    –  컬럼 값의 분포를 구간(버킷) 단위로 기록해 둔 통계</a:t>
            </a:r>
          </a:p>
          <a:p>
            <a:r>
              <a:rPr sz="1600" b="0">
                <a:solidFill>
                  <a:srgbClr val="5A6672"/>
                </a:solidFill>
                <a:latin typeface="Malgun Gothic"/>
              </a:rPr>
              <a:t>    –  자주 나오는 값과 드문 값을 구분해서 기억한다</a:t>
            </a:r>
          </a:p>
          <a:p>
            <a:r>
              <a:rPr sz="1800" b="0">
                <a:solidFill>
                  <a:srgbClr val="202830"/>
                </a:solidFill>
                <a:latin typeface="Malgun Gothic"/>
              </a:rPr>
              <a:t>•  왜 버킷인가</a:t>
            </a:r>
          </a:p>
          <a:p>
            <a:r>
              <a:rPr sz="1600" b="0">
                <a:solidFill>
                  <a:srgbClr val="5A6672"/>
                </a:solidFill>
                <a:latin typeface="Malgun Gothic"/>
              </a:rPr>
              <a:t>    –  값이 수천 종류라면 값마다 빈도를 모두 저장할 수 없다</a:t>
            </a:r>
          </a:p>
          <a:p>
            <a:r>
              <a:rPr sz="1600" b="0">
                <a:solidFill>
                  <a:srgbClr val="5A6672"/>
                </a:solidFill>
                <a:latin typeface="Malgun Gothic"/>
              </a:rPr>
              <a:t>    –  구간으로 나눠 요약하면 적은 저장 공간으로 분포의 모양을 담을 수 있다</a:t>
            </a:r>
          </a:p>
          <a:p>
            <a:r>
              <a:rPr sz="1800" b="0">
                <a:solidFill>
                  <a:srgbClr val="202830"/>
                </a:solidFill>
                <a:latin typeface="Malgun Gothic"/>
              </a:rPr>
              <a:t>•  버킷 수가 뜻하는 것</a:t>
            </a:r>
          </a:p>
          <a:p>
            <a:r>
              <a:rPr sz="1600" b="0">
                <a:solidFill>
                  <a:srgbClr val="5A6672"/>
                </a:solidFill>
                <a:latin typeface="Malgun Gothic"/>
              </a:rPr>
              <a:t>    –  구간이 많을수록 실제 분포를 더 세밀하게 반영한다</a:t>
            </a:r>
          </a:p>
          <a:p>
            <a:r>
              <a:rPr sz="1600" b="0">
                <a:solidFill>
                  <a:srgbClr val="5A6672"/>
                </a:solidFill>
                <a:latin typeface="Malgun Gothic"/>
              </a:rPr>
              <a:t>    –  NUM_BUCKETS가 1이면 사실상 구간을 나누지 않은 것 — 히스토그램이 없는 상태</a:t>
            </a:r>
          </a:p>
          <a:p>
            <a:r>
              <a:rPr sz="1800" b="0">
                <a:solidFill>
                  <a:srgbClr val="202830"/>
                </a:solidFill>
                <a:latin typeface="Malgun Gothic"/>
              </a:rPr>
              <a:t>•  전제 조건</a:t>
            </a:r>
          </a:p>
          <a:p>
            <a:r>
              <a:rPr sz="1600" b="0">
                <a:solidFill>
                  <a:srgbClr val="5A6672"/>
                </a:solidFill>
                <a:latin typeface="Malgun Gothic"/>
              </a:rPr>
              <a:t>    –  히스토그램이 필요한 컬럼은 값이 한쪽으로 쏠린 컬럼이다</a:t>
            </a:r>
          </a:p>
        </p:txBody>
      </p:sp>
    </p:spTree>
    <p:extLst>
      <p:ext uri="{BB962C8B-B14F-4D97-AF65-F5344CB8AC3E}">
        <p14:creationId xmlns:p14="http://schemas.microsoft.com/office/powerpoint/2010/main" val="508050322"/>
      </p:ext>
    </p:extLst>
  </p:cSld>
  <p:clrMapOvr>
    <a:masterClrMapping/>
  </p:clrMapOvr>
</p:sld>
</file>

<file path=ppt/slides/slide3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Cardinality와 Selectivity</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Cardinality — 카디널리티</a:t>
            </a:r>
          </a:p>
          <a:p>
            <a:r>
              <a:rPr sz="1600" b="0">
                <a:solidFill>
                  <a:srgbClr val="5A6672"/>
                </a:solidFill>
                <a:latin typeface="Malgun Gothic"/>
              </a:rPr>
              <a:t>    –  조건을 만족하는 행의 개수</a:t>
            </a:r>
          </a:p>
          <a:p>
            <a:r>
              <a:rPr sz="1600" b="0">
                <a:solidFill>
                  <a:srgbClr val="5A6672"/>
                </a:solidFill>
                <a:latin typeface="Malgun Gothic"/>
              </a:rPr>
              <a:t>    –  실행계획의 E-Rows가 옵티마이저가 추정한 카디널리티다</a:t>
            </a:r>
          </a:p>
          <a:p>
            <a:r>
              <a:rPr sz="1800" b="0">
                <a:solidFill>
                  <a:srgbClr val="202830"/>
                </a:solidFill>
                <a:latin typeface="Malgun Gothic"/>
              </a:rPr>
              <a:t>•  Selectivity — 선택도</a:t>
            </a:r>
          </a:p>
          <a:p>
            <a:r>
              <a:rPr sz="1600" b="0">
                <a:solidFill>
                  <a:srgbClr val="5A6672"/>
                </a:solidFill>
                <a:latin typeface="Malgun Gothic"/>
              </a:rPr>
              <a:t>    –  조건을 만족하는 행의 비율</a:t>
            </a:r>
          </a:p>
          <a:p>
            <a:r>
              <a:rPr sz="1600" b="0">
                <a:solidFill>
                  <a:srgbClr val="5A6672"/>
                </a:solidFill>
                <a:latin typeface="Malgun Gothic"/>
              </a:rPr>
              <a:t>    –  카디널리티 = 전체 행 수 × 선택도</a:t>
            </a:r>
          </a:p>
          <a:p>
            <a:r>
              <a:rPr sz="1800" b="0">
                <a:solidFill>
                  <a:srgbClr val="202830"/>
                </a:solidFill>
                <a:latin typeface="Malgun Gothic"/>
              </a:rPr>
              <a:t>•  왜 이 값이 모든 판단의 출발점인가</a:t>
            </a:r>
          </a:p>
          <a:p>
            <a:r>
              <a:rPr sz="1600" b="0">
                <a:solidFill>
                  <a:srgbClr val="5A6672"/>
                </a:solidFill>
                <a:latin typeface="Malgun Gothic"/>
              </a:rPr>
              <a:t>    –  접근 방식, 조인 방식, 조인 순서가 모두 이 추정치 위에서 결정된다</a:t>
            </a:r>
          </a:p>
          <a:p>
            <a:r>
              <a:rPr sz="1600" b="0">
                <a:solidFill>
                  <a:srgbClr val="5A6672"/>
                </a:solidFill>
                <a:latin typeface="Malgun Gothic"/>
              </a:rPr>
              <a:t>    –  출발점이 틀리면 그 뒤의 논리가 옳아도 결론이 틀린다</a:t>
            </a:r>
          </a:p>
          <a:p>
            <a:r>
              <a:rPr sz="1800" b="0">
                <a:solidFill>
                  <a:srgbClr val="202830"/>
                </a:solidFill>
                <a:latin typeface="Malgun Gothic"/>
              </a:rPr>
              <a:t>•  정확도를 읽는 법</a:t>
            </a:r>
          </a:p>
          <a:p>
            <a:r>
              <a:rPr sz="1600" b="0">
                <a:solidFill>
                  <a:srgbClr val="5A6672"/>
                </a:solidFill>
                <a:latin typeface="Malgun Gothic"/>
              </a:rPr>
              <a:t>    –  E-Rows와 A-Rows를 나란히 놓고 비율로 본다</a:t>
            </a:r>
          </a:p>
        </p:txBody>
      </p:sp>
    </p:spTree>
    <p:extLst>
      <p:ext uri="{BB962C8B-B14F-4D97-AF65-F5344CB8AC3E}">
        <p14:creationId xmlns:p14="http://schemas.microsoft.com/office/powerpoint/2010/main" val="1203179853"/>
      </p:ext>
    </p:extLst>
  </p:cSld>
  <p:clrMapOvr>
    <a:masterClrMapping/>
  </p:clrMapOvr>
</p:sld>
</file>

<file path=ppt/slides/slide315.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107996"/>
          </a:xfrm>
          <a:prstGeom prst="rect">
            <a:avLst/>
          </a:prstGeom>
          <a:noFill/>
        </p:spPr>
        <p:txBody>
          <a:bodyPr wrap="square">
            <a:spAutoFit/>
          </a:bodyPr>
          <a:lstStyle/>
          <a:p>
            <a:r>
              <a:rPr lang="en-US" sz="6600" b="1" dirty="0">
                <a:solidFill>
                  <a:srgbClr val="C0392B"/>
                </a:solidFill>
                <a:latin typeface="Malgun Gothic"/>
              </a:rPr>
              <a:t>8</a:t>
            </a:r>
            <a:r>
              <a:rPr sz="6600" b="1" dirty="0">
                <a:solidFill>
                  <a:srgbClr val="C0392B"/>
                </a:solidFill>
                <a:latin typeface="Malgun Gothic"/>
              </a:rPr>
              <a:t>.3</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히스토그램이 없으면 무엇으로 추정하는가</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균등 분포 가정 — 전체 행 수 ÷ NDV</a:t>
            </a:r>
          </a:p>
          <a:p>
            <a:r>
              <a:rPr sz="1600" b="0">
                <a:solidFill>
                  <a:srgbClr val="C5CED6"/>
                </a:solidFill>
                <a:latin typeface="Malgun Gothic"/>
              </a:rPr>
              <a:t>•  어떤 값을 조회하든 같은 E-Rows가 나오는 이유</a:t>
            </a:r>
          </a:p>
          <a:p>
            <a:r>
              <a:rPr sz="1600" b="0">
                <a:solidFill>
                  <a:srgbClr val="C5CED6"/>
                </a:solidFill>
                <a:latin typeface="Malgun Gothic"/>
              </a:rPr>
              <a:t>•  USER_TAB_COL_STATISTICS로 현재 상태 확인하기</a:t>
            </a:r>
          </a:p>
        </p:txBody>
      </p:sp>
    </p:spTree>
    <p:extLst>
      <p:ext uri="{BB962C8B-B14F-4D97-AF65-F5344CB8AC3E}">
        <p14:creationId xmlns:p14="http://schemas.microsoft.com/office/powerpoint/2010/main" val="3313493347"/>
      </p:ext>
    </p:extLst>
  </p:cSld>
  <p:clrMapOvr>
    <a:masterClrMapping/>
  </p:clrMapOvr>
</p:sld>
</file>

<file path=ppt/slides/slide3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균등 분포 가정 — 전체 행 수 ÷ NDV</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히스토그램이 없는 컬럼의 등치 조건</a:t>
            </a:r>
          </a:p>
          <a:p>
            <a:r>
              <a:rPr sz="1600" b="0">
                <a:solidFill>
                  <a:srgbClr val="5A6672"/>
                </a:solidFill>
                <a:latin typeface="Malgun Gothic"/>
              </a:rPr>
              <a:t>    –  컬럼 = 값 형태의 조건에 대한 E-Rows는 대략 전체 행 수 ÷ NDV로 계산된다</a:t>
            </a:r>
          </a:p>
          <a:p>
            <a:r>
              <a:rPr sz="1800" b="0">
                <a:solidFill>
                  <a:srgbClr val="202830"/>
                </a:solidFill>
                <a:latin typeface="Malgun Gothic"/>
              </a:rPr>
              <a:t>•  이 식이 성립하려면 필요한 가정</a:t>
            </a:r>
          </a:p>
          <a:p>
            <a:r>
              <a:rPr sz="1600" b="0">
                <a:solidFill>
                  <a:srgbClr val="5A6672"/>
                </a:solidFill>
                <a:latin typeface="Malgun Gothic"/>
              </a:rPr>
              <a:t>    –  모든 값이 똑같은 빈도로 나타난다 — 균등 분포 가정</a:t>
            </a:r>
          </a:p>
          <a:p>
            <a:r>
              <a:rPr sz="1600" b="0">
                <a:solidFill>
                  <a:srgbClr val="5A6672"/>
                </a:solidFill>
                <a:latin typeface="Malgun Gothic"/>
              </a:rPr>
              <a:t>    –  옵티마이저는 분포를 모르므로 가장 무난한 가정을 택하는 것이다</a:t>
            </a:r>
          </a:p>
          <a:p>
            <a:r>
              <a:rPr sz="1800" b="0">
                <a:solidFill>
                  <a:srgbClr val="202830"/>
                </a:solidFill>
                <a:latin typeface="Malgun Gothic"/>
              </a:rPr>
              <a:t>•  이 가정의 결과</a:t>
            </a:r>
          </a:p>
          <a:p>
            <a:r>
              <a:rPr sz="1600" b="0">
                <a:solidFill>
                  <a:srgbClr val="5A6672"/>
                </a:solidFill>
                <a:latin typeface="Malgun Gothic"/>
              </a:rPr>
              <a:t>    –  값이 무엇이든 계산식이 같으므로 E-Rows도 항상 같아진다</a:t>
            </a:r>
          </a:p>
          <a:p>
            <a:r>
              <a:rPr sz="1600" b="0">
                <a:solidFill>
                  <a:srgbClr val="5A6672"/>
                </a:solidFill>
                <a:latin typeface="Malgun Gothic"/>
              </a:rPr>
              <a:t>    –  즉 추정치가 조회하는 값에 반응하지 않게 된다</a:t>
            </a:r>
          </a:p>
          <a:p>
            <a:r>
              <a:rPr sz="1800" b="0">
                <a:solidFill>
                  <a:srgbClr val="202830"/>
                </a:solidFill>
                <a:latin typeface="Malgun Gothic"/>
              </a:rPr>
              <a:t>•  판정 기준</a:t>
            </a:r>
          </a:p>
          <a:p>
            <a:r>
              <a:rPr sz="1600" b="0">
                <a:solidFill>
                  <a:srgbClr val="5A6672"/>
                </a:solidFill>
                <a:latin typeface="Malgun Gothic"/>
              </a:rPr>
              <a:t>    –  서로 다른 값에 같은 E-Rows가 나온다면 균등 가정이 적용된 것이다</a:t>
            </a:r>
          </a:p>
        </p:txBody>
      </p:sp>
    </p:spTree>
    <p:extLst>
      <p:ext uri="{BB962C8B-B14F-4D97-AF65-F5344CB8AC3E}">
        <p14:creationId xmlns:p14="http://schemas.microsoft.com/office/powerpoint/2010/main" val="841823285"/>
      </p:ext>
    </p:extLst>
  </p:cSld>
  <p:clrMapOvr>
    <a:masterClrMapping/>
  </p:clrMapOvr>
</p:sld>
</file>

<file path=ppt/slides/slide3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균등 가정은 언제 맞고 언제 틀리는가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가정이 잘 맞는 경우</a:t>
            </a:r>
          </a:p>
          <a:p>
            <a:r>
              <a:rPr sz="1600" b="0">
                <a:solidFill>
                  <a:srgbClr val="5A6672"/>
                </a:solidFill>
                <a:latin typeface="Malgun Gothic"/>
              </a:rPr>
              <a:t>    –  값이 실제로 고르게 퍼져 있는 컬럼</a:t>
            </a:r>
          </a:p>
          <a:p>
            <a:r>
              <a:rPr sz="1600" b="0">
                <a:solidFill>
                  <a:srgbClr val="5A6672"/>
                </a:solidFill>
                <a:latin typeface="Malgun Gothic"/>
              </a:rPr>
              <a:t>    –  이런 컬럼에는 히스토그램이 있으나 없으나 추정 결과가 비슷하다</a:t>
            </a:r>
          </a:p>
          <a:p>
            <a:r>
              <a:rPr sz="1800" b="0">
                <a:solidFill>
                  <a:srgbClr val="202830"/>
                </a:solidFill>
                <a:latin typeface="Malgun Gothic"/>
              </a:rPr>
              <a:t>•  가정이 크게 틀리는 경우</a:t>
            </a:r>
          </a:p>
          <a:p>
            <a:r>
              <a:rPr sz="1600" b="0">
                <a:solidFill>
                  <a:srgbClr val="5A6672"/>
                </a:solidFill>
                <a:latin typeface="Malgun Gothic"/>
              </a:rPr>
              <a:t>    –  소수의 값에 데이터가 크게 쏠린 컬럼</a:t>
            </a:r>
          </a:p>
          <a:p>
            <a:r>
              <a:rPr sz="1600" b="0">
                <a:solidFill>
                  <a:srgbClr val="5A6672"/>
                </a:solidFill>
                <a:latin typeface="Malgun Gothic"/>
              </a:rPr>
              <a:t>    –  쏠린 값은 과소추정되고, 드문 값은 과대추정된다</a:t>
            </a:r>
          </a:p>
          <a:p>
            <a:r>
              <a:rPr sz="1800" b="0">
                <a:solidFill>
                  <a:srgbClr val="202830"/>
                </a:solidFill>
                <a:latin typeface="Malgun Gothic"/>
              </a:rPr>
              <a:t>•  오차의 방향이 값마다 반대라는 점이 중요하다</a:t>
            </a:r>
          </a:p>
          <a:p>
            <a:r>
              <a:rPr sz="1600" b="0">
                <a:solidFill>
                  <a:srgbClr val="5A6672"/>
                </a:solidFill>
                <a:latin typeface="Malgun Gothic"/>
              </a:rPr>
              <a:t>    –  평균으로 맞추는 추정이므로 양쪽 끝에서 동시에 틀린다</a:t>
            </a:r>
          </a:p>
          <a:p>
            <a:r>
              <a:rPr sz="1600" b="0">
                <a:solidFill>
                  <a:srgbClr val="5A6672"/>
                </a:solidFill>
                <a:latin typeface="Malgun Gothic"/>
              </a:rPr>
              <a:t>    –  한 컬럼 안에서 어떤 조회는 너무 크게, 어떤 조회는 너무 작게 잡힌다</a:t>
            </a:r>
          </a:p>
          <a:p>
            <a:r>
              <a:rPr sz="1800" b="0">
                <a:solidFill>
                  <a:srgbClr val="202830"/>
                </a:solidFill>
                <a:latin typeface="Malgun Gothic"/>
              </a:rPr>
              <a:t>•  이 스키마의 HOSP_ID는 후자에 해당한다</a:t>
            </a:r>
          </a:p>
        </p:txBody>
      </p:sp>
    </p:spTree>
    <p:extLst>
      <p:ext uri="{BB962C8B-B14F-4D97-AF65-F5344CB8AC3E}">
        <p14:creationId xmlns:p14="http://schemas.microsoft.com/office/powerpoint/2010/main" val="3209644634"/>
      </p:ext>
    </p:extLst>
  </p:cSld>
  <p:clrMapOvr>
    <a:masterClrMapping/>
  </p:clrMapOvr>
</p:sld>
</file>

<file path=ppt/slides/slide3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현재 상태를 어디서 확인하나</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USER_TAB_COL_STATISTICS</a:t>
            </a:r>
          </a:p>
          <a:p>
            <a:r>
              <a:rPr sz="1600" b="0">
                <a:solidFill>
                  <a:srgbClr val="5A6672"/>
                </a:solidFill>
                <a:latin typeface="Malgun Gothic"/>
              </a:rPr>
              <a:t>    –  컬럼별 통계 상태를 직접 확인할 수 있는 딕셔너리 뷰</a:t>
            </a:r>
          </a:p>
          <a:p>
            <a:r>
              <a:rPr sz="1800" b="0">
                <a:solidFill>
                  <a:srgbClr val="202830"/>
                </a:solidFill>
                <a:latin typeface="Malgun Gothic"/>
              </a:rPr>
              <a:t>•  이 장에서 볼 두 개의 컬럼</a:t>
            </a:r>
          </a:p>
          <a:p>
            <a:r>
              <a:rPr sz="1600" b="0">
                <a:solidFill>
                  <a:srgbClr val="5A6672"/>
                </a:solidFill>
                <a:latin typeface="Malgun Gothic"/>
              </a:rPr>
              <a:t>    –  HISTOGRAM — 히스토그램의 종류 또는 NONE</a:t>
            </a:r>
          </a:p>
          <a:p>
            <a:r>
              <a:rPr sz="1600" b="0">
                <a:solidFill>
                  <a:srgbClr val="5A6672"/>
                </a:solidFill>
                <a:latin typeface="Malgun Gothic"/>
              </a:rPr>
              <a:t>    –  NUM_BUCKETS — 분포를 몇 개 구간으로 나눠 기록했는지</a:t>
            </a:r>
          </a:p>
          <a:p>
            <a:r>
              <a:rPr sz="1800" b="0">
                <a:solidFill>
                  <a:srgbClr val="202830"/>
                </a:solidFill>
                <a:latin typeface="Malgun Gothic"/>
              </a:rPr>
              <a:t>•  읽는 법</a:t>
            </a:r>
          </a:p>
          <a:p>
            <a:r>
              <a:rPr sz="1600" b="0">
                <a:solidFill>
                  <a:srgbClr val="5A6672"/>
                </a:solidFill>
                <a:latin typeface="Malgun Gothic"/>
              </a:rPr>
              <a:t>    –  HISTOGRAM이 NONE이고 NUM_BUCKETS가 1이면 히스토그램이 없는 상태</a:t>
            </a:r>
          </a:p>
          <a:p>
            <a:r>
              <a:rPr sz="1600" b="0">
                <a:solidFill>
                  <a:srgbClr val="5A6672"/>
                </a:solidFill>
                <a:latin typeface="Malgun Gothic"/>
              </a:rPr>
              <a:t>    –  값이 들어 있으면 그 종류와 구간 수만큼 분포가 기록된 상태</a:t>
            </a:r>
          </a:p>
          <a:p>
            <a:r>
              <a:rPr sz="1800" b="0">
                <a:solidFill>
                  <a:srgbClr val="202830"/>
                </a:solidFill>
                <a:latin typeface="Malgun Gothic"/>
              </a:rPr>
              <a:t>•  실습에서의 용도</a:t>
            </a:r>
          </a:p>
          <a:p>
            <a:r>
              <a:rPr sz="1600" b="0">
                <a:solidFill>
                  <a:srgbClr val="5A6672"/>
                </a:solidFill>
                <a:latin typeface="Malgun Gothic"/>
              </a:rPr>
              <a:t>    –  제거와 복원이 실제로 반영됐는지 판정하는 근거</a:t>
            </a:r>
          </a:p>
          <a:p>
            <a:r>
              <a:rPr sz="1600" b="0">
                <a:solidFill>
                  <a:srgbClr val="5A6672"/>
                </a:solidFill>
                <a:latin typeface="Malgun Gothic"/>
              </a:rPr>
              <a:t>    –  추정치의 변화와 통계 상태의 변화를 짝지어 확인한다</a:t>
            </a:r>
          </a:p>
        </p:txBody>
      </p:sp>
    </p:spTree>
    <p:extLst>
      <p:ext uri="{BB962C8B-B14F-4D97-AF65-F5344CB8AC3E}">
        <p14:creationId xmlns:p14="http://schemas.microsoft.com/office/powerpoint/2010/main" val="3384848616"/>
      </p:ext>
    </p:extLst>
  </p:cSld>
  <p:clrMapOvr>
    <a:masterClrMapping/>
  </p:clrMapOvr>
</p:sld>
</file>

<file path=ppt/slides/slide319.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107996"/>
          </a:xfrm>
          <a:prstGeom prst="rect">
            <a:avLst/>
          </a:prstGeom>
          <a:noFill/>
        </p:spPr>
        <p:txBody>
          <a:bodyPr wrap="square">
            <a:spAutoFit/>
          </a:bodyPr>
          <a:lstStyle/>
          <a:p>
            <a:r>
              <a:rPr lang="en-US" sz="6600" b="1" dirty="0">
                <a:solidFill>
                  <a:srgbClr val="C0392B"/>
                </a:solidFill>
                <a:latin typeface="Malgun Gothic"/>
              </a:rPr>
              <a:t>8</a:t>
            </a:r>
            <a:r>
              <a:rPr sz="6600" b="1" dirty="0">
                <a:solidFill>
                  <a:srgbClr val="C0392B"/>
                </a:solidFill>
                <a:latin typeface="Malgun Gothic"/>
              </a:rPr>
              <a:t>.4</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베이스라인 — 히스토그램이 있는 상태</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관측 대상 두 개 — 쏠린 병원과 일반 병원</a:t>
            </a:r>
          </a:p>
          <a:p>
            <a:r>
              <a:rPr sz="1600" b="0">
                <a:solidFill>
                  <a:srgbClr val="C5CED6"/>
                </a:solidFill>
                <a:latin typeface="Malgun Gothic"/>
              </a:rPr>
              <a:t>•  현재 통계 상태 확인 — HISTOGRAM과 NUM_BUCKETS</a:t>
            </a:r>
          </a:p>
          <a:p>
            <a:r>
              <a:rPr sz="1600" b="0">
                <a:solidFill>
                  <a:srgbClr val="C5CED6"/>
                </a:solidFill>
                <a:latin typeface="Malgun Gothic"/>
              </a:rPr>
              <a:t>•  E-Rows와 A-Rows를 나란히 놓고 정확도 판정</a:t>
            </a:r>
          </a:p>
        </p:txBody>
      </p:sp>
    </p:spTree>
    <p:extLst>
      <p:ext uri="{BB962C8B-B14F-4D97-AF65-F5344CB8AC3E}">
        <p14:creationId xmlns:p14="http://schemas.microsoft.com/office/powerpoint/2010/main" val="638101401"/>
      </p:ext>
    </p:extLst>
  </p:cSld>
  <p:clrMapOvr>
    <a:masterClrMapping/>
  </p:clrMapOvr>
</p:sld>
</file>

<file path=ppt/slides/slide3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베이스라인 관측 — 조회와 통계 확인</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04. Example — 같은 컬럼에서 값만 바꿔 두 번 관측한다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쏠린 병원(스큐)</a:t>
            </a:r>
          </a:p>
          <a:p>
            <a:r>
              <a:rPr sz="1250" b="0">
                <a:solidFill>
                  <a:srgbClr val="E6E6E6"/>
                </a:solidFill>
                <a:latin typeface="Consolas"/>
              </a:rPr>
              <a:t>SELECT COUNT(*) FROM medical_claims WHERE hosp_id = 1;</a:t>
            </a:r>
          </a:p>
          <a:p>
            <a:r>
              <a:rPr sz="1250" b="0">
                <a:solidFill>
                  <a:srgbClr val="E6E6E6"/>
                </a:solidFill>
                <a:latin typeface="Consolas"/>
              </a:rPr>
              <a:t> </a:t>
            </a:r>
          </a:p>
          <a:p>
            <a:r>
              <a:rPr sz="1250" b="0">
                <a:solidFill>
                  <a:srgbClr val="7EC699"/>
                </a:solidFill>
                <a:latin typeface="Consolas"/>
              </a:rPr>
              <a:t>-- 일반 병원</a:t>
            </a:r>
          </a:p>
          <a:p>
            <a:r>
              <a:rPr sz="1250" b="0">
                <a:solidFill>
                  <a:srgbClr val="E6E6E6"/>
                </a:solidFill>
                <a:latin typeface="Consolas"/>
              </a:rPr>
              <a:t>SELECT COUNT(*) FROM medical_claims WHERE hosp_id = 500;</a:t>
            </a:r>
          </a:p>
          <a:p>
            <a:r>
              <a:rPr sz="1250" b="0">
                <a:solidFill>
                  <a:srgbClr val="E6E6E6"/>
                </a:solidFill>
                <a:latin typeface="Consolas"/>
              </a:rPr>
              <a:t> </a:t>
            </a:r>
          </a:p>
          <a:p>
            <a:r>
              <a:rPr sz="1250" b="0">
                <a:solidFill>
                  <a:srgbClr val="7EC699"/>
                </a:solidFill>
                <a:latin typeface="Consolas"/>
              </a:rPr>
              <a:t>-- 현재 통계 상태 확인</a:t>
            </a:r>
          </a:p>
          <a:p>
            <a:r>
              <a:rPr sz="1250" b="0">
                <a:solidFill>
                  <a:srgbClr val="E6E6E6"/>
                </a:solidFill>
                <a:latin typeface="Consolas"/>
              </a:rPr>
              <a:t>SELECT column_name, histogram, num_buckets</a:t>
            </a:r>
          </a:p>
          <a:p>
            <a:r>
              <a:rPr sz="1250" b="0">
                <a:solidFill>
                  <a:srgbClr val="E6E6E6"/>
                </a:solidFill>
                <a:latin typeface="Consolas"/>
              </a:rPr>
              <a:t>  FROM user_tab_col_statistics</a:t>
            </a:r>
          </a:p>
          <a:p>
            <a:r>
              <a:rPr sz="1250" b="0">
                <a:solidFill>
                  <a:srgbClr val="E6E6E6"/>
                </a:solidFill>
                <a:latin typeface="Consolas"/>
              </a:rPr>
              <a:t> WHERE table_name = 'MEDICAL_CLAIMS'</a:t>
            </a:r>
          </a:p>
          <a:p>
            <a:r>
              <a:rPr sz="1250" b="0">
                <a:solidFill>
                  <a:srgbClr val="E6E6E6"/>
                </a:solidFill>
                <a:latin typeface="Consolas"/>
              </a:rPr>
              <a:t>   AND column_name = 'HOSP_ID';</a:t>
            </a:r>
          </a:p>
          <a:p>
            <a:r>
              <a:rPr sz="1250" b="0">
                <a:solidFill>
                  <a:srgbClr val="E6E6E6"/>
                </a:solidFill>
                <a:latin typeface="Consolas"/>
              </a:rPr>
              <a:t> </a:t>
            </a:r>
          </a:p>
          <a:p>
            <a:r>
              <a:rPr sz="1250" b="0">
                <a:solidFill>
                  <a:srgbClr val="E6E6E6"/>
                </a:solidFill>
                <a:latin typeface="Consolas"/>
              </a:rPr>
              <a:t>COLUMN_NAME   HISTOGRAM   NUM_BUCKETS</a:t>
            </a:r>
          </a:p>
          <a:p>
            <a:r>
              <a:rPr sz="1250" b="0">
                <a:solidFill>
                  <a:srgbClr val="E6E6E6"/>
                </a:solidFill>
                <a:latin typeface="Consolas"/>
              </a:rPr>
              <a:t>-----------   ---------   -----------</a:t>
            </a:r>
          </a:p>
          <a:p>
            <a:r>
              <a:rPr sz="1250" b="0">
                <a:solidFill>
                  <a:srgbClr val="E6E6E6"/>
                </a:solidFill>
                <a:latin typeface="Consolas"/>
              </a:rPr>
              <a:t>HOSP_ID       HYBRID              254</a:t>
            </a:r>
          </a:p>
        </p:txBody>
      </p:sp>
    </p:spTree>
    <p:extLst>
      <p:ext uri="{BB962C8B-B14F-4D97-AF65-F5344CB8AC3E}">
        <p14:creationId xmlns:p14="http://schemas.microsoft.com/office/powerpoint/2010/main" val="3413730722"/>
      </p:ext>
    </p:extLst>
  </p:cSld>
  <p:clrMapOvr>
    <a:masterClrMapping/>
  </p:clrMapOvr>
</p:sld>
</file>

<file path=ppt/slides/slide3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베이스라인 결과 — 히스토그램이 있을 때</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05. Execution Plan — 두 조건의 추정치와 실제값 비교</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조건        | E-Rows | A-Rows |      추정 정확도      |</a:t>
            </a:r>
          </a:p>
          <a:p>
            <a:r>
              <a:rPr sz="1250" b="0">
                <a:solidFill>
                  <a:srgbClr val="E6E6E6"/>
                </a:solidFill>
                <a:latin typeface="Consolas"/>
              </a:rPr>
              <a:t>|--------------------|--------|--------|-----------------------|</a:t>
            </a:r>
          </a:p>
          <a:p>
            <a:r>
              <a:rPr sz="1250" b="0">
                <a:solidFill>
                  <a:srgbClr val="E6E6E6"/>
                </a:solidFill>
                <a:latin typeface="Consolas"/>
              </a:rPr>
              <a:t>| hosp_id=1 (스큐)   |  2,795 |  3,058 | 근접 (비율 약 0.91배) |</a:t>
            </a:r>
          </a:p>
          <a:p>
            <a:r>
              <a:rPr sz="1250" b="0">
                <a:solidFill>
                  <a:srgbClr val="E6E6E6"/>
                </a:solidFill>
                <a:latin typeface="Consolas"/>
              </a:rPr>
              <a:t>| hosp_id=500 (일반) |    280 |    177 | 근접 (비율 약 1.58배) |</a:t>
            </a:r>
          </a:p>
        </p:txBody>
      </p:sp>
    </p:spTree>
    <p:extLst>
      <p:ext uri="{BB962C8B-B14F-4D97-AF65-F5344CB8AC3E}">
        <p14:creationId xmlns:p14="http://schemas.microsoft.com/office/powerpoint/2010/main" val="1042704120"/>
      </p:ext>
    </p:extLst>
  </p:cSld>
  <p:clrMapOvr>
    <a:masterClrMapping/>
  </p:clrMapOvr>
</p:sld>
</file>

<file path=ppt/slides/slide3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베이스라인 해석 — 무엇을 확인했나</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두 값이 서로 다른 E-Rows를 받았다</a:t>
            </a:r>
          </a:p>
          <a:p>
            <a:r>
              <a:rPr sz="1600" b="0">
                <a:solidFill>
                  <a:srgbClr val="5A6672"/>
                </a:solidFill>
                <a:latin typeface="Malgun Gothic"/>
              </a:rPr>
              <a:t>    –  추정치가 조회하는 값에 반응하고 있다는 뜻</a:t>
            </a:r>
          </a:p>
          <a:p>
            <a:r>
              <a:rPr sz="1600" b="0">
                <a:solidFill>
                  <a:srgbClr val="5A6672"/>
                </a:solidFill>
                <a:latin typeface="Malgun Gothic"/>
              </a:rPr>
              <a:t>    –  균등 분포 가정이 적용되고 있지 않다는 증거이기도 하다</a:t>
            </a:r>
          </a:p>
          <a:p>
            <a:r>
              <a:rPr sz="1800" b="0">
                <a:solidFill>
                  <a:srgbClr val="202830"/>
                </a:solidFill>
                <a:latin typeface="Malgun Gothic"/>
              </a:rPr>
              <a:t>•  둘 다 실제값에 상당히 근접했다</a:t>
            </a:r>
          </a:p>
          <a:p>
            <a:r>
              <a:rPr sz="1600" b="0">
                <a:solidFill>
                  <a:srgbClr val="5A6672"/>
                </a:solidFill>
                <a:latin typeface="Malgun Gothic"/>
              </a:rPr>
              <a:t>    –  쏠린 값도, 일반 값도 실제와 같은 자릿수 범위 안에 들어왔다</a:t>
            </a:r>
          </a:p>
          <a:p>
            <a:r>
              <a:rPr sz="1600" b="0">
                <a:solidFill>
                  <a:srgbClr val="5A6672"/>
                </a:solidFill>
                <a:latin typeface="Malgun Gothic"/>
              </a:rPr>
              <a:t>    –  히스토그램이 스큐를 정확히 반영하고 있다는 뜻</a:t>
            </a:r>
          </a:p>
          <a:p>
            <a:r>
              <a:rPr sz="1800" b="0">
                <a:solidFill>
                  <a:srgbClr val="202830"/>
                </a:solidFill>
                <a:latin typeface="Malgun Gothic"/>
              </a:rPr>
              <a:t>•  통계 상태와 짝지어 읽는다</a:t>
            </a:r>
          </a:p>
          <a:p>
            <a:r>
              <a:rPr sz="1600" b="0">
                <a:solidFill>
                  <a:srgbClr val="5A6672"/>
                </a:solidFill>
                <a:latin typeface="Malgun Gothic"/>
              </a:rPr>
              <a:t>    –  HISTOGRAM은 HYBRID, NUM_BUCKETS는 254</a:t>
            </a:r>
          </a:p>
          <a:p>
            <a:r>
              <a:rPr sz="1600" b="0">
                <a:solidFill>
                  <a:srgbClr val="5A6672"/>
                </a:solidFill>
                <a:latin typeface="Malgun Gothic"/>
              </a:rPr>
              <a:t>    –  분포가 254개 구간으로 기록되어 있는 상태</a:t>
            </a:r>
          </a:p>
          <a:p>
            <a:r>
              <a:rPr sz="1800" b="0">
                <a:solidFill>
                  <a:srgbClr val="202830"/>
                </a:solidFill>
                <a:latin typeface="Malgun Gothic"/>
              </a:rPr>
              <a:t>•  이 상태를 기준점으로 삼고 다음 절에서 통계만 바꾼다</a:t>
            </a:r>
          </a:p>
        </p:txBody>
      </p:sp>
    </p:spTree>
    <p:extLst>
      <p:ext uri="{BB962C8B-B14F-4D97-AF65-F5344CB8AC3E}">
        <p14:creationId xmlns:p14="http://schemas.microsoft.com/office/powerpoint/2010/main" val="4263291831"/>
      </p:ext>
    </p:extLst>
  </p:cSld>
  <p:clrMapOvr>
    <a:masterClrMapping/>
  </p:clrMapOvr>
</p:sld>
</file>

<file path=ppt/slides/slide323.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107996"/>
          </a:xfrm>
          <a:prstGeom prst="rect">
            <a:avLst/>
          </a:prstGeom>
          <a:noFill/>
        </p:spPr>
        <p:txBody>
          <a:bodyPr wrap="square">
            <a:spAutoFit/>
          </a:bodyPr>
          <a:lstStyle/>
          <a:p>
            <a:r>
              <a:rPr lang="en-US" sz="6600" b="1" dirty="0">
                <a:solidFill>
                  <a:srgbClr val="C0392B"/>
                </a:solidFill>
                <a:latin typeface="Malgun Gothic"/>
              </a:rPr>
              <a:t>8</a:t>
            </a:r>
            <a:r>
              <a:rPr sz="6600" b="1" dirty="0">
                <a:solidFill>
                  <a:srgbClr val="C0392B"/>
                </a:solidFill>
                <a:latin typeface="Malgun Gothic"/>
              </a:rPr>
              <a:t>.5</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히스토그램 제거 실험</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METHOD_OPT의 SIZE 1 — 버킷 하나는 히스토그램 없음</a:t>
            </a:r>
          </a:p>
          <a:p>
            <a:r>
              <a:rPr sz="1600" b="0">
                <a:solidFill>
                  <a:srgbClr val="C5CED6"/>
                </a:solidFill>
                <a:latin typeface="Malgun Gothic"/>
              </a:rPr>
              <a:t>•  두 조건의 E-Rows가 완전히 같아지는 장면</a:t>
            </a:r>
          </a:p>
          <a:p>
            <a:r>
              <a:rPr sz="1600" b="0">
                <a:solidFill>
                  <a:srgbClr val="C5CED6"/>
                </a:solidFill>
                <a:latin typeface="Malgun Gothic"/>
              </a:rPr>
              <a:t>•  과소추정이 조인 판단까지 끌고 가는 경로</a:t>
            </a:r>
          </a:p>
        </p:txBody>
      </p:sp>
    </p:spTree>
    <p:extLst>
      <p:ext uri="{BB962C8B-B14F-4D97-AF65-F5344CB8AC3E}">
        <p14:creationId xmlns:p14="http://schemas.microsoft.com/office/powerpoint/2010/main" val="1350836818"/>
      </p:ext>
    </p:extLst>
  </p:cSld>
  <p:clrMapOvr>
    <a:masterClrMapping/>
  </p:clrMapOvr>
</p:sld>
</file>

<file path=ppt/slides/slide3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히스토그램 강제 제거</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06. Bad SQL — METHOD_OPT으로 버킷을 하나만 만들게 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BEGIN</a:t>
            </a:r>
          </a:p>
          <a:p>
            <a:r>
              <a:rPr sz="1250" b="0">
                <a:solidFill>
                  <a:srgbClr val="E6E6E6"/>
                </a:solidFill>
                <a:latin typeface="Consolas"/>
              </a:rPr>
              <a:t>  DBMS_STATS.GATHER_TABLE_STATS(USER, 'MEDICAL_CLAIMS',</a:t>
            </a:r>
          </a:p>
          <a:p>
            <a:r>
              <a:rPr sz="1250" b="0">
                <a:solidFill>
                  <a:srgbClr val="E6E6E6"/>
                </a:solidFill>
                <a:latin typeface="Consolas"/>
              </a:rPr>
              <a:t>    METHOD_OPT =&gt; 'FOR COLUMNS HOSP_ID SIZE 1');  -- 버킷 1개 = 히스토그램 없음</a:t>
            </a:r>
          </a:p>
          <a:p>
            <a:r>
              <a:rPr sz="1250" b="0">
                <a:solidFill>
                  <a:srgbClr val="E6E6E6"/>
                </a:solidFill>
                <a:latin typeface="Consolas"/>
              </a:rPr>
              <a:t>END;</a:t>
            </a:r>
          </a:p>
          <a:p>
            <a:r>
              <a:rPr sz="1250" b="0">
                <a:solidFill>
                  <a:srgbClr val="E6E6E6"/>
                </a:solidFill>
                <a:latin typeface="Consolas"/>
              </a:rPr>
              <a:t>/</a:t>
            </a:r>
          </a:p>
          <a:p>
            <a:r>
              <a:rPr sz="1250" b="0">
                <a:solidFill>
                  <a:srgbClr val="E6E6E6"/>
                </a:solidFill>
                <a:latin typeface="Consolas"/>
              </a:rPr>
              <a:t> </a:t>
            </a:r>
          </a:p>
          <a:p>
            <a:r>
              <a:rPr sz="1250" b="0">
                <a:solidFill>
                  <a:srgbClr val="7EC699"/>
                </a:solidFill>
                <a:latin typeface="Consolas"/>
              </a:rPr>
              <a:t>-- USER_TAB_COL_STATISTICS 재확인</a:t>
            </a:r>
          </a:p>
          <a:p>
            <a:r>
              <a:rPr sz="1250" b="0">
                <a:solidFill>
                  <a:srgbClr val="E6E6E6"/>
                </a:solidFill>
                <a:latin typeface="Consolas"/>
              </a:rPr>
              <a:t>COLUMN_NAME   HISTOGRAM   NUM_BUCKETS</a:t>
            </a:r>
          </a:p>
          <a:p>
            <a:r>
              <a:rPr sz="1250" b="0">
                <a:solidFill>
                  <a:srgbClr val="E6E6E6"/>
                </a:solidFill>
                <a:latin typeface="Consolas"/>
              </a:rPr>
              <a:t>-----------   ---------   -----------</a:t>
            </a:r>
          </a:p>
          <a:p>
            <a:r>
              <a:rPr sz="1250" b="0">
                <a:solidFill>
                  <a:srgbClr val="E6E6E6"/>
                </a:solidFill>
                <a:latin typeface="Consolas"/>
              </a:rPr>
              <a:t>HOSP_ID       NONE                  1</a:t>
            </a:r>
          </a:p>
          <a:p>
            <a:r>
              <a:rPr sz="1250" b="0">
                <a:solidFill>
                  <a:srgbClr val="E6E6E6"/>
                </a:solidFill>
                <a:latin typeface="Consolas"/>
              </a:rPr>
              <a:t> </a:t>
            </a:r>
          </a:p>
          <a:p>
            <a:r>
              <a:rPr sz="1250" b="0">
                <a:solidFill>
                  <a:srgbClr val="7EC699"/>
                </a:solidFill>
                <a:latin typeface="Consolas"/>
              </a:rPr>
              <a:t>-- 데이터는 그대로, SQL도 그대로, 통계만 바뀌었다</a:t>
            </a:r>
          </a:p>
        </p:txBody>
      </p:sp>
    </p:spTree>
    <p:extLst>
      <p:ext uri="{BB962C8B-B14F-4D97-AF65-F5344CB8AC3E}">
        <p14:creationId xmlns:p14="http://schemas.microsoft.com/office/powerpoint/2010/main" val="1686383909"/>
      </p:ext>
    </p:extLst>
  </p:cSld>
  <p:clrMapOvr>
    <a:masterClrMapping/>
  </p:clrMapOvr>
</p:sld>
</file>

<file path=ppt/slides/slide3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제거 후 결과 — E-Rows가 하나로 고정된다</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06. Bad SQL — 같은 두 조건을 다시 관측한 결과</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조건        | E-Rows | A-Rows |    추정 정확도     |</a:t>
            </a:r>
          </a:p>
          <a:p>
            <a:r>
              <a:rPr sz="1250" b="0">
                <a:solidFill>
                  <a:srgbClr val="E6E6E6"/>
                </a:solidFill>
                <a:latin typeface="Consolas"/>
              </a:rPr>
              <a:t>|--------------------|--------|--------|--------------------|</a:t>
            </a:r>
          </a:p>
          <a:p>
            <a:r>
              <a:rPr sz="1250" b="0">
                <a:solidFill>
                  <a:srgbClr val="E6E6E6"/>
                </a:solidFill>
                <a:latin typeface="Consolas"/>
              </a:rPr>
              <a:t>| hosp_id=1 (스큐)   |    300 |  3,058 | 약 10.2배 과소추정 |</a:t>
            </a:r>
          </a:p>
          <a:p>
            <a:r>
              <a:rPr sz="1250" b="0">
                <a:solidFill>
                  <a:srgbClr val="E6E6E6"/>
                </a:solidFill>
                <a:latin typeface="Consolas"/>
              </a:rPr>
              <a:t>| hosp_id=500 (일반) |    300 |    177 | 약 1.7배 과대추정  |</a:t>
            </a:r>
          </a:p>
        </p:txBody>
      </p:sp>
    </p:spTree>
    <p:extLst>
      <p:ext uri="{BB962C8B-B14F-4D97-AF65-F5344CB8AC3E}">
        <p14:creationId xmlns:p14="http://schemas.microsoft.com/office/powerpoint/2010/main" val="1417263473"/>
      </p:ext>
    </p:extLst>
  </p:cSld>
  <p:clrMapOvr>
    <a:masterClrMapping/>
  </p:clrMapOvr>
</p:sld>
</file>

<file path=ppt/slides/slide3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300이라는 숫자의 출처</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계산식은 앞 절에서 이미 배웠다</a:t>
            </a:r>
          </a:p>
          <a:p>
            <a:r>
              <a:rPr sz="1600" b="0">
                <a:solidFill>
                  <a:srgbClr val="5A6672"/>
                </a:solidFill>
                <a:latin typeface="Malgun Gothic"/>
              </a:rPr>
              <a:t>    –  MEDICAL_CLAIMS의 전체 행 수는 300,000</a:t>
            </a:r>
          </a:p>
          <a:p>
            <a:r>
              <a:rPr sz="1600" b="0">
                <a:solidFill>
                  <a:srgbClr val="5A6672"/>
                </a:solidFill>
                <a:latin typeface="Malgun Gothic"/>
              </a:rPr>
              <a:t>    –  HOSP_ID의 NDV는 1,000</a:t>
            </a:r>
          </a:p>
          <a:p>
            <a:r>
              <a:rPr sz="1600" b="0">
                <a:solidFill>
                  <a:srgbClr val="5A6672"/>
                </a:solidFill>
                <a:latin typeface="Malgun Gothic"/>
              </a:rPr>
              <a:t>    –  300,000 ÷ 1,000 = 300</a:t>
            </a:r>
          </a:p>
          <a:p>
            <a:r>
              <a:rPr sz="1800" b="0">
                <a:solidFill>
                  <a:srgbClr val="202830"/>
                </a:solidFill>
                <a:latin typeface="Malgun Gothic"/>
              </a:rPr>
              <a:t>•  균등 분포 가정이 숫자로 확인된 것이다</a:t>
            </a:r>
          </a:p>
          <a:p>
            <a:r>
              <a:rPr sz="1600" b="0">
                <a:solidFill>
                  <a:srgbClr val="5A6672"/>
                </a:solidFill>
                <a:latin typeface="Malgun Gothic"/>
              </a:rPr>
              <a:t>    –  어떤 HOSP_ID 값을 조회하든 이 계산식은 같은 결과를 낸다</a:t>
            </a:r>
          </a:p>
          <a:p>
            <a:r>
              <a:rPr sz="1600" b="0">
                <a:solidFill>
                  <a:srgbClr val="5A6672"/>
                </a:solidFill>
                <a:latin typeface="Malgun Gothic"/>
              </a:rPr>
              <a:t>    –  그래서 두 조건의 E-Rows가 정확히 같아졌다</a:t>
            </a:r>
          </a:p>
          <a:p>
            <a:r>
              <a:rPr sz="1800" b="0">
                <a:solidFill>
                  <a:srgbClr val="202830"/>
                </a:solidFill>
                <a:latin typeface="Malgun Gothic"/>
              </a:rPr>
              <a:t>•  오차의 방향은 값마다 반대였다</a:t>
            </a:r>
          </a:p>
          <a:p>
            <a:r>
              <a:rPr sz="1600" b="0">
                <a:solidFill>
                  <a:srgbClr val="5A6672"/>
                </a:solidFill>
                <a:latin typeface="Malgun Gothic"/>
              </a:rPr>
              <a:t>    –  쏠린 값은 과소추정, 일반 값은 과대추정</a:t>
            </a:r>
          </a:p>
          <a:p>
            <a:r>
              <a:rPr sz="1600" b="0">
                <a:solidFill>
                  <a:srgbClr val="5A6672"/>
                </a:solidFill>
                <a:latin typeface="Malgun Gothic"/>
              </a:rPr>
              <a:t>    –  한 컬럼 안에서 양쪽으로 동시에 틀린다</a:t>
            </a:r>
          </a:p>
        </p:txBody>
      </p:sp>
    </p:spTree>
    <p:extLst>
      <p:ext uri="{BB962C8B-B14F-4D97-AF65-F5344CB8AC3E}">
        <p14:creationId xmlns:p14="http://schemas.microsoft.com/office/powerpoint/2010/main" val="436367705"/>
      </p:ext>
    </p:extLst>
  </p:cSld>
  <p:clrMapOvr>
    <a:masterClrMapping/>
  </p:clrMapOvr>
</p:sld>
</file>

<file path=ppt/slides/slide3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과소추정이 위험한 진짜 이유</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단독 실행만 보면 큰 문제가 없어 보인다</a:t>
            </a:r>
          </a:p>
          <a:p>
            <a:r>
              <a:rPr sz="1600" b="0">
                <a:solidFill>
                  <a:srgbClr val="5A6672"/>
                </a:solidFill>
                <a:latin typeface="Malgun Gothic"/>
              </a:rPr>
              <a:t>    –  조회 결과 자체는 여전히 정확하게 나온다</a:t>
            </a:r>
          </a:p>
          <a:p>
            <a:r>
              <a:rPr sz="1600" b="0">
                <a:solidFill>
                  <a:srgbClr val="5A6672"/>
                </a:solidFill>
                <a:latin typeface="Malgun Gothic"/>
              </a:rPr>
              <a:t>    –  틀린 것은 결과가 아니라 옵티마이저의 예상이다</a:t>
            </a:r>
          </a:p>
          <a:p>
            <a:r>
              <a:rPr sz="1800" b="0">
                <a:solidFill>
                  <a:srgbClr val="202830"/>
                </a:solidFill>
                <a:latin typeface="Malgun Gothic"/>
              </a:rPr>
              <a:t>•  그런데 이 조건이 조인의 일부라면</a:t>
            </a:r>
          </a:p>
          <a:p>
            <a:r>
              <a:rPr sz="1600" b="0">
                <a:solidFill>
                  <a:srgbClr val="5A6672"/>
                </a:solidFill>
                <a:latin typeface="Malgun Gothic"/>
              </a:rPr>
              <a:t>    –  옵티마이저는 이 결과 집합이 매우 작다고 오판한다</a:t>
            </a:r>
          </a:p>
          <a:p>
            <a:r>
              <a:rPr sz="1600" b="0">
                <a:solidFill>
                  <a:srgbClr val="5A6672"/>
                </a:solidFill>
                <a:latin typeface="Malgun Gothic"/>
              </a:rPr>
              <a:t>    –  작은 쪽을 드라이빙으로 삼는 조인 방식이 유리해 보이게 된다</a:t>
            </a:r>
          </a:p>
          <a:p>
            <a:r>
              <a:rPr sz="1800" b="0">
                <a:solidFill>
                  <a:srgbClr val="202830"/>
                </a:solidFill>
                <a:latin typeface="Malgun Gothic"/>
              </a:rPr>
              <a:t>•  ch09과의 연결</a:t>
            </a:r>
          </a:p>
          <a:p>
            <a:r>
              <a:rPr sz="1600" b="0">
                <a:solidFill>
                  <a:srgbClr val="5A6672"/>
                </a:solidFill>
                <a:latin typeface="Malgun Gothic"/>
              </a:rPr>
              <a:t>    –  실제로는 3,058건인데 300건으로 보고 NL Join을 선택한다면</a:t>
            </a:r>
          </a:p>
          <a:p>
            <a:r>
              <a:rPr sz="1600" b="0">
                <a:solidFill>
                  <a:srgbClr val="5A6672"/>
                </a:solidFill>
                <a:latin typeface="Malgun Gothic"/>
              </a:rPr>
              <a:t>    –  Outer 행 수가 예상보다 많아 Inner 반복 탐색도 그만큼 늘어난다</a:t>
            </a:r>
          </a:p>
          <a:p>
            <a:r>
              <a:rPr sz="1800" b="0">
                <a:solidFill>
                  <a:srgbClr val="202830"/>
                </a:solidFill>
                <a:latin typeface="Malgun Gothic"/>
              </a:rPr>
              <a:t>•  그래서 카디널리티 추정 오류는 국소적 오차로 끝나지 않는다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이 사례는 실습문제 3번과 직접 연결된다. ch09의 조인 실행 원리를 함께 놓고 설명하면, 통계 문제와 조인 문제가 별개가 아니라 하나의 사슬이라는 점이 드러난다.</a:t>
            </a:r>
          </a:p>
        </p:txBody>
      </p:sp>
    </p:spTree>
    <p:extLst>
      <p:ext uri="{BB962C8B-B14F-4D97-AF65-F5344CB8AC3E}">
        <p14:creationId xmlns:p14="http://schemas.microsoft.com/office/powerpoint/2010/main" val="3919089314"/>
      </p:ext>
    </p:extLst>
  </p:cSld>
  <p:clrMapOvr>
    <a:masterClrMapping/>
  </p:clrMapOvr>
</p:sld>
</file>

<file path=ppt/slides/slide328.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107996"/>
          </a:xfrm>
          <a:prstGeom prst="rect">
            <a:avLst/>
          </a:prstGeom>
          <a:noFill/>
        </p:spPr>
        <p:txBody>
          <a:bodyPr wrap="square">
            <a:spAutoFit/>
          </a:bodyPr>
          <a:lstStyle/>
          <a:p>
            <a:r>
              <a:rPr lang="en-US" sz="6600" b="1" dirty="0">
                <a:solidFill>
                  <a:srgbClr val="C0392B"/>
                </a:solidFill>
                <a:latin typeface="Malgun Gothic"/>
              </a:rPr>
              <a:t>8</a:t>
            </a:r>
            <a:r>
              <a:rPr sz="6600" b="1" dirty="0">
                <a:solidFill>
                  <a:srgbClr val="C0392B"/>
                </a:solidFill>
                <a:latin typeface="Malgun Gothic"/>
              </a:rPr>
              <a:t>.6</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복원과 SIZE AUTO</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FOR ALL COLUMNS SIZE AUTO — 자동 판단으로 원복</a:t>
            </a:r>
          </a:p>
          <a:p>
            <a:r>
              <a:rPr sz="1600" b="0">
                <a:solidFill>
                  <a:srgbClr val="C5CED6"/>
                </a:solidFill>
                <a:latin typeface="Malgun Gothic"/>
              </a:rPr>
              <a:t>•  복원 판정 기준은 숫자의 일치가 아니다</a:t>
            </a:r>
          </a:p>
          <a:p>
            <a:r>
              <a:rPr sz="1600" b="0">
                <a:solidFill>
                  <a:srgbClr val="C5CED6"/>
                </a:solidFill>
                <a:latin typeface="Malgun Gothic"/>
              </a:rPr>
              <a:t>•  통계 수집은 표본 추출 기반이라는 사실</a:t>
            </a:r>
          </a:p>
        </p:txBody>
      </p:sp>
    </p:spTree>
    <p:extLst>
      <p:ext uri="{BB962C8B-B14F-4D97-AF65-F5344CB8AC3E}">
        <p14:creationId xmlns:p14="http://schemas.microsoft.com/office/powerpoint/2010/main" val="816246597"/>
      </p:ext>
    </p:extLst>
  </p:cSld>
  <p:clrMapOvr>
    <a:masterClrMapping/>
  </p:clrMapOvr>
</p:sld>
</file>

<file path=ppt/slides/slide3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히스토그램 복원</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07. Tuning — 자동 판단에 맡겨 원래 상태로 되돌린다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BEGIN</a:t>
            </a:r>
          </a:p>
          <a:p>
            <a:r>
              <a:rPr sz="1250" b="0">
                <a:solidFill>
                  <a:srgbClr val="E6E6E6"/>
                </a:solidFill>
                <a:latin typeface="Consolas"/>
              </a:rPr>
              <a:t>  DBMS_STATS.GATHER_TABLE_STATS(USER, 'MEDICAL_CLAIMS',</a:t>
            </a:r>
          </a:p>
          <a:p>
            <a:r>
              <a:rPr sz="1250" b="0">
                <a:solidFill>
                  <a:srgbClr val="E6E6E6"/>
                </a:solidFill>
                <a:latin typeface="Consolas"/>
              </a:rPr>
              <a:t>    METHOD_OPT =&gt; 'FOR ALL COLUMNS SIZE AUTO');  -- 자동 판단으로 원복</a:t>
            </a:r>
          </a:p>
          <a:p>
            <a:r>
              <a:rPr sz="1250" b="0">
                <a:solidFill>
                  <a:srgbClr val="E6E6E6"/>
                </a:solidFill>
                <a:latin typeface="Consolas"/>
              </a:rPr>
              <a:t>END;</a:t>
            </a:r>
          </a:p>
          <a:p>
            <a:r>
              <a:rPr sz="1250" b="0">
                <a:solidFill>
                  <a:srgbClr val="E6E6E6"/>
                </a:solidFill>
                <a:latin typeface="Consolas"/>
              </a:rPr>
              <a:t>/</a:t>
            </a:r>
          </a:p>
          <a:p>
            <a:r>
              <a:rPr sz="1250" b="0">
                <a:solidFill>
                  <a:srgbClr val="E6E6E6"/>
                </a:solidFill>
                <a:latin typeface="Consolas"/>
              </a:rPr>
              <a:t> </a:t>
            </a:r>
          </a:p>
          <a:p>
            <a:r>
              <a:rPr sz="1250" b="0">
                <a:solidFill>
                  <a:srgbClr val="7EC699"/>
                </a:solidFill>
                <a:latin typeface="Consolas"/>
              </a:rPr>
              <a:t>-- USER_TAB_COL_STATISTICS 재확인</a:t>
            </a:r>
          </a:p>
          <a:p>
            <a:r>
              <a:rPr sz="1250" b="0">
                <a:solidFill>
                  <a:srgbClr val="E6E6E6"/>
                </a:solidFill>
                <a:latin typeface="Consolas"/>
              </a:rPr>
              <a:t>COLUMN_NAME   HISTOGRAM   NUM_BUCKETS</a:t>
            </a:r>
          </a:p>
          <a:p>
            <a:r>
              <a:rPr sz="1250" b="0">
                <a:solidFill>
                  <a:srgbClr val="E6E6E6"/>
                </a:solidFill>
                <a:latin typeface="Consolas"/>
              </a:rPr>
              <a:t>-----------   ---------   -----------</a:t>
            </a:r>
          </a:p>
          <a:p>
            <a:r>
              <a:rPr sz="1250" b="0">
                <a:solidFill>
                  <a:srgbClr val="E6E6E6"/>
                </a:solidFill>
                <a:latin typeface="Consolas"/>
              </a:rPr>
              <a:t>HOSP_ID       HYBRID              254</a:t>
            </a:r>
          </a:p>
          <a:p>
            <a:r>
              <a:rPr sz="1250" b="0">
                <a:solidFill>
                  <a:srgbClr val="E6E6E6"/>
                </a:solidFill>
                <a:latin typeface="Consolas"/>
              </a:rPr>
              <a:t> </a:t>
            </a:r>
          </a:p>
          <a:p>
            <a:r>
              <a:rPr sz="1250" b="0">
                <a:solidFill>
                  <a:srgbClr val="7EC699"/>
                </a:solidFill>
                <a:latin typeface="Consolas"/>
              </a:rPr>
              <a:t>-- 원상복구 확인 완료</a:t>
            </a:r>
          </a:p>
        </p:txBody>
      </p:sp>
    </p:spTree>
    <p:extLst>
      <p:ext uri="{BB962C8B-B14F-4D97-AF65-F5344CB8AC3E}">
        <p14:creationId xmlns:p14="http://schemas.microsoft.com/office/powerpoint/2010/main" val="2345803096"/>
      </p:ext>
    </p:extLst>
  </p:cSld>
  <p:clrMapOvr>
    <a:masterClrMapping/>
  </p:clrMapOvr>
</p:sld>
</file>

<file path=ppt/slides/slide3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복원 후 결과</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07. Tuning — 스큐를 반영한 추정으로 돌아왔는가</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조건            | E-Rows | A-Rows |      추정 정확도      |</a:t>
            </a:r>
          </a:p>
          <a:p>
            <a:r>
              <a:rPr sz="1250" b="0">
                <a:solidFill>
                  <a:srgbClr val="E6E6E6"/>
                </a:solidFill>
                <a:latin typeface="Consolas"/>
              </a:rPr>
              <a:t>|---------------------------|--------|--------|-----------------------|</a:t>
            </a:r>
          </a:p>
          <a:p>
            <a:r>
              <a:rPr sz="1250" b="0">
                <a:solidFill>
                  <a:srgbClr val="E6E6E6"/>
                </a:solidFill>
                <a:latin typeface="Consolas"/>
              </a:rPr>
              <a:t>| hosp_id=1 (스큐, 복원 후) |  2,958 |  3,058 | 근접 (비율 약 0.97배) |</a:t>
            </a:r>
          </a:p>
        </p:txBody>
      </p:sp>
    </p:spTree>
    <p:extLst>
      <p:ext uri="{BB962C8B-B14F-4D97-AF65-F5344CB8AC3E}">
        <p14:creationId xmlns:p14="http://schemas.microsoft.com/office/powerpoint/2010/main" val="2748961721"/>
      </p:ext>
    </p:extLst>
  </p:cSld>
  <p:clrMapOvr>
    <a:masterClrMapping/>
  </p:clrMapOvr>
</p:sld>
</file>

<file path=ppt/slides/slide3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숫자가 정확히 같지 않아도 복원됐다고 보는 근거</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관측된 사실</a:t>
            </a:r>
          </a:p>
          <a:p>
            <a:r>
              <a:rPr sz="1600" b="0">
                <a:solidFill>
                  <a:srgbClr val="5A6672"/>
                </a:solidFill>
                <a:latin typeface="Malgun Gothic"/>
              </a:rPr>
              <a:t>    –  복원 후 hosp_id=1의 E-Rows는 2,958 — 원래 베이스라인은 2,795</a:t>
            </a:r>
          </a:p>
          <a:p>
            <a:r>
              <a:rPr sz="1600" b="0">
                <a:solidFill>
                  <a:srgbClr val="5A6672"/>
                </a:solidFill>
                <a:latin typeface="Malgun Gothic"/>
              </a:rPr>
              <a:t>    –  두 값이 완전히 같지는 않다</a:t>
            </a:r>
          </a:p>
          <a:p>
            <a:r>
              <a:rPr sz="1800" b="0">
                <a:solidFill>
                  <a:srgbClr val="202830"/>
                </a:solidFill>
                <a:latin typeface="Malgun Gothic"/>
              </a:rPr>
              <a:t>•  왜 같지 않은가</a:t>
            </a:r>
          </a:p>
          <a:p>
            <a:r>
              <a:rPr sz="1600" b="0">
                <a:solidFill>
                  <a:srgbClr val="5A6672"/>
                </a:solidFill>
                <a:latin typeface="Malgun Gothic"/>
              </a:rPr>
              <a:t>    –  통계 수집은 전체 데이터를 다 읽는 것이 아니라 표본을 추출해 추정하는 방식이 기본</a:t>
            </a:r>
          </a:p>
          <a:p>
            <a:r>
              <a:rPr sz="1600" b="0">
                <a:solidFill>
                  <a:srgbClr val="5A6672"/>
                </a:solidFill>
                <a:latin typeface="Malgun Gothic"/>
              </a:rPr>
              <a:t>    –  같은 데이터라도 표본이 매번 조금씩 달라질 수 있다</a:t>
            </a:r>
          </a:p>
          <a:p>
            <a:r>
              <a:rPr sz="1800" b="0">
                <a:solidFill>
                  <a:srgbClr val="202830"/>
                </a:solidFill>
                <a:latin typeface="Malgun Gothic"/>
              </a:rPr>
              <a:t>•  그럼 무엇을 근거로 판정하나</a:t>
            </a:r>
          </a:p>
          <a:p>
            <a:r>
              <a:rPr sz="1600" b="0">
                <a:solidFill>
                  <a:srgbClr val="5A6672"/>
                </a:solidFill>
                <a:latin typeface="Malgun Gothic"/>
              </a:rPr>
              <a:t>    –  HISTOGRAM과 NUM_BUCKETS가 원래와 같은 종류의 통계로 돌아왔는가</a:t>
            </a:r>
          </a:p>
          <a:p>
            <a:r>
              <a:rPr sz="1600" b="0">
                <a:solidFill>
                  <a:srgbClr val="5A6672"/>
                </a:solidFill>
                <a:latin typeface="Malgun Gothic"/>
              </a:rPr>
              <a:t>    –  E-Rows가 다시 값에 따라 달라지는가 — 균등 가정으로 되돌아가지 않았는가</a:t>
            </a:r>
          </a:p>
          <a:p>
            <a:r>
              <a:rPr sz="1600" b="0">
                <a:solidFill>
                  <a:srgbClr val="5A6672"/>
                </a:solidFill>
                <a:latin typeface="Malgun Gothic"/>
              </a:rPr>
              <a:t>    –  추정치가 실제값 근처로 돌아왔는가</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복원 확인은 말이 아니라 값으로 한다. HISTOGRAM과 NUM_BUCKETS 두 컬럼을 캡처해 남겨 두는 것을 이 차시의 종료 절차로 삼는다.</a:t>
            </a:r>
          </a:p>
        </p:txBody>
      </p:sp>
    </p:spTree>
    <p:extLst>
      <p:ext uri="{BB962C8B-B14F-4D97-AF65-F5344CB8AC3E}">
        <p14:creationId xmlns:p14="http://schemas.microsoft.com/office/powerpoint/2010/main" val="1629492796"/>
      </p:ext>
    </p:extLst>
  </p:cSld>
  <p:clrMapOvr>
    <a:masterClrMapping/>
  </p:clrMapOvr>
</p:sld>
</file>

<file path=ppt/slides/slide3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세 상태 종합 비교</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08. Benchmark — 통계만 바꿔 가며 관측한 결과</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상태           | hosp_id=1 E-Rows | hosp_id=500 E-Rows | 두 값이 다른가?  |</a:t>
            </a:r>
          </a:p>
          <a:p>
            <a:r>
              <a:rPr sz="1250" b="0">
                <a:solidFill>
                  <a:srgbClr val="E6E6E6"/>
                </a:solidFill>
                <a:latin typeface="Consolas"/>
              </a:rPr>
              <a:t>|--------------------------|------------------|--------------------|------------------|</a:t>
            </a:r>
          </a:p>
          <a:p>
            <a:r>
              <a:rPr sz="1250" b="0">
                <a:solidFill>
                  <a:srgbClr val="E6E6E6"/>
                </a:solidFill>
                <a:latin typeface="Consolas"/>
              </a:rPr>
              <a:t>| 히스토그램 있음 (원본)   |            2,795 |                280 | 다름 (스큐 반영) |</a:t>
            </a:r>
          </a:p>
          <a:p>
            <a:r>
              <a:rPr sz="1250" b="0">
                <a:solidFill>
                  <a:srgbClr val="E6E6E6"/>
                </a:solidFill>
                <a:latin typeface="Consolas"/>
              </a:rPr>
              <a:t>| 히스토그램 제거 (SIZE 1) |              300 |                300 | 동일 (균등 가정) |</a:t>
            </a:r>
          </a:p>
          <a:p>
            <a:r>
              <a:rPr sz="1250" b="0">
                <a:solidFill>
                  <a:srgbClr val="E6E6E6"/>
                </a:solidFill>
                <a:latin typeface="Consolas"/>
              </a:rPr>
              <a:t>| 히스토그램 복원 (AUTO)   |            2,958 |                158 | 다시 다름        |</a:t>
            </a:r>
          </a:p>
        </p:txBody>
      </p:sp>
    </p:spTree>
    <p:extLst>
      <p:ext uri="{BB962C8B-B14F-4D97-AF65-F5344CB8AC3E}">
        <p14:creationId xmlns:p14="http://schemas.microsoft.com/office/powerpoint/2010/main" val="896808607"/>
      </p:ext>
    </p:extLst>
  </p:cSld>
  <p:clrMapOvr>
    <a:masterClrMapping/>
  </p:clrMapOvr>
</p:sld>
</file>

<file path=ppt/slides/slide3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METHOD_OPT — 히스토그램 생성 제어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METHOD_OPT은 통계 수집 시 히스토그램 생성 방식을 지정하는 파라미터</a:t>
            </a:r>
          </a:p>
          <a:p>
            <a:r>
              <a:rPr sz="1600" b="0">
                <a:solidFill>
                  <a:srgbClr val="5A6672"/>
                </a:solidFill>
                <a:latin typeface="Malgun Gothic"/>
              </a:rPr>
              <a:t>    –  FOR COLUMNS 컬럼명 SIZE 1 — 해당 컬럼의 히스토그램을 없앤다</a:t>
            </a:r>
          </a:p>
          <a:p>
            <a:r>
              <a:rPr sz="1600" b="0">
                <a:solidFill>
                  <a:srgbClr val="5A6672"/>
                </a:solidFill>
                <a:latin typeface="Malgun Gothic"/>
              </a:rPr>
              <a:t>    –  FOR ALL COLUMNS SIZE AUTO — Oracle이 컬럼별로 필요 여부를 판단한다</a:t>
            </a:r>
          </a:p>
          <a:p>
            <a:r>
              <a:rPr sz="1800" b="0">
                <a:solidFill>
                  <a:srgbClr val="202830"/>
                </a:solidFill>
                <a:latin typeface="Malgun Gothic"/>
              </a:rPr>
              <a:t>•  지정하지 않으면 어떻게 되나</a:t>
            </a:r>
          </a:p>
          <a:p>
            <a:r>
              <a:rPr sz="1600" b="0">
                <a:solidFill>
                  <a:srgbClr val="5A6672"/>
                </a:solidFill>
                <a:latin typeface="Malgun Gothic"/>
              </a:rPr>
              <a:t>    –  METHOD_OPT을 생략하면 기본값인 FOR ALL COLUMNS SIZE AUTO가 적용된다</a:t>
            </a:r>
          </a:p>
          <a:p>
            <a:r>
              <a:rPr sz="1600" b="0">
                <a:solidFill>
                  <a:srgbClr val="5A6672"/>
                </a:solidFill>
                <a:latin typeface="Malgun Gothic"/>
              </a:rPr>
              <a:t>    –  이 스키마의 생성 스크립트가 METHOD_OPT을 명시하지 않았는데도 HOSP_ID에 히스토그램이 생긴 이유</a:t>
            </a:r>
          </a:p>
          <a:p>
            <a:r>
              <a:rPr sz="1800" b="0">
                <a:solidFill>
                  <a:srgbClr val="202830"/>
                </a:solidFill>
                <a:latin typeface="Malgun Gothic"/>
              </a:rPr>
              <a:t>•  SIZE AUTO가 판단하는 기준</a:t>
            </a:r>
          </a:p>
          <a:p>
            <a:r>
              <a:rPr sz="1600" b="0">
                <a:solidFill>
                  <a:srgbClr val="5A6672"/>
                </a:solidFill>
                <a:latin typeface="Malgun Gothic"/>
              </a:rPr>
              <a:t>    –  컬럼의 데이터 분포를 살펴 스큐가 있다고 판단되는 컬럼에만 만든다</a:t>
            </a:r>
          </a:p>
          <a:p>
            <a:r>
              <a:rPr sz="1600" b="0">
                <a:solidFill>
                  <a:srgbClr val="5A6672"/>
                </a:solidFill>
                <a:latin typeface="Malgun Gothic"/>
              </a:rPr>
              <a:t>    –  값의 종류가 많고 일부에 크게 쏠린 컬럼일수록 생성될 가능성이 높다</a:t>
            </a:r>
          </a:p>
        </p:txBody>
      </p:sp>
    </p:spTree>
    <p:extLst>
      <p:ext uri="{BB962C8B-B14F-4D97-AF65-F5344CB8AC3E}">
        <p14:creationId xmlns:p14="http://schemas.microsoft.com/office/powerpoint/2010/main" val="2132414623"/>
      </p:ext>
    </p:extLst>
  </p:cSld>
  <p:clrMapOvr>
    <a:masterClrMapping/>
  </p:clrMapOvr>
</p:sld>
</file>

<file path=ppt/slides/slide334.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107996"/>
          </a:xfrm>
          <a:prstGeom prst="rect">
            <a:avLst/>
          </a:prstGeom>
          <a:noFill/>
        </p:spPr>
        <p:txBody>
          <a:bodyPr wrap="square">
            <a:spAutoFit/>
          </a:bodyPr>
          <a:lstStyle/>
          <a:p>
            <a:r>
              <a:rPr lang="en-US" sz="6600" b="1" dirty="0">
                <a:solidFill>
                  <a:srgbClr val="C0392B"/>
                </a:solidFill>
                <a:latin typeface="Malgun Gothic"/>
              </a:rPr>
              <a:t>8</a:t>
            </a:r>
            <a:r>
              <a:rPr sz="6600" b="1" dirty="0">
                <a:solidFill>
                  <a:srgbClr val="C0392B"/>
                </a:solidFill>
                <a:latin typeface="Malgun Gothic"/>
              </a:rPr>
              <a:t>.7</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히스토그램의 한계와 운영 판단</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히스토그램도 공짜가 아니다 — 수집 비용과 파싱 비용</a:t>
            </a:r>
          </a:p>
          <a:p>
            <a:r>
              <a:rPr sz="1600" b="0">
                <a:solidFill>
                  <a:srgbClr val="C5CED6"/>
                </a:solidFill>
                <a:latin typeface="Malgun Gothic"/>
              </a:rPr>
              <a:t>•  바인드 변수 Peeking — 계획이 고정되면 이점이 무력화된다</a:t>
            </a:r>
          </a:p>
          <a:p>
            <a:r>
              <a:rPr sz="1600" b="0">
                <a:solidFill>
                  <a:srgbClr val="C5CED6"/>
                </a:solidFill>
                <a:latin typeface="Malgun Gothic"/>
              </a:rPr>
              <a:t>•  컬럼 간 상관관계 — 히스토그램으로는 풀리지 않는 문제</a:t>
            </a:r>
          </a:p>
        </p:txBody>
      </p:sp>
    </p:spTree>
    <p:extLst>
      <p:ext uri="{BB962C8B-B14F-4D97-AF65-F5344CB8AC3E}">
        <p14:creationId xmlns:p14="http://schemas.microsoft.com/office/powerpoint/2010/main" val="1316372152"/>
      </p:ext>
    </p:extLst>
  </p:cSld>
  <p:clrMapOvr>
    <a:masterClrMapping/>
  </p:clrMapOvr>
</p:sld>
</file>

<file path=ppt/slides/slide3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히스토그램도 공짜가 아니다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만들고 유지하는 데 비용이 든다</a:t>
            </a:r>
          </a:p>
          <a:p>
            <a:r>
              <a:rPr sz="1600" b="0">
                <a:solidFill>
                  <a:srgbClr val="5A6672"/>
                </a:solidFill>
                <a:latin typeface="Malgun Gothic"/>
              </a:rPr>
              <a:t>    –  통계 수집 시간이 더 걸린다</a:t>
            </a:r>
          </a:p>
          <a:p>
            <a:r>
              <a:rPr sz="1600" b="0">
                <a:solidFill>
                  <a:srgbClr val="5A6672"/>
                </a:solidFill>
                <a:latin typeface="Malgun Gothic"/>
              </a:rPr>
              <a:t>    –  저장 공간을 차지한다</a:t>
            </a:r>
          </a:p>
          <a:p>
            <a:r>
              <a:rPr sz="1600" b="0">
                <a:solidFill>
                  <a:srgbClr val="5A6672"/>
                </a:solidFill>
                <a:latin typeface="Malgun Gothic"/>
              </a:rPr>
              <a:t>    –  옵티마이저가 실행계획을 세울 때 참고할 데이터도 더 많아진다</a:t>
            </a:r>
          </a:p>
          <a:p>
            <a:r>
              <a:rPr sz="1800" b="0">
                <a:solidFill>
                  <a:srgbClr val="202830"/>
                </a:solidFill>
                <a:latin typeface="Malgun Gothic"/>
              </a:rPr>
              <a:t>•  모든 컬럼에 정밀한 히스토그램을 만들면</a:t>
            </a:r>
          </a:p>
          <a:p>
            <a:r>
              <a:rPr sz="1600" b="0">
                <a:solidFill>
                  <a:srgbClr val="5A6672"/>
                </a:solidFill>
                <a:latin typeface="Malgun Gothic"/>
              </a:rPr>
              <a:t>    –  컬럼이 많은 테이블에서는 통계 수집 자체가 느려진다</a:t>
            </a:r>
          </a:p>
          <a:p>
            <a:r>
              <a:rPr sz="1600" b="0">
                <a:solidFill>
                  <a:srgbClr val="5A6672"/>
                </a:solidFill>
                <a:latin typeface="Malgun Gothic"/>
              </a:rPr>
              <a:t>    –  매 파싱 시 참고할 정보가 늘어 파싱 비용이 늘어날 수 있다</a:t>
            </a:r>
          </a:p>
          <a:p>
            <a:r>
              <a:rPr sz="1800" b="0">
                <a:solidFill>
                  <a:srgbClr val="202830"/>
                </a:solidFill>
                <a:latin typeface="Malgun Gothic"/>
              </a:rPr>
              <a:t>•  값이 실제로 균등한 컬럼에는 사실상 낭비다</a:t>
            </a:r>
          </a:p>
          <a:p>
            <a:r>
              <a:rPr sz="1600" b="0">
                <a:solidFill>
                  <a:srgbClr val="5A6672"/>
                </a:solidFill>
                <a:latin typeface="Malgun Gothic"/>
              </a:rPr>
              <a:t>    –  있으나 없으나 추정 결과가 비슷하기 때문</a:t>
            </a:r>
          </a:p>
          <a:p>
            <a:r>
              <a:rPr sz="1800" b="0">
                <a:solidFill>
                  <a:srgbClr val="202830"/>
                </a:solidFill>
                <a:latin typeface="Malgun Gothic"/>
              </a:rPr>
              <a:t>•  그래서 Oracle의 기본 정책이 SIZE AUTO다</a:t>
            </a:r>
          </a:p>
          <a:p>
            <a:r>
              <a:rPr sz="1600" b="0">
                <a:solidFill>
                  <a:srgbClr val="5A6672"/>
                </a:solidFill>
                <a:latin typeface="Malgun Gothic"/>
              </a:rPr>
              <a:t>    –  정말 필요한 컬럼에만 만들도록 설계된 것</a:t>
            </a:r>
          </a:p>
        </p:txBody>
      </p:sp>
    </p:spTree>
    <p:extLst>
      <p:ext uri="{BB962C8B-B14F-4D97-AF65-F5344CB8AC3E}">
        <p14:creationId xmlns:p14="http://schemas.microsoft.com/office/powerpoint/2010/main" val="3000103554"/>
      </p:ext>
    </p:extLst>
  </p:cSld>
  <p:clrMapOvr>
    <a:masterClrMapping/>
  </p:clrMapOvr>
</p:sld>
</file>

<file path=ppt/slides/slide3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바인드 변수 Peeking과의 상충</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ch02에서 확인한 것</a:t>
            </a:r>
          </a:p>
          <a:p>
            <a:r>
              <a:rPr sz="1600" b="0">
                <a:solidFill>
                  <a:srgbClr val="5A6672"/>
                </a:solidFill>
                <a:latin typeface="Malgun Gothic"/>
              </a:rPr>
              <a:t>    –  바인드 변수를 쓰면 최초 하드 파싱 시점의 값 하나를 기준으로 계획이 만들어진다</a:t>
            </a:r>
          </a:p>
          <a:p>
            <a:r>
              <a:rPr sz="1600" b="0">
                <a:solidFill>
                  <a:srgbClr val="5A6672"/>
                </a:solidFill>
                <a:latin typeface="Malgun Gothic"/>
              </a:rPr>
              <a:t>    –  그 계획이 이후 다른 값에도 재사용된다 — 바인드 변수 Peeking</a:t>
            </a:r>
          </a:p>
          <a:p>
            <a:r>
              <a:rPr sz="1800" b="0">
                <a:solidFill>
                  <a:srgbClr val="202830"/>
                </a:solidFill>
                <a:latin typeface="Malgun Gothic"/>
              </a:rPr>
              <a:t>•  히스토그램의 이점이 어디서 막히나</a:t>
            </a:r>
          </a:p>
          <a:p>
            <a:r>
              <a:rPr sz="1600" b="0">
                <a:solidFill>
                  <a:srgbClr val="5A6672"/>
                </a:solidFill>
                <a:latin typeface="Malgun Gothic"/>
              </a:rPr>
              <a:t>    –  옵티마이저는 이번에 대입된 그 값 하나에 대해서만 히스토그램을 참조한다</a:t>
            </a:r>
          </a:p>
          <a:p>
            <a:r>
              <a:rPr sz="1600" b="0">
                <a:solidFill>
                  <a:srgbClr val="5A6672"/>
                </a:solidFill>
                <a:latin typeface="Malgun Gothic"/>
              </a:rPr>
              <a:t>    –  첫 실행이 hosp_id=1이었는데 다음이 hosp_id=500이어도 처음 계획을 재사용한다</a:t>
            </a:r>
          </a:p>
          <a:p>
            <a:r>
              <a:rPr sz="1600" b="0">
                <a:solidFill>
                  <a:srgbClr val="5A6672"/>
                </a:solidFill>
                <a:latin typeface="Malgun Gothic"/>
              </a:rPr>
              <a:t>    –  히스토그램이 아무리 정확해도 계획이 고정되면 이점이 무력화된다</a:t>
            </a:r>
          </a:p>
          <a:p>
            <a:r>
              <a:rPr sz="1800" b="0">
                <a:solidFill>
                  <a:srgbClr val="202830"/>
                </a:solidFill>
                <a:latin typeface="Malgun Gothic"/>
              </a:rPr>
              <a:t>•  정리하면</a:t>
            </a:r>
          </a:p>
          <a:p>
            <a:r>
              <a:rPr sz="1600" b="0">
                <a:solidFill>
                  <a:srgbClr val="5A6672"/>
                </a:solidFill>
                <a:latin typeface="Malgun Gothic"/>
              </a:rPr>
              <a:t>    –  리터럴로 매번 새로 파싱되는 경우 — 히스토그램이 최대한 활용된다</a:t>
            </a:r>
          </a:p>
          <a:p>
            <a:r>
              <a:rPr sz="1600" b="0">
                <a:solidFill>
                  <a:srgbClr val="5A6672"/>
                </a:solidFill>
                <a:latin typeface="Malgun Gothic"/>
              </a:rPr>
              <a:t>    –  바인드 변수로 계획이 고정되는 경우 — 효과가 제한적일 수 있다</a:t>
            </a:r>
          </a:p>
        </p:txBody>
      </p:sp>
    </p:spTree>
    <p:extLst>
      <p:ext uri="{BB962C8B-B14F-4D97-AF65-F5344CB8AC3E}">
        <p14:creationId xmlns:p14="http://schemas.microsoft.com/office/powerpoint/2010/main" val="1001593064"/>
      </p:ext>
    </p:extLst>
  </p:cSld>
  <p:clrMapOvr>
    <a:masterClrMapping/>
  </p:clrMapOvr>
</p:sld>
</file>

<file path=ppt/slides/slide3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히스토그램으로는 풀리지 않는 문제</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ch03 Q1의 오차를 다시 본다</a:t>
            </a:r>
          </a:p>
          <a:p>
            <a:r>
              <a:rPr sz="1600" b="0">
                <a:solidFill>
                  <a:srgbClr val="5A6672"/>
                </a:solidFill>
                <a:latin typeface="Malgun Gothic"/>
              </a:rPr>
              <a:t>    –  CLAIM_TYPE과 TOTAL_AMT 두 컬럼의 조합 조건에서 발생한 추정 오차</a:t>
            </a:r>
          </a:p>
          <a:p>
            <a:r>
              <a:rPr sz="1800" b="0">
                <a:solidFill>
                  <a:srgbClr val="202830"/>
                </a:solidFill>
                <a:latin typeface="Malgun Gothic"/>
              </a:rPr>
              <a:t>•  히스토그램이 기록하는 것</a:t>
            </a:r>
          </a:p>
          <a:p>
            <a:r>
              <a:rPr sz="1600" b="0">
                <a:solidFill>
                  <a:srgbClr val="5A6672"/>
                </a:solidFill>
                <a:latin typeface="Malgun Gothic"/>
              </a:rPr>
              <a:t>    –  컬럼 하나의 값 분포</a:t>
            </a:r>
          </a:p>
          <a:p>
            <a:r>
              <a:rPr sz="1600" b="0">
                <a:solidFill>
                  <a:srgbClr val="5A6672"/>
                </a:solidFill>
                <a:latin typeface="Malgun Gothic"/>
              </a:rPr>
              <a:t>    –  두 컬럼이 동시에 어떤 값을 가지는 경향, 즉 상관관계는 기록하지 않는다</a:t>
            </a:r>
          </a:p>
          <a:p>
            <a:r>
              <a:rPr sz="1800" b="0">
                <a:solidFill>
                  <a:srgbClr val="202830"/>
                </a:solidFill>
                <a:latin typeface="Malgun Gothic"/>
              </a:rPr>
              <a:t>•  따라서</a:t>
            </a:r>
          </a:p>
          <a:p>
            <a:r>
              <a:rPr sz="1600" b="0">
                <a:solidFill>
                  <a:srgbClr val="5A6672"/>
                </a:solidFill>
                <a:latin typeface="Malgun Gothic"/>
              </a:rPr>
              <a:t>    –  두 컬럼 각각에 히스토그램이 있었더라도 옵티마이저는 두 조건을 독립으로 가정한다</a:t>
            </a:r>
          </a:p>
          <a:p>
            <a:r>
              <a:rPr sz="1600" b="0">
                <a:solidFill>
                  <a:srgbClr val="5A6672"/>
                </a:solidFill>
                <a:latin typeface="Malgun Gothic"/>
              </a:rPr>
              <a:t>    –  선택도를 곱하는 계산은 그대로 유지되고 오차도 그대로 남는다</a:t>
            </a:r>
          </a:p>
          <a:p>
            <a:r>
              <a:rPr sz="1800" b="0">
                <a:solidFill>
                  <a:srgbClr val="202830"/>
                </a:solidFill>
                <a:latin typeface="Malgun Gothic"/>
              </a:rPr>
              <a:t>•  원인의 이름이 다르다</a:t>
            </a:r>
          </a:p>
          <a:p>
            <a:r>
              <a:rPr sz="1600" b="0">
                <a:solidFill>
                  <a:srgbClr val="5A6672"/>
                </a:solidFill>
                <a:latin typeface="Malgun Gothic"/>
              </a:rPr>
              <a:t>    –  이 오차는 히스토그램 부재가 아니라 컬럼 간 상관관계를 반영하는 통계의 부재다</a:t>
            </a:r>
          </a:p>
          <a:p>
            <a:r>
              <a:rPr sz="1600" b="0">
                <a:solidFill>
                  <a:srgbClr val="5A6672"/>
                </a:solidFill>
                <a:latin typeface="Malgun Gothic"/>
              </a:rPr>
              <a:t>    –  단일 컬럼 분포 문제와 다중 컬럼 상관관계 문제는 서로 다른 종류다</a:t>
            </a:r>
          </a:p>
        </p:txBody>
      </p:sp>
    </p:spTree>
    <p:extLst>
      <p:ext uri="{BB962C8B-B14F-4D97-AF65-F5344CB8AC3E}">
        <p14:creationId xmlns:p14="http://schemas.microsoft.com/office/powerpoint/2010/main" val="4250080815"/>
      </p:ext>
    </p:extLst>
  </p:cSld>
  <p:clrMapOvr>
    <a:masterClrMapping/>
  </p:clrMapOvr>
</p:sld>
</file>

<file path=ppt/slides/slide3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통계 이상을 의심하는 진단 절차</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1단계  E-Rows와 A-Rows의 괴리를 확인한다</a:t>
            </a:r>
          </a:p>
          <a:p>
            <a:r>
              <a:rPr sz="1600" b="0">
                <a:solidFill>
                  <a:srgbClr val="5A6672"/>
                </a:solidFill>
                <a:latin typeface="Malgun Gothic"/>
              </a:rPr>
              <a:t>    –  자릿수 수준으로 벌어져 있는 단계가 어디인지 찾는다</a:t>
            </a:r>
          </a:p>
          <a:p>
            <a:r>
              <a:rPr sz="1800" b="0">
                <a:solidFill>
                  <a:srgbClr val="202830"/>
                </a:solidFill>
                <a:latin typeface="Malgun Gothic"/>
              </a:rPr>
              <a:t>•  2단계  조건 값을 바꿔 가며 E-Rows가 반응하는지 본다</a:t>
            </a:r>
          </a:p>
          <a:p>
            <a:r>
              <a:rPr sz="1600" b="0">
                <a:solidFill>
                  <a:srgbClr val="5A6672"/>
                </a:solidFill>
                <a:latin typeface="Malgun Gothic"/>
              </a:rPr>
              <a:t>    –  값이 달라도 추정치가 고정이면 균등 가정이 적용되고 있는 것</a:t>
            </a:r>
          </a:p>
          <a:p>
            <a:r>
              <a:rPr sz="1800" b="0">
                <a:solidFill>
                  <a:srgbClr val="202830"/>
                </a:solidFill>
                <a:latin typeface="Malgun Gothic"/>
              </a:rPr>
              <a:t>•  3단계  USER_TAB_COL_STATISTICS로 통계 상태를 확인한다</a:t>
            </a:r>
          </a:p>
          <a:p>
            <a:r>
              <a:rPr sz="1600" b="0">
                <a:solidFill>
                  <a:srgbClr val="5A6672"/>
                </a:solidFill>
                <a:latin typeface="Malgun Gothic"/>
              </a:rPr>
              <a:t>    –  HISTOGRAM과 NUM_BUCKETS를 함께 본다</a:t>
            </a:r>
          </a:p>
          <a:p>
            <a:r>
              <a:rPr sz="1800" b="0">
                <a:solidFill>
                  <a:srgbClr val="202830"/>
                </a:solidFill>
                <a:latin typeface="Malgun Gothic"/>
              </a:rPr>
              <a:t>•  4단계  조건의 형태를 확인한다</a:t>
            </a:r>
          </a:p>
          <a:p>
            <a:r>
              <a:rPr sz="1600" b="0">
                <a:solidFill>
                  <a:srgbClr val="5A6672"/>
                </a:solidFill>
                <a:latin typeface="Malgun Gothic"/>
              </a:rPr>
              <a:t>    –  단일 컬럼 등치 조건인가, 여러 컬럼의 조합 조건인가</a:t>
            </a:r>
          </a:p>
          <a:p>
            <a:r>
              <a:rPr sz="1600" b="0">
                <a:solidFill>
                  <a:srgbClr val="5A6672"/>
                </a:solidFill>
                <a:latin typeface="Malgun Gothic"/>
              </a:rPr>
              <a:t>    –  리터럴인가 바인드 변수인가</a:t>
            </a:r>
          </a:p>
          <a:p>
            <a:r>
              <a:rPr sz="1800" b="0">
                <a:solidFill>
                  <a:srgbClr val="202830"/>
                </a:solidFill>
                <a:latin typeface="Malgun Gothic"/>
              </a:rPr>
              <a:t>•  5단계  통계 수집 시점과 데이터 변경 시점을 대조한다</a:t>
            </a:r>
          </a:p>
          <a:p>
            <a:r>
              <a:rPr sz="1600" b="0">
                <a:solidFill>
                  <a:srgbClr val="5A6672"/>
                </a:solidFill>
                <a:latin typeface="Malgun Gothic"/>
              </a:rPr>
              <a:t>    –  대량 적재나 대량 갱신 이후 통계가 갱신됐는지 확인한다</a:t>
            </a:r>
          </a:p>
        </p:txBody>
      </p:sp>
    </p:spTree>
    <p:extLst>
      <p:ext uri="{BB962C8B-B14F-4D97-AF65-F5344CB8AC3E}">
        <p14:creationId xmlns:p14="http://schemas.microsoft.com/office/powerpoint/2010/main" val="1952157046"/>
      </p:ext>
    </p:extLst>
  </p:cSld>
  <p:clrMapOvr>
    <a:masterClrMapping/>
  </p:clrMapOvr>
</p:sld>
</file>

<file path=ppt/slides/slide3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통계 수집 시점이라는 축</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통계는 수집 시점의 스냅숏이다</a:t>
            </a:r>
          </a:p>
          <a:p>
            <a:r>
              <a:rPr sz="1600" b="0">
                <a:solidFill>
                  <a:srgbClr val="5A6672"/>
                </a:solidFill>
                <a:latin typeface="Malgun Gothic"/>
              </a:rPr>
              <a:t>    –  옵티마이저는 지금의 데이터가 아니라 마지막으로 수집된 요약본을 본다</a:t>
            </a:r>
          </a:p>
          <a:p>
            <a:r>
              <a:rPr sz="1800" b="0">
                <a:solidFill>
                  <a:srgbClr val="202830"/>
                </a:solidFill>
                <a:latin typeface="Malgun Gothic"/>
              </a:rPr>
              <a:t>•  그래서 생기는 어긋남</a:t>
            </a:r>
          </a:p>
          <a:p>
            <a:r>
              <a:rPr sz="1600" b="0">
                <a:solidFill>
                  <a:srgbClr val="5A6672"/>
                </a:solidFill>
                <a:latin typeface="Malgun Gothic"/>
              </a:rPr>
              <a:t>    –  대량 적재나 대량 삭제 직후에는 통계와 실제가 크게 벌어질 수 있다</a:t>
            </a:r>
          </a:p>
          <a:p>
            <a:r>
              <a:rPr sz="1600" b="0">
                <a:solidFill>
                  <a:srgbClr val="5A6672"/>
                </a:solidFill>
                <a:latin typeface="Malgun Gothic"/>
              </a:rPr>
              <a:t>    –  데이터 변화 속도가 수집 주기보다 빠르면 어긋남이 상시화된다</a:t>
            </a:r>
          </a:p>
          <a:p>
            <a:r>
              <a:rPr sz="1800" b="0">
                <a:solidFill>
                  <a:srgbClr val="202830"/>
                </a:solidFill>
                <a:latin typeface="Malgun Gothic"/>
              </a:rPr>
              <a:t>•  반대 방향의 사고도 있다</a:t>
            </a:r>
          </a:p>
          <a:p>
            <a:r>
              <a:rPr sz="1600" b="0">
                <a:solidFill>
                  <a:srgbClr val="5A6672"/>
                </a:solidFill>
                <a:latin typeface="Malgun Gothic"/>
              </a:rPr>
              <a:t>    –  통계를 재수집한 순간 계획이 바뀌어 어제까지 잘 돌던 SQL이 느려지기도 한다</a:t>
            </a:r>
          </a:p>
          <a:p>
            <a:r>
              <a:rPr sz="1600" b="0">
                <a:solidFill>
                  <a:srgbClr val="5A6672"/>
                </a:solidFill>
                <a:latin typeface="Malgun Gothic"/>
              </a:rPr>
              <a:t>    –  코드도 데이터도 그대로인데 계획만 바뀌었다면 통계를 먼저 의심한다</a:t>
            </a:r>
          </a:p>
          <a:p>
            <a:r>
              <a:rPr sz="1800" b="0">
                <a:solidFill>
                  <a:srgbClr val="202830"/>
                </a:solidFill>
                <a:latin typeface="Malgun Gothic"/>
              </a:rPr>
              <a:t>•  운영에서 필요한 것</a:t>
            </a:r>
          </a:p>
          <a:p>
            <a:r>
              <a:rPr sz="1600" b="0">
                <a:solidFill>
                  <a:srgbClr val="5A6672"/>
                </a:solidFill>
                <a:latin typeface="Malgun Gothic"/>
              </a:rPr>
              <a:t>    –  통계를 언제 수집했는지 기록하고, 변경 전후의 계획을 남겨 두는 것</a:t>
            </a:r>
          </a:p>
        </p:txBody>
      </p:sp>
    </p:spTree>
    <p:extLst>
      <p:ext uri="{BB962C8B-B14F-4D97-AF65-F5344CB8AC3E}">
        <p14:creationId xmlns:p14="http://schemas.microsoft.com/office/powerpoint/2010/main" val="3813961316"/>
      </p:ext>
    </p:extLst>
  </p:cSld>
  <p:clrMapOvr>
    <a:masterClrMapping/>
  </p:clrMapOvr>
</p:sld>
</file>

<file path=ppt/slides/slide3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요약 (Summary)</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히스토그램이 없는 컬럼의 등치 조건 E-Rows는 전체 행 수 ÷ NDV로 계산된다</a:t>
            </a:r>
          </a:p>
          <a:p>
            <a:r>
              <a:rPr sz="1800" b="0">
                <a:solidFill>
                  <a:srgbClr val="202830"/>
                </a:solidFill>
                <a:latin typeface="Malgun Gothic"/>
              </a:rPr>
              <a:t>•  이 계산은 균등 분포 가정 위에 서 있어 어떤 값을 조회하든 같은 값이 나온다</a:t>
            </a:r>
          </a:p>
          <a:p>
            <a:r>
              <a:rPr sz="1800" b="0">
                <a:solidFill>
                  <a:srgbClr val="202830"/>
                </a:solidFill>
                <a:latin typeface="Malgun Gothic"/>
              </a:rPr>
              <a:t>•  히스토그램이 있으면 값별 빈도를 반영해 스큐를 정확히 추정할 수 있다</a:t>
            </a:r>
          </a:p>
          <a:p>
            <a:r>
              <a:rPr sz="1800" b="0">
                <a:solidFill>
                  <a:srgbClr val="202830"/>
                </a:solidFill>
                <a:latin typeface="Malgun Gothic"/>
              </a:rPr>
              <a:t>•  METHOD_OPT으로 히스토그램 생성 여부를 제어하고, SIZE AUTO는 Oracle이 스스로 판단한다</a:t>
            </a:r>
          </a:p>
          <a:p>
            <a:r>
              <a:rPr sz="1800" b="0">
                <a:solidFill>
                  <a:srgbClr val="202830"/>
                </a:solidFill>
                <a:latin typeface="Malgun Gothic"/>
              </a:rPr>
              <a:t>•  통계 상태는 USER_TAB_COL_STATISTICS의 HISTOGRAM과 NUM_BUCKETS로 확인한다</a:t>
            </a:r>
          </a:p>
          <a:p>
            <a:r>
              <a:rPr sz="1800" b="0">
                <a:solidFill>
                  <a:srgbClr val="202830"/>
                </a:solidFill>
                <a:latin typeface="Malgun Gothic"/>
              </a:rPr>
              <a:t>•  카디널리티 추정이 크게 틀리면 조인 방식 등 후속 판단까지 잘못될 위험이 있다</a:t>
            </a:r>
          </a:p>
          <a:p>
            <a:r>
              <a:rPr sz="1800" b="0">
                <a:solidFill>
                  <a:srgbClr val="202830"/>
                </a:solidFill>
                <a:latin typeface="Malgun Gothic"/>
              </a:rPr>
              <a:t>•  통계 수집은 표본 추출 기반이므로 재수집 때마다 수치가 미세하게 다를 수 있다</a:t>
            </a:r>
          </a:p>
          <a:p>
            <a:r>
              <a:rPr sz="1800" b="0">
                <a:solidFill>
                  <a:srgbClr val="202830"/>
                </a:solidFill>
                <a:latin typeface="Malgun Gothic"/>
              </a:rPr>
              <a:t>•  히스토그램은 단일 컬럼 분포만 다룬다 — 상관관계와 바인드 고정 문제는 별개다</a:t>
            </a:r>
          </a:p>
        </p:txBody>
      </p:sp>
    </p:spTree>
    <p:extLst>
      <p:ext uri="{BB962C8B-B14F-4D97-AF65-F5344CB8AC3E}">
        <p14:creationId xmlns:p14="http://schemas.microsoft.com/office/powerpoint/2010/main" val="528359887"/>
      </p:ext>
    </p:extLst>
  </p:cSld>
  <p:clrMapOvr>
    <a:masterClrMapping/>
  </p:clrMapOvr>
</p:sld>
</file>

<file path=ppt/slides/slide3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실습 안내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실습문제 10문항 — ch08_문제.md</a:t>
            </a:r>
          </a:p>
          <a:p>
            <a:r>
              <a:rPr sz="1600" b="0">
                <a:solidFill>
                  <a:srgbClr val="5A6672"/>
                </a:solidFill>
                <a:latin typeface="Malgun Gothic"/>
              </a:rPr>
              <a:t>    –  1·2번  300의 계산 근거와 히스토그램이 차이를 만드는 원리</a:t>
            </a:r>
          </a:p>
          <a:p>
            <a:r>
              <a:rPr sz="1600" b="0">
                <a:solidFill>
                  <a:srgbClr val="5A6672"/>
                </a:solidFill>
                <a:latin typeface="Malgun Gothic"/>
              </a:rPr>
              <a:t>    –  3번  과소추정이 조인 쿼리로 확장될 때의 위험 — ch09 연계</a:t>
            </a:r>
          </a:p>
          <a:p>
            <a:r>
              <a:rPr sz="1600" b="0">
                <a:solidFill>
                  <a:srgbClr val="5A6672"/>
                </a:solidFill>
                <a:latin typeface="Malgun Gothic"/>
              </a:rPr>
              <a:t>    –  4번  NUM_BUCKETS가 1에서 254로 바뀐 것의 의미</a:t>
            </a:r>
          </a:p>
          <a:p>
            <a:r>
              <a:rPr sz="1600" b="0">
                <a:solidFill>
                  <a:srgbClr val="5A6672"/>
                </a:solidFill>
                <a:latin typeface="Malgun Gothic"/>
              </a:rPr>
              <a:t>    –  5번  다른 컬럼에도 SIZE AUTO가 히스토그램을 만들지 예측하기</a:t>
            </a:r>
          </a:p>
          <a:p>
            <a:r>
              <a:rPr sz="1600" b="0">
                <a:solidFill>
                  <a:srgbClr val="5A6672"/>
                </a:solidFill>
                <a:latin typeface="Malgun Gothic"/>
              </a:rPr>
              <a:t>    –  6번  수치가 완전히 같지 않아도 복원됐다고 판단하는 근거</a:t>
            </a:r>
          </a:p>
          <a:p>
            <a:r>
              <a:rPr sz="1600" b="0">
                <a:solidFill>
                  <a:srgbClr val="5A6672"/>
                </a:solidFill>
                <a:latin typeface="Malgun Gothic"/>
              </a:rPr>
              <a:t>    –  7번  모든 컬럼에 정밀한 히스토그램이 항상 좋지는 않은 이유</a:t>
            </a:r>
          </a:p>
          <a:p>
            <a:r>
              <a:rPr sz="1600" b="0">
                <a:solidFill>
                  <a:srgbClr val="5A6672"/>
                </a:solidFill>
                <a:latin typeface="Malgun Gothic"/>
              </a:rPr>
              <a:t>    –  8번  METHOD_OPT을 명시하지 않았는데 히스토그램이 생긴 이유</a:t>
            </a:r>
          </a:p>
          <a:p>
            <a:r>
              <a:rPr sz="1600" b="0">
                <a:solidFill>
                  <a:srgbClr val="5A6672"/>
                </a:solidFill>
                <a:latin typeface="Malgun Gothic"/>
              </a:rPr>
              <a:t>    –  9·10번  바인드 변수 Peeking과의 상충, ch03 Q1 사례 재검토</a:t>
            </a:r>
          </a:p>
          <a:p>
            <a:r>
              <a:rPr sz="1800" b="0">
                <a:solidFill>
                  <a:srgbClr val="202830"/>
                </a:solidFill>
                <a:latin typeface="Malgun Gothic"/>
              </a:rPr>
              <a:t>•  실습 종료 규칙 — 반드시 FOR ALL COLUMNS SIZE AUTO로 원상복구</a:t>
            </a:r>
          </a:p>
          <a:p>
            <a:r>
              <a:rPr sz="1600" b="0">
                <a:solidFill>
                  <a:srgbClr val="5A6672"/>
                </a:solidFill>
                <a:latin typeface="Malgun Gothic"/>
              </a:rPr>
              <a:t>    –  복원 확인은 HISTOGRAM과 NUM_BUCKETS 값으로 한다</a:t>
            </a:r>
          </a:p>
        </p:txBody>
      </p:sp>
    </p:spTree>
    <p:extLst>
      <p:ext uri="{BB962C8B-B14F-4D97-AF65-F5344CB8AC3E}">
        <p14:creationId xmlns:p14="http://schemas.microsoft.com/office/powerpoint/2010/main" val="2228856151"/>
      </p:ext>
    </p:extLst>
  </p:cSld>
  <p:clrMapOvr>
    <a:masterClrMapping/>
  </p:clrMapOvr>
</p:sld>
</file>

<file path=ppt/slides/slide3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조인·서브쿼리·집합·정렬</a:t>
            </a:r>
          </a:p>
        </p:txBody>
      </p:sp>
      <p:sp>
        <p:nvSpPr>
          <p:cNvPr id="5" name="Rectangle 4"/>
          <p:cNvSpPr/>
          <p:nvPr/>
        </p:nvSpPr>
        <p:spPr>
          <a:xfrm>
            <a:off x="822960" y="4114800"/>
            <a:ext cx="5486400"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584775"/>
          </a:xfrm>
          <a:prstGeom prst="rect">
            <a:avLst/>
          </a:prstGeom>
          <a:noFill/>
        </p:spPr>
        <p:txBody>
          <a:bodyPr wrap="square">
            <a:spAutoFit/>
          </a:bodyPr>
          <a:lstStyle/>
          <a:p>
            <a:r>
              <a:rPr sz="1600" b="0" dirty="0">
                <a:solidFill>
                  <a:srgbClr val="FFFFFF"/>
                </a:solidFill>
                <a:latin typeface="맑은 고딕"/>
              </a:rPr>
              <a:t>•  SQLT ch09 · ch10 · ch11 · ch12</a:t>
            </a:r>
          </a:p>
          <a:p>
            <a:r>
              <a:rPr sz="1600" b="0" dirty="0">
                <a:solidFill>
                  <a:srgbClr val="FFFFFF"/>
                </a:solidFill>
                <a:latin typeface="맑은 고딕"/>
              </a:rPr>
              <a:t>•</a:t>
            </a:r>
          </a:p>
        </p:txBody>
      </p:sp>
    </p:spTree>
  </p:cSld>
  <p:clrMapOvr>
    <a:masterClrMapping/>
  </p:clrMapOvr>
</p:sld>
</file>

<file path=ppt/slides/slide343.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Rectangle 1"/>
          <p:cNvSpPr/>
          <p:nvPr/>
        </p:nvSpPr>
        <p:spPr>
          <a:xfrm>
            <a:off x="822960" y="2331720"/>
            <a:ext cx="164592"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88720" y="1463040"/>
            <a:ext cx="10058400" cy="369332"/>
          </a:xfrm>
          <a:prstGeom prst="rect">
            <a:avLst/>
          </a:prstGeom>
          <a:noFill/>
        </p:spPr>
        <p:txBody>
          <a:bodyPr wrap="square">
            <a:spAutoFit/>
          </a:bodyPr>
          <a:lstStyle/>
          <a:p>
            <a:r>
              <a:rPr sz="1800" b="1">
                <a:solidFill>
                  <a:srgbClr val="C0392B"/>
                </a:solidFill>
                <a:latin typeface="Malgun Gothic"/>
              </a:rPr>
              <a:t>Oracle SQL 튜닝 과정  ·  ch09</a:t>
            </a:r>
          </a:p>
        </p:txBody>
      </p:sp>
      <p:sp>
        <p:nvSpPr>
          <p:cNvPr id="4" name="TextBox 3"/>
          <p:cNvSpPr txBox="1"/>
          <p:nvPr/>
        </p:nvSpPr>
        <p:spPr>
          <a:xfrm>
            <a:off x="1188720" y="2194560"/>
            <a:ext cx="10332720" cy="2011680"/>
          </a:xfrm>
          <a:prstGeom prst="rect">
            <a:avLst/>
          </a:prstGeom>
          <a:noFill/>
        </p:spPr>
        <p:txBody>
          <a:bodyPr wrap="square">
            <a:spAutoFit/>
          </a:bodyPr>
          <a:lstStyle/>
          <a:p>
            <a:r>
              <a:rPr sz="4400" b="1">
                <a:solidFill>
                  <a:srgbClr val="FFFFFF"/>
                </a:solidFill>
                <a:latin typeface="Malgun Gothic"/>
              </a:rPr>
              <a:t>JOIN 실행 원리</a:t>
            </a:r>
          </a:p>
        </p:txBody>
      </p:sp>
      <p:sp>
        <p:nvSpPr>
          <p:cNvPr id="5" name="TextBox 4"/>
          <p:cNvSpPr txBox="1"/>
          <p:nvPr/>
        </p:nvSpPr>
        <p:spPr>
          <a:xfrm>
            <a:off x="1188720" y="4297680"/>
            <a:ext cx="10058400" cy="1097280"/>
          </a:xfrm>
          <a:prstGeom prst="rect">
            <a:avLst/>
          </a:prstGeom>
          <a:noFill/>
        </p:spPr>
        <p:txBody>
          <a:bodyPr wrap="square">
            <a:spAutoFit/>
          </a:bodyPr>
          <a:lstStyle/>
          <a:p>
            <a:r>
              <a:rPr sz="1800" b="0">
                <a:solidFill>
                  <a:srgbClr val="C5CED6"/>
                </a:solidFill>
                <a:latin typeface="Malgun Gothic"/>
              </a:rPr>
              <a:t>Nested Loops · Hash Join · Sort Merge  ·  Driving Table  ·  힌트는 지시일 뿐 보장이 아니다   |   Oracle Database 19c · 진료비청구심사 실습 스키마</a:t>
            </a:r>
          </a:p>
        </p:txBody>
      </p:sp>
    </p:spTree>
    <p:extLst>
      <p:ext uri="{BB962C8B-B14F-4D97-AF65-F5344CB8AC3E}">
        <p14:creationId xmlns:p14="http://schemas.microsoft.com/office/powerpoint/2010/main" val="682491869"/>
      </p:ext>
    </p:extLst>
  </p:cSld>
  <p:clrMapOvr>
    <a:masterClrMapping/>
  </p:clrMapOvr>
</p:sld>
</file>

<file path=ppt/slides/slide3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학습 목표 (Objectives)</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 장을 마치면 다음을 수행할 수 있어야 한다.</a:t>
            </a:r>
          </a:p>
          <a:p>
            <a:r>
              <a:rPr sz="1600" b="0">
                <a:solidFill>
                  <a:srgbClr val="5A6672"/>
                </a:solidFill>
                <a:latin typeface="Malgun Gothic"/>
              </a:rPr>
              <a:t>    –  조인을 '두 집합에서 조건에 맞는 행을 짝지어 합치는 연산'으로 정의한다</a:t>
            </a:r>
          </a:p>
          <a:p>
            <a:r>
              <a:rPr sz="1600" b="0">
                <a:solidFill>
                  <a:srgbClr val="5A6672"/>
                </a:solidFill>
                <a:latin typeface="Malgun Gothic"/>
              </a:rPr>
              <a:t>    –  Nested Loops Join의 처리 흐름을 Outer·Inner 반복 구조로 단계별로 설명한다</a:t>
            </a:r>
          </a:p>
          <a:p>
            <a:r>
              <a:rPr sz="1600" b="0">
                <a:solidFill>
                  <a:srgbClr val="5A6672"/>
                </a:solidFill>
                <a:latin typeface="Malgun Gothic"/>
              </a:rPr>
              <a:t>    –  Hash Join의 처리 흐름을 Build·Probe 두 단계로 나누어 설명한다</a:t>
            </a:r>
          </a:p>
          <a:p>
            <a:r>
              <a:rPr sz="1600" b="0">
                <a:solidFill>
                  <a:srgbClr val="5A6672"/>
                </a:solidFill>
                <a:latin typeface="Malgun Gothic"/>
              </a:rPr>
              <a:t>    –  Sort Merge Join의 정렬·병합 구조와 다른 두 방식과의 차이를 설명한다</a:t>
            </a:r>
          </a:p>
          <a:p>
            <a:r>
              <a:rPr sz="1600" b="0">
                <a:solidFill>
                  <a:srgbClr val="5A6672"/>
                </a:solidFill>
                <a:latin typeface="Malgun Gothic"/>
              </a:rPr>
              <a:t>    –  Driving Table을 정의하고 실행계획의 Starts 컬럼으로 판별한다</a:t>
            </a:r>
          </a:p>
          <a:p>
            <a:r>
              <a:rPr sz="1600" b="0">
                <a:solidFill>
                  <a:srgbClr val="5A6672"/>
                </a:solidFill>
                <a:latin typeface="Malgun Gothic"/>
              </a:rPr>
              <a:t>    –  NL Join의 비용이 'Outer 행 수 × Inner 1회 탐색 비용'임을 설명한다</a:t>
            </a:r>
          </a:p>
          <a:p>
            <a:r>
              <a:rPr sz="1600" b="0">
                <a:solidFill>
                  <a:srgbClr val="5A6672"/>
                </a:solidFill>
                <a:latin typeface="Malgun Gothic"/>
              </a:rPr>
              <a:t>    –  Inner 조인 컬럼의 인덱스 유무가 NL 비용을 좌우하는 이유를 설명한다</a:t>
            </a:r>
          </a:p>
          <a:p>
            <a:r>
              <a:rPr sz="1600" b="0">
                <a:solidFill>
                  <a:srgbClr val="5A6672"/>
                </a:solidFill>
                <a:latin typeface="Malgun Gothic"/>
              </a:rPr>
              <a:t>    –  힌트가 적용되지 않을 수 있음을 알고 실행계획으로 검증하는 절차를 수행한다</a:t>
            </a:r>
          </a:p>
          <a:p>
            <a:r>
              <a:rPr sz="1600" b="0">
                <a:solidFill>
                  <a:srgbClr val="5A6672"/>
                </a:solidFill>
                <a:latin typeface="Malgun Gothic"/>
              </a:rPr>
              <a:t>    –  실행계획에 나타난 내부 뷰를 쿼리 변환의 흔적으로 읽는다</a:t>
            </a:r>
          </a:p>
          <a:p>
            <a:r>
              <a:rPr sz="1600" b="0">
                <a:solidFill>
                  <a:srgbClr val="5A6672"/>
                </a:solidFill>
                <a:latin typeface="Malgun Gothic"/>
              </a:rPr>
              <a:t>    –  인덱스 유무·힌트 유무에 따른 Buffers 변화를 근거로 조인 방식을 판단한다</a:t>
            </a:r>
          </a:p>
        </p:txBody>
      </p:sp>
    </p:spTree>
    <p:extLst>
      <p:ext uri="{BB962C8B-B14F-4D97-AF65-F5344CB8AC3E}">
        <p14:creationId xmlns:p14="http://schemas.microsoft.com/office/powerpoint/2010/main" val="217697459"/>
      </p:ext>
    </p:extLst>
  </p:cSld>
  <p:clrMapOvr>
    <a:masterClrMapping/>
  </p:clrMapOvr>
</p:sld>
</file>

<file path=ppt/slides/slide3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장의 구성 (Agenda)</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7.1  Why — 조인을 왜 따로 배우는가</a:t>
            </a:r>
          </a:p>
          <a:p>
            <a:r>
              <a:rPr sz="1800" b="0">
                <a:solidFill>
                  <a:srgbClr val="202830"/>
                </a:solidFill>
                <a:latin typeface="Malgun Gothic"/>
              </a:rPr>
              <a:t>•  7.2  Concept — JOIN의 기본 원리 · NL · Hash · Sort Merge · Driving Table</a:t>
            </a:r>
          </a:p>
          <a:p>
            <a:r>
              <a:rPr sz="1800" b="0">
                <a:solidFill>
                  <a:srgbClr val="202830"/>
                </a:solidFill>
                <a:latin typeface="Malgun Gothic"/>
              </a:rPr>
              <a:t>•  7.3  Oracle Internals — 조인 비용의 구조와 선택 기준</a:t>
            </a:r>
          </a:p>
          <a:p>
            <a:r>
              <a:rPr sz="1800" b="0">
                <a:solidFill>
                  <a:srgbClr val="202830"/>
                </a:solidFill>
                <a:latin typeface="Malgun Gothic"/>
              </a:rPr>
              <a:t>•  7.4  Example — HOSPITALS 와 MEDICAL_CLAIMS 예제 SQL</a:t>
            </a:r>
          </a:p>
          <a:p>
            <a:r>
              <a:rPr sz="1800" b="0">
                <a:solidFill>
                  <a:srgbClr val="202830"/>
                </a:solidFill>
                <a:latin typeface="Malgun Gothic"/>
              </a:rPr>
              <a:t>•  7.5  Execution Plan — 인덱스 없는 상태에서 힌트 강제 실측</a:t>
            </a:r>
          </a:p>
          <a:p>
            <a:r>
              <a:rPr sz="1800" b="0">
                <a:solidFill>
                  <a:srgbClr val="202830"/>
                </a:solidFill>
                <a:latin typeface="Malgun Gothic"/>
              </a:rPr>
              <a:t>•  7.6  Bad SQL — 힌트가 의도대로 안 먹힌 사례</a:t>
            </a:r>
          </a:p>
          <a:p>
            <a:r>
              <a:rPr sz="1800" b="0">
                <a:solidFill>
                  <a:srgbClr val="202830"/>
                </a:solidFill>
                <a:latin typeface="Malgun Gothic"/>
              </a:rPr>
              <a:t>•  7.7  Tuning — 인덱스를 만들면 힌트 없이도 NL이 선택됨</a:t>
            </a:r>
          </a:p>
          <a:p>
            <a:r>
              <a:rPr sz="1800" b="0">
                <a:solidFill>
                  <a:srgbClr val="202830"/>
                </a:solidFill>
                <a:latin typeface="Malgun Gothic"/>
              </a:rPr>
              <a:t>•  7.8  Benchmark — 다섯 번의 실행 종합 비교</a:t>
            </a:r>
          </a:p>
          <a:p>
            <a:r>
              <a:rPr sz="1800" b="0">
                <a:solidFill>
                  <a:srgbClr val="202830"/>
                </a:solidFill>
                <a:latin typeface="Malgun Gothic"/>
              </a:rPr>
              <a:t>•  7.9~7.10  실습 안내 · 요약 (Review)</a:t>
            </a:r>
          </a:p>
        </p:txBody>
      </p:sp>
    </p:spTree>
    <p:extLst>
      <p:ext uri="{BB962C8B-B14F-4D97-AF65-F5344CB8AC3E}">
        <p14:creationId xmlns:p14="http://schemas.microsoft.com/office/powerpoint/2010/main" val="2355917163"/>
      </p:ext>
    </p:extLst>
  </p:cSld>
  <p:clrMapOvr>
    <a:masterClrMapping/>
  </p:clrMapOvr>
</p:sld>
</file>

<file path=ppt/slides/slide346.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107996"/>
          </a:xfrm>
          <a:prstGeom prst="rect">
            <a:avLst/>
          </a:prstGeom>
          <a:noFill/>
        </p:spPr>
        <p:txBody>
          <a:bodyPr wrap="square">
            <a:spAutoFit/>
          </a:bodyPr>
          <a:lstStyle/>
          <a:p>
            <a:r>
              <a:rPr lang="en-US" sz="6600" b="1" dirty="0">
                <a:solidFill>
                  <a:srgbClr val="C0392B"/>
                </a:solidFill>
                <a:latin typeface="Malgun Gothic"/>
              </a:rPr>
              <a:t>9</a:t>
            </a:r>
            <a:r>
              <a:rPr sz="6600" b="1" dirty="0">
                <a:solidFill>
                  <a:srgbClr val="C0392B"/>
                </a:solidFill>
                <a:latin typeface="Malgun Gothic"/>
              </a:rPr>
              <a:t>.1</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조인을 왜 따로 배우는가</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단일 테이블 접근에서 조인으로</a:t>
            </a:r>
          </a:p>
          <a:p>
            <a:r>
              <a:rPr sz="1600" b="0">
                <a:solidFill>
                  <a:srgbClr val="C5CED6"/>
                </a:solidFill>
                <a:latin typeface="Malgun Gothic"/>
              </a:rPr>
              <a:t>•  조인 방식이 만드는 비용 차이</a:t>
            </a:r>
          </a:p>
          <a:p>
            <a:r>
              <a:rPr sz="1600" b="0">
                <a:solidFill>
                  <a:srgbClr val="C5CED6"/>
                </a:solidFill>
                <a:latin typeface="Malgun Gothic"/>
              </a:rPr>
              <a:t>•  이 차시의 목표와 실습 소재</a:t>
            </a:r>
          </a:p>
        </p:txBody>
      </p:sp>
    </p:spTree>
    <p:extLst>
      <p:ext uri="{BB962C8B-B14F-4D97-AF65-F5344CB8AC3E}">
        <p14:creationId xmlns:p14="http://schemas.microsoft.com/office/powerpoint/2010/main" val="855491144"/>
      </p:ext>
    </p:extLst>
  </p:cSld>
  <p:clrMapOvr>
    <a:masterClrMapping/>
  </p:clrMapOvr>
</p:sld>
</file>

<file path=ppt/slides/slide3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단일 테이블 접근에서 조인으로</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지금까지는 단일 테이블 접근만 다뤘다</a:t>
            </a:r>
          </a:p>
          <a:p>
            <a:r>
              <a:rPr sz="1600" b="0">
                <a:solidFill>
                  <a:srgbClr val="5A6672"/>
                </a:solidFill>
                <a:latin typeface="Malgun Gothic"/>
              </a:rPr>
              <a:t>    –  Full Scan / Index Scan — 한 테이블을 어떻게 읽을 것인가의 문제</a:t>
            </a:r>
          </a:p>
          <a:p>
            <a:r>
              <a:rPr sz="1600" b="0">
                <a:solidFill>
                  <a:srgbClr val="5A6672"/>
                </a:solidFill>
                <a:latin typeface="Malgun Gothic"/>
              </a:rPr>
              <a:t>    –  그러나 실무 SQL 대부분은 여러 테이블을 조인한다</a:t>
            </a:r>
          </a:p>
          <a:p>
            <a:r>
              <a:rPr sz="1800" b="0">
                <a:solidFill>
                  <a:srgbClr val="202830"/>
                </a:solidFill>
                <a:latin typeface="Malgun Gothic"/>
              </a:rPr>
              <a:t>•  조인에는 '어떻게 읽을지'에 더해 '어떻게 짝지을지'가 추가된다</a:t>
            </a:r>
          </a:p>
          <a:p>
            <a:r>
              <a:rPr sz="1600" b="0">
                <a:solidFill>
                  <a:srgbClr val="5A6672"/>
                </a:solidFill>
                <a:latin typeface="Malgun Gothic"/>
              </a:rPr>
              <a:t>    –  같은 결과라도 짝짓는 방식에 따라 비용이 크게 달라질 수 있다</a:t>
            </a:r>
          </a:p>
          <a:p>
            <a:r>
              <a:rPr sz="1600" b="0">
                <a:solidFill>
                  <a:srgbClr val="5A6672"/>
                </a:solidFill>
                <a:latin typeface="Malgun Gothic"/>
              </a:rPr>
              <a:t>    –  접근 경로 선택보다 조인 방식 선택이 더 큰 차이를 만드는 경우가 많다</a:t>
            </a:r>
          </a:p>
          <a:p>
            <a:r>
              <a:rPr sz="1800" b="0">
                <a:solidFill>
                  <a:srgbClr val="202830"/>
                </a:solidFill>
                <a:latin typeface="Malgun Gothic"/>
              </a:rPr>
              <a:t>•  조인 방식은 옵티마이저가 고르지만, 근거를 읽을 줄 알아야 한다</a:t>
            </a:r>
          </a:p>
          <a:p>
            <a:r>
              <a:rPr sz="1600" b="0">
                <a:solidFill>
                  <a:srgbClr val="5A6672"/>
                </a:solidFill>
                <a:latin typeface="Malgun Gothic"/>
              </a:rPr>
              <a:t>    –  잘못 골랐을 때 무엇을 바꿔야 하는지 판단하려면 원리를 알아야 한다</a:t>
            </a:r>
          </a:p>
          <a:p>
            <a:r>
              <a:rPr sz="1600" b="0">
                <a:solidFill>
                  <a:srgbClr val="5A6672"/>
                </a:solidFill>
                <a:latin typeface="Malgun Gothic"/>
              </a:rPr>
              <a:t>    –  이 장에서는 힌트로 방식을 강제해 보며 그 판단 과정을 관찰한다</a:t>
            </a:r>
          </a:p>
        </p:txBody>
      </p:sp>
    </p:spTree>
    <p:extLst>
      <p:ext uri="{BB962C8B-B14F-4D97-AF65-F5344CB8AC3E}">
        <p14:creationId xmlns:p14="http://schemas.microsoft.com/office/powerpoint/2010/main" val="903618373"/>
      </p:ext>
    </p:extLst>
  </p:cSld>
  <p:clrMapOvr>
    <a:masterClrMapping/>
  </p:clrMapOvr>
</p:sld>
</file>

<file path=ppt/slides/slide3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차시의 목표와 실습 소재</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목표 1 — 세 가지 조인 방식의 동작 원리를 단계로 설명할 수 있게 한다</a:t>
            </a:r>
          </a:p>
          <a:p>
            <a:r>
              <a:rPr sz="1800" b="0">
                <a:solidFill>
                  <a:srgbClr val="202830"/>
                </a:solidFill>
                <a:latin typeface="Malgun Gothic"/>
              </a:rPr>
              <a:t>•  목표 2 — 힌트로 방식을 강제했을 때 실제로 적용되는지 실행계획으로 확인한다</a:t>
            </a:r>
          </a:p>
          <a:p>
            <a:r>
              <a:rPr sz="1800" b="0">
                <a:solidFill>
                  <a:srgbClr val="202830"/>
                </a:solidFill>
                <a:latin typeface="Malgun Gothic"/>
              </a:rPr>
              <a:t>•  실습 소재</a:t>
            </a:r>
          </a:p>
          <a:p>
            <a:r>
              <a:rPr sz="1600" b="0">
                <a:solidFill>
                  <a:srgbClr val="5A6672"/>
                </a:solidFill>
                <a:latin typeface="Malgun Gothic"/>
              </a:rPr>
              <a:t>    –  HOSPITALS(1,000건) 중 HOSP_ID &lt;= 5 로 좁힌 5건</a:t>
            </a:r>
          </a:p>
          <a:p>
            <a:r>
              <a:rPr sz="1600" b="0">
                <a:solidFill>
                  <a:srgbClr val="5A6672"/>
                </a:solidFill>
                <a:latin typeface="Malgun Gothic"/>
              </a:rPr>
              <a:t>    –  MEDICAL_CLAIMS(30만 건)와 HOSP_ID 로 조인</a:t>
            </a:r>
          </a:p>
          <a:p>
            <a:r>
              <a:rPr sz="1600" b="0">
                <a:solidFill>
                  <a:srgbClr val="5A6672"/>
                </a:solidFill>
                <a:latin typeface="Malgun Gothic"/>
              </a:rPr>
              <a:t>    –  인덱스 유무 · 힌트 유무를 바꿔 가며 반복 실측</a:t>
            </a:r>
          </a:p>
          <a:p>
            <a:r>
              <a:rPr sz="1800" b="0">
                <a:solidFill>
                  <a:srgbClr val="202830"/>
                </a:solidFill>
                <a:latin typeface="Malgun Gothic"/>
              </a:rPr>
              <a:t>•  이 차시는 실습용 인덱스를 만들고 지운다</a:t>
            </a:r>
          </a:p>
          <a:p>
            <a:r>
              <a:rPr sz="1600" b="0">
                <a:solidFill>
                  <a:srgbClr val="5A6672"/>
                </a:solidFill>
                <a:latin typeface="Malgun Gothic"/>
              </a:rPr>
              <a:t>    –  IX_CH07_ 접두어로 만들고 종료 시 반드시 삭제한다</a:t>
            </a:r>
          </a:p>
          <a:p>
            <a:r>
              <a:rPr sz="1600" b="0">
                <a:solidFill>
                  <a:srgbClr val="5A6672"/>
                </a:solidFill>
                <a:latin typeface="Malgun Gothic"/>
              </a:rPr>
              <a:t>    –  정리 후 MEDICAL_CLAIMS 에 PK_MEDICAL_CLAIMS 만 남는지 확인한다</a:t>
            </a:r>
          </a:p>
        </p:txBody>
      </p:sp>
    </p:spTree>
    <p:extLst>
      <p:ext uri="{BB962C8B-B14F-4D97-AF65-F5344CB8AC3E}">
        <p14:creationId xmlns:p14="http://schemas.microsoft.com/office/powerpoint/2010/main" val="2454594498"/>
      </p:ext>
    </p:extLst>
  </p:cSld>
  <p:clrMapOvr>
    <a:masterClrMapping/>
  </p:clrMapOvr>
</p:sld>
</file>

<file path=ppt/slides/slide349.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107996"/>
          </a:xfrm>
          <a:prstGeom prst="rect">
            <a:avLst/>
          </a:prstGeom>
          <a:noFill/>
        </p:spPr>
        <p:txBody>
          <a:bodyPr wrap="square">
            <a:spAutoFit/>
          </a:bodyPr>
          <a:lstStyle/>
          <a:p>
            <a:r>
              <a:rPr lang="en-US" sz="6600" b="1" dirty="0">
                <a:solidFill>
                  <a:srgbClr val="C0392B"/>
                </a:solidFill>
                <a:latin typeface="Malgun Gothic"/>
              </a:rPr>
              <a:t>9</a:t>
            </a:r>
            <a:r>
              <a:rPr sz="6600" b="1" dirty="0">
                <a:solidFill>
                  <a:srgbClr val="C0392B"/>
                </a:solidFill>
                <a:latin typeface="Malgun Gothic"/>
              </a:rPr>
              <a:t>.2</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조인의 기본 원리와 세 가지 방식</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JOIN의 정의와 결정해야 할 두 가지</a:t>
            </a:r>
          </a:p>
          <a:p>
            <a:r>
              <a:rPr sz="1600" b="0">
                <a:solidFill>
                  <a:srgbClr val="C5CED6"/>
                </a:solidFill>
                <a:latin typeface="Malgun Gothic"/>
              </a:rPr>
              <a:t>•  Nested Loops · Hash · Sort Merge</a:t>
            </a:r>
          </a:p>
          <a:p>
            <a:r>
              <a:rPr sz="1600" b="0">
                <a:solidFill>
                  <a:srgbClr val="C5CED6"/>
                </a:solidFill>
                <a:latin typeface="Malgun Gothic"/>
              </a:rPr>
              <a:t>•  Driving Table — 조인을 시작하는 쪽</a:t>
            </a:r>
          </a:p>
        </p:txBody>
      </p:sp>
    </p:spTree>
    <p:extLst>
      <p:ext uri="{BB962C8B-B14F-4D97-AF65-F5344CB8AC3E}">
        <p14:creationId xmlns:p14="http://schemas.microsoft.com/office/powerpoint/2010/main" val="3074248121"/>
      </p:ext>
    </p:extLst>
  </p:cSld>
  <p:clrMapOvr>
    <a:masterClrMapping/>
  </p:clrMapOvr>
</p:sld>
</file>

<file path=ppt/slides/slide3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JOIN의 기본 원리</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조인은 두 집합에서 조인 조건에 맞는 행끼리 짝지어 하나로 합치는 연산</a:t>
            </a:r>
          </a:p>
          <a:p>
            <a:r>
              <a:rPr sz="1600" b="0">
                <a:solidFill>
                  <a:srgbClr val="5A6672"/>
                </a:solidFill>
                <a:latin typeface="Malgun Gothic"/>
              </a:rPr>
              <a:t>    –  대상은 테이블일 수도 있고 앞 단계의 결과 집합일 수도 있다</a:t>
            </a:r>
          </a:p>
          <a:p>
            <a:r>
              <a:rPr sz="1600" b="0">
                <a:solidFill>
                  <a:srgbClr val="5A6672"/>
                </a:solidFill>
                <a:latin typeface="Malgun Gothic"/>
              </a:rPr>
              <a:t>    –  세 테이블 이상의 조인도 결국 두 집합씩 차례로 처리한다</a:t>
            </a:r>
          </a:p>
          <a:p>
            <a:r>
              <a:rPr sz="1800" b="0">
                <a:solidFill>
                  <a:srgbClr val="202830"/>
                </a:solidFill>
                <a:latin typeface="Malgun Gothic"/>
              </a:rPr>
              <a:t>•  조인에서 결정해야 할 것은 두 가지다</a:t>
            </a:r>
          </a:p>
          <a:p>
            <a:r>
              <a:rPr sz="1600" b="0">
                <a:solidFill>
                  <a:srgbClr val="5A6672"/>
                </a:solidFill>
                <a:latin typeface="Malgun Gothic"/>
              </a:rPr>
              <a:t>    –  어느 쪽을 먼저 읽을 것인가 — 조인 순서와 Driving Table</a:t>
            </a:r>
          </a:p>
          <a:p>
            <a:r>
              <a:rPr sz="1600" b="0">
                <a:solidFill>
                  <a:srgbClr val="5A6672"/>
                </a:solidFill>
                <a:latin typeface="Malgun Gothic"/>
              </a:rPr>
              <a:t>    –  짝을 어떤 방법으로 찾을 것인가 — 조인 방식</a:t>
            </a:r>
          </a:p>
          <a:p>
            <a:r>
              <a:rPr sz="1800" b="0">
                <a:solidFill>
                  <a:srgbClr val="202830"/>
                </a:solidFill>
                <a:latin typeface="Malgun Gothic"/>
              </a:rPr>
              <a:t>•  Oracle이 쓰는 대표적인 조인 방식은 세 가지다</a:t>
            </a:r>
          </a:p>
          <a:p>
            <a:r>
              <a:rPr sz="1600" b="0">
                <a:solidFill>
                  <a:srgbClr val="5A6672"/>
                </a:solidFill>
                <a:latin typeface="Malgun Gothic"/>
              </a:rPr>
              <a:t>    –  Nested Loops Join — 반복 탐색</a:t>
            </a:r>
          </a:p>
          <a:p>
            <a:r>
              <a:rPr sz="1600" b="0">
                <a:solidFill>
                  <a:srgbClr val="5A6672"/>
                </a:solidFill>
                <a:latin typeface="Malgun Gothic"/>
              </a:rPr>
              <a:t>    –  Hash Join — 해시 테이블을 만들어 한 번 훑기</a:t>
            </a:r>
          </a:p>
          <a:p>
            <a:r>
              <a:rPr sz="1600" b="0">
                <a:solidFill>
                  <a:srgbClr val="5A6672"/>
                </a:solidFill>
                <a:latin typeface="Malgun Gothic"/>
              </a:rPr>
              <a:t>    –  Sort Merge Join — 정렬한 뒤 병합</a:t>
            </a:r>
          </a:p>
        </p:txBody>
      </p:sp>
    </p:spTree>
    <p:extLst>
      <p:ext uri="{BB962C8B-B14F-4D97-AF65-F5344CB8AC3E}">
        <p14:creationId xmlns:p14="http://schemas.microsoft.com/office/powerpoint/2010/main" val="935888732"/>
      </p:ext>
    </p:extLst>
  </p:cSld>
  <p:clrMapOvr>
    <a:masterClrMapping/>
  </p:clrMapOvr>
</p:sld>
</file>

<file path=ppt/slides/slide3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Nested Loops Join의 동작 흐름</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정의 — Outer(드라이빙)의 각 행마다 Inner(드리븐)에서 맞는 행을 찾아 반복 결합</a:t>
            </a:r>
          </a:p>
          <a:p>
            <a:r>
              <a:rPr sz="1800" b="0">
                <a:solidFill>
                  <a:srgbClr val="202830"/>
                </a:solidFill>
                <a:latin typeface="Malgun Gothic"/>
              </a:rPr>
              <a:t>•  처리 흐름</a:t>
            </a:r>
          </a:p>
          <a:p>
            <a:r>
              <a:rPr sz="1600" b="0">
                <a:solidFill>
                  <a:srgbClr val="5A6672"/>
                </a:solidFill>
                <a:latin typeface="Malgun Gothic"/>
              </a:rPr>
              <a:t>    –  ① Outer 테이블을 조건으로 걸러 결과 행을 하나씩 꺼낸다</a:t>
            </a:r>
          </a:p>
          <a:p>
            <a:r>
              <a:rPr sz="1600" b="0">
                <a:solidFill>
                  <a:srgbClr val="5A6672"/>
                </a:solidFill>
                <a:latin typeface="Malgun Gothic"/>
              </a:rPr>
              <a:t>    –  ② 꺼낸 행의 조인 컬럼 값으로 Inner 테이블을 탐색한다</a:t>
            </a:r>
          </a:p>
          <a:p>
            <a:r>
              <a:rPr sz="1600" b="0">
                <a:solidFill>
                  <a:srgbClr val="5A6672"/>
                </a:solidFill>
                <a:latin typeface="Malgun Gothic"/>
              </a:rPr>
              <a:t>    –  ③ 매칭된 행을 결합해 상위 오퍼레이션으로 넘긴다</a:t>
            </a:r>
          </a:p>
          <a:p>
            <a:r>
              <a:rPr sz="1600" b="0">
                <a:solidFill>
                  <a:srgbClr val="5A6672"/>
                </a:solidFill>
                <a:latin typeface="Malgun Gothic"/>
              </a:rPr>
              <a:t>    –  ④ Outer 행이 남아 있으면 ②로 돌아가 반복한다</a:t>
            </a:r>
          </a:p>
          <a:p>
            <a:r>
              <a:rPr sz="1800" b="0">
                <a:solidFill>
                  <a:srgbClr val="202830"/>
                </a:solidFill>
                <a:latin typeface="Malgun Gothic"/>
              </a:rPr>
              <a:t>•  실행계획에서 확인하는 법</a:t>
            </a:r>
          </a:p>
          <a:p>
            <a:r>
              <a:rPr sz="1600" b="0">
                <a:solidFill>
                  <a:srgbClr val="5A6672"/>
                </a:solidFill>
                <a:latin typeface="Malgun Gothic"/>
              </a:rPr>
              <a:t>    –  조인 오퍼레이션 이름이 NESTED LOOPS 로 나타난다</a:t>
            </a:r>
          </a:p>
          <a:p>
            <a:r>
              <a:rPr sz="1600" b="0">
                <a:solidFill>
                  <a:srgbClr val="5A6672"/>
                </a:solidFill>
                <a:latin typeface="Malgun Gothic"/>
              </a:rPr>
              <a:t>    –  Inner 쪽 단계의 Starts 값이 Outer 결과 행 수와 같아진다</a:t>
            </a:r>
          </a:p>
          <a:p>
            <a:r>
              <a:rPr sz="1800" b="0">
                <a:solidFill>
                  <a:srgbClr val="202830"/>
                </a:solidFill>
                <a:latin typeface="Malgun Gothic"/>
              </a:rPr>
              <a:t>•  결합된 행을 하나씩 바로 내보내는 구조라 첫 행이 빨리 나온다</a:t>
            </a:r>
          </a:p>
        </p:txBody>
      </p:sp>
    </p:spTree>
    <p:extLst>
      <p:ext uri="{BB962C8B-B14F-4D97-AF65-F5344CB8AC3E}">
        <p14:creationId xmlns:p14="http://schemas.microsoft.com/office/powerpoint/2010/main" val="2530033006"/>
      </p:ext>
    </p:extLst>
  </p:cSld>
  <p:clrMapOvr>
    <a:masterClrMapping/>
  </p:clrMapOvr>
</p:sld>
</file>

<file path=ppt/slides/slide3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Hash Join의 동작 흐름</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정의 — 작은 쪽으로 해시 테이블을 메모리에 만든 뒤 큰 쪽을 한 번 훑어 매칭</a:t>
            </a:r>
          </a:p>
          <a:p>
            <a:r>
              <a:rPr sz="1800" b="0">
                <a:solidFill>
                  <a:srgbClr val="202830"/>
                </a:solidFill>
                <a:latin typeface="Malgun Gothic"/>
              </a:rPr>
              <a:t>•  처리 흐름</a:t>
            </a:r>
          </a:p>
          <a:p>
            <a:r>
              <a:rPr sz="1600" b="0">
                <a:solidFill>
                  <a:srgbClr val="5A6672"/>
                </a:solidFill>
                <a:latin typeface="Malgun Gothic"/>
              </a:rPr>
              <a:t>    –  ① Build — 작은 쪽을 읽어 조인 컬럼을 해시해 메모리에 적재한다</a:t>
            </a:r>
          </a:p>
          <a:p>
            <a:r>
              <a:rPr sz="1600" b="0">
                <a:solidFill>
                  <a:srgbClr val="5A6672"/>
                </a:solidFill>
                <a:latin typeface="Malgun Gothic"/>
              </a:rPr>
              <a:t>    –  ② Probe — 큰 쪽을 한 번 읽으며 같은 해시 함수로 대응 위치를 찾는다</a:t>
            </a:r>
          </a:p>
          <a:p>
            <a:r>
              <a:rPr sz="1600" b="0">
                <a:solidFill>
                  <a:srgbClr val="5A6672"/>
                </a:solidFill>
                <a:latin typeface="Malgun Gothic"/>
              </a:rPr>
              <a:t>    –  ③ 같은 버킷 안에서 조인 컬럼 값이 실제로 같은 행만 결합한다</a:t>
            </a:r>
          </a:p>
          <a:p>
            <a:r>
              <a:rPr sz="1800" b="0">
                <a:solidFill>
                  <a:srgbClr val="202830"/>
                </a:solidFill>
                <a:latin typeface="Malgun Gothic"/>
              </a:rPr>
              <a:t>•  특징</a:t>
            </a:r>
          </a:p>
          <a:p>
            <a:r>
              <a:rPr sz="1600" b="0">
                <a:solidFill>
                  <a:srgbClr val="5A6672"/>
                </a:solidFill>
                <a:latin typeface="Malgun Gothic"/>
              </a:rPr>
              <a:t>    –  양쪽을 각각 한 번씩만 읽으므로 반복 탐색이 없다</a:t>
            </a:r>
          </a:p>
          <a:p>
            <a:r>
              <a:rPr sz="1600" b="0">
                <a:solidFill>
                  <a:srgbClr val="5A6672"/>
                </a:solidFill>
                <a:latin typeface="Malgun Gothic"/>
              </a:rPr>
              <a:t>    –  해시로 위치를 찾는 방식이라 등가 조인에만 쓸 수 있다</a:t>
            </a:r>
          </a:p>
          <a:p>
            <a:r>
              <a:rPr sz="1600" b="0">
                <a:solidFill>
                  <a:srgbClr val="5A6672"/>
                </a:solidFill>
                <a:latin typeface="Malgun Gothic"/>
              </a:rPr>
              <a:t>    –  해시 테이블이 메모리에 다 들어가지 않으면 디스크로 분할해 처리한다</a:t>
            </a:r>
          </a:p>
          <a:p>
            <a:r>
              <a:rPr sz="1800" b="0">
                <a:solidFill>
                  <a:srgbClr val="202830"/>
                </a:solidFill>
                <a:latin typeface="Malgun Gothic"/>
              </a:rPr>
              <a:t>•  실행계획에서는 HASH JOIN 으로 나타난다</a:t>
            </a:r>
          </a:p>
        </p:txBody>
      </p:sp>
    </p:spTree>
    <p:extLst>
      <p:ext uri="{BB962C8B-B14F-4D97-AF65-F5344CB8AC3E}">
        <p14:creationId xmlns:p14="http://schemas.microsoft.com/office/powerpoint/2010/main" val="403228466"/>
      </p:ext>
    </p:extLst>
  </p:cSld>
  <p:clrMapOvr>
    <a:masterClrMapping/>
  </p:clrMapOvr>
</p:sld>
</file>

<file path=ppt/slides/slide3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Sort Merge Join의 동작 흐름</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정의 — 양쪽을 조인 컬럼 기준으로 정렬한 뒤 한 번씩 훑어 병합</a:t>
            </a:r>
          </a:p>
          <a:p>
            <a:r>
              <a:rPr sz="1800" b="0">
                <a:solidFill>
                  <a:srgbClr val="202830"/>
                </a:solidFill>
                <a:latin typeface="Malgun Gothic"/>
              </a:rPr>
              <a:t>•  처리 흐름</a:t>
            </a:r>
          </a:p>
          <a:p>
            <a:r>
              <a:rPr sz="1600" b="0">
                <a:solidFill>
                  <a:srgbClr val="5A6672"/>
                </a:solidFill>
                <a:latin typeface="Malgun Gothic"/>
              </a:rPr>
              <a:t>    –  ① 양쪽 집합을 각각 조인 컬럼으로 정렬한다 (이미 정렬돼 있으면 생략)</a:t>
            </a:r>
          </a:p>
          <a:p>
            <a:r>
              <a:rPr sz="1600" b="0">
                <a:solidFill>
                  <a:srgbClr val="5A6672"/>
                </a:solidFill>
                <a:latin typeface="Malgun Gothic"/>
              </a:rPr>
              <a:t>    –  ② 정렬된 두 스트림을 앞에서부터 나란히 비교한다</a:t>
            </a:r>
          </a:p>
          <a:p>
            <a:r>
              <a:rPr sz="1600" b="0">
                <a:solidFill>
                  <a:srgbClr val="5A6672"/>
                </a:solidFill>
                <a:latin typeface="Malgun Gothic"/>
              </a:rPr>
              <a:t>    –  ③ 값이 같으면 결합하고, 작은 쪽 스트림을 한 칸 전진시킨다</a:t>
            </a:r>
          </a:p>
          <a:p>
            <a:r>
              <a:rPr sz="1800" b="0">
                <a:solidFill>
                  <a:srgbClr val="202830"/>
                </a:solidFill>
                <a:latin typeface="Malgun Gothic"/>
              </a:rPr>
              <a:t>•  특징</a:t>
            </a:r>
          </a:p>
          <a:p>
            <a:r>
              <a:rPr sz="1600" b="0">
                <a:solidFill>
                  <a:srgbClr val="5A6672"/>
                </a:solidFill>
                <a:latin typeface="Malgun Gothic"/>
              </a:rPr>
              <a:t>    –  정렬 비용이 크지만, 정렬이 끝나면 각각 한 번씩만 읽는다</a:t>
            </a:r>
          </a:p>
          <a:p>
            <a:r>
              <a:rPr sz="1600" b="0">
                <a:solidFill>
                  <a:srgbClr val="5A6672"/>
                </a:solidFill>
                <a:latin typeface="Malgun Gothic"/>
              </a:rPr>
              <a:t>    –  부등호 조인에도 쓸 수 있다는 점이 Hash Join과 다르다</a:t>
            </a:r>
          </a:p>
          <a:p>
            <a:r>
              <a:rPr sz="1600" b="0">
                <a:solidFill>
                  <a:srgbClr val="5A6672"/>
                </a:solidFill>
                <a:latin typeface="Malgun Gothic"/>
              </a:rPr>
              <a:t>    –  인덱스로 이미 정렬된 순서를 얻으면 정렬 단계를 줄일 수 있다</a:t>
            </a:r>
          </a:p>
          <a:p>
            <a:r>
              <a:rPr sz="1800" b="0">
                <a:solidFill>
                  <a:srgbClr val="202830"/>
                </a:solidFill>
                <a:latin typeface="Malgun Gothic"/>
              </a:rPr>
              <a:t>•  이번 차시의 실측 대상은 NL과 Hash 두 가지다 — Sort Merge는 원리만 짚는다</a:t>
            </a:r>
          </a:p>
        </p:txBody>
      </p:sp>
    </p:spTree>
    <p:extLst>
      <p:ext uri="{BB962C8B-B14F-4D97-AF65-F5344CB8AC3E}">
        <p14:creationId xmlns:p14="http://schemas.microsoft.com/office/powerpoint/2010/main" val="3659034495"/>
      </p:ext>
    </p:extLst>
  </p:cSld>
  <p:clrMapOvr>
    <a:masterClrMapping/>
  </p:clrMapOvr>
</p:sld>
</file>

<file path=ppt/slides/slide3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Driving Table — 조인을 시작하는 쪽</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정의 — 조인을 시작하는 기준이 되는 테이블</a:t>
            </a:r>
          </a:p>
          <a:p>
            <a:r>
              <a:rPr sz="1600" b="0">
                <a:solidFill>
                  <a:srgbClr val="5A6672"/>
                </a:solidFill>
                <a:latin typeface="Malgun Gothic"/>
              </a:rPr>
              <a:t>    –  NL에서는 Outer 쪽, Hash Join에서는 Build 쪽에 해당한다</a:t>
            </a:r>
          </a:p>
          <a:p>
            <a:r>
              <a:rPr sz="1800" b="0">
                <a:solidFill>
                  <a:srgbClr val="202830"/>
                </a:solidFill>
                <a:latin typeface="Malgun Gothic"/>
              </a:rPr>
              <a:t>•  왜 중요한가</a:t>
            </a:r>
          </a:p>
          <a:p>
            <a:r>
              <a:rPr sz="1600" b="0">
                <a:solidFill>
                  <a:srgbClr val="5A6672"/>
                </a:solidFill>
                <a:latin typeface="Malgun Gothic"/>
              </a:rPr>
              <a:t>    –  NL에서는 Driving 쪽 행 수가 그대로 Inner 반복 횟수가 된다</a:t>
            </a:r>
          </a:p>
          <a:p>
            <a:r>
              <a:rPr sz="1600" b="0">
                <a:solidFill>
                  <a:srgbClr val="5A6672"/>
                </a:solidFill>
                <a:latin typeface="Malgun Gothic"/>
              </a:rPr>
              <a:t>    –  Hash Join에서는 Build 쪽 크기가 해시 테이블 메모리 사용량을 좌우한다</a:t>
            </a:r>
          </a:p>
          <a:p>
            <a:r>
              <a:rPr sz="1800" b="0">
                <a:solidFill>
                  <a:srgbClr val="202830"/>
                </a:solidFill>
                <a:latin typeface="Malgun Gothic"/>
              </a:rPr>
              <a:t>•  실행계획에서 찾는 법</a:t>
            </a:r>
          </a:p>
          <a:p>
            <a:r>
              <a:rPr sz="1600" b="0">
                <a:solidFill>
                  <a:srgbClr val="5A6672"/>
                </a:solidFill>
                <a:latin typeface="Malgun Gothic"/>
              </a:rPr>
              <a:t>    –  조인 오퍼레이션 바로 아래 두 자식 중 먼저 나오는 쪽이 Driving</a:t>
            </a:r>
          </a:p>
          <a:p>
            <a:r>
              <a:rPr sz="1600" b="0">
                <a:solidFill>
                  <a:srgbClr val="5A6672"/>
                </a:solidFill>
                <a:latin typeface="Malgun Gothic"/>
              </a:rPr>
              <a:t>    –  Starts 컬럼을 보면 Driving 쪽은 작고 반복되는 쪽은 그보다 크다</a:t>
            </a:r>
          </a:p>
          <a:p>
            <a:r>
              <a:rPr sz="1800" b="0">
                <a:solidFill>
                  <a:srgbClr val="202830"/>
                </a:solidFill>
                <a:latin typeface="Malgun Gothic"/>
              </a:rPr>
              <a:t>•  일반적으로 먼저 걸러져 행 수가 적어진 쪽이 Driving으로 적합하다</a:t>
            </a:r>
          </a:p>
        </p:txBody>
      </p:sp>
    </p:spTree>
    <p:extLst>
      <p:ext uri="{BB962C8B-B14F-4D97-AF65-F5344CB8AC3E}">
        <p14:creationId xmlns:p14="http://schemas.microsoft.com/office/powerpoint/2010/main" val="597964254"/>
      </p:ext>
    </p:extLst>
  </p:cSld>
  <p:clrMapOvr>
    <a:masterClrMapping/>
  </p:clrMapOvr>
</p:sld>
</file>

<file path=ppt/slides/slide355.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107996"/>
          </a:xfrm>
          <a:prstGeom prst="rect">
            <a:avLst/>
          </a:prstGeom>
          <a:noFill/>
        </p:spPr>
        <p:txBody>
          <a:bodyPr wrap="square">
            <a:spAutoFit/>
          </a:bodyPr>
          <a:lstStyle/>
          <a:p>
            <a:r>
              <a:rPr lang="en-US" sz="6600" b="1" dirty="0">
                <a:solidFill>
                  <a:srgbClr val="C0392B"/>
                </a:solidFill>
                <a:latin typeface="Malgun Gothic"/>
              </a:rPr>
              <a:t>9</a:t>
            </a:r>
            <a:r>
              <a:rPr sz="6600" b="1" dirty="0">
                <a:solidFill>
                  <a:srgbClr val="C0392B"/>
                </a:solidFill>
                <a:latin typeface="Malgun Gothic"/>
              </a:rPr>
              <a:t>.3</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조인 비용의 구조와 선택 기준</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NL Join 비용 — 곱셈 구조</a:t>
            </a:r>
          </a:p>
          <a:p>
            <a:r>
              <a:rPr sz="1600" b="0">
                <a:solidFill>
                  <a:srgbClr val="C5CED6"/>
                </a:solidFill>
                <a:latin typeface="Malgun Gothic"/>
              </a:rPr>
              <a:t>•  Hash Join 비용 — 덧셈 구조</a:t>
            </a:r>
          </a:p>
          <a:p>
            <a:r>
              <a:rPr sz="1600" b="0">
                <a:solidFill>
                  <a:srgbClr val="C5CED6"/>
                </a:solidFill>
                <a:latin typeface="Malgun Gothic"/>
              </a:rPr>
              <a:t>•  힌트는 지시일 뿐 보장이 아니다</a:t>
            </a:r>
          </a:p>
        </p:txBody>
      </p:sp>
    </p:spTree>
    <p:extLst>
      <p:ext uri="{BB962C8B-B14F-4D97-AF65-F5344CB8AC3E}">
        <p14:creationId xmlns:p14="http://schemas.microsoft.com/office/powerpoint/2010/main" val="3099292838"/>
      </p:ext>
    </p:extLst>
  </p:cSld>
  <p:clrMapOvr>
    <a:masterClrMapping/>
  </p:clrMapOvr>
</p:sld>
</file>

<file path=ppt/slides/slide3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NL Join의 비용 구조</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비용 ≈ Outer 쪽 행 수 × (Inner 쪽에서 한 번 찾는 비용)</a:t>
            </a:r>
          </a:p>
          <a:p>
            <a:r>
              <a:rPr sz="1600" b="0">
                <a:solidFill>
                  <a:srgbClr val="5A6672"/>
                </a:solidFill>
                <a:latin typeface="Malgun Gothic"/>
              </a:rPr>
              <a:t>    –  곱셈 구조라 Outer 행 수가 늘면 비용이 그에 비례해 늘어난다</a:t>
            </a:r>
          </a:p>
          <a:p>
            <a:r>
              <a:rPr sz="1800" b="0">
                <a:solidFill>
                  <a:srgbClr val="202830"/>
                </a:solidFill>
                <a:latin typeface="Malgun Gothic"/>
              </a:rPr>
              <a:t>•  Inner 쪽 조인 컬럼에 인덱스가 있어야 '한 번 찾는 비용'이 저렴하다</a:t>
            </a:r>
          </a:p>
          <a:p>
            <a:r>
              <a:rPr sz="1600" b="0">
                <a:solidFill>
                  <a:srgbClr val="5A6672"/>
                </a:solidFill>
                <a:latin typeface="Malgun Gothic"/>
              </a:rPr>
              <a:t>    –  인덱스가 있으면 한 번의 탐색이 인덱스 몇 블록 읽기로 끝난다</a:t>
            </a:r>
          </a:p>
          <a:p>
            <a:r>
              <a:rPr sz="1600" b="0">
                <a:solidFill>
                  <a:srgbClr val="5A6672"/>
                </a:solidFill>
                <a:latin typeface="Malgun Gothic"/>
              </a:rPr>
              <a:t>    –  인덱스가 없으면 Outer 행 하나마다 Inner 테이블을 통째로 훑어야 한다</a:t>
            </a:r>
          </a:p>
          <a:p>
            <a:r>
              <a:rPr sz="1800" b="0">
                <a:solidFill>
                  <a:srgbClr val="202830"/>
                </a:solidFill>
                <a:latin typeface="Malgun Gothic"/>
              </a:rPr>
              <a:t>•  인덱스 없는 NL이 치명적인 이유</a:t>
            </a:r>
          </a:p>
          <a:p>
            <a:r>
              <a:rPr sz="1600" b="0">
                <a:solidFill>
                  <a:srgbClr val="5A6672"/>
                </a:solidFill>
                <a:latin typeface="Malgun Gothic"/>
              </a:rPr>
              <a:t>    –  테이블 전체 스캔이 Outer 행 수만큼 반복되는 구조가 된다</a:t>
            </a:r>
          </a:p>
          <a:p>
            <a:r>
              <a:rPr sz="1600" b="0">
                <a:solidFill>
                  <a:srgbClr val="5A6672"/>
                </a:solidFill>
                <a:latin typeface="Malgun Gothic"/>
              </a:rPr>
              <a:t>    –  Outer가 조금만 커져도 감당하기 어려운 비용이 된다</a:t>
            </a:r>
          </a:p>
          <a:p>
            <a:r>
              <a:rPr sz="1800" b="0">
                <a:solidFill>
                  <a:srgbClr val="202830"/>
                </a:solidFill>
                <a:latin typeface="Malgun Gothic"/>
              </a:rPr>
              <a:t>•  그래서 NL은 '작은 Outer + 인덱스 있는 Inner'라는 조건이 붙는 기법이다</a:t>
            </a:r>
          </a:p>
        </p:txBody>
      </p:sp>
    </p:spTree>
    <p:extLst>
      <p:ext uri="{BB962C8B-B14F-4D97-AF65-F5344CB8AC3E}">
        <p14:creationId xmlns:p14="http://schemas.microsoft.com/office/powerpoint/2010/main" val="2845726779"/>
      </p:ext>
    </p:extLst>
  </p:cSld>
  <p:clrMapOvr>
    <a:masterClrMapping/>
  </p:clrMapOvr>
</p:sld>
</file>

<file path=ppt/slides/slide3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Hash Join의 비용 구조</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비용 ≈ 두 테이블을 각각 한 번씩 읽는 비용 (Build 한 번 + Probe 한 번)</a:t>
            </a:r>
          </a:p>
          <a:p>
            <a:r>
              <a:rPr sz="1600" b="0">
                <a:solidFill>
                  <a:srgbClr val="5A6672"/>
                </a:solidFill>
                <a:latin typeface="Malgun Gothic"/>
              </a:rPr>
              <a:t>    –  곱셈이 아니라 덧셈 구조다</a:t>
            </a:r>
          </a:p>
          <a:p>
            <a:r>
              <a:rPr sz="1800" b="0">
                <a:solidFill>
                  <a:srgbClr val="202830"/>
                </a:solidFill>
                <a:latin typeface="Malgun Gothic"/>
              </a:rPr>
              <a:t>•  Outer 쪽에 인덱스가 없어도 상대적으로 안정적이다</a:t>
            </a:r>
          </a:p>
          <a:p>
            <a:r>
              <a:rPr sz="1600" b="0">
                <a:solidFill>
                  <a:srgbClr val="5A6672"/>
                </a:solidFill>
                <a:latin typeface="Malgun Gothic"/>
              </a:rPr>
              <a:t>    –  반복 탐색이 없으므로 인덱스가 없다는 사실이 곧바로 재앙이 되지 않는다</a:t>
            </a:r>
          </a:p>
          <a:p>
            <a:r>
              <a:rPr sz="1600" b="0">
                <a:solidFill>
                  <a:srgbClr val="5A6672"/>
                </a:solidFill>
                <a:latin typeface="Malgun Gothic"/>
              </a:rPr>
              <a:t>    –  대신 Build 쪽을 담을 작업 영역 메모리가 필요하다</a:t>
            </a:r>
          </a:p>
          <a:p>
            <a:r>
              <a:rPr sz="1800" b="0">
                <a:solidFill>
                  <a:srgbClr val="202830"/>
                </a:solidFill>
                <a:latin typeface="Malgun Gothic"/>
              </a:rPr>
              <a:t>•  대량 데이터를 한꺼번에 처리하는 조인에 잘 맞는다</a:t>
            </a:r>
          </a:p>
          <a:p>
            <a:r>
              <a:rPr sz="1600" b="0">
                <a:solidFill>
                  <a:srgbClr val="5A6672"/>
                </a:solidFill>
                <a:latin typeface="Malgun Gothic"/>
              </a:rPr>
              <a:t>    –  전체 결과를 다 만들어야 하는 집계 쿼리에 유리하다</a:t>
            </a:r>
          </a:p>
          <a:p>
            <a:r>
              <a:rPr sz="1800" b="0">
                <a:solidFill>
                  <a:srgbClr val="202830"/>
                </a:solidFill>
                <a:latin typeface="Malgun Gothic"/>
              </a:rPr>
              <a:t>•  다만 첫 행이 나오려면 Build가 끝나야 한다</a:t>
            </a:r>
          </a:p>
          <a:p>
            <a:r>
              <a:rPr sz="1600" b="0">
                <a:solidFill>
                  <a:srgbClr val="5A6672"/>
                </a:solidFill>
                <a:latin typeface="Malgun Gothic"/>
              </a:rPr>
              <a:t>    –  앞쪽 몇 건만 빨리 보여 주는 화면 조회에는 불리할 수 있다</a:t>
            </a:r>
          </a:p>
        </p:txBody>
      </p:sp>
    </p:spTree>
    <p:extLst>
      <p:ext uri="{BB962C8B-B14F-4D97-AF65-F5344CB8AC3E}">
        <p14:creationId xmlns:p14="http://schemas.microsoft.com/office/powerpoint/2010/main" val="3498759867"/>
      </p:ext>
    </p:extLst>
  </p:cSld>
  <p:clrMapOvr>
    <a:masterClrMapping/>
  </p:clrMapOvr>
</p:sld>
</file>

<file path=ppt/slides/slide3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세 방식 비교와 선택 기준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Nested Loops</a:t>
            </a:r>
          </a:p>
          <a:p>
            <a:r>
              <a:rPr sz="1600" b="0">
                <a:solidFill>
                  <a:srgbClr val="5A6672"/>
                </a:solidFill>
                <a:latin typeface="Malgun Gothic"/>
              </a:rPr>
              <a:t>    –  한쪽이 매우 작고 다른 쪽 조인 컬럼에 인덱스가 있을 때 유리</a:t>
            </a:r>
          </a:p>
          <a:p>
            <a:r>
              <a:rPr sz="1600" b="0">
                <a:solidFill>
                  <a:srgbClr val="5A6672"/>
                </a:solidFill>
                <a:latin typeface="Malgun Gothic"/>
              </a:rPr>
              <a:t>    –  첫 행을 빨리 내보내야 하는 온라인 조회에 적합</a:t>
            </a:r>
          </a:p>
          <a:p>
            <a:r>
              <a:rPr sz="1800" b="0">
                <a:solidFill>
                  <a:srgbClr val="202830"/>
                </a:solidFill>
                <a:latin typeface="Malgun Gothic"/>
              </a:rPr>
              <a:t>•  Hash Join</a:t>
            </a:r>
          </a:p>
          <a:p>
            <a:r>
              <a:rPr sz="1600" b="0">
                <a:solidFill>
                  <a:srgbClr val="5A6672"/>
                </a:solidFill>
                <a:latin typeface="Malgun Gothic"/>
              </a:rPr>
              <a:t>    –  양쪽이 다 크거나 인덱스가 없을 때 유리 — 등가 조인 전용</a:t>
            </a:r>
          </a:p>
          <a:p>
            <a:r>
              <a:rPr sz="1600" b="0">
                <a:solidFill>
                  <a:srgbClr val="5A6672"/>
                </a:solidFill>
                <a:latin typeface="Malgun Gothic"/>
              </a:rPr>
              <a:t>    –  작업 영역 메모리를 쓰는 대신 반복 탐색이 없다</a:t>
            </a:r>
          </a:p>
          <a:p>
            <a:r>
              <a:rPr sz="1800" b="0">
                <a:solidFill>
                  <a:srgbClr val="202830"/>
                </a:solidFill>
                <a:latin typeface="Malgun Gothic"/>
              </a:rPr>
              <a:t>•  Sort Merge Join</a:t>
            </a:r>
          </a:p>
          <a:p>
            <a:r>
              <a:rPr sz="1600" b="0">
                <a:solidFill>
                  <a:srgbClr val="5A6672"/>
                </a:solidFill>
                <a:latin typeface="Malgun Gothic"/>
              </a:rPr>
              <a:t>    –  정렬 순서를 이미 확보했거나 비등가 조인이 필요할 때 후보</a:t>
            </a:r>
          </a:p>
          <a:p>
            <a:r>
              <a:rPr sz="1800" b="0">
                <a:solidFill>
                  <a:srgbClr val="202830"/>
                </a:solidFill>
                <a:latin typeface="Malgun Gothic"/>
              </a:rPr>
              <a:t>•  절대적 규칙이 아니다</a:t>
            </a:r>
          </a:p>
          <a:p>
            <a:r>
              <a:rPr sz="1600" b="0">
                <a:solidFill>
                  <a:srgbClr val="5A6672"/>
                </a:solidFill>
                <a:latin typeface="Malgun Gothic"/>
              </a:rPr>
              <a:t>    –  최종 판단은 옵티마이저가 통계정보로 비용을 계산해서 내린다</a:t>
            </a:r>
          </a:p>
          <a:p>
            <a:r>
              <a:rPr sz="1600" b="0">
                <a:solidFill>
                  <a:srgbClr val="5A6672"/>
                </a:solidFill>
                <a:latin typeface="Malgun Gothic"/>
              </a:rPr>
              <a:t>    –  우리가 할 일은 옵티마이저가 좋은 판단을 하도록 조건을 갖추는 것</a:t>
            </a:r>
          </a:p>
        </p:txBody>
      </p:sp>
    </p:spTree>
    <p:extLst>
      <p:ext uri="{BB962C8B-B14F-4D97-AF65-F5344CB8AC3E}">
        <p14:creationId xmlns:p14="http://schemas.microsoft.com/office/powerpoint/2010/main" val="2358114151"/>
      </p:ext>
    </p:extLst>
  </p:cSld>
  <p:clrMapOvr>
    <a:masterClrMapping/>
  </p:clrMapOvr>
</p:sld>
</file>

<file path=ppt/slides/slide3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힌트는 지시일 뿐 보장이 아니다</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힌트는 옵티마이저에게 전달하는 '지시'다</a:t>
            </a:r>
          </a:p>
          <a:p>
            <a:r>
              <a:rPr sz="1600" b="0">
                <a:solidFill>
                  <a:srgbClr val="5A6672"/>
                </a:solidFill>
                <a:latin typeface="Malgun Gothic"/>
              </a:rPr>
              <a:t>    –  문법이 맞아도 적용이 거부되면 아무 오류 없이 조용히 무시된다</a:t>
            </a:r>
          </a:p>
          <a:p>
            <a:r>
              <a:rPr sz="1800" b="0">
                <a:solidFill>
                  <a:srgbClr val="202830"/>
                </a:solidFill>
                <a:latin typeface="Malgun Gothic"/>
              </a:rPr>
              <a:t>•  옵티마이저는 실행 전에 쿼리를 내부적으로 변환한다</a:t>
            </a:r>
          </a:p>
          <a:p>
            <a:r>
              <a:rPr sz="1600" b="0">
                <a:solidFill>
                  <a:srgbClr val="5A6672"/>
                </a:solidFill>
                <a:latin typeface="Malgun Gothic"/>
              </a:rPr>
              <a:t>    –  뷰 병합, 서브쿼리 언네스팅, GROUP BY 위치 조정 등</a:t>
            </a:r>
          </a:p>
          <a:p>
            <a:r>
              <a:rPr sz="1600" b="0">
                <a:solidFill>
                  <a:srgbClr val="5A6672"/>
                </a:solidFill>
                <a:latin typeface="Malgun Gothic"/>
              </a:rPr>
              <a:t>    –  변환 후에는 힌트가 가리키던 별칭 조합이 최종 조인과 어긋날 수 있다</a:t>
            </a:r>
          </a:p>
          <a:p>
            <a:r>
              <a:rPr sz="1800" b="0">
                <a:solidFill>
                  <a:srgbClr val="202830"/>
                </a:solidFill>
                <a:latin typeface="Malgun Gothic"/>
              </a:rPr>
              <a:t>•  그래서 힌트를 걸고 나면 반드시 실행계획을 다시 확인해야 한다</a:t>
            </a:r>
          </a:p>
          <a:p>
            <a:r>
              <a:rPr sz="1600" b="0">
                <a:solidFill>
                  <a:srgbClr val="5A6672"/>
                </a:solidFill>
                <a:latin typeface="Malgun Gothic"/>
              </a:rPr>
              <a:t>    –  의도한 오퍼레이션 이름이 실제로 나타났는지 확인한다</a:t>
            </a:r>
          </a:p>
          <a:p>
            <a:r>
              <a:rPr sz="1800" b="0">
                <a:solidFill>
                  <a:srgbClr val="202830"/>
                </a:solidFill>
                <a:latin typeface="Malgun Gothic"/>
              </a:rPr>
              <a:t>•  7.6절에서 이 현상을 실측 사례로 확인한다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이 과정의 모든 실행계획·Buffers·A-Time은 진료비청구심사 실습 DB에서 직접 캡처한 실측값이다.</a:t>
            </a:r>
          </a:p>
        </p:txBody>
      </p:sp>
    </p:spTree>
    <p:extLst>
      <p:ext uri="{BB962C8B-B14F-4D97-AF65-F5344CB8AC3E}">
        <p14:creationId xmlns:p14="http://schemas.microsoft.com/office/powerpoint/2010/main" val="459506483"/>
      </p:ext>
    </p:extLst>
  </p:cSld>
  <p:clrMapOvr>
    <a:masterClrMapping/>
  </p:clrMapOvr>
</p:sld>
</file>

<file path=ppt/slides/slide360.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107996"/>
          </a:xfrm>
          <a:prstGeom prst="rect">
            <a:avLst/>
          </a:prstGeom>
          <a:noFill/>
        </p:spPr>
        <p:txBody>
          <a:bodyPr wrap="square">
            <a:spAutoFit/>
          </a:bodyPr>
          <a:lstStyle/>
          <a:p>
            <a:r>
              <a:rPr lang="en-US" sz="6600" b="1" dirty="0">
                <a:solidFill>
                  <a:srgbClr val="C0392B"/>
                </a:solidFill>
                <a:latin typeface="Malgun Gothic"/>
              </a:rPr>
              <a:t>9</a:t>
            </a:r>
            <a:r>
              <a:rPr sz="6600" b="1" dirty="0">
                <a:solidFill>
                  <a:srgbClr val="C0392B"/>
                </a:solidFill>
                <a:latin typeface="Malgun Gothic"/>
              </a:rPr>
              <a:t>.4</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실습 예제 SQL</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HOSPITALS 와 MEDICAL_CLAIMS 의 조인</a:t>
            </a:r>
          </a:p>
          <a:p>
            <a:r>
              <a:rPr sz="1600" b="0">
                <a:solidFill>
                  <a:srgbClr val="C5CED6"/>
                </a:solidFill>
                <a:latin typeface="Malgun Gothic"/>
              </a:rPr>
              <a:t>•  조인 조건과 필터 조건</a:t>
            </a:r>
          </a:p>
          <a:p>
            <a:r>
              <a:rPr sz="1600" b="0">
                <a:solidFill>
                  <a:srgbClr val="C5CED6"/>
                </a:solidFill>
                <a:latin typeface="Malgun Gothic"/>
              </a:rPr>
              <a:t>•  GROUP BY가 남기는 복선</a:t>
            </a:r>
          </a:p>
        </p:txBody>
      </p:sp>
    </p:spTree>
    <p:extLst>
      <p:ext uri="{BB962C8B-B14F-4D97-AF65-F5344CB8AC3E}">
        <p14:creationId xmlns:p14="http://schemas.microsoft.com/office/powerpoint/2010/main" val="394279232"/>
      </p:ext>
    </p:extLst>
  </p:cSld>
  <p:clrMapOvr>
    <a:masterClrMapping/>
  </p:clrMapOvr>
</p:sld>
</file>

<file path=ppt/slides/slide36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예제 SQL</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병원 유형별 청구 건수 — HOSPITALS 와 MEDICAL_CLAIMS 의 등가 조인</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SELECT h.hosp_type, COUNT(*)</a:t>
            </a:r>
          </a:p>
          <a:p>
            <a:r>
              <a:rPr sz="1250" b="0">
                <a:solidFill>
                  <a:srgbClr val="E6E6E6"/>
                </a:solidFill>
                <a:latin typeface="Consolas"/>
              </a:rPr>
              <a:t>FROM   hospitals h, medical_claims m</a:t>
            </a:r>
          </a:p>
          <a:p>
            <a:r>
              <a:rPr sz="1250" b="0">
                <a:solidFill>
                  <a:srgbClr val="E6E6E6"/>
                </a:solidFill>
                <a:latin typeface="Consolas"/>
              </a:rPr>
              <a:t>WHERE  h.hosp_id = m.hosp_id</a:t>
            </a:r>
          </a:p>
          <a:p>
            <a:r>
              <a:rPr sz="1250" b="0">
                <a:solidFill>
                  <a:srgbClr val="E6E6E6"/>
                </a:solidFill>
                <a:latin typeface="Consolas"/>
              </a:rPr>
              <a:t>AND    h.hosp_id &lt;= 5</a:t>
            </a:r>
          </a:p>
          <a:p>
            <a:r>
              <a:rPr sz="1250" b="0">
                <a:solidFill>
                  <a:srgbClr val="E6E6E6"/>
                </a:solidFill>
                <a:latin typeface="Consolas"/>
              </a:rPr>
              <a:t>GROUP  BY h.hosp_type;</a:t>
            </a:r>
          </a:p>
          <a:p>
            <a:r>
              <a:rPr sz="1250" b="0">
                <a:solidFill>
                  <a:srgbClr val="E6E6E6"/>
                </a:solidFill>
                <a:latin typeface="Consolas"/>
              </a:rPr>
              <a:t> </a:t>
            </a:r>
          </a:p>
          <a:p>
            <a:r>
              <a:rPr sz="1250" b="0">
                <a:solidFill>
                  <a:srgbClr val="7EC699"/>
                </a:solidFill>
                <a:latin typeface="Consolas"/>
              </a:rPr>
              <a:t>-- HOSPITALS(1,000건) 중 HOSP_ID &lt;= 5 조건으로 5건만 남는다</a:t>
            </a:r>
          </a:p>
          <a:p>
            <a:r>
              <a:rPr sz="1250" b="0">
                <a:solidFill>
                  <a:srgbClr val="7EC699"/>
                </a:solidFill>
                <a:latin typeface="Consolas"/>
              </a:rPr>
              <a:t>-- MEDICAL_CLAIMS(30만 건)와 HOSP_ID 로 조인한다</a:t>
            </a:r>
          </a:p>
          <a:p>
            <a:r>
              <a:rPr sz="1250" b="0">
                <a:solidFill>
                  <a:srgbClr val="7EC699"/>
                </a:solidFill>
                <a:latin typeface="Consolas"/>
              </a:rPr>
              <a:t>-- 이 한 문장을 인덱스 유무 · 힌트 유무만 바꿔 가며 반복 실행한다</a:t>
            </a:r>
          </a:p>
        </p:txBody>
      </p:sp>
    </p:spTree>
    <p:extLst>
      <p:ext uri="{BB962C8B-B14F-4D97-AF65-F5344CB8AC3E}">
        <p14:creationId xmlns:p14="http://schemas.microsoft.com/office/powerpoint/2010/main" val="812886735"/>
      </p:ext>
    </p:extLst>
  </p:cSld>
  <p:clrMapOvr>
    <a:masterClrMapping/>
  </p:clrMapOvr>
</p:sld>
</file>

<file path=ppt/slides/slide36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예제 쿼리 읽기</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조인 조건 — h.hosp_id = m.hosp_id</a:t>
            </a:r>
          </a:p>
          <a:p>
            <a:r>
              <a:rPr sz="1600" b="0">
                <a:solidFill>
                  <a:srgbClr val="5A6672"/>
                </a:solidFill>
                <a:latin typeface="Malgun Gothic"/>
              </a:rPr>
              <a:t>    –  등가 조인이므로 NL · Hash · Sort Merge 세 방식이 모두 후보가 된다</a:t>
            </a:r>
          </a:p>
          <a:p>
            <a:r>
              <a:rPr sz="1800" b="0">
                <a:solidFill>
                  <a:srgbClr val="202830"/>
                </a:solidFill>
                <a:latin typeface="Malgun Gothic"/>
              </a:rPr>
              <a:t>•  필터 조건 — h.hosp_id &lt;= 5</a:t>
            </a:r>
          </a:p>
          <a:p>
            <a:r>
              <a:rPr sz="1600" b="0">
                <a:solidFill>
                  <a:srgbClr val="5A6672"/>
                </a:solidFill>
                <a:latin typeface="Malgun Gothic"/>
              </a:rPr>
              <a:t>    –  HOSPITALS 1,000건 중 5건만 남는다 — 한쪽이 매우 작아지는 상황</a:t>
            </a:r>
          </a:p>
          <a:p>
            <a:r>
              <a:rPr sz="1600" b="0">
                <a:solidFill>
                  <a:srgbClr val="5A6672"/>
                </a:solidFill>
                <a:latin typeface="Malgun Gothic"/>
              </a:rPr>
              <a:t>    –  교과서적으로는 NL의 Outer로 삼기 좋은 조건이다</a:t>
            </a:r>
          </a:p>
          <a:p>
            <a:r>
              <a:rPr sz="1800" b="0">
                <a:solidFill>
                  <a:srgbClr val="202830"/>
                </a:solidFill>
                <a:latin typeface="Malgun Gothic"/>
              </a:rPr>
              <a:t>•  집계 — GROUP BY h.hosp_type</a:t>
            </a:r>
          </a:p>
          <a:p>
            <a:r>
              <a:rPr sz="1600" b="0">
                <a:solidFill>
                  <a:srgbClr val="5A6672"/>
                </a:solidFill>
                <a:latin typeface="Malgun Gothic"/>
              </a:rPr>
              <a:t>    –  병원 유형별로 청구 건수를 센다</a:t>
            </a:r>
          </a:p>
          <a:p>
            <a:r>
              <a:rPr sz="1600" b="0">
                <a:solidFill>
                  <a:srgbClr val="5A6672"/>
                </a:solidFill>
                <a:latin typeface="Malgun Gothic"/>
              </a:rPr>
              <a:t>    –  이 GROUP BY가 뒤에서 힌트 무력화의 원인이 된다</a:t>
            </a:r>
          </a:p>
          <a:p>
            <a:r>
              <a:rPr sz="1800" b="0">
                <a:solidFill>
                  <a:srgbClr val="202830"/>
                </a:solidFill>
                <a:latin typeface="Malgun Gothic"/>
              </a:rPr>
              <a:t>•  조건만 바꿔 반복 실행한 결과를 7.5절부터 순서대로 확인한다</a:t>
            </a:r>
          </a:p>
        </p:txBody>
      </p:sp>
    </p:spTree>
    <p:extLst>
      <p:ext uri="{BB962C8B-B14F-4D97-AF65-F5344CB8AC3E}">
        <p14:creationId xmlns:p14="http://schemas.microsoft.com/office/powerpoint/2010/main" val="648641103"/>
      </p:ext>
    </p:extLst>
  </p:cSld>
  <p:clrMapOvr>
    <a:masterClrMapping/>
  </p:clrMapOvr>
</p:sld>
</file>

<file path=ppt/slides/slide363.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107996"/>
          </a:xfrm>
          <a:prstGeom prst="rect">
            <a:avLst/>
          </a:prstGeom>
          <a:noFill/>
        </p:spPr>
        <p:txBody>
          <a:bodyPr wrap="square">
            <a:spAutoFit/>
          </a:bodyPr>
          <a:lstStyle/>
          <a:p>
            <a:r>
              <a:rPr lang="en-US" sz="6600" b="1" dirty="0">
                <a:solidFill>
                  <a:srgbClr val="C0392B"/>
                </a:solidFill>
                <a:latin typeface="Malgun Gothic"/>
              </a:rPr>
              <a:t>9</a:t>
            </a:r>
            <a:r>
              <a:rPr sz="6600" b="1" dirty="0">
                <a:solidFill>
                  <a:srgbClr val="C0392B"/>
                </a:solidFill>
                <a:latin typeface="Malgun Gothic"/>
              </a:rPr>
              <a:t>.5</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실행계획 — 인덱스 없는 상태</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실측 설계 — 무엇을 바꿔 가며 볼 것인가</a:t>
            </a:r>
          </a:p>
          <a:p>
            <a:r>
              <a:rPr sz="1600" b="0">
                <a:solidFill>
                  <a:srgbClr val="C5CED6"/>
                </a:solidFill>
                <a:latin typeface="Malgun Gothic"/>
              </a:rPr>
              <a:t>•  Q1 베이스라인 — 힌트 없음</a:t>
            </a:r>
          </a:p>
          <a:p>
            <a:r>
              <a:rPr sz="1600" b="0">
                <a:solidFill>
                  <a:srgbClr val="C5CED6"/>
                </a:solidFill>
                <a:latin typeface="Malgun Gothic"/>
              </a:rPr>
              <a:t>•  Q3 — USE_HASH 강제</a:t>
            </a:r>
          </a:p>
        </p:txBody>
      </p:sp>
    </p:spTree>
    <p:extLst>
      <p:ext uri="{BB962C8B-B14F-4D97-AF65-F5344CB8AC3E}">
        <p14:creationId xmlns:p14="http://schemas.microsoft.com/office/powerpoint/2010/main" val="3901564347"/>
      </p:ext>
    </p:extLst>
  </p:cSld>
  <p:clrMapOvr>
    <a:masterClrMapping/>
  </p:clrMapOvr>
</p:sld>
</file>

<file path=ppt/slides/slide36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실측 설계 — 무엇을 바꿔 가며 볼 것인가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인덱스 없는 상태 (MEDICAL_CLAIMS 에 PK 만 있음)</a:t>
            </a:r>
          </a:p>
          <a:p>
            <a:r>
              <a:rPr sz="1600" b="0">
                <a:solidFill>
                  <a:srgbClr val="5A6672"/>
                </a:solidFill>
                <a:latin typeface="Malgun Gothic"/>
              </a:rPr>
              <a:t>    –  Q1 — 힌트 없음 (베이스라인)</a:t>
            </a:r>
          </a:p>
          <a:p>
            <a:r>
              <a:rPr sz="1600" b="0">
                <a:solidFill>
                  <a:srgbClr val="5A6672"/>
                </a:solidFill>
                <a:latin typeface="Malgun Gothic"/>
              </a:rPr>
              <a:t>    –  Q2 — USE_NL(h m) 강제</a:t>
            </a:r>
          </a:p>
          <a:p>
            <a:r>
              <a:rPr sz="1600" b="0">
                <a:solidFill>
                  <a:srgbClr val="5A6672"/>
                </a:solidFill>
                <a:latin typeface="Malgun Gothic"/>
              </a:rPr>
              <a:t>    –  Q3 — USE_HASH(h m) 강제</a:t>
            </a:r>
          </a:p>
          <a:p>
            <a:r>
              <a:rPr sz="1800" b="0">
                <a:solidFill>
                  <a:srgbClr val="202830"/>
                </a:solidFill>
                <a:latin typeface="Malgun Gothic"/>
              </a:rPr>
              <a:t>•  MEDICAL_CLAIMS(HOSP_ID) 에 인덱스를 만든 뒤</a:t>
            </a:r>
          </a:p>
          <a:p>
            <a:r>
              <a:rPr sz="1600" b="0">
                <a:solidFill>
                  <a:srgbClr val="5A6672"/>
                </a:solidFill>
                <a:latin typeface="Malgun Gothic"/>
              </a:rPr>
              <a:t>    –  Q4 — USE_NL(h m) 강제</a:t>
            </a:r>
          </a:p>
          <a:p>
            <a:r>
              <a:rPr sz="1600" b="0">
                <a:solidFill>
                  <a:srgbClr val="5A6672"/>
                </a:solidFill>
                <a:latin typeface="Malgun Gothic"/>
              </a:rPr>
              <a:t>    –  Q5 — 힌트 없음</a:t>
            </a:r>
          </a:p>
          <a:p>
            <a:r>
              <a:rPr sz="1800" b="0">
                <a:solidFill>
                  <a:srgbClr val="202830"/>
                </a:solidFill>
                <a:latin typeface="Malgun Gothic"/>
              </a:rPr>
              <a:t>•  비교 축은 두 개다</a:t>
            </a:r>
          </a:p>
          <a:p>
            <a:r>
              <a:rPr sz="1600" b="0">
                <a:solidFill>
                  <a:srgbClr val="5A6672"/>
                </a:solidFill>
                <a:latin typeface="Malgun Gothic"/>
              </a:rPr>
              <a:t>    –  힌트 유무·종류가 실행계획을 바꾸는가</a:t>
            </a:r>
          </a:p>
          <a:p>
            <a:r>
              <a:rPr sz="1600" b="0">
                <a:solidFill>
                  <a:srgbClr val="5A6672"/>
                </a:solidFill>
                <a:latin typeface="Malgun Gothic"/>
              </a:rPr>
              <a:t>    –  인덱스 유무가 실행계획을 바꾸는가</a:t>
            </a:r>
          </a:p>
          <a:p>
            <a:r>
              <a:rPr sz="1800" b="0">
                <a:solidFill>
                  <a:srgbClr val="202830"/>
                </a:solidFill>
                <a:latin typeface="Malgun Gothic"/>
              </a:rPr>
              <a:t>•  SQL 본문과 데이터는 모든 실행에서 동일하다</a:t>
            </a:r>
          </a:p>
        </p:txBody>
      </p:sp>
    </p:spTree>
    <p:extLst>
      <p:ext uri="{BB962C8B-B14F-4D97-AF65-F5344CB8AC3E}">
        <p14:creationId xmlns:p14="http://schemas.microsoft.com/office/powerpoint/2010/main" val="1709025849"/>
      </p:ext>
    </p:extLst>
  </p:cSld>
  <p:clrMapOvr>
    <a:masterClrMapping/>
  </p:clrMapOvr>
</p:sld>
</file>

<file path=ppt/slides/slide36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Q1 실행계획 — 힌트 없음 (인덱스 없음)</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베이스라인 — 옵티마이저의 자체 판단</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A-Rows |   A-Time   | Buffers |</a:t>
            </a:r>
          </a:p>
          <a:p>
            <a:r>
              <a:rPr sz="1250" b="0">
                <a:solidFill>
                  <a:srgbClr val="E6E6E6"/>
                </a:solidFill>
                <a:latin typeface="Consolas"/>
              </a:rPr>
              <a:t>| 0  | SELECT STATEMENT                       |                |      2 |00:00:00.02 |    3093 |</a:t>
            </a:r>
          </a:p>
          <a:p>
            <a:r>
              <a:rPr sz="1250" b="0">
                <a:solidFill>
                  <a:srgbClr val="E6E6E6"/>
                </a:solidFill>
                <a:latin typeface="Consolas"/>
              </a:rPr>
              <a:t>| 1  |  HASH GROUP BY                         |                |      2 |00:00:00.02 |    3093 |</a:t>
            </a:r>
          </a:p>
          <a:p>
            <a:r>
              <a:rPr sz="1250" b="0">
                <a:solidFill>
                  <a:srgbClr val="E6E6E6"/>
                </a:solidFill>
                <a:latin typeface="Consolas"/>
              </a:rPr>
              <a:t>| 2  |   HASH JOIN                            |                |  15029 |00:00:00.02 |    3093 |</a:t>
            </a:r>
          </a:p>
          <a:p>
            <a:r>
              <a:rPr sz="1250" b="0">
                <a:solidFill>
                  <a:srgbClr val="E6E6E6"/>
                </a:solidFill>
                <a:latin typeface="Consolas"/>
              </a:rPr>
              <a:t>| 3  |    TABLE ACCESS BY INDEX ROWID BATCHED | HOSPITALS      |      5 |00:00:00.01 |       3 |</a:t>
            </a:r>
          </a:p>
          <a:p>
            <a:r>
              <a:rPr sz="1250" b="0">
                <a:solidFill>
                  <a:srgbClr val="E6E6E6"/>
                </a:solidFill>
                <a:latin typeface="Consolas"/>
              </a:rPr>
              <a:t>| 4  |     INDEX RANGE SCAN                   | PK_HOSPITALS   |      5 |00:00:00.01 |       2 |</a:t>
            </a:r>
          </a:p>
          <a:p>
            <a:r>
              <a:rPr sz="1250" b="0">
                <a:solidFill>
                  <a:srgbClr val="E6E6E6"/>
                </a:solidFill>
                <a:latin typeface="Consolas"/>
              </a:rPr>
              <a:t>| 5  |    TABLE ACCESS FULL                   | MEDICAL_CLAIMS |  15029 |00:00:00.02 |    3090 |</a:t>
            </a:r>
          </a:p>
          <a:p>
            <a:r>
              <a:rPr sz="1250" b="0">
                <a:solidFill>
                  <a:srgbClr val="E6E6E6"/>
                </a:solidFill>
                <a:latin typeface="Consolas"/>
              </a:rPr>
              <a:t> </a:t>
            </a:r>
          </a:p>
          <a:p>
            <a:r>
              <a:rPr sz="1250" b="0">
                <a:solidFill>
                  <a:srgbClr val="7EC699"/>
                </a:solidFill>
                <a:latin typeface="Consolas"/>
              </a:rPr>
              <a:t>-- Plan hash value 619494044</a:t>
            </a:r>
          </a:p>
        </p:txBody>
      </p:sp>
    </p:spTree>
    <p:extLst>
      <p:ext uri="{BB962C8B-B14F-4D97-AF65-F5344CB8AC3E}">
        <p14:creationId xmlns:p14="http://schemas.microsoft.com/office/powerpoint/2010/main" val="2149187735"/>
      </p:ext>
    </p:extLst>
  </p:cSld>
  <p:clrMapOvr>
    <a:masterClrMapping/>
  </p:clrMapOvr>
</p:sld>
</file>

<file path=ppt/slides/slide3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Q1 실행계획 해석</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조인 오퍼레이션은 HASH JOIN (Id 2)</a:t>
            </a:r>
          </a:p>
          <a:p>
            <a:r>
              <a:rPr sz="1600" b="0">
                <a:solidFill>
                  <a:srgbClr val="5A6672"/>
                </a:solidFill>
                <a:latin typeface="Malgun Gothic"/>
              </a:rPr>
              <a:t>    –  힌트를 주지 않았는데 옵티마이저가 스스로 Hash Join을 선택했다</a:t>
            </a:r>
          </a:p>
          <a:p>
            <a:r>
              <a:rPr sz="1600" b="0">
                <a:solidFill>
                  <a:srgbClr val="5A6672"/>
                </a:solidFill>
                <a:latin typeface="Malgun Gothic"/>
              </a:rPr>
              <a:t>    –  한쪽이 5건인데도 NL을 고르지 않았다는 점이 중요하다</a:t>
            </a:r>
          </a:p>
          <a:p>
            <a:r>
              <a:rPr sz="1800" b="0">
                <a:solidFill>
                  <a:srgbClr val="202830"/>
                </a:solidFill>
                <a:latin typeface="Malgun Gothic"/>
              </a:rPr>
              <a:t>•  HOSPITALS 쪽 (Id 3~4)</a:t>
            </a:r>
          </a:p>
          <a:p>
            <a:r>
              <a:rPr sz="1600" b="0">
                <a:solidFill>
                  <a:srgbClr val="5A6672"/>
                </a:solidFill>
                <a:latin typeface="Malgun Gothic"/>
              </a:rPr>
              <a:t>    –  PK_HOSPITALS 를 INDEX RANGE SCAN 해서 5건으로 좁혔다</a:t>
            </a:r>
          </a:p>
          <a:p>
            <a:r>
              <a:rPr sz="1600" b="0">
                <a:solidFill>
                  <a:srgbClr val="5A6672"/>
                </a:solidFill>
                <a:latin typeface="Malgun Gothic"/>
              </a:rPr>
              <a:t>    –  Buffers 3 — 사실상 비용이 들지 않았다</a:t>
            </a:r>
          </a:p>
          <a:p>
            <a:r>
              <a:rPr sz="1800" b="0">
                <a:solidFill>
                  <a:srgbClr val="202830"/>
                </a:solidFill>
                <a:latin typeface="Malgun Gothic"/>
              </a:rPr>
              <a:t>•  MEDICAL_CLAIMS 쪽 (Id 5)</a:t>
            </a:r>
          </a:p>
          <a:p>
            <a:r>
              <a:rPr sz="1600" b="0">
                <a:solidFill>
                  <a:srgbClr val="5A6672"/>
                </a:solidFill>
                <a:latin typeface="Malgun Gothic"/>
              </a:rPr>
              <a:t>    –  TABLE ACCESS FULL — 조인 컬럼에 인덱스가 없으니 전체를 훑는 수밖에 없다</a:t>
            </a:r>
          </a:p>
          <a:p>
            <a:r>
              <a:rPr sz="1600" b="0">
                <a:solidFill>
                  <a:srgbClr val="5A6672"/>
                </a:solidFill>
                <a:latin typeface="Malgun Gothic"/>
              </a:rPr>
              <a:t>    –  Buffers 3090 — 전체 3093 중 거의 전부를 차지한다</a:t>
            </a:r>
          </a:p>
          <a:p>
            <a:r>
              <a:rPr sz="1800" b="0">
                <a:solidFill>
                  <a:srgbClr val="202830"/>
                </a:solidFill>
                <a:latin typeface="Malgun Gothic"/>
              </a:rPr>
              <a:t>•  비용의 위치를 지목하면 개선 지점도 함께 드러난다</a:t>
            </a:r>
          </a:p>
        </p:txBody>
      </p:sp>
    </p:spTree>
    <p:extLst>
      <p:ext uri="{BB962C8B-B14F-4D97-AF65-F5344CB8AC3E}">
        <p14:creationId xmlns:p14="http://schemas.microsoft.com/office/powerpoint/2010/main" val="2111378598"/>
      </p:ext>
    </p:extLst>
  </p:cSld>
  <p:clrMapOvr>
    <a:masterClrMapping/>
  </p:clrMapOvr>
</p:sld>
</file>

<file path=ppt/slides/slide36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Q3 — USE_HASH 를 강제했더니</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Q3 은 USE_HASH(h m) 로 Hash Join을 명시적으로 지시한 것</a:t>
            </a:r>
          </a:p>
          <a:p>
            <a:r>
              <a:rPr sz="1800" b="0">
                <a:solidFill>
                  <a:srgbClr val="202830"/>
                </a:solidFill>
                <a:latin typeface="Malgun Gothic"/>
              </a:rPr>
              <a:t>•  결과 — Q1 과 완전히 동일한 계획</a:t>
            </a:r>
          </a:p>
          <a:p>
            <a:r>
              <a:rPr sz="1600" b="0">
                <a:solidFill>
                  <a:srgbClr val="5A6672"/>
                </a:solidFill>
                <a:latin typeface="Malgun Gothic"/>
              </a:rPr>
              <a:t>    –  Plan hash value 619494044 까지 같다</a:t>
            </a:r>
          </a:p>
          <a:p>
            <a:r>
              <a:rPr sz="1600" b="0">
                <a:solidFill>
                  <a:srgbClr val="5A6672"/>
                </a:solidFill>
                <a:latin typeface="Malgun Gothic"/>
              </a:rPr>
              <a:t>    –  오퍼레이션 구성과 Buffers 모두 차이가 없다</a:t>
            </a:r>
          </a:p>
          <a:p>
            <a:r>
              <a:rPr sz="1800" b="0">
                <a:solidFill>
                  <a:srgbClr val="202830"/>
                </a:solidFill>
                <a:latin typeface="Malgun Gothic"/>
              </a:rPr>
              <a:t>•  해석</a:t>
            </a:r>
          </a:p>
          <a:p>
            <a:r>
              <a:rPr sz="1600" b="0">
                <a:solidFill>
                  <a:srgbClr val="5A6672"/>
                </a:solidFill>
                <a:latin typeface="Malgun Gothic"/>
              </a:rPr>
              <a:t>    –  옵티마이저가 원래도 Hash Join을 선택하고 있었다는 뜻이다</a:t>
            </a:r>
          </a:p>
          <a:p>
            <a:r>
              <a:rPr sz="1600" b="0">
                <a:solidFill>
                  <a:srgbClr val="5A6672"/>
                </a:solidFill>
                <a:latin typeface="Malgun Gothic"/>
              </a:rPr>
              <a:t>    –  힌트는 '이미 가고 있던 길'을 한 번 더 지시한 것에 지나지 않았다</a:t>
            </a:r>
          </a:p>
          <a:p>
            <a:r>
              <a:rPr sz="1600" b="0">
                <a:solidFill>
                  <a:srgbClr val="5A6672"/>
                </a:solidFill>
                <a:latin typeface="Malgun Gothic"/>
              </a:rPr>
              <a:t>    –  이 쿼리와 이 데이터 상황에서는 Hash Join이 실제로 비용상 최선이었다</a:t>
            </a:r>
          </a:p>
          <a:p>
            <a:r>
              <a:rPr sz="1800" b="0">
                <a:solidFill>
                  <a:srgbClr val="202830"/>
                </a:solidFill>
                <a:latin typeface="Malgun Gothic"/>
              </a:rPr>
              <a:t>•  Plan hash value 가 같다는 것은 실행계획 구조가 같다는 뜻이다</a:t>
            </a:r>
          </a:p>
          <a:p>
            <a:r>
              <a:rPr sz="1600" b="0">
                <a:solidFill>
                  <a:srgbClr val="5A6672"/>
                </a:solidFill>
                <a:latin typeface="Malgun Gothic"/>
              </a:rPr>
              <a:t>    –  두 계획을 비교할 때 가장 빠르게 확인할 수 있는 지표다</a:t>
            </a:r>
          </a:p>
        </p:txBody>
      </p:sp>
    </p:spTree>
    <p:extLst>
      <p:ext uri="{BB962C8B-B14F-4D97-AF65-F5344CB8AC3E}">
        <p14:creationId xmlns:p14="http://schemas.microsoft.com/office/powerpoint/2010/main" val="1407903373"/>
      </p:ext>
    </p:extLst>
  </p:cSld>
  <p:clrMapOvr>
    <a:masterClrMapping/>
  </p:clrMapOvr>
</p:sld>
</file>

<file path=ppt/slides/slide368.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107996"/>
          </a:xfrm>
          <a:prstGeom prst="rect">
            <a:avLst/>
          </a:prstGeom>
          <a:noFill/>
        </p:spPr>
        <p:txBody>
          <a:bodyPr wrap="square">
            <a:spAutoFit/>
          </a:bodyPr>
          <a:lstStyle/>
          <a:p>
            <a:r>
              <a:rPr lang="en-US" sz="6600" b="1" dirty="0">
                <a:solidFill>
                  <a:srgbClr val="C0392B"/>
                </a:solidFill>
                <a:latin typeface="Malgun Gothic"/>
              </a:rPr>
              <a:t>9</a:t>
            </a:r>
            <a:r>
              <a:rPr sz="6600" b="1" dirty="0">
                <a:solidFill>
                  <a:srgbClr val="C0392B"/>
                </a:solidFill>
                <a:latin typeface="Malgun Gothic"/>
              </a:rPr>
              <a:t>.6</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Bad SQL — 힌트가 안 먹힌 사례</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Q2 — USE_NL 강제 시도</a:t>
            </a:r>
          </a:p>
          <a:p>
            <a:r>
              <a:rPr sz="1600" b="0">
                <a:solidFill>
                  <a:srgbClr val="C5CED6"/>
                </a:solidFill>
                <a:latin typeface="Malgun Gothic"/>
              </a:rPr>
              <a:t>•  실행계획에 나타난 내부 뷰</a:t>
            </a:r>
          </a:p>
          <a:p>
            <a:r>
              <a:rPr sz="1600" b="0">
                <a:solidFill>
                  <a:srgbClr val="C5CED6"/>
                </a:solidFill>
                <a:latin typeface="Malgun Gothic"/>
              </a:rPr>
              <a:t>•  힌트 검증 절차</a:t>
            </a:r>
          </a:p>
        </p:txBody>
      </p:sp>
    </p:spTree>
    <p:extLst>
      <p:ext uri="{BB962C8B-B14F-4D97-AF65-F5344CB8AC3E}">
        <p14:creationId xmlns:p14="http://schemas.microsoft.com/office/powerpoint/2010/main" val="1699035299"/>
      </p:ext>
    </p:extLst>
  </p:cSld>
  <p:clrMapOvr>
    <a:masterClrMapping/>
  </p:clrMapOvr>
</p:sld>
</file>

<file path=ppt/slides/slide36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Q2 — USE_NL 을 걸었지만</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의도 — 인덱스가 없는 상태에서 NL을 강제하면 어떻게 되는지 보려 했다</a:t>
            </a:r>
          </a:p>
          <a:p>
            <a:r>
              <a:rPr sz="1600" b="0">
                <a:solidFill>
                  <a:srgbClr val="5A6672"/>
                </a:solidFill>
                <a:latin typeface="Malgun Gothic"/>
              </a:rPr>
              <a:t>    –  이론상 MEDICAL_CLAIMS 전체 스캔이 Outer 행 수만큼 반복될 수 있는 시도</a:t>
            </a:r>
          </a:p>
          <a:p>
            <a:r>
              <a:rPr sz="1600" b="0">
                <a:solidFill>
                  <a:srgbClr val="5A6672"/>
                </a:solidFill>
                <a:latin typeface="Malgun Gothic"/>
              </a:rPr>
              <a:t>    –  즉 의도적으로 나쁜 계획을 만들어 비용을 확인하려는 실험이었다</a:t>
            </a:r>
          </a:p>
          <a:p>
            <a:r>
              <a:rPr sz="1800" b="0">
                <a:solidFill>
                  <a:srgbClr val="202830"/>
                </a:solidFill>
                <a:latin typeface="Malgun Gothic"/>
              </a:rPr>
              <a:t>•  지시 — USE_NL(h m)</a:t>
            </a:r>
          </a:p>
          <a:p>
            <a:r>
              <a:rPr sz="1600" b="0">
                <a:solidFill>
                  <a:srgbClr val="5A6672"/>
                </a:solidFill>
                <a:latin typeface="Malgun Gothic"/>
              </a:rPr>
              <a:t>    –  h 를 Outer, m 을 Inner 로 하는 Nested Loops 를 요구한 것</a:t>
            </a:r>
          </a:p>
          <a:p>
            <a:r>
              <a:rPr sz="1800" b="0">
                <a:solidFill>
                  <a:srgbClr val="202830"/>
                </a:solidFill>
                <a:latin typeface="Malgun Gothic"/>
              </a:rPr>
              <a:t>•  기대했던 실행계획</a:t>
            </a:r>
          </a:p>
          <a:p>
            <a:r>
              <a:rPr sz="1600" b="0">
                <a:solidFill>
                  <a:srgbClr val="5A6672"/>
                </a:solidFill>
                <a:latin typeface="Malgun Gothic"/>
              </a:rPr>
              <a:t>    –  조인 오퍼레이션 자리에 NESTED LOOPS 가 나타나야 한다</a:t>
            </a:r>
          </a:p>
          <a:p>
            <a:r>
              <a:rPr sz="1600" b="0">
                <a:solidFill>
                  <a:srgbClr val="5A6672"/>
                </a:solidFill>
                <a:latin typeface="Malgun Gothic"/>
              </a:rPr>
              <a:t>    –  Buffers 는 Q1 보다 크게 늘어나야 한다</a:t>
            </a:r>
          </a:p>
          <a:p>
            <a:r>
              <a:rPr sz="1800" b="0">
                <a:solidFill>
                  <a:srgbClr val="202830"/>
                </a:solidFill>
                <a:latin typeface="Malgun Gothic"/>
              </a:rPr>
              <a:t>•  실제 결과는 다음 슬라이드에서 확인한다</a:t>
            </a:r>
          </a:p>
        </p:txBody>
      </p:sp>
    </p:spTree>
    <p:extLst>
      <p:ext uri="{BB962C8B-B14F-4D97-AF65-F5344CB8AC3E}">
        <p14:creationId xmlns:p14="http://schemas.microsoft.com/office/powerpoint/2010/main" val="1111799660"/>
      </p:ext>
    </p:extLst>
  </p:cSld>
  <p:clrMapOvr>
    <a:masterClrMapping/>
  </p:clrMapOvr>
</p:sld>
</file>

<file path=ppt/slides/slide37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Q2 실행계획 — USE_NL 강제 (인덱스 없음)</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힌트를 걸었는데 조인 오퍼레이션이 바뀌지 않았다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A-Rows |   A-Time   | Buffers |</a:t>
            </a:r>
          </a:p>
          <a:p>
            <a:r>
              <a:rPr sz="1250" b="0">
                <a:solidFill>
                  <a:srgbClr val="E6E6E6"/>
                </a:solidFill>
                <a:latin typeface="Consolas"/>
              </a:rPr>
              <a:t>| 0  | SELECT STATEMENT                       |                |      2 |00:00:00.03 |    3093 |</a:t>
            </a:r>
          </a:p>
          <a:p>
            <a:r>
              <a:rPr sz="1250" b="0">
                <a:solidFill>
                  <a:srgbClr val="E6E6E6"/>
                </a:solidFill>
                <a:latin typeface="Consolas"/>
              </a:rPr>
              <a:t>| 1  |  HASH GROUP BY                         |                |      2 |00:00:00.03 |    3093 |</a:t>
            </a:r>
          </a:p>
          <a:p>
            <a:r>
              <a:rPr sz="1250" b="0">
                <a:solidFill>
                  <a:srgbClr val="E6E6E6"/>
                </a:solidFill>
                <a:latin typeface="Consolas"/>
              </a:rPr>
              <a:t>| 2  |   HASH JOIN                            |                |  15029 |00:00:00.03 |    3093 |</a:t>
            </a:r>
          </a:p>
          <a:p>
            <a:r>
              <a:rPr sz="1250" b="0">
                <a:solidFill>
                  <a:srgbClr val="E6E6E6"/>
                </a:solidFill>
                <a:latin typeface="Consolas"/>
              </a:rPr>
              <a:t>| 3  |    VIEW                                | VW_GBF_7       |      5 |00:00:00.01 |       3 |</a:t>
            </a:r>
          </a:p>
          <a:p>
            <a:r>
              <a:rPr sz="1250" b="0">
                <a:solidFill>
                  <a:srgbClr val="E6E6E6"/>
                </a:solidFill>
                <a:latin typeface="Consolas"/>
              </a:rPr>
              <a:t>| 4  |     TABLE ACCESS BY INDEX ROWID BATCHED| HOSPITALS      |      5 |00:00:00.01 |       3 |</a:t>
            </a:r>
          </a:p>
          <a:p>
            <a:r>
              <a:rPr sz="1250" b="0">
                <a:solidFill>
                  <a:srgbClr val="E6E6E6"/>
                </a:solidFill>
                <a:latin typeface="Consolas"/>
              </a:rPr>
              <a:t>| 5  |     INDEX RANGE SCAN                   | PK_HOSPITALS   |      5 |00:00:00.01 |       2 |</a:t>
            </a:r>
          </a:p>
          <a:p>
            <a:r>
              <a:rPr sz="1250" b="0">
                <a:solidFill>
                  <a:srgbClr val="E6E6E6"/>
                </a:solidFill>
                <a:latin typeface="Consolas"/>
              </a:rPr>
              <a:t>| 6  |    TABLE ACCESS FULL                   | MEDICAL_CLAIMS | 300K   |00:00:00.01 |    3090 |</a:t>
            </a:r>
          </a:p>
          <a:p>
            <a:r>
              <a:rPr sz="1250" b="0">
                <a:solidFill>
                  <a:srgbClr val="E6E6E6"/>
                </a:solidFill>
                <a:latin typeface="Consolas"/>
              </a:rPr>
              <a:t> </a:t>
            </a:r>
          </a:p>
          <a:p>
            <a:r>
              <a:rPr sz="1250" b="0">
                <a:solidFill>
                  <a:srgbClr val="7EC699"/>
                </a:solidFill>
                <a:latin typeface="Consolas"/>
              </a:rPr>
              <a:t>-- USE_NL 을 명시했지만 Id 2 는 여전히 HASH JOIN 이다</a:t>
            </a:r>
          </a:p>
        </p:txBody>
      </p:sp>
    </p:spTree>
    <p:extLst>
      <p:ext uri="{BB962C8B-B14F-4D97-AF65-F5344CB8AC3E}">
        <p14:creationId xmlns:p14="http://schemas.microsoft.com/office/powerpoint/2010/main" val="4244497398"/>
      </p:ext>
    </p:extLst>
  </p:cSld>
  <p:clrMapOvr>
    <a:masterClrMapping/>
  </p:clrMapOvr>
</p:sld>
</file>

<file path=ppt/slides/slide37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Q2 실행계획 해석</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조인 오퍼레이션은 여전히 HASH JOIN (Id 2)</a:t>
            </a:r>
          </a:p>
          <a:p>
            <a:r>
              <a:rPr sz="1600" b="0">
                <a:solidFill>
                  <a:srgbClr val="5A6672"/>
                </a:solidFill>
                <a:latin typeface="Malgun Gothic"/>
              </a:rPr>
              <a:t>    –  USE_NL 을 명시했는데도 NESTED LOOPS 가 나타나지 않았다</a:t>
            </a:r>
          </a:p>
          <a:p>
            <a:r>
              <a:rPr sz="1800" b="0">
                <a:solidFill>
                  <a:srgbClr val="202830"/>
                </a:solidFill>
                <a:latin typeface="Malgun Gothic"/>
              </a:rPr>
              <a:t>•  Buffers 도 Q1 과 동일하게 3,093</a:t>
            </a:r>
          </a:p>
          <a:p>
            <a:r>
              <a:rPr sz="1600" b="0">
                <a:solidFill>
                  <a:srgbClr val="5A6672"/>
                </a:solidFill>
                <a:latin typeface="Malgun Gothic"/>
              </a:rPr>
              <a:t>    –  힌트가 실행계획을 전혀 바꾸지 못했다는 뜻이다</a:t>
            </a:r>
          </a:p>
          <a:p>
            <a:r>
              <a:rPr sz="1800" b="0">
                <a:solidFill>
                  <a:srgbClr val="202830"/>
                </a:solidFill>
                <a:latin typeface="Malgun Gothic"/>
              </a:rPr>
              <a:t>•  달라진 점은 하나 — Id 3 에 VIEW VW_GBF_7 이 끼어 있다</a:t>
            </a:r>
          </a:p>
          <a:p>
            <a:r>
              <a:rPr sz="1600" b="0">
                <a:solidFill>
                  <a:srgbClr val="5A6672"/>
                </a:solidFill>
                <a:latin typeface="Malgun Gothic"/>
              </a:rPr>
              <a:t>    –  HOSPITALS 접근 단계가 내부 뷰로 한 번 감싸였다</a:t>
            </a:r>
          </a:p>
          <a:p>
            <a:r>
              <a:rPr sz="1600" b="0">
                <a:solidFill>
                  <a:srgbClr val="5A6672"/>
                </a:solidFill>
                <a:latin typeface="Malgun Gothic"/>
              </a:rPr>
              <a:t>    –  이 뷰가 힌트 무력화의 단서다</a:t>
            </a:r>
          </a:p>
          <a:p>
            <a:r>
              <a:rPr sz="1800" b="0">
                <a:solidFill>
                  <a:srgbClr val="202830"/>
                </a:solidFill>
                <a:latin typeface="Malgun Gothic"/>
              </a:rPr>
              <a:t>•  힌트를 걸었는데 오류도 경고도 없었다는 점에 주목한다</a:t>
            </a:r>
          </a:p>
          <a:p>
            <a:r>
              <a:rPr sz="1600" b="0">
                <a:solidFill>
                  <a:srgbClr val="5A6672"/>
                </a:solidFill>
                <a:latin typeface="Malgun Gothic"/>
              </a:rPr>
              <a:t>    –  적용되지 않은 힌트는 아무 흔적 없이 조용히 사라진다</a:t>
            </a:r>
          </a:p>
        </p:txBody>
      </p:sp>
    </p:spTree>
    <p:extLst>
      <p:ext uri="{BB962C8B-B14F-4D97-AF65-F5344CB8AC3E}">
        <p14:creationId xmlns:p14="http://schemas.microsoft.com/office/powerpoint/2010/main" val="1212205113"/>
      </p:ext>
    </p:extLst>
  </p:cSld>
  <p:clrMapOvr>
    <a:masterClrMapping/>
  </p:clrMapOvr>
</p:sld>
</file>

<file path=ppt/slides/slide37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Q1 vs Q2 대조</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힌트만 바꿨을 때 무엇이 같고 무엇이 달라졌는가</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a:t>
            </a:r>
          </a:p>
          <a:p>
            <a:r>
              <a:rPr sz="1250" b="0">
                <a:solidFill>
                  <a:srgbClr val="E6E6E6"/>
                </a:solidFill>
                <a:latin typeface="Consolas"/>
              </a:rPr>
              <a:t>| 항목                           | Q1 (힌트 없음)     | Q2 (USE_NL 강제)     |</a:t>
            </a:r>
          </a:p>
          <a:p>
            <a:r>
              <a:rPr sz="1250" b="0">
                <a:solidFill>
                  <a:srgbClr val="E6E6E6"/>
                </a:solidFill>
                <a:latin typeface="Consolas"/>
              </a:rPr>
              <a:t>+--------------------------------+--------------------+----------------------+</a:t>
            </a:r>
          </a:p>
          <a:p>
            <a:r>
              <a:rPr sz="1250" b="0">
                <a:solidFill>
                  <a:srgbClr val="E6E6E6"/>
                </a:solidFill>
                <a:latin typeface="Consolas"/>
              </a:rPr>
              <a:t>| Id 2 조인 오퍼레이션           | HASH JOIN          | HASH JOIN            |</a:t>
            </a:r>
          </a:p>
          <a:p>
            <a:r>
              <a:rPr sz="1250" b="0">
                <a:solidFill>
                  <a:srgbClr val="E6E6E6"/>
                </a:solidFill>
                <a:latin typeface="Consolas"/>
              </a:rPr>
              <a:t>| HOSPITALS 를 감싸는 뷰         | 없음               | VW_GBF_7             |</a:t>
            </a:r>
          </a:p>
          <a:p>
            <a:r>
              <a:rPr sz="1250" b="0">
                <a:solidFill>
                  <a:srgbClr val="E6E6E6"/>
                </a:solidFill>
                <a:latin typeface="Consolas"/>
              </a:rPr>
              <a:t>| MEDICAL_CLAIMS 접근            | TABLE ACCESS FULL  | TABLE ACCESS FULL    |</a:t>
            </a:r>
          </a:p>
          <a:p>
            <a:r>
              <a:rPr sz="1250" b="0">
                <a:solidFill>
                  <a:srgbClr val="E6E6E6"/>
                </a:solidFill>
                <a:latin typeface="Consolas"/>
              </a:rPr>
              <a:t>| Buffers (Id 0)                 | 3093               | 3093                 |</a:t>
            </a:r>
          </a:p>
          <a:p>
            <a:r>
              <a:rPr sz="1250" b="0">
                <a:solidFill>
                  <a:srgbClr val="E6E6E6"/>
                </a:solidFill>
                <a:latin typeface="Consolas"/>
              </a:rPr>
              <a:t>| A-Time (Id 0)                  | 00:00:00.02        | 00:00:00.03          |</a:t>
            </a:r>
          </a:p>
          <a:p>
            <a:r>
              <a:rPr sz="1250" b="0">
                <a:solidFill>
                  <a:srgbClr val="E6E6E6"/>
                </a:solidFill>
                <a:latin typeface="Consolas"/>
              </a:rPr>
              <a:t>+--------------------------------+--------------------+----------------------+</a:t>
            </a:r>
          </a:p>
          <a:p>
            <a:r>
              <a:rPr sz="1250" b="0">
                <a:solidFill>
                  <a:srgbClr val="E6E6E6"/>
                </a:solidFill>
                <a:latin typeface="Consolas"/>
              </a:rPr>
              <a:t> </a:t>
            </a:r>
          </a:p>
          <a:p>
            <a:r>
              <a:rPr sz="1250" b="0">
                <a:solidFill>
                  <a:srgbClr val="7EC699"/>
                </a:solidFill>
                <a:latin typeface="Consolas"/>
              </a:rPr>
              <a:t>-- 조인 방식과 Buffers 는 그대로 — 힌트는 계획을 바꾸지 못했다</a:t>
            </a:r>
          </a:p>
          <a:p>
            <a:r>
              <a:rPr sz="1250" b="0">
                <a:solidFill>
                  <a:srgbClr val="7EC699"/>
                </a:solidFill>
                <a:latin typeface="Consolas"/>
              </a:rPr>
              <a:t>-- 유일한 변화는 내부 뷰 VW_GBF_7 의 등장이다</a:t>
            </a:r>
          </a:p>
        </p:txBody>
      </p:sp>
    </p:spTree>
    <p:extLst>
      <p:ext uri="{BB962C8B-B14F-4D97-AF65-F5344CB8AC3E}">
        <p14:creationId xmlns:p14="http://schemas.microsoft.com/office/powerpoint/2010/main" val="2694768169"/>
      </p:ext>
    </p:extLst>
  </p:cSld>
  <p:clrMapOvr>
    <a:masterClrMapping/>
  </p:clrMapOvr>
</p:sld>
</file>

<file path=ppt/slides/slide37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왜 힌트가 무시됐나 — VW_GBF_7 의 정체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VW_GBF_7 은 옵티마이저가 쿼리를 변환하며 만든 내부 뷰의 이름이다</a:t>
            </a:r>
          </a:p>
          <a:p>
            <a:r>
              <a:rPr sz="1600" b="0">
                <a:solidFill>
                  <a:srgbClr val="5A6672"/>
                </a:solidFill>
                <a:latin typeface="Malgun Gothic"/>
              </a:rPr>
              <a:t>    –  GROUP BY 를 조인보다 먼저 처리하도록 쿼리를 바꾸는 과정에서 생성됐다</a:t>
            </a:r>
          </a:p>
          <a:p>
            <a:r>
              <a:rPr sz="1600" b="0">
                <a:solidFill>
                  <a:srgbClr val="5A6672"/>
                </a:solidFill>
                <a:latin typeface="Malgun Gothic"/>
              </a:rPr>
              <a:t>    –  그 과정에서 HOSPITALS 쪽 집합이 이 뷰로 감싸였다</a:t>
            </a:r>
          </a:p>
          <a:p>
            <a:r>
              <a:rPr sz="1800" b="0">
                <a:solidFill>
                  <a:srgbClr val="202830"/>
                </a:solidFill>
                <a:latin typeface="Malgun Gothic"/>
              </a:rPr>
              <a:t>•  힌트가 가리키는 대상이 어긋났다</a:t>
            </a:r>
          </a:p>
          <a:p>
            <a:r>
              <a:rPr sz="1600" b="0">
                <a:solidFill>
                  <a:srgbClr val="5A6672"/>
                </a:solidFill>
                <a:latin typeface="Malgun Gothic"/>
              </a:rPr>
              <a:t>    –  USE_NL(h m) 은 원래 SQL 에 쓰인 별칭 h, m 을 기준으로 지정한 것이다</a:t>
            </a:r>
          </a:p>
          <a:p>
            <a:r>
              <a:rPr sz="1600" b="0">
                <a:solidFill>
                  <a:srgbClr val="5A6672"/>
                </a:solidFill>
                <a:latin typeface="Malgun Gothic"/>
              </a:rPr>
              <a:t>    –  변환된 쿼리에서 h 는 더 이상 최종 조인의 직접 참여자가 아니다</a:t>
            </a:r>
          </a:p>
          <a:p>
            <a:r>
              <a:rPr sz="1600" b="0">
                <a:solidFill>
                  <a:srgbClr val="5A6672"/>
                </a:solidFill>
                <a:latin typeface="Malgun Gothic"/>
              </a:rPr>
              <a:t>    –  별칭 조합이 대응되지 않아 힌트가 적용되지 못한 것으로 보인다</a:t>
            </a:r>
          </a:p>
          <a:p>
            <a:r>
              <a:rPr sz="1800" b="0">
                <a:solidFill>
                  <a:srgbClr val="202830"/>
                </a:solidFill>
                <a:latin typeface="Malgun Gothic"/>
              </a:rPr>
              <a:t>•  결과 — 옵티마이저의 기본 선택인 Hash Join 이 그대로 유지됐다</a:t>
            </a:r>
          </a:p>
          <a:p>
            <a:r>
              <a:rPr sz="1600" b="0">
                <a:solidFill>
                  <a:srgbClr val="5A6672"/>
                </a:solidFill>
                <a:latin typeface="Malgun Gothic"/>
              </a:rPr>
              <a:t>    –  실행계획에 낯선 VW_ 이름이 보이면 쿼리 변환을 의심한다</a:t>
            </a:r>
          </a:p>
        </p:txBody>
      </p:sp>
    </p:spTree>
    <p:extLst>
      <p:ext uri="{BB962C8B-B14F-4D97-AF65-F5344CB8AC3E}">
        <p14:creationId xmlns:p14="http://schemas.microsoft.com/office/powerpoint/2010/main" val="529456411"/>
      </p:ext>
    </p:extLst>
  </p:cSld>
  <p:clrMapOvr>
    <a:masterClrMapping/>
  </p:clrMapOvr>
</p:sld>
</file>

<file path=ppt/slides/slide37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실무 교훈 — 힌트 검증 절차</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힌트를 추가했다는 사실만으로는 아무것도 보장되지 않는다</a:t>
            </a:r>
          </a:p>
          <a:p>
            <a:r>
              <a:rPr sz="1800" b="0">
                <a:solidFill>
                  <a:srgbClr val="202830"/>
                </a:solidFill>
                <a:latin typeface="Malgun Gothic"/>
              </a:rPr>
              <a:t>•  힌트 적용 후 반드시 확인할 것</a:t>
            </a:r>
          </a:p>
          <a:p>
            <a:r>
              <a:rPr sz="1600" b="0">
                <a:solidFill>
                  <a:srgbClr val="5A6672"/>
                </a:solidFill>
                <a:latin typeface="Malgun Gothic"/>
              </a:rPr>
              <a:t>    –  ① 의도한 오퍼레이션 이름이 실행계획에 실제로 나타났는가</a:t>
            </a:r>
          </a:p>
          <a:p>
            <a:r>
              <a:rPr sz="1600" b="0">
                <a:solidFill>
                  <a:srgbClr val="5A6672"/>
                </a:solidFill>
                <a:latin typeface="Malgun Gothic"/>
              </a:rPr>
              <a:t>    –  ② Buffers 와 A-Rows 가 기대한 방향으로 움직였는가</a:t>
            </a:r>
          </a:p>
          <a:p>
            <a:r>
              <a:rPr sz="1600" b="0">
                <a:solidFill>
                  <a:srgbClr val="5A6672"/>
                </a:solidFill>
                <a:latin typeface="Malgun Gothic"/>
              </a:rPr>
              <a:t>    –  ③ 계획에 낯선 내부 뷰가 끼어들지 않았는가</a:t>
            </a:r>
          </a:p>
          <a:p>
            <a:r>
              <a:rPr sz="1800" b="0">
                <a:solidFill>
                  <a:srgbClr val="202830"/>
                </a:solidFill>
                <a:latin typeface="Malgun Gothic"/>
              </a:rPr>
              <a:t>•  이번 사례는 운이 좋았던 경우다</a:t>
            </a:r>
          </a:p>
          <a:p>
            <a:r>
              <a:rPr sz="1600" b="0">
                <a:solidFill>
                  <a:srgbClr val="5A6672"/>
                </a:solidFill>
                <a:latin typeface="Malgun Gothic"/>
              </a:rPr>
              <a:t>    –  힌트가 무시된 덕분에 반복 전체 스캔이라는 최악을 피했다</a:t>
            </a:r>
          </a:p>
          <a:p>
            <a:r>
              <a:rPr sz="1600" b="0">
                <a:solidFill>
                  <a:srgbClr val="5A6672"/>
                </a:solidFill>
                <a:latin typeface="Malgun Gothic"/>
              </a:rPr>
              <a:t>    –  힌트가 그대로 적용되는 쿼리 형태였다면 성능이 크게 나빠졌을 수 있다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적용되지 않은 힌트는 오류를 내지 않는다 — 실행계획을 다시 조회하는 것 외에는 확인할 방법이 없다.</a:t>
            </a:r>
          </a:p>
        </p:txBody>
      </p:sp>
    </p:spTree>
    <p:extLst>
      <p:ext uri="{BB962C8B-B14F-4D97-AF65-F5344CB8AC3E}">
        <p14:creationId xmlns:p14="http://schemas.microsoft.com/office/powerpoint/2010/main" val="1417277198"/>
      </p:ext>
    </p:extLst>
  </p:cSld>
  <p:clrMapOvr>
    <a:masterClrMapping/>
  </p:clrMapOvr>
</p:sld>
</file>

<file path=ppt/slides/slide375.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107996"/>
          </a:xfrm>
          <a:prstGeom prst="rect">
            <a:avLst/>
          </a:prstGeom>
          <a:noFill/>
        </p:spPr>
        <p:txBody>
          <a:bodyPr wrap="square">
            <a:spAutoFit/>
          </a:bodyPr>
          <a:lstStyle/>
          <a:p>
            <a:r>
              <a:rPr lang="en-US" sz="6600" b="1" dirty="0">
                <a:solidFill>
                  <a:srgbClr val="C0392B"/>
                </a:solidFill>
                <a:latin typeface="Malgun Gothic"/>
              </a:rPr>
              <a:t>9</a:t>
            </a:r>
            <a:r>
              <a:rPr sz="6600" b="1" dirty="0">
                <a:solidFill>
                  <a:srgbClr val="C0392B"/>
                </a:solidFill>
                <a:latin typeface="Malgun Gothic"/>
              </a:rPr>
              <a:t>.7</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Tuning — 인덱스를 만들면</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조인 컬럼 인덱스 생성과 재실행</a:t>
            </a:r>
          </a:p>
          <a:p>
            <a:r>
              <a:rPr sz="1600" b="0">
                <a:solidFill>
                  <a:srgbClr val="C5CED6"/>
                </a:solidFill>
                <a:latin typeface="Malgun Gothic"/>
              </a:rPr>
              <a:t>•  Q4 — NESTED LOOPS 의 등장</a:t>
            </a:r>
          </a:p>
          <a:p>
            <a:r>
              <a:rPr sz="1600" b="0">
                <a:solidFill>
                  <a:srgbClr val="C5CED6"/>
                </a:solidFill>
                <a:latin typeface="Malgun Gothic"/>
              </a:rPr>
              <a:t>•  Q5 — 힌트 없이도 NL 이 선택됨</a:t>
            </a:r>
          </a:p>
        </p:txBody>
      </p:sp>
    </p:spTree>
    <p:extLst>
      <p:ext uri="{BB962C8B-B14F-4D97-AF65-F5344CB8AC3E}">
        <p14:creationId xmlns:p14="http://schemas.microsoft.com/office/powerpoint/2010/main" val="3482388667"/>
      </p:ext>
    </p:extLst>
  </p:cSld>
  <p:clrMapOvr>
    <a:masterClrMapping/>
  </p:clrMapOvr>
</p:sld>
</file>

<file path=ppt/slides/slide37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인덱스 생성과 재실행</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조인 컬럼에 인덱스를 만들고 같은 쿼리를 다시 실행한다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MEDICAL_CLAIMS 의 조인 컬럼에 실습용 인덱스 생성</a:t>
            </a:r>
          </a:p>
          <a:p>
            <a:r>
              <a:rPr sz="1250" b="0">
                <a:solidFill>
                  <a:srgbClr val="E6E6E6"/>
                </a:solidFill>
                <a:latin typeface="Consolas"/>
              </a:rPr>
              <a:t>CREATE INDEX ix_ch07_hospid ON medical_claims(hosp_id);</a:t>
            </a:r>
          </a:p>
          <a:p>
            <a:r>
              <a:rPr sz="1250" b="0">
                <a:solidFill>
                  <a:srgbClr val="E6E6E6"/>
                </a:solidFill>
                <a:latin typeface="Consolas"/>
              </a:rPr>
              <a:t> </a:t>
            </a:r>
          </a:p>
          <a:p>
            <a:r>
              <a:rPr sz="1250" b="0">
                <a:solidFill>
                  <a:srgbClr val="7EC699"/>
                </a:solidFill>
                <a:latin typeface="Consolas"/>
              </a:rPr>
              <a:t>-- Q4. 인덱스가 있는 상태에서 USE_NL 강제</a:t>
            </a:r>
          </a:p>
          <a:p>
            <a:r>
              <a:rPr sz="1250" b="0">
                <a:solidFill>
                  <a:srgbClr val="E6E6E6"/>
                </a:solidFill>
                <a:latin typeface="Consolas"/>
              </a:rPr>
              <a:t>SELECT /*+ USE_NL(h m) */ h.hosp_type, COUNT(*)</a:t>
            </a:r>
          </a:p>
          <a:p>
            <a:r>
              <a:rPr sz="1250" b="0">
                <a:solidFill>
                  <a:srgbClr val="E6E6E6"/>
                </a:solidFill>
                <a:latin typeface="Consolas"/>
              </a:rPr>
              <a:t>FROM   hospitals h, medical_claims m</a:t>
            </a:r>
          </a:p>
          <a:p>
            <a:r>
              <a:rPr sz="1250" b="0">
                <a:solidFill>
                  <a:srgbClr val="E6E6E6"/>
                </a:solidFill>
                <a:latin typeface="Consolas"/>
              </a:rPr>
              <a:t>WHERE  h.hosp_id = m.hosp_id</a:t>
            </a:r>
          </a:p>
          <a:p>
            <a:r>
              <a:rPr sz="1250" b="0">
                <a:solidFill>
                  <a:srgbClr val="E6E6E6"/>
                </a:solidFill>
                <a:latin typeface="Consolas"/>
              </a:rPr>
              <a:t>AND    h.hosp_id &lt;= 5</a:t>
            </a:r>
          </a:p>
          <a:p>
            <a:r>
              <a:rPr sz="1250" b="0">
                <a:solidFill>
                  <a:srgbClr val="E6E6E6"/>
                </a:solidFill>
                <a:latin typeface="Consolas"/>
              </a:rPr>
              <a:t>GROUP  BY h.hosp_type;</a:t>
            </a:r>
          </a:p>
          <a:p>
            <a:r>
              <a:rPr sz="1250" b="0">
                <a:solidFill>
                  <a:srgbClr val="E6E6E6"/>
                </a:solidFill>
                <a:latin typeface="Consolas"/>
              </a:rPr>
              <a:t> </a:t>
            </a:r>
          </a:p>
          <a:p>
            <a:r>
              <a:rPr sz="1250" b="0">
                <a:solidFill>
                  <a:srgbClr val="7EC699"/>
                </a:solidFill>
                <a:latin typeface="Consolas"/>
              </a:rPr>
              <a:t>-- 실습 종료 시 반드시 정리한다</a:t>
            </a:r>
          </a:p>
          <a:p>
            <a:r>
              <a:rPr sz="1250" b="0">
                <a:solidFill>
                  <a:srgbClr val="E6E6E6"/>
                </a:solidFill>
                <a:latin typeface="Consolas"/>
              </a:rPr>
              <a:t>DROP INDEX ix_ch07_hospid;</a:t>
            </a:r>
          </a:p>
        </p:txBody>
      </p:sp>
    </p:spTree>
    <p:extLst>
      <p:ext uri="{BB962C8B-B14F-4D97-AF65-F5344CB8AC3E}">
        <p14:creationId xmlns:p14="http://schemas.microsoft.com/office/powerpoint/2010/main" val="1403462422"/>
      </p:ext>
    </p:extLst>
  </p:cSld>
  <p:clrMapOvr>
    <a:masterClrMapping/>
  </p:clrMapOvr>
</p:sld>
</file>

<file path=ppt/slides/slide37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Q4 실행계획 — USE_NL 강제 (인덱스 있음)</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같은 힌트, 같은 SQL — 인덱스만 추가한 결과</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Starts | A-Rows |   A-Time   | Buffers |</a:t>
            </a:r>
          </a:p>
          <a:p>
            <a:r>
              <a:rPr sz="1250" b="0">
                <a:solidFill>
                  <a:srgbClr val="E6E6E6"/>
                </a:solidFill>
                <a:latin typeface="Consolas"/>
              </a:rPr>
              <a:t>| 0  | SELECT STATEMENT                       |                |      1 |      2 |00:00:00.01 |      44 |</a:t>
            </a:r>
          </a:p>
          <a:p>
            <a:r>
              <a:rPr sz="1250" b="0">
                <a:solidFill>
                  <a:srgbClr val="E6E6E6"/>
                </a:solidFill>
                <a:latin typeface="Consolas"/>
              </a:rPr>
              <a:t>| 1  |  HASH GROUP BY                         |                |      1 |      2 |00:00:00.01 |      44 |</a:t>
            </a:r>
          </a:p>
          <a:p>
            <a:r>
              <a:rPr sz="1250" b="0">
                <a:solidFill>
                  <a:srgbClr val="E6E6E6"/>
                </a:solidFill>
                <a:latin typeface="Consolas"/>
              </a:rPr>
              <a:t>| 2  |   NESTED LOOPS                         |                |      1 |  15029 |00:00:00.01 |      44 |</a:t>
            </a:r>
          </a:p>
          <a:p>
            <a:r>
              <a:rPr sz="1250" b="0">
                <a:solidFill>
                  <a:srgbClr val="E6E6E6"/>
                </a:solidFill>
                <a:latin typeface="Consolas"/>
              </a:rPr>
              <a:t>| 3  |    TABLE ACCESS BY INDEX ROWID BATCHED | HOSPITALS      |      1 |      5 |00:00:00.01 |       3 |</a:t>
            </a:r>
          </a:p>
          <a:p>
            <a:r>
              <a:rPr sz="1250" b="0">
                <a:solidFill>
                  <a:srgbClr val="E6E6E6"/>
                </a:solidFill>
                <a:latin typeface="Consolas"/>
              </a:rPr>
              <a:t>| 4  |     INDEX RANGE SCAN                   | PK_HOSPITALS   |      1 |      5 |00:00:00.01 |       2 |</a:t>
            </a:r>
          </a:p>
          <a:p>
            <a:r>
              <a:rPr sz="1250" b="0">
                <a:solidFill>
                  <a:srgbClr val="E6E6E6"/>
                </a:solidFill>
                <a:latin typeface="Consolas"/>
              </a:rPr>
              <a:t>| 5  |    INDEX RANGE SCAN                    | IX_CH07_HOSPID |      5 |  15029 |00:00:00.01 |      41 |</a:t>
            </a:r>
          </a:p>
          <a:p>
            <a:r>
              <a:rPr sz="1250" b="0">
                <a:solidFill>
                  <a:srgbClr val="E6E6E6"/>
                </a:solidFill>
                <a:latin typeface="Consolas"/>
              </a:rPr>
              <a:t> </a:t>
            </a:r>
          </a:p>
          <a:p>
            <a:r>
              <a:rPr sz="1250" b="0">
                <a:solidFill>
                  <a:srgbClr val="7EC699"/>
                </a:solidFill>
                <a:latin typeface="Consolas"/>
              </a:rPr>
              <a:t>-- Plan hash value 872004878</a:t>
            </a:r>
          </a:p>
        </p:txBody>
      </p:sp>
    </p:spTree>
    <p:extLst>
      <p:ext uri="{BB962C8B-B14F-4D97-AF65-F5344CB8AC3E}">
        <p14:creationId xmlns:p14="http://schemas.microsoft.com/office/powerpoint/2010/main" val="3685834043"/>
      </p:ext>
    </p:extLst>
  </p:cSld>
  <p:clrMapOvr>
    <a:masterClrMapping/>
  </p:clrMapOvr>
</p:sld>
</file>

<file path=ppt/slides/slide37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Q4 실행계획 해석</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이번엔 NESTED LOOPS 가 실제로 나타났다 (Id 2)</a:t>
            </a:r>
          </a:p>
          <a:p>
            <a:r>
              <a:rPr sz="1600" b="0">
                <a:solidFill>
                  <a:srgbClr val="5A6672"/>
                </a:solidFill>
                <a:latin typeface="Malgun Gothic"/>
              </a:rPr>
              <a:t>    –  같은 힌트, 같은 SQL 인데 결과가 달라졌다 — 바뀐 것은 인덱스뿐이다</a:t>
            </a:r>
          </a:p>
          <a:p>
            <a:r>
              <a:rPr sz="1800" b="0">
                <a:solidFill>
                  <a:srgbClr val="202830"/>
                </a:solidFill>
                <a:latin typeface="Malgun Gothic"/>
              </a:rPr>
              <a:t>•  Inner 접근 방식이 바뀌었다</a:t>
            </a:r>
          </a:p>
          <a:p>
            <a:r>
              <a:rPr sz="1600" b="0">
                <a:solidFill>
                  <a:srgbClr val="5A6672"/>
                </a:solidFill>
                <a:latin typeface="Malgun Gothic"/>
              </a:rPr>
              <a:t>    –  Q2 의 TABLE ACCESS FULL 이 INDEX RANGE SCAN (IX_CH07_HOSPID) 으로 바뀌었다</a:t>
            </a:r>
          </a:p>
          <a:p>
            <a:r>
              <a:rPr sz="1600" b="0">
                <a:solidFill>
                  <a:srgbClr val="5A6672"/>
                </a:solidFill>
                <a:latin typeface="Malgun Gothic"/>
              </a:rPr>
              <a:t>    –  이 단계의 Buffers 는 41</a:t>
            </a:r>
          </a:p>
          <a:p>
            <a:r>
              <a:rPr sz="1800" b="0">
                <a:solidFill>
                  <a:srgbClr val="202830"/>
                </a:solidFill>
                <a:latin typeface="Malgun Gothic"/>
              </a:rPr>
              <a:t>•  전체 Buffers 는 3,093 에서 44 로</a:t>
            </a:r>
          </a:p>
          <a:p>
            <a:r>
              <a:rPr sz="1600" b="0">
                <a:solidFill>
                  <a:srgbClr val="5A6672"/>
                </a:solidFill>
                <a:latin typeface="Malgun Gothic"/>
              </a:rPr>
              <a:t>    –  교안 기준 약 70배 줄어들었다</a:t>
            </a:r>
          </a:p>
          <a:p>
            <a:r>
              <a:rPr sz="1600" b="0">
                <a:solidFill>
                  <a:srgbClr val="5A6672"/>
                </a:solidFill>
                <a:latin typeface="Malgun Gothic"/>
              </a:rPr>
              <a:t>    –  줄어든 몫의 대부분은 MEDICAL_CLAIMS 전체 스캔이 사라진 것이다</a:t>
            </a:r>
          </a:p>
          <a:p>
            <a:r>
              <a:rPr sz="1800" b="0">
                <a:solidFill>
                  <a:srgbClr val="202830"/>
                </a:solidFill>
                <a:latin typeface="Malgun Gothic"/>
              </a:rPr>
              <a:t>•  힌트가 아니라 인덱스가 계획을 바꿨다는 점이 이 장의 결론이다</a:t>
            </a:r>
          </a:p>
        </p:txBody>
      </p:sp>
    </p:spTree>
    <p:extLst>
      <p:ext uri="{BB962C8B-B14F-4D97-AF65-F5344CB8AC3E}">
        <p14:creationId xmlns:p14="http://schemas.microsoft.com/office/powerpoint/2010/main" val="56377007"/>
      </p:ext>
    </p:extLst>
  </p:cSld>
  <p:clrMapOvr>
    <a:masterClrMapping/>
  </p:clrMapOvr>
</p:sld>
</file>

<file path=ppt/slides/slide37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Starts 가 말해 주는 것</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Starts 는 해당 오퍼레이션이 몇 번 시작됐는지, 즉 몇 번 반복 실행됐는지를 나타낸다</a:t>
            </a:r>
          </a:p>
          <a:p>
            <a:r>
              <a:rPr sz="1800" b="0">
                <a:solidFill>
                  <a:srgbClr val="202830"/>
                </a:solidFill>
                <a:latin typeface="Malgun Gothic"/>
              </a:rPr>
              <a:t>•  Q4 에서 Starts 열을 세로로 읽어 보자</a:t>
            </a:r>
          </a:p>
          <a:p>
            <a:r>
              <a:rPr sz="1600" b="0">
                <a:solidFill>
                  <a:srgbClr val="5A6672"/>
                </a:solidFill>
                <a:latin typeface="Malgun Gothic"/>
              </a:rPr>
              <a:t>    –  Id 3~4 HOSPITALS — Starts 1, 한 번만 접근해 5건으로 좁혔다</a:t>
            </a:r>
          </a:p>
          <a:p>
            <a:r>
              <a:rPr sz="1600" b="0">
                <a:solidFill>
                  <a:srgbClr val="5A6672"/>
                </a:solidFill>
                <a:latin typeface="Malgun Gothic"/>
              </a:rPr>
              <a:t>    –  Id 5 IX_CH07_HOSPID — Starts 5, 그 5건 각각에 대해 반복 탐색했다</a:t>
            </a:r>
          </a:p>
          <a:p>
            <a:r>
              <a:rPr sz="1800" b="0">
                <a:solidFill>
                  <a:srgbClr val="202830"/>
                </a:solidFill>
                <a:latin typeface="Malgun Gothic"/>
              </a:rPr>
              <a:t>•  NL Join 의 정의가 숫자로 드러난 장면이다</a:t>
            </a:r>
          </a:p>
          <a:p>
            <a:r>
              <a:rPr sz="1600" b="0">
                <a:solidFill>
                  <a:srgbClr val="5A6672"/>
                </a:solidFill>
                <a:latin typeface="Malgun Gothic"/>
              </a:rPr>
              <a:t>    –  'Outer 각 행마다 Inner 를 찾는다'가 실행계획 수치로 그대로 확인됐다</a:t>
            </a:r>
          </a:p>
          <a:p>
            <a:r>
              <a:rPr sz="1800" b="0">
                <a:solidFill>
                  <a:srgbClr val="202830"/>
                </a:solidFill>
                <a:latin typeface="Malgun Gothic"/>
              </a:rPr>
              <a:t>•  Driving Table 판정 근거로도 쓴다</a:t>
            </a:r>
          </a:p>
          <a:p>
            <a:r>
              <a:rPr sz="1600" b="0">
                <a:solidFill>
                  <a:srgbClr val="5A6672"/>
                </a:solidFill>
                <a:latin typeface="Malgun Gothic"/>
              </a:rPr>
              <a:t>    –  Starts 가 1 인 쪽이 Outer(HOSPITALS), 5 인 쪽이 Inner(MEDICAL_CLAIMS)</a:t>
            </a:r>
          </a:p>
          <a:p>
            <a:r>
              <a:rPr sz="1800" b="0">
                <a:solidFill>
                  <a:srgbClr val="202830"/>
                </a:solidFill>
                <a:latin typeface="Malgun Gothic"/>
              </a:rPr>
              <a:t>•  Outer 행 수가 늘면 Starts 도 늘고 비용도 그만큼 따라 늘어난다</a:t>
            </a:r>
          </a:p>
        </p:txBody>
      </p:sp>
    </p:spTree>
    <p:extLst>
      <p:ext uri="{BB962C8B-B14F-4D97-AF65-F5344CB8AC3E}">
        <p14:creationId xmlns:p14="http://schemas.microsoft.com/office/powerpoint/2010/main" val="970361674"/>
      </p:ext>
    </p:extLst>
  </p:cSld>
  <p:clrMapOvr>
    <a:masterClrMapping/>
  </p:clrMapOvr>
</p:sld>
</file>

<file path=ppt/slides/slide38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Q5 — 힌트 없이도 NL 이 선택됐다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Q5 는 인덱스가 있는 상태에서 힌트를 빼고 실행한 것이다</a:t>
            </a:r>
          </a:p>
          <a:p>
            <a:r>
              <a:rPr sz="1800" b="0">
                <a:solidFill>
                  <a:srgbClr val="202830"/>
                </a:solidFill>
                <a:latin typeface="Malgun Gothic"/>
              </a:rPr>
              <a:t>•  결과 — Q4 와 완전히 동일한 계획</a:t>
            </a:r>
          </a:p>
          <a:p>
            <a:r>
              <a:rPr sz="1600" b="0">
                <a:solidFill>
                  <a:srgbClr val="5A6672"/>
                </a:solidFill>
                <a:latin typeface="Malgun Gothic"/>
              </a:rPr>
              <a:t>    –  Plan hash value 872004878 까지 같다</a:t>
            </a:r>
          </a:p>
          <a:p>
            <a:r>
              <a:rPr sz="1600" b="0">
                <a:solidFill>
                  <a:srgbClr val="5A6672"/>
                </a:solidFill>
                <a:latin typeface="Malgun Gothic"/>
              </a:rPr>
              <a:t>    –  적응형 계획(adaptive plan)이라는 안내 문구까지 동일하게 나타났다</a:t>
            </a:r>
          </a:p>
          <a:p>
            <a:r>
              <a:rPr sz="1800" b="0">
                <a:solidFill>
                  <a:srgbClr val="202830"/>
                </a:solidFill>
                <a:latin typeface="Malgun Gothic"/>
              </a:rPr>
              <a:t>•  해석 — 우연이 아니라 필연에 가깝다</a:t>
            </a:r>
          </a:p>
          <a:p>
            <a:r>
              <a:rPr sz="1600" b="0">
                <a:solidFill>
                  <a:srgbClr val="5A6672"/>
                </a:solidFill>
                <a:latin typeface="Malgun Gothic"/>
              </a:rPr>
              <a:t>    –  옵티마이저는 후보들의 비용을 계산해 가장 싼 쪽을 고른다</a:t>
            </a:r>
          </a:p>
          <a:p>
            <a:r>
              <a:rPr sz="1600" b="0">
                <a:solidFill>
                  <a:srgbClr val="5A6672"/>
                </a:solidFill>
                <a:latin typeface="Malgun Gothic"/>
              </a:rPr>
              <a:t>    –  인덱스가 생기면서 NL 의 예상 비용이 Hash Join 보다 낮아진 것이다</a:t>
            </a:r>
          </a:p>
          <a:p>
            <a:r>
              <a:rPr sz="1800" b="0">
                <a:solidFill>
                  <a:srgbClr val="202830"/>
                </a:solidFill>
                <a:latin typeface="Malgun Gothic"/>
              </a:rPr>
              <a:t>•  이번엔 힌트가 필요조차 없었다</a:t>
            </a:r>
          </a:p>
          <a:p>
            <a:r>
              <a:rPr sz="1600" b="0">
                <a:solidFill>
                  <a:srgbClr val="5A6672"/>
                </a:solidFill>
                <a:latin typeface="Malgun Gothic"/>
              </a:rPr>
              <a:t>    –  조건을 갖춰 주면 옵티마이저가 스스로 같은 결론에 도달한다</a:t>
            </a:r>
          </a:p>
        </p:txBody>
      </p:sp>
    </p:spTree>
    <p:extLst>
      <p:ext uri="{BB962C8B-B14F-4D97-AF65-F5344CB8AC3E}">
        <p14:creationId xmlns:p14="http://schemas.microsoft.com/office/powerpoint/2010/main" val="592834148"/>
      </p:ext>
    </p:extLst>
  </p:cSld>
  <p:clrMapOvr>
    <a:masterClrMapping/>
  </p:clrMapOvr>
</p:sld>
</file>

<file path=ppt/slides/slide381.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107996"/>
          </a:xfrm>
          <a:prstGeom prst="rect">
            <a:avLst/>
          </a:prstGeom>
          <a:noFill/>
        </p:spPr>
        <p:txBody>
          <a:bodyPr wrap="square">
            <a:spAutoFit/>
          </a:bodyPr>
          <a:lstStyle/>
          <a:p>
            <a:r>
              <a:rPr lang="en-US" sz="6600" b="1" dirty="0">
                <a:solidFill>
                  <a:srgbClr val="C0392B"/>
                </a:solidFill>
                <a:latin typeface="Malgun Gothic"/>
              </a:rPr>
              <a:t>9</a:t>
            </a:r>
            <a:r>
              <a:rPr sz="6600" b="1" dirty="0">
                <a:solidFill>
                  <a:srgbClr val="C0392B"/>
                </a:solidFill>
                <a:latin typeface="Malgun Gothic"/>
              </a:rPr>
              <a:t>.8</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Benchmark — 실행 결과 종합</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상황별 조인 방식과 Buffers</a:t>
            </a:r>
          </a:p>
          <a:p>
            <a:r>
              <a:rPr sz="1600" b="0">
                <a:solidFill>
                  <a:srgbClr val="C5CED6"/>
                </a:solidFill>
                <a:latin typeface="Malgun Gothic"/>
              </a:rPr>
              <a:t>•  결정적 변수는 무엇이었나</a:t>
            </a:r>
          </a:p>
          <a:p>
            <a:r>
              <a:rPr sz="1600" b="0">
                <a:solidFill>
                  <a:srgbClr val="C5CED6"/>
                </a:solidFill>
                <a:latin typeface="Malgun Gothic"/>
              </a:rPr>
              <a:t>•  조인 방식 선택 체크리스트</a:t>
            </a:r>
          </a:p>
        </p:txBody>
      </p:sp>
    </p:spTree>
    <p:extLst>
      <p:ext uri="{BB962C8B-B14F-4D97-AF65-F5344CB8AC3E}">
        <p14:creationId xmlns:p14="http://schemas.microsoft.com/office/powerpoint/2010/main" val="2597239711"/>
      </p:ext>
    </p:extLst>
  </p:cSld>
  <p:clrMapOvr>
    <a:masterClrMapping/>
  </p:clrMapOvr>
</p:sld>
</file>

<file path=ppt/slides/slide38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벤치마크 — 실행 결과 종합</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힌트를 바꾼 경우와 인덱스를 만든 경우</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a:t>
            </a:r>
          </a:p>
          <a:p>
            <a:r>
              <a:rPr sz="1250" b="0">
                <a:solidFill>
                  <a:srgbClr val="E6E6E6"/>
                </a:solidFill>
                <a:latin typeface="Consolas"/>
              </a:rPr>
              <a:t>| 상황                             | 조인 방식                  | Buffers |</a:t>
            </a:r>
          </a:p>
          <a:p>
            <a:r>
              <a:rPr sz="1250" b="0">
                <a:solidFill>
                  <a:srgbClr val="E6E6E6"/>
                </a:solidFill>
                <a:latin typeface="Consolas"/>
              </a:rPr>
              <a:t>+----------------------------------+----------------------------+---------+</a:t>
            </a:r>
          </a:p>
          <a:p>
            <a:r>
              <a:rPr sz="1250" b="0">
                <a:solidFill>
                  <a:srgbClr val="E6E6E6"/>
                </a:solidFill>
                <a:latin typeface="Consolas"/>
              </a:rPr>
              <a:t>| 인덱스 없음, 힌트 없음 (Q1)      | HASH JOIN                  |   3,093 |</a:t>
            </a:r>
          </a:p>
          <a:p>
            <a:r>
              <a:rPr sz="1250" b="0">
                <a:solidFill>
                  <a:srgbClr val="E6E6E6"/>
                </a:solidFill>
                <a:latin typeface="Consolas"/>
              </a:rPr>
              <a:t>| 인덱스 없음, USE_NL 강제 (Q2)    | HASH JOIN (힌트 미적용)    |   3,093 |</a:t>
            </a:r>
          </a:p>
          <a:p>
            <a:r>
              <a:rPr sz="1250" b="0">
                <a:solidFill>
                  <a:srgbClr val="E6E6E6"/>
                </a:solidFill>
                <a:latin typeface="Consolas"/>
              </a:rPr>
              <a:t>| 인덱스 없음, USE_HASH 강제 (Q3)  | HASH JOIN                  |   3,093 |</a:t>
            </a:r>
          </a:p>
          <a:p>
            <a:r>
              <a:rPr sz="1250" b="0">
                <a:solidFill>
                  <a:srgbClr val="E6E6E6"/>
                </a:solidFill>
                <a:latin typeface="Consolas"/>
              </a:rPr>
              <a:t>| 인덱스 있음, USE_NL 강제 (Q4)    | NESTED LOOPS               |      44 |</a:t>
            </a:r>
          </a:p>
          <a:p>
            <a:r>
              <a:rPr sz="1250" b="0">
                <a:solidFill>
                  <a:srgbClr val="E6E6E6"/>
                </a:solidFill>
                <a:latin typeface="Consolas"/>
              </a:rPr>
              <a:t>| 인덱스 있음, 힌트 없음 (Q5)      | NESTED LOOPS (자동 선택)   |      44 |</a:t>
            </a:r>
          </a:p>
          <a:p>
            <a:r>
              <a:rPr sz="1250" b="0">
                <a:solidFill>
                  <a:srgbClr val="E6E6E6"/>
                </a:solidFill>
                <a:latin typeface="Consolas"/>
              </a:rPr>
              <a:t>+----------------------------------+----------------------------+---------+</a:t>
            </a:r>
          </a:p>
          <a:p>
            <a:r>
              <a:rPr sz="1250" b="0">
                <a:solidFill>
                  <a:srgbClr val="E6E6E6"/>
                </a:solidFill>
                <a:latin typeface="Consolas"/>
              </a:rPr>
              <a:t> </a:t>
            </a:r>
          </a:p>
          <a:p>
            <a:r>
              <a:rPr sz="1250" b="0">
                <a:solidFill>
                  <a:srgbClr val="7EC699"/>
                </a:solidFill>
                <a:latin typeface="Consolas"/>
              </a:rPr>
              <a:t>-- 위쪽 : 힌트를 무엇으로 바꿔도 결과가 같다</a:t>
            </a:r>
          </a:p>
          <a:p>
            <a:r>
              <a:rPr sz="1250" b="0">
                <a:solidFill>
                  <a:srgbClr val="7EC699"/>
                </a:solidFill>
                <a:latin typeface="Consolas"/>
              </a:rPr>
              <a:t>-- 아래쪽 : 인덱스가 생기자 힌트 유무와 무관하게 같다</a:t>
            </a:r>
          </a:p>
        </p:txBody>
      </p:sp>
    </p:spTree>
    <p:extLst>
      <p:ext uri="{BB962C8B-B14F-4D97-AF65-F5344CB8AC3E}">
        <p14:creationId xmlns:p14="http://schemas.microsoft.com/office/powerpoint/2010/main" val="520169558"/>
      </p:ext>
    </p:extLst>
  </p:cSld>
  <p:clrMapOvr>
    <a:masterClrMapping/>
  </p:clrMapOvr>
</p:sld>
</file>

<file path=ppt/slides/slide38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벤치마크 해석 — 결정적 변수는 인덱스였다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힌트만 바꾼 경우(Q1·Q2·Q3)는 Buffers 가 모두 3,093 으로 같았다</a:t>
            </a:r>
          </a:p>
          <a:p>
            <a:r>
              <a:rPr sz="1600" b="0">
                <a:solidFill>
                  <a:srgbClr val="5A6672"/>
                </a:solidFill>
                <a:latin typeface="Malgun Gothic"/>
              </a:rPr>
              <a:t>    –  인덱스가 없는 동안에는 무엇을 지시해도 결과가 달라지지 않았다</a:t>
            </a:r>
          </a:p>
          <a:p>
            <a:r>
              <a:rPr sz="1800" b="0">
                <a:solidFill>
                  <a:srgbClr val="202830"/>
                </a:solidFill>
                <a:latin typeface="Malgun Gothic"/>
              </a:rPr>
              <a:t>•  인덱스를 만든 경우(Q4·Q5)는 힌트 유무와 무관하게 44 였다</a:t>
            </a:r>
          </a:p>
          <a:p>
            <a:r>
              <a:rPr sz="1600" b="0">
                <a:solidFill>
                  <a:srgbClr val="5A6672"/>
                </a:solidFill>
                <a:latin typeface="Malgun Gothic"/>
              </a:rPr>
              <a:t>    –  인덱스가 생기자 힌트가 없어도 NL 이 선택됐다</a:t>
            </a:r>
          </a:p>
          <a:p>
            <a:r>
              <a:rPr sz="1800" b="0">
                <a:solidFill>
                  <a:srgbClr val="202830"/>
                </a:solidFill>
                <a:latin typeface="Malgun Gothic"/>
              </a:rPr>
              <a:t>•  정리하면</a:t>
            </a:r>
          </a:p>
          <a:p>
            <a:r>
              <a:rPr sz="1600" b="0">
                <a:solidFill>
                  <a:srgbClr val="5A6672"/>
                </a:solidFill>
                <a:latin typeface="Malgun Gothic"/>
              </a:rPr>
              <a:t>    –  인덱스 유무가 힌트보다 훨씬 결정적인 변수였다</a:t>
            </a:r>
          </a:p>
          <a:p>
            <a:r>
              <a:rPr sz="1600" b="0">
                <a:solidFill>
                  <a:srgbClr val="5A6672"/>
                </a:solidFill>
                <a:latin typeface="Malgun Gothic"/>
              </a:rPr>
              <a:t>    –  힌트로 방식을 바꾸려 하기 전에 조건이 갖춰졌는지부터 확인한다</a:t>
            </a:r>
          </a:p>
          <a:p>
            <a:r>
              <a:rPr sz="1800" b="0">
                <a:solidFill>
                  <a:srgbClr val="202830"/>
                </a:solidFill>
                <a:latin typeface="Malgun Gothic"/>
              </a:rPr>
              <a:t>•  주의 — 이 결론은 이번 쿼리 형태에서 관측된 것이다</a:t>
            </a:r>
          </a:p>
          <a:p>
            <a:r>
              <a:rPr sz="1600" b="0">
                <a:solidFill>
                  <a:srgbClr val="5A6672"/>
                </a:solidFill>
                <a:latin typeface="Malgun Gothic"/>
              </a:rPr>
              <a:t>    –  다른 쿼리 형태에서는 힌트가 그대로 적용될 수도 있다</a:t>
            </a:r>
          </a:p>
        </p:txBody>
      </p:sp>
    </p:spTree>
    <p:extLst>
      <p:ext uri="{BB962C8B-B14F-4D97-AF65-F5344CB8AC3E}">
        <p14:creationId xmlns:p14="http://schemas.microsoft.com/office/powerpoint/2010/main" val="1835570342"/>
      </p:ext>
    </p:extLst>
  </p:cSld>
  <p:clrMapOvr>
    <a:masterClrMapping/>
  </p:clrMapOvr>
</p:sld>
</file>

<file path=ppt/slides/slide38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조인 방식 선택 체크리스트</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먼저 확인할 것</a:t>
            </a:r>
          </a:p>
          <a:p>
            <a:r>
              <a:rPr sz="1600" b="0">
                <a:solidFill>
                  <a:srgbClr val="5A6672"/>
                </a:solidFill>
                <a:latin typeface="Malgun Gothic"/>
              </a:rPr>
              <a:t>    –  조인 조건이 등가인가 — 아니면 Hash Join 은 후보에서 빠진다</a:t>
            </a:r>
          </a:p>
          <a:p>
            <a:r>
              <a:rPr sz="1600" b="0">
                <a:solidFill>
                  <a:srgbClr val="5A6672"/>
                </a:solidFill>
                <a:latin typeface="Malgun Gothic"/>
              </a:rPr>
              <a:t>    –  어느 쪽이 조건으로 먼저 좁혀지는가 — 그쪽이 Driving 후보다</a:t>
            </a:r>
          </a:p>
          <a:p>
            <a:r>
              <a:rPr sz="1600" b="0">
                <a:solidFill>
                  <a:srgbClr val="5A6672"/>
                </a:solidFill>
                <a:latin typeface="Malgun Gothic"/>
              </a:rPr>
              <a:t>    –  반대쪽 조인 컬럼에 인덱스가 있는가 — 없으면 NL 은 위험하다</a:t>
            </a:r>
          </a:p>
          <a:p>
            <a:r>
              <a:rPr sz="1800" b="0">
                <a:solidFill>
                  <a:srgbClr val="202830"/>
                </a:solidFill>
                <a:latin typeface="Malgun Gothic"/>
              </a:rPr>
              <a:t>•  방식별 선택 신호</a:t>
            </a:r>
          </a:p>
          <a:p>
            <a:r>
              <a:rPr sz="1600" b="0">
                <a:solidFill>
                  <a:srgbClr val="5A6672"/>
                </a:solidFill>
                <a:latin typeface="Malgun Gothic"/>
              </a:rPr>
              <a:t>    –  좁혀진 쪽이 아주 작고 반대쪽에 인덱스가 있다 → Nested Loops</a:t>
            </a:r>
          </a:p>
          <a:p>
            <a:r>
              <a:rPr sz="1600" b="0">
                <a:solidFill>
                  <a:srgbClr val="5A6672"/>
                </a:solidFill>
                <a:latin typeface="Malgun Gothic"/>
              </a:rPr>
              <a:t>    –  양쪽이 다 크거나 인덱스가 없다 → Hash Join</a:t>
            </a:r>
          </a:p>
          <a:p>
            <a:r>
              <a:rPr sz="1600" b="0">
                <a:solidFill>
                  <a:srgbClr val="5A6672"/>
                </a:solidFill>
                <a:latin typeface="Malgun Gothic"/>
              </a:rPr>
              <a:t>    –  정렬 순서를 이미 확보했거나 비등가 조인이다 → Sort Merge Join</a:t>
            </a:r>
          </a:p>
          <a:p>
            <a:r>
              <a:rPr sz="1800" b="0">
                <a:solidFill>
                  <a:srgbClr val="202830"/>
                </a:solidFill>
                <a:latin typeface="Malgun Gothic"/>
              </a:rPr>
              <a:t>•  마지막 단계는 언제나 같다 — 실행계획으로 확인한다</a:t>
            </a:r>
          </a:p>
          <a:p>
            <a:r>
              <a:rPr sz="1600" b="0">
                <a:solidFill>
                  <a:srgbClr val="5A6672"/>
                </a:solidFill>
                <a:latin typeface="Malgun Gothic"/>
              </a:rPr>
              <a:t>    –  체크리스트는 가설을 세우는 도구이지 결론을 내리는 도구가 아니다</a:t>
            </a:r>
          </a:p>
        </p:txBody>
      </p:sp>
    </p:spTree>
    <p:extLst>
      <p:ext uri="{BB962C8B-B14F-4D97-AF65-F5344CB8AC3E}">
        <p14:creationId xmlns:p14="http://schemas.microsoft.com/office/powerpoint/2010/main" val="2358291106"/>
      </p:ext>
    </p:extLst>
  </p:cSld>
  <p:clrMapOvr>
    <a:masterClrMapping/>
  </p:clrMapOvr>
</p:sld>
</file>

<file path=ppt/slides/slide38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요약 (Summary)</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조인은 두 집합에서 조건에 맞는 행을 짝지어 합치는 연산이고, 방식에 따라 비용이 달라진다</a:t>
            </a:r>
          </a:p>
          <a:p>
            <a:r>
              <a:rPr sz="1800" b="0">
                <a:solidFill>
                  <a:srgbClr val="202830"/>
                </a:solidFill>
                <a:latin typeface="Malgun Gothic"/>
              </a:rPr>
              <a:t>•  NL 은 Outer 각 행마다 Inner 를 찾는 방식이라 비용이 'Outer 행 수 × 1회 탐색 비용'이다</a:t>
            </a:r>
          </a:p>
          <a:p>
            <a:r>
              <a:rPr sz="1800" b="0">
                <a:solidFill>
                  <a:srgbClr val="202830"/>
                </a:solidFill>
                <a:latin typeface="Malgun Gothic"/>
              </a:rPr>
              <a:t>•  NL 은 Inner 조인 컬럼에 인덱스가 있고 Outer 가 작을 때 유리하다</a:t>
            </a:r>
          </a:p>
          <a:p>
            <a:r>
              <a:rPr sz="1800" b="0">
                <a:solidFill>
                  <a:srgbClr val="202830"/>
                </a:solidFill>
                <a:latin typeface="Malgun Gothic"/>
              </a:rPr>
              <a:t>•  Hash Join 은 Build 한 번 + Probe 한 번으로 양쪽을 한 번씩만 읽어 상대적으로 안정적이다</a:t>
            </a:r>
          </a:p>
          <a:p>
            <a:r>
              <a:rPr sz="1800" b="0">
                <a:solidFill>
                  <a:srgbClr val="202830"/>
                </a:solidFill>
                <a:latin typeface="Malgun Gothic"/>
              </a:rPr>
              <a:t>•  Sort Merge Join 은 정렬 후 병합하는 구조이며 비등가 조인에도 쓸 수 있다</a:t>
            </a:r>
          </a:p>
          <a:p>
            <a:r>
              <a:rPr sz="1800" b="0">
                <a:solidFill>
                  <a:srgbClr val="202830"/>
                </a:solidFill>
                <a:latin typeface="Malgun Gothic"/>
              </a:rPr>
              <a:t>•  Driving Table 은 조인을 시작하는 쪽이며 실행계획의 Starts 로 판별할 수 있다</a:t>
            </a:r>
          </a:p>
          <a:p>
            <a:r>
              <a:rPr sz="1800" b="0">
                <a:solidFill>
                  <a:srgbClr val="202830"/>
                </a:solidFill>
                <a:latin typeface="Malgun Gothic"/>
              </a:rPr>
              <a:t>•  힌트는 지시일 뿐 보장이 아니다 — 쿼리 변환이 얽히면 조용히 무시될 수 있다</a:t>
            </a:r>
          </a:p>
          <a:p>
            <a:r>
              <a:rPr sz="1800" b="0">
                <a:solidFill>
                  <a:srgbClr val="202830"/>
                </a:solidFill>
                <a:latin typeface="Malgun Gothic"/>
              </a:rPr>
              <a:t>•  인덱스가 없을 때는 힌트를 바꿔도 Buffers 가 3,093 으로 같았고, 인덱스를 만들자 44 로 줄었다</a:t>
            </a:r>
          </a:p>
        </p:txBody>
      </p:sp>
    </p:spTree>
    <p:extLst>
      <p:ext uri="{BB962C8B-B14F-4D97-AF65-F5344CB8AC3E}">
        <p14:creationId xmlns:p14="http://schemas.microsoft.com/office/powerpoint/2010/main" val="3886460289"/>
      </p:ext>
    </p:extLst>
  </p:cSld>
  <p:clrMapOvr>
    <a:masterClrMapping/>
  </p:clrMapOvr>
</p:sld>
</file>

<file path=ppt/slides/slide38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실습 안내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실습문제 10문항 — ch09_문제.md</a:t>
            </a:r>
          </a:p>
          <a:p>
            <a:r>
              <a:rPr sz="1600" b="0">
                <a:solidFill>
                  <a:srgbClr val="5A6672"/>
                </a:solidFill>
                <a:latin typeface="Malgun Gothic"/>
              </a:rPr>
              <a:t>    –  1·6번  Q1 과 Q3, Q4 와 Q5 의 계획이 같아진 이유 — 우연인가 필연인가</a:t>
            </a:r>
          </a:p>
          <a:p>
            <a:r>
              <a:rPr sz="1600" b="0">
                <a:solidFill>
                  <a:srgbClr val="5A6672"/>
                </a:solidFill>
                <a:latin typeface="Malgun Gothic"/>
              </a:rPr>
              <a:t>    –  2·3번  내부 뷰를 근거로 한 힌트 무력화 추론과 힌트 검증 절차</a:t>
            </a:r>
          </a:p>
          <a:p>
            <a:r>
              <a:rPr sz="1600" b="0">
                <a:solidFill>
                  <a:srgbClr val="5A6672"/>
                </a:solidFill>
                <a:latin typeface="Malgun Gothic"/>
              </a:rPr>
              <a:t>    –  4·5번  인덱스가 NL 비용에 결정적인 이유와 Starts 값의 의미</a:t>
            </a:r>
          </a:p>
          <a:p>
            <a:r>
              <a:rPr sz="1600" b="0">
                <a:solidFill>
                  <a:srgbClr val="5A6672"/>
                </a:solidFill>
                <a:latin typeface="Malgun Gothic"/>
              </a:rPr>
              <a:t>    –  7번  Outer 조건을 HOSP_ID&lt;=500 으로 넓혔을 때의 Buffers 변화 예측</a:t>
            </a:r>
          </a:p>
          <a:p>
            <a:r>
              <a:rPr sz="1600" b="0">
                <a:solidFill>
                  <a:srgbClr val="5A6672"/>
                </a:solidFill>
                <a:latin typeface="Malgun Gothic"/>
              </a:rPr>
              <a:t>    –  8·9번  Hash Join 의 안정성, '느리면 무조건 USE_NL' 통념 반박</a:t>
            </a:r>
          </a:p>
          <a:p>
            <a:r>
              <a:rPr sz="1600" b="0">
                <a:solidFill>
                  <a:srgbClr val="5A6672"/>
                </a:solidFill>
                <a:latin typeface="Malgun Gothic"/>
              </a:rPr>
              <a:t>    –  10번  Q4·Q5 에서 Outer 와 Inner 지목 및 판단 근거 서술</a:t>
            </a:r>
          </a:p>
          <a:p>
            <a:r>
              <a:rPr sz="1800" b="0">
                <a:solidFill>
                  <a:srgbClr val="202830"/>
                </a:solidFill>
                <a:latin typeface="Malgun Gothic"/>
              </a:rPr>
              <a:t>•  실습 후 정리 — 반드시 확인할 것</a:t>
            </a:r>
          </a:p>
          <a:p>
            <a:r>
              <a:rPr sz="1600" b="0">
                <a:solidFill>
                  <a:srgbClr val="5A6672"/>
                </a:solidFill>
                <a:latin typeface="Malgun Gothic"/>
              </a:rPr>
              <a:t>    –  DROP INDEX 로 IX_CH07_ 접두어 인덱스를 삭제한다</a:t>
            </a:r>
          </a:p>
          <a:p>
            <a:r>
              <a:rPr sz="1600" b="0">
                <a:solidFill>
                  <a:srgbClr val="5A6672"/>
                </a:solidFill>
                <a:latin typeface="Malgun Gothic"/>
              </a:rPr>
              <a:t>    –  MEDICAL_CLAIMS 에 PK_MEDICAL_CLAIMS 만 남았는지 확인한다</a:t>
            </a:r>
          </a:p>
        </p:txBody>
      </p:sp>
    </p:spTree>
    <p:extLst>
      <p:ext uri="{BB962C8B-B14F-4D97-AF65-F5344CB8AC3E}">
        <p14:creationId xmlns:p14="http://schemas.microsoft.com/office/powerpoint/2010/main" val="3379669482"/>
      </p:ext>
    </p:extLst>
  </p:cSld>
  <p:clrMapOvr>
    <a:masterClrMapping/>
  </p:clrMapOvr>
</p:sld>
</file>

<file path=ppt/slides/slide387.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Rectangle 1"/>
          <p:cNvSpPr/>
          <p:nvPr/>
        </p:nvSpPr>
        <p:spPr>
          <a:xfrm>
            <a:off x="822960" y="2331720"/>
            <a:ext cx="164592"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88720" y="1463040"/>
            <a:ext cx="10058400" cy="369332"/>
          </a:xfrm>
          <a:prstGeom prst="rect">
            <a:avLst/>
          </a:prstGeom>
          <a:noFill/>
        </p:spPr>
        <p:txBody>
          <a:bodyPr wrap="square">
            <a:spAutoFit/>
          </a:bodyPr>
          <a:lstStyle/>
          <a:p>
            <a:r>
              <a:rPr sz="1800" b="1">
                <a:solidFill>
                  <a:srgbClr val="C0392B"/>
                </a:solidFill>
                <a:latin typeface="Malgun Gothic"/>
              </a:rPr>
              <a:t>Oracle SQL 튜닝 과정  ·  ch10</a:t>
            </a:r>
          </a:p>
        </p:txBody>
      </p:sp>
      <p:sp>
        <p:nvSpPr>
          <p:cNvPr id="4" name="TextBox 3"/>
          <p:cNvSpPr txBox="1"/>
          <p:nvPr/>
        </p:nvSpPr>
        <p:spPr>
          <a:xfrm>
            <a:off x="1188720" y="2194560"/>
            <a:ext cx="10332720" cy="2011680"/>
          </a:xfrm>
          <a:prstGeom prst="rect">
            <a:avLst/>
          </a:prstGeom>
          <a:noFill/>
        </p:spPr>
        <p:txBody>
          <a:bodyPr wrap="square">
            <a:spAutoFit/>
          </a:bodyPr>
          <a:lstStyle/>
          <a:p>
            <a:r>
              <a:rPr sz="4400" b="1">
                <a:solidFill>
                  <a:srgbClr val="FFFFFF"/>
                </a:solidFill>
                <a:latin typeface="Malgun Gothic"/>
              </a:rPr>
              <a:t>Subquery / EXISTS / IN</a:t>
            </a:r>
          </a:p>
        </p:txBody>
      </p:sp>
      <p:sp>
        <p:nvSpPr>
          <p:cNvPr id="5" name="TextBox 4"/>
          <p:cNvSpPr txBox="1"/>
          <p:nvPr/>
        </p:nvSpPr>
        <p:spPr>
          <a:xfrm>
            <a:off x="1188720" y="4297680"/>
            <a:ext cx="10058400" cy="1097280"/>
          </a:xfrm>
          <a:prstGeom prst="rect">
            <a:avLst/>
          </a:prstGeom>
          <a:noFill/>
        </p:spPr>
        <p:txBody>
          <a:bodyPr wrap="square">
            <a:spAutoFit/>
          </a:bodyPr>
          <a:lstStyle/>
          <a:p>
            <a:r>
              <a:rPr sz="1800" b="0">
                <a:solidFill>
                  <a:srgbClr val="C5CED6"/>
                </a:solidFill>
                <a:latin typeface="Malgun Gothic"/>
              </a:rPr>
              <a:t>스칼라 서브쿼리 캐싱 · 인라인 뷰 · 상관 서브쿼리 · Unnesting과 View Merging</a:t>
            </a:r>
          </a:p>
        </p:txBody>
      </p:sp>
    </p:spTree>
    <p:extLst>
      <p:ext uri="{BB962C8B-B14F-4D97-AF65-F5344CB8AC3E}">
        <p14:creationId xmlns:p14="http://schemas.microsoft.com/office/powerpoint/2010/main" val="2912351782"/>
      </p:ext>
    </p:extLst>
  </p:cSld>
  <p:clrMapOvr>
    <a:masterClrMapping/>
  </p:clrMapOvr>
</p:sld>
</file>

<file path=ppt/slides/slide38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학습 목표 (Objectives)</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 장을 마치면 다음을 수행할 수 있어야 한다.</a:t>
            </a:r>
          </a:p>
          <a:p>
            <a:r>
              <a:rPr sz="1600" b="0">
                <a:solidFill>
                  <a:srgbClr val="5A6672"/>
                </a:solidFill>
                <a:latin typeface="Malgun Gothic"/>
              </a:rPr>
              <a:t>    –  스칼라 서브쿼리·인라인 뷰·상관 서브쿼리를 구분해 설명한다</a:t>
            </a:r>
          </a:p>
          <a:p>
            <a:r>
              <a:rPr sz="1600" b="0">
                <a:solidFill>
                  <a:srgbClr val="5A6672"/>
                </a:solidFill>
                <a:latin typeface="Malgun Gothic"/>
              </a:rPr>
              <a:t>    –  실행계획의 Starts 컬럼을 그 단계가 실제로 실행된 횟수로 읽는다</a:t>
            </a:r>
          </a:p>
          <a:p>
            <a:r>
              <a:rPr sz="1600" b="0">
                <a:solidFill>
                  <a:srgbClr val="5A6672"/>
                </a:solidFill>
                <a:latin typeface="Malgun Gothic"/>
              </a:rPr>
              <a:t>    –  스칼라 서브쿼리 캐싱의 원리를 설명하고 Starts 값으로 확인한다</a:t>
            </a:r>
          </a:p>
          <a:p>
            <a:r>
              <a:rPr sz="1600" b="0">
                <a:solidFill>
                  <a:srgbClr val="5A6672"/>
                </a:solidFill>
                <a:latin typeface="Malgun Gothic"/>
              </a:rPr>
              <a:t>    –  참조 값의 distinct 개수가 캐싱 효과를 좌우한다는 점을 설명한다</a:t>
            </a:r>
          </a:p>
          <a:p>
            <a:r>
              <a:rPr sz="1600" b="0">
                <a:solidFill>
                  <a:srgbClr val="5A6672"/>
                </a:solidFill>
                <a:latin typeface="Malgun Gothic"/>
              </a:rPr>
              <a:t>    –  'SELECT 절 서브쿼리는 N+1처럼 느리다'는 통념을 실측으로 검증한다</a:t>
            </a:r>
          </a:p>
          <a:p>
            <a:r>
              <a:rPr sz="1600" b="0">
                <a:solidFill>
                  <a:srgbClr val="5A6672"/>
                </a:solidFill>
                <a:latin typeface="Malgun Gothic"/>
              </a:rPr>
              <a:t>    –  상관 서브쿼리가 VW_SQ_1 형태의 뷰와 조인으로 변환되는 과정을 읽는다</a:t>
            </a:r>
          </a:p>
          <a:p>
            <a:r>
              <a:rPr sz="1600" b="0">
                <a:solidFill>
                  <a:srgbClr val="5A6672"/>
                </a:solidFill>
                <a:latin typeface="Malgun Gothic"/>
              </a:rPr>
              <a:t>    –  변환된 계획이 원본 테이블을 몇 번 읽는지 세어 비용 차이를 설명한다</a:t>
            </a:r>
          </a:p>
          <a:p>
            <a:r>
              <a:rPr sz="1600" b="0">
                <a:solidFill>
                  <a:srgbClr val="5A6672"/>
                </a:solidFill>
                <a:latin typeface="Malgun Gothic"/>
              </a:rPr>
              <a:t>    –  인라인 뷰의 바깥 WHERE가 HAVING과 동등하게 처리되는 현상을 설명한다</a:t>
            </a:r>
          </a:p>
          <a:p>
            <a:r>
              <a:rPr sz="1600" b="0">
                <a:solidFill>
                  <a:srgbClr val="5A6672"/>
                </a:solidFill>
                <a:latin typeface="Malgun Gothic"/>
              </a:rPr>
              <a:t>    –  뷰 병합이 언제 안전하지 않을 수 있는지 판단 기준을 세운다</a:t>
            </a:r>
          </a:p>
          <a:p>
            <a:r>
              <a:rPr sz="1600" b="0">
                <a:solidFill>
                  <a:srgbClr val="5A6672"/>
                </a:solidFill>
                <a:latin typeface="Malgun Gothic"/>
              </a:rPr>
              <a:t>    –  서브쿼리 성능을 문법 형태가 아니라 물리적 실행 구조로 판단한다</a:t>
            </a:r>
          </a:p>
        </p:txBody>
      </p:sp>
    </p:spTree>
    <p:extLst>
      <p:ext uri="{BB962C8B-B14F-4D97-AF65-F5344CB8AC3E}">
        <p14:creationId xmlns:p14="http://schemas.microsoft.com/office/powerpoint/2010/main" val="3429878381"/>
      </p:ext>
    </p:extLst>
  </p:cSld>
  <p:clrMapOvr>
    <a:masterClrMapping/>
  </p:clrMapOvr>
</p:sld>
</file>

<file path=ppt/slides/slide38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장의 구성 (Agenda)</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8.1  Why — ch01 이후, 서브쿼리의 나머지 얼굴들</a:t>
            </a:r>
          </a:p>
          <a:p>
            <a:r>
              <a:rPr sz="1800" b="0">
                <a:solidFill>
                  <a:srgbClr val="202830"/>
                </a:solidFill>
                <a:latin typeface="Malgun Gothic"/>
              </a:rPr>
              <a:t>•  8.2  Concept — 스칼라 서브쿼리 · 인라인 뷰 · 상관 서브쿼리</a:t>
            </a:r>
          </a:p>
          <a:p>
            <a:r>
              <a:rPr sz="1800" b="0">
                <a:solidFill>
                  <a:srgbClr val="202830"/>
                </a:solidFill>
                <a:latin typeface="Malgun Gothic"/>
              </a:rPr>
              <a:t>•  8.3  Oracle Internals — 스칼라 서브쿼리 캐싱과 내부 변환</a:t>
            </a:r>
          </a:p>
          <a:p>
            <a:r>
              <a:rPr sz="1800" b="0">
                <a:solidFill>
                  <a:srgbClr val="202830"/>
                </a:solidFill>
                <a:latin typeface="Malgun Gothic"/>
              </a:rPr>
              <a:t>•  8.4~8.5  Example / Execution Plan — 스칼라 서브쿼리 vs JOIN 실측</a:t>
            </a:r>
          </a:p>
          <a:p>
            <a:r>
              <a:rPr sz="1800" b="0">
                <a:solidFill>
                  <a:srgbClr val="202830"/>
                </a:solidFill>
                <a:latin typeface="Malgun Gothic"/>
              </a:rPr>
              <a:t>•  8.6  Bad SQL — 상관 서브쿼리가 항상 저렴하지는 않다</a:t>
            </a:r>
          </a:p>
          <a:p>
            <a:r>
              <a:rPr sz="1800" b="0">
                <a:solidFill>
                  <a:srgbClr val="202830"/>
                </a:solidFill>
                <a:latin typeface="Malgun Gothic"/>
              </a:rPr>
              <a:t>•  8.7  Tuning — 인라인 뷰의 WHERE는 HAVING과 같아지는가</a:t>
            </a:r>
          </a:p>
          <a:p>
            <a:r>
              <a:rPr sz="1800" b="0">
                <a:solidFill>
                  <a:srgbClr val="202830"/>
                </a:solidFill>
                <a:latin typeface="Malgun Gothic"/>
              </a:rPr>
              <a:t>•  8.8~8.9  Benchmark / Practice — 실측 요약과 실습 안내</a:t>
            </a:r>
          </a:p>
          <a:p>
            <a:r>
              <a:rPr sz="1800" b="0">
                <a:solidFill>
                  <a:srgbClr val="202830"/>
                </a:solidFill>
                <a:latin typeface="Malgun Gothic"/>
              </a:rPr>
              <a:t>•  8.10  Review — 이 장의 결론</a:t>
            </a:r>
          </a:p>
        </p:txBody>
      </p:sp>
    </p:spTree>
    <p:extLst>
      <p:ext uri="{BB962C8B-B14F-4D97-AF65-F5344CB8AC3E}">
        <p14:creationId xmlns:p14="http://schemas.microsoft.com/office/powerpoint/2010/main" val="1068808745"/>
      </p:ext>
    </p:extLst>
  </p:cSld>
  <p:clrMapOvr>
    <a:masterClrMapping/>
  </p:clrMapOvr>
</p:sld>
</file>

<file path=ppt/slides/slide390.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107996"/>
          </a:xfrm>
          <a:prstGeom prst="rect">
            <a:avLst/>
          </a:prstGeom>
          <a:noFill/>
        </p:spPr>
        <p:txBody>
          <a:bodyPr wrap="square">
            <a:spAutoFit/>
          </a:bodyPr>
          <a:lstStyle/>
          <a:p>
            <a:r>
              <a:rPr lang="en-US" sz="6600" b="1" dirty="0">
                <a:solidFill>
                  <a:srgbClr val="C0392B"/>
                </a:solidFill>
                <a:latin typeface="Malgun Gothic"/>
              </a:rPr>
              <a:t>10</a:t>
            </a:r>
            <a:r>
              <a:rPr sz="6600" b="1" dirty="0">
                <a:solidFill>
                  <a:srgbClr val="C0392B"/>
                </a:solidFill>
                <a:latin typeface="Malgun Gothic"/>
              </a:rPr>
              <a:t>.1</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ch01 이후, 서브쿼리의 나머지 얼굴들</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ch01이 세운 원칙</a:t>
            </a:r>
          </a:p>
          <a:p>
            <a:r>
              <a:rPr sz="1600" b="0">
                <a:solidFill>
                  <a:srgbClr val="C5CED6"/>
                </a:solidFill>
                <a:latin typeface="Malgun Gothic"/>
              </a:rPr>
              <a:t>•  서브쿼리는 한 가지가 아니다</a:t>
            </a:r>
          </a:p>
          <a:p>
            <a:r>
              <a:rPr sz="1600" b="0">
                <a:solidFill>
                  <a:srgbClr val="C5CED6"/>
                </a:solidFill>
                <a:latin typeface="Malgun Gothic"/>
              </a:rPr>
              <a:t>•  이 차시가 새로 다루는 세 패턴</a:t>
            </a:r>
          </a:p>
        </p:txBody>
      </p:sp>
    </p:spTree>
    <p:extLst>
      <p:ext uri="{BB962C8B-B14F-4D97-AF65-F5344CB8AC3E}">
        <p14:creationId xmlns:p14="http://schemas.microsoft.com/office/powerpoint/2010/main" val="1386091503"/>
      </p:ext>
    </p:extLst>
  </p:cSld>
  <p:clrMapOvr>
    <a:masterClrMapping/>
  </p:clrMapOvr>
</p:sld>
</file>

<file path=ppt/slides/slide39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ch01이 세운 원칙</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ch01의 결론 — 결과가 같은 여러 SQL 중에서 실측으로 고른다</a:t>
            </a:r>
          </a:p>
          <a:p>
            <a:r>
              <a:rPr sz="1600" b="0">
                <a:solidFill>
                  <a:srgbClr val="5A6672"/>
                </a:solidFill>
                <a:latin typeface="Malgun Gothic"/>
              </a:rPr>
              <a:t>    –  IN·EXISTS·JOIN 세 SQL은 결과가 완전히 같았지만 비용은 같지 않았다</a:t>
            </a:r>
          </a:p>
          <a:p>
            <a:r>
              <a:rPr sz="1600" b="0">
                <a:solidFill>
                  <a:srgbClr val="5A6672"/>
                </a:solidFill>
                <a:latin typeface="Malgun Gothic"/>
              </a:rPr>
              <a:t>    –  어느 문법이 빠르다는 통념이 아니라 실행계획과 Buffers가 판단 근거였다</a:t>
            </a:r>
          </a:p>
          <a:p>
            <a:r>
              <a:rPr sz="1800" b="0">
                <a:solidFill>
                  <a:srgbClr val="202830"/>
                </a:solidFill>
                <a:latin typeface="Malgun Gothic"/>
              </a:rPr>
              <a:t>•  그때 확인한 또 하나의 사실 — 옵티마이저는 SQL을 그대로 실행하지 않는다</a:t>
            </a:r>
          </a:p>
          <a:p>
            <a:r>
              <a:rPr sz="1600" b="0">
                <a:solidFill>
                  <a:srgbClr val="5A6672"/>
                </a:solidFill>
                <a:latin typeface="Malgun Gothic"/>
              </a:rPr>
              <a:t>    –  IN과 EXISTS가 둘 다 HASH JOIN RIGHT SEMI라는 같은 형태로 변환됐다</a:t>
            </a:r>
          </a:p>
          <a:p>
            <a:r>
              <a:rPr sz="1600" b="0">
                <a:solidFill>
                  <a:srgbClr val="5A6672"/>
                </a:solidFill>
                <a:latin typeface="Malgun Gothic"/>
              </a:rPr>
              <a:t>    –  작성한 문법과 실제 실행 구조 사이에 변환 단계가 하나 끼어 있다</a:t>
            </a:r>
          </a:p>
          <a:p>
            <a:r>
              <a:rPr sz="1800" b="0">
                <a:solidFill>
                  <a:srgbClr val="202830"/>
                </a:solidFill>
                <a:latin typeface="Malgun Gothic"/>
              </a:rPr>
              <a:t>•  이 장은 그 원칙을 서브쿼리의 나머지 쓰임새로 확장한다</a:t>
            </a:r>
          </a:p>
          <a:p>
            <a:r>
              <a:rPr sz="1600" b="0">
                <a:solidFill>
                  <a:srgbClr val="5A6672"/>
                </a:solidFill>
                <a:latin typeface="Malgun Gothic"/>
              </a:rPr>
              <a:t>    –  문법이 달라도 같은 구조로 수렴하는 경우, 반대로 갈라지는 경우를 함께 본다</a:t>
            </a:r>
          </a:p>
          <a:p>
            <a:r>
              <a:rPr sz="1600" b="0">
                <a:solidFill>
                  <a:srgbClr val="5A6672"/>
                </a:solidFill>
                <a:latin typeface="Malgun Gothic"/>
              </a:rPr>
              <a:t>    –  판단 기준은 ch01과 동일하다 — 실측된 실행계획과 자원 소비량</a:t>
            </a:r>
          </a:p>
        </p:txBody>
      </p:sp>
    </p:spTree>
    <p:extLst>
      <p:ext uri="{BB962C8B-B14F-4D97-AF65-F5344CB8AC3E}">
        <p14:creationId xmlns:p14="http://schemas.microsoft.com/office/powerpoint/2010/main" val="779776567"/>
      </p:ext>
    </p:extLst>
  </p:cSld>
  <p:clrMapOvr>
    <a:masterClrMapping/>
  </p:clrMapOvr>
</p:sld>
</file>

<file path=ppt/slides/slide39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서브쿼리는 한 가지가 아니다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서브쿼리를 어디에 놓느냐에 따라 역할이 완전히 달라진다</a:t>
            </a:r>
          </a:p>
          <a:p>
            <a:r>
              <a:rPr sz="1600" b="0">
                <a:solidFill>
                  <a:srgbClr val="5A6672"/>
                </a:solidFill>
                <a:latin typeface="Malgun Gothic"/>
              </a:rPr>
              <a:t>    –  SELECT 절 — 이 행에 붙일 값 하나를 가져온다 (스칼라 서브쿼리)</a:t>
            </a:r>
          </a:p>
          <a:p>
            <a:r>
              <a:rPr sz="1600" b="0">
                <a:solidFill>
                  <a:srgbClr val="5A6672"/>
                </a:solidFill>
                <a:latin typeface="Malgun Gothic"/>
              </a:rPr>
              <a:t>    –  FROM 절 — 중간 결과 집합을 만들어 테이블처럼 쓴다 (인라인 뷰)</a:t>
            </a:r>
          </a:p>
          <a:p>
            <a:r>
              <a:rPr sz="1600" b="0">
                <a:solidFill>
                  <a:srgbClr val="5A6672"/>
                </a:solidFill>
                <a:latin typeface="Malgun Gothic"/>
              </a:rPr>
              <a:t>    –  WHERE 절 — 조건 판정에 쓴다 (IN·EXISTS·비교 연산자)</a:t>
            </a:r>
          </a:p>
          <a:p>
            <a:r>
              <a:rPr sz="1800" b="0">
                <a:solidFill>
                  <a:srgbClr val="202830"/>
                </a:solidFill>
                <a:latin typeface="Malgun Gothic"/>
              </a:rPr>
              <a:t>•  ch01에서 다룬 것은 WHERE 절의 존재 여부 확인 한 가지였다</a:t>
            </a:r>
          </a:p>
          <a:p>
            <a:r>
              <a:rPr sz="1600" b="0">
                <a:solidFill>
                  <a:srgbClr val="5A6672"/>
                </a:solidFill>
                <a:latin typeface="Malgun Gothic"/>
              </a:rPr>
              <a:t>    –  IN·EXISTS·JOIN+DISTINCT는 모두 있느냐 없느냐를 묻는 패턴이었다</a:t>
            </a:r>
          </a:p>
          <a:p>
            <a:r>
              <a:rPr sz="1800" b="0">
                <a:solidFill>
                  <a:srgbClr val="202830"/>
                </a:solidFill>
                <a:latin typeface="Malgun Gothic"/>
              </a:rPr>
              <a:t>•  이 차시는 나머지 세 패턴을 실측으로 다룬다</a:t>
            </a:r>
          </a:p>
          <a:p>
            <a:r>
              <a:rPr sz="1600" b="0">
                <a:solidFill>
                  <a:srgbClr val="5A6672"/>
                </a:solidFill>
                <a:latin typeface="Malgun Gothic"/>
              </a:rPr>
              <a:t>    –  스칼라 서브쿼리 — SELECT 절에 값 하나를 붙이는 것</a:t>
            </a:r>
          </a:p>
          <a:p>
            <a:r>
              <a:rPr sz="1600" b="0">
                <a:solidFill>
                  <a:srgbClr val="5A6672"/>
                </a:solidFill>
                <a:latin typeface="Malgun Gothic"/>
              </a:rPr>
              <a:t>    –  인라인 뷰 — FROM 절에 서브쿼리를 넣는 것</a:t>
            </a:r>
          </a:p>
          <a:p>
            <a:r>
              <a:rPr sz="1600" b="0">
                <a:solidFill>
                  <a:srgbClr val="5A6672"/>
                </a:solidFill>
                <a:latin typeface="Malgun Gothic"/>
              </a:rPr>
              <a:t>    –  상관 서브쿼리 — 바깥 쿼리의 값을 참조하는 것</a:t>
            </a:r>
          </a:p>
        </p:txBody>
      </p:sp>
    </p:spTree>
    <p:extLst>
      <p:ext uri="{BB962C8B-B14F-4D97-AF65-F5344CB8AC3E}">
        <p14:creationId xmlns:p14="http://schemas.microsoft.com/office/powerpoint/2010/main" val="1470024884"/>
      </p:ext>
    </p:extLst>
  </p:cSld>
  <p:clrMapOvr>
    <a:masterClrMapping/>
  </p:clrMapOvr>
</p:sld>
</file>

<file path=ppt/slides/slide39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차시의 범위와 전제</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이번 차시는 DDL 변경이 없다</a:t>
            </a:r>
          </a:p>
          <a:p>
            <a:r>
              <a:rPr sz="1600" b="0">
                <a:solidFill>
                  <a:srgbClr val="5A6672"/>
                </a:solidFill>
                <a:latin typeface="Malgun Gothic"/>
              </a:rPr>
              <a:t>    –  기존 PK만 사용하며 인덱스를 새로 만들지 않는다</a:t>
            </a:r>
          </a:p>
          <a:p>
            <a:r>
              <a:rPr sz="1600" b="0">
                <a:solidFill>
                  <a:srgbClr val="5A6672"/>
                </a:solidFill>
                <a:latin typeface="Malgun Gothic"/>
              </a:rPr>
              <a:t>    –  인덱스나 통계를 임의로 바꾸면 교안의 실행계획이 재현되지 않는다</a:t>
            </a:r>
          </a:p>
          <a:p>
            <a:r>
              <a:rPr sz="1800" b="0">
                <a:solidFill>
                  <a:srgbClr val="202830"/>
                </a:solidFill>
                <a:latin typeface="Malgun Gothic"/>
              </a:rPr>
              <a:t>•  다루는 세 가지 패턴과 각각의 실측 사례</a:t>
            </a:r>
          </a:p>
          <a:p>
            <a:r>
              <a:rPr sz="1600" b="0">
                <a:solidFill>
                  <a:srgbClr val="5A6672"/>
                </a:solidFill>
                <a:latin typeface="Malgun Gothic"/>
              </a:rPr>
              <a:t>    –  스칼라 서브쿼리 — 청구에 병원명을 붙이는 Q1과 조인으로 붙이는 Q2</a:t>
            </a:r>
          </a:p>
          <a:p>
            <a:r>
              <a:rPr sz="1600" b="0">
                <a:solidFill>
                  <a:srgbClr val="5A6672"/>
                </a:solidFill>
                <a:latin typeface="Malgun Gothic"/>
              </a:rPr>
              <a:t>    –  상관 서브쿼리 — 자신이 속한 병원의 평균보다 큰 청구를 찾는 Q3</a:t>
            </a:r>
          </a:p>
          <a:p>
            <a:r>
              <a:rPr sz="1600" b="0">
                <a:solidFill>
                  <a:srgbClr val="5A6672"/>
                </a:solidFill>
                <a:latin typeface="Malgun Gothic"/>
              </a:rPr>
              <a:t>    –  인라인 뷰 — 집계 결과를 걸러내는 Q4와 HAVING으로 쓴 Q5</a:t>
            </a:r>
          </a:p>
          <a:p>
            <a:r>
              <a:rPr sz="1800" b="0">
                <a:solidFill>
                  <a:srgbClr val="202830"/>
                </a:solidFill>
                <a:latin typeface="Malgun Gothic"/>
              </a:rPr>
              <a:t>•  판단 지표는 ch01과 같다</a:t>
            </a:r>
          </a:p>
          <a:p>
            <a:r>
              <a:rPr sz="1600" b="0">
                <a:solidFill>
                  <a:srgbClr val="5A6672"/>
                </a:solidFill>
                <a:latin typeface="Malgun Gothic"/>
              </a:rPr>
              <a:t>    –  실행계획의 Operation 구조, Starts, A-Rows, Buffers를 함께 본다</a:t>
            </a:r>
          </a:p>
          <a:p>
            <a:r>
              <a:rPr sz="1600" b="0">
                <a:solidFill>
                  <a:srgbClr val="5A6672"/>
                </a:solidFill>
                <a:latin typeface="Malgun Gothic"/>
              </a:rPr>
              <a:t>    –  이번 장에서는 특히 Starts 컬럼이 결정적인 단서로 쓰인다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이 과정의 모든 실행계획·Starts·Buffers 값은 진료비청구심사 실습 DB에서 직접 캡처한 실측값이다.</a:t>
            </a:r>
          </a:p>
        </p:txBody>
      </p:sp>
    </p:spTree>
    <p:extLst>
      <p:ext uri="{BB962C8B-B14F-4D97-AF65-F5344CB8AC3E}">
        <p14:creationId xmlns:p14="http://schemas.microsoft.com/office/powerpoint/2010/main" val="1630573308"/>
      </p:ext>
    </p:extLst>
  </p:cSld>
  <p:clrMapOvr>
    <a:masterClrMapping/>
  </p:clrMapOvr>
</p:sld>
</file>

<file path=ppt/slides/slide394.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107996"/>
          </a:xfrm>
          <a:prstGeom prst="rect">
            <a:avLst/>
          </a:prstGeom>
          <a:noFill/>
        </p:spPr>
        <p:txBody>
          <a:bodyPr wrap="square">
            <a:spAutoFit/>
          </a:bodyPr>
          <a:lstStyle/>
          <a:p>
            <a:r>
              <a:rPr lang="en-US" sz="6600" b="1" dirty="0">
                <a:solidFill>
                  <a:srgbClr val="C0392B"/>
                </a:solidFill>
                <a:latin typeface="Malgun Gothic"/>
              </a:rPr>
              <a:t>10</a:t>
            </a:r>
            <a:r>
              <a:rPr sz="6600" b="1" dirty="0">
                <a:solidFill>
                  <a:srgbClr val="C0392B"/>
                </a:solidFill>
                <a:latin typeface="Malgun Gothic"/>
              </a:rPr>
              <a:t>.2</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스칼라 서브쿼리 · 인라인 뷰 · 상관 서브쿼리</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스칼라 서브쿼리란</a:t>
            </a:r>
          </a:p>
          <a:p>
            <a:r>
              <a:rPr sz="1600" b="0">
                <a:solidFill>
                  <a:srgbClr val="C5CED6"/>
                </a:solidFill>
                <a:latin typeface="Malgun Gothic"/>
              </a:rPr>
              <a:t>•  인라인 뷰란</a:t>
            </a:r>
          </a:p>
          <a:p>
            <a:r>
              <a:rPr sz="1600" b="0">
                <a:solidFill>
                  <a:srgbClr val="C5CED6"/>
                </a:solidFill>
                <a:latin typeface="Malgun Gothic"/>
              </a:rPr>
              <a:t>•  상관 서브쿼리란</a:t>
            </a:r>
          </a:p>
          <a:p>
            <a:r>
              <a:rPr sz="1600" b="0">
                <a:solidFill>
                  <a:srgbClr val="C5CED6"/>
                </a:solidFill>
                <a:latin typeface="Malgun Gothic"/>
              </a:rPr>
              <a:t>•  서브쿼리와 JOIN의 관계</a:t>
            </a:r>
          </a:p>
        </p:txBody>
      </p:sp>
    </p:spTree>
    <p:extLst>
      <p:ext uri="{BB962C8B-B14F-4D97-AF65-F5344CB8AC3E}">
        <p14:creationId xmlns:p14="http://schemas.microsoft.com/office/powerpoint/2010/main" val="4048781513"/>
      </p:ext>
    </p:extLst>
  </p:cSld>
  <p:clrMapOvr>
    <a:masterClrMapping/>
  </p:clrMapOvr>
</p:sld>
</file>

<file path=ppt/slides/slide39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스칼라 서브쿼리 (Scalar Subquery)</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정의 — SELECT 절에서 단일 값 하나를 반환하는 서브쿼리</a:t>
            </a:r>
          </a:p>
          <a:p>
            <a:r>
              <a:rPr sz="1600" b="0">
                <a:solidFill>
                  <a:srgbClr val="5A6672"/>
                </a:solidFill>
                <a:latin typeface="Malgun Gothic"/>
              </a:rPr>
              <a:t>    –  이 행에 관련된 다른 테이블의 값 하나를 붙여 오는 용도로 흔히 쓰인다</a:t>
            </a:r>
          </a:p>
          <a:p>
            <a:r>
              <a:rPr sz="1600" b="0">
                <a:solidFill>
                  <a:srgbClr val="5A6672"/>
                </a:solidFill>
                <a:latin typeface="Malgun Gothic"/>
              </a:rPr>
              <a:t>    –  이번 장의 Q1이 청구 행에 병원명을 하나씩 붙이는 전형적인 예다</a:t>
            </a:r>
          </a:p>
          <a:p>
            <a:r>
              <a:rPr sz="1800" b="0">
                <a:solidFill>
                  <a:srgbClr val="202830"/>
                </a:solidFill>
                <a:latin typeface="Malgun Gothic"/>
              </a:rPr>
              <a:t>•  문법상의 제약</a:t>
            </a:r>
          </a:p>
          <a:p>
            <a:r>
              <a:rPr sz="1600" b="0">
                <a:solidFill>
                  <a:srgbClr val="5A6672"/>
                </a:solidFill>
                <a:latin typeface="Malgun Gothic"/>
              </a:rPr>
              <a:t>    –  반드시 값 하나를 반환해야 한다 — 여러 행이 나오면 실행 오류가 난다</a:t>
            </a:r>
          </a:p>
          <a:p>
            <a:r>
              <a:rPr sz="1600" b="0">
                <a:solidFill>
                  <a:srgbClr val="5A6672"/>
                </a:solidFill>
                <a:latin typeface="Malgun Gothic"/>
              </a:rPr>
              <a:t>    –  조건에 맞는 행이 없으면 NULL이 반환된다 — 외부 조인과 성질이 비슷하다</a:t>
            </a:r>
          </a:p>
          <a:p>
            <a:r>
              <a:rPr sz="1800" b="0">
                <a:solidFill>
                  <a:srgbClr val="202830"/>
                </a:solidFill>
                <a:latin typeface="Malgun Gothic"/>
              </a:rPr>
              <a:t>•  읽는 사람 입장에서의 장점</a:t>
            </a:r>
          </a:p>
          <a:p>
            <a:r>
              <a:rPr sz="1600" b="0">
                <a:solidFill>
                  <a:srgbClr val="5A6672"/>
                </a:solidFill>
                <a:latin typeface="Malgun Gothic"/>
              </a:rPr>
              <a:t>    –  FROM 절을 건드리지 않으므로 원본 쿼리의 골격이 흐트러지지 않는다</a:t>
            </a:r>
          </a:p>
          <a:p>
            <a:r>
              <a:rPr sz="1600" b="0">
                <a:solidFill>
                  <a:srgbClr val="5A6672"/>
                </a:solidFill>
                <a:latin typeface="Malgun Gothic"/>
              </a:rPr>
              <a:t>    –  값을 하나 더 붙이는 요구사항이 늘어도 SELECT 절만 수정하면 된다</a:t>
            </a:r>
          </a:p>
          <a:p>
            <a:r>
              <a:rPr sz="1800" b="0">
                <a:solidFill>
                  <a:srgbClr val="202830"/>
                </a:solidFill>
                <a:latin typeface="Malgun Gothic"/>
              </a:rPr>
              <a:t>•  성능에 대한 통념 — 행마다 실행되니 느릴 것이라는 예상</a:t>
            </a:r>
          </a:p>
          <a:p>
            <a:r>
              <a:rPr sz="1600" b="0">
                <a:solidFill>
                  <a:srgbClr val="5A6672"/>
                </a:solidFill>
                <a:latin typeface="Malgun Gothic"/>
              </a:rPr>
              <a:t>    –  이 예상이 왜 항상 맞지는 않은지가 8.3절과 8.5절의 주제다</a:t>
            </a:r>
          </a:p>
        </p:txBody>
      </p:sp>
    </p:spTree>
    <p:extLst>
      <p:ext uri="{BB962C8B-B14F-4D97-AF65-F5344CB8AC3E}">
        <p14:creationId xmlns:p14="http://schemas.microsoft.com/office/powerpoint/2010/main" val="2748790448"/>
      </p:ext>
    </p:extLst>
  </p:cSld>
  <p:clrMapOvr>
    <a:masterClrMapping/>
  </p:clrMapOvr>
</p:sld>
</file>

<file path=ppt/slides/slide39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인라인 뷰 (Inline View)</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정의 — FROM 절에 괄호로 감싼 서브쿼리를 테이블처럼 사용하는 것</a:t>
            </a:r>
          </a:p>
          <a:p>
            <a:r>
              <a:rPr sz="1600" b="0">
                <a:solidFill>
                  <a:srgbClr val="5A6672"/>
                </a:solidFill>
                <a:latin typeface="Malgun Gothic"/>
              </a:rPr>
              <a:t>    –  중간 결과 집합을 하나 만들어 바깥 쿼리가 그것을 다시 조회한다</a:t>
            </a:r>
          </a:p>
          <a:p>
            <a:r>
              <a:rPr sz="1600" b="0">
                <a:solidFill>
                  <a:srgbClr val="5A6672"/>
                </a:solidFill>
                <a:latin typeface="Malgun Gothic"/>
              </a:rPr>
              <a:t>    –  이번 장의 Q4가 병원별 청구 건수를 만든 뒤 바깥에서 거르는 예다</a:t>
            </a:r>
          </a:p>
          <a:p>
            <a:r>
              <a:rPr sz="1800" b="0">
                <a:solidFill>
                  <a:srgbClr val="202830"/>
                </a:solidFill>
                <a:latin typeface="Malgun Gothic"/>
              </a:rPr>
              <a:t>•  주로 쓰이는 상황</a:t>
            </a:r>
          </a:p>
          <a:p>
            <a:r>
              <a:rPr sz="1600" b="0">
                <a:solidFill>
                  <a:srgbClr val="5A6672"/>
                </a:solidFill>
                <a:latin typeface="Malgun Gothic"/>
              </a:rPr>
              <a:t>    –  집계한 결과를 다시 필터링하거나 다른 테이블과 조인해야 할 때</a:t>
            </a:r>
          </a:p>
          <a:p>
            <a:r>
              <a:rPr sz="1600" b="0">
                <a:solidFill>
                  <a:srgbClr val="5A6672"/>
                </a:solidFill>
                <a:latin typeface="Malgun Gothic"/>
              </a:rPr>
              <a:t>    –  여러 단계의 가공을 단계별로 나눠 읽기 쉽게 쓰고 싶을 때</a:t>
            </a:r>
          </a:p>
          <a:p>
            <a:r>
              <a:rPr sz="1800" b="0">
                <a:solidFill>
                  <a:srgbClr val="202830"/>
                </a:solidFill>
                <a:latin typeface="Malgun Gothic"/>
              </a:rPr>
              <a:t>•  읽는 사람 입장에서의 장점</a:t>
            </a:r>
          </a:p>
          <a:p>
            <a:r>
              <a:rPr sz="1600" b="0">
                <a:solidFill>
                  <a:srgbClr val="5A6672"/>
                </a:solidFill>
                <a:latin typeface="Malgun Gothic"/>
              </a:rPr>
              <a:t>    –  가공 단계가 괄호로 분리되어 각 단계의 의도가 눈에 보인다</a:t>
            </a:r>
          </a:p>
          <a:p>
            <a:r>
              <a:rPr sz="1600" b="0">
                <a:solidFill>
                  <a:srgbClr val="5A6672"/>
                </a:solidFill>
                <a:latin typeface="Malgun Gothic"/>
              </a:rPr>
              <a:t>    –  뷰 객체를 새로 만들지 않고도 뷰와 같은 효과를 얻는다</a:t>
            </a:r>
          </a:p>
          <a:p>
            <a:r>
              <a:rPr sz="1800" b="0">
                <a:solidFill>
                  <a:srgbClr val="202830"/>
                </a:solidFill>
                <a:latin typeface="Malgun Gothic"/>
              </a:rPr>
              <a:t>•  성능에 대한 의문 — 중간 집합을 실제로 만들어 놓고 쓰는가</a:t>
            </a:r>
          </a:p>
          <a:p>
            <a:r>
              <a:rPr sz="1600" b="0">
                <a:solidFill>
                  <a:srgbClr val="5A6672"/>
                </a:solidFill>
                <a:latin typeface="Malgun Gothic"/>
              </a:rPr>
              <a:t>    –  옵티마이저가 이를 어떻게 처리하는지가 8.7절의 주제다</a:t>
            </a:r>
          </a:p>
        </p:txBody>
      </p:sp>
    </p:spTree>
    <p:extLst>
      <p:ext uri="{BB962C8B-B14F-4D97-AF65-F5344CB8AC3E}">
        <p14:creationId xmlns:p14="http://schemas.microsoft.com/office/powerpoint/2010/main" val="3492588954"/>
      </p:ext>
    </p:extLst>
  </p:cSld>
  <p:clrMapOvr>
    <a:masterClrMapping/>
  </p:clrMapOvr>
</p:sld>
</file>

<file path=ppt/slides/slide39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상관 서브쿼리 (Correlated Subquery)</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정의 — 서브쿼리 내부에서 바깥 쿼리의 컬럼을 참조하는 서브쿼리</a:t>
            </a:r>
          </a:p>
          <a:p>
            <a:r>
              <a:rPr sz="1600" b="0">
                <a:solidFill>
                  <a:srgbClr val="5A6672"/>
                </a:solidFill>
                <a:latin typeface="Malgun Gothic"/>
              </a:rPr>
              <a:t>    –  바깥 쿼리의 행이 바뀌면 서브쿼리 결과도 달라질 수 있다</a:t>
            </a:r>
          </a:p>
          <a:p>
            <a:r>
              <a:rPr sz="1600" b="0">
                <a:solidFill>
                  <a:srgbClr val="5A6672"/>
                </a:solidFill>
                <a:latin typeface="Malgun Gothic"/>
              </a:rPr>
              <a:t>    –  ch01에서 본 EXISTS 서브쿼리도 상관 서브쿼리의 한 예였다</a:t>
            </a:r>
          </a:p>
          <a:p>
            <a:r>
              <a:rPr sz="1800" b="0">
                <a:solidFill>
                  <a:srgbClr val="202830"/>
                </a:solidFill>
                <a:latin typeface="Malgun Gothic"/>
              </a:rPr>
              <a:t>•  비상관 서브쿼리와의 차이</a:t>
            </a:r>
          </a:p>
          <a:p>
            <a:r>
              <a:rPr sz="1600" b="0">
                <a:solidFill>
                  <a:srgbClr val="5A6672"/>
                </a:solidFill>
                <a:latin typeface="Malgun Gothic"/>
              </a:rPr>
              <a:t>    –  비상관 — 바깥과 무관하게 독립적으로 한 번 계산하면 되는 서브쿼리</a:t>
            </a:r>
          </a:p>
          <a:p>
            <a:r>
              <a:rPr sz="1600" b="0">
                <a:solidFill>
                  <a:srgbClr val="5A6672"/>
                </a:solidFill>
                <a:latin typeface="Malgun Gothic"/>
              </a:rPr>
              <a:t>    –  상관 — 바깥 값이 입력으로 들어가야 계산이 완성되는 서브쿼리</a:t>
            </a:r>
          </a:p>
          <a:p>
            <a:r>
              <a:rPr sz="1800" b="0">
                <a:solidFill>
                  <a:srgbClr val="202830"/>
                </a:solidFill>
                <a:latin typeface="Malgun Gothic"/>
              </a:rPr>
              <a:t>•  위치와 무관한 분류라는 점에 주의</a:t>
            </a:r>
          </a:p>
          <a:p>
            <a:r>
              <a:rPr sz="1600" b="0">
                <a:solidFill>
                  <a:srgbClr val="5A6672"/>
                </a:solidFill>
                <a:latin typeface="Malgun Gothic"/>
              </a:rPr>
              <a:t>    –  SELECT 절에 있어도, WHERE 절에 있어도 상관 서브쿼리일 수 있다</a:t>
            </a:r>
          </a:p>
          <a:p>
            <a:r>
              <a:rPr sz="1600" b="0">
                <a:solidFill>
                  <a:srgbClr val="5A6672"/>
                </a:solidFill>
                <a:latin typeface="Malgun Gothic"/>
              </a:rPr>
              <a:t>    –  이번 장의 Q1은 스칼라 서브쿼리이면서 동시에 상관 서브쿼리다</a:t>
            </a:r>
          </a:p>
          <a:p>
            <a:r>
              <a:rPr sz="1800" b="0">
                <a:solidFill>
                  <a:srgbClr val="202830"/>
                </a:solidFill>
                <a:latin typeface="Malgun Gothic"/>
              </a:rPr>
              <a:t>•  문법이 시사하는 실행 그림 — 바깥 행마다 반복 실행</a:t>
            </a:r>
          </a:p>
          <a:p>
            <a:r>
              <a:rPr sz="1600" b="0">
                <a:solidFill>
                  <a:srgbClr val="5A6672"/>
                </a:solidFill>
                <a:latin typeface="Malgun Gothic"/>
              </a:rPr>
              <a:t>    –  이 그림이 실제 실행과 얼마나 다른지가 이 장의 관전 포인트다</a:t>
            </a:r>
          </a:p>
        </p:txBody>
      </p:sp>
    </p:spTree>
    <p:extLst>
      <p:ext uri="{BB962C8B-B14F-4D97-AF65-F5344CB8AC3E}">
        <p14:creationId xmlns:p14="http://schemas.microsoft.com/office/powerpoint/2010/main" val="2765107346"/>
      </p:ext>
    </p:extLst>
  </p:cSld>
  <p:clrMapOvr>
    <a:masterClrMapping/>
  </p:clrMapOvr>
</p:sld>
</file>

<file path=ppt/slides/slide39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서브쿼리와 JOIN의 관계 — 내부 변환</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옵티마이저는 서브쿼리를 그 모양 그대로 실행하지 않는 경우가 많다</a:t>
            </a:r>
          </a:p>
          <a:p>
            <a:r>
              <a:rPr sz="1600" b="0">
                <a:solidFill>
                  <a:srgbClr val="5A6672"/>
                </a:solidFill>
                <a:latin typeface="Malgun Gothic"/>
              </a:rPr>
              <a:t>    –  많은 경우 조인 형태로 내부 변환한다 — 이를 unnesting이라 부른다</a:t>
            </a:r>
          </a:p>
          <a:p>
            <a:r>
              <a:rPr sz="1600" b="0">
                <a:solidFill>
                  <a:srgbClr val="5A6672"/>
                </a:solidFill>
                <a:latin typeface="Malgun Gothic"/>
              </a:rPr>
              <a:t>    –  중첩된 구조를 풀어 평평한 조인으로 만든다는 뜻이다</a:t>
            </a:r>
          </a:p>
          <a:p>
            <a:r>
              <a:rPr sz="1800" b="0">
                <a:solidFill>
                  <a:srgbClr val="202830"/>
                </a:solidFill>
                <a:latin typeface="Malgun Gothic"/>
              </a:rPr>
              <a:t>•  ch01에서 이미 그 증거를 봤다</a:t>
            </a:r>
          </a:p>
          <a:p>
            <a:r>
              <a:rPr sz="1600" b="0">
                <a:solidFill>
                  <a:srgbClr val="5A6672"/>
                </a:solidFill>
                <a:latin typeface="Malgun Gothic"/>
              </a:rPr>
              <a:t>    –  IN과 EXISTS가 둘 다 HASH JOIN RIGHT SEMI로 변환됐다</a:t>
            </a:r>
          </a:p>
          <a:p>
            <a:r>
              <a:rPr sz="1600" b="0">
                <a:solidFill>
                  <a:srgbClr val="5A6672"/>
                </a:solidFill>
                <a:latin typeface="Malgun Gothic"/>
              </a:rPr>
              <a:t>    –  서로 다른 문법이 같은 물리 구조로 수렴한 사례였다</a:t>
            </a:r>
          </a:p>
          <a:p>
            <a:r>
              <a:rPr sz="1800" b="0">
                <a:solidFill>
                  <a:srgbClr val="202830"/>
                </a:solidFill>
                <a:latin typeface="Malgun Gothic"/>
              </a:rPr>
              <a:t>•  변환이 남기는 흔적 — 계획에 등장하는 내부 뷰 이름</a:t>
            </a:r>
          </a:p>
          <a:p>
            <a:r>
              <a:rPr sz="1600" b="0">
                <a:solidFill>
                  <a:srgbClr val="5A6672"/>
                </a:solidFill>
                <a:latin typeface="Malgun Gothic"/>
              </a:rPr>
              <a:t>    –  VW_NSO_1, VW_SQ_1 같은 이름은 옵티마이저가 만든 내부 뷰다</a:t>
            </a:r>
          </a:p>
          <a:p>
            <a:r>
              <a:rPr sz="1600" b="0">
                <a:solidFill>
                  <a:srgbClr val="5A6672"/>
                </a:solidFill>
                <a:latin typeface="Malgun Gothic"/>
              </a:rPr>
              <a:t>    –  원본 SQL에 없던 이름이 계획에 보이면 변환이 일어났다는 신호다</a:t>
            </a:r>
          </a:p>
          <a:p>
            <a:r>
              <a:rPr sz="1800" b="0">
                <a:solidFill>
                  <a:srgbClr val="202830"/>
                </a:solidFill>
                <a:latin typeface="Malgun Gothic"/>
              </a:rPr>
              <a:t>•  따라서 판단은 작성한 문법이 아니라 변환된 계획을 보고 해야 한다</a:t>
            </a:r>
          </a:p>
          <a:p>
            <a:r>
              <a:rPr sz="1600" b="0">
                <a:solidFill>
                  <a:srgbClr val="5A6672"/>
                </a:solidFill>
                <a:latin typeface="Malgun Gothic"/>
              </a:rPr>
              <a:t>    –  문법만 보고 비용을 예단하면 거의 항상 틀린다</a:t>
            </a:r>
          </a:p>
        </p:txBody>
      </p:sp>
    </p:spTree>
    <p:extLst>
      <p:ext uri="{BB962C8B-B14F-4D97-AF65-F5344CB8AC3E}">
        <p14:creationId xmlns:p14="http://schemas.microsoft.com/office/powerpoint/2010/main" val="1547537901"/>
      </p:ext>
    </p:extLst>
  </p:cSld>
  <p:clrMapOvr>
    <a:masterClrMapping/>
  </p:clrMapOvr>
</p:sld>
</file>

<file path=ppt/slides/slide399.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107996"/>
          </a:xfrm>
          <a:prstGeom prst="rect">
            <a:avLst/>
          </a:prstGeom>
          <a:noFill/>
        </p:spPr>
        <p:txBody>
          <a:bodyPr wrap="square">
            <a:spAutoFit/>
          </a:bodyPr>
          <a:lstStyle/>
          <a:p>
            <a:r>
              <a:rPr lang="en-US" sz="6600" b="1" dirty="0">
                <a:solidFill>
                  <a:srgbClr val="C0392B"/>
                </a:solidFill>
                <a:latin typeface="Malgun Gothic"/>
              </a:rPr>
              <a:t>10</a:t>
            </a:r>
            <a:r>
              <a:rPr sz="6600" b="1" dirty="0">
                <a:solidFill>
                  <a:srgbClr val="C0392B"/>
                </a:solidFill>
                <a:latin typeface="Malgun Gothic"/>
              </a:rPr>
              <a:t>.3</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Oracle Internals — 스칼라 서브쿼리 캐싱</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문법과 실행의 괴리</a:t>
            </a:r>
          </a:p>
          <a:p>
            <a:r>
              <a:rPr sz="1600" b="0">
                <a:solidFill>
                  <a:srgbClr val="C5CED6"/>
                </a:solidFill>
                <a:latin typeface="Malgun Gothic"/>
              </a:rPr>
              <a:t>•  distinct 개수가 정하는 캐싱 효과</a:t>
            </a:r>
          </a:p>
          <a:p>
            <a:r>
              <a:rPr sz="1600" b="0">
                <a:solidFill>
                  <a:srgbClr val="C5CED6"/>
                </a:solidFill>
                <a:latin typeface="Malgun Gothic"/>
              </a:rPr>
              <a:t>•  N+1 통념 점검</a:t>
            </a:r>
          </a:p>
          <a:p>
            <a:r>
              <a:rPr sz="1600" b="0">
                <a:solidFill>
                  <a:srgbClr val="C5CED6"/>
                </a:solidFill>
                <a:latin typeface="Malgun Gothic"/>
              </a:rPr>
              <a:t>•  집계 비교 상관 서브쿼리의 변환</a:t>
            </a:r>
          </a:p>
        </p:txBody>
      </p:sp>
    </p:spTree>
    <p:extLst>
      <p:ext uri="{BB962C8B-B14F-4D97-AF65-F5344CB8AC3E}">
        <p14:creationId xmlns:p14="http://schemas.microsoft.com/office/powerpoint/2010/main" val="2652481597"/>
      </p:ext>
    </p:extLst>
  </p:cSld>
  <p:clrMapOvr>
    <a:masterClrMapping/>
  </p:clrMapOvr>
</p:sld>
</file>

<file path=ppt/slides/slide40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스칼라 서브쿼리 캐싱 — 문법과 실행의 괴리</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문법이 그리는 그림 — 행마다 한 번씩 실행</a:t>
            </a:r>
          </a:p>
          <a:p>
            <a:r>
              <a:rPr sz="1600" b="0">
                <a:solidFill>
                  <a:srgbClr val="5A6672"/>
                </a:solidFill>
                <a:latin typeface="Malgun Gothic"/>
              </a:rPr>
              <a:t>    –  SELECT 절에 있으니 결과 행 수만큼 서브쿼리가 돌 것처럼 보인다</a:t>
            </a:r>
          </a:p>
          <a:p>
            <a:r>
              <a:rPr sz="1600" b="0">
                <a:solidFill>
                  <a:srgbClr val="5A6672"/>
                </a:solidFill>
                <a:latin typeface="Malgun Gothic"/>
              </a:rPr>
              <a:t>    –  이 그림 때문에 스칼라 서브쿼리는 N+1과 같다는 통념이 생겼다</a:t>
            </a:r>
          </a:p>
          <a:p>
            <a:r>
              <a:rPr sz="1800" b="0">
                <a:solidFill>
                  <a:srgbClr val="202830"/>
                </a:solidFill>
                <a:latin typeface="Malgun Gothic"/>
              </a:rPr>
              <a:t>•  실제 동작 — 같은 입력 값의 결과를 캐시해 재사용한다</a:t>
            </a:r>
          </a:p>
          <a:p>
            <a:r>
              <a:rPr sz="1600" b="0">
                <a:solidFill>
                  <a:srgbClr val="5A6672"/>
                </a:solidFill>
                <a:latin typeface="Malgun Gothic"/>
              </a:rPr>
              <a:t>    –  이미 계산한 입력 값이 다시 들어오면 서브쿼리를 실행하지 않는다</a:t>
            </a:r>
          </a:p>
          <a:p>
            <a:r>
              <a:rPr sz="1600" b="0">
                <a:solidFill>
                  <a:srgbClr val="5A6672"/>
                </a:solidFill>
                <a:latin typeface="Malgun Gothic"/>
              </a:rPr>
              <a:t>    –  캐시에서 값을 즉시 가져오므로 테이블 접근 자체가 발생하지 않는다</a:t>
            </a:r>
          </a:p>
          <a:p>
            <a:r>
              <a:rPr sz="1800" b="0">
                <a:solidFill>
                  <a:srgbClr val="202830"/>
                </a:solidFill>
                <a:latin typeface="Malgun Gothic"/>
              </a:rPr>
              <a:t>•  실행계획에서 확인하는 방법 — Starts 컬럼</a:t>
            </a:r>
          </a:p>
          <a:p>
            <a:r>
              <a:rPr sz="1600" b="0">
                <a:solidFill>
                  <a:srgbClr val="5A6672"/>
                </a:solidFill>
                <a:latin typeface="Malgun Gothic"/>
              </a:rPr>
              <a:t>    –  Starts는 그 오퍼레이션이 실제로 시작된 횟수를 보여 준다</a:t>
            </a:r>
          </a:p>
          <a:p>
            <a:r>
              <a:rPr sz="1600" b="0">
                <a:solidFill>
                  <a:srgbClr val="5A6672"/>
                </a:solidFill>
                <a:latin typeface="Malgun Gothic"/>
              </a:rPr>
              <a:t>    –  결과 행 수보다 Starts가 훨씬 작다면 캐싱이 작동한 것이다</a:t>
            </a:r>
          </a:p>
          <a:p>
            <a:r>
              <a:rPr sz="1800" b="0">
                <a:solidFill>
                  <a:srgbClr val="202830"/>
                </a:solidFill>
                <a:latin typeface="Malgun Gothic"/>
              </a:rPr>
              <a:t>•  이 캐시는 한 SQL 실행 안에서만 유지된다</a:t>
            </a:r>
          </a:p>
          <a:p>
            <a:r>
              <a:rPr sz="1600" b="0">
                <a:solidFill>
                  <a:srgbClr val="5A6672"/>
                </a:solidFill>
                <a:latin typeface="Malgun Gothic"/>
              </a:rPr>
              <a:t>    –  버퍼 캐시나 세션을 넘나드는 결과 캐시와는 다른 개념이다</a:t>
            </a:r>
          </a:p>
        </p:txBody>
      </p:sp>
    </p:spTree>
    <p:extLst>
      <p:ext uri="{BB962C8B-B14F-4D97-AF65-F5344CB8AC3E}">
        <p14:creationId xmlns:p14="http://schemas.microsoft.com/office/powerpoint/2010/main" val="2167517798"/>
      </p:ext>
    </p:extLst>
  </p:cSld>
  <p:clrMapOvr>
    <a:masterClrMapping/>
  </p:clrMapOvr>
</p:sld>
</file>

<file path=ppt/slides/slide40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distinct 개수가 정하는 캐싱 효과</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캐싱 효과의 크기를 정하는 것은 행 수가 아니라 참조 값의 종류 수다</a:t>
            </a:r>
          </a:p>
          <a:p>
            <a:r>
              <a:rPr sz="1600" b="0">
                <a:solidFill>
                  <a:srgbClr val="5A6672"/>
                </a:solidFill>
                <a:latin typeface="Malgun Gothic"/>
              </a:rPr>
              <a:t>    –  교안의 예 — 행이 15,029개여도 그 안의 HOSP_ID가 1~5의 5종류뿐이라면</a:t>
            </a:r>
          </a:p>
          <a:p>
            <a:r>
              <a:rPr sz="1600" b="0">
                <a:solidFill>
                  <a:srgbClr val="5A6672"/>
                </a:solidFill>
                <a:latin typeface="Malgun Gothic"/>
              </a:rPr>
              <a:t>    –  서브쿼리는 이론상 최대 5번만 실제로 실행되고 나머지는 캐시에서 온다</a:t>
            </a:r>
          </a:p>
          <a:p>
            <a:r>
              <a:rPr sz="1800" b="0">
                <a:solidFill>
                  <a:srgbClr val="202830"/>
                </a:solidFill>
                <a:latin typeface="Malgun Gothic"/>
              </a:rPr>
              <a:t>•  반대로 distinct 값이 많아지면 효과는 줄어든다</a:t>
            </a:r>
          </a:p>
          <a:p>
            <a:r>
              <a:rPr sz="1600" b="0">
                <a:solidFill>
                  <a:srgbClr val="5A6672"/>
                </a:solidFill>
                <a:latin typeface="Malgun Gothic"/>
              </a:rPr>
              <a:t>    –  값의 종류가 500이면 실제 실행 횟수도 이론상 최대 500까지 늘어난다</a:t>
            </a:r>
          </a:p>
          <a:p>
            <a:r>
              <a:rPr sz="1600" b="0">
                <a:solidFill>
                  <a:srgbClr val="5A6672"/>
                </a:solidFill>
                <a:latin typeface="Malgun Gothic"/>
              </a:rPr>
              <a:t>    –  캐시 항목이 값의 종류만큼 쌓이는 구조이기 때문이다</a:t>
            </a:r>
          </a:p>
          <a:p>
            <a:r>
              <a:rPr sz="1800" b="0">
                <a:solidFill>
                  <a:srgbClr val="202830"/>
                </a:solidFill>
                <a:latin typeface="Malgun Gothic"/>
              </a:rPr>
              <a:t>•  그래서 판단 기준은 단순하다</a:t>
            </a:r>
          </a:p>
          <a:p>
            <a:r>
              <a:rPr sz="1600" b="0">
                <a:solidFill>
                  <a:srgbClr val="5A6672"/>
                </a:solidFill>
                <a:latin typeface="Malgun Gothic"/>
              </a:rPr>
              <a:t>    –  참조 컬럼의 distinct 개수가 전체 행 수에 비해 작을수록 유리하다</a:t>
            </a:r>
          </a:p>
          <a:p>
            <a:r>
              <a:rPr sz="1600" b="0">
                <a:solidFill>
                  <a:srgbClr val="5A6672"/>
                </a:solidFill>
                <a:latin typeface="Malgun Gothic"/>
              </a:rPr>
              <a:t>    –  코드 테이블·분류 코드·상태 값처럼 종류가 적은 컬럼이 가장 잘 맞는다</a:t>
            </a:r>
          </a:p>
          <a:p>
            <a:r>
              <a:rPr sz="1800" b="0">
                <a:solidFill>
                  <a:srgbClr val="202830"/>
                </a:solidFill>
                <a:latin typeface="Malgun Gothic"/>
              </a:rPr>
              <a:t>•  반대로 거의 유일한 값을 참조하면 캐싱은 사실상 도움이 되지 않는다</a:t>
            </a:r>
          </a:p>
        </p:txBody>
      </p:sp>
    </p:spTree>
    <p:extLst>
      <p:ext uri="{BB962C8B-B14F-4D97-AF65-F5344CB8AC3E}">
        <p14:creationId xmlns:p14="http://schemas.microsoft.com/office/powerpoint/2010/main" val="2640470504"/>
      </p:ext>
    </p:extLst>
  </p:cSld>
  <p:clrMapOvr>
    <a:masterClrMapping/>
  </p:clrMapOvr>
</p:sld>
</file>

<file path=ppt/slides/slide40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'SELECT 절 서브쿼리는 느리다'는 통념 점검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통념의 논리 구조</a:t>
            </a:r>
          </a:p>
          <a:p>
            <a:r>
              <a:rPr sz="1600" b="0">
                <a:solidFill>
                  <a:srgbClr val="5A6672"/>
                </a:solidFill>
                <a:latin typeface="Malgun Gothic"/>
              </a:rPr>
              <a:t>    –  서브쿼리가 N번 반복된다 → 반복 비용이 누적된다 → 그래서 느리다</a:t>
            </a:r>
          </a:p>
          <a:p>
            <a:r>
              <a:rPr sz="1600" b="0">
                <a:solidFill>
                  <a:srgbClr val="5A6672"/>
                </a:solidFill>
                <a:latin typeface="Malgun Gothic"/>
              </a:rPr>
              <a:t>    –  이 논리는 N이 결과 행 수와 같다는 전제 위에 서 있다</a:t>
            </a:r>
          </a:p>
          <a:p>
            <a:r>
              <a:rPr sz="1800" b="0">
                <a:solidFill>
                  <a:srgbClr val="202830"/>
                </a:solidFill>
                <a:latin typeface="Malgun Gothic"/>
              </a:rPr>
              <a:t>•  캐싱이 그 전제를 무너뜨린다</a:t>
            </a:r>
          </a:p>
          <a:p>
            <a:r>
              <a:rPr sz="1600" b="0">
                <a:solidFill>
                  <a:srgbClr val="5A6672"/>
                </a:solidFill>
                <a:latin typeface="Malgun Gothic"/>
              </a:rPr>
              <a:t>    –  실제 반복 횟수는 행 수가 아니라 distinct 참조 값의 개수로 줄어든다</a:t>
            </a:r>
          </a:p>
          <a:p>
            <a:r>
              <a:rPr sz="1600" b="0">
                <a:solidFill>
                  <a:srgbClr val="5A6672"/>
                </a:solidFill>
                <a:latin typeface="Malgun Gothic"/>
              </a:rPr>
              <a:t>    –  종류가 적으면 반복 자체가 사실상 무의미할 정도로 적어진다</a:t>
            </a:r>
          </a:p>
          <a:p>
            <a:r>
              <a:rPr sz="1800" b="0">
                <a:solidFill>
                  <a:srgbClr val="202830"/>
                </a:solidFill>
                <a:latin typeface="Malgun Gothic"/>
              </a:rPr>
              <a:t>•  따라서 통념은 틀린 것이 아니라 조건이 빠진 것이다</a:t>
            </a:r>
          </a:p>
          <a:p>
            <a:r>
              <a:rPr sz="1600" b="0">
                <a:solidFill>
                  <a:srgbClr val="5A6672"/>
                </a:solidFill>
                <a:latin typeface="Malgun Gothic"/>
              </a:rPr>
              <a:t>    –  참조 값의 종류가 많을 때는 통념이 여전히 유효할 수 있다</a:t>
            </a:r>
          </a:p>
          <a:p>
            <a:r>
              <a:rPr sz="1600" b="0">
                <a:solidFill>
                  <a:srgbClr val="5A6672"/>
                </a:solidFill>
                <a:latin typeface="Malgun Gothic"/>
              </a:rPr>
              <a:t>    –  종류가 적을 때는 성립하지 않는다 — 8.5절에서 실측으로 확인한다</a:t>
            </a:r>
          </a:p>
          <a:p>
            <a:r>
              <a:rPr sz="1800" b="0">
                <a:solidFill>
                  <a:srgbClr val="202830"/>
                </a:solidFill>
                <a:latin typeface="Malgun Gothic"/>
              </a:rPr>
              <a:t>•  결론 — 통념을 버리는 대신 통념이 성립하는 조건을 기억한다</a:t>
            </a:r>
          </a:p>
        </p:txBody>
      </p:sp>
    </p:spTree>
    <p:extLst>
      <p:ext uri="{BB962C8B-B14F-4D97-AF65-F5344CB8AC3E}">
        <p14:creationId xmlns:p14="http://schemas.microsoft.com/office/powerpoint/2010/main" val="3181493766"/>
      </p:ext>
    </p:extLst>
  </p:cSld>
  <p:clrMapOvr>
    <a:masterClrMapping/>
  </p:clrMapOvr>
</p:sld>
</file>

<file path=ppt/slides/slide40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집계와 비교하는 상관 서브쿼리의 변환</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자주 쓰이는 패턴 — 그룹 평균보다 큰 행 찾기</a:t>
            </a:r>
          </a:p>
          <a:p>
            <a:r>
              <a:rPr sz="1600" b="0">
                <a:solidFill>
                  <a:srgbClr val="5A6672"/>
                </a:solidFill>
                <a:latin typeface="Malgun Gothic"/>
              </a:rPr>
              <a:t>    –  바깥 행의 그룹 키로 그룹 평균을 구해 그 행의 값과 비교하는 형태</a:t>
            </a:r>
          </a:p>
          <a:p>
            <a:r>
              <a:rPr sz="1600" b="0">
                <a:solidFill>
                  <a:srgbClr val="5A6672"/>
                </a:solidFill>
                <a:latin typeface="Malgun Gothic"/>
              </a:rPr>
              <a:t>    –  문법만 보면 행마다 평균을 다시 계산하는 것처럼 보인다</a:t>
            </a:r>
          </a:p>
          <a:p>
            <a:r>
              <a:rPr sz="1800" b="0">
                <a:solidFill>
                  <a:srgbClr val="202830"/>
                </a:solidFill>
                <a:latin typeface="Malgun Gothic"/>
              </a:rPr>
              <a:t>•  옵티마이저의 처리 — 미리 계산한 뷰와의 조인으로 변환</a:t>
            </a:r>
          </a:p>
          <a:p>
            <a:r>
              <a:rPr sz="1600" b="0">
                <a:solidFill>
                  <a:srgbClr val="5A6672"/>
                </a:solidFill>
                <a:latin typeface="Malgun Gothic"/>
              </a:rPr>
              <a:t>    –  그룹별 집계를 한 번에 계산해 내부 뷰로 만든 뒤 원본과 조인한다</a:t>
            </a:r>
          </a:p>
          <a:p>
            <a:r>
              <a:rPr sz="1600" b="0">
                <a:solidFill>
                  <a:srgbClr val="5A6672"/>
                </a:solidFill>
                <a:latin typeface="Malgun Gothic"/>
              </a:rPr>
              <a:t>    –  이 역시 unnesting의 한 형태다</a:t>
            </a:r>
          </a:p>
          <a:p>
            <a:r>
              <a:rPr sz="1800" b="0">
                <a:solidFill>
                  <a:srgbClr val="202830"/>
                </a:solidFill>
                <a:latin typeface="Malgun Gothic"/>
              </a:rPr>
              <a:t>•  변환의 좋은 점</a:t>
            </a:r>
          </a:p>
          <a:p>
            <a:r>
              <a:rPr sz="1600" b="0">
                <a:solidFill>
                  <a:srgbClr val="5A6672"/>
                </a:solidFill>
                <a:latin typeface="Malgun Gothic"/>
              </a:rPr>
              <a:t>    –  행마다 반복 실행하는 최악의 시나리오는 피할 수 있다</a:t>
            </a:r>
          </a:p>
          <a:p>
            <a:r>
              <a:rPr sz="1800" b="0">
                <a:solidFill>
                  <a:srgbClr val="202830"/>
                </a:solidFill>
                <a:latin typeface="Malgun Gothic"/>
              </a:rPr>
              <a:t>•  변환이 남기는 문제</a:t>
            </a:r>
          </a:p>
          <a:p>
            <a:r>
              <a:rPr sz="1600" b="0">
                <a:solidFill>
                  <a:srgbClr val="5A6672"/>
                </a:solidFill>
                <a:latin typeface="Malgun Gothic"/>
              </a:rPr>
              <a:t>    –  집계를 위한 읽기와 원본을 위한 읽기가 각각 필요해질 수 있다</a:t>
            </a:r>
          </a:p>
          <a:p>
            <a:r>
              <a:rPr sz="1600" b="0">
                <a:solidFill>
                  <a:srgbClr val="5A6672"/>
                </a:solidFill>
                <a:latin typeface="Malgun Gothic"/>
              </a:rPr>
              <a:t>    –  같은 테이블을 여러 번 읽는 구조가 되면 변환 자체가 비용이 된다</a:t>
            </a:r>
          </a:p>
        </p:txBody>
      </p:sp>
    </p:spTree>
    <p:extLst>
      <p:ext uri="{BB962C8B-B14F-4D97-AF65-F5344CB8AC3E}">
        <p14:creationId xmlns:p14="http://schemas.microsoft.com/office/powerpoint/2010/main" val="213818768"/>
      </p:ext>
    </p:extLst>
  </p:cSld>
  <p:clrMapOvr>
    <a:masterClrMapping/>
  </p:clrMapOvr>
</p:sld>
</file>

<file path=ppt/slides/slide404.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5273040" cy="1107996"/>
          </a:xfrm>
          <a:prstGeom prst="rect">
            <a:avLst/>
          </a:prstGeom>
          <a:noFill/>
        </p:spPr>
        <p:txBody>
          <a:bodyPr wrap="square">
            <a:spAutoFit/>
          </a:bodyPr>
          <a:lstStyle/>
          <a:p>
            <a:r>
              <a:rPr lang="en-US" sz="6600" b="1" dirty="0">
                <a:solidFill>
                  <a:srgbClr val="C0392B"/>
                </a:solidFill>
                <a:latin typeface="Malgun Gothic"/>
              </a:rPr>
              <a:t>10</a:t>
            </a:r>
            <a:r>
              <a:rPr sz="6600" b="1" dirty="0">
                <a:solidFill>
                  <a:srgbClr val="C0392B"/>
                </a:solidFill>
                <a:latin typeface="Malgun Gothic"/>
              </a:rPr>
              <a:t>.4~</a:t>
            </a:r>
            <a:r>
              <a:rPr lang="en-US" sz="6600" b="1" dirty="0">
                <a:solidFill>
                  <a:srgbClr val="C0392B"/>
                </a:solidFill>
                <a:latin typeface="Malgun Gothic"/>
              </a:rPr>
              <a:t>10</a:t>
            </a:r>
            <a:r>
              <a:rPr sz="6600" b="1" dirty="0">
                <a:solidFill>
                  <a:srgbClr val="C0392B"/>
                </a:solidFill>
                <a:latin typeface="Malgun Gothic"/>
              </a:rPr>
              <a:t>.5</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스칼라 서브쿼리 vs JOIN — 실측 비교</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실측 소재 — 청구에 병원명 붙이기</a:t>
            </a:r>
          </a:p>
          <a:p>
            <a:r>
              <a:rPr sz="1600" b="0">
                <a:solidFill>
                  <a:srgbClr val="C5CED6"/>
                </a:solidFill>
                <a:latin typeface="Malgun Gothic"/>
              </a:rPr>
              <a:t>•  Q1 스칼라 서브쿼리 / Q2 JOIN</a:t>
            </a:r>
          </a:p>
          <a:p>
            <a:r>
              <a:rPr sz="1600" b="0">
                <a:solidFill>
                  <a:srgbClr val="C5CED6"/>
                </a:solidFill>
                <a:latin typeface="Malgun Gothic"/>
              </a:rPr>
              <a:t>•  두 실행계획 읽기</a:t>
            </a:r>
          </a:p>
          <a:p>
            <a:r>
              <a:rPr sz="1600" b="0">
                <a:solidFill>
                  <a:srgbClr val="C5CED6"/>
                </a:solidFill>
                <a:latin typeface="Malgun Gothic"/>
              </a:rPr>
              <a:t>•  Starts와 Buffers가 말해 주는 것</a:t>
            </a:r>
          </a:p>
        </p:txBody>
      </p:sp>
    </p:spTree>
    <p:extLst>
      <p:ext uri="{BB962C8B-B14F-4D97-AF65-F5344CB8AC3E}">
        <p14:creationId xmlns:p14="http://schemas.microsoft.com/office/powerpoint/2010/main" val="3920818219"/>
      </p:ext>
    </p:extLst>
  </p:cSld>
  <p:clrMapOvr>
    <a:masterClrMapping/>
  </p:clrMapOvr>
</p:sld>
</file>

<file path=ppt/slides/slide40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실측 소재 — 청구에 병원명 붙이기</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요구사항 — 청구 목록에 병원 이름을 함께 보여 준다</a:t>
            </a:r>
          </a:p>
          <a:p>
            <a:r>
              <a:rPr sz="1600" b="0">
                <a:solidFill>
                  <a:srgbClr val="5A6672"/>
                </a:solidFill>
                <a:latin typeface="Malgun Gothic"/>
              </a:rPr>
              <a:t>    –  MEDICAL_CLAIMS에서 청구 번호와 총액을 가져온다</a:t>
            </a:r>
          </a:p>
          <a:p>
            <a:r>
              <a:rPr sz="1600" b="0">
                <a:solidFill>
                  <a:srgbClr val="5A6672"/>
                </a:solidFill>
                <a:latin typeface="Malgun Gothic"/>
              </a:rPr>
              <a:t>    –  각 청구의 HOSPITALS 병원명을 한 컬럼으로 붙인다</a:t>
            </a:r>
          </a:p>
          <a:p>
            <a:r>
              <a:rPr sz="1600" b="0">
                <a:solidFill>
                  <a:srgbClr val="5A6672"/>
                </a:solidFill>
                <a:latin typeface="Malgun Gothic"/>
              </a:rPr>
              <a:t>    –  조건은 HOSP_ID가 5 이하인 청구로 한정한다</a:t>
            </a:r>
          </a:p>
          <a:p>
            <a:r>
              <a:rPr sz="1800" b="0">
                <a:solidFill>
                  <a:srgbClr val="202830"/>
                </a:solidFill>
                <a:latin typeface="Malgun Gothic"/>
              </a:rPr>
              <a:t>•  두 가지 작성 방법 — 결과는 완전히 같다</a:t>
            </a:r>
          </a:p>
          <a:p>
            <a:r>
              <a:rPr sz="1600" b="0">
                <a:solidFill>
                  <a:srgbClr val="5A6672"/>
                </a:solidFill>
                <a:latin typeface="Malgun Gothic"/>
              </a:rPr>
              <a:t>    –  Q1 — SELECT 절에 스칼라 서브쿼리를 넣어 병원명을 가져온다</a:t>
            </a:r>
          </a:p>
          <a:p>
            <a:r>
              <a:rPr sz="1600" b="0">
                <a:solidFill>
                  <a:srgbClr val="5A6672"/>
                </a:solidFill>
                <a:latin typeface="Malgun Gothic"/>
              </a:rPr>
              <a:t>    –  Q2 — FROM 절에 HOSPITALS를 넣고 조인으로 병원명을 가져온다</a:t>
            </a:r>
          </a:p>
          <a:p>
            <a:r>
              <a:rPr sz="1800" b="0">
                <a:solidFill>
                  <a:srgbClr val="202830"/>
                </a:solidFill>
                <a:latin typeface="Malgun Gothic"/>
              </a:rPr>
              <a:t>•  이 소재를 고른 이유</a:t>
            </a:r>
          </a:p>
          <a:p>
            <a:r>
              <a:rPr sz="1600" b="0">
                <a:solidFill>
                  <a:srgbClr val="5A6672"/>
                </a:solidFill>
                <a:latin typeface="Malgun Gothic"/>
              </a:rPr>
              <a:t>    –  HOSP_ID가 5 이하이므로 참조 값의 종류가 5로 매우 적다</a:t>
            </a:r>
          </a:p>
          <a:p>
            <a:r>
              <a:rPr sz="1600" b="0">
                <a:solidFill>
                  <a:srgbClr val="5A6672"/>
                </a:solidFill>
                <a:latin typeface="Malgun Gothic"/>
              </a:rPr>
              <a:t>    –  캐싱 효과가 가장 잘 드러나는 조건이다</a:t>
            </a:r>
          </a:p>
          <a:p>
            <a:r>
              <a:rPr sz="1800" b="0">
                <a:solidFill>
                  <a:srgbClr val="202830"/>
                </a:solidFill>
                <a:latin typeface="Malgun Gothic"/>
              </a:rPr>
              <a:t>•  두 쿼리의 결과 행은 15,029건으로 동일하다</a:t>
            </a:r>
          </a:p>
        </p:txBody>
      </p:sp>
    </p:spTree>
    <p:extLst>
      <p:ext uri="{BB962C8B-B14F-4D97-AF65-F5344CB8AC3E}">
        <p14:creationId xmlns:p14="http://schemas.microsoft.com/office/powerpoint/2010/main" val="1988571481"/>
      </p:ext>
    </p:extLst>
  </p:cSld>
  <p:clrMapOvr>
    <a:masterClrMapping/>
  </p:clrMapOvr>
</p:sld>
</file>

<file path=ppt/slides/slide40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Q1. 스칼라 서브쿼리로 병원명 붙이기</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SELECT 절의 서브쿼리가 바깥 행의 hosp_id를 참조한다 — 스칼라이면서 상관 서브쿼리</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Q1. 스칼라 서브쿼리로 병원명 붙이기</a:t>
            </a:r>
          </a:p>
          <a:p>
            <a:r>
              <a:rPr sz="1250" b="0">
                <a:solidFill>
                  <a:srgbClr val="E6E6E6"/>
                </a:solidFill>
                <a:latin typeface="Consolas"/>
              </a:rPr>
              <a:t>SELECT c.claim_id, c.total_amt,</a:t>
            </a:r>
          </a:p>
          <a:p>
            <a:r>
              <a:rPr sz="1250" b="0">
                <a:solidFill>
                  <a:srgbClr val="E6E6E6"/>
                </a:solidFill>
                <a:latin typeface="Consolas"/>
              </a:rPr>
              <a:t>       (SELECT h.hosp_name FROM hospitals h WHERE h.hosp_id = c.hosp_id) hosp_name</a:t>
            </a:r>
          </a:p>
          <a:p>
            <a:r>
              <a:rPr sz="1250" b="0">
                <a:solidFill>
                  <a:srgbClr val="E6E6E6"/>
                </a:solidFill>
                <a:latin typeface="Consolas"/>
              </a:rPr>
              <a:t>FROM medical_claims c</a:t>
            </a:r>
          </a:p>
          <a:p>
            <a:r>
              <a:rPr sz="1250" b="0">
                <a:solidFill>
                  <a:srgbClr val="E6E6E6"/>
                </a:solidFill>
                <a:latin typeface="Consolas"/>
              </a:rPr>
              <a:t>WHERE c.hosp_id &lt;= 5;</a:t>
            </a:r>
          </a:p>
          <a:p>
            <a:r>
              <a:rPr sz="1250" b="0">
                <a:solidFill>
                  <a:srgbClr val="E6E6E6"/>
                </a:solidFill>
                <a:latin typeface="Consolas"/>
              </a:rPr>
              <a:t> </a:t>
            </a:r>
          </a:p>
          <a:p>
            <a:r>
              <a:rPr sz="1250" b="0">
                <a:solidFill>
                  <a:srgbClr val="7EC699"/>
                </a:solidFill>
                <a:latin typeface="Consolas"/>
              </a:rPr>
              <a:t>-- FROM 절에는 medical_claims 하나뿐이다 — 골격이 단순하게 유지된다</a:t>
            </a:r>
          </a:p>
          <a:p>
            <a:r>
              <a:rPr sz="1250" b="0">
                <a:solidFill>
                  <a:srgbClr val="7EC699"/>
                </a:solidFill>
                <a:latin typeface="Consolas"/>
              </a:rPr>
              <a:t>-- 괄호 안 서브쿼리는 바깥의 c.hosp_id를 입력으로 받는다</a:t>
            </a:r>
          </a:p>
          <a:p>
            <a:r>
              <a:rPr sz="1250" b="0">
                <a:solidFill>
                  <a:srgbClr val="7EC699"/>
                </a:solidFill>
                <a:latin typeface="Consolas"/>
              </a:rPr>
              <a:t>-- 문법상으로는 결과 행마다 한 번씩 실행되는 것처럼 보인다</a:t>
            </a:r>
          </a:p>
          <a:p>
            <a:r>
              <a:rPr sz="1250" b="0">
                <a:solidFill>
                  <a:srgbClr val="7EC699"/>
                </a:solidFill>
                <a:latin typeface="Consolas"/>
              </a:rPr>
              <a:t>-- 실제 실행 횟수는 실행계획의 Starts 컬럼에서 확인한다</a:t>
            </a:r>
          </a:p>
        </p:txBody>
      </p:sp>
    </p:spTree>
    <p:extLst>
      <p:ext uri="{BB962C8B-B14F-4D97-AF65-F5344CB8AC3E}">
        <p14:creationId xmlns:p14="http://schemas.microsoft.com/office/powerpoint/2010/main" val="921910757"/>
      </p:ext>
    </p:extLst>
  </p:cSld>
  <p:clrMapOvr>
    <a:masterClrMapping/>
  </p:clrMapOvr>
</p:sld>
</file>

<file path=ppt/slides/slide40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Q2. JOIN으로 병원명 붙이기</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결과는 Q1과 완전히 같다 — 15,029건. 문법 골격만 다르다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Q2. JOIN으로 병원명 붙이기</a:t>
            </a:r>
          </a:p>
          <a:p>
            <a:r>
              <a:rPr sz="1250" b="0">
                <a:solidFill>
                  <a:srgbClr val="E6E6E6"/>
                </a:solidFill>
                <a:latin typeface="Consolas"/>
              </a:rPr>
              <a:t>SELECT c.claim_id, c.total_amt, h.hosp_name</a:t>
            </a:r>
          </a:p>
          <a:p>
            <a:r>
              <a:rPr sz="1250" b="0">
                <a:solidFill>
                  <a:srgbClr val="E6E6E6"/>
                </a:solidFill>
                <a:latin typeface="Consolas"/>
              </a:rPr>
              <a:t>FROM medical_claims c, hospitals h</a:t>
            </a:r>
          </a:p>
          <a:p>
            <a:r>
              <a:rPr sz="1250" b="0">
                <a:solidFill>
                  <a:srgbClr val="E6E6E6"/>
                </a:solidFill>
                <a:latin typeface="Consolas"/>
              </a:rPr>
              <a:t>WHERE c.hosp_id = h.hosp_id AND c.hosp_id &lt;= 5;</a:t>
            </a:r>
          </a:p>
          <a:p>
            <a:r>
              <a:rPr sz="1250" b="0">
                <a:solidFill>
                  <a:srgbClr val="E6E6E6"/>
                </a:solidFill>
                <a:latin typeface="Consolas"/>
              </a:rPr>
              <a:t> </a:t>
            </a:r>
          </a:p>
          <a:p>
            <a:r>
              <a:rPr sz="1250" b="0">
                <a:solidFill>
                  <a:srgbClr val="7EC699"/>
                </a:solidFill>
                <a:latin typeface="Consolas"/>
              </a:rPr>
              <a:t>-- FROM 절에 두 테이블이 들어가고 조인 조건이 WHERE로 내려왔다</a:t>
            </a:r>
          </a:p>
          <a:p>
            <a:r>
              <a:rPr sz="1250" b="0">
                <a:solidFill>
                  <a:srgbClr val="7EC699"/>
                </a:solidFill>
                <a:latin typeface="Consolas"/>
              </a:rPr>
              <a:t>-- SELECT 절은 컬럼을 그대로 나열하기만 한다</a:t>
            </a:r>
          </a:p>
          <a:p>
            <a:r>
              <a:rPr sz="1250" b="0">
                <a:solidFill>
                  <a:srgbClr val="7EC699"/>
                </a:solidFill>
                <a:latin typeface="Consolas"/>
              </a:rPr>
              <a:t>-- 서브쿼리가 없으므로 반복 실행이라는 그림 자체가 없다</a:t>
            </a:r>
          </a:p>
          <a:p>
            <a:r>
              <a:rPr sz="1250" b="0">
                <a:solidFill>
                  <a:srgbClr val="7EC699"/>
                </a:solidFill>
                <a:latin typeface="Consolas"/>
              </a:rPr>
              <a:t>-- 코드 리뷰에서 Q1을 이 형태로 바꾸라고 권하는 경우가 많다</a:t>
            </a:r>
          </a:p>
        </p:txBody>
      </p:sp>
    </p:spTree>
    <p:extLst>
      <p:ext uri="{BB962C8B-B14F-4D97-AF65-F5344CB8AC3E}">
        <p14:creationId xmlns:p14="http://schemas.microsoft.com/office/powerpoint/2010/main" val="1124524343"/>
      </p:ext>
    </p:extLst>
  </p:cSld>
  <p:clrMapOvr>
    <a:masterClrMapping/>
  </p:clrMapOvr>
</p:sld>
</file>

<file path=ppt/slides/slide40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Q1 실행계획 — 스칼라 서브쿼리</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결과 행은 15,029건. Id 1·2의 Starts 컬럼을 먼저 본다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Starts | E-Rows | A-Rows |   A-Time   | Buffers |</a:t>
            </a:r>
          </a:p>
          <a:p>
            <a:r>
              <a:rPr sz="1250" b="0">
                <a:solidFill>
                  <a:srgbClr val="E6E6E6"/>
                </a:solidFill>
                <a:latin typeface="Consolas"/>
              </a:rPr>
              <a:t>| 0  | SELECT STATEMENT            |                |      1 |        |  15029 |00:00:00.02 |    4081 |</a:t>
            </a:r>
          </a:p>
          <a:p>
            <a:r>
              <a:rPr sz="1250" b="0">
                <a:solidFill>
                  <a:srgbClr val="E6E6E6"/>
                </a:solidFill>
                <a:latin typeface="Consolas"/>
              </a:rPr>
              <a:t>| 1  |  TABLE ACCESS BY INDEX ROWID| HOSPITALS      |      5 |      1 |      5 |00:00:00.01 |      13 |</a:t>
            </a:r>
          </a:p>
          <a:p>
            <a:r>
              <a:rPr sz="1250" b="0">
                <a:solidFill>
                  <a:srgbClr val="E6E6E6"/>
                </a:solidFill>
                <a:latin typeface="Consolas"/>
              </a:rPr>
              <a:t>| 2  |   INDEX UNIQUE SCAN         | PK_HOSPITALS   |      5 |      1 |      5 |00:00:00.01 |       8 |</a:t>
            </a:r>
          </a:p>
          <a:p>
            <a:r>
              <a:rPr sz="1250" b="0">
                <a:solidFill>
                  <a:srgbClr val="E6E6E6"/>
                </a:solidFill>
                <a:latin typeface="Consolas"/>
              </a:rPr>
              <a:t>| 3  |  TABLE ACCESS FULL          | MEDICAL_CLAIMS |      1 |  15283 |  15029 |00:00:00.02 |    4081 |</a:t>
            </a:r>
          </a:p>
          <a:p>
            <a:r>
              <a:rPr sz="1250" b="0">
                <a:solidFill>
                  <a:srgbClr val="E6E6E6"/>
                </a:solidFill>
                <a:latin typeface="Consolas"/>
              </a:rPr>
              <a:t> </a:t>
            </a:r>
          </a:p>
          <a:p>
            <a:r>
              <a:rPr sz="1250" b="0">
                <a:solidFill>
                  <a:srgbClr val="7EC699"/>
                </a:solidFill>
                <a:latin typeface="Consolas"/>
              </a:rPr>
              <a:t>-- Id 1, 2 : HOSPITALS 접근 — Starts가 5다</a:t>
            </a:r>
          </a:p>
          <a:p>
            <a:r>
              <a:rPr sz="1250" b="0">
                <a:solidFill>
                  <a:srgbClr val="7EC699"/>
                </a:solidFill>
                <a:latin typeface="Consolas"/>
              </a:rPr>
              <a:t>-- Id 3    : MEDICAL_CLAIMS 전체 스캔 — Starts는 1이다</a:t>
            </a:r>
          </a:p>
          <a:p>
            <a:r>
              <a:rPr sz="1250" b="0">
                <a:solidFill>
                  <a:srgbClr val="7EC699"/>
                </a:solidFill>
                <a:latin typeface="Consolas"/>
              </a:rPr>
              <a:t>-- 결과가 15,029건인데 HOSPITALS 접근은 5번뿐이다</a:t>
            </a:r>
          </a:p>
        </p:txBody>
      </p:sp>
    </p:spTree>
    <p:extLst>
      <p:ext uri="{BB962C8B-B14F-4D97-AF65-F5344CB8AC3E}">
        <p14:creationId xmlns:p14="http://schemas.microsoft.com/office/powerpoint/2010/main" val="3574706909"/>
      </p:ext>
    </p:extLst>
  </p:cSld>
  <p:clrMapOvr>
    <a:masterClrMapping/>
  </p:clrMapOvr>
</p:sld>
</file>

<file path=ppt/slides/slide40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Q1 실행계획 읽는 법</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Id 3 — MEDICAL_CLAIMS TABLE ACCESS FULL</a:t>
            </a:r>
          </a:p>
          <a:p>
            <a:r>
              <a:rPr sz="1600" b="0">
                <a:solidFill>
                  <a:srgbClr val="5A6672"/>
                </a:solidFill>
                <a:latin typeface="Malgun Gothic"/>
              </a:rPr>
              <a:t>    –  Starts 1 — 원본 테이블을 한 번 전체 스캔한다</a:t>
            </a:r>
          </a:p>
          <a:p>
            <a:r>
              <a:rPr sz="1600" b="0">
                <a:solidFill>
                  <a:srgbClr val="5A6672"/>
                </a:solidFill>
                <a:latin typeface="Malgun Gothic"/>
              </a:rPr>
              <a:t>    –  A-Rows 15029 — 조건을 통과한 청구 행이 결과 건수와 같다</a:t>
            </a:r>
          </a:p>
          <a:p>
            <a:r>
              <a:rPr sz="1600" b="0">
                <a:solidFill>
                  <a:srgbClr val="5A6672"/>
                </a:solidFill>
                <a:latin typeface="Malgun Gothic"/>
              </a:rPr>
              <a:t>    –  E-Rows 15283 — 옵티마이저의 추정치로 실제와 큰 차이는 없다</a:t>
            </a:r>
          </a:p>
          <a:p>
            <a:r>
              <a:rPr sz="1800" b="0">
                <a:solidFill>
                  <a:srgbClr val="202830"/>
                </a:solidFill>
                <a:latin typeface="Malgun Gothic"/>
              </a:rPr>
              <a:t>•  Id 1·2 — HOSPITALS 접근 (인덱스로 한 건씩 찾는 형태)</a:t>
            </a:r>
          </a:p>
          <a:p>
            <a:r>
              <a:rPr sz="1600" b="0">
                <a:solidFill>
                  <a:srgbClr val="5A6672"/>
                </a:solidFill>
                <a:latin typeface="Malgun Gothic"/>
              </a:rPr>
              <a:t>    –  INDEX UNIQUE SCAN으로 PK_HOSPITALS를 타고 한 건을 찾는다</a:t>
            </a:r>
          </a:p>
          <a:p>
            <a:r>
              <a:rPr sz="1600" b="0">
                <a:solidFill>
                  <a:srgbClr val="5A6672"/>
                </a:solidFill>
                <a:latin typeface="Malgun Gothic"/>
              </a:rPr>
              <a:t>    –  Starts 5 — 이 단계가 실제로 다섯 번만 실행됐다</a:t>
            </a:r>
          </a:p>
          <a:p>
            <a:r>
              <a:rPr sz="1600" b="0">
                <a:solidFill>
                  <a:srgbClr val="5A6672"/>
                </a:solidFill>
                <a:latin typeface="Malgun Gothic"/>
              </a:rPr>
              <a:t>    –  A-Rows 5 — 다섯 번의 실행이 각각 한 건씩을 돌려줬다</a:t>
            </a:r>
          </a:p>
          <a:p>
            <a:r>
              <a:rPr sz="1800" b="0">
                <a:solidFill>
                  <a:srgbClr val="202830"/>
                </a:solidFill>
                <a:latin typeface="Malgun Gothic"/>
              </a:rPr>
              <a:t>•  Buffers 배분 — 전체 4,081 가운데 HOSPITALS 몫은 13</a:t>
            </a:r>
          </a:p>
          <a:p>
            <a:r>
              <a:rPr sz="1600" b="0">
                <a:solidFill>
                  <a:srgbClr val="5A6672"/>
                </a:solidFill>
                <a:latin typeface="Malgun Gothic"/>
              </a:rPr>
              <a:t>    –  비용의 거의 전부가 MEDICAL_CLAIMS 전체 스캔에서 발생했다</a:t>
            </a:r>
          </a:p>
          <a:p>
            <a:r>
              <a:rPr sz="1600" b="0">
                <a:solidFill>
                  <a:srgbClr val="5A6672"/>
                </a:solidFill>
                <a:latin typeface="Malgun Gothic"/>
              </a:rPr>
              <a:t>    –  서브쿼리 쪽 비용은 전체에서 차지하는 비중이 매우 작다</a:t>
            </a:r>
          </a:p>
        </p:txBody>
      </p:sp>
    </p:spTree>
    <p:extLst>
      <p:ext uri="{BB962C8B-B14F-4D97-AF65-F5344CB8AC3E}">
        <p14:creationId xmlns:p14="http://schemas.microsoft.com/office/powerpoint/2010/main" val="3880272529"/>
      </p:ext>
    </p:extLst>
  </p:cSld>
  <p:clrMapOvr>
    <a:masterClrMapping/>
  </p:clrMapOvr>
</p:sld>
</file>

<file path=ppt/slides/slide4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Q2 실행계획 — JOIN</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결과 행 15,029건으로 Q1과 동일. 구조는 HASH JOIN 한 덩어리다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Starts | E-Rows | A-Rows |   A-Time   | Buffers |</a:t>
            </a:r>
          </a:p>
          <a:p>
            <a:r>
              <a:rPr sz="1250" b="0">
                <a:solidFill>
                  <a:srgbClr val="E6E6E6"/>
                </a:solidFill>
                <a:latin typeface="Consolas"/>
              </a:rPr>
              <a:t>| 0  | SELECT STATEMENT                     |                |      1 |        |  15029 |00:00:00.02 |    4083 |</a:t>
            </a:r>
          </a:p>
          <a:p>
            <a:r>
              <a:rPr sz="1250" b="0">
                <a:solidFill>
                  <a:srgbClr val="E6E6E6"/>
                </a:solidFill>
                <a:latin typeface="Consolas"/>
              </a:rPr>
              <a:t>| 1  |  HASH JOIN                           |                |      1 |     76 |  15029 |00:00:00.01 |    4083 |</a:t>
            </a:r>
          </a:p>
          <a:p>
            <a:r>
              <a:rPr sz="1250" b="0">
                <a:solidFill>
                  <a:srgbClr val="E6E6E6"/>
                </a:solidFill>
                <a:latin typeface="Consolas"/>
              </a:rPr>
              <a:t>| 2  |   TABLE ACCESS BY INDEX ROWID BATCHED| HOSPITALS      |      1 |      5 |      5 |00:00:00.01 |       3 |</a:t>
            </a:r>
          </a:p>
          <a:p>
            <a:r>
              <a:rPr sz="1250" b="0">
                <a:solidFill>
                  <a:srgbClr val="E6E6E6"/>
                </a:solidFill>
                <a:latin typeface="Consolas"/>
              </a:rPr>
              <a:t>| 3  |    INDEX RANGE SCAN                  | PK_HOSPITALS   |      1 |      5 |      5 |00:00:00.01 |       2 |</a:t>
            </a:r>
          </a:p>
          <a:p>
            <a:r>
              <a:rPr sz="1250" b="0">
                <a:solidFill>
                  <a:srgbClr val="E6E6E6"/>
                </a:solidFill>
                <a:latin typeface="Consolas"/>
              </a:rPr>
              <a:t>| 4  |   TABLE ACCESS FULL                  | MEDICAL_CLAIMS |      1 |  15283 |  15029 |00:00:00.01 |    4080 |</a:t>
            </a:r>
          </a:p>
          <a:p>
            <a:r>
              <a:rPr sz="1250" b="0">
                <a:solidFill>
                  <a:srgbClr val="E6E6E6"/>
                </a:solidFill>
                <a:latin typeface="Consolas"/>
              </a:rPr>
              <a:t> </a:t>
            </a:r>
          </a:p>
          <a:p>
            <a:r>
              <a:rPr sz="1250" b="0">
                <a:solidFill>
                  <a:srgbClr val="7EC699"/>
                </a:solidFill>
                <a:latin typeface="Consolas"/>
              </a:rPr>
              <a:t>-- Id 2, 3 : HOSPITALS를 한 번에 훑어 해시 테이블을 만든다 — Starts 1</a:t>
            </a:r>
          </a:p>
          <a:p>
            <a:r>
              <a:rPr sz="1250" b="0">
                <a:solidFill>
                  <a:srgbClr val="7EC699"/>
                </a:solidFill>
                <a:latin typeface="Consolas"/>
              </a:rPr>
              <a:t>-- Id 4    : MEDICAL_CLAIMS 전체 스캔 — Starts 1</a:t>
            </a:r>
          </a:p>
          <a:p>
            <a:r>
              <a:rPr sz="1250" b="0">
                <a:solidFill>
                  <a:srgbClr val="7EC699"/>
                </a:solidFill>
                <a:latin typeface="Consolas"/>
              </a:rPr>
              <a:t>-- 모든 단계의 Starts가 1이다 — 반복이라는 개념 자체가 없다</a:t>
            </a:r>
          </a:p>
        </p:txBody>
      </p:sp>
    </p:spTree>
    <p:extLst>
      <p:ext uri="{BB962C8B-B14F-4D97-AF65-F5344CB8AC3E}">
        <p14:creationId xmlns:p14="http://schemas.microsoft.com/office/powerpoint/2010/main" val="1176607402"/>
      </p:ext>
    </p:extLst>
  </p:cSld>
  <p:clrMapOvr>
    <a:masterClrMapping/>
  </p:clrMapOvr>
</p:sld>
</file>

<file path=ppt/slides/slide4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Q2 실행계획 읽는 법 — Q1과의 대비</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구조의 차이 — 반복이 있는가 없는가</a:t>
            </a:r>
          </a:p>
          <a:p>
            <a:r>
              <a:rPr sz="1600" b="0">
                <a:solidFill>
                  <a:srgbClr val="5A6672"/>
                </a:solidFill>
                <a:latin typeface="Malgun Gothic"/>
              </a:rPr>
              <a:t>    –  Q1은 HOSPITALS 접근이 다섯 번 반복된 구조였다</a:t>
            </a:r>
          </a:p>
          <a:p>
            <a:r>
              <a:rPr sz="1600" b="0">
                <a:solidFill>
                  <a:srgbClr val="5A6672"/>
                </a:solidFill>
                <a:latin typeface="Malgun Gothic"/>
              </a:rPr>
              <a:t>    –  Q2는 모든 단계의 Starts가 1인 한 번짜리 해시 조인이다</a:t>
            </a:r>
          </a:p>
          <a:p>
            <a:r>
              <a:rPr sz="1800" b="0">
                <a:solidFill>
                  <a:srgbClr val="202830"/>
                </a:solidFill>
                <a:latin typeface="Malgun Gothic"/>
              </a:rPr>
              <a:t>•  HOSPITALS를 읽는 방식도 다르다</a:t>
            </a:r>
          </a:p>
          <a:p>
            <a:r>
              <a:rPr sz="1600" b="0">
                <a:solidFill>
                  <a:srgbClr val="5A6672"/>
                </a:solidFill>
                <a:latin typeface="Malgun Gothic"/>
              </a:rPr>
              <a:t>    –  Q1 — INDEX UNIQUE SCAN으로 한 건씩 찾아 다섯 번 반복</a:t>
            </a:r>
          </a:p>
          <a:p>
            <a:r>
              <a:rPr sz="1600" b="0">
                <a:solidFill>
                  <a:srgbClr val="5A6672"/>
                </a:solidFill>
                <a:latin typeface="Malgun Gothic"/>
              </a:rPr>
              <a:t>    –  Q2 — INDEX RANGE SCAN으로 다섯 건을 한 번에 훑는다</a:t>
            </a:r>
          </a:p>
          <a:p>
            <a:r>
              <a:rPr sz="1800" b="0">
                <a:solidFill>
                  <a:srgbClr val="202830"/>
                </a:solidFill>
                <a:latin typeface="Malgun Gothic"/>
              </a:rPr>
              <a:t>•  그런데 비용은 거의 같다</a:t>
            </a:r>
          </a:p>
          <a:p>
            <a:r>
              <a:rPr sz="1600" b="0">
                <a:solidFill>
                  <a:srgbClr val="5A6672"/>
                </a:solidFill>
                <a:latin typeface="Malgun Gothic"/>
              </a:rPr>
              <a:t>    –  Q1의 HOSPITALS 몫 Buffers 13, Q2는 3 — 절대량이 둘 다 작다</a:t>
            </a:r>
          </a:p>
          <a:p>
            <a:r>
              <a:rPr sz="1600" b="0">
                <a:solidFill>
                  <a:srgbClr val="5A6672"/>
                </a:solidFill>
                <a:latin typeface="Malgun Gothic"/>
              </a:rPr>
              <a:t>    –  MEDICAL_CLAIMS 전체 스캔이 4,080 안팎으로 비용의 대부분을 차지한다</a:t>
            </a:r>
          </a:p>
          <a:p>
            <a:r>
              <a:rPr sz="1800" b="0">
                <a:solidFill>
                  <a:srgbClr val="202830"/>
                </a:solidFill>
                <a:latin typeface="Malgun Gothic"/>
              </a:rPr>
              <a:t>•  전체 Buffers는 Q1이 4,081, Q2가 4,083이다</a:t>
            </a:r>
          </a:p>
          <a:p>
            <a:r>
              <a:rPr sz="1600" b="0">
                <a:solidFill>
                  <a:srgbClr val="5A6672"/>
                </a:solidFill>
                <a:latin typeface="Malgun Gothic"/>
              </a:rPr>
              <a:t>    –  구조가 달라도 지배적인 비용 요인이 같으면 총량은 비슷해진다</a:t>
            </a:r>
          </a:p>
        </p:txBody>
      </p:sp>
    </p:spTree>
    <p:extLst>
      <p:ext uri="{BB962C8B-B14F-4D97-AF65-F5344CB8AC3E}">
        <p14:creationId xmlns:p14="http://schemas.microsoft.com/office/powerpoint/2010/main" val="2527730138"/>
      </p:ext>
    </p:extLst>
  </p:cSld>
  <p:clrMapOvr>
    <a:masterClrMapping/>
  </p:clrMapOvr>
</p:sld>
</file>

<file path=ppt/slides/slide4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Starts=5가 말해 주는 것</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관측 사실 — 결과는 15,029건인데 HOSPITALS 접근은 5번뿐이다</a:t>
            </a:r>
          </a:p>
          <a:p>
            <a:r>
              <a:rPr sz="1600" b="0">
                <a:solidFill>
                  <a:srgbClr val="5A6672"/>
                </a:solidFill>
                <a:latin typeface="Malgun Gothic"/>
              </a:rPr>
              <a:t>    –  문법대로라면 15,029번 실행됐어야 할 자리다</a:t>
            </a:r>
          </a:p>
          <a:p>
            <a:r>
              <a:rPr sz="1600" b="0">
                <a:solidFill>
                  <a:srgbClr val="5A6672"/>
                </a:solidFill>
                <a:latin typeface="Malgun Gothic"/>
              </a:rPr>
              <a:t>    –  실제로는 HOSP_ID의 값 종류인 5만큼만 실행됐다</a:t>
            </a:r>
          </a:p>
          <a:p>
            <a:r>
              <a:rPr sz="1800" b="0">
                <a:solidFill>
                  <a:srgbClr val="202830"/>
                </a:solidFill>
                <a:latin typeface="Malgun Gothic"/>
              </a:rPr>
              <a:t>•  원인 — 8.3절의 스칼라 서브쿼리 캐싱</a:t>
            </a:r>
          </a:p>
          <a:p>
            <a:r>
              <a:rPr sz="1600" b="0">
                <a:solidFill>
                  <a:srgbClr val="5A6672"/>
                </a:solidFill>
                <a:latin typeface="Malgun Gothic"/>
              </a:rPr>
              <a:t>    –  같은 HOSP_ID가 다시 들어오면 이미 계산한 병원명을 캐시에서 꺼낸다</a:t>
            </a:r>
          </a:p>
          <a:p>
            <a:r>
              <a:rPr sz="1600" b="0">
                <a:solidFill>
                  <a:srgbClr val="5A6672"/>
                </a:solidFill>
                <a:latin typeface="Malgun Gothic"/>
              </a:rPr>
              <a:t>    –  값이 1부터 5까지 다섯 종류뿐이라 실제 실행도 다섯 번으로 끝난다</a:t>
            </a:r>
          </a:p>
          <a:p>
            <a:r>
              <a:rPr sz="1800" b="0">
                <a:solidFill>
                  <a:srgbClr val="202830"/>
                </a:solidFill>
                <a:latin typeface="Malgun Gothic"/>
              </a:rPr>
              <a:t>•  이 관측이 중요한 이유</a:t>
            </a:r>
          </a:p>
          <a:p>
            <a:r>
              <a:rPr sz="1600" b="0">
                <a:solidFill>
                  <a:srgbClr val="5A6672"/>
                </a:solidFill>
                <a:latin typeface="Malgun Gothic"/>
              </a:rPr>
              <a:t>    –  문법이 그리는 실행 그림과 실제 실행이 다르다는 직접 증거다</a:t>
            </a:r>
          </a:p>
          <a:p>
            <a:r>
              <a:rPr sz="1600" b="0">
                <a:solidFill>
                  <a:srgbClr val="5A6672"/>
                </a:solidFill>
                <a:latin typeface="Malgun Gothic"/>
              </a:rPr>
              <a:t>    –  Starts 하나만 봐도 캐싱 작동 여부를 판별할 수 있다</a:t>
            </a:r>
          </a:p>
          <a:p>
            <a:r>
              <a:rPr sz="1800" b="0">
                <a:solidFill>
                  <a:srgbClr val="202830"/>
                </a:solidFill>
                <a:latin typeface="Malgun Gothic"/>
              </a:rPr>
              <a:t>•  점검 습관 — 결과 행 수와 Starts를 나란히 놓고 본다</a:t>
            </a:r>
          </a:p>
          <a:p>
            <a:r>
              <a:rPr sz="1600" b="0">
                <a:solidFill>
                  <a:srgbClr val="5A6672"/>
                </a:solidFill>
                <a:latin typeface="Malgun Gothic"/>
              </a:rPr>
              <a:t>    –  둘의 격차가 크면 캐싱이나 다른 내부 변환이 개입한 것이다</a:t>
            </a:r>
          </a:p>
        </p:txBody>
      </p:sp>
    </p:spTree>
    <p:extLst>
      <p:ext uri="{BB962C8B-B14F-4D97-AF65-F5344CB8AC3E}">
        <p14:creationId xmlns:p14="http://schemas.microsoft.com/office/powerpoint/2010/main" val="1416551938"/>
      </p:ext>
    </p:extLst>
  </p:cSld>
  <p:clrMapOvr>
    <a:masterClrMapping/>
  </p:clrMapOvr>
</p:sld>
</file>

<file path=ppt/slides/slide4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Buffers 4,081 vs 4,083 — 통념의 반증</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실측 결과 — 두 방식의 Buffers가 거의 같다</a:t>
            </a:r>
          </a:p>
          <a:p>
            <a:r>
              <a:rPr sz="1600" b="0">
                <a:solidFill>
                  <a:srgbClr val="5A6672"/>
                </a:solidFill>
                <a:latin typeface="Malgun Gothic"/>
              </a:rPr>
              <a:t>    –  Q1 스칼라 서브쿼리 4,081 / Q2 JOIN 4,083</a:t>
            </a:r>
          </a:p>
          <a:p>
            <a:r>
              <a:rPr sz="1600" b="0">
                <a:solidFill>
                  <a:srgbClr val="5A6672"/>
                </a:solidFill>
                <a:latin typeface="Malgun Gothic"/>
              </a:rPr>
              <a:t>    –  결과 행은 15,029건으로 완전히 동일한 상태에서의 비교다</a:t>
            </a:r>
          </a:p>
          <a:p>
            <a:r>
              <a:rPr sz="1800" b="0">
                <a:solidFill>
                  <a:srgbClr val="202830"/>
                </a:solidFill>
                <a:latin typeface="Malgun Gothic"/>
              </a:rPr>
              <a:t>•  통념이 예측한 것 — 스칼라 서브쿼리가 크게 불리할 것</a:t>
            </a:r>
          </a:p>
          <a:p>
            <a:r>
              <a:rPr sz="1600" b="0">
                <a:solidFill>
                  <a:srgbClr val="5A6672"/>
                </a:solidFill>
                <a:latin typeface="Malgun Gothic"/>
              </a:rPr>
              <a:t>    –  반복 실행이 누적되어 조인보다 훨씬 비쌀 것이라는 예측이었다</a:t>
            </a:r>
          </a:p>
          <a:p>
            <a:r>
              <a:rPr sz="1600" b="0">
                <a:solidFill>
                  <a:srgbClr val="5A6672"/>
                </a:solidFill>
                <a:latin typeface="Malgun Gothic"/>
              </a:rPr>
              <a:t>    –  실측은 그 예측을 지지하지 않는다</a:t>
            </a:r>
          </a:p>
          <a:p>
            <a:r>
              <a:rPr sz="1800" b="0">
                <a:solidFill>
                  <a:srgbClr val="202830"/>
                </a:solidFill>
                <a:latin typeface="Malgun Gothic"/>
              </a:rPr>
              <a:t>•  통념이 성립하지 않은 이유</a:t>
            </a:r>
          </a:p>
          <a:p>
            <a:r>
              <a:rPr sz="1600" b="0">
                <a:solidFill>
                  <a:srgbClr val="5A6672"/>
                </a:solidFill>
                <a:latin typeface="Malgun Gothic"/>
              </a:rPr>
              <a:t>    –  캐싱으로 실제 반복이 5회로 줄어 누적 비용이 생기지 않았다</a:t>
            </a:r>
          </a:p>
          <a:p>
            <a:r>
              <a:rPr sz="1600" b="0">
                <a:solidFill>
                  <a:srgbClr val="5A6672"/>
                </a:solidFill>
                <a:latin typeface="Malgun Gothic"/>
              </a:rPr>
              <a:t>    –  두 방식 모두 원본 테이블을 한 번만 읽는 구조로 수렴했다</a:t>
            </a:r>
          </a:p>
          <a:p>
            <a:r>
              <a:rPr sz="1800" b="0">
                <a:solidFill>
                  <a:srgbClr val="202830"/>
                </a:solidFill>
                <a:latin typeface="Malgun Gothic"/>
              </a:rPr>
              <a:t>•  올바른 결론 — 스칼라 서브쿼리가 항상 안전하다는 뜻은 아니다</a:t>
            </a:r>
          </a:p>
          <a:p>
            <a:r>
              <a:rPr sz="1600" b="0">
                <a:solidFill>
                  <a:srgbClr val="5A6672"/>
                </a:solidFill>
                <a:latin typeface="Malgun Gothic"/>
              </a:rPr>
              <a:t>    –  참조 값의 종류가 적다는 조건이 붙은 결론이다</a:t>
            </a:r>
          </a:p>
          <a:p>
            <a:r>
              <a:rPr sz="1600" b="0">
                <a:solidFill>
                  <a:srgbClr val="5A6672"/>
                </a:solidFill>
                <a:latin typeface="Malgun Gothic"/>
              </a:rPr>
              <a:t>    –  조건이 달라지면 결론도 달라질 수 있으므로 매번 실측한다</a:t>
            </a:r>
          </a:p>
        </p:txBody>
      </p:sp>
    </p:spTree>
    <p:extLst>
      <p:ext uri="{BB962C8B-B14F-4D97-AF65-F5344CB8AC3E}">
        <p14:creationId xmlns:p14="http://schemas.microsoft.com/office/powerpoint/2010/main" val="1681628093"/>
      </p:ext>
    </p:extLst>
  </p:cSld>
  <p:clrMapOvr>
    <a:masterClrMapping/>
  </p:clrMapOvr>
</p:sld>
</file>

<file path=ppt/slides/slide414.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107996"/>
          </a:xfrm>
          <a:prstGeom prst="rect">
            <a:avLst/>
          </a:prstGeom>
          <a:noFill/>
        </p:spPr>
        <p:txBody>
          <a:bodyPr wrap="square">
            <a:spAutoFit/>
          </a:bodyPr>
          <a:lstStyle/>
          <a:p>
            <a:r>
              <a:rPr lang="en-US" sz="6600" b="1" dirty="0">
                <a:solidFill>
                  <a:srgbClr val="C0392B"/>
                </a:solidFill>
                <a:latin typeface="Malgun Gothic"/>
              </a:rPr>
              <a:t>10</a:t>
            </a:r>
            <a:r>
              <a:rPr sz="6600" b="1" dirty="0">
                <a:solidFill>
                  <a:srgbClr val="C0392B"/>
                </a:solidFill>
                <a:latin typeface="Malgun Gothic"/>
              </a:rPr>
              <a:t>.6</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Bad SQL — 상관 서브쿼리가 항상 저렴하지는 않다</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소재 — 자기 병원 평균보다 큰 청구</a:t>
            </a:r>
          </a:p>
          <a:p>
            <a:r>
              <a:rPr sz="1600" b="0">
                <a:solidFill>
                  <a:srgbClr val="C5CED6"/>
                </a:solidFill>
                <a:latin typeface="Malgun Gothic"/>
              </a:rPr>
              <a:t>•  VW_SQ_1 변환 읽기</a:t>
            </a:r>
          </a:p>
          <a:p>
            <a:r>
              <a:rPr sz="1600" b="0">
                <a:solidFill>
                  <a:srgbClr val="C5CED6"/>
                </a:solidFill>
                <a:latin typeface="Malgun Gothic"/>
              </a:rPr>
              <a:t>•  두 번의 Full Scan</a:t>
            </a:r>
          </a:p>
          <a:p>
            <a:r>
              <a:rPr sz="1600" b="0">
                <a:solidFill>
                  <a:srgbClr val="C5CED6"/>
                </a:solidFill>
                <a:latin typeface="Malgun Gothic"/>
              </a:rPr>
              <a:t>•  Buffers 6,612가 나온 이유</a:t>
            </a:r>
          </a:p>
        </p:txBody>
      </p:sp>
    </p:spTree>
    <p:extLst>
      <p:ext uri="{BB962C8B-B14F-4D97-AF65-F5344CB8AC3E}">
        <p14:creationId xmlns:p14="http://schemas.microsoft.com/office/powerpoint/2010/main" val="4108138571"/>
      </p:ext>
    </p:extLst>
  </p:cSld>
  <p:clrMapOvr>
    <a:masterClrMapping/>
  </p:clrMapOvr>
</p:sld>
</file>

<file path=ppt/slides/slide4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소재 — 자기 병원 평균보다 큰 청구 찾기</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요구사항 — 각 청구가 자신이 속한 병원의 평균 총액보다 큰지 판정한다</a:t>
            </a:r>
          </a:p>
          <a:p>
            <a:r>
              <a:rPr sz="1600" b="0">
                <a:solidFill>
                  <a:srgbClr val="5A6672"/>
                </a:solidFill>
                <a:latin typeface="Malgun Gothic"/>
              </a:rPr>
              <a:t>    –  비교 기준이 행마다 다르다 — 병원이 다르면 평균도 다르다</a:t>
            </a:r>
          </a:p>
          <a:p>
            <a:r>
              <a:rPr sz="1600" b="0">
                <a:solidFill>
                  <a:srgbClr val="5A6672"/>
                </a:solidFill>
                <a:latin typeface="Malgun Gothic"/>
              </a:rPr>
              <a:t>    –  조건은 앞 절과 같이 HOSP_ID가 5 이하로 한정한다</a:t>
            </a:r>
          </a:p>
          <a:p>
            <a:r>
              <a:rPr sz="1800" b="0">
                <a:solidFill>
                  <a:srgbClr val="202830"/>
                </a:solidFill>
                <a:latin typeface="Malgun Gothic"/>
              </a:rPr>
              <a:t>•  자연스러운 작성 방식 — WHERE 절의 상관 서브쿼리</a:t>
            </a:r>
          </a:p>
          <a:p>
            <a:r>
              <a:rPr sz="1600" b="0">
                <a:solidFill>
                  <a:srgbClr val="5A6672"/>
                </a:solidFill>
                <a:latin typeface="Malgun Gothic"/>
              </a:rPr>
              <a:t>    –  서브쿼리가 바깥 행의 HOSP_ID를 받아 그 병원의 평균을 구한다</a:t>
            </a:r>
          </a:p>
          <a:p>
            <a:r>
              <a:rPr sz="1600" b="0">
                <a:solidFill>
                  <a:srgbClr val="5A6672"/>
                </a:solidFill>
                <a:latin typeface="Malgun Gothic"/>
              </a:rPr>
              <a:t>    –  바깥 행의 총액과 그 평균을 비교한다</a:t>
            </a:r>
          </a:p>
          <a:p>
            <a:r>
              <a:rPr sz="1800" b="0">
                <a:solidFill>
                  <a:srgbClr val="202830"/>
                </a:solidFill>
                <a:latin typeface="Malgun Gothic"/>
              </a:rPr>
              <a:t>•  실무에서 매우 흔한 패턴</a:t>
            </a:r>
          </a:p>
          <a:p>
            <a:r>
              <a:rPr sz="1600" b="0">
                <a:solidFill>
                  <a:srgbClr val="5A6672"/>
                </a:solidFill>
                <a:latin typeface="Malgun Gothic"/>
              </a:rPr>
              <a:t>    –  평균 이상, 최댓값과 동일, 그룹 상위 등 여러 요구사항이 같은 모양이다</a:t>
            </a:r>
          </a:p>
          <a:p>
            <a:r>
              <a:rPr sz="1600" b="0">
                <a:solidFill>
                  <a:srgbClr val="5A6672"/>
                </a:solidFill>
                <a:latin typeface="Malgun Gothic"/>
              </a:rPr>
              <a:t>    –  문법이 요구사항을 거의 그대로 옮겨 놓아 읽기도 쉽다</a:t>
            </a:r>
          </a:p>
          <a:p>
            <a:r>
              <a:rPr sz="1800" b="0">
                <a:solidFill>
                  <a:srgbClr val="202830"/>
                </a:solidFill>
                <a:latin typeface="Malgun Gothic"/>
              </a:rPr>
              <a:t>•  관전 포인트 — 옵티마이저는 이 문법을 어떤 구조로 바꾸는가</a:t>
            </a:r>
          </a:p>
        </p:txBody>
      </p:sp>
    </p:spTree>
    <p:extLst>
      <p:ext uri="{BB962C8B-B14F-4D97-AF65-F5344CB8AC3E}">
        <p14:creationId xmlns:p14="http://schemas.microsoft.com/office/powerpoint/2010/main" val="2779789385"/>
      </p:ext>
    </p:extLst>
  </p:cSld>
  <p:clrMapOvr>
    <a:masterClrMapping/>
  </p:clrMapOvr>
</p:sld>
</file>

<file path=ppt/slides/slide4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Q3. 그룹 평균과 비교하는 상관 서브쿼리</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서브쿼리가 바깥 행의 hosp_id를 참조해 그 병원의 평균 총액을 구한다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Q3. 자신이 속한 병원의 평균보다 총액이 큰 청구</a:t>
            </a:r>
          </a:p>
          <a:p>
            <a:r>
              <a:rPr sz="1250" b="0">
                <a:solidFill>
                  <a:srgbClr val="E6E6E6"/>
                </a:solidFill>
                <a:latin typeface="Consolas"/>
              </a:rPr>
              <a:t>SELECT c.claim_id, c.hosp_id, c.total_amt</a:t>
            </a:r>
          </a:p>
          <a:p>
            <a:r>
              <a:rPr sz="1250" b="0">
                <a:solidFill>
                  <a:srgbClr val="E6E6E6"/>
                </a:solidFill>
                <a:latin typeface="Consolas"/>
              </a:rPr>
              <a:t>FROM medical_claims c</a:t>
            </a:r>
          </a:p>
          <a:p>
            <a:r>
              <a:rPr sz="1250" b="0">
                <a:solidFill>
                  <a:srgbClr val="E6E6E6"/>
                </a:solidFill>
                <a:latin typeface="Consolas"/>
              </a:rPr>
              <a:t>WHERE c.hosp_id &lt;= 5</a:t>
            </a:r>
          </a:p>
          <a:p>
            <a:r>
              <a:rPr sz="1250" b="0">
                <a:solidFill>
                  <a:srgbClr val="E6E6E6"/>
                </a:solidFill>
                <a:latin typeface="Consolas"/>
              </a:rPr>
              <a:t>AND   c.total_amt &gt; (SELECT AVG(c2.total_amt) FROM medical_claims c2 WHERE c2.hosp_id = c.hosp_id);</a:t>
            </a:r>
          </a:p>
          <a:p>
            <a:r>
              <a:rPr sz="1250" b="0">
                <a:solidFill>
                  <a:srgbClr val="E6E6E6"/>
                </a:solidFill>
                <a:latin typeface="Consolas"/>
              </a:rPr>
              <a:t> </a:t>
            </a:r>
          </a:p>
          <a:p>
            <a:r>
              <a:rPr sz="1250" b="0">
                <a:solidFill>
                  <a:srgbClr val="7EC699"/>
                </a:solidFill>
                <a:latin typeface="Consolas"/>
              </a:rPr>
              <a:t>-- 서브쿼리가 참조하는 테이블이 바깥과 같은 medical_claims다</a:t>
            </a:r>
          </a:p>
          <a:p>
            <a:r>
              <a:rPr sz="1250" b="0">
                <a:solidFill>
                  <a:srgbClr val="7EC699"/>
                </a:solidFill>
                <a:latin typeface="Consolas"/>
              </a:rPr>
              <a:t>-- 바깥 행의 c.hosp_id가 서브쿼리의 입력으로 들어간다</a:t>
            </a:r>
          </a:p>
          <a:p>
            <a:r>
              <a:rPr sz="1250" b="0">
                <a:solidFill>
                  <a:srgbClr val="7EC699"/>
                </a:solidFill>
                <a:latin typeface="Consolas"/>
              </a:rPr>
              <a:t>-- 문법상으로는 행마다 평균을 다시 계산하는 것처럼 보인다</a:t>
            </a:r>
          </a:p>
          <a:p>
            <a:r>
              <a:rPr sz="1250" b="0">
                <a:solidFill>
                  <a:srgbClr val="7EC699"/>
                </a:solidFill>
                <a:latin typeface="Consolas"/>
              </a:rPr>
              <a:t>-- 실제로는 옵티마이저가 이 구조를 다른 형태로 변환한다</a:t>
            </a:r>
          </a:p>
        </p:txBody>
      </p:sp>
    </p:spTree>
    <p:extLst>
      <p:ext uri="{BB962C8B-B14F-4D97-AF65-F5344CB8AC3E}">
        <p14:creationId xmlns:p14="http://schemas.microsoft.com/office/powerpoint/2010/main" val="411326900"/>
      </p:ext>
    </p:extLst>
  </p:cSld>
  <p:clrMapOvr>
    <a:masterClrMapping/>
  </p:clrMapOvr>
</p:sld>
</file>

<file path=ppt/slides/slide4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Q3 실행계획 — 상관 서브쿼리</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원본 SQL에 없던 VW_SQ_1이 등장한다 — 옵티마이저가 만든 내부 뷰</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Starts | E-Rows | A-Rows |   A-Time   | Buffers |</a:t>
            </a:r>
          </a:p>
          <a:p>
            <a:r>
              <a:rPr sz="1250" b="0">
                <a:solidFill>
                  <a:srgbClr val="E6E6E6"/>
                </a:solidFill>
                <a:latin typeface="Consolas"/>
              </a:rPr>
              <a:t>| 0  | SELECT STATEMENT     |                |      1 |        |   6462 |00:00:00.03 |    6612 |</a:t>
            </a:r>
          </a:p>
          <a:p>
            <a:r>
              <a:rPr sz="1250" b="0">
                <a:solidFill>
                  <a:srgbClr val="E6E6E6"/>
                </a:solidFill>
                <a:latin typeface="Consolas"/>
              </a:rPr>
              <a:t>| 1  |  HASH JOIN           |                |      1 |   7951 |   6462 |00:00:00.03 |    6612 |</a:t>
            </a:r>
          </a:p>
          <a:p>
            <a:r>
              <a:rPr sz="1250" b="0">
                <a:solidFill>
                  <a:srgbClr val="E6E6E6"/>
                </a:solidFill>
                <a:latin typeface="Consolas"/>
              </a:rPr>
              <a:t>| 2  |   VIEW               | VW_SQ_1        |      1 |     50 |      5 |00:00:00.02 |    3090 |</a:t>
            </a:r>
          </a:p>
          <a:p>
            <a:r>
              <a:rPr sz="1250" b="0">
                <a:solidFill>
                  <a:srgbClr val="E6E6E6"/>
                </a:solidFill>
                <a:latin typeface="Consolas"/>
              </a:rPr>
              <a:t>| 3  |    HASH GROUP BY     |                |      1 |     50 |      5 |00:00:00.02 |    3090 |</a:t>
            </a:r>
          </a:p>
          <a:p>
            <a:r>
              <a:rPr sz="1250" b="0">
                <a:solidFill>
                  <a:srgbClr val="E6E6E6"/>
                </a:solidFill>
                <a:latin typeface="Consolas"/>
              </a:rPr>
              <a:t>| 4  |     TABLE ACCESS FULL| MEDICAL_CLAIMS |      1 |  15283 |  15029 |00:00:00.01 |    3090 |</a:t>
            </a:r>
          </a:p>
          <a:p>
            <a:r>
              <a:rPr sz="1250" b="0">
                <a:solidFill>
                  <a:srgbClr val="E6E6E6"/>
                </a:solidFill>
                <a:latin typeface="Consolas"/>
              </a:rPr>
              <a:t>| 5  |   TABLE ACCESS FULL  | MEDICAL_CLAIMS |      1 |  15283 |  15029 |00:00:00.01 |    3518 |</a:t>
            </a:r>
          </a:p>
          <a:p>
            <a:r>
              <a:rPr sz="1250" b="0">
                <a:solidFill>
                  <a:srgbClr val="E6E6E6"/>
                </a:solidFill>
                <a:latin typeface="Consolas"/>
              </a:rPr>
              <a:t> </a:t>
            </a:r>
          </a:p>
          <a:p>
            <a:r>
              <a:rPr sz="1250" b="0">
                <a:solidFill>
                  <a:srgbClr val="7EC699"/>
                </a:solidFill>
                <a:latin typeface="Consolas"/>
              </a:rPr>
              <a:t>-- Id 4 : MEDICAL_CLAIMS 전체 스캔 -&gt; HASH GROUP BY -&gt; VW_SQ_1</a:t>
            </a:r>
          </a:p>
          <a:p>
            <a:r>
              <a:rPr sz="1250" b="0">
                <a:solidFill>
                  <a:srgbClr val="7EC699"/>
                </a:solidFill>
                <a:latin typeface="Consolas"/>
              </a:rPr>
              <a:t>-- Id 5 : MEDICAL_CLAIMS 전체 스캔 (원본 행 확보)</a:t>
            </a:r>
          </a:p>
          <a:p>
            <a:r>
              <a:rPr sz="1250" b="0">
                <a:solidFill>
                  <a:srgbClr val="7EC699"/>
                </a:solidFill>
                <a:latin typeface="Consolas"/>
              </a:rPr>
              <a:t>-- 같은 테이블에 대한 TABLE ACCESS FULL이 두 번 나타난다</a:t>
            </a:r>
          </a:p>
        </p:txBody>
      </p:sp>
    </p:spTree>
    <p:extLst>
      <p:ext uri="{BB962C8B-B14F-4D97-AF65-F5344CB8AC3E}">
        <p14:creationId xmlns:p14="http://schemas.microsoft.com/office/powerpoint/2010/main" val="1856277920"/>
      </p:ext>
    </p:extLst>
  </p:cSld>
  <p:clrMapOvr>
    <a:masterClrMapping/>
  </p:clrMapOvr>
</p:sld>
</file>

<file path=ppt/slides/slide4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Q3 실행계획 읽는 법</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Id 4 → Id 3 → Id 2 — 기준값을 만드는 갈래</a:t>
            </a:r>
          </a:p>
          <a:p>
            <a:r>
              <a:rPr sz="1600" b="0">
                <a:solidFill>
                  <a:srgbClr val="5A6672"/>
                </a:solidFill>
                <a:latin typeface="Malgun Gothic"/>
              </a:rPr>
              <a:t>    –  MEDICAL_CLAIMS를 전체 스캔해 15,029건을 읽는다</a:t>
            </a:r>
          </a:p>
          <a:p>
            <a:r>
              <a:rPr sz="1600" b="0">
                <a:solidFill>
                  <a:srgbClr val="5A6672"/>
                </a:solidFill>
                <a:latin typeface="Malgun Gothic"/>
              </a:rPr>
              <a:t>    –  HASH GROUP BY로 HOSP_ID별 평균을 계산해 5건으로 줄인다</a:t>
            </a:r>
          </a:p>
          <a:p>
            <a:r>
              <a:rPr sz="1600" b="0">
                <a:solidFill>
                  <a:srgbClr val="5A6672"/>
                </a:solidFill>
                <a:latin typeface="Malgun Gothic"/>
              </a:rPr>
              <a:t>    –  그 결과를 VW_SQ_1이라는 내부 뷰로 감싼다 — Buffers 3,090</a:t>
            </a:r>
          </a:p>
          <a:p>
            <a:r>
              <a:rPr sz="1800" b="0">
                <a:solidFill>
                  <a:srgbClr val="202830"/>
                </a:solidFill>
                <a:latin typeface="Malgun Gothic"/>
              </a:rPr>
              <a:t>•  Id 5 — 비교 대상 행을 가져오는 갈래</a:t>
            </a:r>
          </a:p>
          <a:p>
            <a:r>
              <a:rPr sz="1600" b="0">
                <a:solidFill>
                  <a:srgbClr val="5A6672"/>
                </a:solidFill>
                <a:latin typeface="Malgun Gothic"/>
              </a:rPr>
              <a:t>    –  MEDICAL_CLAIMS를 다시 전체 스캔해 15,029건을 읽는다 — Buffers 3,518</a:t>
            </a:r>
          </a:p>
          <a:p>
            <a:r>
              <a:rPr sz="1800" b="0">
                <a:solidFill>
                  <a:srgbClr val="202830"/>
                </a:solidFill>
                <a:latin typeface="Malgun Gothic"/>
              </a:rPr>
              <a:t>•  Id 1 — 두 갈래를 HASH JOIN으로 결합한다</a:t>
            </a:r>
          </a:p>
          <a:p>
            <a:r>
              <a:rPr sz="1600" b="0">
                <a:solidFill>
                  <a:srgbClr val="5A6672"/>
                </a:solidFill>
                <a:latin typeface="Malgun Gothic"/>
              </a:rPr>
              <a:t>    –  HOSP_ID를 연결 고리로 각 행에 자기 병원 평균을 붙인다</a:t>
            </a:r>
          </a:p>
          <a:p>
            <a:r>
              <a:rPr sz="1600" b="0">
                <a:solidFill>
                  <a:srgbClr val="5A6672"/>
                </a:solidFill>
                <a:latin typeface="Malgun Gothic"/>
              </a:rPr>
              <a:t>    –  조건을 통과한 6,462건이 최종 결과가 된다</a:t>
            </a:r>
          </a:p>
          <a:p>
            <a:r>
              <a:rPr sz="1800" b="0">
                <a:solidFill>
                  <a:srgbClr val="202830"/>
                </a:solidFill>
                <a:latin typeface="Malgun Gothic"/>
              </a:rPr>
              <a:t>•  모든 단계의 Starts가 1이다 — 반복 실행은 일어나지 않았다</a:t>
            </a:r>
          </a:p>
          <a:p>
            <a:r>
              <a:rPr sz="1600" b="0">
                <a:solidFill>
                  <a:srgbClr val="5A6672"/>
                </a:solidFill>
                <a:latin typeface="Malgun Gothic"/>
              </a:rPr>
              <a:t>    –  옵티마이저가 상관 서브쿼리를 조인 구조로 풀어냈다는 뜻이다</a:t>
            </a:r>
          </a:p>
        </p:txBody>
      </p:sp>
    </p:spTree>
    <p:extLst>
      <p:ext uri="{BB962C8B-B14F-4D97-AF65-F5344CB8AC3E}">
        <p14:creationId xmlns:p14="http://schemas.microsoft.com/office/powerpoint/2010/main" val="3311408088"/>
      </p:ext>
    </p:extLst>
  </p:cSld>
  <p:clrMapOvr>
    <a:masterClrMapping/>
  </p:clrMapOvr>
</p:sld>
</file>

<file path=ppt/slides/slide4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두 번의 Full Scan은 각각 무엇을 하나</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Id 4의 Full Scan — 비교 기준을 만들기 위한 스캔</a:t>
            </a:r>
          </a:p>
          <a:p>
            <a:r>
              <a:rPr sz="1600" b="0">
                <a:solidFill>
                  <a:srgbClr val="5A6672"/>
                </a:solidFill>
                <a:latin typeface="Malgun Gothic"/>
              </a:rPr>
              <a:t>    –  HOSP_ID별 AVG(total_amt)를 미리 한 번에 계산하려고 읽는다</a:t>
            </a:r>
          </a:p>
          <a:p>
            <a:r>
              <a:rPr sz="1600" b="0">
                <a:solidFill>
                  <a:srgbClr val="5A6672"/>
                </a:solidFill>
                <a:latin typeface="Malgun Gothic"/>
              </a:rPr>
              <a:t>    –  상관 서브쿼리를 그룹별 평균 미리 계산 형태로 변환한 결과다</a:t>
            </a:r>
          </a:p>
          <a:p>
            <a:r>
              <a:rPr sz="1600" b="0">
                <a:solidFill>
                  <a:srgbClr val="5A6672"/>
                </a:solidFill>
                <a:latin typeface="Malgun Gothic"/>
              </a:rPr>
              <a:t>    –  읽은 15,029건이 집계를 거쳐 5건으로 압축된다</a:t>
            </a:r>
          </a:p>
          <a:p>
            <a:r>
              <a:rPr sz="1800" b="0">
                <a:solidFill>
                  <a:srgbClr val="202830"/>
                </a:solidFill>
                <a:latin typeface="Malgun Gothic"/>
              </a:rPr>
              <a:t>•  Id 5의 Full Scan — 비교 대상 행을 가져오기 위한 스캔</a:t>
            </a:r>
          </a:p>
          <a:p>
            <a:r>
              <a:rPr sz="1600" b="0">
                <a:solidFill>
                  <a:srgbClr val="5A6672"/>
                </a:solidFill>
                <a:latin typeface="Malgun Gothic"/>
              </a:rPr>
              <a:t>    –  원래 바깥 쿼리가 필요로 하던 청구 행 자체를 읽는다</a:t>
            </a:r>
          </a:p>
          <a:p>
            <a:r>
              <a:rPr sz="1600" b="0">
                <a:solidFill>
                  <a:srgbClr val="5A6672"/>
                </a:solidFill>
                <a:latin typeface="Malgun Gothic"/>
              </a:rPr>
              <a:t>    –  조건 HOSP_ID &lt;= 5에 해당하는 15,029건을 확보한다</a:t>
            </a:r>
          </a:p>
          <a:p>
            <a:r>
              <a:rPr sz="1800" b="0">
                <a:solidFill>
                  <a:srgbClr val="202830"/>
                </a:solidFill>
                <a:latin typeface="Malgun Gothic"/>
              </a:rPr>
              <a:t>•  두 스캔은 목적이 서로 다르다</a:t>
            </a:r>
          </a:p>
          <a:p>
            <a:r>
              <a:rPr sz="1600" b="0">
                <a:solidFill>
                  <a:srgbClr val="5A6672"/>
                </a:solidFill>
                <a:latin typeface="Malgun Gothic"/>
              </a:rPr>
              <a:t>    –  하나는 기준값을 구하기 위한 것, 다른 하나는 대상을 얻기 위한 것</a:t>
            </a:r>
          </a:p>
          <a:p>
            <a:r>
              <a:rPr sz="1600" b="0">
                <a:solidFill>
                  <a:srgbClr val="5A6672"/>
                </a:solidFill>
                <a:latin typeface="Malgun Gothic"/>
              </a:rPr>
              <a:t>    –  그래서 하나로 합칠 수 없고 각각 읽어야 한다</a:t>
            </a:r>
          </a:p>
          <a:p>
            <a:r>
              <a:rPr sz="1800" b="0">
                <a:solidFill>
                  <a:srgbClr val="202830"/>
                </a:solidFill>
                <a:latin typeface="Malgun Gothic"/>
              </a:rPr>
              <a:t>•  결과적으로 같은 테이블을 두 번 읽는 구조가 만들어진다</a:t>
            </a:r>
          </a:p>
        </p:txBody>
      </p:sp>
    </p:spTree>
    <p:extLst>
      <p:ext uri="{BB962C8B-B14F-4D97-AF65-F5344CB8AC3E}">
        <p14:creationId xmlns:p14="http://schemas.microsoft.com/office/powerpoint/2010/main" val="373308175"/>
      </p:ext>
    </p:extLst>
  </p:cSld>
  <p:clrMapOvr>
    <a:masterClrMapping/>
  </p:clrMapOvr>
</p:sld>
</file>

<file path=ppt/slides/slide4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Buffers 6,612의 분해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실측된 전체 Buffers는 6,612다</a:t>
            </a:r>
          </a:p>
          <a:p>
            <a:r>
              <a:rPr sz="1600" b="0">
                <a:solidFill>
                  <a:srgbClr val="5A6672"/>
                </a:solidFill>
                <a:latin typeface="Malgun Gothic"/>
              </a:rPr>
              <a:t>    –  Id 4 계열(평균 계산용 스캔) — 3,090</a:t>
            </a:r>
          </a:p>
          <a:p>
            <a:r>
              <a:rPr sz="1600" b="0">
                <a:solidFill>
                  <a:srgbClr val="5A6672"/>
                </a:solidFill>
                <a:latin typeface="Malgun Gothic"/>
              </a:rPr>
              <a:t>    –  Id 5(원본 조회용 스캔) — 3,518</a:t>
            </a:r>
          </a:p>
          <a:p>
            <a:r>
              <a:rPr sz="1600" b="0">
                <a:solidFill>
                  <a:srgbClr val="5A6672"/>
                </a:solidFill>
                <a:latin typeface="Malgun Gothic"/>
              </a:rPr>
              <a:t>    –  두 값을 더하면 약 6,608로 실측 6,612와 거의 일치한다</a:t>
            </a:r>
          </a:p>
          <a:p>
            <a:r>
              <a:rPr sz="1800" b="0">
                <a:solidFill>
                  <a:srgbClr val="202830"/>
                </a:solidFill>
                <a:latin typeface="Malgun Gothic"/>
              </a:rPr>
              <a:t>•  앞 절과의 비교</a:t>
            </a:r>
          </a:p>
          <a:p>
            <a:r>
              <a:rPr sz="1600" b="0">
                <a:solidFill>
                  <a:srgbClr val="5A6672"/>
                </a:solidFill>
                <a:latin typeface="Malgun Gothic"/>
              </a:rPr>
              <a:t>    –  Q1 4,081 / Q2 4,083 — 두 방식 모두 원본을 한 번만 읽었다</a:t>
            </a:r>
          </a:p>
          <a:p>
            <a:r>
              <a:rPr sz="1600" b="0">
                <a:solidFill>
                  <a:srgbClr val="5A6672"/>
                </a:solidFill>
                <a:latin typeface="Malgun Gothic"/>
              </a:rPr>
              <a:t>    –  Q3 6,612 — 원본을 두 번 읽는 구조라 그만큼 커졌다</a:t>
            </a:r>
          </a:p>
          <a:p>
            <a:r>
              <a:rPr sz="1800" b="0">
                <a:solidFill>
                  <a:srgbClr val="202830"/>
                </a:solidFill>
                <a:latin typeface="Malgun Gothic"/>
              </a:rPr>
              <a:t>•  해석 — 비용의 차이는 문법이 아니라 스캔 횟수에서 나왔다</a:t>
            </a:r>
          </a:p>
          <a:p>
            <a:r>
              <a:rPr sz="1600" b="0">
                <a:solidFill>
                  <a:srgbClr val="5A6672"/>
                </a:solidFill>
                <a:latin typeface="Malgun Gothic"/>
              </a:rPr>
              <a:t>    –  테이블 스캔이 비용의 대부분을 차지하는 상황이었다</a:t>
            </a:r>
          </a:p>
          <a:p>
            <a:r>
              <a:rPr sz="1600" b="0">
                <a:solidFill>
                  <a:srgbClr val="5A6672"/>
                </a:solidFill>
                <a:latin typeface="Malgun Gothic"/>
              </a:rPr>
              <a:t>    –  그 스캔이 두 번 필요한 구조는 한 번짜리보다 비쌀 수밖에 없다</a:t>
            </a:r>
          </a:p>
          <a:p>
            <a:r>
              <a:rPr sz="1800" b="0">
                <a:solidFill>
                  <a:srgbClr val="202830"/>
                </a:solidFill>
                <a:latin typeface="Malgun Gothic"/>
              </a:rPr>
              <a:t>•  점검 습관 — 계획에서 같은 테이블 이름이 몇 번 나오는지 센다</a:t>
            </a:r>
          </a:p>
          <a:p>
            <a:r>
              <a:rPr sz="1600" b="0">
                <a:solidFill>
                  <a:srgbClr val="5A6672"/>
                </a:solidFill>
                <a:latin typeface="Malgun Gothic"/>
              </a:rPr>
              <a:t>    –  가장 빠르고 확실한 비용 예측 단서 가운데 하나다</a:t>
            </a:r>
          </a:p>
        </p:txBody>
      </p:sp>
    </p:spTree>
    <p:extLst>
      <p:ext uri="{BB962C8B-B14F-4D97-AF65-F5344CB8AC3E}">
        <p14:creationId xmlns:p14="http://schemas.microsoft.com/office/powerpoint/2010/main" val="3937423724"/>
      </p:ext>
    </p:extLst>
  </p:cSld>
  <p:clrMapOvr>
    <a:masterClrMapping/>
  </p:clrMapOvr>
</p:sld>
</file>

<file path=ppt/slides/slide4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'옵티마이저가 알아서 해준다'의 한계</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흔한 주장 — 상관 서브쿼리는 옵티마이저가 최적화하니 안심해도 된다</a:t>
            </a:r>
          </a:p>
          <a:p>
            <a:r>
              <a:rPr sz="1800" b="0">
                <a:solidFill>
                  <a:srgbClr val="202830"/>
                </a:solidFill>
                <a:latin typeface="Malgun Gothic"/>
              </a:rPr>
              <a:t>•  Q3가 그 주장의 반례다</a:t>
            </a:r>
          </a:p>
          <a:p>
            <a:r>
              <a:rPr sz="1600" b="0">
                <a:solidFill>
                  <a:srgbClr val="5A6672"/>
                </a:solidFill>
                <a:latin typeface="Malgun Gothic"/>
              </a:rPr>
              <a:t>    –  옵티마이저는 실제로 최적화했다 — 행마다 반복 실행을 피했다</a:t>
            </a:r>
          </a:p>
          <a:p>
            <a:r>
              <a:rPr sz="1600" b="0">
                <a:solidFill>
                  <a:srgbClr val="5A6672"/>
                </a:solidFill>
                <a:latin typeface="Malgun Gothic"/>
              </a:rPr>
              <a:t>    –  그룹 집계를 미리 계산하는 영리한 형태로 변환했다</a:t>
            </a:r>
          </a:p>
          <a:p>
            <a:r>
              <a:rPr sz="1600" b="0">
                <a:solidFill>
                  <a:srgbClr val="5A6672"/>
                </a:solidFill>
                <a:latin typeface="Malgun Gothic"/>
              </a:rPr>
              <a:t>    –  그런데도 Q1·Q2보다 비쌌다</a:t>
            </a:r>
          </a:p>
          <a:p>
            <a:r>
              <a:rPr sz="1800" b="0">
                <a:solidFill>
                  <a:srgbClr val="202830"/>
                </a:solidFill>
                <a:latin typeface="Malgun Gothic"/>
              </a:rPr>
              <a:t>•  두 문장을 구분해야 한다</a:t>
            </a:r>
          </a:p>
          <a:p>
            <a:r>
              <a:rPr sz="1600" b="0">
                <a:solidFill>
                  <a:srgbClr val="5A6672"/>
                </a:solidFill>
                <a:latin typeface="Malgun Gothic"/>
              </a:rPr>
              <a:t>    –  옵티마이저가 알아서 최적화해 준다 — 대체로 맞다</a:t>
            </a:r>
          </a:p>
          <a:p>
            <a:r>
              <a:rPr sz="1600" b="0">
                <a:solidFill>
                  <a:srgbClr val="5A6672"/>
                </a:solidFill>
                <a:latin typeface="Malgun Gothic"/>
              </a:rPr>
              <a:t>    –  그 결과가 항상 가장 저렴하다 — 보장되지 않는다</a:t>
            </a:r>
          </a:p>
          <a:p>
            <a:r>
              <a:rPr sz="1800" b="0">
                <a:solidFill>
                  <a:srgbClr val="202830"/>
                </a:solidFill>
                <a:latin typeface="Malgun Gothic"/>
              </a:rPr>
              <a:t>•  이유 — 옵티마이저는 주어진 SQL 구조 안에서만 최선을 다한다</a:t>
            </a:r>
          </a:p>
          <a:p>
            <a:r>
              <a:rPr sz="1600" b="0">
                <a:solidFill>
                  <a:srgbClr val="5A6672"/>
                </a:solidFill>
                <a:latin typeface="Malgun Gothic"/>
              </a:rPr>
              <a:t>    –  SQL 자체가 같은 테이블을 두 번 읽어야 하는 구조라면</a:t>
            </a:r>
          </a:p>
          <a:p>
            <a:r>
              <a:rPr sz="1600" b="0">
                <a:solidFill>
                  <a:srgbClr val="5A6672"/>
                </a:solidFill>
                <a:latin typeface="Malgun Gothic"/>
              </a:rPr>
              <a:t>    –  변환은 그 구조의 한계를 완전히 넘어서지 못한다</a:t>
            </a:r>
          </a:p>
          <a:p>
            <a:r>
              <a:rPr sz="1800" b="0">
                <a:solidFill>
                  <a:srgbClr val="202830"/>
                </a:solidFill>
                <a:latin typeface="Malgun Gothic"/>
              </a:rPr>
              <a:t>•  따라서 SQL을 쓸 때 데이터를 몇 번 읽게 되는지를 먼저 생각해야 한다</a:t>
            </a:r>
          </a:p>
        </p:txBody>
      </p:sp>
    </p:spTree>
    <p:extLst>
      <p:ext uri="{BB962C8B-B14F-4D97-AF65-F5344CB8AC3E}">
        <p14:creationId xmlns:p14="http://schemas.microsoft.com/office/powerpoint/2010/main" val="3515740755"/>
      </p:ext>
    </p:extLst>
  </p:cSld>
  <p:clrMapOvr>
    <a:masterClrMapping/>
  </p:clrMapOvr>
</p:sld>
</file>

<file path=ppt/slides/slide422.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107996"/>
          </a:xfrm>
          <a:prstGeom prst="rect">
            <a:avLst/>
          </a:prstGeom>
          <a:noFill/>
        </p:spPr>
        <p:txBody>
          <a:bodyPr wrap="square">
            <a:spAutoFit/>
          </a:bodyPr>
          <a:lstStyle/>
          <a:p>
            <a:r>
              <a:rPr lang="en-US" sz="6600" b="1" dirty="0">
                <a:solidFill>
                  <a:srgbClr val="C0392B"/>
                </a:solidFill>
                <a:latin typeface="Malgun Gothic"/>
              </a:rPr>
              <a:t>10</a:t>
            </a:r>
            <a:r>
              <a:rPr sz="6600" b="1" dirty="0">
                <a:solidFill>
                  <a:srgbClr val="C0392B"/>
                </a:solidFill>
                <a:latin typeface="Malgun Gothic"/>
              </a:rPr>
              <a:t>.7</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Tuning — 인라인 뷰의 WHERE는 HAVING과 같아지는가</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Q4 인라인 뷰 / Q5 HAVING</a:t>
            </a:r>
          </a:p>
          <a:p>
            <a:r>
              <a:rPr sz="1600" b="0">
                <a:solidFill>
                  <a:srgbClr val="C5CED6"/>
                </a:solidFill>
                <a:latin typeface="Malgun Gothic"/>
              </a:rPr>
              <a:t>•  구조와 비용 비교</a:t>
            </a:r>
          </a:p>
          <a:p>
            <a:r>
              <a:rPr sz="1600" b="0">
                <a:solidFill>
                  <a:srgbClr val="C5CED6"/>
                </a:solidFill>
                <a:latin typeface="Malgun Gothic"/>
              </a:rPr>
              <a:t>•  뷰 병합(View Merging)</a:t>
            </a:r>
          </a:p>
          <a:p>
            <a:r>
              <a:rPr sz="1600" b="0">
                <a:solidFill>
                  <a:srgbClr val="C5CED6"/>
                </a:solidFill>
                <a:latin typeface="Malgun Gothic"/>
              </a:rPr>
              <a:t>•  병합이 안전하지 않은 경우</a:t>
            </a:r>
          </a:p>
        </p:txBody>
      </p:sp>
    </p:spTree>
    <p:extLst>
      <p:ext uri="{BB962C8B-B14F-4D97-AF65-F5344CB8AC3E}">
        <p14:creationId xmlns:p14="http://schemas.microsoft.com/office/powerpoint/2010/main" val="993986718"/>
      </p:ext>
    </p:extLst>
  </p:cSld>
  <p:clrMapOvr>
    <a:masterClrMapping/>
  </p:clrMapOvr>
</p:sld>
</file>

<file path=ppt/slides/slide4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Q4 인라인 뷰 / Q5 HAVING</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병원별 청구 건수가 1000건을 넘는 병원만 뽑는다 — 두 방식의 결과는 같다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Q4. 인라인 뷰 + 바깥 WHERE</a:t>
            </a:r>
          </a:p>
          <a:p>
            <a:r>
              <a:rPr sz="1250" b="0">
                <a:solidFill>
                  <a:srgbClr val="E6E6E6"/>
                </a:solidFill>
                <a:latin typeface="Consolas"/>
              </a:rPr>
              <a:t>SELECT * FROM (SELECT hosp_id, COUNT(*) cnt FROM medical_claims GROUP BY hosp_id) v</a:t>
            </a:r>
          </a:p>
          <a:p>
            <a:r>
              <a:rPr sz="1250" b="0">
                <a:solidFill>
                  <a:srgbClr val="E6E6E6"/>
                </a:solidFill>
                <a:latin typeface="Consolas"/>
              </a:rPr>
              <a:t>WHERE v.cnt &gt; 1000;</a:t>
            </a:r>
          </a:p>
          <a:p>
            <a:r>
              <a:rPr sz="1250" b="0">
                <a:solidFill>
                  <a:srgbClr val="E6E6E6"/>
                </a:solidFill>
                <a:latin typeface="Consolas"/>
              </a:rPr>
              <a:t> </a:t>
            </a:r>
          </a:p>
          <a:p>
            <a:r>
              <a:rPr sz="1250" b="0">
                <a:solidFill>
                  <a:srgbClr val="7EC699"/>
                </a:solidFill>
                <a:latin typeface="Consolas"/>
              </a:rPr>
              <a:t>-- Q5. HAVING으로 직접 작성</a:t>
            </a:r>
          </a:p>
          <a:p>
            <a:r>
              <a:rPr sz="1250" b="0">
                <a:solidFill>
                  <a:srgbClr val="E6E6E6"/>
                </a:solidFill>
                <a:latin typeface="Consolas"/>
              </a:rPr>
              <a:t>SELECT hosp_id, COUNT(*) cnt FROM medical_claims GROUP BY hosp_id HAVING COUNT(*) &gt; 1000;</a:t>
            </a:r>
          </a:p>
          <a:p>
            <a:r>
              <a:rPr sz="1250" b="0">
                <a:solidFill>
                  <a:srgbClr val="E6E6E6"/>
                </a:solidFill>
                <a:latin typeface="Consolas"/>
              </a:rPr>
              <a:t> </a:t>
            </a:r>
          </a:p>
          <a:p>
            <a:r>
              <a:rPr sz="1250" b="0">
                <a:solidFill>
                  <a:srgbClr val="7EC699"/>
                </a:solidFill>
                <a:latin typeface="Consolas"/>
              </a:rPr>
              <a:t>-- Q4 : 집계 결과 집합을 먼저 만들고 바깥에서 거르는 모양</a:t>
            </a:r>
          </a:p>
          <a:p>
            <a:r>
              <a:rPr sz="1250" b="0">
                <a:solidFill>
                  <a:srgbClr val="7EC699"/>
                </a:solidFill>
                <a:latin typeface="Consolas"/>
              </a:rPr>
              <a:t>-- Q5 : 집계와 필터가 한 문장 안에 붙어 있는 모양</a:t>
            </a:r>
          </a:p>
          <a:p>
            <a:r>
              <a:rPr sz="1250" b="0">
                <a:solidFill>
                  <a:srgbClr val="7EC699"/>
                </a:solidFill>
                <a:latin typeface="Consolas"/>
              </a:rPr>
              <a:t>-- 문법 골격은 다르지만 요구하는 결과는 완전히 같다</a:t>
            </a:r>
          </a:p>
          <a:p>
            <a:r>
              <a:rPr sz="1250" b="0">
                <a:solidFill>
                  <a:srgbClr val="7EC699"/>
                </a:solidFill>
                <a:latin typeface="Consolas"/>
              </a:rPr>
              <a:t>-- 관전 포인트 : 옵티마이저가 두 문장을 같은 구조로 만들 것인가</a:t>
            </a:r>
          </a:p>
        </p:txBody>
      </p:sp>
    </p:spTree>
    <p:extLst>
      <p:ext uri="{BB962C8B-B14F-4D97-AF65-F5344CB8AC3E}">
        <p14:creationId xmlns:p14="http://schemas.microsoft.com/office/powerpoint/2010/main" val="128902183"/>
      </p:ext>
    </p:extLst>
  </p:cSld>
  <p:clrMapOvr>
    <a:masterClrMapping/>
  </p:clrMapOvr>
</p:sld>
</file>

<file path=ppt/slides/slide4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Q4와 Q5 — 구조와 비용 비교</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오퍼레이션 트리는 다르지만 Buffers는 완전히 같다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a:t>
            </a:r>
          </a:p>
          <a:p>
            <a:r>
              <a:rPr sz="1250" b="0">
                <a:solidFill>
                  <a:srgbClr val="E6E6E6"/>
                </a:solidFill>
                <a:latin typeface="Consolas"/>
              </a:rPr>
              <a:t>| 쿼리             | Operation 구조                                 | Buffers |</a:t>
            </a:r>
          </a:p>
          <a:p>
            <a:r>
              <a:rPr sz="1250" b="0">
                <a:solidFill>
                  <a:srgbClr val="E6E6E6"/>
                </a:solidFill>
                <a:latin typeface="Consolas"/>
              </a:rPr>
              <a:t>+------------------+------------------------------------------------+---------+</a:t>
            </a:r>
          </a:p>
          <a:p>
            <a:r>
              <a:rPr sz="1250" b="0">
                <a:solidFill>
                  <a:srgbClr val="E6E6E6"/>
                </a:solidFill>
                <a:latin typeface="Consolas"/>
              </a:rPr>
              <a:t>| Q4 (인라인 뷰)   | FILTER -&gt; HASH GROUP BY -&gt; TABLE ACCESS FULL   |   3,090 |</a:t>
            </a:r>
          </a:p>
          <a:p>
            <a:r>
              <a:rPr sz="1250" b="0">
                <a:solidFill>
                  <a:srgbClr val="E6E6E6"/>
                </a:solidFill>
                <a:latin typeface="Consolas"/>
              </a:rPr>
              <a:t>| Q5 (HAVING)      | HASH GROUP BY(필터 내장) -&gt; TABLE ACCESS FULL  |   3,090 |</a:t>
            </a:r>
          </a:p>
          <a:p>
            <a:r>
              <a:rPr sz="1250" b="0">
                <a:solidFill>
                  <a:srgbClr val="E6E6E6"/>
                </a:solidFill>
                <a:latin typeface="Consolas"/>
              </a:rPr>
              <a:t>+------------------+------------------------------------------------+---------+</a:t>
            </a:r>
          </a:p>
          <a:p>
            <a:r>
              <a:rPr sz="1250" b="0">
                <a:solidFill>
                  <a:srgbClr val="E6E6E6"/>
                </a:solidFill>
                <a:latin typeface="Consolas"/>
              </a:rPr>
              <a:t> </a:t>
            </a:r>
          </a:p>
          <a:p>
            <a:r>
              <a:rPr sz="1250" b="0">
                <a:solidFill>
                  <a:srgbClr val="7EC699"/>
                </a:solidFill>
                <a:latin typeface="Consolas"/>
              </a:rPr>
              <a:t>-- 두 방식 모두 TABLE ACCESS FULL이 1회뿐이다</a:t>
            </a:r>
          </a:p>
          <a:p>
            <a:r>
              <a:rPr sz="1250" b="0">
                <a:solidFill>
                  <a:srgbClr val="7EC699"/>
                </a:solidFill>
                <a:latin typeface="Consolas"/>
              </a:rPr>
              <a:t>-- Q4에만 별도의 FILTER 단계가 하나 더 붙는다</a:t>
            </a:r>
          </a:p>
          <a:p>
            <a:r>
              <a:rPr sz="1250" b="0">
                <a:solidFill>
                  <a:srgbClr val="7EC699"/>
                </a:solidFill>
                <a:latin typeface="Consolas"/>
              </a:rPr>
              <a:t>-- 그럼에도 Buffers는 3,090으로 동일하다</a:t>
            </a:r>
          </a:p>
        </p:txBody>
      </p:sp>
    </p:spTree>
    <p:extLst>
      <p:ext uri="{BB962C8B-B14F-4D97-AF65-F5344CB8AC3E}">
        <p14:creationId xmlns:p14="http://schemas.microsoft.com/office/powerpoint/2010/main" val="3275124296"/>
      </p:ext>
    </p:extLst>
  </p:cSld>
  <p:clrMapOvr>
    <a:masterClrMapping/>
  </p:clrMapOvr>
</p:sld>
</file>

<file path=ppt/slides/slide4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뷰 병합 (View Merging)이란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옵티마이저의 또 다른 내부 변환</a:t>
            </a:r>
          </a:p>
          <a:p>
            <a:r>
              <a:rPr sz="1600" b="0">
                <a:solidFill>
                  <a:srgbClr val="5A6672"/>
                </a:solidFill>
                <a:latin typeface="Malgun Gothic"/>
              </a:rPr>
              <a:t>    –  인라인 뷰를 별도 단계로 두지 않고 바깥 쿼리와 한 덩어리로 합친다</a:t>
            </a:r>
          </a:p>
          <a:p>
            <a:r>
              <a:rPr sz="1600" b="0">
                <a:solidFill>
                  <a:srgbClr val="5A6672"/>
                </a:solidFill>
                <a:latin typeface="Malgun Gothic"/>
              </a:rPr>
              <a:t>    –  unnesting이 서브쿼리를 조인으로 푸는 것이라면, 병합은 뷰의 경계를 지우는 것이다</a:t>
            </a:r>
          </a:p>
          <a:p>
            <a:r>
              <a:rPr sz="1800" b="0">
                <a:solidFill>
                  <a:srgbClr val="202830"/>
                </a:solidFill>
                <a:latin typeface="Malgun Gothic"/>
              </a:rPr>
              <a:t>•  병합이 주는 이점</a:t>
            </a:r>
          </a:p>
          <a:p>
            <a:r>
              <a:rPr sz="1600" b="0">
                <a:solidFill>
                  <a:srgbClr val="5A6672"/>
                </a:solidFill>
                <a:latin typeface="Malgun Gothic"/>
              </a:rPr>
              <a:t>    –  중간 결과 집합을 따로 만들어 두는 부담이 사라진다</a:t>
            </a:r>
          </a:p>
          <a:p>
            <a:r>
              <a:rPr sz="1600" b="0">
                <a:solidFill>
                  <a:srgbClr val="5A6672"/>
                </a:solidFill>
                <a:latin typeface="Malgun Gothic"/>
              </a:rPr>
              <a:t>    –  바깥 조건을 안쪽으로 밀어 넣어 미리 걸러 낼 여지가 생긴다</a:t>
            </a:r>
          </a:p>
          <a:p>
            <a:r>
              <a:rPr sz="1600" b="0">
                <a:solidFill>
                  <a:srgbClr val="5A6672"/>
                </a:solidFill>
                <a:latin typeface="Malgun Gothic"/>
              </a:rPr>
              <a:t>    –  조인 순서 선택의 폭이 넓어져 더 나은 계획을 고를 수 있다</a:t>
            </a:r>
          </a:p>
          <a:p>
            <a:r>
              <a:rPr sz="1800" b="0">
                <a:solidFill>
                  <a:srgbClr val="202830"/>
                </a:solidFill>
                <a:latin typeface="Malgun Gothic"/>
              </a:rPr>
              <a:t>•  Q4에서 관측된 것</a:t>
            </a:r>
          </a:p>
          <a:p>
            <a:r>
              <a:rPr sz="1600" b="0">
                <a:solidFill>
                  <a:srgbClr val="5A6672"/>
                </a:solidFill>
                <a:latin typeface="Malgun Gothic"/>
              </a:rPr>
              <a:t>    –  테이블을 한 번만 읽고 Q5와 Buffers가 3,090으로 동일했다</a:t>
            </a:r>
          </a:p>
          <a:p>
            <a:r>
              <a:rPr sz="1600" b="0">
                <a:solidFill>
                  <a:srgbClr val="5A6672"/>
                </a:solidFill>
                <a:latin typeface="Malgun Gothic"/>
              </a:rPr>
              <a:t>    –  겉보기 SQL 스타일이 달라도 비용은 같을 수 있다는 사례다</a:t>
            </a:r>
          </a:p>
          <a:p>
            <a:r>
              <a:rPr sz="1800" b="0">
                <a:solidFill>
                  <a:srgbClr val="202830"/>
                </a:solidFill>
                <a:latin typeface="Malgun Gothic"/>
              </a:rPr>
              <a:t>•  따라서 인라인 뷰를 성능상의 이유로 무조건 피할 근거는 없다</a:t>
            </a:r>
          </a:p>
        </p:txBody>
      </p:sp>
    </p:spTree>
    <p:extLst>
      <p:ext uri="{BB962C8B-B14F-4D97-AF65-F5344CB8AC3E}">
        <p14:creationId xmlns:p14="http://schemas.microsoft.com/office/powerpoint/2010/main" val="1245707312"/>
      </p:ext>
    </p:extLst>
  </p:cSld>
  <p:clrMapOvr>
    <a:masterClrMapping/>
  </p:clrMapOvr>
</p:sld>
</file>

<file path=ppt/slides/slide4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FILTER 단계가 붙어도 비용이 같은 이유</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관측 — Q4에는 FILTER가 있고 Q5에는 없다</a:t>
            </a:r>
          </a:p>
          <a:p>
            <a:r>
              <a:rPr sz="1600" b="0">
                <a:solidFill>
                  <a:srgbClr val="5A6672"/>
                </a:solidFill>
                <a:latin typeface="Malgun Gothic"/>
              </a:rPr>
              <a:t>    –  Q4는 인라인 뷰의 골격을 살리되 바깥 WHERE를 별도 FILTER로 적용했다</a:t>
            </a:r>
          </a:p>
          <a:p>
            <a:r>
              <a:rPr sz="1600" b="0">
                <a:solidFill>
                  <a:srgbClr val="5A6672"/>
                </a:solidFill>
                <a:latin typeface="Malgun Gothic"/>
              </a:rPr>
              <a:t>    –  Q5는 HAVING이 애초에 GROUP BY 처리와 한 단계로 묶여 표현됐다</a:t>
            </a:r>
          </a:p>
          <a:p>
            <a:r>
              <a:rPr sz="1800" b="0">
                <a:solidFill>
                  <a:srgbClr val="202830"/>
                </a:solidFill>
                <a:latin typeface="Malgun Gothic"/>
              </a:rPr>
              <a:t>•  오퍼레이션 개수는 다른데 Buffers는 같다</a:t>
            </a:r>
          </a:p>
          <a:p>
            <a:r>
              <a:rPr sz="1600" b="0">
                <a:solidFill>
                  <a:srgbClr val="5A6672"/>
                </a:solidFill>
                <a:latin typeface="Malgun Gothic"/>
              </a:rPr>
              <a:t>    –  실질적인 작업량이 동일하기 때문이다</a:t>
            </a:r>
          </a:p>
          <a:p>
            <a:r>
              <a:rPr sz="1600" b="0">
                <a:solidFill>
                  <a:srgbClr val="5A6672"/>
                </a:solidFill>
                <a:latin typeface="Malgun Gothic"/>
              </a:rPr>
              <a:t>    –  테이블을 한 번 스캔한다 → 그룹별로 집계한다 → 조건에 맞는 그룹만 남긴다</a:t>
            </a:r>
          </a:p>
          <a:p>
            <a:r>
              <a:rPr sz="1600" b="0">
                <a:solidFill>
                  <a:srgbClr val="5A6672"/>
                </a:solidFill>
                <a:latin typeface="Malgun Gothic"/>
              </a:rPr>
              <a:t>    –  두 방식 모두 이 세 가지 일을 똑같이 수행한다</a:t>
            </a:r>
          </a:p>
          <a:p>
            <a:r>
              <a:rPr sz="1800" b="0">
                <a:solidFill>
                  <a:srgbClr val="202830"/>
                </a:solidFill>
                <a:latin typeface="Malgun Gothic"/>
              </a:rPr>
              <a:t>•  FILTER가 비용을 거의 늘리지 않는 이유</a:t>
            </a:r>
          </a:p>
          <a:p>
            <a:r>
              <a:rPr sz="1600" b="0">
                <a:solidFill>
                  <a:srgbClr val="5A6672"/>
                </a:solidFill>
                <a:latin typeface="Malgun Gothic"/>
              </a:rPr>
              <a:t>    –  이미 집계가 끝난 작은 결과 집합에 대해 적용되기 때문이다</a:t>
            </a:r>
          </a:p>
          <a:p>
            <a:r>
              <a:rPr sz="1600" b="0">
                <a:solidFill>
                  <a:srgbClr val="5A6672"/>
                </a:solidFill>
                <a:latin typeface="Malgun Gothic"/>
              </a:rPr>
              <a:t>    –  큰 테이블을 다시 읽는 일이 아니므로 Buffers에 흔적이 남지 않는다</a:t>
            </a:r>
          </a:p>
          <a:p>
            <a:r>
              <a:rPr sz="1800" b="0">
                <a:solidFill>
                  <a:srgbClr val="202830"/>
                </a:solidFill>
                <a:latin typeface="Malgun Gothic"/>
              </a:rPr>
              <a:t>•  교훈 — 오퍼레이션 개수와 비용은 비례하지 않는다</a:t>
            </a:r>
          </a:p>
          <a:p>
            <a:r>
              <a:rPr sz="1600" b="0">
                <a:solidFill>
                  <a:srgbClr val="5A6672"/>
                </a:solidFill>
                <a:latin typeface="Malgun Gothic"/>
              </a:rPr>
              <a:t>    –  어떤 단계가 얼마나 많은 데이터를 다루는지를 봐야 한다</a:t>
            </a:r>
          </a:p>
        </p:txBody>
      </p:sp>
    </p:spTree>
    <p:extLst>
      <p:ext uri="{BB962C8B-B14F-4D97-AF65-F5344CB8AC3E}">
        <p14:creationId xmlns:p14="http://schemas.microsoft.com/office/powerpoint/2010/main" val="438270606"/>
      </p:ext>
    </p:extLst>
  </p:cSld>
  <p:clrMapOvr>
    <a:masterClrMapping/>
  </p:clrMapOvr>
</p:sld>
</file>

<file path=ppt/slides/slide4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병합이 항상 안전하지는 않다</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인라인 뷰 WHERE와 HAVING이 같아진다는 결론의 적용 범위</a:t>
            </a:r>
          </a:p>
          <a:p>
            <a:r>
              <a:rPr sz="1600" b="0">
                <a:solidFill>
                  <a:srgbClr val="5A6672"/>
                </a:solidFill>
                <a:latin typeface="Malgun Gothic"/>
              </a:rPr>
              <a:t>    –  이번 사례는 단순 집계(COUNT)만 들어 있는 인라인 뷰였다</a:t>
            </a:r>
          </a:p>
          <a:p>
            <a:r>
              <a:rPr sz="1600" b="0">
                <a:solidFill>
                  <a:srgbClr val="5A6672"/>
                </a:solidFill>
                <a:latin typeface="Malgun Gothic"/>
              </a:rPr>
              <a:t>    –  모든 인라인 뷰에 같은 결론을 그대로 옮길 수는 없다</a:t>
            </a:r>
          </a:p>
          <a:p>
            <a:r>
              <a:rPr sz="1800" b="0">
                <a:solidFill>
                  <a:srgbClr val="202830"/>
                </a:solidFill>
                <a:latin typeface="Malgun Gothic"/>
              </a:rPr>
              <a:t>•  조심해야 하는 연산 — 결과 집합 전체를 기준으로 계산되는 것들</a:t>
            </a:r>
          </a:p>
          <a:p>
            <a:r>
              <a:rPr sz="1600" b="0">
                <a:solidFill>
                  <a:srgbClr val="5A6672"/>
                </a:solidFill>
                <a:latin typeface="Malgun Gothic"/>
              </a:rPr>
              <a:t>    –  ROWNUM — 그 시점까지 만들어진 결과 집합을 기준으로 번호가 매겨진다</a:t>
            </a:r>
          </a:p>
          <a:p>
            <a:r>
              <a:rPr sz="1600" b="0">
                <a:solidFill>
                  <a:srgbClr val="5A6672"/>
                </a:solidFill>
                <a:latin typeface="Malgun Gothic"/>
              </a:rPr>
              <a:t>    –  분석 함수 RANK() OVER (...) 등 — 순위 계산에 순서와 시점이 관여한다</a:t>
            </a:r>
          </a:p>
          <a:p>
            <a:r>
              <a:rPr sz="1800" b="0">
                <a:solidFill>
                  <a:srgbClr val="202830"/>
                </a:solidFill>
                <a:latin typeface="Malgun Gothic"/>
              </a:rPr>
              <a:t>•  왜 위험한가</a:t>
            </a:r>
          </a:p>
          <a:p>
            <a:r>
              <a:rPr sz="1600" b="0">
                <a:solidFill>
                  <a:srgbClr val="5A6672"/>
                </a:solidFill>
                <a:latin typeface="Malgun Gothic"/>
              </a:rPr>
              <a:t>    –  병합으로 필터링 순서가 바뀌면 어떤 행이 뽑히는지 자체가 달라질 수 있다</a:t>
            </a:r>
          </a:p>
          <a:p>
            <a:r>
              <a:rPr sz="1600" b="0">
                <a:solidFill>
                  <a:srgbClr val="5A6672"/>
                </a:solidFill>
                <a:latin typeface="Malgun Gothic"/>
              </a:rPr>
              <a:t>    –  성능 문제가 아니라 결과가 달라지는 정합성 문제로 나타난다</a:t>
            </a:r>
          </a:p>
          <a:p>
            <a:r>
              <a:rPr sz="1800" b="0">
                <a:solidFill>
                  <a:srgbClr val="202830"/>
                </a:solidFill>
                <a:latin typeface="Malgun Gothic"/>
              </a:rPr>
              <a:t>•  실제 동작</a:t>
            </a:r>
          </a:p>
          <a:p>
            <a:r>
              <a:rPr sz="1600" b="0">
                <a:solidFill>
                  <a:srgbClr val="5A6672"/>
                </a:solidFill>
                <a:latin typeface="Malgun Gothic"/>
              </a:rPr>
              <a:t>    –  옵티마이저는 이런 경우 병합하지 않고 뷰를 별도 단계로 유지하기도 한다</a:t>
            </a:r>
          </a:p>
          <a:p>
            <a:r>
              <a:rPr sz="1600" b="0">
                <a:solidFill>
                  <a:srgbClr val="5A6672"/>
                </a:solidFill>
                <a:latin typeface="Malgun Gothic"/>
              </a:rPr>
              <a:t>    –  필요하면 개발자가 NO_MERGE 힌트로 병합을 명시적으로 막을 수 있다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이번 사례는 단순 집계 인라인 뷰에서 얻은 결론이다. 인라인 뷰의 내용이 달라지면 결론도 달라질 수 있으므로 항상 실행계획으로 확인한다.</a:t>
            </a:r>
          </a:p>
        </p:txBody>
      </p:sp>
    </p:spTree>
    <p:extLst>
      <p:ext uri="{BB962C8B-B14F-4D97-AF65-F5344CB8AC3E}">
        <p14:creationId xmlns:p14="http://schemas.microsoft.com/office/powerpoint/2010/main" val="3929843499"/>
      </p:ext>
    </p:extLst>
  </p:cSld>
  <p:clrMapOvr>
    <a:masterClrMapping/>
  </p:clrMapOvr>
</p:sld>
</file>

<file path=ppt/slides/slide428.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59" y="1371600"/>
            <a:ext cx="6365631" cy="1107996"/>
          </a:xfrm>
          <a:prstGeom prst="rect">
            <a:avLst/>
          </a:prstGeom>
          <a:noFill/>
        </p:spPr>
        <p:txBody>
          <a:bodyPr wrap="square">
            <a:spAutoFit/>
          </a:bodyPr>
          <a:lstStyle/>
          <a:p>
            <a:r>
              <a:rPr lang="en-US" sz="6600" b="1" dirty="0">
                <a:solidFill>
                  <a:srgbClr val="C0392B"/>
                </a:solidFill>
                <a:latin typeface="Malgun Gothic"/>
              </a:rPr>
              <a:t>10</a:t>
            </a:r>
            <a:r>
              <a:rPr sz="6600" b="1" dirty="0">
                <a:solidFill>
                  <a:srgbClr val="C0392B"/>
                </a:solidFill>
                <a:latin typeface="Malgun Gothic"/>
              </a:rPr>
              <a:t>.8~</a:t>
            </a:r>
            <a:r>
              <a:rPr lang="en-US" sz="6600" b="1" dirty="0">
                <a:solidFill>
                  <a:srgbClr val="C0392B"/>
                </a:solidFill>
                <a:latin typeface="Malgun Gothic"/>
              </a:rPr>
              <a:t>10</a:t>
            </a:r>
            <a:r>
              <a:rPr sz="6600" b="1" dirty="0">
                <a:solidFill>
                  <a:srgbClr val="C0392B"/>
                </a:solidFill>
                <a:latin typeface="Malgun Gothic"/>
              </a:rPr>
              <a:t>.10</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Benchmark · Practice · Review</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세 사례 실측 요약</a:t>
            </a:r>
          </a:p>
          <a:p>
            <a:r>
              <a:rPr sz="1600" b="0">
                <a:solidFill>
                  <a:srgbClr val="C5CED6"/>
                </a:solidFill>
                <a:latin typeface="Malgun Gothic"/>
              </a:rPr>
              <a:t>•  세 사례가 공통으로 말하는 것</a:t>
            </a:r>
          </a:p>
          <a:p>
            <a:r>
              <a:rPr sz="1600" b="0">
                <a:solidFill>
                  <a:srgbClr val="C5CED6"/>
                </a:solidFill>
                <a:latin typeface="Malgun Gothic"/>
              </a:rPr>
              <a:t>•  실무 판단 체크리스트</a:t>
            </a:r>
          </a:p>
          <a:p>
            <a:r>
              <a:rPr sz="1600" b="0">
                <a:solidFill>
                  <a:srgbClr val="C5CED6"/>
                </a:solidFill>
                <a:latin typeface="Malgun Gothic"/>
              </a:rPr>
              <a:t>•  이 장의 결론</a:t>
            </a:r>
          </a:p>
        </p:txBody>
      </p:sp>
    </p:spTree>
    <p:extLst>
      <p:ext uri="{BB962C8B-B14F-4D97-AF65-F5344CB8AC3E}">
        <p14:creationId xmlns:p14="http://schemas.microsoft.com/office/powerpoint/2010/main" val="563348527"/>
      </p:ext>
    </p:extLst>
  </p:cSld>
  <p:clrMapOvr>
    <a:masterClrMapping/>
  </p:clrMapOvr>
</p:sld>
</file>

<file path=ppt/slides/slide4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8.8 Benchmark — 세 사례 실측 요약</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결론이 서로 다르다는 점이 이 표의 핵심이다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a:t>
            </a:r>
          </a:p>
          <a:p>
            <a:r>
              <a:rPr sz="1250" b="0">
                <a:solidFill>
                  <a:srgbClr val="E6E6E6"/>
                </a:solidFill>
                <a:latin typeface="Consolas"/>
              </a:rPr>
              <a:t>| 비교               | 방식 A           | 방식 B         | Buffers A | Buffers B |</a:t>
            </a:r>
          </a:p>
          <a:p>
            <a:r>
              <a:rPr sz="1250" b="0">
                <a:solidFill>
                  <a:srgbClr val="E6E6E6"/>
                </a:solidFill>
                <a:latin typeface="Consolas"/>
              </a:rPr>
              <a:t>+--------------------+------------------+----------------+-----------+-----------+</a:t>
            </a:r>
          </a:p>
          <a:p>
            <a:r>
              <a:rPr sz="1250" b="0">
                <a:solidFill>
                  <a:srgbClr val="E6E6E6"/>
                </a:solidFill>
                <a:latin typeface="Consolas"/>
              </a:rPr>
              <a:t>| 값 하나 붙이기     | 스칼라 서브쿼리  | JOIN           |     4,081 |     4,083 |</a:t>
            </a:r>
          </a:p>
          <a:p>
            <a:r>
              <a:rPr sz="1250" b="0">
                <a:solidFill>
                  <a:srgbClr val="E6E6E6"/>
                </a:solidFill>
                <a:latin typeface="Consolas"/>
              </a:rPr>
              <a:t>| 그룹 평균과 비교   | 상관 서브쿼리    | (JOIN 미측정)  |     6,612 |         - |</a:t>
            </a:r>
          </a:p>
          <a:p>
            <a:r>
              <a:rPr sz="1250" b="0">
                <a:solidFill>
                  <a:srgbClr val="E6E6E6"/>
                </a:solidFill>
                <a:latin typeface="Consolas"/>
              </a:rPr>
              <a:t>| 집계 결과 필터링   | 인라인 뷰+WHERE  | HAVING         |     3,090 |     3,090 |</a:t>
            </a:r>
          </a:p>
          <a:p>
            <a:r>
              <a:rPr sz="1250" b="0">
                <a:solidFill>
                  <a:srgbClr val="E6E6E6"/>
                </a:solidFill>
                <a:latin typeface="Consolas"/>
              </a:rPr>
              <a:t>+--------------------+------------------+----------------+-----------+-----------+</a:t>
            </a:r>
          </a:p>
          <a:p>
            <a:r>
              <a:rPr sz="1250" b="0">
                <a:solidFill>
                  <a:srgbClr val="E6E6E6"/>
                </a:solidFill>
                <a:latin typeface="Consolas"/>
              </a:rPr>
              <a:t> </a:t>
            </a:r>
          </a:p>
          <a:p>
            <a:r>
              <a:rPr sz="1250" b="0">
                <a:solidFill>
                  <a:srgbClr val="7EC699"/>
                </a:solidFill>
                <a:latin typeface="Consolas"/>
              </a:rPr>
              <a:t>-- 값 하나 붙이기   : distinct 값이 적어 캐싱으로 거의 동일</a:t>
            </a:r>
          </a:p>
          <a:p>
            <a:r>
              <a:rPr sz="1250" b="0">
                <a:solidFill>
                  <a:srgbClr val="7EC699"/>
                </a:solidFill>
                <a:latin typeface="Consolas"/>
              </a:rPr>
              <a:t>-- 그룹 평균과 비교 : 테이블 2회 스캔되는 구조라 오히려 비쌈</a:t>
            </a:r>
          </a:p>
          <a:p>
            <a:r>
              <a:rPr sz="1250" b="0">
                <a:solidFill>
                  <a:srgbClr val="7EC699"/>
                </a:solidFill>
                <a:latin typeface="Consolas"/>
              </a:rPr>
              <a:t>-- 집계 결과 필터링 : 뷰 병합으로 완전히 동등</a:t>
            </a:r>
          </a:p>
        </p:txBody>
      </p:sp>
    </p:spTree>
    <p:extLst>
      <p:ext uri="{BB962C8B-B14F-4D97-AF65-F5344CB8AC3E}">
        <p14:creationId xmlns:p14="http://schemas.microsoft.com/office/powerpoint/2010/main" val="1948507328"/>
      </p:ext>
    </p:extLst>
  </p:cSld>
  <p:clrMapOvr>
    <a:masterClrMapping/>
  </p:clrMapOvr>
</p:sld>
</file>

<file path=ppt/slides/slide4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세 사례가 공통으로 말하는 것</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세 사례의 결론은 모두 달랐다</a:t>
            </a:r>
          </a:p>
          <a:p>
            <a:r>
              <a:rPr sz="1600" b="0">
                <a:solidFill>
                  <a:srgbClr val="5A6672"/>
                </a:solidFill>
                <a:latin typeface="Malgun Gothic"/>
              </a:rPr>
              <a:t>    –  스칼라 서브쿼리 — 캐싱 덕분에 조인과 거의 같은 비용으로 수렴했다</a:t>
            </a:r>
          </a:p>
          <a:p>
            <a:r>
              <a:rPr sz="1600" b="0">
                <a:solidFill>
                  <a:srgbClr val="5A6672"/>
                </a:solidFill>
                <a:latin typeface="Malgun Gothic"/>
              </a:rPr>
              <a:t>    –  상관 서브쿼리 — 조인 구조로 변환됐지만 두 번 읽는 구조라 더 비쌌다</a:t>
            </a:r>
          </a:p>
          <a:p>
            <a:r>
              <a:rPr sz="1600" b="0">
                <a:solidFill>
                  <a:srgbClr val="5A6672"/>
                </a:solidFill>
                <a:latin typeface="Malgun Gothic"/>
              </a:rPr>
              <a:t>    –  인라인 뷰 — HAVING과 물리적으로 동등한 구조로 병합되어 완전히 같았다</a:t>
            </a:r>
          </a:p>
          <a:p>
            <a:r>
              <a:rPr sz="1800" b="0">
                <a:solidFill>
                  <a:srgbClr val="202830"/>
                </a:solidFill>
                <a:latin typeface="Malgun Gothic"/>
              </a:rPr>
              <a:t>•  그런데 세 사례를 관통하는 원칙은 하나다</a:t>
            </a:r>
          </a:p>
          <a:p>
            <a:r>
              <a:rPr sz="1600" b="0">
                <a:solidFill>
                  <a:srgbClr val="5A6672"/>
                </a:solidFill>
                <a:latin typeface="Malgun Gothic"/>
              </a:rPr>
              <a:t>    –  비용을 결정한 것은 SQL이 어떻게 생겼는가가 아니었다</a:t>
            </a:r>
          </a:p>
          <a:p>
            <a:r>
              <a:rPr sz="1600" b="0">
                <a:solidFill>
                  <a:srgbClr val="5A6672"/>
                </a:solidFill>
                <a:latin typeface="Malgun Gothic"/>
              </a:rPr>
              <a:t>    –  결과적으로 데이터를 몇 번 어떻게 읽게 되는가가 비용을 결정했다</a:t>
            </a:r>
          </a:p>
          <a:p>
            <a:r>
              <a:rPr sz="1800" b="0">
                <a:solidFill>
                  <a:srgbClr val="202830"/>
                </a:solidFill>
                <a:latin typeface="Malgun Gothic"/>
              </a:rPr>
              <a:t>•  문장으로 정리하면</a:t>
            </a:r>
          </a:p>
          <a:p>
            <a:r>
              <a:rPr sz="1600" b="0">
                <a:solidFill>
                  <a:srgbClr val="5A6672"/>
                </a:solidFill>
                <a:latin typeface="Malgun Gothic"/>
              </a:rPr>
              <a:t>    –  서브쿼리 성능은 문법 형태가 아니라 옵티마이저가 만들어 낸</a:t>
            </a:r>
          </a:p>
          <a:p>
            <a:r>
              <a:rPr sz="1600" b="0">
                <a:solidFill>
                  <a:srgbClr val="5A6672"/>
                </a:solidFill>
                <a:latin typeface="Malgun Gothic"/>
              </a:rPr>
              <a:t>    –  물리적 실행 구조에 달려 있다</a:t>
            </a:r>
          </a:p>
          <a:p>
            <a:r>
              <a:rPr sz="1800" b="0">
                <a:solidFill>
                  <a:srgbClr val="202830"/>
                </a:solidFill>
                <a:latin typeface="Malgun Gothic"/>
              </a:rPr>
              <a:t>•  그래서 판단 절차도 하나로 정해진다</a:t>
            </a:r>
          </a:p>
          <a:p>
            <a:r>
              <a:rPr sz="1600" b="0">
                <a:solidFill>
                  <a:srgbClr val="5A6672"/>
                </a:solidFill>
                <a:latin typeface="Malgun Gothic"/>
              </a:rPr>
              <a:t>    –  문법을 보고 예단하지 말고 변환된 실행계획을 열어 확인한다</a:t>
            </a:r>
          </a:p>
        </p:txBody>
      </p:sp>
    </p:spTree>
    <p:extLst>
      <p:ext uri="{BB962C8B-B14F-4D97-AF65-F5344CB8AC3E}">
        <p14:creationId xmlns:p14="http://schemas.microsoft.com/office/powerpoint/2010/main" val="1835944967"/>
      </p:ext>
    </p:extLst>
  </p:cSld>
  <p:clrMapOvr>
    <a:masterClrMapping/>
  </p:clrMapOvr>
</p:sld>
</file>

<file path=ppt/slides/slide4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실무 판단 체크리스트</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스칼라 서브쿼리를 쓸 때 확인할 것</a:t>
            </a:r>
          </a:p>
          <a:p>
            <a:r>
              <a:rPr sz="1600" b="0">
                <a:solidFill>
                  <a:srgbClr val="5A6672"/>
                </a:solidFill>
                <a:latin typeface="Malgun Gothic"/>
              </a:rPr>
              <a:t>    –  참조 컬럼의 distinct 값 개수가 전체 행 수에 비해 충분히 작은가</a:t>
            </a:r>
          </a:p>
          <a:p>
            <a:r>
              <a:rPr sz="1600" b="0">
                <a:solidFill>
                  <a:srgbClr val="5A6672"/>
                </a:solidFill>
                <a:latin typeface="Malgun Gothic"/>
              </a:rPr>
              <a:t>    –  실행계획의 Starts가 결과 행 수보다 훨씬 작게 나오는가</a:t>
            </a:r>
          </a:p>
          <a:p>
            <a:r>
              <a:rPr sz="1600" b="0">
                <a:solidFill>
                  <a:srgbClr val="5A6672"/>
                </a:solidFill>
                <a:latin typeface="Malgun Gothic"/>
              </a:rPr>
              <a:t>    –  서브쿼리가 값 하나만 반환하는 것이 데이터로 보장되는가</a:t>
            </a:r>
          </a:p>
          <a:p>
            <a:r>
              <a:rPr sz="1800" b="0">
                <a:solidFill>
                  <a:srgbClr val="202830"/>
                </a:solidFill>
                <a:latin typeface="Malgun Gothic"/>
              </a:rPr>
              <a:t>•  상관 서브쿼리를 쓸 때 확인할 것</a:t>
            </a:r>
          </a:p>
          <a:p>
            <a:r>
              <a:rPr sz="1600" b="0">
                <a:solidFill>
                  <a:srgbClr val="5A6672"/>
                </a:solidFill>
                <a:latin typeface="Malgun Gothic"/>
              </a:rPr>
              <a:t>    –  계획에 같은 테이블 이름이 몇 번 등장하는지 센다</a:t>
            </a:r>
          </a:p>
          <a:p>
            <a:r>
              <a:rPr sz="1600" b="0">
                <a:solidFill>
                  <a:srgbClr val="5A6672"/>
                </a:solidFill>
                <a:latin typeface="Malgun Gothic"/>
              </a:rPr>
              <a:t>    –  내부 뷰 이름이 보이면 어떤 변환이 일어났는지 해석한다</a:t>
            </a:r>
          </a:p>
          <a:p>
            <a:r>
              <a:rPr sz="1600" b="0">
                <a:solidFill>
                  <a:srgbClr val="5A6672"/>
                </a:solidFill>
                <a:latin typeface="Malgun Gothic"/>
              </a:rPr>
              <a:t>    –  두 번 읽는 구조라면 한 번으로 줄일 방법이 있는지 검토한다</a:t>
            </a:r>
          </a:p>
          <a:p>
            <a:r>
              <a:rPr sz="1800" b="0">
                <a:solidFill>
                  <a:srgbClr val="202830"/>
                </a:solidFill>
                <a:latin typeface="Malgun Gothic"/>
              </a:rPr>
              <a:t>•  인라인 뷰를 쓸 때 확인할 것</a:t>
            </a:r>
          </a:p>
          <a:p>
            <a:r>
              <a:rPr sz="1600" b="0">
                <a:solidFill>
                  <a:srgbClr val="5A6672"/>
                </a:solidFill>
                <a:latin typeface="Malgun Gothic"/>
              </a:rPr>
              <a:t>    –  뷰가 병합됐는지 별도 단계로 남았는지 계획에서 확인한다</a:t>
            </a:r>
          </a:p>
          <a:p>
            <a:r>
              <a:rPr sz="1600" b="0">
                <a:solidFill>
                  <a:srgbClr val="5A6672"/>
                </a:solidFill>
                <a:latin typeface="Malgun Gothic"/>
              </a:rPr>
              <a:t>    –  ROWNUM이나 분석 함수가 들어 있다면 결과까지 반드시 대조한다</a:t>
            </a:r>
          </a:p>
          <a:p>
            <a:r>
              <a:rPr sz="1800" b="0">
                <a:solidFill>
                  <a:srgbClr val="202830"/>
                </a:solidFill>
                <a:latin typeface="Malgun Gothic"/>
              </a:rPr>
              <a:t>•  공통 — 비교는 결과가 완전히 같은 상태에서만 성립한다</a:t>
            </a:r>
          </a:p>
        </p:txBody>
      </p:sp>
    </p:spTree>
    <p:extLst>
      <p:ext uri="{BB962C8B-B14F-4D97-AF65-F5344CB8AC3E}">
        <p14:creationId xmlns:p14="http://schemas.microsoft.com/office/powerpoint/2010/main" val="416718078"/>
      </p:ext>
    </p:extLst>
  </p:cSld>
  <p:clrMapOvr>
    <a:masterClrMapping/>
  </p:clrMapOvr>
</p:sld>
</file>

<file path=ppt/slides/slide4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요약 (Summary)</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서브쿼리는 위치에 따라 역할이 다르다 — 스칼라·인라인 뷰·상관 서브쿼리</a:t>
            </a:r>
          </a:p>
          <a:p>
            <a:r>
              <a:rPr sz="1800" b="0">
                <a:solidFill>
                  <a:srgbClr val="202830"/>
                </a:solidFill>
                <a:latin typeface="Malgun Gothic"/>
              </a:rPr>
              <a:t>•  옵티마이저는 서브쿼리를 조인 형태로 내부 변환한다 (unnesting)</a:t>
            </a:r>
          </a:p>
          <a:p>
            <a:r>
              <a:rPr sz="1800" b="0">
                <a:solidFill>
                  <a:srgbClr val="202830"/>
                </a:solidFill>
                <a:latin typeface="Malgun Gothic"/>
              </a:rPr>
              <a:t>•  스칼라 서브쿼리는 같은 입력 값의 결과를 캐시해 재사용한다</a:t>
            </a:r>
          </a:p>
          <a:p>
            <a:r>
              <a:rPr sz="1800" b="0">
                <a:solidFill>
                  <a:srgbClr val="202830"/>
                </a:solidFill>
                <a:latin typeface="Malgun Gothic"/>
              </a:rPr>
              <a:t>•  Starts가 결과 행 수보다 훨씬 작으면 캐싱이 작동한 증거다</a:t>
            </a:r>
          </a:p>
          <a:p>
            <a:r>
              <a:rPr sz="1800" b="0">
                <a:solidFill>
                  <a:srgbClr val="202830"/>
                </a:solidFill>
                <a:latin typeface="Malgun Gothic"/>
              </a:rPr>
              <a:t>•  캐싱 효과는 참조 값의 distinct 개수가 적을수록 커진다</a:t>
            </a:r>
          </a:p>
          <a:p>
            <a:r>
              <a:rPr sz="1800" b="0">
                <a:solidFill>
                  <a:srgbClr val="202830"/>
                </a:solidFill>
                <a:latin typeface="Malgun Gothic"/>
              </a:rPr>
              <a:t>•  상관 서브쿼리는 VW_SQ_1 형태의 뷰와 조인으로 변환될 수 있다</a:t>
            </a:r>
          </a:p>
          <a:p>
            <a:r>
              <a:rPr sz="1800" b="0">
                <a:solidFill>
                  <a:srgbClr val="202830"/>
                </a:solidFill>
                <a:latin typeface="Malgun Gothic"/>
              </a:rPr>
              <a:t>•  그 변환이 원본 테이블을 두 번 읽게 만들면 오히려 비싸진다</a:t>
            </a:r>
          </a:p>
          <a:p>
            <a:r>
              <a:rPr sz="1800" b="0">
                <a:solidFill>
                  <a:srgbClr val="202830"/>
                </a:solidFill>
                <a:latin typeface="Malgun Gothic"/>
              </a:rPr>
              <a:t>•  인라인 뷰의 바깥 WHERE는 뷰 병합으로 HAVING과 동등해질 수 있다</a:t>
            </a:r>
          </a:p>
          <a:p>
            <a:r>
              <a:rPr sz="1800" b="0">
                <a:solidFill>
                  <a:srgbClr val="202830"/>
                </a:solidFill>
                <a:latin typeface="Malgun Gothic"/>
              </a:rPr>
              <a:t>•  오퍼레이션 개수와 비용은 비례하지 않는다 — 다루는 데이터 양을 본다</a:t>
            </a:r>
          </a:p>
          <a:p>
            <a:r>
              <a:rPr sz="1800" b="0">
                <a:solidFill>
                  <a:srgbClr val="202830"/>
                </a:solidFill>
                <a:latin typeface="Malgun Gothic"/>
              </a:rPr>
              <a:t>•  결론 — 서브쿼리 성능은 문법이 아니라 변환된 물리 구조가 결정한다</a:t>
            </a:r>
          </a:p>
        </p:txBody>
      </p:sp>
    </p:spTree>
    <p:extLst>
      <p:ext uri="{BB962C8B-B14F-4D97-AF65-F5344CB8AC3E}">
        <p14:creationId xmlns:p14="http://schemas.microsoft.com/office/powerpoint/2010/main" val="2034293776"/>
      </p:ext>
    </p:extLst>
  </p:cSld>
  <p:clrMapOvr>
    <a:masterClrMapping/>
  </p:clrMapOvr>
</p:sld>
</file>

<file path=ppt/slides/slide4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실습 안내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실습문제 10문항 — ch10_문제.md</a:t>
            </a:r>
          </a:p>
          <a:p>
            <a:r>
              <a:rPr sz="1600" b="0">
                <a:solidFill>
                  <a:srgbClr val="5A6672"/>
                </a:solidFill>
                <a:latin typeface="Malgun Gothic"/>
              </a:rPr>
              <a:t>    –  1~2번  Starts=5의 의미와 N+1 통념이 성립하지 않은 이유</a:t>
            </a:r>
          </a:p>
          <a:p>
            <a:r>
              <a:rPr sz="1600" b="0">
                <a:solidFill>
                  <a:srgbClr val="5A6672"/>
                </a:solidFill>
                <a:latin typeface="Malgun Gothic"/>
              </a:rPr>
              <a:t>    –  3번  참조 값이 500종류로 늘어날 때의 변화 예측 (캐싱 원리 적용)</a:t>
            </a:r>
          </a:p>
          <a:p>
            <a:r>
              <a:rPr sz="1600" b="0">
                <a:solidFill>
                  <a:srgbClr val="5A6672"/>
                </a:solidFill>
                <a:latin typeface="Malgun Gothic"/>
              </a:rPr>
              <a:t>    –  4~5번  두 번의 Full Scan이 하는 일과 Buffers 6,612의 근거</a:t>
            </a:r>
          </a:p>
          <a:p>
            <a:r>
              <a:rPr sz="1600" b="0">
                <a:solidFill>
                  <a:srgbClr val="5A6672"/>
                </a:solidFill>
                <a:latin typeface="Malgun Gothic"/>
              </a:rPr>
              <a:t>    –  6번  '옵티마이저가 알아서 해준다'는 주장에 대한 반박</a:t>
            </a:r>
          </a:p>
          <a:p>
            <a:r>
              <a:rPr sz="1600" b="0">
                <a:solidFill>
                  <a:srgbClr val="5A6672"/>
                </a:solidFill>
                <a:latin typeface="Malgun Gothic"/>
              </a:rPr>
              <a:t>    –  7~8번  인라인 뷰와 HAVING의 동등성, 트리가 달라도 비용이 같은 이유</a:t>
            </a:r>
          </a:p>
          <a:p>
            <a:r>
              <a:rPr sz="1600" b="0">
                <a:solidFill>
                  <a:srgbClr val="5A6672"/>
                </a:solidFill>
                <a:latin typeface="Malgun Gothic"/>
              </a:rPr>
              <a:t>    –  9번  ROWNUM·분석 함수가 있을 때 뷰 병합이 안전한지 원칙 적용</a:t>
            </a:r>
          </a:p>
          <a:p>
            <a:r>
              <a:rPr sz="1600" b="0">
                <a:solidFill>
                  <a:srgbClr val="5A6672"/>
                </a:solidFill>
                <a:latin typeface="Malgun Gothic"/>
              </a:rPr>
              <a:t>    –  10번  세 사례를 종합한 결론 문장 완성과 근거 서술</a:t>
            </a:r>
          </a:p>
          <a:p>
            <a:r>
              <a:rPr sz="1800" b="0">
                <a:solidFill>
                  <a:srgbClr val="202830"/>
                </a:solidFill>
                <a:latin typeface="Malgun Gothic"/>
              </a:rPr>
              <a:t>•  실습 전 확인 — 이번 장은 DDL 변경이 없다</a:t>
            </a:r>
          </a:p>
          <a:p>
            <a:r>
              <a:rPr sz="1600" b="0">
                <a:solidFill>
                  <a:srgbClr val="5A6672"/>
                </a:solidFill>
                <a:latin typeface="Malgun Gothic"/>
              </a:rPr>
              <a:t>    –  기존 PK만 사용하며 인덱스나 통계를 임의로 바꾸지 않는다</a:t>
            </a:r>
          </a:p>
          <a:p>
            <a:r>
              <a:rPr sz="1600" b="0">
                <a:solidFill>
                  <a:srgbClr val="5A6672"/>
                </a:solidFill>
                <a:latin typeface="Malgun Gothic"/>
              </a:rPr>
              <a:t>    –  스키마를 변경하면 교안의 실행계획이 재현되지 않는다</a:t>
            </a:r>
          </a:p>
        </p:txBody>
      </p:sp>
    </p:spTree>
    <p:extLst>
      <p:ext uri="{BB962C8B-B14F-4D97-AF65-F5344CB8AC3E}">
        <p14:creationId xmlns:p14="http://schemas.microsoft.com/office/powerpoint/2010/main" val="542912828"/>
      </p:ext>
    </p:extLst>
  </p:cSld>
  <p:clrMapOvr>
    <a:masterClrMapping/>
  </p:clrMapOvr>
</p:sld>
</file>

<file path=ppt/slides/slide434.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Rectangle 1"/>
          <p:cNvSpPr/>
          <p:nvPr/>
        </p:nvSpPr>
        <p:spPr>
          <a:xfrm>
            <a:off x="822960" y="2331720"/>
            <a:ext cx="164592"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88720" y="1463040"/>
            <a:ext cx="10058400" cy="369332"/>
          </a:xfrm>
          <a:prstGeom prst="rect">
            <a:avLst/>
          </a:prstGeom>
          <a:noFill/>
        </p:spPr>
        <p:txBody>
          <a:bodyPr wrap="square">
            <a:spAutoFit/>
          </a:bodyPr>
          <a:lstStyle/>
          <a:p>
            <a:r>
              <a:rPr sz="1800" b="1">
                <a:solidFill>
                  <a:srgbClr val="C0392B"/>
                </a:solidFill>
                <a:latin typeface="Malgun Gothic"/>
              </a:rPr>
              <a:t>Oracle SQL 튜닝 과정  ·  ch11</a:t>
            </a:r>
          </a:p>
        </p:txBody>
      </p:sp>
      <p:sp>
        <p:nvSpPr>
          <p:cNvPr id="4" name="TextBox 3"/>
          <p:cNvSpPr txBox="1"/>
          <p:nvPr/>
        </p:nvSpPr>
        <p:spPr>
          <a:xfrm>
            <a:off x="1188720" y="2194560"/>
            <a:ext cx="10332720" cy="2011680"/>
          </a:xfrm>
          <a:prstGeom prst="rect">
            <a:avLst/>
          </a:prstGeom>
          <a:noFill/>
        </p:spPr>
        <p:txBody>
          <a:bodyPr wrap="square">
            <a:spAutoFit/>
          </a:bodyPr>
          <a:lstStyle/>
          <a:p>
            <a:r>
              <a:rPr sz="4400" b="1">
                <a:solidFill>
                  <a:srgbClr val="FFFFFF"/>
                </a:solidFill>
                <a:latin typeface="Malgun Gothic"/>
              </a:rPr>
              <a:t>UNION / UNION ALL / DISTINCT</a:t>
            </a:r>
          </a:p>
        </p:txBody>
      </p:sp>
      <p:sp>
        <p:nvSpPr>
          <p:cNvPr id="5" name="TextBox 4"/>
          <p:cNvSpPr txBox="1"/>
          <p:nvPr/>
        </p:nvSpPr>
        <p:spPr>
          <a:xfrm>
            <a:off x="1188720" y="4297680"/>
            <a:ext cx="10058400" cy="1097280"/>
          </a:xfrm>
          <a:prstGeom prst="rect">
            <a:avLst/>
          </a:prstGeom>
          <a:noFill/>
        </p:spPr>
        <p:txBody>
          <a:bodyPr wrap="square">
            <a:spAutoFit/>
          </a:bodyPr>
          <a:lstStyle/>
          <a:p>
            <a:r>
              <a:rPr sz="1800" b="0">
                <a:solidFill>
                  <a:srgbClr val="C5CED6"/>
                </a:solidFill>
                <a:latin typeface="Malgun Gothic"/>
              </a:rPr>
              <a:t>중복 제거의 비용 · SORT UNIQUE · Buffers의 사각지대 · 옵티마이저의 DISTINCT 생략</a:t>
            </a:r>
          </a:p>
        </p:txBody>
      </p:sp>
    </p:spTree>
    <p:extLst>
      <p:ext uri="{BB962C8B-B14F-4D97-AF65-F5344CB8AC3E}">
        <p14:creationId xmlns:p14="http://schemas.microsoft.com/office/powerpoint/2010/main" val="1785419267"/>
      </p:ext>
    </p:extLst>
  </p:cSld>
  <p:clrMapOvr>
    <a:masterClrMapping/>
  </p:clrMapOvr>
</p:sld>
</file>

<file path=ppt/slides/slide4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학습 목표 (Objectives)</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 장을 마치면 다음을 수행할 수 있어야 한다.</a:t>
            </a:r>
          </a:p>
          <a:p>
            <a:r>
              <a:rPr sz="1600" b="0">
                <a:solidFill>
                  <a:srgbClr val="5A6672"/>
                </a:solidFill>
                <a:latin typeface="Malgun Gothic"/>
              </a:rPr>
              <a:t>    –  UNION과 UNION ALL의 차이를 결과 집합과 실행계획 양쪽에서 설명할 수 있다</a:t>
            </a:r>
          </a:p>
          <a:p>
            <a:r>
              <a:rPr sz="1600" b="0">
                <a:solidFill>
                  <a:srgbClr val="5A6672"/>
                </a:solidFill>
                <a:latin typeface="Malgun Gothic"/>
              </a:rPr>
              <a:t>    –  UNION이 내부적으로 UNION-ALL 뒤에 SORT UNIQUE 단계를 덧붙인다는 사실을 실행계획에서 확인할 수 있다</a:t>
            </a:r>
          </a:p>
          <a:p>
            <a:r>
              <a:rPr sz="1600" b="0">
                <a:solidFill>
                  <a:srgbClr val="5A6672"/>
                </a:solidFill>
                <a:latin typeface="Malgun Gothic"/>
              </a:rPr>
              <a:t>    –  중복 제거 비용이 Buffers가 아니라 A-Time과 작업 메모리 지표에 나타나는 이유를 설명할 수 있다</a:t>
            </a:r>
          </a:p>
          <a:p>
            <a:r>
              <a:rPr sz="1600" b="0">
                <a:solidFill>
                  <a:srgbClr val="5A6672"/>
                </a:solidFill>
                <a:latin typeface="Malgun Gothic"/>
              </a:rPr>
              <a:t>    –  두 결과 집합이 논리적으로 겹칠 수 있는지를 기준으로 UNION과 UNION ALL을 선택할 수 있다</a:t>
            </a:r>
          </a:p>
          <a:p>
            <a:r>
              <a:rPr sz="1600" b="0">
                <a:solidFill>
                  <a:srgbClr val="5A6672"/>
                </a:solidFill>
                <a:latin typeface="Malgun Gothic"/>
              </a:rPr>
              <a:t>    –  PK·유니크 제약이 걸린 컬럼의 DISTINCT를 옵티마이저가 생략한다는 점을 실행계획으로 증명할 수 있다</a:t>
            </a:r>
          </a:p>
          <a:p>
            <a:r>
              <a:rPr sz="1600" b="0">
                <a:solidFill>
                  <a:srgbClr val="5A6672"/>
                </a:solidFill>
                <a:latin typeface="Malgun Gothic"/>
              </a:rPr>
              <a:t>    –  같은 컬럼명이라도 어느 테이블의 어떤 제약이냐에 따라 DISTINCT 생략 여부가 달라짐을 추론할 수 있다</a:t>
            </a:r>
          </a:p>
          <a:p>
            <a:r>
              <a:rPr sz="1600" b="0">
                <a:solidFill>
                  <a:srgbClr val="5A6672"/>
                </a:solidFill>
                <a:latin typeface="Malgun Gothic"/>
              </a:rPr>
              <a:t>    –  중복 제거 연산의 비용을 판단할 때 확인할 항목을 체크리스트로 정리할 수 있다</a:t>
            </a:r>
          </a:p>
        </p:txBody>
      </p:sp>
    </p:spTree>
    <p:extLst>
      <p:ext uri="{BB962C8B-B14F-4D97-AF65-F5344CB8AC3E}">
        <p14:creationId xmlns:p14="http://schemas.microsoft.com/office/powerpoint/2010/main" val="441571756"/>
      </p:ext>
    </p:extLst>
  </p:cSld>
  <p:clrMapOvr>
    <a:masterClrMapping/>
  </p:clrMapOvr>
</p:sld>
</file>

<file path=ppt/slides/slide4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장의 구성 (Agenda)</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9.1  Why — 습관적인 UNION 선택이 위험한 이유</a:t>
            </a:r>
          </a:p>
          <a:p>
            <a:r>
              <a:rPr sz="1800" b="0">
                <a:solidFill>
                  <a:srgbClr val="202830"/>
                </a:solidFill>
                <a:latin typeface="Malgun Gothic"/>
              </a:rPr>
              <a:t>•  9.2  Concept — UNION · UNION ALL · DISTINCT의 정의</a:t>
            </a:r>
          </a:p>
          <a:p>
            <a:r>
              <a:rPr sz="1800" b="0">
                <a:solidFill>
                  <a:srgbClr val="202830"/>
                </a:solidFill>
                <a:latin typeface="Malgun Gothic"/>
              </a:rPr>
              <a:t>•  9.3  Oracle Internals — 중복 제거 비용은 어디에 나타나는가</a:t>
            </a:r>
          </a:p>
          <a:p>
            <a:r>
              <a:rPr sz="1800" b="0">
                <a:solidFill>
                  <a:srgbClr val="202830"/>
                </a:solidFill>
                <a:latin typeface="Malgun Gothic"/>
              </a:rPr>
              <a:t>•  9.4  Example — UNION vs UNION ALL 실측 소재</a:t>
            </a:r>
          </a:p>
          <a:p>
            <a:r>
              <a:rPr sz="1800" b="0">
                <a:solidFill>
                  <a:srgbClr val="202830"/>
                </a:solidFill>
                <a:latin typeface="Malgun Gothic"/>
              </a:rPr>
              <a:t>•  9.5  Execution Plan — 두 계획의 실측 비교와 해석</a:t>
            </a:r>
          </a:p>
          <a:p>
            <a:r>
              <a:rPr sz="1800" b="0">
                <a:solidFill>
                  <a:srgbClr val="202830"/>
                </a:solidFill>
                <a:latin typeface="Malgun Gothic"/>
              </a:rPr>
              <a:t>•  9.6  Bad SQL — 오히려 완전히 사라지는 DISTINCT</a:t>
            </a:r>
          </a:p>
          <a:p>
            <a:r>
              <a:rPr sz="1800" b="0">
                <a:solidFill>
                  <a:srgbClr val="202830"/>
                </a:solidFill>
                <a:latin typeface="Malgun Gothic"/>
              </a:rPr>
              <a:t>•  9.7~9.8  Tuning 판단 기준과 Benchmark 종합</a:t>
            </a:r>
          </a:p>
          <a:p>
            <a:r>
              <a:rPr sz="1800" b="0">
                <a:solidFill>
                  <a:srgbClr val="202830"/>
                </a:solidFill>
                <a:latin typeface="Malgun Gothic"/>
              </a:rPr>
              <a:t>•  9.9~9.10  Practice · Review</a:t>
            </a:r>
          </a:p>
        </p:txBody>
      </p:sp>
    </p:spTree>
    <p:extLst>
      <p:ext uri="{BB962C8B-B14F-4D97-AF65-F5344CB8AC3E}">
        <p14:creationId xmlns:p14="http://schemas.microsoft.com/office/powerpoint/2010/main" val="3486020327"/>
      </p:ext>
    </p:extLst>
  </p:cSld>
  <p:clrMapOvr>
    <a:masterClrMapping/>
  </p:clrMapOvr>
</p:sld>
</file>

<file path=ppt/slides/slide437.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107996"/>
          </a:xfrm>
          <a:prstGeom prst="rect">
            <a:avLst/>
          </a:prstGeom>
          <a:noFill/>
        </p:spPr>
        <p:txBody>
          <a:bodyPr wrap="square">
            <a:spAutoFit/>
          </a:bodyPr>
          <a:lstStyle/>
          <a:p>
            <a:r>
              <a:rPr lang="en-US" sz="6600" b="1" dirty="0">
                <a:solidFill>
                  <a:srgbClr val="C0392B"/>
                </a:solidFill>
                <a:latin typeface="Malgun Gothic"/>
              </a:rPr>
              <a:t>11</a:t>
            </a:r>
            <a:r>
              <a:rPr sz="6600" b="1" dirty="0">
                <a:solidFill>
                  <a:srgbClr val="C0392B"/>
                </a:solidFill>
                <a:latin typeface="Malgun Gothic"/>
              </a:rPr>
              <a:t>.1</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습관적인 UNION 선택이 위험한 이유</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800" b="0">
                <a:solidFill>
                  <a:srgbClr val="C5CED6"/>
                </a:solidFill>
                <a:latin typeface="Malgun Gothic"/>
              </a:rPr>
              <a:t>•  현장에서 UNION과 UNION ALL이 선택되는 방식</a:t>
            </a:r>
          </a:p>
          <a:p>
            <a:r>
              <a:rPr sz="1800" b="0">
                <a:solidFill>
                  <a:srgbClr val="C5CED6"/>
                </a:solidFill>
                <a:latin typeface="Malgun Gothic"/>
              </a:rPr>
              <a:t>•  "일단 안전하게 UNION"이 감추는 비용</a:t>
            </a:r>
          </a:p>
          <a:p>
            <a:r>
              <a:rPr sz="1800" b="0">
                <a:solidFill>
                  <a:srgbClr val="C5CED6"/>
                </a:solidFill>
                <a:latin typeface="Malgun Gothic"/>
              </a:rPr>
              <a:t>•  이 차시의 목표와 범위</a:t>
            </a:r>
          </a:p>
        </p:txBody>
      </p:sp>
    </p:spTree>
    <p:extLst>
      <p:ext uri="{BB962C8B-B14F-4D97-AF65-F5344CB8AC3E}">
        <p14:creationId xmlns:p14="http://schemas.microsoft.com/office/powerpoint/2010/main" val="2978747703"/>
      </p:ext>
    </p:extLst>
  </p:cSld>
  <p:clrMapOvr>
    <a:masterClrMapping/>
  </p:clrMapOvr>
</p:sld>
</file>

<file path=ppt/slides/slide4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현장에서 UNION은 어떻게 선택되는가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UNION과 UNION ALL을 습관적으로 아무거나 쓰는 경우가 많다</a:t>
            </a:r>
          </a:p>
          <a:p>
            <a:r>
              <a:rPr sz="1600" b="0">
                <a:solidFill>
                  <a:srgbClr val="5A6672"/>
                </a:solidFill>
                <a:latin typeface="Malgun Gothic"/>
              </a:rPr>
              <a:t>    –  두 결과 집합에 중복이 있을 수 있는지를 따져보지 않는다</a:t>
            </a:r>
          </a:p>
          <a:p>
            <a:r>
              <a:rPr sz="1600" b="0">
                <a:solidFill>
                  <a:srgbClr val="5A6672"/>
                </a:solidFill>
                <a:latin typeface="Malgun Gothic"/>
              </a:rPr>
              <a:t>    –  "일단 중복 제거되는 UNION을 쓰자"는 식의 선택이 관행처럼 굳어진다</a:t>
            </a:r>
          </a:p>
          <a:p>
            <a:r>
              <a:rPr sz="1800" b="0">
                <a:solidFill>
                  <a:srgbClr val="202830"/>
                </a:solidFill>
                <a:latin typeface="Malgun Gothic"/>
              </a:rPr>
              <a:t>•  이 선택이 위험한 이유는 두 방향 모두다</a:t>
            </a:r>
          </a:p>
          <a:p>
            <a:r>
              <a:rPr sz="1600" b="0">
                <a:solidFill>
                  <a:srgbClr val="5A6672"/>
                </a:solidFill>
                <a:latin typeface="Malgun Gothic"/>
              </a:rPr>
              <a:t>    –  겹칠 수 없는 집합에 UNION을 쓰면 필요 없는 중복 제거 비용을 매번 지불한다</a:t>
            </a:r>
          </a:p>
          <a:p>
            <a:r>
              <a:rPr sz="1600" b="0">
                <a:solidFill>
                  <a:srgbClr val="5A6672"/>
                </a:solidFill>
                <a:latin typeface="Malgun Gothic"/>
              </a:rPr>
              <a:t>    –  겹치는 집합에 UNION ALL을 쓰면 성능이 아니라 결과 자체가 틀어진다</a:t>
            </a:r>
          </a:p>
          <a:p>
            <a:r>
              <a:rPr sz="1800" b="0">
                <a:solidFill>
                  <a:srgbClr val="202830"/>
                </a:solidFill>
                <a:latin typeface="Malgun Gothic"/>
              </a:rPr>
              <a:t>•  판단의 근거는 문법 취향이 아니라 데이터의 성질이어야 한다</a:t>
            </a:r>
          </a:p>
          <a:p>
            <a:r>
              <a:rPr sz="1600" b="0">
                <a:solidFill>
                  <a:srgbClr val="5A6672"/>
                </a:solidFill>
                <a:latin typeface="Malgun Gothic"/>
              </a:rPr>
              <a:t>    –  두 집합이 논리적으로 겹칠 수 있는가 — 이것이 유일한 1차 판단 기준</a:t>
            </a:r>
          </a:p>
        </p:txBody>
      </p:sp>
    </p:spTree>
    <p:extLst>
      <p:ext uri="{BB962C8B-B14F-4D97-AF65-F5344CB8AC3E}">
        <p14:creationId xmlns:p14="http://schemas.microsoft.com/office/powerpoint/2010/main" val="4075610558"/>
      </p:ext>
    </p:extLst>
  </p:cSld>
  <p:clrMapOvr>
    <a:masterClrMapping/>
  </p:clrMapOvr>
</p:sld>
</file>

<file path=ppt/slides/slide4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차시의 목표와 범위</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목표 1 — 중복 제거에 실제로 어떤 비용이 드는지 실측으로 확인한다</a:t>
            </a:r>
          </a:p>
          <a:p>
            <a:r>
              <a:rPr sz="1600" b="0">
                <a:solidFill>
                  <a:srgbClr val="5A6672"/>
                </a:solidFill>
                <a:latin typeface="Malgun Gothic"/>
              </a:rPr>
              <a:t>    –  개념적으로 "정렬이 필요하다"는 설명을 실행계획 지표로 옮겨 본다</a:t>
            </a:r>
          </a:p>
          <a:p>
            <a:r>
              <a:rPr sz="1800" b="0">
                <a:solidFill>
                  <a:srgbClr val="202830"/>
                </a:solidFill>
                <a:latin typeface="Malgun Gothic"/>
              </a:rPr>
              <a:t>•  목표 2 — 그 비용이 항상 발생하는 것은 아님을 확인한다</a:t>
            </a:r>
          </a:p>
          <a:p>
            <a:r>
              <a:rPr sz="1600" b="0">
                <a:solidFill>
                  <a:srgbClr val="5A6672"/>
                </a:solidFill>
                <a:latin typeface="Malgun Gothic"/>
              </a:rPr>
              <a:t>    –  옵티마이저가 유일성을 증명할 수 있으면 중복 제거 단계 자체가 사라진다</a:t>
            </a:r>
          </a:p>
          <a:p>
            <a:r>
              <a:rPr sz="1800" b="0">
                <a:solidFill>
                  <a:srgbClr val="202830"/>
                </a:solidFill>
                <a:latin typeface="Malgun Gothic"/>
              </a:rPr>
              <a:t>•  소재 — 두 가지 실측 시나리오</a:t>
            </a:r>
          </a:p>
          <a:p>
            <a:r>
              <a:rPr sz="1600" b="0">
                <a:solidFill>
                  <a:srgbClr val="5A6672"/>
                </a:solidFill>
                <a:latin typeface="Malgun Gothic"/>
              </a:rPr>
              <a:t>    –  "입원 청구를 낸 환자" ∪ "의료급여 환자"를 UNION과 UNION ALL로 비교</a:t>
            </a:r>
          </a:p>
          <a:p>
            <a:r>
              <a:rPr sz="1600" b="0">
                <a:solidFill>
                  <a:srgbClr val="5A6672"/>
                </a:solidFill>
                <a:latin typeface="Malgun Gothic"/>
              </a:rPr>
              <a:t>    –  이미 유일함이 보장된 컬럼에 불필요한 DISTINCT를 붙였을 때의 실행계획</a:t>
            </a:r>
          </a:p>
          <a:p>
            <a:r>
              <a:rPr sz="1800" b="0">
                <a:solidFill>
                  <a:srgbClr val="202830"/>
                </a:solidFill>
                <a:latin typeface="Malgun Gothic"/>
              </a:rPr>
              <a:t>•  범위 — DDL 변경 없음. 기존 PK만 사용하며 모든 결과는 실습 DB 실측값</a:t>
            </a:r>
          </a:p>
        </p:txBody>
      </p:sp>
    </p:spTree>
    <p:extLst>
      <p:ext uri="{BB962C8B-B14F-4D97-AF65-F5344CB8AC3E}">
        <p14:creationId xmlns:p14="http://schemas.microsoft.com/office/powerpoint/2010/main" val="4083106830"/>
      </p:ext>
    </p:extLst>
  </p:cSld>
  <p:clrMapOvr>
    <a:masterClrMapping/>
  </p:clrMapOvr>
</p:sld>
</file>

<file path=ppt/slides/slide440.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107996"/>
          </a:xfrm>
          <a:prstGeom prst="rect">
            <a:avLst/>
          </a:prstGeom>
          <a:noFill/>
        </p:spPr>
        <p:txBody>
          <a:bodyPr wrap="square">
            <a:spAutoFit/>
          </a:bodyPr>
          <a:lstStyle/>
          <a:p>
            <a:r>
              <a:rPr lang="en-US" sz="6600" b="1" dirty="0">
                <a:solidFill>
                  <a:srgbClr val="C0392B"/>
                </a:solidFill>
                <a:latin typeface="Malgun Gothic"/>
              </a:rPr>
              <a:t>11</a:t>
            </a:r>
            <a:r>
              <a:rPr sz="6600" b="1" dirty="0">
                <a:solidFill>
                  <a:srgbClr val="C0392B"/>
                </a:solidFill>
                <a:latin typeface="Malgun Gothic"/>
              </a:rPr>
              <a:t>.2</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UNION · UNION ALL · DISTINCT</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800" b="0">
                <a:solidFill>
                  <a:srgbClr val="C5CED6"/>
                </a:solidFill>
                <a:latin typeface="Malgun Gothic"/>
              </a:rPr>
              <a:t>•  UNION과 UNION ALL의 정의</a:t>
            </a:r>
          </a:p>
          <a:p>
            <a:r>
              <a:rPr sz="1800" b="0">
                <a:solidFill>
                  <a:srgbClr val="C5CED6"/>
                </a:solidFill>
                <a:latin typeface="Malgun Gothic"/>
              </a:rPr>
              <a:t>•  DISTINCT의 정의와 적용 범위</a:t>
            </a:r>
          </a:p>
          <a:p>
            <a:r>
              <a:rPr sz="1800" b="0">
                <a:solidFill>
                  <a:srgbClr val="C5CED6"/>
                </a:solidFill>
                <a:latin typeface="Malgun Gothic"/>
              </a:rPr>
              <a:t>•  중복 제거에 비용이 드는 이유</a:t>
            </a:r>
          </a:p>
        </p:txBody>
      </p:sp>
    </p:spTree>
    <p:extLst>
      <p:ext uri="{BB962C8B-B14F-4D97-AF65-F5344CB8AC3E}">
        <p14:creationId xmlns:p14="http://schemas.microsoft.com/office/powerpoint/2010/main" val="3893391367"/>
      </p:ext>
    </p:extLst>
  </p:cSld>
  <p:clrMapOvr>
    <a:masterClrMapping/>
  </p:clrMapOvr>
</p:sld>
</file>

<file path=ppt/slides/slide4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UNION과 UNION ALL의 정의</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UNION — 두 결과 집합을 합치면서 중복된 행을 제거한다</a:t>
            </a:r>
          </a:p>
          <a:p>
            <a:r>
              <a:rPr sz="1600" b="0">
                <a:solidFill>
                  <a:srgbClr val="5A6672"/>
                </a:solidFill>
                <a:latin typeface="Malgun Gothic"/>
              </a:rPr>
              <a:t>    –  합집합의 수학적 정의에 가깝다. 같은 행이 여러 번 나와도 결과에는 한 번만 남는다</a:t>
            </a:r>
          </a:p>
          <a:p>
            <a:r>
              <a:rPr sz="1600" b="0">
                <a:solidFill>
                  <a:srgbClr val="5A6672"/>
                </a:solidFill>
                <a:latin typeface="Malgun Gothic"/>
              </a:rPr>
              <a:t>    –  중복을 제거하려면 어떤 행이 이미 나왔는지를 알아야 하므로 추가 작업이 필요하다</a:t>
            </a:r>
          </a:p>
          <a:p>
            <a:r>
              <a:rPr sz="1800" b="0">
                <a:solidFill>
                  <a:srgbClr val="202830"/>
                </a:solidFill>
                <a:latin typeface="Malgun Gothic"/>
              </a:rPr>
              <a:t>•  UNION ALL — 두 결과 집합을 그대로 이어붙인다</a:t>
            </a:r>
          </a:p>
          <a:p>
            <a:r>
              <a:rPr sz="1600" b="0">
                <a:solidFill>
                  <a:srgbClr val="5A6672"/>
                </a:solidFill>
                <a:latin typeface="Malgun Gothic"/>
              </a:rPr>
              <a:t>    –  중복 제거가 없다. 앞 집합을 다 내보내고 뒤 집합을 이어서 내보내면 끝이다</a:t>
            </a:r>
          </a:p>
          <a:p>
            <a:r>
              <a:rPr sz="1600" b="0">
                <a:solidFill>
                  <a:srgbClr val="5A6672"/>
                </a:solidFill>
                <a:latin typeface="Malgun Gothic"/>
              </a:rPr>
              <a:t>    –  판단할 것이 없으므로 추가 작업도 없다</a:t>
            </a:r>
          </a:p>
          <a:p>
            <a:r>
              <a:rPr sz="1800" b="0">
                <a:solidFill>
                  <a:srgbClr val="202830"/>
                </a:solidFill>
                <a:latin typeface="Malgun Gothic"/>
              </a:rPr>
              <a:t>•  두 연산자는 성능 옵션이 아니라 서로 다른 결과를 내는 연산이다</a:t>
            </a:r>
          </a:p>
          <a:p>
            <a:r>
              <a:rPr sz="1600" b="0">
                <a:solidFill>
                  <a:srgbClr val="5A6672"/>
                </a:solidFill>
                <a:latin typeface="Malgun Gothic"/>
              </a:rPr>
              <a:t>    –  두 집합에 겹치는 행이 하나도 없을 때에만 두 결과가 같아진다</a:t>
            </a:r>
          </a:p>
        </p:txBody>
      </p:sp>
    </p:spTree>
    <p:extLst>
      <p:ext uri="{BB962C8B-B14F-4D97-AF65-F5344CB8AC3E}">
        <p14:creationId xmlns:p14="http://schemas.microsoft.com/office/powerpoint/2010/main" val="3219679182"/>
      </p:ext>
    </p:extLst>
  </p:cSld>
  <p:clrMapOvr>
    <a:masterClrMapping/>
  </p:clrMapOvr>
</p:sld>
</file>

<file path=ppt/slides/slide4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DISTINCT의 정의와 적용 범위</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DISTINCT — 결과 집합에서 중복된 행을 제거한다</a:t>
            </a:r>
          </a:p>
          <a:p>
            <a:r>
              <a:rPr sz="1600" b="0">
                <a:solidFill>
                  <a:srgbClr val="5A6672"/>
                </a:solidFill>
                <a:latin typeface="Malgun Gothic"/>
              </a:rPr>
              <a:t>    –  집합 연산자와 달리 단일 쿼리 하나에도 적용할 수 있다</a:t>
            </a:r>
          </a:p>
          <a:p>
            <a:r>
              <a:rPr sz="1600" b="0">
                <a:solidFill>
                  <a:srgbClr val="5A6672"/>
                </a:solidFill>
                <a:latin typeface="Malgun Gothic"/>
              </a:rPr>
              <a:t>    –  선택된 컬럼 조합 전체를 기준으로 같은 값을 하나로 줄인다</a:t>
            </a:r>
          </a:p>
          <a:p>
            <a:r>
              <a:rPr sz="1800" b="0">
                <a:solidFill>
                  <a:srgbClr val="202830"/>
                </a:solidFill>
                <a:latin typeface="Malgun Gothic"/>
              </a:rPr>
              <a:t>•  UNION이 하는 일과 본질적으로 같은 작업이다</a:t>
            </a:r>
          </a:p>
          <a:p>
            <a:r>
              <a:rPr sz="1600" b="0">
                <a:solidFill>
                  <a:srgbClr val="5A6672"/>
                </a:solidFill>
                <a:latin typeface="Malgun Gothic"/>
              </a:rPr>
              <a:t>    –  UNION = UNION ALL로 합친 결과에 중복 제거를 적용한 것</a:t>
            </a:r>
          </a:p>
          <a:p>
            <a:r>
              <a:rPr sz="1600" b="0">
                <a:solidFill>
                  <a:srgbClr val="5A6672"/>
                </a:solidFill>
                <a:latin typeface="Malgun Gothic"/>
              </a:rPr>
              <a:t>    –  따라서 UNION의 비용을 이해하면 DISTINCT의 비용도 같은 원리로 이해된다</a:t>
            </a:r>
          </a:p>
          <a:p>
            <a:r>
              <a:rPr sz="1800" b="0">
                <a:solidFill>
                  <a:srgbClr val="202830"/>
                </a:solidFill>
                <a:latin typeface="Malgun Gothic"/>
              </a:rPr>
              <a:t>•  실무에서 DISTINCT가 붙는 전형적인 자리</a:t>
            </a:r>
          </a:p>
          <a:p>
            <a:r>
              <a:rPr sz="1600" b="0">
                <a:solidFill>
                  <a:srgbClr val="5A6672"/>
                </a:solidFill>
                <a:latin typeface="Malgun Gothic"/>
              </a:rPr>
              <a:t>    –  조인 때문에 행이 늘어난 결과를 원래 건수로 되돌리려는 목적</a:t>
            </a:r>
          </a:p>
          <a:p>
            <a:r>
              <a:rPr sz="1600" b="0">
                <a:solidFill>
                  <a:srgbClr val="5A6672"/>
                </a:solidFill>
                <a:latin typeface="Malgun Gothic"/>
              </a:rPr>
              <a:t>    –  중복 여부를 확신하지 못해 "혹시 몰라서" 붙여 두는 습관적 사용</a:t>
            </a:r>
          </a:p>
        </p:txBody>
      </p:sp>
    </p:spTree>
    <p:extLst>
      <p:ext uri="{BB962C8B-B14F-4D97-AF65-F5344CB8AC3E}">
        <p14:creationId xmlns:p14="http://schemas.microsoft.com/office/powerpoint/2010/main" val="2310720105"/>
      </p:ext>
    </p:extLst>
  </p:cSld>
  <p:clrMapOvr>
    <a:masterClrMapping/>
  </p:clrMapOvr>
</p:sld>
</file>

<file path=ppt/slides/slide4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중복 제거에는 왜 비용이 드는가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중복을 제거하려면 같은 값을 찾아내야 한다</a:t>
            </a:r>
          </a:p>
          <a:p>
            <a:r>
              <a:rPr sz="1600" b="0">
                <a:solidFill>
                  <a:srgbClr val="5A6672"/>
                </a:solidFill>
                <a:latin typeface="Malgun Gothic"/>
              </a:rPr>
              <a:t>    –  한 행만 보고는 그 행이 중복인지 알 수 없다. 다른 행들과 비교해야 한다</a:t>
            </a:r>
          </a:p>
          <a:p>
            <a:r>
              <a:rPr sz="1800" b="0">
                <a:solidFill>
                  <a:srgbClr val="202830"/>
                </a:solidFill>
                <a:latin typeface="Malgun Gothic"/>
              </a:rPr>
              <a:t>•  DB가 쓰는 대표적인 두 가지 방법</a:t>
            </a:r>
          </a:p>
          <a:p>
            <a:r>
              <a:rPr sz="1600" b="0">
                <a:solidFill>
                  <a:srgbClr val="5A6672"/>
                </a:solidFill>
                <a:latin typeface="Malgun Gothic"/>
              </a:rPr>
              <a:t>    –  정렬(SORT) — 전체 결과를 정렬해 같은 값을 이웃으로 모은 뒤 인접 중복을 걷어낸다</a:t>
            </a:r>
          </a:p>
          <a:p>
            <a:r>
              <a:rPr sz="1600" b="0">
                <a:solidFill>
                  <a:srgbClr val="5A6672"/>
                </a:solidFill>
                <a:latin typeface="Malgun Gothic"/>
              </a:rPr>
              <a:t>    –  해시(HASH) — 값을 해시로 묶어 같은 버킷에 모은 뒤 중복을 판정한다</a:t>
            </a:r>
          </a:p>
          <a:p>
            <a:r>
              <a:rPr sz="1800" b="0">
                <a:solidFill>
                  <a:srgbClr val="202830"/>
                </a:solidFill>
                <a:latin typeface="Malgun Gothic"/>
              </a:rPr>
              <a:t>•  두 방법 모두 결과 전체를 한 번은 모아 두어야 한다</a:t>
            </a:r>
          </a:p>
          <a:p>
            <a:r>
              <a:rPr sz="1600" b="0">
                <a:solidFill>
                  <a:srgbClr val="5A6672"/>
                </a:solidFill>
                <a:latin typeface="Malgun Gothic"/>
              </a:rPr>
              <a:t>    –  앞쪽 몇 건만 보고 결론 낼 수 없으므로 중간 결과를 쌓을 작업 공간이 필요하다</a:t>
            </a:r>
          </a:p>
          <a:p>
            <a:r>
              <a:rPr sz="1600" b="0">
                <a:solidFill>
                  <a:srgbClr val="5A6672"/>
                </a:solidFill>
                <a:latin typeface="Malgun Gothic"/>
              </a:rPr>
              <a:t>    –  즉 CPU 연산량과 작업 메모리를 함께 소비하는 연산이다</a:t>
            </a:r>
          </a:p>
          <a:p>
            <a:r>
              <a:rPr sz="1800" b="0">
                <a:solidFill>
                  <a:srgbClr val="202830"/>
                </a:solidFill>
                <a:latin typeface="Malgun Gothic"/>
              </a:rPr>
              <a:t>•  이 비용이 실행계획의 어느 지표에 나타나는지는 다음 절에서 확인한다</a:t>
            </a:r>
          </a:p>
        </p:txBody>
      </p:sp>
    </p:spTree>
    <p:extLst>
      <p:ext uri="{BB962C8B-B14F-4D97-AF65-F5344CB8AC3E}">
        <p14:creationId xmlns:p14="http://schemas.microsoft.com/office/powerpoint/2010/main" val="3108880691"/>
      </p:ext>
    </p:extLst>
  </p:cSld>
  <p:clrMapOvr>
    <a:masterClrMapping/>
  </p:clrMapOvr>
</p:sld>
</file>

<file path=ppt/slides/slide444.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107996"/>
          </a:xfrm>
          <a:prstGeom prst="rect">
            <a:avLst/>
          </a:prstGeom>
          <a:noFill/>
        </p:spPr>
        <p:txBody>
          <a:bodyPr wrap="square">
            <a:spAutoFit/>
          </a:bodyPr>
          <a:lstStyle/>
          <a:p>
            <a:r>
              <a:rPr lang="en-US" sz="6600" b="1" dirty="0">
                <a:solidFill>
                  <a:srgbClr val="C0392B"/>
                </a:solidFill>
                <a:latin typeface="Malgun Gothic"/>
              </a:rPr>
              <a:t>11</a:t>
            </a:r>
            <a:r>
              <a:rPr sz="6600" b="1" dirty="0">
                <a:solidFill>
                  <a:srgbClr val="C0392B"/>
                </a:solidFill>
                <a:latin typeface="Malgun Gothic"/>
              </a:rPr>
              <a:t>.3</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중복 제거 비용은 어디에 나타나는가</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800" b="0">
                <a:solidFill>
                  <a:srgbClr val="C5CED6"/>
                </a:solidFill>
                <a:latin typeface="Malgun Gothic"/>
              </a:rPr>
              <a:t>•  UNION의 내부 구조 — UNION-ALL + SORT UNIQUE</a:t>
            </a:r>
          </a:p>
          <a:p>
            <a:r>
              <a:rPr sz="1800" b="0">
                <a:solidFill>
                  <a:srgbClr val="C5CED6"/>
                </a:solidFill>
                <a:latin typeface="Malgun Gothic"/>
              </a:rPr>
              <a:t>•  Buffers가 재는 것과 재지 못하는 것</a:t>
            </a:r>
          </a:p>
          <a:p>
            <a:r>
              <a:rPr sz="1800" b="0">
                <a:solidFill>
                  <a:srgbClr val="C5CED6"/>
                </a:solidFill>
                <a:latin typeface="Malgun Gothic"/>
              </a:rPr>
              <a:t>•  A-Time과 작업 메모리 지표 읽는 법</a:t>
            </a:r>
          </a:p>
          <a:p>
            <a:r>
              <a:rPr sz="1800" b="0">
                <a:solidFill>
                  <a:srgbClr val="C5CED6"/>
                </a:solidFill>
                <a:latin typeface="Malgun Gothic"/>
              </a:rPr>
              <a:t>•  옵티마이저가 DISTINCT를 지울 수 있는 조건</a:t>
            </a:r>
          </a:p>
        </p:txBody>
      </p:sp>
    </p:spTree>
    <p:extLst>
      <p:ext uri="{BB962C8B-B14F-4D97-AF65-F5344CB8AC3E}">
        <p14:creationId xmlns:p14="http://schemas.microsoft.com/office/powerpoint/2010/main" val="57416546"/>
      </p:ext>
    </p:extLst>
  </p:cSld>
  <p:clrMapOvr>
    <a:masterClrMapping/>
  </p:clrMapOvr>
</p:sld>
</file>

<file path=ppt/slides/slide4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UNION의 내부 구조</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UNION은 하나의 오퍼레이션이 아니라 두 단계로 실행된다</a:t>
            </a:r>
          </a:p>
          <a:p>
            <a:r>
              <a:rPr sz="1600" b="0">
                <a:solidFill>
                  <a:srgbClr val="5A6672"/>
                </a:solidFill>
                <a:latin typeface="Malgun Gothic"/>
              </a:rPr>
              <a:t>    –  1단계 UNION-ALL — 두 집합을 그대로 합친다</a:t>
            </a:r>
          </a:p>
          <a:p>
            <a:r>
              <a:rPr sz="1600" b="0">
                <a:solidFill>
                  <a:srgbClr val="5A6672"/>
                </a:solidFill>
                <a:latin typeface="Malgun Gothic"/>
              </a:rPr>
              <a:t>    –  2단계 SORT UNIQUE — 합쳐진 결과를 정렬해 중복을 제거한다</a:t>
            </a:r>
          </a:p>
          <a:p>
            <a:r>
              <a:rPr sz="1800" b="0">
                <a:solidFill>
                  <a:srgbClr val="202830"/>
                </a:solidFill>
                <a:latin typeface="Malgun Gothic"/>
              </a:rPr>
              <a:t>•  즉 UNION 실행계획은 UNION ALL 실행계획 위에 한 단계가 더 얹힌 모양이다</a:t>
            </a:r>
          </a:p>
          <a:p>
            <a:r>
              <a:rPr sz="1600" b="0">
                <a:solidFill>
                  <a:srgbClr val="5A6672"/>
                </a:solidFill>
                <a:latin typeface="Malgun Gothic"/>
              </a:rPr>
              <a:t>    –  아래쪽 테이블 접근 단계는 두 쿼리가 완전히 동일하다</a:t>
            </a:r>
          </a:p>
          <a:p>
            <a:r>
              <a:rPr sz="1600" b="0">
                <a:solidFill>
                  <a:srgbClr val="5A6672"/>
                </a:solidFill>
                <a:latin typeface="Malgun Gothic"/>
              </a:rPr>
              <a:t>    –  차이는 UNION-ALL 위에 SORT UNIQUE가 있느냐 없느냐 하나뿐이다</a:t>
            </a:r>
          </a:p>
          <a:p>
            <a:r>
              <a:rPr sz="1800" b="0">
                <a:solidFill>
                  <a:srgbClr val="202830"/>
                </a:solidFill>
                <a:latin typeface="Malgun Gothic"/>
              </a:rPr>
              <a:t>•  이 구조가 이번 장의 실측을 아주 깨끗한 비교로 만들어 준다</a:t>
            </a:r>
          </a:p>
          <a:p>
            <a:r>
              <a:rPr sz="1600" b="0">
                <a:solidFill>
                  <a:srgbClr val="5A6672"/>
                </a:solidFill>
                <a:latin typeface="Malgun Gothic"/>
              </a:rPr>
              <a:t>    –  변수가 딱 하나이므로 관측된 차이의 원인을 그 한 단계로 특정할 수 있다</a:t>
            </a:r>
          </a:p>
        </p:txBody>
      </p:sp>
    </p:spTree>
    <p:extLst>
      <p:ext uri="{BB962C8B-B14F-4D97-AF65-F5344CB8AC3E}">
        <p14:creationId xmlns:p14="http://schemas.microsoft.com/office/powerpoint/2010/main" val="2685471222"/>
      </p:ext>
    </p:extLst>
  </p:cSld>
  <p:clrMapOvr>
    <a:masterClrMapping/>
  </p:clrMapOvr>
</p:sld>
</file>

<file path=ppt/slides/slide4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Buffers가 재는 것과 재지 못하는 것</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Buffers는 블록을 몇 번 읽었는지를 세는 지표다</a:t>
            </a:r>
          </a:p>
          <a:p>
            <a:r>
              <a:rPr sz="1600" b="0">
                <a:solidFill>
                  <a:srgbClr val="5A6672"/>
                </a:solidFill>
                <a:latin typeface="Malgun Gothic"/>
              </a:rPr>
              <a:t>    –  버퍼 캐시 또는 디스크에서 블록을 가져온 횟수, 즉 논리적 I/O</a:t>
            </a:r>
          </a:p>
          <a:p>
            <a:r>
              <a:rPr sz="1600" b="0">
                <a:solidFill>
                  <a:srgbClr val="5A6672"/>
                </a:solidFill>
                <a:latin typeface="Malgun Gothic"/>
              </a:rPr>
              <a:t>    –  "얼마나 계산했는가"가 아니라 "얼마나 읽었는가"만 센다</a:t>
            </a:r>
          </a:p>
          <a:p>
            <a:r>
              <a:rPr sz="1800" b="0">
                <a:solidFill>
                  <a:srgbClr val="202830"/>
                </a:solidFill>
                <a:latin typeface="Malgun Gothic"/>
              </a:rPr>
              <a:t>•  SORT UNIQUE는 블록을 새로 읽지 않는다</a:t>
            </a:r>
          </a:p>
          <a:p>
            <a:r>
              <a:rPr sz="1600" b="0">
                <a:solidFill>
                  <a:srgbClr val="5A6672"/>
                </a:solidFill>
                <a:latin typeface="Malgun Gothic"/>
              </a:rPr>
              <a:t>    –  대상은 이미 앞 단계에서 메모리로 가져온 결과 집합이다</a:t>
            </a:r>
          </a:p>
          <a:p>
            <a:r>
              <a:rPr sz="1600" b="0">
                <a:solidFill>
                  <a:srgbClr val="5A6672"/>
                </a:solidFill>
                <a:latin typeface="Malgun Gothic"/>
              </a:rPr>
              <a:t>    –  테이블도 인덱스도 다시 건드리지 않으므로 Buffers가 늘어날 이유가 없다</a:t>
            </a:r>
          </a:p>
          <a:p>
            <a:r>
              <a:rPr sz="1800" b="0">
                <a:solidFill>
                  <a:srgbClr val="202830"/>
                </a:solidFill>
                <a:latin typeface="Malgun Gothic"/>
              </a:rPr>
              <a:t>•  따라서 Buffers만으로는 중복 제거 비용이 전혀 보이지 않는다</a:t>
            </a:r>
          </a:p>
          <a:p>
            <a:r>
              <a:rPr sz="1600" b="0">
                <a:solidFill>
                  <a:srgbClr val="5A6672"/>
                </a:solidFill>
                <a:latin typeface="Malgun Gothic"/>
              </a:rPr>
              <a:t>    –  Buffers가 같다는 사실은 "I/O가 같다"는 뜻이지 "비용이 같다"는 뜻이 아니다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Buffers는 I/O 비용만 나타내는 지표이지 전체 비용의 전부가 아니다. 정렬 같은 CPU·메모리 연산은 Buffers에 반영되지 않으므로, 이 지표 하나만 보고 판단하면 CPU 부하가 큰 연산을 통째로 놓칠 수 있다.</a:t>
            </a:r>
          </a:p>
        </p:txBody>
      </p:sp>
    </p:spTree>
    <p:extLst>
      <p:ext uri="{BB962C8B-B14F-4D97-AF65-F5344CB8AC3E}">
        <p14:creationId xmlns:p14="http://schemas.microsoft.com/office/powerpoint/2010/main" val="3406386852"/>
      </p:ext>
    </p:extLst>
  </p:cSld>
  <p:clrMapOvr>
    <a:masterClrMapping/>
  </p:clrMapOvr>
</p:sld>
</file>

<file path=ppt/slides/slide4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A-Time과 작업 메모리 지표</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중복 제거 비용은 두 종류의 지표에 흔적을 남긴다</a:t>
            </a:r>
          </a:p>
          <a:p>
            <a:r>
              <a:rPr sz="1600" b="0">
                <a:solidFill>
                  <a:srgbClr val="5A6672"/>
                </a:solidFill>
                <a:latin typeface="Malgun Gothic"/>
              </a:rPr>
              <a:t>    –  A-Time — 그 단계가 실제로 소비한 시간. CPU 연산 시간이 여기에 반영된다</a:t>
            </a:r>
          </a:p>
          <a:p>
            <a:r>
              <a:rPr sz="1600" b="0">
                <a:solidFill>
                  <a:srgbClr val="5A6672"/>
                </a:solidFill>
                <a:latin typeface="Malgun Gothic"/>
              </a:rPr>
              <a:t>    –  OMem · 1Mem · Used-Mem — 그 단계가 사용한 작업 메모리 관련 값</a:t>
            </a:r>
          </a:p>
          <a:p>
            <a:r>
              <a:rPr sz="1800" b="0">
                <a:solidFill>
                  <a:srgbClr val="202830"/>
                </a:solidFill>
                <a:latin typeface="Malgun Gothic"/>
              </a:rPr>
              <a:t>•  작업 메모리 관련 컬럼이 채워져 있다는 것 자체가 신호다</a:t>
            </a:r>
          </a:p>
          <a:p>
            <a:r>
              <a:rPr sz="1600" b="0">
                <a:solidFill>
                  <a:srgbClr val="5A6672"/>
                </a:solidFill>
                <a:latin typeface="Malgun Gothic"/>
              </a:rPr>
              <a:t>    –  테이블 접근 단계에는 이 값들이 비어 있다 — 모을 필요가 없기 때문</a:t>
            </a:r>
          </a:p>
          <a:p>
            <a:r>
              <a:rPr sz="1600" b="0">
                <a:solidFill>
                  <a:srgbClr val="5A6672"/>
                </a:solidFill>
                <a:latin typeface="Malgun Gothic"/>
              </a:rPr>
              <a:t>    –  값이 찍힌 단계는 중간 결과를 모아 두어야 하는 연산이라는 뜻이다</a:t>
            </a:r>
          </a:p>
          <a:p>
            <a:r>
              <a:rPr sz="1800" b="0">
                <a:solidFill>
                  <a:srgbClr val="202830"/>
                </a:solidFill>
                <a:latin typeface="Malgun Gothic"/>
              </a:rPr>
              <a:t>•  실행계획을 읽을 때의 습관</a:t>
            </a:r>
          </a:p>
          <a:p>
            <a:r>
              <a:rPr sz="1600" b="0">
                <a:solidFill>
                  <a:srgbClr val="5A6672"/>
                </a:solidFill>
                <a:latin typeface="Malgun Gothic"/>
              </a:rPr>
              <a:t>    –  Buffers 열만 훑지 말고 A-Time과 메모리 열을 같은 줄에서 함께 읽는다</a:t>
            </a:r>
          </a:p>
          <a:p>
            <a:r>
              <a:rPr sz="1600" b="0">
                <a:solidFill>
                  <a:srgbClr val="5A6672"/>
                </a:solidFill>
                <a:latin typeface="Malgun Gothic"/>
              </a:rPr>
              <a:t>    –  어느 단계에서 시간이 늘었는지를 단계별 A-Time 차이로 좁혀 들어간다</a:t>
            </a:r>
          </a:p>
        </p:txBody>
      </p:sp>
    </p:spTree>
    <p:extLst>
      <p:ext uri="{BB962C8B-B14F-4D97-AF65-F5344CB8AC3E}">
        <p14:creationId xmlns:p14="http://schemas.microsoft.com/office/powerpoint/2010/main" val="1812273537"/>
      </p:ext>
    </p:extLst>
  </p:cSld>
  <p:clrMapOvr>
    <a:masterClrMapping/>
  </p:clrMapOvr>
</p:sld>
</file>

<file path=ppt/slides/slide4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옵티마이저가 DISTINCT를 지울 수 있는 조건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DISTINCT도 원칙적으로는 SORT나 HASH 기반 중복 제거가 필요하다</a:t>
            </a:r>
          </a:p>
          <a:p>
            <a:r>
              <a:rPr sz="1800" b="0">
                <a:solidFill>
                  <a:srgbClr val="202830"/>
                </a:solidFill>
                <a:latin typeface="Malgun Gothic"/>
              </a:rPr>
              <a:t>•  그러나 옵티마이저가 중복이 없음을 증명할 수 있으면 이야기가 달라진다</a:t>
            </a:r>
          </a:p>
          <a:p>
            <a:r>
              <a:rPr sz="1600" b="0">
                <a:solidFill>
                  <a:srgbClr val="5A6672"/>
                </a:solidFill>
                <a:latin typeface="Malgun Gothic"/>
              </a:rPr>
              <a:t>    –  조회 대상 컬럼에 PK나 유니크 인덱스 같은 제약이 걸려 있는 경우</a:t>
            </a:r>
          </a:p>
          <a:p>
            <a:r>
              <a:rPr sz="1600" b="0">
                <a:solidFill>
                  <a:srgbClr val="5A6672"/>
                </a:solidFill>
                <a:latin typeface="Malgun Gothic"/>
              </a:rPr>
              <a:t>    –  제약은 DB가 보장하는 사실이므로 옵티마이저가 메타데이터로 확신할 수 있다</a:t>
            </a:r>
          </a:p>
          <a:p>
            <a:r>
              <a:rPr sz="1600" b="0">
                <a:solidFill>
                  <a:srgbClr val="5A6672"/>
                </a:solidFill>
                <a:latin typeface="Malgun Gothic"/>
              </a:rPr>
              <a:t>    –  중복이 나올 수 없다면 중복 제거 단계를 실행할 이유도 없다 — 통째로 생략</a:t>
            </a:r>
          </a:p>
          <a:p>
            <a:r>
              <a:rPr sz="1800" b="0">
                <a:solidFill>
                  <a:srgbClr val="202830"/>
                </a:solidFill>
                <a:latin typeface="Malgun Gothic"/>
              </a:rPr>
              <a:t>•  생략의 조건은 "실제로 중복이 없다"가 아니라 "증명할 수 있다"이다</a:t>
            </a:r>
          </a:p>
          <a:p>
            <a:r>
              <a:rPr sz="1600" b="0">
                <a:solidFill>
                  <a:srgbClr val="5A6672"/>
                </a:solidFill>
                <a:latin typeface="Malgun Gothic"/>
              </a:rPr>
              <a:t>    –  데이터상 우연히 중복이 없어도 제약이 없으면 옵티마이저는 확신할 수 없다</a:t>
            </a:r>
          </a:p>
          <a:p>
            <a:r>
              <a:rPr sz="1600" b="0">
                <a:solidFill>
                  <a:srgbClr val="5A6672"/>
                </a:solidFill>
                <a:latin typeface="Malgun Gothic"/>
              </a:rPr>
              <a:t>    –  조인을 거친 결과나 제약이 없는 컬럼이라면 자동 생략을 기대할 수 없다</a:t>
            </a:r>
          </a:p>
        </p:txBody>
      </p:sp>
    </p:spTree>
    <p:extLst>
      <p:ext uri="{BB962C8B-B14F-4D97-AF65-F5344CB8AC3E}">
        <p14:creationId xmlns:p14="http://schemas.microsoft.com/office/powerpoint/2010/main" val="3599939395"/>
      </p:ext>
    </p:extLst>
  </p:cSld>
  <p:clrMapOvr>
    <a:masterClrMapping/>
  </p:clrMapOvr>
</p:sld>
</file>

<file path=ppt/slides/slide449.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107996"/>
          </a:xfrm>
          <a:prstGeom prst="rect">
            <a:avLst/>
          </a:prstGeom>
          <a:noFill/>
        </p:spPr>
        <p:txBody>
          <a:bodyPr wrap="square">
            <a:spAutoFit/>
          </a:bodyPr>
          <a:lstStyle/>
          <a:p>
            <a:r>
              <a:rPr lang="en-US" sz="6600" b="1" dirty="0">
                <a:solidFill>
                  <a:srgbClr val="C0392B"/>
                </a:solidFill>
                <a:latin typeface="Malgun Gothic"/>
              </a:rPr>
              <a:t>11</a:t>
            </a:r>
            <a:r>
              <a:rPr sz="6600" b="1" dirty="0">
                <a:solidFill>
                  <a:srgbClr val="C0392B"/>
                </a:solidFill>
                <a:latin typeface="Malgun Gothic"/>
              </a:rPr>
              <a:t>.4</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UNION vs UNION ALL 실측 소재</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800" b="0">
                <a:solidFill>
                  <a:srgbClr val="C5CED6"/>
                </a:solidFill>
                <a:latin typeface="Malgun Gothic"/>
              </a:rPr>
              <a:t>•  두 집합의 정의와 겹침 가능성</a:t>
            </a:r>
          </a:p>
          <a:p>
            <a:r>
              <a:rPr sz="1800" b="0">
                <a:solidFill>
                  <a:srgbClr val="C5CED6"/>
                </a:solidFill>
                <a:latin typeface="Malgun Gothic"/>
              </a:rPr>
              <a:t>•  Q1. UNION 버전</a:t>
            </a:r>
          </a:p>
          <a:p>
            <a:r>
              <a:rPr sz="1800" b="0">
                <a:solidFill>
                  <a:srgbClr val="C5CED6"/>
                </a:solidFill>
                <a:latin typeface="Malgun Gothic"/>
              </a:rPr>
              <a:t>•  Q2. UNION ALL 버전</a:t>
            </a:r>
          </a:p>
        </p:txBody>
      </p:sp>
    </p:spTree>
    <p:extLst>
      <p:ext uri="{BB962C8B-B14F-4D97-AF65-F5344CB8AC3E}">
        <p14:creationId xmlns:p14="http://schemas.microsoft.com/office/powerpoint/2010/main" val="1772463769"/>
      </p:ext>
    </p:extLst>
  </p:cSld>
  <p:clrMapOvr>
    <a:masterClrMapping/>
  </p:clrMapOvr>
</p:sld>
</file>

<file path=ppt/slides/slide4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실측 소재 — 두 집합의 정의</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집합 A — 입원 청구를 낸 환자</a:t>
            </a:r>
          </a:p>
          <a:p>
            <a:r>
              <a:rPr sz="1600" b="0">
                <a:solidFill>
                  <a:srgbClr val="5A6672"/>
                </a:solidFill>
                <a:latin typeface="Malgun Gothic"/>
              </a:rPr>
              <a:t>    –  MEDICAL_CLAIMS에서 CLAIM_TYPE이 입원인 행의 PAT_ID</a:t>
            </a:r>
          </a:p>
          <a:p>
            <a:r>
              <a:rPr sz="1800" b="0">
                <a:solidFill>
                  <a:srgbClr val="202830"/>
                </a:solidFill>
                <a:latin typeface="Malgun Gothic"/>
              </a:rPr>
              <a:t>•  집합 B — 의료급여 환자</a:t>
            </a:r>
          </a:p>
          <a:p>
            <a:r>
              <a:rPr sz="1600" b="0">
                <a:solidFill>
                  <a:srgbClr val="5A6672"/>
                </a:solidFill>
                <a:latin typeface="Malgun Gothic"/>
              </a:rPr>
              <a:t>    –  PATIENTS에서 INS_TYPE이 의료급여인 행의 PAT_ID</a:t>
            </a:r>
          </a:p>
          <a:p>
            <a:r>
              <a:rPr sz="1800" b="0">
                <a:solidFill>
                  <a:srgbClr val="202830"/>
                </a:solidFill>
                <a:latin typeface="Malgun Gothic"/>
              </a:rPr>
              <a:t>•  두 집합은 논리적으로 겹칠 수 있는가</a:t>
            </a:r>
          </a:p>
          <a:p>
            <a:r>
              <a:rPr sz="1600" b="0">
                <a:solidFill>
                  <a:srgbClr val="5A6672"/>
                </a:solidFill>
                <a:latin typeface="Malgun Gothic"/>
              </a:rPr>
              <a:t>    –  한 환자가 의료급여 대상이면서 입원 청구를 낸 경우를 막을 규칙이 없다</a:t>
            </a:r>
          </a:p>
          <a:p>
            <a:r>
              <a:rPr sz="1600" b="0">
                <a:solidFill>
                  <a:srgbClr val="5A6672"/>
                </a:solidFill>
                <a:latin typeface="Malgun Gothic"/>
              </a:rPr>
              <a:t>    –  즉 겹칠 수 있다 — 그렇다면 중복 제거 여부가 결과 건수를 바꾼다</a:t>
            </a:r>
          </a:p>
          <a:p>
            <a:r>
              <a:rPr sz="1800" b="0">
                <a:solidFill>
                  <a:srgbClr val="202830"/>
                </a:solidFill>
                <a:latin typeface="Malgun Gothic"/>
              </a:rPr>
              <a:t>•  비교 설계</a:t>
            </a:r>
          </a:p>
          <a:p>
            <a:r>
              <a:rPr sz="1600" b="0">
                <a:solidFill>
                  <a:srgbClr val="5A6672"/>
                </a:solidFill>
                <a:latin typeface="Malgun Gothic"/>
              </a:rPr>
              <a:t>    –  두 쿼리는 집합 연산자만 다르고 나머지는 완전히 동일하다</a:t>
            </a:r>
          </a:p>
          <a:p>
            <a:r>
              <a:rPr sz="1600" b="0">
                <a:solidFill>
                  <a:srgbClr val="5A6672"/>
                </a:solidFill>
                <a:latin typeface="Malgun Gothic"/>
              </a:rPr>
              <a:t>    –  바깥에서 COUNT(*)로 감싸 결과 건수를 바로 확인한다</a:t>
            </a:r>
          </a:p>
        </p:txBody>
      </p:sp>
    </p:spTree>
    <p:extLst>
      <p:ext uri="{BB962C8B-B14F-4D97-AF65-F5344CB8AC3E}">
        <p14:creationId xmlns:p14="http://schemas.microsoft.com/office/powerpoint/2010/main" val="1859444939"/>
      </p:ext>
    </p:extLst>
  </p:cSld>
  <p:clrMapOvr>
    <a:masterClrMapping/>
  </p:clrMapOvr>
</p:sld>
</file>

<file path=ppt/slides/slide4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Q1. UNION (중복 제거)</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9.4절 Example — 두 집합을 UNION으로 합쳐 건수를 센다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Q1. UNION (중복 제거)</a:t>
            </a:r>
          </a:p>
          <a:p>
            <a:r>
              <a:rPr sz="1250" b="0">
                <a:solidFill>
                  <a:srgbClr val="E6E6E6"/>
                </a:solidFill>
                <a:latin typeface="Consolas"/>
              </a:rPr>
              <a:t>SELECT COUNT(*) FROM (</a:t>
            </a:r>
          </a:p>
          <a:p>
            <a:r>
              <a:rPr sz="1250" b="0">
                <a:solidFill>
                  <a:srgbClr val="E6E6E6"/>
                </a:solidFill>
                <a:latin typeface="Consolas"/>
              </a:rPr>
              <a:t>  SELECT pat_id FROM medical_claims WHERE claim_type = '입원'</a:t>
            </a:r>
          </a:p>
          <a:p>
            <a:r>
              <a:rPr sz="1250" b="0">
                <a:solidFill>
                  <a:srgbClr val="E6E6E6"/>
                </a:solidFill>
                <a:latin typeface="Consolas"/>
              </a:rPr>
              <a:t>  UNION</a:t>
            </a:r>
          </a:p>
          <a:p>
            <a:r>
              <a:rPr sz="1250" b="0">
                <a:solidFill>
                  <a:srgbClr val="E6E6E6"/>
                </a:solidFill>
                <a:latin typeface="Consolas"/>
              </a:rPr>
              <a:t>  SELECT pat_id FROM patients WHERE ins_type = '의료급여'</a:t>
            </a:r>
          </a:p>
          <a:p>
            <a:r>
              <a:rPr sz="1250" b="0">
                <a:solidFill>
                  <a:srgbClr val="E6E6E6"/>
                </a:solidFill>
                <a:latin typeface="Consolas"/>
              </a:rPr>
              <a:t>);</a:t>
            </a:r>
          </a:p>
        </p:txBody>
      </p:sp>
    </p:spTree>
    <p:extLst>
      <p:ext uri="{BB962C8B-B14F-4D97-AF65-F5344CB8AC3E}">
        <p14:creationId xmlns:p14="http://schemas.microsoft.com/office/powerpoint/2010/main" val="2789122205"/>
      </p:ext>
    </p:extLst>
  </p:cSld>
  <p:clrMapOvr>
    <a:masterClrMapping/>
  </p:clrMapOvr>
</p:sld>
</file>

<file path=ppt/slides/slide4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Q2. UNION ALL (중복 미제거)</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9.4절 Example — 연산자만 UNION ALL로 바꾼 동일 쿼리</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Q2. UNION ALL (중복 미제거)</a:t>
            </a:r>
          </a:p>
          <a:p>
            <a:r>
              <a:rPr sz="1250" b="0">
                <a:solidFill>
                  <a:srgbClr val="E6E6E6"/>
                </a:solidFill>
                <a:latin typeface="Consolas"/>
              </a:rPr>
              <a:t>SELECT COUNT(*) FROM (</a:t>
            </a:r>
          </a:p>
          <a:p>
            <a:r>
              <a:rPr sz="1250" b="0">
                <a:solidFill>
                  <a:srgbClr val="E6E6E6"/>
                </a:solidFill>
                <a:latin typeface="Consolas"/>
              </a:rPr>
              <a:t>  SELECT pat_id FROM medical_claims WHERE claim_type = '입원'</a:t>
            </a:r>
          </a:p>
          <a:p>
            <a:r>
              <a:rPr sz="1250" b="0">
                <a:solidFill>
                  <a:srgbClr val="E6E6E6"/>
                </a:solidFill>
                <a:latin typeface="Consolas"/>
              </a:rPr>
              <a:t>  UNION ALL</a:t>
            </a:r>
          </a:p>
          <a:p>
            <a:r>
              <a:rPr sz="1250" b="0">
                <a:solidFill>
                  <a:srgbClr val="E6E6E6"/>
                </a:solidFill>
                <a:latin typeface="Consolas"/>
              </a:rPr>
              <a:t>  SELECT pat_id FROM patients WHERE ins_type = '의료급여'</a:t>
            </a:r>
          </a:p>
          <a:p>
            <a:r>
              <a:rPr sz="1250" b="0">
                <a:solidFill>
                  <a:srgbClr val="E6E6E6"/>
                </a:solidFill>
                <a:latin typeface="Consolas"/>
              </a:rPr>
              <a:t>);</a:t>
            </a:r>
          </a:p>
        </p:txBody>
      </p:sp>
    </p:spTree>
    <p:extLst>
      <p:ext uri="{BB962C8B-B14F-4D97-AF65-F5344CB8AC3E}">
        <p14:creationId xmlns:p14="http://schemas.microsoft.com/office/powerpoint/2010/main" val="3067205328"/>
      </p:ext>
    </p:extLst>
  </p:cSld>
  <p:clrMapOvr>
    <a:masterClrMapping/>
  </p:clrMapOvr>
</p:sld>
</file>

<file path=ppt/slides/slide453.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107996"/>
          </a:xfrm>
          <a:prstGeom prst="rect">
            <a:avLst/>
          </a:prstGeom>
          <a:noFill/>
        </p:spPr>
        <p:txBody>
          <a:bodyPr wrap="square">
            <a:spAutoFit/>
          </a:bodyPr>
          <a:lstStyle/>
          <a:p>
            <a:r>
              <a:rPr lang="en-US" sz="6600" b="1" dirty="0">
                <a:solidFill>
                  <a:srgbClr val="C0392B"/>
                </a:solidFill>
                <a:latin typeface="Malgun Gothic"/>
              </a:rPr>
              <a:t>11.</a:t>
            </a:r>
            <a:r>
              <a:rPr sz="6600" b="1" dirty="0">
                <a:solidFill>
                  <a:srgbClr val="C0392B"/>
                </a:solidFill>
                <a:latin typeface="Malgun Gothic"/>
              </a:rPr>
              <a:t>5</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실행계획 실측 비교</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800" b="0">
                <a:solidFill>
                  <a:srgbClr val="C5CED6"/>
                </a:solidFill>
                <a:latin typeface="Malgun Gothic"/>
              </a:rPr>
              <a:t>•  Q1. UNION 실행계획과 해석</a:t>
            </a:r>
          </a:p>
          <a:p>
            <a:r>
              <a:rPr sz="1800" b="0">
                <a:solidFill>
                  <a:srgbClr val="C5CED6"/>
                </a:solidFill>
                <a:latin typeface="Malgun Gothic"/>
              </a:rPr>
              <a:t>•  Q2. UNION ALL 실행계획과 해석</a:t>
            </a:r>
          </a:p>
          <a:p>
            <a:r>
              <a:rPr sz="1800" b="0">
                <a:solidFill>
                  <a:srgbClr val="C5CED6"/>
                </a:solidFill>
                <a:latin typeface="Malgun Gothic"/>
              </a:rPr>
              <a:t>•  두 계획의 유일한 차이와 Buffers·A-Time</a:t>
            </a:r>
          </a:p>
          <a:p>
            <a:r>
              <a:rPr sz="1800" b="0">
                <a:solidFill>
                  <a:srgbClr val="C5CED6"/>
                </a:solidFill>
                <a:latin typeface="Malgun Gothic"/>
              </a:rPr>
              <a:t>•  결과 건수 차이가 말해주는 것</a:t>
            </a:r>
          </a:p>
        </p:txBody>
      </p:sp>
    </p:spTree>
    <p:extLst>
      <p:ext uri="{BB962C8B-B14F-4D97-AF65-F5344CB8AC3E}">
        <p14:creationId xmlns:p14="http://schemas.microsoft.com/office/powerpoint/2010/main" val="1094420295"/>
      </p:ext>
    </p:extLst>
  </p:cSld>
  <p:clrMapOvr>
    <a:masterClrMapping/>
  </p:clrMapOvr>
</p:sld>
</file>

<file path=ppt/slides/slide4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Q1. UNION 실행계획</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9.5절 Execution Plan — SORT UNIQUE 단계에만 작업 메모리 값이 찍혀 있다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A-Rows |   A-Time    | Buffers | OMem  | 1Mem | Used-Mem  |</a:t>
            </a:r>
          </a:p>
          <a:p>
            <a:r>
              <a:rPr sz="1250" b="0">
                <a:solidFill>
                  <a:srgbClr val="E6E6E6"/>
                </a:solidFill>
                <a:latin typeface="Consolas"/>
              </a:rPr>
              <a:t>| 0  | SELECT STATEMENT       |                |      1 | 00:00:00.07 |    3532 |       |      |           |</a:t>
            </a:r>
          </a:p>
          <a:p>
            <a:r>
              <a:rPr sz="1250" b="0">
                <a:solidFill>
                  <a:srgbClr val="E6E6E6"/>
                </a:solidFill>
                <a:latin typeface="Consolas"/>
              </a:rPr>
              <a:t>| 1  |  SORT AGGREGATE        |                |      1 | 00:00:00.07 |    3532 |       |      |           |</a:t>
            </a:r>
          </a:p>
          <a:p>
            <a:r>
              <a:rPr sz="1250" b="0">
                <a:solidFill>
                  <a:srgbClr val="E6E6E6"/>
                </a:solidFill>
                <a:latin typeface="Consolas"/>
              </a:rPr>
              <a:t>| 2  |   VIEW                 |                |  35985 | 00:00:00.07 |    3532 |       |      |           |</a:t>
            </a:r>
          </a:p>
          <a:p>
            <a:r>
              <a:rPr sz="1250" b="0">
                <a:solidFill>
                  <a:srgbClr val="E6E6E6"/>
                </a:solidFill>
                <a:latin typeface="Consolas"/>
              </a:rPr>
              <a:t>| 3  |    SORT UNIQUE         |                |  35985 | 00:00:00.06 |    3532 | 1824K | 791K | 1621K (0) |</a:t>
            </a:r>
          </a:p>
          <a:p>
            <a:r>
              <a:rPr sz="1250" b="0">
                <a:solidFill>
                  <a:srgbClr val="E6E6E6"/>
                </a:solidFill>
                <a:latin typeface="Consolas"/>
              </a:rPr>
              <a:t>| 4  |     UNION-ALL          |                |  64011 | 00:00:00.04 |    3532 |       |      |           |</a:t>
            </a:r>
          </a:p>
          <a:p>
            <a:r>
              <a:rPr sz="1250" b="0">
                <a:solidFill>
                  <a:srgbClr val="E6E6E6"/>
                </a:solidFill>
                <a:latin typeface="Consolas"/>
              </a:rPr>
              <a:t>| 5  |      TABLE ACCESS FULL | MEDICAL_CLAIMS |  59511 | 00:00:00.02 |    3090 |       |      |           |</a:t>
            </a:r>
          </a:p>
          <a:p>
            <a:r>
              <a:rPr sz="1250" b="0">
                <a:solidFill>
                  <a:srgbClr val="E6E6E6"/>
                </a:solidFill>
                <a:latin typeface="Consolas"/>
              </a:rPr>
              <a:t>| 6  |      TABLE ACCESS FULL | PATIENTS       |   4500 | 00:00:00.01 |     442 |       |      |           |</a:t>
            </a:r>
          </a:p>
        </p:txBody>
      </p:sp>
    </p:spTree>
    <p:extLst>
      <p:ext uri="{BB962C8B-B14F-4D97-AF65-F5344CB8AC3E}">
        <p14:creationId xmlns:p14="http://schemas.microsoft.com/office/powerpoint/2010/main" val="2033791208"/>
      </p:ext>
    </p:extLst>
  </p:cSld>
  <p:clrMapOvr>
    <a:masterClrMapping/>
  </p:clrMapOvr>
</p:sld>
</file>

<file path=ppt/slides/slide4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Q1 실행계획 해석</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아래에서 위로 읽는다</a:t>
            </a:r>
          </a:p>
          <a:p>
            <a:r>
              <a:rPr sz="1600" b="0">
                <a:solidFill>
                  <a:srgbClr val="5A6672"/>
                </a:solidFill>
                <a:latin typeface="Malgun Gothic"/>
              </a:rPr>
              <a:t>    –  MEDICAL_CLAIMS와 PATIENTS를 각각 전체 스캔한다</a:t>
            </a:r>
          </a:p>
          <a:p>
            <a:r>
              <a:rPr sz="1600" b="0">
                <a:solidFill>
                  <a:srgbClr val="5A6672"/>
                </a:solidFill>
                <a:latin typeface="Malgun Gothic"/>
              </a:rPr>
              <a:t>    –  UNION-ALL이 두 결과를 그대로 합쳐 64,011건을 만든다</a:t>
            </a:r>
          </a:p>
          <a:p>
            <a:r>
              <a:rPr sz="1600" b="0">
                <a:solidFill>
                  <a:srgbClr val="5A6672"/>
                </a:solidFill>
                <a:latin typeface="Malgun Gothic"/>
              </a:rPr>
              <a:t>    –  SORT UNIQUE가 정렬·중복 제거를 거쳐 35,985건으로 줄인다</a:t>
            </a:r>
          </a:p>
          <a:p>
            <a:r>
              <a:rPr sz="1600" b="0">
                <a:solidFill>
                  <a:srgbClr val="5A6672"/>
                </a:solidFill>
                <a:latin typeface="Malgun Gothic"/>
              </a:rPr>
              <a:t>    –  VIEW를 거쳐 SORT AGGREGATE가 최종 건수를 센다</a:t>
            </a:r>
          </a:p>
          <a:p>
            <a:r>
              <a:rPr sz="1800" b="0">
                <a:solidFill>
                  <a:srgbClr val="202830"/>
                </a:solidFill>
                <a:latin typeface="Malgun Gothic"/>
              </a:rPr>
              <a:t>•  읽어야 할 지표들</a:t>
            </a:r>
          </a:p>
          <a:p>
            <a:r>
              <a:rPr sz="1600" b="0">
                <a:solidFill>
                  <a:srgbClr val="5A6672"/>
                </a:solidFill>
                <a:latin typeface="Malgun Gothic"/>
              </a:rPr>
              <a:t>    –  전체 Buffers는 3,532이고 두 테이블 접근이 각각 3,090과 442를 차지한다</a:t>
            </a:r>
          </a:p>
          <a:p>
            <a:r>
              <a:rPr sz="1600" b="0">
                <a:solidFill>
                  <a:srgbClr val="5A6672"/>
                </a:solidFill>
                <a:latin typeface="Malgun Gothic"/>
              </a:rPr>
              <a:t>    –  SORT UNIQUE 단계의 Buffers는 그 아래 단계와 같은 3,532 — 늘지 않았다</a:t>
            </a:r>
          </a:p>
          <a:p>
            <a:r>
              <a:rPr sz="1600" b="0">
                <a:solidFill>
                  <a:srgbClr val="5A6672"/>
                </a:solidFill>
                <a:latin typeface="Malgun Gothic"/>
              </a:rPr>
              <a:t>    –  작업 메모리 관련 값 1824K · 791K · 1621K는 SORT UNIQUE 행에만 나타난다</a:t>
            </a:r>
          </a:p>
        </p:txBody>
      </p:sp>
    </p:spTree>
    <p:extLst>
      <p:ext uri="{BB962C8B-B14F-4D97-AF65-F5344CB8AC3E}">
        <p14:creationId xmlns:p14="http://schemas.microsoft.com/office/powerpoint/2010/main" val="2556343796"/>
      </p:ext>
    </p:extLst>
  </p:cSld>
  <p:clrMapOvr>
    <a:masterClrMapping/>
  </p:clrMapOvr>
</p:sld>
</file>

<file path=ppt/slides/slide4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Q2. UNION ALL 실행계획</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9.5절 Execution Plan — SORT UNIQUE 단계가 통째로 빠져 있다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A-Rows |   A-Time    | Buffers |</a:t>
            </a:r>
          </a:p>
          <a:p>
            <a:r>
              <a:rPr sz="1250" b="0">
                <a:solidFill>
                  <a:srgbClr val="E6E6E6"/>
                </a:solidFill>
                <a:latin typeface="Consolas"/>
              </a:rPr>
              <a:t>| 0  | SELECT STATEMENT       |                |      1 | 00:00:00.03 |    3532 |</a:t>
            </a:r>
          </a:p>
          <a:p>
            <a:r>
              <a:rPr sz="1250" b="0">
                <a:solidFill>
                  <a:srgbClr val="E6E6E6"/>
                </a:solidFill>
                <a:latin typeface="Consolas"/>
              </a:rPr>
              <a:t>| 1  |  SORT AGGREGATE        |                |      1 | 00:00:00.03 |    3532 |</a:t>
            </a:r>
          </a:p>
          <a:p>
            <a:r>
              <a:rPr sz="1250" b="0">
                <a:solidFill>
                  <a:srgbClr val="E6E6E6"/>
                </a:solidFill>
                <a:latin typeface="Consolas"/>
              </a:rPr>
              <a:t>| 2  |   VIEW                 |                |  64011 | 00:00:00.02 |    3532 |</a:t>
            </a:r>
          </a:p>
          <a:p>
            <a:r>
              <a:rPr sz="1250" b="0">
                <a:solidFill>
                  <a:srgbClr val="E6E6E6"/>
                </a:solidFill>
                <a:latin typeface="Consolas"/>
              </a:rPr>
              <a:t>| 3  |    UNION-ALL           |                |  64011 | 00:00:00.02 |    3532 |</a:t>
            </a:r>
          </a:p>
          <a:p>
            <a:r>
              <a:rPr sz="1250" b="0">
                <a:solidFill>
                  <a:srgbClr val="E6E6E6"/>
                </a:solidFill>
                <a:latin typeface="Consolas"/>
              </a:rPr>
              <a:t>| 4  |     TABLE ACCESS FULL  | MEDICAL_CLAIMS |  59511 | 00:00:00.01 |    3090 |</a:t>
            </a:r>
          </a:p>
          <a:p>
            <a:r>
              <a:rPr sz="1250" b="0">
                <a:solidFill>
                  <a:srgbClr val="E6E6E6"/>
                </a:solidFill>
                <a:latin typeface="Consolas"/>
              </a:rPr>
              <a:t>| 5  |     TABLE ACCESS FULL  | PATIENTS       |   4500 | 00:00:00.01 |     442 |</a:t>
            </a:r>
          </a:p>
        </p:txBody>
      </p:sp>
    </p:spTree>
    <p:extLst>
      <p:ext uri="{BB962C8B-B14F-4D97-AF65-F5344CB8AC3E}">
        <p14:creationId xmlns:p14="http://schemas.microsoft.com/office/powerpoint/2010/main" val="2345502083"/>
      </p:ext>
    </p:extLst>
  </p:cSld>
  <p:clrMapOvr>
    <a:masterClrMapping/>
  </p:clrMapOvr>
</p:sld>
</file>

<file path=ppt/slides/slide4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Q2 실행계획 해석</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Q1에서 한 단계가 빠졌을 뿐 나머지는 동일하다</a:t>
            </a:r>
          </a:p>
          <a:p>
            <a:r>
              <a:rPr sz="1600" b="0">
                <a:solidFill>
                  <a:srgbClr val="5A6672"/>
                </a:solidFill>
                <a:latin typeface="Malgun Gothic"/>
              </a:rPr>
              <a:t>    –  두 테이블 전체 스캔 → UNION-ALL → VIEW → SORT AGGREGATE</a:t>
            </a:r>
          </a:p>
          <a:p>
            <a:r>
              <a:rPr sz="1600" b="0">
                <a:solidFill>
                  <a:srgbClr val="5A6672"/>
                </a:solidFill>
                <a:latin typeface="Malgun Gothic"/>
              </a:rPr>
              <a:t>    –  SORT UNIQUE가 없으므로 합친 64,011건이 그대로 위로 올라간다</a:t>
            </a:r>
          </a:p>
          <a:p>
            <a:r>
              <a:rPr sz="1800" b="0">
                <a:solidFill>
                  <a:srgbClr val="202830"/>
                </a:solidFill>
                <a:latin typeface="Malgun Gothic"/>
              </a:rPr>
              <a:t>•  지표 비교</a:t>
            </a:r>
          </a:p>
          <a:p>
            <a:r>
              <a:rPr sz="1600" b="0">
                <a:solidFill>
                  <a:srgbClr val="5A6672"/>
                </a:solidFill>
                <a:latin typeface="Malgun Gothic"/>
              </a:rPr>
              <a:t>    –  Buffers는 3,532로 Q1과 완전히 같다 — 테이블 접근도 3,090과 442로 동일</a:t>
            </a:r>
          </a:p>
          <a:p>
            <a:r>
              <a:rPr sz="1600" b="0">
                <a:solidFill>
                  <a:srgbClr val="5A6672"/>
                </a:solidFill>
                <a:latin typeface="Malgun Gothic"/>
              </a:rPr>
              <a:t>    –  A-Time은 0.03초로 Q1의 0.07초보다 짧다</a:t>
            </a:r>
          </a:p>
          <a:p>
            <a:r>
              <a:rPr sz="1600" b="0">
                <a:solidFill>
                  <a:srgbClr val="5A6672"/>
                </a:solidFill>
                <a:latin typeface="Malgun Gothic"/>
              </a:rPr>
              <a:t>    –  작업 메모리 관련 컬럼은 애초에 채워질 단계가 없다</a:t>
            </a:r>
          </a:p>
          <a:p>
            <a:r>
              <a:rPr sz="1800" b="0">
                <a:solidFill>
                  <a:srgbClr val="202830"/>
                </a:solidFill>
                <a:latin typeface="Malgun Gothic"/>
              </a:rPr>
              <a:t>•  변수가 하나뿐인 비교이므로 차이의 원인도 하나로 특정된다</a:t>
            </a:r>
          </a:p>
          <a:p>
            <a:r>
              <a:rPr sz="1600" b="0">
                <a:solidFill>
                  <a:srgbClr val="5A6672"/>
                </a:solidFill>
                <a:latin typeface="Malgun Gothic"/>
              </a:rPr>
              <a:t>    –  두 계획의 유일한 차이는 SORT UNIQUE 한 단계다</a:t>
            </a:r>
          </a:p>
        </p:txBody>
      </p:sp>
    </p:spTree>
    <p:extLst>
      <p:ext uri="{BB962C8B-B14F-4D97-AF65-F5344CB8AC3E}">
        <p14:creationId xmlns:p14="http://schemas.microsoft.com/office/powerpoint/2010/main" val="580432418"/>
      </p:ext>
    </p:extLst>
  </p:cSld>
  <p:clrMapOvr>
    <a:masterClrMapping/>
  </p:clrMapOvr>
</p:sld>
</file>

<file path=ppt/slides/slide4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두 계획의 유일한 차이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같은 것</a:t>
            </a:r>
          </a:p>
          <a:p>
            <a:r>
              <a:rPr sz="1600" b="0">
                <a:solidFill>
                  <a:srgbClr val="5A6672"/>
                </a:solidFill>
                <a:latin typeface="Malgun Gothic"/>
              </a:rPr>
              <a:t>    –  접근 경로 — 두 테이블 모두 전체 스캔으로 동일</a:t>
            </a:r>
          </a:p>
          <a:p>
            <a:r>
              <a:rPr sz="1600" b="0">
                <a:solidFill>
                  <a:srgbClr val="5A6672"/>
                </a:solidFill>
                <a:latin typeface="Malgun Gothic"/>
              </a:rPr>
              <a:t>    –  단계별 Buffers — MEDICAL_CLAIMS 3,090, PATIENTS 442, 전체 3,532</a:t>
            </a:r>
          </a:p>
          <a:p>
            <a:r>
              <a:rPr sz="1600" b="0">
                <a:solidFill>
                  <a:srgbClr val="5A6672"/>
                </a:solidFill>
                <a:latin typeface="Malgun Gothic"/>
              </a:rPr>
              <a:t>    –  UNION-ALL 단계에서 합쳐진 건수 64,011</a:t>
            </a:r>
          </a:p>
          <a:p>
            <a:r>
              <a:rPr sz="1800" b="0">
                <a:solidFill>
                  <a:srgbClr val="202830"/>
                </a:solidFill>
                <a:latin typeface="Malgun Gothic"/>
              </a:rPr>
              <a:t>•  다른 것</a:t>
            </a:r>
          </a:p>
          <a:p>
            <a:r>
              <a:rPr sz="1600" b="0">
                <a:solidFill>
                  <a:srgbClr val="5A6672"/>
                </a:solidFill>
                <a:latin typeface="Malgun Gothic"/>
              </a:rPr>
              <a:t>    –  Q1에만 SORT UNIQUE 단계가 있다</a:t>
            </a:r>
          </a:p>
          <a:p>
            <a:r>
              <a:rPr sz="1600" b="0">
                <a:solidFill>
                  <a:srgbClr val="5A6672"/>
                </a:solidFill>
                <a:latin typeface="Malgun Gothic"/>
              </a:rPr>
              <a:t>    –  최종 결과 건수 — 35,985 대 64,011</a:t>
            </a:r>
          </a:p>
          <a:p>
            <a:r>
              <a:rPr sz="1600" b="0">
                <a:solidFill>
                  <a:srgbClr val="5A6672"/>
                </a:solidFill>
                <a:latin typeface="Malgun Gothic"/>
              </a:rPr>
              <a:t>    –  A-Time — 0.07초 대 0.03초</a:t>
            </a:r>
          </a:p>
          <a:p>
            <a:r>
              <a:rPr sz="1800" b="0">
                <a:solidFill>
                  <a:srgbClr val="202830"/>
                </a:solidFill>
                <a:latin typeface="Malgun Gothic"/>
              </a:rPr>
              <a:t>•  결론적으로 관측된 모든 차이는 SORT UNIQUE 한 단계에서 비롯된다</a:t>
            </a:r>
          </a:p>
        </p:txBody>
      </p:sp>
    </p:spTree>
    <p:extLst>
      <p:ext uri="{BB962C8B-B14F-4D97-AF65-F5344CB8AC3E}">
        <p14:creationId xmlns:p14="http://schemas.microsoft.com/office/powerpoint/2010/main" val="1458518221"/>
      </p:ext>
    </p:extLst>
  </p:cSld>
  <p:clrMapOvr>
    <a:masterClrMapping/>
  </p:clrMapOvr>
</p:sld>
</file>

<file path=ppt/slides/slide4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Buffers가 같다는 사실이 말해주는 것</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두 쿼리의 Buffers는 3,532로 완전히 동일했다</a:t>
            </a:r>
          </a:p>
          <a:p>
            <a:r>
              <a:rPr sz="1600" b="0">
                <a:solidFill>
                  <a:srgbClr val="5A6672"/>
                </a:solidFill>
                <a:latin typeface="Malgun Gothic"/>
              </a:rPr>
              <a:t>    –  SORT UNIQUE 단계가 추가됐는데도 한 블록도 더 읽지 않았다</a:t>
            </a:r>
          </a:p>
          <a:p>
            <a:r>
              <a:rPr sz="1800" b="0">
                <a:solidFill>
                  <a:srgbClr val="202830"/>
                </a:solidFill>
                <a:latin typeface="Malgun Gothic"/>
              </a:rPr>
              <a:t>•  왜 늘지 않았는가</a:t>
            </a:r>
          </a:p>
          <a:p>
            <a:r>
              <a:rPr sz="1600" b="0">
                <a:solidFill>
                  <a:srgbClr val="5A6672"/>
                </a:solidFill>
                <a:latin typeface="Malgun Gothic"/>
              </a:rPr>
              <a:t>    –  SORT UNIQUE의 대상은 UNION-ALL이 이미 메모리로 올려놓은 결과 집합이다</a:t>
            </a:r>
          </a:p>
          <a:p>
            <a:r>
              <a:rPr sz="1600" b="0">
                <a:solidFill>
                  <a:srgbClr val="5A6672"/>
                </a:solidFill>
                <a:latin typeface="Malgun Gothic"/>
              </a:rPr>
              <a:t>    –  테이블이나 인덱스 블록을 다시 읽을 필요가 없는 순수 CPU·메모리 연산이다</a:t>
            </a:r>
          </a:p>
          <a:p>
            <a:r>
              <a:rPr sz="1600" b="0">
                <a:solidFill>
                  <a:srgbClr val="5A6672"/>
                </a:solidFill>
                <a:latin typeface="Malgun Gothic"/>
              </a:rPr>
              <a:t>    –  Buffers는 블록을 읽은 횟수만 세므로 이 연산은 지표에 잡히지 않는다</a:t>
            </a:r>
          </a:p>
          <a:p>
            <a:r>
              <a:rPr sz="1800" b="0">
                <a:solidFill>
                  <a:srgbClr val="202830"/>
                </a:solidFill>
                <a:latin typeface="Malgun Gothic"/>
              </a:rPr>
              <a:t>•  해석의 함정</a:t>
            </a:r>
          </a:p>
          <a:p>
            <a:r>
              <a:rPr sz="1600" b="0">
                <a:solidFill>
                  <a:srgbClr val="5A6672"/>
                </a:solidFill>
                <a:latin typeface="Malgun Gothic"/>
              </a:rPr>
              <a:t>    –  "Buffers가 같다"에서 "비용이 같다"로 건너뛰면 안 된다</a:t>
            </a:r>
          </a:p>
          <a:p>
            <a:r>
              <a:rPr sz="1600" b="0">
                <a:solidFill>
                  <a:srgbClr val="5A6672"/>
                </a:solidFill>
                <a:latin typeface="Malgun Gothic"/>
              </a:rPr>
              <a:t>    –  지표가 보여주지 않는다는 것과 비용이 없다는 것은 전혀 다른 말이다</a:t>
            </a:r>
          </a:p>
        </p:txBody>
      </p:sp>
    </p:spTree>
    <p:extLst>
      <p:ext uri="{BB962C8B-B14F-4D97-AF65-F5344CB8AC3E}">
        <p14:creationId xmlns:p14="http://schemas.microsoft.com/office/powerpoint/2010/main" val="3330251909"/>
      </p:ext>
    </p:extLst>
  </p:cSld>
  <p:clrMapOvr>
    <a:masterClrMapping/>
  </p:clrMapOvr>
</p:sld>
</file>

<file path=ppt/slides/slide46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A-Time 차이가 말해주는 것</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A-Time은 Q1이 0.07초, Q2가 0.03초였다</a:t>
            </a:r>
          </a:p>
          <a:p>
            <a:r>
              <a:rPr sz="1600" b="0">
                <a:solidFill>
                  <a:srgbClr val="5A6672"/>
                </a:solidFill>
                <a:latin typeface="Malgun Gothic"/>
              </a:rPr>
              <a:t>    –  두 배 이상의 차이가 Buffers에는 전혀 나타나지 않았다</a:t>
            </a:r>
          </a:p>
          <a:p>
            <a:r>
              <a:rPr sz="1800" b="0">
                <a:solidFill>
                  <a:srgbClr val="202830"/>
                </a:solidFill>
                <a:latin typeface="Malgun Gothic"/>
              </a:rPr>
              <a:t>•  차이가 발생한 자리</a:t>
            </a:r>
          </a:p>
          <a:p>
            <a:r>
              <a:rPr sz="1600" b="0">
                <a:solidFill>
                  <a:srgbClr val="5A6672"/>
                </a:solidFill>
                <a:latin typeface="Malgun Gothic"/>
              </a:rPr>
              <a:t>    –  Q1은 합쳐진 64,011건을 정렬·중복 제거해 35,985건으로 줄이는 일을 더 한다</a:t>
            </a:r>
          </a:p>
          <a:p>
            <a:r>
              <a:rPr sz="1600" b="0">
                <a:solidFill>
                  <a:srgbClr val="5A6672"/>
                </a:solidFill>
                <a:latin typeface="Malgun Gothic"/>
              </a:rPr>
              <a:t>    –  이 작업은 실제 CPU 시간을 소비하므로 A-Time에 그대로 반영된다</a:t>
            </a:r>
          </a:p>
          <a:p>
            <a:r>
              <a:rPr sz="1600" b="0">
                <a:solidFill>
                  <a:srgbClr val="5A6672"/>
                </a:solidFill>
                <a:latin typeface="Malgun Gothic"/>
              </a:rPr>
              <a:t>    –  Q2에는 그 단계가 아예 없으므로 그만큼 시간이 짧다</a:t>
            </a:r>
          </a:p>
          <a:p>
            <a:r>
              <a:rPr sz="1800" b="0">
                <a:solidFill>
                  <a:srgbClr val="202830"/>
                </a:solidFill>
                <a:latin typeface="Malgun Gothic"/>
              </a:rPr>
              <a:t>•  지표를 함께 읽어야 하는 이유</a:t>
            </a:r>
          </a:p>
          <a:p>
            <a:r>
              <a:rPr sz="1600" b="0">
                <a:solidFill>
                  <a:srgbClr val="5A6672"/>
                </a:solidFill>
                <a:latin typeface="Malgun Gothic"/>
              </a:rPr>
              <a:t>    –  Buffers는 I/O 비용, A-Time과 메모리 값은 CPU·메모리 비용을 보여준다</a:t>
            </a:r>
          </a:p>
          <a:p>
            <a:r>
              <a:rPr sz="1600" b="0">
                <a:solidFill>
                  <a:srgbClr val="5A6672"/>
                </a:solidFill>
                <a:latin typeface="Malgun Gothic"/>
              </a:rPr>
              <a:t>    –  같은 Buffers에서도 다른 A-Time이 나올 수 있다는 사실을 실측으로 확인한 셈</a:t>
            </a:r>
          </a:p>
        </p:txBody>
      </p:sp>
    </p:spTree>
    <p:extLst>
      <p:ext uri="{BB962C8B-B14F-4D97-AF65-F5344CB8AC3E}">
        <p14:creationId xmlns:p14="http://schemas.microsoft.com/office/powerpoint/2010/main" val="4148641885"/>
      </p:ext>
    </p:extLst>
  </p:cSld>
  <p:clrMapOvr>
    <a:masterClrMapping/>
  </p:clrMapOvr>
</p:sld>
</file>

<file path=ppt/slides/slide46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결과 건수 차이 — 28,026건의 의미</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결과 건수</a:t>
            </a:r>
          </a:p>
          <a:p>
            <a:r>
              <a:rPr sz="1600" b="0">
                <a:solidFill>
                  <a:srgbClr val="5A6672"/>
                </a:solidFill>
                <a:latin typeface="Malgun Gothic"/>
              </a:rPr>
              <a:t>    –  Q1 UNION = 35,985건 — 중복이 제거된 고유한 환자 수</a:t>
            </a:r>
          </a:p>
          <a:p>
            <a:r>
              <a:rPr sz="1600" b="0">
                <a:solidFill>
                  <a:srgbClr val="5A6672"/>
                </a:solidFill>
                <a:latin typeface="Malgun Gothic"/>
              </a:rPr>
              <a:t>    –  Q2 UNION ALL = 64,011건 — 두 조회 결과를 그대로 이어붙인 건수</a:t>
            </a:r>
          </a:p>
          <a:p>
            <a:r>
              <a:rPr sz="1800" b="0">
                <a:solidFill>
                  <a:srgbClr val="202830"/>
                </a:solidFill>
                <a:latin typeface="Malgun Gothic"/>
              </a:rPr>
              <a:t>•  차이 28,026건이 뜻하는 것</a:t>
            </a:r>
          </a:p>
          <a:p>
            <a:r>
              <a:rPr sz="1600" b="0">
                <a:solidFill>
                  <a:srgbClr val="5A6672"/>
                </a:solidFill>
                <a:latin typeface="Malgun Gothic"/>
              </a:rPr>
              <a:t>    –  입원 청구를 냈으면서 동시에 의료급여 환자이기도 한 사람이 그만큼 있었다</a:t>
            </a:r>
          </a:p>
          <a:p>
            <a:r>
              <a:rPr sz="1600" b="0">
                <a:solidFill>
                  <a:srgbClr val="5A6672"/>
                </a:solidFill>
                <a:latin typeface="Malgun Gothic"/>
              </a:rPr>
              <a:t>    –  UNION ALL 결과에서는 이 사람들이 두 번씩 세어진 상태다</a:t>
            </a:r>
          </a:p>
          <a:p>
            <a:r>
              <a:rPr sz="1800" b="0">
                <a:solidFill>
                  <a:srgbClr val="202830"/>
                </a:solidFill>
                <a:latin typeface="Malgun Gothic"/>
              </a:rPr>
              <a:t>•  건수 차이 자체가 유용한 정보다</a:t>
            </a:r>
          </a:p>
          <a:p>
            <a:r>
              <a:rPr sz="1600" b="0">
                <a:solidFill>
                  <a:srgbClr val="5A6672"/>
                </a:solidFill>
                <a:latin typeface="Malgun Gothic"/>
              </a:rPr>
              <a:t>    –  두 집합에 실제로 중복이 있었는지를 보여주는 직접적인 증거가 된다</a:t>
            </a:r>
          </a:p>
          <a:p>
            <a:r>
              <a:rPr sz="1600" b="0">
                <a:solidFill>
                  <a:srgbClr val="5A6672"/>
                </a:solidFill>
                <a:latin typeface="Malgun Gothic"/>
              </a:rPr>
              <a:t>    –  차이가 0이라면 두 집합이 겹치지 않았다는 뜻이고 UNION ALL로 바꿔도 안전하다</a:t>
            </a:r>
          </a:p>
        </p:txBody>
      </p:sp>
    </p:spTree>
    <p:extLst>
      <p:ext uri="{BB962C8B-B14F-4D97-AF65-F5344CB8AC3E}">
        <p14:creationId xmlns:p14="http://schemas.microsoft.com/office/powerpoint/2010/main" val="3763382213"/>
      </p:ext>
    </p:extLst>
  </p:cSld>
  <p:clrMapOvr>
    <a:masterClrMapping/>
  </p:clrMapOvr>
</p:sld>
</file>

<file path=ppt/slides/slide46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성능이 아니라 정확성의 문제</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 시나리오에서 UNION ALL은 더 빠르지만 답이 틀린다</a:t>
            </a:r>
          </a:p>
          <a:p>
            <a:r>
              <a:rPr sz="1600" b="0">
                <a:solidFill>
                  <a:srgbClr val="5A6672"/>
                </a:solidFill>
                <a:latin typeface="Malgun Gothic"/>
              </a:rPr>
              <a:t>    –  "환자가 몇 명인지" 세는 것이 목적이라면 중복된 환자가 두 번 카운트된다</a:t>
            </a:r>
          </a:p>
          <a:p>
            <a:r>
              <a:rPr sz="1600" b="0">
                <a:solidFill>
                  <a:srgbClr val="5A6672"/>
                </a:solidFill>
                <a:latin typeface="Malgun Gothic"/>
              </a:rPr>
              <a:t>    –  고유 환자 수는 35,985명인데 64,011이라는 과대 집계된 값을 얻게 된다</a:t>
            </a:r>
          </a:p>
          <a:p>
            <a:r>
              <a:rPr sz="1800" b="0">
                <a:solidFill>
                  <a:srgbClr val="202830"/>
                </a:solidFill>
                <a:latin typeface="Malgun Gothic"/>
              </a:rPr>
              <a:t>•  튜닝의 대전제</a:t>
            </a:r>
          </a:p>
          <a:p>
            <a:r>
              <a:rPr sz="1600" b="0">
                <a:solidFill>
                  <a:srgbClr val="5A6672"/>
                </a:solidFill>
                <a:latin typeface="Malgun Gothic"/>
              </a:rPr>
              <a:t>    –  대안은 "결과가 같다"는 전제 아래에서만 비교할 수 있다</a:t>
            </a:r>
          </a:p>
          <a:p>
            <a:r>
              <a:rPr sz="1600" b="0">
                <a:solidFill>
                  <a:srgbClr val="5A6672"/>
                </a:solidFill>
                <a:latin typeface="Malgun Gothic"/>
              </a:rPr>
              <a:t>    –  결과가 달라지는 변경은 튜닝이 아니라 사양 변경이다</a:t>
            </a:r>
          </a:p>
          <a:p>
            <a:r>
              <a:rPr sz="1800" b="0">
                <a:solidFill>
                  <a:srgbClr val="202830"/>
                </a:solidFill>
                <a:latin typeface="Malgun Gothic"/>
              </a:rPr>
              <a:t>•  실무에서 이 사고가 늦게 발견되는 이유</a:t>
            </a:r>
          </a:p>
          <a:p>
            <a:r>
              <a:rPr sz="1600" b="0">
                <a:solidFill>
                  <a:srgbClr val="5A6672"/>
                </a:solidFill>
                <a:latin typeface="Malgun Gothic"/>
              </a:rPr>
              <a:t>    –  쿼리가 에러 없이 정상 종료되므로 숫자만 조용히 부풀어 오른다</a:t>
            </a:r>
          </a:p>
          <a:p>
            <a:r>
              <a:rPr sz="1600" b="0">
                <a:solidFill>
                  <a:srgbClr val="5A6672"/>
                </a:solidFill>
                <a:latin typeface="Malgun Gothic"/>
              </a:rPr>
              <a:t>    –  집계 리포트는 검증 대상이 되기 어려워 한참 뒤에야 발견되는 경우가 많다</a:t>
            </a:r>
          </a:p>
        </p:txBody>
      </p:sp>
    </p:spTree>
    <p:extLst>
      <p:ext uri="{BB962C8B-B14F-4D97-AF65-F5344CB8AC3E}">
        <p14:creationId xmlns:p14="http://schemas.microsoft.com/office/powerpoint/2010/main" val="2433783623"/>
      </p:ext>
    </p:extLst>
  </p:cSld>
  <p:clrMapOvr>
    <a:masterClrMapping/>
  </p:clrMapOvr>
</p:sld>
</file>

<file path=ppt/slides/slide463.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107996"/>
          </a:xfrm>
          <a:prstGeom prst="rect">
            <a:avLst/>
          </a:prstGeom>
          <a:noFill/>
        </p:spPr>
        <p:txBody>
          <a:bodyPr wrap="square">
            <a:spAutoFit/>
          </a:bodyPr>
          <a:lstStyle/>
          <a:p>
            <a:r>
              <a:rPr lang="en-US" sz="6600" b="1" dirty="0">
                <a:solidFill>
                  <a:srgbClr val="C0392B"/>
                </a:solidFill>
                <a:latin typeface="Malgun Gothic"/>
              </a:rPr>
              <a:t>11</a:t>
            </a:r>
            <a:r>
              <a:rPr sz="6600" b="1" dirty="0">
                <a:solidFill>
                  <a:srgbClr val="C0392B"/>
                </a:solidFill>
                <a:latin typeface="Malgun Gothic"/>
              </a:rPr>
              <a:t>.6</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오히려 완전히 사라지는 DISTINCT</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800" b="0">
                <a:solidFill>
                  <a:srgbClr val="C5CED6"/>
                </a:solidFill>
                <a:latin typeface="Malgun Gothic"/>
              </a:rPr>
              <a:t>•  Q3 · Q4 — DISTINCT를 붙인 쿼리와 안 붙인 쿼리</a:t>
            </a:r>
          </a:p>
          <a:p>
            <a:r>
              <a:rPr sz="1800" b="0">
                <a:solidFill>
                  <a:srgbClr val="C5CED6"/>
                </a:solidFill>
                <a:latin typeface="Malgun Gothic"/>
              </a:rPr>
              <a:t>•  두 쿼리의 공통 실행계획</a:t>
            </a:r>
          </a:p>
          <a:p>
            <a:r>
              <a:rPr sz="1800" b="0">
                <a:solidFill>
                  <a:srgbClr val="C5CED6"/>
                </a:solidFill>
                <a:latin typeface="Malgun Gothic"/>
              </a:rPr>
              <a:t>•  생략이 가능했던 근거와 그 한계</a:t>
            </a:r>
          </a:p>
        </p:txBody>
      </p:sp>
    </p:spTree>
    <p:extLst>
      <p:ext uri="{BB962C8B-B14F-4D97-AF65-F5344CB8AC3E}">
        <p14:creationId xmlns:p14="http://schemas.microsoft.com/office/powerpoint/2010/main" val="476150501"/>
      </p:ext>
    </p:extLst>
  </p:cSld>
  <p:clrMapOvr>
    <a:masterClrMapping/>
  </p:clrMapOvr>
</p:sld>
</file>

<file path=ppt/slides/slide46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Q3 · Q4 — 유일한 컬럼에 붙인 DISTINCT</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9.6절 Bad SQL — HOSP_ID는 HOSPITALS의 PK다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Q3. 이미 유일함이 보장된 컬럼에 DISTINCT</a:t>
            </a:r>
          </a:p>
          <a:p>
            <a:r>
              <a:rPr sz="1250" b="0">
                <a:solidFill>
                  <a:srgbClr val="E6E6E6"/>
                </a:solidFill>
                <a:latin typeface="Consolas"/>
              </a:rPr>
              <a:t>SELECT DISTINCT hosp_id FROM hospitals WHERE hosp_id &lt;= 100;</a:t>
            </a:r>
          </a:p>
          <a:p>
            <a:endParaRPr sz="1250" b="0">
              <a:solidFill>
                <a:srgbClr val="E6E6E6"/>
              </a:solidFill>
              <a:latin typeface="Consolas"/>
            </a:endParaRPr>
          </a:p>
          <a:p>
            <a:r>
              <a:rPr sz="1250" b="0">
                <a:solidFill>
                  <a:srgbClr val="7EC699"/>
                </a:solidFill>
                <a:latin typeface="Consolas"/>
              </a:rPr>
              <a:t>-- Q4. DISTINCT 없이 동일 조회</a:t>
            </a:r>
          </a:p>
          <a:p>
            <a:r>
              <a:rPr sz="1250" b="0">
                <a:solidFill>
                  <a:srgbClr val="E6E6E6"/>
                </a:solidFill>
                <a:latin typeface="Consolas"/>
              </a:rPr>
              <a:t>SELECT hosp_id FROM hospitals WHERE hosp_id &lt;= 100;</a:t>
            </a:r>
          </a:p>
        </p:txBody>
      </p:sp>
    </p:spTree>
    <p:extLst>
      <p:ext uri="{BB962C8B-B14F-4D97-AF65-F5344CB8AC3E}">
        <p14:creationId xmlns:p14="http://schemas.microsoft.com/office/powerpoint/2010/main" val="3538914780"/>
      </p:ext>
    </p:extLst>
  </p:cSld>
  <p:clrMapOvr>
    <a:masterClrMapping/>
  </p:clrMapOvr>
</p:sld>
</file>

<file path=ppt/slides/slide46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Q3 · Q4 공통 실행계획</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9.6절 Execution Plan — Plan hash value가 완전히 동일하다 (1619867082)</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A-Rows |   A-Time    | Buffers |</a:t>
            </a:r>
          </a:p>
          <a:p>
            <a:r>
              <a:rPr sz="1250" b="0">
                <a:solidFill>
                  <a:srgbClr val="E6E6E6"/>
                </a:solidFill>
                <a:latin typeface="Consolas"/>
              </a:rPr>
              <a:t>| 0  | SELECT STATEMENT   |              |    100 | 00:00:00.01 |       9 |</a:t>
            </a:r>
          </a:p>
          <a:p>
            <a:r>
              <a:rPr sz="1250" b="0">
                <a:solidFill>
                  <a:srgbClr val="E6E6E6"/>
                </a:solidFill>
                <a:latin typeface="Consolas"/>
              </a:rPr>
              <a:t>| 1  |  INDEX RANGE SCAN  | PK_HOSPITALS |    100 | 00:00:00.01 |       9 |</a:t>
            </a:r>
          </a:p>
        </p:txBody>
      </p:sp>
    </p:spTree>
    <p:extLst>
      <p:ext uri="{BB962C8B-B14F-4D97-AF65-F5344CB8AC3E}">
        <p14:creationId xmlns:p14="http://schemas.microsoft.com/office/powerpoint/2010/main" val="1553607094"/>
      </p:ext>
    </p:extLst>
  </p:cSld>
  <p:clrMapOvr>
    <a:masterClrMapping/>
  </p:clrMapOvr>
</p:sld>
</file>

<file path=ppt/slides/slide4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계획 해석 — 중복 제거 오퍼레이션이 없다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관측 사실</a:t>
            </a:r>
          </a:p>
          <a:p>
            <a:r>
              <a:rPr sz="1600" b="0">
                <a:solidFill>
                  <a:srgbClr val="5A6672"/>
                </a:solidFill>
                <a:latin typeface="Malgun Gothic"/>
              </a:rPr>
              <a:t>    –  DISTINCT를 붙인 Q3과 안 붙인 Q4의 실행계획이 완전히 동일하다</a:t>
            </a:r>
          </a:p>
          <a:p>
            <a:r>
              <a:rPr sz="1600" b="0">
                <a:solidFill>
                  <a:srgbClr val="5A6672"/>
                </a:solidFill>
                <a:latin typeface="Malgun Gothic"/>
              </a:rPr>
              <a:t>    –  SORT UNIQUE도 HASH UNIQUE도 계획에 전혀 나타나지 않는다</a:t>
            </a:r>
          </a:p>
          <a:p>
            <a:r>
              <a:rPr sz="1600" b="0">
                <a:solidFill>
                  <a:srgbClr val="5A6672"/>
                </a:solidFill>
                <a:latin typeface="Malgun Gothic"/>
              </a:rPr>
              <a:t>    –  두 쿼리 모두 PK_HOSPITALS 인덱스 범위 스캔 한 단계로 끝난다</a:t>
            </a:r>
          </a:p>
          <a:p>
            <a:r>
              <a:rPr sz="1800" b="0">
                <a:solidFill>
                  <a:srgbClr val="202830"/>
                </a:solidFill>
                <a:latin typeface="Malgun Gothic"/>
              </a:rPr>
              <a:t>•  지표</a:t>
            </a:r>
          </a:p>
          <a:p>
            <a:r>
              <a:rPr sz="1600" b="0">
                <a:solidFill>
                  <a:srgbClr val="5A6672"/>
                </a:solidFill>
                <a:latin typeface="Malgun Gothic"/>
              </a:rPr>
              <a:t>    –  Buffers는 두 쿼리 모두 9, A-Time도 모두 0.01초</a:t>
            </a:r>
          </a:p>
          <a:p>
            <a:r>
              <a:rPr sz="1600" b="0">
                <a:solidFill>
                  <a:srgbClr val="5A6672"/>
                </a:solidFill>
                <a:latin typeface="Malgun Gothic"/>
              </a:rPr>
              <a:t>    –  중복 제거를 위한 어떤 추가 비용도 관측되지 않는다</a:t>
            </a:r>
          </a:p>
          <a:p>
            <a:r>
              <a:rPr sz="1800" b="0">
                <a:solidFill>
                  <a:srgbClr val="202830"/>
                </a:solidFill>
                <a:latin typeface="Malgun Gothic"/>
              </a:rPr>
              <a:t>•  즉 DISTINCT 요청 자체가 아무 비용 없이 통째로 생략됐다</a:t>
            </a:r>
          </a:p>
          <a:p>
            <a:r>
              <a:rPr sz="1600" b="0">
                <a:solidFill>
                  <a:srgbClr val="5A6672"/>
                </a:solidFill>
                <a:latin typeface="Malgun Gothic"/>
              </a:rPr>
              <a:t>    –  실행 중에 건너뛴 것이 아니라 계획을 세울 때부터 없던 일이 됐다</a:t>
            </a:r>
          </a:p>
        </p:txBody>
      </p:sp>
    </p:spTree>
    <p:extLst>
      <p:ext uri="{BB962C8B-B14F-4D97-AF65-F5344CB8AC3E}">
        <p14:creationId xmlns:p14="http://schemas.microsoft.com/office/powerpoint/2010/main" val="3917468028"/>
      </p:ext>
    </p:extLst>
  </p:cSld>
  <p:clrMapOvr>
    <a:masterClrMapping/>
  </p:clrMapOvr>
</p:sld>
</file>

<file path=ppt/slides/slide46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생략의 근거 — PK 제약과 증명 가능성</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HOSP_ID는 HOSPITALS 테이블의 기본 키다</a:t>
            </a:r>
          </a:p>
          <a:p>
            <a:r>
              <a:rPr sz="1600" b="0">
                <a:solidFill>
                  <a:srgbClr val="5A6672"/>
                </a:solidFill>
                <a:latin typeface="Malgun Gothic"/>
              </a:rPr>
              <a:t>    –  PK는 테이블 안에서 값이 절대 중복될 수 없음을 DB가 보장하는 제약이다</a:t>
            </a:r>
          </a:p>
          <a:p>
            <a:r>
              <a:rPr sz="1600" b="0">
                <a:solidFill>
                  <a:srgbClr val="5A6672"/>
                </a:solidFill>
                <a:latin typeface="Malgun Gothic"/>
              </a:rPr>
              <a:t>    –  옵티마이저는 이 제약을 메타데이터로 알고 있다</a:t>
            </a:r>
          </a:p>
          <a:p>
            <a:r>
              <a:rPr sz="1800" b="0">
                <a:solidFill>
                  <a:srgbClr val="202830"/>
                </a:solidFill>
                <a:latin typeface="Malgun Gothic"/>
              </a:rPr>
              <a:t>•  추론의 흐름</a:t>
            </a:r>
          </a:p>
          <a:p>
            <a:r>
              <a:rPr sz="1600" b="0">
                <a:solidFill>
                  <a:srgbClr val="5A6672"/>
                </a:solidFill>
                <a:latin typeface="Malgun Gothic"/>
              </a:rPr>
              <a:t>    –  이 컬럼을 그대로 조회하면 애초에 중복이 나올 수 없다</a:t>
            </a:r>
          </a:p>
          <a:p>
            <a:r>
              <a:rPr sz="1600" b="0">
                <a:solidFill>
                  <a:srgbClr val="5A6672"/>
                </a:solidFill>
                <a:latin typeface="Malgun Gothic"/>
              </a:rPr>
              <a:t>    –  중복이 없으면 DISTINCT가 요구하는 작업도 할 이유가 없다</a:t>
            </a:r>
          </a:p>
          <a:p>
            <a:r>
              <a:rPr sz="1600" b="0">
                <a:solidFill>
                  <a:srgbClr val="5A6672"/>
                </a:solidFill>
                <a:latin typeface="Malgun Gothic"/>
              </a:rPr>
              <a:t>    –  따라서 그 단계를 계획에서 제거해도 결과가 달라지지 않는다</a:t>
            </a:r>
          </a:p>
          <a:p>
            <a:r>
              <a:rPr sz="1800" b="0">
                <a:solidFill>
                  <a:srgbClr val="202830"/>
                </a:solidFill>
                <a:latin typeface="Malgun Gothic"/>
              </a:rPr>
              <a:t>•  핵심은 "증명할 수 있는가"이지 "실제로 중복이 없는가"가 아니다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제약조건은 성능 기능이 아니라 정합성 기능으로만 이해되는 경우가 많다. 그러나 옵티마이저가 신뢰하고 활용할 수 있는 사실의 출처가 곧 제약조건이므로, 제약을 제대로 선언하는 것 자체가 튜닝의 일부다.</a:t>
            </a:r>
          </a:p>
        </p:txBody>
      </p:sp>
    </p:spTree>
    <p:extLst>
      <p:ext uri="{BB962C8B-B14F-4D97-AF65-F5344CB8AC3E}">
        <p14:creationId xmlns:p14="http://schemas.microsoft.com/office/powerpoint/2010/main" val="2500539551"/>
      </p:ext>
    </p:extLst>
  </p:cSld>
  <p:clrMapOvr>
    <a:masterClrMapping/>
  </p:clrMapOvr>
</p:sld>
</file>

<file path=ppt/slides/slide46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"불필요한 DISTINCT는 항상 낭비"가 틀린 이유</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 명제는 하나의 전제 위에서만 성립한다</a:t>
            </a:r>
          </a:p>
          <a:p>
            <a:r>
              <a:rPr sz="1600" b="0">
                <a:solidFill>
                  <a:srgbClr val="5A6672"/>
                </a:solidFill>
                <a:latin typeface="Malgun Gothic"/>
              </a:rPr>
              <a:t>    –  전제 — 옵티마이저가 중복 제거를 항상 곧이곧대로 실행한다</a:t>
            </a:r>
          </a:p>
          <a:p>
            <a:r>
              <a:rPr sz="1600" b="0">
                <a:solidFill>
                  <a:srgbClr val="5A6672"/>
                </a:solidFill>
                <a:latin typeface="Malgun Gothic"/>
              </a:rPr>
              <a:t>    –  그러나 Q3과 Q4의 실측이 그 전제를 반증한다</a:t>
            </a:r>
          </a:p>
          <a:p>
            <a:r>
              <a:rPr sz="1800" b="0">
                <a:solidFill>
                  <a:srgbClr val="202830"/>
                </a:solidFill>
                <a:latin typeface="Malgun Gothic"/>
              </a:rPr>
              <a:t>•  실측이 보여준 것</a:t>
            </a:r>
          </a:p>
          <a:p>
            <a:r>
              <a:rPr sz="1600" b="0">
                <a:solidFill>
                  <a:srgbClr val="5A6672"/>
                </a:solidFill>
                <a:latin typeface="Malgun Gothic"/>
              </a:rPr>
              <a:t>    –  유일성을 증명할 수 있는 상황에서는 DISTINCT가 비용 없이 사라진다</a:t>
            </a:r>
          </a:p>
          <a:p>
            <a:r>
              <a:rPr sz="1600" b="0">
                <a:solidFill>
                  <a:srgbClr val="5A6672"/>
                </a:solidFill>
                <a:latin typeface="Malgun Gothic"/>
              </a:rPr>
              <a:t>    –  Q3과 Q4의 계획이 완전히 같으므로 "낭비"라고 할 근거 자체가 없다</a:t>
            </a:r>
          </a:p>
          <a:p>
            <a:r>
              <a:rPr sz="1800" b="0">
                <a:solidFill>
                  <a:srgbClr val="202830"/>
                </a:solidFill>
                <a:latin typeface="Malgun Gothic"/>
              </a:rPr>
              <a:t>•  다만 반대 방향의 오해도 경계해야 한다</a:t>
            </a:r>
          </a:p>
          <a:p>
            <a:r>
              <a:rPr sz="1600" b="0">
                <a:solidFill>
                  <a:srgbClr val="5A6672"/>
                </a:solidFill>
                <a:latin typeface="Malgun Gothic"/>
              </a:rPr>
              <a:t>    –  "DISTINCT를 아무 데나 붙여도 무해하다"는 뜻은 결코 아니다</a:t>
            </a:r>
          </a:p>
          <a:p>
            <a:r>
              <a:rPr sz="1600" b="0">
                <a:solidFill>
                  <a:srgbClr val="5A6672"/>
                </a:solidFill>
                <a:latin typeface="Malgun Gothic"/>
              </a:rPr>
              <a:t>    –  옵티마이저가 유일성을 증명할 수 없는 경우에는 실제 비용이 그대로 발생한다</a:t>
            </a:r>
          </a:p>
        </p:txBody>
      </p:sp>
    </p:spTree>
    <p:extLst>
      <p:ext uri="{BB962C8B-B14F-4D97-AF65-F5344CB8AC3E}">
        <p14:creationId xmlns:p14="http://schemas.microsoft.com/office/powerpoint/2010/main" val="3129208036"/>
      </p:ext>
    </p:extLst>
  </p:cSld>
  <p:clrMapOvr>
    <a:masterClrMapping/>
  </p:clrMapOvr>
</p:sld>
</file>

<file path=ppt/slides/slide46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반례 — 같은 컬럼명, 다른 테이블</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만약 같은 패턴을 MEDICAL_CLAIMS에 적용한다면</a:t>
            </a:r>
          </a:p>
          <a:p>
            <a:r>
              <a:rPr sz="1600" b="0">
                <a:solidFill>
                  <a:srgbClr val="5A6672"/>
                </a:solidFill>
                <a:latin typeface="Malgun Gothic"/>
              </a:rPr>
              <a:t>    –  MEDICAL_CLAIMS의 HOSP_ID는 PK가 아니라 FK 성격의 컬럼이다</a:t>
            </a:r>
          </a:p>
          <a:p>
            <a:r>
              <a:rPr sz="1600" b="0">
                <a:solidFill>
                  <a:srgbClr val="5A6672"/>
                </a:solidFill>
                <a:latin typeface="Malgun Gothic"/>
              </a:rPr>
              <a:t>    –  한 병원에 여러 청구 건이 연결될 수 있으므로 값이 얼마든지 중복된다</a:t>
            </a:r>
          </a:p>
          <a:p>
            <a:r>
              <a:rPr sz="1800" b="0">
                <a:solidFill>
                  <a:srgbClr val="202830"/>
                </a:solidFill>
                <a:latin typeface="Malgun Gothic"/>
              </a:rPr>
              <a:t>•  옵티마이저의 판단은 달라진다</a:t>
            </a:r>
          </a:p>
          <a:p>
            <a:r>
              <a:rPr sz="1600" b="0">
                <a:solidFill>
                  <a:srgbClr val="5A6672"/>
                </a:solidFill>
                <a:latin typeface="Malgun Gothic"/>
              </a:rPr>
              <a:t>    –  "이 컬럼은 중복이 없다"고 증명할 근거가 없다</a:t>
            </a:r>
          </a:p>
          <a:p>
            <a:r>
              <a:rPr sz="1600" b="0">
                <a:solidFill>
                  <a:srgbClr val="5A6672"/>
                </a:solidFill>
                <a:latin typeface="Malgun Gothic"/>
              </a:rPr>
              <a:t>    –  따라서 DISTINCT를 실제로 수행해야 하고 중복 제거 오퍼레이션이 계획에 나타난다</a:t>
            </a:r>
          </a:p>
          <a:p>
            <a:r>
              <a:rPr sz="1800" b="0">
                <a:solidFill>
                  <a:srgbClr val="202830"/>
                </a:solidFill>
                <a:latin typeface="Malgun Gothic"/>
              </a:rPr>
              <a:t>•  얻는 교훈</a:t>
            </a:r>
          </a:p>
          <a:p>
            <a:r>
              <a:rPr sz="1600" b="0">
                <a:solidFill>
                  <a:srgbClr val="5A6672"/>
                </a:solidFill>
                <a:latin typeface="Malgun Gothic"/>
              </a:rPr>
              <a:t>    –  같은 컬럼명이라도 어느 테이블의 어떤 제약을 가진 컬럼이냐가 결론을 바꾼다</a:t>
            </a:r>
          </a:p>
          <a:p>
            <a:r>
              <a:rPr sz="1600" b="0">
                <a:solidFill>
                  <a:srgbClr val="5A6672"/>
                </a:solidFill>
                <a:latin typeface="Malgun Gothic"/>
              </a:rPr>
              <a:t>    –  DISTINCT를 볼 때는 컬럼 이름이 아니라 그 컬럼의 제약을 확인해야 한다</a:t>
            </a:r>
          </a:p>
        </p:txBody>
      </p:sp>
    </p:spTree>
    <p:extLst>
      <p:ext uri="{BB962C8B-B14F-4D97-AF65-F5344CB8AC3E}">
        <p14:creationId xmlns:p14="http://schemas.microsoft.com/office/powerpoint/2010/main" val="298948030"/>
      </p:ext>
    </p:extLst>
  </p:cSld>
  <p:clrMapOvr>
    <a:masterClrMapping/>
  </p:clrMapOvr>
</p:sld>
</file>

<file path=ppt/slides/slide470.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59" y="1371600"/>
            <a:ext cx="5732585" cy="1107996"/>
          </a:xfrm>
          <a:prstGeom prst="rect">
            <a:avLst/>
          </a:prstGeom>
          <a:noFill/>
        </p:spPr>
        <p:txBody>
          <a:bodyPr wrap="square">
            <a:spAutoFit/>
          </a:bodyPr>
          <a:lstStyle/>
          <a:p>
            <a:r>
              <a:rPr lang="en-US" sz="6600" b="1" dirty="0">
                <a:solidFill>
                  <a:srgbClr val="C0392B"/>
                </a:solidFill>
                <a:latin typeface="Malgun Gothic"/>
              </a:rPr>
              <a:t>11.</a:t>
            </a:r>
            <a:r>
              <a:rPr sz="6600" b="1" dirty="0">
                <a:solidFill>
                  <a:srgbClr val="C0392B"/>
                </a:solidFill>
                <a:latin typeface="Malgun Gothic"/>
              </a:rPr>
              <a:t>7~</a:t>
            </a:r>
            <a:r>
              <a:rPr lang="en-US" sz="6600" b="1" dirty="0">
                <a:solidFill>
                  <a:srgbClr val="C0392B"/>
                </a:solidFill>
                <a:latin typeface="Malgun Gothic"/>
              </a:rPr>
              <a:t>11</a:t>
            </a:r>
            <a:r>
              <a:rPr sz="6600" b="1" dirty="0">
                <a:solidFill>
                  <a:srgbClr val="C0392B"/>
                </a:solidFill>
                <a:latin typeface="Malgun Gothic"/>
              </a:rPr>
              <a:t>.8</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판단 기준과 Benchmark 종합</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800" b="0">
                <a:solidFill>
                  <a:srgbClr val="C5CED6"/>
                </a:solidFill>
                <a:latin typeface="Malgun Gothic"/>
              </a:rPr>
              <a:t>•  UNION과 UNION ALL의 선택 기준</a:t>
            </a:r>
          </a:p>
          <a:p>
            <a:r>
              <a:rPr sz="1800" b="0">
                <a:solidFill>
                  <a:srgbClr val="C5CED6"/>
                </a:solidFill>
                <a:latin typeface="Malgun Gothic"/>
              </a:rPr>
              <a:t>•  겹칠 수 없는 조건의 예시</a:t>
            </a:r>
          </a:p>
          <a:p>
            <a:r>
              <a:rPr sz="1800" b="0">
                <a:solidFill>
                  <a:srgbClr val="C5CED6"/>
                </a:solidFill>
                <a:latin typeface="Malgun Gothic"/>
              </a:rPr>
              <a:t>•  DISTINCT를 빼도 되는가</a:t>
            </a:r>
          </a:p>
          <a:p>
            <a:r>
              <a:rPr sz="1800" b="0">
                <a:solidFill>
                  <a:srgbClr val="C5CED6"/>
                </a:solidFill>
                <a:latin typeface="Malgun Gothic"/>
              </a:rPr>
              <a:t>•  네 쿼리 종합 벤치마크와 체크리스트</a:t>
            </a:r>
          </a:p>
        </p:txBody>
      </p:sp>
    </p:spTree>
    <p:extLst>
      <p:ext uri="{BB962C8B-B14F-4D97-AF65-F5344CB8AC3E}">
        <p14:creationId xmlns:p14="http://schemas.microsoft.com/office/powerpoint/2010/main" val="641559678"/>
      </p:ext>
    </p:extLst>
  </p:cSld>
  <p:clrMapOvr>
    <a:masterClrMapping/>
  </p:clrMapOvr>
</p:sld>
</file>

<file path=ppt/slides/slide47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UNION과 UNION ALL의 선택 기준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1차 질문 — 두 결과 집합이 논리적으로 겹칠 수 있는가</a:t>
            </a:r>
          </a:p>
          <a:p>
            <a:r>
              <a:rPr sz="1600" b="0">
                <a:solidFill>
                  <a:srgbClr val="5A6672"/>
                </a:solidFill>
                <a:latin typeface="Malgun Gothic"/>
              </a:rPr>
              <a:t>    –  겹칠 수 있다면 UNION이 맞다. 이번 실습이 그런 경우였다</a:t>
            </a:r>
          </a:p>
          <a:p>
            <a:r>
              <a:rPr sz="1600" b="0">
                <a:solidFill>
                  <a:srgbClr val="5A6672"/>
                </a:solidFill>
                <a:latin typeface="Malgun Gothic"/>
              </a:rPr>
              <a:t>    –  입원 청구를 낸 환자와 의료급여 환자는 겹칠 수 있는 집합이었다</a:t>
            </a:r>
          </a:p>
          <a:p>
            <a:r>
              <a:rPr sz="1800" b="0">
                <a:solidFill>
                  <a:srgbClr val="202830"/>
                </a:solidFill>
                <a:latin typeface="Malgun Gothic"/>
              </a:rPr>
              <a:t>•  겹칠 수 없는 구조라면 UNION ALL로 바꾼다</a:t>
            </a:r>
          </a:p>
          <a:p>
            <a:r>
              <a:rPr sz="1600" b="0">
                <a:solidFill>
                  <a:srgbClr val="5A6672"/>
                </a:solidFill>
                <a:latin typeface="Malgun Gothic"/>
              </a:rPr>
              <a:t>    –  서로 배타적인 조건으로 나뉜 집합이라면 중복이 생길 수 없다</a:t>
            </a:r>
          </a:p>
          <a:p>
            <a:r>
              <a:rPr sz="1600" b="0">
                <a:solidFill>
                  <a:srgbClr val="5A6672"/>
                </a:solidFill>
                <a:latin typeface="Malgun Gothic"/>
              </a:rPr>
              <a:t>    –  불필요한 SORT UNIQUE 비용을 안전하게 아낄 수 있다</a:t>
            </a:r>
          </a:p>
          <a:p>
            <a:r>
              <a:rPr sz="1800" b="0">
                <a:solidFill>
                  <a:srgbClr val="202830"/>
                </a:solidFill>
                <a:latin typeface="Malgun Gothic"/>
              </a:rPr>
              <a:t>•  판단은 데이터의 현재 상태가 아니라 구조에서 나와야 한다</a:t>
            </a:r>
          </a:p>
          <a:p>
            <a:r>
              <a:rPr sz="1600" b="0">
                <a:solidFill>
                  <a:srgbClr val="5A6672"/>
                </a:solidFill>
                <a:latin typeface="Malgun Gothic"/>
              </a:rPr>
              <a:t>    –  지금 우연히 겹치지 않는 것과 구조적으로 겹칠 수 없는 것은 다르다</a:t>
            </a:r>
          </a:p>
          <a:p>
            <a:r>
              <a:rPr sz="1600" b="0">
                <a:solidFill>
                  <a:srgbClr val="5A6672"/>
                </a:solidFill>
                <a:latin typeface="Malgun Gothic"/>
              </a:rPr>
              <a:t>    –  확신이 서지 않으면 두 버전의 건수를 세어 차이가 있는지 확인한다</a:t>
            </a:r>
          </a:p>
        </p:txBody>
      </p:sp>
    </p:spTree>
    <p:extLst>
      <p:ext uri="{BB962C8B-B14F-4D97-AF65-F5344CB8AC3E}">
        <p14:creationId xmlns:p14="http://schemas.microsoft.com/office/powerpoint/2010/main" val="4045478883"/>
      </p:ext>
    </p:extLst>
  </p:cSld>
  <p:clrMapOvr>
    <a:masterClrMapping/>
  </p:clrMapOvr>
</p:sld>
</file>

<file path=ppt/slides/slide47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겹칠 수 없는 조건의 예시</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예시 — 입원 청구와 외래 청구</a:t>
            </a:r>
          </a:p>
          <a:p>
            <a:r>
              <a:rPr sz="1600" b="0">
                <a:solidFill>
                  <a:srgbClr val="5A6672"/>
                </a:solidFill>
                <a:latin typeface="Malgun Gothic"/>
              </a:rPr>
              <a:t>    –  CLAIM_TYPE이 입원인 청구와 외래인 청구를 각각 조회한다</a:t>
            </a:r>
          </a:p>
          <a:p>
            <a:r>
              <a:rPr sz="1600" b="0">
                <a:solidFill>
                  <a:srgbClr val="5A6672"/>
                </a:solidFill>
                <a:latin typeface="Malgun Gothic"/>
              </a:rPr>
              <a:t>    –  한 청구 건의 CLAIM_TYPE은 동시에 두 값을 가질 수 없다</a:t>
            </a:r>
          </a:p>
          <a:p>
            <a:r>
              <a:rPr sz="1600" b="0">
                <a:solidFill>
                  <a:srgbClr val="5A6672"/>
                </a:solidFill>
                <a:latin typeface="Malgun Gothic"/>
              </a:rPr>
              <a:t>    –  따라서 두 조회 결과의 CLAIM_ID 집합은 절대 겹칠 수 없다</a:t>
            </a:r>
          </a:p>
          <a:p>
            <a:r>
              <a:rPr sz="1800" b="0">
                <a:solidFill>
                  <a:srgbClr val="202830"/>
                </a:solidFill>
                <a:latin typeface="Malgun Gothic"/>
              </a:rPr>
              <a:t>•  이 경우 UNION을 UNION ALL로 바꿔도 안전하다</a:t>
            </a:r>
          </a:p>
          <a:p>
            <a:r>
              <a:rPr sz="1600" b="0">
                <a:solidFill>
                  <a:srgbClr val="5A6672"/>
                </a:solidFill>
                <a:latin typeface="Malgun Gothic"/>
              </a:rPr>
              <a:t>    –  중복이 생길 수 없으므로 결과가 완전히 동일하다</a:t>
            </a:r>
          </a:p>
          <a:p>
            <a:r>
              <a:rPr sz="1600" b="0">
                <a:solidFill>
                  <a:srgbClr val="5A6672"/>
                </a:solidFill>
                <a:latin typeface="Malgun Gothic"/>
              </a:rPr>
              <a:t>    –  SORT UNIQUE의 CPU 비용을 그대로 절약할 수 있다</a:t>
            </a:r>
          </a:p>
          <a:p>
            <a:r>
              <a:rPr sz="1800" b="0">
                <a:solidFill>
                  <a:srgbClr val="202830"/>
                </a:solidFill>
                <a:latin typeface="Malgun Gothic"/>
              </a:rPr>
              <a:t>•  앞의 소재와 무엇이 달랐는가</a:t>
            </a:r>
          </a:p>
          <a:p>
            <a:r>
              <a:rPr sz="1600" b="0">
                <a:solidFill>
                  <a:srgbClr val="5A6672"/>
                </a:solidFill>
                <a:latin typeface="Malgun Gothic"/>
              </a:rPr>
              <a:t>    –  앞 소재는 서로 다른 테이블의 서로 다른 속성으로 나눈 집합이었다</a:t>
            </a:r>
          </a:p>
          <a:p>
            <a:r>
              <a:rPr sz="1600" b="0">
                <a:solidFill>
                  <a:srgbClr val="5A6672"/>
                </a:solidFill>
                <a:latin typeface="Malgun Gothic"/>
              </a:rPr>
              <a:t>    –  이 예시는 같은 컬럼의 값으로 나눈 집합이라 배타성이 구조에서 보장된다</a:t>
            </a:r>
          </a:p>
        </p:txBody>
      </p:sp>
    </p:spTree>
    <p:extLst>
      <p:ext uri="{BB962C8B-B14F-4D97-AF65-F5344CB8AC3E}">
        <p14:creationId xmlns:p14="http://schemas.microsoft.com/office/powerpoint/2010/main" val="3305227190"/>
      </p:ext>
    </p:extLst>
  </p:cSld>
  <p:clrMapOvr>
    <a:masterClrMapping/>
  </p:clrMapOvr>
</p:sld>
</file>

<file path=ppt/slides/slide47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DISTINCT를 빼도 되는가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조회 대상이 PK나 유니크 인덱스 컬럼이라면</a:t>
            </a:r>
          </a:p>
          <a:p>
            <a:r>
              <a:rPr sz="1600" b="0">
                <a:solidFill>
                  <a:srgbClr val="5A6672"/>
                </a:solidFill>
                <a:latin typeface="Malgun Gothic"/>
              </a:rPr>
              <a:t>    –  DISTINCT를 빼도 결과가 같다</a:t>
            </a:r>
          </a:p>
          <a:p>
            <a:r>
              <a:rPr sz="1600" b="0">
                <a:solidFill>
                  <a:srgbClr val="5A6672"/>
                </a:solidFill>
                <a:latin typeface="Malgun Gothic"/>
              </a:rPr>
              <a:t>    –  옵티마이저가 어차피 생략해줄 가능성이 높으므로 성능 차이도 없다</a:t>
            </a:r>
          </a:p>
          <a:p>
            <a:r>
              <a:rPr sz="1600" b="0">
                <a:solidFill>
                  <a:srgbClr val="5A6672"/>
                </a:solidFill>
                <a:latin typeface="Malgun Gothic"/>
              </a:rPr>
              <a:t>    –  다만 읽는 사람에게 혼란을 주므로 정리해 두는 편이 낫다</a:t>
            </a:r>
          </a:p>
          <a:p>
            <a:r>
              <a:rPr sz="1800" b="0">
                <a:solidFill>
                  <a:srgbClr val="202830"/>
                </a:solidFill>
                <a:latin typeface="Malgun Gothic"/>
              </a:rPr>
              <a:t>•  조인 이후의 컬럼처럼 중복 가능성이 실제로 있는 경우</a:t>
            </a:r>
          </a:p>
          <a:p>
            <a:r>
              <a:rPr sz="1600" b="0">
                <a:solidFill>
                  <a:srgbClr val="5A6672"/>
                </a:solidFill>
                <a:latin typeface="Malgun Gothic"/>
              </a:rPr>
              <a:t>    –  DISTINCT가 결과의 정확성을 위해 반드시 필요하다</a:t>
            </a:r>
          </a:p>
          <a:p>
            <a:r>
              <a:rPr sz="1600" b="0">
                <a:solidFill>
                  <a:srgbClr val="5A6672"/>
                </a:solidFill>
                <a:latin typeface="Malgun Gothic"/>
              </a:rPr>
              <a:t>    –  이때 DISTINCT를 지우는 것은 튜닝이 아니라 결과를 망가뜨리는 변경이다</a:t>
            </a:r>
          </a:p>
          <a:p>
            <a:r>
              <a:rPr sz="1800" b="0">
                <a:solidFill>
                  <a:srgbClr val="202830"/>
                </a:solidFill>
                <a:latin typeface="Malgun Gothic"/>
              </a:rPr>
              <a:t>•  조인 때문에 생긴 중복이라면 근본 해결은 다른 곳에 있다</a:t>
            </a:r>
          </a:p>
          <a:p>
            <a:r>
              <a:rPr sz="1600" b="0">
                <a:solidFill>
                  <a:srgbClr val="5A6672"/>
                </a:solidFill>
                <a:latin typeface="Malgun Gothic"/>
              </a:rPr>
              <a:t>    –  왜 조인 결과에 행이 늘어났는지, 즉 조인 조건과 카디널리티를 먼저 본다</a:t>
            </a:r>
          </a:p>
          <a:p>
            <a:r>
              <a:rPr sz="1600" b="0">
                <a:solidFill>
                  <a:srgbClr val="5A6672"/>
                </a:solidFill>
                <a:latin typeface="Malgun Gothic"/>
              </a:rPr>
              <a:t>    –  DISTINCT로 덮는 것은 증상 처리이고 조인 구조를 고치는 것이 원인 처리다</a:t>
            </a:r>
          </a:p>
        </p:txBody>
      </p:sp>
    </p:spTree>
    <p:extLst>
      <p:ext uri="{BB962C8B-B14F-4D97-AF65-F5344CB8AC3E}">
        <p14:creationId xmlns:p14="http://schemas.microsoft.com/office/powerpoint/2010/main" val="1845201801"/>
      </p:ext>
    </p:extLst>
  </p:cSld>
  <p:clrMapOvr>
    <a:masterClrMapping/>
  </p:clrMapOvr>
</p:sld>
</file>

<file path=ppt/slides/slide47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종합 벤치마크</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9.8절 Benchmark — 네 쿼리 실측 요약</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a:t>
            </a:r>
          </a:p>
          <a:p>
            <a:r>
              <a:rPr sz="1250" b="0">
                <a:solidFill>
                  <a:srgbClr val="E6E6E6"/>
                </a:solidFill>
                <a:latin typeface="Consolas"/>
              </a:rPr>
              <a:t>| 비교                           | Buffers | A-Time | 비고                                         |</a:t>
            </a:r>
          </a:p>
          <a:p>
            <a:r>
              <a:rPr sz="1250" b="0">
                <a:solidFill>
                  <a:srgbClr val="E6E6E6"/>
                </a:solidFill>
                <a:latin typeface="Consolas"/>
              </a:rPr>
              <a:t>+--------------------------------+---------+--------+----------------------------------------------+</a:t>
            </a:r>
          </a:p>
          <a:p>
            <a:r>
              <a:rPr sz="1250" b="0">
                <a:solidFill>
                  <a:srgbClr val="E6E6E6"/>
                </a:solidFill>
                <a:latin typeface="Consolas"/>
              </a:rPr>
              <a:t>| UNION (Q1)                     |   3,532 | 0.07초 | SORT UNIQUE 추가, 결과 35,985건              |</a:t>
            </a:r>
          </a:p>
          <a:p>
            <a:r>
              <a:rPr sz="1250" b="0">
                <a:solidFill>
                  <a:srgbClr val="E6E6E6"/>
                </a:solidFill>
                <a:latin typeface="Consolas"/>
              </a:rPr>
              <a:t>| UNION ALL (Q2)                 |   3,532 | 0.03초 | SORT UNIQUE 없음, 결과 64,011건(중복 포함)   |</a:t>
            </a:r>
          </a:p>
          <a:p>
            <a:r>
              <a:rPr sz="1250" b="0">
                <a:solidFill>
                  <a:srgbClr val="E6E6E6"/>
                </a:solidFill>
                <a:latin typeface="Consolas"/>
              </a:rPr>
              <a:t>| DISTINCT, PK 컬럼 (Q3)         |       9 | 0.01초 | SORT UNIQUE 완전히 생략됨                    |</a:t>
            </a:r>
          </a:p>
          <a:p>
            <a:r>
              <a:rPr sz="1250" b="0">
                <a:solidFill>
                  <a:srgbClr val="E6E6E6"/>
                </a:solidFill>
                <a:latin typeface="Consolas"/>
              </a:rPr>
              <a:t>| DISTINCT 없음, 동일 조회 (Q4)  |       9 | 0.01초 | Q3과 완전히 동일한 계획                      |</a:t>
            </a:r>
          </a:p>
          <a:p>
            <a:r>
              <a:rPr sz="1250" b="0">
                <a:solidFill>
                  <a:srgbClr val="E6E6E6"/>
                </a:solidFill>
                <a:latin typeface="Consolas"/>
              </a:rPr>
              <a:t>+--------------------------------+---------+--------+----------------------------------------------+</a:t>
            </a:r>
          </a:p>
        </p:txBody>
      </p:sp>
    </p:spTree>
    <p:extLst>
      <p:ext uri="{BB962C8B-B14F-4D97-AF65-F5344CB8AC3E}">
        <p14:creationId xmlns:p14="http://schemas.microsoft.com/office/powerpoint/2010/main" val="233411554"/>
      </p:ext>
    </p:extLst>
  </p:cSld>
  <p:clrMapOvr>
    <a:masterClrMapping/>
  </p:clrMapOvr>
</p:sld>
</file>

<file path=ppt/slides/slide47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중복 제거 비용 판단 체크리스트</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① 두 결과가 논리적으로 겹칠 수 있는가</a:t>
            </a:r>
          </a:p>
          <a:p>
            <a:r>
              <a:rPr sz="1600" b="0">
                <a:solidFill>
                  <a:srgbClr val="5A6672"/>
                </a:solidFill>
                <a:latin typeface="Malgun Gothic"/>
              </a:rPr>
              <a:t>    –  겹칠 수 없다면 중복 제거 자체가 필요 없다 — UNION ALL 또는 DISTINCT 제거가 안전하다</a:t>
            </a:r>
          </a:p>
          <a:p>
            <a:r>
              <a:rPr sz="1600" b="0">
                <a:solidFill>
                  <a:srgbClr val="5A6672"/>
                </a:solidFill>
                <a:latin typeface="Malgun Gothic"/>
              </a:rPr>
              <a:t>    –  판단 근거는 데이터의 현재 상태가 아니라 구조적 배타성이어야 한다</a:t>
            </a:r>
          </a:p>
          <a:p>
            <a:r>
              <a:rPr sz="1800" b="0">
                <a:solidFill>
                  <a:srgbClr val="202830"/>
                </a:solidFill>
                <a:latin typeface="Malgun Gothic"/>
              </a:rPr>
              <a:t>•  ② 옵티마이저가 유일성을 증명할 수 있는가</a:t>
            </a:r>
          </a:p>
          <a:p>
            <a:r>
              <a:rPr sz="1600" b="0">
                <a:solidFill>
                  <a:srgbClr val="5A6672"/>
                </a:solidFill>
                <a:latin typeface="Malgun Gothic"/>
              </a:rPr>
              <a:t>    –  PK나 유니크 제약이 걸린 컬럼이라면 붙여 두어도 비용 없이 생략된다</a:t>
            </a:r>
          </a:p>
          <a:p>
            <a:r>
              <a:rPr sz="1600" b="0">
                <a:solidFill>
                  <a:srgbClr val="5A6672"/>
                </a:solidFill>
                <a:latin typeface="Malgun Gothic"/>
              </a:rPr>
              <a:t>    –  제약이 없는 컬럼이나 조인을 거친 결과라면 기대할 수 없다</a:t>
            </a:r>
          </a:p>
          <a:p>
            <a:r>
              <a:rPr sz="1800" b="0">
                <a:solidFill>
                  <a:srgbClr val="202830"/>
                </a:solidFill>
                <a:latin typeface="Malgun Gothic"/>
              </a:rPr>
              <a:t>•  ③ 중복 제거가 실제로 필요하다면 그 비용을 어디서 확인할 것인가</a:t>
            </a:r>
          </a:p>
          <a:p>
            <a:r>
              <a:rPr sz="1600" b="0">
                <a:solidFill>
                  <a:srgbClr val="5A6672"/>
                </a:solidFill>
                <a:latin typeface="Malgun Gothic"/>
              </a:rPr>
              <a:t>    –  Buffers가 아니라 A-Time과 작업 메모리 사용량으로 확인한다</a:t>
            </a:r>
          </a:p>
          <a:p>
            <a:r>
              <a:rPr sz="1600" b="0">
                <a:solidFill>
                  <a:srgbClr val="5A6672"/>
                </a:solidFill>
                <a:latin typeface="Malgun Gothic"/>
              </a:rPr>
              <a:t>    –  Buffers만 보고 "비용이 없다"고 오판하지 않도록 주의한다</a:t>
            </a:r>
          </a:p>
        </p:txBody>
      </p:sp>
    </p:spTree>
    <p:extLst>
      <p:ext uri="{BB962C8B-B14F-4D97-AF65-F5344CB8AC3E}">
        <p14:creationId xmlns:p14="http://schemas.microsoft.com/office/powerpoint/2010/main" val="3104923733"/>
      </p:ext>
    </p:extLst>
  </p:cSld>
  <p:clrMapOvr>
    <a:masterClrMapping/>
  </p:clrMapOvr>
</p:sld>
</file>

<file path=ppt/slides/slide47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요약 (Summary)</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UNION은 UNION-ALL로 합친 뒤 SORT UNIQUE로 중복을 제거하는 두 단계 연산이다</a:t>
            </a:r>
          </a:p>
          <a:p>
            <a:r>
              <a:rPr sz="1800" b="0">
                <a:solidFill>
                  <a:srgbClr val="202830"/>
                </a:solidFill>
                <a:latin typeface="Malgun Gothic"/>
              </a:rPr>
              <a:t>•  SORT UNIQUE는 이미 메모리에 있는 데이터를 다루므로 Buffers를 늘리지 않는다</a:t>
            </a:r>
          </a:p>
          <a:p>
            <a:r>
              <a:rPr sz="1800" b="0">
                <a:solidFill>
                  <a:srgbClr val="202830"/>
                </a:solidFill>
                <a:latin typeface="Malgun Gothic"/>
              </a:rPr>
              <a:t>•  실측에서 Q1과 Q2의 Buffers는 3,532로 같았지만 A-Time은 0.07초와 0.03초로 갈렸다</a:t>
            </a:r>
          </a:p>
          <a:p>
            <a:r>
              <a:rPr sz="1800" b="0">
                <a:solidFill>
                  <a:srgbClr val="202830"/>
                </a:solidFill>
                <a:latin typeface="Malgun Gothic"/>
              </a:rPr>
              <a:t>•  Buffers만으로 UNION과 UNION ALL의 비용을 비교하면 안 된다는 것이 이 장의 첫 결론이다</a:t>
            </a:r>
          </a:p>
          <a:p>
            <a:r>
              <a:rPr sz="1800" b="0">
                <a:solidFill>
                  <a:srgbClr val="202830"/>
                </a:solidFill>
                <a:latin typeface="Malgun Gothic"/>
              </a:rPr>
              <a:t>•  결과 건수 35,985와 64,011의 차이 28,026은 두 집합에 실제로 있던 중복의 규모다</a:t>
            </a:r>
          </a:p>
          <a:p>
            <a:r>
              <a:rPr sz="1800" b="0">
                <a:solidFill>
                  <a:srgbClr val="202830"/>
                </a:solidFill>
                <a:latin typeface="Malgun Gothic"/>
              </a:rPr>
              <a:t>•  겹칠 수 있는 집합에서 UNION ALL로 바꾸면 빨라지는 대신 답이 틀린다</a:t>
            </a:r>
          </a:p>
          <a:p>
            <a:r>
              <a:rPr sz="1800" b="0">
                <a:solidFill>
                  <a:srgbClr val="202830"/>
                </a:solidFill>
                <a:latin typeface="Malgun Gothic"/>
              </a:rPr>
              <a:t>•  PK 컬럼에 붙인 DISTINCT는 옵티마이저가 비용 없이 통째로 생략했다 — Q3과 Q4의 계획이 동일</a:t>
            </a:r>
          </a:p>
          <a:p>
            <a:r>
              <a:rPr sz="1800" b="0">
                <a:solidFill>
                  <a:srgbClr val="202830"/>
                </a:solidFill>
                <a:latin typeface="Malgun Gothic"/>
              </a:rPr>
              <a:t>•  생략의 조건은 옵티마이저가 유일성을 증명할 수 있는 경우로 한정된다</a:t>
            </a:r>
          </a:p>
        </p:txBody>
      </p:sp>
    </p:spTree>
    <p:extLst>
      <p:ext uri="{BB962C8B-B14F-4D97-AF65-F5344CB8AC3E}">
        <p14:creationId xmlns:p14="http://schemas.microsoft.com/office/powerpoint/2010/main" val="3287400721"/>
      </p:ext>
    </p:extLst>
  </p:cSld>
  <p:clrMapOvr>
    <a:masterClrMapping/>
  </p:clrMapOvr>
</p:sld>
</file>

<file path=ppt/slides/slide47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실습 안내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실습문제 10문항 — ch11_문제.md</a:t>
            </a:r>
          </a:p>
          <a:p>
            <a:r>
              <a:rPr sz="1600" b="0">
                <a:solidFill>
                  <a:srgbClr val="5A6672"/>
                </a:solidFill>
                <a:latin typeface="Malgun Gothic"/>
              </a:rPr>
              <a:t>    –  1~3번  SORT UNIQUE가 있는데 Buffers가 안 늘어난 이유와 A-Time 차이의 원인</a:t>
            </a:r>
          </a:p>
          <a:p>
            <a:r>
              <a:rPr sz="1600" b="0">
                <a:solidFill>
                  <a:srgbClr val="5A6672"/>
                </a:solidFill>
                <a:latin typeface="Malgun Gothic"/>
              </a:rPr>
              <a:t>    –  4~5번  28,026건 차이의 의미와 UNION ALL을 쓰면 안 되는 이유</a:t>
            </a:r>
          </a:p>
          <a:p>
            <a:r>
              <a:rPr sz="1600" b="0">
                <a:solidFill>
                  <a:srgbClr val="5A6672"/>
                </a:solidFill>
                <a:latin typeface="Malgun Gothic"/>
              </a:rPr>
              <a:t>    –  6~7번  DISTINCT 생략의 근거와 "불필요한 DISTINCT는 낭비" 명제 반박</a:t>
            </a:r>
          </a:p>
          <a:p>
            <a:r>
              <a:rPr sz="1600" b="0">
                <a:solidFill>
                  <a:srgbClr val="5A6672"/>
                </a:solidFill>
                <a:latin typeface="Malgun Gothic"/>
              </a:rPr>
              <a:t>    –  8번  FK 컬럼에 같은 패턴을 적용했을 때의 결과 추론</a:t>
            </a:r>
          </a:p>
          <a:p>
            <a:r>
              <a:rPr sz="1600" b="0">
                <a:solidFill>
                  <a:srgbClr val="5A6672"/>
                </a:solidFill>
                <a:latin typeface="Malgun Gothic"/>
              </a:rPr>
              <a:t>    –  9번  이 스키마에서 겹칠 수 없는 두 집합 예시 만들기</a:t>
            </a:r>
          </a:p>
          <a:p>
            <a:r>
              <a:rPr sz="1600" b="0">
                <a:solidFill>
                  <a:srgbClr val="5A6672"/>
                </a:solidFill>
                <a:latin typeface="Malgun Gothic"/>
              </a:rPr>
              <a:t>    –  10번  중복 제거 비용 판단 시 확인할 항목 종합 정리</a:t>
            </a:r>
          </a:p>
          <a:p>
            <a:r>
              <a:rPr sz="1800" b="0">
                <a:solidFill>
                  <a:srgbClr val="202830"/>
                </a:solidFill>
                <a:latin typeface="Malgun Gothic"/>
              </a:rPr>
              <a:t>•  풀이 방법</a:t>
            </a:r>
          </a:p>
          <a:p>
            <a:r>
              <a:rPr sz="1600" b="0">
                <a:solidFill>
                  <a:srgbClr val="5A6672"/>
                </a:solidFill>
                <a:latin typeface="Malgun Gothic"/>
              </a:rPr>
              <a:t>    –  먼저 근거를 문장으로 적고 나서 실행계획으로 확인하는 순서를 지킨다</a:t>
            </a:r>
          </a:p>
          <a:p>
            <a:r>
              <a:rPr sz="1600" b="0">
                <a:solidFill>
                  <a:srgbClr val="5A6672"/>
                </a:solidFill>
                <a:latin typeface="Malgun Gothic"/>
              </a:rPr>
              <a:t>    –  해설은 ch11_해설.md에서 문항 번호와 1:1로 대응한다</a:t>
            </a:r>
          </a:p>
        </p:txBody>
      </p:sp>
    </p:spTree>
    <p:extLst>
      <p:ext uri="{BB962C8B-B14F-4D97-AF65-F5344CB8AC3E}">
        <p14:creationId xmlns:p14="http://schemas.microsoft.com/office/powerpoint/2010/main" val="1156260689"/>
      </p:ext>
    </p:extLst>
  </p:cSld>
  <p:clrMapOvr>
    <a:masterClrMapping/>
  </p:clrMapOvr>
</p:sld>
</file>

<file path=ppt/slides/slide478.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Rectangle 1"/>
          <p:cNvSpPr/>
          <p:nvPr/>
        </p:nvSpPr>
        <p:spPr>
          <a:xfrm>
            <a:off x="822960" y="2331720"/>
            <a:ext cx="164592"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88720" y="1463040"/>
            <a:ext cx="10058400" cy="369332"/>
          </a:xfrm>
          <a:prstGeom prst="rect">
            <a:avLst/>
          </a:prstGeom>
          <a:noFill/>
        </p:spPr>
        <p:txBody>
          <a:bodyPr wrap="square">
            <a:spAutoFit/>
          </a:bodyPr>
          <a:lstStyle/>
          <a:p>
            <a:r>
              <a:rPr sz="1800" b="1">
                <a:solidFill>
                  <a:srgbClr val="C0392B"/>
                </a:solidFill>
                <a:latin typeface="Malgun Gothic"/>
              </a:rPr>
              <a:t>Oracle SQL 튜닝 과정  ·  ch12</a:t>
            </a:r>
          </a:p>
        </p:txBody>
      </p:sp>
      <p:sp>
        <p:nvSpPr>
          <p:cNvPr id="4" name="TextBox 3"/>
          <p:cNvSpPr txBox="1"/>
          <p:nvPr/>
        </p:nvSpPr>
        <p:spPr>
          <a:xfrm>
            <a:off x="1188720" y="2194560"/>
            <a:ext cx="10332720" cy="2011680"/>
          </a:xfrm>
          <a:prstGeom prst="rect">
            <a:avLst/>
          </a:prstGeom>
          <a:noFill/>
        </p:spPr>
        <p:txBody>
          <a:bodyPr wrap="square">
            <a:spAutoFit/>
          </a:bodyPr>
          <a:lstStyle/>
          <a:p>
            <a:r>
              <a:rPr sz="4400" b="1">
                <a:solidFill>
                  <a:srgbClr val="FFFFFF"/>
                </a:solidFill>
                <a:latin typeface="Malgun Gothic"/>
              </a:rPr>
              <a:t>SORT / GROUP BY / 집계</a:t>
            </a:r>
          </a:p>
        </p:txBody>
      </p:sp>
      <p:sp>
        <p:nvSpPr>
          <p:cNvPr id="5" name="TextBox 4"/>
          <p:cNvSpPr txBox="1"/>
          <p:nvPr/>
        </p:nvSpPr>
        <p:spPr>
          <a:xfrm>
            <a:off x="1188720" y="4297680"/>
            <a:ext cx="10058400" cy="1097280"/>
          </a:xfrm>
          <a:prstGeom prst="rect">
            <a:avLst/>
          </a:prstGeom>
          <a:noFill/>
        </p:spPr>
        <p:txBody>
          <a:bodyPr wrap="square">
            <a:spAutoFit/>
          </a:bodyPr>
          <a:lstStyle/>
          <a:p>
            <a:r>
              <a:rPr sz="1800" b="0">
                <a:solidFill>
                  <a:srgbClr val="C5CED6"/>
                </a:solidFill>
                <a:latin typeface="Malgun Gothic"/>
              </a:rPr>
              <a:t>HASH GROUP BY vs SORT GROUP BY  ·  Predicate Pushdown  ·  정렬 생략의 두 조건  ·  선택도와 SORT ORDER BY   |  실습 DB 실측</a:t>
            </a:r>
          </a:p>
        </p:txBody>
      </p:sp>
    </p:spTree>
    <p:extLst>
      <p:ext uri="{BB962C8B-B14F-4D97-AF65-F5344CB8AC3E}">
        <p14:creationId xmlns:p14="http://schemas.microsoft.com/office/powerpoint/2010/main" val="2311746057"/>
      </p:ext>
    </p:extLst>
  </p:cSld>
  <p:clrMapOvr>
    <a:masterClrMapping/>
  </p:clrMapOvr>
</p:sld>
</file>

<file path=ppt/slides/slide47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학습 목표 (Objectives)</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 장을 마치면 다음을 수행할 수 있어야 한다.</a:t>
            </a:r>
          </a:p>
          <a:p>
            <a:r>
              <a:rPr sz="1600" b="0">
                <a:solidFill>
                  <a:srgbClr val="5A6672"/>
                </a:solidFill>
                <a:latin typeface="Malgun Gothic"/>
              </a:rPr>
              <a:t>    –  ORDER BY의 SORT 연산이 언제 발생하고 언제 생략되는지 조건으로 설명한다</a:t>
            </a:r>
          </a:p>
          <a:p>
            <a:r>
              <a:rPr sz="1600" b="0">
                <a:solidFill>
                  <a:srgbClr val="5A6672"/>
                </a:solidFill>
                <a:latin typeface="Malgun Gothic"/>
              </a:rPr>
              <a:t>    –  GROUP BY의 두 처리 방식 — HASH GROUP BY와 SORT GROUP BY를 구분한다</a:t>
            </a:r>
          </a:p>
          <a:p>
            <a:r>
              <a:rPr sz="1600" b="0">
                <a:solidFill>
                  <a:srgbClr val="5A6672"/>
                </a:solidFill>
                <a:latin typeface="Malgun Gothic"/>
              </a:rPr>
              <a:t>    –  정렬·해시 집계가 작업 영역(PGA)에서 수행된다는 점과 디스크 정렬의 의미를 설명한다</a:t>
            </a:r>
          </a:p>
          <a:p>
            <a:r>
              <a:rPr sz="1600" b="0">
                <a:solidFill>
                  <a:srgbClr val="5A6672"/>
                </a:solidFill>
                <a:latin typeface="Malgun Gothic"/>
              </a:rPr>
              <a:t>    –  Predicate Pushdown의 정의와 안전 조건을 설명한다</a:t>
            </a:r>
          </a:p>
          <a:p>
            <a:r>
              <a:rPr sz="1600" b="0">
                <a:solidFill>
                  <a:srgbClr val="5A6672"/>
                </a:solidFill>
                <a:latin typeface="Malgun Gothic"/>
              </a:rPr>
              <a:t>    –  그룹 키에 대한 필터와 집계 결과에 대한 필터를 구분해 판별한다</a:t>
            </a:r>
          </a:p>
          <a:p>
            <a:r>
              <a:rPr sz="1600" b="0">
                <a:solidFill>
                  <a:srgbClr val="5A6672"/>
                </a:solidFill>
                <a:latin typeface="Malgun Gothic"/>
              </a:rPr>
              <a:t>    –  HAVING 조건이 그룹화 이전으로 밀려나지 못하는 이유를 설명한다</a:t>
            </a:r>
          </a:p>
          <a:p>
            <a:r>
              <a:rPr sz="1600" b="0">
                <a:solidFill>
                  <a:srgbClr val="5A6672"/>
                </a:solidFill>
                <a:latin typeface="Malgun Gothic"/>
              </a:rPr>
              <a:t>    –  필터 위치를 바꾼 두 SQL이 동일한 실행계획이 된 원인을 실행계획으로 설명한다</a:t>
            </a:r>
          </a:p>
          <a:p>
            <a:r>
              <a:rPr sz="1600" b="0">
                <a:solidFill>
                  <a:srgbClr val="5A6672"/>
                </a:solidFill>
                <a:latin typeface="Malgun Gothic"/>
              </a:rPr>
              <a:t>    –  선택도에 따라 같은 컬럼의 정렬 생략 여부가 달라지는 이유를 설명한다</a:t>
            </a:r>
          </a:p>
          <a:p>
            <a:r>
              <a:rPr sz="1600" b="0">
                <a:solidFill>
                  <a:srgbClr val="5A6672"/>
                </a:solidFill>
                <a:latin typeface="Malgun Gothic"/>
              </a:rPr>
              <a:t>    –  정렬 생략의 두 조건을 적용해 실제 SQL의 SORT 발생 여부를 판정한다</a:t>
            </a:r>
          </a:p>
          <a:p>
            <a:r>
              <a:rPr sz="1600" b="0">
                <a:solidFill>
                  <a:srgbClr val="5A6672"/>
                </a:solidFill>
                <a:latin typeface="Malgun Gothic"/>
              </a:rPr>
              <a:t>    –  정렬 유무만으로 비용을 단정하지 않고 테이블 접근 방식까지 함께 확인한다</a:t>
            </a:r>
          </a:p>
        </p:txBody>
      </p:sp>
    </p:spTree>
    <p:extLst>
      <p:ext uri="{BB962C8B-B14F-4D97-AF65-F5344CB8AC3E}">
        <p14:creationId xmlns:p14="http://schemas.microsoft.com/office/powerpoint/2010/main" val="887469832"/>
      </p:ext>
    </p:extLst>
  </p:cSld>
  <p:clrMapOvr>
    <a:masterClrMapping/>
  </p:clrMapOvr>
</p:sld>
</file>

<file path=ppt/slides/slide48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장의 구성 (Agenda)</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10.1  정렬과 집계는 왜 중요한가</a:t>
            </a:r>
          </a:p>
          <a:p>
            <a:r>
              <a:rPr sz="1600" b="0">
                <a:solidFill>
                  <a:srgbClr val="5A6672"/>
                </a:solidFill>
                <a:latin typeface="Malgun Gothic"/>
              </a:rPr>
              <a:t>    –  리포트성 쿼리의 뼈대 / 검증할 두 가지 통념 / 이 차시의 소재와 범위</a:t>
            </a:r>
          </a:p>
          <a:p>
            <a:r>
              <a:rPr sz="1800" b="0">
                <a:solidFill>
                  <a:srgbClr val="202830"/>
                </a:solidFill>
                <a:latin typeface="Malgun Gothic"/>
              </a:rPr>
              <a:t>•  10.2  Concept — ORDER BY와 GROUP BY의 처리 방식</a:t>
            </a:r>
          </a:p>
          <a:p>
            <a:r>
              <a:rPr sz="1600" b="0">
                <a:solidFill>
                  <a:srgbClr val="5A6672"/>
                </a:solidFill>
                <a:latin typeface="Malgun Gothic"/>
              </a:rPr>
              <a:t>    –  정렬 연산의 정체 / 인덱스가 정렬을 대신하는 원리 / HASH vs SORT GROUP BY / 작업 영역</a:t>
            </a:r>
          </a:p>
          <a:p>
            <a:r>
              <a:rPr sz="1800" b="0">
                <a:solidFill>
                  <a:srgbClr val="202830"/>
                </a:solidFill>
                <a:latin typeface="Malgun Gothic"/>
              </a:rPr>
              <a:t>•  10.3  Oracle Internals — 필터 위치보다 중요한 것</a:t>
            </a:r>
          </a:p>
          <a:p>
            <a:r>
              <a:rPr sz="1600" b="0">
                <a:solidFill>
                  <a:srgbClr val="5A6672"/>
                </a:solidFill>
                <a:latin typeface="Malgun Gothic"/>
              </a:rPr>
              <a:t>    –  Predicate Pushdown / 그룹 키 필터 / HAVING / ch10 사례와의 대조</a:t>
            </a:r>
          </a:p>
          <a:p>
            <a:r>
              <a:rPr sz="1800" b="0">
                <a:solidFill>
                  <a:srgbClr val="202830"/>
                </a:solidFill>
                <a:latin typeface="Malgun Gothic"/>
              </a:rPr>
              <a:t>•  10.4  Example — GROUP BY 필터 위치 실측</a:t>
            </a:r>
          </a:p>
          <a:p>
            <a:r>
              <a:rPr sz="1600" b="0">
                <a:solidFill>
                  <a:srgbClr val="5A6672"/>
                </a:solidFill>
                <a:latin typeface="Malgun Gothic"/>
              </a:rPr>
              <a:t>    –  Q1·Q2 SQL / 공통 실행계획 / 동일한 계획이 된 원인 / 실무 교훈</a:t>
            </a:r>
          </a:p>
          <a:p>
            <a:r>
              <a:rPr sz="1800" b="0">
                <a:solidFill>
                  <a:srgbClr val="202830"/>
                </a:solidFill>
                <a:latin typeface="Malgun Gothic"/>
              </a:rPr>
              <a:t>•  10.5  Bad SQL — ORDER BY의 정렬 생략은 선택도에 달려 있다</a:t>
            </a:r>
          </a:p>
          <a:p>
            <a:r>
              <a:rPr sz="1600" b="0">
                <a:solidFill>
                  <a:srgbClr val="5A6672"/>
                </a:solidFill>
                <a:latin typeface="Malgun Gothic"/>
              </a:rPr>
              <a:t>    –  넓은 범위와 좁은 범위 비교 / 정렬이 없는 쪽이 더 비싼 역설</a:t>
            </a:r>
          </a:p>
          <a:p>
            <a:r>
              <a:rPr sz="1800" b="0">
                <a:solidFill>
                  <a:srgbClr val="202830"/>
                </a:solidFill>
                <a:latin typeface="Malgun Gothic"/>
              </a:rPr>
              <a:t>•  10.6  Tuning — 정렬 생략의 두 조건</a:t>
            </a:r>
          </a:p>
          <a:p>
            <a:r>
              <a:rPr sz="1600" b="0">
                <a:solidFill>
                  <a:srgbClr val="5A6672"/>
                </a:solidFill>
                <a:latin typeface="Malgun Gothic"/>
              </a:rPr>
              <a:t>    –  두 조건 / ch05와의 연결 / HASH GROUP BY의 생략 불가 / 체크리스트</a:t>
            </a:r>
          </a:p>
          <a:p>
            <a:r>
              <a:rPr sz="1800" b="0">
                <a:solidFill>
                  <a:srgbClr val="202830"/>
                </a:solidFill>
                <a:latin typeface="Malgun Gothic"/>
              </a:rPr>
              <a:t>•  10.7  Benchmark &amp; Review</a:t>
            </a:r>
          </a:p>
        </p:txBody>
      </p:sp>
    </p:spTree>
    <p:extLst>
      <p:ext uri="{BB962C8B-B14F-4D97-AF65-F5344CB8AC3E}">
        <p14:creationId xmlns:p14="http://schemas.microsoft.com/office/powerpoint/2010/main" val="1076399349"/>
      </p:ext>
    </p:extLst>
  </p:cSld>
  <p:clrMapOvr>
    <a:masterClrMapping/>
  </p:clrMapOvr>
</p:sld>
</file>

<file path=ppt/slides/slide481.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107996"/>
          </a:xfrm>
          <a:prstGeom prst="rect">
            <a:avLst/>
          </a:prstGeom>
          <a:noFill/>
        </p:spPr>
        <p:txBody>
          <a:bodyPr wrap="square">
            <a:spAutoFit/>
          </a:bodyPr>
          <a:lstStyle/>
          <a:p>
            <a:r>
              <a:rPr sz="6600" b="1" dirty="0">
                <a:solidFill>
                  <a:srgbClr val="C0392B"/>
                </a:solidFill>
                <a:latin typeface="Malgun Gothic"/>
              </a:rPr>
              <a:t>1</a:t>
            </a:r>
            <a:r>
              <a:rPr lang="en-US" sz="6600" b="1" dirty="0">
                <a:solidFill>
                  <a:srgbClr val="C0392B"/>
                </a:solidFill>
                <a:latin typeface="Malgun Gothic"/>
              </a:rPr>
              <a:t>2</a:t>
            </a:r>
            <a:r>
              <a:rPr sz="6600" b="1" dirty="0">
                <a:solidFill>
                  <a:srgbClr val="C0392B"/>
                </a:solidFill>
                <a:latin typeface="Malgun Gothic"/>
              </a:rPr>
              <a:t>.1</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정렬과 집계는 왜 중요한가</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리포트성 쿼리의 뼈대 — GROUP BY와 ORDER BY</a:t>
            </a:r>
          </a:p>
          <a:p>
            <a:r>
              <a:rPr sz="1600" b="0">
                <a:solidFill>
                  <a:srgbClr val="C5CED6"/>
                </a:solidFill>
                <a:latin typeface="Malgun Gothic"/>
              </a:rPr>
              <a:t>•  이번 장이 검증할 두 가지 통념</a:t>
            </a:r>
          </a:p>
          <a:p>
            <a:r>
              <a:rPr sz="1600" b="0">
                <a:solidFill>
                  <a:srgbClr val="C5CED6"/>
                </a:solidFill>
                <a:latin typeface="Malgun Gothic"/>
              </a:rPr>
              <a:t>•  이 차시의 소재와 범위</a:t>
            </a:r>
          </a:p>
        </p:txBody>
      </p:sp>
    </p:spTree>
    <p:extLst>
      <p:ext uri="{BB962C8B-B14F-4D97-AF65-F5344CB8AC3E}">
        <p14:creationId xmlns:p14="http://schemas.microsoft.com/office/powerpoint/2010/main" val="2811849816"/>
      </p:ext>
    </p:extLst>
  </p:cSld>
  <p:clrMapOvr>
    <a:masterClrMapping/>
  </p:clrMapOvr>
</p:sld>
</file>

<file path=ppt/slides/slide48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정렬과 집계는 어디에나 있다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리포트성 쿼리에는 GROUP BY와 ORDER BY가 거의 빠짐없이 들어간다</a:t>
            </a:r>
          </a:p>
          <a:p>
            <a:r>
              <a:rPr sz="1600" b="0">
                <a:solidFill>
                  <a:srgbClr val="5A6672"/>
                </a:solidFill>
                <a:latin typeface="Malgun Gothic"/>
              </a:rPr>
              <a:t>    –  병원별 청구 건수, 기간별 합계, 상위 N건 조회가 모두 이 두 연산 위에 있다</a:t>
            </a:r>
          </a:p>
          <a:p>
            <a:r>
              <a:rPr sz="1800" b="0">
                <a:solidFill>
                  <a:srgbClr val="202830"/>
                </a:solidFill>
                <a:latin typeface="Malgun Gothic"/>
              </a:rPr>
              <a:t>•  두 연산은 데이터를 모아서 처리한다 — 앞 단계 결과 전체가 필요하다</a:t>
            </a:r>
          </a:p>
          <a:p>
            <a:r>
              <a:rPr sz="1600" b="0">
                <a:solidFill>
                  <a:srgbClr val="5A6672"/>
                </a:solidFill>
                <a:latin typeface="Malgun Gothic"/>
              </a:rPr>
              <a:t>    –  한 행씩 흘려보내는 연산과 달리 중간 결과를 담아 둘 자리가 필요하다</a:t>
            </a:r>
          </a:p>
          <a:p>
            <a:r>
              <a:rPr sz="1600" b="0">
                <a:solidFill>
                  <a:srgbClr val="5A6672"/>
                </a:solidFill>
                <a:latin typeface="Malgun Gothic"/>
              </a:rPr>
              <a:t>    –  입력이 다 들어오기 전에는 첫 행조차 내보낼 수 없다</a:t>
            </a:r>
          </a:p>
          <a:p>
            <a:r>
              <a:rPr sz="1800" b="0">
                <a:solidFill>
                  <a:srgbClr val="202830"/>
                </a:solidFill>
                <a:latin typeface="Malgun Gothic"/>
              </a:rPr>
              <a:t>•  그래서 이 두 연산이 언제 비용을 유발하고 언제 생략되는지가 관건이다</a:t>
            </a:r>
          </a:p>
          <a:p>
            <a:r>
              <a:rPr sz="1600" b="0">
                <a:solidFill>
                  <a:srgbClr val="5A6672"/>
                </a:solidFill>
                <a:latin typeface="Malgun Gothic"/>
              </a:rPr>
              <a:t>    –  문법을 아는 것과 비용 구조를 아는 것은 다른 문제다</a:t>
            </a:r>
          </a:p>
          <a:p>
            <a:r>
              <a:rPr sz="1600" b="0">
                <a:solidFill>
                  <a:srgbClr val="5A6672"/>
                </a:solidFill>
                <a:latin typeface="Malgun Gothic"/>
              </a:rPr>
              <a:t>    –  이번 장은 그 조건을 실습 DB 실측으로 확인한다</a:t>
            </a:r>
          </a:p>
        </p:txBody>
      </p:sp>
    </p:spTree>
    <p:extLst>
      <p:ext uri="{BB962C8B-B14F-4D97-AF65-F5344CB8AC3E}">
        <p14:creationId xmlns:p14="http://schemas.microsoft.com/office/powerpoint/2010/main" val="4057499954"/>
      </p:ext>
    </p:extLst>
  </p:cSld>
  <p:clrMapOvr>
    <a:masterClrMapping/>
  </p:clrMapOvr>
</p:sld>
</file>

<file path=ppt/slides/slide48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이번 장이 검증할 두 가지 통념</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통념 1 — '필터를 먼저 걸어야 집계가 빨라진다'</a:t>
            </a:r>
          </a:p>
          <a:p>
            <a:r>
              <a:rPr sz="1600" b="0">
                <a:solidFill>
                  <a:srgbClr val="5A6672"/>
                </a:solidFill>
                <a:latin typeface="Malgun Gothic"/>
              </a:rPr>
              <a:t>    –  집계 대상 행이 적을수록 유리하다는 직관에서 나온 조언</a:t>
            </a:r>
          </a:p>
          <a:p>
            <a:r>
              <a:rPr sz="1600" b="0">
                <a:solidFill>
                  <a:srgbClr val="5A6672"/>
                </a:solidFill>
                <a:latin typeface="Malgun Gothic"/>
              </a:rPr>
              <a:t>    –  그래서 인라인 뷰 안쪽으로 WHERE를 옮겨 쓰는 관행이 널리 퍼져 있다</a:t>
            </a:r>
          </a:p>
          <a:p>
            <a:r>
              <a:rPr sz="1800" b="0">
                <a:solidFill>
                  <a:srgbClr val="202830"/>
                </a:solidFill>
                <a:latin typeface="Malgun Gothic"/>
              </a:rPr>
              <a:t>•  통념 2 — '인덱스 컬럼으로 정렬하면 정렬이 생략된다'</a:t>
            </a:r>
          </a:p>
          <a:p>
            <a:r>
              <a:rPr sz="1600" b="0">
                <a:solidFill>
                  <a:srgbClr val="5A6672"/>
                </a:solidFill>
                <a:latin typeface="Malgun Gothic"/>
              </a:rPr>
              <a:t>    –  인덱스는 정렬돼 있으니 그 순서를 그대로 쓰면 된다는 직관</a:t>
            </a:r>
          </a:p>
          <a:p>
            <a:r>
              <a:rPr sz="1800" b="0">
                <a:solidFill>
                  <a:srgbClr val="202830"/>
                </a:solidFill>
                <a:latin typeface="Malgun Gothic"/>
              </a:rPr>
              <a:t>•  두 통념 모두 완전히 틀린 말은 아니다 — 조건이 빠져 있을 뿐이다</a:t>
            </a:r>
          </a:p>
          <a:p>
            <a:r>
              <a:rPr sz="1600" b="0">
                <a:solidFill>
                  <a:srgbClr val="5A6672"/>
                </a:solidFill>
                <a:latin typeface="Malgun Gothic"/>
              </a:rPr>
              <a:t>    –  통념은 대개 특정 상황에서 관측된 사실에서 조건만 떨어져 나간 형태다</a:t>
            </a:r>
          </a:p>
          <a:p>
            <a:r>
              <a:rPr sz="1600" b="0">
                <a:solidFill>
                  <a:srgbClr val="5A6672"/>
                </a:solidFill>
                <a:latin typeface="Malgun Gothic"/>
              </a:rPr>
              <a:t>    –  이번 장은 두 통념을 실측으로 검증하고 빠진 조건을 복원한다</a:t>
            </a:r>
          </a:p>
        </p:txBody>
      </p:sp>
    </p:spTree>
    <p:extLst>
      <p:ext uri="{BB962C8B-B14F-4D97-AF65-F5344CB8AC3E}">
        <p14:creationId xmlns:p14="http://schemas.microsoft.com/office/powerpoint/2010/main" val="834058945"/>
      </p:ext>
    </p:extLst>
  </p:cSld>
  <p:clrMapOvr>
    <a:masterClrMapping/>
  </p:clrMapOvr>
</p:sld>
</file>

<file path=ppt/slides/slide48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차시의 소재와 범위</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소재 1 — GROUP BY 대상을 줄이는 순서 (필터를 먼저 vs 나중에)</a:t>
            </a:r>
          </a:p>
          <a:p>
            <a:r>
              <a:rPr sz="1600" b="0">
                <a:solidFill>
                  <a:srgbClr val="5A6672"/>
                </a:solidFill>
                <a:latin typeface="Malgun Gothic"/>
              </a:rPr>
              <a:t>    –  같은 결과를 내는 두 SQL을 필터 위치만 바꿔 작성해 실행계획을 비교한다</a:t>
            </a:r>
          </a:p>
          <a:p>
            <a:r>
              <a:rPr sz="1800" b="0">
                <a:solidFill>
                  <a:srgbClr val="202830"/>
                </a:solidFill>
                <a:latin typeface="Malgun Gothic"/>
              </a:rPr>
              <a:t>•  소재 2 — ORDER BY 대상 컬럼에 따라 정렬(SORT)이 생략되는지 여부</a:t>
            </a:r>
          </a:p>
          <a:p>
            <a:r>
              <a:rPr sz="1600" b="0">
                <a:solidFill>
                  <a:srgbClr val="5A6672"/>
                </a:solidFill>
                <a:latin typeface="Malgun Gothic"/>
              </a:rPr>
              <a:t>    –  같은 두 컬럼을 정렬 기준으로 바꿔가며, 넓은 범위와 좁은 범위를 각각 확인한다</a:t>
            </a:r>
          </a:p>
          <a:p>
            <a:r>
              <a:rPr sz="1800" b="0">
                <a:solidFill>
                  <a:srgbClr val="202830"/>
                </a:solidFill>
                <a:latin typeface="Malgun Gothic"/>
              </a:rPr>
              <a:t>•  본 차시는 DDL 변경이 없다 — 기존 PK만 사용한다</a:t>
            </a:r>
          </a:p>
          <a:p>
            <a:r>
              <a:rPr sz="1600" b="0">
                <a:solidFill>
                  <a:srgbClr val="5A6672"/>
                </a:solidFill>
                <a:latin typeface="Malgun Gothic"/>
              </a:rPr>
              <a:t>    –  인덱스를 추가로 만들지 않고 접근 경로 변화만으로 결과가 갈린다</a:t>
            </a:r>
          </a:p>
          <a:p>
            <a:r>
              <a:rPr sz="1800" b="0">
                <a:solidFill>
                  <a:srgbClr val="202830"/>
                </a:solidFill>
                <a:latin typeface="Malgun Gothic"/>
              </a:rPr>
              <a:t>•  아래 예제는 전부 실습 DB 실측 결과다</a:t>
            </a:r>
          </a:p>
        </p:txBody>
      </p:sp>
    </p:spTree>
    <p:extLst>
      <p:ext uri="{BB962C8B-B14F-4D97-AF65-F5344CB8AC3E}">
        <p14:creationId xmlns:p14="http://schemas.microsoft.com/office/powerpoint/2010/main" val="2878381548"/>
      </p:ext>
    </p:extLst>
  </p:cSld>
  <p:clrMapOvr>
    <a:masterClrMapping/>
  </p:clrMapOvr>
</p:sld>
</file>

<file path=ppt/slides/slide485.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107996"/>
          </a:xfrm>
          <a:prstGeom prst="rect">
            <a:avLst/>
          </a:prstGeom>
          <a:noFill/>
        </p:spPr>
        <p:txBody>
          <a:bodyPr wrap="square">
            <a:spAutoFit/>
          </a:bodyPr>
          <a:lstStyle/>
          <a:p>
            <a:r>
              <a:rPr sz="6600" b="1" dirty="0">
                <a:solidFill>
                  <a:srgbClr val="C0392B"/>
                </a:solidFill>
                <a:latin typeface="Malgun Gothic"/>
              </a:rPr>
              <a:t>1</a:t>
            </a:r>
            <a:r>
              <a:rPr lang="en-US" sz="6600" b="1" dirty="0">
                <a:solidFill>
                  <a:srgbClr val="C0392B"/>
                </a:solidFill>
                <a:latin typeface="Malgun Gothic"/>
              </a:rPr>
              <a:t>2</a:t>
            </a:r>
            <a:r>
              <a:rPr sz="6600" b="1" dirty="0">
                <a:solidFill>
                  <a:srgbClr val="C0392B"/>
                </a:solidFill>
                <a:latin typeface="Malgun Gothic"/>
              </a:rPr>
              <a:t>.2</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Concept — ORDER BY와 GROUP BY</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ORDER BY — 정렬 연산의 정체</a:t>
            </a:r>
          </a:p>
          <a:p>
            <a:r>
              <a:rPr sz="1600" b="0">
                <a:solidFill>
                  <a:srgbClr val="C5CED6"/>
                </a:solidFill>
                <a:latin typeface="Malgun Gothic"/>
              </a:rPr>
              <a:t>•  인덱스가 정렬을 대신할 수 있는 이유</a:t>
            </a:r>
          </a:p>
          <a:p>
            <a:r>
              <a:rPr sz="1600" b="0">
                <a:solidFill>
                  <a:srgbClr val="C5CED6"/>
                </a:solidFill>
                <a:latin typeface="Malgun Gothic"/>
              </a:rPr>
              <a:t>•  GROUP BY — HASH 방식과 SORT 방식</a:t>
            </a:r>
          </a:p>
          <a:p>
            <a:r>
              <a:rPr sz="1600" b="0">
                <a:solidFill>
                  <a:srgbClr val="C5CED6"/>
                </a:solidFill>
                <a:latin typeface="Malgun Gothic"/>
              </a:rPr>
              <a:t>•  작업 영역(PGA)과 디스크 정렬</a:t>
            </a:r>
          </a:p>
        </p:txBody>
      </p:sp>
    </p:spTree>
    <p:extLst>
      <p:ext uri="{BB962C8B-B14F-4D97-AF65-F5344CB8AC3E}">
        <p14:creationId xmlns:p14="http://schemas.microsoft.com/office/powerpoint/2010/main" val="175226316"/>
      </p:ext>
    </p:extLst>
  </p:cSld>
  <p:clrMapOvr>
    <a:masterClrMapping/>
  </p:clrMapOvr>
</p:sld>
</file>

<file path=ppt/slides/slide48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ORDER BY — 정렬 연산의 정체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ORDER BY는 결과를 특정 순서로 정렬하라는 요구다</a:t>
            </a:r>
          </a:p>
          <a:p>
            <a:r>
              <a:rPr sz="1600" b="0">
                <a:solidFill>
                  <a:srgbClr val="5A6672"/>
                </a:solidFill>
                <a:latin typeface="Malgun Gothic"/>
              </a:rPr>
              <a:t>    –  요구를 만족시키는 방법은 두 가지 — 직접 정렬하거나, 이미 정렬된 것을 쓰거나</a:t>
            </a:r>
          </a:p>
          <a:p>
            <a:r>
              <a:rPr sz="1800" b="0">
                <a:solidFill>
                  <a:srgbClr val="202830"/>
                </a:solidFill>
                <a:latin typeface="Malgun Gothic"/>
              </a:rPr>
              <a:t>•  직접 정렬하면 실행계획에 SORT ORDER BY 오퍼레이션으로 나타난다</a:t>
            </a:r>
          </a:p>
          <a:p>
            <a:r>
              <a:rPr sz="1600" b="0">
                <a:solidFill>
                  <a:srgbClr val="5A6672"/>
                </a:solidFill>
                <a:latin typeface="Malgun Gothic"/>
              </a:rPr>
              <a:t>    –  정렬 대상 행을 모두 모아야 하므로 CPU와 메모리를 함께 소비한다</a:t>
            </a:r>
          </a:p>
          <a:p>
            <a:r>
              <a:rPr sz="1600" b="0">
                <a:solidFill>
                  <a:srgbClr val="5A6672"/>
                </a:solidFill>
                <a:latin typeface="Malgun Gothic"/>
              </a:rPr>
              <a:t>    –  정렬 대상 행 수가 늘면 비용은 그보다 빠르게 늘어난다</a:t>
            </a:r>
          </a:p>
          <a:p>
            <a:r>
              <a:rPr sz="1800" b="0">
                <a:solidFill>
                  <a:srgbClr val="202830"/>
                </a:solidFill>
                <a:latin typeface="Malgun Gothic"/>
              </a:rPr>
              <a:t>•  반대로 인덱스가 이미 그 순서로 정렬돼 있으면 별도의 SORT 연산 없이 그대로 반환할 수 있다</a:t>
            </a:r>
          </a:p>
          <a:p>
            <a:r>
              <a:rPr sz="1600" b="0">
                <a:solidFill>
                  <a:srgbClr val="5A6672"/>
                </a:solidFill>
                <a:latin typeface="Malgun Gothic"/>
              </a:rPr>
              <a:t>    –  이때 실행계획에는 SORT 오퍼레이션 자체가 나타나지 않는다</a:t>
            </a:r>
          </a:p>
        </p:txBody>
      </p:sp>
    </p:spTree>
    <p:extLst>
      <p:ext uri="{BB962C8B-B14F-4D97-AF65-F5344CB8AC3E}">
        <p14:creationId xmlns:p14="http://schemas.microsoft.com/office/powerpoint/2010/main" val="377224100"/>
      </p:ext>
    </p:extLst>
  </p:cSld>
  <p:clrMapOvr>
    <a:masterClrMapping/>
  </p:clrMapOvr>
</p:sld>
</file>

<file path=ppt/slides/slide48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인덱스가 정렬을 대신할 수 있는 이유</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인덱스는 키 값 순서로 정렬돼 저장되는 구조다</a:t>
            </a:r>
          </a:p>
          <a:p>
            <a:r>
              <a:rPr sz="1600" b="0">
                <a:solidFill>
                  <a:srgbClr val="5A6672"/>
                </a:solidFill>
                <a:latin typeface="Malgun Gothic"/>
              </a:rPr>
              <a:t>    –  INDEX RANGE SCAN은 그 저장 순서대로 읽어 상위 단계에 넘긴다</a:t>
            </a:r>
          </a:p>
          <a:p>
            <a:r>
              <a:rPr sz="1600" b="0">
                <a:solidFill>
                  <a:srgbClr val="5A6672"/>
                </a:solidFill>
                <a:latin typeface="Malgun Gothic"/>
              </a:rPr>
              <a:t>    –  그래서 읽어 나오는 결과가 이미 인덱스 키 순서로 정렬돼 있다</a:t>
            </a:r>
          </a:p>
          <a:p>
            <a:r>
              <a:rPr sz="1800" b="0">
                <a:solidFill>
                  <a:srgbClr val="202830"/>
                </a:solidFill>
                <a:latin typeface="Malgun Gothic"/>
              </a:rPr>
              <a:t>•  정렬 요구가 그 순서와 일치하면 다시 정렬할 이유가 없다</a:t>
            </a:r>
          </a:p>
          <a:p>
            <a:r>
              <a:rPr sz="1600" b="0">
                <a:solidFill>
                  <a:srgbClr val="5A6672"/>
                </a:solidFill>
                <a:latin typeface="Malgun Gothic"/>
              </a:rPr>
              <a:t>    –  옵티마이저는 이 경우 SORT ORDER BY 단계를 계획에서 아예 제거한다</a:t>
            </a:r>
          </a:p>
          <a:p>
            <a:r>
              <a:rPr sz="1800" b="0">
                <a:solidFill>
                  <a:srgbClr val="202830"/>
                </a:solidFill>
                <a:latin typeface="Malgun Gothic"/>
              </a:rPr>
              <a:t>•  반대로 TABLE ACCESS FULL은 어떤 순서도 보장하지 않는다</a:t>
            </a:r>
          </a:p>
          <a:p>
            <a:r>
              <a:rPr sz="1600" b="0">
                <a:solidFill>
                  <a:srgbClr val="5A6672"/>
                </a:solidFill>
                <a:latin typeface="Malgun Gothic"/>
              </a:rPr>
              <a:t>    –  테이블에 저장된 물리적 순서로 읽을 뿐이며 이는 정렬 순서와 무관하다</a:t>
            </a:r>
          </a:p>
          <a:p>
            <a:r>
              <a:rPr sz="1600" b="0">
                <a:solidFill>
                  <a:srgbClr val="5A6672"/>
                </a:solidFill>
                <a:latin typeface="Malgun Gothic"/>
              </a:rPr>
              <a:t>    –  따라서 Full Scan이 선택되면 정렬 요구는 반드시 별도 SORT로 처리된다</a:t>
            </a:r>
          </a:p>
        </p:txBody>
      </p:sp>
    </p:spTree>
    <p:extLst>
      <p:ext uri="{BB962C8B-B14F-4D97-AF65-F5344CB8AC3E}">
        <p14:creationId xmlns:p14="http://schemas.microsoft.com/office/powerpoint/2010/main" val="405206931"/>
      </p:ext>
    </p:extLst>
  </p:cSld>
  <p:clrMapOvr>
    <a:masterClrMapping/>
  </p:clrMapOvr>
</p:sld>
</file>

<file path=ppt/slides/slide48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GROUP BY — HASH 방식과 SORT 방식</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GROUP BY는 지정한 컬럼 값이 같은 행끼리 묶어 집계하는 연산이다</a:t>
            </a:r>
          </a:p>
          <a:p>
            <a:r>
              <a:rPr sz="1800" b="0">
                <a:solidFill>
                  <a:srgbClr val="202830"/>
                </a:solidFill>
                <a:latin typeface="Malgun Gothic"/>
              </a:rPr>
              <a:t>•  처리 방식은 크게 두 가지다</a:t>
            </a:r>
          </a:p>
          <a:p>
            <a:r>
              <a:rPr sz="1600" b="0">
                <a:solidFill>
                  <a:srgbClr val="5A6672"/>
                </a:solidFill>
                <a:latin typeface="Malgun Gothic"/>
              </a:rPr>
              <a:t>    –  HASH GROUP BY — 그룹 키를 해시로 묶어 집계하는 해시 기반 방식</a:t>
            </a:r>
          </a:p>
          <a:p>
            <a:r>
              <a:rPr sz="1600" b="0">
                <a:solidFill>
                  <a:srgbClr val="5A6672"/>
                </a:solidFill>
                <a:latin typeface="Malgun Gothic"/>
              </a:rPr>
              <a:t>    –  SORT GROUP BY — 정렬된 데이터를 순서대로 훑으며 같은 값끼리 묶는 정렬 기반 방식</a:t>
            </a:r>
          </a:p>
          <a:p>
            <a:r>
              <a:rPr sz="1800" b="0">
                <a:solidFill>
                  <a:srgbClr val="202830"/>
                </a:solidFill>
                <a:latin typeface="Malgun Gothic"/>
              </a:rPr>
              <a:t>•  이 스키마에서는 대부분 HASH GROUP BY가 선택된다</a:t>
            </a:r>
          </a:p>
          <a:p>
            <a:r>
              <a:rPr sz="1600" b="0">
                <a:solidFill>
                  <a:srgbClr val="5A6672"/>
                </a:solidFill>
                <a:latin typeface="Malgun Gothic"/>
              </a:rPr>
              <a:t>    –  이번 장의 모든 GROUP BY 쿼리에서 공통으로 HASH GROUP BY가 나타났다</a:t>
            </a:r>
          </a:p>
          <a:p>
            <a:r>
              <a:rPr sz="1800" b="0">
                <a:solidFill>
                  <a:srgbClr val="202830"/>
                </a:solidFill>
                <a:latin typeface="Malgun Gothic"/>
              </a:rPr>
              <a:t>•  어느 쪽이 선택될지는 옵티마이저가 비용으로 판단한다</a:t>
            </a:r>
          </a:p>
          <a:p>
            <a:r>
              <a:rPr sz="1600" b="0">
                <a:solidFill>
                  <a:srgbClr val="5A6672"/>
                </a:solidFill>
                <a:latin typeface="Malgun Gothic"/>
              </a:rPr>
              <a:t>    –  개발자가 문법으로 지정하는 대상이 아니다 — 실행계획으로 확인할 대상이다</a:t>
            </a:r>
          </a:p>
        </p:txBody>
      </p:sp>
    </p:spTree>
    <p:extLst>
      <p:ext uri="{BB962C8B-B14F-4D97-AF65-F5344CB8AC3E}">
        <p14:creationId xmlns:p14="http://schemas.microsoft.com/office/powerpoint/2010/main" val="3414028190"/>
      </p:ext>
    </p:extLst>
  </p:cSld>
  <p:clrMapOvr>
    <a:masterClrMapping/>
  </p:clrMapOvr>
</p:sld>
</file>

<file path=ppt/slides/slide48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HASH GROUP BY와 SORT GROUP BY</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두 방식의 성격 비교 — 어느 쪽이 선택될지는 옵티마이저의 비용 판단</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a:t>
            </a:r>
          </a:p>
          <a:p>
            <a:r>
              <a:rPr sz="1250" b="0">
                <a:solidFill>
                  <a:srgbClr val="E6E6E6"/>
                </a:solidFill>
                <a:latin typeface="Consolas"/>
              </a:rPr>
              <a:t>| 구분             | HASH GROUP BY               | SORT GROUP BY             |</a:t>
            </a:r>
          </a:p>
          <a:p>
            <a:r>
              <a:rPr sz="1250" b="0">
                <a:solidFill>
                  <a:srgbClr val="E6E6E6"/>
                </a:solidFill>
                <a:latin typeface="Consolas"/>
              </a:rPr>
              <a:t>+------------------+-----------------------------+---------------------------+</a:t>
            </a:r>
          </a:p>
          <a:p>
            <a:r>
              <a:rPr sz="1250" b="0">
                <a:solidFill>
                  <a:srgbClr val="E6E6E6"/>
                </a:solidFill>
                <a:latin typeface="Consolas"/>
              </a:rPr>
              <a:t>| 그룹화 원리      | 그룹 키를 해시로 묶어 집계  | 정렬된 순서를 훑으며 묶음 |</a:t>
            </a:r>
          </a:p>
          <a:p>
            <a:r>
              <a:rPr sz="1250" b="0">
                <a:solidFill>
                  <a:srgbClr val="E6E6E6"/>
                </a:solidFill>
                <a:latin typeface="Consolas"/>
              </a:rPr>
              <a:t>| 결과 순서        | 보장 없음                   | 그룹 키 순서로 나옴       |</a:t>
            </a:r>
          </a:p>
          <a:p>
            <a:r>
              <a:rPr sz="1250" b="0">
                <a:solidFill>
                  <a:srgbClr val="E6E6E6"/>
                </a:solidFill>
                <a:latin typeface="Consolas"/>
              </a:rPr>
              <a:t>| 인덱스 정렬 활용 | 활용하지 않음               | 이미 정렬돼 있으면 유리   |</a:t>
            </a:r>
          </a:p>
          <a:p>
            <a:r>
              <a:rPr sz="1250" b="0">
                <a:solidFill>
                  <a:srgbClr val="E6E6E6"/>
                </a:solidFill>
                <a:latin typeface="Consolas"/>
              </a:rPr>
              <a:t>| 정렬 순서로 생략 | 생략되지 않음               | 해당 없음(정렬이 곧 처리) |</a:t>
            </a:r>
          </a:p>
          <a:p>
            <a:r>
              <a:rPr sz="1250" b="0">
                <a:solidFill>
                  <a:srgbClr val="E6E6E6"/>
                </a:solidFill>
                <a:latin typeface="Consolas"/>
              </a:rPr>
              <a:t>| 이번 장 관측     | 모든 GROUP BY 쿼리에서 관측 | 관측되지 않음             |</a:t>
            </a:r>
          </a:p>
          <a:p>
            <a:r>
              <a:rPr sz="1250" b="0">
                <a:solidFill>
                  <a:srgbClr val="E6E6E6"/>
                </a:solidFill>
                <a:latin typeface="Consolas"/>
              </a:rPr>
              <a:t>+------------------+-----------------------------+---------------------------+</a:t>
            </a:r>
          </a:p>
          <a:p>
            <a:r>
              <a:rPr sz="1250" b="0">
                <a:solidFill>
                  <a:srgbClr val="E6E6E6"/>
                </a:solidFill>
                <a:latin typeface="Consolas"/>
              </a:rPr>
              <a:t> </a:t>
            </a:r>
          </a:p>
          <a:p>
            <a:r>
              <a:rPr sz="1250" b="0">
                <a:solidFill>
                  <a:srgbClr val="7EC699"/>
                </a:solidFill>
                <a:latin typeface="Consolas"/>
              </a:rPr>
              <a:t>-- 두 방식 모두 그룹핑 작업 자체는 수행한다 — 없어지는 연산이 아니다</a:t>
            </a:r>
          </a:p>
          <a:p>
            <a:r>
              <a:rPr sz="1250" b="0">
                <a:solidFill>
                  <a:srgbClr val="7EC699"/>
                </a:solidFill>
                <a:latin typeface="Consolas"/>
              </a:rPr>
              <a:t>-- 선택은 옵티마이저의 비용 판단 영역이며 실행계획으로 확인한다</a:t>
            </a:r>
          </a:p>
        </p:txBody>
      </p:sp>
    </p:spTree>
    <p:extLst>
      <p:ext uri="{BB962C8B-B14F-4D97-AF65-F5344CB8AC3E}">
        <p14:creationId xmlns:p14="http://schemas.microsoft.com/office/powerpoint/2010/main" val="2147993412"/>
      </p:ext>
    </p:extLst>
  </p:cSld>
  <p:clrMapOvr>
    <a:masterClrMapping/>
  </p:clrMapOvr>
</p:sld>
</file>

<file path=ppt/slides/slide49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작업 영역(PGA)과 디스크 정렬</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정렬과 해시 집계는 세션의 작업 영역(PGA)에서 수행된다</a:t>
            </a:r>
          </a:p>
          <a:p>
            <a:r>
              <a:rPr sz="1600" b="0">
                <a:solidFill>
                  <a:srgbClr val="5A6672"/>
                </a:solidFill>
                <a:latin typeface="Malgun Gothic"/>
              </a:rPr>
              <a:t>    –  실행계획의 OMem·1Mem·Used-Mem 컬럼으로 사용량을 확인할 수 있다 (ch01)</a:t>
            </a:r>
          </a:p>
          <a:p>
            <a:r>
              <a:rPr sz="1800" b="0">
                <a:solidFill>
                  <a:srgbClr val="202830"/>
                </a:solidFill>
                <a:latin typeface="Malgun Gothic"/>
              </a:rPr>
              <a:t>•  작업 영역 안에서 처리가 끝나면 메모리에서만 수행된다 — 가장 저렴한 경우다</a:t>
            </a:r>
          </a:p>
          <a:p>
            <a:r>
              <a:rPr sz="1800" b="0">
                <a:solidFill>
                  <a:srgbClr val="202830"/>
                </a:solidFill>
                <a:latin typeface="Malgun Gothic"/>
              </a:rPr>
              <a:t>•  대상 데이터가 작업 영역보다 크면 임시 테이블스페이스로 넘긴다</a:t>
            </a:r>
          </a:p>
          <a:p>
            <a:r>
              <a:rPr sz="1600" b="0">
                <a:solidFill>
                  <a:srgbClr val="5A6672"/>
                </a:solidFill>
                <a:latin typeface="Malgun Gothic"/>
              </a:rPr>
              <a:t>    –  중간 결과를 디스크에 쓰고 다시 읽어야 하므로 물리 I/O가 추가된다</a:t>
            </a:r>
          </a:p>
          <a:p>
            <a:r>
              <a:rPr sz="1600" b="0">
                <a:solidFill>
                  <a:srgbClr val="5A6672"/>
                </a:solidFill>
                <a:latin typeface="Malgun Gothic"/>
              </a:rPr>
              <a:t>    –  한 번 넘기면 되는 경우와 여러 번 나눠 처리해야 하는 경우로 나뉜다</a:t>
            </a:r>
          </a:p>
          <a:p>
            <a:r>
              <a:rPr sz="1800" b="0">
                <a:solidFill>
                  <a:srgbClr val="202830"/>
                </a:solidFill>
                <a:latin typeface="Malgun Gothic"/>
              </a:rPr>
              <a:t>•  근본 대책은 작업 영역을 키우는 것이 아니라 정렬·집계 대상을 줄이는 것이다</a:t>
            </a:r>
          </a:p>
          <a:p>
            <a:r>
              <a:rPr sz="1600" b="0">
                <a:solidFill>
                  <a:srgbClr val="5A6672"/>
                </a:solidFill>
                <a:latin typeface="Malgun Gothic"/>
              </a:rPr>
              <a:t>    –  대상을 줄이거나, 이번 장처럼 연산 자체를 생략시키는 방향이다</a:t>
            </a:r>
          </a:p>
        </p:txBody>
      </p:sp>
    </p:spTree>
    <p:extLst>
      <p:ext uri="{BB962C8B-B14F-4D97-AF65-F5344CB8AC3E}">
        <p14:creationId xmlns:p14="http://schemas.microsoft.com/office/powerpoint/2010/main" val="2174508276"/>
      </p:ext>
    </p:extLst>
  </p:cSld>
  <p:clrMapOvr>
    <a:masterClrMapping/>
  </p:clrMapOvr>
</p:sld>
</file>

<file path=ppt/slides/slide49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'집계 대상을 줄이자'는 조언의 실체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집계할 행의 수가 적을수록 GROUP BY의 CPU·메모리 부담이 줄어든다</a:t>
            </a:r>
          </a:p>
          <a:p>
            <a:r>
              <a:rPr sz="1600" b="0">
                <a:solidFill>
                  <a:srgbClr val="5A6672"/>
                </a:solidFill>
                <a:latin typeface="Malgun Gothic"/>
              </a:rPr>
              <a:t>    –  그래서 "필터를 먼저 걸어 집계 대상을 줄이자"는 조언이 흔하다</a:t>
            </a:r>
          </a:p>
          <a:p>
            <a:r>
              <a:rPr sz="1800" b="0">
                <a:solidFill>
                  <a:srgbClr val="202830"/>
                </a:solidFill>
                <a:latin typeface="Malgun Gothic"/>
              </a:rPr>
              <a:t>•  조언의 방향 자체는 맞다 — 문제는 그 일을 누가 하느냐다</a:t>
            </a:r>
          </a:p>
          <a:p>
            <a:r>
              <a:rPr sz="1600" b="0">
                <a:solidFill>
                  <a:srgbClr val="5A6672"/>
                </a:solidFill>
                <a:latin typeface="Malgun Gothic"/>
              </a:rPr>
              <a:t>    –  개발자가 SQL을 다시 써서 손으로 옮기는 방법</a:t>
            </a:r>
          </a:p>
          <a:p>
            <a:r>
              <a:rPr sz="1600" b="0">
                <a:solidFill>
                  <a:srgbClr val="5A6672"/>
                </a:solidFill>
                <a:latin typeface="Malgun Gothic"/>
              </a:rPr>
              <a:t>    –  옵티마이저가 조건을 알아서 앞 단계로 밀어넣는 방법</a:t>
            </a:r>
          </a:p>
          <a:p>
            <a:r>
              <a:rPr sz="1800" b="0">
                <a:solidFill>
                  <a:srgbClr val="202830"/>
                </a:solidFill>
                <a:latin typeface="Malgun Gothic"/>
              </a:rPr>
              <a:t>•  옵티마이저가 이미 해 주는 일을 손으로 다시 하면 SQL만 복잡해진다</a:t>
            </a:r>
          </a:p>
          <a:p>
            <a:r>
              <a:rPr sz="1600" b="0">
                <a:solidFill>
                  <a:srgbClr val="5A6672"/>
                </a:solidFill>
                <a:latin typeface="Malgun Gothic"/>
              </a:rPr>
              <a:t>    –  가독성은 나빠지고 성능은 그대로인 결과가 나올 수 있다</a:t>
            </a:r>
          </a:p>
          <a:p>
            <a:r>
              <a:rPr sz="1800" b="0">
                <a:solidFill>
                  <a:srgbClr val="202830"/>
                </a:solidFill>
                <a:latin typeface="Malgun Gothic"/>
              </a:rPr>
              <a:t>•  다음 절에서 옵티마이저가 어디까지 해 주는지 확인한다</a:t>
            </a:r>
          </a:p>
        </p:txBody>
      </p:sp>
    </p:spTree>
    <p:extLst>
      <p:ext uri="{BB962C8B-B14F-4D97-AF65-F5344CB8AC3E}">
        <p14:creationId xmlns:p14="http://schemas.microsoft.com/office/powerpoint/2010/main" val="2475516310"/>
      </p:ext>
    </p:extLst>
  </p:cSld>
  <p:clrMapOvr>
    <a:masterClrMapping/>
  </p:clrMapOvr>
</p:sld>
</file>

<file path=ppt/slides/slide492.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107996"/>
          </a:xfrm>
          <a:prstGeom prst="rect">
            <a:avLst/>
          </a:prstGeom>
          <a:noFill/>
        </p:spPr>
        <p:txBody>
          <a:bodyPr wrap="square">
            <a:spAutoFit/>
          </a:bodyPr>
          <a:lstStyle/>
          <a:p>
            <a:r>
              <a:rPr sz="6600" b="1" dirty="0">
                <a:solidFill>
                  <a:srgbClr val="C0392B"/>
                </a:solidFill>
                <a:latin typeface="Malgun Gothic"/>
              </a:rPr>
              <a:t>1</a:t>
            </a:r>
            <a:r>
              <a:rPr lang="en-US" sz="6600" b="1" dirty="0">
                <a:solidFill>
                  <a:srgbClr val="C0392B"/>
                </a:solidFill>
                <a:latin typeface="Malgun Gothic"/>
              </a:rPr>
              <a:t>2</a:t>
            </a:r>
            <a:r>
              <a:rPr sz="6600" b="1" dirty="0">
                <a:solidFill>
                  <a:srgbClr val="C0392B"/>
                </a:solidFill>
                <a:latin typeface="Malgun Gothic"/>
              </a:rPr>
              <a:t>.3</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Oracle Internals — 필터 위치보다 중요한 것</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Predicate Pushdown이란</a:t>
            </a:r>
          </a:p>
          <a:p>
            <a:r>
              <a:rPr sz="1600" b="0">
                <a:solidFill>
                  <a:srgbClr val="C5CED6"/>
                </a:solidFill>
                <a:latin typeface="Malgun Gothic"/>
              </a:rPr>
              <a:t>•  그룹 키에 대한 필터는 왜 밀어넣을 수 있는가</a:t>
            </a:r>
          </a:p>
          <a:p>
            <a:r>
              <a:rPr sz="1600" b="0">
                <a:solidFill>
                  <a:srgbClr val="C5CED6"/>
                </a:solidFill>
                <a:latin typeface="Malgun Gothic"/>
              </a:rPr>
              <a:t>•  HAVING은 왜 밀어넣을 수 없는가</a:t>
            </a:r>
          </a:p>
          <a:p>
            <a:r>
              <a:rPr sz="1600" b="0">
                <a:solidFill>
                  <a:srgbClr val="C5CED6"/>
                </a:solidFill>
                <a:latin typeface="Malgun Gothic"/>
              </a:rPr>
              <a:t>•  ch10 인라인 뷰 사례와의 대조</a:t>
            </a:r>
          </a:p>
        </p:txBody>
      </p:sp>
    </p:spTree>
    <p:extLst>
      <p:ext uri="{BB962C8B-B14F-4D97-AF65-F5344CB8AC3E}">
        <p14:creationId xmlns:p14="http://schemas.microsoft.com/office/powerpoint/2010/main" val="2507317575"/>
      </p:ext>
    </p:extLst>
  </p:cSld>
  <p:clrMapOvr>
    <a:masterClrMapping/>
  </p:clrMapOvr>
</p:sld>
</file>

<file path=ppt/slides/slide49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Predicate Pushdown이란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옵티마이저가 필터 조건을 데이터 처리 파이프라인의 더 이른 단계로 옮기는 최적화다</a:t>
            </a:r>
          </a:p>
          <a:p>
            <a:r>
              <a:rPr sz="1600" b="0">
                <a:solidFill>
                  <a:srgbClr val="5A6672"/>
                </a:solidFill>
                <a:latin typeface="Malgun Gothic"/>
              </a:rPr>
              <a:t>    –  조건 밀어넣기라고 부른다</a:t>
            </a:r>
          </a:p>
          <a:p>
            <a:r>
              <a:rPr sz="1800" b="0">
                <a:solidFill>
                  <a:srgbClr val="202830"/>
                </a:solidFill>
                <a:latin typeface="Malgun Gothic"/>
              </a:rPr>
              <a:t>•  목적 — 뒤 단계에서 처리할 데이터량을 줄이는 것</a:t>
            </a:r>
          </a:p>
          <a:p>
            <a:r>
              <a:rPr sz="1600" b="0">
                <a:solidFill>
                  <a:srgbClr val="5A6672"/>
                </a:solidFill>
                <a:latin typeface="Malgun Gothic"/>
              </a:rPr>
              <a:t>    –  앞에서 걸러 내면 뒤 단계의 정렬·집계·조인 대상이 함께 줄어든다</a:t>
            </a:r>
          </a:p>
          <a:p>
            <a:r>
              <a:rPr sz="1800" b="0">
                <a:solidFill>
                  <a:srgbClr val="202830"/>
                </a:solidFill>
                <a:latin typeface="Malgun Gothic"/>
              </a:rPr>
              <a:t>•  안전 조건 — 그 조건을 먼저 적용해도 최종 결과가 달라지지 않아야 한다</a:t>
            </a:r>
          </a:p>
          <a:p>
            <a:r>
              <a:rPr sz="1600" b="0">
                <a:solidFill>
                  <a:srgbClr val="5A6672"/>
                </a:solidFill>
                <a:latin typeface="Malgun Gothic"/>
              </a:rPr>
              <a:t>    –  옵티마이저는 이 동치성을 증명할 수 있을 때만 밀어넣는다</a:t>
            </a:r>
          </a:p>
          <a:p>
            <a:r>
              <a:rPr sz="1600" b="0">
                <a:solidFill>
                  <a:srgbClr val="5A6672"/>
                </a:solidFill>
                <a:latin typeface="Malgun Gothic"/>
              </a:rPr>
              <a:t>    –  증명할 수 없으면 SQL에 어떻게 쓰여 있든 원래 위치에서 평가한다</a:t>
            </a:r>
          </a:p>
          <a:p>
            <a:r>
              <a:rPr sz="1800" b="0">
                <a:solidFill>
                  <a:srgbClr val="202830"/>
                </a:solidFill>
                <a:latin typeface="Malgun Gothic"/>
              </a:rPr>
              <a:t>•  즉 밀어넣기는 옵티마이저의 재량이 아니라 규칙에 따른 판단이다</a:t>
            </a:r>
          </a:p>
        </p:txBody>
      </p:sp>
    </p:spTree>
    <p:extLst>
      <p:ext uri="{BB962C8B-B14F-4D97-AF65-F5344CB8AC3E}">
        <p14:creationId xmlns:p14="http://schemas.microsoft.com/office/powerpoint/2010/main" val="2037432386"/>
      </p:ext>
    </p:extLst>
  </p:cSld>
  <p:clrMapOvr>
    <a:masterClrMapping/>
  </p:clrMapOvr>
</p:sld>
</file>

<file path=ppt/slides/slide49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그룹 키에 대한 필터는 밀어넣을 수 있다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WHERE 조건이 GROUP BY 키 컬럼 자체에 걸려 있는 경우</a:t>
            </a:r>
          </a:p>
          <a:p>
            <a:r>
              <a:rPr sz="1600" b="0">
                <a:solidFill>
                  <a:srgbClr val="5A6672"/>
                </a:solidFill>
                <a:latin typeface="Malgun Gothic"/>
              </a:rPr>
              <a:t>    –  집계 결과가 아니라 그룹을 나누는 기준 컬럼에 대한 조건이라는 뜻이다</a:t>
            </a:r>
          </a:p>
          <a:p>
            <a:r>
              <a:rPr sz="1800" b="0">
                <a:solidFill>
                  <a:srgbClr val="202830"/>
                </a:solidFill>
                <a:latin typeface="Malgun Gothic"/>
              </a:rPr>
              <a:t>•  이 조건은 SQL의 어디에 적혀 있든 그룹화 이전으로 자동으로 밀어넣을 수 있다</a:t>
            </a:r>
          </a:p>
          <a:p>
            <a:r>
              <a:rPr sz="1600" b="0">
                <a:solidFill>
                  <a:srgbClr val="5A6672"/>
                </a:solidFill>
                <a:latin typeface="Malgun Gothic"/>
              </a:rPr>
              <a:t>    –  인라인 뷰 바깥에 써 있어도 마찬가지다</a:t>
            </a:r>
          </a:p>
          <a:p>
            <a:r>
              <a:rPr sz="1800" b="0">
                <a:solidFill>
                  <a:srgbClr val="202830"/>
                </a:solidFill>
                <a:latin typeface="Malgun Gothic"/>
              </a:rPr>
              <a:t>•  근거 — 어떤 행이 특정 그룹 키 값을 갖는지는 그룹화 전이나 후나 변하지 않는다</a:t>
            </a:r>
          </a:p>
          <a:p>
            <a:r>
              <a:rPr sz="1600" b="0">
                <a:solidFill>
                  <a:srgbClr val="5A6672"/>
                </a:solidFill>
                <a:latin typeface="Malgun Gothic"/>
              </a:rPr>
              <a:t>    –  먼저 걸러 낸 뒤 그룹을 나누나, 나눈 뒤 해당 그룹만 남기나 결과가 완전히 같다</a:t>
            </a:r>
          </a:p>
          <a:p>
            <a:r>
              <a:rPr sz="1600" b="0">
                <a:solidFill>
                  <a:srgbClr val="5A6672"/>
                </a:solidFill>
                <a:latin typeface="Malgun Gothic"/>
              </a:rPr>
              <a:t>    –  그룹을 나누는 기준 자체가 이미 좁혀지므로 결과가 달라지지 않는다</a:t>
            </a:r>
          </a:p>
          <a:p>
            <a:r>
              <a:rPr sz="1800" b="0">
                <a:solidFill>
                  <a:srgbClr val="202830"/>
                </a:solidFill>
                <a:latin typeface="Malgun Gothic"/>
              </a:rPr>
              <a:t>•  그룹 키에 대한 등치 조건은 이 안전 조건을 항상 만족한다</a:t>
            </a:r>
          </a:p>
        </p:txBody>
      </p:sp>
    </p:spTree>
    <p:extLst>
      <p:ext uri="{BB962C8B-B14F-4D97-AF65-F5344CB8AC3E}">
        <p14:creationId xmlns:p14="http://schemas.microsoft.com/office/powerpoint/2010/main" val="2312566289"/>
      </p:ext>
    </p:extLst>
  </p:cSld>
  <p:clrMapOvr>
    <a:masterClrMapping/>
  </p:clrMapOvr>
</p:sld>
</file>

<file path=ppt/slides/slide49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HAVING은 왜 밀어넣을 수 없는가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HAVING처럼 집계 함수의 결과에 거는 조건은 성격이 다르다</a:t>
            </a:r>
          </a:p>
          <a:p>
            <a:r>
              <a:rPr sz="1600" b="0">
                <a:solidFill>
                  <a:srgbClr val="5A6672"/>
                </a:solidFill>
                <a:latin typeface="Malgun Gothic"/>
              </a:rPr>
              <a:t>    –  COUNT(*), SUM(...) 같은 값은 그룹 안의 모든 행을 다 모아 봐야 알 수 있다</a:t>
            </a:r>
          </a:p>
          <a:p>
            <a:r>
              <a:rPr sz="1800" b="0">
                <a:solidFill>
                  <a:srgbClr val="202830"/>
                </a:solidFill>
                <a:latin typeface="Malgun Gothic"/>
              </a:rPr>
              <a:t>•  그래서 이 조건은 집계가 끝난 뒤에만 평가할 수 있다</a:t>
            </a:r>
          </a:p>
          <a:p>
            <a:r>
              <a:rPr sz="1600" b="0">
                <a:solidFill>
                  <a:srgbClr val="5A6672"/>
                </a:solidFill>
                <a:latin typeface="Malgun Gothic"/>
              </a:rPr>
              <a:t>    –  그룹화 이전으로 밀어넣는 것 자체가 원천적으로 불가능하다</a:t>
            </a:r>
          </a:p>
          <a:p>
            <a:r>
              <a:rPr sz="1600" b="0">
                <a:solidFill>
                  <a:srgbClr val="5A6672"/>
                </a:solidFill>
                <a:latin typeface="Malgun Gothic"/>
              </a:rPr>
              <a:t>    –  밀어넣으면 아직 계산되지 않은 값과 비교하는 셈이 되어 버린다</a:t>
            </a:r>
          </a:p>
          <a:p>
            <a:r>
              <a:rPr sz="1800" b="0">
                <a:solidFill>
                  <a:srgbClr val="202830"/>
                </a:solidFill>
                <a:latin typeface="Malgun Gothic"/>
              </a:rPr>
              <a:t>•  판별 기준은 한 문장으로 정리된다</a:t>
            </a:r>
          </a:p>
          <a:p>
            <a:r>
              <a:rPr sz="1600" b="0">
                <a:solidFill>
                  <a:srgbClr val="5A6672"/>
                </a:solidFill>
                <a:latin typeface="Malgun Gothic"/>
              </a:rPr>
              <a:t>    –  '이 조건을 평가하는 데 집계 결과가 필요한가' — 필요하면 밀어넣을 수 없다</a:t>
            </a:r>
          </a:p>
          <a:p>
            <a:r>
              <a:rPr sz="1600" b="0">
                <a:solidFill>
                  <a:srgbClr val="5A6672"/>
                </a:solidFill>
                <a:latin typeface="Malgun Gothic"/>
              </a:rPr>
              <a:t>    –  원본 테이블에 이미 존재하는 값에 대한 조건이면 밀어넣을 수 있다</a:t>
            </a:r>
          </a:p>
        </p:txBody>
      </p:sp>
    </p:spTree>
    <p:extLst>
      <p:ext uri="{BB962C8B-B14F-4D97-AF65-F5344CB8AC3E}">
        <p14:creationId xmlns:p14="http://schemas.microsoft.com/office/powerpoint/2010/main" val="3503144442"/>
      </p:ext>
    </p:extLst>
  </p:cSld>
  <p:clrMapOvr>
    <a:masterClrMapping/>
  </p:clrMapOvr>
</p:sld>
</file>

<file path=ppt/slides/slide49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ch10 인라인 뷰 사례와의 대조</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ch10 — 인라인 뷰 바깥의 WHERE v.cnt &gt; 1000</a:t>
            </a:r>
          </a:p>
          <a:p>
            <a:r>
              <a:rPr sz="1600" b="0">
                <a:solidFill>
                  <a:srgbClr val="5A6672"/>
                </a:solidFill>
                <a:latin typeface="Malgun Gothic"/>
              </a:rPr>
              <a:t>    –  cnt는 집계 함수의 계산 결과 — 그룹화가 끝나야 값을 알 수 있다</a:t>
            </a:r>
          </a:p>
          <a:p>
            <a:r>
              <a:rPr sz="1600" b="0">
                <a:solidFill>
                  <a:srgbClr val="5A6672"/>
                </a:solidFill>
                <a:latin typeface="Malgun Gothic"/>
              </a:rPr>
              <a:t>    –  따라서 그룹화 이전으로 밀어넣을 수 없다</a:t>
            </a:r>
          </a:p>
          <a:p>
            <a:r>
              <a:rPr sz="1800" b="0">
                <a:solidFill>
                  <a:srgbClr val="202830"/>
                </a:solidFill>
                <a:latin typeface="Malgun Gothic"/>
              </a:rPr>
              <a:t>•  ch12 — 인라인 뷰 바깥의 WHERE claim_type = '입원'</a:t>
            </a:r>
          </a:p>
          <a:p>
            <a:r>
              <a:rPr sz="1600" b="0">
                <a:solidFill>
                  <a:srgbClr val="5A6672"/>
                </a:solidFill>
                <a:latin typeface="Malgun Gothic"/>
              </a:rPr>
              <a:t>    –  claim_type은 원본 테이블에 이미 존재하는 값이자 그룹 키 자체다</a:t>
            </a:r>
          </a:p>
          <a:p>
            <a:r>
              <a:rPr sz="1600" b="0">
                <a:solidFill>
                  <a:srgbClr val="5A6672"/>
                </a:solidFill>
                <a:latin typeface="Malgun Gothic"/>
              </a:rPr>
              <a:t>    –  그룹화와 무관하게 미리 알 수 있으므로 밀어넣기가 가능하다</a:t>
            </a:r>
          </a:p>
          <a:p>
            <a:r>
              <a:rPr sz="1800" b="0">
                <a:solidFill>
                  <a:srgbClr val="202830"/>
                </a:solidFill>
                <a:latin typeface="Malgun Gothic"/>
              </a:rPr>
              <a:t>•  둘 다 인라인 뷰 바깥에서 필터링하는 똑같은 모양이다</a:t>
            </a:r>
          </a:p>
          <a:p>
            <a:r>
              <a:rPr sz="1600" b="0">
                <a:solidFill>
                  <a:srgbClr val="5A6672"/>
                </a:solidFill>
                <a:latin typeface="Malgun Gothic"/>
              </a:rPr>
              <a:t>    –  모양이 같아도 처리 방식은 다르다 — 겉모양으로 판단할 수 없는 이유</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ch10에서는 밀어넣기가 불가능했지만, 집계 자체를 다시 계산할 필요는 없어 비용은 같았다 — 밀어넣기 불가가 곧 손해를 뜻하지는 않는다.</a:t>
            </a:r>
          </a:p>
        </p:txBody>
      </p:sp>
    </p:spTree>
    <p:extLst>
      <p:ext uri="{BB962C8B-B14F-4D97-AF65-F5344CB8AC3E}">
        <p14:creationId xmlns:p14="http://schemas.microsoft.com/office/powerpoint/2010/main" val="3105643171"/>
      </p:ext>
    </p:extLst>
  </p:cSld>
  <p:clrMapOvr>
    <a:masterClrMapping/>
  </p:clrMapOvr>
</p:sld>
</file>

<file path=ppt/slides/slide497.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107996"/>
          </a:xfrm>
          <a:prstGeom prst="rect">
            <a:avLst/>
          </a:prstGeom>
          <a:noFill/>
        </p:spPr>
        <p:txBody>
          <a:bodyPr wrap="square">
            <a:spAutoFit/>
          </a:bodyPr>
          <a:lstStyle/>
          <a:p>
            <a:r>
              <a:rPr sz="6600" b="1" dirty="0">
                <a:solidFill>
                  <a:srgbClr val="C0392B"/>
                </a:solidFill>
                <a:latin typeface="Malgun Gothic"/>
              </a:rPr>
              <a:t>1</a:t>
            </a:r>
            <a:r>
              <a:rPr lang="en-US" sz="6600" b="1" dirty="0">
                <a:solidFill>
                  <a:srgbClr val="C0392B"/>
                </a:solidFill>
                <a:latin typeface="Malgun Gothic"/>
              </a:rPr>
              <a:t>2</a:t>
            </a:r>
            <a:r>
              <a:rPr sz="6600" b="1" dirty="0">
                <a:solidFill>
                  <a:srgbClr val="C0392B"/>
                </a:solidFill>
                <a:latin typeface="Malgun Gothic"/>
              </a:rPr>
              <a:t>.4</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Example — GROUP BY 필터 위치 실측</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실측 소재 — 필터 위치만 바꾼 두 SQL</a:t>
            </a:r>
          </a:p>
          <a:p>
            <a:r>
              <a:rPr sz="1600" b="0">
                <a:solidFill>
                  <a:srgbClr val="C5CED6"/>
                </a:solidFill>
                <a:latin typeface="Malgun Gothic"/>
              </a:rPr>
              <a:t>•  Q1·Q2 공통 실행계획</a:t>
            </a:r>
          </a:p>
          <a:p>
            <a:r>
              <a:rPr sz="1600" b="0">
                <a:solidFill>
                  <a:srgbClr val="C5CED6"/>
                </a:solidFill>
                <a:latin typeface="Malgun Gothic"/>
              </a:rPr>
              <a:t>•  왜 완전히 같은 계획이 되었나</a:t>
            </a:r>
          </a:p>
          <a:p>
            <a:r>
              <a:rPr sz="1600" b="0">
                <a:solidFill>
                  <a:srgbClr val="C5CED6"/>
                </a:solidFill>
                <a:latin typeface="Malgun Gothic"/>
              </a:rPr>
              <a:t>•  실무 교훈</a:t>
            </a:r>
          </a:p>
        </p:txBody>
      </p:sp>
    </p:spTree>
    <p:extLst>
      <p:ext uri="{BB962C8B-B14F-4D97-AF65-F5344CB8AC3E}">
        <p14:creationId xmlns:p14="http://schemas.microsoft.com/office/powerpoint/2010/main" val="2730197380"/>
      </p:ext>
    </p:extLst>
  </p:cSld>
  <p:clrMapOvr>
    <a:masterClrMapping/>
  </p:clrMapOvr>
</p:sld>
</file>

<file path=ppt/slides/slide49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실측 소재 — 필터 위치만 바꾼 두 SQL</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대상 테이블 — MEDICAL_CLAIMS</a:t>
            </a:r>
          </a:p>
          <a:p>
            <a:r>
              <a:rPr sz="1800" b="0">
                <a:solidFill>
                  <a:srgbClr val="202830"/>
                </a:solidFill>
                <a:latin typeface="Malgun Gothic"/>
              </a:rPr>
              <a:t>•  Q1 — WHERE로 먼저 필터한 뒤 hosp_id로 집계</a:t>
            </a:r>
          </a:p>
          <a:p>
            <a:r>
              <a:rPr sz="1600" b="0">
                <a:solidFill>
                  <a:srgbClr val="5A6672"/>
                </a:solidFill>
                <a:latin typeface="Malgun Gothic"/>
              </a:rPr>
              <a:t>    –  집계 대상 컬럼이 아니라 그룹 키에 대한 필터라는 점이 중요하다</a:t>
            </a:r>
          </a:p>
          <a:p>
            <a:r>
              <a:rPr sz="1800" b="0">
                <a:solidFill>
                  <a:srgbClr val="202830"/>
                </a:solidFill>
                <a:latin typeface="Malgun Gothic"/>
              </a:rPr>
              <a:t>•  Q2 — hosp_id와 claim_type으로 집계한 뒤 인라인 뷰 바깥에서 필터</a:t>
            </a:r>
          </a:p>
          <a:p>
            <a:r>
              <a:rPr sz="1600" b="0">
                <a:solidFill>
                  <a:srgbClr val="5A6672"/>
                </a:solidFill>
                <a:latin typeface="Malgun Gothic"/>
              </a:rPr>
              <a:t>    –  불필요하게 그룹핑 컬럼을 하나 더 추가한, 의도한 비효율 패턴이다</a:t>
            </a:r>
          </a:p>
          <a:p>
            <a:r>
              <a:rPr sz="1600" b="0">
                <a:solidFill>
                  <a:srgbClr val="5A6672"/>
                </a:solidFill>
                <a:latin typeface="Malgun Gothic"/>
              </a:rPr>
              <a:t>    –  겉보기에는 hosp_id × claim_type 조합만큼 더 많은 그룹을 만드는 것처럼 보인다</a:t>
            </a:r>
          </a:p>
          <a:p>
            <a:r>
              <a:rPr sz="1800" b="0">
                <a:solidFill>
                  <a:srgbClr val="202830"/>
                </a:solidFill>
                <a:latin typeface="Malgun Gothic"/>
              </a:rPr>
              <a:t>•  두 SQL의 결과는 같다 — 비교 대상은 실행계획과 Buffers다</a:t>
            </a:r>
          </a:p>
          <a:p>
            <a:r>
              <a:rPr sz="1600" b="0">
                <a:solidFill>
                  <a:srgbClr val="5A6672"/>
                </a:solidFill>
                <a:latin typeface="Malgun Gothic"/>
              </a:rPr>
              <a:t>    –  결과가 같은 상태에서 자원만 비교한다는 이 과정의 원칙 그대로다</a:t>
            </a:r>
          </a:p>
        </p:txBody>
      </p:sp>
    </p:spTree>
    <p:extLst>
      <p:ext uri="{BB962C8B-B14F-4D97-AF65-F5344CB8AC3E}">
        <p14:creationId xmlns:p14="http://schemas.microsoft.com/office/powerpoint/2010/main" val="3297302717"/>
      </p:ext>
    </p:extLst>
  </p:cSld>
  <p:clrMapOvr>
    <a:masterClrMapping/>
  </p:clrMapOvr>
</p:sld>
</file>

<file path=ppt/slides/slide49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Q1 — WHERE로 먼저 필터</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10.4절 Example — 그룹 키에 대한 필터를 WHERE에 직접 작성</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Q1. WHERE로 먼저 필터(집계 대상 컬럼 아님, 그룹 키에 대한 필터)</a:t>
            </a:r>
          </a:p>
          <a:p>
            <a:r>
              <a:rPr sz="1250" b="0">
                <a:solidFill>
                  <a:srgbClr val="E6E6E6"/>
                </a:solidFill>
                <a:latin typeface="Consolas"/>
              </a:rPr>
              <a:t>SELECT hosp_id, COUNT(*), SUM(total_amt)</a:t>
            </a:r>
          </a:p>
          <a:p>
            <a:r>
              <a:rPr sz="1250" b="0">
                <a:solidFill>
                  <a:srgbClr val="E6E6E6"/>
                </a:solidFill>
                <a:latin typeface="Consolas"/>
              </a:rPr>
              <a:t>FROM   medical_claims</a:t>
            </a:r>
          </a:p>
          <a:p>
            <a:r>
              <a:rPr sz="1250" b="0">
                <a:solidFill>
                  <a:srgbClr val="E6E6E6"/>
                </a:solidFill>
                <a:latin typeface="Consolas"/>
              </a:rPr>
              <a:t>WHERE  claim_type = '입원'</a:t>
            </a:r>
          </a:p>
          <a:p>
            <a:r>
              <a:rPr sz="1250" b="0">
                <a:solidFill>
                  <a:srgbClr val="E6E6E6"/>
                </a:solidFill>
                <a:latin typeface="Consolas"/>
              </a:rPr>
              <a:t>GROUP BY hosp_id;</a:t>
            </a:r>
          </a:p>
          <a:p>
            <a:r>
              <a:rPr sz="1250" b="0">
                <a:solidFill>
                  <a:srgbClr val="E6E6E6"/>
                </a:solidFill>
                <a:latin typeface="Consolas"/>
              </a:rPr>
              <a:t> </a:t>
            </a:r>
          </a:p>
          <a:p>
            <a:r>
              <a:rPr sz="1250" b="0">
                <a:solidFill>
                  <a:srgbClr val="7EC699"/>
                </a:solidFill>
                <a:latin typeface="Consolas"/>
              </a:rPr>
              <a:t>-- 필터가 그룹 키(claim_type)에 대한 조건이다</a:t>
            </a:r>
          </a:p>
          <a:p>
            <a:r>
              <a:rPr sz="1250" b="0">
                <a:solidFill>
                  <a:srgbClr val="7EC699"/>
                </a:solidFill>
                <a:latin typeface="Consolas"/>
              </a:rPr>
              <a:t>-- 집계 함수의 결과에 거는 조건이 아니므로 그룹화 이전 평가가 가능하다</a:t>
            </a:r>
          </a:p>
          <a:p>
            <a:r>
              <a:rPr sz="1250" b="0">
                <a:solidFill>
                  <a:srgbClr val="7EC699"/>
                </a:solidFill>
                <a:latin typeface="Consolas"/>
              </a:rPr>
              <a:t>-- 결과 그룹은 hosp_id 단위로만 만들어진다</a:t>
            </a:r>
          </a:p>
        </p:txBody>
      </p:sp>
    </p:spTree>
    <p:extLst>
      <p:ext uri="{BB962C8B-B14F-4D97-AF65-F5344CB8AC3E}">
        <p14:creationId xmlns:p14="http://schemas.microsoft.com/office/powerpoint/2010/main" val="1241802438"/>
      </p:ext>
    </p:extLst>
  </p:cSld>
  <p:clrMapOvr>
    <a:masterClrMapping/>
  </p:clrMapOvr>
</p:sld>
</file>

<file path=ppt/slides/slide50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Q2 — 그룹핑 후 바깥에서 필터</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10.4절 Example — 의도한 비효율 패턴, 그룹핑 컬럼을 하나 더 추가</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Q2. 불필요하게 claim_type까지 그룹핑한 뒤 바깥에서 필터</a:t>
            </a:r>
          </a:p>
          <a:p>
            <a:r>
              <a:rPr sz="1250" b="0">
                <a:solidFill>
                  <a:srgbClr val="E6E6E6"/>
                </a:solidFill>
                <a:latin typeface="Consolas"/>
              </a:rPr>
              <a:t>SELECT hosp_id, cnt, total FROM (</a:t>
            </a:r>
          </a:p>
          <a:p>
            <a:r>
              <a:rPr sz="1250" b="0">
                <a:solidFill>
                  <a:srgbClr val="E6E6E6"/>
                </a:solidFill>
                <a:latin typeface="Consolas"/>
              </a:rPr>
              <a:t>  SELECT hosp_id, claim_type, COUNT(*) cnt, SUM(total_amt) total</a:t>
            </a:r>
          </a:p>
          <a:p>
            <a:r>
              <a:rPr sz="1250" b="0">
                <a:solidFill>
                  <a:srgbClr val="E6E6E6"/>
                </a:solidFill>
                <a:latin typeface="Consolas"/>
              </a:rPr>
              <a:t>  FROM   medical_claims</a:t>
            </a:r>
          </a:p>
          <a:p>
            <a:r>
              <a:rPr sz="1250" b="0">
                <a:solidFill>
                  <a:srgbClr val="E6E6E6"/>
                </a:solidFill>
                <a:latin typeface="Consolas"/>
              </a:rPr>
              <a:t>  GROUP BY hosp_id, claim_type</a:t>
            </a:r>
          </a:p>
          <a:p>
            <a:r>
              <a:rPr sz="1250" b="0">
                <a:solidFill>
                  <a:srgbClr val="E6E6E6"/>
                </a:solidFill>
                <a:latin typeface="Consolas"/>
              </a:rPr>
              <a:t>) WHERE claim_type = '입원';</a:t>
            </a:r>
          </a:p>
          <a:p>
            <a:r>
              <a:rPr sz="1250" b="0">
                <a:solidFill>
                  <a:srgbClr val="E6E6E6"/>
                </a:solidFill>
                <a:latin typeface="Consolas"/>
              </a:rPr>
              <a:t> </a:t>
            </a:r>
          </a:p>
          <a:p>
            <a:r>
              <a:rPr sz="1250" b="0">
                <a:solidFill>
                  <a:srgbClr val="7EC699"/>
                </a:solidFill>
                <a:latin typeface="Consolas"/>
              </a:rPr>
              <a:t>-- 겉보기: hosp_id x claim_type 조합만큼 그룹을 만든 뒤 걸러 내는 형태</a:t>
            </a:r>
          </a:p>
          <a:p>
            <a:r>
              <a:rPr sz="1250" b="0">
                <a:solidFill>
                  <a:srgbClr val="7EC699"/>
                </a:solidFill>
                <a:latin typeface="Consolas"/>
              </a:rPr>
              <a:t>-- 인라인 뷰 바깥의 필터지만, 참조 대상은 여전히 그룹 키 컬럼이다</a:t>
            </a:r>
          </a:p>
          <a:p>
            <a:r>
              <a:rPr sz="1250" b="0">
                <a:solidFill>
                  <a:srgbClr val="7EC699"/>
                </a:solidFill>
                <a:latin typeface="Consolas"/>
              </a:rPr>
              <a:t>-- ch10의 WHERE v.cnt &gt; 1000 과는 참조 대상이 다르다</a:t>
            </a:r>
          </a:p>
        </p:txBody>
      </p:sp>
    </p:spTree>
    <p:extLst>
      <p:ext uri="{BB962C8B-B14F-4D97-AF65-F5344CB8AC3E}">
        <p14:creationId xmlns:p14="http://schemas.microsoft.com/office/powerpoint/2010/main" val="4212910904"/>
      </p:ext>
    </p:extLst>
  </p:cSld>
  <p:clrMapOvr>
    <a:masterClrMapping/>
  </p:clrMapOvr>
</p:sld>
</file>

<file path=ppt/slides/slide50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Q1·Q2 공통 실행계획</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Plan hash value 완전히 동일: 3971657403</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Q1, Q2 공통 실행계획 (Plan hash value 완전히 동일: 3971657403)</a:t>
            </a:r>
          </a:p>
          <a:p>
            <a:r>
              <a:rPr sz="1250" b="0">
                <a:solidFill>
                  <a:srgbClr val="E6E6E6"/>
                </a:solidFill>
                <a:latin typeface="Consolas"/>
              </a:rPr>
              <a:t> </a:t>
            </a:r>
          </a:p>
          <a:p>
            <a:r>
              <a:rPr sz="1250" b="0">
                <a:solidFill>
                  <a:srgbClr val="E6E6E6"/>
                </a:solidFill>
                <a:latin typeface="Consolas"/>
              </a:rPr>
              <a:t>| Id | Operation         | Name           | A-Rows |   A-Time   | Buffers |</a:t>
            </a:r>
          </a:p>
          <a:p>
            <a:r>
              <a:rPr sz="1250" b="0">
                <a:solidFill>
                  <a:srgbClr val="E6E6E6"/>
                </a:solidFill>
                <a:latin typeface="Consolas"/>
              </a:rPr>
              <a:t>| 0  | SELECT STATEMENT  |                |   1000 |00:00:00.03 |    3090 |</a:t>
            </a:r>
          </a:p>
          <a:p>
            <a:r>
              <a:rPr sz="1250" b="0">
                <a:solidFill>
                  <a:srgbClr val="E6E6E6"/>
                </a:solidFill>
                <a:latin typeface="Consolas"/>
              </a:rPr>
              <a:t>| 1  |  HASH GROUP BY    |                |   1000 |00:00:00.03 |    3090 |</a:t>
            </a:r>
          </a:p>
          <a:p>
            <a:r>
              <a:rPr sz="1250" b="0">
                <a:solidFill>
                  <a:srgbClr val="E6E6E6"/>
                </a:solidFill>
                <a:latin typeface="Consolas"/>
              </a:rPr>
              <a:t>| 2  |   TABLE ACCESS FULL| MEDICAL_CLAIMS|  59511 |00:00:00.03 |    3090 |</a:t>
            </a:r>
          </a:p>
          <a:p>
            <a:r>
              <a:rPr sz="1250" b="0">
                <a:solidFill>
                  <a:srgbClr val="E6E6E6"/>
                </a:solidFill>
                <a:latin typeface="Consolas"/>
              </a:rPr>
              <a:t> </a:t>
            </a:r>
          </a:p>
          <a:p>
            <a:r>
              <a:rPr sz="1250" b="0">
                <a:solidFill>
                  <a:srgbClr val="7EC699"/>
                </a:solidFill>
                <a:latin typeface="Consolas"/>
              </a:rPr>
              <a:t>-- Q2를 일부러 비효율적으로 작성했는데도 실행계획이 Q1과 완전히 같다</a:t>
            </a:r>
          </a:p>
          <a:p>
            <a:r>
              <a:rPr sz="1250" b="0">
                <a:solidFill>
                  <a:srgbClr val="7EC699"/>
                </a:solidFill>
                <a:latin typeface="Consolas"/>
              </a:rPr>
              <a:t>-- claim_type 으로 그룹을 나누는 단계가 계획에 존재하지 않는다</a:t>
            </a:r>
          </a:p>
          <a:p>
            <a:r>
              <a:rPr sz="1250" b="0">
                <a:solidFill>
                  <a:srgbClr val="7EC699"/>
                </a:solidFill>
                <a:latin typeface="Consolas"/>
              </a:rPr>
              <a:t>-- HASH GROUP BY 위에 TABLE ACCESS FULL 하나뿐인 단순한 구조</a:t>
            </a:r>
          </a:p>
        </p:txBody>
      </p:sp>
    </p:spTree>
    <p:extLst>
      <p:ext uri="{BB962C8B-B14F-4D97-AF65-F5344CB8AC3E}">
        <p14:creationId xmlns:p14="http://schemas.microsoft.com/office/powerpoint/2010/main" val="3581674514"/>
      </p:ext>
    </p:extLst>
  </p:cSld>
  <p:clrMapOvr>
    <a:masterClrMapping/>
  </p:clrMapOvr>
</p:sld>
</file>

<file path=ppt/slides/slide50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실행계획 읽기 — 무엇이 같았나</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Plan hash value가 3971657403으로 완전히 동일하다</a:t>
            </a:r>
          </a:p>
          <a:p>
            <a:r>
              <a:rPr sz="1600" b="0">
                <a:solidFill>
                  <a:srgbClr val="5A6672"/>
                </a:solidFill>
                <a:latin typeface="Malgun Gothic"/>
              </a:rPr>
              <a:t>    –  계획이 비슷한 정도가 아니라 같은 계획으로 변환됐다는 뜻이다</a:t>
            </a:r>
          </a:p>
          <a:p>
            <a:r>
              <a:rPr sz="1800" b="0">
                <a:solidFill>
                  <a:srgbClr val="202830"/>
                </a:solidFill>
                <a:latin typeface="Malgun Gothic"/>
              </a:rPr>
              <a:t>•  오퍼레이션 구성도 동일하다 — HASH GROUP BY 위에 TABLE ACCESS FULL 하나</a:t>
            </a:r>
          </a:p>
          <a:p>
            <a:r>
              <a:rPr sz="1600" b="0">
                <a:solidFill>
                  <a:srgbClr val="5A6672"/>
                </a:solidFill>
                <a:latin typeface="Malgun Gothic"/>
              </a:rPr>
              <a:t>    –  Q2에만 있어야 할 claim_type 그룹핑 단계가 계획에 남아 있지 않다</a:t>
            </a:r>
          </a:p>
          <a:p>
            <a:r>
              <a:rPr sz="1800" b="0">
                <a:solidFill>
                  <a:srgbClr val="202830"/>
                </a:solidFill>
                <a:latin typeface="Malgun Gothic"/>
              </a:rPr>
              <a:t>•  실측 수치도 동일하다</a:t>
            </a:r>
          </a:p>
          <a:p>
            <a:r>
              <a:rPr sz="1600" b="0">
                <a:solidFill>
                  <a:srgbClr val="5A6672"/>
                </a:solidFill>
                <a:latin typeface="Malgun Gothic"/>
              </a:rPr>
              <a:t>    –  A-Rows 1000, A-Time 00:00:00.03, Buffers 3090</a:t>
            </a:r>
          </a:p>
          <a:p>
            <a:r>
              <a:rPr sz="1600" b="0">
                <a:solidFill>
                  <a:srgbClr val="5A6672"/>
                </a:solidFill>
                <a:latin typeface="Malgun Gothic"/>
              </a:rPr>
              <a:t>    –  TABLE ACCESS FULL 단계의 A-Rows는 59511 — 필터를 통과한 행 수다</a:t>
            </a:r>
          </a:p>
          <a:p>
            <a:r>
              <a:rPr sz="1800" b="0">
                <a:solidFill>
                  <a:srgbClr val="202830"/>
                </a:solidFill>
                <a:latin typeface="Malgun Gothic"/>
              </a:rPr>
              <a:t>•  즉 SQL의 겉모양 차이가 실행 구조에는 전혀 반영되지 않았다</a:t>
            </a:r>
          </a:p>
        </p:txBody>
      </p:sp>
    </p:spTree>
    <p:extLst>
      <p:ext uri="{BB962C8B-B14F-4D97-AF65-F5344CB8AC3E}">
        <p14:creationId xmlns:p14="http://schemas.microsoft.com/office/powerpoint/2010/main" val="813487155"/>
      </p:ext>
    </p:extLst>
  </p:cSld>
  <p:clrMapOvr>
    <a:masterClrMapping/>
  </p:clrMapOvr>
</p:sld>
</file>

<file path=ppt/slides/slide50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왜 완전히 같은 계획이 되었나</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claim_type = '입원'은 GROUP BY의 기준 컬럼 자체에 대한 조건이다</a:t>
            </a:r>
          </a:p>
          <a:p>
            <a:r>
              <a:rPr sz="1600" b="0">
                <a:solidFill>
                  <a:srgbClr val="5A6672"/>
                </a:solidFill>
                <a:latin typeface="Malgun Gothic"/>
              </a:rPr>
              <a:t>    –  집계 결과가 아니라 그룹을 나누는 기준 컬럼이라는 점이 결정적이다</a:t>
            </a:r>
          </a:p>
          <a:p>
            <a:r>
              <a:rPr sz="1800" b="0">
                <a:solidFill>
                  <a:srgbClr val="202830"/>
                </a:solidFill>
                <a:latin typeface="Malgun Gothic"/>
              </a:rPr>
              <a:t>•  옵티마이저가 이 조건을 그룹화 이전으로 자동으로 밀어넣었다</a:t>
            </a:r>
          </a:p>
          <a:p>
            <a:r>
              <a:rPr sz="1600" b="0">
                <a:solidFill>
                  <a:srgbClr val="5A6672"/>
                </a:solidFill>
                <a:latin typeface="Malgun Gothic"/>
              </a:rPr>
              <a:t>    –  실행계획에서는 TABLE ACCESS FULL 단계의 필터로 나타난다</a:t>
            </a:r>
          </a:p>
          <a:p>
            <a:r>
              <a:rPr sz="1800" b="0">
                <a:solidFill>
                  <a:srgbClr val="202830"/>
                </a:solidFill>
                <a:latin typeface="Malgun Gothic"/>
              </a:rPr>
              <a:t>•  밀어넣는 순간 claim_type은 하나의 값으로 고정된다</a:t>
            </a:r>
          </a:p>
          <a:p>
            <a:r>
              <a:rPr sz="1600" b="0">
                <a:solidFill>
                  <a:srgbClr val="5A6672"/>
                </a:solidFill>
                <a:latin typeface="Malgun Gothic"/>
              </a:rPr>
              <a:t>    –  고정된 컬럼으로는 그룹을 더 나눌 이유가 없다</a:t>
            </a:r>
          </a:p>
          <a:p>
            <a:r>
              <a:rPr sz="1600" b="0">
                <a:solidFill>
                  <a:srgbClr val="5A6672"/>
                </a:solidFill>
                <a:latin typeface="Malgun Gothic"/>
              </a:rPr>
              <a:t>    –  그래서 GROUP BY hosp_id만 남긴 것과 동일한 계획이 됐다</a:t>
            </a:r>
          </a:p>
          <a:p>
            <a:r>
              <a:rPr sz="1800" b="0">
                <a:solidFill>
                  <a:srgbClr val="202830"/>
                </a:solidFill>
                <a:latin typeface="Malgun Gothic"/>
              </a:rPr>
              <a:t>•  두 단계 변환이 연달아 일어난 결과다 — 밀어넣기, 그리고 불필요한 그룹 키 제거</a:t>
            </a:r>
          </a:p>
        </p:txBody>
      </p:sp>
    </p:spTree>
    <p:extLst>
      <p:ext uri="{BB962C8B-B14F-4D97-AF65-F5344CB8AC3E}">
        <p14:creationId xmlns:p14="http://schemas.microsoft.com/office/powerpoint/2010/main" val="1287665283"/>
      </p:ext>
    </p:extLst>
  </p:cSld>
  <p:clrMapOvr>
    <a:masterClrMapping/>
  </p:clrMapOvr>
</p:sld>
</file>

<file path=ppt/slides/slide50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실무 교훈 — 필터 위치 걱정의 실체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"필터를 먼저 쓰지 않으면 손해"라는 걱정은 대체로 기우다</a:t>
            </a:r>
          </a:p>
          <a:p>
            <a:r>
              <a:rPr sz="1600" b="0">
                <a:solidFill>
                  <a:srgbClr val="5A6672"/>
                </a:solidFill>
                <a:latin typeface="Malgun Gothic"/>
              </a:rPr>
              <a:t>    –  단 그 필터가 그룹 키에 대한 것이라는 조건이 붙는다</a:t>
            </a:r>
          </a:p>
          <a:p>
            <a:r>
              <a:rPr sz="1600" b="0">
                <a:solidFill>
                  <a:srgbClr val="5A6672"/>
                </a:solidFill>
                <a:latin typeface="Malgun Gothic"/>
              </a:rPr>
              <a:t>    –  옵티마이저가 알아서 밀어넣어 주기 때문이다</a:t>
            </a:r>
          </a:p>
          <a:p>
            <a:r>
              <a:rPr sz="1800" b="0">
                <a:solidFill>
                  <a:srgbClr val="202830"/>
                </a:solidFill>
                <a:latin typeface="Malgun Gothic"/>
              </a:rPr>
              <a:t>•  중요한 것은 필터를 SQL의 어디에 썼느냐가 아니다</a:t>
            </a:r>
          </a:p>
          <a:p>
            <a:r>
              <a:rPr sz="1600" b="0">
                <a:solidFill>
                  <a:srgbClr val="5A6672"/>
                </a:solidFill>
                <a:latin typeface="Malgun Gothic"/>
              </a:rPr>
              <a:t>    –  그 필터가 그룹 키에 관한 것이냐, 집계 결과에 관한 것이냐가 처리 방식을 결정한다</a:t>
            </a:r>
          </a:p>
          <a:p>
            <a:r>
              <a:rPr sz="1800" b="0">
                <a:solidFill>
                  <a:srgbClr val="202830"/>
                </a:solidFill>
                <a:latin typeface="Malgun Gothic"/>
              </a:rPr>
              <a:t>•  그렇다고 확인 없이 아무렇게나 써도 된다는 뜻은 아니다</a:t>
            </a:r>
          </a:p>
          <a:p>
            <a:r>
              <a:rPr sz="1600" b="0">
                <a:solidFill>
                  <a:srgbClr val="5A6672"/>
                </a:solidFill>
                <a:latin typeface="Malgun Gothic"/>
              </a:rPr>
              <a:t>    –  밀어넣기가 성립하는 조건을 알고 쓰는 것과 모르고 쓰는 것은 다르다</a:t>
            </a:r>
          </a:p>
          <a:p>
            <a:r>
              <a:rPr sz="1600" b="0">
                <a:solidFill>
                  <a:srgbClr val="5A6672"/>
                </a:solidFill>
                <a:latin typeface="Malgun Gothic"/>
              </a:rPr>
              <a:t>    –  결론은 언제나 같다 — 실행계획으로 확인한다</a:t>
            </a:r>
          </a:p>
        </p:txBody>
      </p:sp>
    </p:spTree>
    <p:extLst>
      <p:ext uri="{BB962C8B-B14F-4D97-AF65-F5344CB8AC3E}">
        <p14:creationId xmlns:p14="http://schemas.microsoft.com/office/powerpoint/2010/main" val="3464759198"/>
      </p:ext>
    </p:extLst>
  </p:cSld>
  <p:clrMapOvr>
    <a:masterClrMapping/>
  </p:clrMapOvr>
</p:sld>
</file>

<file path=ppt/slides/slide505.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107996"/>
          </a:xfrm>
          <a:prstGeom prst="rect">
            <a:avLst/>
          </a:prstGeom>
          <a:noFill/>
        </p:spPr>
        <p:txBody>
          <a:bodyPr wrap="square">
            <a:spAutoFit/>
          </a:bodyPr>
          <a:lstStyle/>
          <a:p>
            <a:r>
              <a:rPr sz="6600" b="1" dirty="0">
                <a:solidFill>
                  <a:srgbClr val="C0392B"/>
                </a:solidFill>
                <a:latin typeface="Malgun Gothic"/>
              </a:rPr>
              <a:t>1</a:t>
            </a:r>
            <a:r>
              <a:rPr lang="en-US" sz="6600" b="1" dirty="0">
                <a:solidFill>
                  <a:srgbClr val="C0392B"/>
                </a:solidFill>
                <a:latin typeface="Malgun Gothic"/>
              </a:rPr>
              <a:t>2</a:t>
            </a:r>
            <a:r>
              <a:rPr sz="6600" b="1" dirty="0">
                <a:solidFill>
                  <a:srgbClr val="C0392B"/>
                </a:solidFill>
                <a:latin typeface="Malgun Gothic"/>
              </a:rPr>
              <a:t>.5</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Bad SQL — 정렬 생략은 선택도에 달려 있다</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실험 설계 — 같은 두 컬럼, 다른 선택도</a:t>
            </a:r>
          </a:p>
          <a:p>
            <a:r>
              <a:rPr sz="1600" b="0">
                <a:solidFill>
                  <a:srgbClr val="C5CED6"/>
                </a:solidFill>
                <a:latin typeface="Malgun Gothic"/>
              </a:rPr>
              <a:t>•  범위가 넓을 때 — PK인데도 정렬이 남는다</a:t>
            </a:r>
          </a:p>
          <a:p>
            <a:r>
              <a:rPr sz="1600" b="0">
                <a:solidFill>
                  <a:srgbClr val="C5CED6"/>
                </a:solidFill>
                <a:latin typeface="Malgun Gothic"/>
              </a:rPr>
              <a:t>•  범위가 좁을 때 — 정렬이 사라진다</a:t>
            </a:r>
          </a:p>
          <a:p>
            <a:r>
              <a:rPr sz="1600" b="0">
                <a:solidFill>
                  <a:srgbClr val="C5CED6"/>
                </a:solidFill>
                <a:latin typeface="Malgun Gothic"/>
              </a:rPr>
              <a:t>•  정렬이 없는 쪽이 더 비싼 역설</a:t>
            </a:r>
          </a:p>
        </p:txBody>
      </p:sp>
    </p:spTree>
    <p:extLst>
      <p:ext uri="{BB962C8B-B14F-4D97-AF65-F5344CB8AC3E}">
        <p14:creationId xmlns:p14="http://schemas.microsoft.com/office/powerpoint/2010/main" val="561938769"/>
      </p:ext>
    </p:extLst>
  </p:cSld>
  <p:clrMapOvr>
    <a:masterClrMapping/>
  </p:clrMapOvr>
</p:sld>
</file>

<file path=ppt/slides/slide50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실험 설계 — 같은 두 컬럼, 다른 선택도</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같은 두 컬럼을 정렬 기준으로 바꿔가며 비교한다</a:t>
            </a:r>
          </a:p>
          <a:p>
            <a:r>
              <a:rPr sz="1600" b="0">
                <a:solidFill>
                  <a:srgbClr val="5A6672"/>
                </a:solidFill>
                <a:latin typeface="Malgun Gothic"/>
              </a:rPr>
              <a:t>    –  CLAIM_ID — PK 컬럼, 인덱스의 정렬 기준과 일치한다</a:t>
            </a:r>
          </a:p>
          <a:p>
            <a:r>
              <a:rPr sz="1600" b="0">
                <a:solidFill>
                  <a:srgbClr val="5A6672"/>
                </a:solidFill>
                <a:latin typeface="Malgun Gothic"/>
              </a:rPr>
              <a:t>    –  TOTAL_AMT — 인덱스가 없는 컬럼이다</a:t>
            </a:r>
          </a:p>
          <a:p>
            <a:r>
              <a:rPr sz="1800" b="0">
                <a:solidFill>
                  <a:srgbClr val="202830"/>
                </a:solidFill>
                <a:latin typeface="Malgun Gothic"/>
              </a:rPr>
              <a:t>•  필터 범위는 두 가지로 나눈다</a:t>
            </a:r>
          </a:p>
          <a:p>
            <a:r>
              <a:rPr sz="1600" b="0">
                <a:solidFill>
                  <a:srgbClr val="5A6672"/>
                </a:solidFill>
                <a:latin typeface="Malgun Gothic"/>
              </a:rPr>
              <a:t>    –  넓을 때 — 약 1개월, 8.5% 선택도</a:t>
            </a:r>
          </a:p>
          <a:p>
            <a:r>
              <a:rPr sz="1600" b="0">
                <a:solidFill>
                  <a:srgbClr val="5A6672"/>
                </a:solidFill>
                <a:latin typeface="Malgun Gothic"/>
              </a:rPr>
              <a:t>    –  좁을 때 — 약 1일, 0.27% 선택도</a:t>
            </a:r>
          </a:p>
          <a:p>
            <a:r>
              <a:rPr sz="1800" b="0">
                <a:solidFill>
                  <a:srgbClr val="202830"/>
                </a:solidFill>
                <a:latin typeface="Malgun Gothic"/>
              </a:rPr>
              <a:t>•  8.5% 구간은 ch05에서 이미 Full Scan 전환 구간으로 확인된 범위다</a:t>
            </a:r>
          </a:p>
          <a:p>
            <a:r>
              <a:rPr sz="1600" b="0">
                <a:solidFill>
                  <a:srgbClr val="5A6672"/>
                </a:solidFill>
                <a:latin typeface="Malgun Gothic"/>
              </a:rPr>
              <a:t>    –  즉 접근 경로가 달라지도록 의도적으로 설계한 두 구간이다</a:t>
            </a:r>
          </a:p>
        </p:txBody>
      </p:sp>
    </p:spTree>
    <p:extLst>
      <p:ext uri="{BB962C8B-B14F-4D97-AF65-F5344CB8AC3E}">
        <p14:creationId xmlns:p14="http://schemas.microsoft.com/office/powerpoint/2010/main" val="2200414899"/>
      </p:ext>
    </p:extLst>
  </p:cSld>
  <p:clrMapOvr>
    <a:masterClrMapping/>
  </p:clrMapOvr>
</p:sld>
</file>

<file path=ppt/slides/slide50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범위가 넓을 때 — 약 1개월, 8.5% 선택도</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10.5절 Bad SQL — 두 정렬 기준 모두 SORT가 발생</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a:t>
            </a:r>
          </a:p>
          <a:p>
            <a:r>
              <a:rPr sz="1250" b="0">
                <a:solidFill>
                  <a:srgbClr val="E6E6E6"/>
                </a:solidFill>
                <a:latin typeface="Consolas"/>
              </a:rPr>
              <a:t>| 정렬 기준                     | Operation                         | Buffers |</a:t>
            </a:r>
          </a:p>
          <a:p>
            <a:r>
              <a:rPr sz="1250" b="0">
                <a:solidFill>
                  <a:srgbClr val="E6E6E6"/>
                </a:solidFill>
                <a:latin typeface="Consolas"/>
              </a:rPr>
              <a:t>+-------------------------------+-----------------------------------+---------+</a:t>
            </a:r>
          </a:p>
          <a:p>
            <a:r>
              <a:rPr sz="1250" b="0">
                <a:solidFill>
                  <a:srgbClr val="E6E6E6"/>
                </a:solidFill>
                <a:latin typeface="Consolas"/>
              </a:rPr>
              <a:t>| ORDER BY total_amt (비인덱스) | SORT ORDER BY + TABLE ACCESS FULL |   3,090 |</a:t>
            </a:r>
          </a:p>
          <a:p>
            <a:r>
              <a:rPr sz="1250" b="0">
                <a:solidFill>
                  <a:srgbClr val="E6E6E6"/>
                </a:solidFill>
                <a:latin typeface="Consolas"/>
              </a:rPr>
              <a:t>| ORDER BY claim_id (PK 컬럼)   | SORT ORDER BY + TABLE ACCESS FULL |   3,090 |</a:t>
            </a:r>
          </a:p>
          <a:p>
            <a:r>
              <a:rPr sz="1250" b="0">
                <a:solidFill>
                  <a:srgbClr val="E6E6E6"/>
                </a:solidFill>
                <a:latin typeface="Consolas"/>
              </a:rPr>
              <a:t>+-------------------------------+-----------------------------------+---------+</a:t>
            </a:r>
          </a:p>
          <a:p>
            <a:r>
              <a:rPr sz="1250" b="0">
                <a:solidFill>
                  <a:srgbClr val="E6E6E6"/>
                </a:solidFill>
                <a:latin typeface="Consolas"/>
              </a:rPr>
              <a:t> </a:t>
            </a:r>
          </a:p>
          <a:p>
            <a:r>
              <a:rPr sz="1250" b="0">
                <a:solidFill>
                  <a:srgbClr val="7EC699"/>
                </a:solidFill>
                <a:latin typeface="Consolas"/>
              </a:rPr>
              <a:t>-- 두 경우 모두 정렬이 생략되지 않았다</a:t>
            </a:r>
          </a:p>
          <a:p>
            <a:r>
              <a:rPr sz="1250" b="0">
                <a:solidFill>
                  <a:srgbClr val="7EC699"/>
                </a:solidFill>
                <a:latin typeface="Consolas"/>
              </a:rPr>
              <a:t>-- claim_id 가 PK라 해도 접근 경로가 TABLE ACCESS FULL 이면 순서 보장이 없다</a:t>
            </a:r>
          </a:p>
          <a:p>
            <a:r>
              <a:rPr sz="1250" b="0">
                <a:solidFill>
                  <a:srgbClr val="7EC699"/>
                </a:solidFill>
                <a:latin typeface="Consolas"/>
              </a:rPr>
              <a:t>-- ch05에서 확인된 Full Scan 전환 구간이라 인덱스 자체가 채택되지 않았다</a:t>
            </a:r>
          </a:p>
        </p:txBody>
      </p:sp>
    </p:spTree>
    <p:extLst>
      <p:ext uri="{BB962C8B-B14F-4D97-AF65-F5344CB8AC3E}">
        <p14:creationId xmlns:p14="http://schemas.microsoft.com/office/powerpoint/2010/main" val="2558923516"/>
      </p:ext>
    </p:extLst>
  </p:cSld>
  <p:clrMapOvr>
    <a:masterClrMapping/>
  </p:clrMapOvr>
</p:sld>
</file>

<file path=ppt/slides/slide50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넓은 범위 해석 — PK인데도 정렬이 남는 이유</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정렬이 생략되려면 데이터를 이미 정렬된 순서로 가져와야 한다</a:t>
            </a:r>
          </a:p>
          <a:p>
            <a:r>
              <a:rPr sz="1600" b="0">
                <a:solidFill>
                  <a:srgbClr val="5A6672"/>
                </a:solidFill>
                <a:latin typeface="Malgun Gothic"/>
              </a:rPr>
              <a:t>    –  그러려면 정렬 순서를 보장하는 구조, 즉 인덱스를 통해 접근해야 한다</a:t>
            </a:r>
          </a:p>
          <a:p>
            <a:r>
              <a:rPr sz="1800" b="0">
                <a:solidFill>
                  <a:srgbClr val="202830"/>
                </a:solidFill>
                <a:latin typeface="Malgun Gothic"/>
              </a:rPr>
              <a:t>•  이 사례에서는 선택도가 8.5%로 이미 Full Scan이 유리한 구간이었다</a:t>
            </a:r>
          </a:p>
          <a:p>
            <a:r>
              <a:rPr sz="1600" b="0">
                <a:solidFill>
                  <a:srgbClr val="5A6672"/>
                </a:solidFill>
                <a:latin typeface="Malgun Gothic"/>
              </a:rPr>
              <a:t>    –  ch05의 접근 방식 전환 원칙에 따라 옵티마이저가 TABLE ACCESS FULL을 선택했다</a:t>
            </a:r>
          </a:p>
          <a:p>
            <a:r>
              <a:rPr sz="1800" b="0">
                <a:solidFill>
                  <a:srgbClr val="202830"/>
                </a:solidFill>
                <a:latin typeface="Malgun Gothic"/>
              </a:rPr>
              <a:t>•  Full Scan은 테이블에 저장된 물리적 순서로 읽는다</a:t>
            </a:r>
          </a:p>
          <a:p>
            <a:r>
              <a:rPr sz="1600" b="0">
                <a:solidFill>
                  <a:srgbClr val="5A6672"/>
                </a:solidFill>
                <a:latin typeface="Malgun Gothic"/>
              </a:rPr>
              <a:t>    –  물리적 순서는 정렬 순서와 무관하다 — 어떤 순서도 보장하지 않는다</a:t>
            </a:r>
          </a:p>
          <a:p>
            <a:r>
              <a:rPr sz="1600" b="0">
                <a:solidFill>
                  <a:srgbClr val="5A6672"/>
                </a:solidFill>
                <a:latin typeface="Malgun Gothic"/>
              </a:rPr>
              <a:t>    –  그 컬럼이 PK이든 아니든 이 접근 경로에서는 정렬 순서를 보장받지 못한다</a:t>
            </a:r>
          </a:p>
          <a:p>
            <a:r>
              <a:rPr sz="1800" b="0">
                <a:solidFill>
                  <a:srgbClr val="202830"/>
                </a:solidFill>
                <a:latin typeface="Malgun Gothic"/>
              </a:rPr>
              <a:t>•  그래서 두 경우 모두 별도의 SORT ORDER BY가 필요했다</a:t>
            </a:r>
          </a:p>
        </p:txBody>
      </p:sp>
    </p:spTree>
    <p:extLst>
      <p:ext uri="{BB962C8B-B14F-4D97-AF65-F5344CB8AC3E}">
        <p14:creationId xmlns:p14="http://schemas.microsoft.com/office/powerpoint/2010/main" val="3896069383"/>
      </p:ext>
    </p:extLst>
  </p:cSld>
  <p:clrMapOvr>
    <a:masterClrMapping/>
  </p:clrMapOvr>
</p:sld>
</file>

<file path=ppt/slides/slide50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범위가 좁을 때 — 약 1일, 0.27% 선택도</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10.5절 Bad SQL — 인덱스 컬럼 정렬에서만 SORT가 생략</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a:t>
            </a:r>
          </a:p>
          <a:p>
            <a:r>
              <a:rPr sz="1250" b="0">
                <a:solidFill>
                  <a:srgbClr val="E6E6E6"/>
                </a:solidFill>
                <a:latin typeface="Consolas"/>
              </a:rPr>
              <a:t>| 정렬 기준                     | Operation                        | Buffers |</a:t>
            </a:r>
          </a:p>
          <a:p>
            <a:r>
              <a:rPr sz="1250" b="0">
                <a:solidFill>
                  <a:srgbClr val="E6E6E6"/>
                </a:solidFill>
                <a:latin typeface="Consolas"/>
              </a:rPr>
              <a:t>+-------------------------------+----------------------------------+---------+</a:t>
            </a:r>
          </a:p>
          <a:p>
            <a:r>
              <a:rPr sz="1250" b="0">
                <a:solidFill>
                  <a:srgbClr val="E6E6E6"/>
                </a:solidFill>
                <a:latin typeface="Consolas"/>
              </a:rPr>
              <a:t>| ORDER BY claim_id (PK 컬럼)   | INDEX RANGE SCAN만 (정렬 생략됨) |     791 |</a:t>
            </a:r>
          </a:p>
          <a:p>
            <a:r>
              <a:rPr sz="1250" b="0">
                <a:solidFill>
                  <a:srgbClr val="E6E6E6"/>
                </a:solidFill>
                <a:latin typeface="Consolas"/>
              </a:rPr>
              <a:t>| ORDER BY total_amt (비인덱스) | SORT ORDER BY + INDEX RANGE SCAN |     731 |</a:t>
            </a:r>
          </a:p>
          <a:p>
            <a:r>
              <a:rPr sz="1250" b="0">
                <a:solidFill>
                  <a:srgbClr val="E6E6E6"/>
                </a:solidFill>
                <a:latin typeface="Consolas"/>
              </a:rPr>
              <a:t>+-------------------------------+----------------------------------+---------+</a:t>
            </a:r>
          </a:p>
          <a:p>
            <a:r>
              <a:rPr sz="1250" b="0">
                <a:solidFill>
                  <a:srgbClr val="E6E6E6"/>
                </a:solidFill>
                <a:latin typeface="Consolas"/>
              </a:rPr>
              <a:t> </a:t>
            </a:r>
          </a:p>
          <a:p>
            <a:r>
              <a:rPr sz="1250" b="0">
                <a:solidFill>
                  <a:srgbClr val="7EC699"/>
                </a:solidFill>
                <a:latin typeface="Consolas"/>
              </a:rPr>
              <a:t>-- 좁은 선택도 덕분에 INDEX RANGE SCAN 이 채택됐다</a:t>
            </a:r>
          </a:p>
          <a:p>
            <a:r>
              <a:rPr sz="1250" b="0">
                <a:solidFill>
                  <a:srgbClr val="7EC699"/>
                </a:solidFill>
                <a:latin typeface="Consolas"/>
              </a:rPr>
              <a:t>-- claim_id 정렬은 인덱스가 이미 그 순서로 반환하므로 SORT 단계가 아예 없다</a:t>
            </a:r>
          </a:p>
          <a:p>
            <a:r>
              <a:rPr sz="1250" b="0">
                <a:solidFill>
                  <a:srgbClr val="7EC699"/>
                </a:solidFill>
                <a:latin typeface="Consolas"/>
              </a:rPr>
              <a:t>-- total_amt 는 인덱스에 없는 컬럼이라 여전히 정렬이 필요하다</a:t>
            </a:r>
          </a:p>
          <a:p>
            <a:r>
              <a:rPr sz="1250" b="0">
                <a:solidFill>
                  <a:srgbClr val="7EC699"/>
                </a:solidFill>
                <a:latin typeface="Consolas"/>
              </a:rPr>
              <a:t>-- 정렬을 생략한 쪽(791)이 정렬한 쪽(731)보다 Buffers 가 크다는 점에 주목</a:t>
            </a:r>
          </a:p>
        </p:txBody>
      </p:sp>
    </p:spTree>
    <p:extLst>
      <p:ext uri="{BB962C8B-B14F-4D97-AF65-F5344CB8AC3E}">
        <p14:creationId xmlns:p14="http://schemas.microsoft.com/office/powerpoint/2010/main" val="89316299"/>
      </p:ext>
    </p:extLst>
  </p:cSld>
  <p:clrMapOvr>
    <a:masterClrMapping/>
  </p:clrMapOvr>
</p:sld>
</file>

<file path=ppt/slides/slide5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좁은 범위 해석 — 정렬이 사라진 이유</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좁은 범위에서는 선택도가 매우 낮아 인덱스 접근이 유리해졌다</a:t>
            </a:r>
          </a:p>
          <a:p>
            <a:r>
              <a:rPr sz="1600" b="0">
                <a:solidFill>
                  <a:srgbClr val="5A6672"/>
                </a:solidFill>
                <a:latin typeface="Malgun Gothic"/>
              </a:rPr>
              <a:t>    –  옵티마이저가 PK_MEDICAL_CLAIMS를 통한 INDEX RANGE SCAN을 선택했다</a:t>
            </a:r>
          </a:p>
          <a:p>
            <a:r>
              <a:rPr sz="1600" b="0">
                <a:solidFill>
                  <a:srgbClr val="5A6672"/>
                </a:solidFill>
                <a:latin typeface="Malgun Gothic"/>
              </a:rPr>
              <a:t>    –  ch05의 원칙이 그대로 적용된 결과다</a:t>
            </a:r>
          </a:p>
          <a:p>
            <a:r>
              <a:rPr sz="1800" b="0">
                <a:solidFill>
                  <a:srgbClr val="202830"/>
                </a:solidFill>
                <a:latin typeface="Malgun Gothic"/>
              </a:rPr>
              <a:t>•  인덱스는 CLAIM_ID 값 순서로 정렬되어 저장된다</a:t>
            </a:r>
          </a:p>
          <a:p>
            <a:r>
              <a:rPr sz="1600" b="0">
                <a:solidFill>
                  <a:srgbClr val="5A6672"/>
                </a:solidFill>
                <a:latin typeface="Malgun Gothic"/>
              </a:rPr>
              <a:t>    –  INDEX RANGE SCAN으로 읽어오는 순서가 ORDER BY claim_id의 요구와 정확히 일치한다</a:t>
            </a:r>
          </a:p>
          <a:p>
            <a:r>
              <a:rPr sz="1600" b="0">
                <a:solidFill>
                  <a:srgbClr val="5A6672"/>
                </a:solidFill>
                <a:latin typeface="Malgun Gothic"/>
              </a:rPr>
              <a:t>    –  이미 원하는 순서로 나오므로 다시 정렬할 필요가 없어 SORT 단계가 생략됐다</a:t>
            </a:r>
          </a:p>
          <a:p>
            <a:r>
              <a:rPr sz="1800" b="0">
                <a:solidFill>
                  <a:srgbClr val="202830"/>
                </a:solidFill>
                <a:latin typeface="Malgun Gothic"/>
              </a:rPr>
              <a:t>•  반면 ORDER BY total_amt는 여전히 SORT ORDER BY가 필요하다</a:t>
            </a:r>
          </a:p>
          <a:p>
            <a:r>
              <a:rPr sz="1600" b="0">
                <a:solidFill>
                  <a:srgbClr val="5A6672"/>
                </a:solidFill>
                <a:latin typeface="Malgun Gothic"/>
              </a:rPr>
              <a:t>    –  인덱스에 없는 컬럼이므로 인덱스의 순서를 활용할 수 없다</a:t>
            </a:r>
          </a:p>
        </p:txBody>
      </p:sp>
    </p:spTree>
    <p:extLst>
      <p:ext uri="{BB962C8B-B14F-4D97-AF65-F5344CB8AC3E}">
        <p14:creationId xmlns:p14="http://schemas.microsoft.com/office/powerpoint/2010/main" val="1421342663"/>
      </p:ext>
    </p:extLst>
  </p:cSld>
  <p:clrMapOvr>
    <a:masterClrMapping/>
  </p:clrMapOvr>
</p:sld>
</file>

<file path=ppt/slides/slide5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정렬이 없는 쪽이 더 비싼 역설</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정렬을 생략한 claim_id 쪽 Buffers는 791, 정렬이 발생한 total_amt 쪽은 731이다</a:t>
            </a:r>
          </a:p>
          <a:p>
            <a:r>
              <a:rPr sz="1600" b="0">
                <a:solidFill>
                  <a:srgbClr val="5A6672"/>
                </a:solidFill>
                <a:latin typeface="Malgun Gothic"/>
              </a:rPr>
              <a:t>    –  정렬이 있는 쪽이 오히려 Buffers가 작다</a:t>
            </a:r>
          </a:p>
          <a:p>
            <a:r>
              <a:rPr sz="1800" b="0">
                <a:solidFill>
                  <a:srgbClr val="202830"/>
                </a:solidFill>
                <a:latin typeface="Malgun Gothic"/>
              </a:rPr>
              <a:t>•  원인은 테이블 블록 접근 방식의 차이에 있다</a:t>
            </a:r>
          </a:p>
          <a:p>
            <a:r>
              <a:rPr sz="1600" b="0">
                <a:solidFill>
                  <a:srgbClr val="5A6672"/>
                </a:solidFill>
                <a:latin typeface="Malgun Gothic"/>
              </a:rPr>
              <a:t>    –  TABLE ACCESS BY INDEX ROWID — 개별 ROWID로 하나씩 접근</a:t>
            </a:r>
          </a:p>
          <a:p>
            <a:r>
              <a:rPr sz="1600" b="0">
                <a:solidFill>
                  <a:srgbClr val="5A6672"/>
                </a:solidFill>
                <a:latin typeface="Malgun Gothic"/>
              </a:rPr>
              <a:t>    –  TABLE ACCESS BY INDEX ROWID BATCHED — ROWID를 먼저 모아 가까운 것끼리 묶어 접근</a:t>
            </a:r>
          </a:p>
          <a:p>
            <a:r>
              <a:rPr sz="1600" b="0">
                <a:solidFill>
                  <a:srgbClr val="5A6672"/>
                </a:solidFill>
                <a:latin typeface="Malgun Gothic"/>
              </a:rPr>
              <a:t>    –  BATCHED는 개별 접근보다 효율적일 수 있다 (ch03)</a:t>
            </a:r>
          </a:p>
          <a:p>
            <a:r>
              <a:rPr sz="1800" b="0">
                <a:solidFill>
                  <a:srgbClr val="202830"/>
                </a:solidFill>
                <a:latin typeface="Malgun Gothic"/>
              </a:rPr>
              <a:t>•  정렬 비용을 상쇄하고도 남을 만큼 테이블 접근이 효율적이었던 경우다</a:t>
            </a:r>
          </a:p>
          <a:p>
            <a:r>
              <a:rPr sz="1600" b="0">
                <a:solidFill>
                  <a:srgbClr val="5A6672"/>
                </a:solidFill>
                <a:latin typeface="Malgun Gothic"/>
              </a:rPr>
              <a:t>    –  "정렬이 없으면 항상 더 싸다"는 단순한 가정은 항상 맞지는 않다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결국 실측해서 직접 비교해야 한다 — 요인이 여럿일 때는 어느 하나만 보고 예측한 결론이 뒤집힐 수 있다.</a:t>
            </a:r>
          </a:p>
        </p:txBody>
      </p:sp>
    </p:spTree>
    <p:extLst>
      <p:ext uri="{BB962C8B-B14F-4D97-AF65-F5344CB8AC3E}">
        <p14:creationId xmlns:p14="http://schemas.microsoft.com/office/powerpoint/2010/main" val="285433980"/>
      </p:ext>
    </p:extLst>
  </p:cSld>
  <p:clrMapOvr>
    <a:masterClrMapping/>
  </p:clrMapOvr>
</p:sld>
</file>

<file path=ppt/slides/slide512.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107996"/>
          </a:xfrm>
          <a:prstGeom prst="rect">
            <a:avLst/>
          </a:prstGeom>
          <a:noFill/>
        </p:spPr>
        <p:txBody>
          <a:bodyPr wrap="square">
            <a:spAutoFit/>
          </a:bodyPr>
          <a:lstStyle/>
          <a:p>
            <a:r>
              <a:rPr sz="6600" b="1" dirty="0">
                <a:solidFill>
                  <a:srgbClr val="C0392B"/>
                </a:solidFill>
                <a:latin typeface="Malgun Gothic"/>
              </a:rPr>
              <a:t>1</a:t>
            </a:r>
            <a:r>
              <a:rPr lang="en-US" sz="6600" b="1" dirty="0">
                <a:solidFill>
                  <a:srgbClr val="C0392B"/>
                </a:solidFill>
                <a:latin typeface="Malgun Gothic"/>
              </a:rPr>
              <a:t>2</a:t>
            </a:r>
            <a:r>
              <a:rPr sz="6600" b="1" dirty="0">
                <a:solidFill>
                  <a:srgbClr val="C0392B"/>
                </a:solidFill>
                <a:latin typeface="Malgun Gothic"/>
              </a:rPr>
              <a:t>.6</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Tuning — 정렬 생략의 두 조건</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정렬 생략의 두 조건</a:t>
            </a:r>
          </a:p>
          <a:p>
            <a:r>
              <a:rPr sz="1600" b="0">
                <a:solidFill>
                  <a:srgbClr val="C5CED6"/>
                </a:solidFill>
                <a:latin typeface="Malgun Gothic"/>
              </a:rPr>
              <a:t>•  ch05 선택도 원칙과의 연결</a:t>
            </a:r>
          </a:p>
          <a:p>
            <a:r>
              <a:rPr sz="1600" b="0">
                <a:solidFill>
                  <a:srgbClr val="C5CED6"/>
                </a:solidFill>
                <a:latin typeface="Malgun Gothic"/>
              </a:rPr>
              <a:t>•  HASH GROUP BY는 생략되지 않는다</a:t>
            </a:r>
          </a:p>
          <a:p>
            <a:r>
              <a:rPr sz="1600" b="0">
                <a:solidFill>
                  <a:srgbClr val="C5CED6"/>
                </a:solidFill>
                <a:latin typeface="Malgun Gothic"/>
              </a:rPr>
              <a:t>•  GROUP BY + ORDER BY 조합 추론 / 체크리스트</a:t>
            </a:r>
          </a:p>
        </p:txBody>
      </p:sp>
    </p:spTree>
    <p:extLst>
      <p:ext uri="{BB962C8B-B14F-4D97-AF65-F5344CB8AC3E}">
        <p14:creationId xmlns:p14="http://schemas.microsoft.com/office/powerpoint/2010/main" val="3740606249"/>
      </p:ext>
    </p:extLst>
  </p:cSld>
  <p:clrMapOvr>
    <a:masterClrMapping/>
  </p:clrMapOvr>
</p:sld>
</file>

<file path=ppt/slides/slide5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정렬 생략의 두 조건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'인덱스 컬럼으로 정렬하면 정렬이 생략된다'는 조건부 사실이다</a:t>
            </a:r>
          </a:p>
          <a:p>
            <a:r>
              <a:rPr sz="1600" b="0">
                <a:solidFill>
                  <a:srgbClr val="5A6672"/>
                </a:solidFill>
                <a:latin typeface="Malgun Gothic"/>
              </a:rPr>
              <a:t>    –  컬럼 하나만 보는 조건이라 부정확하다</a:t>
            </a:r>
          </a:p>
          <a:p>
            <a:r>
              <a:rPr sz="1800" b="0">
                <a:solidFill>
                  <a:srgbClr val="202830"/>
                </a:solidFill>
                <a:latin typeface="Malgun Gothic"/>
              </a:rPr>
              <a:t>•  정확한 조건은 두 가지가 함께 성립해야 한다</a:t>
            </a:r>
          </a:p>
          <a:p>
            <a:r>
              <a:rPr sz="1600" b="0">
                <a:solidFill>
                  <a:srgbClr val="5A6672"/>
                </a:solidFill>
                <a:latin typeface="Malgun Gothic"/>
              </a:rPr>
              <a:t>    –  (1) 정렬 대상 컬럼이 인덱스의 정렬 기준과 일치해야 한다</a:t>
            </a:r>
          </a:p>
          <a:p>
            <a:r>
              <a:rPr sz="1600" b="0">
                <a:solidFill>
                  <a:srgbClr val="5A6672"/>
                </a:solidFill>
                <a:latin typeface="Malgun Gothic"/>
              </a:rPr>
              <a:t>    –  (2) 그 인덱스가 실제로 이 쿼리의 접근 경로로 채택되어야 한다</a:t>
            </a:r>
          </a:p>
          <a:p>
            <a:r>
              <a:rPr sz="1800" b="0">
                <a:solidFill>
                  <a:srgbClr val="202830"/>
                </a:solidFill>
                <a:latin typeface="Malgun Gothic"/>
              </a:rPr>
              <a:t>•  둘 중 하나라도 빠지면 정렬은 그대로 발생한다</a:t>
            </a:r>
          </a:p>
          <a:p>
            <a:r>
              <a:rPr sz="1600" b="0">
                <a:solidFill>
                  <a:srgbClr val="5A6672"/>
                </a:solidFill>
                <a:latin typeface="Malgun Gothic"/>
              </a:rPr>
              <a:t>    –  넓은 범위 사례는 (1)은 만족했지만 (2)가 성립하지 않은 경우다</a:t>
            </a:r>
          </a:p>
          <a:p>
            <a:r>
              <a:rPr sz="1600" b="0">
                <a:solidFill>
                  <a:srgbClr val="5A6672"/>
                </a:solidFill>
                <a:latin typeface="Malgun Gothic"/>
              </a:rPr>
              <a:t>    –  좁은 범위의 total_amt는 (2)는 성립했지만 (1)이 빠진 경우다</a:t>
            </a:r>
          </a:p>
        </p:txBody>
      </p:sp>
    </p:spTree>
    <p:extLst>
      <p:ext uri="{BB962C8B-B14F-4D97-AF65-F5344CB8AC3E}">
        <p14:creationId xmlns:p14="http://schemas.microsoft.com/office/powerpoint/2010/main" val="1566123075"/>
      </p:ext>
    </p:extLst>
  </p:cSld>
  <p:clrMapOvr>
    <a:masterClrMapping/>
  </p:clrMapOvr>
</p:sld>
</file>

<file path=ppt/slides/slide5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ch05 선택도 원칙과의 연결</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ch05에서 다룬 원칙 — 선택도에 따라 접근 방식이 전환된다</a:t>
            </a:r>
          </a:p>
          <a:p>
            <a:r>
              <a:rPr sz="1600" b="0">
                <a:solidFill>
                  <a:srgbClr val="5A6672"/>
                </a:solidFill>
                <a:latin typeface="Malgun Gothic"/>
              </a:rPr>
              <a:t>    –  선택도가 충분히 낮으면 인덱스, 높으면 Full Scan이 유리해진다</a:t>
            </a:r>
          </a:p>
          <a:p>
            <a:r>
              <a:rPr sz="1800" b="0">
                <a:solidFill>
                  <a:srgbClr val="202830"/>
                </a:solidFill>
                <a:latin typeface="Malgun Gothic"/>
              </a:rPr>
              <a:t>•  그 원칙이 ORDER BY의 정렬 생략 여부에도 그대로 연결된다</a:t>
            </a:r>
          </a:p>
          <a:p>
            <a:r>
              <a:rPr sz="1600" b="0">
                <a:solidFill>
                  <a:srgbClr val="5A6672"/>
                </a:solidFill>
                <a:latin typeface="Malgun Gothic"/>
              </a:rPr>
              <a:t>    –  접근 경로가 바뀌면 정렬 순서를 물려받을 수 있는지도 함께 바뀐다</a:t>
            </a:r>
          </a:p>
          <a:p>
            <a:r>
              <a:rPr sz="1800" b="0">
                <a:solidFill>
                  <a:srgbClr val="202830"/>
                </a:solidFill>
                <a:latin typeface="Malgun Gothic"/>
              </a:rPr>
              <a:t>•  같은 컬럼이라도 쿼리의 선택도에 따라 정렬 생략 여부가 달라질 수 있다</a:t>
            </a:r>
          </a:p>
          <a:p>
            <a:r>
              <a:rPr sz="1600" b="0">
                <a:solidFill>
                  <a:srgbClr val="5A6672"/>
                </a:solidFill>
                <a:latin typeface="Malgun Gothic"/>
              </a:rPr>
              <a:t>    –  이번 실습의 claim_id가 정확히 그 사례다</a:t>
            </a:r>
          </a:p>
          <a:p>
            <a:r>
              <a:rPr sz="1800" b="0">
                <a:solidFill>
                  <a:srgbClr val="202830"/>
                </a:solidFill>
                <a:latin typeface="Malgun Gothic"/>
              </a:rPr>
              <a:t>•  그래서 "이 SQL은 정렬이 없다"는 말은 조건 없이는 성립하지 않는다</a:t>
            </a:r>
          </a:p>
          <a:p>
            <a:r>
              <a:rPr sz="1600" b="0">
                <a:solidFill>
                  <a:srgbClr val="5A6672"/>
                </a:solidFill>
                <a:latin typeface="Malgun Gothic"/>
              </a:rPr>
              <a:t>    –  데이터가 늘어 선택도가 달라지면 어제 없던 정렬이 오늘 생길 수 있다</a:t>
            </a:r>
          </a:p>
        </p:txBody>
      </p:sp>
    </p:spTree>
    <p:extLst>
      <p:ext uri="{BB962C8B-B14F-4D97-AF65-F5344CB8AC3E}">
        <p14:creationId xmlns:p14="http://schemas.microsoft.com/office/powerpoint/2010/main" val="4084556441"/>
      </p:ext>
    </p:extLst>
  </p:cSld>
  <p:clrMapOvr>
    <a:masterClrMapping/>
  </p:clrMapOvr>
</p:sld>
</file>

<file path=ppt/slides/slide5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HASH GROUP BY는 생략되지 않는다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HASH GROUP BY는 이번 장의 모든 GROUP BY 쿼리에서 공통으로 나타났다</a:t>
            </a:r>
          </a:p>
          <a:p>
            <a:r>
              <a:rPr sz="1800" b="0">
                <a:solidFill>
                  <a:srgbClr val="202830"/>
                </a:solidFill>
                <a:latin typeface="Malgun Gothic"/>
              </a:rPr>
              <a:t>•  HASH GROUP BY는 그룹 키 값을 해시로 묶어 집계하는 방식이다</a:t>
            </a:r>
          </a:p>
          <a:p>
            <a:r>
              <a:rPr sz="1600" b="0">
                <a:solidFill>
                  <a:srgbClr val="5A6672"/>
                </a:solidFill>
                <a:latin typeface="Malgun Gothic"/>
              </a:rPr>
              <a:t>    –  인덱스의 정렬 순서와 무관하게 동작한다</a:t>
            </a:r>
          </a:p>
          <a:p>
            <a:r>
              <a:rPr sz="1600" b="0">
                <a:solidFill>
                  <a:srgbClr val="5A6672"/>
                </a:solidFill>
                <a:latin typeface="Malgun Gothic"/>
              </a:rPr>
              <a:t>    –  정렬된 순서로 데이터를 읽어와도 HASH GROUP BY 자체는 생략되지 않는다</a:t>
            </a:r>
          </a:p>
          <a:p>
            <a:r>
              <a:rPr sz="1600" b="0">
                <a:solidFill>
                  <a:srgbClr val="5A6672"/>
                </a:solidFill>
                <a:latin typeface="Malgun Gothic"/>
              </a:rPr>
              <a:t>    –  그룹핑이라는 작업 자체가 필요 없어지는 것이 아니기 때문이다</a:t>
            </a:r>
          </a:p>
          <a:p>
            <a:r>
              <a:rPr sz="1800" b="0">
                <a:solidFill>
                  <a:srgbClr val="202830"/>
                </a:solidFill>
                <a:latin typeface="Malgun Gothic"/>
              </a:rPr>
              <a:t>•  정렬 순서를 활용해 그룹화 비용을 줄이려면 SORT GROUP BY가 선택돼야 한다</a:t>
            </a:r>
          </a:p>
          <a:p>
            <a:r>
              <a:rPr sz="1600" b="0">
                <a:solidFill>
                  <a:srgbClr val="5A6672"/>
                </a:solidFill>
                <a:latin typeface="Malgun Gothic"/>
              </a:rPr>
              <a:t>    –  이는 옵티마이저가 별도로 판단하는 영역이다</a:t>
            </a:r>
          </a:p>
          <a:p>
            <a:r>
              <a:rPr sz="1600" b="0">
                <a:solidFill>
                  <a:srgbClr val="5A6672"/>
                </a:solidFill>
                <a:latin typeface="Malgun Gothic"/>
              </a:rPr>
              <a:t>    –  이번 챕터의 실습에서는 SORT GROUP BY가 관찰되지 않았다</a:t>
            </a:r>
          </a:p>
        </p:txBody>
      </p:sp>
    </p:spTree>
    <p:extLst>
      <p:ext uri="{BB962C8B-B14F-4D97-AF65-F5344CB8AC3E}">
        <p14:creationId xmlns:p14="http://schemas.microsoft.com/office/powerpoint/2010/main" val="732876798"/>
      </p:ext>
    </p:extLst>
  </p:cSld>
  <p:clrMapOvr>
    <a:masterClrMapping/>
  </p:clrMapOvr>
</p:sld>
</file>

<file path=ppt/slides/slide5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GROUP BY + ORDER BY 조합은 어떻게 될까</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요구 — 병원별 청구 건수를 병원 ID 순으로 정렬해 보여 달라</a:t>
            </a:r>
          </a:p>
          <a:p>
            <a:r>
              <a:rPr sz="1600" b="0">
                <a:solidFill>
                  <a:srgbClr val="5A6672"/>
                </a:solidFill>
                <a:latin typeface="Malgun Gothic"/>
              </a:rPr>
              <a:t>    –  GROUP BY hosp_id ORDER BY hosp_id 형태로 작성하게 된다</a:t>
            </a:r>
          </a:p>
          <a:p>
            <a:r>
              <a:rPr sz="1800" b="0">
                <a:solidFill>
                  <a:srgbClr val="202830"/>
                </a:solidFill>
                <a:latin typeface="Malgun Gothic"/>
              </a:rPr>
              <a:t>•  HASH GROUP BY로 처리된다면</a:t>
            </a:r>
          </a:p>
          <a:p>
            <a:r>
              <a:rPr sz="1600" b="0">
                <a:solidFill>
                  <a:srgbClr val="5A6672"/>
                </a:solidFill>
                <a:latin typeface="Malgun Gothic"/>
              </a:rPr>
              <a:t>    –  해시 기반 처리 특성상 결과가 hosp_id 순서로 나온다는 보장이 없다</a:t>
            </a:r>
          </a:p>
          <a:p>
            <a:r>
              <a:rPr sz="1600" b="0">
                <a:solidFill>
                  <a:srgbClr val="5A6672"/>
                </a:solidFill>
                <a:latin typeface="Malgun Gothic"/>
              </a:rPr>
              <a:t>    –  이론적으로는 별도의 SORT ORDER BY가 추가로 필요할 가능성이 높다</a:t>
            </a:r>
          </a:p>
          <a:p>
            <a:r>
              <a:rPr sz="1800" b="0">
                <a:solidFill>
                  <a:srgbClr val="202830"/>
                </a:solidFill>
                <a:latin typeface="Malgun Gothic"/>
              </a:rPr>
              <a:t>•  옵티마이저가 두 절이 같은 컬럼임을 인지한다면</a:t>
            </a:r>
          </a:p>
          <a:p>
            <a:r>
              <a:rPr sz="1600" b="0">
                <a:solidFill>
                  <a:srgbClr val="5A6672"/>
                </a:solidFill>
                <a:latin typeface="Malgun Gothic"/>
              </a:rPr>
              <a:t>    –  SORT GROUP BY를 선택해 그 정렬 결과를 ORDER BY 결과로 재사용할 수도 있다</a:t>
            </a:r>
          </a:p>
          <a:p>
            <a:r>
              <a:rPr sz="1800" b="0">
                <a:solidFill>
                  <a:srgbClr val="202830"/>
                </a:solidFill>
                <a:latin typeface="Malgun Gothic"/>
              </a:rPr>
              <a:t>•  어느 쪽이 선택될지는 데이터 규모·통계정보에 따른 비용 판단의 문제다</a:t>
            </a:r>
          </a:p>
          <a:p>
            <a:r>
              <a:rPr sz="1600" b="0">
                <a:solidFill>
                  <a:srgbClr val="5A6672"/>
                </a:solidFill>
                <a:latin typeface="Malgun Gothic"/>
              </a:rPr>
              <a:t>    –  단정하지 말고 실행계획으로 직접 확인한다</a:t>
            </a:r>
          </a:p>
        </p:txBody>
      </p:sp>
    </p:spTree>
    <p:extLst>
      <p:ext uri="{BB962C8B-B14F-4D97-AF65-F5344CB8AC3E}">
        <p14:creationId xmlns:p14="http://schemas.microsoft.com/office/powerpoint/2010/main" val="235381141"/>
      </p:ext>
    </p:extLst>
  </p:cSld>
  <p:clrMapOvr>
    <a:masterClrMapping/>
  </p:clrMapOvr>
</p:sld>
</file>

<file path=ppt/slides/slide5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실무 체크리스트</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집계 쿼리를 볼 때</a:t>
            </a:r>
          </a:p>
          <a:p>
            <a:r>
              <a:rPr sz="1600" b="0">
                <a:solidFill>
                  <a:srgbClr val="5A6672"/>
                </a:solidFill>
                <a:latin typeface="Malgun Gothic"/>
              </a:rPr>
              <a:t>    –  이 필터는 그룹 키에 대한 것인가, 집계 결과에 대한 것인가</a:t>
            </a:r>
          </a:p>
          <a:p>
            <a:r>
              <a:rPr sz="1600" b="0">
                <a:solidFill>
                  <a:srgbClr val="5A6672"/>
                </a:solidFill>
                <a:latin typeface="Malgun Gothic"/>
              </a:rPr>
              <a:t>    –  집계 결과에 대한 조건이라면 그룹화 이후에만 평가된다는 점을 감안했는가</a:t>
            </a:r>
          </a:p>
          <a:p>
            <a:r>
              <a:rPr sz="1800" b="0">
                <a:solidFill>
                  <a:srgbClr val="202830"/>
                </a:solidFill>
                <a:latin typeface="Malgun Gothic"/>
              </a:rPr>
              <a:t>•  정렬 쿼리를 볼 때</a:t>
            </a:r>
          </a:p>
          <a:p>
            <a:r>
              <a:rPr sz="1600" b="0">
                <a:solidFill>
                  <a:srgbClr val="5A6672"/>
                </a:solidFill>
                <a:latin typeface="Malgun Gothic"/>
              </a:rPr>
              <a:t>    –  정렬 대상 컬럼이 인덱스의 정렬 기준과 일치하는가</a:t>
            </a:r>
          </a:p>
          <a:p>
            <a:r>
              <a:rPr sz="1600" b="0">
                <a:solidFill>
                  <a:srgbClr val="5A6672"/>
                </a:solidFill>
                <a:latin typeface="Malgun Gothic"/>
              </a:rPr>
              <a:t>    –  그 인덱스가 이 쿼리의 접근 경로로 실제 채택됐는가</a:t>
            </a:r>
          </a:p>
          <a:p>
            <a:r>
              <a:rPr sz="1600" b="0">
                <a:solidFill>
                  <a:srgbClr val="5A6672"/>
                </a:solidFill>
                <a:latin typeface="Malgun Gothic"/>
              </a:rPr>
              <a:t>    –  실행계획에 SORT ORDER BY가 남아 있는가</a:t>
            </a:r>
          </a:p>
          <a:p>
            <a:r>
              <a:rPr sz="1800" b="0">
                <a:solidFill>
                  <a:srgbClr val="202830"/>
                </a:solidFill>
                <a:latin typeface="Malgun Gothic"/>
              </a:rPr>
              <a:t>•  비교할 때</a:t>
            </a:r>
          </a:p>
          <a:p>
            <a:r>
              <a:rPr sz="1600" b="0">
                <a:solidFill>
                  <a:srgbClr val="5A6672"/>
                </a:solidFill>
                <a:latin typeface="Malgun Gothic"/>
              </a:rPr>
              <a:t>    –  정렬 유무만이 아니라 테이블 접근 방식까지 함께 본다</a:t>
            </a:r>
          </a:p>
          <a:p>
            <a:r>
              <a:rPr sz="1600" b="0">
                <a:solidFill>
                  <a:srgbClr val="5A6672"/>
                </a:solidFill>
                <a:latin typeface="Malgun Gothic"/>
              </a:rPr>
              <a:t>    –  요인이 여럿이면 예측보다 실측을 우선한다</a:t>
            </a:r>
          </a:p>
        </p:txBody>
      </p:sp>
    </p:spTree>
    <p:extLst>
      <p:ext uri="{BB962C8B-B14F-4D97-AF65-F5344CB8AC3E}">
        <p14:creationId xmlns:p14="http://schemas.microsoft.com/office/powerpoint/2010/main" val="2318203248"/>
      </p:ext>
    </p:extLst>
  </p:cSld>
  <p:clrMapOvr>
    <a:masterClrMapping/>
  </p:clrMapOvr>
</p:sld>
</file>

<file path=ppt/slides/slide518.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107996"/>
          </a:xfrm>
          <a:prstGeom prst="rect">
            <a:avLst/>
          </a:prstGeom>
          <a:noFill/>
        </p:spPr>
        <p:txBody>
          <a:bodyPr wrap="square">
            <a:spAutoFit/>
          </a:bodyPr>
          <a:lstStyle/>
          <a:p>
            <a:r>
              <a:rPr sz="6600" b="1" dirty="0">
                <a:solidFill>
                  <a:srgbClr val="C0392B"/>
                </a:solidFill>
                <a:latin typeface="Malgun Gothic"/>
              </a:rPr>
              <a:t>1</a:t>
            </a:r>
            <a:r>
              <a:rPr lang="en-US" sz="6600" b="1" dirty="0">
                <a:solidFill>
                  <a:srgbClr val="C0392B"/>
                </a:solidFill>
                <a:latin typeface="Malgun Gothic"/>
              </a:rPr>
              <a:t>2</a:t>
            </a:r>
            <a:r>
              <a:rPr sz="6600" b="1" dirty="0">
                <a:solidFill>
                  <a:srgbClr val="C0392B"/>
                </a:solidFill>
                <a:latin typeface="Malgun Gothic"/>
              </a:rPr>
              <a:t>.7</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Benchmark &amp; Review</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네 시나리오 실측 요약</a:t>
            </a:r>
          </a:p>
          <a:p>
            <a:r>
              <a:rPr sz="1600" b="0">
                <a:solidFill>
                  <a:srgbClr val="C5CED6"/>
                </a:solidFill>
                <a:latin typeface="Malgun Gothic"/>
              </a:rPr>
              <a:t>•  관측 사실과 흔한 오해 정리</a:t>
            </a:r>
          </a:p>
          <a:p>
            <a:r>
              <a:rPr sz="1600" b="0">
                <a:solidFill>
                  <a:srgbClr val="C5CED6"/>
                </a:solidFill>
                <a:latin typeface="Malgun Gothic"/>
              </a:rPr>
              <a:t>•  이 장의 결론</a:t>
            </a:r>
          </a:p>
        </p:txBody>
      </p:sp>
    </p:spTree>
    <p:extLst>
      <p:ext uri="{BB962C8B-B14F-4D97-AF65-F5344CB8AC3E}">
        <p14:creationId xmlns:p14="http://schemas.microsoft.com/office/powerpoint/2010/main" val="2924411337"/>
      </p:ext>
    </p:extLst>
  </p:cSld>
  <p:clrMapOvr>
    <a:masterClrMapping/>
  </p:clrMapOvr>
</p:sld>
</file>

<file path=ppt/slides/slide5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Benchmark — 네 시나리오 실측 요약</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10.7절 Benchmark — 이번 장 전체 실측 결과</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a:t>
            </a:r>
          </a:p>
          <a:p>
            <a:r>
              <a:rPr sz="1250" b="0">
                <a:solidFill>
                  <a:srgbClr val="E6E6E6"/>
                </a:solidFill>
                <a:latin typeface="Consolas"/>
              </a:rPr>
              <a:t>| 시나리오                                      | Buffers | SORT 발생 여부                   |</a:t>
            </a:r>
          </a:p>
          <a:p>
            <a:r>
              <a:rPr sz="1250" b="0">
                <a:solidFill>
                  <a:srgbClr val="E6E6E6"/>
                </a:solidFill>
                <a:latin typeface="Consolas"/>
              </a:rPr>
              <a:t>+-----------------------------------------------+---------+----------------------------------+</a:t>
            </a:r>
          </a:p>
          <a:p>
            <a:r>
              <a:rPr sz="1250" b="0">
                <a:solidFill>
                  <a:srgbClr val="E6E6E6"/>
                </a:solidFill>
                <a:latin typeface="Consolas"/>
              </a:rPr>
              <a:t>| GROUP BY 키에 대한 필터 (Q1, Q2 — 위치 무관)  |   3,090 | HASH GROUP BY 발생 (정렬과 무관) |</a:t>
            </a:r>
          </a:p>
          <a:p>
            <a:r>
              <a:rPr sz="1250" b="0">
                <a:solidFill>
                  <a:srgbClr val="E6E6E6"/>
                </a:solidFill>
                <a:latin typeface="Consolas"/>
              </a:rPr>
              <a:t>| 넓은 범위 ORDER BY (8.5%, 두 컬럼 모두)       |   3,090 | SORT ORDER BY 발생               |</a:t>
            </a:r>
          </a:p>
          <a:p>
            <a:r>
              <a:rPr sz="1250" b="0">
                <a:solidFill>
                  <a:srgbClr val="E6E6E6"/>
                </a:solidFill>
                <a:latin typeface="Consolas"/>
              </a:rPr>
              <a:t>| 좁은 범위 ORDER BY, 인덱스 컬럼 (claim_id)    |     791 | SORT 생략됨                      |</a:t>
            </a:r>
          </a:p>
          <a:p>
            <a:r>
              <a:rPr sz="1250" b="0">
                <a:solidFill>
                  <a:srgbClr val="E6E6E6"/>
                </a:solidFill>
                <a:latin typeface="Consolas"/>
              </a:rPr>
              <a:t>| 좁은 범위 ORDER BY, 비인덱스 컬럼 (total_amt) |     731 | SORT ORDER BY 발생               |</a:t>
            </a:r>
          </a:p>
          <a:p>
            <a:r>
              <a:rPr sz="1250" b="0">
                <a:solidFill>
                  <a:srgbClr val="E6E6E6"/>
                </a:solidFill>
                <a:latin typeface="Consolas"/>
              </a:rPr>
              <a:t>+-----------------------------------------------+---------+----------------------------------+</a:t>
            </a:r>
          </a:p>
          <a:p>
            <a:r>
              <a:rPr sz="1250" b="0">
                <a:solidFill>
                  <a:srgbClr val="E6E6E6"/>
                </a:solidFill>
                <a:latin typeface="Consolas"/>
              </a:rPr>
              <a:t> </a:t>
            </a:r>
          </a:p>
          <a:p>
            <a:r>
              <a:rPr sz="1250" b="0">
                <a:solidFill>
                  <a:srgbClr val="7EC699"/>
                </a:solidFill>
                <a:latin typeface="Consolas"/>
              </a:rPr>
              <a:t>-- 1행: 필터 위치를 바꿔도 실행계획이 완전히 동일했다</a:t>
            </a:r>
          </a:p>
          <a:p>
            <a:r>
              <a:rPr sz="1250" b="0">
                <a:solidFill>
                  <a:srgbClr val="7EC699"/>
                </a:solidFill>
                <a:latin typeface="Consolas"/>
              </a:rPr>
              <a:t>-- 2행: 접근 경로가 Full Scan 이면 PK 컬럼 정렬도 생략되지 않는다</a:t>
            </a:r>
          </a:p>
          <a:p>
            <a:r>
              <a:rPr sz="1250" b="0">
                <a:solidFill>
                  <a:srgbClr val="7EC699"/>
                </a:solidFill>
                <a:latin typeface="Consolas"/>
              </a:rPr>
              <a:t>-- 3~4행: 같은 접근 경로에서도 정렬 기준 컬럼에 따라 결과가 갈린다</a:t>
            </a:r>
          </a:p>
        </p:txBody>
      </p:sp>
    </p:spTree>
    <p:extLst>
      <p:ext uri="{BB962C8B-B14F-4D97-AF65-F5344CB8AC3E}">
        <p14:creationId xmlns:p14="http://schemas.microsoft.com/office/powerpoint/2010/main" val="4204420502"/>
      </p:ext>
    </p:extLst>
  </p:cSld>
  <p:clrMapOvr>
    <a:masterClrMapping/>
  </p:clrMapOvr>
</p:sld>
</file>

<file path=ppt/slides/slide5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관측 사실과 흔한 오해 정리</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관측 1 — GROUP BY 필터 위치를 바꿔도 실행계획이 완전히 같았다</a:t>
            </a:r>
          </a:p>
          <a:p>
            <a:r>
              <a:rPr sz="1800" b="0">
                <a:solidFill>
                  <a:srgbClr val="202830"/>
                </a:solidFill>
                <a:latin typeface="Malgun Gothic"/>
              </a:rPr>
              <a:t>•  관측 2 — 같은 컬럼도 선택도에 따라 정렬 생략 여부가 달라졌다</a:t>
            </a:r>
          </a:p>
          <a:p>
            <a:r>
              <a:rPr sz="1800" b="0">
                <a:solidFill>
                  <a:srgbClr val="202830"/>
                </a:solidFill>
                <a:latin typeface="Malgun Gothic"/>
              </a:rPr>
              <a:t>•  오해 1 — '필터를 먼저 쓰지 않으면 손해다'</a:t>
            </a:r>
          </a:p>
          <a:p>
            <a:r>
              <a:rPr sz="1600" b="0">
                <a:solidFill>
                  <a:srgbClr val="5A6672"/>
                </a:solidFill>
                <a:latin typeface="Malgun Gothic"/>
              </a:rPr>
              <a:t>    –  그 필터가 그룹 키에 대한 것이라면 대체로 기우다</a:t>
            </a:r>
          </a:p>
          <a:p>
            <a:r>
              <a:rPr sz="1800" b="0">
                <a:solidFill>
                  <a:srgbClr val="202830"/>
                </a:solidFill>
                <a:latin typeface="Malgun Gothic"/>
              </a:rPr>
              <a:t>•  오해 2 — '인덱스 컬럼으로 정렬하면 정렬이 생략된다'</a:t>
            </a:r>
          </a:p>
          <a:p>
            <a:r>
              <a:rPr sz="1600" b="0">
                <a:solidFill>
                  <a:srgbClr val="5A6672"/>
                </a:solidFill>
                <a:latin typeface="Malgun Gothic"/>
              </a:rPr>
              <a:t>    –  그 인덱스가 접근 경로로 채택되어야 비로소 성립한다</a:t>
            </a:r>
          </a:p>
          <a:p>
            <a:r>
              <a:rPr sz="1800" b="0">
                <a:solidFill>
                  <a:srgbClr val="202830"/>
                </a:solidFill>
                <a:latin typeface="Malgun Gothic"/>
              </a:rPr>
              <a:t>•  오해 3 — '정렬이 없으면 항상 더 싸다'</a:t>
            </a:r>
          </a:p>
          <a:p>
            <a:r>
              <a:rPr sz="1600" b="0">
                <a:solidFill>
                  <a:srgbClr val="5A6672"/>
                </a:solidFill>
                <a:latin typeface="Malgun Gothic"/>
              </a:rPr>
              <a:t>    –  좁은 범위 사례의 Buffers 791 대 731이 반례다</a:t>
            </a:r>
          </a:p>
          <a:p>
            <a:r>
              <a:rPr sz="1800" b="0">
                <a:solidFill>
                  <a:srgbClr val="202830"/>
                </a:solidFill>
                <a:latin typeface="Malgun Gothic"/>
              </a:rPr>
              <a:t>•  오해 4 — 'GROUP BY 결과는 그룹 키 순서로 나온다'</a:t>
            </a:r>
          </a:p>
          <a:p>
            <a:r>
              <a:rPr sz="1600" b="0">
                <a:solidFill>
                  <a:srgbClr val="5A6672"/>
                </a:solidFill>
                <a:latin typeface="Malgun Gothic"/>
              </a:rPr>
              <a:t>    –  HASH GROUP BY는 결과 순서를 보장하지 않는다</a:t>
            </a:r>
          </a:p>
        </p:txBody>
      </p:sp>
    </p:spTree>
    <p:extLst>
      <p:ext uri="{BB962C8B-B14F-4D97-AF65-F5344CB8AC3E}">
        <p14:creationId xmlns:p14="http://schemas.microsoft.com/office/powerpoint/2010/main" val="3421389276"/>
      </p:ext>
    </p:extLst>
  </p:cSld>
  <p:clrMapOvr>
    <a:masterClrMapping/>
  </p:clrMapOvr>
</p:sld>
</file>

<file path=ppt/slides/slide5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요약 (Summary)</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WHERE 조건이 GROUP BY의 그룹 키 자체에 대한 것이면 옵티마이저가 그룹화 이전으로 밀어넣을 수 있다</a:t>
            </a:r>
          </a:p>
          <a:p>
            <a:r>
              <a:rPr sz="1800" b="0">
                <a:solidFill>
                  <a:srgbClr val="202830"/>
                </a:solidFill>
                <a:latin typeface="Malgun Gothic"/>
              </a:rPr>
              <a:t>•  그래서 필터를 SQL의 어디에 썼는지는 대체로 실행계획에 영향을 주지 않았다 — Plan hash value까지 동일</a:t>
            </a:r>
          </a:p>
          <a:p>
            <a:r>
              <a:rPr sz="1800" b="0">
                <a:solidFill>
                  <a:srgbClr val="202830"/>
                </a:solidFill>
                <a:latin typeface="Malgun Gothic"/>
              </a:rPr>
              <a:t>•  HAVING처럼 집계 결과에 거는 조건은 집계가 끝나야 값을 알 수 있어 밀어넣을 수 없다</a:t>
            </a:r>
          </a:p>
          <a:p>
            <a:r>
              <a:rPr sz="1800" b="0">
                <a:solidFill>
                  <a:srgbClr val="202830"/>
                </a:solidFill>
                <a:latin typeface="Malgun Gothic"/>
              </a:rPr>
              <a:t>•  판별 기준 한 문장 — 이 조건을 평가하는 데 집계 결과가 필요한가</a:t>
            </a:r>
          </a:p>
          <a:p>
            <a:r>
              <a:rPr sz="1800" b="0">
                <a:solidFill>
                  <a:srgbClr val="202830"/>
                </a:solidFill>
                <a:latin typeface="Malgun Gothic"/>
              </a:rPr>
              <a:t>•  ORDER BY 대상이 인덱스 컬럼이라는 것만으로는 정렬이 생략되지 않는다</a:t>
            </a:r>
          </a:p>
          <a:p>
            <a:r>
              <a:rPr sz="1800" b="0">
                <a:solidFill>
                  <a:srgbClr val="202830"/>
                </a:solidFill>
                <a:latin typeface="Malgun Gothic"/>
              </a:rPr>
              <a:t>•  정렬 생략의 두 조건 — 인덱스 정렬 기준과 일치할 것, 그 인덱스가 접근 경로로 채택될 것</a:t>
            </a:r>
          </a:p>
          <a:p>
            <a:r>
              <a:rPr sz="1800" b="0">
                <a:solidFill>
                  <a:srgbClr val="202830"/>
                </a:solidFill>
                <a:latin typeface="Malgun Gothic"/>
              </a:rPr>
              <a:t>•  같은 컬럼이라도 선택도에 따라 정렬 생략 여부가 달라진다 (ch05와 연결)</a:t>
            </a:r>
          </a:p>
          <a:p>
            <a:r>
              <a:rPr sz="1800" b="0">
                <a:solidFill>
                  <a:srgbClr val="202830"/>
                </a:solidFill>
                <a:latin typeface="Malgun Gothic"/>
              </a:rPr>
              <a:t>•  HASH GROUP BY는 정렬 순서로 생략되지 않는다 — 방식 변경만 가능한 연산이다</a:t>
            </a:r>
          </a:p>
        </p:txBody>
      </p:sp>
    </p:spTree>
    <p:extLst>
      <p:ext uri="{BB962C8B-B14F-4D97-AF65-F5344CB8AC3E}">
        <p14:creationId xmlns:p14="http://schemas.microsoft.com/office/powerpoint/2010/main" val="1579824202"/>
      </p:ext>
    </p:extLst>
  </p:cSld>
  <p:clrMapOvr>
    <a:masterClrMapping/>
  </p:clrMapOvr>
</p:sld>
</file>

<file path=ppt/slides/slide5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실습 안내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실습문제 10문항 — ch12_문제.md</a:t>
            </a:r>
          </a:p>
          <a:p>
            <a:r>
              <a:rPr sz="1600" b="0">
                <a:solidFill>
                  <a:srgbClr val="5A6672"/>
                </a:solidFill>
                <a:latin typeface="Malgun Gothic"/>
              </a:rPr>
              <a:t>    –  1~2번  Q1·Q2의 계획이 동일해진 이유와 Predicate Pushdown 서술</a:t>
            </a:r>
          </a:p>
          <a:p>
            <a:r>
              <a:rPr sz="1600" b="0">
                <a:solidFill>
                  <a:srgbClr val="5A6672"/>
                </a:solidFill>
                <a:latin typeface="Malgun Gothic"/>
              </a:rPr>
              <a:t>    –  3번  ch10 인라인 뷰 사례와의 차이 — 집계 결과 필터와 그룹 키 필터</a:t>
            </a:r>
          </a:p>
          <a:p>
            <a:r>
              <a:rPr sz="1600" b="0">
                <a:solidFill>
                  <a:srgbClr val="5A6672"/>
                </a:solidFill>
                <a:latin typeface="Malgun Gothic"/>
              </a:rPr>
              <a:t>    –  4~5번  넓은 범위와 좁은 범위에서 정렬 생략 여부가 갈린 이유</a:t>
            </a:r>
          </a:p>
          <a:p>
            <a:r>
              <a:rPr sz="1600" b="0">
                <a:solidFill>
                  <a:srgbClr val="5A6672"/>
                </a:solidFill>
                <a:latin typeface="Malgun Gothic"/>
              </a:rPr>
              <a:t>    –  6번  정렬 생략의 정확한 조건 서술</a:t>
            </a:r>
          </a:p>
          <a:p>
            <a:r>
              <a:rPr sz="1600" b="0">
                <a:solidFill>
                  <a:srgbClr val="5A6672"/>
                </a:solidFill>
                <a:latin typeface="Malgun Gothic"/>
              </a:rPr>
              <a:t>    –  7번  Buffers 776과 717의 역전이 시사하는 바</a:t>
            </a:r>
          </a:p>
          <a:p>
            <a:r>
              <a:rPr sz="1600" b="0">
                <a:solidFill>
                  <a:srgbClr val="5A6672"/>
                </a:solidFill>
                <a:latin typeface="Malgun Gothic"/>
              </a:rPr>
              <a:t>    –  8번  HASH GROUP BY가 정렬 순서로 생략될 수 있는 연산인지</a:t>
            </a:r>
          </a:p>
          <a:p>
            <a:r>
              <a:rPr sz="1600" b="0">
                <a:solidFill>
                  <a:srgbClr val="5A6672"/>
                </a:solidFill>
                <a:latin typeface="Malgun Gothic"/>
              </a:rPr>
              <a:t>    –  9번  GROUP BY + ORDER BY 조합에 대한 원칙 적용 추론</a:t>
            </a:r>
          </a:p>
          <a:p>
            <a:r>
              <a:rPr sz="1600" b="0">
                <a:solidFill>
                  <a:srgbClr val="5A6672"/>
                </a:solidFill>
                <a:latin typeface="Malgun Gothic"/>
              </a:rPr>
              <a:t>    –  10번  SQL의 겉모양보다 먼저 확인할 것에 대한 결론</a:t>
            </a:r>
          </a:p>
          <a:p>
            <a:r>
              <a:rPr sz="1800" b="0">
                <a:solidFill>
                  <a:srgbClr val="202830"/>
                </a:solidFill>
                <a:latin typeface="Malgun Gothic"/>
              </a:rPr>
              <a:t>•  실습 전 확인 — 이번 장은 DDL 변경이 없다</a:t>
            </a:r>
          </a:p>
          <a:p>
            <a:r>
              <a:rPr sz="1600" b="0">
                <a:solidFill>
                  <a:srgbClr val="5A6672"/>
                </a:solidFill>
                <a:latin typeface="Malgun Gothic"/>
              </a:rPr>
              <a:t>    –  인덱스를 추가로 만들면 교안의 실행계획이 재현되지 않는다</a:t>
            </a:r>
          </a:p>
        </p:txBody>
      </p:sp>
    </p:spTree>
    <p:extLst>
      <p:ext uri="{BB962C8B-B14F-4D97-AF65-F5344CB8AC3E}">
        <p14:creationId xmlns:p14="http://schemas.microsoft.com/office/powerpoint/2010/main" val="4152073662"/>
      </p:ext>
    </p:extLst>
  </p:cSld>
  <p:clrMapOvr>
    <a:masterClrMapping/>
  </p:clrMapOvr>
</p:sld>
</file>

<file path=ppt/slides/slide5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실무 SQL 문제와 SQL 부문 평가</a:t>
            </a:r>
          </a:p>
        </p:txBody>
      </p:sp>
      <p:sp>
        <p:nvSpPr>
          <p:cNvPr id="5" name="Rectangle 4"/>
          <p:cNvSpPr/>
          <p:nvPr/>
        </p:nvSpPr>
        <p:spPr>
          <a:xfrm>
            <a:off x="822960" y="4114800"/>
            <a:ext cx="5486400"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584775"/>
          </a:xfrm>
          <a:prstGeom prst="rect">
            <a:avLst/>
          </a:prstGeom>
          <a:noFill/>
        </p:spPr>
        <p:txBody>
          <a:bodyPr wrap="square">
            <a:spAutoFit/>
          </a:bodyPr>
          <a:lstStyle/>
          <a:p>
            <a:r>
              <a:rPr sz="1600" b="0" dirty="0">
                <a:solidFill>
                  <a:srgbClr val="FFFFFF"/>
                </a:solidFill>
                <a:latin typeface="맑은 고딕"/>
              </a:rPr>
              <a:t>•  SQLT ch13 · ch14 · </a:t>
            </a:r>
            <a:r>
              <a:rPr sz="1600" b="0" dirty="0" err="1">
                <a:solidFill>
                  <a:srgbClr val="FFFFFF"/>
                </a:solidFill>
                <a:latin typeface="맑은 고딕"/>
              </a:rPr>
              <a:t>심화</a:t>
            </a:r>
            <a:r>
              <a:rPr sz="1600" b="0" dirty="0">
                <a:solidFill>
                  <a:srgbClr val="FFFFFF"/>
                </a:solidFill>
                <a:latin typeface="맑은 고딕"/>
              </a:rPr>
              <a:t> 30제 V · </a:t>
            </a:r>
            <a:r>
              <a:rPr sz="1600" b="0" dirty="0" err="1">
                <a:solidFill>
                  <a:srgbClr val="FFFFFF"/>
                </a:solidFill>
                <a:latin typeface="맑은 고딕"/>
              </a:rPr>
              <a:t>최종실습시험</a:t>
            </a:r>
            <a:r>
              <a:rPr sz="1600" b="0" dirty="0">
                <a:solidFill>
                  <a:srgbClr val="FFFFFF"/>
                </a:solidFill>
                <a:latin typeface="맑은 고딕"/>
              </a:rPr>
              <a:t> 03·04</a:t>
            </a:r>
          </a:p>
          <a:p>
            <a:r>
              <a:rPr sz="1600" b="0" dirty="0">
                <a:solidFill>
                  <a:srgbClr val="FFFFFF"/>
                </a:solidFill>
                <a:latin typeface="맑은 고딕"/>
              </a:rPr>
              <a:t>•  </a:t>
            </a:r>
            <a:r>
              <a:rPr lang="ko-KR" altLang="en-US" sz="1600" b="0" dirty="0">
                <a:solidFill>
                  <a:srgbClr val="FFFFFF"/>
                </a:solidFill>
                <a:latin typeface="맑은 고딕"/>
              </a:rPr>
              <a:t>평가 </a:t>
            </a:r>
            <a:r>
              <a:rPr lang="en-US" altLang="ko-KR" sz="1600" b="0" dirty="0">
                <a:solidFill>
                  <a:srgbClr val="FFFFFF"/>
                </a:solidFill>
                <a:latin typeface="맑은 고딕"/>
              </a:rPr>
              <a:t>40</a:t>
            </a:r>
            <a:r>
              <a:rPr sz="1600" b="0" dirty="0">
                <a:solidFill>
                  <a:srgbClr val="FFFFFF"/>
                </a:solidFill>
                <a:latin typeface="맑은 고딕"/>
              </a:rPr>
              <a:t>%. </a:t>
            </a:r>
            <a:r>
              <a:rPr sz="1600" b="0" dirty="0" err="1">
                <a:solidFill>
                  <a:srgbClr val="FFFFFF"/>
                </a:solidFill>
                <a:latin typeface="맑은 고딕"/>
              </a:rPr>
              <a:t>종료</a:t>
            </a:r>
            <a:r>
              <a:rPr sz="1600" b="0" dirty="0">
                <a:solidFill>
                  <a:srgbClr val="FFFFFF"/>
                </a:solidFill>
                <a:latin typeface="맑은 고딕"/>
              </a:rPr>
              <a:t> 시 </a:t>
            </a:r>
            <a:r>
              <a:rPr sz="1600" b="0" dirty="0" err="1">
                <a:solidFill>
                  <a:srgbClr val="FFFFFF"/>
                </a:solidFill>
                <a:latin typeface="맑은 고딕"/>
              </a:rPr>
              <a:t>인덱스</a:t>
            </a:r>
            <a:r>
              <a:rPr sz="1600" b="0" dirty="0">
                <a:solidFill>
                  <a:srgbClr val="FFFFFF"/>
                </a:solidFill>
                <a:latin typeface="맑은 고딕"/>
              </a:rPr>
              <a:t> </a:t>
            </a:r>
            <a:r>
              <a:rPr sz="1600" b="0" dirty="0" err="1">
                <a:solidFill>
                  <a:srgbClr val="FFFFFF"/>
                </a:solidFill>
                <a:latin typeface="맑은 고딕"/>
              </a:rPr>
              <a:t>원복</a:t>
            </a:r>
            <a:r>
              <a:rPr sz="1600" b="0" dirty="0">
                <a:solidFill>
                  <a:srgbClr val="FFFFFF"/>
                </a:solidFill>
                <a:latin typeface="맑은 고딕"/>
              </a:rPr>
              <a:t> </a:t>
            </a:r>
            <a:r>
              <a:rPr sz="1600" b="0" dirty="0" err="1">
                <a:solidFill>
                  <a:srgbClr val="FFFFFF"/>
                </a:solidFill>
                <a:latin typeface="맑은 고딕"/>
              </a:rPr>
              <a:t>확인</a:t>
            </a:r>
            <a:endParaRPr sz="1600" b="0" dirty="0">
              <a:solidFill>
                <a:srgbClr val="FFFFFF"/>
              </a:solidFill>
              <a:latin typeface="맑은 고딕"/>
            </a:endParaRPr>
          </a:p>
        </p:txBody>
      </p:sp>
    </p:spTree>
  </p:cSld>
  <p:clrMapOvr>
    <a:masterClrMapping/>
  </p:clrMapOvr>
</p:sld>
</file>

<file path=ppt/slides/slide524.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Rectangle 1"/>
          <p:cNvSpPr/>
          <p:nvPr/>
        </p:nvSpPr>
        <p:spPr>
          <a:xfrm>
            <a:off x="822960" y="2331720"/>
            <a:ext cx="164592"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88720" y="1463040"/>
            <a:ext cx="10058400" cy="369332"/>
          </a:xfrm>
          <a:prstGeom prst="rect">
            <a:avLst/>
          </a:prstGeom>
          <a:noFill/>
        </p:spPr>
        <p:txBody>
          <a:bodyPr wrap="square">
            <a:spAutoFit/>
          </a:bodyPr>
          <a:lstStyle/>
          <a:p>
            <a:r>
              <a:rPr sz="1800" b="1">
                <a:solidFill>
                  <a:srgbClr val="C0392B"/>
                </a:solidFill>
                <a:latin typeface="Malgun Gothic"/>
              </a:rPr>
              <a:t>Oracle SQL 튜닝 과정  ·  ch13</a:t>
            </a:r>
          </a:p>
        </p:txBody>
      </p:sp>
      <p:sp>
        <p:nvSpPr>
          <p:cNvPr id="4" name="TextBox 3"/>
          <p:cNvSpPr txBox="1"/>
          <p:nvPr/>
        </p:nvSpPr>
        <p:spPr>
          <a:xfrm>
            <a:off x="1188720" y="2194560"/>
            <a:ext cx="10332720" cy="2011680"/>
          </a:xfrm>
          <a:prstGeom prst="rect">
            <a:avLst/>
          </a:prstGeom>
          <a:noFill/>
        </p:spPr>
        <p:txBody>
          <a:bodyPr wrap="square">
            <a:spAutoFit/>
          </a:bodyPr>
          <a:lstStyle/>
          <a:p>
            <a:r>
              <a:rPr sz="4400" b="1">
                <a:solidFill>
                  <a:srgbClr val="FFFFFF"/>
                </a:solidFill>
                <a:latin typeface="Malgun Gothic"/>
              </a:rPr>
              <a:t>페이징 SQL 튜닝</a:t>
            </a:r>
          </a:p>
        </p:txBody>
      </p:sp>
      <p:sp>
        <p:nvSpPr>
          <p:cNvPr id="5" name="TextBox 4"/>
          <p:cNvSpPr txBox="1"/>
          <p:nvPr/>
        </p:nvSpPr>
        <p:spPr>
          <a:xfrm>
            <a:off x="1188720" y="4297680"/>
            <a:ext cx="10058400" cy="1097280"/>
          </a:xfrm>
          <a:prstGeom prst="rect">
            <a:avLst/>
          </a:prstGeom>
          <a:noFill/>
        </p:spPr>
        <p:txBody>
          <a:bodyPr wrap="square">
            <a:spAutoFit/>
          </a:bodyPr>
          <a:lstStyle/>
          <a:p>
            <a:r>
              <a:rPr sz="1800" b="0">
                <a:solidFill>
                  <a:srgbClr val="C5CED6"/>
                </a:solidFill>
                <a:latin typeface="Malgun Gothic"/>
              </a:rPr>
              <a:t>부분범위 처리 · ROWNUM 중첩 뷰와 FETCH FIRST · WINDOW SORT PUSHED RANK vs NOSORT STOPKEY · Keyset Pagination</a:t>
            </a:r>
          </a:p>
        </p:txBody>
      </p:sp>
    </p:spTree>
    <p:extLst>
      <p:ext uri="{BB962C8B-B14F-4D97-AF65-F5344CB8AC3E}">
        <p14:creationId xmlns:p14="http://schemas.microsoft.com/office/powerpoint/2010/main" val="4293180757"/>
      </p:ext>
    </p:extLst>
  </p:cSld>
  <p:clrMapOvr>
    <a:masterClrMapping/>
  </p:clrMapOvr>
</p:sld>
</file>

<file path=ppt/slides/slide5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학습 목표 (Objectives)</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 장을 마치면 다음을 수행할 수 있어야 한다.</a:t>
            </a:r>
          </a:p>
          <a:p>
            <a:r>
              <a:rPr sz="1600" b="0">
                <a:solidFill>
                  <a:srgbClr val="5A6672"/>
                </a:solidFill>
                <a:latin typeface="Malgun Gothic"/>
              </a:rPr>
              <a:t>    –  부분범위 처리의 개념을 정의하고 전체범위 처리와 구분해 설명한다</a:t>
            </a:r>
          </a:p>
          <a:p>
            <a:r>
              <a:rPr sz="1600" b="0">
                <a:solidFill>
                  <a:srgbClr val="5A6672"/>
                </a:solidFill>
                <a:latin typeface="Malgun Gothic"/>
              </a:rPr>
              <a:t>    –  OFFSET n ROWS FETCH NEXT m ROWS ONLY 구문의 동작을 설명한다</a:t>
            </a:r>
          </a:p>
          <a:p>
            <a:r>
              <a:rPr sz="1600" b="0">
                <a:solidFill>
                  <a:srgbClr val="5A6672"/>
                </a:solidFill>
                <a:latin typeface="Malgun Gothic"/>
              </a:rPr>
              <a:t>    –  ROWNUM 중첩 인라인 뷰 방식의 페이징 SQL 구조를 읽고 작성한다</a:t>
            </a:r>
          </a:p>
          <a:p>
            <a:r>
              <a:rPr sz="1600" b="0">
                <a:solidFill>
                  <a:srgbClr val="5A6672"/>
                </a:solidFill>
                <a:latin typeface="Malgun Gothic"/>
              </a:rPr>
              <a:t>    –  OFFSET 쿼리가 내부적으로 ROW_NUMBER()로 변환되는 과정을 설명한다</a:t>
            </a:r>
          </a:p>
          <a:p>
            <a:r>
              <a:rPr sz="1600" b="0">
                <a:solidFill>
                  <a:srgbClr val="5A6672"/>
                </a:solidFill>
                <a:latin typeface="Malgun Gothic"/>
              </a:rPr>
              <a:t>    –  WINDOW SORT PUSHED RANK와 WINDOW NOSORT STOPKEY를 구분해 읽는다</a:t>
            </a:r>
          </a:p>
          <a:p>
            <a:r>
              <a:rPr sz="1600" b="0">
                <a:solidFill>
                  <a:srgbClr val="5A6672"/>
                </a:solidFill>
                <a:latin typeface="Malgun Gothic"/>
              </a:rPr>
              <a:t>    –  OFFSET이 깊어질 때 Buffers는 그대로인데 A-Time이 늘어나는 이유를 말한다</a:t>
            </a:r>
          </a:p>
          <a:p>
            <a:r>
              <a:rPr sz="1600" b="0">
                <a:solidFill>
                  <a:srgbClr val="5A6672"/>
                </a:solidFill>
                <a:latin typeface="Malgun Gothic"/>
              </a:rPr>
              <a:t>    –  정렬 작업 메모리(OMem·1Mem·Used-Mem)를 성능 판단 근거로 함께 확인한다</a:t>
            </a:r>
          </a:p>
          <a:p>
            <a:r>
              <a:rPr sz="1600" b="0">
                <a:solidFill>
                  <a:srgbClr val="5A6672"/>
                </a:solidFill>
                <a:latin typeface="Malgun Gothic"/>
              </a:rPr>
              <a:t>    –  Keyset Pagination의 SQL을 작성하고 실행계획으로 효과를 확인한다</a:t>
            </a:r>
          </a:p>
          <a:p>
            <a:r>
              <a:rPr sz="1600" b="0">
                <a:solidFill>
                  <a:srgbClr val="5A6672"/>
                </a:solidFill>
                <a:latin typeface="Malgun Gothic"/>
              </a:rPr>
              <a:t>    –  INDEX RANGE SCAN DESCENDING이 가능한 구조적 이유를 설명한다</a:t>
            </a:r>
          </a:p>
          <a:p>
            <a:r>
              <a:rPr sz="1600" b="0">
                <a:solidFill>
                  <a:srgbClr val="5A6672"/>
                </a:solidFill>
                <a:latin typeface="Malgun Gothic"/>
              </a:rPr>
              <a:t>    –  Keyset 방식의 제약을 UI 요구사항과 연결해 적용 여부를 판단한다</a:t>
            </a:r>
          </a:p>
        </p:txBody>
      </p:sp>
    </p:spTree>
    <p:extLst>
      <p:ext uri="{BB962C8B-B14F-4D97-AF65-F5344CB8AC3E}">
        <p14:creationId xmlns:p14="http://schemas.microsoft.com/office/powerpoint/2010/main" val="3979045763"/>
      </p:ext>
    </p:extLst>
  </p:cSld>
  <p:clrMapOvr>
    <a:masterClrMapping/>
  </p:clrMapOvr>
</p:sld>
</file>

<file path=ppt/slides/slide5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장의 구성 (Agenda)</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11.1  Why — 뒷페이지로 갈수록 느려지는 화면</a:t>
            </a:r>
          </a:p>
          <a:p>
            <a:r>
              <a:rPr sz="1800" b="0">
                <a:solidFill>
                  <a:srgbClr val="202830"/>
                </a:solidFill>
                <a:latin typeface="Malgun Gothic"/>
              </a:rPr>
              <a:t>•  11.2  Concept — OFFSET/FETCH · ROWNUM · Keyset Pagination</a:t>
            </a:r>
          </a:p>
          <a:p>
            <a:r>
              <a:rPr sz="1800" b="0">
                <a:solidFill>
                  <a:srgbClr val="202830"/>
                </a:solidFill>
                <a:latin typeface="Malgun Gothic"/>
              </a:rPr>
              <a:t>•  11.3  Oracle Internals — OFFSET이 깊어지면 왜 느려지는가</a:t>
            </a:r>
          </a:p>
          <a:p>
            <a:r>
              <a:rPr sz="1800" b="0">
                <a:solidFill>
                  <a:srgbClr val="202830"/>
                </a:solidFill>
                <a:latin typeface="Malgun Gothic"/>
              </a:rPr>
              <a:t>•  11.4  Example — 청구 목록을 접수일 내림차순으로 페이징</a:t>
            </a:r>
          </a:p>
          <a:p>
            <a:r>
              <a:rPr sz="1800" b="0">
                <a:solidFill>
                  <a:srgbClr val="202830"/>
                </a:solidFill>
                <a:latin typeface="Malgun Gothic"/>
              </a:rPr>
              <a:t>•  11.5  Execution Plan — OFFSET 깊이에 따른 실측</a:t>
            </a:r>
          </a:p>
          <a:p>
            <a:r>
              <a:rPr sz="1800" b="0">
                <a:solidFill>
                  <a:srgbClr val="202830"/>
                </a:solidFill>
                <a:latin typeface="Malgun Gothic"/>
              </a:rPr>
              <a:t>•  11.6  Bad SQL — Keyset 방식과의 실행계획 비교</a:t>
            </a:r>
          </a:p>
          <a:p>
            <a:r>
              <a:rPr sz="1800" b="0">
                <a:solidFill>
                  <a:srgbClr val="202830"/>
                </a:solidFill>
                <a:latin typeface="Malgun Gothic"/>
              </a:rPr>
              <a:t>•  11.7  Tuning · Benchmark — Keyset의 제약과 절충안</a:t>
            </a:r>
          </a:p>
          <a:p>
            <a:r>
              <a:rPr sz="1800" b="0">
                <a:solidFill>
                  <a:srgbClr val="202830"/>
                </a:solidFill>
                <a:latin typeface="Malgun Gothic"/>
              </a:rPr>
              <a:t>•  11.8~11.9  실습 안내 · 요약 (Review)</a:t>
            </a:r>
          </a:p>
        </p:txBody>
      </p:sp>
    </p:spTree>
    <p:extLst>
      <p:ext uri="{BB962C8B-B14F-4D97-AF65-F5344CB8AC3E}">
        <p14:creationId xmlns:p14="http://schemas.microsoft.com/office/powerpoint/2010/main" val="1525160483"/>
      </p:ext>
    </p:extLst>
  </p:cSld>
  <p:clrMapOvr>
    <a:masterClrMapping/>
  </p:clrMapOvr>
</p:sld>
</file>

<file path=ppt/slides/slide527.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107996"/>
          </a:xfrm>
          <a:prstGeom prst="rect">
            <a:avLst/>
          </a:prstGeom>
          <a:noFill/>
        </p:spPr>
        <p:txBody>
          <a:bodyPr wrap="square">
            <a:spAutoFit/>
          </a:bodyPr>
          <a:lstStyle/>
          <a:p>
            <a:r>
              <a:rPr sz="6600" b="1" dirty="0">
                <a:solidFill>
                  <a:srgbClr val="C0392B"/>
                </a:solidFill>
                <a:latin typeface="Malgun Gothic"/>
              </a:rPr>
              <a:t>1</a:t>
            </a:r>
            <a:r>
              <a:rPr lang="en-US" sz="6600" b="1" dirty="0">
                <a:solidFill>
                  <a:srgbClr val="C0392B"/>
                </a:solidFill>
                <a:latin typeface="Malgun Gothic"/>
              </a:rPr>
              <a:t>3</a:t>
            </a:r>
            <a:r>
              <a:rPr sz="6600" b="1" dirty="0">
                <a:solidFill>
                  <a:srgbClr val="C0392B"/>
                </a:solidFill>
                <a:latin typeface="Malgun Gothic"/>
              </a:rPr>
              <a:t>.1</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뒷페이지로 갈수록 느려지는 화면</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리스트·게시판 화면에서 흔한 성능 민원</a:t>
            </a:r>
          </a:p>
          <a:p>
            <a:r>
              <a:rPr sz="1600" b="0">
                <a:solidFill>
                  <a:srgbClr val="C5CED6"/>
                </a:solidFill>
                <a:latin typeface="Malgun Gothic"/>
              </a:rPr>
              <a:t>•  1페이지는 빠른데 뒤로 갈수록 느려진다</a:t>
            </a:r>
          </a:p>
          <a:p>
            <a:r>
              <a:rPr sz="1600" b="0">
                <a:solidFill>
                  <a:srgbClr val="C5CED6"/>
                </a:solidFill>
                <a:latin typeface="Malgun Gothic"/>
              </a:rPr>
              <a:t>•  이 차시의 목표와 관찰 소재</a:t>
            </a:r>
          </a:p>
        </p:txBody>
      </p:sp>
    </p:spTree>
    <p:extLst>
      <p:ext uri="{BB962C8B-B14F-4D97-AF65-F5344CB8AC3E}">
        <p14:creationId xmlns:p14="http://schemas.microsoft.com/office/powerpoint/2010/main" val="157792681"/>
      </p:ext>
    </p:extLst>
  </p:cSld>
  <p:clrMapOvr>
    <a:masterClrMapping/>
  </p:clrMapOvr>
</p:sld>
</file>

<file path=ppt/slides/slide5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현장에서 반복되는 민원</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"1페이지는 빠른데 뒷페이지로 갈수록 느려진다"</a:t>
            </a:r>
          </a:p>
          <a:p>
            <a:r>
              <a:rPr sz="1600" b="0">
                <a:solidFill>
                  <a:srgbClr val="5A6672"/>
                </a:solidFill>
                <a:latin typeface="Malgun Gothic"/>
              </a:rPr>
              <a:t>    –  리스트·게시판·검색 결과 화면에서 매우 흔하게 발생하는 문제</a:t>
            </a:r>
          </a:p>
          <a:p>
            <a:r>
              <a:rPr sz="1600" b="0">
                <a:solidFill>
                  <a:srgbClr val="5A6672"/>
                </a:solidFill>
                <a:latin typeface="Malgun Gothic"/>
              </a:rPr>
              <a:t>    –  개발 단계에서는 대개 1~2페이지만 확인하므로 발견되지 않는다</a:t>
            </a:r>
          </a:p>
          <a:p>
            <a:r>
              <a:rPr sz="1800" b="0">
                <a:solidFill>
                  <a:srgbClr val="202830"/>
                </a:solidFill>
                <a:latin typeface="Malgun Gothic"/>
              </a:rPr>
              <a:t>•  민원이 애매하게 보고되는 이유</a:t>
            </a:r>
          </a:p>
          <a:p>
            <a:r>
              <a:rPr sz="1600" b="0">
                <a:solidFill>
                  <a:srgbClr val="5A6672"/>
                </a:solidFill>
                <a:latin typeface="Malgun Gothic"/>
              </a:rPr>
              <a:t>    –  같은 SQL, 같은 화면인데 바인드 값 하나만 다르므로 재현이 어렵다</a:t>
            </a:r>
          </a:p>
          <a:p>
            <a:r>
              <a:rPr sz="1600" b="0">
                <a:solidFill>
                  <a:srgbClr val="5A6672"/>
                </a:solidFill>
                <a:latin typeface="Malgun Gothic"/>
              </a:rPr>
              <a:t>    –  "가끔 느리다"로 접수되어 서버 부하나 네트워크 탓으로 오진되기 쉽다</a:t>
            </a:r>
          </a:p>
          <a:p>
            <a:r>
              <a:rPr sz="1800" b="0">
                <a:solidFill>
                  <a:srgbClr val="202830"/>
                </a:solidFill>
                <a:latin typeface="Malgun Gothic"/>
              </a:rPr>
              <a:t>•  이 장은 이 현상을 실측으로 특정한다</a:t>
            </a:r>
          </a:p>
          <a:p>
            <a:r>
              <a:rPr sz="1600" b="0">
                <a:solidFill>
                  <a:srgbClr val="5A6672"/>
                </a:solidFill>
                <a:latin typeface="Malgun Gothic"/>
              </a:rPr>
              <a:t>    –  왜 깊은 페이지에서만 느려지는지를 실행계획 오퍼레이션 단위로 확인</a:t>
            </a:r>
          </a:p>
          <a:p>
            <a:r>
              <a:rPr sz="1600" b="0">
                <a:solidFill>
                  <a:srgbClr val="5A6672"/>
                </a:solidFill>
                <a:latin typeface="Malgun Gothic"/>
              </a:rPr>
              <a:t>    –  OFFSET 깊이가 늘어도 비용이 거의 늘지 않는 대안까지 함께 확인</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이 장의 모든 실행계획·A-Time·Buffers·작업 메모리 값은 진료비청구심사 실습 DB에서 직접 캡처한 실측값이다.</a:t>
            </a:r>
          </a:p>
        </p:txBody>
      </p:sp>
    </p:spTree>
    <p:extLst>
      <p:ext uri="{BB962C8B-B14F-4D97-AF65-F5344CB8AC3E}">
        <p14:creationId xmlns:p14="http://schemas.microsoft.com/office/powerpoint/2010/main" val="493858223"/>
      </p:ext>
    </p:extLst>
  </p:cSld>
  <p:clrMapOvr>
    <a:masterClrMapping/>
  </p:clrMapOvr>
</p:sld>
</file>

<file path=ppt/slides/slide5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차시의 목표와 관찰 소재</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목표 ① 현상의 원인을 실측으로 확인한다</a:t>
            </a:r>
          </a:p>
          <a:p>
            <a:r>
              <a:rPr sz="1600" b="0">
                <a:solidFill>
                  <a:srgbClr val="5A6672"/>
                </a:solidFill>
                <a:latin typeface="Malgun Gothic"/>
              </a:rPr>
              <a:t>    –  깊은 페이지에서 비싸지는 비용이 정확히 어느 오퍼레이션에서 발생하는지</a:t>
            </a:r>
          </a:p>
          <a:p>
            <a:r>
              <a:rPr sz="1600" b="0">
                <a:solidFill>
                  <a:srgbClr val="5A6672"/>
                </a:solidFill>
                <a:latin typeface="Malgun Gothic"/>
              </a:rPr>
              <a:t>    –  그 비용이 실행계획의 어느 컬럼에 나타나고 어느 컬럼에는 안 나타나는지</a:t>
            </a:r>
          </a:p>
          <a:p>
            <a:r>
              <a:rPr sz="1800" b="0">
                <a:solidFill>
                  <a:srgbClr val="202830"/>
                </a:solidFill>
                <a:latin typeface="Malgun Gothic"/>
              </a:rPr>
              <a:t>•  목표 ② OFFSET 깊이와 무관한 대안을 확인한다</a:t>
            </a:r>
          </a:p>
          <a:p>
            <a:r>
              <a:rPr sz="1600" b="0">
                <a:solidFill>
                  <a:srgbClr val="5A6672"/>
                </a:solidFill>
                <a:latin typeface="Malgun Gothic"/>
              </a:rPr>
              <a:t>    –  Keyset Pagination — 마지막으로 본 값을 기준으로 다음 페이지를 가져오는 방식</a:t>
            </a:r>
          </a:p>
          <a:p>
            <a:r>
              <a:rPr sz="1800" b="0">
                <a:solidFill>
                  <a:srgbClr val="202830"/>
                </a:solidFill>
                <a:latin typeface="Malgun Gothic"/>
              </a:rPr>
              <a:t>•  관찰 소재</a:t>
            </a:r>
          </a:p>
          <a:p>
            <a:r>
              <a:rPr sz="1600" b="0">
                <a:solidFill>
                  <a:srgbClr val="5A6672"/>
                </a:solidFill>
                <a:latin typeface="Malgun Gothic"/>
              </a:rPr>
              <a:t>    –  청구 목록을 접수일 내림차순으로 20건씩 페이징 조회</a:t>
            </a:r>
          </a:p>
          <a:p>
            <a:r>
              <a:rPr sz="1600" b="0">
                <a:solidFill>
                  <a:srgbClr val="5A6672"/>
                </a:solidFill>
                <a:latin typeface="Malgun Gothic"/>
              </a:rPr>
              <a:t>    –  MEDICAL_CLAIMS 테이블, 정렬 기준 컬럼은 receipt_date</a:t>
            </a:r>
          </a:p>
          <a:p>
            <a:r>
              <a:rPr sz="1600" b="0">
                <a:solidFill>
                  <a:srgbClr val="5A6672"/>
                </a:solidFill>
                <a:latin typeface="Malgun Gothic"/>
              </a:rPr>
              <a:t>    –  같은 요구사항을 OFFSET 방식과 Keyset 방식 두 가지로 작성해 비교</a:t>
            </a:r>
          </a:p>
          <a:p>
            <a:r>
              <a:rPr sz="1800" b="0">
                <a:solidFill>
                  <a:srgbClr val="202830"/>
                </a:solidFill>
                <a:latin typeface="Malgun Gothic"/>
              </a:rPr>
              <a:t>•  이번 차시는 실습용 인덱스를 만들었다가 종료 시 원상복구한다</a:t>
            </a:r>
          </a:p>
        </p:txBody>
      </p:sp>
    </p:spTree>
    <p:extLst>
      <p:ext uri="{BB962C8B-B14F-4D97-AF65-F5344CB8AC3E}">
        <p14:creationId xmlns:p14="http://schemas.microsoft.com/office/powerpoint/2010/main" val="4211795144"/>
      </p:ext>
    </p:extLst>
  </p:cSld>
  <p:clrMapOvr>
    <a:masterClrMapping/>
  </p:clrMapOvr>
</p:sld>
</file>

<file path=ppt/slides/slide530.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107996"/>
          </a:xfrm>
          <a:prstGeom prst="rect">
            <a:avLst/>
          </a:prstGeom>
          <a:noFill/>
        </p:spPr>
        <p:txBody>
          <a:bodyPr wrap="square">
            <a:spAutoFit/>
          </a:bodyPr>
          <a:lstStyle/>
          <a:p>
            <a:r>
              <a:rPr sz="6600" b="1" dirty="0">
                <a:solidFill>
                  <a:srgbClr val="C0392B"/>
                </a:solidFill>
                <a:latin typeface="Malgun Gothic"/>
              </a:rPr>
              <a:t>1</a:t>
            </a:r>
            <a:r>
              <a:rPr lang="en-US" sz="6600" b="1" dirty="0">
                <a:solidFill>
                  <a:srgbClr val="C0392B"/>
                </a:solidFill>
                <a:latin typeface="Malgun Gothic"/>
              </a:rPr>
              <a:t>3</a:t>
            </a:r>
            <a:r>
              <a:rPr sz="6600" b="1" dirty="0">
                <a:solidFill>
                  <a:srgbClr val="C0392B"/>
                </a:solidFill>
                <a:latin typeface="Malgun Gothic"/>
              </a:rPr>
              <a:t>.2</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OFFSET/FETCH · ROWNUM · Keyset</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OFFSET n ROWS FETCH NEXT m ROWS ONLY</a:t>
            </a:r>
          </a:p>
          <a:p>
            <a:r>
              <a:rPr sz="1600" b="0">
                <a:solidFill>
                  <a:srgbClr val="C5CED6"/>
                </a:solidFill>
                <a:latin typeface="Malgun Gothic"/>
              </a:rPr>
              <a:t>•  ROWNUM 중첩 인라인 뷰 — 전통적 방법</a:t>
            </a:r>
          </a:p>
          <a:p>
            <a:r>
              <a:rPr sz="1600" b="0">
                <a:solidFill>
                  <a:srgbClr val="C5CED6"/>
                </a:solidFill>
                <a:latin typeface="Malgun Gothic"/>
              </a:rPr>
              <a:t>•  Keyset Pagination — 값으로 접근하는 방식</a:t>
            </a:r>
          </a:p>
        </p:txBody>
      </p:sp>
    </p:spTree>
    <p:extLst>
      <p:ext uri="{BB962C8B-B14F-4D97-AF65-F5344CB8AC3E}">
        <p14:creationId xmlns:p14="http://schemas.microsoft.com/office/powerpoint/2010/main" val="2863746119"/>
      </p:ext>
    </p:extLst>
  </p:cSld>
  <p:clrMapOvr>
    <a:masterClrMapping/>
  </p:clrMapOvr>
</p:sld>
</file>

<file path=ppt/slides/slide5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OFFSET / FETCH 구문</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OFFSET n ROWS FETCH NEXT m ROWS ONLY</a:t>
            </a:r>
          </a:p>
          <a:p>
            <a:r>
              <a:rPr sz="1600" b="0">
                <a:solidFill>
                  <a:srgbClr val="5A6672"/>
                </a:solidFill>
                <a:latin typeface="Malgun Gothic"/>
              </a:rPr>
              <a:t>    –  정렬된 결과에서 앞의 n건을 건너뛰고 그다음 m건을 가져온다</a:t>
            </a:r>
          </a:p>
          <a:p>
            <a:r>
              <a:rPr sz="1600" b="0">
                <a:solidFill>
                  <a:srgbClr val="5A6672"/>
                </a:solidFill>
                <a:latin typeface="Malgun Gothic"/>
              </a:rPr>
              <a:t>    –  ORDER BY 뒤에 붙이며, 정렬 순서가 정해져야 "몇 번째"가 의미를 가진다</a:t>
            </a:r>
          </a:p>
          <a:p>
            <a:r>
              <a:rPr sz="1800" b="0">
                <a:solidFill>
                  <a:srgbClr val="202830"/>
                </a:solidFill>
                <a:latin typeface="Malgun Gothic"/>
              </a:rPr>
              <a:t>•  페이지 번호와의 매핑이 직관적이다</a:t>
            </a:r>
          </a:p>
          <a:p>
            <a:r>
              <a:rPr sz="1600" b="0">
                <a:solidFill>
                  <a:srgbClr val="5A6672"/>
                </a:solidFill>
                <a:latin typeface="Malgun Gothic"/>
              </a:rPr>
              <a:t>    –  한 페이지 m건이면 p페이지의 OFFSET은 (p-1) * m</a:t>
            </a:r>
          </a:p>
          <a:p>
            <a:r>
              <a:rPr sz="1600" b="0">
                <a:solidFill>
                  <a:srgbClr val="5A6672"/>
                </a:solidFill>
                <a:latin typeface="Malgun Gothic"/>
              </a:rPr>
              <a:t>    –  화면의 페이지 번호를 그대로 바인드 변수로 넘길 수 있다</a:t>
            </a:r>
          </a:p>
          <a:p>
            <a:r>
              <a:rPr sz="1800" b="0">
                <a:solidFill>
                  <a:srgbClr val="202830"/>
                </a:solidFill>
                <a:latin typeface="Malgun Gothic"/>
              </a:rPr>
              <a:t>•  FETCH FIRST m ROWS ONLY — OFFSET 없이 상위 m건만</a:t>
            </a:r>
          </a:p>
          <a:p>
            <a:r>
              <a:rPr sz="1600" b="0">
                <a:solidFill>
                  <a:srgbClr val="5A6672"/>
                </a:solidFill>
                <a:latin typeface="Malgun Gothic"/>
              </a:rPr>
              <a:t>    –  "최근 20건"처럼 첫 화면만 필요할 때 쓰는 형태</a:t>
            </a:r>
          </a:p>
          <a:p>
            <a:r>
              <a:rPr sz="1800" b="0">
                <a:solidFill>
                  <a:srgbClr val="202830"/>
                </a:solidFill>
                <a:latin typeface="Malgun Gothic"/>
              </a:rPr>
              <a:t>•  주의 — ORDER BY 없이 쓰면 어떤 m건이 나올지 보장되지 않는다</a:t>
            </a:r>
          </a:p>
          <a:p>
            <a:r>
              <a:rPr sz="1600" b="0">
                <a:solidFill>
                  <a:srgbClr val="5A6672"/>
                </a:solidFill>
                <a:latin typeface="Malgun Gothic"/>
              </a:rPr>
              <a:t>    –  정렬 기준이 없으면 실행계획이 바뀔 때 결과 집합도 달라질 수 있다</a:t>
            </a:r>
          </a:p>
        </p:txBody>
      </p:sp>
    </p:spTree>
    <p:extLst>
      <p:ext uri="{BB962C8B-B14F-4D97-AF65-F5344CB8AC3E}">
        <p14:creationId xmlns:p14="http://schemas.microsoft.com/office/powerpoint/2010/main" val="2851669133"/>
      </p:ext>
    </p:extLst>
  </p:cSld>
  <p:clrMapOvr>
    <a:masterClrMapping/>
  </p:clrMapOvr>
</p:sld>
</file>

<file path=ppt/slides/slide5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전통적 방법 — ROWNUM 중첩 인라인 뷰</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OFFSET/FETCH가 없던 시절 Oracle에서 페이징을 구현하던 방법 (구조 참고용)</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인라인 뷰를 두 겹으로 감싸고 ROWNUM을 비교하는 전통적 패턴</a:t>
            </a:r>
          </a:p>
          <a:p>
            <a:r>
              <a:rPr sz="1250" b="0">
                <a:solidFill>
                  <a:srgbClr val="E6E6E6"/>
                </a:solidFill>
                <a:latin typeface="Consolas"/>
              </a:rPr>
              <a:t>SELECT claim_id, receipt_date</a:t>
            </a:r>
          </a:p>
          <a:p>
            <a:r>
              <a:rPr sz="1250" b="0">
                <a:solidFill>
                  <a:srgbClr val="E6E6E6"/>
                </a:solidFill>
                <a:latin typeface="Consolas"/>
              </a:rPr>
              <a:t>FROM   ( SELECT a.*, ROWNUM AS rn</a:t>
            </a:r>
          </a:p>
          <a:p>
            <a:r>
              <a:rPr sz="1250" b="0">
                <a:solidFill>
                  <a:srgbClr val="E6E6E6"/>
                </a:solidFill>
                <a:latin typeface="Consolas"/>
              </a:rPr>
              <a:t>         FROM   ( SELECT claim_id, receipt_date</a:t>
            </a:r>
          </a:p>
          <a:p>
            <a:r>
              <a:rPr sz="1250" b="0">
                <a:solidFill>
                  <a:srgbClr val="E6E6E6"/>
                </a:solidFill>
                <a:latin typeface="Consolas"/>
              </a:rPr>
              <a:t>                  FROM   medical_claims</a:t>
            </a:r>
          </a:p>
          <a:p>
            <a:r>
              <a:rPr sz="1250" b="0">
                <a:solidFill>
                  <a:srgbClr val="E6E6E6"/>
                </a:solidFill>
                <a:latin typeface="Consolas"/>
              </a:rPr>
              <a:t>                  ORDER  BY receipt_date DESC ) a</a:t>
            </a:r>
          </a:p>
          <a:p>
            <a:r>
              <a:rPr sz="1250" b="0">
                <a:solidFill>
                  <a:srgbClr val="E6E6E6"/>
                </a:solidFill>
                <a:latin typeface="Consolas"/>
              </a:rPr>
              <a:t>         WHERE  ROWNUM &lt;= :끝행 )</a:t>
            </a:r>
          </a:p>
          <a:p>
            <a:r>
              <a:rPr sz="1250" b="0">
                <a:solidFill>
                  <a:srgbClr val="E6E6E6"/>
                </a:solidFill>
                <a:latin typeface="Consolas"/>
              </a:rPr>
              <a:t>WHERE  rn &gt; :시작행;</a:t>
            </a:r>
          </a:p>
          <a:p>
            <a:r>
              <a:rPr sz="1250" b="0">
                <a:solidFill>
                  <a:srgbClr val="E6E6E6"/>
                </a:solidFill>
                <a:latin typeface="Consolas"/>
              </a:rPr>
              <a:t> </a:t>
            </a:r>
          </a:p>
          <a:p>
            <a:r>
              <a:rPr sz="1250" b="0">
                <a:solidFill>
                  <a:srgbClr val="7EC699"/>
                </a:solidFill>
                <a:latin typeface="Consolas"/>
              </a:rPr>
              <a:t>-- 가장 안쪽 뷰: 정렬만 담당한다</a:t>
            </a:r>
          </a:p>
          <a:p>
            <a:r>
              <a:rPr sz="1250" b="0">
                <a:solidFill>
                  <a:srgbClr val="7EC699"/>
                </a:solidFill>
                <a:latin typeface="Consolas"/>
              </a:rPr>
              <a:t>-- 가운데 뷰: 정렬된 결과에 ROWNUM으로 번호를 매기고 끝행까지 자른다</a:t>
            </a:r>
          </a:p>
          <a:p>
            <a:r>
              <a:rPr sz="1250" b="0">
                <a:solidFill>
                  <a:srgbClr val="7EC699"/>
                </a:solidFill>
                <a:latin typeface="Consolas"/>
              </a:rPr>
              <a:t>-- 바깥 쿼리: 시작행 이전을 버린다</a:t>
            </a:r>
          </a:p>
          <a:p>
            <a:r>
              <a:rPr sz="1250" b="0">
                <a:solidFill>
                  <a:srgbClr val="E6E6E6"/>
                </a:solidFill>
                <a:latin typeface="Consolas"/>
              </a:rPr>
              <a:t> </a:t>
            </a:r>
          </a:p>
          <a:p>
            <a:r>
              <a:rPr sz="1250" b="0">
                <a:solidFill>
                  <a:srgbClr val="7EC699"/>
                </a:solidFill>
                <a:latin typeface="Consolas"/>
              </a:rPr>
              <a:t>-- ROWNUM은 행이 확정되는 시점에 매겨지므로 ORDER BY보다 먼저 계산된다</a:t>
            </a:r>
          </a:p>
          <a:p>
            <a:r>
              <a:rPr sz="1250" b="0">
                <a:solidFill>
                  <a:srgbClr val="7EC699"/>
                </a:solidFill>
                <a:latin typeface="Consolas"/>
              </a:rPr>
              <a:t>-- 그래서 정렬을 안쪽 뷰로 한 번 감싸 두지 않으면 엉뚱한 결과가 나온다</a:t>
            </a:r>
          </a:p>
        </p:txBody>
      </p:sp>
    </p:spTree>
    <p:extLst>
      <p:ext uri="{BB962C8B-B14F-4D97-AF65-F5344CB8AC3E}">
        <p14:creationId xmlns:p14="http://schemas.microsoft.com/office/powerpoint/2010/main" val="2862840076"/>
      </p:ext>
    </p:extLst>
  </p:cSld>
  <p:clrMapOvr>
    <a:masterClrMapping/>
  </p:clrMapOvr>
</p:sld>
</file>

<file path=ppt/slides/slide5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ROWNUM 방식과 OFFSET/FETCH의 관계</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표현은 다르지만 요구사항은 같다</a:t>
            </a:r>
          </a:p>
          <a:p>
            <a:r>
              <a:rPr sz="1600" b="0">
                <a:solidFill>
                  <a:srgbClr val="5A6672"/>
                </a:solidFill>
                <a:latin typeface="Malgun Gothic"/>
              </a:rPr>
              <a:t>    –  둘 다 "정렬된 결과에서 몇 번째부터 몇 번째까지"를 뽑는 구조</a:t>
            </a:r>
          </a:p>
          <a:p>
            <a:r>
              <a:rPr sz="1600" b="0">
                <a:solidFill>
                  <a:srgbClr val="5A6672"/>
                </a:solidFill>
                <a:latin typeface="Malgun Gothic"/>
              </a:rPr>
              <a:t>    –  ROWNUM 중첩 뷰는 그 구조를 사람이 직접 손으로 짠 것에 가깝다</a:t>
            </a:r>
          </a:p>
          <a:p>
            <a:r>
              <a:rPr sz="1800" b="0">
                <a:solidFill>
                  <a:srgbClr val="202830"/>
                </a:solidFill>
                <a:latin typeface="Malgun Gothic"/>
              </a:rPr>
              <a:t>•  OFFSET/FETCH는 그 구조를 문법으로 흡수한 것</a:t>
            </a:r>
          </a:p>
          <a:p>
            <a:r>
              <a:rPr sz="1600" b="0">
                <a:solidFill>
                  <a:srgbClr val="5A6672"/>
                </a:solidFill>
                <a:latin typeface="Malgun Gothic"/>
              </a:rPr>
              <a:t>    –  중첩 뷰를 직접 쓰지 않아도 되므로 SQL이 짧고 오작성 위험이 줄어든다</a:t>
            </a:r>
          </a:p>
          <a:p>
            <a:r>
              <a:rPr sz="1600" b="0">
                <a:solidFill>
                  <a:srgbClr val="5A6672"/>
                </a:solidFill>
                <a:latin typeface="Malgun Gothic"/>
              </a:rPr>
              <a:t>    –  내부적으로는 여전히 순번을 매기는 작업이 수행된다 — 11.3에서 확인</a:t>
            </a:r>
          </a:p>
          <a:p>
            <a:r>
              <a:rPr sz="1800" b="0">
                <a:solidFill>
                  <a:srgbClr val="202830"/>
                </a:solidFill>
                <a:latin typeface="Malgun Gothic"/>
              </a:rPr>
              <a:t>•  그래서 문법을 바꾼다고 성능이 저절로 좋아지지 않는다</a:t>
            </a:r>
          </a:p>
          <a:p>
            <a:r>
              <a:rPr sz="1600" b="0">
                <a:solidFill>
                  <a:srgbClr val="5A6672"/>
                </a:solidFill>
                <a:latin typeface="Malgun Gothic"/>
              </a:rPr>
              <a:t>    –  "FETCH FIRST로 바꿨는데 왜 안 빨라지나"는 흔한 오해</a:t>
            </a:r>
          </a:p>
          <a:p>
            <a:r>
              <a:rPr sz="1600" b="0">
                <a:solidFill>
                  <a:srgbClr val="5A6672"/>
                </a:solidFill>
                <a:latin typeface="Malgun Gothic"/>
              </a:rPr>
              <a:t>    –  비용을 결정하는 것은 문법이 아니라 실행계획에 나타나는 오퍼레이션이다</a:t>
            </a:r>
          </a:p>
        </p:txBody>
      </p:sp>
    </p:spTree>
    <p:extLst>
      <p:ext uri="{BB962C8B-B14F-4D97-AF65-F5344CB8AC3E}">
        <p14:creationId xmlns:p14="http://schemas.microsoft.com/office/powerpoint/2010/main" val="3062127585"/>
      </p:ext>
    </p:extLst>
  </p:cSld>
  <p:clrMapOvr>
    <a:masterClrMapping/>
  </p:clrMapOvr>
</p:sld>
</file>

<file path=ppt/slides/slide5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Keyset Pagination — 값으로 접근한다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"몇 번째부터"가 아니라 "마지막으로 본 값보다 작은 것부터"</a:t>
            </a:r>
          </a:p>
          <a:p>
            <a:r>
              <a:rPr sz="1600" b="0">
                <a:solidFill>
                  <a:srgbClr val="5A6672"/>
                </a:solidFill>
                <a:latin typeface="Malgun Gothic"/>
              </a:rPr>
              <a:t>    –  직전 페이지의 마지막 행 값을 커서처럼 들고 다니며 다음 페이지를 요청</a:t>
            </a:r>
          </a:p>
          <a:p>
            <a:r>
              <a:rPr sz="1600" b="0">
                <a:solidFill>
                  <a:srgbClr val="5A6672"/>
                </a:solidFill>
                <a:latin typeface="Malgun Gothic"/>
              </a:rPr>
              <a:t>    –  예: WHERE receipt_date &lt; :마지막으로_본_날짜</a:t>
            </a:r>
          </a:p>
          <a:p>
            <a:r>
              <a:rPr sz="1800" b="0">
                <a:solidFill>
                  <a:srgbClr val="202830"/>
                </a:solidFill>
                <a:latin typeface="Malgun Gothic"/>
              </a:rPr>
              <a:t>•  순번을 셀 필요가 없어진다는 점이 핵심이다</a:t>
            </a:r>
          </a:p>
          <a:p>
            <a:r>
              <a:rPr sz="1600" b="0">
                <a:solidFill>
                  <a:srgbClr val="5A6672"/>
                </a:solidFill>
                <a:latin typeface="Malgun Gothic"/>
              </a:rPr>
              <a:t>    –  조건이 값 비교이므로 인덱스에서 그 지점을 바로 찾아 들어갈 수 있다</a:t>
            </a:r>
          </a:p>
          <a:p>
            <a:r>
              <a:rPr sz="1600" b="0">
                <a:solidFill>
                  <a:srgbClr val="5A6672"/>
                </a:solidFill>
                <a:latin typeface="Malgun Gothic"/>
              </a:rPr>
              <a:t>    –  페이지 깊이와 무관하게 시작점을 한 번에 특정할 수 있다</a:t>
            </a:r>
          </a:p>
          <a:p>
            <a:r>
              <a:rPr sz="1800" b="0">
                <a:solidFill>
                  <a:srgbClr val="202830"/>
                </a:solidFill>
                <a:latin typeface="Malgun Gothic"/>
              </a:rPr>
              <a:t>•  다른 이름으로도 불린다</a:t>
            </a:r>
          </a:p>
          <a:p>
            <a:r>
              <a:rPr sz="1600" b="0">
                <a:solidFill>
                  <a:srgbClr val="5A6672"/>
                </a:solidFill>
                <a:latin typeface="Malgun Gothic"/>
              </a:rPr>
              <a:t>    –  커서 기반 페이징 · Seek Method — 부르는 이름은 달라도 구조는 같다</a:t>
            </a:r>
          </a:p>
          <a:p>
            <a:r>
              <a:rPr sz="1800" b="0">
                <a:solidFill>
                  <a:srgbClr val="202830"/>
                </a:solidFill>
                <a:latin typeface="Malgun Gothic"/>
              </a:rPr>
              <a:t>•  대신 잃는 것이 있다 — 11.7에서 다룬다</a:t>
            </a:r>
          </a:p>
          <a:p>
            <a:r>
              <a:rPr sz="1600" b="0">
                <a:solidFill>
                  <a:srgbClr val="5A6672"/>
                </a:solidFill>
                <a:latin typeface="Malgun Gothic"/>
              </a:rPr>
              <a:t>    –  임의의 페이지 번호로 바로 점프하는 기능을 포기해야 한다</a:t>
            </a:r>
          </a:p>
        </p:txBody>
      </p:sp>
    </p:spTree>
    <p:extLst>
      <p:ext uri="{BB962C8B-B14F-4D97-AF65-F5344CB8AC3E}">
        <p14:creationId xmlns:p14="http://schemas.microsoft.com/office/powerpoint/2010/main" val="2049766640"/>
      </p:ext>
    </p:extLst>
  </p:cSld>
  <p:clrMapOvr>
    <a:masterClrMapping/>
  </p:clrMapOvr>
</p:sld>
</file>

<file path=ppt/slides/slide5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세 가지 접근을 한 화면에 정리</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ROWNUM 중첩 인라인 뷰</a:t>
            </a:r>
          </a:p>
          <a:p>
            <a:r>
              <a:rPr sz="1600" b="0">
                <a:solidFill>
                  <a:srgbClr val="5A6672"/>
                </a:solidFill>
                <a:latin typeface="Malgun Gothic"/>
              </a:rPr>
              <a:t>    –  접근 기준은 순번 · 표현은 수동 · 오작성 위험이 상대적으로 크다</a:t>
            </a:r>
          </a:p>
          <a:p>
            <a:r>
              <a:rPr sz="1800" b="0">
                <a:solidFill>
                  <a:srgbClr val="202830"/>
                </a:solidFill>
                <a:latin typeface="Malgun Gothic"/>
              </a:rPr>
              <a:t>•  OFFSET n ROWS FETCH NEXT m ROWS ONLY</a:t>
            </a:r>
          </a:p>
          <a:p>
            <a:r>
              <a:rPr sz="1600" b="0">
                <a:solidFill>
                  <a:srgbClr val="5A6672"/>
                </a:solidFill>
                <a:latin typeface="Malgun Gothic"/>
              </a:rPr>
              <a:t>    –  접근 기준은 순번 · 표현은 문법으로 흡수 · 페이지 번호 UI에 그대로 대응</a:t>
            </a:r>
          </a:p>
          <a:p>
            <a:r>
              <a:rPr sz="1600" b="0">
                <a:solidFill>
                  <a:srgbClr val="5A6672"/>
                </a:solidFill>
                <a:latin typeface="Malgun Gothic"/>
              </a:rPr>
              <a:t>    –  19c에서 사용하는 표준 형태이며 이 장의 실측 대상이다</a:t>
            </a:r>
          </a:p>
          <a:p>
            <a:r>
              <a:rPr sz="1800" b="0">
                <a:solidFill>
                  <a:srgbClr val="202830"/>
                </a:solidFill>
                <a:latin typeface="Malgun Gothic"/>
              </a:rPr>
              <a:t>•  Keyset Pagination</a:t>
            </a:r>
          </a:p>
          <a:p>
            <a:r>
              <a:rPr sz="1600" b="0">
                <a:solidFill>
                  <a:srgbClr val="5A6672"/>
                </a:solidFill>
                <a:latin typeface="Malgun Gothic"/>
              </a:rPr>
              <a:t>    –  접근 기준은 값 · 다음 페이지의 시작점을 조건으로 표현</a:t>
            </a:r>
          </a:p>
          <a:p>
            <a:r>
              <a:rPr sz="1600" b="0">
                <a:solidFill>
                  <a:srgbClr val="5A6672"/>
                </a:solidFill>
                <a:latin typeface="Malgun Gothic"/>
              </a:rPr>
              <a:t>    –  순차 이동 UI에 적합하고 임의 페이지 점프에는 부적합하다</a:t>
            </a:r>
          </a:p>
          <a:p>
            <a:r>
              <a:rPr sz="1800" b="0">
                <a:solidFill>
                  <a:srgbClr val="202830"/>
                </a:solidFill>
                <a:latin typeface="Malgun Gothic"/>
              </a:rPr>
              <a:t>•  앞의 두 방식은 접근 기준이 같으므로 비용 구조도 같은 계열이다</a:t>
            </a:r>
          </a:p>
          <a:p>
            <a:r>
              <a:rPr sz="1600" b="0">
                <a:solidFill>
                  <a:srgbClr val="5A6672"/>
                </a:solidFill>
                <a:latin typeface="Malgun Gothic"/>
              </a:rPr>
              <a:t>    –  진짜 갈림길은 문법이 아니라 "순번이냐 값이냐"에서 갈린다</a:t>
            </a:r>
          </a:p>
        </p:txBody>
      </p:sp>
    </p:spTree>
    <p:extLst>
      <p:ext uri="{BB962C8B-B14F-4D97-AF65-F5344CB8AC3E}">
        <p14:creationId xmlns:p14="http://schemas.microsoft.com/office/powerpoint/2010/main" val="564177831"/>
      </p:ext>
    </p:extLst>
  </p:cSld>
  <p:clrMapOvr>
    <a:masterClrMapping/>
  </p:clrMapOvr>
</p:sld>
</file>

<file path=ppt/slides/slide536.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107996"/>
          </a:xfrm>
          <a:prstGeom prst="rect">
            <a:avLst/>
          </a:prstGeom>
          <a:noFill/>
        </p:spPr>
        <p:txBody>
          <a:bodyPr wrap="square">
            <a:spAutoFit/>
          </a:bodyPr>
          <a:lstStyle/>
          <a:p>
            <a:r>
              <a:rPr sz="6600" b="1" dirty="0">
                <a:solidFill>
                  <a:srgbClr val="C0392B"/>
                </a:solidFill>
                <a:latin typeface="Malgun Gothic"/>
              </a:rPr>
              <a:t>1</a:t>
            </a:r>
            <a:r>
              <a:rPr lang="en-US" sz="6600" b="1" dirty="0">
                <a:solidFill>
                  <a:srgbClr val="C0392B"/>
                </a:solidFill>
                <a:latin typeface="Malgun Gothic"/>
              </a:rPr>
              <a:t>3</a:t>
            </a:r>
            <a:r>
              <a:rPr sz="6600" b="1" dirty="0">
                <a:solidFill>
                  <a:srgbClr val="C0392B"/>
                </a:solidFill>
                <a:latin typeface="Malgun Gothic"/>
              </a:rPr>
              <a:t>.3</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OFFSET이 깊어지면 왜 느려지는가</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ROW_NUMBER() 변환과 순위 매김의 범위</a:t>
            </a:r>
          </a:p>
          <a:p>
            <a:r>
              <a:rPr sz="1600" b="0">
                <a:solidFill>
                  <a:srgbClr val="C5CED6"/>
                </a:solidFill>
                <a:latin typeface="Malgun Gothic"/>
              </a:rPr>
              <a:t>•  Buffers에 안 나타나는 CPU·메모리 비용</a:t>
            </a:r>
          </a:p>
          <a:p>
            <a:r>
              <a:rPr sz="1600" b="0">
                <a:solidFill>
                  <a:srgbClr val="C5CED6"/>
                </a:solidFill>
                <a:latin typeface="Malgun Gothic"/>
              </a:rPr>
              <a:t>•  WINDOW SORT PUSHED RANK와 NOSORT STOPKEY</a:t>
            </a:r>
          </a:p>
        </p:txBody>
      </p:sp>
    </p:spTree>
    <p:extLst>
      <p:ext uri="{BB962C8B-B14F-4D97-AF65-F5344CB8AC3E}">
        <p14:creationId xmlns:p14="http://schemas.microsoft.com/office/powerpoint/2010/main" val="2007769542"/>
      </p:ext>
    </p:extLst>
  </p:cSld>
  <p:clrMapOvr>
    <a:masterClrMapping/>
  </p:clrMapOvr>
</p:sld>
</file>

<file path=ppt/slides/slide5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OFFSET을 처리하려면 순번이 필요하다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OFFSET n ROWS는 "정렬된 순서에서 n번째"라는 뜻이다</a:t>
            </a:r>
          </a:p>
          <a:p>
            <a:r>
              <a:rPr sz="1600" b="0">
                <a:solidFill>
                  <a:srgbClr val="5A6672"/>
                </a:solidFill>
                <a:latin typeface="Malgun Gothic"/>
              </a:rPr>
              <a:t>    –  따라서 Oracle은 각 행이 몇 번째인지를 알아야 조건을 판정할 수 있다</a:t>
            </a:r>
          </a:p>
          <a:p>
            <a:r>
              <a:rPr sz="1600" b="0">
                <a:solidFill>
                  <a:srgbClr val="5A6672"/>
                </a:solidFill>
                <a:latin typeface="Malgun Gothic"/>
              </a:rPr>
              <a:t>    –  내부적으로 ROW_NUMBER() OVER (ORDER BY ...) 형태로 변환된다</a:t>
            </a:r>
          </a:p>
          <a:p>
            <a:r>
              <a:rPr sz="1600" b="0">
                <a:solidFill>
                  <a:srgbClr val="5A6672"/>
                </a:solidFill>
                <a:latin typeface="Malgun Gothic"/>
              </a:rPr>
              <a:t>    –  변환 흔적은 실행계획의 Predicate Information에서 확인할 수 있다</a:t>
            </a:r>
          </a:p>
          <a:p>
            <a:r>
              <a:rPr sz="1800" b="0">
                <a:solidFill>
                  <a:srgbClr val="202830"/>
                </a:solidFill>
                <a:latin typeface="Malgun Gothic"/>
              </a:rPr>
              <a:t>•  순번은 앞에서부터 차례로만 매길 수 있다</a:t>
            </a:r>
          </a:p>
          <a:p>
            <a:r>
              <a:rPr sz="1600" b="0">
                <a:solidFill>
                  <a:srgbClr val="5A6672"/>
                </a:solidFill>
                <a:latin typeface="Malgun Gothic"/>
              </a:rPr>
              <a:t>    –  중간부터 세기 시작할 방법이 없으므로 원칙적으로 처음부터 세야 한다</a:t>
            </a:r>
          </a:p>
          <a:p>
            <a:r>
              <a:rPr sz="1600" b="0">
                <a:solidFill>
                  <a:srgbClr val="5A6672"/>
                </a:solidFill>
                <a:latin typeface="Malgun Gothic"/>
              </a:rPr>
              <a:t>    –  OFFSET n에 FETCH m이면 최소한 n+m번째 행까지 순번이 필요하다</a:t>
            </a:r>
          </a:p>
          <a:p>
            <a:r>
              <a:rPr sz="1800" b="0">
                <a:solidFill>
                  <a:srgbClr val="202830"/>
                </a:solidFill>
                <a:latin typeface="Malgun Gothic"/>
              </a:rPr>
              <a:t>•  그래서 OFFSET이 커질수록 "순서를 매겨야 하는 범위"가 커진다</a:t>
            </a:r>
          </a:p>
          <a:p>
            <a:r>
              <a:rPr sz="1600" b="0">
                <a:solidFill>
                  <a:srgbClr val="5A6672"/>
                </a:solidFill>
                <a:latin typeface="Malgun Gothic"/>
              </a:rPr>
              <a:t>    –  건너뛰는 행이라고 해서 공짜로 건너뛰는 것이 아니다</a:t>
            </a:r>
          </a:p>
        </p:txBody>
      </p:sp>
    </p:spTree>
    <p:extLst>
      <p:ext uri="{BB962C8B-B14F-4D97-AF65-F5344CB8AC3E}">
        <p14:creationId xmlns:p14="http://schemas.microsoft.com/office/powerpoint/2010/main" val="4079030273"/>
      </p:ext>
    </p:extLst>
  </p:cSld>
  <p:clrMapOvr>
    <a:masterClrMapping/>
  </p:clrMapOvr>
</p:sld>
</file>

<file path=ppt/slides/slide5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그 비용은 어디에 나타나는가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읽어야 하는 테이블 블록 수는 OFFSET과 무관하다</a:t>
            </a:r>
          </a:p>
          <a:p>
            <a:r>
              <a:rPr sz="1600" b="0">
                <a:solidFill>
                  <a:srgbClr val="5A6672"/>
                </a:solidFill>
                <a:latin typeface="Malgun Gothic"/>
              </a:rPr>
              <a:t>    –  전체를 한 번 스캔하는 것은 OFFSET 값이 얼마든 동일하기 때문</a:t>
            </a:r>
          </a:p>
          <a:p>
            <a:r>
              <a:rPr sz="1600" b="0">
                <a:solidFill>
                  <a:srgbClr val="5A6672"/>
                </a:solidFill>
                <a:latin typeface="Malgun Gothic"/>
              </a:rPr>
              <a:t>    –  따라서 Buffers는 OFFSET 깊이에 따라 거의 변하지 않는다</a:t>
            </a:r>
          </a:p>
          <a:p>
            <a:r>
              <a:rPr sz="1800" b="0">
                <a:solidFill>
                  <a:srgbClr val="202830"/>
                </a:solidFill>
                <a:latin typeface="Malgun Gothic"/>
              </a:rPr>
              <a:t>•  늘어나는 것은 정렬·순위 매김 작업량이다</a:t>
            </a:r>
          </a:p>
          <a:p>
            <a:r>
              <a:rPr sz="1600" b="0">
                <a:solidFill>
                  <a:srgbClr val="5A6672"/>
                </a:solidFill>
                <a:latin typeface="Malgun Gothic"/>
              </a:rPr>
              <a:t>    –  CPU 시간 — 실행계획의 A-Time에 나타난다</a:t>
            </a:r>
          </a:p>
          <a:p>
            <a:r>
              <a:rPr sz="1600" b="0">
                <a:solidFill>
                  <a:srgbClr val="5A6672"/>
                </a:solidFill>
                <a:latin typeface="Malgun Gothic"/>
              </a:rPr>
              <a:t>    –  작업 메모리 — OMem · 1Mem · Used-Mem에 나타난다</a:t>
            </a:r>
          </a:p>
          <a:p>
            <a:r>
              <a:rPr sz="1800" b="0">
                <a:solidFill>
                  <a:srgbClr val="202830"/>
                </a:solidFill>
                <a:latin typeface="Malgun Gothic"/>
              </a:rPr>
              <a:t>•  ch11에서 확인한 함정이 여기서 그대로 재현된다</a:t>
            </a:r>
          </a:p>
          <a:p>
            <a:r>
              <a:rPr sz="1600" b="0">
                <a:solidFill>
                  <a:srgbClr val="5A6672"/>
                </a:solidFill>
                <a:latin typeface="Malgun Gothic"/>
              </a:rPr>
              <a:t>    –  ch11는 UNION의 SORT UNIQUE, 이 장은 순위 매김 정렬</a:t>
            </a:r>
          </a:p>
          <a:p>
            <a:r>
              <a:rPr sz="1600" b="0">
                <a:solidFill>
                  <a:srgbClr val="5A6672"/>
                </a:solidFill>
                <a:latin typeface="Malgun Gothic"/>
              </a:rPr>
              <a:t>    –  둘 다 이미 메모리에 올린 데이터를 다루므로 추가 블록 접근이 없다</a:t>
            </a:r>
          </a:p>
          <a:p>
            <a:r>
              <a:rPr sz="1800" b="0">
                <a:solidFill>
                  <a:srgbClr val="202830"/>
                </a:solidFill>
                <a:latin typeface="Malgun Gothic"/>
              </a:rPr>
              <a:t>•  결론 — 정렬 계열 연산이 있으면 Buffers만으로 판단하지 않는다</a:t>
            </a:r>
          </a:p>
        </p:txBody>
      </p:sp>
    </p:spTree>
    <p:extLst>
      <p:ext uri="{BB962C8B-B14F-4D97-AF65-F5344CB8AC3E}">
        <p14:creationId xmlns:p14="http://schemas.microsoft.com/office/powerpoint/2010/main" val="1270642287"/>
      </p:ext>
    </p:extLst>
  </p:cSld>
  <p:clrMapOvr>
    <a:masterClrMapping/>
  </p:clrMapOvr>
</p:sld>
</file>

<file path=ppt/slides/slide5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WINDOW SORT PUSHED RANK</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전체 결과에 순위를 매기는 오퍼레이션</a:t>
            </a:r>
          </a:p>
          <a:p>
            <a:r>
              <a:rPr sz="1600" b="0">
                <a:solidFill>
                  <a:srgbClr val="5A6672"/>
                </a:solidFill>
                <a:latin typeface="Malgun Gothic"/>
              </a:rPr>
              <a:t>    –  ROW_NUMBER()로 변환된 순번 계산이 이 오퍼레이션에서 수행된다</a:t>
            </a:r>
          </a:p>
          <a:p>
            <a:r>
              <a:rPr sz="1600" b="0">
                <a:solidFill>
                  <a:srgbClr val="5A6672"/>
                </a:solidFill>
                <a:latin typeface="Malgun Gothic"/>
              </a:rPr>
              <a:t>    –  PUSHED RANK — 순위 조건을 정렬 단계 안쪽으로 밀어 넣었다는 뜻</a:t>
            </a:r>
          </a:p>
          <a:p>
            <a:r>
              <a:rPr sz="1800" b="0">
                <a:solidFill>
                  <a:srgbClr val="202830"/>
                </a:solidFill>
                <a:latin typeface="Malgun Gothic"/>
              </a:rPr>
              <a:t>•  OFFSET이 커질수록 이 오퍼레이션의 부담이 커진다</a:t>
            </a:r>
          </a:p>
          <a:p>
            <a:r>
              <a:rPr sz="1600" b="0">
                <a:solidFill>
                  <a:srgbClr val="5A6672"/>
                </a:solidFill>
                <a:latin typeface="Malgun Gothic"/>
              </a:rPr>
              <a:t>    –  순위를 매겨야 하는 행 수 자체가 OFFSET에 비례해 늘어나기 때문</a:t>
            </a:r>
          </a:p>
          <a:p>
            <a:r>
              <a:rPr sz="1600" b="0">
                <a:solidFill>
                  <a:srgbClr val="5A6672"/>
                </a:solidFill>
                <a:latin typeface="Malgun Gothic"/>
              </a:rPr>
              <a:t>    –  정렬된 상태를 유지해야 하므로 작업 메모리 사용량도 함께 커진다</a:t>
            </a:r>
          </a:p>
          <a:p>
            <a:r>
              <a:rPr sz="1800" b="0">
                <a:solidFill>
                  <a:srgbClr val="202830"/>
                </a:solidFill>
                <a:latin typeface="Malgun Gothic"/>
              </a:rPr>
              <a:t>•  이 오퍼레이션이 보이면 페이지 깊이를 반드시 확인한다</a:t>
            </a:r>
          </a:p>
          <a:p>
            <a:r>
              <a:rPr sz="1600" b="0">
                <a:solidFill>
                  <a:srgbClr val="5A6672"/>
                </a:solidFill>
                <a:latin typeface="Malgun Gothic"/>
              </a:rPr>
              <a:t>    –  1페이지 기준 실행계획만 보고 넘어가면 문제를 놓치게 된다</a:t>
            </a:r>
          </a:p>
          <a:p>
            <a:r>
              <a:rPr sz="1600" b="0">
                <a:solidFill>
                  <a:srgbClr val="5A6672"/>
                </a:solidFill>
                <a:latin typeface="Malgun Gothic"/>
              </a:rPr>
              <a:t>    –  실무에서는 가장 깊은 페이지를 기준으로도 한 번 측정해 보는 것이 안전하다</a:t>
            </a:r>
          </a:p>
        </p:txBody>
      </p:sp>
    </p:spTree>
    <p:extLst>
      <p:ext uri="{BB962C8B-B14F-4D97-AF65-F5344CB8AC3E}">
        <p14:creationId xmlns:p14="http://schemas.microsoft.com/office/powerpoint/2010/main" val="3190761078"/>
      </p:ext>
    </p:extLst>
  </p:cSld>
  <p:clrMapOvr>
    <a:masterClrMapping/>
  </p:clrMapOvr>
</p:sld>
</file>

<file path=ppt/slides/slide5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WINDOW NOSORT STOPKEY</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이름 자체가 두 가지 이득을 말해 준다</a:t>
            </a:r>
          </a:p>
          <a:p>
            <a:r>
              <a:rPr sz="1600" b="0">
                <a:solidFill>
                  <a:srgbClr val="5A6672"/>
                </a:solidFill>
                <a:latin typeface="Malgun Gothic"/>
              </a:rPr>
              <a:t>    –  NOSORT — 입력이 이미 정렬된 순서로 들어오므로 정렬하지 않는다</a:t>
            </a:r>
          </a:p>
          <a:p>
            <a:r>
              <a:rPr sz="1600" b="0">
                <a:solidFill>
                  <a:srgbClr val="5A6672"/>
                </a:solidFill>
                <a:latin typeface="Malgun Gothic"/>
              </a:rPr>
              <a:t>    –  STOPKEY — 필요한 건수를 채우는 즉시 더 읽지 않고 멈춘다</a:t>
            </a:r>
          </a:p>
          <a:p>
            <a:r>
              <a:rPr sz="1800" b="0">
                <a:solidFill>
                  <a:srgbClr val="202830"/>
                </a:solidFill>
                <a:latin typeface="Malgun Gothic"/>
              </a:rPr>
              <a:t>•  NOSORT가 가능한 조건</a:t>
            </a:r>
          </a:p>
          <a:p>
            <a:r>
              <a:rPr sz="1600" b="0">
                <a:solidFill>
                  <a:srgbClr val="5A6672"/>
                </a:solidFill>
                <a:latin typeface="Malgun Gothic"/>
              </a:rPr>
              <a:t>    –  정렬 기준 컬럼의 인덱스를 순서대로 따라 읽는 계획이 선택된 경우</a:t>
            </a:r>
          </a:p>
          <a:p>
            <a:r>
              <a:rPr sz="1600" b="0">
                <a:solidFill>
                  <a:srgbClr val="5A6672"/>
                </a:solidFill>
                <a:latin typeface="Malgun Gothic"/>
              </a:rPr>
              <a:t>    –  인덱스가 이미 정렬 순서를 제공하므로 별도 정렬 단계가 사라진다</a:t>
            </a:r>
          </a:p>
          <a:p>
            <a:r>
              <a:rPr sz="1800" b="0">
                <a:solidFill>
                  <a:srgbClr val="202830"/>
                </a:solidFill>
                <a:latin typeface="Malgun Gothic"/>
              </a:rPr>
              <a:t>•  STOPKEY가 가능한 조건</a:t>
            </a:r>
          </a:p>
          <a:p>
            <a:r>
              <a:rPr sz="1600" b="0">
                <a:solidFill>
                  <a:srgbClr val="5A6672"/>
                </a:solidFill>
                <a:latin typeface="Malgun Gothic"/>
              </a:rPr>
              <a:t>    –  앞에서부터 필요한 만큼만 읽으면 결과가 확정되는 구조일 것</a:t>
            </a:r>
          </a:p>
          <a:p>
            <a:r>
              <a:rPr sz="1600" b="0">
                <a:solidFill>
                  <a:srgbClr val="5A6672"/>
                </a:solidFill>
                <a:latin typeface="Malgun Gothic"/>
              </a:rPr>
              <a:t>    –  전체를 다 봐야 순위가 확정되는 구조에서는 중단할 수 없다</a:t>
            </a:r>
          </a:p>
          <a:p>
            <a:r>
              <a:rPr sz="1800" b="0">
                <a:solidFill>
                  <a:srgbClr val="202830"/>
                </a:solidFill>
                <a:latin typeface="Malgun Gothic"/>
              </a:rPr>
              <a:t>•  ch03의 Q4, ch12의 좁은 범위 사례와 같은 원리다</a:t>
            </a:r>
          </a:p>
        </p:txBody>
      </p:sp>
    </p:spTree>
    <p:extLst>
      <p:ext uri="{BB962C8B-B14F-4D97-AF65-F5344CB8AC3E}">
        <p14:creationId xmlns:p14="http://schemas.microsoft.com/office/powerpoint/2010/main" val="510848436"/>
      </p:ext>
    </p:extLst>
  </p:cSld>
  <p:clrMapOvr>
    <a:masterClrMapping/>
  </p:clrMapOvr>
</p:sld>
</file>

<file path=ppt/slides/slide5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부분범위 처리 — 이 장의 축</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전체범위 처리 — 결과 전체를 만들어 놓고 그중 일부를 준다</a:t>
            </a:r>
          </a:p>
          <a:p>
            <a:r>
              <a:rPr sz="1600" b="0">
                <a:solidFill>
                  <a:srgbClr val="5A6672"/>
                </a:solidFill>
                <a:latin typeface="Malgun Gothic"/>
              </a:rPr>
              <a:t>    –  전체를 읽고 정렬하고 순위를 매긴 뒤 해당 구간을 잘라 내는 방식</a:t>
            </a:r>
          </a:p>
          <a:p>
            <a:r>
              <a:rPr sz="1600" b="0">
                <a:solidFill>
                  <a:srgbClr val="5A6672"/>
                </a:solidFill>
                <a:latin typeface="Malgun Gothic"/>
              </a:rPr>
              <a:t>    –  앞의 몇 건만 필요해도 마지막 행까지의 작업이 선행되어야 한다</a:t>
            </a:r>
          </a:p>
          <a:p>
            <a:r>
              <a:rPr sz="1800" b="0">
                <a:solidFill>
                  <a:srgbClr val="202830"/>
                </a:solidFill>
                <a:latin typeface="Malgun Gothic"/>
              </a:rPr>
              <a:t>•  부분범위 처리 — 필요한 만큼만 만들고 멈춘다</a:t>
            </a:r>
          </a:p>
          <a:p>
            <a:r>
              <a:rPr sz="1600" b="0">
                <a:solidFill>
                  <a:srgbClr val="5A6672"/>
                </a:solidFill>
                <a:latin typeface="Malgun Gothic"/>
              </a:rPr>
              <a:t>    –  요청한 건수를 채우는 순간 남은 데이터는 건드리지 않는다</a:t>
            </a:r>
          </a:p>
          <a:p>
            <a:r>
              <a:rPr sz="1600" b="0">
                <a:solidFill>
                  <a:srgbClr val="5A6672"/>
                </a:solidFill>
                <a:latin typeface="Malgun Gothic"/>
              </a:rPr>
              <a:t>    –  실행계획에서는 STOPKEY 계열 오퍼레이션으로 드러난다</a:t>
            </a:r>
          </a:p>
          <a:p>
            <a:r>
              <a:rPr sz="1800" b="0">
                <a:solidFill>
                  <a:srgbClr val="202830"/>
                </a:solidFill>
                <a:latin typeface="Malgun Gothic"/>
              </a:rPr>
              <a:t>•  페이징은 본질적으로 부분범위 처리가 어울리는 요구사항이다</a:t>
            </a:r>
          </a:p>
          <a:p>
            <a:r>
              <a:rPr sz="1600" b="0">
                <a:solidFill>
                  <a:srgbClr val="5A6672"/>
                </a:solidFill>
                <a:latin typeface="Malgun Gothic"/>
              </a:rPr>
              <a:t>    –  화면에 20건만 보여 주는데 30만 건을 정렬할 이유가 없다</a:t>
            </a:r>
          </a:p>
          <a:p>
            <a:r>
              <a:rPr sz="1600" b="0">
                <a:solidFill>
                  <a:srgbClr val="5A6672"/>
                </a:solidFill>
                <a:latin typeface="Malgun Gothic"/>
              </a:rPr>
              <a:t>    –  그런데 OFFSET 방식은 순번 때문에 전체범위 처리로 끌려간다</a:t>
            </a:r>
          </a:p>
          <a:p>
            <a:r>
              <a:rPr sz="1800" b="0">
                <a:solidFill>
                  <a:srgbClr val="202830"/>
                </a:solidFill>
                <a:latin typeface="Malgun Gothic"/>
              </a:rPr>
              <a:t>•  이 장의 튜닝은 요구사항을 부분범위 처리로 되돌리는 작업이다</a:t>
            </a:r>
          </a:p>
        </p:txBody>
      </p:sp>
    </p:spTree>
    <p:extLst>
      <p:ext uri="{BB962C8B-B14F-4D97-AF65-F5344CB8AC3E}">
        <p14:creationId xmlns:p14="http://schemas.microsoft.com/office/powerpoint/2010/main" val="3973730477"/>
      </p:ext>
    </p:extLst>
  </p:cSld>
  <p:clrMapOvr>
    <a:masterClrMapping/>
  </p:clrMapOvr>
</p:sld>
</file>

<file path=ppt/slides/slide542.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107996"/>
          </a:xfrm>
          <a:prstGeom prst="rect">
            <a:avLst/>
          </a:prstGeom>
          <a:noFill/>
        </p:spPr>
        <p:txBody>
          <a:bodyPr wrap="square">
            <a:spAutoFit/>
          </a:bodyPr>
          <a:lstStyle/>
          <a:p>
            <a:r>
              <a:rPr sz="6600" b="1" dirty="0">
                <a:solidFill>
                  <a:srgbClr val="C0392B"/>
                </a:solidFill>
                <a:latin typeface="Malgun Gothic"/>
              </a:rPr>
              <a:t>1</a:t>
            </a:r>
            <a:r>
              <a:rPr lang="en-US" sz="6600" b="1" dirty="0">
                <a:solidFill>
                  <a:srgbClr val="C0392B"/>
                </a:solidFill>
                <a:latin typeface="Malgun Gothic"/>
              </a:rPr>
              <a:t>3</a:t>
            </a:r>
            <a:r>
              <a:rPr sz="6600" b="1" dirty="0">
                <a:solidFill>
                  <a:srgbClr val="C0392B"/>
                </a:solidFill>
                <a:latin typeface="Malgun Gothic"/>
              </a:rPr>
              <a:t>.4</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청구 목록 페이징 조회</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실습용 인덱스 생성 — IX_RECEIPT</a:t>
            </a:r>
          </a:p>
          <a:p>
            <a:r>
              <a:rPr sz="1600" b="0">
                <a:solidFill>
                  <a:srgbClr val="C5CED6"/>
                </a:solidFill>
                <a:latin typeface="Malgun Gothic"/>
              </a:rPr>
              <a:t>•  OFFSET 방식 SQL</a:t>
            </a:r>
          </a:p>
          <a:p>
            <a:r>
              <a:rPr sz="1600" b="0">
                <a:solidFill>
                  <a:srgbClr val="C5CED6"/>
                </a:solidFill>
                <a:latin typeface="Malgun Gothic"/>
              </a:rPr>
              <a:t>•  Keyset 방식 SQL</a:t>
            </a:r>
          </a:p>
        </p:txBody>
      </p:sp>
    </p:spTree>
    <p:extLst>
      <p:ext uri="{BB962C8B-B14F-4D97-AF65-F5344CB8AC3E}">
        <p14:creationId xmlns:p14="http://schemas.microsoft.com/office/powerpoint/2010/main" val="2848766292"/>
      </p:ext>
    </p:extLst>
  </p:cSld>
  <p:clrMapOvr>
    <a:masterClrMapping/>
  </p:clrMapOvr>
</p:sld>
</file>

<file path=ppt/slides/slide5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관찰 소재 정리</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요구사항 — 청구 목록을 접수일 내림차순으로 20건씩 페이징 조회</a:t>
            </a:r>
          </a:p>
          <a:p>
            <a:r>
              <a:rPr sz="1600" b="0">
                <a:solidFill>
                  <a:srgbClr val="5A6672"/>
                </a:solidFill>
                <a:latin typeface="Malgun Gothic"/>
              </a:rPr>
              <a:t>    –  대상 테이블은 MEDICAL_CLAIMS, 정렬 기준은 receipt_date</a:t>
            </a:r>
          </a:p>
          <a:p>
            <a:r>
              <a:rPr sz="1600" b="0">
                <a:solidFill>
                  <a:srgbClr val="5A6672"/>
                </a:solidFill>
                <a:latin typeface="Malgun Gothic"/>
              </a:rPr>
              <a:t>    –  조회 컬럼은 claim_id와 receipt_date 두 개</a:t>
            </a:r>
          </a:p>
          <a:p>
            <a:r>
              <a:rPr sz="1800" b="0">
                <a:solidFill>
                  <a:srgbClr val="202830"/>
                </a:solidFill>
                <a:latin typeface="Malgun Gothic"/>
              </a:rPr>
              <a:t>•  같은 요구사항을 두 방식으로 작성한다</a:t>
            </a:r>
          </a:p>
          <a:p>
            <a:r>
              <a:rPr sz="1600" b="0">
                <a:solidFill>
                  <a:srgbClr val="5A6672"/>
                </a:solidFill>
                <a:latin typeface="Malgun Gothic"/>
              </a:rPr>
              <a:t>    –  OFFSET 방식 — 페이지 번호로 접근한다</a:t>
            </a:r>
          </a:p>
          <a:p>
            <a:r>
              <a:rPr sz="1600" b="0">
                <a:solidFill>
                  <a:srgbClr val="5A6672"/>
                </a:solidFill>
                <a:latin typeface="Malgun Gothic"/>
              </a:rPr>
              <a:t>    –  Keyset 방식 — 마지막으로 본 값으로 접근한다</a:t>
            </a:r>
          </a:p>
          <a:p>
            <a:r>
              <a:rPr sz="1800" b="0">
                <a:solidFill>
                  <a:srgbClr val="202830"/>
                </a:solidFill>
                <a:latin typeface="Malgun Gothic"/>
              </a:rPr>
              <a:t>•  실습용 인덱스를 하나 만든다</a:t>
            </a:r>
          </a:p>
          <a:p>
            <a:r>
              <a:rPr sz="1600" b="0">
                <a:solidFill>
                  <a:srgbClr val="5A6672"/>
                </a:solidFill>
                <a:latin typeface="Malgun Gothic"/>
              </a:rPr>
              <a:t>    –  receipt_date 단일 컬럼 인덱스 — 정렬 순서를 제공하기 위한 것</a:t>
            </a:r>
          </a:p>
          <a:p>
            <a:r>
              <a:rPr sz="1600" b="0">
                <a:solidFill>
                  <a:srgbClr val="5A6672"/>
                </a:solidFill>
                <a:latin typeface="Malgun Gothic"/>
              </a:rPr>
              <a:t>    –  두 방식 모두 같은 인덱스가 존재하는 상태에서 측정한다</a:t>
            </a:r>
          </a:p>
          <a:p>
            <a:r>
              <a:rPr sz="1800" b="0">
                <a:solidFill>
                  <a:srgbClr val="202830"/>
                </a:solidFill>
                <a:latin typeface="Malgun Gothic"/>
              </a:rPr>
              <a:t>•  차시 종료 시 실습 인덱스는 반드시 삭제한다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실습용 인덱스는 IX_CH11_ 접두어로 만들고 차시 종료 시 DROP INDEX로 정리한다. MEDICAL_CLAIMS에는 PK_MEDICAL_CLAIMS만 남아야 한다.</a:t>
            </a:r>
          </a:p>
        </p:txBody>
      </p:sp>
    </p:spTree>
    <p:extLst>
      <p:ext uri="{BB962C8B-B14F-4D97-AF65-F5344CB8AC3E}">
        <p14:creationId xmlns:p14="http://schemas.microsoft.com/office/powerpoint/2010/main" val="881173166"/>
      </p:ext>
    </p:extLst>
  </p:cSld>
  <p:clrMapOvr>
    <a:masterClrMapping/>
  </p:clrMapOvr>
</p:sld>
</file>

<file path=ppt/slides/slide5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인덱스 생성</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정렬 기준 컬럼에 인덱스를 만들어 두고 두 방식을 같은 조건에서 비교한다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접수일 단일 컬럼 인덱스</a:t>
            </a:r>
          </a:p>
          <a:p>
            <a:r>
              <a:rPr sz="1250" b="0">
                <a:solidFill>
                  <a:srgbClr val="E6E6E6"/>
                </a:solidFill>
                <a:latin typeface="Consolas"/>
              </a:rPr>
              <a:t>CREATE INDEX ix_receipt ON medical_claims(receipt_date);</a:t>
            </a:r>
          </a:p>
          <a:p>
            <a:r>
              <a:rPr sz="1250" b="0">
                <a:solidFill>
                  <a:srgbClr val="E6E6E6"/>
                </a:solidFill>
                <a:latin typeface="Consolas"/>
              </a:rPr>
              <a:t> </a:t>
            </a:r>
          </a:p>
          <a:p>
            <a:r>
              <a:rPr sz="1250" b="0">
                <a:solidFill>
                  <a:srgbClr val="7EC699"/>
                </a:solidFill>
                <a:latin typeface="Consolas"/>
              </a:rPr>
              <a:t>-- 이 인덱스의 역할은 두 가지다</a:t>
            </a:r>
          </a:p>
          <a:p>
            <a:r>
              <a:rPr sz="1250" b="0">
                <a:solidFill>
                  <a:srgbClr val="7EC699"/>
                </a:solidFill>
                <a:latin typeface="Consolas"/>
              </a:rPr>
              <a:t>--   1) receipt_date 조건으로 진입 지점을 찾을 수 있게 한다 (access)</a:t>
            </a:r>
          </a:p>
          <a:p>
            <a:r>
              <a:rPr sz="1250" b="0">
                <a:solidFill>
                  <a:srgbClr val="7EC699"/>
                </a:solidFill>
                <a:latin typeface="Consolas"/>
              </a:rPr>
              <a:t>--   2) receipt_date 순서를 그대로 제공한다 (정렬 생략의 전제)</a:t>
            </a:r>
          </a:p>
          <a:p>
            <a:r>
              <a:rPr sz="1250" b="0">
                <a:solidFill>
                  <a:srgbClr val="E6E6E6"/>
                </a:solidFill>
                <a:latin typeface="Consolas"/>
              </a:rPr>
              <a:t> </a:t>
            </a:r>
          </a:p>
          <a:p>
            <a:r>
              <a:rPr sz="1250" b="0">
                <a:solidFill>
                  <a:srgbClr val="7EC699"/>
                </a:solidFill>
                <a:latin typeface="Consolas"/>
              </a:rPr>
              <a:t>-- 인덱스가 있다는 사실만으로 옵티마이저가 반드시 쓰는 것은 아니다</a:t>
            </a:r>
          </a:p>
          <a:p>
            <a:r>
              <a:rPr sz="1250" b="0">
                <a:solidFill>
                  <a:srgbClr val="7EC699"/>
                </a:solidFill>
                <a:latin typeface="Consolas"/>
              </a:rPr>
              <a:t>-- 쓸 이유가 있어야 쓴다 — 그 이유가 무엇인지가 이 장의 관찰 대상</a:t>
            </a:r>
          </a:p>
          <a:p>
            <a:r>
              <a:rPr sz="1250" b="0">
                <a:solidFill>
                  <a:srgbClr val="E6E6E6"/>
                </a:solidFill>
                <a:latin typeface="Consolas"/>
              </a:rPr>
              <a:t> </a:t>
            </a:r>
          </a:p>
          <a:p>
            <a:r>
              <a:rPr sz="1250" b="0">
                <a:solidFill>
                  <a:srgbClr val="7EC699"/>
                </a:solidFill>
                <a:latin typeface="Consolas"/>
              </a:rPr>
              <a:t>-- 차시 종료 시 정리</a:t>
            </a:r>
          </a:p>
          <a:p>
            <a:r>
              <a:rPr sz="1250" b="0">
                <a:solidFill>
                  <a:srgbClr val="7EC699"/>
                </a:solidFill>
                <a:latin typeface="Consolas"/>
              </a:rPr>
              <a:t>-- DROP INDEX ix_receipt;</a:t>
            </a:r>
          </a:p>
        </p:txBody>
      </p:sp>
    </p:spTree>
    <p:extLst>
      <p:ext uri="{BB962C8B-B14F-4D97-AF65-F5344CB8AC3E}">
        <p14:creationId xmlns:p14="http://schemas.microsoft.com/office/powerpoint/2010/main" val="884037684"/>
      </p:ext>
    </p:extLst>
  </p:cSld>
  <p:clrMapOvr>
    <a:masterClrMapping/>
  </p:clrMapOvr>
</p:sld>
</file>

<file path=ppt/slides/slide5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OFFSET 방식 — 페이지 번호로 접근</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정렬된 결과에서 앞의 n건을 건너뛰고 그다음 20건을 가져온다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OFFSET 방식: 페이지 번호로 접근</a:t>
            </a:r>
          </a:p>
          <a:p>
            <a:r>
              <a:rPr sz="1250" b="0">
                <a:solidFill>
                  <a:srgbClr val="E6E6E6"/>
                </a:solidFill>
                <a:latin typeface="Consolas"/>
              </a:rPr>
              <a:t>SELECT claim_id, receipt_date FROM medical_claims</a:t>
            </a:r>
          </a:p>
          <a:p>
            <a:r>
              <a:rPr sz="1250" b="0">
                <a:solidFill>
                  <a:srgbClr val="E6E6E6"/>
                </a:solidFill>
                <a:latin typeface="Consolas"/>
              </a:rPr>
              <a:t>ORDER BY receipt_date DESC</a:t>
            </a:r>
          </a:p>
          <a:p>
            <a:r>
              <a:rPr sz="1250" b="0">
                <a:solidFill>
                  <a:srgbClr val="E6E6E6"/>
                </a:solidFill>
                <a:latin typeface="Consolas"/>
              </a:rPr>
              <a:t>OFFSET :페이지시작 ROWS FETCH NEXT 20 ROWS ONLY;</a:t>
            </a:r>
          </a:p>
          <a:p>
            <a:r>
              <a:rPr sz="1250" b="0">
                <a:solidFill>
                  <a:srgbClr val="E6E6E6"/>
                </a:solidFill>
                <a:latin typeface="Consolas"/>
              </a:rPr>
              <a:t> </a:t>
            </a:r>
          </a:p>
          <a:p>
            <a:r>
              <a:rPr sz="1250" b="0">
                <a:solidFill>
                  <a:srgbClr val="7EC699"/>
                </a:solidFill>
                <a:latin typeface="Consolas"/>
              </a:rPr>
              <a:t>-- 바인드 변수 :페이지시작 하나로 모든 페이지를 표현할 수 있다</a:t>
            </a:r>
          </a:p>
          <a:p>
            <a:r>
              <a:rPr sz="1250" b="0">
                <a:solidFill>
                  <a:srgbClr val="7EC699"/>
                </a:solidFill>
                <a:latin typeface="Consolas"/>
              </a:rPr>
              <a:t>-- 1페이지면 0, 2페이지면 20, p페이지면 (p-1)*20</a:t>
            </a:r>
          </a:p>
          <a:p>
            <a:r>
              <a:rPr sz="1250" b="0">
                <a:solidFill>
                  <a:srgbClr val="E6E6E6"/>
                </a:solidFill>
                <a:latin typeface="Consolas"/>
              </a:rPr>
              <a:t> </a:t>
            </a:r>
          </a:p>
          <a:p>
            <a:r>
              <a:rPr sz="1250" b="0">
                <a:solidFill>
                  <a:srgbClr val="7EC699"/>
                </a:solidFill>
                <a:latin typeface="Consolas"/>
              </a:rPr>
              <a:t>-- WHERE 절이 전혀 없다는 점에 주목할 것</a:t>
            </a:r>
          </a:p>
          <a:p>
            <a:r>
              <a:rPr sz="1250" b="0">
                <a:solidFill>
                  <a:srgbClr val="7EC699"/>
                </a:solidFill>
                <a:latin typeface="Consolas"/>
              </a:rPr>
              <a:t>-- 특정 값으로 인덱스를 찾아 들어갈 조건(access predicate)이 없다</a:t>
            </a:r>
          </a:p>
          <a:p>
            <a:r>
              <a:rPr sz="1250" b="0">
                <a:solidFill>
                  <a:srgbClr val="7EC699"/>
                </a:solidFill>
                <a:latin typeface="Consolas"/>
              </a:rPr>
              <a:t>-- 조건이라고는 "몇 번째부터 몇 번째까지"라는 순번 조건뿐이다</a:t>
            </a:r>
          </a:p>
          <a:p>
            <a:r>
              <a:rPr sz="1250" b="0">
                <a:solidFill>
                  <a:srgbClr val="E6E6E6"/>
                </a:solidFill>
                <a:latin typeface="Consolas"/>
              </a:rPr>
              <a:t> </a:t>
            </a:r>
          </a:p>
          <a:p>
            <a:r>
              <a:rPr sz="1250" b="0">
                <a:solidFill>
                  <a:srgbClr val="7EC699"/>
                </a:solidFill>
                <a:latin typeface="Consolas"/>
              </a:rPr>
              <a:t>-- 화면 개발 입장에서는 가장 편한 형태 — 페이지 번호를 그대로 넘기면 된다</a:t>
            </a:r>
          </a:p>
        </p:txBody>
      </p:sp>
    </p:spTree>
    <p:extLst>
      <p:ext uri="{BB962C8B-B14F-4D97-AF65-F5344CB8AC3E}">
        <p14:creationId xmlns:p14="http://schemas.microsoft.com/office/powerpoint/2010/main" val="1679729066"/>
      </p:ext>
    </p:extLst>
  </p:cSld>
  <p:clrMapOvr>
    <a:masterClrMapping/>
  </p:clrMapOvr>
</p:sld>
</file>

<file path=ppt/slides/slide5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Keyset 방식 — 마지막으로 본 값으로 접근</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직전 페이지의 마지막 접수일을 기준으로 그다음 20건을 가져온다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Keyset 방식: 마지막으로 본 값으로 접근</a:t>
            </a:r>
          </a:p>
          <a:p>
            <a:r>
              <a:rPr sz="1250" b="0">
                <a:solidFill>
                  <a:srgbClr val="E6E6E6"/>
                </a:solidFill>
                <a:latin typeface="Consolas"/>
              </a:rPr>
              <a:t>SELECT claim_id, receipt_date FROM medical_claims</a:t>
            </a:r>
          </a:p>
          <a:p>
            <a:r>
              <a:rPr sz="1250" b="0">
                <a:solidFill>
                  <a:srgbClr val="E6E6E6"/>
                </a:solidFill>
                <a:latin typeface="Consolas"/>
              </a:rPr>
              <a:t>WHERE receipt_date &lt; :마지막으로_본_날짜</a:t>
            </a:r>
          </a:p>
          <a:p>
            <a:r>
              <a:rPr sz="1250" b="0">
                <a:solidFill>
                  <a:srgbClr val="E6E6E6"/>
                </a:solidFill>
                <a:latin typeface="Consolas"/>
              </a:rPr>
              <a:t>ORDER BY receipt_date DESC</a:t>
            </a:r>
          </a:p>
          <a:p>
            <a:r>
              <a:rPr sz="1250" b="0">
                <a:solidFill>
                  <a:srgbClr val="E6E6E6"/>
                </a:solidFill>
                <a:latin typeface="Consolas"/>
              </a:rPr>
              <a:t>FETCH FIRST 20 ROWS ONLY;</a:t>
            </a:r>
          </a:p>
          <a:p>
            <a:r>
              <a:rPr sz="1250" b="0">
                <a:solidFill>
                  <a:srgbClr val="E6E6E6"/>
                </a:solidFill>
                <a:latin typeface="Consolas"/>
              </a:rPr>
              <a:t> </a:t>
            </a:r>
          </a:p>
          <a:p>
            <a:r>
              <a:rPr sz="1250" b="0">
                <a:solidFill>
                  <a:srgbClr val="7EC699"/>
                </a:solidFill>
                <a:latin typeface="Consolas"/>
              </a:rPr>
              <a:t>-- 앞의 SQL과 비교했을 때 달라진 것은 두 가지뿐이다</a:t>
            </a:r>
          </a:p>
          <a:p>
            <a:r>
              <a:rPr sz="1250" b="0">
                <a:solidFill>
                  <a:srgbClr val="7EC699"/>
                </a:solidFill>
                <a:latin typeface="Consolas"/>
              </a:rPr>
              <a:t>--   1) WHERE 절이 생겼다 — 값으로 진입 지점을 지정한다</a:t>
            </a:r>
          </a:p>
          <a:p>
            <a:r>
              <a:rPr sz="1250" b="0">
                <a:solidFill>
                  <a:srgbClr val="7EC699"/>
                </a:solidFill>
                <a:latin typeface="Consolas"/>
              </a:rPr>
              <a:t>--   2) OFFSET이 사라졌다 — 순번을 셀 필요가 없어졌다</a:t>
            </a:r>
          </a:p>
          <a:p>
            <a:r>
              <a:rPr sz="1250" b="0">
                <a:solidFill>
                  <a:srgbClr val="E6E6E6"/>
                </a:solidFill>
                <a:latin typeface="Consolas"/>
              </a:rPr>
              <a:t> </a:t>
            </a:r>
          </a:p>
          <a:p>
            <a:r>
              <a:rPr sz="1250" b="0">
                <a:solidFill>
                  <a:srgbClr val="7EC699"/>
                </a:solidFill>
                <a:latin typeface="Consolas"/>
              </a:rPr>
              <a:t>-- 애플리케이션은 화면에 뿌린 마지막 행의 receipt_date를 들고 있다가</a:t>
            </a:r>
          </a:p>
          <a:p>
            <a:r>
              <a:rPr sz="1250" b="0">
                <a:solidFill>
                  <a:srgbClr val="7EC699"/>
                </a:solidFill>
                <a:latin typeface="Consolas"/>
              </a:rPr>
              <a:t>-- "다음" 요청 시 그 값을 그대로 바인드 변수로 넘긴다</a:t>
            </a:r>
          </a:p>
          <a:p>
            <a:r>
              <a:rPr sz="1250" b="0">
                <a:solidFill>
                  <a:srgbClr val="E6E6E6"/>
                </a:solidFill>
                <a:latin typeface="Consolas"/>
              </a:rPr>
              <a:t> </a:t>
            </a:r>
          </a:p>
          <a:p>
            <a:r>
              <a:rPr sz="1250" b="0">
                <a:solidFill>
                  <a:srgbClr val="7EC699"/>
                </a:solidFill>
                <a:latin typeface="Consolas"/>
              </a:rPr>
              <a:t>-- 페이지 번호가 아니라 커서를 넘기는 구조라는 점이 핵심이다</a:t>
            </a:r>
          </a:p>
        </p:txBody>
      </p:sp>
    </p:spTree>
    <p:extLst>
      <p:ext uri="{BB962C8B-B14F-4D97-AF65-F5344CB8AC3E}">
        <p14:creationId xmlns:p14="http://schemas.microsoft.com/office/powerpoint/2010/main" val="707153697"/>
      </p:ext>
    </p:extLst>
  </p:cSld>
  <p:clrMapOvr>
    <a:masterClrMapping/>
  </p:clrMapOvr>
</p:sld>
</file>

<file path=ppt/slides/slide5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두 SQL을 나란히 읽기</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공통점 — 결과는 동등하다</a:t>
            </a:r>
          </a:p>
          <a:p>
            <a:r>
              <a:rPr sz="1600" b="0">
                <a:solidFill>
                  <a:srgbClr val="5A6672"/>
                </a:solidFill>
                <a:latin typeface="Malgun Gothic"/>
              </a:rPr>
              <a:t>    –  같은 테이블, 같은 정렬 기준, 같은 20건</a:t>
            </a:r>
          </a:p>
          <a:p>
            <a:r>
              <a:rPr sz="1600" b="0">
                <a:solidFill>
                  <a:srgbClr val="5A6672"/>
                </a:solidFill>
                <a:latin typeface="Malgun Gothic"/>
              </a:rPr>
              <a:t>    –  같은 인덱스가 존재하는 상태에서 실행한다</a:t>
            </a:r>
          </a:p>
          <a:p>
            <a:r>
              <a:rPr sz="1800" b="0">
                <a:solidFill>
                  <a:srgbClr val="202830"/>
                </a:solidFill>
                <a:latin typeface="Malgun Gothic"/>
              </a:rPr>
              <a:t>•  차이 ① 조건의 성격</a:t>
            </a:r>
          </a:p>
          <a:p>
            <a:r>
              <a:rPr sz="1600" b="0">
                <a:solidFill>
                  <a:srgbClr val="5A6672"/>
                </a:solidFill>
                <a:latin typeface="Malgun Gothic"/>
              </a:rPr>
              <a:t>    –  OFFSET 방식 — 순번 조건만 있고 값 조건이 없다</a:t>
            </a:r>
          </a:p>
          <a:p>
            <a:r>
              <a:rPr sz="1600" b="0">
                <a:solidFill>
                  <a:srgbClr val="5A6672"/>
                </a:solidFill>
                <a:latin typeface="Malgun Gothic"/>
              </a:rPr>
              <a:t>    –  Keyset 방식 — receipt_date 값 비교 조건이 있다</a:t>
            </a:r>
          </a:p>
          <a:p>
            <a:r>
              <a:rPr sz="1800" b="0">
                <a:solidFill>
                  <a:srgbClr val="202830"/>
                </a:solidFill>
                <a:latin typeface="Malgun Gothic"/>
              </a:rPr>
              <a:t>•  차이 ② 다음 페이지를 표현하는 방법</a:t>
            </a:r>
          </a:p>
          <a:p>
            <a:r>
              <a:rPr sz="1600" b="0">
                <a:solidFill>
                  <a:srgbClr val="5A6672"/>
                </a:solidFill>
                <a:latin typeface="Malgun Gothic"/>
              </a:rPr>
              <a:t>    –  OFFSET 방식 — 페이지 번호를 늘린다</a:t>
            </a:r>
          </a:p>
          <a:p>
            <a:r>
              <a:rPr sz="1600" b="0">
                <a:solidFill>
                  <a:srgbClr val="5A6672"/>
                </a:solidFill>
                <a:latin typeface="Malgun Gothic"/>
              </a:rPr>
              <a:t>    –  Keyset 방식 — 직전 페이지의 마지막 값을 넘긴다</a:t>
            </a:r>
          </a:p>
          <a:p>
            <a:r>
              <a:rPr sz="1800" b="0">
                <a:solidFill>
                  <a:srgbClr val="202830"/>
                </a:solidFill>
                <a:latin typeface="Malgun Gothic"/>
              </a:rPr>
              <a:t>•  이 두 차이가 실행계획에서 어떤 차이로 나타나는지가 다음 절의 주제다</a:t>
            </a:r>
          </a:p>
        </p:txBody>
      </p:sp>
    </p:spTree>
    <p:extLst>
      <p:ext uri="{BB962C8B-B14F-4D97-AF65-F5344CB8AC3E}">
        <p14:creationId xmlns:p14="http://schemas.microsoft.com/office/powerpoint/2010/main" val="3151192168"/>
      </p:ext>
    </p:extLst>
  </p:cSld>
  <p:clrMapOvr>
    <a:masterClrMapping/>
  </p:clrMapOvr>
</p:sld>
</file>

<file path=ppt/slides/slide548.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107996"/>
          </a:xfrm>
          <a:prstGeom prst="rect">
            <a:avLst/>
          </a:prstGeom>
          <a:noFill/>
        </p:spPr>
        <p:txBody>
          <a:bodyPr wrap="square">
            <a:spAutoFit/>
          </a:bodyPr>
          <a:lstStyle/>
          <a:p>
            <a:r>
              <a:rPr sz="6600" b="1" dirty="0">
                <a:solidFill>
                  <a:srgbClr val="C0392B"/>
                </a:solidFill>
                <a:latin typeface="Malgun Gothic"/>
              </a:rPr>
              <a:t>1</a:t>
            </a:r>
            <a:r>
              <a:rPr lang="en-US" sz="6600" b="1" dirty="0">
                <a:solidFill>
                  <a:srgbClr val="C0392B"/>
                </a:solidFill>
                <a:latin typeface="Malgun Gothic"/>
              </a:rPr>
              <a:t>3</a:t>
            </a:r>
            <a:r>
              <a:rPr sz="6600" b="1" dirty="0">
                <a:solidFill>
                  <a:srgbClr val="C0392B"/>
                </a:solidFill>
                <a:latin typeface="Malgun Gothic"/>
              </a:rPr>
              <a:t>.5</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OFFSET 깊이에 따른 실측</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OFFSET 0 · 200,000 · 280,000 비교</a:t>
            </a:r>
          </a:p>
          <a:p>
            <a:r>
              <a:rPr sz="1600" b="0">
                <a:solidFill>
                  <a:srgbClr val="C5CED6"/>
                </a:solidFill>
                <a:latin typeface="Malgun Gothic"/>
              </a:rPr>
              <a:t>•  Buffers는 그대로, A-Time과 작업 메모리는 급증</a:t>
            </a:r>
          </a:p>
          <a:p>
            <a:r>
              <a:rPr sz="1600" b="0">
                <a:solidFill>
                  <a:srgbClr val="C5CED6"/>
                </a:solidFill>
                <a:latin typeface="Malgun Gothic"/>
              </a:rPr>
              <a:t>•  Buffers만 보면 놓치는 비용</a:t>
            </a:r>
          </a:p>
        </p:txBody>
      </p:sp>
    </p:spTree>
    <p:extLst>
      <p:ext uri="{BB962C8B-B14F-4D97-AF65-F5344CB8AC3E}">
        <p14:creationId xmlns:p14="http://schemas.microsoft.com/office/powerpoint/2010/main" val="672679529"/>
      </p:ext>
    </p:extLst>
  </p:cSld>
  <p:clrMapOvr>
    <a:masterClrMapping/>
  </p:clrMapOvr>
</p:sld>
</file>

<file path=ppt/slides/slide5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실측 표 — OFFSET 깊이별 비용</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같은 SQL의 바인드 값만 바꿔 세 번 실행한 결과 (실습 DB 실측)</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OFFSET           | Buffers | A-Time | 정렬 작업 메모리(Used-Mem) |</a:t>
            </a:r>
          </a:p>
          <a:p>
            <a:r>
              <a:rPr sz="1250" b="0">
                <a:solidFill>
                  <a:srgbClr val="E6E6E6"/>
                </a:solidFill>
                <a:latin typeface="Consolas"/>
              </a:rPr>
              <a:t>|----------------------------|---------|--------|----------------------------|</a:t>
            </a:r>
          </a:p>
          <a:p>
            <a:r>
              <a:rPr sz="1250" b="0">
                <a:solidFill>
                  <a:srgbClr val="E6E6E6"/>
                </a:solidFill>
                <a:latin typeface="Consolas"/>
              </a:rPr>
              <a:t>| 0 (1페이지)                |   3,090 | 0.02초 |                         2K |</a:t>
            </a:r>
          </a:p>
          <a:p>
            <a:r>
              <a:rPr sz="1250" b="0">
                <a:solidFill>
                  <a:srgbClr val="E6E6E6"/>
                </a:solidFill>
                <a:latin typeface="Consolas"/>
              </a:rPr>
              <a:t>| 200,000 (약 1만 페이지)    |   3,090 | 0.14초 |                        10M |</a:t>
            </a:r>
          </a:p>
          <a:p>
            <a:r>
              <a:rPr sz="1250" b="0">
                <a:solidFill>
                  <a:srgbClr val="E6E6E6"/>
                </a:solidFill>
                <a:latin typeface="Consolas"/>
              </a:rPr>
              <a:t>| 280,000 (약 1만4천 페이지) |   3,090 | 0.18초 |                        14M |</a:t>
            </a:r>
          </a:p>
          <a:p>
            <a:r>
              <a:rPr sz="1250" b="0">
                <a:solidFill>
                  <a:srgbClr val="E6E6E6"/>
                </a:solidFill>
                <a:latin typeface="Consolas"/>
              </a:rPr>
              <a:t> </a:t>
            </a:r>
          </a:p>
          <a:p>
            <a:r>
              <a:rPr sz="1250" b="0">
                <a:solidFill>
                  <a:srgbClr val="7EC699"/>
                </a:solidFill>
                <a:latin typeface="Consolas"/>
              </a:rPr>
              <a:t>-- Buffers는 세 경우 모두 3,090으로 동일하다</a:t>
            </a:r>
          </a:p>
          <a:p>
            <a:r>
              <a:rPr sz="1250" b="0">
                <a:solidFill>
                  <a:srgbClr val="7EC699"/>
                </a:solidFill>
                <a:latin typeface="Consolas"/>
              </a:rPr>
              <a:t>-- A-Time은 0.02초에서 0.18초로 9배 늘었다</a:t>
            </a:r>
          </a:p>
          <a:p>
            <a:r>
              <a:rPr sz="1250" b="0">
                <a:solidFill>
                  <a:srgbClr val="7EC699"/>
                </a:solidFill>
                <a:latin typeface="Consolas"/>
              </a:rPr>
              <a:t>-- 정렬 작업 메모리는 2K에서 14M로 급증했다</a:t>
            </a:r>
          </a:p>
          <a:p>
            <a:r>
              <a:rPr sz="1250" b="0">
                <a:solidFill>
                  <a:srgbClr val="E6E6E6"/>
                </a:solidFill>
                <a:latin typeface="Consolas"/>
              </a:rPr>
              <a:t> </a:t>
            </a:r>
          </a:p>
          <a:p>
            <a:r>
              <a:rPr sz="1250" b="0">
                <a:solidFill>
                  <a:srgbClr val="7EC699"/>
                </a:solidFill>
                <a:latin typeface="Consolas"/>
              </a:rPr>
              <a:t>-- 계획에는 TABLE ACCESS FULL과 WINDOW SORT PUSHED RANK가 나타났다</a:t>
            </a:r>
          </a:p>
        </p:txBody>
      </p:sp>
    </p:spTree>
    <p:extLst>
      <p:ext uri="{BB962C8B-B14F-4D97-AF65-F5344CB8AC3E}">
        <p14:creationId xmlns:p14="http://schemas.microsoft.com/office/powerpoint/2010/main" val="1934348532"/>
      </p:ext>
    </p:extLst>
  </p:cSld>
  <p:clrMapOvr>
    <a:masterClrMapping/>
  </p:clrMapOvr>
</p:sld>
</file>

<file path=ppt/slides/slide5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표 읽기 ① Buffers가 같은 이유</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세 경우 모두 Buffers 3,090으로 동일하다</a:t>
            </a:r>
          </a:p>
          <a:p>
            <a:r>
              <a:rPr sz="1600" b="0">
                <a:solidFill>
                  <a:srgbClr val="5A6672"/>
                </a:solidFill>
                <a:latin typeface="Malgun Gothic"/>
              </a:rPr>
              <a:t>    –  OFFSET 값이 얼마든 읽은 블록 수가 변하지 않았다는 뜻</a:t>
            </a:r>
          </a:p>
          <a:p>
            <a:r>
              <a:rPr sz="1800" b="0">
                <a:solidFill>
                  <a:srgbClr val="202830"/>
                </a:solidFill>
                <a:latin typeface="Malgun Gothic"/>
              </a:rPr>
              <a:t>•  이유는 접근 방식에 있다 — TABLE ACCESS FULL</a:t>
            </a:r>
          </a:p>
          <a:p>
            <a:r>
              <a:rPr sz="1600" b="0">
                <a:solidFill>
                  <a:srgbClr val="5A6672"/>
                </a:solidFill>
                <a:latin typeface="Malgun Gothic"/>
              </a:rPr>
              <a:t>    –  Full Scan은 조건과 무관하게 테이블의 모든 블록을 읽는다</a:t>
            </a:r>
          </a:p>
          <a:p>
            <a:r>
              <a:rPr sz="1600" b="0">
                <a:solidFill>
                  <a:srgbClr val="5A6672"/>
                </a:solidFill>
                <a:latin typeface="Malgun Gothic"/>
              </a:rPr>
              <a:t>    –  이 쿼리에는 WHERE 조건이 없어 걸러 낼 것도 없다</a:t>
            </a:r>
          </a:p>
          <a:p>
            <a:r>
              <a:rPr sz="1600" b="0">
                <a:solidFill>
                  <a:srgbClr val="5A6672"/>
                </a:solidFill>
                <a:latin typeface="Malgun Gothic"/>
              </a:rPr>
              <a:t>    –  전체를 한 번은 다 읽어야 순위를 매길 수 있으므로 OFFSET과 무관하다</a:t>
            </a:r>
          </a:p>
          <a:p>
            <a:r>
              <a:rPr sz="1800" b="0">
                <a:solidFill>
                  <a:srgbClr val="202830"/>
                </a:solidFill>
                <a:latin typeface="Malgun Gothic"/>
              </a:rPr>
              <a:t>•  그래서 Buffers는 이 문제를 진단하는 데 쓸모가 없다</a:t>
            </a:r>
          </a:p>
          <a:p>
            <a:r>
              <a:rPr sz="1600" b="0">
                <a:solidFill>
                  <a:srgbClr val="5A6672"/>
                </a:solidFill>
                <a:latin typeface="Malgun Gothic"/>
              </a:rPr>
              <a:t>    –  I/O 비용은 정말로 늘지 않았다 — 지표가 틀린 것이 아니다</a:t>
            </a:r>
          </a:p>
          <a:p>
            <a:r>
              <a:rPr sz="1600" b="0">
                <a:solidFill>
                  <a:srgbClr val="5A6672"/>
                </a:solidFill>
                <a:latin typeface="Malgun Gothic"/>
              </a:rPr>
              <a:t>    –  다만 이 사례의 비용은 I/O가 아닌 곳에서 발생하고 있을 뿐이다</a:t>
            </a:r>
          </a:p>
        </p:txBody>
      </p:sp>
    </p:spTree>
    <p:extLst>
      <p:ext uri="{BB962C8B-B14F-4D97-AF65-F5344CB8AC3E}">
        <p14:creationId xmlns:p14="http://schemas.microsoft.com/office/powerpoint/2010/main" val="2150970935"/>
      </p:ext>
    </p:extLst>
  </p:cSld>
  <p:clrMapOvr>
    <a:masterClrMapping/>
  </p:clrMapOvr>
</p:sld>
</file>

<file path=ppt/slides/slide5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표 읽기 ② A-Time과 메모리가 늘어난 이유</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A-Time 0.02초 → 0.18초, 작업 메모리 2K → 14M</a:t>
            </a:r>
          </a:p>
          <a:p>
            <a:r>
              <a:rPr sz="1600" b="0">
                <a:solidFill>
                  <a:srgbClr val="5A6672"/>
                </a:solidFill>
                <a:latin typeface="Malgun Gothic"/>
              </a:rPr>
              <a:t>    –  OFFSET이 커질수록 두 값이 함께 커지는 경향이 뚜렷하다</a:t>
            </a:r>
          </a:p>
          <a:p>
            <a:r>
              <a:rPr sz="1800" b="0">
                <a:solidFill>
                  <a:srgbClr val="202830"/>
                </a:solidFill>
                <a:latin typeface="Malgun Gothic"/>
              </a:rPr>
              <a:t>•  원인은 WINDOW SORT PUSHED RANK 오퍼레이션이다</a:t>
            </a:r>
          </a:p>
          <a:p>
            <a:r>
              <a:rPr sz="1600" b="0">
                <a:solidFill>
                  <a:srgbClr val="5A6672"/>
                </a:solidFill>
                <a:latin typeface="Malgun Gothic"/>
              </a:rPr>
              <a:t>    –  전체 결과에 ROW_NUMBER()로 순번을 매기는 작업</a:t>
            </a:r>
          </a:p>
          <a:p>
            <a:r>
              <a:rPr sz="1600" b="0">
                <a:solidFill>
                  <a:srgbClr val="5A6672"/>
                </a:solidFill>
                <a:latin typeface="Malgun Gothic"/>
              </a:rPr>
              <a:t>    –  OFFSET 0이면 20번째까지만 순번이 필요하다</a:t>
            </a:r>
          </a:p>
          <a:p>
            <a:r>
              <a:rPr sz="1600" b="0">
                <a:solidFill>
                  <a:srgbClr val="5A6672"/>
                </a:solidFill>
                <a:latin typeface="Malgun Gothic"/>
              </a:rPr>
              <a:t>    –  OFFSET 280,000이면 280,020번째까지 순번을 매겨야 한다</a:t>
            </a:r>
          </a:p>
          <a:p>
            <a:r>
              <a:rPr sz="1800" b="0">
                <a:solidFill>
                  <a:srgbClr val="202830"/>
                </a:solidFill>
                <a:latin typeface="Malgun Gothic"/>
              </a:rPr>
              <a:t>•  순번을 매기려면 정렬된 상태를 유지해야 한다</a:t>
            </a:r>
          </a:p>
          <a:p>
            <a:r>
              <a:rPr sz="1600" b="0">
                <a:solidFill>
                  <a:srgbClr val="5A6672"/>
                </a:solidFill>
                <a:latin typeface="Malgun Gothic"/>
              </a:rPr>
              <a:t>    –  그만큼의 CPU 시간과 작업 메모리가 함께 필요해진다</a:t>
            </a:r>
          </a:p>
          <a:p>
            <a:r>
              <a:rPr sz="1600" b="0">
                <a:solidFill>
                  <a:srgbClr val="5A6672"/>
                </a:solidFill>
                <a:latin typeface="Malgun Gothic"/>
              </a:rPr>
              <a:t>    –  이 비용이 A-Time과 Used-Mem에 나타난 것이다</a:t>
            </a:r>
          </a:p>
          <a:p>
            <a:r>
              <a:rPr sz="1800" b="0">
                <a:solidFill>
                  <a:srgbClr val="202830"/>
                </a:solidFill>
                <a:latin typeface="Malgun Gothic"/>
              </a:rPr>
              <a:t>•  읽은 블록은 그대로인데 그 블록으로 하는 일이 늘어난 셈이다</a:t>
            </a:r>
          </a:p>
        </p:txBody>
      </p:sp>
    </p:spTree>
    <p:extLst>
      <p:ext uri="{BB962C8B-B14F-4D97-AF65-F5344CB8AC3E}">
        <p14:creationId xmlns:p14="http://schemas.microsoft.com/office/powerpoint/2010/main" val="3228056626"/>
      </p:ext>
    </p:extLst>
  </p:cSld>
  <p:clrMapOvr>
    <a:masterClrMapping/>
  </p:clrMapOvr>
</p:sld>
</file>

<file path=ppt/slides/slide5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오판의 위험 — Buffers만 봤다면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만약 Buffers만 보고 판단했다면 어떤 결론이 나왔을까</a:t>
            </a:r>
          </a:p>
          <a:p>
            <a:r>
              <a:rPr sz="1600" b="0">
                <a:solidFill>
                  <a:srgbClr val="5A6672"/>
                </a:solidFill>
                <a:latin typeface="Malgun Gothic"/>
              </a:rPr>
              <a:t>    –  "페이지가 깊어져도 비용은 그대로다"</a:t>
            </a:r>
          </a:p>
          <a:p>
            <a:r>
              <a:rPr sz="1600" b="0">
                <a:solidFill>
                  <a:srgbClr val="5A6672"/>
                </a:solidFill>
                <a:latin typeface="Malgun Gothic"/>
              </a:rPr>
              <a:t>    –  "이 페이징 쿼리는 튜닝할 것이 없다"</a:t>
            </a:r>
          </a:p>
          <a:p>
            <a:r>
              <a:rPr sz="1800" b="0">
                <a:solidFill>
                  <a:srgbClr val="202830"/>
                </a:solidFill>
                <a:latin typeface="Malgun Gothic"/>
              </a:rPr>
              <a:t>•  실제 사용자 경험은 정반대다</a:t>
            </a:r>
          </a:p>
          <a:p>
            <a:r>
              <a:rPr sz="1600" b="0">
                <a:solidFill>
                  <a:srgbClr val="5A6672"/>
                </a:solidFill>
                <a:latin typeface="Malgun Gothic"/>
              </a:rPr>
              <a:t>    –  깊은 페이지로 갈수록 응답 시간이 눈에 띄게 느려진다</a:t>
            </a:r>
          </a:p>
          <a:p>
            <a:r>
              <a:rPr sz="1600" b="0">
                <a:solidFill>
                  <a:srgbClr val="5A6672"/>
                </a:solidFill>
                <a:latin typeface="Malgun Gothic"/>
              </a:rPr>
              <a:t>    –  동시 사용자가 많으면 작업 메모리 압박으로 서버 전체에 영향을 준다</a:t>
            </a:r>
          </a:p>
          <a:p>
            <a:r>
              <a:rPr sz="1800" b="0">
                <a:solidFill>
                  <a:srgbClr val="202830"/>
                </a:solidFill>
                <a:latin typeface="Malgun Gothic"/>
              </a:rPr>
              <a:t>•  판단 절차로 정리하면</a:t>
            </a:r>
          </a:p>
          <a:p>
            <a:r>
              <a:rPr sz="1600" b="0">
                <a:solidFill>
                  <a:srgbClr val="5A6672"/>
                </a:solidFill>
                <a:latin typeface="Malgun Gothic"/>
              </a:rPr>
              <a:t>    –  ① 실행계획에 정렬 계열 오퍼레이션이 있는지 먼저 확인한다</a:t>
            </a:r>
          </a:p>
          <a:p>
            <a:r>
              <a:rPr sz="1600" b="0">
                <a:solidFill>
                  <a:srgbClr val="5A6672"/>
                </a:solidFill>
                <a:latin typeface="Malgun Gothic"/>
              </a:rPr>
              <a:t>    –  ② 있으면 Buffers와 함께 A-Time·Used-Mem을 반드시 본다</a:t>
            </a:r>
          </a:p>
          <a:p>
            <a:r>
              <a:rPr sz="1600" b="0">
                <a:solidFill>
                  <a:srgbClr val="5A6672"/>
                </a:solidFill>
                <a:latin typeface="Malgun Gothic"/>
              </a:rPr>
              <a:t>    –  ③ 바인드 값을 바꿔 가며 최소 두 지점 이상에서 측정한다</a:t>
            </a:r>
          </a:p>
          <a:p>
            <a:r>
              <a:rPr sz="1800" b="0">
                <a:solidFill>
                  <a:srgbClr val="202830"/>
                </a:solidFill>
                <a:latin typeface="Malgun Gothic"/>
              </a:rPr>
              <a:t>•  ch11의 교훈이 그대로 재현된 사례다</a:t>
            </a:r>
          </a:p>
        </p:txBody>
      </p:sp>
    </p:spTree>
    <p:extLst>
      <p:ext uri="{BB962C8B-B14F-4D97-AF65-F5344CB8AC3E}">
        <p14:creationId xmlns:p14="http://schemas.microsoft.com/office/powerpoint/2010/main" val="273680195"/>
      </p:ext>
    </p:extLst>
  </p:cSld>
  <p:clrMapOvr>
    <a:masterClrMapping/>
  </p:clrMapOvr>
</p:sld>
</file>

<file path=ppt/slides/slide553.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107996"/>
          </a:xfrm>
          <a:prstGeom prst="rect">
            <a:avLst/>
          </a:prstGeom>
          <a:noFill/>
        </p:spPr>
        <p:txBody>
          <a:bodyPr wrap="square">
            <a:spAutoFit/>
          </a:bodyPr>
          <a:lstStyle/>
          <a:p>
            <a:r>
              <a:rPr sz="6600" b="1" dirty="0">
                <a:solidFill>
                  <a:srgbClr val="C0392B"/>
                </a:solidFill>
                <a:latin typeface="Malgun Gothic"/>
              </a:rPr>
              <a:t>1</a:t>
            </a:r>
            <a:r>
              <a:rPr lang="en-US" sz="6600" b="1" dirty="0">
                <a:solidFill>
                  <a:srgbClr val="C0392B"/>
                </a:solidFill>
                <a:latin typeface="Malgun Gothic"/>
              </a:rPr>
              <a:t>3</a:t>
            </a:r>
            <a:r>
              <a:rPr sz="6600" b="1" dirty="0">
                <a:solidFill>
                  <a:srgbClr val="C0392B"/>
                </a:solidFill>
                <a:latin typeface="Malgun Gothic"/>
              </a:rPr>
              <a:t>.6</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Keyset 방식과의 실행계획 비교</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WINDOW NOSORT STOPKEY의 등장</a:t>
            </a:r>
          </a:p>
          <a:p>
            <a:r>
              <a:rPr sz="1600" b="0">
                <a:solidFill>
                  <a:srgbClr val="C5CED6"/>
                </a:solidFill>
                <a:latin typeface="Malgun Gothic"/>
              </a:rPr>
              <a:t>•  INDEX RANGE SCAN DESCENDING</a:t>
            </a:r>
          </a:p>
          <a:p>
            <a:r>
              <a:rPr sz="1600" b="0">
                <a:solidFill>
                  <a:srgbClr val="C5CED6"/>
                </a:solidFill>
                <a:latin typeface="Malgun Gothic"/>
              </a:rPr>
              <a:t>•  OFFSET 쿼리는 왜 인덱스를 못 썼는가</a:t>
            </a:r>
          </a:p>
        </p:txBody>
      </p:sp>
    </p:spTree>
    <p:extLst>
      <p:ext uri="{BB962C8B-B14F-4D97-AF65-F5344CB8AC3E}">
        <p14:creationId xmlns:p14="http://schemas.microsoft.com/office/powerpoint/2010/main" val="2531094033"/>
      </p:ext>
    </p:extLst>
  </p:cSld>
  <p:clrMapOvr>
    <a:masterClrMapping/>
  </p:clrMapOvr>
</p:sld>
</file>

<file path=ppt/slides/slide5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Keyset 방식 실행계획</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같은 정도의 깊이(약 280,000번째 부근)를 Keyset 방식으로 조회한 결과</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A-Rows |   A-Time   | Buffers |</a:t>
            </a:r>
          </a:p>
          <a:p>
            <a:r>
              <a:rPr sz="1250" b="0">
                <a:solidFill>
                  <a:srgbClr val="E6E6E6"/>
                </a:solidFill>
                <a:latin typeface="Consolas"/>
              </a:rPr>
              <a:t>| 0  | SELECT STATEMENT             |                  |     20 |00:00:00.01 |      25 |</a:t>
            </a:r>
          </a:p>
          <a:p>
            <a:r>
              <a:rPr sz="1250" b="0">
                <a:solidFill>
                  <a:srgbClr val="E6E6E6"/>
                </a:solidFill>
                <a:latin typeface="Consolas"/>
              </a:rPr>
              <a:t>| 1  |  VIEW                        |                  |     20 |00:00:00.01 |      25 |</a:t>
            </a:r>
          </a:p>
          <a:p>
            <a:r>
              <a:rPr sz="1250" b="0">
                <a:solidFill>
                  <a:srgbClr val="E6E6E6"/>
                </a:solidFill>
                <a:latin typeface="Consolas"/>
              </a:rPr>
              <a:t>| 2  |   WINDOW NOSORT STOPKEY      |                  |     20 |00:00:00.01 |      25 |</a:t>
            </a:r>
          </a:p>
          <a:p>
            <a:r>
              <a:rPr sz="1250" b="0">
                <a:solidFill>
                  <a:srgbClr val="E6E6E6"/>
                </a:solidFill>
                <a:latin typeface="Consolas"/>
              </a:rPr>
              <a:t>| 3  |    TABLE ACCESS BY INDEX ROWID| MEDICAL_CLAIMS  |     20 |00:00:00.01 |      25 |</a:t>
            </a:r>
          </a:p>
          <a:p>
            <a:r>
              <a:rPr sz="1250" b="0">
                <a:solidFill>
                  <a:srgbClr val="E6E6E6"/>
                </a:solidFill>
                <a:latin typeface="Consolas"/>
              </a:rPr>
              <a:t>| 4  |     INDEX RANGE SCAN DESCENDING| IX_RECEIPT     |     20 |00:00:00.01 |       6 |</a:t>
            </a:r>
          </a:p>
          <a:p>
            <a:r>
              <a:rPr sz="1250" b="0">
                <a:solidFill>
                  <a:srgbClr val="E6E6E6"/>
                </a:solidFill>
                <a:latin typeface="Consolas"/>
              </a:rPr>
              <a:t> </a:t>
            </a:r>
          </a:p>
          <a:p>
            <a:r>
              <a:rPr sz="1250" b="0">
                <a:solidFill>
                  <a:srgbClr val="7EC699"/>
                </a:solidFill>
                <a:latin typeface="Consolas"/>
              </a:rPr>
              <a:t>-- 앞 절의 OFFSET 280,000 방식: Buffers 3,090 / A-Time 0.18초</a:t>
            </a:r>
          </a:p>
          <a:p>
            <a:r>
              <a:rPr sz="1250" b="0">
                <a:solidFill>
                  <a:srgbClr val="7EC699"/>
                </a:solidFill>
                <a:latin typeface="Consolas"/>
              </a:rPr>
              <a:t>-- 이번 Keyset 방식:           Buffers    25 / A-Time 0.01초</a:t>
            </a:r>
          </a:p>
          <a:p>
            <a:r>
              <a:rPr sz="1250" b="0">
                <a:solidFill>
                  <a:srgbClr val="E6E6E6"/>
                </a:solidFill>
                <a:latin typeface="Consolas"/>
              </a:rPr>
              <a:t> </a:t>
            </a:r>
          </a:p>
          <a:p>
            <a:r>
              <a:rPr sz="1250" b="0">
                <a:solidFill>
                  <a:srgbClr val="7EC699"/>
                </a:solidFill>
                <a:latin typeface="Consolas"/>
              </a:rPr>
              <a:t>-- 오퍼레이션 구성 자체가 다르다는 점에 주목할 것</a:t>
            </a:r>
          </a:p>
          <a:p>
            <a:r>
              <a:rPr sz="1250" b="0">
                <a:solidFill>
                  <a:srgbClr val="7EC699"/>
                </a:solidFill>
                <a:latin typeface="Consolas"/>
              </a:rPr>
              <a:t>-- TABLE ACCESS FULL + WINDOW SORT PUSHED RANK  →  전체범위 처리</a:t>
            </a:r>
          </a:p>
          <a:p>
            <a:r>
              <a:rPr sz="1250" b="0">
                <a:solidFill>
                  <a:srgbClr val="7EC699"/>
                </a:solidFill>
                <a:latin typeface="Consolas"/>
              </a:rPr>
              <a:t>-- INDEX RANGE SCAN + WINDOW NOSORT STOPKEY     →  부분범위 처리</a:t>
            </a:r>
          </a:p>
        </p:txBody>
      </p:sp>
    </p:spTree>
    <p:extLst>
      <p:ext uri="{BB962C8B-B14F-4D97-AF65-F5344CB8AC3E}">
        <p14:creationId xmlns:p14="http://schemas.microsoft.com/office/powerpoint/2010/main" val="226681194"/>
      </p:ext>
    </p:extLst>
  </p:cSld>
  <p:clrMapOvr>
    <a:masterClrMapping/>
  </p:clrMapOvr>
</p:sld>
</file>

<file path=ppt/slides/slide5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실행계획 해석 — 왜 이렇게 저렴한가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INDEX RANGE SCAN DESCENDING — 시작점을 바로 찾는다</a:t>
            </a:r>
          </a:p>
          <a:p>
            <a:r>
              <a:rPr sz="1600" b="0">
                <a:solidFill>
                  <a:srgbClr val="5A6672"/>
                </a:solidFill>
                <a:latin typeface="Malgun Gothic"/>
              </a:rPr>
              <a:t>    –  receipt_date &lt; :마지막_날짜 조건으로 인덱스의 해당 지점에 즉시 진입</a:t>
            </a:r>
          </a:p>
          <a:p>
            <a:r>
              <a:rPr sz="1600" b="0">
                <a:solidFill>
                  <a:srgbClr val="5A6672"/>
                </a:solidFill>
                <a:latin typeface="Malgun Gothic"/>
              </a:rPr>
              <a:t>    –  그 지점부터 내림차순으로 읽어 나가므로 앞을 셀 필요가 없다</a:t>
            </a:r>
          </a:p>
          <a:p>
            <a:r>
              <a:rPr sz="1800" b="0">
                <a:solidFill>
                  <a:srgbClr val="202830"/>
                </a:solidFill>
                <a:latin typeface="Malgun Gothic"/>
              </a:rPr>
              <a:t>•  WINDOW NOSORT STOPKEY — 정렬도 없고 초과 작업도 없다</a:t>
            </a:r>
          </a:p>
          <a:p>
            <a:r>
              <a:rPr sz="1600" b="0">
                <a:solidFill>
                  <a:srgbClr val="5A6672"/>
                </a:solidFill>
                <a:latin typeface="Malgun Gothic"/>
              </a:rPr>
              <a:t>    –  인덱스가 이미 정렬 순서를 제공하므로 정렬 단계가 사라졌다(NOSORT)</a:t>
            </a:r>
          </a:p>
          <a:p>
            <a:r>
              <a:rPr sz="1600" b="0">
                <a:solidFill>
                  <a:srgbClr val="5A6672"/>
                </a:solidFill>
                <a:latin typeface="Malgun Gothic"/>
              </a:rPr>
              <a:t>    –  20건을 채우는 즉시 더 읽지 않고 멈췄다(STOPKEY)</a:t>
            </a:r>
          </a:p>
          <a:p>
            <a:r>
              <a:rPr sz="1800" b="0">
                <a:solidFill>
                  <a:srgbClr val="202830"/>
                </a:solidFill>
                <a:latin typeface="Malgun Gothic"/>
              </a:rPr>
              <a:t>•  숫자로 확인되는 결과</a:t>
            </a:r>
          </a:p>
          <a:p>
            <a:r>
              <a:rPr sz="1600" b="0">
                <a:solidFill>
                  <a:srgbClr val="5A6672"/>
                </a:solidFill>
                <a:latin typeface="Malgun Gothic"/>
              </a:rPr>
              <a:t>    –  Buffers 25, A-Time 0.01초 — 인덱스 스캔 단계만 보면 Buffers 6</a:t>
            </a:r>
          </a:p>
          <a:p>
            <a:r>
              <a:rPr sz="1600" b="0">
                <a:solidFill>
                  <a:srgbClr val="5A6672"/>
                </a:solidFill>
                <a:latin typeface="Malgun Gothic"/>
              </a:rPr>
              <a:t>    –  모든 단계의 A-Rows가 20 — 초과 처리한 행이 없다</a:t>
            </a:r>
          </a:p>
          <a:p>
            <a:r>
              <a:rPr sz="1800" b="0">
                <a:solidFill>
                  <a:srgbClr val="202830"/>
                </a:solidFill>
                <a:latin typeface="Malgun Gothic"/>
              </a:rPr>
              <a:t>•  "필요한 지점부터 필요한 만큼만"이 계획에 그대로 드러나 있다</a:t>
            </a:r>
          </a:p>
        </p:txBody>
      </p:sp>
    </p:spTree>
    <p:extLst>
      <p:ext uri="{BB962C8B-B14F-4D97-AF65-F5344CB8AC3E}">
        <p14:creationId xmlns:p14="http://schemas.microsoft.com/office/powerpoint/2010/main" val="622141147"/>
      </p:ext>
    </p:extLst>
  </p:cSld>
  <p:clrMapOvr>
    <a:masterClrMapping/>
  </p:clrMapOvr>
</p:sld>
</file>

<file path=ppt/slides/slide5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DESCENDING이 가능한 구조적 이유</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DESCENDING — 인덱스를 값이 큰 것부터 작은 것 순서로 읽었다는 뜻</a:t>
            </a:r>
          </a:p>
          <a:p>
            <a:r>
              <a:rPr sz="1800" b="0">
                <a:solidFill>
                  <a:srgbClr val="202830"/>
                </a:solidFill>
                <a:latin typeface="Malgun Gothic"/>
              </a:rPr>
              <a:t>•  의문 — 인덱스는 오름차순으로 저장되는데 어떻게 가능한가</a:t>
            </a:r>
          </a:p>
          <a:p>
            <a:r>
              <a:rPr sz="1600" b="0">
                <a:solidFill>
                  <a:srgbClr val="5A6672"/>
                </a:solidFill>
                <a:latin typeface="Malgun Gothic"/>
              </a:rPr>
              <a:t>    –  B-Tree 인덱스의 리프 블록은 양방향으로 연결되어 있다</a:t>
            </a:r>
          </a:p>
          <a:p>
            <a:r>
              <a:rPr sz="1600" b="0">
                <a:solidFill>
                  <a:srgbClr val="5A6672"/>
                </a:solidFill>
                <a:latin typeface="Malgun Gothic"/>
              </a:rPr>
              <a:t>    –  더블 링크드 리스트 구조이므로 반대 방향으로도 따라갈 수 있다</a:t>
            </a:r>
          </a:p>
          <a:p>
            <a:r>
              <a:rPr sz="1600" b="0">
                <a:solidFill>
                  <a:srgbClr val="5A6672"/>
                </a:solidFill>
                <a:latin typeface="Malgun Gothic"/>
              </a:rPr>
              <a:t>    –  체인을 역방향으로 읽으면 내림차순으로 읽는 것과 같은 효과가 난다</a:t>
            </a:r>
          </a:p>
          <a:p>
            <a:r>
              <a:rPr sz="1800" b="0">
                <a:solidFill>
                  <a:srgbClr val="202830"/>
                </a:solidFill>
                <a:latin typeface="Malgun Gothic"/>
              </a:rPr>
              <a:t>•  실무적 함의</a:t>
            </a:r>
          </a:p>
          <a:p>
            <a:r>
              <a:rPr sz="1600" b="0">
                <a:solidFill>
                  <a:srgbClr val="5A6672"/>
                </a:solidFill>
                <a:latin typeface="Malgun Gothic"/>
              </a:rPr>
              <a:t>    –  ORDER BY ... DESC 하나 때문에 내림차순 인덱스를 따로 만들 필요가 없다</a:t>
            </a:r>
          </a:p>
          <a:p>
            <a:r>
              <a:rPr sz="1600" b="0">
                <a:solidFill>
                  <a:srgbClr val="5A6672"/>
                </a:solidFill>
                <a:latin typeface="Malgun Gothic"/>
              </a:rPr>
              <a:t>    –  단일 컬럼 정렬이라면 기존 오름차순 인덱스로 그대로 처리 가능하다</a:t>
            </a:r>
          </a:p>
          <a:p>
            <a:r>
              <a:rPr sz="1800" b="0">
                <a:solidFill>
                  <a:srgbClr val="202830"/>
                </a:solidFill>
                <a:latin typeface="Malgun Gothic"/>
              </a:rPr>
              <a:t>•  예외 — 여러 컬럼의 정렬 방향이 엇갈리는 경우</a:t>
            </a:r>
          </a:p>
          <a:p>
            <a:r>
              <a:rPr sz="1600" b="0">
                <a:solidFill>
                  <a:srgbClr val="5A6672"/>
                </a:solidFill>
                <a:latin typeface="Malgun Gothic"/>
              </a:rPr>
              <a:t>    –  한 컬럼은 오름차순, 다른 컬럼은 내림차순이면 역방향 읽기로 해결되지 않는다</a:t>
            </a:r>
          </a:p>
        </p:txBody>
      </p:sp>
    </p:spTree>
    <p:extLst>
      <p:ext uri="{BB962C8B-B14F-4D97-AF65-F5344CB8AC3E}">
        <p14:creationId xmlns:p14="http://schemas.microsoft.com/office/powerpoint/2010/main" val="1959280159"/>
      </p:ext>
    </p:extLst>
  </p:cSld>
  <p:clrMapOvr>
    <a:masterClrMapping/>
  </p:clrMapOvr>
</p:sld>
</file>

<file path=ppt/slides/slide5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OFFSET 쿼리는 왜 인덱스를 못 썼는가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같은 인덱스가 있었는데 OFFSET 방식은 TABLE ACCESS FULL을 선택했다</a:t>
            </a:r>
          </a:p>
          <a:p>
            <a:r>
              <a:rPr sz="1800" b="0">
                <a:solidFill>
                  <a:srgbClr val="202830"/>
                </a:solidFill>
                <a:latin typeface="Malgun Gothic"/>
              </a:rPr>
              <a:t>•  이유 ① 찾아 들어갈 조건이 없다</a:t>
            </a:r>
          </a:p>
          <a:p>
            <a:r>
              <a:rPr sz="1600" b="0">
                <a:solidFill>
                  <a:srgbClr val="5A6672"/>
                </a:solidFill>
                <a:latin typeface="Malgun Gothic"/>
              </a:rPr>
              <a:t>    –  OFFSET 쿼리에는 WHERE 절이 전혀 없다</a:t>
            </a:r>
          </a:p>
          <a:p>
            <a:r>
              <a:rPr sz="1600" b="0">
                <a:solidFill>
                  <a:srgbClr val="5A6672"/>
                </a:solidFill>
                <a:latin typeface="Malgun Gothic"/>
              </a:rPr>
              <a:t>    –  특정 값으로 인덱스에 진입할 access predicate가 존재하지 않는다</a:t>
            </a:r>
          </a:p>
          <a:p>
            <a:r>
              <a:rPr sz="1600" b="0">
                <a:solidFill>
                  <a:srgbClr val="5A6672"/>
                </a:solidFill>
                <a:latin typeface="Malgun Gothic"/>
              </a:rPr>
              <a:t>    –  결국 전체 데이터에 순위를 매겨야 하므로 인덱스를 처음부터 끝까지 훑는 셈</a:t>
            </a:r>
          </a:p>
          <a:p>
            <a:r>
              <a:rPr sz="1800" b="0">
                <a:solidFill>
                  <a:srgbClr val="202830"/>
                </a:solidFill>
                <a:latin typeface="Malgun Gothic"/>
              </a:rPr>
              <a:t>•  이유 ② 인덱스만으로는 필요한 컬럼을 다 못 가져온다</a:t>
            </a:r>
          </a:p>
          <a:p>
            <a:r>
              <a:rPr sz="1600" b="0">
                <a:solidFill>
                  <a:srgbClr val="5A6672"/>
                </a:solidFill>
                <a:latin typeface="Malgun Gothic"/>
              </a:rPr>
              <a:t>    –  인덱스에는 receipt_date만 있고 claim_id는 테이블에서 가져와야 한다</a:t>
            </a:r>
          </a:p>
          <a:p>
            <a:r>
              <a:rPr sz="1600" b="0">
                <a:solidFill>
                  <a:srgbClr val="5A6672"/>
                </a:solidFill>
                <a:latin typeface="Malgun Gothic"/>
              </a:rPr>
              <a:t>    –  인덱스를 타면 테이블 접근이 추가로 발생한다</a:t>
            </a:r>
          </a:p>
          <a:p>
            <a:r>
              <a:rPr sz="1600" b="0">
                <a:solidFill>
                  <a:srgbClr val="5A6672"/>
                </a:solidFill>
                <a:latin typeface="Malgun Gothic"/>
              </a:rPr>
              <a:t>    –  그럴 바에는 Full Scan으로 한 번에 읽는 편이 낫다고 판단한 것으로 보인다</a:t>
            </a:r>
          </a:p>
          <a:p>
            <a:r>
              <a:rPr sz="1800" b="0">
                <a:solidFill>
                  <a:srgbClr val="202830"/>
                </a:solidFill>
                <a:latin typeface="Malgun Gothic"/>
              </a:rPr>
              <a:t>•  옵티마이저가 인덱스를 버린 것은 버그가 아니라 계산 결과다</a:t>
            </a:r>
          </a:p>
        </p:txBody>
      </p:sp>
    </p:spTree>
    <p:extLst>
      <p:ext uri="{BB962C8B-B14F-4D97-AF65-F5344CB8AC3E}">
        <p14:creationId xmlns:p14="http://schemas.microsoft.com/office/powerpoint/2010/main" val="2987525354"/>
      </p:ext>
    </p:extLst>
  </p:cSld>
  <p:clrMapOvr>
    <a:masterClrMapping/>
  </p:clrMapOvr>
</p:sld>
</file>

<file path=ppt/slides/slide558.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107996"/>
          </a:xfrm>
          <a:prstGeom prst="rect">
            <a:avLst/>
          </a:prstGeom>
          <a:noFill/>
        </p:spPr>
        <p:txBody>
          <a:bodyPr wrap="square">
            <a:spAutoFit/>
          </a:bodyPr>
          <a:lstStyle/>
          <a:p>
            <a:r>
              <a:rPr sz="6600" b="1" dirty="0">
                <a:solidFill>
                  <a:srgbClr val="C0392B"/>
                </a:solidFill>
                <a:latin typeface="Malgun Gothic"/>
              </a:rPr>
              <a:t>1</a:t>
            </a:r>
            <a:r>
              <a:rPr lang="en-US" sz="6600" b="1" dirty="0">
                <a:solidFill>
                  <a:srgbClr val="C0392B"/>
                </a:solidFill>
                <a:latin typeface="Malgun Gothic"/>
              </a:rPr>
              <a:t>3</a:t>
            </a:r>
            <a:r>
              <a:rPr sz="6600" b="1" dirty="0">
                <a:solidFill>
                  <a:srgbClr val="C0392B"/>
                </a:solidFill>
                <a:latin typeface="Malgun Gothic"/>
              </a:rPr>
              <a:t>.7</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Keyset의 제약과 실무 절충</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임의 페이지 점프가 어려운 이유</a:t>
            </a:r>
          </a:p>
          <a:p>
            <a:r>
              <a:rPr sz="1600" b="0">
                <a:solidFill>
                  <a:srgbClr val="C5CED6"/>
                </a:solidFill>
                <a:latin typeface="Malgun Gothic"/>
              </a:rPr>
              <a:t>•  UI 유형별 적합성 판단</a:t>
            </a:r>
          </a:p>
          <a:p>
            <a:r>
              <a:rPr sz="1600" b="0">
                <a:solidFill>
                  <a:srgbClr val="C5CED6"/>
                </a:solidFill>
                <a:latin typeface="Malgun Gothic"/>
              </a:rPr>
              <a:t>•  절충안과 종합 비교</a:t>
            </a:r>
          </a:p>
        </p:txBody>
      </p:sp>
    </p:spTree>
    <p:extLst>
      <p:ext uri="{BB962C8B-B14F-4D97-AF65-F5344CB8AC3E}">
        <p14:creationId xmlns:p14="http://schemas.microsoft.com/office/powerpoint/2010/main" val="2215210274"/>
      </p:ext>
    </p:extLst>
  </p:cSld>
  <p:clrMapOvr>
    <a:masterClrMapping/>
  </p:clrMapOvr>
</p:sld>
</file>

<file path=ppt/slides/slide5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Keyset 방식의 제약</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임의의 페이지 번호로 바로 이동하기 어렵다</a:t>
            </a:r>
          </a:p>
          <a:p>
            <a:r>
              <a:rPr sz="1600" b="0">
                <a:solidFill>
                  <a:srgbClr val="5A6672"/>
                </a:solidFill>
                <a:latin typeface="Malgun Gothic"/>
              </a:rPr>
              <a:t>    –  "정확히 500페이지로 가줘" 같은 요청을 처리할 방법이 마땅치 않다</a:t>
            </a:r>
          </a:p>
          <a:p>
            <a:r>
              <a:rPr sz="1800" b="0">
                <a:solidFill>
                  <a:srgbClr val="202830"/>
                </a:solidFill>
                <a:latin typeface="Malgun Gothic"/>
              </a:rPr>
              <a:t>•  왜 그런가</a:t>
            </a:r>
          </a:p>
          <a:p>
            <a:r>
              <a:rPr sz="1600" b="0">
                <a:solidFill>
                  <a:srgbClr val="5A6672"/>
                </a:solidFill>
                <a:latin typeface="Malgun Gothic"/>
              </a:rPr>
              <a:t>    –  다음 페이지를 만들려면 "지금 보고 있는 페이지의 마지막 값"이 있어야 한다</a:t>
            </a:r>
          </a:p>
          <a:p>
            <a:r>
              <a:rPr sz="1600" b="0">
                <a:solidFill>
                  <a:srgbClr val="5A6672"/>
                </a:solidFill>
                <a:latin typeface="Malgun Gothic"/>
              </a:rPr>
              <a:t>    –  500페이지의 시작 값을 알려면 그 앞의 데이터를 결국 세어 봐야 한다</a:t>
            </a:r>
          </a:p>
          <a:p>
            <a:r>
              <a:rPr sz="1600" b="0">
                <a:solidFill>
                  <a:srgbClr val="5A6672"/>
                </a:solidFill>
                <a:latin typeface="Malgun Gothic"/>
              </a:rPr>
              <a:t>    –  세는 순간 OFFSET 방식과 같은 비용 구조로 돌아간다</a:t>
            </a:r>
          </a:p>
          <a:p>
            <a:r>
              <a:rPr sz="1800" b="0">
                <a:solidFill>
                  <a:srgbClr val="202830"/>
                </a:solidFill>
                <a:latin typeface="Malgun Gothic"/>
              </a:rPr>
              <a:t>•  구조적으로 커서 정보에 의존하는 방식이다</a:t>
            </a:r>
          </a:p>
          <a:p>
            <a:r>
              <a:rPr sz="1600" b="0">
                <a:solidFill>
                  <a:srgbClr val="5A6672"/>
                </a:solidFill>
                <a:latin typeface="Malgun Gothic"/>
              </a:rPr>
              <a:t>    –  페이지 번호가 아니라 위치를 들고 다니는 구조</a:t>
            </a:r>
          </a:p>
          <a:p>
            <a:r>
              <a:rPr sz="1600" b="0">
                <a:solidFill>
                  <a:srgbClr val="5A6672"/>
                </a:solidFill>
                <a:latin typeface="Malgun Gothic"/>
              </a:rPr>
              <a:t>    –  그래서 순차적으로 다음·이전으로 넘어가는 이동에만 자연스럽다</a:t>
            </a:r>
          </a:p>
          <a:p>
            <a:r>
              <a:rPr sz="1800" b="0">
                <a:solidFill>
                  <a:srgbClr val="202830"/>
                </a:solidFill>
                <a:latin typeface="Malgun Gothic"/>
              </a:rPr>
              <a:t>•  "더 빠른 방식"이 아니라 "다른 계약을 맺은 방식"으로 이해해야 한다</a:t>
            </a:r>
          </a:p>
        </p:txBody>
      </p:sp>
    </p:spTree>
    <p:extLst>
      <p:ext uri="{BB962C8B-B14F-4D97-AF65-F5344CB8AC3E}">
        <p14:creationId xmlns:p14="http://schemas.microsoft.com/office/powerpoint/2010/main" val="1371354020"/>
      </p:ext>
    </p:extLst>
  </p:cSld>
  <p:clrMapOvr>
    <a:masterClrMapping/>
  </p:clrMapOvr>
</p:sld>
</file>

<file path=ppt/slides/slide56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UI 유형별 적합성 판단</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Keyset이 잘 맞는 화면</a:t>
            </a:r>
          </a:p>
          <a:p>
            <a:r>
              <a:rPr sz="1600" b="0">
                <a:solidFill>
                  <a:srgbClr val="5A6672"/>
                </a:solidFill>
                <a:latin typeface="Malgun Gothic"/>
              </a:rPr>
              <a:t>    –  무한 스크롤 — 아래로 내릴 때마다 다음 묶음을 붙이는 방식</a:t>
            </a:r>
          </a:p>
          <a:p>
            <a:r>
              <a:rPr sz="1600" b="0">
                <a:solidFill>
                  <a:srgbClr val="5A6672"/>
                </a:solidFill>
                <a:latin typeface="Malgun Gothic"/>
              </a:rPr>
              <a:t>    –  "더보기" 버튼 — 순차적으로만 앞으로 나아가는 구조</a:t>
            </a:r>
          </a:p>
          <a:p>
            <a:r>
              <a:rPr sz="1600" b="0">
                <a:solidFill>
                  <a:srgbClr val="5A6672"/>
                </a:solidFill>
                <a:latin typeface="Malgun Gothic"/>
              </a:rPr>
              <a:t>    –  피드형 타임라인 — 페이지 번호 개념 자체가 없는 화면</a:t>
            </a:r>
          </a:p>
          <a:p>
            <a:r>
              <a:rPr sz="1800" b="0">
                <a:solidFill>
                  <a:srgbClr val="202830"/>
                </a:solidFill>
                <a:latin typeface="Malgun Gothic"/>
              </a:rPr>
              <a:t>•  Keyset을 그대로 적용하기 어려운 화면</a:t>
            </a:r>
          </a:p>
          <a:p>
            <a:r>
              <a:rPr sz="1600" b="0">
                <a:solidFill>
                  <a:srgbClr val="5A6672"/>
                </a:solidFill>
                <a:latin typeface="Malgun Gothic"/>
              </a:rPr>
              <a:t>    –  게시판형 — 페이지 번호를 직접 클릭해 임의로 이동하는 구조</a:t>
            </a:r>
          </a:p>
          <a:p>
            <a:r>
              <a:rPr sz="1600" b="0">
                <a:solidFill>
                  <a:srgbClr val="5A6672"/>
                </a:solidFill>
                <a:latin typeface="Malgun Gothic"/>
              </a:rPr>
              <a:t>    –  전체 페이지 수와 현재 페이지 번호를 표시해야 하는 화면</a:t>
            </a:r>
          </a:p>
          <a:p>
            <a:r>
              <a:rPr sz="1800" b="0">
                <a:solidFill>
                  <a:srgbClr val="202830"/>
                </a:solidFill>
                <a:latin typeface="Malgun Gothic"/>
              </a:rPr>
              <a:t>•  판단의 출발점은 DB가 아니라 화면 요구사항이다</a:t>
            </a:r>
          </a:p>
          <a:p>
            <a:r>
              <a:rPr sz="1600" b="0">
                <a:solidFill>
                  <a:srgbClr val="5A6672"/>
                </a:solidFill>
                <a:latin typeface="Malgun Gothic"/>
              </a:rPr>
              <a:t>    –  먼저 물어야 할 질문 — 사용자가 정말 임의 페이지로 점프하는가</a:t>
            </a:r>
          </a:p>
          <a:p>
            <a:r>
              <a:rPr sz="1600" b="0">
                <a:solidFill>
                  <a:srgbClr val="5A6672"/>
                </a:solidFill>
                <a:latin typeface="Malgun Gothic"/>
              </a:rPr>
              <a:t>    –  요구사항이 관행일 뿐이라면 화면 설계를 바꾸는 것이 가장 저렴한 튜닝이다</a:t>
            </a:r>
          </a:p>
        </p:txBody>
      </p:sp>
    </p:spTree>
    <p:extLst>
      <p:ext uri="{BB962C8B-B14F-4D97-AF65-F5344CB8AC3E}">
        <p14:creationId xmlns:p14="http://schemas.microsoft.com/office/powerpoint/2010/main" val="3784688641"/>
      </p:ext>
    </p:extLst>
  </p:cSld>
  <p:clrMapOvr>
    <a:masterClrMapping/>
  </p:clrMapOvr>
</p:sld>
</file>

<file path=ppt/slides/slide56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OFFSET을 유지해야 한다면 — 절충안</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전제 — 페이지 번호 UI를 포기할 수 없는 상황</a:t>
            </a:r>
          </a:p>
          <a:p>
            <a:r>
              <a:rPr sz="1600" b="0">
                <a:solidFill>
                  <a:srgbClr val="5A6672"/>
                </a:solidFill>
                <a:latin typeface="Malgun Gothic"/>
              </a:rPr>
              <a:t>    –  이 경우 OFFSET 방식의 비용을 감수하거나 범위를 제한해야 한다</a:t>
            </a:r>
          </a:p>
          <a:p>
            <a:r>
              <a:rPr sz="1800" b="0">
                <a:solidFill>
                  <a:srgbClr val="202830"/>
                </a:solidFill>
                <a:latin typeface="Malgun Gothic"/>
              </a:rPr>
              <a:t>•  절충안 ① 페이지 깊이에 제한을 둔다</a:t>
            </a:r>
          </a:p>
          <a:p>
            <a:r>
              <a:rPr sz="1600" b="0">
                <a:solidFill>
                  <a:srgbClr val="5A6672"/>
                </a:solidFill>
                <a:latin typeface="Malgun Gothic"/>
              </a:rPr>
              <a:t>    –  앞쪽 N페이지까지만 번호 이동을 허용하고 그 이상은 순차 이동으로 유도</a:t>
            </a:r>
          </a:p>
          <a:p>
            <a:r>
              <a:rPr sz="1600" b="0">
                <a:solidFill>
                  <a:srgbClr val="5A6672"/>
                </a:solidFill>
                <a:latin typeface="Malgun Gothic"/>
              </a:rPr>
              <a:t>    –  검색 조건을 더 좁히도록 안내하는 방식과 함께 쓰면 자연스럽다</a:t>
            </a:r>
          </a:p>
          <a:p>
            <a:r>
              <a:rPr sz="1600" b="0">
                <a:solidFill>
                  <a:srgbClr val="5A6672"/>
                </a:solidFill>
                <a:latin typeface="Malgun Gothic"/>
              </a:rPr>
              <a:t>    –  실제로 아주 깊은 페이지까지 넘겨보는 사용자는 드물다</a:t>
            </a:r>
          </a:p>
          <a:p>
            <a:r>
              <a:rPr sz="1800" b="0">
                <a:solidFill>
                  <a:srgbClr val="202830"/>
                </a:solidFill>
                <a:latin typeface="Malgun Gothic"/>
              </a:rPr>
              <a:t>•  절충안 ② 두 방식을 혼합한다</a:t>
            </a:r>
          </a:p>
          <a:p>
            <a:r>
              <a:rPr sz="1600" b="0">
                <a:solidFill>
                  <a:srgbClr val="5A6672"/>
                </a:solidFill>
                <a:latin typeface="Malgun Gothic"/>
              </a:rPr>
              <a:t>    –  페이지 번호 UI는 유지하되 내부적으로 Keyset과 결합해 처리</a:t>
            </a:r>
          </a:p>
          <a:p>
            <a:r>
              <a:rPr sz="1600" b="0">
                <a:solidFill>
                  <a:srgbClr val="5A6672"/>
                </a:solidFill>
                <a:latin typeface="Malgun Gothic"/>
              </a:rPr>
              <a:t>    –  자주 접근하는 앞쪽 페이지는 캐싱하거나 별도 로직으로 처리</a:t>
            </a:r>
          </a:p>
          <a:p>
            <a:r>
              <a:rPr sz="1800" b="0">
                <a:solidFill>
                  <a:srgbClr val="202830"/>
                </a:solidFill>
                <a:latin typeface="Malgun Gothic"/>
              </a:rPr>
              <a:t>•  절충안 ③ 정렬 기준을 좁히는 WHERE 조건을 함께 요구한다</a:t>
            </a:r>
          </a:p>
          <a:p>
            <a:r>
              <a:rPr sz="1600" b="0">
                <a:solidFill>
                  <a:srgbClr val="5A6672"/>
                </a:solidFill>
                <a:latin typeface="Malgun Gothic"/>
              </a:rPr>
              <a:t>    –  기간 조건 등으로 대상 자체를 줄이면 순위 매김 범위도 함께 줄어든다</a:t>
            </a:r>
          </a:p>
        </p:txBody>
      </p:sp>
    </p:spTree>
    <p:extLst>
      <p:ext uri="{BB962C8B-B14F-4D97-AF65-F5344CB8AC3E}">
        <p14:creationId xmlns:p14="http://schemas.microsoft.com/office/powerpoint/2010/main" val="2095139972"/>
      </p:ext>
    </p:extLst>
  </p:cSld>
  <p:clrMapOvr>
    <a:masterClrMapping/>
  </p:clrMapOvr>
</p:sld>
</file>

<file path=ppt/slides/slide56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Benchmark — 종합 비교</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두 방식을 깊이별로 나란히 놓은 실측 종합표</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방식  |      깊이       | Buffers | A-Time |</a:t>
            </a:r>
          </a:p>
          <a:p>
            <a:r>
              <a:rPr sz="1250" b="0">
                <a:solidFill>
                  <a:srgbClr val="E6E6E6"/>
                </a:solidFill>
                <a:latin typeface="Consolas"/>
              </a:rPr>
              <a:t>|--------|-----------------|---------|--------|</a:t>
            </a:r>
          </a:p>
          <a:p>
            <a:r>
              <a:rPr sz="1250" b="0">
                <a:solidFill>
                  <a:srgbClr val="E6E6E6"/>
                </a:solidFill>
                <a:latin typeface="Consolas"/>
              </a:rPr>
              <a:t>| OFFSET |               0 |   3,090 | 0.02초 |</a:t>
            </a:r>
          </a:p>
          <a:p>
            <a:r>
              <a:rPr sz="1250" b="0">
                <a:solidFill>
                  <a:srgbClr val="E6E6E6"/>
                </a:solidFill>
                <a:latin typeface="Consolas"/>
              </a:rPr>
              <a:t>| OFFSET |         200,000 |   3,090 | 0.14초 |</a:t>
            </a:r>
          </a:p>
          <a:p>
            <a:r>
              <a:rPr sz="1250" b="0">
                <a:solidFill>
                  <a:srgbClr val="E6E6E6"/>
                </a:solidFill>
                <a:latin typeface="Consolas"/>
              </a:rPr>
              <a:t>| OFFSET |         280,000 |   3,090 | 0.18초 |</a:t>
            </a:r>
          </a:p>
          <a:p>
            <a:r>
              <a:rPr sz="1250" b="0">
                <a:solidFill>
                  <a:srgbClr val="E6E6E6"/>
                </a:solidFill>
                <a:latin typeface="Consolas"/>
              </a:rPr>
              <a:t>| Keyset | 약 280,000 상당 |      25 | 0.01초 |</a:t>
            </a:r>
          </a:p>
          <a:p>
            <a:r>
              <a:rPr sz="1250" b="0">
                <a:solidFill>
                  <a:srgbClr val="E6E6E6"/>
                </a:solidFill>
                <a:latin typeface="Consolas"/>
              </a:rPr>
              <a:t> </a:t>
            </a:r>
          </a:p>
          <a:p>
            <a:r>
              <a:rPr sz="1250" b="0">
                <a:solidFill>
                  <a:srgbClr val="7EC699"/>
                </a:solidFill>
                <a:latin typeface="Consolas"/>
              </a:rPr>
              <a:t>-- OFFSET 방식은 깊이가 늘수록 A-Time이 늘지만 Buffers는 고정이다</a:t>
            </a:r>
          </a:p>
          <a:p>
            <a:r>
              <a:rPr sz="1250" b="0">
                <a:solidFill>
                  <a:srgbClr val="7EC699"/>
                </a:solidFill>
                <a:latin typeface="Consolas"/>
              </a:rPr>
              <a:t>-- Keyset 방식은 같은 깊이에서 Buffers 25, A-Time 0.01초에 그친다</a:t>
            </a:r>
          </a:p>
          <a:p>
            <a:r>
              <a:rPr sz="1250" b="0">
                <a:solidFill>
                  <a:srgbClr val="E6E6E6"/>
                </a:solidFill>
                <a:latin typeface="Consolas"/>
              </a:rPr>
              <a:t> </a:t>
            </a:r>
          </a:p>
          <a:p>
            <a:r>
              <a:rPr sz="1250" b="0">
                <a:solidFill>
                  <a:srgbClr val="7EC699"/>
                </a:solidFill>
                <a:latin typeface="Consolas"/>
              </a:rPr>
              <a:t>-- 표를 읽는 두 방향</a:t>
            </a:r>
          </a:p>
          <a:p>
            <a:r>
              <a:rPr sz="1250" b="0">
                <a:solidFill>
                  <a:srgbClr val="7EC699"/>
                </a:solidFill>
                <a:latin typeface="Consolas"/>
              </a:rPr>
              <a:t>--   세로로 읽기: 한 방식 안에서 깊이가 미치는 영향</a:t>
            </a:r>
          </a:p>
          <a:p>
            <a:r>
              <a:rPr sz="1250" b="0">
                <a:solidFill>
                  <a:srgbClr val="7EC699"/>
                </a:solidFill>
                <a:latin typeface="Consolas"/>
              </a:rPr>
              <a:t>--   가로로 읽기: 같은 깊이에서 방식이 만드는 차이</a:t>
            </a:r>
          </a:p>
        </p:txBody>
      </p:sp>
    </p:spTree>
    <p:extLst>
      <p:ext uri="{BB962C8B-B14F-4D97-AF65-F5344CB8AC3E}">
        <p14:creationId xmlns:p14="http://schemas.microsoft.com/office/powerpoint/2010/main" val="1883747509"/>
      </p:ext>
    </p:extLst>
  </p:cSld>
  <p:clrMapOvr>
    <a:masterClrMapping/>
  </p:clrMapOvr>
</p:sld>
</file>

<file path=ppt/slides/slide56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요약 (Review)</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OFFSET이 깊어질수록 순위를 매겨야 하는 범위가 커져 CPU·메모리 비용이 커진다</a:t>
            </a:r>
          </a:p>
          <a:p>
            <a:r>
              <a:rPr sz="1800" b="0">
                <a:solidFill>
                  <a:srgbClr val="202830"/>
                </a:solidFill>
                <a:latin typeface="Malgun Gothic"/>
              </a:rPr>
              <a:t>•  이 비용은 Buffers에는 잘 안 나타나고 A-Time과 작업 메모리에 나타난다</a:t>
            </a:r>
          </a:p>
          <a:p>
            <a:r>
              <a:rPr sz="1800" b="0">
                <a:solidFill>
                  <a:srgbClr val="202830"/>
                </a:solidFill>
                <a:latin typeface="Malgun Gothic"/>
              </a:rPr>
              <a:t>•  OFFSET 쿼리는 내부적으로 ROW_NUMBER()로 변환되며 WINDOW SORT PUSHED RANK로 처리된다</a:t>
            </a:r>
          </a:p>
          <a:p>
            <a:r>
              <a:rPr sz="1800" b="0">
                <a:solidFill>
                  <a:srgbClr val="202830"/>
                </a:solidFill>
                <a:latin typeface="Malgun Gothic"/>
              </a:rPr>
              <a:t>•  Keyset Pagination은 인덱스로 다음 페이지의 시작점을 바로 찾아간다</a:t>
            </a:r>
          </a:p>
          <a:p>
            <a:r>
              <a:rPr sz="1800" b="0">
                <a:solidFill>
                  <a:srgbClr val="202830"/>
                </a:solidFill>
                <a:latin typeface="Malgun Gothic"/>
              </a:rPr>
              <a:t>•  그 결과 페이지 깊이와 무관하게 비용이 거의 일정하다</a:t>
            </a:r>
          </a:p>
          <a:p>
            <a:r>
              <a:rPr sz="1800" b="0">
                <a:solidFill>
                  <a:srgbClr val="202830"/>
                </a:solidFill>
                <a:latin typeface="Malgun Gothic"/>
              </a:rPr>
              <a:t>•  인덱스가 정렬 순서를 제공하면 WINDOW NOSORT STOPKEY가 선택될 수 있다</a:t>
            </a:r>
          </a:p>
          <a:p>
            <a:r>
              <a:rPr sz="1800" b="0">
                <a:solidFill>
                  <a:srgbClr val="202830"/>
                </a:solidFill>
                <a:latin typeface="Malgun Gothic"/>
              </a:rPr>
              <a:t>•  INDEX RANGE SCAN DESCENDING은 리프 블록 양방향 연결 덕분에 가능하다</a:t>
            </a:r>
          </a:p>
          <a:p>
            <a:r>
              <a:rPr sz="1800" b="0">
                <a:solidFill>
                  <a:srgbClr val="202830"/>
                </a:solidFill>
                <a:latin typeface="Malgun Gothic"/>
              </a:rPr>
              <a:t>•  Keyset은 순차 이동만 가능하므로 OFFSET을 완전히 대체하지 못할 수 있다</a:t>
            </a:r>
          </a:p>
          <a:p>
            <a:r>
              <a:rPr sz="1800" b="0">
                <a:solidFill>
                  <a:srgbClr val="202830"/>
                </a:solidFill>
                <a:latin typeface="Malgun Gothic"/>
              </a:rPr>
              <a:t>•  페이징 튜닝의 본질은 전체범위 처리를 부분범위 처리로 되돌리는 것이다</a:t>
            </a:r>
          </a:p>
        </p:txBody>
      </p:sp>
    </p:spTree>
    <p:extLst>
      <p:ext uri="{BB962C8B-B14F-4D97-AF65-F5344CB8AC3E}">
        <p14:creationId xmlns:p14="http://schemas.microsoft.com/office/powerpoint/2010/main" val="4062178382"/>
      </p:ext>
    </p:extLst>
  </p:cSld>
  <p:clrMapOvr>
    <a:masterClrMapping/>
  </p:clrMapOvr>
</p:sld>
</file>

<file path=ppt/slides/slide56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실습 안내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실습문제 10문항 — ch13_문제.md</a:t>
            </a:r>
          </a:p>
          <a:p>
            <a:r>
              <a:rPr sz="1600" b="0">
                <a:solidFill>
                  <a:srgbClr val="5A6672"/>
                </a:solidFill>
                <a:latin typeface="Malgun Gothic"/>
              </a:rPr>
              <a:t>    –  1번  OFFSET과 무관하게 Buffers가 같은 이유 — Full Scan의 성질</a:t>
            </a:r>
          </a:p>
          <a:p>
            <a:r>
              <a:rPr sz="1600" b="0">
                <a:solidFill>
                  <a:srgbClr val="5A6672"/>
                </a:solidFill>
                <a:latin typeface="Malgun Gothic"/>
              </a:rPr>
              <a:t>    –  2번  A-Time과 Used-Mem이 늘어난 원인 오퍼레이션의 특정</a:t>
            </a:r>
          </a:p>
          <a:p>
            <a:r>
              <a:rPr sz="1600" b="0">
                <a:solidFill>
                  <a:srgbClr val="5A6672"/>
                </a:solidFill>
                <a:latin typeface="Malgun Gothic"/>
              </a:rPr>
              <a:t>    –  3번  "Buffers가 안 늘었으니 문제없다"는 판단에 대한 반박</a:t>
            </a:r>
          </a:p>
          <a:p>
            <a:r>
              <a:rPr sz="1600" b="0">
                <a:solidFill>
                  <a:srgbClr val="5A6672"/>
                </a:solidFill>
                <a:latin typeface="Malgun Gothic"/>
              </a:rPr>
              <a:t>    –  4번  NOSORT STOPKEY와 RANGE SCAN DESCENDING의 결합 효과</a:t>
            </a:r>
          </a:p>
          <a:p>
            <a:r>
              <a:rPr sz="1600" b="0">
                <a:solidFill>
                  <a:srgbClr val="5A6672"/>
                </a:solidFill>
                <a:latin typeface="Malgun Gothic"/>
              </a:rPr>
              <a:t>    –  5번  값 조건과 ROW_NUMBER() 변환의 대조</a:t>
            </a:r>
          </a:p>
          <a:p>
            <a:r>
              <a:rPr sz="1600" b="0">
                <a:solidFill>
                  <a:srgbClr val="5A6672"/>
                </a:solidFill>
                <a:latin typeface="Malgun Gothic"/>
              </a:rPr>
              <a:t>    –  6번  Keyset의 제약과 UI 유형별 적합성</a:t>
            </a:r>
          </a:p>
          <a:p>
            <a:r>
              <a:rPr sz="1600" b="0">
                <a:solidFill>
                  <a:srgbClr val="5A6672"/>
                </a:solidFill>
                <a:latin typeface="Malgun Gothic"/>
              </a:rPr>
              <a:t>    –  7번  게시판형 화면에서의 절충안 제안 (자유 서술)</a:t>
            </a:r>
          </a:p>
          <a:p>
            <a:r>
              <a:rPr sz="1600" b="0">
                <a:solidFill>
                  <a:srgbClr val="5A6672"/>
                </a:solidFill>
                <a:latin typeface="Malgun Gothic"/>
              </a:rPr>
              <a:t>    –  8번  DESCENDING의 의미와 B-Tree 구조적 근거 추론</a:t>
            </a:r>
          </a:p>
          <a:p>
            <a:r>
              <a:rPr sz="1600" b="0">
                <a:solidFill>
                  <a:srgbClr val="5A6672"/>
                </a:solidFill>
                <a:latin typeface="Malgun Gothic"/>
              </a:rPr>
              <a:t>    –  9번  WHERE 조건 부재와 인덱스 미사용의 연결</a:t>
            </a:r>
          </a:p>
          <a:p>
            <a:r>
              <a:rPr sz="1600" b="0">
                <a:solidFill>
                  <a:srgbClr val="5A6672"/>
                </a:solidFill>
                <a:latin typeface="Malgun Gothic"/>
              </a:rPr>
              <a:t>    –  10번  ch11와 묶어 Buffers 단독 판단의 위험을 종합</a:t>
            </a:r>
          </a:p>
          <a:p>
            <a:r>
              <a:rPr sz="1800" b="0">
                <a:solidFill>
                  <a:srgbClr val="202830"/>
                </a:solidFill>
                <a:latin typeface="Malgun Gothic"/>
              </a:rPr>
              <a:t>•  실습 종료 시 IX_CH11_ 접두어 인덱스를 반드시 정리한다</a:t>
            </a:r>
          </a:p>
        </p:txBody>
      </p:sp>
    </p:spTree>
    <p:extLst>
      <p:ext uri="{BB962C8B-B14F-4D97-AF65-F5344CB8AC3E}">
        <p14:creationId xmlns:p14="http://schemas.microsoft.com/office/powerpoint/2010/main" val="2003043954"/>
      </p:ext>
    </p:extLst>
  </p:cSld>
  <p:clrMapOvr>
    <a:masterClrMapping/>
  </p:clrMapOvr>
</p:sld>
</file>

<file path=ppt/slides/slide565.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Rectangle 1"/>
          <p:cNvSpPr/>
          <p:nvPr/>
        </p:nvSpPr>
        <p:spPr>
          <a:xfrm>
            <a:off x="822960" y="2331720"/>
            <a:ext cx="164592"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88720" y="1463040"/>
            <a:ext cx="10058400" cy="369332"/>
          </a:xfrm>
          <a:prstGeom prst="rect">
            <a:avLst/>
          </a:prstGeom>
          <a:noFill/>
        </p:spPr>
        <p:txBody>
          <a:bodyPr wrap="square">
            <a:spAutoFit/>
          </a:bodyPr>
          <a:lstStyle/>
          <a:p>
            <a:r>
              <a:rPr sz="1800" b="1">
                <a:solidFill>
                  <a:srgbClr val="C0392B"/>
                </a:solidFill>
                <a:latin typeface="Malgun Gothic"/>
              </a:rPr>
              <a:t>Oracle SQL 튜닝 과정  ·  ch14</a:t>
            </a:r>
          </a:p>
        </p:txBody>
      </p:sp>
      <p:sp>
        <p:nvSpPr>
          <p:cNvPr id="4" name="TextBox 3"/>
          <p:cNvSpPr txBox="1"/>
          <p:nvPr/>
        </p:nvSpPr>
        <p:spPr>
          <a:xfrm>
            <a:off x="1188720" y="2194560"/>
            <a:ext cx="10332720" cy="2011680"/>
          </a:xfrm>
          <a:prstGeom prst="rect">
            <a:avLst/>
          </a:prstGeom>
          <a:noFill/>
        </p:spPr>
        <p:txBody>
          <a:bodyPr wrap="square">
            <a:spAutoFit/>
          </a:bodyPr>
          <a:lstStyle/>
          <a:p>
            <a:r>
              <a:rPr sz="4400" b="1">
                <a:solidFill>
                  <a:srgbClr val="FFFFFF"/>
                </a:solidFill>
                <a:latin typeface="Malgun Gothic"/>
              </a:rPr>
              <a:t>실무에서 자주 발생하는 SQL 문제</a:t>
            </a:r>
          </a:p>
        </p:txBody>
      </p:sp>
      <p:sp>
        <p:nvSpPr>
          <p:cNvPr id="5" name="TextBox 4"/>
          <p:cNvSpPr txBox="1"/>
          <p:nvPr/>
        </p:nvSpPr>
        <p:spPr>
          <a:xfrm>
            <a:off x="1188720" y="4297680"/>
            <a:ext cx="10058400" cy="1097280"/>
          </a:xfrm>
          <a:prstGeom prst="rect">
            <a:avLst/>
          </a:prstGeom>
          <a:noFill/>
        </p:spPr>
        <p:txBody>
          <a:bodyPr wrap="square">
            <a:spAutoFit/>
          </a:bodyPr>
          <a:lstStyle/>
          <a:p>
            <a:r>
              <a:rPr sz="1800" b="0">
                <a:solidFill>
                  <a:srgbClr val="C5CED6"/>
                </a:solidFill>
                <a:latin typeface="Malgun Gothic"/>
              </a:rPr>
              <a:t>N+1 문제 · 반복 호출 패턴 · V$SQL 누적 통계 · 조인 1회 대체   |   Oracle Database 19c · 진료비청구심사 스키마 기준</a:t>
            </a:r>
          </a:p>
        </p:txBody>
      </p:sp>
    </p:spTree>
    <p:extLst>
      <p:ext uri="{BB962C8B-B14F-4D97-AF65-F5344CB8AC3E}">
        <p14:creationId xmlns:p14="http://schemas.microsoft.com/office/powerpoint/2010/main" val="703696703"/>
      </p:ext>
    </p:extLst>
  </p:cSld>
  <p:clrMapOvr>
    <a:masterClrMapping/>
  </p:clrMapOvr>
</p:sld>
</file>

<file path=ppt/slides/slide5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학습 목표 (Objectives)</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 장을 마치면 다음을 수행할 수 있어야 한다.</a:t>
            </a:r>
          </a:p>
          <a:p>
            <a:r>
              <a:rPr sz="1600" b="0">
                <a:solidFill>
                  <a:srgbClr val="5A6672"/>
                </a:solidFill>
                <a:latin typeface="Malgun Gothic"/>
              </a:rPr>
              <a:t>    –  N+1 패턴의 정의를 말하고 왜 그렇게 부르는지 설명한다</a:t>
            </a:r>
          </a:p>
          <a:p>
            <a:r>
              <a:rPr sz="1600" b="0">
                <a:solidFill>
                  <a:srgbClr val="5A6672"/>
                </a:solidFill>
                <a:latin typeface="Malgun Gothic"/>
              </a:rPr>
              <a:t>    –  실행계획 한 장만으로는 N+1이 드러나지 않는 이유를 설명한다</a:t>
            </a:r>
          </a:p>
          <a:p>
            <a:r>
              <a:rPr sz="1600" b="0">
                <a:solidFill>
                  <a:srgbClr val="5A6672"/>
                </a:solidFill>
                <a:latin typeface="Malgun Gothic"/>
              </a:rPr>
              <a:t>    –  V$SQL의 EXECUTIONS와 BUFFER_GETS로 반복 호출을 진단한다</a:t>
            </a:r>
          </a:p>
          <a:p>
            <a:r>
              <a:rPr sz="1600" b="0">
                <a:solidFill>
                  <a:srgbClr val="5A6672"/>
                </a:solidFill>
                <a:latin typeface="Malgun Gothic"/>
              </a:rPr>
              <a:t>    –  CLAIM_DETAILS 반복 조회가 매번 Full Scan이 되는 이유를 설명한다</a:t>
            </a:r>
          </a:p>
          <a:p>
            <a:r>
              <a:rPr sz="1600" b="0">
                <a:solidFill>
                  <a:srgbClr val="5A6672"/>
                </a:solidFill>
                <a:latin typeface="Malgun Gothic"/>
              </a:rPr>
              <a:t>    –  N+1의 총 비용이 반복 횟수의 배수로 커지는 구조를 설명한다</a:t>
            </a:r>
          </a:p>
          <a:p>
            <a:r>
              <a:rPr sz="1600" b="0">
                <a:solidFill>
                  <a:srgbClr val="5A6672"/>
                </a:solidFill>
                <a:latin typeface="Malgun Gothic"/>
              </a:rPr>
              <a:t>    –  조인 1회 방식이 Full Scan을 한 번으로 고정시키는 원리를 설명한다</a:t>
            </a:r>
          </a:p>
          <a:p>
            <a:r>
              <a:rPr sz="1600" b="0">
                <a:solidFill>
                  <a:srgbClr val="5A6672"/>
                </a:solidFill>
                <a:latin typeface="Malgun Gothic"/>
              </a:rPr>
              <a:t>    –  실측 Buffers 비교로 두 방식의 격차를 근거를 들어 읽는다</a:t>
            </a:r>
          </a:p>
          <a:p>
            <a:r>
              <a:rPr sz="1600" b="0">
                <a:solidFill>
                  <a:srgbClr val="5A6672"/>
                </a:solidFill>
                <a:latin typeface="Malgun Gothic"/>
              </a:rPr>
              <a:t>    –  인덱스 추가가 완화책일 뿐 근본 해법이 아닌 이유를 설명한다</a:t>
            </a:r>
          </a:p>
          <a:p>
            <a:r>
              <a:rPr sz="1600" b="0">
                <a:solidFill>
                  <a:srgbClr val="5A6672"/>
                </a:solidFill>
                <a:latin typeface="Malgun Gothic"/>
              </a:rPr>
              <a:t>    –  배치 조회 등 애플리케이션 레벨의 대안을 제시한다</a:t>
            </a:r>
          </a:p>
          <a:p>
            <a:r>
              <a:rPr sz="1600" b="0">
                <a:solidFill>
                  <a:srgbClr val="5A6672"/>
                </a:solidFill>
                <a:latin typeface="Malgun Gothic"/>
              </a:rPr>
              <a:t>    –  개발 환경에서 N+1이 숨는 이유와 발견 방법을 정리한다</a:t>
            </a:r>
          </a:p>
        </p:txBody>
      </p:sp>
    </p:spTree>
    <p:extLst>
      <p:ext uri="{BB962C8B-B14F-4D97-AF65-F5344CB8AC3E}">
        <p14:creationId xmlns:p14="http://schemas.microsoft.com/office/powerpoint/2010/main" val="325934691"/>
      </p:ext>
    </p:extLst>
  </p:cSld>
  <p:clrMapOvr>
    <a:masterClrMapping/>
  </p:clrMapOvr>
</p:sld>
</file>

<file path=ppt/slides/slide56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장의 구성 (Agenda)</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12.1  Why — SQL 밖에 있는 성능 문제</a:t>
            </a:r>
          </a:p>
          <a:p>
            <a:r>
              <a:rPr sz="1600" b="0">
                <a:solidFill>
                  <a:srgbClr val="5A6672"/>
                </a:solidFill>
                <a:latin typeface="Malgun Gothic"/>
              </a:rPr>
              <a:t>    –  한 문장의 실행계획 분석으로 닿지 않는 영역</a:t>
            </a:r>
          </a:p>
          <a:p>
            <a:r>
              <a:rPr sz="1800" b="0">
                <a:solidFill>
                  <a:srgbClr val="202830"/>
                </a:solidFill>
                <a:latin typeface="Malgun Gothic"/>
              </a:rPr>
              <a:t>•  12.2  Concept — N+1 문제와 그 밖의 흔한 유형</a:t>
            </a:r>
          </a:p>
          <a:p>
            <a:r>
              <a:rPr sz="1600" b="0">
                <a:solidFill>
                  <a:srgbClr val="5A6672"/>
                </a:solidFill>
                <a:latin typeface="Malgun Gothic"/>
              </a:rPr>
              <a:t>    –  N+1의 정의, SELECT * · 불필요한 JOIN · 중복 조회 등</a:t>
            </a:r>
          </a:p>
          <a:p>
            <a:r>
              <a:rPr sz="1800" b="0">
                <a:solidFill>
                  <a:srgbClr val="202830"/>
                </a:solidFill>
                <a:latin typeface="Malgun Gothic"/>
              </a:rPr>
              <a:t>•  12.3  Oracle Internals — 비용이 왜 배수로 커지는가</a:t>
            </a:r>
          </a:p>
          <a:p>
            <a:r>
              <a:rPr sz="1600" b="0">
                <a:solidFill>
                  <a:srgbClr val="5A6672"/>
                </a:solidFill>
                <a:latin typeface="Malgun Gothic"/>
              </a:rPr>
              <a:t>    –  인덱스 없는 컬럼 반복 조회, Full Scan의 곱셈</a:t>
            </a:r>
          </a:p>
          <a:p>
            <a:r>
              <a:rPr sz="1800" b="0">
                <a:solidFill>
                  <a:srgbClr val="202830"/>
                </a:solidFill>
                <a:latin typeface="Malgun Gothic"/>
              </a:rPr>
              <a:t>•  12.4  Example — N+1 재현과 조인 1회 대체</a:t>
            </a:r>
          </a:p>
          <a:p>
            <a:r>
              <a:rPr sz="1600" b="0">
                <a:solidFill>
                  <a:srgbClr val="5A6672"/>
                </a:solidFill>
                <a:latin typeface="Malgun Gothic"/>
              </a:rPr>
              <a:t>    –  PL/SQL 루프로 재현, 아우터 조인 + GROUP BY로 대체</a:t>
            </a:r>
          </a:p>
          <a:p>
            <a:r>
              <a:rPr sz="1800" b="0">
                <a:solidFill>
                  <a:srgbClr val="202830"/>
                </a:solidFill>
                <a:latin typeface="Malgun Gothic"/>
              </a:rPr>
              <a:t>•  12.5  Execution Plan — 실측 비교</a:t>
            </a:r>
          </a:p>
          <a:p>
            <a:r>
              <a:rPr sz="1600" b="0">
                <a:solidFill>
                  <a:srgbClr val="5A6672"/>
                </a:solidFill>
                <a:latin typeface="Malgun Gothic"/>
              </a:rPr>
              <a:t>    –  V$SQL 누적 통계와 조인 1회 실행계획</a:t>
            </a:r>
          </a:p>
          <a:p>
            <a:r>
              <a:rPr sz="1800" b="0">
                <a:solidFill>
                  <a:srgbClr val="202830"/>
                </a:solidFill>
                <a:latin typeface="Malgun Gothic"/>
              </a:rPr>
              <a:t>•  12.6  Bad SQL — N+1이 특히 위험한 이유</a:t>
            </a:r>
          </a:p>
          <a:p>
            <a:r>
              <a:rPr sz="1600" b="0">
                <a:solidFill>
                  <a:srgbClr val="5A6672"/>
                </a:solidFill>
                <a:latin typeface="Malgun Gothic"/>
              </a:rPr>
              <a:t>    –  목록 건수에 비례해 악화되는 확장성 문제</a:t>
            </a:r>
          </a:p>
          <a:p>
            <a:r>
              <a:rPr sz="1800" b="0">
                <a:solidFill>
                  <a:srgbClr val="202830"/>
                </a:solidFill>
                <a:latin typeface="Malgun Gothic"/>
              </a:rPr>
              <a:t>•  12.7~12.8  Tuning &amp; Benchmark</a:t>
            </a:r>
          </a:p>
          <a:p>
            <a:r>
              <a:rPr sz="1600" b="0">
                <a:solidFill>
                  <a:srgbClr val="5A6672"/>
                </a:solidFill>
                <a:latin typeface="Malgun Gothic"/>
              </a:rPr>
              <a:t>    –  근본 해법과 완화책의 구분, 실측 요약</a:t>
            </a:r>
          </a:p>
        </p:txBody>
      </p:sp>
    </p:spTree>
    <p:extLst>
      <p:ext uri="{BB962C8B-B14F-4D97-AF65-F5344CB8AC3E}">
        <p14:creationId xmlns:p14="http://schemas.microsoft.com/office/powerpoint/2010/main" val="728919413"/>
      </p:ext>
    </p:extLst>
  </p:cSld>
  <p:clrMapOvr>
    <a:masterClrMapping/>
  </p:clrMapOvr>
</p:sld>
</file>

<file path=ppt/slides/slide568.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107996"/>
          </a:xfrm>
          <a:prstGeom prst="rect">
            <a:avLst/>
          </a:prstGeom>
          <a:noFill/>
        </p:spPr>
        <p:txBody>
          <a:bodyPr wrap="square">
            <a:spAutoFit/>
          </a:bodyPr>
          <a:lstStyle/>
          <a:p>
            <a:r>
              <a:rPr sz="6600" b="1" dirty="0">
                <a:solidFill>
                  <a:srgbClr val="C0392B"/>
                </a:solidFill>
                <a:latin typeface="Malgun Gothic"/>
              </a:rPr>
              <a:t>1</a:t>
            </a:r>
            <a:r>
              <a:rPr lang="en-US" sz="6600" b="1" dirty="0">
                <a:solidFill>
                  <a:srgbClr val="C0392B"/>
                </a:solidFill>
                <a:latin typeface="Malgun Gothic"/>
              </a:rPr>
              <a:t>4</a:t>
            </a:r>
            <a:r>
              <a:rPr sz="6600" b="1" dirty="0">
                <a:solidFill>
                  <a:srgbClr val="C0392B"/>
                </a:solidFill>
                <a:latin typeface="Malgun Gothic"/>
              </a:rPr>
              <a:t>.1</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Why — SQL 밖에 있는 성능 문제</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지금까지의 관점과 그 한계</a:t>
            </a:r>
          </a:p>
          <a:p>
            <a:r>
              <a:rPr sz="1600" b="0">
                <a:solidFill>
                  <a:srgbClr val="C5CED6"/>
                </a:solidFill>
                <a:latin typeface="Malgun Gothic"/>
              </a:rPr>
              <a:t>•  애플리케이션 호출 패턴이라는 사각지대</a:t>
            </a:r>
          </a:p>
          <a:p>
            <a:r>
              <a:rPr sz="1600" b="0">
                <a:solidFill>
                  <a:srgbClr val="C5CED6"/>
                </a:solidFill>
                <a:latin typeface="Malgun Gothic"/>
              </a:rPr>
              <a:t>•  이번 챕터가 다루는 소재</a:t>
            </a:r>
          </a:p>
        </p:txBody>
      </p:sp>
    </p:spTree>
    <p:extLst>
      <p:ext uri="{BB962C8B-B14F-4D97-AF65-F5344CB8AC3E}">
        <p14:creationId xmlns:p14="http://schemas.microsoft.com/office/powerpoint/2010/main" val="3681174965"/>
      </p:ext>
    </p:extLst>
  </p:cSld>
  <p:clrMapOvr>
    <a:masterClrMapping/>
  </p:clrMapOvr>
</p:sld>
</file>

<file path=ppt/slides/slide56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지금까지의 관점 — 한 문장의 실행계획</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ch01부터 ch13까지는 'SQL 한 문장'을 분석 단위로 삼았다</a:t>
            </a:r>
          </a:p>
          <a:p>
            <a:r>
              <a:rPr sz="1600" b="0">
                <a:solidFill>
                  <a:srgbClr val="5A6672"/>
                </a:solidFill>
                <a:latin typeface="Malgun Gothic"/>
              </a:rPr>
              <a:t>    –  실행계획을 뽑고, 접근 경로와 조인 방식을 읽고, 자원 소비량을 비교했다</a:t>
            </a:r>
          </a:p>
          <a:p>
            <a:r>
              <a:rPr sz="1600" b="0">
                <a:solidFill>
                  <a:srgbClr val="5A6672"/>
                </a:solidFill>
                <a:latin typeface="Malgun Gothic"/>
              </a:rPr>
              <a:t>    –  분석의 시작과 끝이 언제나 하나의 SQL 텍스트였다</a:t>
            </a:r>
          </a:p>
          <a:p>
            <a:r>
              <a:rPr sz="1800" b="0">
                <a:solidFill>
                  <a:srgbClr val="202830"/>
                </a:solidFill>
                <a:latin typeface="Malgun Gothic"/>
              </a:rPr>
              <a:t>•  이 방법은 강력하지만 전제가 하나 깔려 있다</a:t>
            </a:r>
          </a:p>
          <a:p>
            <a:r>
              <a:rPr sz="1600" b="0">
                <a:solidFill>
                  <a:srgbClr val="5A6672"/>
                </a:solidFill>
                <a:latin typeface="Malgun Gothic"/>
              </a:rPr>
              <a:t>    –  느린 원인이 '그 문장 안'에 있을 것이라는 전제</a:t>
            </a:r>
          </a:p>
          <a:p>
            <a:r>
              <a:rPr sz="1600" b="0">
                <a:solidFill>
                  <a:srgbClr val="5A6672"/>
                </a:solidFill>
                <a:latin typeface="Malgun Gothic"/>
              </a:rPr>
              <a:t>    –  그래서 문장을 고치면 문제가 풀린다는 결론으로 이어졌다</a:t>
            </a:r>
          </a:p>
          <a:p>
            <a:r>
              <a:rPr sz="1800" b="0">
                <a:solidFill>
                  <a:srgbClr val="202830"/>
                </a:solidFill>
                <a:latin typeface="Malgun Gothic"/>
              </a:rPr>
              <a:t>•  그런데 실무 성능 문제의 상당수는 이 전제를 벗어난다</a:t>
            </a:r>
          </a:p>
          <a:p>
            <a:r>
              <a:rPr sz="1600" b="0">
                <a:solidFill>
                  <a:srgbClr val="5A6672"/>
                </a:solidFill>
                <a:latin typeface="Malgun Gothic"/>
              </a:rPr>
              <a:t>    –  SQL 자체는 문제없는데, 그 SQL을 애플리케이션 코드가 반복 호출하는 방식에서 생김</a:t>
            </a:r>
          </a:p>
          <a:p>
            <a:r>
              <a:rPr sz="1600" b="0">
                <a:solidFill>
                  <a:srgbClr val="5A6672"/>
                </a:solidFill>
                <a:latin typeface="Malgun Gothic"/>
              </a:rPr>
              <a:t>    –  문장을 아무리 들여다봐도 원인이 보이지 않는 부류의 문제</a:t>
            </a:r>
          </a:p>
          <a:p>
            <a:r>
              <a:rPr sz="1800" b="0">
                <a:solidFill>
                  <a:srgbClr val="202830"/>
                </a:solidFill>
                <a:latin typeface="Malgun Gothic"/>
              </a:rPr>
              <a:t>•  분석 단위를 '문장'에서 '요청 한 건이 만들어 내는 SQL 전체'로 넓혀야 한다</a:t>
            </a:r>
          </a:p>
        </p:txBody>
      </p:sp>
    </p:spTree>
    <p:extLst>
      <p:ext uri="{BB962C8B-B14F-4D97-AF65-F5344CB8AC3E}">
        <p14:creationId xmlns:p14="http://schemas.microsoft.com/office/powerpoint/2010/main" val="2239894929"/>
      </p:ext>
    </p:extLst>
  </p:cSld>
  <p:clrMapOvr>
    <a:masterClrMapping/>
  </p:clrMapOvr>
</p:sld>
</file>

<file path=ppt/slides/slide57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애플리케이션 호출 패턴이라는 사각지대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DB가 보는 것과 개발자가 보는 것이 어긋난다</a:t>
            </a:r>
          </a:p>
          <a:p>
            <a:r>
              <a:rPr sz="1600" b="0">
                <a:solidFill>
                  <a:srgbClr val="5A6672"/>
                </a:solidFill>
                <a:latin typeface="Malgun Gothic"/>
              </a:rPr>
              <a:t>    –  DB는 '이 SQL 한 건'을 성실히 처리했을 뿐 — 각각은 정상 처리</a:t>
            </a:r>
          </a:p>
          <a:p>
            <a:r>
              <a:rPr sz="1600" b="0">
                <a:solidFill>
                  <a:srgbClr val="5A6672"/>
                </a:solidFill>
                <a:latin typeface="Malgun Gothic"/>
              </a:rPr>
              <a:t>    –  개발자는 화면 한 번 여는 데 걸린 시간을 본다 — 그 안에 SQL이 몇 건인지는 안 보임</a:t>
            </a:r>
          </a:p>
          <a:p>
            <a:r>
              <a:rPr sz="1800" b="0">
                <a:solidFill>
                  <a:srgbClr val="202830"/>
                </a:solidFill>
                <a:latin typeface="Malgun Gothic"/>
              </a:rPr>
              <a:t>•  그 사이를 메우는 정보가 '누적 통계'다</a:t>
            </a:r>
          </a:p>
          <a:p>
            <a:r>
              <a:rPr sz="1600" b="0">
                <a:solidFill>
                  <a:srgbClr val="5A6672"/>
                </a:solidFill>
                <a:latin typeface="Malgun Gothic"/>
              </a:rPr>
              <a:t>    –  한 번의 실행 비용이 아니라, 같은 SQL이 몇 번 실행되어 총 얼마를 썼는가</a:t>
            </a:r>
          </a:p>
          <a:p>
            <a:r>
              <a:rPr sz="1600" b="0">
                <a:solidFill>
                  <a:srgbClr val="5A6672"/>
                </a:solidFill>
                <a:latin typeface="Malgun Gothic"/>
              </a:rPr>
              <a:t>    –  Oracle은 이 정보를 V$SQL 같은 동적 성능 뷰에 이미 쌓아 두고 있다</a:t>
            </a:r>
          </a:p>
          <a:p>
            <a:r>
              <a:rPr sz="1800" b="0">
                <a:solidFill>
                  <a:srgbClr val="202830"/>
                </a:solidFill>
                <a:latin typeface="Malgun Gothic"/>
              </a:rPr>
              <a:t>•  ORM·프레임워크가 이 사각지대를 넓혀 놓는 경우가 많다</a:t>
            </a:r>
          </a:p>
          <a:p>
            <a:r>
              <a:rPr sz="1600" b="0">
                <a:solidFill>
                  <a:srgbClr val="5A6672"/>
                </a:solidFill>
                <a:latin typeface="Malgun Gothic"/>
              </a:rPr>
              <a:t>    –  객체 하나를 참조하면 SQL이 한 건 나가는 구조라 호출 지점이 코드에 드러나지 않음</a:t>
            </a:r>
          </a:p>
          <a:p>
            <a:r>
              <a:rPr sz="1600" b="0">
                <a:solidFill>
                  <a:srgbClr val="5A6672"/>
                </a:solidFill>
                <a:latin typeface="Malgun Gothic"/>
              </a:rPr>
              <a:t>    –  반복문 안에서 무심코 접근한 속성 하나가 SQL 수십 건이 되기도 한다</a:t>
            </a:r>
          </a:p>
          <a:p>
            <a:r>
              <a:rPr sz="1800" b="0">
                <a:solidFill>
                  <a:srgbClr val="202830"/>
                </a:solidFill>
                <a:latin typeface="Malgun Gothic"/>
              </a:rPr>
              <a:t>•  이번 챕터는 SQL 밖의 문제, 즉 반복 호출 패턴을 실측으로 확인한다</a:t>
            </a:r>
          </a:p>
        </p:txBody>
      </p:sp>
    </p:spTree>
    <p:extLst>
      <p:ext uri="{BB962C8B-B14F-4D97-AF65-F5344CB8AC3E}">
        <p14:creationId xmlns:p14="http://schemas.microsoft.com/office/powerpoint/2010/main" val="3320523640"/>
      </p:ext>
    </p:extLst>
  </p:cSld>
  <p:clrMapOvr>
    <a:masterClrMapping/>
  </p:clrMapOvr>
</p:sld>
</file>

<file path=ppt/slides/slide57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이번 챕터가 다루는 소재</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소재: '청구 상세 조회 API'</a:t>
            </a:r>
          </a:p>
          <a:p>
            <a:r>
              <a:rPr sz="1600" b="0">
                <a:solidFill>
                  <a:srgbClr val="5A6672"/>
                </a:solidFill>
                <a:latin typeface="Malgun Gothic"/>
              </a:rPr>
              <a:t>    –  청구 20건에 대해 CLAIM_DETAILS를 건별로 반복 조회하는 N+1 패턴</a:t>
            </a:r>
          </a:p>
          <a:p>
            <a:r>
              <a:rPr sz="1600" b="0">
                <a:solidFill>
                  <a:srgbClr val="5A6672"/>
                </a:solidFill>
                <a:latin typeface="Malgun Gothic"/>
              </a:rPr>
              <a:t>    –  이 패턴을 PL/SQL 루프로 실제 재현하고, 조인 1회로 대체했을 때와 비교한다</a:t>
            </a:r>
          </a:p>
          <a:p>
            <a:r>
              <a:rPr sz="1800" b="0">
                <a:solidFill>
                  <a:srgbClr val="202830"/>
                </a:solidFill>
                <a:latin typeface="Malgun Gothic"/>
              </a:rPr>
              <a:t>•  실습 조건</a:t>
            </a:r>
          </a:p>
          <a:p>
            <a:r>
              <a:rPr sz="1600" b="0">
                <a:solidFill>
                  <a:srgbClr val="5A6672"/>
                </a:solidFill>
                <a:latin typeface="Malgun Gothic"/>
              </a:rPr>
              <a:t>    –  본 차시는 DDL 변경 없음 — 기존 PK만 사용한다</a:t>
            </a:r>
          </a:p>
          <a:p>
            <a:r>
              <a:rPr sz="1600" b="0">
                <a:solidFill>
                  <a:srgbClr val="5A6672"/>
                </a:solidFill>
                <a:latin typeface="Malgun Gothic"/>
              </a:rPr>
              <a:t>    –  즉 인덱스를 새로 만들어 상황을 바꾸지 않고, 있는 그대로의 비용을 측정한다</a:t>
            </a:r>
          </a:p>
          <a:p>
            <a:r>
              <a:rPr sz="1800" b="0">
                <a:solidFill>
                  <a:srgbClr val="202830"/>
                </a:solidFill>
                <a:latin typeface="Malgun Gothic"/>
              </a:rPr>
              <a:t>•  왜 PL/SQL로 재현하는가</a:t>
            </a:r>
          </a:p>
          <a:p>
            <a:r>
              <a:rPr sz="1600" b="0">
                <a:solidFill>
                  <a:srgbClr val="5A6672"/>
                </a:solidFill>
                <a:latin typeface="Malgun Gothic"/>
              </a:rPr>
              <a:t>    –  애플리케이션 코드를 준비하지 않고도 DB 안에서 반복 호출 구조를 그대로 만들 수 있다</a:t>
            </a:r>
          </a:p>
          <a:p>
            <a:r>
              <a:rPr sz="1600" b="0">
                <a:solidFill>
                  <a:srgbClr val="5A6672"/>
                </a:solidFill>
                <a:latin typeface="Malgun Gothic"/>
              </a:rPr>
              <a:t>    –  같은 세션·같은 DB에서 두 방식을 비교하므로 조건 차이가 끼어들 여지가 적다</a:t>
            </a:r>
          </a:p>
          <a:p>
            <a:r>
              <a:rPr sz="1800" b="0">
                <a:solidFill>
                  <a:srgbClr val="202830"/>
                </a:solidFill>
                <a:latin typeface="Malgun Gothic"/>
              </a:rPr>
              <a:t>•  아래 예제는 전부 실습 DB 실측 결과다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이 장의 모든 실행계획·Buffers·누적 통계는 진료비청구심사 실습 DB에서 직접 캡처한 실측값이다</a:t>
            </a:r>
          </a:p>
        </p:txBody>
      </p:sp>
    </p:spTree>
    <p:extLst>
      <p:ext uri="{BB962C8B-B14F-4D97-AF65-F5344CB8AC3E}">
        <p14:creationId xmlns:p14="http://schemas.microsoft.com/office/powerpoint/2010/main" val="688694958"/>
      </p:ext>
    </p:extLst>
  </p:cSld>
  <p:clrMapOvr>
    <a:masterClrMapping/>
  </p:clrMapOvr>
</p:sld>
</file>

<file path=ppt/slides/slide572.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107996"/>
          </a:xfrm>
          <a:prstGeom prst="rect">
            <a:avLst/>
          </a:prstGeom>
          <a:noFill/>
        </p:spPr>
        <p:txBody>
          <a:bodyPr wrap="square">
            <a:spAutoFit/>
          </a:bodyPr>
          <a:lstStyle/>
          <a:p>
            <a:r>
              <a:rPr sz="6600" b="1" dirty="0">
                <a:solidFill>
                  <a:srgbClr val="C0392B"/>
                </a:solidFill>
                <a:latin typeface="Malgun Gothic"/>
              </a:rPr>
              <a:t>1</a:t>
            </a:r>
            <a:r>
              <a:rPr lang="en-US" sz="6600" b="1" dirty="0">
                <a:solidFill>
                  <a:srgbClr val="C0392B"/>
                </a:solidFill>
                <a:latin typeface="Malgun Gothic"/>
              </a:rPr>
              <a:t>4</a:t>
            </a:r>
            <a:r>
              <a:rPr sz="6600" b="1" dirty="0">
                <a:solidFill>
                  <a:srgbClr val="C0392B"/>
                </a:solidFill>
                <a:latin typeface="Malgun Gothic"/>
              </a:rPr>
              <a:t>.2</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Concept — N+1 문제와 흔한 유형들</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N+1 문제의 정의</a:t>
            </a:r>
          </a:p>
          <a:p>
            <a:r>
              <a:rPr sz="1600" b="0">
                <a:solidFill>
                  <a:srgbClr val="C5CED6"/>
                </a:solidFill>
                <a:latin typeface="Malgun Gothic"/>
              </a:rPr>
              <a:t>•  왜 'N+1'이라 부르는가</a:t>
            </a:r>
          </a:p>
          <a:p>
            <a:r>
              <a:rPr sz="1600" b="0">
                <a:solidFill>
                  <a:srgbClr val="C5CED6"/>
                </a:solidFill>
                <a:latin typeface="Malgun Gothic"/>
              </a:rPr>
              <a:t>•  실무에서 자주 나타나는 다른 문제 유형</a:t>
            </a:r>
          </a:p>
          <a:p>
            <a:r>
              <a:rPr sz="1600" b="0">
                <a:solidFill>
                  <a:srgbClr val="C5CED6"/>
                </a:solidFill>
                <a:latin typeface="Malgun Gothic"/>
              </a:rPr>
              <a:t>•  그중 N+1을 골라 다루는 이유</a:t>
            </a:r>
          </a:p>
        </p:txBody>
      </p:sp>
    </p:spTree>
    <p:extLst>
      <p:ext uri="{BB962C8B-B14F-4D97-AF65-F5344CB8AC3E}">
        <p14:creationId xmlns:p14="http://schemas.microsoft.com/office/powerpoint/2010/main" val="857498693"/>
      </p:ext>
    </p:extLst>
  </p:cSld>
  <p:clrMapOvr>
    <a:masterClrMapping/>
  </p:clrMapOvr>
</p:sld>
</file>

<file path=ppt/slides/slide57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N+1 문제의 정의</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N+1 문제란</a:t>
            </a:r>
          </a:p>
          <a:p>
            <a:r>
              <a:rPr sz="1600" b="0">
                <a:solidFill>
                  <a:srgbClr val="5A6672"/>
                </a:solidFill>
                <a:latin typeface="Malgun Gothic"/>
              </a:rPr>
              <a:t>    –  목록 1건을 조회(1번)한 뒤, 그 목록의 각 항목마다 관련 데이터를 추가로 조회(N번)하는 패턴</a:t>
            </a:r>
          </a:p>
          <a:p>
            <a:r>
              <a:rPr sz="1600" b="0">
                <a:solidFill>
                  <a:srgbClr val="5A6672"/>
                </a:solidFill>
                <a:latin typeface="Malgun Gothic"/>
              </a:rPr>
              <a:t>    –  총 쿼리 실행 횟수가 N+1번이 된다</a:t>
            </a:r>
          </a:p>
          <a:p>
            <a:r>
              <a:rPr sz="1800" b="0">
                <a:solidFill>
                  <a:srgbClr val="202830"/>
                </a:solidFill>
                <a:latin typeface="Malgun Gothic"/>
              </a:rPr>
              <a:t>•  구조를 두 조각으로 나눠 보면</a:t>
            </a:r>
          </a:p>
          <a:p>
            <a:r>
              <a:rPr sz="1600" b="0">
                <a:solidFill>
                  <a:srgbClr val="5A6672"/>
                </a:solidFill>
                <a:latin typeface="Malgun Gothic"/>
              </a:rPr>
              <a:t>    –  1 — 목록을 가져오는 조회 (예: 병원 1번의 청구 목록)</a:t>
            </a:r>
          </a:p>
          <a:p>
            <a:r>
              <a:rPr sz="1600" b="0">
                <a:solidFill>
                  <a:srgbClr val="5A6672"/>
                </a:solidFill>
                <a:latin typeface="Malgun Gothic"/>
              </a:rPr>
              <a:t>    –  N — 목록의 각 행마다 따로 나가는 조회 (예: 청구별 상세내역 건수)</a:t>
            </a:r>
          </a:p>
          <a:p>
            <a:r>
              <a:rPr sz="1800" b="0">
                <a:solidFill>
                  <a:srgbClr val="202830"/>
                </a:solidFill>
                <a:latin typeface="Malgun Gothic"/>
              </a:rPr>
              <a:t>•  핵심은 '나쁜 SQL이 하나 있다'가 아니라 '평범한 SQL이 여러 번 나간다'는 것</a:t>
            </a:r>
          </a:p>
          <a:p>
            <a:r>
              <a:rPr sz="1600" b="0">
                <a:solidFill>
                  <a:srgbClr val="5A6672"/>
                </a:solidFill>
                <a:latin typeface="Malgun Gothic"/>
              </a:rPr>
              <a:t>    –  각 조회는 그 자체로 단순하고 흠잡을 데 없어 보인다</a:t>
            </a:r>
          </a:p>
          <a:p>
            <a:r>
              <a:rPr sz="1600" b="0">
                <a:solidFill>
                  <a:srgbClr val="5A6672"/>
                </a:solidFill>
                <a:latin typeface="Malgun Gothic"/>
              </a:rPr>
              <a:t>    –  문제는 문장의 품질이 아니라 문장이 실행되는 횟수에 있다</a:t>
            </a:r>
          </a:p>
          <a:p>
            <a:r>
              <a:rPr sz="1800" b="0">
                <a:solidFill>
                  <a:srgbClr val="202830"/>
                </a:solidFill>
                <a:latin typeface="Malgun Gothic"/>
              </a:rPr>
              <a:t>•  그래서 이 문제는 실행계획이 아니라 실행 횟수를 봐야 보인다</a:t>
            </a:r>
          </a:p>
        </p:txBody>
      </p:sp>
    </p:spTree>
    <p:extLst>
      <p:ext uri="{BB962C8B-B14F-4D97-AF65-F5344CB8AC3E}">
        <p14:creationId xmlns:p14="http://schemas.microsoft.com/office/powerpoint/2010/main" val="4202552118"/>
      </p:ext>
    </p:extLst>
  </p:cSld>
  <p:clrMapOvr>
    <a:masterClrMapping/>
  </p:clrMapOvr>
</p:sld>
</file>

<file path=ppt/slides/slide57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왜 'N+1'이라 부르는가 — 이름이 곧 설명</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이름의 1과 N이 각각 무엇인지 분리해 보자</a:t>
            </a:r>
          </a:p>
          <a:p>
            <a:r>
              <a:rPr sz="1600" b="0">
                <a:solidFill>
                  <a:srgbClr val="5A6672"/>
                </a:solidFill>
                <a:latin typeface="Malgun Gothic"/>
              </a:rPr>
              <a:t>    –  1은 목록을 얻는 최초 조회 — 이 조회는 한 번만 나간다</a:t>
            </a:r>
          </a:p>
          <a:p>
            <a:r>
              <a:rPr sz="1600" b="0">
                <a:solidFill>
                  <a:srgbClr val="5A6672"/>
                </a:solidFill>
                <a:latin typeface="Malgun Gothic"/>
              </a:rPr>
              <a:t>    –  N은 목록의 건수 — 목록이 몇 건이냐에 따라 추가 조회 횟수가 정해진다</a:t>
            </a:r>
          </a:p>
          <a:p>
            <a:r>
              <a:rPr sz="1800" b="0">
                <a:solidFill>
                  <a:srgbClr val="202830"/>
                </a:solidFill>
                <a:latin typeface="Malgun Gothic"/>
              </a:rPr>
              <a:t>•  그래서 N은 상수가 아니라 변수다</a:t>
            </a:r>
          </a:p>
          <a:p>
            <a:r>
              <a:rPr sz="1600" b="0">
                <a:solidFill>
                  <a:srgbClr val="5A6672"/>
                </a:solidFill>
                <a:latin typeface="Malgun Gothic"/>
              </a:rPr>
              <a:t>    –  목록이 20건이면 스무 번, 100건이면 백 번의 추가 조회가 나간다</a:t>
            </a:r>
          </a:p>
          <a:p>
            <a:r>
              <a:rPr sz="1600" b="0">
                <a:solidFill>
                  <a:srgbClr val="5A6672"/>
                </a:solidFill>
                <a:latin typeface="Malgun Gothic"/>
              </a:rPr>
              <a:t>    –  코드는 한 줄도 바뀌지 않았는데 데이터에 따라 부하가 달라진다</a:t>
            </a:r>
          </a:p>
          <a:p>
            <a:r>
              <a:rPr sz="1800" b="0">
                <a:solidFill>
                  <a:srgbClr val="202830"/>
                </a:solidFill>
                <a:latin typeface="Malgun Gothic"/>
              </a:rPr>
              <a:t>•  이 성질이 N+1을 다른 성능 문제와 구분 짓는다</a:t>
            </a:r>
          </a:p>
          <a:p>
            <a:r>
              <a:rPr sz="1600" b="0">
                <a:solidFill>
                  <a:srgbClr val="5A6672"/>
                </a:solidFill>
                <a:latin typeface="Malgun Gothic"/>
              </a:rPr>
              <a:t>    –  다른 문제는 대체로 '한 번의 비용'이 문제 — 고치면 그 비용이 줄어든다</a:t>
            </a:r>
          </a:p>
          <a:p>
            <a:r>
              <a:rPr sz="1600" b="0">
                <a:solidFill>
                  <a:srgbClr val="5A6672"/>
                </a:solidFill>
                <a:latin typeface="Malgun Gothic"/>
              </a:rPr>
              <a:t>    –  N+1은 '횟수'가 문제 — 데이터가 늘면 같은 코드가 더 나빠진다</a:t>
            </a:r>
          </a:p>
          <a:p>
            <a:r>
              <a:rPr sz="1800" b="0">
                <a:solidFill>
                  <a:srgbClr val="202830"/>
                </a:solidFill>
                <a:latin typeface="Malgun Gothic"/>
              </a:rPr>
              <a:t>•  그래서 개발 시점에는 멀쩡하고 운영에서 터지는 유형에 속한다</a:t>
            </a:r>
          </a:p>
        </p:txBody>
      </p:sp>
    </p:spTree>
    <p:extLst>
      <p:ext uri="{BB962C8B-B14F-4D97-AF65-F5344CB8AC3E}">
        <p14:creationId xmlns:p14="http://schemas.microsoft.com/office/powerpoint/2010/main" val="1813977041"/>
      </p:ext>
    </p:extLst>
  </p:cSld>
  <p:clrMapOvr>
    <a:masterClrMapping/>
  </p:clrMapOvr>
</p:sld>
</file>

<file path=ppt/slides/slide57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실무에서 자주 나타나는 다른 문제 유형</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SELECT * — 불필요한 컬럼까지 가져옴</a:t>
            </a:r>
          </a:p>
          <a:p>
            <a:r>
              <a:rPr sz="1600" b="0">
                <a:solidFill>
                  <a:srgbClr val="5A6672"/>
                </a:solidFill>
                <a:latin typeface="Malgun Gothic"/>
              </a:rPr>
              <a:t>    –  필요 없는 컬럼 때문에 전송량과 메모리가 늘고, 커버링 인덱스 기회를 놓친다</a:t>
            </a:r>
          </a:p>
          <a:p>
            <a:r>
              <a:rPr sz="1800" b="0">
                <a:solidFill>
                  <a:srgbClr val="202830"/>
                </a:solidFill>
                <a:latin typeface="Malgun Gothic"/>
              </a:rPr>
              <a:t>•  불필요한 JOIN — 쓰지도 않는 테이블을 조인</a:t>
            </a:r>
          </a:p>
          <a:p>
            <a:r>
              <a:rPr sz="1600" b="0">
                <a:solidFill>
                  <a:srgbClr val="5A6672"/>
                </a:solidFill>
                <a:latin typeface="Malgun Gothic"/>
              </a:rPr>
              <a:t>    –  결과에 쓰이지 않는 테이블이 조인에 남아 있으면 그만큼 접근 비용이 더해진다</a:t>
            </a:r>
          </a:p>
          <a:p>
            <a:r>
              <a:rPr sz="1800" b="0">
                <a:solidFill>
                  <a:srgbClr val="202830"/>
                </a:solidFill>
                <a:latin typeface="Malgun Gothic"/>
              </a:rPr>
              <a:t>•  같은 데이터를 여러 번 중복 조회</a:t>
            </a:r>
          </a:p>
          <a:p>
            <a:r>
              <a:rPr sz="1600" b="0">
                <a:solidFill>
                  <a:srgbClr val="5A6672"/>
                </a:solidFill>
                <a:latin typeface="Malgun Gothic"/>
              </a:rPr>
              <a:t>    –  한 요청 안에서 이미 읽은 값을 다시 읽는 구조 — N+1과 뿌리가 같다</a:t>
            </a:r>
          </a:p>
          <a:p>
            <a:r>
              <a:rPr sz="1800" b="0">
                <a:solidFill>
                  <a:srgbClr val="202830"/>
                </a:solidFill>
                <a:latin typeface="Malgun Gothic"/>
              </a:rPr>
              <a:t>•  과도한 페이지 크기</a:t>
            </a:r>
          </a:p>
          <a:p>
            <a:r>
              <a:rPr sz="1600" b="0">
                <a:solidFill>
                  <a:srgbClr val="5A6672"/>
                </a:solidFill>
                <a:latin typeface="Malgun Gothic"/>
              </a:rPr>
              <a:t>    –  한 화면에 필요 없는 양까지 한 번에 가져오면 정렬·전송 비용이 함께 커진다</a:t>
            </a:r>
          </a:p>
          <a:p>
            <a:r>
              <a:rPr sz="1800" b="0">
                <a:solidFill>
                  <a:srgbClr val="202830"/>
                </a:solidFill>
                <a:latin typeface="Malgun Gothic"/>
              </a:rPr>
              <a:t>•  데이터 분포를 고려하지 않은 SQL</a:t>
            </a:r>
          </a:p>
          <a:p>
            <a:r>
              <a:rPr sz="1600" b="0">
                <a:solidFill>
                  <a:srgbClr val="5A6672"/>
                </a:solidFill>
                <a:latin typeface="Malgun Gothic"/>
              </a:rPr>
              <a:t>    –  ch05·ch08과 연결되는 주제 — 같은 조건도 분포에 따라 유불리가 뒤집힌다</a:t>
            </a:r>
          </a:p>
          <a:p>
            <a:r>
              <a:rPr sz="1800" b="0">
                <a:solidFill>
                  <a:srgbClr val="202830"/>
                </a:solidFill>
                <a:latin typeface="Malgun Gothic"/>
              </a:rPr>
              <a:t>•  이번 챕터는 그중 가장 흔하고 파급력이 큰 N+1을 실측으로 다룬다</a:t>
            </a:r>
          </a:p>
        </p:txBody>
      </p:sp>
    </p:spTree>
    <p:extLst>
      <p:ext uri="{BB962C8B-B14F-4D97-AF65-F5344CB8AC3E}">
        <p14:creationId xmlns:p14="http://schemas.microsoft.com/office/powerpoint/2010/main" val="984458849"/>
      </p:ext>
    </p:extLst>
  </p:cSld>
  <p:clrMapOvr>
    <a:masterClrMapping/>
  </p:clrMapOvr>
</p:sld>
</file>

<file path=ppt/slides/slide57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그중 N+1을 골라 다루는 이유</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가장 흔하다</a:t>
            </a:r>
          </a:p>
          <a:p>
            <a:r>
              <a:rPr sz="1600" b="0">
                <a:solidFill>
                  <a:srgbClr val="5A6672"/>
                </a:solidFill>
                <a:latin typeface="Malgun Gothic"/>
              </a:rPr>
              <a:t>    –  목록 화면과 상세 정보의 조합은 거의 모든 업무 시스템에 존재한다</a:t>
            </a:r>
          </a:p>
          <a:p>
            <a:r>
              <a:rPr sz="1600" b="0">
                <a:solidFill>
                  <a:srgbClr val="5A6672"/>
                </a:solidFill>
                <a:latin typeface="Malgun Gothic"/>
              </a:rPr>
              <a:t>    –  따라서 이 패턴을 만들 기회도 그만큼 많다</a:t>
            </a:r>
          </a:p>
          <a:p>
            <a:r>
              <a:rPr sz="1800" b="0">
                <a:solidFill>
                  <a:srgbClr val="202830"/>
                </a:solidFill>
                <a:latin typeface="Malgun Gothic"/>
              </a:rPr>
              <a:t>•  파급력이 가장 크다</a:t>
            </a:r>
          </a:p>
          <a:p>
            <a:r>
              <a:rPr sz="1600" b="0">
                <a:solidFill>
                  <a:srgbClr val="5A6672"/>
                </a:solidFill>
                <a:latin typeface="Malgun Gothic"/>
              </a:rPr>
              <a:t>    –  다른 유형은 대체로 한 번의 비용을 키우지만, N+1은 비용에 횟수를 곱한다</a:t>
            </a:r>
          </a:p>
          <a:p>
            <a:r>
              <a:rPr sz="1600" b="0">
                <a:solidFill>
                  <a:srgbClr val="5A6672"/>
                </a:solidFill>
                <a:latin typeface="Malgun Gothic"/>
              </a:rPr>
              <a:t>    –  곱셈은 덧셈보다 훨씬 빨리 커진다</a:t>
            </a:r>
          </a:p>
          <a:p>
            <a:r>
              <a:rPr sz="1800" b="0">
                <a:solidFill>
                  <a:srgbClr val="202830"/>
                </a:solidFill>
                <a:latin typeface="Malgun Gothic"/>
              </a:rPr>
              <a:t>•  발견하기가 가장 어렵다</a:t>
            </a:r>
          </a:p>
          <a:p>
            <a:r>
              <a:rPr sz="1600" b="0">
                <a:solidFill>
                  <a:srgbClr val="5A6672"/>
                </a:solidFill>
                <a:latin typeface="Malgun Gothic"/>
              </a:rPr>
              <a:t>    –  실행계획 한 장만 보면 아무 문제가 없어 보인다</a:t>
            </a:r>
          </a:p>
          <a:p>
            <a:r>
              <a:rPr sz="1600" b="0">
                <a:solidFill>
                  <a:srgbClr val="5A6672"/>
                </a:solidFill>
                <a:latin typeface="Malgun Gothic"/>
              </a:rPr>
              <a:t>    –  느린 SQL을 찾는 통상적인 방법으로는 걸러지지 않는다 — 각 실행은 빠를 수 있다</a:t>
            </a:r>
          </a:p>
          <a:p>
            <a:r>
              <a:rPr sz="1800" b="0">
                <a:solidFill>
                  <a:srgbClr val="202830"/>
                </a:solidFill>
                <a:latin typeface="Malgun Gothic"/>
              </a:rPr>
              <a:t>•  그래서 진단 방법을 따로 배워야 하는 유형이다</a:t>
            </a:r>
          </a:p>
          <a:p>
            <a:r>
              <a:rPr sz="1600" b="0">
                <a:solidFill>
                  <a:srgbClr val="5A6672"/>
                </a:solidFill>
                <a:latin typeface="Malgun Gothic"/>
              </a:rPr>
              <a:t>    –  이 장의 절반은 '어떻게 고치는가'가 아니라 '어떻게 찾는가'에 쓰인다</a:t>
            </a:r>
          </a:p>
        </p:txBody>
      </p:sp>
    </p:spTree>
    <p:extLst>
      <p:ext uri="{BB962C8B-B14F-4D97-AF65-F5344CB8AC3E}">
        <p14:creationId xmlns:p14="http://schemas.microsoft.com/office/powerpoint/2010/main" val="528039098"/>
      </p:ext>
    </p:extLst>
  </p:cSld>
  <p:clrMapOvr>
    <a:masterClrMapping/>
  </p:clrMapOvr>
</p:sld>
</file>

<file path=ppt/slides/slide577.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107996"/>
          </a:xfrm>
          <a:prstGeom prst="rect">
            <a:avLst/>
          </a:prstGeom>
          <a:noFill/>
        </p:spPr>
        <p:txBody>
          <a:bodyPr wrap="square">
            <a:spAutoFit/>
          </a:bodyPr>
          <a:lstStyle/>
          <a:p>
            <a:r>
              <a:rPr sz="6600" b="1" dirty="0">
                <a:solidFill>
                  <a:srgbClr val="C0392B"/>
                </a:solidFill>
                <a:latin typeface="Malgun Gothic"/>
              </a:rPr>
              <a:t>1</a:t>
            </a:r>
            <a:r>
              <a:rPr lang="en-US" sz="6600" b="1" dirty="0">
                <a:solidFill>
                  <a:srgbClr val="C0392B"/>
                </a:solidFill>
                <a:latin typeface="Malgun Gothic"/>
              </a:rPr>
              <a:t>4</a:t>
            </a:r>
            <a:r>
              <a:rPr sz="6600" b="1" dirty="0">
                <a:solidFill>
                  <a:srgbClr val="C0392B"/>
                </a:solidFill>
                <a:latin typeface="Malgun Gothic"/>
              </a:rPr>
              <a:t>.3</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Oracle Internals — 비용이 왜 배수로 커지는가</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CLAIM_DETAILS의 인덱스 상황</a:t>
            </a:r>
          </a:p>
          <a:p>
            <a:r>
              <a:rPr sz="1600" b="0">
                <a:solidFill>
                  <a:srgbClr val="C5CED6"/>
                </a:solidFill>
                <a:latin typeface="Malgun Gothic"/>
              </a:rPr>
              <a:t>•  반복이 곱셈이 되는 구조</a:t>
            </a:r>
          </a:p>
          <a:p>
            <a:r>
              <a:rPr sz="1600" b="0">
                <a:solidFill>
                  <a:srgbClr val="C5CED6"/>
                </a:solidFill>
                <a:latin typeface="Malgun Gothic"/>
              </a:rPr>
              <a:t>•  조인은 왜 한 번으로 끝나는가</a:t>
            </a:r>
          </a:p>
          <a:p>
            <a:r>
              <a:rPr sz="1600" b="0">
                <a:solidFill>
                  <a:srgbClr val="C5CED6"/>
                </a:solidFill>
                <a:latin typeface="Malgun Gothic"/>
              </a:rPr>
              <a:t>•  고정비용과 변동비용</a:t>
            </a:r>
          </a:p>
        </p:txBody>
      </p:sp>
    </p:spTree>
    <p:extLst>
      <p:ext uri="{BB962C8B-B14F-4D97-AF65-F5344CB8AC3E}">
        <p14:creationId xmlns:p14="http://schemas.microsoft.com/office/powerpoint/2010/main" val="1464397618"/>
      </p:ext>
    </p:extLst>
  </p:cSld>
  <p:clrMapOvr>
    <a:masterClrMapping/>
  </p:clrMapOvr>
</p:sld>
</file>

<file path=ppt/slides/slide57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CLAIM_DETAILS의 인덱스 상황</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CLAIM_DETAILS는 CLAIM_ID에 인덱스가 없다</a:t>
            </a:r>
          </a:p>
          <a:p>
            <a:r>
              <a:rPr sz="1600" b="0">
                <a:solidFill>
                  <a:srgbClr val="5A6672"/>
                </a:solidFill>
                <a:latin typeface="Malgun Gothic"/>
              </a:rPr>
              <a:t>    –  이 테이블의 PK는 DETAIL_ID뿐이다</a:t>
            </a:r>
          </a:p>
          <a:p>
            <a:r>
              <a:rPr sz="1600" b="0">
                <a:solidFill>
                  <a:srgbClr val="5A6672"/>
                </a:solidFill>
                <a:latin typeface="Malgun Gothic"/>
              </a:rPr>
              <a:t>    –  즉 상세를 '청구별로' 찾아갈 수 있는 진입로가 없는 상태</a:t>
            </a:r>
          </a:p>
          <a:p>
            <a:r>
              <a:rPr sz="1800" b="0">
                <a:solidFill>
                  <a:srgbClr val="202830"/>
                </a:solidFill>
                <a:latin typeface="Malgun Gothic"/>
              </a:rPr>
              <a:t>•  그래서 WHERE claim_id = :값 으로 조회하면</a:t>
            </a:r>
          </a:p>
          <a:p>
            <a:r>
              <a:rPr sz="1600" b="0">
                <a:solidFill>
                  <a:srgbClr val="5A6672"/>
                </a:solidFill>
                <a:latin typeface="Malgun Gothic"/>
              </a:rPr>
              <a:t>    –  매번 TABLE ACCESS FULL이 발생한다</a:t>
            </a:r>
          </a:p>
          <a:p>
            <a:r>
              <a:rPr sz="1600" b="0">
                <a:solidFill>
                  <a:srgbClr val="5A6672"/>
                </a:solidFill>
                <a:latin typeface="Malgun Gothic"/>
              </a:rPr>
              <a:t>    –  ch05에서 이미 확인한 사례와 같은 상황이다</a:t>
            </a:r>
          </a:p>
          <a:p>
            <a:r>
              <a:rPr sz="1800" b="0">
                <a:solidFill>
                  <a:srgbClr val="202830"/>
                </a:solidFill>
                <a:latin typeface="Malgun Gothic"/>
              </a:rPr>
              <a:t>•  여기서 중요한 것은 '한 건을 찾는데 전부를 읽는다'는 비대칭</a:t>
            </a:r>
          </a:p>
          <a:p>
            <a:r>
              <a:rPr sz="1600" b="0">
                <a:solidFill>
                  <a:srgbClr val="5A6672"/>
                </a:solidFill>
                <a:latin typeface="Malgun Gothic"/>
              </a:rPr>
              <a:t>    –  결과는 몇 건 안 되지만, 그 몇 건을 찾기 위해 테이블 전체를 훑어야 한다</a:t>
            </a:r>
          </a:p>
          <a:p>
            <a:r>
              <a:rPr sz="1600" b="0">
                <a:solidFill>
                  <a:srgbClr val="5A6672"/>
                </a:solidFill>
                <a:latin typeface="Malgun Gothic"/>
              </a:rPr>
              <a:t>    –  찾는 값이 어디 있는지 모르니 끝까지 읽어 보는 수밖에 없다</a:t>
            </a:r>
          </a:p>
          <a:p>
            <a:r>
              <a:rPr sz="1800" b="0">
                <a:solidFill>
                  <a:srgbClr val="202830"/>
                </a:solidFill>
                <a:latin typeface="Malgun Gothic"/>
              </a:rPr>
              <a:t>•  이 비대칭이 반복될 때 무슨 일이 벌어지는가 — 다음 슬라이드</a:t>
            </a:r>
          </a:p>
        </p:txBody>
      </p:sp>
    </p:spTree>
    <p:extLst>
      <p:ext uri="{BB962C8B-B14F-4D97-AF65-F5344CB8AC3E}">
        <p14:creationId xmlns:p14="http://schemas.microsoft.com/office/powerpoint/2010/main" val="1202909785"/>
      </p:ext>
    </p:extLst>
  </p:cSld>
  <p:clrMapOvr>
    <a:masterClrMapping/>
  </p:clrMapOvr>
</p:sld>
</file>

<file path=ppt/slides/slide57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반복이 곱셈이 되는 구조</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 조회를 20번 반복하면 TABLE ACCESS FULL 자체가 20번 반복된다</a:t>
            </a:r>
          </a:p>
          <a:p>
            <a:r>
              <a:rPr sz="1600" b="0">
                <a:solidFill>
                  <a:srgbClr val="5A6672"/>
                </a:solidFill>
                <a:latin typeface="Malgun Gothic"/>
              </a:rPr>
              <a:t>    –  한 번의 Full Scan 비용이 이미 상당한데(약 6,600 Buffers), 그것이 20번</a:t>
            </a:r>
          </a:p>
          <a:p>
            <a:r>
              <a:rPr sz="1600" b="0">
                <a:solidFill>
                  <a:srgbClr val="5A6672"/>
                </a:solidFill>
                <a:latin typeface="Malgun Gothic"/>
              </a:rPr>
              <a:t>    –  단순 곱셈으로 커진다 — 더해지는 것이 아니라 곱해진다</a:t>
            </a:r>
          </a:p>
          <a:p>
            <a:r>
              <a:rPr sz="1800" b="0">
                <a:solidFill>
                  <a:srgbClr val="202830"/>
                </a:solidFill>
                <a:latin typeface="Malgun Gothic"/>
              </a:rPr>
              <a:t>•  왜 매번 처음부터 다시 읽는가</a:t>
            </a:r>
          </a:p>
          <a:p>
            <a:r>
              <a:rPr sz="1600" b="0">
                <a:solidFill>
                  <a:srgbClr val="5A6672"/>
                </a:solidFill>
                <a:latin typeface="Malgun Gothic"/>
              </a:rPr>
              <a:t>    –  각 실행은 서로 독립적인 SQL 실행이다 — 앞 실행이 무엇을 읽었는지 이어받지 않는다</a:t>
            </a:r>
          </a:p>
          <a:p>
            <a:r>
              <a:rPr sz="1600" b="0">
                <a:solidFill>
                  <a:srgbClr val="5A6672"/>
                </a:solidFill>
                <a:latin typeface="Malgun Gothic"/>
              </a:rPr>
              <a:t>    –  첫 번째 반복에서 테이블 전체를 읽었어도, 두 번째 반복은 다시 처음부터 시작한다</a:t>
            </a:r>
          </a:p>
          <a:p>
            <a:r>
              <a:rPr sz="1800" b="0">
                <a:solidFill>
                  <a:srgbClr val="202830"/>
                </a:solidFill>
                <a:latin typeface="Malgun Gothic"/>
              </a:rPr>
              <a:t>•  즉 같은 데이터를 20번 읽는다</a:t>
            </a:r>
          </a:p>
          <a:p>
            <a:r>
              <a:rPr sz="1600" b="0">
                <a:solidFill>
                  <a:srgbClr val="5A6672"/>
                </a:solidFill>
                <a:latin typeface="Malgun Gothic"/>
              </a:rPr>
              <a:t>    –  20번의 스캔이 사실상 동일한 작업의 반복 — 새로 얻는 정보는 매번 극히 일부</a:t>
            </a:r>
          </a:p>
          <a:p>
            <a:r>
              <a:rPr sz="1600" b="0">
                <a:solidFill>
                  <a:srgbClr val="5A6672"/>
                </a:solidFill>
                <a:latin typeface="Malgun Gothic"/>
              </a:rPr>
              <a:t>    –  낭비의 정체가 바로 이 중복 읽기다</a:t>
            </a:r>
          </a:p>
          <a:p>
            <a:r>
              <a:rPr sz="1800" b="0">
                <a:solidFill>
                  <a:srgbClr val="202830"/>
                </a:solidFill>
                <a:latin typeface="Malgun Gothic"/>
              </a:rPr>
              <a:t>•  총 비용 ≈ 반복 횟수 × 단건 Full Scan 비용</a:t>
            </a:r>
          </a:p>
        </p:txBody>
      </p:sp>
    </p:spTree>
    <p:extLst>
      <p:ext uri="{BB962C8B-B14F-4D97-AF65-F5344CB8AC3E}">
        <p14:creationId xmlns:p14="http://schemas.microsoft.com/office/powerpoint/2010/main" val="1049408563"/>
      </p:ext>
    </p:extLst>
  </p:cSld>
  <p:clrMapOvr>
    <a:masterClrMapping/>
  </p:clrMapOvr>
</p:sld>
</file>

<file path=ppt/slides/slide58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조인은 왜 한 번으로 끝나는가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조인으로 한 번에 처리하면 CLAIM_DETAILS를 단 한 번만 Full Scan한다</a:t>
            </a:r>
          </a:p>
          <a:p>
            <a:r>
              <a:rPr sz="1600" b="0">
                <a:solidFill>
                  <a:srgbClr val="5A6672"/>
                </a:solidFill>
                <a:latin typeface="Malgun Gothic"/>
              </a:rPr>
              <a:t>    –  그 한 번의 스캔 결과 안에서 20건 모두를 동시에 매칭시킬 수 있다</a:t>
            </a:r>
          </a:p>
          <a:p>
            <a:r>
              <a:rPr sz="1600" b="0">
                <a:solidFill>
                  <a:srgbClr val="5A6672"/>
                </a:solidFill>
                <a:latin typeface="Malgun Gothic"/>
              </a:rPr>
              <a:t>    –  Hash Join의 특성 — ch09에서 다룬 내용</a:t>
            </a:r>
          </a:p>
          <a:p>
            <a:r>
              <a:rPr sz="1800" b="0">
                <a:solidFill>
                  <a:srgbClr val="202830"/>
                </a:solidFill>
                <a:latin typeface="Malgun Gothic"/>
              </a:rPr>
              <a:t>•  Hash Join이 하는 일을 한 줄로 요약하면</a:t>
            </a:r>
          </a:p>
          <a:p>
            <a:r>
              <a:rPr sz="1600" b="0">
                <a:solidFill>
                  <a:srgbClr val="5A6672"/>
                </a:solidFill>
                <a:latin typeface="Malgun Gothic"/>
              </a:rPr>
              <a:t>    –  작은 쪽으로 해시 테이블을 만들어 두고, 큰 쪽을 한 번 훑으며 던져 맞춘다</a:t>
            </a:r>
          </a:p>
          <a:p>
            <a:r>
              <a:rPr sz="1600" b="0">
                <a:solidFill>
                  <a:srgbClr val="5A6672"/>
                </a:solidFill>
                <a:latin typeface="Malgun Gothic"/>
              </a:rPr>
              <a:t>    –  큰 쪽을 여러 번 읽을 이유가 없다 — 지나가면서 짝을 다 찾기 때문</a:t>
            </a:r>
          </a:p>
          <a:p>
            <a:r>
              <a:rPr sz="1800" b="0">
                <a:solidFill>
                  <a:srgbClr val="202830"/>
                </a:solidFill>
                <a:latin typeface="Malgun Gothic"/>
              </a:rPr>
              <a:t>•  그 결과</a:t>
            </a:r>
          </a:p>
          <a:p>
            <a:r>
              <a:rPr sz="1600" b="0">
                <a:solidFill>
                  <a:srgbClr val="5A6672"/>
                </a:solidFill>
                <a:latin typeface="Malgun Gothic"/>
              </a:rPr>
              <a:t>    –  Full Scan 비용이 조회 건수와 무관하게 '한 번'으로 고정된다</a:t>
            </a:r>
          </a:p>
          <a:p>
            <a:r>
              <a:rPr sz="1600" b="0">
                <a:solidFill>
                  <a:srgbClr val="5A6672"/>
                </a:solidFill>
                <a:latin typeface="Malgun Gothic"/>
              </a:rPr>
              <a:t>    –  찾을 청구가 20건이든 200건이든 CLAIM_DETAILS를 읽는 횟수는 그대로 한 번</a:t>
            </a:r>
          </a:p>
          <a:p>
            <a:r>
              <a:rPr sz="1800" b="0">
                <a:solidFill>
                  <a:srgbClr val="202830"/>
                </a:solidFill>
                <a:latin typeface="Malgun Gothic"/>
              </a:rPr>
              <a:t>•  같은 데이터를 읽되, 몇 번 읽느냐가 두 방식을 가른다</a:t>
            </a:r>
          </a:p>
        </p:txBody>
      </p:sp>
    </p:spTree>
    <p:extLst>
      <p:ext uri="{BB962C8B-B14F-4D97-AF65-F5344CB8AC3E}">
        <p14:creationId xmlns:p14="http://schemas.microsoft.com/office/powerpoint/2010/main" val="605222642"/>
      </p:ext>
    </p:extLst>
  </p:cSld>
  <p:clrMapOvr>
    <a:masterClrMapping/>
  </p:clrMapOvr>
</p:sld>
</file>

<file path=ppt/slides/slide58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고정비용과 변동비용으로 정리하면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조인 1회 방식의 비용 구조</a:t>
            </a:r>
          </a:p>
          <a:p>
            <a:r>
              <a:rPr sz="1600" b="0">
                <a:solidFill>
                  <a:srgbClr val="5A6672"/>
                </a:solidFill>
                <a:latin typeface="Malgun Gothic"/>
              </a:rPr>
              <a:t>    –  CLAIM_DETAILS Full Scan 1회 — 목록 건수와 무관한 고정비용</a:t>
            </a:r>
          </a:p>
          <a:p>
            <a:r>
              <a:rPr sz="1600" b="0">
                <a:solidFill>
                  <a:srgbClr val="5A6672"/>
                </a:solidFill>
                <a:latin typeface="Malgun Gothic"/>
              </a:rPr>
              <a:t>    –  여기에 조인·집계 오버헤드가 조금 붙는다</a:t>
            </a:r>
          </a:p>
          <a:p>
            <a:r>
              <a:rPr sz="1600" b="0">
                <a:solidFill>
                  <a:srgbClr val="5A6672"/>
                </a:solidFill>
                <a:latin typeface="Malgun Gothic"/>
              </a:rPr>
              <a:t>    –  목록이 늘어도 늘어나는 부분은 목록 쪽 접근 비용뿐</a:t>
            </a:r>
          </a:p>
          <a:p>
            <a:r>
              <a:rPr sz="1800" b="0">
                <a:solidFill>
                  <a:srgbClr val="202830"/>
                </a:solidFill>
                <a:latin typeface="Malgun Gothic"/>
              </a:rPr>
              <a:t>•  N+1 방식의 비용 구조</a:t>
            </a:r>
          </a:p>
          <a:p>
            <a:r>
              <a:rPr sz="1600" b="0">
                <a:solidFill>
                  <a:srgbClr val="5A6672"/>
                </a:solidFill>
                <a:latin typeface="Malgun Gothic"/>
              </a:rPr>
              <a:t>    –  단건 Full Scan 비용 × 반복 횟수 — 전부가 변동비용</a:t>
            </a:r>
          </a:p>
          <a:p>
            <a:r>
              <a:rPr sz="1600" b="0">
                <a:solidFill>
                  <a:srgbClr val="5A6672"/>
                </a:solidFill>
                <a:latin typeface="Malgun Gothic"/>
              </a:rPr>
              <a:t>    –  고정된 부분이 사실상 없다 — 목록 건수가 곧 배수가 된다</a:t>
            </a:r>
          </a:p>
          <a:p>
            <a:r>
              <a:rPr sz="1800" b="0">
                <a:solidFill>
                  <a:srgbClr val="202830"/>
                </a:solidFill>
                <a:latin typeface="Malgun Gothic"/>
              </a:rPr>
              <a:t>•  그래서 두 방식의 비율은 대략 반복 횟수에 수렴한다</a:t>
            </a:r>
          </a:p>
          <a:p>
            <a:r>
              <a:rPr sz="1600" b="0">
                <a:solidFill>
                  <a:srgbClr val="5A6672"/>
                </a:solidFill>
                <a:latin typeface="Malgun Gothic"/>
              </a:rPr>
              <a:t>    –  이 예측을 12.5절 실측으로 확인하게 된다</a:t>
            </a:r>
          </a:p>
          <a:p>
            <a:r>
              <a:rPr sz="1800" b="0">
                <a:solidFill>
                  <a:srgbClr val="202830"/>
                </a:solidFill>
                <a:latin typeface="Malgun Gothic"/>
              </a:rPr>
              <a:t>•  판단 기준: 목록이 커질 때 비용이 어떻게 움직이는지를 먼저 그려 보라</a:t>
            </a:r>
          </a:p>
          <a:p>
            <a:r>
              <a:rPr sz="1600" b="0">
                <a:solidFill>
                  <a:srgbClr val="5A6672"/>
                </a:solidFill>
                <a:latin typeface="Malgun Gothic"/>
              </a:rPr>
              <a:t>    –  코드를 고치기 전에 구조부터 분류하면 어디를 손댈지가 정해진다</a:t>
            </a:r>
          </a:p>
        </p:txBody>
      </p:sp>
    </p:spTree>
    <p:extLst>
      <p:ext uri="{BB962C8B-B14F-4D97-AF65-F5344CB8AC3E}">
        <p14:creationId xmlns:p14="http://schemas.microsoft.com/office/powerpoint/2010/main" val="1239406118"/>
      </p:ext>
    </p:extLst>
  </p:cSld>
  <p:clrMapOvr>
    <a:masterClrMapping/>
  </p:clrMapOvr>
</p:sld>
</file>

<file path=ppt/slides/slide582.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107996"/>
          </a:xfrm>
          <a:prstGeom prst="rect">
            <a:avLst/>
          </a:prstGeom>
          <a:noFill/>
        </p:spPr>
        <p:txBody>
          <a:bodyPr wrap="square">
            <a:spAutoFit/>
          </a:bodyPr>
          <a:lstStyle/>
          <a:p>
            <a:r>
              <a:rPr sz="6600" b="1" dirty="0">
                <a:solidFill>
                  <a:srgbClr val="C0392B"/>
                </a:solidFill>
                <a:latin typeface="Malgun Gothic"/>
              </a:rPr>
              <a:t>1</a:t>
            </a:r>
            <a:r>
              <a:rPr lang="en-US" sz="6600" b="1" dirty="0">
                <a:solidFill>
                  <a:srgbClr val="C0392B"/>
                </a:solidFill>
                <a:latin typeface="Malgun Gothic"/>
              </a:rPr>
              <a:t>4</a:t>
            </a:r>
            <a:r>
              <a:rPr sz="6600" b="1" dirty="0">
                <a:solidFill>
                  <a:srgbClr val="C0392B"/>
                </a:solidFill>
                <a:latin typeface="Malgun Gothic"/>
              </a:rPr>
              <a:t>.4</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Example — N+1 재현과 조인 1회 대체</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PL/SQL 루프로 N+1 재현</a:t>
            </a:r>
          </a:p>
          <a:p>
            <a:r>
              <a:rPr sz="1600" b="0">
                <a:solidFill>
                  <a:srgbClr val="C5CED6"/>
                </a:solidFill>
                <a:latin typeface="Malgun Gothic"/>
              </a:rPr>
              <a:t>•  재현 코드 읽기</a:t>
            </a:r>
          </a:p>
          <a:p>
            <a:r>
              <a:rPr sz="1600" b="0">
                <a:solidFill>
                  <a:srgbClr val="C5CED6"/>
                </a:solidFill>
                <a:latin typeface="Malgun Gothic"/>
              </a:rPr>
              <a:t>•  조인 1회로 대체</a:t>
            </a:r>
          </a:p>
          <a:p>
            <a:r>
              <a:rPr sz="1600" b="0">
                <a:solidFill>
                  <a:srgbClr val="C5CED6"/>
                </a:solidFill>
                <a:latin typeface="Malgun Gothic"/>
              </a:rPr>
              <a:t>•  두 코드의 구조 비교</a:t>
            </a:r>
          </a:p>
        </p:txBody>
      </p:sp>
    </p:spTree>
    <p:extLst>
      <p:ext uri="{BB962C8B-B14F-4D97-AF65-F5344CB8AC3E}">
        <p14:creationId xmlns:p14="http://schemas.microsoft.com/office/powerpoint/2010/main" val="2626950969"/>
      </p:ext>
    </p:extLst>
  </p:cSld>
  <p:clrMapOvr>
    <a:masterClrMapping/>
  </p:clrMapOvr>
</p:sld>
</file>

<file path=ppt/slides/slide58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N+1 패턴 재현 (PL/SQL)</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12.4절 Example — 청구 20건에 대해 상세내역을 건별로 반복 조회</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N+1 패턴(PL/SQL로 재현): 청구 20건에 대해 상세내역을 건별로 반복 조회</a:t>
            </a:r>
          </a:p>
          <a:p>
            <a:r>
              <a:rPr sz="1250" b="0">
                <a:solidFill>
                  <a:srgbClr val="E6E6E6"/>
                </a:solidFill>
                <a:latin typeface="Consolas"/>
              </a:rPr>
              <a:t>DECLARE</a:t>
            </a:r>
          </a:p>
          <a:p>
            <a:r>
              <a:rPr sz="1250" b="0">
                <a:solidFill>
                  <a:srgbClr val="E6E6E6"/>
                </a:solidFill>
                <a:latin typeface="Consolas"/>
              </a:rPr>
              <a:t>  v_cnt NUMBER;</a:t>
            </a:r>
          </a:p>
          <a:p>
            <a:r>
              <a:rPr sz="1250" b="0">
                <a:solidFill>
                  <a:srgbClr val="E6E6E6"/>
                </a:solidFill>
                <a:latin typeface="Consolas"/>
              </a:rPr>
              <a:t>BEGIN</a:t>
            </a:r>
          </a:p>
          <a:p>
            <a:r>
              <a:rPr sz="1250" b="0">
                <a:solidFill>
                  <a:srgbClr val="E6E6E6"/>
                </a:solidFill>
                <a:latin typeface="Consolas"/>
              </a:rPr>
              <a:t>  FOR r IN (SELECT claim_id FROM medical_claims</a:t>
            </a:r>
          </a:p>
          <a:p>
            <a:r>
              <a:rPr sz="1250" b="0">
                <a:solidFill>
                  <a:srgbClr val="E6E6E6"/>
                </a:solidFill>
                <a:latin typeface="Consolas"/>
              </a:rPr>
              <a:t>            WHERE hosp_id = 1 AND ROWNUM &lt;= 20) LOOP</a:t>
            </a:r>
          </a:p>
          <a:p>
            <a:r>
              <a:rPr sz="1250" b="0">
                <a:solidFill>
                  <a:srgbClr val="E6E6E6"/>
                </a:solidFill>
                <a:latin typeface="Consolas"/>
              </a:rPr>
              <a:t> </a:t>
            </a:r>
          </a:p>
          <a:p>
            <a:r>
              <a:rPr sz="1250" b="0">
                <a:solidFill>
                  <a:srgbClr val="E6E6E6"/>
                </a:solidFill>
                <a:latin typeface="Consolas"/>
              </a:rPr>
              <a:t>    SELECT COUNT(*) INTO v_cnt</a:t>
            </a:r>
          </a:p>
          <a:p>
            <a:r>
              <a:rPr sz="1250" b="0">
                <a:solidFill>
                  <a:srgbClr val="E6E6E6"/>
                </a:solidFill>
                <a:latin typeface="Consolas"/>
              </a:rPr>
              <a:t>      FROM claim_details</a:t>
            </a:r>
          </a:p>
          <a:p>
            <a:r>
              <a:rPr sz="1250" b="0">
                <a:solidFill>
                  <a:srgbClr val="E6E6E6"/>
                </a:solidFill>
                <a:latin typeface="Consolas"/>
              </a:rPr>
              <a:t>     WHERE claim_id = r.claim_id;</a:t>
            </a:r>
          </a:p>
          <a:p>
            <a:r>
              <a:rPr sz="1250" b="0">
                <a:solidFill>
                  <a:srgbClr val="E6E6E6"/>
                </a:solidFill>
                <a:latin typeface="Consolas"/>
              </a:rPr>
              <a:t> </a:t>
            </a:r>
          </a:p>
          <a:p>
            <a:r>
              <a:rPr sz="1250" b="0">
                <a:solidFill>
                  <a:srgbClr val="E6E6E6"/>
                </a:solidFill>
                <a:latin typeface="Consolas"/>
              </a:rPr>
              <a:t>  END LOOP;</a:t>
            </a:r>
          </a:p>
          <a:p>
            <a:r>
              <a:rPr sz="1250" b="0">
                <a:solidFill>
                  <a:srgbClr val="E6E6E6"/>
                </a:solidFill>
                <a:latin typeface="Consolas"/>
              </a:rPr>
              <a:t>END;</a:t>
            </a:r>
          </a:p>
          <a:p>
            <a:r>
              <a:rPr sz="1250" b="0">
                <a:solidFill>
                  <a:srgbClr val="E6E6E6"/>
                </a:solidFill>
                <a:latin typeface="Consolas"/>
              </a:rPr>
              <a:t>/</a:t>
            </a:r>
          </a:p>
          <a:p>
            <a:r>
              <a:rPr sz="1250" b="0">
                <a:solidFill>
                  <a:srgbClr val="E6E6E6"/>
                </a:solidFill>
                <a:latin typeface="Consolas"/>
              </a:rPr>
              <a:t> </a:t>
            </a:r>
          </a:p>
          <a:p>
            <a:r>
              <a:rPr sz="1250" b="0">
                <a:solidFill>
                  <a:srgbClr val="7EC699"/>
                </a:solidFill>
                <a:latin typeface="Consolas"/>
              </a:rPr>
              <a:t>-- 커서 FOR 루프가 목록 조회 1번 (= N+1의 '1')</a:t>
            </a:r>
          </a:p>
          <a:p>
            <a:r>
              <a:rPr sz="1250" b="0">
                <a:solidFill>
                  <a:srgbClr val="7EC699"/>
                </a:solidFill>
                <a:latin typeface="Consolas"/>
              </a:rPr>
              <a:t>-- 루프 본문의 SELECT COUNT(*)가 항목별 조회 N번 (= N+1의 'N')</a:t>
            </a:r>
          </a:p>
          <a:p>
            <a:r>
              <a:rPr sz="1250" b="0">
                <a:solidFill>
                  <a:srgbClr val="7EC699"/>
                </a:solidFill>
                <a:latin typeface="Consolas"/>
              </a:rPr>
              <a:t>-- r.claim_id는 PL/SQL이 자동으로 바인드 변수(:B1)로 넘긴다</a:t>
            </a:r>
          </a:p>
        </p:txBody>
      </p:sp>
    </p:spTree>
    <p:extLst>
      <p:ext uri="{BB962C8B-B14F-4D97-AF65-F5344CB8AC3E}">
        <p14:creationId xmlns:p14="http://schemas.microsoft.com/office/powerpoint/2010/main" val="3715015356"/>
      </p:ext>
    </p:extLst>
  </p:cSld>
  <p:clrMapOvr>
    <a:masterClrMapping/>
  </p:clrMapOvr>
</p:sld>
</file>

<file path=ppt/slides/slide58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재현 코드 읽기 — 세 가지 관전 포인트</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ROWNUM &lt;= 20 — 목록을 스무 건으로 제한</a:t>
            </a:r>
          </a:p>
          <a:p>
            <a:r>
              <a:rPr sz="1600" b="0">
                <a:solidFill>
                  <a:srgbClr val="5A6672"/>
                </a:solidFill>
                <a:latin typeface="Malgun Gothic"/>
              </a:rPr>
              <a:t>    –  재현 규모를 고정해 두어야 두 방식을 같은 조건에서 비교할 수 있다</a:t>
            </a:r>
          </a:p>
          <a:p>
            <a:r>
              <a:rPr sz="1600" b="0">
                <a:solidFill>
                  <a:srgbClr val="5A6672"/>
                </a:solidFill>
                <a:latin typeface="Malgun Gothic"/>
              </a:rPr>
              <a:t>    –  이 20이 곧 N+1의 N이 된다</a:t>
            </a:r>
          </a:p>
          <a:p>
            <a:r>
              <a:rPr sz="1800" b="0">
                <a:solidFill>
                  <a:srgbClr val="202830"/>
                </a:solidFill>
                <a:latin typeface="Malgun Gothic"/>
              </a:rPr>
              <a:t>•  루프 본문의 SELECT COUNT(*) — 반복되는 조회</a:t>
            </a:r>
          </a:p>
          <a:p>
            <a:r>
              <a:rPr sz="1600" b="0">
                <a:solidFill>
                  <a:srgbClr val="5A6672"/>
                </a:solidFill>
                <a:latin typeface="Malgun Gothic"/>
              </a:rPr>
              <a:t>    –  CLAIM_ID로 CLAIM_DETAILS를 찾는다 — 인덱스가 없으므로 매번 Full Scan</a:t>
            </a:r>
          </a:p>
          <a:p>
            <a:r>
              <a:rPr sz="1600" b="0">
                <a:solidFill>
                  <a:srgbClr val="5A6672"/>
                </a:solidFill>
                <a:latin typeface="Malgun Gothic"/>
              </a:rPr>
              <a:t>    –  이 한 문장이 20번 실행된다</a:t>
            </a:r>
          </a:p>
          <a:p>
            <a:r>
              <a:rPr sz="1800" b="0">
                <a:solidFill>
                  <a:srgbClr val="202830"/>
                </a:solidFill>
                <a:latin typeface="Malgun Gothic"/>
              </a:rPr>
              <a:t>•  r.claim_id — 바인드 변수로 넘어간다</a:t>
            </a:r>
          </a:p>
          <a:p>
            <a:r>
              <a:rPr sz="1600" b="0">
                <a:solidFill>
                  <a:srgbClr val="5A6672"/>
                </a:solidFill>
                <a:latin typeface="Malgun Gothic"/>
              </a:rPr>
              <a:t>    –  PL/SQL은 변수를 자동으로 바인드 변수로 처리한다(실측에서 :B1로 나타남)</a:t>
            </a:r>
          </a:p>
          <a:p>
            <a:r>
              <a:rPr sz="1600" b="0">
                <a:solidFill>
                  <a:srgbClr val="5A6672"/>
                </a:solidFill>
                <a:latin typeface="Malgun Gothic"/>
              </a:rPr>
              <a:t>    –  덕분에 20번 실행이 같은 SQL_ID를 공유해 V$SQL에서 누적으로 관측된다</a:t>
            </a:r>
          </a:p>
          <a:p>
            <a:r>
              <a:rPr sz="1600" b="0">
                <a:solidFill>
                  <a:srgbClr val="5A6672"/>
                </a:solidFill>
                <a:latin typeface="Malgun Gothic"/>
              </a:rPr>
              <a:t>    –  만약 리터럴을 매번 다르게 넣었다면 하드 파싱 반복이라는 문제가 더 붙는다 — ch02</a:t>
            </a:r>
          </a:p>
          <a:p>
            <a:r>
              <a:rPr sz="1800" b="0">
                <a:solidFill>
                  <a:srgbClr val="202830"/>
                </a:solidFill>
                <a:latin typeface="Malgun Gothic"/>
              </a:rPr>
              <a:t>•  결과 자체는 조인 버전과 동일하다 — 다른 것은 비용뿐</a:t>
            </a:r>
          </a:p>
        </p:txBody>
      </p:sp>
    </p:spTree>
    <p:extLst>
      <p:ext uri="{BB962C8B-B14F-4D97-AF65-F5344CB8AC3E}">
        <p14:creationId xmlns:p14="http://schemas.microsoft.com/office/powerpoint/2010/main" val="3374509633"/>
      </p:ext>
    </p:extLst>
  </p:cSld>
  <p:clrMapOvr>
    <a:masterClrMapping/>
  </p:clrMapOvr>
</p:sld>
</file>

<file path=ppt/slides/slide58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조인 1회로 대체</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12.4절 Example — 같은 결과를 한 문장으로</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조인 1회로 대체</a:t>
            </a:r>
          </a:p>
          <a:p>
            <a:r>
              <a:rPr sz="1250" b="0">
                <a:solidFill>
                  <a:srgbClr val="E6E6E6"/>
                </a:solidFill>
                <a:latin typeface="Consolas"/>
              </a:rPr>
              <a:t>SELECT c.claim_id, COUNT(d.detail_id) cnt</a:t>
            </a:r>
          </a:p>
          <a:p>
            <a:r>
              <a:rPr sz="1250" b="0">
                <a:solidFill>
                  <a:srgbClr val="E6E6E6"/>
                </a:solidFill>
                <a:latin typeface="Consolas"/>
              </a:rPr>
              <a:t>FROM (SELECT claim_id FROM medical_claims</a:t>
            </a:r>
          </a:p>
          <a:p>
            <a:r>
              <a:rPr sz="1250" b="0">
                <a:solidFill>
                  <a:srgbClr val="E6E6E6"/>
                </a:solidFill>
                <a:latin typeface="Consolas"/>
              </a:rPr>
              <a:t>      WHERE hosp_id = 1 AND ROWNUM &lt;= 20) c,</a:t>
            </a:r>
          </a:p>
          <a:p>
            <a:r>
              <a:rPr sz="1250" b="0">
                <a:solidFill>
                  <a:srgbClr val="E6E6E6"/>
                </a:solidFill>
                <a:latin typeface="Consolas"/>
              </a:rPr>
              <a:t>     claim_details d</a:t>
            </a:r>
          </a:p>
          <a:p>
            <a:r>
              <a:rPr sz="1250" b="0">
                <a:solidFill>
                  <a:srgbClr val="E6E6E6"/>
                </a:solidFill>
                <a:latin typeface="Consolas"/>
              </a:rPr>
              <a:t>WHERE c.claim_id = d.claim_id(+)</a:t>
            </a:r>
          </a:p>
          <a:p>
            <a:r>
              <a:rPr sz="1250" b="0">
                <a:solidFill>
                  <a:srgbClr val="E6E6E6"/>
                </a:solidFill>
                <a:latin typeface="Consolas"/>
              </a:rPr>
              <a:t>GROUP BY c.claim_id;</a:t>
            </a:r>
          </a:p>
          <a:p>
            <a:r>
              <a:rPr sz="1250" b="0">
                <a:solidFill>
                  <a:srgbClr val="E6E6E6"/>
                </a:solidFill>
                <a:latin typeface="Consolas"/>
              </a:rPr>
              <a:t> </a:t>
            </a:r>
          </a:p>
          <a:p>
            <a:r>
              <a:rPr sz="1250" b="0">
                <a:solidFill>
                  <a:srgbClr val="7EC699"/>
                </a:solidFill>
                <a:latin typeface="Consolas"/>
              </a:rPr>
              <a:t>-- 인라인 뷰 c : N+1에서 '목록 조회 1번'에 해당하던 부분</a:t>
            </a:r>
          </a:p>
          <a:p>
            <a:r>
              <a:rPr sz="1250" b="0">
                <a:solidFill>
                  <a:srgbClr val="7EC699"/>
                </a:solidFill>
                <a:latin typeface="Consolas"/>
              </a:rPr>
              <a:t>-- (+) 아우터 조인 : 상세내역이 없는 청구도 결과에서 빠지지 않게 한다</a:t>
            </a:r>
          </a:p>
          <a:p>
            <a:r>
              <a:rPr sz="1250" b="0">
                <a:solidFill>
                  <a:srgbClr val="7EC699"/>
                </a:solidFill>
                <a:latin typeface="Consolas"/>
              </a:rPr>
              <a:t>--                  (COUNT는 0으로 잡힌다)</a:t>
            </a:r>
          </a:p>
          <a:p>
            <a:r>
              <a:rPr sz="1250" b="0">
                <a:solidFill>
                  <a:srgbClr val="7EC699"/>
                </a:solidFill>
                <a:latin typeface="Consolas"/>
              </a:rPr>
              <a:t>-- GROUP BY : 루프를 돌며 건별로 세던 일을 집계 한 번으로 대체</a:t>
            </a:r>
          </a:p>
          <a:p>
            <a:r>
              <a:rPr sz="1250" b="0">
                <a:solidFill>
                  <a:srgbClr val="E6E6E6"/>
                </a:solidFill>
                <a:latin typeface="Consolas"/>
              </a:rPr>
              <a:t> </a:t>
            </a:r>
          </a:p>
          <a:p>
            <a:r>
              <a:rPr sz="1250" b="0">
                <a:solidFill>
                  <a:srgbClr val="7EC699"/>
                </a:solidFill>
                <a:latin typeface="Consolas"/>
              </a:rPr>
              <a:t>-- 반복 실행이 사라지고 SQL 문장 하나가 되었다는 점이 핵심</a:t>
            </a:r>
          </a:p>
        </p:txBody>
      </p:sp>
    </p:spTree>
    <p:extLst>
      <p:ext uri="{BB962C8B-B14F-4D97-AF65-F5344CB8AC3E}">
        <p14:creationId xmlns:p14="http://schemas.microsoft.com/office/powerpoint/2010/main" val="368726181"/>
      </p:ext>
    </p:extLst>
  </p:cSld>
  <p:clrMapOvr>
    <a:masterClrMapping/>
  </p:clrMapOvr>
</p:sld>
</file>

<file path=ppt/slides/slide58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두 코드의 구조 비교</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같은 것</a:t>
            </a:r>
          </a:p>
          <a:p>
            <a:r>
              <a:rPr sz="1600" b="0">
                <a:solidFill>
                  <a:srgbClr val="5A6672"/>
                </a:solidFill>
                <a:latin typeface="Malgun Gothic"/>
              </a:rPr>
              <a:t>    –  대상 — 병원 1번의 청구 20건</a:t>
            </a:r>
          </a:p>
          <a:p>
            <a:r>
              <a:rPr sz="1600" b="0">
                <a:solidFill>
                  <a:srgbClr val="5A6672"/>
                </a:solidFill>
                <a:latin typeface="Malgun Gothic"/>
              </a:rPr>
              <a:t>    –  결과 — 청구별 상세내역 건수</a:t>
            </a:r>
          </a:p>
          <a:p>
            <a:r>
              <a:rPr sz="1600" b="0">
                <a:solidFill>
                  <a:srgbClr val="5A6672"/>
                </a:solidFill>
                <a:latin typeface="Malgun Gothic"/>
              </a:rPr>
              <a:t>    –  읽는 데이터의 범위도 사실상 같다</a:t>
            </a:r>
          </a:p>
          <a:p>
            <a:r>
              <a:rPr sz="1800" b="0">
                <a:solidFill>
                  <a:srgbClr val="202830"/>
                </a:solidFill>
                <a:latin typeface="Malgun Gothic"/>
              </a:rPr>
              <a:t>•  다른 것 — 오직 하나, 실행 횟수</a:t>
            </a:r>
          </a:p>
          <a:p>
            <a:r>
              <a:rPr sz="1600" b="0">
                <a:solidFill>
                  <a:srgbClr val="5A6672"/>
                </a:solidFill>
                <a:latin typeface="Malgun Gothic"/>
              </a:rPr>
              <a:t>    –  N+1: 목록 조회 1번 + 상세 조회 20번</a:t>
            </a:r>
          </a:p>
          <a:p>
            <a:r>
              <a:rPr sz="1600" b="0">
                <a:solidFill>
                  <a:srgbClr val="5A6672"/>
                </a:solidFill>
                <a:latin typeface="Malgun Gothic"/>
              </a:rPr>
              <a:t>    –  조인: 문장 1번</a:t>
            </a:r>
          </a:p>
          <a:p>
            <a:r>
              <a:rPr sz="1800" b="0">
                <a:solidFill>
                  <a:srgbClr val="202830"/>
                </a:solidFill>
                <a:latin typeface="Malgun Gothic"/>
              </a:rPr>
              <a:t>•  구조 전환의 요령</a:t>
            </a:r>
          </a:p>
          <a:p>
            <a:r>
              <a:rPr sz="1600" b="0">
                <a:solidFill>
                  <a:srgbClr val="5A6672"/>
                </a:solidFill>
                <a:latin typeface="Malgun Gothic"/>
              </a:rPr>
              <a:t>    –  루프의 반복 대상을 인라인 뷰로 옮긴다 — 루프 조건이 곧 뷰의 WHERE가 된다</a:t>
            </a:r>
          </a:p>
          <a:p>
            <a:r>
              <a:rPr sz="1600" b="0">
                <a:solidFill>
                  <a:srgbClr val="5A6672"/>
                </a:solidFill>
                <a:latin typeface="Malgun Gothic"/>
              </a:rPr>
              <a:t>    –  루프 본문의 조회를 조인으로 붙인다 — 결과 누락을 막으려면 아우터 조인</a:t>
            </a:r>
          </a:p>
          <a:p>
            <a:r>
              <a:rPr sz="1600" b="0">
                <a:solidFill>
                  <a:srgbClr val="5A6672"/>
                </a:solidFill>
                <a:latin typeface="Malgun Gothic"/>
              </a:rPr>
              <a:t>    –  루프 안에서 세던 값을 GROUP BY 집계로 옮긴다</a:t>
            </a:r>
          </a:p>
          <a:p>
            <a:r>
              <a:rPr sz="1800" b="0">
                <a:solidFill>
                  <a:srgbClr val="202830"/>
                </a:solidFill>
                <a:latin typeface="Malgun Gothic"/>
              </a:rPr>
              <a:t>•  이 세 단계는 대부분의 N+1에 그대로 적용되는 변환 절차다</a:t>
            </a:r>
          </a:p>
        </p:txBody>
      </p:sp>
    </p:spTree>
    <p:extLst>
      <p:ext uri="{BB962C8B-B14F-4D97-AF65-F5344CB8AC3E}">
        <p14:creationId xmlns:p14="http://schemas.microsoft.com/office/powerpoint/2010/main" val="1604651520"/>
      </p:ext>
    </p:extLst>
  </p:cSld>
  <p:clrMapOvr>
    <a:masterClrMapping/>
  </p:clrMapOvr>
</p:sld>
</file>

<file path=ppt/slides/slide587.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107996"/>
          </a:xfrm>
          <a:prstGeom prst="rect">
            <a:avLst/>
          </a:prstGeom>
          <a:noFill/>
        </p:spPr>
        <p:txBody>
          <a:bodyPr wrap="square">
            <a:spAutoFit/>
          </a:bodyPr>
          <a:lstStyle/>
          <a:p>
            <a:r>
              <a:rPr sz="6600" b="1" dirty="0">
                <a:solidFill>
                  <a:srgbClr val="C0392B"/>
                </a:solidFill>
                <a:latin typeface="Malgun Gothic"/>
              </a:rPr>
              <a:t>1</a:t>
            </a:r>
            <a:r>
              <a:rPr lang="en-US" sz="6600" b="1" dirty="0">
                <a:solidFill>
                  <a:srgbClr val="C0392B"/>
                </a:solidFill>
                <a:latin typeface="Malgun Gothic"/>
              </a:rPr>
              <a:t>4</a:t>
            </a:r>
            <a:r>
              <a:rPr sz="6600" b="1" dirty="0">
                <a:solidFill>
                  <a:srgbClr val="C0392B"/>
                </a:solidFill>
                <a:latin typeface="Malgun Gothic"/>
              </a:rPr>
              <a:t>.5</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Execution Plan — 실측 비교</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측정 방법 — 왜 V$SQL인가</a:t>
            </a:r>
          </a:p>
          <a:p>
            <a:r>
              <a:rPr sz="1600" b="0">
                <a:solidFill>
                  <a:srgbClr val="C5CED6"/>
                </a:solidFill>
                <a:latin typeface="Malgun Gothic"/>
              </a:rPr>
              <a:t>•  N+1 패턴의 누적 통계</a:t>
            </a:r>
          </a:p>
          <a:p>
            <a:r>
              <a:rPr sz="1600" b="0">
                <a:solidFill>
                  <a:srgbClr val="C5CED6"/>
                </a:solidFill>
                <a:latin typeface="Malgun Gothic"/>
              </a:rPr>
              <a:t>•  조인 1회의 실행계획</a:t>
            </a:r>
          </a:p>
          <a:p>
            <a:r>
              <a:rPr sz="1600" b="0">
                <a:solidFill>
                  <a:srgbClr val="C5CED6"/>
                </a:solidFill>
                <a:latin typeface="Malgun Gothic"/>
              </a:rPr>
              <a:t>•  두 방식의 비용 대비</a:t>
            </a:r>
          </a:p>
        </p:txBody>
      </p:sp>
    </p:spTree>
    <p:extLst>
      <p:ext uri="{BB962C8B-B14F-4D97-AF65-F5344CB8AC3E}">
        <p14:creationId xmlns:p14="http://schemas.microsoft.com/office/powerpoint/2010/main" val="3182441836"/>
      </p:ext>
    </p:extLst>
  </p:cSld>
  <p:clrMapOvr>
    <a:masterClrMapping/>
  </p:clrMapOvr>
</p:sld>
</file>

<file path=ppt/slides/slide58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측정 방법 — 왜 V$SQL을 보는가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N+1 패턴은 바인드 변수를 써서(:B1) 20번 반복 실행한 뒤 V$SQL에서 누적 비용을 확인한다</a:t>
            </a:r>
          </a:p>
          <a:p>
            <a:r>
              <a:rPr sz="1600" b="0">
                <a:solidFill>
                  <a:srgbClr val="5A6672"/>
                </a:solidFill>
                <a:latin typeface="Malgun Gothic"/>
              </a:rPr>
              <a:t>    –  실행계획은 '한 번의 실행'을 설명하는 도구다</a:t>
            </a:r>
          </a:p>
          <a:p>
            <a:r>
              <a:rPr sz="1600" b="0">
                <a:solidFill>
                  <a:srgbClr val="5A6672"/>
                </a:solidFill>
                <a:latin typeface="Malgun Gothic"/>
              </a:rPr>
              <a:t>    –  반복 호출의 총량은 실행계획에 나타나지 않는다</a:t>
            </a:r>
          </a:p>
          <a:p>
            <a:r>
              <a:rPr sz="1800" b="0">
                <a:solidFill>
                  <a:srgbClr val="202830"/>
                </a:solidFill>
                <a:latin typeface="Malgun Gothic"/>
              </a:rPr>
              <a:t>•  V$SQL이 채워 주는 정보</a:t>
            </a:r>
          </a:p>
          <a:p>
            <a:r>
              <a:rPr sz="1600" b="0">
                <a:solidFill>
                  <a:srgbClr val="5A6672"/>
                </a:solidFill>
                <a:latin typeface="Malgun Gothic"/>
              </a:rPr>
              <a:t>    –  EXECUTIONS — 그 SQL이 몇 번 실행되었는가</a:t>
            </a:r>
          </a:p>
          <a:p>
            <a:r>
              <a:rPr sz="1600" b="0">
                <a:solidFill>
                  <a:srgbClr val="5A6672"/>
                </a:solidFill>
                <a:latin typeface="Malgun Gothic"/>
              </a:rPr>
              <a:t>    –  BUFFER_GETS — 그 SQL이 누적으로 소비한 논리적 I/O</a:t>
            </a:r>
          </a:p>
          <a:p>
            <a:r>
              <a:rPr sz="1600" b="0">
                <a:solidFill>
                  <a:srgbClr val="5A6672"/>
                </a:solidFill>
                <a:latin typeface="Malgun Gothic"/>
              </a:rPr>
              <a:t>    –  ELAPSED_TIME — 누적 소요 시간</a:t>
            </a:r>
          </a:p>
          <a:p>
            <a:r>
              <a:rPr sz="1800" b="0">
                <a:solidFill>
                  <a:srgbClr val="202830"/>
                </a:solidFill>
                <a:latin typeface="Malgun Gothic"/>
              </a:rPr>
              <a:t>•  두 값을 나누면 1회 평균이 나온다</a:t>
            </a:r>
          </a:p>
          <a:p>
            <a:r>
              <a:rPr sz="1600" b="0">
                <a:solidFill>
                  <a:srgbClr val="5A6672"/>
                </a:solidFill>
                <a:latin typeface="Malgun Gothic"/>
              </a:rPr>
              <a:t>    –  BUFFER_GETS / EXECUTIONS = 1회 평균 Buffers</a:t>
            </a:r>
          </a:p>
          <a:p>
            <a:r>
              <a:rPr sz="1600" b="0">
                <a:solidFill>
                  <a:srgbClr val="5A6672"/>
                </a:solidFill>
                <a:latin typeface="Malgun Gothic"/>
              </a:rPr>
              <a:t>    –  이 평균이 단건 Full Scan 비용과 같다면, 매 실행이 같은 일을 반복했다는 뜻</a:t>
            </a:r>
          </a:p>
          <a:p>
            <a:r>
              <a:rPr sz="1800" b="0">
                <a:solidFill>
                  <a:srgbClr val="202830"/>
                </a:solidFill>
                <a:latin typeface="Malgun Gothic"/>
              </a:rPr>
              <a:t>•  조인 1회 버전은 문장 하나이므로 통상적인 실행계획으로 확인한다</a:t>
            </a:r>
          </a:p>
        </p:txBody>
      </p:sp>
    </p:spTree>
    <p:extLst>
      <p:ext uri="{BB962C8B-B14F-4D97-AF65-F5344CB8AC3E}">
        <p14:creationId xmlns:p14="http://schemas.microsoft.com/office/powerpoint/2010/main" val="3262361647"/>
      </p:ext>
    </p:extLst>
  </p:cSld>
  <p:clrMapOvr>
    <a:masterClrMapping/>
  </p:clrMapOvr>
</p:sld>
</file>

<file path=ppt/slides/slide58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N+1 패턴 — V$SQL 누적 통계 (실측)</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12.5절 Execution Plan — 바인드 변수(:B1)로 20번 반복 실행 후 누적 비용</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SQL_ID          EXECUTIONS  BUFFER_GETS  AVG_BUFFERS  ELAPSED_TIME(µs)</a:t>
            </a:r>
          </a:p>
          <a:p>
            <a:r>
              <a:rPr sz="1250" b="0">
                <a:solidFill>
                  <a:srgbClr val="E6E6E6"/>
                </a:solidFill>
                <a:latin typeface="Consolas"/>
              </a:rPr>
              <a:t>3w1a060hkngfr   20          132,420      6,621        305,359</a:t>
            </a:r>
          </a:p>
          <a:p>
            <a:r>
              <a:rPr sz="1250" b="0">
                <a:solidFill>
                  <a:srgbClr val="E6E6E6"/>
                </a:solidFill>
                <a:latin typeface="Consolas"/>
              </a:rPr>
              <a:t> </a:t>
            </a:r>
          </a:p>
          <a:p>
            <a:r>
              <a:rPr sz="1250" b="0">
                <a:solidFill>
                  <a:srgbClr val="E6E6E6"/>
                </a:solidFill>
                <a:latin typeface="Consolas"/>
              </a:rPr>
              <a:t>SQL_TEXT: SELECT COUNT(*) FROM CLAIM_DETAILS WHERE CLAIM_ID = :B1</a:t>
            </a:r>
          </a:p>
          <a:p>
            <a:r>
              <a:rPr sz="1250" b="0">
                <a:solidFill>
                  <a:srgbClr val="E6E6E6"/>
                </a:solidFill>
                <a:latin typeface="Consolas"/>
              </a:rPr>
              <a:t> </a:t>
            </a:r>
          </a:p>
          <a:p>
            <a:r>
              <a:rPr sz="1250" b="0">
                <a:solidFill>
                  <a:srgbClr val="E6E6E6"/>
                </a:solidFill>
                <a:latin typeface="Consolas"/>
              </a:rPr>
              <a:t> </a:t>
            </a:r>
          </a:p>
          <a:p>
            <a:r>
              <a:rPr sz="1250" b="0">
                <a:solidFill>
                  <a:srgbClr val="7EC699"/>
                </a:solidFill>
                <a:latin typeface="Consolas"/>
              </a:rPr>
              <a:t>-- EXECUTIONS  : 같은 SQL_ID가 20번 실행되었다</a:t>
            </a:r>
          </a:p>
          <a:p>
            <a:r>
              <a:rPr sz="1250" b="0">
                <a:solidFill>
                  <a:srgbClr val="7EC699"/>
                </a:solidFill>
                <a:latin typeface="Consolas"/>
              </a:rPr>
              <a:t>-- BUFFER_GETS : 20번 실행이 누적으로 소비한 논리적 I/O</a:t>
            </a:r>
          </a:p>
          <a:p>
            <a:r>
              <a:rPr sz="1250" b="0">
                <a:solidFill>
                  <a:srgbClr val="7EC699"/>
                </a:solidFill>
                <a:latin typeface="Consolas"/>
              </a:rPr>
              <a:t>-- AVG_BUFFERS : BUFFER_GETS / EXECUTIONS = 132,420 / 20</a:t>
            </a:r>
          </a:p>
          <a:p>
            <a:r>
              <a:rPr sz="1250" b="0">
                <a:solidFill>
                  <a:srgbClr val="7EC699"/>
                </a:solidFill>
                <a:latin typeface="Consolas"/>
              </a:rPr>
              <a:t>-- SQL_TEXT    : 바인드 변수(:B1) 덕분에 20번이 하나의 SQL_ID로 묶였다</a:t>
            </a:r>
          </a:p>
        </p:txBody>
      </p:sp>
    </p:spTree>
    <p:extLst>
      <p:ext uri="{BB962C8B-B14F-4D97-AF65-F5344CB8AC3E}">
        <p14:creationId xmlns:p14="http://schemas.microsoft.com/office/powerpoint/2010/main" val="126372984"/>
      </p:ext>
    </p:extLst>
  </p:cSld>
  <p:clrMapOvr>
    <a:masterClrMapping/>
  </p:clrMapOvr>
</p:sld>
</file>

<file path=ppt/slides/slide59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V$SQL 결과 해석</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EXECUTIONS = 20 — 반복이 실제로 일어났음을 확인</a:t>
            </a:r>
          </a:p>
          <a:p>
            <a:r>
              <a:rPr sz="1600" b="0">
                <a:solidFill>
                  <a:srgbClr val="5A6672"/>
                </a:solidFill>
                <a:latin typeface="Malgun Gothic"/>
              </a:rPr>
              <a:t>    –  PL/SQL 루프가 스무 번 돌았고, 그때마다 같은 SQL이 나갔다</a:t>
            </a:r>
          </a:p>
          <a:p>
            <a:r>
              <a:rPr sz="1800" b="0">
                <a:solidFill>
                  <a:srgbClr val="202830"/>
                </a:solidFill>
                <a:latin typeface="Malgun Gothic"/>
              </a:rPr>
              <a:t>•  AVG_BUFFERS = 6,621 — 1회 평균 비용</a:t>
            </a:r>
          </a:p>
          <a:p>
            <a:r>
              <a:rPr sz="1600" b="0">
                <a:solidFill>
                  <a:srgbClr val="5A6672"/>
                </a:solidFill>
                <a:latin typeface="Malgun Gothic"/>
              </a:rPr>
              <a:t>    –  132,420 ÷ 20 = 6,621</a:t>
            </a:r>
          </a:p>
          <a:p>
            <a:r>
              <a:rPr sz="1600" b="0">
                <a:solidFill>
                  <a:srgbClr val="5A6672"/>
                </a:solidFill>
                <a:latin typeface="Malgun Gothic"/>
              </a:rPr>
              <a:t>    –  이 값이 ch05에서 확인한 CLAIM_DETAILS 단건 조회 Full Scan 비용(약 6,621)과 거의 같다</a:t>
            </a:r>
          </a:p>
          <a:p>
            <a:r>
              <a:rPr sz="1600" b="0">
                <a:solidFill>
                  <a:srgbClr val="5A6672"/>
                </a:solidFill>
                <a:latin typeface="Malgun Gothic"/>
              </a:rPr>
              <a:t>    –  매 실행이 사실상 동일한 Full Scan을 반복했다는 증거</a:t>
            </a:r>
          </a:p>
          <a:p>
            <a:r>
              <a:rPr sz="1800" b="0">
                <a:solidFill>
                  <a:srgbClr val="202830"/>
                </a:solidFill>
                <a:latin typeface="Malgun Gothic"/>
              </a:rPr>
              <a:t>•  BUFFER_GETS = 132,420 — 총 비용</a:t>
            </a:r>
          </a:p>
          <a:p>
            <a:r>
              <a:rPr sz="1600" b="0">
                <a:solidFill>
                  <a:srgbClr val="5A6672"/>
                </a:solidFill>
                <a:latin typeface="Malgun Gothic"/>
              </a:rPr>
              <a:t>    –  12.3절에서 예측한 '반복 횟수 × 단건 Full Scan 비용' 구조가 그대로 확인된다</a:t>
            </a:r>
          </a:p>
          <a:p>
            <a:r>
              <a:rPr sz="1800" b="0">
                <a:solidFill>
                  <a:srgbClr val="202830"/>
                </a:solidFill>
                <a:latin typeface="Malgun Gothic"/>
              </a:rPr>
              <a:t>•  ELAPSED_TIME = 374,094 µs — 누적 소요 시간</a:t>
            </a:r>
          </a:p>
          <a:p>
            <a:r>
              <a:rPr sz="1600" b="0">
                <a:solidFill>
                  <a:srgbClr val="5A6672"/>
                </a:solidFill>
                <a:latin typeface="Malgun Gothic"/>
              </a:rPr>
              <a:t>    –  시간 값은 캐시 상태에 흔들리므로 판단의 주된 근거는 Buffers로 둔다(ch01 원칙)</a:t>
            </a:r>
          </a:p>
          <a:p>
            <a:r>
              <a:rPr sz="1800" b="0">
                <a:solidFill>
                  <a:srgbClr val="202830"/>
                </a:solidFill>
                <a:latin typeface="Malgun Gothic"/>
              </a:rPr>
              <a:t>•  결론: 이 SQL은 느린 것이 아니라 자주 불린 것이다</a:t>
            </a:r>
          </a:p>
        </p:txBody>
      </p:sp>
    </p:spTree>
    <p:extLst>
      <p:ext uri="{BB962C8B-B14F-4D97-AF65-F5344CB8AC3E}">
        <p14:creationId xmlns:p14="http://schemas.microsoft.com/office/powerpoint/2010/main" val="3243322409"/>
      </p:ext>
    </p:extLst>
  </p:cSld>
  <p:clrMapOvr>
    <a:masterClrMapping/>
  </p:clrMapOvr>
</p:sld>
</file>

<file path=ppt/slides/slide59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조인 1회 — 실행계획 (실측)</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12.5절 Execution Plan — 같은 결과를 한 문장으로 처리했을 때</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A-Rows |   A-Time   | Buffers |</a:t>
            </a:r>
          </a:p>
          <a:p>
            <a:r>
              <a:rPr sz="1250" b="0">
                <a:solidFill>
                  <a:srgbClr val="E6E6E6"/>
                </a:solidFill>
                <a:latin typeface="Consolas"/>
              </a:rPr>
              <a:t>| 0  | SELECT STATEMENT    |                |     20 |00:00:00.04 |    6645 |</a:t>
            </a:r>
          </a:p>
          <a:p>
            <a:r>
              <a:rPr sz="1250" b="0">
                <a:solidFill>
                  <a:srgbClr val="E6E6E6"/>
                </a:solidFill>
                <a:latin typeface="Consolas"/>
              </a:rPr>
              <a:t>| 1  |  HASH GROUP BY      |                |     20 |00:00:00.04 |    6645 |</a:t>
            </a:r>
          </a:p>
          <a:p>
            <a:r>
              <a:rPr sz="1250" b="0">
                <a:solidFill>
                  <a:srgbClr val="E6E6E6"/>
                </a:solidFill>
                <a:latin typeface="Consolas"/>
              </a:rPr>
              <a:t>| 2  |   HASH JOIN OUTER   |                |     65 |00:00:00.04 |    6645 |</a:t>
            </a:r>
          </a:p>
          <a:p>
            <a:r>
              <a:rPr sz="1250" b="0">
                <a:solidFill>
                  <a:srgbClr val="E6E6E6"/>
                </a:solidFill>
                <a:latin typeface="Consolas"/>
              </a:rPr>
              <a:t>| 3  |    VIEW             |                |     20 |00:00:00.01 |      23 |</a:t>
            </a:r>
          </a:p>
          <a:p>
            <a:r>
              <a:rPr sz="1250" b="0">
                <a:solidFill>
                  <a:srgbClr val="E6E6E6"/>
                </a:solidFill>
                <a:latin typeface="Consolas"/>
              </a:rPr>
              <a:t>| 4  |     COUNT STOPKEY   |                |     20 |00:00:00.01 |      23 |</a:t>
            </a:r>
          </a:p>
          <a:p>
            <a:r>
              <a:rPr sz="1250" b="0">
                <a:solidFill>
                  <a:srgbClr val="E6E6E6"/>
                </a:solidFill>
                <a:latin typeface="Consolas"/>
              </a:rPr>
              <a:t>| 5  |      TABLE ACCESS FULL| MEDICAL_CLAIMS|     20 |00:00:00.01 |      23 |</a:t>
            </a:r>
          </a:p>
          <a:p>
            <a:r>
              <a:rPr sz="1250" b="0">
                <a:solidFill>
                  <a:srgbClr val="E6E6E6"/>
                </a:solidFill>
                <a:latin typeface="Consolas"/>
              </a:rPr>
              <a:t>| 6  |    TABLE ACCESS FULL| CLAIM_DETAILS  |    899K|00:00:00.03 |    6622 |</a:t>
            </a:r>
          </a:p>
          <a:p>
            <a:r>
              <a:rPr sz="1250" b="0">
                <a:solidFill>
                  <a:srgbClr val="E6E6E6"/>
                </a:solidFill>
                <a:latin typeface="Consolas"/>
              </a:rPr>
              <a:t> </a:t>
            </a:r>
          </a:p>
          <a:p>
            <a:r>
              <a:rPr sz="1250" b="0">
                <a:solidFill>
                  <a:srgbClr val="E6E6E6"/>
                </a:solidFill>
                <a:latin typeface="Consolas"/>
              </a:rPr>
              <a:t> </a:t>
            </a:r>
          </a:p>
          <a:p>
            <a:r>
              <a:rPr sz="1250" b="0">
                <a:solidFill>
                  <a:srgbClr val="7EC699"/>
                </a:solidFill>
                <a:latin typeface="Consolas"/>
              </a:rPr>
              <a:t>-- Id 6 : CLAIM_DETAILS에 대한 TABLE ACCESS FULL이 단 한 번만 나타난다</a:t>
            </a:r>
          </a:p>
          <a:p>
            <a:r>
              <a:rPr sz="1250" b="0">
                <a:solidFill>
                  <a:srgbClr val="7EC699"/>
                </a:solidFill>
                <a:latin typeface="Consolas"/>
              </a:rPr>
              <a:t>-- Id 4 : ROWNUM &lt;= 20 조건이 COUNT STOPKEY로 처리되어 조기 종료</a:t>
            </a:r>
          </a:p>
          <a:p>
            <a:r>
              <a:rPr sz="1250" b="0">
                <a:solidFill>
                  <a:srgbClr val="7EC699"/>
                </a:solidFill>
                <a:latin typeface="Consolas"/>
              </a:rPr>
              <a:t>-- Id 2 : Hash Join으로 20건 전부를 한 번의 스캔 안에서 매칭</a:t>
            </a:r>
          </a:p>
        </p:txBody>
      </p:sp>
    </p:spTree>
    <p:extLst>
      <p:ext uri="{BB962C8B-B14F-4D97-AF65-F5344CB8AC3E}">
        <p14:creationId xmlns:p14="http://schemas.microsoft.com/office/powerpoint/2010/main" val="549917672"/>
      </p:ext>
    </p:extLst>
  </p:cSld>
  <p:clrMapOvr>
    <a:masterClrMapping/>
  </p:clrMapOvr>
</p:sld>
</file>

<file path=ppt/slides/slide59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조인 실행계획 해석 — 두 테이블의 비용 차이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MEDICAL_CLAIMS — Buffers 23</a:t>
            </a:r>
          </a:p>
          <a:p>
            <a:r>
              <a:rPr sz="1600" b="0">
                <a:solidFill>
                  <a:srgbClr val="5A6672"/>
                </a:solidFill>
                <a:latin typeface="Malgun Gothic"/>
              </a:rPr>
              <a:t>    –  ROWNUM &lt;= 20 조건이 COUNT STOPKEY로 처리된다</a:t>
            </a:r>
          </a:p>
          <a:p>
            <a:r>
              <a:rPr sz="1600" b="0">
                <a:solidFill>
                  <a:srgbClr val="5A6672"/>
                </a:solidFill>
                <a:latin typeface="Malgun Gothic"/>
              </a:rPr>
              <a:t>    –  조건을 만족하는 20건을 찾는 즉시 스캔을 멈춘다 — 그래서 23에 그쳤다</a:t>
            </a:r>
          </a:p>
          <a:p>
            <a:r>
              <a:rPr sz="1600" b="0">
                <a:solidFill>
                  <a:srgbClr val="5A6672"/>
                </a:solidFill>
                <a:latin typeface="Malgun Gothic"/>
              </a:rPr>
              <a:t>    –  전체를 읽지 않고 필요한 만큼만 읽고 끝낸 경우</a:t>
            </a:r>
          </a:p>
          <a:p>
            <a:r>
              <a:rPr sz="1800" b="0">
                <a:solidFill>
                  <a:srgbClr val="202830"/>
                </a:solidFill>
                <a:latin typeface="Malgun Gothic"/>
              </a:rPr>
              <a:t>•  CLAIM_DETAILS — Buffers 6,622</a:t>
            </a:r>
          </a:p>
          <a:p>
            <a:r>
              <a:rPr sz="1600" b="0">
                <a:solidFill>
                  <a:srgbClr val="5A6672"/>
                </a:solidFill>
                <a:latin typeface="Malgun Gothic"/>
              </a:rPr>
              <a:t>    –  조기 종료 조건이 없다 — 조인 대상을 빠짐없이 찾으려면 전체를 다 읽어야 한다</a:t>
            </a:r>
          </a:p>
          <a:p>
            <a:r>
              <a:rPr sz="1600" b="0">
                <a:solidFill>
                  <a:srgbClr val="5A6672"/>
                </a:solidFill>
                <a:latin typeface="Malgun Gothic"/>
              </a:rPr>
              <a:t>    –  A-Rows 899K — 실제로 읽어 낸 행 수가 그대로 드러난다</a:t>
            </a:r>
          </a:p>
          <a:p>
            <a:r>
              <a:rPr sz="1800" b="0">
                <a:solidFill>
                  <a:srgbClr val="202830"/>
                </a:solidFill>
                <a:latin typeface="Malgun Gothic"/>
              </a:rPr>
              <a:t>•  총 Buffers 6,645 = 6,622 + 23 (+ 상위 단계의 추가 비용 없음)</a:t>
            </a:r>
          </a:p>
          <a:p>
            <a:r>
              <a:rPr sz="1600" b="0">
                <a:solidFill>
                  <a:srgbClr val="5A6672"/>
                </a:solidFill>
                <a:latin typeface="Malgun Gothic"/>
              </a:rPr>
              <a:t>    –  HASH JOIN OUTER와 HASH GROUP BY는 이미 읽은 데이터를 메모리에서 가공할 뿐</a:t>
            </a:r>
          </a:p>
          <a:p>
            <a:r>
              <a:rPr sz="1600" b="0">
                <a:solidFill>
                  <a:srgbClr val="5A6672"/>
                </a:solidFill>
                <a:latin typeface="Malgun Gothic"/>
              </a:rPr>
              <a:t>    –  상위 단계로 올라가도 Buffers가 늘지 않는 이유가 여기 있다</a:t>
            </a:r>
          </a:p>
          <a:p>
            <a:r>
              <a:rPr sz="1800" b="0">
                <a:solidFill>
                  <a:srgbClr val="202830"/>
                </a:solidFill>
                <a:latin typeface="Malgun Gothic"/>
              </a:rPr>
              <a:t>•  A-Time 00:00:00.04 — 문장 전체가 한 번에 끝났다</a:t>
            </a:r>
          </a:p>
        </p:txBody>
      </p:sp>
    </p:spTree>
    <p:extLst>
      <p:ext uri="{BB962C8B-B14F-4D97-AF65-F5344CB8AC3E}">
        <p14:creationId xmlns:p14="http://schemas.microsoft.com/office/powerpoint/2010/main" val="2417270922"/>
      </p:ext>
    </p:extLst>
  </p:cSld>
  <p:clrMapOvr>
    <a:masterClrMapping/>
  </p:clrMapOvr>
</p:sld>
</file>

<file path=ppt/slides/slide59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두 방식의 비용 대비</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N+1 패턴: 총 132,420 Buffers</a:t>
            </a:r>
          </a:p>
          <a:p>
            <a:r>
              <a:rPr sz="1600" b="0">
                <a:solidFill>
                  <a:srgbClr val="5A6672"/>
                </a:solidFill>
                <a:latin typeface="Malgun Gothic"/>
              </a:rPr>
              <a:t>    –  20번 실행 누적, 1회 평균 6,621</a:t>
            </a:r>
          </a:p>
          <a:p>
            <a:r>
              <a:rPr sz="1800" b="0">
                <a:solidFill>
                  <a:srgbClr val="202830"/>
                </a:solidFill>
                <a:latin typeface="Malgun Gothic"/>
              </a:rPr>
              <a:t>•  조인 1회: 총 6,645 Buffers</a:t>
            </a:r>
          </a:p>
          <a:p>
            <a:r>
              <a:rPr sz="1600" b="0">
                <a:solidFill>
                  <a:srgbClr val="5A6672"/>
                </a:solidFill>
                <a:latin typeface="Malgun Gothic"/>
              </a:rPr>
              <a:t>    –  CLAIM_DETAILS Full Scan 단 1회 + 목록 접근 23</a:t>
            </a:r>
          </a:p>
          <a:p>
            <a:r>
              <a:rPr sz="1800" b="0">
                <a:solidFill>
                  <a:srgbClr val="202830"/>
                </a:solidFill>
                <a:latin typeface="Malgun Gothic"/>
              </a:rPr>
              <a:t>•  비율: 132,420 ÷ 6,645 ≈ 19.9배</a:t>
            </a:r>
          </a:p>
          <a:p>
            <a:r>
              <a:rPr sz="1600" b="0">
                <a:solidFill>
                  <a:srgbClr val="5A6672"/>
                </a:solidFill>
                <a:latin typeface="Malgun Gothic"/>
              </a:rPr>
              <a:t>    –  정확히 반복 횟수(20)에 가까운 배수로 커졌다</a:t>
            </a:r>
          </a:p>
          <a:p>
            <a:r>
              <a:rPr sz="1600" b="0">
                <a:solidFill>
                  <a:srgbClr val="5A6672"/>
                </a:solidFill>
                <a:latin typeface="Malgun Gothic"/>
              </a:rPr>
              <a:t>    –  CLAIM_DETAILS Full Scan 비용(약 6,622)이 그대로 20번 곱해진 결과이기 때문</a:t>
            </a:r>
          </a:p>
          <a:p>
            <a:r>
              <a:rPr sz="1600" b="0">
                <a:solidFill>
                  <a:srgbClr val="5A6672"/>
                </a:solidFill>
                <a:latin typeface="Malgun Gothic"/>
              </a:rPr>
              <a:t>    –  12.3절에서 세운 원리가 실측으로 그대로 확인된 것</a:t>
            </a:r>
          </a:p>
          <a:p>
            <a:r>
              <a:rPr sz="1800" b="0">
                <a:solidFill>
                  <a:srgbClr val="202830"/>
                </a:solidFill>
                <a:latin typeface="Malgun Gothic"/>
              </a:rPr>
              <a:t>•  여기서 얻는 판단 기준</a:t>
            </a:r>
          </a:p>
          <a:p>
            <a:r>
              <a:rPr sz="1600" b="0">
                <a:solidFill>
                  <a:srgbClr val="5A6672"/>
                </a:solidFill>
                <a:latin typeface="Malgun Gothic"/>
              </a:rPr>
              <a:t>    –  비율이 반복 횟수에 수렴한다면, 그 반복은 매번 같은 일을 되풀이하고 있다는 뜻</a:t>
            </a:r>
          </a:p>
          <a:p>
            <a:r>
              <a:rPr sz="1600" b="0">
                <a:solidFill>
                  <a:srgbClr val="5A6672"/>
                </a:solidFill>
                <a:latin typeface="Malgun Gothic"/>
              </a:rPr>
              <a:t>    –  반대로 비율이 반복 횟수보다 훨씬 작다면 반복마다 읽는 범위가 작다는 뜻이다</a:t>
            </a:r>
          </a:p>
          <a:p>
            <a:r>
              <a:rPr sz="1800" b="0">
                <a:solidFill>
                  <a:srgbClr val="202830"/>
                </a:solidFill>
                <a:latin typeface="Malgun Gothic"/>
              </a:rPr>
              <a:t>•  이 예측 가능성이 N+1 진단을 쉽게 만든다 — 배수를 미리 계산해 볼 수 있다</a:t>
            </a:r>
          </a:p>
        </p:txBody>
      </p:sp>
    </p:spTree>
    <p:extLst>
      <p:ext uri="{BB962C8B-B14F-4D97-AF65-F5344CB8AC3E}">
        <p14:creationId xmlns:p14="http://schemas.microsoft.com/office/powerpoint/2010/main" val="1263326091"/>
      </p:ext>
    </p:extLst>
  </p:cSld>
  <p:clrMapOvr>
    <a:masterClrMapping/>
  </p:clrMapOvr>
</p:sld>
</file>

<file path=ppt/slides/slide594.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3896822" cy="1107996"/>
          </a:xfrm>
          <a:prstGeom prst="rect">
            <a:avLst/>
          </a:prstGeom>
          <a:noFill/>
        </p:spPr>
        <p:txBody>
          <a:bodyPr wrap="square">
            <a:spAutoFit/>
          </a:bodyPr>
          <a:lstStyle/>
          <a:p>
            <a:r>
              <a:rPr sz="6600" b="1" dirty="0">
                <a:solidFill>
                  <a:srgbClr val="C0392B"/>
                </a:solidFill>
                <a:latin typeface="Malgun Gothic"/>
              </a:rPr>
              <a:t>1</a:t>
            </a:r>
            <a:r>
              <a:rPr lang="en-US" sz="6600" b="1" dirty="0">
                <a:solidFill>
                  <a:srgbClr val="C0392B"/>
                </a:solidFill>
                <a:latin typeface="Malgun Gothic"/>
              </a:rPr>
              <a:t>4</a:t>
            </a:r>
            <a:r>
              <a:rPr sz="6600" b="1" dirty="0">
                <a:solidFill>
                  <a:srgbClr val="C0392B"/>
                </a:solidFill>
                <a:latin typeface="Malgun Gothic"/>
              </a:rPr>
              <a:t>.6</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Bad SQL — N+1이 특히 위험한 이유</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20건이 100건이 되면</a:t>
            </a:r>
          </a:p>
          <a:p>
            <a:r>
              <a:rPr sz="1600" b="0">
                <a:solidFill>
                  <a:srgbClr val="C5CED6"/>
                </a:solidFill>
                <a:latin typeface="Malgun Gothic"/>
              </a:rPr>
              <a:t>•  개발 환경에서 문제가 숨는 이유</a:t>
            </a:r>
          </a:p>
          <a:p>
            <a:r>
              <a:rPr sz="1600" b="0">
                <a:solidFill>
                  <a:srgbClr val="C5CED6"/>
                </a:solidFill>
                <a:latin typeface="Malgun Gothic"/>
              </a:rPr>
              <a:t>•  확장성 문제로서의 N+1</a:t>
            </a:r>
          </a:p>
        </p:txBody>
      </p:sp>
    </p:spTree>
    <p:extLst>
      <p:ext uri="{BB962C8B-B14F-4D97-AF65-F5344CB8AC3E}">
        <p14:creationId xmlns:p14="http://schemas.microsoft.com/office/powerpoint/2010/main" val="2209844638"/>
      </p:ext>
    </p:extLst>
  </p:cSld>
  <p:clrMapOvr>
    <a:masterClrMapping/>
  </p:clrMapOvr>
</p:sld>
</file>

<file path=ppt/slides/slide59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20건이 100건이 되면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이번 실습은 겨우 20건 기준이었다</a:t>
            </a:r>
          </a:p>
          <a:p>
            <a:r>
              <a:rPr sz="1600" b="0">
                <a:solidFill>
                  <a:srgbClr val="5A6672"/>
                </a:solidFill>
                <a:latin typeface="Malgun Gothic"/>
              </a:rPr>
              <a:t>    –  실무 화면에서는 '청구 목록 100건'을 한 번에 보여 주는 일이 흔하다</a:t>
            </a:r>
          </a:p>
          <a:p>
            <a:r>
              <a:rPr sz="1800" b="0">
                <a:solidFill>
                  <a:srgbClr val="202830"/>
                </a:solidFill>
                <a:latin typeface="Malgun Gothic"/>
              </a:rPr>
              <a:t>•  목록 100건에 N+1을 적용하면</a:t>
            </a:r>
          </a:p>
          <a:p>
            <a:r>
              <a:rPr sz="1600" b="0">
                <a:solidFill>
                  <a:srgbClr val="5A6672"/>
                </a:solidFill>
                <a:latin typeface="Malgun Gothic"/>
              </a:rPr>
              <a:t>    –  100번의 반복이 된다</a:t>
            </a:r>
          </a:p>
          <a:p>
            <a:r>
              <a:rPr sz="1600" b="0">
                <a:solidFill>
                  <a:srgbClr val="5A6672"/>
                </a:solidFill>
                <a:latin typeface="Malgun Gothic"/>
              </a:rPr>
              <a:t>    –  Buffers는 단순 계산으로도 약 662,200(6,622×100)에 달할 것으로 예상된다</a:t>
            </a:r>
          </a:p>
          <a:p>
            <a:r>
              <a:rPr sz="1800" b="0">
                <a:solidFill>
                  <a:srgbClr val="202830"/>
                </a:solidFill>
                <a:latin typeface="Malgun Gothic"/>
              </a:rPr>
              <a:t>•  같은 조건에서 조인 1회 방식은</a:t>
            </a:r>
          </a:p>
          <a:p>
            <a:r>
              <a:rPr sz="1600" b="0">
                <a:solidFill>
                  <a:srgbClr val="5A6672"/>
                </a:solidFill>
                <a:latin typeface="Malgun Gothic"/>
              </a:rPr>
              <a:t>    –  여전히 약 6,600~7,000 수준에 머무를 것</a:t>
            </a:r>
          </a:p>
          <a:p>
            <a:r>
              <a:rPr sz="1600" b="0">
                <a:solidFill>
                  <a:srgbClr val="5A6672"/>
                </a:solidFill>
                <a:latin typeface="Malgun Gothic"/>
              </a:rPr>
              <a:t>    –  CLAIM_DETAILS를 읽는 횟수가 그대로 한 번이기 때문</a:t>
            </a:r>
          </a:p>
          <a:p>
            <a:r>
              <a:rPr sz="1600" b="0">
                <a:solidFill>
                  <a:srgbClr val="5A6672"/>
                </a:solidFill>
                <a:latin typeface="Malgun Gothic"/>
              </a:rPr>
              <a:t>    –  늘어나는 것은 목록 쪽 접근 비용뿐이고, 그 비용은 애초에 작다</a:t>
            </a:r>
          </a:p>
          <a:p>
            <a:r>
              <a:rPr sz="1800" b="0">
                <a:solidFill>
                  <a:srgbClr val="202830"/>
                </a:solidFill>
                <a:latin typeface="Malgun Gothic"/>
              </a:rPr>
              <a:t>•  N+1의 위험한 특징: 목록 건수가 늘어날수록 배수로 나빠진다</a:t>
            </a:r>
          </a:p>
          <a:p>
            <a:r>
              <a:rPr sz="1600" b="0">
                <a:solidFill>
                  <a:srgbClr val="5A6672"/>
                </a:solidFill>
                <a:latin typeface="Malgun Gothic"/>
              </a:rPr>
              <a:t>    –  코드는 그대로인데 데이터가 늘면서 성능이 무너지는 구조</a:t>
            </a:r>
          </a:p>
        </p:txBody>
      </p:sp>
    </p:spTree>
    <p:extLst>
      <p:ext uri="{BB962C8B-B14F-4D97-AF65-F5344CB8AC3E}">
        <p14:creationId xmlns:p14="http://schemas.microsoft.com/office/powerpoint/2010/main" val="2043105034"/>
      </p:ext>
    </p:extLst>
  </p:cSld>
  <p:clrMapOvr>
    <a:masterClrMapping/>
  </p:clrMapOvr>
</p:sld>
</file>

<file path=ppt/slides/slide59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개발 환경에서 문제가 숨는 이유</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개발 환경에서 테스트 데이터가 적을 때는 문제가 안 보인다</a:t>
            </a:r>
          </a:p>
          <a:p>
            <a:r>
              <a:rPr sz="1600" b="0">
                <a:solidFill>
                  <a:srgbClr val="5A6672"/>
                </a:solidFill>
                <a:latin typeface="Malgun Gothic"/>
              </a:rPr>
              <a:t>    –  예를 들어 목록이 5건이라면 반복도 5번뿐이다</a:t>
            </a:r>
          </a:p>
          <a:p>
            <a:r>
              <a:rPr sz="1600" b="0">
                <a:solidFill>
                  <a:srgbClr val="5A6672"/>
                </a:solidFill>
                <a:latin typeface="Malgun Gothic"/>
              </a:rPr>
              <a:t>    –  체감할 만한 지연이 생기지 않아 그냥 통과한다</a:t>
            </a:r>
          </a:p>
          <a:p>
            <a:r>
              <a:rPr sz="1800" b="0">
                <a:solidFill>
                  <a:srgbClr val="202830"/>
                </a:solidFill>
                <a:latin typeface="Malgun Gothic"/>
              </a:rPr>
              <a:t>•  운영 환경에서 데이터가 많아지면 급격히 느려진다</a:t>
            </a:r>
          </a:p>
          <a:p>
            <a:r>
              <a:rPr sz="1600" b="0">
                <a:solidFill>
                  <a:srgbClr val="5A6672"/>
                </a:solidFill>
                <a:latin typeface="Malgun Gothic"/>
              </a:rPr>
              <a:t>    –  예를 들어 100건, 1000건으로 늘어나는 순간 배수가 그대로 반영된다</a:t>
            </a:r>
          </a:p>
          <a:p>
            <a:r>
              <a:rPr sz="1600" b="0">
                <a:solidFill>
                  <a:srgbClr val="5A6672"/>
                </a:solidFill>
                <a:latin typeface="Malgun Gothic"/>
              </a:rPr>
              <a:t>    –  전형적인 패턴이 바로 이것이다</a:t>
            </a:r>
          </a:p>
          <a:p>
            <a:r>
              <a:rPr sz="1800" b="0">
                <a:solidFill>
                  <a:srgbClr val="202830"/>
                </a:solidFill>
                <a:latin typeface="Malgun Gothic"/>
              </a:rPr>
              <a:t>•  왜 테스트로 걸러지지 않는가</a:t>
            </a:r>
          </a:p>
          <a:p>
            <a:r>
              <a:rPr sz="1600" b="0">
                <a:solidFill>
                  <a:srgbClr val="5A6672"/>
                </a:solidFill>
                <a:latin typeface="Malgun Gothic"/>
              </a:rPr>
              <a:t>    –  기능 테스트는 결과의 정확성을 보지 성능을 보지 않는다 — N+1은 결과가 정확하다</a:t>
            </a:r>
          </a:p>
          <a:p>
            <a:r>
              <a:rPr sz="1600" b="0">
                <a:solidFill>
                  <a:srgbClr val="5A6672"/>
                </a:solidFill>
                <a:latin typeface="Malgun Gothic"/>
              </a:rPr>
              <a:t>    –  성능 테스트도 데이터 규모가 작으면 통과해 버린다</a:t>
            </a:r>
          </a:p>
          <a:p>
            <a:r>
              <a:rPr sz="1600" b="0">
                <a:solidFill>
                  <a:srgbClr val="5A6672"/>
                </a:solidFill>
                <a:latin typeface="Malgun Gothic"/>
              </a:rPr>
              <a:t>    –  코드 리뷰에서도 각 조각이 자연스러워 보여 지적하기 어렵다</a:t>
            </a:r>
          </a:p>
          <a:p>
            <a:r>
              <a:rPr sz="1800" b="0">
                <a:solidFill>
                  <a:srgbClr val="202830"/>
                </a:solidFill>
                <a:latin typeface="Malgun Gothic"/>
              </a:rPr>
              <a:t>•  결론: 운영 규모를 가정한 데이터로 테스트해야 발견된다</a:t>
            </a:r>
          </a:p>
        </p:txBody>
      </p:sp>
    </p:spTree>
    <p:extLst>
      <p:ext uri="{BB962C8B-B14F-4D97-AF65-F5344CB8AC3E}">
        <p14:creationId xmlns:p14="http://schemas.microsoft.com/office/powerpoint/2010/main" val="2216754764"/>
      </p:ext>
    </p:extLst>
  </p:cSld>
  <p:clrMapOvr>
    <a:masterClrMapping/>
  </p:clrMapOvr>
</p:sld>
</file>

<file path=ppt/slides/slide59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확장성 문제로서의 N+1</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성능 문제는 크게 두 부류로 나뉜다</a:t>
            </a:r>
          </a:p>
          <a:p>
            <a:r>
              <a:rPr sz="1600" b="0">
                <a:solidFill>
                  <a:srgbClr val="5A6672"/>
                </a:solidFill>
                <a:latin typeface="Malgun Gothic"/>
              </a:rPr>
              <a:t>    –  지금 느린 문제 — 언제 측정해도 같은 수준으로 느리다, 발견이 쉽다</a:t>
            </a:r>
          </a:p>
          <a:p>
            <a:r>
              <a:rPr sz="1600" b="0">
                <a:solidFill>
                  <a:srgbClr val="5A6672"/>
                </a:solidFill>
                <a:latin typeface="Malgun Gothic"/>
              </a:rPr>
              <a:t>    –  커지면 느려지는 문제 — 지금은 멀쩡하다, 발견이 어렵다</a:t>
            </a:r>
          </a:p>
          <a:p>
            <a:r>
              <a:rPr sz="1800" b="0">
                <a:solidFill>
                  <a:srgbClr val="202830"/>
                </a:solidFill>
                <a:latin typeface="Malgun Gothic"/>
              </a:rPr>
              <a:t>•  N+1은 후자의 전형이다</a:t>
            </a:r>
          </a:p>
          <a:p>
            <a:r>
              <a:rPr sz="1600" b="0">
                <a:solidFill>
                  <a:srgbClr val="5A6672"/>
                </a:solidFill>
                <a:latin typeface="Malgun Gothic"/>
              </a:rPr>
              <a:t>    –  데이터가 적을 때는 숨어 있다가 데이터가 늘면서 드러난다</a:t>
            </a:r>
          </a:p>
          <a:p>
            <a:r>
              <a:rPr sz="1600" b="0">
                <a:solidFill>
                  <a:srgbClr val="5A6672"/>
                </a:solidFill>
                <a:latin typeface="Malgun Gothic"/>
              </a:rPr>
              <a:t>    –  그래서 확장성(scalability) 문제로 분류된다</a:t>
            </a:r>
          </a:p>
          <a:p>
            <a:r>
              <a:rPr sz="1800" b="0">
                <a:solidFill>
                  <a:srgbClr val="202830"/>
                </a:solidFill>
                <a:latin typeface="Malgun Gothic"/>
              </a:rPr>
              <a:t>•  확장성 문제를 다루는 방법이 따로 있다</a:t>
            </a:r>
          </a:p>
          <a:p>
            <a:r>
              <a:rPr sz="1600" b="0">
                <a:solidFill>
                  <a:srgbClr val="5A6672"/>
                </a:solidFill>
                <a:latin typeface="Malgun Gothic"/>
              </a:rPr>
              <a:t>    –  측정을 한 번이 아니라 규모를 바꿔 가며 두세 번 한다</a:t>
            </a:r>
          </a:p>
          <a:p>
            <a:r>
              <a:rPr sz="1600" b="0">
                <a:solidFill>
                  <a:srgbClr val="5A6672"/>
                </a:solidFill>
                <a:latin typeface="Malgun Gothic"/>
              </a:rPr>
              <a:t>    –  절대값이 아니라 기울기를 본다 — 규모가 배로 늘 때 비용이 몇 배가 되는가</a:t>
            </a:r>
          </a:p>
          <a:p>
            <a:r>
              <a:rPr sz="1600" b="0">
                <a:solidFill>
                  <a:srgbClr val="5A6672"/>
                </a:solidFill>
                <a:latin typeface="Malgun Gothic"/>
              </a:rPr>
              <a:t>    –  기울기가 1보다 크면 그 코드는 언젠가 반드시 문제를 일으킨다</a:t>
            </a:r>
          </a:p>
          <a:p>
            <a:r>
              <a:rPr sz="1800" b="0">
                <a:solidFill>
                  <a:srgbClr val="202830"/>
                </a:solidFill>
                <a:latin typeface="Malgun Gothic"/>
              </a:rPr>
              <a:t>•  N+1은 기울기가 정확히 1인(선형) 구조 — 조인 1회는 기울기가 거의 0이다</a:t>
            </a:r>
          </a:p>
        </p:txBody>
      </p:sp>
    </p:spTree>
    <p:extLst>
      <p:ext uri="{BB962C8B-B14F-4D97-AF65-F5344CB8AC3E}">
        <p14:creationId xmlns:p14="http://schemas.microsoft.com/office/powerpoint/2010/main" val="446203918"/>
      </p:ext>
    </p:extLst>
  </p:cSld>
  <p:clrMapOvr>
    <a:masterClrMapping/>
  </p:clrMapOvr>
</p:sld>
</file>

<file path=ppt/slides/slide598.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59" y="1371600"/>
            <a:ext cx="5535637" cy="1107996"/>
          </a:xfrm>
          <a:prstGeom prst="rect">
            <a:avLst/>
          </a:prstGeom>
          <a:noFill/>
        </p:spPr>
        <p:txBody>
          <a:bodyPr wrap="square">
            <a:spAutoFit/>
          </a:bodyPr>
          <a:lstStyle/>
          <a:p>
            <a:r>
              <a:rPr sz="6600" b="1" dirty="0">
                <a:solidFill>
                  <a:srgbClr val="C0392B"/>
                </a:solidFill>
                <a:latin typeface="Malgun Gothic"/>
              </a:rPr>
              <a:t>1</a:t>
            </a:r>
            <a:r>
              <a:rPr lang="en-US" sz="6600" b="1" dirty="0">
                <a:solidFill>
                  <a:srgbClr val="C0392B"/>
                </a:solidFill>
                <a:latin typeface="Malgun Gothic"/>
              </a:rPr>
              <a:t>4</a:t>
            </a:r>
            <a:r>
              <a:rPr sz="6600" b="1" dirty="0">
                <a:solidFill>
                  <a:srgbClr val="C0392B"/>
                </a:solidFill>
                <a:latin typeface="Malgun Gothic"/>
              </a:rPr>
              <a:t>.7~1</a:t>
            </a:r>
            <a:r>
              <a:rPr lang="en-US" sz="6600" b="1" dirty="0">
                <a:solidFill>
                  <a:srgbClr val="C0392B"/>
                </a:solidFill>
                <a:latin typeface="Malgun Gothic"/>
              </a:rPr>
              <a:t>4</a:t>
            </a:r>
            <a:r>
              <a:rPr sz="6600" b="1" dirty="0">
                <a:solidFill>
                  <a:srgbClr val="C0392B"/>
                </a:solidFill>
                <a:latin typeface="Malgun Gothic"/>
              </a:rPr>
              <a:t>.8</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Tuning &amp; Benchmark</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근본 해법 — 조인 1회로 대체</a:t>
            </a:r>
          </a:p>
          <a:p>
            <a:r>
              <a:rPr sz="1600" b="0">
                <a:solidFill>
                  <a:srgbClr val="C5CED6"/>
                </a:solidFill>
                <a:latin typeface="Malgun Gothic"/>
              </a:rPr>
              <a:t>•  배치 조회라는 절충안</a:t>
            </a:r>
          </a:p>
          <a:p>
            <a:r>
              <a:rPr sz="1600" b="0">
                <a:solidFill>
                  <a:srgbClr val="C5CED6"/>
                </a:solidFill>
                <a:latin typeface="Malgun Gothic"/>
              </a:rPr>
              <a:t>•  완화책 — 인덱스 추가와 그 한계</a:t>
            </a:r>
          </a:p>
          <a:p>
            <a:r>
              <a:rPr sz="1600" b="0">
                <a:solidFill>
                  <a:srgbClr val="C5CED6"/>
                </a:solidFill>
                <a:latin typeface="Malgun Gothic"/>
              </a:rPr>
              <a:t>•  진단 도구와 실측 요약</a:t>
            </a:r>
          </a:p>
        </p:txBody>
      </p:sp>
    </p:spTree>
    <p:extLst>
      <p:ext uri="{BB962C8B-B14F-4D97-AF65-F5344CB8AC3E}">
        <p14:creationId xmlns:p14="http://schemas.microsoft.com/office/powerpoint/2010/main" val="2379825362"/>
      </p:ext>
    </p:extLst>
  </p:cSld>
  <p:clrMapOvr>
    <a:masterClrMapping/>
  </p:clrMapOvr>
</p:sld>
</file>

<file path=ppt/slides/slide59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근본 해법 — 반복 조회를 조인 1회로</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가장 직접적인 해법: 12.4절처럼 반복 조회를 조인 1회로 대체한다</a:t>
            </a:r>
          </a:p>
          <a:p>
            <a:r>
              <a:rPr sz="1600" b="0">
                <a:solidFill>
                  <a:srgbClr val="5A6672"/>
                </a:solidFill>
                <a:latin typeface="Malgun Gothic"/>
              </a:rPr>
              <a:t>    –  실행 횟수가 21번에서 1번으로 줄어든다</a:t>
            </a:r>
          </a:p>
          <a:p>
            <a:r>
              <a:rPr sz="1600" b="0">
                <a:solidFill>
                  <a:srgbClr val="5A6672"/>
                </a:solidFill>
                <a:latin typeface="Malgun Gothic"/>
              </a:rPr>
              <a:t>    –  반복되던 Full Scan 비용이 '한 번'으로 고정된다</a:t>
            </a:r>
          </a:p>
          <a:p>
            <a:r>
              <a:rPr sz="1800" b="0">
                <a:solidFill>
                  <a:srgbClr val="202830"/>
                </a:solidFill>
                <a:latin typeface="Malgun Gothic"/>
              </a:rPr>
              <a:t>•  왜 이것이 근본 해법인가</a:t>
            </a:r>
          </a:p>
          <a:p>
            <a:r>
              <a:rPr sz="1600" b="0">
                <a:solidFill>
                  <a:srgbClr val="5A6672"/>
                </a:solidFill>
                <a:latin typeface="Malgun Gothic"/>
              </a:rPr>
              <a:t>    –  증상이 아니라 구조를 바꾸기 때문 — 반복 자체를 없앤다</a:t>
            </a:r>
          </a:p>
          <a:p>
            <a:r>
              <a:rPr sz="1600" b="0">
                <a:solidFill>
                  <a:srgbClr val="5A6672"/>
                </a:solidFill>
                <a:latin typeface="Malgun Gothic"/>
              </a:rPr>
              <a:t>    –  목록 건수가 늘어나도 비용이 배수로 커지지 않는다</a:t>
            </a:r>
          </a:p>
          <a:p>
            <a:r>
              <a:rPr sz="1600" b="0">
                <a:solidFill>
                  <a:srgbClr val="5A6672"/>
                </a:solidFill>
                <a:latin typeface="Malgun Gothic"/>
              </a:rPr>
              <a:t>    –  즉 확장성 문제의 성질 자체가 사라진다</a:t>
            </a:r>
          </a:p>
          <a:p>
            <a:r>
              <a:rPr sz="1800" b="0">
                <a:solidFill>
                  <a:srgbClr val="202830"/>
                </a:solidFill>
                <a:latin typeface="Malgun Gothic"/>
              </a:rPr>
              <a:t>•  적용할 때 확인할 것</a:t>
            </a:r>
          </a:p>
          <a:p>
            <a:r>
              <a:rPr sz="1600" b="0">
                <a:solidFill>
                  <a:srgbClr val="5A6672"/>
                </a:solidFill>
                <a:latin typeface="Malgun Gothic"/>
              </a:rPr>
              <a:t>    –  결과 집합이 이전과 동일한가 — 아우터 조인 여부를 반드시 점검</a:t>
            </a:r>
          </a:p>
          <a:p>
            <a:r>
              <a:rPr sz="1600" b="0">
                <a:solidFill>
                  <a:srgbClr val="5A6672"/>
                </a:solidFill>
                <a:latin typeface="Malgun Gothic"/>
              </a:rPr>
              <a:t>    –  한 문장이 지나치게 커지지 않는가 — 읽기 어려운 SQL은 다음 사람에게 부담이 된다</a:t>
            </a:r>
          </a:p>
          <a:p>
            <a:r>
              <a:rPr sz="1600" b="0">
                <a:solidFill>
                  <a:srgbClr val="5A6672"/>
                </a:solidFill>
                <a:latin typeface="Malgun Gothic"/>
              </a:rPr>
              <a:t>    –  필요한 컬럼만 가져오는가 — SELECT * 문제를 새로 만들지 않도록</a:t>
            </a:r>
          </a:p>
          <a:p>
            <a:r>
              <a:rPr sz="1800" b="0">
                <a:solidFill>
                  <a:srgbClr val="202830"/>
                </a:solidFill>
                <a:latin typeface="Malgun Gothic"/>
              </a:rPr>
              <a:t>•  튜닝은 바꾸는 일이 아니라 바꾼 뒤 확인하는 일까지 포함한다</a:t>
            </a:r>
          </a:p>
        </p:txBody>
      </p:sp>
    </p:spTree>
    <p:extLst>
      <p:ext uri="{BB962C8B-B14F-4D97-AF65-F5344CB8AC3E}">
        <p14:creationId xmlns:p14="http://schemas.microsoft.com/office/powerpoint/2010/main" val="2245284293"/>
      </p:ext>
    </p:extLst>
  </p:cSld>
  <p:clrMapOvr>
    <a:masterClrMapping/>
  </p:clrMapOvr>
</p:sld>
</file>

<file path=ppt/slides/slide60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절충안 — 배치 조회 (IN 리스트)</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12.7절 Tuning — 조인이 당장 어려울 때의 현실적인 대안</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-- 1단계: 목록에서 claim_id만 먼저 모은다 (애플리케이션 쪽에서 수집)</a:t>
            </a:r>
          </a:p>
          <a:p>
            <a:r>
              <a:rPr sz="1250" b="0">
                <a:solidFill>
                  <a:srgbClr val="E6E6E6"/>
                </a:solidFill>
                <a:latin typeface="Consolas"/>
              </a:rPr>
              <a:t>SELECT claim_id</a:t>
            </a:r>
          </a:p>
          <a:p>
            <a:r>
              <a:rPr sz="1250" b="0">
                <a:solidFill>
                  <a:srgbClr val="E6E6E6"/>
                </a:solidFill>
                <a:latin typeface="Consolas"/>
              </a:rPr>
              <a:t>  FROM medical_claims</a:t>
            </a:r>
          </a:p>
          <a:p>
            <a:r>
              <a:rPr sz="1250" b="0">
                <a:solidFill>
                  <a:srgbClr val="E6E6E6"/>
                </a:solidFill>
                <a:latin typeface="Consolas"/>
              </a:rPr>
              <a:t> WHERE hosp_id = 1</a:t>
            </a:r>
          </a:p>
          <a:p>
            <a:r>
              <a:rPr sz="1250" b="0">
                <a:solidFill>
                  <a:srgbClr val="E6E6E6"/>
                </a:solidFill>
                <a:latin typeface="Consolas"/>
              </a:rPr>
              <a:t>   AND ROWNUM &lt;= 20;</a:t>
            </a:r>
          </a:p>
          <a:p>
            <a:r>
              <a:rPr sz="1250" b="0">
                <a:solidFill>
                  <a:srgbClr val="E6E6E6"/>
                </a:solidFill>
                <a:latin typeface="Consolas"/>
              </a:rPr>
              <a:t> </a:t>
            </a:r>
          </a:p>
          <a:p>
            <a:r>
              <a:rPr sz="1250" b="0">
                <a:solidFill>
                  <a:srgbClr val="7EC699"/>
                </a:solidFill>
                <a:latin typeface="Consolas"/>
              </a:rPr>
              <a:t>-- 2단계: 모은 값을 한 번의 쿼리로 묶어서 조회</a:t>
            </a:r>
          </a:p>
          <a:p>
            <a:r>
              <a:rPr sz="1250" b="0">
                <a:solidFill>
                  <a:srgbClr val="E6E6E6"/>
                </a:solidFill>
                <a:latin typeface="Consolas"/>
              </a:rPr>
              <a:t>SELECT claim_id, COUNT(*) cnt</a:t>
            </a:r>
          </a:p>
          <a:p>
            <a:r>
              <a:rPr sz="1250" b="0">
                <a:solidFill>
                  <a:srgbClr val="E6E6E6"/>
                </a:solidFill>
                <a:latin typeface="Consolas"/>
              </a:rPr>
              <a:t>  FROM claim_details</a:t>
            </a:r>
          </a:p>
          <a:p>
            <a:r>
              <a:rPr sz="1250" b="0">
                <a:solidFill>
                  <a:srgbClr val="E6E6E6"/>
                </a:solidFill>
                <a:latin typeface="Consolas"/>
              </a:rPr>
              <a:t> WHERE claim_id IN (:id1, :id2, :id3, ... , :id20)</a:t>
            </a:r>
          </a:p>
          <a:p>
            <a:r>
              <a:rPr sz="1250" b="0">
                <a:solidFill>
                  <a:srgbClr val="E6E6E6"/>
                </a:solidFill>
                <a:latin typeface="Consolas"/>
              </a:rPr>
              <a:t> GROUP BY claim_id;</a:t>
            </a:r>
          </a:p>
          <a:p>
            <a:r>
              <a:rPr sz="1250" b="0">
                <a:solidFill>
                  <a:srgbClr val="E6E6E6"/>
                </a:solidFill>
                <a:latin typeface="Consolas"/>
              </a:rPr>
              <a:t> </a:t>
            </a:r>
          </a:p>
          <a:p>
            <a:r>
              <a:rPr sz="1250" b="0">
                <a:solidFill>
                  <a:srgbClr val="7EC699"/>
                </a:solidFill>
                <a:latin typeface="Consolas"/>
              </a:rPr>
              <a:t>-- 효과 : 반복 실행 횟수가 목록 건수만큼에서 1번으로 줄어든다</a:t>
            </a:r>
          </a:p>
          <a:p>
            <a:r>
              <a:rPr sz="1250" b="0">
                <a:solidFill>
                  <a:srgbClr val="7EC699"/>
                </a:solidFill>
                <a:latin typeface="Consolas"/>
              </a:rPr>
              <a:t>--        CLAIM_DETAILS를 한 번만(또는 훨씬 적게) 스캔하게 된다</a:t>
            </a:r>
          </a:p>
          <a:p>
            <a:r>
              <a:rPr sz="1250" b="0">
                <a:solidFill>
                  <a:srgbClr val="7EC699"/>
                </a:solidFill>
                <a:latin typeface="Consolas"/>
              </a:rPr>
              <a:t>-- 주의 : IN 리스트 길이가 변하면 SQL 텍스트가 바뀌어 별도 커서가 된다</a:t>
            </a:r>
          </a:p>
          <a:p>
            <a:r>
              <a:rPr sz="1250" b="0">
                <a:solidFill>
                  <a:srgbClr val="7EC699"/>
                </a:solidFill>
                <a:latin typeface="Consolas"/>
              </a:rPr>
              <a:t>--        묶음 크기를 고정해 두면 커서 재사용에 유리하다</a:t>
            </a:r>
          </a:p>
        </p:txBody>
      </p:sp>
    </p:spTree>
    <p:extLst>
      <p:ext uri="{BB962C8B-B14F-4D97-AF65-F5344CB8AC3E}">
        <p14:creationId xmlns:p14="http://schemas.microsoft.com/office/powerpoint/2010/main" val="2131982894"/>
      </p:ext>
    </p:extLst>
  </p:cSld>
  <p:clrMapOvr>
    <a:masterClrMapping/>
  </p:clrMapOvr>
</p:sld>
</file>

<file path=ppt/slides/slide60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완화책 — 인덱스 추가와 그 한계</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애플리케이션 구조상 조인이 당장 어렵다면</a:t>
            </a:r>
          </a:p>
          <a:p>
            <a:r>
              <a:rPr sz="1600" b="0">
                <a:solidFill>
                  <a:srgbClr val="5A6672"/>
                </a:solidFill>
                <a:latin typeface="Malgun Gothic"/>
              </a:rPr>
              <a:t>    –  최소한 반복되는 조회의 WHERE 절 컬럼(CLAIM_ID)에 인덱스를 추가한다</a:t>
            </a:r>
          </a:p>
          <a:p>
            <a:r>
              <a:rPr sz="1600" b="0">
                <a:solidFill>
                  <a:srgbClr val="5A6672"/>
                </a:solidFill>
                <a:latin typeface="Malgun Gothic"/>
              </a:rPr>
              <a:t>    –  그것만으로도 개별 조회 1회의 비용을 6,621에서 훨씬 작은 값(인덱스 탐색 수준)으로 낮출 수 있다</a:t>
            </a:r>
          </a:p>
          <a:p>
            <a:r>
              <a:rPr sz="1800" b="0">
                <a:solidFill>
                  <a:srgbClr val="202830"/>
                </a:solidFill>
                <a:latin typeface="Malgun Gothic"/>
              </a:rPr>
              <a:t>•  다만 이것은 '완화책'이지 근본 해법이 아니다</a:t>
            </a:r>
          </a:p>
          <a:p>
            <a:r>
              <a:rPr sz="1600" b="0">
                <a:solidFill>
                  <a:srgbClr val="5A6672"/>
                </a:solidFill>
                <a:latin typeface="Malgun Gothic"/>
              </a:rPr>
              <a:t>    –  반복 호출 구조 자체를 없애지 못한다 — 반복 횟수는 전혀 줄지 않는다</a:t>
            </a:r>
          </a:p>
          <a:p>
            <a:r>
              <a:rPr sz="1600" b="0">
                <a:solidFill>
                  <a:srgbClr val="5A6672"/>
                </a:solidFill>
                <a:latin typeface="Malgun Gothic"/>
              </a:rPr>
              <a:t>    –  '1회 비용 × 반복 횟수' 구조는 그대로 남고, 1회 비용만 작아진 것</a:t>
            </a:r>
          </a:p>
          <a:p>
            <a:r>
              <a:rPr sz="1800" b="0">
                <a:solidFill>
                  <a:srgbClr val="202830"/>
                </a:solidFill>
                <a:latin typeface="Malgun Gothic"/>
              </a:rPr>
              <a:t>•  반복 횟수가 계속 늘어나면 인덱스를 타도 결국 배수로 커지는 것은 마찬가지다</a:t>
            </a:r>
          </a:p>
          <a:p>
            <a:r>
              <a:rPr sz="1600" b="0">
                <a:solidFill>
                  <a:srgbClr val="5A6672"/>
                </a:solidFill>
                <a:latin typeface="Malgun Gothic"/>
              </a:rPr>
              <a:t>    –  ch05 원칙: 결과가 몇 건이든 Full Scan은 고정비용이지만</a:t>
            </a:r>
          </a:p>
          <a:p>
            <a:r>
              <a:rPr sz="1600" b="0">
                <a:solidFill>
                  <a:srgbClr val="5A6672"/>
                </a:solidFill>
                <a:latin typeface="Malgun Gothic"/>
              </a:rPr>
              <a:t>    –  인덱스 탐색은 반복될수록 그 나름대로 누적된다</a:t>
            </a:r>
          </a:p>
          <a:p>
            <a:r>
              <a:rPr sz="1800" b="0">
                <a:solidFill>
                  <a:srgbClr val="202830"/>
                </a:solidFill>
                <a:latin typeface="Malgun Gothic"/>
              </a:rPr>
              <a:t>•  판단 기준: 완화책은 시간을 벌어 줄 뿐 구조 문제를 닫아 주지 않는다</a:t>
            </a:r>
          </a:p>
          <a:p>
            <a:r>
              <a:rPr sz="1600" b="0">
                <a:solidFill>
                  <a:srgbClr val="5A6672"/>
                </a:solidFill>
                <a:latin typeface="Malgun Gothic"/>
              </a:rPr>
              <a:t>    –  인덱스를 넣었다면 반드시 구조 개선 과제를 함께 남겨 두라</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본 차시는 DDL 변경 없이 측정했다 — 인덱스 추가는 개념상의 완화책으로만 다룬다</a:t>
            </a:r>
          </a:p>
        </p:txBody>
      </p:sp>
    </p:spTree>
    <p:extLst>
      <p:ext uri="{BB962C8B-B14F-4D97-AF65-F5344CB8AC3E}">
        <p14:creationId xmlns:p14="http://schemas.microsoft.com/office/powerpoint/2010/main" val="1756962092"/>
      </p:ext>
    </p:extLst>
  </p:cSld>
  <p:clrMapOvr>
    <a:masterClrMapping/>
  </p:clrMapOvr>
</p:sld>
</file>

<file path=ppt/slides/slide60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진단 — 반복 호출을 찾아내는 조회 패턴</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12.7절 Tuning — 실행계획이 아니라 누적 통계를 본다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실행 횟수가 유독 많은 SQL을 먼저 훑는다</a:t>
            </a:r>
          </a:p>
          <a:p>
            <a:r>
              <a:rPr sz="1250" b="0">
                <a:solidFill>
                  <a:srgbClr val="E6E6E6"/>
                </a:solidFill>
                <a:latin typeface="Consolas"/>
              </a:rPr>
              <a:t>SELECT sql_id, executions, buffer_gets, elapsed_time, sql_text</a:t>
            </a:r>
          </a:p>
          <a:p>
            <a:r>
              <a:rPr sz="1250" b="0">
                <a:solidFill>
                  <a:srgbClr val="E6E6E6"/>
                </a:solidFill>
                <a:latin typeface="Consolas"/>
              </a:rPr>
              <a:t>  FROM v$sql</a:t>
            </a:r>
          </a:p>
          <a:p>
            <a:r>
              <a:rPr sz="1250" b="0">
                <a:solidFill>
                  <a:srgbClr val="E6E6E6"/>
                </a:solidFill>
                <a:latin typeface="Consolas"/>
              </a:rPr>
              <a:t> ORDER BY executions DESC;</a:t>
            </a:r>
          </a:p>
          <a:p>
            <a:r>
              <a:rPr sz="1250" b="0">
                <a:solidFill>
                  <a:srgbClr val="E6E6E6"/>
                </a:solidFill>
                <a:latin typeface="Consolas"/>
              </a:rPr>
              <a:t> </a:t>
            </a:r>
          </a:p>
          <a:p>
            <a:r>
              <a:rPr sz="1250" b="0">
                <a:solidFill>
                  <a:srgbClr val="7EC699"/>
                </a:solidFill>
                <a:latin typeface="Consolas"/>
              </a:rPr>
              <a:t>-- 누적 논리 I/O가 큰 SQL을 훑는다 (1회는 싸지만 총량이 큰 SQL이 걸린다)</a:t>
            </a:r>
          </a:p>
          <a:p>
            <a:r>
              <a:rPr sz="1250" b="0">
                <a:solidFill>
                  <a:srgbClr val="E6E6E6"/>
                </a:solidFill>
                <a:latin typeface="Consolas"/>
              </a:rPr>
              <a:t>SELECT sql_id, executions, buffer_gets,</a:t>
            </a:r>
          </a:p>
          <a:p>
            <a:r>
              <a:rPr sz="1250" b="0">
                <a:solidFill>
                  <a:srgbClr val="E6E6E6"/>
                </a:solidFill>
                <a:latin typeface="Consolas"/>
              </a:rPr>
              <a:t>       buffer_gets / NULLIF(executions, 0) AS avg_buffers, sql_text</a:t>
            </a:r>
          </a:p>
          <a:p>
            <a:r>
              <a:rPr sz="1250" b="0">
                <a:solidFill>
                  <a:srgbClr val="E6E6E6"/>
                </a:solidFill>
                <a:latin typeface="Consolas"/>
              </a:rPr>
              <a:t>  FROM v$sql</a:t>
            </a:r>
          </a:p>
          <a:p>
            <a:r>
              <a:rPr sz="1250" b="0">
                <a:solidFill>
                  <a:srgbClr val="E6E6E6"/>
                </a:solidFill>
                <a:latin typeface="Consolas"/>
              </a:rPr>
              <a:t> ORDER BY buffer_gets DESC;</a:t>
            </a:r>
          </a:p>
          <a:p>
            <a:r>
              <a:rPr sz="1250" b="0">
                <a:solidFill>
                  <a:srgbClr val="E6E6E6"/>
                </a:solidFill>
                <a:latin typeface="Consolas"/>
              </a:rPr>
              <a:t> </a:t>
            </a:r>
          </a:p>
          <a:p>
            <a:r>
              <a:rPr sz="1250" b="0">
                <a:solidFill>
                  <a:srgbClr val="7EC699"/>
                </a:solidFill>
                <a:latin typeface="Consolas"/>
              </a:rPr>
              <a:t>-- 읽는 요령</a:t>
            </a:r>
          </a:p>
          <a:p>
            <a:r>
              <a:rPr sz="1250" b="0">
                <a:solidFill>
                  <a:srgbClr val="7EC699"/>
                </a:solidFill>
                <a:latin typeface="Consolas"/>
              </a:rPr>
              <a:t>-- executions 가 크고 avg_buffers 도 작지 않다  -&gt; N+1 강력한 신호</a:t>
            </a:r>
          </a:p>
          <a:p>
            <a:r>
              <a:rPr sz="1250" b="0">
                <a:solidFill>
                  <a:srgbClr val="7EC699"/>
                </a:solidFill>
                <a:latin typeface="Consolas"/>
              </a:rPr>
              <a:t>-- executions 가 작고 avg_buffers 가 크다        -&gt; 단일 SQL 튜닝 대상</a:t>
            </a:r>
          </a:p>
          <a:p>
            <a:r>
              <a:rPr sz="1250" b="0">
                <a:solidFill>
                  <a:srgbClr val="7EC699"/>
                </a:solidFill>
                <a:latin typeface="Consolas"/>
              </a:rPr>
              <a:t>-- 1회 실행 시간으로만 정렬하면 N+1은 상위에 올라오지 않는다</a:t>
            </a:r>
          </a:p>
        </p:txBody>
      </p:sp>
    </p:spTree>
    <p:extLst>
      <p:ext uri="{BB962C8B-B14F-4D97-AF65-F5344CB8AC3E}">
        <p14:creationId xmlns:p14="http://schemas.microsoft.com/office/powerpoint/2010/main" val="3447433352"/>
      </p:ext>
    </p:extLst>
  </p:cSld>
  <p:clrMapOvr>
    <a:masterClrMapping/>
  </p:clrMapOvr>
</p:sld>
</file>

<file path=ppt/slides/slide60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진단 절차 정리 — 코드 리뷰와 모니터링</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DB 세션·시스템 통계</a:t>
            </a:r>
          </a:p>
          <a:p>
            <a:r>
              <a:rPr sz="1600" b="0">
                <a:solidFill>
                  <a:srgbClr val="5A6672"/>
                </a:solidFill>
                <a:latin typeface="Malgun Gothic"/>
              </a:rPr>
              <a:t>    –  V$SQL의 EXECUTIONS가 비정상적으로 높은 SQL을 주기적으로 조회해 찾아낸다</a:t>
            </a:r>
          </a:p>
          <a:p>
            <a:r>
              <a:rPr sz="1800" b="0">
                <a:solidFill>
                  <a:srgbClr val="202830"/>
                </a:solidFill>
                <a:latin typeface="Malgun Gothic"/>
              </a:rPr>
              <a:t>•  APM(Application Performance Monitoring) 도구</a:t>
            </a:r>
          </a:p>
          <a:p>
            <a:r>
              <a:rPr sz="1600" b="0">
                <a:solidFill>
                  <a:srgbClr val="5A6672"/>
                </a:solidFill>
                <a:latin typeface="Malgun Gothic"/>
              </a:rPr>
              <a:t>    –  하나의 API 요청 안에서 동일한 패턴의 SQL이 여러 번 호출되는 것을 트랜잭션 단위로 보여 준다</a:t>
            </a:r>
          </a:p>
          <a:p>
            <a:r>
              <a:rPr sz="1600" b="0">
                <a:solidFill>
                  <a:srgbClr val="5A6672"/>
                </a:solidFill>
                <a:latin typeface="Malgun Gothic"/>
              </a:rPr>
              <a:t>    –  요청 하나를 펼쳤을 때 같은 모양의 막대가 줄지어 있으면 N+1이다</a:t>
            </a:r>
          </a:p>
          <a:p>
            <a:r>
              <a:rPr sz="1800" b="0">
                <a:solidFill>
                  <a:srgbClr val="202830"/>
                </a:solidFill>
                <a:latin typeface="Malgun Gothic"/>
              </a:rPr>
              <a:t>•  ORM 프레임워크의 쿼리 로그</a:t>
            </a:r>
          </a:p>
          <a:p>
            <a:r>
              <a:rPr sz="1600" b="0">
                <a:solidFill>
                  <a:srgbClr val="5A6672"/>
                </a:solidFill>
                <a:latin typeface="Malgun Gothic"/>
              </a:rPr>
              <a:t>    –  많은 ORM이 'N+1 감지' 경고 기능을 제공한다</a:t>
            </a:r>
          </a:p>
          <a:p>
            <a:r>
              <a:rPr sz="1600" b="0">
                <a:solidFill>
                  <a:srgbClr val="5A6672"/>
                </a:solidFill>
                <a:latin typeface="Malgun Gothic"/>
              </a:rPr>
              <a:t>    –  개발 모드에서 실행된 모든 SQL을 로그로 남겨 눈으로 반복을 확인할 수도 있다</a:t>
            </a:r>
          </a:p>
          <a:p>
            <a:r>
              <a:rPr sz="1800" b="0">
                <a:solidFill>
                  <a:srgbClr val="202830"/>
                </a:solidFill>
                <a:latin typeface="Malgun Gothic"/>
              </a:rPr>
              <a:t>•  부하 테스트</a:t>
            </a:r>
          </a:p>
          <a:p>
            <a:r>
              <a:rPr sz="1600" b="0">
                <a:solidFill>
                  <a:srgbClr val="5A6672"/>
                </a:solidFill>
                <a:latin typeface="Malgun Gothic"/>
              </a:rPr>
              <a:t>    –  데이터 건수를 늘려 가며 응답 시간이 선형으로(또는 그 이상으로) 나빠지는지 확인한다</a:t>
            </a:r>
          </a:p>
          <a:p>
            <a:r>
              <a:rPr sz="1800" b="0">
                <a:solidFill>
                  <a:srgbClr val="202830"/>
                </a:solidFill>
                <a:latin typeface="Malgun Gothic"/>
              </a:rPr>
              <a:t>•  코드 리뷰에서 볼 지점</a:t>
            </a:r>
          </a:p>
          <a:p>
            <a:r>
              <a:rPr sz="1600" b="0">
                <a:solidFill>
                  <a:srgbClr val="5A6672"/>
                </a:solidFill>
                <a:latin typeface="Malgun Gothic"/>
              </a:rPr>
              <a:t>    –  반복문 안에서 DB 접근이 일어나는가 — 이 한 가지만 봐도 대부분 걸러진다</a:t>
            </a:r>
          </a:p>
        </p:txBody>
      </p:sp>
    </p:spTree>
    <p:extLst>
      <p:ext uri="{BB962C8B-B14F-4D97-AF65-F5344CB8AC3E}">
        <p14:creationId xmlns:p14="http://schemas.microsoft.com/office/powerpoint/2010/main" val="123042362"/>
      </p:ext>
    </p:extLst>
  </p:cSld>
  <p:clrMapOvr>
    <a:masterClrMapping/>
  </p:clrMapOvr>
</p:sld>
</file>

<file path=ppt/slides/slide60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Benchmark — 실측 요약</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12.8절 Benchmark — 두 방식의 실측 비교</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a:t>
            </a:r>
          </a:p>
          <a:p>
            <a:r>
              <a:rPr sz="1250" b="0">
                <a:solidFill>
                  <a:srgbClr val="E6E6E6"/>
                </a:solidFill>
                <a:latin typeface="Consolas"/>
              </a:rPr>
              <a:t>| 방식                  | 실행 횟수 | 총 Buffers  | 비고                           |</a:t>
            </a:r>
          </a:p>
          <a:p>
            <a:r>
              <a:rPr sz="1250" b="0">
                <a:solidFill>
                  <a:srgbClr val="E6E6E6"/>
                </a:solidFill>
                <a:latin typeface="Consolas"/>
              </a:rPr>
              <a:t>+-----------------------+-----------+-------------+--------------------------------+</a:t>
            </a:r>
          </a:p>
          <a:p>
            <a:r>
              <a:rPr sz="1250" b="0">
                <a:solidFill>
                  <a:srgbClr val="E6E6E6"/>
                </a:solidFill>
                <a:latin typeface="Consolas"/>
              </a:rPr>
              <a:t>| N+1 (개별 반복 조회)  | 20        | 132,420     | 매번 CLAIM_DETAILS Full Scan   |</a:t>
            </a:r>
          </a:p>
          <a:p>
            <a:r>
              <a:rPr sz="1250" b="0">
                <a:solidFill>
                  <a:srgbClr val="E6E6E6"/>
                </a:solidFill>
                <a:latin typeface="Consolas"/>
              </a:rPr>
              <a:t>| 조인 1회              | 1         | 6,645       | CLAIM_DETAILS Full Scan 단 1회 |</a:t>
            </a:r>
          </a:p>
          <a:p>
            <a:r>
              <a:rPr sz="1250" b="0">
                <a:solidFill>
                  <a:srgbClr val="E6E6E6"/>
                </a:solidFill>
                <a:latin typeface="Consolas"/>
              </a:rPr>
              <a:t>+-----------------------+-----------+-------------+--------------------------------+</a:t>
            </a:r>
          </a:p>
          <a:p>
            <a:r>
              <a:rPr sz="1250" b="0">
                <a:solidFill>
                  <a:srgbClr val="E6E6E6"/>
                </a:solidFill>
                <a:latin typeface="Consolas"/>
              </a:rPr>
              <a:t> </a:t>
            </a:r>
          </a:p>
          <a:p>
            <a:r>
              <a:rPr sz="1250" b="0">
                <a:solidFill>
                  <a:srgbClr val="E6E6E6"/>
                </a:solidFill>
                <a:latin typeface="Consolas"/>
              </a:rPr>
              <a:t> </a:t>
            </a:r>
          </a:p>
          <a:p>
            <a:r>
              <a:rPr sz="1250" b="0">
                <a:solidFill>
                  <a:srgbClr val="E6E6E6"/>
                </a:solidFill>
                <a:latin typeface="Consolas"/>
              </a:rPr>
              <a:t>  비율 : 132,420 / 6,645 = 약 19.9 배</a:t>
            </a:r>
          </a:p>
          <a:p>
            <a:r>
              <a:rPr sz="1250" b="0">
                <a:solidFill>
                  <a:srgbClr val="E6E6E6"/>
                </a:solidFill>
                <a:latin typeface="Consolas"/>
              </a:rPr>
              <a:t> </a:t>
            </a:r>
          </a:p>
          <a:p>
            <a:r>
              <a:rPr sz="1250" b="0">
                <a:solidFill>
                  <a:srgbClr val="E6E6E6"/>
                </a:solidFill>
                <a:latin typeface="Consolas"/>
              </a:rPr>
              <a:t>  N+1  1회 평균 Buffers : 6,621     (132,420 / 20)</a:t>
            </a:r>
          </a:p>
          <a:p>
            <a:r>
              <a:rPr sz="1250" b="0">
                <a:solidFill>
                  <a:srgbClr val="E6E6E6"/>
                </a:solidFill>
                <a:latin typeface="Consolas"/>
              </a:rPr>
              <a:t>  N+1  누적 소요 시간   : 374,094 us</a:t>
            </a:r>
          </a:p>
          <a:p>
            <a:r>
              <a:rPr sz="1250" b="0">
                <a:solidFill>
                  <a:srgbClr val="E6E6E6"/>
                </a:solidFill>
                <a:latin typeface="Consolas"/>
              </a:rPr>
              <a:t> </a:t>
            </a:r>
          </a:p>
          <a:p>
            <a:r>
              <a:rPr sz="1250" b="0">
                <a:solidFill>
                  <a:srgbClr val="7EC699"/>
                </a:solidFill>
                <a:latin typeface="Consolas"/>
              </a:rPr>
              <a:t>  -- 반복 횟수(20)에 가까운 배수 — 03절 원리 그대로</a:t>
            </a:r>
          </a:p>
        </p:txBody>
      </p:sp>
    </p:spTree>
    <p:extLst>
      <p:ext uri="{BB962C8B-B14F-4D97-AF65-F5344CB8AC3E}">
        <p14:creationId xmlns:p14="http://schemas.microsoft.com/office/powerpoint/2010/main" val="3414734855"/>
      </p:ext>
    </p:extLst>
  </p:cSld>
  <p:clrMapOvr>
    <a:masterClrMapping/>
  </p:clrMapOvr>
</p:sld>
</file>

<file path=ppt/slides/slide60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요약 (Summary)</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N+1 문제는 SQL 문장 자체가 아니라 '그 SQL이 몇 번 반복 호출되는가'에서 비롯된다</a:t>
            </a:r>
          </a:p>
          <a:p>
            <a:r>
              <a:rPr sz="1800" b="0">
                <a:solidFill>
                  <a:srgbClr val="202830"/>
                </a:solidFill>
                <a:latin typeface="Malgun Gothic"/>
              </a:rPr>
              <a:t>•  그래서 실행계획만 봐서는 보이지 않고, V$SQL의 누적 통계로 확인해야 한다</a:t>
            </a:r>
          </a:p>
          <a:p>
            <a:r>
              <a:rPr sz="1600" b="0">
                <a:solidFill>
                  <a:srgbClr val="5A6672"/>
                </a:solidFill>
                <a:latin typeface="Malgun Gothic"/>
              </a:rPr>
              <a:t>    –  EXECUTIONS(실행 횟수)와 BUFFER_GETS(누적 비용), 그리고 둘을 나눈 1회 평균</a:t>
            </a:r>
          </a:p>
          <a:p>
            <a:r>
              <a:rPr sz="1800" b="0">
                <a:solidFill>
                  <a:srgbClr val="202830"/>
                </a:solidFill>
                <a:latin typeface="Malgun Gothic"/>
              </a:rPr>
              <a:t>•  반복 조회 대상 컬럼에 인덱스가 없으면 각 반복이 Full Scan이 되어 피해가 특히 커진다</a:t>
            </a:r>
          </a:p>
          <a:p>
            <a:r>
              <a:rPr sz="1600" b="0">
                <a:solidFill>
                  <a:srgbClr val="5A6672"/>
                </a:solidFill>
                <a:latin typeface="Malgun Gothic"/>
              </a:rPr>
              <a:t>    –  실측: 20번 반복 132,420 Buffers, 1회 평균 6,621</a:t>
            </a:r>
          </a:p>
          <a:p>
            <a:r>
              <a:rPr sz="1800" b="0">
                <a:solidFill>
                  <a:srgbClr val="202830"/>
                </a:solidFill>
                <a:latin typeface="Malgun Gothic"/>
              </a:rPr>
              <a:t>•  N+1을 조인 1회로 바꾸면 반복되던 비용이 '한 번'으로 고정된다</a:t>
            </a:r>
          </a:p>
          <a:p>
            <a:r>
              <a:rPr sz="1600" b="0">
                <a:solidFill>
                  <a:srgbClr val="5A6672"/>
                </a:solidFill>
                <a:latin typeface="Malgun Gothic"/>
              </a:rPr>
              <a:t>    –  실측: 조인 1회 6,645 Buffers — 비율 약 19.9배, 반복 횟수 20에 수렴</a:t>
            </a:r>
          </a:p>
          <a:p>
            <a:r>
              <a:rPr sz="1600" b="0">
                <a:solidFill>
                  <a:srgbClr val="5A6672"/>
                </a:solidFill>
                <a:latin typeface="Malgun Gothic"/>
              </a:rPr>
              <a:t>    –  목록 건수가 늘어나도 비용이 배수로 커지지 않는다</a:t>
            </a:r>
          </a:p>
          <a:p>
            <a:r>
              <a:rPr sz="1800" b="0">
                <a:solidFill>
                  <a:srgbClr val="202830"/>
                </a:solidFill>
                <a:latin typeface="Malgun Gothic"/>
              </a:rPr>
              <a:t>•  인덱스 추가는 1회 비용을 낮추는 완화책일 뿐 반복 횟수를 줄이지 못한다</a:t>
            </a:r>
          </a:p>
          <a:p>
            <a:r>
              <a:rPr sz="1800" b="0">
                <a:solidFill>
                  <a:srgbClr val="202830"/>
                </a:solidFill>
                <a:latin typeface="Malgun Gothic"/>
              </a:rPr>
              <a:t>•  개발 환경의 적은 테스트 데이터로는 N+1이 잘 드러나지 않는다</a:t>
            </a:r>
          </a:p>
          <a:p>
            <a:r>
              <a:rPr sz="1600" b="0">
                <a:solidFill>
                  <a:srgbClr val="5A6672"/>
                </a:solidFill>
                <a:latin typeface="Malgun Gothic"/>
              </a:rPr>
              <a:t>    –  실제 운영 규모를 가정한 테스트가 중요하다</a:t>
            </a:r>
          </a:p>
        </p:txBody>
      </p:sp>
    </p:spTree>
    <p:extLst>
      <p:ext uri="{BB962C8B-B14F-4D97-AF65-F5344CB8AC3E}">
        <p14:creationId xmlns:p14="http://schemas.microsoft.com/office/powerpoint/2010/main" val="3614251146"/>
      </p:ext>
    </p:extLst>
  </p:cSld>
  <p:clrMapOvr>
    <a:masterClrMapping/>
  </p:clrMapOvr>
</p:sld>
</file>

<file path=ppt/slides/slide60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실습 안내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실습문제 10문항: ch14_문제.md</a:t>
            </a:r>
          </a:p>
          <a:p>
            <a:r>
              <a:rPr sz="1600" b="0">
                <a:solidFill>
                  <a:srgbClr val="5A6672"/>
                </a:solidFill>
                <a:latin typeface="Malgun Gothic"/>
              </a:rPr>
              <a:t>    –  1번 — 평균 Buffers 계산과 단건 Full Scan 비용이 일치하는 이유</a:t>
            </a:r>
          </a:p>
          <a:p>
            <a:r>
              <a:rPr sz="1600" b="0">
                <a:solidFill>
                  <a:srgbClr val="5A6672"/>
                </a:solidFill>
                <a:latin typeface="Malgun Gothic"/>
              </a:rPr>
              <a:t>    –  2번 — 조인 1회 계획에서 CLAIM_DETAILS Full Scan이 몇 번 나타나는가</a:t>
            </a:r>
          </a:p>
          <a:p>
            <a:r>
              <a:rPr sz="1600" b="0">
                <a:solidFill>
                  <a:srgbClr val="5A6672"/>
                </a:solidFill>
                <a:latin typeface="Malgun Gothic"/>
              </a:rPr>
              <a:t>    –  3번 — 비율이 20에 가까운 이유와 목록 200건일 때의 예측</a:t>
            </a:r>
          </a:p>
          <a:p>
            <a:r>
              <a:rPr sz="1600" b="0">
                <a:solidFill>
                  <a:srgbClr val="5A6672"/>
                </a:solidFill>
                <a:latin typeface="Malgun Gothic"/>
              </a:rPr>
              <a:t>    –  4번 — 목록 5건·100건일 때 예상 Buffers와 개발 환경의 함정</a:t>
            </a:r>
          </a:p>
          <a:p>
            <a:r>
              <a:rPr sz="1600" b="0">
                <a:solidFill>
                  <a:srgbClr val="5A6672"/>
                </a:solidFill>
                <a:latin typeface="Malgun Gothic"/>
              </a:rPr>
              <a:t>    –  5번 — 실행계획만으로 안 보이는 이유와 대신 확인할 V$SQL 컬럼</a:t>
            </a:r>
          </a:p>
          <a:p>
            <a:r>
              <a:rPr sz="1600" b="0">
                <a:solidFill>
                  <a:srgbClr val="5A6672"/>
                </a:solidFill>
                <a:latin typeface="Malgun Gothic"/>
              </a:rPr>
              <a:t>    –  6번 — 인덱스 추가 후에도 남는 문제</a:t>
            </a:r>
          </a:p>
          <a:p>
            <a:r>
              <a:rPr sz="1600" b="0">
                <a:solidFill>
                  <a:srgbClr val="5A6672"/>
                </a:solidFill>
                <a:latin typeface="Malgun Gothic"/>
              </a:rPr>
              <a:t>    –  7번 — 바인드 변수 대신 리터럴을 썼다면 생겼을 추가 문제(ch02)</a:t>
            </a:r>
          </a:p>
          <a:p>
            <a:r>
              <a:rPr sz="1600" b="0">
                <a:solidFill>
                  <a:srgbClr val="5A6672"/>
                </a:solidFill>
                <a:latin typeface="Malgun Gothic"/>
              </a:rPr>
              <a:t>    –  8번 — 조인 외의 애플리케이션 레벨 대안(배치 조회)</a:t>
            </a:r>
          </a:p>
          <a:p>
            <a:r>
              <a:rPr sz="1600" b="0">
                <a:solidFill>
                  <a:srgbClr val="5A6672"/>
                </a:solidFill>
                <a:latin typeface="Malgun Gothic"/>
              </a:rPr>
              <a:t>    –  9번 — MEDICAL_CLAIMS와 CLAIM_DETAILS의 접근 비용 차이</a:t>
            </a:r>
          </a:p>
          <a:p>
            <a:r>
              <a:rPr sz="1600" b="0">
                <a:solidFill>
                  <a:srgbClr val="5A6672"/>
                </a:solidFill>
                <a:latin typeface="Malgun Gothic"/>
              </a:rPr>
              <a:t>    –  10번 — 코드 리뷰에서 N+1을 발견하는 도구와 방법</a:t>
            </a:r>
          </a:p>
          <a:p>
            <a:r>
              <a:rPr sz="1800" b="0">
                <a:solidFill>
                  <a:srgbClr val="202830"/>
                </a:solidFill>
                <a:latin typeface="Malgun Gothic"/>
              </a:rPr>
              <a:t>•  풀이 요령: 숫자를 외우지 말고 '반복 횟수 × 1회 비용' 구조로 설명하라</a:t>
            </a:r>
          </a:p>
        </p:txBody>
      </p:sp>
    </p:spTree>
    <p:extLst>
      <p:ext uri="{BB962C8B-B14F-4D97-AF65-F5344CB8AC3E}">
        <p14:creationId xmlns:p14="http://schemas.microsoft.com/office/powerpoint/2010/main" val="2620790742"/>
      </p:ext>
    </p:extLst>
  </p:cSld>
  <p:clrMapOvr>
    <a:masterClrMapping/>
  </p:clrMapOvr>
</p:sld>
</file>

<file path=ppt/slides/slide6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인스턴스 튜닝 개요와 기반</a:t>
            </a:r>
          </a:p>
        </p:txBody>
      </p:sp>
      <p:sp>
        <p:nvSpPr>
          <p:cNvPr id="5" name="Rectangle 4"/>
          <p:cNvSpPr/>
          <p:nvPr/>
        </p:nvSpPr>
        <p:spPr>
          <a:xfrm>
            <a:off x="822960" y="4114800"/>
            <a:ext cx="5486400"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584775"/>
          </a:xfrm>
          <a:prstGeom prst="rect">
            <a:avLst/>
          </a:prstGeom>
          <a:noFill/>
        </p:spPr>
        <p:txBody>
          <a:bodyPr wrap="square">
            <a:spAutoFit/>
          </a:bodyPr>
          <a:lstStyle/>
          <a:p>
            <a:r>
              <a:rPr sz="1600" b="0" dirty="0">
                <a:solidFill>
                  <a:srgbClr val="FFFFFF"/>
                </a:solidFill>
                <a:latin typeface="맑은 고딕"/>
              </a:rPr>
              <a:t>•  </a:t>
            </a:r>
            <a:r>
              <a:rPr sz="1600" b="0" dirty="0" err="1">
                <a:solidFill>
                  <a:srgbClr val="FFFFFF"/>
                </a:solidFill>
                <a:latin typeface="맑은 고딕"/>
              </a:rPr>
              <a:t>브리지</a:t>
            </a:r>
            <a:r>
              <a:rPr sz="1600" b="0" dirty="0">
                <a:solidFill>
                  <a:srgbClr val="FFFFFF"/>
                </a:solidFill>
                <a:latin typeface="맑은 고딕"/>
              </a:rPr>
              <a:t> 01 · TUN ch15 · ch16 · ch17 · ch18 · </a:t>
            </a:r>
            <a:r>
              <a:rPr sz="1600" b="0" dirty="0" err="1">
                <a:solidFill>
                  <a:srgbClr val="FFFFFF"/>
                </a:solidFill>
                <a:latin typeface="맑은 고딕"/>
              </a:rPr>
              <a:t>환경</a:t>
            </a:r>
            <a:r>
              <a:rPr sz="1600" b="0" dirty="0">
                <a:solidFill>
                  <a:srgbClr val="FFFFFF"/>
                </a:solidFill>
                <a:latin typeface="맑은 고딕"/>
              </a:rPr>
              <a:t> </a:t>
            </a:r>
            <a:r>
              <a:rPr sz="1600" b="0" dirty="0" err="1">
                <a:solidFill>
                  <a:srgbClr val="FFFFFF"/>
                </a:solidFill>
                <a:latin typeface="맑은 고딕"/>
              </a:rPr>
              <a:t>점검</a:t>
            </a:r>
            <a:endParaRPr sz="1600" b="0" dirty="0">
              <a:solidFill>
                <a:srgbClr val="FFFFFF"/>
              </a:solidFill>
              <a:latin typeface="맑은 고딕"/>
            </a:endParaRPr>
          </a:p>
          <a:p>
            <a:r>
              <a:rPr sz="1600" b="0" dirty="0">
                <a:solidFill>
                  <a:srgbClr val="FFFFFF"/>
                </a:solidFill>
                <a:latin typeface="맑은 고딕"/>
              </a:rPr>
              <a:t>•  SQL 한 </a:t>
            </a:r>
            <a:r>
              <a:rPr sz="1600" b="0" dirty="0" err="1">
                <a:solidFill>
                  <a:srgbClr val="FFFFFF"/>
                </a:solidFill>
                <a:latin typeface="맑은 고딕"/>
              </a:rPr>
              <a:t>문장에서</a:t>
            </a:r>
            <a:r>
              <a:rPr sz="1600" b="0" dirty="0">
                <a:solidFill>
                  <a:srgbClr val="FFFFFF"/>
                </a:solidFill>
                <a:latin typeface="맑은 고딕"/>
              </a:rPr>
              <a:t> </a:t>
            </a:r>
            <a:r>
              <a:rPr sz="1600" b="0" dirty="0" err="1">
                <a:solidFill>
                  <a:srgbClr val="FFFFFF"/>
                </a:solidFill>
                <a:latin typeface="맑은 고딕"/>
              </a:rPr>
              <a:t>시스템으로</a:t>
            </a:r>
            <a:endParaRPr sz="1600" b="0" dirty="0">
              <a:solidFill>
                <a:srgbClr val="FFFFFF"/>
              </a:solidFill>
              <a:latin typeface="맑은 고딕"/>
            </a:endParaRPr>
          </a:p>
        </p:txBody>
      </p:sp>
    </p:spTree>
  </p:cSld>
  <p:clrMapOvr>
    <a:masterClrMapping/>
  </p:clrMapOvr>
</p:sld>
</file>

<file path=ppt/slides/slide6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5394960"/>
            <a:ext cx="12191695" cy="14630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457200"/>
            <a:ext cx="10698480" cy="548640"/>
          </a:xfrm>
          <a:prstGeom prst="rect">
            <a:avLst/>
          </a:prstGeom>
          <a:noFill/>
        </p:spPr>
        <p:txBody>
          <a:bodyPr wrap="square">
            <a:spAutoFit/>
          </a:bodyPr>
          <a:lstStyle/>
          <a:p>
            <a:r>
              <a:rPr sz="1600" b="1">
                <a:solidFill>
                  <a:srgbClr val="FFFFFF"/>
                </a:solidFill>
                <a:latin typeface="맑은 고딕"/>
              </a:rPr>
              <a:t>Oracle Database 19c DB 튜닝 과정</a:t>
            </a:r>
          </a:p>
        </p:txBody>
      </p:sp>
      <p:sp>
        <p:nvSpPr>
          <p:cNvPr id="6" name="TextBox 5"/>
          <p:cNvSpPr txBox="1"/>
          <p:nvPr/>
        </p:nvSpPr>
        <p:spPr>
          <a:xfrm>
            <a:off x="731520" y="2377440"/>
            <a:ext cx="10698480" cy="615553"/>
          </a:xfrm>
          <a:prstGeom prst="rect">
            <a:avLst/>
          </a:prstGeom>
          <a:noFill/>
        </p:spPr>
        <p:txBody>
          <a:bodyPr wrap="square">
            <a:spAutoFit/>
          </a:bodyPr>
          <a:lstStyle/>
          <a:p>
            <a:r>
              <a:rPr sz="3400" b="1" dirty="0" err="1">
                <a:solidFill>
                  <a:srgbClr val="C0392B"/>
                </a:solidFill>
                <a:latin typeface="맑은 고딕"/>
              </a:rPr>
              <a:t>브리지</a:t>
            </a:r>
            <a:r>
              <a:rPr sz="3400" b="1" dirty="0">
                <a:solidFill>
                  <a:srgbClr val="C0392B"/>
                </a:solidFill>
                <a:latin typeface="맑은 고딕"/>
              </a:rPr>
              <a:t> 01 — SQL 한 </a:t>
            </a:r>
            <a:r>
              <a:rPr sz="3400" b="1" dirty="0" err="1">
                <a:solidFill>
                  <a:srgbClr val="C0392B"/>
                </a:solidFill>
                <a:latin typeface="맑은 고딕"/>
              </a:rPr>
              <a:t>문장에서</a:t>
            </a:r>
            <a:r>
              <a:rPr sz="3400" b="1" dirty="0">
                <a:solidFill>
                  <a:srgbClr val="C0392B"/>
                </a:solidFill>
                <a:latin typeface="맑은 고딕"/>
              </a:rPr>
              <a:t> </a:t>
            </a:r>
            <a:r>
              <a:rPr sz="3400" b="1" dirty="0" err="1">
                <a:solidFill>
                  <a:srgbClr val="C0392B"/>
                </a:solidFill>
                <a:latin typeface="맑은 고딕"/>
              </a:rPr>
              <a:t>시스템으로</a:t>
            </a:r>
            <a:endParaRPr sz="3400" b="1" dirty="0">
              <a:solidFill>
                <a:srgbClr val="C0392B"/>
              </a:solidFill>
              <a:latin typeface="맑은 고딕"/>
            </a:endParaRPr>
          </a:p>
        </p:txBody>
      </p:sp>
      <p:sp>
        <p:nvSpPr>
          <p:cNvPr id="7" name="TextBox 6"/>
          <p:cNvSpPr txBox="1"/>
          <p:nvPr/>
        </p:nvSpPr>
        <p:spPr>
          <a:xfrm>
            <a:off x="731520" y="4114800"/>
            <a:ext cx="10698480" cy="1097280"/>
          </a:xfrm>
          <a:prstGeom prst="rect">
            <a:avLst/>
          </a:prstGeom>
          <a:noFill/>
        </p:spPr>
        <p:txBody>
          <a:bodyPr wrap="square">
            <a:spAutoFit/>
          </a:bodyPr>
          <a:lstStyle/>
          <a:p>
            <a:r>
              <a:rPr sz="1500" b="0">
                <a:solidFill>
                  <a:srgbClr val="5A6672"/>
                </a:solidFill>
                <a:latin typeface="맑은 고딕"/>
              </a:rPr>
              <a:t>Buffers 와 A-Rows 로 재던 것을 DB Time 과 대기 클래스로 다시 잰다 · "내 SQL 이 아니라 시스템이 문제" 를 판별하는 세 가지 징후 · 열흘의 진단 절차 한 장</a:t>
            </a:r>
          </a:p>
        </p:txBody>
      </p:sp>
    </p:spTree>
    <p:extLst>
      <p:ext uri="{BB962C8B-B14F-4D97-AF65-F5344CB8AC3E}">
        <p14:creationId xmlns:p14="http://schemas.microsoft.com/office/powerpoint/2010/main" val="3062679303"/>
      </p:ext>
    </p:extLst>
  </p:cSld>
  <p:clrMapOvr>
    <a:masterClrMapping/>
  </p:clrMapOvr>
</p:sld>
</file>

<file path=ppt/slides/slide6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학습 목표 (Objectives)</a:t>
            </a:r>
          </a:p>
        </p:txBody>
      </p:sp>
      <p:sp>
        <p:nvSpPr>
          <p:cNvPr id="4" name="TextBox 3"/>
          <p:cNvSpPr txBox="1"/>
          <p:nvPr/>
        </p:nvSpPr>
        <p:spPr>
          <a:xfrm>
            <a:off x="640080" y="1371600"/>
            <a:ext cx="10881360" cy="1343958"/>
          </a:xfrm>
          <a:prstGeom prst="rect">
            <a:avLst/>
          </a:prstGeom>
          <a:noFill/>
        </p:spPr>
        <p:txBody>
          <a:bodyPr wrap="square">
            <a:spAutoFit/>
          </a:bodyPr>
          <a:lstStyle/>
          <a:p>
            <a:pPr>
              <a:spcAft>
                <a:spcPts val="800"/>
              </a:spcAft>
            </a:pPr>
            <a:r>
              <a:rPr sz="1700" b="0" dirty="0">
                <a:solidFill>
                  <a:srgbClr val="222222"/>
                </a:solidFill>
                <a:latin typeface="맑은 고딕"/>
              </a:rPr>
              <a:t>•  </a:t>
            </a:r>
            <a:r>
              <a:rPr lang="ko-KR" altLang="en-US" sz="1700" b="0" dirty="0">
                <a:solidFill>
                  <a:srgbClr val="222222"/>
                </a:solidFill>
                <a:latin typeface="맑은 고딕"/>
              </a:rPr>
              <a:t>앞서</a:t>
            </a:r>
            <a:r>
              <a:rPr sz="1700" b="0" dirty="0">
                <a:solidFill>
                  <a:srgbClr val="222222"/>
                </a:solidFill>
                <a:latin typeface="맑은 고딕"/>
              </a:rPr>
              <a:t> 쓴 </a:t>
            </a:r>
            <a:r>
              <a:rPr sz="1700" b="0" dirty="0" err="1">
                <a:solidFill>
                  <a:srgbClr val="222222"/>
                </a:solidFill>
                <a:latin typeface="맑은 고딕"/>
              </a:rPr>
              <a:t>측정</a:t>
            </a:r>
            <a:r>
              <a:rPr sz="1700" b="0" dirty="0">
                <a:solidFill>
                  <a:srgbClr val="222222"/>
                </a:solidFill>
                <a:latin typeface="맑은 고딕"/>
              </a:rPr>
              <a:t> </a:t>
            </a:r>
            <a:r>
              <a:rPr sz="1700" b="0" dirty="0" err="1">
                <a:solidFill>
                  <a:srgbClr val="222222"/>
                </a:solidFill>
                <a:latin typeface="맑은 고딕"/>
              </a:rPr>
              <a:t>단위</a:t>
            </a:r>
            <a:r>
              <a:rPr sz="1700" b="0" dirty="0">
                <a:solidFill>
                  <a:srgbClr val="222222"/>
                </a:solidFill>
                <a:latin typeface="맑은 고딕"/>
              </a:rPr>
              <a:t>(Buffers, A-Rows, Elapsed)가 </a:t>
            </a:r>
            <a:r>
              <a:rPr sz="1700" b="0" dirty="0" err="1">
                <a:solidFill>
                  <a:srgbClr val="222222"/>
                </a:solidFill>
                <a:latin typeface="맑은 고딕"/>
              </a:rPr>
              <a:t>인스턴스</a:t>
            </a:r>
            <a:r>
              <a:rPr sz="1700" b="0" dirty="0">
                <a:solidFill>
                  <a:srgbClr val="222222"/>
                </a:solidFill>
                <a:latin typeface="맑은 고딕"/>
              </a:rPr>
              <a:t> </a:t>
            </a:r>
            <a:r>
              <a:rPr sz="1700" b="0" dirty="0" err="1">
                <a:solidFill>
                  <a:srgbClr val="222222"/>
                </a:solidFill>
                <a:latin typeface="맑은 고딕"/>
              </a:rPr>
              <a:t>층위에서</a:t>
            </a:r>
            <a:r>
              <a:rPr sz="1700" b="0" dirty="0">
                <a:solidFill>
                  <a:srgbClr val="222222"/>
                </a:solidFill>
                <a:latin typeface="맑은 고딕"/>
              </a:rPr>
              <a:t> </a:t>
            </a:r>
            <a:r>
              <a:rPr sz="1700" b="0" dirty="0" err="1">
                <a:solidFill>
                  <a:srgbClr val="222222"/>
                </a:solidFill>
                <a:latin typeface="맑은 고딕"/>
              </a:rPr>
              <a:t>어떤</a:t>
            </a:r>
            <a:r>
              <a:rPr sz="1700" b="0" dirty="0">
                <a:solidFill>
                  <a:srgbClr val="222222"/>
                </a:solidFill>
                <a:latin typeface="맑은 고딕"/>
              </a:rPr>
              <a:t> </a:t>
            </a:r>
            <a:r>
              <a:rPr sz="1700" b="0" dirty="0" err="1">
                <a:solidFill>
                  <a:srgbClr val="222222"/>
                </a:solidFill>
                <a:latin typeface="맑은 고딕"/>
              </a:rPr>
              <a:t>단위</a:t>
            </a:r>
            <a:r>
              <a:rPr sz="1700" b="0" dirty="0">
                <a:solidFill>
                  <a:srgbClr val="222222"/>
                </a:solidFill>
                <a:latin typeface="맑은 고딕"/>
              </a:rPr>
              <a:t>(DB Time, </a:t>
            </a:r>
            <a:r>
              <a:rPr sz="1700" b="0" dirty="0" err="1">
                <a:solidFill>
                  <a:srgbClr val="222222"/>
                </a:solidFill>
                <a:latin typeface="맑은 고딕"/>
              </a:rPr>
              <a:t>대기</a:t>
            </a:r>
            <a:r>
              <a:rPr sz="1700" b="0" dirty="0">
                <a:solidFill>
                  <a:srgbClr val="222222"/>
                </a:solidFill>
                <a:latin typeface="맑은 고딕"/>
              </a:rPr>
              <a:t> </a:t>
            </a:r>
            <a:r>
              <a:rPr sz="1700" b="0" dirty="0" err="1">
                <a:solidFill>
                  <a:srgbClr val="222222"/>
                </a:solidFill>
                <a:latin typeface="맑은 고딕"/>
              </a:rPr>
              <a:t>클래스</a:t>
            </a:r>
            <a:r>
              <a:rPr sz="1700" b="0" dirty="0">
                <a:solidFill>
                  <a:srgbClr val="222222"/>
                </a:solidFill>
                <a:latin typeface="맑은 고딕"/>
              </a:rPr>
              <a:t>)로 </a:t>
            </a:r>
            <a:r>
              <a:rPr sz="1700" b="0" dirty="0" err="1">
                <a:solidFill>
                  <a:srgbClr val="222222"/>
                </a:solidFill>
                <a:latin typeface="맑은 고딕"/>
              </a:rPr>
              <a:t>바뀌는지</a:t>
            </a:r>
            <a:r>
              <a:rPr sz="1700" b="0" dirty="0">
                <a:solidFill>
                  <a:srgbClr val="222222"/>
                </a:solidFill>
                <a:latin typeface="맑은 고딕"/>
              </a:rPr>
              <a:t> </a:t>
            </a:r>
            <a:r>
              <a:rPr sz="1700" b="0" dirty="0" err="1">
                <a:solidFill>
                  <a:srgbClr val="222222"/>
                </a:solidFill>
                <a:latin typeface="맑은 고딕"/>
              </a:rPr>
              <a:t>설명한다</a:t>
            </a:r>
            <a:r>
              <a:rPr sz="1700" b="0" dirty="0">
                <a:solidFill>
                  <a:srgbClr val="222222"/>
                </a:solidFill>
                <a:latin typeface="맑은 고딕"/>
              </a:rPr>
              <a:t>.</a:t>
            </a:r>
          </a:p>
          <a:p>
            <a:pPr>
              <a:spcAft>
                <a:spcPts val="800"/>
              </a:spcAft>
            </a:pPr>
            <a:r>
              <a:rPr sz="1700" b="0" dirty="0">
                <a:solidFill>
                  <a:srgbClr val="222222"/>
                </a:solidFill>
                <a:latin typeface="맑은 고딕"/>
              </a:rPr>
              <a:t>•  </a:t>
            </a:r>
            <a:r>
              <a:rPr sz="1700" b="0" dirty="0" err="1">
                <a:solidFill>
                  <a:srgbClr val="222222"/>
                </a:solidFill>
                <a:latin typeface="맑은 고딕"/>
              </a:rPr>
              <a:t>같은</a:t>
            </a:r>
            <a:r>
              <a:rPr sz="1700" b="0" dirty="0">
                <a:solidFill>
                  <a:srgbClr val="222222"/>
                </a:solidFill>
                <a:latin typeface="맑은 고딕"/>
              </a:rPr>
              <a:t> </a:t>
            </a:r>
            <a:r>
              <a:rPr sz="1700" b="0" dirty="0" err="1">
                <a:solidFill>
                  <a:srgbClr val="222222"/>
                </a:solidFill>
                <a:latin typeface="맑은 고딕"/>
              </a:rPr>
              <a:t>느린</a:t>
            </a:r>
            <a:r>
              <a:rPr sz="1700" b="0" dirty="0">
                <a:solidFill>
                  <a:srgbClr val="222222"/>
                </a:solidFill>
                <a:latin typeface="맑은 고딕"/>
              </a:rPr>
              <a:t> </a:t>
            </a:r>
            <a:r>
              <a:rPr sz="1700" b="0" dirty="0" err="1">
                <a:solidFill>
                  <a:srgbClr val="222222"/>
                </a:solidFill>
                <a:latin typeface="맑은 고딕"/>
              </a:rPr>
              <a:t>화면을</a:t>
            </a:r>
            <a:r>
              <a:rPr sz="1700" b="0" dirty="0">
                <a:solidFill>
                  <a:srgbClr val="222222"/>
                </a:solidFill>
                <a:latin typeface="맑은 고딕"/>
              </a:rPr>
              <a:t> </a:t>
            </a:r>
            <a:r>
              <a:rPr sz="1700" b="0" dirty="0" err="1">
                <a:solidFill>
                  <a:srgbClr val="222222"/>
                </a:solidFill>
                <a:latin typeface="맑은 고딕"/>
              </a:rPr>
              <a:t>두고</a:t>
            </a:r>
            <a:r>
              <a:rPr sz="1700" b="0" dirty="0">
                <a:solidFill>
                  <a:srgbClr val="222222"/>
                </a:solidFill>
                <a:latin typeface="맑은 고딕"/>
              </a:rPr>
              <a:t> SQL </a:t>
            </a:r>
            <a:r>
              <a:rPr sz="1700" b="0" dirty="0" err="1">
                <a:solidFill>
                  <a:srgbClr val="222222"/>
                </a:solidFill>
                <a:latin typeface="맑은 고딕"/>
              </a:rPr>
              <a:t>층위의</a:t>
            </a:r>
            <a:r>
              <a:rPr sz="1700" b="0" dirty="0">
                <a:solidFill>
                  <a:srgbClr val="222222"/>
                </a:solidFill>
                <a:latin typeface="맑은 고딕"/>
              </a:rPr>
              <a:t> </a:t>
            </a:r>
            <a:r>
              <a:rPr sz="1700" b="0" dirty="0" err="1">
                <a:solidFill>
                  <a:srgbClr val="222222"/>
                </a:solidFill>
                <a:latin typeface="맑은 고딕"/>
              </a:rPr>
              <a:t>질문과</a:t>
            </a:r>
            <a:r>
              <a:rPr sz="1700" b="0" dirty="0">
                <a:solidFill>
                  <a:srgbClr val="222222"/>
                </a:solidFill>
                <a:latin typeface="맑은 고딕"/>
              </a:rPr>
              <a:t> </a:t>
            </a:r>
            <a:r>
              <a:rPr sz="1700" b="0" dirty="0" err="1">
                <a:solidFill>
                  <a:srgbClr val="222222"/>
                </a:solidFill>
                <a:latin typeface="맑은 고딕"/>
              </a:rPr>
              <a:t>인스턴스</a:t>
            </a:r>
            <a:r>
              <a:rPr sz="1700" b="0" dirty="0">
                <a:solidFill>
                  <a:srgbClr val="222222"/>
                </a:solidFill>
                <a:latin typeface="맑은 고딕"/>
              </a:rPr>
              <a:t> </a:t>
            </a:r>
            <a:r>
              <a:rPr sz="1700" b="0" dirty="0" err="1">
                <a:solidFill>
                  <a:srgbClr val="222222"/>
                </a:solidFill>
                <a:latin typeface="맑은 고딕"/>
              </a:rPr>
              <a:t>층위의</a:t>
            </a:r>
            <a:r>
              <a:rPr sz="1700" b="0" dirty="0">
                <a:solidFill>
                  <a:srgbClr val="222222"/>
                </a:solidFill>
                <a:latin typeface="맑은 고딕"/>
              </a:rPr>
              <a:t> </a:t>
            </a:r>
            <a:r>
              <a:rPr sz="1700" b="0" dirty="0" err="1">
                <a:solidFill>
                  <a:srgbClr val="222222"/>
                </a:solidFill>
                <a:latin typeface="맑은 고딕"/>
              </a:rPr>
              <a:t>질문이</a:t>
            </a:r>
            <a:r>
              <a:rPr sz="1700" b="0" dirty="0">
                <a:solidFill>
                  <a:srgbClr val="222222"/>
                </a:solidFill>
                <a:latin typeface="맑은 고딕"/>
              </a:rPr>
              <a:t> </a:t>
            </a:r>
            <a:r>
              <a:rPr sz="1700" b="0" dirty="0" err="1">
                <a:solidFill>
                  <a:srgbClr val="222222"/>
                </a:solidFill>
                <a:latin typeface="맑은 고딕"/>
              </a:rPr>
              <a:t>어떻게</a:t>
            </a:r>
            <a:r>
              <a:rPr sz="1700" b="0" dirty="0">
                <a:solidFill>
                  <a:srgbClr val="222222"/>
                </a:solidFill>
                <a:latin typeface="맑은 고딕"/>
              </a:rPr>
              <a:t> </a:t>
            </a:r>
            <a:r>
              <a:rPr sz="1700" b="0" dirty="0" err="1">
                <a:solidFill>
                  <a:srgbClr val="222222"/>
                </a:solidFill>
                <a:latin typeface="맑은 고딕"/>
              </a:rPr>
              <a:t>다른지</a:t>
            </a:r>
            <a:r>
              <a:rPr sz="1700" b="0" dirty="0">
                <a:solidFill>
                  <a:srgbClr val="222222"/>
                </a:solidFill>
                <a:latin typeface="맑은 고딕"/>
              </a:rPr>
              <a:t> </a:t>
            </a:r>
            <a:r>
              <a:rPr sz="1700" b="0" dirty="0" err="1">
                <a:solidFill>
                  <a:srgbClr val="222222"/>
                </a:solidFill>
                <a:latin typeface="맑은 고딕"/>
              </a:rPr>
              <a:t>구분한다</a:t>
            </a:r>
            <a:r>
              <a:rPr sz="1700" b="0" dirty="0">
                <a:solidFill>
                  <a:srgbClr val="222222"/>
                </a:solidFill>
                <a:latin typeface="맑은 고딕"/>
              </a:rPr>
              <a:t>.</a:t>
            </a:r>
          </a:p>
          <a:p>
            <a:pPr>
              <a:spcAft>
                <a:spcPts val="800"/>
              </a:spcAft>
            </a:pPr>
            <a:r>
              <a:rPr sz="1700" b="0" dirty="0">
                <a:solidFill>
                  <a:srgbClr val="222222"/>
                </a:solidFill>
                <a:latin typeface="맑은 고딕"/>
              </a:rPr>
              <a:t>•  "내 SQL 이 </a:t>
            </a:r>
            <a:r>
              <a:rPr sz="1700" b="0" dirty="0" err="1">
                <a:solidFill>
                  <a:srgbClr val="222222"/>
                </a:solidFill>
                <a:latin typeface="맑은 고딕"/>
              </a:rPr>
              <a:t>아니라</a:t>
            </a:r>
            <a:r>
              <a:rPr sz="1700" b="0" dirty="0">
                <a:solidFill>
                  <a:srgbClr val="222222"/>
                </a:solidFill>
                <a:latin typeface="맑은 고딕"/>
              </a:rPr>
              <a:t> </a:t>
            </a:r>
            <a:r>
              <a:rPr sz="1700" b="0" dirty="0" err="1">
                <a:solidFill>
                  <a:srgbClr val="222222"/>
                </a:solidFill>
                <a:latin typeface="맑은 고딕"/>
              </a:rPr>
              <a:t>시스템이</a:t>
            </a:r>
            <a:r>
              <a:rPr sz="1700" b="0" dirty="0">
                <a:solidFill>
                  <a:srgbClr val="222222"/>
                </a:solidFill>
                <a:latin typeface="맑은 고딕"/>
              </a:rPr>
              <a:t> </a:t>
            </a:r>
            <a:r>
              <a:rPr sz="1700" b="0" dirty="0" err="1">
                <a:solidFill>
                  <a:srgbClr val="222222"/>
                </a:solidFill>
                <a:latin typeface="맑은 고딕"/>
              </a:rPr>
              <a:t>문제</a:t>
            </a:r>
            <a:r>
              <a:rPr sz="1700" b="0" dirty="0">
                <a:solidFill>
                  <a:srgbClr val="222222"/>
                </a:solidFill>
                <a:latin typeface="맑은 고딕"/>
              </a:rPr>
              <a:t>" </a:t>
            </a:r>
            <a:r>
              <a:rPr sz="1700" b="0" dirty="0" err="1">
                <a:solidFill>
                  <a:srgbClr val="222222"/>
                </a:solidFill>
                <a:latin typeface="맑은 고딕"/>
              </a:rPr>
              <a:t>인지</a:t>
            </a:r>
            <a:r>
              <a:rPr sz="1700" b="0" dirty="0">
                <a:solidFill>
                  <a:srgbClr val="222222"/>
                </a:solidFill>
                <a:latin typeface="맑은 고딕"/>
              </a:rPr>
              <a:t> </a:t>
            </a:r>
            <a:r>
              <a:rPr sz="1700" b="0" dirty="0" err="1">
                <a:solidFill>
                  <a:srgbClr val="222222"/>
                </a:solidFill>
                <a:latin typeface="맑은 고딕"/>
              </a:rPr>
              <a:t>판별하는</a:t>
            </a:r>
            <a:r>
              <a:rPr sz="1700" b="0" dirty="0">
                <a:solidFill>
                  <a:srgbClr val="222222"/>
                </a:solidFill>
                <a:latin typeface="맑은 고딕"/>
              </a:rPr>
              <a:t> 세 </a:t>
            </a:r>
            <a:r>
              <a:rPr sz="1700" b="0" dirty="0" err="1">
                <a:solidFill>
                  <a:srgbClr val="222222"/>
                </a:solidFill>
                <a:latin typeface="맑은 고딕"/>
              </a:rPr>
              <a:t>가지</a:t>
            </a:r>
            <a:r>
              <a:rPr sz="1700" b="0" dirty="0">
                <a:solidFill>
                  <a:srgbClr val="222222"/>
                </a:solidFill>
                <a:latin typeface="맑은 고딕"/>
              </a:rPr>
              <a:t> </a:t>
            </a:r>
            <a:r>
              <a:rPr sz="1700" b="0" dirty="0" err="1">
                <a:solidFill>
                  <a:srgbClr val="222222"/>
                </a:solidFill>
                <a:latin typeface="맑은 고딕"/>
              </a:rPr>
              <a:t>징후를</a:t>
            </a:r>
            <a:r>
              <a:rPr sz="1700" b="0" dirty="0">
                <a:solidFill>
                  <a:srgbClr val="222222"/>
                </a:solidFill>
                <a:latin typeface="맑은 고딕"/>
              </a:rPr>
              <a:t> V$ </a:t>
            </a:r>
            <a:r>
              <a:rPr sz="1700" b="0" dirty="0" err="1">
                <a:solidFill>
                  <a:srgbClr val="222222"/>
                </a:solidFill>
                <a:latin typeface="맑은 고딕"/>
              </a:rPr>
              <a:t>뷰로</a:t>
            </a:r>
            <a:r>
              <a:rPr sz="1700" b="0" dirty="0">
                <a:solidFill>
                  <a:srgbClr val="222222"/>
                </a:solidFill>
                <a:latin typeface="맑은 고딕"/>
              </a:rPr>
              <a:t> </a:t>
            </a:r>
            <a:r>
              <a:rPr sz="1700" b="0" dirty="0" err="1">
                <a:solidFill>
                  <a:srgbClr val="222222"/>
                </a:solidFill>
                <a:latin typeface="맑은 고딕"/>
              </a:rPr>
              <a:t>확인한다</a:t>
            </a:r>
            <a:r>
              <a:rPr sz="1700" b="0" dirty="0">
                <a:solidFill>
                  <a:srgbClr val="222222"/>
                </a:solidFill>
                <a:latin typeface="맑은 고딕"/>
              </a:rPr>
              <a:t>.</a:t>
            </a:r>
          </a:p>
        </p:txBody>
      </p:sp>
    </p:spTree>
    <p:extLst>
      <p:ext uri="{BB962C8B-B14F-4D97-AF65-F5344CB8AC3E}">
        <p14:creationId xmlns:p14="http://schemas.microsoft.com/office/powerpoint/2010/main" val="3431290901"/>
      </p:ext>
    </p:extLst>
  </p:cSld>
  <p:clrMapOvr>
    <a:masterClrMapping/>
  </p:clrMapOvr>
</p:sld>
</file>

<file path=ppt/slides/slide6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지금까지와 앞으로 — 층위가 바뀐다</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같은 데이터베이스, 다른 해상도</a:t>
            </a:r>
          </a:p>
        </p:txBody>
      </p:sp>
      <p:graphicFrame>
        <p:nvGraphicFramePr>
          <p:cNvPr id="5" name="Table 4"/>
          <p:cNvGraphicFramePr>
            <a:graphicFrameLocks noGrp="1"/>
          </p:cNvGraphicFramePr>
          <p:nvPr>
            <p:extLst>
              <p:ext uri="{D42A27DB-BD31-4B8C-83A1-F6EECF244321}">
                <p14:modId xmlns:p14="http://schemas.microsoft.com/office/powerpoint/2010/main" val="3924997109"/>
              </p:ext>
            </p:extLst>
          </p:nvPr>
        </p:nvGraphicFramePr>
        <p:xfrm>
          <a:off x="640080" y="1737360"/>
          <a:ext cx="10881359" cy="2743200"/>
        </p:xfrm>
        <a:graphic>
          <a:graphicData uri="http://schemas.openxmlformats.org/drawingml/2006/table">
            <a:tbl>
              <a:tblPr firstRow="1" bandRow="1">
                <a:tableStyleId>{5C22544A-7EE6-4342-B048-85BDC9FD1C3A}</a:tableStyleId>
              </a:tblPr>
              <a:tblGrid>
                <a:gridCol w="1523390">
                  <a:extLst>
                    <a:ext uri="{9D8B030D-6E8A-4147-A177-3AD203B41FA5}">
                      <a16:colId xmlns:a16="http://schemas.microsoft.com/office/drawing/2014/main" val="20000"/>
                    </a:ext>
                  </a:extLst>
                </a:gridCol>
                <a:gridCol w="4352544">
                  <a:extLst>
                    <a:ext uri="{9D8B030D-6E8A-4147-A177-3AD203B41FA5}">
                      <a16:colId xmlns:a16="http://schemas.microsoft.com/office/drawing/2014/main" val="20001"/>
                    </a:ext>
                  </a:extLst>
                </a:gridCol>
                <a:gridCol w="5005425">
                  <a:extLst>
                    <a:ext uri="{9D8B030D-6E8A-4147-A177-3AD203B41FA5}">
                      <a16:colId xmlns:a16="http://schemas.microsoft.com/office/drawing/2014/main" val="20002"/>
                    </a:ext>
                  </a:extLst>
                </a:gridCol>
              </a:tblGrid>
              <a:tr h="457200">
                <a:tc>
                  <a:txBody>
                    <a:bodyPr/>
                    <a:lstStyle/>
                    <a:p>
                      <a:endParaRPr/>
                    </a:p>
                  </a:txBody>
                  <a:tcPr>
                    <a:solidFill>
                      <a:srgbClr val="C0392B"/>
                    </a:solidFill>
                  </a:tcPr>
                </a:tc>
                <a:tc>
                  <a:txBody>
                    <a:bodyPr/>
                    <a:lstStyle/>
                    <a:p>
                      <a:r>
                        <a:rPr sz="1400" b="1" dirty="0">
                          <a:solidFill>
                            <a:srgbClr val="FFFFFF"/>
                          </a:solidFill>
                          <a:latin typeface="맑은 고딕"/>
                        </a:rPr>
                        <a:t>SQL </a:t>
                      </a:r>
                      <a:r>
                        <a:rPr sz="1400" b="1" dirty="0" err="1">
                          <a:solidFill>
                            <a:srgbClr val="FFFFFF"/>
                          </a:solidFill>
                          <a:latin typeface="맑은 고딕"/>
                        </a:rPr>
                        <a:t>부문</a:t>
                      </a:r>
                      <a:endParaRPr sz="1400" b="1" dirty="0">
                        <a:solidFill>
                          <a:srgbClr val="FFFFFF"/>
                        </a:solidFill>
                        <a:latin typeface="맑은 고딕"/>
                      </a:endParaRPr>
                    </a:p>
                  </a:txBody>
                  <a:tcPr>
                    <a:solidFill>
                      <a:srgbClr val="C0392B"/>
                    </a:solidFill>
                  </a:tcPr>
                </a:tc>
                <a:tc>
                  <a:txBody>
                    <a:bodyPr/>
                    <a:lstStyle/>
                    <a:p>
                      <a:r>
                        <a:rPr sz="1400" b="1" dirty="0" err="1">
                          <a:solidFill>
                            <a:srgbClr val="FFFFFF"/>
                          </a:solidFill>
                          <a:latin typeface="맑은 고딕"/>
                        </a:rPr>
                        <a:t>인스턴스</a:t>
                      </a:r>
                      <a:r>
                        <a:rPr sz="1400" b="1" dirty="0">
                          <a:solidFill>
                            <a:srgbClr val="FFFFFF"/>
                          </a:solidFill>
                          <a:latin typeface="맑은 고딕"/>
                        </a:rPr>
                        <a:t> </a:t>
                      </a:r>
                      <a:r>
                        <a:rPr sz="1400" b="1" dirty="0" err="1">
                          <a:solidFill>
                            <a:srgbClr val="FFFFFF"/>
                          </a:solidFill>
                          <a:latin typeface="맑은 고딕"/>
                        </a:rPr>
                        <a:t>부문</a:t>
                      </a:r>
                      <a:r>
                        <a:rPr sz="1400" b="1" dirty="0">
                          <a:solidFill>
                            <a:srgbClr val="FFFFFF"/>
                          </a:solidFill>
                          <a:latin typeface="맑은 고딕"/>
                        </a:rPr>
                        <a:t> </a:t>
                      </a:r>
                    </a:p>
                  </a:txBody>
                  <a:tcPr>
                    <a:solidFill>
                      <a:srgbClr val="C0392B"/>
                    </a:solidFill>
                  </a:tcPr>
                </a:tc>
                <a:extLst>
                  <a:ext uri="{0D108BD9-81ED-4DB2-BD59-A6C34878D82A}">
                    <a16:rowId xmlns:a16="http://schemas.microsoft.com/office/drawing/2014/main" val="10000"/>
                  </a:ext>
                </a:extLst>
              </a:tr>
              <a:tr h="457200">
                <a:tc>
                  <a:txBody>
                    <a:bodyPr/>
                    <a:lstStyle/>
                    <a:p>
                      <a:r>
                        <a:rPr sz="1300">
                          <a:solidFill>
                            <a:srgbClr val="222222"/>
                          </a:solidFill>
                          <a:latin typeface="맑은 고딕"/>
                        </a:rPr>
                        <a:t>대상</a:t>
                      </a:r>
                    </a:p>
                  </a:txBody>
                  <a:tcPr>
                    <a:solidFill>
                      <a:srgbClr val="FFFFFF"/>
                    </a:solidFill>
                  </a:tcPr>
                </a:tc>
                <a:tc>
                  <a:txBody>
                    <a:bodyPr/>
                    <a:lstStyle/>
                    <a:p>
                      <a:r>
                        <a:rPr sz="1300">
                          <a:solidFill>
                            <a:srgbClr val="222222"/>
                          </a:solidFill>
                          <a:latin typeface="맑은 고딕"/>
                        </a:rPr>
                        <a:t>SQL 한 문장</a:t>
                      </a:r>
                    </a:p>
                  </a:txBody>
                  <a:tcPr>
                    <a:solidFill>
                      <a:srgbClr val="FFFFFF"/>
                    </a:solidFill>
                  </a:tcPr>
                </a:tc>
                <a:tc>
                  <a:txBody>
                    <a:bodyPr/>
                    <a:lstStyle/>
                    <a:p>
                      <a:r>
                        <a:rPr sz="1300">
                          <a:solidFill>
                            <a:srgbClr val="222222"/>
                          </a:solidFill>
                          <a:latin typeface="맑은 고딕"/>
                        </a:rPr>
                        <a:t>인스턴스 전체·세션·시스템</a:t>
                      </a:r>
                    </a:p>
                  </a:txBody>
                  <a:tcPr>
                    <a:solidFill>
                      <a:srgbClr val="FFFFFF"/>
                    </a:solidFill>
                  </a:tcPr>
                </a:tc>
                <a:extLst>
                  <a:ext uri="{0D108BD9-81ED-4DB2-BD59-A6C34878D82A}">
                    <a16:rowId xmlns:a16="http://schemas.microsoft.com/office/drawing/2014/main" val="10001"/>
                  </a:ext>
                </a:extLst>
              </a:tr>
              <a:tr h="457200">
                <a:tc>
                  <a:txBody>
                    <a:bodyPr/>
                    <a:lstStyle/>
                    <a:p>
                      <a:r>
                        <a:rPr sz="1300">
                          <a:solidFill>
                            <a:srgbClr val="222222"/>
                          </a:solidFill>
                          <a:latin typeface="맑은 고딕"/>
                        </a:rPr>
                        <a:t>질문</a:t>
                      </a:r>
                    </a:p>
                  </a:txBody>
                  <a:tcPr>
                    <a:solidFill>
                      <a:srgbClr val="F7F7F7"/>
                    </a:solidFill>
                  </a:tcPr>
                </a:tc>
                <a:tc>
                  <a:txBody>
                    <a:bodyPr/>
                    <a:lstStyle/>
                    <a:p>
                      <a:r>
                        <a:rPr sz="1300">
                          <a:solidFill>
                            <a:srgbClr val="222222"/>
                          </a:solidFill>
                          <a:latin typeface="맑은 고딕"/>
                        </a:rPr>
                        <a:t>이 SQL 은 왜 느리고 어떻게 고치는가</a:t>
                      </a:r>
                    </a:p>
                  </a:txBody>
                  <a:tcPr>
                    <a:solidFill>
                      <a:srgbClr val="F7F7F7"/>
                    </a:solidFill>
                  </a:tcPr>
                </a:tc>
                <a:tc>
                  <a:txBody>
                    <a:bodyPr/>
                    <a:lstStyle/>
                    <a:p>
                      <a:r>
                        <a:rPr sz="1300">
                          <a:solidFill>
                            <a:srgbClr val="222222"/>
                          </a:solidFill>
                          <a:latin typeface="맑은 고딕"/>
                        </a:rPr>
                        <a:t>어느 SQL 이, 어떤 대기 때문에, DB Time 의 몇 % 를 쓰는가</a:t>
                      </a:r>
                    </a:p>
                  </a:txBody>
                  <a:tcPr>
                    <a:solidFill>
                      <a:srgbClr val="F7F7F7"/>
                    </a:solidFill>
                  </a:tcPr>
                </a:tc>
                <a:extLst>
                  <a:ext uri="{0D108BD9-81ED-4DB2-BD59-A6C34878D82A}">
                    <a16:rowId xmlns:a16="http://schemas.microsoft.com/office/drawing/2014/main" val="10002"/>
                  </a:ext>
                </a:extLst>
              </a:tr>
              <a:tr h="457200">
                <a:tc>
                  <a:txBody>
                    <a:bodyPr/>
                    <a:lstStyle/>
                    <a:p>
                      <a:r>
                        <a:rPr sz="1300">
                          <a:solidFill>
                            <a:srgbClr val="222222"/>
                          </a:solidFill>
                          <a:latin typeface="맑은 고딕"/>
                        </a:rPr>
                        <a:t>도구</a:t>
                      </a:r>
                    </a:p>
                  </a:txBody>
                  <a:tcPr>
                    <a:solidFill>
                      <a:srgbClr val="FFFFFF"/>
                    </a:solidFill>
                  </a:tcPr>
                </a:tc>
                <a:tc>
                  <a:txBody>
                    <a:bodyPr/>
                    <a:lstStyle/>
                    <a:p>
                      <a:r>
                        <a:rPr sz="1300">
                          <a:solidFill>
                            <a:srgbClr val="222222"/>
                          </a:solidFill>
                          <a:latin typeface="맑은 고딕"/>
                        </a:rPr>
                        <a:t>DBMS_XPLAN, 실행 통계, 인덱스, 힌트</a:t>
                      </a:r>
                    </a:p>
                  </a:txBody>
                  <a:tcPr>
                    <a:solidFill>
                      <a:srgbClr val="FFFFFF"/>
                    </a:solidFill>
                  </a:tcPr>
                </a:tc>
                <a:tc>
                  <a:txBody>
                    <a:bodyPr/>
                    <a:lstStyle/>
                    <a:p>
                      <a:r>
                        <a:rPr sz="1300">
                          <a:solidFill>
                            <a:srgbClr val="222222"/>
                          </a:solidFill>
                          <a:latin typeface="맑은 고딕"/>
                        </a:rPr>
                        <a:t>V$ 시간 모델, AWR/ADDM/ASH, 대기 이벤트, 어드바이저</a:t>
                      </a:r>
                    </a:p>
                  </a:txBody>
                  <a:tcPr>
                    <a:solidFill>
                      <a:srgbClr val="FFFFFF"/>
                    </a:solidFill>
                  </a:tcPr>
                </a:tc>
                <a:extLst>
                  <a:ext uri="{0D108BD9-81ED-4DB2-BD59-A6C34878D82A}">
                    <a16:rowId xmlns:a16="http://schemas.microsoft.com/office/drawing/2014/main" val="10003"/>
                  </a:ext>
                </a:extLst>
              </a:tr>
              <a:tr h="457200">
                <a:tc>
                  <a:txBody>
                    <a:bodyPr/>
                    <a:lstStyle/>
                    <a:p>
                      <a:r>
                        <a:rPr sz="1300">
                          <a:solidFill>
                            <a:srgbClr val="222222"/>
                          </a:solidFill>
                          <a:latin typeface="맑은 고딕"/>
                        </a:rPr>
                        <a:t>측정 단위</a:t>
                      </a:r>
                    </a:p>
                  </a:txBody>
                  <a:tcPr>
                    <a:solidFill>
                      <a:srgbClr val="F7F7F7"/>
                    </a:solidFill>
                  </a:tcPr>
                </a:tc>
                <a:tc>
                  <a:txBody>
                    <a:bodyPr/>
                    <a:lstStyle/>
                    <a:p>
                      <a:r>
                        <a:rPr sz="1300">
                          <a:solidFill>
                            <a:srgbClr val="222222"/>
                          </a:solidFill>
                          <a:latin typeface="맑은 고딕"/>
                        </a:rPr>
                        <a:t>Buffers · Reads · A-Rows/E-Rows · Elapsed</a:t>
                      </a:r>
                    </a:p>
                  </a:txBody>
                  <a:tcPr>
                    <a:solidFill>
                      <a:srgbClr val="F7F7F7"/>
                    </a:solidFill>
                  </a:tcPr>
                </a:tc>
                <a:tc>
                  <a:txBody>
                    <a:bodyPr/>
                    <a:lstStyle/>
                    <a:p>
                      <a:r>
                        <a:rPr sz="1300">
                          <a:solidFill>
                            <a:srgbClr val="222222"/>
                          </a:solidFill>
                          <a:latin typeface="맑은 고딕"/>
                        </a:rPr>
                        <a:t>DB Time · DB CPU · 대기 클래스별 시간 · 델타</a:t>
                      </a:r>
                    </a:p>
                  </a:txBody>
                  <a:tcPr>
                    <a:solidFill>
                      <a:srgbClr val="F7F7F7"/>
                    </a:solidFill>
                  </a:tcPr>
                </a:tc>
                <a:extLst>
                  <a:ext uri="{0D108BD9-81ED-4DB2-BD59-A6C34878D82A}">
                    <a16:rowId xmlns:a16="http://schemas.microsoft.com/office/drawing/2014/main" val="10004"/>
                  </a:ext>
                </a:extLst>
              </a:tr>
              <a:tr h="457200">
                <a:tc>
                  <a:txBody>
                    <a:bodyPr/>
                    <a:lstStyle/>
                    <a:p>
                      <a:r>
                        <a:rPr sz="1300">
                          <a:solidFill>
                            <a:srgbClr val="222222"/>
                          </a:solidFill>
                          <a:latin typeface="맑은 고딕"/>
                        </a:rPr>
                        <a:t>종착점</a:t>
                      </a:r>
                    </a:p>
                  </a:txBody>
                  <a:tcPr>
                    <a:solidFill>
                      <a:srgbClr val="FFFFFF"/>
                    </a:solidFill>
                  </a:tcPr>
                </a:tc>
                <a:tc>
                  <a:txBody>
                    <a:bodyPr/>
                    <a:lstStyle/>
                    <a:p>
                      <a:r>
                        <a:rPr sz="1300">
                          <a:solidFill>
                            <a:srgbClr val="222222"/>
                          </a:solidFill>
                          <a:latin typeface="맑은 고딕"/>
                        </a:rPr>
                        <a:t>실행계획이 바뀌고 Buffers 가 줄었다</a:t>
                      </a:r>
                    </a:p>
                  </a:txBody>
                  <a:tcPr>
                    <a:solidFill>
                      <a:srgbClr val="FFFFFF"/>
                    </a:solidFill>
                  </a:tcPr>
                </a:tc>
                <a:tc>
                  <a:txBody>
                    <a:bodyPr/>
                    <a:lstStyle/>
                    <a:p>
                      <a:r>
                        <a:rPr sz="1300" dirty="0" err="1">
                          <a:solidFill>
                            <a:srgbClr val="222222"/>
                          </a:solidFill>
                          <a:latin typeface="맑은 고딕"/>
                        </a:rPr>
                        <a:t>시스템</a:t>
                      </a:r>
                      <a:r>
                        <a:rPr sz="1300" dirty="0">
                          <a:solidFill>
                            <a:srgbClr val="222222"/>
                          </a:solidFill>
                          <a:latin typeface="맑은 고딕"/>
                        </a:rPr>
                        <a:t> </a:t>
                      </a:r>
                      <a:r>
                        <a:rPr sz="1300" dirty="0" err="1">
                          <a:solidFill>
                            <a:srgbClr val="222222"/>
                          </a:solidFill>
                          <a:latin typeface="맑은 고딕"/>
                        </a:rPr>
                        <a:t>전체</a:t>
                      </a:r>
                      <a:r>
                        <a:rPr sz="1300" dirty="0">
                          <a:solidFill>
                            <a:srgbClr val="222222"/>
                          </a:solidFill>
                          <a:latin typeface="맑은 고딕"/>
                        </a:rPr>
                        <a:t> DB Time 이 </a:t>
                      </a:r>
                      <a:r>
                        <a:rPr sz="1300" dirty="0" err="1">
                          <a:solidFill>
                            <a:srgbClr val="222222"/>
                          </a:solidFill>
                          <a:latin typeface="맑은 고딕"/>
                        </a:rPr>
                        <a:t>줄었고</a:t>
                      </a:r>
                      <a:r>
                        <a:rPr sz="1300" dirty="0">
                          <a:solidFill>
                            <a:srgbClr val="222222"/>
                          </a:solidFill>
                          <a:latin typeface="맑은 고딕"/>
                        </a:rPr>
                        <a:t> </a:t>
                      </a:r>
                      <a:r>
                        <a:rPr sz="1300" dirty="0" err="1">
                          <a:solidFill>
                            <a:srgbClr val="222222"/>
                          </a:solidFill>
                          <a:latin typeface="맑은 고딕"/>
                        </a:rPr>
                        <a:t>상위</a:t>
                      </a:r>
                      <a:r>
                        <a:rPr sz="1300" dirty="0">
                          <a:solidFill>
                            <a:srgbClr val="222222"/>
                          </a:solidFill>
                          <a:latin typeface="맑은 고딕"/>
                        </a:rPr>
                        <a:t> </a:t>
                      </a:r>
                      <a:r>
                        <a:rPr sz="1300" dirty="0" err="1">
                          <a:solidFill>
                            <a:srgbClr val="222222"/>
                          </a:solidFill>
                          <a:latin typeface="맑은 고딕"/>
                        </a:rPr>
                        <a:t>대기가</a:t>
                      </a:r>
                      <a:r>
                        <a:rPr sz="1300" dirty="0">
                          <a:solidFill>
                            <a:srgbClr val="222222"/>
                          </a:solidFill>
                          <a:latin typeface="맑은 고딕"/>
                        </a:rPr>
                        <a:t> </a:t>
                      </a:r>
                      <a:r>
                        <a:rPr sz="1300" dirty="0" err="1">
                          <a:solidFill>
                            <a:srgbClr val="222222"/>
                          </a:solidFill>
                          <a:latin typeface="맑은 고딕"/>
                        </a:rPr>
                        <a:t>바뀌었다</a:t>
                      </a:r>
                      <a:endParaRPr sz="1300" dirty="0">
                        <a:solidFill>
                          <a:srgbClr val="222222"/>
                        </a:solidFill>
                        <a:latin typeface="맑은 고딕"/>
                      </a:endParaRPr>
                    </a:p>
                  </a:txBody>
                  <a:tcP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387016917"/>
      </p:ext>
    </p:extLst>
  </p:cSld>
  <p:clrMapOvr>
    <a:masterClrMapping/>
  </p:clrMapOvr>
</p:sld>
</file>

<file path=ppt/slides/slide6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같은 화면, 두 개의 질문</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"청구 조회 화면이 느리다" 는 신고를 받았을 때</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SQL 층위의 질문 — 그 화면이 실행하는 SQL 의 실행계획은 무엇이고, Buffers 는 얼마이며, 인덱스를 타는가? → Day 1~4 의 방법으로 답한다.</a:t>
            </a:r>
          </a:p>
          <a:p>
            <a:pPr>
              <a:spcAft>
                <a:spcPts val="800"/>
              </a:spcAft>
            </a:pPr>
            <a:r>
              <a:rPr sz="1700" b="0">
                <a:solidFill>
                  <a:srgbClr val="222222"/>
                </a:solidFill>
                <a:latin typeface="맑은 고딕"/>
              </a:rPr>
              <a:t>•  인스턴스 층위의 질문 — 그 시각 인스턴스의 DB Time 은 평소 대비 얼마나 늘었고, 늘어난 시간은 CPU 인가 대기인가, 대기라면 어떤 클래스인가? → Day 6~8 의 방법으로 답한다.</a:t>
            </a:r>
          </a:p>
          <a:p>
            <a:pPr>
              <a:spcAft>
                <a:spcPts val="800"/>
              </a:spcAft>
            </a:pPr>
            <a:r>
              <a:rPr sz="1700" b="0">
                <a:solidFill>
                  <a:srgbClr val="222222"/>
                </a:solidFill>
                <a:latin typeface="맑은 고딕"/>
              </a:rPr>
              <a:t>•  두 질문의 답이 어긋날 때가 진짜 문제다 — SQL 은 그대로인데 느려졌다면 원인은 SQL 밖에 있다.</a:t>
            </a:r>
          </a:p>
          <a:p>
            <a:pPr>
              <a:spcAft>
                <a:spcPts val="800"/>
              </a:spcAft>
            </a:pPr>
            <a:r>
              <a:rPr sz="1700" b="0">
                <a:solidFill>
                  <a:srgbClr val="222222"/>
                </a:solidFill>
                <a:latin typeface="맑은 고딕"/>
              </a:rPr>
              <a:t>•  그래서 순서가 중요하다 — 인스턴스 층위에서 범위를 좁힌 뒤 SQL 층위로 내려간다. 거꾸로 하면 멀쩡한 SQL 을 고치느라 하루를 쓴다.</a:t>
            </a:r>
          </a:p>
        </p:txBody>
      </p:sp>
    </p:spTree>
    <p:extLst>
      <p:ext uri="{BB962C8B-B14F-4D97-AF65-F5344CB8AC3E}">
        <p14:creationId xmlns:p14="http://schemas.microsoft.com/office/powerpoint/2010/main" val="931996199"/>
      </p:ext>
    </p:extLst>
  </p:cSld>
  <p:clrMapOvr>
    <a:masterClrMapping/>
  </p:clrMapOvr>
</p:sld>
</file>

<file path=ppt/slides/slide6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"내 SQL 이 아니라 시스템이 문제" — 세 가지 징후</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이 셋 중 하나라도 보이면 SQL 을 고치기 전에 멈춘다</a:t>
            </a:r>
          </a:p>
        </p:txBody>
      </p:sp>
      <p:sp>
        <p:nvSpPr>
          <p:cNvPr id="5" name="TextBox 4"/>
          <p:cNvSpPr txBox="1"/>
          <p:nvPr/>
        </p:nvSpPr>
        <p:spPr>
          <a:xfrm>
            <a:off x="640080" y="1737360"/>
            <a:ext cx="10881360" cy="2492990"/>
          </a:xfrm>
          <a:prstGeom prst="rect">
            <a:avLst/>
          </a:prstGeom>
          <a:noFill/>
        </p:spPr>
        <p:txBody>
          <a:bodyPr wrap="square">
            <a:spAutoFit/>
          </a:bodyPr>
          <a:lstStyle/>
          <a:p>
            <a:pPr>
              <a:spcAft>
                <a:spcPts val="800"/>
              </a:spcAft>
            </a:pPr>
            <a:r>
              <a:rPr sz="1700" b="0" dirty="0">
                <a:solidFill>
                  <a:srgbClr val="222222"/>
                </a:solidFill>
                <a:latin typeface="맑은 고딕"/>
              </a:rPr>
              <a:t>•  ① </a:t>
            </a:r>
            <a:r>
              <a:rPr sz="1700" b="0" dirty="0" err="1">
                <a:solidFill>
                  <a:srgbClr val="222222"/>
                </a:solidFill>
                <a:latin typeface="맑은 고딕"/>
              </a:rPr>
              <a:t>실행계획과</a:t>
            </a:r>
            <a:r>
              <a:rPr sz="1700" b="0" dirty="0">
                <a:solidFill>
                  <a:srgbClr val="222222"/>
                </a:solidFill>
                <a:latin typeface="맑은 고딕"/>
              </a:rPr>
              <a:t> Buffers 는 </a:t>
            </a:r>
            <a:r>
              <a:rPr sz="1700" b="0" dirty="0" err="1">
                <a:solidFill>
                  <a:srgbClr val="222222"/>
                </a:solidFill>
                <a:latin typeface="맑은 고딕"/>
              </a:rPr>
              <a:t>그대로인데</a:t>
            </a:r>
            <a:r>
              <a:rPr sz="1700" b="0" dirty="0">
                <a:solidFill>
                  <a:srgbClr val="222222"/>
                </a:solidFill>
                <a:latin typeface="맑은 고딕"/>
              </a:rPr>
              <a:t> Elapsed 만 </a:t>
            </a:r>
            <a:r>
              <a:rPr sz="1700" b="0" dirty="0" err="1">
                <a:solidFill>
                  <a:srgbClr val="222222"/>
                </a:solidFill>
                <a:latin typeface="맑은 고딕"/>
              </a:rPr>
              <a:t>늘었다</a:t>
            </a:r>
            <a:r>
              <a:rPr sz="1700" b="0" dirty="0">
                <a:solidFill>
                  <a:srgbClr val="222222"/>
                </a:solidFill>
                <a:latin typeface="맑은 고딕"/>
              </a:rPr>
              <a:t> — </a:t>
            </a:r>
            <a:r>
              <a:rPr sz="1700" b="0" dirty="0" err="1">
                <a:solidFill>
                  <a:srgbClr val="222222"/>
                </a:solidFill>
                <a:latin typeface="맑은 고딕"/>
              </a:rPr>
              <a:t>논리</a:t>
            </a:r>
            <a:r>
              <a:rPr sz="1700" b="0" dirty="0">
                <a:solidFill>
                  <a:srgbClr val="222222"/>
                </a:solidFill>
                <a:latin typeface="맑은 고딕"/>
              </a:rPr>
              <a:t> </a:t>
            </a:r>
            <a:r>
              <a:rPr sz="1700" b="0" dirty="0" err="1">
                <a:solidFill>
                  <a:srgbClr val="222222"/>
                </a:solidFill>
                <a:latin typeface="맑은 고딕"/>
              </a:rPr>
              <a:t>읽기</a:t>
            </a:r>
            <a:r>
              <a:rPr sz="1700" b="0" dirty="0">
                <a:solidFill>
                  <a:srgbClr val="222222"/>
                </a:solidFill>
                <a:latin typeface="맑은 고딕"/>
              </a:rPr>
              <a:t> 한 </a:t>
            </a:r>
            <a:r>
              <a:rPr sz="1700" b="0" dirty="0" err="1">
                <a:solidFill>
                  <a:srgbClr val="222222"/>
                </a:solidFill>
                <a:latin typeface="맑은 고딕"/>
              </a:rPr>
              <a:t>번당</a:t>
            </a:r>
            <a:r>
              <a:rPr sz="1700" b="0" dirty="0">
                <a:solidFill>
                  <a:srgbClr val="222222"/>
                </a:solidFill>
                <a:latin typeface="맑은 고딕"/>
              </a:rPr>
              <a:t> </a:t>
            </a:r>
            <a:r>
              <a:rPr sz="1700" b="0" dirty="0" err="1">
                <a:solidFill>
                  <a:srgbClr val="222222"/>
                </a:solidFill>
                <a:latin typeface="맑은 고딕"/>
              </a:rPr>
              <a:t>시간이</a:t>
            </a:r>
            <a:r>
              <a:rPr sz="1700" b="0" dirty="0">
                <a:solidFill>
                  <a:srgbClr val="222222"/>
                </a:solidFill>
                <a:latin typeface="맑은 고딕"/>
              </a:rPr>
              <a:t> </a:t>
            </a:r>
            <a:r>
              <a:rPr sz="1700" b="0" dirty="0" err="1">
                <a:solidFill>
                  <a:srgbClr val="222222"/>
                </a:solidFill>
                <a:latin typeface="맑은 고딕"/>
              </a:rPr>
              <a:t>늘어난</a:t>
            </a:r>
            <a:r>
              <a:rPr sz="1700" b="0" dirty="0">
                <a:solidFill>
                  <a:srgbClr val="222222"/>
                </a:solidFill>
                <a:latin typeface="맑은 고딕"/>
              </a:rPr>
              <a:t> </a:t>
            </a:r>
            <a:r>
              <a:rPr sz="1700" b="0" dirty="0" err="1">
                <a:solidFill>
                  <a:srgbClr val="222222"/>
                </a:solidFill>
                <a:latin typeface="맑은 고딕"/>
              </a:rPr>
              <a:t>것이므로</a:t>
            </a:r>
            <a:r>
              <a:rPr sz="1700" b="0" dirty="0">
                <a:solidFill>
                  <a:srgbClr val="222222"/>
                </a:solidFill>
                <a:latin typeface="맑은 고딕"/>
              </a:rPr>
              <a:t> I/</a:t>
            </a:r>
            <a:r>
              <a:rPr sz="1700" b="0" dirty="0" err="1">
                <a:solidFill>
                  <a:srgbClr val="222222"/>
                </a:solidFill>
                <a:latin typeface="맑은 고딕"/>
              </a:rPr>
              <a:t>O·CPU·대기</a:t>
            </a:r>
            <a:r>
              <a:rPr sz="1700" b="0" dirty="0">
                <a:solidFill>
                  <a:srgbClr val="222222"/>
                </a:solidFill>
                <a:latin typeface="맑은 고딕"/>
              </a:rPr>
              <a:t> 쪽 </a:t>
            </a:r>
            <a:r>
              <a:rPr sz="1700" b="0" dirty="0" err="1">
                <a:solidFill>
                  <a:srgbClr val="222222"/>
                </a:solidFill>
                <a:latin typeface="맑은 고딕"/>
              </a:rPr>
              <a:t>문제다</a:t>
            </a:r>
            <a:r>
              <a:rPr sz="1700" b="0" dirty="0">
                <a:solidFill>
                  <a:srgbClr val="222222"/>
                </a:solidFill>
                <a:latin typeface="맑은 고딕"/>
              </a:rPr>
              <a:t> ( ch27,  ch34).</a:t>
            </a:r>
          </a:p>
          <a:p>
            <a:pPr>
              <a:spcAft>
                <a:spcPts val="800"/>
              </a:spcAft>
            </a:pPr>
            <a:r>
              <a:rPr sz="1700" b="0" dirty="0">
                <a:solidFill>
                  <a:srgbClr val="222222"/>
                </a:solidFill>
                <a:latin typeface="맑은 고딕"/>
              </a:rPr>
              <a:t>•  ② 내 SQL 의 Elapsed </a:t>
            </a:r>
            <a:r>
              <a:rPr sz="1700" b="0" dirty="0" err="1">
                <a:solidFill>
                  <a:srgbClr val="222222"/>
                </a:solidFill>
                <a:latin typeface="맑은 고딕"/>
              </a:rPr>
              <a:t>합이</a:t>
            </a:r>
            <a:r>
              <a:rPr sz="1700" b="0" dirty="0">
                <a:solidFill>
                  <a:srgbClr val="222222"/>
                </a:solidFill>
                <a:latin typeface="맑은 고딕"/>
              </a:rPr>
              <a:t> </a:t>
            </a:r>
            <a:r>
              <a:rPr sz="1700" b="0" dirty="0" err="1">
                <a:solidFill>
                  <a:srgbClr val="222222"/>
                </a:solidFill>
                <a:latin typeface="맑은 고딕"/>
              </a:rPr>
              <a:t>인스턴스</a:t>
            </a:r>
            <a:r>
              <a:rPr sz="1700" b="0" dirty="0">
                <a:solidFill>
                  <a:srgbClr val="222222"/>
                </a:solidFill>
                <a:latin typeface="맑은 고딕"/>
              </a:rPr>
              <a:t> DB Time 의 몇 % 도 안 </a:t>
            </a:r>
            <a:r>
              <a:rPr sz="1700" b="0" dirty="0" err="1">
                <a:solidFill>
                  <a:srgbClr val="222222"/>
                </a:solidFill>
                <a:latin typeface="맑은 고딕"/>
              </a:rPr>
              <a:t>된다</a:t>
            </a:r>
            <a:r>
              <a:rPr sz="1700" b="0" dirty="0">
                <a:solidFill>
                  <a:srgbClr val="222222"/>
                </a:solidFill>
                <a:latin typeface="맑은 고딕"/>
              </a:rPr>
              <a:t> — 내 SQL 을 0 </a:t>
            </a:r>
            <a:r>
              <a:rPr sz="1700" b="0" dirty="0" err="1">
                <a:solidFill>
                  <a:srgbClr val="222222"/>
                </a:solidFill>
                <a:latin typeface="맑은 고딕"/>
              </a:rPr>
              <a:t>으로</a:t>
            </a:r>
            <a:r>
              <a:rPr sz="1700" b="0" dirty="0">
                <a:solidFill>
                  <a:srgbClr val="222222"/>
                </a:solidFill>
                <a:latin typeface="맑은 고딕"/>
              </a:rPr>
              <a:t> </a:t>
            </a:r>
            <a:r>
              <a:rPr sz="1700" b="0" dirty="0" err="1">
                <a:solidFill>
                  <a:srgbClr val="222222"/>
                </a:solidFill>
                <a:latin typeface="맑은 고딕"/>
              </a:rPr>
              <a:t>만들어도</a:t>
            </a:r>
            <a:r>
              <a:rPr sz="1700" b="0" dirty="0">
                <a:solidFill>
                  <a:srgbClr val="222222"/>
                </a:solidFill>
                <a:latin typeface="맑은 고딕"/>
              </a:rPr>
              <a:t> </a:t>
            </a:r>
            <a:r>
              <a:rPr sz="1700" b="0" dirty="0" err="1">
                <a:solidFill>
                  <a:srgbClr val="222222"/>
                </a:solidFill>
                <a:latin typeface="맑은 고딕"/>
              </a:rPr>
              <a:t>시스템은</a:t>
            </a:r>
            <a:r>
              <a:rPr sz="1700" b="0" dirty="0">
                <a:solidFill>
                  <a:srgbClr val="222222"/>
                </a:solidFill>
                <a:latin typeface="맑은 고딕"/>
              </a:rPr>
              <a:t> </a:t>
            </a:r>
            <a:r>
              <a:rPr sz="1700" b="0" dirty="0" err="1">
                <a:solidFill>
                  <a:srgbClr val="222222"/>
                </a:solidFill>
                <a:latin typeface="맑은 고딕"/>
              </a:rPr>
              <a:t>그대로다</a:t>
            </a:r>
            <a:r>
              <a:rPr sz="1700" b="0" dirty="0">
                <a:solidFill>
                  <a:srgbClr val="222222"/>
                </a:solidFill>
                <a:latin typeface="맑은 고딕"/>
              </a:rPr>
              <a:t>. </a:t>
            </a:r>
            <a:r>
              <a:rPr sz="1700" b="0" dirty="0" err="1">
                <a:solidFill>
                  <a:srgbClr val="222222"/>
                </a:solidFill>
                <a:latin typeface="맑은 고딕"/>
              </a:rPr>
              <a:t>상위</a:t>
            </a:r>
            <a:r>
              <a:rPr sz="1700" b="0" dirty="0">
                <a:solidFill>
                  <a:srgbClr val="222222"/>
                </a:solidFill>
                <a:latin typeface="맑은 고딕"/>
              </a:rPr>
              <a:t> SQL </a:t>
            </a:r>
            <a:r>
              <a:rPr sz="1700" b="0" dirty="0" err="1">
                <a:solidFill>
                  <a:srgbClr val="222222"/>
                </a:solidFill>
                <a:latin typeface="맑은 고딕"/>
              </a:rPr>
              <a:t>부터</a:t>
            </a:r>
            <a:r>
              <a:rPr sz="1700" b="0" dirty="0">
                <a:solidFill>
                  <a:srgbClr val="222222"/>
                </a:solidFill>
                <a:latin typeface="맑은 고딕"/>
              </a:rPr>
              <a:t> </a:t>
            </a:r>
            <a:r>
              <a:rPr sz="1700" b="0" dirty="0" err="1">
                <a:solidFill>
                  <a:srgbClr val="222222"/>
                </a:solidFill>
                <a:latin typeface="맑은 고딕"/>
              </a:rPr>
              <a:t>찾아야</a:t>
            </a:r>
            <a:r>
              <a:rPr sz="1700" b="0" dirty="0">
                <a:solidFill>
                  <a:srgbClr val="222222"/>
                </a:solidFill>
                <a:latin typeface="맑은 고딕"/>
              </a:rPr>
              <a:t> </a:t>
            </a:r>
            <a:r>
              <a:rPr sz="1700" b="0" dirty="0" err="1">
                <a:solidFill>
                  <a:srgbClr val="222222"/>
                </a:solidFill>
                <a:latin typeface="맑은 고딕"/>
              </a:rPr>
              <a:t>한다</a:t>
            </a:r>
            <a:r>
              <a:rPr sz="1700" b="0" dirty="0">
                <a:solidFill>
                  <a:srgbClr val="222222"/>
                </a:solidFill>
                <a:latin typeface="맑은 고딕"/>
              </a:rPr>
              <a:t> ( ch22 SQL </a:t>
            </a:r>
            <a:r>
              <a:rPr sz="1700" b="0" dirty="0" err="1">
                <a:solidFill>
                  <a:srgbClr val="222222"/>
                </a:solidFill>
                <a:latin typeface="맑은 고딕"/>
              </a:rPr>
              <a:t>섹션</a:t>
            </a:r>
            <a:r>
              <a:rPr sz="1700" b="0" dirty="0">
                <a:solidFill>
                  <a:srgbClr val="222222"/>
                </a:solidFill>
                <a:latin typeface="맑은 고딕"/>
              </a:rPr>
              <a:t>).</a:t>
            </a:r>
          </a:p>
          <a:p>
            <a:pPr>
              <a:spcAft>
                <a:spcPts val="800"/>
              </a:spcAft>
            </a:pPr>
            <a:r>
              <a:rPr sz="1700" b="0" dirty="0">
                <a:solidFill>
                  <a:srgbClr val="222222"/>
                </a:solidFill>
                <a:latin typeface="맑은 고딕"/>
              </a:rPr>
              <a:t>•  ③ </a:t>
            </a:r>
            <a:r>
              <a:rPr sz="1700" b="0" dirty="0" err="1">
                <a:solidFill>
                  <a:srgbClr val="222222"/>
                </a:solidFill>
                <a:latin typeface="맑은 고딕"/>
              </a:rPr>
              <a:t>특정</a:t>
            </a:r>
            <a:r>
              <a:rPr sz="1700" b="0" dirty="0">
                <a:solidFill>
                  <a:srgbClr val="222222"/>
                </a:solidFill>
                <a:latin typeface="맑은 고딕"/>
              </a:rPr>
              <a:t> </a:t>
            </a:r>
            <a:r>
              <a:rPr sz="1700" b="0" dirty="0" err="1">
                <a:solidFill>
                  <a:srgbClr val="222222"/>
                </a:solidFill>
                <a:latin typeface="맑은 고딕"/>
              </a:rPr>
              <a:t>시간대에만</a:t>
            </a:r>
            <a:r>
              <a:rPr sz="1700" b="0" dirty="0">
                <a:solidFill>
                  <a:srgbClr val="222222"/>
                </a:solidFill>
                <a:latin typeface="맑은 고딕"/>
              </a:rPr>
              <a:t> </a:t>
            </a:r>
            <a:r>
              <a:rPr sz="1700" b="0" dirty="0" err="1">
                <a:solidFill>
                  <a:srgbClr val="222222"/>
                </a:solidFill>
                <a:latin typeface="맑은 고딕"/>
              </a:rPr>
              <a:t>느리다</a:t>
            </a:r>
            <a:r>
              <a:rPr sz="1700" b="0" dirty="0">
                <a:solidFill>
                  <a:srgbClr val="222222"/>
                </a:solidFill>
                <a:latin typeface="맑은 고딕"/>
              </a:rPr>
              <a:t> — SQL 이 </a:t>
            </a:r>
            <a:r>
              <a:rPr sz="1700" b="0" dirty="0" err="1">
                <a:solidFill>
                  <a:srgbClr val="222222"/>
                </a:solidFill>
                <a:latin typeface="맑은 고딕"/>
              </a:rPr>
              <a:t>시간대를</a:t>
            </a:r>
            <a:r>
              <a:rPr sz="1700" b="0" dirty="0">
                <a:solidFill>
                  <a:srgbClr val="222222"/>
                </a:solidFill>
                <a:latin typeface="맑은 고딕"/>
              </a:rPr>
              <a:t> </a:t>
            </a:r>
            <a:r>
              <a:rPr sz="1700" b="0" dirty="0" err="1">
                <a:solidFill>
                  <a:srgbClr val="222222"/>
                </a:solidFill>
                <a:latin typeface="맑은 고딕"/>
              </a:rPr>
              <a:t>가릴</a:t>
            </a:r>
            <a:r>
              <a:rPr sz="1700" b="0" dirty="0">
                <a:solidFill>
                  <a:srgbClr val="222222"/>
                </a:solidFill>
                <a:latin typeface="맑은 고딕"/>
              </a:rPr>
              <a:t> 리 </a:t>
            </a:r>
            <a:r>
              <a:rPr sz="1700" b="0" dirty="0" err="1">
                <a:solidFill>
                  <a:srgbClr val="222222"/>
                </a:solidFill>
                <a:latin typeface="맑은 고딕"/>
              </a:rPr>
              <a:t>없다</a:t>
            </a:r>
            <a:r>
              <a:rPr sz="1700" b="0" dirty="0">
                <a:solidFill>
                  <a:srgbClr val="222222"/>
                </a:solidFill>
                <a:latin typeface="맑은 고딕"/>
              </a:rPr>
              <a:t>. 그 </a:t>
            </a:r>
            <a:r>
              <a:rPr sz="1700" b="0" dirty="0" err="1">
                <a:solidFill>
                  <a:srgbClr val="222222"/>
                </a:solidFill>
                <a:latin typeface="맑은 고딕"/>
              </a:rPr>
              <a:t>시간대에</a:t>
            </a:r>
            <a:r>
              <a:rPr sz="1700" b="0" dirty="0">
                <a:solidFill>
                  <a:srgbClr val="222222"/>
                </a:solidFill>
                <a:latin typeface="맑은 고딕"/>
              </a:rPr>
              <a:t> </a:t>
            </a:r>
            <a:r>
              <a:rPr sz="1700" b="0" dirty="0" err="1">
                <a:solidFill>
                  <a:srgbClr val="222222"/>
                </a:solidFill>
                <a:latin typeface="맑은 고딕"/>
              </a:rPr>
              <a:t>도는</a:t>
            </a:r>
            <a:r>
              <a:rPr sz="1700" b="0" dirty="0">
                <a:solidFill>
                  <a:srgbClr val="222222"/>
                </a:solidFill>
                <a:latin typeface="맑은 고딕"/>
              </a:rPr>
              <a:t> </a:t>
            </a:r>
            <a:r>
              <a:rPr sz="1700" b="0" dirty="0" err="1">
                <a:solidFill>
                  <a:srgbClr val="222222"/>
                </a:solidFill>
                <a:latin typeface="맑은 고딕"/>
              </a:rPr>
              <a:t>배치·자동</a:t>
            </a:r>
            <a:r>
              <a:rPr sz="1700" b="0" dirty="0">
                <a:solidFill>
                  <a:srgbClr val="222222"/>
                </a:solidFill>
                <a:latin typeface="맑은 고딕"/>
              </a:rPr>
              <a:t> </a:t>
            </a:r>
            <a:r>
              <a:rPr sz="1700" b="0" dirty="0" err="1">
                <a:solidFill>
                  <a:srgbClr val="222222"/>
                </a:solidFill>
                <a:latin typeface="맑은 고딕"/>
              </a:rPr>
              <a:t>작업·잠금</a:t>
            </a:r>
            <a:r>
              <a:rPr sz="1700" b="0" dirty="0">
                <a:solidFill>
                  <a:srgbClr val="222222"/>
                </a:solidFill>
                <a:latin typeface="맑은 고딕"/>
              </a:rPr>
              <a:t> </a:t>
            </a:r>
            <a:r>
              <a:rPr sz="1700" b="0" dirty="0" err="1">
                <a:solidFill>
                  <a:srgbClr val="222222"/>
                </a:solidFill>
                <a:latin typeface="맑은 고딕"/>
              </a:rPr>
              <a:t>경합을</a:t>
            </a:r>
            <a:r>
              <a:rPr sz="1700" b="0" dirty="0">
                <a:solidFill>
                  <a:srgbClr val="222222"/>
                </a:solidFill>
                <a:latin typeface="맑은 고딕"/>
              </a:rPr>
              <a:t> </a:t>
            </a:r>
            <a:r>
              <a:rPr sz="1700" b="0" dirty="0" err="1">
                <a:solidFill>
                  <a:srgbClr val="222222"/>
                </a:solidFill>
                <a:latin typeface="맑은 고딕"/>
              </a:rPr>
              <a:t>본다</a:t>
            </a:r>
            <a:r>
              <a:rPr sz="1700" b="0" dirty="0">
                <a:solidFill>
                  <a:srgbClr val="222222"/>
                </a:solidFill>
                <a:latin typeface="맑은 고딕"/>
              </a:rPr>
              <a:t> (ch25 ASH,  ch30 </a:t>
            </a:r>
            <a:r>
              <a:rPr sz="1700" b="0" dirty="0" err="1">
                <a:solidFill>
                  <a:srgbClr val="222222"/>
                </a:solidFill>
                <a:latin typeface="맑은 고딕"/>
              </a:rPr>
              <a:t>자동</a:t>
            </a:r>
            <a:r>
              <a:rPr sz="1700" b="0" dirty="0">
                <a:solidFill>
                  <a:srgbClr val="222222"/>
                </a:solidFill>
                <a:latin typeface="맑은 고딕"/>
              </a:rPr>
              <a:t> </a:t>
            </a:r>
            <a:r>
              <a:rPr sz="1700" b="0" dirty="0" err="1">
                <a:solidFill>
                  <a:srgbClr val="222222"/>
                </a:solidFill>
                <a:latin typeface="맑은 고딕"/>
              </a:rPr>
              <a:t>작업</a:t>
            </a:r>
            <a:r>
              <a:rPr sz="1700" b="0" dirty="0">
                <a:solidFill>
                  <a:srgbClr val="222222"/>
                </a:solidFill>
                <a:latin typeface="맑은 고딕"/>
              </a:rPr>
              <a:t>).</a:t>
            </a:r>
          </a:p>
          <a:p>
            <a:pPr>
              <a:spcAft>
                <a:spcPts val="800"/>
              </a:spcAft>
            </a:pPr>
            <a:r>
              <a:rPr sz="1700" b="0" dirty="0">
                <a:solidFill>
                  <a:srgbClr val="222222"/>
                </a:solidFill>
                <a:latin typeface="맑은 고딕"/>
              </a:rPr>
              <a:t>•  </a:t>
            </a:r>
            <a:r>
              <a:rPr sz="1700" b="0" dirty="0" err="1">
                <a:solidFill>
                  <a:srgbClr val="222222"/>
                </a:solidFill>
                <a:latin typeface="맑은 고딕"/>
              </a:rPr>
              <a:t>공통</a:t>
            </a:r>
            <a:r>
              <a:rPr sz="1700" b="0" dirty="0">
                <a:solidFill>
                  <a:srgbClr val="222222"/>
                </a:solidFill>
                <a:latin typeface="맑은 고딕"/>
              </a:rPr>
              <a:t> </a:t>
            </a:r>
            <a:r>
              <a:rPr sz="1700" b="0" dirty="0" err="1">
                <a:solidFill>
                  <a:srgbClr val="222222"/>
                </a:solidFill>
                <a:latin typeface="맑은 고딕"/>
              </a:rPr>
              <a:t>조치</a:t>
            </a:r>
            <a:r>
              <a:rPr sz="1700" b="0" dirty="0">
                <a:solidFill>
                  <a:srgbClr val="222222"/>
                </a:solidFill>
                <a:latin typeface="맑은 고딕"/>
              </a:rPr>
              <a:t> — </a:t>
            </a:r>
            <a:r>
              <a:rPr sz="1700" b="0" dirty="0" err="1">
                <a:solidFill>
                  <a:srgbClr val="222222"/>
                </a:solidFill>
                <a:latin typeface="맑은 고딕"/>
              </a:rPr>
              <a:t>조치</a:t>
            </a:r>
            <a:r>
              <a:rPr sz="1700" b="0" dirty="0">
                <a:solidFill>
                  <a:srgbClr val="222222"/>
                </a:solidFill>
                <a:latin typeface="맑은 고딕"/>
              </a:rPr>
              <a:t> 전 </a:t>
            </a:r>
            <a:r>
              <a:rPr sz="1700" b="0" dirty="0" err="1">
                <a:solidFill>
                  <a:srgbClr val="222222"/>
                </a:solidFill>
                <a:latin typeface="맑은 고딕"/>
              </a:rPr>
              <a:t>상태를</a:t>
            </a:r>
            <a:r>
              <a:rPr sz="1700" b="0" dirty="0">
                <a:solidFill>
                  <a:srgbClr val="222222"/>
                </a:solidFill>
                <a:latin typeface="맑은 고딕"/>
              </a:rPr>
              <a:t> </a:t>
            </a:r>
            <a:r>
              <a:rPr sz="1700" b="0" dirty="0" err="1">
                <a:solidFill>
                  <a:srgbClr val="222222"/>
                </a:solidFill>
                <a:latin typeface="맑은 고딕"/>
              </a:rPr>
              <a:t>먼저</a:t>
            </a:r>
            <a:r>
              <a:rPr sz="1700" b="0" dirty="0">
                <a:solidFill>
                  <a:srgbClr val="222222"/>
                </a:solidFill>
                <a:latin typeface="맑은 고딕"/>
              </a:rPr>
              <a:t> </a:t>
            </a:r>
            <a:r>
              <a:rPr sz="1700" b="0" dirty="0" err="1">
                <a:solidFill>
                  <a:srgbClr val="222222"/>
                </a:solidFill>
                <a:latin typeface="맑은 고딕"/>
              </a:rPr>
              <a:t>캡처한다</a:t>
            </a:r>
            <a:r>
              <a:rPr sz="1700" b="0" dirty="0">
                <a:solidFill>
                  <a:srgbClr val="222222"/>
                </a:solidFill>
                <a:latin typeface="맑은 고딕"/>
              </a:rPr>
              <a:t>. </a:t>
            </a:r>
            <a:r>
              <a:rPr sz="1700" b="0" dirty="0" err="1">
                <a:solidFill>
                  <a:srgbClr val="222222"/>
                </a:solidFill>
                <a:latin typeface="맑은 고딕"/>
              </a:rPr>
              <a:t>스냅샷</a:t>
            </a:r>
            <a:r>
              <a:rPr sz="1700" b="0" dirty="0">
                <a:solidFill>
                  <a:srgbClr val="222222"/>
                </a:solidFill>
                <a:latin typeface="맑은 고딕"/>
              </a:rPr>
              <a:t> </a:t>
            </a:r>
            <a:r>
              <a:rPr sz="1700" b="0" dirty="0" err="1">
                <a:solidFill>
                  <a:srgbClr val="222222"/>
                </a:solidFill>
                <a:latin typeface="맑은 고딕"/>
              </a:rPr>
              <a:t>없이</a:t>
            </a:r>
            <a:r>
              <a:rPr sz="1700" b="0" dirty="0">
                <a:solidFill>
                  <a:srgbClr val="222222"/>
                </a:solidFill>
                <a:latin typeface="맑은 고딕"/>
              </a:rPr>
              <a:t> </a:t>
            </a:r>
            <a:r>
              <a:rPr sz="1700" b="0" dirty="0" err="1">
                <a:solidFill>
                  <a:srgbClr val="222222"/>
                </a:solidFill>
                <a:latin typeface="맑은 고딕"/>
              </a:rPr>
              <a:t>고친</a:t>
            </a:r>
            <a:r>
              <a:rPr sz="1700" b="0" dirty="0">
                <a:solidFill>
                  <a:srgbClr val="222222"/>
                </a:solidFill>
                <a:latin typeface="맑은 고딕"/>
              </a:rPr>
              <a:t> </a:t>
            </a:r>
            <a:r>
              <a:rPr sz="1700" b="0" dirty="0" err="1">
                <a:solidFill>
                  <a:srgbClr val="222222"/>
                </a:solidFill>
                <a:latin typeface="맑은 고딕"/>
              </a:rPr>
              <a:t>튜닝은</a:t>
            </a:r>
            <a:r>
              <a:rPr sz="1700" b="0" dirty="0">
                <a:solidFill>
                  <a:srgbClr val="222222"/>
                </a:solidFill>
                <a:latin typeface="맑은 고딕"/>
              </a:rPr>
              <a:t> </a:t>
            </a:r>
            <a:r>
              <a:rPr sz="1700" b="0" dirty="0" err="1">
                <a:solidFill>
                  <a:srgbClr val="222222"/>
                </a:solidFill>
                <a:latin typeface="맑은 고딕"/>
              </a:rPr>
              <a:t>효과를</a:t>
            </a:r>
            <a:r>
              <a:rPr sz="1700" b="0" dirty="0">
                <a:solidFill>
                  <a:srgbClr val="222222"/>
                </a:solidFill>
                <a:latin typeface="맑은 고딕"/>
              </a:rPr>
              <a:t> </a:t>
            </a:r>
            <a:r>
              <a:rPr sz="1700" b="0" dirty="0" err="1">
                <a:solidFill>
                  <a:srgbClr val="222222"/>
                </a:solidFill>
                <a:latin typeface="맑은 고딕"/>
              </a:rPr>
              <a:t>증명할</a:t>
            </a:r>
            <a:r>
              <a:rPr sz="1700" b="0" dirty="0">
                <a:solidFill>
                  <a:srgbClr val="222222"/>
                </a:solidFill>
                <a:latin typeface="맑은 고딕"/>
              </a:rPr>
              <a:t> 수 </a:t>
            </a:r>
            <a:r>
              <a:rPr sz="1700" b="0" dirty="0" err="1">
                <a:solidFill>
                  <a:srgbClr val="222222"/>
                </a:solidFill>
                <a:latin typeface="맑은 고딕"/>
              </a:rPr>
              <a:t>없다</a:t>
            </a:r>
            <a:r>
              <a:rPr sz="1700" b="0" dirty="0">
                <a:solidFill>
                  <a:srgbClr val="222222"/>
                </a:solidFill>
                <a:latin typeface="맑은 고딕"/>
              </a:rPr>
              <a:t> ( ch17 </a:t>
            </a:r>
            <a:r>
              <a:rPr sz="1700" b="0" dirty="0" err="1">
                <a:solidFill>
                  <a:srgbClr val="222222"/>
                </a:solidFill>
                <a:latin typeface="맑은 고딕"/>
              </a:rPr>
              <a:t>실습</a:t>
            </a:r>
            <a:r>
              <a:rPr sz="1700" b="0" dirty="0">
                <a:solidFill>
                  <a:srgbClr val="222222"/>
                </a:solidFill>
                <a:latin typeface="맑은 고딕"/>
              </a:rPr>
              <a:t> 05).</a:t>
            </a:r>
          </a:p>
        </p:txBody>
      </p:sp>
    </p:spTree>
    <p:extLst>
      <p:ext uri="{BB962C8B-B14F-4D97-AF65-F5344CB8AC3E}">
        <p14:creationId xmlns:p14="http://schemas.microsoft.com/office/powerpoint/2010/main" val="3114680681"/>
      </p:ext>
    </p:extLst>
  </p:cSld>
  <p:clrMapOvr>
    <a:masterClrMapping/>
  </p:clrMapOvr>
</p:sld>
</file>

<file path=ppt/slides/slide6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징후 ②를 숫자로 — 내 SQL 은 DB Time 의 몇 % 인가</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V$SQL 의 elapsed_time 과 V$SYS_TIME_MODEL 의 DB time 을 같은 단위(초)로 놓고 비교한다</a:t>
            </a:r>
          </a:p>
        </p:txBody>
      </p:sp>
      <p:sp>
        <p:nvSpPr>
          <p:cNvPr id="5" name="Rectangle 4"/>
          <p:cNvSpPr/>
          <p:nvPr/>
        </p:nvSpPr>
        <p:spPr>
          <a:xfrm>
            <a:off x="640080" y="1691640"/>
            <a:ext cx="10881360" cy="475488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wrap="square" lIns="182880" tIns="137160" rIns="182880" rtlCol="0" anchor="ctr"/>
          <a:lstStyle/>
          <a:p>
            <a:pPr algn="l"/>
            <a:r>
              <a:rPr sz="1250" dirty="0">
                <a:solidFill>
                  <a:srgbClr val="F2F2F2"/>
                </a:solidFill>
                <a:latin typeface="Consolas"/>
              </a:rPr>
              <a:t>-- 1) </a:t>
            </a:r>
            <a:r>
              <a:rPr lang="ko-KR" altLang="en-US" sz="1250" dirty="0">
                <a:solidFill>
                  <a:srgbClr val="F2F2F2"/>
                </a:solidFill>
                <a:latin typeface="Consolas"/>
              </a:rPr>
              <a:t>앞</a:t>
            </a:r>
            <a:r>
              <a:rPr sz="1250" dirty="0" err="1">
                <a:solidFill>
                  <a:srgbClr val="F2F2F2"/>
                </a:solidFill>
                <a:latin typeface="Consolas"/>
              </a:rPr>
              <a:t>에서</a:t>
            </a:r>
            <a:r>
              <a:rPr sz="1250" dirty="0">
                <a:solidFill>
                  <a:srgbClr val="F2F2F2"/>
                </a:solidFill>
                <a:latin typeface="Consolas"/>
              </a:rPr>
              <a:t> </a:t>
            </a:r>
            <a:r>
              <a:rPr sz="1250" dirty="0" err="1">
                <a:solidFill>
                  <a:srgbClr val="F2F2F2"/>
                </a:solidFill>
                <a:latin typeface="Consolas"/>
              </a:rPr>
              <a:t>쓰던</a:t>
            </a:r>
            <a:r>
              <a:rPr sz="1250" dirty="0">
                <a:solidFill>
                  <a:srgbClr val="F2F2F2"/>
                </a:solidFill>
                <a:latin typeface="Consolas"/>
              </a:rPr>
              <a:t> 그 SQL 의 SQL_ID 를 </a:t>
            </a:r>
            <a:r>
              <a:rPr sz="1250" dirty="0" err="1">
                <a:solidFill>
                  <a:srgbClr val="F2F2F2"/>
                </a:solidFill>
                <a:latin typeface="Consolas"/>
              </a:rPr>
              <a:t>찾는다</a:t>
            </a:r>
            <a:endParaRPr sz="1250" dirty="0">
              <a:solidFill>
                <a:srgbClr val="F2F2F2"/>
              </a:solidFill>
              <a:latin typeface="Consolas"/>
            </a:endParaRPr>
          </a:p>
          <a:p>
            <a:pPr algn="l"/>
            <a:r>
              <a:rPr sz="1250" dirty="0" err="1">
                <a:solidFill>
                  <a:srgbClr val="F2F2F2"/>
                </a:solidFill>
                <a:latin typeface="Consolas"/>
              </a:rPr>
              <a:t>SYS@orcl</a:t>
            </a:r>
            <a:r>
              <a:rPr sz="1250" dirty="0">
                <a:solidFill>
                  <a:srgbClr val="F2F2F2"/>
                </a:solidFill>
                <a:latin typeface="Consolas"/>
              </a:rPr>
              <a:t>&gt; SELECT </a:t>
            </a:r>
            <a:r>
              <a:rPr sz="1250" dirty="0" err="1">
                <a:solidFill>
                  <a:srgbClr val="F2F2F2"/>
                </a:solidFill>
                <a:latin typeface="Consolas"/>
              </a:rPr>
              <a:t>sql_id</a:t>
            </a:r>
            <a:r>
              <a:rPr sz="1250" dirty="0">
                <a:solidFill>
                  <a:srgbClr val="F2F2F2"/>
                </a:solidFill>
                <a:latin typeface="Consolas"/>
              </a:rPr>
              <a:t>, </a:t>
            </a:r>
            <a:r>
              <a:rPr sz="1250" dirty="0" err="1">
                <a:solidFill>
                  <a:srgbClr val="F2F2F2"/>
                </a:solidFill>
                <a:latin typeface="Consolas"/>
              </a:rPr>
              <a:t>plan_hash_value</a:t>
            </a:r>
            <a:r>
              <a:rPr sz="1250" dirty="0">
                <a:solidFill>
                  <a:srgbClr val="F2F2F2"/>
                </a:solidFill>
                <a:latin typeface="Consolas"/>
              </a:rPr>
              <a:t>, executions,</a:t>
            </a:r>
          </a:p>
          <a:p>
            <a:pPr algn="l"/>
            <a:r>
              <a:rPr sz="1250" dirty="0">
                <a:solidFill>
                  <a:srgbClr val="F2F2F2"/>
                </a:solidFill>
                <a:latin typeface="Consolas"/>
              </a:rPr>
              <a:t>  2         ROUND(</a:t>
            </a:r>
            <a:r>
              <a:rPr sz="1250" dirty="0" err="1">
                <a:solidFill>
                  <a:srgbClr val="F2F2F2"/>
                </a:solidFill>
                <a:latin typeface="Consolas"/>
              </a:rPr>
              <a:t>elapsed_time</a:t>
            </a:r>
            <a:r>
              <a:rPr sz="1250" dirty="0">
                <a:solidFill>
                  <a:srgbClr val="F2F2F2"/>
                </a:solidFill>
                <a:latin typeface="Consolas"/>
              </a:rPr>
              <a:t>/1e6, 2) AS </a:t>
            </a:r>
            <a:r>
              <a:rPr sz="1250" dirty="0" err="1">
                <a:solidFill>
                  <a:srgbClr val="F2F2F2"/>
                </a:solidFill>
                <a:latin typeface="Consolas"/>
              </a:rPr>
              <a:t>elapsed_s</a:t>
            </a:r>
            <a:r>
              <a:rPr sz="1250" dirty="0">
                <a:solidFill>
                  <a:srgbClr val="F2F2F2"/>
                </a:solidFill>
                <a:latin typeface="Consolas"/>
              </a:rPr>
              <a:t>,</a:t>
            </a:r>
          </a:p>
          <a:p>
            <a:pPr algn="l"/>
            <a:r>
              <a:rPr sz="1250" dirty="0">
                <a:solidFill>
                  <a:srgbClr val="F2F2F2"/>
                </a:solidFill>
                <a:latin typeface="Consolas"/>
              </a:rPr>
              <a:t>  3         </a:t>
            </a:r>
            <a:r>
              <a:rPr sz="1250" dirty="0" err="1">
                <a:solidFill>
                  <a:srgbClr val="F2F2F2"/>
                </a:solidFill>
                <a:latin typeface="Consolas"/>
              </a:rPr>
              <a:t>buffer_gets</a:t>
            </a:r>
            <a:endParaRPr sz="1250" dirty="0">
              <a:solidFill>
                <a:srgbClr val="F2F2F2"/>
              </a:solidFill>
              <a:latin typeface="Consolas"/>
            </a:endParaRPr>
          </a:p>
          <a:p>
            <a:pPr algn="l"/>
            <a:r>
              <a:rPr sz="1250" dirty="0">
                <a:solidFill>
                  <a:srgbClr val="F2F2F2"/>
                </a:solidFill>
                <a:latin typeface="Consolas"/>
              </a:rPr>
              <a:t>  4    FROM </a:t>
            </a:r>
            <a:r>
              <a:rPr sz="1250" dirty="0" err="1">
                <a:solidFill>
                  <a:srgbClr val="F2F2F2"/>
                </a:solidFill>
                <a:latin typeface="Consolas"/>
              </a:rPr>
              <a:t>v$sql</a:t>
            </a:r>
            <a:endParaRPr sz="1250" dirty="0">
              <a:solidFill>
                <a:srgbClr val="F2F2F2"/>
              </a:solidFill>
              <a:latin typeface="Consolas"/>
            </a:endParaRPr>
          </a:p>
          <a:p>
            <a:pPr algn="l"/>
            <a:r>
              <a:rPr sz="1250" dirty="0">
                <a:solidFill>
                  <a:srgbClr val="F2F2F2"/>
                </a:solidFill>
                <a:latin typeface="Consolas"/>
              </a:rPr>
              <a:t>  5   WHERE </a:t>
            </a:r>
            <a:r>
              <a:rPr sz="1250" dirty="0" err="1">
                <a:solidFill>
                  <a:srgbClr val="F2F2F2"/>
                </a:solidFill>
                <a:latin typeface="Consolas"/>
              </a:rPr>
              <a:t>sql_text</a:t>
            </a:r>
            <a:r>
              <a:rPr sz="1250" dirty="0">
                <a:solidFill>
                  <a:srgbClr val="F2F2F2"/>
                </a:solidFill>
                <a:latin typeface="Consolas"/>
              </a:rPr>
              <a:t> LIKE 'SELECT /* BR01 */%';</a:t>
            </a:r>
          </a:p>
          <a:p>
            <a:pPr algn="l"/>
            <a:endParaRPr sz="1250" dirty="0">
              <a:solidFill>
                <a:srgbClr val="F2F2F2"/>
              </a:solidFill>
              <a:latin typeface="Consolas"/>
            </a:endParaRPr>
          </a:p>
          <a:p>
            <a:pPr algn="l"/>
            <a:r>
              <a:rPr sz="1250" dirty="0">
                <a:solidFill>
                  <a:srgbClr val="F2F2F2"/>
                </a:solidFill>
                <a:latin typeface="Consolas"/>
              </a:rPr>
              <a:t>-- 2) </a:t>
            </a:r>
            <a:r>
              <a:rPr sz="1250" dirty="0" err="1">
                <a:solidFill>
                  <a:srgbClr val="F2F2F2"/>
                </a:solidFill>
                <a:latin typeface="Consolas"/>
              </a:rPr>
              <a:t>인스턴스가</a:t>
            </a:r>
            <a:r>
              <a:rPr sz="1250" dirty="0">
                <a:solidFill>
                  <a:srgbClr val="F2F2F2"/>
                </a:solidFill>
                <a:latin typeface="Consolas"/>
              </a:rPr>
              <a:t> </a:t>
            </a:r>
            <a:r>
              <a:rPr sz="1250" dirty="0" err="1">
                <a:solidFill>
                  <a:srgbClr val="F2F2F2"/>
                </a:solidFill>
                <a:latin typeface="Consolas"/>
              </a:rPr>
              <a:t>기동</a:t>
            </a:r>
            <a:r>
              <a:rPr sz="1250" dirty="0">
                <a:solidFill>
                  <a:srgbClr val="F2F2F2"/>
                </a:solidFill>
                <a:latin typeface="Consolas"/>
              </a:rPr>
              <a:t> 후 </a:t>
            </a:r>
            <a:r>
              <a:rPr sz="1250" dirty="0" err="1">
                <a:solidFill>
                  <a:srgbClr val="F2F2F2"/>
                </a:solidFill>
                <a:latin typeface="Consolas"/>
              </a:rPr>
              <a:t>지금까지</a:t>
            </a:r>
            <a:r>
              <a:rPr sz="1250" dirty="0">
                <a:solidFill>
                  <a:srgbClr val="F2F2F2"/>
                </a:solidFill>
                <a:latin typeface="Consolas"/>
              </a:rPr>
              <a:t> 쓴 DB Time (</a:t>
            </a:r>
            <a:r>
              <a:rPr sz="1250" dirty="0" err="1">
                <a:solidFill>
                  <a:srgbClr val="F2F2F2"/>
                </a:solidFill>
                <a:latin typeface="Consolas"/>
              </a:rPr>
              <a:t>누적</a:t>
            </a:r>
            <a:r>
              <a:rPr sz="1250" dirty="0">
                <a:solidFill>
                  <a:srgbClr val="F2F2F2"/>
                </a:solidFill>
                <a:latin typeface="Consolas"/>
              </a:rPr>
              <a:t>, 초)</a:t>
            </a:r>
          </a:p>
          <a:p>
            <a:pPr algn="l"/>
            <a:r>
              <a:rPr sz="1250" dirty="0" err="1">
                <a:solidFill>
                  <a:srgbClr val="F2F2F2"/>
                </a:solidFill>
                <a:latin typeface="Consolas"/>
              </a:rPr>
              <a:t>SYS@orcl</a:t>
            </a:r>
            <a:r>
              <a:rPr sz="1250" dirty="0">
                <a:solidFill>
                  <a:srgbClr val="F2F2F2"/>
                </a:solidFill>
                <a:latin typeface="Consolas"/>
              </a:rPr>
              <a:t>&gt; SELECT ROUND(value/1e6, 2) AS </a:t>
            </a:r>
            <a:r>
              <a:rPr sz="1250" dirty="0" err="1">
                <a:solidFill>
                  <a:srgbClr val="F2F2F2"/>
                </a:solidFill>
                <a:latin typeface="Consolas"/>
              </a:rPr>
              <a:t>db_time_s</a:t>
            </a:r>
            <a:endParaRPr sz="1250" dirty="0">
              <a:solidFill>
                <a:srgbClr val="F2F2F2"/>
              </a:solidFill>
              <a:latin typeface="Consolas"/>
            </a:endParaRPr>
          </a:p>
          <a:p>
            <a:pPr algn="l"/>
            <a:r>
              <a:rPr sz="1250" dirty="0">
                <a:solidFill>
                  <a:srgbClr val="F2F2F2"/>
                </a:solidFill>
                <a:latin typeface="Consolas"/>
              </a:rPr>
              <a:t>  2    FROM </a:t>
            </a:r>
            <a:r>
              <a:rPr sz="1250" dirty="0" err="1">
                <a:solidFill>
                  <a:srgbClr val="F2F2F2"/>
                </a:solidFill>
                <a:latin typeface="Consolas"/>
              </a:rPr>
              <a:t>v$sys_time_model</a:t>
            </a:r>
            <a:endParaRPr sz="1250" dirty="0">
              <a:solidFill>
                <a:srgbClr val="F2F2F2"/>
              </a:solidFill>
              <a:latin typeface="Consolas"/>
            </a:endParaRPr>
          </a:p>
          <a:p>
            <a:pPr algn="l"/>
            <a:r>
              <a:rPr sz="1250" dirty="0">
                <a:solidFill>
                  <a:srgbClr val="F2F2F2"/>
                </a:solidFill>
                <a:latin typeface="Consolas"/>
              </a:rPr>
              <a:t>  3   WHERE </a:t>
            </a:r>
            <a:r>
              <a:rPr sz="1250" dirty="0" err="1">
                <a:solidFill>
                  <a:srgbClr val="F2F2F2"/>
                </a:solidFill>
                <a:latin typeface="Consolas"/>
              </a:rPr>
              <a:t>stat_name</a:t>
            </a:r>
            <a:r>
              <a:rPr sz="1250" dirty="0">
                <a:solidFill>
                  <a:srgbClr val="F2F2F2"/>
                </a:solidFill>
                <a:latin typeface="Consolas"/>
              </a:rPr>
              <a:t> = 'DB time';</a:t>
            </a:r>
          </a:p>
          <a:p>
            <a:pPr algn="l"/>
            <a:endParaRPr sz="1250" dirty="0">
              <a:solidFill>
                <a:srgbClr val="F2F2F2"/>
              </a:solidFill>
              <a:latin typeface="Consolas"/>
            </a:endParaRPr>
          </a:p>
          <a:p>
            <a:pPr algn="l"/>
            <a:r>
              <a:rPr sz="1250" dirty="0">
                <a:solidFill>
                  <a:srgbClr val="F2F2F2"/>
                </a:solidFill>
                <a:latin typeface="Consolas"/>
              </a:rPr>
              <a:t>-- 3) </a:t>
            </a:r>
            <a:r>
              <a:rPr sz="1250" dirty="0" err="1">
                <a:solidFill>
                  <a:srgbClr val="F2F2F2"/>
                </a:solidFill>
                <a:latin typeface="Consolas"/>
              </a:rPr>
              <a:t>비중</a:t>
            </a:r>
            <a:r>
              <a:rPr sz="1250" dirty="0">
                <a:solidFill>
                  <a:srgbClr val="F2F2F2"/>
                </a:solidFill>
                <a:latin typeface="Consolas"/>
              </a:rPr>
              <a:t> = </a:t>
            </a:r>
            <a:r>
              <a:rPr sz="1250" dirty="0" err="1">
                <a:solidFill>
                  <a:srgbClr val="F2F2F2"/>
                </a:solidFill>
                <a:latin typeface="Consolas"/>
              </a:rPr>
              <a:t>elapsed_s</a:t>
            </a:r>
            <a:r>
              <a:rPr sz="1250" dirty="0">
                <a:solidFill>
                  <a:srgbClr val="F2F2F2"/>
                </a:solidFill>
                <a:latin typeface="Consolas"/>
              </a:rPr>
              <a:t> / </a:t>
            </a:r>
            <a:r>
              <a:rPr sz="1250" dirty="0" err="1">
                <a:solidFill>
                  <a:srgbClr val="F2F2F2"/>
                </a:solidFill>
                <a:latin typeface="Consolas"/>
              </a:rPr>
              <a:t>db_time_s</a:t>
            </a:r>
            <a:r>
              <a:rPr sz="1250" dirty="0">
                <a:solidFill>
                  <a:srgbClr val="F2F2F2"/>
                </a:solidFill>
                <a:latin typeface="Consolas"/>
              </a:rPr>
              <a:t> * 100</a:t>
            </a:r>
          </a:p>
          <a:p>
            <a:pPr algn="l"/>
            <a:r>
              <a:rPr sz="1250" dirty="0">
                <a:solidFill>
                  <a:srgbClr val="F2F2F2"/>
                </a:solidFill>
                <a:latin typeface="Consolas"/>
              </a:rPr>
              <a:t>--    </a:t>
            </a:r>
            <a:r>
              <a:rPr sz="1250" dirty="0" err="1">
                <a:solidFill>
                  <a:srgbClr val="F2F2F2"/>
                </a:solidFill>
                <a:latin typeface="Consolas"/>
              </a:rPr>
              <a:t>누적값끼리의</a:t>
            </a:r>
            <a:r>
              <a:rPr sz="1250" dirty="0">
                <a:solidFill>
                  <a:srgbClr val="F2F2F2"/>
                </a:solidFill>
                <a:latin typeface="Consolas"/>
              </a:rPr>
              <a:t> </a:t>
            </a:r>
            <a:r>
              <a:rPr sz="1250" dirty="0" err="1">
                <a:solidFill>
                  <a:srgbClr val="F2F2F2"/>
                </a:solidFill>
                <a:latin typeface="Consolas"/>
              </a:rPr>
              <a:t>비교이므로</a:t>
            </a:r>
            <a:r>
              <a:rPr sz="1250" dirty="0">
                <a:solidFill>
                  <a:srgbClr val="F2F2F2"/>
                </a:solidFill>
                <a:latin typeface="Consolas"/>
              </a:rPr>
              <a:t> </a:t>
            </a:r>
            <a:r>
              <a:rPr sz="1250" dirty="0" err="1">
                <a:solidFill>
                  <a:srgbClr val="F2F2F2"/>
                </a:solidFill>
                <a:latin typeface="Consolas"/>
              </a:rPr>
              <a:t>방향만</a:t>
            </a:r>
            <a:r>
              <a:rPr sz="1250" dirty="0">
                <a:solidFill>
                  <a:srgbClr val="F2F2F2"/>
                </a:solidFill>
                <a:latin typeface="Consolas"/>
              </a:rPr>
              <a:t> </a:t>
            </a:r>
            <a:r>
              <a:rPr sz="1250" dirty="0" err="1">
                <a:solidFill>
                  <a:srgbClr val="F2F2F2"/>
                </a:solidFill>
                <a:latin typeface="Consolas"/>
              </a:rPr>
              <a:t>본다</a:t>
            </a:r>
            <a:r>
              <a:rPr sz="1250" dirty="0">
                <a:solidFill>
                  <a:srgbClr val="F2F2F2"/>
                </a:solidFill>
                <a:latin typeface="Consolas"/>
              </a:rPr>
              <a:t>. </a:t>
            </a:r>
            <a:r>
              <a:rPr sz="1250" dirty="0" err="1">
                <a:solidFill>
                  <a:srgbClr val="F2F2F2"/>
                </a:solidFill>
                <a:latin typeface="Consolas"/>
              </a:rPr>
              <a:t>구간</a:t>
            </a:r>
            <a:r>
              <a:rPr sz="1250" dirty="0">
                <a:solidFill>
                  <a:srgbClr val="F2F2F2"/>
                </a:solidFill>
                <a:latin typeface="Consolas"/>
              </a:rPr>
              <a:t> </a:t>
            </a:r>
            <a:r>
              <a:rPr sz="1250" dirty="0" err="1">
                <a:solidFill>
                  <a:srgbClr val="F2F2F2"/>
                </a:solidFill>
                <a:latin typeface="Consolas"/>
              </a:rPr>
              <a:t>델타로</a:t>
            </a:r>
            <a:r>
              <a:rPr sz="1250" dirty="0">
                <a:solidFill>
                  <a:srgbClr val="F2F2F2"/>
                </a:solidFill>
                <a:latin typeface="Consolas"/>
              </a:rPr>
              <a:t> </a:t>
            </a:r>
            <a:r>
              <a:rPr sz="1250" dirty="0" err="1">
                <a:solidFill>
                  <a:srgbClr val="F2F2F2"/>
                </a:solidFill>
                <a:latin typeface="Consolas"/>
              </a:rPr>
              <a:t>다시</a:t>
            </a:r>
            <a:r>
              <a:rPr sz="1250" dirty="0">
                <a:solidFill>
                  <a:srgbClr val="F2F2F2"/>
                </a:solidFill>
                <a:latin typeface="Consolas"/>
              </a:rPr>
              <a:t> </a:t>
            </a:r>
            <a:r>
              <a:rPr sz="1250" dirty="0" err="1">
                <a:solidFill>
                  <a:srgbClr val="F2F2F2"/>
                </a:solidFill>
                <a:latin typeface="Consolas"/>
              </a:rPr>
              <a:t>재는</a:t>
            </a:r>
            <a:r>
              <a:rPr sz="1250" dirty="0">
                <a:solidFill>
                  <a:srgbClr val="F2F2F2"/>
                </a:solidFill>
                <a:latin typeface="Consolas"/>
              </a:rPr>
              <a:t> </a:t>
            </a:r>
            <a:r>
              <a:rPr sz="1250" dirty="0" err="1">
                <a:solidFill>
                  <a:srgbClr val="F2F2F2"/>
                </a:solidFill>
                <a:latin typeface="Consolas"/>
              </a:rPr>
              <a:t>법은</a:t>
            </a:r>
            <a:r>
              <a:rPr sz="1250" dirty="0">
                <a:solidFill>
                  <a:srgbClr val="F2F2F2"/>
                </a:solidFill>
                <a:latin typeface="Consolas"/>
              </a:rPr>
              <a:t> ch19 </a:t>
            </a:r>
            <a:r>
              <a:rPr sz="1250" dirty="0" err="1">
                <a:solidFill>
                  <a:srgbClr val="F2F2F2"/>
                </a:solidFill>
                <a:latin typeface="Consolas"/>
              </a:rPr>
              <a:t>실습</a:t>
            </a:r>
            <a:r>
              <a:rPr sz="1250" dirty="0">
                <a:solidFill>
                  <a:srgbClr val="F2F2F2"/>
                </a:solidFill>
                <a:latin typeface="Consolas"/>
              </a:rPr>
              <a:t> 05·06.</a:t>
            </a:r>
          </a:p>
          <a:p>
            <a:pPr algn="l"/>
            <a:r>
              <a:rPr sz="1250" dirty="0">
                <a:solidFill>
                  <a:srgbClr val="F2F2F2"/>
                </a:solidFill>
                <a:latin typeface="Consolas"/>
              </a:rPr>
              <a:t>--    </a:t>
            </a:r>
            <a:r>
              <a:rPr sz="1250" dirty="0" err="1">
                <a:solidFill>
                  <a:srgbClr val="F2F2F2"/>
                </a:solidFill>
                <a:latin typeface="Consolas"/>
              </a:rPr>
              <a:t>실행</a:t>
            </a:r>
            <a:r>
              <a:rPr sz="1250" dirty="0">
                <a:solidFill>
                  <a:srgbClr val="F2F2F2"/>
                </a:solidFill>
                <a:latin typeface="Consolas"/>
              </a:rPr>
              <a:t> </a:t>
            </a:r>
            <a:r>
              <a:rPr sz="1250" dirty="0" err="1">
                <a:solidFill>
                  <a:srgbClr val="F2F2F2"/>
                </a:solidFill>
                <a:latin typeface="Consolas"/>
              </a:rPr>
              <a:t>결과는</a:t>
            </a:r>
            <a:r>
              <a:rPr sz="1250" dirty="0">
                <a:solidFill>
                  <a:srgbClr val="F2F2F2"/>
                </a:solidFill>
                <a:latin typeface="Consolas"/>
              </a:rPr>
              <a:t> </a:t>
            </a:r>
            <a:r>
              <a:rPr sz="1250" dirty="0" err="1">
                <a:solidFill>
                  <a:srgbClr val="F2F2F2"/>
                </a:solidFill>
                <a:latin typeface="Consolas"/>
              </a:rPr>
              <a:t>실습</a:t>
            </a:r>
            <a:r>
              <a:rPr sz="1250" dirty="0">
                <a:solidFill>
                  <a:srgbClr val="F2F2F2"/>
                </a:solidFill>
                <a:latin typeface="Consolas"/>
              </a:rPr>
              <a:t> </a:t>
            </a:r>
            <a:r>
              <a:rPr sz="1250" dirty="0" err="1">
                <a:solidFill>
                  <a:srgbClr val="F2F2F2"/>
                </a:solidFill>
                <a:latin typeface="Consolas"/>
              </a:rPr>
              <a:t>환경에서</a:t>
            </a:r>
            <a:r>
              <a:rPr sz="1250" dirty="0">
                <a:solidFill>
                  <a:srgbClr val="F2F2F2"/>
                </a:solidFill>
                <a:latin typeface="Consolas"/>
              </a:rPr>
              <a:t> </a:t>
            </a:r>
            <a:r>
              <a:rPr sz="1250" dirty="0" err="1">
                <a:solidFill>
                  <a:srgbClr val="F2F2F2"/>
                </a:solidFill>
                <a:latin typeface="Consolas"/>
              </a:rPr>
              <a:t>캡처한다</a:t>
            </a:r>
            <a:r>
              <a:rPr sz="1250" dirty="0">
                <a:solidFill>
                  <a:srgbClr val="F2F2F2"/>
                </a:solidFill>
                <a:latin typeface="Consolas"/>
              </a:rPr>
              <a:t>.</a:t>
            </a:r>
          </a:p>
        </p:txBody>
      </p:sp>
    </p:spTree>
    <p:extLst>
      <p:ext uri="{BB962C8B-B14F-4D97-AF65-F5344CB8AC3E}">
        <p14:creationId xmlns:p14="http://schemas.microsoft.com/office/powerpoint/2010/main" val="3183289315"/>
      </p:ext>
    </p:extLst>
  </p:cSld>
  <p:clrMapOvr>
    <a:masterClrMapping/>
  </p:clrMapOvr>
</p:sld>
</file>

<file path=ppt/slides/slide6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열흘의 진단 절차 한 장</a:t>
            </a:r>
          </a:p>
        </p:txBody>
      </p:sp>
      <p:sp>
        <p:nvSpPr>
          <p:cNvPr id="5" name="TextBox 4"/>
          <p:cNvSpPr txBox="1"/>
          <p:nvPr/>
        </p:nvSpPr>
        <p:spPr>
          <a:xfrm>
            <a:off x="640080" y="1737360"/>
            <a:ext cx="10881360" cy="2431435"/>
          </a:xfrm>
          <a:prstGeom prst="rect">
            <a:avLst/>
          </a:prstGeom>
          <a:noFill/>
        </p:spPr>
        <p:txBody>
          <a:bodyPr wrap="square">
            <a:spAutoFit/>
          </a:bodyPr>
          <a:lstStyle/>
          <a:p>
            <a:pPr>
              <a:spcAft>
                <a:spcPts val="800"/>
              </a:spcAft>
            </a:pPr>
            <a:r>
              <a:rPr sz="1600" b="0" dirty="0">
                <a:solidFill>
                  <a:srgbClr val="222222"/>
                </a:solidFill>
                <a:latin typeface="맑은 고딕"/>
              </a:rPr>
              <a:t>•  ① DB Time 을 </a:t>
            </a:r>
            <a:r>
              <a:rPr sz="1600" b="0" dirty="0" err="1">
                <a:solidFill>
                  <a:srgbClr val="222222"/>
                </a:solidFill>
                <a:latin typeface="맑은 고딕"/>
              </a:rPr>
              <a:t>잰다</a:t>
            </a:r>
            <a:r>
              <a:rPr sz="1600" b="0" dirty="0">
                <a:solidFill>
                  <a:srgbClr val="222222"/>
                </a:solidFill>
                <a:latin typeface="맑은 고딕"/>
              </a:rPr>
              <a:t> → CPU </a:t>
            </a:r>
            <a:r>
              <a:rPr sz="1600" b="0" dirty="0" err="1">
                <a:solidFill>
                  <a:srgbClr val="222222"/>
                </a:solidFill>
                <a:latin typeface="맑은 고딕"/>
              </a:rPr>
              <a:t>인가</a:t>
            </a:r>
            <a:r>
              <a:rPr sz="1600" b="0" dirty="0">
                <a:solidFill>
                  <a:srgbClr val="222222"/>
                </a:solidFill>
                <a:latin typeface="맑은 고딕"/>
              </a:rPr>
              <a:t> </a:t>
            </a:r>
            <a:r>
              <a:rPr sz="1600" b="0" dirty="0" err="1">
                <a:solidFill>
                  <a:srgbClr val="222222"/>
                </a:solidFill>
                <a:latin typeface="맑은 고딕"/>
              </a:rPr>
              <a:t>대기인가</a:t>
            </a:r>
            <a:r>
              <a:rPr sz="1600" b="0" dirty="0">
                <a:solidFill>
                  <a:srgbClr val="222222"/>
                </a:solidFill>
                <a:latin typeface="맑은 고딕"/>
              </a:rPr>
              <a:t> → </a:t>
            </a:r>
            <a:r>
              <a:rPr sz="1600" b="0" dirty="0" err="1">
                <a:solidFill>
                  <a:srgbClr val="222222"/>
                </a:solidFill>
                <a:latin typeface="맑은 고딕"/>
              </a:rPr>
              <a:t>어느</a:t>
            </a:r>
            <a:r>
              <a:rPr sz="1600" b="0" dirty="0">
                <a:solidFill>
                  <a:srgbClr val="222222"/>
                </a:solidFill>
                <a:latin typeface="맑은 고딕"/>
              </a:rPr>
              <a:t> </a:t>
            </a:r>
            <a:r>
              <a:rPr sz="1600" b="0" dirty="0" err="1">
                <a:solidFill>
                  <a:srgbClr val="222222"/>
                </a:solidFill>
                <a:latin typeface="맑은 고딕"/>
              </a:rPr>
              <a:t>대기</a:t>
            </a:r>
            <a:r>
              <a:rPr sz="1600" b="0" dirty="0">
                <a:solidFill>
                  <a:srgbClr val="222222"/>
                </a:solidFill>
                <a:latin typeface="맑은 고딕"/>
              </a:rPr>
              <a:t> </a:t>
            </a:r>
            <a:r>
              <a:rPr sz="1600" b="0" dirty="0" err="1">
                <a:solidFill>
                  <a:srgbClr val="222222"/>
                </a:solidFill>
                <a:latin typeface="맑은 고딕"/>
              </a:rPr>
              <a:t>클래스인가</a:t>
            </a:r>
            <a:r>
              <a:rPr sz="1600" b="0" dirty="0">
                <a:solidFill>
                  <a:srgbClr val="222222"/>
                </a:solidFill>
                <a:latin typeface="맑은 고딕"/>
              </a:rPr>
              <a:t>  ( ch19)</a:t>
            </a:r>
          </a:p>
          <a:p>
            <a:pPr>
              <a:spcAft>
                <a:spcPts val="800"/>
              </a:spcAft>
            </a:pPr>
            <a:r>
              <a:rPr sz="1600" b="0" dirty="0">
                <a:solidFill>
                  <a:srgbClr val="222222"/>
                </a:solidFill>
                <a:latin typeface="맑은 고딕"/>
              </a:rPr>
              <a:t>•  ② </a:t>
            </a:r>
            <a:r>
              <a:rPr sz="1600" b="0" dirty="0" err="1">
                <a:solidFill>
                  <a:srgbClr val="222222"/>
                </a:solidFill>
                <a:latin typeface="맑은 고딕"/>
              </a:rPr>
              <a:t>구간</a:t>
            </a:r>
            <a:r>
              <a:rPr sz="1600" b="0" dirty="0">
                <a:solidFill>
                  <a:srgbClr val="222222"/>
                </a:solidFill>
                <a:latin typeface="맑은 고딕"/>
              </a:rPr>
              <a:t> </a:t>
            </a:r>
            <a:r>
              <a:rPr sz="1600" b="0" dirty="0" err="1">
                <a:solidFill>
                  <a:srgbClr val="222222"/>
                </a:solidFill>
                <a:latin typeface="맑은 고딕"/>
              </a:rPr>
              <a:t>보고서로</a:t>
            </a:r>
            <a:r>
              <a:rPr sz="1600" b="0" dirty="0">
                <a:solidFill>
                  <a:srgbClr val="222222"/>
                </a:solidFill>
                <a:latin typeface="맑은 고딕"/>
              </a:rPr>
              <a:t> </a:t>
            </a:r>
            <a:r>
              <a:rPr sz="1600" b="0" dirty="0" err="1">
                <a:solidFill>
                  <a:srgbClr val="222222"/>
                </a:solidFill>
                <a:latin typeface="맑은 고딕"/>
              </a:rPr>
              <a:t>상위</a:t>
            </a:r>
            <a:r>
              <a:rPr sz="1600" b="0" dirty="0">
                <a:solidFill>
                  <a:srgbClr val="222222"/>
                </a:solidFill>
                <a:latin typeface="맑은 고딕"/>
              </a:rPr>
              <a:t> </a:t>
            </a:r>
            <a:r>
              <a:rPr sz="1600" b="0" dirty="0" err="1">
                <a:solidFill>
                  <a:srgbClr val="222222"/>
                </a:solidFill>
                <a:latin typeface="맑은 고딕"/>
              </a:rPr>
              <a:t>대기·상위</a:t>
            </a:r>
            <a:r>
              <a:rPr sz="1600" b="0" dirty="0">
                <a:solidFill>
                  <a:srgbClr val="222222"/>
                </a:solidFill>
                <a:latin typeface="맑은 고딕"/>
              </a:rPr>
              <a:t> SQL 을 </a:t>
            </a:r>
            <a:r>
              <a:rPr sz="1600" b="0" dirty="0" err="1">
                <a:solidFill>
                  <a:srgbClr val="222222"/>
                </a:solidFill>
                <a:latin typeface="맑은 고딕"/>
              </a:rPr>
              <a:t>지목한다</a:t>
            </a:r>
            <a:r>
              <a:rPr sz="1600" b="0" dirty="0">
                <a:solidFill>
                  <a:srgbClr val="222222"/>
                </a:solidFill>
                <a:latin typeface="맑은 고딕"/>
              </a:rPr>
              <a:t>  ( ch22 AWR · ch24 ADDM · ch25 ASH)</a:t>
            </a:r>
          </a:p>
          <a:p>
            <a:pPr>
              <a:spcAft>
                <a:spcPts val="800"/>
              </a:spcAft>
            </a:pPr>
            <a:r>
              <a:rPr sz="1600" b="0" dirty="0">
                <a:solidFill>
                  <a:srgbClr val="222222"/>
                </a:solidFill>
                <a:latin typeface="맑은 고딕"/>
              </a:rPr>
              <a:t>•  ③ </a:t>
            </a:r>
            <a:r>
              <a:rPr sz="1600" b="0" dirty="0" err="1">
                <a:solidFill>
                  <a:srgbClr val="222222"/>
                </a:solidFill>
                <a:latin typeface="맑은 고딕"/>
              </a:rPr>
              <a:t>대기</a:t>
            </a:r>
            <a:r>
              <a:rPr sz="1600" b="0" dirty="0">
                <a:solidFill>
                  <a:srgbClr val="222222"/>
                </a:solidFill>
                <a:latin typeface="맑은 고딕"/>
              </a:rPr>
              <a:t> </a:t>
            </a:r>
            <a:r>
              <a:rPr sz="1600" b="0" dirty="0" err="1">
                <a:solidFill>
                  <a:srgbClr val="222222"/>
                </a:solidFill>
                <a:latin typeface="맑은 고딕"/>
              </a:rPr>
              <a:t>이벤트에서</a:t>
            </a:r>
            <a:r>
              <a:rPr sz="1600" b="0" dirty="0">
                <a:solidFill>
                  <a:srgbClr val="222222"/>
                </a:solidFill>
                <a:latin typeface="맑은 고딕"/>
              </a:rPr>
              <a:t> </a:t>
            </a:r>
            <a:r>
              <a:rPr sz="1600" b="0" dirty="0" err="1">
                <a:solidFill>
                  <a:srgbClr val="222222"/>
                </a:solidFill>
                <a:latin typeface="맑은 고딕"/>
              </a:rPr>
              <a:t>원인</a:t>
            </a:r>
            <a:r>
              <a:rPr sz="1600" b="0" dirty="0">
                <a:solidFill>
                  <a:srgbClr val="222222"/>
                </a:solidFill>
                <a:latin typeface="맑은 고딕"/>
              </a:rPr>
              <a:t> </a:t>
            </a:r>
            <a:r>
              <a:rPr sz="1600" b="0" dirty="0" err="1">
                <a:solidFill>
                  <a:srgbClr val="222222"/>
                </a:solidFill>
                <a:latin typeface="맑은 고딕"/>
              </a:rPr>
              <a:t>세그먼트·세션·SQL</a:t>
            </a:r>
            <a:r>
              <a:rPr sz="1600" b="0" dirty="0">
                <a:solidFill>
                  <a:srgbClr val="222222"/>
                </a:solidFill>
                <a:latin typeface="맑은 고딕"/>
              </a:rPr>
              <a:t> 로 </a:t>
            </a:r>
            <a:r>
              <a:rPr sz="1600" b="0" dirty="0" err="1">
                <a:solidFill>
                  <a:srgbClr val="222222"/>
                </a:solidFill>
                <a:latin typeface="맑은 고딕"/>
              </a:rPr>
              <a:t>좁힌다</a:t>
            </a:r>
            <a:r>
              <a:rPr sz="1600" b="0" dirty="0">
                <a:solidFill>
                  <a:srgbClr val="222222"/>
                </a:solidFill>
                <a:latin typeface="맑은 고딕"/>
              </a:rPr>
              <a:t>  ( ch26·ch27)</a:t>
            </a:r>
          </a:p>
          <a:p>
            <a:pPr>
              <a:spcAft>
                <a:spcPts val="800"/>
              </a:spcAft>
            </a:pPr>
            <a:r>
              <a:rPr sz="1600" b="0" dirty="0">
                <a:solidFill>
                  <a:srgbClr val="222222"/>
                </a:solidFill>
                <a:latin typeface="맑은 고딕"/>
              </a:rPr>
              <a:t>•  ④ </a:t>
            </a:r>
            <a:r>
              <a:rPr sz="1600" b="0" dirty="0" err="1">
                <a:solidFill>
                  <a:srgbClr val="222222"/>
                </a:solidFill>
                <a:latin typeface="맑은 고딕"/>
              </a:rPr>
              <a:t>지목된</a:t>
            </a:r>
            <a:r>
              <a:rPr sz="1600" b="0" dirty="0">
                <a:solidFill>
                  <a:srgbClr val="222222"/>
                </a:solidFill>
                <a:latin typeface="맑은 고딕"/>
              </a:rPr>
              <a:t> SQL 의 </a:t>
            </a:r>
            <a:r>
              <a:rPr sz="1600" b="0" dirty="0" err="1">
                <a:solidFill>
                  <a:srgbClr val="222222"/>
                </a:solidFill>
                <a:latin typeface="맑은 고딕"/>
              </a:rPr>
              <a:t>실행계획을</a:t>
            </a:r>
            <a:r>
              <a:rPr sz="1600" b="0" dirty="0">
                <a:solidFill>
                  <a:srgbClr val="222222"/>
                </a:solidFill>
                <a:latin typeface="맑은 고딕"/>
              </a:rPr>
              <a:t> </a:t>
            </a:r>
            <a:r>
              <a:rPr sz="1600" b="0" dirty="0" err="1">
                <a:solidFill>
                  <a:srgbClr val="222222"/>
                </a:solidFill>
                <a:latin typeface="맑은 고딕"/>
              </a:rPr>
              <a:t>읽고</a:t>
            </a:r>
            <a:r>
              <a:rPr sz="1600" b="0" dirty="0">
                <a:solidFill>
                  <a:srgbClr val="222222"/>
                </a:solidFill>
                <a:latin typeface="맑은 고딕"/>
              </a:rPr>
              <a:t> </a:t>
            </a:r>
            <a:r>
              <a:rPr sz="1600" b="0" dirty="0" err="1">
                <a:solidFill>
                  <a:srgbClr val="222222"/>
                </a:solidFill>
                <a:latin typeface="맑은 고딕"/>
              </a:rPr>
              <a:t>고친다</a:t>
            </a:r>
            <a:r>
              <a:rPr sz="1600" b="0" dirty="0">
                <a:solidFill>
                  <a:srgbClr val="222222"/>
                </a:solidFill>
                <a:latin typeface="맑은 고딕"/>
              </a:rPr>
              <a:t>  → </a:t>
            </a:r>
            <a:r>
              <a:rPr lang="en-US" sz="1600" b="0" dirty="0">
                <a:solidFill>
                  <a:srgbClr val="222222"/>
                </a:solidFill>
                <a:latin typeface="맑은 고딕"/>
              </a:rPr>
              <a:t>ch 1~1</a:t>
            </a:r>
            <a:r>
              <a:rPr sz="1600" b="0" dirty="0">
                <a:solidFill>
                  <a:srgbClr val="222222"/>
                </a:solidFill>
                <a:latin typeface="맑은 고딕"/>
              </a:rPr>
              <a:t>4 로 </a:t>
            </a:r>
            <a:r>
              <a:rPr sz="1600" b="0" dirty="0" err="1">
                <a:solidFill>
                  <a:srgbClr val="222222"/>
                </a:solidFill>
                <a:latin typeface="맑은 고딕"/>
              </a:rPr>
              <a:t>돌아온다</a:t>
            </a:r>
            <a:r>
              <a:rPr sz="1600" b="0" dirty="0">
                <a:solidFill>
                  <a:srgbClr val="222222"/>
                </a:solidFill>
                <a:latin typeface="맑은 고딕"/>
              </a:rPr>
              <a:t> (</a:t>
            </a:r>
            <a:r>
              <a:rPr sz="1600" b="0" dirty="0" err="1">
                <a:solidFill>
                  <a:srgbClr val="222222"/>
                </a:solidFill>
                <a:latin typeface="맑은 고딕"/>
              </a:rPr>
              <a:t>브리지</a:t>
            </a:r>
            <a:r>
              <a:rPr sz="1600" b="0" dirty="0">
                <a:solidFill>
                  <a:srgbClr val="222222"/>
                </a:solidFill>
                <a:latin typeface="맑은 고딕"/>
              </a:rPr>
              <a:t> 02)</a:t>
            </a:r>
          </a:p>
          <a:p>
            <a:pPr>
              <a:spcAft>
                <a:spcPts val="800"/>
              </a:spcAft>
            </a:pPr>
            <a:r>
              <a:rPr sz="1600" b="0" dirty="0">
                <a:solidFill>
                  <a:srgbClr val="222222"/>
                </a:solidFill>
                <a:latin typeface="맑은 고딕"/>
              </a:rPr>
              <a:t>•  ⑤ </a:t>
            </a:r>
            <a:r>
              <a:rPr sz="1600" b="0" dirty="0" err="1">
                <a:solidFill>
                  <a:srgbClr val="222222"/>
                </a:solidFill>
                <a:latin typeface="맑은 고딕"/>
              </a:rPr>
              <a:t>손으로</a:t>
            </a:r>
            <a:r>
              <a:rPr sz="1600" b="0" dirty="0">
                <a:solidFill>
                  <a:srgbClr val="222222"/>
                </a:solidFill>
                <a:latin typeface="맑은 고딕"/>
              </a:rPr>
              <a:t> </a:t>
            </a:r>
            <a:r>
              <a:rPr sz="1600" b="0" dirty="0" err="1">
                <a:solidFill>
                  <a:srgbClr val="222222"/>
                </a:solidFill>
                <a:latin typeface="맑은 고딕"/>
              </a:rPr>
              <a:t>고친</a:t>
            </a:r>
            <a:r>
              <a:rPr sz="1600" b="0" dirty="0">
                <a:solidFill>
                  <a:srgbClr val="222222"/>
                </a:solidFill>
                <a:latin typeface="맑은 고딕"/>
              </a:rPr>
              <a:t> </a:t>
            </a:r>
            <a:r>
              <a:rPr sz="1600" b="0" dirty="0" err="1">
                <a:solidFill>
                  <a:srgbClr val="222222"/>
                </a:solidFill>
                <a:latin typeface="맑은 고딕"/>
              </a:rPr>
              <a:t>결과를</a:t>
            </a:r>
            <a:r>
              <a:rPr sz="1600" b="0" dirty="0">
                <a:solidFill>
                  <a:srgbClr val="222222"/>
                </a:solidFill>
                <a:latin typeface="맑은 고딕"/>
              </a:rPr>
              <a:t> </a:t>
            </a:r>
            <a:r>
              <a:rPr sz="1600" b="0" dirty="0" err="1">
                <a:solidFill>
                  <a:srgbClr val="222222"/>
                </a:solidFill>
                <a:latin typeface="맑은 고딕"/>
              </a:rPr>
              <a:t>어드바이저</a:t>
            </a:r>
            <a:r>
              <a:rPr sz="1600" b="0" dirty="0">
                <a:solidFill>
                  <a:srgbClr val="222222"/>
                </a:solidFill>
                <a:latin typeface="맑은 고딕"/>
              </a:rPr>
              <a:t> </a:t>
            </a:r>
            <a:r>
              <a:rPr sz="1600" b="0" dirty="0" err="1">
                <a:solidFill>
                  <a:srgbClr val="222222"/>
                </a:solidFill>
                <a:latin typeface="맑은 고딕"/>
              </a:rPr>
              <a:t>권고와</a:t>
            </a:r>
            <a:r>
              <a:rPr sz="1600" b="0" dirty="0">
                <a:solidFill>
                  <a:srgbClr val="222222"/>
                </a:solidFill>
                <a:latin typeface="맑은 고딕"/>
              </a:rPr>
              <a:t> </a:t>
            </a:r>
            <a:r>
              <a:rPr sz="1600" b="0" dirty="0" err="1">
                <a:solidFill>
                  <a:srgbClr val="222222"/>
                </a:solidFill>
                <a:latin typeface="맑은 고딕"/>
              </a:rPr>
              <a:t>대조한다</a:t>
            </a:r>
            <a:r>
              <a:rPr sz="1600" b="0" dirty="0">
                <a:solidFill>
                  <a:srgbClr val="222222"/>
                </a:solidFill>
                <a:latin typeface="맑은 고딕"/>
              </a:rPr>
              <a:t>  ( ch30, </a:t>
            </a:r>
            <a:r>
              <a:rPr sz="1600" b="0" dirty="0" err="1">
                <a:solidFill>
                  <a:srgbClr val="222222"/>
                </a:solidFill>
                <a:latin typeface="맑은 고딕"/>
              </a:rPr>
              <a:t>브리지</a:t>
            </a:r>
            <a:r>
              <a:rPr sz="1600" b="0" dirty="0">
                <a:solidFill>
                  <a:srgbClr val="222222"/>
                </a:solidFill>
                <a:latin typeface="맑은 고딕"/>
              </a:rPr>
              <a:t> 03)</a:t>
            </a:r>
          </a:p>
          <a:p>
            <a:pPr>
              <a:spcAft>
                <a:spcPts val="800"/>
              </a:spcAft>
            </a:pPr>
            <a:r>
              <a:rPr sz="1600" b="0" dirty="0">
                <a:solidFill>
                  <a:srgbClr val="222222"/>
                </a:solidFill>
                <a:latin typeface="맑은 고딕"/>
              </a:rPr>
              <a:t>•  ⑥ </a:t>
            </a:r>
            <a:r>
              <a:rPr sz="1600" b="0" dirty="0" err="1">
                <a:solidFill>
                  <a:srgbClr val="222222"/>
                </a:solidFill>
                <a:latin typeface="맑은 고딕"/>
              </a:rPr>
              <a:t>조치</a:t>
            </a:r>
            <a:r>
              <a:rPr sz="1600" b="0" dirty="0">
                <a:solidFill>
                  <a:srgbClr val="222222"/>
                </a:solidFill>
                <a:latin typeface="맑은 고딕"/>
              </a:rPr>
              <a:t> </a:t>
            </a:r>
            <a:r>
              <a:rPr sz="1600" b="0" dirty="0" err="1">
                <a:solidFill>
                  <a:srgbClr val="222222"/>
                </a:solidFill>
                <a:latin typeface="맑은 고딕"/>
              </a:rPr>
              <a:t>전후를</a:t>
            </a:r>
            <a:r>
              <a:rPr sz="1600" b="0" dirty="0">
                <a:solidFill>
                  <a:srgbClr val="222222"/>
                </a:solidFill>
                <a:latin typeface="맑은 고딕"/>
              </a:rPr>
              <a:t> </a:t>
            </a:r>
            <a:r>
              <a:rPr sz="1600" b="0" dirty="0" err="1">
                <a:solidFill>
                  <a:srgbClr val="222222"/>
                </a:solidFill>
                <a:latin typeface="맑은 고딕"/>
              </a:rPr>
              <a:t>기간</a:t>
            </a:r>
            <a:r>
              <a:rPr sz="1600" b="0" dirty="0">
                <a:solidFill>
                  <a:srgbClr val="222222"/>
                </a:solidFill>
                <a:latin typeface="맑은 고딕"/>
              </a:rPr>
              <a:t> </a:t>
            </a:r>
            <a:r>
              <a:rPr sz="1600" b="0" dirty="0" err="1">
                <a:solidFill>
                  <a:srgbClr val="222222"/>
                </a:solidFill>
                <a:latin typeface="맑은 고딕"/>
              </a:rPr>
              <a:t>비교로</a:t>
            </a:r>
            <a:r>
              <a:rPr sz="1600" b="0" dirty="0">
                <a:solidFill>
                  <a:srgbClr val="222222"/>
                </a:solidFill>
                <a:latin typeface="맑은 고딕"/>
              </a:rPr>
              <a:t> </a:t>
            </a:r>
            <a:r>
              <a:rPr sz="1600" b="0" dirty="0" err="1">
                <a:solidFill>
                  <a:srgbClr val="222222"/>
                </a:solidFill>
                <a:latin typeface="맑은 고딕"/>
              </a:rPr>
              <a:t>증명한다</a:t>
            </a:r>
            <a:r>
              <a:rPr sz="1600" b="0" dirty="0">
                <a:solidFill>
                  <a:srgbClr val="222222"/>
                </a:solidFill>
                <a:latin typeface="맑은 고딕"/>
              </a:rPr>
              <a:t>  ( ch23) — SQL </a:t>
            </a:r>
            <a:r>
              <a:rPr sz="1600" b="0" dirty="0" err="1">
                <a:solidFill>
                  <a:srgbClr val="222222"/>
                </a:solidFill>
                <a:latin typeface="맑은 고딕"/>
              </a:rPr>
              <a:t>층위의</a:t>
            </a:r>
            <a:r>
              <a:rPr sz="1600" b="0" dirty="0">
                <a:solidFill>
                  <a:srgbClr val="222222"/>
                </a:solidFill>
                <a:latin typeface="맑은 고딕"/>
              </a:rPr>
              <a:t> Buffers </a:t>
            </a:r>
            <a:r>
              <a:rPr sz="1600" b="0" dirty="0" err="1">
                <a:solidFill>
                  <a:srgbClr val="222222"/>
                </a:solidFill>
                <a:latin typeface="맑은 고딕"/>
              </a:rPr>
              <a:t>비교와</a:t>
            </a:r>
            <a:r>
              <a:rPr sz="1600" b="0" dirty="0">
                <a:solidFill>
                  <a:srgbClr val="222222"/>
                </a:solidFill>
                <a:latin typeface="맑은 고딕"/>
              </a:rPr>
              <a:t> </a:t>
            </a:r>
            <a:r>
              <a:rPr sz="1600" b="0" dirty="0" err="1">
                <a:solidFill>
                  <a:srgbClr val="222222"/>
                </a:solidFill>
                <a:latin typeface="맑은 고딕"/>
              </a:rPr>
              <a:t>짝을</a:t>
            </a:r>
            <a:r>
              <a:rPr sz="1600" b="0" dirty="0">
                <a:solidFill>
                  <a:srgbClr val="222222"/>
                </a:solidFill>
                <a:latin typeface="맑은 고딕"/>
              </a:rPr>
              <a:t> </a:t>
            </a:r>
            <a:r>
              <a:rPr sz="1600" b="0" dirty="0" err="1">
                <a:solidFill>
                  <a:srgbClr val="222222"/>
                </a:solidFill>
                <a:latin typeface="맑은 고딕"/>
              </a:rPr>
              <a:t>이룬다</a:t>
            </a:r>
            <a:endParaRPr sz="1600" b="0" dirty="0">
              <a:solidFill>
                <a:srgbClr val="222222"/>
              </a:solidFill>
              <a:latin typeface="맑은 고딕"/>
            </a:endParaRPr>
          </a:p>
          <a:p>
            <a:pPr>
              <a:spcAft>
                <a:spcPts val="800"/>
              </a:spcAft>
            </a:pPr>
            <a:r>
              <a:rPr sz="1600" b="0" dirty="0">
                <a:solidFill>
                  <a:srgbClr val="222222"/>
                </a:solidFill>
                <a:latin typeface="맑은 고딕"/>
              </a:rPr>
              <a:t>•  ⑦ SQL 로 </a:t>
            </a:r>
            <a:r>
              <a:rPr sz="1600" b="0" dirty="0" err="1">
                <a:solidFill>
                  <a:srgbClr val="222222"/>
                </a:solidFill>
                <a:latin typeface="맑은 고딕"/>
              </a:rPr>
              <a:t>해결되지</a:t>
            </a:r>
            <a:r>
              <a:rPr sz="1600" b="0" dirty="0">
                <a:solidFill>
                  <a:srgbClr val="222222"/>
                </a:solidFill>
                <a:latin typeface="맑은 고딕"/>
              </a:rPr>
              <a:t> </a:t>
            </a:r>
            <a:r>
              <a:rPr sz="1600" b="0" dirty="0" err="1">
                <a:solidFill>
                  <a:srgbClr val="222222"/>
                </a:solidFill>
                <a:latin typeface="맑은 고딕"/>
              </a:rPr>
              <a:t>않는</a:t>
            </a:r>
            <a:r>
              <a:rPr sz="1600" b="0" dirty="0">
                <a:solidFill>
                  <a:srgbClr val="222222"/>
                </a:solidFill>
                <a:latin typeface="맑은 고딕"/>
              </a:rPr>
              <a:t> </a:t>
            </a:r>
            <a:r>
              <a:rPr sz="1600" b="0" dirty="0" err="1">
                <a:solidFill>
                  <a:srgbClr val="222222"/>
                </a:solidFill>
                <a:latin typeface="맑은 고딕"/>
              </a:rPr>
              <a:t>나머지는</a:t>
            </a:r>
            <a:r>
              <a:rPr sz="1600" b="0" dirty="0">
                <a:solidFill>
                  <a:srgbClr val="222222"/>
                </a:solidFill>
                <a:latin typeface="맑은 고딕"/>
              </a:rPr>
              <a:t> </a:t>
            </a:r>
            <a:r>
              <a:rPr sz="1600" b="0" dirty="0" err="1">
                <a:solidFill>
                  <a:srgbClr val="222222"/>
                </a:solidFill>
                <a:latin typeface="맑은 고딕"/>
              </a:rPr>
              <a:t>메모리·I</a:t>
            </a:r>
            <a:r>
              <a:rPr sz="1600" b="0" dirty="0">
                <a:solidFill>
                  <a:srgbClr val="222222"/>
                </a:solidFill>
                <a:latin typeface="맑은 고딕"/>
              </a:rPr>
              <a:t>/O </a:t>
            </a:r>
            <a:r>
              <a:rPr sz="1600" b="0" dirty="0" err="1">
                <a:solidFill>
                  <a:srgbClr val="222222"/>
                </a:solidFill>
                <a:latin typeface="맑은 고딕"/>
              </a:rPr>
              <a:t>구성으로</a:t>
            </a:r>
            <a:r>
              <a:rPr sz="1600" b="0" dirty="0">
                <a:solidFill>
                  <a:srgbClr val="222222"/>
                </a:solidFill>
                <a:latin typeface="맑은 고딕"/>
              </a:rPr>
              <a:t> </a:t>
            </a:r>
            <a:r>
              <a:rPr sz="1600" b="0" dirty="0" err="1">
                <a:solidFill>
                  <a:srgbClr val="222222"/>
                </a:solidFill>
                <a:latin typeface="맑은 고딕"/>
              </a:rPr>
              <a:t>간다</a:t>
            </a:r>
            <a:r>
              <a:rPr sz="1600" b="0" dirty="0">
                <a:solidFill>
                  <a:srgbClr val="222222"/>
                </a:solidFill>
                <a:latin typeface="맑은 고딕"/>
              </a:rPr>
              <a:t>  ( ch29~ch34)</a:t>
            </a:r>
          </a:p>
        </p:txBody>
      </p:sp>
    </p:spTree>
    <p:extLst>
      <p:ext uri="{BB962C8B-B14F-4D97-AF65-F5344CB8AC3E}">
        <p14:creationId xmlns:p14="http://schemas.microsoft.com/office/powerpoint/2010/main" val="278316656"/>
      </p:ext>
    </p:extLst>
  </p:cSld>
  <p:clrMapOvr>
    <a:masterClrMapping/>
  </p:clrMapOvr>
</p:sld>
</file>

<file path=ppt/slides/slide6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인스턴스 부문에서 특히 경계할 세 가지</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SQL 부문에는 없던 함정</a:t>
            </a:r>
          </a:p>
        </p:txBody>
      </p:sp>
      <p:sp>
        <p:nvSpPr>
          <p:cNvPr id="5" name="TextBox 4"/>
          <p:cNvSpPr txBox="1"/>
          <p:nvPr/>
        </p:nvSpPr>
        <p:spPr>
          <a:xfrm>
            <a:off x="640080" y="1737360"/>
            <a:ext cx="10881360" cy="2492990"/>
          </a:xfrm>
          <a:prstGeom prst="rect">
            <a:avLst/>
          </a:prstGeom>
          <a:noFill/>
        </p:spPr>
        <p:txBody>
          <a:bodyPr wrap="square">
            <a:spAutoFit/>
          </a:bodyPr>
          <a:lstStyle/>
          <a:p>
            <a:pPr>
              <a:spcAft>
                <a:spcPts val="800"/>
              </a:spcAft>
            </a:pPr>
            <a:r>
              <a:rPr sz="1700" b="0" dirty="0">
                <a:solidFill>
                  <a:srgbClr val="222222"/>
                </a:solidFill>
                <a:latin typeface="맑은 고딕"/>
              </a:rPr>
              <a:t>•  </a:t>
            </a:r>
            <a:r>
              <a:rPr sz="1700" b="0" dirty="0" err="1">
                <a:solidFill>
                  <a:srgbClr val="222222"/>
                </a:solidFill>
                <a:latin typeface="맑은 고딕"/>
              </a:rPr>
              <a:t>히트율</a:t>
            </a:r>
            <a:r>
              <a:rPr sz="1700" b="0" dirty="0">
                <a:solidFill>
                  <a:srgbClr val="222222"/>
                </a:solidFill>
                <a:latin typeface="맑은 고딕"/>
              </a:rPr>
              <a:t> </a:t>
            </a:r>
            <a:r>
              <a:rPr sz="1700" b="0" dirty="0" err="1">
                <a:solidFill>
                  <a:srgbClr val="222222"/>
                </a:solidFill>
                <a:latin typeface="맑은 고딕"/>
              </a:rPr>
              <a:t>신앙</a:t>
            </a:r>
            <a:r>
              <a:rPr sz="1700" b="0" dirty="0">
                <a:solidFill>
                  <a:srgbClr val="222222"/>
                </a:solidFill>
                <a:latin typeface="맑은 고딕"/>
              </a:rPr>
              <a:t> — </a:t>
            </a:r>
            <a:r>
              <a:rPr sz="1700" b="0" dirty="0" err="1">
                <a:solidFill>
                  <a:srgbClr val="222222"/>
                </a:solidFill>
                <a:latin typeface="맑은 고딕"/>
              </a:rPr>
              <a:t>버퍼</a:t>
            </a:r>
            <a:r>
              <a:rPr sz="1700" b="0" dirty="0">
                <a:solidFill>
                  <a:srgbClr val="222222"/>
                </a:solidFill>
                <a:latin typeface="맑은 고딕"/>
              </a:rPr>
              <a:t> </a:t>
            </a:r>
            <a:r>
              <a:rPr sz="1700" b="0" dirty="0" err="1">
                <a:solidFill>
                  <a:srgbClr val="222222"/>
                </a:solidFill>
                <a:latin typeface="맑은 고딕"/>
              </a:rPr>
              <a:t>캐시</a:t>
            </a:r>
            <a:r>
              <a:rPr sz="1700" b="0" dirty="0">
                <a:solidFill>
                  <a:srgbClr val="222222"/>
                </a:solidFill>
                <a:latin typeface="맑은 고딕"/>
              </a:rPr>
              <a:t> </a:t>
            </a:r>
            <a:r>
              <a:rPr sz="1700" b="0" dirty="0" err="1">
                <a:solidFill>
                  <a:srgbClr val="222222"/>
                </a:solidFill>
                <a:latin typeface="맑은 고딕"/>
              </a:rPr>
              <a:t>히트율</a:t>
            </a:r>
            <a:r>
              <a:rPr sz="1700" b="0" dirty="0">
                <a:solidFill>
                  <a:srgbClr val="222222"/>
                </a:solidFill>
                <a:latin typeface="맑은 고딕"/>
              </a:rPr>
              <a:t> 99% </a:t>
            </a:r>
            <a:r>
              <a:rPr sz="1700" b="0" dirty="0" err="1">
                <a:solidFill>
                  <a:srgbClr val="222222"/>
                </a:solidFill>
                <a:latin typeface="맑은 고딕"/>
              </a:rPr>
              <a:t>인데</a:t>
            </a:r>
            <a:r>
              <a:rPr sz="1700" b="0" dirty="0">
                <a:solidFill>
                  <a:srgbClr val="222222"/>
                </a:solidFill>
                <a:latin typeface="맑은 고딕"/>
              </a:rPr>
              <a:t> </a:t>
            </a:r>
            <a:r>
              <a:rPr sz="1700" b="0" dirty="0" err="1">
                <a:solidFill>
                  <a:srgbClr val="222222"/>
                </a:solidFill>
                <a:latin typeface="맑은 고딕"/>
              </a:rPr>
              <a:t>응답시간이</a:t>
            </a:r>
            <a:r>
              <a:rPr sz="1700" b="0" dirty="0">
                <a:solidFill>
                  <a:srgbClr val="222222"/>
                </a:solidFill>
                <a:latin typeface="맑은 고딕"/>
              </a:rPr>
              <a:t> </a:t>
            </a:r>
            <a:r>
              <a:rPr sz="1700" b="0" dirty="0" err="1">
                <a:solidFill>
                  <a:srgbClr val="222222"/>
                </a:solidFill>
                <a:latin typeface="맑은 고딕"/>
              </a:rPr>
              <a:t>나쁜</a:t>
            </a:r>
            <a:r>
              <a:rPr sz="1700" b="0" dirty="0">
                <a:solidFill>
                  <a:srgbClr val="222222"/>
                </a:solidFill>
                <a:latin typeface="맑은 고딕"/>
              </a:rPr>
              <a:t> </a:t>
            </a:r>
            <a:r>
              <a:rPr sz="1700" b="0" dirty="0" err="1">
                <a:solidFill>
                  <a:srgbClr val="222222"/>
                </a:solidFill>
                <a:latin typeface="맑은 고딕"/>
              </a:rPr>
              <a:t>상황을</a:t>
            </a:r>
            <a:r>
              <a:rPr sz="1700" b="0" dirty="0">
                <a:solidFill>
                  <a:srgbClr val="222222"/>
                </a:solidFill>
                <a:latin typeface="맑은 고딕"/>
              </a:rPr>
              <a:t>  ch31에서 </a:t>
            </a:r>
            <a:r>
              <a:rPr sz="1700" b="0" dirty="0" err="1">
                <a:solidFill>
                  <a:srgbClr val="222222"/>
                </a:solidFill>
                <a:latin typeface="맑은 고딕"/>
              </a:rPr>
              <a:t>직접</a:t>
            </a:r>
            <a:r>
              <a:rPr sz="1700" b="0" dirty="0">
                <a:solidFill>
                  <a:srgbClr val="222222"/>
                </a:solidFill>
                <a:latin typeface="맑은 고딕"/>
              </a:rPr>
              <a:t> </a:t>
            </a:r>
            <a:r>
              <a:rPr sz="1700" b="0" dirty="0" err="1">
                <a:solidFill>
                  <a:srgbClr val="222222"/>
                </a:solidFill>
                <a:latin typeface="맑은 고딕"/>
              </a:rPr>
              <a:t>만든다</a:t>
            </a:r>
            <a:r>
              <a:rPr sz="1700" b="0" dirty="0">
                <a:solidFill>
                  <a:srgbClr val="222222"/>
                </a:solidFill>
                <a:latin typeface="맑은 고딕"/>
              </a:rPr>
              <a:t>. </a:t>
            </a:r>
            <a:r>
              <a:rPr sz="1700" b="0" dirty="0" err="1">
                <a:solidFill>
                  <a:srgbClr val="222222"/>
                </a:solidFill>
                <a:latin typeface="맑은 고딕"/>
              </a:rPr>
              <a:t>비율은</a:t>
            </a:r>
            <a:r>
              <a:rPr sz="1700" b="0" dirty="0">
                <a:solidFill>
                  <a:srgbClr val="222222"/>
                </a:solidFill>
                <a:latin typeface="맑은 고딕"/>
              </a:rPr>
              <a:t> </a:t>
            </a:r>
            <a:r>
              <a:rPr sz="1700" b="0" dirty="0" err="1">
                <a:solidFill>
                  <a:srgbClr val="222222"/>
                </a:solidFill>
                <a:latin typeface="맑은 고딕"/>
              </a:rPr>
              <a:t>병목을</a:t>
            </a:r>
            <a:r>
              <a:rPr sz="1700" b="0" dirty="0">
                <a:solidFill>
                  <a:srgbClr val="222222"/>
                </a:solidFill>
                <a:latin typeface="맑은 고딕"/>
              </a:rPr>
              <a:t> </a:t>
            </a:r>
            <a:r>
              <a:rPr sz="1700" b="0" dirty="0" err="1">
                <a:solidFill>
                  <a:srgbClr val="222222"/>
                </a:solidFill>
                <a:latin typeface="맑은 고딕"/>
              </a:rPr>
              <a:t>숨긴다</a:t>
            </a:r>
            <a:r>
              <a:rPr sz="1700" b="0" dirty="0">
                <a:solidFill>
                  <a:srgbClr val="222222"/>
                </a:solidFill>
                <a:latin typeface="맑은 고딕"/>
              </a:rPr>
              <a:t>.</a:t>
            </a:r>
          </a:p>
          <a:p>
            <a:pPr>
              <a:spcAft>
                <a:spcPts val="800"/>
              </a:spcAft>
            </a:pPr>
            <a:r>
              <a:rPr sz="1700" b="0" dirty="0">
                <a:solidFill>
                  <a:srgbClr val="222222"/>
                </a:solidFill>
                <a:latin typeface="맑은 고딕"/>
              </a:rPr>
              <a:t>•  </a:t>
            </a:r>
            <a:r>
              <a:rPr sz="1700" b="0" dirty="0" err="1">
                <a:solidFill>
                  <a:srgbClr val="222222"/>
                </a:solidFill>
                <a:latin typeface="맑은 고딕"/>
              </a:rPr>
              <a:t>권고</a:t>
            </a:r>
            <a:r>
              <a:rPr sz="1700" b="0" dirty="0">
                <a:solidFill>
                  <a:srgbClr val="222222"/>
                </a:solidFill>
                <a:latin typeface="맑은 고딕"/>
              </a:rPr>
              <a:t> </a:t>
            </a:r>
            <a:r>
              <a:rPr sz="1700" b="0" dirty="0" err="1">
                <a:solidFill>
                  <a:srgbClr val="222222"/>
                </a:solidFill>
                <a:latin typeface="맑은 고딕"/>
              </a:rPr>
              <a:t>맹신</a:t>
            </a:r>
            <a:r>
              <a:rPr sz="1700" b="0" dirty="0">
                <a:solidFill>
                  <a:srgbClr val="222222"/>
                </a:solidFill>
                <a:latin typeface="맑은 고딕"/>
              </a:rPr>
              <a:t> — </a:t>
            </a:r>
            <a:r>
              <a:rPr sz="1700" b="0" dirty="0" err="1">
                <a:solidFill>
                  <a:srgbClr val="222222"/>
                </a:solidFill>
                <a:latin typeface="맑은 고딕"/>
              </a:rPr>
              <a:t>ADDM·어드바이저의</a:t>
            </a:r>
            <a:r>
              <a:rPr sz="1700" b="0" dirty="0">
                <a:solidFill>
                  <a:srgbClr val="222222"/>
                </a:solidFill>
                <a:latin typeface="맑은 고딕"/>
              </a:rPr>
              <a:t> </a:t>
            </a:r>
            <a:r>
              <a:rPr sz="1700" b="0" dirty="0" err="1">
                <a:solidFill>
                  <a:srgbClr val="222222"/>
                </a:solidFill>
                <a:latin typeface="맑은 고딕"/>
              </a:rPr>
              <a:t>권고를</a:t>
            </a:r>
            <a:r>
              <a:rPr sz="1700" b="0" dirty="0">
                <a:solidFill>
                  <a:srgbClr val="222222"/>
                </a:solidFill>
                <a:latin typeface="맑은 고딕"/>
              </a:rPr>
              <a:t> </a:t>
            </a:r>
            <a:r>
              <a:rPr sz="1700" b="0" dirty="0" err="1">
                <a:solidFill>
                  <a:srgbClr val="222222"/>
                </a:solidFill>
                <a:latin typeface="맑은 고딕"/>
              </a:rPr>
              <a:t>그대로</a:t>
            </a:r>
            <a:r>
              <a:rPr sz="1700" b="0" dirty="0">
                <a:solidFill>
                  <a:srgbClr val="222222"/>
                </a:solidFill>
                <a:latin typeface="맑은 고딕"/>
              </a:rPr>
              <a:t> </a:t>
            </a:r>
            <a:r>
              <a:rPr sz="1700" b="0" dirty="0" err="1">
                <a:solidFill>
                  <a:srgbClr val="222222"/>
                </a:solidFill>
                <a:latin typeface="맑은 고딕"/>
              </a:rPr>
              <a:t>적용하면</a:t>
            </a:r>
            <a:r>
              <a:rPr sz="1700" b="0" dirty="0">
                <a:solidFill>
                  <a:srgbClr val="222222"/>
                </a:solidFill>
                <a:latin typeface="맑은 고딕"/>
              </a:rPr>
              <a:t> 안 </a:t>
            </a:r>
            <a:r>
              <a:rPr sz="1700" b="0" dirty="0" err="1">
                <a:solidFill>
                  <a:srgbClr val="222222"/>
                </a:solidFill>
                <a:latin typeface="맑은 고딕"/>
              </a:rPr>
              <a:t>되는</a:t>
            </a:r>
            <a:r>
              <a:rPr sz="1700" b="0" dirty="0">
                <a:solidFill>
                  <a:srgbClr val="222222"/>
                </a:solidFill>
                <a:latin typeface="맑은 고딕"/>
              </a:rPr>
              <a:t> </a:t>
            </a:r>
            <a:r>
              <a:rPr sz="1700" b="0" dirty="0" err="1">
                <a:solidFill>
                  <a:srgbClr val="222222"/>
                </a:solidFill>
                <a:latin typeface="맑은 고딕"/>
              </a:rPr>
              <a:t>사례를</a:t>
            </a:r>
            <a:r>
              <a:rPr sz="1700" b="0" dirty="0">
                <a:solidFill>
                  <a:srgbClr val="222222"/>
                </a:solidFill>
                <a:latin typeface="맑은 고딕"/>
              </a:rPr>
              <a:t> ch24에서 </a:t>
            </a:r>
            <a:r>
              <a:rPr sz="1700" b="0" dirty="0" err="1">
                <a:solidFill>
                  <a:srgbClr val="222222"/>
                </a:solidFill>
                <a:latin typeface="맑은 고딕"/>
              </a:rPr>
              <a:t>판별한다</a:t>
            </a:r>
            <a:r>
              <a:rPr sz="1700" b="0" dirty="0">
                <a:solidFill>
                  <a:srgbClr val="222222"/>
                </a:solidFill>
                <a:latin typeface="맑은 고딕"/>
              </a:rPr>
              <a:t>. </a:t>
            </a:r>
            <a:r>
              <a:rPr sz="1700" b="0" dirty="0" err="1">
                <a:solidFill>
                  <a:srgbClr val="222222"/>
                </a:solidFill>
                <a:latin typeface="맑은 고딕"/>
              </a:rPr>
              <a:t>권고는</a:t>
            </a:r>
            <a:r>
              <a:rPr sz="1700" b="0" dirty="0">
                <a:solidFill>
                  <a:srgbClr val="222222"/>
                </a:solidFill>
                <a:latin typeface="맑은 고딕"/>
              </a:rPr>
              <a:t> </a:t>
            </a:r>
            <a:r>
              <a:rPr sz="1700" b="0" dirty="0" err="1">
                <a:solidFill>
                  <a:srgbClr val="222222"/>
                </a:solidFill>
                <a:latin typeface="맑은 고딕"/>
              </a:rPr>
              <a:t>가설이지</a:t>
            </a:r>
            <a:r>
              <a:rPr sz="1700" b="0" dirty="0">
                <a:solidFill>
                  <a:srgbClr val="222222"/>
                </a:solidFill>
                <a:latin typeface="맑은 고딕"/>
              </a:rPr>
              <a:t> </a:t>
            </a:r>
            <a:r>
              <a:rPr sz="1700" b="0" dirty="0" err="1">
                <a:solidFill>
                  <a:srgbClr val="222222"/>
                </a:solidFill>
                <a:latin typeface="맑은 고딕"/>
              </a:rPr>
              <a:t>결론이</a:t>
            </a:r>
            <a:r>
              <a:rPr sz="1700" b="0" dirty="0">
                <a:solidFill>
                  <a:srgbClr val="222222"/>
                </a:solidFill>
                <a:latin typeface="맑은 고딕"/>
              </a:rPr>
              <a:t> </a:t>
            </a:r>
            <a:r>
              <a:rPr sz="1700" b="0" dirty="0" err="1">
                <a:solidFill>
                  <a:srgbClr val="222222"/>
                </a:solidFill>
                <a:latin typeface="맑은 고딕"/>
              </a:rPr>
              <a:t>아니다</a:t>
            </a:r>
            <a:r>
              <a:rPr sz="1700" b="0" dirty="0">
                <a:solidFill>
                  <a:srgbClr val="222222"/>
                </a:solidFill>
                <a:latin typeface="맑은 고딕"/>
              </a:rPr>
              <a:t>.</a:t>
            </a:r>
          </a:p>
          <a:p>
            <a:pPr>
              <a:spcAft>
                <a:spcPts val="800"/>
              </a:spcAft>
            </a:pPr>
            <a:r>
              <a:rPr sz="1700" b="0" dirty="0">
                <a:solidFill>
                  <a:srgbClr val="222222"/>
                </a:solidFill>
                <a:latin typeface="맑은 고딕"/>
              </a:rPr>
              <a:t>•  </a:t>
            </a:r>
            <a:r>
              <a:rPr sz="1700" b="0" dirty="0" err="1">
                <a:solidFill>
                  <a:srgbClr val="222222"/>
                </a:solidFill>
                <a:latin typeface="맑은 고딕"/>
              </a:rPr>
              <a:t>근거</a:t>
            </a:r>
            <a:r>
              <a:rPr sz="1700" b="0" dirty="0">
                <a:solidFill>
                  <a:srgbClr val="222222"/>
                </a:solidFill>
                <a:latin typeface="맑은 고딕"/>
              </a:rPr>
              <a:t> </a:t>
            </a:r>
            <a:r>
              <a:rPr sz="1700" b="0" dirty="0" err="1">
                <a:solidFill>
                  <a:srgbClr val="222222"/>
                </a:solidFill>
                <a:latin typeface="맑은 고딕"/>
              </a:rPr>
              <a:t>없는</a:t>
            </a:r>
            <a:r>
              <a:rPr sz="1700" b="0" dirty="0">
                <a:solidFill>
                  <a:srgbClr val="222222"/>
                </a:solidFill>
                <a:latin typeface="맑은 고딕"/>
              </a:rPr>
              <a:t> </a:t>
            </a:r>
            <a:r>
              <a:rPr sz="1700" b="0" dirty="0" err="1">
                <a:solidFill>
                  <a:srgbClr val="222222"/>
                </a:solidFill>
                <a:latin typeface="맑은 고딕"/>
              </a:rPr>
              <a:t>조치</a:t>
            </a:r>
            <a:r>
              <a:rPr sz="1700" b="0" dirty="0">
                <a:solidFill>
                  <a:srgbClr val="222222"/>
                </a:solidFill>
                <a:latin typeface="맑은 고딕"/>
              </a:rPr>
              <a:t> — </a:t>
            </a:r>
            <a:r>
              <a:rPr sz="1700" b="0" dirty="0" err="1">
                <a:solidFill>
                  <a:srgbClr val="222222"/>
                </a:solidFill>
                <a:latin typeface="맑은 고딕"/>
              </a:rPr>
              <a:t>조치</a:t>
            </a:r>
            <a:r>
              <a:rPr sz="1700" b="0" dirty="0">
                <a:solidFill>
                  <a:srgbClr val="222222"/>
                </a:solidFill>
                <a:latin typeface="맑은 고딕"/>
              </a:rPr>
              <a:t> 전 </a:t>
            </a:r>
            <a:r>
              <a:rPr sz="1700" b="0" dirty="0" err="1">
                <a:solidFill>
                  <a:srgbClr val="222222"/>
                </a:solidFill>
                <a:latin typeface="맑은 고딕"/>
              </a:rPr>
              <a:t>상태를</a:t>
            </a:r>
            <a:r>
              <a:rPr sz="1700" b="0" dirty="0">
                <a:solidFill>
                  <a:srgbClr val="222222"/>
                </a:solidFill>
                <a:latin typeface="맑은 고딕"/>
              </a:rPr>
              <a:t> </a:t>
            </a:r>
            <a:r>
              <a:rPr sz="1700" b="0" dirty="0" err="1">
                <a:solidFill>
                  <a:srgbClr val="222222"/>
                </a:solidFill>
                <a:latin typeface="맑은 고딕"/>
              </a:rPr>
              <a:t>캡처하지</a:t>
            </a:r>
            <a:r>
              <a:rPr sz="1700" b="0" dirty="0">
                <a:solidFill>
                  <a:srgbClr val="222222"/>
                </a:solidFill>
                <a:latin typeface="맑은 고딕"/>
              </a:rPr>
              <a:t> </a:t>
            </a:r>
            <a:r>
              <a:rPr sz="1700" b="0" dirty="0" err="1">
                <a:solidFill>
                  <a:srgbClr val="222222"/>
                </a:solidFill>
                <a:latin typeface="맑은 고딕"/>
              </a:rPr>
              <a:t>않은</a:t>
            </a:r>
            <a:r>
              <a:rPr sz="1700" b="0" dirty="0">
                <a:solidFill>
                  <a:srgbClr val="222222"/>
                </a:solidFill>
                <a:latin typeface="맑은 고딕"/>
              </a:rPr>
              <a:t> </a:t>
            </a:r>
            <a:r>
              <a:rPr sz="1700" b="0" dirty="0" err="1">
                <a:solidFill>
                  <a:srgbClr val="222222"/>
                </a:solidFill>
                <a:latin typeface="맑은 고딕"/>
              </a:rPr>
              <a:t>튜닝은</a:t>
            </a:r>
            <a:r>
              <a:rPr sz="1700" b="0" dirty="0">
                <a:solidFill>
                  <a:srgbClr val="222222"/>
                </a:solidFill>
                <a:latin typeface="맑은 고딕"/>
              </a:rPr>
              <a:t> </a:t>
            </a:r>
            <a:r>
              <a:rPr sz="1700" b="0" dirty="0" err="1">
                <a:solidFill>
                  <a:srgbClr val="222222"/>
                </a:solidFill>
                <a:latin typeface="맑은 고딕"/>
              </a:rPr>
              <a:t>효과를</a:t>
            </a:r>
            <a:r>
              <a:rPr sz="1700" b="0" dirty="0">
                <a:solidFill>
                  <a:srgbClr val="222222"/>
                </a:solidFill>
                <a:latin typeface="맑은 고딕"/>
              </a:rPr>
              <a:t> </a:t>
            </a:r>
            <a:r>
              <a:rPr sz="1700" b="0" dirty="0" err="1">
                <a:solidFill>
                  <a:srgbClr val="222222"/>
                </a:solidFill>
                <a:latin typeface="맑은 고딕"/>
              </a:rPr>
              <a:t>증명할</a:t>
            </a:r>
            <a:r>
              <a:rPr sz="1700" b="0" dirty="0">
                <a:solidFill>
                  <a:srgbClr val="222222"/>
                </a:solidFill>
                <a:latin typeface="맑은 고딕"/>
              </a:rPr>
              <a:t> 수 </a:t>
            </a:r>
            <a:r>
              <a:rPr sz="1700" b="0" dirty="0" err="1">
                <a:solidFill>
                  <a:srgbClr val="222222"/>
                </a:solidFill>
                <a:latin typeface="맑은 고딕"/>
              </a:rPr>
              <a:t>없다</a:t>
            </a:r>
            <a:r>
              <a:rPr sz="1700" b="0" dirty="0">
                <a:solidFill>
                  <a:srgbClr val="222222"/>
                </a:solidFill>
                <a:latin typeface="맑은 고딕"/>
              </a:rPr>
              <a:t>.  ch17 </a:t>
            </a:r>
            <a:r>
              <a:rPr sz="1700" b="0" dirty="0" err="1">
                <a:solidFill>
                  <a:srgbClr val="222222"/>
                </a:solidFill>
                <a:latin typeface="맑은 고딕"/>
              </a:rPr>
              <a:t>실습</a:t>
            </a:r>
            <a:r>
              <a:rPr sz="1700" b="0" dirty="0">
                <a:solidFill>
                  <a:srgbClr val="222222"/>
                </a:solidFill>
                <a:latin typeface="맑은 고딕"/>
              </a:rPr>
              <a:t> 05 </a:t>
            </a:r>
            <a:r>
              <a:rPr sz="1700" b="0" dirty="0" err="1">
                <a:solidFill>
                  <a:srgbClr val="222222"/>
                </a:solidFill>
                <a:latin typeface="맑은 고딕"/>
              </a:rPr>
              <a:t>에서</a:t>
            </a:r>
            <a:r>
              <a:rPr sz="1700" b="0" dirty="0">
                <a:solidFill>
                  <a:srgbClr val="222222"/>
                </a:solidFill>
                <a:latin typeface="맑은 고딕"/>
              </a:rPr>
              <a:t> </a:t>
            </a:r>
            <a:r>
              <a:rPr sz="1700" b="0" dirty="0" err="1">
                <a:solidFill>
                  <a:srgbClr val="222222"/>
                </a:solidFill>
                <a:latin typeface="맑은 고딕"/>
              </a:rPr>
              <a:t>절차로</a:t>
            </a:r>
            <a:r>
              <a:rPr sz="1700" b="0" dirty="0">
                <a:solidFill>
                  <a:srgbClr val="222222"/>
                </a:solidFill>
                <a:latin typeface="맑은 고딕"/>
              </a:rPr>
              <a:t> </a:t>
            </a:r>
            <a:r>
              <a:rPr sz="1700" b="0" dirty="0" err="1">
                <a:solidFill>
                  <a:srgbClr val="222222"/>
                </a:solidFill>
                <a:latin typeface="맑은 고딕"/>
              </a:rPr>
              <a:t>각인한다</a:t>
            </a:r>
            <a:r>
              <a:rPr sz="1700" b="0" dirty="0">
                <a:solidFill>
                  <a:srgbClr val="222222"/>
                </a:solidFill>
                <a:latin typeface="맑은 고딕"/>
              </a:rPr>
              <a:t>.</a:t>
            </a:r>
          </a:p>
          <a:p>
            <a:pPr>
              <a:spcAft>
                <a:spcPts val="800"/>
              </a:spcAft>
            </a:pPr>
            <a:r>
              <a:rPr sz="1700" b="0" dirty="0">
                <a:solidFill>
                  <a:srgbClr val="222222"/>
                </a:solidFill>
                <a:latin typeface="맑은 고딕"/>
              </a:rPr>
              <a:t>•  SQL </a:t>
            </a:r>
            <a:r>
              <a:rPr sz="1700" b="0" dirty="0" err="1">
                <a:solidFill>
                  <a:srgbClr val="222222"/>
                </a:solidFill>
                <a:latin typeface="맑은 고딕"/>
              </a:rPr>
              <a:t>부문의</a:t>
            </a:r>
            <a:r>
              <a:rPr sz="1700" b="0" dirty="0">
                <a:solidFill>
                  <a:srgbClr val="222222"/>
                </a:solidFill>
                <a:latin typeface="맑은 고딕"/>
              </a:rPr>
              <a:t> </a:t>
            </a:r>
            <a:r>
              <a:rPr sz="1700" b="0" dirty="0" err="1">
                <a:solidFill>
                  <a:srgbClr val="222222"/>
                </a:solidFill>
                <a:latin typeface="맑은 고딕"/>
              </a:rPr>
              <a:t>습관을</a:t>
            </a:r>
            <a:r>
              <a:rPr sz="1700" b="0" dirty="0">
                <a:solidFill>
                  <a:srgbClr val="222222"/>
                </a:solidFill>
                <a:latin typeface="맑은 고딕"/>
              </a:rPr>
              <a:t> </a:t>
            </a:r>
            <a:r>
              <a:rPr sz="1700" b="0" dirty="0" err="1">
                <a:solidFill>
                  <a:srgbClr val="222222"/>
                </a:solidFill>
                <a:latin typeface="맑은 고딕"/>
              </a:rPr>
              <a:t>그대로</a:t>
            </a:r>
            <a:r>
              <a:rPr sz="1700" b="0" dirty="0">
                <a:solidFill>
                  <a:srgbClr val="222222"/>
                </a:solidFill>
                <a:latin typeface="맑은 고딕"/>
              </a:rPr>
              <a:t> </a:t>
            </a:r>
            <a:r>
              <a:rPr sz="1700" b="0" dirty="0" err="1">
                <a:solidFill>
                  <a:srgbClr val="222222"/>
                </a:solidFill>
                <a:latin typeface="맑은 고딕"/>
              </a:rPr>
              <a:t>가져온다</a:t>
            </a:r>
            <a:r>
              <a:rPr sz="1700" b="0" dirty="0">
                <a:solidFill>
                  <a:srgbClr val="222222"/>
                </a:solidFill>
                <a:latin typeface="맑은 고딕"/>
              </a:rPr>
              <a:t> — </a:t>
            </a:r>
            <a:r>
              <a:rPr sz="1700" b="0" dirty="0" err="1">
                <a:solidFill>
                  <a:srgbClr val="222222"/>
                </a:solidFill>
                <a:latin typeface="맑은 고딕"/>
              </a:rPr>
              <a:t>실행계획을</a:t>
            </a:r>
            <a:r>
              <a:rPr sz="1700" b="0" dirty="0">
                <a:solidFill>
                  <a:srgbClr val="222222"/>
                </a:solidFill>
                <a:latin typeface="맑은 고딕"/>
              </a:rPr>
              <a:t> </a:t>
            </a:r>
            <a:r>
              <a:rPr sz="1700" b="0" dirty="0" err="1">
                <a:solidFill>
                  <a:srgbClr val="222222"/>
                </a:solidFill>
                <a:latin typeface="맑은 고딕"/>
              </a:rPr>
              <a:t>읽기</a:t>
            </a:r>
            <a:r>
              <a:rPr sz="1700" b="0" dirty="0">
                <a:solidFill>
                  <a:srgbClr val="222222"/>
                </a:solidFill>
                <a:latin typeface="맑은 고딕"/>
              </a:rPr>
              <a:t> </a:t>
            </a:r>
            <a:r>
              <a:rPr sz="1700" b="0" dirty="0" err="1">
                <a:solidFill>
                  <a:srgbClr val="222222"/>
                </a:solidFill>
                <a:latin typeface="맑은 고딕"/>
              </a:rPr>
              <a:t>전에</a:t>
            </a:r>
            <a:r>
              <a:rPr sz="1700" b="0" dirty="0">
                <a:solidFill>
                  <a:srgbClr val="222222"/>
                </a:solidFill>
                <a:latin typeface="맑은 고딕"/>
              </a:rPr>
              <a:t> SQL 을 </a:t>
            </a:r>
            <a:r>
              <a:rPr sz="1700" b="0" dirty="0" err="1">
                <a:solidFill>
                  <a:srgbClr val="222222"/>
                </a:solidFill>
                <a:latin typeface="맑은 고딕"/>
              </a:rPr>
              <a:t>고치지</a:t>
            </a:r>
            <a:r>
              <a:rPr sz="1700" b="0" dirty="0">
                <a:solidFill>
                  <a:srgbClr val="222222"/>
                </a:solidFill>
                <a:latin typeface="맑은 고딕"/>
              </a:rPr>
              <a:t> </a:t>
            </a:r>
            <a:r>
              <a:rPr sz="1700" b="0" dirty="0" err="1">
                <a:solidFill>
                  <a:srgbClr val="222222"/>
                </a:solidFill>
                <a:latin typeface="맑은 고딕"/>
              </a:rPr>
              <a:t>않았듯</a:t>
            </a:r>
            <a:r>
              <a:rPr sz="1700" b="0" dirty="0">
                <a:solidFill>
                  <a:srgbClr val="222222"/>
                </a:solidFill>
                <a:latin typeface="맑은 고딕"/>
              </a:rPr>
              <a:t>, </a:t>
            </a:r>
            <a:r>
              <a:rPr sz="1700" b="0" dirty="0" err="1">
                <a:solidFill>
                  <a:srgbClr val="222222"/>
                </a:solidFill>
                <a:latin typeface="맑은 고딕"/>
              </a:rPr>
              <a:t>대기</a:t>
            </a:r>
            <a:r>
              <a:rPr sz="1700" b="0" dirty="0">
                <a:solidFill>
                  <a:srgbClr val="222222"/>
                </a:solidFill>
                <a:latin typeface="맑은 고딕"/>
              </a:rPr>
              <a:t> </a:t>
            </a:r>
            <a:r>
              <a:rPr sz="1700" b="0" dirty="0" err="1">
                <a:solidFill>
                  <a:srgbClr val="222222"/>
                </a:solidFill>
                <a:latin typeface="맑은 고딕"/>
              </a:rPr>
              <a:t>이벤트를</a:t>
            </a:r>
            <a:r>
              <a:rPr sz="1700" b="0" dirty="0">
                <a:solidFill>
                  <a:srgbClr val="222222"/>
                </a:solidFill>
                <a:latin typeface="맑은 고딕"/>
              </a:rPr>
              <a:t> </a:t>
            </a:r>
            <a:r>
              <a:rPr sz="1700" b="0" dirty="0" err="1">
                <a:solidFill>
                  <a:srgbClr val="222222"/>
                </a:solidFill>
                <a:latin typeface="맑은 고딕"/>
              </a:rPr>
              <a:t>읽기</a:t>
            </a:r>
            <a:r>
              <a:rPr sz="1700" b="0" dirty="0">
                <a:solidFill>
                  <a:srgbClr val="222222"/>
                </a:solidFill>
                <a:latin typeface="맑은 고딕"/>
              </a:rPr>
              <a:t> </a:t>
            </a:r>
            <a:r>
              <a:rPr sz="1700" b="0" dirty="0" err="1">
                <a:solidFill>
                  <a:srgbClr val="222222"/>
                </a:solidFill>
                <a:latin typeface="맑은 고딕"/>
              </a:rPr>
              <a:t>전에</a:t>
            </a:r>
            <a:r>
              <a:rPr sz="1700" b="0" dirty="0">
                <a:solidFill>
                  <a:srgbClr val="222222"/>
                </a:solidFill>
                <a:latin typeface="맑은 고딕"/>
              </a:rPr>
              <a:t> </a:t>
            </a:r>
            <a:r>
              <a:rPr sz="1700" b="0" dirty="0" err="1">
                <a:solidFill>
                  <a:srgbClr val="222222"/>
                </a:solidFill>
                <a:latin typeface="맑은 고딕"/>
              </a:rPr>
              <a:t>파라미터를</a:t>
            </a:r>
            <a:r>
              <a:rPr sz="1700" b="0" dirty="0">
                <a:solidFill>
                  <a:srgbClr val="222222"/>
                </a:solidFill>
                <a:latin typeface="맑은 고딕"/>
              </a:rPr>
              <a:t> </a:t>
            </a:r>
            <a:r>
              <a:rPr sz="1700" b="0" dirty="0" err="1">
                <a:solidFill>
                  <a:srgbClr val="222222"/>
                </a:solidFill>
                <a:latin typeface="맑은 고딕"/>
              </a:rPr>
              <a:t>바꾸지</a:t>
            </a:r>
            <a:r>
              <a:rPr sz="1700" b="0" dirty="0">
                <a:solidFill>
                  <a:srgbClr val="222222"/>
                </a:solidFill>
                <a:latin typeface="맑은 고딕"/>
              </a:rPr>
              <a:t> </a:t>
            </a:r>
            <a:r>
              <a:rPr sz="1700" b="0" dirty="0" err="1">
                <a:solidFill>
                  <a:srgbClr val="222222"/>
                </a:solidFill>
                <a:latin typeface="맑은 고딕"/>
              </a:rPr>
              <a:t>않는다</a:t>
            </a:r>
            <a:r>
              <a:rPr sz="1700" b="0" dirty="0">
                <a:solidFill>
                  <a:srgbClr val="222222"/>
                </a:solidFill>
                <a:latin typeface="맑은 고딕"/>
              </a:rPr>
              <a:t>.</a:t>
            </a:r>
          </a:p>
        </p:txBody>
      </p:sp>
    </p:spTree>
    <p:extLst>
      <p:ext uri="{BB962C8B-B14F-4D97-AF65-F5344CB8AC3E}">
        <p14:creationId xmlns:p14="http://schemas.microsoft.com/office/powerpoint/2010/main" val="4135034687"/>
      </p:ext>
    </p:extLst>
  </p:cSld>
  <p:clrMapOvr>
    <a:masterClrMapping/>
  </p:clrMapOvr>
</p:sld>
</file>

<file path=ppt/slides/slide6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라이선스 — 한 문장만 먼저</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자세한 내용은 바로 이어지는 ch15 라이선스 절</a:t>
            </a:r>
          </a:p>
        </p:txBody>
      </p:sp>
      <p:sp>
        <p:nvSpPr>
          <p:cNvPr id="5" name="TextBox 4"/>
          <p:cNvSpPr txBox="1"/>
          <p:nvPr/>
        </p:nvSpPr>
        <p:spPr>
          <a:xfrm>
            <a:off x="640080" y="1737360"/>
            <a:ext cx="10881360" cy="1969770"/>
          </a:xfrm>
          <a:prstGeom prst="rect">
            <a:avLst/>
          </a:prstGeom>
          <a:noFill/>
        </p:spPr>
        <p:txBody>
          <a:bodyPr wrap="square">
            <a:spAutoFit/>
          </a:bodyPr>
          <a:lstStyle/>
          <a:p>
            <a:pPr>
              <a:spcAft>
                <a:spcPts val="800"/>
              </a:spcAft>
            </a:pPr>
            <a:r>
              <a:rPr sz="1700" b="0" dirty="0">
                <a:solidFill>
                  <a:srgbClr val="222222"/>
                </a:solidFill>
                <a:latin typeface="맑은 고딕"/>
              </a:rPr>
              <a:t>•  </a:t>
            </a:r>
            <a:r>
              <a:rPr lang="ko-KR" altLang="en-US" sz="1700" b="0" dirty="0">
                <a:solidFill>
                  <a:srgbClr val="222222"/>
                </a:solidFill>
                <a:latin typeface="맑은 고딕"/>
              </a:rPr>
              <a:t>앞</a:t>
            </a:r>
            <a:r>
              <a:rPr sz="1700" b="0" dirty="0" err="1">
                <a:solidFill>
                  <a:srgbClr val="222222"/>
                </a:solidFill>
                <a:latin typeface="맑은 고딕"/>
              </a:rPr>
              <a:t>에서</a:t>
            </a:r>
            <a:r>
              <a:rPr sz="1700" b="0" dirty="0">
                <a:solidFill>
                  <a:srgbClr val="222222"/>
                </a:solidFill>
                <a:latin typeface="맑은 고딕"/>
              </a:rPr>
              <a:t> 쓴 DBMS_XPLAN·V$SQL·V$SQL_PLAN 은 Enterprise Edition </a:t>
            </a:r>
            <a:r>
              <a:rPr sz="1700" b="0" dirty="0" err="1">
                <a:solidFill>
                  <a:srgbClr val="222222"/>
                </a:solidFill>
                <a:latin typeface="맑은 고딕"/>
              </a:rPr>
              <a:t>기본</a:t>
            </a:r>
            <a:r>
              <a:rPr sz="1700" b="0" dirty="0">
                <a:solidFill>
                  <a:srgbClr val="222222"/>
                </a:solidFill>
                <a:latin typeface="맑은 고딕"/>
              </a:rPr>
              <a:t> </a:t>
            </a:r>
            <a:r>
              <a:rPr sz="1700" b="0" dirty="0" err="1">
                <a:solidFill>
                  <a:srgbClr val="222222"/>
                </a:solidFill>
                <a:latin typeface="맑은 고딕"/>
              </a:rPr>
              <a:t>기능이다</a:t>
            </a:r>
            <a:r>
              <a:rPr sz="1700" b="0" dirty="0">
                <a:solidFill>
                  <a:srgbClr val="222222"/>
                </a:solidFill>
                <a:latin typeface="맑은 고딕"/>
              </a:rPr>
              <a:t> — </a:t>
            </a:r>
            <a:r>
              <a:rPr sz="1700" b="0" dirty="0" err="1">
                <a:solidFill>
                  <a:srgbClr val="222222"/>
                </a:solidFill>
                <a:latin typeface="맑은 고딕"/>
              </a:rPr>
              <a:t>추가</a:t>
            </a:r>
            <a:r>
              <a:rPr sz="1700" b="0" dirty="0">
                <a:solidFill>
                  <a:srgbClr val="222222"/>
                </a:solidFill>
                <a:latin typeface="맑은 고딕"/>
              </a:rPr>
              <a:t> </a:t>
            </a:r>
            <a:r>
              <a:rPr sz="1700" b="0" dirty="0" err="1">
                <a:solidFill>
                  <a:srgbClr val="222222"/>
                </a:solidFill>
                <a:latin typeface="맑은 고딕"/>
              </a:rPr>
              <a:t>라이선스</a:t>
            </a:r>
            <a:r>
              <a:rPr sz="1700" b="0" dirty="0">
                <a:solidFill>
                  <a:srgbClr val="222222"/>
                </a:solidFill>
                <a:latin typeface="맑은 고딕"/>
              </a:rPr>
              <a:t> </a:t>
            </a:r>
            <a:r>
              <a:rPr sz="1700" b="0" dirty="0" err="1">
                <a:solidFill>
                  <a:srgbClr val="222222"/>
                </a:solidFill>
                <a:latin typeface="맑은 고딕"/>
              </a:rPr>
              <a:t>없음</a:t>
            </a:r>
            <a:r>
              <a:rPr sz="1700" b="0" dirty="0">
                <a:solidFill>
                  <a:srgbClr val="222222"/>
                </a:solidFill>
                <a:latin typeface="맑은 고딕"/>
              </a:rPr>
              <a:t>.</a:t>
            </a:r>
          </a:p>
          <a:p>
            <a:pPr>
              <a:spcAft>
                <a:spcPts val="800"/>
              </a:spcAft>
            </a:pPr>
            <a:r>
              <a:rPr sz="1700" b="0" dirty="0">
                <a:solidFill>
                  <a:srgbClr val="222222"/>
                </a:solidFill>
                <a:latin typeface="맑은 고딕"/>
              </a:rPr>
              <a:t>•  AWR·ADDM·ASH·DBA_HIST_* 는 **Diagnostics Pack**, Day 9 의 SQL Tuning/Access </a:t>
            </a:r>
            <a:r>
              <a:rPr sz="1700" b="0" dirty="0" err="1">
                <a:solidFill>
                  <a:srgbClr val="222222"/>
                </a:solidFill>
                <a:latin typeface="맑은 고딕"/>
              </a:rPr>
              <a:t>Advisor·SPA</a:t>
            </a:r>
            <a:r>
              <a:rPr sz="1700" b="0" dirty="0">
                <a:solidFill>
                  <a:srgbClr val="222222"/>
                </a:solidFill>
                <a:latin typeface="맑은 고딕"/>
              </a:rPr>
              <a:t> 는 **Tuning Pack** 이 </a:t>
            </a:r>
            <a:r>
              <a:rPr sz="1700" b="0" dirty="0" err="1">
                <a:solidFill>
                  <a:srgbClr val="222222"/>
                </a:solidFill>
                <a:latin typeface="맑은 고딕"/>
              </a:rPr>
              <a:t>필요하다</a:t>
            </a:r>
            <a:r>
              <a:rPr sz="1700" b="0" dirty="0">
                <a:solidFill>
                  <a:srgbClr val="222222"/>
                </a:solidFill>
                <a:latin typeface="맑은 고딕"/>
              </a:rPr>
              <a:t>.</a:t>
            </a:r>
          </a:p>
          <a:p>
            <a:pPr>
              <a:spcAft>
                <a:spcPts val="800"/>
              </a:spcAft>
            </a:pPr>
            <a:r>
              <a:rPr sz="1700" b="0" dirty="0">
                <a:solidFill>
                  <a:srgbClr val="222222"/>
                </a:solidFill>
                <a:latin typeface="맑은 고딕"/>
              </a:rPr>
              <a:t>•  </a:t>
            </a:r>
            <a:r>
              <a:rPr sz="1700" b="0" dirty="0" err="1">
                <a:solidFill>
                  <a:srgbClr val="222222"/>
                </a:solidFill>
                <a:latin typeface="맑은 고딕"/>
              </a:rPr>
              <a:t>교육</a:t>
            </a:r>
            <a:r>
              <a:rPr sz="1700" b="0" dirty="0">
                <a:solidFill>
                  <a:srgbClr val="222222"/>
                </a:solidFill>
                <a:latin typeface="맑은 고딕"/>
              </a:rPr>
              <a:t> </a:t>
            </a:r>
            <a:r>
              <a:rPr sz="1700" b="0" dirty="0" err="1">
                <a:solidFill>
                  <a:srgbClr val="222222"/>
                </a:solidFill>
                <a:latin typeface="맑은 고딕"/>
              </a:rPr>
              <a:t>환경에서</a:t>
            </a:r>
            <a:r>
              <a:rPr sz="1700" b="0" dirty="0">
                <a:solidFill>
                  <a:srgbClr val="222222"/>
                </a:solidFill>
                <a:latin typeface="맑은 고딕"/>
              </a:rPr>
              <a:t> </a:t>
            </a:r>
            <a:r>
              <a:rPr sz="1700" b="0" dirty="0" err="1">
                <a:solidFill>
                  <a:srgbClr val="222222"/>
                </a:solidFill>
                <a:latin typeface="맑은 고딕"/>
              </a:rPr>
              <a:t>무심코</a:t>
            </a:r>
            <a:r>
              <a:rPr sz="1700" b="0" dirty="0">
                <a:solidFill>
                  <a:srgbClr val="222222"/>
                </a:solidFill>
                <a:latin typeface="맑은 고딕"/>
              </a:rPr>
              <a:t> </a:t>
            </a:r>
            <a:r>
              <a:rPr sz="1700" b="0" dirty="0" err="1">
                <a:solidFill>
                  <a:srgbClr val="222222"/>
                </a:solidFill>
                <a:latin typeface="맑은 고딕"/>
              </a:rPr>
              <a:t>쓰던</a:t>
            </a:r>
            <a:r>
              <a:rPr sz="1700" b="0" dirty="0">
                <a:solidFill>
                  <a:srgbClr val="222222"/>
                </a:solidFill>
                <a:latin typeface="맑은 고딕"/>
              </a:rPr>
              <a:t> </a:t>
            </a:r>
            <a:r>
              <a:rPr sz="1700" b="0" dirty="0" err="1">
                <a:solidFill>
                  <a:srgbClr val="222222"/>
                </a:solidFill>
                <a:latin typeface="맑은 고딕"/>
              </a:rPr>
              <a:t>것을</a:t>
            </a:r>
            <a:r>
              <a:rPr sz="1700" b="0" dirty="0">
                <a:solidFill>
                  <a:srgbClr val="222222"/>
                </a:solidFill>
                <a:latin typeface="맑은 고딕"/>
              </a:rPr>
              <a:t> </a:t>
            </a:r>
            <a:r>
              <a:rPr sz="1700" b="0" dirty="0" err="1">
                <a:solidFill>
                  <a:srgbClr val="222222"/>
                </a:solidFill>
                <a:latin typeface="맑은 고딕"/>
              </a:rPr>
              <a:t>실무에서</a:t>
            </a:r>
            <a:r>
              <a:rPr sz="1700" b="0" dirty="0">
                <a:solidFill>
                  <a:srgbClr val="222222"/>
                </a:solidFill>
                <a:latin typeface="맑은 고딕"/>
              </a:rPr>
              <a:t> </a:t>
            </a:r>
            <a:r>
              <a:rPr sz="1700" b="0" dirty="0" err="1">
                <a:solidFill>
                  <a:srgbClr val="222222"/>
                </a:solidFill>
                <a:latin typeface="맑은 고딕"/>
              </a:rPr>
              <a:t>그대로</a:t>
            </a:r>
            <a:r>
              <a:rPr sz="1700" b="0" dirty="0">
                <a:solidFill>
                  <a:srgbClr val="222222"/>
                </a:solidFill>
                <a:latin typeface="맑은 고딕"/>
              </a:rPr>
              <a:t> </a:t>
            </a:r>
            <a:r>
              <a:rPr sz="1700" b="0" dirty="0" err="1">
                <a:solidFill>
                  <a:srgbClr val="222222"/>
                </a:solidFill>
                <a:latin typeface="맑은 고딕"/>
              </a:rPr>
              <a:t>쓰면</a:t>
            </a:r>
            <a:r>
              <a:rPr sz="1700" b="0" dirty="0">
                <a:solidFill>
                  <a:srgbClr val="222222"/>
                </a:solidFill>
                <a:latin typeface="맑은 고딕"/>
              </a:rPr>
              <a:t> </a:t>
            </a:r>
            <a:r>
              <a:rPr sz="1700" b="0" dirty="0" err="1">
                <a:solidFill>
                  <a:srgbClr val="222222"/>
                </a:solidFill>
                <a:latin typeface="맑은 고딕"/>
              </a:rPr>
              <a:t>라이선스</a:t>
            </a:r>
            <a:r>
              <a:rPr sz="1700" b="0" dirty="0">
                <a:solidFill>
                  <a:srgbClr val="222222"/>
                </a:solidFill>
                <a:latin typeface="맑은 고딕"/>
              </a:rPr>
              <a:t> </a:t>
            </a:r>
            <a:r>
              <a:rPr sz="1700" b="0" dirty="0" err="1">
                <a:solidFill>
                  <a:srgbClr val="222222"/>
                </a:solidFill>
                <a:latin typeface="맑은 고딕"/>
              </a:rPr>
              <a:t>위반이</a:t>
            </a:r>
            <a:r>
              <a:rPr sz="1700" b="0" dirty="0">
                <a:solidFill>
                  <a:srgbClr val="222222"/>
                </a:solidFill>
                <a:latin typeface="맑은 고딕"/>
              </a:rPr>
              <a:t> </a:t>
            </a:r>
            <a:r>
              <a:rPr sz="1700" b="0" dirty="0" err="1">
                <a:solidFill>
                  <a:srgbClr val="222222"/>
                </a:solidFill>
                <a:latin typeface="맑은 고딕"/>
              </a:rPr>
              <a:t>된다</a:t>
            </a:r>
            <a:r>
              <a:rPr sz="1700" b="0" dirty="0">
                <a:solidFill>
                  <a:srgbClr val="222222"/>
                </a:solidFill>
                <a:latin typeface="맑은 고딕"/>
              </a:rPr>
              <a:t> — 각 장 </a:t>
            </a:r>
            <a:r>
              <a:rPr sz="1700" b="0" dirty="0" err="1">
                <a:solidFill>
                  <a:srgbClr val="222222"/>
                </a:solidFill>
                <a:latin typeface="맑은 고딕"/>
              </a:rPr>
              <a:t>도입부에서</a:t>
            </a:r>
            <a:r>
              <a:rPr sz="1700" b="0" dirty="0">
                <a:solidFill>
                  <a:srgbClr val="222222"/>
                </a:solidFill>
                <a:latin typeface="맑은 고딕"/>
              </a:rPr>
              <a:t> </a:t>
            </a:r>
            <a:r>
              <a:rPr sz="1700" b="0" dirty="0" err="1">
                <a:solidFill>
                  <a:srgbClr val="222222"/>
                </a:solidFill>
                <a:latin typeface="맑은 고딕"/>
              </a:rPr>
              <a:t>다시</a:t>
            </a:r>
            <a:r>
              <a:rPr sz="1700" b="0" dirty="0">
                <a:solidFill>
                  <a:srgbClr val="222222"/>
                </a:solidFill>
                <a:latin typeface="맑은 고딕"/>
              </a:rPr>
              <a:t> </a:t>
            </a:r>
            <a:r>
              <a:rPr sz="1700" b="0" dirty="0" err="1">
                <a:solidFill>
                  <a:srgbClr val="222222"/>
                </a:solidFill>
                <a:latin typeface="맑은 고딕"/>
              </a:rPr>
              <a:t>짚는다</a:t>
            </a:r>
            <a:r>
              <a:rPr sz="1700" b="0" dirty="0">
                <a:solidFill>
                  <a:srgbClr val="222222"/>
                </a:solidFill>
                <a:latin typeface="맑은 고딕"/>
              </a:rPr>
              <a:t>.</a:t>
            </a:r>
          </a:p>
          <a:p>
            <a:pPr>
              <a:spcAft>
                <a:spcPts val="800"/>
              </a:spcAft>
            </a:pPr>
            <a:r>
              <a:rPr sz="1700" b="0" dirty="0">
                <a:solidFill>
                  <a:srgbClr val="222222"/>
                </a:solidFill>
                <a:latin typeface="맑은 고딕"/>
              </a:rPr>
              <a:t>•  </a:t>
            </a:r>
            <a:r>
              <a:rPr sz="1700" b="0" dirty="0" err="1">
                <a:solidFill>
                  <a:srgbClr val="222222"/>
                </a:solidFill>
                <a:latin typeface="맑은 고딕"/>
              </a:rPr>
              <a:t>미보유</a:t>
            </a:r>
            <a:r>
              <a:rPr sz="1700" b="0" dirty="0">
                <a:solidFill>
                  <a:srgbClr val="222222"/>
                </a:solidFill>
                <a:latin typeface="맑은 고딕"/>
              </a:rPr>
              <a:t> </a:t>
            </a:r>
            <a:r>
              <a:rPr sz="1700" b="0" dirty="0" err="1">
                <a:solidFill>
                  <a:srgbClr val="222222"/>
                </a:solidFill>
                <a:latin typeface="맑은 고딕"/>
              </a:rPr>
              <a:t>환경에서도</a:t>
            </a:r>
            <a:r>
              <a:rPr sz="1700" b="0" dirty="0">
                <a:solidFill>
                  <a:srgbClr val="222222"/>
                </a:solidFill>
                <a:latin typeface="맑은 고딕"/>
              </a:rPr>
              <a:t> </a:t>
            </a:r>
            <a:r>
              <a:rPr sz="1700" b="0" dirty="0" err="1">
                <a:solidFill>
                  <a:srgbClr val="222222"/>
                </a:solidFill>
                <a:latin typeface="맑은 고딕"/>
              </a:rPr>
              <a:t>같은</a:t>
            </a:r>
            <a:r>
              <a:rPr sz="1700" b="0" dirty="0">
                <a:solidFill>
                  <a:srgbClr val="222222"/>
                </a:solidFill>
                <a:latin typeface="맑은 고딕"/>
              </a:rPr>
              <a:t> </a:t>
            </a:r>
            <a:r>
              <a:rPr sz="1700" b="0" dirty="0" err="1">
                <a:solidFill>
                  <a:srgbClr val="222222"/>
                </a:solidFill>
                <a:latin typeface="맑은 고딕"/>
              </a:rPr>
              <a:t>것을</a:t>
            </a:r>
            <a:r>
              <a:rPr sz="1700" b="0" dirty="0">
                <a:solidFill>
                  <a:srgbClr val="222222"/>
                </a:solidFill>
                <a:latin typeface="맑은 고딕"/>
              </a:rPr>
              <a:t> </a:t>
            </a:r>
            <a:r>
              <a:rPr sz="1700" b="0" dirty="0" err="1">
                <a:solidFill>
                  <a:srgbClr val="222222"/>
                </a:solidFill>
                <a:latin typeface="맑은 고딕"/>
              </a:rPr>
              <a:t>보는</a:t>
            </a:r>
            <a:r>
              <a:rPr sz="1700" b="0" dirty="0">
                <a:solidFill>
                  <a:srgbClr val="222222"/>
                </a:solidFill>
                <a:latin typeface="맑은 고딕"/>
              </a:rPr>
              <a:t> </a:t>
            </a:r>
            <a:r>
              <a:rPr sz="1700" b="0" dirty="0" err="1">
                <a:solidFill>
                  <a:srgbClr val="222222"/>
                </a:solidFill>
                <a:latin typeface="맑은 고딕"/>
              </a:rPr>
              <a:t>대안</a:t>
            </a:r>
            <a:r>
              <a:rPr sz="1700" b="0" dirty="0">
                <a:solidFill>
                  <a:srgbClr val="222222"/>
                </a:solidFill>
                <a:latin typeface="맑은 고딕"/>
              </a:rPr>
              <a:t> </a:t>
            </a:r>
            <a:r>
              <a:rPr sz="1700" b="0" dirty="0" err="1">
                <a:solidFill>
                  <a:srgbClr val="222222"/>
                </a:solidFill>
                <a:latin typeface="맑은 고딕"/>
              </a:rPr>
              <a:t>경로</a:t>
            </a:r>
            <a:r>
              <a:rPr sz="1700" b="0" dirty="0">
                <a:solidFill>
                  <a:srgbClr val="222222"/>
                </a:solidFill>
                <a:latin typeface="맑은 고딕"/>
              </a:rPr>
              <a:t>(</a:t>
            </a:r>
            <a:r>
              <a:rPr sz="1700" b="0" dirty="0" err="1">
                <a:solidFill>
                  <a:srgbClr val="222222"/>
                </a:solidFill>
                <a:latin typeface="맑은 고딕"/>
              </a:rPr>
              <a:t>Statspack</a:t>
            </a:r>
            <a:r>
              <a:rPr sz="1700" b="0" dirty="0">
                <a:solidFill>
                  <a:srgbClr val="222222"/>
                </a:solidFill>
                <a:latin typeface="맑은 고딕"/>
              </a:rPr>
              <a:t>, V$ </a:t>
            </a:r>
            <a:r>
              <a:rPr sz="1700" b="0" dirty="0" err="1">
                <a:solidFill>
                  <a:srgbClr val="222222"/>
                </a:solidFill>
                <a:latin typeface="맑은 고딕"/>
              </a:rPr>
              <a:t>직접</a:t>
            </a:r>
            <a:r>
              <a:rPr sz="1700" b="0" dirty="0">
                <a:solidFill>
                  <a:srgbClr val="222222"/>
                </a:solidFill>
                <a:latin typeface="맑은 고딕"/>
              </a:rPr>
              <a:t> </a:t>
            </a:r>
            <a:r>
              <a:rPr sz="1700" b="0" dirty="0" err="1">
                <a:solidFill>
                  <a:srgbClr val="222222"/>
                </a:solidFill>
                <a:latin typeface="맑은 고딕"/>
              </a:rPr>
              <a:t>조회</a:t>
            </a:r>
            <a:r>
              <a:rPr sz="1700" b="0" dirty="0">
                <a:solidFill>
                  <a:srgbClr val="222222"/>
                </a:solidFill>
                <a:latin typeface="맑은 고딕"/>
              </a:rPr>
              <a:t>)를 </a:t>
            </a:r>
            <a:r>
              <a:rPr sz="1700" b="0" dirty="0" err="1">
                <a:solidFill>
                  <a:srgbClr val="222222"/>
                </a:solidFill>
                <a:latin typeface="맑은 고딕"/>
              </a:rPr>
              <a:t>모든</a:t>
            </a:r>
            <a:r>
              <a:rPr sz="1700" b="0" dirty="0">
                <a:solidFill>
                  <a:srgbClr val="222222"/>
                </a:solidFill>
                <a:latin typeface="맑은 고딕"/>
              </a:rPr>
              <a:t> </a:t>
            </a:r>
            <a:r>
              <a:rPr sz="1700" b="0" dirty="0" err="1">
                <a:solidFill>
                  <a:srgbClr val="222222"/>
                </a:solidFill>
                <a:latin typeface="맑은 고딕"/>
              </a:rPr>
              <a:t>해당</a:t>
            </a:r>
            <a:r>
              <a:rPr sz="1700" b="0" dirty="0">
                <a:solidFill>
                  <a:srgbClr val="222222"/>
                </a:solidFill>
                <a:latin typeface="맑은 고딕"/>
              </a:rPr>
              <a:t> </a:t>
            </a:r>
            <a:r>
              <a:rPr sz="1700" b="0" dirty="0" err="1">
                <a:solidFill>
                  <a:srgbClr val="222222"/>
                </a:solidFill>
                <a:latin typeface="맑은 고딕"/>
              </a:rPr>
              <a:t>장에</a:t>
            </a:r>
            <a:r>
              <a:rPr sz="1700" b="0" dirty="0">
                <a:solidFill>
                  <a:srgbClr val="222222"/>
                </a:solidFill>
                <a:latin typeface="맑은 고딕"/>
              </a:rPr>
              <a:t> </a:t>
            </a:r>
            <a:r>
              <a:rPr sz="1700" b="0" dirty="0" err="1">
                <a:solidFill>
                  <a:srgbClr val="222222"/>
                </a:solidFill>
                <a:latin typeface="맑은 고딕"/>
              </a:rPr>
              <a:t>함께</a:t>
            </a:r>
            <a:r>
              <a:rPr sz="1700" b="0" dirty="0">
                <a:solidFill>
                  <a:srgbClr val="222222"/>
                </a:solidFill>
                <a:latin typeface="맑은 고딕"/>
              </a:rPr>
              <a:t> </a:t>
            </a:r>
            <a:r>
              <a:rPr sz="1700" b="0" dirty="0" err="1">
                <a:solidFill>
                  <a:srgbClr val="222222"/>
                </a:solidFill>
                <a:latin typeface="맑은 고딕"/>
              </a:rPr>
              <a:t>싣는다</a:t>
            </a:r>
            <a:r>
              <a:rPr sz="1700" b="0" dirty="0">
                <a:solidFill>
                  <a:srgbClr val="222222"/>
                </a:solidFill>
                <a:latin typeface="맑은 고딕"/>
              </a:rPr>
              <a:t>.</a:t>
            </a:r>
          </a:p>
        </p:txBody>
      </p:sp>
    </p:spTree>
    <p:extLst>
      <p:ext uri="{BB962C8B-B14F-4D97-AF65-F5344CB8AC3E}">
        <p14:creationId xmlns:p14="http://schemas.microsoft.com/office/powerpoint/2010/main" val="2817914892"/>
      </p:ext>
    </p:extLst>
  </p:cSld>
  <p:clrMapOvr>
    <a:masterClrMapping/>
  </p:clrMapOvr>
</p:sld>
</file>

<file path=ppt/slides/slide6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요약 (Summary)</a:t>
            </a:r>
          </a:p>
        </p:txBody>
      </p:sp>
      <p:sp>
        <p:nvSpPr>
          <p:cNvPr id="4" name="TextBox 3"/>
          <p:cNvSpPr txBox="1"/>
          <p:nvPr/>
        </p:nvSpPr>
        <p:spPr>
          <a:xfrm>
            <a:off x="640080" y="1371600"/>
            <a:ext cx="10881360" cy="2333972"/>
          </a:xfrm>
          <a:prstGeom prst="rect">
            <a:avLst/>
          </a:prstGeom>
          <a:noFill/>
        </p:spPr>
        <p:txBody>
          <a:bodyPr wrap="square">
            <a:spAutoFit/>
          </a:bodyPr>
          <a:lstStyle/>
          <a:p>
            <a:pPr>
              <a:spcAft>
                <a:spcPts val="800"/>
              </a:spcAft>
            </a:pPr>
            <a:r>
              <a:rPr sz="1700" b="0" dirty="0">
                <a:solidFill>
                  <a:srgbClr val="222222"/>
                </a:solidFill>
                <a:latin typeface="맑은 고딕"/>
              </a:rPr>
              <a:t>•  </a:t>
            </a:r>
            <a:r>
              <a:rPr sz="1700" b="0" dirty="0" err="1">
                <a:solidFill>
                  <a:srgbClr val="222222"/>
                </a:solidFill>
                <a:latin typeface="맑은 고딕"/>
              </a:rPr>
              <a:t>층위가</a:t>
            </a:r>
            <a:r>
              <a:rPr sz="1700" b="0" dirty="0">
                <a:solidFill>
                  <a:srgbClr val="222222"/>
                </a:solidFill>
                <a:latin typeface="맑은 고딕"/>
              </a:rPr>
              <a:t> </a:t>
            </a:r>
            <a:r>
              <a:rPr sz="1700" b="0" dirty="0" err="1">
                <a:solidFill>
                  <a:srgbClr val="222222"/>
                </a:solidFill>
                <a:latin typeface="맑은 고딕"/>
              </a:rPr>
              <a:t>바뀐다</a:t>
            </a:r>
            <a:r>
              <a:rPr sz="1700" b="0" dirty="0">
                <a:solidFill>
                  <a:srgbClr val="222222"/>
                </a:solidFill>
                <a:latin typeface="맑은 고딕"/>
              </a:rPr>
              <a:t> — SQL 한 </a:t>
            </a:r>
            <a:r>
              <a:rPr sz="1700" b="0" dirty="0" err="1">
                <a:solidFill>
                  <a:srgbClr val="222222"/>
                </a:solidFill>
                <a:latin typeface="맑은 고딕"/>
              </a:rPr>
              <a:t>문장</a:t>
            </a:r>
            <a:r>
              <a:rPr sz="1700" b="0" dirty="0">
                <a:solidFill>
                  <a:srgbClr val="222222"/>
                </a:solidFill>
                <a:latin typeface="맑은 고딕"/>
              </a:rPr>
              <a:t>(</a:t>
            </a:r>
            <a:r>
              <a:rPr sz="1700" b="0" dirty="0" err="1">
                <a:solidFill>
                  <a:srgbClr val="222222"/>
                </a:solidFill>
                <a:latin typeface="맑은 고딕"/>
              </a:rPr>
              <a:t>Buffers·A-Rows</a:t>
            </a:r>
            <a:r>
              <a:rPr sz="1700" b="0" dirty="0">
                <a:solidFill>
                  <a:srgbClr val="222222"/>
                </a:solidFill>
                <a:latin typeface="맑은 고딕"/>
              </a:rPr>
              <a:t>)</a:t>
            </a:r>
            <a:r>
              <a:rPr sz="1700" b="0" dirty="0" err="1">
                <a:solidFill>
                  <a:srgbClr val="222222"/>
                </a:solidFill>
                <a:latin typeface="맑은 고딕"/>
              </a:rPr>
              <a:t>에서</a:t>
            </a:r>
            <a:r>
              <a:rPr sz="1700" b="0" dirty="0">
                <a:solidFill>
                  <a:srgbClr val="222222"/>
                </a:solidFill>
                <a:latin typeface="맑은 고딕"/>
              </a:rPr>
              <a:t> </a:t>
            </a:r>
            <a:r>
              <a:rPr sz="1700" b="0" dirty="0" err="1">
                <a:solidFill>
                  <a:srgbClr val="222222"/>
                </a:solidFill>
                <a:latin typeface="맑은 고딕"/>
              </a:rPr>
              <a:t>인스턴스</a:t>
            </a:r>
            <a:r>
              <a:rPr sz="1700" b="0" dirty="0">
                <a:solidFill>
                  <a:srgbClr val="222222"/>
                </a:solidFill>
                <a:latin typeface="맑은 고딕"/>
              </a:rPr>
              <a:t> </a:t>
            </a:r>
            <a:r>
              <a:rPr sz="1700" b="0" dirty="0" err="1">
                <a:solidFill>
                  <a:srgbClr val="222222"/>
                </a:solidFill>
                <a:latin typeface="맑은 고딕"/>
              </a:rPr>
              <a:t>전체</a:t>
            </a:r>
            <a:r>
              <a:rPr sz="1700" b="0" dirty="0">
                <a:solidFill>
                  <a:srgbClr val="222222"/>
                </a:solidFill>
                <a:latin typeface="맑은 고딕"/>
              </a:rPr>
              <a:t>(DB </a:t>
            </a:r>
            <a:r>
              <a:rPr sz="1700" b="0" dirty="0" err="1">
                <a:solidFill>
                  <a:srgbClr val="222222"/>
                </a:solidFill>
                <a:latin typeface="맑은 고딕"/>
              </a:rPr>
              <a:t>Time·대기</a:t>
            </a:r>
            <a:r>
              <a:rPr sz="1700" b="0" dirty="0">
                <a:solidFill>
                  <a:srgbClr val="222222"/>
                </a:solidFill>
                <a:latin typeface="맑은 고딕"/>
              </a:rPr>
              <a:t> </a:t>
            </a:r>
            <a:r>
              <a:rPr sz="1700" b="0" dirty="0" err="1">
                <a:solidFill>
                  <a:srgbClr val="222222"/>
                </a:solidFill>
                <a:latin typeface="맑은 고딕"/>
              </a:rPr>
              <a:t>클래스</a:t>
            </a:r>
            <a:r>
              <a:rPr sz="1700" b="0" dirty="0">
                <a:solidFill>
                  <a:srgbClr val="222222"/>
                </a:solidFill>
                <a:latin typeface="맑은 고딕"/>
              </a:rPr>
              <a:t>)로.</a:t>
            </a:r>
          </a:p>
          <a:p>
            <a:pPr>
              <a:spcAft>
                <a:spcPts val="800"/>
              </a:spcAft>
            </a:pPr>
            <a:r>
              <a:rPr sz="1700" b="0" dirty="0">
                <a:solidFill>
                  <a:srgbClr val="222222"/>
                </a:solidFill>
                <a:latin typeface="맑은 고딕"/>
              </a:rPr>
              <a:t>•  </a:t>
            </a:r>
            <a:r>
              <a:rPr sz="1700" b="0" dirty="0" err="1">
                <a:solidFill>
                  <a:srgbClr val="222222"/>
                </a:solidFill>
                <a:latin typeface="맑은 고딕"/>
              </a:rPr>
              <a:t>순서가</a:t>
            </a:r>
            <a:r>
              <a:rPr sz="1700" b="0" dirty="0">
                <a:solidFill>
                  <a:srgbClr val="222222"/>
                </a:solidFill>
                <a:latin typeface="맑은 고딕"/>
              </a:rPr>
              <a:t> </a:t>
            </a:r>
            <a:r>
              <a:rPr sz="1700" b="0" dirty="0" err="1">
                <a:solidFill>
                  <a:srgbClr val="222222"/>
                </a:solidFill>
                <a:latin typeface="맑은 고딕"/>
              </a:rPr>
              <a:t>중요하다</a:t>
            </a:r>
            <a:r>
              <a:rPr sz="1700" b="0" dirty="0">
                <a:solidFill>
                  <a:srgbClr val="222222"/>
                </a:solidFill>
                <a:latin typeface="맑은 고딕"/>
              </a:rPr>
              <a:t> — </a:t>
            </a:r>
            <a:r>
              <a:rPr sz="1700" b="0" dirty="0" err="1">
                <a:solidFill>
                  <a:srgbClr val="222222"/>
                </a:solidFill>
                <a:latin typeface="맑은 고딕"/>
              </a:rPr>
              <a:t>인스턴스</a:t>
            </a:r>
            <a:r>
              <a:rPr sz="1700" b="0" dirty="0">
                <a:solidFill>
                  <a:srgbClr val="222222"/>
                </a:solidFill>
                <a:latin typeface="맑은 고딕"/>
              </a:rPr>
              <a:t> </a:t>
            </a:r>
            <a:r>
              <a:rPr sz="1700" b="0" dirty="0" err="1">
                <a:solidFill>
                  <a:srgbClr val="222222"/>
                </a:solidFill>
                <a:latin typeface="맑은 고딕"/>
              </a:rPr>
              <a:t>층위에서</a:t>
            </a:r>
            <a:r>
              <a:rPr sz="1700" b="0" dirty="0">
                <a:solidFill>
                  <a:srgbClr val="222222"/>
                </a:solidFill>
                <a:latin typeface="맑은 고딕"/>
              </a:rPr>
              <a:t> </a:t>
            </a:r>
            <a:r>
              <a:rPr sz="1700" b="0" dirty="0" err="1">
                <a:solidFill>
                  <a:srgbClr val="222222"/>
                </a:solidFill>
                <a:latin typeface="맑은 고딕"/>
              </a:rPr>
              <a:t>좁힌</a:t>
            </a:r>
            <a:r>
              <a:rPr sz="1700" b="0" dirty="0">
                <a:solidFill>
                  <a:srgbClr val="222222"/>
                </a:solidFill>
                <a:latin typeface="맑은 고딕"/>
              </a:rPr>
              <a:t> 뒤 SQL </a:t>
            </a:r>
            <a:r>
              <a:rPr sz="1700" b="0" dirty="0" err="1">
                <a:solidFill>
                  <a:srgbClr val="222222"/>
                </a:solidFill>
                <a:latin typeface="맑은 고딕"/>
              </a:rPr>
              <a:t>층위로</a:t>
            </a:r>
            <a:r>
              <a:rPr sz="1700" b="0" dirty="0">
                <a:solidFill>
                  <a:srgbClr val="222222"/>
                </a:solidFill>
                <a:latin typeface="맑은 고딕"/>
              </a:rPr>
              <a:t> </a:t>
            </a:r>
            <a:r>
              <a:rPr sz="1700" b="0" dirty="0" err="1">
                <a:solidFill>
                  <a:srgbClr val="222222"/>
                </a:solidFill>
                <a:latin typeface="맑은 고딕"/>
              </a:rPr>
              <a:t>내려간다</a:t>
            </a:r>
            <a:r>
              <a:rPr sz="1700" b="0" dirty="0">
                <a:solidFill>
                  <a:srgbClr val="222222"/>
                </a:solidFill>
                <a:latin typeface="맑은 고딕"/>
              </a:rPr>
              <a:t>.</a:t>
            </a:r>
          </a:p>
          <a:p>
            <a:pPr>
              <a:spcAft>
                <a:spcPts val="800"/>
              </a:spcAft>
            </a:pPr>
            <a:r>
              <a:rPr sz="1700" b="0" dirty="0">
                <a:solidFill>
                  <a:srgbClr val="222222"/>
                </a:solidFill>
                <a:latin typeface="맑은 고딕"/>
              </a:rPr>
              <a:t>•  세 </a:t>
            </a:r>
            <a:r>
              <a:rPr sz="1700" b="0" dirty="0" err="1">
                <a:solidFill>
                  <a:srgbClr val="222222"/>
                </a:solidFill>
                <a:latin typeface="맑은 고딕"/>
              </a:rPr>
              <a:t>가지</a:t>
            </a:r>
            <a:r>
              <a:rPr sz="1700" b="0" dirty="0">
                <a:solidFill>
                  <a:srgbClr val="222222"/>
                </a:solidFill>
                <a:latin typeface="맑은 고딕"/>
              </a:rPr>
              <a:t> </a:t>
            </a:r>
            <a:r>
              <a:rPr sz="1700" b="0" dirty="0" err="1">
                <a:solidFill>
                  <a:srgbClr val="222222"/>
                </a:solidFill>
                <a:latin typeface="맑은 고딕"/>
              </a:rPr>
              <a:t>징후</a:t>
            </a:r>
            <a:r>
              <a:rPr sz="1700" b="0" dirty="0">
                <a:solidFill>
                  <a:srgbClr val="222222"/>
                </a:solidFill>
                <a:latin typeface="맑은 고딕"/>
              </a:rPr>
              <a:t> — </a:t>
            </a:r>
            <a:r>
              <a:rPr sz="1700" b="0" dirty="0" err="1">
                <a:solidFill>
                  <a:srgbClr val="222222"/>
                </a:solidFill>
                <a:latin typeface="맑은 고딕"/>
              </a:rPr>
              <a:t>계획·Buffers</a:t>
            </a:r>
            <a:r>
              <a:rPr sz="1700" b="0" dirty="0">
                <a:solidFill>
                  <a:srgbClr val="222222"/>
                </a:solidFill>
                <a:latin typeface="맑은 고딕"/>
              </a:rPr>
              <a:t> 는 </a:t>
            </a:r>
            <a:r>
              <a:rPr sz="1700" b="0" dirty="0" err="1">
                <a:solidFill>
                  <a:srgbClr val="222222"/>
                </a:solidFill>
                <a:latin typeface="맑은 고딕"/>
              </a:rPr>
              <a:t>그대로인데</a:t>
            </a:r>
            <a:r>
              <a:rPr sz="1700" b="0" dirty="0">
                <a:solidFill>
                  <a:srgbClr val="222222"/>
                </a:solidFill>
                <a:latin typeface="맑은 고딕"/>
              </a:rPr>
              <a:t> Elapsed 만 </a:t>
            </a:r>
            <a:r>
              <a:rPr sz="1700" b="0" dirty="0" err="1">
                <a:solidFill>
                  <a:srgbClr val="222222"/>
                </a:solidFill>
                <a:latin typeface="맑은 고딕"/>
              </a:rPr>
              <a:t>증가</a:t>
            </a:r>
            <a:r>
              <a:rPr sz="1700" b="0" dirty="0">
                <a:solidFill>
                  <a:srgbClr val="222222"/>
                </a:solidFill>
                <a:latin typeface="맑은 고딕"/>
              </a:rPr>
              <a:t> / 내 SQL 이 DB Time 의 몇 % 도 안 됨 / </a:t>
            </a:r>
            <a:r>
              <a:rPr sz="1700" b="0" dirty="0" err="1">
                <a:solidFill>
                  <a:srgbClr val="222222"/>
                </a:solidFill>
                <a:latin typeface="맑은 고딕"/>
              </a:rPr>
              <a:t>특정</a:t>
            </a:r>
            <a:r>
              <a:rPr sz="1700" b="0" dirty="0">
                <a:solidFill>
                  <a:srgbClr val="222222"/>
                </a:solidFill>
                <a:latin typeface="맑은 고딕"/>
              </a:rPr>
              <a:t> </a:t>
            </a:r>
            <a:r>
              <a:rPr sz="1700" b="0" dirty="0" err="1">
                <a:solidFill>
                  <a:srgbClr val="222222"/>
                </a:solidFill>
                <a:latin typeface="맑은 고딕"/>
              </a:rPr>
              <a:t>시간대에만</a:t>
            </a:r>
            <a:r>
              <a:rPr sz="1700" b="0" dirty="0">
                <a:solidFill>
                  <a:srgbClr val="222222"/>
                </a:solidFill>
                <a:latin typeface="맑은 고딕"/>
              </a:rPr>
              <a:t> </a:t>
            </a:r>
            <a:r>
              <a:rPr sz="1700" b="0" dirty="0" err="1">
                <a:solidFill>
                  <a:srgbClr val="222222"/>
                </a:solidFill>
                <a:latin typeface="맑은 고딕"/>
              </a:rPr>
              <a:t>느림</a:t>
            </a:r>
            <a:r>
              <a:rPr sz="1700" b="0" dirty="0">
                <a:solidFill>
                  <a:srgbClr val="222222"/>
                </a:solidFill>
                <a:latin typeface="맑은 고딕"/>
              </a:rPr>
              <a:t>.</a:t>
            </a:r>
          </a:p>
          <a:p>
            <a:pPr>
              <a:spcAft>
                <a:spcPts val="800"/>
              </a:spcAft>
            </a:pPr>
            <a:r>
              <a:rPr sz="1700" b="0" dirty="0">
                <a:solidFill>
                  <a:srgbClr val="222222"/>
                </a:solidFill>
                <a:latin typeface="맑은 고딕"/>
              </a:rPr>
              <a:t>•  </a:t>
            </a:r>
            <a:r>
              <a:rPr sz="1700" b="0" dirty="0" err="1">
                <a:solidFill>
                  <a:srgbClr val="222222"/>
                </a:solidFill>
                <a:latin typeface="맑은 고딕"/>
              </a:rPr>
              <a:t>열흘의</a:t>
            </a:r>
            <a:r>
              <a:rPr sz="1700" b="0" dirty="0">
                <a:solidFill>
                  <a:srgbClr val="222222"/>
                </a:solidFill>
                <a:latin typeface="맑은 고딕"/>
              </a:rPr>
              <a:t> </a:t>
            </a:r>
            <a:r>
              <a:rPr sz="1700" b="0" dirty="0" err="1">
                <a:solidFill>
                  <a:srgbClr val="222222"/>
                </a:solidFill>
                <a:latin typeface="맑은 고딕"/>
              </a:rPr>
              <a:t>지도</a:t>
            </a:r>
            <a:r>
              <a:rPr sz="1700" b="0" dirty="0">
                <a:solidFill>
                  <a:srgbClr val="222222"/>
                </a:solidFill>
                <a:latin typeface="맑은 고딕"/>
              </a:rPr>
              <a:t> — </a:t>
            </a:r>
            <a:r>
              <a:rPr sz="1700" b="0" dirty="0" err="1">
                <a:solidFill>
                  <a:srgbClr val="222222"/>
                </a:solidFill>
                <a:latin typeface="맑은 고딕"/>
              </a:rPr>
              <a:t>재고</a:t>
            </a:r>
            <a:r>
              <a:rPr sz="1700" b="0" dirty="0">
                <a:solidFill>
                  <a:srgbClr val="222222"/>
                </a:solidFill>
                <a:latin typeface="맑은 고딕"/>
              </a:rPr>
              <a:t>(ch19) → </a:t>
            </a:r>
            <a:r>
              <a:rPr sz="1700" b="0" dirty="0" err="1">
                <a:solidFill>
                  <a:srgbClr val="222222"/>
                </a:solidFill>
                <a:latin typeface="맑은 고딕"/>
              </a:rPr>
              <a:t>지목</a:t>
            </a:r>
            <a:r>
              <a:rPr sz="1700" b="0" dirty="0">
                <a:solidFill>
                  <a:srgbClr val="222222"/>
                </a:solidFill>
                <a:latin typeface="맑은 고딕"/>
              </a:rPr>
              <a:t>(ch22·ch24·ch25) → </a:t>
            </a:r>
            <a:r>
              <a:rPr sz="1700" b="0" dirty="0" err="1">
                <a:solidFill>
                  <a:srgbClr val="222222"/>
                </a:solidFill>
                <a:latin typeface="맑은 고딕"/>
              </a:rPr>
              <a:t>좁히고</a:t>
            </a:r>
            <a:r>
              <a:rPr sz="1700" b="0" dirty="0">
                <a:solidFill>
                  <a:srgbClr val="222222"/>
                </a:solidFill>
                <a:latin typeface="맑은 고딕"/>
              </a:rPr>
              <a:t>(ch26·ch27) → </a:t>
            </a:r>
            <a:r>
              <a:rPr sz="1700" b="0" dirty="0" err="1">
                <a:solidFill>
                  <a:srgbClr val="222222"/>
                </a:solidFill>
                <a:latin typeface="맑은 고딕"/>
              </a:rPr>
              <a:t>고치고</a:t>
            </a:r>
            <a:r>
              <a:rPr sz="1700" b="0" dirty="0">
                <a:solidFill>
                  <a:srgbClr val="222222"/>
                </a:solidFill>
                <a:latin typeface="맑은 고딕"/>
              </a:rPr>
              <a:t>(</a:t>
            </a:r>
            <a:r>
              <a:rPr lang="en-US" sz="1700" dirty="0">
                <a:solidFill>
                  <a:srgbClr val="222222"/>
                </a:solidFill>
                <a:latin typeface="맑은 고딕"/>
              </a:rPr>
              <a:t>Ch</a:t>
            </a:r>
            <a:r>
              <a:rPr sz="1700" b="0" dirty="0">
                <a:solidFill>
                  <a:srgbClr val="222222"/>
                </a:solidFill>
                <a:latin typeface="맑은 고딕"/>
              </a:rPr>
              <a:t> 1~4) → </a:t>
            </a:r>
            <a:r>
              <a:rPr sz="1700" b="0" dirty="0" err="1">
                <a:solidFill>
                  <a:srgbClr val="222222"/>
                </a:solidFill>
                <a:latin typeface="맑은 고딕"/>
              </a:rPr>
              <a:t>대조하고</a:t>
            </a:r>
            <a:r>
              <a:rPr sz="1700" b="0" dirty="0">
                <a:solidFill>
                  <a:srgbClr val="222222"/>
                </a:solidFill>
                <a:latin typeface="맑은 고딕"/>
              </a:rPr>
              <a:t>(ch30) → </a:t>
            </a:r>
            <a:r>
              <a:rPr sz="1700" b="0" dirty="0" err="1">
                <a:solidFill>
                  <a:srgbClr val="222222"/>
                </a:solidFill>
                <a:latin typeface="맑은 고딕"/>
              </a:rPr>
              <a:t>증명한다</a:t>
            </a:r>
            <a:r>
              <a:rPr sz="1700" b="0" dirty="0">
                <a:solidFill>
                  <a:srgbClr val="222222"/>
                </a:solidFill>
                <a:latin typeface="맑은 고딕"/>
              </a:rPr>
              <a:t>(ch23).</a:t>
            </a:r>
          </a:p>
          <a:p>
            <a:pPr>
              <a:spcAft>
                <a:spcPts val="800"/>
              </a:spcAft>
            </a:pPr>
            <a:r>
              <a:rPr sz="1700" b="0" dirty="0">
                <a:solidFill>
                  <a:srgbClr val="222222"/>
                </a:solidFill>
                <a:latin typeface="맑은 고딕"/>
              </a:rPr>
              <a:t>•  </a:t>
            </a:r>
            <a:r>
              <a:rPr sz="1700" b="0" dirty="0" err="1">
                <a:solidFill>
                  <a:srgbClr val="222222"/>
                </a:solidFill>
                <a:latin typeface="맑은 고딕"/>
              </a:rPr>
              <a:t>다음</a:t>
            </a:r>
            <a:r>
              <a:rPr sz="1700" b="0" dirty="0">
                <a:solidFill>
                  <a:srgbClr val="222222"/>
                </a:solidFill>
                <a:latin typeface="맑은 고딕"/>
              </a:rPr>
              <a:t> — TUN ch15 </a:t>
            </a:r>
            <a:r>
              <a:rPr sz="1700" b="0" dirty="0" err="1">
                <a:solidFill>
                  <a:srgbClr val="222222"/>
                </a:solidFill>
                <a:latin typeface="맑은 고딕"/>
              </a:rPr>
              <a:t>성능</a:t>
            </a:r>
            <a:r>
              <a:rPr sz="1700" b="0" dirty="0">
                <a:solidFill>
                  <a:srgbClr val="222222"/>
                </a:solidFill>
                <a:latin typeface="맑은 고딕"/>
              </a:rPr>
              <a:t> </a:t>
            </a:r>
            <a:r>
              <a:rPr sz="1700" b="0" dirty="0" err="1">
                <a:solidFill>
                  <a:srgbClr val="222222"/>
                </a:solidFill>
                <a:latin typeface="맑은 고딕"/>
              </a:rPr>
              <a:t>튜닝</a:t>
            </a:r>
            <a:r>
              <a:rPr sz="1700" b="0" dirty="0">
                <a:solidFill>
                  <a:srgbClr val="222222"/>
                </a:solidFill>
                <a:latin typeface="맑은 고딕"/>
              </a:rPr>
              <a:t> </a:t>
            </a:r>
            <a:r>
              <a:rPr sz="1700" b="0" dirty="0" err="1">
                <a:solidFill>
                  <a:srgbClr val="222222"/>
                </a:solidFill>
                <a:latin typeface="맑은 고딕"/>
              </a:rPr>
              <a:t>개요</a:t>
            </a:r>
            <a:r>
              <a:rPr sz="1700" b="0" dirty="0">
                <a:solidFill>
                  <a:srgbClr val="222222"/>
                </a:solidFill>
                <a:latin typeface="맑은 고딕"/>
              </a:rPr>
              <a:t>: </a:t>
            </a:r>
            <a:r>
              <a:rPr sz="1700" b="0" dirty="0" err="1">
                <a:solidFill>
                  <a:srgbClr val="222222"/>
                </a:solidFill>
                <a:latin typeface="맑은 고딕"/>
              </a:rPr>
              <a:t>응답시간</a:t>
            </a:r>
            <a:r>
              <a:rPr sz="1700" b="0" dirty="0">
                <a:solidFill>
                  <a:srgbClr val="222222"/>
                </a:solidFill>
                <a:latin typeface="맑은 고딕"/>
              </a:rPr>
              <a:t> vs </a:t>
            </a:r>
            <a:r>
              <a:rPr sz="1700" b="0" dirty="0" err="1">
                <a:solidFill>
                  <a:srgbClr val="222222"/>
                </a:solidFill>
                <a:latin typeface="맑은 고딕"/>
              </a:rPr>
              <a:t>처리량</a:t>
            </a:r>
            <a:r>
              <a:rPr sz="1700" b="0" dirty="0">
                <a:solidFill>
                  <a:srgbClr val="222222"/>
                </a:solidFill>
                <a:latin typeface="맑은 고딕"/>
              </a:rPr>
              <a:t>, </a:t>
            </a:r>
            <a:r>
              <a:rPr sz="1700" b="0" dirty="0" err="1">
                <a:solidFill>
                  <a:srgbClr val="222222"/>
                </a:solidFill>
                <a:latin typeface="맑은 고딕"/>
              </a:rPr>
              <a:t>도구</a:t>
            </a:r>
            <a:r>
              <a:rPr sz="1700" b="0" dirty="0">
                <a:solidFill>
                  <a:srgbClr val="222222"/>
                </a:solidFill>
                <a:latin typeface="맑은 고딕"/>
              </a:rPr>
              <a:t> </a:t>
            </a:r>
            <a:r>
              <a:rPr sz="1700" b="0" dirty="0" err="1">
                <a:solidFill>
                  <a:srgbClr val="222222"/>
                </a:solidFill>
                <a:latin typeface="맑은 고딕"/>
              </a:rPr>
              <a:t>지도</a:t>
            </a:r>
            <a:r>
              <a:rPr sz="1700" b="0" dirty="0">
                <a:solidFill>
                  <a:srgbClr val="222222"/>
                </a:solidFill>
                <a:latin typeface="맑은 고딕"/>
              </a:rPr>
              <a:t>, </a:t>
            </a:r>
            <a:r>
              <a:rPr sz="1700" b="0" dirty="0" err="1">
                <a:solidFill>
                  <a:srgbClr val="222222"/>
                </a:solidFill>
                <a:latin typeface="맑은 고딕"/>
              </a:rPr>
              <a:t>라이선스</a:t>
            </a:r>
            <a:r>
              <a:rPr sz="1700" b="0" dirty="0">
                <a:solidFill>
                  <a:srgbClr val="222222"/>
                </a:solidFill>
                <a:latin typeface="맑은 고딕"/>
              </a:rPr>
              <a:t>.</a:t>
            </a:r>
          </a:p>
        </p:txBody>
      </p:sp>
    </p:spTree>
    <p:extLst>
      <p:ext uri="{BB962C8B-B14F-4D97-AF65-F5344CB8AC3E}">
        <p14:creationId xmlns:p14="http://schemas.microsoft.com/office/powerpoint/2010/main" val="1987621113"/>
      </p:ext>
    </p:extLst>
  </p:cSld>
  <p:clrMapOvr>
    <a:masterClrMapping/>
  </p:clrMapOvr>
</p:sld>
</file>

<file path=ppt/slides/slide6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457200"/>
            <a:ext cx="10698480" cy="548640"/>
          </a:xfrm>
          <a:prstGeom prst="rect">
            <a:avLst/>
          </a:prstGeom>
          <a:noFill/>
        </p:spPr>
        <p:txBody>
          <a:bodyPr wrap="square">
            <a:spAutoFit/>
          </a:bodyPr>
          <a:lstStyle/>
          <a:p>
            <a:pPr algn="l"/>
            <a:r>
              <a:rPr sz="1600" b="1">
                <a:solidFill>
                  <a:srgbClr val="FFFFFF"/>
                </a:solidFill>
                <a:latin typeface="맑은 고딕"/>
                <a:ea typeface="맑은 고딕"/>
              </a:rPr>
              <a:t>Oracle Database 19c 성능 튜닝 실무 과정</a:t>
            </a:r>
          </a:p>
        </p:txBody>
      </p:sp>
      <p:sp>
        <p:nvSpPr>
          <p:cNvPr id="6" name="TextBox 5"/>
          <p:cNvSpPr txBox="1"/>
          <p:nvPr/>
        </p:nvSpPr>
        <p:spPr>
          <a:xfrm>
            <a:off x="731520" y="2377440"/>
            <a:ext cx="10698480" cy="1554480"/>
          </a:xfrm>
          <a:prstGeom prst="rect">
            <a:avLst/>
          </a:prstGeom>
          <a:noFill/>
        </p:spPr>
        <p:txBody>
          <a:bodyPr wrap="square">
            <a:spAutoFit/>
          </a:bodyPr>
          <a:lstStyle/>
          <a:p>
            <a:pPr algn="l"/>
            <a:r>
              <a:rPr sz="3400" b="1">
                <a:solidFill>
                  <a:srgbClr val="C0392B"/>
                </a:solidFill>
                <a:latin typeface="맑은 고딕"/>
                <a:ea typeface="맑은 고딕"/>
              </a:rPr>
              <a:t>성능 튜닝 개요</a:t>
            </a:r>
          </a:p>
          <a:p>
            <a:pPr algn="l"/>
            <a:r>
              <a:rPr sz="2000" b="0">
                <a:solidFill>
                  <a:srgbClr val="5A6672"/>
                </a:solidFill>
                <a:latin typeface="맑은 고딕"/>
                <a:ea typeface="맑은 고딕"/>
              </a:rPr>
              <a:t>Performance Tuning Overview — 무엇을 튜닝이라 부르는가</a:t>
            </a:r>
          </a:p>
        </p:txBody>
      </p:sp>
      <p:sp>
        <p:nvSpPr>
          <p:cNvPr id="7" name="TextBox 6"/>
          <p:cNvSpPr txBox="1"/>
          <p:nvPr/>
        </p:nvSpPr>
        <p:spPr>
          <a:xfrm>
            <a:off x="731520" y="4114800"/>
            <a:ext cx="10698480" cy="1097280"/>
          </a:xfrm>
          <a:prstGeom prst="rect">
            <a:avLst/>
          </a:prstGeom>
          <a:noFill/>
        </p:spPr>
        <p:txBody>
          <a:bodyPr wrap="square">
            <a:spAutoFit/>
          </a:bodyPr>
          <a:lstStyle/>
          <a:p>
            <a:pPr algn="l"/>
            <a:r>
              <a:rPr sz="1500" b="0">
                <a:solidFill>
                  <a:srgbClr val="5A6672"/>
                </a:solidFill>
                <a:latin typeface="맑은 고딕"/>
                <a:ea typeface="맑은 고딕"/>
              </a:rPr>
              <a:t>응답시간 vs 처리량 · DB Time · 도구 지도(V$·AWR·ADDM·ASH·Advisor) · 관리 팩 라이선스</a:t>
            </a:r>
          </a:p>
        </p:txBody>
      </p:sp>
      <p:sp>
        <p:nvSpPr>
          <p:cNvPr id="10" name="TextBox 9">
            <a:extLst>
              <a:ext uri="{FF2B5EF4-FFF2-40B4-BE49-F238E27FC236}">
                <a16:creationId xmlns:a16="http://schemas.microsoft.com/office/drawing/2014/main" id="{C5C62A6A-E03B-E12A-5084-019B61B5F1EB}"/>
              </a:ext>
            </a:extLst>
          </p:cNvPr>
          <p:cNvSpPr txBox="1"/>
          <p:nvPr/>
        </p:nvSpPr>
        <p:spPr>
          <a:xfrm>
            <a:off x="731520" y="5577840"/>
            <a:ext cx="10698480" cy="400110"/>
          </a:xfrm>
          <a:prstGeom prst="rect">
            <a:avLst/>
          </a:prstGeom>
          <a:noFill/>
        </p:spPr>
        <p:txBody>
          <a:bodyPr wrap="square">
            <a:spAutoFit/>
          </a:bodyPr>
          <a:lstStyle/>
          <a:p>
            <a:pPr algn="l"/>
            <a:r>
              <a:rPr sz="2000" b="1" dirty="0">
                <a:solidFill>
                  <a:srgbClr val="C0392B"/>
                </a:solidFill>
                <a:latin typeface="맑은 고딕"/>
              </a:rPr>
              <a:t>ch1</a:t>
            </a:r>
            <a:r>
              <a:rPr lang="en-US" sz="2000" b="1" dirty="0">
                <a:solidFill>
                  <a:srgbClr val="C0392B"/>
                </a:solidFill>
                <a:latin typeface="맑은 고딕"/>
              </a:rPr>
              <a:t>5</a:t>
            </a:r>
            <a:endParaRPr sz="2000" b="1" dirty="0">
              <a:solidFill>
                <a:srgbClr val="C0392B"/>
              </a:solidFill>
              <a:latin typeface="맑은 고딕"/>
            </a:endParaRPr>
          </a:p>
        </p:txBody>
      </p:sp>
    </p:spTree>
    <p:extLst>
      <p:ext uri="{BB962C8B-B14F-4D97-AF65-F5344CB8AC3E}">
        <p14:creationId xmlns:p14="http://schemas.microsoft.com/office/powerpoint/2010/main" val="3649366119"/>
      </p:ext>
    </p:extLst>
  </p:cSld>
  <p:clrMapOvr>
    <a:masterClrMapping/>
  </p:clrMapOvr>
</p:sld>
</file>

<file path=ppt/slides/slide6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rPr>
              <a:t>학습 목표 (Objectives)</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600"/>
              </a:spcAft>
            </a:pPr>
            <a:r>
              <a:rPr sz="1600" b="0">
                <a:solidFill>
                  <a:srgbClr val="222222"/>
                </a:solidFill>
                <a:latin typeface="맑은 고딕"/>
                <a:ea typeface="맑은 고딕"/>
              </a:rPr>
              <a:t>•  응답시간과 처리량을 구분하고, 성능 목표를 정성 표현이 아니라 수치로 정의한다.</a:t>
            </a:r>
          </a:p>
          <a:p>
            <a:pPr algn="l">
              <a:spcAft>
                <a:spcPts val="600"/>
              </a:spcAft>
            </a:pPr>
            <a:r>
              <a:rPr sz="1600" b="0">
                <a:solidFill>
                  <a:srgbClr val="222222"/>
                </a:solidFill>
                <a:latin typeface="맑은 고딕"/>
                <a:ea typeface="맑은 고딕"/>
              </a:rPr>
              <a:t>•  튜닝이 필요한 시점을 사전 예방적 모니터링과 병목 제거로 판단한다.</a:t>
            </a:r>
          </a:p>
          <a:p>
            <a:pPr algn="l">
              <a:spcAft>
                <a:spcPts val="600"/>
              </a:spcAft>
            </a:pPr>
            <a:r>
              <a:rPr sz="1600" b="0">
                <a:solidFill>
                  <a:srgbClr val="222222"/>
                </a:solidFill>
                <a:latin typeface="맑은 고딕"/>
                <a:ea typeface="맑은 고딕"/>
              </a:rPr>
              <a:t>•  증상과 원인을 혼동하지 않고, 대기 이벤트에서 원인으로 좁혀 들어간다.</a:t>
            </a:r>
          </a:p>
          <a:p>
            <a:pPr algn="l">
              <a:spcAft>
                <a:spcPts val="600"/>
              </a:spcAft>
            </a:pPr>
            <a:r>
              <a:rPr sz="1600" b="0">
                <a:solidFill>
                  <a:srgbClr val="222222"/>
                </a:solidFill>
                <a:latin typeface="맑은 고딕"/>
                <a:ea typeface="맑은 고딕"/>
              </a:rPr>
              <a:t>•  DB Time이 이 과정의 공통 화폐임을 이해하고 실측으로 확인한다.</a:t>
            </a:r>
          </a:p>
          <a:p>
            <a:pPr algn="l">
              <a:spcAft>
                <a:spcPts val="600"/>
              </a:spcAft>
            </a:pPr>
            <a:r>
              <a:rPr sz="1600" b="0">
                <a:solidFill>
                  <a:srgbClr val="222222"/>
                </a:solidFill>
                <a:latin typeface="맑은 고딕"/>
                <a:ea typeface="맑은 고딕"/>
              </a:rPr>
              <a:t>•  성능 도구 지도(V$·AWR·ADDM·ASH·Advisor)를 그리고 상황별로 고른다.</a:t>
            </a:r>
          </a:p>
          <a:p>
            <a:pPr algn="l">
              <a:spcAft>
                <a:spcPts val="600"/>
              </a:spcAft>
            </a:pPr>
            <a:r>
              <a:rPr sz="1600" b="0">
                <a:solidFill>
                  <a:srgbClr val="222222"/>
                </a:solidFill>
                <a:latin typeface="맑은 고딕"/>
                <a:ea typeface="맑은 고딕"/>
              </a:rPr>
              <a:t>•  관리 팩 라이선스(Diagnostics/Tuning Pack)의 경계와 확인 방법을 안다.</a:t>
            </a:r>
          </a:p>
          <a:p>
            <a:pPr algn="l">
              <a:spcAft>
                <a:spcPts val="600"/>
              </a:spcAft>
            </a:pPr>
            <a:r>
              <a:rPr sz="1600" b="0">
                <a:solidFill>
                  <a:srgbClr val="222222"/>
                </a:solidFill>
                <a:latin typeface="맑은 고딕"/>
                <a:ea typeface="맑은 고딕"/>
              </a:rPr>
              <a:t>•  라이선스가 없을 때의 대안 경로(V$ 직접 조회·Statspack)를 안다.</a:t>
            </a:r>
          </a:p>
          <a:p>
            <a:pPr algn="l">
              <a:spcAft>
                <a:spcPts val="600"/>
              </a:spcAft>
            </a:pPr>
            <a:r>
              <a:rPr sz="1600" b="0">
                <a:solidFill>
                  <a:srgbClr val="222222"/>
                </a:solidFill>
                <a:latin typeface="맑은 고딕"/>
                <a:ea typeface="맑은 고딕"/>
              </a:rPr>
              <a:t>•  히트율 신앙·권고 맹신·근거 없는 조치의 세 함정을 경계한다.</a:t>
            </a:r>
          </a:p>
        </p:txBody>
      </p:sp>
    </p:spTree>
    <p:extLst>
      <p:ext uri="{BB962C8B-B14F-4D97-AF65-F5344CB8AC3E}">
        <p14:creationId xmlns:p14="http://schemas.microsoft.com/office/powerpoint/2010/main" val="1028446783"/>
      </p:ext>
    </p:extLst>
  </p:cSld>
  <p:clrMapOvr>
    <a:masterClrMapping/>
  </p:clrMapOvr>
</p:sld>
</file>

<file path=ppt/slides/slide6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rPr>
              <a:t>이 장의 구성 (Agenda)</a:t>
            </a:r>
          </a:p>
        </p:txBody>
      </p:sp>
      <p:sp>
        <p:nvSpPr>
          <p:cNvPr id="4" name="TextBox 3"/>
          <p:cNvSpPr txBox="1"/>
          <p:nvPr/>
        </p:nvSpPr>
        <p:spPr>
          <a:xfrm>
            <a:off x="640080" y="1371600"/>
            <a:ext cx="10881360" cy="2600712"/>
          </a:xfrm>
          <a:prstGeom prst="rect">
            <a:avLst/>
          </a:prstGeom>
          <a:noFill/>
        </p:spPr>
        <p:txBody>
          <a:bodyPr wrap="square">
            <a:spAutoFit/>
          </a:bodyPr>
          <a:lstStyle/>
          <a:p>
            <a:pPr algn="l">
              <a:spcAft>
                <a:spcPts val="600"/>
              </a:spcAft>
            </a:pPr>
            <a:r>
              <a:rPr sz="1600" b="0" dirty="0">
                <a:solidFill>
                  <a:srgbClr val="222222"/>
                </a:solidFill>
                <a:latin typeface="맑은 고딕"/>
                <a:ea typeface="맑은 고딕"/>
              </a:rPr>
              <a:t>•  1</a:t>
            </a:r>
            <a:r>
              <a:rPr lang="en-US" sz="1600" b="0" dirty="0">
                <a:solidFill>
                  <a:srgbClr val="222222"/>
                </a:solidFill>
                <a:latin typeface="맑은 고딕"/>
                <a:ea typeface="맑은 고딕"/>
              </a:rPr>
              <a:t>5</a:t>
            </a:r>
            <a:r>
              <a:rPr sz="1600" b="0" dirty="0">
                <a:solidFill>
                  <a:srgbClr val="222222"/>
                </a:solidFill>
                <a:latin typeface="맑은 고딕"/>
                <a:ea typeface="맑은 고딕"/>
              </a:rPr>
              <a:t>.</a:t>
            </a:r>
            <a:r>
              <a:rPr lang="en-US" sz="1600" b="0" dirty="0">
                <a:solidFill>
                  <a:srgbClr val="222222"/>
                </a:solidFill>
                <a:latin typeface="맑은 고딕"/>
                <a:ea typeface="맑은 고딕"/>
              </a:rPr>
              <a:t>1</a:t>
            </a:r>
            <a:r>
              <a:rPr sz="1600" b="0" dirty="0">
                <a:solidFill>
                  <a:srgbClr val="222222"/>
                </a:solidFill>
                <a:latin typeface="맑은 고딕"/>
                <a:ea typeface="맑은 고딕"/>
              </a:rPr>
              <a:t>  </a:t>
            </a:r>
            <a:r>
              <a:rPr sz="1600" b="0" dirty="0" err="1">
                <a:solidFill>
                  <a:srgbClr val="222222"/>
                </a:solidFill>
                <a:latin typeface="맑은 고딕"/>
                <a:ea typeface="맑은 고딕"/>
              </a:rPr>
              <a:t>응답시간과</a:t>
            </a:r>
            <a:r>
              <a:rPr sz="1600" b="0" dirty="0">
                <a:solidFill>
                  <a:srgbClr val="222222"/>
                </a:solidFill>
                <a:latin typeface="맑은 고딕"/>
                <a:ea typeface="맑은 고딕"/>
              </a:rPr>
              <a:t> </a:t>
            </a:r>
            <a:r>
              <a:rPr sz="1600" b="0" dirty="0" err="1">
                <a:solidFill>
                  <a:srgbClr val="222222"/>
                </a:solidFill>
                <a:latin typeface="맑은 고딕"/>
                <a:ea typeface="맑은 고딕"/>
              </a:rPr>
              <a:t>처리량</a:t>
            </a:r>
            <a:r>
              <a:rPr sz="1600" b="0" dirty="0">
                <a:solidFill>
                  <a:srgbClr val="222222"/>
                </a:solidFill>
                <a:latin typeface="맑은 고딕"/>
                <a:ea typeface="맑은 고딕"/>
              </a:rPr>
              <a:t> — </a:t>
            </a:r>
            <a:r>
              <a:rPr sz="1600" b="0" dirty="0" err="1">
                <a:solidFill>
                  <a:srgbClr val="222222"/>
                </a:solidFill>
                <a:latin typeface="맑은 고딕"/>
                <a:ea typeface="맑은 고딕"/>
              </a:rPr>
              <a:t>성능을</a:t>
            </a:r>
            <a:r>
              <a:rPr sz="1600" b="0" dirty="0">
                <a:solidFill>
                  <a:srgbClr val="222222"/>
                </a:solidFill>
                <a:latin typeface="맑은 고딕"/>
                <a:ea typeface="맑은 고딕"/>
              </a:rPr>
              <a:t> </a:t>
            </a:r>
            <a:r>
              <a:rPr sz="1600" b="0" dirty="0" err="1">
                <a:solidFill>
                  <a:srgbClr val="222222"/>
                </a:solidFill>
                <a:latin typeface="맑은 고딕"/>
                <a:ea typeface="맑은 고딕"/>
              </a:rPr>
              <a:t>무엇으로</a:t>
            </a:r>
            <a:r>
              <a:rPr sz="1600" b="0" dirty="0">
                <a:solidFill>
                  <a:srgbClr val="222222"/>
                </a:solidFill>
                <a:latin typeface="맑은 고딕"/>
                <a:ea typeface="맑은 고딕"/>
              </a:rPr>
              <a:t> </a:t>
            </a:r>
            <a:r>
              <a:rPr sz="1600" b="0" dirty="0" err="1">
                <a:solidFill>
                  <a:srgbClr val="222222"/>
                </a:solidFill>
                <a:latin typeface="맑은 고딕"/>
                <a:ea typeface="맑은 고딕"/>
              </a:rPr>
              <a:t>재는가</a:t>
            </a:r>
            <a:endParaRPr sz="1600" b="0" dirty="0">
              <a:solidFill>
                <a:srgbClr val="222222"/>
              </a:solidFill>
              <a:latin typeface="맑은 고딕"/>
              <a:ea typeface="맑은 고딕"/>
            </a:endParaRPr>
          </a:p>
          <a:p>
            <a:pPr algn="l">
              <a:spcAft>
                <a:spcPts val="600"/>
              </a:spcAft>
            </a:pPr>
            <a:r>
              <a:rPr sz="1600" b="0" dirty="0">
                <a:solidFill>
                  <a:srgbClr val="222222"/>
                </a:solidFill>
                <a:latin typeface="맑은 고딕"/>
                <a:ea typeface="맑은 고딕"/>
              </a:rPr>
              <a:t>•  1</a:t>
            </a:r>
            <a:r>
              <a:rPr lang="en-US" sz="1600" b="0" dirty="0">
                <a:solidFill>
                  <a:srgbClr val="222222"/>
                </a:solidFill>
                <a:latin typeface="맑은 고딕"/>
                <a:ea typeface="맑은 고딕"/>
              </a:rPr>
              <a:t>5</a:t>
            </a:r>
            <a:r>
              <a:rPr sz="1600" b="0" dirty="0">
                <a:solidFill>
                  <a:srgbClr val="222222"/>
                </a:solidFill>
                <a:latin typeface="맑은 고딕"/>
                <a:ea typeface="맑은 고딕"/>
              </a:rPr>
              <a:t>.</a:t>
            </a:r>
            <a:r>
              <a:rPr lang="en-US" sz="1600" b="0" dirty="0">
                <a:solidFill>
                  <a:srgbClr val="222222"/>
                </a:solidFill>
                <a:latin typeface="맑은 고딕"/>
                <a:ea typeface="맑은 고딕"/>
              </a:rPr>
              <a:t>2</a:t>
            </a:r>
            <a:r>
              <a:rPr sz="1600" b="0" dirty="0">
                <a:solidFill>
                  <a:srgbClr val="222222"/>
                </a:solidFill>
                <a:latin typeface="맑은 고딕"/>
                <a:ea typeface="맑은 고딕"/>
              </a:rPr>
              <a:t>  </a:t>
            </a:r>
            <a:r>
              <a:rPr sz="1600" b="0" dirty="0" err="1">
                <a:solidFill>
                  <a:srgbClr val="222222"/>
                </a:solidFill>
                <a:latin typeface="맑은 고딕"/>
                <a:ea typeface="맑은 고딕"/>
              </a:rPr>
              <a:t>튜닝이</a:t>
            </a:r>
            <a:r>
              <a:rPr sz="1600" b="0" dirty="0">
                <a:solidFill>
                  <a:srgbClr val="222222"/>
                </a:solidFill>
                <a:latin typeface="맑은 고딕"/>
                <a:ea typeface="맑은 고딕"/>
              </a:rPr>
              <a:t> </a:t>
            </a:r>
            <a:r>
              <a:rPr sz="1600" b="0" dirty="0" err="1">
                <a:solidFill>
                  <a:srgbClr val="222222"/>
                </a:solidFill>
                <a:latin typeface="맑은 고딕"/>
                <a:ea typeface="맑은 고딕"/>
              </a:rPr>
              <a:t>필요한</a:t>
            </a:r>
            <a:r>
              <a:rPr sz="1600" b="0" dirty="0">
                <a:solidFill>
                  <a:srgbClr val="222222"/>
                </a:solidFill>
                <a:latin typeface="맑은 고딕"/>
                <a:ea typeface="맑은 고딕"/>
              </a:rPr>
              <a:t> </a:t>
            </a:r>
            <a:r>
              <a:rPr sz="1600" b="0" dirty="0" err="1">
                <a:solidFill>
                  <a:srgbClr val="222222"/>
                </a:solidFill>
                <a:latin typeface="맑은 고딕"/>
                <a:ea typeface="맑은 고딕"/>
              </a:rPr>
              <a:t>시점</a:t>
            </a:r>
            <a:r>
              <a:rPr sz="1600" b="0" dirty="0">
                <a:solidFill>
                  <a:srgbClr val="222222"/>
                </a:solidFill>
                <a:latin typeface="맑은 고딕"/>
                <a:ea typeface="맑은 고딕"/>
              </a:rPr>
              <a:t> — </a:t>
            </a:r>
            <a:r>
              <a:rPr sz="1600" b="0" dirty="0" err="1">
                <a:solidFill>
                  <a:srgbClr val="222222"/>
                </a:solidFill>
                <a:latin typeface="맑은 고딕"/>
                <a:ea typeface="맑은 고딕"/>
              </a:rPr>
              <a:t>언제</a:t>
            </a:r>
            <a:r>
              <a:rPr sz="1600" b="0" dirty="0">
                <a:solidFill>
                  <a:srgbClr val="222222"/>
                </a:solidFill>
                <a:latin typeface="맑은 고딕"/>
                <a:ea typeface="맑은 고딕"/>
              </a:rPr>
              <a:t> </a:t>
            </a:r>
            <a:r>
              <a:rPr sz="1600" b="0" dirty="0" err="1">
                <a:solidFill>
                  <a:srgbClr val="222222"/>
                </a:solidFill>
                <a:latin typeface="맑은 고딕"/>
                <a:ea typeface="맑은 고딕"/>
              </a:rPr>
              <a:t>손대는가</a:t>
            </a:r>
            <a:endParaRPr sz="1600" b="0" dirty="0">
              <a:solidFill>
                <a:srgbClr val="222222"/>
              </a:solidFill>
              <a:latin typeface="맑은 고딕"/>
              <a:ea typeface="맑은 고딕"/>
            </a:endParaRPr>
          </a:p>
          <a:p>
            <a:pPr algn="l">
              <a:spcAft>
                <a:spcPts val="600"/>
              </a:spcAft>
            </a:pPr>
            <a:r>
              <a:rPr sz="1600" b="0" dirty="0">
                <a:solidFill>
                  <a:srgbClr val="222222"/>
                </a:solidFill>
                <a:latin typeface="맑은 고딕"/>
                <a:ea typeface="맑은 고딕"/>
              </a:rPr>
              <a:t>•  1</a:t>
            </a:r>
            <a:r>
              <a:rPr lang="en-US" sz="1600" b="0" dirty="0">
                <a:solidFill>
                  <a:srgbClr val="222222"/>
                </a:solidFill>
                <a:latin typeface="맑은 고딕"/>
                <a:ea typeface="맑은 고딕"/>
              </a:rPr>
              <a:t>5</a:t>
            </a:r>
            <a:r>
              <a:rPr sz="1600" b="0" dirty="0">
                <a:solidFill>
                  <a:srgbClr val="222222"/>
                </a:solidFill>
                <a:latin typeface="맑은 고딕"/>
                <a:ea typeface="맑은 고딕"/>
              </a:rPr>
              <a:t>.</a:t>
            </a:r>
            <a:r>
              <a:rPr lang="en-US" sz="1600" b="0" dirty="0">
                <a:solidFill>
                  <a:srgbClr val="222222"/>
                </a:solidFill>
                <a:latin typeface="맑은 고딕"/>
                <a:ea typeface="맑은 고딕"/>
              </a:rPr>
              <a:t>3</a:t>
            </a:r>
            <a:r>
              <a:rPr sz="1600" b="0" dirty="0">
                <a:solidFill>
                  <a:srgbClr val="222222"/>
                </a:solidFill>
                <a:latin typeface="맑은 고딕"/>
                <a:ea typeface="맑은 고딕"/>
              </a:rPr>
              <a:t>  DB Time — 이 </a:t>
            </a:r>
            <a:r>
              <a:rPr sz="1600" b="0" dirty="0" err="1">
                <a:solidFill>
                  <a:srgbClr val="222222"/>
                </a:solidFill>
                <a:latin typeface="맑은 고딕"/>
                <a:ea typeface="맑은 고딕"/>
              </a:rPr>
              <a:t>과정의</a:t>
            </a:r>
            <a:r>
              <a:rPr sz="1600" b="0" dirty="0">
                <a:solidFill>
                  <a:srgbClr val="222222"/>
                </a:solidFill>
                <a:latin typeface="맑은 고딕"/>
                <a:ea typeface="맑은 고딕"/>
              </a:rPr>
              <a:t> </a:t>
            </a:r>
            <a:r>
              <a:rPr sz="1600" b="0" dirty="0" err="1">
                <a:solidFill>
                  <a:srgbClr val="222222"/>
                </a:solidFill>
                <a:latin typeface="맑은 고딕"/>
                <a:ea typeface="맑은 고딕"/>
              </a:rPr>
              <a:t>공통</a:t>
            </a:r>
            <a:r>
              <a:rPr sz="1600" b="0" dirty="0">
                <a:solidFill>
                  <a:srgbClr val="222222"/>
                </a:solidFill>
                <a:latin typeface="맑은 고딕"/>
                <a:ea typeface="맑은 고딕"/>
              </a:rPr>
              <a:t> </a:t>
            </a:r>
            <a:r>
              <a:rPr sz="1600" b="0" dirty="0" err="1">
                <a:solidFill>
                  <a:srgbClr val="222222"/>
                </a:solidFill>
                <a:latin typeface="맑은 고딕"/>
                <a:ea typeface="맑은 고딕"/>
              </a:rPr>
              <a:t>화폐</a:t>
            </a:r>
            <a:endParaRPr sz="1600" b="0" dirty="0">
              <a:solidFill>
                <a:srgbClr val="222222"/>
              </a:solidFill>
              <a:latin typeface="맑은 고딕"/>
              <a:ea typeface="맑은 고딕"/>
            </a:endParaRPr>
          </a:p>
          <a:p>
            <a:pPr algn="l">
              <a:spcAft>
                <a:spcPts val="600"/>
              </a:spcAft>
            </a:pPr>
            <a:r>
              <a:rPr sz="1600" b="0" dirty="0">
                <a:solidFill>
                  <a:srgbClr val="222222"/>
                </a:solidFill>
                <a:latin typeface="맑은 고딕"/>
                <a:ea typeface="맑은 고딕"/>
              </a:rPr>
              <a:t>•  1</a:t>
            </a:r>
            <a:r>
              <a:rPr lang="en-US" sz="1600" b="0" dirty="0">
                <a:solidFill>
                  <a:srgbClr val="222222"/>
                </a:solidFill>
                <a:latin typeface="맑은 고딕"/>
                <a:ea typeface="맑은 고딕"/>
              </a:rPr>
              <a:t>5</a:t>
            </a:r>
            <a:r>
              <a:rPr sz="1600" b="0" dirty="0">
                <a:solidFill>
                  <a:srgbClr val="222222"/>
                </a:solidFill>
                <a:latin typeface="맑은 고딕"/>
                <a:ea typeface="맑은 고딕"/>
              </a:rPr>
              <a:t>.</a:t>
            </a:r>
            <a:r>
              <a:rPr lang="en-US" sz="1600" b="0" dirty="0">
                <a:solidFill>
                  <a:srgbClr val="222222"/>
                </a:solidFill>
                <a:latin typeface="맑은 고딕"/>
                <a:ea typeface="맑은 고딕"/>
              </a:rPr>
              <a:t>4</a:t>
            </a:r>
            <a:r>
              <a:rPr sz="1600" b="0" dirty="0">
                <a:solidFill>
                  <a:srgbClr val="222222"/>
                </a:solidFill>
                <a:latin typeface="맑은 고딕"/>
                <a:ea typeface="맑은 고딕"/>
              </a:rPr>
              <a:t>  </a:t>
            </a:r>
            <a:r>
              <a:rPr sz="1600" b="0" dirty="0" err="1">
                <a:solidFill>
                  <a:srgbClr val="222222"/>
                </a:solidFill>
                <a:latin typeface="맑은 고딕"/>
                <a:ea typeface="맑은 고딕"/>
              </a:rPr>
              <a:t>성능</a:t>
            </a:r>
            <a:r>
              <a:rPr sz="1600" b="0" dirty="0">
                <a:solidFill>
                  <a:srgbClr val="222222"/>
                </a:solidFill>
                <a:latin typeface="맑은 고딕"/>
                <a:ea typeface="맑은 고딕"/>
              </a:rPr>
              <a:t> </a:t>
            </a:r>
            <a:r>
              <a:rPr sz="1600" b="0" dirty="0" err="1">
                <a:solidFill>
                  <a:srgbClr val="222222"/>
                </a:solidFill>
                <a:latin typeface="맑은 고딕"/>
                <a:ea typeface="맑은 고딕"/>
              </a:rPr>
              <a:t>도구</a:t>
            </a:r>
            <a:r>
              <a:rPr sz="1600" b="0" dirty="0">
                <a:solidFill>
                  <a:srgbClr val="222222"/>
                </a:solidFill>
                <a:latin typeface="맑은 고딕"/>
                <a:ea typeface="맑은 고딕"/>
              </a:rPr>
              <a:t> </a:t>
            </a:r>
            <a:r>
              <a:rPr sz="1600" b="0" dirty="0" err="1">
                <a:solidFill>
                  <a:srgbClr val="222222"/>
                </a:solidFill>
                <a:latin typeface="맑은 고딕"/>
                <a:ea typeface="맑은 고딕"/>
              </a:rPr>
              <a:t>지도</a:t>
            </a:r>
            <a:r>
              <a:rPr sz="1600" b="0" dirty="0">
                <a:solidFill>
                  <a:srgbClr val="222222"/>
                </a:solidFill>
                <a:latin typeface="맑은 고딕"/>
                <a:ea typeface="맑은 고딕"/>
              </a:rPr>
              <a:t> — </a:t>
            </a:r>
            <a:r>
              <a:rPr sz="1600" b="0" dirty="0" err="1">
                <a:solidFill>
                  <a:srgbClr val="222222"/>
                </a:solidFill>
                <a:latin typeface="맑은 고딕"/>
                <a:ea typeface="맑은 고딕"/>
              </a:rPr>
              <a:t>무엇을</a:t>
            </a:r>
            <a:r>
              <a:rPr sz="1600" b="0" dirty="0">
                <a:solidFill>
                  <a:srgbClr val="222222"/>
                </a:solidFill>
                <a:latin typeface="맑은 고딕"/>
                <a:ea typeface="맑은 고딕"/>
              </a:rPr>
              <a:t> </a:t>
            </a:r>
            <a:r>
              <a:rPr sz="1600" b="0" dirty="0" err="1">
                <a:solidFill>
                  <a:srgbClr val="222222"/>
                </a:solidFill>
                <a:latin typeface="맑은 고딕"/>
                <a:ea typeface="맑은 고딕"/>
              </a:rPr>
              <a:t>언제</a:t>
            </a:r>
            <a:r>
              <a:rPr sz="1600" b="0" dirty="0">
                <a:solidFill>
                  <a:srgbClr val="222222"/>
                </a:solidFill>
                <a:latin typeface="맑은 고딕"/>
                <a:ea typeface="맑은 고딕"/>
              </a:rPr>
              <a:t> </a:t>
            </a:r>
            <a:r>
              <a:rPr sz="1600" b="0" dirty="0" err="1">
                <a:solidFill>
                  <a:srgbClr val="222222"/>
                </a:solidFill>
                <a:latin typeface="맑은 고딕"/>
                <a:ea typeface="맑은 고딕"/>
              </a:rPr>
              <a:t>쓰는가</a:t>
            </a:r>
            <a:endParaRPr sz="1600" b="0" dirty="0">
              <a:solidFill>
                <a:srgbClr val="222222"/>
              </a:solidFill>
              <a:latin typeface="맑은 고딕"/>
              <a:ea typeface="맑은 고딕"/>
            </a:endParaRPr>
          </a:p>
          <a:p>
            <a:pPr algn="l">
              <a:spcAft>
                <a:spcPts val="600"/>
              </a:spcAft>
            </a:pPr>
            <a:r>
              <a:rPr sz="1600" b="0" dirty="0">
                <a:solidFill>
                  <a:srgbClr val="222222"/>
                </a:solidFill>
                <a:latin typeface="맑은 고딕"/>
                <a:ea typeface="맑은 고딕"/>
              </a:rPr>
              <a:t>•  1</a:t>
            </a:r>
            <a:r>
              <a:rPr lang="en-US" sz="1600" b="0" dirty="0">
                <a:solidFill>
                  <a:srgbClr val="222222"/>
                </a:solidFill>
                <a:latin typeface="맑은 고딕"/>
                <a:ea typeface="맑은 고딕"/>
              </a:rPr>
              <a:t>5</a:t>
            </a:r>
            <a:r>
              <a:rPr sz="1600" b="0" dirty="0">
                <a:solidFill>
                  <a:srgbClr val="222222"/>
                </a:solidFill>
                <a:latin typeface="맑은 고딕"/>
                <a:ea typeface="맑은 고딕"/>
              </a:rPr>
              <a:t>.</a:t>
            </a:r>
            <a:r>
              <a:rPr lang="en-US" sz="1600" b="0" dirty="0">
                <a:solidFill>
                  <a:srgbClr val="222222"/>
                </a:solidFill>
                <a:latin typeface="맑은 고딕"/>
                <a:ea typeface="맑은 고딕"/>
              </a:rPr>
              <a:t>5</a:t>
            </a:r>
            <a:r>
              <a:rPr sz="1600" b="0" dirty="0">
                <a:solidFill>
                  <a:srgbClr val="222222"/>
                </a:solidFill>
                <a:latin typeface="맑은 고딕"/>
                <a:ea typeface="맑은 고딕"/>
              </a:rPr>
              <a:t>  </a:t>
            </a:r>
            <a:r>
              <a:rPr sz="1600" b="0" dirty="0" err="1">
                <a:solidFill>
                  <a:srgbClr val="222222"/>
                </a:solidFill>
                <a:latin typeface="맑은 고딕"/>
                <a:ea typeface="맑은 고딕"/>
              </a:rPr>
              <a:t>관리</a:t>
            </a:r>
            <a:r>
              <a:rPr sz="1600" b="0" dirty="0">
                <a:solidFill>
                  <a:srgbClr val="222222"/>
                </a:solidFill>
                <a:latin typeface="맑은 고딕"/>
                <a:ea typeface="맑은 고딕"/>
              </a:rPr>
              <a:t> 팩 </a:t>
            </a:r>
            <a:r>
              <a:rPr sz="1600" b="0" dirty="0" err="1">
                <a:solidFill>
                  <a:srgbClr val="222222"/>
                </a:solidFill>
                <a:latin typeface="맑은 고딕"/>
                <a:ea typeface="맑은 고딕"/>
              </a:rPr>
              <a:t>라이선스</a:t>
            </a:r>
            <a:r>
              <a:rPr sz="1600" b="0" dirty="0">
                <a:solidFill>
                  <a:srgbClr val="222222"/>
                </a:solidFill>
                <a:latin typeface="맑은 고딕"/>
                <a:ea typeface="맑은 고딕"/>
              </a:rPr>
              <a:t> — </a:t>
            </a:r>
            <a:r>
              <a:rPr sz="1600" b="0" dirty="0" err="1">
                <a:solidFill>
                  <a:srgbClr val="222222"/>
                </a:solidFill>
                <a:latin typeface="맑은 고딕"/>
                <a:ea typeface="맑은 고딕"/>
              </a:rPr>
              <a:t>무심코</a:t>
            </a:r>
            <a:r>
              <a:rPr sz="1600" b="0" dirty="0">
                <a:solidFill>
                  <a:srgbClr val="222222"/>
                </a:solidFill>
                <a:latin typeface="맑은 고딕"/>
                <a:ea typeface="맑은 고딕"/>
              </a:rPr>
              <a:t> </a:t>
            </a:r>
            <a:r>
              <a:rPr sz="1600" b="0" dirty="0" err="1">
                <a:solidFill>
                  <a:srgbClr val="222222"/>
                </a:solidFill>
                <a:latin typeface="맑은 고딕"/>
                <a:ea typeface="맑은 고딕"/>
              </a:rPr>
              <a:t>쓰면</a:t>
            </a:r>
            <a:r>
              <a:rPr sz="1600" b="0" dirty="0">
                <a:solidFill>
                  <a:srgbClr val="222222"/>
                </a:solidFill>
                <a:latin typeface="맑은 고딕"/>
                <a:ea typeface="맑은 고딕"/>
              </a:rPr>
              <a:t> </a:t>
            </a:r>
            <a:r>
              <a:rPr sz="1600" b="0" dirty="0" err="1">
                <a:solidFill>
                  <a:srgbClr val="222222"/>
                </a:solidFill>
                <a:latin typeface="맑은 고딕"/>
                <a:ea typeface="맑은 고딕"/>
              </a:rPr>
              <a:t>위반이다</a:t>
            </a:r>
            <a:endParaRPr sz="1600" b="0" dirty="0">
              <a:solidFill>
                <a:srgbClr val="222222"/>
              </a:solidFill>
              <a:latin typeface="맑은 고딕"/>
              <a:ea typeface="맑은 고딕"/>
            </a:endParaRPr>
          </a:p>
          <a:p>
            <a:pPr algn="l">
              <a:spcAft>
                <a:spcPts val="600"/>
              </a:spcAft>
            </a:pPr>
            <a:r>
              <a:rPr sz="1600" b="0" dirty="0">
                <a:solidFill>
                  <a:srgbClr val="222222"/>
                </a:solidFill>
                <a:latin typeface="맑은 고딕"/>
                <a:ea typeface="맑은 고딕"/>
              </a:rPr>
              <a:t>•  1</a:t>
            </a:r>
            <a:r>
              <a:rPr lang="en-US" sz="1600" b="0" dirty="0">
                <a:solidFill>
                  <a:srgbClr val="222222"/>
                </a:solidFill>
                <a:latin typeface="맑은 고딕"/>
                <a:ea typeface="맑은 고딕"/>
              </a:rPr>
              <a:t>5</a:t>
            </a:r>
            <a:r>
              <a:rPr sz="1600" b="0" dirty="0">
                <a:solidFill>
                  <a:srgbClr val="222222"/>
                </a:solidFill>
                <a:latin typeface="맑은 고딕"/>
                <a:ea typeface="맑은 고딕"/>
              </a:rPr>
              <a:t>.</a:t>
            </a:r>
            <a:r>
              <a:rPr lang="en-US" sz="1600" b="0" dirty="0">
                <a:solidFill>
                  <a:srgbClr val="222222"/>
                </a:solidFill>
                <a:latin typeface="맑은 고딕"/>
                <a:ea typeface="맑은 고딕"/>
              </a:rPr>
              <a:t>6</a:t>
            </a:r>
            <a:r>
              <a:rPr sz="1600" b="0" dirty="0">
                <a:solidFill>
                  <a:srgbClr val="222222"/>
                </a:solidFill>
                <a:latin typeface="맑은 고딕"/>
                <a:ea typeface="맑은 고딕"/>
              </a:rPr>
              <a:t>  </a:t>
            </a:r>
            <a:r>
              <a:rPr sz="1600" b="0" dirty="0" err="1">
                <a:solidFill>
                  <a:srgbClr val="222222"/>
                </a:solidFill>
                <a:latin typeface="맑은 고딕"/>
                <a:ea typeface="맑은 고딕"/>
              </a:rPr>
              <a:t>튜닝</a:t>
            </a:r>
            <a:r>
              <a:rPr sz="1600" b="0" dirty="0">
                <a:solidFill>
                  <a:srgbClr val="222222"/>
                </a:solidFill>
                <a:latin typeface="맑은 고딕"/>
                <a:ea typeface="맑은 고딕"/>
              </a:rPr>
              <a:t> </a:t>
            </a:r>
            <a:r>
              <a:rPr sz="1600" b="0" dirty="0" err="1">
                <a:solidFill>
                  <a:srgbClr val="222222"/>
                </a:solidFill>
                <a:latin typeface="맑은 고딕"/>
                <a:ea typeface="맑은 고딕"/>
              </a:rPr>
              <a:t>목표를</a:t>
            </a:r>
            <a:r>
              <a:rPr sz="1600" b="0" dirty="0">
                <a:solidFill>
                  <a:srgbClr val="222222"/>
                </a:solidFill>
                <a:latin typeface="맑은 고딕"/>
                <a:ea typeface="맑은 고딕"/>
              </a:rPr>
              <a:t> </a:t>
            </a:r>
            <a:r>
              <a:rPr sz="1600" b="0" dirty="0" err="1">
                <a:solidFill>
                  <a:srgbClr val="222222"/>
                </a:solidFill>
                <a:latin typeface="맑은 고딕"/>
                <a:ea typeface="맑은 고딕"/>
              </a:rPr>
              <a:t>수치로</a:t>
            </a:r>
            <a:r>
              <a:rPr sz="1600" b="0" dirty="0">
                <a:solidFill>
                  <a:srgbClr val="222222"/>
                </a:solidFill>
                <a:latin typeface="맑은 고딕"/>
                <a:ea typeface="맑은 고딕"/>
              </a:rPr>
              <a:t> </a:t>
            </a:r>
            <a:r>
              <a:rPr sz="1600" b="0" dirty="0" err="1">
                <a:solidFill>
                  <a:srgbClr val="222222"/>
                </a:solidFill>
                <a:latin typeface="맑은 고딕"/>
                <a:ea typeface="맑은 고딕"/>
              </a:rPr>
              <a:t>정의하는</a:t>
            </a:r>
            <a:r>
              <a:rPr sz="1600" b="0" dirty="0">
                <a:solidFill>
                  <a:srgbClr val="222222"/>
                </a:solidFill>
                <a:latin typeface="맑은 고딕"/>
                <a:ea typeface="맑은 고딕"/>
              </a:rPr>
              <a:t> 법</a:t>
            </a:r>
          </a:p>
          <a:p>
            <a:pPr algn="l">
              <a:spcAft>
                <a:spcPts val="600"/>
              </a:spcAft>
            </a:pPr>
            <a:r>
              <a:rPr sz="1600" b="0" dirty="0">
                <a:solidFill>
                  <a:srgbClr val="222222"/>
                </a:solidFill>
                <a:latin typeface="맑은 고딕"/>
                <a:ea typeface="맑은 고딕"/>
              </a:rPr>
              <a:t>•  1</a:t>
            </a:r>
            <a:r>
              <a:rPr lang="en-US" sz="1600" b="0" dirty="0">
                <a:solidFill>
                  <a:srgbClr val="222222"/>
                </a:solidFill>
                <a:latin typeface="맑은 고딕"/>
                <a:ea typeface="맑은 고딕"/>
              </a:rPr>
              <a:t>5</a:t>
            </a:r>
            <a:r>
              <a:rPr sz="1600" b="0" dirty="0">
                <a:solidFill>
                  <a:srgbClr val="222222"/>
                </a:solidFill>
                <a:latin typeface="맑은 고딕"/>
                <a:ea typeface="맑은 고딕"/>
              </a:rPr>
              <a:t>.</a:t>
            </a:r>
            <a:r>
              <a:rPr lang="en-US" sz="1600" b="0" dirty="0">
                <a:solidFill>
                  <a:srgbClr val="222222"/>
                </a:solidFill>
                <a:latin typeface="맑은 고딕"/>
                <a:ea typeface="맑은 고딕"/>
              </a:rPr>
              <a:t>7</a:t>
            </a:r>
            <a:r>
              <a:rPr sz="1600" b="0" dirty="0">
                <a:solidFill>
                  <a:srgbClr val="222222"/>
                </a:solidFill>
                <a:latin typeface="맑은 고딕"/>
                <a:ea typeface="맑은 고딕"/>
              </a:rPr>
              <a:t>  세 </a:t>
            </a:r>
            <a:r>
              <a:rPr sz="1600" b="0" dirty="0" err="1">
                <a:solidFill>
                  <a:srgbClr val="222222"/>
                </a:solidFill>
                <a:latin typeface="맑은 고딕"/>
                <a:ea typeface="맑은 고딕"/>
              </a:rPr>
              <a:t>가지</a:t>
            </a:r>
            <a:r>
              <a:rPr sz="1600" b="0" dirty="0">
                <a:solidFill>
                  <a:srgbClr val="222222"/>
                </a:solidFill>
                <a:latin typeface="맑은 고딕"/>
                <a:ea typeface="맑은 고딕"/>
              </a:rPr>
              <a:t> </a:t>
            </a:r>
            <a:r>
              <a:rPr sz="1600" b="0" dirty="0" err="1">
                <a:solidFill>
                  <a:srgbClr val="222222"/>
                </a:solidFill>
                <a:latin typeface="맑은 고딕"/>
                <a:ea typeface="맑은 고딕"/>
              </a:rPr>
              <a:t>경계</a:t>
            </a:r>
            <a:r>
              <a:rPr sz="1600" b="0" dirty="0">
                <a:solidFill>
                  <a:srgbClr val="222222"/>
                </a:solidFill>
                <a:latin typeface="맑은 고딕"/>
                <a:ea typeface="맑은 고딕"/>
              </a:rPr>
              <a:t> — 이 </a:t>
            </a:r>
            <a:r>
              <a:rPr sz="1600" b="0" dirty="0" err="1">
                <a:solidFill>
                  <a:srgbClr val="222222"/>
                </a:solidFill>
                <a:latin typeface="맑은 고딕"/>
                <a:ea typeface="맑은 고딕"/>
              </a:rPr>
              <a:t>과정의</a:t>
            </a:r>
            <a:r>
              <a:rPr sz="1600" b="0" dirty="0">
                <a:solidFill>
                  <a:srgbClr val="222222"/>
                </a:solidFill>
                <a:latin typeface="맑은 고딕"/>
                <a:ea typeface="맑은 고딕"/>
              </a:rPr>
              <a:t> </a:t>
            </a:r>
            <a:r>
              <a:rPr sz="1600" b="0" dirty="0" err="1">
                <a:solidFill>
                  <a:srgbClr val="222222"/>
                </a:solidFill>
                <a:latin typeface="맑은 고딕"/>
                <a:ea typeface="맑은 고딕"/>
              </a:rPr>
              <a:t>태도</a:t>
            </a:r>
            <a:endParaRPr sz="1600" b="0" dirty="0">
              <a:solidFill>
                <a:srgbClr val="222222"/>
              </a:solidFill>
              <a:latin typeface="맑은 고딕"/>
              <a:ea typeface="맑은 고딕"/>
            </a:endParaRPr>
          </a:p>
          <a:p>
            <a:pPr algn="l">
              <a:spcAft>
                <a:spcPts val="600"/>
              </a:spcAft>
            </a:pPr>
            <a:r>
              <a:rPr sz="1600" b="0" dirty="0">
                <a:solidFill>
                  <a:srgbClr val="222222"/>
                </a:solidFill>
                <a:latin typeface="맑은 고딕"/>
                <a:ea typeface="맑은 고딕"/>
              </a:rPr>
              <a:t>•  ※ ADMIN 31장의 AWR·ADDM </a:t>
            </a:r>
            <a:r>
              <a:rPr sz="1600" b="0" dirty="0" err="1">
                <a:solidFill>
                  <a:srgbClr val="222222"/>
                </a:solidFill>
                <a:latin typeface="맑은 고딕"/>
                <a:ea typeface="맑은 고딕"/>
              </a:rPr>
              <a:t>개념</a:t>
            </a:r>
            <a:r>
              <a:rPr sz="1600" b="0" dirty="0">
                <a:solidFill>
                  <a:srgbClr val="222222"/>
                </a:solidFill>
                <a:latin typeface="맑은 고딕"/>
                <a:ea typeface="맑은 고딕"/>
              </a:rPr>
              <a:t> </a:t>
            </a:r>
            <a:r>
              <a:rPr sz="1600" b="0" dirty="0" err="1">
                <a:solidFill>
                  <a:srgbClr val="222222"/>
                </a:solidFill>
                <a:latin typeface="맑은 고딕"/>
                <a:ea typeface="맑은 고딕"/>
              </a:rPr>
              <a:t>소개를</a:t>
            </a:r>
            <a:r>
              <a:rPr sz="1600" b="0" dirty="0">
                <a:solidFill>
                  <a:srgbClr val="222222"/>
                </a:solidFill>
                <a:latin typeface="맑은 고딕"/>
                <a:ea typeface="맑은 고딕"/>
              </a:rPr>
              <a:t> </a:t>
            </a:r>
            <a:r>
              <a:rPr sz="1600" b="0" dirty="0" err="1">
                <a:solidFill>
                  <a:srgbClr val="222222"/>
                </a:solidFill>
                <a:latin typeface="맑은 고딕"/>
                <a:ea typeface="맑은 고딕"/>
              </a:rPr>
              <a:t>판독·실무</a:t>
            </a:r>
            <a:r>
              <a:rPr sz="1600" b="0" dirty="0">
                <a:solidFill>
                  <a:srgbClr val="222222"/>
                </a:solidFill>
                <a:latin typeface="맑은 고딕"/>
                <a:ea typeface="맑은 고딕"/>
              </a:rPr>
              <a:t> </a:t>
            </a:r>
            <a:r>
              <a:rPr sz="1600" b="0" dirty="0" err="1">
                <a:solidFill>
                  <a:srgbClr val="222222"/>
                </a:solidFill>
                <a:latin typeface="맑은 고딕"/>
                <a:ea typeface="맑은 고딕"/>
              </a:rPr>
              <a:t>적용으로</a:t>
            </a:r>
            <a:r>
              <a:rPr sz="1600" b="0" dirty="0">
                <a:solidFill>
                  <a:srgbClr val="222222"/>
                </a:solidFill>
                <a:latin typeface="맑은 고딕"/>
                <a:ea typeface="맑은 고딕"/>
              </a:rPr>
              <a:t> </a:t>
            </a:r>
            <a:r>
              <a:rPr sz="1600" b="0" dirty="0" err="1">
                <a:solidFill>
                  <a:srgbClr val="222222"/>
                </a:solidFill>
                <a:latin typeface="맑은 고딕"/>
                <a:ea typeface="맑은 고딕"/>
              </a:rPr>
              <a:t>확장한다</a:t>
            </a:r>
            <a:r>
              <a:rPr sz="1600" b="0" dirty="0">
                <a:solidFill>
                  <a:srgbClr val="222222"/>
                </a:solidFill>
                <a:latin typeface="맑은 고딕"/>
                <a:ea typeface="맑은 고딕"/>
              </a:rPr>
              <a:t>(non-CDB </a:t>
            </a:r>
            <a:r>
              <a:rPr sz="1600" b="0" dirty="0" err="1">
                <a:solidFill>
                  <a:srgbClr val="222222"/>
                </a:solidFill>
                <a:latin typeface="맑은 고딕"/>
                <a:ea typeface="맑은 고딕"/>
              </a:rPr>
              <a:t>orcl</a:t>
            </a:r>
            <a:r>
              <a:rPr sz="1600" b="0" dirty="0">
                <a:solidFill>
                  <a:srgbClr val="222222"/>
                </a:solidFill>
                <a:latin typeface="맑은 고딕"/>
                <a:ea typeface="맑은 고딕"/>
              </a:rPr>
              <a:t> 19.3).</a:t>
            </a:r>
          </a:p>
        </p:txBody>
      </p:sp>
    </p:spTree>
    <p:extLst>
      <p:ext uri="{BB962C8B-B14F-4D97-AF65-F5344CB8AC3E}">
        <p14:creationId xmlns:p14="http://schemas.microsoft.com/office/powerpoint/2010/main" val="2786731997"/>
      </p:ext>
    </p:extLst>
  </p:cSld>
  <p:clrMapOvr>
    <a:masterClrMapping/>
  </p:clrMapOvr>
</p:sld>
</file>

<file path=ppt/slides/slide6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707886"/>
          </a:xfrm>
          <a:prstGeom prst="rect">
            <a:avLst/>
          </a:prstGeom>
          <a:noFill/>
        </p:spPr>
        <p:txBody>
          <a:bodyPr wrap="square">
            <a:spAutoFit/>
          </a:bodyPr>
          <a:lstStyle/>
          <a:p>
            <a:pPr algn="l"/>
            <a:r>
              <a:rPr sz="4000" b="1" dirty="0">
                <a:solidFill>
                  <a:srgbClr val="FFFFFF"/>
                </a:solidFill>
                <a:latin typeface="맑은 고딕"/>
                <a:ea typeface="맑은 고딕"/>
              </a:rPr>
              <a:t>1</a:t>
            </a:r>
            <a:r>
              <a:rPr lang="en-US" sz="4000" b="1" dirty="0">
                <a:solidFill>
                  <a:srgbClr val="FFFFFF"/>
                </a:solidFill>
                <a:latin typeface="맑은 고딕"/>
                <a:ea typeface="맑은 고딕"/>
              </a:rPr>
              <a:t>5</a:t>
            </a:r>
            <a:r>
              <a:rPr sz="4000" b="1" dirty="0">
                <a:solidFill>
                  <a:srgbClr val="FFFFFF"/>
                </a:solidFill>
                <a:latin typeface="맑은 고딕"/>
                <a:ea typeface="맑은 고딕"/>
              </a:rPr>
              <a:t>.</a:t>
            </a:r>
            <a:r>
              <a:rPr lang="en-US" sz="4000" b="1" dirty="0">
                <a:solidFill>
                  <a:srgbClr val="FFFFFF"/>
                </a:solidFill>
                <a:latin typeface="맑은 고딕"/>
                <a:ea typeface="맑은 고딕"/>
              </a:rPr>
              <a:t>1</a:t>
            </a:r>
            <a:endParaRPr sz="4000" b="1" dirty="0">
              <a:solidFill>
                <a:srgbClr val="FFFFFF"/>
              </a:solidFill>
              <a:latin typeface="맑은 고딕"/>
              <a:ea typeface="맑은 고딕"/>
            </a:endParaRPr>
          </a:p>
        </p:txBody>
      </p:sp>
      <p:sp>
        <p:nvSpPr>
          <p:cNvPr id="4" name="TextBox 3"/>
          <p:cNvSpPr txBox="1"/>
          <p:nvPr/>
        </p:nvSpPr>
        <p:spPr>
          <a:xfrm>
            <a:off x="822960" y="3017520"/>
            <a:ext cx="10515600" cy="914400"/>
          </a:xfrm>
          <a:prstGeom prst="rect">
            <a:avLst/>
          </a:prstGeom>
          <a:noFill/>
        </p:spPr>
        <p:txBody>
          <a:bodyPr wrap="square">
            <a:spAutoFit/>
          </a:bodyPr>
          <a:lstStyle/>
          <a:p>
            <a:pPr algn="l"/>
            <a:r>
              <a:rPr sz="2800" b="1">
                <a:solidFill>
                  <a:srgbClr val="FFFFFF"/>
                </a:solidFill>
                <a:latin typeface="맑은 고딕"/>
                <a:ea typeface="맑은 고딕"/>
              </a:rPr>
              <a:t>응답시간과 처리량</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400"/>
              </a:spcAft>
            </a:pPr>
            <a:r>
              <a:rPr sz="1600" b="0">
                <a:solidFill>
                  <a:srgbClr val="FFFFFF"/>
                </a:solidFill>
                <a:latin typeface="맑은 고딕"/>
                <a:ea typeface="맑은 고딕"/>
              </a:rPr>
              <a:t>•  성능을 재는 두 축</a:t>
            </a:r>
          </a:p>
          <a:p>
            <a:pPr algn="l">
              <a:spcAft>
                <a:spcPts val="400"/>
              </a:spcAft>
            </a:pPr>
            <a:r>
              <a:rPr sz="1600" b="0">
                <a:solidFill>
                  <a:srgbClr val="FFFFFF"/>
                </a:solidFill>
                <a:latin typeface="맑은 고딕"/>
                <a:ea typeface="맑은 고딕"/>
              </a:rPr>
              <a:t>•  응답시간=서비스+대기 / 처리량=단위시간당 작업</a:t>
            </a:r>
          </a:p>
          <a:p>
            <a:pPr algn="l">
              <a:spcAft>
                <a:spcPts val="400"/>
              </a:spcAft>
            </a:pPr>
            <a:r>
              <a:rPr sz="1600" b="0">
                <a:solidFill>
                  <a:srgbClr val="FFFFFF"/>
                </a:solidFill>
                <a:latin typeface="맑은 고딕"/>
                <a:ea typeface="맑은 고딕"/>
              </a:rPr>
              <a:t>•  둘은 종종 상충한다</a:t>
            </a:r>
          </a:p>
          <a:p>
            <a:pPr algn="l">
              <a:spcAft>
                <a:spcPts val="400"/>
              </a:spcAft>
            </a:pPr>
            <a:r>
              <a:rPr sz="1600" b="0">
                <a:solidFill>
                  <a:srgbClr val="FFFFFF"/>
                </a:solidFill>
                <a:latin typeface="맑은 고딕"/>
                <a:ea typeface="맑은 고딕"/>
              </a:rPr>
              <a:t>•  V$SYSMETRIC 실측</a:t>
            </a:r>
          </a:p>
        </p:txBody>
      </p:sp>
    </p:spTree>
    <p:extLst>
      <p:ext uri="{BB962C8B-B14F-4D97-AF65-F5344CB8AC3E}">
        <p14:creationId xmlns:p14="http://schemas.microsoft.com/office/powerpoint/2010/main" val="115338225"/>
      </p:ext>
    </p:extLst>
  </p:cSld>
  <p:clrMapOvr>
    <a:masterClrMapping/>
  </p:clrMapOvr>
</p:sld>
</file>

<file path=ppt/slides/slide6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rPr>
              <a:t>응답시간(Response Time)</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한 요청이 시작되어 끝날 때까지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rPr>
              <a:t>•  응답시간 = 서비스 시간(CPU) + 대기 시간(자원을 기다린 시간)</a:t>
            </a:r>
          </a:p>
          <a:p>
            <a:pPr algn="l">
              <a:spcAft>
                <a:spcPts val="800"/>
              </a:spcAft>
            </a:pPr>
            <a:r>
              <a:rPr sz="1700" b="0">
                <a:solidFill>
                  <a:srgbClr val="222222"/>
                </a:solidFill>
                <a:latin typeface="맑은 고딕"/>
                <a:ea typeface="맑은 고딕"/>
              </a:rPr>
              <a:t>•  사용자 체감 성능은 대부분 응답시간으로 나타난다</a:t>
            </a:r>
          </a:p>
          <a:p>
            <a:pPr algn="l">
              <a:spcAft>
                <a:spcPts val="800"/>
              </a:spcAft>
            </a:pPr>
            <a:r>
              <a:rPr sz="1700" b="0">
                <a:solidFill>
                  <a:srgbClr val="222222"/>
                </a:solidFill>
                <a:latin typeface="맑은 고딕"/>
                <a:ea typeface="맑은 고딕"/>
              </a:rPr>
              <a:t>•  인스턴스 튜닝은 대개 대기 시간을 줄이는 데 집중한다</a:t>
            </a:r>
          </a:p>
          <a:p>
            <a:pPr algn="l">
              <a:spcAft>
                <a:spcPts val="800"/>
              </a:spcAft>
            </a:pPr>
            <a:r>
              <a:rPr sz="1700" b="0">
                <a:solidFill>
                  <a:srgbClr val="222222"/>
                </a:solidFill>
                <a:latin typeface="맑은 고딕"/>
                <a:ea typeface="맑은 고딕"/>
              </a:rPr>
              <a:t>•  목표는 평균이 아니라 백분위수(95/99퍼센타일)로 표현한다</a:t>
            </a:r>
          </a:p>
        </p:txBody>
      </p:sp>
    </p:spTree>
    <p:extLst>
      <p:ext uri="{BB962C8B-B14F-4D97-AF65-F5344CB8AC3E}">
        <p14:creationId xmlns:p14="http://schemas.microsoft.com/office/powerpoint/2010/main" val="925059978"/>
      </p:ext>
    </p:extLst>
  </p:cSld>
  <p:clrMapOvr>
    <a:masterClrMapping/>
  </p:clrMapOvr>
</p:sld>
</file>

<file path=ppt/slides/slide6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rPr>
              <a:t>처리량(Throughput)</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단위 시간당 완료한 작업의 양</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rPr>
              <a:t>•  초당 트랜잭션 수(TPS)·초당 실행 수·시간당 처리 건수로 표현</a:t>
            </a:r>
          </a:p>
          <a:p>
            <a:pPr algn="l">
              <a:spcAft>
                <a:spcPts val="800"/>
              </a:spcAft>
            </a:pPr>
            <a:r>
              <a:rPr sz="1700" b="0">
                <a:solidFill>
                  <a:srgbClr val="222222"/>
                </a:solidFill>
                <a:latin typeface="맑은 고딕"/>
                <a:ea typeface="맑은 고딕"/>
              </a:rPr>
              <a:t>•  배치·데이터 웨어하우스에서 핵심 지표가 된다</a:t>
            </a:r>
          </a:p>
          <a:p>
            <a:pPr algn="l">
              <a:spcAft>
                <a:spcPts val="800"/>
              </a:spcAft>
            </a:pPr>
            <a:r>
              <a:rPr sz="1700" b="0">
                <a:solidFill>
                  <a:srgbClr val="222222"/>
                </a:solidFill>
                <a:latin typeface="맑은 고딕"/>
                <a:ea typeface="맑은 고딕"/>
              </a:rPr>
              <a:t>•  V$SYSMETRIC의 User Transaction Per Sec·Executions Per Sec</a:t>
            </a:r>
          </a:p>
          <a:p>
            <a:pPr algn="l">
              <a:spcAft>
                <a:spcPts val="800"/>
              </a:spcAft>
            </a:pPr>
            <a:r>
              <a:rPr sz="1700" b="0">
                <a:solidFill>
                  <a:srgbClr val="222222"/>
                </a:solidFill>
                <a:latin typeface="맑은 고딕"/>
                <a:ea typeface="맑은 고딕"/>
              </a:rPr>
              <a:t>•  '한 건이 빠른가'가 아니라 '정해진 시간에 얼마나 많이'가 관건</a:t>
            </a:r>
          </a:p>
        </p:txBody>
      </p:sp>
    </p:spTree>
    <p:extLst>
      <p:ext uri="{BB962C8B-B14F-4D97-AF65-F5344CB8AC3E}">
        <p14:creationId xmlns:p14="http://schemas.microsoft.com/office/powerpoint/2010/main" val="1945690696"/>
      </p:ext>
    </p:extLst>
  </p:cSld>
  <p:clrMapOvr>
    <a:masterClrMapping/>
  </p:clrMapOvr>
</p:sld>
</file>

<file path=ppt/slides/slide6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rPr>
              <a:t>두 지표는 종종 상충한다</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워크로드 성격에 따라 우선순위</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rPr>
              <a:t>•  배열 크기를 키우면 처리량↑ 응답시간↑(개별 요청은 느려질 수 있음)</a:t>
            </a:r>
          </a:p>
          <a:p>
            <a:pPr algn="l">
              <a:spcAft>
                <a:spcPts val="800"/>
              </a:spcAft>
            </a:pPr>
            <a:r>
              <a:rPr sz="1700" b="0">
                <a:solidFill>
                  <a:srgbClr val="222222"/>
                </a:solidFill>
                <a:latin typeface="맑은 고딕"/>
                <a:ea typeface="맑은 고딕"/>
              </a:rPr>
              <a:t>•  특정 세션에 자원을 몰면 응답시간↓ 전체 처리량↓</a:t>
            </a:r>
          </a:p>
          <a:p>
            <a:pPr algn="l">
              <a:spcAft>
                <a:spcPts val="800"/>
              </a:spcAft>
            </a:pPr>
            <a:r>
              <a:rPr sz="1700" b="0">
                <a:solidFill>
                  <a:srgbClr val="222222"/>
                </a:solidFill>
                <a:latin typeface="맑은 고딕"/>
                <a:ea typeface="맑은 고딕"/>
              </a:rPr>
              <a:t>•  OLTP는 응답시간 우선, 배치·DW는 처리량 우선</a:t>
            </a:r>
          </a:p>
          <a:p>
            <a:pPr algn="l">
              <a:spcAft>
                <a:spcPts val="800"/>
              </a:spcAft>
            </a:pPr>
            <a:r>
              <a:rPr sz="1700" b="0">
                <a:solidFill>
                  <a:srgbClr val="222222"/>
                </a:solidFill>
                <a:latin typeface="맑은 고딕"/>
                <a:ea typeface="맑은 고딕"/>
              </a:rPr>
              <a:t>•  목표는 워크로드별로 우선순위를 정해 세운다</a:t>
            </a:r>
          </a:p>
        </p:txBody>
      </p:sp>
    </p:spTree>
    <p:extLst>
      <p:ext uri="{BB962C8B-B14F-4D97-AF65-F5344CB8AC3E}">
        <p14:creationId xmlns:p14="http://schemas.microsoft.com/office/powerpoint/2010/main" val="1804911026"/>
      </p:ext>
    </p:extLst>
  </p:cSld>
  <p:clrMapOvr>
    <a:masterClrMapping/>
  </p:clrMapOvr>
</p:sld>
</file>

<file path=ppt/slides/slide6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rPr>
              <a:t>V$SYSMETRIC 실측 — 무부하 시 0</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응답시간·처리량 대표 메트릭 (최근 60초)</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tlCol="0" anchor="ctr"/>
          <a:lstStyle/>
          <a:p>
            <a:pPr algn="l"/>
            <a:r>
              <a:rPr sz="1250">
                <a:solidFill>
                  <a:srgbClr val="F2F2F2"/>
                </a:solidFill>
                <a:latin typeface="Consolas"/>
                <a:ea typeface="Consolas"/>
              </a:rPr>
              <a:t>SYS@orcl&gt; SELECT metric_name, ROUND(value,2) value, metric_unit</a:t>
            </a:r>
          </a:p>
          <a:p>
            <a:pPr algn="l"/>
            <a:r>
              <a:rPr sz="1250">
                <a:solidFill>
                  <a:srgbClr val="F2F2F2"/>
                </a:solidFill>
                <a:latin typeface="Consolas"/>
                <a:ea typeface="Consolas"/>
              </a:rPr>
              <a:t>  2       FROM v$sysmetric WHERE intsize_csec BETWEEN 5900 AND 6100</a:t>
            </a:r>
          </a:p>
          <a:p>
            <a:pPr algn="l"/>
            <a:r>
              <a:rPr sz="1250">
                <a:solidFill>
                  <a:srgbClr val="F2F2F2"/>
                </a:solidFill>
                <a:latin typeface="Consolas"/>
                <a:ea typeface="Consolas"/>
              </a:rPr>
              <a:t>  3         AND metric_name IN ('Average Active Sessions',</a:t>
            </a:r>
          </a:p>
          <a:p>
            <a:pPr algn="l"/>
            <a:r>
              <a:rPr sz="1250">
                <a:solidFill>
                  <a:srgbClr val="F2F2F2"/>
                </a:solidFill>
                <a:latin typeface="Consolas"/>
                <a:ea typeface="Consolas"/>
              </a:rPr>
              <a:t>  4         'Executions Per Sec','Response Time Per Txn', ...);</a:t>
            </a:r>
          </a:p>
          <a:p>
            <a:pPr algn="l"/>
            <a:r>
              <a:rPr sz="1250">
                <a:solidFill>
                  <a:srgbClr val="F2F2F2"/>
                </a:solidFill>
                <a:latin typeface="Consolas"/>
                <a:ea typeface="Consolas"/>
              </a:rPr>
              <a:t> </a:t>
            </a:r>
          </a:p>
          <a:p>
            <a:pPr algn="l"/>
            <a:r>
              <a:rPr sz="1250">
                <a:solidFill>
                  <a:srgbClr val="F2F2F2"/>
                </a:solidFill>
                <a:latin typeface="Consolas"/>
                <a:ea typeface="Consolas"/>
              </a:rPr>
              <a:t>METRIC_NAME                    VALUE METRIC_UNIT</a:t>
            </a:r>
          </a:p>
          <a:p>
            <a:pPr algn="l"/>
            <a:r>
              <a:rPr sz="1250">
                <a:solidFill>
                  <a:srgbClr val="F2F2F2"/>
                </a:solidFill>
                <a:latin typeface="Consolas"/>
                <a:ea typeface="Consolas"/>
              </a:rPr>
              <a:t>------------------------------ ----- ----------------------</a:t>
            </a:r>
          </a:p>
          <a:p>
            <a:pPr algn="l"/>
            <a:r>
              <a:rPr sz="1250">
                <a:solidFill>
                  <a:srgbClr val="F2F2F2"/>
                </a:solidFill>
                <a:latin typeface="Consolas"/>
                <a:ea typeface="Consolas"/>
              </a:rPr>
              <a:t>Average Active Sessions            0 Active Sessions</a:t>
            </a:r>
          </a:p>
          <a:p>
            <a:pPr algn="l"/>
            <a:r>
              <a:rPr sz="1250">
                <a:solidFill>
                  <a:srgbClr val="F2F2F2"/>
                </a:solidFill>
                <a:latin typeface="Consolas"/>
                <a:ea typeface="Consolas"/>
              </a:rPr>
              <a:t>Database Time Per Sec              0 CentiSeconds Per Second</a:t>
            </a:r>
          </a:p>
          <a:p>
            <a:pPr algn="l"/>
            <a:r>
              <a:rPr sz="1250">
                <a:solidFill>
                  <a:srgbClr val="F2F2F2"/>
                </a:solidFill>
                <a:latin typeface="Consolas"/>
                <a:ea typeface="Consolas"/>
              </a:rPr>
              <a:t>Executions Per Sec              0.36 Executes Per Second</a:t>
            </a:r>
          </a:p>
          <a:p>
            <a:pPr algn="l"/>
            <a:r>
              <a:rPr sz="1250">
                <a:solidFill>
                  <a:srgbClr val="F2F2F2"/>
                </a:solidFill>
                <a:latin typeface="Consolas"/>
                <a:ea typeface="Consolas"/>
              </a:rPr>
              <a:t>Response Time Per Txn              0 CentiSeconds Per Txn</a:t>
            </a:r>
          </a:p>
          <a:p>
            <a:pPr algn="l"/>
            <a:r>
              <a:rPr sz="1250">
                <a:solidFill>
                  <a:srgbClr val="F2F2F2"/>
                </a:solidFill>
                <a:latin typeface="Consolas"/>
                <a:ea typeface="Consolas"/>
              </a:rPr>
              <a:t>User Transaction Per Sec           0 Transactions Per Second</a:t>
            </a:r>
          </a:p>
        </p:txBody>
      </p:sp>
    </p:spTree>
    <p:extLst>
      <p:ext uri="{BB962C8B-B14F-4D97-AF65-F5344CB8AC3E}">
        <p14:creationId xmlns:p14="http://schemas.microsoft.com/office/powerpoint/2010/main" val="108755945"/>
      </p:ext>
    </p:extLst>
  </p:cSld>
  <p:clrMapOvr>
    <a:masterClrMapping/>
  </p:clrMapOvr>
</p:sld>
</file>

<file path=ppt/slides/slide6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707886"/>
          </a:xfrm>
          <a:prstGeom prst="rect">
            <a:avLst/>
          </a:prstGeom>
          <a:noFill/>
        </p:spPr>
        <p:txBody>
          <a:bodyPr wrap="square">
            <a:spAutoFit/>
          </a:bodyPr>
          <a:lstStyle/>
          <a:p>
            <a:pPr algn="l"/>
            <a:r>
              <a:rPr sz="4000" b="1" dirty="0">
                <a:solidFill>
                  <a:srgbClr val="FFFFFF"/>
                </a:solidFill>
                <a:latin typeface="맑은 고딕"/>
                <a:ea typeface="맑은 고딕"/>
              </a:rPr>
              <a:t>1</a:t>
            </a:r>
            <a:r>
              <a:rPr lang="en-US" sz="4000" b="1" dirty="0">
                <a:solidFill>
                  <a:srgbClr val="FFFFFF"/>
                </a:solidFill>
                <a:latin typeface="맑은 고딕"/>
                <a:ea typeface="맑은 고딕"/>
              </a:rPr>
              <a:t>5</a:t>
            </a:r>
            <a:r>
              <a:rPr sz="4000" b="1" dirty="0">
                <a:solidFill>
                  <a:srgbClr val="FFFFFF"/>
                </a:solidFill>
                <a:latin typeface="맑은 고딕"/>
                <a:ea typeface="맑은 고딕"/>
              </a:rPr>
              <a:t>.</a:t>
            </a:r>
            <a:r>
              <a:rPr lang="en-US" sz="4000" b="1" dirty="0">
                <a:solidFill>
                  <a:srgbClr val="FFFFFF"/>
                </a:solidFill>
                <a:latin typeface="맑은 고딕"/>
                <a:ea typeface="맑은 고딕"/>
              </a:rPr>
              <a:t>2</a:t>
            </a:r>
            <a:endParaRPr sz="4000" b="1" dirty="0">
              <a:solidFill>
                <a:srgbClr val="FFFFFF"/>
              </a:solidFill>
              <a:latin typeface="맑은 고딕"/>
              <a:ea typeface="맑은 고딕"/>
            </a:endParaRPr>
          </a:p>
        </p:txBody>
      </p:sp>
      <p:sp>
        <p:nvSpPr>
          <p:cNvPr id="4" name="TextBox 3"/>
          <p:cNvSpPr txBox="1"/>
          <p:nvPr/>
        </p:nvSpPr>
        <p:spPr>
          <a:xfrm>
            <a:off x="822960" y="3017520"/>
            <a:ext cx="10515600" cy="914400"/>
          </a:xfrm>
          <a:prstGeom prst="rect">
            <a:avLst/>
          </a:prstGeom>
          <a:noFill/>
        </p:spPr>
        <p:txBody>
          <a:bodyPr wrap="square">
            <a:spAutoFit/>
          </a:bodyPr>
          <a:lstStyle/>
          <a:p>
            <a:pPr algn="l"/>
            <a:r>
              <a:rPr sz="2800" b="1">
                <a:solidFill>
                  <a:srgbClr val="FFFFFF"/>
                </a:solidFill>
                <a:latin typeface="맑은 고딕"/>
                <a:ea typeface="맑은 고딕"/>
              </a:rPr>
              <a:t>튜닝이 필요한 시점</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400"/>
              </a:spcAft>
            </a:pPr>
            <a:r>
              <a:rPr sz="1600" b="0">
                <a:solidFill>
                  <a:srgbClr val="FFFFFF"/>
                </a:solidFill>
                <a:latin typeface="맑은 고딕"/>
                <a:ea typeface="맑은 고딕"/>
              </a:rPr>
              <a:t>•  사전 예방적 모니터링</a:t>
            </a:r>
          </a:p>
          <a:p>
            <a:pPr algn="l">
              <a:spcAft>
                <a:spcPts val="400"/>
              </a:spcAft>
            </a:pPr>
            <a:r>
              <a:rPr sz="1600" b="0">
                <a:solidFill>
                  <a:srgbClr val="FFFFFF"/>
                </a:solidFill>
                <a:latin typeface="맑은 고딕"/>
                <a:ea typeface="맑은 고딕"/>
              </a:rPr>
              <a:t>•  병목 제거</a:t>
            </a:r>
          </a:p>
          <a:p>
            <a:pPr algn="l">
              <a:spcAft>
                <a:spcPts val="400"/>
              </a:spcAft>
            </a:pPr>
            <a:r>
              <a:rPr sz="1600" b="0">
                <a:solidFill>
                  <a:srgbClr val="FFFFFF"/>
                </a:solidFill>
                <a:latin typeface="맑은 고딕"/>
                <a:ea typeface="맑은 고딕"/>
              </a:rPr>
              <a:t>•  증상과 원인의 구분</a:t>
            </a:r>
          </a:p>
          <a:p>
            <a:pPr algn="l">
              <a:spcAft>
                <a:spcPts val="400"/>
              </a:spcAft>
            </a:pPr>
            <a:r>
              <a:rPr sz="1600" b="0">
                <a:solidFill>
                  <a:srgbClr val="FFFFFF"/>
                </a:solidFill>
                <a:latin typeface="맑은 고딕"/>
                <a:ea typeface="맑은 고딕"/>
              </a:rPr>
              <a:t>•  확장성과 용량 계획</a:t>
            </a:r>
          </a:p>
        </p:txBody>
      </p:sp>
    </p:spTree>
    <p:extLst>
      <p:ext uri="{BB962C8B-B14F-4D97-AF65-F5344CB8AC3E}">
        <p14:creationId xmlns:p14="http://schemas.microsoft.com/office/powerpoint/2010/main" val="1747100258"/>
      </p:ext>
    </p:extLst>
  </p:cSld>
  <p:clrMapOvr>
    <a:masterClrMapping/>
  </p:clrMapOvr>
</p:sld>
</file>

<file path=ppt/slides/slide6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rPr>
              <a:t>사전 예방적 모니터링</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Proactive Monitoring</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rPr>
              <a:t>•  정해진 주기로 통계를 관찰해 동작·자원 사용 변화를 확인</a:t>
            </a:r>
          </a:p>
          <a:p>
            <a:pPr algn="l">
              <a:spcAft>
                <a:spcPts val="800"/>
              </a:spcAft>
            </a:pPr>
            <a:r>
              <a:rPr sz="1700" b="0">
                <a:solidFill>
                  <a:srgbClr val="222222"/>
                </a:solidFill>
                <a:latin typeface="맑은 고딕"/>
                <a:ea typeface="맑은 고딕"/>
              </a:rPr>
              <a:t>•  대개 구성 변경으로 이어지지 않는다</a:t>
            </a:r>
          </a:p>
          <a:p>
            <a:pPr algn="l">
              <a:spcAft>
                <a:spcPts val="800"/>
              </a:spcAft>
            </a:pPr>
            <a:r>
              <a:rPr sz="1700" b="0">
                <a:solidFill>
                  <a:srgbClr val="222222"/>
                </a:solidFill>
                <a:latin typeface="맑은 고딕"/>
                <a:ea typeface="맑은 고딕"/>
              </a:rPr>
              <a:t>•  성능 저하가 없는데 근거 없이 만지는 것은 위험한 도박</a:t>
            </a:r>
          </a:p>
          <a:p>
            <a:pPr algn="l">
              <a:spcAft>
                <a:spcPts val="800"/>
              </a:spcAft>
            </a:pPr>
            <a:r>
              <a:rPr sz="1700" b="0">
                <a:solidFill>
                  <a:srgbClr val="222222"/>
                </a:solidFill>
                <a:latin typeface="맑은 고딕"/>
                <a:ea typeface="맑은 고딕"/>
              </a:rPr>
              <a:t>•  그런 조작은 사후 대응의 규율(캡처→조치→재측정)을 따라야 한다</a:t>
            </a:r>
          </a:p>
        </p:txBody>
      </p:sp>
    </p:spTree>
    <p:extLst>
      <p:ext uri="{BB962C8B-B14F-4D97-AF65-F5344CB8AC3E}">
        <p14:creationId xmlns:p14="http://schemas.microsoft.com/office/powerpoint/2010/main" val="1308294106"/>
      </p:ext>
    </p:extLst>
  </p:cSld>
  <p:clrMapOvr>
    <a:masterClrMapping/>
  </p:clrMapOvr>
</p:sld>
</file>

<file path=ppt/slides/slide6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rPr>
              <a:t>병목 제거</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Bottleneck Elimination</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rPr>
              <a:t>•  성능 문제는 특정 자원의 과다 사용에서 온다 = 병목</a:t>
            </a:r>
          </a:p>
          <a:p>
            <a:pPr algn="l">
              <a:spcAft>
                <a:spcPts val="800"/>
              </a:spcAft>
            </a:pPr>
            <a:r>
              <a:rPr sz="1700" b="0">
                <a:solidFill>
                  <a:srgbClr val="222222"/>
                </a:solidFill>
                <a:latin typeface="맑은 고딕"/>
                <a:ea typeface="맑은 고딕"/>
              </a:rPr>
              <a:t>•  가장 큰 병목 '하나'를 찾아 그 영향을 줄인다</a:t>
            </a:r>
          </a:p>
          <a:p>
            <a:pPr algn="l">
              <a:spcAft>
                <a:spcPts val="800"/>
              </a:spcAft>
            </a:pPr>
            <a:r>
              <a:rPr sz="1700" b="0">
                <a:solidFill>
                  <a:srgbClr val="222222"/>
                </a:solidFill>
                <a:latin typeface="맑은 고딕"/>
                <a:ea typeface="맑은 고딕"/>
              </a:rPr>
              <a:t>•  여러 개를 동시에 건드리면 인과를 잃는다</a:t>
            </a:r>
          </a:p>
          <a:p>
            <a:pPr algn="l">
              <a:spcAft>
                <a:spcPts val="800"/>
              </a:spcAft>
            </a:pPr>
            <a:r>
              <a:rPr sz="1700" b="0">
                <a:solidFill>
                  <a:srgbClr val="222222"/>
                </a:solidFill>
                <a:latin typeface="맑은 고딕"/>
                <a:ea typeface="맑은 고딕"/>
              </a:rPr>
              <a:t>•  고칠 곳은 셋: 애플리케이션 / 오라클 구성 / 호스트 하드웨어</a:t>
            </a:r>
          </a:p>
        </p:txBody>
      </p:sp>
    </p:spTree>
    <p:extLst>
      <p:ext uri="{BB962C8B-B14F-4D97-AF65-F5344CB8AC3E}">
        <p14:creationId xmlns:p14="http://schemas.microsoft.com/office/powerpoint/2010/main" val="2659170480"/>
      </p:ext>
    </p:extLst>
  </p:cSld>
  <p:clrMapOvr>
    <a:masterClrMapping/>
  </p:clrMapOvr>
</p:sld>
</file>

<file path=ppt/slides/slide6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rPr>
              <a:t>증상과 원인을 혼동하지 않기</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The Symptoms and the Problems</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rPr>
              <a:t>•  많은 성능 통계는 원인이 아니라 증상을 가리킨다</a:t>
            </a:r>
          </a:p>
          <a:p>
            <a:pPr algn="l">
              <a:spcAft>
                <a:spcPts val="800"/>
              </a:spcAft>
            </a:pPr>
            <a:r>
              <a:rPr sz="1700" b="0">
                <a:solidFill>
                  <a:srgbClr val="222222"/>
                </a:solidFill>
                <a:latin typeface="맑은 고딕"/>
                <a:ea typeface="맑은 고딕"/>
              </a:rPr>
              <a:t>•  물리 I/O 느림 → 디스크? 아니면 나쁜 SQL의 과다 I/O?</a:t>
            </a:r>
          </a:p>
          <a:p>
            <a:pPr algn="l">
              <a:spcAft>
                <a:spcPts val="800"/>
              </a:spcAft>
            </a:pPr>
            <a:r>
              <a:rPr sz="1700" b="0">
                <a:solidFill>
                  <a:srgbClr val="222222"/>
                </a:solidFill>
                <a:latin typeface="맑은 고딕"/>
                <a:ea typeface="맑은 고딕"/>
              </a:rPr>
              <a:t>•  래치 경합은 대개 애플리케이션 변경으로 해소</a:t>
            </a:r>
          </a:p>
          <a:p>
            <a:pPr algn="l">
              <a:spcAft>
                <a:spcPts val="800"/>
              </a:spcAft>
            </a:pPr>
            <a:r>
              <a:rPr sz="1700" b="0">
                <a:solidFill>
                  <a:srgbClr val="222222"/>
                </a:solidFill>
                <a:latin typeface="맑은 고딕"/>
                <a:ea typeface="맑은 고딕"/>
              </a:rPr>
              <a:t>•  증상(대기)에서 원인(세그먼트·세션·SQL)으로 좁혀 들어간다</a:t>
            </a:r>
          </a:p>
        </p:txBody>
      </p:sp>
    </p:spTree>
    <p:extLst>
      <p:ext uri="{BB962C8B-B14F-4D97-AF65-F5344CB8AC3E}">
        <p14:creationId xmlns:p14="http://schemas.microsoft.com/office/powerpoint/2010/main" val="548139791"/>
      </p:ext>
    </p:extLst>
  </p:cSld>
  <p:clrMapOvr>
    <a:masterClrMapping/>
  </p:clrMapOvr>
</p:sld>
</file>

<file path=ppt/slides/slide6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rPr>
              <a:t>확장성과 용량 계획</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튜닝의 배경</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rPr>
              <a:t>•  확장성: 자원을 늘린 만큼 처리 능력이 비례해 느는 성질</a:t>
            </a:r>
          </a:p>
          <a:p>
            <a:pPr algn="l">
              <a:spcAft>
                <a:spcPts val="800"/>
              </a:spcAft>
            </a:pPr>
            <a:r>
              <a:rPr sz="1700" b="0">
                <a:solidFill>
                  <a:srgbClr val="222222"/>
                </a:solidFill>
                <a:latin typeface="맑은 고딕"/>
                <a:ea typeface="맑은 고딕"/>
              </a:rPr>
              <a:t>•  경합 때문에 자원 사용이 두 배를 넘는 경우가 많다</a:t>
            </a:r>
          </a:p>
          <a:p>
            <a:pPr algn="l">
              <a:spcAft>
                <a:spcPts val="800"/>
              </a:spcAft>
            </a:pPr>
            <a:r>
              <a:rPr sz="1700" b="0">
                <a:solidFill>
                  <a:srgbClr val="222222"/>
                </a:solidFill>
                <a:latin typeface="맑은 고딕"/>
                <a:ea typeface="맑은 고딕"/>
              </a:rPr>
              <a:t>•  확장성을 떨어뜨리는 최대 원인은 애플리케이션 설계</a:t>
            </a:r>
          </a:p>
          <a:p>
            <a:pPr algn="l">
              <a:spcAft>
                <a:spcPts val="800"/>
              </a:spcAft>
            </a:pPr>
            <a:r>
              <a:rPr sz="1700" b="0">
                <a:solidFill>
                  <a:srgbClr val="222222"/>
                </a:solidFill>
                <a:latin typeface="맑은 고딕"/>
                <a:ea typeface="맑은 고딕"/>
              </a:rPr>
              <a:t>•  설계에서 심어진 한계는 하드웨어로 넘지 못한다</a:t>
            </a:r>
          </a:p>
        </p:txBody>
      </p:sp>
    </p:spTree>
    <p:extLst>
      <p:ext uri="{BB962C8B-B14F-4D97-AF65-F5344CB8AC3E}">
        <p14:creationId xmlns:p14="http://schemas.microsoft.com/office/powerpoint/2010/main" val="389863096"/>
      </p:ext>
    </p:extLst>
  </p:cSld>
  <p:clrMapOvr>
    <a:masterClrMapping/>
  </p:clrMapOvr>
</p:sld>
</file>

<file path=ppt/slides/slide6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707886"/>
          </a:xfrm>
          <a:prstGeom prst="rect">
            <a:avLst/>
          </a:prstGeom>
          <a:noFill/>
        </p:spPr>
        <p:txBody>
          <a:bodyPr wrap="square">
            <a:spAutoFit/>
          </a:bodyPr>
          <a:lstStyle/>
          <a:p>
            <a:pPr algn="l"/>
            <a:r>
              <a:rPr lang="en-US" sz="4000" b="1" dirty="0">
                <a:solidFill>
                  <a:srgbClr val="FFFFFF"/>
                </a:solidFill>
                <a:latin typeface="맑은 고딕"/>
                <a:ea typeface="맑은 고딕"/>
              </a:rPr>
              <a:t>15</a:t>
            </a:r>
            <a:r>
              <a:rPr sz="4000" b="1" dirty="0">
                <a:solidFill>
                  <a:srgbClr val="FFFFFF"/>
                </a:solidFill>
                <a:latin typeface="맑은 고딕"/>
                <a:ea typeface="맑은 고딕"/>
              </a:rPr>
              <a:t>.</a:t>
            </a:r>
            <a:r>
              <a:rPr lang="en-US" sz="4000" b="1" dirty="0">
                <a:solidFill>
                  <a:srgbClr val="FFFFFF"/>
                </a:solidFill>
                <a:latin typeface="맑은 고딕"/>
                <a:ea typeface="맑은 고딕"/>
              </a:rPr>
              <a:t>3</a:t>
            </a:r>
            <a:endParaRPr sz="4000" b="1" dirty="0">
              <a:solidFill>
                <a:srgbClr val="FFFFFF"/>
              </a:solidFill>
              <a:latin typeface="맑은 고딕"/>
              <a:ea typeface="맑은 고딕"/>
            </a:endParaRPr>
          </a:p>
        </p:txBody>
      </p:sp>
      <p:sp>
        <p:nvSpPr>
          <p:cNvPr id="4" name="TextBox 3"/>
          <p:cNvSpPr txBox="1"/>
          <p:nvPr/>
        </p:nvSpPr>
        <p:spPr>
          <a:xfrm>
            <a:off x="822960" y="3017520"/>
            <a:ext cx="10515600" cy="914400"/>
          </a:xfrm>
          <a:prstGeom prst="rect">
            <a:avLst/>
          </a:prstGeom>
          <a:noFill/>
        </p:spPr>
        <p:txBody>
          <a:bodyPr wrap="square">
            <a:spAutoFit/>
          </a:bodyPr>
          <a:lstStyle/>
          <a:p>
            <a:pPr algn="l"/>
            <a:r>
              <a:rPr sz="2800" b="1">
                <a:solidFill>
                  <a:srgbClr val="FFFFFF"/>
                </a:solidFill>
                <a:latin typeface="맑은 고딕"/>
                <a:ea typeface="맑은 고딕"/>
              </a:rPr>
              <a:t>DB Time — 공통 화폐</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400"/>
              </a:spcAft>
            </a:pPr>
            <a:r>
              <a:rPr sz="1600" b="0">
                <a:solidFill>
                  <a:srgbClr val="FFFFFF"/>
                </a:solidFill>
                <a:latin typeface="맑은 고딕"/>
                <a:ea typeface="맑은 고딕"/>
              </a:rPr>
              <a:t>•  이질적 문제를 하나의 저울로</a:t>
            </a:r>
          </a:p>
          <a:p>
            <a:pPr algn="l">
              <a:spcAft>
                <a:spcPts val="400"/>
              </a:spcAft>
            </a:pPr>
            <a:r>
              <a:rPr sz="1600" b="0">
                <a:solidFill>
                  <a:srgbClr val="FFFFFF"/>
                </a:solidFill>
                <a:latin typeface="맑은 고딕"/>
                <a:ea typeface="맑은 고딕"/>
              </a:rPr>
              <a:t>•  DB Time = DB CPU + 대기</a:t>
            </a:r>
          </a:p>
          <a:p>
            <a:pPr algn="l">
              <a:spcAft>
                <a:spcPts val="400"/>
              </a:spcAft>
            </a:pPr>
            <a:r>
              <a:rPr sz="1600" b="0">
                <a:solidFill>
                  <a:srgbClr val="FFFFFF"/>
                </a:solidFill>
                <a:latin typeface="맑은 고딕"/>
                <a:ea typeface="맑은 고딕"/>
              </a:rPr>
              <a:t>•  실측: CPU 약 17.5%</a:t>
            </a:r>
          </a:p>
          <a:p>
            <a:pPr algn="l">
              <a:spcAft>
                <a:spcPts val="400"/>
              </a:spcAft>
            </a:pPr>
            <a:r>
              <a:rPr sz="1600" b="0">
                <a:solidFill>
                  <a:srgbClr val="FFFFFF"/>
                </a:solidFill>
                <a:latin typeface="맑은 고딕"/>
                <a:ea typeface="맑은 고딕"/>
              </a:rPr>
              <a:t>•  Average Active Sessions</a:t>
            </a:r>
          </a:p>
        </p:txBody>
      </p:sp>
    </p:spTree>
    <p:extLst>
      <p:ext uri="{BB962C8B-B14F-4D97-AF65-F5344CB8AC3E}">
        <p14:creationId xmlns:p14="http://schemas.microsoft.com/office/powerpoint/2010/main" val="2206809142"/>
      </p:ext>
    </p:extLst>
  </p:cSld>
  <p:clrMapOvr>
    <a:masterClrMapping/>
  </p:clrMapOvr>
</p:sld>
</file>

<file path=ppt/slides/slide6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rPr>
              <a:t>DB Time이란 무엇인가</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AWR·ADDM이 성능을 재는 공통 화폐</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rPr>
              <a:t>•  DB Time = 모든 활성 세션의 CPU 시간 + 대기 시간의 합</a:t>
            </a:r>
          </a:p>
          <a:p>
            <a:pPr algn="l">
              <a:spcAft>
                <a:spcPts val="800"/>
              </a:spcAft>
            </a:pPr>
            <a:r>
              <a:rPr sz="1700" b="0">
                <a:solidFill>
                  <a:srgbClr val="222222"/>
                </a:solidFill>
                <a:latin typeface="맑은 고딕"/>
                <a:ea typeface="맑은 고딕"/>
              </a:rPr>
              <a:t>•  벽시계 시간이 아니라 세션 시간의 합(세션 10개×1초=10초)</a:t>
            </a:r>
          </a:p>
          <a:p>
            <a:pPr algn="l">
              <a:spcAft>
                <a:spcPts val="800"/>
              </a:spcAft>
            </a:pPr>
            <a:r>
              <a:rPr sz="1700" b="0">
                <a:solidFill>
                  <a:srgbClr val="222222"/>
                </a:solidFill>
                <a:latin typeface="맑은 고딕"/>
                <a:ea typeface="맑은 고딕"/>
              </a:rPr>
              <a:t>•  성능 개선 = 같은 워크로드의 DB Time을 줄이는 것</a:t>
            </a:r>
          </a:p>
          <a:p>
            <a:pPr algn="l">
              <a:spcAft>
                <a:spcPts val="800"/>
              </a:spcAft>
            </a:pPr>
            <a:r>
              <a:rPr sz="1700" b="0">
                <a:solidFill>
                  <a:srgbClr val="222222"/>
                </a:solidFill>
                <a:latin typeface="맑은 고딕"/>
                <a:ea typeface="맑은 고딕"/>
              </a:rPr>
              <a:t>•  이질적 문제도 'DB Time의 몇 %'로 환산해 비교·우선순위</a:t>
            </a:r>
          </a:p>
        </p:txBody>
      </p:sp>
    </p:spTree>
    <p:extLst>
      <p:ext uri="{BB962C8B-B14F-4D97-AF65-F5344CB8AC3E}">
        <p14:creationId xmlns:p14="http://schemas.microsoft.com/office/powerpoint/2010/main" val="2894958028"/>
      </p:ext>
    </p:extLst>
  </p:cSld>
  <p:clrMapOvr>
    <a:masterClrMapping/>
  </p:clrMapOvr>
</p:sld>
</file>

<file path=ppt/slides/slide6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rPr>
              <a:t>DB Time 구성 실측</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V$SYS_TIME_MODEL (누적, 마이크로초)</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tlCol="0" anchor="ctr"/>
          <a:lstStyle/>
          <a:p>
            <a:pPr algn="l"/>
            <a:r>
              <a:rPr sz="1250">
                <a:solidFill>
                  <a:srgbClr val="F2F2F2"/>
                </a:solidFill>
                <a:latin typeface="Consolas"/>
                <a:ea typeface="Consolas"/>
              </a:rPr>
              <a:t>SYS@orcl&gt; SELECT stat_name, value FROM v$sys_time_model</a:t>
            </a:r>
          </a:p>
          <a:p>
            <a:pPr algn="l"/>
            <a:r>
              <a:rPr sz="1250">
                <a:solidFill>
                  <a:srgbClr val="F2F2F2"/>
                </a:solidFill>
                <a:latin typeface="Consolas"/>
                <a:ea typeface="Consolas"/>
              </a:rPr>
              <a:t>  2       WHERE stat_name IN ('DB time','DB CPU',</a:t>
            </a:r>
          </a:p>
          <a:p>
            <a:pPr algn="l"/>
            <a:r>
              <a:rPr sz="1250">
                <a:solidFill>
                  <a:srgbClr val="F2F2F2"/>
                </a:solidFill>
                <a:latin typeface="Consolas"/>
                <a:ea typeface="Consolas"/>
              </a:rPr>
              <a:t>  3         'sql execute elapsed time','parse time elapsed')</a:t>
            </a:r>
          </a:p>
          <a:p>
            <a:pPr algn="l"/>
            <a:r>
              <a:rPr sz="1250">
                <a:solidFill>
                  <a:srgbClr val="F2F2F2"/>
                </a:solidFill>
                <a:latin typeface="Consolas"/>
                <a:ea typeface="Consolas"/>
              </a:rPr>
              <a:t>  4       ORDER BY value DESC;</a:t>
            </a:r>
          </a:p>
          <a:p>
            <a:pPr algn="l"/>
            <a:r>
              <a:rPr sz="1250">
                <a:solidFill>
                  <a:srgbClr val="F2F2F2"/>
                </a:solidFill>
                <a:latin typeface="Consolas"/>
                <a:ea typeface="Consolas"/>
              </a:rPr>
              <a:t> </a:t>
            </a:r>
          </a:p>
          <a:p>
            <a:pPr algn="l"/>
            <a:r>
              <a:rPr sz="1250">
                <a:solidFill>
                  <a:srgbClr val="F2F2F2"/>
                </a:solidFill>
                <a:latin typeface="Consolas"/>
                <a:ea typeface="Consolas"/>
              </a:rPr>
              <a:t>STAT_NAME                          VALUE</a:t>
            </a:r>
          </a:p>
          <a:p>
            <a:pPr algn="l"/>
            <a:r>
              <a:rPr sz="1250">
                <a:solidFill>
                  <a:srgbClr val="F2F2F2"/>
                </a:solidFill>
                <a:latin typeface="Consolas"/>
                <a:ea typeface="Consolas"/>
              </a:rPr>
              <a:t>------------------------------ ----------</a:t>
            </a:r>
          </a:p>
          <a:p>
            <a:pPr algn="l"/>
            <a:r>
              <a:rPr sz="1250">
                <a:solidFill>
                  <a:srgbClr val="F2F2F2"/>
                </a:solidFill>
                <a:latin typeface="Consolas"/>
                <a:ea typeface="Consolas"/>
              </a:rPr>
              <a:t>DB time                          49551722</a:t>
            </a:r>
          </a:p>
          <a:p>
            <a:pPr algn="l"/>
            <a:r>
              <a:rPr sz="1250">
                <a:solidFill>
                  <a:srgbClr val="F2F2F2"/>
                </a:solidFill>
                <a:latin typeface="Consolas"/>
                <a:ea typeface="Consolas"/>
              </a:rPr>
              <a:t>sql execute elapsed time         12277777</a:t>
            </a:r>
          </a:p>
          <a:p>
            <a:pPr algn="l"/>
            <a:r>
              <a:rPr sz="1250">
                <a:solidFill>
                  <a:srgbClr val="F2F2F2"/>
                </a:solidFill>
                <a:latin typeface="Consolas"/>
                <a:ea typeface="Consolas"/>
              </a:rPr>
              <a:t>DB CPU                            8662345</a:t>
            </a:r>
          </a:p>
          <a:p>
            <a:pPr algn="l"/>
            <a:r>
              <a:rPr sz="1250">
                <a:solidFill>
                  <a:srgbClr val="F2F2F2"/>
                </a:solidFill>
                <a:latin typeface="Consolas"/>
                <a:ea typeface="Consolas"/>
              </a:rPr>
              <a:t>parse time elapsed               1935695</a:t>
            </a:r>
          </a:p>
        </p:txBody>
      </p:sp>
    </p:spTree>
    <p:extLst>
      <p:ext uri="{BB962C8B-B14F-4D97-AF65-F5344CB8AC3E}">
        <p14:creationId xmlns:p14="http://schemas.microsoft.com/office/powerpoint/2010/main" val="1997963789"/>
      </p:ext>
    </p:extLst>
  </p:cSld>
  <p:clrMapOvr>
    <a:masterClrMapping/>
  </p:clrMapOvr>
</p:sld>
</file>

<file path=ppt/slides/slide6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rPr>
              <a:t>Average Active Sessions</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DB Time에서 파생되는 동시성 지표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rPr>
              <a:t>•  AAS = 구간 DB Time ÷ 구간 벽시계 경과 시간</a:t>
            </a:r>
          </a:p>
          <a:p>
            <a:pPr algn="l">
              <a:spcAft>
                <a:spcPts val="800"/>
              </a:spcAft>
            </a:pPr>
            <a:r>
              <a:rPr sz="1700" b="0">
                <a:solidFill>
                  <a:srgbClr val="222222"/>
                </a:solidFill>
                <a:latin typeface="맑은 고딕"/>
                <a:ea typeface="맑은 고딕"/>
              </a:rPr>
              <a:t>•  '평균 몇 개 세션이 동시에 일하고 있었는가'</a:t>
            </a:r>
          </a:p>
          <a:p>
            <a:pPr algn="l">
              <a:spcAft>
                <a:spcPts val="800"/>
              </a:spcAft>
            </a:pPr>
            <a:r>
              <a:rPr sz="1700" b="0">
                <a:solidFill>
                  <a:srgbClr val="222222"/>
                </a:solidFill>
                <a:latin typeface="맑은 고딕"/>
                <a:ea typeface="맑은 고딕"/>
              </a:rPr>
              <a:t>•  호스트 CPU 코어 수와 비교하면 붐빔을 직관적으로 파악</a:t>
            </a:r>
          </a:p>
          <a:p>
            <a:pPr algn="l">
              <a:spcAft>
                <a:spcPts val="800"/>
              </a:spcAft>
            </a:pPr>
            <a:r>
              <a:rPr sz="1700" b="0">
                <a:solidFill>
                  <a:srgbClr val="222222"/>
                </a:solidFill>
                <a:latin typeface="맑은 고딕"/>
                <a:ea typeface="맑은 고딕"/>
              </a:rPr>
              <a:t>•  코어 4개인데 AAS 8이면 감당량의 두 배가 경쟁 중</a:t>
            </a:r>
          </a:p>
        </p:txBody>
      </p:sp>
    </p:spTree>
    <p:extLst>
      <p:ext uri="{BB962C8B-B14F-4D97-AF65-F5344CB8AC3E}">
        <p14:creationId xmlns:p14="http://schemas.microsoft.com/office/powerpoint/2010/main" val="620487843"/>
      </p:ext>
    </p:extLst>
  </p:cSld>
  <p:clrMapOvr>
    <a:masterClrMapping/>
  </p:clrMapOvr>
</p:sld>
</file>

<file path=ppt/slides/slide6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707886"/>
          </a:xfrm>
          <a:prstGeom prst="rect">
            <a:avLst/>
          </a:prstGeom>
          <a:noFill/>
        </p:spPr>
        <p:txBody>
          <a:bodyPr wrap="square">
            <a:spAutoFit/>
          </a:bodyPr>
          <a:lstStyle/>
          <a:p>
            <a:pPr algn="l"/>
            <a:r>
              <a:rPr sz="4000" b="1" dirty="0">
                <a:solidFill>
                  <a:srgbClr val="FFFFFF"/>
                </a:solidFill>
                <a:latin typeface="맑은 고딕"/>
                <a:ea typeface="맑은 고딕"/>
              </a:rPr>
              <a:t>1</a:t>
            </a:r>
            <a:r>
              <a:rPr lang="en-US" sz="4000" b="1" dirty="0">
                <a:solidFill>
                  <a:srgbClr val="FFFFFF"/>
                </a:solidFill>
                <a:latin typeface="맑은 고딕"/>
                <a:ea typeface="맑은 고딕"/>
              </a:rPr>
              <a:t>5</a:t>
            </a:r>
            <a:r>
              <a:rPr sz="4000" b="1" dirty="0">
                <a:solidFill>
                  <a:srgbClr val="FFFFFF"/>
                </a:solidFill>
                <a:latin typeface="맑은 고딕"/>
                <a:ea typeface="맑은 고딕"/>
              </a:rPr>
              <a:t>.</a:t>
            </a:r>
            <a:r>
              <a:rPr lang="en-US" sz="4000" b="1" dirty="0">
                <a:solidFill>
                  <a:srgbClr val="FFFFFF"/>
                </a:solidFill>
                <a:latin typeface="맑은 고딕"/>
                <a:ea typeface="맑은 고딕"/>
              </a:rPr>
              <a:t>4</a:t>
            </a:r>
            <a:endParaRPr sz="4000" b="1" dirty="0">
              <a:solidFill>
                <a:srgbClr val="FFFFFF"/>
              </a:solidFill>
              <a:latin typeface="맑은 고딕"/>
              <a:ea typeface="맑은 고딕"/>
            </a:endParaRPr>
          </a:p>
        </p:txBody>
      </p:sp>
      <p:sp>
        <p:nvSpPr>
          <p:cNvPr id="4" name="TextBox 3"/>
          <p:cNvSpPr txBox="1"/>
          <p:nvPr/>
        </p:nvSpPr>
        <p:spPr>
          <a:xfrm>
            <a:off x="822960" y="3017520"/>
            <a:ext cx="10515600" cy="914400"/>
          </a:xfrm>
          <a:prstGeom prst="rect">
            <a:avLst/>
          </a:prstGeom>
          <a:noFill/>
        </p:spPr>
        <p:txBody>
          <a:bodyPr wrap="square">
            <a:spAutoFit/>
          </a:bodyPr>
          <a:lstStyle/>
          <a:p>
            <a:pPr algn="l"/>
            <a:r>
              <a:rPr sz="2800" b="1">
                <a:solidFill>
                  <a:srgbClr val="FFFFFF"/>
                </a:solidFill>
                <a:latin typeface="맑은 고딕"/>
                <a:ea typeface="맑은 고딕"/>
              </a:rPr>
              <a:t>성능 도구 지도</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400"/>
              </a:spcAft>
            </a:pPr>
            <a:r>
              <a:rPr sz="1600" b="0">
                <a:solidFill>
                  <a:srgbClr val="FFFFFF"/>
                </a:solidFill>
                <a:latin typeface="맑은 고딕"/>
                <a:ea typeface="맑은 고딕"/>
              </a:rPr>
              <a:t>•  V$ · AWR · ADDM · ASH · Advisor</a:t>
            </a:r>
          </a:p>
          <a:p>
            <a:pPr algn="l">
              <a:spcAft>
                <a:spcPts val="400"/>
              </a:spcAft>
            </a:pPr>
            <a:r>
              <a:rPr sz="1600" b="0">
                <a:solidFill>
                  <a:srgbClr val="FFFFFF"/>
                </a:solidFill>
                <a:latin typeface="맑은 고딕"/>
                <a:ea typeface="맑은 고딕"/>
              </a:rPr>
              <a:t>•  경쟁이 아니라 층위가 다른 협력</a:t>
            </a:r>
          </a:p>
          <a:p>
            <a:pPr algn="l">
              <a:spcAft>
                <a:spcPts val="400"/>
              </a:spcAft>
            </a:pPr>
            <a:r>
              <a:rPr sz="1600" b="0">
                <a:solidFill>
                  <a:srgbClr val="FFFFFF"/>
                </a:solidFill>
                <a:latin typeface="맑은 고딕"/>
                <a:ea typeface="맑은 고딕"/>
              </a:rPr>
              <a:t>•  상황에 따라 무엇을 쓰는가</a:t>
            </a:r>
          </a:p>
          <a:p>
            <a:pPr algn="l">
              <a:spcAft>
                <a:spcPts val="400"/>
              </a:spcAft>
            </a:pPr>
            <a:r>
              <a:rPr sz="1600" b="0">
                <a:solidFill>
                  <a:srgbClr val="FFFFFF"/>
                </a:solidFill>
                <a:latin typeface="맑은 고딕"/>
                <a:ea typeface="맑은 고딕"/>
              </a:rPr>
              <a:t>•  STATISTICS_LEVEL 전제</a:t>
            </a:r>
          </a:p>
        </p:txBody>
      </p:sp>
    </p:spTree>
    <p:extLst>
      <p:ext uri="{BB962C8B-B14F-4D97-AF65-F5344CB8AC3E}">
        <p14:creationId xmlns:p14="http://schemas.microsoft.com/office/powerpoint/2010/main" val="4272706349"/>
      </p:ext>
    </p:extLst>
  </p:cSld>
  <p:clrMapOvr>
    <a:masterClrMapping/>
  </p:clrMapOvr>
</p:sld>
</file>

<file path=ppt/slides/slide6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rPr>
              <a:t>V$ 동적 성능 뷰</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모든 도구가 참조하는 원천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rPr>
              <a:t>•  인스턴스 기동 시 초기화되는 메모리 구조 = 지금 이 순간</a:t>
            </a:r>
          </a:p>
          <a:p>
            <a:pPr algn="l">
              <a:spcAft>
                <a:spcPts val="800"/>
              </a:spcAft>
            </a:pPr>
            <a:r>
              <a:rPr sz="1700" b="0">
                <a:solidFill>
                  <a:srgbClr val="222222"/>
                </a:solidFill>
                <a:latin typeface="맑은 고딕"/>
                <a:ea typeface="맑은 고딕"/>
              </a:rPr>
              <a:t>•  라이선스 불필요, 실시간 진단에 강함</a:t>
            </a:r>
          </a:p>
          <a:p>
            <a:pPr algn="l">
              <a:spcAft>
                <a:spcPts val="800"/>
              </a:spcAft>
            </a:pPr>
            <a:r>
              <a:rPr sz="1700" b="0">
                <a:solidFill>
                  <a:srgbClr val="222222"/>
                </a:solidFill>
                <a:latin typeface="맑은 고딕"/>
                <a:ea typeface="맑은 고딕"/>
              </a:rPr>
              <a:t>•  진단 경로: 세션 → 대기 → SQL → 세그먼트 (ch26)</a:t>
            </a:r>
          </a:p>
          <a:p>
            <a:pPr algn="l">
              <a:spcAft>
                <a:spcPts val="800"/>
              </a:spcAft>
            </a:pPr>
            <a:r>
              <a:rPr sz="1700" b="0">
                <a:solidFill>
                  <a:srgbClr val="222222"/>
                </a:solidFill>
                <a:latin typeface="맑은 고딕"/>
                <a:ea typeface="맑은 고딕"/>
              </a:rPr>
              <a:t>•  약점: 과거를 못 본다 / 값은 누적이라 델타로 봐야 함</a:t>
            </a:r>
          </a:p>
        </p:txBody>
      </p:sp>
    </p:spTree>
    <p:extLst>
      <p:ext uri="{BB962C8B-B14F-4D97-AF65-F5344CB8AC3E}">
        <p14:creationId xmlns:p14="http://schemas.microsoft.com/office/powerpoint/2010/main" val="1592493625"/>
      </p:ext>
    </p:extLst>
  </p:cSld>
  <p:clrMapOvr>
    <a:masterClrMapping/>
  </p:clrMapOvr>
</p:sld>
</file>

<file path=ppt/slides/slide6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rPr>
              <a:t>AWR (Automatic Workload Repository)</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성능의 기억 장치  🔒 Diagnostics Pack</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rPr>
              <a:t>•  휘발성 V$ 통계를 스냅샷으로 떠 SYSAUX에 영구 저장</a:t>
            </a:r>
          </a:p>
          <a:p>
            <a:pPr algn="l">
              <a:spcAft>
                <a:spcPts val="800"/>
              </a:spcAft>
            </a:pPr>
            <a:r>
              <a:rPr sz="1700" b="0">
                <a:solidFill>
                  <a:srgbClr val="222222"/>
                </a:solidFill>
                <a:latin typeface="맑은 고딕"/>
                <a:ea typeface="맑은 고딕"/>
              </a:rPr>
              <a:t>•  기본 60분 간격·8일 보존 / 두 스냅샷 구간을 요약</a:t>
            </a:r>
          </a:p>
          <a:p>
            <a:pPr algn="l">
              <a:spcAft>
                <a:spcPts val="800"/>
              </a:spcAft>
            </a:pPr>
            <a:r>
              <a:rPr sz="1700" b="0">
                <a:solidFill>
                  <a:srgbClr val="222222"/>
                </a:solidFill>
                <a:latin typeface="맑은 고딕"/>
                <a:ea typeface="맑은 고딕"/>
              </a:rPr>
              <a:t>•  실측: 스냅샷 153개(snap_id 141~293, 08-14~08-25)</a:t>
            </a:r>
          </a:p>
          <a:p>
            <a:pPr algn="l">
              <a:spcAft>
                <a:spcPts val="800"/>
              </a:spcAft>
            </a:pPr>
            <a:r>
              <a:rPr sz="1700" b="0">
                <a:solidFill>
                  <a:srgbClr val="222222"/>
                </a:solidFill>
                <a:latin typeface="맑은 고딕"/>
                <a:ea typeface="맑은 고딕"/>
              </a:rPr>
              <a:t>•  '어제 오후 2시'를 사후 재구성 / Load Profile·Top 10 Events</a:t>
            </a:r>
          </a:p>
        </p:txBody>
      </p:sp>
    </p:spTree>
    <p:extLst>
      <p:ext uri="{BB962C8B-B14F-4D97-AF65-F5344CB8AC3E}">
        <p14:creationId xmlns:p14="http://schemas.microsoft.com/office/powerpoint/2010/main" val="366509968"/>
      </p:ext>
    </p:extLst>
  </p:cSld>
  <p:clrMapOvr>
    <a:masterClrMapping/>
  </p:clrMapOvr>
</p:sld>
</file>

<file path=ppt/slides/slide6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rPr>
              <a:t>ADDM (Automatic Database Diagnostic Monitor)</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자가 진단 엔진  🔒 Diagnostics Pack</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rPr>
              <a:t>•  AWR 데이터를 자동 분석해 병목 진단·개선안 제시</a:t>
            </a:r>
          </a:p>
          <a:p>
            <a:pPr algn="l">
              <a:spcAft>
                <a:spcPts val="800"/>
              </a:spcAft>
            </a:pPr>
            <a:r>
              <a:rPr sz="1700" b="0">
                <a:solidFill>
                  <a:srgbClr val="222222"/>
                </a:solidFill>
                <a:latin typeface="맑은 고딕"/>
                <a:ea typeface="맑은 고딕"/>
              </a:rPr>
              <a:t>•  DB Time을 하향식(top-down)으로 분해해 근본 원인 추적</a:t>
            </a:r>
          </a:p>
          <a:p>
            <a:pPr algn="l">
              <a:spcAft>
                <a:spcPts val="800"/>
              </a:spcAft>
            </a:pPr>
            <a:r>
              <a:rPr sz="1700" b="0">
                <a:solidFill>
                  <a:srgbClr val="222222"/>
                </a:solidFill>
                <a:latin typeface="맑은 고딕"/>
                <a:ea typeface="맑은 고딕"/>
              </a:rPr>
              <a:t>•  결과 = Finding(무엇이) · Recommendation(어떻게) · Rationale(왜)</a:t>
            </a:r>
          </a:p>
          <a:p>
            <a:pPr algn="l">
              <a:spcAft>
                <a:spcPts val="800"/>
              </a:spcAft>
            </a:pPr>
            <a:r>
              <a:rPr sz="1700" b="0">
                <a:solidFill>
                  <a:srgbClr val="222222"/>
                </a:solidFill>
                <a:latin typeface="맑은 고딕"/>
                <a:ea typeface="맑은 고딕"/>
              </a:rPr>
              <a:t>•  권고는 결론이 아니라 가설 — 영향도·근거 확인 후 채택(ch24)</a:t>
            </a:r>
          </a:p>
        </p:txBody>
      </p:sp>
    </p:spTree>
    <p:extLst>
      <p:ext uri="{BB962C8B-B14F-4D97-AF65-F5344CB8AC3E}">
        <p14:creationId xmlns:p14="http://schemas.microsoft.com/office/powerpoint/2010/main" val="3978624912"/>
      </p:ext>
    </p:extLst>
  </p:cSld>
  <p:clrMapOvr>
    <a:masterClrMapping/>
  </p:clrMapOvr>
</p:sld>
</file>

<file path=ppt/slides/slide6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rPr>
              <a:t>ASH (Active Session History)</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초 단위 순간 포착  🔒 Diagnostics Pack</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rPr>
              <a:t>•  활성 세션 상태를 기본 1초 주기로 샘플링(순환 버퍼)</a:t>
            </a:r>
          </a:p>
          <a:p>
            <a:pPr algn="l">
              <a:spcAft>
                <a:spcPts val="800"/>
              </a:spcAft>
            </a:pPr>
            <a:r>
              <a:rPr sz="1700" b="0">
                <a:solidFill>
                  <a:srgbClr val="222222"/>
                </a:solidFill>
                <a:latin typeface="맑은 고딕"/>
                <a:ea typeface="맑은 고딕"/>
              </a:rPr>
              <a:t>•  AWR=60분 거시 요약 ↔ ASH=초 단위 미시 포착</a:t>
            </a:r>
          </a:p>
          <a:p>
            <a:pPr algn="l">
              <a:spcAft>
                <a:spcPts val="800"/>
              </a:spcAft>
            </a:pPr>
            <a:r>
              <a:rPr sz="1700" b="0">
                <a:solidFill>
                  <a:srgbClr val="222222"/>
                </a:solidFill>
                <a:latin typeface="맑은 고딕"/>
                <a:ea typeface="맑은 고딕"/>
              </a:rPr>
              <a:t>•  AWR 평균에 묻힌 짧은 스파이크를 잡아낸다</a:t>
            </a:r>
          </a:p>
          <a:p>
            <a:pPr algn="l">
              <a:spcAft>
                <a:spcPts val="800"/>
              </a:spcAft>
            </a:pPr>
            <a:r>
              <a:rPr sz="1700" b="0">
                <a:solidFill>
                  <a:srgbClr val="222222"/>
                </a:solidFill>
                <a:latin typeface="맑은 고딕"/>
                <a:ea typeface="맑은 고딕"/>
              </a:rPr>
              <a:t>•  진입점: ashrpt.sql, V$ACTIVE_SESSION_HISTORY</a:t>
            </a:r>
          </a:p>
        </p:txBody>
      </p:sp>
    </p:spTree>
    <p:extLst>
      <p:ext uri="{BB962C8B-B14F-4D97-AF65-F5344CB8AC3E}">
        <p14:creationId xmlns:p14="http://schemas.microsoft.com/office/powerpoint/2010/main" val="2213567406"/>
      </p:ext>
    </p:extLst>
  </p:cSld>
  <p:clrMapOvr>
    <a:masterClrMapping/>
  </p:clrMapOvr>
</p:sld>
</file>

<file path=ppt/slides/slide6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rPr>
              <a:t>어드바이저 — 어떻게 고칠 것인가</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DBA_ADVISOR_DEFINITIONS (실측)</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tlCol="0" anchor="ctr"/>
          <a:lstStyle/>
          <a:p>
            <a:pPr algn="l"/>
            <a:r>
              <a:rPr sz="1250">
                <a:solidFill>
                  <a:srgbClr val="F2F2F2"/>
                </a:solidFill>
                <a:latin typeface="Consolas"/>
                <a:ea typeface="Consolas"/>
              </a:rPr>
              <a:t>SYS@orcl&gt; SELECT advisor_name FROM dba_advisor_definitions</a:t>
            </a:r>
          </a:p>
          <a:p>
            <a:pPr algn="l"/>
            <a:r>
              <a:rPr sz="1250">
                <a:solidFill>
                  <a:srgbClr val="F2F2F2"/>
                </a:solidFill>
                <a:latin typeface="Consolas"/>
                <a:ea typeface="Consolas"/>
              </a:rPr>
              <a:t>  2       ORDER BY advisor_name;</a:t>
            </a:r>
          </a:p>
          <a:p>
            <a:pPr algn="l"/>
            <a:r>
              <a:rPr sz="1250">
                <a:solidFill>
                  <a:srgbClr val="F2F2F2"/>
                </a:solidFill>
                <a:latin typeface="Consolas"/>
                <a:ea typeface="Consolas"/>
              </a:rPr>
              <a:t> </a:t>
            </a:r>
          </a:p>
          <a:p>
            <a:pPr algn="l"/>
            <a:r>
              <a:rPr sz="1250">
                <a:solidFill>
                  <a:srgbClr val="F2F2F2"/>
                </a:solidFill>
                <a:latin typeface="Consolas"/>
                <a:ea typeface="Consolas"/>
              </a:rPr>
              <a:t>ADDM                       SQL Repair Advisor</a:t>
            </a:r>
          </a:p>
          <a:p>
            <a:pPr algn="l"/>
            <a:r>
              <a:rPr sz="1250">
                <a:solidFill>
                  <a:srgbClr val="F2F2F2"/>
                </a:solidFill>
                <a:latin typeface="Consolas"/>
                <a:ea typeface="Consolas"/>
              </a:rPr>
              <a:t>Compression Advisor        SQL Tuning Advisor      🔒 Tuning Pack</a:t>
            </a:r>
          </a:p>
          <a:p>
            <a:pPr algn="l"/>
            <a:r>
              <a:rPr sz="1250">
                <a:solidFill>
                  <a:srgbClr val="F2F2F2"/>
                </a:solidFill>
                <a:latin typeface="Consolas"/>
                <a:ea typeface="Consolas"/>
              </a:rPr>
              <a:t>SPM Evolve Advisor         SQL Workload Manager</a:t>
            </a:r>
          </a:p>
          <a:p>
            <a:pPr algn="l"/>
            <a:r>
              <a:rPr sz="1250">
                <a:solidFill>
                  <a:srgbClr val="F2F2F2"/>
                </a:solidFill>
                <a:latin typeface="Consolas"/>
                <a:ea typeface="Consolas"/>
              </a:rPr>
              <a:t>SQL Access Advisor  🔒     Segment Advisor</a:t>
            </a:r>
          </a:p>
          <a:p>
            <a:pPr algn="l"/>
            <a:r>
              <a:rPr sz="1250">
                <a:solidFill>
                  <a:srgbClr val="F2F2F2"/>
                </a:solidFill>
                <a:latin typeface="Consolas"/>
                <a:ea typeface="Consolas"/>
              </a:rPr>
              <a:t>SQL Performance Analyzer🔒 Statistics Advisor</a:t>
            </a:r>
          </a:p>
          <a:p>
            <a:pPr algn="l"/>
            <a:r>
              <a:rPr sz="1250">
                <a:solidFill>
                  <a:srgbClr val="F2F2F2"/>
                </a:solidFill>
                <a:latin typeface="Consolas"/>
                <a:ea typeface="Consolas"/>
              </a:rPr>
              <a:t>                           Tune MView / Undo Advisor</a:t>
            </a:r>
          </a:p>
        </p:txBody>
      </p:sp>
    </p:spTree>
    <p:extLst>
      <p:ext uri="{BB962C8B-B14F-4D97-AF65-F5344CB8AC3E}">
        <p14:creationId xmlns:p14="http://schemas.microsoft.com/office/powerpoint/2010/main" val="1615681644"/>
      </p:ext>
    </p:extLst>
  </p:cSld>
  <p:clrMapOvr>
    <a:masterClrMapping/>
  </p:clrMapOvr>
</p:sld>
</file>

<file path=ppt/slides/slide6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rPr>
              <a:t>도구 선택 — 상황에 따라</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옳은 질문: 지금 내 문제의 성격은?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rPr>
              <a:t>•  지금 이 순간 느리다 → V$ 뷰 (라이선스 불필요)</a:t>
            </a:r>
          </a:p>
          <a:p>
            <a:pPr algn="l">
              <a:spcAft>
                <a:spcPts val="800"/>
              </a:spcAft>
            </a:pPr>
            <a:r>
              <a:rPr sz="1700" b="0">
                <a:solidFill>
                  <a:srgbClr val="222222"/>
                </a:solidFill>
                <a:latin typeface="맑은 고딕"/>
                <a:ea typeface="맑은 고딕"/>
              </a:rPr>
              <a:t>•  어제 그 시간에 무슨 일이 → AWR 🔒</a:t>
            </a:r>
          </a:p>
          <a:p>
            <a:pPr algn="l">
              <a:spcAft>
                <a:spcPts val="800"/>
              </a:spcAft>
            </a:pPr>
            <a:r>
              <a:rPr sz="1700" b="0">
                <a:solidFill>
                  <a:srgbClr val="222222"/>
                </a:solidFill>
                <a:latin typeface="맑은 고딕"/>
                <a:ea typeface="맑은 고딕"/>
              </a:rPr>
              <a:t>•  무엇이 문제인지 모르겠다 → ADDM 🔒</a:t>
            </a:r>
          </a:p>
          <a:p>
            <a:pPr algn="l">
              <a:spcAft>
                <a:spcPts val="800"/>
              </a:spcAft>
            </a:pPr>
            <a:r>
              <a:rPr sz="1700" b="0">
                <a:solidFill>
                  <a:srgbClr val="222222"/>
                </a:solidFill>
                <a:latin typeface="맑은 고딕"/>
                <a:ea typeface="맑은 고딕"/>
              </a:rPr>
              <a:t>•  짧게 튀었다 사라진 스파이크 → ASH 🔒</a:t>
            </a:r>
          </a:p>
          <a:p>
            <a:pPr algn="l">
              <a:spcAft>
                <a:spcPts val="800"/>
              </a:spcAft>
            </a:pPr>
            <a:r>
              <a:rPr sz="1700" b="0">
                <a:solidFill>
                  <a:srgbClr val="222222"/>
                </a:solidFill>
                <a:latin typeface="맑은 고딕"/>
                <a:ea typeface="맑은 고딕"/>
              </a:rPr>
              <a:t>•  특정 SQL을 어떻게 → SQL Tuning Advisor 🔒 (결론 나면 SQL튜닝 과정)</a:t>
            </a:r>
          </a:p>
        </p:txBody>
      </p:sp>
    </p:spTree>
    <p:extLst>
      <p:ext uri="{BB962C8B-B14F-4D97-AF65-F5344CB8AC3E}">
        <p14:creationId xmlns:p14="http://schemas.microsoft.com/office/powerpoint/2010/main" val="1481871578"/>
      </p:ext>
    </p:extLst>
  </p:cSld>
  <p:clrMapOvr>
    <a:masterClrMapping/>
  </p:clrMapOvr>
</p:sld>
</file>

<file path=ppt/slides/slide6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707886"/>
          </a:xfrm>
          <a:prstGeom prst="rect">
            <a:avLst/>
          </a:prstGeom>
          <a:noFill/>
        </p:spPr>
        <p:txBody>
          <a:bodyPr wrap="square">
            <a:spAutoFit/>
          </a:bodyPr>
          <a:lstStyle/>
          <a:p>
            <a:pPr algn="l"/>
            <a:r>
              <a:rPr sz="4000" b="1" dirty="0">
                <a:solidFill>
                  <a:srgbClr val="FFFFFF"/>
                </a:solidFill>
                <a:latin typeface="맑은 고딕"/>
                <a:ea typeface="맑은 고딕"/>
              </a:rPr>
              <a:t>1</a:t>
            </a:r>
            <a:r>
              <a:rPr lang="en-US" sz="4000" b="1" dirty="0">
                <a:solidFill>
                  <a:srgbClr val="FFFFFF"/>
                </a:solidFill>
                <a:latin typeface="맑은 고딕"/>
                <a:ea typeface="맑은 고딕"/>
              </a:rPr>
              <a:t>5</a:t>
            </a:r>
            <a:r>
              <a:rPr sz="4000" b="1" dirty="0">
                <a:solidFill>
                  <a:srgbClr val="FFFFFF"/>
                </a:solidFill>
                <a:latin typeface="맑은 고딕"/>
                <a:ea typeface="맑은 고딕"/>
              </a:rPr>
              <a:t>.</a:t>
            </a:r>
            <a:r>
              <a:rPr lang="en-US" sz="4000" b="1" dirty="0">
                <a:solidFill>
                  <a:srgbClr val="FFFFFF"/>
                </a:solidFill>
                <a:latin typeface="맑은 고딕"/>
                <a:ea typeface="맑은 고딕"/>
              </a:rPr>
              <a:t>5</a:t>
            </a:r>
            <a:endParaRPr sz="4000" b="1" dirty="0">
              <a:solidFill>
                <a:srgbClr val="FFFFFF"/>
              </a:solidFill>
              <a:latin typeface="맑은 고딕"/>
              <a:ea typeface="맑은 고딕"/>
            </a:endParaRPr>
          </a:p>
        </p:txBody>
      </p:sp>
      <p:sp>
        <p:nvSpPr>
          <p:cNvPr id="4" name="TextBox 3"/>
          <p:cNvSpPr txBox="1"/>
          <p:nvPr/>
        </p:nvSpPr>
        <p:spPr>
          <a:xfrm>
            <a:off x="822960" y="3017520"/>
            <a:ext cx="10515600" cy="914400"/>
          </a:xfrm>
          <a:prstGeom prst="rect">
            <a:avLst/>
          </a:prstGeom>
          <a:noFill/>
        </p:spPr>
        <p:txBody>
          <a:bodyPr wrap="square">
            <a:spAutoFit/>
          </a:bodyPr>
          <a:lstStyle/>
          <a:p>
            <a:pPr algn="l"/>
            <a:r>
              <a:rPr sz="2800" b="1">
                <a:solidFill>
                  <a:srgbClr val="FFFFFF"/>
                </a:solidFill>
                <a:latin typeface="맑은 고딕"/>
                <a:ea typeface="맑은 고딕"/>
              </a:rPr>
              <a:t>관리 팩 라이선스</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400"/>
              </a:spcAft>
            </a:pPr>
            <a:r>
              <a:rPr sz="1600" b="0">
                <a:solidFill>
                  <a:srgbClr val="FFFFFF"/>
                </a:solidFill>
                <a:latin typeface="맑은 고딕"/>
                <a:ea typeface="맑은 고딕"/>
              </a:rPr>
              <a:t>•  Diagnostics / Tuning Pack</a:t>
            </a:r>
          </a:p>
          <a:p>
            <a:pPr algn="l">
              <a:spcAft>
                <a:spcPts val="400"/>
              </a:spcAft>
            </a:pPr>
            <a:r>
              <a:rPr sz="1600" b="0">
                <a:solidFill>
                  <a:srgbClr val="FFFFFF"/>
                </a:solidFill>
                <a:latin typeface="맑은 고딕"/>
                <a:ea typeface="맑은 고딕"/>
              </a:rPr>
              <a:t>•  CONTROL_MANAGEMENT_PACK_ACCESS</a:t>
            </a:r>
          </a:p>
          <a:p>
            <a:pPr algn="l">
              <a:spcAft>
                <a:spcPts val="400"/>
              </a:spcAft>
            </a:pPr>
            <a:r>
              <a:rPr sz="1600" b="0">
                <a:solidFill>
                  <a:srgbClr val="FFFFFF"/>
                </a:solidFill>
                <a:latin typeface="맑은 고딕"/>
                <a:ea typeface="맑은 고딕"/>
              </a:rPr>
              <a:t>•  DBA_FEATURE_USAGE_STATISTICS</a:t>
            </a:r>
          </a:p>
          <a:p>
            <a:pPr algn="l">
              <a:spcAft>
                <a:spcPts val="400"/>
              </a:spcAft>
            </a:pPr>
            <a:r>
              <a:rPr sz="1600" b="0">
                <a:solidFill>
                  <a:srgbClr val="FFFFFF"/>
                </a:solidFill>
                <a:latin typeface="맑은 고딕"/>
                <a:ea typeface="맑은 고딕"/>
              </a:rPr>
              <a:t>•  라이선스 없이 보는 법</a:t>
            </a:r>
          </a:p>
        </p:txBody>
      </p:sp>
    </p:spTree>
    <p:extLst>
      <p:ext uri="{BB962C8B-B14F-4D97-AF65-F5344CB8AC3E}">
        <p14:creationId xmlns:p14="http://schemas.microsoft.com/office/powerpoint/2010/main" val="2806781943"/>
      </p:ext>
    </p:extLst>
  </p:cSld>
  <p:clrMapOvr>
    <a:masterClrMapping/>
  </p:clrMapOvr>
</p:sld>
</file>

<file path=ppt/slides/slide6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rPr>
              <a:t>어떤 기능이 어느 팩에 속하는가</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무심코 쓰면 라이선스 위반</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rPr>
              <a:t>•  Diagnostics Pack: AWR·ADDM·ASH·DBA_HIST_*·V$ACTIVE_SESSION_HISTORY</a:t>
            </a:r>
          </a:p>
          <a:p>
            <a:pPr algn="l">
              <a:spcAft>
                <a:spcPts val="800"/>
              </a:spcAft>
            </a:pPr>
            <a:r>
              <a:rPr sz="1700" b="0">
                <a:solidFill>
                  <a:srgbClr val="222222"/>
                </a:solidFill>
                <a:latin typeface="맑은 고딕"/>
                <a:ea typeface="맑은 고딕"/>
              </a:rPr>
              <a:t>•  Tuning Pack: SQL Tuning/Access Advisor·SPA (Diagnostics Pack 선행)</a:t>
            </a:r>
          </a:p>
          <a:p>
            <a:pPr algn="l">
              <a:spcAft>
                <a:spcPts val="800"/>
              </a:spcAft>
            </a:pPr>
            <a:r>
              <a:rPr sz="1700" b="0">
                <a:solidFill>
                  <a:srgbClr val="222222"/>
                </a:solidFill>
                <a:latin typeface="맑은 고딕"/>
                <a:ea typeface="맑은 고딕"/>
              </a:rPr>
              <a:t>•  팩 불필요: V$ 뷰·Statspack·Segment/Undo/Statistics Advisor</a:t>
            </a:r>
          </a:p>
          <a:p>
            <a:pPr algn="l">
              <a:spcAft>
                <a:spcPts val="800"/>
              </a:spcAft>
            </a:pPr>
            <a:r>
              <a:rPr sz="1700" b="0">
                <a:solidFill>
                  <a:srgbClr val="222222"/>
                </a:solidFill>
                <a:latin typeface="맑은 고딕"/>
                <a:ea typeface="맑은 고딕"/>
              </a:rPr>
              <a:t>•  LMS 감사에서 DBA_FEATURE_USAGE_STATISTICS가 근거가 된다</a:t>
            </a:r>
          </a:p>
        </p:txBody>
      </p:sp>
    </p:spTree>
    <p:extLst>
      <p:ext uri="{BB962C8B-B14F-4D97-AF65-F5344CB8AC3E}">
        <p14:creationId xmlns:p14="http://schemas.microsoft.com/office/powerpoint/2010/main" val="2317436108"/>
      </p:ext>
    </p:extLst>
  </p:cSld>
  <p:clrMapOvr>
    <a:masterClrMapping/>
  </p:clrMapOvr>
</p:sld>
</file>

<file path=ppt/slides/slide6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rPr>
              <a:t>CONTROL_MANAGEMENT_PACK_ACCESS</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어떤 팩을 쓸 수 있는지 선언</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tlCol="0" anchor="ctr"/>
          <a:lstStyle/>
          <a:p>
            <a:pPr algn="l"/>
            <a:r>
              <a:rPr sz="1250">
                <a:solidFill>
                  <a:srgbClr val="F2F2F2"/>
                </a:solidFill>
                <a:latin typeface="Consolas"/>
                <a:ea typeface="Consolas"/>
              </a:rPr>
              <a:t>SYS@orcl&gt; SELECT name, value FROM v$parameter</a:t>
            </a:r>
          </a:p>
          <a:p>
            <a:pPr algn="l"/>
            <a:r>
              <a:rPr sz="1250">
                <a:solidFill>
                  <a:srgbClr val="F2F2F2"/>
                </a:solidFill>
                <a:latin typeface="Consolas"/>
                <a:ea typeface="Consolas"/>
              </a:rPr>
              <a:t>  2       WHERE name = 'control_management_pack_access';</a:t>
            </a:r>
          </a:p>
          <a:p>
            <a:pPr algn="l"/>
            <a:r>
              <a:rPr sz="1250">
                <a:solidFill>
                  <a:srgbClr val="F2F2F2"/>
                </a:solidFill>
                <a:latin typeface="Consolas"/>
                <a:ea typeface="Consolas"/>
              </a:rPr>
              <a:t> </a:t>
            </a:r>
          </a:p>
          <a:p>
            <a:pPr algn="l"/>
            <a:r>
              <a:rPr sz="1250">
                <a:solidFill>
                  <a:srgbClr val="F2F2F2"/>
                </a:solidFill>
                <a:latin typeface="Consolas"/>
                <a:ea typeface="Consolas"/>
              </a:rPr>
              <a:t>NAME                            VALUE</a:t>
            </a:r>
          </a:p>
          <a:p>
            <a:pPr algn="l"/>
            <a:r>
              <a:rPr sz="1250">
                <a:solidFill>
                  <a:srgbClr val="F2F2F2"/>
                </a:solidFill>
                <a:latin typeface="Consolas"/>
                <a:ea typeface="Consolas"/>
              </a:rPr>
              <a:t>------------------------------- -------------------</a:t>
            </a:r>
          </a:p>
          <a:p>
            <a:pPr algn="l"/>
            <a:r>
              <a:rPr sz="1250">
                <a:solidFill>
                  <a:srgbClr val="F2F2F2"/>
                </a:solidFill>
                <a:latin typeface="Consolas"/>
                <a:ea typeface="Consolas"/>
              </a:rPr>
              <a:t>control_management_pack_access  DIAGNOSTIC+TUNING</a:t>
            </a:r>
          </a:p>
          <a:p>
            <a:pPr algn="l"/>
            <a:r>
              <a:rPr sz="1250">
                <a:solidFill>
                  <a:srgbClr val="F2F2F2"/>
                </a:solidFill>
                <a:latin typeface="Consolas"/>
                <a:ea typeface="Consolas"/>
              </a:rPr>
              <a:t> </a:t>
            </a:r>
          </a:p>
          <a:p>
            <a:pPr algn="l"/>
            <a:r>
              <a:rPr sz="1250">
                <a:solidFill>
                  <a:srgbClr val="F2F2F2"/>
                </a:solidFill>
                <a:latin typeface="Consolas"/>
                <a:ea typeface="Consolas"/>
              </a:rPr>
              <a:t>-- 값: NONE / DIAGNOSTIC / DIAGNOSTIC+TUNING</a:t>
            </a:r>
          </a:p>
          <a:p>
            <a:pPr algn="l"/>
            <a:r>
              <a:rPr sz="1250">
                <a:solidFill>
                  <a:srgbClr val="F2F2F2"/>
                </a:solidFill>
                <a:latin typeface="Consolas"/>
                <a:ea typeface="Consolas"/>
              </a:rPr>
              <a:t>-- 라이선스 없으면 NONE 으로 두어 수집을 막는 것이 안전</a:t>
            </a:r>
          </a:p>
        </p:txBody>
      </p:sp>
    </p:spTree>
    <p:extLst>
      <p:ext uri="{BB962C8B-B14F-4D97-AF65-F5344CB8AC3E}">
        <p14:creationId xmlns:p14="http://schemas.microsoft.com/office/powerpoint/2010/main" val="353856637"/>
      </p:ext>
    </p:extLst>
  </p:cSld>
  <p:clrMapOvr>
    <a:masterClrMapping/>
  </p:clrMapOvr>
</p:sld>
</file>

<file path=ppt/slides/slide6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rPr>
              <a:t>사용 이력 확인</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DBA_FEATURE_USAGE_STATISTICS (실측)</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tlCol="0" anchor="ctr"/>
          <a:lstStyle/>
          <a:p>
            <a:pPr algn="l"/>
            <a:r>
              <a:rPr sz="1250">
                <a:solidFill>
                  <a:srgbClr val="F2F2F2"/>
                </a:solidFill>
                <a:latin typeface="Consolas"/>
                <a:ea typeface="Consolas"/>
              </a:rPr>
              <a:t>SYS@orcl&gt; SELECT name, detected_usages,</a:t>
            </a:r>
          </a:p>
          <a:p>
            <a:pPr algn="l"/>
            <a:r>
              <a:rPr sz="1250">
                <a:solidFill>
                  <a:srgbClr val="F2F2F2"/>
                </a:solidFill>
                <a:latin typeface="Consolas"/>
                <a:ea typeface="Consolas"/>
              </a:rPr>
              <a:t>  2         TO_CHAR(last_usage_date,'YYYY-MM-DD') last_used</a:t>
            </a:r>
          </a:p>
          <a:p>
            <a:pPr algn="l"/>
            <a:r>
              <a:rPr sz="1250">
                <a:solidFill>
                  <a:srgbClr val="F2F2F2"/>
                </a:solidFill>
                <a:latin typeface="Consolas"/>
                <a:ea typeface="Consolas"/>
              </a:rPr>
              <a:t>  3       FROM dba_feature_usage_statistics WHERE name IN (...);</a:t>
            </a:r>
          </a:p>
          <a:p>
            <a:pPr algn="l"/>
            <a:r>
              <a:rPr sz="1250">
                <a:solidFill>
                  <a:srgbClr val="F2F2F2"/>
                </a:solidFill>
                <a:latin typeface="Consolas"/>
                <a:ea typeface="Consolas"/>
              </a:rPr>
              <a:t> </a:t>
            </a:r>
          </a:p>
          <a:p>
            <a:pPr algn="l"/>
            <a:r>
              <a:rPr sz="1250">
                <a:solidFill>
                  <a:srgbClr val="F2F2F2"/>
                </a:solidFill>
                <a:latin typeface="Consolas"/>
                <a:ea typeface="Consolas"/>
              </a:rPr>
              <a:t>NAME                            DETECTED_USAGES LAST_USED</a:t>
            </a:r>
          </a:p>
          <a:p>
            <a:pPr algn="l"/>
            <a:r>
              <a:rPr sz="1250">
                <a:solidFill>
                  <a:srgbClr val="F2F2F2"/>
                </a:solidFill>
                <a:latin typeface="Consolas"/>
                <a:ea typeface="Consolas"/>
              </a:rPr>
              <a:t>------------------------------- --------------- ----------</a:t>
            </a:r>
          </a:p>
          <a:p>
            <a:pPr algn="l"/>
            <a:r>
              <a:rPr sz="1250">
                <a:solidFill>
                  <a:srgbClr val="F2F2F2"/>
                </a:solidFill>
                <a:latin typeface="Consolas"/>
                <a:ea typeface="Consolas"/>
              </a:rPr>
              <a:t>ADDM                                          0</a:t>
            </a:r>
          </a:p>
          <a:p>
            <a:pPr algn="l"/>
            <a:r>
              <a:rPr sz="1250">
                <a:solidFill>
                  <a:srgbClr val="F2F2F2"/>
                </a:solidFill>
                <a:latin typeface="Consolas"/>
                <a:ea typeface="Consolas"/>
              </a:rPr>
              <a:t>Automatic SQL Tuning Advisor                  2 2026-08-21</a:t>
            </a:r>
          </a:p>
          <a:p>
            <a:pPr algn="l"/>
            <a:r>
              <a:rPr sz="1250">
                <a:solidFill>
                  <a:srgbClr val="F2F2F2"/>
                </a:solidFill>
                <a:latin typeface="Consolas"/>
                <a:ea typeface="Consolas"/>
              </a:rPr>
              <a:t>Automatic Workload Repository                 0</a:t>
            </a:r>
          </a:p>
          <a:p>
            <a:pPr algn="l"/>
            <a:r>
              <a:rPr sz="1250">
                <a:solidFill>
                  <a:srgbClr val="F2F2F2"/>
                </a:solidFill>
                <a:latin typeface="Consolas"/>
                <a:ea typeface="Consolas"/>
              </a:rPr>
              <a:t>SQL Tuning Advisor                            0</a:t>
            </a:r>
          </a:p>
        </p:txBody>
      </p:sp>
    </p:spTree>
    <p:extLst>
      <p:ext uri="{BB962C8B-B14F-4D97-AF65-F5344CB8AC3E}">
        <p14:creationId xmlns:p14="http://schemas.microsoft.com/office/powerpoint/2010/main" val="4004652441"/>
      </p:ext>
    </p:extLst>
  </p:cSld>
  <p:clrMapOvr>
    <a:masterClrMapping/>
  </p:clrMapOvr>
</p:sld>
</file>

<file path=ppt/slides/slide6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rPr>
              <a:t>라이선스가 없으면 무엇으로 보는가</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원천 데이터는 언제나 V$에 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rPr>
              <a:t>•  구간 요약: AWR → Statspack 보고서 / V$SYSSTAT 델타</a:t>
            </a:r>
          </a:p>
          <a:p>
            <a:pPr algn="l">
              <a:spcAft>
                <a:spcPts val="800"/>
              </a:spcAft>
            </a:pPr>
            <a:r>
              <a:rPr sz="1700" b="0">
                <a:solidFill>
                  <a:srgbClr val="222222"/>
                </a:solidFill>
                <a:latin typeface="맑은 고딕"/>
                <a:ea typeface="맑은 고딕"/>
              </a:rPr>
              <a:t>•  DB Time·대기: ADDM → V$SYS_TIME_MODEL + V$SYSTEM_WAIT_CLASS</a:t>
            </a:r>
          </a:p>
          <a:p>
            <a:pPr algn="l">
              <a:spcAft>
                <a:spcPts val="800"/>
              </a:spcAft>
            </a:pPr>
            <a:r>
              <a:rPr sz="1700" b="0">
                <a:solidFill>
                  <a:srgbClr val="222222"/>
                </a:solidFill>
                <a:latin typeface="맑은 고딕"/>
                <a:ea typeface="맑은 고딕"/>
              </a:rPr>
              <a:t>•  활성 세션 상태: ASH → V$SESSION+V$SESSION_WAIT 반복 샘플링</a:t>
            </a:r>
          </a:p>
          <a:p>
            <a:pPr algn="l">
              <a:spcAft>
                <a:spcPts val="800"/>
              </a:spcAft>
            </a:pPr>
            <a:r>
              <a:rPr sz="1700" b="0">
                <a:solidFill>
                  <a:srgbClr val="222222"/>
                </a:solidFill>
                <a:latin typeface="맑은 고딕"/>
                <a:ea typeface="맑은 고딕"/>
              </a:rPr>
              <a:t>•  핵심: 누적값을 두 시점 델타로 계산 = 원리는 동일</a:t>
            </a:r>
          </a:p>
        </p:txBody>
      </p:sp>
    </p:spTree>
    <p:extLst>
      <p:ext uri="{BB962C8B-B14F-4D97-AF65-F5344CB8AC3E}">
        <p14:creationId xmlns:p14="http://schemas.microsoft.com/office/powerpoint/2010/main" val="2603600383"/>
      </p:ext>
    </p:extLst>
  </p:cSld>
  <p:clrMapOvr>
    <a:masterClrMapping/>
  </p:clrMapOvr>
</p:sld>
</file>

<file path=ppt/slides/slide6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707886"/>
          </a:xfrm>
          <a:prstGeom prst="rect">
            <a:avLst/>
          </a:prstGeom>
          <a:noFill/>
        </p:spPr>
        <p:txBody>
          <a:bodyPr wrap="square">
            <a:spAutoFit/>
          </a:bodyPr>
          <a:lstStyle/>
          <a:p>
            <a:pPr algn="l"/>
            <a:r>
              <a:rPr sz="4000" b="1" dirty="0">
                <a:solidFill>
                  <a:srgbClr val="FFFFFF"/>
                </a:solidFill>
                <a:latin typeface="맑은 고딕"/>
                <a:ea typeface="맑은 고딕"/>
              </a:rPr>
              <a:t>1</a:t>
            </a:r>
            <a:r>
              <a:rPr lang="en-US" sz="4000" b="1" dirty="0">
                <a:solidFill>
                  <a:srgbClr val="FFFFFF"/>
                </a:solidFill>
                <a:latin typeface="맑은 고딕"/>
                <a:ea typeface="맑은 고딕"/>
              </a:rPr>
              <a:t>5</a:t>
            </a:r>
            <a:r>
              <a:rPr sz="4000" b="1" dirty="0">
                <a:solidFill>
                  <a:srgbClr val="FFFFFF"/>
                </a:solidFill>
                <a:latin typeface="맑은 고딕"/>
                <a:ea typeface="맑은 고딕"/>
              </a:rPr>
              <a:t>.</a:t>
            </a:r>
            <a:r>
              <a:rPr lang="en-US" sz="4000" b="1" dirty="0">
                <a:solidFill>
                  <a:srgbClr val="FFFFFF"/>
                </a:solidFill>
                <a:latin typeface="맑은 고딕"/>
                <a:ea typeface="맑은 고딕"/>
              </a:rPr>
              <a:t>6</a:t>
            </a:r>
            <a:endParaRPr sz="4000" b="1" dirty="0">
              <a:solidFill>
                <a:srgbClr val="FFFFFF"/>
              </a:solidFill>
              <a:latin typeface="맑은 고딕"/>
              <a:ea typeface="맑은 고딕"/>
            </a:endParaRPr>
          </a:p>
        </p:txBody>
      </p:sp>
      <p:sp>
        <p:nvSpPr>
          <p:cNvPr id="4" name="TextBox 3"/>
          <p:cNvSpPr txBox="1"/>
          <p:nvPr/>
        </p:nvSpPr>
        <p:spPr>
          <a:xfrm>
            <a:off x="822960" y="3017520"/>
            <a:ext cx="10515600" cy="914400"/>
          </a:xfrm>
          <a:prstGeom prst="rect">
            <a:avLst/>
          </a:prstGeom>
          <a:noFill/>
        </p:spPr>
        <p:txBody>
          <a:bodyPr wrap="square">
            <a:spAutoFit/>
          </a:bodyPr>
          <a:lstStyle/>
          <a:p>
            <a:pPr algn="l"/>
            <a:r>
              <a:rPr sz="2800" b="1">
                <a:solidFill>
                  <a:srgbClr val="FFFFFF"/>
                </a:solidFill>
                <a:latin typeface="맑은 고딕"/>
                <a:ea typeface="맑은 고딕"/>
              </a:rPr>
              <a:t>목표를 수치로 정의</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400"/>
              </a:spcAft>
            </a:pPr>
            <a:r>
              <a:rPr sz="1600" b="0">
                <a:solidFill>
                  <a:srgbClr val="FFFFFF"/>
                </a:solidFill>
                <a:latin typeface="맑은 고딕"/>
                <a:ea typeface="맑은 고딕"/>
              </a:rPr>
              <a:t>•  대상 선정 → 현재값 → 목표값 → 판정</a:t>
            </a:r>
          </a:p>
          <a:p>
            <a:pPr algn="l">
              <a:spcAft>
                <a:spcPts val="400"/>
              </a:spcAft>
            </a:pPr>
            <a:r>
              <a:rPr sz="1600" b="0">
                <a:solidFill>
                  <a:srgbClr val="FFFFFF"/>
                </a:solidFill>
                <a:latin typeface="맑은 고딕"/>
                <a:ea typeface="맑은 고딕"/>
              </a:rPr>
              <a:t>•  상위 부하 SQL 실측</a:t>
            </a:r>
          </a:p>
          <a:p>
            <a:pPr algn="l">
              <a:spcAft>
                <a:spcPts val="400"/>
              </a:spcAft>
            </a:pPr>
            <a:r>
              <a:rPr sz="1600" b="0">
                <a:solidFill>
                  <a:srgbClr val="FFFFFF"/>
                </a:solidFill>
                <a:latin typeface="맑은 고딕"/>
                <a:ea typeface="맑은 고딕"/>
              </a:rPr>
              <a:t>•  기준선(baseline)</a:t>
            </a:r>
          </a:p>
          <a:p>
            <a:pPr algn="l">
              <a:spcAft>
                <a:spcPts val="400"/>
              </a:spcAft>
            </a:pPr>
            <a:r>
              <a:rPr sz="1600" b="0">
                <a:solidFill>
                  <a:srgbClr val="FFFFFF"/>
                </a:solidFill>
                <a:latin typeface="맑은 고딕"/>
                <a:ea typeface="맑은 고딕"/>
              </a:rPr>
              <a:t>•  SQL 튜닝 과정과의 경계</a:t>
            </a:r>
          </a:p>
        </p:txBody>
      </p:sp>
    </p:spTree>
    <p:extLst>
      <p:ext uri="{BB962C8B-B14F-4D97-AF65-F5344CB8AC3E}">
        <p14:creationId xmlns:p14="http://schemas.microsoft.com/office/powerpoint/2010/main" val="912996192"/>
      </p:ext>
    </p:extLst>
  </p:cSld>
  <p:clrMapOvr>
    <a:masterClrMapping/>
  </p:clrMapOvr>
</p:sld>
</file>

<file path=ppt/slides/slide6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rPr>
              <a:t>상위 부하 SQL — 대상 선정</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V$SQL 논리읽기(buffer_gets) 기준 (SQLT 계정)</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tlCol="0" anchor="ctr"/>
          <a:lstStyle/>
          <a:p>
            <a:pPr algn="l"/>
            <a:r>
              <a:rPr sz="1250">
                <a:solidFill>
                  <a:srgbClr val="F2F2F2"/>
                </a:solidFill>
                <a:latin typeface="Consolas"/>
                <a:ea typeface="Consolas"/>
              </a:rPr>
              <a:t>SYS@orcl&gt; SELECT sql_id, executions execs, buffer_gets,</a:t>
            </a:r>
          </a:p>
          <a:p>
            <a:pPr algn="l"/>
            <a:r>
              <a:rPr sz="1250">
                <a:solidFill>
                  <a:srgbClr val="F2F2F2"/>
                </a:solidFill>
                <a:latin typeface="Consolas"/>
                <a:ea typeface="Consolas"/>
              </a:rPr>
              <a:t>  2         ROUND(buffer_gets/GREATEST(executions,1)) gets_per_exec,</a:t>
            </a:r>
          </a:p>
          <a:p>
            <a:pPr algn="l"/>
            <a:r>
              <a:rPr sz="1250">
                <a:solidFill>
                  <a:srgbClr val="F2F2F2"/>
                </a:solidFill>
                <a:latin typeface="Consolas"/>
                <a:ea typeface="Consolas"/>
              </a:rPr>
              <a:t>  3         ROUND(elapsed_time/1e6,2) elapsed_sec, ...</a:t>
            </a:r>
          </a:p>
          <a:p>
            <a:pPr algn="l"/>
            <a:r>
              <a:rPr sz="1250">
                <a:solidFill>
                  <a:srgbClr val="F2F2F2"/>
                </a:solidFill>
                <a:latin typeface="Consolas"/>
                <a:ea typeface="Consolas"/>
              </a:rPr>
              <a:t>  4       FROM v$sql WHERE parsing_schema_name='SQLT'</a:t>
            </a:r>
          </a:p>
          <a:p>
            <a:pPr algn="l"/>
            <a:r>
              <a:rPr sz="1250">
                <a:solidFill>
                  <a:srgbClr val="F2F2F2"/>
                </a:solidFill>
                <a:latin typeface="Consolas"/>
                <a:ea typeface="Consolas"/>
              </a:rPr>
              <a:t>  5       ORDER BY buffer_gets DESC FETCH FIRST 3 ROWS ONLY;</a:t>
            </a:r>
          </a:p>
          <a:p>
            <a:pPr algn="l"/>
            <a:r>
              <a:rPr sz="1250">
                <a:solidFill>
                  <a:srgbClr val="F2F2F2"/>
                </a:solidFill>
                <a:latin typeface="Consolas"/>
                <a:ea typeface="Consolas"/>
              </a:rPr>
              <a:t> </a:t>
            </a:r>
          </a:p>
          <a:p>
            <a:pPr algn="l"/>
            <a:r>
              <a:rPr sz="1250">
                <a:solidFill>
                  <a:srgbClr val="F2F2F2"/>
                </a:solidFill>
                <a:latin typeface="Consolas"/>
                <a:ea typeface="Consolas"/>
              </a:rPr>
              <a:t>SQL_ID         EXECS BUFFER_GETS GETS_PER_EXEC ELAPSED_SEC</a:t>
            </a:r>
          </a:p>
          <a:p>
            <a:pPr algn="l"/>
            <a:r>
              <a:rPr sz="1250">
                <a:solidFill>
                  <a:srgbClr val="F2F2F2"/>
                </a:solidFill>
                <a:latin typeface="Consolas"/>
                <a:ea typeface="Consolas"/>
              </a:rPr>
              <a:t>------------- ------ ----------- ------------- -----------</a:t>
            </a:r>
          </a:p>
          <a:p>
            <a:pPr algn="l"/>
            <a:r>
              <a:rPr sz="1250">
                <a:solidFill>
                  <a:srgbClr val="F2F2F2"/>
                </a:solidFill>
                <a:latin typeface="Consolas"/>
                <a:ea typeface="Consolas"/>
              </a:rPr>
              <a:t>3j9gw8s0v82pc    200      618000          3090        1.23</a:t>
            </a:r>
          </a:p>
          <a:p>
            <a:pPr algn="l"/>
            <a:r>
              <a:rPr sz="1250">
                <a:solidFill>
                  <a:srgbClr val="F2F2F2"/>
                </a:solidFill>
                <a:latin typeface="Consolas"/>
                <a:ea typeface="Consolas"/>
              </a:rPr>
              <a:t>fus9168r58axj      3       19869          6623        0.87</a:t>
            </a:r>
          </a:p>
          <a:p>
            <a:pPr algn="l"/>
            <a:r>
              <a:rPr sz="1250">
                <a:solidFill>
                  <a:srgbClr val="F2F2F2"/>
                </a:solidFill>
                <a:latin typeface="Consolas"/>
                <a:ea typeface="Consolas"/>
              </a:rPr>
              <a:t>axnpq1h1y89da      1        4586          4586        0.50</a:t>
            </a:r>
          </a:p>
        </p:txBody>
      </p:sp>
    </p:spTree>
    <p:extLst>
      <p:ext uri="{BB962C8B-B14F-4D97-AF65-F5344CB8AC3E}">
        <p14:creationId xmlns:p14="http://schemas.microsoft.com/office/powerpoint/2010/main" val="215272554"/>
      </p:ext>
    </p:extLst>
  </p:cSld>
  <p:clrMapOvr>
    <a:masterClrMapping/>
  </p:clrMapOvr>
</p:sld>
</file>

<file path=ppt/slides/slide6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rPr>
              <a:t>목표 수치화 4단계와 기준선</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목표 없이 파라미터부터 바꾸지 않는다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rPr>
              <a:t>•  ① 대상 업무 선정 → ② 현재값 측정 → ③ 목표값 → ④ 판정 기준</a:t>
            </a:r>
          </a:p>
          <a:p>
            <a:pPr algn="l">
              <a:spcAft>
                <a:spcPts val="800"/>
              </a:spcAft>
            </a:pPr>
            <a:r>
              <a:rPr sz="1700" b="0">
                <a:solidFill>
                  <a:srgbClr val="222222"/>
                </a:solidFill>
                <a:latin typeface="맑은 고딕"/>
                <a:ea typeface="맑은 고딕"/>
              </a:rPr>
              <a:t>•  목표는 응답시간·처리량 같은 측정 가능한 양으로만</a:t>
            </a:r>
          </a:p>
          <a:p>
            <a:pPr algn="l">
              <a:spcAft>
                <a:spcPts val="800"/>
              </a:spcAft>
            </a:pPr>
            <a:r>
              <a:rPr sz="1700" b="0">
                <a:solidFill>
                  <a:srgbClr val="222222"/>
                </a:solidFill>
                <a:latin typeface="맑은 고딕"/>
                <a:ea typeface="맑은 고딕"/>
              </a:rPr>
              <a:t>•  기준선: 정상일 때 값을 모르면 '느려졌다'를 증명 못 한다</a:t>
            </a:r>
          </a:p>
          <a:p>
            <a:pPr algn="l">
              <a:spcAft>
                <a:spcPts val="800"/>
              </a:spcAft>
            </a:pPr>
            <a:r>
              <a:rPr sz="1700" b="0">
                <a:solidFill>
                  <a:srgbClr val="222222"/>
                </a:solidFill>
                <a:latin typeface="맑은 고딕"/>
                <a:ea typeface="맑은 고딕"/>
              </a:rPr>
              <a:t>•  경계: SQL 한 문장 수정으로 결론 나면 SQL 튜닝 과정으로</a:t>
            </a:r>
          </a:p>
        </p:txBody>
      </p:sp>
    </p:spTree>
    <p:extLst>
      <p:ext uri="{BB962C8B-B14F-4D97-AF65-F5344CB8AC3E}">
        <p14:creationId xmlns:p14="http://schemas.microsoft.com/office/powerpoint/2010/main" val="1734489553"/>
      </p:ext>
    </p:extLst>
  </p:cSld>
  <p:clrMapOvr>
    <a:masterClrMapping/>
  </p:clrMapOvr>
</p:sld>
</file>

<file path=ppt/slides/slide6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707886"/>
          </a:xfrm>
          <a:prstGeom prst="rect">
            <a:avLst/>
          </a:prstGeom>
          <a:noFill/>
        </p:spPr>
        <p:txBody>
          <a:bodyPr wrap="square">
            <a:spAutoFit/>
          </a:bodyPr>
          <a:lstStyle/>
          <a:p>
            <a:pPr algn="l"/>
            <a:r>
              <a:rPr sz="4000" b="1" dirty="0">
                <a:solidFill>
                  <a:srgbClr val="FFFFFF"/>
                </a:solidFill>
                <a:latin typeface="맑은 고딕"/>
                <a:ea typeface="맑은 고딕"/>
              </a:rPr>
              <a:t>1</a:t>
            </a:r>
            <a:r>
              <a:rPr lang="en-US" sz="4000" b="1" dirty="0">
                <a:solidFill>
                  <a:srgbClr val="FFFFFF"/>
                </a:solidFill>
                <a:latin typeface="맑은 고딕"/>
                <a:ea typeface="맑은 고딕"/>
              </a:rPr>
              <a:t>5</a:t>
            </a:r>
            <a:r>
              <a:rPr sz="4000" b="1" dirty="0">
                <a:solidFill>
                  <a:srgbClr val="FFFFFF"/>
                </a:solidFill>
                <a:latin typeface="맑은 고딕"/>
                <a:ea typeface="맑은 고딕"/>
              </a:rPr>
              <a:t>.</a:t>
            </a:r>
            <a:r>
              <a:rPr lang="en-US" sz="4000" b="1" dirty="0">
                <a:solidFill>
                  <a:srgbClr val="FFFFFF"/>
                </a:solidFill>
                <a:latin typeface="맑은 고딕"/>
                <a:ea typeface="맑은 고딕"/>
              </a:rPr>
              <a:t>7</a:t>
            </a:r>
            <a:endParaRPr sz="4000" b="1" dirty="0">
              <a:solidFill>
                <a:srgbClr val="FFFFFF"/>
              </a:solidFill>
              <a:latin typeface="맑은 고딕"/>
              <a:ea typeface="맑은 고딕"/>
            </a:endParaRPr>
          </a:p>
        </p:txBody>
      </p:sp>
      <p:sp>
        <p:nvSpPr>
          <p:cNvPr id="4" name="TextBox 3"/>
          <p:cNvSpPr txBox="1"/>
          <p:nvPr/>
        </p:nvSpPr>
        <p:spPr>
          <a:xfrm>
            <a:off x="822960" y="3017520"/>
            <a:ext cx="10515600" cy="914400"/>
          </a:xfrm>
          <a:prstGeom prst="rect">
            <a:avLst/>
          </a:prstGeom>
          <a:noFill/>
        </p:spPr>
        <p:txBody>
          <a:bodyPr wrap="square">
            <a:spAutoFit/>
          </a:bodyPr>
          <a:lstStyle/>
          <a:p>
            <a:pPr algn="l"/>
            <a:r>
              <a:rPr sz="2800" b="1">
                <a:solidFill>
                  <a:srgbClr val="FFFFFF"/>
                </a:solidFill>
                <a:latin typeface="맑은 고딕"/>
                <a:ea typeface="맑은 고딕"/>
              </a:rPr>
              <a:t>세 가지 경계</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400"/>
              </a:spcAft>
            </a:pPr>
            <a:r>
              <a:rPr sz="1600" b="0">
                <a:solidFill>
                  <a:srgbClr val="FFFFFF"/>
                </a:solidFill>
                <a:latin typeface="맑은 고딕"/>
                <a:ea typeface="맑은 고딕"/>
              </a:rPr>
              <a:t>•  히트율 신앙</a:t>
            </a:r>
          </a:p>
          <a:p>
            <a:pPr algn="l">
              <a:spcAft>
                <a:spcPts val="400"/>
              </a:spcAft>
            </a:pPr>
            <a:r>
              <a:rPr sz="1600" b="0">
                <a:solidFill>
                  <a:srgbClr val="FFFFFF"/>
                </a:solidFill>
                <a:latin typeface="맑은 고딕"/>
                <a:ea typeface="맑은 고딕"/>
              </a:rPr>
              <a:t>•  권고 맹신</a:t>
            </a:r>
          </a:p>
          <a:p>
            <a:pPr algn="l">
              <a:spcAft>
                <a:spcPts val="400"/>
              </a:spcAft>
            </a:pPr>
            <a:r>
              <a:rPr sz="1600" b="0">
                <a:solidFill>
                  <a:srgbClr val="FFFFFF"/>
                </a:solidFill>
                <a:latin typeface="맑은 고딕"/>
                <a:ea typeface="맑은 고딕"/>
              </a:rPr>
              <a:t>•  근거 없는 조치</a:t>
            </a:r>
          </a:p>
          <a:p>
            <a:pPr algn="l">
              <a:spcAft>
                <a:spcPts val="400"/>
              </a:spcAft>
            </a:pPr>
            <a:r>
              <a:rPr sz="1600" b="0">
                <a:solidFill>
                  <a:srgbClr val="FFFFFF"/>
                </a:solidFill>
                <a:latin typeface="맑은 고딕"/>
                <a:ea typeface="맑은 고딕"/>
              </a:rPr>
              <a:t>•  뿌리는 하나 — 직접 측정·판정하지 않음</a:t>
            </a:r>
          </a:p>
        </p:txBody>
      </p:sp>
    </p:spTree>
    <p:extLst>
      <p:ext uri="{BB962C8B-B14F-4D97-AF65-F5344CB8AC3E}">
        <p14:creationId xmlns:p14="http://schemas.microsoft.com/office/powerpoint/2010/main" val="3471109312"/>
      </p:ext>
    </p:extLst>
  </p:cSld>
  <p:clrMapOvr>
    <a:masterClrMapping/>
  </p:clrMapOvr>
</p:sld>
</file>

<file path=ppt/slides/slide6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rPr>
              <a:t>히트율 신앙을 경계한다</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단일 지표 하나로 결론 내지 않는다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rPr>
              <a:t>•  버퍼 캐시 히트율 99%가 건강을 뜻하지 않는다</a:t>
            </a:r>
          </a:p>
          <a:p>
            <a:pPr algn="l">
              <a:spcAft>
                <a:spcPts val="800"/>
              </a:spcAft>
            </a:pPr>
            <a:r>
              <a:rPr sz="1700" b="0">
                <a:solidFill>
                  <a:srgbClr val="222222"/>
                </a:solidFill>
                <a:latin typeface="맑은 고딕"/>
                <a:ea typeface="맑은 고딕"/>
              </a:rPr>
              <a:t>•  비효율 SQL이 같은 블록을 반복 읽으면 히트율은 오히려 오른다</a:t>
            </a:r>
          </a:p>
          <a:p>
            <a:pPr algn="l">
              <a:spcAft>
                <a:spcPts val="800"/>
              </a:spcAft>
            </a:pPr>
            <a:r>
              <a:rPr sz="1700" b="0">
                <a:solidFill>
                  <a:srgbClr val="222222"/>
                </a:solidFill>
                <a:latin typeface="맑은 고딕"/>
                <a:ea typeface="맑은 고딕"/>
              </a:rPr>
              <a:t>•  히트율이 높은데 응답시간이 나쁜 상황을 ch31에서 직접 재현</a:t>
            </a:r>
          </a:p>
          <a:p>
            <a:pPr algn="l">
              <a:spcAft>
                <a:spcPts val="800"/>
              </a:spcAft>
            </a:pPr>
            <a:r>
              <a:rPr sz="1700" b="0">
                <a:solidFill>
                  <a:srgbClr val="222222"/>
                </a:solidFill>
                <a:latin typeface="맑은 고딕"/>
                <a:ea typeface="맑은 고딕"/>
              </a:rPr>
              <a:t>•  히트율은 목표가 아니라 하나의 참고 지표</a:t>
            </a:r>
          </a:p>
        </p:txBody>
      </p:sp>
    </p:spTree>
    <p:extLst>
      <p:ext uri="{BB962C8B-B14F-4D97-AF65-F5344CB8AC3E}">
        <p14:creationId xmlns:p14="http://schemas.microsoft.com/office/powerpoint/2010/main" val="653813749"/>
      </p:ext>
    </p:extLst>
  </p:cSld>
  <p:clrMapOvr>
    <a:masterClrMapping/>
  </p:clrMapOvr>
</p:sld>
</file>

<file path=ppt/slides/slide6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rPr>
              <a:t>권고 맹신을 경계한다</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권고는 결론이 아니라 가설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rPr>
              <a:t>•  ADDM·어드바이저의 권고는 검토 후 채택할 가설</a:t>
            </a:r>
          </a:p>
          <a:p>
            <a:pPr algn="l">
              <a:spcAft>
                <a:spcPts val="800"/>
              </a:spcAft>
            </a:pPr>
            <a:r>
              <a:rPr sz="1700" b="0">
                <a:solidFill>
                  <a:srgbClr val="222222"/>
                </a:solidFill>
                <a:latin typeface="맑은 고딕"/>
                <a:ea typeface="맑은 고딕"/>
              </a:rPr>
              <a:t>•  영향도 낮은 권고에 시간 쓰거나 맥락 무시하면 해가 된다</a:t>
            </a:r>
          </a:p>
          <a:p>
            <a:pPr algn="l">
              <a:spcAft>
                <a:spcPts val="800"/>
              </a:spcAft>
            </a:pPr>
            <a:r>
              <a:rPr sz="1700" b="0">
                <a:solidFill>
                  <a:srgbClr val="222222"/>
                </a:solidFill>
                <a:latin typeface="맑은 고딕"/>
                <a:ea typeface="맑은 고딕"/>
              </a:rPr>
              <a:t>•  권고를 그대로 따르면 안 되는 사례를 ch24·ch30에서 판별</a:t>
            </a:r>
          </a:p>
          <a:p>
            <a:pPr algn="l">
              <a:spcAft>
                <a:spcPts val="800"/>
              </a:spcAft>
            </a:pPr>
            <a:r>
              <a:rPr sz="1700" b="0">
                <a:solidFill>
                  <a:srgbClr val="222222"/>
                </a:solidFill>
                <a:latin typeface="맑은 고딕"/>
                <a:ea typeface="맑은 고딕"/>
              </a:rPr>
              <a:t>•  '왜 이 권고인가(근거)'와 '내 상황에 맞는가'를 본 뒤 채택</a:t>
            </a:r>
          </a:p>
        </p:txBody>
      </p:sp>
    </p:spTree>
    <p:extLst>
      <p:ext uri="{BB962C8B-B14F-4D97-AF65-F5344CB8AC3E}">
        <p14:creationId xmlns:p14="http://schemas.microsoft.com/office/powerpoint/2010/main" val="3831051823"/>
      </p:ext>
    </p:extLst>
  </p:cSld>
  <p:clrMapOvr>
    <a:masterClrMapping/>
  </p:clrMapOvr>
</p:sld>
</file>

<file path=ppt/slides/slide6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rPr>
              <a:t>근거 없는 조치를 경계한다</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조치 전 캡처 없는 튜닝은 도박</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rPr>
              <a:t>•  조치 전 상태를 캡처하지 않으면 성공·실패를 증명 못 한다</a:t>
            </a:r>
          </a:p>
          <a:p>
            <a:pPr algn="l">
              <a:spcAft>
                <a:spcPts val="800"/>
              </a:spcAft>
            </a:pPr>
            <a:r>
              <a:rPr sz="1700" b="0">
                <a:solidFill>
                  <a:srgbClr val="222222"/>
                </a:solidFill>
                <a:latin typeface="맑은 고딕"/>
                <a:ea typeface="맑은 고딕"/>
              </a:rPr>
              <a:t>•  모든 실습 트랜스크립트는 '조치 전 → 조치 → 조치 후' 3단 캡처</a:t>
            </a:r>
          </a:p>
          <a:p>
            <a:pPr algn="l">
              <a:spcAft>
                <a:spcPts val="800"/>
              </a:spcAft>
            </a:pPr>
            <a:r>
              <a:rPr sz="1700" b="0">
                <a:solidFill>
                  <a:srgbClr val="222222"/>
                </a:solidFill>
                <a:latin typeface="맑은 고딕"/>
                <a:ea typeface="맑은 고딕"/>
              </a:rPr>
              <a:t>•  한 번에 하나만 바꾸고 같은 지표를 같은 방식으로 재측정</a:t>
            </a:r>
          </a:p>
          <a:p>
            <a:pPr algn="l">
              <a:spcAft>
                <a:spcPts val="800"/>
              </a:spcAft>
            </a:pPr>
            <a:r>
              <a:rPr sz="1700" b="0">
                <a:solidFill>
                  <a:srgbClr val="222222"/>
                </a:solidFill>
                <a:latin typeface="맑은 고딕"/>
                <a:ea typeface="맑은 고딕"/>
              </a:rPr>
              <a:t>•  채택하지 않은 권고의 이유도 기록한다</a:t>
            </a:r>
          </a:p>
        </p:txBody>
      </p:sp>
    </p:spTree>
    <p:extLst>
      <p:ext uri="{BB962C8B-B14F-4D97-AF65-F5344CB8AC3E}">
        <p14:creationId xmlns:p14="http://schemas.microsoft.com/office/powerpoint/2010/main" val="4153748092"/>
      </p:ext>
    </p:extLst>
  </p:cSld>
  <p:clrMapOvr>
    <a:masterClrMapping/>
  </p:clrMapOvr>
</p:sld>
</file>

<file path=ppt/slides/slide6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rPr>
              <a:t>퀴즈 (Quiz)</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600"/>
              </a:spcAft>
            </a:pPr>
            <a:r>
              <a:rPr sz="1600" b="0">
                <a:solidFill>
                  <a:srgbClr val="222222"/>
                </a:solidFill>
                <a:latin typeface="맑은 고딕"/>
                <a:ea typeface="맑은 고딕"/>
              </a:rPr>
              <a:t>•  Q1. 응답시간과 처리량의 차이를 각각 한 줄로 설명하고, 상충하는 예를 하나 들어라.</a:t>
            </a:r>
          </a:p>
          <a:p>
            <a:pPr algn="l">
              <a:spcAft>
                <a:spcPts val="600"/>
              </a:spcAft>
            </a:pPr>
            <a:r>
              <a:rPr sz="1600" b="0">
                <a:solidFill>
                  <a:srgbClr val="222222"/>
                </a:solidFill>
                <a:latin typeface="맑은 고딕"/>
                <a:ea typeface="맑은 고딕"/>
              </a:rPr>
              <a:t>•  Q2. 'DB Time = DB CPU + 대기'가 실측(49,551,722 / 8,662,345)에서 어떻게 확인되는가?</a:t>
            </a:r>
          </a:p>
          <a:p>
            <a:pPr algn="l">
              <a:spcAft>
                <a:spcPts val="600"/>
              </a:spcAft>
            </a:pPr>
            <a:r>
              <a:rPr sz="1600" b="0">
                <a:solidFill>
                  <a:srgbClr val="222222"/>
                </a:solidFill>
                <a:latin typeface="맑은 고딕"/>
                <a:ea typeface="맑은 고딕"/>
              </a:rPr>
              <a:t>•  Q3. '지금 느리다'와 '어제 오후 2시'에 각각 V$·AWR·ADDM·ASH 중 무엇을 먼저 쓰는가?</a:t>
            </a:r>
          </a:p>
          <a:p>
            <a:pPr algn="l">
              <a:spcAft>
                <a:spcPts val="600"/>
              </a:spcAft>
            </a:pPr>
            <a:r>
              <a:rPr sz="1600" b="0">
                <a:solidFill>
                  <a:srgbClr val="222222"/>
                </a:solidFill>
                <a:latin typeface="맑은 고딕"/>
                <a:ea typeface="맑은 고딕"/>
              </a:rPr>
              <a:t>•  Q4. AWR·ADDM·ASH의 관리 팩은? 라이선스 없을 때 대안 경로 두 가지는?</a:t>
            </a:r>
          </a:p>
          <a:p>
            <a:pPr algn="l">
              <a:spcAft>
                <a:spcPts val="600"/>
              </a:spcAft>
            </a:pPr>
            <a:r>
              <a:rPr sz="1600" b="0">
                <a:solidFill>
                  <a:srgbClr val="222222"/>
                </a:solidFill>
                <a:latin typeface="맑은 고딕"/>
                <a:ea typeface="맑은 고딕"/>
              </a:rPr>
              <a:t>•  Q5. CONTROL_MANAGEMENT_PACK_ACCESS=DIAGNOSTIC+TUNING이면 곧 라이선스 보유인가?</a:t>
            </a:r>
          </a:p>
          <a:p>
            <a:pPr algn="l">
              <a:spcAft>
                <a:spcPts val="600"/>
              </a:spcAft>
            </a:pPr>
            <a:r>
              <a:rPr sz="1600" b="0">
                <a:solidFill>
                  <a:srgbClr val="222222"/>
                </a:solidFill>
                <a:latin typeface="맑은 고딕"/>
                <a:ea typeface="맑은 고딕"/>
              </a:rPr>
              <a:t>•  Q6. 히트율 99%인데 응답시간이 나쁠 수 있는 이유는?</a:t>
            </a:r>
          </a:p>
        </p:txBody>
      </p:sp>
    </p:spTree>
    <p:extLst>
      <p:ext uri="{BB962C8B-B14F-4D97-AF65-F5344CB8AC3E}">
        <p14:creationId xmlns:p14="http://schemas.microsoft.com/office/powerpoint/2010/main" val="458168423"/>
      </p:ext>
    </p:extLst>
  </p:cSld>
  <p:clrMapOvr>
    <a:masterClrMapping/>
  </p:clrMapOvr>
</p:sld>
</file>

<file path=ppt/slides/slide6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rPr>
              <a:t>요약 (Summary)</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600"/>
              </a:spcAft>
            </a:pPr>
            <a:r>
              <a:rPr sz="1600" b="0">
                <a:solidFill>
                  <a:srgbClr val="222222"/>
                </a:solidFill>
                <a:latin typeface="맑은 고딕"/>
                <a:ea typeface="맑은 고딕"/>
              </a:rPr>
              <a:t>•  성능은 응답시간·처리량 두 축으로 재고, 목표는 수치로 정의해야 판정 가능하다.</a:t>
            </a:r>
          </a:p>
          <a:p>
            <a:pPr algn="l">
              <a:spcAft>
                <a:spcPts val="600"/>
              </a:spcAft>
            </a:pPr>
            <a:r>
              <a:rPr sz="1600" b="0">
                <a:solidFill>
                  <a:srgbClr val="222222"/>
                </a:solidFill>
                <a:latin typeface="맑은 고딕"/>
                <a:ea typeface="맑은 고딕"/>
              </a:rPr>
              <a:t>•  튜닝은 사전 예방적 모니터링과 병목 제거. 근거 없이 만지는 것은 도박이다.</a:t>
            </a:r>
          </a:p>
          <a:p>
            <a:pPr algn="l">
              <a:spcAft>
                <a:spcPts val="600"/>
              </a:spcAft>
            </a:pPr>
            <a:r>
              <a:rPr sz="1600" b="0">
                <a:solidFill>
                  <a:srgbClr val="222222"/>
                </a:solidFill>
                <a:latin typeface="맑은 고딕"/>
                <a:ea typeface="맑은 고딕"/>
              </a:rPr>
              <a:t>•  증상과 원인을 혼동하지 않는다. 대기는 어디를 볼지 알려줄 뿐이다.</a:t>
            </a:r>
          </a:p>
          <a:p>
            <a:pPr algn="l">
              <a:spcAft>
                <a:spcPts val="600"/>
              </a:spcAft>
            </a:pPr>
            <a:r>
              <a:rPr sz="1600" b="0">
                <a:solidFill>
                  <a:srgbClr val="222222"/>
                </a:solidFill>
                <a:latin typeface="맑은 고딕"/>
                <a:ea typeface="맑은 고딕"/>
              </a:rPr>
              <a:t>•  DB Time은 공통 화폐. 실측 CPU 약 17.5%, 나머지가 대기. 모든 진단의 출발점.</a:t>
            </a:r>
          </a:p>
          <a:p>
            <a:pPr algn="l">
              <a:spcAft>
                <a:spcPts val="600"/>
              </a:spcAft>
            </a:pPr>
            <a:r>
              <a:rPr sz="1600" b="0">
                <a:solidFill>
                  <a:srgbClr val="222222"/>
                </a:solidFill>
                <a:latin typeface="맑은 고딕"/>
                <a:ea typeface="맑은 고딕"/>
              </a:rPr>
              <a:t>•  도구: 실시간 V$ / 지나간 구간 AWR / 자동 진단 ADDM / 스파이크 ASH / 조치 Advisor.</a:t>
            </a:r>
          </a:p>
          <a:p>
            <a:pPr algn="l">
              <a:spcAft>
                <a:spcPts val="600"/>
              </a:spcAft>
            </a:pPr>
            <a:r>
              <a:rPr sz="1600" b="0">
                <a:solidFill>
                  <a:srgbClr val="222222"/>
                </a:solidFill>
                <a:latin typeface="맑은 고딕"/>
                <a:ea typeface="맑은 고딕"/>
              </a:rPr>
              <a:t>•  AWR·ADDM·ASH=Diagnostics Pack, Advisor·SPA=Tuning Pack. 없으면 V$·Statspack.</a:t>
            </a:r>
          </a:p>
          <a:p>
            <a:pPr algn="l">
              <a:spcAft>
                <a:spcPts val="600"/>
              </a:spcAft>
            </a:pPr>
            <a:r>
              <a:rPr sz="1600" b="0">
                <a:solidFill>
                  <a:srgbClr val="222222"/>
                </a:solidFill>
                <a:latin typeface="맑은 고딕"/>
                <a:ea typeface="맑은 고딕"/>
              </a:rPr>
              <a:t>•  세 가지 경계: 히트율 신앙 · 권고 맹신 · 근거 없는 조치.</a:t>
            </a:r>
          </a:p>
        </p:txBody>
      </p:sp>
    </p:spTree>
    <p:extLst>
      <p:ext uri="{BB962C8B-B14F-4D97-AF65-F5344CB8AC3E}">
        <p14:creationId xmlns:p14="http://schemas.microsoft.com/office/powerpoint/2010/main" val="4144341254"/>
      </p:ext>
    </p:extLst>
  </p:cSld>
  <p:clrMapOvr>
    <a:masterClrMapping/>
  </p:clrMapOvr>
</p:sld>
</file>

<file path=ppt/slides/slide6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rPr>
              <a:t>실습 01 개요 (Practice Overview)</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600"/>
              </a:spcAft>
            </a:pPr>
            <a:r>
              <a:rPr sz="1600" b="0">
                <a:solidFill>
                  <a:srgbClr val="222222"/>
                </a:solidFill>
                <a:latin typeface="맑은 고딕"/>
                <a:ea typeface="맑은 고딕"/>
              </a:rPr>
              <a:t>•  실습 01 — 응답시간과 처리량 지표 확인(V$SYS_TIME_MODEL / V$SYSMETRIC)</a:t>
            </a:r>
          </a:p>
          <a:p>
            <a:pPr algn="l">
              <a:spcAft>
                <a:spcPts val="600"/>
              </a:spcAft>
            </a:pPr>
            <a:r>
              <a:rPr sz="1600" b="0">
                <a:solidFill>
                  <a:srgbClr val="222222"/>
                </a:solidFill>
                <a:latin typeface="맑은 고딕"/>
                <a:ea typeface="맑은 고딕"/>
              </a:rPr>
              <a:t>•  실습 02 — 성능 도구 지도 진입점(V$·AWR·ADDM·ASH·Advisor)</a:t>
            </a:r>
          </a:p>
          <a:p>
            <a:pPr algn="l">
              <a:spcAft>
                <a:spcPts val="600"/>
              </a:spcAft>
            </a:pPr>
            <a:r>
              <a:rPr sz="1600" b="0">
                <a:solidFill>
                  <a:srgbClr val="222222"/>
                </a:solidFill>
                <a:latin typeface="맑은 고딕"/>
                <a:ea typeface="맑은 고딕"/>
              </a:rPr>
              <a:t>•  실습 03 — 라이선스 확인(DBA_FEATURE_USAGE_STATISTICS / CONTROL_MANAGEMENT_PACK_ACCESS)</a:t>
            </a:r>
          </a:p>
          <a:p>
            <a:pPr algn="l">
              <a:spcAft>
                <a:spcPts val="600"/>
              </a:spcAft>
            </a:pPr>
            <a:r>
              <a:rPr sz="1600" b="0">
                <a:solidFill>
                  <a:srgbClr val="222222"/>
                </a:solidFill>
                <a:latin typeface="맑은 고딕"/>
                <a:ea typeface="맑은 고딕"/>
              </a:rPr>
              <a:t>•  실습 04 — 튜닝 목표 수치 정의(상위 부하 SQL 현재값·목표값)</a:t>
            </a:r>
          </a:p>
          <a:p>
            <a:pPr algn="l">
              <a:spcAft>
                <a:spcPts val="600"/>
              </a:spcAft>
            </a:pPr>
            <a:r>
              <a:rPr sz="1600" b="0">
                <a:solidFill>
                  <a:srgbClr val="222222"/>
                </a:solidFill>
                <a:latin typeface="맑은 고딕"/>
                <a:ea typeface="맑은 고딕"/>
              </a:rPr>
              <a:t>•  실습 05 — 진료비 스키마 환경 점검(전 챕터 공통 기준선)</a:t>
            </a:r>
          </a:p>
          <a:p>
            <a:pPr algn="l">
              <a:spcAft>
                <a:spcPts val="600"/>
              </a:spcAft>
            </a:pPr>
            <a:r>
              <a:rPr sz="1600" b="0">
                <a:solidFill>
                  <a:srgbClr val="222222"/>
                </a:solidFill>
                <a:latin typeface="맑은 고딕"/>
                <a:ea typeface="맑은 고딕"/>
              </a:rPr>
              <a:t>•  ※ 환경: non-CDB orcl 19.3, 프롬프트 SYS@orcl&gt; / SQLT@orcl&gt;</a:t>
            </a:r>
          </a:p>
          <a:p>
            <a:pPr algn="l">
              <a:spcAft>
                <a:spcPts val="600"/>
              </a:spcAft>
            </a:pPr>
            <a:r>
              <a:rPr sz="1600" b="0">
                <a:solidFill>
                  <a:srgbClr val="222222"/>
                </a:solidFill>
                <a:latin typeface="맑은 고딕"/>
                <a:ea typeface="맑은 고딕"/>
              </a:rPr>
              <a:t>•  ※ 각 실습에 '조치 전 → 조치·조회 → 결과 해석' + '이상 징후→원인→조치' 흐름 포함</a:t>
            </a:r>
          </a:p>
        </p:txBody>
      </p:sp>
    </p:spTree>
    <p:extLst>
      <p:ext uri="{BB962C8B-B14F-4D97-AF65-F5344CB8AC3E}">
        <p14:creationId xmlns:p14="http://schemas.microsoft.com/office/powerpoint/2010/main" val="1406888726"/>
      </p:ext>
    </p:extLst>
  </p:cSld>
  <p:clrMapOvr>
    <a:masterClrMapping/>
  </p:clrMapOvr>
</p:sld>
</file>

<file path=ppt/slides/slide6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457200"/>
            <a:ext cx="10698480" cy="548640"/>
          </a:xfrm>
          <a:prstGeom prst="rect">
            <a:avLst/>
          </a:prstGeom>
          <a:noFill/>
        </p:spPr>
        <p:txBody>
          <a:bodyPr wrap="square">
            <a:spAutoFit/>
          </a:bodyPr>
          <a:lstStyle/>
          <a:p>
            <a:pPr algn="l"/>
            <a:r>
              <a:rPr sz="1600" b="1">
                <a:solidFill>
                  <a:srgbClr val="FFFFFF"/>
                </a:solidFill>
                <a:latin typeface="맑은 고딕"/>
              </a:rPr>
              <a:t>Oracle Database 19c 성능 튜닝 실무 과정</a:t>
            </a:r>
          </a:p>
        </p:txBody>
      </p:sp>
      <p:sp>
        <p:nvSpPr>
          <p:cNvPr id="6" name="TextBox 5"/>
          <p:cNvSpPr txBox="1"/>
          <p:nvPr/>
        </p:nvSpPr>
        <p:spPr>
          <a:xfrm>
            <a:off x="731520" y="2377440"/>
            <a:ext cx="10698480" cy="1554480"/>
          </a:xfrm>
          <a:prstGeom prst="rect">
            <a:avLst/>
          </a:prstGeom>
          <a:noFill/>
        </p:spPr>
        <p:txBody>
          <a:bodyPr wrap="square">
            <a:spAutoFit/>
          </a:bodyPr>
          <a:lstStyle/>
          <a:p>
            <a:pPr algn="l"/>
            <a:r>
              <a:rPr sz="3400" b="1">
                <a:solidFill>
                  <a:srgbClr val="C0392B"/>
                </a:solidFill>
                <a:latin typeface="맑은 고딕"/>
              </a:rPr>
              <a:t>성능을 고려한 설계와 개발</a:t>
            </a:r>
          </a:p>
          <a:p>
            <a:pPr algn="l"/>
            <a:r>
              <a:rPr sz="2000" b="0">
                <a:solidFill>
                  <a:srgbClr val="5A6672"/>
                </a:solidFill>
                <a:latin typeface="맑은 고딕"/>
              </a:rPr>
              <a:t>Designing and Developing for Performance — 성능은 설계에서 결정된다</a:t>
            </a:r>
          </a:p>
        </p:txBody>
      </p:sp>
      <p:sp>
        <p:nvSpPr>
          <p:cNvPr id="7" name="TextBox 6"/>
          <p:cNvSpPr txBox="1"/>
          <p:nvPr/>
        </p:nvSpPr>
        <p:spPr>
          <a:xfrm>
            <a:off x="731520" y="4114800"/>
            <a:ext cx="10698480" cy="1097280"/>
          </a:xfrm>
          <a:prstGeom prst="rect">
            <a:avLst/>
          </a:prstGeom>
          <a:noFill/>
        </p:spPr>
        <p:txBody>
          <a:bodyPr wrap="square">
            <a:spAutoFit/>
          </a:bodyPr>
          <a:lstStyle/>
          <a:p>
            <a:pPr algn="l"/>
            <a:r>
              <a:rPr sz="1500" b="0">
                <a:solidFill>
                  <a:srgbClr val="5A6672"/>
                </a:solidFill>
                <a:latin typeface="맑은 고딕"/>
              </a:rPr>
              <a:t>확장성 · 바인드 변수와 커서 공유 · 커넥션 비용 · 배열 처리 · 배포 전 워크로드 테스트</a:t>
            </a:r>
          </a:p>
        </p:txBody>
      </p:sp>
      <p:sp>
        <p:nvSpPr>
          <p:cNvPr id="8" name="TextBox 7"/>
          <p:cNvSpPr txBox="1"/>
          <p:nvPr/>
        </p:nvSpPr>
        <p:spPr>
          <a:xfrm>
            <a:off x="731520" y="5577840"/>
            <a:ext cx="10698480" cy="914400"/>
          </a:xfrm>
          <a:prstGeom prst="rect">
            <a:avLst/>
          </a:prstGeom>
          <a:noFill/>
        </p:spPr>
        <p:txBody>
          <a:bodyPr wrap="square">
            <a:spAutoFit/>
          </a:bodyPr>
          <a:lstStyle/>
          <a:p>
            <a:pPr algn="l"/>
            <a:r>
              <a:rPr sz="2000" b="1">
                <a:solidFill>
                  <a:srgbClr val="C0392B"/>
                </a:solidFill>
                <a:latin typeface="맑은 고딕"/>
              </a:rPr>
              <a:t>ch16</a:t>
            </a:r>
          </a:p>
        </p:txBody>
      </p:sp>
    </p:spTree>
    <p:extLst>
      <p:ext uri="{BB962C8B-B14F-4D97-AF65-F5344CB8AC3E}">
        <p14:creationId xmlns:p14="http://schemas.microsoft.com/office/powerpoint/2010/main" val="2409624647"/>
      </p:ext>
    </p:extLst>
  </p:cSld>
  <p:clrMapOvr>
    <a:masterClrMapping/>
  </p:clrMapOvr>
</p:sld>
</file>

<file path=ppt/slides/slide6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학습 목표 (Objectives)</a:t>
            </a:r>
          </a:p>
        </p:txBody>
      </p:sp>
      <p:sp>
        <p:nvSpPr>
          <p:cNvPr id="4" name="TextBox 3"/>
          <p:cNvSpPr txBox="1"/>
          <p:nvPr/>
        </p:nvSpPr>
        <p:spPr>
          <a:xfrm>
            <a:off x="640080" y="1371600"/>
            <a:ext cx="10881360" cy="5120640"/>
          </a:xfrm>
          <a:prstGeom prst="rect">
            <a:avLst/>
          </a:prstGeom>
          <a:noFill/>
        </p:spPr>
        <p:txBody>
          <a:bodyPr wrap="square">
            <a:spAutoFit/>
          </a:bodyPr>
          <a:lstStyle/>
          <a:p>
            <a:pPr algn="l"/>
            <a:r>
              <a:rPr sz="1600" b="0">
                <a:solidFill>
                  <a:srgbClr val="222222"/>
                </a:solidFill>
                <a:latin typeface="맑은 고딕"/>
              </a:rPr>
              <a:t>•  확장성을 정의하고 확장성을 저해하는 요소를 애플리케이션 설계 관점에서 설명한다.</a:t>
            </a:r>
          </a:p>
          <a:p>
            <a:pPr algn="l"/>
            <a:r>
              <a:rPr sz="1600" b="0">
                <a:solidFill>
                  <a:srgbClr val="222222"/>
                </a:solidFill>
                <a:latin typeface="맑은 고딕"/>
              </a:rPr>
              <a:t>•  하드 파싱과 소프트 파싱의 차이를 알고, 리터럴 SQL이 왜 하드 파싱을 유발하는지 이해한다.</a:t>
            </a:r>
          </a:p>
          <a:p>
            <a:pPr algn="l"/>
            <a:r>
              <a:rPr sz="1600" b="0">
                <a:solidFill>
                  <a:srgbClr val="222222"/>
                </a:solidFill>
                <a:latin typeface="맑은 고딕"/>
              </a:rPr>
              <a:t>•  바인드 변수로 커서를 공유하는 원리를 실측(리터럴 300 → 300 / 바인드 300 → 0)으로 확인한다.</a:t>
            </a:r>
          </a:p>
          <a:p>
            <a:pPr algn="l"/>
            <a:r>
              <a:rPr sz="1600" b="0">
                <a:solidFill>
                  <a:srgbClr val="222222"/>
                </a:solidFill>
                <a:latin typeface="맑은 고딕"/>
              </a:rPr>
              <a:t>•  CURSOR_SHARING(EXACT/FORCE)의 동작과 부작용을 설명한다.</a:t>
            </a:r>
          </a:p>
          <a:p>
            <a:pPr algn="l"/>
            <a:r>
              <a:rPr sz="1600" b="0">
                <a:solidFill>
                  <a:srgbClr val="222222"/>
                </a:solidFill>
                <a:latin typeface="맑은 고딕"/>
              </a:rPr>
              <a:t>•  커넥션을 매 요청마다 여는 비용을 이해하고 커넥션 풀링의 필요성을 안다.</a:t>
            </a:r>
          </a:p>
          <a:p>
            <a:pPr algn="l"/>
            <a:r>
              <a:rPr sz="1600" b="0">
                <a:solidFill>
                  <a:srgbClr val="222222"/>
                </a:solidFill>
                <a:latin typeface="맑은 고딕"/>
              </a:rPr>
              <a:t>•  arraysize가 왕복과 논리 읽기에 미치는 영향을 계산으로 설명한다.</a:t>
            </a:r>
          </a:p>
          <a:p>
            <a:pPr algn="l"/>
            <a:r>
              <a:rPr sz="1600" b="0">
                <a:solidFill>
                  <a:srgbClr val="222222"/>
                </a:solidFill>
                <a:latin typeface="맑은 고딕"/>
              </a:rPr>
              <a:t>•  배포 전 워크로드 테스트의 규칙과 배포 전략(Big Bang·Trickle)을 안다.</a:t>
            </a:r>
          </a:p>
        </p:txBody>
      </p:sp>
    </p:spTree>
    <p:extLst>
      <p:ext uri="{BB962C8B-B14F-4D97-AF65-F5344CB8AC3E}">
        <p14:creationId xmlns:p14="http://schemas.microsoft.com/office/powerpoint/2010/main" val="2215387861"/>
      </p:ext>
    </p:extLst>
  </p:cSld>
  <p:clrMapOvr>
    <a:masterClrMapping/>
  </p:clrMapOvr>
</p:sld>
</file>

<file path=ppt/slides/slide6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이 장의 구성 (Agenda)</a:t>
            </a:r>
          </a:p>
        </p:txBody>
      </p:sp>
      <p:sp>
        <p:nvSpPr>
          <p:cNvPr id="4" name="TextBox 3"/>
          <p:cNvSpPr txBox="1"/>
          <p:nvPr/>
        </p:nvSpPr>
        <p:spPr>
          <a:xfrm>
            <a:off x="640080" y="1371600"/>
            <a:ext cx="10881360" cy="1815882"/>
          </a:xfrm>
          <a:prstGeom prst="rect">
            <a:avLst/>
          </a:prstGeom>
          <a:noFill/>
        </p:spPr>
        <p:txBody>
          <a:bodyPr wrap="square">
            <a:spAutoFit/>
          </a:bodyPr>
          <a:lstStyle/>
          <a:p>
            <a:pPr algn="l"/>
            <a:r>
              <a:rPr sz="1600" b="0" dirty="0">
                <a:solidFill>
                  <a:srgbClr val="222222"/>
                </a:solidFill>
                <a:latin typeface="맑은 고딕"/>
              </a:rPr>
              <a:t>•  </a:t>
            </a:r>
            <a:r>
              <a:rPr lang="en-US" sz="1600" b="0" dirty="0">
                <a:solidFill>
                  <a:srgbClr val="222222"/>
                </a:solidFill>
                <a:latin typeface="맑은 고딕"/>
              </a:rPr>
              <a:t>16</a:t>
            </a:r>
            <a:r>
              <a:rPr sz="1600" b="0" dirty="0">
                <a:solidFill>
                  <a:srgbClr val="222222"/>
                </a:solidFill>
                <a:latin typeface="맑은 고딕"/>
              </a:rPr>
              <a:t>.2  </a:t>
            </a:r>
            <a:r>
              <a:rPr sz="1600" b="0" dirty="0" err="1">
                <a:solidFill>
                  <a:srgbClr val="222222"/>
                </a:solidFill>
                <a:latin typeface="맑은 고딕"/>
              </a:rPr>
              <a:t>확장성</a:t>
            </a:r>
            <a:r>
              <a:rPr sz="1600" b="0" dirty="0">
                <a:solidFill>
                  <a:srgbClr val="222222"/>
                </a:solidFill>
                <a:latin typeface="맑은 고딕"/>
              </a:rPr>
              <a:t> — </a:t>
            </a:r>
            <a:r>
              <a:rPr sz="1600" b="0" dirty="0" err="1">
                <a:solidFill>
                  <a:srgbClr val="222222"/>
                </a:solidFill>
                <a:latin typeface="맑은 고딕"/>
              </a:rPr>
              <a:t>무엇이</a:t>
            </a:r>
            <a:r>
              <a:rPr sz="1600" b="0" dirty="0">
                <a:solidFill>
                  <a:srgbClr val="222222"/>
                </a:solidFill>
                <a:latin typeface="맑은 고딕"/>
              </a:rPr>
              <a:t> </a:t>
            </a:r>
            <a:r>
              <a:rPr sz="1600" b="0" dirty="0" err="1">
                <a:solidFill>
                  <a:srgbClr val="222222"/>
                </a:solidFill>
                <a:latin typeface="맑은 고딕"/>
              </a:rPr>
              <a:t>시스템을</a:t>
            </a:r>
            <a:r>
              <a:rPr sz="1600" b="0" dirty="0">
                <a:solidFill>
                  <a:srgbClr val="222222"/>
                </a:solidFill>
                <a:latin typeface="맑은 고딕"/>
              </a:rPr>
              <a:t> 못 </a:t>
            </a:r>
            <a:r>
              <a:rPr sz="1600" b="0" dirty="0" err="1">
                <a:solidFill>
                  <a:srgbClr val="222222"/>
                </a:solidFill>
                <a:latin typeface="맑은 고딕"/>
              </a:rPr>
              <a:t>늘어나게</a:t>
            </a:r>
            <a:r>
              <a:rPr sz="1600" b="0" dirty="0">
                <a:solidFill>
                  <a:srgbClr val="222222"/>
                </a:solidFill>
                <a:latin typeface="맑은 고딕"/>
              </a:rPr>
              <a:t> </a:t>
            </a:r>
            <a:r>
              <a:rPr sz="1600" b="0" dirty="0" err="1">
                <a:solidFill>
                  <a:srgbClr val="222222"/>
                </a:solidFill>
                <a:latin typeface="맑은 고딕"/>
              </a:rPr>
              <a:t>하는가</a:t>
            </a:r>
            <a:endParaRPr sz="1600" b="0" dirty="0">
              <a:solidFill>
                <a:srgbClr val="222222"/>
              </a:solidFill>
              <a:latin typeface="맑은 고딕"/>
            </a:endParaRPr>
          </a:p>
          <a:p>
            <a:pPr algn="l"/>
            <a:r>
              <a:rPr sz="1600" b="0" dirty="0">
                <a:solidFill>
                  <a:srgbClr val="222222"/>
                </a:solidFill>
                <a:latin typeface="맑은 고딕"/>
              </a:rPr>
              <a:t>•  </a:t>
            </a:r>
            <a:r>
              <a:rPr lang="en-US" sz="1600" b="0" dirty="0">
                <a:solidFill>
                  <a:srgbClr val="222222"/>
                </a:solidFill>
                <a:latin typeface="맑은 고딕"/>
              </a:rPr>
              <a:t>16</a:t>
            </a:r>
            <a:r>
              <a:rPr sz="1600" b="0" dirty="0">
                <a:solidFill>
                  <a:srgbClr val="222222"/>
                </a:solidFill>
                <a:latin typeface="맑은 고딕"/>
              </a:rPr>
              <a:t>.3  </a:t>
            </a:r>
            <a:r>
              <a:rPr sz="1600" b="0" dirty="0" err="1">
                <a:solidFill>
                  <a:srgbClr val="222222"/>
                </a:solidFill>
                <a:latin typeface="맑은 고딕"/>
              </a:rPr>
              <a:t>바인드</a:t>
            </a:r>
            <a:r>
              <a:rPr sz="1600" b="0" dirty="0">
                <a:solidFill>
                  <a:srgbClr val="222222"/>
                </a:solidFill>
                <a:latin typeface="맑은 고딕"/>
              </a:rPr>
              <a:t> </a:t>
            </a:r>
            <a:r>
              <a:rPr sz="1600" b="0" dirty="0" err="1">
                <a:solidFill>
                  <a:srgbClr val="222222"/>
                </a:solidFill>
                <a:latin typeface="맑은 고딕"/>
              </a:rPr>
              <a:t>변수와</a:t>
            </a:r>
            <a:r>
              <a:rPr sz="1600" b="0" dirty="0">
                <a:solidFill>
                  <a:srgbClr val="222222"/>
                </a:solidFill>
                <a:latin typeface="맑은 고딕"/>
              </a:rPr>
              <a:t> </a:t>
            </a:r>
            <a:r>
              <a:rPr sz="1600" b="0" dirty="0" err="1">
                <a:solidFill>
                  <a:srgbClr val="222222"/>
                </a:solidFill>
                <a:latin typeface="맑은 고딕"/>
              </a:rPr>
              <a:t>커서</a:t>
            </a:r>
            <a:r>
              <a:rPr sz="1600" b="0" dirty="0">
                <a:solidFill>
                  <a:srgbClr val="222222"/>
                </a:solidFill>
                <a:latin typeface="맑은 고딕"/>
              </a:rPr>
              <a:t> </a:t>
            </a:r>
            <a:r>
              <a:rPr sz="1600" b="0" dirty="0" err="1">
                <a:solidFill>
                  <a:srgbClr val="222222"/>
                </a:solidFill>
                <a:latin typeface="맑은 고딕"/>
              </a:rPr>
              <a:t>공유</a:t>
            </a:r>
            <a:r>
              <a:rPr sz="1600" b="0" dirty="0">
                <a:solidFill>
                  <a:srgbClr val="222222"/>
                </a:solidFill>
                <a:latin typeface="맑은 고딕"/>
              </a:rPr>
              <a:t> — </a:t>
            </a:r>
            <a:r>
              <a:rPr sz="1600" b="0" dirty="0" err="1">
                <a:solidFill>
                  <a:srgbClr val="222222"/>
                </a:solidFill>
                <a:latin typeface="맑은 고딕"/>
              </a:rPr>
              <a:t>하드</a:t>
            </a:r>
            <a:r>
              <a:rPr sz="1600" b="0" dirty="0">
                <a:solidFill>
                  <a:srgbClr val="222222"/>
                </a:solidFill>
                <a:latin typeface="맑은 고딕"/>
              </a:rPr>
              <a:t> </a:t>
            </a:r>
            <a:r>
              <a:rPr sz="1600" b="0" dirty="0" err="1">
                <a:solidFill>
                  <a:srgbClr val="222222"/>
                </a:solidFill>
                <a:latin typeface="맑은 고딕"/>
              </a:rPr>
              <a:t>파싱</a:t>
            </a:r>
            <a:r>
              <a:rPr sz="1600" b="0" dirty="0">
                <a:solidFill>
                  <a:srgbClr val="222222"/>
                </a:solidFill>
                <a:latin typeface="맑은 고딕"/>
              </a:rPr>
              <a:t> </a:t>
            </a:r>
            <a:r>
              <a:rPr sz="1600" b="0" dirty="0" err="1">
                <a:solidFill>
                  <a:srgbClr val="222222"/>
                </a:solidFill>
                <a:latin typeface="맑은 고딕"/>
              </a:rPr>
              <a:t>비용</a:t>
            </a:r>
            <a:r>
              <a:rPr sz="1600" b="0" dirty="0">
                <a:solidFill>
                  <a:srgbClr val="222222"/>
                </a:solidFill>
                <a:latin typeface="맑은 고딕"/>
              </a:rPr>
              <a:t> (이 </a:t>
            </a:r>
            <a:r>
              <a:rPr sz="1600" b="0" dirty="0" err="1">
                <a:solidFill>
                  <a:srgbClr val="222222"/>
                </a:solidFill>
                <a:latin typeface="맑은 고딕"/>
              </a:rPr>
              <a:t>장의</a:t>
            </a:r>
            <a:r>
              <a:rPr sz="1600" b="0" dirty="0">
                <a:solidFill>
                  <a:srgbClr val="222222"/>
                </a:solidFill>
                <a:latin typeface="맑은 고딕"/>
              </a:rPr>
              <a:t> </a:t>
            </a:r>
            <a:r>
              <a:rPr sz="1600" b="0" dirty="0" err="1">
                <a:solidFill>
                  <a:srgbClr val="222222"/>
                </a:solidFill>
                <a:latin typeface="맑은 고딕"/>
              </a:rPr>
              <a:t>핵심</a:t>
            </a:r>
            <a:r>
              <a:rPr sz="1600" b="0" dirty="0">
                <a:solidFill>
                  <a:srgbClr val="222222"/>
                </a:solidFill>
                <a:latin typeface="맑은 고딕"/>
              </a:rPr>
              <a:t>)</a:t>
            </a:r>
          </a:p>
          <a:p>
            <a:pPr algn="l"/>
            <a:r>
              <a:rPr sz="1600" b="0" dirty="0">
                <a:solidFill>
                  <a:srgbClr val="222222"/>
                </a:solidFill>
                <a:latin typeface="맑은 고딕"/>
              </a:rPr>
              <a:t>•  </a:t>
            </a:r>
            <a:r>
              <a:rPr lang="en-US" sz="1600" b="0" dirty="0">
                <a:solidFill>
                  <a:srgbClr val="222222"/>
                </a:solidFill>
                <a:latin typeface="맑은 고딕"/>
              </a:rPr>
              <a:t>16</a:t>
            </a:r>
            <a:r>
              <a:rPr sz="1600" b="0" dirty="0">
                <a:solidFill>
                  <a:srgbClr val="222222"/>
                </a:solidFill>
                <a:latin typeface="맑은 고딕"/>
              </a:rPr>
              <a:t>.4  </a:t>
            </a:r>
            <a:r>
              <a:rPr sz="1600" b="0" dirty="0" err="1">
                <a:solidFill>
                  <a:srgbClr val="222222"/>
                </a:solidFill>
                <a:latin typeface="맑은 고딕"/>
              </a:rPr>
              <a:t>커넥션</a:t>
            </a:r>
            <a:r>
              <a:rPr sz="1600" b="0" dirty="0">
                <a:solidFill>
                  <a:srgbClr val="222222"/>
                </a:solidFill>
                <a:latin typeface="맑은 고딕"/>
              </a:rPr>
              <a:t> </a:t>
            </a:r>
            <a:r>
              <a:rPr sz="1600" b="0" dirty="0" err="1">
                <a:solidFill>
                  <a:srgbClr val="222222"/>
                </a:solidFill>
                <a:latin typeface="맑은 고딕"/>
              </a:rPr>
              <a:t>획득</a:t>
            </a:r>
            <a:r>
              <a:rPr sz="1600" b="0" dirty="0">
                <a:solidFill>
                  <a:srgbClr val="222222"/>
                </a:solidFill>
                <a:latin typeface="맑은 고딕"/>
              </a:rPr>
              <a:t> </a:t>
            </a:r>
            <a:r>
              <a:rPr sz="1600" b="0" dirty="0" err="1">
                <a:solidFill>
                  <a:srgbClr val="222222"/>
                </a:solidFill>
                <a:latin typeface="맑은 고딕"/>
              </a:rPr>
              <a:t>비용</a:t>
            </a:r>
            <a:r>
              <a:rPr sz="1600" b="0" dirty="0">
                <a:solidFill>
                  <a:srgbClr val="222222"/>
                </a:solidFill>
                <a:latin typeface="맑은 고딕"/>
              </a:rPr>
              <a:t> — </a:t>
            </a:r>
            <a:r>
              <a:rPr sz="1600" b="0" dirty="0" err="1">
                <a:solidFill>
                  <a:srgbClr val="222222"/>
                </a:solidFill>
                <a:latin typeface="맑은 고딕"/>
              </a:rPr>
              <a:t>접속은</a:t>
            </a:r>
            <a:r>
              <a:rPr sz="1600" b="0" dirty="0">
                <a:solidFill>
                  <a:srgbClr val="222222"/>
                </a:solidFill>
                <a:latin typeface="맑은 고딕"/>
              </a:rPr>
              <a:t> </a:t>
            </a:r>
            <a:r>
              <a:rPr sz="1600" b="0" dirty="0" err="1">
                <a:solidFill>
                  <a:srgbClr val="222222"/>
                </a:solidFill>
                <a:latin typeface="맑은 고딕"/>
              </a:rPr>
              <a:t>비싸다</a:t>
            </a:r>
            <a:endParaRPr sz="1600" b="0" dirty="0">
              <a:solidFill>
                <a:srgbClr val="222222"/>
              </a:solidFill>
              <a:latin typeface="맑은 고딕"/>
            </a:endParaRPr>
          </a:p>
          <a:p>
            <a:pPr algn="l"/>
            <a:r>
              <a:rPr sz="1600" b="0" dirty="0">
                <a:solidFill>
                  <a:srgbClr val="222222"/>
                </a:solidFill>
                <a:latin typeface="맑은 고딕"/>
              </a:rPr>
              <a:t>•  </a:t>
            </a:r>
            <a:r>
              <a:rPr lang="en-US" sz="1600" b="0" dirty="0">
                <a:solidFill>
                  <a:srgbClr val="222222"/>
                </a:solidFill>
                <a:latin typeface="맑은 고딕"/>
              </a:rPr>
              <a:t>16</a:t>
            </a:r>
            <a:r>
              <a:rPr sz="1600" b="0" dirty="0">
                <a:solidFill>
                  <a:srgbClr val="222222"/>
                </a:solidFill>
                <a:latin typeface="맑은 고딕"/>
              </a:rPr>
              <a:t>.5  </a:t>
            </a:r>
            <a:r>
              <a:rPr sz="1600" b="0" dirty="0" err="1">
                <a:solidFill>
                  <a:srgbClr val="222222"/>
                </a:solidFill>
                <a:latin typeface="맑은 고딕"/>
              </a:rPr>
              <a:t>배열</a:t>
            </a:r>
            <a:r>
              <a:rPr sz="1600" b="0" dirty="0">
                <a:solidFill>
                  <a:srgbClr val="222222"/>
                </a:solidFill>
                <a:latin typeface="맑은 고딕"/>
              </a:rPr>
              <a:t> </a:t>
            </a:r>
            <a:r>
              <a:rPr sz="1600" b="0" dirty="0" err="1">
                <a:solidFill>
                  <a:srgbClr val="222222"/>
                </a:solidFill>
                <a:latin typeface="맑은 고딕"/>
              </a:rPr>
              <a:t>처리와</a:t>
            </a:r>
            <a:r>
              <a:rPr sz="1600" b="0" dirty="0">
                <a:solidFill>
                  <a:srgbClr val="222222"/>
                </a:solidFill>
                <a:latin typeface="맑은 고딕"/>
              </a:rPr>
              <a:t> </a:t>
            </a:r>
            <a:r>
              <a:rPr sz="1600" b="0" dirty="0" err="1">
                <a:solidFill>
                  <a:srgbClr val="222222"/>
                </a:solidFill>
                <a:latin typeface="맑은 고딕"/>
              </a:rPr>
              <a:t>왕복</a:t>
            </a:r>
            <a:r>
              <a:rPr sz="1600" b="0" dirty="0">
                <a:solidFill>
                  <a:srgbClr val="222222"/>
                </a:solidFill>
                <a:latin typeface="맑은 고딕"/>
              </a:rPr>
              <a:t> </a:t>
            </a:r>
            <a:r>
              <a:rPr sz="1600" b="0" dirty="0" err="1">
                <a:solidFill>
                  <a:srgbClr val="222222"/>
                </a:solidFill>
                <a:latin typeface="맑은 고딕"/>
              </a:rPr>
              <a:t>횟수</a:t>
            </a:r>
            <a:r>
              <a:rPr sz="1600" b="0" dirty="0">
                <a:solidFill>
                  <a:srgbClr val="222222"/>
                </a:solidFill>
                <a:latin typeface="맑은 고딕"/>
              </a:rPr>
              <a:t> — </a:t>
            </a:r>
            <a:r>
              <a:rPr sz="1600" b="0" dirty="0" err="1">
                <a:solidFill>
                  <a:srgbClr val="222222"/>
                </a:solidFill>
                <a:latin typeface="맑은 고딕"/>
              </a:rPr>
              <a:t>arraysize</a:t>
            </a:r>
            <a:endParaRPr sz="1600" b="0" dirty="0">
              <a:solidFill>
                <a:srgbClr val="222222"/>
              </a:solidFill>
              <a:latin typeface="맑은 고딕"/>
            </a:endParaRPr>
          </a:p>
          <a:p>
            <a:pPr algn="l"/>
            <a:r>
              <a:rPr sz="1600" b="0" dirty="0">
                <a:solidFill>
                  <a:srgbClr val="222222"/>
                </a:solidFill>
                <a:latin typeface="맑은 고딕"/>
              </a:rPr>
              <a:t>•  </a:t>
            </a:r>
            <a:r>
              <a:rPr lang="en-US" sz="1600" b="0" dirty="0">
                <a:solidFill>
                  <a:srgbClr val="222222"/>
                </a:solidFill>
                <a:latin typeface="맑은 고딕"/>
              </a:rPr>
              <a:t>16</a:t>
            </a:r>
            <a:r>
              <a:rPr sz="1600" b="0" dirty="0">
                <a:solidFill>
                  <a:srgbClr val="222222"/>
                </a:solidFill>
                <a:latin typeface="맑은 고딕"/>
              </a:rPr>
              <a:t>.6  그 </a:t>
            </a:r>
            <a:r>
              <a:rPr sz="1600" b="0" dirty="0" err="1">
                <a:solidFill>
                  <a:srgbClr val="222222"/>
                </a:solidFill>
                <a:latin typeface="맑은 고딕"/>
              </a:rPr>
              <a:t>밖의</a:t>
            </a:r>
            <a:r>
              <a:rPr sz="1600" b="0" dirty="0">
                <a:solidFill>
                  <a:srgbClr val="222222"/>
                </a:solidFill>
                <a:latin typeface="맑은 고딕"/>
              </a:rPr>
              <a:t> </a:t>
            </a:r>
            <a:r>
              <a:rPr sz="1600" b="0" dirty="0" err="1">
                <a:solidFill>
                  <a:srgbClr val="222222"/>
                </a:solidFill>
                <a:latin typeface="맑은 고딕"/>
              </a:rPr>
              <a:t>애플리케이션</a:t>
            </a:r>
            <a:r>
              <a:rPr sz="1600" b="0" dirty="0">
                <a:solidFill>
                  <a:srgbClr val="222222"/>
                </a:solidFill>
                <a:latin typeface="맑은 고딕"/>
              </a:rPr>
              <a:t> </a:t>
            </a:r>
            <a:r>
              <a:rPr sz="1600" b="0" dirty="0" err="1">
                <a:solidFill>
                  <a:srgbClr val="222222"/>
                </a:solidFill>
                <a:latin typeface="맑은 고딕"/>
              </a:rPr>
              <a:t>설계</a:t>
            </a:r>
            <a:r>
              <a:rPr sz="1600" b="0" dirty="0">
                <a:solidFill>
                  <a:srgbClr val="222222"/>
                </a:solidFill>
                <a:latin typeface="맑은 고딕"/>
              </a:rPr>
              <a:t> </a:t>
            </a:r>
            <a:r>
              <a:rPr sz="1600" b="0" dirty="0" err="1">
                <a:solidFill>
                  <a:srgbClr val="222222"/>
                </a:solidFill>
                <a:latin typeface="맑은 고딕"/>
              </a:rPr>
              <a:t>원칙</a:t>
            </a:r>
            <a:endParaRPr sz="1600" b="0" dirty="0">
              <a:solidFill>
                <a:srgbClr val="222222"/>
              </a:solidFill>
              <a:latin typeface="맑은 고딕"/>
            </a:endParaRPr>
          </a:p>
          <a:p>
            <a:pPr algn="l"/>
            <a:r>
              <a:rPr sz="1600" b="0" dirty="0">
                <a:solidFill>
                  <a:srgbClr val="222222"/>
                </a:solidFill>
                <a:latin typeface="맑은 고딕"/>
              </a:rPr>
              <a:t>•  </a:t>
            </a:r>
            <a:r>
              <a:rPr lang="en-US" sz="1600" b="0" dirty="0">
                <a:solidFill>
                  <a:srgbClr val="222222"/>
                </a:solidFill>
                <a:latin typeface="맑은 고딕"/>
              </a:rPr>
              <a:t>16</a:t>
            </a:r>
            <a:r>
              <a:rPr sz="1600" b="0" dirty="0">
                <a:solidFill>
                  <a:srgbClr val="222222"/>
                </a:solidFill>
                <a:latin typeface="맑은 고딕"/>
              </a:rPr>
              <a:t>.7  </a:t>
            </a:r>
            <a:r>
              <a:rPr sz="1600" b="0" dirty="0" err="1">
                <a:solidFill>
                  <a:srgbClr val="222222"/>
                </a:solidFill>
                <a:latin typeface="맑은 고딕"/>
              </a:rPr>
              <a:t>배포</a:t>
            </a:r>
            <a:r>
              <a:rPr sz="1600" b="0" dirty="0">
                <a:solidFill>
                  <a:srgbClr val="222222"/>
                </a:solidFill>
                <a:latin typeface="맑은 고딕"/>
              </a:rPr>
              <a:t> 전 </a:t>
            </a:r>
            <a:r>
              <a:rPr sz="1600" b="0" dirty="0" err="1">
                <a:solidFill>
                  <a:srgbClr val="222222"/>
                </a:solidFill>
                <a:latin typeface="맑은 고딕"/>
              </a:rPr>
              <a:t>워크로드</a:t>
            </a:r>
            <a:r>
              <a:rPr sz="1600" b="0" dirty="0">
                <a:solidFill>
                  <a:srgbClr val="222222"/>
                </a:solidFill>
                <a:latin typeface="맑은 고딕"/>
              </a:rPr>
              <a:t> </a:t>
            </a:r>
            <a:r>
              <a:rPr sz="1600" b="0" dirty="0" err="1">
                <a:solidFill>
                  <a:srgbClr val="222222"/>
                </a:solidFill>
                <a:latin typeface="맑은 고딕"/>
              </a:rPr>
              <a:t>테스트</a:t>
            </a:r>
            <a:endParaRPr sz="1600" b="0" dirty="0">
              <a:solidFill>
                <a:srgbClr val="222222"/>
              </a:solidFill>
              <a:latin typeface="맑은 고딕"/>
            </a:endParaRPr>
          </a:p>
          <a:p>
            <a:pPr algn="l"/>
            <a:r>
              <a:rPr sz="1600" b="0" dirty="0">
                <a:solidFill>
                  <a:srgbClr val="222222"/>
                </a:solidFill>
                <a:latin typeface="맑은 고딕"/>
              </a:rPr>
              <a:t>•  </a:t>
            </a:r>
            <a:r>
              <a:rPr sz="1600" b="0" dirty="0" err="1">
                <a:solidFill>
                  <a:srgbClr val="222222"/>
                </a:solidFill>
                <a:latin typeface="맑은 고딕"/>
              </a:rPr>
              <a:t>요약</a:t>
            </a:r>
            <a:r>
              <a:rPr sz="1600" b="0" dirty="0">
                <a:solidFill>
                  <a:srgbClr val="222222"/>
                </a:solidFill>
                <a:latin typeface="맑은 고딕"/>
              </a:rPr>
              <a:t> · </a:t>
            </a:r>
            <a:r>
              <a:rPr sz="1600" b="0" dirty="0" err="1">
                <a:solidFill>
                  <a:srgbClr val="222222"/>
                </a:solidFill>
                <a:latin typeface="맑은 고딕"/>
              </a:rPr>
              <a:t>퀴즈</a:t>
            </a:r>
            <a:r>
              <a:rPr sz="1600" b="0" dirty="0">
                <a:solidFill>
                  <a:srgbClr val="222222"/>
                </a:solidFill>
                <a:latin typeface="맑은 고딕"/>
              </a:rPr>
              <a:t> · </a:t>
            </a:r>
            <a:r>
              <a:rPr sz="1600" b="0" dirty="0" err="1">
                <a:solidFill>
                  <a:srgbClr val="222222"/>
                </a:solidFill>
                <a:latin typeface="맑은 고딕"/>
              </a:rPr>
              <a:t>실습</a:t>
            </a:r>
            <a:r>
              <a:rPr sz="1600" b="0" dirty="0">
                <a:solidFill>
                  <a:srgbClr val="222222"/>
                </a:solidFill>
                <a:latin typeface="맑은 고딕"/>
              </a:rPr>
              <a:t> </a:t>
            </a:r>
            <a:r>
              <a:rPr sz="1600" b="0" dirty="0" err="1">
                <a:solidFill>
                  <a:srgbClr val="222222"/>
                </a:solidFill>
                <a:latin typeface="맑은 고딕"/>
              </a:rPr>
              <a:t>개요</a:t>
            </a:r>
            <a:endParaRPr sz="1600" b="0" dirty="0">
              <a:solidFill>
                <a:srgbClr val="222222"/>
              </a:solidFill>
              <a:latin typeface="맑은 고딕"/>
            </a:endParaRPr>
          </a:p>
        </p:txBody>
      </p:sp>
    </p:spTree>
    <p:extLst>
      <p:ext uri="{BB962C8B-B14F-4D97-AF65-F5344CB8AC3E}">
        <p14:creationId xmlns:p14="http://schemas.microsoft.com/office/powerpoint/2010/main" val="3664779476"/>
      </p:ext>
    </p:extLst>
  </p:cSld>
  <p:clrMapOvr>
    <a:masterClrMapping/>
  </p:clrMapOvr>
</p:sld>
</file>

<file path=ppt/slides/slide6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707886"/>
          </a:xfrm>
          <a:prstGeom prst="rect">
            <a:avLst/>
          </a:prstGeom>
          <a:noFill/>
        </p:spPr>
        <p:txBody>
          <a:bodyPr wrap="square">
            <a:spAutoFit/>
          </a:bodyPr>
          <a:lstStyle/>
          <a:p>
            <a:pPr algn="l"/>
            <a:r>
              <a:rPr lang="en-US" sz="4000" b="1" dirty="0">
                <a:solidFill>
                  <a:srgbClr val="FFFFFF"/>
                </a:solidFill>
                <a:latin typeface="맑은 고딕"/>
              </a:rPr>
              <a:t>16</a:t>
            </a:r>
            <a:r>
              <a:rPr sz="4000" b="1" dirty="0">
                <a:solidFill>
                  <a:srgbClr val="FFFFFF"/>
                </a:solidFill>
                <a:latin typeface="맑은 고딕"/>
              </a:rPr>
              <a:t>.2</a:t>
            </a:r>
          </a:p>
        </p:txBody>
      </p:sp>
      <p:sp>
        <p:nvSpPr>
          <p:cNvPr id="4" name="TextBox 3"/>
          <p:cNvSpPr txBox="1"/>
          <p:nvPr/>
        </p:nvSpPr>
        <p:spPr>
          <a:xfrm>
            <a:off x="822960" y="3017520"/>
            <a:ext cx="10515600" cy="914400"/>
          </a:xfrm>
          <a:prstGeom prst="rect">
            <a:avLst/>
          </a:prstGeom>
          <a:noFill/>
        </p:spPr>
        <p:txBody>
          <a:bodyPr wrap="square">
            <a:spAutoFit/>
          </a:bodyPr>
          <a:lstStyle/>
          <a:p>
            <a:pPr algn="l"/>
            <a:r>
              <a:rPr sz="2800" b="1">
                <a:solidFill>
                  <a:srgbClr val="FFFFFF"/>
                </a:solidFill>
                <a:latin typeface="맑은 고딕"/>
              </a:rPr>
              <a:t>확장성</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r>
              <a:rPr sz="1600" b="0">
                <a:solidFill>
                  <a:srgbClr val="FFFFFF"/>
                </a:solidFill>
                <a:latin typeface="맑은 고딕"/>
              </a:rPr>
              <a:t>•  확장성의 정의 — 자원을 늘린 만큼 처리 능력이 비례해 느는 성질</a:t>
            </a:r>
          </a:p>
          <a:p>
            <a:pPr algn="l"/>
            <a:r>
              <a:rPr sz="1600" b="0">
                <a:solidFill>
                  <a:srgbClr val="FFFFFF"/>
                </a:solidFill>
                <a:latin typeface="맑은 고딕"/>
              </a:rPr>
              <a:t>•  확장성을 떨어뜨리는 요소 — 애플리케이션 설계의 영향이 가장 크다</a:t>
            </a:r>
          </a:p>
          <a:p>
            <a:pPr algn="l"/>
            <a:r>
              <a:rPr sz="1600" b="0">
                <a:solidFill>
                  <a:srgbClr val="FFFFFF"/>
                </a:solidFill>
                <a:latin typeface="맑은 고딕"/>
              </a:rPr>
              <a:t>•  자원 경합과 확장 불가 애플리케이션</a:t>
            </a:r>
          </a:p>
        </p:txBody>
      </p:sp>
    </p:spTree>
    <p:extLst>
      <p:ext uri="{BB962C8B-B14F-4D97-AF65-F5344CB8AC3E}">
        <p14:creationId xmlns:p14="http://schemas.microsoft.com/office/powerpoint/2010/main" val="4262879025"/>
      </p:ext>
    </p:extLst>
  </p:cSld>
  <p:clrMapOvr>
    <a:masterClrMapping/>
  </p:clrMapOvr>
</p:sld>
</file>

<file path=ppt/slides/slide6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확장성이란 무엇인가</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rPr>
              <a:t>Scalability</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rPr>
              <a:t>•  확장성 = 자원 사용을 비례적으로 늘리며 더 많은 워크로드를 처리하는 능력</a:t>
            </a:r>
          </a:p>
          <a:p>
            <a:pPr algn="l"/>
            <a:r>
              <a:rPr sz="1700" b="0">
                <a:solidFill>
                  <a:srgbClr val="222222"/>
                </a:solidFill>
                <a:latin typeface="맑은 고딕"/>
              </a:rPr>
              <a:t>•  이상적 상태 = 선형 확장성(처리량이 CPU 수에 비례). 현실에선 불가능</a:t>
            </a:r>
          </a:p>
          <a:p>
            <a:pPr algn="l"/>
            <a:r>
              <a:rPr sz="1700" b="0">
                <a:solidFill>
                  <a:srgbClr val="222222"/>
                </a:solidFill>
                <a:latin typeface="맑은 고딕"/>
              </a:rPr>
              <a:t>•  목표는 설계를 최대한 확장 가능하게 만들어 증설만으로 목표를 달성하는 것</a:t>
            </a:r>
          </a:p>
          <a:p>
            <a:pPr algn="l"/>
            <a:r>
              <a:rPr sz="1700" b="0">
                <a:solidFill>
                  <a:srgbClr val="222222"/>
                </a:solidFill>
                <a:latin typeface="맑은 고딕"/>
              </a:rPr>
              <a:t>•  인터넷 시대 앱: 24/365 가용, 동시 사용자 예측 불가, 짧은 개발·테스트 시간</a:t>
            </a:r>
          </a:p>
        </p:txBody>
      </p:sp>
    </p:spTree>
    <p:extLst>
      <p:ext uri="{BB962C8B-B14F-4D97-AF65-F5344CB8AC3E}">
        <p14:creationId xmlns:p14="http://schemas.microsoft.com/office/powerpoint/2010/main" val="1659011795"/>
      </p:ext>
    </p:extLst>
  </p:cSld>
  <p:clrMapOvr>
    <a:masterClrMapping/>
  </p:clrMapOvr>
</p:sld>
</file>

<file path=ppt/slides/slide6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확장성을 떨어뜨리는 요소</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rPr>
              <a:t>애플리케이션 설계의 영향이 가장 크다</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rPr>
              <a:t>•  나쁜 스키마 설계 → 확장되지 않는 비싼 SQL</a:t>
            </a:r>
          </a:p>
          <a:p>
            <a:pPr algn="l"/>
            <a:r>
              <a:rPr sz="1700" b="0">
                <a:solidFill>
                  <a:srgbClr val="222222"/>
                </a:solidFill>
                <a:latin typeface="맑은 고딕"/>
              </a:rPr>
              <a:t>•  나쁜 트랜잭션 설계 → 잠금·직렬화 문제</a:t>
            </a:r>
          </a:p>
          <a:p>
            <a:pPr algn="l"/>
            <a:r>
              <a:rPr sz="1700" b="0">
                <a:solidFill>
                  <a:srgbClr val="222222"/>
                </a:solidFill>
                <a:latin typeface="맑은 고딕"/>
              </a:rPr>
              <a:t>•  나쁜 커넥션 관리 → 나쁜 응답시간·불안정</a:t>
            </a:r>
          </a:p>
          <a:p>
            <a:pPr algn="l"/>
            <a:r>
              <a:rPr sz="1700" b="0">
                <a:solidFill>
                  <a:srgbClr val="222222"/>
                </a:solidFill>
                <a:latin typeface="맑은 고딕"/>
              </a:rPr>
              <a:t>•  물리 구현: 나쁜 I/O 전략, 테스트와 다른 실행계획, 과도한 메모리 사용</a:t>
            </a:r>
          </a:p>
          <a:p>
            <a:pPr algn="l"/>
            <a:r>
              <a:rPr sz="1700" b="0">
                <a:solidFill>
                  <a:srgbClr val="222222"/>
                </a:solidFill>
                <a:latin typeface="맑은 고딕"/>
              </a:rPr>
              <a:t>•  하드웨어·소프트웨어 한계도 있지만 통제하기 쉬움 → 설계가 관건</a:t>
            </a:r>
          </a:p>
        </p:txBody>
      </p:sp>
    </p:spTree>
    <p:extLst>
      <p:ext uri="{BB962C8B-B14F-4D97-AF65-F5344CB8AC3E}">
        <p14:creationId xmlns:p14="http://schemas.microsoft.com/office/powerpoint/2010/main" val="3677225708"/>
      </p:ext>
    </p:extLst>
  </p:cSld>
  <p:clrMapOvr>
    <a:masterClrMapping/>
  </p:clrMapOvr>
</p:sld>
</file>

<file path=ppt/slides/slide6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확장 불가 애플리케이션</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rPr>
              <a:t>자원 경합과 자원 고갈</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rPr>
              <a:t>•  확장 불가 = 자원을 소진해 워크로드를 늘려도 처리량이 안 느는 지점 도달</a:t>
            </a:r>
          </a:p>
          <a:p>
            <a:pPr algn="l"/>
            <a:r>
              <a:rPr sz="1700" b="0">
                <a:solidFill>
                  <a:srgbClr val="222222"/>
                </a:solidFill>
                <a:latin typeface="맑은 고딕"/>
              </a:rPr>
              <a:t>•  증상: 처리량 고정 + 응답시간 악화</a:t>
            </a:r>
          </a:p>
          <a:p>
            <a:pPr algn="l"/>
            <a:r>
              <a:rPr sz="1700" b="0">
                <a:solidFill>
                  <a:srgbClr val="222222"/>
                </a:solidFill>
                <a:latin typeface="맑은 고딕"/>
              </a:rPr>
              <a:t>•  자원 고갈 예: 대량 트랜잭션의 전체 스캔 → I/O 부족, 과도한 네트워크 요청</a:t>
            </a:r>
          </a:p>
          <a:p>
            <a:pPr algn="l"/>
            <a:r>
              <a:rPr sz="1700" b="0">
                <a:solidFill>
                  <a:srgbClr val="222222"/>
                </a:solidFill>
                <a:latin typeface="맑은 고딕"/>
              </a:rPr>
              <a:t>•  워크로드 성장 곡선: 수요는 가속하며 증가 → 설계 결함은 어느 벽에서 폭발</a:t>
            </a:r>
          </a:p>
          <a:p>
            <a:pPr algn="l"/>
            <a:r>
              <a:rPr sz="1700" b="0">
                <a:solidFill>
                  <a:srgbClr val="222222"/>
                </a:solidFill>
                <a:latin typeface="맑은 고딕"/>
              </a:rPr>
              <a:t>•  부하가 그 지점에 닿기 전엔 보이지 않는다 = 잠복한 시한폭탄</a:t>
            </a:r>
          </a:p>
        </p:txBody>
      </p:sp>
    </p:spTree>
    <p:extLst>
      <p:ext uri="{BB962C8B-B14F-4D97-AF65-F5344CB8AC3E}">
        <p14:creationId xmlns:p14="http://schemas.microsoft.com/office/powerpoint/2010/main" val="253889686"/>
      </p:ext>
    </p:extLst>
  </p:cSld>
  <p:clrMapOvr>
    <a:masterClrMapping/>
  </p:clrMapOvr>
</p:sld>
</file>

<file path=ppt/slides/slide6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확장성과 용량 계획</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rPr>
              <a:t>튜닝의 배경</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rPr>
              <a:t>•  사전 예방적 모니터링은 대개 용량 계획의 일부</a:t>
            </a:r>
          </a:p>
          <a:p>
            <a:pPr algn="l"/>
            <a:r>
              <a:rPr sz="1700" b="0">
                <a:solidFill>
                  <a:srgbClr val="222222"/>
                </a:solidFill>
                <a:latin typeface="맑은 고딕"/>
              </a:rPr>
              <a:t>•  자원 소비 추이를 추적해 언제 한계에 닿을지 예측</a:t>
            </a:r>
          </a:p>
          <a:p>
            <a:pPr algn="l"/>
            <a:r>
              <a:rPr sz="1700" b="0">
                <a:solidFill>
                  <a:srgbClr val="222222"/>
                </a:solidFill>
                <a:latin typeface="맑은 고딕"/>
              </a:rPr>
              <a:t>•  그러나 설계가 확장 불가면 용량 계획도 소용없다</a:t>
            </a:r>
          </a:p>
          <a:p>
            <a:pPr algn="l"/>
            <a:r>
              <a:rPr sz="1700" b="0">
                <a:solidFill>
                  <a:srgbClr val="222222"/>
                </a:solidFill>
                <a:latin typeface="맑은 고딕"/>
              </a:rPr>
              <a:t>•  자원 2배 넣어도 처리량 2배가 아니면 = 문제를 미룰 뿐</a:t>
            </a:r>
          </a:p>
          <a:p>
            <a:pPr algn="l"/>
            <a:r>
              <a:rPr sz="1700" b="0">
                <a:solidFill>
                  <a:srgbClr val="222222"/>
                </a:solidFill>
                <a:latin typeface="맑은 고딕"/>
              </a:rPr>
              <a:t>•  이 장의 초점: 용량을 늘리는 법이 아니라 같은 용량으로 더 하는 법</a:t>
            </a:r>
          </a:p>
        </p:txBody>
      </p:sp>
    </p:spTree>
    <p:extLst>
      <p:ext uri="{BB962C8B-B14F-4D97-AF65-F5344CB8AC3E}">
        <p14:creationId xmlns:p14="http://schemas.microsoft.com/office/powerpoint/2010/main" val="1324337054"/>
      </p:ext>
    </p:extLst>
  </p:cSld>
  <p:clrMapOvr>
    <a:masterClrMapping/>
  </p:clrMapOvr>
</p:sld>
</file>

<file path=ppt/slides/slide6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707886"/>
          </a:xfrm>
          <a:prstGeom prst="rect">
            <a:avLst/>
          </a:prstGeom>
          <a:noFill/>
        </p:spPr>
        <p:txBody>
          <a:bodyPr wrap="square">
            <a:spAutoFit/>
          </a:bodyPr>
          <a:lstStyle/>
          <a:p>
            <a:pPr algn="l"/>
            <a:r>
              <a:rPr lang="en-US" sz="4000" b="1" dirty="0">
                <a:solidFill>
                  <a:srgbClr val="FFFFFF"/>
                </a:solidFill>
                <a:latin typeface="맑은 고딕"/>
              </a:rPr>
              <a:t>16</a:t>
            </a:r>
            <a:r>
              <a:rPr sz="4000" b="1" dirty="0">
                <a:solidFill>
                  <a:srgbClr val="FFFFFF"/>
                </a:solidFill>
                <a:latin typeface="맑은 고딕"/>
              </a:rPr>
              <a:t>.3</a:t>
            </a:r>
          </a:p>
        </p:txBody>
      </p:sp>
      <p:sp>
        <p:nvSpPr>
          <p:cNvPr id="4" name="TextBox 3"/>
          <p:cNvSpPr txBox="1"/>
          <p:nvPr/>
        </p:nvSpPr>
        <p:spPr>
          <a:xfrm>
            <a:off x="822960" y="3017520"/>
            <a:ext cx="10515600" cy="914400"/>
          </a:xfrm>
          <a:prstGeom prst="rect">
            <a:avLst/>
          </a:prstGeom>
          <a:noFill/>
        </p:spPr>
        <p:txBody>
          <a:bodyPr wrap="square">
            <a:spAutoFit/>
          </a:bodyPr>
          <a:lstStyle/>
          <a:p>
            <a:pPr algn="l"/>
            <a:r>
              <a:rPr sz="2800" b="1">
                <a:solidFill>
                  <a:srgbClr val="FFFFFF"/>
                </a:solidFill>
                <a:latin typeface="맑은 고딕"/>
              </a:rPr>
              <a:t>바인드 변수와 커서 공유</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r>
              <a:rPr sz="1600" b="0">
                <a:solidFill>
                  <a:srgbClr val="FFFFFF"/>
                </a:solidFill>
                <a:latin typeface="맑은 고딕"/>
              </a:rPr>
              <a:t>•  하드 파싱과 소프트 파싱 — 파싱은 비싸다</a:t>
            </a:r>
          </a:p>
          <a:p>
            <a:pPr algn="l"/>
            <a:r>
              <a:rPr sz="1600" b="0">
                <a:solidFill>
                  <a:srgbClr val="FFFFFF"/>
                </a:solidFill>
                <a:latin typeface="맑은 고딕"/>
              </a:rPr>
              <a:t>•  리터럴 SQL이 만드는 커서 폭발</a:t>
            </a:r>
          </a:p>
          <a:p>
            <a:pPr algn="l"/>
            <a:r>
              <a:rPr sz="1600" b="0">
                <a:solidFill>
                  <a:srgbClr val="FFFFFF"/>
                </a:solidFill>
                <a:latin typeface="맑은 고딕"/>
              </a:rPr>
              <a:t>•  바인드 변수로 커서 공유 — 리터럴 300 vs 바인드 0 (실측)</a:t>
            </a:r>
          </a:p>
          <a:p>
            <a:pPr algn="l"/>
            <a:r>
              <a:rPr sz="1600" b="0">
                <a:solidFill>
                  <a:srgbClr val="FFFFFF"/>
                </a:solidFill>
                <a:latin typeface="맑은 고딕"/>
              </a:rPr>
              <a:t>•  CURSOR_SHARING — 코드를 못 고칠 때의 차선책</a:t>
            </a:r>
          </a:p>
        </p:txBody>
      </p:sp>
    </p:spTree>
    <p:extLst>
      <p:ext uri="{BB962C8B-B14F-4D97-AF65-F5344CB8AC3E}">
        <p14:creationId xmlns:p14="http://schemas.microsoft.com/office/powerpoint/2010/main" val="1646980011"/>
      </p:ext>
    </p:extLst>
  </p:cSld>
  <p:clrMapOvr>
    <a:masterClrMapping/>
  </p:clrMapOvr>
</p:sld>
</file>

<file path=ppt/slides/slide6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파싱이란 무엇인가</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rPr>
              <a:t>하드 파싱 vs 소프트 파싱</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rPr>
              <a:t>•  파싱 = SQL을 해석해 실행계획을 만드는 과정(문법·권한·계획·공유 풀 적재)</a:t>
            </a:r>
          </a:p>
          <a:p>
            <a:pPr algn="l"/>
            <a:r>
              <a:rPr sz="1700" b="0">
                <a:solidFill>
                  <a:srgbClr val="222222"/>
                </a:solidFill>
                <a:latin typeface="맑은 고딕"/>
              </a:rPr>
              <a:t>•  하드 파싱: 공유 풀에 일치가 없어 모든 작업 수행 → 가장 비싸고 확장성 저해</a:t>
            </a:r>
          </a:p>
          <a:p>
            <a:pPr algn="l"/>
            <a:r>
              <a:rPr sz="1700" b="0">
                <a:solidFill>
                  <a:srgbClr val="222222"/>
                </a:solidFill>
                <a:latin typeface="맑은 고딕"/>
              </a:rPr>
              <a:t>•  소프트 파싱: 공유 풀에 일치가 있음 → 낫지만 문법·권한 검사로 자원 소모</a:t>
            </a:r>
          </a:p>
          <a:p>
            <a:pPr algn="l"/>
            <a:r>
              <a:rPr sz="1700" b="0">
                <a:solidFill>
                  <a:srgbClr val="222222"/>
                </a:solidFill>
                <a:latin typeface="맑은 고딕"/>
              </a:rPr>
              <a:t>•  목표: 한 번 파싱하고 여러 번 실행(커서 재사용)</a:t>
            </a:r>
          </a:p>
        </p:txBody>
      </p:sp>
    </p:spTree>
    <p:extLst>
      <p:ext uri="{BB962C8B-B14F-4D97-AF65-F5344CB8AC3E}">
        <p14:creationId xmlns:p14="http://schemas.microsoft.com/office/powerpoint/2010/main" val="1003866512"/>
      </p:ext>
    </p:extLst>
  </p:cSld>
  <p:clrMapOvr>
    <a:masterClrMapping/>
  </p:clrMapOvr>
</p:sld>
</file>

<file path=ppt/slides/slide6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하드 파싱이 확장성을 해치는 이유</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rPr>
              <a:t>직렬화 지점을 만든다</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rPr>
              <a:t>•  하드 파싱은 라이브러리 캐시 래치·뮤텍스를 획득해야 함</a:t>
            </a:r>
          </a:p>
          <a:p>
            <a:pPr algn="l"/>
            <a:r>
              <a:rPr sz="1700" b="0">
                <a:solidFill>
                  <a:srgbClr val="222222"/>
                </a:solidFill>
                <a:latin typeface="맑은 고딕"/>
              </a:rPr>
              <a:t>•  사용자 1~2명: 비용 안 보임 / 수백 세션 동시: 같은 래치 경합</a:t>
            </a:r>
          </a:p>
          <a:p>
            <a:pPr algn="l"/>
            <a:r>
              <a:rPr sz="1700" b="0">
                <a:solidFill>
                  <a:srgbClr val="222222"/>
                </a:solidFill>
                <a:latin typeface="맑은 고딕"/>
              </a:rPr>
              <a:t>•  경합은 사용자 수에 선형이 아니라 더 가파르게 증가</a:t>
            </a:r>
          </a:p>
          <a:p>
            <a:pPr algn="l"/>
            <a:r>
              <a:rPr sz="1700" b="0">
                <a:solidFill>
                  <a:srgbClr val="222222"/>
                </a:solidFill>
                <a:latin typeface="맑은 고딕"/>
              </a:rPr>
              <a:t>•  → '개발 땐 빨랐는데 오픈하니 죽는' 현상의 원인</a:t>
            </a:r>
          </a:p>
        </p:txBody>
      </p:sp>
    </p:spTree>
    <p:extLst>
      <p:ext uri="{BB962C8B-B14F-4D97-AF65-F5344CB8AC3E}">
        <p14:creationId xmlns:p14="http://schemas.microsoft.com/office/powerpoint/2010/main" val="4262640059"/>
      </p:ext>
    </p:extLst>
  </p:cSld>
  <p:clrMapOvr>
    <a:masterClrMapping/>
  </p:clrMapOvr>
</p:sld>
</file>

<file path=ppt/slides/slide6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리터럴 SQL이 만드는 커서 폭발</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rPr>
              <a:t>V$SQL — 값마다 커서가 갈라진다</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tlCol="0" anchor="ctr"/>
          <a:lstStyle/>
          <a:p>
            <a:pPr algn="l"/>
            <a:r>
              <a:rPr sz="1250">
                <a:solidFill>
                  <a:srgbClr val="F2F2F2"/>
                </a:solidFill>
                <a:latin typeface="Consolas"/>
              </a:rPr>
              <a:t>SQLT@orcl&gt; SELECT sql_text, COUNT(*) versions</a:t>
            </a:r>
          </a:p>
          <a:p>
            <a:pPr algn="l"/>
            <a:r>
              <a:rPr sz="1250">
                <a:solidFill>
                  <a:srgbClr val="F2F2F2"/>
                </a:solidFill>
                <a:latin typeface="Consolas"/>
              </a:rPr>
              <a:t>  2         FROM v$sql</a:t>
            </a:r>
          </a:p>
          <a:p>
            <a:pPr algn="l"/>
            <a:r>
              <a:rPr sz="1250">
                <a:solidFill>
                  <a:srgbClr val="F2F2F2"/>
                </a:solidFill>
                <a:latin typeface="Consolas"/>
              </a:rPr>
              <a:t>  3        WHERE sql_text LIKE</a:t>
            </a:r>
          </a:p>
          <a:p>
            <a:pPr algn="l"/>
            <a:r>
              <a:rPr sz="1250">
                <a:solidFill>
                  <a:srgbClr val="F2F2F2"/>
                </a:solidFill>
                <a:latin typeface="Consolas"/>
              </a:rPr>
              <a:t>  4              'select count(*) from medical_claims where hosp_id =%'</a:t>
            </a:r>
          </a:p>
          <a:p>
            <a:pPr algn="l"/>
            <a:r>
              <a:rPr sz="1250">
                <a:solidFill>
                  <a:srgbClr val="F2F2F2"/>
                </a:solidFill>
                <a:latin typeface="Consolas"/>
              </a:rPr>
              <a:t>  5        GROUP BY sql_text ORDER BY sql_text;</a:t>
            </a:r>
          </a:p>
          <a:p>
            <a:pPr algn="l"/>
            <a:r>
              <a:rPr sz="1250">
                <a:solidFill>
                  <a:srgbClr val="F2F2F2"/>
                </a:solidFill>
                <a:latin typeface="Consolas"/>
              </a:rPr>
              <a:t> </a:t>
            </a:r>
          </a:p>
          <a:p>
            <a:pPr algn="l"/>
            <a:r>
              <a:rPr sz="1250">
                <a:solidFill>
                  <a:srgbClr val="F2F2F2"/>
                </a:solidFill>
                <a:latin typeface="Consolas"/>
              </a:rPr>
              <a:t>SQL_TEXT                                                   VERSIONS</a:t>
            </a:r>
          </a:p>
          <a:p>
            <a:pPr algn="l"/>
            <a:r>
              <a:rPr sz="1250">
                <a:solidFill>
                  <a:srgbClr val="F2F2F2"/>
                </a:solidFill>
                <a:latin typeface="Consolas"/>
              </a:rPr>
              <a:t>-------------------------------------------------------- ---------</a:t>
            </a:r>
          </a:p>
          <a:p>
            <a:pPr algn="l"/>
            <a:r>
              <a:rPr sz="1250">
                <a:solidFill>
                  <a:srgbClr val="F2F2F2"/>
                </a:solidFill>
                <a:latin typeface="Consolas"/>
              </a:rPr>
              <a:t>select count(*) from medical_claims where hosp_id = 90024         1</a:t>
            </a:r>
          </a:p>
          <a:p>
            <a:pPr algn="l"/>
            <a:r>
              <a:rPr sz="1250">
                <a:solidFill>
                  <a:srgbClr val="F2F2F2"/>
                </a:solidFill>
                <a:latin typeface="Consolas"/>
              </a:rPr>
              <a:t>select count(*) from medical_claims where hosp_id = 90036         1</a:t>
            </a:r>
          </a:p>
          <a:p>
            <a:pPr algn="l"/>
            <a:r>
              <a:rPr sz="1250">
                <a:solidFill>
                  <a:srgbClr val="F2F2F2"/>
                </a:solidFill>
                <a:latin typeface="Consolas"/>
              </a:rPr>
              <a:t>select count(*) from medical_claims where hosp_id = 90037         1</a:t>
            </a:r>
          </a:p>
          <a:p>
            <a:pPr algn="l"/>
            <a:r>
              <a:rPr sz="1250">
                <a:solidFill>
                  <a:srgbClr val="F2F2F2"/>
                </a:solidFill>
                <a:latin typeface="Consolas"/>
              </a:rPr>
              <a:t>...  (병원 ID마다 별도 커서로 갈라져 30여 개가 쌓였다)</a:t>
            </a:r>
          </a:p>
        </p:txBody>
      </p:sp>
    </p:spTree>
    <p:extLst>
      <p:ext uri="{BB962C8B-B14F-4D97-AF65-F5344CB8AC3E}">
        <p14:creationId xmlns:p14="http://schemas.microsoft.com/office/powerpoint/2010/main" val="822831371"/>
      </p:ext>
    </p:extLst>
  </p:cSld>
  <p:clrMapOvr>
    <a:masterClrMapping/>
  </p:clrMapOvr>
</p:sld>
</file>

<file path=ppt/slides/slide6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바인드 변수로 커서를 공유한다</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rPr>
              <a:t>리터럴 300 vs 바인드 0 (실측, orcl 19.3)</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rPr>
              <a:t>•  리터럴 SQL 300회 실행 → 하드 파싱 델타 = 300, 커서 300개</a:t>
            </a:r>
          </a:p>
          <a:p>
            <a:pPr algn="l"/>
            <a:r>
              <a:rPr sz="1700" b="0">
                <a:solidFill>
                  <a:srgbClr val="222222"/>
                </a:solidFill>
                <a:latin typeface="맑은 고딕"/>
              </a:rPr>
              <a:t>•  바인드 변수 300회 실행 → 하드 파싱 델타 = 0, 커서 1개(재사용)</a:t>
            </a:r>
          </a:p>
          <a:p>
            <a:pPr algn="l"/>
            <a:r>
              <a:rPr sz="1700" b="0">
                <a:solidFill>
                  <a:srgbClr val="222222"/>
                </a:solidFill>
                <a:latin typeface="맑은 고딕"/>
              </a:rPr>
              <a:t>•  실행한 일의 양(execute count)은 두 방식이 같다</a:t>
            </a:r>
          </a:p>
          <a:p>
            <a:pPr algn="l"/>
            <a:r>
              <a:rPr sz="1700" b="0">
                <a:solidFill>
                  <a:srgbClr val="222222"/>
                </a:solidFill>
                <a:latin typeface="맑은 고딕"/>
              </a:rPr>
              <a:t>•  → 벌어진 시간 차이 = 파싱 비용</a:t>
            </a:r>
          </a:p>
          <a:p>
            <a:pPr algn="l"/>
            <a:r>
              <a:rPr sz="1700" b="0">
                <a:solidFill>
                  <a:srgbClr val="222222"/>
                </a:solidFill>
                <a:latin typeface="맑은 고딕"/>
              </a:rPr>
              <a:t>•  V$LIBRARYCACHE(SQL AREA) GETHITRATIO 실측 53.3% = 재파싱의 흔적</a:t>
            </a:r>
          </a:p>
        </p:txBody>
      </p:sp>
    </p:spTree>
    <p:extLst>
      <p:ext uri="{BB962C8B-B14F-4D97-AF65-F5344CB8AC3E}">
        <p14:creationId xmlns:p14="http://schemas.microsoft.com/office/powerpoint/2010/main" val="3185225236"/>
      </p:ext>
    </p:extLst>
  </p:cSld>
  <p:clrMapOvr>
    <a:masterClrMapping/>
  </p:clrMapOvr>
</p:sld>
</file>

<file path=ppt/slides/slide6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리터럴이 항상 나쁜 건 아니다</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rPr>
              <a:t>편중 데이터에서의 예외</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rPr>
              <a:t>•  값 종류가 소수로 고정 + 값에 따라 최적 계획이 크게 달라지는 컬럼</a:t>
            </a:r>
          </a:p>
          <a:p>
            <a:pPr algn="l"/>
            <a:r>
              <a:rPr sz="1700" b="0">
                <a:solidFill>
                  <a:srgbClr val="222222"/>
                </a:solidFill>
                <a:latin typeface="맑은 고딕"/>
              </a:rPr>
              <a:t>•  예: MEDICAL_CLAIMS는 HOSP_ID 1~50에 청구 절반 집중(스큐)</a:t>
            </a:r>
          </a:p>
          <a:p>
            <a:pPr algn="l"/>
            <a:r>
              <a:rPr sz="1700" b="0">
                <a:solidFill>
                  <a:srgbClr val="222222"/>
                </a:solidFill>
                <a:latin typeface="맑은 고딕"/>
              </a:rPr>
              <a:t>•  이런 편중 컬럼은 리터럴이 값별 다른 계획을 얻어 유리할 수 있음</a:t>
            </a:r>
          </a:p>
          <a:p>
            <a:pPr algn="l"/>
            <a:r>
              <a:rPr sz="1700" b="0">
                <a:solidFill>
                  <a:srgbClr val="222222"/>
                </a:solidFill>
                <a:latin typeface="맑은 고딕"/>
              </a:rPr>
              <a:t>•  그러나 값 가짓수가 많고 계획이 같은 술어면 리터럴은 백해무익</a:t>
            </a:r>
          </a:p>
          <a:p>
            <a:pPr algn="l"/>
            <a:r>
              <a:rPr sz="1700" b="0">
                <a:solidFill>
                  <a:srgbClr val="222222"/>
                </a:solidFill>
                <a:latin typeface="맑은 고딕"/>
              </a:rPr>
              <a:t>•  원칙: 실행마다 달라지는 값은 바인드, 계획 좌우 상수는 신중히</a:t>
            </a:r>
          </a:p>
        </p:txBody>
      </p:sp>
    </p:spTree>
    <p:extLst>
      <p:ext uri="{BB962C8B-B14F-4D97-AF65-F5344CB8AC3E}">
        <p14:creationId xmlns:p14="http://schemas.microsoft.com/office/powerpoint/2010/main" val="2288492480"/>
      </p:ext>
    </p:extLst>
  </p:cSld>
  <p:clrMapOvr>
    <a:masterClrMapping/>
  </p:clrMapOvr>
</p:sld>
</file>

<file path=ppt/slides/slide6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CURSOR_SHARING — 차선책</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rPr>
              <a:t>코드를 못 고칠 때만</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tlCol="0" anchor="ctr"/>
          <a:lstStyle/>
          <a:p>
            <a:pPr algn="l"/>
            <a:r>
              <a:rPr sz="1250">
                <a:solidFill>
                  <a:srgbClr val="F2F2F2"/>
                </a:solidFill>
                <a:latin typeface="Consolas"/>
              </a:rPr>
              <a:t>SQLT@orcl&gt; -- 기본값 EXACT: 텍스트가 정확히 같아야 커서 공유</a:t>
            </a:r>
          </a:p>
          <a:p>
            <a:pPr algn="l"/>
            <a:r>
              <a:rPr sz="1250">
                <a:solidFill>
                  <a:srgbClr val="F2F2F2"/>
                </a:solidFill>
                <a:latin typeface="Consolas"/>
              </a:rPr>
              <a:t>SQLT@orcl&gt; --            → 리터럴은 그대로 하드 파싱</a:t>
            </a:r>
          </a:p>
          <a:p>
            <a:pPr algn="l"/>
            <a:r>
              <a:rPr sz="1250">
                <a:solidFill>
                  <a:srgbClr val="F2F2F2"/>
                </a:solidFill>
                <a:latin typeface="Consolas"/>
              </a:rPr>
              <a:t>SQLT@orcl&gt; ALTER SESSION SET CURSOR_SHARING = FORCE;</a:t>
            </a:r>
          </a:p>
          <a:p>
            <a:pPr algn="l"/>
            <a:r>
              <a:rPr sz="1250">
                <a:solidFill>
                  <a:srgbClr val="F2F2F2"/>
                </a:solidFill>
                <a:latin typeface="Consolas"/>
              </a:rPr>
              <a:t>SQLT@orcl&gt; -- 리터럴을 :"SYS_B_0" 형태로 치환 → 커서 공유</a:t>
            </a:r>
          </a:p>
          <a:p>
            <a:pPr algn="l"/>
            <a:r>
              <a:rPr sz="1250">
                <a:solidFill>
                  <a:srgbClr val="F2F2F2"/>
                </a:solidFill>
                <a:latin typeface="Consolas"/>
              </a:rPr>
              <a:t>SQLT@orcl&gt; ALTER SESSION SET CURSOR_SHARING = EXACT;   -- 원복</a:t>
            </a:r>
          </a:p>
          <a:p>
            <a:pPr algn="l"/>
            <a:r>
              <a:rPr sz="1250">
                <a:solidFill>
                  <a:srgbClr val="F2F2F2"/>
                </a:solidFill>
                <a:latin typeface="Consolas"/>
              </a:rPr>
              <a:t> </a:t>
            </a:r>
          </a:p>
          <a:p>
            <a:pPr algn="l"/>
            <a:r>
              <a:rPr sz="1250">
                <a:solidFill>
                  <a:srgbClr val="F2F2F2"/>
                </a:solidFill>
                <a:latin typeface="Consolas"/>
              </a:rPr>
              <a:t>-- 주의: 히스토그램 컬럼에서 나쁜 계획이 고정될 수 있음</a:t>
            </a:r>
          </a:p>
          <a:p>
            <a:pPr algn="l"/>
            <a:r>
              <a:rPr sz="1250">
                <a:solidFill>
                  <a:srgbClr val="F2F2F2"/>
                </a:solidFill>
                <a:latin typeface="Consolas"/>
              </a:rPr>
              <a:t>-- 근본 해법은 바인드 변수를 쓰도록 코드를 고치는 것</a:t>
            </a:r>
          </a:p>
        </p:txBody>
      </p:sp>
    </p:spTree>
    <p:extLst>
      <p:ext uri="{BB962C8B-B14F-4D97-AF65-F5344CB8AC3E}">
        <p14:creationId xmlns:p14="http://schemas.microsoft.com/office/powerpoint/2010/main" val="3768538432"/>
      </p:ext>
    </p:extLst>
  </p:cSld>
  <p:clrMapOvr>
    <a:masterClrMapping/>
  </p:clrMapOvr>
</p:sld>
</file>

<file path=ppt/slides/slide6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파싱을 줄이는 세 단계</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rPr>
              <a:t>바인드 위에 한 겹 더</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rPr>
              <a:t>•  1단계: 바인드 변수로 하드 파싱을 없앤다</a:t>
            </a:r>
          </a:p>
          <a:p>
            <a:pPr algn="l"/>
            <a:r>
              <a:rPr sz="1700" b="0">
                <a:solidFill>
                  <a:srgbClr val="222222"/>
                </a:solidFill>
                <a:latin typeface="맑은 고딕"/>
              </a:rPr>
              <a:t>•  2단계: 커서를 재사용해 소프트 파싱을 줄인다(닫았다 다시 열지 않기)</a:t>
            </a:r>
          </a:p>
          <a:p>
            <a:pPr algn="l"/>
            <a:r>
              <a:rPr sz="1700" b="0">
                <a:solidFill>
                  <a:srgbClr val="222222"/>
                </a:solidFill>
                <a:latin typeface="맑은 고딕"/>
              </a:rPr>
              <a:t>•  3단계: SESSION_CACHED_CURSORS로 남은 소프트 파싱을 캐시(soft soft parse)</a:t>
            </a:r>
          </a:p>
          <a:p>
            <a:pPr algn="l"/>
            <a:r>
              <a:rPr sz="1700" b="0">
                <a:solidFill>
                  <a:srgbClr val="222222"/>
                </a:solidFill>
                <a:latin typeface="맑은 고딕"/>
              </a:rPr>
              <a:t>•  session cursor cache hits 통계로 3단계 효과 확인</a:t>
            </a:r>
          </a:p>
          <a:p>
            <a:pPr algn="l"/>
            <a:r>
              <a:rPr sz="1700" b="0">
                <a:solidFill>
                  <a:srgbClr val="222222"/>
                </a:solidFill>
                <a:latin typeface="맑은 고딕"/>
              </a:rPr>
              <a:t>•  대부분은 애플리케이션의 prepare/execute 패턴만으로 달성</a:t>
            </a:r>
          </a:p>
        </p:txBody>
      </p:sp>
    </p:spTree>
    <p:extLst>
      <p:ext uri="{BB962C8B-B14F-4D97-AF65-F5344CB8AC3E}">
        <p14:creationId xmlns:p14="http://schemas.microsoft.com/office/powerpoint/2010/main" val="1774824229"/>
      </p:ext>
    </p:extLst>
  </p:cSld>
  <p:clrMapOvr>
    <a:masterClrMapping/>
  </p:clrMapOvr>
</p:sld>
</file>

<file path=ppt/slides/slide6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707886"/>
          </a:xfrm>
          <a:prstGeom prst="rect">
            <a:avLst/>
          </a:prstGeom>
          <a:noFill/>
        </p:spPr>
        <p:txBody>
          <a:bodyPr wrap="square">
            <a:spAutoFit/>
          </a:bodyPr>
          <a:lstStyle/>
          <a:p>
            <a:pPr algn="l"/>
            <a:r>
              <a:rPr lang="en-US" sz="4000" b="1" dirty="0">
                <a:solidFill>
                  <a:srgbClr val="FFFFFF"/>
                </a:solidFill>
                <a:latin typeface="맑은 고딕"/>
              </a:rPr>
              <a:t>16.</a:t>
            </a:r>
            <a:r>
              <a:rPr sz="4000" b="1" dirty="0">
                <a:solidFill>
                  <a:srgbClr val="FFFFFF"/>
                </a:solidFill>
                <a:latin typeface="맑은 고딕"/>
              </a:rPr>
              <a:t>4</a:t>
            </a:r>
          </a:p>
        </p:txBody>
      </p:sp>
      <p:sp>
        <p:nvSpPr>
          <p:cNvPr id="4" name="TextBox 3"/>
          <p:cNvSpPr txBox="1"/>
          <p:nvPr/>
        </p:nvSpPr>
        <p:spPr>
          <a:xfrm>
            <a:off x="822960" y="3017520"/>
            <a:ext cx="10515600" cy="914400"/>
          </a:xfrm>
          <a:prstGeom prst="rect">
            <a:avLst/>
          </a:prstGeom>
          <a:noFill/>
        </p:spPr>
        <p:txBody>
          <a:bodyPr wrap="square">
            <a:spAutoFit/>
          </a:bodyPr>
          <a:lstStyle/>
          <a:p>
            <a:pPr algn="l"/>
            <a:r>
              <a:rPr sz="2800" b="1">
                <a:solidFill>
                  <a:srgbClr val="FFFFFF"/>
                </a:solidFill>
                <a:latin typeface="맑은 고딕"/>
              </a:rPr>
              <a:t>커넥션 획득 비용</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r>
              <a:rPr sz="1600" b="0">
                <a:solidFill>
                  <a:srgbClr val="FFFFFF"/>
                </a:solidFill>
                <a:latin typeface="맑은 고딕"/>
              </a:rPr>
              <a:t>•  접속은 비싸다 — 프로세스 생성·메모리·인증·초기화</a:t>
            </a:r>
          </a:p>
          <a:p>
            <a:pPr algn="l"/>
            <a:r>
              <a:rPr sz="1600" b="0">
                <a:solidFill>
                  <a:srgbClr val="FFFFFF"/>
                </a:solidFill>
                <a:latin typeface="맑은 고딕"/>
              </a:rPr>
              <a:t>•  4-CPU 테스트: 무파싱 270 → 재접속 30 (9분의 1)</a:t>
            </a:r>
          </a:p>
          <a:p>
            <a:pPr algn="l"/>
            <a:r>
              <a:rPr sz="1600" b="0">
                <a:solidFill>
                  <a:srgbClr val="FFFFFF"/>
                </a:solidFill>
                <a:latin typeface="맑은 고딕"/>
              </a:rPr>
              <a:t>•  커넥션 풀링과 재사용</a:t>
            </a:r>
          </a:p>
        </p:txBody>
      </p:sp>
    </p:spTree>
    <p:extLst>
      <p:ext uri="{BB962C8B-B14F-4D97-AF65-F5344CB8AC3E}">
        <p14:creationId xmlns:p14="http://schemas.microsoft.com/office/powerpoint/2010/main" val="700089073"/>
      </p:ext>
    </p:extLst>
  </p:cSld>
  <p:clrMapOvr>
    <a:masterClrMapping/>
  </p:clrMapOvr>
</p:sld>
</file>

<file path=ppt/slides/slide6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접속은 비싸다</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rPr>
              <a:t>4-CPU OLTP 테스트 — 지원 가능한 사용자 수</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rPr>
              <a:t>•  파싱을 전혀 안 함(한 번 파싱 후 재실행): 270명</a:t>
            </a:r>
          </a:p>
          <a:p>
            <a:pPr algn="l"/>
            <a:r>
              <a:rPr sz="1700" b="0">
                <a:solidFill>
                  <a:srgbClr val="222222"/>
                </a:solidFill>
                <a:latin typeface="맑은 고딕"/>
              </a:rPr>
              <a:t>•  모든 문장 소프트 파싱: 150명</a:t>
            </a:r>
          </a:p>
          <a:p>
            <a:pPr algn="l"/>
            <a:r>
              <a:rPr sz="1700" b="0">
                <a:solidFill>
                  <a:srgbClr val="222222"/>
                </a:solidFill>
                <a:latin typeface="맑은 고딕"/>
              </a:rPr>
              <a:t>•  모든 문장 하드 파싱: 60명</a:t>
            </a:r>
          </a:p>
          <a:p>
            <a:pPr algn="l"/>
            <a:r>
              <a:rPr sz="1700" b="0">
                <a:solidFill>
                  <a:srgbClr val="222222"/>
                </a:solidFill>
                <a:latin typeface="맑은 고딕"/>
              </a:rPr>
              <a:t>•  트랜잭션마다 재접속: 30명 (하드 파싱보다도 나쁨)</a:t>
            </a:r>
          </a:p>
          <a:p>
            <a:pPr algn="l"/>
            <a:r>
              <a:rPr sz="1700" b="0">
                <a:solidFill>
                  <a:srgbClr val="222222"/>
                </a:solidFill>
                <a:latin typeface="맑은 고딕"/>
              </a:rPr>
              <a:t>•  → 하드웨어를 안 바꾸고 방식만 고쳐도 4~9배 사용자 수용</a:t>
            </a:r>
          </a:p>
        </p:txBody>
      </p:sp>
    </p:spTree>
    <p:extLst>
      <p:ext uri="{BB962C8B-B14F-4D97-AF65-F5344CB8AC3E}">
        <p14:creationId xmlns:p14="http://schemas.microsoft.com/office/powerpoint/2010/main" val="2270503205"/>
      </p:ext>
    </p:extLst>
  </p:cSld>
  <p:clrMapOvr>
    <a:masterClrMapping/>
  </p:clrMapOvr>
</p:sld>
</file>

<file path=ppt/slides/slide6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커넥션 풀링과 재사용</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rPr>
              <a:t>요청마다 여는 자원이 아니다</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rPr>
              <a:t>•  커넥션 풀: 미리 열어 두고 빌려주고 반납받아 재사용</a:t>
            </a:r>
          </a:p>
          <a:p>
            <a:pPr algn="l"/>
            <a:r>
              <a:rPr sz="1700" b="0">
                <a:solidFill>
                  <a:srgbClr val="222222"/>
                </a:solidFill>
                <a:latin typeface="맑은 고딕"/>
              </a:rPr>
              <a:t>•  접속 비용을 요청마다가 아니라 기동 시 한 번만 지불</a:t>
            </a:r>
          </a:p>
          <a:p>
            <a:pPr algn="l"/>
            <a:r>
              <a:rPr sz="1700" b="0">
                <a:solidFill>
                  <a:srgbClr val="222222"/>
                </a:solidFill>
                <a:latin typeface="맑은 고딕"/>
              </a:rPr>
              <a:t>•  재접속은 빈 세션 → 커서 캐시도 없어 파싱 비용과 겹쳐서 옴</a:t>
            </a:r>
          </a:p>
          <a:p>
            <a:pPr algn="l"/>
            <a:r>
              <a:rPr sz="1700" b="0">
                <a:solidFill>
                  <a:srgbClr val="222222"/>
                </a:solidFill>
                <a:latin typeface="맑은 고딕"/>
              </a:rPr>
              <a:t>•  풀 크기도 설계 대상: 너무 작으면 대기, 너무 크면 자원 낭비</a:t>
            </a:r>
          </a:p>
          <a:p>
            <a:pPr algn="l"/>
            <a:r>
              <a:rPr sz="1700" b="0">
                <a:solidFill>
                  <a:srgbClr val="222222"/>
                </a:solidFill>
                <a:latin typeface="맑은 고딕"/>
              </a:rPr>
              <a:t>•  전용 vs 공유 서버는 ch18에서 별도로 다룸</a:t>
            </a:r>
          </a:p>
        </p:txBody>
      </p:sp>
    </p:spTree>
    <p:extLst>
      <p:ext uri="{BB962C8B-B14F-4D97-AF65-F5344CB8AC3E}">
        <p14:creationId xmlns:p14="http://schemas.microsoft.com/office/powerpoint/2010/main" val="1536307365"/>
      </p:ext>
    </p:extLst>
  </p:cSld>
  <p:clrMapOvr>
    <a:masterClrMapping/>
  </p:clrMapOvr>
</p:sld>
</file>

<file path=ppt/slides/slide6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접속 통계로 확인</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rPr>
              <a:t>logons cumulative</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tlCol="0" anchor="ctr"/>
          <a:lstStyle/>
          <a:p>
            <a:pPr algn="l"/>
            <a:r>
              <a:rPr sz="1250">
                <a:solidFill>
                  <a:srgbClr val="F2F2F2"/>
                </a:solidFill>
                <a:latin typeface="Consolas"/>
              </a:rPr>
              <a:t>SQLT@orcl&gt; SELECT name, value FROM v$sysstat</a:t>
            </a:r>
          </a:p>
          <a:p>
            <a:pPr algn="l"/>
            <a:r>
              <a:rPr sz="1250">
                <a:solidFill>
                  <a:srgbClr val="F2F2F2"/>
                </a:solidFill>
                <a:latin typeface="Consolas"/>
              </a:rPr>
              <a:t>  2        WHERE name IN ('logons cumulative','logons current');</a:t>
            </a:r>
          </a:p>
          <a:p>
            <a:pPr algn="l"/>
            <a:r>
              <a:rPr sz="1250">
                <a:solidFill>
                  <a:srgbClr val="F2F2F2"/>
                </a:solidFill>
                <a:latin typeface="Consolas"/>
              </a:rPr>
              <a:t> </a:t>
            </a:r>
          </a:p>
          <a:p>
            <a:pPr algn="l"/>
            <a:r>
              <a:rPr sz="1250">
                <a:solidFill>
                  <a:srgbClr val="F2F2F2"/>
                </a:solidFill>
                <a:latin typeface="Consolas"/>
              </a:rPr>
              <a:t>NAME                                VALUE</a:t>
            </a:r>
          </a:p>
          <a:p>
            <a:pPr algn="l"/>
            <a:r>
              <a:rPr sz="1250">
                <a:solidFill>
                  <a:srgbClr val="F2F2F2"/>
                </a:solidFill>
                <a:latin typeface="Consolas"/>
              </a:rPr>
              <a:t>------------------------------ ----------</a:t>
            </a:r>
          </a:p>
          <a:p>
            <a:pPr algn="l"/>
            <a:r>
              <a:rPr sz="1250">
                <a:solidFill>
                  <a:srgbClr val="F2F2F2"/>
                </a:solidFill>
                <a:latin typeface="Consolas"/>
              </a:rPr>
              <a:t>logons cumulative                  &lt;환경값&gt;   -- 누적 로그온(재접속마다 증가)</a:t>
            </a:r>
          </a:p>
          <a:p>
            <a:pPr algn="l"/>
            <a:r>
              <a:rPr sz="1250">
                <a:solidFill>
                  <a:srgbClr val="F2F2F2"/>
                </a:solidFill>
                <a:latin typeface="Consolas"/>
              </a:rPr>
              <a:t>logons current                     &lt;환경값&gt;   -- 현재 접속 수</a:t>
            </a:r>
          </a:p>
          <a:p>
            <a:pPr algn="l"/>
            <a:r>
              <a:rPr sz="1250">
                <a:solidFill>
                  <a:srgbClr val="F2F2F2"/>
                </a:solidFill>
                <a:latin typeface="Consolas"/>
              </a:rPr>
              <a:t> </a:t>
            </a:r>
          </a:p>
          <a:p>
            <a:pPr algn="l"/>
            <a:r>
              <a:rPr sz="1250">
                <a:solidFill>
                  <a:srgbClr val="F2F2F2"/>
                </a:solidFill>
                <a:latin typeface="Consolas"/>
              </a:rPr>
              <a:t>-- 짧은 시간에 logons cumulative 급증 → 매 요청 재접속 의심</a:t>
            </a:r>
          </a:p>
        </p:txBody>
      </p:sp>
    </p:spTree>
    <p:extLst>
      <p:ext uri="{BB962C8B-B14F-4D97-AF65-F5344CB8AC3E}">
        <p14:creationId xmlns:p14="http://schemas.microsoft.com/office/powerpoint/2010/main" val="135376628"/>
      </p:ext>
    </p:extLst>
  </p:cSld>
  <p:clrMapOvr>
    <a:masterClrMapping/>
  </p:clrMapOvr>
</p:sld>
</file>

<file path=ppt/slides/slide6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707886"/>
          </a:xfrm>
          <a:prstGeom prst="rect">
            <a:avLst/>
          </a:prstGeom>
          <a:noFill/>
        </p:spPr>
        <p:txBody>
          <a:bodyPr wrap="square">
            <a:spAutoFit/>
          </a:bodyPr>
          <a:lstStyle/>
          <a:p>
            <a:pPr algn="l"/>
            <a:r>
              <a:rPr lang="en-US" sz="4000" b="1" dirty="0">
                <a:solidFill>
                  <a:srgbClr val="FFFFFF"/>
                </a:solidFill>
                <a:latin typeface="맑은 고딕"/>
              </a:rPr>
              <a:t>16</a:t>
            </a:r>
            <a:r>
              <a:rPr sz="4000" b="1" dirty="0">
                <a:solidFill>
                  <a:srgbClr val="FFFFFF"/>
                </a:solidFill>
                <a:latin typeface="맑은 고딕"/>
              </a:rPr>
              <a:t>.5</a:t>
            </a:r>
          </a:p>
        </p:txBody>
      </p:sp>
      <p:sp>
        <p:nvSpPr>
          <p:cNvPr id="4" name="TextBox 3"/>
          <p:cNvSpPr txBox="1"/>
          <p:nvPr/>
        </p:nvSpPr>
        <p:spPr>
          <a:xfrm>
            <a:off x="822960" y="3017520"/>
            <a:ext cx="10515600" cy="914400"/>
          </a:xfrm>
          <a:prstGeom prst="rect">
            <a:avLst/>
          </a:prstGeom>
          <a:noFill/>
        </p:spPr>
        <p:txBody>
          <a:bodyPr wrap="square">
            <a:spAutoFit/>
          </a:bodyPr>
          <a:lstStyle/>
          <a:p>
            <a:pPr algn="l"/>
            <a:r>
              <a:rPr sz="2800" b="1">
                <a:solidFill>
                  <a:srgbClr val="FFFFFF"/>
                </a:solidFill>
                <a:latin typeface="맑은 고딕"/>
              </a:rPr>
              <a:t>배열 처리와 왕복 횟수</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r>
              <a:rPr sz="1600" b="0">
                <a:solidFill>
                  <a:srgbClr val="FFFFFF"/>
                </a:solidFill>
                <a:latin typeface="맑은 고딕"/>
              </a:rPr>
              <a:t>•  한 행씩 주고받는 비용 — 네트워크 왕복</a:t>
            </a:r>
          </a:p>
          <a:p>
            <a:pPr algn="l"/>
            <a:r>
              <a:rPr sz="1600" b="0">
                <a:solidFill>
                  <a:srgbClr val="FFFFFF"/>
                </a:solidFill>
                <a:latin typeface="맑은 고딕"/>
              </a:rPr>
              <a:t>•  arraysize와 왕복·논리 읽기의 관계</a:t>
            </a:r>
          </a:p>
          <a:p>
            <a:pPr algn="l"/>
            <a:r>
              <a:rPr sz="1600" b="0">
                <a:solidFill>
                  <a:srgbClr val="FFFFFF"/>
                </a:solidFill>
                <a:latin typeface="맑은 고딕"/>
              </a:rPr>
              <a:t>•  SQL*Net 대기 = 네트워크 문제? 오해 주의</a:t>
            </a:r>
          </a:p>
        </p:txBody>
      </p:sp>
    </p:spTree>
    <p:extLst>
      <p:ext uri="{BB962C8B-B14F-4D97-AF65-F5344CB8AC3E}">
        <p14:creationId xmlns:p14="http://schemas.microsoft.com/office/powerpoint/2010/main" val="2119774387"/>
      </p:ext>
    </p:extLst>
  </p:cSld>
  <p:clrMapOvr>
    <a:masterClrMapping/>
  </p:clrMapOvr>
</p:sld>
</file>

<file path=ppt/slides/slide6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한 행씩 주고받는 비용</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rPr>
              <a:t>arraysize와 round-trip</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rPr>
              <a:t>•  arraysize = 클라이언트가 한 번에 가져오는 행 수</a:t>
            </a:r>
          </a:p>
          <a:p>
            <a:pPr algn="l"/>
            <a:r>
              <a:rPr sz="1700" b="0">
                <a:solidFill>
                  <a:srgbClr val="222222"/>
                </a:solidFill>
                <a:latin typeface="맑은 고딕"/>
              </a:rPr>
              <a:t>•  작으면 여러 번 왕복 → 왕복마다 네트워크 지연·논리 읽기</a:t>
            </a:r>
          </a:p>
          <a:p>
            <a:pPr algn="l"/>
            <a:r>
              <a:rPr sz="1700" b="0">
                <a:solidFill>
                  <a:srgbClr val="222222"/>
                </a:solidFill>
                <a:latin typeface="맑은 고딕"/>
              </a:rPr>
              <a:t>•  DML(특히 INSERT)의 단건 반복도 같은 문제 → 배열 인터페이스 사용</a:t>
            </a:r>
          </a:p>
          <a:p>
            <a:pPr algn="l"/>
            <a:r>
              <a:rPr sz="1700" b="0">
                <a:solidFill>
                  <a:srgbClr val="222222"/>
                </a:solidFill>
                <a:latin typeface="맑은 고딕"/>
              </a:rPr>
              <a:t>•  PL/SQL: BULK COLLECT / FORALL이 같은 원리</a:t>
            </a:r>
          </a:p>
          <a:p>
            <a:pPr algn="l"/>
            <a:r>
              <a:rPr sz="1700" b="0">
                <a:solidFill>
                  <a:srgbClr val="222222"/>
                </a:solidFill>
                <a:latin typeface="맑은 고딕"/>
              </a:rPr>
              <a:t>•  데이터 접근 호출은 비즈니스 로직 옆에 두는 것이 최선</a:t>
            </a:r>
          </a:p>
        </p:txBody>
      </p:sp>
    </p:spTree>
    <p:extLst>
      <p:ext uri="{BB962C8B-B14F-4D97-AF65-F5344CB8AC3E}">
        <p14:creationId xmlns:p14="http://schemas.microsoft.com/office/powerpoint/2010/main" val="2504845225"/>
      </p:ext>
    </p:extLst>
  </p:cSld>
  <p:clrMapOvr>
    <a:masterClrMapping/>
  </p:clrMapOvr>
</p:sld>
</file>

<file path=ppt/slides/slide6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arraysize와 왕복 — 계산</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rPr>
              <a:t>10,000행 반환 시 (전체 행÷arraysize+1)</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rPr>
              <a:t>•  arraysize 1: 약 10,001회 왕복 (극단적으로 비효율)</a:t>
            </a:r>
          </a:p>
          <a:p>
            <a:pPr algn="l"/>
            <a:r>
              <a:rPr sz="1700" b="0">
                <a:solidFill>
                  <a:srgbClr val="222222"/>
                </a:solidFill>
                <a:latin typeface="맑은 고딕"/>
              </a:rPr>
              <a:t>•  arraysize 15(SQL*Plus 기본): 약 667회</a:t>
            </a:r>
          </a:p>
          <a:p>
            <a:pPr algn="l"/>
            <a:r>
              <a:rPr sz="1700" b="0">
                <a:solidFill>
                  <a:srgbClr val="222222"/>
                </a:solidFill>
                <a:latin typeface="맑은 고딕"/>
              </a:rPr>
              <a:t>•  arraysize 100: 약 101회 (6분의 1)</a:t>
            </a:r>
          </a:p>
          <a:p>
            <a:pPr algn="l"/>
            <a:r>
              <a:rPr sz="1700" b="0">
                <a:solidFill>
                  <a:srgbClr val="222222"/>
                </a:solidFill>
                <a:latin typeface="맑은 고딕"/>
              </a:rPr>
              <a:t>•  arraysize 1000: 약 11회</a:t>
            </a:r>
          </a:p>
          <a:p>
            <a:pPr algn="l"/>
            <a:r>
              <a:rPr sz="1700" b="0">
                <a:solidFill>
                  <a:srgbClr val="222222"/>
                </a:solidFill>
                <a:latin typeface="맑은 고딕"/>
              </a:rPr>
              <a:t>•  무한정 크게? OLTP 첫 화면은 작게, 배치·리포트는 크게</a:t>
            </a:r>
          </a:p>
        </p:txBody>
      </p:sp>
    </p:spTree>
    <p:extLst>
      <p:ext uri="{BB962C8B-B14F-4D97-AF65-F5344CB8AC3E}">
        <p14:creationId xmlns:p14="http://schemas.microsoft.com/office/powerpoint/2010/main" val="803705759"/>
      </p:ext>
    </p:extLst>
  </p:cSld>
  <p:clrMapOvr>
    <a:masterClrMapping/>
  </p:clrMapOvr>
</p:sld>
</file>

<file path=ppt/slides/slide6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autotrace로 왕복 확인</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rPr>
              <a:t>SET ARRAYSIZE로 대조</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tlCol="0" anchor="ctr"/>
          <a:lstStyle/>
          <a:p>
            <a:pPr algn="l"/>
            <a:r>
              <a:rPr sz="1250">
                <a:solidFill>
                  <a:srgbClr val="F2F2F2"/>
                </a:solidFill>
                <a:latin typeface="Consolas"/>
              </a:rPr>
              <a:t>SQLT@orcl&gt; SET AUTOTRACE TRACEONLY STATISTICS</a:t>
            </a:r>
          </a:p>
          <a:p>
            <a:pPr algn="l"/>
            <a:r>
              <a:rPr sz="1250">
                <a:solidFill>
                  <a:srgbClr val="F2F2F2"/>
                </a:solidFill>
                <a:latin typeface="Consolas"/>
              </a:rPr>
              <a:t>SQLT@orcl&gt; SET ARRAYSIZE 15</a:t>
            </a:r>
          </a:p>
          <a:p>
            <a:pPr algn="l"/>
            <a:r>
              <a:rPr sz="1250">
                <a:solidFill>
                  <a:srgbClr val="F2F2F2"/>
                </a:solidFill>
                <a:latin typeface="Consolas"/>
              </a:rPr>
              <a:t>SQLT@orcl&gt; SELECT * FROM claim_details;      -- 기본 배열 크기</a:t>
            </a:r>
          </a:p>
          <a:p>
            <a:pPr algn="l"/>
            <a:r>
              <a:rPr sz="1250">
                <a:solidFill>
                  <a:srgbClr val="F2F2F2"/>
                </a:solidFill>
                <a:latin typeface="Consolas"/>
              </a:rPr>
              <a:t>SQLT@orcl&gt; -- 'SQL*Net roundtrips to/from client', 'consistent gets' 기록</a:t>
            </a:r>
          </a:p>
          <a:p>
            <a:pPr algn="l"/>
            <a:r>
              <a:rPr sz="1250">
                <a:solidFill>
                  <a:srgbClr val="F2F2F2"/>
                </a:solidFill>
                <a:latin typeface="Consolas"/>
              </a:rPr>
              <a:t>SQLT@orcl&gt; SET ARRAYSIZE 1000</a:t>
            </a:r>
          </a:p>
          <a:p>
            <a:pPr algn="l"/>
            <a:r>
              <a:rPr sz="1250">
                <a:solidFill>
                  <a:srgbClr val="F2F2F2"/>
                </a:solidFill>
                <a:latin typeface="Consolas"/>
              </a:rPr>
              <a:t>SQLT@orcl&gt; SELECT * FROM claim_details;      -- 배열 크기 확대</a:t>
            </a:r>
          </a:p>
          <a:p>
            <a:pPr algn="l"/>
            <a:r>
              <a:rPr sz="1250">
                <a:solidFill>
                  <a:srgbClr val="F2F2F2"/>
                </a:solidFill>
                <a:latin typeface="Consolas"/>
              </a:rPr>
              <a:t>SQLT@orcl&gt; -- 왕복 급감 + 논리 읽기 감소를 대조</a:t>
            </a:r>
          </a:p>
        </p:txBody>
      </p:sp>
    </p:spTree>
    <p:extLst>
      <p:ext uri="{BB962C8B-B14F-4D97-AF65-F5344CB8AC3E}">
        <p14:creationId xmlns:p14="http://schemas.microsoft.com/office/powerpoint/2010/main" val="1807353868"/>
      </p:ext>
    </p:extLst>
  </p:cSld>
  <p:clrMapOvr>
    <a:masterClrMapping/>
  </p:clrMapOvr>
</p:sld>
</file>

<file path=ppt/slides/slide6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707886"/>
          </a:xfrm>
          <a:prstGeom prst="rect">
            <a:avLst/>
          </a:prstGeom>
          <a:noFill/>
        </p:spPr>
        <p:txBody>
          <a:bodyPr wrap="square">
            <a:spAutoFit/>
          </a:bodyPr>
          <a:lstStyle/>
          <a:p>
            <a:pPr algn="l"/>
            <a:r>
              <a:rPr lang="en-US" sz="4000" b="1" dirty="0">
                <a:solidFill>
                  <a:srgbClr val="FFFFFF"/>
                </a:solidFill>
                <a:latin typeface="맑은 고딕"/>
              </a:rPr>
              <a:t>16</a:t>
            </a:r>
            <a:r>
              <a:rPr sz="4000" b="1" dirty="0">
                <a:solidFill>
                  <a:srgbClr val="FFFFFF"/>
                </a:solidFill>
                <a:latin typeface="맑은 고딕"/>
              </a:rPr>
              <a:t>.6</a:t>
            </a:r>
          </a:p>
        </p:txBody>
      </p:sp>
      <p:sp>
        <p:nvSpPr>
          <p:cNvPr id="4" name="TextBox 3"/>
          <p:cNvSpPr txBox="1"/>
          <p:nvPr/>
        </p:nvSpPr>
        <p:spPr>
          <a:xfrm>
            <a:off x="822960" y="3017520"/>
            <a:ext cx="10515600" cy="914400"/>
          </a:xfrm>
          <a:prstGeom prst="rect">
            <a:avLst/>
          </a:prstGeom>
          <a:noFill/>
        </p:spPr>
        <p:txBody>
          <a:bodyPr wrap="square">
            <a:spAutoFit/>
          </a:bodyPr>
          <a:lstStyle/>
          <a:p>
            <a:pPr algn="l"/>
            <a:r>
              <a:rPr sz="2800" b="1">
                <a:solidFill>
                  <a:srgbClr val="FFFFFF"/>
                </a:solidFill>
                <a:latin typeface="맑은 고딕"/>
              </a:rPr>
              <a:t>그 밖의 설계 원칙</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r>
              <a:rPr sz="1600" b="0">
                <a:solidFill>
                  <a:srgbClr val="FFFFFF"/>
                </a:solidFill>
                <a:latin typeface="맑은 고딕"/>
              </a:rPr>
              <a:t>•  자주 쓰고 잘 안 바뀌는 데이터는 캐시한다</a:t>
            </a:r>
          </a:p>
          <a:p>
            <a:pPr algn="l"/>
            <a:r>
              <a:rPr sz="1600" b="0">
                <a:solidFill>
                  <a:srgbClr val="FFFFFF"/>
                </a:solidFill>
                <a:latin typeface="맑은 고딕"/>
              </a:rPr>
              <a:t>•  절차는 절차 언어로, 데이터 접근은 SQL로</a:t>
            </a:r>
          </a:p>
          <a:p>
            <a:pPr algn="l"/>
            <a:r>
              <a:rPr sz="1600" b="0">
                <a:solidFill>
                  <a:srgbClr val="FFFFFF"/>
                </a:solidFill>
                <a:latin typeface="맑은 고딕"/>
              </a:rPr>
              <a:t>•  객체지향·Java 개발의 흔한 함정</a:t>
            </a:r>
          </a:p>
        </p:txBody>
      </p:sp>
    </p:spTree>
    <p:extLst>
      <p:ext uri="{BB962C8B-B14F-4D97-AF65-F5344CB8AC3E}">
        <p14:creationId xmlns:p14="http://schemas.microsoft.com/office/powerpoint/2010/main" val="2053623222"/>
      </p:ext>
    </p:extLst>
  </p:cSld>
  <p:clrMapOvr>
    <a:masterClrMapping/>
  </p:clrMapOvr>
</p:sld>
</file>

<file path=ppt/slides/slide6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설계 원칙 — 캐시와 언어</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rPr>
              <a:t>확장 가능한 앱을 만드는 규칙</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rPr>
              <a:t>•  자주 접근·거의 안 바뀌는 데이터는 캐시(단, 원래보다 확실히 싸게)</a:t>
            </a:r>
          </a:p>
          <a:p>
            <a:pPr algn="l"/>
            <a:r>
              <a:rPr sz="1700" b="0">
                <a:solidFill>
                  <a:srgbClr val="222222"/>
                </a:solidFill>
                <a:latin typeface="맑은 고딕"/>
              </a:rPr>
              <a:t>•  SYSDATE FROM DUAL이 워크로드의 60%+를 차지하기도 함</a:t>
            </a:r>
          </a:p>
          <a:p>
            <a:pPr algn="l"/>
            <a:r>
              <a:rPr sz="1700" b="0">
                <a:solidFill>
                  <a:srgbClr val="222222"/>
                </a:solidFill>
                <a:latin typeface="맑은 고딕"/>
              </a:rPr>
              <a:t>•  절차 로직은 C·Java·PL/SQL로, 데이터 접근/DML은 SQL로</a:t>
            </a:r>
          </a:p>
          <a:p>
            <a:pPr algn="l"/>
            <a:r>
              <a:rPr sz="1700" b="0">
                <a:solidFill>
                  <a:srgbClr val="222222"/>
                </a:solidFill>
                <a:latin typeface="맑은 고딕"/>
              </a:rPr>
              <a:t>•  참조 무결성은 앱이 아니라 DB의 외래 키 제약으로 강제(빠르고 무네트워크)</a:t>
            </a:r>
          </a:p>
          <a:p>
            <a:pPr algn="l"/>
            <a:r>
              <a:rPr sz="1700" b="0">
                <a:solidFill>
                  <a:srgbClr val="222222"/>
                </a:solidFill>
                <a:latin typeface="맑은 고딕"/>
              </a:rPr>
              <a:t>•  로컬 캐시는 미들 계층으로 확장 가능(단, 너무 복잡해지면 이득 상실)</a:t>
            </a:r>
          </a:p>
        </p:txBody>
      </p:sp>
    </p:spTree>
    <p:extLst>
      <p:ext uri="{BB962C8B-B14F-4D97-AF65-F5344CB8AC3E}">
        <p14:creationId xmlns:p14="http://schemas.microsoft.com/office/powerpoint/2010/main" val="1721959100"/>
      </p:ext>
    </p:extLst>
  </p:cSld>
  <p:clrMapOvr>
    <a:masterClrMapping/>
  </p:clrMapOvr>
</p:sld>
</file>

<file path=ppt/slides/slide6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객체지향·Java의 함정</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rPr>
              <a:t>데이터 접근을 감추는 설계의 대가</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rPr>
              <a:t>•  Java는 이식성 좋지만 인터프리터라 느리고 클라이언트 자원 더 씀</a:t>
            </a:r>
          </a:p>
          <a:p>
            <a:pPr algn="l"/>
            <a:r>
              <a:rPr sz="1700" b="0">
                <a:solidFill>
                  <a:srgbClr val="222222"/>
                </a:solidFill>
                <a:latin typeface="맑은 고딕"/>
              </a:rPr>
              <a:t>•  데이터 접근을 클래스로 캡슐화 → 효율 모른 채 메서드 호출</a:t>
            </a:r>
          </a:p>
          <a:p>
            <a:pPr algn="l"/>
            <a:r>
              <a:rPr sz="1700" b="0">
                <a:solidFill>
                  <a:srgbClr val="222222"/>
                </a:solidFill>
                <a:latin typeface="맑은 고딕"/>
              </a:rPr>
              <a:t>•  → 최소·거친 인터페이스, WHERE 술어 누락, 앱에서 필터링</a:t>
            </a:r>
          </a:p>
          <a:p>
            <a:pPr algn="l"/>
            <a:r>
              <a:rPr sz="1700" b="0">
                <a:solidFill>
                  <a:srgbClr val="222222"/>
                </a:solidFill>
                <a:latin typeface="맑은 고딕"/>
              </a:rPr>
              <a:t>•  단건 INSERT로 배열 인터페이스 못 씀</a:t>
            </a:r>
          </a:p>
          <a:p>
            <a:pPr algn="l"/>
            <a:r>
              <a:rPr sz="1700" b="0">
                <a:solidFill>
                  <a:srgbClr val="222222"/>
                </a:solidFill>
                <a:latin typeface="맑은 고딕"/>
              </a:rPr>
              <a:t>•  종단 간 추적(End to End Tracing)용 액션·모듈 이름 설정 검토</a:t>
            </a:r>
          </a:p>
        </p:txBody>
      </p:sp>
    </p:spTree>
    <p:extLst>
      <p:ext uri="{BB962C8B-B14F-4D97-AF65-F5344CB8AC3E}">
        <p14:creationId xmlns:p14="http://schemas.microsoft.com/office/powerpoint/2010/main" val="736027068"/>
      </p:ext>
    </p:extLst>
  </p:cSld>
  <p:clrMapOvr>
    <a:masterClrMapping/>
  </p:clrMapOvr>
</p:sld>
</file>

<file path=ppt/slides/slide6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707886"/>
          </a:xfrm>
          <a:prstGeom prst="rect">
            <a:avLst/>
          </a:prstGeom>
          <a:noFill/>
        </p:spPr>
        <p:txBody>
          <a:bodyPr wrap="square">
            <a:spAutoFit/>
          </a:bodyPr>
          <a:lstStyle/>
          <a:p>
            <a:pPr algn="l"/>
            <a:r>
              <a:rPr lang="en-US" sz="4000" b="1" dirty="0">
                <a:solidFill>
                  <a:srgbClr val="FFFFFF"/>
                </a:solidFill>
                <a:latin typeface="맑은 고딕"/>
              </a:rPr>
              <a:t>16</a:t>
            </a:r>
            <a:r>
              <a:rPr sz="4000" b="1" dirty="0">
                <a:solidFill>
                  <a:srgbClr val="FFFFFF"/>
                </a:solidFill>
                <a:latin typeface="맑은 고딕"/>
              </a:rPr>
              <a:t>.7</a:t>
            </a:r>
          </a:p>
        </p:txBody>
      </p:sp>
      <p:sp>
        <p:nvSpPr>
          <p:cNvPr id="4" name="TextBox 3"/>
          <p:cNvSpPr txBox="1"/>
          <p:nvPr/>
        </p:nvSpPr>
        <p:spPr>
          <a:xfrm>
            <a:off x="822960" y="3017520"/>
            <a:ext cx="10515600" cy="914400"/>
          </a:xfrm>
          <a:prstGeom prst="rect">
            <a:avLst/>
          </a:prstGeom>
          <a:noFill/>
        </p:spPr>
        <p:txBody>
          <a:bodyPr wrap="square">
            <a:spAutoFit/>
          </a:bodyPr>
          <a:lstStyle/>
          <a:p>
            <a:pPr algn="l"/>
            <a:r>
              <a:rPr sz="2800" b="1">
                <a:solidFill>
                  <a:srgbClr val="FFFFFF"/>
                </a:solidFill>
                <a:latin typeface="맑은 고딕"/>
              </a:rPr>
              <a:t>배포 전 워크로드 테스트</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r>
              <a:rPr sz="1600" b="0">
                <a:solidFill>
                  <a:srgbClr val="FFFFFF"/>
                </a:solidFill>
                <a:latin typeface="맑은 고딕"/>
              </a:rPr>
              <a:t>•  워크로드 추정 — 유사 시스템 외삽·벤치마킹·모델링</a:t>
            </a:r>
          </a:p>
          <a:p>
            <a:pPr algn="l"/>
            <a:r>
              <a:rPr sz="1600" b="0">
                <a:solidFill>
                  <a:srgbClr val="FFFFFF"/>
                </a:solidFill>
                <a:latin typeface="맑은 고딕"/>
              </a:rPr>
              <a:t>•  설계 검증 테스트 규칙</a:t>
            </a:r>
          </a:p>
          <a:p>
            <a:pPr algn="l"/>
            <a:r>
              <a:rPr sz="1600" b="0">
                <a:solidFill>
                  <a:srgbClr val="FFFFFF"/>
                </a:solidFill>
                <a:latin typeface="맑은 고딕"/>
              </a:rPr>
              <a:t>•  배포 전략(Big Bang·Trickle)과 성능 체크리스트</a:t>
            </a:r>
          </a:p>
        </p:txBody>
      </p:sp>
    </p:spTree>
    <p:extLst>
      <p:ext uri="{BB962C8B-B14F-4D97-AF65-F5344CB8AC3E}">
        <p14:creationId xmlns:p14="http://schemas.microsoft.com/office/powerpoint/2010/main" val="101734737"/>
      </p:ext>
    </p:extLst>
  </p:cSld>
  <p:clrMapOvr>
    <a:masterClrMapping/>
  </p:clrMapOvr>
</p:sld>
</file>

<file path=ppt/slides/slide6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워크로드 추정</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rPr>
              <a:t>여러 방법으로 교차 검증</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rPr>
              <a:t>•  유사 시스템 외삽 — 특성 비슷한 기존 시스템을 기준으로 수정</a:t>
            </a:r>
          </a:p>
          <a:p>
            <a:pPr algn="l"/>
            <a:r>
              <a:rPr sz="1700" b="0">
                <a:solidFill>
                  <a:srgbClr val="222222"/>
                </a:solidFill>
                <a:latin typeface="맑은 고딕"/>
              </a:rPr>
              <a:t>•  벤치마킹 — 자원·시간 많이 들고 운영과 상관 낮을 수 있으나 I/O 파악에 유용</a:t>
            </a:r>
          </a:p>
          <a:p>
            <a:pPr algn="l"/>
            <a:r>
              <a:rPr sz="1700" b="0">
                <a:solidFill>
                  <a:srgbClr val="222222"/>
                </a:solidFill>
                <a:latin typeface="맑은 고딕"/>
              </a:rPr>
              <a:t>•  벤치마크는 모든 컴포넌트를 한계까지 → 설계 오류가 다 드러남</a:t>
            </a:r>
          </a:p>
          <a:p>
            <a:pPr algn="l"/>
            <a:r>
              <a:rPr sz="1700" b="0">
                <a:solidFill>
                  <a:srgbClr val="222222"/>
                </a:solidFill>
                <a:latin typeface="맑은 고딕"/>
              </a:rPr>
              <a:t>•  애플리케이션 모델링 — 정밀 모델~어림 계산, 구현 비효율은 미반영</a:t>
            </a:r>
          </a:p>
          <a:p>
            <a:pPr algn="l"/>
            <a:r>
              <a:rPr sz="1700" b="0">
                <a:solidFill>
                  <a:srgbClr val="222222"/>
                </a:solidFill>
                <a:latin typeface="맑은 고딕"/>
              </a:rPr>
              <a:t>•  비효율을 위한 여유를 미리 두고, 성능 방법(ch17)으로 발견</a:t>
            </a:r>
          </a:p>
        </p:txBody>
      </p:sp>
    </p:spTree>
    <p:extLst>
      <p:ext uri="{BB962C8B-B14F-4D97-AF65-F5344CB8AC3E}">
        <p14:creationId xmlns:p14="http://schemas.microsoft.com/office/powerpoint/2010/main" val="1792828492"/>
      </p:ext>
    </p:extLst>
  </p:cSld>
  <p:clrMapOvr>
    <a:masterClrMapping/>
  </p:clrMapOvr>
</p:sld>
</file>

<file path=ppt/slides/slide6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설계 검증 테스트 규칙</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rPr>
              <a:t>문서로 남기면 용량 계획의 자료</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rPr>
              <a:t>•  현실적 데이터량·분포로 테스트(완전 채운 테이블·운영 인덱스·통계)</a:t>
            </a:r>
          </a:p>
          <a:p>
            <a:pPr algn="l"/>
            <a:r>
              <a:rPr sz="1700" b="0">
                <a:solidFill>
                  <a:srgbClr val="222222"/>
                </a:solidFill>
                <a:latin typeface="맑은 고딕"/>
              </a:rPr>
              <a:t>•  운영에서 쓸 옵티마이저 모드로 테스트</a:t>
            </a:r>
          </a:p>
          <a:p>
            <a:pPr algn="l"/>
            <a:r>
              <a:rPr sz="1700" b="0">
                <a:solidFill>
                  <a:srgbClr val="222222"/>
                </a:solidFill>
                <a:latin typeface="맑은 고딕"/>
              </a:rPr>
              <a:t>•  단일 사용자 성능을 먼저 확보(안 되면 다중 사용자는 불가능)</a:t>
            </a:r>
          </a:p>
          <a:p>
            <a:pPr algn="l"/>
            <a:r>
              <a:rPr sz="1700" b="0">
                <a:solidFill>
                  <a:srgbClr val="222222"/>
                </a:solidFill>
                <a:latin typeface="맑은 고딕"/>
              </a:rPr>
              <a:t>•  모든 SQL의 실행계획을 확보·문서화</a:t>
            </a:r>
          </a:p>
          <a:p>
            <a:pPr algn="l"/>
            <a:r>
              <a:rPr sz="1700" b="0">
                <a:solidFill>
                  <a:srgbClr val="222222"/>
                </a:solidFill>
                <a:latin typeface="맑은 고딕"/>
              </a:rPr>
              <a:t>•  다중 사용자·DML은 잠금·직렬화 문제 테스트, 운영에 가까운 하드웨어</a:t>
            </a:r>
          </a:p>
        </p:txBody>
      </p:sp>
    </p:spTree>
    <p:extLst>
      <p:ext uri="{BB962C8B-B14F-4D97-AF65-F5344CB8AC3E}">
        <p14:creationId xmlns:p14="http://schemas.microsoft.com/office/powerpoint/2010/main" val="1129103022"/>
      </p:ext>
    </p:extLst>
  </p:cSld>
  <p:clrMapOvr>
    <a:masterClrMapping/>
  </p:clrMapOvr>
</p:sld>
</file>

<file path=ppt/slides/slide6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배포 전략</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rPr>
              <a:t>Big Bang vs Trickle</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rPr>
              <a:t>•  Big Bang: 모든 사용자를 한 번에 이전</a:t>
            </a:r>
          </a:p>
          <a:p>
            <a:pPr algn="l"/>
            <a:r>
              <a:rPr sz="1700" b="0">
                <a:solidFill>
                  <a:srgbClr val="222222"/>
                </a:solidFill>
                <a:latin typeface="맑은 고딕"/>
              </a:rPr>
              <a:t>•    — 데이터 변환·동기화 최소, 그러나 규모 테스트에 크게 의존</a:t>
            </a:r>
          </a:p>
          <a:p>
            <a:pPr algn="l"/>
            <a:r>
              <a:rPr sz="1700" b="0">
                <a:solidFill>
                  <a:srgbClr val="222222"/>
                </a:solidFill>
                <a:latin typeface="맑은 고딕"/>
              </a:rPr>
              <a:t>•  Trickle: 사용자를 조금씩 이전</a:t>
            </a:r>
          </a:p>
          <a:p>
            <a:pPr algn="l"/>
            <a:r>
              <a:rPr sz="1700" b="0">
                <a:solidFill>
                  <a:srgbClr val="222222"/>
                </a:solidFill>
                <a:latin typeface="맑은 고딕"/>
              </a:rPr>
              <a:t>•    — 확장성 문제를 부하 증가 중 디버깅, 소수만 영향, 데이터 동기화 필요</a:t>
            </a:r>
          </a:p>
          <a:p>
            <a:pPr algn="l"/>
            <a:r>
              <a:rPr sz="1700" b="0">
                <a:solidFill>
                  <a:srgbClr val="222222"/>
                </a:solidFill>
                <a:latin typeface="맑은 고딕"/>
              </a:rPr>
              <a:t>•  두 방식 모두 전환 중 중단 위험 있음 → 테스트 지식이 많을수록 유리</a:t>
            </a:r>
          </a:p>
        </p:txBody>
      </p:sp>
    </p:spTree>
    <p:extLst>
      <p:ext uri="{BB962C8B-B14F-4D97-AF65-F5344CB8AC3E}">
        <p14:creationId xmlns:p14="http://schemas.microsoft.com/office/powerpoint/2010/main" val="2949652354"/>
      </p:ext>
    </p:extLst>
  </p:cSld>
  <p:clrMapOvr>
    <a:masterClrMapping/>
  </p:clrMapOvr>
</p:sld>
</file>

<file path=ppt/slides/slide6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성능 체크리스트</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rPr>
              <a:t>배포를 돕는 작업 목록</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rPr>
              <a:t>•  SQL이 커서를 효율적으로 쓰는가 — 한 번 파싱·여러 번 실행</a:t>
            </a:r>
          </a:p>
          <a:p>
            <a:pPr algn="l"/>
            <a:r>
              <a:rPr sz="1700" b="0">
                <a:solidFill>
                  <a:srgbClr val="222222"/>
                </a:solidFill>
                <a:latin typeface="맑은 고딕"/>
              </a:rPr>
              <a:t>•    안 되는 최빈 이유: 바인드 미사용 + 리터럴 술어</a:t>
            </a:r>
          </a:p>
          <a:p>
            <a:pPr algn="l"/>
            <a:r>
              <a:rPr sz="1700" b="0">
                <a:solidFill>
                  <a:srgbClr val="222222"/>
                </a:solidFill>
                <a:latin typeface="맑은 고딕"/>
              </a:rPr>
              <a:t>•  미들웨어가 반복 로그온·로그오프 안 하는가</a:t>
            </a:r>
          </a:p>
          <a:p>
            <a:pPr algn="l"/>
            <a:r>
              <a:rPr sz="1700" b="0">
                <a:solidFill>
                  <a:srgbClr val="222222"/>
                </a:solidFill>
                <a:latin typeface="맑은 고딕"/>
              </a:rPr>
              <a:t>•  스키마 객체·통계가 개발→운영으로 올바르게 이관되었는가</a:t>
            </a:r>
          </a:p>
          <a:p>
            <a:pPr algn="l"/>
            <a:r>
              <a:rPr sz="1700" b="0">
                <a:solidFill>
                  <a:srgbClr val="222222"/>
                </a:solidFill>
                <a:latin typeface="맑은 고딕"/>
              </a:rPr>
              <a:t>•  배포 직후 기준선 통계 확보 → 첫 병목을 예상하고 성능 방법 적용</a:t>
            </a:r>
          </a:p>
        </p:txBody>
      </p:sp>
    </p:spTree>
    <p:extLst>
      <p:ext uri="{BB962C8B-B14F-4D97-AF65-F5344CB8AC3E}">
        <p14:creationId xmlns:p14="http://schemas.microsoft.com/office/powerpoint/2010/main" val="761381876"/>
      </p:ext>
    </p:extLst>
  </p:cSld>
  <p:clrMapOvr>
    <a:masterClrMapping/>
  </p:clrMapOvr>
</p:sld>
</file>

<file path=ppt/slides/slide6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퀴즈 (Quiz)</a:t>
            </a:r>
          </a:p>
        </p:txBody>
      </p:sp>
      <p:sp>
        <p:nvSpPr>
          <p:cNvPr id="4" name="TextBox 3"/>
          <p:cNvSpPr txBox="1"/>
          <p:nvPr/>
        </p:nvSpPr>
        <p:spPr>
          <a:xfrm>
            <a:off x="640080" y="1371600"/>
            <a:ext cx="10881360" cy="5120640"/>
          </a:xfrm>
          <a:prstGeom prst="rect">
            <a:avLst/>
          </a:prstGeom>
          <a:noFill/>
        </p:spPr>
        <p:txBody>
          <a:bodyPr wrap="square">
            <a:spAutoFit/>
          </a:bodyPr>
          <a:lstStyle/>
          <a:p>
            <a:pPr algn="l"/>
            <a:r>
              <a:rPr sz="1600" b="0">
                <a:solidFill>
                  <a:srgbClr val="222222"/>
                </a:solidFill>
                <a:latin typeface="맑은 고딕"/>
              </a:rPr>
              <a:t>•  Q1. 하드 파싱과 소프트 파싱의 차이는? 왜 소프트 파싱도 이상적이지 않은가?</a:t>
            </a:r>
          </a:p>
          <a:p>
            <a:pPr algn="l"/>
            <a:r>
              <a:rPr sz="1600" b="0">
                <a:solidFill>
                  <a:srgbClr val="222222"/>
                </a:solidFill>
                <a:latin typeface="맑은 고딕"/>
              </a:rPr>
              <a:t>•  Q2. 리터럴 SQL이 값마다 새 커서를 만드는 이유를 실측(300 vs 0)과 연결해 설명하라.</a:t>
            </a:r>
          </a:p>
          <a:p>
            <a:pPr algn="l"/>
            <a:r>
              <a:rPr sz="1600" b="0">
                <a:solidFill>
                  <a:srgbClr val="222222"/>
                </a:solidFill>
                <a:latin typeface="맑은 고딕"/>
              </a:rPr>
              <a:t>•  Q3. CURSOR_SHARING=FORCE가 근본 해법이 아닌 이유는?</a:t>
            </a:r>
          </a:p>
          <a:p>
            <a:pPr algn="l"/>
            <a:r>
              <a:rPr sz="1600" b="0">
                <a:solidFill>
                  <a:srgbClr val="222222"/>
                </a:solidFill>
                <a:latin typeface="맑은 고딕"/>
              </a:rPr>
              <a:t>•  Q4. 4-CPU 테스트의 270/150/60/30이 뜻하는 바를 확장성 관점에서 설명하라.</a:t>
            </a:r>
          </a:p>
          <a:p>
            <a:pPr algn="l"/>
            <a:r>
              <a:rPr sz="1600" b="0">
                <a:solidFill>
                  <a:srgbClr val="222222"/>
                </a:solidFill>
                <a:latin typeface="맑은 고딕"/>
              </a:rPr>
              <a:t>•  Q5. arraysize를 15→1000으로 올리면 10,000행 조회의 왕복은 어떻게 바뀌는가?</a:t>
            </a:r>
          </a:p>
          <a:p>
            <a:pPr algn="l"/>
            <a:r>
              <a:rPr sz="1600" b="0">
                <a:solidFill>
                  <a:srgbClr val="222222"/>
                </a:solidFill>
                <a:latin typeface="맑은 고딕"/>
              </a:rPr>
              <a:t>•  Q6. SQL*Net message from client가 상위인데 네트워크가 원인이 아닐 수 있는 경우는?</a:t>
            </a:r>
          </a:p>
        </p:txBody>
      </p:sp>
    </p:spTree>
    <p:extLst>
      <p:ext uri="{BB962C8B-B14F-4D97-AF65-F5344CB8AC3E}">
        <p14:creationId xmlns:p14="http://schemas.microsoft.com/office/powerpoint/2010/main" val="2867754127"/>
      </p:ext>
    </p:extLst>
  </p:cSld>
  <p:clrMapOvr>
    <a:masterClrMapping/>
  </p:clrMapOvr>
</p:sld>
</file>

<file path=ppt/slides/slide6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요약 (Summary)</a:t>
            </a:r>
          </a:p>
        </p:txBody>
      </p:sp>
      <p:sp>
        <p:nvSpPr>
          <p:cNvPr id="4" name="TextBox 3"/>
          <p:cNvSpPr txBox="1"/>
          <p:nvPr/>
        </p:nvSpPr>
        <p:spPr>
          <a:xfrm>
            <a:off x="640080" y="1371600"/>
            <a:ext cx="10881360" cy="5120640"/>
          </a:xfrm>
          <a:prstGeom prst="rect">
            <a:avLst/>
          </a:prstGeom>
          <a:noFill/>
        </p:spPr>
        <p:txBody>
          <a:bodyPr wrap="square">
            <a:spAutoFit/>
          </a:bodyPr>
          <a:lstStyle/>
          <a:p>
            <a:pPr algn="l"/>
            <a:r>
              <a:rPr sz="1600" b="0">
                <a:solidFill>
                  <a:srgbClr val="222222"/>
                </a:solidFill>
                <a:latin typeface="맑은 고딕"/>
              </a:rPr>
              <a:t>•  확장성은 자원을 늘린 만큼 처리 능력이 비례해 느는 성질. 설계에 가장 큰 영향.</a:t>
            </a:r>
          </a:p>
          <a:p>
            <a:pPr algn="l"/>
            <a:r>
              <a:rPr sz="1600" b="0">
                <a:solidFill>
                  <a:srgbClr val="222222"/>
                </a:solidFill>
                <a:latin typeface="맑은 고딕"/>
              </a:rPr>
              <a:t>•  리터럴 SQL은 값마다 커서·하드 파싱. 실측 리터럴 300 → 300, 바인드 300 → 0.</a:t>
            </a:r>
          </a:p>
          <a:p>
            <a:pPr algn="l"/>
            <a:r>
              <a:rPr sz="1600" b="0">
                <a:solidFill>
                  <a:srgbClr val="222222"/>
                </a:solidFill>
                <a:latin typeface="맑은 고딕"/>
              </a:rPr>
              <a:t>•  바인드 변수는 커서 1개 재사용. 코드 못 고칠 때만 CURSOR_SHARING=FORCE.</a:t>
            </a:r>
          </a:p>
          <a:p>
            <a:pPr algn="l"/>
            <a:r>
              <a:rPr sz="1600" b="0">
                <a:solidFill>
                  <a:srgbClr val="222222"/>
                </a:solidFill>
                <a:latin typeface="맑은 고딕"/>
              </a:rPr>
              <a:t>•  접속은 비싸다. 무파싱 270 → 재접속 30. 커넥션은 풀링해 재사용.</a:t>
            </a:r>
          </a:p>
          <a:p>
            <a:pPr algn="l"/>
            <a:r>
              <a:rPr sz="1600" b="0">
                <a:solidFill>
                  <a:srgbClr val="222222"/>
                </a:solidFill>
                <a:latin typeface="맑은 고딕"/>
              </a:rPr>
              <a:t>•  arraysize를 키우면 왕복·논리 읽기 감소. SQL*Net 대기≠네트워크 문제.</a:t>
            </a:r>
          </a:p>
          <a:p>
            <a:pPr algn="l"/>
            <a:r>
              <a:rPr sz="1600" b="0">
                <a:solidFill>
                  <a:srgbClr val="222222"/>
                </a:solidFill>
                <a:latin typeface="맑은 고딕"/>
              </a:rPr>
              <a:t>•  배포 전 현실적 데이터로 단일 사용자부터 검증, 배포 직후 기준선 통계 확보.</a:t>
            </a:r>
          </a:p>
        </p:txBody>
      </p:sp>
    </p:spTree>
    <p:extLst>
      <p:ext uri="{BB962C8B-B14F-4D97-AF65-F5344CB8AC3E}">
        <p14:creationId xmlns:p14="http://schemas.microsoft.com/office/powerpoint/2010/main" val="2024646887"/>
      </p:ext>
    </p:extLst>
  </p:cSld>
  <p:clrMapOvr>
    <a:masterClrMapping/>
  </p:clrMapOvr>
</p:sld>
</file>

<file path=ppt/slides/slide6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실습 개요 (Practice Overview)</a:t>
            </a:r>
          </a:p>
        </p:txBody>
      </p:sp>
      <p:sp>
        <p:nvSpPr>
          <p:cNvPr id="4" name="TextBox 3"/>
          <p:cNvSpPr txBox="1"/>
          <p:nvPr/>
        </p:nvSpPr>
        <p:spPr>
          <a:xfrm>
            <a:off x="640080" y="1371600"/>
            <a:ext cx="10881360" cy="5120640"/>
          </a:xfrm>
          <a:prstGeom prst="rect">
            <a:avLst/>
          </a:prstGeom>
          <a:noFill/>
        </p:spPr>
        <p:txBody>
          <a:bodyPr wrap="square">
            <a:spAutoFit/>
          </a:bodyPr>
          <a:lstStyle/>
          <a:p>
            <a:pPr algn="l"/>
            <a:r>
              <a:rPr sz="1600" b="0">
                <a:solidFill>
                  <a:srgbClr val="222222"/>
                </a:solidFill>
                <a:latin typeface="맑은 고딕"/>
              </a:rPr>
              <a:t>•  실습 01 — WL_01_parse.sql: 바인드 유무별 커서 수·하드 파싱 델타 대조(300 vs 0)</a:t>
            </a:r>
          </a:p>
          <a:p>
            <a:pPr algn="l"/>
            <a:r>
              <a:rPr sz="1600" b="0">
                <a:solidFill>
                  <a:srgbClr val="222222"/>
                </a:solidFill>
                <a:latin typeface="맑은 고딕"/>
              </a:rPr>
              <a:t>•  실습 02 — CURSOR_SHARING 설정별 동작(EXACT vs FORCE) 확인</a:t>
            </a:r>
          </a:p>
          <a:p>
            <a:pPr algn="l"/>
            <a:r>
              <a:rPr sz="1600" b="0">
                <a:solidFill>
                  <a:srgbClr val="222222"/>
                </a:solidFill>
                <a:latin typeface="맑은 고딕"/>
              </a:rPr>
              <a:t>•  실습 03 — 커넥션 획득 비용 측정: 접속 반복 vs 재사용(logons cumulative)</a:t>
            </a:r>
          </a:p>
          <a:p>
            <a:pPr algn="l"/>
            <a:r>
              <a:rPr sz="1600" b="0">
                <a:solidFill>
                  <a:srgbClr val="222222"/>
                </a:solidFill>
                <a:latin typeface="맑은 고딕"/>
              </a:rPr>
              <a:t>•  실습 04 — arraysize 변경에 따른 SQL*Net 왕복·consistent gets 변화 확인</a:t>
            </a:r>
          </a:p>
          <a:p>
            <a:pPr algn="l"/>
            <a:r>
              <a:rPr sz="1600" b="0">
                <a:solidFill>
                  <a:srgbClr val="222222"/>
                </a:solidFill>
                <a:latin typeface="맑은 고딕"/>
              </a:rPr>
              <a:t>•  실습 05 — 시퀀스 경합 재현: 오류 없이 대기로만 드러나는 확장성 문제와 CACHE 조정</a:t>
            </a:r>
          </a:p>
        </p:txBody>
      </p:sp>
    </p:spTree>
    <p:extLst>
      <p:ext uri="{BB962C8B-B14F-4D97-AF65-F5344CB8AC3E}">
        <p14:creationId xmlns:p14="http://schemas.microsoft.com/office/powerpoint/2010/main" val="2758337513"/>
      </p:ext>
    </p:extLst>
  </p:cSld>
  <p:clrMapOvr>
    <a:masterClrMapping/>
  </p:clrMapOvr>
</p:sld>
</file>

<file path=ppt/slides/slide6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5394960"/>
            <a:ext cx="12188952"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457200"/>
            <a:ext cx="10698480" cy="548640"/>
          </a:xfrm>
          <a:prstGeom prst="rect">
            <a:avLst/>
          </a:prstGeom>
          <a:noFill/>
        </p:spPr>
        <p:txBody>
          <a:bodyPr wrap="square">
            <a:spAutoFit/>
          </a:bodyPr>
          <a:lstStyle/>
          <a:p>
            <a:pPr algn="l"/>
            <a:r>
              <a:rPr sz="1600" b="1">
                <a:solidFill>
                  <a:srgbClr val="FFFFFF"/>
                </a:solidFill>
                <a:latin typeface="맑은 고딕"/>
                <a:ea typeface="맑은 고딕"/>
              </a:rPr>
              <a:t>Oracle Database 19c 성능 튜닝 실무 과정</a:t>
            </a:r>
          </a:p>
        </p:txBody>
      </p:sp>
      <p:sp>
        <p:nvSpPr>
          <p:cNvPr id="6" name="TextBox 5"/>
          <p:cNvSpPr txBox="1"/>
          <p:nvPr/>
        </p:nvSpPr>
        <p:spPr>
          <a:xfrm>
            <a:off x="731520" y="2377440"/>
            <a:ext cx="10698480" cy="1554480"/>
          </a:xfrm>
          <a:prstGeom prst="rect">
            <a:avLst/>
          </a:prstGeom>
          <a:noFill/>
        </p:spPr>
        <p:txBody>
          <a:bodyPr wrap="square">
            <a:spAutoFit/>
          </a:bodyPr>
          <a:lstStyle/>
          <a:p>
            <a:pPr algn="l"/>
            <a:r>
              <a:rPr sz="3400" b="1">
                <a:solidFill>
                  <a:srgbClr val="C0392B"/>
                </a:solidFill>
                <a:latin typeface="맑은 고딕"/>
                <a:ea typeface="맑은 고딕"/>
              </a:rPr>
              <a:t>성능 개선 방법론과 긴급 대응</a:t>
            </a:r>
          </a:p>
          <a:p>
            <a:pPr algn="l"/>
            <a:r>
              <a:rPr sz="2000" b="0">
                <a:solidFill>
                  <a:srgbClr val="5A6672"/>
                </a:solidFill>
                <a:latin typeface="맑은 고딕"/>
                <a:ea typeface="맑은 고딕"/>
              </a:rPr>
              <a:t>Performance Improvement Methods — 무엇부터, 어떤 순서로 손대는가</a:t>
            </a:r>
          </a:p>
        </p:txBody>
      </p:sp>
      <p:sp>
        <p:nvSpPr>
          <p:cNvPr id="7" name="TextBox 6"/>
          <p:cNvSpPr txBox="1"/>
          <p:nvPr/>
        </p:nvSpPr>
        <p:spPr>
          <a:xfrm>
            <a:off x="731520" y="4114800"/>
            <a:ext cx="10698480" cy="1097280"/>
          </a:xfrm>
          <a:prstGeom prst="rect">
            <a:avLst/>
          </a:prstGeom>
          <a:noFill/>
        </p:spPr>
        <p:txBody>
          <a:bodyPr wrap="square">
            <a:spAutoFit/>
          </a:bodyPr>
          <a:lstStyle/>
          <a:p>
            <a:pPr algn="l"/>
            <a:r>
              <a:rPr sz="1500" b="0">
                <a:solidFill>
                  <a:srgbClr val="5A6672"/>
                </a:solidFill>
                <a:latin typeface="맑은 고딕"/>
                <a:ea typeface="맑은 고딕"/>
              </a:rPr>
              <a:t>성능 개선 방법론 · 긴급 대응 5단계 · 블로킹 세션 추적 · 조치 전 근거 캡처</a:t>
            </a:r>
          </a:p>
        </p:txBody>
      </p:sp>
      <p:sp>
        <p:nvSpPr>
          <p:cNvPr id="8" name="TextBox 7"/>
          <p:cNvSpPr txBox="1"/>
          <p:nvPr/>
        </p:nvSpPr>
        <p:spPr>
          <a:xfrm>
            <a:off x="731520" y="5577840"/>
            <a:ext cx="10698480" cy="914400"/>
          </a:xfrm>
          <a:prstGeom prst="rect">
            <a:avLst/>
          </a:prstGeom>
          <a:noFill/>
        </p:spPr>
        <p:txBody>
          <a:bodyPr wrap="square">
            <a:spAutoFit/>
          </a:bodyPr>
          <a:lstStyle/>
          <a:p>
            <a:pPr algn="l"/>
            <a:r>
              <a:rPr sz="2000" b="1">
                <a:solidFill>
                  <a:srgbClr val="C0392B"/>
                </a:solidFill>
                <a:latin typeface="맑은 고딕"/>
                <a:ea typeface="맑은 고딕"/>
              </a:rPr>
              <a:t>ch17</a:t>
            </a:r>
          </a:p>
        </p:txBody>
      </p:sp>
    </p:spTree>
    <p:extLst>
      <p:ext uri="{BB962C8B-B14F-4D97-AF65-F5344CB8AC3E}">
        <p14:creationId xmlns:p14="http://schemas.microsoft.com/office/powerpoint/2010/main" val="3910897790"/>
      </p:ext>
    </p:extLst>
  </p:cSld>
  <p:clrMapOvr>
    <a:masterClrMapping/>
  </p:clrMapOvr>
</p:sld>
</file>

<file path=ppt/slides/slide6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학습 목표 (Objectives)</a:t>
            </a:r>
          </a:p>
        </p:txBody>
      </p:sp>
      <p:sp>
        <p:nvSpPr>
          <p:cNvPr id="4" name="TextBox 3"/>
          <p:cNvSpPr txBox="1"/>
          <p:nvPr/>
        </p:nvSpPr>
        <p:spPr>
          <a:xfrm>
            <a:off x="640080" y="1371600"/>
            <a:ext cx="10881360" cy="5120640"/>
          </a:xfrm>
          <a:prstGeom prst="rect">
            <a:avLst/>
          </a:prstGeom>
          <a:noFill/>
        </p:spPr>
        <p:txBody>
          <a:bodyPr wrap="square">
            <a:spAutoFit/>
          </a:bodyPr>
          <a:lstStyle/>
          <a:p>
            <a:pPr algn="l"/>
            <a:r>
              <a:rPr sz="1600" b="0">
                <a:solidFill>
                  <a:srgbClr val="222222"/>
                </a:solidFill>
                <a:latin typeface="맑은 고딕"/>
                <a:ea typeface="맑은 고딕"/>
              </a:rPr>
              <a:t>•  오라클 성능 개선 방법론의 여섯 단계를 순서대로 설명하고, '병목을 확인한 뒤에만 바꾼다'는 전제를 지킨다.</a:t>
            </a:r>
          </a:p>
          <a:p>
            <a:pPr algn="l"/>
            <a:r>
              <a:rPr sz="1600" b="0">
                <a:solidFill>
                  <a:srgbClr val="222222"/>
                </a:solidFill>
                <a:latin typeface="맑은 고딕"/>
                <a:ea typeface="맑은 고딕"/>
              </a:rPr>
              <a:t>•  증상과 원인을 혼동하지 않고, 자원 대기(wait events)에서 직렬화 지점과 원인으로 좁혀 들어간다.</a:t>
            </a:r>
          </a:p>
          <a:p>
            <a:pPr algn="l"/>
            <a:r>
              <a:rPr sz="1600" b="0">
                <a:solidFill>
                  <a:srgbClr val="222222"/>
                </a:solidFill>
                <a:latin typeface="맑은 고딕"/>
                <a:ea typeface="맑은 고딕"/>
              </a:rPr>
              <a:t>•  오라클에서 자주 나오는 열 가지 실수를 알고, 눈앞의 증상을 이 목록과 대조해 원인 가설을 세운다.</a:t>
            </a:r>
          </a:p>
          <a:p>
            <a:pPr algn="l"/>
            <a:r>
              <a:rPr sz="1600" b="0">
                <a:solidFill>
                  <a:srgbClr val="222222"/>
                </a:solidFill>
                <a:latin typeface="맑은 고딕"/>
                <a:ea typeface="맑은 고딕"/>
              </a:rPr>
              <a:t>•  긴급 대응 방법의 다섯 단계를 설명하고, 응급 조치와 근본 원인 분석을 분리해 수행한다.</a:t>
            </a:r>
          </a:p>
          <a:p>
            <a:pPr algn="l"/>
            <a:r>
              <a:rPr sz="1600" b="0">
                <a:solidFill>
                  <a:srgbClr val="222222"/>
                </a:solidFill>
                <a:latin typeface="맑은 고딕"/>
                <a:ea typeface="맑은 고딕"/>
              </a:rPr>
              <a:t>•  응급 상황에서 CPU 병목인지 대기 병목인지 V$ 뷰로 판별한다.</a:t>
            </a:r>
          </a:p>
          <a:p>
            <a:pPr algn="l"/>
            <a:r>
              <a:rPr sz="1600" b="0">
                <a:solidFill>
                  <a:srgbClr val="222222"/>
                </a:solidFill>
                <a:latin typeface="맑은 고딕"/>
                <a:ea typeface="맑은 고딕"/>
              </a:rPr>
              <a:t>•  V$SESSION.BLOCKING_SESSION·V$LOCK·DBA_BLOCKERS로 블로커와 대기자를 지목한다.</a:t>
            </a:r>
          </a:p>
          <a:p>
            <a:pPr algn="l"/>
            <a:r>
              <a:rPr sz="1600" b="0">
                <a:solidFill>
                  <a:srgbClr val="222222"/>
                </a:solidFill>
                <a:latin typeface="맑은 고딕"/>
                <a:ea typeface="맑은 고딕"/>
              </a:rPr>
              <a:t>•  근거를 캡처한 뒤에만 세션을 종료한다. 조치 전 캡처 없는 튜닝은 도박임을 안다.</a:t>
            </a:r>
          </a:p>
        </p:txBody>
      </p:sp>
    </p:spTree>
    <p:extLst>
      <p:ext uri="{BB962C8B-B14F-4D97-AF65-F5344CB8AC3E}">
        <p14:creationId xmlns:p14="http://schemas.microsoft.com/office/powerpoint/2010/main" val="1018335754"/>
      </p:ext>
    </p:extLst>
  </p:cSld>
  <p:clrMapOvr>
    <a:masterClrMapping/>
  </p:clrMapOvr>
</p:sld>
</file>

<file path=ppt/slides/slide6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이 장의 구성 (Agenda)</a:t>
            </a:r>
          </a:p>
        </p:txBody>
      </p:sp>
      <p:sp>
        <p:nvSpPr>
          <p:cNvPr id="4" name="TextBox 3"/>
          <p:cNvSpPr txBox="1"/>
          <p:nvPr/>
        </p:nvSpPr>
        <p:spPr>
          <a:xfrm>
            <a:off x="640080" y="1371600"/>
            <a:ext cx="10881360" cy="1815882"/>
          </a:xfrm>
          <a:prstGeom prst="rect">
            <a:avLst/>
          </a:prstGeom>
          <a:noFill/>
        </p:spPr>
        <p:txBody>
          <a:bodyPr wrap="square">
            <a:spAutoFit/>
          </a:bodyPr>
          <a:lstStyle/>
          <a:p>
            <a:pPr algn="l"/>
            <a:r>
              <a:rPr sz="1600" b="0" dirty="0">
                <a:solidFill>
                  <a:srgbClr val="222222"/>
                </a:solidFill>
                <a:latin typeface="맑은 고딕"/>
                <a:ea typeface="맑은 고딕"/>
              </a:rPr>
              <a:t>•  </a:t>
            </a:r>
            <a:r>
              <a:rPr lang="en-US" sz="1600" b="0" dirty="0">
                <a:solidFill>
                  <a:srgbClr val="222222"/>
                </a:solidFill>
                <a:latin typeface="맑은 고딕"/>
                <a:ea typeface="맑은 고딕"/>
              </a:rPr>
              <a:t>17</a:t>
            </a:r>
            <a:r>
              <a:rPr sz="1600" b="0" dirty="0">
                <a:solidFill>
                  <a:srgbClr val="222222"/>
                </a:solidFill>
                <a:latin typeface="맑은 고딕"/>
                <a:ea typeface="맑은 고딕"/>
              </a:rPr>
              <a:t>.2  </a:t>
            </a:r>
            <a:r>
              <a:rPr sz="1600" b="0" dirty="0" err="1">
                <a:solidFill>
                  <a:srgbClr val="222222"/>
                </a:solidFill>
                <a:latin typeface="맑은 고딕"/>
                <a:ea typeface="맑은 고딕"/>
              </a:rPr>
              <a:t>오라클</a:t>
            </a:r>
            <a:r>
              <a:rPr sz="1600" b="0" dirty="0">
                <a:solidFill>
                  <a:srgbClr val="222222"/>
                </a:solidFill>
                <a:latin typeface="맑은 고딕"/>
                <a:ea typeface="맑은 고딕"/>
              </a:rPr>
              <a:t> </a:t>
            </a:r>
            <a:r>
              <a:rPr sz="1600" b="0" dirty="0" err="1">
                <a:solidFill>
                  <a:srgbClr val="222222"/>
                </a:solidFill>
                <a:latin typeface="맑은 고딕"/>
                <a:ea typeface="맑은 고딕"/>
              </a:rPr>
              <a:t>성능</a:t>
            </a:r>
            <a:r>
              <a:rPr sz="1600" b="0" dirty="0">
                <a:solidFill>
                  <a:srgbClr val="222222"/>
                </a:solidFill>
                <a:latin typeface="맑은 고딕"/>
                <a:ea typeface="맑은 고딕"/>
              </a:rPr>
              <a:t> </a:t>
            </a:r>
            <a:r>
              <a:rPr sz="1600" b="0" dirty="0" err="1">
                <a:solidFill>
                  <a:srgbClr val="222222"/>
                </a:solidFill>
                <a:latin typeface="맑은 고딕"/>
                <a:ea typeface="맑은 고딕"/>
              </a:rPr>
              <a:t>개선</a:t>
            </a:r>
            <a:r>
              <a:rPr sz="1600" b="0" dirty="0">
                <a:solidFill>
                  <a:srgbClr val="222222"/>
                </a:solidFill>
                <a:latin typeface="맑은 고딕"/>
                <a:ea typeface="맑은 고딕"/>
              </a:rPr>
              <a:t> </a:t>
            </a:r>
            <a:r>
              <a:rPr sz="1600" b="0" dirty="0" err="1">
                <a:solidFill>
                  <a:srgbClr val="222222"/>
                </a:solidFill>
                <a:latin typeface="맑은 고딕"/>
                <a:ea typeface="맑은 고딕"/>
              </a:rPr>
              <a:t>방법론</a:t>
            </a:r>
            <a:r>
              <a:rPr sz="1600" b="0" dirty="0">
                <a:solidFill>
                  <a:srgbClr val="222222"/>
                </a:solidFill>
                <a:latin typeface="맑은 고딕"/>
                <a:ea typeface="맑은 고딕"/>
              </a:rPr>
              <a:t> — </a:t>
            </a:r>
            <a:r>
              <a:rPr sz="1600" b="0" dirty="0" err="1">
                <a:solidFill>
                  <a:srgbClr val="222222"/>
                </a:solidFill>
                <a:latin typeface="맑은 고딕"/>
                <a:ea typeface="맑은 고딕"/>
              </a:rPr>
              <a:t>일하는</a:t>
            </a:r>
            <a:r>
              <a:rPr sz="1600" b="0" dirty="0">
                <a:solidFill>
                  <a:srgbClr val="222222"/>
                </a:solidFill>
                <a:latin typeface="맑은 고딕"/>
                <a:ea typeface="맑은 고딕"/>
              </a:rPr>
              <a:t> </a:t>
            </a:r>
            <a:r>
              <a:rPr sz="1600" b="0" dirty="0" err="1">
                <a:solidFill>
                  <a:srgbClr val="222222"/>
                </a:solidFill>
                <a:latin typeface="맑은 고딕"/>
                <a:ea typeface="맑은 고딕"/>
              </a:rPr>
              <a:t>방식과</a:t>
            </a:r>
            <a:r>
              <a:rPr sz="1600" b="0" dirty="0">
                <a:solidFill>
                  <a:srgbClr val="222222"/>
                </a:solidFill>
                <a:latin typeface="맑은 고딕"/>
                <a:ea typeface="맑은 고딕"/>
              </a:rPr>
              <a:t> </a:t>
            </a:r>
            <a:r>
              <a:rPr sz="1600" b="0" dirty="0" err="1">
                <a:solidFill>
                  <a:srgbClr val="222222"/>
                </a:solidFill>
                <a:latin typeface="맑은 고딕"/>
                <a:ea typeface="맑은 고딕"/>
              </a:rPr>
              <a:t>여섯</a:t>
            </a:r>
            <a:r>
              <a:rPr sz="1600" b="0" dirty="0">
                <a:solidFill>
                  <a:srgbClr val="222222"/>
                </a:solidFill>
                <a:latin typeface="맑은 고딕"/>
                <a:ea typeface="맑은 고딕"/>
              </a:rPr>
              <a:t> </a:t>
            </a:r>
            <a:r>
              <a:rPr sz="1600" b="0" dirty="0" err="1">
                <a:solidFill>
                  <a:srgbClr val="222222"/>
                </a:solidFill>
                <a:latin typeface="맑은 고딕"/>
                <a:ea typeface="맑은 고딕"/>
              </a:rPr>
              <a:t>단계</a:t>
            </a:r>
            <a:endParaRPr sz="1600" b="0" dirty="0">
              <a:solidFill>
                <a:srgbClr val="222222"/>
              </a:solidFill>
              <a:latin typeface="맑은 고딕"/>
              <a:ea typeface="맑은 고딕"/>
            </a:endParaRPr>
          </a:p>
          <a:p>
            <a:pPr algn="l"/>
            <a:r>
              <a:rPr sz="1600" b="0" dirty="0">
                <a:solidFill>
                  <a:srgbClr val="222222"/>
                </a:solidFill>
                <a:latin typeface="맑은 고딕"/>
                <a:ea typeface="맑은 고딕"/>
              </a:rPr>
              <a:t>•  </a:t>
            </a:r>
            <a:r>
              <a:rPr lang="en-US" sz="1600" b="0" dirty="0">
                <a:solidFill>
                  <a:srgbClr val="222222"/>
                </a:solidFill>
                <a:latin typeface="맑은 고딕"/>
                <a:ea typeface="맑은 고딕"/>
              </a:rPr>
              <a:t>17</a:t>
            </a:r>
            <a:r>
              <a:rPr sz="1600" b="0" dirty="0">
                <a:solidFill>
                  <a:srgbClr val="222222"/>
                </a:solidFill>
                <a:latin typeface="맑은 고딕"/>
                <a:ea typeface="맑은 고딕"/>
              </a:rPr>
              <a:t>.3  </a:t>
            </a:r>
            <a:r>
              <a:rPr sz="1600" b="0" dirty="0" err="1">
                <a:solidFill>
                  <a:srgbClr val="222222"/>
                </a:solidFill>
                <a:latin typeface="맑은 고딕"/>
                <a:ea typeface="맑은 고딕"/>
              </a:rPr>
              <a:t>증상에서</a:t>
            </a:r>
            <a:r>
              <a:rPr sz="1600" b="0" dirty="0">
                <a:solidFill>
                  <a:srgbClr val="222222"/>
                </a:solidFill>
                <a:latin typeface="맑은 고딕"/>
                <a:ea typeface="맑은 고딕"/>
              </a:rPr>
              <a:t> </a:t>
            </a:r>
            <a:r>
              <a:rPr sz="1600" b="0" dirty="0" err="1">
                <a:solidFill>
                  <a:srgbClr val="222222"/>
                </a:solidFill>
                <a:latin typeface="맑은 고딕"/>
                <a:ea typeface="맑은 고딕"/>
              </a:rPr>
              <a:t>원인으로</a:t>
            </a:r>
            <a:r>
              <a:rPr sz="1600" b="0" dirty="0">
                <a:solidFill>
                  <a:srgbClr val="222222"/>
                </a:solidFill>
                <a:latin typeface="맑은 고딕"/>
                <a:ea typeface="맑은 고딕"/>
              </a:rPr>
              <a:t> — </a:t>
            </a:r>
            <a:r>
              <a:rPr sz="1600" b="0" dirty="0" err="1">
                <a:solidFill>
                  <a:srgbClr val="222222"/>
                </a:solidFill>
                <a:latin typeface="맑은 고딕"/>
                <a:ea typeface="맑은 고딕"/>
              </a:rPr>
              <a:t>자주</a:t>
            </a:r>
            <a:r>
              <a:rPr sz="1600" b="0" dirty="0">
                <a:solidFill>
                  <a:srgbClr val="222222"/>
                </a:solidFill>
                <a:latin typeface="맑은 고딕"/>
                <a:ea typeface="맑은 고딕"/>
              </a:rPr>
              <a:t> </a:t>
            </a:r>
            <a:r>
              <a:rPr sz="1600" b="0" dirty="0" err="1">
                <a:solidFill>
                  <a:srgbClr val="222222"/>
                </a:solidFill>
                <a:latin typeface="맑은 고딕"/>
                <a:ea typeface="맑은 고딕"/>
              </a:rPr>
              <a:t>나오는</a:t>
            </a:r>
            <a:r>
              <a:rPr sz="1600" b="0" dirty="0">
                <a:solidFill>
                  <a:srgbClr val="222222"/>
                </a:solidFill>
                <a:latin typeface="맑은 고딕"/>
                <a:ea typeface="맑은 고딕"/>
              </a:rPr>
              <a:t> 열 </a:t>
            </a:r>
            <a:r>
              <a:rPr sz="1600" b="0" dirty="0" err="1">
                <a:solidFill>
                  <a:srgbClr val="222222"/>
                </a:solidFill>
                <a:latin typeface="맑은 고딕"/>
                <a:ea typeface="맑은 고딕"/>
              </a:rPr>
              <a:t>가지</a:t>
            </a:r>
            <a:r>
              <a:rPr sz="1600" b="0" dirty="0">
                <a:solidFill>
                  <a:srgbClr val="222222"/>
                </a:solidFill>
                <a:latin typeface="맑은 고딕"/>
                <a:ea typeface="맑은 고딕"/>
              </a:rPr>
              <a:t> </a:t>
            </a:r>
            <a:r>
              <a:rPr sz="1600" b="0" dirty="0" err="1">
                <a:solidFill>
                  <a:srgbClr val="222222"/>
                </a:solidFill>
                <a:latin typeface="맑은 고딕"/>
                <a:ea typeface="맑은 고딕"/>
              </a:rPr>
              <a:t>실수</a:t>
            </a:r>
            <a:endParaRPr sz="1600" b="0" dirty="0">
              <a:solidFill>
                <a:srgbClr val="222222"/>
              </a:solidFill>
              <a:latin typeface="맑은 고딕"/>
              <a:ea typeface="맑은 고딕"/>
            </a:endParaRPr>
          </a:p>
          <a:p>
            <a:pPr algn="l"/>
            <a:r>
              <a:rPr sz="1600" b="0" dirty="0">
                <a:solidFill>
                  <a:srgbClr val="222222"/>
                </a:solidFill>
                <a:latin typeface="맑은 고딕"/>
                <a:ea typeface="맑은 고딕"/>
              </a:rPr>
              <a:t>•  </a:t>
            </a:r>
            <a:r>
              <a:rPr lang="en-US" sz="1600" b="0" dirty="0">
                <a:solidFill>
                  <a:srgbClr val="222222"/>
                </a:solidFill>
                <a:latin typeface="맑은 고딕"/>
                <a:ea typeface="맑은 고딕"/>
              </a:rPr>
              <a:t>17</a:t>
            </a:r>
            <a:r>
              <a:rPr sz="1600" b="0" dirty="0">
                <a:solidFill>
                  <a:srgbClr val="222222"/>
                </a:solidFill>
                <a:latin typeface="맑은 고딕"/>
                <a:ea typeface="맑은 고딕"/>
              </a:rPr>
              <a:t>.4  </a:t>
            </a:r>
            <a:r>
              <a:rPr sz="1600" b="0" dirty="0" err="1">
                <a:solidFill>
                  <a:srgbClr val="222222"/>
                </a:solidFill>
                <a:latin typeface="맑은 고딕"/>
                <a:ea typeface="맑은 고딕"/>
              </a:rPr>
              <a:t>긴급</a:t>
            </a:r>
            <a:r>
              <a:rPr sz="1600" b="0" dirty="0">
                <a:solidFill>
                  <a:srgbClr val="222222"/>
                </a:solidFill>
                <a:latin typeface="맑은 고딕"/>
                <a:ea typeface="맑은 고딕"/>
              </a:rPr>
              <a:t> </a:t>
            </a:r>
            <a:r>
              <a:rPr sz="1600" b="0" dirty="0" err="1">
                <a:solidFill>
                  <a:srgbClr val="222222"/>
                </a:solidFill>
                <a:latin typeface="맑은 고딕"/>
                <a:ea typeface="맑은 고딕"/>
              </a:rPr>
              <a:t>대응</a:t>
            </a:r>
            <a:r>
              <a:rPr sz="1600" b="0" dirty="0">
                <a:solidFill>
                  <a:srgbClr val="222222"/>
                </a:solidFill>
                <a:latin typeface="맑은 고딕"/>
                <a:ea typeface="맑은 고딕"/>
              </a:rPr>
              <a:t> — </a:t>
            </a:r>
            <a:r>
              <a:rPr sz="1600" b="0" dirty="0" err="1">
                <a:solidFill>
                  <a:srgbClr val="222222"/>
                </a:solidFill>
                <a:latin typeface="맑은 고딕"/>
                <a:ea typeface="맑은 고딕"/>
              </a:rPr>
              <a:t>다섯</a:t>
            </a:r>
            <a:r>
              <a:rPr sz="1600" b="0" dirty="0">
                <a:solidFill>
                  <a:srgbClr val="222222"/>
                </a:solidFill>
                <a:latin typeface="맑은 고딕"/>
                <a:ea typeface="맑은 고딕"/>
              </a:rPr>
              <a:t> </a:t>
            </a:r>
            <a:r>
              <a:rPr sz="1600" b="0" dirty="0" err="1">
                <a:solidFill>
                  <a:srgbClr val="222222"/>
                </a:solidFill>
                <a:latin typeface="맑은 고딕"/>
                <a:ea typeface="맑은 고딕"/>
              </a:rPr>
              <a:t>단계와</a:t>
            </a:r>
            <a:r>
              <a:rPr sz="1600" b="0" dirty="0">
                <a:solidFill>
                  <a:srgbClr val="222222"/>
                </a:solidFill>
                <a:latin typeface="맑은 고딕"/>
                <a:ea typeface="맑은 고딕"/>
              </a:rPr>
              <a:t> '</a:t>
            </a:r>
            <a:r>
              <a:rPr sz="1600" b="0" dirty="0" err="1">
                <a:solidFill>
                  <a:srgbClr val="222222"/>
                </a:solidFill>
                <a:latin typeface="맑은 고딕"/>
                <a:ea typeface="맑은 고딕"/>
              </a:rPr>
              <a:t>조치·원인</a:t>
            </a:r>
            <a:r>
              <a:rPr sz="1600" b="0" dirty="0">
                <a:solidFill>
                  <a:srgbClr val="222222"/>
                </a:solidFill>
                <a:latin typeface="맑은 고딕"/>
                <a:ea typeface="맑은 고딕"/>
              </a:rPr>
              <a:t> </a:t>
            </a:r>
            <a:r>
              <a:rPr sz="1600" b="0" dirty="0" err="1">
                <a:solidFill>
                  <a:srgbClr val="222222"/>
                </a:solidFill>
                <a:latin typeface="맑은 고딕"/>
                <a:ea typeface="맑은 고딕"/>
              </a:rPr>
              <a:t>분석</a:t>
            </a:r>
            <a:r>
              <a:rPr sz="1600" b="0" dirty="0">
                <a:solidFill>
                  <a:srgbClr val="222222"/>
                </a:solidFill>
                <a:latin typeface="맑은 고딕"/>
                <a:ea typeface="맑은 고딕"/>
              </a:rPr>
              <a:t> </a:t>
            </a:r>
            <a:r>
              <a:rPr sz="1600" b="0" dirty="0" err="1">
                <a:solidFill>
                  <a:srgbClr val="222222"/>
                </a:solidFill>
                <a:latin typeface="맑은 고딕"/>
                <a:ea typeface="맑은 고딕"/>
              </a:rPr>
              <a:t>분리</a:t>
            </a:r>
            <a:r>
              <a:rPr sz="1600" b="0" dirty="0">
                <a:solidFill>
                  <a:srgbClr val="222222"/>
                </a:solidFill>
                <a:latin typeface="맑은 고딕"/>
                <a:ea typeface="맑은 고딕"/>
              </a:rPr>
              <a:t>'</a:t>
            </a:r>
          </a:p>
          <a:p>
            <a:pPr algn="l"/>
            <a:r>
              <a:rPr sz="1600" b="0" dirty="0">
                <a:solidFill>
                  <a:srgbClr val="222222"/>
                </a:solidFill>
                <a:latin typeface="맑은 고딕"/>
                <a:ea typeface="맑은 고딕"/>
              </a:rPr>
              <a:t>•  </a:t>
            </a:r>
            <a:r>
              <a:rPr lang="en-US" sz="1600" b="0" dirty="0">
                <a:solidFill>
                  <a:srgbClr val="222222"/>
                </a:solidFill>
                <a:latin typeface="맑은 고딕"/>
                <a:ea typeface="맑은 고딕"/>
              </a:rPr>
              <a:t>17</a:t>
            </a:r>
            <a:r>
              <a:rPr sz="1600" b="0" dirty="0">
                <a:solidFill>
                  <a:srgbClr val="222222"/>
                </a:solidFill>
                <a:latin typeface="맑은 고딕"/>
                <a:ea typeface="맑은 고딕"/>
              </a:rPr>
              <a:t>.5  </a:t>
            </a:r>
            <a:r>
              <a:rPr sz="1600" b="0" dirty="0" err="1">
                <a:solidFill>
                  <a:srgbClr val="222222"/>
                </a:solidFill>
                <a:latin typeface="맑은 고딕"/>
                <a:ea typeface="맑은 고딕"/>
              </a:rPr>
              <a:t>응급</a:t>
            </a:r>
            <a:r>
              <a:rPr sz="1600" b="0" dirty="0">
                <a:solidFill>
                  <a:srgbClr val="222222"/>
                </a:solidFill>
                <a:latin typeface="맑은 고딕"/>
                <a:ea typeface="맑은 고딕"/>
              </a:rPr>
              <a:t> </a:t>
            </a:r>
            <a:r>
              <a:rPr sz="1600" b="0" dirty="0" err="1">
                <a:solidFill>
                  <a:srgbClr val="222222"/>
                </a:solidFill>
                <a:latin typeface="맑은 고딕"/>
                <a:ea typeface="맑은 고딕"/>
              </a:rPr>
              <a:t>진단</a:t>
            </a:r>
            <a:r>
              <a:rPr sz="1600" b="0" dirty="0">
                <a:solidFill>
                  <a:srgbClr val="222222"/>
                </a:solidFill>
                <a:latin typeface="맑은 고딕"/>
                <a:ea typeface="맑은 고딕"/>
              </a:rPr>
              <a:t> </a:t>
            </a:r>
            <a:r>
              <a:rPr sz="1600" b="0" dirty="0" err="1">
                <a:solidFill>
                  <a:srgbClr val="222222"/>
                </a:solidFill>
                <a:latin typeface="맑은 고딕"/>
                <a:ea typeface="맑은 고딕"/>
              </a:rPr>
              <a:t>체크리스트</a:t>
            </a:r>
            <a:r>
              <a:rPr sz="1600" b="0" dirty="0">
                <a:solidFill>
                  <a:srgbClr val="222222"/>
                </a:solidFill>
                <a:latin typeface="맑은 고딕"/>
                <a:ea typeface="맑은 고딕"/>
              </a:rPr>
              <a:t> — CPU </a:t>
            </a:r>
            <a:r>
              <a:rPr sz="1600" b="0" dirty="0" err="1">
                <a:solidFill>
                  <a:srgbClr val="222222"/>
                </a:solidFill>
                <a:latin typeface="맑은 고딕"/>
                <a:ea typeface="맑은 고딕"/>
              </a:rPr>
              <a:t>병목인가</a:t>
            </a:r>
            <a:r>
              <a:rPr sz="1600" b="0" dirty="0">
                <a:solidFill>
                  <a:srgbClr val="222222"/>
                </a:solidFill>
                <a:latin typeface="맑은 고딕"/>
                <a:ea typeface="맑은 고딕"/>
              </a:rPr>
              <a:t> </a:t>
            </a:r>
            <a:r>
              <a:rPr sz="1600" b="0" dirty="0" err="1">
                <a:solidFill>
                  <a:srgbClr val="222222"/>
                </a:solidFill>
                <a:latin typeface="맑은 고딕"/>
                <a:ea typeface="맑은 고딕"/>
              </a:rPr>
              <a:t>대기</a:t>
            </a:r>
            <a:r>
              <a:rPr sz="1600" b="0" dirty="0">
                <a:solidFill>
                  <a:srgbClr val="222222"/>
                </a:solidFill>
                <a:latin typeface="맑은 고딕"/>
                <a:ea typeface="맑은 고딕"/>
              </a:rPr>
              <a:t> </a:t>
            </a:r>
            <a:r>
              <a:rPr sz="1600" b="0" dirty="0" err="1">
                <a:solidFill>
                  <a:srgbClr val="222222"/>
                </a:solidFill>
                <a:latin typeface="맑은 고딕"/>
                <a:ea typeface="맑은 고딕"/>
              </a:rPr>
              <a:t>병목인가</a:t>
            </a:r>
            <a:endParaRPr sz="1600" b="0" dirty="0">
              <a:solidFill>
                <a:srgbClr val="222222"/>
              </a:solidFill>
              <a:latin typeface="맑은 고딕"/>
              <a:ea typeface="맑은 고딕"/>
            </a:endParaRPr>
          </a:p>
          <a:p>
            <a:pPr algn="l"/>
            <a:r>
              <a:rPr sz="1600" b="0" dirty="0">
                <a:solidFill>
                  <a:srgbClr val="222222"/>
                </a:solidFill>
                <a:latin typeface="맑은 고딕"/>
                <a:ea typeface="맑은 고딕"/>
              </a:rPr>
              <a:t>•  </a:t>
            </a:r>
            <a:r>
              <a:rPr lang="en-US" sz="1600" b="0" dirty="0">
                <a:solidFill>
                  <a:srgbClr val="222222"/>
                </a:solidFill>
                <a:latin typeface="맑은 고딕"/>
                <a:ea typeface="맑은 고딕"/>
              </a:rPr>
              <a:t>17</a:t>
            </a:r>
            <a:r>
              <a:rPr sz="1600" b="0" dirty="0">
                <a:solidFill>
                  <a:srgbClr val="222222"/>
                </a:solidFill>
                <a:latin typeface="맑은 고딕"/>
                <a:ea typeface="맑은 고딕"/>
              </a:rPr>
              <a:t>.6  </a:t>
            </a:r>
            <a:r>
              <a:rPr sz="1600" b="0" dirty="0" err="1">
                <a:solidFill>
                  <a:srgbClr val="222222"/>
                </a:solidFill>
                <a:latin typeface="맑은 고딕"/>
                <a:ea typeface="맑은 고딕"/>
              </a:rPr>
              <a:t>블로킹</a:t>
            </a:r>
            <a:r>
              <a:rPr sz="1600" b="0" dirty="0">
                <a:solidFill>
                  <a:srgbClr val="222222"/>
                </a:solidFill>
                <a:latin typeface="맑은 고딕"/>
                <a:ea typeface="맑은 고딕"/>
              </a:rPr>
              <a:t> </a:t>
            </a:r>
            <a:r>
              <a:rPr sz="1600" b="0" dirty="0" err="1">
                <a:solidFill>
                  <a:srgbClr val="222222"/>
                </a:solidFill>
                <a:latin typeface="맑은 고딕"/>
                <a:ea typeface="맑은 고딕"/>
              </a:rPr>
              <a:t>세션</a:t>
            </a:r>
            <a:r>
              <a:rPr sz="1600" b="0" dirty="0">
                <a:solidFill>
                  <a:srgbClr val="222222"/>
                </a:solidFill>
                <a:latin typeface="맑은 고딕"/>
                <a:ea typeface="맑은 고딕"/>
              </a:rPr>
              <a:t> </a:t>
            </a:r>
            <a:r>
              <a:rPr sz="1600" b="0" dirty="0" err="1">
                <a:solidFill>
                  <a:srgbClr val="222222"/>
                </a:solidFill>
                <a:latin typeface="맑은 고딕"/>
                <a:ea typeface="맑은 고딕"/>
              </a:rPr>
              <a:t>추적과</a:t>
            </a:r>
            <a:r>
              <a:rPr sz="1600" b="0" dirty="0">
                <a:solidFill>
                  <a:srgbClr val="222222"/>
                </a:solidFill>
                <a:latin typeface="맑은 고딕"/>
                <a:ea typeface="맑은 고딕"/>
              </a:rPr>
              <a:t> </a:t>
            </a:r>
            <a:r>
              <a:rPr sz="1600" b="0" dirty="0" err="1">
                <a:solidFill>
                  <a:srgbClr val="222222"/>
                </a:solidFill>
                <a:latin typeface="맑은 고딕"/>
                <a:ea typeface="맑은 고딕"/>
              </a:rPr>
              <a:t>해소</a:t>
            </a:r>
            <a:r>
              <a:rPr sz="1600" b="0" dirty="0">
                <a:solidFill>
                  <a:srgbClr val="222222"/>
                </a:solidFill>
                <a:latin typeface="맑은 고딕"/>
                <a:ea typeface="맑은 고딕"/>
              </a:rPr>
              <a:t> (</a:t>
            </a:r>
            <a:r>
              <a:rPr sz="1600" b="0" dirty="0" err="1">
                <a:solidFill>
                  <a:srgbClr val="222222"/>
                </a:solidFill>
                <a:latin typeface="맑은 고딕"/>
                <a:ea typeface="맑은 고딕"/>
              </a:rPr>
              <a:t>실측</a:t>
            </a:r>
            <a:r>
              <a:rPr sz="1600" b="0" dirty="0">
                <a:solidFill>
                  <a:srgbClr val="222222"/>
                </a:solidFill>
                <a:latin typeface="맑은 고딕"/>
                <a:ea typeface="맑은 고딕"/>
              </a:rPr>
              <a:t> SID 596/597)</a:t>
            </a:r>
          </a:p>
          <a:p>
            <a:pPr algn="l"/>
            <a:r>
              <a:rPr sz="1600" b="0" dirty="0">
                <a:solidFill>
                  <a:srgbClr val="222222"/>
                </a:solidFill>
                <a:latin typeface="맑은 고딕"/>
                <a:ea typeface="맑은 고딕"/>
              </a:rPr>
              <a:t>•  </a:t>
            </a:r>
            <a:r>
              <a:rPr lang="en-US" sz="1600" b="0" dirty="0">
                <a:solidFill>
                  <a:srgbClr val="222222"/>
                </a:solidFill>
                <a:latin typeface="맑은 고딕"/>
                <a:ea typeface="맑은 고딕"/>
              </a:rPr>
              <a:t>17</a:t>
            </a:r>
            <a:r>
              <a:rPr sz="1600" b="0" dirty="0">
                <a:solidFill>
                  <a:srgbClr val="222222"/>
                </a:solidFill>
                <a:latin typeface="맑은 고딕"/>
                <a:ea typeface="맑은 고딕"/>
              </a:rPr>
              <a:t>.7  </a:t>
            </a:r>
            <a:r>
              <a:rPr sz="1600" b="0" dirty="0" err="1">
                <a:solidFill>
                  <a:srgbClr val="222222"/>
                </a:solidFill>
                <a:latin typeface="맑은 고딕"/>
                <a:ea typeface="맑은 고딕"/>
              </a:rPr>
              <a:t>조치</a:t>
            </a:r>
            <a:r>
              <a:rPr sz="1600" b="0" dirty="0">
                <a:solidFill>
                  <a:srgbClr val="222222"/>
                </a:solidFill>
                <a:latin typeface="맑은 고딕"/>
                <a:ea typeface="맑은 고딕"/>
              </a:rPr>
              <a:t> 전 </a:t>
            </a:r>
            <a:r>
              <a:rPr sz="1600" b="0" dirty="0" err="1">
                <a:solidFill>
                  <a:srgbClr val="222222"/>
                </a:solidFill>
                <a:latin typeface="맑은 고딕"/>
                <a:ea typeface="맑은 고딕"/>
              </a:rPr>
              <a:t>근거</a:t>
            </a:r>
            <a:r>
              <a:rPr sz="1600" b="0" dirty="0">
                <a:solidFill>
                  <a:srgbClr val="222222"/>
                </a:solidFill>
                <a:latin typeface="맑은 고딕"/>
                <a:ea typeface="맑은 고딕"/>
              </a:rPr>
              <a:t> </a:t>
            </a:r>
            <a:r>
              <a:rPr sz="1600" b="0" dirty="0" err="1">
                <a:solidFill>
                  <a:srgbClr val="222222"/>
                </a:solidFill>
                <a:latin typeface="맑은 고딕"/>
                <a:ea typeface="맑은 고딕"/>
              </a:rPr>
              <a:t>캡처</a:t>
            </a:r>
            <a:r>
              <a:rPr sz="1600" b="0" dirty="0">
                <a:solidFill>
                  <a:srgbClr val="222222"/>
                </a:solidFill>
                <a:latin typeface="맑은 고딕"/>
                <a:ea typeface="맑은 고딕"/>
              </a:rPr>
              <a:t> — </a:t>
            </a:r>
            <a:r>
              <a:rPr sz="1600" b="0" dirty="0" err="1">
                <a:solidFill>
                  <a:srgbClr val="222222"/>
                </a:solidFill>
                <a:latin typeface="맑은 고딕"/>
                <a:ea typeface="맑은 고딕"/>
              </a:rPr>
              <a:t>도박이</a:t>
            </a:r>
            <a:r>
              <a:rPr sz="1600" b="0" dirty="0">
                <a:solidFill>
                  <a:srgbClr val="222222"/>
                </a:solidFill>
                <a:latin typeface="맑은 고딕"/>
                <a:ea typeface="맑은 고딕"/>
              </a:rPr>
              <a:t> </a:t>
            </a:r>
            <a:r>
              <a:rPr sz="1600" b="0" dirty="0" err="1">
                <a:solidFill>
                  <a:srgbClr val="222222"/>
                </a:solidFill>
                <a:latin typeface="맑은 고딕"/>
                <a:ea typeface="맑은 고딕"/>
              </a:rPr>
              <a:t>아니라</a:t>
            </a:r>
            <a:r>
              <a:rPr sz="1600" b="0" dirty="0">
                <a:solidFill>
                  <a:srgbClr val="222222"/>
                </a:solidFill>
                <a:latin typeface="맑은 고딕"/>
                <a:ea typeface="맑은 고딕"/>
              </a:rPr>
              <a:t> </a:t>
            </a:r>
            <a:r>
              <a:rPr sz="1600" b="0" dirty="0" err="1">
                <a:solidFill>
                  <a:srgbClr val="222222"/>
                </a:solidFill>
                <a:latin typeface="맑은 고딕"/>
                <a:ea typeface="맑은 고딕"/>
              </a:rPr>
              <a:t>튜닝</a:t>
            </a:r>
            <a:endParaRPr sz="1600" b="0" dirty="0">
              <a:solidFill>
                <a:srgbClr val="222222"/>
              </a:solidFill>
              <a:latin typeface="맑은 고딕"/>
              <a:ea typeface="맑은 고딕"/>
            </a:endParaRPr>
          </a:p>
          <a:p>
            <a:pPr algn="l"/>
            <a:r>
              <a:rPr sz="1600" b="0" dirty="0">
                <a:solidFill>
                  <a:srgbClr val="222222"/>
                </a:solidFill>
                <a:latin typeface="맑은 고딕"/>
                <a:ea typeface="맑은 고딕"/>
              </a:rPr>
              <a:t>•  </a:t>
            </a:r>
            <a:r>
              <a:rPr lang="en-US" sz="1600" b="0" dirty="0">
                <a:solidFill>
                  <a:srgbClr val="222222"/>
                </a:solidFill>
                <a:latin typeface="맑은 고딕"/>
                <a:ea typeface="맑은 고딕"/>
              </a:rPr>
              <a:t>17</a:t>
            </a:r>
            <a:r>
              <a:rPr sz="1600" b="0" dirty="0">
                <a:solidFill>
                  <a:srgbClr val="222222"/>
                </a:solidFill>
                <a:latin typeface="맑은 고딕"/>
                <a:ea typeface="맑은 고딕"/>
              </a:rPr>
              <a:t>.8~</a:t>
            </a:r>
            <a:r>
              <a:rPr lang="en-US" sz="1600" b="0" dirty="0">
                <a:solidFill>
                  <a:srgbClr val="222222"/>
                </a:solidFill>
                <a:latin typeface="맑은 고딕"/>
                <a:ea typeface="맑은 고딕"/>
              </a:rPr>
              <a:t>17</a:t>
            </a:r>
            <a:r>
              <a:rPr sz="1600" b="0" dirty="0">
                <a:solidFill>
                  <a:srgbClr val="222222"/>
                </a:solidFill>
                <a:latin typeface="맑은 고딕"/>
                <a:ea typeface="맑은 고딕"/>
              </a:rPr>
              <a:t>.10  </a:t>
            </a:r>
            <a:r>
              <a:rPr sz="1600" b="0" dirty="0" err="1">
                <a:solidFill>
                  <a:srgbClr val="222222"/>
                </a:solidFill>
                <a:latin typeface="맑은 고딕"/>
                <a:ea typeface="맑은 고딕"/>
              </a:rPr>
              <a:t>요약</a:t>
            </a:r>
            <a:r>
              <a:rPr sz="1600" b="0" dirty="0">
                <a:solidFill>
                  <a:srgbClr val="222222"/>
                </a:solidFill>
                <a:latin typeface="맑은 고딕"/>
                <a:ea typeface="맑은 고딕"/>
              </a:rPr>
              <a:t> · </a:t>
            </a:r>
            <a:r>
              <a:rPr sz="1600" b="0" dirty="0" err="1">
                <a:solidFill>
                  <a:srgbClr val="222222"/>
                </a:solidFill>
                <a:latin typeface="맑은 고딕"/>
                <a:ea typeface="맑은 고딕"/>
              </a:rPr>
              <a:t>퀴즈</a:t>
            </a:r>
            <a:r>
              <a:rPr sz="1600" b="0" dirty="0">
                <a:solidFill>
                  <a:srgbClr val="222222"/>
                </a:solidFill>
                <a:latin typeface="맑은 고딕"/>
                <a:ea typeface="맑은 고딕"/>
              </a:rPr>
              <a:t> · </a:t>
            </a:r>
            <a:r>
              <a:rPr sz="1600" b="0" dirty="0" err="1">
                <a:solidFill>
                  <a:srgbClr val="222222"/>
                </a:solidFill>
                <a:latin typeface="맑은 고딕"/>
                <a:ea typeface="맑은 고딕"/>
              </a:rPr>
              <a:t>실습</a:t>
            </a:r>
            <a:r>
              <a:rPr sz="1600" b="0" dirty="0">
                <a:solidFill>
                  <a:srgbClr val="222222"/>
                </a:solidFill>
                <a:latin typeface="맑은 고딕"/>
                <a:ea typeface="맑은 고딕"/>
              </a:rPr>
              <a:t> </a:t>
            </a:r>
            <a:r>
              <a:rPr sz="1600" b="0" dirty="0" err="1">
                <a:solidFill>
                  <a:srgbClr val="222222"/>
                </a:solidFill>
                <a:latin typeface="맑은 고딕"/>
                <a:ea typeface="맑은 고딕"/>
              </a:rPr>
              <a:t>개요</a:t>
            </a:r>
            <a:endParaRPr sz="1600" b="0" dirty="0">
              <a:solidFill>
                <a:srgbClr val="222222"/>
              </a:solidFill>
              <a:latin typeface="맑은 고딕"/>
              <a:ea typeface="맑은 고딕"/>
            </a:endParaRPr>
          </a:p>
        </p:txBody>
      </p:sp>
    </p:spTree>
    <p:extLst>
      <p:ext uri="{BB962C8B-B14F-4D97-AF65-F5344CB8AC3E}">
        <p14:creationId xmlns:p14="http://schemas.microsoft.com/office/powerpoint/2010/main" val="3623091639"/>
      </p:ext>
    </p:extLst>
  </p:cSld>
  <p:clrMapOvr>
    <a:masterClrMapping/>
  </p:clrMapOvr>
</p:sld>
</file>

<file path=ppt/slides/slide6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707886"/>
          </a:xfrm>
          <a:prstGeom prst="rect">
            <a:avLst/>
          </a:prstGeom>
          <a:noFill/>
        </p:spPr>
        <p:txBody>
          <a:bodyPr wrap="square">
            <a:spAutoFit/>
          </a:bodyPr>
          <a:lstStyle/>
          <a:p>
            <a:pPr algn="l"/>
            <a:r>
              <a:rPr lang="en-US" sz="4000" b="1" dirty="0">
                <a:solidFill>
                  <a:srgbClr val="FFFFFF"/>
                </a:solidFill>
                <a:latin typeface="맑은 고딕"/>
                <a:ea typeface="맑은 고딕"/>
              </a:rPr>
              <a:t>17</a:t>
            </a:r>
            <a:r>
              <a:rPr sz="4000" b="1" dirty="0">
                <a:solidFill>
                  <a:srgbClr val="FFFFFF"/>
                </a:solidFill>
                <a:latin typeface="맑은 고딕"/>
                <a:ea typeface="맑은 고딕"/>
              </a:rPr>
              <a:t>.2</a:t>
            </a:r>
          </a:p>
        </p:txBody>
      </p:sp>
      <p:sp>
        <p:nvSpPr>
          <p:cNvPr id="4" name="TextBox 3"/>
          <p:cNvSpPr txBox="1"/>
          <p:nvPr/>
        </p:nvSpPr>
        <p:spPr>
          <a:xfrm>
            <a:off x="822960" y="3017520"/>
            <a:ext cx="10515600" cy="914400"/>
          </a:xfrm>
          <a:prstGeom prst="rect">
            <a:avLst/>
          </a:prstGeom>
          <a:noFill/>
        </p:spPr>
        <p:txBody>
          <a:bodyPr wrap="square">
            <a:spAutoFit/>
          </a:bodyPr>
          <a:lstStyle/>
          <a:p>
            <a:pPr algn="l"/>
            <a:r>
              <a:rPr sz="2800" b="1">
                <a:solidFill>
                  <a:srgbClr val="FFFFFF"/>
                </a:solidFill>
                <a:latin typeface="맑은 고딕"/>
                <a:ea typeface="맑은 고딕"/>
              </a:rPr>
              <a:t>오라클 성능 개선 방법론</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r>
              <a:rPr sz="1600" b="0">
                <a:solidFill>
                  <a:srgbClr val="FFFFFF"/>
                </a:solidFill>
                <a:latin typeface="맑은 고딕"/>
                <a:ea typeface="맑은 고딕"/>
              </a:rPr>
              <a:t>•  일하는 방식이지 규칙의 집합이 아니다</a:t>
            </a:r>
          </a:p>
          <a:p>
            <a:pPr algn="l"/>
            <a:r>
              <a:rPr sz="1600" b="0">
                <a:solidFill>
                  <a:srgbClr val="FFFFFF"/>
                </a:solidFill>
                <a:latin typeface="맑은 고딕"/>
                <a:ea typeface="맑은 고딕"/>
              </a:rPr>
              <a:t>•  병목을 확인한 뒤에만 바꾼다</a:t>
            </a:r>
          </a:p>
          <a:p>
            <a:pPr algn="l"/>
            <a:r>
              <a:rPr sz="1600" b="0">
                <a:solidFill>
                  <a:srgbClr val="FFFFFF"/>
                </a:solidFill>
                <a:latin typeface="맑은 고딕"/>
                <a:ea typeface="맑은 고딕"/>
              </a:rPr>
              <a:t>•  한 번에 하나만 바꿔 차이를 측정한다</a:t>
            </a:r>
          </a:p>
          <a:p>
            <a:pPr algn="l"/>
            <a:r>
              <a:rPr sz="1600" b="0">
                <a:solidFill>
                  <a:srgbClr val="FFFFFF"/>
                </a:solidFill>
                <a:latin typeface="맑은 고딕"/>
                <a:ea typeface="맑은 고딕"/>
              </a:rPr>
              <a:t>•  가장 큰 병목 하나에 집중한다</a:t>
            </a:r>
          </a:p>
        </p:txBody>
      </p:sp>
    </p:spTree>
    <p:extLst>
      <p:ext uri="{BB962C8B-B14F-4D97-AF65-F5344CB8AC3E}">
        <p14:creationId xmlns:p14="http://schemas.microsoft.com/office/powerpoint/2010/main" val="2204814291"/>
      </p:ext>
    </p:extLst>
  </p:cSld>
  <p:clrMapOvr>
    <a:masterClrMapping/>
  </p:clrMapOvr>
</p:sld>
</file>

<file path=ppt/slides/slide6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방법론은 규칙이 아니라 '일하는 방식'</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The Oracle Performance Improvement Method</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ea typeface="맑은 고딕"/>
              </a:rPr>
              <a:t>•  시스템은 저마다 달라 절대 규칙이 없다 — '규칙은 규칙이 없다는 것'</a:t>
            </a:r>
          </a:p>
          <a:p>
            <a:pPr algn="l"/>
            <a:r>
              <a:rPr sz="1700" b="0">
                <a:solidFill>
                  <a:srgbClr val="222222"/>
                </a:solidFill>
                <a:latin typeface="맑은 고딕"/>
                <a:ea typeface="맑은 고딕"/>
              </a:rPr>
              <a:t>•  데이터를 근거로 측면에서 사고해 병목을 짚는다</a:t>
            </a:r>
          </a:p>
          <a:p>
            <a:pPr algn="l"/>
            <a:r>
              <a:rPr sz="1700" b="0">
                <a:solidFill>
                  <a:srgbClr val="222222"/>
                </a:solidFill>
                <a:latin typeface="맑은 고딕"/>
                <a:ea typeface="맑은 고딕"/>
              </a:rPr>
              <a:t>•  경험만 믿고 데이터를 무시하면 '신화와 민담에 의한 튜닝'에 빠진다</a:t>
            </a:r>
          </a:p>
          <a:p>
            <a:pPr algn="l"/>
            <a:r>
              <a:rPr sz="1700" b="0">
                <a:solidFill>
                  <a:srgbClr val="222222"/>
                </a:solidFill>
                <a:latin typeface="맑은 고딕"/>
                <a:ea typeface="맑은 고딕"/>
              </a:rPr>
              <a:t>•  ADDM은 이 방법론의 일부를 코드로 구현한 것 — 그래도 권고는 가설이다</a:t>
            </a:r>
          </a:p>
          <a:p>
            <a:pPr algn="l"/>
            <a:r>
              <a:rPr sz="1700" b="0">
                <a:solidFill>
                  <a:srgbClr val="222222"/>
                </a:solidFill>
                <a:latin typeface="맑은 고딕"/>
                <a:ea typeface="맑은 고딕"/>
              </a:rPr>
              <a:t>•  성능 개선은 본질적으로 반복적(iterative)이다</a:t>
            </a:r>
          </a:p>
        </p:txBody>
      </p:sp>
    </p:spTree>
    <p:extLst>
      <p:ext uri="{BB962C8B-B14F-4D97-AF65-F5344CB8AC3E}">
        <p14:creationId xmlns:p14="http://schemas.microsoft.com/office/powerpoint/2010/main" val="3819951382"/>
      </p:ext>
    </p:extLst>
  </p:cSld>
  <p:clrMapOvr>
    <a:masterClrMapping/>
  </p:clrMapOvr>
</p:sld>
</file>

<file path=ppt/slides/slide6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병목을 확인한 뒤에만 바꾼다</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방법론의 전제</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ea typeface="맑은 고딕"/>
              </a:rPr>
              <a:t>•  성능 문제 = 처리량 부족 / 응답시간 불량 / 둘 다</a:t>
            </a:r>
          </a:p>
          <a:p>
            <a:pPr algn="l"/>
            <a:r>
              <a:rPr sz="1700" b="0">
                <a:solidFill>
                  <a:srgbClr val="222222"/>
                </a:solidFill>
                <a:latin typeface="맑은 고딕"/>
                <a:ea typeface="맑은 고딕"/>
              </a:rPr>
              <a:t>•  확인 없는 변경은 방법론이 아니라 도박(ch15 '근거 없는 조치')</a:t>
            </a:r>
          </a:p>
          <a:p>
            <a:pPr algn="l"/>
            <a:r>
              <a:rPr sz="1700" b="0">
                <a:solidFill>
                  <a:srgbClr val="222222"/>
                </a:solidFill>
                <a:latin typeface="맑은 고딕"/>
                <a:ea typeface="맑은 고딕"/>
              </a:rPr>
              <a:t>•  반복적이라 첫 병목 제거가 곧바로 개선으로 이어지지 않을 수 있다</a:t>
            </a:r>
          </a:p>
          <a:p>
            <a:pPr algn="l"/>
            <a:r>
              <a:rPr sz="1700" b="0">
                <a:solidFill>
                  <a:srgbClr val="222222"/>
                </a:solidFill>
                <a:latin typeface="맑은 고딕"/>
                <a:ea typeface="맑은 고딕"/>
              </a:rPr>
              <a:t>•  직렬화 지점이 더 나쁜 방식으로 옮겨 가면 오히려 악화된다</a:t>
            </a:r>
          </a:p>
          <a:p>
            <a:pPr algn="l"/>
            <a:r>
              <a:rPr sz="1700" b="0">
                <a:solidFill>
                  <a:srgbClr val="222222"/>
                </a:solidFill>
                <a:latin typeface="맑은 고딕"/>
                <a:ea typeface="맑은 고딕"/>
              </a:rPr>
              <a:t>•  그래서 '한 번에 하나만 바꾸고 측정'이라는 황금률이 필요하다</a:t>
            </a:r>
          </a:p>
        </p:txBody>
      </p:sp>
    </p:spTree>
    <p:extLst>
      <p:ext uri="{BB962C8B-B14F-4D97-AF65-F5344CB8AC3E}">
        <p14:creationId xmlns:p14="http://schemas.microsoft.com/office/powerpoint/2010/main" val="560985970"/>
      </p:ext>
    </p:extLst>
  </p:cSld>
  <p:clrMapOvr>
    <a:masterClrMapping/>
  </p:clrMapOvr>
</p:sld>
</file>

<file path=ppt/slides/slide6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초기 표준 점검 — 증거부터 모은다</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통계가 없는 것은 범죄 현장에 증거가 없는 것</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ea typeface="맑은 고딕"/>
              </a:rPr>
              <a:t>•  ① 사용자 피드백으로 목표·범위·종료 기준을 업무 언어로 확정</a:t>
            </a:r>
          </a:p>
          <a:p>
            <a:pPr algn="l"/>
            <a:r>
              <a:rPr sz="1700" b="0">
                <a:solidFill>
                  <a:srgbClr val="222222"/>
                </a:solidFill>
                <a:latin typeface="맑은 고딕"/>
                <a:ea typeface="맑은 고딕"/>
              </a:rPr>
              <a:t>•  '3시간 안에 100만 건', '피크 시 5초 이내'처럼 수치로</a:t>
            </a:r>
          </a:p>
          <a:p>
            <a:pPr algn="l"/>
            <a:r>
              <a:rPr sz="1700" b="0">
                <a:solidFill>
                  <a:srgbClr val="222222"/>
                </a:solidFill>
                <a:latin typeface="맑은 고딕"/>
                <a:ea typeface="맑은 고딕"/>
              </a:rPr>
              <a:t>•  ② 좋을 때·나쁠 때 OS·DB·앱 통계를 모두 확보 (비교 가능하게)</a:t>
            </a:r>
          </a:p>
          <a:p>
            <a:pPr algn="l"/>
            <a:r>
              <a:rPr sz="1700" b="0">
                <a:solidFill>
                  <a:srgbClr val="222222"/>
                </a:solidFill>
                <a:latin typeface="맑은 고딕"/>
                <a:ea typeface="맑은 고딕"/>
              </a:rPr>
              <a:t>•  ③ 모든 관련 컴퓨터의 OS를 점검 — 소진된 자원을 증상으로 목록화</a:t>
            </a:r>
          </a:p>
          <a:p>
            <a:pPr algn="l"/>
            <a:r>
              <a:rPr sz="1700" b="0">
                <a:solidFill>
                  <a:srgbClr val="222222"/>
                </a:solidFill>
                <a:latin typeface="맑은 고딕"/>
                <a:ea typeface="맑은 고딕"/>
              </a:rPr>
              <a:t>•  성공의 척도는 언제나 사용자가 체감하는 성능이다</a:t>
            </a:r>
          </a:p>
        </p:txBody>
      </p:sp>
    </p:spTree>
    <p:extLst>
      <p:ext uri="{BB962C8B-B14F-4D97-AF65-F5344CB8AC3E}">
        <p14:creationId xmlns:p14="http://schemas.microsoft.com/office/powerpoint/2010/main" val="4088579920"/>
      </p:ext>
    </p:extLst>
  </p:cSld>
  <p:clrMapOvr>
    <a:masterClrMapping/>
  </p:clrMapOvr>
</p:sld>
</file>

<file path=ppt/slides/slide6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방법론의 여섯 단계</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확인 → 대조 → 모델 → 조치 → 검증 → 반복</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ea typeface="맑은 고딕"/>
              </a:rPr>
              <a:t>•  1 초기 점검: 목표 확정·통계 확보·OS 점검</a:t>
            </a:r>
          </a:p>
          <a:p>
            <a:pPr algn="l"/>
            <a:r>
              <a:rPr sz="1700" b="0">
                <a:solidFill>
                  <a:srgbClr val="222222"/>
                </a:solidFill>
                <a:latin typeface="맑은 고딕"/>
                <a:ea typeface="맑은 고딕"/>
              </a:rPr>
              <a:t>•  2 흔한 실수 대조: 열 가지 실수와 대조(ADDM이 9개 자동 탐지)</a:t>
            </a:r>
          </a:p>
          <a:p>
            <a:pPr algn="l"/>
            <a:r>
              <a:rPr sz="1700" b="0">
                <a:solidFill>
                  <a:srgbClr val="222222"/>
                </a:solidFill>
                <a:latin typeface="맑은 고딕"/>
                <a:ea typeface="맑은 고딕"/>
              </a:rPr>
              <a:t>•  3 개념 모델: 증상을 단서로 무슨 일이 벌어지는지 가설</a:t>
            </a:r>
          </a:p>
          <a:p>
            <a:pPr algn="l"/>
            <a:r>
              <a:rPr sz="1700" b="0">
                <a:solidFill>
                  <a:srgbClr val="222222"/>
                </a:solidFill>
                <a:latin typeface="맑은 고딕"/>
                <a:ea typeface="맑은 고딕"/>
              </a:rPr>
              <a:t>•  4 조치 제안·적용: 예상 효과와 함께, 한 번에 하나만</a:t>
            </a:r>
          </a:p>
          <a:p>
            <a:pPr algn="l"/>
            <a:r>
              <a:rPr sz="1700" b="0">
                <a:solidFill>
                  <a:srgbClr val="222222"/>
                </a:solidFill>
                <a:latin typeface="맑은 고딕"/>
                <a:ea typeface="맑은 고딕"/>
              </a:rPr>
              <a:t>•  5 효과 검증: 재측정·사용자 체감으로 판정</a:t>
            </a:r>
          </a:p>
          <a:p>
            <a:pPr algn="l"/>
            <a:r>
              <a:rPr sz="1700" b="0">
                <a:solidFill>
                  <a:srgbClr val="222222"/>
                </a:solidFill>
                <a:latin typeface="맑은 고딕"/>
                <a:ea typeface="맑은 고딕"/>
              </a:rPr>
              <a:t>•  6 반복: 목표 달성 또는 불가능해질 때까지</a:t>
            </a:r>
          </a:p>
          <a:p>
            <a:pPr algn="l"/>
            <a:r>
              <a:rPr sz="1700" b="0">
                <a:solidFill>
                  <a:srgbClr val="222222"/>
                </a:solidFill>
                <a:latin typeface="맑은 고딕"/>
                <a:ea typeface="맑은 고딕"/>
              </a:rPr>
              <a:t>•  인스턴스 튜닝 효과는 &lt;10%, 앱 비효율 제거는 100%+</a:t>
            </a:r>
          </a:p>
        </p:txBody>
      </p:sp>
    </p:spTree>
    <p:extLst>
      <p:ext uri="{BB962C8B-B14F-4D97-AF65-F5344CB8AC3E}">
        <p14:creationId xmlns:p14="http://schemas.microsoft.com/office/powerpoint/2010/main" val="1738416177"/>
      </p:ext>
    </p:extLst>
  </p:cSld>
  <p:clrMapOvr>
    <a:masterClrMapping/>
  </p:clrMapOvr>
</p:sld>
</file>

<file path=ppt/slides/slide7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개념 모델 — 세 갈래로 좁힌다</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A Sample Decision Process</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ea typeface="맑은 고딕"/>
              </a:rPr>
              <a:t>•  ① 한가한 시스템에서 단일 사용자도 느린가? → 애플리케이션 문제(설계·SQL)</a:t>
            </a:r>
          </a:p>
          <a:p>
            <a:pPr algn="l"/>
            <a:r>
              <a:rPr sz="1700" b="0">
                <a:solidFill>
                  <a:srgbClr val="222222"/>
                </a:solidFill>
                <a:latin typeface="맑은 고딕"/>
                <a:ea typeface="맑은 고딕"/>
              </a:rPr>
              <a:t>•  ② CPU가 다 쓰이는가? → 고부하 SQL·자원(V$SQL·V$SQLSTATS), OS의 비DB 작업 점검</a:t>
            </a:r>
          </a:p>
          <a:p>
            <a:pPr algn="l"/>
            <a:r>
              <a:rPr sz="1700" b="0">
                <a:solidFill>
                  <a:srgbClr val="222222"/>
                </a:solidFill>
                <a:latin typeface="맑은 고딕"/>
                <a:ea typeface="맑은 고딕"/>
              </a:rPr>
              <a:t>•  ③ CPU는 남는데 느린가? → 직렬화·대기(WAIT_EVENTS). 없으면 DB 밖</a:t>
            </a:r>
          </a:p>
          <a:p>
            <a:pPr algn="l"/>
            <a:r>
              <a:rPr sz="1700" b="0">
                <a:solidFill>
                  <a:srgbClr val="222222"/>
                </a:solidFill>
                <a:latin typeface="맑은 고딕"/>
                <a:ea typeface="맑은 고딕"/>
              </a:rPr>
              <a:t>•  순서가 중요: ①→②→③</a:t>
            </a:r>
          </a:p>
          <a:p>
            <a:pPr algn="l"/>
            <a:r>
              <a:rPr sz="1700" b="0">
                <a:solidFill>
                  <a:srgbClr val="222222"/>
                </a:solidFill>
                <a:latin typeface="맑은 고딕"/>
                <a:ea typeface="맑은 고딕"/>
              </a:rPr>
              <a:t>•  ③이 이 장의 블로킹 세션 실습으로 직접 이어진다</a:t>
            </a:r>
          </a:p>
        </p:txBody>
      </p:sp>
    </p:spTree>
    <p:extLst>
      <p:ext uri="{BB962C8B-B14F-4D97-AF65-F5344CB8AC3E}">
        <p14:creationId xmlns:p14="http://schemas.microsoft.com/office/powerpoint/2010/main" val="1185836365"/>
      </p:ext>
    </p:extLst>
  </p:cSld>
  <p:clrMapOvr>
    <a:masterClrMapping/>
  </p:clrMapOvr>
</p:sld>
</file>

<file path=ppt/slides/slide7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707886"/>
          </a:xfrm>
          <a:prstGeom prst="rect">
            <a:avLst/>
          </a:prstGeom>
          <a:noFill/>
        </p:spPr>
        <p:txBody>
          <a:bodyPr wrap="square">
            <a:spAutoFit/>
          </a:bodyPr>
          <a:lstStyle/>
          <a:p>
            <a:pPr algn="l"/>
            <a:r>
              <a:rPr lang="en-US" sz="4000" b="1" dirty="0">
                <a:solidFill>
                  <a:srgbClr val="FFFFFF"/>
                </a:solidFill>
                <a:latin typeface="맑은 고딕"/>
                <a:ea typeface="맑은 고딕"/>
              </a:rPr>
              <a:t>17</a:t>
            </a:r>
            <a:r>
              <a:rPr sz="4000" b="1" dirty="0">
                <a:solidFill>
                  <a:srgbClr val="FFFFFF"/>
                </a:solidFill>
                <a:latin typeface="맑은 고딕"/>
                <a:ea typeface="맑은 고딕"/>
              </a:rPr>
              <a:t>.3</a:t>
            </a:r>
          </a:p>
        </p:txBody>
      </p:sp>
      <p:sp>
        <p:nvSpPr>
          <p:cNvPr id="4" name="TextBox 3"/>
          <p:cNvSpPr txBox="1"/>
          <p:nvPr/>
        </p:nvSpPr>
        <p:spPr>
          <a:xfrm>
            <a:off x="822960" y="3017520"/>
            <a:ext cx="10515600" cy="914400"/>
          </a:xfrm>
          <a:prstGeom prst="rect">
            <a:avLst/>
          </a:prstGeom>
          <a:noFill/>
        </p:spPr>
        <p:txBody>
          <a:bodyPr wrap="square">
            <a:spAutoFit/>
          </a:bodyPr>
          <a:lstStyle/>
          <a:p>
            <a:pPr algn="l"/>
            <a:r>
              <a:rPr sz="2800" b="1">
                <a:solidFill>
                  <a:srgbClr val="FFFFFF"/>
                </a:solidFill>
                <a:latin typeface="맑은 고딕"/>
                <a:ea typeface="맑은 고딕"/>
              </a:rPr>
              <a:t>증상에서 원인으로</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r>
              <a:rPr sz="1600" b="0">
                <a:solidFill>
                  <a:srgbClr val="FFFFFF"/>
                </a:solidFill>
                <a:latin typeface="맑은 고딕"/>
                <a:ea typeface="맑은 고딕"/>
              </a:rPr>
              <a:t>•  자주 나오는 열 가지 실수</a:t>
            </a:r>
          </a:p>
          <a:p>
            <a:pPr algn="l"/>
            <a:r>
              <a:rPr sz="1600" b="0">
                <a:solidFill>
                  <a:srgbClr val="FFFFFF"/>
                </a:solidFill>
                <a:latin typeface="맑은 고딕"/>
                <a:ea typeface="맑은 고딕"/>
              </a:rPr>
              <a:t>•  ADDM이 아홉 개를 자동 탐지</a:t>
            </a:r>
          </a:p>
          <a:p>
            <a:pPr algn="l"/>
            <a:r>
              <a:rPr sz="1600" b="0">
                <a:solidFill>
                  <a:srgbClr val="FFFFFF"/>
                </a:solidFill>
                <a:latin typeface="맑은 고딕"/>
                <a:ea typeface="맑은 고딕"/>
              </a:rPr>
              <a:t>•  증상을 원인으로 착각하지 않기</a:t>
            </a:r>
          </a:p>
          <a:p>
            <a:pPr algn="l"/>
            <a:r>
              <a:rPr sz="1600" b="0">
                <a:solidFill>
                  <a:srgbClr val="FFFFFF"/>
                </a:solidFill>
                <a:latin typeface="맑은 고딕"/>
                <a:ea typeface="맑은 고딕"/>
              </a:rPr>
              <a:t>•  가설의 출발점이지 정답표가 아니다</a:t>
            </a:r>
          </a:p>
        </p:txBody>
      </p:sp>
    </p:spTree>
    <p:extLst>
      <p:ext uri="{BB962C8B-B14F-4D97-AF65-F5344CB8AC3E}">
        <p14:creationId xmlns:p14="http://schemas.microsoft.com/office/powerpoint/2010/main" val="2415709467"/>
      </p:ext>
    </p:extLst>
  </p:cSld>
  <p:clrMapOvr>
    <a:masterClrMapping/>
  </p:clrMapOvr>
</p:sld>
</file>

<file path=ppt/slides/slide7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자주 나오는 열 가지 실수 (1~5)</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원인 가설의 체크리스트</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ea typeface="맑은 고딕"/>
              </a:rPr>
              <a:t>•  1 잘못된 커넥션 관리 — 매 상호작용 접속·해제, 비확장적</a:t>
            </a:r>
          </a:p>
          <a:p>
            <a:pPr algn="l"/>
            <a:r>
              <a:rPr sz="1700" b="0">
                <a:solidFill>
                  <a:srgbClr val="222222"/>
                </a:solidFill>
                <a:latin typeface="맑은 고딕"/>
                <a:ea typeface="맑은 고딕"/>
              </a:rPr>
              <a:t>•  2 커서·공유 풀 오용 — 바인드 변수 미사용 = 전면 하드 파싱</a:t>
            </a:r>
          </a:p>
          <a:p>
            <a:pPr algn="l"/>
            <a:r>
              <a:rPr sz="1700" b="0">
                <a:solidFill>
                  <a:srgbClr val="222222"/>
                </a:solidFill>
                <a:latin typeface="맑은 고딕"/>
                <a:ea typeface="맑은 고딕"/>
              </a:rPr>
              <a:t>•  3 나쁜 SQL — 요구 대비 과도한 자원 사용</a:t>
            </a:r>
          </a:p>
          <a:p>
            <a:pPr algn="l"/>
            <a:r>
              <a:rPr sz="1700" b="0">
                <a:solidFill>
                  <a:srgbClr val="222222"/>
                </a:solidFill>
                <a:latin typeface="맑은 고딕"/>
                <a:ea typeface="맑은 고딕"/>
              </a:rPr>
              <a:t>•  4 비표준 초기화 파라미터 — 검증된 계획을 덮어쓸 위험</a:t>
            </a:r>
          </a:p>
          <a:p>
            <a:pPr algn="l"/>
            <a:r>
              <a:rPr sz="1700" b="0">
                <a:solidFill>
                  <a:srgbClr val="222222"/>
                </a:solidFill>
                <a:latin typeface="맑은 고딕"/>
                <a:ea typeface="맑은 고딕"/>
              </a:rPr>
              <a:t>•  5 잘못된 I/O 구성 — 용량 기준 배치, I/O 대역폭 무시</a:t>
            </a:r>
          </a:p>
        </p:txBody>
      </p:sp>
    </p:spTree>
    <p:extLst>
      <p:ext uri="{BB962C8B-B14F-4D97-AF65-F5344CB8AC3E}">
        <p14:creationId xmlns:p14="http://schemas.microsoft.com/office/powerpoint/2010/main" val="842352201"/>
      </p:ext>
    </p:extLst>
  </p:cSld>
  <p:clrMapOvr>
    <a:masterClrMapping/>
  </p:clrMapOvr>
</p:sld>
</file>

<file path=ppt/slides/slide7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자주 나오는 열 가지 실수 (6~10)</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증상을 원인으로 착각하지 말 것</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ea typeface="맑은 고딕"/>
              </a:rPr>
              <a:t>•  6 온라인 리두 로그 설정 — 너무 적거나 작으면 잦은 체크포인트</a:t>
            </a:r>
          </a:p>
          <a:p>
            <a:pPr algn="l"/>
            <a:r>
              <a:rPr sz="1700" b="0">
                <a:solidFill>
                  <a:srgbClr val="222222"/>
                </a:solidFill>
                <a:latin typeface="맑은 고딕"/>
                <a:ea typeface="맑은 고딕"/>
              </a:rPr>
              <a:t>•  7 버퍼 캐시 블록 직렬화 — free list·INITRANS 부족, ASSM으로 해소</a:t>
            </a:r>
          </a:p>
          <a:p>
            <a:pPr algn="l"/>
            <a:r>
              <a:rPr sz="1700" b="0">
                <a:solidFill>
                  <a:srgbClr val="222222"/>
                </a:solidFill>
                <a:latin typeface="맑은 고딕"/>
                <a:ea typeface="맑은 고딕"/>
              </a:rPr>
              <a:t>•  8 긴 전체 테이블 스캔 — 인덱스 누락·SQL 문제의 신호</a:t>
            </a:r>
          </a:p>
          <a:p>
            <a:pPr algn="l"/>
            <a:r>
              <a:rPr sz="1700" b="0">
                <a:solidFill>
                  <a:srgbClr val="222222"/>
                </a:solidFill>
                <a:latin typeface="맑은 고딕"/>
                <a:ea typeface="맑은 고딕"/>
              </a:rPr>
              <a:t>•  9 과도한 재귀(SYS) SQL — 공간 관리 활동 신호, LMT로 완화</a:t>
            </a:r>
          </a:p>
          <a:p>
            <a:pPr algn="l"/>
            <a:r>
              <a:rPr sz="1700" b="0">
                <a:solidFill>
                  <a:srgbClr val="222222"/>
                </a:solidFill>
                <a:latin typeface="맑은 고딕"/>
                <a:ea typeface="맑은 고딕"/>
              </a:rPr>
              <a:t>•  10 배포·마이그레이션 오류 — 통계·인덱스 이관 실패</a:t>
            </a:r>
          </a:p>
        </p:txBody>
      </p:sp>
    </p:spTree>
    <p:extLst>
      <p:ext uri="{BB962C8B-B14F-4D97-AF65-F5344CB8AC3E}">
        <p14:creationId xmlns:p14="http://schemas.microsoft.com/office/powerpoint/2010/main" val="2638565582"/>
      </p:ext>
    </p:extLst>
  </p:cSld>
  <p:clrMapOvr>
    <a:masterClrMapping/>
  </p:clrMapOvr>
</p:sld>
</file>

<file path=ppt/slides/slide7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증상은 원인이 아니다</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통계는 대개 원인이 아니라 증상을 가리킨다</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ea typeface="맑은 고딕"/>
              </a:rPr>
              <a:t>•  물리 I/O가 높다 → 디스크 탓? 튜닝 안 된 SQL 탓?</a:t>
            </a:r>
          </a:p>
          <a:p>
            <a:pPr algn="l"/>
            <a:r>
              <a:rPr sz="1700" b="0">
                <a:solidFill>
                  <a:srgbClr val="222222"/>
                </a:solidFill>
                <a:latin typeface="맑은 고딕"/>
                <a:ea typeface="맑은 고딕"/>
              </a:rPr>
              <a:t>•  긴 전체 스캔은 결과이지 원인이 아니다</a:t>
            </a:r>
          </a:p>
          <a:p>
            <a:pPr algn="l"/>
            <a:r>
              <a:rPr sz="1700" b="0">
                <a:solidFill>
                  <a:srgbClr val="222222"/>
                </a:solidFill>
                <a:latin typeface="맑은 고딕"/>
                <a:ea typeface="맑은 고딕"/>
              </a:rPr>
              <a:t>•  래치 경합은 대개 애플리케이션 변경으로 해소</a:t>
            </a:r>
          </a:p>
          <a:p>
            <a:pPr algn="l"/>
            <a:r>
              <a:rPr sz="1700" b="0">
                <a:solidFill>
                  <a:srgbClr val="222222"/>
                </a:solidFill>
                <a:latin typeface="맑은 고딕"/>
                <a:ea typeface="맑은 고딕"/>
              </a:rPr>
              <a:t>•  그래서 증상(대기)에서 원인(세그먼트·세션·SQL)으로 좁힌다</a:t>
            </a:r>
          </a:p>
          <a:p>
            <a:pPr algn="l"/>
            <a:r>
              <a:rPr sz="1700" b="0">
                <a:solidFill>
                  <a:srgbClr val="222222"/>
                </a:solidFill>
                <a:latin typeface="맑은 고딕"/>
                <a:ea typeface="맑은 고딕"/>
              </a:rPr>
              <a:t>•  신화·민담에 의한 튜닝을 경계 — 반드시 내 통계로 확인</a:t>
            </a:r>
          </a:p>
        </p:txBody>
      </p:sp>
    </p:spTree>
    <p:extLst>
      <p:ext uri="{BB962C8B-B14F-4D97-AF65-F5344CB8AC3E}">
        <p14:creationId xmlns:p14="http://schemas.microsoft.com/office/powerpoint/2010/main" val="3476064125"/>
      </p:ext>
    </p:extLst>
  </p:cSld>
  <p:clrMapOvr>
    <a:masterClrMapping/>
  </p:clrMapOvr>
</p:sld>
</file>

<file path=ppt/slides/slide7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707886"/>
          </a:xfrm>
          <a:prstGeom prst="rect">
            <a:avLst/>
          </a:prstGeom>
          <a:noFill/>
        </p:spPr>
        <p:txBody>
          <a:bodyPr wrap="square">
            <a:spAutoFit/>
          </a:bodyPr>
          <a:lstStyle/>
          <a:p>
            <a:pPr algn="l"/>
            <a:r>
              <a:rPr lang="en-US" sz="4000" b="1" dirty="0">
                <a:solidFill>
                  <a:srgbClr val="FFFFFF"/>
                </a:solidFill>
                <a:latin typeface="맑은 고딕"/>
                <a:ea typeface="맑은 고딕"/>
              </a:rPr>
              <a:t>17</a:t>
            </a:r>
            <a:r>
              <a:rPr sz="4000" b="1" dirty="0">
                <a:solidFill>
                  <a:srgbClr val="FFFFFF"/>
                </a:solidFill>
                <a:latin typeface="맑은 고딕"/>
                <a:ea typeface="맑은 고딕"/>
              </a:rPr>
              <a:t>.4</a:t>
            </a:r>
          </a:p>
        </p:txBody>
      </p:sp>
      <p:sp>
        <p:nvSpPr>
          <p:cNvPr id="4" name="TextBox 3"/>
          <p:cNvSpPr txBox="1"/>
          <p:nvPr/>
        </p:nvSpPr>
        <p:spPr>
          <a:xfrm>
            <a:off x="822960" y="3017520"/>
            <a:ext cx="10515600" cy="914400"/>
          </a:xfrm>
          <a:prstGeom prst="rect">
            <a:avLst/>
          </a:prstGeom>
          <a:noFill/>
        </p:spPr>
        <p:txBody>
          <a:bodyPr wrap="square">
            <a:spAutoFit/>
          </a:bodyPr>
          <a:lstStyle/>
          <a:p>
            <a:pPr algn="l"/>
            <a:r>
              <a:rPr sz="2800" b="1">
                <a:solidFill>
                  <a:srgbClr val="FFFFFF"/>
                </a:solidFill>
                <a:latin typeface="맑은 고딕"/>
                <a:ea typeface="맑은 고딕"/>
              </a:rPr>
              <a:t>긴급 대응</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r>
              <a:rPr sz="1600" b="0">
                <a:solidFill>
                  <a:srgbClr val="FFFFFF"/>
                </a:solidFill>
                <a:latin typeface="맑은 고딕"/>
                <a:ea typeface="맑은 고딕"/>
              </a:rPr>
              <a:t>•  방금 멀쩡하던 시스템이 멈췄을 때</a:t>
            </a:r>
          </a:p>
          <a:p>
            <a:pPr algn="l"/>
            <a:r>
              <a:rPr sz="1600" b="0">
                <a:solidFill>
                  <a:srgbClr val="FFFFFF"/>
                </a:solidFill>
                <a:latin typeface="맑은 고딕"/>
                <a:ea typeface="맑은 고딕"/>
              </a:rPr>
              <a:t>•  빠른 진단 + 즉각 조치</a:t>
            </a:r>
          </a:p>
          <a:p>
            <a:pPr algn="l"/>
            <a:r>
              <a:rPr sz="1600" b="0">
                <a:solidFill>
                  <a:srgbClr val="FFFFFF"/>
                </a:solidFill>
                <a:latin typeface="맑은 고딕"/>
                <a:ea typeface="맑은 고딕"/>
              </a:rPr>
              <a:t>•  그러나 사실 기록은 생략하지 않는다</a:t>
            </a:r>
          </a:p>
          <a:p>
            <a:pPr algn="l"/>
            <a:r>
              <a:rPr sz="1600" b="0">
                <a:solidFill>
                  <a:srgbClr val="FFFFFF"/>
                </a:solidFill>
                <a:latin typeface="맑은 고딕"/>
                <a:ea typeface="맑은 고딕"/>
              </a:rPr>
              <a:t>•  응급 조치와 근본 원인 분석은 분리</a:t>
            </a:r>
          </a:p>
        </p:txBody>
      </p:sp>
    </p:spTree>
    <p:extLst>
      <p:ext uri="{BB962C8B-B14F-4D97-AF65-F5344CB8AC3E}">
        <p14:creationId xmlns:p14="http://schemas.microsoft.com/office/powerpoint/2010/main" val="1912985523"/>
      </p:ext>
    </p:extLst>
  </p:cSld>
  <p:clrMapOvr>
    <a:masterClrMapping/>
  </p:clrMapOvr>
</p:sld>
</file>

<file path=ppt/slides/slide7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긴급 대응이란</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Emergency Performance Methods</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ea typeface="맑은 고딕"/>
              </a:rPr>
              <a:t>•  신뢰할 수 있던 시스템이 갑자기 예측 불가·요청 처리 불가로 전환</a:t>
            </a:r>
          </a:p>
          <a:p>
            <a:pPr algn="l"/>
            <a:r>
              <a:rPr sz="1700" b="0">
                <a:solidFill>
                  <a:srgbClr val="222222"/>
                </a:solidFill>
                <a:latin typeface="맑은 고딕"/>
                <a:ea typeface="맑은 고딕"/>
              </a:rPr>
              <a:t>•  무엇이 바뀌었는지 빠르게 판단하고 서비스를 빨리 회복</a:t>
            </a:r>
          </a:p>
          <a:p>
            <a:pPr algn="l"/>
            <a:r>
              <a:rPr sz="1700" b="0">
                <a:solidFill>
                  <a:srgbClr val="222222"/>
                </a:solidFill>
                <a:latin typeface="맑은 고딕"/>
                <a:ea typeface="맑은 고딕"/>
              </a:rPr>
              <a:t>•  방법은 정공법과 같으나 시급함 때문에 지름길을 택한다</a:t>
            </a:r>
          </a:p>
          <a:p>
            <a:pPr algn="l"/>
            <a:r>
              <a:rPr sz="1700" b="0">
                <a:solidFill>
                  <a:srgbClr val="222222"/>
                </a:solidFill>
                <a:latin typeface="맑은 고딕"/>
                <a:ea typeface="맑은 고딕"/>
              </a:rPr>
              <a:t>•  생략 금지: 발견한 사실을 상세히 기록한다(의사의 환자 기록처럼)</a:t>
            </a:r>
          </a:p>
          <a:p>
            <a:pPr algn="l"/>
            <a:r>
              <a:rPr sz="1700" b="0">
                <a:solidFill>
                  <a:srgbClr val="222222"/>
                </a:solidFill>
                <a:latin typeface="맑은 고딕"/>
                <a:ea typeface="맑은 고딕"/>
              </a:rPr>
              <a:t>•  핵심 질문: '마지막으로 성능이 좋았던 이후 무엇이 바뀌었나?'</a:t>
            </a:r>
          </a:p>
        </p:txBody>
      </p:sp>
    </p:spTree>
    <p:extLst>
      <p:ext uri="{BB962C8B-B14F-4D97-AF65-F5344CB8AC3E}">
        <p14:creationId xmlns:p14="http://schemas.microsoft.com/office/powerpoint/2010/main" val="3217733620"/>
      </p:ext>
    </p:extLst>
  </p:cSld>
  <p:clrMapOvr>
    <a:masterClrMapping/>
  </p:clrMapOvr>
</p:sld>
</file>

<file path=ppt/slides/slide7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긴급 대응의 다섯 단계</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지름길을 택하되 기록은 남긴다</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ea typeface="맑은 고딕"/>
              </a:rPr>
              <a:t>•  1 증상 수집 — 처리량? 응답시간? 무엇이 바뀌었나? 기준점 확보</a:t>
            </a:r>
          </a:p>
          <a:p>
            <a:pPr algn="l"/>
            <a:r>
              <a:rPr sz="1700" b="0">
                <a:solidFill>
                  <a:srgbClr val="222222"/>
                </a:solidFill>
                <a:latin typeface="맑은 고딕"/>
                <a:ea typeface="맑은 고딕"/>
              </a:rPr>
              <a:t>•  2 하드웨어 점검 — CPU·디스크·메모리·네트워크, 어느 계층인가</a:t>
            </a:r>
          </a:p>
          <a:p>
            <a:pPr algn="l"/>
            <a:r>
              <a:rPr sz="1700" b="0">
                <a:solidFill>
                  <a:srgbClr val="222222"/>
                </a:solidFill>
                <a:latin typeface="맑은 고딕"/>
                <a:ea typeface="맑은 고딕"/>
              </a:rPr>
              <a:t>•  3 CPU vs 대기 판별 — V$SESS_TIME_MODEL / V$SESSION_WAIT</a:t>
            </a:r>
          </a:p>
          <a:p>
            <a:pPr algn="l"/>
            <a:r>
              <a:rPr sz="1700" b="0">
                <a:solidFill>
                  <a:srgbClr val="222222"/>
                </a:solidFill>
                <a:latin typeface="맑은 고딕"/>
                <a:ea typeface="맑은 고딕"/>
              </a:rPr>
              <a:t>•  4 응급 조치 — 오프라인·워크로드 제한·재시작·작업 종료</a:t>
            </a:r>
          </a:p>
          <a:p>
            <a:pPr algn="l"/>
            <a:r>
              <a:rPr sz="1700" b="0">
                <a:solidFill>
                  <a:srgbClr val="222222"/>
                </a:solidFill>
                <a:latin typeface="맑은 고딕"/>
                <a:ea typeface="맑은 고딕"/>
              </a:rPr>
              <a:t>•  5 안정성 검증 — 기준 통계 수집 후 정공법으로 복귀</a:t>
            </a:r>
          </a:p>
        </p:txBody>
      </p:sp>
    </p:spTree>
    <p:extLst>
      <p:ext uri="{BB962C8B-B14F-4D97-AF65-F5344CB8AC3E}">
        <p14:creationId xmlns:p14="http://schemas.microsoft.com/office/powerpoint/2010/main" val="336315693"/>
      </p:ext>
    </p:extLst>
  </p:cSld>
  <p:clrMapOvr>
    <a:masterClrMapping/>
  </p:clrMapOvr>
</p:sld>
</file>

<file path=ppt/slides/slide7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응급 조치와 근본 원인 분석을 분리한다</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이 장의 핵심 DBA Point</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ea typeface="맑은 고딕"/>
              </a:rPr>
              <a:t>•  응급 조치의 목표: 서비스를 빨리 회복 (증상 멈춤)</a:t>
            </a:r>
          </a:p>
          <a:p>
            <a:pPr algn="l"/>
            <a:r>
              <a:rPr sz="1700" b="0">
                <a:solidFill>
                  <a:srgbClr val="222222"/>
                </a:solidFill>
                <a:latin typeface="맑은 고딕"/>
                <a:ea typeface="맑은 고딕"/>
              </a:rPr>
              <a:t>•  근본 원인 분석: 회복 후 캡처를 근거로 차분히 (원인 제거)</a:t>
            </a:r>
          </a:p>
          <a:p>
            <a:pPr algn="l"/>
            <a:r>
              <a:rPr sz="1700" b="0">
                <a:solidFill>
                  <a:srgbClr val="222222"/>
                </a:solidFill>
                <a:latin typeface="맑은 고딕"/>
                <a:ea typeface="맑은 고딕"/>
              </a:rPr>
              <a:t>•  섞으면 둘 다 실패 — 조치가 늦거나, 원인을 못 잡거나</a:t>
            </a:r>
          </a:p>
          <a:p>
            <a:pPr algn="l"/>
            <a:r>
              <a:rPr sz="1700" b="0">
                <a:solidFill>
                  <a:srgbClr val="222222"/>
                </a:solidFill>
                <a:latin typeface="맑은 고딕"/>
                <a:ea typeface="맑은 고딕"/>
              </a:rPr>
              <a:t>•  순서: 근거 캡처 → 응급 조치 → 회복 검증 → 원인 분석 → 재발 방지</a:t>
            </a:r>
          </a:p>
          <a:p>
            <a:pPr algn="l"/>
            <a:r>
              <a:rPr sz="1700" b="0">
                <a:solidFill>
                  <a:srgbClr val="222222"/>
                </a:solidFill>
                <a:latin typeface="맑은 고딕"/>
                <a:ea typeface="맑은 고딕"/>
              </a:rPr>
              <a:t>•  조치를 하는 순간 증거가 사라진다 → 캡처가 조치보다 앞선다</a:t>
            </a:r>
          </a:p>
        </p:txBody>
      </p:sp>
    </p:spTree>
    <p:extLst>
      <p:ext uri="{BB962C8B-B14F-4D97-AF65-F5344CB8AC3E}">
        <p14:creationId xmlns:p14="http://schemas.microsoft.com/office/powerpoint/2010/main" val="2185273992"/>
      </p:ext>
    </p:extLst>
  </p:cSld>
  <p:clrMapOvr>
    <a:masterClrMapping/>
  </p:clrMapOvr>
</p:sld>
</file>

<file path=ppt/slides/slide7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707886"/>
          </a:xfrm>
          <a:prstGeom prst="rect">
            <a:avLst/>
          </a:prstGeom>
          <a:noFill/>
        </p:spPr>
        <p:txBody>
          <a:bodyPr wrap="square">
            <a:spAutoFit/>
          </a:bodyPr>
          <a:lstStyle/>
          <a:p>
            <a:pPr algn="l"/>
            <a:r>
              <a:rPr lang="en-US" sz="4000" b="1" dirty="0">
                <a:solidFill>
                  <a:srgbClr val="FFFFFF"/>
                </a:solidFill>
                <a:latin typeface="맑은 고딕"/>
                <a:ea typeface="맑은 고딕"/>
              </a:rPr>
              <a:t>17</a:t>
            </a:r>
            <a:r>
              <a:rPr sz="4000" b="1" dirty="0">
                <a:solidFill>
                  <a:srgbClr val="FFFFFF"/>
                </a:solidFill>
                <a:latin typeface="맑은 고딕"/>
                <a:ea typeface="맑은 고딕"/>
              </a:rPr>
              <a:t>.5</a:t>
            </a:r>
          </a:p>
        </p:txBody>
      </p:sp>
      <p:sp>
        <p:nvSpPr>
          <p:cNvPr id="4" name="TextBox 3"/>
          <p:cNvSpPr txBox="1"/>
          <p:nvPr/>
        </p:nvSpPr>
        <p:spPr>
          <a:xfrm>
            <a:off x="822960" y="3017520"/>
            <a:ext cx="10515600" cy="914400"/>
          </a:xfrm>
          <a:prstGeom prst="rect">
            <a:avLst/>
          </a:prstGeom>
          <a:noFill/>
        </p:spPr>
        <p:txBody>
          <a:bodyPr wrap="square">
            <a:spAutoFit/>
          </a:bodyPr>
          <a:lstStyle/>
          <a:p>
            <a:pPr algn="l"/>
            <a:r>
              <a:rPr sz="2800" b="1">
                <a:solidFill>
                  <a:srgbClr val="FFFFFF"/>
                </a:solidFill>
                <a:latin typeface="맑은 고딕"/>
                <a:ea typeface="맑은 고딕"/>
              </a:rPr>
              <a:t>응급 진단 체크리스트</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r>
              <a:rPr sz="1600" b="0">
                <a:solidFill>
                  <a:srgbClr val="FFFFFF"/>
                </a:solidFill>
                <a:latin typeface="맑은 고딕"/>
                <a:ea typeface="맑은 고딕"/>
              </a:rPr>
              <a:t>•  CPU 병목인가, 대기 병목인가</a:t>
            </a:r>
          </a:p>
          <a:p>
            <a:pPr algn="l"/>
            <a:r>
              <a:rPr sz="1600" b="0">
                <a:solidFill>
                  <a:srgbClr val="FFFFFF"/>
                </a:solidFill>
                <a:latin typeface="맑은 고딕"/>
                <a:ea typeface="맑은 고딕"/>
              </a:rPr>
              <a:t>•  이 판별이 조사 방향을 결정한다</a:t>
            </a:r>
          </a:p>
          <a:p>
            <a:pPr algn="l"/>
            <a:r>
              <a:rPr sz="1600" b="0">
                <a:solidFill>
                  <a:srgbClr val="FFFFFF"/>
                </a:solidFill>
                <a:latin typeface="맑은 고딕"/>
                <a:ea typeface="맑은 고딕"/>
              </a:rPr>
              <a:t>•  원천은 언제나 V$ 뷰</a:t>
            </a:r>
          </a:p>
          <a:p>
            <a:pPr algn="l"/>
            <a:r>
              <a:rPr sz="1600" b="0">
                <a:solidFill>
                  <a:srgbClr val="FFFFFF"/>
                </a:solidFill>
                <a:latin typeface="맑은 고딕"/>
                <a:ea typeface="맑은 고딕"/>
              </a:rPr>
              <a:t>•  Idle 이벤트를 병목으로 오판하지 않기</a:t>
            </a:r>
          </a:p>
        </p:txBody>
      </p:sp>
    </p:spTree>
    <p:extLst>
      <p:ext uri="{BB962C8B-B14F-4D97-AF65-F5344CB8AC3E}">
        <p14:creationId xmlns:p14="http://schemas.microsoft.com/office/powerpoint/2010/main" val="1139246253"/>
      </p:ext>
    </p:extLst>
  </p:cSld>
  <p:clrMapOvr>
    <a:masterClrMapping/>
  </p:clrMapOvr>
</p:sld>
</file>

<file path=ppt/slides/slide7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CPU 병목인가 대기 병목인가</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긴급 대응 3단계의 갈림길</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ea typeface="맑은 고딕"/>
              </a:rPr>
              <a:t>•  CPU 병목: V$SESS_TIME_MODEL(DB CPU), V$SESSTAT·V$SQLSTATS(buffer gets)</a:t>
            </a:r>
          </a:p>
          <a:p>
            <a:pPr algn="l"/>
            <a:r>
              <a:rPr sz="1700" b="0">
                <a:solidFill>
                  <a:srgbClr val="222222"/>
                </a:solidFill>
                <a:latin typeface="맑은 고딕"/>
                <a:ea typeface="맑은 고딕"/>
              </a:rPr>
              <a:t>•  대기 병목: V$SESSION(EVENT·WAIT_CLASS), V$SESSION_WAIT</a:t>
            </a:r>
          </a:p>
          <a:p>
            <a:pPr algn="l"/>
            <a:r>
              <a:rPr sz="1700" b="0">
                <a:solidFill>
                  <a:srgbClr val="222222"/>
                </a:solidFill>
                <a:latin typeface="맑은 고딕"/>
                <a:ea typeface="맑은 고딕"/>
              </a:rPr>
              <a:t>•  Idle 이벤트(SQL*Net message from client)는 병목이 아니다</a:t>
            </a:r>
          </a:p>
          <a:p>
            <a:pPr algn="l"/>
            <a:r>
              <a:rPr sz="1700" b="0">
                <a:solidFill>
                  <a:srgbClr val="222222"/>
                </a:solidFill>
                <a:latin typeface="맑은 고딕"/>
                <a:ea typeface="맑은 고딕"/>
              </a:rPr>
              <a:t>•  Application 클래스 → 잠금 경합(3.6절), Concurrency → 라이브러리 캐시</a:t>
            </a:r>
          </a:p>
          <a:p>
            <a:pPr algn="l"/>
            <a:r>
              <a:rPr sz="1700" b="0">
                <a:solidFill>
                  <a:srgbClr val="222222"/>
                </a:solidFill>
                <a:latin typeface="맑은 고딕"/>
                <a:ea typeface="맑은 고딕"/>
              </a:rPr>
              <a:t>•  로그인조차 어려우면 과거 데이터(ASH🔒/Statspack)로 진단</a:t>
            </a:r>
          </a:p>
        </p:txBody>
      </p:sp>
    </p:spTree>
    <p:extLst>
      <p:ext uri="{BB962C8B-B14F-4D97-AF65-F5344CB8AC3E}">
        <p14:creationId xmlns:p14="http://schemas.microsoft.com/office/powerpoint/2010/main" val="3984761880"/>
      </p:ext>
    </p:extLst>
  </p:cSld>
  <p:clrMapOvr>
    <a:masterClrMapping/>
  </p:clrMapOvr>
</p:sld>
</file>

<file path=ppt/slides/slide7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CPU 병목 조사 — 세션별 DB CPU</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V$SESS_TIME_MODEL</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tlCol="0" anchor="ctr"/>
          <a:lstStyle/>
          <a:p>
            <a:pPr algn="l"/>
            <a:r>
              <a:rPr sz="1250">
                <a:solidFill>
                  <a:srgbClr val="F2F2F2"/>
                </a:solidFill>
                <a:latin typeface="Consolas"/>
                <a:ea typeface="Consolas"/>
              </a:rPr>
              <a:t>SYS@orcl&gt; SELECT s.sid, s.username, stm.value/1e6 db_cpu_sec</a:t>
            </a:r>
          </a:p>
          <a:p>
            <a:pPr algn="l"/>
            <a:r>
              <a:rPr sz="1250">
                <a:solidFill>
                  <a:srgbClr val="F2F2F2"/>
                </a:solidFill>
                <a:latin typeface="Consolas"/>
                <a:ea typeface="Consolas"/>
              </a:rPr>
              <a:t>  2       FROM v$sess_time_model stm</a:t>
            </a:r>
          </a:p>
          <a:p>
            <a:pPr algn="l"/>
            <a:r>
              <a:rPr sz="1250">
                <a:solidFill>
                  <a:srgbClr val="F2F2F2"/>
                </a:solidFill>
                <a:latin typeface="Consolas"/>
                <a:ea typeface="Consolas"/>
              </a:rPr>
              <a:t>  3       JOIN v$session s ON s.sid = stm.sid</a:t>
            </a:r>
          </a:p>
          <a:p>
            <a:pPr algn="l"/>
            <a:r>
              <a:rPr sz="1250">
                <a:solidFill>
                  <a:srgbClr val="F2F2F2"/>
                </a:solidFill>
                <a:latin typeface="Consolas"/>
                <a:ea typeface="Consolas"/>
              </a:rPr>
              <a:t>  4       WHERE stm.stat_name = 'DB CPU'</a:t>
            </a:r>
          </a:p>
          <a:p>
            <a:pPr algn="l"/>
            <a:r>
              <a:rPr sz="1250">
                <a:solidFill>
                  <a:srgbClr val="F2F2F2"/>
                </a:solidFill>
                <a:latin typeface="Consolas"/>
                <a:ea typeface="Consolas"/>
              </a:rPr>
              <a:t>  5         AND s.type = 'USER'</a:t>
            </a:r>
          </a:p>
          <a:p>
            <a:pPr algn="l"/>
            <a:r>
              <a:rPr sz="1250">
                <a:solidFill>
                  <a:srgbClr val="F2F2F2"/>
                </a:solidFill>
                <a:latin typeface="Consolas"/>
                <a:ea typeface="Consolas"/>
              </a:rPr>
              <a:t>  6       ORDER BY stm.value DESC FETCH FIRST 5 ROWS ONLY;</a:t>
            </a:r>
          </a:p>
          <a:p>
            <a:pPr algn="l"/>
            <a:r>
              <a:rPr sz="1250">
                <a:solidFill>
                  <a:srgbClr val="F2F2F2"/>
                </a:solidFill>
                <a:latin typeface="Consolas"/>
                <a:ea typeface="Consolas"/>
              </a:rPr>
              <a:t> </a:t>
            </a:r>
          </a:p>
          <a:p>
            <a:pPr algn="l"/>
            <a:r>
              <a:rPr sz="1250">
                <a:solidFill>
                  <a:srgbClr val="F2F2F2"/>
                </a:solidFill>
                <a:latin typeface="Consolas"/>
                <a:ea typeface="Consolas"/>
              </a:rPr>
              <a:t>       SID USERNAME   DB_CPU_SEC</a:t>
            </a:r>
          </a:p>
          <a:p>
            <a:pPr algn="l"/>
            <a:r>
              <a:rPr sz="1250">
                <a:solidFill>
                  <a:srgbClr val="F2F2F2"/>
                </a:solidFill>
                <a:latin typeface="Consolas"/>
                <a:ea typeface="Consolas"/>
              </a:rPr>
              <a:t>---------- ---------- ----------</a:t>
            </a:r>
          </a:p>
          <a:p>
            <a:pPr algn="l"/>
            <a:r>
              <a:rPr sz="1250">
                <a:solidFill>
                  <a:srgbClr val="F2F2F2"/>
                </a:solidFill>
                <a:latin typeface="Consolas"/>
                <a:ea typeface="Consolas"/>
              </a:rPr>
              <a:t>       ...      ...          ...   &lt;- 환경값(부하에 따라 다름)</a:t>
            </a:r>
          </a:p>
        </p:txBody>
      </p:sp>
    </p:spTree>
    <p:extLst>
      <p:ext uri="{BB962C8B-B14F-4D97-AF65-F5344CB8AC3E}">
        <p14:creationId xmlns:p14="http://schemas.microsoft.com/office/powerpoint/2010/main" val="871319305"/>
      </p:ext>
    </p:extLst>
  </p:cSld>
  <p:clrMapOvr>
    <a:masterClrMapping/>
  </p:clrMapOvr>
</p:sld>
</file>

<file path=ppt/slides/slide7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대기 병목 조사 — 활성 대기 집계</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V$SESSION, Idle 제외</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tlCol="0" anchor="ctr"/>
          <a:lstStyle/>
          <a:p>
            <a:pPr algn="l"/>
            <a:r>
              <a:rPr sz="1250">
                <a:solidFill>
                  <a:srgbClr val="F2F2F2"/>
                </a:solidFill>
                <a:latin typeface="Consolas"/>
                <a:ea typeface="Consolas"/>
              </a:rPr>
              <a:t>SYS@orcl&gt; SELECT event, wait_class, COUNT(*) sessions</a:t>
            </a:r>
          </a:p>
          <a:p>
            <a:pPr algn="l"/>
            <a:r>
              <a:rPr sz="1250">
                <a:solidFill>
                  <a:srgbClr val="F2F2F2"/>
                </a:solidFill>
                <a:latin typeface="Consolas"/>
                <a:ea typeface="Consolas"/>
              </a:rPr>
              <a:t>  2       FROM v$session</a:t>
            </a:r>
          </a:p>
          <a:p>
            <a:pPr algn="l"/>
            <a:r>
              <a:rPr sz="1250">
                <a:solidFill>
                  <a:srgbClr val="F2F2F2"/>
                </a:solidFill>
                <a:latin typeface="Consolas"/>
                <a:ea typeface="Consolas"/>
              </a:rPr>
              <a:t>  3       WHERE type = 'USER' AND status = 'ACTIVE'</a:t>
            </a:r>
          </a:p>
          <a:p>
            <a:pPr algn="l"/>
            <a:r>
              <a:rPr sz="1250">
                <a:solidFill>
                  <a:srgbClr val="F2F2F2"/>
                </a:solidFill>
                <a:latin typeface="Consolas"/>
                <a:ea typeface="Consolas"/>
              </a:rPr>
              <a:t>  4         AND wait_class &lt;&gt; 'Idle'</a:t>
            </a:r>
          </a:p>
          <a:p>
            <a:pPr algn="l"/>
            <a:r>
              <a:rPr sz="1250">
                <a:solidFill>
                  <a:srgbClr val="F2F2F2"/>
                </a:solidFill>
                <a:latin typeface="Consolas"/>
                <a:ea typeface="Consolas"/>
              </a:rPr>
              <a:t>  5       GROUP BY event, wait_class</a:t>
            </a:r>
          </a:p>
          <a:p>
            <a:pPr algn="l"/>
            <a:r>
              <a:rPr sz="1250">
                <a:solidFill>
                  <a:srgbClr val="F2F2F2"/>
                </a:solidFill>
                <a:latin typeface="Consolas"/>
                <a:ea typeface="Consolas"/>
              </a:rPr>
              <a:t>  6       ORDER BY sessions DESC;</a:t>
            </a:r>
          </a:p>
          <a:p>
            <a:pPr algn="l"/>
            <a:r>
              <a:rPr sz="1250">
                <a:solidFill>
                  <a:srgbClr val="F2F2F2"/>
                </a:solidFill>
                <a:latin typeface="Consolas"/>
                <a:ea typeface="Consolas"/>
              </a:rPr>
              <a:t> </a:t>
            </a:r>
          </a:p>
          <a:p>
            <a:pPr algn="l"/>
            <a:r>
              <a:rPr sz="1250">
                <a:solidFill>
                  <a:srgbClr val="F2F2F2"/>
                </a:solidFill>
                <a:latin typeface="Consolas"/>
                <a:ea typeface="Consolas"/>
              </a:rPr>
              <a:t>EVENT                            WAIT_CLASS    SESSIONS</a:t>
            </a:r>
          </a:p>
          <a:p>
            <a:pPr algn="l"/>
            <a:r>
              <a:rPr sz="1250">
                <a:solidFill>
                  <a:srgbClr val="F2F2F2"/>
                </a:solidFill>
                <a:latin typeface="Consolas"/>
                <a:ea typeface="Consolas"/>
              </a:rPr>
              <a:t>-------------------------------- ------------ ---------</a:t>
            </a:r>
          </a:p>
          <a:p>
            <a:pPr algn="l"/>
            <a:r>
              <a:rPr sz="1250">
                <a:solidFill>
                  <a:srgbClr val="F2F2F2"/>
                </a:solidFill>
                <a:latin typeface="Consolas"/>
                <a:ea typeface="Consolas"/>
              </a:rPr>
              <a:t>enq: TX - row lock contention    Application          1</a:t>
            </a:r>
          </a:p>
          <a:p>
            <a:pPr algn="l"/>
            <a:r>
              <a:rPr sz="1250">
                <a:solidFill>
                  <a:srgbClr val="F2F2F2"/>
                </a:solidFill>
                <a:latin typeface="Consolas"/>
                <a:ea typeface="Consolas"/>
              </a:rPr>
              <a:t>...</a:t>
            </a:r>
          </a:p>
        </p:txBody>
      </p:sp>
    </p:spTree>
    <p:extLst>
      <p:ext uri="{BB962C8B-B14F-4D97-AF65-F5344CB8AC3E}">
        <p14:creationId xmlns:p14="http://schemas.microsoft.com/office/powerpoint/2010/main" val="2721681456"/>
      </p:ext>
    </p:extLst>
  </p:cSld>
  <p:clrMapOvr>
    <a:masterClrMapping/>
  </p:clrMapOvr>
</p:sld>
</file>

<file path=ppt/slides/slide7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707886"/>
          </a:xfrm>
          <a:prstGeom prst="rect">
            <a:avLst/>
          </a:prstGeom>
          <a:noFill/>
        </p:spPr>
        <p:txBody>
          <a:bodyPr wrap="square">
            <a:spAutoFit/>
          </a:bodyPr>
          <a:lstStyle/>
          <a:p>
            <a:pPr algn="l"/>
            <a:r>
              <a:rPr lang="en-US" sz="4000" b="1" dirty="0">
                <a:solidFill>
                  <a:srgbClr val="FFFFFF"/>
                </a:solidFill>
                <a:latin typeface="맑은 고딕"/>
                <a:ea typeface="맑은 고딕"/>
              </a:rPr>
              <a:t>17</a:t>
            </a:r>
            <a:r>
              <a:rPr sz="4000" b="1" dirty="0">
                <a:solidFill>
                  <a:srgbClr val="FFFFFF"/>
                </a:solidFill>
                <a:latin typeface="맑은 고딕"/>
                <a:ea typeface="맑은 고딕"/>
              </a:rPr>
              <a:t>.6</a:t>
            </a:r>
          </a:p>
        </p:txBody>
      </p:sp>
      <p:sp>
        <p:nvSpPr>
          <p:cNvPr id="4" name="TextBox 3"/>
          <p:cNvSpPr txBox="1"/>
          <p:nvPr/>
        </p:nvSpPr>
        <p:spPr>
          <a:xfrm>
            <a:off x="822960" y="3017520"/>
            <a:ext cx="10515600" cy="914400"/>
          </a:xfrm>
          <a:prstGeom prst="rect">
            <a:avLst/>
          </a:prstGeom>
          <a:noFill/>
        </p:spPr>
        <p:txBody>
          <a:bodyPr wrap="square">
            <a:spAutoFit/>
          </a:bodyPr>
          <a:lstStyle/>
          <a:p>
            <a:pPr algn="l"/>
            <a:r>
              <a:rPr sz="2800" b="1">
                <a:solidFill>
                  <a:srgbClr val="FFFFFF"/>
                </a:solidFill>
                <a:latin typeface="맑은 고딕"/>
                <a:ea typeface="맑은 고딕"/>
              </a:rPr>
              <a:t>블로킹 세션 추적과 해소</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r>
              <a:rPr sz="1600" b="0">
                <a:solidFill>
                  <a:srgbClr val="FFFFFF"/>
                </a:solidFill>
                <a:latin typeface="맑은 고딕"/>
                <a:ea typeface="맑은 고딕"/>
              </a:rPr>
              <a:t>•  CPU는 남는데 느린 직렬화의 전형</a:t>
            </a:r>
          </a:p>
          <a:p>
            <a:pPr algn="l"/>
            <a:r>
              <a:rPr sz="1600" b="0">
                <a:solidFill>
                  <a:srgbClr val="FFFFFF"/>
                </a:solidFill>
                <a:latin typeface="맑은 고딕"/>
                <a:ea typeface="맑은 고딕"/>
              </a:rPr>
              <a:t>•  V$SESSION → V$LOCK → DBA_BLOCKERS 세 겹</a:t>
            </a:r>
          </a:p>
          <a:p>
            <a:pPr algn="l"/>
            <a:r>
              <a:rPr sz="1600" b="0">
                <a:solidFill>
                  <a:srgbClr val="FFFFFF"/>
                </a:solidFill>
                <a:latin typeface="맑은 고딕"/>
                <a:ea typeface="맑은 고딕"/>
              </a:rPr>
              <a:t>•  실측: SID 597이 596에 막힘</a:t>
            </a:r>
          </a:p>
          <a:p>
            <a:pPr algn="l"/>
            <a:r>
              <a:rPr sz="1600" b="0">
                <a:solidFill>
                  <a:srgbClr val="FFFFFF"/>
                </a:solidFill>
                <a:latin typeface="맑은 고딕"/>
                <a:ea typeface="맑은 고딕"/>
              </a:rPr>
              <a:t>•  근거를 캡처한 뒤에만 종료한다</a:t>
            </a:r>
          </a:p>
        </p:txBody>
      </p:sp>
    </p:spTree>
    <p:extLst>
      <p:ext uri="{BB962C8B-B14F-4D97-AF65-F5344CB8AC3E}">
        <p14:creationId xmlns:p14="http://schemas.microsoft.com/office/powerpoint/2010/main" val="2331848842"/>
      </p:ext>
    </p:extLst>
  </p:cSld>
  <p:clrMapOvr>
    <a:masterClrMapping/>
  </p:clrMapOvr>
</p:sld>
</file>

<file path=ppt/slides/slide7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행 잠금 경합</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enq: TX - row lock contention</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ea typeface="맑은 고딕"/>
              </a:rPr>
              <a:t>•  UPDATE 시 그 행에 TX 잠금이 배타 모드(LMODE=6)로 걸린다</a:t>
            </a:r>
          </a:p>
          <a:p>
            <a:pPr algn="l"/>
            <a:r>
              <a:rPr sz="1700" b="0">
                <a:solidFill>
                  <a:srgbClr val="222222"/>
                </a:solidFill>
                <a:latin typeface="맑은 고딕"/>
                <a:ea typeface="맑은 고딕"/>
              </a:rPr>
              <a:t>•  커밋·롤백 전까지 유지 → 같은 행을 바꾸려는 세션은 대기</a:t>
            </a:r>
          </a:p>
          <a:p>
            <a:pPr algn="l"/>
            <a:r>
              <a:rPr sz="1700" b="0">
                <a:solidFill>
                  <a:srgbClr val="222222"/>
                </a:solidFill>
                <a:latin typeface="맑은 고딕"/>
                <a:ea typeface="맑은 고딕"/>
              </a:rPr>
              <a:t>•  대기 이벤트 = enq: TX - row lock contention, 클래스 = Application</a:t>
            </a:r>
          </a:p>
          <a:p>
            <a:pPr algn="l"/>
            <a:r>
              <a:rPr sz="1700" b="0">
                <a:solidFill>
                  <a:srgbClr val="222222"/>
                </a:solidFill>
                <a:latin typeface="맑은 고딕"/>
                <a:ea typeface="맑은 고딕"/>
              </a:rPr>
              <a:t>•  잠금은 정상 동작 — 문제는 잠금 보유 시간(트랜잭션 설계)</a:t>
            </a:r>
          </a:p>
          <a:p>
            <a:pPr algn="l"/>
            <a:r>
              <a:rPr sz="1700" b="0">
                <a:solidFill>
                  <a:srgbClr val="222222"/>
                </a:solidFill>
                <a:latin typeface="맑은 고딕"/>
                <a:ea typeface="맑은 고딕"/>
              </a:rPr>
              <a:t>•  근본 예방은 짧은 트랜잭션·사용자 대기 중 잠금 미보유(ch16)</a:t>
            </a:r>
          </a:p>
        </p:txBody>
      </p:sp>
    </p:spTree>
    <p:extLst>
      <p:ext uri="{BB962C8B-B14F-4D97-AF65-F5344CB8AC3E}">
        <p14:creationId xmlns:p14="http://schemas.microsoft.com/office/powerpoint/2010/main" val="4279703839"/>
      </p:ext>
    </p:extLst>
  </p:cSld>
  <p:clrMapOvr>
    <a:masterClrMapping/>
  </p:clrMapOvr>
</p:sld>
</file>

<file path=ppt/slides/slide7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V$SESSION.BLOCKING_SESSION (실측)</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SID 597이 596에 막힘</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tlCol="0" anchor="ctr"/>
          <a:lstStyle/>
          <a:p>
            <a:pPr algn="l"/>
            <a:r>
              <a:rPr sz="1250">
                <a:solidFill>
                  <a:srgbClr val="F2F2F2"/>
                </a:solidFill>
                <a:latin typeface="Consolas"/>
                <a:ea typeface="Consolas"/>
              </a:rPr>
              <a:t>SYS@orcl&gt; SELECT sid, username, event, blocking_session blk, wait_class</a:t>
            </a:r>
          </a:p>
          <a:p>
            <a:pPr algn="l"/>
            <a:r>
              <a:rPr sz="1250">
                <a:solidFill>
                  <a:srgbClr val="F2F2F2"/>
                </a:solidFill>
                <a:latin typeface="Consolas"/>
                <a:ea typeface="Consolas"/>
              </a:rPr>
              <a:t>  2       FROM v$session WHERE username = 'SQLT' ORDER BY sid;</a:t>
            </a:r>
          </a:p>
          <a:p>
            <a:pPr algn="l"/>
            <a:r>
              <a:rPr sz="1250">
                <a:solidFill>
                  <a:srgbClr val="F2F2F2"/>
                </a:solidFill>
                <a:latin typeface="Consolas"/>
                <a:ea typeface="Consolas"/>
              </a:rPr>
              <a:t> </a:t>
            </a:r>
          </a:p>
          <a:p>
            <a:pPr algn="l"/>
            <a:r>
              <a:rPr sz="1250">
                <a:solidFill>
                  <a:srgbClr val="F2F2F2"/>
                </a:solidFill>
                <a:latin typeface="Consolas"/>
                <a:ea typeface="Consolas"/>
              </a:rPr>
              <a:t>       SID USERNAME EVENT                            BLK WAIT_CLASS</a:t>
            </a:r>
          </a:p>
          <a:p>
            <a:pPr algn="l"/>
            <a:r>
              <a:rPr sz="1250">
                <a:solidFill>
                  <a:srgbClr val="F2F2F2"/>
                </a:solidFill>
                <a:latin typeface="Consolas"/>
                <a:ea typeface="Consolas"/>
              </a:rPr>
              <a:t>---------- -------- -------------------------------- --- -----------</a:t>
            </a:r>
          </a:p>
          <a:p>
            <a:pPr algn="l"/>
            <a:r>
              <a:rPr sz="1250">
                <a:solidFill>
                  <a:srgbClr val="F2F2F2"/>
                </a:solidFill>
                <a:latin typeface="Consolas"/>
                <a:ea typeface="Consolas"/>
              </a:rPr>
              <a:t>       596 SQLT     SQL*Net message from client          Idle</a:t>
            </a:r>
          </a:p>
          <a:p>
            <a:pPr algn="l"/>
            <a:r>
              <a:rPr sz="1250">
                <a:solidFill>
                  <a:srgbClr val="F2F2F2"/>
                </a:solidFill>
                <a:latin typeface="Consolas"/>
                <a:ea typeface="Consolas"/>
              </a:rPr>
              <a:t>       597 SQLT     enq: TX - row lock contention    596 Application</a:t>
            </a:r>
          </a:p>
        </p:txBody>
      </p:sp>
    </p:spTree>
    <p:extLst>
      <p:ext uri="{BB962C8B-B14F-4D97-AF65-F5344CB8AC3E}">
        <p14:creationId xmlns:p14="http://schemas.microsoft.com/office/powerpoint/2010/main" val="824973372"/>
      </p:ext>
    </p:extLst>
  </p:cSld>
  <p:clrMapOvr>
    <a:masterClrMapping/>
  </p:clrMapOvr>
</p:sld>
</file>

<file path=ppt/slides/slide7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V$LOCK — 누가 보유하고 누가 요청하나 (실측)</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block=1 보유, request=6 대기</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tlCol="0" anchor="ctr"/>
          <a:lstStyle/>
          <a:p>
            <a:pPr algn="l"/>
            <a:r>
              <a:rPr sz="1250">
                <a:solidFill>
                  <a:srgbClr val="F2F2F2"/>
                </a:solidFill>
                <a:latin typeface="Consolas"/>
                <a:ea typeface="Consolas"/>
              </a:rPr>
              <a:t>SYS@orcl&gt; SELECT sid, type, lmode, request, block</a:t>
            </a:r>
          </a:p>
          <a:p>
            <a:pPr algn="l"/>
            <a:r>
              <a:rPr sz="1250">
                <a:solidFill>
                  <a:srgbClr val="F2F2F2"/>
                </a:solidFill>
                <a:latin typeface="Consolas"/>
                <a:ea typeface="Consolas"/>
              </a:rPr>
              <a:t>  2       FROM v$lock WHERE type = 'TX' ORDER BY sid;</a:t>
            </a:r>
          </a:p>
          <a:p>
            <a:pPr algn="l"/>
            <a:r>
              <a:rPr sz="1250">
                <a:solidFill>
                  <a:srgbClr val="F2F2F2"/>
                </a:solidFill>
                <a:latin typeface="Consolas"/>
                <a:ea typeface="Consolas"/>
              </a:rPr>
              <a:t> </a:t>
            </a:r>
          </a:p>
          <a:p>
            <a:pPr algn="l"/>
            <a:r>
              <a:rPr sz="1250">
                <a:solidFill>
                  <a:srgbClr val="F2F2F2"/>
                </a:solidFill>
                <a:latin typeface="Consolas"/>
                <a:ea typeface="Consolas"/>
              </a:rPr>
              <a:t>       SID TYPE      LMODE    REQUEST      BLOCK</a:t>
            </a:r>
          </a:p>
          <a:p>
            <a:pPr algn="l"/>
            <a:r>
              <a:rPr sz="1250">
                <a:solidFill>
                  <a:srgbClr val="F2F2F2"/>
                </a:solidFill>
                <a:latin typeface="Consolas"/>
                <a:ea typeface="Consolas"/>
              </a:rPr>
              <a:t>---------- ---- ---------- ---------- ----------</a:t>
            </a:r>
          </a:p>
          <a:p>
            <a:pPr algn="l"/>
            <a:r>
              <a:rPr sz="1250">
                <a:solidFill>
                  <a:srgbClr val="F2F2F2"/>
                </a:solidFill>
                <a:latin typeface="Consolas"/>
                <a:ea typeface="Consolas"/>
              </a:rPr>
              <a:t>       596 TX            6          0          1</a:t>
            </a:r>
          </a:p>
          <a:p>
            <a:pPr algn="l"/>
            <a:r>
              <a:rPr sz="1250">
                <a:solidFill>
                  <a:srgbClr val="F2F2F2"/>
                </a:solidFill>
                <a:latin typeface="Consolas"/>
                <a:ea typeface="Consolas"/>
              </a:rPr>
              <a:t>       597 TX            0          6          0</a:t>
            </a:r>
          </a:p>
        </p:txBody>
      </p:sp>
    </p:spTree>
    <p:extLst>
      <p:ext uri="{BB962C8B-B14F-4D97-AF65-F5344CB8AC3E}">
        <p14:creationId xmlns:p14="http://schemas.microsoft.com/office/powerpoint/2010/main" val="1774288354"/>
      </p:ext>
    </p:extLst>
  </p:cSld>
  <p:clrMapOvr>
    <a:masterClrMapping/>
  </p:clrMapOvr>
</p:sld>
</file>

<file path=ppt/slides/slide7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DBA_BLOCKERS · DBA_WAITERS — 요약 뷰</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관계를 즉시 나열</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tlCol="0" anchor="ctr"/>
          <a:lstStyle/>
          <a:p>
            <a:pPr algn="l"/>
            <a:r>
              <a:rPr sz="1250">
                <a:solidFill>
                  <a:srgbClr val="F2F2F2"/>
                </a:solidFill>
                <a:latin typeface="Consolas"/>
                <a:ea typeface="Consolas"/>
              </a:rPr>
              <a:t>SYS@orcl&gt; SELECT holding_session blocker, waiting_session waiter</a:t>
            </a:r>
          </a:p>
          <a:p>
            <a:pPr algn="l"/>
            <a:r>
              <a:rPr sz="1250">
                <a:solidFill>
                  <a:srgbClr val="F2F2F2"/>
                </a:solidFill>
                <a:latin typeface="Consolas"/>
                <a:ea typeface="Consolas"/>
              </a:rPr>
              <a:t>  2       FROM dba_waiters;</a:t>
            </a:r>
          </a:p>
          <a:p>
            <a:pPr algn="l"/>
            <a:r>
              <a:rPr sz="1250">
                <a:solidFill>
                  <a:srgbClr val="F2F2F2"/>
                </a:solidFill>
                <a:latin typeface="Consolas"/>
                <a:ea typeface="Consolas"/>
              </a:rPr>
              <a:t> </a:t>
            </a:r>
          </a:p>
          <a:p>
            <a:pPr algn="l"/>
            <a:r>
              <a:rPr sz="1250">
                <a:solidFill>
                  <a:srgbClr val="F2F2F2"/>
                </a:solidFill>
                <a:latin typeface="Consolas"/>
                <a:ea typeface="Consolas"/>
              </a:rPr>
              <a:t>   BLOCKER     WAITER</a:t>
            </a:r>
          </a:p>
          <a:p>
            <a:pPr algn="l"/>
            <a:r>
              <a:rPr sz="1250">
                <a:solidFill>
                  <a:srgbClr val="F2F2F2"/>
                </a:solidFill>
                <a:latin typeface="Consolas"/>
                <a:ea typeface="Consolas"/>
              </a:rPr>
              <a:t>---------- ----------</a:t>
            </a:r>
          </a:p>
          <a:p>
            <a:pPr algn="l"/>
            <a:r>
              <a:rPr sz="1250">
                <a:solidFill>
                  <a:srgbClr val="F2F2F2"/>
                </a:solidFill>
                <a:latin typeface="Consolas"/>
                <a:ea typeface="Consolas"/>
              </a:rPr>
              <a:t>       596        597</a:t>
            </a:r>
          </a:p>
          <a:p>
            <a:pPr algn="l"/>
            <a:r>
              <a:rPr sz="1250">
                <a:solidFill>
                  <a:srgbClr val="F2F2F2"/>
                </a:solidFill>
                <a:latin typeface="Consolas"/>
                <a:ea typeface="Consolas"/>
              </a:rPr>
              <a:t> </a:t>
            </a:r>
          </a:p>
          <a:p>
            <a:pPr algn="l"/>
            <a:r>
              <a:rPr sz="1250">
                <a:solidFill>
                  <a:srgbClr val="F2F2F2"/>
                </a:solidFill>
                <a:latin typeface="Consolas"/>
                <a:ea typeface="Consolas"/>
              </a:rPr>
              <a:t>SYS@orcl&gt; SELECT holding_session FROM dba_blockers;</a:t>
            </a:r>
          </a:p>
          <a:p>
            <a:pPr algn="l"/>
            <a:r>
              <a:rPr sz="1250">
                <a:solidFill>
                  <a:srgbClr val="F2F2F2"/>
                </a:solidFill>
                <a:latin typeface="Consolas"/>
                <a:ea typeface="Consolas"/>
              </a:rPr>
              <a:t> </a:t>
            </a:r>
          </a:p>
          <a:p>
            <a:pPr algn="l"/>
            <a:r>
              <a:rPr sz="1250">
                <a:solidFill>
                  <a:srgbClr val="F2F2F2"/>
                </a:solidFill>
                <a:latin typeface="Consolas"/>
                <a:ea typeface="Consolas"/>
              </a:rPr>
              <a:t>HOLDING_SESSION</a:t>
            </a:r>
          </a:p>
          <a:p>
            <a:pPr algn="l"/>
            <a:r>
              <a:rPr sz="1250">
                <a:solidFill>
                  <a:srgbClr val="F2F2F2"/>
                </a:solidFill>
                <a:latin typeface="Consolas"/>
                <a:ea typeface="Consolas"/>
              </a:rPr>
              <a:t>---------------</a:t>
            </a:r>
          </a:p>
          <a:p>
            <a:pPr algn="l"/>
            <a:r>
              <a:rPr sz="1250">
                <a:solidFill>
                  <a:srgbClr val="F2F2F2"/>
                </a:solidFill>
                <a:latin typeface="Consolas"/>
                <a:ea typeface="Consolas"/>
              </a:rPr>
              <a:t>            596</a:t>
            </a:r>
          </a:p>
        </p:txBody>
      </p:sp>
    </p:spTree>
    <p:extLst>
      <p:ext uri="{BB962C8B-B14F-4D97-AF65-F5344CB8AC3E}">
        <p14:creationId xmlns:p14="http://schemas.microsoft.com/office/powerpoint/2010/main" val="1031390218"/>
      </p:ext>
    </p:extLst>
  </p:cSld>
  <p:clrMapOvr>
    <a:masterClrMapping/>
  </p:clrMapOvr>
</p:sld>
</file>

<file path=ppt/slides/slide7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블로킹과 교착 상태는 다르다</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blocking vs deadlock</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ea typeface="맑은 고딕"/>
              </a:rPr>
              <a:t>•  블로킹: A가 B를 기다리는 한 방향 — 시간이 지나 커밋·롤백하면 풀림</a:t>
            </a:r>
          </a:p>
          <a:p>
            <a:pPr algn="l"/>
            <a:r>
              <a:rPr sz="1700" b="0">
                <a:solidFill>
                  <a:srgbClr val="222222"/>
                </a:solidFill>
                <a:latin typeface="맑은 고딕"/>
                <a:ea typeface="맑은 고딕"/>
              </a:rPr>
              <a:t>•  블로킹은 오라클이 자동 해소하지 않는다(무한정 유지 가능)</a:t>
            </a:r>
          </a:p>
          <a:p>
            <a:pPr algn="l"/>
            <a:r>
              <a:rPr sz="1700" b="0">
                <a:solidFill>
                  <a:srgbClr val="222222"/>
                </a:solidFill>
                <a:latin typeface="맑은 고딕"/>
                <a:ea typeface="맑은 고딕"/>
              </a:rPr>
              <a:t>•  교착 상태: A↔B 순환 — 스스로 풀리지 않는다</a:t>
            </a:r>
          </a:p>
          <a:p>
            <a:pPr algn="l"/>
            <a:r>
              <a:rPr sz="1700" b="0">
                <a:solidFill>
                  <a:srgbClr val="222222"/>
                </a:solidFill>
                <a:latin typeface="맑은 고딕"/>
                <a:ea typeface="맑은 고딕"/>
              </a:rPr>
              <a:t>•  오라클이 순환을 자동 탐지 → 한쪽에 ORA-00060, 그 문장만 롤백</a:t>
            </a:r>
          </a:p>
          <a:p>
            <a:pPr algn="l"/>
            <a:r>
              <a:rPr sz="1700" b="0">
                <a:solidFill>
                  <a:srgbClr val="222222"/>
                </a:solidFill>
                <a:latin typeface="맑은 고딕"/>
                <a:ea typeface="맑은 고딕"/>
              </a:rPr>
              <a:t>•  실습 4의 행 잠금 경합은 한 방향 블로킹(교착 아님)</a:t>
            </a:r>
          </a:p>
        </p:txBody>
      </p:sp>
    </p:spTree>
    <p:extLst>
      <p:ext uri="{BB962C8B-B14F-4D97-AF65-F5344CB8AC3E}">
        <p14:creationId xmlns:p14="http://schemas.microsoft.com/office/powerpoint/2010/main" val="4227644461"/>
      </p:ext>
    </p:extLst>
  </p:cSld>
  <p:clrMapOvr>
    <a:masterClrMapping/>
  </p:clrMapOvr>
</p:sld>
</file>

<file path=ppt/slides/slide7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해소 — 근거를 캡처한 뒤에만 종료</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종료하면 증거가 사라진다</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tlCol="0" anchor="ctr"/>
          <a:lstStyle/>
          <a:p>
            <a:pPr algn="l"/>
            <a:r>
              <a:rPr sz="1250">
                <a:solidFill>
                  <a:srgbClr val="F2F2F2"/>
                </a:solidFill>
                <a:latin typeface="Consolas"/>
                <a:ea typeface="Consolas"/>
              </a:rPr>
              <a:t>-- ★ 반드시 먼저: 아래 근거를 캡처해 파일로 남긴다 ★</a:t>
            </a:r>
          </a:p>
          <a:p>
            <a:pPr algn="l"/>
            <a:r>
              <a:rPr sz="1250">
                <a:solidFill>
                  <a:srgbClr val="F2F2F2"/>
                </a:solidFill>
                <a:latin typeface="Consolas"/>
                <a:ea typeface="Consolas"/>
              </a:rPr>
              <a:t>--   1) V$SESSION (블로커·대기자·EVENT·BLOCKING_SESSION)</a:t>
            </a:r>
          </a:p>
          <a:p>
            <a:pPr algn="l"/>
            <a:r>
              <a:rPr sz="1250">
                <a:solidFill>
                  <a:srgbClr val="F2F2F2"/>
                </a:solidFill>
                <a:latin typeface="Consolas"/>
                <a:ea typeface="Consolas"/>
              </a:rPr>
              <a:t>--   2) V$LOCK    (TX 행의 LMODE / REQUEST / BLOCK)</a:t>
            </a:r>
          </a:p>
          <a:p>
            <a:pPr algn="l"/>
            <a:r>
              <a:rPr sz="1250">
                <a:solidFill>
                  <a:srgbClr val="F2F2F2"/>
                </a:solidFill>
                <a:latin typeface="Consolas"/>
                <a:ea typeface="Consolas"/>
              </a:rPr>
              <a:t>--   3) 대상 세그먼트·행 (V$SESSION의 ROW_WAIT_OBJ# 등)</a:t>
            </a:r>
          </a:p>
          <a:p>
            <a:pPr algn="l"/>
            <a:r>
              <a:rPr sz="1250">
                <a:solidFill>
                  <a:srgbClr val="F2F2F2"/>
                </a:solidFill>
                <a:latin typeface="Consolas"/>
                <a:ea typeface="Consolas"/>
              </a:rPr>
              <a:t> </a:t>
            </a:r>
          </a:p>
          <a:p>
            <a:pPr algn="l"/>
            <a:r>
              <a:rPr sz="1250">
                <a:solidFill>
                  <a:srgbClr val="F2F2F2"/>
                </a:solidFill>
                <a:latin typeface="Consolas"/>
                <a:ea typeface="Consolas"/>
              </a:rPr>
              <a:t>-- 캡처가 끝난 뒤에만 실행한다.</a:t>
            </a:r>
          </a:p>
          <a:p>
            <a:pPr algn="l"/>
            <a:r>
              <a:rPr sz="1250">
                <a:solidFill>
                  <a:srgbClr val="F2F2F2"/>
                </a:solidFill>
                <a:latin typeface="Consolas"/>
                <a:ea typeface="Consolas"/>
              </a:rPr>
              <a:t>SYS@orcl&gt; ALTER SYSTEM KILL SESSION '596,&lt;SERIAL#&gt;' IMMEDIATE;</a:t>
            </a:r>
          </a:p>
          <a:p>
            <a:pPr algn="l"/>
            <a:r>
              <a:rPr sz="1250">
                <a:solidFill>
                  <a:srgbClr val="F2F2F2"/>
                </a:solidFill>
                <a:latin typeface="Consolas"/>
                <a:ea typeface="Consolas"/>
              </a:rPr>
              <a:t> </a:t>
            </a:r>
          </a:p>
          <a:p>
            <a:pPr algn="l"/>
            <a:r>
              <a:rPr sz="1250">
                <a:solidFill>
                  <a:srgbClr val="F2F2F2"/>
                </a:solidFill>
                <a:latin typeface="Consolas"/>
                <a:ea typeface="Consolas"/>
              </a:rPr>
              <a:t>System altered.</a:t>
            </a:r>
          </a:p>
        </p:txBody>
      </p:sp>
    </p:spTree>
    <p:extLst>
      <p:ext uri="{BB962C8B-B14F-4D97-AF65-F5344CB8AC3E}">
        <p14:creationId xmlns:p14="http://schemas.microsoft.com/office/powerpoint/2010/main" val="2177899622"/>
      </p:ext>
    </p:extLst>
  </p:cSld>
  <p:clrMapOvr>
    <a:masterClrMapping/>
  </p:clrMapOvr>
</p:sld>
</file>

<file path=ppt/slides/slide7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어느 세그먼트의 어느 행인가</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대상 식별 — V$SESSION.ROW_WAIT_*</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ea typeface="맑은 고딕"/>
              </a:rPr>
              <a:t>•  ROW_WAIT_OBJ# / FILE# / BLOCK# / ROW# 로 대기 대상 행을 특정</a:t>
            </a:r>
          </a:p>
          <a:p>
            <a:pPr algn="l"/>
            <a:r>
              <a:rPr sz="1700" b="0">
                <a:solidFill>
                  <a:srgbClr val="222222"/>
                </a:solidFill>
                <a:latin typeface="맑은 고딕"/>
                <a:ea typeface="맑은 고딕"/>
              </a:rPr>
              <a:t>•  ROW_WAIT_OBJ#를 DBA_OBJECTS와 조인하면 객체 이름이 나온다</a:t>
            </a:r>
          </a:p>
          <a:p>
            <a:pPr algn="l"/>
            <a:r>
              <a:rPr sz="1700" b="0">
                <a:solidFill>
                  <a:srgbClr val="222222"/>
                </a:solidFill>
                <a:latin typeface="맑은 고딕"/>
                <a:ea typeface="맑은 고딕"/>
              </a:rPr>
              <a:t>•  '어느 테이블의 행이 잠겼는가' → 관련 업무 트랜잭션 추적</a:t>
            </a:r>
          </a:p>
          <a:p>
            <a:pPr algn="l"/>
            <a:r>
              <a:rPr sz="1700" b="0">
                <a:solidFill>
                  <a:srgbClr val="222222"/>
                </a:solidFill>
                <a:latin typeface="맑은 고딕"/>
                <a:ea typeface="맑은 고딕"/>
              </a:rPr>
              <a:t>•  실습 4: 대기자 597이 REVIEW_LOG_WL의 특정 행을 대기</a:t>
            </a:r>
          </a:p>
          <a:p>
            <a:pPr algn="l"/>
            <a:r>
              <a:rPr sz="1700" b="0">
                <a:solidFill>
                  <a:srgbClr val="222222"/>
                </a:solidFill>
                <a:latin typeface="맑은 고딕"/>
                <a:ea typeface="맑은 고딕"/>
              </a:rPr>
              <a:t>•  세션 종료 시 이 값들도 사라진다 → 종료 전에 캡처</a:t>
            </a:r>
          </a:p>
        </p:txBody>
      </p:sp>
    </p:spTree>
    <p:extLst>
      <p:ext uri="{BB962C8B-B14F-4D97-AF65-F5344CB8AC3E}">
        <p14:creationId xmlns:p14="http://schemas.microsoft.com/office/powerpoint/2010/main" val="612850295"/>
      </p:ext>
    </p:extLst>
  </p:cSld>
  <p:clrMapOvr>
    <a:masterClrMapping/>
  </p:clrMapOvr>
</p:sld>
</file>

<file path=ppt/slides/slide7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707886"/>
          </a:xfrm>
          <a:prstGeom prst="rect">
            <a:avLst/>
          </a:prstGeom>
          <a:noFill/>
        </p:spPr>
        <p:txBody>
          <a:bodyPr wrap="square">
            <a:spAutoFit/>
          </a:bodyPr>
          <a:lstStyle/>
          <a:p>
            <a:pPr algn="l"/>
            <a:r>
              <a:rPr lang="en-US" sz="4000" b="1" dirty="0">
                <a:solidFill>
                  <a:srgbClr val="FFFFFF"/>
                </a:solidFill>
                <a:latin typeface="맑은 고딕"/>
                <a:ea typeface="맑은 고딕"/>
              </a:rPr>
              <a:t>17</a:t>
            </a:r>
            <a:r>
              <a:rPr sz="4000" b="1" dirty="0">
                <a:solidFill>
                  <a:srgbClr val="FFFFFF"/>
                </a:solidFill>
                <a:latin typeface="맑은 고딕"/>
                <a:ea typeface="맑은 고딕"/>
              </a:rPr>
              <a:t>.7</a:t>
            </a:r>
          </a:p>
        </p:txBody>
      </p:sp>
      <p:sp>
        <p:nvSpPr>
          <p:cNvPr id="4" name="TextBox 3"/>
          <p:cNvSpPr txBox="1"/>
          <p:nvPr/>
        </p:nvSpPr>
        <p:spPr>
          <a:xfrm>
            <a:off x="822960" y="3017520"/>
            <a:ext cx="10515600" cy="914400"/>
          </a:xfrm>
          <a:prstGeom prst="rect">
            <a:avLst/>
          </a:prstGeom>
          <a:noFill/>
        </p:spPr>
        <p:txBody>
          <a:bodyPr wrap="square">
            <a:spAutoFit/>
          </a:bodyPr>
          <a:lstStyle/>
          <a:p>
            <a:pPr algn="l"/>
            <a:r>
              <a:rPr sz="2800" b="1">
                <a:solidFill>
                  <a:srgbClr val="FFFFFF"/>
                </a:solidFill>
                <a:latin typeface="맑은 고딕"/>
                <a:ea typeface="맑은 고딕"/>
              </a:rPr>
              <a:t>조치 전 근거 캡처</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r>
              <a:rPr sz="1600" b="0">
                <a:solidFill>
                  <a:srgbClr val="FFFFFF"/>
                </a:solidFill>
                <a:latin typeface="맑은 고딕"/>
                <a:ea typeface="맑은 고딕"/>
              </a:rPr>
              <a:t>•  도박이 아니라 튜닝</a:t>
            </a:r>
          </a:p>
          <a:p>
            <a:pPr algn="l"/>
            <a:r>
              <a:rPr sz="1600" b="0">
                <a:solidFill>
                  <a:srgbClr val="FFFFFF"/>
                </a:solidFill>
                <a:latin typeface="맑은 고딕"/>
                <a:ea typeface="맑은 고딕"/>
              </a:rPr>
              <a:t>•  만성 저하와 긴급 상황 모두에 적용</a:t>
            </a:r>
          </a:p>
          <a:p>
            <a:pPr algn="l"/>
            <a:r>
              <a:rPr sz="1600" b="0">
                <a:solidFill>
                  <a:srgbClr val="FFFFFF"/>
                </a:solidFill>
                <a:latin typeface="맑은 고딕"/>
                <a:ea typeface="맑은 고딕"/>
              </a:rPr>
              <a:t>•  순간 상태는 조치와 함께 소멸한다</a:t>
            </a:r>
          </a:p>
          <a:p>
            <a:pPr algn="l"/>
            <a:r>
              <a:rPr sz="1600" b="0">
                <a:solidFill>
                  <a:srgbClr val="FFFFFF"/>
                </a:solidFill>
                <a:latin typeface="맑은 고딕"/>
                <a:ea typeface="맑은 고딕"/>
              </a:rPr>
              <a:t>•  지금 남기지 않으면 영원히 없다</a:t>
            </a:r>
          </a:p>
        </p:txBody>
      </p:sp>
    </p:spTree>
    <p:extLst>
      <p:ext uri="{BB962C8B-B14F-4D97-AF65-F5344CB8AC3E}">
        <p14:creationId xmlns:p14="http://schemas.microsoft.com/office/powerpoint/2010/main" val="1794294799"/>
      </p:ext>
    </p:extLst>
  </p:cSld>
  <p:clrMapOvr>
    <a:masterClrMapping/>
  </p:clrMapOvr>
</p:sld>
</file>

<file path=ppt/slides/slide7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조치 전 근거 캡처 — 도박이 아니라 튜닝</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이 장을 관통하는 원칙</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ea typeface="맑은 고딕"/>
              </a:rPr>
              <a:t>•  조치 전 상태를 캡처하지 않은 튜닝은 튜닝이 아니라 도박이다</a:t>
            </a:r>
          </a:p>
          <a:p>
            <a:pPr algn="l"/>
            <a:r>
              <a:rPr sz="1700" b="0">
                <a:solidFill>
                  <a:srgbClr val="222222"/>
                </a:solidFill>
                <a:latin typeface="맑은 고딕"/>
                <a:ea typeface="맑은 고딕"/>
              </a:rPr>
              <a:t>•  방법론: '한 번에 하나만 바꾸고 측정'의 전제</a:t>
            </a:r>
          </a:p>
          <a:p>
            <a:pPr algn="l"/>
            <a:r>
              <a:rPr sz="1700" b="0">
                <a:solidFill>
                  <a:srgbClr val="222222"/>
                </a:solidFill>
                <a:latin typeface="맑은 고딕"/>
                <a:ea typeface="맑은 고딕"/>
              </a:rPr>
              <a:t>•  긴급: '세션을 죽이기 전에 근거를 남긴다'의 규율</a:t>
            </a:r>
          </a:p>
          <a:p>
            <a:pPr algn="l"/>
            <a:r>
              <a:rPr sz="1700" b="0">
                <a:solidFill>
                  <a:srgbClr val="222222"/>
                </a:solidFill>
                <a:latin typeface="맑은 고딕"/>
                <a:ea typeface="맑은 고딕"/>
              </a:rPr>
              <a:t>•  ch15 세 경계 중 '근거 없는 조치'와 같은 뿌리</a:t>
            </a:r>
          </a:p>
          <a:p>
            <a:pPr algn="l"/>
            <a:r>
              <a:rPr sz="1700" b="0">
                <a:solidFill>
                  <a:srgbClr val="222222"/>
                </a:solidFill>
                <a:latin typeface="맑은 고딕"/>
                <a:ea typeface="맑은 고딕"/>
              </a:rPr>
              <a:t>•  V$SESSION·V$LOCK은 순간 상태 — 조치하면 사라진다</a:t>
            </a:r>
          </a:p>
        </p:txBody>
      </p:sp>
    </p:spTree>
    <p:extLst>
      <p:ext uri="{BB962C8B-B14F-4D97-AF65-F5344CB8AC3E}">
        <p14:creationId xmlns:p14="http://schemas.microsoft.com/office/powerpoint/2010/main" val="3106807286"/>
      </p:ext>
    </p:extLst>
  </p:cSld>
  <p:clrMapOvr>
    <a:masterClrMapping/>
  </p:clrMapOvr>
</p:sld>
</file>

<file path=ppt/slides/slide7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캡처가 필수인 이유</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성능 데이터의 두 가지 성질</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ea typeface="맑은 고딕"/>
              </a:rPr>
              <a:t>•  ① 순간값·누적값 — 순간 상태는 조치와 함께 소멸</a:t>
            </a:r>
          </a:p>
          <a:p>
            <a:pPr algn="l"/>
            <a:r>
              <a:rPr sz="1700" b="0">
                <a:solidFill>
                  <a:srgbClr val="222222"/>
                </a:solidFill>
                <a:latin typeface="맑은 고딕"/>
                <a:ea typeface="맑은 고딕"/>
              </a:rPr>
              <a:t>•  누적값은 시작·끝 두 번 떠 델타로 계산해야 의미가 생긴다</a:t>
            </a:r>
          </a:p>
          <a:p>
            <a:pPr algn="l"/>
            <a:r>
              <a:rPr sz="1700" b="0">
                <a:solidFill>
                  <a:srgbClr val="222222"/>
                </a:solidFill>
                <a:latin typeface="맑은 고딕"/>
                <a:ea typeface="맑은 고딕"/>
              </a:rPr>
              <a:t>•  ② 조치는 되돌릴 수 없다 — 종료된 세션·롤백된 작업은 복구 불가</a:t>
            </a:r>
          </a:p>
          <a:p>
            <a:pPr algn="l"/>
            <a:r>
              <a:rPr sz="1700" b="0">
                <a:solidFill>
                  <a:srgbClr val="222222"/>
                </a:solidFill>
                <a:latin typeface="맑은 고딕"/>
                <a:ea typeface="맑은 고딕"/>
              </a:rPr>
              <a:t>•  캡처 내용: 블로커·대기자 SID, 잠금 모드·종류, 세그먼트·행, 대기 이벤트</a:t>
            </a:r>
          </a:p>
          <a:p>
            <a:pPr algn="l"/>
            <a:r>
              <a:rPr sz="1700" b="0">
                <a:solidFill>
                  <a:srgbClr val="222222"/>
                </a:solidFill>
                <a:latin typeface="맑은 고딕"/>
                <a:ea typeface="맑은 고딕"/>
              </a:rPr>
              <a:t>•  형식보다 '조치 전에 남겼는가'가 중요 (SPOOL로 충분)</a:t>
            </a:r>
          </a:p>
        </p:txBody>
      </p:sp>
    </p:spTree>
    <p:extLst>
      <p:ext uri="{BB962C8B-B14F-4D97-AF65-F5344CB8AC3E}">
        <p14:creationId xmlns:p14="http://schemas.microsoft.com/office/powerpoint/2010/main" val="3738268296"/>
      </p:ext>
    </p:extLst>
  </p:cSld>
  <p:clrMapOvr>
    <a:masterClrMapping/>
  </p:clrMapOvr>
</p:sld>
</file>

<file path=ppt/slides/slide7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퀴즈 (Quiz)</a:t>
            </a:r>
          </a:p>
        </p:txBody>
      </p:sp>
      <p:sp>
        <p:nvSpPr>
          <p:cNvPr id="4" name="TextBox 3"/>
          <p:cNvSpPr txBox="1"/>
          <p:nvPr/>
        </p:nvSpPr>
        <p:spPr>
          <a:xfrm>
            <a:off x="640080" y="1371600"/>
            <a:ext cx="10881360" cy="5120640"/>
          </a:xfrm>
          <a:prstGeom prst="rect">
            <a:avLst/>
          </a:prstGeom>
          <a:noFill/>
        </p:spPr>
        <p:txBody>
          <a:bodyPr wrap="square">
            <a:spAutoFit/>
          </a:bodyPr>
          <a:lstStyle/>
          <a:p>
            <a:pPr algn="l"/>
            <a:r>
              <a:rPr sz="1600" b="0">
                <a:solidFill>
                  <a:srgbClr val="222222"/>
                </a:solidFill>
                <a:latin typeface="맑은 고딕"/>
                <a:ea typeface="맑은 고딕"/>
              </a:rPr>
              <a:t>•  Q1. 성능 개선 방법론의 '황금률'을 쓰고, 그것을 지키려면 왜 조치 전 캡처가 필요한지 설명하라.</a:t>
            </a:r>
          </a:p>
          <a:p>
            <a:pPr algn="l"/>
            <a:r>
              <a:rPr sz="1600" b="0">
                <a:solidFill>
                  <a:srgbClr val="222222"/>
                </a:solidFill>
                <a:latin typeface="맑은 고딕"/>
                <a:ea typeface="맑은 고딕"/>
              </a:rPr>
              <a:t>•  Q2. 개념 모델 세 갈래에서 각각 먼저 무엇을 의심하는가?</a:t>
            </a:r>
          </a:p>
          <a:p>
            <a:pPr algn="l"/>
            <a:r>
              <a:rPr sz="1600" b="0">
                <a:solidFill>
                  <a:srgbClr val="222222"/>
                </a:solidFill>
                <a:latin typeface="맑은 고딕"/>
                <a:ea typeface="맑은 고딕"/>
              </a:rPr>
              <a:t>•  Q3. 인스턴스 튜닝과 애플리케이션 비효율 제거 중 일반적으로 더 큰 향상을 주는 쪽과 그 이유는?</a:t>
            </a:r>
          </a:p>
          <a:p>
            <a:pPr algn="l"/>
            <a:r>
              <a:rPr sz="1600" b="0">
                <a:solidFill>
                  <a:srgbClr val="222222"/>
                </a:solidFill>
                <a:latin typeface="맑은 고딕"/>
                <a:ea typeface="맑은 고딕"/>
              </a:rPr>
              <a:t>•  Q4. 긴급 대응에서 응급 조치와 근본 원인 분석을 분리해야 하는 이유는?</a:t>
            </a:r>
          </a:p>
          <a:p>
            <a:pPr algn="l"/>
            <a:r>
              <a:rPr sz="1600" b="0">
                <a:solidFill>
                  <a:srgbClr val="222222"/>
                </a:solidFill>
                <a:latin typeface="맑은 고딕"/>
                <a:ea typeface="맑은 고딕"/>
              </a:rPr>
              <a:t>•  Q5. 실측에서 597의 블로커는 596이고 596의 대기 클래스는 Idle이었다. 진짜 블로커와 오판 이유는?</a:t>
            </a:r>
          </a:p>
          <a:p>
            <a:pPr algn="l"/>
            <a:r>
              <a:rPr sz="1600" b="0">
                <a:solidFill>
                  <a:srgbClr val="222222"/>
                </a:solidFill>
                <a:latin typeface="맑은 고딕"/>
                <a:ea typeface="맑은 고딕"/>
              </a:rPr>
              <a:t>•  Q6. V$LOCK의 TX 행에서 block=1과 request=6은 각각 무엇을 뜻하는가? 종료 전 반드시 할 일은?</a:t>
            </a:r>
          </a:p>
        </p:txBody>
      </p:sp>
    </p:spTree>
    <p:extLst>
      <p:ext uri="{BB962C8B-B14F-4D97-AF65-F5344CB8AC3E}">
        <p14:creationId xmlns:p14="http://schemas.microsoft.com/office/powerpoint/2010/main" val="1101784669"/>
      </p:ext>
    </p:extLst>
  </p:cSld>
  <p:clrMapOvr>
    <a:masterClrMapping/>
  </p:clrMapOvr>
</p:sld>
</file>

<file path=ppt/slides/slide7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요약 (Summary)</a:t>
            </a:r>
          </a:p>
        </p:txBody>
      </p:sp>
      <p:sp>
        <p:nvSpPr>
          <p:cNvPr id="4" name="TextBox 3"/>
          <p:cNvSpPr txBox="1"/>
          <p:nvPr/>
        </p:nvSpPr>
        <p:spPr>
          <a:xfrm>
            <a:off x="640080" y="1371600"/>
            <a:ext cx="10881360" cy="5120640"/>
          </a:xfrm>
          <a:prstGeom prst="rect">
            <a:avLst/>
          </a:prstGeom>
          <a:noFill/>
        </p:spPr>
        <p:txBody>
          <a:bodyPr wrap="square">
            <a:spAutoFit/>
          </a:bodyPr>
          <a:lstStyle/>
          <a:p>
            <a:pPr algn="l"/>
            <a:r>
              <a:rPr sz="1600" b="0">
                <a:solidFill>
                  <a:srgbClr val="222222"/>
                </a:solidFill>
                <a:latin typeface="맑은 고딕"/>
                <a:ea typeface="맑은 고딕"/>
              </a:rPr>
              <a:t>•  방법론은 규칙이 아니라 일하는 방식 — 병목 확인 후에만, 한 번에 하나만, 반복.</a:t>
            </a:r>
          </a:p>
          <a:p>
            <a:pPr algn="l"/>
            <a:r>
              <a:rPr sz="1600" b="0">
                <a:solidFill>
                  <a:srgbClr val="222222"/>
                </a:solidFill>
                <a:latin typeface="맑은 고딕"/>
                <a:ea typeface="맑은 고딕"/>
              </a:rPr>
              <a:t>•  인스턴스 튜닝 효과는 &lt;10%, 큰 효과는 애플리케이션 비효율 제거에서.</a:t>
            </a:r>
          </a:p>
          <a:p>
            <a:pPr algn="l"/>
            <a:r>
              <a:rPr sz="1600" b="0">
                <a:solidFill>
                  <a:srgbClr val="222222"/>
                </a:solidFill>
                <a:latin typeface="맑은 고딕"/>
                <a:ea typeface="맑은 고딕"/>
              </a:rPr>
              <a:t>•  개념 모델 세 갈래: 단일 사용자도 느림=앱 / CPU 소진=자원·SQL / CPU 남음=직렬화.</a:t>
            </a:r>
          </a:p>
          <a:p>
            <a:pPr algn="l"/>
            <a:r>
              <a:rPr sz="1600" b="0">
                <a:solidFill>
                  <a:srgbClr val="222222"/>
                </a:solidFill>
                <a:latin typeface="맑은 고딕"/>
                <a:ea typeface="맑은 고딕"/>
              </a:rPr>
              <a:t>•  긴급 대응은 방법론의 지름길 버전. 5단계를 밟되 사실 기록은 생략하지 않는다.</a:t>
            </a:r>
          </a:p>
          <a:p>
            <a:pPr algn="l"/>
            <a:r>
              <a:rPr sz="1600" b="0">
                <a:solidFill>
                  <a:srgbClr val="222222"/>
                </a:solidFill>
                <a:latin typeface="맑은 고딕"/>
                <a:ea typeface="맑은 고딕"/>
              </a:rPr>
              <a:t>•  응급 조치와 근본 원인 분석은 분리한다. 캡처가 조치보다 앞선다.</a:t>
            </a:r>
          </a:p>
          <a:p>
            <a:pPr algn="l"/>
            <a:r>
              <a:rPr sz="1600" b="0">
                <a:solidFill>
                  <a:srgbClr val="222222"/>
                </a:solidFill>
                <a:latin typeface="맑은 고딕"/>
                <a:ea typeface="맑은 고딕"/>
              </a:rPr>
              <a:t>•  블로킹 실측: 597이 596에 막힘. V$LOCK에서 596 block=1, 597 request=6. 유휴 블로커를 놓치지 않는다.</a:t>
            </a:r>
          </a:p>
          <a:p>
            <a:pPr algn="l"/>
            <a:r>
              <a:rPr sz="1600" b="0">
                <a:solidFill>
                  <a:srgbClr val="222222"/>
                </a:solidFill>
                <a:latin typeface="맑은 고딕"/>
                <a:ea typeface="맑은 고딕"/>
              </a:rPr>
              <a:t>•  조치 전 상태 캡처 없는 튜닝은 도박이다.</a:t>
            </a:r>
          </a:p>
        </p:txBody>
      </p:sp>
    </p:spTree>
    <p:extLst>
      <p:ext uri="{BB962C8B-B14F-4D97-AF65-F5344CB8AC3E}">
        <p14:creationId xmlns:p14="http://schemas.microsoft.com/office/powerpoint/2010/main" val="3947209358"/>
      </p:ext>
    </p:extLst>
  </p:cSld>
  <p:clrMapOvr>
    <a:masterClrMapping/>
  </p:clrMapOvr>
</p:sld>
</file>

<file path=ppt/slides/slide7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실습 개요 (Practice Overview)</a:t>
            </a:r>
          </a:p>
        </p:txBody>
      </p:sp>
      <p:sp>
        <p:nvSpPr>
          <p:cNvPr id="4" name="TextBox 3"/>
          <p:cNvSpPr txBox="1"/>
          <p:nvPr/>
        </p:nvSpPr>
        <p:spPr>
          <a:xfrm>
            <a:off x="640080" y="1371600"/>
            <a:ext cx="10881360" cy="5120640"/>
          </a:xfrm>
          <a:prstGeom prst="rect">
            <a:avLst/>
          </a:prstGeom>
          <a:noFill/>
        </p:spPr>
        <p:txBody>
          <a:bodyPr wrap="square">
            <a:spAutoFit/>
          </a:bodyPr>
          <a:lstStyle/>
          <a:p>
            <a:pPr algn="l"/>
            <a:r>
              <a:rPr sz="1600" b="0">
                <a:solidFill>
                  <a:srgbClr val="222222"/>
                </a:solidFill>
                <a:latin typeface="맑은 고딕"/>
                <a:ea typeface="맑은 고딕"/>
              </a:rPr>
              <a:t>•  실습 01 — 성능 개선 방법론 절차로 현재 인스턴스 1회 진단(CPU/대기 비중)</a:t>
            </a:r>
          </a:p>
          <a:p>
            <a:pPr algn="l"/>
            <a:r>
              <a:rPr sz="1600" b="0">
                <a:solidFill>
                  <a:srgbClr val="222222"/>
                </a:solidFill>
                <a:latin typeface="맑은 고딕"/>
                <a:ea typeface="맑은 고딕"/>
              </a:rPr>
              <a:t>•  실습 02 — WL_04_lock으로 응급 상황 재현, 자원 독점 세션 식별·차단</a:t>
            </a:r>
          </a:p>
          <a:p>
            <a:pPr algn="l"/>
            <a:r>
              <a:rPr sz="1600" b="0">
                <a:solidFill>
                  <a:srgbClr val="222222"/>
                </a:solidFill>
                <a:latin typeface="맑은 고딕"/>
                <a:ea typeface="맑은 고딕"/>
              </a:rPr>
              <a:t>•  실습 03 — 라이브러리 캐시 경합에서 원인 SQL 지목(V$SQL·V$SQLSTATS)</a:t>
            </a:r>
          </a:p>
          <a:p>
            <a:pPr algn="l"/>
            <a:r>
              <a:rPr sz="1600" b="0">
                <a:solidFill>
                  <a:srgbClr val="222222"/>
                </a:solidFill>
                <a:latin typeface="맑은 고딕"/>
                <a:ea typeface="맑은 고딕"/>
              </a:rPr>
              <a:t>•  실습 04 — 블로킹 세션 추적과 해소(실측 SID 596/597) — ch17 핵심</a:t>
            </a:r>
          </a:p>
          <a:p>
            <a:pPr algn="l"/>
            <a:r>
              <a:rPr sz="1600" b="0">
                <a:solidFill>
                  <a:srgbClr val="222222"/>
                </a:solidFill>
                <a:latin typeface="맑은 고딕"/>
                <a:ea typeface="맑은 고딕"/>
              </a:rPr>
              <a:t>•  실습 05 — 진단 근거를 남기는 절차(SPOOL·V$ 캡처)</a:t>
            </a:r>
          </a:p>
          <a:p>
            <a:pPr algn="l"/>
            <a:r>
              <a:rPr sz="1600" b="0">
                <a:solidFill>
                  <a:srgbClr val="222222"/>
                </a:solidFill>
                <a:latin typeface="맑은 고딕"/>
                <a:ea typeface="맑은 고딕"/>
              </a:rPr>
              <a:t>•  ※ 환경: non-CDB orcl 19.3, 프롬프트 SYS@orcl&gt; / SQLT@orcl&gt;</a:t>
            </a:r>
          </a:p>
          <a:p>
            <a:pPr algn="l"/>
            <a:r>
              <a:rPr sz="1600" b="0">
                <a:solidFill>
                  <a:srgbClr val="222222"/>
                </a:solidFill>
                <a:latin typeface="맑은 고딕"/>
                <a:ea typeface="맑은 고딕"/>
              </a:rPr>
              <a:t>•  ※ 각 실습에 '조치 전 → 조치·조회 → 결과 해석' + '이상→원인→조치→재확인'</a:t>
            </a:r>
          </a:p>
        </p:txBody>
      </p:sp>
    </p:spTree>
    <p:extLst>
      <p:ext uri="{BB962C8B-B14F-4D97-AF65-F5344CB8AC3E}">
        <p14:creationId xmlns:p14="http://schemas.microsoft.com/office/powerpoint/2010/main" val="2892150365"/>
      </p:ext>
    </p:extLst>
  </p:cSld>
  <p:clrMapOvr>
    <a:masterClrMapping/>
  </p:clrMapOvr>
</p:sld>
</file>

<file path=ppt/slides/slide7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457200"/>
            <a:ext cx="10698480" cy="548640"/>
          </a:xfrm>
          <a:prstGeom prst="rect">
            <a:avLst/>
          </a:prstGeom>
          <a:noFill/>
        </p:spPr>
        <p:txBody>
          <a:bodyPr wrap="square">
            <a:spAutoFit/>
          </a:bodyPr>
          <a:lstStyle/>
          <a:p>
            <a:pPr algn="l">
              <a:spcAft>
                <a:spcPts val="600"/>
              </a:spcAft>
            </a:pPr>
            <a:r>
              <a:rPr sz="1600" b="1">
                <a:solidFill>
                  <a:srgbClr val="FFFFFF"/>
                </a:solidFill>
                <a:latin typeface="맑은 고딕"/>
                <a:ea typeface="맑은 고딕"/>
                <a:cs typeface="맑은 고딕"/>
              </a:rPr>
              <a:t>Oracle Database 19c 성능 튜닝 실무 과정</a:t>
            </a:r>
          </a:p>
        </p:txBody>
      </p:sp>
      <p:sp>
        <p:nvSpPr>
          <p:cNvPr id="6" name="TextBox 5"/>
          <p:cNvSpPr txBox="1"/>
          <p:nvPr/>
        </p:nvSpPr>
        <p:spPr>
          <a:xfrm>
            <a:off x="731520" y="2377440"/>
            <a:ext cx="10698480" cy="1554480"/>
          </a:xfrm>
          <a:prstGeom prst="rect">
            <a:avLst/>
          </a:prstGeom>
          <a:noFill/>
        </p:spPr>
        <p:txBody>
          <a:bodyPr wrap="square">
            <a:spAutoFit/>
          </a:bodyPr>
          <a:lstStyle/>
          <a:p>
            <a:pPr algn="l">
              <a:spcAft>
                <a:spcPts val="600"/>
              </a:spcAft>
            </a:pPr>
            <a:r>
              <a:rPr sz="3400" b="1">
                <a:solidFill>
                  <a:srgbClr val="C0392B"/>
                </a:solidFill>
                <a:latin typeface="맑은 고딕"/>
                <a:ea typeface="맑은 고딕"/>
                <a:cs typeface="맑은 고딕"/>
              </a:rPr>
              <a:t>성능을 위한 데이터베이스 구성</a:t>
            </a:r>
          </a:p>
          <a:p>
            <a:r>
              <a:rPr sz="2000" b="0">
                <a:solidFill>
                  <a:srgbClr val="5A6672"/>
                </a:solidFill>
                <a:latin typeface="맑은 고딕"/>
                <a:ea typeface="맑은 고딕"/>
                <a:cs typeface="맑은 고딕"/>
              </a:rPr>
              <a:t>Configuring a Database for Performance — 처음에 어떻게 놓는가</a:t>
            </a:r>
          </a:p>
        </p:txBody>
      </p:sp>
      <p:sp>
        <p:nvSpPr>
          <p:cNvPr id="7" name="TextBox 6"/>
          <p:cNvSpPr txBox="1"/>
          <p:nvPr/>
        </p:nvSpPr>
        <p:spPr>
          <a:xfrm>
            <a:off x="731520" y="4114800"/>
            <a:ext cx="10698480" cy="1097280"/>
          </a:xfrm>
          <a:prstGeom prst="rect">
            <a:avLst/>
          </a:prstGeom>
          <a:noFill/>
        </p:spPr>
        <p:txBody>
          <a:bodyPr wrap="square">
            <a:spAutoFit/>
          </a:bodyPr>
          <a:lstStyle/>
          <a:p>
            <a:pPr algn="l">
              <a:spcAft>
                <a:spcPts val="600"/>
              </a:spcAft>
            </a:pPr>
            <a:r>
              <a:rPr sz="1500" b="0">
                <a:solidFill>
                  <a:srgbClr val="5A6672"/>
                </a:solidFill>
                <a:latin typeface="맑은 고딕"/>
                <a:ea typeface="맑은 고딕"/>
                <a:cs typeface="맑은 고딕"/>
              </a:rPr>
              <a:t>초기화 파라미터 · Undo와 ORA-01555 · 임시 테이블스페이스와 ORA-01652 · 전용/공유 서버 · 블록 크기와 행 이주</a:t>
            </a:r>
          </a:p>
        </p:txBody>
      </p:sp>
      <p:sp>
        <p:nvSpPr>
          <p:cNvPr id="8" name="TextBox 7"/>
          <p:cNvSpPr txBox="1"/>
          <p:nvPr/>
        </p:nvSpPr>
        <p:spPr>
          <a:xfrm>
            <a:off x="731520" y="5577840"/>
            <a:ext cx="10698480" cy="914400"/>
          </a:xfrm>
          <a:prstGeom prst="rect">
            <a:avLst/>
          </a:prstGeom>
          <a:noFill/>
        </p:spPr>
        <p:txBody>
          <a:bodyPr wrap="square">
            <a:spAutoFit/>
          </a:bodyPr>
          <a:lstStyle/>
          <a:p>
            <a:pPr algn="l">
              <a:spcAft>
                <a:spcPts val="600"/>
              </a:spcAft>
            </a:pPr>
            <a:r>
              <a:rPr sz="2000" b="1">
                <a:solidFill>
                  <a:srgbClr val="C0392B"/>
                </a:solidFill>
                <a:latin typeface="맑은 고딕"/>
                <a:ea typeface="맑은 고딕"/>
                <a:cs typeface="맑은 고딕"/>
              </a:rPr>
              <a:t>ch18</a:t>
            </a:r>
          </a:p>
        </p:txBody>
      </p:sp>
    </p:spTree>
    <p:extLst>
      <p:ext uri="{BB962C8B-B14F-4D97-AF65-F5344CB8AC3E}">
        <p14:creationId xmlns:p14="http://schemas.microsoft.com/office/powerpoint/2010/main" val="4285837294"/>
      </p:ext>
    </p:extLst>
  </p:cSld>
  <p:clrMapOvr>
    <a:masterClrMapping/>
  </p:clrMapOvr>
</p:sld>
</file>

<file path=ppt/slides/slide7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학습 목표 (Objectives)</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700"/>
              </a:spcAft>
            </a:pPr>
            <a:r>
              <a:rPr sz="1600" b="0">
                <a:solidFill>
                  <a:srgbClr val="222222"/>
                </a:solidFill>
                <a:latin typeface="맑은 고딕"/>
                <a:ea typeface="맑은 고딕"/>
                <a:cs typeface="맑은 고딕"/>
              </a:rPr>
              <a:t>•  성능에 영향을 주는 초기화 파라미터를 구분하고 V$PARAMETER로 구성을 읽는다.</a:t>
            </a:r>
          </a:p>
          <a:p>
            <a:pPr algn="l">
              <a:spcAft>
                <a:spcPts val="700"/>
              </a:spcAft>
            </a:pPr>
            <a:r>
              <a:rPr sz="1600" b="0">
                <a:solidFill>
                  <a:srgbClr val="222222"/>
                </a:solidFill>
                <a:latin typeface="맑은 고딕"/>
                <a:ea typeface="맑은 고딕"/>
                <a:cs typeface="맑은 고딕"/>
              </a:rPr>
              <a:t>•  자동 Undo 관리와 UNDO_RETENTION·RETENTION GUARANTEE가 ORA-01555에 얽히는 방식을 안다.</a:t>
            </a:r>
          </a:p>
          <a:p>
            <a:pPr algn="l">
              <a:spcAft>
                <a:spcPts val="700"/>
              </a:spcAft>
            </a:pPr>
            <a:r>
              <a:rPr sz="1600" b="0">
                <a:solidFill>
                  <a:srgbClr val="222222"/>
                </a:solidFill>
                <a:latin typeface="맑은 고딕"/>
                <a:ea typeface="맑은 고딕"/>
                <a:cs typeface="맑은 고딕"/>
              </a:rPr>
              <a:t>•  임시 테이블스페이스와 ORA-01652를 이해하고, Undo가 아니라 Temp를 봐야 함을 판별한다.</a:t>
            </a:r>
          </a:p>
          <a:p>
            <a:pPr algn="l">
              <a:spcAft>
                <a:spcPts val="700"/>
              </a:spcAft>
            </a:pPr>
            <a:r>
              <a:rPr sz="1600" b="0">
                <a:solidFill>
                  <a:srgbClr val="222222"/>
                </a:solidFill>
                <a:latin typeface="맑은 고딕"/>
                <a:ea typeface="맑은 고딕"/>
                <a:cs typeface="맑은 고딕"/>
              </a:rPr>
              <a:t>•  전용 서버와 공유 서버의 프로세스·메모리 차이를 설명하고 워크로드에 맞게 고른다.</a:t>
            </a:r>
          </a:p>
          <a:p>
            <a:pPr algn="l">
              <a:spcAft>
                <a:spcPts val="700"/>
              </a:spcAft>
            </a:pPr>
            <a:r>
              <a:rPr sz="1600" b="0">
                <a:solidFill>
                  <a:srgbClr val="222222"/>
                </a:solidFill>
                <a:latin typeface="맑은 고딕"/>
                <a:ea typeface="맑은 고딕"/>
                <a:cs typeface="맑은 고딕"/>
              </a:rPr>
              <a:t>•  DB_BLOCK_SIZE·PCTFREE와 행 이주·체이닝의 관계를 알고 이주 행을 찾아낸다.</a:t>
            </a:r>
          </a:p>
          <a:p>
            <a:pPr algn="l">
              <a:spcAft>
                <a:spcPts val="700"/>
              </a:spcAft>
            </a:pPr>
            <a:r>
              <a:rPr sz="1600" b="0">
                <a:solidFill>
                  <a:srgbClr val="222222"/>
                </a:solidFill>
                <a:latin typeface="맑은 고딕"/>
                <a:ea typeface="맑은 고딕"/>
                <a:cs typeface="맑은 고딕"/>
              </a:rPr>
              <a:t>•  구성성 오류(ORA-01555·ORA-01652)를 SQL 문제로 오인하지 않는다.</a:t>
            </a:r>
          </a:p>
        </p:txBody>
      </p:sp>
    </p:spTree>
    <p:extLst>
      <p:ext uri="{BB962C8B-B14F-4D97-AF65-F5344CB8AC3E}">
        <p14:creationId xmlns:p14="http://schemas.microsoft.com/office/powerpoint/2010/main" val="250970854"/>
      </p:ext>
    </p:extLst>
  </p:cSld>
  <p:clrMapOvr>
    <a:masterClrMapping/>
  </p:clrMapOvr>
</p:sld>
</file>

<file path=ppt/slides/slide7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이 장의 구성 (Agenda)</a:t>
            </a:r>
          </a:p>
        </p:txBody>
      </p:sp>
      <p:sp>
        <p:nvSpPr>
          <p:cNvPr id="4" name="TextBox 3"/>
          <p:cNvSpPr txBox="1"/>
          <p:nvPr/>
        </p:nvSpPr>
        <p:spPr>
          <a:xfrm>
            <a:off x="640080" y="1371600"/>
            <a:ext cx="10881360" cy="2354491"/>
          </a:xfrm>
          <a:prstGeom prst="rect">
            <a:avLst/>
          </a:prstGeom>
          <a:noFill/>
        </p:spPr>
        <p:txBody>
          <a:bodyPr wrap="square">
            <a:spAutoFit/>
          </a:bodyPr>
          <a:lstStyle/>
          <a:p>
            <a:pPr algn="l">
              <a:spcAft>
                <a:spcPts val="700"/>
              </a:spcAft>
            </a:pPr>
            <a:r>
              <a:rPr sz="1600" b="0" dirty="0">
                <a:solidFill>
                  <a:srgbClr val="222222"/>
                </a:solidFill>
                <a:latin typeface="맑은 고딕"/>
                <a:ea typeface="맑은 고딕"/>
                <a:cs typeface="맑은 고딕"/>
              </a:rPr>
              <a:t>•  </a:t>
            </a:r>
            <a:r>
              <a:rPr lang="en-US" sz="1600" b="0" dirty="0">
                <a:solidFill>
                  <a:srgbClr val="222222"/>
                </a:solidFill>
                <a:latin typeface="맑은 고딕"/>
                <a:ea typeface="맑은 고딕"/>
                <a:cs typeface="맑은 고딕"/>
              </a:rPr>
              <a:t>18</a:t>
            </a:r>
            <a:r>
              <a:rPr sz="1600" b="0" dirty="0">
                <a:solidFill>
                  <a:srgbClr val="222222"/>
                </a:solidFill>
                <a:latin typeface="맑은 고딕"/>
                <a:ea typeface="맑은 고딕"/>
                <a:cs typeface="맑은 고딕"/>
              </a:rPr>
              <a:t>.2  </a:t>
            </a:r>
            <a:r>
              <a:rPr sz="1600" b="0" dirty="0" err="1">
                <a:solidFill>
                  <a:srgbClr val="222222"/>
                </a:solidFill>
                <a:latin typeface="맑은 고딕"/>
                <a:ea typeface="맑은 고딕"/>
                <a:cs typeface="맑은 고딕"/>
              </a:rPr>
              <a:t>초기</a:t>
            </a:r>
            <a:r>
              <a:rPr sz="1600" b="0" dirty="0">
                <a:solidFill>
                  <a:srgbClr val="222222"/>
                </a:solidFill>
                <a:latin typeface="맑은 고딕"/>
                <a:ea typeface="맑은 고딕"/>
                <a:cs typeface="맑은 고딕"/>
              </a:rPr>
              <a:t> </a:t>
            </a:r>
            <a:r>
              <a:rPr sz="1600" b="0" dirty="0" err="1">
                <a:solidFill>
                  <a:srgbClr val="222222"/>
                </a:solidFill>
                <a:latin typeface="맑은 고딕"/>
                <a:ea typeface="맑은 고딕"/>
                <a:cs typeface="맑은 고딕"/>
              </a:rPr>
              <a:t>인스턴스</a:t>
            </a:r>
            <a:r>
              <a:rPr sz="1600" b="0" dirty="0">
                <a:solidFill>
                  <a:srgbClr val="222222"/>
                </a:solidFill>
                <a:latin typeface="맑은 고딕"/>
                <a:ea typeface="맑은 고딕"/>
                <a:cs typeface="맑은 고딕"/>
              </a:rPr>
              <a:t> </a:t>
            </a:r>
            <a:r>
              <a:rPr sz="1600" b="0" dirty="0" err="1">
                <a:solidFill>
                  <a:srgbClr val="222222"/>
                </a:solidFill>
                <a:latin typeface="맑은 고딕"/>
                <a:ea typeface="맑은 고딕"/>
                <a:cs typeface="맑은 고딕"/>
              </a:rPr>
              <a:t>구성</a:t>
            </a:r>
            <a:r>
              <a:rPr sz="1600" b="0" dirty="0">
                <a:solidFill>
                  <a:srgbClr val="222222"/>
                </a:solidFill>
                <a:latin typeface="맑은 고딕"/>
                <a:ea typeface="맑은 고딕"/>
                <a:cs typeface="맑은 고딕"/>
              </a:rPr>
              <a:t> — </a:t>
            </a:r>
            <a:r>
              <a:rPr sz="1600" b="0" dirty="0" err="1">
                <a:solidFill>
                  <a:srgbClr val="222222"/>
                </a:solidFill>
                <a:latin typeface="맑은 고딕"/>
                <a:ea typeface="맑은 고딕"/>
                <a:cs typeface="맑은 고딕"/>
              </a:rPr>
              <a:t>무엇을</a:t>
            </a:r>
            <a:r>
              <a:rPr sz="1600" b="0" dirty="0">
                <a:solidFill>
                  <a:srgbClr val="222222"/>
                </a:solidFill>
                <a:latin typeface="맑은 고딕"/>
                <a:ea typeface="맑은 고딕"/>
                <a:cs typeface="맑은 고딕"/>
              </a:rPr>
              <a:t> </a:t>
            </a:r>
            <a:r>
              <a:rPr sz="1600" b="0" dirty="0" err="1">
                <a:solidFill>
                  <a:srgbClr val="222222"/>
                </a:solidFill>
                <a:latin typeface="맑은 고딕"/>
                <a:ea typeface="맑은 고딕"/>
                <a:cs typeface="맑은 고딕"/>
              </a:rPr>
              <a:t>처음에</a:t>
            </a:r>
            <a:r>
              <a:rPr sz="1600" b="0" dirty="0">
                <a:solidFill>
                  <a:srgbClr val="222222"/>
                </a:solidFill>
                <a:latin typeface="맑은 고딕"/>
                <a:ea typeface="맑은 고딕"/>
                <a:cs typeface="맑은 고딕"/>
              </a:rPr>
              <a:t> </a:t>
            </a:r>
            <a:r>
              <a:rPr sz="1600" b="0" dirty="0" err="1">
                <a:solidFill>
                  <a:srgbClr val="222222"/>
                </a:solidFill>
                <a:latin typeface="맑은 고딕"/>
                <a:ea typeface="맑은 고딕"/>
                <a:cs typeface="맑은 고딕"/>
              </a:rPr>
              <a:t>정하는가</a:t>
            </a:r>
            <a:endParaRPr sz="1600" b="0" dirty="0">
              <a:solidFill>
                <a:srgbClr val="222222"/>
              </a:solidFill>
              <a:latin typeface="맑은 고딕"/>
              <a:ea typeface="맑은 고딕"/>
              <a:cs typeface="맑은 고딕"/>
            </a:endParaRPr>
          </a:p>
          <a:p>
            <a:pPr algn="l">
              <a:spcAft>
                <a:spcPts val="700"/>
              </a:spcAft>
            </a:pPr>
            <a:r>
              <a:rPr sz="1600" b="0" dirty="0">
                <a:solidFill>
                  <a:srgbClr val="222222"/>
                </a:solidFill>
                <a:latin typeface="맑은 고딕"/>
                <a:ea typeface="맑은 고딕"/>
                <a:cs typeface="맑은 고딕"/>
              </a:rPr>
              <a:t>•  </a:t>
            </a:r>
            <a:r>
              <a:rPr lang="en-US" sz="1600" b="0" dirty="0">
                <a:solidFill>
                  <a:srgbClr val="222222"/>
                </a:solidFill>
                <a:latin typeface="맑은 고딕"/>
                <a:ea typeface="맑은 고딕"/>
                <a:cs typeface="맑은 고딕"/>
              </a:rPr>
              <a:t>18</a:t>
            </a:r>
            <a:r>
              <a:rPr sz="1600" b="0" dirty="0">
                <a:solidFill>
                  <a:srgbClr val="222222"/>
                </a:solidFill>
                <a:latin typeface="맑은 고딕"/>
                <a:ea typeface="맑은 고딕"/>
                <a:cs typeface="맑은 고딕"/>
              </a:rPr>
              <a:t>.3  </a:t>
            </a:r>
            <a:r>
              <a:rPr sz="1600" b="0" dirty="0" err="1">
                <a:solidFill>
                  <a:srgbClr val="222222"/>
                </a:solidFill>
                <a:latin typeface="맑은 고딕"/>
                <a:ea typeface="맑은 고딕"/>
                <a:cs typeface="맑은 고딕"/>
              </a:rPr>
              <a:t>성능에</a:t>
            </a:r>
            <a:r>
              <a:rPr sz="1600" b="0" dirty="0">
                <a:solidFill>
                  <a:srgbClr val="222222"/>
                </a:solidFill>
                <a:latin typeface="맑은 고딕"/>
                <a:ea typeface="맑은 고딕"/>
                <a:cs typeface="맑은 고딕"/>
              </a:rPr>
              <a:t> </a:t>
            </a:r>
            <a:r>
              <a:rPr sz="1600" b="0" dirty="0" err="1">
                <a:solidFill>
                  <a:srgbClr val="222222"/>
                </a:solidFill>
                <a:latin typeface="맑은 고딕"/>
                <a:ea typeface="맑은 고딕"/>
                <a:cs typeface="맑은 고딕"/>
              </a:rPr>
              <a:t>영향을</a:t>
            </a:r>
            <a:r>
              <a:rPr sz="1600" b="0" dirty="0">
                <a:solidFill>
                  <a:srgbClr val="222222"/>
                </a:solidFill>
                <a:latin typeface="맑은 고딕"/>
                <a:ea typeface="맑은 고딕"/>
                <a:cs typeface="맑은 고딕"/>
              </a:rPr>
              <a:t> </a:t>
            </a:r>
            <a:r>
              <a:rPr sz="1600" b="0" dirty="0" err="1">
                <a:solidFill>
                  <a:srgbClr val="222222"/>
                </a:solidFill>
                <a:latin typeface="맑은 고딕"/>
                <a:ea typeface="맑은 고딕"/>
                <a:cs typeface="맑은 고딕"/>
              </a:rPr>
              <a:t>주는</a:t>
            </a:r>
            <a:r>
              <a:rPr sz="1600" b="0" dirty="0">
                <a:solidFill>
                  <a:srgbClr val="222222"/>
                </a:solidFill>
                <a:latin typeface="맑은 고딕"/>
                <a:ea typeface="맑은 고딕"/>
                <a:cs typeface="맑은 고딕"/>
              </a:rPr>
              <a:t> </a:t>
            </a:r>
            <a:r>
              <a:rPr sz="1600" b="0" dirty="0" err="1">
                <a:solidFill>
                  <a:srgbClr val="222222"/>
                </a:solidFill>
                <a:latin typeface="맑은 고딕"/>
                <a:ea typeface="맑은 고딕"/>
                <a:cs typeface="맑은 고딕"/>
              </a:rPr>
              <a:t>초기화</a:t>
            </a:r>
            <a:r>
              <a:rPr sz="1600" b="0" dirty="0">
                <a:solidFill>
                  <a:srgbClr val="222222"/>
                </a:solidFill>
                <a:latin typeface="맑은 고딕"/>
                <a:ea typeface="맑은 고딕"/>
                <a:cs typeface="맑은 고딕"/>
              </a:rPr>
              <a:t> </a:t>
            </a:r>
            <a:r>
              <a:rPr sz="1600" b="0" dirty="0" err="1">
                <a:solidFill>
                  <a:srgbClr val="222222"/>
                </a:solidFill>
                <a:latin typeface="맑은 고딕"/>
                <a:ea typeface="맑은 고딕"/>
                <a:cs typeface="맑은 고딕"/>
              </a:rPr>
              <a:t>파라미터</a:t>
            </a:r>
            <a:endParaRPr sz="1600" b="0" dirty="0">
              <a:solidFill>
                <a:srgbClr val="222222"/>
              </a:solidFill>
              <a:latin typeface="맑은 고딕"/>
              <a:ea typeface="맑은 고딕"/>
              <a:cs typeface="맑은 고딕"/>
            </a:endParaRPr>
          </a:p>
          <a:p>
            <a:pPr algn="l">
              <a:spcAft>
                <a:spcPts val="700"/>
              </a:spcAft>
            </a:pPr>
            <a:r>
              <a:rPr sz="1600" b="0" dirty="0">
                <a:solidFill>
                  <a:srgbClr val="222222"/>
                </a:solidFill>
                <a:latin typeface="맑은 고딕"/>
                <a:ea typeface="맑은 고딕"/>
                <a:cs typeface="맑은 고딕"/>
              </a:rPr>
              <a:t>•  </a:t>
            </a:r>
            <a:r>
              <a:rPr lang="en-US" sz="1600" b="0" dirty="0">
                <a:solidFill>
                  <a:srgbClr val="222222"/>
                </a:solidFill>
                <a:latin typeface="맑은 고딕"/>
                <a:ea typeface="맑은 고딕"/>
                <a:cs typeface="맑은 고딕"/>
              </a:rPr>
              <a:t>18</a:t>
            </a:r>
            <a:r>
              <a:rPr sz="1600" b="0" dirty="0">
                <a:solidFill>
                  <a:srgbClr val="222222"/>
                </a:solidFill>
                <a:latin typeface="맑은 고딕"/>
                <a:ea typeface="맑은 고딕"/>
                <a:cs typeface="맑은 고딕"/>
              </a:rPr>
              <a:t>.4  Undo </a:t>
            </a:r>
            <a:r>
              <a:rPr sz="1600" b="0" dirty="0" err="1">
                <a:solidFill>
                  <a:srgbClr val="222222"/>
                </a:solidFill>
                <a:latin typeface="맑은 고딕"/>
                <a:ea typeface="맑은 고딕"/>
                <a:cs typeface="맑은 고딕"/>
              </a:rPr>
              <a:t>보존과</a:t>
            </a:r>
            <a:r>
              <a:rPr sz="1600" b="0" dirty="0">
                <a:solidFill>
                  <a:srgbClr val="222222"/>
                </a:solidFill>
                <a:latin typeface="맑은 고딕"/>
                <a:ea typeface="맑은 고딕"/>
                <a:cs typeface="맑은 고딕"/>
              </a:rPr>
              <a:t> ORA-01555 — </a:t>
            </a:r>
            <a:r>
              <a:rPr sz="1600" b="0" dirty="0" err="1">
                <a:solidFill>
                  <a:srgbClr val="222222"/>
                </a:solidFill>
                <a:latin typeface="맑은 고딕"/>
                <a:ea typeface="맑은 고딕"/>
                <a:cs typeface="맑은 고딕"/>
              </a:rPr>
              <a:t>읽기</a:t>
            </a:r>
            <a:r>
              <a:rPr sz="1600" b="0" dirty="0">
                <a:solidFill>
                  <a:srgbClr val="222222"/>
                </a:solidFill>
                <a:latin typeface="맑은 고딕"/>
                <a:ea typeface="맑은 고딕"/>
                <a:cs typeface="맑은 고딕"/>
              </a:rPr>
              <a:t> </a:t>
            </a:r>
            <a:r>
              <a:rPr sz="1600" b="0" dirty="0" err="1">
                <a:solidFill>
                  <a:srgbClr val="222222"/>
                </a:solidFill>
                <a:latin typeface="맑은 고딕"/>
                <a:ea typeface="맑은 고딕"/>
                <a:cs typeface="맑은 고딕"/>
              </a:rPr>
              <a:t>일관성의</a:t>
            </a:r>
            <a:r>
              <a:rPr sz="1600" b="0" dirty="0">
                <a:solidFill>
                  <a:srgbClr val="222222"/>
                </a:solidFill>
                <a:latin typeface="맑은 고딕"/>
                <a:ea typeface="맑은 고딕"/>
                <a:cs typeface="맑은 고딕"/>
              </a:rPr>
              <a:t> 값</a:t>
            </a:r>
          </a:p>
          <a:p>
            <a:pPr algn="l">
              <a:spcAft>
                <a:spcPts val="700"/>
              </a:spcAft>
            </a:pPr>
            <a:r>
              <a:rPr sz="1600" b="0" dirty="0">
                <a:solidFill>
                  <a:srgbClr val="222222"/>
                </a:solidFill>
                <a:latin typeface="맑은 고딕"/>
                <a:ea typeface="맑은 고딕"/>
                <a:cs typeface="맑은 고딕"/>
              </a:rPr>
              <a:t>•  </a:t>
            </a:r>
            <a:r>
              <a:rPr lang="en-US" sz="1600" b="0" dirty="0">
                <a:solidFill>
                  <a:srgbClr val="222222"/>
                </a:solidFill>
                <a:latin typeface="맑은 고딕"/>
                <a:ea typeface="맑은 고딕"/>
                <a:cs typeface="맑은 고딕"/>
              </a:rPr>
              <a:t>18</a:t>
            </a:r>
            <a:r>
              <a:rPr sz="1600" b="0" dirty="0">
                <a:solidFill>
                  <a:srgbClr val="222222"/>
                </a:solidFill>
                <a:latin typeface="맑은 고딕"/>
                <a:ea typeface="맑은 고딕"/>
                <a:cs typeface="맑은 고딕"/>
              </a:rPr>
              <a:t>.5  </a:t>
            </a:r>
            <a:r>
              <a:rPr sz="1600" b="0" dirty="0" err="1">
                <a:solidFill>
                  <a:srgbClr val="222222"/>
                </a:solidFill>
                <a:latin typeface="맑은 고딕"/>
                <a:ea typeface="맑은 고딕"/>
                <a:cs typeface="맑은 고딕"/>
              </a:rPr>
              <a:t>임시</a:t>
            </a:r>
            <a:r>
              <a:rPr sz="1600" b="0" dirty="0">
                <a:solidFill>
                  <a:srgbClr val="222222"/>
                </a:solidFill>
                <a:latin typeface="맑은 고딕"/>
                <a:ea typeface="맑은 고딕"/>
                <a:cs typeface="맑은 고딕"/>
              </a:rPr>
              <a:t> </a:t>
            </a:r>
            <a:r>
              <a:rPr sz="1600" b="0" dirty="0" err="1">
                <a:solidFill>
                  <a:srgbClr val="222222"/>
                </a:solidFill>
                <a:latin typeface="맑은 고딕"/>
                <a:ea typeface="맑은 고딕"/>
                <a:cs typeface="맑은 고딕"/>
              </a:rPr>
              <a:t>테이블스페이스와</a:t>
            </a:r>
            <a:r>
              <a:rPr sz="1600" b="0" dirty="0">
                <a:solidFill>
                  <a:srgbClr val="222222"/>
                </a:solidFill>
                <a:latin typeface="맑은 고딕"/>
                <a:ea typeface="맑은 고딕"/>
                <a:cs typeface="맑은 고딕"/>
              </a:rPr>
              <a:t> ORA-01652 — </a:t>
            </a:r>
            <a:r>
              <a:rPr sz="1600" b="0" dirty="0" err="1">
                <a:solidFill>
                  <a:srgbClr val="222222"/>
                </a:solidFill>
                <a:latin typeface="맑은 고딕"/>
                <a:ea typeface="맑은 고딕"/>
                <a:cs typeface="맑은 고딕"/>
              </a:rPr>
              <a:t>정렬이</a:t>
            </a:r>
            <a:r>
              <a:rPr sz="1600" b="0" dirty="0">
                <a:solidFill>
                  <a:srgbClr val="222222"/>
                </a:solidFill>
                <a:latin typeface="맑은 고딕"/>
                <a:ea typeface="맑은 고딕"/>
                <a:cs typeface="맑은 고딕"/>
              </a:rPr>
              <a:t> </a:t>
            </a:r>
            <a:r>
              <a:rPr sz="1600" b="0" dirty="0" err="1">
                <a:solidFill>
                  <a:srgbClr val="222222"/>
                </a:solidFill>
                <a:latin typeface="맑은 고딕"/>
                <a:ea typeface="맑은 고딕"/>
                <a:cs typeface="맑은 고딕"/>
              </a:rPr>
              <a:t>흘러넘칠</a:t>
            </a:r>
            <a:r>
              <a:rPr sz="1600" b="0" dirty="0">
                <a:solidFill>
                  <a:srgbClr val="222222"/>
                </a:solidFill>
                <a:latin typeface="맑은 고딕"/>
                <a:ea typeface="맑은 고딕"/>
                <a:cs typeface="맑은 고딕"/>
              </a:rPr>
              <a:t> 때</a:t>
            </a:r>
          </a:p>
          <a:p>
            <a:pPr algn="l">
              <a:spcAft>
                <a:spcPts val="700"/>
              </a:spcAft>
            </a:pPr>
            <a:r>
              <a:rPr sz="1600" b="0" dirty="0">
                <a:solidFill>
                  <a:srgbClr val="222222"/>
                </a:solidFill>
                <a:latin typeface="맑은 고딕"/>
                <a:ea typeface="맑은 고딕"/>
                <a:cs typeface="맑은 고딕"/>
              </a:rPr>
              <a:t>•  </a:t>
            </a:r>
            <a:r>
              <a:rPr lang="en-US" sz="1600" b="0" dirty="0">
                <a:solidFill>
                  <a:srgbClr val="222222"/>
                </a:solidFill>
                <a:latin typeface="맑은 고딕"/>
                <a:ea typeface="맑은 고딕"/>
                <a:cs typeface="맑은 고딕"/>
              </a:rPr>
              <a:t>18</a:t>
            </a:r>
            <a:r>
              <a:rPr sz="1600" b="0" dirty="0">
                <a:solidFill>
                  <a:srgbClr val="222222"/>
                </a:solidFill>
                <a:latin typeface="맑은 고딕"/>
                <a:ea typeface="맑은 고딕"/>
                <a:cs typeface="맑은 고딕"/>
              </a:rPr>
              <a:t>.6  </a:t>
            </a:r>
            <a:r>
              <a:rPr sz="1600" b="0" dirty="0" err="1">
                <a:solidFill>
                  <a:srgbClr val="222222"/>
                </a:solidFill>
                <a:latin typeface="맑은 고딕"/>
                <a:ea typeface="맑은 고딕"/>
                <a:cs typeface="맑은 고딕"/>
              </a:rPr>
              <a:t>전용</a:t>
            </a:r>
            <a:r>
              <a:rPr sz="1600" b="0" dirty="0">
                <a:solidFill>
                  <a:srgbClr val="222222"/>
                </a:solidFill>
                <a:latin typeface="맑은 고딕"/>
                <a:ea typeface="맑은 고딕"/>
                <a:cs typeface="맑은 고딕"/>
              </a:rPr>
              <a:t> </a:t>
            </a:r>
            <a:r>
              <a:rPr sz="1600" b="0" dirty="0" err="1">
                <a:solidFill>
                  <a:srgbClr val="222222"/>
                </a:solidFill>
                <a:latin typeface="맑은 고딕"/>
                <a:ea typeface="맑은 고딕"/>
                <a:cs typeface="맑은 고딕"/>
              </a:rPr>
              <a:t>서버와</a:t>
            </a:r>
            <a:r>
              <a:rPr sz="1600" b="0" dirty="0">
                <a:solidFill>
                  <a:srgbClr val="222222"/>
                </a:solidFill>
                <a:latin typeface="맑은 고딕"/>
                <a:ea typeface="맑은 고딕"/>
                <a:cs typeface="맑은 고딕"/>
              </a:rPr>
              <a:t> </a:t>
            </a:r>
            <a:r>
              <a:rPr sz="1600" b="0" dirty="0" err="1">
                <a:solidFill>
                  <a:srgbClr val="222222"/>
                </a:solidFill>
                <a:latin typeface="맑은 고딕"/>
                <a:ea typeface="맑은 고딕"/>
                <a:cs typeface="맑은 고딕"/>
              </a:rPr>
              <a:t>공유</a:t>
            </a:r>
            <a:r>
              <a:rPr sz="1600" b="0" dirty="0">
                <a:solidFill>
                  <a:srgbClr val="222222"/>
                </a:solidFill>
                <a:latin typeface="맑은 고딕"/>
                <a:ea typeface="맑은 고딕"/>
                <a:cs typeface="맑은 고딕"/>
              </a:rPr>
              <a:t> </a:t>
            </a:r>
            <a:r>
              <a:rPr sz="1600" b="0" dirty="0" err="1">
                <a:solidFill>
                  <a:srgbClr val="222222"/>
                </a:solidFill>
                <a:latin typeface="맑은 고딕"/>
                <a:ea typeface="맑은 고딕"/>
                <a:cs typeface="맑은 고딕"/>
              </a:rPr>
              <a:t>서버</a:t>
            </a:r>
            <a:r>
              <a:rPr sz="1600" b="0" dirty="0">
                <a:solidFill>
                  <a:srgbClr val="222222"/>
                </a:solidFill>
                <a:latin typeface="맑은 고딕"/>
                <a:ea typeface="맑은 고딕"/>
                <a:cs typeface="맑은 고딕"/>
              </a:rPr>
              <a:t> — </a:t>
            </a:r>
            <a:r>
              <a:rPr sz="1600" b="0" dirty="0" err="1">
                <a:solidFill>
                  <a:srgbClr val="222222"/>
                </a:solidFill>
                <a:latin typeface="맑은 고딕"/>
                <a:ea typeface="맑은 고딕"/>
                <a:cs typeface="맑은 고딕"/>
              </a:rPr>
              <a:t>프로세스와</a:t>
            </a:r>
            <a:r>
              <a:rPr sz="1600" b="0" dirty="0">
                <a:solidFill>
                  <a:srgbClr val="222222"/>
                </a:solidFill>
                <a:latin typeface="맑은 고딕"/>
                <a:ea typeface="맑은 고딕"/>
                <a:cs typeface="맑은 고딕"/>
              </a:rPr>
              <a:t> </a:t>
            </a:r>
            <a:r>
              <a:rPr sz="1600" b="0" dirty="0" err="1">
                <a:solidFill>
                  <a:srgbClr val="222222"/>
                </a:solidFill>
                <a:latin typeface="맑은 고딕"/>
                <a:ea typeface="맑은 고딕"/>
                <a:cs typeface="맑은 고딕"/>
              </a:rPr>
              <a:t>메모리의</a:t>
            </a:r>
            <a:r>
              <a:rPr sz="1600" b="0" dirty="0">
                <a:solidFill>
                  <a:srgbClr val="222222"/>
                </a:solidFill>
                <a:latin typeface="맑은 고딕"/>
                <a:ea typeface="맑은 고딕"/>
                <a:cs typeface="맑은 고딕"/>
              </a:rPr>
              <a:t> </a:t>
            </a:r>
            <a:r>
              <a:rPr sz="1600" b="0" dirty="0" err="1">
                <a:solidFill>
                  <a:srgbClr val="222222"/>
                </a:solidFill>
                <a:latin typeface="맑은 고딕"/>
                <a:ea typeface="맑은 고딕"/>
                <a:cs typeface="맑은 고딕"/>
              </a:rPr>
              <a:t>선택</a:t>
            </a:r>
            <a:endParaRPr sz="1600" b="0" dirty="0">
              <a:solidFill>
                <a:srgbClr val="222222"/>
              </a:solidFill>
              <a:latin typeface="맑은 고딕"/>
              <a:ea typeface="맑은 고딕"/>
              <a:cs typeface="맑은 고딕"/>
            </a:endParaRPr>
          </a:p>
          <a:p>
            <a:pPr algn="l">
              <a:spcAft>
                <a:spcPts val="700"/>
              </a:spcAft>
            </a:pPr>
            <a:r>
              <a:rPr sz="1600" b="0" dirty="0">
                <a:solidFill>
                  <a:srgbClr val="222222"/>
                </a:solidFill>
                <a:latin typeface="맑은 고딕"/>
                <a:ea typeface="맑은 고딕"/>
                <a:cs typeface="맑은 고딕"/>
              </a:rPr>
              <a:t>•  </a:t>
            </a:r>
            <a:r>
              <a:rPr lang="en-US" sz="1600" b="0" dirty="0">
                <a:solidFill>
                  <a:srgbClr val="222222"/>
                </a:solidFill>
                <a:latin typeface="맑은 고딕"/>
                <a:ea typeface="맑은 고딕"/>
                <a:cs typeface="맑은 고딕"/>
              </a:rPr>
              <a:t>18</a:t>
            </a:r>
            <a:r>
              <a:rPr sz="1600" b="0" dirty="0">
                <a:solidFill>
                  <a:srgbClr val="222222"/>
                </a:solidFill>
                <a:latin typeface="맑은 고딕"/>
                <a:ea typeface="맑은 고딕"/>
                <a:cs typeface="맑은 고딕"/>
              </a:rPr>
              <a:t>.7  </a:t>
            </a:r>
            <a:r>
              <a:rPr sz="1600" b="0" dirty="0" err="1">
                <a:solidFill>
                  <a:srgbClr val="222222"/>
                </a:solidFill>
                <a:latin typeface="맑은 고딕"/>
                <a:ea typeface="맑은 고딕"/>
                <a:cs typeface="맑은 고딕"/>
              </a:rPr>
              <a:t>블록</a:t>
            </a:r>
            <a:r>
              <a:rPr sz="1600" b="0" dirty="0">
                <a:solidFill>
                  <a:srgbClr val="222222"/>
                </a:solidFill>
                <a:latin typeface="맑은 고딕"/>
                <a:ea typeface="맑은 고딕"/>
                <a:cs typeface="맑은 고딕"/>
              </a:rPr>
              <a:t> </a:t>
            </a:r>
            <a:r>
              <a:rPr sz="1600" b="0" dirty="0" err="1">
                <a:solidFill>
                  <a:srgbClr val="222222"/>
                </a:solidFill>
                <a:latin typeface="맑은 고딕"/>
                <a:ea typeface="맑은 고딕"/>
                <a:cs typeface="맑은 고딕"/>
              </a:rPr>
              <a:t>크기와</a:t>
            </a:r>
            <a:r>
              <a:rPr sz="1600" b="0" dirty="0">
                <a:solidFill>
                  <a:srgbClr val="222222"/>
                </a:solidFill>
                <a:latin typeface="맑은 고딕"/>
                <a:ea typeface="맑은 고딕"/>
                <a:cs typeface="맑은 고딕"/>
              </a:rPr>
              <a:t> 행 </a:t>
            </a:r>
            <a:r>
              <a:rPr sz="1600" b="0" dirty="0" err="1">
                <a:solidFill>
                  <a:srgbClr val="222222"/>
                </a:solidFill>
                <a:latin typeface="맑은 고딕"/>
                <a:ea typeface="맑은 고딕"/>
                <a:cs typeface="맑은 고딕"/>
              </a:rPr>
              <a:t>이주</a:t>
            </a:r>
            <a:r>
              <a:rPr sz="1600" b="0" dirty="0">
                <a:solidFill>
                  <a:srgbClr val="222222"/>
                </a:solidFill>
                <a:latin typeface="맑은 고딕"/>
                <a:ea typeface="맑은 고딕"/>
                <a:cs typeface="맑은 고딕"/>
              </a:rPr>
              <a:t> — 한 </a:t>
            </a:r>
            <a:r>
              <a:rPr sz="1600" b="0" dirty="0" err="1">
                <a:solidFill>
                  <a:srgbClr val="222222"/>
                </a:solidFill>
                <a:latin typeface="맑은 고딕"/>
                <a:ea typeface="맑은 고딕"/>
                <a:cs typeface="맑은 고딕"/>
              </a:rPr>
              <a:t>블록에</a:t>
            </a:r>
            <a:r>
              <a:rPr sz="1600" b="0" dirty="0">
                <a:solidFill>
                  <a:srgbClr val="222222"/>
                </a:solidFill>
                <a:latin typeface="맑은 고딕"/>
                <a:ea typeface="맑은 고딕"/>
                <a:cs typeface="맑은 고딕"/>
              </a:rPr>
              <a:t> </a:t>
            </a:r>
            <a:r>
              <a:rPr sz="1600" b="0" dirty="0" err="1">
                <a:solidFill>
                  <a:srgbClr val="222222"/>
                </a:solidFill>
                <a:latin typeface="맑은 고딕"/>
                <a:ea typeface="맑은 고딕"/>
                <a:cs typeface="맑은 고딕"/>
              </a:rPr>
              <a:t>행이</a:t>
            </a:r>
            <a:r>
              <a:rPr sz="1600" b="0" dirty="0">
                <a:solidFill>
                  <a:srgbClr val="222222"/>
                </a:solidFill>
                <a:latin typeface="맑은 고딕"/>
                <a:ea typeface="맑은 고딕"/>
                <a:cs typeface="맑은 고딕"/>
              </a:rPr>
              <a:t> 안 </a:t>
            </a:r>
            <a:r>
              <a:rPr sz="1600" b="0" dirty="0" err="1">
                <a:solidFill>
                  <a:srgbClr val="222222"/>
                </a:solidFill>
                <a:latin typeface="맑은 고딕"/>
                <a:ea typeface="맑은 고딕"/>
                <a:cs typeface="맑은 고딕"/>
              </a:rPr>
              <a:t>들어갈</a:t>
            </a:r>
            <a:r>
              <a:rPr sz="1600" b="0" dirty="0">
                <a:solidFill>
                  <a:srgbClr val="222222"/>
                </a:solidFill>
                <a:latin typeface="맑은 고딕"/>
                <a:ea typeface="맑은 고딕"/>
                <a:cs typeface="맑은 고딕"/>
              </a:rPr>
              <a:t> 때</a:t>
            </a:r>
          </a:p>
          <a:p>
            <a:pPr algn="l">
              <a:spcAft>
                <a:spcPts val="700"/>
              </a:spcAft>
            </a:pPr>
            <a:r>
              <a:rPr sz="1600" b="0" dirty="0">
                <a:solidFill>
                  <a:srgbClr val="222222"/>
                </a:solidFill>
                <a:latin typeface="맑은 고딕"/>
                <a:ea typeface="맑은 고딕"/>
                <a:cs typeface="맑은 고딕"/>
              </a:rPr>
              <a:t>•  ※ </a:t>
            </a:r>
            <a:r>
              <a:rPr sz="1600" b="0" dirty="0" err="1">
                <a:solidFill>
                  <a:srgbClr val="222222"/>
                </a:solidFill>
                <a:latin typeface="맑은 고딕"/>
                <a:ea typeface="맑은 고딕"/>
                <a:cs typeface="맑은 고딕"/>
              </a:rPr>
              <a:t>실습</a:t>
            </a:r>
            <a:r>
              <a:rPr sz="1600" b="0" dirty="0">
                <a:solidFill>
                  <a:srgbClr val="222222"/>
                </a:solidFill>
                <a:latin typeface="맑은 고딕"/>
                <a:ea typeface="맑은 고딕"/>
                <a:cs typeface="맑은 고딕"/>
              </a:rPr>
              <a:t> </a:t>
            </a:r>
            <a:r>
              <a:rPr sz="1600" b="0" dirty="0" err="1">
                <a:solidFill>
                  <a:srgbClr val="222222"/>
                </a:solidFill>
                <a:latin typeface="맑은 고딕"/>
                <a:ea typeface="맑은 고딕"/>
                <a:cs typeface="맑은 고딕"/>
              </a:rPr>
              <a:t>환경</a:t>
            </a:r>
            <a:r>
              <a:rPr sz="1600" b="0" dirty="0">
                <a:solidFill>
                  <a:srgbClr val="222222"/>
                </a:solidFill>
                <a:latin typeface="맑은 고딕"/>
                <a:ea typeface="맑은 고딕"/>
                <a:cs typeface="맑은 고딕"/>
              </a:rPr>
              <a:t>: non-CDB </a:t>
            </a:r>
            <a:r>
              <a:rPr sz="1600" b="0" dirty="0" err="1">
                <a:solidFill>
                  <a:srgbClr val="222222"/>
                </a:solidFill>
                <a:latin typeface="맑은 고딕"/>
                <a:ea typeface="맑은 고딕"/>
                <a:cs typeface="맑은 고딕"/>
              </a:rPr>
              <a:t>orcl</a:t>
            </a:r>
            <a:r>
              <a:rPr sz="1600" b="0" dirty="0">
                <a:solidFill>
                  <a:srgbClr val="222222"/>
                </a:solidFill>
                <a:latin typeface="맑은 고딕"/>
                <a:ea typeface="맑은 고딕"/>
                <a:cs typeface="맑은 고딕"/>
              </a:rPr>
              <a:t> 19.3. </a:t>
            </a:r>
            <a:r>
              <a:rPr sz="1600" b="0" dirty="0" err="1">
                <a:solidFill>
                  <a:srgbClr val="222222"/>
                </a:solidFill>
                <a:latin typeface="맑은 고딕"/>
                <a:ea typeface="맑은 고딕"/>
                <a:cs typeface="맑은 고딕"/>
              </a:rPr>
              <a:t>파라미터</a:t>
            </a:r>
            <a:r>
              <a:rPr sz="1600" b="0" dirty="0">
                <a:solidFill>
                  <a:srgbClr val="222222"/>
                </a:solidFill>
                <a:latin typeface="맑은 고딕"/>
                <a:ea typeface="맑은 고딕"/>
                <a:cs typeface="맑은 고딕"/>
              </a:rPr>
              <a:t> </a:t>
            </a:r>
            <a:r>
              <a:rPr sz="1600" b="0" dirty="0" err="1">
                <a:solidFill>
                  <a:srgbClr val="222222"/>
                </a:solidFill>
                <a:latin typeface="맑은 고딕"/>
                <a:ea typeface="맑은 고딕"/>
                <a:cs typeface="맑은 고딕"/>
              </a:rPr>
              <a:t>변경·오류</a:t>
            </a:r>
            <a:r>
              <a:rPr sz="1600" b="0" dirty="0">
                <a:solidFill>
                  <a:srgbClr val="222222"/>
                </a:solidFill>
                <a:latin typeface="맑은 고딕"/>
                <a:ea typeface="맑은 고딕"/>
                <a:cs typeface="맑은 고딕"/>
              </a:rPr>
              <a:t> </a:t>
            </a:r>
            <a:r>
              <a:rPr sz="1600" b="0" dirty="0" err="1">
                <a:solidFill>
                  <a:srgbClr val="222222"/>
                </a:solidFill>
                <a:latin typeface="맑은 고딕"/>
                <a:ea typeface="맑은 고딕"/>
                <a:cs typeface="맑은 고딕"/>
              </a:rPr>
              <a:t>재현은</a:t>
            </a:r>
            <a:r>
              <a:rPr sz="1600" b="0" dirty="0">
                <a:solidFill>
                  <a:srgbClr val="222222"/>
                </a:solidFill>
                <a:latin typeface="맑은 고딕"/>
                <a:ea typeface="맑은 고딕"/>
                <a:cs typeface="맑은 고딕"/>
              </a:rPr>
              <a:t> </a:t>
            </a:r>
            <a:r>
              <a:rPr sz="1600" b="0" dirty="0" err="1">
                <a:solidFill>
                  <a:srgbClr val="222222"/>
                </a:solidFill>
                <a:latin typeface="맑은 고딕"/>
                <a:ea typeface="맑은 고딕"/>
                <a:cs typeface="맑은 고딕"/>
              </a:rPr>
              <a:t>개인</a:t>
            </a:r>
            <a:r>
              <a:rPr sz="1600" b="0" dirty="0">
                <a:solidFill>
                  <a:srgbClr val="222222"/>
                </a:solidFill>
                <a:latin typeface="맑은 고딕"/>
                <a:ea typeface="맑은 고딕"/>
                <a:cs typeface="맑은 고딕"/>
              </a:rPr>
              <a:t> </a:t>
            </a:r>
            <a:r>
              <a:rPr sz="1600" b="0" dirty="0" err="1">
                <a:solidFill>
                  <a:srgbClr val="222222"/>
                </a:solidFill>
                <a:latin typeface="맑은 고딕"/>
                <a:ea typeface="맑은 고딕"/>
                <a:cs typeface="맑은 고딕"/>
              </a:rPr>
              <a:t>실습</a:t>
            </a:r>
            <a:r>
              <a:rPr sz="1600" b="0" dirty="0">
                <a:solidFill>
                  <a:srgbClr val="222222"/>
                </a:solidFill>
                <a:latin typeface="맑은 고딕"/>
                <a:ea typeface="맑은 고딕"/>
                <a:cs typeface="맑은 고딕"/>
              </a:rPr>
              <a:t> </a:t>
            </a:r>
            <a:r>
              <a:rPr sz="1600" b="0" dirty="0" err="1">
                <a:solidFill>
                  <a:srgbClr val="222222"/>
                </a:solidFill>
                <a:latin typeface="맑은 고딕"/>
                <a:ea typeface="맑은 고딕"/>
                <a:cs typeface="맑은 고딕"/>
              </a:rPr>
              <a:t>환경</a:t>
            </a:r>
            <a:r>
              <a:rPr sz="1600" b="0" dirty="0">
                <a:solidFill>
                  <a:srgbClr val="222222"/>
                </a:solidFill>
                <a:latin typeface="맑은 고딕"/>
                <a:ea typeface="맑은 고딕"/>
                <a:cs typeface="맑은 고딕"/>
              </a:rPr>
              <a:t> </a:t>
            </a:r>
            <a:r>
              <a:rPr sz="1600" b="0" dirty="0" err="1">
                <a:solidFill>
                  <a:srgbClr val="222222"/>
                </a:solidFill>
                <a:latin typeface="맑은 고딕"/>
                <a:ea typeface="맑은 고딕"/>
                <a:cs typeface="맑은 고딕"/>
              </a:rPr>
              <a:t>전용</a:t>
            </a:r>
            <a:r>
              <a:rPr sz="1600" b="0" dirty="0">
                <a:solidFill>
                  <a:srgbClr val="222222"/>
                </a:solidFill>
                <a:latin typeface="맑은 고딕"/>
                <a:ea typeface="맑은 고딕"/>
                <a:cs typeface="맑은 고딕"/>
              </a:rPr>
              <a:t>.</a:t>
            </a:r>
          </a:p>
        </p:txBody>
      </p:sp>
    </p:spTree>
    <p:extLst>
      <p:ext uri="{BB962C8B-B14F-4D97-AF65-F5344CB8AC3E}">
        <p14:creationId xmlns:p14="http://schemas.microsoft.com/office/powerpoint/2010/main" val="1354949661"/>
      </p:ext>
    </p:extLst>
  </p:cSld>
  <p:clrMapOvr>
    <a:masterClrMapping/>
  </p:clrMapOvr>
</p:sld>
</file>

<file path=ppt/slides/slide7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이 장의 핵심 메시지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ea typeface="맑은 고딕"/>
                <a:cs typeface="맑은 고딕"/>
              </a:rPr>
              <a:t>구성 실수는 튜닝으로 덮이지 않는다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Undo 부족의 ORA-01555는 SQL을 고쳐서 해결할 수 없다</a:t>
            </a:r>
          </a:p>
          <a:p>
            <a:pPr algn="l">
              <a:spcAft>
                <a:spcPts val="800"/>
              </a:spcAft>
            </a:pPr>
            <a:r>
              <a:rPr sz="1700" b="0">
                <a:solidFill>
                  <a:srgbClr val="222222"/>
                </a:solidFill>
                <a:latin typeface="맑은 고딕"/>
                <a:ea typeface="맑은 고딕"/>
                <a:cs typeface="맑은 고딕"/>
              </a:rPr>
              <a:t>•  Temp 부족의 ORA-01652는 인덱스를 추가해서 해결할 수 없다</a:t>
            </a:r>
          </a:p>
          <a:p>
            <a:pPr algn="l">
              <a:spcAft>
                <a:spcPts val="800"/>
              </a:spcAft>
            </a:pPr>
            <a:r>
              <a:rPr sz="1700" b="0">
                <a:solidFill>
                  <a:srgbClr val="222222"/>
                </a:solidFill>
                <a:latin typeface="맑은 고딕"/>
                <a:ea typeface="맑은 고딕"/>
                <a:cs typeface="맑은 고딕"/>
              </a:rPr>
              <a:t>•  이런 오류를 SQL 문제로 오인하면 엉뚱한 곳에서 시간을 허비한다</a:t>
            </a:r>
          </a:p>
          <a:p>
            <a:pPr algn="l">
              <a:spcAft>
                <a:spcPts val="800"/>
              </a:spcAft>
            </a:pPr>
            <a:r>
              <a:rPr sz="1700" b="0">
                <a:solidFill>
                  <a:srgbClr val="222222"/>
                </a:solidFill>
                <a:latin typeface="맑은 고딕"/>
                <a:ea typeface="맑은 고딕"/>
                <a:cs typeface="맑은 고딕"/>
              </a:rPr>
              <a:t>•  DBA Point: 처음에 제대로 놓아야 한다</a:t>
            </a:r>
          </a:p>
          <a:p>
            <a:pPr algn="l">
              <a:spcAft>
                <a:spcPts val="800"/>
              </a:spcAft>
            </a:pPr>
            <a:r>
              <a:rPr sz="1700" b="0">
                <a:solidFill>
                  <a:srgbClr val="222222"/>
                </a:solidFill>
                <a:latin typeface="맑은 고딕"/>
                <a:ea typeface="맑은 고딕"/>
                <a:cs typeface="맑은 고딕"/>
              </a:rPr>
              <a:t>•  Common Error: Undo·Temp 부족을 SQL 문제로 오인</a:t>
            </a:r>
          </a:p>
        </p:txBody>
      </p:sp>
    </p:spTree>
    <p:extLst>
      <p:ext uri="{BB962C8B-B14F-4D97-AF65-F5344CB8AC3E}">
        <p14:creationId xmlns:p14="http://schemas.microsoft.com/office/powerpoint/2010/main" val="1629501840"/>
      </p:ext>
    </p:extLst>
  </p:cSld>
  <p:clrMapOvr>
    <a:masterClrMapping/>
  </p:clrMapOvr>
</p:sld>
</file>

<file path=ppt/slides/slide7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707886"/>
          </a:xfrm>
          <a:prstGeom prst="rect">
            <a:avLst/>
          </a:prstGeom>
          <a:noFill/>
        </p:spPr>
        <p:txBody>
          <a:bodyPr wrap="square">
            <a:spAutoFit/>
          </a:bodyPr>
          <a:lstStyle/>
          <a:p>
            <a:pPr algn="l">
              <a:spcAft>
                <a:spcPts val="600"/>
              </a:spcAft>
            </a:pPr>
            <a:r>
              <a:rPr lang="en-US" sz="4000" b="1" dirty="0">
                <a:solidFill>
                  <a:srgbClr val="FFFFFF"/>
                </a:solidFill>
                <a:latin typeface="맑은 고딕"/>
                <a:ea typeface="맑은 고딕"/>
                <a:cs typeface="맑은 고딕"/>
              </a:rPr>
              <a:t>18</a:t>
            </a:r>
            <a:r>
              <a:rPr sz="4000" b="1" dirty="0">
                <a:solidFill>
                  <a:srgbClr val="FFFFFF"/>
                </a:solidFill>
                <a:latin typeface="맑은 고딕"/>
                <a:ea typeface="맑은 고딕"/>
                <a:cs typeface="맑은 고딕"/>
              </a:rPr>
              <a:t>.2</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ea typeface="맑은 고딕"/>
                <a:cs typeface="맑은 고딕"/>
              </a:rPr>
              <a:t>초기 인스턴스 구성</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600"/>
              </a:spcAft>
            </a:pPr>
            <a:r>
              <a:rPr sz="1600" b="0">
                <a:solidFill>
                  <a:srgbClr val="FFFFFF"/>
                </a:solidFill>
                <a:latin typeface="맑은 고딕"/>
                <a:ea typeface="맑은 고딕"/>
                <a:cs typeface="맑은 고딕"/>
              </a:rPr>
              <a:t>•  성능 영향 4갈래: 파라미터·Undo·리두·테이블스페이스</a:t>
            </a:r>
          </a:p>
          <a:p>
            <a:pPr algn="l">
              <a:spcAft>
                <a:spcPts val="600"/>
              </a:spcAft>
            </a:pPr>
            <a:r>
              <a:rPr sz="1600" b="0">
                <a:solidFill>
                  <a:srgbClr val="FFFFFF"/>
                </a:solidFill>
                <a:latin typeface="맑은 고딕"/>
                <a:ea typeface="맑은 고딕"/>
                <a:cs typeface="맑은 고딕"/>
              </a:rPr>
              <a:t>•  DBCA 시드는 권고를 이미 충족</a:t>
            </a:r>
          </a:p>
          <a:p>
            <a:pPr algn="l">
              <a:spcAft>
                <a:spcPts val="600"/>
              </a:spcAft>
            </a:pPr>
            <a:r>
              <a:rPr sz="1600" b="0">
                <a:solidFill>
                  <a:srgbClr val="FFFFFF"/>
                </a:solidFill>
                <a:latin typeface="맑은 고딕"/>
                <a:ea typeface="맑은 고딕"/>
                <a:cs typeface="맑은 고딕"/>
              </a:rPr>
              <a:t>•  초기화 파일은 튜닝 첫 자리가 아니다</a:t>
            </a:r>
          </a:p>
        </p:txBody>
      </p:sp>
    </p:spTree>
    <p:extLst>
      <p:ext uri="{BB962C8B-B14F-4D97-AF65-F5344CB8AC3E}">
        <p14:creationId xmlns:p14="http://schemas.microsoft.com/office/powerpoint/2010/main" val="3857668409"/>
      </p:ext>
    </p:extLst>
  </p:cSld>
  <p:clrMapOvr>
    <a:masterClrMapping/>
  </p:clrMapOvr>
</p:sld>
</file>

<file path=ppt/slides/slide7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성능에 영향 없는 필수 파라미터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ea typeface="맑은 고딕"/>
                <a:cs typeface="맑은 고딕"/>
              </a:rPr>
              <a:t>있어야 뜨는 최소 조건 — 성능 손잡이가 아니다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DB_NAME / DB_DOMAIN — 이름과 위치</a:t>
            </a:r>
          </a:p>
          <a:p>
            <a:pPr algn="l">
              <a:spcAft>
                <a:spcPts val="800"/>
              </a:spcAft>
            </a:pPr>
            <a:r>
              <a:rPr sz="1700" b="0">
                <a:solidFill>
                  <a:srgbClr val="222222"/>
                </a:solidFill>
                <a:latin typeface="맑은 고딕"/>
                <a:ea typeface="맑은 고딕"/>
                <a:cs typeface="맑은 고딕"/>
              </a:rPr>
              <a:t>•  OPEN_CURSORS — 세션당 커서 상한(권고 500), 키워도 빨라지지 않음</a:t>
            </a:r>
          </a:p>
          <a:p>
            <a:pPr algn="l">
              <a:spcAft>
                <a:spcPts val="800"/>
              </a:spcAft>
            </a:pPr>
            <a:r>
              <a:rPr sz="1700" b="0">
                <a:solidFill>
                  <a:srgbClr val="222222"/>
                </a:solidFill>
                <a:latin typeface="맑은 고딕"/>
                <a:ea typeface="맑은 고딕"/>
                <a:cs typeface="맑은 고딕"/>
              </a:rPr>
              <a:t>•  CONTROL_FILES — 서로 다른 디스크에 2개 이상</a:t>
            </a:r>
          </a:p>
          <a:p>
            <a:pPr algn="l">
              <a:spcAft>
                <a:spcPts val="800"/>
              </a:spcAft>
            </a:pPr>
            <a:r>
              <a:rPr sz="1700" b="0">
                <a:solidFill>
                  <a:srgbClr val="222222"/>
                </a:solidFill>
                <a:latin typeface="맑은 고딕"/>
                <a:ea typeface="맑은 고딕"/>
                <a:cs typeface="맑은 고딕"/>
              </a:rPr>
              <a:t>•  DB_FILES — 할당 가능한 최대 파일 수</a:t>
            </a:r>
          </a:p>
          <a:p>
            <a:pPr algn="l">
              <a:spcAft>
                <a:spcPts val="800"/>
              </a:spcAft>
            </a:pPr>
            <a:r>
              <a:rPr sz="1700" b="0">
                <a:solidFill>
                  <a:srgbClr val="222222"/>
                </a:solidFill>
                <a:latin typeface="맑은 고딕"/>
                <a:ea typeface="맑은 고딕"/>
                <a:cs typeface="맑은 고딕"/>
              </a:rPr>
              <a:t>•  너무 작으면 ORA-01000, 커도 성능은 그대로</a:t>
            </a:r>
          </a:p>
        </p:txBody>
      </p:sp>
    </p:spTree>
    <p:extLst>
      <p:ext uri="{BB962C8B-B14F-4D97-AF65-F5344CB8AC3E}">
        <p14:creationId xmlns:p14="http://schemas.microsoft.com/office/powerpoint/2010/main" val="3904544665"/>
      </p:ext>
    </p:extLst>
  </p:cSld>
  <p:clrMapOvr>
    <a:masterClrMapping/>
  </p:clrMapOvr>
</p:sld>
</file>

<file path=ppt/slides/slide7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리두 로그와 테이블스페이스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ea typeface="맑은 고딕"/>
                <a:cs typeface="맑은 고딕"/>
              </a:rPr>
              <a:t>체크포인트와 세그먼트 공간 관리</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리두 로그: 큰 로그가 일반적으로 유리, 최대 20분에 한 번 스위치</a:t>
            </a:r>
          </a:p>
          <a:p>
            <a:pPr algn="l">
              <a:spcAft>
                <a:spcPts val="800"/>
              </a:spcAft>
            </a:pPr>
            <a:r>
              <a:rPr sz="1700" b="0">
                <a:solidFill>
                  <a:srgbClr val="222222"/>
                </a:solidFill>
                <a:latin typeface="맑은 고딕"/>
                <a:ea typeface="맑은 고딕"/>
                <a:cs typeface="맑은 고딕"/>
              </a:rPr>
              <a:t>•  작은 로그는 잦은 체크포인트로 성능 저하(DBWR·체크포인트에 영향)</a:t>
            </a:r>
          </a:p>
          <a:p>
            <a:pPr algn="l">
              <a:spcAft>
                <a:spcPts val="800"/>
              </a:spcAft>
            </a:pPr>
            <a:r>
              <a:rPr sz="1700" b="0">
                <a:solidFill>
                  <a:srgbClr val="222222"/>
                </a:solidFill>
                <a:latin typeface="맑은 고딕"/>
                <a:ea typeface="맑은 고딕"/>
                <a:cs typeface="맑은 고딕"/>
              </a:rPr>
              <a:t>•  최적 크기: V$INSTANCE_RECOVERY.OPTIMAL_LOGFILE_SIZE</a:t>
            </a:r>
          </a:p>
          <a:p>
            <a:pPr algn="l">
              <a:spcAft>
                <a:spcPts val="800"/>
              </a:spcAft>
            </a:pPr>
            <a:r>
              <a:rPr sz="1700" b="0">
                <a:solidFill>
                  <a:srgbClr val="222222"/>
                </a:solidFill>
                <a:latin typeface="맑은 고딕"/>
                <a:ea typeface="맑은 고딕"/>
                <a:cs typeface="맑은 고딕"/>
              </a:rPr>
              <a:t>•  영구 TS: 로컬 관리 + 자동 세그먼트 공간 관리(ASSM) 권장</a:t>
            </a:r>
          </a:p>
          <a:p>
            <a:pPr algn="l">
              <a:spcAft>
                <a:spcPts val="800"/>
              </a:spcAft>
            </a:pPr>
            <a:r>
              <a:rPr sz="1700" b="0">
                <a:solidFill>
                  <a:srgbClr val="222222"/>
                </a:solidFill>
                <a:latin typeface="맑은 고딕"/>
                <a:ea typeface="맑은 고딕"/>
                <a:cs typeface="맑은 고딕"/>
              </a:rPr>
              <a:t>•  삽입·수정·삭제가 잦으면 반드시 로컬 익스텐트 관리</a:t>
            </a:r>
          </a:p>
        </p:txBody>
      </p:sp>
    </p:spTree>
    <p:extLst>
      <p:ext uri="{BB962C8B-B14F-4D97-AF65-F5344CB8AC3E}">
        <p14:creationId xmlns:p14="http://schemas.microsoft.com/office/powerpoint/2010/main" val="611389613"/>
      </p:ext>
    </p:extLst>
  </p:cSld>
  <p:clrMapOvr>
    <a:masterClrMapping/>
  </p:clrMapOvr>
</p:sld>
</file>

<file path=ppt/slides/slide7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707886"/>
          </a:xfrm>
          <a:prstGeom prst="rect">
            <a:avLst/>
          </a:prstGeom>
          <a:noFill/>
        </p:spPr>
        <p:txBody>
          <a:bodyPr wrap="square">
            <a:spAutoFit/>
          </a:bodyPr>
          <a:lstStyle/>
          <a:p>
            <a:pPr algn="l">
              <a:spcAft>
                <a:spcPts val="600"/>
              </a:spcAft>
            </a:pPr>
            <a:r>
              <a:rPr lang="en-US" sz="4000" b="1" dirty="0">
                <a:solidFill>
                  <a:srgbClr val="FFFFFF"/>
                </a:solidFill>
                <a:latin typeface="맑은 고딕"/>
                <a:ea typeface="맑은 고딕"/>
                <a:cs typeface="맑은 고딕"/>
              </a:rPr>
              <a:t>18</a:t>
            </a:r>
            <a:r>
              <a:rPr sz="4000" b="1" dirty="0">
                <a:solidFill>
                  <a:srgbClr val="FFFFFF"/>
                </a:solidFill>
                <a:latin typeface="맑은 고딕"/>
                <a:ea typeface="맑은 고딕"/>
                <a:cs typeface="맑은 고딕"/>
              </a:rPr>
              <a:t>.3</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ea typeface="맑은 고딕"/>
                <a:cs typeface="맑은 고딕"/>
              </a:rPr>
              <a:t>성능 초기화 파라미터</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600"/>
              </a:spcAft>
            </a:pPr>
            <a:r>
              <a:rPr sz="1600" b="0">
                <a:solidFill>
                  <a:srgbClr val="FFFFFF"/>
                </a:solidFill>
                <a:latin typeface="맑은 고딕"/>
                <a:ea typeface="맑은 고딕"/>
                <a:cs typeface="맑은 고딕"/>
              </a:rPr>
              <a:t>•  성능에 영향을 주는 파라미터는 소수</a:t>
            </a:r>
          </a:p>
          <a:p>
            <a:pPr algn="l">
              <a:spcAft>
                <a:spcPts val="600"/>
              </a:spcAft>
            </a:pPr>
            <a:r>
              <a:rPr sz="1600" b="0">
                <a:solidFill>
                  <a:srgbClr val="FFFFFF"/>
                </a:solidFill>
                <a:latin typeface="맑은 고딕"/>
                <a:ea typeface="맑은 고딕"/>
                <a:cs typeface="맑은 고딕"/>
              </a:rPr>
              <a:t>•  PROCESSES가 1차 파라미터 — 다수 값이 파생</a:t>
            </a:r>
          </a:p>
          <a:p>
            <a:pPr algn="l">
              <a:spcAft>
                <a:spcPts val="600"/>
              </a:spcAft>
            </a:pPr>
            <a:r>
              <a:rPr sz="1600" b="0">
                <a:solidFill>
                  <a:srgbClr val="FFFFFF"/>
                </a:solidFill>
                <a:latin typeface="맑은 고딕"/>
                <a:ea typeface="맑은 고딕"/>
                <a:cs typeface="맑은 고딕"/>
              </a:rPr>
              <a:t>•  실측으로 인스턴스 성격을 읽는다</a:t>
            </a:r>
          </a:p>
        </p:txBody>
      </p:sp>
    </p:spTree>
    <p:extLst>
      <p:ext uri="{BB962C8B-B14F-4D97-AF65-F5344CB8AC3E}">
        <p14:creationId xmlns:p14="http://schemas.microsoft.com/office/powerpoint/2010/main" val="2218722089"/>
      </p:ext>
    </p:extLst>
  </p:cSld>
  <p:clrMapOvr>
    <a:masterClrMapping/>
  </p:clrMapOvr>
</p:sld>
</file>

<file path=ppt/slides/slide7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성능 영향이 있는 중요 파라미터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ea typeface="맑은 고딕"/>
                <a:cs typeface="맑은 고딕"/>
              </a:rPr>
              <a:t>이 값들을 읽으면 인스턴스 성격이 보인다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COMPATIBLE — 신기능 활성화 경계</a:t>
            </a:r>
          </a:p>
          <a:p>
            <a:pPr algn="l">
              <a:spcAft>
                <a:spcPts val="800"/>
              </a:spcAft>
            </a:pPr>
            <a:r>
              <a:rPr sz="1700" b="0">
                <a:solidFill>
                  <a:srgbClr val="222222"/>
                </a:solidFill>
                <a:latin typeface="맑은 고딕"/>
                <a:ea typeface="맑은 고딕"/>
                <a:cs typeface="맑은 고딕"/>
              </a:rPr>
              <a:t>•  DB_BLOCK_SIZE — OLTP 8192 / DW 더 큼</a:t>
            </a:r>
          </a:p>
          <a:p>
            <a:pPr algn="l">
              <a:spcAft>
                <a:spcPts val="800"/>
              </a:spcAft>
            </a:pPr>
            <a:r>
              <a:rPr sz="1700" b="0">
                <a:solidFill>
                  <a:srgbClr val="222222"/>
                </a:solidFill>
                <a:latin typeface="맑은 고딕"/>
                <a:ea typeface="맑은 고딕"/>
                <a:cs typeface="맑은 고딕"/>
              </a:rPr>
              <a:t>•  SGA_TARGET — 지정 시 버퍼캐시·공유풀 자동 분배</a:t>
            </a:r>
          </a:p>
          <a:p>
            <a:pPr algn="l">
              <a:spcAft>
                <a:spcPts val="800"/>
              </a:spcAft>
            </a:pPr>
            <a:r>
              <a:rPr sz="1700" b="0">
                <a:solidFill>
                  <a:srgbClr val="222222"/>
                </a:solidFill>
                <a:latin typeface="맑은 고딕"/>
                <a:ea typeface="맑은 고딕"/>
                <a:cs typeface="맑은 고딕"/>
              </a:rPr>
              <a:t>•  PGA_AGGREGATE_TARGET — 정렬·해시 작업영역 자동 조정</a:t>
            </a:r>
          </a:p>
          <a:p>
            <a:pPr algn="l">
              <a:spcAft>
                <a:spcPts val="800"/>
              </a:spcAft>
            </a:pPr>
            <a:r>
              <a:rPr sz="1700" b="0">
                <a:solidFill>
                  <a:srgbClr val="222222"/>
                </a:solidFill>
                <a:latin typeface="맑은 고딕"/>
                <a:ea typeface="맑은 고딕"/>
                <a:cs typeface="맑은 고딕"/>
              </a:rPr>
              <a:t>•  PROCESSES(1차) → SESSIONS 파생 / UNDO_MANAGEMENT·UNDO_TABLESPACE</a:t>
            </a:r>
          </a:p>
        </p:txBody>
      </p:sp>
    </p:spTree>
    <p:extLst>
      <p:ext uri="{BB962C8B-B14F-4D97-AF65-F5344CB8AC3E}">
        <p14:creationId xmlns:p14="http://schemas.microsoft.com/office/powerpoint/2010/main" val="658290072"/>
      </p:ext>
    </p:extLst>
  </p:cSld>
  <p:clrMapOvr>
    <a:masterClrMapping/>
  </p:clrMapOvr>
</p:sld>
</file>

<file path=ppt/slides/slide7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V$PARAMETER 실측 — 이 인스턴스의 구성</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ea typeface="맑은 고딕"/>
                <a:cs typeface="맑은 고딕"/>
              </a:rPr>
              <a:t>성능 관련 항목 필터링 (orcl 19.3, 2026-08-25)</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tlCol="0" anchor="ctr"/>
          <a:lstStyle/>
          <a:p>
            <a:pPr algn="l">
              <a:spcAft>
                <a:spcPts val="0"/>
              </a:spcAft>
            </a:pPr>
            <a:r>
              <a:rPr sz="1250" b="0">
                <a:solidFill>
                  <a:srgbClr val="F2F2F2"/>
                </a:solidFill>
                <a:latin typeface="Consolas"/>
                <a:ea typeface="Consolas"/>
                <a:cs typeface="Consolas"/>
              </a:rPr>
              <a:t>SYS@orcl&gt; SELECT name, value FROM v$parameter</a:t>
            </a:r>
          </a:p>
          <a:p>
            <a:pPr algn="l">
              <a:spcAft>
                <a:spcPts val="0"/>
              </a:spcAft>
            </a:pPr>
            <a:r>
              <a:rPr sz="1250" b="0">
                <a:solidFill>
                  <a:srgbClr val="F2F2F2"/>
                </a:solidFill>
                <a:latin typeface="Consolas"/>
                <a:ea typeface="Consolas"/>
                <a:cs typeface="Consolas"/>
              </a:rPr>
              <a:t>  2       WHERE name IN ('db_block_size','sga_target',</a:t>
            </a:r>
          </a:p>
          <a:p>
            <a:pPr algn="l">
              <a:spcAft>
                <a:spcPts val="0"/>
              </a:spcAft>
            </a:pPr>
            <a:r>
              <a:rPr sz="1250" b="0">
                <a:solidFill>
                  <a:srgbClr val="F2F2F2"/>
                </a:solidFill>
                <a:latin typeface="Consolas"/>
                <a:ea typeface="Consolas"/>
                <a:cs typeface="Consolas"/>
              </a:rPr>
              <a:t>  3         'pga_aggregate_target','processes','sessions',</a:t>
            </a:r>
          </a:p>
          <a:p>
            <a:pPr algn="l">
              <a:spcAft>
                <a:spcPts val="0"/>
              </a:spcAft>
            </a:pPr>
            <a:r>
              <a:rPr sz="1250" b="0">
                <a:solidFill>
                  <a:srgbClr val="F2F2F2"/>
                </a:solidFill>
                <a:latin typeface="Consolas"/>
                <a:ea typeface="Consolas"/>
                <a:cs typeface="Consolas"/>
              </a:rPr>
              <a:t>  4         'undo_retention','undo_tablespace','memory_target');</a:t>
            </a:r>
          </a:p>
          <a:p>
            <a:pPr algn="l">
              <a:spcAft>
                <a:spcPts val="0"/>
              </a:spcAft>
            </a:pPr>
            <a:r>
              <a:rPr sz="1250" b="0">
                <a:solidFill>
                  <a:srgbClr val="F2F2F2"/>
                </a:solidFill>
                <a:latin typeface="Consolas"/>
                <a:ea typeface="Consolas"/>
                <a:cs typeface="Consolas"/>
              </a:rPr>
              <a:t> </a:t>
            </a:r>
          </a:p>
          <a:p>
            <a:pPr algn="l">
              <a:spcAft>
                <a:spcPts val="0"/>
              </a:spcAft>
            </a:pPr>
            <a:r>
              <a:rPr sz="1250" b="0">
                <a:solidFill>
                  <a:srgbClr val="F2F2F2"/>
                </a:solidFill>
                <a:latin typeface="Consolas"/>
                <a:ea typeface="Consolas"/>
                <a:cs typeface="Consolas"/>
              </a:rPr>
              <a:t>NAME                            VALUE</a:t>
            </a:r>
          </a:p>
          <a:p>
            <a:pPr algn="l">
              <a:spcAft>
                <a:spcPts val="0"/>
              </a:spcAft>
            </a:pPr>
            <a:r>
              <a:rPr sz="1250" b="0">
                <a:solidFill>
                  <a:srgbClr val="F2F2F2"/>
                </a:solidFill>
                <a:latin typeface="Consolas"/>
                <a:ea typeface="Consolas"/>
                <a:cs typeface="Consolas"/>
              </a:rPr>
              <a:t>------------------------------- ----------------</a:t>
            </a:r>
          </a:p>
          <a:p>
            <a:pPr algn="l">
              <a:spcAft>
                <a:spcPts val="0"/>
              </a:spcAft>
            </a:pPr>
            <a:r>
              <a:rPr sz="1250" b="0">
                <a:solidFill>
                  <a:srgbClr val="F2F2F2"/>
                </a:solidFill>
                <a:latin typeface="Consolas"/>
                <a:ea typeface="Consolas"/>
                <a:cs typeface="Consolas"/>
              </a:rPr>
              <a:t>db_block_size                   8192</a:t>
            </a:r>
          </a:p>
          <a:p>
            <a:pPr algn="l">
              <a:spcAft>
                <a:spcPts val="0"/>
              </a:spcAft>
            </a:pPr>
            <a:r>
              <a:rPr sz="1250" b="0">
                <a:solidFill>
                  <a:srgbClr val="F2F2F2"/>
                </a:solidFill>
                <a:latin typeface="Consolas"/>
                <a:ea typeface="Consolas"/>
                <a:cs typeface="Consolas"/>
              </a:rPr>
              <a:t>memory_target                   0</a:t>
            </a:r>
          </a:p>
          <a:p>
            <a:pPr algn="l">
              <a:spcAft>
                <a:spcPts val="0"/>
              </a:spcAft>
            </a:pPr>
            <a:r>
              <a:rPr sz="1250" b="0">
                <a:solidFill>
                  <a:srgbClr val="F2F2F2"/>
                </a:solidFill>
                <a:latin typeface="Consolas"/>
                <a:ea typeface="Consolas"/>
                <a:cs typeface="Consolas"/>
              </a:rPr>
              <a:t>pga_aggregate_target            734003200</a:t>
            </a:r>
          </a:p>
          <a:p>
            <a:pPr algn="l">
              <a:spcAft>
                <a:spcPts val="0"/>
              </a:spcAft>
            </a:pPr>
            <a:r>
              <a:rPr sz="1250" b="0">
                <a:solidFill>
                  <a:srgbClr val="F2F2F2"/>
                </a:solidFill>
                <a:latin typeface="Consolas"/>
                <a:ea typeface="Consolas"/>
                <a:cs typeface="Consolas"/>
              </a:rPr>
              <a:t>processes                       500</a:t>
            </a:r>
          </a:p>
          <a:p>
            <a:pPr algn="l">
              <a:spcAft>
                <a:spcPts val="0"/>
              </a:spcAft>
            </a:pPr>
            <a:r>
              <a:rPr sz="1250" b="0">
                <a:solidFill>
                  <a:srgbClr val="F2F2F2"/>
                </a:solidFill>
                <a:latin typeface="Consolas"/>
                <a:ea typeface="Consolas"/>
                <a:cs typeface="Consolas"/>
              </a:rPr>
              <a:t>sessions                        776</a:t>
            </a:r>
          </a:p>
          <a:p>
            <a:pPr algn="l">
              <a:spcAft>
                <a:spcPts val="0"/>
              </a:spcAft>
            </a:pPr>
            <a:r>
              <a:rPr sz="1250" b="0">
                <a:solidFill>
                  <a:srgbClr val="F2F2F2"/>
                </a:solidFill>
                <a:latin typeface="Consolas"/>
                <a:ea typeface="Consolas"/>
                <a:cs typeface="Consolas"/>
              </a:rPr>
              <a:t>sga_target                      1577058304</a:t>
            </a:r>
          </a:p>
          <a:p>
            <a:pPr algn="l">
              <a:spcAft>
                <a:spcPts val="0"/>
              </a:spcAft>
            </a:pPr>
            <a:r>
              <a:rPr sz="1250" b="0">
                <a:solidFill>
                  <a:srgbClr val="F2F2F2"/>
                </a:solidFill>
                <a:latin typeface="Consolas"/>
                <a:ea typeface="Consolas"/>
                <a:cs typeface="Consolas"/>
              </a:rPr>
              <a:t>undo_retention                  900</a:t>
            </a:r>
          </a:p>
          <a:p>
            <a:pPr algn="l">
              <a:spcAft>
                <a:spcPts val="0"/>
              </a:spcAft>
            </a:pPr>
            <a:r>
              <a:rPr sz="1250" b="0">
                <a:solidFill>
                  <a:srgbClr val="F2F2F2"/>
                </a:solidFill>
                <a:latin typeface="Consolas"/>
                <a:ea typeface="Consolas"/>
                <a:cs typeface="Consolas"/>
              </a:rPr>
              <a:t>undo_tablespace                 UNDOTBS1</a:t>
            </a:r>
          </a:p>
        </p:txBody>
      </p:sp>
    </p:spTree>
    <p:extLst>
      <p:ext uri="{BB962C8B-B14F-4D97-AF65-F5344CB8AC3E}">
        <p14:creationId xmlns:p14="http://schemas.microsoft.com/office/powerpoint/2010/main" val="125106849"/>
      </p:ext>
    </p:extLst>
  </p:cSld>
  <p:clrMapOvr>
    <a:masterClrMapping/>
  </p:clrMapOvr>
</p:sld>
</file>

<file path=ppt/slides/slide7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실측 해석과 안전한 변경</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ea typeface="맑은 고딕"/>
                <a:cs typeface="맑은 고딕"/>
              </a:rPr>
              <a:t>값을 읽고, 근거를 남기고, 하나씩 바꾼다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sga_target 1,577,058,304B ≈ 1.47GB / pga 734,003,200B ≈ 700MB</a:t>
            </a:r>
          </a:p>
          <a:p>
            <a:pPr algn="l">
              <a:spcAft>
                <a:spcPts val="800"/>
              </a:spcAft>
            </a:pPr>
            <a:r>
              <a:rPr sz="1700" b="0">
                <a:solidFill>
                  <a:srgbClr val="222222"/>
                </a:solidFill>
                <a:latin typeface="맑은 고딕"/>
                <a:ea typeface="맑은 고딕"/>
                <a:cs typeface="맑은 고딕"/>
              </a:rPr>
              <a:t>•  memory_target=0은 '설정 안 함' — 오류 아님</a:t>
            </a:r>
          </a:p>
          <a:p>
            <a:pPr algn="l">
              <a:spcAft>
                <a:spcPts val="800"/>
              </a:spcAft>
            </a:pPr>
            <a:r>
              <a:rPr sz="1700" b="0">
                <a:solidFill>
                  <a:srgbClr val="222222"/>
                </a:solidFill>
                <a:latin typeface="맑은 고딕"/>
                <a:ea typeface="맑은 고딕"/>
                <a:cs typeface="맑은 고딕"/>
              </a:rPr>
              <a:t>•  변경 전 현재값을 반드시 캡처(근거 없는 조치 경계)</a:t>
            </a:r>
          </a:p>
          <a:p>
            <a:pPr algn="l">
              <a:spcAft>
                <a:spcPts val="800"/>
              </a:spcAft>
            </a:pPr>
            <a:r>
              <a:rPr sz="1700" b="0">
                <a:solidFill>
                  <a:srgbClr val="222222"/>
                </a:solidFill>
                <a:latin typeface="맑은 고딕"/>
                <a:ea typeface="맑은 고딕"/>
                <a:cs typeface="맑은 고딕"/>
              </a:rPr>
              <a:t>•  SCOPE: MEMORY(현재) / SPFILE(다음 기동) / BOTH(둘 다)</a:t>
            </a:r>
          </a:p>
          <a:p>
            <a:pPr algn="l">
              <a:spcAft>
                <a:spcPts val="800"/>
              </a:spcAft>
            </a:pPr>
            <a:r>
              <a:rPr sz="1700" b="0">
                <a:solidFill>
                  <a:srgbClr val="222222"/>
                </a:solidFill>
                <a:latin typeface="맑은 고딕"/>
                <a:ea typeface="맑은 고딕"/>
                <a:cs typeface="맑은 고딕"/>
              </a:rPr>
              <a:t>•  정적 파라미터(PROCESSES)는 SPFILE + 재기동 → 재조회로 확인</a:t>
            </a:r>
          </a:p>
        </p:txBody>
      </p:sp>
    </p:spTree>
    <p:extLst>
      <p:ext uri="{BB962C8B-B14F-4D97-AF65-F5344CB8AC3E}">
        <p14:creationId xmlns:p14="http://schemas.microsoft.com/office/powerpoint/2010/main" val="1630044378"/>
      </p:ext>
    </p:extLst>
  </p:cSld>
  <p:clrMapOvr>
    <a:masterClrMapping/>
  </p:clrMapOvr>
</p:sld>
</file>

<file path=ppt/slides/slide7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707886"/>
          </a:xfrm>
          <a:prstGeom prst="rect">
            <a:avLst/>
          </a:prstGeom>
          <a:noFill/>
        </p:spPr>
        <p:txBody>
          <a:bodyPr wrap="square">
            <a:spAutoFit/>
          </a:bodyPr>
          <a:lstStyle/>
          <a:p>
            <a:pPr algn="l">
              <a:spcAft>
                <a:spcPts val="600"/>
              </a:spcAft>
            </a:pPr>
            <a:r>
              <a:rPr lang="en-US" sz="4000" b="1" dirty="0">
                <a:solidFill>
                  <a:srgbClr val="FFFFFF"/>
                </a:solidFill>
                <a:latin typeface="맑은 고딕"/>
                <a:ea typeface="맑은 고딕"/>
                <a:cs typeface="맑은 고딕"/>
              </a:rPr>
              <a:t>18</a:t>
            </a:r>
            <a:r>
              <a:rPr sz="4000" b="1" dirty="0">
                <a:solidFill>
                  <a:srgbClr val="FFFFFF"/>
                </a:solidFill>
                <a:latin typeface="맑은 고딕"/>
                <a:ea typeface="맑은 고딕"/>
                <a:cs typeface="맑은 고딕"/>
              </a:rPr>
              <a:t>.4</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ea typeface="맑은 고딕"/>
                <a:cs typeface="맑은 고딕"/>
              </a:rPr>
              <a:t>Undo 보존과 ORA-01555</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600"/>
              </a:spcAft>
            </a:pPr>
            <a:r>
              <a:rPr sz="1600" b="0">
                <a:solidFill>
                  <a:srgbClr val="FFFFFF"/>
                </a:solidFill>
                <a:latin typeface="맑은 고딕"/>
                <a:ea typeface="맑은 고딕"/>
                <a:cs typeface="맑은 고딕"/>
              </a:rPr>
              <a:t>•  Undo = 읽기 일관성·복구·롤백의 값</a:t>
            </a:r>
          </a:p>
          <a:p>
            <a:pPr algn="l">
              <a:spcAft>
                <a:spcPts val="600"/>
              </a:spcAft>
            </a:pPr>
            <a:r>
              <a:rPr sz="1600" b="0">
                <a:solidFill>
                  <a:srgbClr val="FFFFFF"/>
                </a:solidFill>
                <a:latin typeface="맑은 고딕"/>
                <a:ea typeface="맑은 고딕"/>
                <a:cs typeface="맑은 고딕"/>
              </a:rPr>
              <a:t>•  UNDO_RETENTION은 목표이지 보장이 아니다</a:t>
            </a:r>
          </a:p>
          <a:p>
            <a:pPr algn="l">
              <a:spcAft>
                <a:spcPts val="600"/>
              </a:spcAft>
            </a:pPr>
            <a:r>
              <a:rPr sz="1600" b="0">
                <a:solidFill>
                  <a:srgbClr val="FFFFFF"/>
                </a:solidFill>
                <a:latin typeface="맑은 고딕"/>
                <a:ea typeface="맑은 고딕"/>
                <a:cs typeface="맑은 고딕"/>
              </a:rPr>
              <a:t>•  ORA-01555는 SQL 문제가 아니다</a:t>
            </a:r>
          </a:p>
        </p:txBody>
      </p:sp>
    </p:spTree>
    <p:extLst>
      <p:ext uri="{BB962C8B-B14F-4D97-AF65-F5344CB8AC3E}">
        <p14:creationId xmlns:p14="http://schemas.microsoft.com/office/powerpoint/2010/main" val="1030925674"/>
      </p:ext>
    </p:extLst>
  </p:cSld>
  <p:clrMapOvr>
    <a:masterClrMapping/>
  </p:clrMapOvr>
</p:sld>
</file>

<file path=ppt/slides/slide7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Undo가 하는 두 가지 일</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ea typeface="맑은 고딕"/>
                <a:cs typeface="맑은 고딕"/>
              </a:rPr>
              <a:t>롤백과 읽기 일관성 — 둘 다 과거 이미지에서 나온다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행이 바뀌면 바뀌기 전 이미지가 Undo 세그먼트에 남는다</a:t>
            </a:r>
          </a:p>
          <a:p>
            <a:pPr algn="l">
              <a:spcAft>
                <a:spcPts val="800"/>
              </a:spcAft>
            </a:pPr>
            <a:r>
              <a:rPr sz="1700" b="0">
                <a:solidFill>
                  <a:srgbClr val="222222"/>
                </a:solidFill>
                <a:latin typeface="맑은 고딕"/>
                <a:ea typeface="맑은 고딕"/>
                <a:cs typeface="맑은 고딕"/>
              </a:rPr>
              <a:t>•  ① 롤백: 커밋 안 된 변경을 되돌린다</a:t>
            </a:r>
          </a:p>
          <a:p>
            <a:pPr algn="l">
              <a:spcAft>
                <a:spcPts val="800"/>
              </a:spcAft>
            </a:pPr>
            <a:r>
              <a:rPr sz="1700" b="0">
                <a:solidFill>
                  <a:srgbClr val="222222"/>
                </a:solidFill>
                <a:latin typeface="맑은 고딕"/>
                <a:ea typeface="맑은 고딕"/>
                <a:cs typeface="맑은 고딕"/>
              </a:rPr>
              <a:t>•  ② 읽기 일관성: 다른 세션이 트랜잭션 시작 시점의 스냅샷을 본다</a:t>
            </a:r>
          </a:p>
          <a:p>
            <a:pPr algn="l">
              <a:spcAft>
                <a:spcPts val="800"/>
              </a:spcAft>
            </a:pPr>
            <a:r>
              <a:rPr sz="1700" b="0">
                <a:solidFill>
                  <a:srgbClr val="222222"/>
                </a:solidFill>
                <a:latin typeface="맑은 고딕"/>
                <a:ea typeface="맑은 고딕"/>
                <a:cs typeface="맑은 고딕"/>
              </a:rPr>
              <a:t>•  이 과거 이미지가 사라지면 긴 조회가 ORA-01555</a:t>
            </a:r>
          </a:p>
          <a:p>
            <a:pPr algn="l">
              <a:spcAft>
                <a:spcPts val="800"/>
              </a:spcAft>
            </a:pPr>
            <a:r>
              <a:rPr sz="1700" b="0">
                <a:solidFill>
                  <a:srgbClr val="222222"/>
                </a:solidFill>
                <a:latin typeface="맑은 고딕"/>
                <a:ea typeface="맑은 고딕"/>
                <a:cs typeface="맑은 고딕"/>
              </a:rPr>
              <a:t>•  그래서 Undo는 '읽기 일관성의 값(비용)'이다</a:t>
            </a:r>
          </a:p>
        </p:txBody>
      </p:sp>
    </p:spTree>
    <p:extLst>
      <p:ext uri="{BB962C8B-B14F-4D97-AF65-F5344CB8AC3E}">
        <p14:creationId xmlns:p14="http://schemas.microsoft.com/office/powerpoint/2010/main" val="1072179040"/>
      </p:ext>
    </p:extLst>
  </p:cSld>
  <p:clrMapOvr>
    <a:masterClrMapping/>
  </p:clrMapOvr>
</p:sld>
</file>

<file path=ppt/slides/slide7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자동 Undo 관리</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ea typeface="맑은 고딕"/>
                <a:cs typeface="맑은 고딕"/>
              </a:rPr>
              <a:t>DBA가 신경 쓸 것은 크기와 보존 두 가지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UNDO_MANAGEMENT=AUTO(기본) — 오라클이 세그먼트 투명 관리</a:t>
            </a:r>
          </a:p>
          <a:p>
            <a:pPr algn="l">
              <a:spcAft>
                <a:spcPts val="800"/>
              </a:spcAft>
            </a:pPr>
            <a:r>
              <a:rPr sz="1700" b="0">
                <a:solidFill>
                  <a:srgbClr val="222222"/>
                </a:solidFill>
                <a:latin typeface="맑은 고딕"/>
                <a:ea typeface="맑은 고딕"/>
                <a:cs typeface="맑은 고딕"/>
              </a:rPr>
              <a:t>•  수동 롤백 세그먼트는 하위 호환용, 새 구성에서 쓸 이유 없음</a:t>
            </a:r>
          </a:p>
          <a:p>
            <a:pPr algn="l">
              <a:spcAft>
                <a:spcPts val="800"/>
              </a:spcAft>
            </a:pPr>
            <a:r>
              <a:rPr sz="1700" b="0">
                <a:solidFill>
                  <a:srgbClr val="222222"/>
                </a:solidFill>
                <a:latin typeface="맑은 고딕"/>
                <a:ea typeface="맑은 고딕"/>
                <a:cs typeface="맑은 고딕"/>
              </a:rPr>
              <a:t>•  MVCC(다중 버전 읽기 일관성)가 Undo 위에서 동작</a:t>
            </a:r>
          </a:p>
          <a:p>
            <a:pPr algn="l">
              <a:spcAft>
                <a:spcPts val="800"/>
              </a:spcAft>
            </a:pPr>
            <a:r>
              <a:rPr sz="1700" b="0">
                <a:solidFill>
                  <a:srgbClr val="222222"/>
                </a:solidFill>
                <a:latin typeface="맑은 고딕"/>
                <a:ea typeface="맑은 고딕"/>
                <a:cs typeface="맑은 고딕"/>
              </a:rPr>
              <a:t>•  DBA 관심사: ① Undo 테이블스페이스 크기 ② UNDO_RETENTION</a:t>
            </a:r>
          </a:p>
          <a:p>
            <a:pPr algn="l">
              <a:spcAft>
                <a:spcPts val="800"/>
              </a:spcAft>
            </a:pPr>
            <a:r>
              <a:rPr sz="1700" b="0">
                <a:solidFill>
                  <a:srgbClr val="222222"/>
                </a:solidFill>
                <a:latin typeface="맑은 고딕"/>
                <a:ea typeface="맑은 고딕"/>
                <a:cs typeface="맑은 고딕"/>
              </a:rPr>
              <a:t>•  V$UNDOSTAT(10분 통계) / V$ROLLSTAT(세그먼트 동작)</a:t>
            </a:r>
          </a:p>
        </p:txBody>
      </p:sp>
    </p:spTree>
    <p:extLst>
      <p:ext uri="{BB962C8B-B14F-4D97-AF65-F5344CB8AC3E}">
        <p14:creationId xmlns:p14="http://schemas.microsoft.com/office/powerpoint/2010/main" val="3105707315"/>
      </p:ext>
    </p:extLst>
  </p:cSld>
  <p:clrMapOvr>
    <a:masterClrMapping/>
  </p:clrMapOvr>
</p:sld>
</file>

<file path=ppt/slides/slide7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Undo 구성 실측</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ea typeface="맑은 고딕"/>
                <a:cs typeface="맑은 고딕"/>
              </a:rPr>
              <a:t>세 값의 조합이 ORA-01555 가능성을 결정</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tlCol="0" anchor="ctr"/>
          <a:lstStyle/>
          <a:p>
            <a:pPr algn="l">
              <a:spcAft>
                <a:spcPts val="0"/>
              </a:spcAft>
            </a:pPr>
            <a:r>
              <a:rPr sz="1250" b="0">
                <a:solidFill>
                  <a:srgbClr val="F2F2F2"/>
                </a:solidFill>
                <a:latin typeface="Consolas"/>
                <a:ea typeface="Consolas"/>
                <a:cs typeface="Consolas"/>
              </a:rPr>
              <a:t>SYS@orcl&gt; SELECT tablespace_name, contents, retention</a:t>
            </a:r>
          </a:p>
          <a:p>
            <a:pPr algn="l">
              <a:spcAft>
                <a:spcPts val="0"/>
              </a:spcAft>
            </a:pPr>
            <a:r>
              <a:rPr sz="1250" b="0">
                <a:solidFill>
                  <a:srgbClr val="F2F2F2"/>
                </a:solidFill>
                <a:latin typeface="Consolas"/>
                <a:ea typeface="Consolas"/>
                <a:cs typeface="Consolas"/>
              </a:rPr>
              <a:t>  2       FROM dba_tablespaces WHERE contents='UNDO';</a:t>
            </a:r>
          </a:p>
          <a:p>
            <a:pPr algn="l">
              <a:spcAft>
                <a:spcPts val="0"/>
              </a:spcAft>
            </a:pPr>
            <a:r>
              <a:rPr sz="1250" b="0">
                <a:solidFill>
                  <a:srgbClr val="F2F2F2"/>
                </a:solidFill>
                <a:latin typeface="Consolas"/>
                <a:ea typeface="Consolas"/>
                <a:cs typeface="Consolas"/>
              </a:rPr>
              <a:t>TABLESPACE_NAME   CONTENTS   RETENTION</a:t>
            </a:r>
          </a:p>
          <a:p>
            <a:pPr algn="l">
              <a:spcAft>
                <a:spcPts val="0"/>
              </a:spcAft>
            </a:pPr>
            <a:r>
              <a:rPr sz="1250" b="0">
                <a:solidFill>
                  <a:srgbClr val="F2F2F2"/>
                </a:solidFill>
                <a:latin typeface="Consolas"/>
                <a:ea typeface="Consolas"/>
                <a:cs typeface="Consolas"/>
              </a:rPr>
              <a:t>----------------- ---------- -------------</a:t>
            </a:r>
          </a:p>
          <a:p>
            <a:pPr algn="l">
              <a:spcAft>
                <a:spcPts val="0"/>
              </a:spcAft>
            </a:pPr>
            <a:r>
              <a:rPr sz="1250" b="0">
                <a:solidFill>
                  <a:srgbClr val="F2F2F2"/>
                </a:solidFill>
                <a:latin typeface="Consolas"/>
                <a:ea typeface="Consolas"/>
                <a:cs typeface="Consolas"/>
              </a:rPr>
              <a:t>UNDOTBS1          UNDO       NOGUARANTEE</a:t>
            </a:r>
          </a:p>
          <a:p>
            <a:pPr algn="l">
              <a:spcAft>
                <a:spcPts val="0"/>
              </a:spcAft>
            </a:pPr>
            <a:r>
              <a:rPr sz="1250" b="0">
                <a:solidFill>
                  <a:srgbClr val="F2F2F2"/>
                </a:solidFill>
                <a:latin typeface="Consolas"/>
                <a:ea typeface="Consolas"/>
                <a:cs typeface="Consolas"/>
              </a:rPr>
              <a:t> </a:t>
            </a:r>
          </a:p>
          <a:p>
            <a:pPr algn="l">
              <a:spcAft>
                <a:spcPts val="0"/>
              </a:spcAft>
            </a:pPr>
            <a:r>
              <a:rPr sz="1250" b="0">
                <a:solidFill>
                  <a:srgbClr val="F2F2F2"/>
                </a:solidFill>
                <a:latin typeface="Consolas"/>
                <a:ea typeface="Consolas"/>
                <a:cs typeface="Consolas"/>
              </a:rPr>
              <a:t>SYS@orcl&gt; SELECT tablespace_name, ROUND(SUM(bytes)/1024/1024) mb</a:t>
            </a:r>
          </a:p>
          <a:p>
            <a:pPr algn="l">
              <a:spcAft>
                <a:spcPts val="0"/>
              </a:spcAft>
            </a:pPr>
            <a:r>
              <a:rPr sz="1250" b="0">
                <a:solidFill>
                  <a:srgbClr val="F2F2F2"/>
                </a:solidFill>
                <a:latin typeface="Consolas"/>
                <a:ea typeface="Consolas"/>
                <a:cs typeface="Consolas"/>
              </a:rPr>
              <a:t>  2       FROM dba_data_files</a:t>
            </a:r>
          </a:p>
          <a:p>
            <a:pPr algn="l">
              <a:spcAft>
                <a:spcPts val="0"/>
              </a:spcAft>
            </a:pPr>
            <a:r>
              <a:rPr sz="1250" b="0">
                <a:solidFill>
                  <a:srgbClr val="F2F2F2"/>
                </a:solidFill>
                <a:latin typeface="Consolas"/>
                <a:ea typeface="Consolas"/>
                <a:cs typeface="Consolas"/>
              </a:rPr>
              <a:t>  3       WHERE tablespace_name='UNDOTBS1' GROUP BY tablespace_name;</a:t>
            </a:r>
          </a:p>
          <a:p>
            <a:pPr algn="l">
              <a:spcAft>
                <a:spcPts val="0"/>
              </a:spcAft>
            </a:pPr>
            <a:r>
              <a:rPr sz="1250" b="0">
                <a:solidFill>
                  <a:srgbClr val="F2F2F2"/>
                </a:solidFill>
                <a:latin typeface="Consolas"/>
                <a:ea typeface="Consolas"/>
                <a:cs typeface="Consolas"/>
              </a:rPr>
              <a:t>TABLESPACE_NAME          MB</a:t>
            </a:r>
          </a:p>
          <a:p>
            <a:pPr algn="l">
              <a:spcAft>
                <a:spcPts val="0"/>
              </a:spcAft>
            </a:pPr>
            <a:r>
              <a:rPr sz="1250" b="0">
                <a:solidFill>
                  <a:srgbClr val="F2F2F2"/>
                </a:solidFill>
                <a:latin typeface="Consolas"/>
                <a:ea typeface="Consolas"/>
                <a:cs typeface="Consolas"/>
              </a:rPr>
              <a:t>----------------- ----------</a:t>
            </a:r>
          </a:p>
          <a:p>
            <a:pPr algn="l">
              <a:spcAft>
                <a:spcPts val="0"/>
              </a:spcAft>
            </a:pPr>
            <a:r>
              <a:rPr sz="1250" b="0">
                <a:solidFill>
                  <a:srgbClr val="F2F2F2"/>
                </a:solidFill>
                <a:latin typeface="Consolas"/>
                <a:ea typeface="Consolas"/>
                <a:cs typeface="Consolas"/>
              </a:rPr>
              <a:t>UNDOTBS1                 380</a:t>
            </a:r>
          </a:p>
        </p:txBody>
      </p:sp>
    </p:spTree>
    <p:extLst>
      <p:ext uri="{BB962C8B-B14F-4D97-AF65-F5344CB8AC3E}">
        <p14:creationId xmlns:p14="http://schemas.microsoft.com/office/powerpoint/2010/main" val="3714974771"/>
      </p:ext>
    </p:extLst>
  </p:cSld>
  <p:clrMapOvr>
    <a:masterClrMapping/>
  </p:clrMapOvr>
</p:sld>
</file>

<file path=ppt/slides/slide7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UNDO_RETENTION vs RETENTION GUARANTEE</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ea typeface="맑은 고딕"/>
                <a:cs typeface="맑은 고딕"/>
              </a:rPr>
              <a:t>둘 중 무엇을 희생할 것인가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UNDO_RETENTION: 커밋된 Undo를 최소 N초 보존하려는 '목표'</a:t>
            </a:r>
          </a:p>
          <a:p>
            <a:pPr algn="l">
              <a:spcAft>
                <a:spcPts val="800"/>
              </a:spcAft>
            </a:pPr>
            <a:r>
              <a:rPr sz="1700" b="0">
                <a:solidFill>
                  <a:srgbClr val="222222"/>
                </a:solidFill>
                <a:latin typeface="맑은 고딕"/>
                <a:ea typeface="맑은 고딕"/>
                <a:cs typeface="맑은 고딕"/>
              </a:rPr>
              <a:t>•  NOGUARANTEE: 공간 부족 시 보존 안 지나도 덮어씀 → 긴 조회 ORA-01555</a:t>
            </a:r>
          </a:p>
          <a:p>
            <a:pPr algn="l">
              <a:spcAft>
                <a:spcPts val="800"/>
              </a:spcAft>
            </a:pPr>
            <a:r>
              <a:rPr sz="1700" b="0">
                <a:solidFill>
                  <a:srgbClr val="222222"/>
                </a:solidFill>
                <a:latin typeface="맑은 고딕"/>
                <a:ea typeface="맑은 고딕"/>
                <a:cs typeface="맑은 고딕"/>
              </a:rPr>
              <a:t>•  GUARANTEE: 보존 시간 내 Undo 절대 안 덮어씀 → 대신 DML ORA-30036</a:t>
            </a:r>
          </a:p>
          <a:p>
            <a:pPr algn="l">
              <a:spcAft>
                <a:spcPts val="800"/>
              </a:spcAft>
            </a:pPr>
            <a:r>
              <a:rPr sz="1700" b="0">
                <a:solidFill>
                  <a:srgbClr val="222222"/>
                </a:solidFill>
                <a:latin typeface="맑은 고딕"/>
                <a:ea typeface="맑은 고딕"/>
                <a:cs typeface="맑은 고딕"/>
              </a:rPr>
              <a:t>•  오래 도는 리포트 필수 완주 → GUARANTEE</a:t>
            </a:r>
          </a:p>
          <a:p>
            <a:pPr algn="l">
              <a:spcAft>
                <a:spcPts val="800"/>
              </a:spcAft>
            </a:pPr>
            <a:r>
              <a:rPr sz="1700" b="0">
                <a:solidFill>
                  <a:srgbClr val="222222"/>
                </a:solidFill>
                <a:latin typeface="맑은 고딕"/>
                <a:ea typeface="맑은 고딕"/>
                <a:cs typeface="맑은 고딕"/>
              </a:rPr>
              <a:t>•  DML 가용성 최우선 → NOGUARANTEE</a:t>
            </a:r>
          </a:p>
        </p:txBody>
      </p:sp>
    </p:spTree>
    <p:extLst>
      <p:ext uri="{BB962C8B-B14F-4D97-AF65-F5344CB8AC3E}">
        <p14:creationId xmlns:p14="http://schemas.microsoft.com/office/powerpoint/2010/main" val="1580354147"/>
      </p:ext>
    </p:extLst>
  </p:cSld>
  <p:clrMapOvr>
    <a:masterClrMapping/>
  </p:clrMapOvr>
</p:sld>
</file>

<file path=ppt/slides/slide7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ORA-01555 snapshot too old의 메커니즘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ea typeface="맑은 고딕"/>
                <a:cs typeface="맑은 고딕"/>
              </a:rPr>
              <a:t>조회 길이·동시 변경량·Undo 공간의 함수</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긴 조회 A는 시작 시점의 일관된 스냅샷을 봐야 한다</a:t>
            </a:r>
          </a:p>
          <a:p>
            <a:pPr algn="l">
              <a:spcAft>
                <a:spcPts val="800"/>
              </a:spcAft>
            </a:pPr>
            <a:r>
              <a:rPr sz="1700" b="0">
                <a:solidFill>
                  <a:srgbClr val="222222"/>
                </a:solidFill>
                <a:latin typeface="맑은 고딕"/>
                <a:ea typeface="맑은 고딕"/>
                <a:cs typeface="맑은 고딕"/>
              </a:rPr>
              <a:t>•  그 사이 다른 세션이 같은 데이터를 바꾸고 커밋</a:t>
            </a:r>
          </a:p>
          <a:p>
            <a:pPr algn="l">
              <a:spcAft>
                <a:spcPts val="800"/>
              </a:spcAft>
            </a:pPr>
            <a:r>
              <a:rPr sz="1700" b="0">
                <a:solidFill>
                  <a:srgbClr val="222222"/>
                </a:solidFill>
                <a:latin typeface="맑은 고딕"/>
                <a:ea typeface="맑은 고딕"/>
                <a:cs typeface="맑은 고딕"/>
              </a:rPr>
              <a:t>•  Undo 공간 부족 → 시작 시점 과거 이미지가 덮어써짐</a:t>
            </a:r>
          </a:p>
          <a:p>
            <a:pPr algn="l">
              <a:spcAft>
                <a:spcPts val="800"/>
              </a:spcAft>
            </a:pPr>
            <a:r>
              <a:rPr sz="1700" b="0">
                <a:solidFill>
                  <a:srgbClr val="222222"/>
                </a:solidFill>
                <a:latin typeface="맑은 고딕"/>
                <a:ea typeface="맑은 고딕"/>
                <a:cs typeface="맑은 고딕"/>
              </a:rPr>
              <a:t>•  A가 그 블록에 도달 → '과거 이미지 없음' → ORA-01555</a:t>
            </a:r>
          </a:p>
          <a:p>
            <a:pPr algn="l">
              <a:spcAft>
                <a:spcPts val="800"/>
              </a:spcAft>
            </a:pPr>
            <a:r>
              <a:rPr sz="1700" b="0">
                <a:solidFill>
                  <a:srgbClr val="222222"/>
                </a:solidFill>
                <a:latin typeface="맑은 고딕"/>
                <a:ea typeface="맑은 고딕"/>
                <a:cs typeface="맑은 고딕"/>
              </a:rPr>
              <a:t>•  조치: Undo 확장 / UNDO_RETENTION↑ / RETENTION GUARANTEE</a:t>
            </a:r>
          </a:p>
        </p:txBody>
      </p:sp>
    </p:spTree>
    <p:extLst>
      <p:ext uri="{BB962C8B-B14F-4D97-AF65-F5344CB8AC3E}">
        <p14:creationId xmlns:p14="http://schemas.microsoft.com/office/powerpoint/2010/main" val="496787248"/>
      </p:ext>
    </p:extLst>
  </p:cSld>
  <p:clrMapOvr>
    <a:masterClrMapping/>
  </p:clrMapOvr>
</p:sld>
</file>

<file path=ppt/slides/slide7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조치와 재확인 — V$UNDOSTAT로 판정</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ea typeface="맑은 고딕"/>
                <a:cs typeface="맑은 고딕"/>
              </a:rPr>
              <a:t>설정값과 실측 필요량을 비교한다</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tlCol="0" anchor="ctr"/>
          <a:lstStyle/>
          <a:p>
            <a:pPr algn="l">
              <a:spcAft>
                <a:spcPts val="0"/>
              </a:spcAft>
            </a:pPr>
            <a:r>
              <a:rPr sz="1250" b="0">
                <a:solidFill>
                  <a:srgbClr val="F2F2F2"/>
                </a:solidFill>
                <a:latin typeface="Consolas"/>
                <a:ea typeface="Consolas"/>
                <a:cs typeface="Consolas"/>
              </a:rPr>
              <a:t>-- 조치(개인 실습 환경 전용)</a:t>
            </a:r>
          </a:p>
          <a:p>
            <a:pPr algn="l">
              <a:spcAft>
                <a:spcPts val="0"/>
              </a:spcAft>
            </a:pPr>
            <a:r>
              <a:rPr sz="1250" b="0">
                <a:solidFill>
                  <a:srgbClr val="F2F2F2"/>
                </a:solidFill>
                <a:latin typeface="Consolas"/>
                <a:ea typeface="Consolas"/>
                <a:cs typeface="Consolas"/>
              </a:rPr>
              <a:t>SYS@orcl&gt; ALTER SYSTEM SET undo_retention=3600 SCOPE=BOTH;</a:t>
            </a:r>
          </a:p>
          <a:p>
            <a:pPr algn="l">
              <a:spcAft>
                <a:spcPts val="0"/>
              </a:spcAft>
            </a:pPr>
            <a:r>
              <a:rPr sz="1250" b="0">
                <a:solidFill>
                  <a:srgbClr val="F2F2F2"/>
                </a:solidFill>
                <a:latin typeface="Consolas"/>
                <a:ea typeface="Consolas"/>
                <a:cs typeface="Consolas"/>
              </a:rPr>
              <a:t>SYS@orcl&gt; ALTER TABLESPACE undotbs1 RETENTION GUARANTEE;</a:t>
            </a:r>
          </a:p>
          <a:p>
            <a:pPr algn="l">
              <a:spcAft>
                <a:spcPts val="0"/>
              </a:spcAft>
            </a:pPr>
            <a:r>
              <a:rPr sz="1250" b="0">
                <a:solidFill>
                  <a:srgbClr val="F2F2F2"/>
                </a:solidFill>
                <a:latin typeface="Consolas"/>
                <a:ea typeface="Consolas"/>
                <a:cs typeface="Consolas"/>
              </a:rPr>
              <a:t> </a:t>
            </a:r>
          </a:p>
          <a:p>
            <a:pPr algn="l">
              <a:spcAft>
                <a:spcPts val="0"/>
              </a:spcAft>
            </a:pPr>
            <a:r>
              <a:rPr sz="1250" b="0">
                <a:solidFill>
                  <a:srgbClr val="F2F2F2"/>
                </a:solidFill>
                <a:latin typeface="Consolas"/>
                <a:ea typeface="Consolas"/>
                <a:cs typeface="Consolas"/>
              </a:rPr>
              <a:t>-- 판정: 최장 조회 vs 보존, ORA-01555 발생 수</a:t>
            </a:r>
          </a:p>
          <a:p>
            <a:pPr algn="l">
              <a:spcAft>
                <a:spcPts val="0"/>
              </a:spcAft>
            </a:pPr>
            <a:r>
              <a:rPr sz="1250" b="0">
                <a:solidFill>
                  <a:srgbClr val="F2F2F2"/>
                </a:solidFill>
                <a:latin typeface="Consolas"/>
                <a:ea typeface="Consolas"/>
                <a:cs typeface="Consolas"/>
              </a:rPr>
              <a:t>SYS@orcl&gt; SELECT maxquerylen mql, tuned_undoretention tuned,</a:t>
            </a:r>
          </a:p>
          <a:p>
            <a:pPr algn="l">
              <a:spcAft>
                <a:spcPts val="0"/>
              </a:spcAft>
            </a:pPr>
            <a:r>
              <a:rPr sz="1250" b="0">
                <a:solidFill>
                  <a:srgbClr val="F2F2F2"/>
                </a:solidFill>
                <a:latin typeface="Consolas"/>
                <a:ea typeface="Consolas"/>
                <a:cs typeface="Consolas"/>
              </a:rPr>
              <a:t>  2         ssolderrcnt ora1555 FROM v$undostat</a:t>
            </a:r>
          </a:p>
          <a:p>
            <a:pPr algn="l">
              <a:spcAft>
                <a:spcPts val="0"/>
              </a:spcAft>
            </a:pPr>
            <a:r>
              <a:rPr sz="1250" b="0">
                <a:solidFill>
                  <a:srgbClr val="F2F2F2"/>
                </a:solidFill>
                <a:latin typeface="Consolas"/>
                <a:ea typeface="Consolas"/>
                <a:cs typeface="Consolas"/>
              </a:rPr>
              <a:t>  3       ORDER BY begin_time DESC FETCH FIRST 3 ROWS ONLY;</a:t>
            </a:r>
          </a:p>
          <a:p>
            <a:pPr algn="l">
              <a:spcAft>
                <a:spcPts val="0"/>
              </a:spcAft>
            </a:pPr>
            <a:r>
              <a:rPr sz="1250" b="0">
                <a:solidFill>
                  <a:srgbClr val="F2F2F2"/>
                </a:solidFill>
                <a:latin typeface="Consolas"/>
                <a:ea typeface="Consolas"/>
                <a:cs typeface="Consolas"/>
              </a:rPr>
              <a:t>  MQL      TUNED    ORA1555</a:t>
            </a:r>
          </a:p>
          <a:p>
            <a:pPr algn="l">
              <a:spcAft>
                <a:spcPts val="0"/>
              </a:spcAft>
            </a:pPr>
            <a:r>
              <a:rPr sz="1250" b="0">
                <a:solidFill>
                  <a:srgbClr val="F2F2F2"/>
                </a:solidFill>
                <a:latin typeface="Consolas"/>
                <a:ea typeface="Consolas"/>
                <a:cs typeface="Consolas"/>
              </a:rPr>
              <a:t>------- ---------- ----------</a:t>
            </a:r>
          </a:p>
          <a:p>
            <a:pPr algn="l">
              <a:spcAft>
                <a:spcPts val="0"/>
              </a:spcAft>
            </a:pPr>
            <a:r>
              <a:rPr sz="1250" b="0">
                <a:solidFill>
                  <a:srgbClr val="F2F2F2"/>
                </a:solidFill>
                <a:latin typeface="Consolas"/>
                <a:ea typeface="Consolas"/>
                <a:cs typeface="Consolas"/>
              </a:rPr>
              <a:t> &lt;환경값&gt;     &lt;환경값&gt;          0</a:t>
            </a:r>
          </a:p>
          <a:p>
            <a:pPr algn="l">
              <a:spcAft>
                <a:spcPts val="0"/>
              </a:spcAft>
            </a:pPr>
            <a:r>
              <a:rPr sz="1250" b="0">
                <a:solidFill>
                  <a:srgbClr val="F2F2F2"/>
                </a:solidFill>
                <a:latin typeface="Consolas"/>
                <a:ea typeface="Consolas"/>
                <a:cs typeface="Consolas"/>
              </a:rPr>
              <a:t>-- MAXQUERYLEN &gt; UNDO_RETENTION 이고 ORA1555&gt;0 이면 보존 부족</a:t>
            </a:r>
          </a:p>
        </p:txBody>
      </p:sp>
    </p:spTree>
    <p:extLst>
      <p:ext uri="{BB962C8B-B14F-4D97-AF65-F5344CB8AC3E}">
        <p14:creationId xmlns:p14="http://schemas.microsoft.com/office/powerpoint/2010/main" val="2391921849"/>
      </p:ext>
    </p:extLst>
  </p:cSld>
  <p:clrMapOvr>
    <a:masterClrMapping/>
  </p:clrMapOvr>
</p:sld>
</file>

<file path=ppt/slides/slide7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실무 시나리오 — 리포트만 죽는 ORA-01555</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ea typeface="맑은 고딕"/>
                <a:cs typeface="맑은 고딕"/>
              </a:rPr>
              <a:t>'특정 긴 조회만' 실패하면 Undo를 의심한다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상황: 월말 마감일 오전, 30분짜리 정산 리포트만 ORA-01555로 실패</a:t>
            </a:r>
          </a:p>
          <a:p>
            <a:pPr algn="l">
              <a:spcAft>
                <a:spcPts val="800"/>
              </a:spcAft>
            </a:pPr>
            <a:r>
              <a:rPr sz="1700" b="0">
                <a:solidFill>
                  <a:srgbClr val="222222"/>
                </a:solidFill>
                <a:latin typeface="맑은 고딕"/>
                <a:ea typeface="맑은 고딕"/>
                <a:cs typeface="맑은 고딕"/>
              </a:rPr>
              <a:t>•  진단: V$UNDOSTAT의 MAXQUERYLEN &gt; UNDO_RETENTION(15분), SSOLDERRCNT&gt;0</a:t>
            </a:r>
          </a:p>
          <a:p>
            <a:pPr algn="l">
              <a:spcAft>
                <a:spcPts val="800"/>
              </a:spcAft>
            </a:pPr>
            <a:r>
              <a:rPr sz="1700" b="0">
                <a:solidFill>
                  <a:srgbClr val="222222"/>
                </a:solidFill>
                <a:latin typeface="맑은 고딕"/>
                <a:ea typeface="맑은 고딕"/>
                <a:cs typeface="맑은 고딕"/>
              </a:rPr>
              <a:t>•  원인: 마감 트랜잭션이 Undo를 빠르게 순환 → 과거 이미지 덮어씀</a:t>
            </a:r>
          </a:p>
          <a:p>
            <a:pPr algn="l">
              <a:spcAft>
                <a:spcPts val="800"/>
              </a:spcAft>
            </a:pPr>
            <a:r>
              <a:rPr sz="1700" b="0">
                <a:solidFill>
                  <a:srgbClr val="222222"/>
                </a:solidFill>
                <a:latin typeface="맑은 고딕"/>
                <a:ea typeface="맑은 고딕"/>
                <a:cs typeface="맑은 고딕"/>
              </a:rPr>
              <a:t>•  판정: 조회 길이(30분) &gt; 보존(15분) → 전형적 ORA-01555, SQL 문제 아님</a:t>
            </a:r>
          </a:p>
          <a:p>
            <a:pPr algn="l">
              <a:spcAft>
                <a:spcPts val="800"/>
              </a:spcAft>
            </a:pPr>
            <a:r>
              <a:rPr sz="1700" b="0">
                <a:solidFill>
                  <a:srgbClr val="222222"/>
                </a:solidFill>
                <a:latin typeface="맑은 고딕"/>
                <a:ea typeface="맑은 고딕"/>
                <a:cs typeface="맑은 고딕"/>
              </a:rPr>
              <a:t>•  조치: UNDO_RETENTION 3600으로↑ + GUARANTEE(단, Undo 크기 확인)</a:t>
            </a:r>
          </a:p>
        </p:txBody>
      </p:sp>
    </p:spTree>
    <p:extLst>
      <p:ext uri="{BB962C8B-B14F-4D97-AF65-F5344CB8AC3E}">
        <p14:creationId xmlns:p14="http://schemas.microsoft.com/office/powerpoint/2010/main" val="2943958370"/>
      </p:ext>
    </p:extLst>
  </p:cSld>
  <p:clrMapOvr>
    <a:masterClrMapping/>
  </p:clrMapOvr>
</p:sld>
</file>

<file path=ppt/slides/slide7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707886"/>
          </a:xfrm>
          <a:prstGeom prst="rect">
            <a:avLst/>
          </a:prstGeom>
          <a:noFill/>
        </p:spPr>
        <p:txBody>
          <a:bodyPr wrap="square">
            <a:spAutoFit/>
          </a:bodyPr>
          <a:lstStyle/>
          <a:p>
            <a:pPr algn="l">
              <a:spcAft>
                <a:spcPts val="600"/>
              </a:spcAft>
            </a:pPr>
            <a:r>
              <a:rPr lang="en-US" sz="4000" b="1" dirty="0">
                <a:solidFill>
                  <a:srgbClr val="FFFFFF"/>
                </a:solidFill>
                <a:latin typeface="맑은 고딕"/>
                <a:ea typeface="맑은 고딕"/>
                <a:cs typeface="맑은 고딕"/>
              </a:rPr>
              <a:t>18</a:t>
            </a:r>
            <a:r>
              <a:rPr sz="4000" b="1" dirty="0">
                <a:solidFill>
                  <a:srgbClr val="FFFFFF"/>
                </a:solidFill>
                <a:latin typeface="맑은 고딕"/>
                <a:ea typeface="맑은 고딕"/>
                <a:cs typeface="맑은 고딕"/>
              </a:rPr>
              <a:t>.5</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ea typeface="맑은 고딕"/>
                <a:cs typeface="맑은 고딕"/>
              </a:rPr>
              <a:t>임시 테이블스페이스와 ORA-01652</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600"/>
              </a:spcAft>
            </a:pPr>
            <a:r>
              <a:rPr sz="1600" b="0">
                <a:solidFill>
                  <a:srgbClr val="FFFFFF"/>
                </a:solidFill>
                <a:latin typeface="맑은 고딕"/>
                <a:ea typeface="맑은 고딕"/>
                <a:cs typeface="맑은 고딕"/>
              </a:rPr>
              <a:t>•  정렬·해시·GTT가 흘러넘치는 곳</a:t>
            </a:r>
          </a:p>
          <a:p>
            <a:pPr algn="l">
              <a:spcAft>
                <a:spcPts val="600"/>
              </a:spcAft>
            </a:pPr>
            <a:r>
              <a:rPr sz="1600" b="0">
                <a:solidFill>
                  <a:srgbClr val="FFFFFF"/>
                </a:solidFill>
                <a:latin typeface="맑은 고딕"/>
                <a:ea typeface="맑은 고딕"/>
                <a:cs typeface="맑은 고딕"/>
              </a:rPr>
              <a:t>•  오류 메시지의 TS 이름이 진단의 절반</a:t>
            </a:r>
          </a:p>
          <a:p>
            <a:pPr algn="l">
              <a:spcAft>
                <a:spcPts val="600"/>
              </a:spcAft>
            </a:pPr>
            <a:r>
              <a:rPr sz="1600" b="0">
                <a:solidFill>
                  <a:srgbClr val="FFFFFF"/>
                </a:solidFill>
                <a:latin typeface="맑은 고딕"/>
                <a:ea typeface="맑은 고딕"/>
                <a:cs typeface="맑은 고딕"/>
              </a:rPr>
              <a:t>•  Undo가 아니라 Temp를 본다</a:t>
            </a:r>
          </a:p>
        </p:txBody>
      </p:sp>
    </p:spTree>
    <p:extLst>
      <p:ext uri="{BB962C8B-B14F-4D97-AF65-F5344CB8AC3E}">
        <p14:creationId xmlns:p14="http://schemas.microsoft.com/office/powerpoint/2010/main" val="2767466738"/>
      </p:ext>
    </p:extLst>
  </p:cSld>
  <p:clrMapOvr>
    <a:masterClrMapping/>
  </p:clrMapOvr>
</p:sld>
</file>

<file path=ppt/slides/slide7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임시 테이블스페이스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ea typeface="맑은 고딕"/>
                <a:cs typeface="맑은 고딕"/>
              </a:rPr>
              <a:t>메모리에 안 담기는 작업을 디스크로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정렬(ORDER BY·GROUP BY·인덱스 생성)·해시 조인·전역 임시 테이블</a:t>
            </a:r>
          </a:p>
          <a:p>
            <a:pPr algn="l">
              <a:spcAft>
                <a:spcPts val="800"/>
              </a:spcAft>
            </a:pPr>
            <a:r>
              <a:rPr sz="1700" b="0">
                <a:solidFill>
                  <a:srgbClr val="222222"/>
                </a:solidFill>
                <a:latin typeface="맑은 고딕"/>
                <a:ea typeface="맑은 고딕"/>
                <a:cs typeface="맑은 고딕"/>
              </a:rPr>
              <a:t>•  PGA 작업영역 초과 시 임시 TS로 스필(1-pass/multi-pass, ch33)</a:t>
            </a:r>
          </a:p>
          <a:p>
            <a:pPr algn="l">
              <a:spcAft>
                <a:spcPts val="800"/>
              </a:spcAft>
            </a:pPr>
            <a:r>
              <a:rPr sz="1700" b="0">
                <a:solidFill>
                  <a:srgbClr val="222222"/>
                </a:solidFill>
                <a:latin typeface="맑은 고딕"/>
                <a:ea typeface="맑은 고딕"/>
                <a:cs typeface="맑은 고딕"/>
              </a:rPr>
              <a:t>•  권장: 로컬 관리 + UNIFORM 익스텐트 1MB</a:t>
            </a:r>
          </a:p>
          <a:p>
            <a:pPr algn="l">
              <a:spcAft>
                <a:spcPts val="800"/>
              </a:spcAft>
            </a:pPr>
            <a:r>
              <a:rPr sz="1700" b="0">
                <a:solidFill>
                  <a:srgbClr val="222222"/>
                </a:solidFill>
                <a:latin typeface="맑은 고딕"/>
                <a:ea typeface="맑은 고딕"/>
                <a:cs typeface="맑은 고딕"/>
              </a:rPr>
              <a:t>•  동시 GTT 다수 → 익스텐트 256K로 작게 / 큰 정렬 → 1MB</a:t>
            </a:r>
          </a:p>
          <a:p>
            <a:pPr algn="l">
              <a:spcAft>
                <a:spcPts val="800"/>
              </a:spcAft>
            </a:pPr>
            <a:r>
              <a:rPr sz="1700" b="0">
                <a:solidFill>
                  <a:srgbClr val="222222"/>
                </a:solidFill>
                <a:latin typeface="맑은 고딕"/>
                <a:ea typeface="맑은 고딕"/>
                <a:cs typeface="맑은 고딕"/>
              </a:rPr>
              <a:t>•  실측 TEMP = 20MB (대량 정렬엔 부족)</a:t>
            </a:r>
          </a:p>
        </p:txBody>
      </p:sp>
    </p:spTree>
    <p:extLst>
      <p:ext uri="{BB962C8B-B14F-4D97-AF65-F5344CB8AC3E}">
        <p14:creationId xmlns:p14="http://schemas.microsoft.com/office/powerpoint/2010/main" val="139978828"/>
      </p:ext>
    </p:extLst>
  </p:cSld>
  <p:clrMapOvr>
    <a:masterClrMapping/>
  </p:clrMapOvr>
</p:sld>
</file>

<file path=ppt/slides/slide7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ORA-01652 판별 — Temp인가 SQL인가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ea typeface="맑은 고딕"/>
                <a:cs typeface="맑은 고딕"/>
              </a:rPr>
              <a:t>두 가지 오인을 피한다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오인①: 데이터 TS 부족으로 착각 → 메시지 끝 TS 이름을 반드시 확인</a:t>
            </a:r>
          </a:p>
          <a:p>
            <a:pPr algn="l">
              <a:spcAft>
                <a:spcPts val="800"/>
              </a:spcAft>
            </a:pPr>
            <a:r>
              <a:rPr sz="1700" b="0">
                <a:solidFill>
                  <a:srgbClr val="222222"/>
                </a:solidFill>
                <a:latin typeface="맑은 고딕"/>
                <a:ea typeface="맑은 고딕"/>
                <a:cs typeface="맑은 고딕"/>
              </a:rPr>
              <a:t>•  TEMP이면 임시 공간 / 업무 TS면 세그먼트 확장 실패(성격 다름)</a:t>
            </a:r>
          </a:p>
          <a:p>
            <a:pPr algn="l">
              <a:spcAft>
                <a:spcPts val="800"/>
              </a:spcAft>
            </a:pPr>
            <a:r>
              <a:rPr sz="1700" b="0">
                <a:solidFill>
                  <a:srgbClr val="222222"/>
                </a:solidFill>
                <a:latin typeface="맑은 고딕"/>
                <a:ea typeface="맑은 고딕"/>
                <a:cs typeface="맑은 고딕"/>
              </a:rPr>
              <a:t>•  오인②: SQL 튜닝으로만 해결하려 함</a:t>
            </a:r>
          </a:p>
          <a:p>
            <a:pPr algn="l">
              <a:spcAft>
                <a:spcPts val="800"/>
              </a:spcAft>
            </a:pPr>
            <a:r>
              <a:rPr sz="1700" b="0">
                <a:solidFill>
                  <a:srgbClr val="222222"/>
                </a:solidFill>
                <a:latin typeface="맑은 고딕"/>
                <a:ea typeface="맑은 고딕"/>
                <a:cs typeface="맑은 고딕"/>
              </a:rPr>
              <a:t>•  정렬이 업무상 정당하면 → 구성(TEMP 확장)이 정답</a:t>
            </a:r>
          </a:p>
          <a:p>
            <a:pPr algn="l">
              <a:spcAft>
                <a:spcPts val="800"/>
              </a:spcAft>
            </a:pPr>
            <a:r>
              <a:rPr sz="1700" b="0">
                <a:solidFill>
                  <a:srgbClr val="222222"/>
                </a:solidFill>
                <a:latin typeface="맑은 고딕"/>
                <a:ea typeface="맑은 고딕"/>
                <a:cs typeface="맑은 고딕"/>
              </a:rPr>
              <a:t>•  불필요한 정렬이면 → SQL(정렬 제거·인덱스 회피)</a:t>
            </a:r>
          </a:p>
        </p:txBody>
      </p:sp>
    </p:spTree>
    <p:extLst>
      <p:ext uri="{BB962C8B-B14F-4D97-AF65-F5344CB8AC3E}">
        <p14:creationId xmlns:p14="http://schemas.microsoft.com/office/powerpoint/2010/main" val="1705496516"/>
      </p:ext>
    </p:extLst>
  </p:cSld>
  <p:clrMapOvr>
    <a:masterClrMapping/>
  </p:clrMapOvr>
</p:sld>
</file>

<file path=ppt/slides/slide7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TEMP 확장과 원인 세션 지목</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ea typeface="맑은 고딕"/>
                <a:cs typeface="맑은 고딕"/>
              </a:rPr>
              <a:t>V$TEMPSEG_USAGE로 누가 삼켰는지 본다</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tlCol="0" anchor="ctr"/>
          <a:lstStyle/>
          <a:p>
            <a:pPr algn="l">
              <a:spcAft>
                <a:spcPts val="0"/>
              </a:spcAft>
            </a:pPr>
            <a:r>
              <a:rPr sz="1250" b="0">
                <a:solidFill>
                  <a:srgbClr val="F2F2F2"/>
                </a:solidFill>
                <a:latin typeface="Consolas"/>
                <a:ea typeface="Consolas"/>
                <a:cs typeface="Consolas"/>
              </a:rPr>
              <a:t>SYS@orcl&gt; SELECT tablespace_name, ROUND(SUM(bytes)/1024/1024) mb</a:t>
            </a:r>
          </a:p>
          <a:p>
            <a:pPr algn="l">
              <a:spcAft>
                <a:spcPts val="0"/>
              </a:spcAft>
            </a:pPr>
            <a:r>
              <a:rPr sz="1250" b="0">
                <a:solidFill>
                  <a:srgbClr val="F2F2F2"/>
                </a:solidFill>
                <a:latin typeface="Consolas"/>
                <a:ea typeface="Consolas"/>
                <a:cs typeface="Consolas"/>
              </a:rPr>
              <a:t>  2       FROM dba_temp_files GROUP BY tablespace_name;</a:t>
            </a:r>
          </a:p>
          <a:p>
            <a:pPr algn="l">
              <a:spcAft>
                <a:spcPts val="0"/>
              </a:spcAft>
            </a:pPr>
            <a:r>
              <a:rPr sz="1250" b="0">
                <a:solidFill>
                  <a:srgbClr val="F2F2F2"/>
                </a:solidFill>
                <a:latin typeface="Consolas"/>
                <a:ea typeface="Consolas"/>
                <a:cs typeface="Consolas"/>
              </a:rPr>
              <a:t>TABLESPACE_NAME          MB</a:t>
            </a:r>
          </a:p>
          <a:p>
            <a:pPr algn="l">
              <a:spcAft>
                <a:spcPts val="0"/>
              </a:spcAft>
            </a:pPr>
            <a:r>
              <a:rPr sz="1250" b="0">
                <a:solidFill>
                  <a:srgbClr val="F2F2F2"/>
                </a:solidFill>
                <a:latin typeface="Consolas"/>
                <a:ea typeface="Consolas"/>
                <a:cs typeface="Consolas"/>
              </a:rPr>
              <a:t>----------------- ----------</a:t>
            </a:r>
          </a:p>
          <a:p>
            <a:pPr algn="l">
              <a:spcAft>
                <a:spcPts val="0"/>
              </a:spcAft>
            </a:pPr>
            <a:r>
              <a:rPr sz="1250" b="0">
                <a:solidFill>
                  <a:srgbClr val="F2F2F2"/>
                </a:solidFill>
                <a:latin typeface="Consolas"/>
                <a:ea typeface="Consolas"/>
                <a:cs typeface="Consolas"/>
              </a:rPr>
              <a:t>TEMP                      20     &lt;- 확장 전</a:t>
            </a:r>
          </a:p>
          <a:p>
            <a:pPr algn="l">
              <a:spcAft>
                <a:spcPts val="0"/>
              </a:spcAft>
            </a:pPr>
            <a:r>
              <a:rPr sz="1250" b="0">
                <a:solidFill>
                  <a:srgbClr val="F2F2F2"/>
                </a:solidFill>
                <a:latin typeface="Consolas"/>
                <a:ea typeface="Consolas"/>
                <a:cs typeface="Consolas"/>
              </a:rPr>
              <a:t> </a:t>
            </a:r>
          </a:p>
          <a:p>
            <a:pPr algn="l">
              <a:spcAft>
                <a:spcPts val="0"/>
              </a:spcAft>
            </a:pPr>
            <a:r>
              <a:rPr sz="1250" b="0">
                <a:solidFill>
                  <a:srgbClr val="F2F2F2"/>
                </a:solidFill>
                <a:latin typeface="Consolas"/>
                <a:ea typeface="Consolas"/>
                <a:cs typeface="Consolas"/>
              </a:rPr>
              <a:t>-- 조치(개인 실습 환경 전용)</a:t>
            </a:r>
          </a:p>
          <a:p>
            <a:pPr algn="l">
              <a:spcAft>
                <a:spcPts val="0"/>
              </a:spcAft>
            </a:pPr>
            <a:r>
              <a:rPr sz="1250" b="0">
                <a:solidFill>
                  <a:srgbClr val="F2F2F2"/>
                </a:solidFill>
                <a:latin typeface="Consolas"/>
                <a:ea typeface="Consolas"/>
                <a:cs typeface="Consolas"/>
              </a:rPr>
              <a:t>SYS@orcl&gt; ALTER TABLESPACE temp ADD TEMPFILE</a:t>
            </a:r>
          </a:p>
          <a:p>
            <a:pPr algn="l">
              <a:spcAft>
                <a:spcPts val="0"/>
              </a:spcAft>
            </a:pPr>
            <a:r>
              <a:rPr sz="1250" b="0">
                <a:solidFill>
                  <a:srgbClr val="F2F2F2"/>
                </a:solidFill>
                <a:latin typeface="Consolas"/>
                <a:ea typeface="Consolas"/>
                <a:cs typeface="Consolas"/>
              </a:rPr>
              <a:t>  2   '.../temp02.dbf' SIZE 512M AUTOEXTEND ON NEXT 64M MAXSIZE 2G;</a:t>
            </a:r>
          </a:p>
          <a:p>
            <a:pPr algn="l">
              <a:spcAft>
                <a:spcPts val="0"/>
              </a:spcAft>
            </a:pPr>
            <a:r>
              <a:rPr sz="1250" b="0">
                <a:solidFill>
                  <a:srgbClr val="F2F2F2"/>
                </a:solidFill>
                <a:latin typeface="Consolas"/>
                <a:ea typeface="Consolas"/>
                <a:cs typeface="Consolas"/>
              </a:rPr>
              <a:t> </a:t>
            </a:r>
          </a:p>
          <a:p>
            <a:pPr algn="l">
              <a:spcAft>
                <a:spcPts val="0"/>
              </a:spcAft>
            </a:pPr>
            <a:r>
              <a:rPr sz="1250" b="0">
                <a:solidFill>
                  <a:srgbClr val="F2F2F2"/>
                </a:solidFill>
                <a:latin typeface="Consolas"/>
                <a:ea typeface="Consolas"/>
                <a:cs typeface="Consolas"/>
              </a:rPr>
              <a:t>-- 재확인 → TEMP 532MB. 원인 세션은 V$TEMPSEG_USAGE로 지목</a:t>
            </a:r>
          </a:p>
        </p:txBody>
      </p:sp>
    </p:spTree>
    <p:extLst>
      <p:ext uri="{BB962C8B-B14F-4D97-AF65-F5344CB8AC3E}">
        <p14:creationId xmlns:p14="http://schemas.microsoft.com/office/powerpoint/2010/main" val="1448972631"/>
      </p:ext>
    </p:extLst>
  </p:cSld>
  <p:clrMapOvr>
    <a:masterClrMapping/>
  </p:clrMapOvr>
</p:sld>
</file>

<file path=ppt/slides/slide7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707886"/>
          </a:xfrm>
          <a:prstGeom prst="rect">
            <a:avLst/>
          </a:prstGeom>
          <a:noFill/>
        </p:spPr>
        <p:txBody>
          <a:bodyPr wrap="square">
            <a:spAutoFit/>
          </a:bodyPr>
          <a:lstStyle/>
          <a:p>
            <a:pPr algn="l">
              <a:spcAft>
                <a:spcPts val="600"/>
              </a:spcAft>
            </a:pPr>
            <a:r>
              <a:rPr lang="en-US" sz="4000" b="1" dirty="0">
                <a:solidFill>
                  <a:srgbClr val="FFFFFF"/>
                </a:solidFill>
                <a:latin typeface="맑은 고딕"/>
                <a:ea typeface="맑은 고딕"/>
                <a:cs typeface="맑은 고딕"/>
              </a:rPr>
              <a:t>18</a:t>
            </a:r>
            <a:r>
              <a:rPr sz="4000" b="1" dirty="0">
                <a:solidFill>
                  <a:srgbClr val="FFFFFF"/>
                </a:solidFill>
                <a:latin typeface="맑은 고딕"/>
                <a:ea typeface="맑은 고딕"/>
                <a:cs typeface="맑은 고딕"/>
              </a:rPr>
              <a:t>.6</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ea typeface="맑은 고딕"/>
                <a:cs typeface="맑은 고딕"/>
              </a:rPr>
              <a:t>전용 서버와 공유 서버</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600"/>
              </a:spcAft>
            </a:pPr>
            <a:r>
              <a:rPr sz="1600" b="0">
                <a:solidFill>
                  <a:srgbClr val="FFFFFF"/>
                </a:solidFill>
                <a:latin typeface="맑은 고딕"/>
                <a:ea typeface="맑은 고딕"/>
                <a:cs typeface="맑은 고딕"/>
              </a:rPr>
              <a:t>•  서버 프로세스를 어떻게 배정하는가</a:t>
            </a:r>
          </a:p>
          <a:p>
            <a:pPr algn="l">
              <a:spcAft>
                <a:spcPts val="600"/>
              </a:spcAft>
            </a:pPr>
            <a:r>
              <a:rPr sz="1600" b="0">
                <a:solidFill>
                  <a:srgbClr val="FFFFFF"/>
                </a:solidFill>
                <a:latin typeface="맑은 고딕"/>
                <a:ea typeface="맑은 고딕"/>
                <a:cs typeface="맑은 고딕"/>
              </a:rPr>
              <a:t>•  전용=접속마다 프로세스 / 공유=디스패처로 다중</a:t>
            </a:r>
          </a:p>
          <a:p>
            <a:pPr algn="l">
              <a:spcAft>
                <a:spcPts val="600"/>
              </a:spcAft>
            </a:pPr>
            <a:r>
              <a:rPr sz="1600" b="0">
                <a:solidFill>
                  <a:srgbClr val="FFFFFF"/>
                </a:solidFill>
                <a:latin typeface="맑은 고딕"/>
                <a:ea typeface="맑은 고딕"/>
                <a:cs typeface="맑은 고딕"/>
              </a:rPr>
              <a:t>•  기본은 전용, 공유는 검토 대상</a:t>
            </a:r>
          </a:p>
        </p:txBody>
      </p:sp>
    </p:spTree>
    <p:extLst>
      <p:ext uri="{BB962C8B-B14F-4D97-AF65-F5344CB8AC3E}">
        <p14:creationId xmlns:p14="http://schemas.microsoft.com/office/powerpoint/2010/main" val="2989118438"/>
      </p:ext>
    </p:extLst>
  </p:cSld>
  <p:clrMapOvr>
    <a:masterClrMapping/>
  </p:clrMapOvr>
</p:sld>
</file>

<file path=ppt/slides/slide7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전용 vs 공유 — 구조의 차이</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ea typeface="맑은 고딕"/>
                <a:cs typeface="맑은 고딕"/>
              </a:rPr>
              <a:t>UGA 위치와 적합 워크로드가 갈린다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전용: 접속 수만큼 서버 프로세스 / UGA는 PGA</a:t>
            </a:r>
          </a:p>
          <a:p>
            <a:pPr algn="l">
              <a:spcAft>
                <a:spcPts val="800"/>
              </a:spcAft>
            </a:pPr>
            <a:r>
              <a:rPr sz="1700" b="0">
                <a:solidFill>
                  <a:srgbClr val="222222"/>
                </a:solidFill>
                <a:latin typeface="맑은 고딕"/>
                <a:ea typeface="맑은 고딕"/>
                <a:cs typeface="맑은 고딕"/>
              </a:rPr>
              <a:t>•  공유: 소수 공유 서버+디스패처 / UGA는 SGA(라지 풀)</a:t>
            </a:r>
          </a:p>
          <a:p>
            <a:pPr algn="l">
              <a:spcAft>
                <a:spcPts val="800"/>
              </a:spcAft>
            </a:pPr>
            <a:r>
              <a:rPr sz="1700" b="0">
                <a:solidFill>
                  <a:srgbClr val="222222"/>
                </a:solidFill>
                <a:latin typeface="맑은 고딕"/>
                <a:ea typeface="맑은 고딕"/>
                <a:cs typeface="맑은 고딕"/>
              </a:rPr>
              <a:t>•  공유 이점: 프로세스·메모리 절감, 고접속률에 유리</a:t>
            </a:r>
          </a:p>
          <a:p>
            <a:pPr algn="l">
              <a:spcAft>
                <a:spcPts val="800"/>
              </a:spcAft>
            </a:pPr>
            <a:r>
              <a:rPr sz="1700" b="0">
                <a:solidFill>
                  <a:srgbClr val="222222"/>
                </a:solidFill>
                <a:latin typeface="맑은 고딕"/>
                <a:ea typeface="맑은 고딕"/>
                <a:cs typeface="맑은 고딕"/>
              </a:rPr>
              <a:t>•  공유 약점: 병렬 실행 중 세션 묶임, 장시간 작업 부적합</a:t>
            </a:r>
          </a:p>
          <a:p>
            <a:pPr algn="l">
              <a:spcAft>
                <a:spcPts val="800"/>
              </a:spcAft>
            </a:pPr>
            <a:r>
              <a:rPr sz="1700" b="0">
                <a:solidFill>
                  <a:srgbClr val="222222"/>
                </a:solidFill>
                <a:latin typeface="맑은 고딕"/>
                <a:ea typeface="맑은 고딕"/>
                <a:cs typeface="맑은 고딕"/>
              </a:rPr>
              <a:t>•  기본은 전용 / 간헐 OLTP 다수 접속 → 공유 검토</a:t>
            </a:r>
          </a:p>
        </p:txBody>
      </p:sp>
    </p:spTree>
    <p:extLst>
      <p:ext uri="{BB962C8B-B14F-4D97-AF65-F5344CB8AC3E}">
        <p14:creationId xmlns:p14="http://schemas.microsoft.com/office/powerpoint/2010/main" val="2959180983"/>
      </p:ext>
    </p:extLst>
  </p:cSld>
  <p:clrMapOvr>
    <a:masterClrMapping/>
  </p:clrMapOvr>
</p:sld>
</file>

<file path=ppt/slides/slide7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접속 비용과 사전 생성 프로세스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ea typeface="맑은 고딕"/>
                <a:cs typeface="맑은 고딕"/>
              </a:rPr>
              <a:t>접속 방식은 어떻게 확인하나</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전용은 접속마다 프로세스를 순차 초기화 → 고접속률에 비용</a:t>
            </a:r>
          </a:p>
          <a:p>
            <a:pPr algn="l">
              <a:spcAft>
                <a:spcPts val="800"/>
              </a:spcAft>
            </a:pPr>
            <a:r>
              <a:rPr sz="1700" b="0">
                <a:solidFill>
                  <a:srgbClr val="222222"/>
                </a:solidFill>
                <a:latin typeface="맑은 고딕"/>
                <a:ea typeface="맑은 고딕"/>
                <a:cs typeface="맑은 고딕"/>
              </a:rPr>
              <a:t>•  공유는 디스패처가 대기하다 동시 접속 요청을 바로 받음</a:t>
            </a:r>
          </a:p>
          <a:p>
            <a:pPr algn="l">
              <a:spcAft>
                <a:spcPts val="800"/>
              </a:spcAft>
            </a:pPr>
            <a:r>
              <a:rPr sz="1700" b="0">
                <a:solidFill>
                  <a:srgbClr val="222222"/>
                </a:solidFill>
                <a:latin typeface="맑은 고딕"/>
                <a:ea typeface="맑은 고딕"/>
                <a:cs typeface="맑은 고딕"/>
              </a:rPr>
              <a:t>•  V$SESSION.SERVER: DEDICATED / SHARED / NONE / POOLED</a:t>
            </a:r>
          </a:p>
          <a:p>
            <a:pPr algn="l">
              <a:spcAft>
                <a:spcPts val="800"/>
              </a:spcAft>
            </a:pPr>
            <a:r>
              <a:rPr sz="1700" b="0">
                <a:solidFill>
                  <a:srgbClr val="222222"/>
                </a:solidFill>
                <a:latin typeface="맑은 고딕"/>
                <a:ea typeface="맑은 고딕"/>
                <a:cs typeface="맑은 고딕"/>
              </a:rPr>
              <a:t>•  19c 사전 생성 프로세스: dedicated broker·threaded 모드</a:t>
            </a:r>
          </a:p>
          <a:p>
            <a:pPr algn="l">
              <a:spcAft>
                <a:spcPts val="800"/>
              </a:spcAft>
            </a:pPr>
            <a:r>
              <a:rPr sz="1700" b="0">
                <a:solidFill>
                  <a:srgbClr val="222222"/>
                </a:solidFill>
                <a:latin typeface="맑은 고딕"/>
                <a:ea typeface="맑은 고딕"/>
                <a:cs typeface="맑은 고딕"/>
              </a:rPr>
              <a:t>•  V$PROCESS_POOL로 관찰, DBMS_PROCESS로 관리</a:t>
            </a:r>
          </a:p>
        </p:txBody>
      </p:sp>
    </p:spTree>
    <p:extLst>
      <p:ext uri="{BB962C8B-B14F-4D97-AF65-F5344CB8AC3E}">
        <p14:creationId xmlns:p14="http://schemas.microsoft.com/office/powerpoint/2010/main" val="3575077758"/>
      </p:ext>
    </p:extLst>
  </p:cSld>
  <p:clrMapOvr>
    <a:masterClrMapping/>
  </p:clrMapOvr>
</p:sld>
</file>

<file path=ppt/slides/slide7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공유 서버 경합 진단과 완화</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ea typeface="맑은 고딕"/>
                <a:cs typeface="맑은 고딕"/>
              </a:rPr>
              <a:t>프로세스를 늘리기 전에 있는 자원을 촘촘히</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V$DISPATCHER_RATE: CUR_ vs AVG_ vs MAX_ 비교</a:t>
            </a:r>
          </a:p>
          <a:p>
            <a:pPr algn="l">
              <a:spcAft>
                <a:spcPts val="800"/>
              </a:spcAft>
            </a:pPr>
            <a:r>
              <a:rPr sz="1700" b="0">
                <a:solidFill>
                  <a:srgbClr val="222222"/>
                </a:solidFill>
                <a:latin typeface="맑은 고딕"/>
                <a:ea typeface="맑은 고딕"/>
                <a:cs typeface="맑은 고딕"/>
              </a:rPr>
              <a:t>•  현재값이 MAX 근처 → 디스패처 추가 / 한참 낮으면 과다</a:t>
            </a:r>
          </a:p>
          <a:p>
            <a:pPr algn="l">
              <a:spcAft>
                <a:spcPts val="800"/>
              </a:spcAft>
            </a:pPr>
            <a:r>
              <a:rPr sz="1700" b="0">
                <a:solidFill>
                  <a:srgbClr val="222222"/>
                </a:solidFill>
                <a:latin typeface="맑은 고딕"/>
                <a:ea typeface="맑은 고딕"/>
                <a:cs typeface="맑은 고딕"/>
              </a:rPr>
              <a:t>•  V$QUEUE: 요청 큐 대기 꾸준히 증가 → 공유 서버 경합</a:t>
            </a:r>
          </a:p>
          <a:p>
            <a:pPr algn="l">
              <a:spcAft>
                <a:spcPts val="800"/>
              </a:spcAft>
            </a:pPr>
            <a:r>
              <a:rPr sz="1700" b="0">
                <a:solidFill>
                  <a:srgbClr val="222222"/>
                </a:solidFill>
                <a:latin typeface="맑은 고딕"/>
                <a:ea typeface="맑은 고딕"/>
                <a:cs typeface="맑은 고딕"/>
              </a:rPr>
              <a:t>•  V$SHARED_SERVER: STATUS!='QUIT'로 현재 서버 수</a:t>
            </a:r>
          </a:p>
          <a:p>
            <a:pPr algn="l">
              <a:spcAft>
                <a:spcPts val="800"/>
              </a:spcAft>
            </a:pPr>
            <a:r>
              <a:rPr sz="1700" b="0">
                <a:solidFill>
                  <a:srgbClr val="222222"/>
                </a:solidFill>
                <a:latin typeface="맑은 고딕"/>
                <a:ea typeface="맑은 고딕"/>
                <a:cs typeface="맑은 고딕"/>
              </a:rPr>
              <a:t>•  완화: 디스패처 추가 / 접속 풀링 / 세션 다중화</a:t>
            </a:r>
          </a:p>
        </p:txBody>
      </p:sp>
    </p:spTree>
    <p:extLst>
      <p:ext uri="{BB962C8B-B14F-4D97-AF65-F5344CB8AC3E}">
        <p14:creationId xmlns:p14="http://schemas.microsoft.com/office/powerpoint/2010/main" val="2844877517"/>
      </p:ext>
    </p:extLst>
  </p:cSld>
  <p:clrMapOvr>
    <a:masterClrMapping/>
  </p:clrMapOvr>
</p:sld>
</file>

<file path=ppt/slides/slide7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707886"/>
          </a:xfrm>
          <a:prstGeom prst="rect">
            <a:avLst/>
          </a:prstGeom>
          <a:noFill/>
        </p:spPr>
        <p:txBody>
          <a:bodyPr wrap="square">
            <a:spAutoFit/>
          </a:bodyPr>
          <a:lstStyle/>
          <a:p>
            <a:pPr algn="l">
              <a:spcAft>
                <a:spcPts val="600"/>
              </a:spcAft>
            </a:pPr>
            <a:r>
              <a:rPr lang="en-US" sz="4000" b="1" dirty="0">
                <a:solidFill>
                  <a:srgbClr val="FFFFFF"/>
                </a:solidFill>
                <a:latin typeface="맑은 고딕"/>
                <a:ea typeface="맑은 고딕"/>
                <a:cs typeface="맑은 고딕"/>
              </a:rPr>
              <a:t>18</a:t>
            </a:r>
            <a:r>
              <a:rPr sz="4000" b="1" dirty="0">
                <a:solidFill>
                  <a:srgbClr val="FFFFFF"/>
                </a:solidFill>
                <a:latin typeface="맑은 고딕"/>
                <a:ea typeface="맑은 고딕"/>
                <a:cs typeface="맑은 고딕"/>
              </a:rPr>
              <a:t>.7</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ea typeface="맑은 고딕"/>
                <a:cs typeface="맑은 고딕"/>
              </a:rPr>
              <a:t>블록 크기와 행 이주</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600"/>
              </a:spcAft>
            </a:pPr>
            <a:r>
              <a:rPr sz="1600" b="0">
                <a:solidFill>
                  <a:srgbClr val="FFFFFF"/>
                </a:solidFill>
                <a:latin typeface="맑은 고딕"/>
                <a:ea typeface="맑은 고딕"/>
                <a:cs typeface="맑은 고딕"/>
              </a:rPr>
              <a:t>•  블록 크기 = I/O 효율과 동시성의 균형</a:t>
            </a:r>
          </a:p>
          <a:p>
            <a:pPr algn="l">
              <a:spcAft>
                <a:spcPts val="600"/>
              </a:spcAft>
            </a:pPr>
            <a:r>
              <a:rPr sz="1600" b="0">
                <a:solidFill>
                  <a:srgbClr val="FFFFFF"/>
                </a:solidFill>
                <a:latin typeface="맑은 고딕"/>
                <a:ea typeface="맑은 고딕"/>
                <a:cs typeface="맑은 고딕"/>
              </a:rPr>
              <a:t>•  이주는 UPDATE로 커진 행이 옮겨지는 것</a:t>
            </a:r>
          </a:p>
          <a:p>
            <a:pPr algn="l">
              <a:spcAft>
                <a:spcPts val="600"/>
              </a:spcAft>
            </a:pPr>
            <a:r>
              <a:rPr sz="1600" b="0">
                <a:solidFill>
                  <a:srgbClr val="FFFFFF"/>
                </a:solidFill>
                <a:latin typeface="맑은 고딕"/>
                <a:ea typeface="맑은 고딕"/>
                <a:cs typeface="맑은 고딕"/>
              </a:rPr>
              <a:t>•  이주와 체이닝의 근본 해법은 다르다</a:t>
            </a:r>
          </a:p>
        </p:txBody>
      </p:sp>
    </p:spTree>
    <p:extLst>
      <p:ext uri="{BB962C8B-B14F-4D97-AF65-F5344CB8AC3E}">
        <p14:creationId xmlns:p14="http://schemas.microsoft.com/office/powerpoint/2010/main" val="2290812486"/>
      </p:ext>
    </p:extLst>
  </p:cSld>
  <p:clrMapOvr>
    <a:masterClrMapping/>
  </p:clrMapOvr>
</p:sld>
</file>

<file path=ppt/slides/slide7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DB_BLOCK_SIZE와 성능</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ea typeface="맑은 고딕"/>
                <a:cs typeface="맑은 고딕"/>
              </a:rPr>
              <a:t>실측 8192 — OLTP의 표준값</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큰 블록: 한 I/O로 많이 읽음 → DW 대량 스캔 유리</a:t>
            </a:r>
          </a:p>
          <a:p>
            <a:pPr algn="l">
              <a:spcAft>
                <a:spcPts val="800"/>
              </a:spcAft>
            </a:pPr>
            <a:r>
              <a:rPr sz="1700" b="0">
                <a:solidFill>
                  <a:srgbClr val="222222"/>
                </a:solidFill>
                <a:latin typeface="맑은 고딕"/>
                <a:ea typeface="맑은 고딕"/>
                <a:cs typeface="맑은 고딕"/>
              </a:rPr>
              <a:t>•  큰 블록의 대가: 한 블록에 행 몰림 → buffer busy 경합↑</a:t>
            </a:r>
          </a:p>
          <a:p>
            <a:pPr algn="l">
              <a:spcAft>
                <a:spcPts val="800"/>
              </a:spcAft>
            </a:pPr>
            <a:r>
              <a:rPr sz="1700" b="0">
                <a:solidFill>
                  <a:srgbClr val="222222"/>
                </a:solidFill>
                <a:latin typeface="맑은 고딕"/>
                <a:ea typeface="맑은 고딕"/>
                <a:cs typeface="맑은 고딕"/>
              </a:rPr>
              <a:t>•  OLTP 8KB는 I/O 효율과 동시성의 균형점</a:t>
            </a:r>
          </a:p>
          <a:p>
            <a:pPr algn="l">
              <a:spcAft>
                <a:spcPts val="800"/>
              </a:spcAft>
            </a:pPr>
            <a:r>
              <a:rPr sz="1700" b="0">
                <a:solidFill>
                  <a:srgbClr val="222222"/>
                </a:solidFill>
                <a:latin typeface="맑은 고딕"/>
                <a:ea typeface="맑은 고딕"/>
                <a:cs typeface="맑은 고딕"/>
              </a:rPr>
              <a:t>•  블록 크기는 DB 생성 시 결정, SYSTEM은 변경 불가</a:t>
            </a:r>
          </a:p>
          <a:p>
            <a:pPr algn="l">
              <a:spcAft>
                <a:spcPts val="800"/>
              </a:spcAft>
            </a:pPr>
            <a:r>
              <a:rPr sz="1700" b="0">
                <a:solidFill>
                  <a:srgbClr val="222222"/>
                </a:solidFill>
                <a:latin typeface="맑은 고딕"/>
                <a:ea typeface="맑은 고딕"/>
                <a:cs typeface="맑은 고딕"/>
              </a:rPr>
              <a:t>•  DB_nK_CACHE_SIZE로 비표준 블록 TS 추가 가능</a:t>
            </a:r>
          </a:p>
        </p:txBody>
      </p:sp>
    </p:spTree>
    <p:extLst>
      <p:ext uri="{BB962C8B-B14F-4D97-AF65-F5344CB8AC3E}">
        <p14:creationId xmlns:p14="http://schemas.microsoft.com/office/powerpoint/2010/main" val="3958316442"/>
      </p:ext>
    </p:extLst>
  </p:cSld>
  <p:clrMapOvr>
    <a:masterClrMapping/>
  </p:clrMapOvr>
</p:sld>
</file>

<file path=ppt/slides/slide7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PCTFREE — 이주를 막는 예약 공간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ea typeface="맑은 고딕"/>
                <a:cs typeface="맑은 고딕"/>
              </a:rPr>
              <a:t>블록에 UPDATE 여유를 남긴다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PCTFREE: 블록의 몇 %를 삽입에 안 쓰고 남겨 둔다</a:t>
            </a:r>
          </a:p>
          <a:p>
            <a:pPr algn="l">
              <a:spcAft>
                <a:spcPts val="800"/>
              </a:spcAft>
            </a:pPr>
            <a:r>
              <a:rPr sz="1700" b="0">
                <a:solidFill>
                  <a:srgbClr val="222222"/>
                </a:solidFill>
                <a:latin typeface="맑은 고딕"/>
                <a:ea typeface="맑은 고딕"/>
                <a:cs typeface="맑은 고딕"/>
              </a:rPr>
              <a:t>•  UPDATE로 행이 커질 여지 → 이주 예방</a:t>
            </a:r>
          </a:p>
          <a:p>
            <a:pPr algn="l">
              <a:spcAft>
                <a:spcPts val="800"/>
              </a:spcAft>
            </a:pPr>
            <a:r>
              <a:rPr sz="1700" b="0">
                <a:solidFill>
                  <a:srgbClr val="222222"/>
                </a:solidFill>
                <a:latin typeface="맑은 고딕"/>
                <a:ea typeface="맑은 고딕"/>
                <a:cs typeface="맑은 고딕"/>
              </a:rPr>
              <a:t>•  UPDATE 잦고 행이 커지는 테이블 → PCTFREE 높게(20~30)</a:t>
            </a:r>
          </a:p>
          <a:p>
            <a:pPr algn="l">
              <a:spcAft>
                <a:spcPts val="800"/>
              </a:spcAft>
            </a:pPr>
            <a:r>
              <a:rPr sz="1700" b="0">
                <a:solidFill>
                  <a:srgbClr val="222222"/>
                </a:solidFill>
                <a:latin typeface="맑은 고딕"/>
                <a:ea typeface="맑은 고딕"/>
                <a:cs typeface="맑은 고딕"/>
              </a:rPr>
              <a:t>•  INSERT만·갱신 거의 없음 → PCTFREE 낮게(5~10)로 빽빽이</a:t>
            </a:r>
          </a:p>
          <a:p>
            <a:pPr algn="l">
              <a:spcAft>
                <a:spcPts val="800"/>
              </a:spcAft>
            </a:pPr>
            <a:r>
              <a:rPr sz="1700" b="0">
                <a:solidFill>
                  <a:srgbClr val="222222"/>
                </a:solidFill>
                <a:latin typeface="맑은 고딕"/>
                <a:ea typeface="맑은 고딕"/>
                <a:cs typeface="맑은 고딕"/>
              </a:rPr>
              <a:t>•  ASSM에서 PCTUSED는 불필요하지만 PCTFREE는 유효</a:t>
            </a:r>
          </a:p>
        </p:txBody>
      </p:sp>
    </p:spTree>
    <p:extLst>
      <p:ext uri="{BB962C8B-B14F-4D97-AF65-F5344CB8AC3E}">
        <p14:creationId xmlns:p14="http://schemas.microsoft.com/office/powerpoint/2010/main" val="1087693432"/>
      </p:ext>
    </p:extLst>
  </p:cSld>
  <p:clrMapOvr>
    <a:masterClrMapping/>
  </p:clrMapOvr>
</p:sld>
</file>

<file path=ppt/slides/slide7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행 이주 vs 행 체이닝</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ea typeface="맑은 고딕"/>
                <a:cs typeface="맑은 고딕"/>
              </a:rPr>
              <a:t>무엇이 옮겨지고, 무엇이 원래 큰가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이주: UPDATE로 커진 행이 원 블록에 안 들어가 이동 + 포인터 잔류</a:t>
            </a:r>
          </a:p>
          <a:p>
            <a:pPr algn="l">
              <a:spcAft>
                <a:spcPts val="800"/>
              </a:spcAft>
            </a:pPr>
            <a:r>
              <a:rPr sz="1700" b="0">
                <a:solidFill>
                  <a:srgbClr val="222222"/>
                </a:solidFill>
                <a:latin typeface="맑은 고딕"/>
                <a:ea typeface="맑은 고딕"/>
                <a:cs typeface="맑은 고딕"/>
              </a:rPr>
              <a:t>•  → 인덱스 조회 시 한 번 더 점프 → 논리·물리 읽기↑</a:t>
            </a:r>
          </a:p>
          <a:p>
            <a:pPr algn="l">
              <a:spcAft>
                <a:spcPts val="800"/>
              </a:spcAft>
            </a:pPr>
            <a:r>
              <a:rPr sz="1700" b="0">
                <a:solidFill>
                  <a:srgbClr val="222222"/>
                </a:solidFill>
                <a:latin typeface="맑은 고딕"/>
                <a:ea typeface="맑은 고딕"/>
                <a:cs typeface="맑은 고딕"/>
              </a:rPr>
              <a:t>•  체이닝: 행 자체가 블록보다 커서 처음부터 여러 블록에 걸침</a:t>
            </a:r>
          </a:p>
          <a:p>
            <a:pPr algn="l">
              <a:spcAft>
                <a:spcPts val="800"/>
              </a:spcAft>
            </a:pPr>
            <a:r>
              <a:rPr sz="1700" b="0">
                <a:solidFill>
                  <a:srgbClr val="222222"/>
                </a:solidFill>
                <a:latin typeface="맑은 고딕"/>
                <a:ea typeface="맑은 고딕"/>
                <a:cs typeface="맑은 고딕"/>
              </a:rPr>
              <a:t>•  이주 해법: PCTFREE↑ + ALTER TABLE ... MOVE + 인덱스 REBUILD</a:t>
            </a:r>
          </a:p>
          <a:p>
            <a:pPr algn="l">
              <a:spcAft>
                <a:spcPts val="800"/>
              </a:spcAft>
            </a:pPr>
            <a:r>
              <a:rPr sz="1700" b="0">
                <a:solidFill>
                  <a:srgbClr val="222222"/>
                </a:solidFill>
                <a:latin typeface="맑은 고딕"/>
                <a:ea typeface="맑은 고딕"/>
                <a:cs typeface="맑은 고딕"/>
              </a:rPr>
              <a:t>•  체이닝 해법: 더 큰 블록 크기 테이블스페이스</a:t>
            </a:r>
          </a:p>
        </p:txBody>
      </p:sp>
    </p:spTree>
    <p:extLst>
      <p:ext uri="{BB962C8B-B14F-4D97-AF65-F5344CB8AC3E}">
        <p14:creationId xmlns:p14="http://schemas.microsoft.com/office/powerpoint/2010/main" val="2344379969"/>
      </p:ext>
    </p:extLst>
  </p:cSld>
  <p:clrMapOvr>
    <a:masterClrMapping/>
  </p:clrMapOvr>
</p:sld>
</file>

<file path=ppt/slides/slide7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이주 행을 찾아내기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ea typeface="맑은 고딕"/>
                <a:cs typeface="맑은 고딕"/>
              </a:rPr>
              <a:t>ANALYZE ... LIST CHAINED ROWS / CHAIN_CNT</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tlCol="0" anchor="ctr"/>
          <a:lstStyle/>
          <a:p>
            <a:pPr algn="l">
              <a:spcAft>
                <a:spcPts val="0"/>
              </a:spcAft>
            </a:pPr>
            <a:r>
              <a:rPr sz="1250" b="0">
                <a:solidFill>
                  <a:srgbClr val="F2F2F2"/>
                </a:solidFill>
                <a:latin typeface="Consolas"/>
                <a:ea typeface="Consolas"/>
                <a:cs typeface="Consolas"/>
              </a:rPr>
              <a:t>-- (1) 결과 테이블 생성</a:t>
            </a:r>
          </a:p>
          <a:p>
            <a:pPr algn="l">
              <a:spcAft>
                <a:spcPts val="0"/>
              </a:spcAft>
            </a:pPr>
            <a:r>
              <a:rPr sz="1250" b="0">
                <a:solidFill>
                  <a:srgbClr val="F2F2F2"/>
                </a:solidFill>
                <a:latin typeface="Consolas"/>
                <a:ea typeface="Consolas"/>
                <a:cs typeface="Consolas"/>
              </a:rPr>
              <a:t>SYS@orcl&gt; @?/rdbms/admin/utlchain.sql</a:t>
            </a:r>
          </a:p>
          <a:p>
            <a:pPr algn="l">
              <a:spcAft>
                <a:spcPts val="0"/>
              </a:spcAft>
            </a:pPr>
            <a:r>
              <a:rPr sz="1250" b="0">
                <a:solidFill>
                  <a:srgbClr val="F2F2F2"/>
                </a:solidFill>
                <a:latin typeface="Consolas"/>
                <a:ea typeface="Consolas"/>
                <a:cs typeface="Consolas"/>
              </a:rPr>
              <a:t> </a:t>
            </a:r>
          </a:p>
          <a:p>
            <a:pPr algn="l">
              <a:spcAft>
                <a:spcPts val="0"/>
              </a:spcAft>
            </a:pPr>
            <a:r>
              <a:rPr sz="1250" b="0">
                <a:solidFill>
                  <a:srgbClr val="F2F2F2"/>
                </a:solidFill>
                <a:latin typeface="Consolas"/>
                <a:ea typeface="Consolas"/>
                <a:cs typeface="Consolas"/>
              </a:rPr>
              <a:t>-- (2) 이주/체이닝 행 수집</a:t>
            </a:r>
          </a:p>
          <a:p>
            <a:pPr algn="l">
              <a:spcAft>
                <a:spcPts val="0"/>
              </a:spcAft>
            </a:pPr>
            <a:r>
              <a:rPr sz="1250" b="0">
                <a:solidFill>
                  <a:srgbClr val="F2F2F2"/>
                </a:solidFill>
                <a:latin typeface="Consolas"/>
                <a:ea typeface="Consolas"/>
                <a:cs typeface="Consolas"/>
              </a:rPr>
              <a:t>SQLT@orcl&gt; ANALYZE TABLE claim_details LIST CHAINED ROWS</a:t>
            </a:r>
          </a:p>
          <a:p>
            <a:pPr algn="l">
              <a:spcAft>
                <a:spcPts val="0"/>
              </a:spcAft>
            </a:pPr>
            <a:r>
              <a:rPr sz="1250" b="0">
                <a:solidFill>
                  <a:srgbClr val="F2F2F2"/>
                </a:solidFill>
                <a:latin typeface="Consolas"/>
                <a:ea typeface="Consolas"/>
                <a:cs typeface="Consolas"/>
              </a:rPr>
              <a:t>  2         INTO chained_rows;</a:t>
            </a:r>
          </a:p>
          <a:p>
            <a:pPr algn="l">
              <a:spcAft>
                <a:spcPts val="0"/>
              </a:spcAft>
            </a:pPr>
            <a:r>
              <a:rPr sz="1250" b="0">
                <a:solidFill>
                  <a:srgbClr val="F2F2F2"/>
                </a:solidFill>
                <a:latin typeface="Consolas"/>
                <a:ea typeface="Consolas"/>
                <a:cs typeface="Consolas"/>
              </a:rPr>
              <a:t> </a:t>
            </a:r>
          </a:p>
          <a:p>
            <a:pPr algn="l">
              <a:spcAft>
                <a:spcPts val="0"/>
              </a:spcAft>
            </a:pPr>
            <a:r>
              <a:rPr sz="1250" b="0">
                <a:solidFill>
                  <a:srgbClr val="F2F2F2"/>
                </a:solidFill>
                <a:latin typeface="Consolas"/>
                <a:ea typeface="Consolas"/>
                <a:cs typeface="Consolas"/>
              </a:rPr>
              <a:t>-- (3) 개수 확인</a:t>
            </a:r>
          </a:p>
          <a:p>
            <a:pPr algn="l">
              <a:spcAft>
                <a:spcPts val="0"/>
              </a:spcAft>
            </a:pPr>
            <a:r>
              <a:rPr sz="1250" b="0">
                <a:solidFill>
                  <a:srgbClr val="F2F2F2"/>
                </a:solidFill>
                <a:latin typeface="Consolas"/>
                <a:ea typeface="Consolas"/>
                <a:cs typeface="Consolas"/>
              </a:rPr>
              <a:t>SQLT@orcl&gt; SELECT COUNT(*) FROM chained_rows</a:t>
            </a:r>
          </a:p>
          <a:p>
            <a:pPr algn="l">
              <a:spcAft>
                <a:spcPts val="0"/>
              </a:spcAft>
            </a:pPr>
            <a:r>
              <a:rPr sz="1250" b="0">
                <a:solidFill>
                  <a:srgbClr val="F2F2F2"/>
                </a:solidFill>
                <a:latin typeface="Consolas"/>
                <a:ea typeface="Consolas"/>
                <a:cs typeface="Consolas"/>
              </a:rPr>
              <a:t>  2         WHERE table_name='CLAIM_DETAILS';</a:t>
            </a:r>
          </a:p>
          <a:p>
            <a:pPr algn="l">
              <a:spcAft>
                <a:spcPts val="0"/>
              </a:spcAft>
            </a:pPr>
            <a:r>
              <a:rPr sz="1250" b="0">
                <a:solidFill>
                  <a:srgbClr val="F2F2F2"/>
                </a:solidFill>
                <a:latin typeface="Consolas"/>
                <a:ea typeface="Consolas"/>
                <a:cs typeface="Consolas"/>
              </a:rPr>
              <a:t> </a:t>
            </a:r>
          </a:p>
          <a:p>
            <a:pPr algn="l">
              <a:spcAft>
                <a:spcPts val="0"/>
              </a:spcAft>
            </a:pPr>
            <a:r>
              <a:rPr sz="1250" b="0">
                <a:solidFill>
                  <a:srgbClr val="F2F2F2"/>
                </a:solidFill>
                <a:latin typeface="Consolas"/>
                <a:ea typeface="Consolas"/>
                <a:cs typeface="Consolas"/>
              </a:rPr>
              <a:t>-- 통계에도: DBA_TABLES.CHAIN_CNT (이주+체이닝 합산)</a:t>
            </a:r>
          </a:p>
        </p:txBody>
      </p:sp>
    </p:spTree>
    <p:extLst>
      <p:ext uri="{BB962C8B-B14F-4D97-AF65-F5344CB8AC3E}">
        <p14:creationId xmlns:p14="http://schemas.microsoft.com/office/powerpoint/2010/main" val="3710667114"/>
      </p:ext>
    </p:extLst>
  </p:cSld>
  <p:clrMapOvr>
    <a:masterClrMapping/>
  </p:clrMapOvr>
</p:sld>
</file>

<file path=ppt/slides/slide7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실습 환경의 테이블스페이스 지도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ea typeface="맑은 고딕"/>
                <a:cs typeface="맑은 고딕"/>
              </a:rPr>
              <a:t>어느 오류가 어느 TS와 연결되는지 기준선</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tlCol="0" anchor="ctr"/>
          <a:lstStyle/>
          <a:p>
            <a:pPr algn="l">
              <a:spcAft>
                <a:spcPts val="0"/>
              </a:spcAft>
            </a:pPr>
            <a:r>
              <a:rPr sz="1250" b="0">
                <a:solidFill>
                  <a:srgbClr val="F2F2F2"/>
                </a:solidFill>
                <a:latin typeface="Consolas"/>
                <a:ea typeface="Consolas"/>
                <a:cs typeface="Consolas"/>
              </a:rPr>
              <a:t>SYS@orcl&gt; SELECT tablespace_name, ROUND(SUM(bytes)/1024/1024) mb, COUNT(*) files</a:t>
            </a:r>
          </a:p>
          <a:p>
            <a:pPr algn="l">
              <a:spcAft>
                <a:spcPts val="0"/>
              </a:spcAft>
            </a:pPr>
            <a:r>
              <a:rPr sz="1250" b="0">
                <a:solidFill>
                  <a:srgbClr val="F2F2F2"/>
                </a:solidFill>
                <a:latin typeface="Consolas"/>
                <a:ea typeface="Consolas"/>
                <a:cs typeface="Consolas"/>
              </a:rPr>
              <a:t>  2       FROM dba_data_files GROUP BY tablespace_name ORDER BY mb DESC;</a:t>
            </a:r>
          </a:p>
          <a:p>
            <a:pPr algn="l">
              <a:spcAft>
                <a:spcPts val="0"/>
              </a:spcAft>
            </a:pPr>
            <a:r>
              <a:rPr sz="1250" b="0">
                <a:solidFill>
                  <a:srgbClr val="F2F2F2"/>
                </a:solidFill>
                <a:latin typeface="Consolas"/>
                <a:ea typeface="Consolas"/>
                <a:cs typeface="Consolas"/>
              </a:rPr>
              <a:t>TABLESPACE_NAME          MB      FILES</a:t>
            </a:r>
          </a:p>
          <a:p>
            <a:pPr algn="l">
              <a:spcAft>
                <a:spcPts val="0"/>
              </a:spcAft>
            </a:pPr>
            <a:r>
              <a:rPr sz="1250" b="0">
                <a:solidFill>
                  <a:srgbClr val="F2F2F2"/>
                </a:solidFill>
                <a:latin typeface="Consolas"/>
                <a:ea typeface="Consolas"/>
                <a:cs typeface="Consolas"/>
              </a:rPr>
              <a:t>----------------- ---------- ----------</a:t>
            </a:r>
          </a:p>
          <a:p>
            <a:pPr algn="l">
              <a:spcAft>
                <a:spcPts val="0"/>
              </a:spcAft>
            </a:pPr>
            <a:r>
              <a:rPr sz="1250" b="0">
                <a:solidFill>
                  <a:srgbClr val="F2F2F2"/>
                </a:solidFill>
                <a:latin typeface="Consolas"/>
                <a:ea typeface="Consolas"/>
                <a:cs typeface="Consolas"/>
              </a:rPr>
              <a:t>USERS                   2369          2</a:t>
            </a:r>
          </a:p>
          <a:p>
            <a:pPr algn="l">
              <a:spcAft>
                <a:spcPts val="0"/>
              </a:spcAft>
            </a:pPr>
            <a:r>
              <a:rPr sz="1250" b="0">
                <a:solidFill>
                  <a:srgbClr val="F2F2F2"/>
                </a:solidFill>
                <a:latin typeface="Consolas"/>
                <a:ea typeface="Consolas"/>
                <a:cs typeface="Consolas"/>
              </a:rPr>
              <a:t>SYSTEM                   940          1</a:t>
            </a:r>
          </a:p>
          <a:p>
            <a:pPr algn="l">
              <a:spcAft>
                <a:spcPts val="0"/>
              </a:spcAft>
            </a:pPr>
            <a:r>
              <a:rPr sz="1250" b="0">
                <a:solidFill>
                  <a:srgbClr val="F2F2F2"/>
                </a:solidFill>
                <a:latin typeface="Consolas"/>
                <a:ea typeface="Consolas"/>
                <a:cs typeface="Consolas"/>
              </a:rPr>
              <a:t>SYSAUX                   900          1</a:t>
            </a:r>
          </a:p>
          <a:p>
            <a:pPr algn="l">
              <a:spcAft>
                <a:spcPts val="0"/>
              </a:spcAft>
            </a:pPr>
            <a:r>
              <a:rPr sz="1250" b="0">
                <a:solidFill>
                  <a:srgbClr val="F2F2F2"/>
                </a:solidFill>
                <a:latin typeface="Consolas"/>
                <a:ea typeface="Consolas"/>
                <a:cs typeface="Consolas"/>
              </a:rPr>
              <a:t>TS_STG                   422          1</a:t>
            </a:r>
          </a:p>
          <a:p>
            <a:pPr algn="l">
              <a:spcAft>
                <a:spcPts val="0"/>
              </a:spcAft>
            </a:pPr>
            <a:r>
              <a:rPr sz="1250" b="0">
                <a:solidFill>
                  <a:srgbClr val="F2F2F2"/>
                </a:solidFill>
                <a:latin typeface="Consolas"/>
                <a:ea typeface="Consolas"/>
                <a:cs typeface="Consolas"/>
              </a:rPr>
              <a:t>UNDOTBS1                 380          1     &lt;- ORA-01555 (4.4)</a:t>
            </a:r>
          </a:p>
          <a:p>
            <a:pPr algn="l">
              <a:spcAft>
                <a:spcPts val="0"/>
              </a:spcAft>
            </a:pPr>
            <a:r>
              <a:rPr sz="1250" b="0">
                <a:solidFill>
                  <a:srgbClr val="F2F2F2"/>
                </a:solidFill>
                <a:latin typeface="Consolas"/>
                <a:ea typeface="Consolas"/>
                <a:cs typeface="Consolas"/>
              </a:rPr>
              <a:t>RTBS                      50          1</a:t>
            </a:r>
          </a:p>
          <a:p>
            <a:pPr algn="l">
              <a:spcAft>
                <a:spcPts val="0"/>
              </a:spcAft>
            </a:pPr>
            <a:r>
              <a:rPr sz="1250" b="0">
                <a:solidFill>
                  <a:srgbClr val="F2F2F2"/>
                </a:solidFill>
                <a:latin typeface="Consolas"/>
                <a:ea typeface="Consolas"/>
                <a:cs typeface="Consolas"/>
              </a:rPr>
              <a:t>TEMP  (temp file)         20          1     &lt;- ORA-01652 (4.5)</a:t>
            </a:r>
          </a:p>
        </p:txBody>
      </p:sp>
    </p:spTree>
    <p:extLst>
      <p:ext uri="{BB962C8B-B14F-4D97-AF65-F5344CB8AC3E}">
        <p14:creationId xmlns:p14="http://schemas.microsoft.com/office/powerpoint/2010/main" val="1455312910"/>
      </p:ext>
    </p:extLst>
  </p:cSld>
  <p:clrMapOvr>
    <a:masterClrMapping/>
  </p:clrMapOvr>
</p:sld>
</file>

<file path=ppt/slides/slide7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퀴즈 (Quiz)</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700"/>
              </a:spcAft>
            </a:pPr>
            <a:r>
              <a:rPr sz="1600" b="0">
                <a:solidFill>
                  <a:srgbClr val="222222"/>
                </a:solidFill>
                <a:latin typeface="맑은 고딕"/>
                <a:ea typeface="맑은 고딕"/>
                <a:cs typeface="맑은 고딕"/>
              </a:rPr>
              <a:t>•  Q1. 성능 파라미터 중 '1차 파라미터'로 다수 값이 파생되는 것은? 파생 예 하나?</a:t>
            </a:r>
          </a:p>
          <a:p>
            <a:pPr algn="l">
              <a:spcAft>
                <a:spcPts val="700"/>
              </a:spcAft>
            </a:pPr>
            <a:r>
              <a:rPr sz="1600" b="0">
                <a:solidFill>
                  <a:srgbClr val="222222"/>
                </a:solidFill>
                <a:latin typeface="맑은 고딕"/>
                <a:ea typeface="맑은 고딕"/>
                <a:cs typeface="맑은 고딕"/>
              </a:rPr>
              <a:t>•  Q2. UNDO_RETENTION=900·NOGUARANTEE에서 Undo 부족 시 무슨 일이? GUARANTEE라면?</a:t>
            </a:r>
          </a:p>
          <a:p>
            <a:pPr algn="l">
              <a:spcAft>
                <a:spcPts val="700"/>
              </a:spcAft>
            </a:pPr>
            <a:r>
              <a:rPr sz="1600" b="0">
                <a:solidFill>
                  <a:srgbClr val="222222"/>
                </a:solidFill>
                <a:latin typeface="맑은 고딕"/>
                <a:ea typeface="맑은 고딕"/>
                <a:cs typeface="맑은 고딕"/>
              </a:rPr>
              <a:t>•  Q3. ORA-01555의 근본 원인을 '조회 길이·동시 변경량·Undo 공간'으로 설명하라.</a:t>
            </a:r>
          </a:p>
          <a:p>
            <a:pPr algn="l">
              <a:spcAft>
                <a:spcPts val="700"/>
              </a:spcAft>
            </a:pPr>
            <a:r>
              <a:rPr sz="1600" b="0">
                <a:solidFill>
                  <a:srgbClr val="222222"/>
                </a:solidFill>
                <a:latin typeface="맑은 고딕"/>
                <a:ea typeface="맑은 고딕"/>
                <a:cs typeface="맑은 고딕"/>
              </a:rPr>
              <a:t>•  Q4. ORA-01652가 임시 공간 문제인지 무엇으로 가르는가? SQL 튜닝이 정답인 경우와 아닌 경우는?</a:t>
            </a:r>
          </a:p>
          <a:p>
            <a:pPr algn="l">
              <a:spcAft>
                <a:spcPts val="700"/>
              </a:spcAft>
            </a:pPr>
            <a:r>
              <a:rPr sz="1600" b="0">
                <a:solidFill>
                  <a:srgbClr val="222222"/>
                </a:solidFill>
                <a:latin typeface="맑은 고딕"/>
                <a:ea typeface="맑은 고딕"/>
                <a:cs typeface="맑은 고딕"/>
              </a:rPr>
              <a:t>•  Q5. 전용 vs 공유 서버의 프로세스·UGA 차이와 각각 유리한 워크로드는?</a:t>
            </a:r>
          </a:p>
          <a:p>
            <a:pPr algn="l">
              <a:spcAft>
                <a:spcPts val="700"/>
              </a:spcAft>
            </a:pPr>
            <a:r>
              <a:rPr sz="1600" b="0">
                <a:solidFill>
                  <a:srgbClr val="222222"/>
                </a:solidFill>
                <a:latin typeface="맑은 고딕"/>
                <a:ea typeface="맑은 고딕"/>
                <a:cs typeface="맑은 고딕"/>
              </a:rPr>
              <a:t>•  Q6. 행 이주와 체이닝의 차이, 근본 해법이 다른 이유(PCTFREE vs 블록 크기)는?</a:t>
            </a:r>
          </a:p>
        </p:txBody>
      </p:sp>
    </p:spTree>
    <p:extLst>
      <p:ext uri="{BB962C8B-B14F-4D97-AF65-F5344CB8AC3E}">
        <p14:creationId xmlns:p14="http://schemas.microsoft.com/office/powerpoint/2010/main" val="1963542777"/>
      </p:ext>
    </p:extLst>
  </p:cSld>
  <p:clrMapOvr>
    <a:masterClrMapping/>
  </p:clrMapOvr>
</p:sld>
</file>

<file path=ppt/slides/slide7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요약 (Summary)</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700"/>
              </a:spcAft>
            </a:pPr>
            <a:r>
              <a:rPr sz="1600" b="0">
                <a:solidFill>
                  <a:srgbClr val="222222"/>
                </a:solidFill>
                <a:latin typeface="맑은 고딕"/>
                <a:ea typeface="맑은 고딕"/>
                <a:cs typeface="맑은 고딕"/>
              </a:rPr>
              <a:t>•  초기 구성이 성능의 상한을 정한다. 성능 파라미터는 소수이고 PROCESSES가 1차.</a:t>
            </a:r>
          </a:p>
          <a:p>
            <a:pPr algn="l">
              <a:spcAft>
                <a:spcPts val="700"/>
              </a:spcAft>
            </a:pPr>
            <a:r>
              <a:rPr sz="1600" b="0">
                <a:solidFill>
                  <a:srgbClr val="222222"/>
                </a:solidFill>
                <a:latin typeface="맑은 고딕"/>
                <a:ea typeface="맑은 고딕"/>
                <a:cs typeface="맑은 고딕"/>
              </a:rPr>
              <a:t>•  실측: 8KB 블록, ASMM(SGA 1.5GB/PGA 700MB), processes 500·sessions 776, TEMP 20MB.</a:t>
            </a:r>
          </a:p>
          <a:p>
            <a:pPr algn="l">
              <a:spcAft>
                <a:spcPts val="700"/>
              </a:spcAft>
            </a:pPr>
            <a:r>
              <a:rPr sz="1600" b="0">
                <a:solidFill>
                  <a:srgbClr val="222222"/>
                </a:solidFill>
                <a:latin typeface="맑은 고딕"/>
                <a:ea typeface="맑은 고딕"/>
                <a:cs typeface="맑은 고딕"/>
              </a:rPr>
              <a:t>•  ORA-01555는 Undo 세그먼트가 작아서가 아니라 과거 이미지를 덮어써서 난다 — SQL 문제 아님.</a:t>
            </a:r>
          </a:p>
          <a:p>
            <a:pPr algn="l">
              <a:spcAft>
                <a:spcPts val="700"/>
              </a:spcAft>
            </a:pPr>
            <a:r>
              <a:rPr sz="1600" b="0">
                <a:solidFill>
                  <a:srgbClr val="222222"/>
                </a:solidFill>
                <a:latin typeface="맑은 고딕"/>
                <a:ea typeface="맑은 고딕"/>
                <a:cs typeface="맑은 고딕"/>
              </a:rPr>
              <a:t>•  ORA-01652는 임시 공간 부족. 메시지의 TS 이름을 먼저 보고 구성/SQL을 가른다.</a:t>
            </a:r>
          </a:p>
          <a:p>
            <a:pPr algn="l">
              <a:spcAft>
                <a:spcPts val="700"/>
              </a:spcAft>
            </a:pPr>
            <a:r>
              <a:rPr sz="1600" b="0">
                <a:solidFill>
                  <a:srgbClr val="222222"/>
                </a:solidFill>
                <a:latin typeface="맑은 고딕"/>
                <a:ea typeface="맑은 고딕"/>
                <a:cs typeface="맑은 고딕"/>
              </a:rPr>
              <a:t>•  전용=접속마다 프로세스, 공유=디스패처 다중. 간헐 OLTP는 공유, 장시간·배치는 전용.</a:t>
            </a:r>
          </a:p>
          <a:p>
            <a:pPr algn="l">
              <a:spcAft>
                <a:spcPts val="700"/>
              </a:spcAft>
            </a:pPr>
            <a:r>
              <a:rPr sz="1600" b="0">
                <a:solidFill>
                  <a:srgbClr val="222222"/>
                </a:solidFill>
                <a:latin typeface="맑은 고딕"/>
                <a:ea typeface="맑은 고딕"/>
                <a:cs typeface="맑은 고딕"/>
              </a:rPr>
              <a:t>•  행 이주는 PCTFREE로 예방·CHAIN_CNT로 탐지. 체이닝은 블록 크기 문제.</a:t>
            </a:r>
          </a:p>
          <a:p>
            <a:pPr algn="l">
              <a:spcAft>
                <a:spcPts val="700"/>
              </a:spcAft>
            </a:pPr>
            <a:r>
              <a:rPr sz="1600" b="0">
                <a:solidFill>
                  <a:srgbClr val="222222"/>
                </a:solidFill>
                <a:latin typeface="맑은 고딕"/>
                <a:ea typeface="맑은 고딕"/>
                <a:cs typeface="맑은 고딕"/>
              </a:rPr>
              <a:t>•  구성성 오류를 SQL 문제로 오인하지 않는다 — 이 장의 Common Error.</a:t>
            </a:r>
          </a:p>
        </p:txBody>
      </p:sp>
    </p:spTree>
    <p:extLst>
      <p:ext uri="{BB962C8B-B14F-4D97-AF65-F5344CB8AC3E}">
        <p14:creationId xmlns:p14="http://schemas.microsoft.com/office/powerpoint/2010/main" val="3501334141"/>
      </p:ext>
    </p:extLst>
  </p:cSld>
  <p:clrMapOvr>
    <a:masterClrMapping/>
  </p:clrMapOvr>
</p:sld>
</file>

<file path=ppt/slides/slide7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cs typeface="맑은 고딕"/>
              </a:rPr>
              <a:t>실습 개요 (Practice Overview)</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700"/>
              </a:spcAft>
            </a:pPr>
            <a:r>
              <a:rPr sz="1600" b="0">
                <a:solidFill>
                  <a:srgbClr val="222222"/>
                </a:solidFill>
                <a:latin typeface="맑은 고딕"/>
                <a:ea typeface="맑은 고딕"/>
                <a:cs typeface="맑은 고딕"/>
              </a:rPr>
              <a:t>•  실습 01 — 성능 관련 초기화 파라미터 일괄 점검(V$PARAMETER 필터링)</a:t>
            </a:r>
          </a:p>
          <a:p>
            <a:pPr algn="l">
              <a:spcAft>
                <a:spcPts val="700"/>
              </a:spcAft>
            </a:pPr>
            <a:r>
              <a:rPr sz="1600" b="0">
                <a:solidFill>
                  <a:srgbClr val="222222"/>
                </a:solidFill>
                <a:latin typeface="맑은 고딕"/>
                <a:ea typeface="맑은 고딕"/>
                <a:cs typeface="맑은 고딕"/>
              </a:rPr>
              <a:t>•  실습 02 — Undo 보존과 ORA-01555 재현→UNDO_RETENTION·테이블스페이스 조정</a:t>
            </a:r>
          </a:p>
          <a:p>
            <a:pPr algn="l">
              <a:spcAft>
                <a:spcPts val="700"/>
              </a:spcAft>
            </a:pPr>
            <a:r>
              <a:rPr sz="1600" b="0">
                <a:solidFill>
                  <a:srgbClr val="222222"/>
                </a:solidFill>
                <a:latin typeface="맑은 고딕"/>
                <a:ea typeface="맑은 고딕"/>
                <a:cs typeface="맑은 고딕"/>
              </a:rPr>
              <a:t>•  실습 03 — 임시 테이블스페이스 부족(ORA-01652) 재현과 TEMP 확장</a:t>
            </a:r>
          </a:p>
          <a:p>
            <a:pPr algn="l">
              <a:spcAft>
                <a:spcPts val="700"/>
              </a:spcAft>
            </a:pPr>
            <a:r>
              <a:rPr sz="1600" b="0">
                <a:solidFill>
                  <a:srgbClr val="222222"/>
                </a:solidFill>
                <a:latin typeface="맑은 고딕"/>
                <a:ea typeface="맑은 고딕"/>
                <a:cs typeface="맑은 고딕"/>
              </a:rPr>
              <a:t>•  실습 04 — 전용 서버 vs 공유 서버 접속 방식 비교(프로세스·메모리)</a:t>
            </a:r>
          </a:p>
          <a:p>
            <a:pPr algn="l">
              <a:spcAft>
                <a:spcPts val="700"/>
              </a:spcAft>
            </a:pPr>
            <a:r>
              <a:rPr sz="1600" b="0">
                <a:solidFill>
                  <a:srgbClr val="222222"/>
                </a:solidFill>
                <a:latin typeface="맑은 고딕"/>
                <a:ea typeface="맑은 고딕"/>
                <a:cs typeface="맑은 고딕"/>
              </a:rPr>
              <a:t>•  실습 05 — 블록 크기와 행 이주 관찰(ANALYZE ... LIST CHAINED ROWS)</a:t>
            </a:r>
          </a:p>
          <a:p>
            <a:pPr algn="l">
              <a:spcAft>
                <a:spcPts val="700"/>
              </a:spcAft>
            </a:pPr>
            <a:r>
              <a:rPr sz="1600" b="0">
                <a:solidFill>
                  <a:srgbClr val="222222"/>
                </a:solidFill>
                <a:latin typeface="맑은 고딕"/>
                <a:ea typeface="맑은 고딕"/>
                <a:cs typeface="맑은 고딕"/>
              </a:rPr>
              <a:t>•  ※ 모두 개인 실습 환경(non-CDB orcl 19.3) 전용. 조치 전→조치→조치 후 3단 캡처.</a:t>
            </a:r>
          </a:p>
        </p:txBody>
      </p:sp>
    </p:spTree>
    <p:extLst>
      <p:ext uri="{BB962C8B-B14F-4D97-AF65-F5344CB8AC3E}">
        <p14:creationId xmlns:p14="http://schemas.microsoft.com/office/powerpoint/2010/main" val="2017672175"/>
      </p:ext>
    </p:extLst>
  </p:cSld>
  <p:clrMapOvr>
    <a:masterClrMapping/>
  </p:clrMapOvr>
</p:sld>
</file>

<file path=ppt/slides/slide7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측정 기준과 통계 인프라</a:t>
            </a:r>
          </a:p>
        </p:txBody>
      </p:sp>
      <p:sp>
        <p:nvSpPr>
          <p:cNvPr id="5" name="Rectangle 4"/>
          <p:cNvSpPr/>
          <p:nvPr/>
        </p:nvSpPr>
        <p:spPr>
          <a:xfrm>
            <a:off x="822960" y="4114800"/>
            <a:ext cx="5486400"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584775"/>
          </a:xfrm>
          <a:prstGeom prst="rect">
            <a:avLst/>
          </a:prstGeom>
          <a:noFill/>
        </p:spPr>
        <p:txBody>
          <a:bodyPr wrap="square">
            <a:spAutoFit/>
          </a:bodyPr>
          <a:lstStyle/>
          <a:p>
            <a:r>
              <a:rPr sz="1600" b="0" dirty="0">
                <a:solidFill>
                  <a:srgbClr val="FFFFFF"/>
                </a:solidFill>
                <a:latin typeface="맑은 고딕"/>
              </a:rPr>
              <a:t>•  TUN ch19 · ch20 · ch21</a:t>
            </a:r>
          </a:p>
          <a:p>
            <a:r>
              <a:rPr sz="1600" b="0" dirty="0">
                <a:solidFill>
                  <a:srgbClr val="FFFFFF"/>
                </a:solidFill>
                <a:latin typeface="맑은 고딕"/>
              </a:rPr>
              <a:t>•  </a:t>
            </a:r>
            <a:r>
              <a:rPr sz="1600" b="0" dirty="0" err="1">
                <a:solidFill>
                  <a:srgbClr val="FFFFFF"/>
                </a:solidFill>
                <a:latin typeface="맑은 고딕"/>
              </a:rPr>
              <a:t>과정의</a:t>
            </a:r>
            <a:r>
              <a:rPr sz="1600" b="0" dirty="0">
                <a:solidFill>
                  <a:srgbClr val="FFFFFF"/>
                </a:solidFill>
                <a:latin typeface="맑은 고딕"/>
              </a:rPr>
              <a:t> 축, DB Time</a:t>
            </a:r>
          </a:p>
        </p:txBody>
      </p:sp>
    </p:spTree>
  </p:cSld>
  <p:clrMapOvr>
    <a:masterClrMapping/>
  </p:clrMapOvr>
</p:sld>
</file>

<file path=ppt/slides/slide7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457200"/>
            <a:ext cx="10698480" cy="548640"/>
          </a:xfrm>
          <a:prstGeom prst="rect">
            <a:avLst/>
          </a:prstGeom>
          <a:noFill/>
        </p:spPr>
        <p:txBody>
          <a:bodyPr wrap="square">
            <a:spAutoFit/>
          </a:bodyPr>
          <a:lstStyle/>
          <a:p>
            <a:pPr algn="l"/>
            <a:r>
              <a:rPr sz="1600" b="1">
                <a:solidFill>
                  <a:srgbClr val="FFFFFF"/>
                </a:solidFill>
                <a:latin typeface="맑은 고딕"/>
                <a:ea typeface="맑은 고딕"/>
                <a:cs typeface="맑은 고딕"/>
              </a:rPr>
              <a:t>Oracle Database 19c 성능 튜닝 실무 과정</a:t>
            </a:r>
          </a:p>
        </p:txBody>
      </p:sp>
      <p:sp>
        <p:nvSpPr>
          <p:cNvPr id="6" name="TextBox 5"/>
          <p:cNvSpPr txBox="1"/>
          <p:nvPr/>
        </p:nvSpPr>
        <p:spPr>
          <a:xfrm>
            <a:off x="731520" y="2377440"/>
            <a:ext cx="10698480" cy="1554480"/>
          </a:xfrm>
          <a:prstGeom prst="rect">
            <a:avLst/>
          </a:prstGeom>
          <a:noFill/>
        </p:spPr>
        <p:txBody>
          <a:bodyPr wrap="square">
            <a:spAutoFit/>
          </a:bodyPr>
          <a:lstStyle/>
          <a:p>
            <a:pPr algn="l"/>
            <a:r>
              <a:rPr sz="3400" b="1">
                <a:solidFill>
                  <a:srgbClr val="C0392B"/>
                </a:solidFill>
                <a:latin typeface="맑은 고딕"/>
                <a:ea typeface="맑은 고딕"/>
                <a:cs typeface="맑은 고딕"/>
              </a:rPr>
              <a:t>성능 측정의 기준 — 통계와 DB Time</a:t>
            </a:r>
          </a:p>
          <a:p>
            <a:pPr algn="l">
              <a:spcAft>
                <a:spcPts val="600"/>
              </a:spcAft>
            </a:pPr>
            <a:r>
              <a:rPr sz="2000" b="0">
                <a:solidFill>
                  <a:srgbClr val="5A6672"/>
                </a:solidFill>
                <a:latin typeface="맑은 고딕"/>
                <a:ea typeface="맑은 고딕"/>
                <a:cs typeface="맑은 고딕"/>
              </a:rPr>
              <a:t>Measuring Database Performance — 이 과정의 축</a:t>
            </a:r>
          </a:p>
        </p:txBody>
      </p:sp>
      <p:sp>
        <p:nvSpPr>
          <p:cNvPr id="7" name="TextBox 6"/>
          <p:cNvSpPr txBox="1"/>
          <p:nvPr/>
        </p:nvSpPr>
        <p:spPr>
          <a:xfrm>
            <a:off x="731520" y="4114800"/>
            <a:ext cx="10698480" cy="1097280"/>
          </a:xfrm>
          <a:prstGeom prst="rect">
            <a:avLst/>
          </a:prstGeom>
          <a:noFill/>
        </p:spPr>
        <p:txBody>
          <a:bodyPr wrap="square">
            <a:spAutoFit/>
          </a:bodyPr>
          <a:lstStyle/>
          <a:p>
            <a:pPr algn="l"/>
            <a:r>
              <a:rPr sz="1500" b="0">
                <a:solidFill>
                  <a:srgbClr val="5A6672"/>
                </a:solidFill>
                <a:latin typeface="맑은 고딕"/>
                <a:ea typeface="맑은 고딕"/>
                <a:cs typeface="맑은 고딕"/>
              </a:rPr>
              <a:t>DB Time · 시간 모델(V$SYS/SESS_TIME_MODEL) · 대기 클래스 · 누적값 vs 델타 · STATISTICS_LEVEL</a:t>
            </a:r>
          </a:p>
        </p:txBody>
      </p:sp>
      <p:sp>
        <p:nvSpPr>
          <p:cNvPr id="8" name="TextBox 7"/>
          <p:cNvSpPr txBox="1"/>
          <p:nvPr/>
        </p:nvSpPr>
        <p:spPr>
          <a:xfrm>
            <a:off x="731520" y="5577840"/>
            <a:ext cx="10698480" cy="914400"/>
          </a:xfrm>
          <a:prstGeom prst="rect">
            <a:avLst/>
          </a:prstGeom>
          <a:noFill/>
        </p:spPr>
        <p:txBody>
          <a:bodyPr wrap="square">
            <a:spAutoFit/>
          </a:bodyPr>
          <a:lstStyle/>
          <a:p>
            <a:pPr algn="l"/>
            <a:r>
              <a:rPr sz="2000" b="1">
                <a:solidFill>
                  <a:srgbClr val="C0392B"/>
                </a:solidFill>
                <a:latin typeface="맑은 고딕"/>
                <a:ea typeface="맑은 고딕"/>
                <a:cs typeface="맑은 고딕"/>
              </a:rPr>
              <a:t>ch19</a:t>
            </a:r>
          </a:p>
        </p:txBody>
      </p:sp>
    </p:spTree>
    <p:extLst>
      <p:ext uri="{BB962C8B-B14F-4D97-AF65-F5344CB8AC3E}">
        <p14:creationId xmlns:p14="http://schemas.microsoft.com/office/powerpoint/2010/main" val="2772126298"/>
      </p:ext>
    </p:extLst>
  </p:cSld>
  <p:clrMapOvr>
    <a:masterClrMapping/>
  </p:clrMapOvr>
</p:sld>
</file>

<file path=ppt/slides/slide7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학습 목표 (Objectives)</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600"/>
              </a:spcAft>
            </a:pPr>
            <a:r>
              <a:rPr sz="1600" b="0">
                <a:solidFill>
                  <a:srgbClr val="222222"/>
                </a:solidFill>
                <a:latin typeface="맑은 고딕"/>
                <a:ea typeface="맑은 고딕"/>
                <a:cs typeface="맑은 고딕"/>
              </a:rPr>
              <a:t>•  DB Time을 'DB CPU + 대기'로 정의하고, 모든 활성 세션 시간의 합·벽시계 초과 가능성을 설명한다.</a:t>
            </a:r>
          </a:p>
          <a:p>
            <a:pPr algn="l">
              <a:spcAft>
                <a:spcPts val="600"/>
              </a:spcAft>
            </a:pPr>
            <a:r>
              <a:rPr sz="1600" b="0">
                <a:solidFill>
                  <a:srgbClr val="222222"/>
                </a:solidFill>
                <a:latin typeface="맑은 고딕"/>
                <a:ea typeface="맑은 고딕"/>
                <a:cs typeface="맑은 고딕"/>
              </a:rPr>
              <a:t>•  시간 모델(V$SYS_TIME_MODEL·V$SESS_TIME_MODEL)로 DB Time을 분해하고 시스템/세션 범위를 구분한다.</a:t>
            </a:r>
          </a:p>
          <a:p>
            <a:pPr algn="l">
              <a:spcAft>
                <a:spcPts val="600"/>
              </a:spcAft>
            </a:pPr>
            <a:r>
              <a:rPr sz="1600" b="0">
                <a:solidFill>
                  <a:srgbClr val="222222"/>
                </a:solidFill>
                <a:latin typeface="맑은 고딕"/>
                <a:ea typeface="맑은 고딕"/>
                <a:cs typeface="맑은 고딕"/>
              </a:rPr>
              <a:t>•  누적값과 델타값의 차이를 이해하고, 관심 구간의 시작·끝을 빼서 부하를 측정한다.</a:t>
            </a:r>
          </a:p>
          <a:p>
            <a:pPr algn="l">
              <a:spcAft>
                <a:spcPts val="600"/>
              </a:spcAft>
            </a:pPr>
            <a:r>
              <a:rPr sz="1600" b="0">
                <a:solidFill>
                  <a:srgbClr val="222222"/>
                </a:solidFill>
                <a:latin typeface="맑은 고딕"/>
                <a:ea typeface="맑은 고딕"/>
                <a:cs typeface="맑은 고딕"/>
              </a:rPr>
              <a:t>•  짧은 구간에서 시간 모델 분해가 불안정함을 실측으로 확인하고, 수 분 구간(AWR)의 필요성을 설명한다.</a:t>
            </a:r>
          </a:p>
          <a:p>
            <a:pPr algn="l">
              <a:spcAft>
                <a:spcPts val="600"/>
              </a:spcAft>
            </a:pPr>
            <a:r>
              <a:rPr sz="1600" b="0">
                <a:solidFill>
                  <a:srgbClr val="222222"/>
                </a:solidFill>
                <a:latin typeface="맑은 고딕"/>
                <a:ea typeface="맑은 고딕"/>
                <a:cs typeface="맑은 고딕"/>
              </a:rPr>
              <a:t>•  대기를 12개 클래스로 묶어 V$SYSTEM_WAIT_CLASS로 집계하고 Idle 제외 상위를 지목한다.</a:t>
            </a:r>
          </a:p>
          <a:p>
            <a:pPr algn="l">
              <a:spcAft>
                <a:spcPts val="600"/>
              </a:spcAft>
            </a:pPr>
            <a:r>
              <a:rPr sz="1600" b="0">
                <a:solidFill>
                  <a:srgbClr val="222222"/>
                </a:solidFill>
                <a:latin typeface="맑은 고딕"/>
                <a:ea typeface="맑은 고딕"/>
                <a:cs typeface="맑은 고딕"/>
              </a:rPr>
              <a:t>•  대기의 실측 증거를 V$SESSION_EVENT에서 확보한다(db file scattered read 120회·65ms).</a:t>
            </a:r>
          </a:p>
          <a:p>
            <a:pPr algn="l">
              <a:spcAft>
                <a:spcPts val="600"/>
              </a:spcAft>
            </a:pPr>
            <a:r>
              <a:rPr sz="1600" b="0">
                <a:solidFill>
                  <a:srgbClr val="222222"/>
                </a:solidFill>
                <a:latin typeface="맑은 고딕"/>
                <a:ea typeface="맑은 고딕"/>
                <a:cs typeface="맑은 고딕"/>
              </a:rPr>
              <a:t>•  히트율·계산 통계를 지표로 다루고 TIMED_STATISTICS·Idle·원시 카운트 검증 원칙을 적용한다.</a:t>
            </a:r>
          </a:p>
          <a:p>
            <a:pPr algn="l">
              <a:spcAft>
                <a:spcPts val="600"/>
              </a:spcAft>
            </a:pPr>
            <a:r>
              <a:rPr sz="1600" b="0">
                <a:solidFill>
                  <a:srgbClr val="222222"/>
                </a:solidFill>
                <a:latin typeface="맑은 고딕"/>
                <a:ea typeface="맑은 고딕"/>
                <a:cs typeface="맑은 고딕"/>
              </a:rPr>
              <a:t>•  STATISTICS_LEVEL 세 수준을 알고 이 장(무료)과 ch20 AWR(🔒 Diagnostics Pack)의 경계를 구분한다.</a:t>
            </a:r>
          </a:p>
        </p:txBody>
      </p:sp>
    </p:spTree>
    <p:extLst>
      <p:ext uri="{BB962C8B-B14F-4D97-AF65-F5344CB8AC3E}">
        <p14:creationId xmlns:p14="http://schemas.microsoft.com/office/powerpoint/2010/main" val="2325173658"/>
      </p:ext>
    </p:extLst>
  </p:cSld>
  <p:clrMapOvr>
    <a:masterClrMapping/>
  </p:clrMapOvr>
</p:sld>
</file>

<file path=ppt/slides/slide7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이 장의 구성 (Agenda)</a:t>
            </a:r>
          </a:p>
        </p:txBody>
      </p:sp>
      <p:sp>
        <p:nvSpPr>
          <p:cNvPr id="4" name="TextBox 3"/>
          <p:cNvSpPr txBox="1"/>
          <p:nvPr/>
        </p:nvSpPr>
        <p:spPr>
          <a:xfrm>
            <a:off x="640080" y="1371600"/>
            <a:ext cx="10881360" cy="2600712"/>
          </a:xfrm>
          <a:prstGeom prst="rect">
            <a:avLst/>
          </a:prstGeom>
          <a:noFill/>
        </p:spPr>
        <p:txBody>
          <a:bodyPr wrap="square">
            <a:spAutoFit/>
          </a:bodyPr>
          <a:lstStyle/>
          <a:p>
            <a:pPr algn="l">
              <a:spcAft>
                <a:spcPts val="600"/>
              </a:spcAft>
            </a:pPr>
            <a:r>
              <a:rPr sz="1600" b="0" dirty="0">
                <a:solidFill>
                  <a:srgbClr val="222222"/>
                </a:solidFill>
                <a:latin typeface="맑은 고딕"/>
                <a:ea typeface="맑은 고딕"/>
                <a:cs typeface="맑은 고딕"/>
              </a:rPr>
              <a:t>•  </a:t>
            </a:r>
            <a:r>
              <a:rPr lang="en-US" sz="1600" b="0" dirty="0">
                <a:solidFill>
                  <a:srgbClr val="222222"/>
                </a:solidFill>
                <a:latin typeface="맑은 고딕"/>
                <a:ea typeface="맑은 고딕"/>
                <a:cs typeface="맑은 고딕"/>
              </a:rPr>
              <a:t>19</a:t>
            </a:r>
            <a:r>
              <a:rPr sz="1600" b="0" dirty="0">
                <a:solidFill>
                  <a:srgbClr val="222222"/>
                </a:solidFill>
                <a:latin typeface="맑은 고딕"/>
                <a:ea typeface="맑은 고딕"/>
                <a:cs typeface="맑은 고딕"/>
              </a:rPr>
              <a:t>.2  </a:t>
            </a:r>
            <a:r>
              <a:rPr sz="1600" b="0" dirty="0" err="1">
                <a:solidFill>
                  <a:srgbClr val="222222"/>
                </a:solidFill>
                <a:latin typeface="맑은 고딕"/>
                <a:ea typeface="맑은 고딕"/>
                <a:cs typeface="맑은 고딕"/>
              </a:rPr>
              <a:t>데이터베이스</a:t>
            </a:r>
            <a:r>
              <a:rPr sz="1600" b="0" dirty="0">
                <a:solidFill>
                  <a:srgbClr val="222222"/>
                </a:solidFill>
                <a:latin typeface="맑은 고딕"/>
                <a:ea typeface="맑은 고딕"/>
                <a:cs typeface="맑은 고딕"/>
              </a:rPr>
              <a:t> </a:t>
            </a:r>
            <a:r>
              <a:rPr sz="1600" b="0" dirty="0" err="1">
                <a:solidFill>
                  <a:srgbClr val="222222"/>
                </a:solidFill>
                <a:latin typeface="맑은 고딕"/>
                <a:ea typeface="맑은 고딕"/>
                <a:cs typeface="맑은 고딕"/>
              </a:rPr>
              <a:t>통계와</a:t>
            </a:r>
            <a:r>
              <a:rPr sz="1600" b="0" dirty="0">
                <a:solidFill>
                  <a:srgbClr val="222222"/>
                </a:solidFill>
                <a:latin typeface="맑은 고딕"/>
                <a:ea typeface="맑은 고딕"/>
                <a:cs typeface="맑은 고딕"/>
              </a:rPr>
              <a:t> </a:t>
            </a:r>
            <a:r>
              <a:rPr sz="1600" b="0" dirty="0" err="1">
                <a:solidFill>
                  <a:srgbClr val="222222"/>
                </a:solidFill>
                <a:latin typeface="맑은 고딕"/>
                <a:ea typeface="맑은 고딕"/>
                <a:cs typeface="맑은 고딕"/>
              </a:rPr>
              <a:t>델타</a:t>
            </a:r>
            <a:r>
              <a:rPr sz="1600" b="0" dirty="0">
                <a:solidFill>
                  <a:srgbClr val="222222"/>
                </a:solidFill>
                <a:latin typeface="맑은 고딕"/>
                <a:ea typeface="맑은 고딕"/>
                <a:cs typeface="맑은 고딕"/>
              </a:rPr>
              <a:t> — </a:t>
            </a:r>
            <a:r>
              <a:rPr sz="1600" b="0" dirty="0" err="1">
                <a:solidFill>
                  <a:srgbClr val="222222"/>
                </a:solidFill>
                <a:latin typeface="맑은 고딕"/>
                <a:ea typeface="맑은 고딕"/>
                <a:cs typeface="맑은 고딕"/>
              </a:rPr>
              <a:t>누적값을</a:t>
            </a:r>
            <a:r>
              <a:rPr sz="1600" b="0" dirty="0">
                <a:solidFill>
                  <a:srgbClr val="222222"/>
                </a:solidFill>
                <a:latin typeface="맑은 고딕"/>
                <a:ea typeface="맑은 고딕"/>
                <a:cs typeface="맑은 고딕"/>
              </a:rPr>
              <a:t> </a:t>
            </a:r>
            <a:r>
              <a:rPr sz="1600" b="0" dirty="0" err="1">
                <a:solidFill>
                  <a:srgbClr val="222222"/>
                </a:solidFill>
                <a:latin typeface="맑은 고딕"/>
                <a:ea typeface="맑은 고딕"/>
                <a:cs typeface="맑은 고딕"/>
              </a:rPr>
              <a:t>그대로</a:t>
            </a:r>
            <a:r>
              <a:rPr sz="1600" b="0" dirty="0">
                <a:solidFill>
                  <a:srgbClr val="222222"/>
                </a:solidFill>
                <a:latin typeface="맑은 고딕"/>
                <a:ea typeface="맑은 고딕"/>
                <a:cs typeface="맑은 고딕"/>
              </a:rPr>
              <a:t> </a:t>
            </a:r>
            <a:r>
              <a:rPr sz="1600" b="0" dirty="0" err="1">
                <a:solidFill>
                  <a:srgbClr val="222222"/>
                </a:solidFill>
                <a:latin typeface="맑은 고딕"/>
                <a:ea typeface="맑은 고딕"/>
                <a:cs typeface="맑은 고딕"/>
              </a:rPr>
              <a:t>읽지</a:t>
            </a:r>
            <a:r>
              <a:rPr sz="1600" b="0" dirty="0">
                <a:solidFill>
                  <a:srgbClr val="222222"/>
                </a:solidFill>
                <a:latin typeface="맑은 고딕"/>
                <a:ea typeface="맑은 고딕"/>
                <a:cs typeface="맑은 고딕"/>
              </a:rPr>
              <a:t> </a:t>
            </a:r>
            <a:r>
              <a:rPr sz="1600" b="0" dirty="0" err="1">
                <a:solidFill>
                  <a:srgbClr val="222222"/>
                </a:solidFill>
                <a:latin typeface="맑은 고딕"/>
                <a:ea typeface="맑은 고딕"/>
                <a:cs typeface="맑은 고딕"/>
              </a:rPr>
              <a:t>않는다</a:t>
            </a:r>
            <a:endParaRPr sz="1600" b="0" dirty="0">
              <a:solidFill>
                <a:srgbClr val="222222"/>
              </a:solidFill>
              <a:latin typeface="맑은 고딕"/>
              <a:ea typeface="맑은 고딕"/>
              <a:cs typeface="맑은 고딕"/>
            </a:endParaRPr>
          </a:p>
          <a:p>
            <a:pPr algn="l">
              <a:spcAft>
                <a:spcPts val="600"/>
              </a:spcAft>
            </a:pPr>
            <a:r>
              <a:rPr sz="1600" b="0" dirty="0">
                <a:solidFill>
                  <a:srgbClr val="222222"/>
                </a:solidFill>
                <a:latin typeface="맑은 고딕"/>
                <a:ea typeface="맑은 고딕"/>
                <a:cs typeface="맑은 고딕"/>
              </a:rPr>
              <a:t>•  </a:t>
            </a:r>
            <a:r>
              <a:rPr lang="en-US" sz="1600" b="0" dirty="0">
                <a:solidFill>
                  <a:srgbClr val="222222"/>
                </a:solidFill>
                <a:latin typeface="맑은 고딕"/>
                <a:ea typeface="맑은 고딕"/>
                <a:cs typeface="맑은 고딕"/>
              </a:rPr>
              <a:t>19</a:t>
            </a:r>
            <a:r>
              <a:rPr sz="1600" b="0" dirty="0">
                <a:solidFill>
                  <a:srgbClr val="222222"/>
                </a:solidFill>
                <a:latin typeface="맑은 고딕"/>
                <a:ea typeface="맑은 고딕"/>
                <a:cs typeface="맑은 고딕"/>
              </a:rPr>
              <a:t>.3  DB Time — 이 </a:t>
            </a:r>
            <a:r>
              <a:rPr sz="1600" b="0" dirty="0" err="1">
                <a:solidFill>
                  <a:srgbClr val="222222"/>
                </a:solidFill>
                <a:latin typeface="맑은 고딕"/>
                <a:ea typeface="맑은 고딕"/>
                <a:cs typeface="맑은 고딕"/>
              </a:rPr>
              <a:t>과정의</a:t>
            </a:r>
            <a:r>
              <a:rPr sz="1600" b="0" dirty="0">
                <a:solidFill>
                  <a:srgbClr val="222222"/>
                </a:solidFill>
                <a:latin typeface="맑은 고딕"/>
                <a:ea typeface="맑은 고딕"/>
                <a:cs typeface="맑은 고딕"/>
              </a:rPr>
              <a:t> </a:t>
            </a:r>
            <a:r>
              <a:rPr sz="1600" b="0" dirty="0" err="1">
                <a:solidFill>
                  <a:srgbClr val="222222"/>
                </a:solidFill>
                <a:latin typeface="맑은 고딕"/>
                <a:ea typeface="맑은 고딕"/>
                <a:cs typeface="맑은 고딕"/>
              </a:rPr>
              <a:t>공통</a:t>
            </a:r>
            <a:r>
              <a:rPr sz="1600" b="0" dirty="0">
                <a:solidFill>
                  <a:srgbClr val="222222"/>
                </a:solidFill>
                <a:latin typeface="맑은 고딕"/>
                <a:ea typeface="맑은 고딕"/>
                <a:cs typeface="맑은 고딕"/>
              </a:rPr>
              <a:t> </a:t>
            </a:r>
            <a:r>
              <a:rPr sz="1600" b="0" dirty="0" err="1">
                <a:solidFill>
                  <a:srgbClr val="222222"/>
                </a:solidFill>
                <a:latin typeface="맑은 고딕"/>
                <a:ea typeface="맑은 고딕"/>
                <a:cs typeface="맑은 고딕"/>
              </a:rPr>
              <a:t>화폐</a:t>
            </a:r>
            <a:endParaRPr sz="1600" b="0" dirty="0">
              <a:solidFill>
                <a:srgbClr val="222222"/>
              </a:solidFill>
              <a:latin typeface="맑은 고딕"/>
              <a:ea typeface="맑은 고딕"/>
              <a:cs typeface="맑은 고딕"/>
            </a:endParaRPr>
          </a:p>
          <a:p>
            <a:pPr algn="l">
              <a:spcAft>
                <a:spcPts val="600"/>
              </a:spcAft>
            </a:pPr>
            <a:r>
              <a:rPr sz="1600" b="0" dirty="0">
                <a:solidFill>
                  <a:srgbClr val="222222"/>
                </a:solidFill>
                <a:latin typeface="맑은 고딕"/>
                <a:ea typeface="맑은 고딕"/>
                <a:cs typeface="맑은 고딕"/>
              </a:rPr>
              <a:t>•  </a:t>
            </a:r>
            <a:r>
              <a:rPr lang="en-US" sz="1600" b="0" dirty="0">
                <a:solidFill>
                  <a:srgbClr val="222222"/>
                </a:solidFill>
                <a:latin typeface="맑은 고딕"/>
                <a:ea typeface="맑은 고딕"/>
                <a:cs typeface="맑은 고딕"/>
              </a:rPr>
              <a:t>19</a:t>
            </a:r>
            <a:r>
              <a:rPr sz="1600" b="0" dirty="0">
                <a:solidFill>
                  <a:srgbClr val="222222"/>
                </a:solidFill>
                <a:latin typeface="맑은 고딕"/>
                <a:ea typeface="맑은 고딕"/>
                <a:cs typeface="맑은 고딕"/>
              </a:rPr>
              <a:t>.4  </a:t>
            </a:r>
            <a:r>
              <a:rPr sz="1600" b="0" dirty="0" err="1">
                <a:solidFill>
                  <a:srgbClr val="222222"/>
                </a:solidFill>
                <a:latin typeface="맑은 고딕"/>
                <a:ea typeface="맑은 고딕"/>
                <a:cs typeface="맑은 고딕"/>
              </a:rPr>
              <a:t>시간</a:t>
            </a:r>
            <a:r>
              <a:rPr sz="1600" b="0" dirty="0">
                <a:solidFill>
                  <a:srgbClr val="222222"/>
                </a:solidFill>
                <a:latin typeface="맑은 고딕"/>
                <a:ea typeface="맑은 고딕"/>
                <a:cs typeface="맑은 고딕"/>
              </a:rPr>
              <a:t> </a:t>
            </a:r>
            <a:r>
              <a:rPr sz="1600" b="0" dirty="0" err="1">
                <a:solidFill>
                  <a:srgbClr val="222222"/>
                </a:solidFill>
                <a:latin typeface="맑은 고딕"/>
                <a:ea typeface="맑은 고딕"/>
                <a:cs typeface="맑은 고딕"/>
              </a:rPr>
              <a:t>모델</a:t>
            </a:r>
            <a:r>
              <a:rPr sz="1600" b="0" dirty="0">
                <a:solidFill>
                  <a:srgbClr val="222222"/>
                </a:solidFill>
                <a:latin typeface="맑은 고딕"/>
                <a:ea typeface="맑은 고딕"/>
                <a:cs typeface="맑은 고딕"/>
              </a:rPr>
              <a:t> — </a:t>
            </a:r>
            <a:r>
              <a:rPr sz="1600" b="0" dirty="0" err="1">
                <a:solidFill>
                  <a:srgbClr val="222222"/>
                </a:solidFill>
                <a:latin typeface="맑은 고딕"/>
                <a:ea typeface="맑은 고딕"/>
                <a:cs typeface="맑은 고딕"/>
              </a:rPr>
              <a:t>V$SYS_TIME_MODEL과</a:t>
            </a:r>
            <a:r>
              <a:rPr sz="1600" b="0" dirty="0">
                <a:solidFill>
                  <a:srgbClr val="222222"/>
                </a:solidFill>
                <a:latin typeface="맑은 고딕"/>
                <a:ea typeface="맑은 고딕"/>
                <a:cs typeface="맑은 고딕"/>
              </a:rPr>
              <a:t> V$SESS_TIME_MODEL</a:t>
            </a:r>
          </a:p>
          <a:p>
            <a:pPr algn="l">
              <a:spcAft>
                <a:spcPts val="600"/>
              </a:spcAft>
            </a:pPr>
            <a:r>
              <a:rPr sz="1600" b="0" dirty="0">
                <a:solidFill>
                  <a:srgbClr val="222222"/>
                </a:solidFill>
                <a:latin typeface="맑은 고딕"/>
                <a:ea typeface="맑은 고딕"/>
                <a:cs typeface="맑은 고딕"/>
              </a:rPr>
              <a:t>•  </a:t>
            </a:r>
            <a:r>
              <a:rPr lang="en-US" sz="1600" b="0" dirty="0">
                <a:solidFill>
                  <a:srgbClr val="222222"/>
                </a:solidFill>
                <a:latin typeface="맑은 고딕"/>
                <a:ea typeface="맑은 고딕"/>
                <a:cs typeface="맑은 고딕"/>
              </a:rPr>
              <a:t>19</a:t>
            </a:r>
            <a:r>
              <a:rPr sz="1600" b="0" dirty="0">
                <a:solidFill>
                  <a:srgbClr val="222222"/>
                </a:solidFill>
                <a:latin typeface="맑은 고딕"/>
                <a:ea typeface="맑은 고딕"/>
                <a:cs typeface="맑은 고딕"/>
              </a:rPr>
              <a:t>.5  </a:t>
            </a:r>
            <a:r>
              <a:rPr sz="1600" b="0" dirty="0" err="1">
                <a:solidFill>
                  <a:srgbClr val="222222"/>
                </a:solidFill>
                <a:latin typeface="맑은 고딕"/>
                <a:ea typeface="맑은 고딕"/>
                <a:cs typeface="맑은 고딕"/>
              </a:rPr>
              <a:t>대기와</a:t>
            </a:r>
            <a:r>
              <a:rPr sz="1600" b="0" dirty="0">
                <a:solidFill>
                  <a:srgbClr val="222222"/>
                </a:solidFill>
                <a:latin typeface="맑은 고딕"/>
                <a:ea typeface="맑은 고딕"/>
                <a:cs typeface="맑은 고딕"/>
              </a:rPr>
              <a:t> </a:t>
            </a:r>
            <a:r>
              <a:rPr sz="1600" b="0" dirty="0" err="1">
                <a:solidFill>
                  <a:srgbClr val="222222"/>
                </a:solidFill>
                <a:latin typeface="맑은 고딕"/>
                <a:ea typeface="맑은 고딕"/>
                <a:cs typeface="맑은 고딕"/>
              </a:rPr>
              <a:t>대기</a:t>
            </a:r>
            <a:r>
              <a:rPr sz="1600" b="0" dirty="0">
                <a:solidFill>
                  <a:srgbClr val="222222"/>
                </a:solidFill>
                <a:latin typeface="맑은 고딕"/>
                <a:ea typeface="맑은 고딕"/>
                <a:cs typeface="맑은 고딕"/>
              </a:rPr>
              <a:t> </a:t>
            </a:r>
            <a:r>
              <a:rPr sz="1600" b="0" dirty="0" err="1">
                <a:solidFill>
                  <a:srgbClr val="222222"/>
                </a:solidFill>
                <a:latin typeface="맑은 고딕"/>
                <a:ea typeface="맑은 고딕"/>
                <a:cs typeface="맑은 고딕"/>
              </a:rPr>
              <a:t>클래스</a:t>
            </a:r>
            <a:r>
              <a:rPr sz="1600" b="0" dirty="0">
                <a:solidFill>
                  <a:srgbClr val="222222"/>
                </a:solidFill>
                <a:latin typeface="맑은 고딕"/>
                <a:ea typeface="맑은 고딕"/>
                <a:cs typeface="맑은 고딕"/>
              </a:rPr>
              <a:t> — V$SYSTEM_WAIT_CLASS</a:t>
            </a:r>
          </a:p>
          <a:p>
            <a:pPr algn="l">
              <a:spcAft>
                <a:spcPts val="600"/>
              </a:spcAft>
            </a:pPr>
            <a:r>
              <a:rPr sz="1600" b="0" dirty="0">
                <a:solidFill>
                  <a:srgbClr val="222222"/>
                </a:solidFill>
                <a:latin typeface="맑은 고딕"/>
                <a:ea typeface="맑은 고딕"/>
                <a:cs typeface="맑은 고딕"/>
              </a:rPr>
              <a:t>•  </a:t>
            </a:r>
            <a:r>
              <a:rPr lang="en-US" sz="1600" b="0" dirty="0">
                <a:solidFill>
                  <a:srgbClr val="222222"/>
                </a:solidFill>
                <a:latin typeface="맑은 고딕"/>
                <a:ea typeface="맑은 고딕"/>
                <a:cs typeface="맑은 고딕"/>
              </a:rPr>
              <a:t>19</a:t>
            </a:r>
            <a:r>
              <a:rPr sz="1600" b="0" dirty="0">
                <a:solidFill>
                  <a:srgbClr val="222222"/>
                </a:solidFill>
                <a:latin typeface="맑은 고딕"/>
                <a:ea typeface="맑은 고딕"/>
                <a:cs typeface="맑은 고딕"/>
              </a:rPr>
              <a:t>.6  </a:t>
            </a:r>
            <a:r>
              <a:rPr sz="1600" b="0" dirty="0" err="1">
                <a:solidFill>
                  <a:srgbClr val="222222"/>
                </a:solidFill>
                <a:latin typeface="맑은 고딕"/>
                <a:ea typeface="맑은 고딕"/>
                <a:cs typeface="맑은 고딕"/>
              </a:rPr>
              <a:t>통계</a:t>
            </a:r>
            <a:r>
              <a:rPr sz="1600" b="0" dirty="0">
                <a:solidFill>
                  <a:srgbClr val="222222"/>
                </a:solidFill>
                <a:latin typeface="맑은 고딕"/>
                <a:ea typeface="맑은 고딕"/>
                <a:cs typeface="맑은 고딕"/>
              </a:rPr>
              <a:t> </a:t>
            </a:r>
            <a:r>
              <a:rPr sz="1600" b="0" dirty="0" err="1">
                <a:solidFill>
                  <a:srgbClr val="222222"/>
                </a:solidFill>
                <a:latin typeface="맑은 고딕"/>
                <a:ea typeface="맑은 고딕"/>
                <a:cs typeface="맑은 고딕"/>
              </a:rPr>
              <a:t>해석의</a:t>
            </a:r>
            <a:r>
              <a:rPr sz="1600" b="0" dirty="0">
                <a:solidFill>
                  <a:srgbClr val="222222"/>
                </a:solidFill>
                <a:latin typeface="맑은 고딕"/>
                <a:ea typeface="맑은 고딕"/>
                <a:cs typeface="맑은 고딕"/>
              </a:rPr>
              <a:t> </a:t>
            </a:r>
            <a:r>
              <a:rPr sz="1600" b="0" dirty="0" err="1">
                <a:solidFill>
                  <a:srgbClr val="222222"/>
                </a:solidFill>
                <a:latin typeface="맑은 고딕"/>
                <a:ea typeface="맑은 고딕"/>
                <a:cs typeface="맑은 고딕"/>
              </a:rPr>
              <a:t>원칙</a:t>
            </a:r>
            <a:r>
              <a:rPr sz="1600" b="0" dirty="0">
                <a:solidFill>
                  <a:srgbClr val="222222"/>
                </a:solidFill>
                <a:latin typeface="맑은 고딕"/>
                <a:ea typeface="맑은 고딕"/>
                <a:cs typeface="맑은 고딕"/>
              </a:rPr>
              <a:t> — </a:t>
            </a:r>
            <a:r>
              <a:rPr sz="1600" b="0" dirty="0" err="1">
                <a:solidFill>
                  <a:srgbClr val="222222"/>
                </a:solidFill>
                <a:latin typeface="맑은 고딕"/>
                <a:ea typeface="맑은 고딕"/>
                <a:cs typeface="맑은 고딕"/>
              </a:rPr>
              <a:t>숫자를</a:t>
            </a:r>
            <a:r>
              <a:rPr sz="1600" b="0" dirty="0">
                <a:solidFill>
                  <a:srgbClr val="222222"/>
                </a:solidFill>
                <a:latin typeface="맑은 고딕"/>
                <a:ea typeface="맑은 고딕"/>
                <a:cs typeface="맑은 고딕"/>
              </a:rPr>
              <a:t> </a:t>
            </a:r>
            <a:r>
              <a:rPr sz="1600" b="0" dirty="0" err="1">
                <a:solidFill>
                  <a:srgbClr val="222222"/>
                </a:solidFill>
                <a:latin typeface="맑은 고딕"/>
                <a:ea typeface="맑은 고딕"/>
                <a:cs typeface="맑은 고딕"/>
              </a:rPr>
              <a:t>오독하지</a:t>
            </a:r>
            <a:r>
              <a:rPr sz="1600" b="0" dirty="0">
                <a:solidFill>
                  <a:srgbClr val="222222"/>
                </a:solidFill>
                <a:latin typeface="맑은 고딕"/>
                <a:ea typeface="맑은 고딕"/>
                <a:cs typeface="맑은 고딕"/>
              </a:rPr>
              <a:t> </a:t>
            </a:r>
            <a:r>
              <a:rPr sz="1600" b="0" dirty="0" err="1">
                <a:solidFill>
                  <a:srgbClr val="222222"/>
                </a:solidFill>
                <a:latin typeface="맑은 고딕"/>
                <a:ea typeface="맑은 고딕"/>
                <a:cs typeface="맑은 고딕"/>
              </a:rPr>
              <a:t>않는</a:t>
            </a:r>
            <a:r>
              <a:rPr sz="1600" b="0" dirty="0">
                <a:solidFill>
                  <a:srgbClr val="222222"/>
                </a:solidFill>
                <a:latin typeface="맑은 고딕"/>
                <a:ea typeface="맑은 고딕"/>
                <a:cs typeface="맑은 고딕"/>
              </a:rPr>
              <a:t> 법</a:t>
            </a:r>
          </a:p>
          <a:p>
            <a:pPr algn="l">
              <a:spcAft>
                <a:spcPts val="600"/>
              </a:spcAft>
            </a:pPr>
            <a:r>
              <a:rPr sz="1600" b="0" dirty="0">
                <a:solidFill>
                  <a:srgbClr val="222222"/>
                </a:solidFill>
                <a:latin typeface="맑은 고딕"/>
                <a:ea typeface="맑은 고딕"/>
                <a:cs typeface="맑은 고딕"/>
              </a:rPr>
              <a:t>•  </a:t>
            </a:r>
            <a:r>
              <a:rPr lang="en-US" sz="1600" b="0" dirty="0">
                <a:solidFill>
                  <a:srgbClr val="222222"/>
                </a:solidFill>
                <a:latin typeface="맑은 고딕"/>
                <a:ea typeface="맑은 고딕"/>
                <a:cs typeface="맑은 고딕"/>
              </a:rPr>
              <a:t>19</a:t>
            </a:r>
            <a:r>
              <a:rPr sz="1600" b="0" dirty="0">
                <a:solidFill>
                  <a:srgbClr val="222222"/>
                </a:solidFill>
                <a:latin typeface="맑은 고딕"/>
                <a:ea typeface="맑은 고딕"/>
                <a:cs typeface="맑은 고딕"/>
              </a:rPr>
              <a:t>.7  STATISTICS_LEVEL — </a:t>
            </a:r>
            <a:r>
              <a:rPr sz="1600" b="0" dirty="0" err="1">
                <a:solidFill>
                  <a:srgbClr val="222222"/>
                </a:solidFill>
                <a:latin typeface="맑은 고딕"/>
                <a:ea typeface="맑은 고딕"/>
                <a:cs typeface="맑은 고딕"/>
              </a:rPr>
              <a:t>측정을</a:t>
            </a:r>
            <a:r>
              <a:rPr sz="1600" b="0" dirty="0">
                <a:solidFill>
                  <a:srgbClr val="222222"/>
                </a:solidFill>
                <a:latin typeface="맑은 고딕"/>
                <a:ea typeface="맑은 고딕"/>
                <a:cs typeface="맑은 고딕"/>
              </a:rPr>
              <a:t> </a:t>
            </a:r>
            <a:r>
              <a:rPr sz="1600" b="0" dirty="0" err="1">
                <a:solidFill>
                  <a:srgbClr val="222222"/>
                </a:solidFill>
                <a:latin typeface="맑은 고딕"/>
                <a:ea typeface="맑은 고딕"/>
                <a:cs typeface="맑은 고딕"/>
              </a:rPr>
              <a:t>켜고</a:t>
            </a:r>
            <a:r>
              <a:rPr sz="1600" b="0" dirty="0">
                <a:solidFill>
                  <a:srgbClr val="222222"/>
                </a:solidFill>
                <a:latin typeface="맑은 고딕"/>
                <a:ea typeface="맑은 고딕"/>
                <a:cs typeface="맑은 고딕"/>
              </a:rPr>
              <a:t> </a:t>
            </a:r>
            <a:r>
              <a:rPr sz="1600" b="0" dirty="0" err="1">
                <a:solidFill>
                  <a:srgbClr val="222222"/>
                </a:solidFill>
                <a:latin typeface="맑은 고딕"/>
                <a:ea typeface="맑은 고딕"/>
                <a:cs typeface="맑은 고딕"/>
              </a:rPr>
              <a:t>끄는</a:t>
            </a:r>
            <a:r>
              <a:rPr sz="1600" b="0" dirty="0">
                <a:solidFill>
                  <a:srgbClr val="222222"/>
                </a:solidFill>
                <a:latin typeface="맑은 고딕"/>
                <a:ea typeface="맑은 고딕"/>
                <a:cs typeface="맑은 고딕"/>
              </a:rPr>
              <a:t> </a:t>
            </a:r>
            <a:r>
              <a:rPr sz="1600" b="0" dirty="0" err="1">
                <a:solidFill>
                  <a:srgbClr val="222222"/>
                </a:solidFill>
                <a:latin typeface="맑은 고딕"/>
                <a:ea typeface="맑은 고딕"/>
                <a:cs typeface="맑은 고딕"/>
              </a:rPr>
              <a:t>스위치</a:t>
            </a:r>
            <a:endParaRPr sz="1600" b="0" dirty="0">
              <a:solidFill>
                <a:srgbClr val="222222"/>
              </a:solidFill>
              <a:latin typeface="맑은 고딕"/>
              <a:ea typeface="맑은 고딕"/>
              <a:cs typeface="맑은 고딕"/>
            </a:endParaRPr>
          </a:p>
          <a:p>
            <a:pPr algn="l">
              <a:spcAft>
                <a:spcPts val="600"/>
              </a:spcAft>
            </a:pPr>
            <a:r>
              <a:rPr sz="1600" b="0" dirty="0">
                <a:solidFill>
                  <a:srgbClr val="222222"/>
                </a:solidFill>
                <a:latin typeface="맑은 고딕"/>
                <a:ea typeface="맑은 고딕"/>
                <a:cs typeface="맑은 고딕"/>
              </a:rPr>
              <a:t>•  </a:t>
            </a:r>
            <a:r>
              <a:rPr lang="en-US" sz="1600" b="0" dirty="0">
                <a:solidFill>
                  <a:srgbClr val="222222"/>
                </a:solidFill>
                <a:latin typeface="맑은 고딕"/>
                <a:ea typeface="맑은 고딕"/>
                <a:cs typeface="맑은 고딕"/>
              </a:rPr>
              <a:t>19</a:t>
            </a:r>
            <a:r>
              <a:rPr sz="1600" b="0" dirty="0">
                <a:solidFill>
                  <a:srgbClr val="222222"/>
                </a:solidFill>
                <a:latin typeface="맑은 고딕"/>
                <a:ea typeface="맑은 고딕"/>
                <a:cs typeface="맑은 고딕"/>
              </a:rPr>
              <a:t>.8  </a:t>
            </a:r>
            <a:r>
              <a:rPr sz="1600" b="0" dirty="0" err="1">
                <a:solidFill>
                  <a:srgbClr val="222222"/>
                </a:solidFill>
                <a:latin typeface="맑은 고딕"/>
                <a:ea typeface="맑은 고딕"/>
                <a:cs typeface="맑은 고딕"/>
              </a:rPr>
              <a:t>부하</a:t>
            </a:r>
            <a:r>
              <a:rPr sz="1600" b="0" dirty="0">
                <a:solidFill>
                  <a:srgbClr val="222222"/>
                </a:solidFill>
                <a:latin typeface="맑은 고딕"/>
                <a:ea typeface="맑은 고딕"/>
                <a:cs typeface="맑은 고딕"/>
              </a:rPr>
              <a:t> </a:t>
            </a:r>
            <a:r>
              <a:rPr sz="1600" b="0" dirty="0" err="1">
                <a:solidFill>
                  <a:srgbClr val="222222"/>
                </a:solidFill>
                <a:latin typeface="맑은 고딕"/>
                <a:ea typeface="맑은 고딕"/>
                <a:cs typeface="맑은 고딕"/>
              </a:rPr>
              <a:t>전후로</a:t>
            </a:r>
            <a:r>
              <a:rPr sz="1600" b="0" dirty="0">
                <a:solidFill>
                  <a:srgbClr val="222222"/>
                </a:solidFill>
                <a:latin typeface="맑은 고딕"/>
                <a:ea typeface="맑은 고딕"/>
                <a:cs typeface="맑은 고딕"/>
              </a:rPr>
              <a:t> DB </a:t>
            </a:r>
            <a:r>
              <a:rPr sz="1600" b="0" dirty="0" err="1">
                <a:solidFill>
                  <a:srgbClr val="222222"/>
                </a:solidFill>
                <a:latin typeface="맑은 고딕"/>
                <a:ea typeface="맑은 고딕"/>
                <a:cs typeface="맑은 고딕"/>
              </a:rPr>
              <a:t>Time을</a:t>
            </a:r>
            <a:r>
              <a:rPr sz="1600" b="0" dirty="0">
                <a:solidFill>
                  <a:srgbClr val="222222"/>
                </a:solidFill>
                <a:latin typeface="맑은 고딕"/>
                <a:ea typeface="맑은 고딕"/>
                <a:cs typeface="맑은 고딕"/>
              </a:rPr>
              <a:t> </a:t>
            </a:r>
            <a:r>
              <a:rPr sz="1600" b="0" dirty="0" err="1">
                <a:solidFill>
                  <a:srgbClr val="222222"/>
                </a:solidFill>
                <a:latin typeface="맑은 고딕"/>
                <a:ea typeface="맑은 고딕"/>
                <a:cs typeface="맑은 고딕"/>
              </a:rPr>
              <a:t>재는</a:t>
            </a:r>
            <a:r>
              <a:rPr sz="1600" b="0" dirty="0">
                <a:solidFill>
                  <a:srgbClr val="222222"/>
                </a:solidFill>
                <a:latin typeface="맑은 고딕"/>
                <a:ea typeface="맑은 고딕"/>
                <a:cs typeface="맑은 고딕"/>
              </a:rPr>
              <a:t> </a:t>
            </a:r>
            <a:r>
              <a:rPr sz="1600" b="0" dirty="0" err="1">
                <a:solidFill>
                  <a:srgbClr val="222222"/>
                </a:solidFill>
                <a:latin typeface="맑은 고딕"/>
                <a:ea typeface="맑은 고딕"/>
                <a:cs typeface="맑은 고딕"/>
              </a:rPr>
              <a:t>절차</a:t>
            </a:r>
            <a:endParaRPr sz="1600" b="0" dirty="0">
              <a:solidFill>
                <a:srgbClr val="222222"/>
              </a:solidFill>
              <a:latin typeface="맑은 고딕"/>
              <a:ea typeface="맑은 고딕"/>
              <a:cs typeface="맑은 고딕"/>
            </a:endParaRPr>
          </a:p>
          <a:p>
            <a:pPr algn="l">
              <a:spcAft>
                <a:spcPts val="600"/>
              </a:spcAft>
            </a:pPr>
            <a:r>
              <a:rPr sz="1600" b="0" dirty="0">
                <a:solidFill>
                  <a:srgbClr val="222222"/>
                </a:solidFill>
                <a:latin typeface="맑은 고딕"/>
                <a:ea typeface="맑은 고딕"/>
                <a:cs typeface="맑은 고딕"/>
              </a:rPr>
              <a:t>•  ※ ADMIN 31장의 </a:t>
            </a:r>
            <a:r>
              <a:rPr sz="1600" b="0" dirty="0" err="1">
                <a:solidFill>
                  <a:srgbClr val="222222"/>
                </a:solidFill>
                <a:latin typeface="맑은 고딕"/>
                <a:ea typeface="맑은 고딕"/>
                <a:cs typeface="맑은 고딕"/>
              </a:rPr>
              <a:t>시간</a:t>
            </a:r>
            <a:r>
              <a:rPr sz="1600" b="0" dirty="0">
                <a:solidFill>
                  <a:srgbClr val="222222"/>
                </a:solidFill>
                <a:latin typeface="맑은 고딕"/>
                <a:ea typeface="맑은 고딕"/>
                <a:cs typeface="맑은 고딕"/>
              </a:rPr>
              <a:t> </a:t>
            </a:r>
            <a:r>
              <a:rPr sz="1600" b="0" dirty="0" err="1">
                <a:solidFill>
                  <a:srgbClr val="222222"/>
                </a:solidFill>
                <a:latin typeface="맑은 고딕"/>
                <a:ea typeface="맑은 고딕"/>
                <a:cs typeface="맑은 고딕"/>
              </a:rPr>
              <a:t>모델·AWR</a:t>
            </a:r>
            <a:r>
              <a:rPr sz="1600" b="0" dirty="0">
                <a:solidFill>
                  <a:srgbClr val="222222"/>
                </a:solidFill>
                <a:latin typeface="맑은 고딕"/>
                <a:ea typeface="맑은 고딕"/>
                <a:cs typeface="맑은 고딕"/>
              </a:rPr>
              <a:t> </a:t>
            </a:r>
            <a:r>
              <a:rPr sz="1600" b="0" dirty="0" err="1">
                <a:solidFill>
                  <a:srgbClr val="222222"/>
                </a:solidFill>
                <a:latin typeface="맑은 고딕"/>
                <a:ea typeface="맑은 고딕"/>
                <a:cs typeface="맑은 고딕"/>
              </a:rPr>
              <a:t>개념</a:t>
            </a:r>
            <a:r>
              <a:rPr sz="1600" b="0" dirty="0">
                <a:solidFill>
                  <a:srgbClr val="222222"/>
                </a:solidFill>
                <a:latin typeface="맑은 고딕"/>
                <a:ea typeface="맑은 고딕"/>
                <a:cs typeface="맑은 고딕"/>
              </a:rPr>
              <a:t> </a:t>
            </a:r>
            <a:r>
              <a:rPr sz="1600" b="0" dirty="0" err="1">
                <a:solidFill>
                  <a:srgbClr val="222222"/>
                </a:solidFill>
                <a:latin typeface="맑은 고딕"/>
                <a:ea typeface="맑은 고딕"/>
                <a:cs typeface="맑은 고딕"/>
              </a:rPr>
              <a:t>소개를</a:t>
            </a:r>
            <a:r>
              <a:rPr sz="1600" b="0" dirty="0">
                <a:solidFill>
                  <a:srgbClr val="222222"/>
                </a:solidFill>
                <a:latin typeface="맑은 고딕"/>
                <a:ea typeface="맑은 고딕"/>
                <a:cs typeface="맑은 고딕"/>
              </a:rPr>
              <a:t> </a:t>
            </a:r>
            <a:r>
              <a:rPr sz="1600" b="0" dirty="0" err="1">
                <a:solidFill>
                  <a:srgbClr val="222222"/>
                </a:solidFill>
                <a:latin typeface="맑은 고딕"/>
                <a:ea typeface="맑은 고딕"/>
                <a:cs typeface="맑은 고딕"/>
              </a:rPr>
              <a:t>실측·판독으로</a:t>
            </a:r>
            <a:r>
              <a:rPr sz="1600" b="0" dirty="0">
                <a:solidFill>
                  <a:srgbClr val="222222"/>
                </a:solidFill>
                <a:latin typeface="맑은 고딕"/>
                <a:ea typeface="맑은 고딕"/>
                <a:cs typeface="맑은 고딕"/>
              </a:rPr>
              <a:t> </a:t>
            </a:r>
            <a:r>
              <a:rPr sz="1600" b="0" dirty="0" err="1">
                <a:solidFill>
                  <a:srgbClr val="222222"/>
                </a:solidFill>
                <a:latin typeface="맑은 고딕"/>
                <a:ea typeface="맑은 고딕"/>
                <a:cs typeface="맑은 고딕"/>
              </a:rPr>
              <a:t>확장</a:t>
            </a:r>
            <a:r>
              <a:rPr sz="1600" b="0" dirty="0">
                <a:solidFill>
                  <a:srgbClr val="222222"/>
                </a:solidFill>
                <a:latin typeface="맑은 고딕"/>
                <a:ea typeface="맑은 고딕"/>
                <a:cs typeface="맑은 고딕"/>
              </a:rPr>
              <a:t>(non-CDB </a:t>
            </a:r>
            <a:r>
              <a:rPr sz="1600" b="0" dirty="0" err="1">
                <a:solidFill>
                  <a:srgbClr val="222222"/>
                </a:solidFill>
                <a:latin typeface="맑은 고딕"/>
                <a:ea typeface="맑은 고딕"/>
                <a:cs typeface="맑은 고딕"/>
              </a:rPr>
              <a:t>orcl</a:t>
            </a:r>
            <a:r>
              <a:rPr sz="1600" b="0" dirty="0">
                <a:solidFill>
                  <a:srgbClr val="222222"/>
                </a:solidFill>
                <a:latin typeface="맑은 고딕"/>
                <a:ea typeface="맑은 고딕"/>
                <a:cs typeface="맑은 고딕"/>
              </a:rPr>
              <a:t> 19.3).</a:t>
            </a:r>
          </a:p>
        </p:txBody>
      </p:sp>
    </p:spTree>
    <p:extLst>
      <p:ext uri="{BB962C8B-B14F-4D97-AF65-F5344CB8AC3E}">
        <p14:creationId xmlns:p14="http://schemas.microsoft.com/office/powerpoint/2010/main" val="3897524352"/>
      </p:ext>
    </p:extLst>
  </p:cSld>
  <p:clrMapOvr>
    <a:masterClrMapping/>
  </p:clrMapOvr>
</p:sld>
</file>

<file path=ppt/slides/slide7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707886"/>
          </a:xfrm>
          <a:prstGeom prst="rect">
            <a:avLst/>
          </a:prstGeom>
          <a:noFill/>
        </p:spPr>
        <p:txBody>
          <a:bodyPr wrap="square">
            <a:spAutoFit/>
          </a:bodyPr>
          <a:lstStyle/>
          <a:p>
            <a:pPr algn="l"/>
            <a:r>
              <a:rPr lang="en-US" sz="4000" b="1" dirty="0">
                <a:solidFill>
                  <a:srgbClr val="FFFFFF"/>
                </a:solidFill>
                <a:latin typeface="맑은 고딕"/>
                <a:ea typeface="맑은 고딕"/>
                <a:cs typeface="맑은 고딕"/>
              </a:rPr>
              <a:t>19</a:t>
            </a:r>
            <a:r>
              <a:rPr sz="4000" b="1" dirty="0">
                <a:solidFill>
                  <a:srgbClr val="FFFFFF"/>
                </a:solidFill>
                <a:latin typeface="맑은 고딕"/>
                <a:ea typeface="맑은 고딕"/>
                <a:cs typeface="맑은 고딕"/>
              </a:rPr>
              <a:t>.2</a:t>
            </a:r>
          </a:p>
        </p:txBody>
      </p:sp>
      <p:sp>
        <p:nvSpPr>
          <p:cNvPr id="4" name="TextBox 3"/>
          <p:cNvSpPr txBox="1"/>
          <p:nvPr/>
        </p:nvSpPr>
        <p:spPr>
          <a:xfrm>
            <a:off x="822960" y="3017520"/>
            <a:ext cx="10515600" cy="914400"/>
          </a:xfrm>
          <a:prstGeom prst="rect">
            <a:avLst/>
          </a:prstGeom>
          <a:noFill/>
        </p:spPr>
        <p:txBody>
          <a:bodyPr wrap="square">
            <a:spAutoFit/>
          </a:bodyPr>
          <a:lstStyle/>
          <a:p>
            <a:pPr algn="l"/>
            <a:r>
              <a:rPr sz="2800" b="1">
                <a:solidFill>
                  <a:srgbClr val="FFFFFF"/>
                </a:solidFill>
                <a:latin typeface="맑은 고딕"/>
                <a:ea typeface="맑은 고딕"/>
                <a:cs typeface="맑은 고딕"/>
              </a:rPr>
              <a:t>데이터베이스 통계와 델타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400"/>
              </a:spcAft>
            </a:pPr>
            <a:r>
              <a:rPr sz="1600" b="0">
                <a:solidFill>
                  <a:srgbClr val="FFFFFF"/>
                </a:solidFill>
                <a:latin typeface="맑은 고딕"/>
                <a:ea typeface="맑은 고딕"/>
                <a:cs typeface="맑은 고딕"/>
              </a:rPr>
              <a:t>•  누적값 vs 델타</a:t>
            </a:r>
          </a:p>
          <a:p>
            <a:pPr algn="l">
              <a:spcAft>
                <a:spcPts val="400"/>
              </a:spcAft>
            </a:pPr>
            <a:r>
              <a:rPr sz="1600" b="0">
                <a:solidFill>
                  <a:srgbClr val="FFFFFF"/>
                </a:solidFill>
                <a:latin typeface="맑은 고딕"/>
                <a:ea typeface="맑은 고딕"/>
                <a:cs typeface="맑은 고딕"/>
              </a:rPr>
              <a:t>•  관심 구간의 변화량</a:t>
            </a:r>
          </a:p>
          <a:p>
            <a:pPr algn="l">
              <a:spcAft>
                <a:spcPts val="400"/>
              </a:spcAft>
            </a:pPr>
            <a:r>
              <a:rPr sz="1600" b="0">
                <a:solidFill>
                  <a:srgbClr val="FFFFFF"/>
                </a:solidFill>
                <a:latin typeface="맑은 고딕"/>
                <a:ea typeface="맑은 고딕"/>
                <a:cs typeface="맑은 고딕"/>
              </a:rPr>
              <a:t>•  짧은 구간의 함정 → ch20</a:t>
            </a:r>
          </a:p>
        </p:txBody>
      </p:sp>
    </p:spTree>
    <p:extLst>
      <p:ext uri="{BB962C8B-B14F-4D97-AF65-F5344CB8AC3E}">
        <p14:creationId xmlns:p14="http://schemas.microsoft.com/office/powerpoint/2010/main" val="2814843626"/>
      </p:ext>
    </p:extLst>
  </p:cSld>
  <p:clrMapOvr>
    <a:masterClrMapping/>
  </p:clrMapOvr>
</p:sld>
</file>

<file path=ppt/slides/slide7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누적값은 기동 이후의 합계다</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cs typeface="맑은 고딕"/>
              </a:rPr>
              <a:t>cumulative statistics</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V$SYS_TIME_MODEL·V$SYSSTAT·V$SYSTEM_WAIT_CLASS 값은 기동 이후 누적</a:t>
            </a:r>
          </a:p>
          <a:p>
            <a:pPr algn="l">
              <a:spcAft>
                <a:spcPts val="800"/>
              </a:spcAft>
            </a:pPr>
            <a:r>
              <a:rPr sz="1700" b="0">
                <a:solidFill>
                  <a:srgbClr val="222222"/>
                </a:solidFill>
                <a:latin typeface="맑은 고딕"/>
                <a:ea typeface="맑은 고딕"/>
                <a:cs typeface="맑은 고딕"/>
              </a:rPr>
              <a:t>•  값은 절대 0이 아니고, 오래 떠 있을수록 커진다</a:t>
            </a:r>
          </a:p>
          <a:p>
            <a:pPr algn="l">
              <a:spcAft>
                <a:spcPts val="800"/>
              </a:spcAft>
            </a:pPr>
            <a:r>
              <a:rPr sz="1700" b="0">
                <a:solidFill>
                  <a:srgbClr val="222222"/>
                </a:solidFill>
                <a:latin typeface="맑은 고딕"/>
                <a:ea typeface="맑은 고딕"/>
                <a:cs typeface="맑은 고딕"/>
              </a:rPr>
              <a:t>•  절대값 하나로는 좋다·나쁘다를 판정할 수 없다</a:t>
            </a:r>
          </a:p>
          <a:p>
            <a:pPr algn="l">
              <a:spcAft>
                <a:spcPts val="800"/>
              </a:spcAft>
            </a:pPr>
            <a:r>
              <a:rPr sz="1700" b="0">
                <a:solidFill>
                  <a:srgbClr val="222222"/>
                </a:solidFill>
                <a:latin typeface="맑은 고딕"/>
                <a:ea typeface="맑은 고딕"/>
                <a:cs typeface="맑은 고딕"/>
              </a:rPr>
              <a:t>•  의미를 가지려면 '어느 구간의 값인가'가 붙어야 한다</a:t>
            </a:r>
          </a:p>
        </p:txBody>
      </p:sp>
    </p:spTree>
    <p:extLst>
      <p:ext uri="{BB962C8B-B14F-4D97-AF65-F5344CB8AC3E}">
        <p14:creationId xmlns:p14="http://schemas.microsoft.com/office/powerpoint/2010/main" val="4142534561"/>
      </p:ext>
    </p:extLst>
  </p:cSld>
  <p:clrMapOvr>
    <a:masterClrMapping/>
  </p:clrMapOvr>
</p:sld>
</file>

<file path=ppt/slides/slide7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V$SYS_TIME_MODEL — 누적값 실측</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cs typeface="맑은 고딕"/>
              </a:rPr>
              <a:t>부하 전, 단위 마이크로초</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tlCol="0" anchor="ctr"/>
          <a:lstStyle/>
          <a:p>
            <a:pPr algn="l">
              <a:spcAft>
                <a:spcPts val="0"/>
              </a:spcAft>
            </a:pPr>
            <a:r>
              <a:rPr sz="1250" b="0">
                <a:solidFill>
                  <a:srgbClr val="F2F2F2"/>
                </a:solidFill>
                <a:latin typeface="Consolas"/>
                <a:ea typeface="Consolas"/>
                <a:cs typeface="Consolas"/>
              </a:rPr>
              <a:t>SYS@orcl&gt; SELECT stat_name, value FROM v$sys_time_model</a:t>
            </a:r>
          </a:p>
          <a:p>
            <a:pPr algn="l">
              <a:spcAft>
                <a:spcPts val="0"/>
              </a:spcAft>
            </a:pPr>
            <a:r>
              <a:rPr sz="1250" b="0">
                <a:solidFill>
                  <a:srgbClr val="F2F2F2"/>
                </a:solidFill>
                <a:latin typeface="Consolas"/>
                <a:ea typeface="Consolas"/>
                <a:cs typeface="Consolas"/>
              </a:rPr>
              <a:t>  2       WHERE stat_name IN ('DB time','DB CPU', ...)</a:t>
            </a:r>
          </a:p>
          <a:p>
            <a:pPr algn="l">
              <a:spcAft>
                <a:spcPts val="0"/>
              </a:spcAft>
            </a:pPr>
            <a:r>
              <a:rPr sz="1250" b="0">
                <a:solidFill>
                  <a:srgbClr val="F2F2F2"/>
                </a:solidFill>
                <a:latin typeface="Consolas"/>
                <a:ea typeface="Consolas"/>
                <a:cs typeface="Consolas"/>
              </a:rPr>
              <a:t>  3       ORDER BY value DESC;</a:t>
            </a:r>
          </a:p>
          <a:p>
            <a:pPr algn="l">
              <a:spcAft>
                <a:spcPts val="0"/>
              </a:spcAft>
            </a:pPr>
            <a:r>
              <a:rPr sz="1250" b="0">
                <a:solidFill>
                  <a:srgbClr val="F2F2F2"/>
                </a:solidFill>
                <a:latin typeface="Consolas"/>
                <a:ea typeface="Consolas"/>
                <a:cs typeface="Consolas"/>
              </a:rPr>
              <a:t> </a:t>
            </a:r>
          </a:p>
          <a:p>
            <a:pPr algn="l">
              <a:spcAft>
                <a:spcPts val="0"/>
              </a:spcAft>
            </a:pPr>
            <a:r>
              <a:rPr sz="1250" b="0">
                <a:solidFill>
                  <a:srgbClr val="F2F2F2"/>
                </a:solidFill>
                <a:latin typeface="Consolas"/>
                <a:ea typeface="Consolas"/>
                <a:cs typeface="Consolas"/>
              </a:rPr>
              <a:t>STAT_NAME                          VALUE</a:t>
            </a:r>
          </a:p>
          <a:p>
            <a:pPr algn="l">
              <a:spcAft>
                <a:spcPts val="0"/>
              </a:spcAft>
            </a:pPr>
            <a:r>
              <a:rPr sz="1250" b="0">
                <a:solidFill>
                  <a:srgbClr val="F2F2F2"/>
                </a:solidFill>
                <a:latin typeface="Consolas"/>
                <a:ea typeface="Consolas"/>
                <a:cs typeface="Consolas"/>
              </a:rPr>
              <a:t>------------------------------ ----------</a:t>
            </a:r>
          </a:p>
          <a:p>
            <a:pPr algn="l">
              <a:spcAft>
                <a:spcPts val="0"/>
              </a:spcAft>
            </a:pPr>
            <a:r>
              <a:rPr sz="1250" b="0">
                <a:solidFill>
                  <a:srgbClr val="F2F2F2"/>
                </a:solidFill>
                <a:latin typeface="Consolas"/>
                <a:ea typeface="Consolas"/>
                <a:cs typeface="Consolas"/>
              </a:rPr>
              <a:t>DB time                          67698738</a:t>
            </a:r>
          </a:p>
          <a:p>
            <a:pPr algn="l">
              <a:spcAft>
                <a:spcPts val="0"/>
              </a:spcAft>
            </a:pPr>
            <a:r>
              <a:rPr sz="1250" b="0">
                <a:solidFill>
                  <a:srgbClr val="F2F2F2"/>
                </a:solidFill>
                <a:latin typeface="Consolas"/>
                <a:ea typeface="Consolas"/>
                <a:cs typeface="Consolas"/>
              </a:rPr>
              <a:t>sql execute elapsed time         29344735</a:t>
            </a:r>
          </a:p>
          <a:p>
            <a:pPr algn="l">
              <a:spcAft>
                <a:spcPts val="0"/>
              </a:spcAft>
            </a:pPr>
            <a:r>
              <a:rPr sz="1250" b="0">
                <a:solidFill>
                  <a:srgbClr val="F2F2F2"/>
                </a:solidFill>
                <a:latin typeface="Consolas"/>
                <a:ea typeface="Consolas"/>
                <a:cs typeface="Consolas"/>
              </a:rPr>
              <a:t>DB CPU                           17487220</a:t>
            </a:r>
          </a:p>
          <a:p>
            <a:pPr algn="l">
              <a:spcAft>
                <a:spcPts val="0"/>
              </a:spcAft>
            </a:pPr>
            <a:r>
              <a:rPr sz="1250" b="0">
                <a:solidFill>
                  <a:srgbClr val="F2F2F2"/>
                </a:solidFill>
                <a:latin typeface="Consolas"/>
                <a:ea typeface="Consolas"/>
                <a:cs typeface="Consolas"/>
              </a:rPr>
              <a:t>parse time elapsed                3907411</a:t>
            </a:r>
          </a:p>
          <a:p>
            <a:pPr algn="l">
              <a:spcAft>
                <a:spcPts val="0"/>
              </a:spcAft>
            </a:pPr>
            <a:r>
              <a:rPr sz="1250" b="0">
                <a:solidFill>
                  <a:srgbClr val="F2F2F2"/>
                </a:solidFill>
                <a:latin typeface="Consolas"/>
                <a:ea typeface="Consolas"/>
                <a:cs typeface="Consolas"/>
              </a:rPr>
              <a:t>hard parse elapsed time           3674923</a:t>
            </a:r>
          </a:p>
        </p:txBody>
      </p:sp>
    </p:spTree>
    <p:extLst>
      <p:ext uri="{BB962C8B-B14F-4D97-AF65-F5344CB8AC3E}">
        <p14:creationId xmlns:p14="http://schemas.microsoft.com/office/powerpoint/2010/main" val="2385064764"/>
      </p:ext>
    </p:extLst>
  </p:cSld>
  <p:clrMapOvr>
    <a:masterClrMapping/>
  </p:clrMapOvr>
</p:sld>
</file>

<file path=ppt/slides/slide7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측정 없이 판단하지 않는다</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cs typeface="맑은 고딕"/>
              </a:rPr>
              <a:t>조치 전에 근거를 남긴다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성능을 재려면 통계가 '있어야' 한다(수집이 켜져 있어야)</a:t>
            </a:r>
          </a:p>
          <a:p>
            <a:pPr algn="l">
              <a:spcAft>
                <a:spcPts val="800"/>
              </a:spcAft>
            </a:pPr>
            <a:r>
              <a:rPr sz="1700" b="0">
                <a:solidFill>
                  <a:srgbClr val="222222"/>
                </a:solidFill>
                <a:latin typeface="맑은 고딕"/>
                <a:ea typeface="맑은 고딕"/>
                <a:cs typeface="맑은 고딕"/>
              </a:rPr>
              <a:t>•  구간 시작값을 캡처 안 하면 델타를 만들 재료가 없다</a:t>
            </a:r>
          </a:p>
          <a:p>
            <a:pPr algn="l">
              <a:spcAft>
                <a:spcPts val="800"/>
              </a:spcAft>
            </a:pPr>
            <a:r>
              <a:rPr sz="1700" b="0">
                <a:solidFill>
                  <a:srgbClr val="222222"/>
                </a:solidFill>
                <a:latin typeface="맑은 고딕"/>
                <a:ea typeface="맑은 고딕"/>
                <a:cs typeface="맑은 고딕"/>
              </a:rPr>
              <a:t>•  조치 전 근거 캡처 = 방법론이 아니라 습관</a:t>
            </a:r>
          </a:p>
          <a:p>
            <a:pPr algn="l">
              <a:spcAft>
                <a:spcPts val="800"/>
              </a:spcAft>
            </a:pPr>
            <a:r>
              <a:rPr sz="1700" b="0">
                <a:solidFill>
                  <a:srgbClr val="222222"/>
                </a:solidFill>
                <a:latin typeface="맑은 고딕"/>
                <a:ea typeface="맑은 고딕"/>
                <a:cs typeface="맑은 고딕"/>
              </a:rPr>
              <a:t>•  성능 데이터는 부하 없이 생기지 않는다 → 만들어서 잰다</a:t>
            </a:r>
          </a:p>
        </p:txBody>
      </p:sp>
    </p:spTree>
    <p:extLst>
      <p:ext uri="{BB962C8B-B14F-4D97-AF65-F5344CB8AC3E}">
        <p14:creationId xmlns:p14="http://schemas.microsoft.com/office/powerpoint/2010/main" val="2806120746"/>
      </p:ext>
    </p:extLst>
  </p:cSld>
  <p:clrMapOvr>
    <a:masterClrMapping/>
  </p:clrMapOvr>
</p:sld>
</file>

<file path=ppt/slides/slide7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델타와 짧은 구간의 함정</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cs typeface="맑은 고딕"/>
              </a:rPr>
              <a:t>이 장의 핵심 기법</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델타 = 끝 누적값 − 시작 누적값 (구간의 실제 부하)</a:t>
            </a:r>
          </a:p>
          <a:p>
            <a:pPr algn="l">
              <a:spcAft>
                <a:spcPts val="800"/>
              </a:spcAft>
            </a:pPr>
            <a:r>
              <a:rPr sz="1700" b="0">
                <a:solidFill>
                  <a:srgbClr val="222222"/>
                </a:solidFill>
                <a:latin typeface="맑은 고딕"/>
                <a:ea typeface="맑은 고딕"/>
                <a:cs typeface="맑은 고딕"/>
              </a:rPr>
              <a:t>•  AWR이 하는 일 = 두 스냅샷의 델타 계산</a:t>
            </a:r>
          </a:p>
          <a:p>
            <a:pPr algn="l">
              <a:spcAft>
                <a:spcPts val="800"/>
              </a:spcAft>
            </a:pPr>
            <a:r>
              <a:rPr sz="1700" b="0">
                <a:solidFill>
                  <a:srgbClr val="222222"/>
                </a:solidFill>
                <a:latin typeface="맑은 고딕"/>
                <a:ea typeface="맑은 고딕"/>
                <a:cs typeface="맑은 고딕"/>
              </a:rPr>
              <a:t>•  구간이 너무 짧으면 CPU/대기 분해가 노이즈로 불안정</a:t>
            </a:r>
          </a:p>
          <a:p>
            <a:pPr algn="l">
              <a:spcAft>
                <a:spcPts val="800"/>
              </a:spcAft>
            </a:pPr>
            <a:r>
              <a:rPr sz="1700" b="0">
                <a:solidFill>
                  <a:srgbClr val="222222"/>
                </a:solidFill>
                <a:latin typeface="맑은 고딕"/>
                <a:ea typeface="맑은 고딕"/>
                <a:cs typeface="맑은 고딕"/>
              </a:rPr>
              <a:t>•  정확한 분해는 순간이 아니라 수 분 구간으로 → ch20 AWR</a:t>
            </a:r>
          </a:p>
        </p:txBody>
      </p:sp>
    </p:spTree>
    <p:extLst>
      <p:ext uri="{BB962C8B-B14F-4D97-AF65-F5344CB8AC3E}">
        <p14:creationId xmlns:p14="http://schemas.microsoft.com/office/powerpoint/2010/main" val="1472409419"/>
      </p:ext>
    </p:extLst>
  </p:cSld>
  <p:clrMapOvr>
    <a:masterClrMapping/>
  </p:clrMapOvr>
</p:sld>
</file>

<file path=ppt/slides/slide7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 FLUSH BUFFER_CACHE는 개인 실습 전용</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cs typeface="맑은 고딕"/>
              </a:rPr>
              <a:t>실측 재현을 위한 조치 — 운영 금지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위 실측은 부하 전 버퍼 캐시를 비워 물리 I/O 대기를 확실히 잡았다</a:t>
            </a:r>
          </a:p>
          <a:p>
            <a:pPr algn="l">
              <a:spcAft>
                <a:spcPts val="800"/>
              </a:spcAft>
            </a:pPr>
            <a:r>
              <a:rPr sz="1700" b="0">
                <a:solidFill>
                  <a:srgbClr val="222222"/>
                </a:solidFill>
                <a:latin typeface="맑은 고딕"/>
                <a:ea typeface="맑은 고딕"/>
                <a:cs typeface="맑은 고딕"/>
              </a:rPr>
              <a:t>•  ALTER SYSTEM FLUSH BUFFER_CACHE = 캐시의 모든 블록 폐기</a:t>
            </a:r>
          </a:p>
          <a:p>
            <a:pPr algn="l">
              <a:spcAft>
                <a:spcPts val="800"/>
              </a:spcAft>
            </a:pPr>
            <a:r>
              <a:rPr sz="1700" b="0">
                <a:solidFill>
                  <a:srgbClr val="222222"/>
                </a:solidFill>
                <a:latin typeface="맑은 고딕"/>
                <a:ea typeface="맑은 고딕"/>
                <a:cs typeface="맑은 고딕"/>
              </a:rPr>
              <a:t>•  이후 조회가 디스크부터 다시 읽어 db file scattered read 발생</a:t>
            </a:r>
          </a:p>
          <a:p>
            <a:pPr algn="l">
              <a:spcAft>
                <a:spcPts val="800"/>
              </a:spcAft>
            </a:pPr>
            <a:r>
              <a:rPr sz="1700" b="0">
                <a:solidFill>
                  <a:srgbClr val="222222"/>
                </a:solidFill>
                <a:latin typeface="맑은 고딕"/>
                <a:ea typeface="맑은 고딕"/>
                <a:cs typeface="맑은 고딕"/>
              </a:rPr>
              <a:t>•  ★ 운영 DB 절대 금지 — 전체 응답시간 급락, 개인 실습에서만</a:t>
            </a:r>
          </a:p>
        </p:txBody>
      </p:sp>
    </p:spTree>
    <p:extLst>
      <p:ext uri="{BB962C8B-B14F-4D97-AF65-F5344CB8AC3E}">
        <p14:creationId xmlns:p14="http://schemas.microsoft.com/office/powerpoint/2010/main" val="136279720"/>
      </p:ext>
    </p:extLst>
  </p:cSld>
  <p:clrMapOvr>
    <a:masterClrMapping/>
  </p:clrMapOvr>
</p:sld>
</file>

<file path=ppt/slides/slide7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707886"/>
          </a:xfrm>
          <a:prstGeom prst="rect">
            <a:avLst/>
          </a:prstGeom>
          <a:noFill/>
        </p:spPr>
        <p:txBody>
          <a:bodyPr wrap="square">
            <a:spAutoFit/>
          </a:bodyPr>
          <a:lstStyle/>
          <a:p>
            <a:pPr algn="l"/>
            <a:r>
              <a:rPr lang="en-US" sz="4000" b="1" dirty="0">
                <a:solidFill>
                  <a:srgbClr val="FFFFFF"/>
                </a:solidFill>
                <a:latin typeface="맑은 고딕"/>
                <a:ea typeface="맑은 고딕"/>
                <a:cs typeface="맑은 고딕"/>
              </a:rPr>
              <a:t>19</a:t>
            </a:r>
            <a:r>
              <a:rPr sz="4000" b="1" dirty="0">
                <a:solidFill>
                  <a:srgbClr val="FFFFFF"/>
                </a:solidFill>
                <a:latin typeface="맑은 고딕"/>
                <a:ea typeface="맑은 고딕"/>
                <a:cs typeface="맑은 고딕"/>
              </a:rPr>
              <a:t>.3</a:t>
            </a:r>
          </a:p>
        </p:txBody>
      </p:sp>
      <p:sp>
        <p:nvSpPr>
          <p:cNvPr id="4" name="TextBox 3"/>
          <p:cNvSpPr txBox="1"/>
          <p:nvPr/>
        </p:nvSpPr>
        <p:spPr>
          <a:xfrm>
            <a:off x="822960" y="3017520"/>
            <a:ext cx="10515600" cy="914400"/>
          </a:xfrm>
          <a:prstGeom prst="rect">
            <a:avLst/>
          </a:prstGeom>
          <a:noFill/>
        </p:spPr>
        <p:txBody>
          <a:bodyPr wrap="square">
            <a:spAutoFit/>
          </a:bodyPr>
          <a:lstStyle/>
          <a:p>
            <a:pPr algn="l"/>
            <a:r>
              <a:rPr sz="2800" b="1">
                <a:solidFill>
                  <a:srgbClr val="FFFFFF"/>
                </a:solidFill>
                <a:latin typeface="맑은 고딕"/>
                <a:ea typeface="맑은 고딕"/>
                <a:cs typeface="맑은 고딕"/>
              </a:rPr>
              <a:t>DB Time — 공통 화폐</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400"/>
              </a:spcAft>
            </a:pPr>
            <a:r>
              <a:rPr sz="1600" b="0">
                <a:solidFill>
                  <a:srgbClr val="FFFFFF"/>
                </a:solidFill>
                <a:latin typeface="맑은 고딕"/>
                <a:ea typeface="맑은 고딕"/>
                <a:cs typeface="맑은 고딕"/>
              </a:rPr>
              <a:t>•  DB Time = DB CPU + 대기</a:t>
            </a:r>
          </a:p>
          <a:p>
            <a:pPr algn="l">
              <a:spcAft>
                <a:spcPts val="400"/>
              </a:spcAft>
            </a:pPr>
            <a:r>
              <a:rPr sz="1600" b="0">
                <a:solidFill>
                  <a:srgbClr val="FFFFFF"/>
                </a:solidFill>
                <a:latin typeface="맑은 고딕"/>
                <a:ea typeface="맑은 고딕"/>
                <a:cs typeface="맑은 고딕"/>
              </a:rPr>
              <a:t>•  벽시계 초과 가능</a:t>
            </a:r>
          </a:p>
          <a:p>
            <a:pPr algn="l">
              <a:spcAft>
                <a:spcPts val="400"/>
              </a:spcAft>
            </a:pPr>
            <a:r>
              <a:rPr sz="1600" b="0">
                <a:solidFill>
                  <a:srgbClr val="FFFFFF"/>
                </a:solidFill>
                <a:latin typeface="맑은 고딕"/>
                <a:ea typeface="맑은 고딕"/>
                <a:cs typeface="맑은 고딕"/>
              </a:rPr>
              <a:t>•  이질적 문제를 한 저울에</a:t>
            </a:r>
          </a:p>
        </p:txBody>
      </p:sp>
    </p:spTree>
    <p:extLst>
      <p:ext uri="{BB962C8B-B14F-4D97-AF65-F5344CB8AC3E}">
        <p14:creationId xmlns:p14="http://schemas.microsoft.com/office/powerpoint/2010/main" val="2586309060"/>
      </p:ext>
    </p:extLst>
  </p:cSld>
  <p:clrMapOvr>
    <a:masterClrMapping/>
  </p:clrMapOvr>
</p:sld>
</file>

<file path=ppt/slides/slide7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DB Time의 정의</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cs typeface="맑은 고딕"/>
              </a:rPr>
              <a:t>= DB CPU + 대기</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전경 세션이 DB 호출에 쓴 시간의 총합 = 인스턴스 워크로드 지표</a:t>
            </a:r>
          </a:p>
          <a:p>
            <a:pPr algn="l">
              <a:spcAft>
                <a:spcPts val="800"/>
              </a:spcAft>
            </a:pPr>
            <a:r>
              <a:rPr sz="1700" b="0">
                <a:solidFill>
                  <a:srgbClr val="222222"/>
                </a:solidFill>
                <a:latin typeface="맑은 고딕"/>
                <a:ea typeface="맑은 고딕"/>
                <a:cs typeface="맑은 고딕"/>
              </a:rPr>
              <a:t>•  Idle이 아닌 모든 사용자 세션의 CPU 시간 + 대기 시간</a:t>
            </a:r>
          </a:p>
          <a:p>
            <a:pPr algn="l">
              <a:spcAft>
                <a:spcPts val="800"/>
              </a:spcAft>
            </a:pPr>
            <a:r>
              <a:rPr sz="1700" b="0">
                <a:solidFill>
                  <a:srgbClr val="222222"/>
                </a:solidFill>
                <a:latin typeface="맑은 고딕"/>
                <a:ea typeface="맑은 고딕"/>
                <a:cs typeface="맑은 고딕"/>
              </a:rPr>
              <a:t>•  V$SESS_TIME_MODEL(세션) / V$SYS_TIME_MODEL(시스템)</a:t>
            </a:r>
          </a:p>
          <a:p>
            <a:pPr algn="l">
              <a:spcAft>
                <a:spcPts val="800"/>
              </a:spcAft>
            </a:pPr>
            <a:r>
              <a:rPr sz="1700" b="0">
                <a:solidFill>
                  <a:srgbClr val="222222"/>
                </a:solidFill>
                <a:latin typeface="맑은 고딕"/>
                <a:ea typeface="맑은 고딕"/>
                <a:cs typeface="맑은 고딕"/>
              </a:rPr>
              <a:t>•  성능 개선 = 같은 워크로드의 DB Time을 줄이는 것</a:t>
            </a:r>
          </a:p>
        </p:txBody>
      </p:sp>
    </p:spTree>
    <p:extLst>
      <p:ext uri="{BB962C8B-B14F-4D97-AF65-F5344CB8AC3E}">
        <p14:creationId xmlns:p14="http://schemas.microsoft.com/office/powerpoint/2010/main" val="2878795675"/>
      </p:ext>
    </p:extLst>
  </p:cSld>
  <p:clrMapOvr>
    <a:masterClrMapping/>
  </p:clrMapOvr>
</p:sld>
</file>

<file path=ppt/slides/slide7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벽시계 초과 · Average Active Sessions</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cs typeface="맑은 고딕"/>
              </a:rPr>
              <a:t>놓치기 쉬운 두 가지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DB Time은 모든 세션 시간의 합 → 벽시계 시간 초과 가능</a:t>
            </a:r>
          </a:p>
          <a:p>
            <a:pPr algn="l">
              <a:spcAft>
                <a:spcPts val="800"/>
              </a:spcAft>
            </a:pPr>
            <a:r>
              <a:rPr sz="1700" b="0">
                <a:solidFill>
                  <a:srgbClr val="222222"/>
                </a:solidFill>
                <a:latin typeface="맑은 고딕"/>
                <a:ea typeface="맑은 고딕"/>
                <a:cs typeface="맑은 고딕"/>
              </a:rPr>
              <a:t>•  예: 기동 30분, 활성 세션 4개 → 누적 DB Time ≈ 120분</a:t>
            </a:r>
          </a:p>
          <a:p>
            <a:pPr algn="l">
              <a:spcAft>
                <a:spcPts val="800"/>
              </a:spcAft>
            </a:pPr>
            <a:r>
              <a:rPr sz="1700" b="0">
                <a:solidFill>
                  <a:srgbClr val="222222"/>
                </a:solidFill>
                <a:latin typeface="맑은 고딕"/>
                <a:ea typeface="맑은 고딕"/>
                <a:cs typeface="맑은 고딕"/>
              </a:rPr>
              <a:t>•  AAS = 구간 DB Time ÷ 구간 벽시계 시간(평균 활성 세션 수)</a:t>
            </a:r>
          </a:p>
          <a:p>
            <a:pPr algn="l">
              <a:spcAft>
                <a:spcPts val="800"/>
              </a:spcAft>
            </a:pPr>
            <a:r>
              <a:rPr sz="1700" b="0">
                <a:solidFill>
                  <a:srgbClr val="222222"/>
                </a:solidFill>
                <a:latin typeface="맑은 고딕"/>
                <a:ea typeface="맑은 고딕"/>
                <a:cs typeface="맑은 고딕"/>
              </a:rPr>
              <a:t>•  AAS를 CPU 코어 수와 비교해 붐빈 정도를 가늠</a:t>
            </a:r>
          </a:p>
        </p:txBody>
      </p:sp>
    </p:spTree>
    <p:extLst>
      <p:ext uri="{BB962C8B-B14F-4D97-AF65-F5344CB8AC3E}">
        <p14:creationId xmlns:p14="http://schemas.microsoft.com/office/powerpoint/2010/main" val="3186755922"/>
      </p:ext>
    </p:extLst>
  </p:cSld>
  <p:clrMapOvr>
    <a:masterClrMapping/>
  </p:clrMapOvr>
</p:sld>
</file>

<file path=ppt/slides/slide7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이질적 문제를 한 저울에</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cs typeface="맑은 고딕"/>
              </a:rPr>
              <a:t>시간이 공통 척도인 이유</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느린 SQL·잠금 경합·I/O 지연은 서로 다른 단위</a:t>
            </a:r>
          </a:p>
          <a:p>
            <a:pPr algn="l">
              <a:spcAft>
                <a:spcPts val="800"/>
              </a:spcAft>
            </a:pPr>
            <a:r>
              <a:rPr sz="1700" b="0">
                <a:solidFill>
                  <a:srgbClr val="222222"/>
                </a:solidFill>
                <a:latin typeface="맑은 고딕"/>
                <a:ea typeface="맑은 고딕"/>
                <a:cs typeface="맑은 고딕"/>
              </a:rPr>
              <a:t>•  모두 'DB Time의 몇 %'로 환산하면 나란히 비교 가능</a:t>
            </a:r>
          </a:p>
          <a:p>
            <a:pPr algn="l">
              <a:spcAft>
                <a:spcPts val="800"/>
              </a:spcAft>
            </a:pPr>
            <a:r>
              <a:rPr sz="1700" b="0">
                <a:solidFill>
                  <a:srgbClr val="222222"/>
                </a:solidFill>
                <a:latin typeface="맑은 고딕"/>
                <a:ea typeface="맑은 고딕"/>
                <a:cs typeface="맑은 고딕"/>
              </a:rPr>
              <a:t>•  상위 대기 하나가 아니라 'DB Time 비중과 함께' 본다</a:t>
            </a:r>
          </a:p>
          <a:p>
            <a:pPr algn="l">
              <a:spcAft>
                <a:spcPts val="800"/>
              </a:spcAft>
            </a:pPr>
            <a:r>
              <a:rPr sz="1700" b="0">
                <a:solidFill>
                  <a:srgbClr val="222222"/>
                </a:solidFill>
                <a:latin typeface="맑은 고딕"/>
                <a:ea typeface="맑은 고딕"/>
                <a:cs typeface="맑은 고딕"/>
              </a:rPr>
              <a:t>•  조치의 가치도 DB Time 비중 감소로 평가한다</a:t>
            </a:r>
          </a:p>
        </p:txBody>
      </p:sp>
    </p:spTree>
    <p:extLst>
      <p:ext uri="{BB962C8B-B14F-4D97-AF65-F5344CB8AC3E}">
        <p14:creationId xmlns:p14="http://schemas.microsoft.com/office/powerpoint/2010/main" val="3528693462"/>
      </p:ext>
    </p:extLst>
  </p:cSld>
  <p:clrMapOvr>
    <a:masterClrMapping/>
  </p:clrMapOvr>
</p:sld>
</file>

<file path=ppt/slides/slide7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707886"/>
          </a:xfrm>
          <a:prstGeom prst="rect">
            <a:avLst/>
          </a:prstGeom>
          <a:noFill/>
        </p:spPr>
        <p:txBody>
          <a:bodyPr wrap="square">
            <a:spAutoFit/>
          </a:bodyPr>
          <a:lstStyle/>
          <a:p>
            <a:pPr algn="l"/>
            <a:r>
              <a:rPr lang="en-US" sz="4000" b="1" dirty="0">
                <a:solidFill>
                  <a:srgbClr val="FFFFFF"/>
                </a:solidFill>
                <a:latin typeface="맑은 고딕"/>
                <a:ea typeface="맑은 고딕"/>
                <a:cs typeface="맑은 고딕"/>
              </a:rPr>
              <a:t>19</a:t>
            </a:r>
            <a:r>
              <a:rPr sz="4000" b="1" dirty="0">
                <a:solidFill>
                  <a:srgbClr val="FFFFFF"/>
                </a:solidFill>
                <a:latin typeface="맑은 고딕"/>
                <a:ea typeface="맑은 고딕"/>
                <a:cs typeface="맑은 고딕"/>
              </a:rPr>
              <a:t>.4</a:t>
            </a:r>
          </a:p>
        </p:txBody>
      </p:sp>
      <p:sp>
        <p:nvSpPr>
          <p:cNvPr id="4" name="TextBox 3"/>
          <p:cNvSpPr txBox="1"/>
          <p:nvPr/>
        </p:nvSpPr>
        <p:spPr>
          <a:xfrm>
            <a:off x="822960" y="3017520"/>
            <a:ext cx="10515600" cy="914400"/>
          </a:xfrm>
          <a:prstGeom prst="rect">
            <a:avLst/>
          </a:prstGeom>
          <a:noFill/>
        </p:spPr>
        <p:txBody>
          <a:bodyPr wrap="square">
            <a:spAutoFit/>
          </a:bodyPr>
          <a:lstStyle/>
          <a:p>
            <a:pPr algn="l"/>
            <a:r>
              <a:rPr sz="2800" b="1">
                <a:solidFill>
                  <a:srgbClr val="FFFFFF"/>
                </a:solidFill>
                <a:latin typeface="맑은 고딕"/>
                <a:ea typeface="맑은 고딕"/>
                <a:cs typeface="맑은 고딕"/>
              </a:rPr>
              <a:t>시간 모델</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400"/>
              </a:spcAft>
            </a:pPr>
            <a:r>
              <a:rPr sz="1600" b="0">
                <a:solidFill>
                  <a:srgbClr val="FFFFFF"/>
                </a:solidFill>
                <a:latin typeface="맑은 고딕"/>
                <a:ea typeface="맑은 고딕"/>
                <a:cs typeface="맑은 고딕"/>
              </a:rPr>
              <a:t>•  시스템 vs 세션 범위</a:t>
            </a:r>
          </a:p>
          <a:p>
            <a:pPr algn="l">
              <a:spcAft>
                <a:spcPts val="400"/>
              </a:spcAft>
            </a:pPr>
            <a:r>
              <a:rPr sz="1600" b="0">
                <a:solidFill>
                  <a:srgbClr val="FFFFFF"/>
                </a:solidFill>
                <a:latin typeface="맑은 고딕"/>
                <a:ea typeface="맑은 고딕"/>
                <a:cs typeface="맑은 고딕"/>
              </a:rPr>
              <a:t>•  델타로 부하 측정</a:t>
            </a:r>
          </a:p>
          <a:p>
            <a:pPr algn="l">
              <a:spcAft>
                <a:spcPts val="400"/>
              </a:spcAft>
            </a:pPr>
            <a:r>
              <a:rPr sz="1600" b="0">
                <a:solidFill>
                  <a:srgbClr val="FFFFFF"/>
                </a:solidFill>
                <a:latin typeface="맑은 고딕"/>
                <a:ea typeface="맑은 고딕"/>
                <a:cs typeface="맑은 고딕"/>
              </a:rPr>
              <a:t>•  짧은 구간 노이즈</a:t>
            </a:r>
          </a:p>
        </p:txBody>
      </p:sp>
    </p:spTree>
    <p:extLst>
      <p:ext uri="{BB962C8B-B14F-4D97-AF65-F5344CB8AC3E}">
        <p14:creationId xmlns:p14="http://schemas.microsoft.com/office/powerpoint/2010/main" val="734122566"/>
      </p:ext>
    </p:extLst>
  </p:cSld>
  <p:clrMapOvr>
    <a:masterClrMapping/>
  </p:clrMapOvr>
</p:sld>
</file>

<file path=ppt/slides/slide7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V$SESS_TIME_MODEL — 세션 델타 실측</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cs typeface="맑은 고딕"/>
              </a:rPr>
              <a:t>부하 전후 차이 (약 0.3초 구간)</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tlCol="0" anchor="ctr"/>
          <a:lstStyle/>
          <a:p>
            <a:pPr algn="l">
              <a:spcAft>
                <a:spcPts val="0"/>
              </a:spcAft>
            </a:pPr>
            <a:r>
              <a:rPr sz="1250" b="0">
                <a:solidFill>
                  <a:srgbClr val="F2F2F2"/>
                </a:solidFill>
                <a:latin typeface="Consolas"/>
                <a:ea typeface="Consolas"/>
                <a:cs typeface="Consolas"/>
              </a:rPr>
              <a:t>-- 부하 전 캡처 → WL_06 축약 부하 → 부하 후 캡처 → 차이</a:t>
            </a:r>
          </a:p>
          <a:p>
            <a:pPr algn="l">
              <a:spcAft>
                <a:spcPts val="0"/>
              </a:spcAft>
            </a:pPr>
            <a:r>
              <a:rPr sz="1250" b="0">
                <a:solidFill>
                  <a:srgbClr val="F2F2F2"/>
                </a:solidFill>
                <a:latin typeface="Consolas"/>
                <a:ea typeface="Consolas"/>
                <a:cs typeface="Consolas"/>
              </a:rPr>
              <a:t> </a:t>
            </a:r>
          </a:p>
          <a:p>
            <a:pPr algn="l">
              <a:spcAft>
                <a:spcPts val="0"/>
              </a:spcAft>
            </a:pPr>
            <a:r>
              <a:rPr sz="1250" b="0">
                <a:solidFill>
                  <a:srgbClr val="F2F2F2"/>
                </a:solidFill>
                <a:latin typeface="Consolas"/>
                <a:ea typeface="Consolas"/>
                <a:cs typeface="Consolas"/>
              </a:rPr>
              <a:t>이 세션 DB time 델타 : 275,636 us  (약 0.28초)</a:t>
            </a:r>
          </a:p>
          <a:p>
            <a:pPr algn="l">
              <a:spcAft>
                <a:spcPts val="0"/>
              </a:spcAft>
            </a:pPr>
            <a:r>
              <a:rPr sz="1250" b="0">
                <a:solidFill>
                  <a:srgbClr val="F2F2F2"/>
                </a:solidFill>
                <a:latin typeface="Consolas"/>
                <a:ea typeface="Consolas"/>
                <a:cs typeface="Consolas"/>
              </a:rPr>
              <a:t>이 세션 DB CPU  델타 : 297,047 us  (약 0.30초)</a:t>
            </a:r>
          </a:p>
          <a:p>
            <a:pPr algn="l">
              <a:spcAft>
                <a:spcPts val="0"/>
              </a:spcAft>
            </a:pPr>
            <a:r>
              <a:rPr sz="1250" b="0">
                <a:solidFill>
                  <a:srgbClr val="F2F2F2"/>
                </a:solidFill>
                <a:latin typeface="Consolas"/>
                <a:ea typeface="Consolas"/>
                <a:cs typeface="Consolas"/>
              </a:rPr>
              <a:t>-----------------------------------------------------</a:t>
            </a:r>
          </a:p>
          <a:p>
            <a:pPr algn="l">
              <a:spcAft>
                <a:spcPts val="0"/>
              </a:spcAft>
            </a:pPr>
            <a:r>
              <a:rPr sz="1250" b="0">
                <a:solidFill>
                  <a:srgbClr val="F2F2F2"/>
                </a:solidFill>
                <a:latin typeface="Consolas"/>
                <a:ea typeface="Consolas"/>
                <a:cs typeface="Consolas"/>
              </a:rPr>
              <a:t>→ DB time 대비 CPU 107.8% ,  대기 -7.8%</a:t>
            </a:r>
          </a:p>
        </p:txBody>
      </p:sp>
    </p:spTree>
    <p:extLst>
      <p:ext uri="{BB962C8B-B14F-4D97-AF65-F5344CB8AC3E}">
        <p14:creationId xmlns:p14="http://schemas.microsoft.com/office/powerpoint/2010/main" val="2943550437"/>
      </p:ext>
    </p:extLst>
  </p:cSld>
  <p:clrMapOvr>
    <a:masterClrMapping/>
  </p:clrMapOvr>
</p:sld>
</file>

<file path=ppt/slides/slide7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왜 CPU가 DB time보다 큰가</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cs typeface="맑은 고딕"/>
              </a:rPr>
              <a:t>짧은 구간의 노이즈 — 핵심 교훈</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0.3초 구간 → 카운터 갱신 시점 어긋남 + 반올림 = 불안정</a:t>
            </a:r>
          </a:p>
          <a:p>
            <a:pPr algn="l">
              <a:spcAft>
                <a:spcPts val="800"/>
              </a:spcAft>
            </a:pPr>
            <a:r>
              <a:rPr sz="1700" b="0">
                <a:solidFill>
                  <a:srgbClr val="222222"/>
                </a:solidFill>
                <a:latin typeface="맑은 고딕"/>
                <a:ea typeface="맑은 고딕"/>
                <a:cs typeface="맑은 고딕"/>
              </a:rPr>
              <a:t>•  버그·오차가 아니라 짧은 순간의 특성</a:t>
            </a:r>
          </a:p>
          <a:p>
            <a:pPr algn="l">
              <a:spcAft>
                <a:spcPts val="800"/>
              </a:spcAft>
            </a:pPr>
            <a:r>
              <a:rPr sz="1700" b="0">
                <a:solidFill>
                  <a:srgbClr val="222222"/>
                </a:solidFill>
                <a:latin typeface="맑은 고딕"/>
                <a:ea typeface="맑은 고딕"/>
                <a:cs typeface="맑은 고딕"/>
              </a:rPr>
              <a:t>•  대기의 실체는 시간 모델이 아니라 V$SESSION_EVENT로 확인</a:t>
            </a:r>
          </a:p>
          <a:p>
            <a:pPr algn="l">
              <a:spcAft>
                <a:spcPts val="800"/>
              </a:spcAft>
            </a:pPr>
            <a:r>
              <a:rPr sz="1700" b="0">
                <a:solidFill>
                  <a:srgbClr val="222222"/>
                </a:solidFill>
                <a:latin typeface="맑은 고딕"/>
                <a:ea typeface="맑은 고딕"/>
                <a:cs typeface="맑은 고딕"/>
              </a:rPr>
              <a:t>•  정확한 비율은 수 분 구간(AWR)으로 → ch20</a:t>
            </a:r>
          </a:p>
        </p:txBody>
      </p:sp>
    </p:spTree>
    <p:extLst>
      <p:ext uri="{BB962C8B-B14F-4D97-AF65-F5344CB8AC3E}">
        <p14:creationId xmlns:p14="http://schemas.microsoft.com/office/powerpoint/2010/main" val="3379131015"/>
      </p:ext>
    </p:extLst>
  </p:cSld>
  <p:clrMapOvr>
    <a:masterClrMapping/>
  </p:clrMapOvr>
</p:sld>
</file>

<file path=ppt/slides/slide7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시간 모델의 계층</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cs typeface="맑은 고딕"/>
              </a:rPr>
              <a:t>시간이 어디로 갔는가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최상위 DB time 아래 sql execute / parse / PL/SQL execution</a:t>
            </a:r>
          </a:p>
          <a:p>
            <a:pPr algn="l">
              <a:spcAft>
                <a:spcPts val="800"/>
              </a:spcAft>
            </a:pPr>
            <a:r>
              <a:rPr sz="1700" b="0">
                <a:solidFill>
                  <a:srgbClr val="222222"/>
                </a:solidFill>
                <a:latin typeface="맑은 고딕"/>
                <a:ea typeface="맑은 고딕"/>
                <a:cs typeface="맑은 고딕"/>
              </a:rPr>
              <a:t>•  parse time elapsed 아래 hard parse elapsed time</a:t>
            </a:r>
          </a:p>
          <a:p>
            <a:pPr algn="l">
              <a:spcAft>
                <a:spcPts val="800"/>
              </a:spcAft>
            </a:pPr>
            <a:r>
              <a:rPr sz="1700" b="0">
                <a:solidFill>
                  <a:srgbClr val="222222"/>
                </a:solidFill>
                <a:latin typeface="맑은 고딕"/>
                <a:ea typeface="맑은 고딕"/>
                <a:cs typeface="맑은 고딕"/>
              </a:rPr>
              <a:t>•  상위가 하위를 포함 — 단순 합산으로 DB time이 되지 않음</a:t>
            </a:r>
          </a:p>
          <a:p>
            <a:pPr algn="l">
              <a:spcAft>
                <a:spcPts val="800"/>
              </a:spcAft>
            </a:pPr>
            <a:r>
              <a:rPr sz="1700" b="0">
                <a:solidFill>
                  <a:srgbClr val="222222"/>
                </a:solidFill>
                <a:latin typeface="맑은 고딕"/>
                <a:ea typeface="맑은 고딕"/>
                <a:cs typeface="맑은 고딕"/>
              </a:rPr>
              <a:t>•  위→아래로 좁혀 가며 '시간의 행방'을 짚는 지도로 쓴다</a:t>
            </a:r>
          </a:p>
        </p:txBody>
      </p:sp>
    </p:spTree>
    <p:extLst>
      <p:ext uri="{BB962C8B-B14F-4D97-AF65-F5344CB8AC3E}">
        <p14:creationId xmlns:p14="http://schemas.microsoft.com/office/powerpoint/2010/main" val="363906949"/>
      </p:ext>
    </p:extLst>
  </p:cSld>
  <p:clrMapOvr>
    <a:masterClrMapping/>
  </p:clrMapOvr>
</p:sld>
</file>

<file path=ppt/slides/slide7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707886"/>
          </a:xfrm>
          <a:prstGeom prst="rect">
            <a:avLst/>
          </a:prstGeom>
          <a:noFill/>
        </p:spPr>
        <p:txBody>
          <a:bodyPr wrap="square">
            <a:spAutoFit/>
          </a:bodyPr>
          <a:lstStyle/>
          <a:p>
            <a:pPr algn="l"/>
            <a:r>
              <a:rPr lang="en-US" sz="4000" b="1" dirty="0">
                <a:solidFill>
                  <a:srgbClr val="FFFFFF"/>
                </a:solidFill>
                <a:latin typeface="맑은 고딕"/>
                <a:ea typeface="맑은 고딕"/>
                <a:cs typeface="맑은 고딕"/>
              </a:rPr>
              <a:t>19</a:t>
            </a:r>
            <a:r>
              <a:rPr sz="4000" b="1" dirty="0">
                <a:solidFill>
                  <a:srgbClr val="FFFFFF"/>
                </a:solidFill>
                <a:latin typeface="맑은 고딕"/>
                <a:ea typeface="맑은 고딕"/>
                <a:cs typeface="맑은 고딕"/>
              </a:rPr>
              <a:t>.5</a:t>
            </a:r>
          </a:p>
        </p:txBody>
      </p:sp>
      <p:sp>
        <p:nvSpPr>
          <p:cNvPr id="4" name="TextBox 3"/>
          <p:cNvSpPr txBox="1"/>
          <p:nvPr/>
        </p:nvSpPr>
        <p:spPr>
          <a:xfrm>
            <a:off x="822960" y="3017520"/>
            <a:ext cx="10515600" cy="914400"/>
          </a:xfrm>
          <a:prstGeom prst="rect">
            <a:avLst/>
          </a:prstGeom>
          <a:noFill/>
        </p:spPr>
        <p:txBody>
          <a:bodyPr wrap="square">
            <a:spAutoFit/>
          </a:bodyPr>
          <a:lstStyle/>
          <a:p>
            <a:pPr algn="l"/>
            <a:r>
              <a:rPr sz="2800" b="1">
                <a:solidFill>
                  <a:srgbClr val="FFFFFF"/>
                </a:solidFill>
                <a:latin typeface="맑은 고딕"/>
                <a:ea typeface="맑은 고딕"/>
                <a:cs typeface="맑은 고딕"/>
              </a:rPr>
              <a:t>대기와 대기 클래스</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400"/>
              </a:spcAft>
            </a:pPr>
            <a:r>
              <a:rPr sz="1600" b="0">
                <a:solidFill>
                  <a:srgbClr val="FFFFFF"/>
                </a:solidFill>
                <a:latin typeface="맑은 고딕"/>
                <a:ea typeface="맑은 고딕"/>
                <a:cs typeface="맑은 고딕"/>
              </a:rPr>
              <a:t>•  12개 대기 클래스</a:t>
            </a:r>
          </a:p>
          <a:p>
            <a:pPr algn="l">
              <a:spcAft>
                <a:spcPts val="400"/>
              </a:spcAft>
            </a:pPr>
            <a:r>
              <a:rPr sz="1600" b="0">
                <a:solidFill>
                  <a:srgbClr val="FFFFFF"/>
                </a:solidFill>
                <a:latin typeface="맑은 고딕"/>
                <a:ea typeface="맑은 고딕"/>
                <a:cs typeface="맑은 고딕"/>
              </a:rPr>
              <a:t>•  V$SESSION_EVENT = 증거</a:t>
            </a:r>
          </a:p>
          <a:p>
            <a:pPr algn="l">
              <a:spcAft>
                <a:spcPts val="400"/>
              </a:spcAft>
            </a:pPr>
            <a:r>
              <a:rPr sz="1600" b="0">
                <a:solidFill>
                  <a:srgbClr val="FFFFFF"/>
                </a:solidFill>
                <a:latin typeface="맑은 고딕"/>
                <a:ea typeface="맑은 고딕"/>
                <a:cs typeface="맑은 고딕"/>
              </a:rPr>
              <a:t>•  Idle은 항상 제외</a:t>
            </a:r>
          </a:p>
        </p:txBody>
      </p:sp>
    </p:spTree>
    <p:extLst>
      <p:ext uri="{BB962C8B-B14F-4D97-AF65-F5344CB8AC3E}">
        <p14:creationId xmlns:p14="http://schemas.microsoft.com/office/powerpoint/2010/main" val="999020601"/>
      </p:ext>
    </p:extLst>
  </p:cSld>
  <p:clrMapOvr>
    <a:masterClrMapping/>
  </p:clrMapOvr>
</p:sld>
</file>

<file path=ppt/slides/slide7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대기 이벤트와 12개 클래스</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cs typeface="맑은 고딕"/>
              </a:rPr>
              <a:t>증상이지 원인이 아니다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대기 이벤트 = 처리를 멈추고 무언가를 기다린 통계</a:t>
            </a:r>
          </a:p>
          <a:p>
            <a:pPr algn="l">
              <a:spcAft>
                <a:spcPts val="800"/>
              </a:spcAft>
            </a:pPr>
            <a:r>
              <a:rPr sz="1700" b="0">
                <a:solidFill>
                  <a:srgbClr val="222222"/>
                </a:solidFill>
                <a:latin typeface="맑은 고딕"/>
                <a:ea typeface="맑은 고딕"/>
                <a:cs typeface="맑은 고딕"/>
              </a:rPr>
              <a:t>•  수백 개 이벤트를 12개 클래스로 묶음(같은 해법 기준)</a:t>
            </a:r>
          </a:p>
          <a:p>
            <a:pPr algn="l">
              <a:spcAft>
                <a:spcPts val="800"/>
              </a:spcAft>
            </a:pPr>
            <a:r>
              <a:rPr sz="1700" b="0">
                <a:solidFill>
                  <a:srgbClr val="222222"/>
                </a:solidFill>
                <a:latin typeface="맑은 고딕"/>
                <a:ea typeface="맑은 고딕"/>
                <a:cs typeface="맑은 고딕"/>
              </a:rPr>
              <a:t>•  User I/O · System I/O · Commit · Concurrency · Application ...</a:t>
            </a:r>
          </a:p>
          <a:p>
            <a:pPr algn="l">
              <a:spcAft>
                <a:spcPts val="800"/>
              </a:spcAft>
            </a:pPr>
            <a:r>
              <a:rPr sz="1700" b="0">
                <a:solidFill>
                  <a:srgbClr val="222222"/>
                </a:solidFill>
                <a:latin typeface="맑은 고딕"/>
                <a:ea typeface="맑은 고딕"/>
                <a:cs typeface="맑은 고딕"/>
              </a:rPr>
              <a:t>•  Idle(SQL*Net message from client 등)은 병목 아님 → 제외</a:t>
            </a:r>
          </a:p>
        </p:txBody>
      </p:sp>
    </p:spTree>
    <p:extLst>
      <p:ext uri="{BB962C8B-B14F-4D97-AF65-F5344CB8AC3E}">
        <p14:creationId xmlns:p14="http://schemas.microsoft.com/office/powerpoint/2010/main" val="104669941"/>
      </p:ext>
    </p:extLst>
  </p:cSld>
  <p:clrMapOvr>
    <a:masterClrMapping/>
  </p:clrMapOvr>
</p:sld>
</file>

<file path=ppt/slides/slide7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V$SESSION_EVENT — 대기의 실측 증거</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cs typeface="맑은 고딕"/>
              </a:rPr>
              <a:t>이 세션이 기다린 것 (Idle 제외)</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tlCol="0" anchor="ctr"/>
          <a:lstStyle/>
          <a:p>
            <a:pPr algn="l">
              <a:spcAft>
                <a:spcPts val="0"/>
              </a:spcAft>
            </a:pPr>
            <a:r>
              <a:rPr sz="1250" b="0">
                <a:solidFill>
                  <a:srgbClr val="F2F2F2"/>
                </a:solidFill>
                <a:latin typeface="Consolas"/>
                <a:ea typeface="Consolas"/>
                <a:cs typeface="Consolas"/>
              </a:rPr>
              <a:t>SQLT@orcl&gt; SELECT event, total_waits, time_waited_micro/1000 ms</a:t>
            </a:r>
          </a:p>
          <a:p>
            <a:pPr algn="l">
              <a:spcAft>
                <a:spcPts val="0"/>
              </a:spcAft>
            </a:pPr>
            <a:r>
              <a:rPr sz="1250" b="0">
                <a:solidFill>
                  <a:srgbClr val="F2F2F2"/>
                </a:solidFill>
                <a:latin typeface="Consolas"/>
                <a:ea typeface="Consolas"/>
                <a:cs typeface="Consolas"/>
              </a:rPr>
              <a:t>  2       FROM v$session_event WHERE sid=&lt;내SID&gt;</a:t>
            </a:r>
          </a:p>
          <a:p>
            <a:pPr algn="l">
              <a:spcAft>
                <a:spcPts val="0"/>
              </a:spcAft>
            </a:pPr>
            <a:r>
              <a:rPr sz="1250" b="0">
                <a:solidFill>
                  <a:srgbClr val="F2F2F2"/>
                </a:solidFill>
                <a:latin typeface="Consolas"/>
                <a:ea typeface="Consolas"/>
                <a:cs typeface="Consolas"/>
              </a:rPr>
              <a:t>  3       AND wait_class&lt;&gt;'Idle' ORDER BY time_waited_micro DESC;</a:t>
            </a:r>
          </a:p>
          <a:p>
            <a:pPr algn="l">
              <a:spcAft>
                <a:spcPts val="0"/>
              </a:spcAft>
            </a:pPr>
            <a:r>
              <a:rPr sz="1250" b="0">
                <a:solidFill>
                  <a:srgbClr val="F2F2F2"/>
                </a:solidFill>
                <a:latin typeface="Consolas"/>
                <a:ea typeface="Consolas"/>
                <a:cs typeface="Consolas"/>
              </a:rPr>
              <a:t> </a:t>
            </a:r>
          </a:p>
          <a:p>
            <a:pPr algn="l">
              <a:spcAft>
                <a:spcPts val="0"/>
              </a:spcAft>
            </a:pPr>
            <a:r>
              <a:rPr sz="1250" b="0">
                <a:solidFill>
                  <a:srgbClr val="F2F2F2"/>
                </a:solidFill>
                <a:latin typeface="Consolas"/>
                <a:ea typeface="Consolas"/>
                <a:cs typeface="Consolas"/>
              </a:rPr>
              <a:t>EVENT                          TOTAL_WAITS   MS_WAITED</a:t>
            </a:r>
          </a:p>
          <a:p>
            <a:pPr algn="l">
              <a:spcAft>
                <a:spcPts val="0"/>
              </a:spcAft>
            </a:pPr>
            <a:r>
              <a:rPr sz="1250" b="0">
                <a:solidFill>
                  <a:srgbClr val="F2F2F2"/>
                </a:solidFill>
                <a:latin typeface="Consolas"/>
                <a:ea typeface="Consolas"/>
                <a:cs typeface="Consolas"/>
              </a:rPr>
              <a:t>------------------------------ ----------- -----------</a:t>
            </a:r>
          </a:p>
          <a:p>
            <a:pPr algn="l">
              <a:spcAft>
                <a:spcPts val="0"/>
              </a:spcAft>
            </a:pPr>
            <a:r>
              <a:rPr sz="1250" b="0">
                <a:solidFill>
                  <a:srgbClr val="F2F2F2"/>
                </a:solidFill>
                <a:latin typeface="Consolas"/>
                <a:ea typeface="Consolas"/>
                <a:cs typeface="Consolas"/>
              </a:rPr>
              <a:t>db file scattered read                 120          65</a:t>
            </a:r>
          </a:p>
          <a:p>
            <a:pPr algn="l">
              <a:spcAft>
                <a:spcPts val="0"/>
              </a:spcAft>
            </a:pPr>
            <a:r>
              <a:rPr sz="1250" b="0">
                <a:solidFill>
                  <a:srgbClr val="F2F2F2"/>
                </a:solidFill>
                <a:latin typeface="Consolas"/>
                <a:ea typeface="Consolas"/>
                <a:cs typeface="Consolas"/>
              </a:rPr>
              <a:t>db file sequential read                 12          17</a:t>
            </a:r>
          </a:p>
          <a:p>
            <a:pPr algn="l">
              <a:spcAft>
                <a:spcPts val="0"/>
              </a:spcAft>
            </a:pPr>
            <a:r>
              <a:rPr sz="1250" b="0">
                <a:solidFill>
                  <a:srgbClr val="F2F2F2"/>
                </a:solidFill>
                <a:latin typeface="Consolas"/>
                <a:ea typeface="Consolas"/>
                <a:cs typeface="Consolas"/>
              </a:rPr>
              <a:t>log file sync                            1           0</a:t>
            </a:r>
          </a:p>
          <a:p>
            <a:pPr algn="l">
              <a:spcAft>
                <a:spcPts val="0"/>
              </a:spcAft>
            </a:pPr>
            <a:r>
              <a:rPr sz="1250" b="0">
                <a:solidFill>
                  <a:srgbClr val="F2F2F2"/>
                </a:solidFill>
                <a:latin typeface="Consolas"/>
                <a:ea typeface="Consolas"/>
                <a:cs typeface="Consolas"/>
              </a:rPr>
              <a:t>SQL*Net message to client               12           0</a:t>
            </a:r>
          </a:p>
        </p:txBody>
      </p:sp>
    </p:spTree>
    <p:extLst>
      <p:ext uri="{BB962C8B-B14F-4D97-AF65-F5344CB8AC3E}">
        <p14:creationId xmlns:p14="http://schemas.microsoft.com/office/powerpoint/2010/main" val="4266850870"/>
      </p:ext>
    </p:extLst>
  </p:cSld>
  <p:clrMapOvr>
    <a:masterClrMapping/>
  </p:clrMapOvr>
</p:sld>
</file>

<file path=ppt/slides/slide7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V$SYSTEM_WAIT_CLASS — 클래스별 집계</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cs typeface="맑은 고딕"/>
              </a:rPr>
              <a:t>기동 이후 누적, Idle 제외</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tlCol="0" anchor="ctr"/>
          <a:lstStyle/>
          <a:p>
            <a:pPr algn="l">
              <a:spcAft>
                <a:spcPts val="0"/>
              </a:spcAft>
            </a:pPr>
            <a:r>
              <a:rPr sz="1250" b="0">
                <a:solidFill>
                  <a:srgbClr val="F2F2F2"/>
                </a:solidFill>
                <a:latin typeface="Consolas"/>
                <a:ea typeface="Consolas"/>
                <a:cs typeface="Consolas"/>
              </a:rPr>
              <a:t>SYS@orcl&gt; SELECT wait_class, total_waits, time_waited/100 sec</a:t>
            </a:r>
          </a:p>
          <a:p>
            <a:pPr algn="l">
              <a:spcAft>
                <a:spcPts val="0"/>
              </a:spcAft>
            </a:pPr>
            <a:r>
              <a:rPr sz="1250" b="0">
                <a:solidFill>
                  <a:srgbClr val="F2F2F2"/>
                </a:solidFill>
                <a:latin typeface="Consolas"/>
                <a:ea typeface="Consolas"/>
                <a:cs typeface="Consolas"/>
              </a:rPr>
              <a:t>  2       FROM v$system_wait_class WHERE wait_class&lt;&gt;'Idle'</a:t>
            </a:r>
          </a:p>
          <a:p>
            <a:pPr algn="l">
              <a:spcAft>
                <a:spcPts val="0"/>
              </a:spcAft>
            </a:pPr>
            <a:r>
              <a:rPr sz="1250" b="0">
                <a:solidFill>
                  <a:srgbClr val="F2F2F2"/>
                </a:solidFill>
                <a:latin typeface="Consolas"/>
                <a:ea typeface="Consolas"/>
                <a:cs typeface="Consolas"/>
              </a:rPr>
              <a:t>  3       ORDER BY time_waited DESC;</a:t>
            </a:r>
          </a:p>
          <a:p>
            <a:pPr algn="l">
              <a:spcAft>
                <a:spcPts val="0"/>
              </a:spcAft>
            </a:pPr>
            <a:r>
              <a:rPr sz="1250" b="0">
                <a:solidFill>
                  <a:srgbClr val="F2F2F2"/>
                </a:solidFill>
                <a:latin typeface="Consolas"/>
                <a:ea typeface="Consolas"/>
                <a:cs typeface="Consolas"/>
              </a:rPr>
              <a:t> </a:t>
            </a:r>
          </a:p>
          <a:p>
            <a:pPr algn="l">
              <a:spcAft>
                <a:spcPts val="0"/>
              </a:spcAft>
            </a:pPr>
            <a:r>
              <a:rPr sz="1250" b="0">
                <a:solidFill>
                  <a:srgbClr val="F2F2F2"/>
                </a:solidFill>
                <a:latin typeface="Consolas"/>
                <a:ea typeface="Consolas"/>
                <a:cs typeface="Consolas"/>
              </a:rPr>
              <a:t>WAIT_CLASS       TOTAL_WAITS        SEC</a:t>
            </a:r>
          </a:p>
          <a:p>
            <a:pPr algn="l">
              <a:spcAft>
                <a:spcPts val="0"/>
              </a:spcAft>
            </a:pPr>
            <a:r>
              <a:rPr sz="1250" b="0">
                <a:solidFill>
                  <a:srgbClr val="F2F2F2"/>
                </a:solidFill>
                <a:latin typeface="Consolas"/>
                <a:ea typeface="Consolas"/>
                <a:cs typeface="Consolas"/>
              </a:rPr>
              <a:t>---------------- ----------- ----------</a:t>
            </a:r>
          </a:p>
          <a:p>
            <a:pPr algn="l">
              <a:spcAft>
                <a:spcPts val="0"/>
              </a:spcAft>
            </a:pPr>
            <a:r>
              <a:rPr sz="1250" b="0">
                <a:solidFill>
                  <a:srgbClr val="F2F2F2"/>
                </a:solidFill>
                <a:latin typeface="Consolas"/>
                <a:ea typeface="Consolas"/>
                <a:cs typeface="Consolas"/>
              </a:rPr>
              <a:t>Network                 8583        358</a:t>
            </a:r>
          </a:p>
          <a:p>
            <a:pPr algn="l">
              <a:spcAft>
                <a:spcPts val="0"/>
              </a:spcAft>
            </a:pPr>
            <a:r>
              <a:rPr sz="1250" b="0">
                <a:solidFill>
                  <a:srgbClr val="F2F2F2"/>
                </a:solidFill>
                <a:latin typeface="Consolas"/>
                <a:ea typeface="Consolas"/>
                <a:cs typeface="Consolas"/>
              </a:rPr>
              <a:t>System I/O             81525         77</a:t>
            </a:r>
          </a:p>
          <a:p>
            <a:pPr algn="l">
              <a:spcAft>
                <a:spcPts val="0"/>
              </a:spcAft>
            </a:pPr>
            <a:r>
              <a:rPr sz="1250" b="0">
                <a:solidFill>
                  <a:srgbClr val="F2F2F2"/>
                </a:solidFill>
                <a:latin typeface="Consolas"/>
                <a:ea typeface="Consolas"/>
                <a:cs typeface="Consolas"/>
              </a:rPr>
              <a:t>User I/O               13860         52</a:t>
            </a:r>
          </a:p>
          <a:p>
            <a:pPr algn="l">
              <a:spcAft>
                <a:spcPts val="0"/>
              </a:spcAft>
            </a:pPr>
            <a:r>
              <a:rPr sz="1250" b="0">
                <a:solidFill>
                  <a:srgbClr val="F2F2F2"/>
                </a:solidFill>
                <a:latin typeface="Consolas"/>
                <a:ea typeface="Consolas"/>
                <a:cs typeface="Consolas"/>
              </a:rPr>
              <a:t>Other                  19811         27</a:t>
            </a:r>
          </a:p>
          <a:p>
            <a:pPr algn="l">
              <a:spcAft>
                <a:spcPts val="0"/>
              </a:spcAft>
            </a:pPr>
            <a:r>
              <a:rPr sz="1250" b="0">
                <a:solidFill>
                  <a:srgbClr val="F2F2F2"/>
                </a:solidFill>
                <a:latin typeface="Consolas"/>
                <a:ea typeface="Consolas"/>
                <a:cs typeface="Consolas"/>
              </a:rPr>
              <a:t>Application              128          7</a:t>
            </a:r>
          </a:p>
        </p:txBody>
      </p:sp>
    </p:spTree>
    <p:extLst>
      <p:ext uri="{BB962C8B-B14F-4D97-AF65-F5344CB8AC3E}">
        <p14:creationId xmlns:p14="http://schemas.microsoft.com/office/powerpoint/2010/main" val="3585219598"/>
      </p:ext>
    </p:extLst>
  </p:cSld>
  <p:clrMapOvr>
    <a:masterClrMapping/>
  </p:clrMapOvr>
</p:sld>
</file>

<file path=ppt/slides/slide7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세션·시스템 통계와 ASH</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cs typeface="맑은 고딕"/>
              </a:rPr>
              <a:t>V$SYSSTAT · V$SESSTAT · ASH</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논리/물리 읽기·redo·파싱·커밋·정렬 = V$SYSSTAT/V$SESSTAT</a:t>
            </a:r>
          </a:p>
          <a:p>
            <a:pPr algn="l">
              <a:spcAft>
                <a:spcPts val="800"/>
              </a:spcAft>
            </a:pPr>
            <a:r>
              <a:rPr sz="1700" b="0">
                <a:solidFill>
                  <a:srgbClr val="222222"/>
                </a:solidFill>
                <a:latin typeface="맑은 고딕"/>
                <a:ea typeface="맑은 고딕"/>
                <a:cs typeface="맑은 고딕"/>
              </a:rPr>
              <a:t>•  대기와 짝: db file scattered read↑ ↔ physical reads↑</a:t>
            </a:r>
          </a:p>
          <a:p>
            <a:pPr algn="l">
              <a:spcAft>
                <a:spcPts val="800"/>
              </a:spcAft>
            </a:pPr>
            <a:r>
              <a:rPr sz="1700" b="0">
                <a:solidFill>
                  <a:srgbClr val="222222"/>
                </a:solidFill>
                <a:latin typeface="맑은 고딕"/>
                <a:ea typeface="맑은 고딕"/>
                <a:cs typeface="맑은 고딕"/>
              </a:rPr>
              <a:t>•  이 카운터도 누적 → 델타로 본다(AWR Instance Activity)</a:t>
            </a:r>
          </a:p>
          <a:p>
            <a:pPr algn="l">
              <a:spcAft>
                <a:spcPts val="800"/>
              </a:spcAft>
            </a:pPr>
            <a:r>
              <a:rPr sz="1700" b="0">
                <a:solidFill>
                  <a:srgbClr val="222222"/>
                </a:solidFill>
                <a:latin typeface="맑은 고딕"/>
                <a:ea typeface="맑은 고딕"/>
                <a:cs typeface="맑은 고딕"/>
              </a:rPr>
              <a:t>•  ASH: 활성 세션 1초 샘플링 = 🔒 Diagnostics Pack(개념만, ch25)</a:t>
            </a:r>
          </a:p>
        </p:txBody>
      </p:sp>
    </p:spTree>
    <p:extLst>
      <p:ext uri="{BB962C8B-B14F-4D97-AF65-F5344CB8AC3E}">
        <p14:creationId xmlns:p14="http://schemas.microsoft.com/office/powerpoint/2010/main" val="4071383238"/>
      </p:ext>
    </p:extLst>
  </p:cSld>
  <p:clrMapOvr>
    <a:masterClrMapping/>
  </p:clrMapOvr>
</p:sld>
</file>

<file path=ppt/slides/slide7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707886"/>
          </a:xfrm>
          <a:prstGeom prst="rect">
            <a:avLst/>
          </a:prstGeom>
          <a:noFill/>
        </p:spPr>
        <p:txBody>
          <a:bodyPr wrap="square">
            <a:spAutoFit/>
          </a:bodyPr>
          <a:lstStyle/>
          <a:p>
            <a:pPr algn="l"/>
            <a:r>
              <a:rPr lang="en-US" sz="4000" b="1" dirty="0">
                <a:solidFill>
                  <a:srgbClr val="FFFFFF"/>
                </a:solidFill>
                <a:latin typeface="맑은 고딕"/>
                <a:ea typeface="맑은 고딕"/>
                <a:cs typeface="맑은 고딕"/>
              </a:rPr>
              <a:t>19</a:t>
            </a:r>
            <a:r>
              <a:rPr sz="4000" b="1" dirty="0">
                <a:solidFill>
                  <a:srgbClr val="FFFFFF"/>
                </a:solidFill>
                <a:latin typeface="맑은 고딕"/>
                <a:ea typeface="맑은 고딕"/>
                <a:cs typeface="맑은 고딕"/>
              </a:rPr>
              <a:t>.6</a:t>
            </a:r>
          </a:p>
        </p:txBody>
      </p:sp>
      <p:sp>
        <p:nvSpPr>
          <p:cNvPr id="4" name="TextBox 3"/>
          <p:cNvSpPr txBox="1"/>
          <p:nvPr/>
        </p:nvSpPr>
        <p:spPr>
          <a:xfrm>
            <a:off x="822960" y="3017520"/>
            <a:ext cx="10515600" cy="914400"/>
          </a:xfrm>
          <a:prstGeom prst="rect">
            <a:avLst/>
          </a:prstGeom>
          <a:noFill/>
        </p:spPr>
        <p:txBody>
          <a:bodyPr wrap="square">
            <a:spAutoFit/>
          </a:bodyPr>
          <a:lstStyle/>
          <a:p>
            <a:pPr algn="l"/>
            <a:r>
              <a:rPr sz="2800" b="1">
                <a:solidFill>
                  <a:srgbClr val="FFFFFF"/>
                </a:solidFill>
                <a:latin typeface="맑은 고딕"/>
                <a:ea typeface="맑은 고딕"/>
                <a:cs typeface="맑은 고딕"/>
              </a:rPr>
              <a:t>통계 해석의 원칙</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400"/>
              </a:spcAft>
            </a:pPr>
            <a:r>
              <a:rPr sz="1600" b="0">
                <a:solidFill>
                  <a:srgbClr val="FFFFFF"/>
                </a:solidFill>
                <a:latin typeface="맑은 고딕"/>
                <a:ea typeface="맑은 고딕"/>
                <a:cs typeface="맑은 고딕"/>
              </a:rPr>
              <a:t>•  히트율은 지표</a:t>
            </a:r>
          </a:p>
          <a:p>
            <a:pPr algn="l">
              <a:spcAft>
                <a:spcPts val="400"/>
              </a:spcAft>
            </a:pPr>
            <a:r>
              <a:rPr sz="1600" b="0">
                <a:solidFill>
                  <a:srgbClr val="FFFFFF"/>
                </a:solidFill>
                <a:latin typeface="맑은 고딕"/>
                <a:ea typeface="맑은 고딕"/>
                <a:cs typeface="맑은 고딕"/>
              </a:rPr>
              <a:t>•  대기는 시간과 함께</a:t>
            </a:r>
          </a:p>
          <a:p>
            <a:pPr algn="l">
              <a:spcAft>
                <a:spcPts val="400"/>
              </a:spcAft>
            </a:pPr>
            <a:r>
              <a:rPr sz="1600" b="0">
                <a:solidFill>
                  <a:srgbClr val="FFFFFF"/>
                </a:solidFill>
                <a:latin typeface="맑은 고딕"/>
                <a:ea typeface="맑은 고딕"/>
                <a:cs typeface="맑은 고딕"/>
              </a:rPr>
              <a:t>•  숫자 하나로 결론 X</a:t>
            </a:r>
          </a:p>
        </p:txBody>
      </p:sp>
    </p:spTree>
    <p:extLst>
      <p:ext uri="{BB962C8B-B14F-4D97-AF65-F5344CB8AC3E}">
        <p14:creationId xmlns:p14="http://schemas.microsoft.com/office/powerpoint/2010/main" val="1656632893"/>
      </p:ext>
    </p:extLst>
  </p:cSld>
  <p:clrMapOvr>
    <a:masterClrMapping/>
  </p:clrMapOvr>
</p:sld>
</file>

<file path=ppt/slides/slide7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히트율은 판정자가 아니라 지표</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cs typeface="맑은 고딕"/>
              </a:rPr>
              <a:t>단일 비율의 함정</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히트율·소프트 파스 비율·래치 히트율 = 지표(indicator)</a:t>
            </a:r>
          </a:p>
          <a:p>
            <a:pPr algn="l">
              <a:spcAft>
                <a:spcPts val="800"/>
              </a:spcAft>
            </a:pPr>
            <a:r>
              <a:rPr sz="1700" b="0">
                <a:solidFill>
                  <a:srgbClr val="222222"/>
                </a:solidFill>
                <a:latin typeface="맑은 고딕"/>
                <a:ea typeface="맑은 고딕"/>
                <a:cs typeface="맑은 고딕"/>
              </a:rPr>
              <a:t>•  비효율 SQL이 같은 블록 반복 읽으면 히트율은 오히려 상승</a:t>
            </a:r>
          </a:p>
          <a:p>
            <a:pPr algn="l">
              <a:spcAft>
                <a:spcPts val="800"/>
              </a:spcAft>
            </a:pPr>
            <a:r>
              <a:rPr sz="1700" b="0">
                <a:solidFill>
                  <a:srgbClr val="222222"/>
                </a:solidFill>
                <a:latin typeface="맑은 고딕"/>
                <a:ea typeface="맑은 고딕"/>
                <a:cs typeface="맑은 고딕"/>
              </a:rPr>
              <a:t>•  히트율 99%인데 응답시간이 나쁠 수 있다(ch31 재현)</a:t>
            </a:r>
          </a:p>
          <a:p>
            <a:pPr algn="l">
              <a:spcAft>
                <a:spcPts val="800"/>
              </a:spcAft>
            </a:pPr>
            <a:r>
              <a:rPr sz="1700" b="0">
                <a:solidFill>
                  <a:srgbClr val="222222"/>
                </a:solidFill>
                <a:latin typeface="맑은 고딕"/>
                <a:ea typeface="맑은 고딕"/>
                <a:cs typeface="맑은 고딕"/>
              </a:rPr>
              <a:t>•  봐야 할 것은 '논리 읽기 자체가 왜 많은가'</a:t>
            </a:r>
          </a:p>
        </p:txBody>
      </p:sp>
    </p:spTree>
    <p:extLst>
      <p:ext uri="{BB962C8B-B14F-4D97-AF65-F5344CB8AC3E}">
        <p14:creationId xmlns:p14="http://schemas.microsoft.com/office/powerpoint/2010/main" val="1315459119"/>
      </p:ext>
    </p:extLst>
  </p:cSld>
  <p:clrMapOvr>
    <a:masterClrMapping/>
  </p:clrMapOvr>
</p:sld>
</file>

<file path=ppt/slides/slide7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대기는 시간과, 계산 통계는 카운트와</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cs typeface="맑은 고딕"/>
              </a:rPr>
              <a:t>TIMED_STATISTICS · Idle · 원시 카운트</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TIMED_STATISTICS로 대기 시간 수집(TYPICAL이면 자동)</a:t>
            </a:r>
          </a:p>
          <a:p>
            <a:pPr algn="l">
              <a:spcAft>
                <a:spcPts val="800"/>
              </a:spcAft>
            </a:pPr>
            <a:r>
              <a:rPr sz="1700" b="0">
                <a:solidFill>
                  <a:srgbClr val="222222"/>
                </a:solidFill>
                <a:latin typeface="맑은 고딕"/>
                <a:ea typeface="맑은 고딕"/>
                <a:cs typeface="맑은 고딕"/>
              </a:rPr>
              <a:t>•  30초/2시간 vs 30분/45분 — 시간 비중으로 판단</a:t>
            </a:r>
          </a:p>
          <a:p>
            <a:pPr algn="l">
              <a:spcAft>
                <a:spcPts val="800"/>
              </a:spcAft>
            </a:pPr>
            <a:r>
              <a:rPr sz="1700" b="0">
                <a:solidFill>
                  <a:srgbClr val="222222"/>
                </a:solidFill>
                <a:latin typeface="맑은 고딕"/>
                <a:ea typeface="맑은 고딕"/>
                <a:cs typeface="맑은 고딕"/>
              </a:rPr>
              <a:t>•  Idle 이벤트는 병목 아님 → 조사에서 제외</a:t>
            </a:r>
          </a:p>
          <a:p>
            <a:pPr algn="l">
              <a:spcAft>
                <a:spcPts val="800"/>
              </a:spcAft>
            </a:pPr>
            <a:r>
              <a:rPr sz="1700" b="0">
                <a:solidFill>
                  <a:srgbClr val="222222"/>
                </a:solidFill>
                <a:latin typeface="맑은 고딕"/>
                <a:ea typeface="맑은 고딕"/>
                <a:cs typeface="맑은 고딕"/>
              </a:rPr>
              <a:t>•  계산 통계는 원시 카운트로 검증(소프트 파스 50%의 함정)</a:t>
            </a:r>
          </a:p>
        </p:txBody>
      </p:sp>
    </p:spTree>
    <p:extLst>
      <p:ext uri="{BB962C8B-B14F-4D97-AF65-F5344CB8AC3E}">
        <p14:creationId xmlns:p14="http://schemas.microsoft.com/office/powerpoint/2010/main" val="30295187"/>
      </p:ext>
    </p:extLst>
  </p:cSld>
  <p:clrMapOvr>
    <a:masterClrMapping/>
  </p:clrMapOvr>
</p:sld>
</file>

<file path=ppt/slides/slide7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통계를 다른 요인과 함께 본다</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cs typeface="맑은 고딕"/>
              </a:rPr>
              <a:t>같은 숫자, 다른 의미</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대기 비중에 사용자 부하·하드웨어 능력도 함께 고려</a:t>
            </a:r>
          </a:p>
          <a:p>
            <a:pPr algn="l">
              <a:spcAft>
                <a:spcPts val="800"/>
              </a:spcAft>
            </a:pPr>
            <a:r>
              <a:rPr sz="1700" b="0">
                <a:solidFill>
                  <a:srgbClr val="222222"/>
                </a:solidFill>
                <a:latin typeface="맑은 고딕"/>
                <a:ea typeface="맑은 고딕"/>
                <a:cs typeface="맑은 고딕"/>
              </a:rPr>
              <a:t>•  45분 중 30분 대기라도 2,000명·64노드면 문제 아닐 수 있다</a:t>
            </a:r>
          </a:p>
          <a:p>
            <a:pPr algn="l">
              <a:spcAft>
                <a:spcPts val="800"/>
              </a:spcAft>
            </a:pPr>
            <a:r>
              <a:rPr sz="1700" b="0">
                <a:solidFill>
                  <a:srgbClr val="222222"/>
                </a:solidFill>
                <a:latin typeface="맑은 고딕"/>
                <a:ea typeface="맑은 고딕"/>
                <a:cs typeface="맑은 고딕"/>
              </a:rPr>
              <a:t>•  사용자 몇 명뿐 시스템에서 같은 비중이면 훨씬 심각</a:t>
            </a:r>
          </a:p>
          <a:p>
            <a:pPr algn="l">
              <a:spcAft>
                <a:spcPts val="800"/>
              </a:spcAft>
            </a:pPr>
            <a:r>
              <a:rPr sz="1700" b="0">
                <a:solidFill>
                  <a:srgbClr val="222222"/>
                </a:solidFill>
                <a:latin typeface="맑은 고딕"/>
                <a:ea typeface="맑은 고딕"/>
                <a:cs typeface="맑은 고딕"/>
              </a:rPr>
              <a:t>•  환경이 다르면 실측값도 다르다 → 절대값 단정 금지(&lt;환경값&gt;)</a:t>
            </a:r>
          </a:p>
        </p:txBody>
      </p:sp>
    </p:spTree>
    <p:extLst>
      <p:ext uri="{BB962C8B-B14F-4D97-AF65-F5344CB8AC3E}">
        <p14:creationId xmlns:p14="http://schemas.microsoft.com/office/powerpoint/2010/main" val="345242766"/>
      </p:ext>
    </p:extLst>
  </p:cSld>
  <p:clrMapOvr>
    <a:masterClrMapping/>
  </p:clrMapOvr>
</p:sld>
</file>

<file path=ppt/slides/slide7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707886"/>
          </a:xfrm>
          <a:prstGeom prst="rect">
            <a:avLst/>
          </a:prstGeom>
          <a:noFill/>
        </p:spPr>
        <p:txBody>
          <a:bodyPr wrap="square">
            <a:spAutoFit/>
          </a:bodyPr>
          <a:lstStyle/>
          <a:p>
            <a:pPr algn="l"/>
            <a:r>
              <a:rPr lang="en-US" sz="4000" b="1" dirty="0">
                <a:solidFill>
                  <a:srgbClr val="FFFFFF"/>
                </a:solidFill>
                <a:latin typeface="맑은 고딕"/>
                <a:ea typeface="맑은 고딕"/>
                <a:cs typeface="맑은 고딕"/>
              </a:rPr>
              <a:t>19</a:t>
            </a:r>
            <a:r>
              <a:rPr sz="4000" b="1" dirty="0">
                <a:solidFill>
                  <a:srgbClr val="FFFFFF"/>
                </a:solidFill>
                <a:latin typeface="맑은 고딕"/>
                <a:ea typeface="맑은 고딕"/>
                <a:cs typeface="맑은 고딕"/>
              </a:rPr>
              <a:t>.7</a:t>
            </a:r>
          </a:p>
        </p:txBody>
      </p:sp>
      <p:sp>
        <p:nvSpPr>
          <p:cNvPr id="4" name="TextBox 3"/>
          <p:cNvSpPr txBox="1"/>
          <p:nvPr/>
        </p:nvSpPr>
        <p:spPr>
          <a:xfrm>
            <a:off x="822960" y="3017520"/>
            <a:ext cx="10515600" cy="914400"/>
          </a:xfrm>
          <a:prstGeom prst="rect">
            <a:avLst/>
          </a:prstGeom>
          <a:noFill/>
        </p:spPr>
        <p:txBody>
          <a:bodyPr wrap="square">
            <a:spAutoFit/>
          </a:bodyPr>
          <a:lstStyle/>
          <a:p>
            <a:pPr algn="l"/>
            <a:r>
              <a:rPr sz="2800" b="1">
                <a:solidFill>
                  <a:srgbClr val="FFFFFF"/>
                </a:solidFill>
                <a:latin typeface="맑은 고딕"/>
                <a:ea typeface="맑은 고딕"/>
                <a:cs typeface="맑은 고딕"/>
              </a:rPr>
              <a:t>STATISTICS_LEVEL</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400"/>
              </a:spcAft>
            </a:pPr>
            <a:r>
              <a:rPr sz="1600" b="0">
                <a:solidFill>
                  <a:srgbClr val="FFFFFF"/>
                </a:solidFill>
                <a:latin typeface="맑은 고딕"/>
                <a:ea typeface="맑은 고딕"/>
                <a:cs typeface="맑은 고딕"/>
              </a:rPr>
              <a:t>•  측정을 켜는 스위치</a:t>
            </a:r>
          </a:p>
          <a:p>
            <a:pPr algn="l">
              <a:spcAft>
                <a:spcPts val="400"/>
              </a:spcAft>
            </a:pPr>
            <a:r>
              <a:rPr sz="1600" b="0">
                <a:solidFill>
                  <a:srgbClr val="FFFFFF"/>
                </a:solidFill>
                <a:latin typeface="맑은 고딕"/>
                <a:ea typeface="맑은 고딕"/>
                <a:cs typeface="맑은 고딕"/>
              </a:rPr>
              <a:t>•  BASIC/TYPICAL/ALL</a:t>
            </a:r>
          </a:p>
          <a:p>
            <a:pPr algn="l">
              <a:spcAft>
                <a:spcPts val="400"/>
              </a:spcAft>
            </a:pPr>
            <a:r>
              <a:rPr sz="1600" b="0">
                <a:solidFill>
                  <a:srgbClr val="FFFFFF"/>
                </a:solidFill>
                <a:latin typeface="맑은 고딕"/>
                <a:ea typeface="맑은 고딕"/>
                <a:cs typeface="맑은 고딕"/>
              </a:rPr>
              <a:t>•  이 장 무료 · AWR 🔒</a:t>
            </a:r>
          </a:p>
        </p:txBody>
      </p:sp>
    </p:spTree>
    <p:extLst>
      <p:ext uri="{BB962C8B-B14F-4D97-AF65-F5344CB8AC3E}">
        <p14:creationId xmlns:p14="http://schemas.microsoft.com/office/powerpoint/2010/main" val="1179437968"/>
      </p:ext>
    </p:extLst>
  </p:cSld>
  <p:clrMapOvr>
    <a:masterClrMapping/>
  </p:clrMapOvr>
</p:sld>
</file>

<file path=ppt/slides/slide7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STATISTICS_LEVEL 확인</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cs typeface="맑은 고딕"/>
              </a:rPr>
              <a:t>측정 자체를 켜고 끄는 스위치</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tlCol="0" anchor="ctr"/>
          <a:lstStyle/>
          <a:p>
            <a:pPr algn="l">
              <a:spcAft>
                <a:spcPts val="0"/>
              </a:spcAft>
            </a:pPr>
            <a:r>
              <a:rPr sz="1250" b="0">
                <a:solidFill>
                  <a:srgbClr val="F2F2F2"/>
                </a:solidFill>
                <a:latin typeface="Consolas"/>
                <a:ea typeface="Consolas"/>
                <a:cs typeface="Consolas"/>
              </a:rPr>
              <a:t>SYS@orcl&gt; SELECT name, value FROM v$parameter</a:t>
            </a:r>
          </a:p>
          <a:p>
            <a:pPr algn="l">
              <a:spcAft>
                <a:spcPts val="0"/>
              </a:spcAft>
            </a:pPr>
            <a:r>
              <a:rPr sz="1250" b="0">
                <a:solidFill>
                  <a:srgbClr val="F2F2F2"/>
                </a:solidFill>
                <a:latin typeface="Consolas"/>
                <a:ea typeface="Consolas"/>
                <a:cs typeface="Consolas"/>
              </a:rPr>
              <a:t>  2       WHERE name = 'statistics_level';</a:t>
            </a:r>
          </a:p>
          <a:p>
            <a:pPr algn="l">
              <a:spcAft>
                <a:spcPts val="0"/>
              </a:spcAft>
            </a:pPr>
            <a:r>
              <a:rPr sz="1250" b="0">
                <a:solidFill>
                  <a:srgbClr val="F2F2F2"/>
                </a:solidFill>
                <a:latin typeface="Consolas"/>
                <a:ea typeface="Consolas"/>
                <a:cs typeface="Consolas"/>
              </a:rPr>
              <a:t> </a:t>
            </a:r>
          </a:p>
          <a:p>
            <a:pPr algn="l">
              <a:spcAft>
                <a:spcPts val="0"/>
              </a:spcAft>
            </a:pPr>
            <a:r>
              <a:rPr sz="1250" b="0">
                <a:solidFill>
                  <a:srgbClr val="F2F2F2"/>
                </a:solidFill>
                <a:latin typeface="Consolas"/>
                <a:ea typeface="Consolas"/>
                <a:cs typeface="Consolas"/>
              </a:rPr>
              <a:t>NAME                 VALUE</a:t>
            </a:r>
          </a:p>
          <a:p>
            <a:pPr algn="l">
              <a:spcAft>
                <a:spcPts val="0"/>
              </a:spcAft>
            </a:pPr>
            <a:r>
              <a:rPr sz="1250" b="0">
                <a:solidFill>
                  <a:srgbClr val="F2F2F2"/>
                </a:solidFill>
                <a:latin typeface="Consolas"/>
                <a:ea typeface="Consolas"/>
                <a:cs typeface="Consolas"/>
              </a:rPr>
              <a:t>-------------------- ----------</a:t>
            </a:r>
          </a:p>
          <a:p>
            <a:pPr algn="l">
              <a:spcAft>
                <a:spcPts val="0"/>
              </a:spcAft>
            </a:pPr>
            <a:r>
              <a:rPr sz="1250" b="0">
                <a:solidFill>
                  <a:srgbClr val="F2F2F2"/>
                </a:solidFill>
                <a:latin typeface="Consolas"/>
                <a:ea typeface="Consolas"/>
                <a:cs typeface="Consolas"/>
              </a:rPr>
              <a:t>statistics_level     TYPICAL</a:t>
            </a:r>
          </a:p>
          <a:p>
            <a:pPr algn="l">
              <a:spcAft>
                <a:spcPts val="0"/>
              </a:spcAft>
            </a:pPr>
            <a:r>
              <a:rPr sz="1250" b="0">
                <a:solidFill>
                  <a:srgbClr val="F2F2F2"/>
                </a:solidFill>
                <a:latin typeface="Consolas"/>
                <a:ea typeface="Consolas"/>
                <a:cs typeface="Consolas"/>
              </a:rPr>
              <a:t> </a:t>
            </a:r>
          </a:p>
          <a:p>
            <a:pPr algn="l">
              <a:spcAft>
                <a:spcPts val="0"/>
              </a:spcAft>
            </a:pPr>
            <a:r>
              <a:rPr sz="1250" b="0">
                <a:solidFill>
                  <a:srgbClr val="F2F2F2"/>
                </a:solidFill>
                <a:latin typeface="Consolas"/>
                <a:ea typeface="Consolas"/>
                <a:cs typeface="Consolas"/>
              </a:rPr>
              <a:t>-- BASIC  : 자동 통계·AWR·시간 모델 상당수 OFF (비권장)</a:t>
            </a:r>
          </a:p>
          <a:p>
            <a:pPr algn="l">
              <a:spcAft>
                <a:spcPts val="0"/>
              </a:spcAft>
            </a:pPr>
            <a:r>
              <a:rPr sz="1250" b="0">
                <a:solidFill>
                  <a:srgbClr val="F2F2F2"/>
                </a:solidFill>
                <a:latin typeface="Consolas"/>
                <a:ea typeface="Consolas"/>
                <a:cs typeface="Consolas"/>
              </a:rPr>
              <a:t>-- TYPICAL: 기본값·권장. TIMED_STATISTICS 자동 ON</a:t>
            </a:r>
          </a:p>
          <a:p>
            <a:pPr algn="l">
              <a:spcAft>
                <a:spcPts val="0"/>
              </a:spcAft>
            </a:pPr>
            <a:r>
              <a:rPr sz="1250" b="0">
                <a:solidFill>
                  <a:srgbClr val="F2F2F2"/>
                </a:solidFill>
                <a:latin typeface="Consolas"/>
                <a:ea typeface="Consolas"/>
                <a:cs typeface="Consolas"/>
              </a:rPr>
              <a:t>-- ALL    : TYPICAL + OS 통계·계획 통계(오버헤드 큼)</a:t>
            </a:r>
          </a:p>
        </p:txBody>
      </p:sp>
    </p:spTree>
    <p:extLst>
      <p:ext uri="{BB962C8B-B14F-4D97-AF65-F5344CB8AC3E}">
        <p14:creationId xmlns:p14="http://schemas.microsoft.com/office/powerpoint/2010/main" val="3532780044"/>
      </p:ext>
    </p:extLst>
  </p:cSld>
  <p:clrMapOvr>
    <a:masterClrMapping/>
  </p:clrMapOvr>
</p:sld>
</file>

<file path=ppt/slides/slide7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라이선스 경계 — 이 장은 무료</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cs typeface="맑은 고딕"/>
              </a:rPr>
              <a:t>🔒 다음 장부터 유상</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이 장의 뷰(시간 모델·대기 클래스·V$SESSION_EVENT 등) = 팩 불필요</a:t>
            </a:r>
          </a:p>
          <a:p>
            <a:pPr algn="l">
              <a:spcAft>
                <a:spcPts val="800"/>
              </a:spcAft>
            </a:pPr>
            <a:r>
              <a:rPr sz="1700" b="0">
                <a:solidFill>
                  <a:srgbClr val="222222"/>
                </a:solidFill>
                <a:latin typeface="맑은 고딕"/>
                <a:ea typeface="맑은 고딕"/>
                <a:cs typeface="맑은 고딕"/>
              </a:rPr>
              <a:t>•  라이선스 없이도 델타 기법으로 전부 측정 가능</a:t>
            </a:r>
          </a:p>
          <a:p>
            <a:pPr algn="l">
              <a:spcAft>
                <a:spcPts val="800"/>
              </a:spcAft>
            </a:pPr>
            <a:r>
              <a:rPr sz="1700" b="0">
                <a:solidFill>
                  <a:srgbClr val="222222"/>
                </a:solidFill>
                <a:latin typeface="맑은 고딕"/>
                <a:ea typeface="맑은 고딕"/>
                <a:cs typeface="맑은 고딕"/>
              </a:rPr>
              <a:t>•  AWR·ADDM·ASH·DBA_HIST_*·V$ACTIVE_SESSION_HISTORY = 🔒 Diagnostics Pack</a:t>
            </a:r>
          </a:p>
          <a:p>
            <a:pPr algn="l">
              <a:spcAft>
                <a:spcPts val="800"/>
              </a:spcAft>
            </a:pPr>
            <a:r>
              <a:rPr sz="1700" b="0">
                <a:solidFill>
                  <a:srgbClr val="222222"/>
                </a:solidFill>
                <a:latin typeface="맑은 고딕"/>
                <a:ea typeface="맑은 고딕"/>
                <a:cs typeface="맑은 고딕"/>
              </a:rPr>
              <a:t>•  대안: V$ 델타 + Statspack(무상). control_management_pack_access 확인</a:t>
            </a:r>
          </a:p>
        </p:txBody>
      </p:sp>
    </p:spTree>
    <p:extLst>
      <p:ext uri="{BB962C8B-B14F-4D97-AF65-F5344CB8AC3E}">
        <p14:creationId xmlns:p14="http://schemas.microsoft.com/office/powerpoint/2010/main" val="2053347348"/>
      </p:ext>
    </p:extLst>
  </p:cSld>
  <p:clrMapOvr>
    <a:masterClrMapping/>
  </p:clrMapOvr>
</p:sld>
</file>

<file path=ppt/slides/slide7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707886"/>
          </a:xfrm>
          <a:prstGeom prst="rect">
            <a:avLst/>
          </a:prstGeom>
          <a:noFill/>
        </p:spPr>
        <p:txBody>
          <a:bodyPr wrap="square">
            <a:spAutoFit/>
          </a:bodyPr>
          <a:lstStyle/>
          <a:p>
            <a:pPr algn="l"/>
            <a:r>
              <a:rPr lang="en-US" sz="4000" b="1" dirty="0">
                <a:solidFill>
                  <a:srgbClr val="FFFFFF"/>
                </a:solidFill>
                <a:latin typeface="맑은 고딕"/>
                <a:ea typeface="맑은 고딕"/>
                <a:cs typeface="맑은 고딕"/>
              </a:rPr>
              <a:t>19</a:t>
            </a:r>
            <a:r>
              <a:rPr sz="4000" b="1" dirty="0">
                <a:solidFill>
                  <a:srgbClr val="FFFFFF"/>
                </a:solidFill>
                <a:latin typeface="맑은 고딕"/>
                <a:ea typeface="맑은 고딕"/>
                <a:cs typeface="맑은 고딕"/>
              </a:rPr>
              <a:t>.8</a:t>
            </a:r>
          </a:p>
        </p:txBody>
      </p:sp>
      <p:sp>
        <p:nvSpPr>
          <p:cNvPr id="4" name="TextBox 3"/>
          <p:cNvSpPr txBox="1"/>
          <p:nvPr/>
        </p:nvSpPr>
        <p:spPr>
          <a:xfrm>
            <a:off x="822960" y="3017520"/>
            <a:ext cx="10515600" cy="914400"/>
          </a:xfrm>
          <a:prstGeom prst="rect">
            <a:avLst/>
          </a:prstGeom>
          <a:noFill/>
        </p:spPr>
        <p:txBody>
          <a:bodyPr wrap="square">
            <a:spAutoFit/>
          </a:bodyPr>
          <a:lstStyle/>
          <a:p>
            <a:pPr algn="l"/>
            <a:r>
              <a:rPr sz="2800" b="1">
                <a:solidFill>
                  <a:srgbClr val="FFFFFF"/>
                </a:solidFill>
                <a:latin typeface="맑은 고딕"/>
                <a:ea typeface="맑은 고딕"/>
                <a:cs typeface="맑은 고딕"/>
              </a:rPr>
              <a:t>부하 전후 측정 절차</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400"/>
              </a:spcAft>
            </a:pPr>
            <a:r>
              <a:rPr sz="1600" b="0">
                <a:solidFill>
                  <a:srgbClr val="FFFFFF"/>
                </a:solidFill>
                <a:latin typeface="맑은 고딕"/>
                <a:ea typeface="맑은 고딕"/>
                <a:cs typeface="맑은 고딕"/>
              </a:rPr>
              <a:t>•  4단계 캡처</a:t>
            </a:r>
          </a:p>
          <a:p>
            <a:pPr algn="l">
              <a:spcAft>
                <a:spcPts val="400"/>
              </a:spcAft>
            </a:pPr>
            <a:r>
              <a:rPr sz="1600" b="0">
                <a:solidFill>
                  <a:srgbClr val="FFFFFF"/>
                </a:solidFill>
                <a:latin typeface="맑은 고딕"/>
                <a:ea typeface="맑은 고딕"/>
                <a:cs typeface="맑은 고딕"/>
              </a:rPr>
              <a:t>•  Load Profile 환산</a:t>
            </a:r>
          </a:p>
          <a:p>
            <a:pPr algn="l">
              <a:spcAft>
                <a:spcPts val="400"/>
              </a:spcAft>
            </a:pPr>
            <a:r>
              <a:rPr sz="1600" b="0">
                <a:solidFill>
                  <a:srgbClr val="FFFFFF"/>
                </a:solidFill>
                <a:latin typeface="맑은 고딕"/>
                <a:ea typeface="맑은 고딕"/>
                <a:cs typeface="맑은 고딕"/>
              </a:rPr>
              <a:t>•  교차 검증</a:t>
            </a:r>
          </a:p>
        </p:txBody>
      </p:sp>
    </p:spTree>
    <p:extLst>
      <p:ext uri="{BB962C8B-B14F-4D97-AF65-F5344CB8AC3E}">
        <p14:creationId xmlns:p14="http://schemas.microsoft.com/office/powerpoint/2010/main" val="1530374986"/>
      </p:ext>
    </p:extLst>
  </p:cSld>
  <p:clrMapOvr>
    <a:masterClrMapping/>
  </p:clrMapOvr>
</p:sld>
</file>

<file path=ppt/slides/slide7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부하 전후로 재는 4단계</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cs typeface="맑은 고딕"/>
              </a:rPr>
              <a:t>실습으로 이어지는 절차</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① 부하 직전 관심 통계 누적값 캡처(시간모델·통계·대기)</a:t>
            </a:r>
          </a:p>
          <a:p>
            <a:pPr algn="l">
              <a:spcAft>
                <a:spcPts val="800"/>
              </a:spcAft>
            </a:pPr>
            <a:r>
              <a:rPr sz="1700" b="0">
                <a:solidFill>
                  <a:srgbClr val="222222"/>
                </a:solidFill>
                <a:latin typeface="맑은 고딕"/>
                <a:ea typeface="맑은 고딕"/>
                <a:cs typeface="맑은 고딕"/>
              </a:rPr>
              <a:t>•  ② 부하를 일정 구간 실행(WL_06_mixed.sql)</a:t>
            </a:r>
          </a:p>
          <a:p>
            <a:pPr algn="l">
              <a:spcAft>
                <a:spcPts val="800"/>
              </a:spcAft>
            </a:pPr>
            <a:r>
              <a:rPr sz="1700" b="0">
                <a:solidFill>
                  <a:srgbClr val="222222"/>
                </a:solidFill>
                <a:latin typeface="맑은 고딕"/>
                <a:ea typeface="맑은 고딕"/>
                <a:cs typeface="맑은 고딕"/>
              </a:rPr>
              <a:t>•  ③ 부하 직후 같은 통계 재캡처</a:t>
            </a:r>
          </a:p>
          <a:p>
            <a:pPr algn="l">
              <a:spcAft>
                <a:spcPts val="800"/>
              </a:spcAft>
            </a:pPr>
            <a:r>
              <a:rPr sz="1700" b="0">
                <a:solidFill>
                  <a:srgbClr val="222222"/>
                </a:solidFill>
                <a:latin typeface="맑은 고딕"/>
                <a:ea typeface="맑은 고딕"/>
                <a:cs typeface="맑은 고딕"/>
              </a:rPr>
              <a:t>•  ④ 델타 계산 → 초당·트랜잭션당으로 환산(Load Profile 형식)</a:t>
            </a:r>
          </a:p>
        </p:txBody>
      </p:sp>
    </p:spTree>
    <p:extLst>
      <p:ext uri="{BB962C8B-B14F-4D97-AF65-F5344CB8AC3E}">
        <p14:creationId xmlns:p14="http://schemas.microsoft.com/office/powerpoint/2010/main" val="3049313839"/>
      </p:ext>
    </p:extLst>
  </p:cSld>
  <p:clrMapOvr>
    <a:masterClrMapping/>
  </p:clrMapOvr>
</p:sld>
</file>

<file path=ppt/slides/slide7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환산과 교차 검증</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cs typeface="맑은 고딕"/>
              </a:rPr>
              <a:t>'느려진 것'과 '일이 늘어난 것'</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초당·트랜잭션당 환산 → 구간 길이가 달라도 비교 가능</a:t>
            </a:r>
          </a:p>
          <a:p>
            <a:pPr algn="l">
              <a:spcAft>
                <a:spcPts val="800"/>
              </a:spcAft>
            </a:pPr>
            <a:r>
              <a:rPr sz="1700" b="0">
                <a:solidFill>
                  <a:srgbClr val="222222"/>
                </a:solidFill>
                <a:latin typeface="맑은 고딕"/>
                <a:ea typeface="맑은 고딕"/>
                <a:cs typeface="맑은 고딕"/>
              </a:rPr>
              <a:t>•  트랜잭션당 값이 부하 증가 vs 트랜잭션 무거워짐을 구분(→ch23)</a:t>
            </a:r>
          </a:p>
          <a:p>
            <a:pPr algn="l">
              <a:spcAft>
                <a:spcPts val="800"/>
              </a:spcAft>
            </a:pPr>
            <a:r>
              <a:rPr sz="1700" b="0">
                <a:solidFill>
                  <a:srgbClr val="222222"/>
                </a:solidFill>
                <a:latin typeface="맑은 고딕"/>
                <a:ea typeface="맑은 고딕"/>
                <a:cs typeface="맑은 고딕"/>
              </a:rPr>
              <a:t>•  물리 읽기 델타↑ ↔ User I/O 대기 델타↑ 여야 앞뒤가 맞음</a:t>
            </a:r>
          </a:p>
          <a:p>
            <a:pPr algn="l">
              <a:spcAft>
                <a:spcPts val="800"/>
              </a:spcAft>
            </a:pPr>
            <a:r>
              <a:rPr sz="1700" b="0">
                <a:solidFill>
                  <a:srgbClr val="222222"/>
                </a:solidFill>
                <a:latin typeface="맑은 고딕"/>
                <a:ea typeface="맑은 고딕"/>
                <a:cs typeface="맑은 고딕"/>
              </a:rPr>
              <a:t>•  환산 값이 이상하면 먼저 '표본이 충분한가'부터 확인</a:t>
            </a:r>
          </a:p>
        </p:txBody>
      </p:sp>
    </p:spTree>
    <p:extLst>
      <p:ext uri="{BB962C8B-B14F-4D97-AF65-F5344CB8AC3E}">
        <p14:creationId xmlns:p14="http://schemas.microsoft.com/office/powerpoint/2010/main" val="3670414398"/>
      </p:ext>
    </p:extLst>
  </p:cSld>
  <p:clrMapOvr>
    <a:masterClrMapping/>
  </p:clrMapOvr>
</p:sld>
</file>

<file path=ppt/slides/slide7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퀴즈 (Quiz)</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800"/>
              </a:spcAft>
            </a:pPr>
            <a:r>
              <a:rPr sz="1600" b="0">
                <a:solidFill>
                  <a:srgbClr val="222222"/>
                </a:solidFill>
                <a:latin typeface="맑은 고딕"/>
                <a:ea typeface="맑은 고딕"/>
                <a:cs typeface="맑은 고딕"/>
              </a:rPr>
              <a:t>•  Q1. DB Time의 정의와, DB Time이 벽시계 시간을 초과할 수 있는 이유를 쓰라.</a:t>
            </a:r>
          </a:p>
          <a:p>
            <a:pPr algn="l">
              <a:spcAft>
                <a:spcPts val="800"/>
              </a:spcAft>
            </a:pPr>
            <a:r>
              <a:rPr sz="1600" b="0">
                <a:solidFill>
                  <a:srgbClr val="222222"/>
                </a:solidFill>
                <a:latin typeface="맑은 고딕"/>
                <a:ea typeface="맑은 고딕"/>
                <a:cs typeface="맑은 고딕"/>
              </a:rPr>
              <a:t>•  Q2. 누적값과 델타값의 차이를 설명하고, 왜 판단을 델타로 해야 하는지 쓰라.</a:t>
            </a:r>
          </a:p>
          <a:p>
            <a:pPr algn="l">
              <a:spcAft>
                <a:spcPts val="800"/>
              </a:spcAft>
            </a:pPr>
            <a:r>
              <a:rPr sz="1600" b="0">
                <a:solidFill>
                  <a:srgbClr val="222222"/>
                </a:solidFill>
                <a:latin typeface="맑은 고딕"/>
                <a:ea typeface="맑은 고딕"/>
                <a:cs typeface="맑은 고딕"/>
              </a:rPr>
              <a:t>•  Q3. 0.3초 구간에서 DB CPU 델타(297,047)&gt;DB time 델타(275,636)인 원인과, 대기 확인 방법은?</a:t>
            </a:r>
          </a:p>
          <a:p>
            <a:pPr algn="l">
              <a:spcAft>
                <a:spcPts val="800"/>
              </a:spcAft>
            </a:pPr>
            <a:r>
              <a:rPr sz="1600" b="0">
                <a:solidFill>
                  <a:srgbClr val="222222"/>
                </a:solidFill>
                <a:latin typeface="맑은 고딕"/>
                <a:ea typeface="맑은 고딕"/>
                <a:cs typeface="맑은 고딕"/>
              </a:rPr>
              <a:t>•  Q4. 대기 집계에서 Idle을 제외하는 이유는? 대표 Idle 이벤트 하나를 들어라.</a:t>
            </a:r>
          </a:p>
          <a:p>
            <a:pPr algn="l">
              <a:spcAft>
                <a:spcPts val="800"/>
              </a:spcAft>
            </a:pPr>
            <a:r>
              <a:rPr sz="1600" b="0">
                <a:solidFill>
                  <a:srgbClr val="222222"/>
                </a:solidFill>
                <a:latin typeface="맑은 고딕"/>
                <a:ea typeface="맑은 고딕"/>
                <a:cs typeface="맑은 고딕"/>
              </a:rPr>
              <a:t>•  Q5. 계산 통계 해석 원칙 두 가지를 쓰라(소프트 파스 50% 예 포함).</a:t>
            </a:r>
          </a:p>
          <a:p>
            <a:pPr algn="l">
              <a:spcAft>
                <a:spcPts val="800"/>
              </a:spcAft>
            </a:pPr>
            <a:r>
              <a:rPr sz="1600" b="0">
                <a:solidFill>
                  <a:srgbClr val="222222"/>
                </a:solidFill>
                <a:latin typeface="맑은 고딕"/>
                <a:ea typeface="맑은 고딕"/>
                <a:cs typeface="맑은 고딕"/>
              </a:rPr>
              <a:t>•  Q6. STATISTICS_LEVEL 세 값과, 이 장과 ch20 AWR의 라이선스 경계를 구분하라.</a:t>
            </a:r>
          </a:p>
        </p:txBody>
      </p:sp>
    </p:spTree>
    <p:extLst>
      <p:ext uri="{BB962C8B-B14F-4D97-AF65-F5344CB8AC3E}">
        <p14:creationId xmlns:p14="http://schemas.microsoft.com/office/powerpoint/2010/main" val="643323603"/>
      </p:ext>
    </p:extLst>
  </p:cSld>
  <p:clrMapOvr>
    <a:masterClrMapping/>
  </p:clrMapOvr>
</p:sld>
</file>

<file path=ppt/slides/slide7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요약 (Summary)</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700"/>
              </a:spcAft>
            </a:pPr>
            <a:r>
              <a:rPr sz="1600" b="0">
                <a:solidFill>
                  <a:srgbClr val="222222"/>
                </a:solidFill>
                <a:latin typeface="맑은 고딕"/>
                <a:ea typeface="맑은 고딕"/>
                <a:cs typeface="맑은 고딕"/>
              </a:rPr>
              <a:t>•  DB Time = DB CPU + 대기. 모든 비휴지 전경 세션 시간의 합, 이 과정의 공통 화폐.</a:t>
            </a:r>
          </a:p>
          <a:p>
            <a:pPr algn="l">
              <a:spcAft>
                <a:spcPts val="700"/>
              </a:spcAft>
            </a:pPr>
            <a:r>
              <a:rPr sz="1600" b="0">
                <a:solidFill>
                  <a:srgbClr val="222222"/>
                </a:solidFill>
                <a:latin typeface="맑은 고딕"/>
                <a:ea typeface="맑은 고딕"/>
                <a:cs typeface="맑은 고딕"/>
              </a:rPr>
              <a:t>•  통계는 누적값. 절대값이 아니라 관심 구간의 델타로 본다 — 이 장의 핵심 기법.</a:t>
            </a:r>
          </a:p>
          <a:p>
            <a:pPr algn="l">
              <a:spcAft>
                <a:spcPts val="700"/>
              </a:spcAft>
            </a:pPr>
            <a:r>
              <a:rPr sz="1600" b="0">
                <a:solidFill>
                  <a:srgbClr val="222222"/>
                </a:solidFill>
                <a:latin typeface="맑은 고딕"/>
                <a:ea typeface="맑은 고딕"/>
                <a:cs typeface="맑은 고딕"/>
              </a:rPr>
              <a:t>•  짧은 구간(0.3초)은 시간 모델 분해가 불안정(CPU 107.8%). 수 분 AWR 구간 필요(→ch20).</a:t>
            </a:r>
          </a:p>
          <a:p>
            <a:pPr algn="l">
              <a:spcAft>
                <a:spcPts val="700"/>
              </a:spcAft>
            </a:pPr>
            <a:r>
              <a:rPr sz="1600" b="0">
                <a:solidFill>
                  <a:srgbClr val="222222"/>
                </a:solidFill>
                <a:latin typeface="맑은 고딕"/>
                <a:ea typeface="맑은 고딕"/>
                <a:cs typeface="맑은 고딕"/>
              </a:rPr>
              <a:t>•  대기의 실체는 V$SESSION_EVENT — db file scattered read 120회·65ms가 물리 I/O 증거.</a:t>
            </a:r>
          </a:p>
          <a:p>
            <a:pPr algn="l">
              <a:spcAft>
                <a:spcPts val="700"/>
              </a:spcAft>
            </a:pPr>
            <a:r>
              <a:rPr sz="1600" b="0">
                <a:solidFill>
                  <a:srgbClr val="222222"/>
                </a:solidFill>
                <a:latin typeface="맑은 고딕"/>
                <a:ea typeface="맑은 고딕"/>
                <a:cs typeface="맑은 고딕"/>
              </a:rPr>
              <a:t>•  대기 클래스 12종, V$SYSTEM_WAIT_CLASS로 집계. Idle 항상 제외. 누적≠구간 델타.</a:t>
            </a:r>
          </a:p>
          <a:p>
            <a:pPr algn="l">
              <a:spcAft>
                <a:spcPts val="700"/>
              </a:spcAft>
            </a:pPr>
            <a:r>
              <a:rPr sz="1600" b="0">
                <a:solidFill>
                  <a:srgbClr val="222222"/>
                </a:solidFill>
                <a:latin typeface="맑은 고딕"/>
                <a:ea typeface="맑은 고딕"/>
                <a:cs typeface="맑은 고딕"/>
              </a:rPr>
              <a:t>•  히트율은 지표, 대기는 시간과, 계산 통계는 원시 카운트와 함께. 숫자 하나로 결론 X.</a:t>
            </a:r>
          </a:p>
          <a:p>
            <a:pPr algn="l">
              <a:spcAft>
                <a:spcPts val="700"/>
              </a:spcAft>
            </a:pPr>
            <a:r>
              <a:rPr sz="1600" b="0">
                <a:solidFill>
                  <a:srgbClr val="222222"/>
                </a:solidFill>
                <a:latin typeface="맑은 고딕"/>
                <a:ea typeface="맑은 고딕"/>
                <a:cs typeface="맑은 고딕"/>
              </a:rPr>
              <a:t>•  STATISTICS_LEVEL=TYPICAL 권장. 이 장 뷰는 무료, AWR부터 🔒 Diagnostics Pack.</a:t>
            </a:r>
          </a:p>
        </p:txBody>
      </p:sp>
    </p:spTree>
    <p:extLst>
      <p:ext uri="{BB962C8B-B14F-4D97-AF65-F5344CB8AC3E}">
        <p14:creationId xmlns:p14="http://schemas.microsoft.com/office/powerpoint/2010/main" val="2509566703"/>
      </p:ext>
    </p:extLst>
  </p:cSld>
  <p:clrMapOvr>
    <a:masterClrMapping/>
  </p:clrMapOvr>
</p:sld>
</file>

<file path=ppt/slides/slide7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실습 개요 (Practice Overview)</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600"/>
              </a:spcAft>
            </a:pPr>
            <a:r>
              <a:rPr sz="1600" b="0">
                <a:solidFill>
                  <a:srgbClr val="222222"/>
                </a:solidFill>
                <a:latin typeface="맑은 고딕"/>
                <a:ea typeface="맑은 고딕"/>
                <a:cs typeface="맑은 고딕"/>
              </a:rPr>
              <a:t>•  실습 01 — 시스템 시간 모델로 DB Time 구성 확인(V$SYS_TIME_MODEL)</a:t>
            </a:r>
          </a:p>
          <a:p>
            <a:pPr algn="l">
              <a:spcAft>
                <a:spcPts val="600"/>
              </a:spcAft>
            </a:pPr>
            <a:r>
              <a:rPr sz="1600" b="0">
                <a:solidFill>
                  <a:srgbClr val="222222"/>
                </a:solidFill>
                <a:latin typeface="맑은 고딕"/>
                <a:ea typeface="맑은 고딕"/>
                <a:cs typeface="맑은 고딕"/>
              </a:rPr>
              <a:t>•  실습 02 — 세션 시간 모델로 부하 구간 분해(V$SESS_TIME_MODEL, 짧은 구간 노이즈)</a:t>
            </a:r>
          </a:p>
          <a:p>
            <a:pPr algn="l">
              <a:spcAft>
                <a:spcPts val="600"/>
              </a:spcAft>
            </a:pPr>
            <a:r>
              <a:rPr sz="1600" b="0">
                <a:solidFill>
                  <a:srgbClr val="222222"/>
                </a:solidFill>
                <a:latin typeface="맑은 고딕"/>
                <a:ea typeface="맑은 고딕"/>
                <a:cs typeface="맑은 고딕"/>
              </a:rPr>
              <a:t>•  실습 03 — 대기 클래스 집계와 상위 지목(V$SYSTEM_WAIT_CLASS / V$SESSION_EVENT)</a:t>
            </a:r>
          </a:p>
          <a:p>
            <a:pPr algn="l">
              <a:spcAft>
                <a:spcPts val="600"/>
              </a:spcAft>
            </a:pPr>
            <a:r>
              <a:rPr sz="1600" b="0">
                <a:solidFill>
                  <a:srgbClr val="222222"/>
                </a:solidFill>
                <a:latin typeface="맑은 고딕"/>
                <a:ea typeface="맑은 고딕"/>
                <a:cs typeface="맑은 고딕"/>
              </a:rPr>
              <a:t>•  실습 04 — STATISTICS_LEVEL 수준별 차이와 TIMED_STATISTICS 관계</a:t>
            </a:r>
          </a:p>
          <a:p>
            <a:pPr algn="l">
              <a:spcAft>
                <a:spcPts val="600"/>
              </a:spcAft>
            </a:pPr>
            <a:r>
              <a:rPr sz="1600" b="0">
                <a:solidFill>
                  <a:srgbClr val="222222"/>
                </a:solidFill>
                <a:latin typeface="맑은 고딕"/>
                <a:ea typeface="맑은 고딕"/>
                <a:cs typeface="맑은 고딕"/>
              </a:rPr>
              <a:t>•  실습 05 — WL_06_mixed 전후 DB Time 델타 측정과 초당·트랜잭션당 환산</a:t>
            </a:r>
          </a:p>
          <a:p>
            <a:pPr algn="l">
              <a:spcAft>
                <a:spcPts val="600"/>
              </a:spcAft>
            </a:pPr>
            <a:r>
              <a:rPr sz="1600" b="0">
                <a:solidFill>
                  <a:srgbClr val="222222"/>
                </a:solidFill>
                <a:latin typeface="맑은 고딕"/>
                <a:ea typeface="맑은 고딕"/>
                <a:cs typeface="맑은 고딕"/>
              </a:rPr>
              <a:t>•  실습 06 — 누적값 오판 재현과 델타 방식 교정</a:t>
            </a:r>
          </a:p>
          <a:p>
            <a:pPr algn="l">
              <a:spcAft>
                <a:spcPts val="600"/>
              </a:spcAft>
            </a:pPr>
            <a:r>
              <a:rPr sz="1600" b="0">
                <a:solidFill>
                  <a:srgbClr val="222222"/>
                </a:solidFill>
                <a:latin typeface="맑은 고딕"/>
                <a:ea typeface="맑은 고딕"/>
                <a:cs typeface="맑은 고딕"/>
              </a:rPr>
              <a:t>•  ※ 환경: non-CDB orcl 19.3, 프롬프트 SYS@orcl&gt; / SQLT@orcl&gt; (실습 6개)</a:t>
            </a:r>
          </a:p>
          <a:p>
            <a:pPr algn="l">
              <a:spcAft>
                <a:spcPts val="600"/>
              </a:spcAft>
            </a:pPr>
            <a:r>
              <a:rPr sz="1600" b="0">
                <a:solidFill>
                  <a:srgbClr val="222222"/>
                </a:solidFill>
                <a:latin typeface="맑은 고딕"/>
                <a:ea typeface="맑은 고딕"/>
                <a:cs typeface="맑은 고딕"/>
              </a:rPr>
              <a:t>•  ※ 각 실습: '조치 전 → 조치·조회 → 결과 해석' + '이상 징후→원인→조치→재확인'</a:t>
            </a:r>
          </a:p>
        </p:txBody>
      </p:sp>
    </p:spTree>
    <p:extLst>
      <p:ext uri="{BB962C8B-B14F-4D97-AF65-F5344CB8AC3E}">
        <p14:creationId xmlns:p14="http://schemas.microsoft.com/office/powerpoint/2010/main" val="2042808745"/>
      </p:ext>
    </p:extLst>
  </p:cSld>
  <p:clrMapOvr>
    <a:masterClrMapping/>
  </p:clrMapOvr>
</p:sld>
</file>

<file path=ppt/slides/slide7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5394960"/>
            <a:ext cx="12188952"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457200"/>
            <a:ext cx="10698480" cy="548640"/>
          </a:xfrm>
          <a:prstGeom prst="rect">
            <a:avLst/>
          </a:prstGeom>
          <a:noFill/>
        </p:spPr>
        <p:txBody>
          <a:bodyPr wrap="square" anchor="t">
            <a:spAutoFit/>
          </a:bodyPr>
          <a:lstStyle/>
          <a:p>
            <a:pPr algn="l"/>
            <a:r>
              <a:rPr sz="1600" b="1">
                <a:solidFill>
                  <a:srgbClr val="FFFFFF"/>
                </a:solidFill>
                <a:latin typeface="맑은 고딕"/>
              </a:rPr>
              <a:t>Oracle Database 19c 성능 튜닝 실무 과정</a:t>
            </a:r>
          </a:p>
        </p:txBody>
      </p:sp>
      <p:sp>
        <p:nvSpPr>
          <p:cNvPr id="6" name="TextBox 5"/>
          <p:cNvSpPr txBox="1"/>
          <p:nvPr/>
        </p:nvSpPr>
        <p:spPr>
          <a:xfrm>
            <a:off x="731520" y="2377440"/>
            <a:ext cx="10698480" cy="1554480"/>
          </a:xfrm>
          <a:prstGeom prst="rect">
            <a:avLst/>
          </a:prstGeom>
          <a:noFill/>
        </p:spPr>
        <p:txBody>
          <a:bodyPr wrap="square" anchor="t">
            <a:spAutoFit/>
          </a:bodyPr>
          <a:lstStyle/>
          <a:p>
            <a:pPr algn="l"/>
            <a:r>
              <a:rPr sz="3400" b="1">
                <a:solidFill>
                  <a:srgbClr val="C0392B"/>
                </a:solidFill>
                <a:latin typeface="맑은 고딕"/>
              </a:rPr>
              <a:t>통계 수집 ① 자동 수집과 AWR 인프라</a:t>
            </a:r>
          </a:p>
          <a:p>
            <a:pPr algn="l"/>
            <a:r>
              <a:rPr sz="2000" b="0">
                <a:solidFill>
                  <a:srgbClr val="5A6672"/>
                </a:solidFill>
                <a:latin typeface="맑은 고딕"/>
              </a:rPr>
              <a:t>Gathering Database Statistics — 무엇을 얼마나 오래 기억할 것인가</a:t>
            </a:r>
          </a:p>
        </p:txBody>
      </p:sp>
      <p:sp>
        <p:nvSpPr>
          <p:cNvPr id="7" name="TextBox 6"/>
          <p:cNvSpPr txBox="1"/>
          <p:nvPr/>
        </p:nvSpPr>
        <p:spPr>
          <a:xfrm>
            <a:off x="731520" y="4114800"/>
            <a:ext cx="10698480" cy="1097280"/>
          </a:xfrm>
          <a:prstGeom prst="rect">
            <a:avLst/>
          </a:prstGeom>
          <a:noFill/>
        </p:spPr>
        <p:txBody>
          <a:bodyPr wrap="square" anchor="t">
            <a:spAutoFit/>
          </a:bodyPr>
          <a:lstStyle/>
          <a:p>
            <a:pPr algn="l"/>
            <a:r>
              <a:rPr sz="1500" b="0">
                <a:solidFill>
                  <a:srgbClr val="5A6672"/>
                </a:solidFill>
                <a:latin typeface="맑은 고딕"/>
              </a:rPr>
              <a:t>AWR 스냅샷 주기·보존 · 베이스라인 · SYSAUX 용량 · Statspack 대안  🔒 Diagnostics Pack</a:t>
            </a:r>
          </a:p>
        </p:txBody>
      </p:sp>
      <p:sp>
        <p:nvSpPr>
          <p:cNvPr id="8" name="TextBox 7"/>
          <p:cNvSpPr txBox="1"/>
          <p:nvPr/>
        </p:nvSpPr>
        <p:spPr>
          <a:xfrm>
            <a:off x="731520" y="5577840"/>
            <a:ext cx="10698480" cy="914400"/>
          </a:xfrm>
          <a:prstGeom prst="rect">
            <a:avLst/>
          </a:prstGeom>
          <a:noFill/>
        </p:spPr>
        <p:txBody>
          <a:bodyPr wrap="square" anchor="t">
            <a:spAutoFit/>
          </a:bodyPr>
          <a:lstStyle/>
          <a:p>
            <a:pPr algn="l"/>
            <a:r>
              <a:rPr sz="2000" b="1">
                <a:solidFill>
                  <a:srgbClr val="C0392B"/>
                </a:solidFill>
                <a:latin typeface="맑은 고딕"/>
              </a:rPr>
              <a:t>ch20</a:t>
            </a:r>
          </a:p>
        </p:txBody>
      </p:sp>
    </p:spTree>
    <p:extLst>
      <p:ext uri="{BB962C8B-B14F-4D97-AF65-F5344CB8AC3E}">
        <p14:creationId xmlns:p14="http://schemas.microsoft.com/office/powerpoint/2010/main" val="3690465596"/>
      </p:ext>
    </p:extLst>
  </p:cSld>
  <p:clrMapOvr>
    <a:masterClrMapping/>
  </p:clrMapOvr>
</p:sld>
</file>

<file path=ppt/slides/slide8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학습 목표 (Objectives)</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600"/>
              </a:spcAft>
            </a:pPr>
            <a:r>
              <a:rPr sz="1600" b="0">
                <a:solidFill>
                  <a:srgbClr val="222222"/>
                </a:solidFill>
                <a:latin typeface="맑은 고딕"/>
              </a:rPr>
              <a:t>•  AWR이 무엇을 수집해 어디에 저장하는지, 스냅샷·베이스라인·이동 윈도우의 관계를 그린다.</a:t>
            </a:r>
          </a:p>
          <a:p>
            <a:pPr algn="l">
              <a:spcAft>
                <a:spcPts val="600"/>
              </a:spcAft>
            </a:pPr>
            <a:r>
              <a:rPr sz="1600" b="0">
                <a:solidFill>
                  <a:srgbClr val="222222"/>
                </a:solidFill>
                <a:latin typeface="맑은 고딕"/>
              </a:rPr>
              <a:t>•  DBA_HIST_WR_CONTROL로 주기·보존을 확인하고 MODIFY_SNAPSHOT_SETTINGS로 변경한다.</a:t>
            </a:r>
          </a:p>
          <a:p>
            <a:pPr algn="l">
              <a:spcAft>
                <a:spcPts val="600"/>
              </a:spcAft>
            </a:pPr>
            <a:r>
              <a:rPr sz="1600" b="0">
                <a:solidFill>
                  <a:srgbClr val="222222"/>
                </a:solidFill>
                <a:latin typeface="맑은 고딕"/>
              </a:rPr>
              <a:t>•  CREATE_SNAPSHOT으로 부하 구간 앞뒤에 수동 스냅샷 쌍을 확보한다(실습: 295~296).</a:t>
            </a:r>
          </a:p>
          <a:p>
            <a:pPr algn="l">
              <a:spcAft>
                <a:spcPts val="600"/>
              </a:spcAft>
            </a:pPr>
            <a:r>
              <a:rPr sz="1600" b="0">
                <a:solidFill>
                  <a:srgbClr val="222222"/>
                </a:solidFill>
                <a:latin typeface="맑은 고딕"/>
              </a:rPr>
              <a:t>•  고정·이동 윈도우 베이스라인을 구분하고 필요한 구간을 보호·조회·삭제한다.</a:t>
            </a:r>
          </a:p>
          <a:p>
            <a:pPr algn="l">
              <a:spcAft>
                <a:spcPts val="600"/>
              </a:spcAft>
            </a:pPr>
            <a:r>
              <a:rPr sz="1600" b="0">
                <a:solidFill>
                  <a:srgbClr val="222222"/>
                </a:solidFill>
                <a:latin typeface="맑은 고딕"/>
              </a:rPr>
              <a:t>•  V$SYSAUX_OCCUPANTS로 SM/AWR 점유(281.9MB)를 추적하고 안전하게 정리한다.</a:t>
            </a:r>
          </a:p>
          <a:p>
            <a:pPr algn="l">
              <a:spcAft>
                <a:spcPts val="600"/>
              </a:spcAft>
            </a:pPr>
            <a:r>
              <a:rPr sz="1600" b="0">
                <a:solidFill>
                  <a:srgbClr val="222222"/>
                </a:solidFill>
                <a:latin typeface="맑은 고딕"/>
              </a:rPr>
              <a:t>•  보존 초과로 데이터가 사라지기 전에 사고 구간을 베이스라인으로 얼려 둔다.</a:t>
            </a:r>
          </a:p>
          <a:p>
            <a:pPr algn="l">
              <a:spcAft>
                <a:spcPts val="600"/>
              </a:spcAft>
            </a:pPr>
            <a:r>
              <a:rPr sz="1600" b="0">
                <a:solidFill>
                  <a:srgbClr val="222222"/>
                </a:solidFill>
                <a:latin typeface="맑은 고딕"/>
              </a:rPr>
              <a:t>•  라이선스가 없으면 Statspack·V$ 델타로 같은 것을 본다.  🔒 이 장 전체가 Diagnostics Pack 대상.</a:t>
            </a:r>
          </a:p>
        </p:txBody>
      </p:sp>
    </p:spTree>
    <p:extLst>
      <p:ext uri="{BB962C8B-B14F-4D97-AF65-F5344CB8AC3E}">
        <p14:creationId xmlns:p14="http://schemas.microsoft.com/office/powerpoint/2010/main" val="1379521758"/>
      </p:ext>
    </p:extLst>
  </p:cSld>
  <p:clrMapOvr>
    <a:masterClrMapping/>
  </p:clrMapOvr>
</p:sld>
</file>

<file path=ppt/slides/slide8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이 장의 구성 (Agenda)</a:t>
            </a:r>
          </a:p>
        </p:txBody>
      </p:sp>
      <p:sp>
        <p:nvSpPr>
          <p:cNvPr id="4" name="TextBox 3"/>
          <p:cNvSpPr txBox="1"/>
          <p:nvPr/>
        </p:nvSpPr>
        <p:spPr>
          <a:xfrm>
            <a:off x="640080" y="1371600"/>
            <a:ext cx="10881360" cy="2600712"/>
          </a:xfrm>
          <a:prstGeom prst="rect">
            <a:avLst/>
          </a:prstGeom>
          <a:noFill/>
        </p:spPr>
        <p:txBody>
          <a:bodyPr wrap="square" anchor="t">
            <a:spAutoFit/>
          </a:bodyPr>
          <a:lstStyle/>
          <a:p>
            <a:pPr algn="l">
              <a:spcAft>
                <a:spcPts val="600"/>
              </a:spcAft>
            </a:pPr>
            <a:r>
              <a:rPr sz="1600" b="0" dirty="0">
                <a:solidFill>
                  <a:srgbClr val="222222"/>
                </a:solidFill>
                <a:latin typeface="맑은 고딕"/>
              </a:rPr>
              <a:t>•  </a:t>
            </a:r>
            <a:r>
              <a:rPr lang="en-US" sz="1600" b="0" dirty="0">
                <a:solidFill>
                  <a:srgbClr val="222222"/>
                </a:solidFill>
                <a:latin typeface="맑은 고딕"/>
              </a:rPr>
              <a:t>20</a:t>
            </a:r>
            <a:r>
              <a:rPr sz="1600" b="0" dirty="0">
                <a:solidFill>
                  <a:srgbClr val="222222"/>
                </a:solidFill>
                <a:latin typeface="맑은 고딕"/>
              </a:rPr>
              <a:t>.2  AWR </a:t>
            </a:r>
            <a:r>
              <a:rPr sz="1600" b="0" dirty="0" err="1">
                <a:solidFill>
                  <a:srgbClr val="222222"/>
                </a:solidFill>
                <a:latin typeface="맑은 고딕"/>
              </a:rPr>
              <a:t>인프라</a:t>
            </a:r>
            <a:r>
              <a:rPr sz="1600" b="0" dirty="0">
                <a:solidFill>
                  <a:srgbClr val="222222"/>
                </a:solidFill>
                <a:latin typeface="맑은 고딕"/>
              </a:rPr>
              <a:t> </a:t>
            </a:r>
            <a:r>
              <a:rPr sz="1600" b="0" dirty="0" err="1">
                <a:solidFill>
                  <a:srgbClr val="222222"/>
                </a:solidFill>
                <a:latin typeface="맑은 고딕"/>
              </a:rPr>
              <a:t>개요</a:t>
            </a:r>
            <a:r>
              <a:rPr sz="1600" b="0" dirty="0">
                <a:solidFill>
                  <a:srgbClr val="222222"/>
                </a:solidFill>
                <a:latin typeface="맑은 고딕"/>
              </a:rPr>
              <a:t> — </a:t>
            </a:r>
            <a:r>
              <a:rPr sz="1600" b="0" dirty="0" err="1">
                <a:solidFill>
                  <a:srgbClr val="222222"/>
                </a:solidFill>
                <a:latin typeface="맑은 고딕"/>
              </a:rPr>
              <a:t>무엇을</a:t>
            </a:r>
            <a:r>
              <a:rPr sz="1600" b="0" dirty="0">
                <a:solidFill>
                  <a:srgbClr val="222222"/>
                </a:solidFill>
                <a:latin typeface="맑은 고딕"/>
              </a:rPr>
              <a:t> </a:t>
            </a:r>
            <a:r>
              <a:rPr sz="1600" b="0" dirty="0" err="1">
                <a:solidFill>
                  <a:srgbClr val="222222"/>
                </a:solidFill>
                <a:latin typeface="맑은 고딕"/>
              </a:rPr>
              <a:t>기억하는가</a:t>
            </a:r>
            <a:endParaRPr sz="1600" b="0" dirty="0">
              <a:solidFill>
                <a:srgbClr val="222222"/>
              </a:solidFill>
              <a:latin typeface="맑은 고딕"/>
            </a:endParaRPr>
          </a:p>
          <a:p>
            <a:pPr algn="l">
              <a:spcAft>
                <a:spcPts val="600"/>
              </a:spcAft>
            </a:pPr>
            <a:r>
              <a:rPr sz="1600" b="0" dirty="0">
                <a:solidFill>
                  <a:srgbClr val="222222"/>
                </a:solidFill>
                <a:latin typeface="맑은 고딕"/>
              </a:rPr>
              <a:t>•  </a:t>
            </a:r>
            <a:r>
              <a:rPr lang="en-US" sz="1600" b="0" dirty="0">
                <a:solidFill>
                  <a:srgbClr val="222222"/>
                </a:solidFill>
                <a:latin typeface="맑은 고딕"/>
              </a:rPr>
              <a:t>20</a:t>
            </a:r>
            <a:r>
              <a:rPr sz="1600" b="0" dirty="0">
                <a:solidFill>
                  <a:srgbClr val="222222"/>
                </a:solidFill>
                <a:latin typeface="맑은 고딕"/>
              </a:rPr>
              <a:t>.3  </a:t>
            </a:r>
            <a:r>
              <a:rPr sz="1600" b="0" dirty="0" err="1">
                <a:solidFill>
                  <a:srgbClr val="222222"/>
                </a:solidFill>
                <a:latin typeface="맑은 고딕"/>
              </a:rPr>
              <a:t>스냅샷</a:t>
            </a:r>
            <a:r>
              <a:rPr sz="1600" b="0" dirty="0">
                <a:solidFill>
                  <a:srgbClr val="222222"/>
                </a:solidFill>
                <a:latin typeface="맑은 고딕"/>
              </a:rPr>
              <a:t> — </a:t>
            </a:r>
            <a:r>
              <a:rPr sz="1600" b="0" dirty="0" err="1">
                <a:solidFill>
                  <a:srgbClr val="222222"/>
                </a:solidFill>
                <a:latin typeface="맑은 고딕"/>
              </a:rPr>
              <a:t>주기와</a:t>
            </a:r>
            <a:r>
              <a:rPr sz="1600" b="0" dirty="0">
                <a:solidFill>
                  <a:srgbClr val="222222"/>
                </a:solidFill>
                <a:latin typeface="맑은 고딕"/>
              </a:rPr>
              <a:t> </a:t>
            </a:r>
            <a:r>
              <a:rPr sz="1600" b="0" dirty="0" err="1">
                <a:solidFill>
                  <a:srgbClr val="222222"/>
                </a:solidFill>
                <a:latin typeface="맑은 고딕"/>
              </a:rPr>
              <a:t>보존을</a:t>
            </a:r>
            <a:r>
              <a:rPr sz="1600" b="0" dirty="0">
                <a:solidFill>
                  <a:srgbClr val="222222"/>
                </a:solidFill>
                <a:latin typeface="맑은 고딕"/>
              </a:rPr>
              <a:t> </a:t>
            </a:r>
            <a:r>
              <a:rPr sz="1600" b="0" dirty="0" err="1">
                <a:solidFill>
                  <a:srgbClr val="222222"/>
                </a:solidFill>
                <a:latin typeface="맑은 고딕"/>
              </a:rPr>
              <a:t>정한다</a:t>
            </a:r>
            <a:endParaRPr sz="1600" b="0" dirty="0">
              <a:solidFill>
                <a:srgbClr val="222222"/>
              </a:solidFill>
              <a:latin typeface="맑은 고딕"/>
            </a:endParaRPr>
          </a:p>
          <a:p>
            <a:pPr algn="l">
              <a:spcAft>
                <a:spcPts val="600"/>
              </a:spcAft>
            </a:pPr>
            <a:r>
              <a:rPr sz="1600" b="0" dirty="0">
                <a:solidFill>
                  <a:srgbClr val="222222"/>
                </a:solidFill>
                <a:latin typeface="맑은 고딕"/>
              </a:rPr>
              <a:t>•  </a:t>
            </a:r>
            <a:r>
              <a:rPr lang="en-US" sz="1600" b="0" dirty="0">
                <a:solidFill>
                  <a:srgbClr val="222222"/>
                </a:solidFill>
                <a:latin typeface="맑은 고딕"/>
              </a:rPr>
              <a:t>20</a:t>
            </a:r>
            <a:r>
              <a:rPr sz="1600" b="0" dirty="0">
                <a:solidFill>
                  <a:srgbClr val="222222"/>
                </a:solidFill>
                <a:latin typeface="맑은 고딕"/>
              </a:rPr>
              <a:t>.4  </a:t>
            </a:r>
            <a:r>
              <a:rPr sz="1600" b="0" dirty="0" err="1">
                <a:solidFill>
                  <a:srgbClr val="222222"/>
                </a:solidFill>
                <a:latin typeface="맑은 고딕"/>
              </a:rPr>
              <a:t>수동</a:t>
            </a:r>
            <a:r>
              <a:rPr sz="1600" b="0" dirty="0">
                <a:solidFill>
                  <a:srgbClr val="222222"/>
                </a:solidFill>
                <a:latin typeface="맑은 고딕"/>
              </a:rPr>
              <a:t> </a:t>
            </a:r>
            <a:r>
              <a:rPr sz="1600" b="0" dirty="0" err="1">
                <a:solidFill>
                  <a:srgbClr val="222222"/>
                </a:solidFill>
                <a:latin typeface="맑은 고딕"/>
              </a:rPr>
              <a:t>스냅샷</a:t>
            </a:r>
            <a:r>
              <a:rPr sz="1600" b="0" dirty="0">
                <a:solidFill>
                  <a:srgbClr val="222222"/>
                </a:solidFill>
                <a:latin typeface="맑은 고딕"/>
              </a:rPr>
              <a:t> — </a:t>
            </a:r>
            <a:r>
              <a:rPr sz="1600" b="0" dirty="0" err="1">
                <a:solidFill>
                  <a:srgbClr val="222222"/>
                </a:solidFill>
                <a:latin typeface="맑은 고딕"/>
              </a:rPr>
              <a:t>부하</a:t>
            </a:r>
            <a:r>
              <a:rPr sz="1600" b="0" dirty="0">
                <a:solidFill>
                  <a:srgbClr val="222222"/>
                </a:solidFill>
                <a:latin typeface="맑은 고딕"/>
              </a:rPr>
              <a:t> </a:t>
            </a:r>
            <a:r>
              <a:rPr sz="1600" b="0" dirty="0" err="1">
                <a:solidFill>
                  <a:srgbClr val="222222"/>
                </a:solidFill>
                <a:latin typeface="맑은 고딕"/>
              </a:rPr>
              <a:t>구간을</a:t>
            </a:r>
            <a:r>
              <a:rPr sz="1600" b="0" dirty="0">
                <a:solidFill>
                  <a:srgbClr val="222222"/>
                </a:solidFill>
                <a:latin typeface="맑은 고딕"/>
              </a:rPr>
              <a:t> </a:t>
            </a:r>
            <a:r>
              <a:rPr sz="1600" b="0" dirty="0" err="1">
                <a:solidFill>
                  <a:srgbClr val="222222"/>
                </a:solidFill>
                <a:latin typeface="맑은 고딕"/>
              </a:rPr>
              <a:t>손으로</a:t>
            </a:r>
            <a:r>
              <a:rPr sz="1600" b="0" dirty="0">
                <a:solidFill>
                  <a:srgbClr val="222222"/>
                </a:solidFill>
                <a:latin typeface="맑은 고딕"/>
              </a:rPr>
              <a:t> </a:t>
            </a:r>
            <a:r>
              <a:rPr sz="1600" b="0" dirty="0" err="1">
                <a:solidFill>
                  <a:srgbClr val="222222"/>
                </a:solidFill>
                <a:latin typeface="맑은 고딕"/>
              </a:rPr>
              <a:t>감싼다</a:t>
            </a:r>
            <a:endParaRPr sz="1600" b="0" dirty="0">
              <a:solidFill>
                <a:srgbClr val="222222"/>
              </a:solidFill>
              <a:latin typeface="맑은 고딕"/>
            </a:endParaRPr>
          </a:p>
          <a:p>
            <a:pPr algn="l">
              <a:spcAft>
                <a:spcPts val="600"/>
              </a:spcAft>
            </a:pPr>
            <a:r>
              <a:rPr sz="1600" b="0" dirty="0">
                <a:solidFill>
                  <a:srgbClr val="222222"/>
                </a:solidFill>
                <a:latin typeface="맑은 고딕"/>
              </a:rPr>
              <a:t>•  </a:t>
            </a:r>
            <a:r>
              <a:rPr lang="en-US" sz="1600" b="0" dirty="0">
                <a:solidFill>
                  <a:srgbClr val="222222"/>
                </a:solidFill>
                <a:latin typeface="맑은 고딕"/>
              </a:rPr>
              <a:t>20</a:t>
            </a:r>
            <a:r>
              <a:rPr sz="1600" b="0" dirty="0">
                <a:solidFill>
                  <a:srgbClr val="222222"/>
                </a:solidFill>
                <a:latin typeface="맑은 고딕"/>
              </a:rPr>
              <a:t>.5  AWR </a:t>
            </a:r>
            <a:r>
              <a:rPr sz="1600" b="0" dirty="0" err="1">
                <a:solidFill>
                  <a:srgbClr val="222222"/>
                </a:solidFill>
                <a:latin typeface="맑은 고딕"/>
              </a:rPr>
              <a:t>베이스라인</a:t>
            </a:r>
            <a:r>
              <a:rPr sz="1600" b="0" dirty="0">
                <a:solidFill>
                  <a:srgbClr val="222222"/>
                </a:solidFill>
                <a:latin typeface="맑은 고딕"/>
              </a:rPr>
              <a:t> — </a:t>
            </a:r>
            <a:r>
              <a:rPr sz="1600" b="0" dirty="0" err="1">
                <a:solidFill>
                  <a:srgbClr val="222222"/>
                </a:solidFill>
                <a:latin typeface="맑은 고딕"/>
              </a:rPr>
              <a:t>필요한</a:t>
            </a:r>
            <a:r>
              <a:rPr sz="1600" b="0" dirty="0">
                <a:solidFill>
                  <a:srgbClr val="222222"/>
                </a:solidFill>
                <a:latin typeface="맑은 고딕"/>
              </a:rPr>
              <a:t> </a:t>
            </a:r>
            <a:r>
              <a:rPr sz="1600" b="0" dirty="0" err="1">
                <a:solidFill>
                  <a:srgbClr val="222222"/>
                </a:solidFill>
                <a:latin typeface="맑은 고딕"/>
              </a:rPr>
              <a:t>구간을</a:t>
            </a:r>
            <a:r>
              <a:rPr sz="1600" b="0" dirty="0">
                <a:solidFill>
                  <a:srgbClr val="222222"/>
                </a:solidFill>
                <a:latin typeface="맑은 고딕"/>
              </a:rPr>
              <a:t> </a:t>
            </a:r>
            <a:r>
              <a:rPr sz="1600" b="0" dirty="0" err="1">
                <a:solidFill>
                  <a:srgbClr val="222222"/>
                </a:solidFill>
                <a:latin typeface="맑은 고딕"/>
              </a:rPr>
              <a:t>보호한다</a:t>
            </a:r>
            <a:endParaRPr sz="1600" b="0" dirty="0">
              <a:solidFill>
                <a:srgbClr val="222222"/>
              </a:solidFill>
              <a:latin typeface="맑은 고딕"/>
            </a:endParaRPr>
          </a:p>
          <a:p>
            <a:pPr algn="l">
              <a:spcAft>
                <a:spcPts val="600"/>
              </a:spcAft>
            </a:pPr>
            <a:r>
              <a:rPr sz="1600" b="0" dirty="0">
                <a:solidFill>
                  <a:srgbClr val="222222"/>
                </a:solidFill>
                <a:latin typeface="맑은 고딕"/>
              </a:rPr>
              <a:t>•  </a:t>
            </a:r>
            <a:r>
              <a:rPr lang="en-US" sz="1600" b="0" dirty="0">
                <a:solidFill>
                  <a:srgbClr val="222222"/>
                </a:solidFill>
                <a:latin typeface="맑은 고딕"/>
              </a:rPr>
              <a:t>20</a:t>
            </a:r>
            <a:r>
              <a:rPr sz="1600" b="0" dirty="0">
                <a:solidFill>
                  <a:srgbClr val="222222"/>
                </a:solidFill>
                <a:latin typeface="맑은 고딕"/>
              </a:rPr>
              <a:t>.6  SYSAUX </a:t>
            </a:r>
            <a:r>
              <a:rPr sz="1600" b="0" dirty="0" err="1">
                <a:solidFill>
                  <a:srgbClr val="222222"/>
                </a:solidFill>
                <a:latin typeface="맑은 고딕"/>
              </a:rPr>
              <a:t>용량</a:t>
            </a:r>
            <a:r>
              <a:rPr sz="1600" b="0" dirty="0">
                <a:solidFill>
                  <a:srgbClr val="222222"/>
                </a:solidFill>
                <a:latin typeface="맑은 고딕"/>
              </a:rPr>
              <a:t> </a:t>
            </a:r>
            <a:r>
              <a:rPr sz="1600" b="0" dirty="0" err="1">
                <a:solidFill>
                  <a:srgbClr val="222222"/>
                </a:solidFill>
                <a:latin typeface="맑은 고딕"/>
              </a:rPr>
              <a:t>관리</a:t>
            </a:r>
            <a:r>
              <a:rPr sz="1600" b="0" dirty="0">
                <a:solidFill>
                  <a:srgbClr val="222222"/>
                </a:solidFill>
                <a:latin typeface="맑은 고딕"/>
              </a:rPr>
              <a:t> — </a:t>
            </a:r>
            <a:r>
              <a:rPr sz="1600" b="0" dirty="0" err="1">
                <a:solidFill>
                  <a:srgbClr val="222222"/>
                </a:solidFill>
                <a:latin typeface="맑은 고딕"/>
              </a:rPr>
              <a:t>AWR이</a:t>
            </a:r>
            <a:r>
              <a:rPr sz="1600" b="0" dirty="0">
                <a:solidFill>
                  <a:srgbClr val="222222"/>
                </a:solidFill>
                <a:latin typeface="맑은 고딕"/>
              </a:rPr>
              <a:t> </a:t>
            </a:r>
            <a:r>
              <a:rPr sz="1600" b="0" dirty="0" err="1">
                <a:solidFill>
                  <a:srgbClr val="222222"/>
                </a:solidFill>
                <a:latin typeface="맑은 고딕"/>
              </a:rPr>
              <a:t>차지하는</a:t>
            </a:r>
            <a:r>
              <a:rPr sz="1600" b="0" dirty="0">
                <a:solidFill>
                  <a:srgbClr val="222222"/>
                </a:solidFill>
                <a:latin typeface="맑은 고딕"/>
              </a:rPr>
              <a:t> </a:t>
            </a:r>
            <a:r>
              <a:rPr sz="1600" b="0" dirty="0" err="1">
                <a:solidFill>
                  <a:srgbClr val="222222"/>
                </a:solidFill>
                <a:latin typeface="맑은 고딕"/>
              </a:rPr>
              <a:t>공간</a:t>
            </a:r>
            <a:endParaRPr sz="1600" b="0" dirty="0">
              <a:solidFill>
                <a:srgbClr val="222222"/>
              </a:solidFill>
              <a:latin typeface="맑은 고딕"/>
            </a:endParaRPr>
          </a:p>
          <a:p>
            <a:pPr algn="l">
              <a:spcAft>
                <a:spcPts val="600"/>
              </a:spcAft>
            </a:pPr>
            <a:r>
              <a:rPr sz="1600" b="0" dirty="0">
                <a:solidFill>
                  <a:srgbClr val="222222"/>
                </a:solidFill>
                <a:latin typeface="맑은 고딕"/>
              </a:rPr>
              <a:t>•  </a:t>
            </a:r>
            <a:r>
              <a:rPr lang="en-US" sz="1600" b="0" dirty="0">
                <a:solidFill>
                  <a:srgbClr val="222222"/>
                </a:solidFill>
                <a:latin typeface="맑은 고딕"/>
              </a:rPr>
              <a:t>20</a:t>
            </a:r>
            <a:r>
              <a:rPr sz="1600" b="0" dirty="0">
                <a:solidFill>
                  <a:srgbClr val="222222"/>
                </a:solidFill>
                <a:latin typeface="맑은 고딕"/>
              </a:rPr>
              <a:t>.7  </a:t>
            </a:r>
            <a:r>
              <a:rPr sz="1600" b="0" dirty="0" err="1">
                <a:solidFill>
                  <a:srgbClr val="222222"/>
                </a:solidFill>
                <a:latin typeface="맑은 고딕"/>
              </a:rPr>
              <a:t>보존</a:t>
            </a:r>
            <a:r>
              <a:rPr sz="1600" b="0" dirty="0">
                <a:solidFill>
                  <a:srgbClr val="222222"/>
                </a:solidFill>
                <a:latin typeface="맑은 고딕"/>
              </a:rPr>
              <a:t> </a:t>
            </a:r>
            <a:r>
              <a:rPr sz="1600" b="0" dirty="0" err="1">
                <a:solidFill>
                  <a:srgbClr val="222222"/>
                </a:solidFill>
                <a:latin typeface="맑은 고딕"/>
              </a:rPr>
              <a:t>기간</a:t>
            </a:r>
            <a:r>
              <a:rPr sz="1600" b="0" dirty="0">
                <a:solidFill>
                  <a:srgbClr val="222222"/>
                </a:solidFill>
                <a:latin typeface="맑은 고딕"/>
              </a:rPr>
              <a:t> </a:t>
            </a:r>
            <a:r>
              <a:rPr sz="1600" b="0" dirty="0" err="1">
                <a:solidFill>
                  <a:srgbClr val="222222"/>
                </a:solidFill>
                <a:latin typeface="맑은 고딕"/>
              </a:rPr>
              <a:t>초과와</a:t>
            </a:r>
            <a:r>
              <a:rPr sz="1600" b="0" dirty="0">
                <a:solidFill>
                  <a:srgbClr val="222222"/>
                </a:solidFill>
                <a:latin typeface="맑은 고딕"/>
              </a:rPr>
              <a:t> </a:t>
            </a:r>
            <a:r>
              <a:rPr sz="1600" b="0" dirty="0" err="1">
                <a:solidFill>
                  <a:srgbClr val="222222"/>
                </a:solidFill>
                <a:latin typeface="맑은 고딕"/>
              </a:rPr>
              <a:t>데이터</a:t>
            </a:r>
            <a:r>
              <a:rPr sz="1600" b="0" dirty="0">
                <a:solidFill>
                  <a:srgbClr val="222222"/>
                </a:solidFill>
                <a:latin typeface="맑은 고딕"/>
              </a:rPr>
              <a:t> </a:t>
            </a:r>
            <a:r>
              <a:rPr sz="1600" b="0" dirty="0" err="1">
                <a:solidFill>
                  <a:srgbClr val="222222"/>
                </a:solidFill>
                <a:latin typeface="맑은 고딕"/>
              </a:rPr>
              <a:t>소실</a:t>
            </a:r>
            <a:endParaRPr sz="1600" b="0" dirty="0">
              <a:solidFill>
                <a:srgbClr val="222222"/>
              </a:solidFill>
              <a:latin typeface="맑은 고딕"/>
            </a:endParaRPr>
          </a:p>
          <a:p>
            <a:pPr algn="l">
              <a:spcAft>
                <a:spcPts val="600"/>
              </a:spcAft>
            </a:pPr>
            <a:r>
              <a:rPr sz="1600" b="0" dirty="0">
                <a:solidFill>
                  <a:srgbClr val="222222"/>
                </a:solidFill>
                <a:latin typeface="맑은 고딕"/>
              </a:rPr>
              <a:t>•  </a:t>
            </a:r>
            <a:r>
              <a:rPr lang="en-US" sz="1600" b="0" dirty="0">
                <a:solidFill>
                  <a:srgbClr val="222222"/>
                </a:solidFill>
                <a:latin typeface="맑은 고딕"/>
              </a:rPr>
              <a:t>20</a:t>
            </a:r>
            <a:r>
              <a:rPr sz="1600" b="0" dirty="0">
                <a:solidFill>
                  <a:srgbClr val="222222"/>
                </a:solidFill>
                <a:latin typeface="맑은 고딕"/>
              </a:rPr>
              <a:t>.8  </a:t>
            </a:r>
            <a:r>
              <a:rPr sz="1600" b="0" dirty="0" err="1">
                <a:solidFill>
                  <a:srgbClr val="222222"/>
                </a:solidFill>
                <a:latin typeface="맑은 고딕"/>
              </a:rPr>
              <a:t>Statspack</a:t>
            </a:r>
            <a:r>
              <a:rPr sz="1600" b="0" dirty="0">
                <a:solidFill>
                  <a:srgbClr val="222222"/>
                </a:solidFill>
                <a:latin typeface="맑은 고딕"/>
              </a:rPr>
              <a:t> — </a:t>
            </a:r>
            <a:r>
              <a:rPr sz="1600" b="0" dirty="0" err="1">
                <a:solidFill>
                  <a:srgbClr val="222222"/>
                </a:solidFill>
                <a:latin typeface="맑은 고딕"/>
              </a:rPr>
              <a:t>라이선스</a:t>
            </a:r>
            <a:r>
              <a:rPr sz="1600" b="0" dirty="0">
                <a:solidFill>
                  <a:srgbClr val="222222"/>
                </a:solidFill>
                <a:latin typeface="맑은 고딕"/>
              </a:rPr>
              <a:t> </a:t>
            </a:r>
            <a:r>
              <a:rPr sz="1600" b="0" dirty="0" err="1">
                <a:solidFill>
                  <a:srgbClr val="222222"/>
                </a:solidFill>
                <a:latin typeface="맑은 고딕"/>
              </a:rPr>
              <a:t>없는</a:t>
            </a:r>
            <a:r>
              <a:rPr sz="1600" b="0" dirty="0">
                <a:solidFill>
                  <a:srgbClr val="222222"/>
                </a:solidFill>
                <a:latin typeface="맑은 고딕"/>
              </a:rPr>
              <a:t> </a:t>
            </a:r>
            <a:r>
              <a:rPr sz="1600" b="0" dirty="0" err="1">
                <a:solidFill>
                  <a:srgbClr val="222222"/>
                </a:solidFill>
                <a:latin typeface="맑은 고딕"/>
              </a:rPr>
              <a:t>환경의</a:t>
            </a:r>
            <a:r>
              <a:rPr sz="1600" b="0" dirty="0">
                <a:solidFill>
                  <a:srgbClr val="222222"/>
                </a:solidFill>
                <a:latin typeface="맑은 고딕"/>
              </a:rPr>
              <a:t> </a:t>
            </a:r>
            <a:r>
              <a:rPr sz="1600" b="0" dirty="0" err="1">
                <a:solidFill>
                  <a:srgbClr val="222222"/>
                </a:solidFill>
                <a:latin typeface="맑은 고딕"/>
              </a:rPr>
              <a:t>대안</a:t>
            </a:r>
            <a:endParaRPr sz="1600" b="0" dirty="0">
              <a:solidFill>
                <a:srgbClr val="222222"/>
              </a:solidFill>
              <a:latin typeface="맑은 고딕"/>
            </a:endParaRPr>
          </a:p>
          <a:p>
            <a:pPr algn="l">
              <a:spcAft>
                <a:spcPts val="600"/>
              </a:spcAft>
            </a:pPr>
            <a:r>
              <a:rPr sz="1600" b="0" dirty="0">
                <a:solidFill>
                  <a:srgbClr val="222222"/>
                </a:solidFill>
                <a:latin typeface="맑은 고딕"/>
              </a:rPr>
              <a:t>•  ※ ADMIN 31장의 </a:t>
            </a:r>
            <a:r>
              <a:rPr sz="1600" b="0" dirty="0" err="1">
                <a:solidFill>
                  <a:srgbClr val="222222"/>
                </a:solidFill>
                <a:latin typeface="맑은 고딕"/>
              </a:rPr>
              <a:t>AWR·스냅샷</a:t>
            </a:r>
            <a:r>
              <a:rPr sz="1600" b="0" dirty="0">
                <a:solidFill>
                  <a:srgbClr val="222222"/>
                </a:solidFill>
                <a:latin typeface="맑은 고딕"/>
              </a:rPr>
              <a:t> </a:t>
            </a:r>
            <a:r>
              <a:rPr sz="1600" b="0" dirty="0" err="1">
                <a:solidFill>
                  <a:srgbClr val="222222"/>
                </a:solidFill>
                <a:latin typeface="맑은 고딕"/>
              </a:rPr>
              <a:t>개념</a:t>
            </a:r>
            <a:r>
              <a:rPr sz="1600" b="0" dirty="0">
                <a:solidFill>
                  <a:srgbClr val="222222"/>
                </a:solidFill>
                <a:latin typeface="맑은 고딕"/>
              </a:rPr>
              <a:t> </a:t>
            </a:r>
            <a:r>
              <a:rPr sz="1600" b="0" dirty="0" err="1">
                <a:solidFill>
                  <a:srgbClr val="222222"/>
                </a:solidFill>
                <a:latin typeface="맑은 고딕"/>
              </a:rPr>
              <a:t>소개를</a:t>
            </a:r>
            <a:r>
              <a:rPr sz="1600" b="0" dirty="0">
                <a:solidFill>
                  <a:srgbClr val="222222"/>
                </a:solidFill>
                <a:latin typeface="맑은 고딕"/>
              </a:rPr>
              <a:t> </a:t>
            </a:r>
            <a:r>
              <a:rPr sz="1600" b="0" dirty="0" err="1">
                <a:solidFill>
                  <a:srgbClr val="222222"/>
                </a:solidFill>
                <a:latin typeface="맑은 고딕"/>
              </a:rPr>
              <a:t>인프라</a:t>
            </a:r>
            <a:r>
              <a:rPr sz="1600" b="0" dirty="0">
                <a:solidFill>
                  <a:srgbClr val="222222"/>
                </a:solidFill>
                <a:latin typeface="맑은 고딕"/>
              </a:rPr>
              <a:t> </a:t>
            </a:r>
            <a:r>
              <a:rPr sz="1600" b="0" dirty="0" err="1">
                <a:solidFill>
                  <a:srgbClr val="222222"/>
                </a:solidFill>
                <a:latin typeface="맑은 고딕"/>
              </a:rPr>
              <a:t>운영으로</a:t>
            </a:r>
            <a:r>
              <a:rPr sz="1600" b="0" dirty="0">
                <a:solidFill>
                  <a:srgbClr val="222222"/>
                </a:solidFill>
                <a:latin typeface="맑은 고딕"/>
              </a:rPr>
              <a:t> </a:t>
            </a:r>
            <a:r>
              <a:rPr sz="1600" b="0" dirty="0" err="1">
                <a:solidFill>
                  <a:srgbClr val="222222"/>
                </a:solidFill>
                <a:latin typeface="맑은 고딕"/>
              </a:rPr>
              <a:t>확장</a:t>
            </a:r>
            <a:endParaRPr sz="1600" b="0" dirty="0">
              <a:solidFill>
                <a:srgbClr val="222222"/>
              </a:solidFill>
              <a:latin typeface="맑은 고딕"/>
            </a:endParaRPr>
          </a:p>
        </p:txBody>
      </p:sp>
    </p:spTree>
    <p:extLst>
      <p:ext uri="{BB962C8B-B14F-4D97-AF65-F5344CB8AC3E}">
        <p14:creationId xmlns:p14="http://schemas.microsoft.com/office/powerpoint/2010/main" val="457188916"/>
      </p:ext>
    </p:extLst>
  </p:cSld>
  <p:clrMapOvr>
    <a:masterClrMapping/>
  </p:clrMapOvr>
</p:sld>
</file>

<file path=ppt/slides/slide8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707886"/>
          </a:xfrm>
          <a:prstGeom prst="rect">
            <a:avLst/>
          </a:prstGeom>
          <a:noFill/>
        </p:spPr>
        <p:txBody>
          <a:bodyPr wrap="square" anchor="t">
            <a:spAutoFit/>
          </a:bodyPr>
          <a:lstStyle/>
          <a:p>
            <a:pPr algn="l"/>
            <a:r>
              <a:rPr lang="en-US" sz="4000" b="1" dirty="0">
                <a:solidFill>
                  <a:srgbClr val="FFFFFF"/>
                </a:solidFill>
                <a:latin typeface="맑은 고딕"/>
              </a:rPr>
              <a:t>20</a:t>
            </a:r>
            <a:r>
              <a:rPr sz="4000" b="1" dirty="0">
                <a:solidFill>
                  <a:srgbClr val="FFFFFF"/>
                </a:solidFill>
                <a:latin typeface="맑은 고딕"/>
              </a:rPr>
              <a:t>.2</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AWR 인프라 개요</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nchor="t">
            <a:spAutoFit/>
          </a:bodyPr>
          <a:lstStyle/>
          <a:p>
            <a:pPr algn="l"/>
            <a:r>
              <a:rPr sz="1600" b="0">
                <a:solidFill>
                  <a:srgbClr val="FFFFFF"/>
                </a:solidFill>
                <a:latin typeface="맑은 고딕"/>
              </a:rPr>
              <a:t>•  V$는 휘발성 · AWR은 영구 기억</a:t>
            </a:r>
          </a:p>
          <a:p>
            <a:pPr algn="l"/>
            <a:r>
              <a:rPr sz="1600" b="0">
                <a:solidFill>
                  <a:srgbClr val="FFFFFF"/>
                </a:solidFill>
                <a:latin typeface="맑은 고딕"/>
              </a:rPr>
              <a:t>•  무엇을 수집해 어디에 저장하는가</a:t>
            </a:r>
          </a:p>
          <a:p>
            <a:pPr algn="l"/>
            <a:r>
              <a:rPr sz="1600" b="0">
                <a:solidFill>
                  <a:srgbClr val="FFFFFF"/>
                </a:solidFill>
                <a:latin typeface="맑은 고딕"/>
              </a:rPr>
              <a:t>•  누적값과 델타</a:t>
            </a:r>
          </a:p>
          <a:p>
            <a:pPr algn="l"/>
            <a:r>
              <a:rPr sz="1600" b="0">
                <a:solidFill>
                  <a:srgbClr val="FFFFFF"/>
                </a:solidFill>
                <a:latin typeface="맑은 고딕"/>
              </a:rPr>
              <a:t>•  스냅샷·베이스라인·이동 윈도우</a:t>
            </a:r>
          </a:p>
        </p:txBody>
      </p:sp>
    </p:spTree>
    <p:extLst>
      <p:ext uri="{BB962C8B-B14F-4D97-AF65-F5344CB8AC3E}">
        <p14:creationId xmlns:p14="http://schemas.microsoft.com/office/powerpoint/2010/main" val="3028397979"/>
      </p:ext>
    </p:extLst>
  </p:cSld>
  <p:clrMapOvr>
    <a:masterClrMapping/>
  </p:clrMapOvr>
</p:sld>
</file>

<file path=ppt/slides/slide8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왜 V$만으로는 부족한가</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AWR이 메우는 두 한계</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600"/>
              </a:spcAft>
            </a:pPr>
            <a:r>
              <a:rPr sz="1700" b="0">
                <a:solidFill>
                  <a:srgbClr val="222222"/>
                </a:solidFill>
                <a:latin typeface="맑은 고딕"/>
              </a:rPr>
              <a:t>•  V$ 뷰 = 지금 이 순간(누적 또는 최근 몇 초)의 상태</a:t>
            </a:r>
          </a:p>
          <a:p>
            <a:pPr algn="l">
              <a:spcAft>
                <a:spcPts val="600"/>
              </a:spcAft>
            </a:pPr>
            <a:r>
              <a:rPr sz="1700" b="0">
                <a:solidFill>
                  <a:srgbClr val="222222"/>
                </a:solidFill>
                <a:latin typeface="맑은 고딕"/>
              </a:rPr>
              <a:t>•  한계1: 재기동하면 0으로 초기화 → 과거 소실</a:t>
            </a:r>
          </a:p>
          <a:p>
            <a:pPr algn="l">
              <a:spcAft>
                <a:spcPts val="600"/>
              </a:spcAft>
            </a:pPr>
            <a:r>
              <a:rPr sz="1700" b="0">
                <a:solidFill>
                  <a:srgbClr val="222222"/>
                </a:solidFill>
                <a:latin typeface="맑은 고딕"/>
              </a:rPr>
              <a:t>•  한계2: 살아 있어도 '지난 화요일 3시'를 되짚을 수 없다</a:t>
            </a:r>
          </a:p>
          <a:p>
            <a:pPr algn="l">
              <a:spcAft>
                <a:spcPts val="600"/>
              </a:spcAft>
            </a:pPr>
            <a:r>
              <a:rPr sz="1700" b="0">
                <a:solidFill>
                  <a:srgbClr val="222222"/>
                </a:solidFill>
                <a:latin typeface="맑은 고딕"/>
              </a:rPr>
              <a:t>•  AWR: 주기적으로 V$ 핵심을 떠 디스크에 영구 저장</a:t>
            </a:r>
          </a:p>
          <a:p>
            <a:pPr algn="l">
              <a:spcAft>
                <a:spcPts val="600"/>
              </a:spcAft>
            </a:pPr>
            <a:r>
              <a:rPr sz="1700" b="0">
                <a:solidFill>
                  <a:srgbClr val="222222"/>
                </a:solidFill>
                <a:latin typeface="맑은 고딕"/>
              </a:rPr>
              <a:t>•  재기동에도 살아남고, 과거 구간을 스냅샷 쌍으로 재구성</a:t>
            </a:r>
          </a:p>
        </p:txBody>
      </p:sp>
    </p:spTree>
    <p:extLst>
      <p:ext uri="{BB962C8B-B14F-4D97-AF65-F5344CB8AC3E}">
        <p14:creationId xmlns:p14="http://schemas.microsoft.com/office/powerpoint/2010/main" val="3815451537"/>
      </p:ext>
    </p:extLst>
  </p:cSld>
  <p:clrMapOvr>
    <a:masterClrMapping/>
  </p:clrMapOvr>
</p:sld>
</file>

<file path=ppt/slides/slide8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AWR이 담는 것 — 누적값과 델타</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스냅샷이라는 봉투</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600"/>
              </a:spcAft>
            </a:pPr>
            <a:r>
              <a:rPr sz="1700" b="0">
                <a:solidFill>
                  <a:srgbClr val="222222"/>
                </a:solidFill>
                <a:latin typeface="맑은 고딕"/>
              </a:rPr>
              <a:t>•  오브젝트·시간 모델·시스템/세션 통계·상위 SQL·ASH</a:t>
            </a:r>
          </a:p>
          <a:p>
            <a:pPr algn="l">
              <a:spcAft>
                <a:spcPts val="600"/>
              </a:spcAft>
            </a:pPr>
            <a:r>
              <a:rPr sz="1700" b="0">
                <a:solidFill>
                  <a:srgbClr val="222222"/>
                </a:solidFill>
                <a:latin typeface="맑은 고딕"/>
              </a:rPr>
              <a:t>•  세션 수준 제외 대부분 통계의 누적값+델타를 보존</a:t>
            </a:r>
          </a:p>
          <a:p>
            <a:pPr algn="l">
              <a:spcAft>
                <a:spcPts val="600"/>
              </a:spcAft>
            </a:pPr>
            <a:r>
              <a:rPr sz="1700" b="0">
                <a:solidFill>
                  <a:srgbClr val="222222"/>
                </a:solidFill>
                <a:latin typeface="맑은 고딕"/>
              </a:rPr>
              <a:t>•  누적값=기동 이후 계속 증가 / 델타=앞 스냅샷과의 차이</a:t>
            </a:r>
          </a:p>
          <a:p>
            <a:pPr algn="l">
              <a:spcAft>
                <a:spcPts val="600"/>
              </a:spcAft>
            </a:pPr>
            <a:r>
              <a:rPr sz="1700" b="0">
                <a:solidFill>
                  <a:srgbClr val="222222"/>
                </a:solidFill>
                <a:latin typeface="맑은 고딕"/>
              </a:rPr>
              <a:t>•  ch19의 '뒤 값-앞 값'을 AWR이 스냅샷마다 자동 저장</a:t>
            </a:r>
          </a:p>
          <a:p>
            <a:pPr algn="l">
              <a:spcAft>
                <a:spcPts val="600"/>
              </a:spcAft>
            </a:pPr>
            <a:r>
              <a:rPr sz="1700" b="0">
                <a:solidFill>
                  <a:srgbClr val="222222"/>
                </a:solidFill>
                <a:latin typeface="맑은 고딕"/>
              </a:rPr>
              <a:t>•  보고서가 '구간'을 지정하면 값이 나오는 이유</a:t>
            </a:r>
          </a:p>
        </p:txBody>
      </p:sp>
    </p:spTree>
    <p:extLst>
      <p:ext uri="{BB962C8B-B14F-4D97-AF65-F5344CB8AC3E}">
        <p14:creationId xmlns:p14="http://schemas.microsoft.com/office/powerpoint/2010/main" val="3460290920"/>
      </p:ext>
    </p:extLst>
  </p:cSld>
  <p:clrMapOvr>
    <a:masterClrMapping/>
  </p:clrMapOvr>
</p:sld>
</file>

<file path=ppt/slides/slide8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스냅샷 · 베이스라인 · 이동 윈도우</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세 개념을 시간 축으로</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600"/>
              </a:spcAft>
            </a:pPr>
            <a:r>
              <a:rPr sz="1700" b="0">
                <a:solidFill>
                  <a:srgbClr val="222222"/>
                </a:solidFill>
                <a:latin typeface="맑은 고딕"/>
              </a:rPr>
              <a:t>•  스냅샷 = 시간 선 위에 60분마다 찍히는 점</a:t>
            </a:r>
          </a:p>
          <a:p>
            <a:pPr algn="l">
              <a:spcAft>
                <a:spcPts val="600"/>
              </a:spcAft>
            </a:pPr>
            <a:r>
              <a:rPr sz="1700" b="0">
                <a:solidFill>
                  <a:srgbClr val="222222"/>
                </a:solidFill>
                <a:latin typeface="맑은 고딕"/>
              </a:rPr>
              <a:t>•  이동 윈도우 = 항상 최근 8일을 덮는(왼쪽 끝이 밀려가는) 구간</a:t>
            </a:r>
          </a:p>
          <a:p>
            <a:pPr algn="l">
              <a:spcAft>
                <a:spcPts val="600"/>
              </a:spcAft>
            </a:pPr>
            <a:r>
              <a:rPr sz="1700" b="0">
                <a:solidFill>
                  <a:srgbClr val="222222"/>
                </a:solidFill>
                <a:latin typeface="맑은 고딕"/>
              </a:rPr>
              <a:t>•  고정 베이스라인 = 사람이 못 박은, 움직이지 않는 구간</a:t>
            </a:r>
          </a:p>
          <a:p>
            <a:pPr algn="l">
              <a:spcAft>
                <a:spcPts val="600"/>
              </a:spcAft>
            </a:pPr>
            <a:r>
              <a:rPr sz="1700" b="0">
                <a:solidFill>
                  <a:srgbClr val="222222"/>
                </a:solidFill>
                <a:latin typeface="맑은 고딕"/>
              </a:rPr>
              <a:t>•  이동 윈도우가 지나가며 오래된 점을 지워도…</a:t>
            </a:r>
          </a:p>
          <a:p>
            <a:pPr algn="l">
              <a:spcAft>
                <a:spcPts val="600"/>
              </a:spcAft>
            </a:pPr>
            <a:r>
              <a:rPr sz="1700" b="0">
                <a:solidFill>
                  <a:srgbClr val="222222"/>
                </a:solidFill>
                <a:latin typeface="맑은 고딕"/>
              </a:rPr>
              <a:t>•  고정 베이스라인이 감싼 점은 못이 박혀 지워지지 않는다</a:t>
            </a:r>
          </a:p>
        </p:txBody>
      </p:sp>
    </p:spTree>
    <p:extLst>
      <p:ext uri="{BB962C8B-B14F-4D97-AF65-F5344CB8AC3E}">
        <p14:creationId xmlns:p14="http://schemas.microsoft.com/office/powerpoint/2010/main" val="2910375544"/>
      </p:ext>
    </p:extLst>
  </p:cSld>
  <p:clrMapOvr>
    <a:masterClrMapping/>
  </p:clrMapOvr>
</p:sld>
</file>

<file path=ppt/slides/slide8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AWR 데이터를 읽는 뷰 — DBA_HIST_*</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V$로 지금을, DBA_HIST_로 과거를</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600"/>
              </a:spcAft>
            </a:pPr>
            <a:r>
              <a:rPr sz="1700" b="0">
                <a:solidFill>
                  <a:srgbClr val="222222"/>
                </a:solidFill>
                <a:latin typeface="맑은 고딕"/>
              </a:rPr>
              <a:t>•  DBA_HIST_SNAPSHOT — 스냅샷 목록</a:t>
            </a:r>
          </a:p>
          <a:p>
            <a:pPr algn="l">
              <a:spcAft>
                <a:spcPts val="600"/>
              </a:spcAft>
            </a:pPr>
            <a:r>
              <a:rPr sz="1700" b="0">
                <a:solidFill>
                  <a:srgbClr val="222222"/>
                </a:solidFill>
                <a:latin typeface="맑은 고딕"/>
              </a:rPr>
              <a:t>•  DBA_HIST_WR_CONTROL — 현재 주기·보존 설정</a:t>
            </a:r>
          </a:p>
          <a:p>
            <a:pPr algn="l">
              <a:spcAft>
                <a:spcPts val="600"/>
              </a:spcAft>
            </a:pPr>
            <a:r>
              <a:rPr sz="1700" b="0">
                <a:solidFill>
                  <a:srgbClr val="222222"/>
                </a:solidFill>
                <a:latin typeface="맑은 고딕"/>
              </a:rPr>
              <a:t>•  DBA_HIST_BASELINE / _DETAILS / _TEMPLATE — 베이스라인</a:t>
            </a:r>
          </a:p>
          <a:p>
            <a:pPr algn="l">
              <a:spcAft>
                <a:spcPts val="600"/>
              </a:spcAft>
            </a:pPr>
            <a:r>
              <a:rPr sz="1700" b="0">
                <a:solidFill>
                  <a:srgbClr val="222222"/>
                </a:solidFill>
                <a:latin typeface="맑은 고딕"/>
              </a:rPr>
              <a:t>•  V$SYSSTAT ↔ DBA_HIST_SYSSTAT (역사가 짝을 이룬다)</a:t>
            </a:r>
          </a:p>
          <a:p>
            <a:pPr algn="l">
              <a:spcAft>
                <a:spcPts val="600"/>
              </a:spcAft>
            </a:pPr>
            <a:r>
              <a:rPr sz="1700" b="0">
                <a:solidFill>
                  <a:srgbClr val="222222"/>
                </a:solidFill>
                <a:latin typeface="맑은 고딕"/>
              </a:rPr>
              <a:t>•  라이선스 없어 못 쓰면 → V$를 두 번 찍어 델타 계산</a:t>
            </a:r>
          </a:p>
        </p:txBody>
      </p:sp>
    </p:spTree>
    <p:extLst>
      <p:ext uri="{BB962C8B-B14F-4D97-AF65-F5344CB8AC3E}">
        <p14:creationId xmlns:p14="http://schemas.microsoft.com/office/powerpoint/2010/main" val="519743116"/>
      </p:ext>
    </p:extLst>
  </p:cSld>
  <p:clrMapOvr>
    <a:masterClrMapping/>
  </p:clrMapOvr>
</p:sld>
</file>

<file path=ppt/slides/slide8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707886"/>
          </a:xfrm>
          <a:prstGeom prst="rect">
            <a:avLst/>
          </a:prstGeom>
          <a:noFill/>
        </p:spPr>
        <p:txBody>
          <a:bodyPr wrap="square" anchor="t">
            <a:spAutoFit/>
          </a:bodyPr>
          <a:lstStyle/>
          <a:p>
            <a:pPr algn="l"/>
            <a:r>
              <a:rPr lang="en-US" sz="4000" b="1" dirty="0">
                <a:solidFill>
                  <a:srgbClr val="FFFFFF"/>
                </a:solidFill>
                <a:latin typeface="맑은 고딕"/>
              </a:rPr>
              <a:t>20</a:t>
            </a:r>
            <a:r>
              <a:rPr sz="4000" b="1" dirty="0">
                <a:solidFill>
                  <a:srgbClr val="FFFFFF"/>
                </a:solidFill>
                <a:latin typeface="맑은 고딕"/>
              </a:rPr>
              <a:t>.3</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스냅샷 — 주기와 보존</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nchor="t">
            <a:spAutoFit/>
          </a:bodyPr>
          <a:lstStyle/>
          <a:p>
            <a:pPr algn="l"/>
            <a:r>
              <a:rPr sz="1600" b="0">
                <a:solidFill>
                  <a:srgbClr val="FFFFFF"/>
                </a:solidFill>
                <a:latin typeface="맑은 고딕"/>
              </a:rPr>
              <a:t>•  기본 60분 주기 · 8일 보존</a:t>
            </a:r>
          </a:p>
          <a:p>
            <a:pPr algn="l"/>
            <a:r>
              <a:rPr sz="1600" b="0">
                <a:solidFill>
                  <a:srgbClr val="FFFFFF"/>
                </a:solidFill>
                <a:latin typeface="맑은 고딕"/>
              </a:rPr>
              <a:t>•  DBA_HIST_WR_CONTROL로 확인</a:t>
            </a:r>
          </a:p>
          <a:p>
            <a:pPr algn="l"/>
            <a:r>
              <a:rPr sz="1600" b="0">
                <a:solidFill>
                  <a:srgbClr val="FFFFFF"/>
                </a:solidFill>
                <a:latin typeface="맑은 고딕"/>
              </a:rPr>
              <a:t>•  MODIFY_SNAPSHOT_SETTINGS(분 단위)</a:t>
            </a:r>
          </a:p>
          <a:p>
            <a:pPr algn="l"/>
            <a:r>
              <a:rPr sz="1600" b="0">
                <a:solidFill>
                  <a:srgbClr val="FFFFFF"/>
                </a:solidFill>
                <a:latin typeface="맑은 고딕"/>
              </a:rPr>
              <a:t>•  보존은 워크로드 주기에서 나온다</a:t>
            </a:r>
          </a:p>
        </p:txBody>
      </p:sp>
    </p:spTree>
    <p:extLst>
      <p:ext uri="{BB962C8B-B14F-4D97-AF65-F5344CB8AC3E}">
        <p14:creationId xmlns:p14="http://schemas.microsoft.com/office/powerpoint/2010/main" val="763290581"/>
      </p:ext>
    </p:extLst>
  </p:cSld>
  <p:clrMapOvr>
    <a:masterClrMapping/>
  </p:clrMapOvr>
</p:sld>
</file>

<file path=ppt/slides/slide8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현재 설정 확인</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DBA_HIST_WR_CONTROL (실측)</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tlCol="0" anchor="ctr"/>
          <a:lstStyle/>
          <a:p>
            <a:pPr>
              <a:spcBef>
                <a:spcPts val="0"/>
              </a:spcBef>
              <a:spcAft>
                <a:spcPts val="0"/>
              </a:spcAft>
            </a:pPr>
            <a:r>
              <a:rPr sz="1250" dirty="0" err="1">
                <a:solidFill>
                  <a:srgbClr val="F2F2F2"/>
                </a:solidFill>
                <a:latin typeface="Consolas"/>
              </a:rPr>
              <a:t>SYS@orcl</a:t>
            </a:r>
            <a:r>
              <a:rPr sz="1250" dirty="0">
                <a:solidFill>
                  <a:srgbClr val="F2F2F2"/>
                </a:solidFill>
                <a:latin typeface="Consolas"/>
              </a:rPr>
              <a:t>&gt; SELECT </a:t>
            </a:r>
            <a:r>
              <a:rPr sz="1250" dirty="0" err="1">
                <a:solidFill>
                  <a:srgbClr val="F2F2F2"/>
                </a:solidFill>
                <a:latin typeface="Consolas"/>
              </a:rPr>
              <a:t>snap_interval</a:t>
            </a:r>
            <a:r>
              <a:rPr sz="1250" dirty="0">
                <a:solidFill>
                  <a:srgbClr val="F2F2F2"/>
                </a:solidFill>
                <a:latin typeface="Consolas"/>
              </a:rPr>
              <a:t>, retention, </a:t>
            </a:r>
            <a:r>
              <a:rPr sz="1250" dirty="0" err="1">
                <a:solidFill>
                  <a:srgbClr val="F2F2F2"/>
                </a:solidFill>
                <a:latin typeface="Consolas"/>
              </a:rPr>
              <a:t>topnsql</a:t>
            </a:r>
            <a:endParaRPr sz="1250" dirty="0">
              <a:solidFill>
                <a:srgbClr val="F2F2F2"/>
              </a:solidFill>
              <a:latin typeface="Consolas"/>
            </a:endParaRPr>
          </a:p>
          <a:p>
            <a:pPr>
              <a:spcBef>
                <a:spcPts val="0"/>
              </a:spcBef>
              <a:spcAft>
                <a:spcPts val="0"/>
              </a:spcAft>
            </a:pPr>
            <a:r>
              <a:rPr sz="1250" dirty="0">
                <a:solidFill>
                  <a:srgbClr val="F2F2F2"/>
                </a:solidFill>
                <a:latin typeface="Consolas"/>
              </a:rPr>
              <a:t>  2       FROM </a:t>
            </a:r>
            <a:r>
              <a:rPr sz="1250" dirty="0" err="1">
                <a:solidFill>
                  <a:srgbClr val="F2F2F2"/>
                </a:solidFill>
                <a:latin typeface="Consolas"/>
              </a:rPr>
              <a:t>dba_hist_wr_control</a:t>
            </a:r>
            <a:r>
              <a:rPr sz="1250" dirty="0">
                <a:solidFill>
                  <a:srgbClr val="F2F2F2"/>
                </a:solidFill>
                <a:latin typeface="Consolas"/>
              </a:rPr>
              <a:t>;</a:t>
            </a:r>
          </a:p>
          <a:p>
            <a:pPr>
              <a:spcBef>
                <a:spcPts val="0"/>
              </a:spcBef>
              <a:spcAft>
                <a:spcPts val="0"/>
              </a:spcAft>
            </a:pPr>
            <a:r>
              <a:rPr sz="1250" dirty="0">
                <a:solidFill>
                  <a:srgbClr val="F2F2F2"/>
                </a:solidFill>
                <a:latin typeface="Consolas"/>
              </a:rPr>
              <a:t> </a:t>
            </a:r>
          </a:p>
          <a:p>
            <a:pPr>
              <a:spcBef>
                <a:spcPts val="0"/>
              </a:spcBef>
              <a:spcAft>
                <a:spcPts val="0"/>
              </a:spcAft>
            </a:pPr>
            <a:r>
              <a:rPr sz="1250" dirty="0">
                <a:solidFill>
                  <a:srgbClr val="F2F2F2"/>
                </a:solidFill>
                <a:latin typeface="Consolas"/>
              </a:rPr>
              <a:t>SNAP_INTERVAL         RETENTION             TOPNSQL</a:t>
            </a:r>
          </a:p>
          <a:p>
            <a:pPr>
              <a:spcBef>
                <a:spcPts val="0"/>
              </a:spcBef>
              <a:spcAft>
                <a:spcPts val="0"/>
              </a:spcAft>
            </a:pPr>
            <a:r>
              <a:rPr sz="1250" dirty="0">
                <a:solidFill>
                  <a:srgbClr val="F2F2F2"/>
                </a:solidFill>
                <a:latin typeface="Consolas"/>
              </a:rPr>
              <a:t>--------------------  --------------------  --------</a:t>
            </a:r>
          </a:p>
          <a:p>
            <a:pPr>
              <a:spcBef>
                <a:spcPts val="0"/>
              </a:spcBef>
              <a:spcAft>
                <a:spcPts val="0"/>
              </a:spcAft>
            </a:pPr>
            <a:r>
              <a:rPr sz="1250" dirty="0">
                <a:solidFill>
                  <a:srgbClr val="F2F2F2"/>
                </a:solidFill>
                <a:latin typeface="Consolas"/>
              </a:rPr>
              <a:t>+00000 01:00:00.0     +00008 00:00:00.0     DEFAULT</a:t>
            </a:r>
          </a:p>
          <a:p>
            <a:pPr>
              <a:spcBef>
                <a:spcPts val="0"/>
              </a:spcBef>
              <a:spcAft>
                <a:spcPts val="0"/>
              </a:spcAft>
            </a:pPr>
            <a:r>
              <a:rPr sz="1250" dirty="0">
                <a:solidFill>
                  <a:srgbClr val="F2F2F2"/>
                </a:solidFill>
                <a:latin typeface="Consolas"/>
              </a:rPr>
              <a:t> </a:t>
            </a:r>
          </a:p>
          <a:p>
            <a:pPr>
              <a:spcBef>
                <a:spcPts val="0"/>
              </a:spcBef>
              <a:spcAft>
                <a:spcPts val="0"/>
              </a:spcAft>
            </a:pPr>
            <a:r>
              <a:rPr sz="1250" dirty="0">
                <a:solidFill>
                  <a:srgbClr val="F2F2F2"/>
                </a:solidFill>
                <a:latin typeface="Consolas"/>
              </a:rPr>
              <a:t>-- +00000 01:00:00.0 = 60분 (</a:t>
            </a:r>
            <a:r>
              <a:rPr sz="1250" dirty="0" err="1">
                <a:solidFill>
                  <a:srgbClr val="F2F2F2"/>
                </a:solidFill>
                <a:latin typeface="Consolas"/>
              </a:rPr>
              <a:t>주기</a:t>
            </a:r>
            <a:r>
              <a:rPr sz="1250" dirty="0">
                <a:solidFill>
                  <a:srgbClr val="F2F2F2"/>
                </a:solidFill>
                <a:latin typeface="Consolas"/>
              </a:rPr>
              <a:t>)</a:t>
            </a:r>
          </a:p>
          <a:p>
            <a:pPr>
              <a:spcBef>
                <a:spcPts val="0"/>
              </a:spcBef>
              <a:spcAft>
                <a:spcPts val="0"/>
              </a:spcAft>
            </a:pPr>
            <a:r>
              <a:rPr sz="1250" dirty="0">
                <a:solidFill>
                  <a:srgbClr val="F2F2F2"/>
                </a:solidFill>
                <a:latin typeface="Consolas"/>
              </a:rPr>
              <a:t>-- +00008 00:00:00.0 = 8일  (</a:t>
            </a:r>
            <a:r>
              <a:rPr sz="1250" dirty="0" err="1">
                <a:solidFill>
                  <a:srgbClr val="F2F2F2"/>
                </a:solidFill>
                <a:latin typeface="Consolas"/>
              </a:rPr>
              <a:t>보존</a:t>
            </a:r>
            <a:r>
              <a:rPr sz="1250" dirty="0">
                <a:solidFill>
                  <a:srgbClr val="F2F2F2"/>
                </a:solidFill>
                <a:latin typeface="Consolas"/>
              </a:rPr>
              <a:t>)  → </a:t>
            </a:r>
            <a:r>
              <a:rPr sz="1250" dirty="0" err="1">
                <a:solidFill>
                  <a:srgbClr val="F2F2F2"/>
                </a:solidFill>
                <a:latin typeface="Consolas"/>
              </a:rPr>
              <a:t>기본값</a:t>
            </a:r>
            <a:r>
              <a:rPr sz="1250" dirty="0">
                <a:solidFill>
                  <a:srgbClr val="F2F2F2"/>
                </a:solidFill>
                <a:latin typeface="Consolas"/>
              </a:rPr>
              <a:t> </a:t>
            </a:r>
            <a:r>
              <a:rPr sz="1250" dirty="0" err="1">
                <a:solidFill>
                  <a:srgbClr val="F2F2F2"/>
                </a:solidFill>
                <a:latin typeface="Consolas"/>
              </a:rPr>
              <a:t>그대로</a:t>
            </a:r>
            <a:endParaRPr sz="1250" dirty="0">
              <a:solidFill>
                <a:srgbClr val="F2F2F2"/>
              </a:solidFill>
              <a:latin typeface="Consolas"/>
            </a:endParaRPr>
          </a:p>
        </p:txBody>
      </p:sp>
    </p:spTree>
    <p:extLst>
      <p:ext uri="{BB962C8B-B14F-4D97-AF65-F5344CB8AC3E}">
        <p14:creationId xmlns:p14="http://schemas.microsoft.com/office/powerpoint/2010/main" val="2213603482"/>
      </p:ext>
    </p:extLst>
  </p:cSld>
  <p:clrMapOvr>
    <a:masterClrMapping/>
  </p:clrMapOvr>
</p:sld>
</file>

<file path=ppt/slides/slide8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설정 변경</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MODIFY_SNAPSHOT_SETTINGS (분 단위)</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tlCol="0" anchor="ctr"/>
          <a:lstStyle/>
          <a:p>
            <a:pPr>
              <a:spcBef>
                <a:spcPts val="0"/>
              </a:spcBef>
              <a:spcAft>
                <a:spcPts val="0"/>
              </a:spcAft>
            </a:pPr>
            <a:r>
              <a:rPr sz="1250" dirty="0" err="1">
                <a:solidFill>
                  <a:srgbClr val="F2F2F2"/>
                </a:solidFill>
                <a:latin typeface="Consolas"/>
              </a:rPr>
              <a:t>SYS@orcl</a:t>
            </a:r>
            <a:r>
              <a:rPr sz="1250" dirty="0">
                <a:solidFill>
                  <a:srgbClr val="F2F2F2"/>
                </a:solidFill>
                <a:latin typeface="Consolas"/>
              </a:rPr>
              <a:t>&gt; BEGIN</a:t>
            </a:r>
          </a:p>
          <a:p>
            <a:pPr>
              <a:spcBef>
                <a:spcPts val="0"/>
              </a:spcBef>
              <a:spcAft>
                <a:spcPts val="0"/>
              </a:spcAft>
            </a:pPr>
            <a:r>
              <a:rPr sz="1250" dirty="0">
                <a:solidFill>
                  <a:srgbClr val="F2F2F2"/>
                </a:solidFill>
                <a:latin typeface="Consolas"/>
              </a:rPr>
              <a:t>  2    DBMS_WORKLOAD_REPOSITORY.MODIFY_SNAPSHOT_SETTINGS(</a:t>
            </a:r>
          </a:p>
          <a:p>
            <a:pPr>
              <a:spcBef>
                <a:spcPts val="0"/>
              </a:spcBef>
              <a:spcAft>
                <a:spcPts val="0"/>
              </a:spcAft>
            </a:pPr>
            <a:r>
              <a:rPr sz="1250" dirty="0">
                <a:solidFill>
                  <a:srgbClr val="F2F2F2"/>
                </a:solidFill>
                <a:latin typeface="Consolas"/>
              </a:rPr>
              <a:t>  3        retention =&gt; 43200,  -- 분. 30일</a:t>
            </a:r>
          </a:p>
          <a:p>
            <a:pPr>
              <a:spcBef>
                <a:spcPts val="0"/>
              </a:spcBef>
              <a:spcAft>
                <a:spcPts val="0"/>
              </a:spcAft>
            </a:pPr>
            <a:r>
              <a:rPr sz="1250" dirty="0">
                <a:solidFill>
                  <a:srgbClr val="F2F2F2"/>
                </a:solidFill>
                <a:latin typeface="Consolas"/>
              </a:rPr>
              <a:t>  4        interval  =&gt; 30,     -- 분. 30분마다</a:t>
            </a:r>
          </a:p>
          <a:p>
            <a:pPr>
              <a:spcBef>
                <a:spcPts val="0"/>
              </a:spcBef>
              <a:spcAft>
                <a:spcPts val="0"/>
              </a:spcAft>
            </a:pPr>
            <a:r>
              <a:rPr sz="1250" dirty="0">
                <a:solidFill>
                  <a:srgbClr val="F2F2F2"/>
                </a:solidFill>
                <a:latin typeface="Consolas"/>
              </a:rPr>
              <a:t>  5        </a:t>
            </a:r>
            <a:r>
              <a:rPr sz="1250" dirty="0" err="1">
                <a:solidFill>
                  <a:srgbClr val="F2F2F2"/>
                </a:solidFill>
                <a:latin typeface="Consolas"/>
              </a:rPr>
              <a:t>topnsql</a:t>
            </a:r>
            <a:r>
              <a:rPr sz="1250" dirty="0">
                <a:solidFill>
                  <a:srgbClr val="F2F2F2"/>
                </a:solidFill>
                <a:latin typeface="Consolas"/>
              </a:rPr>
              <a:t>   =&gt; 100);   -- </a:t>
            </a:r>
            <a:r>
              <a:rPr sz="1250" dirty="0" err="1">
                <a:solidFill>
                  <a:srgbClr val="F2F2F2"/>
                </a:solidFill>
                <a:latin typeface="Consolas"/>
              </a:rPr>
              <a:t>상위</a:t>
            </a:r>
            <a:r>
              <a:rPr sz="1250" dirty="0">
                <a:solidFill>
                  <a:srgbClr val="F2F2F2"/>
                </a:solidFill>
                <a:latin typeface="Consolas"/>
              </a:rPr>
              <a:t> SQL 100개</a:t>
            </a:r>
          </a:p>
          <a:p>
            <a:pPr>
              <a:spcBef>
                <a:spcPts val="0"/>
              </a:spcBef>
              <a:spcAft>
                <a:spcPts val="0"/>
              </a:spcAft>
            </a:pPr>
            <a:r>
              <a:rPr sz="1250" dirty="0">
                <a:solidFill>
                  <a:srgbClr val="F2F2F2"/>
                </a:solidFill>
                <a:latin typeface="Consolas"/>
              </a:rPr>
              <a:t>  6  END;</a:t>
            </a:r>
          </a:p>
          <a:p>
            <a:pPr>
              <a:spcBef>
                <a:spcPts val="0"/>
              </a:spcBef>
              <a:spcAft>
                <a:spcPts val="0"/>
              </a:spcAft>
            </a:pPr>
            <a:r>
              <a:rPr sz="1250" dirty="0">
                <a:solidFill>
                  <a:srgbClr val="F2F2F2"/>
                </a:solidFill>
                <a:latin typeface="Consolas"/>
              </a:rPr>
              <a:t>  7  /</a:t>
            </a:r>
          </a:p>
          <a:p>
            <a:pPr>
              <a:spcBef>
                <a:spcPts val="0"/>
              </a:spcBef>
              <a:spcAft>
                <a:spcPts val="0"/>
              </a:spcAft>
            </a:pPr>
            <a:r>
              <a:rPr sz="1250" dirty="0">
                <a:solidFill>
                  <a:srgbClr val="F2F2F2"/>
                </a:solidFill>
                <a:latin typeface="Consolas"/>
              </a:rPr>
              <a:t>PL/SQL procedure successfully completed.</a:t>
            </a:r>
          </a:p>
          <a:p>
            <a:pPr>
              <a:spcBef>
                <a:spcPts val="0"/>
              </a:spcBef>
              <a:spcAft>
                <a:spcPts val="0"/>
              </a:spcAft>
            </a:pPr>
            <a:r>
              <a:rPr sz="1250" dirty="0">
                <a:solidFill>
                  <a:srgbClr val="F2F2F2"/>
                </a:solidFill>
                <a:latin typeface="Consolas"/>
              </a:rPr>
              <a:t> </a:t>
            </a:r>
          </a:p>
          <a:p>
            <a:pPr>
              <a:spcBef>
                <a:spcPts val="0"/>
              </a:spcBef>
              <a:spcAft>
                <a:spcPts val="0"/>
              </a:spcAft>
            </a:pPr>
            <a:r>
              <a:rPr sz="1250" dirty="0">
                <a:solidFill>
                  <a:srgbClr val="F2F2F2"/>
                </a:solidFill>
                <a:latin typeface="Consolas"/>
              </a:rPr>
              <a:t>-- </a:t>
            </a:r>
            <a:r>
              <a:rPr sz="1250" dirty="0" err="1">
                <a:solidFill>
                  <a:srgbClr val="F2F2F2"/>
                </a:solidFill>
                <a:latin typeface="Consolas"/>
              </a:rPr>
              <a:t>필요한</a:t>
            </a:r>
            <a:r>
              <a:rPr sz="1250" dirty="0">
                <a:solidFill>
                  <a:srgbClr val="F2F2F2"/>
                </a:solidFill>
                <a:latin typeface="Consolas"/>
              </a:rPr>
              <a:t> </a:t>
            </a:r>
            <a:r>
              <a:rPr sz="1250" dirty="0" err="1">
                <a:solidFill>
                  <a:srgbClr val="F2F2F2"/>
                </a:solidFill>
                <a:latin typeface="Consolas"/>
              </a:rPr>
              <a:t>인자만</a:t>
            </a:r>
            <a:r>
              <a:rPr sz="1250" dirty="0">
                <a:solidFill>
                  <a:srgbClr val="F2F2F2"/>
                </a:solidFill>
                <a:latin typeface="Consolas"/>
              </a:rPr>
              <a:t> </a:t>
            </a:r>
            <a:r>
              <a:rPr sz="1250" dirty="0" err="1">
                <a:solidFill>
                  <a:srgbClr val="F2F2F2"/>
                </a:solidFill>
                <a:latin typeface="Consolas"/>
              </a:rPr>
              <a:t>골라</a:t>
            </a:r>
            <a:r>
              <a:rPr sz="1250" dirty="0">
                <a:solidFill>
                  <a:srgbClr val="F2F2F2"/>
                </a:solidFill>
                <a:latin typeface="Consolas"/>
              </a:rPr>
              <a:t> </a:t>
            </a:r>
            <a:r>
              <a:rPr sz="1250" dirty="0" err="1">
                <a:solidFill>
                  <a:srgbClr val="F2F2F2"/>
                </a:solidFill>
                <a:latin typeface="Consolas"/>
              </a:rPr>
              <a:t>넘길</a:t>
            </a:r>
            <a:r>
              <a:rPr sz="1250" dirty="0">
                <a:solidFill>
                  <a:srgbClr val="F2F2F2"/>
                </a:solidFill>
                <a:latin typeface="Consolas"/>
              </a:rPr>
              <a:t> 수 </a:t>
            </a:r>
            <a:r>
              <a:rPr sz="1250" dirty="0" err="1">
                <a:solidFill>
                  <a:srgbClr val="F2F2F2"/>
                </a:solidFill>
                <a:latin typeface="Consolas"/>
              </a:rPr>
              <a:t>있다</a:t>
            </a:r>
            <a:r>
              <a:rPr sz="1250" dirty="0">
                <a:solidFill>
                  <a:srgbClr val="F2F2F2"/>
                </a:solidFill>
                <a:latin typeface="Consolas"/>
              </a:rPr>
              <a:t>(예: </a:t>
            </a:r>
            <a:r>
              <a:rPr sz="1250" dirty="0" err="1">
                <a:solidFill>
                  <a:srgbClr val="F2F2F2"/>
                </a:solidFill>
                <a:latin typeface="Consolas"/>
              </a:rPr>
              <a:t>retention만</a:t>
            </a:r>
            <a:r>
              <a:rPr sz="1250" dirty="0">
                <a:solidFill>
                  <a:srgbClr val="F2F2F2"/>
                </a:solidFill>
                <a:latin typeface="Consolas"/>
              </a:rPr>
              <a:t>)</a:t>
            </a:r>
          </a:p>
          <a:p>
            <a:pPr>
              <a:spcBef>
                <a:spcPts val="0"/>
              </a:spcBef>
              <a:spcAft>
                <a:spcPts val="0"/>
              </a:spcAft>
            </a:pPr>
            <a:r>
              <a:rPr sz="1250" dirty="0">
                <a:solidFill>
                  <a:srgbClr val="F2F2F2"/>
                </a:solidFill>
                <a:latin typeface="Consolas"/>
              </a:rPr>
              <a:t>-- </a:t>
            </a:r>
            <a:r>
              <a:rPr sz="1250" dirty="0" err="1">
                <a:solidFill>
                  <a:srgbClr val="F2F2F2"/>
                </a:solidFill>
                <a:latin typeface="Consolas"/>
              </a:rPr>
              <a:t>변경</a:t>
            </a:r>
            <a:r>
              <a:rPr sz="1250" dirty="0">
                <a:solidFill>
                  <a:srgbClr val="F2F2F2"/>
                </a:solidFill>
                <a:latin typeface="Consolas"/>
              </a:rPr>
              <a:t> 후 </a:t>
            </a:r>
            <a:r>
              <a:rPr sz="1250" dirty="0" err="1">
                <a:solidFill>
                  <a:srgbClr val="F2F2F2"/>
                </a:solidFill>
                <a:latin typeface="Consolas"/>
              </a:rPr>
              <a:t>반드시</a:t>
            </a:r>
            <a:r>
              <a:rPr sz="1250" dirty="0">
                <a:solidFill>
                  <a:srgbClr val="F2F2F2"/>
                </a:solidFill>
                <a:latin typeface="Consolas"/>
              </a:rPr>
              <a:t> DBA_HIST_WR_CONTROL </a:t>
            </a:r>
            <a:r>
              <a:rPr sz="1250" dirty="0" err="1">
                <a:solidFill>
                  <a:srgbClr val="F2F2F2"/>
                </a:solidFill>
                <a:latin typeface="Consolas"/>
              </a:rPr>
              <a:t>재조회로</a:t>
            </a:r>
            <a:r>
              <a:rPr sz="1250" dirty="0">
                <a:solidFill>
                  <a:srgbClr val="F2F2F2"/>
                </a:solidFill>
                <a:latin typeface="Consolas"/>
              </a:rPr>
              <a:t> </a:t>
            </a:r>
            <a:r>
              <a:rPr sz="1250" dirty="0" err="1">
                <a:solidFill>
                  <a:srgbClr val="F2F2F2"/>
                </a:solidFill>
                <a:latin typeface="Consolas"/>
              </a:rPr>
              <a:t>확인</a:t>
            </a:r>
            <a:endParaRPr sz="1250" dirty="0">
              <a:solidFill>
                <a:srgbClr val="F2F2F2"/>
              </a:solidFill>
              <a:latin typeface="Consolas"/>
            </a:endParaRPr>
          </a:p>
        </p:txBody>
      </p:sp>
    </p:spTree>
    <p:extLst>
      <p:ext uri="{BB962C8B-B14F-4D97-AF65-F5344CB8AC3E}">
        <p14:creationId xmlns:p14="http://schemas.microsoft.com/office/powerpoint/2010/main" val="1738056029"/>
      </p:ext>
    </p:extLst>
  </p:cSld>
  <p:clrMapOvr>
    <a:masterClrMapping/>
  </p:clrMapOvr>
</p:sld>
</file>

<file path=ppt/slides/slide8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보존 기간을 얼마로 잡을 것인가</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감이 아니라 워크로드 주기에서</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600"/>
              </a:spcAft>
            </a:pPr>
            <a:r>
              <a:rPr sz="1700" b="0">
                <a:solidFill>
                  <a:srgbClr val="222222"/>
                </a:solidFill>
                <a:latin typeface="맑은 고딕"/>
              </a:rPr>
              <a:t>•  원칙: 최소한 하나의 완전한 워크로드 주기를 담을 만큼</a:t>
            </a:r>
          </a:p>
          <a:p>
            <a:pPr algn="l">
              <a:spcAft>
                <a:spcPts val="600"/>
              </a:spcAft>
            </a:pPr>
            <a:r>
              <a:rPr sz="1700" b="0">
                <a:solidFill>
                  <a:srgbClr val="222222"/>
                </a:solidFill>
                <a:latin typeface="맑은 고딕"/>
              </a:rPr>
              <a:t>•  주중 OLTP·주말 배치 = 주 단위 → 기본 8일이면 충분</a:t>
            </a:r>
          </a:p>
          <a:p>
            <a:pPr algn="l">
              <a:spcAft>
                <a:spcPts val="600"/>
              </a:spcAft>
            </a:pPr>
            <a:r>
              <a:rPr sz="1700" b="0">
                <a:solidFill>
                  <a:srgbClr val="222222"/>
                </a:solidFill>
                <a:latin typeface="맑은 고딕"/>
              </a:rPr>
              <a:t>•  월말 결산 = 월 단위 피크 → 보존을 한 달로</a:t>
            </a:r>
          </a:p>
          <a:p>
            <a:pPr algn="l">
              <a:spcAft>
                <a:spcPts val="600"/>
              </a:spcAft>
            </a:pPr>
            <a:r>
              <a:rPr sz="1700" b="0">
                <a:solidFill>
                  <a:srgbClr val="222222"/>
                </a:solidFill>
                <a:latin typeface="맑은 고딕"/>
              </a:rPr>
              <a:t>•  보존↓ 주의: ADDM·SQL/Undo/Segment Advisor 정확도 저하</a:t>
            </a:r>
          </a:p>
          <a:p>
            <a:pPr algn="l">
              <a:spcAft>
                <a:spcPts val="600"/>
              </a:spcAft>
            </a:pPr>
            <a:r>
              <a:rPr sz="1700" b="0">
                <a:solidFill>
                  <a:srgbClr val="222222"/>
                </a:solidFill>
                <a:latin typeface="맑은 고딕"/>
              </a:rPr>
              <a:t>•  주기·보존·이동윈도우는 한 세트로 설계한다</a:t>
            </a:r>
          </a:p>
        </p:txBody>
      </p:sp>
    </p:spTree>
    <p:extLst>
      <p:ext uri="{BB962C8B-B14F-4D97-AF65-F5344CB8AC3E}">
        <p14:creationId xmlns:p14="http://schemas.microsoft.com/office/powerpoint/2010/main" val="449486326"/>
      </p:ext>
    </p:extLst>
  </p:cSld>
  <p:clrMapOvr>
    <a:masterClrMapping/>
  </p:clrMapOvr>
</p:sld>
</file>

<file path=ppt/slides/slide8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interval = 0 의 함정</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자동 수집을 끄면 무슨 일이</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600"/>
              </a:spcAft>
            </a:pPr>
            <a:r>
              <a:rPr sz="1700" b="0">
                <a:solidFill>
                  <a:srgbClr val="222222"/>
                </a:solidFill>
                <a:latin typeface="맑은 고딕"/>
              </a:rPr>
              <a:t>•  주기를 0으로 두면 자동 스냅샷 수집이 멈춘다</a:t>
            </a:r>
          </a:p>
          <a:p>
            <a:pPr algn="l">
              <a:spcAft>
                <a:spcPts val="600"/>
              </a:spcAft>
            </a:pPr>
            <a:r>
              <a:rPr sz="1700" b="0">
                <a:solidFill>
                  <a:srgbClr val="222222"/>
                </a:solidFill>
                <a:latin typeface="맑은 고딕"/>
              </a:rPr>
              <a:t>•  워크로드·통계 자동 수집 중단 → 자가 관리 기능 대부분 정지</a:t>
            </a:r>
          </a:p>
          <a:p>
            <a:pPr algn="l">
              <a:spcAft>
                <a:spcPts val="600"/>
              </a:spcAft>
            </a:pPr>
            <a:r>
              <a:rPr sz="1700" b="0">
                <a:solidFill>
                  <a:srgbClr val="222222"/>
                </a:solidFill>
                <a:latin typeface="맑은 고딕"/>
              </a:rPr>
              <a:t>•  수동 스냅샷조차 만들 수 없다</a:t>
            </a:r>
          </a:p>
          <a:p>
            <a:pPr algn="l">
              <a:spcAft>
                <a:spcPts val="600"/>
              </a:spcAft>
            </a:pPr>
            <a:r>
              <a:rPr sz="1700" b="0">
                <a:solidFill>
                  <a:srgbClr val="222222"/>
                </a:solidFill>
                <a:latin typeface="맑은 고딕"/>
              </a:rPr>
              <a:t>•  그래서 오라클은 자동 수집 비활성화를 강력히 권고하지 않음</a:t>
            </a:r>
          </a:p>
          <a:p>
            <a:pPr algn="l">
              <a:spcAft>
                <a:spcPts val="600"/>
              </a:spcAft>
            </a:pPr>
            <a:r>
              <a:rPr sz="1700" b="0">
                <a:solidFill>
                  <a:srgbClr val="222222"/>
                </a:solidFill>
                <a:latin typeface="맑은 고딕"/>
              </a:rPr>
              <a:t>•  '스냅샷 잠깐 끄자' 요청엔 이 부작용부터 설명한다</a:t>
            </a:r>
          </a:p>
        </p:txBody>
      </p:sp>
    </p:spTree>
    <p:extLst>
      <p:ext uri="{BB962C8B-B14F-4D97-AF65-F5344CB8AC3E}">
        <p14:creationId xmlns:p14="http://schemas.microsoft.com/office/powerpoint/2010/main" val="664989793"/>
      </p:ext>
    </p:extLst>
  </p:cSld>
  <p:clrMapOvr>
    <a:masterClrMapping/>
  </p:clrMapOvr>
</p:sld>
</file>

<file path=ppt/slides/slide8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707886"/>
          </a:xfrm>
          <a:prstGeom prst="rect">
            <a:avLst/>
          </a:prstGeom>
          <a:noFill/>
        </p:spPr>
        <p:txBody>
          <a:bodyPr wrap="square" anchor="t">
            <a:spAutoFit/>
          </a:bodyPr>
          <a:lstStyle/>
          <a:p>
            <a:pPr algn="l"/>
            <a:r>
              <a:rPr lang="en-US" sz="4000" b="1" dirty="0">
                <a:solidFill>
                  <a:srgbClr val="FFFFFF"/>
                </a:solidFill>
                <a:latin typeface="맑은 고딕"/>
              </a:rPr>
              <a:t>20</a:t>
            </a:r>
            <a:r>
              <a:rPr sz="4000" b="1" dirty="0">
                <a:solidFill>
                  <a:srgbClr val="FFFFFF"/>
                </a:solidFill>
                <a:latin typeface="맑은 고딕"/>
              </a:rPr>
              <a:t>.4</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수동 스냅샷</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nchor="t">
            <a:spAutoFit/>
          </a:bodyPr>
          <a:lstStyle/>
          <a:p>
            <a:pPr algn="l"/>
            <a:r>
              <a:rPr sz="1600" b="0">
                <a:solidFill>
                  <a:srgbClr val="FFFFFF"/>
                </a:solidFill>
                <a:latin typeface="맑은 고딕"/>
              </a:rPr>
              <a:t>•  부하 구간을 앞뒤로 감싼다</a:t>
            </a:r>
          </a:p>
          <a:p>
            <a:pPr algn="l"/>
            <a:r>
              <a:rPr sz="1600" b="0">
                <a:solidFill>
                  <a:srgbClr val="FFFFFF"/>
                </a:solidFill>
                <a:latin typeface="맑은 고딕"/>
              </a:rPr>
              <a:t>•  CREATE_SNAPSHOT</a:t>
            </a:r>
          </a:p>
          <a:p>
            <a:pPr algn="l"/>
            <a:r>
              <a:rPr sz="1600" b="0">
                <a:solidFill>
                  <a:srgbClr val="FFFFFF"/>
                </a:solidFill>
                <a:latin typeface="맑은 고딕"/>
              </a:rPr>
              <a:t>•  실습: 295 → 부하 → 296</a:t>
            </a:r>
          </a:p>
          <a:p>
            <a:pPr algn="l"/>
            <a:r>
              <a:rPr sz="1600" b="0">
                <a:solidFill>
                  <a:srgbClr val="FFFFFF"/>
                </a:solidFill>
                <a:latin typeface="맑은 고딕"/>
              </a:rPr>
              <a:t>•  한 부하, 세 도구의 일관성</a:t>
            </a:r>
          </a:p>
        </p:txBody>
      </p:sp>
    </p:spTree>
    <p:extLst>
      <p:ext uri="{BB962C8B-B14F-4D97-AF65-F5344CB8AC3E}">
        <p14:creationId xmlns:p14="http://schemas.microsoft.com/office/powerpoint/2010/main" val="423357744"/>
      </p:ext>
    </p:extLst>
  </p:cSld>
  <p:clrMapOvr>
    <a:masterClrMapping/>
  </p:clrMapOvr>
</p:sld>
</file>

<file path=ppt/slides/slide8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부하 구간 감싸기</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CREATE_SNAPSHOT (실습 295~296)</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tlCol="0" anchor="ctr"/>
          <a:lstStyle/>
          <a:p>
            <a:pPr>
              <a:spcBef>
                <a:spcPts val="0"/>
              </a:spcBef>
              <a:spcAft>
                <a:spcPts val="0"/>
              </a:spcAft>
            </a:pPr>
            <a:r>
              <a:rPr sz="1250" dirty="0" err="1">
                <a:solidFill>
                  <a:srgbClr val="F2F2F2"/>
                </a:solidFill>
                <a:latin typeface="Consolas"/>
              </a:rPr>
              <a:t>SYS@orcl</a:t>
            </a:r>
            <a:r>
              <a:rPr sz="1250" dirty="0">
                <a:solidFill>
                  <a:srgbClr val="F2F2F2"/>
                </a:solidFill>
                <a:latin typeface="Consolas"/>
              </a:rPr>
              <a:t>&gt; EXEC DBMS_WORKLOAD_REPOSITORY.CREATE_SNAPSHOT;   -- </a:t>
            </a:r>
            <a:r>
              <a:rPr sz="1250" dirty="0" err="1">
                <a:solidFill>
                  <a:srgbClr val="F2F2F2"/>
                </a:solidFill>
                <a:latin typeface="Consolas"/>
              </a:rPr>
              <a:t>시작</a:t>
            </a:r>
            <a:endParaRPr sz="1250" dirty="0">
              <a:solidFill>
                <a:srgbClr val="F2F2F2"/>
              </a:solidFill>
              <a:latin typeface="Consolas"/>
            </a:endParaRPr>
          </a:p>
          <a:p>
            <a:pPr>
              <a:spcBef>
                <a:spcPts val="0"/>
              </a:spcBef>
              <a:spcAft>
                <a:spcPts val="0"/>
              </a:spcAft>
            </a:pPr>
            <a:r>
              <a:rPr sz="1250" dirty="0" err="1">
                <a:solidFill>
                  <a:srgbClr val="F2F2F2"/>
                </a:solidFill>
                <a:latin typeface="Consolas"/>
              </a:rPr>
              <a:t>SYS@orcl</a:t>
            </a:r>
            <a:r>
              <a:rPr sz="1250" dirty="0">
                <a:solidFill>
                  <a:srgbClr val="F2F2F2"/>
                </a:solidFill>
                <a:latin typeface="Consolas"/>
              </a:rPr>
              <a:t>&gt; SELECT MAX(</a:t>
            </a:r>
            <a:r>
              <a:rPr sz="1250" dirty="0" err="1">
                <a:solidFill>
                  <a:srgbClr val="F2F2F2"/>
                </a:solidFill>
                <a:latin typeface="Consolas"/>
              </a:rPr>
              <a:t>snap_id</a:t>
            </a:r>
            <a:r>
              <a:rPr sz="1250" dirty="0">
                <a:solidFill>
                  <a:srgbClr val="F2F2F2"/>
                </a:solidFill>
                <a:latin typeface="Consolas"/>
              </a:rPr>
              <a:t>) FROM </a:t>
            </a:r>
            <a:r>
              <a:rPr sz="1250" dirty="0" err="1">
                <a:solidFill>
                  <a:srgbClr val="F2F2F2"/>
                </a:solidFill>
                <a:latin typeface="Consolas"/>
              </a:rPr>
              <a:t>dba_hist_snapshot</a:t>
            </a:r>
            <a:r>
              <a:rPr sz="1250" dirty="0">
                <a:solidFill>
                  <a:srgbClr val="F2F2F2"/>
                </a:solidFill>
                <a:latin typeface="Consolas"/>
              </a:rPr>
              <a:t>;  --&gt;  295</a:t>
            </a:r>
          </a:p>
          <a:p>
            <a:pPr>
              <a:spcBef>
                <a:spcPts val="0"/>
              </a:spcBef>
              <a:spcAft>
                <a:spcPts val="0"/>
              </a:spcAft>
            </a:pPr>
            <a:r>
              <a:rPr sz="1250" dirty="0">
                <a:solidFill>
                  <a:srgbClr val="F2F2F2"/>
                </a:solidFill>
                <a:latin typeface="Consolas"/>
              </a:rPr>
              <a:t> </a:t>
            </a:r>
          </a:p>
          <a:p>
            <a:pPr>
              <a:spcBef>
                <a:spcPts val="0"/>
              </a:spcBef>
              <a:spcAft>
                <a:spcPts val="0"/>
              </a:spcAft>
            </a:pPr>
            <a:r>
              <a:rPr sz="1250" dirty="0">
                <a:solidFill>
                  <a:srgbClr val="F2F2F2"/>
                </a:solidFill>
                <a:latin typeface="Consolas"/>
              </a:rPr>
              <a:t>-- (SQLT </a:t>
            </a:r>
            <a:r>
              <a:rPr sz="1250" dirty="0" err="1">
                <a:solidFill>
                  <a:srgbClr val="F2F2F2"/>
                </a:solidFill>
                <a:latin typeface="Consolas"/>
              </a:rPr>
              <a:t>세션</a:t>
            </a:r>
            <a:r>
              <a:rPr sz="1250" dirty="0">
                <a:solidFill>
                  <a:srgbClr val="F2F2F2"/>
                </a:solidFill>
                <a:latin typeface="Consolas"/>
              </a:rPr>
              <a:t>) @WL_06_mixed.sql  ... </a:t>
            </a:r>
            <a:r>
              <a:rPr sz="1250" dirty="0" err="1">
                <a:solidFill>
                  <a:srgbClr val="F2F2F2"/>
                </a:solidFill>
                <a:latin typeface="Consolas"/>
              </a:rPr>
              <a:t>종합</a:t>
            </a:r>
            <a:r>
              <a:rPr sz="1250" dirty="0">
                <a:solidFill>
                  <a:srgbClr val="F2F2F2"/>
                </a:solidFill>
                <a:latin typeface="Consolas"/>
              </a:rPr>
              <a:t> </a:t>
            </a:r>
            <a:r>
              <a:rPr sz="1250" dirty="0" err="1">
                <a:solidFill>
                  <a:srgbClr val="F2F2F2"/>
                </a:solidFill>
                <a:latin typeface="Consolas"/>
              </a:rPr>
              <a:t>부하</a:t>
            </a:r>
            <a:r>
              <a:rPr sz="1250" dirty="0">
                <a:solidFill>
                  <a:srgbClr val="F2F2F2"/>
                </a:solidFill>
                <a:latin typeface="Consolas"/>
              </a:rPr>
              <a:t> ...</a:t>
            </a:r>
          </a:p>
          <a:p>
            <a:pPr>
              <a:spcBef>
                <a:spcPts val="0"/>
              </a:spcBef>
              <a:spcAft>
                <a:spcPts val="0"/>
              </a:spcAft>
            </a:pPr>
            <a:r>
              <a:rPr sz="1250" dirty="0">
                <a:solidFill>
                  <a:srgbClr val="F2F2F2"/>
                </a:solidFill>
                <a:latin typeface="Consolas"/>
              </a:rPr>
              <a:t> </a:t>
            </a:r>
          </a:p>
          <a:p>
            <a:pPr>
              <a:spcBef>
                <a:spcPts val="0"/>
              </a:spcBef>
              <a:spcAft>
                <a:spcPts val="0"/>
              </a:spcAft>
            </a:pPr>
            <a:r>
              <a:rPr sz="1250" dirty="0" err="1">
                <a:solidFill>
                  <a:srgbClr val="F2F2F2"/>
                </a:solidFill>
                <a:latin typeface="Consolas"/>
              </a:rPr>
              <a:t>SYS@orcl</a:t>
            </a:r>
            <a:r>
              <a:rPr sz="1250" dirty="0">
                <a:solidFill>
                  <a:srgbClr val="F2F2F2"/>
                </a:solidFill>
                <a:latin typeface="Consolas"/>
              </a:rPr>
              <a:t>&gt; EXEC DBMS_WORKLOAD_REPOSITORY.CREATE_SNAPSHOT;   -- </a:t>
            </a:r>
            <a:r>
              <a:rPr sz="1250" dirty="0" err="1">
                <a:solidFill>
                  <a:srgbClr val="F2F2F2"/>
                </a:solidFill>
                <a:latin typeface="Consolas"/>
              </a:rPr>
              <a:t>종료</a:t>
            </a:r>
            <a:endParaRPr sz="1250" dirty="0">
              <a:solidFill>
                <a:srgbClr val="F2F2F2"/>
              </a:solidFill>
              <a:latin typeface="Consolas"/>
            </a:endParaRPr>
          </a:p>
          <a:p>
            <a:pPr>
              <a:spcBef>
                <a:spcPts val="0"/>
              </a:spcBef>
              <a:spcAft>
                <a:spcPts val="0"/>
              </a:spcAft>
            </a:pPr>
            <a:r>
              <a:rPr sz="1250" dirty="0">
                <a:solidFill>
                  <a:srgbClr val="F2F2F2"/>
                </a:solidFill>
                <a:latin typeface="Consolas"/>
              </a:rPr>
              <a:t> </a:t>
            </a:r>
          </a:p>
          <a:p>
            <a:pPr>
              <a:spcBef>
                <a:spcPts val="0"/>
              </a:spcBef>
              <a:spcAft>
                <a:spcPts val="0"/>
              </a:spcAft>
            </a:pPr>
            <a:r>
              <a:rPr sz="1250" dirty="0">
                <a:solidFill>
                  <a:srgbClr val="F2F2F2"/>
                </a:solidFill>
                <a:latin typeface="Consolas"/>
              </a:rPr>
              <a:t>   SNAP_ID BEGIN_T      END_T</a:t>
            </a:r>
          </a:p>
          <a:p>
            <a:pPr>
              <a:spcBef>
                <a:spcPts val="0"/>
              </a:spcBef>
              <a:spcAft>
                <a:spcPts val="0"/>
              </a:spcAft>
            </a:pPr>
            <a:r>
              <a:rPr sz="1250" dirty="0">
                <a:solidFill>
                  <a:srgbClr val="F2F2F2"/>
                </a:solidFill>
                <a:latin typeface="Consolas"/>
              </a:rPr>
              <a:t>---------- -----------  -----------</a:t>
            </a:r>
          </a:p>
          <a:p>
            <a:pPr>
              <a:spcBef>
                <a:spcPts val="0"/>
              </a:spcBef>
              <a:spcAft>
                <a:spcPts val="0"/>
              </a:spcAft>
            </a:pPr>
            <a:r>
              <a:rPr sz="1250" dirty="0">
                <a:solidFill>
                  <a:srgbClr val="F2F2F2"/>
                </a:solidFill>
                <a:latin typeface="Consolas"/>
              </a:rPr>
              <a:t>       295 08-25 12:00  08-25 12:15</a:t>
            </a:r>
          </a:p>
          <a:p>
            <a:pPr>
              <a:spcBef>
                <a:spcPts val="0"/>
              </a:spcBef>
              <a:spcAft>
                <a:spcPts val="0"/>
              </a:spcAft>
            </a:pPr>
            <a:r>
              <a:rPr sz="1250" dirty="0">
                <a:solidFill>
                  <a:srgbClr val="F2F2F2"/>
                </a:solidFill>
                <a:latin typeface="Consolas"/>
              </a:rPr>
              <a:t>       296 08-25 12:15  08-25 12:17</a:t>
            </a:r>
          </a:p>
        </p:txBody>
      </p:sp>
    </p:spTree>
    <p:extLst>
      <p:ext uri="{BB962C8B-B14F-4D97-AF65-F5344CB8AC3E}">
        <p14:creationId xmlns:p14="http://schemas.microsoft.com/office/powerpoint/2010/main" val="4280991640"/>
      </p:ext>
    </p:extLst>
  </p:cSld>
  <p:clrMapOvr>
    <a:masterClrMapping/>
  </p:clrMapOvr>
</p:sld>
</file>

<file path=ppt/slides/slide8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정말 스냅샷이 생겼는가 — 확인 습관</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이상 징후 → 원인 → 조치</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tlCol="0" anchor="ctr"/>
          <a:lstStyle/>
          <a:p>
            <a:pPr>
              <a:spcBef>
                <a:spcPts val="0"/>
              </a:spcBef>
              <a:spcAft>
                <a:spcPts val="0"/>
              </a:spcAft>
            </a:pPr>
            <a:r>
              <a:rPr sz="1250" dirty="0">
                <a:solidFill>
                  <a:srgbClr val="F2F2F2"/>
                </a:solidFill>
                <a:latin typeface="Consolas"/>
              </a:rPr>
              <a:t>- </a:t>
            </a:r>
            <a:r>
              <a:rPr sz="1250" dirty="0" err="1">
                <a:solidFill>
                  <a:srgbClr val="F2F2F2"/>
                </a:solidFill>
                <a:latin typeface="Consolas"/>
              </a:rPr>
              <a:t>이상</a:t>
            </a:r>
            <a:r>
              <a:rPr sz="1250" dirty="0">
                <a:solidFill>
                  <a:srgbClr val="F2F2F2"/>
                </a:solidFill>
                <a:latin typeface="Consolas"/>
              </a:rPr>
              <a:t>: CREATE_SNAPSHOT </a:t>
            </a:r>
            <a:r>
              <a:rPr sz="1250" dirty="0" err="1">
                <a:solidFill>
                  <a:srgbClr val="F2F2F2"/>
                </a:solidFill>
                <a:latin typeface="Consolas"/>
              </a:rPr>
              <a:t>후에도</a:t>
            </a:r>
            <a:r>
              <a:rPr sz="1250" dirty="0">
                <a:solidFill>
                  <a:srgbClr val="F2F2F2"/>
                </a:solidFill>
                <a:latin typeface="Consolas"/>
              </a:rPr>
              <a:t> MAX(</a:t>
            </a:r>
            <a:r>
              <a:rPr sz="1250" dirty="0" err="1">
                <a:solidFill>
                  <a:srgbClr val="F2F2F2"/>
                </a:solidFill>
                <a:latin typeface="Consolas"/>
              </a:rPr>
              <a:t>snap_id</a:t>
            </a:r>
            <a:r>
              <a:rPr sz="1250" dirty="0">
                <a:solidFill>
                  <a:srgbClr val="F2F2F2"/>
                </a:solidFill>
                <a:latin typeface="Consolas"/>
              </a:rPr>
              <a:t>)가 </a:t>
            </a:r>
            <a:r>
              <a:rPr sz="1250" dirty="0" err="1">
                <a:solidFill>
                  <a:srgbClr val="F2F2F2"/>
                </a:solidFill>
                <a:latin typeface="Consolas"/>
              </a:rPr>
              <a:t>그대로</a:t>
            </a:r>
            <a:endParaRPr sz="1250" dirty="0">
              <a:solidFill>
                <a:srgbClr val="F2F2F2"/>
              </a:solidFill>
              <a:latin typeface="Consolas"/>
            </a:endParaRPr>
          </a:p>
          <a:p>
            <a:pPr>
              <a:spcBef>
                <a:spcPts val="0"/>
              </a:spcBef>
              <a:spcAft>
                <a:spcPts val="0"/>
              </a:spcAft>
            </a:pPr>
            <a:r>
              <a:rPr sz="1250" dirty="0" err="1">
                <a:solidFill>
                  <a:srgbClr val="F2F2F2"/>
                </a:solidFill>
                <a:latin typeface="Consolas"/>
              </a:rPr>
              <a:t>SYS@orcl</a:t>
            </a:r>
            <a:r>
              <a:rPr sz="1250" dirty="0">
                <a:solidFill>
                  <a:srgbClr val="F2F2F2"/>
                </a:solidFill>
                <a:latin typeface="Consolas"/>
              </a:rPr>
              <a:t>&gt; EXEC DBMS_WORKLOAD_REPOSITORY.CREATE_SNAPSHOT;</a:t>
            </a:r>
          </a:p>
          <a:p>
            <a:pPr>
              <a:spcBef>
                <a:spcPts val="0"/>
              </a:spcBef>
              <a:spcAft>
                <a:spcPts val="0"/>
              </a:spcAft>
            </a:pPr>
            <a:r>
              <a:rPr sz="1250" dirty="0" err="1">
                <a:solidFill>
                  <a:srgbClr val="F2F2F2"/>
                </a:solidFill>
                <a:latin typeface="Consolas"/>
              </a:rPr>
              <a:t>SYS@orcl</a:t>
            </a:r>
            <a:r>
              <a:rPr sz="1250" dirty="0">
                <a:solidFill>
                  <a:srgbClr val="F2F2F2"/>
                </a:solidFill>
                <a:latin typeface="Consolas"/>
              </a:rPr>
              <a:t>&gt; SELECT MAX(</a:t>
            </a:r>
            <a:r>
              <a:rPr sz="1250" dirty="0" err="1">
                <a:solidFill>
                  <a:srgbClr val="F2F2F2"/>
                </a:solidFill>
                <a:latin typeface="Consolas"/>
              </a:rPr>
              <a:t>snap_id</a:t>
            </a:r>
            <a:r>
              <a:rPr sz="1250" dirty="0">
                <a:solidFill>
                  <a:srgbClr val="F2F2F2"/>
                </a:solidFill>
                <a:latin typeface="Consolas"/>
              </a:rPr>
              <a:t>) FROM </a:t>
            </a:r>
            <a:r>
              <a:rPr sz="1250" dirty="0" err="1">
                <a:solidFill>
                  <a:srgbClr val="F2F2F2"/>
                </a:solidFill>
                <a:latin typeface="Consolas"/>
              </a:rPr>
              <a:t>dba_hist_snapshot</a:t>
            </a:r>
            <a:r>
              <a:rPr sz="1250" dirty="0">
                <a:solidFill>
                  <a:srgbClr val="F2F2F2"/>
                </a:solidFill>
                <a:latin typeface="Consolas"/>
              </a:rPr>
              <a:t>;  --&gt; </a:t>
            </a:r>
            <a:r>
              <a:rPr sz="1250" dirty="0" err="1">
                <a:solidFill>
                  <a:srgbClr val="F2F2F2"/>
                </a:solidFill>
                <a:latin typeface="Consolas"/>
              </a:rPr>
              <a:t>그대로</a:t>
            </a:r>
            <a:r>
              <a:rPr sz="1250" dirty="0">
                <a:solidFill>
                  <a:srgbClr val="F2F2F2"/>
                </a:solidFill>
                <a:latin typeface="Consolas"/>
              </a:rPr>
              <a:t>?</a:t>
            </a:r>
          </a:p>
          <a:p>
            <a:pPr>
              <a:spcBef>
                <a:spcPts val="0"/>
              </a:spcBef>
              <a:spcAft>
                <a:spcPts val="0"/>
              </a:spcAft>
            </a:pPr>
            <a:r>
              <a:rPr sz="1250" dirty="0">
                <a:solidFill>
                  <a:srgbClr val="F2F2F2"/>
                </a:solidFill>
                <a:latin typeface="Consolas"/>
              </a:rPr>
              <a:t> </a:t>
            </a:r>
          </a:p>
          <a:p>
            <a:pPr>
              <a:spcBef>
                <a:spcPts val="0"/>
              </a:spcBef>
              <a:spcAft>
                <a:spcPts val="0"/>
              </a:spcAft>
            </a:pPr>
            <a:r>
              <a:rPr sz="1250" dirty="0">
                <a:solidFill>
                  <a:srgbClr val="F2F2F2"/>
                </a:solidFill>
                <a:latin typeface="Consolas"/>
              </a:rPr>
              <a:t>-- </a:t>
            </a:r>
            <a:r>
              <a:rPr sz="1250" dirty="0" err="1">
                <a:solidFill>
                  <a:srgbClr val="F2F2F2"/>
                </a:solidFill>
                <a:latin typeface="Consolas"/>
              </a:rPr>
              <a:t>원인</a:t>
            </a:r>
            <a:r>
              <a:rPr sz="1250" dirty="0">
                <a:solidFill>
                  <a:srgbClr val="F2F2F2"/>
                </a:solidFill>
                <a:latin typeface="Consolas"/>
              </a:rPr>
              <a:t>: STATISTICS_LEVEL=BASIC </a:t>
            </a:r>
            <a:r>
              <a:rPr sz="1250" dirty="0" err="1">
                <a:solidFill>
                  <a:srgbClr val="F2F2F2"/>
                </a:solidFill>
                <a:latin typeface="Consolas"/>
              </a:rPr>
              <a:t>또는</a:t>
            </a:r>
            <a:endParaRPr sz="1250" dirty="0">
              <a:solidFill>
                <a:srgbClr val="F2F2F2"/>
              </a:solidFill>
              <a:latin typeface="Consolas"/>
            </a:endParaRPr>
          </a:p>
          <a:p>
            <a:pPr>
              <a:spcBef>
                <a:spcPts val="0"/>
              </a:spcBef>
              <a:spcAft>
                <a:spcPts val="0"/>
              </a:spcAft>
            </a:pPr>
            <a:r>
              <a:rPr sz="1250" dirty="0">
                <a:solidFill>
                  <a:srgbClr val="F2F2F2"/>
                </a:solidFill>
                <a:latin typeface="Consolas"/>
              </a:rPr>
              <a:t>--       CONTROL_MANAGEMENT_PACK_ACCESS=NONE → AWR </a:t>
            </a:r>
            <a:r>
              <a:rPr sz="1250" dirty="0" err="1">
                <a:solidFill>
                  <a:srgbClr val="F2F2F2"/>
                </a:solidFill>
                <a:latin typeface="Consolas"/>
              </a:rPr>
              <a:t>꺼짐</a:t>
            </a:r>
            <a:endParaRPr sz="1250" dirty="0">
              <a:solidFill>
                <a:srgbClr val="F2F2F2"/>
              </a:solidFill>
              <a:latin typeface="Consolas"/>
            </a:endParaRPr>
          </a:p>
          <a:p>
            <a:pPr>
              <a:spcBef>
                <a:spcPts val="0"/>
              </a:spcBef>
              <a:spcAft>
                <a:spcPts val="0"/>
              </a:spcAft>
            </a:pPr>
            <a:r>
              <a:rPr sz="1250" dirty="0" err="1">
                <a:solidFill>
                  <a:srgbClr val="F2F2F2"/>
                </a:solidFill>
                <a:latin typeface="Consolas"/>
              </a:rPr>
              <a:t>SYS@orcl</a:t>
            </a:r>
            <a:r>
              <a:rPr sz="1250" dirty="0">
                <a:solidFill>
                  <a:srgbClr val="F2F2F2"/>
                </a:solidFill>
                <a:latin typeface="Consolas"/>
              </a:rPr>
              <a:t>&gt; SHOW PARAMETER </a:t>
            </a:r>
            <a:r>
              <a:rPr sz="1250" dirty="0" err="1">
                <a:solidFill>
                  <a:srgbClr val="F2F2F2"/>
                </a:solidFill>
                <a:latin typeface="Consolas"/>
              </a:rPr>
              <a:t>statistics_level</a:t>
            </a:r>
            <a:endParaRPr sz="1250" dirty="0">
              <a:solidFill>
                <a:srgbClr val="F2F2F2"/>
              </a:solidFill>
              <a:latin typeface="Consolas"/>
            </a:endParaRPr>
          </a:p>
          <a:p>
            <a:pPr>
              <a:spcBef>
                <a:spcPts val="0"/>
              </a:spcBef>
              <a:spcAft>
                <a:spcPts val="0"/>
              </a:spcAft>
            </a:pPr>
            <a:r>
              <a:rPr sz="1250" dirty="0" err="1">
                <a:solidFill>
                  <a:srgbClr val="F2F2F2"/>
                </a:solidFill>
                <a:latin typeface="Consolas"/>
              </a:rPr>
              <a:t>SYS@orcl</a:t>
            </a:r>
            <a:r>
              <a:rPr sz="1250" dirty="0">
                <a:solidFill>
                  <a:srgbClr val="F2F2F2"/>
                </a:solidFill>
                <a:latin typeface="Consolas"/>
              </a:rPr>
              <a:t>&gt; SHOW PARAMETER </a:t>
            </a:r>
            <a:r>
              <a:rPr sz="1250" dirty="0" err="1">
                <a:solidFill>
                  <a:srgbClr val="F2F2F2"/>
                </a:solidFill>
                <a:latin typeface="Consolas"/>
              </a:rPr>
              <a:t>control_management_pack_access</a:t>
            </a:r>
            <a:endParaRPr sz="1250" dirty="0">
              <a:solidFill>
                <a:srgbClr val="F2F2F2"/>
              </a:solidFill>
              <a:latin typeface="Consolas"/>
            </a:endParaRPr>
          </a:p>
          <a:p>
            <a:pPr>
              <a:spcBef>
                <a:spcPts val="0"/>
              </a:spcBef>
              <a:spcAft>
                <a:spcPts val="0"/>
              </a:spcAft>
            </a:pPr>
            <a:r>
              <a:rPr sz="1250" dirty="0">
                <a:solidFill>
                  <a:srgbClr val="F2F2F2"/>
                </a:solidFill>
                <a:latin typeface="Consolas"/>
              </a:rPr>
              <a:t> </a:t>
            </a:r>
          </a:p>
          <a:p>
            <a:pPr>
              <a:spcBef>
                <a:spcPts val="0"/>
              </a:spcBef>
              <a:spcAft>
                <a:spcPts val="0"/>
              </a:spcAft>
            </a:pPr>
            <a:r>
              <a:rPr sz="1250" dirty="0">
                <a:solidFill>
                  <a:srgbClr val="F2F2F2"/>
                </a:solidFill>
                <a:latin typeface="Consolas"/>
              </a:rPr>
              <a:t>-- </a:t>
            </a:r>
            <a:r>
              <a:rPr sz="1250" dirty="0" err="1">
                <a:solidFill>
                  <a:srgbClr val="F2F2F2"/>
                </a:solidFill>
                <a:latin typeface="Consolas"/>
              </a:rPr>
              <a:t>조치</a:t>
            </a:r>
            <a:r>
              <a:rPr sz="1250" dirty="0">
                <a:solidFill>
                  <a:srgbClr val="F2F2F2"/>
                </a:solidFill>
                <a:latin typeface="Consolas"/>
              </a:rPr>
              <a:t>: TYPICAL / DIAGNOSTIC(+TUNING) 로 </a:t>
            </a:r>
            <a:r>
              <a:rPr sz="1250" dirty="0" err="1">
                <a:solidFill>
                  <a:srgbClr val="F2F2F2"/>
                </a:solidFill>
                <a:latin typeface="Consolas"/>
              </a:rPr>
              <a:t>되돌린</a:t>
            </a:r>
            <a:r>
              <a:rPr sz="1250" dirty="0">
                <a:solidFill>
                  <a:srgbClr val="F2F2F2"/>
                </a:solidFill>
                <a:latin typeface="Consolas"/>
              </a:rPr>
              <a:t> 뒤 </a:t>
            </a:r>
            <a:r>
              <a:rPr sz="1250" dirty="0" err="1">
                <a:solidFill>
                  <a:srgbClr val="F2F2F2"/>
                </a:solidFill>
                <a:latin typeface="Consolas"/>
              </a:rPr>
              <a:t>재시도</a:t>
            </a:r>
            <a:endParaRPr sz="1250" dirty="0">
              <a:solidFill>
                <a:srgbClr val="F2F2F2"/>
              </a:solidFill>
              <a:latin typeface="Consolas"/>
            </a:endParaRPr>
          </a:p>
        </p:txBody>
      </p:sp>
    </p:spTree>
    <p:extLst>
      <p:ext uri="{BB962C8B-B14F-4D97-AF65-F5344CB8AC3E}">
        <p14:creationId xmlns:p14="http://schemas.microsoft.com/office/powerpoint/2010/main" val="62911925"/>
      </p:ext>
    </p:extLst>
  </p:cSld>
  <p:clrMapOvr>
    <a:masterClrMapping/>
  </p:clrMapOvr>
</p:sld>
</file>

<file path=ppt/slides/slide8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한 부하, 세 도구의 일관성</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295~296 = 7세션 100초 종합 부하</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600"/>
              </a:spcAft>
            </a:pPr>
            <a:r>
              <a:rPr sz="1700" b="0">
                <a:solidFill>
                  <a:srgbClr val="222222"/>
                </a:solidFill>
                <a:latin typeface="맑은 고딕"/>
              </a:rPr>
              <a:t>•  같은 사건을 세 도구가 다른 언어로, 일관되게 기록</a:t>
            </a:r>
          </a:p>
          <a:p>
            <a:pPr algn="l">
              <a:spcAft>
                <a:spcPts val="600"/>
              </a:spcAft>
            </a:pPr>
            <a:r>
              <a:rPr sz="1700" b="0">
                <a:solidFill>
                  <a:srgbClr val="222222"/>
                </a:solidFill>
                <a:latin typeface="맑은 고딕"/>
              </a:rPr>
              <a:t>•  ch22 AWR: DB CPU 95.7% · log file sync · 하드 파싱</a:t>
            </a:r>
          </a:p>
          <a:p>
            <a:pPr algn="l">
              <a:spcAft>
                <a:spcPts val="600"/>
              </a:spcAft>
            </a:pPr>
            <a:r>
              <a:rPr sz="1700" b="0">
                <a:solidFill>
                  <a:srgbClr val="222222"/>
                </a:solidFill>
                <a:latin typeface="맑은 고딕"/>
              </a:rPr>
              <a:t>•  ch24 ADDM: 'Hard Parse Due to Literal Usage' 진단</a:t>
            </a:r>
          </a:p>
          <a:p>
            <a:pPr algn="l">
              <a:spcAft>
                <a:spcPts val="600"/>
              </a:spcAft>
            </a:pPr>
            <a:r>
              <a:rPr sz="1700" b="0">
                <a:solidFill>
                  <a:srgbClr val="222222"/>
                </a:solidFill>
                <a:latin typeface="맑은 고딕"/>
              </a:rPr>
              <a:t>•  ch25 ASH: ON CPU 90.7%</a:t>
            </a:r>
          </a:p>
          <a:p>
            <a:pPr algn="l">
              <a:spcAft>
                <a:spcPts val="600"/>
              </a:spcAft>
            </a:pPr>
            <a:r>
              <a:rPr sz="1700" b="0">
                <a:solidFill>
                  <a:srgbClr val="222222"/>
                </a:solidFill>
                <a:latin typeface="맑은 고딕"/>
              </a:rPr>
              <a:t>•  구간을 어떻게 잡았는가가 진단의 질을 좌우한다</a:t>
            </a:r>
          </a:p>
        </p:txBody>
      </p:sp>
    </p:spTree>
    <p:extLst>
      <p:ext uri="{BB962C8B-B14F-4D97-AF65-F5344CB8AC3E}">
        <p14:creationId xmlns:p14="http://schemas.microsoft.com/office/powerpoint/2010/main" val="564105051"/>
      </p:ext>
    </p:extLst>
  </p:cSld>
  <p:clrMapOvr>
    <a:masterClrMapping/>
  </p:clrMapOvr>
</p:sld>
</file>

<file path=ppt/slides/slide8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707886"/>
          </a:xfrm>
          <a:prstGeom prst="rect">
            <a:avLst/>
          </a:prstGeom>
          <a:noFill/>
        </p:spPr>
        <p:txBody>
          <a:bodyPr wrap="square" anchor="t">
            <a:spAutoFit/>
          </a:bodyPr>
          <a:lstStyle/>
          <a:p>
            <a:pPr algn="l"/>
            <a:r>
              <a:rPr lang="en-US" sz="4000" b="1" dirty="0">
                <a:solidFill>
                  <a:srgbClr val="FFFFFF"/>
                </a:solidFill>
                <a:latin typeface="맑은 고딕"/>
              </a:rPr>
              <a:t>20</a:t>
            </a:r>
            <a:r>
              <a:rPr sz="4000" b="1" dirty="0">
                <a:solidFill>
                  <a:srgbClr val="FFFFFF"/>
                </a:solidFill>
                <a:latin typeface="맑은 고딕"/>
              </a:rPr>
              <a:t>.5</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AWR 베이스라인</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nchor="t">
            <a:spAutoFit/>
          </a:bodyPr>
          <a:lstStyle/>
          <a:p>
            <a:pPr algn="l"/>
            <a:r>
              <a:rPr sz="1600" b="0">
                <a:solidFill>
                  <a:srgbClr val="FFFFFF"/>
                </a:solidFill>
                <a:latin typeface="맑은 고딕"/>
              </a:rPr>
              <a:t>•  필요한 구간을 보호한다</a:t>
            </a:r>
          </a:p>
          <a:p>
            <a:pPr algn="l"/>
            <a:r>
              <a:rPr sz="1600" b="0">
                <a:solidFill>
                  <a:srgbClr val="FFFFFF"/>
                </a:solidFill>
                <a:latin typeface="맑은 고딕"/>
              </a:rPr>
              <a:t>•  고정 vs 이동 윈도우</a:t>
            </a:r>
          </a:p>
          <a:p>
            <a:pPr algn="l"/>
            <a:r>
              <a:rPr sz="1600" b="0">
                <a:solidFill>
                  <a:srgbClr val="FFFFFF"/>
                </a:solidFill>
                <a:latin typeface="맑은 고딕"/>
              </a:rPr>
              <a:t>•  CREATE/DROP/RENAME_BASELINE</a:t>
            </a:r>
          </a:p>
          <a:p>
            <a:pPr algn="l"/>
            <a:r>
              <a:rPr sz="1600" b="0">
                <a:solidFill>
                  <a:srgbClr val="FFFFFF"/>
                </a:solidFill>
                <a:latin typeface="맑은 고딕"/>
              </a:rPr>
              <a:t>•  DBA Point: 보호해야 살아남는다</a:t>
            </a:r>
          </a:p>
        </p:txBody>
      </p:sp>
    </p:spTree>
    <p:extLst>
      <p:ext uri="{BB962C8B-B14F-4D97-AF65-F5344CB8AC3E}">
        <p14:creationId xmlns:p14="http://schemas.microsoft.com/office/powerpoint/2010/main" val="2225015145"/>
      </p:ext>
    </p:extLst>
  </p:cSld>
  <p:clrMapOvr>
    <a:masterClrMapping/>
  </p:clrMapOvr>
</p:sld>
</file>

<file path=ppt/slides/slide8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베이스라인이란</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포함된 스냅샷은 무기한 보존</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600"/>
              </a:spcAft>
            </a:pPr>
            <a:r>
              <a:rPr sz="1700" b="0">
                <a:solidFill>
                  <a:srgbClr val="222222"/>
                </a:solidFill>
                <a:latin typeface="맑은 고딕"/>
              </a:rPr>
              <a:t>•  특정 기간 스냅샷 집합을 비교용으로 보존</a:t>
            </a:r>
          </a:p>
          <a:p>
            <a:pPr algn="l">
              <a:spcAft>
                <a:spcPts val="600"/>
              </a:spcAft>
            </a:pPr>
            <a:r>
              <a:rPr sz="1700" b="0">
                <a:solidFill>
                  <a:srgbClr val="222222"/>
                </a:solidFill>
                <a:latin typeface="맑은 고딕"/>
              </a:rPr>
              <a:t>•  핵심: 포함된 스냅샷은 자동 퍼지에서 제외 → 무기한</a:t>
            </a:r>
          </a:p>
          <a:p>
            <a:pPr algn="l">
              <a:spcAft>
                <a:spcPts val="600"/>
              </a:spcAft>
            </a:pPr>
            <a:r>
              <a:rPr sz="1700" b="0">
                <a:solidFill>
                  <a:srgbClr val="222222"/>
                </a:solidFill>
                <a:latin typeface="맑은 고딕"/>
              </a:rPr>
              <a:t>•  고정: 사람이 지정한 과거의 '정상' 연속 구간</a:t>
            </a:r>
          </a:p>
          <a:p>
            <a:pPr algn="l">
              <a:spcAft>
                <a:spcPts val="600"/>
              </a:spcAft>
            </a:pPr>
            <a:r>
              <a:rPr sz="1700" b="0">
                <a:solidFill>
                  <a:srgbClr val="222222"/>
                </a:solidFill>
                <a:latin typeface="맑은 고딕"/>
              </a:rPr>
              <a:t>•  이동 윈도우: 보존 기간 안 전체(시스템 자동, 적응형 임계값용)</a:t>
            </a:r>
          </a:p>
          <a:p>
            <a:pPr algn="l">
              <a:spcAft>
                <a:spcPts val="600"/>
              </a:spcAft>
            </a:pPr>
            <a:r>
              <a:rPr sz="1700" b="0">
                <a:solidFill>
                  <a:srgbClr val="222222"/>
                </a:solidFill>
                <a:latin typeface="맑은 고딕"/>
              </a:rPr>
              <a:t>•  DBA Point — 필요한 구간은 베이스라인으로 보호해야 살아남는다</a:t>
            </a:r>
          </a:p>
        </p:txBody>
      </p:sp>
    </p:spTree>
    <p:extLst>
      <p:ext uri="{BB962C8B-B14F-4D97-AF65-F5344CB8AC3E}">
        <p14:creationId xmlns:p14="http://schemas.microsoft.com/office/powerpoint/2010/main" val="3036832311"/>
      </p:ext>
    </p:extLst>
  </p:cSld>
  <p:clrMapOvr>
    <a:masterClrMapping/>
  </p:clrMapOvr>
</p:sld>
</file>

<file path=ppt/slides/slide8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생성·조회</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CREATE_BASELINE / DBA_HIST_BASELINE</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tlCol="0" anchor="ctr"/>
          <a:lstStyle/>
          <a:p>
            <a:pPr>
              <a:spcBef>
                <a:spcPts val="0"/>
              </a:spcBef>
              <a:spcAft>
                <a:spcPts val="0"/>
              </a:spcAft>
            </a:pPr>
            <a:r>
              <a:rPr sz="1250" dirty="0" err="1">
                <a:solidFill>
                  <a:srgbClr val="F2F2F2"/>
                </a:solidFill>
                <a:latin typeface="Consolas"/>
              </a:rPr>
              <a:t>SYS@orcl</a:t>
            </a:r>
            <a:r>
              <a:rPr sz="1250" dirty="0">
                <a:solidFill>
                  <a:srgbClr val="F2F2F2"/>
                </a:solidFill>
                <a:latin typeface="Consolas"/>
              </a:rPr>
              <a:t>&gt; BEGIN</a:t>
            </a:r>
          </a:p>
          <a:p>
            <a:pPr>
              <a:spcBef>
                <a:spcPts val="0"/>
              </a:spcBef>
              <a:spcAft>
                <a:spcPts val="0"/>
              </a:spcAft>
            </a:pPr>
            <a:r>
              <a:rPr sz="1250" dirty="0">
                <a:solidFill>
                  <a:srgbClr val="F2F2F2"/>
                </a:solidFill>
                <a:latin typeface="Consolas"/>
              </a:rPr>
              <a:t>  2    DBMS_WORKLOAD_REPOSITORY.CREATE_BASELINE(</a:t>
            </a:r>
          </a:p>
          <a:p>
            <a:pPr>
              <a:spcBef>
                <a:spcPts val="0"/>
              </a:spcBef>
              <a:spcAft>
                <a:spcPts val="0"/>
              </a:spcAft>
            </a:pPr>
            <a:r>
              <a:rPr sz="1250" dirty="0">
                <a:solidFill>
                  <a:srgbClr val="F2F2F2"/>
                </a:solidFill>
                <a:latin typeface="Consolas"/>
              </a:rPr>
              <a:t>  3        </a:t>
            </a:r>
            <a:r>
              <a:rPr sz="1250" dirty="0" err="1">
                <a:solidFill>
                  <a:srgbClr val="F2F2F2"/>
                </a:solidFill>
                <a:latin typeface="Consolas"/>
              </a:rPr>
              <a:t>start_snap_id</a:t>
            </a:r>
            <a:r>
              <a:rPr sz="1250" dirty="0">
                <a:solidFill>
                  <a:srgbClr val="F2F2F2"/>
                </a:solidFill>
                <a:latin typeface="Consolas"/>
              </a:rPr>
              <a:t> =&gt; 295, </a:t>
            </a:r>
            <a:r>
              <a:rPr sz="1250" dirty="0" err="1">
                <a:solidFill>
                  <a:srgbClr val="F2F2F2"/>
                </a:solidFill>
                <a:latin typeface="Consolas"/>
              </a:rPr>
              <a:t>end_snap_id</a:t>
            </a:r>
            <a:r>
              <a:rPr sz="1250" dirty="0">
                <a:solidFill>
                  <a:srgbClr val="F2F2F2"/>
                </a:solidFill>
                <a:latin typeface="Consolas"/>
              </a:rPr>
              <a:t> =&gt; 296,</a:t>
            </a:r>
          </a:p>
          <a:p>
            <a:pPr>
              <a:spcBef>
                <a:spcPts val="0"/>
              </a:spcBef>
              <a:spcAft>
                <a:spcPts val="0"/>
              </a:spcAft>
            </a:pPr>
            <a:r>
              <a:rPr sz="1250" dirty="0">
                <a:solidFill>
                  <a:srgbClr val="F2F2F2"/>
                </a:solidFill>
                <a:latin typeface="Consolas"/>
              </a:rPr>
              <a:t>  4        </a:t>
            </a:r>
            <a:r>
              <a:rPr sz="1250" dirty="0" err="1">
                <a:solidFill>
                  <a:srgbClr val="F2F2F2"/>
                </a:solidFill>
                <a:latin typeface="Consolas"/>
              </a:rPr>
              <a:t>baseline_name</a:t>
            </a:r>
            <a:r>
              <a:rPr sz="1250" dirty="0">
                <a:solidFill>
                  <a:srgbClr val="F2F2F2"/>
                </a:solidFill>
                <a:latin typeface="Consolas"/>
              </a:rPr>
              <a:t> =&gt; 'TUNING_CH6_DEMO',</a:t>
            </a:r>
          </a:p>
          <a:p>
            <a:pPr>
              <a:spcBef>
                <a:spcPts val="0"/>
              </a:spcBef>
              <a:spcAft>
                <a:spcPts val="0"/>
              </a:spcAft>
            </a:pPr>
            <a:r>
              <a:rPr sz="1250" dirty="0">
                <a:solidFill>
                  <a:srgbClr val="F2F2F2"/>
                </a:solidFill>
                <a:latin typeface="Consolas"/>
              </a:rPr>
              <a:t>  5        expiration    =&gt; 30);   -- 30일 뒤 </a:t>
            </a:r>
            <a:r>
              <a:rPr sz="1250" dirty="0" err="1">
                <a:solidFill>
                  <a:srgbClr val="F2F2F2"/>
                </a:solidFill>
                <a:latin typeface="Consolas"/>
              </a:rPr>
              <a:t>만료</a:t>
            </a:r>
            <a:endParaRPr sz="1250" dirty="0">
              <a:solidFill>
                <a:srgbClr val="F2F2F2"/>
              </a:solidFill>
              <a:latin typeface="Consolas"/>
            </a:endParaRPr>
          </a:p>
          <a:p>
            <a:pPr>
              <a:spcBef>
                <a:spcPts val="0"/>
              </a:spcBef>
              <a:spcAft>
                <a:spcPts val="0"/>
              </a:spcAft>
            </a:pPr>
            <a:r>
              <a:rPr sz="1250" dirty="0">
                <a:solidFill>
                  <a:srgbClr val="F2F2F2"/>
                </a:solidFill>
                <a:latin typeface="Consolas"/>
              </a:rPr>
              <a:t>  6  END;</a:t>
            </a:r>
          </a:p>
          <a:p>
            <a:pPr>
              <a:spcBef>
                <a:spcPts val="0"/>
              </a:spcBef>
              <a:spcAft>
                <a:spcPts val="0"/>
              </a:spcAft>
            </a:pPr>
            <a:r>
              <a:rPr sz="1250" dirty="0">
                <a:solidFill>
                  <a:srgbClr val="F2F2F2"/>
                </a:solidFill>
                <a:latin typeface="Consolas"/>
              </a:rPr>
              <a:t>  7  /</a:t>
            </a:r>
          </a:p>
          <a:p>
            <a:pPr>
              <a:spcBef>
                <a:spcPts val="0"/>
              </a:spcBef>
              <a:spcAft>
                <a:spcPts val="0"/>
              </a:spcAft>
            </a:pPr>
            <a:r>
              <a:rPr sz="1250" dirty="0" err="1">
                <a:solidFill>
                  <a:srgbClr val="F2F2F2"/>
                </a:solidFill>
                <a:latin typeface="Consolas"/>
              </a:rPr>
              <a:t>SYS@orcl</a:t>
            </a:r>
            <a:r>
              <a:rPr sz="1250" dirty="0">
                <a:solidFill>
                  <a:srgbClr val="F2F2F2"/>
                </a:solidFill>
                <a:latin typeface="Consolas"/>
              </a:rPr>
              <a:t>&gt; SELECT </a:t>
            </a:r>
            <a:r>
              <a:rPr sz="1250" dirty="0" err="1">
                <a:solidFill>
                  <a:srgbClr val="F2F2F2"/>
                </a:solidFill>
                <a:latin typeface="Consolas"/>
              </a:rPr>
              <a:t>baseline_name</a:t>
            </a:r>
            <a:r>
              <a:rPr sz="1250" dirty="0">
                <a:solidFill>
                  <a:srgbClr val="F2F2F2"/>
                </a:solidFill>
                <a:latin typeface="Consolas"/>
              </a:rPr>
              <a:t>, </a:t>
            </a:r>
            <a:r>
              <a:rPr sz="1250" dirty="0" err="1">
                <a:solidFill>
                  <a:srgbClr val="F2F2F2"/>
                </a:solidFill>
                <a:latin typeface="Consolas"/>
              </a:rPr>
              <a:t>baseline_type</a:t>
            </a:r>
            <a:r>
              <a:rPr sz="1250" dirty="0">
                <a:solidFill>
                  <a:srgbClr val="F2F2F2"/>
                </a:solidFill>
                <a:latin typeface="Consolas"/>
              </a:rPr>
              <a:t>,</a:t>
            </a:r>
          </a:p>
          <a:p>
            <a:pPr>
              <a:spcBef>
                <a:spcPts val="0"/>
              </a:spcBef>
              <a:spcAft>
                <a:spcPts val="0"/>
              </a:spcAft>
            </a:pPr>
            <a:r>
              <a:rPr sz="1250" dirty="0">
                <a:solidFill>
                  <a:srgbClr val="F2F2F2"/>
                </a:solidFill>
                <a:latin typeface="Consolas"/>
              </a:rPr>
              <a:t>                 </a:t>
            </a:r>
            <a:r>
              <a:rPr sz="1250" dirty="0" err="1">
                <a:solidFill>
                  <a:srgbClr val="F2F2F2"/>
                </a:solidFill>
                <a:latin typeface="Consolas"/>
              </a:rPr>
              <a:t>start_snap_id</a:t>
            </a:r>
            <a:r>
              <a:rPr sz="1250" dirty="0">
                <a:solidFill>
                  <a:srgbClr val="F2F2F2"/>
                </a:solidFill>
                <a:latin typeface="Consolas"/>
              </a:rPr>
              <a:t>, </a:t>
            </a:r>
            <a:r>
              <a:rPr sz="1250" dirty="0" err="1">
                <a:solidFill>
                  <a:srgbClr val="F2F2F2"/>
                </a:solidFill>
                <a:latin typeface="Consolas"/>
              </a:rPr>
              <a:t>end_snap_id</a:t>
            </a:r>
            <a:r>
              <a:rPr sz="1250" dirty="0">
                <a:solidFill>
                  <a:srgbClr val="F2F2F2"/>
                </a:solidFill>
                <a:latin typeface="Consolas"/>
              </a:rPr>
              <a:t> FROM </a:t>
            </a:r>
            <a:r>
              <a:rPr sz="1250" dirty="0" err="1">
                <a:solidFill>
                  <a:srgbClr val="F2F2F2"/>
                </a:solidFill>
                <a:latin typeface="Consolas"/>
              </a:rPr>
              <a:t>dba_hist_baseline</a:t>
            </a:r>
            <a:r>
              <a:rPr sz="1250" dirty="0">
                <a:solidFill>
                  <a:srgbClr val="F2F2F2"/>
                </a:solidFill>
                <a:latin typeface="Consolas"/>
              </a:rPr>
              <a:t>;</a:t>
            </a:r>
          </a:p>
          <a:p>
            <a:pPr>
              <a:spcBef>
                <a:spcPts val="0"/>
              </a:spcBef>
              <a:spcAft>
                <a:spcPts val="0"/>
              </a:spcAft>
            </a:pPr>
            <a:r>
              <a:rPr sz="1250" dirty="0">
                <a:solidFill>
                  <a:srgbClr val="F2F2F2"/>
                </a:solidFill>
                <a:latin typeface="Consolas"/>
              </a:rPr>
              <a:t>SYSTEM_MOVING_WINDOW  MOVING_WINDOW   288  296</a:t>
            </a:r>
          </a:p>
          <a:p>
            <a:pPr>
              <a:spcBef>
                <a:spcPts val="0"/>
              </a:spcBef>
              <a:spcAft>
                <a:spcPts val="0"/>
              </a:spcAft>
            </a:pPr>
            <a:r>
              <a:rPr sz="1250" dirty="0">
                <a:solidFill>
                  <a:srgbClr val="F2F2F2"/>
                </a:solidFill>
                <a:latin typeface="Consolas"/>
              </a:rPr>
              <a:t>TUNING_CH6_DEMO       STATIC          295  296</a:t>
            </a:r>
          </a:p>
        </p:txBody>
      </p:sp>
    </p:spTree>
    <p:extLst>
      <p:ext uri="{BB962C8B-B14F-4D97-AF65-F5344CB8AC3E}">
        <p14:creationId xmlns:p14="http://schemas.microsoft.com/office/powerpoint/2010/main" val="2176517483"/>
      </p:ext>
    </p:extLst>
  </p:cSld>
  <p:clrMapOvr>
    <a:masterClrMapping/>
  </p:clrMapOvr>
</p:sld>
</file>

<file path=ppt/slides/slide8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삭제 — 실습 후 정리</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DROP_BASELINE (cascade FALSE)</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tlCol="0" anchor="ctr"/>
          <a:lstStyle/>
          <a:p>
            <a:pPr>
              <a:spcBef>
                <a:spcPts val="0"/>
              </a:spcBef>
              <a:spcAft>
                <a:spcPts val="0"/>
              </a:spcAft>
            </a:pPr>
            <a:r>
              <a:rPr sz="1250" dirty="0" err="1">
                <a:solidFill>
                  <a:srgbClr val="F2F2F2"/>
                </a:solidFill>
                <a:latin typeface="Consolas"/>
              </a:rPr>
              <a:t>SYS@orcl</a:t>
            </a:r>
            <a:r>
              <a:rPr sz="1250" dirty="0">
                <a:solidFill>
                  <a:srgbClr val="F2F2F2"/>
                </a:solidFill>
                <a:latin typeface="Consolas"/>
              </a:rPr>
              <a:t>&gt; BEGIN</a:t>
            </a:r>
          </a:p>
          <a:p>
            <a:pPr>
              <a:spcBef>
                <a:spcPts val="0"/>
              </a:spcBef>
              <a:spcAft>
                <a:spcPts val="0"/>
              </a:spcAft>
            </a:pPr>
            <a:r>
              <a:rPr sz="1250" dirty="0">
                <a:solidFill>
                  <a:srgbClr val="F2F2F2"/>
                </a:solidFill>
                <a:latin typeface="Consolas"/>
              </a:rPr>
              <a:t>  2    DBMS_WORKLOAD_REPOSITORY.DROP_BASELINE(</a:t>
            </a:r>
          </a:p>
          <a:p>
            <a:pPr>
              <a:spcBef>
                <a:spcPts val="0"/>
              </a:spcBef>
              <a:spcAft>
                <a:spcPts val="0"/>
              </a:spcAft>
            </a:pPr>
            <a:r>
              <a:rPr sz="1250" dirty="0">
                <a:solidFill>
                  <a:srgbClr val="F2F2F2"/>
                </a:solidFill>
                <a:latin typeface="Consolas"/>
              </a:rPr>
              <a:t>  3        </a:t>
            </a:r>
            <a:r>
              <a:rPr sz="1250" dirty="0" err="1">
                <a:solidFill>
                  <a:srgbClr val="F2F2F2"/>
                </a:solidFill>
                <a:latin typeface="Consolas"/>
              </a:rPr>
              <a:t>baseline_name</a:t>
            </a:r>
            <a:r>
              <a:rPr sz="1250" dirty="0">
                <a:solidFill>
                  <a:srgbClr val="F2F2F2"/>
                </a:solidFill>
                <a:latin typeface="Consolas"/>
              </a:rPr>
              <a:t> =&gt; 'TUNING_CH6_DEMO',</a:t>
            </a:r>
          </a:p>
          <a:p>
            <a:pPr>
              <a:spcBef>
                <a:spcPts val="0"/>
              </a:spcBef>
              <a:spcAft>
                <a:spcPts val="0"/>
              </a:spcAft>
            </a:pPr>
            <a:r>
              <a:rPr sz="1250" dirty="0">
                <a:solidFill>
                  <a:srgbClr val="F2F2F2"/>
                </a:solidFill>
                <a:latin typeface="Consolas"/>
              </a:rPr>
              <a:t>  4        cascade       =&gt; FALSE);  -- </a:t>
            </a:r>
            <a:r>
              <a:rPr sz="1250" dirty="0" err="1">
                <a:solidFill>
                  <a:srgbClr val="F2F2F2"/>
                </a:solidFill>
                <a:latin typeface="Consolas"/>
              </a:rPr>
              <a:t>딸린</a:t>
            </a:r>
            <a:r>
              <a:rPr sz="1250" dirty="0">
                <a:solidFill>
                  <a:srgbClr val="F2F2F2"/>
                </a:solidFill>
                <a:latin typeface="Consolas"/>
              </a:rPr>
              <a:t> </a:t>
            </a:r>
            <a:r>
              <a:rPr sz="1250" dirty="0" err="1">
                <a:solidFill>
                  <a:srgbClr val="F2F2F2"/>
                </a:solidFill>
                <a:latin typeface="Consolas"/>
              </a:rPr>
              <a:t>스냅샷은</a:t>
            </a:r>
            <a:r>
              <a:rPr sz="1250" dirty="0">
                <a:solidFill>
                  <a:srgbClr val="F2F2F2"/>
                </a:solidFill>
                <a:latin typeface="Consolas"/>
              </a:rPr>
              <a:t> </a:t>
            </a:r>
            <a:r>
              <a:rPr sz="1250" dirty="0" err="1">
                <a:solidFill>
                  <a:srgbClr val="F2F2F2"/>
                </a:solidFill>
                <a:latin typeface="Consolas"/>
              </a:rPr>
              <a:t>보존</a:t>
            </a:r>
            <a:endParaRPr sz="1250" dirty="0">
              <a:solidFill>
                <a:srgbClr val="F2F2F2"/>
              </a:solidFill>
              <a:latin typeface="Consolas"/>
            </a:endParaRPr>
          </a:p>
          <a:p>
            <a:pPr>
              <a:spcBef>
                <a:spcPts val="0"/>
              </a:spcBef>
              <a:spcAft>
                <a:spcPts val="0"/>
              </a:spcAft>
            </a:pPr>
            <a:r>
              <a:rPr sz="1250" dirty="0">
                <a:solidFill>
                  <a:srgbClr val="F2F2F2"/>
                </a:solidFill>
                <a:latin typeface="Consolas"/>
              </a:rPr>
              <a:t>  5  END;</a:t>
            </a:r>
          </a:p>
          <a:p>
            <a:pPr>
              <a:spcBef>
                <a:spcPts val="0"/>
              </a:spcBef>
              <a:spcAft>
                <a:spcPts val="0"/>
              </a:spcAft>
            </a:pPr>
            <a:r>
              <a:rPr sz="1250" dirty="0">
                <a:solidFill>
                  <a:srgbClr val="F2F2F2"/>
                </a:solidFill>
                <a:latin typeface="Consolas"/>
              </a:rPr>
              <a:t>  6  /</a:t>
            </a:r>
          </a:p>
          <a:p>
            <a:pPr>
              <a:spcBef>
                <a:spcPts val="0"/>
              </a:spcBef>
              <a:spcAft>
                <a:spcPts val="0"/>
              </a:spcAft>
            </a:pPr>
            <a:r>
              <a:rPr sz="1250" dirty="0" err="1">
                <a:solidFill>
                  <a:srgbClr val="F2F2F2"/>
                </a:solidFill>
                <a:latin typeface="Consolas"/>
              </a:rPr>
              <a:t>SYS@orcl</a:t>
            </a:r>
            <a:r>
              <a:rPr sz="1250" dirty="0">
                <a:solidFill>
                  <a:srgbClr val="F2F2F2"/>
                </a:solidFill>
                <a:latin typeface="Consolas"/>
              </a:rPr>
              <a:t>&gt; SELECT COUNT(*) FROM </a:t>
            </a:r>
            <a:r>
              <a:rPr sz="1250" dirty="0" err="1">
                <a:solidFill>
                  <a:srgbClr val="F2F2F2"/>
                </a:solidFill>
                <a:latin typeface="Consolas"/>
              </a:rPr>
              <a:t>dba_hist_baseline</a:t>
            </a:r>
            <a:endParaRPr sz="1250" dirty="0">
              <a:solidFill>
                <a:srgbClr val="F2F2F2"/>
              </a:solidFill>
              <a:latin typeface="Consolas"/>
            </a:endParaRPr>
          </a:p>
          <a:p>
            <a:pPr>
              <a:spcBef>
                <a:spcPts val="0"/>
              </a:spcBef>
              <a:spcAft>
                <a:spcPts val="0"/>
              </a:spcAft>
            </a:pPr>
            <a:r>
              <a:rPr sz="1250" dirty="0">
                <a:solidFill>
                  <a:srgbClr val="F2F2F2"/>
                </a:solidFill>
                <a:latin typeface="Consolas"/>
              </a:rPr>
              <a:t>  2       WHERE </a:t>
            </a:r>
            <a:r>
              <a:rPr sz="1250" dirty="0" err="1">
                <a:solidFill>
                  <a:srgbClr val="F2F2F2"/>
                </a:solidFill>
                <a:latin typeface="Consolas"/>
              </a:rPr>
              <a:t>baseline_name</a:t>
            </a:r>
            <a:r>
              <a:rPr sz="1250" dirty="0">
                <a:solidFill>
                  <a:srgbClr val="F2F2F2"/>
                </a:solidFill>
                <a:latin typeface="Consolas"/>
              </a:rPr>
              <a:t>='TUNING_CH6_DEMO';  --&gt; 0</a:t>
            </a:r>
          </a:p>
          <a:p>
            <a:pPr>
              <a:spcBef>
                <a:spcPts val="0"/>
              </a:spcBef>
              <a:spcAft>
                <a:spcPts val="0"/>
              </a:spcAft>
            </a:pPr>
            <a:r>
              <a:rPr sz="1250" dirty="0">
                <a:solidFill>
                  <a:srgbClr val="F2F2F2"/>
                </a:solidFill>
                <a:latin typeface="Consolas"/>
              </a:rPr>
              <a:t> </a:t>
            </a:r>
          </a:p>
          <a:p>
            <a:pPr>
              <a:spcBef>
                <a:spcPts val="0"/>
              </a:spcBef>
              <a:spcAft>
                <a:spcPts val="0"/>
              </a:spcAft>
            </a:pPr>
            <a:r>
              <a:rPr sz="1250" dirty="0">
                <a:solidFill>
                  <a:srgbClr val="F2F2F2"/>
                </a:solidFill>
                <a:latin typeface="Consolas"/>
              </a:rPr>
              <a:t>-- cascade FALSE: </a:t>
            </a:r>
            <a:r>
              <a:rPr sz="1250" dirty="0" err="1">
                <a:solidFill>
                  <a:srgbClr val="F2F2F2"/>
                </a:solidFill>
                <a:latin typeface="Consolas"/>
              </a:rPr>
              <a:t>베이스라인만</a:t>
            </a:r>
            <a:r>
              <a:rPr sz="1250" dirty="0">
                <a:solidFill>
                  <a:srgbClr val="F2F2F2"/>
                </a:solidFill>
                <a:latin typeface="Consolas"/>
              </a:rPr>
              <a:t> </a:t>
            </a:r>
            <a:r>
              <a:rPr sz="1250" dirty="0" err="1">
                <a:solidFill>
                  <a:srgbClr val="F2F2F2"/>
                </a:solidFill>
                <a:latin typeface="Consolas"/>
              </a:rPr>
              <a:t>해제</a:t>
            </a:r>
            <a:r>
              <a:rPr sz="1250" dirty="0">
                <a:solidFill>
                  <a:srgbClr val="F2F2F2"/>
                </a:solidFill>
                <a:latin typeface="Consolas"/>
              </a:rPr>
              <a:t>, </a:t>
            </a:r>
            <a:r>
              <a:rPr sz="1250" dirty="0" err="1">
                <a:solidFill>
                  <a:srgbClr val="F2F2F2"/>
                </a:solidFill>
                <a:latin typeface="Consolas"/>
              </a:rPr>
              <a:t>스냅샷</a:t>
            </a:r>
            <a:r>
              <a:rPr sz="1250" dirty="0">
                <a:solidFill>
                  <a:srgbClr val="F2F2F2"/>
                </a:solidFill>
                <a:latin typeface="Consolas"/>
              </a:rPr>
              <a:t> </a:t>
            </a:r>
            <a:r>
              <a:rPr sz="1250" dirty="0" err="1">
                <a:solidFill>
                  <a:srgbClr val="F2F2F2"/>
                </a:solidFill>
                <a:latin typeface="Consolas"/>
              </a:rPr>
              <a:t>보존</a:t>
            </a:r>
            <a:endParaRPr sz="1250" dirty="0">
              <a:solidFill>
                <a:srgbClr val="F2F2F2"/>
              </a:solidFill>
              <a:latin typeface="Consolas"/>
            </a:endParaRPr>
          </a:p>
          <a:p>
            <a:pPr>
              <a:spcBef>
                <a:spcPts val="0"/>
              </a:spcBef>
              <a:spcAft>
                <a:spcPts val="0"/>
              </a:spcAft>
            </a:pPr>
            <a:r>
              <a:rPr sz="1250" dirty="0">
                <a:solidFill>
                  <a:srgbClr val="F2F2F2"/>
                </a:solidFill>
                <a:latin typeface="Consolas"/>
              </a:rPr>
              <a:t>-- cascade TRUE : </a:t>
            </a:r>
            <a:r>
              <a:rPr sz="1250" dirty="0" err="1">
                <a:solidFill>
                  <a:srgbClr val="F2F2F2"/>
                </a:solidFill>
                <a:latin typeface="Consolas"/>
              </a:rPr>
              <a:t>딸린</a:t>
            </a:r>
            <a:r>
              <a:rPr sz="1250" dirty="0">
                <a:solidFill>
                  <a:srgbClr val="F2F2F2"/>
                </a:solidFill>
                <a:latin typeface="Consolas"/>
              </a:rPr>
              <a:t> </a:t>
            </a:r>
            <a:r>
              <a:rPr sz="1250" dirty="0" err="1">
                <a:solidFill>
                  <a:srgbClr val="F2F2F2"/>
                </a:solidFill>
                <a:latin typeface="Consolas"/>
              </a:rPr>
              <a:t>스냅샷까지</a:t>
            </a:r>
            <a:r>
              <a:rPr sz="1250" dirty="0">
                <a:solidFill>
                  <a:srgbClr val="F2F2F2"/>
                </a:solidFill>
                <a:latin typeface="Consolas"/>
              </a:rPr>
              <a:t> </a:t>
            </a:r>
            <a:r>
              <a:rPr sz="1250" dirty="0" err="1">
                <a:solidFill>
                  <a:srgbClr val="F2F2F2"/>
                </a:solidFill>
                <a:latin typeface="Consolas"/>
              </a:rPr>
              <a:t>함께</a:t>
            </a:r>
            <a:r>
              <a:rPr sz="1250" dirty="0">
                <a:solidFill>
                  <a:srgbClr val="F2F2F2"/>
                </a:solidFill>
                <a:latin typeface="Consolas"/>
              </a:rPr>
              <a:t> </a:t>
            </a:r>
            <a:r>
              <a:rPr sz="1250" dirty="0" err="1">
                <a:solidFill>
                  <a:srgbClr val="F2F2F2"/>
                </a:solidFill>
                <a:latin typeface="Consolas"/>
              </a:rPr>
              <a:t>삭제</a:t>
            </a:r>
            <a:endParaRPr sz="1250" dirty="0">
              <a:solidFill>
                <a:srgbClr val="F2F2F2"/>
              </a:solidFill>
              <a:latin typeface="Consolas"/>
            </a:endParaRPr>
          </a:p>
        </p:txBody>
      </p:sp>
    </p:spTree>
    <p:extLst>
      <p:ext uri="{BB962C8B-B14F-4D97-AF65-F5344CB8AC3E}">
        <p14:creationId xmlns:p14="http://schemas.microsoft.com/office/powerpoint/2010/main" val="3672212301"/>
      </p:ext>
    </p:extLst>
  </p:cSld>
  <p:clrMapOvr>
    <a:masterClrMapping/>
  </p:clrMapOvr>
</p:sld>
</file>

<file path=ppt/slides/slide8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베이스라인 템플릿</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미래 구간을 예약한다</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600"/>
              </a:spcAft>
            </a:pPr>
            <a:r>
              <a:rPr sz="1700" b="0">
                <a:solidFill>
                  <a:srgbClr val="222222"/>
                </a:solidFill>
                <a:latin typeface="맑은 고딕"/>
              </a:rPr>
              <a:t>•  지나간 구간이 아니라 앞으로 올 구간을 자동 베이스라인화</a:t>
            </a:r>
          </a:p>
          <a:p>
            <a:pPr algn="l">
              <a:spcAft>
                <a:spcPts val="600"/>
              </a:spcAft>
            </a:pPr>
            <a:r>
              <a:rPr sz="1700" b="0">
                <a:solidFill>
                  <a:srgbClr val="222222"/>
                </a:solidFill>
                <a:latin typeface="맑은 고딕"/>
              </a:rPr>
              <a:t>•  단일 템플릿: 미래의 한 번의 고정 구간</a:t>
            </a:r>
          </a:p>
          <a:p>
            <a:pPr algn="l">
              <a:spcAft>
                <a:spcPts val="600"/>
              </a:spcAft>
            </a:pPr>
            <a:r>
              <a:rPr sz="1700" b="0">
                <a:solidFill>
                  <a:srgbClr val="222222"/>
                </a:solidFill>
                <a:latin typeface="맑은 고딕"/>
              </a:rPr>
              <a:t>•  반복 템플릿: 매주 월요일 오전처럼 되풀이되는 구간</a:t>
            </a:r>
          </a:p>
          <a:p>
            <a:pPr algn="l">
              <a:spcAft>
                <a:spcPts val="600"/>
              </a:spcAft>
            </a:pPr>
            <a:r>
              <a:rPr sz="1700" b="0">
                <a:solidFill>
                  <a:srgbClr val="222222"/>
                </a:solidFill>
                <a:latin typeface="맑은 고딕"/>
              </a:rPr>
              <a:t>•  CREATE_BASELINE_TEMPLATE (start/end_time, 이름, 만료)</a:t>
            </a:r>
          </a:p>
          <a:p>
            <a:pPr algn="l">
              <a:spcAft>
                <a:spcPts val="600"/>
              </a:spcAft>
            </a:pPr>
            <a:r>
              <a:rPr sz="1700" b="0">
                <a:solidFill>
                  <a:srgbClr val="222222"/>
                </a:solidFill>
                <a:latin typeface="맑은 고딕"/>
              </a:rPr>
              <a:t>•  월초·분기말 등 반드시 남길 시각을 미리 예약</a:t>
            </a:r>
          </a:p>
        </p:txBody>
      </p:sp>
    </p:spTree>
    <p:extLst>
      <p:ext uri="{BB962C8B-B14F-4D97-AF65-F5344CB8AC3E}">
        <p14:creationId xmlns:p14="http://schemas.microsoft.com/office/powerpoint/2010/main" val="2054526361"/>
      </p:ext>
    </p:extLst>
  </p:cSld>
  <p:clrMapOvr>
    <a:masterClrMapping/>
  </p:clrMapOvr>
</p:sld>
</file>

<file path=ppt/slides/slide8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707886"/>
          </a:xfrm>
          <a:prstGeom prst="rect">
            <a:avLst/>
          </a:prstGeom>
          <a:noFill/>
        </p:spPr>
        <p:txBody>
          <a:bodyPr wrap="square" anchor="t">
            <a:spAutoFit/>
          </a:bodyPr>
          <a:lstStyle/>
          <a:p>
            <a:pPr algn="l"/>
            <a:r>
              <a:rPr lang="en-US" sz="4000" b="1" dirty="0">
                <a:solidFill>
                  <a:srgbClr val="FFFFFF"/>
                </a:solidFill>
                <a:latin typeface="맑은 고딕"/>
              </a:rPr>
              <a:t>20</a:t>
            </a:r>
            <a:r>
              <a:rPr sz="4000" b="1" dirty="0">
                <a:solidFill>
                  <a:srgbClr val="FFFFFF"/>
                </a:solidFill>
                <a:latin typeface="맑은 고딕"/>
              </a:rPr>
              <a:t>.6</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SYSAUX 용량 관리</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nchor="t">
            <a:spAutoFit/>
          </a:bodyPr>
          <a:lstStyle/>
          <a:p>
            <a:pPr algn="l"/>
            <a:r>
              <a:rPr sz="1600" b="0">
                <a:solidFill>
                  <a:srgbClr val="FFFFFF"/>
                </a:solidFill>
                <a:latin typeface="맑은 고딕"/>
              </a:rPr>
              <a:t>•  AWR = 기본 SYSAUX 저장</a:t>
            </a:r>
          </a:p>
          <a:p>
            <a:pPr algn="l"/>
            <a:r>
              <a:rPr sz="1600" b="0">
                <a:solidFill>
                  <a:srgbClr val="FFFFFF"/>
                </a:solidFill>
                <a:latin typeface="맑은 고딕"/>
              </a:rPr>
              <a:t>•  V$SYSAUX_OCCUPANTS의 SM/AWR</a:t>
            </a:r>
          </a:p>
          <a:p>
            <a:pPr algn="l"/>
            <a:r>
              <a:rPr sz="1600" b="0">
                <a:solidFill>
                  <a:srgbClr val="FFFFFF"/>
                </a:solidFill>
                <a:latin typeface="맑은 고딕"/>
              </a:rPr>
              <a:t>•  실측 281.9MB (전형적 200~300MB)</a:t>
            </a:r>
          </a:p>
          <a:p>
            <a:pPr algn="l"/>
            <a:r>
              <a:rPr sz="1600" b="0">
                <a:solidFill>
                  <a:srgbClr val="FFFFFF"/>
                </a:solidFill>
                <a:latin typeface="맑은 고딕"/>
              </a:rPr>
              <a:t>•  주기↑·보존↓·DROP_SNAPSHOT_RANGE</a:t>
            </a:r>
          </a:p>
        </p:txBody>
      </p:sp>
    </p:spTree>
    <p:extLst>
      <p:ext uri="{BB962C8B-B14F-4D97-AF65-F5344CB8AC3E}">
        <p14:creationId xmlns:p14="http://schemas.microsoft.com/office/powerpoint/2010/main" val="972370961"/>
      </p:ext>
    </p:extLst>
  </p:cSld>
  <p:clrMapOvr>
    <a:masterClrMapping/>
  </p:clrMapOvr>
</p:sld>
</file>

<file path=ppt/slides/slide8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점유 확인</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V$SYSAUX_OCCUPANTS (실측)</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tlCol="0" anchor="ctr"/>
          <a:lstStyle/>
          <a:p>
            <a:pPr>
              <a:spcBef>
                <a:spcPts val="0"/>
              </a:spcBef>
              <a:spcAft>
                <a:spcPts val="0"/>
              </a:spcAft>
            </a:pPr>
            <a:r>
              <a:rPr sz="1250" dirty="0" err="1">
                <a:solidFill>
                  <a:srgbClr val="F2F2F2"/>
                </a:solidFill>
                <a:latin typeface="Consolas"/>
              </a:rPr>
              <a:t>SYS@orcl</a:t>
            </a:r>
            <a:r>
              <a:rPr sz="1250" dirty="0">
                <a:solidFill>
                  <a:srgbClr val="F2F2F2"/>
                </a:solidFill>
                <a:latin typeface="Consolas"/>
              </a:rPr>
              <a:t>&gt; SELECT </a:t>
            </a:r>
            <a:r>
              <a:rPr sz="1250" dirty="0" err="1">
                <a:solidFill>
                  <a:srgbClr val="F2F2F2"/>
                </a:solidFill>
                <a:latin typeface="Consolas"/>
              </a:rPr>
              <a:t>occupant_name</a:t>
            </a:r>
            <a:r>
              <a:rPr sz="1250" dirty="0">
                <a:solidFill>
                  <a:srgbClr val="F2F2F2"/>
                </a:solidFill>
                <a:latin typeface="Consolas"/>
              </a:rPr>
              <a:t>,</a:t>
            </a:r>
          </a:p>
          <a:p>
            <a:pPr>
              <a:spcBef>
                <a:spcPts val="0"/>
              </a:spcBef>
              <a:spcAft>
                <a:spcPts val="0"/>
              </a:spcAft>
            </a:pPr>
            <a:r>
              <a:rPr sz="1250" dirty="0">
                <a:solidFill>
                  <a:srgbClr val="F2F2F2"/>
                </a:solidFill>
                <a:latin typeface="Consolas"/>
              </a:rPr>
              <a:t>  2         ROUND(</a:t>
            </a:r>
            <a:r>
              <a:rPr sz="1250" dirty="0" err="1">
                <a:solidFill>
                  <a:srgbClr val="F2F2F2"/>
                </a:solidFill>
                <a:latin typeface="Consolas"/>
              </a:rPr>
              <a:t>space_usage_kbytes</a:t>
            </a:r>
            <a:r>
              <a:rPr sz="1250" dirty="0">
                <a:solidFill>
                  <a:srgbClr val="F2F2F2"/>
                </a:solidFill>
                <a:latin typeface="Consolas"/>
              </a:rPr>
              <a:t>/1024,1) mb</a:t>
            </a:r>
          </a:p>
          <a:p>
            <a:pPr>
              <a:spcBef>
                <a:spcPts val="0"/>
              </a:spcBef>
              <a:spcAft>
                <a:spcPts val="0"/>
              </a:spcAft>
            </a:pPr>
            <a:r>
              <a:rPr sz="1250" dirty="0">
                <a:solidFill>
                  <a:srgbClr val="F2F2F2"/>
                </a:solidFill>
                <a:latin typeface="Consolas"/>
              </a:rPr>
              <a:t>  3       FROM </a:t>
            </a:r>
            <a:r>
              <a:rPr sz="1250" dirty="0" err="1">
                <a:solidFill>
                  <a:srgbClr val="F2F2F2"/>
                </a:solidFill>
                <a:latin typeface="Consolas"/>
              </a:rPr>
              <a:t>v$sysaux_occupants</a:t>
            </a:r>
            <a:endParaRPr sz="1250" dirty="0">
              <a:solidFill>
                <a:srgbClr val="F2F2F2"/>
              </a:solidFill>
              <a:latin typeface="Consolas"/>
            </a:endParaRPr>
          </a:p>
          <a:p>
            <a:pPr>
              <a:spcBef>
                <a:spcPts val="0"/>
              </a:spcBef>
              <a:spcAft>
                <a:spcPts val="0"/>
              </a:spcAft>
            </a:pPr>
            <a:r>
              <a:rPr sz="1250" dirty="0">
                <a:solidFill>
                  <a:srgbClr val="F2F2F2"/>
                </a:solidFill>
                <a:latin typeface="Consolas"/>
              </a:rPr>
              <a:t>  4       WHERE </a:t>
            </a:r>
            <a:r>
              <a:rPr sz="1250" dirty="0" err="1">
                <a:solidFill>
                  <a:srgbClr val="F2F2F2"/>
                </a:solidFill>
                <a:latin typeface="Consolas"/>
              </a:rPr>
              <a:t>occupant_name</a:t>
            </a:r>
            <a:r>
              <a:rPr sz="1250" dirty="0">
                <a:solidFill>
                  <a:srgbClr val="F2F2F2"/>
                </a:solidFill>
                <a:latin typeface="Consolas"/>
              </a:rPr>
              <a:t> = 'SM/AWR';</a:t>
            </a:r>
          </a:p>
          <a:p>
            <a:pPr>
              <a:spcBef>
                <a:spcPts val="0"/>
              </a:spcBef>
              <a:spcAft>
                <a:spcPts val="0"/>
              </a:spcAft>
            </a:pPr>
            <a:r>
              <a:rPr sz="1250" dirty="0">
                <a:solidFill>
                  <a:srgbClr val="F2F2F2"/>
                </a:solidFill>
                <a:latin typeface="Consolas"/>
              </a:rPr>
              <a:t> </a:t>
            </a:r>
          </a:p>
          <a:p>
            <a:pPr>
              <a:spcBef>
                <a:spcPts val="0"/>
              </a:spcBef>
              <a:spcAft>
                <a:spcPts val="0"/>
              </a:spcAft>
            </a:pPr>
            <a:r>
              <a:rPr sz="1250" dirty="0">
                <a:solidFill>
                  <a:srgbClr val="F2F2F2"/>
                </a:solidFill>
                <a:latin typeface="Consolas"/>
              </a:rPr>
              <a:t>OCCUPANT_NAME          MB</a:t>
            </a:r>
          </a:p>
          <a:p>
            <a:pPr>
              <a:spcBef>
                <a:spcPts val="0"/>
              </a:spcBef>
              <a:spcAft>
                <a:spcPts val="0"/>
              </a:spcAft>
            </a:pPr>
            <a:r>
              <a:rPr sz="1250" dirty="0">
                <a:solidFill>
                  <a:srgbClr val="F2F2F2"/>
                </a:solidFill>
                <a:latin typeface="Consolas"/>
              </a:rPr>
              <a:t>---------------- ----------</a:t>
            </a:r>
          </a:p>
          <a:p>
            <a:pPr>
              <a:spcBef>
                <a:spcPts val="0"/>
              </a:spcBef>
              <a:spcAft>
                <a:spcPts val="0"/>
              </a:spcAft>
            </a:pPr>
            <a:r>
              <a:rPr sz="1250" dirty="0">
                <a:solidFill>
                  <a:srgbClr val="F2F2F2"/>
                </a:solidFill>
                <a:latin typeface="Consolas"/>
              </a:rPr>
              <a:t>SM/AWR              281.9</a:t>
            </a:r>
          </a:p>
          <a:p>
            <a:pPr>
              <a:spcBef>
                <a:spcPts val="0"/>
              </a:spcBef>
              <a:spcAft>
                <a:spcPts val="0"/>
              </a:spcAft>
            </a:pPr>
            <a:r>
              <a:rPr sz="1250" dirty="0">
                <a:solidFill>
                  <a:srgbClr val="F2F2F2"/>
                </a:solidFill>
                <a:latin typeface="Consolas"/>
              </a:rPr>
              <a:t> </a:t>
            </a:r>
          </a:p>
          <a:p>
            <a:pPr>
              <a:spcBef>
                <a:spcPts val="0"/>
              </a:spcBef>
              <a:spcAft>
                <a:spcPts val="0"/>
              </a:spcAft>
            </a:pPr>
            <a:r>
              <a:rPr sz="1250" dirty="0">
                <a:solidFill>
                  <a:srgbClr val="F2F2F2"/>
                </a:solidFill>
                <a:latin typeface="Consolas"/>
              </a:rPr>
              <a:t>-- </a:t>
            </a:r>
            <a:r>
              <a:rPr sz="1250" dirty="0" err="1">
                <a:solidFill>
                  <a:srgbClr val="F2F2F2"/>
                </a:solidFill>
                <a:latin typeface="Consolas"/>
              </a:rPr>
              <a:t>오라클</a:t>
            </a:r>
            <a:r>
              <a:rPr sz="1250" dirty="0">
                <a:solidFill>
                  <a:srgbClr val="F2F2F2"/>
                </a:solidFill>
                <a:latin typeface="Consolas"/>
              </a:rPr>
              <a:t> </a:t>
            </a:r>
            <a:r>
              <a:rPr sz="1250" dirty="0" err="1">
                <a:solidFill>
                  <a:srgbClr val="F2F2F2"/>
                </a:solidFill>
                <a:latin typeface="Consolas"/>
              </a:rPr>
              <a:t>기준</a:t>
            </a:r>
            <a:r>
              <a:rPr sz="1250" dirty="0">
                <a:solidFill>
                  <a:srgbClr val="F2F2F2"/>
                </a:solidFill>
                <a:latin typeface="Consolas"/>
              </a:rPr>
              <a:t>: </a:t>
            </a:r>
            <a:r>
              <a:rPr sz="1250" dirty="0" err="1">
                <a:solidFill>
                  <a:srgbClr val="F2F2F2"/>
                </a:solidFill>
                <a:latin typeface="Consolas"/>
              </a:rPr>
              <a:t>평균</a:t>
            </a:r>
            <a:r>
              <a:rPr sz="1250" dirty="0">
                <a:solidFill>
                  <a:srgbClr val="F2F2F2"/>
                </a:solidFill>
                <a:latin typeface="Consolas"/>
              </a:rPr>
              <a:t> 10 </a:t>
            </a:r>
            <a:r>
              <a:rPr sz="1250" dirty="0" err="1">
                <a:solidFill>
                  <a:srgbClr val="F2F2F2"/>
                </a:solidFill>
                <a:latin typeface="Consolas"/>
              </a:rPr>
              <a:t>활성세션</a:t>
            </a:r>
            <a:r>
              <a:rPr sz="1250" dirty="0">
                <a:solidFill>
                  <a:srgbClr val="F2F2F2"/>
                </a:solidFill>
                <a:latin typeface="Consolas"/>
              </a:rPr>
              <a:t> </a:t>
            </a:r>
            <a:r>
              <a:rPr sz="1250" dirty="0" err="1">
                <a:solidFill>
                  <a:srgbClr val="F2F2F2"/>
                </a:solidFill>
                <a:latin typeface="Consolas"/>
              </a:rPr>
              <a:t>시스템</a:t>
            </a:r>
            <a:r>
              <a:rPr sz="1250" dirty="0">
                <a:solidFill>
                  <a:srgbClr val="F2F2F2"/>
                </a:solidFill>
                <a:latin typeface="Consolas"/>
              </a:rPr>
              <a:t> ≈ 200~300MB</a:t>
            </a:r>
          </a:p>
          <a:p>
            <a:pPr>
              <a:spcBef>
                <a:spcPts val="0"/>
              </a:spcBef>
              <a:spcAft>
                <a:spcPts val="0"/>
              </a:spcAft>
            </a:pPr>
            <a:r>
              <a:rPr sz="1250" dirty="0">
                <a:solidFill>
                  <a:srgbClr val="F2F2F2"/>
                </a:solidFill>
                <a:latin typeface="Consolas"/>
              </a:rPr>
              <a:t>-- 281.9MB = </a:t>
            </a:r>
            <a:r>
              <a:rPr sz="1250" dirty="0" err="1">
                <a:solidFill>
                  <a:srgbClr val="F2F2F2"/>
                </a:solidFill>
                <a:latin typeface="Consolas"/>
              </a:rPr>
              <a:t>전형적</a:t>
            </a:r>
            <a:r>
              <a:rPr sz="1250" dirty="0">
                <a:solidFill>
                  <a:srgbClr val="F2F2F2"/>
                </a:solidFill>
                <a:latin typeface="Consolas"/>
              </a:rPr>
              <a:t> </a:t>
            </a:r>
            <a:r>
              <a:rPr sz="1250" dirty="0" err="1">
                <a:solidFill>
                  <a:srgbClr val="F2F2F2"/>
                </a:solidFill>
                <a:latin typeface="Consolas"/>
              </a:rPr>
              <a:t>범위</a:t>
            </a:r>
            <a:r>
              <a:rPr sz="1250" dirty="0">
                <a:solidFill>
                  <a:srgbClr val="F2F2F2"/>
                </a:solidFill>
                <a:latin typeface="Consolas"/>
              </a:rPr>
              <a:t> 안</a:t>
            </a:r>
          </a:p>
        </p:txBody>
      </p:sp>
    </p:spTree>
    <p:extLst>
      <p:ext uri="{BB962C8B-B14F-4D97-AF65-F5344CB8AC3E}">
        <p14:creationId xmlns:p14="http://schemas.microsoft.com/office/powerpoint/2010/main" val="4289752095"/>
      </p:ext>
    </p:extLst>
  </p:cSld>
  <p:clrMapOvr>
    <a:masterClrMapping/>
  </p:clrMapOvr>
</p:sld>
</file>

<file path=ppt/slides/slide8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공간을 줄이는 두 축과 수동 정리</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DROP_SNAPSHOT_RANGE</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600"/>
              </a:spcAft>
            </a:pPr>
            <a:r>
              <a:rPr sz="1700" b="0">
                <a:solidFill>
                  <a:srgbClr val="222222"/>
                </a:solidFill>
                <a:latin typeface="맑은 고딕"/>
              </a:rPr>
              <a:t>•  정공법1: 주기를 늘린다(덜 자주 찍는다)</a:t>
            </a:r>
          </a:p>
          <a:p>
            <a:pPr algn="l">
              <a:spcAft>
                <a:spcPts val="600"/>
              </a:spcAft>
            </a:pPr>
            <a:r>
              <a:rPr sz="1700" b="0">
                <a:solidFill>
                  <a:srgbClr val="222222"/>
                </a:solidFill>
                <a:latin typeface="맑은 고딕"/>
              </a:rPr>
              <a:t>•  정공법2: 보존을 줄인다(덜 오래 남긴다) — 정확도 주의</a:t>
            </a:r>
          </a:p>
          <a:p>
            <a:pPr algn="l">
              <a:spcAft>
                <a:spcPts val="600"/>
              </a:spcAft>
            </a:pPr>
            <a:r>
              <a:rPr sz="1700" b="0">
                <a:solidFill>
                  <a:srgbClr val="222222"/>
                </a:solidFill>
                <a:latin typeface="맑은 고딕"/>
              </a:rPr>
              <a:t>•  급히 회수: DROP_SNAPSHOT_RANGE(low, high)</a:t>
            </a:r>
          </a:p>
          <a:p>
            <a:pPr algn="l">
              <a:spcAft>
                <a:spcPts val="600"/>
              </a:spcAft>
            </a:pPr>
            <a:r>
              <a:rPr sz="1700" b="0">
                <a:solidFill>
                  <a:srgbClr val="222222"/>
                </a:solidFill>
                <a:latin typeface="맑은 고딕"/>
              </a:rPr>
              <a:t>•  단, 베이스라인에 묶인 스냅샷은 이 방법으로도 안 지워짐</a:t>
            </a:r>
          </a:p>
          <a:p>
            <a:pPr algn="l">
              <a:spcAft>
                <a:spcPts val="600"/>
              </a:spcAft>
            </a:pPr>
            <a:r>
              <a:rPr sz="1700" b="0">
                <a:solidFill>
                  <a:srgbClr val="222222"/>
                </a:solidFill>
                <a:latin typeface="맑은 고딕"/>
              </a:rPr>
              <a:t>•  자동 퍼지에 맡겨도 보존 지나면 정리됨 → 수동은 응급 수단</a:t>
            </a:r>
          </a:p>
        </p:txBody>
      </p:sp>
    </p:spTree>
    <p:extLst>
      <p:ext uri="{BB962C8B-B14F-4D97-AF65-F5344CB8AC3E}">
        <p14:creationId xmlns:p14="http://schemas.microsoft.com/office/powerpoint/2010/main" val="1484778028"/>
      </p:ext>
    </p:extLst>
  </p:cSld>
  <p:clrMapOvr>
    <a:masterClrMapping/>
  </p:clrMapOvr>
</p:sld>
</file>

<file path=ppt/slides/slide8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SM/AWR이 유난히 커졌다면</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원인을 순서대로 좁힌다</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600"/>
              </a:spcAft>
            </a:pPr>
            <a:r>
              <a:rPr sz="1700" b="0">
                <a:solidFill>
                  <a:srgbClr val="222222"/>
                </a:solidFill>
                <a:latin typeface="맑은 고딕"/>
              </a:rPr>
              <a:t>•  ① 주기가 짧아졌는가 (60분 → 10분이면 6배)</a:t>
            </a:r>
          </a:p>
          <a:p>
            <a:pPr algn="l">
              <a:spcAft>
                <a:spcPts val="600"/>
              </a:spcAft>
            </a:pPr>
            <a:r>
              <a:rPr sz="1700" b="0">
                <a:solidFill>
                  <a:srgbClr val="222222"/>
                </a:solidFill>
                <a:latin typeface="맑은 고딕"/>
              </a:rPr>
              <a:t>•  ② 보존이 길어졌는가 (8일 → 60일)</a:t>
            </a:r>
          </a:p>
          <a:p>
            <a:pPr algn="l">
              <a:spcAft>
                <a:spcPts val="600"/>
              </a:spcAft>
            </a:pPr>
            <a:r>
              <a:rPr sz="1700" b="0">
                <a:solidFill>
                  <a:srgbClr val="222222"/>
                </a:solidFill>
                <a:latin typeface="맑은 고딕"/>
              </a:rPr>
              <a:t>•  ③ topnsql이 MAXIMUM 등 큰 값인가</a:t>
            </a:r>
          </a:p>
          <a:p>
            <a:pPr algn="l">
              <a:spcAft>
                <a:spcPts val="600"/>
              </a:spcAft>
            </a:pPr>
            <a:r>
              <a:rPr sz="1700" b="0">
                <a:solidFill>
                  <a:srgbClr val="222222"/>
                </a:solidFill>
                <a:latin typeface="맑은 고딕"/>
              </a:rPr>
              <a:t>•  ④ 활성 세션이 많은 바쁜 시스템인가</a:t>
            </a:r>
          </a:p>
          <a:p>
            <a:pPr algn="l">
              <a:spcAft>
                <a:spcPts val="600"/>
              </a:spcAft>
            </a:pPr>
            <a:r>
              <a:rPr sz="1700" b="0">
                <a:solidFill>
                  <a:srgbClr val="222222"/>
                </a:solidFill>
                <a:latin typeface="맑은 고딕"/>
              </a:rPr>
              <a:t>•  DBA_HIST_WR_CONTROL과 실제 설정으로 확인</a:t>
            </a:r>
          </a:p>
        </p:txBody>
      </p:sp>
    </p:spTree>
    <p:extLst>
      <p:ext uri="{BB962C8B-B14F-4D97-AF65-F5344CB8AC3E}">
        <p14:creationId xmlns:p14="http://schemas.microsoft.com/office/powerpoint/2010/main" val="1538732242"/>
      </p:ext>
    </p:extLst>
  </p:cSld>
  <p:clrMapOvr>
    <a:masterClrMapping/>
  </p:clrMapOvr>
</p:sld>
</file>

<file path=ppt/slides/slide8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707886"/>
          </a:xfrm>
          <a:prstGeom prst="rect">
            <a:avLst/>
          </a:prstGeom>
          <a:noFill/>
        </p:spPr>
        <p:txBody>
          <a:bodyPr wrap="square" anchor="t">
            <a:spAutoFit/>
          </a:bodyPr>
          <a:lstStyle/>
          <a:p>
            <a:pPr algn="l"/>
            <a:r>
              <a:rPr lang="en-US" sz="4000" b="1" dirty="0">
                <a:solidFill>
                  <a:srgbClr val="FFFFFF"/>
                </a:solidFill>
                <a:latin typeface="맑은 고딕"/>
              </a:rPr>
              <a:t>20</a:t>
            </a:r>
            <a:r>
              <a:rPr sz="4000" b="1" dirty="0">
                <a:solidFill>
                  <a:srgbClr val="FFFFFF"/>
                </a:solidFill>
                <a:latin typeface="맑은 고딕"/>
              </a:rPr>
              <a:t>.7</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보존 초과와 데이터 소실</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nchor="t">
            <a:spAutoFit/>
          </a:bodyPr>
          <a:lstStyle/>
          <a:p>
            <a:pPr algn="l"/>
            <a:r>
              <a:rPr sz="1600" b="0">
                <a:solidFill>
                  <a:srgbClr val="FFFFFF"/>
                </a:solidFill>
                <a:latin typeface="맑은 고딕"/>
              </a:rPr>
              <a:t>•  8일 지난 스냅샷은 자동 퍼지</a:t>
            </a:r>
          </a:p>
          <a:p>
            <a:pPr algn="l"/>
            <a:r>
              <a:rPr sz="1600" b="0">
                <a:solidFill>
                  <a:srgbClr val="FFFFFF"/>
                </a:solidFill>
                <a:latin typeface="맑은 고딕"/>
              </a:rPr>
              <a:t>•  사고 조사가 늦으면 원본 소실</a:t>
            </a:r>
          </a:p>
          <a:p>
            <a:pPr algn="l"/>
            <a:r>
              <a:rPr sz="1600" b="0">
                <a:solidFill>
                  <a:srgbClr val="FFFFFF"/>
                </a:solidFill>
                <a:latin typeface="맑은 고딕"/>
              </a:rPr>
              <a:t>•  조사 전에 사고 구간을 베이스라인으로</a:t>
            </a:r>
          </a:p>
          <a:p>
            <a:pPr algn="l"/>
            <a:r>
              <a:rPr sz="1600" b="0">
                <a:solidFill>
                  <a:srgbClr val="FFFFFF"/>
                </a:solidFill>
                <a:latin typeface="맑은 고딕"/>
              </a:rPr>
              <a:t>•  Common Error를 막는 0번 단계</a:t>
            </a:r>
          </a:p>
        </p:txBody>
      </p:sp>
    </p:spTree>
    <p:extLst>
      <p:ext uri="{BB962C8B-B14F-4D97-AF65-F5344CB8AC3E}">
        <p14:creationId xmlns:p14="http://schemas.microsoft.com/office/powerpoint/2010/main" val="762340267"/>
      </p:ext>
    </p:extLst>
  </p:cSld>
  <p:clrMapOvr>
    <a:masterClrMapping/>
  </p:clrMapOvr>
</p:sld>
</file>

<file path=ppt/slides/slide8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사고 구간을 즉시 보호하라</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조사 전에 얼려 둔다</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tlCol="0" anchor="ctr"/>
          <a:lstStyle/>
          <a:p>
            <a:pPr>
              <a:spcBef>
                <a:spcPts val="0"/>
              </a:spcBef>
              <a:spcAft>
                <a:spcPts val="0"/>
              </a:spcAft>
            </a:pPr>
            <a:r>
              <a:rPr sz="1250" dirty="0">
                <a:solidFill>
                  <a:srgbClr val="F2F2F2"/>
                </a:solidFill>
                <a:latin typeface="Consolas"/>
              </a:rPr>
              <a:t>-- (</a:t>
            </a:r>
            <a:r>
              <a:rPr sz="1250" dirty="0" err="1">
                <a:solidFill>
                  <a:srgbClr val="F2F2F2"/>
                </a:solidFill>
                <a:latin typeface="Consolas"/>
              </a:rPr>
              <a:t>사고</a:t>
            </a:r>
            <a:r>
              <a:rPr sz="1250" dirty="0">
                <a:solidFill>
                  <a:srgbClr val="F2F2F2"/>
                </a:solidFill>
                <a:latin typeface="Consolas"/>
              </a:rPr>
              <a:t> </a:t>
            </a:r>
            <a:r>
              <a:rPr sz="1250" dirty="0" err="1">
                <a:solidFill>
                  <a:srgbClr val="F2F2F2"/>
                </a:solidFill>
                <a:latin typeface="Consolas"/>
              </a:rPr>
              <a:t>인지</a:t>
            </a:r>
            <a:r>
              <a:rPr sz="1250" dirty="0">
                <a:solidFill>
                  <a:srgbClr val="F2F2F2"/>
                </a:solidFill>
                <a:latin typeface="Consolas"/>
              </a:rPr>
              <a:t> </a:t>
            </a:r>
            <a:r>
              <a:rPr sz="1250" dirty="0" err="1">
                <a:solidFill>
                  <a:srgbClr val="F2F2F2"/>
                </a:solidFill>
                <a:latin typeface="Consolas"/>
              </a:rPr>
              <a:t>직후</a:t>
            </a:r>
            <a:r>
              <a:rPr sz="1250" dirty="0">
                <a:solidFill>
                  <a:srgbClr val="F2F2F2"/>
                </a:solidFill>
                <a:latin typeface="Consolas"/>
              </a:rPr>
              <a:t>) </a:t>
            </a:r>
            <a:r>
              <a:rPr sz="1250" dirty="0" err="1">
                <a:solidFill>
                  <a:srgbClr val="F2F2F2"/>
                </a:solidFill>
                <a:latin typeface="Consolas"/>
              </a:rPr>
              <a:t>사고</a:t>
            </a:r>
            <a:r>
              <a:rPr sz="1250" dirty="0">
                <a:solidFill>
                  <a:srgbClr val="F2F2F2"/>
                </a:solidFill>
                <a:latin typeface="Consolas"/>
              </a:rPr>
              <a:t> </a:t>
            </a:r>
            <a:r>
              <a:rPr sz="1250" dirty="0" err="1">
                <a:solidFill>
                  <a:srgbClr val="F2F2F2"/>
                </a:solidFill>
                <a:latin typeface="Consolas"/>
              </a:rPr>
              <a:t>시각을</a:t>
            </a:r>
            <a:r>
              <a:rPr sz="1250" dirty="0">
                <a:solidFill>
                  <a:srgbClr val="F2F2F2"/>
                </a:solidFill>
                <a:latin typeface="Consolas"/>
              </a:rPr>
              <a:t> </a:t>
            </a:r>
            <a:r>
              <a:rPr sz="1250" dirty="0" err="1">
                <a:solidFill>
                  <a:srgbClr val="F2F2F2"/>
                </a:solidFill>
                <a:latin typeface="Consolas"/>
              </a:rPr>
              <a:t>포함하는</a:t>
            </a:r>
            <a:r>
              <a:rPr sz="1250" dirty="0">
                <a:solidFill>
                  <a:srgbClr val="F2F2F2"/>
                </a:solidFill>
                <a:latin typeface="Consolas"/>
              </a:rPr>
              <a:t> </a:t>
            </a:r>
            <a:r>
              <a:rPr sz="1250" dirty="0" err="1">
                <a:solidFill>
                  <a:srgbClr val="F2F2F2"/>
                </a:solidFill>
                <a:latin typeface="Consolas"/>
              </a:rPr>
              <a:t>구간을</a:t>
            </a:r>
            <a:r>
              <a:rPr sz="1250" dirty="0">
                <a:solidFill>
                  <a:srgbClr val="F2F2F2"/>
                </a:solidFill>
                <a:latin typeface="Consolas"/>
              </a:rPr>
              <a:t> </a:t>
            </a:r>
            <a:r>
              <a:rPr sz="1250" dirty="0" err="1">
                <a:solidFill>
                  <a:srgbClr val="F2F2F2"/>
                </a:solidFill>
                <a:latin typeface="Consolas"/>
              </a:rPr>
              <a:t>찾는다</a:t>
            </a:r>
            <a:endParaRPr sz="1250" dirty="0">
              <a:solidFill>
                <a:srgbClr val="F2F2F2"/>
              </a:solidFill>
              <a:latin typeface="Consolas"/>
            </a:endParaRPr>
          </a:p>
          <a:p>
            <a:pPr>
              <a:spcBef>
                <a:spcPts val="0"/>
              </a:spcBef>
              <a:spcAft>
                <a:spcPts val="0"/>
              </a:spcAft>
            </a:pPr>
            <a:r>
              <a:rPr sz="1250" dirty="0" err="1">
                <a:solidFill>
                  <a:srgbClr val="F2F2F2"/>
                </a:solidFill>
                <a:latin typeface="Consolas"/>
              </a:rPr>
              <a:t>SYS@orcl</a:t>
            </a:r>
            <a:r>
              <a:rPr sz="1250" dirty="0">
                <a:solidFill>
                  <a:srgbClr val="F2F2F2"/>
                </a:solidFill>
                <a:latin typeface="Consolas"/>
              </a:rPr>
              <a:t>&gt; SELECT </a:t>
            </a:r>
            <a:r>
              <a:rPr sz="1250" dirty="0" err="1">
                <a:solidFill>
                  <a:srgbClr val="F2F2F2"/>
                </a:solidFill>
                <a:latin typeface="Consolas"/>
              </a:rPr>
              <a:t>snap_id</a:t>
            </a:r>
            <a:r>
              <a:rPr sz="1250" dirty="0">
                <a:solidFill>
                  <a:srgbClr val="F2F2F2"/>
                </a:solidFill>
                <a:latin typeface="Consolas"/>
              </a:rPr>
              <a:t>, TO_CHAR(</a:t>
            </a:r>
            <a:r>
              <a:rPr sz="1250" dirty="0" err="1">
                <a:solidFill>
                  <a:srgbClr val="F2F2F2"/>
                </a:solidFill>
                <a:latin typeface="Consolas"/>
              </a:rPr>
              <a:t>end_interval_time,'MM</a:t>
            </a:r>
            <a:r>
              <a:rPr sz="1250" dirty="0">
                <a:solidFill>
                  <a:srgbClr val="F2F2F2"/>
                </a:solidFill>
                <a:latin typeface="Consolas"/>
              </a:rPr>
              <a:t>-DD HH24:MI')</a:t>
            </a:r>
          </a:p>
          <a:p>
            <a:pPr>
              <a:spcBef>
                <a:spcPts val="0"/>
              </a:spcBef>
              <a:spcAft>
                <a:spcPts val="0"/>
              </a:spcAft>
            </a:pPr>
            <a:r>
              <a:rPr sz="1250" dirty="0">
                <a:solidFill>
                  <a:srgbClr val="F2F2F2"/>
                </a:solidFill>
                <a:latin typeface="Consolas"/>
              </a:rPr>
              <a:t>  2       FROM </a:t>
            </a:r>
            <a:r>
              <a:rPr sz="1250" dirty="0" err="1">
                <a:solidFill>
                  <a:srgbClr val="F2F2F2"/>
                </a:solidFill>
                <a:latin typeface="Consolas"/>
              </a:rPr>
              <a:t>dba_hist_snapshot</a:t>
            </a:r>
            <a:endParaRPr sz="1250" dirty="0">
              <a:solidFill>
                <a:srgbClr val="F2F2F2"/>
              </a:solidFill>
              <a:latin typeface="Consolas"/>
            </a:endParaRPr>
          </a:p>
          <a:p>
            <a:pPr>
              <a:spcBef>
                <a:spcPts val="0"/>
              </a:spcBef>
              <a:spcAft>
                <a:spcPts val="0"/>
              </a:spcAft>
            </a:pPr>
            <a:r>
              <a:rPr sz="1250" dirty="0">
                <a:solidFill>
                  <a:srgbClr val="F2F2F2"/>
                </a:solidFill>
                <a:latin typeface="Consolas"/>
              </a:rPr>
              <a:t>  3       WHERE </a:t>
            </a:r>
            <a:r>
              <a:rPr sz="1250" dirty="0" err="1">
                <a:solidFill>
                  <a:srgbClr val="F2F2F2"/>
                </a:solidFill>
                <a:latin typeface="Consolas"/>
              </a:rPr>
              <a:t>end_interval_time</a:t>
            </a:r>
            <a:r>
              <a:rPr sz="1250" dirty="0">
                <a:solidFill>
                  <a:srgbClr val="F2F2F2"/>
                </a:solidFill>
                <a:latin typeface="Consolas"/>
              </a:rPr>
              <a:t> BETWEEN :t1 AND :t2</a:t>
            </a:r>
          </a:p>
          <a:p>
            <a:pPr>
              <a:spcBef>
                <a:spcPts val="0"/>
              </a:spcBef>
              <a:spcAft>
                <a:spcPts val="0"/>
              </a:spcAft>
            </a:pPr>
            <a:r>
              <a:rPr sz="1250" dirty="0">
                <a:solidFill>
                  <a:srgbClr val="F2F2F2"/>
                </a:solidFill>
                <a:latin typeface="Consolas"/>
              </a:rPr>
              <a:t>  4       ORDER BY </a:t>
            </a:r>
            <a:r>
              <a:rPr sz="1250" dirty="0" err="1">
                <a:solidFill>
                  <a:srgbClr val="F2F2F2"/>
                </a:solidFill>
                <a:latin typeface="Consolas"/>
              </a:rPr>
              <a:t>snap_id</a:t>
            </a:r>
            <a:r>
              <a:rPr sz="1250" dirty="0">
                <a:solidFill>
                  <a:srgbClr val="F2F2F2"/>
                </a:solidFill>
                <a:latin typeface="Consolas"/>
              </a:rPr>
              <a:t>;   --&gt;  295, 296</a:t>
            </a:r>
          </a:p>
          <a:p>
            <a:pPr>
              <a:spcBef>
                <a:spcPts val="0"/>
              </a:spcBef>
              <a:spcAft>
                <a:spcPts val="0"/>
              </a:spcAft>
            </a:pPr>
            <a:r>
              <a:rPr sz="1250" dirty="0">
                <a:solidFill>
                  <a:srgbClr val="F2F2F2"/>
                </a:solidFill>
                <a:latin typeface="Consolas"/>
              </a:rPr>
              <a:t> </a:t>
            </a:r>
          </a:p>
          <a:p>
            <a:pPr>
              <a:spcBef>
                <a:spcPts val="0"/>
              </a:spcBef>
              <a:spcAft>
                <a:spcPts val="0"/>
              </a:spcAft>
            </a:pPr>
            <a:r>
              <a:rPr sz="1250" dirty="0">
                <a:solidFill>
                  <a:srgbClr val="F2F2F2"/>
                </a:solidFill>
                <a:latin typeface="Consolas"/>
              </a:rPr>
              <a:t>-- 그 </a:t>
            </a:r>
            <a:r>
              <a:rPr sz="1250" dirty="0" err="1">
                <a:solidFill>
                  <a:srgbClr val="F2F2F2"/>
                </a:solidFill>
                <a:latin typeface="Consolas"/>
              </a:rPr>
              <a:t>구간을</a:t>
            </a:r>
            <a:r>
              <a:rPr sz="1250" dirty="0">
                <a:solidFill>
                  <a:srgbClr val="F2F2F2"/>
                </a:solidFill>
                <a:latin typeface="Consolas"/>
              </a:rPr>
              <a:t> </a:t>
            </a:r>
            <a:r>
              <a:rPr sz="1250" dirty="0" err="1">
                <a:solidFill>
                  <a:srgbClr val="F2F2F2"/>
                </a:solidFill>
                <a:latin typeface="Consolas"/>
              </a:rPr>
              <a:t>즉시</a:t>
            </a:r>
            <a:r>
              <a:rPr sz="1250" dirty="0">
                <a:solidFill>
                  <a:srgbClr val="F2F2F2"/>
                </a:solidFill>
                <a:latin typeface="Consolas"/>
              </a:rPr>
              <a:t> </a:t>
            </a:r>
            <a:r>
              <a:rPr sz="1250" dirty="0" err="1">
                <a:solidFill>
                  <a:srgbClr val="F2F2F2"/>
                </a:solidFill>
                <a:latin typeface="Consolas"/>
              </a:rPr>
              <a:t>베이스라인으로</a:t>
            </a:r>
            <a:r>
              <a:rPr sz="1250" dirty="0">
                <a:solidFill>
                  <a:srgbClr val="F2F2F2"/>
                </a:solidFill>
                <a:latin typeface="Consolas"/>
              </a:rPr>
              <a:t> </a:t>
            </a:r>
            <a:r>
              <a:rPr sz="1250" dirty="0" err="1">
                <a:solidFill>
                  <a:srgbClr val="F2F2F2"/>
                </a:solidFill>
                <a:latin typeface="Consolas"/>
              </a:rPr>
              <a:t>보호</a:t>
            </a:r>
            <a:r>
              <a:rPr sz="1250" dirty="0">
                <a:solidFill>
                  <a:srgbClr val="F2F2F2"/>
                </a:solidFill>
                <a:latin typeface="Consolas"/>
              </a:rPr>
              <a:t> (</a:t>
            </a:r>
            <a:r>
              <a:rPr sz="1250" dirty="0" err="1">
                <a:solidFill>
                  <a:srgbClr val="F2F2F2"/>
                </a:solidFill>
                <a:latin typeface="Consolas"/>
              </a:rPr>
              <a:t>조사</a:t>
            </a:r>
            <a:r>
              <a:rPr sz="1250" dirty="0">
                <a:solidFill>
                  <a:srgbClr val="F2F2F2"/>
                </a:solidFill>
                <a:latin typeface="Consolas"/>
              </a:rPr>
              <a:t> </a:t>
            </a:r>
            <a:r>
              <a:rPr sz="1250" dirty="0" err="1">
                <a:solidFill>
                  <a:srgbClr val="F2F2F2"/>
                </a:solidFill>
                <a:latin typeface="Consolas"/>
              </a:rPr>
              <a:t>전에</a:t>
            </a:r>
            <a:r>
              <a:rPr sz="1250" dirty="0">
                <a:solidFill>
                  <a:srgbClr val="F2F2F2"/>
                </a:solidFill>
                <a:latin typeface="Consolas"/>
              </a:rPr>
              <a:t>!)</a:t>
            </a:r>
          </a:p>
          <a:p>
            <a:pPr>
              <a:spcBef>
                <a:spcPts val="0"/>
              </a:spcBef>
              <a:spcAft>
                <a:spcPts val="0"/>
              </a:spcAft>
            </a:pPr>
            <a:r>
              <a:rPr sz="1250" dirty="0" err="1">
                <a:solidFill>
                  <a:srgbClr val="F2F2F2"/>
                </a:solidFill>
                <a:latin typeface="Consolas"/>
              </a:rPr>
              <a:t>SYS@orcl</a:t>
            </a:r>
            <a:r>
              <a:rPr sz="1250" dirty="0">
                <a:solidFill>
                  <a:srgbClr val="F2F2F2"/>
                </a:solidFill>
                <a:latin typeface="Consolas"/>
              </a:rPr>
              <a:t>&gt; EXEC DBMS_WORKLOAD_REPOSITORY.CREATE_BASELINE(</a:t>
            </a:r>
          </a:p>
          <a:p>
            <a:pPr>
              <a:spcBef>
                <a:spcPts val="0"/>
              </a:spcBef>
              <a:spcAft>
                <a:spcPts val="0"/>
              </a:spcAft>
            </a:pPr>
            <a:r>
              <a:rPr sz="1250" dirty="0">
                <a:solidFill>
                  <a:srgbClr val="F2F2F2"/>
                </a:solidFill>
                <a:latin typeface="Consolas"/>
              </a:rPr>
              <a:t>             295, 296, 'INCIDENT_0825');</a:t>
            </a:r>
          </a:p>
        </p:txBody>
      </p:sp>
    </p:spTree>
    <p:extLst>
      <p:ext uri="{BB962C8B-B14F-4D97-AF65-F5344CB8AC3E}">
        <p14:creationId xmlns:p14="http://schemas.microsoft.com/office/powerpoint/2010/main" val="4143781753"/>
      </p:ext>
    </p:extLst>
  </p:cSld>
  <p:clrMapOvr>
    <a:masterClrMapping/>
  </p:clrMapOvr>
</p:sld>
</file>

<file path=ppt/slides/slide8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'어제 데이터가 없다'고 당황하기 전에</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소실은 사고가 아니라 예정된 동작</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600"/>
              </a:spcAft>
            </a:pPr>
            <a:r>
              <a:rPr sz="1700" b="0">
                <a:solidFill>
                  <a:srgbClr val="222222"/>
                </a:solidFill>
                <a:latin typeface="맑은 고딕"/>
              </a:rPr>
              <a:t>•  보존 넘긴 구간은 보고서가 비거나 지정 불가</a:t>
            </a:r>
          </a:p>
          <a:p>
            <a:pPr algn="l">
              <a:spcAft>
                <a:spcPts val="600"/>
              </a:spcAft>
            </a:pPr>
            <a:r>
              <a:rPr sz="1700" b="0">
                <a:solidFill>
                  <a:srgbClr val="222222"/>
                </a:solidFill>
                <a:latin typeface="맑은 고딕"/>
              </a:rPr>
              <a:t>•  확인1: DBA_HIST_WR_CONTROL의 보존 기간</a:t>
            </a:r>
          </a:p>
          <a:p>
            <a:pPr algn="l">
              <a:spcAft>
                <a:spcPts val="600"/>
              </a:spcAft>
            </a:pPr>
            <a:r>
              <a:rPr sz="1700" b="0">
                <a:solidFill>
                  <a:srgbClr val="222222"/>
                </a:solidFill>
                <a:latin typeface="맑은 고딕"/>
              </a:rPr>
              <a:t>•  확인2: DBA_HIST_SNAPSHOT의 가장 오래된 snap_id·시각</a:t>
            </a:r>
          </a:p>
          <a:p>
            <a:pPr algn="l">
              <a:spcAft>
                <a:spcPts val="600"/>
              </a:spcAft>
            </a:pPr>
            <a:r>
              <a:rPr sz="1700" b="0">
                <a:solidFill>
                  <a:srgbClr val="222222"/>
                </a:solidFill>
                <a:latin typeface="맑은 고딕"/>
              </a:rPr>
              <a:t>•  가장 오래된 스냅샷이 사고보다 뒤면 → 이미 퍼지됨</a:t>
            </a:r>
          </a:p>
          <a:p>
            <a:pPr algn="l">
              <a:spcAft>
                <a:spcPts val="600"/>
              </a:spcAft>
            </a:pPr>
            <a:r>
              <a:rPr sz="1700" b="0">
                <a:solidFill>
                  <a:srgbClr val="222222"/>
                </a:solidFill>
                <a:latin typeface="맑은 고딕"/>
              </a:rPr>
              <a:t>•  이해하면 다음부터 베이스라인으로 미리 막게 된다</a:t>
            </a:r>
          </a:p>
        </p:txBody>
      </p:sp>
    </p:spTree>
    <p:extLst>
      <p:ext uri="{BB962C8B-B14F-4D97-AF65-F5344CB8AC3E}">
        <p14:creationId xmlns:p14="http://schemas.microsoft.com/office/powerpoint/2010/main" val="600903108"/>
      </p:ext>
    </p:extLst>
  </p:cSld>
  <p:clrMapOvr>
    <a:masterClrMapping/>
  </p:clrMapOvr>
</p:sld>
</file>

<file path=ppt/slides/slide8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707886"/>
          </a:xfrm>
          <a:prstGeom prst="rect">
            <a:avLst/>
          </a:prstGeom>
          <a:noFill/>
        </p:spPr>
        <p:txBody>
          <a:bodyPr wrap="square" anchor="t">
            <a:spAutoFit/>
          </a:bodyPr>
          <a:lstStyle/>
          <a:p>
            <a:pPr algn="l"/>
            <a:r>
              <a:rPr lang="en-US" sz="4000" b="1" dirty="0">
                <a:solidFill>
                  <a:srgbClr val="FFFFFF"/>
                </a:solidFill>
                <a:latin typeface="맑은 고딕"/>
              </a:rPr>
              <a:t>20</a:t>
            </a:r>
            <a:r>
              <a:rPr sz="4000" b="1" dirty="0">
                <a:solidFill>
                  <a:srgbClr val="FFFFFF"/>
                </a:solidFill>
                <a:latin typeface="맑은 고딕"/>
              </a:rPr>
              <a:t>.8</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Statspack — 무상 대안</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nchor="t">
            <a:spAutoFit/>
          </a:bodyPr>
          <a:lstStyle/>
          <a:p>
            <a:pPr algn="l"/>
            <a:r>
              <a:rPr sz="1600" b="0">
                <a:solidFill>
                  <a:srgbClr val="FFFFFF"/>
                </a:solidFill>
                <a:latin typeface="맑은 고딕"/>
              </a:rPr>
              <a:t>•  🔒 이 장 전체가 Diagnostics Pack</a:t>
            </a:r>
          </a:p>
          <a:p>
            <a:pPr algn="l"/>
            <a:r>
              <a:rPr sz="1600" b="0">
                <a:solidFill>
                  <a:srgbClr val="FFFFFF"/>
                </a:solidFill>
                <a:latin typeface="맑은 고딕"/>
              </a:rPr>
              <a:t>•  라이선스 없으면 Statspack</a:t>
            </a:r>
          </a:p>
          <a:p>
            <a:pPr algn="l"/>
            <a:r>
              <a:rPr sz="1600" b="0">
                <a:solidFill>
                  <a:srgbClr val="FFFFFF"/>
                </a:solidFill>
                <a:latin typeface="맑은 고딕"/>
              </a:rPr>
              <a:t>•  spcreate · STATSPACK.SNAP · spreport</a:t>
            </a:r>
          </a:p>
          <a:p>
            <a:pPr algn="l"/>
            <a:r>
              <a:rPr sz="1600" b="0">
                <a:solidFill>
                  <a:srgbClr val="FFFFFF"/>
                </a:solidFill>
                <a:latin typeface="맑은 고딕"/>
              </a:rPr>
              <a:t>•  AWR과의 차이를 안다</a:t>
            </a:r>
          </a:p>
        </p:txBody>
      </p:sp>
    </p:spTree>
    <p:extLst>
      <p:ext uri="{BB962C8B-B14F-4D97-AF65-F5344CB8AC3E}">
        <p14:creationId xmlns:p14="http://schemas.microsoft.com/office/powerpoint/2010/main" val="1769768141"/>
      </p:ext>
    </p:extLst>
  </p:cSld>
  <p:clrMapOvr>
    <a:masterClrMapping/>
  </p:clrMapOvr>
</p:sld>
</file>

<file path=ppt/slides/slide8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설치·수집·보고</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spcreate.sql / STATSPACK.SNAP / spreport.sql</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tlCol="0" anchor="ctr"/>
          <a:lstStyle/>
          <a:p>
            <a:pPr>
              <a:spcBef>
                <a:spcPts val="0"/>
              </a:spcBef>
              <a:spcAft>
                <a:spcPts val="0"/>
              </a:spcAft>
            </a:pPr>
            <a:r>
              <a:rPr sz="1250" dirty="0" err="1">
                <a:solidFill>
                  <a:srgbClr val="F2F2F2"/>
                </a:solidFill>
                <a:latin typeface="Consolas"/>
              </a:rPr>
              <a:t>SYS@orcl</a:t>
            </a:r>
            <a:r>
              <a:rPr sz="1250" dirty="0">
                <a:solidFill>
                  <a:srgbClr val="F2F2F2"/>
                </a:solidFill>
                <a:latin typeface="Consolas"/>
              </a:rPr>
              <a:t>&gt; @?/rdbms/admin/spcreate.sql   -- PERFSTAT </a:t>
            </a:r>
            <a:r>
              <a:rPr sz="1250" dirty="0" err="1">
                <a:solidFill>
                  <a:srgbClr val="F2F2F2"/>
                </a:solidFill>
                <a:latin typeface="Consolas"/>
              </a:rPr>
              <a:t>설치</a:t>
            </a:r>
            <a:endParaRPr sz="1250" dirty="0">
              <a:solidFill>
                <a:srgbClr val="F2F2F2"/>
              </a:solidFill>
              <a:latin typeface="Consolas"/>
            </a:endParaRPr>
          </a:p>
          <a:p>
            <a:pPr>
              <a:spcBef>
                <a:spcPts val="0"/>
              </a:spcBef>
              <a:spcAft>
                <a:spcPts val="0"/>
              </a:spcAft>
            </a:pPr>
            <a:r>
              <a:rPr sz="1250" dirty="0">
                <a:solidFill>
                  <a:srgbClr val="F2F2F2"/>
                </a:solidFill>
                <a:latin typeface="Consolas"/>
              </a:rPr>
              <a:t> </a:t>
            </a:r>
          </a:p>
          <a:p>
            <a:pPr>
              <a:spcBef>
                <a:spcPts val="0"/>
              </a:spcBef>
              <a:spcAft>
                <a:spcPts val="0"/>
              </a:spcAft>
            </a:pPr>
            <a:r>
              <a:rPr sz="1250" dirty="0" err="1">
                <a:solidFill>
                  <a:srgbClr val="F2F2F2"/>
                </a:solidFill>
                <a:latin typeface="Consolas"/>
              </a:rPr>
              <a:t>PERFSTAT@orcl</a:t>
            </a:r>
            <a:r>
              <a:rPr sz="1250" dirty="0">
                <a:solidFill>
                  <a:srgbClr val="F2F2F2"/>
                </a:solidFill>
                <a:latin typeface="Consolas"/>
              </a:rPr>
              <a:t>&gt; EXEC STATSPACK.SNAP;    -- </a:t>
            </a:r>
            <a:r>
              <a:rPr sz="1250" dirty="0" err="1">
                <a:solidFill>
                  <a:srgbClr val="F2F2F2"/>
                </a:solidFill>
                <a:latin typeface="Consolas"/>
              </a:rPr>
              <a:t>시작</a:t>
            </a:r>
            <a:r>
              <a:rPr sz="1250" dirty="0">
                <a:solidFill>
                  <a:srgbClr val="F2F2F2"/>
                </a:solidFill>
                <a:latin typeface="Consolas"/>
              </a:rPr>
              <a:t> </a:t>
            </a:r>
            <a:r>
              <a:rPr sz="1250" dirty="0" err="1">
                <a:solidFill>
                  <a:srgbClr val="F2F2F2"/>
                </a:solidFill>
                <a:latin typeface="Consolas"/>
              </a:rPr>
              <a:t>스냅샷</a:t>
            </a:r>
            <a:endParaRPr sz="1250" dirty="0">
              <a:solidFill>
                <a:srgbClr val="F2F2F2"/>
              </a:solidFill>
              <a:latin typeface="Consolas"/>
            </a:endParaRPr>
          </a:p>
          <a:p>
            <a:pPr>
              <a:spcBef>
                <a:spcPts val="0"/>
              </a:spcBef>
              <a:spcAft>
                <a:spcPts val="0"/>
              </a:spcAft>
            </a:pPr>
            <a:r>
              <a:rPr sz="1250" dirty="0" err="1">
                <a:solidFill>
                  <a:srgbClr val="F2F2F2"/>
                </a:solidFill>
                <a:latin typeface="Consolas"/>
              </a:rPr>
              <a:t>PERFSTAT@orcl</a:t>
            </a:r>
            <a:r>
              <a:rPr sz="1250" dirty="0">
                <a:solidFill>
                  <a:srgbClr val="F2F2F2"/>
                </a:solidFill>
                <a:latin typeface="Consolas"/>
              </a:rPr>
              <a:t>&gt; -- ... WL_06_mixed.sql </a:t>
            </a:r>
            <a:r>
              <a:rPr sz="1250" dirty="0" err="1">
                <a:solidFill>
                  <a:srgbClr val="F2F2F2"/>
                </a:solidFill>
                <a:latin typeface="Consolas"/>
              </a:rPr>
              <a:t>부하</a:t>
            </a:r>
            <a:r>
              <a:rPr sz="1250" dirty="0">
                <a:solidFill>
                  <a:srgbClr val="F2F2F2"/>
                </a:solidFill>
                <a:latin typeface="Consolas"/>
              </a:rPr>
              <a:t> ...</a:t>
            </a:r>
          </a:p>
          <a:p>
            <a:pPr>
              <a:spcBef>
                <a:spcPts val="0"/>
              </a:spcBef>
              <a:spcAft>
                <a:spcPts val="0"/>
              </a:spcAft>
            </a:pPr>
            <a:r>
              <a:rPr sz="1250" dirty="0" err="1">
                <a:solidFill>
                  <a:srgbClr val="F2F2F2"/>
                </a:solidFill>
                <a:latin typeface="Consolas"/>
              </a:rPr>
              <a:t>PERFSTAT@orcl</a:t>
            </a:r>
            <a:r>
              <a:rPr sz="1250" dirty="0">
                <a:solidFill>
                  <a:srgbClr val="F2F2F2"/>
                </a:solidFill>
                <a:latin typeface="Consolas"/>
              </a:rPr>
              <a:t>&gt; EXEC STATSPACK.SNAP;    -- </a:t>
            </a:r>
            <a:r>
              <a:rPr sz="1250" dirty="0" err="1">
                <a:solidFill>
                  <a:srgbClr val="F2F2F2"/>
                </a:solidFill>
                <a:latin typeface="Consolas"/>
              </a:rPr>
              <a:t>종료</a:t>
            </a:r>
            <a:r>
              <a:rPr sz="1250" dirty="0">
                <a:solidFill>
                  <a:srgbClr val="F2F2F2"/>
                </a:solidFill>
                <a:latin typeface="Consolas"/>
              </a:rPr>
              <a:t> </a:t>
            </a:r>
            <a:r>
              <a:rPr sz="1250" dirty="0" err="1">
                <a:solidFill>
                  <a:srgbClr val="F2F2F2"/>
                </a:solidFill>
                <a:latin typeface="Consolas"/>
              </a:rPr>
              <a:t>스냅샷</a:t>
            </a:r>
            <a:endParaRPr sz="1250" dirty="0">
              <a:solidFill>
                <a:srgbClr val="F2F2F2"/>
              </a:solidFill>
              <a:latin typeface="Consolas"/>
            </a:endParaRPr>
          </a:p>
          <a:p>
            <a:pPr>
              <a:spcBef>
                <a:spcPts val="0"/>
              </a:spcBef>
              <a:spcAft>
                <a:spcPts val="0"/>
              </a:spcAft>
            </a:pPr>
            <a:r>
              <a:rPr sz="1250" dirty="0" err="1">
                <a:solidFill>
                  <a:srgbClr val="F2F2F2"/>
                </a:solidFill>
                <a:latin typeface="Consolas"/>
              </a:rPr>
              <a:t>PERFSTAT@orcl</a:t>
            </a:r>
            <a:r>
              <a:rPr sz="1250" dirty="0">
                <a:solidFill>
                  <a:srgbClr val="F2F2F2"/>
                </a:solidFill>
                <a:latin typeface="Consolas"/>
              </a:rPr>
              <a:t>&gt; @?/rdbms/admin/spreport.sql   -- </a:t>
            </a:r>
            <a:r>
              <a:rPr sz="1250" dirty="0" err="1">
                <a:solidFill>
                  <a:srgbClr val="F2F2F2"/>
                </a:solidFill>
                <a:latin typeface="Consolas"/>
              </a:rPr>
              <a:t>보고서</a:t>
            </a:r>
            <a:endParaRPr sz="1250" dirty="0">
              <a:solidFill>
                <a:srgbClr val="F2F2F2"/>
              </a:solidFill>
              <a:latin typeface="Consolas"/>
            </a:endParaRPr>
          </a:p>
          <a:p>
            <a:pPr>
              <a:spcBef>
                <a:spcPts val="0"/>
              </a:spcBef>
              <a:spcAft>
                <a:spcPts val="0"/>
              </a:spcAft>
            </a:pPr>
            <a:r>
              <a:rPr sz="1250" dirty="0">
                <a:solidFill>
                  <a:srgbClr val="F2F2F2"/>
                </a:solidFill>
                <a:latin typeface="Consolas"/>
              </a:rPr>
              <a:t> </a:t>
            </a:r>
          </a:p>
          <a:p>
            <a:pPr>
              <a:spcBef>
                <a:spcPts val="0"/>
              </a:spcBef>
              <a:spcAft>
                <a:spcPts val="0"/>
              </a:spcAft>
            </a:pPr>
            <a:r>
              <a:rPr sz="1250" dirty="0">
                <a:solidFill>
                  <a:srgbClr val="F2F2F2"/>
                </a:solidFill>
                <a:latin typeface="Consolas"/>
              </a:rPr>
              <a:t>-- </a:t>
            </a:r>
            <a:r>
              <a:rPr sz="1250" dirty="0" err="1">
                <a:solidFill>
                  <a:srgbClr val="F2F2F2"/>
                </a:solidFill>
                <a:latin typeface="Consolas"/>
              </a:rPr>
              <a:t>레벨</a:t>
            </a:r>
            <a:r>
              <a:rPr sz="1250" dirty="0">
                <a:solidFill>
                  <a:srgbClr val="F2F2F2"/>
                </a:solidFill>
                <a:latin typeface="Consolas"/>
              </a:rPr>
              <a:t> 5(</a:t>
            </a:r>
            <a:r>
              <a:rPr sz="1250" dirty="0" err="1">
                <a:solidFill>
                  <a:srgbClr val="F2F2F2"/>
                </a:solidFill>
                <a:latin typeface="Consolas"/>
              </a:rPr>
              <a:t>기본</a:t>
            </a:r>
            <a:r>
              <a:rPr sz="1250" dirty="0">
                <a:solidFill>
                  <a:srgbClr val="F2F2F2"/>
                </a:solidFill>
                <a:latin typeface="Consolas"/>
              </a:rPr>
              <a:t>)/6(</a:t>
            </a:r>
            <a:r>
              <a:rPr sz="1250" dirty="0" err="1">
                <a:solidFill>
                  <a:srgbClr val="F2F2F2"/>
                </a:solidFill>
                <a:latin typeface="Consolas"/>
              </a:rPr>
              <a:t>계획</a:t>
            </a:r>
            <a:r>
              <a:rPr sz="1250" dirty="0">
                <a:solidFill>
                  <a:srgbClr val="F2F2F2"/>
                </a:solidFill>
                <a:latin typeface="Consolas"/>
              </a:rPr>
              <a:t>)/7(</a:t>
            </a:r>
            <a:r>
              <a:rPr sz="1250" dirty="0" err="1">
                <a:solidFill>
                  <a:srgbClr val="F2F2F2"/>
                </a:solidFill>
                <a:latin typeface="Consolas"/>
              </a:rPr>
              <a:t>세그먼트</a:t>
            </a:r>
            <a:r>
              <a:rPr sz="1250" dirty="0">
                <a:solidFill>
                  <a:srgbClr val="F2F2F2"/>
                </a:solidFill>
                <a:latin typeface="Consolas"/>
              </a:rPr>
              <a:t>) · </a:t>
            </a:r>
            <a:r>
              <a:rPr sz="1250" dirty="0" err="1">
                <a:solidFill>
                  <a:srgbClr val="F2F2F2"/>
                </a:solidFill>
                <a:latin typeface="Consolas"/>
              </a:rPr>
              <a:t>spauto</a:t>
            </a:r>
            <a:r>
              <a:rPr sz="1250" dirty="0">
                <a:solidFill>
                  <a:srgbClr val="F2F2F2"/>
                </a:solidFill>
                <a:latin typeface="Consolas"/>
              </a:rPr>
              <a:t>(</a:t>
            </a:r>
            <a:r>
              <a:rPr sz="1250" dirty="0" err="1">
                <a:solidFill>
                  <a:srgbClr val="F2F2F2"/>
                </a:solidFill>
                <a:latin typeface="Consolas"/>
              </a:rPr>
              <a:t>자동</a:t>
            </a:r>
            <a:r>
              <a:rPr sz="1250" dirty="0">
                <a:solidFill>
                  <a:srgbClr val="F2F2F2"/>
                </a:solidFill>
                <a:latin typeface="Consolas"/>
              </a:rPr>
              <a:t>) · </a:t>
            </a:r>
            <a:r>
              <a:rPr sz="1250" dirty="0" err="1">
                <a:solidFill>
                  <a:srgbClr val="F2F2F2"/>
                </a:solidFill>
                <a:latin typeface="Consolas"/>
              </a:rPr>
              <a:t>sppurge</a:t>
            </a:r>
            <a:r>
              <a:rPr sz="1250" dirty="0">
                <a:solidFill>
                  <a:srgbClr val="F2F2F2"/>
                </a:solidFill>
                <a:latin typeface="Consolas"/>
              </a:rPr>
              <a:t>(</a:t>
            </a:r>
            <a:r>
              <a:rPr sz="1250" dirty="0" err="1">
                <a:solidFill>
                  <a:srgbClr val="F2F2F2"/>
                </a:solidFill>
                <a:latin typeface="Consolas"/>
              </a:rPr>
              <a:t>정리</a:t>
            </a:r>
            <a:r>
              <a:rPr sz="1250" dirty="0">
                <a:solidFill>
                  <a:srgbClr val="F2F2F2"/>
                </a:solidFill>
                <a:latin typeface="Consolas"/>
              </a:rPr>
              <a:t>)</a:t>
            </a:r>
          </a:p>
          <a:p>
            <a:pPr>
              <a:spcBef>
                <a:spcPts val="0"/>
              </a:spcBef>
              <a:spcAft>
                <a:spcPts val="0"/>
              </a:spcAft>
            </a:pPr>
            <a:r>
              <a:rPr sz="1250" dirty="0">
                <a:solidFill>
                  <a:srgbClr val="F2F2F2"/>
                </a:solidFill>
                <a:latin typeface="Consolas"/>
              </a:rPr>
              <a:t>-- </a:t>
            </a:r>
            <a:r>
              <a:rPr sz="1250" dirty="0" err="1">
                <a:solidFill>
                  <a:srgbClr val="F2F2F2"/>
                </a:solidFill>
                <a:latin typeface="Consolas"/>
              </a:rPr>
              <a:t>라이선스</a:t>
            </a:r>
            <a:r>
              <a:rPr sz="1250" dirty="0">
                <a:solidFill>
                  <a:srgbClr val="F2F2F2"/>
                </a:solidFill>
                <a:latin typeface="Consolas"/>
              </a:rPr>
              <a:t> </a:t>
            </a:r>
            <a:r>
              <a:rPr sz="1250" dirty="0" err="1">
                <a:solidFill>
                  <a:srgbClr val="F2F2F2"/>
                </a:solidFill>
                <a:latin typeface="Consolas"/>
              </a:rPr>
              <a:t>불필요</a:t>
            </a:r>
            <a:endParaRPr sz="1250" dirty="0">
              <a:solidFill>
                <a:srgbClr val="F2F2F2"/>
              </a:solidFill>
              <a:latin typeface="Consolas"/>
            </a:endParaRPr>
          </a:p>
        </p:txBody>
      </p:sp>
    </p:spTree>
    <p:extLst>
      <p:ext uri="{BB962C8B-B14F-4D97-AF65-F5344CB8AC3E}">
        <p14:creationId xmlns:p14="http://schemas.microsoft.com/office/powerpoint/2010/main" val="56150219"/>
      </p:ext>
    </p:extLst>
  </p:cSld>
  <p:clrMapOvr>
    <a:masterClrMapping/>
  </p:clrMapOvr>
</p:sld>
</file>

<file path=ppt/slides/slide8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Statspack의 위치와 한계</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후퇴가 아니라 라이선스 경계 안의 진단</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600"/>
              </a:spcAft>
            </a:pPr>
            <a:r>
              <a:rPr sz="1700" b="0">
                <a:solidFill>
                  <a:srgbClr val="222222"/>
                </a:solidFill>
                <a:latin typeface="맑은 고딕"/>
              </a:rPr>
              <a:t>•  AWR 이전(9i 이전) 시대의 표준 진단 도구</a:t>
            </a:r>
          </a:p>
          <a:p>
            <a:pPr algn="l">
              <a:spcAft>
                <a:spcPts val="600"/>
              </a:spcAft>
            </a:pPr>
            <a:r>
              <a:rPr sz="1700" b="0">
                <a:solidFill>
                  <a:srgbClr val="222222"/>
                </a:solidFill>
                <a:latin typeface="맑은 고딕"/>
              </a:rPr>
              <a:t>•  10g에서 AWR·ADDM·ASH가 Diagnostics Pack으로 묶임</a:t>
            </a:r>
          </a:p>
          <a:p>
            <a:pPr algn="l">
              <a:spcAft>
                <a:spcPts val="600"/>
              </a:spcAft>
            </a:pPr>
            <a:r>
              <a:rPr sz="1700" b="0">
                <a:solidFill>
                  <a:srgbClr val="222222"/>
                </a:solidFill>
                <a:latin typeface="맑은 고딕"/>
              </a:rPr>
              <a:t>•  Statspack은 무상으로 남아 미보유 환경의 정식 대안</a:t>
            </a:r>
          </a:p>
          <a:p>
            <a:pPr algn="l">
              <a:spcAft>
                <a:spcPts val="600"/>
              </a:spcAft>
            </a:pPr>
            <a:r>
              <a:rPr sz="1700" b="0">
                <a:solidFill>
                  <a:srgbClr val="222222"/>
                </a:solidFill>
                <a:latin typeface="맑은 고딕"/>
              </a:rPr>
              <a:t>•  한계: ADDM 자동 진단·ASH·베이스라인 없음</a:t>
            </a:r>
          </a:p>
          <a:p>
            <a:pPr algn="l">
              <a:spcAft>
                <a:spcPts val="600"/>
              </a:spcAft>
            </a:pPr>
            <a:r>
              <a:rPr sz="1700" b="0">
                <a:solidFill>
                  <a:srgbClr val="222222"/>
                </a:solidFill>
                <a:latin typeface="맑은 고딕"/>
              </a:rPr>
              <a:t>•  → 보고서를 사람이 읽어야 함 = ch22 판독력이 더 중요</a:t>
            </a:r>
          </a:p>
        </p:txBody>
      </p:sp>
    </p:spTree>
    <p:extLst>
      <p:ext uri="{BB962C8B-B14F-4D97-AF65-F5344CB8AC3E}">
        <p14:creationId xmlns:p14="http://schemas.microsoft.com/office/powerpoint/2010/main" val="2844213520"/>
      </p:ext>
    </p:extLst>
  </p:cSld>
  <p:clrMapOvr>
    <a:masterClrMapping/>
  </p:clrMapOvr>
</p:sld>
</file>

<file path=ppt/slides/slide8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AWR vs Statspack</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무엇을 언제 쓰는가</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600"/>
              </a:spcAft>
            </a:pPr>
            <a:r>
              <a:rPr sz="1700" b="0">
                <a:solidFill>
                  <a:srgbClr val="222222"/>
                </a:solidFill>
                <a:latin typeface="맑은 고딕"/>
              </a:rPr>
              <a:t>•  AWR: Diagnostics Pack 필요 / SYSAUX·DBA_HIST_*</a:t>
            </a:r>
          </a:p>
          <a:p>
            <a:pPr algn="l">
              <a:spcAft>
                <a:spcPts val="600"/>
              </a:spcAft>
            </a:pPr>
            <a:r>
              <a:rPr sz="1700" b="0">
                <a:solidFill>
                  <a:srgbClr val="222222"/>
                </a:solidFill>
                <a:latin typeface="맑은 고딕"/>
              </a:rPr>
              <a:t>•  Statspack: 무상 / PERFSTAT 스키마 STATS$*</a:t>
            </a:r>
          </a:p>
          <a:p>
            <a:pPr algn="l">
              <a:spcAft>
                <a:spcPts val="600"/>
              </a:spcAft>
            </a:pPr>
            <a:r>
              <a:rPr sz="1700" b="0">
                <a:solidFill>
                  <a:srgbClr val="222222"/>
                </a:solidFill>
                <a:latin typeface="맑은 고딕"/>
              </a:rPr>
              <a:t>•  ADDM 자동 진단·ASH·베이스라인 = AWR만</a:t>
            </a:r>
          </a:p>
          <a:p>
            <a:pPr algn="l">
              <a:spcAft>
                <a:spcPts val="600"/>
              </a:spcAft>
            </a:pPr>
            <a:r>
              <a:rPr sz="1700" b="0">
                <a:solidFill>
                  <a:srgbClr val="222222"/>
                </a:solidFill>
                <a:latin typeface="맑은 고딕"/>
              </a:rPr>
              <a:t>•  라이선스 있으면 AWR, 없으면 Statspack, 한 구간만이면 V$ 델타</a:t>
            </a:r>
          </a:p>
          <a:p>
            <a:pPr algn="l">
              <a:spcAft>
                <a:spcPts val="600"/>
              </a:spcAft>
            </a:pPr>
            <a:r>
              <a:rPr sz="1700" b="0">
                <a:solidFill>
                  <a:srgbClr val="222222"/>
                </a:solidFill>
                <a:latin typeface="맑은 고딕"/>
              </a:rPr>
              <a:t>•  세 경로 공통 원리: 두 시점의 차이를 부하로 읽는다</a:t>
            </a:r>
          </a:p>
        </p:txBody>
      </p:sp>
    </p:spTree>
    <p:extLst>
      <p:ext uri="{BB962C8B-B14F-4D97-AF65-F5344CB8AC3E}">
        <p14:creationId xmlns:p14="http://schemas.microsoft.com/office/powerpoint/2010/main" val="3758524382"/>
      </p:ext>
    </p:extLst>
  </p:cSld>
  <p:clrMapOvr>
    <a:masterClrMapping/>
  </p:clrMapOvr>
</p:sld>
</file>

<file path=ppt/slides/slide8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퀴즈 (Quiz)</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600"/>
              </a:spcAft>
            </a:pPr>
            <a:r>
              <a:rPr sz="1600" b="0">
                <a:solidFill>
                  <a:srgbClr val="222222"/>
                </a:solidFill>
                <a:latin typeface="맑은 고딕"/>
              </a:rPr>
              <a:t>•  Q1. AWR 스냅샷은 어디에 저장되고 조회 뷰 접두어는? 담는 통계 다섯 중 셋은?</a:t>
            </a:r>
          </a:p>
          <a:p>
            <a:pPr algn="l">
              <a:spcAft>
                <a:spcPts val="600"/>
              </a:spcAft>
            </a:pPr>
            <a:r>
              <a:rPr sz="1600" b="0">
                <a:solidFill>
                  <a:srgbClr val="222222"/>
                </a:solidFill>
                <a:latin typeface="맑은 고딕"/>
              </a:rPr>
              <a:t>•  Q2. 실측 주기·보존은 각각 얼마? MODIFY_SNAPSHOT_SETTINGS의 interval·retention 단위는?</a:t>
            </a:r>
          </a:p>
          <a:p>
            <a:pPr algn="l">
              <a:spcAft>
                <a:spcPts val="600"/>
              </a:spcAft>
            </a:pPr>
            <a:r>
              <a:rPr sz="1600" b="0">
                <a:solidFill>
                  <a:srgbClr val="222222"/>
                </a:solidFill>
                <a:latin typeface="맑은 고딕"/>
              </a:rPr>
              <a:t>•  Q3. 자동 스냅샷이 있는데도 CREATE_SNAPSHOT을 쓰는 이유는(부하 구간 관점)?</a:t>
            </a:r>
          </a:p>
          <a:p>
            <a:pPr algn="l">
              <a:spcAft>
                <a:spcPts val="600"/>
              </a:spcAft>
            </a:pPr>
            <a:r>
              <a:rPr sz="1600" b="0">
                <a:solidFill>
                  <a:srgbClr val="222222"/>
                </a:solidFill>
                <a:latin typeface="맑은 고딕"/>
              </a:rPr>
              <a:t>•  Q4. 고정 vs 이동 윈도우 베이스라인 차이는? 자동 퍼지 제외가 왜 중요한가?</a:t>
            </a:r>
          </a:p>
          <a:p>
            <a:pPr algn="l">
              <a:spcAft>
                <a:spcPts val="600"/>
              </a:spcAft>
            </a:pPr>
            <a:r>
              <a:rPr sz="1600" b="0">
                <a:solidFill>
                  <a:srgbClr val="222222"/>
                </a:solidFill>
                <a:latin typeface="맑은 고딕"/>
              </a:rPr>
              <a:t>•  Q5. AWR의 occupant_name은? 실측 점유·전형적 범위? 공간 줄이는 두 정공법은?</a:t>
            </a:r>
          </a:p>
          <a:p>
            <a:pPr algn="l">
              <a:spcAft>
                <a:spcPts val="600"/>
              </a:spcAft>
            </a:pPr>
            <a:r>
              <a:rPr sz="1600" b="0">
                <a:solidFill>
                  <a:srgbClr val="222222"/>
                </a:solidFill>
                <a:latin typeface="맑은 고딕"/>
              </a:rPr>
              <a:t>•  Q6. 라이선스 없을 때 두 대안은? Statspack 스냅샷·보고서 명령과 AWR과의 차이 하나는?</a:t>
            </a:r>
          </a:p>
        </p:txBody>
      </p:sp>
    </p:spTree>
    <p:extLst>
      <p:ext uri="{BB962C8B-B14F-4D97-AF65-F5344CB8AC3E}">
        <p14:creationId xmlns:p14="http://schemas.microsoft.com/office/powerpoint/2010/main" val="3546012883"/>
      </p:ext>
    </p:extLst>
  </p:cSld>
  <p:clrMapOvr>
    <a:masterClrMapping/>
  </p:clrMapOvr>
</p:sld>
</file>

<file path=ppt/slides/slide8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요약 (Summary)</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600"/>
              </a:spcAft>
            </a:pPr>
            <a:r>
              <a:rPr sz="1600" b="0">
                <a:solidFill>
                  <a:srgbClr val="222222"/>
                </a:solidFill>
                <a:latin typeface="맑은 고딕"/>
              </a:rPr>
              <a:t>•  AWR = 휘발성 V$를 스냅샷으로 SYSAUX에 영구 저장 · ch22~ch23의 토대</a:t>
            </a:r>
          </a:p>
          <a:p>
            <a:pPr algn="l">
              <a:spcAft>
                <a:spcPts val="600"/>
              </a:spcAft>
            </a:pPr>
            <a:r>
              <a:rPr sz="1600" b="0">
                <a:solidFill>
                  <a:srgbClr val="222222"/>
                </a:solidFill>
                <a:latin typeface="맑은 고딕"/>
              </a:rPr>
              <a:t>•  주기·보존 확인=DBA_HIST_WR_CONTROL(실측 60분·8일) / 변경=MODIFY_SNAPSHOT_SETTINGS(분)</a:t>
            </a:r>
          </a:p>
          <a:p>
            <a:pPr algn="l">
              <a:spcAft>
                <a:spcPts val="600"/>
              </a:spcAft>
            </a:pPr>
            <a:r>
              <a:rPr sz="1600" b="0">
                <a:solidFill>
                  <a:srgbClr val="222222"/>
                </a:solidFill>
                <a:latin typeface="맑은 고딕"/>
              </a:rPr>
              <a:t>•  CREATE_SNAPSHOT으로 부하 앞뒤를 감싼다 (실습 295~296, 7세션 100초)</a:t>
            </a:r>
          </a:p>
          <a:p>
            <a:pPr algn="l">
              <a:spcAft>
                <a:spcPts val="600"/>
              </a:spcAft>
            </a:pPr>
            <a:r>
              <a:rPr sz="1600" b="0">
                <a:solidFill>
                  <a:srgbClr val="222222"/>
                </a:solidFill>
                <a:latin typeface="맑은 고딕"/>
              </a:rPr>
              <a:t>•  베이스라인 스냅샷은 무기한 보존 — 필요한 구간은 보호해야 살아남는다</a:t>
            </a:r>
          </a:p>
          <a:p>
            <a:pPr algn="l">
              <a:spcAft>
                <a:spcPts val="600"/>
              </a:spcAft>
            </a:pPr>
            <a:r>
              <a:rPr sz="1600" b="0">
                <a:solidFill>
                  <a:srgbClr val="222222"/>
                </a:solidFill>
                <a:latin typeface="맑은 고딕"/>
              </a:rPr>
              <a:t>•  SM/AWR 점유=V$SYSAUX_OCCUPANTS(실측 281.9MB) / 주기↑·보존↓·DROP_SNAPSHOT_RANGE</a:t>
            </a:r>
          </a:p>
          <a:p>
            <a:pPr algn="l">
              <a:spcAft>
                <a:spcPts val="600"/>
              </a:spcAft>
            </a:pPr>
            <a:r>
              <a:rPr sz="1600" b="0">
                <a:solidFill>
                  <a:srgbClr val="222222"/>
                </a:solidFill>
                <a:latin typeface="맑은 고딕"/>
              </a:rPr>
              <a:t>•  사고 구간은 조사 전 즉시 베이스라인으로 · 이 장 전체 Diagnostics Pack, 대안=Statspack/V$ 델타</a:t>
            </a:r>
          </a:p>
        </p:txBody>
      </p:sp>
    </p:spTree>
    <p:extLst>
      <p:ext uri="{BB962C8B-B14F-4D97-AF65-F5344CB8AC3E}">
        <p14:creationId xmlns:p14="http://schemas.microsoft.com/office/powerpoint/2010/main" val="3806982051"/>
      </p:ext>
    </p:extLst>
  </p:cSld>
  <p:clrMapOvr>
    <a:masterClrMapping/>
  </p:clrMapOvr>
</p:sld>
</file>

<file path=ppt/slides/slide8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실습 개요 (Practice Overview)</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600"/>
              </a:spcAft>
            </a:pPr>
            <a:r>
              <a:rPr sz="1600" b="0">
                <a:solidFill>
                  <a:srgbClr val="222222"/>
                </a:solidFill>
                <a:latin typeface="맑은 고딕"/>
              </a:rPr>
              <a:t>•  실습 01 — 스냅샷 주기·보존 확인과 변경 (🔒 DBA_HIST_WR_CONTROL)</a:t>
            </a:r>
          </a:p>
          <a:p>
            <a:pPr algn="l">
              <a:spcAft>
                <a:spcPts val="600"/>
              </a:spcAft>
            </a:pPr>
            <a:r>
              <a:rPr sz="1600" b="0">
                <a:solidFill>
                  <a:srgbClr val="222222"/>
                </a:solidFill>
                <a:latin typeface="맑은 고딕"/>
              </a:rPr>
              <a:t>•  실습 02 — 수동 스냅샷 쌍 확보 (🔒 WL_06 사이 295~296)</a:t>
            </a:r>
          </a:p>
          <a:p>
            <a:pPr algn="l">
              <a:spcAft>
                <a:spcPts val="600"/>
              </a:spcAft>
            </a:pPr>
            <a:r>
              <a:rPr sz="1600" b="0">
                <a:solidFill>
                  <a:srgbClr val="222222"/>
                </a:solidFill>
                <a:latin typeface="맑은 고딕"/>
              </a:rPr>
              <a:t>•  실습 03 — 베이스라인 생성·조회·삭제 (🔒 TUNING_CH6_DEMO)</a:t>
            </a:r>
          </a:p>
          <a:p>
            <a:pPr algn="l">
              <a:spcAft>
                <a:spcPts val="600"/>
              </a:spcAft>
            </a:pPr>
            <a:r>
              <a:rPr sz="1600" b="0">
                <a:solidFill>
                  <a:srgbClr val="222222"/>
                </a:solidFill>
                <a:latin typeface="맑은 고딕"/>
              </a:rPr>
              <a:t>•  실습 04 — 보존 초과와 베이스라인 보호 (🔒)</a:t>
            </a:r>
          </a:p>
          <a:p>
            <a:pPr algn="l">
              <a:spcAft>
                <a:spcPts val="600"/>
              </a:spcAft>
            </a:pPr>
            <a:r>
              <a:rPr sz="1600" b="0">
                <a:solidFill>
                  <a:srgbClr val="222222"/>
                </a:solidFill>
                <a:latin typeface="맑은 고딕"/>
              </a:rPr>
              <a:t>•  실습 05 — SYSAUX 사용량 추적 (🔒 SM/AWR 281.9MB)</a:t>
            </a:r>
          </a:p>
          <a:p>
            <a:pPr algn="l">
              <a:spcAft>
                <a:spcPts val="600"/>
              </a:spcAft>
            </a:pPr>
            <a:r>
              <a:rPr sz="1600" b="0">
                <a:solidFill>
                  <a:srgbClr val="222222"/>
                </a:solidFill>
                <a:latin typeface="맑은 고딕"/>
              </a:rPr>
              <a:t>•  실습 06 — Statspack 대안 경로 (라이선스 불필요)</a:t>
            </a:r>
          </a:p>
          <a:p>
            <a:pPr algn="l">
              <a:spcAft>
                <a:spcPts val="600"/>
              </a:spcAft>
            </a:pPr>
            <a:r>
              <a:rPr sz="1600" b="0">
                <a:solidFill>
                  <a:srgbClr val="222222"/>
                </a:solidFill>
                <a:latin typeface="맑은 고딕"/>
              </a:rPr>
              <a:t>•  ※ 환경: non-CDB orcl 19.3 · SYS@orcl&gt; / SQLT@orcl&gt; · '조치 전→조치→해석'+'이상→원인→조치→재확인'</a:t>
            </a:r>
          </a:p>
        </p:txBody>
      </p:sp>
    </p:spTree>
    <p:extLst>
      <p:ext uri="{BB962C8B-B14F-4D97-AF65-F5344CB8AC3E}">
        <p14:creationId xmlns:p14="http://schemas.microsoft.com/office/powerpoint/2010/main" val="1852044057"/>
      </p:ext>
    </p:extLst>
  </p:cSld>
  <p:clrMapOvr>
    <a:masterClrMapping/>
  </p:clrMapOvr>
</p:sld>
</file>

<file path=ppt/slides/slide8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5394960"/>
            <a:ext cx="12188952"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457200"/>
            <a:ext cx="10698480" cy="548640"/>
          </a:xfrm>
          <a:prstGeom prst="rect">
            <a:avLst/>
          </a:prstGeom>
          <a:noFill/>
        </p:spPr>
        <p:txBody>
          <a:bodyPr wrap="square">
            <a:spAutoFit/>
          </a:bodyPr>
          <a:lstStyle/>
          <a:p>
            <a:pPr>
              <a:spcAft>
                <a:spcPts val="400"/>
              </a:spcAft>
            </a:pPr>
            <a:r>
              <a:rPr sz="1600" b="1">
                <a:solidFill>
                  <a:srgbClr val="FFFFFF"/>
                </a:solidFill>
                <a:latin typeface="맑은 고딕"/>
              </a:rPr>
              <a:t>Oracle Database 19c 성능 튜닝 실무 과정</a:t>
            </a:r>
          </a:p>
        </p:txBody>
      </p:sp>
      <p:sp>
        <p:nvSpPr>
          <p:cNvPr id="6" name="TextBox 5"/>
          <p:cNvSpPr txBox="1"/>
          <p:nvPr/>
        </p:nvSpPr>
        <p:spPr>
          <a:xfrm>
            <a:off x="731520" y="2377440"/>
            <a:ext cx="10698480" cy="1554480"/>
          </a:xfrm>
          <a:prstGeom prst="rect">
            <a:avLst/>
          </a:prstGeom>
          <a:noFill/>
        </p:spPr>
        <p:txBody>
          <a:bodyPr wrap="square">
            <a:spAutoFit/>
          </a:bodyPr>
          <a:lstStyle/>
          <a:p>
            <a:pPr>
              <a:spcAft>
                <a:spcPts val="400"/>
              </a:spcAft>
            </a:pPr>
            <a:r>
              <a:rPr sz="3400" b="1">
                <a:solidFill>
                  <a:srgbClr val="C0392B"/>
                </a:solidFill>
                <a:latin typeface="맑은 고딕"/>
              </a:rPr>
              <a:t>히스토그램·확장 통계·시스템 통계</a:t>
            </a:r>
          </a:p>
          <a:p>
            <a:pPr>
              <a:spcAft>
                <a:spcPts val="400"/>
              </a:spcAft>
            </a:pPr>
            <a:r>
              <a:rPr sz="2000" b="0">
                <a:solidFill>
                  <a:srgbClr val="5A6672"/>
                </a:solidFill>
                <a:latin typeface="맑은 고딕"/>
              </a:rPr>
              <a:t>Statistics ② — 옵티마이저가 보는 세계를 정교하게</a:t>
            </a:r>
          </a:p>
        </p:txBody>
      </p:sp>
      <p:sp>
        <p:nvSpPr>
          <p:cNvPr id="7" name="TextBox 6"/>
          <p:cNvSpPr txBox="1"/>
          <p:nvPr/>
        </p:nvSpPr>
        <p:spPr>
          <a:xfrm>
            <a:off x="731520" y="4114800"/>
            <a:ext cx="10698480" cy="1097280"/>
          </a:xfrm>
          <a:prstGeom prst="rect">
            <a:avLst/>
          </a:prstGeom>
          <a:noFill/>
        </p:spPr>
        <p:txBody>
          <a:bodyPr wrap="square">
            <a:spAutoFit/>
          </a:bodyPr>
          <a:lstStyle/>
          <a:p>
            <a:pPr>
              <a:spcAft>
                <a:spcPts val="400"/>
              </a:spcAft>
            </a:pPr>
            <a:r>
              <a:rPr sz="1500" b="0">
                <a:solidFill>
                  <a:srgbClr val="5A6672"/>
                </a:solidFill>
                <a:latin typeface="맑은 고딕"/>
              </a:rPr>
              <a:t>히스토그램 · METHOD_OPT · 확장 통계 · 시스템 통계 · Preferences · Statistics Advisor</a:t>
            </a:r>
          </a:p>
        </p:txBody>
      </p:sp>
      <p:sp>
        <p:nvSpPr>
          <p:cNvPr id="8" name="TextBox 7"/>
          <p:cNvSpPr txBox="1"/>
          <p:nvPr/>
        </p:nvSpPr>
        <p:spPr>
          <a:xfrm>
            <a:off x="731520" y="5577840"/>
            <a:ext cx="10698480" cy="914400"/>
          </a:xfrm>
          <a:prstGeom prst="rect">
            <a:avLst/>
          </a:prstGeom>
          <a:noFill/>
        </p:spPr>
        <p:txBody>
          <a:bodyPr wrap="square">
            <a:spAutoFit/>
          </a:bodyPr>
          <a:lstStyle/>
          <a:p>
            <a:pPr>
              <a:spcAft>
                <a:spcPts val="400"/>
              </a:spcAft>
            </a:pPr>
            <a:r>
              <a:rPr sz="2000" b="1">
                <a:solidFill>
                  <a:srgbClr val="C0392B"/>
                </a:solidFill>
                <a:latin typeface="맑은 고딕"/>
              </a:rPr>
              <a:t>ch21</a:t>
            </a:r>
          </a:p>
        </p:txBody>
      </p:sp>
    </p:spTree>
    <p:extLst>
      <p:ext uri="{BB962C8B-B14F-4D97-AF65-F5344CB8AC3E}">
        <p14:creationId xmlns:p14="http://schemas.microsoft.com/office/powerpoint/2010/main" val="3301909030"/>
      </p:ext>
    </p:extLst>
  </p:cSld>
  <p:clrMapOvr>
    <a:masterClrMapping/>
  </p:clrMapOvr>
</p:sld>
</file>

<file path=ppt/slides/slide8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학습 목표 (Objectives)</a:t>
            </a:r>
          </a:p>
        </p:txBody>
      </p:sp>
      <p:sp>
        <p:nvSpPr>
          <p:cNvPr id="4" name="TextBox 3"/>
          <p:cNvSpPr txBox="1"/>
          <p:nvPr/>
        </p:nvSpPr>
        <p:spPr>
          <a:xfrm>
            <a:off x="640080" y="1371600"/>
            <a:ext cx="10881360" cy="5120640"/>
          </a:xfrm>
          <a:prstGeom prst="rect">
            <a:avLst/>
          </a:prstGeom>
          <a:noFill/>
        </p:spPr>
        <p:txBody>
          <a:bodyPr wrap="square">
            <a:spAutoFit/>
          </a:bodyPr>
          <a:lstStyle/>
          <a:p>
            <a:pPr>
              <a:spcAft>
                <a:spcPts val="700"/>
              </a:spcAft>
            </a:pPr>
            <a:r>
              <a:rPr sz="1600" b="0">
                <a:solidFill>
                  <a:srgbClr val="222222"/>
                </a:solidFill>
                <a:latin typeface="맑은 고딕"/>
              </a:rPr>
              <a:t>•  균등 분포 가정의 한계를 설명하고, 편중 컬럼의 추정 오차를 수치로 제시한다(300 대 3,100).</a:t>
            </a:r>
          </a:p>
          <a:p>
            <a:pPr>
              <a:spcAft>
                <a:spcPts val="700"/>
              </a:spcAft>
            </a:pPr>
            <a:r>
              <a:rPr sz="1600" b="0">
                <a:solidFill>
                  <a:srgbClr val="222222"/>
                </a:solidFill>
                <a:latin typeface="맑은 고딕"/>
              </a:rPr>
              <a:t>•  히스토그램 세 종류(FREQUENCY·TOP-FREQUENCY·HYBRID)와 생성 조건을 구분한다.</a:t>
            </a:r>
          </a:p>
          <a:p>
            <a:pPr>
              <a:spcAft>
                <a:spcPts val="700"/>
              </a:spcAft>
            </a:pPr>
            <a:r>
              <a:rPr sz="1600" b="0">
                <a:solidFill>
                  <a:srgbClr val="222222"/>
                </a:solidFill>
                <a:latin typeface="맑은 고딕"/>
              </a:rPr>
              <a:t>•  METHOD_OPT(FOR ALL COLUMNS SIZE AUTO / FOR COLUMNS)의 동작을 예측한다.</a:t>
            </a:r>
          </a:p>
          <a:p>
            <a:pPr>
              <a:spcAft>
                <a:spcPts val="700"/>
              </a:spcAft>
            </a:pPr>
            <a:r>
              <a:rPr sz="1600" b="0">
                <a:solidFill>
                  <a:srgbClr val="222222"/>
                </a:solidFill>
                <a:latin typeface="맑은 고딕"/>
              </a:rPr>
              <a:t>•  컬럼 그룹·표현식 확장 통계로 상관·함수 추정 오류를 바로잡는다.</a:t>
            </a:r>
          </a:p>
          <a:p>
            <a:pPr>
              <a:spcAft>
                <a:spcPts val="700"/>
              </a:spcAft>
            </a:pPr>
            <a:r>
              <a:rPr sz="1600" b="0">
                <a:solidFill>
                  <a:srgbClr val="222222"/>
                </a:solidFill>
                <a:latin typeface="맑은 고딕"/>
              </a:rPr>
              <a:t>•  NOWORKLOAD와 WORKLOAD 시스템 통계를 구분하고 안전하게 원복한다.</a:t>
            </a:r>
          </a:p>
          <a:p>
            <a:pPr>
              <a:spcAft>
                <a:spcPts val="700"/>
              </a:spcAft>
            </a:pPr>
            <a:r>
              <a:rPr sz="1600" b="0">
                <a:solidFill>
                  <a:srgbClr val="222222"/>
                </a:solidFill>
                <a:latin typeface="맑은 고딕"/>
              </a:rPr>
              <a:t>•  통계 Preferences의 네 계층(GLOBAL·DATABASE·SCHEMA·TABLE)과 우선순위를 안다.</a:t>
            </a:r>
          </a:p>
          <a:p>
            <a:pPr>
              <a:spcAft>
                <a:spcPts val="700"/>
              </a:spcAft>
            </a:pPr>
            <a:r>
              <a:rPr sz="1600" b="0">
                <a:solidFill>
                  <a:srgbClr val="222222"/>
                </a:solidFill>
                <a:latin typeface="맑은 고딕"/>
              </a:rPr>
              <a:t>•  Optimizer Statistics Advisor(무료)의 권고를 해석해 통계 오차를 해소한다.</a:t>
            </a:r>
          </a:p>
          <a:p>
            <a:pPr>
              <a:spcAft>
                <a:spcPts val="700"/>
              </a:spcAft>
            </a:pPr>
            <a:r>
              <a:rPr sz="1600" b="0">
                <a:solidFill>
                  <a:srgbClr val="222222"/>
                </a:solidFill>
                <a:latin typeface="맑은 고딕"/>
              </a:rPr>
              <a:t>•  통계를 바꾸는 모든 작업에 조치 전 캡처와 원복 절차를 설계한다.</a:t>
            </a:r>
          </a:p>
        </p:txBody>
      </p:sp>
    </p:spTree>
    <p:extLst>
      <p:ext uri="{BB962C8B-B14F-4D97-AF65-F5344CB8AC3E}">
        <p14:creationId xmlns:p14="http://schemas.microsoft.com/office/powerpoint/2010/main" val="1433894177"/>
      </p:ext>
    </p:extLst>
  </p:cSld>
  <p:clrMapOvr>
    <a:masterClrMapping/>
  </p:clrMapOvr>
</p:sld>
</file>

<file path=ppt/slides/slide8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이 장의 구성 (Agenda)</a:t>
            </a:r>
          </a:p>
        </p:txBody>
      </p:sp>
      <p:sp>
        <p:nvSpPr>
          <p:cNvPr id="4" name="TextBox 3"/>
          <p:cNvSpPr txBox="1"/>
          <p:nvPr/>
        </p:nvSpPr>
        <p:spPr>
          <a:xfrm>
            <a:off x="640080" y="1371600"/>
            <a:ext cx="10881360" cy="2690480"/>
          </a:xfrm>
          <a:prstGeom prst="rect">
            <a:avLst/>
          </a:prstGeom>
          <a:noFill/>
        </p:spPr>
        <p:txBody>
          <a:bodyPr wrap="square">
            <a:spAutoFit/>
          </a:bodyPr>
          <a:lstStyle/>
          <a:p>
            <a:pPr>
              <a:spcAft>
                <a:spcPts val="700"/>
              </a:spcAft>
            </a:pPr>
            <a:r>
              <a:rPr sz="1600" b="0" dirty="0">
                <a:solidFill>
                  <a:srgbClr val="222222"/>
                </a:solidFill>
                <a:latin typeface="맑은 고딕"/>
              </a:rPr>
              <a:t>•  </a:t>
            </a:r>
            <a:r>
              <a:rPr lang="en-US" sz="1600" b="0" dirty="0">
                <a:solidFill>
                  <a:srgbClr val="222222"/>
                </a:solidFill>
                <a:latin typeface="맑은 고딕"/>
              </a:rPr>
              <a:t>21</a:t>
            </a:r>
            <a:r>
              <a:rPr sz="1600" b="0" dirty="0">
                <a:solidFill>
                  <a:srgbClr val="222222"/>
                </a:solidFill>
                <a:latin typeface="맑은 고딕"/>
              </a:rPr>
              <a:t>.2  </a:t>
            </a:r>
            <a:r>
              <a:rPr sz="1600" b="0" dirty="0" err="1">
                <a:solidFill>
                  <a:srgbClr val="222222"/>
                </a:solidFill>
                <a:latin typeface="맑은 고딕"/>
              </a:rPr>
              <a:t>히스토그램</a:t>
            </a:r>
            <a:r>
              <a:rPr sz="1600" b="0" dirty="0">
                <a:solidFill>
                  <a:srgbClr val="222222"/>
                </a:solidFill>
                <a:latin typeface="맑은 고딕"/>
              </a:rPr>
              <a:t> — </a:t>
            </a:r>
            <a:r>
              <a:rPr sz="1600" b="0" dirty="0" err="1">
                <a:solidFill>
                  <a:srgbClr val="222222"/>
                </a:solidFill>
                <a:latin typeface="맑은 고딕"/>
              </a:rPr>
              <a:t>편중된</a:t>
            </a:r>
            <a:r>
              <a:rPr sz="1600" b="0" dirty="0">
                <a:solidFill>
                  <a:srgbClr val="222222"/>
                </a:solidFill>
                <a:latin typeface="맑은 고딕"/>
              </a:rPr>
              <a:t> </a:t>
            </a:r>
            <a:r>
              <a:rPr sz="1600" b="0" dirty="0" err="1">
                <a:solidFill>
                  <a:srgbClr val="222222"/>
                </a:solidFill>
                <a:latin typeface="맑은 고딕"/>
              </a:rPr>
              <a:t>데이터에서</a:t>
            </a:r>
            <a:r>
              <a:rPr sz="1600" b="0" dirty="0">
                <a:solidFill>
                  <a:srgbClr val="222222"/>
                </a:solidFill>
                <a:latin typeface="맑은 고딕"/>
              </a:rPr>
              <a:t> </a:t>
            </a:r>
            <a:r>
              <a:rPr sz="1600" b="0" dirty="0" err="1">
                <a:solidFill>
                  <a:srgbClr val="222222"/>
                </a:solidFill>
                <a:latin typeface="맑은 고딕"/>
              </a:rPr>
              <a:t>옵티마이저를</a:t>
            </a:r>
            <a:r>
              <a:rPr sz="1600" b="0" dirty="0">
                <a:solidFill>
                  <a:srgbClr val="222222"/>
                </a:solidFill>
                <a:latin typeface="맑은 고딕"/>
              </a:rPr>
              <a:t> </a:t>
            </a:r>
            <a:r>
              <a:rPr sz="1600" b="0" dirty="0" err="1">
                <a:solidFill>
                  <a:srgbClr val="222222"/>
                </a:solidFill>
                <a:latin typeface="맑은 고딕"/>
              </a:rPr>
              <a:t>구한다</a:t>
            </a:r>
            <a:endParaRPr sz="1600" b="0" dirty="0">
              <a:solidFill>
                <a:srgbClr val="222222"/>
              </a:solidFill>
              <a:latin typeface="맑은 고딕"/>
            </a:endParaRPr>
          </a:p>
          <a:p>
            <a:pPr>
              <a:spcAft>
                <a:spcPts val="700"/>
              </a:spcAft>
            </a:pPr>
            <a:r>
              <a:rPr sz="1600" b="0" dirty="0">
                <a:solidFill>
                  <a:srgbClr val="222222"/>
                </a:solidFill>
                <a:latin typeface="맑은 고딕"/>
              </a:rPr>
              <a:t>•  </a:t>
            </a:r>
            <a:r>
              <a:rPr lang="en-US" sz="1600" b="0" dirty="0">
                <a:solidFill>
                  <a:srgbClr val="222222"/>
                </a:solidFill>
                <a:latin typeface="맑은 고딕"/>
              </a:rPr>
              <a:t>21</a:t>
            </a:r>
            <a:r>
              <a:rPr sz="1600" b="0" dirty="0">
                <a:solidFill>
                  <a:srgbClr val="222222"/>
                </a:solidFill>
                <a:latin typeface="맑은 고딕"/>
              </a:rPr>
              <a:t>.3  METHOD_OPT — </a:t>
            </a:r>
            <a:r>
              <a:rPr sz="1600" b="0" dirty="0" err="1">
                <a:solidFill>
                  <a:srgbClr val="222222"/>
                </a:solidFill>
                <a:latin typeface="맑은 고딕"/>
              </a:rPr>
              <a:t>어떤</a:t>
            </a:r>
            <a:r>
              <a:rPr sz="1600" b="0" dirty="0">
                <a:solidFill>
                  <a:srgbClr val="222222"/>
                </a:solidFill>
                <a:latin typeface="맑은 고딕"/>
              </a:rPr>
              <a:t> </a:t>
            </a:r>
            <a:r>
              <a:rPr sz="1600" b="0" dirty="0" err="1">
                <a:solidFill>
                  <a:srgbClr val="222222"/>
                </a:solidFill>
                <a:latin typeface="맑은 고딕"/>
              </a:rPr>
              <a:t>컬럼에</a:t>
            </a:r>
            <a:r>
              <a:rPr sz="1600" b="0" dirty="0">
                <a:solidFill>
                  <a:srgbClr val="222222"/>
                </a:solidFill>
                <a:latin typeface="맑은 고딕"/>
              </a:rPr>
              <a:t> </a:t>
            </a:r>
            <a:r>
              <a:rPr sz="1600" b="0" dirty="0" err="1">
                <a:solidFill>
                  <a:srgbClr val="222222"/>
                </a:solidFill>
                <a:latin typeface="맑은 고딕"/>
              </a:rPr>
              <a:t>히스토그램을</a:t>
            </a:r>
            <a:r>
              <a:rPr sz="1600" b="0" dirty="0">
                <a:solidFill>
                  <a:srgbClr val="222222"/>
                </a:solidFill>
                <a:latin typeface="맑은 고딕"/>
              </a:rPr>
              <a:t> </a:t>
            </a:r>
            <a:r>
              <a:rPr sz="1600" b="0" dirty="0" err="1">
                <a:solidFill>
                  <a:srgbClr val="222222"/>
                </a:solidFill>
                <a:latin typeface="맑은 고딕"/>
              </a:rPr>
              <a:t>만들지</a:t>
            </a:r>
            <a:r>
              <a:rPr sz="1600" b="0" dirty="0">
                <a:solidFill>
                  <a:srgbClr val="222222"/>
                </a:solidFill>
                <a:latin typeface="맑은 고딕"/>
              </a:rPr>
              <a:t> </a:t>
            </a:r>
            <a:r>
              <a:rPr sz="1600" b="0" dirty="0" err="1">
                <a:solidFill>
                  <a:srgbClr val="222222"/>
                </a:solidFill>
                <a:latin typeface="맑은 고딕"/>
              </a:rPr>
              <a:t>결정</a:t>
            </a:r>
            <a:endParaRPr sz="1600" b="0" dirty="0">
              <a:solidFill>
                <a:srgbClr val="222222"/>
              </a:solidFill>
              <a:latin typeface="맑은 고딕"/>
            </a:endParaRPr>
          </a:p>
          <a:p>
            <a:pPr>
              <a:spcAft>
                <a:spcPts val="700"/>
              </a:spcAft>
            </a:pPr>
            <a:r>
              <a:rPr sz="1600" b="0" dirty="0">
                <a:solidFill>
                  <a:srgbClr val="222222"/>
                </a:solidFill>
                <a:latin typeface="맑은 고딕"/>
              </a:rPr>
              <a:t>•  </a:t>
            </a:r>
            <a:r>
              <a:rPr lang="en-US" sz="1600" b="0" dirty="0">
                <a:solidFill>
                  <a:srgbClr val="222222"/>
                </a:solidFill>
                <a:latin typeface="맑은 고딕"/>
              </a:rPr>
              <a:t>21</a:t>
            </a:r>
            <a:r>
              <a:rPr sz="1600" b="0" dirty="0">
                <a:solidFill>
                  <a:srgbClr val="222222"/>
                </a:solidFill>
                <a:latin typeface="맑은 고딕"/>
              </a:rPr>
              <a:t>.4  </a:t>
            </a:r>
            <a:r>
              <a:rPr sz="1600" b="0" dirty="0" err="1">
                <a:solidFill>
                  <a:srgbClr val="222222"/>
                </a:solidFill>
                <a:latin typeface="맑은 고딕"/>
              </a:rPr>
              <a:t>확장</a:t>
            </a:r>
            <a:r>
              <a:rPr sz="1600" b="0" dirty="0">
                <a:solidFill>
                  <a:srgbClr val="222222"/>
                </a:solidFill>
                <a:latin typeface="맑은 고딕"/>
              </a:rPr>
              <a:t> </a:t>
            </a:r>
            <a:r>
              <a:rPr sz="1600" b="0" dirty="0" err="1">
                <a:solidFill>
                  <a:srgbClr val="222222"/>
                </a:solidFill>
                <a:latin typeface="맑은 고딕"/>
              </a:rPr>
              <a:t>통계</a:t>
            </a:r>
            <a:r>
              <a:rPr sz="1600" b="0" dirty="0">
                <a:solidFill>
                  <a:srgbClr val="222222"/>
                </a:solidFill>
                <a:latin typeface="맑은 고딕"/>
              </a:rPr>
              <a:t> — </a:t>
            </a:r>
            <a:r>
              <a:rPr sz="1600" b="0" dirty="0" err="1">
                <a:solidFill>
                  <a:srgbClr val="222222"/>
                </a:solidFill>
                <a:latin typeface="맑은 고딕"/>
              </a:rPr>
              <a:t>컬럼</a:t>
            </a:r>
            <a:r>
              <a:rPr sz="1600" b="0" dirty="0">
                <a:solidFill>
                  <a:srgbClr val="222222"/>
                </a:solidFill>
                <a:latin typeface="맑은 고딕"/>
              </a:rPr>
              <a:t> </a:t>
            </a:r>
            <a:r>
              <a:rPr sz="1600" b="0" dirty="0" err="1">
                <a:solidFill>
                  <a:srgbClr val="222222"/>
                </a:solidFill>
                <a:latin typeface="맑은 고딕"/>
              </a:rPr>
              <a:t>그룹과</a:t>
            </a:r>
            <a:r>
              <a:rPr sz="1600" b="0" dirty="0">
                <a:solidFill>
                  <a:srgbClr val="222222"/>
                </a:solidFill>
                <a:latin typeface="맑은 고딕"/>
              </a:rPr>
              <a:t> </a:t>
            </a:r>
            <a:r>
              <a:rPr sz="1600" b="0" dirty="0" err="1">
                <a:solidFill>
                  <a:srgbClr val="222222"/>
                </a:solidFill>
                <a:latin typeface="맑은 고딕"/>
              </a:rPr>
              <a:t>표현식</a:t>
            </a:r>
            <a:endParaRPr sz="1600" b="0" dirty="0">
              <a:solidFill>
                <a:srgbClr val="222222"/>
              </a:solidFill>
              <a:latin typeface="맑은 고딕"/>
            </a:endParaRPr>
          </a:p>
          <a:p>
            <a:pPr>
              <a:spcAft>
                <a:spcPts val="700"/>
              </a:spcAft>
            </a:pPr>
            <a:r>
              <a:rPr sz="1600" b="0" dirty="0">
                <a:solidFill>
                  <a:srgbClr val="222222"/>
                </a:solidFill>
                <a:latin typeface="맑은 고딕"/>
              </a:rPr>
              <a:t>•  </a:t>
            </a:r>
            <a:r>
              <a:rPr lang="en-US" sz="1600" b="0" dirty="0">
                <a:solidFill>
                  <a:srgbClr val="222222"/>
                </a:solidFill>
                <a:latin typeface="맑은 고딕"/>
              </a:rPr>
              <a:t>21.</a:t>
            </a:r>
            <a:r>
              <a:rPr sz="1600" b="0" dirty="0">
                <a:solidFill>
                  <a:srgbClr val="222222"/>
                </a:solidFill>
                <a:latin typeface="맑은 고딕"/>
              </a:rPr>
              <a:t>5  </a:t>
            </a:r>
            <a:r>
              <a:rPr sz="1600" b="0" dirty="0" err="1">
                <a:solidFill>
                  <a:srgbClr val="222222"/>
                </a:solidFill>
                <a:latin typeface="맑은 고딕"/>
              </a:rPr>
              <a:t>시스템</a:t>
            </a:r>
            <a:r>
              <a:rPr sz="1600" b="0" dirty="0">
                <a:solidFill>
                  <a:srgbClr val="222222"/>
                </a:solidFill>
                <a:latin typeface="맑은 고딕"/>
              </a:rPr>
              <a:t> </a:t>
            </a:r>
            <a:r>
              <a:rPr sz="1600" b="0" dirty="0" err="1">
                <a:solidFill>
                  <a:srgbClr val="222222"/>
                </a:solidFill>
                <a:latin typeface="맑은 고딕"/>
              </a:rPr>
              <a:t>통계</a:t>
            </a:r>
            <a:r>
              <a:rPr sz="1600" b="0" dirty="0">
                <a:solidFill>
                  <a:srgbClr val="222222"/>
                </a:solidFill>
                <a:latin typeface="맑은 고딕"/>
              </a:rPr>
              <a:t> — </a:t>
            </a:r>
            <a:r>
              <a:rPr sz="1600" b="0" dirty="0" err="1">
                <a:solidFill>
                  <a:srgbClr val="222222"/>
                </a:solidFill>
                <a:latin typeface="맑은 고딕"/>
              </a:rPr>
              <a:t>하드웨어를</a:t>
            </a:r>
            <a:r>
              <a:rPr sz="1600" b="0" dirty="0">
                <a:solidFill>
                  <a:srgbClr val="222222"/>
                </a:solidFill>
                <a:latin typeface="맑은 고딕"/>
              </a:rPr>
              <a:t> </a:t>
            </a:r>
            <a:r>
              <a:rPr sz="1600" b="0" dirty="0" err="1">
                <a:solidFill>
                  <a:srgbClr val="222222"/>
                </a:solidFill>
                <a:latin typeface="맑은 고딕"/>
              </a:rPr>
              <a:t>옵티마이저에게</a:t>
            </a:r>
            <a:r>
              <a:rPr sz="1600" b="0" dirty="0">
                <a:solidFill>
                  <a:srgbClr val="222222"/>
                </a:solidFill>
                <a:latin typeface="맑은 고딕"/>
              </a:rPr>
              <a:t> </a:t>
            </a:r>
            <a:r>
              <a:rPr sz="1600" b="0" dirty="0" err="1">
                <a:solidFill>
                  <a:srgbClr val="222222"/>
                </a:solidFill>
                <a:latin typeface="맑은 고딕"/>
              </a:rPr>
              <a:t>알린다</a:t>
            </a:r>
            <a:endParaRPr sz="1600" b="0" dirty="0">
              <a:solidFill>
                <a:srgbClr val="222222"/>
              </a:solidFill>
              <a:latin typeface="맑은 고딕"/>
            </a:endParaRPr>
          </a:p>
          <a:p>
            <a:pPr>
              <a:spcAft>
                <a:spcPts val="700"/>
              </a:spcAft>
            </a:pPr>
            <a:r>
              <a:rPr sz="1600" b="0" dirty="0">
                <a:solidFill>
                  <a:srgbClr val="222222"/>
                </a:solidFill>
                <a:latin typeface="맑은 고딕"/>
              </a:rPr>
              <a:t>•  </a:t>
            </a:r>
            <a:r>
              <a:rPr lang="en-US" sz="1600" b="0" dirty="0">
                <a:solidFill>
                  <a:srgbClr val="222222"/>
                </a:solidFill>
                <a:latin typeface="맑은 고딕"/>
              </a:rPr>
              <a:t>21</a:t>
            </a:r>
            <a:r>
              <a:rPr sz="1600" b="0" dirty="0">
                <a:solidFill>
                  <a:srgbClr val="222222"/>
                </a:solidFill>
                <a:latin typeface="맑은 고딕"/>
              </a:rPr>
              <a:t>.6  </a:t>
            </a:r>
            <a:r>
              <a:rPr sz="1600" b="0" dirty="0" err="1">
                <a:solidFill>
                  <a:srgbClr val="222222"/>
                </a:solidFill>
                <a:latin typeface="맑은 고딕"/>
              </a:rPr>
              <a:t>통계</a:t>
            </a:r>
            <a:r>
              <a:rPr sz="1600" b="0" dirty="0">
                <a:solidFill>
                  <a:srgbClr val="222222"/>
                </a:solidFill>
                <a:latin typeface="맑은 고딕"/>
              </a:rPr>
              <a:t> Preferences — </a:t>
            </a:r>
            <a:r>
              <a:rPr sz="1600" b="0" dirty="0" err="1">
                <a:solidFill>
                  <a:srgbClr val="222222"/>
                </a:solidFill>
                <a:latin typeface="맑은 고딕"/>
              </a:rPr>
              <a:t>수집</a:t>
            </a:r>
            <a:r>
              <a:rPr sz="1600" b="0" dirty="0">
                <a:solidFill>
                  <a:srgbClr val="222222"/>
                </a:solidFill>
                <a:latin typeface="맑은 고딕"/>
              </a:rPr>
              <a:t> </a:t>
            </a:r>
            <a:r>
              <a:rPr sz="1600" b="0" dirty="0" err="1">
                <a:solidFill>
                  <a:srgbClr val="222222"/>
                </a:solidFill>
                <a:latin typeface="맑은 고딕"/>
              </a:rPr>
              <a:t>정책을</a:t>
            </a:r>
            <a:r>
              <a:rPr sz="1600" b="0" dirty="0">
                <a:solidFill>
                  <a:srgbClr val="222222"/>
                </a:solidFill>
                <a:latin typeface="맑은 고딕"/>
              </a:rPr>
              <a:t> </a:t>
            </a:r>
            <a:r>
              <a:rPr sz="1600" b="0" dirty="0" err="1">
                <a:solidFill>
                  <a:srgbClr val="222222"/>
                </a:solidFill>
                <a:latin typeface="맑은 고딕"/>
              </a:rPr>
              <a:t>계층으로</a:t>
            </a:r>
            <a:r>
              <a:rPr sz="1600" b="0" dirty="0">
                <a:solidFill>
                  <a:srgbClr val="222222"/>
                </a:solidFill>
                <a:latin typeface="맑은 고딕"/>
              </a:rPr>
              <a:t> </a:t>
            </a:r>
            <a:r>
              <a:rPr sz="1600" b="0" dirty="0" err="1">
                <a:solidFill>
                  <a:srgbClr val="222222"/>
                </a:solidFill>
                <a:latin typeface="맑은 고딕"/>
              </a:rPr>
              <a:t>관리</a:t>
            </a:r>
            <a:r>
              <a:rPr sz="1600" b="0" dirty="0">
                <a:solidFill>
                  <a:srgbClr val="222222"/>
                </a:solidFill>
                <a:latin typeface="맑은 고딕"/>
              </a:rPr>
              <a:t> (ADMIN 33장 </a:t>
            </a:r>
            <a:r>
              <a:rPr sz="1600" b="0" dirty="0" err="1">
                <a:solidFill>
                  <a:srgbClr val="222222"/>
                </a:solidFill>
                <a:latin typeface="맑은 고딕"/>
              </a:rPr>
              <a:t>심화</a:t>
            </a:r>
            <a:r>
              <a:rPr sz="1600" b="0" dirty="0">
                <a:solidFill>
                  <a:srgbClr val="222222"/>
                </a:solidFill>
                <a:latin typeface="맑은 고딕"/>
              </a:rPr>
              <a:t>)</a:t>
            </a:r>
          </a:p>
          <a:p>
            <a:pPr>
              <a:spcAft>
                <a:spcPts val="700"/>
              </a:spcAft>
            </a:pPr>
            <a:r>
              <a:rPr sz="1600" b="0" dirty="0">
                <a:solidFill>
                  <a:srgbClr val="222222"/>
                </a:solidFill>
                <a:latin typeface="맑은 고딕"/>
              </a:rPr>
              <a:t>•  </a:t>
            </a:r>
            <a:r>
              <a:rPr lang="en-US" sz="1600" b="0" dirty="0">
                <a:solidFill>
                  <a:srgbClr val="222222"/>
                </a:solidFill>
                <a:latin typeface="맑은 고딕"/>
              </a:rPr>
              <a:t>21</a:t>
            </a:r>
            <a:r>
              <a:rPr sz="1600" b="0" dirty="0">
                <a:solidFill>
                  <a:srgbClr val="222222"/>
                </a:solidFill>
                <a:latin typeface="맑은 고딕"/>
              </a:rPr>
              <a:t>.7  Optimizer Statistics Advisor — </a:t>
            </a:r>
            <a:r>
              <a:rPr sz="1600" b="0" dirty="0" err="1">
                <a:solidFill>
                  <a:srgbClr val="222222"/>
                </a:solidFill>
                <a:latin typeface="맑은 고딕"/>
              </a:rPr>
              <a:t>통계</a:t>
            </a:r>
            <a:r>
              <a:rPr sz="1600" b="0" dirty="0">
                <a:solidFill>
                  <a:srgbClr val="222222"/>
                </a:solidFill>
                <a:latin typeface="맑은 고딕"/>
              </a:rPr>
              <a:t> </a:t>
            </a:r>
            <a:r>
              <a:rPr sz="1600" b="0" dirty="0" err="1">
                <a:solidFill>
                  <a:srgbClr val="222222"/>
                </a:solidFill>
                <a:latin typeface="맑은 고딕"/>
              </a:rPr>
              <a:t>운영</a:t>
            </a:r>
            <a:r>
              <a:rPr sz="1600" b="0" dirty="0">
                <a:solidFill>
                  <a:srgbClr val="222222"/>
                </a:solidFill>
                <a:latin typeface="맑은 고딕"/>
              </a:rPr>
              <a:t> </a:t>
            </a:r>
            <a:r>
              <a:rPr sz="1600" b="0" dirty="0" err="1">
                <a:solidFill>
                  <a:srgbClr val="222222"/>
                </a:solidFill>
                <a:latin typeface="맑은 고딕"/>
              </a:rPr>
              <a:t>자동</a:t>
            </a:r>
            <a:r>
              <a:rPr sz="1600" b="0" dirty="0">
                <a:solidFill>
                  <a:srgbClr val="222222"/>
                </a:solidFill>
                <a:latin typeface="맑은 고딕"/>
              </a:rPr>
              <a:t> </a:t>
            </a:r>
            <a:r>
              <a:rPr sz="1600" b="0" dirty="0" err="1">
                <a:solidFill>
                  <a:srgbClr val="222222"/>
                </a:solidFill>
                <a:latin typeface="맑은 고딕"/>
              </a:rPr>
              <a:t>점검</a:t>
            </a:r>
            <a:r>
              <a:rPr sz="1600" b="0" dirty="0">
                <a:solidFill>
                  <a:srgbClr val="222222"/>
                </a:solidFill>
                <a:latin typeface="맑은 고딕"/>
              </a:rPr>
              <a:t> (ADMIN 33장 </a:t>
            </a:r>
            <a:r>
              <a:rPr sz="1600" b="0" dirty="0" err="1">
                <a:solidFill>
                  <a:srgbClr val="222222"/>
                </a:solidFill>
                <a:latin typeface="맑은 고딕"/>
              </a:rPr>
              <a:t>심화</a:t>
            </a:r>
            <a:r>
              <a:rPr sz="1600" b="0" dirty="0">
                <a:solidFill>
                  <a:srgbClr val="222222"/>
                </a:solidFill>
                <a:latin typeface="맑은 고딕"/>
              </a:rPr>
              <a:t>)</a:t>
            </a:r>
          </a:p>
          <a:p>
            <a:pPr>
              <a:spcAft>
                <a:spcPts val="700"/>
              </a:spcAft>
            </a:pPr>
            <a:r>
              <a:rPr sz="1600" b="0" dirty="0">
                <a:solidFill>
                  <a:srgbClr val="222222"/>
                </a:solidFill>
                <a:latin typeface="맑은 고딕"/>
              </a:rPr>
              <a:t>•  </a:t>
            </a:r>
            <a:r>
              <a:rPr lang="en-US" sz="1600" b="0" dirty="0">
                <a:solidFill>
                  <a:srgbClr val="222222"/>
                </a:solidFill>
                <a:latin typeface="맑은 고딕"/>
              </a:rPr>
              <a:t>21</a:t>
            </a:r>
            <a:r>
              <a:rPr sz="1600" b="0" dirty="0">
                <a:solidFill>
                  <a:srgbClr val="222222"/>
                </a:solidFill>
                <a:latin typeface="맑은 고딕"/>
              </a:rPr>
              <a:t>.8  </a:t>
            </a:r>
            <a:r>
              <a:rPr sz="1600" b="0" dirty="0" err="1">
                <a:solidFill>
                  <a:srgbClr val="222222"/>
                </a:solidFill>
                <a:latin typeface="맑은 고딕"/>
              </a:rPr>
              <a:t>흔한</a:t>
            </a:r>
            <a:r>
              <a:rPr sz="1600" b="0" dirty="0">
                <a:solidFill>
                  <a:srgbClr val="222222"/>
                </a:solidFill>
                <a:latin typeface="맑은 고딕"/>
              </a:rPr>
              <a:t> </a:t>
            </a:r>
            <a:r>
              <a:rPr sz="1600" b="0" dirty="0" err="1">
                <a:solidFill>
                  <a:srgbClr val="222222"/>
                </a:solidFill>
                <a:latin typeface="맑은 고딕"/>
              </a:rPr>
              <a:t>함정</a:t>
            </a:r>
            <a:r>
              <a:rPr sz="1600" b="0" dirty="0">
                <a:solidFill>
                  <a:srgbClr val="222222"/>
                </a:solidFill>
                <a:latin typeface="맑은 고딕"/>
              </a:rPr>
              <a:t> — </a:t>
            </a:r>
            <a:r>
              <a:rPr sz="1600" b="0" dirty="0" err="1">
                <a:solidFill>
                  <a:srgbClr val="222222"/>
                </a:solidFill>
                <a:latin typeface="맑은 고딕"/>
              </a:rPr>
              <a:t>전체</a:t>
            </a:r>
            <a:r>
              <a:rPr sz="1600" b="0" dirty="0">
                <a:solidFill>
                  <a:srgbClr val="222222"/>
                </a:solidFill>
                <a:latin typeface="맑은 고딕"/>
              </a:rPr>
              <a:t> </a:t>
            </a:r>
            <a:r>
              <a:rPr sz="1600" b="0" dirty="0" err="1">
                <a:solidFill>
                  <a:srgbClr val="222222"/>
                </a:solidFill>
                <a:latin typeface="맑은 고딕"/>
              </a:rPr>
              <a:t>재수집을</a:t>
            </a:r>
            <a:r>
              <a:rPr sz="1600" b="0" dirty="0">
                <a:solidFill>
                  <a:srgbClr val="222222"/>
                </a:solidFill>
                <a:latin typeface="맑은 고딕"/>
              </a:rPr>
              <a:t> </a:t>
            </a:r>
            <a:r>
              <a:rPr sz="1600" b="0" dirty="0" err="1">
                <a:solidFill>
                  <a:srgbClr val="222222"/>
                </a:solidFill>
                <a:latin typeface="맑은 고딕"/>
              </a:rPr>
              <a:t>만능으로</a:t>
            </a:r>
            <a:r>
              <a:rPr sz="1600" b="0" dirty="0">
                <a:solidFill>
                  <a:srgbClr val="222222"/>
                </a:solidFill>
                <a:latin typeface="맑은 고딕"/>
              </a:rPr>
              <a:t> </a:t>
            </a:r>
            <a:r>
              <a:rPr sz="1600" b="0" dirty="0" err="1">
                <a:solidFill>
                  <a:srgbClr val="222222"/>
                </a:solidFill>
                <a:latin typeface="맑은 고딕"/>
              </a:rPr>
              <a:t>여기지</a:t>
            </a:r>
            <a:r>
              <a:rPr sz="1600" b="0" dirty="0">
                <a:solidFill>
                  <a:srgbClr val="222222"/>
                </a:solidFill>
                <a:latin typeface="맑은 고딕"/>
              </a:rPr>
              <a:t> </a:t>
            </a:r>
            <a:r>
              <a:rPr sz="1600" b="0" dirty="0" err="1">
                <a:solidFill>
                  <a:srgbClr val="222222"/>
                </a:solidFill>
                <a:latin typeface="맑은 고딕"/>
              </a:rPr>
              <a:t>않는다</a:t>
            </a:r>
            <a:endParaRPr sz="1600" b="0" dirty="0">
              <a:solidFill>
                <a:srgbClr val="222222"/>
              </a:solidFill>
              <a:latin typeface="맑은 고딕"/>
            </a:endParaRPr>
          </a:p>
          <a:p>
            <a:pPr>
              <a:spcAft>
                <a:spcPts val="700"/>
              </a:spcAft>
            </a:pPr>
            <a:r>
              <a:rPr sz="1600" b="0" dirty="0">
                <a:solidFill>
                  <a:srgbClr val="222222"/>
                </a:solidFill>
                <a:latin typeface="맑은 고딕"/>
              </a:rPr>
              <a:t>•  ※ </a:t>
            </a:r>
            <a:r>
              <a:rPr sz="1600" b="0" dirty="0" err="1">
                <a:solidFill>
                  <a:srgbClr val="222222"/>
                </a:solidFill>
                <a:latin typeface="맑은 고딕"/>
              </a:rPr>
              <a:t>실습</a:t>
            </a:r>
            <a:r>
              <a:rPr sz="1600" b="0" dirty="0">
                <a:solidFill>
                  <a:srgbClr val="222222"/>
                </a:solidFill>
                <a:latin typeface="맑은 고딕"/>
              </a:rPr>
              <a:t> 7개 </a:t>
            </a:r>
            <a:r>
              <a:rPr sz="1600" b="0" dirty="0" err="1">
                <a:solidFill>
                  <a:srgbClr val="222222"/>
                </a:solidFill>
                <a:latin typeface="맑은 고딕"/>
              </a:rPr>
              <a:t>모두</a:t>
            </a:r>
            <a:r>
              <a:rPr sz="1600" b="0" dirty="0">
                <a:solidFill>
                  <a:srgbClr val="222222"/>
                </a:solidFill>
                <a:latin typeface="맑은 고딕"/>
              </a:rPr>
              <a:t> non-CDB </a:t>
            </a:r>
            <a:r>
              <a:rPr sz="1600" b="0" dirty="0" err="1">
                <a:solidFill>
                  <a:srgbClr val="222222"/>
                </a:solidFill>
                <a:latin typeface="맑은 고딕"/>
              </a:rPr>
              <a:t>orcl</a:t>
            </a:r>
            <a:r>
              <a:rPr sz="1600" b="0" dirty="0">
                <a:solidFill>
                  <a:srgbClr val="222222"/>
                </a:solidFill>
                <a:latin typeface="맑은 고딕"/>
              </a:rPr>
              <a:t> 19.3 </a:t>
            </a:r>
            <a:r>
              <a:rPr sz="1600" b="0" dirty="0" err="1">
                <a:solidFill>
                  <a:srgbClr val="222222"/>
                </a:solidFill>
                <a:latin typeface="맑은 고딕"/>
              </a:rPr>
              <a:t>전용</a:t>
            </a:r>
            <a:r>
              <a:rPr sz="1600" b="0" dirty="0">
                <a:solidFill>
                  <a:srgbClr val="222222"/>
                </a:solidFill>
                <a:latin typeface="맑은 고딕"/>
              </a:rPr>
              <a:t>, </a:t>
            </a:r>
            <a:r>
              <a:rPr sz="1600" b="0" dirty="0" err="1">
                <a:solidFill>
                  <a:srgbClr val="222222"/>
                </a:solidFill>
                <a:latin typeface="맑은 고딕"/>
              </a:rPr>
              <a:t>통계</a:t>
            </a:r>
            <a:r>
              <a:rPr sz="1600" b="0" dirty="0">
                <a:solidFill>
                  <a:srgbClr val="222222"/>
                </a:solidFill>
                <a:latin typeface="맑은 고딕"/>
              </a:rPr>
              <a:t> </a:t>
            </a:r>
            <a:r>
              <a:rPr sz="1600" b="0" dirty="0" err="1">
                <a:solidFill>
                  <a:srgbClr val="222222"/>
                </a:solidFill>
                <a:latin typeface="맑은 고딕"/>
              </a:rPr>
              <a:t>변경</a:t>
            </a:r>
            <a:r>
              <a:rPr sz="1600" b="0" dirty="0">
                <a:solidFill>
                  <a:srgbClr val="222222"/>
                </a:solidFill>
                <a:latin typeface="맑은 고딕"/>
              </a:rPr>
              <a:t> </a:t>
            </a:r>
            <a:r>
              <a:rPr sz="1600" b="0" dirty="0" err="1">
                <a:solidFill>
                  <a:srgbClr val="222222"/>
                </a:solidFill>
                <a:latin typeface="맑은 고딕"/>
              </a:rPr>
              <a:t>실습은</a:t>
            </a:r>
            <a:r>
              <a:rPr sz="1600" b="0" dirty="0">
                <a:solidFill>
                  <a:srgbClr val="222222"/>
                </a:solidFill>
                <a:latin typeface="맑은 고딕"/>
              </a:rPr>
              <a:t> </a:t>
            </a:r>
            <a:r>
              <a:rPr sz="1600" b="0" dirty="0" err="1">
                <a:solidFill>
                  <a:srgbClr val="222222"/>
                </a:solidFill>
                <a:latin typeface="맑은 고딕"/>
              </a:rPr>
              <a:t>원복</a:t>
            </a:r>
            <a:r>
              <a:rPr sz="1600" b="0" dirty="0">
                <a:solidFill>
                  <a:srgbClr val="222222"/>
                </a:solidFill>
                <a:latin typeface="맑은 고딕"/>
              </a:rPr>
              <a:t> </a:t>
            </a:r>
            <a:r>
              <a:rPr sz="1600" b="0" dirty="0" err="1">
                <a:solidFill>
                  <a:srgbClr val="222222"/>
                </a:solidFill>
                <a:latin typeface="맑은 고딕"/>
              </a:rPr>
              <a:t>필수</a:t>
            </a:r>
            <a:endParaRPr sz="1600" b="0" dirty="0">
              <a:solidFill>
                <a:srgbClr val="222222"/>
              </a:solidFill>
              <a:latin typeface="맑은 고딕"/>
            </a:endParaRPr>
          </a:p>
        </p:txBody>
      </p:sp>
    </p:spTree>
    <p:extLst>
      <p:ext uri="{BB962C8B-B14F-4D97-AF65-F5344CB8AC3E}">
        <p14:creationId xmlns:p14="http://schemas.microsoft.com/office/powerpoint/2010/main" val="4058502238"/>
      </p:ext>
    </p:extLst>
  </p:cSld>
  <p:clrMapOvr>
    <a:masterClrMapping/>
  </p:clrMapOvr>
</p:sld>
</file>

<file path=ppt/slides/slide8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707886"/>
          </a:xfrm>
          <a:prstGeom prst="rect">
            <a:avLst/>
          </a:prstGeom>
          <a:noFill/>
        </p:spPr>
        <p:txBody>
          <a:bodyPr wrap="square">
            <a:spAutoFit/>
          </a:bodyPr>
          <a:lstStyle/>
          <a:p>
            <a:pPr>
              <a:spcAft>
                <a:spcPts val="400"/>
              </a:spcAft>
            </a:pPr>
            <a:r>
              <a:rPr lang="en-US" sz="4000" b="1" dirty="0">
                <a:solidFill>
                  <a:srgbClr val="FFFFFF"/>
                </a:solidFill>
                <a:latin typeface="맑은 고딕"/>
              </a:rPr>
              <a:t>21</a:t>
            </a:r>
            <a:r>
              <a:rPr sz="4000" b="1" dirty="0">
                <a:solidFill>
                  <a:srgbClr val="FFFFFF"/>
                </a:solidFill>
                <a:latin typeface="맑은 고딕"/>
              </a:rPr>
              <a:t>.2</a:t>
            </a:r>
          </a:p>
        </p:txBody>
      </p:sp>
      <p:sp>
        <p:nvSpPr>
          <p:cNvPr id="4" name="TextBox 3"/>
          <p:cNvSpPr txBox="1"/>
          <p:nvPr/>
        </p:nvSpPr>
        <p:spPr>
          <a:xfrm>
            <a:off x="822960" y="3017520"/>
            <a:ext cx="10515600" cy="914400"/>
          </a:xfrm>
          <a:prstGeom prst="rect">
            <a:avLst/>
          </a:prstGeom>
          <a:noFill/>
        </p:spPr>
        <p:txBody>
          <a:bodyPr wrap="square">
            <a:spAutoFit/>
          </a:bodyPr>
          <a:lstStyle/>
          <a:p>
            <a:pPr>
              <a:spcAft>
                <a:spcPts val="400"/>
              </a:spcAft>
            </a:pPr>
            <a:r>
              <a:rPr sz="2800" b="1">
                <a:solidFill>
                  <a:srgbClr val="FFFFFF"/>
                </a:solidFill>
                <a:latin typeface="맑은 고딕"/>
              </a:rPr>
              <a:t>히스토그램</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spcAft>
                <a:spcPts val="600"/>
              </a:spcAft>
            </a:pPr>
            <a:r>
              <a:rPr sz="1600" b="0">
                <a:solidFill>
                  <a:srgbClr val="FFFFFF"/>
                </a:solidFill>
                <a:latin typeface="맑은 고딕"/>
              </a:rPr>
              <a:t>•  균등 분포 가정의 한계 (300 vs 3,100)</a:t>
            </a:r>
          </a:p>
          <a:p>
            <a:pPr>
              <a:spcAft>
                <a:spcPts val="600"/>
              </a:spcAft>
            </a:pPr>
            <a:r>
              <a:rPr sz="1600" b="0">
                <a:solidFill>
                  <a:srgbClr val="FFFFFF"/>
                </a:solidFill>
                <a:latin typeface="맑은 고딕"/>
              </a:rPr>
              <a:t>•  FREQUENCY · TOP-FREQUENCY · HYBRID</a:t>
            </a:r>
          </a:p>
          <a:p>
            <a:pPr>
              <a:spcAft>
                <a:spcPts val="600"/>
              </a:spcAft>
            </a:pPr>
            <a:r>
              <a:rPr sz="1600" b="0">
                <a:solidFill>
                  <a:srgbClr val="FFFFFF"/>
                </a:solidFill>
                <a:latin typeface="맑은 고딕"/>
              </a:rPr>
              <a:t>•  DBA_TAB_COL_STATISTICS 실측</a:t>
            </a:r>
          </a:p>
          <a:p>
            <a:pPr>
              <a:spcAft>
                <a:spcPts val="600"/>
              </a:spcAft>
            </a:pPr>
            <a:r>
              <a:rPr sz="1600" b="0">
                <a:solidFill>
                  <a:srgbClr val="FFFFFF"/>
                </a:solidFill>
                <a:latin typeface="맑은 고딕"/>
              </a:rPr>
              <a:t>•  접근 경로와 조인에 미치는 영향</a:t>
            </a:r>
          </a:p>
        </p:txBody>
      </p:sp>
    </p:spTree>
    <p:extLst>
      <p:ext uri="{BB962C8B-B14F-4D97-AF65-F5344CB8AC3E}">
        <p14:creationId xmlns:p14="http://schemas.microsoft.com/office/powerpoint/2010/main" val="295275745"/>
      </p:ext>
    </p:extLst>
  </p:cSld>
  <p:clrMapOvr>
    <a:masterClrMapping/>
  </p:clrMapOvr>
</p:sld>
</file>

<file path=ppt/slides/slide8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균등 분포 가정과 그 한계</a:t>
            </a:r>
          </a:p>
        </p:txBody>
      </p:sp>
      <p:sp>
        <p:nvSpPr>
          <p:cNvPr id="4" name="TextBox 3"/>
          <p:cNvSpPr txBox="1"/>
          <p:nvPr/>
        </p:nvSpPr>
        <p:spPr>
          <a:xfrm>
            <a:off x="640080" y="1078992"/>
            <a:ext cx="10881360" cy="457200"/>
          </a:xfrm>
          <a:prstGeom prst="rect">
            <a:avLst/>
          </a:prstGeom>
          <a:noFill/>
        </p:spPr>
        <p:txBody>
          <a:bodyPr wrap="square">
            <a:spAutoFit/>
          </a:bodyPr>
          <a:lstStyle/>
          <a:p>
            <a:pPr>
              <a:spcAft>
                <a:spcPts val="400"/>
              </a:spcAft>
            </a:pPr>
            <a:r>
              <a:rPr sz="1500" b="0">
                <a:solidFill>
                  <a:srgbClr val="5A6672"/>
                </a:solidFill>
                <a:latin typeface="맑은 고딕"/>
              </a:rPr>
              <a:t>히스토그램 없으면 num_rows / NDV</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옵티마이저 기본 가정: 컬럼 값이 균등하게 분포</a:t>
            </a:r>
          </a:p>
          <a:p>
            <a:pPr>
              <a:spcAft>
                <a:spcPts val="800"/>
              </a:spcAft>
            </a:pPr>
            <a:r>
              <a:rPr sz="1700" b="0">
                <a:solidFill>
                  <a:srgbClr val="222222"/>
                </a:solidFill>
                <a:latin typeface="맑은 고딕"/>
              </a:rPr>
              <a:t>•  등식 조건 추정 = 전체 행 수 ÷ NDV</a:t>
            </a:r>
          </a:p>
          <a:p>
            <a:pPr>
              <a:spcAft>
                <a:spcPts val="800"/>
              </a:spcAft>
            </a:pPr>
            <a:r>
              <a:rPr sz="1700" b="0">
                <a:solidFill>
                  <a:srgbClr val="222222"/>
                </a:solidFill>
                <a:latin typeface="맑은 고딕"/>
              </a:rPr>
              <a:t>•  HOSP_ID: 300,000 ÷ 1,000 = 값당 300건 추정</a:t>
            </a:r>
          </a:p>
          <a:p>
            <a:pPr>
              <a:spcAft>
                <a:spcPts val="800"/>
              </a:spcAft>
            </a:pPr>
            <a:r>
              <a:rPr sz="1700" b="0">
                <a:solidFill>
                  <a:srgbClr val="222222"/>
                </a:solidFill>
                <a:latin typeface="맑은 고딕"/>
              </a:rPr>
              <a:t>•  그러나 실제 HOSP_ID=36 청구는 3,100건 → 약 10배 과소추정</a:t>
            </a:r>
          </a:p>
          <a:p>
            <a:pPr>
              <a:spcAft>
                <a:spcPts val="800"/>
              </a:spcAft>
            </a:pPr>
            <a:r>
              <a:rPr sz="1700" b="0">
                <a:solidFill>
                  <a:srgbClr val="222222"/>
                </a:solidFill>
                <a:latin typeface="맑은 고딕"/>
              </a:rPr>
              <a:t>•  편중 컬럼에서 균등 가정은 크게 빗나간다</a:t>
            </a:r>
          </a:p>
        </p:txBody>
      </p:sp>
    </p:spTree>
    <p:extLst>
      <p:ext uri="{BB962C8B-B14F-4D97-AF65-F5344CB8AC3E}">
        <p14:creationId xmlns:p14="http://schemas.microsoft.com/office/powerpoint/2010/main" val="4041204390"/>
      </p:ext>
    </p:extLst>
  </p:cSld>
  <p:clrMapOvr>
    <a:masterClrMapping/>
  </p:clrMapOvr>
</p:sld>
</file>

<file path=ppt/slides/slide8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균등 가정 추정치 — 실측</a:t>
            </a:r>
          </a:p>
        </p:txBody>
      </p:sp>
      <p:sp>
        <p:nvSpPr>
          <p:cNvPr id="4" name="TextBox 3"/>
          <p:cNvSpPr txBox="1"/>
          <p:nvPr/>
        </p:nvSpPr>
        <p:spPr>
          <a:xfrm>
            <a:off x="640080" y="1078992"/>
            <a:ext cx="10881360" cy="457200"/>
          </a:xfrm>
          <a:prstGeom prst="rect">
            <a:avLst/>
          </a:prstGeom>
          <a:noFill/>
        </p:spPr>
        <p:txBody>
          <a:bodyPr wrap="square">
            <a:spAutoFit/>
          </a:bodyPr>
          <a:lstStyle/>
          <a:p>
            <a:pPr>
              <a:spcAft>
                <a:spcPts val="400"/>
              </a:spcAft>
            </a:pPr>
            <a:r>
              <a:rPr sz="1500" b="0">
                <a:solidFill>
                  <a:srgbClr val="5A6672"/>
                </a:solidFill>
                <a:latin typeface="맑은 고딕"/>
              </a:rPr>
              <a:t>dba_tables / dba_tab_col_statistics</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27000" tIns="101600" rtlCol="0" anchor="ctr"/>
          <a:lstStyle/>
          <a:p>
            <a:pPr>
              <a:spcAft>
                <a:spcPts val="0"/>
              </a:spcAft>
            </a:pPr>
            <a:r>
              <a:rPr sz="1250" b="0" dirty="0">
                <a:solidFill>
                  <a:srgbClr val="F2F2F2"/>
                </a:solidFill>
                <a:latin typeface="Consolas"/>
              </a:rPr>
              <a:t>SQL&gt; SELECT </a:t>
            </a:r>
            <a:r>
              <a:rPr sz="1250" b="0" dirty="0" err="1">
                <a:solidFill>
                  <a:srgbClr val="F2F2F2"/>
                </a:solidFill>
                <a:latin typeface="Consolas"/>
              </a:rPr>
              <a:t>num_rows</a:t>
            </a:r>
            <a:r>
              <a:rPr sz="1250" b="0" dirty="0">
                <a:solidFill>
                  <a:srgbClr val="F2F2F2"/>
                </a:solidFill>
                <a:latin typeface="Consolas"/>
              </a:rPr>
              <a:t>,</a:t>
            </a:r>
          </a:p>
          <a:p>
            <a:pPr>
              <a:spcAft>
                <a:spcPts val="0"/>
              </a:spcAft>
            </a:pPr>
            <a:r>
              <a:rPr sz="1250" b="0" dirty="0">
                <a:solidFill>
                  <a:srgbClr val="F2F2F2"/>
                </a:solidFill>
                <a:latin typeface="Consolas"/>
              </a:rPr>
              <a:t>  2    (SELECT </a:t>
            </a:r>
            <a:r>
              <a:rPr sz="1250" b="0" dirty="0" err="1">
                <a:solidFill>
                  <a:srgbClr val="F2F2F2"/>
                </a:solidFill>
                <a:latin typeface="Consolas"/>
              </a:rPr>
              <a:t>num_distinct</a:t>
            </a:r>
            <a:r>
              <a:rPr sz="1250" b="0" dirty="0">
                <a:solidFill>
                  <a:srgbClr val="F2F2F2"/>
                </a:solidFill>
                <a:latin typeface="Consolas"/>
              </a:rPr>
              <a:t> FROM </a:t>
            </a:r>
            <a:r>
              <a:rPr sz="1250" b="0" dirty="0" err="1">
                <a:solidFill>
                  <a:srgbClr val="F2F2F2"/>
                </a:solidFill>
                <a:latin typeface="Consolas"/>
              </a:rPr>
              <a:t>dba_tab_col_statistics</a:t>
            </a:r>
            <a:endParaRPr sz="1250" b="0" dirty="0">
              <a:solidFill>
                <a:srgbClr val="F2F2F2"/>
              </a:solidFill>
              <a:latin typeface="Consolas"/>
            </a:endParaRPr>
          </a:p>
          <a:p>
            <a:pPr>
              <a:spcAft>
                <a:spcPts val="0"/>
              </a:spcAft>
            </a:pPr>
            <a:r>
              <a:rPr sz="1250" b="0" dirty="0">
                <a:solidFill>
                  <a:srgbClr val="F2F2F2"/>
                </a:solidFill>
                <a:latin typeface="Consolas"/>
              </a:rPr>
              <a:t>  3      WHERE owner='SQLT' AND </a:t>
            </a:r>
            <a:r>
              <a:rPr sz="1250" b="0" dirty="0" err="1">
                <a:solidFill>
                  <a:srgbClr val="F2F2F2"/>
                </a:solidFill>
                <a:latin typeface="Consolas"/>
              </a:rPr>
              <a:t>table_name</a:t>
            </a:r>
            <a:r>
              <a:rPr sz="1250" b="0" dirty="0">
                <a:solidFill>
                  <a:srgbClr val="F2F2F2"/>
                </a:solidFill>
                <a:latin typeface="Consolas"/>
              </a:rPr>
              <a:t>='MEDICAL_CLAIMS'</a:t>
            </a:r>
          </a:p>
          <a:p>
            <a:pPr>
              <a:spcAft>
                <a:spcPts val="0"/>
              </a:spcAft>
            </a:pPr>
            <a:r>
              <a:rPr sz="1250" b="0" dirty="0">
                <a:solidFill>
                  <a:srgbClr val="F2F2F2"/>
                </a:solidFill>
                <a:latin typeface="Consolas"/>
              </a:rPr>
              <a:t>  4        AND </a:t>
            </a:r>
            <a:r>
              <a:rPr sz="1250" b="0" dirty="0" err="1">
                <a:solidFill>
                  <a:srgbClr val="F2F2F2"/>
                </a:solidFill>
                <a:latin typeface="Consolas"/>
              </a:rPr>
              <a:t>column_name</a:t>
            </a:r>
            <a:r>
              <a:rPr sz="1250" b="0" dirty="0">
                <a:solidFill>
                  <a:srgbClr val="F2F2F2"/>
                </a:solidFill>
                <a:latin typeface="Consolas"/>
              </a:rPr>
              <a:t>='HOSP_ID') </a:t>
            </a:r>
            <a:r>
              <a:rPr sz="1250" b="0" dirty="0" err="1">
                <a:solidFill>
                  <a:srgbClr val="F2F2F2"/>
                </a:solidFill>
                <a:latin typeface="Consolas"/>
              </a:rPr>
              <a:t>ndv</a:t>
            </a:r>
            <a:r>
              <a:rPr sz="1250" b="0" dirty="0">
                <a:solidFill>
                  <a:srgbClr val="F2F2F2"/>
                </a:solidFill>
                <a:latin typeface="Consolas"/>
              </a:rPr>
              <a:t>,</a:t>
            </a:r>
          </a:p>
          <a:p>
            <a:pPr>
              <a:spcAft>
                <a:spcPts val="0"/>
              </a:spcAft>
            </a:pPr>
            <a:r>
              <a:rPr sz="1250" b="0" dirty="0">
                <a:solidFill>
                  <a:srgbClr val="F2F2F2"/>
                </a:solidFill>
                <a:latin typeface="Consolas"/>
              </a:rPr>
              <a:t>  5    ROUND(</a:t>
            </a:r>
            <a:r>
              <a:rPr sz="1250" b="0" dirty="0" err="1">
                <a:solidFill>
                  <a:srgbClr val="F2F2F2"/>
                </a:solidFill>
                <a:latin typeface="Consolas"/>
              </a:rPr>
              <a:t>num_rows</a:t>
            </a:r>
            <a:r>
              <a:rPr sz="1250" b="0" dirty="0">
                <a:solidFill>
                  <a:srgbClr val="F2F2F2"/>
                </a:solidFill>
                <a:latin typeface="Consolas"/>
              </a:rPr>
              <a:t>/1000) </a:t>
            </a:r>
            <a:r>
              <a:rPr sz="1250" b="0" dirty="0" err="1">
                <a:solidFill>
                  <a:srgbClr val="F2F2F2"/>
                </a:solidFill>
                <a:latin typeface="Consolas"/>
              </a:rPr>
              <a:t>est_per_value</a:t>
            </a:r>
            <a:endParaRPr sz="1250" b="0" dirty="0">
              <a:solidFill>
                <a:srgbClr val="F2F2F2"/>
              </a:solidFill>
              <a:latin typeface="Consolas"/>
            </a:endParaRPr>
          </a:p>
          <a:p>
            <a:pPr>
              <a:spcAft>
                <a:spcPts val="0"/>
              </a:spcAft>
            </a:pPr>
            <a:r>
              <a:rPr sz="1250" b="0" dirty="0">
                <a:solidFill>
                  <a:srgbClr val="F2F2F2"/>
                </a:solidFill>
                <a:latin typeface="Consolas"/>
              </a:rPr>
              <a:t>  6    FROM </a:t>
            </a:r>
            <a:r>
              <a:rPr sz="1250" b="0" dirty="0" err="1">
                <a:solidFill>
                  <a:srgbClr val="F2F2F2"/>
                </a:solidFill>
                <a:latin typeface="Consolas"/>
              </a:rPr>
              <a:t>dba_tables</a:t>
            </a:r>
            <a:endParaRPr sz="1250" b="0" dirty="0">
              <a:solidFill>
                <a:srgbClr val="F2F2F2"/>
              </a:solidFill>
              <a:latin typeface="Consolas"/>
            </a:endParaRPr>
          </a:p>
          <a:p>
            <a:pPr>
              <a:spcAft>
                <a:spcPts val="0"/>
              </a:spcAft>
            </a:pPr>
            <a:r>
              <a:rPr sz="1250" b="0" dirty="0">
                <a:solidFill>
                  <a:srgbClr val="F2F2F2"/>
                </a:solidFill>
                <a:latin typeface="Consolas"/>
              </a:rPr>
              <a:t>  7    WHERE owner='SQLT' AND </a:t>
            </a:r>
            <a:r>
              <a:rPr sz="1250" b="0" dirty="0" err="1">
                <a:solidFill>
                  <a:srgbClr val="F2F2F2"/>
                </a:solidFill>
                <a:latin typeface="Consolas"/>
              </a:rPr>
              <a:t>table_name</a:t>
            </a:r>
            <a:r>
              <a:rPr sz="1250" b="0" dirty="0">
                <a:solidFill>
                  <a:srgbClr val="F2F2F2"/>
                </a:solidFill>
                <a:latin typeface="Consolas"/>
              </a:rPr>
              <a:t>='MEDICAL_CLAIMS';</a:t>
            </a:r>
          </a:p>
          <a:p>
            <a:pPr>
              <a:spcAft>
                <a:spcPts val="0"/>
              </a:spcAft>
            </a:pPr>
            <a:endParaRPr sz="1250" b="0" dirty="0">
              <a:solidFill>
                <a:srgbClr val="F2F2F2"/>
              </a:solidFill>
              <a:latin typeface="Consolas"/>
            </a:endParaRPr>
          </a:p>
          <a:p>
            <a:pPr>
              <a:spcAft>
                <a:spcPts val="0"/>
              </a:spcAft>
            </a:pPr>
            <a:r>
              <a:rPr sz="1250" b="0" dirty="0">
                <a:solidFill>
                  <a:srgbClr val="F2F2F2"/>
                </a:solidFill>
                <a:latin typeface="Consolas"/>
              </a:rPr>
              <a:t>  NUM_ROWS        NDV EST_PER_VALUE</a:t>
            </a:r>
          </a:p>
          <a:p>
            <a:pPr>
              <a:spcAft>
                <a:spcPts val="0"/>
              </a:spcAft>
            </a:pPr>
            <a:r>
              <a:rPr sz="1250" b="0" dirty="0">
                <a:solidFill>
                  <a:srgbClr val="F2F2F2"/>
                </a:solidFill>
                <a:latin typeface="Consolas"/>
              </a:rPr>
              <a:t>---------- ---------- -------------</a:t>
            </a:r>
          </a:p>
          <a:p>
            <a:pPr>
              <a:spcAft>
                <a:spcPts val="0"/>
              </a:spcAft>
            </a:pPr>
            <a:r>
              <a:rPr sz="1250" b="0" dirty="0">
                <a:solidFill>
                  <a:srgbClr val="F2F2F2"/>
                </a:solidFill>
                <a:latin typeface="Consolas"/>
              </a:rPr>
              <a:t>    300000       1000           300</a:t>
            </a:r>
          </a:p>
          <a:p>
            <a:pPr>
              <a:spcAft>
                <a:spcPts val="0"/>
              </a:spcAft>
            </a:pPr>
            <a:endParaRPr sz="1250" b="0" dirty="0">
              <a:solidFill>
                <a:srgbClr val="F2F2F2"/>
              </a:solidFill>
              <a:latin typeface="Consolas"/>
            </a:endParaRPr>
          </a:p>
          <a:p>
            <a:pPr>
              <a:spcAft>
                <a:spcPts val="0"/>
              </a:spcAft>
            </a:pPr>
            <a:r>
              <a:rPr sz="1250" b="0" dirty="0">
                <a:solidFill>
                  <a:srgbClr val="F2F2F2"/>
                </a:solidFill>
                <a:latin typeface="Consolas"/>
              </a:rPr>
              <a:t>SQL&gt; SELECT COUNT(*) FROM </a:t>
            </a:r>
            <a:r>
              <a:rPr sz="1250" b="0" dirty="0" err="1">
                <a:solidFill>
                  <a:srgbClr val="F2F2F2"/>
                </a:solidFill>
                <a:latin typeface="Consolas"/>
              </a:rPr>
              <a:t>sqlt.medical_claims</a:t>
            </a:r>
            <a:r>
              <a:rPr sz="1250" b="0" dirty="0">
                <a:solidFill>
                  <a:srgbClr val="F2F2F2"/>
                </a:solidFill>
                <a:latin typeface="Consolas"/>
              </a:rPr>
              <a:t> WHERE </a:t>
            </a:r>
            <a:r>
              <a:rPr sz="1250" b="0" dirty="0" err="1">
                <a:solidFill>
                  <a:srgbClr val="F2F2F2"/>
                </a:solidFill>
                <a:latin typeface="Consolas"/>
              </a:rPr>
              <a:t>hosp_id</a:t>
            </a:r>
            <a:r>
              <a:rPr sz="1250" b="0" dirty="0">
                <a:solidFill>
                  <a:srgbClr val="F2F2F2"/>
                </a:solidFill>
                <a:latin typeface="Consolas"/>
              </a:rPr>
              <a:t>=36;</a:t>
            </a:r>
          </a:p>
          <a:p>
            <a:pPr>
              <a:spcAft>
                <a:spcPts val="0"/>
              </a:spcAft>
            </a:pPr>
            <a:r>
              <a:rPr sz="1250" b="0" dirty="0">
                <a:solidFill>
                  <a:srgbClr val="F2F2F2"/>
                </a:solidFill>
                <a:latin typeface="Consolas"/>
              </a:rPr>
              <a:t>  -&gt; 3100   (</a:t>
            </a:r>
            <a:r>
              <a:rPr sz="1250" b="0" dirty="0" err="1">
                <a:solidFill>
                  <a:srgbClr val="F2F2F2"/>
                </a:solidFill>
                <a:latin typeface="Consolas"/>
              </a:rPr>
              <a:t>균등가정</a:t>
            </a:r>
            <a:r>
              <a:rPr sz="1250" b="0" dirty="0">
                <a:solidFill>
                  <a:srgbClr val="F2F2F2"/>
                </a:solidFill>
                <a:latin typeface="Consolas"/>
              </a:rPr>
              <a:t> 300의 약 10배)</a:t>
            </a:r>
          </a:p>
        </p:txBody>
      </p:sp>
    </p:spTree>
    <p:extLst>
      <p:ext uri="{BB962C8B-B14F-4D97-AF65-F5344CB8AC3E}">
        <p14:creationId xmlns:p14="http://schemas.microsoft.com/office/powerpoint/2010/main" val="1785046788"/>
      </p:ext>
    </p:extLst>
  </p:cSld>
  <p:clrMapOvr>
    <a:masterClrMapping/>
  </p:clrMapOvr>
</p:sld>
</file>

<file path=ppt/slides/slide8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히스토그램의 세 종류</a:t>
            </a:r>
          </a:p>
        </p:txBody>
      </p:sp>
      <p:sp>
        <p:nvSpPr>
          <p:cNvPr id="4" name="TextBox 3"/>
          <p:cNvSpPr txBox="1"/>
          <p:nvPr/>
        </p:nvSpPr>
        <p:spPr>
          <a:xfrm>
            <a:off x="640080" y="1078992"/>
            <a:ext cx="10881360" cy="457200"/>
          </a:xfrm>
          <a:prstGeom prst="rect">
            <a:avLst/>
          </a:prstGeom>
          <a:noFill/>
        </p:spPr>
        <p:txBody>
          <a:bodyPr wrap="square">
            <a:spAutoFit/>
          </a:bodyPr>
          <a:lstStyle/>
          <a:p>
            <a:pPr>
              <a:spcAft>
                <a:spcPts val="400"/>
              </a:spcAft>
            </a:pPr>
            <a:r>
              <a:rPr sz="1500" b="0">
                <a:solidFill>
                  <a:srgbClr val="5A6672"/>
                </a:solidFill>
                <a:latin typeface="맑은 고딕"/>
              </a:rPr>
              <a:t>NDV·버킷 수·분포가 종류를 결정</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FREQUENCY: NDV ≤ 버킷 수(최대 254) — 값마다 버킷 하나, 가장 정밀</a:t>
            </a:r>
          </a:p>
          <a:p>
            <a:pPr>
              <a:spcAft>
                <a:spcPts val="800"/>
              </a:spcAft>
            </a:pPr>
            <a:r>
              <a:rPr sz="1700" b="0">
                <a:solidFill>
                  <a:srgbClr val="222222"/>
                </a:solidFill>
                <a:latin typeface="맑은 고딕"/>
              </a:rPr>
              <a:t>•  TOP-FREQUENCY: 상위 값이 전체 대부분 차지 — 롱테일 무시</a:t>
            </a:r>
          </a:p>
          <a:p>
            <a:pPr>
              <a:spcAft>
                <a:spcPts val="800"/>
              </a:spcAft>
            </a:pPr>
            <a:r>
              <a:rPr sz="1700" b="0">
                <a:solidFill>
                  <a:srgbClr val="222222"/>
                </a:solidFill>
                <a:latin typeface="맑은 고딕"/>
              </a:rPr>
              <a:t>•  HYBRID: NDV 많고 TOP-N 조건 불충족 — 높이균형+빈도 결합</a:t>
            </a:r>
          </a:p>
          <a:p>
            <a:pPr>
              <a:spcAft>
                <a:spcPts val="800"/>
              </a:spcAft>
            </a:pPr>
            <a:r>
              <a:rPr sz="1700" b="0">
                <a:solidFill>
                  <a:srgbClr val="222222"/>
                </a:solidFill>
                <a:latin typeface="맑은 고딕"/>
              </a:rPr>
              <a:t>•  버킷 끝값의 반복 횟수까지 기록해 편중·범위를 함께 표현</a:t>
            </a:r>
          </a:p>
          <a:p>
            <a:pPr>
              <a:spcAft>
                <a:spcPts val="800"/>
              </a:spcAft>
            </a:pPr>
            <a:r>
              <a:rPr sz="1700" b="0">
                <a:solidFill>
                  <a:srgbClr val="222222"/>
                </a:solidFill>
                <a:latin typeface="맑은 고딕"/>
              </a:rPr>
              <a:t>•  종류는 자동 수집이 데이터에 맞춰 스스로 선택</a:t>
            </a:r>
          </a:p>
        </p:txBody>
      </p:sp>
    </p:spTree>
    <p:extLst>
      <p:ext uri="{BB962C8B-B14F-4D97-AF65-F5344CB8AC3E}">
        <p14:creationId xmlns:p14="http://schemas.microsoft.com/office/powerpoint/2010/main" val="4205422937"/>
      </p:ext>
    </p:extLst>
  </p:cSld>
  <p:clrMapOvr>
    <a:masterClrMapping/>
  </p:clrMapOvr>
</p:sld>
</file>

<file path=ppt/slides/slide8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컬럼별 히스토그램 현황 — 실측</a:t>
            </a:r>
          </a:p>
        </p:txBody>
      </p:sp>
      <p:sp>
        <p:nvSpPr>
          <p:cNvPr id="4" name="TextBox 3"/>
          <p:cNvSpPr txBox="1"/>
          <p:nvPr/>
        </p:nvSpPr>
        <p:spPr>
          <a:xfrm>
            <a:off x="640080" y="1078992"/>
            <a:ext cx="10881360" cy="457200"/>
          </a:xfrm>
          <a:prstGeom prst="rect">
            <a:avLst/>
          </a:prstGeom>
          <a:noFill/>
        </p:spPr>
        <p:txBody>
          <a:bodyPr wrap="square">
            <a:spAutoFit/>
          </a:bodyPr>
          <a:lstStyle/>
          <a:p>
            <a:pPr>
              <a:spcAft>
                <a:spcPts val="400"/>
              </a:spcAft>
            </a:pPr>
            <a:r>
              <a:rPr sz="1500" b="0">
                <a:solidFill>
                  <a:srgbClr val="5A6672"/>
                </a:solidFill>
                <a:latin typeface="맑은 고딕"/>
              </a:rPr>
              <a:t>DBA_TAB_COL_STATISTICS</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27000" tIns="101600" rtlCol="0" anchor="ctr"/>
          <a:lstStyle/>
          <a:p>
            <a:pPr>
              <a:spcAft>
                <a:spcPts val="0"/>
              </a:spcAft>
            </a:pPr>
            <a:r>
              <a:rPr sz="1250" b="0">
                <a:solidFill>
                  <a:srgbClr val="F2F2F2"/>
                </a:solidFill>
                <a:latin typeface="Consolas"/>
              </a:rPr>
              <a:t>COLUMN_NAME   NUM_DISTINCT HISTOGRAM  NUM_BUCKETS</a:t>
            </a:r>
          </a:p>
          <a:p>
            <a:pPr>
              <a:spcAft>
                <a:spcPts val="0"/>
              </a:spcAft>
            </a:pPr>
            <a:r>
              <a:rPr sz="1250" b="0">
                <a:solidFill>
                  <a:srgbClr val="F2F2F2"/>
                </a:solidFill>
                <a:latin typeface="Consolas"/>
              </a:rPr>
              <a:t>------------- ------------ ---------- -----------</a:t>
            </a:r>
          </a:p>
          <a:p>
            <a:pPr>
              <a:spcAft>
                <a:spcPts val="0"/>
              </a:spcAft>
            </a:pPr>
            <a:r>
              <a:rPr sz="1250" b="0">
                <a:solidFill>
                  <a:srgbClr val="F2F2F2"/>
                </a:solidFill>
                <a:latin typeface="Consolas"/>
              </a:rPr>
              <a:t>CLAIM_ID            300000 HYBRID             254</a:t>
            </a:r>
          </a:p>
          <a:p>
            <a:pPr>
              <a:spcAft>
                <a:spcPts val="0"/>
              </a:spcAft>
            </a:pPr>
            <a:r>
              <a:rPr sz="1250" b="0">
                <a:solidFill>
                  <a:srgbClr val="F2F2F2"/>
                </a:solidFill>
                <a:latin typeface="Consolas"/>
              </a:rPr>
              <a:t>CLAIM_TYPE               2 FREQUENCY            2</a:t>
            </a:r>
          </a:p>
          <a:p>
            <a:pPr>
              <a:spcAft>
                <a:spcPts val="0"/>
              </a:spcAft>
            </a:pPr>
            <a:r>
              <a:rPr sz="1250" b="0">
                <a:solidFill>
                  <a:srgbClr val="F2F2F2"/>
                </a:solidFill>
                <a:latin typeface="Consolas"/>
              </a:rPr>
              <a:t>DEPT_CODE                9 FREQUENCY            9</a:t>
            </a:r>
          </a:p>
          <a:p>
            <a:pPr>
              <a:spcAft>
                <a:spcPts val="0"/>
              </a:spcAft>
            </a:pPr>
            <a:r>
              <a:rPr sz="1250" b="0">
                <a:solidFill>
                  <a:srgbClr val="F2F2F2"/>
                </a:solidFill>
                <a:latin typeface="Consolas"/>
              </a:rPr>
              <a:t>HOSP_ID               1000 HYBRID             254</a:t>
            </a:r>
          </a:p>
          <a:p>
            <a:pPr>
              <a:spcAft>
                <a:spcPts val="0"/>
              </a:spcAft>
            </a:pPr>
            <a:r>
              <a:rPr sz="1250" b="0">
                <a:solidFill>
                  <a:srgbClr val="F2F2F2"/>
                </a:solidFill>
                <a:latin typeface="Consolas"/>
              </a:rPr>
              <a:t>PAT_ID               50376 NONE                 1</a:t>
            </a:r>
          </a:p>
          <a:p>
            <a:pPr>
              <a:spcAft>
                <a:spcPts val="0"/>
              </a:spcAft>
            </a:pPr>
            <a:r>
              <a:rPr sz="1250" b="0">
                <a:solidFill>
                  <a:srgbClr val="F2F2F2"/>
                </a:solidFill>
                <a:latin typeface="Consolas"/>
              </a:rPr>
              <a:t>RECEIPT_DATE           366 HYBRID             254</a:t>
            </a:r>
          </a:p>
          <a:p>
            <a:pPr>
              <a:spcAft>
                <a:spcPts val="0"/>
              </a:spcAft>
            </a:pPr>
            <a:r>
              <a:rPr sz="1250" b="0">
                <a:solidFill>
                  <a:srgbClr val="F2F2F2"/>
                </a:solidFill>
                <a:latin typeface="Consolas"/>
              </a:rPr>
              <a:t>REVIEW_STATUS            2 FREQUENCY            2</a:t>
            </a:r>
          </a:p>
          <a:p>
            <a:pPr>
              <a:spcAft>
                <a:spcPts val="0"/>
              </a:spcAft>
            </a:pPr>
            <a:r>
              <a:rPr sz="1250" b="0">
                <a:solidFill>
                  <a:srgbClr val="F2F2F2"/>
                </a:solidFill>
                <a:latin typeface="Consolas"/>
              </a:rPr>
              <a:t>TOTAL_AMT           189344 HYBRID             254</a:t>
            </a:r>
          </a:p>
          <a:p>
            <a:pPr>
              <a:spcAft>
                <a:spcPts val="0"/>
              </a:spcAft>
            </a:pPr>
            <a:r>
              <a:rPr sz="1250" b="0">
                <a:solidFill>
                  <a:srgbClr val="F2F2F2"/>
                </a:solidFill>
                <a:latin typeface="Consolas"/>
              </a:rPr>
              <a:t>VISIT_DATE             379 NONE                 1</a:t>
            </a:r>
          </a:p>
        </p:txBody>
      </p:sp>
    </p:spTree>
    <p:extLst>
      <p:ext uri="{BB962C8B-B14F-4D97-AF65-F5344CB8AC3E}">
        <p14:creationId xmlns:p14="http://schemas.microsoft.com/office/powerpoint/2010/main" val="1223519311"/>
      </p:ext>
    </p:extLst>
  </p:cSld>
  <p:clrMapOvr>
    <a:masterClrMapping/>
  </p:clrMapOvr>
</p:sld>
</file>

<file path=ppt/slides/slide8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히스토그램이란 무엇인가</a:t>
            </a:r>
          </a:p>
        </p:txBody>
      </p:sp>
      <p:sp>
        <p:nvSpPr>
          <p:cNvPr id="4" name="TextBox 3"/>
          <p:cNvSpPr txBox="1"/>
          <p:nvPr/>
        </p:nvSpPr>
        <p:spPr>
          <a:xfrm>
            <a:off x="640080" y="1078992"/>
            <a:ext cx="10881360" cy="457200"/>
          </a:xfrm>
          <a:prstGeom prst="rect">
            <a:avLst/>
          </a:prstGeom>
          <a:noFill/>
        </p:spPr>
        <p:txBody>
          <a:bodyPr wrap="square">
            <a:spAutoFit/>
          </a:bodyPr>
          <a:lstStyle/>
          <a:p>
            <a:pPr>
              <a:spcAft>
                <a:spcPts val="400"/>
              </a:spcAft>
            </a:pPr>
            <a:r>
              <a:rPr sz="1500" b="0">
                <a:solidFill>
                  <a:srgbClr val="5A6672"/>
                </a:solidFill>
                <a:latin typeface="맑은 고딕"/>
              </a:rPr>
              <a:t>값 분포를 버킷으로 저장</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컬럼 값의 분포를 버킷(bucket)으로 나눠 저장한 통계</a:t>
            </a:r>
          </a:p>
          <a:p>
            <a:pPr>
              <a:spcAft>
                <a:spcPts val="800"/>
              </a:spcAft>
            </a:pPr>
            <a:r>
              <a:rPr sz="1700" b="0">
                <a:solidFill>
                  <a:srgbClr val="222222"/>
                </a:solidFill>
                <a:latin typeface="맑은 고딕"/>
              </a:rPr>
              <a:t>•  값 종류가 적으면 값마다 버킷 하나 → 정확한 빈도</a:t>
            </a:r>
          </a:p>
          <a:p>
            <a:pPr>
              <a:spcAft>
                <a:spcPts val="800"/>
              </a:spcAft>
            </a:pPr>
            <a:r>
              <a:rPr sz="1700" b="0">
                <a:solidFill>
                  <a:srgbClr val="222222"/>
                </a:solidFill>
                <a:latin typeface="맑은 고딕"/>
              </a:rPr>
              <a:t>•  값 종류가 많으면 여러 값을 한 버킷에 묶어 대표</a:t>
            </a:r>
          </a:p>
          <a:p>
            <a:pPr>
              <a:spcAft>
                <a:spcPts val="800"/>
              </a:spcAft>
            </a:pPr>
            <a:r>
              <a:rPr sz="1700" b="0">
                <a:solidFill>
                  <a:srgbClr val="222222"/>
                </a:solidFill>
                <a:latin typeface="맑은 고딕"/>
              </a:rPr>
              <a:t>•  '평균의 함정'을 푸는 도구 — 균등 가정이 못 보는 쏠림을 드러냄</a:t>
            </a:r>
          </a:p>
          <a:p>
            <a:pPr>
              <a:spcAft>
                <a:spcPts val="800"/>
              </a:spcAft>
            </a:pPr>
            <a:r>
              <a:rPr sz="1700" b="0">
                <a:solidFill>
                  <a:srgbClr val="222222"/>
                </a:solidFill>
                <a:latin typeface="맑은 고딕"/>
              </a:rPr>
              <a:t>•  기본 상한 254버킷(12c 이후 최대 2,048)</a:t>
            </a:r>
          </a:p>
        </p:txBody>
      </p:sp>
    </p:spTree>
    <p:extLst>
      <p:ext uri="{BB962C8B-B14F-4D97-AF65-F5344CB8AC3E}">
        <p14:creationId xmlns:p14="http://schemas.microsoft.com/office/powerpoint/2010/main" val="3334388448"/>
      </p:ext>
    </p:extLst>
  </p:cSld>
  <p:clrMapOvr>
    <a:masterClrMapping/>
  </p:clrMapOvr>
</p:sld>
</file>

<file path=ppt/slides/slide8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히스토그램은 접근 경로와 조인 모두에 영향</a:t>
            </a:r>
          </a:p>
        </p:txBody>
      </p:sp>
      <p:sp>
        <p:nvSpPr>
          <p:cNvPr id="4" name="TextBox 3"/>
          <p:cNvSpPr txBox="1"/>
          <p:nvPr/>
        </p:nvSpPr>
        <p:spPr>
          <a:xfrm>
            <a:off x="640080" y="1078992"/>
            <a:ext cx="10881360" cy="457200"/>
          </a:xfrm>
          <a:prstGeom prst="rect">
            <a:avLst/>
          </a:prstGeom>
          <a:noFill/>
        </p:spPr>
        <p:txBody>
          <a:bodyPr wrap="square">
            <a:spAutoFit/>
          </a:bodyPr>
          <a:lstStyle/>
          <a:p>
            <a:pPr>
              <a:spcAft>
                <a:spcPts val="400"/>
              </a:spcAft>
            </a:pPr>
            <a:r>
              <a:rPr sz="1500" b="0">
                <a:solidFill>
                  <a:srgbClr val="5A6672"/>
                </a:solidFill>
                <a:latin typeface="맑은 고딕"/>
              </a:rPr>
              <a:t>카디널리티 오판의 파급</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카디널리티 오판 300 → 소수라 여겨 인덱스 스캔 선택</a:t>
            </a:r>
          </a:p>
          <a:p>
            <a:pPr>
              <a:spcAft>
                <a:spcPts val="800"/>
              </a:spcAft>
            </a:pPr>
            <a:r>
              <a:rPr sz="1700" b="0">
                <a:solidFill>
                  <a:srgbClr val="222222"/>
                </a:solidFill>
                <a:latin typeface="맑은 고딕"/>
              </a:rPr>
              <a:t>•  실제 3,100건 → 3,100번 랜덤 액세스로 전체 스캔보다 느려짐</a:t>
            </a:r>
          </a:p>
          <a:p>
            <a:pPr>
              <a:spcAft>
                <a:spcPts val="800"/>
              </a:spcAft>
            </a:pPr>
            <a:r>
              <a:rPr sz="1700" b="0">
                <a:solidFill>
                  <a:srgbClr val="222222"/>
                </a:solidFill>
                <a:latin typeface="맑은 고딕"/>
              </a:rPr>
              <a:t>•  조인: 300으로 오판 → 중첩 루프 선택 → 예상의 10배 탐색</a:t>
            </a:r>
          </a:p>
          <a:p>
            <a:pPr>
              <a:spcAft>
                <a:spcPts val="800"/>
              </a:spcAft>
            </a:pPr>
            <a:r>
              <a:rPr sz="1700" b="0">
                <a:solidFill>
                  <a:srgbClr val="222222"/>
                </a:solidFill>
                <a:latin typeface="맑은 고딕"/>
              </a:rPr>
              <a:t>•  정확한 3,100 → 해시 조인 등 대량 처리 방식 선택 가능</a:t>
            </a:r>
          </a:p>
          <a:p>
            <a:pPr>
              <a:spcAft>
                <a:spcPts val="800"/>
              </a:spcAft>
            </a:pPr>
            <a:r>
              <a:rPr sz="1700" b="0">
                <a:solidFill>
                  <a:srgbClr val="222222"/>
                </a:solidFill>
                <a:latin typeface="맑은 고딕"/>
              </a:rPr>
              <a:t>•  히스토그램 하나의 정확도가 계획 전체로 파급된다</a:t>
            </a:r>
          </a:p>
        </p:txBody>
      </p:sp>
    </p:spTree>
    <p:extLst>
      <p:ext uri="{BB962C8B-B14F-4D97-AF65-F5344CB8AC3E}">
        <p14:creationId xmlns:p14="http://schemas.microsoft.com/office/powerpoint/2010/main" val="1843777944"/>
      </p:ext>
    </p:extLst>
  </p:cSld>
  <p:clrMapOvr>
    <a:masterClrMapping/>
  </p:clrMapOvr>
</p:sld>
</file>

<file path=ppt/slides/slide8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707886"/>
          </a:xfrm>
          <a:prstGeom prst="rect">
            <a:avLst/>
          </a:prstGeom>
          <a:noFill/>
        </p:spPr>
        <p:txBody>
          <a:bodyPr wrap="square">
            <a:spAutoFit/>
          </a:bodyPr>
          <a:lstStyle/>
          <a:p>
            <a:pPr>
              <a:spcAft>
                <a:spcPts val="400"/>
              </a:spcAft>
            </a:pPr>
            <a:r>
              <a:rPr lang="en-US" sz="4000" b="1" dirty="0">
                <a:solidFill>
                  <a:srgbClr val="FFFFFF"/>
                </a:solidFill>
                <a:latin typeface="맑은 고딕"/>
              </a:rPr>
              <a:t>21</a:t>
            </a:r>
            <a:r>
              <a:rPr sz="4000" b="1" dirty="0">
                <a:solidFill>
                  <a:srgbClr val="FFFFFF"/>
                </a:solidFill>
                <a:latin typeface="맑은 고딕"/>
              </a:rPr>
              <a:t>.3</a:t>
            </a:r>
          </a:p>
        </p:txBody>
      </p:sp>
      <p:sp>
        <p:nvSpPr>
          <p:cNvPr id="4" name="TextBox 3"/>
          <p:cNvSpPr txBox="1"/>
          <p:nvPr/>
        </p:nvSpPr>
        <p:spPr>
          <a:xfrm>
            <a:off x="822960" y="3017520"/>
            <a:ext cx="10515600" cy="914400"/>
          </a:xfrm>
          <a:prstGeom prst="rect">
            <a:avLst/>
          </a:prstGeom>
          <a:noFill/>
        </p:spPr>
        <p:txBody>
          <a:bodyPr wrap="square">
            <a:spAutoFit/>
          </a:bodyPr>
          <a:lstStyle/>
          <a:p>
            <a:pPr>
              <a:spcAft>
                <a:spcPts val="400"/>
              </a:spcAft>
            </a:pPr>
            <a:r>
              <a:rPr sz="2800" b="1">
                <a:solidFill>
                  <a:srgbClr val="FFFFFF"/>
                </a:solidFill>
                <a:latin typeface="맑은 고딕"/>
              </a:rPr>
              <a:t>METHOD_OPT</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spcAft>
                <a:spcPts val="600"/>
              </a:spcAft>
            </a:pPr>
            <a:r>
              <a:rPr sz="1600" b="0">
                <a:solidFill>
                  <a:srgbClr val="FFFFFF"/>
                </a:solidFill>
                <a:latin typeface="맑은 고딕"/>
              </a:rPr>
              <a:t>•  FOR ALL COLUMNS SIZE AUTO 기본값</a:t>
            </a:r>
          </a:p>
          <a:p>
            <a:pPr>
              <a:spcAft>
                <a:spcPts val="600"/>
              </a:spcAft>
            </a:pPr>
            <a:r>
              <a:rPr sz="1600" b="0">
                <a:solidFill>
                  <a:srgbClr val="FFFFFF"/>
                </a:solidFill>
                <a:latin typeface="맑은 고딕"/>
              </a:rPr>
              <a:t>•  SIZE 절: AUTO·SKEWONLY·REPEAT·정수</a:t>
            </a:r>
          </a:p>
          <a:p>
            <a:pPr>
              <a:spcAft>
                <a:spcPts val="600"/>
              </a:spcAft>
            </a:pPr>
            <a:r>
              <a:rPr sz="1600" b="0">
                <a:solidFill>
                  <a:srgbClr val="FFFFFF"/>
                </a:solidFill>
                <a:latin typeface="맑은 고딕"/>
              </a:rPr>
              <a:t>•  FOR COLUMNS로 특정 컬럼 보완</a:t>
            </a:r>
          </a:p>
          <a:p>
            <a:pPr>
              <a:spcAft>
                <a:spcPts val="600"/>
              </a:spcAft>
            </a:pPr>
            <a:r>
              <a:rPr sz="1600" b="0">
                <a:solidFill>
                  <a:srgbClr val="FFFFFF"/>
                </a:solidFill>
                <a:latin typeface="맑은 고딕"/>
              </a:rPr>
              <a:t>•  AUTO_SAMPLE_SIZE의 정확도</a:t>
            </a:r>
          </a:p>
        </p:txBody>
      </p:sp>
    </p:spTree>
    <p:extLst>
      <p:ext uri="{BB962C8B-B14F-4D97-AF65-F5344CB8AC3E}">
        <p14:creationId xmlns:p14="http://schemas.microsoft.com/office/powerpoint/2010/main" val="1544617554"/>
      </p:ext>
    </p:extLst>
  </p:cSld>
  <p:clrMapOvr>
    <a:masterClrMapping/>
  </p:clrMapOvr>
</p:sld>
</file>

<file path=ppt/slides/slide8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현재 통계 Preference 확인 — 실측</a:t>
            </a:r>
          </a:p>
        </p:txBody>
      </p:sp>
      <p:sp>
        <p:nvSpPr>
          <p:cNvPr id="4" name="TextBox 3"/>
          <p:cNvSpPr txBox="1"/>
          <p:nvPr/>
        </p:nvSpPr>
        <p:spPr>
          <a:xfrm>
            <a:off x="640080" y="1078992"/>
            <a:ext cx="10881360" cy="457200"/>
          </a:xfrm>
          <a:prstGeom prst="rect">
            <a:avLst/>
          </a:prstGeom>
          <a:noFill/>
        </p:spPr>
        <p:txBody>
          <a:bodyPr wrap="square">
            <a:spAutoFit/>
          </a:bodyPr>
          <a:lstStyle/>
          <a:p>
            <a:pPr>
              <a:spcAft>
                <a:spcPts val="400"/>
              </a:spcAft>
            </a:pPr>
            <a:r>
              <a:rPr sz="1500" b="0">
                <a:solidFill>
                  <a:srgbClr val="5A6672"/>
                </a:solidFill>
                <a:latin typeface="맑은 고딕"/>
              </a:rPr>
              <a:t>DBMS_STATS.GET_PREFS</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27000" tIns="101600" rtlCol="0" anchor="ctr"/>
          <a:lstStyle/>
          <a:p>
            <a:pPr>
              <a:spcAft>
                <a:spcPts val="0"/>
              </a:spcAft>
            </a:pPr>
            <a:r>
              <a:rPr sz="1250" b="0">
                <a:solidFill>
                  <a:srgbClr val="F2F2F2"/>
                </a:solidFill>
                <a:latin typeface="Consolas"/>
              </a:rPr>
              <a:t>SQL&gt; SELECT</a:t>
            </a:r>
          </a:p>
          <a:p>
            <a:pPr>
              <a:spcAft>
                <a:spcPts val="0"/>
              </a:spcAft>
            </a:pPr>
            <a:r>
              <a:rPr sz="1250" b="0">
                <a:solidFill>
                  <a:srgbClr val="F2F2F2"/>
                </a:solidFill>
                <a:latin typeface="Consolas"/>
              </a:rPr>
              <a:t>  2   DBMS_STATS.GET_PREFS('METHOD_OPT','SQLT','MEDICAL_CLAIMS') method_opt,</a:t>
            </a:r>
          </a:p>
          <a:p>
            <a:pPr>
              <a:spcAft>
                <a:spcPts val="0"/>
              </a:spcAft>
            </a:pPr>
            <a:r>
              <a:rPr sz="1250" b="0">
                <a:solidFill>
                  <a:srgbClr val="F2F2F2"/>
                </a:solidFill>
                <a:latin typeface="Consolas"/>
              </a:rPr>
              <a:t>  3   DBMS_STATS.GET_PREFS('ESTIMATE_PERCENT') est_pct,</a:t>
            </a:r>
          </a:p>
          <a:p>
            <a:pPr>
              <a:spcAft>
                <a:spcPts val="0"/>
              </a:spcAft>
            </a:pPr>
            <a:r>
              <a:rPr sz="1250" b="0">
                <a:solidFill>
                  <a:srgbClr val="F2F2F2"/>
                </a:solidFill>
                <a:latin typeface="Consolas"/>
              </a:rPr>
              <a:t>  4   DBMS_STATS.GET_PREFS('DEGREE') degree</a:t>
            </a:r>
          </a:p>
          <a:p>
            <a:pPr>
              <a:spcAft>
                <a:spcPts val="0"/>
              </a:spcAft>
            </a:pPr>
            <a:r>
              <a:rPr sz="1250" b="0">
                <a:solidFill>
                  <a:srgbClr val="F2F2F2"/>
                </a:solidFill>
                <a:latin typeface="Consolas"/>
              </a:rPr>
              <a:t>  5   FROM dual;</a:t>
            </a:r>
          </a:p>
          <a:p>
            <a:pPr>
              <a:spcAft>
                <a:spcPts val="0"/>
              </a:spcAft>
            </a:pPr>
            <a:endParaRPr sz="1250" b="0">
              <a:solidFill>
                <a:srgbClr val="F2F2F2"/>
              </a:solidFill>
              <a:latin typeface="Consolas"/>
            </a:endParaRPr>
          </a:p>
          <a:p>
            <a:pPr>
              <a:spcAft>
                <a:spcPts val="0"/>
              </a:spcAft>
            </a:pPr>
            <a:r>
              <a:rPr sz="1250" b="0">
                <a:solidFill>
                  <a:srgbClr val="F2F2F2"/>
                </a:solidFill>
                <a:latin typeface="Consolas"/>
              </a:rPr>
              <a:t>METHOD_OPT                 EST_PCT                      DEGREE</a:t>
            </a:r>
          </a:p>
          <a:p>
            <a:pPr>
              <a:spcAft>
                <a:spcPts val="0"/>
              </a:spcAft>
            </a:pPr>
            <a:r>
              <a:rPr sz="1250" b="0">
                <a:solidFill>
                  <a:srgbClr val="F2F2F2"/>
                </a:solidFill>
                <a:latin typeface="Consolas"/>
              </a:rPr>
              <a:t>-------------------------- ---------------------------- ------</a:t>
            </a:r>
          </a:p>
          <a:p>
            <a:pPr>
              <a:spcAft>
                <a:spcPts val="0"/>
              </a:spcAft>
            </a:pPr>
            <a:r>
              <a:rPr sz="1250" b="0">
                <a:solidFill>
                  <a:srgbClr val="F2F2F2"/>
                </a:solidFill>
                <a:latin typeface="Consolas"/>
              </a:rPr>
              <a:t>FOR ALL COLUMNS SIZE AUTO  DBMS_STATS.AUTO_SAMPLE_SIZE  NULL</a:t>
            </a:r>
          </a:p>
        </p:txBody>
      </p:sp>
    </p:spTree>
    <p:extLst>
      <p:ext uri="{BB962C8B-B14F-4D97-AF65-F5344CB8AC3E}">
        <p14:creationId xmlns:p14="http://schemas.microsoft.com/office/powerpoint/2010/main" val="1727026851"/>
      </p:ext>
    </p:extLst>
  </p:cSld>
  <p:clrMapOvr>
    <a:masterClrMapping/>
  </p:clrMapOvr>
</p:sld>
</file>

<file path=ppt/slides/slide8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SIZE 절 — 무엇을, 어떻게</a:t>
            </a:r>
          </a:p>
        </p:txBody>
      </p:sp>
      <p:sp>
        <p:nvSpPr>
          <p:cNvPr id="4" name="TextBox 3"/>
          <p:cNvSpPr txBox="1"/>
          <p:nvPr/>
        </p:nvSpPr>
        <p:spPr>
          <a:xfrm>
            <a:off x="640080" y="1078992"/>
            <a:ext cx="10881360" cy="457200"/>
          </a:xfrm>
          <a:prstGeom prst="rect">
            <a:avLst/>
          </a:prstGeom>
          <a:noFill/>
        </p:spPr>
        <p:txBody>
          <a:bodyPr wrap="square">
            <a:spAutoFit/>
          </a:bodyPr>
          <a:lstStyle/>
          <a:p>
            <a:pPr>
              <a:spcAft>
                <a:spcPts val="400"/>
              </a:spcAft>
            </a:pPr>
            <a:r>
              <a:rPr sz="1500" b="0">
                <a:solidFill>
                  <a:srgbClr val="5A6672"/>
                </a:solidFill>
                <a:latin typeface="맑은 고딕"/>
              </a:rPr>
              <a:t>AUTO·SKEWONLY·REPEAT·정수</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AUTO: 컬럼 사용 이력 + 편중을 함께 보고 자동 결정 (기본)</a:t>
            </a:r>
          </a:p>
          <a:p>
            <a:pPr>
              <a:spcAft>
                <a:spcPts val="800"/>
              </a:spcAft>
            </a:pPr>
            <a:r>
              <a:rPr sz="1700" b="0">
                <a:solidFill>
                  <a:srgbClr val="222222"/>
                </a:solidFill>
                <a:latin typeface="맑은 고딕"/>
              </a:rPr>
              <a:t>•  SKEWONLY: 이력과 무관하게 편중 있는 모든 컬럼에 생성</a:t>
            </a:r>
          </a:p>
          <a:p>
            <a:pPr>
              <a:spcAft>
                <a:spcPts val="800"/>
              </a:spcAft>
            </a:pPr>
            <a:r>
              <a:rPr sz="1700" b="0">
                <a:solidFill>
                  <a:srgbClr val="222222"/>
                </a:solidFill>
                <a:latin typeface="맑은 고딕"/>
              </a:rPr>
              <a:t>•  REPEAT: 이미 히스토그램 있는 컬럼에만 다시 생성</a:t>
            </a:r>
          </a:p>
          <a:p>
            <a:pPr>
              <a:spcAft>
                <a:spcPts val="800"/>
              </a:spcAft>
            </a:pPr>
            <a:r>
              <a:rPr sz="1700" b="0">
                <a:solidFill>
                  <a:srgbClr val="222222"/>
                </a:solidFill>
                <a:latin typeface="맑은 고딕"/>
              </a:rPr>
              <a:t>•  정수 1~2048: 지정 버킷 수 강제 (1 = 히스토그램 없음)</a:t>
            </a:r>
          </a:p>
          <a:p>
            <a:pPr>
              <a:spcAft>
                <a:spcPts val="800"/>
              </a:spcAft>
            </a:pPr>
            <a:r>
              <a:rPr sz="1700" b="0">
                <a:solidFill>
                  <a:srgbClr val="222222"/>
                </a:solidFill>
                <a:latin typeface="맑은 고딕"/>
              </a:rPr>
              <a:t>•  FOR COLUMNS SIZE 254 HOSP_ID — 특정 컬럼만 보완</a:t>
            </a:r>
          </a:p>
        </p:txBody>
      </p:sp>
    </p:spTree>
    <p:extLst>
      <p:ext uri="{BB962C8B-B14F-4D97-AF65-F5344CB8AC3E}">
        <p14:creationId xmlns:p14="http://schemas.microsoft.com/office/powerpoint/2010/main" val="1252749937"/>
      </p:ext>
    </p:extLst>
  </p:cSld>
  <p:clrMapOvr>
    <a:masterClrMapping/>
  </p:clrMapOvr>
</p:sld>
</file>

<file path=ppt/slides/slide8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실무 — METHOD_OPT를 함부로 바꾸지 않는다</a:t>
            </a:r>
          </a:p>
        </p:txBody>
      </p:sp>
      <p:sp>
        <p:nvSpPr>
          <p:cNvPr id="4" name="TextBox 3"/>
          <p:cNvSpPr txBox="1"/>
          <p:nvPr/>
        </p:nvSpPr>
        <p:spPr>
          <a:xfrm>
            <a:off x="640080" y="1078992"/>
            <a:ext cx="10881360" cy="457200"/>
          </a:xfrm>
          <a:prstGeom prst="rect">
            <a:avLst/>
          </a:prstGeom>
          <a:noFill/>
        </p:spPr>
        <p:txBody>
          <a:bodyPr wrap="square">
            <a:spAutoFit/>
          </a:bodyPr>
          <a:lstStyle/>
          <a:p>
            <a:pPr>
              <a:spcAft>
                <a:spcPts val="400"/>
              </a:spcAft>
            </a:pPr>
            <a:r>
              <a:rPr sz="1500" b="0">
                <a:solidFill>
                  <a:srgbClr val="5A6672"/>
                </a:solidFill>
                <a:latin typeface="맑은 고딕"/>
              </a:rPr>
              <a:t>모든 컬럼 254 강제의 위험</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'모든 컬럼 SIZE 254 강제'는 수집 시간·SYSAUX 증가</a:t>
            </a:r>
          </a:p>
          <a:p>
            <a:pPr>
              <a:spcAft>
                <a:spcPts val="800"/>
              </a:spcAft>
            </a:pPr>
            <a:r>
              <a:rPr sz="1700" b="0">
                <a:solidFill>
                  <a:srgbClr val="222222"/>
                </a:solidFill>
                <a:latin typeface="맑은 고딕"/>
              </a:rPr>
              <a:t>•  불필요한 히스토그램이 바인드 피킹과 얽혀 계획 불안정</a:t>
            </a:r>
          </a:p>
          <a:p>
            <a:pPr>
              <a:spcAft>
                <a:spcPts val="800"/>
              </a:spcAft>
            </a:pPr>
            <a:r>
              <a:rPr sz="1700" b="0">
                <a:solidFill>
                  <a:srgbClr val="222222"/>
                </a:solidFill>
                <a:latin typeface="맑은 고딕"/>
              </a:rPr>
              <a:t>•  먼저 어떤 컬럼이 조건절에 편중과 함께 쓰이는지 확인</a:t>
            </a:r>
          </a:p>
          <a:p>
            <a:pPr>
              <a:spcAft>
                <a:spcPts val="800"/>
              </a:spcAft>
            </a:pPr>
            <a:r>
              <a:rPr sz="1700" b="0">
                <a:solidFill>
                  <a:srgbClr val="222222"/>
                </a:solidFill>
                <a:latin typeface="맑은 고딕"/>
              </a:rPr>
              <a:t>•  AUTO가 놓친 특정 컬럼만 FOR COLUMNS로 보완</a:t>
            </a:r>
          </a:p>
          <a:p>
            <a:pPr>
              <a:spcAft>
                <a:spcPts val="800"/>
              </a:spcAft>
            </a:pPr>
            <a:r>
              <a:rPr sz="1700" b="0">
                <a:solidFill>
                  <a:srgbClr val="222222"/>
                </a:solidFill>
                <a:latin typeface="맑은 고딕"/>
              </a:rPr>
              <a:t>•  테이블 Preference로 관리하고 변경 전후 비교</a:t>
            </a:r>
          </a:p>
        </p:txBody>
      </p:sp>
    </p:spTree>
    <p:extLst>
      <p:ext uri="{BB962C8B-B14F-4D97-AF65-F5344CB8AC3E}">
        <p14:creationId xmlns:p14="http://schemas.microsoft.com/office/powerpoint/2010/main" val="1571752260"/>
      </p:ext>
    </p:extLst>
  </p:cSld>
  <p:clrMapOvr>
    <a:masterClrMapping/>
  </p:clrMapOvr>
</p:sld>
</file>

<file path=ppt/slides/slide8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707886"/>
          </a:xfrm>
          <a:prstGeom prst="rect">
            <a:avLst/>
          </a:prstGeom>
          <a:noFill/>
        </p:spPr>
        <p:txBody>
          <a:bodyPr wrap="square">
            <a:spAutoFit/>
          </a:bodyPr>
          <a:lstStyle/>
          <a:p>
            <a:pPr>
              <a:spcAft>
                <a:spcPts val="400"/>
              </a:spcAft>
            </a:pPr>
            <a:r>
              <a:rPr lang="en-US" sz="4000" b="1" dirty="0">
                <a:solidFill>
                  <a:srgbClr val="FFFFFF"/>
                </a:solidFill>
                <a:latin typeface="맑은 고딕"/>
              </a:rPr>
              <a:t>21</a:t>
            </a:r>
            <a:r>
              <a:rPr sz="4000" b="1" dirty="0">
                <a:solidFill>
                  <a:srgbClr val="FFFFFF"/>
                </a:solidFill>
                <a:latin typeface="맑은 고딕"/>
              </a:rPr>
              <a:t>.4</a:t>
            </a:r>
          </a:p>
        </p:txBody>
      </p:sp>
      <p:sp>
        <p:nvSpPr>
          <p:cNvPr id="4" name="TextBox 3"/>
          <p:cNvSpPr txBox="1"/>
          <p:nvPr/>
        </p:nvSpPr>
        <p:spPr>
          <a:xfrm>
            <a:off x="822960" y="3017520"/>
            <a:ext cx="10515600" cy="914400"/>
          </a:xfrm>
          <a:prstGeom prst="rect">
            <a:avLst/>
          </a:prstGeom>
          <a:noFill/>
        </p:spPr>
        <p:txBody>
          <a:bodyPr wrap="square">
            <a:spAutoFit/>
          </a:bodyPr>
          <a:lstStyle/>
          <a:p>
            <a:pPr>
              <a:spcAft>
                <a:spcPts val="400"/>
              </a:spcAft>
            </a:pPr>
            <a:r>
              <a:rPr sz="2800" b="1">
                <a:solidFill>
                  <a:srgbClr val="FFFFFF"/>
                </a:solidFill>
                <a:latin typeface="맑은 고딕"/>
              </a:rPr>
              <a:t>확장 통계</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spcAft>
                <a:spcPts val="600"/>
              </a:spcAft>
            </a:pPr>
            <a:r>
              <a:rPr sz="1600" b="0">
                <a:solidFill>
                  <a:srgbClr val="FFFFFF"/>
                </a:solidFill>
                <a:latin typeface="맑은 고딕"/>
              </a:rPr>
              <a:t>•  컬럼 그룹 — 상관 컬럼의 곱셈 오류</a:t>
            </a:r>
          </a:p>
          <a:p>
            <a:pPr>
              <a:spcAft>
                <a:spcPts val="600"/>
              </a:spcAft>
            </a:pPr>
            <a:r>
              <a:rPr sz="1600" b="0">
                <a:solidFill>
                  <a:srgbClr val="FFFFFF"/>
                </a:solidFill>
                <a:latin typeface="맑은 고딕"/>
              </a:rPr>
              <a:t>•  표현식 통계 — 함수가 컬럼을 가릴 때</a:t>
            </a:r>
          </a:p>
          <a:p>
            <a:pPr>
              <a:spcAft>
                <a:spcPts val="600"/>
              </a:spcAft>
            </a:pPr>
            <a:r>
              <a:rPr sz="1600" b="0">
                <a:solidFill>
                  <a:srgbClr val="FFFFFF"/>
                </a:solidFill>
                <a:latin typeface="맑은 고딕"/>
              </a:rPr>
              <a:t>•  CREATE_EXTENDED_STATS</a:t>
            </a:r>
          </a:p>
          <a:p>
            <a:pPr>
              <a:spcAft>
                <a:spcPts val="600"/>
              </a:spcAft>
            </a:pPr>
            <a:r>
              <a:rPr sz="1600" b="0">
                <a:solidFill>
                  <a:srgbClr val="FFFFFF"/>
                </a:solidFill>
                <a:latin typeface="맑은 고딕"/>
              </a:rPr>
              <a:t>•  생성 후 반드시 재수집</a:t>
            </a:r>
          </a:p>
        </p:txBody>
      </p:sp>
    </p:spTree>
    <p:extLst>
      <p:ext uri="{BB962C8B-B14F-4D97-AF65-F5344CB8AC3E}">
        <p14:creationId xmlns:p14="http://schemas.microsoft.com/office/powerpoint/2010/main" val="2616734878"/>
      </p:ext>
    </p:extLst>
  </p:cSld>
  <p:clrMapOvr>
    <a:masterClrMapping/>
  </p:clrMapOvr>
</p:sld>
</file>

<file path=ppt/slides/slide8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컬럼 그룹 — 상관된 컬럼의 곱셈 오류</a:t>
            </a:r>
          </a:p>
        </p:txBody>
      </p:sp>
      <p:sp>
        <p:nvSpPr>
          <p:cNvPr id="4" name="TextBox 3"/>
          <p:cNvSpPr txBox="1"/>
          <p:nvPr/>
        </p:nvSpPr>
        <p:spPr>
          <a:xfrm>
            <a:off x="640080" y="1078992"/>
            <a:ext cx="10881360" cy="457200"/>
          </a:xfrm>
          <a:prstGeom prst="rect">
            <a:avLst/>
          </a:prstGeom>
          <a:noFill/>
        </p:spPr>
        <p:txBody>
          <a:bodyPr wrap="square">
            <a:spAutoFit/>
          </a:bodyPr>
          <a:lstStyle/>
          <a:p>
            <a:pPr>
              <a:spcAft>
                <a:spcPts val="400"/>
              </a:spcAft>
            </a:pPr>
            <a:r>
              <a:rPr sz="1500" b="0">
                <a:solidFill>
                  <a:srgbClr val="5A6672"/>
                </a:solidFill>
                <a:latin typeface="맑은 고딕"/>
              </a:rPr>
              <a:t>독립 가정이 빗나갈 때</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옵티마이저는 AND 조건의 선택도를 서로 독립이라 가정하고 곱함</a:t>
            </a:r>
          </a:p>
          <a:p>
            <a:pPr>
              <a:spcAft>
                <a:spcPts val="800"/>
              </a:spcAft>
            </a:pPr>
            <a:r>
              <a:rPr sz="1700" b="0">
                <a:solidFill>
                  <a:srgbClr val="222222"/>
                </a:solidFill>
                <a:latin typeface="맑은 고딕"/>
              </a:rPr>
              <a:t>•  CLAIM_TYPE(외래 240,489 / 입원 59,511) × DEPT_CODE(9종)</a:t>
            </a:r>
          </a:p>
          <a:p>
            <a:pPr>
              <a:spcAft>
                <a:spcPts val="800"/>
              </a:spcAft>
            </a:pPr>
            <a:r>
              <a:rPr sz="1700" b="0">
                <a:solidFill>
                  <a:srgbClr val="222222"/>
                </a:solidFill>
                <a:latin typeface="맑은 고딕"/>
              </a:rPr>
              <a:t>•  상관되면 곱셈 추정이 실제와 크게 어긋남</a:t>
            </a:r>
          </a:p>
          <a:p>
            <a:pPr>
              <a:spcAft>
                <a:spcPts val="800"/>
              </a:spcAft>
            </a:pPr>
            <a:r>
              <a:rPr sz="1700" b="0">
                <a:solidFill>
                  <a:srgbClr val="222222"/>
                </a:solidFill>
                <a:latin typeface="맑은 고딕"/>
              </a:rPr>
              <a:t>•  예: 0.80 × 0.111 ≈ 26,700건 추정 — 실제와 다를 수 있음</a:t>
            </a:r>
          </a:p>
          <a:p>
            <a:pPr>
              <a:spcAft>
                <a:spcPts val="800"/>
              </a:spcAft>
            </a:pPr>
            <a:r>
              <a:rPr sz="1700" b="0">
                <a:solidFill>
                  <a:srgbClr val="222222"/>
                </a:solidFill>
                <a:latin typeface="맑은 고딕"/>
              </a:rPr>
              <a:t>•  컬럼 그룹 통계 → 조합의 실제 NDV·분포 참조</a:t>
            </a:r>
          </a:p>
        </p:txBody>
      </p:sp>
    </p:spTree>
    <p:extLst>
      <p:ext uri="{BB962C8B-B14F-4D97-AF65-F5344CB8AC3E}">
        <p14:creationId xmlns:p14="http://schemas.microsoft.com/office/powerpoint/2010/main" val="67923772"/>
      </p:ext>
    </p:extLst>
  </p:cSld>
  <p:clrMapOvr>
    <a:masterClrMapping/>
  </p:clrMapOvr>
</p:sld>
</file>

<file path=ppt/slides/slide8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확장 통계 생성 — 컬럼 그룹</a:t>
            </a:r>
          </a:p>
        </p:txBody>
      </p:sp>
      <p:sp>
        <p:nvSpPr>
          <p:cNvPr id="4" name="TextBox 3"/>
          <p:cNvSpPr txBox="1"/>
          <p:nvPr/>
        </p:nvSpPr>
        <p:spPr>
          <a:xfrm>
            <a:off x="640080" y="1078992"/>
            <a:ext cx="10881360" cy="457200"/>
          </a:xfrm>
          <a:prstGeom prst="rect">
            <a:avLst/>
          </a:prstGeom>
          <a:noFill/>
        </p:spPr>
        <p:txBody>
          <a:bodyPr wrap="square">
            <a:spAutoFit/>
          </a:bodyPr>
          <a:lstStyle/>
          <a:p>
            <a:pPr>
              <a:spcAft>
                <a:spcPts val="400"/>
              </a:spcAft>
            </a:pPr>
            <a:r>
              <a:rPr sz="1500" b="0">
                <a:solidFill>
                  <a:srgbClr val="5A6672"/>
                </a:solidFill>
                <a:latin typeface="맑은 고딕"/>
              </a:rPr>
              <a:t>CREATE_EXTENDED_STATS + 재수집</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27000" tIns="101600" rtlCol="0" anchor="ctr"/>
          <a:lstStyle/>
          <a:p>
            <a:pPr>
              <a:spcAft>
                <a:spcPts val="0"/>
              </a:spcAft>
            </a:pPr>
            <a:r>
              <a:rPr sz="1250" b="0" dirty="0">
                <a:solidFill>
                  <a:srgbClr val="F2F2F2"/>
                </a:solidFill>
                <a:latin typeface="Consolas"/>
              </a:rPr>
              <a:t>SQL&gt; SELECT DBMS_STATS.CREATE_EXTENDED_STATS(</a:t>
            </a:r>
          </a:p>
          <a:p>
            <a:pPr>
              <a:spcAft>
                <a:spcPts val="0"/>
              </a:spcAft>
            </a:pPr>
            <a:r>
              <a:rPr sz="1250" b="0" dirty="0">
                <a:solidFill>
                  <a:srgbClr val="F2F2F2"/>
                </a:solidFill>
                <a:latin typeface="Consolas"/>
              </a:rPr>
              <a:t>  2         'SQLT','MEDICAL_CLAIMS',</a:t>
            </a:r>
          </a:p>
          <a:p>
            <a:pPr>
              <a:spcAft>
                <a:spcPts val="0"/>
              </a:spcAft>
            </a:pPr>
            <a:r>
              <a:rPr sz="1250" b="0" dirty="0">
                <a:solidFill>
                  <a:srgbClr val="F2F2F2"/>
                </a:solidFill>
                <a:latin typeface="Consolas"/>
              </a:rPr>
              <a:t>  3         '(CLAIM_TYPE,DEPT_CODE)') AS </a:t>
            </a:r>
            <a:r>
              <a:rPr sz="1250" b="0" dirty="0" err="1">
                <a:solidFill>
                  <a:srgbClr val="F2F2F2"/>
                </a:solidFill>
                <a:latin typeface="Consolas"/>
              </a:rPr>
              <a:t>ext_name</a:t>
            </a:r>
            <a:endParaRPr sz="1250" b="0" dirty="0">
              <a:solidFill>
                <a:srgbClr val="F2F2F2"/>
              </a:solidFill>
              <a:latin typeface="Consolas"/>
            </a:endParaRPr>
          </a:p>
          <a:p>
            <a:pPr>
              <a:spcAft>
                <a:spcPts val="0"/>
              </a:spcAft>
            </a:pPr>
            <a:r>
              <a:rPr sz="1250" b="0" dirty="0">
                <a:solidFill>
                  <a:srgbClr val="F2F2F2"/>
                </a:solidFill>
                <a:latin typeface="Consolas"/>
              </a:rPr>
              <a:t>  4    FROM dual;</a:t>
            </a:r>
          </a:p>
          <a:p>
            <a:pPr>
              <a:spcAft>
                <a:spcPts val="0"/>
              </a:spcAft>
            </a:pPr>
            <a:endParaRPr sz="1250" b="0" dirty="0">
              <a:solidFill>
                <a:srgbClr val="F2F2F2"/>
              </a:solidFill>
              <a:latin typeface="Consolas"/>
            </a:endParaRPr>
          </a:p>
          <a:p>
            <a:pPr>
              <a:spcAft>
                <a:spcPts val="0"/>
              </a:spcAft>
            </a:pPr>
            <a:r>
              <a:rPr sz="1250" b="0" dirty="0">
                <a:solidFill>
                  <a:srgbClr val="F2F2F2"/>
                </a:solidFill>
                <a:latin typeface="Consolas"/>
              </a:rPr>
              <a:t>-- </a:t>
            </a:r>
            <a:r>
              <a:rPr sz="1250" b="0" dirty="0" err="1">
                <a:solidFill>
                  <a:srgbClr val="F2F2F2"/>
                </a:solidFill>
                <a:latin typeface="Consolas"/>
              </a:rPr>
              <a:t>생성만으로는</a:t>
            </a:r>
            <a:r>
              <a:rPr sz="1250" b="0" dirty="0">
                <a:solidFill>
                  <a:srgbClr val="F2F2F2"/>
                </a:solidFill>
                <a:latin typeface="Consolas"/>
              </a:rPr>
              <a:t> </a:t>
            </a:r>
            <a:r>
              <a:rPr sz="1250" b="0" dirty="0" err="1">
                <a:solidFill>
                  <a:srgbClr val="F2F2F2"/>
                </a:solidFill>
                <a:latin typeface="Consolas"/>
              </a:rPr>
              <a:t>값이</a:t>
            </a:r>
            <a:r>
              <a:rPr sz="1250" b="0" dirty="0">
                <a:solidFill>
                  <a:srgbClr val="F2F2F2"/>
                </a:solidFill>
                <a:latin typeface="Consolas"/>
              </a:rPr>
              <a:t> </a:t>
            </a:r>
            <a:r>
              <a:rPr sz="1250" b="0" dirty="0" err="1">
                <a:solidFill>
                  <a:srgbClr val="F2F2F2"/>
                </a:solidFill>
                <a:latin typeface="Consolas"/>
              </a:rPr>
              <a:t>비어</a:t>
            </a:r>
            <a:r>
              <a:rPr sz="1250" b="0" dirty="0">
                <a:solidFill>
                  <a:srgbClr val="F2F2F2"/>
                </a:solidFill>
                <a:latin typeface="Consolas"/>
              </a:rPr>
              <a:t> </a:t>
            </a:r>
            <a:r>
              <a:rPr sz="1250" b="0" dirty="0" err="1">
                <a:solidFill>
                  <a:srgbClr val="F2F2F2"/>
                </a:solidFill>
                <a:latin typeface="Consolas"/>
              </a:rPr>
              <a:t>있다</a:t>
            </a:r>
            <a:r>
              <a:rPr sz="1250" b="0" dirty="0">
                <a:solidFill>
                  <a:srgbClr val="F2F2F2"/>
                </a:solidFill>
                <a:latin typeface="Consolas"/>
              </a:rPr>
              <a:t>. </a:t>
            </a:r>
            <a:r>
              <a:rPr sz="1250" b="0" dirty="0" err="1">
                <a:solidFill>
                  <a:srgbClr val="F2F2F2"/>
                </a:solidFill>
                <a:latin typeface="Consolas"/>
              </a:rPr>
              <a:t>반드시</a:t>
            </a:r>
            <a:r>
              <a:rPr sz="1250" b="0" dirty="0">
                <a:solidFill>
                  <a:srgbClr val="F2F2F2"/>
                </a:solidFill>
                <a:latin typeface="Consolas"/>
              </a:rPr>
              <a:t> </a:t>
            </a:r>
            <a:r>
              <a:rPr sz="1250" b="0" dirty="0" err="1">
                <a:solidFill>
                  <a:srgbClr val="F2F2F2"/>
                </a:solidFill>
                <a:latin typeface="Consolas"/>
              </a:rPr>
              <a:t>재수집</a:t>
            </a:r>
            <a:r>
              <a:rPr sz="1250" b="0" dirty="0">
                <a:solidFill>
                  <a:srgbClr val="F2F2F2"/>
                </a:solidFill>
                <a:latin typeface="Consolas"/>
              </a:rPr>
              <a:t>!</a:t>
            </a:r>
          </a:p>
          <a:p>
            <a:pPr>
              <a:spcAft>
                <a:spcPts val="0"/>
              </a:spcAft>
            </a:pPr>
            <a:r>
              <a:rPr sz="1250" b="0" dirty="0">
                <a:solidFill>
                  <a:srgbClr val="F2F2F2"/>
                </a:solidFill>
                <a:latin typeface="Consolas"/>
              </a:rPr>
              <a:t>SQL&gt; EXEC DBMS_STATS.GATHER_TABLE_STATS('SQLT','MEDICAL_CLAIMS',-</a:t>
            </a:r>
          </a:p>
          <a:p>
            <a:pPr>
              <a:spcAft>
                <a:spcPts val="0"/>
              </a:spcAft>
            </a:pPr>
            <a:r>
              <a:rPr sz="1250" b="0" dirty="0">
                <a:solidFill>
                  <a:srgbClr val="F2F2F2"/>
                </a:solidFill>
                <a:latin typeface="Consolas"/>
              </a:rPr>
              <a:t>&gt;   </a:t>
            </a:r>
            <a:r>
              <a:rPr sz="1250" b="0" dirty="0" err="1">
                <a:solidFill>
                  <a:srgbClr val="F2F2F2"/>
                </a:solidFill>
                <a:latin typeface="Consolas"/>
              </a:rPr>
              <a:t>method_opt</a:t>
            </a:r>
            <a:r>
              <a:rPr sz="1250" b="0" dirty="0">
                <a:solidFill>
                  <a:srgbClr val="F2F2F2"/>
                </a:solidFill>
                <a:latin typeface="Consolas"/>
              </a:rPr>
              <a:t>=&gt;'FOR ALL COLUMNS SIZE AUTO -</a:t>
            </a:r>
          </a:p>
          <a:p>
            <a:pPr>
              <a:spcAft>
                <a:spcPts val="0"/>
              </a:spcAft>
            </a:pPr>
            <a:r>
              <a:rPr sz="1250" b="0" dirty="0">
                <a:solidFill>
                  <a:srgbClr val="F2F2F2"/>
                </a:solidFill>
                <a:latin typeface="Consolas"/>
              </a:rPr>
              <a:t>&gt;                FOR COLUMNS (CLAIM_TYPE,DEPT_CODE)');</a:t>
            </a:r>
          </a:p>
          <a:p>
            <a:pPr>
              <a:spcAft>
                <a:spcPts val="0"/>
              </a:spcAft>
            </a:pPr>
            <a:endParaRPr sz="1250" b="0" dirty="0">
              <a:solidFill>
                <a:srgbClr val="F2F2F2"/>
              </a:solidFill>
              <a:latin typeface="Consolas"/>
            </a:endParaRPr>
          </a:p>
          <a:p>
            <a:pPr>
              <a:spcAft>
                <a:spcPts val="0"/>
              </a:spcAft>
            </a:pPr>
            <a:r>
              <a:rPr sz="1250" b="0" dirty="0">
                <a:solidFill>
                  <a:srgbClr val="F2F2F2"/>
                </a:solidFill>
                <a:latin typeface="Consolas"/>
              </a:rPr>
              <a:t>-- </a:t>
            </a:r>
            <a:r>
              <a:rPr sz="1250" b="0" dirty="0" err="1">
                <a:solidFill>
                  <a:srgbClr val="F2F2F2"/>
                </a:solidFill>
                <a:latin typeface="Consolas"/>
              </a:rPr>
              <a:t>확인</a:t>
            </a:r>
            <a:r>
              <a:rPr sz="1250" b="0" dirty="0">
                <a:solidFill>
                  <a:srgbClr val="F2F2F2"/>
                </a:solidFill>
                <a:latin typeface="Consolas"/>
              </a:rPr>
              <a:t>: USER_STAT_EXTENSIONS / </a:t>
            </a:r>
            <a:r>
              <a:rPr sz="1250" b="0" dirty="0" err="1">
                <a:solidFill>
                  <a:srgbClr val="F2F2F2"/>
                </a:solidFill>
                <a:latin typeface="Consolas"/>
              </a:rPr>
              <a:t>제거</a:t>
            </a:r>
            <a:r>
              <a:rPr sz="1250" b="0" dirty="0">
                <a:solidFill>
                  <a:srgbClr val="F2F2F2"/>
                </a:solidFill>
                <a:latin typeface="Consolas"/>
              </a:rPr>
              <a:t>: DROP_EXTENDED_STATS</a:t>
            </a:r>
          </a:p>
        </p:txBody>
      </p:sp>
    </p:spTree>
    <p:extLst>
      <p:ext uri="{BB962C8B-B14F-4D97-AF65-F5344CB8AC3E}">
        <p14:creationId xmlns:p14="http://schemas.microsoft.com/office/powerpoint/2010/main" val="1580270430"/>
      </p:ext>
    </p:extLst>
  </p:cSld>
  <p:clrMapOvr>
    <a:masterClrMapping/>
  </p:clrMapOvr>
</p:sld>
</file>

<file path=ppt/slides/slide8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표현식 통계 — 함수가 컬럼을 가릴 때</a:t>
            </a:r>
          </a:p>
        </p:txBody>
      </p:sp>
      <p:sp>
        <p:nvSpPr>
          <p:cNvPr id="4" name="TextBox 3"/>
          <p:cNvSpPr txBox="1"/>
          <p:nvPr/>
        </p:nvSpPr>
        <p:spPr>
          <a:xfrm>
            <a:off x="640080" y="1078992"/>
            <a:ext cx="10881360" cy="457200"/>
          </a:xfrm>
          <a:prstGeom prst="rect">
            <a:avLst/>
          </a:prstGeom>
          <a:noFill/>
        </p:spPr>
        <p:txBody>
          <a:bodyPr wrap="square">
            <a:spAutoFit/>
          </a:bodyPr>
          <a:lstStyle/>
          <a:p>
            <a:pPr>
              <a:spcAft>
                <a:spcPts val="400"/>
              </a:spcAft>
            </a:pPr>
            <a:r>
              <a:rPr sz="1500" b="0">
                <a:solidFill>
                  <a:srgbClr val="5A6672"/>
                </a:solidFill>
                <a:latin typeface="맑은 고딕"/>
              </a:rPr>
              <a:t>기본 선택도 1%의 함정</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WHERE EXTRACT(YEAR FROM receipt_date)=2026 — 원본 통계 못 씀</a:t>
            </a:r>
          </a:p>
          <a:p>
            <a:pPr>
              <a:spcAft>
                <a:spcPts val="800"/>
              </a:spcAft>
            </a:pPr>
            <a:r>
              <a:rPr sz="1700" b="0">
                <a:solidFill>
                  <a:srgbClr val="222222"/>
                </a:solidFill>
                <a:latin typeface="맑은 고딕"/>
              </a:rPr>
              <a:t>•  함수 결과 분포를 몰라 기본 선택도(대개 1%)로 추정</a:t>
            </a:r>
          </a:p>
          <a:p>
            <a:pPr>
              <a:spcAft>
                <a:spcPts val="800"/>
              </a:spcAft>
            </a:pPr>
            <a:r>
              <a:rPr sz="1700" b="0">
                <a:solidFill>
                  <a:srgbClr val="222222"/>
                </a:solidFill>
                <a:latin typeface="맑은 고딕"/>
              </a:rPr>
              <a:t>•  실제 비율이 크면 카디널리티 크게 어긋남</a:t>
            </a:r>
          </a:p>
          <a:p>
            <a:pPr>
              <a:spcAft>
                <a:spcPts val="800"/>
              </a:spcAft>
            </a:pPr>
            <a:r>
              <a:rPr sz="1700" b="0">
                <a:solidFill>
                  <a:srgbClr val="222222"/>
                </a:solidFill>
                <a:latin typeface="맑은 고딕"/>
              </a:rPr>
              <a:t>•  표현식 통계 → 함수 결과의 NDV·분포 저장</a:t>
            </a:r>
          </a:p>
          <a:p>
            <a:pPr>
              <a:spcAft>
                <a:spcPts val="800"/>
              </a:spcAft>
            </a:pPr>
            <a:r>
              <a:rPr sz="1700" b="0">
                <a:solidFill>
                  <a:srgbClr val="222222"/>
                </a:solidFill>
                <a:latin typeface="맑은 고딕"/>
              </a:rPr>
              <a:t>•  함수 기반 인덱스를 만들면 표현식 통계도 함께 생성</a:t>
            </a:r>
          </a:p>
        </p:txBody>
      </p:sp>
    </p:spTree>
    <p:extLst>
      <p:ext uri="{BB962C8B-B14F-4D97-AF65-F5344CB8AC3E}">
        <p14:creationId xmlns:p14="http://schemas.microsoft.com/office/powerpoint/2010/main" val="2168784859"/>
      </p:ext>
    </p:extLst>
  </p:cSld>
  <p:clrMapOvr>
    <a:masterClrMapping/>
  </p:clrMapOvr>
</p:sld>
</file>

<file path=ppt/slides/slide8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확장 통계 생성 — 표현식</a:t>
            </a:r>
          </a:p>
        </p:txBody>
      </p:sp>
      <p:sp>
        <p:nvSpPr>
          <p:cNvPr id="4" name="TextBox 3"/>
          <p:cNvSpPr txBox="1"/>
          <p:nvPr/>
        </p:nvSpPr>
        <p:spPr>
          <a:xfrm>
            <a:off x="640080" y="1078992"/>
            <a:ext cx="10881360" cy="457200"/>
          </a:xfrm>
          <a:prstGeom prst="rect">
            <a:avLst/>
          </a:prstGeom>
          <a:noFill/>
        </p:spPr>
        <p:txBody>
          <a:bodyPr wrap="square">
            <a:spAutoFit/>
          </a:bodyPr>
          <a:lstStyle/>
          <a:p>
            <a:pPr>
              <a:spcAft>
                <a:spcPts val="400"/>
              </a:spcAft>
            </a:pPr>
            <a:r>
              <a:rPr sz="1500" b="0">
                <a:solidFill>
                  <a:srgbClr val="5A6672"/>
                </a:solidFill>
                <a:latin typeface="맑은 고딕"/>
              </a:rPr>
              <a:t>EXTRACT(YEAR FROM RECEIPT_DATE)</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27000" tIns="101600" rtlCol="0" anchor="ctr"/>
          <a:lstStyle/>
          <a:p>
            <a:pPr>
              <a:spcAft>
                <a:spcPts val="0"/>
              </a:spcAft>
            </a:pPr>
            <a:r>
              <a:rPr sz="1250" b="0" dirty="0">
                <a:solidFill>
                  <a:srgbClr val="F2F2F2"/>
                </a:solidFill>
                <a:latin typeface="Consolas"/>
              </a:rPr>
              <a:t>SQL&gt; SELECT DBMS_STATS.CREATE_EXTENDED_STATS(</a:t>
            </a:r>
          </a:p>
          <a:p>
            <a:pPr>
              <a:spcAft>
                <a:spcPts val="0"/>
              </a:spcAft>
            </a:pPr>
            <a:r>
              <a:rPr sz="1250" b="0" dirty="0">
                <a:solidFill>
                  <a:srgbClr val="F2F2F2"/>
                </a:solidFill>
                <a:latin typeface="Consolas"/>
              </a:rPr>
              <a:t>  2         'SQLT','MEDICAL_CLAIMS',</a:t>
            </a:r>
          </a:p>
          <a:p>
            <a:pPr>
              <a:spcAft>
                <a:spcPts val="0"/>
              </a:spcAft>
            </a:pPr>
            <a:r>
              <a:rPr sz="1250" b="0" dirty="0">
                <a:solidFill>
                  <a:srgbClr val="F2F2F2"/>
                </a:solidFill>
                <a:latin typeface="Consolas"/>
              </a:rPr>
              <a:t>  3         '(EXTRACT(YEAR FROM RECEIPT_DATE))') AS </a:t>
            </a:r>
            <a:r>
              <a:rPr sz="1250" b="0" dirty="0" err="1">
                <a:solidFill>
                  <a:srgbClr val="F2F2F2"/>
                </a:solidFill>
                <a:latin typeface="Consolas"/>
              </a:rPr>
              <a:t>ext_name</a:t>
            </a:r>
            <a:endParaRPr sz="1250" b="0" dirty="0">
              <a:solidFill>
                <a:srgbClr val="F2F2F2"/>
              </a:solidFill>
              <a:latin typeface="Consolas"/>
            </a:endParaRPr>
          </a:p>
          <a:p>
            <a:pPr>
              <a:spcAft>
                <a:spcPts val="0"/>
              </a:spcAft>
            </a:pPr>
            <a:r>
              <a:rPr sz="1250" b="0" dirty="0">
                <a:solidFill>
                  <a:srgbClr val="F2F2F2"/>
                </a:solidFill>
                <a:latin typeface="Consolas"/>
              </a:rPr>
              <a:t>  4    FROM dual;</a:t>
            </a:r>
          </a:p>
          <a:p>
            <a:pPr>
              <a:spcAft>
                <a:spcPts val="0"/>
              </a:spcAft>
            </a:pPr>
            <a:endParaRPr sz="1250" b="0" dirty="0">
              <a:solidFill>
                <a:srgbClr val="F2F2F2"/>
              </a:solidFill>
              <a:latin typeface="Consolas"/>
            </a:endParaRPr>
          </a:p>
          <a:p>
            <a:pPr>
              <a:spcAft>
                <a:spcPts val="0"/>
              </a:spcAft>
            </a:pPr>
            <a:r>
              <a:rPr sz="1250" b="0" dirty="0">
                <a:solidFill>
                  <a:srgbClr val="F2F2F2"/>
                </a:solidFill>
                <a:latin typeface="Consolas"/>
              </a:rPr>
              <a:t>SQL&gt; EXEC DBMS_STATS.GATHER_TABLE_STATS('SQLT','MEDICAL_CLAIMS',-</a:t>
            </a:r>
          </a:p>
          <a:p>
            <a:pPr>
              <a:spcAft>
                <a:spcPts val="0"/>
              </a:spcAft>
            </a:pPr>
            <a:r>
              <a:rPr sz="1250" b="0" dirty="0">
                <a:solidFill>
                  <a:srgbClr val="F2F2F2"/>
                </a:solidFill>
                <a:latin typeface="Consolas"/>
              </a:rPr>
              <a:t>&gt;   </a:t>
            </a:r>
            <a:r>
              <a:rPr sz="1250" b="0" dirty="0" err="1">
                <a:solidFill>
                  <a:srgbClr val="F2F2F2"/>
                </a:solidFill>
                <a:latin typeface="Consolas"/>
              </a:rPr>
              <a:t>method_opt</a:t>
            </a:r>
            <a:r>
              <a:rPr sz="1250" b="0" dirty="0">
                <a:solidFill>
                  <a:srgbClr val="F2F2F2"/>
                </a:solidFill>
                <a:latin typeface="Consolas"/>
              </a:rPr>
              <a:t>=&gt;'FOR ALL COLUMNS SIZE AUTO -</a:t>
            </a:r>
          </a:p>
          <a:p>
            <a:pPr>
              <a:spcAft>
                <a:spcPts val="0"/>
              </a:spcAft>
            </a:pPr>
            <a:r>
              <a:rPr sz="1250" b="0" dirty="0">
                <a:solidFill>
                  <a:srgbClr val="F2F2F2"/>
                </a:solidFill>
                <a:latin typeface="Consolas"/>
              </a:rPr>
              <a:t>&gt;     FOR COLUMNS (EXTRACT(YEAR FROM RECEIPT_DATE)) SIZE AUTO');</a:t>
            </a:r>
          </a:p>
          <a:p>
            <a:pPr>
              <a:spcAft>
                <a:spcPts val="0"/>
              </a:spcAft>
            </a:pPr>
            <a:endParaRPr sz="1250" b="0" dirty="0">
              <a:solidFill>
                <a:srgbClr val="F2F2F2"/>
              </a:solidFill>
              <a:latin typeface="Consolas"/>
            </a:endParaRPr>
          </a:p>
          <a:p>
            <a:pPr>
              <a:spcAft>
                <a:spcPts val="0"/>
              </a:spcAft>
            </a:pPr>
            <a:r>
              <a:rPr sz="1250" b="0" dirty="0">
                <a:solidFill>
                  <a:srgbClr val="F2F2F2"/>
                </a:solidFill>
                <a:latin typeface="Consolas"/>
              </a:rPr>
              <a:t>-- </a:t>
            </a:r>
            <a:r>
              <a:rPr sz="1250" b="0" dirty="0" err="1">
                <a:solidFill>
                  <a:srgbClr val="F2F2F2"/>
                </a:solidFill>
                <a:latin typeface="Consolas"/>
              </a:rPr>
              <a:t>함수</a:t>
            </a:r>
            <a:r>
              <a:rPr sz="1250" b="0" dirty="0">
                <a:solidFill>
                  <a:srgbClr val="F2F2F2"/>
                </a:solidFill>
                <a:latin typeface="Consolas"/>
              </a:rPr>
              <a:t> </a:t>
            </a:r>
            <a:r>
              <a:rPr sz="1250" b="0" dirty="0" err="1">
                <a:solidFill>
                  <a:srgbClr val="F2F2F2"/>
                </a:solidFill>
                <a:latin typeface="Consolas"/>
              </a:rPr>
              <a:t>기반</a:t>
            </a:r>
            <a:r>
              <a:rPr sz="1250" b="0" dirty="0">
                <a:solidFill>
                  <a:srgbClr val="F2F2F2"/>
                </a:solidFill>
                <a:latin typeface="Consolas"/>
              </a:rPr>
              <a:t> </a:t>
            </a:r>
            <a:r>
              <a:rPr sz="1250" b="0" dirty="0" err="1">
                <a:solidFill>
                  <a:srgbClr val="F2F2F2"/>
                </a:solidFill>
                <a:latin typeface="Consolas"/>
              </a:rPr>
              <a:t>인덱스를</a:t>
            </a:r>
            <a:r>
              <a:rPr sz="1250" b="0" dirty="0">
                <a:solidFill>
                  <a:srgbClr val="F2F2F2"/>
                </a:solidFill>
                <a:latin typeface="Consolas"/>
              </a:rPr>
              <a:t> </a:t>
            </a:r>
            <a:r>
              <a:rPr sz="1250" b="0" dirty="0" err="1">
                <a:solidFill>
                  <a:srgbClr val="F2F2F2"/>
                </a:solidFill>
                <a:latin typeface="Consolas"/>
              </a:rPr>
              <a:t>만들면</a:t>
            </a:r>
            <a:r>
              <a:rPr sz="1250" b="0" dirty="0">
                <a:solidFill>
                  <a:srgbClr val="F2F2F2"/>
                </a:solidFill>
                <a:latin typeface="Consolas"/>
              </a:rPr>
              <a:t> </a:t>
            </a:r>
            <a:r>
              <a:rPr sz="1250" b="0" dirty="0" err="1">
                <a:solidFill>
                  <a:srgbClr val="F2F2F2"/>
                </a:solidFill>
                <a:latin typeface="Consolas"/>
              </a:rPr>
              <a:t>표현식</a:t>
            </a:r>
            <a:r>
              <a:rPr sz="1250" b="0" dirty="0">
                <a:solidFill>
                  <a:srgbClr val="F2F2F2"/>
                </a:solidFill>
                <a:latin typeface="Consolas"/>
              </a:rPr>
              <a:t> </a:t>
            </a:r>
            <a:r>
              <a:rPr sz="1250" b="0" dirty="0" err="1">
                <a:solidFill>
                  <a:srgbClr val="F2F2F2"/>
                </a:solidFill>
                <a:latin typeface="Consolas"/>
              </a:rPr>
              <a:t>통계도</a:t>
            </a:r>
            <a:r>
              <a:rPr sz="1250" b="0" dirty="0">
                <a:solidFill>
                  <a:srgbClr val="F2F2F2"/>
                </a:solidFill>
                <a:latin typeface="Consolas"/>
              </a:rPr>
              <a:t> </a:t>
            </a:r>
            <a:r>
              <a:rPr sz="1250" b="0" dirty="0" err="1">
                <a:solidFill>
                  <a:srgbClr val="F2F2F2"/>
                </a:solidFill>
                <a:latin typeface="Consolas"/>
              </a:rPr>
              <a:t>함께</a:t>
            </a:r>
            <a:r>
              <a:rPr sz="1250" b="0" dirty="0">
                <a:solidFill>
                  <a:srgbClr val="F2F2F2"/>
                </a:solidFill>
                <a:latin typeface="Consolas"/>
              </a:rPr>
              <a:t> </a:t>
            </a:r>
            <a:r>
              <a:rPr sz="1250" b="0" dirty="0" err="1">
                <a:solidFill>
                  <a:srgbClr val="F2F2F2"/>
                </a:solidFill>
                <a:latin typeface="Consolas"/>
              </a:rPr>
              <a:t>생성됨</a:t>
            </a:r>
            <a:endParaRPr sz="1250" b="0" dirty="0">
              <a:solidFill>
                <a:srgbClr val="F2F2F2"/>
              </a:solidFill>
              <a:latin typeface="Consolas"/>
            </a:endParaRPr>
          </a:p>
        </p:txBody>
      </p:sp>
    </p:spTree>
    <p:extLst>
      <p:ext uri="{BB962C8B-B14F-4D97-AF65-F5344CB8AC3E}">
        <p14:creationId xmlns:p14="http://schemas.microsoft.com/office/powerpoint/2010/main" val="3814322059"/>
      </p:ext>
    </p:extLst>
  </p:cSld>
  <p:clrMapOvr>
    <a:masterClrMapping/>
  </p:clrMapOvr>
</p:sld>
</file>

<file path=ppt/slides/slide8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707886"/>
          </a:xfrm>
          <a:prstGeom prst="rect">
            <a:avLst/>
          </a:prstGeom>
          <a:noFill/>
        </p:spPr>
        <p:txBody>
          <a:bodyPr wrap="square">
            <a:spAutoFit/>
          </a:bodyPr>
          <a:lstStyle/>
          <a:p>
            <a:pPr>
              <a:spcAft>
                <a:spcPts val="400"/>
              </a:spcAft>
            </a:pPr>
            <a:r>
              <a:rPr lang="en-US" sz="4000" b="1" dirty="0">
                <a:solidFill>
                  <a:srgbClr val="FFFFFF"/>
                </a:solidFill>
                <a:latin typeface="맑은 고딕"/>
              </a:rPr>
              <a:t>21</a:t>
            </a:r>
            <a:r>
              <a:rPr sz="4000" b="1" dirty="0">
                <a:solidFill>
                  <a:srgbClr val="FFFFFF"/>
                </a:solidFill>
                <a:latin typeface="맑은 고딕"/>
              </a:rPr>
              <a:t>.5</a:t>
            </a:r>
          </a:p>
        </p:txBody>
      </p:sp>
      <p:sp>
        <p:nvSpPr>
          <p:cNvPr id="4" name="TextBox 3"/>
          <p:cNvSpPr txBox="1"/>
          <p:nvPr/>
        </p:nvSpPr>
        <p:spPr>
          <a:xfrm>
            <a:off x="822960" y="3017520"/>
            <a:ext cx="10515600" cy="914400"/>
          </a:xfrm>
          <a:prstGeom prst="rect">
            <a:avLst/>
          </a:prstGeom>
          <a:noFill/>
        </p:spPr>
        <p:txBody>
          <a:bodyPr wrap="square">
            <a:spAutoFit/>
          </a:bodyPr>
          <a:lstStyle/>
          <a:p>
            <a:pPr>
              <a:spcAft>
                <a:spcPts val="400"/>
              </a:spcAft>
            </a:pPr>
            <a:r>
              <a:rPr sz="2800" b="1">
                <a:solidFill>
                  <a:srgbClr val="FFFFFF"/>
                </a:solidFill>
                <a:latin typeface="맑은 고딕"/>
              </a:rPr>
              <a:t>시스템 통계</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spcAft>
                <a:spcPts val="600"/>
              </a:spcAft>
            </a:pPr>
            <a:r>
              <a:rPr sz="1600" b="0">
                <a:solidFill>
                  <a:srgbClr val="FFFFFF"/>
                </a:solidFill>
                <a:latin typeface="맑은 고딕"/>
              </a:rPr>
              <a:t>•  NOWORKLOAD vs WORKLOAD</a:t>
            </a:r>
          </a:p>
          <a:p>
            <a:pPr>
              <a:spcAft>
                <a:spcPts val="600"/>
              </a:spcAft>
            </a:pPr>
            <a:r>
              <a:rPr sz="1600" b="0">
                <a:solidFill>
                  <a:srgbClr val="FFFFFF"/>
                </a:solidFill>
                <a:latin typeface="맑은 고딕"/>
              </a:rPr>
              <a:t>•  SYS.AUX_STATS$ 실측 (현재 NOWORKLOAD)</a:t>
            </a:r>
          </a:p>
          <a:p>
            <a:pPr>
              <a:spcAft>
                <a:spcPts val="600"/>
              </a:spcAft>
            </a:pPr>
            <a:r>
              <a:rPr sz="1600" b="0">
                <a:solidFill>
                  <a:srgbClr val="FFFFFF"/>
                </a:solidFill>
                <a:latin typeface="맑은 고딕"/>
              </a:rPr>
              <a:t>•  MBRC·SREADTIM·MREADTIM</a:t>
            </a:r>
          </a:p>
          <a:p>
            <a:pPr>
              <a:spcAft>
                <a:spcPts val="600"/>
              </a:spcAft>
            </a:pPr>
            <a:r>
              <a:rPr sz="1600" b="0">
                <a:solidFill>
                  <a:srgbClr val="FFFFFF"/>
                </a:solidFill>
                <a:latin typeface="맑은 고딕"/>
              </a:rPr>
              <a:t>•  수집하면 계획이 바뀔 수 있다 → 원복 필수</a:t>
            </a:r>
          </a:p>
        </p:txBody>
      </p:sp>
    </p:spTree>
    <p:extLst>
      <p:ext uri="{BB962C8B-B14F-4D97-AF65-F5344CB8AC3E}">
        <p14:creationId xmlns:p14="http://schemas.microsoft.com/office/powerpoint/2010/main" val="2347952179"/>
      </p:ext>
    </p:extLst>
  </p:cSld>
  <p:clrMapOvr>
    <a:masterClrMapping/>
  </p:clrMapOvr>
</p:sld>
</file>

<file path=ppt/slides/slide8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시스템 통계란</a:t>
            </a:r>
          </a:p>
        </p:txBody>
      </p:sp>
      <p:sp>
        <p:nvSpPr>
          <p:cNvPr id="4" name="TextBox 3"/>
          <p:cNvSpPr txBox="1"/>
          <p:nvPr/>
        </p:nvSpPr>
        <p:spPr>
          <a:xfrm>
            <a:off x="640080" y="1078992"/>
            <a:ext cx="10881360" cy="457200"/>
          </a:xfrm>
          <a:prstGeom prst="rect">
            <a:avLst/>
          </a:prstGeom>
          <a:noFill/>
        </p:spPr>
        <p:txBody>
          <a:bodyPr wrap="square">
            <a:spAutoFit/>
          </a:bodyPr>
          <a:lstStyle/>
          <a:p>
            <a:pPr>
              <a:spcAft>
                <a:spcPts val="400"/>
              </a:spcAft>
            </a:pPr>
            <a:r>
              <a:rPr sz="1500" b="0">
                <a:solidFill>
                  <a:srgbClr val="5A6672"/>
                </a:solidFill>
                <a:latin typeface="맑은 고딕"/>
              </a:rPr>
              <a:t>하드웨어를 옵티마이저에게 알린다</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데이터 통계 = 카디널리티(몇 건) / 시스템 통계 = 비용(얼마나)</a:t>
            </a:r>
          </a:p>
          <a:p>
            <a:pPr>
              <a:spcAft>
                <a:spcPts val="800"/>
              </a:spcAft>
            </a:pPr>
            <a:r>
              <a:rPr sz="1700" b="0">
                <a:solidFill>
                  <a:srgbClr val="222222"/>
                </a:solidFill>
                <a:latin typeface="맑은 고딕"/>
              </a:rPr>
              <a:t>•  NOWORKLOAD: 임의 I/O로 측정한 기본 특성 (DB 생성 시 기본)</a:t>
            </a:r>
          </a:p>
          <a:p>
            <a:pPr>
              <a:spcAft>
                <a:spcPts val="800"/>
              </a:spcAft>
            </a:pPr>
            <a:r>
              <a:rPr sz="1700" b="0">
                <a:solidFill>
                  <a:srgbClr val="222222"/>
                </a:solidFill>
                <a:latin typeface="맑은 고딕"/>
              </a:rPr>
              <a:t>•  WORKLOAD: 실제 부하 구간을 관찰해 측정</a:t>
            </a:r>
          </a:p>
          <a:p>
            <a:pPr>
              <a:spcAft>
                <a:spcPts val="800"/>
              </a:spcAft>
            </a:pPr>
            <a:r>
              <a:rPr sz="1700" b="0">
                <a:solidFill>
                  <a:srgbClr val="222222"/>
                </a:solidFill>
                <a:latin typeface="맑은 고딕"/>
              </a:rPr>
              <a:t>•  전체 스캔(다중 블록) vs 인덱스 스캔(단일 블록) 비용 기준</a:t>
            </a:r>
          </a:p>
          <a:p>
            <a:pPr>
              <a:spcAft>
                <a:spcPts val="800"/>
              </a:spcAft>
            </a:pPr>
            <a:r>
              <a:rPr sz="1700" b="0">
                <a:solidFill>
                  <a:srgbClr val="222222"/>
                </a:solidFill>
                <a:latin typeface="맑은 고딕"/>
              </a:rPr>
              <a:t>•  SYS.AUX_STATS$에 저장 · 인스턴스 전역에 영향</a:t>
            </a:r>
          </a:p>
        </p:txBody>
      </p:sp>
    </p:spTree>
    <p:extLst>
      <p:ext uri="{BB962C8B-B14F-4D97-AF65-F5344CB8AC3E}">
        <p14:creationId xmlns:p14="http://schemas.microsoft.com/office/powerpoint/2010/main" val="1070533457"/>
      </p:ext>
    </p:extLst>
  </p:cSld>
  <p:clrMapOvr>
    <a:masterClrMapping/>
  </p:clrMapOvr>
</p:sld>
</file>

<file path=ppt/slides/slide8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시스템 통계 현황 — 실측</a:t>
            </a:r>
          </a:p>
        </p:txBody>
      </p:sp>
      <p:sp>
        <p:nvSpPr>
          <p:cNvPr id="4" name="TextBox 3"/>
          <p:cNvSpPr txBox="1"/>
          <p:nvPr/>
        </p:nvSpPr>
        <p:spPr>
          <a:xfrm>
            <a:off x="640080" y="1078992"/>
            <a:ext cx="10881360" cy="457200"/>
          </a:xfrm>
          <a:prstGeom prst="rect">
            <a:avLst/>
          </a:prstGeom>
          <a:noFill/>
        </p:spPr>
        <p:txBody>
          <a:bodyPr wrap="square">
            <a:spAutoFit/>
          </a:bodyPr>
          <a:lstStyle/>
          <a:p>
            <a:pPr>
              <a:spcAft>
                <a:spcPts val="400"/>
              </a:spcAft>
            </a:pPr>
            <a:r>
              <a:rPr sz="1500" b="0">
                <a:solidFill>
                  <a:srgbClr val="5A6672"/>
                </a:solidFill>
                <a:latin typeface="맑은 고딕"/>
              </a:rPr>
              <a:t>SYS.AUX_STATS$ (NOWORKLOAD 상태)</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27000" tIns="101600" rtlCol="0" anchor="ctr"/>
          <a:lstStyle/>
          <a:p>
            <a:pPr>
              <a:spcAft>
                <a:spcPts val="0"/>
              </a:spcAft>
            </a:pPr>
            <a:r>
              <a:rPr sz="1250" b="0" dirty="0">
                <a:solidFill>
                  <a:srgbClr val="F2F2F2"/>
                </a:solidFill>
                <a:latin typeface="Consolas"/>
              </a:rPr>
              <a:t>SQL&gt; SELECT </a:t>
            </a:r>
            <a:r>
              <a:rPr sz="1250" b="0" dirty="0" err="1">
                <a:solidFill>
                  <a:srgbClr val="F2F2F2"/>
                </a:solidFill>
                <a:latin typeface="Consolas"/>
              </a:rPr>
              <a:t>sname</a:t>
            </a:r>
            <a:r>
              <a:rPr sz="1250" b="0" dirty="0">
                <a:solidFill>
                  <a:srgbClr val="F2F2F2"/>
                </a:solidFill>
                <a:latin typeface="Consolas"/>
              </a:rPr>
              <a:t>, </a:t>
            </a:r>
            <a:r>
              <a:rPr sz="1250" b="0" dirty="0" err="1">
                <a:solidFill>
                  <a:srgbClr val="F2F2F2"/>
                </a:solidFill>
                <a:latin typeface="Consolas"/>
              </a:rPr>
              <a:t>pname</a:t>
            </a:r>
            <a:r>
              <a:rPr sz="1250" b="0" dirty="0">
                <a:solidFill>
                  <a:srgbClr val="F2F2F2"/>
                </a:solidFill>
                <a:latin typeface="Consolas"/>
              </a:rPr>
              <a:t>, pval1 FROM </a:t>
            </a:r>
            <a:r>
              <a:rPr sz="1250" b="0" dirty="0" err="1">
                <a:solidFill>
                  <a:srgbClr val="F2F2F2"/>
                </a:solidFill>
                <a:latin typeface="Consolas"/>
              </a:rPr>
              <a:t>sys.aux_stats</a:t>
            </a:r>
            <a:r>
              <a:rPr sz="1250" b="0" dirty="0">
                <a:solidFill>
                  <a:srgbClr val="F2F2F2"/>
                </a:solidFill>
                <a:latin typeface="Consolas"/>
              </a:rPr>
              <a:t>$</a:t>
            </a:r>
          </a:p>
          <a:p>
            <a:pPr>
              <a:spcAft>
                <a:spcPts val="0"/>
              </a:spcAft>
            </a:pPr>
            <a:r>
              <a:rPr sz="1250" b="0" dirty="0">
                <a:solidFill>
                  <a:srgbClr val="F2F2F2"/>
                </a:solidFill>
                <a:latin typeface="Consolas"/>
              </a:rPr>
              <a:t>  2    WHERE </a:t>
            </a:r>
            <a:r>
              <a:rPr sz="1250" b="0" dirty="0" err="1">
                <a:solidFill>
                  <a:srgbClr val="F2F2F2"/>
                </a:solidFill>
                <a:latin typeface="Consolas"/>
              </a:rPr>
              <a:t>pname</a:t>
            </a:r>
            <a:r>
              <a:rPr sz="1250" b="0" dirty="0">
                <a:solidFill>
                  <a:srgbClr val="F2F2F2"/>
                </a:solidFill>
                <a:latin typeface="Consolas"/>
              </a:rPr>
              <a:t> IN ('CPUSPEEDNW','IOSEEKTIM','IOTFRSPEED',</a:t>
            </a:r>
          </a:p>
          <a:p>
            <a:pPr>
              <a:spcAft>
                <a:spcPts val="0"/>
              </a:spcAft>
            </a:pPr>
            <a:r>
              <a:rPr sz="1250" b="0" dirty="0">
                <a:solidFill>
                  <a:srgbClr val="F2F2F2"/>
                </a:solidFill>
                <a:latin typeface="Consolas"/>
              </a:rPr>
              <a:t>  3                    'MBRC','SREADTIM','MREADTIM') ORDER BY </a:t>
            </a:r>
            <a:r>
              <a:rPr sz="1250" b="0" dirty="0" err="1">
                <a:solidFill>
                  <a:srgbClr val="F2F2F2"/>
                </a:solidFill>
                <a:latin typeface="Consolas"/>
              </a:rPr>
              <a:t>pname</a:t>
            </a:r>
            <a:r>
              <a:rPr sz="1250" b="0" dirty="0">
                <a:solidFill>
                  <a:srgbClr val="F2F2F2"/>
                </a:solidFill>
                <a:latin typeface="Consolas"/>
              </a:rPr>
              <a:t>;</a:t>
            </a:r>
          </a:p>
          <a:p>
            <a:pPr>
              <a:spcAft>
                <a:spcPts val="0"/>
              </a:spcAft>
            </a:pPr>
            <a:endParaRPr sz="1250" b="0" dirty="0">
              <a:solidFill>
                <a:srgbClr val="F2F2F2"/>
              </a:solidFill>
              <a:latin typeface="Consolas"/>
            </a:endParaRPr>
          </a:p>
          <a:p>
            <a:pPr>
              <a:spcAft>
                <a:spcPts val="0"/>
              </a:spcAft>
            </a:pPr>
            <a:r>
              <a:rPr sz="1250" b="0" dirty="0">
                <a:solidFill>
                  <a:srgbClr val="F2F2F2"/>
                </a:solidFill>
                <a:latin typeface="Consolas"/>
              </a:rPr>
              <a:t>SNAME          PNAME              PVAL1</a:t>
            </a:r>
          </a:p>
          <a:p>
            <a:pPr>
              <a:spcAft>
                <a:spcPts val="0"/>
              </a:spcAft>
            </a:pPr>
            <a:r>
              <a:rPr sz="1250" b="0" dirty="0">
                <a:solidFill>
                  <a:srgbClr val="F2F2F2"/>
                </a:solidFill>
                <a:latin typeface="Consolas"/>
              </a:rPr>
              <a:t>-------------- ------------ -----------</a:t>
            </a:r>
          </a:p>
          <a:p>
            <a:pPr>
              <a:spcAft>
                <a:spcPts val="0"/>
              </a:spcAft>
            </a:pPr>
            <a:r>
              <a:rPr sz="1250" b="0" dirty="0">
                <a:solidFill>
                  <a:srgbClr val="F2F2F2"/>
                </a:solidFill>
                <a:latin typeface="Consolas"/>
              </a:rPr>
              <a:t>SYSSTATS_MAIN  CPUSPEEDNW   3106.95187</a:t>
            </a:r>
          </a:p>
          <a:p>
            <a:pPr>
              <a:spcAft>
                <a:spcPts val="0"/>
              </a:spcAft>
            </a:pPr>
            <a:r>
              <a:rPr sz="1250" b="0" dirty="0">
                <a:solidFill>
                  <a:srgbClr val="F2F2F2"/>
                </a:solidFill>
                <a:latin typeface="Consolas"/>
              </a:rPr>
              <a:t>SYSSTATS_MAIN  IOSEEKTIM            10</a:t>
            </a:r>
          </a:p>
          <a:p>
            <a:pPr>
              <a:spcAft>
                <a:spcPts val="0"/>
              </a:spcAft>
            </a:pPr>
            <a:r>
              <a:rPr sz="1250" b="0" dirty="0">
                <a:solidFill>
                  <a:srgbClr val="F2F2F2"/>
                </a:solidFill>
                <a:latin typeface="Consolas"/>
              </a:rPr>
              <a:t>SYSSTATS_MAIN  IOTFRSPEED         4096</a:t>
            </a:r>
          </a:p>
          <a:p>
            <a:pPr>
              <a:spcAft>
                <a:spcPts val="0"/>
              </a:spcAft>
            </a:pPr>
            <a:r>
              <a:rPr sz="1250" b="0" dirty="0">
                <a:solidFill>
                  <a:srgbClr val="F2F2F2"/>
                </a:solidFill>
                <a:latin typeface="Consolas"/>
              </a:rPr>
              <a:t>SYSSTATS_MAIN  MBRC             (null)</a:t>
            </a:r>
          </a:p>
          <a:p>
            <a:pPr>
              <a:spcAft>
                <a:spcPts val="0"/>
              </a:spcAft>
            </a:pPr>
            <a:r>
              <a:rPr sz="1250" b="0" dirty="0">
                <a:solidFill>
                  <a:srgbClr val="F2F2F2"/>
                </a:solidFill>
                <a:latin typeface="Consolas"/>
              </a:rPr>
              <a:t>SYSSTATS_MAIN  MREADTIM         (null)</a:t>
            </a:r>
          </a:p>
          <a:p>
            <a:pPr>
              <a:spcAft>
                <a:spcPts val="0"/>
              </a:spcAft>
            </a:pPr>
            <a:r>
              <a:rPr sz="1250" b="0" dirty="0">
                <a:solidFill>
                  <a:srgbClr val="F2F2F2"/>
                </a:solidFill>
                <a:latin typeface="Consolas"/>
              </a:rPr>
              <a:t>SYSSTATS_MAIN  SREADTIM         (null)</a:t>
            </a:r>
          </a:p>
        </p:txBody>
      </p:sp>
    </p:spTree>
    <p:extLst>
      <p:ext uri="{BB962C8B-B14F-4D97-AF65-F5344CB8AC3E}">
        <p14:creationId xmlns:p14="http://schemas.microsoft.com/office/powerpoint/2010/main" val="1042556704"/>
      </p:ext>
    </p:extLst>
  </p:cSld>
  <p:clrMapOvr>
    <a:masterClrMapping/>
  </p:clrMapOvr>
</p:sld>
</file>

<file path=ppt/slides/slide8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WORKLOAD 수집과 원복</a:t>
            </a:r>
          </a:p>
        </p:txBody>
      </p:sp>
      <p:sp>
        <p:nvSpPr>
          <p:cNvPr id="4" name="TextBox 3"/>
          <p:cNvSpPr txBox="1"/>
          <p:nvPr/>
        </p:nvSpPr>
        <p:spPr>
          <a:xfrm>
            <a:off x="640080" y="1078992"/>
            <a:ext cx="10881360" cy="457200"/>
          </a:xfrm>
          <a:prstGeom prst="rect">
            <a:avLst/>
          </a:prstGeom>
          <a:noFill/>
        </p:spPr>
        <p:txBody>
          <a:bodyPr wrap="square">
            <a:spAutoFit/>
          </a:bodyPr>
          <a:lstStyle/>
          <a:p>
            <a:pPr>
              <a:spcAft>
                <a:spcPts val="400"/>
              </a:spcAft>
            </a:pPr>
            <a:r>
              <a:rPr sz="1500" b="0">
                <a:solidFill>
                  <a:srgbClr val="5A6672"/>
                </a:solidFill>
                <a:latin typeface="맑은 고딕"/>
              </a:rPr>
              <a:t>계획이 바뀔 수 있다</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START ~ STOP 사이 실제 I/O 관찰 → MBRC·SREADTIM·MREADTIM 채움</a:t>
            </a:r>
          </a:p>
          <a:p>
            <a:pPr>
              <a:spcAft>
                <a:spcPts val="800"/>
              </a:spcAft>
            </a:pPr>
            <a:r>
              <a:rPr sz="1700" b="0">
                <a:solidFill>
                  <a:srgbClr val="222222"/>
                </a:solidFill>
                <a:latin typeface="맑은 고딕"/>
              </a:rPr>
              <a:t>•  대표성 있는 부하 구간을 골라야 함 (한산한 구간은 위험)</a:t>
            </a:r>
          </a:p>
          <a:p>
            <a:pPr>
              <a:spcAft>
                <a:spcPts val="800"/>
              </a:spcAft>
            </a:pPr>
            <a:r>
              <a:rPr sz="1700" b="0">
                <a:solidFill>
                  <a:srgbClr val="222222"/>
                </a:solidFill>
                <a:latin typeface="맑은 고딕"/>
              </a:rPr>
              <a:t>•  수집하면 전체 스캔↔인덱스 스캔 상대 비용 변화 → 계획 변경 가능</a:t>
            </a:r>
          </a:p>
          <a:p>
            <a:pPr>
              <a:spcAft>
                <a:spcPts val="800"/>
              </a:spcAft>
            </a:pPr>
            <a:r>
              <a:rPr sz="1700" b="0">
                <a:solidFill>
                  <a:srgbClr val="222222"/>
                </a:solidFill>
                <a:latin typeface="맑은 고딕"/>
              </a:rPr>
              <a:t>•  개선일 수도, 회귀일 수도 있다</a:t>
            </a:r>
          </a:p>
          <a:p>
            <a:pPr>
              <a:spcAft>
                <a:spcPts val="800"/>
              </a:spcAft>
            </a:pPr>
            <a:r>
              <a:rPr sz="1700" b="0">
                <a:solidFill>
                  <a:srgbClr val="222222"/>
                </a:solidFill>
                <a:latin typeface="맑은 고딕"/>
              </a:rPr>
              <a:t>•  원복: DELETE_SYSTEM_STATS → GATHER_SYSTEM_STATS('NOWORKLOAD')</a:t>
            </a:r>
          </a:p>
        </p:txBody>
      </p:sp>
    </p:spTree>
    <p:extLst>
      <p:ext uri="{BB962C8B-B14F-4D97-AF65-F5344CB8AC3E}">
        <p14:creationId xmlns:p14="http://schemas.microsoft.com/office/powerpoint/2010/main" val="3557367410"/>
      </p:ext>
    </p:extLst>
  </p:cSld>
  <p:clrMapOvr>
    <a:masterClrMapping/>
  </p:clrMapOvr>
</p:sld>
</file>

<file path=ppt/slides/slide8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707886"/>
          </a:xfrm>
          <a:prstGeom prst="rect">
            <a:avLst/>
          </a:prstGeom>
          <a:noFill/>
        </p:spPr>
        <p:txBody>
          <a:bodyPr wrap="square">
            <a:spAutoFit/>
          </a:bodyPr>
          <a:lstStyle/>
          <a:p>
            <a:pPr>
              <a:spcAft>
                <a:spcPts val="400"/>
              </a:spcAft>
            </a:pPr>
            <a:r>
              <a:rPr lang="en-US" sz="4000" b="1" dirty="0">
                <a:solidFill>
                  <a:srgbClr val="FFFFFF"/>
                </a:solidFill>
                <a:latin typeface="맑은 고딕"/>
              </a:rPr>
              <a:t>21</a:t>
            </a:r>
            <a:r>
              <a:rPr sz="4000" b="1" dirty="0">
                <a:solidFill>
                  <a:srgbClr val="FFFFFF"/>
                </a:solidFill>
                <a:latin typeface="맑은 고딕"/>
              </a:rPr>
              <a:t>.6</a:t>
            </a:r>
          </a:p>
        </p:txBody>
      </p:sp>
      <p:sp>
        <p:nvSpPr>
          <p:cNvPr id="4" name="TextBox 3"/>
          <p:cNvSpPr txBox="1"/>
          <p:nvPr/>
        </p:nvSpPr>
        <p:spPr>
          <a:xfrm>
            <a:off x="822960" y="3017520"/>
            <a:ext cx="10515600" cy="914400"/>
          </a:xfrm>
          <a:prstGeom prst="rect">
            <a:avLst/>
          </a:prstGeom>
          <a:noFill/>
        </p:spPr>
        <p:txBody>
          <a:bodyPr wrap="square">
            <a:spAutoFit/>
          </a:bodyPr>
          <a:lstStyle/>
          <a:p>
            <a:pPr>
              <a:spcAft>
                <a:spcPts val="400"/>
              </a:spcAft>
            </a:pPr>
            <a:r>
              <a:rPr sz="2800" b="1">
                <a:solidFill>
                  <a:srgbClr val="FFFFFF"/>
                </a:solidFill>
                <a:latin typeface="맑은 고딕"/>
              </a:rPr>
              <a:t>통계 Preferences</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spcAft>
                <a:spcPts val="600"/>
              </a:spcAft>
            </a:pPr>
            <a:r>
              <a:rPr sz="1600" b="0">
                <a:solidFill>
                  <a:srgbClr val="FFFFFF"/>
                </a:solidFill>
                <a:latin typeface="맑은 고딕"/>
              </a:rPr>
              <a:t>•  GLOBAL · DATABASE · SCHEMA · TABLE</a:t>
            </a:r>
          </a:p>
          <a:p>
            <a:pPr>
              <a:spcAft>
                <a:spcPts val="600"/>
              </a:spcAft>
            </a:pPr>
            <a:r>
              <a:rPr sz="1600" b="0">
                <a:solidFill>
                  <a:srgbClr val="FFFFFF"/>
                </a:solidFill>
                <a:latin typeface="맑은 고딕"/>
              </a:rPr>
              <a:t>•  좁은 범위가 넓은 범위를 이긴다</a:t>
            </a:r>
          </a:p>
          <a:p>
            <a:pPr>
              <a:spcAft>
                <a:spcPts val="600"/>
              </a:spcAft>
            </a:pPr>
            <a:r>
              <a:rPr sz="1600" b="0">
                <a:solidFill>
                  <a:srgbClr val="FFFFFF"/>
                </a:solidFill>
                <a:latin typeface="맑은 고딕"/>
              </a:rPr>
              <a:t>•  SET_TABLE_PREFS / GET_PREFS</a:t>
            </a:r>
          </a:p>
          <a:p>
            <a:pPr>
              <a:spcAft>
                <a:spcPts val="600"/>
              </a:spcAft>
            </a:pPr>
            <a:r>
              <a:rPr sz="1600" b="0">
                <a:solidFill>
                  <a:srgbClr val="FFFFFF"/>
                </a:solidFill>
                <a:latin typeface="맑은 고딕"/>
              </a:rPr>
              <a:t>•  STALE_PERCENT · INCREMENTAL  (ADMIN 33장 심화)</a:t>
            </a:r>
          </a:p>
        </p:txBody>
      </p:sp>
    </p:spTree>
    <p:extLst>
      <p:ext uri="{BB962C8B-B14F-4D97-AF65-F5344CB8AC3E}">
        <p14:creationId xmlns:p14="http://schemas.microsoft.com/office/powerpoint/2010/main" val="4090325829"/>
      </p:ext>
    </p:extLst>
  </p:cSld>
  <p:clrMapOvr>
    <a:masterClrMapping/>
  </p:clrMapOvr>
</p:sld>
</file>

<file path=ppt/slides/slide8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적용 범위와 우선순위</a:t>
            </a:r>
          </a:p>
        </p:txBody>
      </p:sp>
      <p:sp>
        <p:nvSpPr>
          <p:cNvPr id="4" name="TextBox 3"/>
          <p:cNvSpPr txBox="1"/>
          <p:nvPr/>
        </p:nvSpPr>
        <p:spPr>
          <a:xfrm>
            <a:off x="640080" y="1078992"/>
            <a:ext cx="10881360" cy="457200"/>
          </a:xfrm>
          <a:prstGeom prst="rect">
            <a:avLst/>
          </a:prstGeom>
          <a:noFill/>
        </p:spPr>
        <p:txBody>
          <a:bodyPr wrap="square">
            <a:spAutoFit/>
          </a:bodyPr>
          <a:lstStyle/>
          <a:p>
            <a:pPr>
              <a:spcAft>
                <a:spcPts val="400"/>
              </a:spcAft>
            </a:pPr>
            <a:r>
              <a:rPr sz="1500" b="0">
                <a:solidFill>
                  <a:srgbClr val="5A6672"/>
                </a:solidFill>
                <a:latin typeface="맑은 고딕"/>
              </a:rPr>
              <a:t>좁은 범위가 우선</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GLOBAL (SET_GLOBAL_PREFS) — Preference 없는 모든 객체</a:t>
            </a:r>
          </a:p>
          <a:p>
            <a:pPr>
              <a:spcAft>
                <a:spcPts val="800"/>
              </a:spcAft>
            </a:pPr>
            <a:r>
              <a:rPr sz="1700" b="0">
                <a:solidFill>
                  <a:srgbClr val="222222"/>
                </a:solidFill>
                <a:latin typeface="맑은 고딕"/>
              </a:rPr>
              <a:t>•  DATABASE (SET_DATABASE_PREFS) — 현재 모든 사용자 테이블</a:t>
            </a:r>
          </a:p>
          <a:p>
            <a:pPr>
              <a:spcAft>
                <a:spcPts val="800"/>
              </a:spcAft>
            </a:pPr>
            <a:r>
              <a:rPr sz="1700" b="0">
                <a:solidFill>
                  <a:srgbClr val="222222"/>
                </a:solidFill>
                <a:latin typeface="맑은 고딕"/>
              </a:rPr>
              <a:t>•  SCHEMA (SET_SCHEMA_PREFS) — 해당 스키마 테이블</a:t>
            </a:r>
          </a:p>
          <a:p>
            <a:pPr>
              <a:spcAft>
                <a:spcPts val="800"/>
              </a:spcAft>
            </a:pPr>
            <a:r>
              <a:rPr sz="1700" b="0">
                <a:solidFill>
                  <a:srgbClr val="222222"/>
                </a:solidFill>
                <a:latin typeface="맑은 고딕"/>
              </a:rPr>
              <a:t>•  TABLE (SET_TABLE_PREFS) — 지정한 한 테이블 (가장 우선)</a:t>
            </a:r>
          </a:p>
          <a:p>
            <a:pPr>
              <a:spcAft>
                <a:spcPts val="800"/>
              </a:spcAft>
            </a:pPr>
            <a:r>
              <a:rPr sz="1700" b="0">
                <a:solidFill>
                  <a:srgbClr val="222222"/>
                </a:solidFill>
                <a:latin typeface="맑은 고딕"/>
              </a:rPr>
              <a:t>•  우선순위: TABLE &gt; SCHEMA &gt; DATABASE &gt; GLOBAL</a:t>
            </a:r>
          </a:p>
        </p:txBody>
      </p:sp>
    </p:spTree>
    <p:extLst>
      <p:ext uri="{BB962C8B-B14F-4D97-AF65-F5344CB8AC3E}">
        <p14:creationId xmlns:p14="http://schemas.microsoft.com/office/powerpoint/2010/main" val="3367690196"/>
      </p:ext>
    </p:extLst>
  </p:cSld>
  <p:clrMapOvr>
    <a:masterClrMapping/>
  </p:clrMapOvr>
</p:sld>
</file>

<file path=ppt/slides/slide8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테이블 정책 설정과 원복</a:t>
            </a:r>
          </a:p>
        </p:txBody>
      </p:sp>
      <p:sp>
        <p:nvSpPr>
          <p:cNvPr id="4" name="TextBox 3"/>
          <p:cNvSpPr txBox="1"/>
          <p:nvPr/>
        </p:nvSpPr>
        <p:spPr>
          <a:xfrm>
            <a:off x="640080" y="1078992"/>
            <a:ext cx="10881360" cy="457200"/>
          </a:xfrm>
          <a:prstGeom prst="rect">
            <a:avLst/>
          </a:prstGeom>
          <a:noFill/>
        </p:spPr>
        <p:txBody>
          <a:bodyPr wrap="square">
            <a:spAutoFit/>
          </a:bodyPr>
          <a:lstStyle/>
          <a:p>
            <a:pPr>
              <a:spcAft>
                <a:spcPts val="400"/>
              </a:spcAft>
            </a:pPr>
            <a:r>
              <a:rPr sz="1500" b="0">
                <a:solidFill>
                  <a:srgbClr val="5A6672"/>
                </a:solidFill>
                <a:latin typeface="맑은 고딕"/>
              </a:rPr>
              <a:t>SET_TABLE_PREFS / DELETE_TABLE_PREFS</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27000" tIns="101600" rtlCol="0" anchor="ctr"/>
          <a:lstStyle/>
          <a:p>
            <a:pPr>
              <a:spcAft>
                <a:spcPts val="0"/>
              </a:spcAft>
            </a:pPr>
            <a:r>
              <a:rPr sz="1250" b="0" dirty="0">
                <a:solidFill>
                  <a:srgbClr val="F2F2F2"/>
                </a:solidFill>
                <a:latin typeface="Consolas"/>
              </a:rPr>
              <a:t>-- </a:t>
            </a:r>
            <a:r>
              <a:rPr sz="1250" b="0" dirty="0" err="1">
                <a:solidFill>
                  <a:srgbClr val="F2F2F2"/>
                </a:solidFill>
                <a:latin typeface="Consolas"/>
              </a:rPr>
              <a:t>조치</a:t>
            </a:r>
            <a:r>
              <a:rPr sz="1250" b="0" dirty="0">
                <a:solidFill>
                  <a:srgbClr val="F2F2F2"/>
                </a:solidFill>
                <a:latin typeface="Consolas"/>
              </a:rPr>
              <a:t> 전 값 </a:t>
            </a:r>
            <a:r>
              <a:rPr sz="1250" b="0" dirty="0" err="1">
                <a:solidFill>
                  <a:srgbClr val="F2F2F2"/>
                </a:solidFill>
                <a:latin typeface="Consolas"/>
              </a:rPr>
              <a:t>기록</a:t>
            </a:r>
            <a:endParaRPr sz="1250" b="0" dirty="0">
              <a:solidFill>
                <a:srgbClr val="F2F2F2"/>
              </a:solidFill>
              <a:latin typeface="Consolas"/>
            </a:endParaRPr>
          </a:p>
          <a:p>
            <a:pPr>
              <a:spcAft>
                <a:spcPts val="0"/>
              </a:spcAft>
            </a:pPr>
            <a:r>
              <a:rPr sz="1250" b="0" dirty="0">
                <a:solidFill>
                  <a:srgbClr val="F2F2F2"/>
                </a:solidFill>
                <a:latin typeface="Consolas"/>
              </a:rPr>
              <a:t>SQL&gt; SELECT DBMS_STATS.GET_PREFS('METHOD_OPT',</a:t>
            </a:r>
          </a:p>
          <a:p>
            <a:pPr>
              <a:spcAft>
                <a:spcPts val="0"/>
              </a:spcAft>
            </a:pPr>
            <a:r>
              <a:rPr sz="1250" b="0" dirty="0">
                <a:solidFill>
                  <a:srgbClr val="F2F2F2"/>
                </a:solidFill>
                <a:latin typeface="Consolas"/>
              </a:rPr>
              <a:t>  2         'SQLT','MEDICAL_CLAIMS') FROM dual;</a:t>
            </a:r>
          </a:p>
          <a:p>
            <a:pPr>
              <a:spcAft>
                <a:spcPts val="0"/>
              </a:spcAft>
            </a:pPr>
            <a:endParaRPr sz="1250" b="0" dirty="0">
              <a:solidFill>
                <a:srgbClr val="F2F2F2"/>
              </a:solidFill>
              <a:latin typeface="Consolas"/>
            </a:endParaRPr>
          </a:p>
          <a:p>
            <a:pPr>
              <a:spcAft>
                <a:spcPts val="0"/>
              </a:spcAft>
            </a:pPr>
            <a:r>
              <a:rPr sz="1250" b="0" dirty="0">
                <a:solidFill>
                  <a:srgbClr val="F2F2F2"/>
                </a:solidFill>
                <a:latin typeface="Consolas"/>
              </a:rPr>
              <a:t>-- </a:t>
            </a:r>
            <a:r>
              <a:rPr sz="1250" b="0" dirty="0" err="1">
                <a:solidFill>
                  <a:srgbClr val="F2F2F2"/>
                </a:solidFill>
                <a:latin typeface="Consolas"/>
              </a:rPr>
              <a:t>변경</a:t>
            </a:r>
            <a:endParaRPr sz="1250" b="0" dirty="0">
              <a:solidFill>
                <a:srgbClr val="F2F2F2"/>
              </a:solidFill>
              <a:latin typeface="Consolas"/>
            </a:endParaRPr>
          </a:p>
          <a:p>
            <a:pPr>
              <a:spcAft>
                <a:spcPts val="0"/>
              </a:spcAft>
            </a:pPr>
            <a:r>
              <a:rPr sz="1250" b="0" dirty="0">
                <a:solidFill>
                  <a:srgbClr val="F2F2F2"/>
                </a:solidFill>
                <a:latin typeface="Consolas"/>
              </a:rPr>
              <a:t>SQL&gt; EXEC DBMS_STATS.SET_TABLE_PREFS('SQLT','MEDICAL_CLAIMS',-</a:t>
            </a:r>
          </a:p>
          <a:p>
            <a:pPr>
              <a:spcAft>
                <a:spcPts val="0"/>
              </a:spcAft>
            </a:pPr>
            <a:r>
              <a:rPr sz="1250" b="0" dirty="0">
                <a:solidFill>
                  <a:srgbClr val="F2F2F2"/>
                </a:solidFill>
                <a:latin typeface="Consolas"/>
              </a:rPr>
              <a:t>&gt;          'ESTIMATE_PERCENT','100');</a:t>
            </a:r>
          </a:p>
          <a:p>
            <a:pPr>
              <a:spcAft>
                <a:spcPts val="0"/>
              </a:spcAft>
            </a:pPr>
            <a:endParaRPr sz="1250" b="0" dirty="0">
              <a:solidFill>
                <a:srgbClr val="F2F2F2"/>
              </a:solidFill>
              <a:latin typeface="Consolas"/>
            </a:endParaRPr>
          </a:p>
          <a:p>
            <a:pPr>
              <a:spcAft>
                <a:spcPts val="0"/>
              </a:spcAft>
            </a:pPr>
            <a:r>
              <a:rPr sz="1250" b="0" dirty="0">
                <a:solidFill>
                  <a:srgbClr val="F2F2F2"/>
                </a:solidFill>
                <a:latin typeface="Consolas"/>
              </a:rPr>
              <a:t>-- </a:t>
            </a:r>
            <a:r>
              <a:rPr sz="1250" b="0" dirty="0" err="1">
                <a:solidFill>
                  <a:srgbClr val="F2F2F2"/>
                </a:solidFill>
                <a:latin typeface="Consolas"/>
              </a:rPr>
              <a:t>원복</a:t>
            </a:r>
            <a:endParaRPr sz="1250" b="0" dirty="0">
              <a:solidFill>
                <a:srgbClr val="F2F2F2"/>
              </a:solidFill>
              <a:latin typeface="Consolas"/>
            </a:endParaRPr>
          </a:p>
          <a:p>
            <a:pPr>
              <a:spcAft>
                <a:spcPts val="0"/>
              </a:spcAft>
            </a:pPr>
            <a:r>
              <a:rPr sz="1250" b="0" dirty="0">
                <a:solidFill>
                  <a:srgbClr val="F2F2F2"/>
                </a:solidFill>
                <a:latin typeface="Consolas"/>
              </a:rPr>
              <a:t>SQL&gt; EXEC DBMS_STATS.DELETE_TABLE_PREFS('SQLT','MEDICAL_CLAIMS',-</a:t>
            </a:r>
          </a:p>
          <a:p>
            <a:pPr>
              <a:spcAft>
                <a:spcPts val="0"/>
              </a:spcAft>
            </a:pPr>
            <a:r>
              <a:rPr sz="1250" b="0" dirty="0">
                <a:solidFill>
                  <a:srgbClr val="F2F2F2"/>
                </a:solidFill>
                <a:latin typeface="Consolas"/>
              </a:rPr>
              <a:t>&gt;          'ESTIMATE_PERCENT');</a:t>
            </a:r>
          </a:p>
        </p:txBody>
      </p:sp>
    </p:spTree>
    <p:extLst>
      <p:ext uri="{BB962C8B-B14F-4D97-AF65-F5344CB8AC3E}">
        <p14:creationId xmlns:p14="http://schemas.microsoft.com/office/powerpoint/2010/main" val="2505682508"/>
      </p:ext>
    </p:extLst>
  </p:cSld>
  <p:clrMapOvr>
    <a:masterClrMapping/>
  </p:clrMapOvr>
</p:sld>
</file>

<file path=ppt/slides/slide8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자주 쓰는 Preference들</a:t>
            </a:r>
          </a:p>
        </p:txBody>
      </p:sp>
      <p:sp>
        <p:nvSpPr>
          <p:cNvPr id="4" name="TextBox 3"/>
          <p:cNvSpPr txBox="1"/>
          <p:nvPr/>
        </p:nvSpPr>
        <p:spPr>
          <a:xfrm>
            <a:off x="640080" y="1078992"/>
            <a:ext cx="10881360" cy="457200"/>
          </a:xfrm>
          <a:prstGeom prst="rect">
            <a:avLst/>
          </a:prstGeom>
          <a:noFill/>
        </p:spPr>
        <p:txBody>
          <a:bodyPr wrap="square">
            <a:spAutoFit/>
          </a:bodyPr>
          <a:lstStyle/>
          <a:p>
            <a:pPr>
              <a:spcAft>
                <a:spcPts val="400"/>
              </a:spcAft>
            </a:pPr>
            <a:r>
              <a:rPr sz="1500" b="0">
                <a:solidFill>
                  <a:srgbClr val="5A6672"/>
                </a:solidFill>
                <a:latin typeface="맑은 고딕"/>
              </a:rPr>
              <a:t>테이블 성격에 맞는 정책</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METHOD_OPT — 히스토그램 대상·버킷 정책</a:t>
            </a:r>
          </a:p>
          <a:p>
            <a:pPr>
              <a:spcAft>
                <a:spcPts val="800"/>
              </a:spcAft>
            </a:pPr>
            <a:r>
              <a:rPr sz="1700" b="0">
                <a:solidFill>
                  <a:srgbClr val="222222"/>
                </a:solidFill>
                <a:latin typeface="맑은 고딕"/>
              </a:rPr>
              <a:t>•  ESTIMATE_PERCENT — 기본 AUTO_SAMPLE_SIZE 권장</a:t>
            </a:r>
          </a:p>
          <a:p>
            <a:pPr>
              <a:spcAft>
                <a:spcPts val="800"/>
              </a:spcAft>
            </a:pPr>
            <a:r>
              <a:rPr sz="1700" b="0">
                <a:solidFill>
                  <a:srgbClr val="222222"/>
                </a:solidFill>
                <a:latin typeface="맑은 고딕"/>
              </a:rPr>
              <a:t>•  STALE_PERCENT — 재수집 기준 변경 비율(기본 10%)</a:t>
            </a:r>
          </a:p>
          <a:p>
            <a:pPr>
              <a:spcAft>
                <a:spcPts val="800"/>
              </a:spcAft>
            </a:pPr>
            <a:r>
              <a:rPr sz="1700" b="0">
                <a:solidFill>
                  <a:srgbClr val="222222"/>
                </a:solidFill>
                <a:latin typeface="맑은 고딕"/>
              </a:rPr>
              <a:t>•  INCREMENTAL — 파티션 증분 수집으로 시간 절약</a:t>
            </a:r>
          </a:p>
          <a:p>
            <a:pPr>
              <a:spcAft>
                <a:spcPts val="800"/>
              </a:spcAft>
            </a:pPr>
            <a:r>
              <a:rPr sz="1700" b="0">
                <a:solidFill>
                  <a:srgbClr val="222222"/>
                </a:solidFill>
                <a:latin typeface="맑은 고딕"/>
              </a:rPr>
              <a:t>•  대부분 전역 기본, 초대형·핫 테이블만 예외로 TABLE 설정</a:t>
            </a:r>
          </a:p>
        </p:txBody>
      </p:sp>
    </p:spTree>
    <p:extLst>
      <p:ext uri="{BB962C8B-B14F-4D97-AF65-F5344CB8AC3E}">
        <p14:creationId xmlns:p14="http://schemas.microsoft.com/office/powerpoint/2010/main" val="665432714"/>
      </p:ext>
    </p:extLst>
  </p:cSld>
  <p:clrMapOvr>
    <a:masterClrMapping/>
  </p:clrMapOvr>
</p:sld>
</file>

<file path=ppt/slides/slide8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707886"/>
          </a:xfrm>
          <a:prstGeom prst="rect">
            <a:avLst/>
          </a:prstGeom>
          <a:noFill/>
        </p:spPr>
        <p:txBody>
          <a:bodyPr wrap="square">
            <a:spAutoFit/>
          </a:bodyPr>
          <a:lstStyle/>
          <a:p>
            <a:pPr>
              <a:spcAft>
                <a:spcPts val="400"/>
              </a:spcAft>
            </a:pPr>
            <a:r>
              <a:rPr lang="en-US" sz="4000" b="1" dirty="0">
                <a:solidFill>
                  <a:srgbClr val="FFFFFF"/>
                </a:solidFill>
                <a:latin typeface="맑은 고딕"/>
              </a:rPr>
              <a:t>21</a:t>
            </a:r>
            <a:r>
              <a:rPr sz="4000" b="1" dirty="0">
                <a:solidFill>
                  <a:srgbClr val="FFFFFF"/>
                </a:solidFill>
                <a:latin typeface="맑은 고딕"/>
              </a:rPr>
              <a:t>.7</a:t>
            </a:r>
          </a:p>
        </p:txBody>
      </p:sp>
      <p:sp>
        <p:nvSpPr>
          <p:cNvPr id="4" name="TextBox 3"/>
          <p:cNvSpPr txBox="1"/>
          <p:nvPr/>
        </p:nvSpPr>
        <p:spPr>
          <a:xfrm>
            <a:off x="822960" y="3017520"/>
            <a:ext cx="10515600" cy="914400"/>
          </a:xfrm>
          <a:prstGeom prst="rect">
            <a:avLst/>
          </a:prstGeom>
          <a:noFill/>
        </p:spPr>
        <p:txBody>
          <a:bodyPr wrap="square">
            <a:spAutoFit/>
          </a:bodyPr>
          <a:lstStyle/>
          <a:p>
            <a:pPr>
              <a:spcAft>
                <a:spcPts val="400"/>
              </a:spcAft>
            </a:pPr>
            <a:r>
              <a:rPr sz="2800" b="1">
                <a:solidFill>
                  <a:srgbClr val="FFFFFF"/>
                </a:solidFill>
                <a:latin typeface="맑은 고딕"/>
              </a:rPr>
              <a:t>Statistics Advisor</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spcAft>
                <a:spcPts val="600"/>
              </a:spcAft>
            </a:pPr>
            <a:r>
              <a:rPr sz="1600" b="0">
                <a:solidFill>
                  <a:srgbClr val="FFFFFF"/>
                </a:solidFill>
                <a:latin typeface="맑은 고딕"/>
              </a:rPr>
              <a:t>•  통계 운영을 룰로 자동 점검</a:t>
            </a:r>
          </a:p>
          <a:p>
            <a:pPr>
              <a:spcAft>
                <a:spcPts val="600"/>
              </a:spcAft>
            </a:pPr>
            <a:r>
              <a:rPr sz="1600" b="0">
                <a:solidFill>
                  <a:srgbClr val="FFFFFF"/>
                </a:solidFill>
                <a:latin typeface="맑은 고딕"/>
              </a:rPr>
              <a:t>•  Finding · Recommendation · Rationale</a:t>
            </a:r>
          </a:p>
          <a:p>
            <a:pPr>
              <a:spcAft>
                <a:spcPts val="600"/>
              </a:spcAft>
            </a:pPr>
            <a:r>
              <a:rPr sz="1600" b="0">
                <a:solidFill>
                  <a:srgbClr val="FFFFFF"/>
                </a:solidFill>
                <a:latin typeface="맑은 고딕"/>
              </a:rPr>
              <a:t>•  무료 — Tuning Pack 아님</a:t>
            </a:r>
          </a:p>
          <a:p>
            <a:pPr>
              <a:spcAft>
                <a:spcPts val="600"/>
              </a:spcAft>
            </a:pPr>
            <a:r>
              <a:rPr sz="1600" b="0">
                <a:solidFill>
                  <a:srgbClr val="FFFFFF"/>
                </a:solidFill>
                <a:latin typeface="맑은 고딕"/>
              </a:rPr>
              <a:t>•  권고는 가설, 근거 확인 후 채택</a:t>
            </a:r>
          </a:p>
        </p:txBody>
      </p:sp>
    </p:spTree>
    <p:extLst>
      <p:ext uri="{BB962C8B-B14F-4D97-AF65-F5344CB8AC3E}">
        <p14:creationId xmlns:p14="http://schemas.microsoft.com/office/powerpoint/2010/main" val="1094851224"/>
      </p:ext>
    </p:extLst>
  </p:cSld>
  <p:clrMapOvr>
    <a:masterClrMapping/>
  </p:clrMapOvr>
</p:sld>
</file>

<file path=ppt/slides/slide8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Advisor 태스크 실행</a:t>
            </a:r>
          </a:p>
        </p:txBody>
      </p:sp>
      <p:sp>
        <p:nvSpPr>
          <p:cNvPr id="4" name="TextBox 3"/>
          <p:cNvSpPr txBox="1"/>
          <p:nvPr/>
        </p:nvSpPr>
        <p:spPr>
          <a:xfrm>
            <a:off x="640080" y="1078992"/>
            <a:ext cx="10881360" cy="457200"/>
          </a:xfrm>
          <a:prstGeom prst="rect">
            <a:avLst/>
          </a:prstGeom>
          <a:noFill/>
        </p:spPr>
        <p:txBody>
          <a:bodyPr wrap="square">
            <a:spAutoFit/>
          </a:bodyPr>
          <a:lstStyle/>
          <a:p>
            <a:pPr>
              <a:spcAft>
                <a:spcPts val="400"/>
              </a:spcAft>
            </a:pPr>
            <a:r>
              <a:rPr sz="1500" b="0">
                <a:solidFill>
                  <a:srgbClr val="5A6672"/>
                </a:solidFill>
                <a:latin typeface="맑은 고딕"/>
              </a:rPr>
              <a:t>CREATE / EXECUTE / REPORT</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27000" tIns="101600" rtlCol="0" anchor="ctr"/>
          <a:lstStyle/>
          <a:p>
            <a:pPr>
              <a:spcAft>
                <a:spcPts val="0"/>
              </a:spcAft>
            </a:pPr>
            <a:r>
              <a:rPr sz="1250" b="0" dirty="0">
                <a:solidFill>
                  <a:srgbClr val="F2F2F2"/>
                </a:solidFill>
                <a:latin typeface="Consolas"/>
              </a:rPr>
              <a:t>SQL&gt; DECLARE </a:t>
            </a:r>
            <a:r>
              <a:rPr sz="1250" b="0" dirty="0" err="1">
                <a:solidFill>
                  <a:srgbClr val="F2F2F2"/>
                </a:solidFill>
                <a:latin typeface="Consolas"/>
              </a:rPr>
              <a:t>v_task</a:t>
            </a:r>
            <a:r>
              <a:rPr sz="1250" b="0" dirty="0">
                <a:solidFill>
                  <a:srgbClr val="F2F2F2"/>
                </a:solidFill>
                <a:latin typeface="Consolas"/>
              </a:rPr>
              <a:t> VARCHAR2(64);</a:t>
            </a:r>
          </a:p>
          <a:p>
            <a:pPr>
              <a:spcAft>
                <a:spcPts val="0"/>
              </a:spcAft>
            </a:pPr>
            <a:r>
              <a:rPr sz="1250" b="0" dirty="0">
                <a:solidFill>
                  <a:srgbClr val="F2F2F2"/>
                </a:solidFill>
                <a:latin typeface="Consolas"/>
              </a:rPr>
              <a:t>  2  BEGIN</a:t>
            </a:r>
          </a:p>
          <a:p>
            <a:pPr>
              <a:spcAft>
                <a:spcPts val="0"/>
              </a:spcAft>
            </a:pPr>
            <a:r>
              <a:rPr sz="1250" b="0" dirty="0">
                <a:solidFill>
                  <a:srgbClr val="F2F2F2"/>
                </a:solidFill>
                <a:latin typeface="Consolas"/>
              </a:rPr>
              <a:t>  3    </a:t>
            </a:r>
            <a:r>
              <a:rPr sz="1250" b="0" dirty="0" err="1">
                <a:solidFill>
                  <a:srgbClr val="F2F2F2"/>
                </a:solidFill>
                <a:latin typeface="Consolas"/>
              </a:rPr>
              <a:t>v_task</a:t>
            </a:r>
            <a:r>
              <a:rPr sz="1250" b="0" dirty="0">
                <a:solidFill>
                  <a:srgbClr val="F2F2F2"/>
                </a:solidFill>
                <a:latin typeface="Consolas"/>
              </a:rPr>
              <a:t> := DBMS_STATS.CREATE_ADVISOR_TASK('stat_adv_ch7');</a:t>
            </a:r>
          </a:p>
          <a:p>
            <a:pPr>
              <a:spcAft>
                <a:spcPts val="0"/>
              </a:spcAft>
            </a:pPr>
            <a:r>
              <a:rPr sz="1250" b="0" dirty="0">
                <a:solidFill>
                  <a:srgbClr val="F2F2F2"/>
                </a:solidFill>
                <a:latin typeface="Consolas"/>
              </a:rPr>
              <a:t>  4    </a:t>
            </a:r>
            <a:r>
              <a:rPr sz="1250" b="0" dirty="0" err="1">
                <a:solidFill>
                  <a:srgbClr val="F2F2F2"/>
                </a:solidFill>
                <a:latin typeface="Consolas"/>
              </a:rPr>
              <a:t>v_task</a:t>
            </a:r>
            <a:r>
              <a:rPr sz="1250" b="0" dirty="0">
                <a:solidFill>
                  <a:srgbClr val="F2F2F2"/>
                </a:solidFill>
                <a:latin typeface="Consolas"/>
              </a:rPr>
              <a:t> := DBMS_STATS.EXECUTE_ADVISOR_TASK('stat_adv_ch7');</a:t>
            </a:r>
          </a:p>
          <a:p>
            <a:pPr>
              <a:spcAft>
                <a:spcPts val="0"/>
              </a:spcAft>
            </a:pPr>
            <a:r>
              <a:rPr sz="1250" b="0" dirty="0">
                <a:solidFill>
                  <a:srgbClr val="F2F2F2"/>
                </a:solidFill>
                <a:latin typeface="Consolas"/>
              </a:rPr>
              <a:t>  5  END;</a:t>
            </a:r>
          </a:p>
          <a:p>
            <a:pPr>
              <a:spcAft>
                <a:spcPts val="0"/>
              </a:spcAft>
            </a:pPr>
            <a:r>
              <a:rPr sz="1250" b="0" dirty="0">
                <a:solidFill>
                  <a:srgbClr val="F2F2F2"/>
                </a:solidFill>
                <a:latin typeface="Consolas"/>
              </a:rPr>
              <a:t>  6  /</a:t>
            </a:r>
          </a:p>
          <a:p>
            <a:pPr>
              <a:spcAft>
                <a:spcPts val="0"/>
              </a:spcAft>
            </a:pPr>
            <a:endParaRPr sz="1250" b="0" dirty="0">
              <a:solidFill>
                <a:srgbClr val="F2F2F2"/>
              </a:solidFill>
              <a:latin typeface="Consolas"/>
            </a:endParaRPr>
          </a:p>
          <a:p>
            <a:pPr>
              <a:spcAft>
                <a:spcPts val="0"/>
              </a:spcAft>
            </a:pPr>
            <a:r>
              <a:rPr sz="1250" b="0" dirty="0">
                <a:solidFill>
                  <a:srgbClr val="F2F2F2"/>
                </a:solidFill>
                <a:latin typeface="Consolas"/>
              </a:rPr>
              <a:t>SQL&gt; SELECT DBMS_STATS.REPORT_ADVISOR_TASK('stat_adv_ch7',</a:t>
            </a:r>
          </a:p>
          <a:p>
            <a:pPr>
              <a:spcAft>
                <a:spcPts val="0"/>
              </a:spcAft>
            </a:pPr>
            <a:r>
              <a:rPr sz="1250" b="0" dirty="0">
                <a:solidFill>
                  <a:srgbClr val="F2F2F2"/>
                </a:solidFill>
                <a:latin typeface="Consolas"/>
              </a:rPr>
              <a:t>  2         'TEXT','ALL') FROM dual;</a:t>
            </a:r>
          </a:p>
          <a:p>
            <a:pPr>
              <a:spcAft>
                <a:spcPts val="0"/>
              </a:spcAft>
            </a:pPr>
            <a:endParaRPr sz="1250" b="0" dirty="0">
              <a:solidFill>
                <a:srgbClr val="F2F2F2"/>
              </a:solidFill>
              <a:latin typeface="Consolas"/>
            </a:endParaRPr>
          </a:p>
          <a:p>
            <a:pPr>
              <a:spcAft>
                <a:spcPts val="0"/>
              </a:spcAft>
            </a:pPr>
            <a:r>
              <a:rPr sz="1250" b="0" dirty="0">
                <a:solidFill>
                  <a:srgbClr val="F2F2F2"/>
                </a:solidFill>
                <a:latin typeface="Consolas"/>
              </a:rPr>
              <a:t>-- </a:t>
            </a:r>
            <a:r>
              <a:rPr sz="1250" b="0" dirty="0" err="1">
                <a:solidFill>
                  <a:srgbClr val="F2F2F2"/>
                </a:solidFill>
                <a:latin typeface="Consolas"/>
              </a:rPr>
              <a:t>자동</a:t>
            </a:r>
            <a:r>
              <a:rPr sz="1250" b="0" dirty="0">
                <a:solidFill>
                  <a:srgbClr val="F2F2F2"/>
                </a:solidFill>
                <a:latin typeface="Consolas"/>
              </a:rPr>
              <a:t> </a:t>
            </a:r>
            <a:r>
              <a:rPr sz="1250" b="0" dirty="0" err="1">
                <a:solidFill>
                  <a:srgbClr val="F2F2F2"/>
                </a:solidFill>
                <a:latin typeface="Consolas"/>
              </a:rPr>
              <a:t>적용</a:t>
            </a:r>
            <a:r>
              <a:rPr sz="1250" b="0" dirty="0">
                <a:solidFill>
                  <a:srgbClr val="F2F2F2"/>
                </a:solidFill>
                <a:latin typeface="Consolas"/>
              </a:rPr>
              <a:t>: DBMS_STATS.IMPLEMENT_ADVISOR_TASK</a:t>
            </a:r>
          </a:p>
        </p:txBody>
      </p:sp>
    </p:spTree>
    <p:extLst>
      <p:ext uri="{BB962C8B-B14F-4D97-AF65-F5344CB8AC3E}">
        <p14:creationId xmlns:p14="http://schemas.microsoft.com/office/powerpoint/2010/main" val="3039266195"/>
      </p:ext>
    </p:extLst>
  </p:cSld>
  <p:clrMapOvr>
    <a:masterClrMapping/>
  </p:clrMapOvr>
</p:sld>
</file>

<file path=ppt/slides/slide8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권고 해석과 채택</a:t>
            </a:r>
          </a:p>
        </p:txBody>
      </p:sp>
      <p:sp>
        <p:nvSpPr>
          <p:cNvPr id="4" name="TextBox 3"/>
          <p:cNvSpPr txBox="1"/>
          <p:nvPr/>
        </p:nvSpPr>
        <p:spPr>
          <a:xfrm>
            <a:off x="640080" y="1078992"/>
            <a:ext cx="10881360" cy="457200"/>
          </a:xfrm>
          <a:prstGeom prst="rect">
            <a:avLst/>
          </a:prstGeom>
          <a:noFill/>
        </p:spPr>
        <p:txBody>
          <a:bodyPr wrap="square">
            <a:spAutoFit/>
          </a:bodyPr>
          <a:lstStyle/>
          <a:p>
            <a:pPr>
              <a:spcAft>
                <a:spcPts val="400"/>
              </a:spcAft>
            </a:pPr>
            <a:r>
              <a:rPr sz="1500" b="0">
                <a:solidFill>
                  <a:srgbClr val="5A6672"/>
                </a:solidFill>
                <a:latin typeface="맑은 고딕"/>
              </a:rPr>
              <a:t>전체 재수집은 최후의 수단</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룰: 자동 작업 상태 / 통계 건강(없음·stale·잠금) / 설정 적정성</a:t>
            </a:r>
          </a:p>
          <a:p>
            <a:pPr>
              <a:spcAft>
                <a:spcPts val="800"/>
              </a:spcAft>
            </a:pPr>
            <a:r>
              <a:rPr sz="1700" b="0">
                <a:solidFill>
                  <a:srgbClr val="222222"/>
                </a:solidFill>
                <a:latin typeface="맑은 고딕"/>
              </a:rPr>
              <a:t>•  통계 없는 객체 → 그 객체만 GATHER</a:t>
            </a:r>
          </a:p>
          <a:p>
            <a:pPr>
              <a:spcAft>
                <a:spcPts val="800"/>
              </a:spcAft>
            </a:pPr>
            <a:r>
              <a:rPr sz="1700" b="0">
                <a:solidFill>
                  <a:srgbClr val="222222"/>
                </a:solidFill>
                <a:latin typeface="맑은 고딕"/>
              </a:rPr>
              <a:t>•  편중인데 히스토그램 없음 → FOR COLUMNS 보완</a:t>
            </a:r>
          </a:p>
          <a:p>
            <a:pPr>
              <a:spcAft>
                <a:spcPts val="800"/>
              </a:spcAft>
            </a:pPr>
            <a:r>
              <a:rPr sz="1700" b="0">
                <a:solidFill>
                  <a:srgbClr val="222222"/>
                </a:solidFill>
                <a:latin typeface="맑은 고딕"/>
              </a:rPr>
              <a:t>•  상관 → 확장 통계 / 오래됨 → STALE_PERCENT 조정</a:t>
            </a:r>
          </a:p>
          <a:p>
            <a:pPr>
              <a:spcAft>
                <a:spcPts val="800"/>
              </a:spcAft>
            </a:pPr>
            <a:r>
              <a:rPr sz="1700" b="0">
                <a:solidFill>
                  <a:srgbClr val="222222"/>
                </a:solidFill>
                <a:latin typeface="맑은 고딕"/>
              </a:rPr>
              <a:t>•  잠긴 통계가 의도된 것이면 풀지 않는다 — 맥락 확인 후 채택</a:t>
            </a:r>
          </a:p>
        </p:txBody>
      </p:sp>
    </p:spTree>
    <p:extLst>
      <p:ext uri="{BB962C8B-B14F-4D97-AF65-F5344CB8AC3E}">
        <p14:creationId xmlns:p14="http://schemas.microsoft.com/office/powerpoint/2010/main" val="1372735164"/>
      </p:ext>
    </p:extLst>
  </p:cSld>
  <p:clrMapOvr>
    <a:masterClrMapping/>
  </p:clrMapOvr>
</p:sld>
</file>

<file path=ppt/slides/slide8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707886"/>
          </a:xfrm>
          <a:prstGeom prst="rect">
            <a:avLst/>
          </a:prstGeom>
          <a:noFill/>
        </p:spPr>
        <p:txBody>
          <a:bodyPr wrap="square">
            <a:spAutoFit/>
          </a:bodyPr>
          <a:lstStyle/>
          <a:p>
            <a:pPr>
              <a:spcAft>
                <a:spcPts val="400"/>
              </a:spcAft>
            </a:pPr>
            <a:r>
              <a:rPr lang="en-US" sz="4000" b="1" dirty="0">
                <a:solidFill>
                  <a:srgbClr val="FFFFFF"/>
                </a:solidFill>
                <a:latin typeface="맑은 고딕"/>
              </a:rPr>
              <a:t>21</a:t>
            </a:r>
            <a:r>
              <a:rPr sz="4000" b="1" dirty="0">
                <a:solidFill>
                  <a:srgbClr val="FFFFFF"/>
                </a:solidFill>
                <a:latin typeface="맑은 고딕"/>
              </a:rPr>
              <a:t>.8</a:t>
            </a:r>
          </a:p>
        </p:txBody>
      </p:sp>
      <p:sp>
        <p:nvSpPr>
          <p:cNvPr id="4" name="TextBox 3"/>
          <p:cNvSpPr txBox="1"/>
          <p:nvPr/>
        </p:nvSpPr>
        <p:spPr>
          <a:xfrm>
            <a:off x="822960" y="3017520"/>
            <a:ext cx="10515600" cy="914400"/>
          </a:xfrm>
          <a:prstGeom prst="rect">
            <a:avLst/>
          </a:prstGeom>
          <a:noFill/>
        </p:spPr>
        <p:txBody>
          <a:bodyPr wrap="square">
            <a:spAutoFit/>
          </a:bodyPr>
          <a:lstStyle/>
          <a:p>
            <a:pPr>
              <a:spcAft>
                <a:spcPts val="400"/>
              </a:spcAft>
            </a:pPr>
            <a:r>
              <a:rPr sz="2800" b="1">
                <a:solidFill>
                  <a:srgbClr val="FFFFFF"/>
                </a:solidFill>
                <a:latin typeface="맑은 고딕"/>
              </a:rPr>
              <a:t>흔한 함정</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spcAft>
                <a:spcPts val="600"/>
              </a:spcAft>
            </a:pPr>
            <a:r>
              <a:rPr sz="1600" b="0">
                <a:solidFill>
                  <a:srgbClr val="FFFFFF"/>
                </a:solidFill>
                <a:latin typeface="맑은 고딕"/>
              </a:rPr>
              <a:t>•  전체 재수집을 만능으로 여김</a:t>
            </a:r>
          </a:p>
          <a:p>
            <a:pPr>
              <a:spcAft>
                <a:spcPts val="600"/>
              </a:spcAft>
            </a:pPr>
            <a:r>
              <a:rPr sz="1600" b="0">
                <a:solidFill>
                  <a:srgbClr val="FFFFFF"/>
                </a:solidFill>
                <a:latin typeface="맑은 고딕"/>
              </a:rPr>
              <a:t>•  진단 → 국소 조치 → 검증</a:t>
            </a:r>
          </a:p>
          <a:p>
            <a:pPr>
              <a:spcAft>
                <a:spcPts val="600"/>
              </a:spcAft>
            </a:pPr>
            <a:r>
              <a:rPr sz="1600" b="0">
                <a:solidFill>
                  <a:srgbClr val="FFFFFF"/>
                </a:solidFill>
                <a:latin typeface="맑은 고딕"/>
              </a:rPr>
              <a:t>•  통계 변경은 되돌릴 수 있어야 한다</a:t>
            </a:r>
          </a:p>
        </p:txBody>
      </p:sp>
    </p:spTree>
    <p:extLst>
      <p:ext uri="{BB962C8B-B14F-4D97-AF65-F5344CB8AC3E}">
        <p14:creationId xmlns:p14="http://schemas.microsoft.com/office/powerpoint/2010/main" val="2956041374"/>
      </p:ext>
    </p:extLst>
  </p:cSld>
  <p:clrMapOvr>
    <a:masterClrMapping/>
  </p:clrMapOvr>
</p:sld>
</file>

<file path=ppt/slides/slide8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전체 재수집이 만능이 아니다</a:t>
            </a:r>
          </a:p>
        </p:txBody>
      </p:sp>
      <p:sp>
        <p:nvSpPr>
          <p:cNvPr id="4" name="TextBox 3"/>
          <p:cNvSpPr txBox="1"/>
          <p:nvPr/>
        </p:nvSpPr>
        <p:spPr>
          <a:xfrm>
            <a:off x="640080" y="1078992"/>
            <a:ext cx="10881360" cy="457200"/>
          </a:xfrm>
          <a:prstGeom prst="rect">
            <a:avLst/>
          </a:prstGeom>
          <a:noFill/>
        </p:spPr>
        <p:txBody>
          <a:bodyPr wrap="square">
            <a:spAutoFit/>
          </a:bodyPr>
          <a:lstStyle/>
          <a:p>
            <a:pPr>
              <a:spcAft>
                <a:spcPts val="400"/>
              </a:spcAft>
            </a:pPr>
            <a:r>
              <a:rPr sz="1500" b="0">
                <a:solidFill>
                  <a:srgbClr val="5A6672"/>
                </a:solidFill>
                <a:latin typeface="맑은 고딕"/>
              </a:rPr>
              <a:t>큰 망치의 세 가지 위험</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① 진단을 건너뛴다 — 부재·편중·상관·시스템 중 무엇인지 모른 채</a:t>
            </a:r>
          </a:p>
          <a:p>
            <a:pPr>
              <a:spcAft>
                <a:spcPts val="800"/>
              </a:spcAft>
            </a:pPr>
            <a:r>
              <a:rPr sz="1700" b="0">
                <a:solidFill>
                  <a:srgbClr val="222222"/>
                </a:solidFill>
                <a:latin typeface="맑은 고딕"/>
              </a:rPr>
              <a:t>•  ② 잘 맞던 히스토그램·확장 통계를 덮어써 계획 회귀 가능</a:t>
            </a:r>
          </a:p>
          <a:p>
            <a:pPr>
              <a:spcAft>
                <a:spcPts val="800"/>
              </a:spcAft>
            </a:pPr>
            <a:r>
              <a:rPr sz="1700" b="0">
                <a:solidFill>
                  <a:srgbClr val="222222"/>
                </a:solidFill>
                <a:latin typeface="맑은 고딕"/>
              </a:rPr>
              <a:t>•  ③ 비용이 크다 — 시간·자원·SYSAUX 소모</a:t>
            </a:r>
          </a:p>
          <a:p>
            <a:pPr>
              <a:spcAft>
                <a:spcPts val="800"/>
              </a:spcAft>
            </a:pPr>
            <a:r>
              <a:rPr sz="1700" b="0">
                <a:solidFill>
                  <a:srgbClr val="222222"/>
                </a:solidFill>
                <a:latin typeface="맑은 고딕"/>
              </a:rPr>
              <a:t>•  올바른 순서: 진단(Advisor·계획 비교) → 국소 조치 → 검증</a:t>
            </a:r>
          </a:p>
          <a:p>
            <a:pPr>
              <a:spcAft>
                <a:spcPts val="800"/>
              </a:spcAft>
            </a:pPr>
            <a:r>
              <a:rPr sz="1700" b="0">
                <a:solidFill>
                  <a:srgbClr val="222222"/>
                </a:solidFill>
                <a:latin typeface="맑은 고딕"/>
              </a:rPr>
              <a:t>•  원복 안전장치: RESTORE_TABLE_STATS(기본 31일 보관)</a:t>
            </a:r>
          </a:p>
        </p:txBody>
      </p:sp>
    </p:spTree>
    <p:extLst>
      <p:ext uri="{BB962C8B-B14F-4D97-AF65-F5344CB8AC3E}">
        <p14:creationId xmlns:p14="http://schemas.microsoft.com/office/powerpoint/2010/main" val="886786442"/>
      </p:ext>
    </p:extLst>
  </p:cSld>
  <p:clrMapOvr>
    <a:masterClrMapping/>
  </p:clrMapOvr>
</p:sld>
</file>

<file path=ppt/slides/slide8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퀴즈 (Quiz)</a:t>
            </a:r>
          </a:p>
        </p:txBody>
      </p:sp>
      <p:sp>
        <p:nvSpPr>
          <p:cNvPr id="4" name="TextBox 3"/>
          <p:cNvSpPr txBox="1"/>
          <p:nvPr/>
        </p:nvSpPr>
        <p:spPr>
          <a:xfrm>
            <a:off x="640080" y="1371600"/>
            <a:ext cx="10881360" cy="5120640"/>
          </a:xfrm>
          <a:prstGeom prst="rect">
            <a:avLst/>
          </a:prstGeom>
          <a:noFill/>
        </p:spPr>
        <p:txBody>
          <a:bodyPr wrap="square">
            <a:spAutoFit/>
          </a:bodyPr>
          <a:lstStyle/>
          <a:p>
            <a:pPr>
              <a:spcAft>
                <a:spcPts val="700"/>
              </a:spcAft>
            </a:pPr>
            <a:r>
              <a:rPr sz="1600" b="0">
                <a:solidFill>
                  <a:srgbClr val="222222"/>
                </a:solidFill>
                <a:latin typeface="맑은 고딕"/>
              </a:rPr>
              <a:t>•  Q1. 히스토그램 없을 때 HOSP_ID=36 추정치와 실제값의 배수는? 계산식과 함께.</a:t>
            </a:r>
          </a:p>
          <a:p>
            <a:pPr>
              <a:spcAft>
                <a:spcPts val="700"/>
              </a:spcAft>
            </a:pPr>
            <a:r>
              <a:rPr sz="1600" b="0">
                <a:solidFill>
                  <a:srgbClr val="222222"/>
                </a:solidFill>
                <a:latin typeface="맑은 고딕"/>
              </a:rPr>
              <a:t>•  Q2. FREQUENCY·TOP-FREQUENCY·HYBRID의 생성 조건을 각각 한 줄로.</a:t>
            </a:r>
          </a:p>
          <a:p>
            <a:pPr>
              <a:spcAft>
                <a:spcPts val="700"/>
              </a:spcAft>
            </a:pPr>
            <a:r>
              <a:rPr sz="1600" b="0">
                <a:solidFill>
                  <a:srgbClr val="222222"/>
                </a:solidFill>
                <a:latin typeface="맑은 고딕"/>
              </a:rPr>
              <a:t>•  Q3. METHOD_OPT의 SIZE AUTO와 SIZE SKEWONLY의 차이는?</a:t>
            </a:r>
          </a:p>
          <a:p>
            <a:pPr>
              <a:spcAft>
                <a:spcPts val="700"/>
              </a:spcAft>
            </a:pPr>
            <a:r>
              <a:rPr sz="1600" b="0">
                <a:solidFill>
                  <a:srgbClr val="222222"/>
                </a:solidFill>
                <a:latin typeface="맑은 고딕"/>
              </a:rPr>
              <a:t>•  Q4. 컬럼 그룹 확장 통계가 푸는 문제와, 생성 후 반드시 할 일은?</a:t>
            </a:r>
          </a:p>
          <a:p>
            <a:pPr>
              <a:spcAft>
                <a:spcPts val="700"/>
              </a:spcAft>
            </a:pPr>
            <a:r>
              <a:rPr sz="1600" b="0">
                <a:solidFill>
                  <a:srgbClr val="222222"/>
                </a:solidFill>
                <a:latin typeface="맑은 고딕"/>
              </a:rPr>
              <a:t>•  Q5. 시스템 통계가 NOWORKLOAD임을 어떻게 확인하고, WORKLOAD 실습 후 원복 절차는?</a:t>
            </a:r>
          </a:p>
          <a:p>
            <a:pPr>
              <a:spcAft>
                <a:spcPts val="700"/>
              </a:spcAft>
            </a:pPr>
            <a:r>
              <a:rPr sz="1600" b="0">
                <a:solidFill>
                  <a:srgbClr val="222222"/>
                </a:solidFill>
                <a:latin typeface="맑은 고딕"/>
              </a:rPr>
              <a:t>•  Q6. Preferences 네 계층과 우선순위, 테이블 정책 프로시저 이름은?</a:t>
            </a:r>
          </a:p>
        </p:txBody>
      </p:sp>
    </p:spTree>
    <p:extLst>
      <p:ext uri="{BB962C8B-B14F-4D97-AF65-F5344CB8AC3E}">
        <p14:creationId xmlns:p14="http://schemas.microsoft.com/office/powerpoint/2010/main" val="889989551"/>
      </p:ext>
    </p:extLst>
  </p:cSld>
  <p:clrMapOvr>
    <a:masterClrMapping/>
  </p:clrMapOvr>
</p:sld>
</file>

<file path=ppt/slides/slide8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요약 (Summary)</a:t>
            </a:r>
          </a:p>
        </p:txBody>
      </p:sp>
      <p:sp>
        <p:nvSpPr>
          <p:cNvPr id="4" name="TextBox 3"/>
          <p:cNvSpPr txBox="1"/>
          <p:nvPr/>
        </p:nvSpPr>
        <p:spPr>
          <a:xfrm>
            <a:off x="640080" y="1371600"/>
            <a:ext cx="10881360" cy="5120640"/>
          </a:xfrm>
          <a:prstGeom prst="rect">
            <a:avLst/>
          </a:prstGeom>
          <a:noFill/>
        </p:spPr>
        <p:txBody>
          <a:bodyPr wrap="square">
            <a:spAutoFit/>
          </a:bodyPr>
          <a:lstStyle/>
          <a:p>
            <a:pPr>
              <a:spcAft>
                <a:spcPts val="700"/>
              </a:spcAft>
            </a:pPr>
            <a:r>
              <a:rPr sz="1600" b="0">
                <a:solidFill>
                  <a:srgbClr val="222222"/>
                </a:solidFill>
                <a:latin typeface="맑은 고딕"/>
              </a:rPr>
              <a:t>•  균등 가정 300 대 실제 3,100(약 10배)이 히스토그램의 필요성을 증명한다.</a:t>
            </a:r>
          </a:p>
          <a:p>
            <a:pPr>
              <a:spcAft>
                <a:spcPts val="700"/>
              </a:spcAft>
            </a:pPr>
            <a:r>
              <a:rPr sz="1600" b="0">
                <a:solidFill>
                  <a:srgbClr val="222222"/>
                </a:solidFill>
                <a:latin typeface="맑은 고딕"/>
              </a:rPr>
              <a:t>•  히스토그램: FREQUENCY(NDV≤버킷)·TOP-FREQUENCY·HYBRID. HOSP_ID는 HYBRID 254.</a:t>
            </a:r>
          </a:p>
          <a:p>
            <a:pPr>
              <a:spcAft>
                <a:spcPts val="700"/>
              </a:spcAft>
            </a:pPr>
            <a:r>
              <a:rPr sz="1600" b="0">
                <a:solidFill>
                  <a:srgbClr val="222222"/>
                </a:solidFill>
                <a:latin typeface="맑은 고딕"/>
              </a:rPr>
              <a:t>•  METHOD_OPT 기본 AUTO는 사용 이력·편중으로 자동 결정, FOR COLUMNS로 보완.</a:t>
            </a:r>
          </a:p>
          <a:p>
            <a:pPr>
              <a:spcAft>
                <a:spcPts val="700"/>
              </a:spcAft>
            </a:pPr>
            <a:r>
              <a:rPr sz="1600" b="0">
                <a:solidFill>
                  <a:srgbClr val="222222"/>
                </a:solidFill>
                <a:latin typeface="맑은 고딕"/>
              </a:rPr>
              <a:t>•  확장 통계: 컬럼 그룹(상관)·표현식(함수). 생성 후 반드시 재수집.</a:t>
            </a:r>
          </a:p>
          <a:p>
            <a:pPr>
              <a:spcAft>
                <a:spcPts val="700"/>
              </a:spcAft>
            </a:pPr>
            <a:r>
              <a:rPr sz="1600" b="0">
                <a:solidFill>
                  <a:srgbClr val="222222"/>
                </a:solidFill>
                <a:latin typeface="맑은 고딕"/>
              </a:rPr>
              <a:t>•  시스템 통계: 현재 NOWORKLOAD. WORKLOAD 수집은 계획 변경 가능 → 원복 필수.</a:t>
            </a:r>
          </a:p>
          <a:p>
            <a:pPr>
              <a:spcAft>
                <a:spcPts val="700"/>
              </a:spcAft>
            </a:pPr>
            <a:r>
              <a:rPr sz="1600" b="0">
                <a:solidFill>
                  <a:srgbClr val="222222"/>
                </a:solidFill>
                <a:latin typeface="맑은 고딕"/>
              </a:rPr>
              <a:t>•  Preferences: GLOBAL·DATABASE·SCHEMA·TABLE, 좁은 범위 우선.</a:t>
            </a:r>
          </a:p>
          <a:p>
            <a:pPr>
              <a:spcAft>
                <a:spcPts val="700"/>
              </a:spcAft>
            </a:pPr>
            <a:r>
              <a:rPr sz="1600" b="0">
                <a:solidFill>
                  <a:srgbClr val="222222"/>
                </a:solidFill>
                <a:latin typeface="맑은 고딕"/>
              </a:rPr>
              <a:t>•  Statistics Advisor(무료)로 진단. 전체 재수집을 만능으로 여기지 않는다.</a:t>
            </a:r>
          </a:p>
        </p:txBody>
      </p:sp>
    </p:spTree>
    <p:extLst>
      <p:ext uri="{BB962C8B-B14F-4D97-AF65-F5344CB8AC3E}">
        <p14:creationId xmlns:p14="http://schemas.microsoft.com/office/powerpoint/2010/main" val="2340707489"/>
      </p:ext>
    </p:extLst>
  </p:cSld>
  <p:clrMapOvr>
    <a:masterClrMapping/>
  </p:clrMapOvr>
</p:sld>
</file>

<file path=ppt/slides/slide8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실습 개요 (Practice Overview)</a:t>
            </a:r>
          </a:p>
        </p:txBody>
      </p:sp>
      <p:sp>
        <p:nvSpPr>
          <p:cNvPr id="4" name="TextBox 3"/>
          <p:cNvSpPr txBox="1"/>
          <p:nvPr/>
        </p:nvSpPr>
        <p:spPr>
          <a:xfrm>
            <a:off x="640080" y="1371600"/>
            <a:ext cx="10881360" cy="5120640"/>
          </a:xfrm>
          <a:prstGeom prst="rect">
            <a:avLst/>
          </a:prstGeom>
          <a:noFill/>
        </p:spPr>
        <p:txBody>
          <a:bodyPr wrap="square">
            <a:spAutoFit/>
          </a:bodyPr>
          <a:lstStyle/>
          <a:p>
            <a:pPr>
              <a:spcAft>
                <a:spcPts val="700"/>
              </a:spcAft>
            </a:pPr>
            <a:r>
              <a:rPr sz="1600" b="0">
                <a:solidFill>
                  <a:srgbClr val="222222"/>
                </a:solidFill>
                <a:latin typeface="맑은 고딕"/>
              </a:rPr>
              <a:t>•  실습 01 — 히스토그램 유무별 카디널리티 추정 차이(300 vs 3,100, 원복)</a:t>
            </a:r>
          </a:p>
          <a:p>
            <a:pPr>
              <a:spcAft>
                <a:spcPts val="700"/>
              </a:spcAft>
            </a:pPr>
            <a:r>
              <a:rPr sz="1600" b="0">
                <a:solidFill>
                  <a:srgbClr val="222222"/>
                </a:solidFill>
                <a:latin typeface="맑은 고딕"/>
              </a:rPr>
              <a:t>•  실습 02 — METHOD_OPT 지정 방식별 히스토그램 생성 결과 비교(원복)</a:t>
            </a:r>
          </a:p>
          <a:p>
            <a:pPr>
              <a:spcAft>
                <a:spcPts val="700"/>
              </a:spcAft>
            </a:pPr>
            <a:r>
              <a:rPr sz="1600" b="0">
                <a:solidFill>
                  <a:srgbClr val="222222"/>
                </a:solidFill>
                <a:latin typeface="맑은 고딕"/>
              </a:rPr>
              <a:t>•  실습 03 — 컬럼 그룹 확장 통계 생성(CLAIM_TYPE·DEPT_CODE, 제거)</a:t>
            </a:r>
          </a:p>
          <a:p>
            <a:pPr>
              <a:spcAft>
                <a:spcPts val="700"/>
              </a:spcAft>
            </a:pPr>
            <a:r>
              <a:rPr sz="1600" b="0">
                <a:solidFill>
                  <a:srgbClr val="222222"/>
                </a:solidFill>
                <a:latin typeface="맑은 고딕"/>
              </a:rPr>
              <a:t>•  실습 04 — 표현식 통계 생성(RECEIPT_DATE 함수, 제거)</a:t>
            </a:r>
          </a:p>
          <a:p>
            <a:pPr>
              <a:spcAft>
                <a:spcPts val="700"/>
              </a:spcAft>
            </a:pPr>
            <a:r>
              <a:rPr sz="1600" b="0">
                <a:solidFill>
                  <a:srgbClr val="222222"/>
                </a:solidFill>
                <a:latin typeface="맑은 고딕"/>
              </a:rPr>
              <a:t>•  실습 05 — 시스템 통계 수집과 계획 변화(NOWORKLOAD↔WORKLOAD, 원복)</a:t>
            </a:r>
          </a:p>
          <a:p>
            <a:pPr>
              <a:spcAft>
                <a:spcPts val="700"/>
              </a:spcAft>
            </a:pPr>
            <a:r>
              <a:rPr sz="1600" b="0">
                <a:solidFill>
                  <a:srgbClr val="222222"/>
                </a:solidFill>
                <a:latin typeface="맑은 고딕"/>
              </a:rPr>
              <a:t>•  실습 06 — 통계 Preferences 설정(SET_TABLE_PREFS, 원복)</a:t>
            </a:r>
          </a:p>
          <a:p>
            <a:pPr>
              <a:spcAft>
                <a:spcPts val="700"/>
              </a:spcAft>
            </a:pPr>
            <a:r>
              <a:rPr sz="1600" b="0">
                <a:solidFill>
                  <a:srgbClr val="222222"/>
                </a:solidFill>
                <a:latin typeface="맑은 고딕"/>
              </a:rPr>
              <a:t>•  실습 07 — Optimizer Statistics Advisor 실행과 권고 해석</a:t>
            </a:r>
          </a:p>
          <a:p>
            <a:pPr>
              <a:spcAft>
                <a:spcPts val="700"/>
              </a:spcAft>
            </a:pPr>
            <a:r>
              <a:rPr sz="1600" b="0">
                <a:solidFill>
                  <a:srgbClr val="222222"/>
                </a:solidFill>
                <a:latin typeface="맑은 고딕"/>
              </a:rPr>
              <a:t>•  ※ non-CDB orcl 19.3 · 통계 변경 실습은 조치 전 캡처 + 원복 필수</a:t>
            </a:r>
          </a:p>
        </p:txBody>
      </p:sp>
    </p:spTree>
    <p:extLst>
      <p:ext uri="{BB962C8B-B14F-4D97-AF65-F5344CB8AC3E}">
        <p14:creationId xmlns:p14="http://schemas.microsoft.com/office/powerpoint/2010/main" val="1841166534"/>
      </p:ext>
    </p:extLst>
  </p:cSld>
  <p:clrMapOvr>
    <a:masterClrMapping/>
  </p:clrMapOvr>
</p:sld>
</file>

<file path=ppt/slides/slide8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보고서 판독과 기간 비교</a:t>
            </a:r>
          </a:p>
        </p:txBody>
      </p:sp>
      <p:sp>
        <p:nvSpPr>
          <p:cNvPr id="5" name="Rectangle 4"/>
          <p:cNvSpPr/>
          <p:nvPr/>
        </p:nvSpPr>
        <p:spPr>
          <a:xfrm>
            <a:off x="822960" y="4114800"/>
            <a:ext cx="5486400"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584775"/>
          </a:xfrm>
          <a:prstGeom prst="rect">
            <a:avLst/>
          </a:prstGeom>
          <a:noFill/>
        </p:spPr>
        <p:txBody>
          <a:bodyPr wrap="square">
            <a:spAutoFit/>
          </a:bodyPr>
          <a:lstStyle/>
          <a:p>
            <a:r>
              <a:rPr sz="1600" b="0" dirty="0">
                <a:solidFill>
                  <a:srgbClr val="FFFFFF"/>
                </a:solidFill>
                <a:latin typeface="맑은 고딕"/>
              </a:rPr>
              <a:t>•  TUN ch22 · </a:t>
            </a:r>
            <a:r>
              <a:rPr sz="1600" b="0" dirty="0" err="1">
                <a:solidFill>
                  <a:srgbClr val="FFFFFF"/>
                </a:solidFill>
                <a:latin typeface="맑은 고딕"/>
              </a:rPr>
              <a:t>브리지</a:t>
            </a:r>
            <a:r>
              <a:rPr sz="1600" b="0" dirty="0">
                <a:solidFill>
                  <a:srgbClr val="FFFFFF"/>
                </a:solidFill>
                <a:latin typeface="맑은 고딕"/>
              </a:rPr>
              <a:t> 02 · ch23(1h) · ch24 · ch25</a:t>
            </a:r>
          </a:p>
          <a:p>
            <a:r>
              <a:rPr sz="1600" b="0">
                <a:solidFill>
                  <a:srgbClr val="FFFFFF"/>
                </a:solidFill>
                <a:latin typeface="맑은 고딕"/>
              </a:rPr>
              <a:t>•  AWR </a:t>
            </a:r>
            <a:r>
              <a:rPr sz="1600" b="0" dirty="0" err="1">
                <a:solidFill>
                  <a:srgbClr val="FFFFFF"/>
                </a:solidFill>
                <a:latin typeface="맑은 고딕"/>
              </a:rPr>
              <a:t>상위</a:t>
            </a:r>
            <a:r>
              <a:rPr sz="1600" b="0" dirty="0">
                <a:solidFill>
                  <a:srgbClr val="FFFFFF"/>
                </a:solidFill>
                <a:latin typeface="맑은 고딕"/>
              </a:rPr>
              <a:t> SQL 을 Day 1~4 </a:t>
            </a:r>
            <a:r>
              <a:rPr sz="1600" b="0" dirty="0" err="1">
                <a:solidFill>
                  <a:srgbClr val="FFFFFF"/>
                </a:solidFill>
                <a:latin typeface="맑은 고딕"/>
              </a:rPr>
              <a:t>기법으로</a:t>
            </a:r>
            <a:endParaRPr sz="1600" b="0" dirty="0">
              <a:solidFill>
                <a:srgbClr val="FFFFFF"/>
              </a:solidFill>
              <a:latin typeface="맑은 고딕"/>
            </a:endParaRPr>
          </a:p>
        </p:txBody>
      </p:sp>
    </p:spTree>
  </p:cSld>
  <p:clrMapOvr>
    <a:masterClrMapping/>
  </p:clrMapOvr>
</p:sld>
</file>

<file path=ppt/slides/slide8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5394960"/>
            <a:ext cx="12188952"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457200"/>
            <a:ext cx="10698480" cy="548640"/>
          </a:xfrm>
          <a:prstGeom prst="rect">
            <a:avLst/>
          </a:prstGeom>
          <a:noFill/>
        </p:spPr>
        <p:txBody>
          <a:bodyPr wrap="square" anchor="t">
            <a:spAutoFit/>
          </a:bodyPr>
          <a:lstStyle/>
          <a:p>
            <a:pPr algn="l"/>
            <a:r>
              <a:rPr sz="1600" b="1">
                <a:solidFill>
                  <a:srgbClr val="FFFFFF"/>
                </a:solidFill>
                <a:latin typeface="맑은 고딕"/>
              </a:rPr>
              <a:t>Oracle Database 19c 성능 튜닝 실무 과정</a:t>
            </a:r>
          </a:p>
        </p:txBody>
      </p:sp>
      <p:sp>
        <p:nvSpPr>
          <p:cNvPr id="6" name="TextBox 5"/>
          <p:cNvSpPr txBox="1"/>
          <p:nvPr/>
        </p:nvSpPr>
        <p:spPr>
          <a:xfrm>
            <a:off x="731520" y="2377440"/>
            <a:ext cx="10698480" cy="1554480"/>
          </a:xfrm>
          <a:prstGeom prst="rect">
            <a:avLst/>
          </a:prstGeom>
          <a:noFill/>
        </p:spPr>
        <p:txBody>
          <a:bodyPr wrap="square" anchor="t">
            <a:spAutoFit/>
          </a:bodyPr>
          <a:lstStyle/>
          <a:p>
            <a:pPr algn="l"/>
            <a:r>
              <a:rPr sz="3400" b="1">
                <a:solidFill>
                  <a:srgbClr val="C0392B"/>
                </a:solidFill>
                <a:latin typeface="맑은 고딕"/>
              </a:rPr>
              <a:t>AWR 보고서 읽기</a:t>
            </a:r>
          </a:p>
          <a:p>
            <a:pPr algn="l"/>
            <a:r>
              <a:rPr sz="2000" b="0">
                <a:solidFill>
                  <a:srgbClr val="5A6672"/>
                </a:solidFill>
                <a:latin typeface="맑은 고딕"/>
              </a:rPr>
              <a:t>AWR Report Interpretation — 숫자를 엮어 원인을 지목한다</a:t>
            </a:r>
          </a:p>
        </p:txBody>
      </p:sp>
      <p:sp>
        <p:nvSpPr>
          <p:cNvPr id="7" name="TextBox 6"/>
          <p:cNvSpPr txBox="1"/>
          <p:nvPr/>
        </p:nvSpPr>
        <p:spPr>
          <a:xfrm>
            <a:off x="731520" y="4114800"/>
            <a:ext cx="10698480" cy="1097280"/>
          </a:xfrm>
          <a:prstGeom prst="rect">
            <a:avLst/>
          </a:prstGeom>
          <a:noFill/>
        </p:spPr>
        <p:txBody>
          <a:bodyPr wrap="square" anchor="t">
            <a:spAutoFit/>
          </a:bodyPr>
          <a:lstStyle/>
          <a:p>
            <a:pPr algn="l"/>
            <a:r>
              <a:rPr sz="1500" b="0">
                <a:solidFill>
                  <a:srgbClr val="5A6672"/>
                </a:solidFill>
                <a:latin typeface="맑은 고딕"/>
              </a:rPr>
              <a:t>Load Profile · Top 10 Events · Instance Efficiency · SQL 정렬 · Advisory · 실측 스냅샷 295~296</a:t>
            </a:r>
          </a:p>
        </p:txBody>
      </p:sp>
      <p:sp>
        <p:nvSpPr>
          <p:cNvPr id="8" name="TextBox 7"/>
          <p:cNvSpPr txBox="1"/>
          <p:nvPr/>
        </p:nvSpPr>
        <p:spPr>
          <a:xfrm>
            <a:off x="731520" y="5577840"/>
            <a:ext cx="10698480" cy="914400"/>
          </a:xfrm>
          <a:prstGeom prst="rect">
            <a:avLst/>
          </a:prstGeom>
          <a:noFill/>
        </p:spPr>
        <p:txBody>
          <a:bodyPr wrap="square" anchor="t">
            <a:spAutoFit/>
          </a:bodyPr>
          <a:lstStyle/>
          <a:p>
            <a:pPr algn="l"/>
            <a:r>
              <a:rPr sz="2000" b="1">
                <a:solidFill>
                  <a:srgbClr val="C0392B"/>
                </a:solidFill>
                <a:latin typeface="맑은 고딕"/>
              </a:rPr>
              <a:t>ch22</a:t>
            </a:r>
          </a:p>
        </p:txBody>
      </p:sp>
    </p:spTree>
    <p:extLst>
      <p:ext uri="{BB962C8B-B14F-4D97-AF65-F5344CB8AC3E}">
        <p14:creationId xmlns:p14="http://schemas.microsoft.com/office/powerpoint/2010/main" val="86219741"/>
      </p:ext>
    </p:extLst>
  </p:cSld>
  <p:clrMapOvr>
    <a:masterClrMapping/>
  </p:clrMapOvr>
</p:sld>
</file>

<file path=ppt/slides/slide8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학습 목표 (Objectives)</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600"/>
              </a:spcAft>
            </a:pPr>
            <a:r>
              <a:rPr sz="1600" b="0">
                <a:solidFill>
                  <a:srgbClr val="222222"/>
                </a:solidFill>
                <a:latin typeface="맑은 고딕"/>
              </a:rPr>
              <a:t>•  awrrpt.sql로 텍스트 AWR 보고서를 생성하고 섹션 구조를 파악한다.</a:t>
            </a:r>
          </a:p>
          <a:p>
            <a:pPr algn="l">
              <a:spcAft>
                <a:spcPts val="600"/>
              </a:spcAft>
            </a:pPr>
            <a:r>
              <a:rPr sz="1600" b="0">
                <a:solidFill>
                  <a:srgbClr val="222222"/>
                </a:solidFill>
                <a:latin typeface="맑은 고딕"/>
              </a:rPr>
              <a:t>•  Load Profile에서 초당 논리 읽기·파싱·트랜잭션을 판독한다.</a:t>
            </a:r>
          </a:p>
          <a:p>
            <a:pPr algn="l">
              <a:spcAft>
                <a:spcPts val="600"/>
              </a:spcAft>
            </a:pPr>
            <a:r>
              <a:rPr sz="1600" b="0">
                <a:solidFill>
                  <a:srgbClr val="222222"/>
                </a:solidFill>
                <a:latin typeface="맑은 고딕"/>
              </a:rPr>
              <a:t>•  Top 10 Foreground Events를 % DB time 기준으로 읽고 병목을 지목한다.</a:t>
            </a:r>
          </a:p>
          <a:p>
            <a:pPr algn="l">
              <a:spcAft>
                <a:spcPts val="600"/>
              </a:spcAft>
            </a:pPr>
            <a:r>
              <a:rPr sz="1600" b="0">
                <a:solidFill>
                  <a:srgbClr val="222222"/>
                </a:solidFill>
                <a:latin typeface="맑은 고딕"/>
              </a:rPr>
              <a:t>•  '상위 대기 하나'가 아니라 DB Time 비중과 함께 원인을 수렴시킨다.</a:t>
            </a:r>
          </a:p>
          <a:p>
            <a:pPr algn="l">
              <a:spcAft>
                <a:spcPts val="600"/>
              </a:spcAft>
            </a:pPr>
            <a:r>
              <a:rPr sz="1600" b="0">
                <a:solidFill>
                  <a:srgbClr val="222222"/>
                </a:solidFill>
                <a:latin typeface="맑은 고딕"/>
              </a:rPr>
              <a:t>•  Instance Efficiency의 함정(히트율)과 낮은 값의 단서를 구분한다.</a:t>
            </a:r>
          </a:p>
          <a:p>
            <a:pPr algn="l">
              <a:spcAft>
                <a:spcPts val="600"/>
              </a:spcAft>
            </a:pPr>
            <a:r>
              <a:rPr sz="1600" b="0">
                <a:solidFill>
                  <a:srgbClr val="222222"/>
                </a:solidFill>
                <a:latin typeface="맑은 고딕"/>
              </a:rPr>
              <a:t>•  SQL 정렬 섹션에서 진단 가설에 맞는 기준으로 대상 SQL을 선별한다.</a:t>
            </a:r>
          </a:p>
          <a:p>
            <a:pPr algn="l">
              <a:spcAft>
                <a:spcPts val="600"/>
              </a:spcAft>
            </a:pPr>
            <a:r>
              <a:rPr sz="1600" b="0">
                <a:solidFill>
                  <a:srgbClr val="222222"/>
                </a:solidFill>
                <a:latin typeface="맑은 고딕"/>
              </a:rPr>
              <a:t>•  Advisory로 메모리 조정 효과를 근거로 판단한다.</a:t>
            </a:r>
          </a:p>
          <a:p>
            <a:pPr algn="l">
              <a:spcAft>
                <a:spcPts val="600"/>
              </a:spcAft>
            </a:pPr>
            <a:r>
              <a:rPr sz="1600" b="0">
                <a:solidFill>
                  <a:srgbClr val="222222"/>
                </a:solidFill>
                <a:latin typeface="맑은 고딕"/>
              </a:rPr>
              <a:t>•  부하 없는 구간을 판별하고 라이선스(🔒)·Statspack 대안을 안다.</a:t>
            </a:r>
          </a:p>
        </p:txBody>
      </p:sp>
    </p:spTree>
    <p:extLst>
      <p:ext uri="{BB962C8B-B14F-4D97-AF65-F5344CB8AC3E}">
        <p14:creationId xmlns:p14="http://schemas.microsoft.com/office/powerpoint/2010/main" val="3292698132"/>
      </p:ext>
    </p:extLst>
  </p:cSld>
  <p:clrMapOvr>
    <a:masterClrMapping/>
  </p:clrMapOvr>
</p:sld>
</file>

<file path=ppt/slides/slide8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이 장의 구성 (Agenda)</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600"/>
              </a:spcAft>
            </a:pPr>
            <a:r>
              <a:rPr sz="1600" b="0">
                <a:solidFill>
                  <a:srgbClr val="222222"/>
                </a:solidFill>
                <a:latin typeface="맑은 고딕"/>
              </a:rPr>
              <a:t>•  22.2  AWR 보고서 생성 — awrrpt.sql과 섹션 구조</a:t>
            </a:r>
          </a:p>
          <a:p>
            <a:pPr algn="l">
              <a:spcAft>
                <a:spcPts val="600"/>
              </a:spcAft>
            </a:pPr>
            <a:r>
              <a:rPr sz="1600" b="0">
                <a:solidFill>
                  <a:srgbClr val="222222"/>
                </a:solidFill>
                <a:latin typeface="맑은 고딕"/>
              </a:rPr>
              <a:t>•  22.3  머리말 — DB Time / Elapsed = 평균 활성 세션</a:t>
            </a:r>
          </a:p>
          <a:p>
            <a:pPr algn="l">
              <a:spcAft>
                <a:spcPts val="600"/>
              </a:spcAft>
            </a:pPr>
            <a:r>
              <a:rPr sz="1600" b="0">
                <a:solidFill>
                  <a:srgbClr val="222222"/>
                </a:solidFill>
                <a:latin typeface="맑은 고딕"/>
              </a:rPr>
              <a:t>•  22.4  Load Profile — 초당 얼마나 일했는가</a:t>
            </a:r>
          </a:p>
          <a:p>
            <a:pPr algn="l">
              <a:spcAft>
                <a:spcPts val="600"/>
              </a:spcAft>
            </a:pPr>
            <a:r>
              <a:rPr sz="1600" b="0">
                <a:solidFill>
                  <a:srgbClr val="222222"/>
                </a:solidFill>
                <a:latin typeface="맑은 고딕"/>
              </a:rPr>
              <a:t>•  22.5  Top 10 Foreground Events — 상위 대기와 DB Time 비중</a:t>
            </a:r>
          </a:p>
          <a:p>
            <a:pPr algn="l">
              <a:spcAft>
                <a:spcPts val="600"/>
              </a:spcAft>
            </a:pPr>
            <a:r>
              <a:rPr sz="1600" b="0">
                <a:solidFill>
                  <a:srgbClr val="222222"/>
                </a:solidFill>
                <a:latin typeface="맑은 고딕"/>
              </a:rPr>
              <a:t>•  22.6  Instance Efficiency — 비율의 함정</a:t>
            </a:r>
          </a:p>
          <a:p>
            <a:pPr algn="l">
              <a:spcAft>
                <a:spcPts val="600"/>
              </a:spcAft>
            </a:pPr>
            <a:r>
              <a:rPr sz="1600" b="0">
                <a:solidFill>
                  <a:srgbClr val="222222"/>
                </a:solidFill>
                <a:latin typeface="맑은 고딕"/>
              </a:rPr>
              <a:t>•  22.7  SQL 정렬 섹션 — 대상 SQL 선별</a:t>
            </a:r>
          </a:p>
          <a:p>
            <a:pPr algn="l">
              <a:spcAft>
                <a:spcPts val="600"/>
              </a:spcAft>
            </a:pPr>
            <a:r>
              <a:rPr sz="1600" b="0">
                <a:solidFill>
                  <a:srgbClr val="222222"/>
                </a:solidFill>
                <a:latin typeface="맑은 고딕"/>
              </a:rPr>
              <a:t>•  22.8~22.9  Instance Activity / Advisory 판독</a:t>
            </a:r>
          </a:p>
          <a:p>
            <a:pPr algn="l">
              <a:spcAft>
                <a:spcPts val="600"/>
              </a:spcAft>
            </a:pPr>
            <a:r>
              <a:rPr sz="1600" b="0">
                <a:solidFill>
                  <a:srgbClr val="222222"/>
                </a:solidFill>
                <a:latin typeface="맑은 고딕"/>
              </a:rPr>
              <a:t>•  22.10~22.13  체크리스트 · 부하 없는 구간 · 라이선스 · 도구 연결</a:t>
            </a:r>
          </a:p>
        </p:txBody>
      </p:sp>
    </p:spTree>
    <p:extLst>
      <p:ext uri="{BB962C8B-B14F-4D97-AF65-F5344CB8AC3E}">
        <p14:creationId xmlns:p14="http://schemas.microsoft.com/office/powerpoint/2010/main" val="88714026"/>
      </p:ext>
    </p:extLst>
  </p:cSld>
  <p:clrMapOvr>
    <a:masterClrMapping/>
  </p:clrMapOvr>
</p:sld>
</file>

<file path=ppt/slides/slide8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왜 AWR 보고서를 읽는가</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ch22의 한 문장</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AWR = 두 스냅샷 사이 인스턴스 활동을 한 장으로 요약</a:t>
            </a:r>
          </a:p>
          <a:p>
            <a:pPr algn="l">
              <a:spcAft>
                <a:spcPts val="600"/>
              </a:spcAft>
            </a:pPr>
            <a:r>
              <a:rPr sz="1700" b="0">
                <a:solidFill>
                  <a:srgbClr val="222222"/>
                </a:solidFill>
                <a:latin typeface="맑은 고딕"/>
              </a:rPr>
              <a:t>•  ch19 DB Time·시간모델·대기클래스가 이 보고서 안에 다 있다</a:t>
            </a:r>
          </a:p>
          <a:p>
            <a:pPr algn="l">
              <a:spcAft>
                <a:spcPts val="600"/>
              </a:spcAft>
            </a:pPr>
            <a:r>
              <a:rPr sz="1700" b="0">
                <a:solidFill>
                  <a:srgbClr val="222222"/>
                </a:solidFill>
                <a:latin typeface="맑은 고딕"/>
              </a:rPr>
              <a:t>•  ch22은 '생성'이 아니라 '판독' — 숫자로 원인을 지목</a:t>
            </a:r>
          </a:p>
          <a:p>
            <a:pPr algn="l">
              <a:spcAft>
                <a:spcPts val="600"/>
              </a:spcAft>
            </a:pPr>
            <a:r>
              <a:rPr sz="1700" b="0">
                <a:solidFill>
                  <a:srgbClr val="222222"/>
                </a:solidFill>
                <a:latin typeface="맑은 고딕"/>
              </a:rPr>
              <a:t>•  핵심: 상위 대기 하나만 보고 결론 내지 않는다</a:t>
            </a:r>
          </a:p>
          <a:p>
            <a:pPr algn="l">
              <a:spcAft>
                <a:spcPts val="600"/>
              </a:spcAft>
            </a:pPr>
            <a:r>
              <a:rPr sz="1700" b="0">
                <a:solidFill>
                  <a:srgbClr val="222222"/>
                </a:solidFill>
                <a:latin typeface="맑은 고딕"/>
              </a:rPr>
              <a:t>•  언제나 DB Time 비중과 함께 본다</a:t>
            </a:r>
          </a:p>
          <a:p>
            <a:pPr algn="l">
              <a:spcAft>
                <a:spcPts val="600"/>
              </a:spcAft>
            </a:pPr>
            <a:r>
              <a:rPr sz="1700" b="0">
                <a:solidFill>
                  <a:srgbClr val="222222"/>
                </a:solidFill>
                <a:latin typeface="맑은 고딕"/>
              </a:rPr>
              <a:t>•  소재: 실측 스냅샷 295~296 (7세션 100초 종합 부하)</a:t>
            </a:r>
          </a:p>
        </p:txBody>
      </p:sp>
    </p:spTree>
    <p:extLst>
      <p:ext uri="{BB962C8B-B14F-4D97-AF65-F5344CB8AC3E}">
        <p14:creationId xmlns:p14="http://schemas.microsoft.com/office/powerpoint/2010/main" val="2363473345"/>
      </p:ext>
    </p:extLst>
  </p:cSld>
  <p:clrMapOvr>
    <a:masterClrMapping/>
  </p:clrMapOvr>
</p:sld>
</file>

<file path=ppt/slides/slide8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22.2</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AWR 보고서 생성</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400"/>
              </a:spcAft>
            </a:pPr>
            <a:r>
              <a:rPr sz="1600" b="0">
                <a:solidFill>
                  <a:srgbClr val="FFFFFF"/>
                </a:solidFill>
                <a:latin typeface="맑은 고딕"/>
              </a:rPr>
              <a:t>•  awrrpt.sql — text/html, 시작·종료 스냅샷 지정</a:t>
            </a:r>
          </a:p>
          <a:p>
            <a:pPr algn="l">
              <a:spcAft>
                <a:spcPts val="400"/>
              </a:spcAft>
            </a:pPr>
            <a:r>
              <a:rPr sz="1600" b="0">
                <a:solidFill>
                  <a:srgbClr val="FFFFFF"/>
                </a:solidFill>
                <a:latin typeface="맑은 고딕"/>
              </a:rPr>
              <a:t>•  전제: STATISTICS_LEVEL≥TYPICAL, 구간 내 재기동 없음</a:t>
            </a:r>
          </a:p>
          <a:p>
            <a:pPr algn="l">
              <a:spcAft>
                <a:spcPts val="400"/>
              </a:spcAft>
            </a:pPr>
            <a:r>
              <a:rPr sz="1600" b="0">
                <a:solidFill>
                  <a:srgbClr val="FFFFFF"/>
                </a:solidFill>
                <a:latin typeface="맑은 고딕"/>
              </a:rPr>
              <a:t>•  보고서는 '델타' — 두 스냅샷 차이(구간 값)</a:t>
            </a:r>
          </a:p>
          <a:p>
            <a:pPr algn="l">
              <a:spcAft>
                <a:spcPts val="400"/>
              </a:spcAft>
            </a:pPr>
            <a:r>
              <a:rPr sz="1600" b="0">
                <a:solidFill>
                  <a:srgbClr val="FFFFFF"/>
                </a:solidFill>
                <a:latin typeface="맑은 고딕"/>
              </a:rPr>
              <a:t>•  판독은 위(요약)에서 아래(세부)로</a:t>
            </a:r>
          </a:p>
        </p:txBody>
      </p:sp>
    </p:spTree>
    <p:extLst>
      <p:ext uri="{BB962C8B-B14F-4D97-AF65-F5344CB8AC3E}">
        <p14:creationId xmlns:p14="http://schemas.microsoft.com/office/powerpoint/2010/main" val="2033745637"/>
      </p:ext>
    </p:extLst>
  </p:cSld>
  <p:clrMapOvr>
    <a:masterClrMapping/>
  </p:clrMapOvr>
</p:sld>
</file>

<file path=ppt/slides/slide8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awrrpt.sql 실행</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텍스트 보고서 생성 절차 (스냅샷 295~296)</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09728" rtlCol="0" anchor="t"/>
          <a:lstStyle/>
          <a:p>
            <a:pPr>
              <a:spcBef>
                <a:spcPts val="0"/>
              </a:spcBef>
              <a:spcAft>
                <a:spcPts val="0"/>
              </a:spcAft>
            </a:pPr>
            <a:r>
              <a:rPr sz="1250" dirty="0" err="1">
                <a:solidFill>
                  <a:srgbClr val="F2F2F2"/>
                </a:solidFill>
                <a:latin typeface="Consolas"/>
              </a:rPr>
              <a:t>SYS@orcl</a:t>
            </a:r>
            <a:r>
              <a:rPr sz="1250" dirty="0">
                <a:solidFill>
                  <a:srgbClr val="F2F2F2"/>
                </a:solidFill>
                <a:latin typeface="Consolas"/>
              </a:rPr>
              <a:t>&gt; @$ORACLE_HOME/rdbms/admin/awrrpt.sql</a:t>
            </a:r>
          </a:p>
          <a:p>
            <a:pPr>
              <a:spcBef>
                <a:spcPts val="0"/>
              </a:spcBef>
              <a:spcAft>
                <a:spcPts val="0"/>
              </a:spcAft>
            </a:pPr>
            <a:r>
              <a:rPr sz="1250" dirty="0">
                <a:solidFill>
                  <a:srgbClr val="F2F2F2"/>
                </a:solidFill>
                <a:latin typeface="Consolas"/>
              </a:rPr>
              <a:t> </a:t>
            </a:r>
          </a:p>
          <a:p>
            <a:pPr>
              <a:spcBef>
                <a:spcPts val="0"/>
              </a:spcBef>
              <a:spcAft>
                <a:spcPts val="0"/>
              </a:spcAft>
            </a:pPr>
            <a:r>
              <a:rPr sz="1250" dirty="0">
                <a:solidFill>
                  <a:srgbClr val="F2F2F2"/>
                </a:solidFill>
                <a:latin typeface="Consolas"/>
              </a:rPr>
              <a:t>Enter value for </a:t>
            </a:r>
            <a:r>
              <a:rPr sz="1250" dirty="0" err="1">
                <a:solidFill>
                  <a:srgbClr val="F2F2F2"/>
                </a:solidFill>
                <a:latin typeface="Consolas"/>
              </a:rPr>
              <a:t>report_type</a:t>
            </a:r>
            <a:r>
              <a:rPr sz="1250" dirty="0">
                <a:solidFill>
                  <a:srgbClr val="F2F2F2"/>
                </a:solidFill>
                <a:latin typeface="Consolas"/>
              </a:rPr>
              <a:t>: text</a:t>
            </a:r>
          </a:p>
          <a:p>
            <a:pPr>
              <a:spcBef>
                <a:spcPts val="0"/>
              </a:spcBef>
              <a:spcAft>
                <a:spcPts val="0"/>
              </a:spcAft>
            </a:pPr>
            <a:r>
              <a:rPr sz="1250" dirty="0">
                <a:solidFill>
                  <a:srgbClr val="F2F2F2"/>
                </a:solidFill>
                <a:latin typeface="Consolas"/>
              </a:rPr>
              <a:t>Enter value for </a:t>
            </a:r>
            <a:r>
              <a:rPr sz="1250" dirty="0" err="1">
                <a:solidFill>
                  <a:srgbClr val="F2F2F2"/>
                </a:solidFill>
                <a:latin typeface="Consolas"/>
              </a:rPr>
              <a:t>num_days</a:t>
            </a:r>
            <a:r>
              <a:rPr sz="1250" dirty="0">
                <a:solidFill>
                  <a:srgbClr val="F2F2F2"/>
                </a:solidFill>
                <a:latin typeface="Consolas"/>
              </a:rPr>
              <a:t>: 1</a:t>
            </a:r>
          </a:p>
          <a:p>
            <a:pPr>
              <a:spcBef>
                <a:spcPts val="0"/>
              </a:spcBef>
              <a:spcAft>
                <a:spcPts val="0"/>
              </a:spcAft>
            </a:pPr>
            <a:r>
              <a:rPr sz="1250" dirty="0">
                <a:solidFill>
                  <a:srgbClr val="F2F2F2"/>
                </a:solidFill>
                <a:latin typeface="Consolas"/>
              </a:rPr>
              <a:t> </a:t>
            </a:r>
          </a:p>
          <a:p>
            <a:pPr>
              <a:spcBef>
                <a:spcPts val="0"/>
              </a:spcBef>
              <a:spcAft>
                <a:spcPts val="0"/>
              </a:spcAft>
            </a:pPr>
            <a:r>
              <a:rPr sz="1250" dirty="0">
                <a:solidFill>
                  <a:srgbClr val="F2F2F2"/>
                </a:solidFill>
                <a:latin typeface="Consolas"/>
              </a:rPr>
              <a:t>  Snap Id   Snap Started         Snap Level</a:t>
            </a:r>
          </a:p>
          <a:p>
            <a:pPr>
              <a:spcBef>
                <a:spcPts val="0"/>
              </a:spcBef>
              <a:spcAft>
                <a:spcPts val="0"/>
              </a:spcAft>
            </a:pPr>
            <a:r>
              <a:rPr sz="1250" dirty="0">
                <a:solidFill>
                  <a:srgbClr val="F2F2F2"/>
                </a:solidFill>
                <a:latin typeface="Consolas"/>
              </a:rPr>
              <a:t>  -------   ------------------   ----------</a:t>
            </a:r>
          </a:p>
          <a:p>
            <a:pPr>
              <a:spcBef>
                <a:spcPts val="0"/>
              </a:spcBef>
              <a:spcAft>
                <a:spcPts val="0"/>
              </a:spcAft>
            </a:pPr>
            <a:r>
              <a:rPr sz="1250" dirty="0">
                <a:solidFill>
                  <a:srgbClr val="F2F2F2"/>
                </a:solidFill>
                <a:latin typeface="Consolas"/>
              </a:rPr>
              <a:t>    295     25 Aug 2026 14:20        1</a:t>
            </a:r>
          </a:p>
          <a:p>
            <a:pPr>
              <a:spcBef>
                <a:spcPts val="0"/>
              </a:spcBef>
              <a:spcAft>
                <a:spcPts val="0"/>
              </a:spcAft>
            </a:pPr>
            <a:r>
              <a:rPr sz="1250" dirty="0">
                <a:solidFill>
                  <a:srgbClr val="F2F2F2"/>
                </a:solidFill>
                <a:latin typeface="Consolas"/>
              </a:rPr>
              <a:t>    296     25 Aug 2026 14:22        1</a:t>
            </a:r>
          </a:p>
          <a:p>
            <a:pPr>
              <a:spcBef>
                <a:spcPts val="0"/>
              </a:spcBef>
              <a:spcAft>
                <a:spcPts val="0"/>
              </a:spcAft>
            </a:pPr>
            <a:r>
              <a:rPr sz="1250" dirty="0">
                <a:solidFill>
                  <a:srgbClr val="F2F2F2"/>
                </a:solidFill>
                <a:latin typeface="Consolas"/>
              </a:rPr>
              <a:t> </a:t>
            </a:r>
          </a:p>
          <a:p>
            <a:pPr>
              <a:spcBef>
                <a:spcPts val="0"/>
              </a:spcBef>
              <a:spcAft>
                <a:spcPts val="0"/>
              </a:spcAft>
            </a:pPr>
            <a:r>
              <a:rPr sz="1250" dirty="0">
                <a:solidFill>
                  <a:srgbClr val="F2F2F2"/>
                </a:solidFill>
                <a:latin typeface="Consolas"/>
              </a:rPr>
              <a:t>Enter value for </a:t>
            </a:r>
            <a:r>
              <a:rPr sz="1250" dirty="0" err="1">
                <a:solidFill>
                  <a:srgbClr val="F2F2F2"/>
                </a:solidFill>
                <a:latin typeface="Consolas"/>
              </a:rPr>
              <a:t>begin_snap</a:t>
            </a:r>
            <a:r>
              <a:rPr sz="1250" dirty="0">
                <a:solidFill>
                  <a:srgbClr val="F2F2F2"/>
                </a:solidFill>
                <a:latin typeface="Consolas"/>
              </a:rPr>
              <a:t>: 295</a:t>
            </a:r>
          </a:p>
          <a:p>
            <a:pPr>
              <a:spcBef>
                <a:spcPts val="0"/>
              </a:spcBef>
              <a:spcAft>
                <a:spcPts val="0"/>
              </a:spcAft>
            </a:pPr>
            <a:r>
              <a:rPr sz="1250" dirty="0">
                <a:solidFill>
                  <a:srgbClr val="F2F2F2"/>
                </a:solidFill>
                <a:latin typeface="Consolas"/>
              </a:rPr>
              <a:t>Enter value for </a:t>
            </a:r>
            <a:r>
              <a:rPr sz="1250" dirty="0" err="1">
                <a:solidFill>
                  <a:srgbClr val="F2F2F2"/>
                </a:solidFill>
                <a:latin typeface="Consolas"/>
              </a:rPr>
              <a:t>end_snap</a:t>
            </a:r>
            <a:r>
              <a:rPr sz="1250" dirty="0">
                <a:solidFill>
                  <a:srgbClr val="F2F2F2"/>
                </a:solidFill>
                <a:latin typeface="Consolas"/>
              </a:rPr>
              <a:t>:   296</a:t>
            </a:r>
          </a:p>
          <a:p>
            <a:pPr>
              <a:spcBef>
                <a:spcPts val="0"/>
              </a:spcBef>
              <a:spcAft>
                <a:spcPts val="0"/>
              </a:spcAft>
            </a:pPr>
            <a:r>
              <a:rPr sz="1250" dirty="0">
                <a:solidFill>
                  <a:srgbClr val="F2F2F2"/>
                </a:solidFill>
                <a:latin typeface="Consolas"/>
              </a:rPr>
              <a:t>Report written to awrrpt_1_295_296.txt</a:t>
            </a:r>
          </a:p>
        </p:txBody>
      </p:sp>
    </p:spTree>
    <p:extLst>
      <p:ext uri="{BB962C8B-B14F-4D97-AF65-F5344CB8AC3E}">
        <p14:creationId xmlns:p14="http://schemas.microsoft.com/office/powerpoint/2010/main" val="1660313249"/>
      </p:ext>
    </p:extLst>
  </p:cSld>
  <p:clrMapOvr>
    <a:masterClrMapping/>
  </p:clrMapOvr>
</p:sld>
</file>

<file path=ppt/slides/slide8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AWR 보고서는 '델타'다</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누적값이 아니라 구간 값</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V$ 통계 = 인스턴스 기동 이후 누적값(ch19)</a:t>
            </a:r>
          </a:p>
          <a:p>
            <a:pPr algn="l">
              <a:spcAft>
                <a:spcPts val="600"/>
              </a:spcAft>
            </a:pPr>
            <a:r>
              <a:rPr sz="1700" b="0">
                <a:solidFill>
                  <a:srgbClr val="222222"/>
                </a:solidFill>
                <a:latin typeface="맑은 고딕"/>
              </a:rPr>
              <a:t>•  AWR 보고서 = 종료 스냅샷 − 시작 스냅샷 = 구간 실제량</a:t>
            </a:r>
          </a:p>
          <a:p>
            <a:pPr algn="l">
              <a:spcAft>
                <a:spcPts val="600"/>
              </a:spcAft>
            </a:pPr>
            <a:r>
              <a:rPr sz="1700" b="0">
                <a:solidFill>
                  <a:srgbClr val="222222"/>
                </a:solidFill>
                <a:latin typeface="맑은 고딕"/>
              </a:rPr>
              <a:t>•  Load Profile의 Per Second도 이 100초 구간 한정</a:t>
            </a:r>
          </a:p>
          <a:p>
            <a:pPr algn="l">
              <a:spcAft>
                <a:spcPts val="600"/>
              </a:spcAft>
            </a:pPr>
            <a:r>
              <a:rPr sz="1700" b="0">
                <a:solidFill>
                  <a:srgbClr val="222222"/>
                </a:solidFill>
                <a:latin typeface="맑은 고딕"/>
              </a:rPr>
              <a:t>•  SQL 섹션의 Buffer Gets도 이 구간에서만 발생한 양</a:t>
            </a:r>
          </a:p>
          <a:p>
            <a:pPr algn="l">
              <a:spcAft>
                <a:spcPts val="600"/>
              </a:spcAft>
            </a:pPr>
            <a:r>
              <a:rPr sz="1700" b="0">
                <a:solidFill>
                  <a:srgbClr val="222222"/>
                </a:solidFill>
                <a:latin typeface="맑은 고딕"/>
              </a:rPr>
              <a:t>•  누적값을 그대로 읽는 ch19의 오판을 자동 교정</a:t>
            </a:r>
          </a:p>
          <a:p>
            <a:pPr algn="l">
              <a:spcAft>
                <a:spcPts val="600"/>
              </a:spcAft>
            </a:pPr>
            <a:r>
              <a:rPr sz="1700" b="0">
                <a:solidFill>
                  <a:srgbClr val="222222"/>
                </a:solidFill>
                <a:latin typeface="맑은 고딕"/>
              </a:rPr>
              <a:t>•  전제: 두 스냅샷 사이 재기동 없음(있으면 델타 음수)</a:t>
            </a:r>
          </a:p>
        </p:txBody>
      </p:sp>
    </p:spTree>
    <p:extLst>
      <p:ext uri="{BB962C8B-B14F-4D97-AF65-F5344CB8AC3E}">
        <p14:creationId xmlns:p14="http://schemas.microsoft.com/office/powerpoint/2010/main" val="3999129843"/>
      </p:ext>
    </p:extLst>
  </p:cSld>
  <p:clrMapOvr>
    <a:masterClrMapping/>
  </p:clrMapOvr>
</p:sld>
</file>

<file path=ppt/slides/slide8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보고서 섹션 구조 — 읽는 순서</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위에서 아래로 좁혀 내려간다</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머리말 → 구간·DB Time (부하가 있었나)</a:t>
            </a:r>
          </a:p>
          <a:p>
            <a:pPr algn="l">
              <a:spcAft>
                <a:spcPts val="600"/>
              </a:spcAft>
            </a:pPr>
            <a:r>
              <a:rPr sz="1700" b="0">
                <a:solidFill>
                  <a:srgbClr val="222222"/>
                </a:solidFill>
                <a:latin typeface="맑은 고딕"/>
              </a:rPr>
              <a:t>•  Load Profile → 초당 작업량 (부하 성격)</a:t>
            </a:r>
          </a:p>
          <a:p>
            <a:pPr algn="l">
              <a:spcAft>
                <a:spcPts val="600"/>
              </a:spcAft>
            </a:pPr>
            <a:r>
              <a:rPr sz="1700" b="0">
                <a:solidFill>
                  <a:srgbClr val="222222"/>
                </a:solidFill>
                <a:latin typeface="맑은 고딕"/>
              </a:rPr>
              <a:t>•  Top 10 Events → 무엇을 기다렸나 (병목 종류)</a:t>
            </a:r>
          </a:p>
          <a:p>
            <a:pPr algn="l">
              <a:spcAft>
                <a:spcPts val="600"/>
              </a:spcAft>
            </a:pPr>
            <a:r>
              <a:rPr sz="1700" b="0">
                <a:solidFill>
                  <a:srgbClr val="222222"/>
                </a:solidFill>
                <a:latin typeface="맑은 고딕"/>
              </a:rPr>
              <a:t>•  Instance Efficiency → 효율 비율 (함정 주의)</a:t>
            </a:r>
          </a:p>
          <a:p>
            <a:pPr algn="l">
              <a:spcAft>
                <a:spcPts val="600"/>
              </a:spcAft>
            </a:pPr>
            <a:r>
              <a:rPr sz="1700" b="0">
                <a:solidFill>
                  <a:srgbClr val="222222"/>
                </a:solidFill>
                <a:latin typeface="맑은 고딕"/>
              </a:rPr>
              <a:t>•  SQL ordered by … → 어느 SQL이 자원을 썼나</a:t>
            </a:r>
          </a:p>
          <a:p>
            <a:pPr algn="l">
              <a:spcAft>
                <a:spcPts val="600"/>
              </a:spcAft>
            </a:pPr>
            <a:r>
              <a:rPr sz="1700" b="0">
                <a:solidFill>
                  <a:srgbClr val="222222"/>
                </a:solidFill>
                <a:latin typeface="맑은 고딕"/>
              </a:rPr>
              <a:t>•  Instance Activity / Advisory → 세부 확증·메모리 조정</a:t>
            </a:r>
          </a:p>
        </p:txBody>
      </p:sp>
    </p:spTree>
    <p:extLst>
      <p:ext uri="{BB962C8B-B14F-4D97-AF65-F5344CB8AC3E}">
        <p14:creationId xmlns:p14="http://schemas.microsoft.com/office/powerpoint/2010/main" val="1769433305"/>
      </p:ext>
    </p:extLst>
  </p:cSld>
  <p:clrMapOvr>
    <a:masterClrMapping/>
  </p:clrMapOvr>
</p:sld>
</file>

<file path=ppt/slides/slide8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22.3</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머리말 판독</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400"/>
              </a:spcAft>
            </a:pPr>
            <a:r>
              <a:rPr sz="1600" b="0">
                <a:solidFill>
                  <a:srgbClr val="FFFFFF"/>
                </a:solidFill>
                <a:latin typeface="맑은 고딕"/>
              </a:rPr>
              <a:t>•  DB Time / Elapsed = 평균 활성 세션(AAS)</a:t>
            </a:r>
          </a:p>
          <a:p>
            <a:pPr algn="l">
              <a:spcAft>
                <a:spcPts val="400"/>
              </a:spcAft>
            </a:pPr>
            <a:r>
              <a:rPr sz="1600" b="0">
                <a:solidFill>
                  <a:srgbClr val="FFFFFF"/>
                </a:solidFill>
                <a:latin typeface="맑은 고딕"/>
              </a:rPr>
              <a:t>•  실측: 574초 / 100초 ≈ 5.7</a:t>
            </a:r>
          </a:p>
          <a:p>
            <a:pPr algn="l">
              <a:spcAft>
                <a:spcPts val="400"/>
              </a:spcAft>
            </a:pPr>
            <a:r>
              <a:rPr sz="1600" b="0">
                <a:solidFill>
                  <a:srgbClr val="FFFFFF"/>
                </a:solidFill>
                <a:latin typeface="맑은 고딕"/>
              </a:rPr>
              <a:t>•  AAS를 CPU 코어 수와 비교 → CPU 포화 판정</a:t>
            </a:r>
          </a:p>
          <a:p>
            <a:pPr algn="l">
              <a:spcAft>
                <a:spcPts val="400"/>
              </a:spcAft>
            </a:pPr>
            <a:r>
              <a:rPr sz="1600" b="0">
                <a:solidFill>
                  <a:srgbClr val="FFFFFF"/>
                </a:solidFill>
                <a:latin typeface="맑은 고딕"/>
              </a:rPr>
              <a:t>•  머리말은 방향만 정한다</a:t>
            </a:r>
          </a:p>
        </p:txBody>
      </p:sp>
    </p:spTree>
    <p:extLst>
      <p:ext uri="{BB962C8B-B14F-4D97-AF65-F5344CB8AC3E}">
        <p14:creationId xmlns:p14="http://schemas.microsoft.com/office/powerpoint/2010/main" val="3452876722"/>
      </p:ext>
    </p:extLst>
  </p:cSld>
  <p:clrMapOvr>
    <a:masterClrMapping/>
  </p:clrMapOvr>
</p:sld>
</file>

<file path=ppt/slides/slide8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DB Time부터 본다</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실측 구간: Elapsed 100초, DB Time 574초</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Elapsed = 두 스냅샷 사이 벽시계 시간</a:t>
            </a:r>
          </a:p>
          <a:p>
            <a:pPr algn="l">
              <a:spcAft>
                <a:spcPts val="600"/>
              </a:spcAft>
            </a:pPr>
            <a:r>
              <a:rPr sz="1700" b="0">
                <a:solidFill>
                  <a:srgbClr val="222222"/>
                </a:solidFill>
                <a:latin typeface="맑은 고딕"/>
              </a:rPr>
              <a:t>•  DB Time = 모든 활성 세션의 CPU+대기 합</a:t>
            </a:r>
          </a:p>
          <a:p>
            <a:pPr algn="l">
              <a:spcAft>
                <a:spcPts val="600"/>
              </a:spcAft>
            </a:pPr>
            <a:r>
              <a:rPr sz="1700" b="0">
                <a:solidFill>
                  <a:srgbClr val="222222"/>
                </a:solidFill>
                <a:latin typeface="맑은 고딕"/>
              </a:rPr>
              <a:t>•  DB Time / Elapsed ≈ 5.7 → 평균 5.7세션이 동시에 일함</a:t>
            </a:r>
          </a:p>
          <a:p>
            <a:pPr algn="l">
              <a:spcAft>
                <a:spcPts val="600"/>
              </a:spcAft>
            </a:pPr>
            <a:r>
              <a:rPr sz="1700" b="0">
                <a:solidFill>
                  <a:srgbClr val="222222"/>
                </a:solidFill>
                <a:latin typeface="맑은 고딕"/>
              </a:rPr>
              <a:t>•  7세션 부하 → 세션들이 거의 쉬지 않았음</a:t>
            </a:r>
          </a:p>
          <a:p>
            <a:pPr algn="l">
              <a:spcAft>
                <a:spcPts val="600"/>
              </a:spcAft>
            </a:pPr>
            <a:r>
              <a:rPr sz="1700" b="0">
                <a:solidFill>
                  <a:srgbClr val="222222"/>
                </a:solidFill>
                <a:latin typeface="맑은 고딕"/>
              </a:rPr>
              <a:t>•  AAS를 호스트 코어 수와 비교: 코어보다 크면 CPU 경쟁</a:t>
            </a:r>
          </a:p>
          <a:p>
            <a:pPr algn="l">
              <a:spcAft>
                <a:spcPts val="600"/>
              </a:spcAft>
            </a:pPr>
            <a:r>
              <a:rPr sz="1700" b="0">
                <a:solidFill>
                  <a:srgbClr val="222222"/>
                </a:solidFill>
                <a:latin typeface="맑은 고딕"/>
              </a:rPr>
              <a:t>•  '무엇을' 기다렸나 → Top Events / '누가' → SQL 섹션</a:t>
            </a:r>
          </a:p>
        </p:txBody>
      </p:sp>
    </p:spTree>
    <p:extLst>
      <p:ext uri="{BB962C8B-B14F-4D97-AF65-F5344CB8AC3E}">
        <p14:creationId xmlns:p14="http://schemas.microsoft.com/office/powerpoint/2010/main" val="3306601921"/>
      </p:ext>
    </p:extLst>
  </p:cSld>
  <p:clrMapOvr>
    <a:masterClrMapping/>
  </p:clrMapOvr>
</p:sld>
</file>

<file path=ppt/slides/slide8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22.4</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Load Profile 판독</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400"/>
              </a:spcAft>
            </a:pPr>
            <a:r>
              <a:rPr sz="1600" b="0">
                <a:solidFill>
                  <a:srgbClr val="FFFFFF"/>
                </a:solidFill>
                <a:latin typeface="맑은 고딕"/>
              </a:rPr>
              <a:t>•  DB Time vs DB CPU → CPU 바운드?</a:t>
            </a:r>
          </a:p>
          <a:p>
            <a:pPr algn="l">
              <a:spcAft>
                <a:spcPts val="400"/>
              </a:spcAft>
            </a:pPr>
            <a:r>
              <a:rPr sz="1600" b="0">
                <a:solidFill>
                  <a:srgbClr val="FFFFFF"/>
                </a:solidFill>
                <a:latin typeface="맑은 고딕"/>
              </a:rPr>
              <a:t>•  논리 vs 물리 읽기 → 메모리 반복 스캔?</a:t>
            </a:r>
          </a:p>
          <a:p>
            <a:pPr algn="l">
              <a:spcAft>
                <a:spcPts val="400"/>
              </a:spcAft>
            </a:pPr>
            <a:r>
              <a:rPr sz="1600" b="0">
                <a:solidFill>
                  <a:srgbClr val="FFFFFF"/>
                </a:solidFill>
                <a:latin typeface="맑은 고딕"/>
              </a:rPr>
              <a:t>•  Parses 대비 Hard parses → 리터럴?</a:t>
            </a:r>
          </a:p>
          <a:p>
            <a:pPr algn="l">
              <a:spcAft>
                <a:spcPts val="400"/>
              </a:spcAft>
            </a:pPr>
            <a:r>
              <a:rPr sz="1600" b="0">
                <a:solidFill>
                  <a:srgbClr val="FFFFFF"/>
                </a:solidFill>
                <a:latin typeface="맑은 고딕"/>
              </a:rPr>
              <a:t>•  절대값이 아니라 항목 간 비율로 읽는다</a:t>
            </a:r>
          </a:p>
        </p:txBody>
      </p:sp>
    </p:spTree>
    <p:extLst>
      <p:ext uri="{BB962C8B-B14F-4D97-AF65-F5344CB8AC3E}">
        <p14:creationId xmlns:p14="http://schemas.microsoft.com/office/powerpoint/2010/main" val="2514170996"/>
      </p:ext>
    </p:extLst>
  </p:cSld>
  <p:clrMapOvr>
    <a:masterClrMapping/>
  </p:clrMapOvr>
</p:sld>
</file>

<file path=ppt/slides/slide8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Load Profile 실측</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스냅샷 295~296 (Per Second / Per Transaction)</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09728" rtlCol="0" anchor="t"/>
          <a:lstStyle/>
          <a:p>
            <a:pPr>
              <a:spcBef>
                <a:spcPts val="0"/>
              </a:spcBef>
              <a:spcAft>
                <a:spcPts val="0"/>
              </a:spcAft>
            </a:pPr>
            <a:r>
              <a:rPr sz="1250" dirty="0">
                <a:solidFill>
                  <a:srgbClr val="F2F2F2"/>
                </a:solidFill>
                <a:latin typeface="Consolas"/>
              </a:rPr>
              <a:t>                        Per Second   Per </a:t>
            </a:r>
            <a:r>
              <a:rPr sz="1250" dirty="0" err="1">
                <a:solidFill>
                  <a:srgbClr val="F2F2F2"/>
                </a:solidFill>
                <a:latin typeface="Consolas"/>
              </a:rPr>
              <a:t>Txn</a:t>
            </a:r>
            <a:endParaRPr sz="1250" dirty="0">
              <a:solidFill>
                <a:srgbClr val="F2F2F2"/>
              </a:solidFill>
              <a:latin typeface="Consolas"/>
            </a:endParaRPr>
          </a:p>
          <a:p>
            <a:pPr>
              <a:spcBef>
                <a:spcPts val="0"/>
              </a:spcBef>
              <a:spcAft>
                <a:spcPts val="0"/>
              </a:spcAft>
            </a:pPr>
            <a:r>
              <a:rPr sz="1250" dirty="0">
                <a:solidFill>
                  <a:srgbClr val="F2F2F2"/>
                </a:solidFill>
                <a:latin typeface="Consolas"/>
              </a:rPr>
              <a:t>         DB Time(s):           5.5       0.0</a:t>
            </a:r>
          </a:p>
          <a:p>
            <a:pPr>
              <a:spcBef>
                <a:spcPts val="0"/>
              </a:spcBef>
              <a:spcAft>
                <a:spcPts val="0"/>
              </a:spcAft>
            </a:pPr>
            <a:r>
              <a:rPr sz="1250" dirty="0">
                <a:solidFill>
                  <a:srgbClr val="F2F2F2"/>
                </a:solidFill>
                <a:latin typeface="Consolas"/>
              </a:rPr>
              <a:t>          DB CPU(s):           5.3       0.0</a:t>
            </a:r>
          </a:p>
          <a:p>
            <a:pPr>
              <a:spcBef>
                <a:spcPts val="0"/>
              </a:spcBef>
              <a:spcAft>
                <a:spcPts val="0"/>
              </a:spcAft>
            </a:pPr>
            <a:r>
              <a:rPr sz="1250" dirty="0">
                <a:solidFill>
                  <a:srgbClr val="F2F2F2"/>
                </a:solidFill>
                <a:latin typeface="Consolas"/>
              </a:rPr>
              <a:t>  Redo size (bytes):     140,017.0     677.6</a:t>
            </a:r>
          </a:p>
          <a:p>
            <a:pPr>
              <a:spcBef>
                <a:spcPts val="0"/>
              </a:spcBef>
              <a:spcAft>
                <a:spcPts val="0"/>
              </a:spcAft>
            </a:pPr>
            <a:r>
              <a:rPr sz="1250" dirty="0">
                <a:solidFill>
                  <a:srgbClr val="F2F2F2"/>
                </a:solidFill>
                <a:latin typeface="Consolas"/>
              </a:rPr>
              <a:t>Logical read (blk):    1,185,107.0   5,735.2</a:t>
            </a:r>
          </a:p>
          <a:p>
            <a:pPr>
              <a:spcBef>
                <a:spcPts val="0"/>
              </a:spcBef>
              <a:spcAft>
                <a:spcPts val="0"/>
              </a:spcAft>
            </a:pPr>
            <a:r>
              <a:rPr sz="1250" dirty="0">
                <a:solidFill>
                  <a:srgbClr val="F2F2F2"/>
                </a:solidFill>
                <a:latin typeface="Consolas"/>
              </a:rPr>
              <a:t>      Block changes:         916.0       4.4</a:t>
            </a:r>
          </a:p>
          <a:p>
            <a:pPr>
              <a:spcBef>
                <a:spcPts val="0"/>
              </a:spcBef>
              <a:spcAft>
                <a:spcPts val="0"/>
              </a:spcAft>
            </a:pPr>
            <a:r>
              <a:rPr sz="1250" dirty="0">
                <a:solidFill>
                  <a:srgbClr val="F2F2F2"/>
                </a:solidFill>
                <a:latin typeface="Consolas"/>
              </a:rPr>
              <a:t>Physical read (blk):          48.8       0.2</a:t>
            </a:r>
          </a:p>
          <a:p>
            <a:pPr>
              <a:spcBef>
                <a:spcPts val="0"/>
              </a:spcBef>
              <a:spcAft>
                <a:spcPts val="0"/>
              </a:spcAft>
            </a:pPr>
            <a:r>
              <a:rPr sz="1250" dirty="0">
                <a:solidFill>
                  <a:srgbClr val="F2F2F2"/>
                </a:solidFill>
                <a:latin typeface="Consolas"/>
              </a:rPr>
              <a:t>         User calls:       1,629.9       7.9</a:t>
            </a:r>
          </a:p>
          <a:p>
            <a:pPr>
              <a:spcBef>
                <a:spcPts val="0"/>
              </a:spcBef>
              <a:spcAft>
                <a:spcPts val="0"/>
              </a:spcAft>
            </a:pPr>
            <a:r>
              <a:rPr sz="1250" dirty="0">
                <a:solidFill>
                  <a:srgbClr val="F2F2F2"/>
                </a:solidFill>
                <a:latin typeface="Consolas"/>
              </a:rPr>
              <a:t>       Parses (SQL):         433.7       2.1</a:t>
            </a:r>
          </a:p>
          <a:p>
            <a:pPr>
              <a:spcBef>
                <a:spcPts val="0"/>
              </a:spcBef>
              <a:spcAft>
                <a:spcPts val="0"/>
              </a:spcAft>
            </a:pPr>
            <a:r>
              <a:rPr sz="1250" dirty="0">
                <a:solidFill>
                  <a:srgbClr val="F2F2F2"/>
                </a:solidFill>
                <a:latin typeface="Consolas"/>
              </a:rPr>
              <a:t>  Hard parses (SQL):         319.0       1.5</a:t>
            </a:r>
          </a:p>
          <a:p>
            <a:pPr>
              <a:spcBef>
                <a:spcPts val="0"/>
              </a:spcBef>
              <a:spcAft>
                <a:spcPts val="0"/>
              </a:spcAft>
            </a:pPr>
            <a:r>
              <a:rPr sz="1250" dirty="0">
                <a:solidFill>
                  <a:srgbClr val="F2F2F2"/>
                </a:solidFill>
                <a:latin typeface="Consolas"/>
              </a:rPr>
              <a:t>  SQL Work Area(MB):         102.5       0.5</a:t>
            </a:r>
          </a:p>
        </p:txBody>
      </p:sp>
    </p:spTree>
    <p:extLst>
      <p:ext uri="{BB962C8B-B14F-4D97-AF65-F5344CB8AC3E}">
        <p14:creationId xmlns:p14="http://schemas.microsoft.com/office/powerpoint/2010/main" val="2989073870"/>
      </p:ext>
    </p:extLst>
  </p:cSld>
  <p:clrMapOvr>
    <a:masterClrMapping/>
  </p:clrMapOvr>
</p:sld>
</file>

<file path=ppt/slides/slide8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Load Profile이 그리는 그림</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세 지표가 한 방향을 가리킨다</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DB CPU ≈ DB Time → 대기가 아니라 CPU를 태운다</a:t>
            </a:r>
          </a:p>
          <a:p>
            <a:pPr algn="l">
              <a:spcAft>
                <a:spcPts val="600"/>
              </a:spcAft>
            </a:pPr>
            <a:r>
              <a:rPr sz="1700" b="0">
                <a:solidFill>
                  <a:srgbClr val="222222"/>
                </a:solidFill>
                <a:latin typeface="맑은 고딕"/>
              </a:rPr>
              <a:t>•  논리 118만 : 물리 48.8 → 메모리 위 반복 스캔</a:t>
            </a:r>
          </a:p>
          <a:p>
            <a:pPr algn="l">
              <a:spcAft>
                <a:spcPts val="600"/>
              </a:spcAft>
            </a:pPr>
            <a:r>
              <a:rPr sz="1700" b="0">
                <a:solidFill>
                  <a:srgbClr val="222222"/>
                </a:solidFill>
                <a:latin typeface="맑은 고딕"/>
              </a:rPr>
              <a:t>•  하드 파싱 319/s (전체의 73%) → 리터럴 SQL 폭증</a:t>
            </a:r>
          </a:p>
          <a:p>
            <a:pPr algn="l">
              <a:spcAft>
                <a:spcPts val="600"/>
              </a:spcAft>
            </a:pPr>
            <a:r>
              <a:rPr sz="1700" b="0">
                <a:solidFill>
                  <a:srgbClr val="222222"/>
                </a:solidFill>
                <a:latin typeface="맑은 고딕"/>
              </a:rPr>
              <a:t>•  User calls 1,629/s → 짧은 호출 대량 (가벼운 SQL 반복)</a:t>
            </a:r>
          </a:p>
          <a:p>
            <a:pPr algn="l">
              <a:spcAft>
                <a:spcPts val="600"/>
              </a:spcAft>
            </a:pPr>
            <a:r>
              <a:rPr sz="1700" b="0">
                <a:solidFill>
                  <a:srgbClr val="222222"/>
                </a:solidFill>
                <a:latin typeface="맑은 고딕"/>
              </a:rPr>
              <a:t>•  Redo·Block changes → 잦은 커밋(log file sync 배경)</a:t>
            </a:r>
          </a:p>
          <a:p>
            <a:pPr algn="l">
              <a:spcAft>
                <a:spcPts val="600"/>
              </a:spcAft>
            </a:pPr>
            <a:r>
              <a:rPr sz="1700" b="0">
                <a:solidFill>
                  <a:srgbClr val="222222"/>
                </a:solidFill>
                <a:latin typeface="맑은 고딕"/>
              </a:rPr>
              <a:t>•  → CPU 바운드 + 대량 논리읽기 + 리터럴 하드파싱</a:t>
            </a:r>
          </a:p>
        </p:txBody>
      </p:sp>
    </p:spTree>
    <p:extLst>
      <p:ext uri="{BB962C8B-B14F-4D97-AF65-F5344CB8AC3E}">
        <p14:creationId xmlns:p14="http://schemas.microsoft.com/office/powerpoint/2010/main" val="2587800683"/>
      </p:ext>
    </p:extLst>
  </p:cSld>
  <p:clrMapOvr>
    <a:masterClrMapping/>
  </p:clrMapOvr>
</p:sld>
</file>

<file path=ppt/slides/slide8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22.5</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Top 10 Foreground Events</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400"/>
              </a:spcAft>
            </a:pPr>
            <a:r>
              <a:rPr sz="1600" b="0">
                <a:solidFill>
                  <a:srgbClr val="FFFFFF"/>
                </a:solidFill>
                <a:latin typeface="맑은 고딕"/>
              </a:rPr>
              <a:t>•  맨 윗줄은 대개 DB CPU (대기가 아님)</a:t>
            </a:r>
          </a:p>
          <a:p>
            <a:pPr algn="l">
              <a:spcAft>
                <a:spcPts val="400"/>
              </a:spcAft>
            </a:pPr>
            <a:r>
              <a:rPr sz="1600" b="0">
                <a:solidFill>
                  <a:srgbClr val="FFFFFF"/>
                </a:solidFill>
                <a:latin typeface="맑은 고딕"/>
              </a:rPr>
              <a:t>•  % DB time으로 가중치를 매겨 읽는다</a:t>
            </a:r>
          </a:p>
          <a:p>
            <a:pPr algn="l">
              <a:spcAft>
                <a:spcPts val="400"/>
              </a:spcAft>
            </a:pPr>
            <a:r>
              <a:rPr sz="1600" b="0">
                <a:solidFill>
                  <a:srgbClr val="FFFFFF"/>
                </a:solidFill>
                <a:latin typeface="맑은 고딕"/>
              </a:rPr>
              <a:t>•  작은 대기들을 한 원인으로 묶는다</a:t>
            </a:r>
          </a:p>
          <a:p>
            <a:pPr algn="l">
              <a:spcAft>
                <a:spcPts val="400"/>
              </a:spcAft>
            </a:pPr>
            <a:r>
              <a:rPr sz="1600" b="0">
                <a:solidFill>
                  <a:srgbClr val="FFFFFF"/>
                </a:solidFill>
                <a:latin typeface="맑은 고딕"/>
              </a:rPr>
              <a:t>•  log file sync 3.7%는 주범이 아니다</a:t>
            </a:r>
          </a:p>
        </p:txBody>
      </p:sp>
    </p:spTree>
    <p:extLst>
      <p:ext uri="{BB962C8B-B14F-4D97-AF65-F5344CB8AC3E}">
        <p14:creationId xmlns:p14="http://schemas.microsoft.com/office/powerpoint/2010/main" val="3325450535"/>
      </p:ext>
    </p:extLst>
  </p:cSld>
  <p:clrMapOvr>
    <a:masterClrMapping/>
  </p:clrMapOvr>
</p:sld>
</file>

<file path=ppt/slides/slide8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Top 10 Events 실측</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 DB time 기준으로 읽는다</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09728" rtlCol="0" anchor="t"/>
          <a:lstStyle/>
          <a:p>
            <a:pPr>
              <a:spcBef>
                <a:spcPts val="0"/>
              </a:spcBef>
              <a:spcAft>
                <a:spcPts val="0"/>
              </a:spcAft>
            </a:pPr>
            <a:r>
              <a:rPr sz="1250" dirty="0">
                <a:solidFill>
                  <a:srgbClr val="F2F2F2"/>
                </a:solidFill>
                <a:latin typeface="Consolas"/>
              </a:rPr>
              <a:t>Event                 Waits  Time(s)  %DB  Class</a:t>
            </a:r>
          </a:p>
          <a:p>
            <a:pPr>
              <a:spcBef>
                <a:spcPts val="0"/>
              </a:spcBef>
              <a:spcAft>
                <a:spcPts val="0"/>
              </a:spcAft>
            </a:pPr>
            <a:r>
              <a:rPr sz="1250" dirty="0">
                <a:solidFill>
                  <a:srgbClr val="F2F2F2"/>
                </a:solidFill>
                <a:latin typeface="Consolas"/>
              </a:rPr>
              <a:t>-------------------- ------ -------- ---- --------</a:t>
            </a:r>
          </a:p>
          <a:p>
            <a:pPr>
              <a:spcBef>
                <a:spcPts val="0"/>
              </a:spcBef>
              <a:spcAft>
                <a:spcPts val="0"/>
              </a:spcAft>
            </a:pPr>
            <a:r>
              <a:rPr sz="1250" dirty="0">
                <a:solidFill>
                  <a:srgbClr val="F2F2F2"/>
                </a:solidFill>
                <a:latin typeface="Consolas"/>
              </a:rPr>
              <a:t>DB CPU                          549  95.7</a:t>
            </a:r>
          </a:p>
          <a:p>
            <a:pPr>
              <a:spcBef>
                <a:spcPts val="0"/>
              </a:spcBef>
              <a:spcAft>
                <a:spcPts val="0"/>
              </a:spcAft>
            </a:pPr>
            <a:r>
              <a:rPr sz="1250" dirty="0">
                <a:solidFill>
                  <a:srgbClr val="F2F2F2"/>
                </a:solidFill>
                <a:latin typeface="Consolas"/>
              </a:rPr>
              <a:t>log file sync        21,405     21.1  3.7 Commit</a:t>
            </a:r>
          </a:p>
          <a:p>
            <a:pPr>
              <a:spcBef>
                <a:spcPts val="0"/>
              </a:spcBef>
              <a:spcAft>
                <a:spcPts val="0"/>
              </a:spcAft>
            </a:pPr>
            <a:r>
              <a:rPr sz="1250" dirty="0" err="1">
                <a:solidFill>
                  <a:srgbClr val="F2F2F2"/>
                </a:solidFill>
                <a:latin typeface="Consolas"/>
              </a:rPr>
              <a:t>kksfbc</a:t>
            </a:r>
            <a:r>
              <a:rPr sz="1250" dirty="0">
                <a:solidFill>
                  <a:srgbClr val="F2F2F2"/>
                </a:solidFill>
                <a:latin typeface="Consolas"/>
              </a:rPr>
              <a:t> child </a:t>
            </a:r>
            <a:r>
              <a:rPr sz="1250" dirty="0" err="1">
                <a:solidFill>
                  <a:srgbClr val="F2F2F2"/>
                </a:solidFill>
                <a:latin typeface="Consolas"/>
              </a:rPr>
              <a:t>compl</a:t>
            </a:r>
            <a:r>
              <a:rPr sz="1250" dirty="0">
                <a:solidFill>
                  <a:srgbClr val="F2F2F2"/>
                </a:solidFill>
                <a:latin typeface="Consolas"/>
              </a:rPr>
              <a:t>.     130      6.4  1.1 Other</a:t>
            </a:r>
          </a:p>
          <a:p>
            <a:pPr>
              <a:spcBef>
                <a:spcPts val="0"/>
              </a:spcBef>
              <a:spcAft>
                <a:spcPts val="0"/>
              </a:spcAft>
            </a:pPr>
            <a:r>
              <a:rPr sz="1250" dirty="0" err="1">
                <a:solidFill>
                  <a:srgbClr val="F2F2F2"/>
                </a:solidFill>
                <a:latin typeface="Consolas"/>
              </a:rPr>
              <a:t>db</a:t>
            </a:r>
            <a:r>
              <a:rPr sz="1250" dirty="0">
                <a:solidFill>
                  <a:srgbClr val="F2F2F2"/>
                </a:solidFill>
                <a:latin typeface="Consolas"/>
              </a:rPr>
              <a:t> file sequential    1,681      3.2   .6 User I/O</a:t>
            </a:r>
          </a:p>
          <a:p>
            <a:pPr>
              <a:spcBef>
                <a:spcPts val="0"/>
              </a:spcBef>
              <a:spcAft>
                <a:spcPts val="0"/>
              </a:spcAft>
            </a:pPr>
            <a:r>
              <a:rPr sz="1250" dirty="0">
                <a:solidFill>
                  <a:srgbClr val="F2F2F2"/>
                </a:solidFill>
                <a:latin typeface="Consolas"/>
              </a:rPr>
              <a:t>cursor: pin S wait X    609       .9   .1 </a:t>
            </a:r>
            <a:r>
              <a:rPr sz="1250" dirty="0" err="1">
                <a:solidFill>
                  <a:srgbClr val="F2F2F2"/>
                </a:solidFill>
                <a:latin typeface="Consolas"/>
              </a:rPr>
              <a:t>Concurr</a:t>
            </a:r>
            <a:endParaRPr sz="1250" dirty="0">
              <a:solidFill>
                <a:srgbClr val="F2F2F2"/>
              </a:solidFill>
              <a:latin typeface="Consolas"/>
            </a:endParaRPr>
          </a:p>
          <a:p>
            <a:pPr>
              <a:spcBef>
                <a:spcPts val="0"/>
              </a:spcBef>
              <a:spcAft>
                <a:spcPts val="0"/>
              </a:spcAft>
            </a:pPr>
            <a:r>
              <a:rPr sz="1250" dirty="0">
                <a:solidFill>
                  <a:srgbClr val="F2F2F2"/>
                </a:solidFill>
                <a:latin typeface="Consolas"/>
              </a:rPr>
              <a:t>library </a:t>
            </a:r>
            <a:r>
              <a:rPr sz="1250" dirty="0" err="1">
                <a:solidFill>
                  <a:srgbClr val="F2F2F2"/>
                </a:solidFill>
                <a:latin typeface="Consolas"/>
              </a:rPr>
              <a:t>cache:mutex</a:t>
            </a:r>
            <a:r>
              <a:rPr sz="1250" dirty="0">
                <a:solidFill>
                  <a:srgbClr val="F2F2F2"/>
                </a:solidFill>
                <a:latin typeface="Consolas"/>
              </a:rPr>
              <a:t> X   180       .4   .1 </a:t>
            </a:r>
            <a:r>
              <a:rPr sz="1250" dirty="0" err="1">
                <a:solidFill>
                  <a:srgbClr val="F2F2F2"/>
                </a:solidFill>
                <a:latin typeface="Consolas"/>
              </a:rPr>
              <a:t>Concurr</a:t>
            </a:r>
            <a:endParaRPr sz="1250" dirty="0">
              <a:solidFill>
                <a:srgbClr val="F2F2F2"/>
              </a:solidFill>
              <a:latin typeface="Consolas"/>
            </a:endParaRPr>
          </a:p>
          <a:p>
            <a:pPr>
              <a:spcBef>
                <a:spcPts val="0"/>
              </a:spcBef>
              <a:spcAft>
                <a:spcPts val="0"/>
              </a:spcAft>
            </a:pPr>
            <a:r>
              <a:rPr sz="1250" dirty="0">
                <a:solidFill>
                  <a:srgbClr val="F2F2F2"/>
                </a:solidFill>
                <a:latin typeface="Consolas"/>
              </a:rPr>
              <a:t>latch: shared pool    3,506       .3   .1 </a:t>
            </a:r>
            <a:r>
              <a:rPr sz="1250" dirty="0" err="1">
                <a:solidFill>
                  <a:srgbClr val="F2F2F2"/>
                </a:solidFill>
                <a:latin typeface="Consolas"/>
              </a:rPr>
              <a:t>Concurr</a:t>
            </a:r>
            <a:endParaRPr sz="1250" dirty="0">
              <a:solidFill>
                <a:srgbClr val="F2F2F2"/>
              </a:solidFill>
              <a:latin typeface="Consolas"/>
            </a:endParaRPr>
          </a:p>
          <a:p>
            <a:pPr>
              <a:spcBef>
                <a:spcPts val="0"/>
              </a:spcBef>
              <a:spcAft>
                <a:spcPts val="0"/>
              </a:spcAft>
            </a:pPr>
            <a:r>
              <a:rPr sz="1250" dirty="0">
                <a:solidFill>
                  <a:srgbClr val="F2F2F2"/>
                </a:solidFill>
                <a:latin typeface="Consolas"/>
              </a:rPr>
              <a:t>SQL*Net msg to </a:t>
            </a:r>
            <a:r>
              <a:rPr sz="1250" dirty="0" err="1">
                <a:solidFill>
                  <a:srgbClr val="F2F2F2"/>
                </a:solidFill>
                <a:latin typeface="Consolas"/>
              </a:rPr>
              <a:t>clnt</a:t>
            </a:r>
            <a:r>
              <a:rPr sz="1250" dirty="0">
                <a:solidFill>
                  <a:srgbClr val="F2F2F2"/>
                </a:solidFill>
                <a:latin typeface="Consolas"/>
              </a:rPr>
              <a:t> 125,937       .3   .0 Network</a:t>
            </a:r>
          </a:p>
        </p:txBody>
      </p:sp>
    </p:spTree>
    <p:extLst>
      <p:ext uri="{BB962C8B-B14F-4D97-AF65-F5344CB8AC3E}">
        <p14:creationId xmlns:p14="http://schemas.microsoft.com/office/powerpoint/2010/main" val="3561802588"/>
      </p:ext>
    </p:extLst>
  </p:cSld>
  <p:clrMapOvr>
    <a:masterClrMapping/>
  </p:clrMapOvr>
</p:sld>
</file>

<file path=ppt/slides/slide8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상위 대기 하나만 보지 않는다</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DB Time 비중과 함께 읽는 법</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DB CPU % DB time이 크면 → CPU가 병목 (SQL·논리읽기 감소)</a:t>
            </a:r>
          </a:p>
          <a:p>
            <a:pPr algn="l">
              <a:spcAft>
                <a:spcPts val="600"/>
              </a:spcAft>
            </a:pPr>
            <a:r>
              <a:rPr sz="1700" b="0">
                <a:solidFill>
                  <a:srgbClr val="222222"/>
                </a:solidFill>
                <a:latin typeface="맑은 고딕"/>
              </a:rPr>
              <a:t>•  대기는 % DB time으로 우선순위 매김 (Total sec 아님)</a:t>
            </a:r>
          </a:p>
          <a:p>
            <a:pPr algn="l">
              <a:spcAft>
                <a:spcPts val="600"/>
              </a:spcAft>
            </a:pPr>
            <a:r>
              <a:rPr sz="1700" b="0">
                <a:solidFill>
                  <a:srgbClr val="222222"/>
                </a:solidFill>
                <a:latin typeface="맑은 고딕"/>
              </a:rPr>
              <a:t>•  같은 클래스(Concurrency) 작은 대기 = 하드파싱 경합으로 묶기</a:t>
            </a:r>
          </a:p>
          <a:p>
            <a:pPr algn="l">
              <a:spcAft>
                <a:spcPts val="600"/>
              </a:spcAft>
            </a:pPr>
            <a:r>
              <a:rPr sz="1700" b="0">
                <a:solidFill>
                  <a:srgbClr val="222222"/>
                </a:solidFill>
                <a:latin typeface="맑은 고딕"/>
              </a:rPr>
              <a:t>•  Avg Wait: kksfbc 49.58ms(드물지만 길다) vs lfs 0.99ms(잦다)</a:t>
            </a:r>
          </a:p>
          <a:p>
            <a:pPr algn="l">
              <a:spcAft>
                <a:spcPts val="600"/>
              </a:spcAft>
            </a:pPr>
            <a:r>
              <a:rPr sz="1700" b="0">
                <a:solidFill>
                  <a:srgbClr val="222222"/>
                </a:solidFill>
                <a:latin typeface="맑은 고딕"/>
              </a:rPr>
              <a:t>•  처방: 잦으면 빈도↓(커밋 묶기), 길면 그 원인(경합) 제거</a:t>
            </a:r>
          </a:p>
        </p:txBody>
      </p:sp>
    </p:spTree>
    <p:extLst>
      <p:ext uri="{BB962C8B-B14F-4D97-AF65-F5344CB8AC3E}">
        <p14:creationId xmlns:p14="http://schemas.microsoft.com/office/powerpoint/2010/main" val="3120097127"/>
      </p:ext>
    </p:extLst>
  </p:cSld>
  <p:clrMapOvr>
    <a:masterClrMapping/>
  </p:clrMapOvr>
</p:sld>
</file>

<file path=ppt/slides/slide8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대기 이벤트의 의미 — 한 방향을 가리킨다</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작은 대기들이 하드파싱으로 수렴</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kksfbc child completion: 다른 세션이 만드는 자식 커서 대기</a:t>
            </a:r>
          </a:p>
          <a:p>
            <a:pPr algn="l">
              <a:spcAft>
                <a:spcPts val="600"/>
              </a:spcAft>
            </a:pPr>
            <a:r>
              <a:rPr sz="1700" b="0">
                <a:solidFill>
                  <a:srgbClr val="222222"/>
                </a:solidFill>
                <a:latin typeface="맑은 고딕"/>
              </a:rPr>
              <a:t>•  cursor: pin S wait on X: 커서를 S로 잡으려는데 X로 바뀌는 중</a:t>
            </a:r>
          </a:p>
          <a:p>
            <a:pPr algn="l">
              <a:spcAft>
                <a:spcPts val="600"/>
              </a:spcAft>
            </a:pPr>
            <a:r>
              <a:rPr sz="1700" b="0">
                <a:solidFill>
                  <a:srgbClr val="222222"/>
                </a:solidFill>
                <a:latin typeface="맑은 고딕"/>
              </a:rPr>
              <a:t>•  library cache: mutex X / latch: shared pool: 공유 풀 직렬화 경합</a:t>
            </a:r>
          </a:p>
          <a:p>
            <a:pPr algn="l">
              <a:spcAft>
                <a:spcPts val="600"/>
              </a:spcAft>
            </a:pPr>
            <a:r>
              <a:rPr sz="1700" b="0">
                <a:solidFill>
                  <a:srgbClr val="222222"/>
                </a:solidFill>
                <a:latin typeface="맑은 고딕"/>
              </a:rPr>
              <a:t>•  네 대기 모두 Concurrency/Other → 공유 풀 커서 경합</a:t>
            </a:r>
          </a:p>
          <a:p>
            <a:pPr algn="l">
              <a:spcAft>
                <a:spcPts val="600"/>
              </a:spcAft>
            </a:pPr>
            <a:r>
              <a:rPr sz="1700" b="0">
                <a:solidFill>
                  <a:srgbClr val="222222"/>
                </a:solidFill>
                <a:latin typeface="맑은 고딕"/>
              </a:rPr>
              <a:t>•  근본 원인 = 초당 319번의 하드 파싱(Load Profile과 일치)</a:t>
            </a:r>
          </a:p>
        </p:txBody>
      </p:sp>
    </p:spTree>
    <p:extLst>
      <p:ext uri="{BB962C8B-B14F-4D97-AF65-F5344CB8AC3E}">
        <p14:creationId xmlns:p14="http://schemas.microsoft.com/office/powerpoint/2010/main" val="2785519447"/>
      </p:ext>
    </p:extLst>
  </p:cSld>
  <p:clrMapOvr>
    <a:masterClrMapping/>
  </p:clrMapOvr>
</p:sld>
</file>

<file path=ppt/slides/slide8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22.6</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Instance Efficiency</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400"/>
              </a:spcAft>
            </a:pPr>
            <a:r>
              <a:rPr sz="1600" b="0">
                <a:solidFill>
                  <a:srgbClr val="FFFFFF"/>
                </a:solidFill>
                <a:latin typeface="맑은 고딕"/>
              </a:rPr>
              <a:t>•  'Target 100%'를 믿지 않는다</a:t>
            </a:r>
          </a:p>
          <a:p>
            <a:pPr algn="l">
              <a:spcAft>
                <a:spcPts val="400"/>
              </a:spcAft>
            </a:pPr>
            <a:r>
              <a:rPr sz="1600" b="0">
                <a:solidFill>
                  <a:srgbClr val="FFFFFF"/>
                </a:solidFill>
                <a:latin typeface="맑은 고딕"/>
              </a:rPr>
              <a:t>•  Buffer Hit 100% = 함정일 수 있다</a:t>
            </a:r>
          </a:p>
          <a:p>
            <a:pPr algn="l">
              <a:spcAft>
                <a:spcPts val="400"/>
              </a:spcAft>
            </a:pPr>
            <a:r>
              <a:rPr sz="1600" b="0">
                <a:solidFill>
                  <a:srgbClr val="FFFFFF"/>
                </a:solidFill>
                <a:latin typeface="맑은 고딕"/>
              </a:rPr>
              <a:t>•  낮은 값(Soft Parse·Library Hit)이 단서</a:t>
            </a:r>
          </a:p>
          <a:p>
            <a:pPr algn="l">
              <a:spcAft>
                <a:spcPts val="400"/>
              </a:spcAft>
            </a:pPr>
            <a:r>
              <a:rPr sz="1600" b="0">
                <a:solidFill>
                  <a:srgbClr val="FFFFFF"/>
                </a:solidFill>
                <a:latin typeface="맑은 고딕"/>
              </a:rPr>
              <a:t>•  단독 판정 금지 — 교차 검증</a:t>
            </a:r>
          </a:p>
        </p:txBody>
      </p:sp>
    </p:spTree>
    <p:extLst>
      <p:ext uri="{BB962C8B-B14F-4D97-AF65-F5344CB8AC3E}">
        <p14:creationId xmlns:p14="http://schemas.microsoft.com/office/powerpoint/2010/main" val="1398914644"/>
      </p:ext>
    </p:extLst>
  </p:cSld>
  <p:clrMapOvr>
    <a:masterClrMapping/>
  </p:clrMapOvr>
</p:sld>
</file>

<file path=ppt/slides/slide8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Instance Efficiency 실측</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낮은 값이 진단의 단서다</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09728" rtlCol="0" anchor="t"/>
          <a:lstStyle/>
          <a:p>
            <a:pPr>
              <a:spcBef>
                <a:spcPts val="0"/>
              </a:spcBef>
              <a:spcAft>
                <a:spcPts val="0"/>
              </a:spcAft>
            </a:pPr>
            <a:r>
              <a:rPr sz="1250" dirty="0">
                <a:solidFill>
                  <a:srgbClr val="F2F2F2"/>
                </a:solidFill>
                <a:latin typeface="Consolas"/>
              </a:rPr>
              <a:t>Instance Efficiency (Target 100%)</a:t>
            </a:r>
          </a:p>
          <a:p>
            <a:pPr>
              <a:spcBef>
                <a:spcPts val="0"/>
              </a:spcBef>
              <a:spcAft>
                <a:spcPts val="0"/>
              </a:spcAft>
            </a:pPr>
            <a:r>
              <a:rPr sz="1250" dirty="0">
                <a:solidFill>
                  <a:srgbClr val="F2F2F2"/>
                </a:solidFill>
                <a:latin typeface="Consolas"/>
              </a:rPr>
              <a:t>~~~~~~~~~~~~~~~~~~~~~~~~~~~~~~~~~~~</a:t>
            </a:r>
          </a:p>
          <a:p>
            <a:pPr>
              <a:spcBef>
                <a:spcPts val="0"/>
              </a:spcBef>
              <a:spcAft>
                <a:spcPts val="0"/>
              </a:spcAft>
            </a:pPr>
            <a:r>
              <a:rPr sz="1250" dirty="0">
                <a:solidFill>
                  <a:srgbClr val="F2F2F2"/>
                </a:solidFill>
                <a:latin typeface="Consolas"/>
              </a:rPr>
              <a:t>   Buffer </a:t>
            </a:r>
            <a:r>
              <a:rPr sz="1250" dirty="0" err="1">
                <a:solidFill>
                  <a:srgbClr val="F2F2F2"/>
                </a:solidFill>
                <a:latin typeface="Consolas"/>
              </a:rPr>
              <a:t>Nowait</a:t>
            </a:r>
            <a:r>
              <a:rPr sz="1250" dirty="0">
                <a:solidFill>
                  <a:srgbClr val="F2F2F2"/>
                </a:solidFill>
                <a:latin typeface="Consolas"/>
              </a:rPr>
              <a:t> %: 100.00  Redo </a:t>
            </a:r>
            <a:r>
              <a:rPr sz="1250" dirty="0" err="1">
                <a:solidFill>
                  <a:srgbClr val="F2F2F2"/>
                </a:solidFill>
                <a:latin typeface="Consolas"/>
              </a:rPr>
              <a:t>NoWait</a:t>
            </a:r>
            <a:r>
              <a:rPr sz="1250" dirty="0">
                <a:solidFill>
                  <a:srgbClr val="F2F2F2"/>
                </a:solidFill>
                <a:latin typeface="Consolas"/>
              </a:rPr>
              <a:t> %: 100.00</a:t>
            </a:r>
          </a:p>
          <a:p>
            <a:pPr>
              <a:spcBef>
                <a:spcPts val="0"/>
              </a:spcBef>
              <a:spcAft>
                <a:spcPts val="0"/>
              </a:spcAft>
            </a:pPr>
            <a:r>
              <a:rPr sz="1250" dirty="0">
                <a:solidFill>
                  <a:srgbClr val="F2F2F2"/>
                </a:solidFill>
                <a:latin typeface="Consolas"/>
              </a:rPr>
              <a:t>   Buffer  Hit   %: 100.00  In-mem Sort  %: 100.00</a:t>
            </a:r>
          </a:p>
          <a:p>
            <a:pPr>
              <a:spcBef>
                <a:spcPts val="0"/>
              </a:spcBef>
              <a:spcAft>
                <a:spcPts val="0"/>
              </a:spcAft>
            </a:pPr>
            <a:r>
              <a:rPr sz="1250" dirty="0">
                <a:solidFill>
                  <a:srgbClr val="F2F2F2"/>
                </a:solidFill>
                <a:latin typeface="Consolas"/>
              </a:rPr>
              <a:t>   Library Hit   %:  59.36  Soft Parse   %:  26.46</a:t>
            </a:r>
          </a:p>
          <a:p>
            <a:pPr>
              <a:spcBef>
                <a:spcPts val="0"/>
              </a:spcBef>
              <a:spcAft>
                <a:spcPts val="0"/>
              </a:spcAft>
            </a:pPr>
            <a:r>
              <a:rPr sz="1250" dirty="0">
                <a:solidFill>
                  <a:srgbClr val="F2F2F2"/>
                </a:solidFill>
                <a:latin typeface="Consolas"/>
              </a:rPr>
              <a:t>Execute to Parse %:  36.72  Latch Hit    %:  99.93</a:t>
            </a:r>
          </a:p>
          <a:p>
            <a:pPr>
              <a:spcBef>
                <a:spcPts val="0"/>
              </a:spcBef>
              <a:spcAft>
                <a:spcPts val="0"/>
              </a:spcAft>
            </a:pPr>
            <a:r>
              <a:rPr sz="1250" dirty="0">
                <a:solidFill>
                  <a:srgbClr val="F2F2F2"/>
                </a:solidFill>
                <a:latin typeface="Consolas"/>
              </a:rPr>
              <a:t>Parse CPU/</a:t>
            </a:r>
            <a:r>
              <a:rPr sz="1250" dirty="0" err="1">
                <a:solidFill>
                  <a:srgbClr val="F2F2F2"/>
                </a:solidFill>
                <a:latin typeface="Consolas"/>
              </a:rPr>
              <a:t>Elapsd</a:t>
            </a:r>
            <a:r>
              <a:rPr sz="1250" dirty="0">
                <a:solidFill>
                  <a:srgbClr val="F2F2F2"/>
                </a:solidFill>
                <a:latin typeface="Consolas"/>
              </a:rPr>
              <a:t> %:  37.71  %Non-Parse CPU: 96.68</a:t>
            </a:r>
          </a:p>
        </p:txBody>
      </p:sp>
    </p:spTree>
    <p:extLst>
      <p:ext uri="{BB962C8B-B14F-4D97-AF65-F5344CB8AC3E}">
        <p14:creationId xmlns:p14="http://schemas.microsoft.com/office/powerpoint/2010/main" val="3973023731"/>
      </p:ext>
    </p:extLst>
  </p:cSld>
  <p:clrMapOvr>
    <a:masterClrMapping/>
  </p:clrMapOvr>
</p:sld>
</file>

<file path=ppt/slides/slide8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히트율의 함정과 낮은 값의 단서</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비율은 단독으로 좋고 나쁨을 결정하지 않는다</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Buffer Hit 100% → 과도한 논리읽기를 오히려 은폐 (ch31 심화)</a:t>
            </a:r>
          </a:p>
          <a:p>
            <a:pPr algn="l">
              <a:spcAft>
                <a:spcPts val="600"/>
              </a:spcAft>
            </a:pPr>
            <a:r>
              <a:rPr sz="1700" b="0">
                <a:solidFill>
                  <a:srgbClr val="222222"/>
                </a:solidFill>
                <a:latin typeface="맑은 고딕"/>
              </a:rPr>
              <a:t>•  Soft Parse 26% → 하드 파싱 74% = 리터럴 신호(핵심)</a:t>
            </a:r>
          </a:p>
          <a:p>
            <a:pPr algn="l">
              <a:spcAft>
                <a:spcPts val="600"/>
              </a:spcAft>
            </a:pPr>
            <a:r>
              <a:rPr sz="1700" b="0">
                <a:solidFill>
                  <a:srgbClr val="222222"/>
                </a:solidFill>
                <a:latin typeface="맑은 고딕"/>
              </a:rPr>
              <a:t>•  Library Hit 59% → 커서 재사용 실패, 공유 풀 경합 유발</a:t>
            </a:r>
          </a:p>
          <a:p>
            <a:pPr algn="l">
              <a:spcAft>
                <a:spcPts val="600"/>
              </a:spcAft>
            </a:pPr>
            <a:r>
              <a:rPr sz="1700" b="0">
                <a:solidFill>
                  <a:srgbClr val="222222"/>
                </a:solidFill>
                <a:latin typeface="맑은 고딕"/>
              </a:rPr>
              <a:t>•  Execute to Parse 37% → 커서를 몇 번 못 쓰고 버림</a:t>
            </a:r>
          </a:p>
          <a:p>
            <a:pPr algn="l">
              <a:spcAft>
                <a:spcPts val="600"/>
              </a:spcAft>
            </a:pPr>
            <a:r>
              <a:rPr sz="1700" b="0">
                <a:solidFill>
                  <a:srgbClr val="222222"/>
                </a:solidFill>
                <a:latin typeface="맑은 고딕"/>
              </a:rPr>
              <a:t>•  Nowait·Latch·Redo 100%는 '그 자원이 병목 아님'일 뿐</a:t>
            </a:r>
          </a:p>
          <a:p>
            <a:pPr algn="l">
              <a:spcAft>
                <a:spcPts val="600"/>
              </a:spcAft>
            </a:pPr>
            <a:r>
              <a:rPr sz="1700" b="0">
                <a:solidFill>
                  <a:srgbClr val="222222"/>
                </a:solidFill>
                <a:latin typeface="맑은 고딕"/>
              </a:rPr>
              <a:t>•  → Load Profile·Top Events와 교차 검증</a:t>
            </a:r>
          </a:p>
        </p:txBody>
      </p:sp>
    </p:spTree>
    <p:extLst>
      <p:ext uri="{BB962C8B-B14F-4D97-AF65-F5344CB8AC3E}">
        <p14:creationId xmlns:p14="http://schemas.microsoft.com/office/powerpoint/2010/main" val="3442143665"/>
      </p:ext>
    </p:extLst>
  </p:cSld>
  <p:clrMapOvr>
    <a:masterClrMapping/>
  </p:clrMapOvr>
</p:sld>
</file>

<file path=ppt/slides/slide8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22.7</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SQL 정렬 섹션</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400"/>
              </a:spcAft>
            </a:pPr>
            <a:r>
              <a:rPr sz="1600" b="0">
                <a:solidFill>
                  <a:srgbClr val="FFFFFF"/>
                </a:solidFill>
                <a:latin typeface="맑은 고딕"/>
              </a:rPr>
              <a:t>•  무엇이(CPU·파싱) → 누가(어느 SQL)로 좁힌다</a:t>
            </a:r>
          </a:p>
          <a:p>
            <a:pPr algn="l">
              <a:spcAft>
                <a:spcPts val="400"/>
              </a:spcAft>
            </a:pPr>
            <a:r>
              <a:rPr sz="1600" b="0">
                <a:solidFill>
                  <a:srgbClr val="FFFFFF"/>
                </a:solidFill>
                <a:latin typeface="맑은 고딕"/>
              </a:rPr>
              <a:t>•  진단 가설에 맞는 정렬 기준 선택</a:t>
            </a:r>
          </a:p>
          <a:p>
            <a:pPr algn="l">
              <a:spcAft>
                <a:spcPts val="400"/>
              </a:spcAft>
            </a:pPr>
            <a:r>
              <a:rPr sz="1600" b="0">
                <a:solidFill>
                  <a:srgbClr val="FFFFFF"/>
                </a:solidFill>
                <a:latin typeface="맑은 고딕"/>
              </a:rPr>
              <a:t>•  이 구간: Elapsed Time + Gets</a:t>
            </a:r>
          </a:p>
          <a:p>
            <a:pPr algn="l">
              <a:spcAft>
                <a:spcPts val="400"/>
              </a:spcAft>
            </a:pPr>
            <a:r>
              <a:rPr sz="1600" b="0">
                <a:solidFill>
                  <a:srgbClr val="FFFFFF"/>
                </a:solidFill>
                <a:latin typeface="맑은 고딕"/>
              </a:rPr>
              <a:t>•  결론은 인스턴스 층위까지, 재작성은 SQL 튜닝으로</a:t>
            </a:r>
          </a:p>
        </p:txBody>
      </p:sp>
    </p:spTree>
    <p:extLst>
      <p:ext uri="{BB962C8B-B14F-4D97-AF65-F5344CB8AC3E}">
        <p14:creationId xmlns:p14="http://schemas.microsoft.com/office/powerpoint/2010/main" val="402339905"/>
      </p:ext>
    </p:extLst>
  </p:cSld>
  <p:clrMapOvr>
    <a:masterClrMapping/>
  </p:clrMapOvr>
</p:sld>
</file>

<file path=ppt/slides/slide8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SQL ordered by Elapsed / Gets</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같은 SQL이 두 정렬 모두 1위</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09728" rtlCol="0" anchor="t"/>
          <a:lstStyle/>
          <a:p>
            <a:pPr>
              <a:spcBef>
                <a:spcPts val="0"/>
              </a:spcBef>
              <a:spcAft>
                <a:spcPts val="0"/>
              </a:spcAft>
            </a:pPr>
            <a:r>
              <a:rPr sz="1250" dirty="0">
                <a:solidFill>
                  <a:srgbClr val="F2F2F2"/>
                </a:solidFill>
                <a:latin typeface="Consolas"/>
              </a:rPr>
              <a:t>SQL ordered by Elapsed Time</a:t>
            </a:r>
          </a:p>
          <a:p>
            <a:pPr>
              <a:spcBef>
                <a:spcPts val="0"/>
              </a:spcBef>
              <a:spcAft>
                <a:spcPts val="0"/>
              </a:spcAft>
            </a:pPr>
            <a:r>
              <a:rPr sz="1250" dirty="0">
                <a:solidFill>
                  <a:srgbClr val="F2F2F2"/>
                </a:solidFill>
                <a:latin typeface="Consolas"/>
              </a:rPr>
              <a:t>  Elapsed  Exec  /Exec %Total %CPU  SQL Id</a:t>
            </a:r>
          </a:p>
          <a:p>
            <a:pPr>
              <a:spcBef>
                <a:spcPts val="0"/>
              </a:spcBef>
              <a:spcAft>
                <a:spcPts val="0"/>
              </a:spcAft>
            </a:pPr>
            <a:r>
              <a:rPr sz="1250" dirty="0">
                <a:solidFill>
                  <a:srgbClr val="F2F2F2"/>
                </a:solidFill>
                <a:latin typeface="Consolas"/>
              </a:rPr>
              <a:t>  ------- ----- ----- ------ ---- -------------</a:t>
            </a:r>
          </a:p>
          <a:p>
            <a:pPr>
              <a:spcBef>
                <a:spcPts val="0"/>
              </a:spcBef>
              <a:spcAft>
                <a:spcPts val="0"/>
              </a:spcAft>
            </a:pPr>
            <a:r>
              <a:rPr sz="1250" dirty="0">
                <a:solidFill>
                  <a:srgbClr val="F2F2F2"/>
                </a:solidFill>
                <a:latin typeface="Consolas"/>
              </a:rPr>
              <a:t>    190.6 5,912  0.03   33.2 95.8 9vmszgd1ft9x0</a:t>
            </a:r>
          </a:p>
          <a:p>
            <a:pPr>
              <a:spcBef>
                <a:spcPts val="0"/>
              </a:spcBef>
              <a:spcAft>
                <a:spcPts val="0"/>
              </a:spcAft>
            </a:pPr>
            <a:r>
              <a:rPr sz="1250" dirty="0">
                <a:solidFill>
                  <a:srgbClr val="F2F2F2"/>
                </a:solidFill>
                <a:latin typeface="Consolas"/>
              </a:rPr>
              <a:t>  Module: python ...</a:t>
            </a:r>
          </a:p>
          <a:p>
            <a:pPr>
              <a:spcBef>
                <a:spcPts val="0"/>
              </a:spcBef>
              <a:spcAft>
                <a:spcPts val="0"/>
              </a:spcAft>
            </a:pPr>
            <a:r>
              <a:rPr sz="1250" dirty="0">
                <a:solidFill>
                  <a:srgbClr val="F2F2F2"/>
                </a:solidFill>
                <a:latin typeface="Consolas"/>
              </a:rPr>
              <a:t> </a:t>
            </a:r>
          </a:p>
          <a:p>
            <a:pPr>
              <a:spcBef>
                <a:spcPts val="0"/>
              </a:spcBef>
              <a:spcAft>
                <a:spcPts val="0"/>
              </a:spcAft>
            </a:pPr>
            <a:r>
              <a:rPr sz="1250" dirty="0">
                <a:solidFill>
                  <a:srgbClr val="F2F2F2"/>
                </a:solidFill>
                <a:latin typeface="Consolas"/>
              </a:rPr>
              <a:t>SQL ordered by Gets  (Total Gets: 122,836,337)</a:t>
            </a:r>
          </a:p>
          <a:p>
            <a:pPr>
              <a:spcBef>
                <a:spcPts val="0"/>
              </a:spcBef>
              <a:spcAft>
                <a:spcPts val="0"/>
              </a:spcAft>
            </a:pPr>
            <a:r>
              <a:rPr sz="1250" dirty="0">
                <a:solidFill>
                  <a:srgbClr val="F2F2F2"/>
                </a:solidFill>
                <a:latin typeface="Consolas"/>
              </a:rPr>
              <a:t>     Gets   Exec   /Exec %Total %CPU  SQL Id</a:t>
            </a:r>
          </a:p>
          <a:p>
            <a:pPr>
              <a:spcBef>
                <a:spcPts val="0"/>
              </a:spcBef>
              <a:spcAft>
                <a:spcPts val="0"/>
              </a:spcAft>
            </a:pPr>
            <a:r>
              <a:rPr sz="1250" dirty="0">
                <a:solidFill>
                  <a:srgbClr val="F2F2F2"/>
                </a:solidFill>
                <a:latin typeface="Consolas"/>
              </a:rPr>
              <a:t>  --------- ----- ------- ----- ---- -------------</a:t>
            </a:r>
          </a:p>
          <a:p>
            <a:pPr>
              <a:spcBef>
                <a:spcPts val="0"/>
              </a:spcBef>
              <a:spcAft>
                <a:spcPts val="0"/>
              </a:spcAft>
            </a:pPr>
            <a:r>
              <a:rPr sz="1250" dirty="0">
                <a:solidFill>
                  <a:srgbClr val="F2F2F2"/>
                </a:solidFill>
                <a:latin typeface="Consolas"/>
              </a:rPr>
              <a:t>  39,149,973 5,912 6,622  31.9 95.8 9vmszgd1ft9x0</a:t>
            </a:r>
          </a:p>
        </p:txBody>
      </p:sp>
    </p:spTree>
    <p:extLst>
      <p:ext uri="{BB962C8B-B14F-4D97-AF65-F5344CB8AC3E}">
        <p14:creationId xmlns:p14="http://schemas.microsoft.com/office/powerpoint/2010/main" val="260396712"/>
      </p:ext>
    </p:extLst>
  </p:cSld>
  <p:clrMapOvr>
    <a:masterClrMapping/>
  </p:clrMapOvr>
</p:sld>
</file>

<file path=ppt/slides/slide8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정렬 기준을 진단에 맞춰 고른다</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아무 정렬의 1위나 지목하지 않는다</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CPU·논리읽기 문제 → Elapsed Time, Gets</a:t>
            </a:r>
          </a:p>
          <a:p>
            <a:pPr algn="l">
              <a:spcAft>
                <a:spcPts val="600"/>
              </a:spcAft>
            </a:pPr>
            <a:r>
              <a:rPr sz="1700" b="0">
                <a:solidFill>
                  <a:srgbClr val="222222"/>
                </a:solidFill>
                <a:latin typeface="맑은 고딕"/>
              </a:rPr>
              <a:t>•  디스크 문제 → Reads (이 구간은 물리읽기 낮아 우선순위↓)</a:t>
            </a:r>
          </a:p>
          <a:p>
            <a:pPr algn="l">
              <a:spcAft>
                <a:spcPts val="600"/>
              </a:spcAft>
            </a:pPr>
            <a:r>
              <a:rPr sz="1700" b="0">
                <a:solidFill>
                  <a:srgbClr val="222222"/>
                </a:solidFill>
                <a:latin typeface="맑은 고딕"/>
              </a:rPr>
              <a:t>•  파싱 문제 → Parse Calls (리터럴 SQL 직접 지목)</a:t>
            </a:r>
          </a:p>
          <a:p>
            <a:pPr algn="l">
              <a:spcAft>
                <a:spcPts val="600"/>
              </a:spcAft>
            </a:pPr>
            <a:r>
              <a:rPr sz="1700" b="0">
                <a:solidFill>
                  <a:srgbClr val="222222"/>
                </a:solidFill>
                <a:latin typeface="맑은 고딕"/>
              </a:rPr>
              <a:t>•  너무 자주 도는 SQL → Executions</a:t>
            </a:r>
          </a:p>
          <a:p>
            <a:pPr algn="l">
              <a:spcAft>
                <a:spcPts val="600"/>
              </a:spcAft>
            </a:pPr>
            <a:r>
              <a:rPr sz="1700" b="0">
                <a:solidFill>
                  <a:srgbClr val="222222"/>
                </a:solidFill>
                <a:latin typeface="맑은 고딕"/>
              </a:rPr>
              <a:t>•  Captured SQL 34.6%뿐 → 리터럴이 조각나 순위 밖에 흩어짐</a:t>
            </a:r>
          </a:p>
          <a:p>
            <a:pPr algn="l">
              <a:spcAft>
                <a:spcPts val="600"/>
              </a:spcAft>
            </a:pPr>
            <a:r>
              <a:rPr sz="1700" b="0">
                <a:solidFill>
                  <a:srgbClr val="222222"/>
                </a:solidFill>
                <a:latin typeface="맑은 고딕"/>
              </a:rPr>
              <a:t>•  두 정렬이 같은 SQL을 가리키면 진단 신뢰도↑</a:t>
            </a:r>
          </a:p>
        </p:txBody>
      </p:sp>
    </p:spTree>
    <p:extLst>
      <p:ext uri="{BB962C8B-B14F-4D97-AF65-F5344CB8AC3E}">
        <p14:creationId xmlns:p14="http://schemas.microsoft.com/office/powerpoint/2010/main" val="2906449509"/>
      </p:ext>
    </p:extLst>
  </p:cSld>
  <p:clrMapOvr>
    <a:masterClrMapping/>
  </p:clrMapOvr>
</p:sld>
</file>

<file path=ppt/slides/slide8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Instance Activity Stats — 확증과 반증</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여기서 새 이론을 세우지 않는다</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parse count (hard) 델타 ≈ 319/s×100초 → 하드파싱 확증</a:t>
            </a:r>
          </a:p>
          <a:p>
            <a:pPr algn="l">
              <a:spcAft>
                <a:spcPts val="600"/>
              </a:spcAft>
            </a:pPr>
            <a:r>
              <a:rPr sz="1700" b="0">
                <a:solidFill>
                  <a:srgbClr val="222222"/>
                </a:solidFill>
                <a:latin typeface="맑은 고딕"/>
              </a:rPr>
              <a:t>•  session logical reads ≈ Total Gets 1억2천만 → 논리읽기 확증</a:t>
            </a:r>
          </a:p>
          <a:p>
            <a:pPr algn="l">
              <a:spcAft>
                <a:spcPts val="600"/>
              </a:spcAft>
            </a:pPr>
            <a:r>
              <a:rPr sz="1700" b="0">
                <a:solidFill>
                  <a:srgbClr val="222222"/>
                </a:solidFill>
                <a:latin typeface="맑은 고딕"/>
              </a:rPr>
              <a:t>•  table scans (long) 크면 → 인덱스 못 타는 대량 스캔 확증</a:t>
            </a:r>
          </a:p>
          <a:p>
            <a:pPr algn="l">
              <a:spcAft>
                <a:spcPts val="600"/>
              </a:spcAft>
            </a:pPr>
            <a:r>
              <a:rPr sz="1700" b="0">
                <a:solidFill>
                  <a:srgbClr val="222222"/>
                </a:solidFill>
                <a:latin typeface="맑은 고딕"/>
              </a:rPr>
              <a:t>•  session cursor cache hits 낮음 → 커서 재사용 실패 확증</a:t>
            </a:r>
          </a:p>
          <a:p>
            <a:pPr algn="l">
              <a:spcAft>
                <a:spcPts val="600"/>
              </a:spcAft>
            </a:pPr>
            <a:r>
              <a:rPr sz="1700" b="0">
                <a:solidFill>
                  <a:srgbClr val="222222"/>
                </a:solidFill>
                <a:latin typeface="맑은 고딕"/>
              </a:rPr>
              <a:t>•  physical reads direct·sorts(disk) 크면 → CPU바운드 가설 수정</a:t>
            </a:r>
          </a:p>
          <a:p>
            <a:pPr algn="l">
              <a:spcAft>
                <a:spcPts val="600"/>
              </a:spcAft>
            </a:pPr>
            <a:r>
              <a:rPr sz="1700" b="0">
                <a:solidFill>
                  <a:srgbClr val="222222"/>
                </a:solidFill>
                <a:latin typeface="맑은 고딕"/>
              </a:rPr>
              <a:t>•  확증만 찾지 말고 반증 통계도 함께 본다(확증 편향 경계)</a:t>
            </a:r>
          </a:p>
        </p:txBody>
      </p:sp>
    </p:spTree>
    <p:extLst>
      <p:ext uri="{BB962C8B-B14F-4D97-AF65-F5344CB8AC3E}">
        <p14:creationId xmlns:p14="http://schemas.microsoft.com/office/powerpoint/2010/main" val="777898063"/>
      </p:ext>
    </p:extLst>
  </p:cSld>
  <p:clrMapOvr>
    <a:masterClrMapping/>
  </p:clrMapOvr>
</p:sld>
</file>

<file path=ppt/slides/slide8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22.9</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Advisory 섹션</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400"/>
              </a:spcAft>
            </a:pPr>
            <a:r>
              <a:rPr sz="1600" b="0">
                <a:solidFill>
                  <a:srgbClr val="FFFFFF"/>
                </a:solidFill>
                <a:latin typeface="맑은 고딕"/>
              </a:rPr>
              <a:t>•  메모리 크기 변경의 예상 효과를 정량화</a:t>
            </a:r>
          </a:p>
          <a:p>
            <a:pPr algn="l">
              <a:spcAft>
                <a:spcPts val="400"/>
              </a:spcAft>
            </a:pPr>
            <a:r>
              <a:rPr sz="1600" b="0">
                <a:solidFill>
                  <a:srgbClr val="FFFFFF"/>
                </a:solidFill>
                <a:latin typeface="맑은 고딕"/>
              </a:rPr>
              <a:t>•  버퍼 캐시: 물리읽기 낮으면 확대 무효</a:t>
            </a:r>
          </a:p>
          <a:p>
            <a:pPr algn="l">
              <a:spcAft>
                <a:spcPts val="400"/>
              </a:spcAft>
            </a:pPr>
            <a:r>
              <a:rPr sz="1600" b="0">
                <a:solidFill>
                  <a:srgbClr val="FFFFFF"/>
                </a:solidFill>
                <a:latin typeface="맑은 고딕"/>
              </a:rPr>
              <a:t>•  공유 풀: 확대는 증상 완화, 바인드가 원인 제거</a:t>
            </a:r>
          </a:p>
          <a:p>
            <a:pPr algn="l">
              <a:spcAft>
                <a:spcPts val="400"/>
              </a:spcAft>
            </a:pPr>
            <a:r>
              <a:rPr sz="1600" b="0">
                <a:solidFill>
                  <a:srgbClr val="FFFFFF"/>
                </a:solidFill>
                <a:latin typeface="맑은 고딕"/>
              </a:rPr>
              <a:t>•  Advisory는 방향이지 명령이 아니다</a:t>
            </a:r>
          </a:p>
        </p:txBody>
      </p:sp>
    </p:spTree>
    <p:extLst>
      <p:ext uri="{BB962C8B-B14F-4D97-AF65-F5344CB8AC3E}">
        <p14:creationId xmlns:p14="http://schemas.microsoft.com/office/powerpoint/2010/main" val="1848606901"/>
      </p:ext>
    </p:extLst>
  </p:cSld>
  <p:clrMapOvr>
    <a:masterClrMapping/>
  </p:clrMapOvr>
</p:sld>
</file>

<file path=ppt/slides/slide8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Advisory 판독 — 늘려서 될 문제인가</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기울기가 꺾이는 지점을 찾는다</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Buffer Pool: 물리읽기 48.8/s → 캐시 2배도 효과 ≈ 0</a:t>
            </a:r>
          </a:p>
          <a:p>
            <a:pPr algn="l">
              <a:spcAft>
                <a:spcPts val="600"/>
              </a:spcAft>
            </a:pPr>
            <a:r>
              <a:rPr sz="1700" b="0">
                <a:solidFill>
                  <a:srgbClr val="222222"/>
                </a:solidFill>
                <a:latin typeface="맑은 고딕"/>
              </a:rPr>
              <a:t>•  Shared Pool: 하드파싱엔 유효하나 근본은 바인드 변수</a:t>
            </a:r>
          </a:p>
          <a:p>
            <a:pPr algn="l">
              <a:spcAft>
                <a:spcPts val="600"/>
              </a:spcAft>
            </a:pPr>
            <a:r>
              <a:rPr sz="1700" b="0">
                <a:solidFill>
                  <a:srgbClr val="222222"/>
                </a:solidFill>
                <a:latin typeface="맑은 고딕"/>
              </a:rPr>
              <a:t>•  PGA: SQL Work Area 102MB → multi-pass 있으면 확대 여지(ch33)</a:t>
            </a:r>
          </a:p>
          <a:p>
            <a:pPr algn="l">
              <a:spcAft>
                <a:spcPts val="600"/>
              </a:spcAft>
            </a:pPr>
            <a:r>
              <a:rPr sz="1700" b="0">
                <a:solidFill>
                  <a:srgbClr val="222222"/>
                </a:solidFill>
                <a:latin typeface="맑은 고딕"/>
              </a:rPr>
              <a:t>•  각 표에서 효과가 평평해지는 지점 이상은 메모리 낭비</a:t>
            </a:r>
          </a:p>
          <a:p>
            <a:pPr algn="l">
              <a:spcAft>
                <a:spcPts val="600"/>
              </a:spcAft>
            </a:pPr>
            <a:r>
              <a:rPr sz="1700" b="0">
                <a:solidFill>
                  <a:srgbClr val="222222"/>
                </a:solidFill>
                <a:latin typeface="맑은 고딕"/>
              </a:rPr>
              <a:t>•  종합: '메모리 늘려 해결할 문제가 아니다'를 숫자로 증명</a:t>
            </a:r>
          </a:p>
        </p:txBody>
      </p:sp>
    </p:spTree>
    <p:extLst>
      <p:ext uri="{BB962C8B-B14F-4D97-AF65-F5344CB8AC3E}">
        <p14:creationId xmlns:p14="http://schemas.microsoft.com/office/powerpoint/2010/main" val="3465294785"/>
      </p:ext>
    </p:extLst>
  </p:cSld>
  <p:clrMapOvr>
    <a:masterClrMapping/>
  </p:clrMapOvr>
</p:sld>
</file>

<file path=ppt/slides/slide8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판독 체크리스트 — 위에서 아래로</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각 단계가 앞 단계 가설을 이어받아 좁힌다</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1. 머리말 — AAS로 부하 유무 (실측 5.7, 부하 있음)</a:t>
            </a:r>
          </a:p>
          <a:p>
            <a:pPr algn="l">
              <a:spcAft>
                <a:spcPts val="600"/>
              </a:spcAft>
            </a:pPr>
            <a:r>
              <a:rPr sz="1700" b="0">
                <a:solidFill>
                  <a:srgbClr val="222222"/>
                </a:solidFill>
                <a:latin typeface="맑은 고딕"/>
              </a:rPr>
              <a:t>•  2. Load Profile — CPU 바운드? (DB CPU≈DB Time)</a:t>
            </a:r>
          </a:p>
          <a:p>
            <a:pPr algn="l">
              <a:spcAft>
                <a:spcPts val="600"/>
              </a:spcAft>
            </a:pPr>
            <a:r>
              <a:rPr sz="1700" b="0">
                <a:solidFill>
                  <a:srgbClr val="222222"/>
                </a:solidFill>
                <a:latin typeface="맑은 고딕"/>
              </a:rPr>
              <a:t>•  3. Load Profile — 논리읽기·하드파싱 비정상? (둘 다)</a:t>
            </a:r>
          </a:p>
          <a:p>
            <a:pPr algn="l">
              <a:spcAft>
                <a:spcPts val="600"/>
              </a:spcAft>
            </a:pPr>
            <a:r>
              <a:rPr sz="1700" b="0">
                <a:solidFill>
                  <a:srgbClr val="222222"/>
                </a:solidFill>
                <a:latin typeface="맑은 고딕"/>
              </a:rPr>
              <a:t>•  4. Top 10 Events — % DB time 1위? (DB CPU 95.7%)</a:t>
            </a:r>
          </a:p>
          <a:p>
            <a:pPr algn="l">
              <a:spcAft>
                <a:spcPts val="600"/>
              </a:spcAft>
            </a:pPr>
            <a:r>
              <a:rPr sz="1700" b="0">
                <a:solidFill>
                  <a:srgbClr val="222222"/>
                </a:solidFill>
                <a:latin typeface="맑은 고딕"/>
              </a:rPr>
              <a:t>•  5. Instance Eff. — 낮은 값? (Soft Parse 26% 리터럴)</a:t>
            </a:r>
          </a:p>
          <a:p>
            <a:pPr algn="l">
              <a:spcAft>
                <a:spcPts val="600"/>
              </a:spcAft>
            </a:pPr>
            <a:r>
              <a:rPr sz="1700" b="0">
                <a:solidFill>
                  <a:srgbClr val="222222"/>
                </a:solidFill>
                <a:latin typeface="맑은 고딕"/>
              </a:rPr>
              <a:t>•  6. SQL 섹션 — 어느 SQL? (9vmszgd1ft9x0)</a:t>
            </a:r>
          </a:p>
          <a:p>
            <a:pPr algn="l">
              <a:spcAft>
                <a:spcPts val="600"/>
              </a:spcAft>
            </a:pPr>
            <a:r>
              <a:rPr sz="1700" b="0">
                <a:solidFill>
                  <a:srgbClr val="222222"/>
                </a:solidFill>
                <a:latin typeface="맑은 고딕"/>
              </a:rPr>
              <a:t>•  7. Advisory — 메모리 효과? (버퍼 무효, 원인은 SQL)</a:t>
            </a:r>
          </a:p>
        </p:txBody>
      </p:sp>
    </p:spTree>
    <p:extLst>
      <p:ext uri="{BB962C8B-B14F-4D97-AF65-F5344CB8AC3E}">
        <p14:creationId xmlns:p14="http://schemas.microsoft.com/office/powerpoint/2010/main" val="1723972910"/>
      </p:ext>
    </p:extLst>
  </p:cSld>
  <p:clrMapOvr>
    <a:masterClrMapping/>
  </p:clrMapOvr>
</p:sld>
</file>

<file path=ppt/slides/slide8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부하 없는 구간 판정</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'문제 없음'도 근거와 함께</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AAS = DB Time/Elapsed ≪ 1 → 진단할 부하 자체가 없음</a:t>
            </a:r>
          </a:p>
          <a:p>
            <a:pPr algn="l">
              <a:spcAft>
                <a:spcPts val="600"/>
              </a:spcAft>
            </a:pPr>
            <a:r>
              <a:rPr sz="1700" b="0">
                <a:solidFill>
                  <a:srgbClr val="222222"/>
                </a:solidFill>
                <a:latin typeface="맑은 고딕"/>
              </a:rPr>
              <a:t>•  보고서는 유휴 구간에도 Top 10을 채워서 낸다(순위는 상대적)</a:t>
            </a:r>
          </a:p>
          <a:p>
            <a:pPr algn="l">
              <a:spcAft>
                <a:spcPts val="600"/>
              </a:spcAft>
            </a:pPr>
            <a:r>
              <a:rPr sz="1700" b="0">
                <a:solidFill>
                  <a:srgbClr val="222222"/>
                </a:solidFill>
                <a:latin typeface="맑은 고딕"/>
              </a:rPr>
              <a:t>•  Idle 이벤트(SQL*Net msg from client)를 병목으로 오판 금지</a:t>
            </a:r>
          </a:p>
          <a:p>
            <a:pPr algn="l">
              <a:spcAft>
                <a:spcPts val="600"/>
              </a:spcAft>
            </a:pPr>
            <a:r>
              <a:rPr sz="1700" b="0">
                <a:solidFill>
                  <a:srgbClr val="222222"/>
                </a:solidFill>
                <a:latin typeface="맑은 고딕"/>
              </a:rPr>
              <a:t>•  머리말에서 부하 유무를 먼저 확인 후 Top Events를 읽는다</a:t>
            </a:r>
          </a:p>
          <a:p>
            <a:pPr algn="l">
              <a:spcAft>
                <a:spcPts val="600"/>
              </a:spcAft>
            </a:pPr>
            <a:r>
              <a:rPr sz="1700" b="0">
                <a:solidFill>
                  <a:srgbClr val="222222"/>
                </a:solidFill>
                <a:latin typeface="맑은 고딕"/>
              </a:rPr>
              <a:t>•  신고 시각 AAS 0.1이면 병목은 DB 밖 → ch34으로 연결</a:t>
            </a:r>
          </a:p>
        </p:txBody>
      </p:sp>
    </p:spTree>
    <p:extLst>
      <p:ext uri="{BB962C8B-B14F-4D97-AF65-F5344CB8AC3E}">
        <p14:creationId xmlns:p14="http://schemas.microsoft.com/office/powerpoint/2010/main" val="582439873"/>
      </p:ext>
    </p:extLst>
  </p:cSld>
  <p:clrMapOvr>
    <a:masterClrMapping/>
  </p:clrMapOvr>
</p:sld>
</file>

<file path=ppt/slides/slide8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라이선스와 대안 — 🔒 Diagnostics Pack</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없는 길도 이 과정은 가르친다</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AWR·ADDM·ASH·DBA_HIST_*·awrrpt.sql = Diagnostics Pack 필요</a:t>
            </a:r>
          </a:p>
          <a:p>
            <a:pPr algn="l">
              <a:spcAft>
                <a:spcPts val="600"/>
              </a:spcAft>
            </a:pPr>
            <a:r>
              <a:rPr sz="1700" b="0">
                <a:solidFill>
                  <a:srgbClr val="222222"/>
                </a:solidFill>
                <a:latin typeface="맑은 고딕"/>
              </a:rPr>
              <a:t>•  CONTROL_MANAGEMENT_PACK_ACCESS ≥ DIAGNOSTIC 이어야 동작</a:t>
            </a:r>
          </a:p>
          <a:p>
            <a:pPr algn="l">
              <a:spcAft>
                <a:spcPts val="600"/>
              </a:spcAft>
            </a:pPr>
            <a:r>
              <a:rPr sz="1700" b="0">
                <a:solidFill>
                  <a:srgbClr val="222222"/>
                </a:solidFill>
                <a:latin typeface="맑은 고딕"/>
              </a:rPr>
              <a:t>•  대안 1) Statspack: spcreate → SNAP → spreport (무료)</a:t>
            </a:r>
          </a:p>
          <a:p>
            <a:pPr algn="l">
              <a:spcAft>
                <a:spcPts val="600"/>
              </a:spcAft>
            </a:pPr>
            <a:r>
              <a:rPr sz="1700" b="0">
                <a:solidFill>
                  <a:srgbClr val="222222"/>
                </a:solidFill>
                <a:latin typeface="맑은 고딕"/>
              </a:rPr>
              <a:t>•  대안 2) V$ 직접 조회: V$SYSSTAT·V$SYSTEM_EVENT·V$SQL 델타</a:t>
            </a:r>
          </a:p>
          <a:p>
            <a:pPr algn="l">
              <a:spcAft>
                <a:spcPts val="600"/>
              </a:spcAft>
            </a:pPr>
            <a:r>
              <a:rPr sz="1700" b="0">
                <a:solidFill>
                  <a:srgbClr val="222222"/>
                </a:solidFill>
                <a:latin typeface="맑은 고딕"/>
              </a:rPr>
              <a:t>•  판독 기술 자체는 도구와 무관 — 표 이름만 다를 뿐</a:t>
            </a:r>
          </a:p>
        </p:txBody>
      </p:sp>
    </p:spTree>
    <p:extLst>
      <p:ext uri="{BB962C8B-B14F-4D97-AF65-F5344CB8AC3E}">
        <p14:creationId xmlns:p14="http://schemas.microsoft.com/office/powerpoint/2010/main" val="4277991199"/>
      </p:ext>
    </p:extLst>
  </p:cSld>
  <p:clrMapOvr>
    <a:masterClrMapping/>
  </p:clrMapOvr>
</p:sld>
</file>

<file path=ppt/slides/slide9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같은 부하를 AWR·ADDM·ASH가 각자 보여준다</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확대 배율이 다른 세 렌즈</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AWR(ch22): DB CPU 95.7%, 하드파싱 319/s, 논리읽기 1위 SQL</a:t>
            </a:r>
          </a:p>
          <a:p>
            <a:pPr algn="l">
              <a:spcAft>
                <a:spcPts val="600"/>
              </a:spcAft>
            </a:pPr>
            <a:r>
              <a:rPr sz="1700" b="0">
                <a:solidFill>
                  <a:srgbClr val="222222"/>
                </a:solidFill>
                <a:latin typeface="맑은 고딕"/>
              </a:rPr>
              <a:t>•  ADDM(ch24): 'Hard Parse Due to Literal Usage' 자동 진단</a:t>
            </a:r>
          </a:p>
          <a:p>
            <a:pPr algn="l">
              <a:spcAft>
                <a:spcPts val="600"/>
              </a:spcAft>
            </a:pPr>
            <a:r>
              <a:rPr sz="1700" b="0">
                <a:solidFill>
                  <a:srgbClr val="222222"/>
                </a:solidFill>
                <a:latin typeface="맑은 고딕"/>
              </a:rPr>
              <a:t>•  ASH(ch25): ON CPU 90.7% — 활성 세션이 대부분 CPU에</a:t>
            </a:r>
          </a:p>
          <a:p>
            <a:pPr algn="l">
              <a:spcAft>
                <a:spcPts val="600"/>
              </a:spcAft>
            </a:pPr>
            <a:r>
              <a:rPr sz="1700" b="0">
                <a:solidFill>
                  <a:srgbClr val="222222"/>
                </a:solidFill>
                <a:latin typeface="맑은 고딕"/>
              </a:rPr>
              <a:t>•  AWR=구간 평균 → ADDM=자동 해석 → ASH=순간 확대</a:t>
            </a:r>
          </a:p>
          <a:p>
            <a:pPr algn="l">
              <a:spcAft>
                <a:spcPts val="600"/>
              </a:spcAft>
            </a:pPr>
            <a:r>
              <a:rPr sz="1700" b="0">
                <a:solidFill>
                  <a:srgbClr val="222222"/>
                </a:solidFill>
                <a:latin typeface="맑은 고딕"/>
              </a:rPr>
              <a:t>•  세 결론이 수렴하면 신뢰도↑ (교차 검증)</a:t>
            </a:r>
          </a:p>
        </p:txBody>
      </p:sp>
    </p:spTree>
    <p:extLst>
      <p:ext uri="{BB962C8B-B14F-4D97-AF65-F5344CB8AC3E}">
        <p14:creationId xmlns:p14="http://schemas.microsoft.com/office/powerpoint/2010/main" val="3818515858"/>
      </p:ext>
    </p:extLst>
  </p:cSld>
  <p:clrMapOvr>
    <a:masterClrMapping/>
  </p:clrMapOvr>
</p:sld>
</file>

<file path=ppt/slides/slide9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실측 구간 한눈에 — 하나의 원인으로 수렴</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서로 다른 섹션의 숫자가 한 곳을 가리킨다</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머리말: AAS 5.7 → 여러 세션이 동시에 경쟁한 실제 부하</a:t>
            </a:r>
          </a:p>
          <a:p>
            <a:pPr algn="l">
              <a:spcAft>
                <a:spcPts val="600"/>
              </a:spcAft>
            </a:pPr>
            <a:r>
              <a:rPr sz="1700" b="0">
                <a:solidFill>
                  <a:srgbClr val="222222"/>
                </a:solidFill>
                <a:latin typeface="맑은 고딕"/>
              </a:rPr>
              <a:t>•  Load Profile: DB CPU≈DB Time + 하드파싱 319/s</a:t>
            </a:r>
          </a:p>
          <a:p>
            <a:pPr algn="l">
              <a:spcAft>
                <a:spcPts val="600"/>
              </a:spcAft>
            </a:pPr>
            <a:r>
              <a:rPr sz="1700" b="0">
                <a:solidFill>
                  <a:srgbClr val="222222"/>
                </a:solidFill>
                <a:latin typeface="맑은 고딕"/>
              </a:rPr>
              <a:t>•  Top Events: DB CPU 95.7%, 나머지는 공유 풀 경합</a:t>
            </a:r>
          </a:p>
          <a:p>
            <a:pPr algn="l">
              <a:spcAft>
                <a:spcPts val="600"/>
              </a:spcAft>
            </a:pPr>
            <a:r>
              <a:rPr sz="1700" b="0">
                <a:solidFill>
                  <a:srgbClr val="222222"/>
                </a:solidFill>
                <a:latin typeface="맑은 고딕"/>
              </a:rPr>
              <a:t>•  Instance Eff.: Soft Parse 26%, Library Hit 59%</a:t>
            </a:r>
          </a:p>
          <a:p>
            <a:pPr algn="l">
              <a:spcAft>
                <a:spcPts val="600"/>
              </a:spcAft>
            </a:pPr>
            <a:r>
              <a:rPr sz="1700" b="0">
                <a:solidFill>
                  <a:srgbClr val="222222"/>
                </a:solidFill>
                <a:latin typeface="맑은 고딕"/>
              </a:rPr>
              <a:t>•  SQL: 9vmszgd1ft9x0 (DB Time 33%, Gets 32%, 95.8% CPU)</a:t>
            </a:r>
          </a:p>
          <a:p>
            <a:pPr algn="l">
              <a:spcAft>
                <a:spcPts val="600"/>
              </a:spcAft>
            </a:pPr>
            <a:r>
              <a:rPr sz="1700" b="0">
                <a:solidFill>
                  <a:srgbClr val="222222"/>
                </a:solidFill>
                <a:latin typeface="맑은 고딕"/>
              </a:rPr>
              <a:t>•  → 결론: 리터럴 하드파싱을 유발하는 단일 SQL</a:t>
            </a:r>
          </a:p>
        </p:txBody>
      </p:sp>
    </p:spTree>
    <p:extLst>
      <p:ext uri="{BB962C8B-B14F-4D97-AF65-F5344CB8AC3E}">
        <p14:creationId xmlns:p14="http://schemas.microsoft.com/office/powerpoint/2010/main" val="1732138336"/>
      </p:ext>
    </p:extLst>
  </p:cSld>
  <p:clrMapOvr>
    <a:masterClrMapping/>
  </p:clrMapOvr>
</p:sld>
</file>

<file path=ppt/slides/slide9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이 장이 경계하는 오판 넷</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큰 숫자 하나에 속지 않기</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① Top Events 1위(대기)를 병목으로 지목 → % DB time을 본다</a:t>
            </a:r>
          </a:p>
          <a:p>
            <a:pPr algn="l">
              <a:spcAft>
                <a:spcPts val="600"/>
              </a:spcAft>
            </a:pPr>
            <a:r>
              <a:rPr sz="1700" b="0">
                <a:solidFill>
                  <a:srgbClr val="222222"/>
                </a:solidFill>
                <a:latin typeface="맑은 고딕"/>
              </a:rPr>
              <a:t>•  ② Buffer Hit 100%를 성능 우수로 해석 → 히트율의 함정</a:t>
            </a:r>
          </a:p>
          <a:p>
            <a:pPr algn="l">
              <a:spcAft>
                <a:spcPts val="600"/>
              </a:spcAft>
            </a:pPr>
            <a:r>
              <a:rPr sz="1700" b="0">
                <a:solidFill>
                  <a:srgbClr val="222222"/>
                </a:solidFill>
                <a:latin typeface="맑은 고딕"/>
              </a:rPr>
              <a:t>•  ③ Instance Activity의 큰 값으로 새 가설 → 확증/반증에만 쓴다</a:t>
            </a:r>
          </a:p>
          <a:p>
            <a:pPr algn="l">
              <a:spcAft>
                <a:spcPts val="600"/>
              </a:spcAft>
            </a:pPr>
            <a:r>
              <a:rPr sz="1700" b="0">
                <a:solidFill>
                  <a:srgbClr val="222222"/>
                </a:solidFill>
                <a:latin typeface="맑은 고딕"/>
              </a:rPr>
              <a:t>•  ④ 부하 없는 구간을 '문제 있다'고 판정 → AAS로 부하 확인</a:t>
            </a:r>
          </a:p>
          <a:p>
            <a:pPr algn="l">
              <a:spcAft>
                <a:spcPts val="600"/>
              </a:spcAft>
            </a:pPr>
            <a:r>
              <a:rPr sz="1700" b="0">
                <a:solidFill>
                  <a:srgbClr val="222222"/>
                </a:solidFill>
                <a:latin typeface="맑은 고딕"/>
              </a:rPr>
              <a:t>•  공통 처방: 순서(위→아래) + 비중(% DB time) + 수렴</a:t>
            </a:r>
          </a:p>
        </p:txBody>
      </p:sp>
    </p:spTree>
    <p:extLst>
      <p:ext uri="{BB962C8B-B14F-4D97-AF65-F5344CB8AC3E}">
        <p14:creationId xmlns:p14="http://schemas.microsoft.com/office/powerpoint/2010/main" val="836124581"/>
      </p:ext>
    </p:extLst>
  </p:cSld>
  <p:clrMapOvr>
    <a:masterClrMapping/>
  </p:clrMapOvr>
</p:sld>
</file>

<file path=ppt/slides/slide9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퀴즈 (Quiz)</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600"/>
              </a:spcAft>
            </a:pPr>
            <a:r>
              <a:rPr sz="1500" b="0">
                <a:solidFill>
                  <a:srgbClr val="222222"/>
                </a:solidFill>
                <a:latin typeface="맑은 고딕"/>
              </a:rPr>
              <a:t>•  Q1. Top Events 1위가 DB CPU 95.7%. 병목은? log file sync 3.7%를 먼저 손대면 안 되는 이유는?</a:t>
            </a:r>
          </a:p>
          <a:p>
            <a:pPr algn="l">
              <a:spcAft>
                <a:spcPts val="600"/>
              </a:spcAft>
            </a:pPr>
            <a:r>
              <a:rPr sz="1500" b="0">
                <a:solidFill>
                  <a:srgbClr val="222222"/>
                </a:solidFill>
                <a:latin typeface="맑은 고딕"/>
              </a:rPr>
              <a:t>•  Q2. 논리읽기 118만/s인데 물리읽기 48.8/s. 이 조합과 Buffer Hit 100%의 관계는?</a:t>
            </a:r>
          </a:p>
          <a:p>
            <a:pPr algn="l">
              <a:spcAft>
                <a:spcPts val="600"/>
              </a:spcAft>
            </a:pPr>
            <a:r>
              <a:rPr sz="1500" b="0">
                <a:solidFill>
                  <a:srgbClr val="222222"/>
                </a:solidFill>
                <a:latin typeface="맑은 고딕"/>
              </a:rPr>
              <a:t>•  Q3. Buffer Hit 100%인데 성능이 나쁠 수 있는 이유(히트율의 함정)는?</a:t>
            </a:r>
          </a:p>
          <a:p>
            <a:pPr algn="l">
              <a:spcAft>
                <a:spcPts val="600"/>
              </a:spcAft>
            </a:pPr>
            <a:r>
              <a:rPr sz="1500" b="0">
                <a:solidFill>
                  <a:srgbClr val="222222"/>
                </a:solidFill>
                <a:latin typeface="맑은 고딕"/>
              </a:rPr>
              <a:t>•  Q4. Soft Parse 26%, Hard parse 319/s가 가리키는 원인과 그것이 나타나는 대기는?</a:t>
            </a:r>
          </a:p>
          <a:p>
            <a:pPr algn="l">
              <a:spcAft>
                <a:spcPts val="600"/>
              </a:spcAft>
            </a:pPr>
            <a:r>
              <a:rPr sz="1500" b="0">
                <a:solidFill>
                  <a:srgbClr val="222222"/>
                </a:solidFill>
                <a:latin typeface="맑은 고딕"/>
              </a:rPr>
              <a:t>•  Q5. Elapsed·Gets 모두 9vmszgd1ft9x0이 1위. 진단 신뢰도가 높은 이유는?</a:t>
            </a:r>
          </a:p>
          <a:p>
            <a:pPr algn="l">
              <a:spcAft>
                <a:spcPts val="600"/>
              </a:spcAft>
            </a:pPr>
            <a:r>
              <a:rPr sz="1500" b="0">
                <a:solidFill>
                  <a:srgbClr val="222222"/>
                </a:solidFill>
                <a:latin typeface="맑은 고딕"/>
              </a:rPr>
              <a:t>•  Q6. 유휴 구간에서 SQL*Net msg from client가 1위. 병목으로 지목하면 안 되는 이유와 부하 판정법은?</a:t>
            </a:r>
          </a:p>
        </p:txBody>
      </p:sp>
    </p:spTree>
    <p:extLst>
      <p:ext uri="{BB962C8B-B14F-4D97-AF65-F5344CB8AC3E}">
        <p14:creationId xmlns:p14="http://schemas.microsoft.com/office/powerpoint/2010/main" val="3797166721"/>
      </p:ext>
    </p:extLst>
  </p:cSld>
  <p:clrMapOvr>
    <a:masterClrMapping/>
  </p:clrMapOvr>
</p:sld>
</file>

<file path=ppt/slides/slide9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요약 (Summary)</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600"/>
              </a:spcAft>
            </a:pPr>
            <a:r>
              <a:rPr sz="1500" b="0">
                <a:solidFill>
                  <a:srgbClr val="222222"/>
                </a:solidFill>
                <a:latin typeface="맑은 고딕"/>
              </a:rPr>
              <a:t>•  판독은 위(요약)에서 아래(세부)로. 첫 나눗셈은 DB Time/Elapsed=AAS(5.7)</a:t>
            </a:r>
          </a:p>
          <a:p>
            <a:pPr algn="l">
              <a:spcAft>
                <a:spcPts val="600"/>
              </a:spcAft>
            </a:pPr>
            <a:r>
              <a:rPr sz="1500" b="0">
                <a:solidFill>
                  <a:srgbClr val="222222"/>
                </a:solidFill>
                <a:latin typeface="맑은 고딕"/>
              </a:rPr>
              <a:t>•  Load Profile 3대: DB CPU≈DB Time / 논리 118만:물리 48.8 / 하드파싱 73%</a:t>
            </a:r>
          </a:p>
          <a:p>
            <a:pPr algn="l">
              <a:spcAft>
                <a:spcPts val="600"/>
              </a:spcAft>
            </a:pPr>
            <a:r>
              <a:rPr sz="1500" b="0">
                <a:solidFill>
                  <a:srgbClr val="222222"/>
                </a:solidFill>
                <a:latin typeface="맑은 고딕"/>
              </a:rPr>
              <a:t>•  Top Events는 % DB time으로. DB CPU 95.7%가 병목, log file sync 3.7%는 아님</a:t>
            </a:r>
          </a:p>
          <a:p>
            <a:pPr algn="l">
              <a:spcAft>
                <a:spcPts val="600"/>
              </a:spcAft>
            </a:pPr>
            <a:r>
              <a:rPr sz="1500" b="0">
                <a:solidFill>
                  <a:srgbClr val="222222"/>
                </a:solidFill>
                <a:latin typeface="맑은 고딕"/>
              </a:rPr>
              <a:t>•  Instance Efficiency는 낮은 값이 단서. Buffer Hit 100%는 함정</a:t>
            </a:r>
          </a:p>
          <a:p>
            <a:pPr algn="l">
              <a:spcAft>
                <a:spcPts val="600"/>
              </a:spcAft>
            </a:pPr>
            <a:r>
              <a:rPr sz="1500" b="0">
                <a:solidFill>
                  <a:srgbClr val="222222"/>
                </a:solidFill>
                <a:latin typeface="맑은 고딕"/>
              </a:rPr>
              <a:t>•  SQL: 9vmszgd1ft9x0이 DB Time 33%·Gets 32%를 CPU로 소비 → 주범</a:t>
            </a:r>
          </a:p>
          <a:p>
            <a:pPr algn="l">
              <a:spcAft>
                <a:spcPts val="600"/>
              </a:spcAft>
            </a:pPr>
            <a:r>
              <a:rPr sz="1500" b="0">
                <a:solidFill>
                  <a:srgbClr val="222222"/>
                </a:solidFill>
                <a:latin typeface="맑은 고딕"/>
              </a:rPr>
              <a:t>•  Advisory는 방향이지 명령 아님. 부하 없는 구간(AAS≪1)은 판정 대상 아님</a:t>
            </a:r>
          </a:p>
          <a:p>
            <a:pPr algn="l">
              <a:spcAft>
                <a:spcPts val="600"/>
              </a:spcAft>
            </a:pPr>
            <a:r>
              <a:rPr sz="1500" b="0">
                <a:solidFill>
                  <a:srgbClr val="222222"/>
                </a:solidFill>
                <a:latin typeface="맑은 고딕"/>
              </a:rPr>
              <a:t>•  🔒 Diagnostics Pack 대상, Statspack·V$ 대안. AWR·ADDM·ASH는 같은 부하의 세 렌즈</a:t>
            </a:r>
          </a:p>
        </p:txBody>
      </p:sp>
    </p:spTree>
    <p:extLst>
      <p:ext uri="{BB962C8B-B14F-4D97-AF65-F5344CB8AC3E}">
        <p14:creationId xmlns:p14="http://schemas.microsoft.com/office/powerpoint/2010/main" val="506889370"/>
      </p:ext>
    </p:extLst>
  </p:cSld>
  <p:clrMapOvr>
    <a:masterClrMapping/>
  </p:clrMapOvr>
</p:sld>
</file>

<file path=ppt/slides/slide9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실습 개요 (Practice Overview)</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non-CDB orcl 19.3 · 프롬프트 SYS@orcl · 🔒 Diagnostics Pack</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500" b="0">
                <a:solidFill>
                  <a:srgbClr val="222222"/>
                </a:solidFill>
                <a:latin typeface="맑은 고딕"/>
              </a:rPr>
              <a:t>•  실습 01 — awrrpt.sql로 텍스트 AWR 생성과 섹션 구조 확인</a:t>
            </a:r>
          </a:p>
          <a:p>
            <a:pPr algn="l">
              <a:spcAft>
                <a:spcPts val="600"/>
              </a:spcAft>
            </a:pPr>
            <a:r>
              <a:rPr sz="1500" b="0">
                <a:solidFill>
                  <a:srgbClr val="222222"/>
                </a:solidFill>
                <a:latin typeface="맑은 고딕"/>
              </a:rPr>
              <a:t>•  실습 02 — Load Profile 판독(초당 논리읽기·파싱·트랜잭션)</a:t>
            </a:r>
          </a:p>
          <a:p>
            <a:pPr algn="l">
              <a:spcAft>
                <a:spcPts val="600"/>
              </a:spcAft>
            </a:pPr>
            <a:r>
              <a:rPr sz="1500" b="0">
                <a:solidFill>
                  <a:srgbClr val="222222"/>
                </a:solidFill>
                <a:latin typeface="맑은 고딕"/>
              </a:rPr>
              <a:t>•  실습 03 — Top 10 Foreground Events 판독(% DB time)</a:t>
            </a:r>
          </a:p>
          <a:p>
            <a:pPr algn="l">
              <a:spcAft>
                <a:spcPts val="600"/>
              </a:spcAft>
            </a:pPr>
            <a:r>
              <a:rPr sz="1500" b="0">
                <a:solidFill>
                  <a:srgbClr val="222222"/>
                </a:solidFill>
                <a:latin typeface="맑은 고딕"/>
              </a:rPr>
              <a:t>•  실습 04 — SQL ordered by Elapsed/Gets/Reads 대상 선별</a:t>
            </a:r>
          </a:p>
          <a:p>
            <a:pPr algn="l">
              <a:spcAft>
                <a:spcPts val="600"/>
              </a:spcAft>
            </a:pPr>
            <a:r>
              <a:rPr sz="1500" b="0">
                <a:solidFill>
                  <a:srgbClr val="222222"/>
                </a:solidFill>
                <a:latin typeface="맑은 고딕"/>
              </a:rPr>
              <a:t>•  실습 05 — Instance Activity Stats 이상 지표 찾기</a:t>
            </a:r>
          </a:p>
          <a:p>
            <a:pPr algn="l">
              <a:spcAft>
                <a:spcPts val="600"/>
              </a:spcAft>
            </a:pPr>
            <a:r>
              <a:rPr sz="1500" b="0">
                <a:solidFill>
                  <a:srgbClr val="222222"/>
                </a:solidFill>
                <a:latin typeface="맑은 고딕"/>
              </a:rPr>
              <a:t>•  실습 06 — Advisory(버퍼·공유풀·PGA) 판독과 권고 크기</a:t>
            </a:r>
          </a:p>
          <a:p>
            <a:pPr algn="l">
              <a:spcAft>
                <a:spcPts val="600"/>
              </a:spcAft>
            </a:pPr>
            <a:r>
              <a:rPr sz="1500" b="0">
                <a:solidFill>
                  <a:srgbClr val="222222"/>
                </a:solidFill>
                <a:latin typeface="맑은 고딕"/>
              </a:rPr>
              <a:t>•  실습 07 — 부하 없는 구간 '문제 없음'을 근거와 함께 판정</a:t>
            </a:r>
          </a:p>
          <a:p>
            <a:pPr algn="l">
              <a:spcAft>
                <a:spcPts val="600"/>
              </a:spcAft>
            </a:pPr>
            <a:r>
              <a:rPr sz="1500" b="0">
                <a:solidFill>
                  <a:srgbClr val="222222"/>
                </a:solidFill>
                <a:latin typeface="맑은 고딕"/>
              </a:rPr>
              <a:t>•  ※ 각 실습: 조치 전 → 조회·조치 → 해석 + 이상→원인→조치→재확인, Statspack·V$ 대안 병기</a:t>
            </a:r>
          </a:p>
        </p:txBody>
      </p:sp>
    </p:spTree>
    <p:extLst>
      <p:ext uri="{BB962C8B-B14F-4D97-AF65-F5344CB8AC3E}">
        <p14:creationId xmlns:p14="http://schemas.microsoft.com/office/powerpoint/2010/main" val="1294017831"/>
      </p:ext>
    </p:extLst>
  </p:cSld>
  <p:clrMapOvr>
    <a:masterClrMapping/>
  </p:clrMapOvr>
</p:sld>
</file>

<file path=ppt/slides/slide9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457200"/>
            <a:ext cx="10698480" cy="548640"/>
          </a:xfrm>
          <a:prstGeom prst="rect">
            <a:avLst/>
          </a:prstGeom>
          <a:noFill/>
        </p:spPr>
        <p:txBody>
          <a:bodyPr wrap="square">
            <a:spAutoFit/>
          </a:bodyPr>
          <a:lstStyle/>
          <a:p>
            <a:r>
              <a:rPr sz="1600" b="1">
                <a:solidFill>
                  <a:srgbClr val="FFFFFF"/>
                </a:solidFill>
                <a:latin typeface="맑은 고딕"/>
              </a:rPr>
              <a:t>Oracle Database 19c 성능 튜닝 실무 과정</a:t>
            </a:r>
          </a:p>
        </p:txBody>
      </p:sp>
      <p:sp>
        <p:nvSpPr>
          <p:cNvPr id="6" name="TextBox 5"/>
          <p:cNvSpPr txBox="1"/>
          <p:nvPr/>
        </p:nvSpPr>
        <p:spPr>
          <a:xfrm>
            <a:off x="731520" y="2377440"/>
            <a:ext cx="10698480" cy="1554480"/>
          </a:xfrm>
          <a:prstGeom prst="rect">
            <a:avLst/>
          </a:prstGeom>
          <a:noFill/>
        </p:spPr>
        <p:txBody>
          <a:bodyPr wrap="square">
            <a:spAutoFit/>
          </a:bodyPr>
          <a:lstStyle/>
          <a:p>
            <a:r>
              <a:rPr sz="3000" b="1">
                <a:solidFill>
                  <a:srgbClr val="C0392B"/>
                </a:solidFill>
                <a:latin typeface="맑은 고딕"/>
              </a:rPr>
              <a:t>기간 비교 — 어제와 오늘은 무엇이 달라졌는가</a:t>
            </a:r>
          </a:p>
          <a:p>
            <a:r>
              <a:rPr sz="1800" b="0">
                <a:solidFill>
                  <a:srgbClr val="5A6672"/>
                </a:solidFill>
                <a:latin typeface="맑은 고딕"/>
              </a:rPr>
              <a:t>Comparing Database Performance Over Time — AWR Compare Periods</a:t>
            </a:r>
          </a:p>
        </p:txBody>
      </p:sp>
      <p:sp>
        <p:nvSpPr>
          <p:cNvPr id="7" name="TextBox 6"/>
          <p:cNvSpPr txBox="1"/>
          <p:nvPr/>
        </p:nvSpPr>
        <p:spPr>
          <a:xfrm>
            <a:off x="731520" y="4114800"/>
            <a:ext cx="10698480" cy="1097280"/>
          </a:xfrm>
          <a:prstGeom prst="rect">
            <a:avLst/>
          </a:prstGeom>
          <a:noFill/>
        </p:spPr>
        <p:txBody>
          <a:bodyPr wrap="square">
            <a:spAutoFit/>
          </a:bodyPr>
          <a:lstStyle/>
          <a:p>
            <a:r>
              <a:rPr sz="1500" b="0">
                <a:solidFill>
                  <a:srgbClr val="5A6672"/>
                </a:solidFill>
                <a:latin typeface="맑은 고딕"/>
              </a:rPr>
              <a:t>Compare Periods 보고서 · Load Profile 대조 · SQL 회귀 탐지 · 베이스라인 · 부하 증가 vs 성능 저하</a:t>
            </a:r>
          </a:p>
        </p:txBody>
      </p:sp>
      <p:sp>
        <p:nvSpPr>
          <p:cNvPr id="8" name="TextBox 7"/>
          <p:cNvSpPr txBox="1"/>
          <p:nvPr/>
        </p:nvSpPr>
        <p:spPr>
          <a:xfrm>
            <a:off x="731520" y="5577840"/>
            <a:ext cx="10698480" cy="914400"/>
          </a:xfrm>
          <a:prstGeom prst="rect">
            <a:avLst/>
          </a:prstGeom>
          <a:noFill/>
        </p:spPr>
        <p:txBody>
          <a:bodyPr wrap="square">
            <a:spAutoFit/>
          </a:bodyPr>
          <a:lstStyle/>
          <a:p>
            <a:r>
              <a:rPr sz="2000" b="1">
                <a:solidFill>
                  <a:srgbClr val="C0392B"/>
                </a:solidFill>
                <a:latin typeface="맑은 고딕"/>
              </a:rPr>
              <a:t>ch23</a:t>
            </a:r>
          </a:p>
        </p:txBody>
      </p:sp>
    </p:spTree>
    <p:extLst>
      <p:ext uri="{BB962C8B-B14F-4D97-AF65-F5344CB8AC3E}">
        <p14:creationId xmlns:p14="http://schemas.microsoft.com/office/powerpoint/2010/main" val="3574227549"/>
      </p:ext>
    </p:extLst>
  </p:cSld>
  <p:clrMapOvr>
    <a:masterClrMapping/>
  </p:clrMapOvr>
</p:sld>
</file>

<file path=ppt/slides/slide9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학습 목표 (Objectives)</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이 장을 마치면 할 수 있는 것</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600"/>
              </a:spcAft>
            </a:pPr>
            <a:r>
              <a:rPr sz="1600" b="0">
                <a:solidFill>
                  <a:srgbClr val="222222"/>
                </a:solidFill>
                <a:latin typeface="맑은 고딕"/>
              </a:rPr>
              <a:t>•  AWR 보고서 한 장과 Compare Periods 보고서(두 스냅샷 대 네 스냅샷)의 차이를 설명한다.</a:t>
            </a:r>
          </a:p>
          <a:p>
            <a:pPr>
              <a:spcAft>
                <a:spcPts val="600"/>
              </a:spcAft>
            </a:pPr>
            <a:r>
              <a:rPr sz="1600" b="0">
                <a:solidFill>
                  <a:srgbClr val="222222"/>
                </a:solidFill>
                <a:latin typeface="맑은 고딕"/>
              </a:rPr>
              <a:t>•  awrddrpt.sql·awrddrpi.sql·AWR_DIFF_REPORT_TEXT로 두 구간 차이 보고서를 생성한다.</a:t>
            </a:r>
          </a:p>
          <a:p>
            <a:pPr>
              <a:spcAft>
                <a:spcPts val="600"/>
              </a:spcAft>
            </a:pPr>
            <a:r>
              <a:rPr sz="1600" b="0">
                <a:solidFill>
                  <a:srgbClr val="222222"/>
                </a:solidFill>
                <a:latin typeface="맑은 고딕"/>
              </a:rPr>
              <a:t>•  Load Profile의 초당값과 트랜잭션당값을 함께 읽어 워크로드 변화를 해석한다.</a:t>
            </a:r>
          </a:p>
          <a:p>
            <a:pPr>
              <a:spcAft>
                <a:spcPts val="600"/>
              </a:spcAft>
            </a:pPr>
            <a:r>
              <a:rPr sz="1600" b="0">
                <a:solidFill>
                  <a:srgbClr val="222222"/>
                </a:solidFill>
                <a:latin typeface="맑은 고딕"/>
              </a:rPr>
              <a:t>•  DB Time 증가가 부하 증가인지 성능 저하인지 판정하는 절차를 세운다.</a:t>
            </a:r>
          </a:p>
          <a:p>
            <a:pPr>
              <a:spcAft>
                <a:spcPts val="600"/>
              </a:spcAft>
            </a:pPr>
            <a:r>
              <a:rPr sz="1600" b="0">
                <a:solidFill>
                  <a:srgbClr val="222222"/>
                </a:solidFill>
                <a:latin typeface="맑은 고딕"/>
              </a:rPr>
              <a:t>•  실행계획 변경으로 느려진 SQL(회귀)을 실행당 지표·plan_hash_value로 식별한다.</a:t>
            </a:r>
          </a:p>
          <a:p>
            <a:pPr>
              <a:spcAft>
                <a:spcPts val="600"/>
              </a:spcAft>
            </a:pPr>
            <a:r>
              <a:rPr sz="1600" b="0">
                <a:solidFill>
                  <a:srgbClr val="222222"/>
                </a:solidFill>
                <a:latin typeface="맑은 고딕"/>
              </a:rPr>
              <a:t>•  베이스라인으로 평시를 보존하고, 고정·이동 윈도우 베이스라인을 구분한다.</a:t>
            </a:r>
          </a:p>
          <a:p>
            <a:pPr>
              <a:spcAft>
                <a:spcPts val="600"/>
              </a:spcAft>
            </a:pPr>
            <a:r>
              <a:rPr sz="1600" b="0">
                <a:solidFill>
                  <a:srgbClr val="222222"/>
                </a:solidFill>
                <a:latin typeface="맑은 고딕"/>
              </a:rPr>
              <a:t>•  🔒 Diagnostics Pack이 필요함을 알고, Statspack·V$ 대안 경로를 안다.</a:t>
            </a:r>
          </a:p>
        </p:txBody>
      </p:sp>
    </p:spTree>
    <p:extLst>
      <p:ext uri="{BB962C8B-B14F-4D97-AF65-F5344CB8AC3E}">
        <p14:creationId xmlns:p14="http://schemas.microsoft.com/office/powerpoint/2010/main" val="3198176896"/>
      </p:ext>
    </p:extLst>
  </p:cSld>
  <p:clrMapOvr>
    <a:masterClrMapping/>
  </p:clrMapOvr>
</p:sld>
</file>

<file path=ppt/slides/slide9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이 장의 구성 (Agenda)</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23.2 ~ 23.9</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600"/>
              </a:spcAft>
            </a:pPr>
            <a:r>
              <a:rPr sz="1600" b="0">
                <a:solidFill>
                  <a:srgbClr val="222222"/>
                </a:solidFill>
                <a:latin typeface="맑은 고딕"/>
              </a:rPr>
              <a:t>•  23.2  기간 비교란 무엇인가 — 두 스냅샷이 아니라 두 구간</a:t>
            </a:r>
          </a:p>
          <a:p>
            <a:pPr>
              <a:spcAft>
                <a:spcPts val="600"/>
              </a:spcAft>
            </a:pPr>
            <a:r>
              <a:rPr sz="1600" b="0">
                <a:solidFill>
                  <a:srgbClr val="222222"/>
                </a:solidFill>
                <a:latin typeface="맑은 고딕"/>
              </a:rPr>
              <a:t>•  23.3  AWR Compare Periods 보고서 생성</a:t>
            </a:r>
          </a:p>
          <a:p>
            <a:pPr>
              <a:spcAft>
                <a:spcPts val="600"/>
              </a:spcAft>
            </a:pPr>
            <a:r>
              <a:rPr sz="1600" b="0">
                <a:solidFill>
                  <a:srgbClr val="222222"/>
                </a:solidFill>
                <a:latin typeface="맑은 고딕"/>
              </a:rPr>
              <a:t>•  23.4  보고서 구조 읽기 — 어디를 먼저 보는가</a:t>
            </a:r>
          </a:p>
          <a:p>
            <a:pPr>
              <a:spcAft>
                <a:spcPts val="600"/>
              </a:spcAft>
            </a:pPr>
            <a:r>
              <a:rPr sz="1600" b="0">
                <a:solidFill>
                  <a:srgbClr val="222222"/>
                </a:solidFill>
                <a:latin typeface="맑은 고딕"/>
              </a:rPr>
              <a:t>•  23.5  Load Profile 두 구간 대조</a:t>
            </a:r>
          </a:p>
          <a:p>
            <a:pPr>
              <a:spcAft>
                <a:spcPts val="600"/>
              </a:spcAft>
            </a:pPr>
            <a:r>
              <a:rPr sz="1600" b="0">
                <a:solidFill>
                  <a:srgbClr val="222222"/>
                </a:solidFill>
                <a:latin typeface="맑은 고딕"/>
              </a:rPr>
              <a:t>•  23.6  핵심 판정 — 부하 증가인가 성능 저하인가</a:t>
            </a:r>
          </a:p>
          <a:p>
            <a:pPr>
              <a:spcAft>
                <a:spcPts val="600"/>
              </a:spcAft>
            </a:pPr>
            <a:r>
              <a:rPr sz="1600" b="0">
                <a:solidFill>
                  <a:srgbClr val="222222"/>
                </a:solidFill>
                <a:latin typeface="맑은 고딕"/>
              </a:rPr>
              <a:t>•  23.7  SQL 단위 회귀 탐지 — 실행계획이 바뀌어 느려진 SQL</a:t>
            </a:r>
          </a:p>
          <a:p>
            <a:pPr>
              <a:spcAft>
                <a:spcPts val="600"/>
              </a:spcAft>
            </a:pPr>
            <a:r>
              <a:rPr sz="1600" b="0">
                <a:solidFill>
                  <a:srgbClr val="222222"/>
                </a:solidFill>
                <a:latin typeface="맑은 고딕"/>
              </a:rPr>
              <a:t>•  23.8  베이스라인 대비 비교 — 평시를 저장해 둔다</a:t>
            </a:r>
          </a:p>
          <a:p>
            <a:pPr>
              <a:spcAft>
                <a:spcPts val="600"/>
              </a:spcAft>
            </a:pPr>
            <a:r>
              <a:rPr sz="1600" b="0">
                <a:solidFill>
                  <a:srgbClr val="222222"/>
                </a:solidFill>
                <a:latin typeface="맑은 고딕"/>
              </a:rPr>
              <a:t>•  23.9  라이선스와 대안 — Statspack 두 구간 수동 비교</a:t>
            </a:r>
          </a:p>
        </p:txBody>
      </p:sp>
    </p:spTree>
    <p:extLst>
      <p:ext uri="{BB962C8B-B14F-4D97-AF65-F5344CB8AC3E}">
        <p14:creationId xmlns:p14="http://schemas.microsoft.com/office/powerpoint/2010/main" val="3465228620"/>
      </p:ext>
    </p:extLst>
  </p:cSld>
  <p:clrMapOvr>
    <a:masterClrMapping/>
  </p:clrMapOvr>
</p:sld>
</file>

<file path=ppt/slides/slide9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23.2</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기간 비교란 무엇인가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194560"/>
          </a:xfrm>
          <a:prstGeom prst="rect">
            <a:avLst/>
          </a:prstGeom>
          <a:noFill/>
        </p:spPr>
        <p:txBody>
          <a:bodyPr wrap="square">
            <a:spAutoFit/>
          </a:bodyPr>
          <a:lstStyle/>
          <a:p>
            <a:r>
              <a:rPr sz="1600" b="0">
                <a:solidFill>
                  <a:srgbClr val="FFFFFF"/>
                </a:solidFill>
                <a:latin typeface="맑은 고딕"/>
              </a:rPr>
              <a:t>•  성능 저하는 서서히 온다 — 정상이던 과거의 기록이 필요</a:t>
            </a:r>
          </a:p>
          <a:p>
            <a:r>
              <a:rPr sz="1600" b="0">
                <a:solidFill>
                  <a:srgbClr val="FFFFFF"/>
                </a:solidFill>
                <a:latin typeface="맑은 고딕"/>
              </a:rPr>
              <a:t>•  AWR 보고서(한 구간) vs Compare Periods(두 구간의 차이)</a:t>
            </a:r>
          </a:p>
          <a:p>
            <a:r>
              <a:rPr sz="1600" b="0">
                <a:solidFill>
                  <a:srgbClr val="FFFFFF"/>
                </a:solidFill>
                <a:latin typeface="맑은 고딕"/>
              </a:rPr>
              <a:t>•  스냅샷 네 개 = 보고서 두 장</a:t>
            </a:r>
          </a:p>
          <a:p>
            <a:r>
              <a:rPr sz="1600" b="0">
                <a:solidFill>
                  <a:srgbClr val="FFFFFF"/>
                </a:solidFill>
                <a:latin typeface="맑은 고딕"/>
              </a:rPr>
              <a:t>•  구간 길이가 달라도 되는 이유 — 정규화</a:t>
            </a:r>
          </a:p>
        </p:txBody>
      </p:sp>
    </p:spTree>
    <p:extLst>
      <p:ext uri="{BB962C8B-B14F-4D97-AF65-F5344CB8AC3E}">
        <p14:creationId xmlns:p14="http://schemas.microsoft.com/office/powerpoint/2010/main" val="1625445158"/>
      </p:ext>
    </p:extLst>
  </p:cSld>
  <p:clrMapOvr>
    <a:masterClrMapping/>
  </p:clrMapOvr>
</p:sld>
</file>

<file path=ppt/slides/slide9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성능은 관계적이다</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같은 숫자도 비교 대상에 따라 정상·악화·개선</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600"/>
              </a:spcAft>
            </a:pPr>
            <a:r>
              <a:rPr sz="1700" b="0">
                <a:solidFill>
                  <a:srgbClr val="222222"/>
                </a:solidFill>
                <a:latin typeface="맑은 고딕"/>
              </a:rPr>
              <a:t>•  초당 논리읽기 100만 = 그 자체로는 좋지도 나쁘지도 않다</a:t>
            </a:r>
          </a:p>
          <a:p>
            <a:pPr>
              <a:spcAft>
                <a:spcPts val="600"/>
              </a:spcAft>
            </a:pPr>
            <a:r>
              <a:rPr sz="1700" b="0">
                <a:solidFill>
                  <a:srgbClr val="222222"/>
                </a:solidFill>
                <a:latin typeface="맑은 고딕"/>
              </a:rPr>
              <a:t>•  어제도 100만이면 정상, 어제 10만이면 열 배 악화, 어제 1000만이면 개선</a:t>
            </a:r>
          </a:p>
          <a:p>
            <a:pPr>
              <a:spcAft>
                <a:spcPts val="600"/>
              </a:spcAft>
            </a:pPr>
            <a:r>
              <a:rPr sz="1700" b="0">
                <a:solidFill>
                  <a:srgbClr val="222222"/>
                </a:solidFill>
                <a:latin typeface="맑은 고딕"/>
              </a:rPr>
              <a:t>•  진단 성숙도는 '얼마나 좋은 비교 기준을 가졌는가'로 결정된다</a:t>
            </a:r>
          </a:p>
          <a:p>
            <a:pPr>
              <a:spcAft>
                <a:spcPts val="600"/>
              </a:spcAft>
            </a:pPr>
            <a:r>
              <a:rPr sz="1700" b="0">
                <a:solidFill>
                  <a:srgbClr val="222222"/>
                </a:solidFill>
                <a:latin typeface="맑은 고딕"/>
              </a:rPr>
              <a:t>•  서서히 오는 저하는 '언제부터 왜'가 기억나지 않는다 → 과거 기록이 답</a:t>
            </a:r>
          </a:p>
        </p:txBody>
      </p:sp>
    </p:spTree>
    <p:extLst>
      <p:ext uri="{BB962C8B-B14F-4D97-AF65-F5344CB8AC3E}">
        <p14:creationId xmlns:p14="http://schemas.microsoft.com/office/powerpoint/2010/main" val="1672665319"/>
      </p:ext>
    </p:extLst>
  </p:cSld>
  <p:clrMapOvr>
    <a:masterClrMapping/>
  </p:clrMapOvr>
</p:sld>
</file>

<file path=ppt/slides/slide9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AWR 보고서 vs Compare Periods</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두 스냅샷인가, 네 스냅샷인가</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600"/>
              </a:spcAft>
            </a:pPr>
            <a:r>
              <a:rPr sz="1700" b="0">
                <a:solidFill>
                  <a:srgbClr val="222222"/>
                </a:solidFill>
                <a:latin typeface="맑은 고딕"/>
              </a:rPr>
              <a:t>•  일반 AWR 보고서: 두 스냅샷 사이의 '한 구간'을 보여 준다</a:t>
            </a:r>
          </a:p>
          <a:p>
            <a:pPr>
              <a:spcAft>
                <a:spcPts val="600"/>
              </a:spcAft>
            </a:pPr>
            <a:r>
              <a:rPr sz="1700" b="0">
                <a:solidFill>
                  <a:srgbClr val="222222"/>
                </a:solidFill>
                <a:latin typeface="맑은 고딕"/>
              </a:rPr>
              <a:t>•  Compare Periods 보고서: '두 구간의 차이'를 보여 준다(스냅샷 4개)</a:t>
            </a:r>
          </a:p>
          <a:p>
            <a:pPr>
              <a:spcAft>
                <a:spcPts val="600"/>
              </a:spcAft>
            </a:pPr>
            <a:r>
              <a:rPr sz="1700" b="0">
                <a:solidFill>
                  <a:srgbClr val="222222"/>
                </a:solidFill>
                <a:latin typeface="맑은 고딕"/>
              </a:rPr>
              <a:t>•  결과는 %Diff로 정량화된 차이 — 가장 크게 달라진 항목부터 정렬</a:t>
            </a:r>
          </a:p>
          <a:p>
            <a:pPr>
              <a:spcAft>
                <a:spcPts val="600"/>
              </a:spcAft>
            </a:pPr>
            <a:r>
              <a:rPr sz="1700" b="0">
                <a:solidFill>
                  <a:srgbClr val="222222"/>
                </a:solidFill>
                <a:latin typeface="맑은 고딕"/>
              </a:rPr>
              <a:t>•  두 구간의 길이가 달라도 됨: 초당·트랜잭션당으로 정규화하기 때문</a:t>
            </a:r>
          </a:p>
        </p:txBody>
      </p:sp>
    </p:spTree>
    <p:extLst>
      <p:ext uri="{BB962C8B-B14F-4D97-AF65-F5344CB8AC3E}">
        <p14:creationId xmlns:p14="http://schemas.microsoft.com/office/powerpoint/2010/main" val="4254584081"/>
      </p:ext>
    </p:extLst>
  </p:cSld>
  <p:clrMapOvr>
    <a:masterClrMapping/>
  </p:clrMapOvr>
</p:sld>
</file>

<file path=ppt/slides/slide9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구간 선정 — 비교 가능성</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정규화도 상쇄 못 하는 것: 워크로드 성격</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600"/>
              </a:spcAft>
            </a:pPr>
            <a:r>
              <a:rPr sz="1700" b="0">
                <a:solidFill>
                  <a:srgbClr val="222222"/>
                </a:solidFill>
                <a:latin typeface="맑은 고딕"/>
              </a:rPr>
              <a:t>•  정상 구간 = 문제 전, 같은 업무가 같은 시간대에 돌던 때</a:t>
            </a:r>
          </a:p>
          <a:p>
            <a:pPr>
              <a:spcAft>
                <a:spcPts val="600"/>
              </a:spcAft>
            </a:pPr>
            <a:r>
              <a:rPr sz="1700" b="0">
                <a:solidFill>
                  <a:srgbClr val="222222"/>
                </a:solidFill>
                <a:latin typeface="맑은 고딕"/>
              </a:rPr>
              <a:t>•  요일·시간대·업무가 다른 두 구간 비교 = '원래 다른 것'을 봄</a:t>
            </a:r>
          </a:p>
          <a:p>
            <a:pPr>
              <a:spcAft>
                <a:spcPts val="600"/>
              </a:spcAft>
            </a:pPr>
            <a:r>
              <a:rPr sz="1700" b="0">
                <a:solidFill>
                  <a:srgbClr val="222222"/>
                </a:solidFill>
                <a:latin typeface="맑은 고딕"/>
              </a:rPr>
              <a:t>•  예: 평일 낮 OLTP vs 주말 밤 배치 비교는 무의미</a:t>
            </a:r>
          </a:p>
          <a:p>
            <a:pPr>
              <a:spcAft>
                <a:spcPts val="600"/>
              </a:spcAft>
            </a:pPr>
            <a:r>
              <a:rPr sz="1700" b="0">
                <a:solidFill>
                  <a:srgbClr val="222222"/>
                </a:solidFill>
                <a:latin typeface="맑은 고딕"/>
              </a:rPr>
              <a:t>•  정규화는 '길이' 차이를 상쇄하지만 '성격' 차이는 상쇄 못 함</a:t>
            </a:r>
          </a:p>
          <a:p>
            <a:pPr>
              <a:spcAft>
                <a:spcPts val="600"/>
              </a:spcAft>
            </a:pPr>
            <a:r>
              <a:rPr sz="1700" b="0">
                <a:solidFill>
                  <a:srgbClr val="222222"/>
                </a:solidFill>
                <a:latin typeface="맑은 고딕"/>
              </a:rPr>
              <a:t>•  비교 가능성(comparability)은 사람이 보장해야 한다</a:t>
            </a:r>
          </a:p>
        </p:txBody>
      </p:sp>
    </p:spTree>
    <p:extLst>
      <p:ext uri="{BB962C8B-B14F-4D97-AF65-F5344CB8AC3E}">
        <p14:creationId xmlns:p14="http://schemas.microsoft.com/office/powerpoint/2010/main" val="3773654913"/>
      </p:ext>
    </p:extLst>
  </p:cSld>
  <p:clrMapOvr>
    <a:masterClrMapping/>
  </p:clrMapOvr>
</p:sld>
</file>

<file path=ppt/slides/slide9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23.3</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Compare Periods 보고서 생성</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194560"/>
          </a:xfrm>
          <a:prstGeom prst="rect">
            <a:avLst/>
          </a:prstGeom>
          <a:noFill/>
        </p:spPr>
        <p:txBody>
          <a:bodyPr wrap="square">
            <a:spAutoFit/>
          </a:bodyPr>
          <a:lstStyle/>
          <a:p>
            <a:r>
              <a:rPr sz="1600" b="0">
                <a:solidFill>
                  <a:srgbClr val="FFFFFF"/>
                </a:solidFill>
                <a:latin typeface="맑은 고딕"/>
              </a:rPr>
              <a:t>•  awrddrpt.sql(로컬) / awrddrpi.sql(특정 DB) / RAC 전역판</a:t>
            </a:r>
          </a:p>
          <a:p>
            <a:r>
              <a:rPr sz="1600" b="0">
                <a:solidFill>
                  <a:srgbClr val="FFFFFF"/>
                </a:solidFill>
                <a:latin typeface="맑은 고딕"/>
              </a:rPr>
              <a:t>•  html vs text 형식</a:t>
            </a:r>
          </a:p>
          <a:p>
            <a:r>
              <a:rPr sz="1600" b="0">
                <a:solidFill>
                  <a:srgbClr val="FFFFFF"/>
                </a:solidFill>
                <a:latin typeface="맑은 고딕"/>
              </a:rPr>
              <a:t>•  AWR_DIFF_REPORT_TEXT로 SQL에서 직접</a:t>
            </a:r>
          </a:p>
          <a:p>
            <a:r>
              <a:rPr sz="1600" b="0">
                <a:solidFill>
                  <a:srgbClr val="FFFFFF"/>
                </a:solidFill>
                <a:latin typeface="맑은 고딕"/>
              </a:rPr>
              <a:t>•  🔒 Diagnostics Pack 필요</a:t>
            </a:r>
          </a:p>
        </p:txBody>
      </p:sp>
    </p:spTree>
    <p:extLst>
      <p:ext uri="{BB962C8B-B14F-4D97-AF65-F5344CB8AC3E}">
        <p14:creationId xmlns:p14="http://schemas.microsoft.com/office/powerpoint/2010/main" val="3448991213"/>
      </p:ext>
    </p:extLst>
  </p:cSld>
  <p:clrMapOvr>
    <a:masterClrMapping/>
  </p:clrMapOvr>
</p:sld>
</file>

<file path=ppt/slides/slide9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어느 스크립트를 쓰는가</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목적에 따라 나뉜다</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600"/>
              </a:spcAft>
            </a:pPr>
            <a:r>
              <a:rPr sz="1700" b="0">
                <a:solidFill>
                  <a:srgbClr val="222222"/>
                </a:solidFill>
                <a:latin typeface="맑은 고딕"/>
              </a:rPr>
              <a:t>•  awrddrpt.sql — 로컬 인스턴스 두 구간 비교(dbid 안 물음)</a:t>
            </a:r>
          </a:p>
          <a:p>
            <a:pPr>
              <a:spcAft>
                <a:spcPts val="600"/>
              </a:spcAft>
            </a:pPr>
            <a:r>
              <a:rPr sz="1700" b="0">
                <a:solidFill>
                  <a:srgbClr val="222222"/>
                </a:solidFill>
                <a:latin typeface="맑은 고딕"/>
              </a:rPr>
              <a:t>•  awrddrpi.sql — 특정 dbid·인스턴스 지정 비교</a:t>
            </a:r>
          </a:p>
          <a:p>
            <a:pPr>
              <a:spcAft>
                <a:spcPts val="600"/>
              </a:spcAft>
            </a:pPr>
            <a:r>
              <a:rPr sz="1700" b="0">
                <a:solidFill>
                  <a:srgbClr val="222222"/>
                </a:solidFill>
                <a:latin typeface="맑은 고딕"/>
              </a:rPr>
              <a:t>•  awrgdrpt.sql / awrgdrpi.sql — RAC 전역(여러 인스턴스)</a:t>
            </a:r>
          </a:p>
          <a:p>
            <a:pPr>
              <a:spcAft>
                <a:spcPts val="600"/>
              </a:spcAft>
            </a:pPr>
            <a:r>
              <a:rPr sz="1700" b="0">
                <a:solidFill>
                  <a:srgbClr val="222222"/>
                </a:solidFill>
                <a:latin typeface="맑은 고딕"/>
              </a:rPr>
              <a:t>•  실습(non-CDB 단일 인스턴스)은 awrddrpt.sql이 기준</a:t>
            </a:r>
          </a:p>
          <a:p>
            <a:pPr>
              <a:spcAft>
                <a:spcPts val="600"/>
              </a:spcAft>
            </a:pPr>
            <a:r>
              <a:rPr sz="1700" b="0">
                <a:solidFill>
                  <a:srgbClr val="222222"/>
                </a:solidFill>
                <a:latin typeface="맑은 고딕"/>
              </a:rPr>
              <a:t>•  형식: html(브라우저 탐색) / text(자동 처리·트랜스크립트)</a:t>
            </a:r>
          </a:p>
        </p:txBody>
      </p:sp>
    </p:spTree>
    <p:extLst>
      <p:ext uri="{BB962C8B-B14F-4D97-AF65-F5344CB8AC3E}">
        <p14:creationId xmlns:p14="http://schemas.microsoft.com/office/powerpoint/2010/main" val="3594480548"/>
      </p:ext>
    </p:extLst>
  </p:cSld>
  <p:clrMapOvr>
    <a:masterClrMapping/>
  </p:clrMapOvr>
</p:sld>
</file>

<file path=ppt/slides/slide9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awrddrpt.sql 실행</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구간A(303→304) vs 구간B(305→306), 실측 스냅</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37160" rtlCol="0" anchor="ctr"/>
          <a:lstStyle/>
          <a:p>
            <a:pPr>
              <a:spcAft>
                <a:spcPts val="0"/>
              </a:spcAft>
            </a:pPr>
            <a:r>
              <a:rPr sz="1250" b="0" dirty="0" err="1">
                <a:solidFill>
                  <a:srgbClr val="F2F2F2"/>
                </a:solidFill>
                <a:latin typeface="Consolas"/>
              </a:rPr>
              <a:t>SYS@orcl</a:t>
            </a:r>
            <a:r>
              <a:rPr sz="1250" b="0" dirty="0">
                <a:solidFill>
                  <a:srgbClr val="F2F2F2"/>
                </a:solidFill>
                <a:latin typeface="Consolas"/>
              </a:rPr>
              <a:t>&gt; @?/rdbms/admin/awrddrpt.sql</a:t>
            </a:r>
          </a:p>
          <a:p>
            <a:pPr>
              <a:spcAft>
                <a:spcPts val="0"/>
              </a:spcAft>
            </a:pPr>
            <a:r>
              <a:rPr sz="1250" b="0" dirty="0">
                <a:solidFill>
                  <a:srgbClr val="F2F2F2"/>
                </a:solidFill>
                <a:latin typeface="Consolas"/>
              </a:rPr>
              <a:t>Enter value for </a:t>
            </a:r>
            <a:r>
              <a:rPr sz="1250" b="0" dirty="0" err="1">
                <a:solidFill>
                  <a:srgbClr val="F2F2F2"/>
                </a:solidFill>
                <a:latin typeface="Consolas"/>
              </a:rPr>
              <a:t>report_type</a:t>
            </a:r>
            <a:r>
              <a:rPr sz="1250" b="0" dirty="0">
                <a:solidFill>
                  <a:srgbClr val="F2F2F2"/>
                </a:solidFill>
                <a:latin typeface="Consolas"/>
              </a:rPr>
              <a:t>: text</a:t>
            </a:r>
          </a:p>
          <a:p>
            <a:pPr>
              <a:spcAft>
                <a:spcPts val="0"/>
              </a:spcAft>
            </a:pPr>
            <a:r>
              <a:rPr sz="1250" b="0" dirty="0">
                <a:solidFill>
                  <a:srgbClr val="F2F2F2"/>
                </a:solidFill>
                <a:latin typeface="Consolas"/>
              </a:rPr>
              <a:t>Enter value for </a:t>
            </a:r>
            <a:r>
              <a:rPr sz="1250" b="0" dirty="0" err="1">
                <a:solidFill>
                  <a:srgbClr val="F2F2F2"/>
                </a:solidFill>
                <a:latin typeface="Consolas"/>
              </a:rPr>
              <a:t>num_days</a:t>
            </a:r>
            <a:r>
              <a:rPr sz="1250" b="0" dirty="0">
                <a:solidFill>
                  <a:srgbClr val="F2F2F2"/>
                </a:solidFill>
                <a:latin typeface="Consolas"/>
              </a:rPr>
              <a:t>: 1</a:t>
            </a:r>
          </a:p>
          <a:p>
            <a:pPr>
              <a:spcAft>
                <a:spcPts val="0"/>
              </a:spcAft>
            </a:pPr>
            <a:r>
              <a:rPr sz="1250" b="0" dirty="0">
                <a:solidFill>
                  <a:srgbClr val="F2F2F2"/>
                </a:solidFill>
                <a:latin typeface="Consolas"/>
              </a:rPr>
              <a:t>Enter value for </a:t>
            </a:r>
            <a:r>
              <a:rPr sz="1250" b="0" dirty="0" err="1">
                <a:solidFill>
                  <a:srgbClr val="F2F2F2"/>
                </a:solidFill>
                <a:latin typeface="Consolas"/>
              </a:rPr>
              <a:t>begin_snap</a:t>
            </a:r>
            <a:r>
              <a:rPr sz="1250" b="0" dirty="0">
                <a:solidFill>
                  <a:srgbClr val="F2F2F2"/>
                </a:solidFill>
                <a:latin typeface="Consolas"/>
              </a:rPr>
              <a:t>: 303</a:t>
            </a:r>
          </a:p>
          <a:p>
            <a:pPr>
              <a:spcAft>
                <a:spcPts val="0"/>
              </a:spcAft>
            </a:pPr>
            <a:r>
              <a:rPr sz="1250" b="0" dirty="0">
                <a:solidFill>
                  <a:srgbClr val="F2F2F2"/>
                </a:solidFill>
                <a:latin typeface="Consolas"/>
              </a:rPr>
              <a:t>Enter value for </a:t>
            </a:r>
            <a:r>
              <a:rPr sz="1250" b="0" dirty="0" err="1">
                <a:solidFill>
                  <a:srgbClr val="F2F2F2"/>
                </a:solidFill>
                <a:latin typeface="Consolas"/>
              </a:rPr>
              <a:t>end_snap</a:t>
            </a:r>
            <a:r>
              <a:rPr sz="1250" b="0" dirty="0">
                <a:solidFill>
                  <a:srgbClr val="F2F2F2"/>
                </a:solidFill>
                <a:latin typeface="Consolas"/>
              </a:rPr>
              <a:t>: 304</a:t>
            </a:r>
          </a:p>
          <a:p>
            <a:pPr>
              <a:spcAft>
                <a:spcPts val="0"/>
              </a:spcAft>
            </a:pPr>
            <a:r>
              <a:rPr sz="1250" b="0" dirty="0">
                <a:solidFill>
                  <a:srgbClr val="F2F2F2"/>
                </a:solidFill>
                <a:latin typeface="Consolas"/>
              </a:rPr>
              <a:t>Enter value for num_days2: 1</a:t>
            </a:r>
          </a:p>
          <a:p>
            <a:pPr>
              <a:spcAft>
                <a:spcPts val="0"/>
              </a:spcAft>
            </a:pPr>
            <a:r>
              <a:rPr sz="1250" b="0" dirty="0">
                <a:solidFill>
                  <a:srgbClr val="F2F2F2"/>
                </a:solidFill>
                <a:latin typeface="Consolas"/>
              </a:rPr>
              <a:t>Enter value for begin_snap2: 305</a:t>
            </a:r>
          </a:p>
          <a:p>
            <a:pPr>
              <a:spcAft>
                <a:spcPts val="0"/>
              </a:spcAft>
            </a:pPr>
            <a:r>
              <a:rPr sz="1250" b="0" dirty="0">
                <a:solidFill>
                  <a:srgbClr val="F2F2F2"/>
                </a:solidFill>
                <a:latin typeface="Consolas"/>
              </a:rPr>
              <a:t>Enter value for end_snap2: 306</a:t>
            </a:r>
          </a:p>
          <a:p>
            <a:pPr>
              <a:spcAft>
                <a:spcPts val="0"/>
              </a:spcAft>
            </a:pPr>
            <a:r>
              <a:rPr sz="1250" b="0" dirty="0">
                <a:solidFill>
                  <a:srgbClr val="F2F2F2"/>
                </a:solidFill>
                <a:latin typeface="Consolas"/>
              </a:rPr>
              <a:t>Enter value for </a:t>
            </a:r>
            <a:r>
              <a:rPr sz="1250" b="0" dirty="0" err="1">
                <a:solidFill>
                  <a:srgbClr val="F2F2F2"/>
                </a:solidFill>
                <a:latin typeface="Consolas"/>
              </a:rPr>
              <a:t>report_name</a:t>
            </a:r>
            <a:r>
              <a:rPr sz="1250" b="0" dirty="0">
                <a:solidFill>
                  <a:srgbClr val="F2F2F2"/>
                </a:solidFill>
                <a:latin typeface="Consolas"/>
              </a:rPr>
              <a:t>: awrdiff_303_304_vs_305_306.txt</a:t>
            </a:r>
          </a:p>
          <a:p>
            <a:pPr>
              <a:spcAft>
                <a:spcPts val="0"/>
              </a:spcAft>
            </a:pPr>
            <a:r>
              <a:rPr sz="1250" b="0" dirty="0">
                <a:solidFill>
                  <a:srgbClr val="F2F2F2"/>
                </a:solidFill>
                <a:latin typeface="Consolas"/>
              </a:rPr>
              <a:t> </a:t>
            </a:r>
          </a:p>
          <a:p>
            <a:pPr>
              <a:spcAft>
                <a:spcPts val="0"/>
              </a:spcAft>
            </a:pPr>
            <a:r>
              <a:rPr sz="1250" b="0" dirty="0">
                <a:solidFill>
                  <a:srgbClr val="F2F2F2"/>
                </a:solidFill>
                <a:latin typeface="Consolas"/>
              </a:rPr>
              <a:t>Report written to awrdiff_303_304_vs_305_306.txt</a:t>
            </a:r>
          </a:p>
        </p:txBody>
      </p:sp>
    </p:spTree>
    <p:extLst>
      <p:ext uri="{BB962C8B-B14F-4D97-AF65-F5344CB8AC3E}">
        <p14:creationId xmlns:p14="http://schemas.microsoft.com/office/powerpoint/2010/main" val="3424885458"/>
      </p:ext>
    </p:extLst>
  </p:cSld>
  <p:clrMapOvr>
    <a:masterClrMapping/>
  </p:clrMapOvr>
</p:sld>
</file>

<file path=ppt/slides/slide9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SQL에서 바로 뽑기</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DBMS_WORKLOAD_REPOSITORY.AWR_DIFF_REPORT_TEXT</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37160" rtlCol="0" anchor="ctr"/>
          <a:lstStyle/>
          <a:p>
            <a:pPr>
              <a:spcAft>
                <a:spcPts val="0"/>
              </a:spcAft>
            </a:pPr>
            <a:r>
              <a:rPr sz="1250" b="0" dirty="0" err="1">
                <a:solidFill>
                  <a:srgbClr val="F2F2F2"/>
                </a:solidFill>
                <a:latin typeface="Consolas"/>
              </a:rPr>
              <a:t>SYS@orcl</a:t>
            </a:r>
            <a:r>
              <a:rPr sz="1250" b="0" dirty="0">
                <a:solidFill>
                  <a:srgbClr val="F2F2F2"/>
                </a:solidFill>
                <a:latin typeface="Consolas"/>
              </a:rPr>
              <a:t>&gt; SELECT output</a:t>
            </a:r>
          </a:p>
          <a:p>
            <a:pPr>
              <a:spcAft>
                <a:spcPts val="0"/>
              </a:spcAft>
            </a:pPr>
            <a:r>
              <a:rPr sz="1250" b="0" dirty="0">
                <a:solidFill>
                  <a:srgbClr val="F2F2F2"/>
                </a:solidFill>
                <a:latin typeface="Consolas"/>
              </a:rPr>
              <a:t>  2       FROM TABLE(</a:t>
            </a:r>
          </a:p>
          <a:p>
            <a:pPr>
              <a:spcAft>
                <a:spcPts val="0"/>
              </a:spcAft>
            </a:pPr>
            <a:r>
              <a:rPr sz="1250" b="0" dirty="0">
                <a:solidFill>
                  <a:srgbClr val="F2F2F2"/>
                </a:solidFill>
                <a:latin typeface="Consolas"/>
              </a:rPr>
              <a:t>  3         DBMS_WORKLOAD_REPOSITORY.AWR_DIFF_REPORT_TEXT(</a:t>
            </a:r>
          </a:p>
          <a:p>
            <a:pPr>
              <a:spcAft>
                <a:spcPts val="0"/>
              </a:spcAft>
            </a:pPr>
            <a:r>
              <a:rPr sz="1250" b="0" dirty="0">
                <a:solidFill>
                  <a:srgbClr val="F2F2F2"/>
                </a:solidFill>
                <a:latin typeface="Consolas"/>
              </a:rPr>
              <a:t>  4            &amp;</a:t>
            </a:r>
            <a:r>
              <a:rPr sz="1250" b="0" dirty="0" err="1">
                <a:solidFill>
                  <a:srgbClr val="F2F2F2"/>
                </a:solidFill>
                <a:latin typeface="Consolas"/>
              </a:rPr>
              <a:t>dbid</a:t>
            </a:r>
            <a:r>
              <a:rPr sz="1250" b="0" dirty="0">
                <a:solidFill>
                  <a:srgbClr val="F2F2F2"/>
                </a:solidFill>
                <a:latin typeface="Consolas"/>
              </a:rPr>
              <a:t>, 1, 303, 304,    -- </a:t>
            </a:r>
            <a:r>
              <a:rPr sz="1250" b="0" dirty="0" err="1">
                <a:solidFill>
                  <a:srgbClr val="F2F2F2"/>
                </a:solidFill>
                <a:latin typeface="Consolas"/>
              </a:rPr>
              <a:t>구간A</a:t>
            </a:r>
            <a:r>
              <a:rPr sz="1250" b="0" dirty="0">
                <a:solidFill>
                  <a:srgbClr val="F2F2F2"/>
                </a:solidFill>
                <a:latin typeface="Consolas"/>
              </a:rPr>
              <a:t>: </a:t>
            </a:r>
            <a:r>
              <a:rPr sz="1250" b="0" dirty="0" err="1">
                <a:solidFill>
                  <a:srgbClr val="F2F2F2"/>
                </a:solidFill>
                <a:latin typeface="Consolas"/>
              </a:rPr>
              <a:t>dbid,inst,시작,끝</a:t>
            </a:r>
            <a:endParaRPr sz="1250" b="0" dirty="0">
              <a:solidFill>
                <a:srgbClr val="F2F2F2"/>
              </a:solidFill>
              <a:latin typeface="Consolas"/>
            </a:endParaRPr>
          </a:p>
          <a:p>
            <a:pPr>
              <a:spcAft>
                <a:spcPts val="0"/>
              </a:spcAft>
            </a:pPr>
            <a:r>
              <a:rPr sz="1250" b="0" dirty="0">
                <a:solidFill>
                  <a:srgbClr val="F2F2F2"/>
                </a:solidFill>
                <a:latin typeface="Consolas"/>
              </a:rPr>
              <a:t>  5            &amp;</a:t>
            </a:r>
            <a:r>
              <a:rPr sz="1250" b="0" dirty="0" err="1">
                <a:solidFill>
                  <a:srgbClr val="F2F2F2"/>
                </a:solidFill>
                <a:latin typeface="Consolas"/>
              </a:rPr>
              <a:t>dbid</a:t>
            </a:r>
            <a:r>
              <a:rPr sz="1250" b="0" dirty="0">
                <a:solidFill>
                  <a:srgbClr val="F2F2F2"/>
                </a:solidFill>
                <a:latin typeface="Consolas"/>
              </a:rPr>
              <a:t>, 1, 305, 306));  -- </a:t>
            </a:r>
            <a:r>
              <a:rPr sz="1250" b="0" dirty="0" err="1">
                <a:solidFill>
                  <a:srgbClr val="F2F2F2"/>
                </a:solidFill>
                <a:latin typeface="Consolas"/>
              </a:rPr>
              <a:t>구간B</a:t>
            </a:r>
            <a:r>
              <a:rPr sz="1250" b="0" dirty="0">
                <a:solidFill>
                  <a:srgbClr val="F2F2F2"/>
                </a:solidFill>
                <a:latin typeface="Consolas"/>
              </a:rPr>
              <a:t>: </a:t>
            </a:r>
            <a:r>
              <a:rPr sz="1250" b="0" dirty="0" err="1">
                <a:solidFill>
                  <a:srgbClr val="F2F2F2"/>
                </a:solidFill>
                <a:latin typeface="Consolas"/>
              </a:rPr>
              <a:t>dbid,inst,시작,끝</a:t>
            </a:r>
            <a:endParaRPr sz="1250" b="0" dirty="0">
              <a:solidFill>
                <a:srgbClr val="F2F2F2"/>
              </a:solidFill>
              <a:latin typeface="Consolas"/>
            </a:endParaRPr>
          </a:p>
          <a:p>
            <a:pPr>
              <a:spcAft>
                <a:spcPts val="0"/>
              </a:spcAft>
            </a:pPr>
            <a:r>
              <a:rPr sz="1250" b="0" dirty="0">
                <a:solidFill>
                  <a:srgbClr val="F2F2F2"/>
                </a:solidFill>
                <a:latin typeface="Consolas"/>
              </a:rPr>
              <a:t> </a:t>
            </a:r>
          </a:p>
          <a:p>
            <a:pPr>
              <a:spcAft>
                <a:spcPts val="0"/>
              </a:spcAft>
            </a:pPr>
            <a:r>
              <a:rPr sz="1250" b="0" dirty="0">
                <a:solidFill>
                  <a:srgbClr val="F2F2F2"/>
                </a:solidFill>
                <a:latin typeface="Consolas"/>
              </a:rPr>
              <a:t>... Load Profile / Top Timed Events / SQL Statistics </a:t>
            </a:r>
            <a:r>
              <a:rPr sz="1250" b="0" dirty="0" err="1">
                <a:solidFill>
                  <a:srgbClr val="F2F2F2"/>
                </a:solidFill>
                <a:latin typeface="Consolas"/>
              </a:rPr>
              <a:t>텍스트</a:t>
            </a:r>
            <a:r>
              <a:rPr sz="1250" b="0" dirty="0">
                <a:solidFill>
                  <a:srgbClr val="F2F2F2"/>
                </a:solidFill>
                <a:latin typeface="Consolas"/>
              </a:rPr>
              <a:t> ...</a:t>
            </a:r>
          </a:p>
        </p:txBody>
      </p:sp>
    </p:spTree>
    <p:extLst>
      <p:ext uri="{BB962C8B-B14F-4D97-AF65-F5344CB8AC3E}">
        <p14:creationId xmlns:p14="http://schemas.microsoft.com/office/powerpoint/2010/main" val="3965782576"/>
      </p:ext>
    </p:extLst>
  </p:cSld>
  <p:clrMapOvr>
    <a:masterClrMapping/>
  </p:clrMapOvr>
</p:sld>
</file>

<file path=ppt/slides/slide9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23.4</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보고서 구조 읽기</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194560"/>
          </a:xfrm>
          <a:prstGeom prst="rect">
            <a:avLst/>
          </a:prstGeom>
          <a:noFill/>
        </p:spPr>
        <p:txBody>
          <a:bodyPr wrap="square">
            <a:spAutoFit/>
          </a:bodyPr>
          <a:lstStyle/>
          <a:p>
            <a:r>
              <a:rPr sz="1600" b="0">
                <a:solidFill>
                  <a:srgbClr val="FFFFFF"/>
                </a:solidFill>
                <a:latin typeface="맑은 고딕"/>
              </a:rPr>
              <a:t>•  요약(Summary) → 상세(Details) → 보충(Supplemental)</a:t>
            </a:r>
          </a:p>
          <a:p>
            <a:r>
              <a:rPr sz="1600" b="0">
                <a:solidFill>
                  <a:srgbClr val="FFFFFF"/>
                </a:solidFill>
                <a:latin typeface="맑은 고딕"/>
              </a:rPr>
              <a:t>•  모든 표는 '차이가 큰 순서'로 정렬</a:t>
            </a:r>
          </a:p>
          <a:p>
            <a:r>
              <a:rPr sz="1600" b="0">
                <a:solidFill>
                  <a:srgbClr val="FFFFFF"/>
                </a:solidFill>
                <a:latin typeface="맑은 고딕"/>
              </a:rPr>
              <a:t>•  요약: Load Profile·Top 5 Timed Events부터</a:t>
            </a:r>
          </a:p>
          <a:p>
            <a:r>
              <a:rPr sz="1600" b="0">
                <a:solidFill>
                  <a:srgbClr val="FFFFFF"/>
                </a:solidFill>
                <a:latin typeface="맑은 고딕"/>
              </a:rPr>
              <a:t>•  구성 비교(Host·System)로 환경 변화 먼저 검증</a:t>
            </a:r>
          </a:p>
        </p:txBody>
      </p:sp>
    </p:spTree>
    <p:extLst>
      <p:ext uri="{BB962C8B-B14F-4D97-AF65-F5344CB8AC3E}">
        <p14:creationId xmlns:p14="http://schemas.microsoft.com/office/powerpoint/2010/main" val="2326737112"/>
      </p:ext>
    </p:extLst>
  </p:cSld>
  <p:clrMapOvr>
    <a:masterClrMapping/>
  </p:clrMapOvr>
</p:sld>
</file>

<file path=ppt/slides/slide9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요약(Summary) 읽는 순서</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환경 검증 → 부하 → 시간 소비</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600"/>
              </a:spcAft>
            </a:pPr>
            <a:r>
              <a:rPr sz="1700" b="0">
                <a:solidFill>
                  <a:srgbClr val="222222"/>
                </a:solidFill>
                <a:latin typeface="맑은 고딕"/>
              </a:rPr>
              <a:t>•  Snapshot Sets — 같은 인스턴스인가, 재기동 없었나, 각 구간 DB Time</a:t>
            </a:r>
          </a:p>
          <a:p>
            <a:pPr>
              <a:spcAft>
                <a:spcPts val="600"/>
              </a:spcAft>
            </a:pPr>
            <a:r>
              <a:rPr sz="1700" b="0">
                <a:solidFill>
                  <a:srgbClr val="222222"/>
                </a:solidFill>
                <a:latin typeface="맑은 고딕"/>
              </a:rPr>
              <a:t>•  Host / System Config Comparison — 하드웨어·파라미터가 그대로인가</a:t>
            </a:r>
          </a:p>
          <a:p>
            <a:pPr>
              <a:spcAft>
                <a:spcPts val="600"/>
              </a:spcAft>
            </a:pPr>
            <a:r>
              <a:rPr sz="1700" b="0">
                <a:solidFill>
                  <a:srgbClr val="222222"/>
                </a:solidFill>
                <a:latin typeface="맑은 고딕"/>
              </a:rPr>
              <a:t>•  구성이 바뀌었으면 성능 차이는 워크로드 아닌 '환경'을 먼저 의심</a:t>
            </a:r>
          </a:p>
          <a:p>
            <a:pPr>
              <a:spcAft>
                <a:spcPts val="600"/>
              </a:spcAft>
            </a:pPr>
            <a:r>
              <a:rPr sz="1700" b="0">
                <a:solidFill>
                  <a:srgbClr val="222222"/>
                </a:solidFill>
                <a:latin typeface="맑은 고딕"/>
              </a:rPr>
              <a:t>•  Load Profile — 두 워크로드를 초당·트랜잭션당으로 대조</a:t>
            </a:r>
          </a:p>
          <a:p>
            <a:pPr>
              <a:spcAft>
                <a:spcPts val="600"/>
              </a:spcAft>
            </a:pPr>
            <a:r>
              <a:rPr sz="1700" b="0">
                <a:solidFill>
                  <a:srgbClr val="222222"/>
                </a:solidFill>
                <a:latin typeface="맑은 고딕"/>
              </a:rPr>
              <a:t>•  Top 5 Timed Events — 각 구간 DB Time을 가장 많이 쓴 5개</a:t>
            </a:r>
          </a:p>
        </p:txBody>
      </p:sp>
    </p:spTree>
    <p:extLst>
      <p:ext uri="{BB962C8B-B14F-4D97-AF65-F5344CB8AC3E}">
        <p14:creationId xmlns:p14="http://schemas.microsoft.com/office/powerpoint/2010/main" val="2795280224"/>
      </p:ext>
    </p:extLst>
  </p:cSld>
  <p:clrMapOvr>
    <a:masterClrMapping/>
  </p:clrMapOvr>
</p:sld>
</file>

<file path=ppt/slides/slide9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상세(Details)와 보충</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차이의 뿌리를 판다</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600"/>
              </a:spcAft>
            </a:pPr>
            <a:r>
              <a:rPr sz="1700" b="0">
                <a:solidFill>
                  <a:srgbClr val="222222"/>
                </a:solidFill>
                <a:latin typeface="맑은 고딕"/>
              </a:rPr>
              <a:t>•  Time Model — DB Time이 어떤 작업으로 이동했나(파싱? 실행?)</a:t>
            </a:r>
          </a:p>
          <a:p>
            <a:pPr>
              <a:spcAft>
                <a:spcPts val="600"/>
              </a:spcAft>
            </a:pPr>
            <a:r>
              <a:rPr sz="1700" b="0">
                <a:solidFill>
                  <a:srgbClr val="222222"/>
                </a:solidFill>
                <a:latin typeface="맑은 고딕"/>
              </a:rPr>
              <a:t>•  Wait Events — 대기 클래스·이벤트를 DB Time 차이 순으로</a:t>
            </a:r>
          </a:p>
          <a:p>
            <a:pPr>
              <a:spcAft>
                <a:spcPts val="600"/>
              </a:spcAft>
            </a:pPr>
            <a:r>
              <a:rPr sz="1700" b="0">
                <a:solidFill>
                  <a:srgbClr val="222222"/>
                </a:solidFill>
                <a:latin typeface="맑은 고딕"/>
              </a:rPr>
              <a:t>•  SQL Statistics — 상위 SQL을 6기준(시간·CPU·읽기·실행·파싱)으로 대조</a:t>
            </a:r>
          </a:p>
          <a:p>
            <a:pPr>
              <a:spcAft>
                <a:spcPts val="600"/>
              </a:spcAft>
            </a:pPr>
            <a:r>
              <a:rPr sz="1700" b="0">
                <a:solidFill>
                  <a:srgbClr val="222222"/>
                </a:solidFill>
                <a:latin typeface="맑은 고딕"/>
              </a:rPr>
              <a:t>•  I/O·Segment — 파일·세그먼트별 급증 지점</a:t>
            </a:r>
          </a:p>
          <a:p>
            <a:pPr>
              <a:spcAft>
                <a:spcPts val="600"/>
              </a:spcAft>
            </a:pPr>
            <a:r>
              <a:rPr sz="1700" b="0">
                <a:solidFill>
                  <a:srgbClr val="222222"/>
                </a:solidFill>
                <a:latin typeface="맑은 고딕"/>
              </a:rPr>
              <a:t>•  보충: Complete List of SQL Text — SQL_ID의 실제 문장 확인</a:t>
            </a:r>
          </a:p>
        </p:txBody>
      </p:sp>
    </p:spTree>
    <p:extLst>
      <p:ext uri="{BB962C8B-B14F-4D97-AF65-F5344CB8AC3E}">
        <p14:creationId xmlns:p14="http://schemas.microsoft.com/office/powerpoint/2010/main" val="1014763794"/>
      </p:ext>
    </p:extLst>
  </p:cSld>
  <p:clrMapOvr>
    <a:masterClrMapping/>
  </p:clrMapOvr>
</p:sld>
</file>

<file path=ppt/slides/slide9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23.5</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Load Profile 두 구간 대조</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194560"/>
          </a:xfrm>
          <a:prstGeom prst="rect">
            <a:avLst/>
          </a:prstGeom>
          <a:noFill/>
        </p:spPr>
        <p:txBody>
          <a:bodyPr wrap="square">
            <a:spAutoFit/>
          </a:bodyPr>
          <a:lstStyle/>
          <a:p>
            <a:r>
              <a:rPr sz="1600" b="0">
                <a:solidFill>
                  <a:srgbClr val="FFFFFF"/>
                </a:solidFill>
                <a:latin typeface="맑은 고딕"/>
              </a:rPr>
              <a:t>•  초당값과 트랜잭션당값을 함께 본다</a:t>
            </a:r>
          </a:p>
          <a:p>
            <a:r>
              <a:rPr sz="1600" b="0">
                <a:solidFill>
                  <a:srgbClr val="FFFFFF"/>
                </a:solidFill>
                <a:latin typeface="맑은 고딕"/>
              </a:rPr>
              <a:t>•  실측: 초당 논리읽기 +136.8% vs 트랜잭션당 -99.7%</a:t>
            </a:r>
          </a:p>
          <a:p>
            <a:r>
              <a:rPr sz="1600" b="0">
                <a:solidFill>
                  <a:srgbClr val="FFFFFF"/>
                </a:solidFill>
                <a:latin typeface="맑은 고딕"/>
              </a:rPr>
              <a:t>•  원인은 맨 아래 Transactions 행</a:t>
            </a:r>
          </a:p>
          <a:p>
            <a:r>
              <a:rPr sz="1600" b="0">
                <a:solidFill>
                  <a:srgbClr val="FFFFFF"/>
                </a:solidFill>
                <a:latin typeface="맑은 고딕"/>
              </a:rPr>
              <a:t>•  Top Timed Events로 교차 검증</a:t>
            </a:r>
          </a:p>
        </p:txBody>
      </p:sp>
    </p:spTree>
    <p:extLst>
      <p:ext uri="{BB962C8B-B14F-4D97-AF65-F5344CB8AC3E}">
        <p14:creationId xmlns:p14="http://schemas.microsoft.com/office/powerpoint/2010/main" val="485581327"/>
      </p:ext>
    </p:extLst>
  </p:cSld>
  <p:clrMapOvr>
    <a:masterClrMapping/>
  </p:clrMapOvr>
</p:sld>
</file>

<file path=ppt/slides/slide9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Load Profile 실측 발췌</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구간A/초 · 구간B/초 · %Diff · A/txn · B/txn · %Diff</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37160" rtlCol="0" anchor="ctr"/>
          <a:lstStyle/>
          <a:p>
            <a:pPr>
              <a:spcAft>
                <a:spcPts val="0"/>
              </a:spcAft>
            </a:pPr>
            <a:r>
              <a:rPr sz="1250" b="0" dirty="0">
                <a:solidFill>
                  <a:srgbClr val="F2F2F2"/>
                </a:solidFill>
                <a:latin typeface="Consolas"/>
              </a:rPr>
              <a:t>                          A/초        B/초    %Diff     A/</a:t>
            </a:r>
            <a:r>
              <a:rPr sz="1250" b="0" dirty="0" err="1">
                <a:solidFill>
                  <a:srgbClr val="F2F2F2"/>
                </a:solidFill>
                <a:latin typeface="Consolas"/>
              </a:rPr>
              <a:t>txn</a:t>
            </a:r>
            <a:r>
              <a:rPr sz="1250" b="0" dirty="0">
                <a:solidFill>
                  <a:srgbClr val="F2F2F2"/>
                </a:solidFill>
                <a:latin typeface="Consolas"/>
              </a:rPr>
              <a:t>     B/</a:t>
            </a:r>
            <a:r>
              <a:rPr sz="1250" b="0" dirty="0" err="1">
                <a:solidFill>
                  <a:srgbClr val="F2F2F2"/>
                </a:solidFill>
                <a:latin typeface="Consolas"/>
              </a:rPr>
              <a:t>txn</a:t>
            </a:r>
            <a:r>
              <a:rPr sz="1250" b="0" dirty="0">
                <a:solidFill>
                  <a:srgbClr val="F2F2F2"/>
                </a:solidFill>
                <a:latin typeface="Consolas"/>
              </a:rPr>
              <a:t>  %Diff</a:t>
            </a:r>
          </a:p>
          <a:p>
            <a:pPr>
              <a:spcAft>
                <a:spcPts val="0"/>
              </a:spcAft>
            </a:pPr>
            <a:r>
              <a:rPr sz="1250" b="0" dirty="0">
                <a:solidFill>
                  <a:srgbClr val="F2F2F2"/>
                </a:solidFill>
                <a:latin typeface="Consolas"/>
              </a:rPr>
              <a:t>Logical read (blocks): 577,591.8 1,367,654.2  136.8 1,916,243   4,949  -99.7</a:t>
            </a:r>
          </a:p>
          <a:p>
            <a:pPr>
              <a:spcAft>
                <a:spcPts val="0"/>
              </a:spcAft>
            </a:pPr>
            <a:r>
              <a:rPr sz="1250" b="0" dirty="0">
                <a:solidFill>
                  <a:srgbClr val="F2F2F2"/>
                </a:solidFill>
                <a:latin typeface="Consolas"/>
              </a:rPr>
              <a:t>        Block changes:     183.1     1,249.2  582.4     607.4     4.5  -99.3</a:t>
            </a:r>
          </a:p>
          <a:p>
            <a:pPr>
              <a:spcAft>
                <a:spcPts val="0"/>
              </a:spcAft>
            </a:pPr>
            <a:r>
              <a:rPr sz="1250" b="0" dirty="0">
                <a:solidFill>
                  <a:srgbClr val="F2F2F2"/>
                </a:solidFill>
                <a:latin typeface="Consolas"/>
              </a:rPr>
              <a:t>           User calls:     712.7     1,391.5   95.2   2,364.5     5.0  -99.8</a:t>
            </a:r>
          </a:p>
          <a:p>
            <a:pPr>
              <a:spcAft>
                <a:spcPts val="0"/>
              </a:spcAft>
            </a:pPr>
            <a:r>
              <a:rPr sz="1250" b="0" dirty="0">
                <a:solidFill>
                  <a:srgbClr val="F2F2F2"/>
                </a:solidFill>
                <a:latin typeface="Consolas"/>
              </a:rPr>
              <a:t>         Parses (SQL):     183.5       526.3  186.8     608.9     1.9  -99.7</a:t>
            </a:r>
          </a:p>
          <a:p>
            <a:pPr>
              <a:spcAft>
                <a:spcPts val="0"/>
              </a:spcAft>
            </a:pPr>
            <a:r>
              <a:rPr sz="1250" b="0" dirty="0">
                <a:solidFill>
                  <a:srgbClr val="F2F2F2"/>
                </a:solidFill>
                <a:latin typeface="Consolas"/>
              </a:rPr>
              <a:t>    Hard parses (SQL):     146.4       399.6  173.0     485.6     1.4  -99.7</a:t>
            </a:r>
          </a:p>
          <a:p>
            <a:pPr>
              <a:spcAft>
                <a:spcPts val="0"/>
              </a:spcAft>
            </a:pPr>
            <a:r>
              <a:rPr sz="1250" b="0" dirty="0">
                <a:solidFill>
                  <a:srgbClr val="F2F2F2"/>
                </a:solidFill>
                <a:latin typeface="Consolas"/>
              </a:rPr>
              <a:t>       Executes (SQL):     343.1       760.3  121.6   1,138.3     2.8  -99.8</a:t>
            </a:r>
          </a:p>
          <a:p>
            <a:pPr>
              <a:spcAft>
                <a:spcPts val="0"/>
              </a:spcAft>
            </a:pPr>
            <a:r>
              <a:rPr sz="1250" b="0" dirty="0">
                <a:solidFill>
                  <a:srgbClr val="F2F2F2"/>
                </a:solidFill>
                <a:latin typeface="Consolas"/>
              </a:rPr>
              <a:t>         Transactions:       0.3       276.3  92,000</a:t>
            </a:r>
          </a:p>
        </p:txBody>
      </p:sp>
    </p:spTree>
    <p:extLst>
      <p:ext uri="{BB962C8B-B14F-4D97-AF65-F5344CB8AC3E}">
        <p14:creationId xmlns:p14="http://schemas.microsoft.com/office/powerpoint/2010/main" val="748832419"/>
      </p:ext>
    </p:extLst>
  </p:cSld>
  <p:clrMapOvr>
    <a:masterClrMapping/>
  </p:clrMapOvr>
</p:sld>
</file>

<file path=ppt/slides/slide9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두 열이 반대로 움직이는 이유</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분자는 시간, 분모는 작업 — 무엇으로 나눴나</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600"/>
              </a:spcAft>
            </a:pPr>
            <a:r>
              <a:rPr sz="1700" b="0">
                <a:solidFill>
                  <a:srgbClr val="222222"/>
                </a:solidFill>
                <a:latin typeface="맑은 고딕"/>
              </a:rPr>
              <a:t>•  초당 +136.8% = 구간B가 초당 논리읽기를 2.37배 했다</a:t>
            </a:r>
          </a:p>
          <a:p>
            <a:pPr>
              <a:spcAft>
                <a:spcPts val="600"/>
              </a:spcAft>
            </a:pPr>
            <a:r>
              <a:rPr sz="1700" b="0">
                <a:solidFill>
                  <a:srgbClr val="222222"/>
                </a:solidFill>
                <a:latin typeface="맑은 고딕"/>
              </a:rPr>
              <a:t>•  트랜잭션당 -99.7% = 트랜잭션 하나의 논리읽기가 300분의 1로 줄었다</a:t>
            </a:r>
          </a:p>
          <a:p>
            <a:pPr>
              <a:spcAft>
                <a:spcPts val="600"/>
              </a:spcAft>
            </a:pPr>
            <a:r>
              <a:rPr sz="1700" b="0">
                <a:solidFill>
                  <a:srgbClr val="222222"/>
                </a:solidFill>
                <a:latin typeface="맑은 고딕"/>
              </a:rPr>
              <a:t>•  모순 아님: 분자(총 읽기) 2.37배, 분모(트랜잭션) 920배 → 나눈 값 급감</a:t>
            </a:r>
          </a:p>
          <a:p>
            <a:pPr>
              <a:spcAft>
                <a:spcPts val="600"/>
              </a:spcAft>
            </a:pPr>
            <a:r>
              <a:rPr sz="1700" b="0">
                <a:solidFill>
                  <a:srgbClr val="222222"/>
                </a:solidFill>
                <a:latin typeface="맑은 고딕"/>
              </a:rPr>
              <a:t>•  파싱도 동일 — 초당 하드파싱 +173%지만 트랜잭션당은 -99.7%</a:t>
            </a:r>
          </a:p>
          <a:p>
            <a:pPr>
              <a:spcAft>
                <a:spcPts val="600"/>
              </a:spcAft>
            </a:pPr>
            <a:r>
              <a:rPr sz="1700" b="0">
                <a:solidFill>
                  <a:srgbClr val="222222"/>
                </a:solidFill>
                <a:latin typeface="맑은 고딕"/>
              </a:rPr>
              <a:t>•  트랜잭션당이 늘었다면 그때가 진짜 파싱 문제(ch32)</a:t>
            </a:r>
          </a:p>
        </p:txBody>
      </p:sp>
    </p:spTree>
    <p:extLst>
      <p:ext uri="{BB962C8B-B14F-4D97-AF65-F5344CB8AC3E}">
        <p14:creationId xmlns:p14="http://schemas.microsoft.com/office/powerpoint/2010/main" val="1691750792"/>
      </p:ext>
    </p:extLst>
  </p:cSld>
  <p:clrMapOvr>
    <a:masterClrMapping/>
  </p:clrMapOvr>
</p:sld>
</file>

<file path=ppt/slides/slide9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Top Timed Events도 함께 본다</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Load Profile='얼마나' / Timed Events='어디로'</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600"/>
              </a:spcAft>
            </a:pPr>
            <a:r>
              <a:rPr sz="1700" b="0">
                <a:solidFill>
                  <a:srgbClr val="222222"/>
                </a:solidFill>
                <a:latin typeface="맑은 고딕"/>
              </a:rPr>
              <a:t>•  Load Profile은 '얼마나 많은 일을 했나', Timed Events는 '시간이 어디로 갔나'</a:t>
            </a:r>
          </a:p>
          <a:p>
            <a:pPr>
              <a:spcAft>
                <a:spcPts val="600"/>
              </a:spcAft>
            </a:pPr>
            <a:r>
              <a:rPr sz="1700" b="0">
                <a:solidFill>
                  <a:srgbClr val="222222"/>
                </a:solidFill>
                <a:latin typeface="맑은 고딕"/>
              </a:rPr>
              <a:t>•  실측 두 구간 모두 DB CPU가 최상단 — CPU 바운드</a:t>
            </a:r>
          </a:p>
          <a:p>
            <a:pPr>
              <a:spcAft>
                <a:spcPts val="600"/>
              </a:spcAft>
            </a:pPr>
            <a:r>
              <a:rPr sz="1700" b="0">
                <a:solidFill>
                  <a:srgbClr val="222222"/>
                </a:solidFill>
                <a:latin typeface="맑은 고딕"/>
              </a:rPr>
              <a:t>•  대기 이벤트 순위·비중이 크게 흔들리지 않음 = 같은 성격의 워크로드</a:t>
            </a:r>
          </a:p>
          <a:p>
            <a:pPr>
              <a:spcAft>
                <a:spcPts val="600"/>
              </a:spcAft>
            </a:pPr>
            <a:r>
              <a:rPr sz="1700" b="0">
                <a:solidFill>
                  <a:srgbClr val="222222"/>
                </a:solidFill>
                <a:latin typeface="맑은 고딕"/>
              </a:rPr>
              <a:t>•  어느 대기가 갑자기 상위로 치고 오르면 → 성능 저하의 실마리</a:t>
            </a:r>
          </a:p>
        </p:txBody>
      </p:sp>
    </p:spTree>
    <p:extLst>
      <p:ext uri="{BB962C8B-B14F-4D97-AF65-F5344CB8AC3E}">
        <p14:creationId xmlns:p14="http://schemas.microsoft.com/office/powerpoint/2010/main" val="3809801968"/>
      </p:ext>
    </p:extLst>
  </p:cSld>
  <p:clrMapOvr>
    <a:masterClrMapping/>
  </p:clrMapOvr>
</p:sld>
</file>

<file path=ppt/slides/slide9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23.6</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핵심 판정 — 부하 증가인가 성능 저하인가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194560"/>
          </a:xfrm>
          <a:prstGeom prst="rect">
            <a:avLst/>
          </a:prstGeom>
          <a:noFill/>
        </p:spPr>
        <p:txBody>
          <a:bodyPr wrap="square">
            <a:spAutoFit/>
          </a:bodyPr>
          <a:lstStyle/>
          <a:p>
            <a:r>
              <a:rPr sz="1600" b="0">
                <a:solidFill>
                  <a:srgbClr val="FFFFFF"/>
                </a:solidFill>
                <a:latin typeface="맑은 고딕"/>
              </a:rPr>
              <a:t>•  DB Time 81.8초 → 302.0초 (3.7배)</a:t>
            </a:r>
          </a:p>
          <a:p>
            <a:r>
              <a:rPr sz="1600" b="0">
                <a:solidFill>
                  <a:srgbClr val="FFFFFF"/>
                </a:solidFill>
                <a:latin typeface="맑은 고딕"/>
              </a:rPr>
              <a:t>•  느려진 것 vs 일이 늘어난 것</a:t>
            </a:r>
          </a:p>
          <a:p>
            <a:r>
              <a:rPr sz="1600" b="0">
                <a:solidFill>
                  <a:srgbClr val="FFFFFF"/>
                </a:solidFill>
                <a:latin typeface="맑은 고딕"/>
              </a:rPr>
              <a:t>•  단위 작업당 DB Time으로 나눠 판정</a:t>
            </a:r>
          </a:p>
          <a:p>
            <a:r>
              <a:rPr sz="1600" b="0">
                <a:solidFill>
                  <a:srgbClr val="FFFFFF"/>
                </a:solidFill>
                <a:latin typeface="맑은 고딕"/>
              </a:rPr>
              <a:t>•  흔한 실수: 부하 증가를 성능 저하로 보고</a:t>
            </a:r>
          </a:p>
        </p:txBody>
      </p:sp>
    </p:spTree>
    <p:extLst>
      <p:ext uri="{BB962C8B-B14F-4D97-AF65-F5344CB8AC3E}">
        <p14:creationId xmlns:p14="http://schemas.microsoft.com/office/powerpoint/2010/main" val="3528876970"/>
      </p:ext>
    </p:extLst>
  </p:cSld>
  <p:clrMapOvr>
    <a:masterClrMapping/>
  </p:clrMapOvr>
</p:sld>
</file>

<file path=ppt/slides/slide9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판정의 원리</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DB Time을 '한 일'로 나눈다</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600"/>
              </a:spcAft>
            </a:pPr>
            <a:r>
              <a:rPr sz="1700" b="0">
                <a:solidFill>
                  <a:srgbClr val="222222"/>
                </a:solidFill>
                <a:latin typeface="맑은 고딕"/>
              </a:rPr>
              <a:t>•  총 DB Time 증가율(3.7배)과 '일의 양' 증가율(트랜잭션 920배)을 비교</a:t>
            </a:r>
          </a:p>
          <a:p>
            <a:pPr>
              <a:spcAft>
                <a:spcPts val="600"/>
              </a:spcAft>
            </a:pPr>
            <a:r>
              <a:rPr sz="1700" b="0">
                <a:solidFill>
                  <a:srgbClr val="222222"/>
                </a:solidFill>
                <a:latin typeface="맑은 고딕"/>
              </a:rPr>
              <a:t>•  단위 작업당 DB Time = 총 DB Time ÷ 처리한 일 → 두 구간 비교</a:t>
            </a:r>
          </a:p>
          <a:p>
            <a:pPr>
              <a:spcAft>
                <a:spcPts val="600"/>
              </a:spcAft>
            </a:pPr>
            <a:r>
              <a:rPr sz="1700" b="0">
                <a:solidFill>
                  <a:srgbClr val="222222"/>
                </a:solidFill>
                <a:latin typeface="맑은 고딕"/>
              </a:rPr>
              <a:t>•  줄었으면 부하 증가, 늘었으면 성능 저하</a:t>
            </a:r>
          </a:p>
          <a:p>
            <a:pPr>
              <a:spcAft>
                <a:spcPts val="600"/>
              </a:spcAft>
            </a:pPr>
            <a:r>
              <a:rPr sz="1700" b="0">
                <a:solidFill>
                  <a:srgbClr val="222222"/>
                </a:solidFill>
                <a:latin typeface="맑은 고딕"/>
              </a:rPr>
              <a:t>•  '3.7배'만으로는 좋은지 나쁜지 모른다 — 분모를 알아야 의미가 생김</a:t>
            </a:r>
          </a:p>
          <a:p>
            <a:pPr>
              <a:spcAft>
                <a:spcPts val="600"/>
              </a:spcAft>
            </a:pPr>
            <a:r>
              <a:rPr sz="1700" b="0">
                <a:solidFill>
                  <a:srgbClr val="222222"/>
                </a:solidFill>
                <a:latin typeface="맑은 고딕"/>
              </a:rPr>
              <a:t>•  분모는 하나로 고정(OLTP=트랜잭션, 배치=실행) — 두 구간에 똑같이</a:t>
            </a:r>
          </a:p>
        </p:txBody>
      </p:sp>
    </p:spTree>
    <p:extLst>
      <p:ext uri="{BB962C8B-B14F-4D97-AF65-F5344CB8AC3E}">
        <p14:creationId xmlns:p14="http://schemas.microsoft.com/office/powerpoint/2010/main" val="55203077"/>
      </p:ext>
    </p:extLst>
  </p:cSld>
  <p:clrMapOvr>
    <a:masterClrMapping/>
  </p:clrMapOvr>
</p:sld>
</file>

<file path=ppt/slides/slide9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판정 표 — 실측 종합</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총량만 보면 '저하', 분모를 보면 '부하 증가'</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600"/>
              </a:spcAft>
            </a:pPr>
            <a:r>
              <a:rPr sz="1700" b="0">
                <a:solidFill>
                  <a:srgbClr val="222222"/>
                </a:solidFill>
                <a:latin typeface="맑은 고딕"/>
              </a:rPr>
              <a:t>•  DB Time: 81.8초 → 302.0초 (3.7배) — 이것만 보면 '느려졌다'</a:t>
            </a:r>
          </a:p>
          <a:p>
            <a:pPr>
              <a:spcAft>
                <a:spcPts val="600"/>
              </a:spcAft>
            </a:pPr>
            <a:r>
              <a:rPr sz="1700" b="0">
                <a:solidFill>
                  <a:srgbClr val="222222"/>
                </a:solidFill>
                <a:latin typeface="맑은 고딕"/>
              </a:rPr>
              <a:t>•  DB CPU: 81.5초 → 293.9초 — 두 구간 모두 CPU 바운드</a:t>
            </a:r>
          </a:p>
          <a:p>
            <a:pPr>
              <a:spcAft>
                <a:spcPts val="600"/>
              </a:spcAft>
            </a:pPr>
            <a:r>
              <a:rPr sz="1700" b="0">
                <a:solidFill>
                  <a:srgbClr val="222222"/>
                </a:solidFill>
                <a:latin typeface="맑은 고딕"/>
              </a:rPr>
              <a:t>•  Transactions/초: 0.3 → 276.3 — 처리한 일 약 920배</a:t>
            </a:r>
          </a:p>
          <a:p>
            <a:pPr>
              <a:spcAft>
                <a:spcPts val="600"/>
              </a:spcAft>
            </a:pPr>
            <a:r>
              <a:rPr sz="1700" b="0">
                <a:solidFill>
                  <a:srgbClr val="222222"/>
                </a:solidFill>
                <a:latin typeface="맑은 고딕"/>
              </a:rPr>
              <a:t>•  논리읽기/txn: 1,916,243 → 4,949 — 단위 작업당은 -99.7%, 효율 개선</a:t>
            </a:r>
          </a:p>
          <a:p>
            <a:pPr>
              <a:spcAft>
                <a:spcPts val="600"/>
              </a:spcAft>
            </a:pPr>
            <a:r>
              <a:rPr sz="1700" b="0">
                <a:solidFill>
                  <a:srgbClr val="222222"/>
                </a:solidFill>
                <a:latin typeface="맑은 고딕"/>
              </a:rPr>
              <a:t>•  결론: 성능 저하 아님 → 부하(일) 증가. 실행계획 손대면 과잉 조치</a:t>
            </a:r>
          </a:p>
        </p:txBody>
      </p:sp>
    </p:spTree>
    <p:extLst>
      <p:ext uri="{BB962C8B-B14F-4D97-AF65-F5344CB8AC3E}">
        <p14:creationId xmlns:p14="http://schemas.microsoft.com/office/powerpoint/2010/main" val="793010516"/>
      </p:ext>
    </p:extLst>
  </p:cSld>
  <p:clrMapOvr>
    <a:masterClrMapping/>
  </p:clrMapOvr>
</p:sld>
</file>

<file path=ppt/slides/slide9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흔한 실수와 교차 검증</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부하 증가를 성능 저하로 보고</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600"/>
              </a:spcAft>
            </a:pPr>
            <a:r>
              <a:rPr sz="1700" b="0">
                <a:solidFill>
                  <a:srgbClr val="222222"/>
                </a:solidFill>
                <a:latin typeface="맑은 고딕"/>
              </a:rPr>
              <a:t>•  오판 경로: 초당·절대 지표 급증 → '나빠졌다' → SQL 계획 뜯기 → 사이드이펙트</a:t>
            </a:r>
          </a:p>
          <a:p>
            <a:pPr>
              <a:spcAft>
                <a:spcPts val="600"/>
              </a:spcAft>
            </a:pPr>
            <a:r>
              <a:rPr sz="1700" b="0">
                <a:solidFill>
                  <a:srgbClr val="222222"/>
                </a:solidFill>
                <a:latin typeface="맑은 고딕"/>
              </a:rPr>
              <a:t>•  근본 원인: 첫 단계에서 분모(처리한 일)를 함께 보지 않음</a:t>
            </a:r>
          </a:p>
          <a:p>
            <a:pPr>
              <a:spcAft>
                <a:spcPts val="600"/>
              </a:spcAft>
            </a:pPr>
            <a:r>
              <a:rPr sz="1700" b="0">
                <a:solidFill>
                  <a:srgbClr val="222222"/>
                </a:solidFill>
                <a:latin typeface="맑은 고딕"/>
              </a:rPr>
              <a:t>•  습관: 총량이 늘었다는 보고엔 반드시 트랜잭션·실행을 함께 나눠 본다</a:t>
            </a:r>
          </a:p>
          <a:p>
            <a:pPr>
              <a:spcAft>
                <a:spcPts val="600"/>
              </a:spcAft>
            </a:pPr>
            <a:r>
              <a:rPr sz="1700" b="0">
                <a:solidFill>
                  <a:srgbClr val="222222"/>
                </a:solidFill>
                <a:latin typeface="맑은 고딕"/>
              </a:rPr>
              <a:t>•  교차 검증: 대기 구조 유지=부하 증가 / 특정 대기 급증=성능 저하</a:t>
            </a:r>
          </a:p>
          <a:p>
            <a:pPr>
              <a:spcAft>
                <a:spcPts val="600"/>
              </a:spcAft>
            </a:pPr>
            <a:r>
              <a:rPr sz="1700" b="0">
                <a:solidFill>
                  <a:srgbClr val="222222"/>
                </a:solidFill>
                <a:latin typeface="맑은 고딕"/>
              </a:rPr>
              <a:t>•  CPU 바운드면 대기 사냥은 무의미 — CPU 줄이는 SQL·자원을 본다</a:t>
            </a:r>
          </a:p>
        </p:txBody>
      </p:sp>
    </p:spTree>
    <p:extLst>
      <p:ext uri="{BB962C8B-B14F-4D97-AF65-F5344CB8AC3E}">
        <p14:creationId xmlns:p14="http://schemas.microsoft.com/office/powerpoint/2010/main" val="3130767607"/>
      </p:ext>
    </p:extLst>
  </p:cSld>
  <p:clrMapOvr>
    <a:masterClrMapping/>
  </p:clrMapOvr>
</p:sld>
</file>

<file path=ppt/slides/slide9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실무 시나리오 · '초당 논리읽기 2.4배' 경보</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부하 증가를 성능 저하로 오판할 뻔</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600"/>
              </a:spcAft>
            </a:pPr>
            <a:r>
              <a:rPr sz="1700" b="0">
                <a:solidFill>
                  <a:srgbClr val="222222"/>
                </a:solidFill>
                <a:latin typeface="맑은 고딕"/>
              </a:rPr>
              <a:t>•  상황: 대시보드가 '초당 논리읽기 어제 대비 2.4배' 경보 → '캐시 폭식 SQL 잡아라'</a:t>
            </a:r>
          </a:p>
          <a:p>
            <a:pPr>
              <a:spcAft>
                <a:spcPts val="600"/>
              </a:spcAft>
            </a:pPr>
            <a:r>
              <a:rPr sz="1700" b="0">
                <a:solidFill>
                  <a:srgbClr val="222222"/>
                </a:solidFill>
                <a:latin typeface="맑은 고딕"/>
              </a:rPr>
              <a:t>•  먼저 할 일: 같은 구간의 트랜잭션 수를 본다(920배 폭증)</a:t>
            </a:r>
          </a:p>
          <a:p>
            <a:pPr>
              <a:spcAft>
                <a:spcPts val="600"/>
              </a:spcAft>
            </a:pPr>
            <a:r>
              <a:rPr sz="1700" b="0">
                <a:solidFill>
                  <a:srgbClr val="222222"/>
                </a:solidFill>
                <a:latin typeface="맑은 고딕"/>
              </a:rPr>
              <a:t>•  판정: 트랜잭션당 논리읽기 -99.7% → 개별 작업은 더 효율적</a:t>
            </a:r>
          </a:p>
          <a:p>
            <a:pPr>
              <a:spcAft>
                <a:spcPts val="600"/>
              </a:spcAft>
            </a:pPr>
            <a:r>
              <a:rPr sz="1700" b="0">
                <a:solidFill>
                  <a:srgbClr val="222222"/>
                </a:solidFill>
                <a:latin typeface="맑은 고딕"/>
              </a:rPr>
              <a:t>•  늘어난 건 효율 나쁜 SQL이 아니라 '들어온 일의 양'</a:t>
            </a:r>
          </a:p>
          <a:p>
            <a:pPr>
              <a:spcAft>
                <a:spcPts val="600"/>
              </a:spcAft>
            </a:pPr>
            <a:r>
              <a:rPr sz="1700" b="0">
                <a:solidFill>
                  <a:srgbClr val="222222"/>
                </a:solidFill>
                <a:latin typeface="맑은 고딕"/>
              </a:rPr>
              <a:t>•  교훈: 초당값 하나만 보면 오판 — 반드시 단위 작업당과 함께 본다</a:t>
            </a:r>
          </a:p>
        </p:txBody>
      </p:sp>
    </p:spTree>
    <p:extLst>
      <p:ext uri="{BB962C8B-B14F-4D97-AF65-F5344CB8AC3E}">
        <p14:creationId xmlns:p14="http://schemas.microsoft.com/office/powerpoint/2010/main" val="788406607"/>
      </p:ext>
    </p:extLst>
  </p:cSld>
  <p:clrMapOvr>
    <a:masterClrMapping/>
  </p:clrMapOvr>
</p:sld>
</file>

<file path=ppt/slides/slide9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23.7</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SQL 단위 회귀 탐지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194560"/>
          </a:xfrm>
          <a:prstGeom prst="rect">
            <a:avLst/>
          </a:prstGeom>
          <a:noFill/>
        </p:spPr>
        <p:txBody>
          <a:bodyPr wrap="square">
            <a:spAutoFit/>
          </a:bodyPr>
          <a:lstStyle/>
          <a:p>
            <a:r>
              <a:rPr sz="1600" b="0">
                <a:solidFill>
                  <a:srgbClr val="FFFFFF"/>
                </a:solidFill>
                <a:latin typeface="맑은 고딕"/>
              </a:rPr>
              <a:t>•  집계가 '부하 증가'여도 개별 SQL은 회귀할 수 있다</a:t>
            </a:r>
          </a:p>
          <a:p>
            <a:r>
              <a:rPr sz="1600" b="0">
                <a:solidFill>
                  <a:srgbClr val="FFFFFF"/>
                </a:solidFill>
                <a:latin typeface="맑은 고딕"/>
              </a:rPr>
              <a:t>•  회귀 = 실행 횟수 비슷 + 실행당 시간 급증</a:t>
            </a:r>
          </a:p>
          <a:p>
            <a:r>
              <a:rPr sz="1600" b="0">
                <a:solidFill>
                  <a:srgbClr val="FFFFFF"/>
                </a:solidFill>
                <a:latin typeface="맑은 고딕"/>
              </a:rPr>
              <a:t>•  원인: 실행계획 변경(plan_hash_value)</a:t>
            </a:r>
          </a:p>
          <a:p>
            <a:r>
              <a:rPr sz="1600" b="0">
                <a:solidFill>
                  <a:srgbClr val="FFFFFF"/>
                </a:solidFill>
                <a:latin typeface="맑은 고딕"/>
              </a:rPr>
              <a:t>•  DBA_HIST_SQLSTAT으로 확정</a:t>
            </a:r>
          </a:p>
        </p:txBody>
      </p:sp>
    </p:spTree>
    <p:extLst>
      <p:ext uri="{BB962C8B-B14F-4D97-AF65-F5344CB8AC3E}">
        <p14:creationId xmlns:p14="http://schemas.microsoft.com/office/powerpoint/2010/main" val="2210516399"/>
      </p:ext>
    </p:extLst>
  </p:cSld>
  <p:clrMapOvr>
    <a:masterClrMapping/>
  </p:clrMapOvr>
</p:sld>
</file>

<file path=ppt/slides/slide9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SQL Statistics로 후보 좁히기</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6기준 표에서 무엇을 보나</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600"/>
              </a:spcAft>
            </a:pPr>
            <a:r>
              <a:rPr sz="1700" b="0">
                <a:solidFill>
                  <a:srgbClr val="222222"/>
                </a:solidFill>
                <a:latin typeface="맑은 고딕"/>
              </a:rPr>
              <a:t>•  핵심 신호: 한 구간만 DB Time을 크게 쓴 SQL</a:t>
            </a:r>
          </a:p>
          <a:p>
            <a:pPr>
              <a:spcAft>
                <a:spcPts val="600"/>
              </a:spcAft>
            </a:pPr>
            <a:r>
              <a:rPr sz="1700" b="0">
                <a:solidFill>
                  <a:srgbClr val="222222"/>
                </a:solidFill>
                <a:latin typeface="맑은 고딕"/>
              </a:rPr>
              <a:t>•  실행시간·CPU 급등 → 계산량 늘어난 계획(스캔·해시)</a:t>
            </a:r>
          </a:p>
          <a:p>
            <a:pPr>
              <a:spcAft>
                <a:spcPts val="600"/>
              </a:spcAft>
            </a:pPr>
            <a:r>
              <a:rPr sz="1700" b="0">
                <a:solidFill>
                  <a:srgbClr val="222222"/>
                </a:solidFill>
                <a:latin typeface="맑은 고딕"/>
              </a:rPr>
              <a:t>•  버퍼읽기 급등 → 인덱스에서 전체 스캔으로 접근 경로 변경</a:t>
            </a:r>
          </a:p>
          <a:p>
            <a:pPr>
              <a:spcAft>
                <a:spcPts val="600"/>
              </a:spcAft>
            </a:pPr>
            <a:r>
              <a:rPr sz="1700" b="0">
                <a:solidFill>
                  <a:srgbClr val="222222"/>
                </a:solidFill>
                <a:latin typeface="맑은 고딕"/>
              </a:rPr>
              <a:t>•  물리읽기 급등 → 캐시 미스 대량 / 파싱 급등 → 커서·바인드 문제</a:t>
            </a:r>
          </a:p>
          <a:p>
            <a:pPr>
              <a:spcAft>
                <a:spcPts val="600"/>
              </a:spcAft>
            </a:pPr>
            <a:r>
              <a:rPr sz="1700" b="0">
                <a:solidFill>
                  <a:srgbClr val="222222"/>
                </a:solidFill>
                <a:latin typeface="맑은 고딕"/>
              </a:rPr>
              <a:t>•  실행횟수 급등은 '느려진' 게 아니라 '더 불린' 것(부하 증가)</a:t>
            </a:r>
          </a:p>
        </p:txBody>
      </p:sp>
    </p:spTree>
    <p:extLst>
      <p:ext uri="{BB962C8B-B14F-4D97-AF65-F5344CB8AC3E}">
        <p14:creationId xmlns:p14="http://schemas.microsoft.com/office/powerpoint/2010/main" val="1087538097"/>
      </p:ext>
    </p:extLst>
  </p:cSld>
  <p:clrMapOvr>
    <a:masterClrMapping/>
  </p:clrMapOvr>
</p:sld>
</file>

<file path=ppt/slides/slide9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DBA_HIST_SQLSTAT으로 확정</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실행당 지표 + plan_hash_value 두 구간 비교</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37160" rtlCol="0" anchor="ctr"/>
          <a:lstStyle/>
          <a:p>
            <a:pPr>
              <a:spcAft>
                <a:spcPts val="0"/>
              </a:spcAft>
            </a:pPr>
            <a:r>
              <a:rPr sz="1250" b="0" dirty="0" err="1">
                <a:solidFill>
                  <a:srgbClr val="F2F2F2"/>
                </a:solidFill>
                <a:latin typeface="Consolas"/>
              </a:rPr>
              <a:t>SQLT@orcl</a:t>
            </a:r>
            <a:r>
              <a:rPr sz="1250" b="0" dirty="0">
                <a:solidFill>
                  <a:srgbClr val="F2F2F2"/>
                </a:solidFill>
                <a:latin typeface="Consolas"/>
              </a:rPr>
              <a:t>&gt; SELECT </a:t>
            </a:r>
            <a:r>
              <a:rPr sz="1250" b="0" dirty="0" err="1">
                <a:solidFill>
                  <a:srgbClr val="F2F2F2"/>
                </a:solidFill>
                <a:latin typeface="Consolas"/>
              </a:rPr>
              <a:t>snap_id</a:t>
            </a:r>
            <a:r>
              <a:rPr sz="1250" b="0" dirty="0">
                <a:solidFill>
                  <a:srgbClr val="F2F2F2"/>
                </a:solidFill>
                <a:latin typeface="Consolas"/>
              </a:rPr>
              <a:t>, </a:t>
            </a:r>
            <a:r>
              <a:rPr sz="1250" b="0" dirty="0" err="1">
                <a:solidFill>
                  <a:srgbClr val="F2F2F2"/>
                </a:solidFill>
                <a:latin typeface="Consolas"/>
              </a:rPr>
              <a:t>plan_hash_value</a:t>
            </a:r>
            <a:r>
              <a:rPr sz="1250" b="0" dirty="0">
                <a:solidFill>
                  <a:srgbClr val="F2F2F2"/>
                </a:solidFill>
                <a:latin typeface="Consolas"/>
              </a:rPr>
              <a:t>,</a:t>
            </a:r>
          </a:p>
          <a:p>
            <a:pPr>
              <a:spcAft>
                <a:spcPts val="0"/>
              </a:spcAft>
            </a:pPr>
            <a:r>
              <a:rPr sz="1250" b="0" dirty="0">
                <a:solidFill>
                  <a:srgbClr val="F2F2F2"/>
                </a:solidFill>
                <a:latin typeface="Consolas"/>
              </a:rPr>
              <a:t>  2    </a:t>
            </a:r>
            <a:r>
              <a:rPr sz="1250" b="0" dirty="0" err="1">
                <a:solidFill>
                  <a:srgbClr val="F2F2F2"/>
                </a:solidFill>
                <a:latin typeface="Consolas"/>
              </a:rPr>
              <a:t>executions_delta</a:t>
            </a:r>
            <a:r>
              <a:rPr sz="1250" b="0" dirty="0">
                <a:solidFill>
                  <a:srgbClr val="F2F2F2"/>
                </a:solidFill>
                <a:latin typeface="Consolas"/>
              </a:rPr>
              <a:t> execs,</a:t>
            </a:r>
          </a:p>
          <a:p>
            <a:pPr>
              <a:spcAft>
                <a:spcPts val="0"/>
              </a:spcAft>
            </a:pPr>
            <a:r>
              <a:rPr sz="1250" b="0" dirty="0">
                <a:solidFill>
                  <a:srgbClr val="F2F2F2"/>
                </a:solidFill>
                <a:latin typeface="Consolas"/>
              </a:rPr>
              <a:t>  3    ROUND(</a:t>
            </a:r>
            <a:r>
              <a:rPr sz="1250" b="0" dirty="0" err="1">
                <a:solidFill>
                  <a:srgbClr val="F2F2F2"/>
                </a:solidFill>
                <a:latin typeface="Consolas"/>
              </a:rPr>
              <a:t>elapsed_time_delta</a:t>
            </a:r>
            <a:r>
              <a:rPr sz="1250" b="0" dirty="0">
                <a:solidFill>
                  <a:srgbClr val="F2F2F2"/>
                </a:solidFill>
                <a:latin typeface="Consolas"/>
              </a:rPr>
              <a:t>/NULLIF(executions_delta,0)/1000,2) </a:t>
            </a:r>
            <a:r>
              <a:rPr sz="1250" b="0" dirty="0" err="1">
                <a:solidFill>
                  <a:srgbClr val="F2F2F2"/>
                </a:solidFill>
                <a:latin typeface="Consolas"/>
              </a:rPr>
              <a:t>ms_exec</a:t>
            </a:r>
            <a:r>
              <a:rPr sz="1250" b="0" dirty="0">
                <a:solidFill>
                  <a:srgbClr val="F2F2F2"/>
                </a:solidFill>
                <a:latin typeface="Consolas"/>
              </a:rPr>
              <a:t>,</a:t>
            </a:r>
          </a:p>
          <a:p>
            <a:pPr>
              <a:spcAft>
                <a:spcPts val="0"/>
              </a:spcAft>
            </a:pPr>
            <a:r>
              <a:rPr sz="1250" b="0" dirty="0">
                <a:solidFill>
                  <a:srgbClr val="F2F2F2"/>
                </a:solidFill>
                <a:latin typeface="Consolas"/>
              </a:rPr>
              <a:t>  4    ROUND(</a:t>
            </a:r>
            <a:r>
              <a:rPr sz="1250" b="0" dirty="0" err="1">
                <a:solidFill>
                  <a:srgbClr val="F2F2F2"/>
                </a:solidFill>
                <a:latin typeface="Consolas"/>
              </a:rPr>
              <a:t>buffer_gets_delta</a:t>
            </a:r>
            <a:r>
              <a:rPr sz="1250" b="0" dirty="0">
                <a:solidFill>
                  <a:srgbClr val="F2F2F2"/>
                </a:solidFill>
                <a:latin typeface="Consolas"/>
              </a:rPr>
              <a:t>/NULLIF(executions_delta,0)) </a:t>
            </a:r>
            <a:r>
              <a:rPr sz="1250" b="0" dirty="0" err="1">
                <a:solidFill>
                  <a:srgbClr val="F2F2F2"/>
                </a:solidFill>
                <a:latin typeface="Consolas"/>
              </a:rPr>
              <a:t>gets_exec</a:t>
            </a:r>
            <a:endParaRPr sz="1250" b="0" dirty="0">
              <a:solidFill>
                <a:srgbClr val="F2F2F2"/>
              </a:solidFill>
              <a:latin typeface="Consolas"/>
            </a:endParaRPr>
          </a:p>
          <a:p>
            <a:pPr>
              <a:spcAft>
                <a:spcPts val="0"/>
              </a:spcAft>
            </a:pPr>
            <a:r>
              <a:rPr sz="1250" b="0" dirty="0">
                <a:solidFill>
                  <a:srgbClr val="F2F2F2"/>
                </a:solidFill>
                <a:latin typeface="Consolas"/>
              </a:rPr>
              <a:t>  5  FROM </a:t>
            </a:r>
            <a:r>
              <a:rPr sz="1250" b="0" dirty="0" err="1">
                <a:solidFill>
                  <a:srgbClr val="F2F2F2"/>
                </a:solidFill>
                <a:latin typeface="Consolas"/>
              </a:rPr>
              <a:t>dba_hist_sqlstat</a:t>
            </a:r>
            <a:endParaRPr sz="1250" b="0" dirty="0">
              <a:solidFill>
                <a:srgbClr val="F2F2F2"/>
              </a:solidFill>
              <a:latin typeface="Consolas"/>
            </a:endParaRPr>
          </a:p>
          <a:p>
            <a:pPr>
              <a:spcAft>
                <a:spcPts val="0"/>
              </a:spcAft>
            </a:pPr>
            <a:r>
              <a:rPr sz="1250" b="0" dirty="0">
                <a:solidFill>
                  <a:srgbClr val="F2F2F2"/>
                </a:solidFill>
                <a:latin typeface="Consolas"/>
              </a:rPr>
              <a:t>  6  WHERE </a:t>
            </a:r>
            <a:r>
              <a:rPr sz="1250" b="0" dirty="0" err="1">
                <a:solidFill>
                  <a:srgbClr val="F2F2F2"/>
                </a:solidFill>
                <a:latin typeface="Consolas"/>
              </a:rPr>
              <a:t>sql_id</a:t>
            </a:r>
            <a:r>
              <a:rPr sz="1250" b="0" dirty="0">
                <a:solidFill>
                  <a:srgbClr val="F2F2F2"/>
                </a:solidFill>
                <a:latin typeface="Consolas"/>
              </a:rPr>
              <a:t>='&amp;</a:t>
            </a:r>
            <a:r>
              <a:rPr sz="1250" b="0" dirty="0" err="1">
                <a:solidFill>
                  <a:srgbClr val="F2F2F2"/>
                </a:solidFill>
                <a:latin typeface="Consolas"/>
              </a:rPr>
              <a:t>sql_id</a:t>
            </a:r>
            <a:r>
              <a:rPr sz="1250" b="0" dirty="0">
                <a:solidFill>
                  <a:srgbClr val="F2F2F2"/>
                </a:solidFill>
                <a:latin typeface="Consolas"/>
              </a:rPr>
              <a:t>' AND </a:t>
            </a:r>
            <a:r>
              <a:rPr sz="1250" b="0" dirty="0" err="1">
                <a:solidFill>
                  <a:srgbClr val="F2F2F2"/>
                </a:solidFill>
                <a:latin typeface="Consolas"/>
              </a:rPr>
              <a:t>snap_id</a:t>
            </a:r>
            <a:r>
              <a:rPr sz="1250" b="0" dirty="0">
                <a:solidFill>
                  <a:srgbClr val="F2F2F2"/>
                </a:solidFill>
                <a:latin typeface="Consolas"/>
              </a:rPr>
              <a:t> IN (304,306) ORDER BY </a:t>
            </a:r>
            <a:r>
              <a:rPr sz="1250" b="0" dirty="0" err="1">
                <a:solidFill>
                  <a:srgbClr val="F2F2F2"/>
                </a:solidFill>
                <a:latin typeface="Consolas"/>
              </a:rPr>
              <a:t>snap_id</a:t>
            </a:r>
            <a:r>
              <a:rPr sz="1250" b="0" dirty="0">
                <a:solidFill>
                  <a:srgbClr val="F2F2F2"/>
                </a:solidFill>
                <a:latin typeface="Consolas"/>
              </a:rPr>
              <a:t>;</a:t>
            </a:r>
          </a:p>
          <a:p>
            <a:pPr>
              <a:spcAft>
                <a:spcPts val="0"/>
              </a:spcAft>
            </a:pPr>
            <a:r>
              <a:rPr sz="1250" b="0" dirty="0">
                <a:solidFill>
                  <a:srgbClr val="F2F2F2"/>
                </a:solidFill>
                <a:latin typeface="Consolas"/>
              </a:rPr>
              <a:t> </a:t>
            </a:r>
          </a:p>
          <a:p>
            <a:pPr>
              <a:spcAft>
                <a:spcPts val="0"/>
              </a:spcAft>
            </a:pPr>
            <a:r>
              <a:rPr sz="1250" b="0" dirty="0">
                <a:solidFill>
                  <a:srgbClr val="F2F2F2"/>
                </a:solidFill>
                <a:latin typeface="Consolas"/>
              </a:rPr>
              <a:t> SNAP_ID   PLAN_HASH  EXECS  MS_EXEC  GETS_EXEC</a:t>
            </a:r>
          </a:p>
          <a:p>
            <a:pPr>
              <a:spcAft>
                <a:spcPts val="0"/>
              </a:spcAft>
            </a:pPr>
            <a:r>
              <a:rPr sz="1250" b="0" dirty="0">
                <a:solidFill>
                  <a:srgbClr val="F2F2F2"/>
                </a:solidFill>
                <a:latin typeface="Consolas"/>
              </a:rPr>
              <a:t> -------  ----------  -----  -------  ---------</a:t>
            </a:r>
          </a:p>
          <a:p>
            <a:pPr>
              <a:spcAft>
                <a:spcPts val="0"/>
              </a:spcAft>
            </a:pPr>
            <a:r>
              <a:rPr sz="1250" b="0" dirty="0">
                <a:solidFill>
                  <a:srgbClr val="F2F2F2"/>
                </a:solidFill>
                <a:latin typeface="Consolas"/>
              </a:rPr>
              <a:t>     304  1388734953    500    12.40       1850   -- </a:t>
            </a:r>
            <a:r>
              <a:rPr sz="1250" b="0" dirty="0" err="1">
                <a:solidFill>
                  <a:srgbClr val="F2F2F2"/>
                </a:solidFill>
                <a:latin typeface="Consolas"/>
              </a:rPr>
              <a:t>인덱스</a:t>
            </a:r>
            <a:r>
              <a:rPr sz="1250" b="0" dirty="0">
                <a:solidFill>
                  <a:srgbClr val="F2F2F2"/>
                </a:solidFill>
                <a:latin typeface="Consolas"/>
              </a:rPr>
              <a:t> </a:t>
            </a:r>
            <a:r>
              <a:rPr sz="1250" b="0" dirty="0" err="1">
                <a:solidFill>
                  <a:srgbClr val="F2F2F2"/>
                </a:solidFill>
                <a:latin typeface="Consolas"/>
              </a:rPr>
              <a:t>계획</a:t>
            </a:r>
            <a:endParaRPr sz="1250" b="0" dirty="0">
              <a:solidFill>
                <a:srgbClr val="F2F2F2"/>
              </a:solidFill>
              <a:latin typeface="Consolas"/>
            </a:endParaRPr>
          </a:p>
          <a:p>
            <a:pPr>
              <a:spcAft>
                <a:spcPts val="0"/>
              </a:spcAft>
            </a:pPr>
            <a:r>
              <a:rPr sz="1250" b="0" dirty="0">
                <a:solidFill>
                  <a:srgbClr val="F2F2F2"/>
                </a:solidFill>
                <a:latin typeface="Consolas"/>
              </a:rPr>
              <a:t>     306   983734112    520   112.31      42800   -- </a:t>
            </a:r>
            <a:r>
              <a:rPr sz="1250" b="0" dirty="0" err="1">
                <a:solidFill>
                  <a:srgbClr val="F2F2F2"/>
                </a:solidFill>
                <a:latin typeface="Consolas"/>
              </a:rPr>
              <a:t>전체스캔</a:t>
            </a:r>
            <a:r>
              <a:rPr sz="1250" b="0" dirty="0">
                <a:solidFill>
                  <a:srgbClr val="F2F2F2"/>
                </a:solidFill>
                <a:latin typeface="Consolas"/>
              </a:rPr>
              <a:t> </a:t>
            </a:r>
            <a:r>
              <a:rPr sz="1250" b="0" dirty="0" err="1">
                <a:solidFill>
                  <a:srgbClr val="F2F2F2"/>
                </a:solidFill>
                <a:latin typeface="Consolas"/>
              </a:rPr>
              <a:t>계획</a:t>
            </a:r>
            <a:r>
              <a:rPr sz="1250" b="0" dirty="0">
                <a:solidFill>
                  <a:srgbClr val="F2F2F2"/>
                </a:solidFill>
                <a:latin typeface="Consolas"/>
              </a:rPr>
              <a:t>(</a:t>
            </a:r>
            <a:r>
              <a:rPr sz="1250" b="0" dirty="0" err="1">
                <a:solidFill>
                  <a:srgbClr val="F2F2F2"/>
                </a:solidFill>
                <a:latin typeface="Consolas"/>
              </a:rPr>
              <a:t>회귀</a:t>
            </a:r>
            <a:r>
              <a:rPr sz="1250" b="0" dirty="0">
                <a:solidFill>
                  <a:srgbClr val="F2F2F2"/>
                </a:solidFill>
                <a:latin typeface="Consolas"/>
              </a:rPr>
              <a:t>)</a:t>
            </a:r>
          </a:p>
        </p:txBody>
      </p:sp>
    </p:spTree>
    <p:extLst>
      <p:ext uri="{BB962C8B-B14F-4D97-AF65-F5344CB8AC3E}">
        <p14:creationId xmlns:p14="http://schemas.microsoft.com/office/powerpoint/2010/main" val="1822307159"/>
      </p:ext>
    </p:extLst>
  </p:cSld>
  <p:clrMapOvr>
    <a:masterClrMapping/>
  </p:clrMapOvr>
</p:sld>
</file>

<file path=ppt/slides/slide9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왜 실행계획이 바뀌는가</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원인을 알아야 조치가 정해진다</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600"/>
              </a:spcAft>
            </a:pPr>
            <a:r>
              <a:rPr sz="1700" b="0">
                <a:solidFill>
                  <a:srgbClr val="222222"/>
                </a:solidFill>
                <a:latin typeface="맑은 고딕"/>
              </a:rPr>
              <a:t>•  통계 변화 — 카디널리티 추정이 달라져 다른 계획 선택</a:t>
            </a:r>
          </a:p>
          <a:p>
            <a:pPr>
              <a:spcAft>
                <a:spcPts val="600"/>
              </a:spcAft>
            </a:pPr>
            <a:r>
              <a:rPr sz="1700" b="0">
                <a:solidFill>
                  <a:srgbClr val="222222"/>
                </a:solidFill>
                <a:latin typeface="맑은 고딕"/>
              </a:rPr>
              <a:t>•  바인드 값 편향(bind peeking) — 첫 파싱 값이 대표적이지 않음</a:t>
            </a:r>
          </a:p>
          <a:p>
            <a:pPr>
              <a:spcAft>
                <a:spcPts val="600"/>
              </a:spcAft>
            </a:pPr>
            <a:r>
              <a:rPr sz="1700" b="0">
                <a:solidFill>
                  <a:srgbClr val="222222"/>
                </a:solidFill>
                <a:latin typeface="맑은 고딕"/>
              </a:rPr>
              <a:t>•  적응형 계획·SQL Plan Directives의 개입</a:t>
            </a:r>
          </a:p>
          <a:p>
            <a:pPr>
              <a:spcAft>
                <a:spcPts val="600"/>
              </a:spcAft>
            </a:pPr>
            <a:r>
              <a:rPr sz="1700" b="0">
                <a:solidFill>
                  <a:srgbClr val="222222"/>
                </a:solidFill>
                <a:latin typeface="맑은 고딕"/>
              </a:rPr>
              <a:t>•  인덱스·파티션 등 스키마 변경</a:t>
            </a:r>
          </a:p>
          <a:p>
            <a:pPr>
              <a:spcAft>
                <a:spcPts val="600"/>
              </a:spcAft>
            </a:pPr>
            <a:r>
              <a:rPr sz="1700" b="0">
                <a:solidFill>
                  <a:srgbClr val="222222"/>
                </a:solidFill>
                <a:latin typeface="맑은 고딕"/>
              </a:rPr>
              <a:t>•  급한 불: 좋았던 계획을 SPM 베이스라인으로 고정(임시 조치임을 기록)</a:t>
            </a:r>
          </a:p>
        </p:txBody>
      </p:sp>
    </p:spTree>
    <p:extLst>
      <p:ext uri="{BB962C8B-B14F-4D97-AF65-F5344CB8AC3E}">
        <p14:creationId xmlns:p14="http://schemas.microsoft.com/office/powerpoint/2010/main" val="4081658219"/>
      </p:ext>
    </p:extLst>
  </p:cSld>
  <p:clrMapOvr>
    <a:masterClrMapping/>
  </p:clrMapOvr>
</p:sld>
</file>

<file path=ppt/slides/slide9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23.8</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베이스라인 대비 비교</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194560"/>
          </a:xfrm>
          <a:prstGeom prst="rect">
            <a:avLst/>
          </a:prstGeom>
          <a:noFill/>
        </p:spPr>
        <p:txBody>
          <a:bodyPr wrap="square">
            <a:spAutoFit/>
          </a:bodyPr>
          <a:lstStyle/>
          <a:p>
            <a:r>
              <a:rPr sz="1600" b="0">
                <a:solidFill>
                  <a:srgbClr val="FFFFFF"/>
                </a:solidFill>
                <a:latin typeface="맑은 고딕"/>
              </a:rPr>
              <a:t>•  평시 구간을 이름 붙여 보존 — 보존 기간이 지나도 안 지워짐</a:t>
            </a:r>
          </a:p>
          <a:p>
            <a:r>
              <a:rPr sz="1600" b="0">
                <a:solidFill>
                  <a:srgbClr val="FFFFFF"/>
                </a:solidFill>
                <a:latin typeface="맑은 고딕"/>
              </a:rPr>
              <a:t>•  CREATE_BASELINE으로 고정 베이스라인</a:t>
            </a:r>
          </a:p>
          <a:p>
            <a:r>
              <a:rPr sz="1600" b="0">
                <a:solidFill>
                  <a:srgbClr val="FFFFFF"/>
                </a:solidFill>
                <a:latin typeface="맑은 고딕"/>
              </a:rPr>
              <a:t>•  고정 vs 이동 윈도우(SYSTEM_MOVING_WINDOW)</a:t>
            </a:r>
          </a:p>
          <a:p>
            <a:r>
              <a:rPr sz="1600" b="0">
                <a:solidFill>
                  <a:srgbClr val="FFFFFF"/>
                </a:solidFill>
                <a:latin typeface="맑은 고딕"/>
              </a:rPr>
              <a:t>•  이동 윈도우 → 적응형 임계값(ch28)</a:t>
            </a:r>
          </a:p>
        </p:txBody>
      </p:sp>
    </p:spTree>
    <p:extLst>
      <p:ext uri="{BB962C8B-B14F-4D97-AF65-F5344CB8AC3E}">
        <p14:creationId xmlns:p14="http://schemas.microsoft.com/office/powerpoint/2010/main" val="56506667"/>
      </p:ext>
    </p:extLst>
  </p:cSld>
  <p:clrMapOvr>
    <a:masterClrMapping/>
  </p:clrMapOvr>
</p:sld>
</file>

<file path=ppt/slides/slide9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고정 베이스라인 만들기</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DBMS_WORKLOAD_REPOSITORY.CREATE_BASELINE</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37160" rtlCol="0" anchor="ctr"/>
          <a:lstStyle/>
          <a:p>
            <a:pPr>
              <a:spcAft>
                <a:spcPts val="0"/>
              </a:spcAft>
            </a:pPr>
            <a:r>
              <a:rPr sz="1250" b="0" dirty="0" err="1">
                <a:solidFill>
                  <a:srgbClr val="F2F2F2"/>
                </a:solidFill>
                <a:latin typeface="Consolas"/>
              </a:rPr>
              <a:t>SYS@orcl</a:t>
            </a:r>
            <a:r>
              <a:rPr sz="1250" b="0" dirty="0">
                <a:solidFill>
                  <a:srgbClr val="F2F2F2"/>
                </a:solidFill>
                <a:latin typeface="Consolas"/>
              </a:rPr>
              <a:t>&gt; BEGIN</a:t>
            </a:r>
          </a:p>
          <a:p>
            <a:pPr>
              <a:spcAft>
                <a:spcPts val="0"/>
              </a:spcAft>
            </a:pPr>
            <a:r>
              <a:rPr sz="1250" b="0" dirty="0">
                <a:solidFill>
                  <a:srgbClr val="F2F2F2"/>
                </a:solidFill>
                <a:latin typeface="Consolas"/>
              </a:rPr>
              <a:t>  2    DBMS_WORKLOAD_REPOSITORY.CREATE_BASELINE(</a:t>
            </a:r>
          </a:p>
          <a:p>
            <a:pPr>
              <a:spcAft>
                <a:spcPts val="0"/>
              </a:spcAft>
            </a:pPr>
            <a:r>
              <a:rPr sz="1250" b="0" dirty="0">
                <a:solidFill>
                  <a:srgbClr val="F2F2F2"/>
                </a:solidFill>
                <a:latin typeface="Consolas"/>
              </a:rPr>
              <a:t>  3       </a:t>
            </a:r>
            <a:r>
              <a:rPr sz="1250" b="0" dirty="0" err="1">
                <a:solidFill>
                  <a:srgbClr val="F2F2F2"/>
                </a:solidFill>
                <a:latin typeface="Consolas"/>
              </a:rPr>
              <a:t>start_snap_id</a:t>
            </a:r>
            <a:r>
              <a:rPr sz="1250" b="0" dirty="0">
                <a:solidFill>
                  <a:srgbClr val="F2F2F2"/>
                </a:solidFill>
                <a:latin typeface="Consolas"/>
              </a:rPr>
              <a:t> =&gt; 303,</a:t>
            </a:r>
          </a:p>
          <a:p>
            <a:pPr>
              <a:spcAft>
                <a:spcPts val="0"/>
              </a:spcAft>
            </a:pPr>
            <a:r>
              <a:rPr sz="1250" b="0" dirty="0">
                <a:solidFill>
                  <a:srgbClr val="F2F2F2"/>
                </a:solidFill>
                <a:latin typeface="Consolas"/>
              </a:rPr>
              <a:t>  4       </a:t>
            </a:r>
            <a:r>
              <a:rPr sz="1250" b="0" dirty="0" err="1">
                <a:solidFill>
                  <a:srgbClr val="F2F2F2"/>
                </a:solidFill>
                <a:latin typeface="Consolas"/>
              </a:rPr>
              <a:t>end_snap_id</a:t>
            </a:r>
            <a:r>
              <a:rPr sz="1250" b="0" dirty="0">
                <a:solidFill>
                  <a:srgbClr val="F2F2F2"/>
                </a:solidFill>
                <a:latin typeface="Consolas"/>
              </a:rPr>
              <a:t>   =&gt; 304,</a:t>
            </a:r>
          </a:p>
          <a:p>
            <a:pPr>
              <a:spcAft>
                <a:spcPts val="0"/>
              </a:spcAft>
            </a:pPr>
            <a:r>
              <a:rPr sz="1250" b="0" dirty="0">
                <a:solidFill>
                  <a:srgbClr val="F2F2F2"/>
                </a:solidFill>
                <a:latin typeface="Consolas"/>
              </a:rPr>
              <a:t>  5       </a:t>
            </a:r>
            <a:r>
              <a:rPr sz="1250" b="0" dirty="0" err="1">
                <a:solidFill>
                  <a:srgbClr val="F2F2F2"/>
                </a:solidFill>
                <a:latin typeface="Consolas"/>
              </a:rPr>
              <a:t>baseline_name</a:t>
            </a:r>
            <a:r>
              <a:rPr sz="1250" b="0" dirty="0">
                <a:solidFill>
                  <a:srgbClr val="F2F2F2"/>
                </a:solidFill>
                <a:latin typeface="Consolas"/>
              </a:rPr>
              <a:t> =&gt; 'NORMAL_MORNING_PEAK');</a:t>
            </a:r>
          </a:p>
          <a:p>
            <a:pPr>
              <a:spcAft>
                <a:spcPts val="0"/>
              </a:spcAft>
            </a:pPr>
            <a:r>
              <a:rPr sz="1250" b="0" dirty="0">
                <a:solidFill>
                  <a:srgbClr val="F2F2F2"/>
                </a:solidFill>
                <a:latin typeface="Consolas"/>
              </a:rPr>
              <a:t>  6  END;</a:t>
            </a:r>
          </a:p>
          <a:p>
            <a:pPr>
              <a:spcAft>
                <a:spcPts val="0"/>
              </a:spcAft>
            </a:pPr>
            <a:r>
              <a:rPr sz="1250" b="0" dirty="0">
                <a:solidFill>
                  <a:srgbClr val="F2F2F2"/>
                </a:solidFill>
                <a:latin typeface="Consolas"/>
              </a:rPr>
              <a:t>  7  /</a:t>
            </a:r>
          </a:p>
          <a:p>
            <a:pPr>
              <a:spcAft>
                <a:spcPts val="0"/>
              </a:spcAft>
            </a:pPr>
            <a:r>
              <a:rPr sz="1250" b="0" dirty="0">
                <a:solidFill>
                  <a:srgbClr val="F2F2F2"/>
                </a:solidFill>
                <a:latin typeface="Consolas"/>
              </a:rPr>
              <a:t>PL/SQL procedure successfully completed.</a:t>
            </a:r>
          </a:p>
          <a:p>
            <a:pPr>
              <a:spcAft>
                <a:spcPts val="0"/>
              </a:spcAft>
            </a:pPr>
            <a:r>
              <a:rPr sz="1250" b="0" dirty="0">
                <a:solidFill>
                  <a:srgbClr val="F2F2F2"/>
                </a:solidFill>
                <a:latin typeface="Consolas"/>
              </a:rPr>
              <a:t> </a:t>
            </a:r>
          </a:p>
          <a:p>
            <a:pPr>
              <a:spcAft>
                <a:spcPts val="0"/>
              </a:spcAft>
            </a:pPr>
            <a:r>
              <a:rPr sz="1250" b="0" dirty="0" err="1">
                <a:solidFill>
                  <a:srgbClr val="F2F2F2"/>
                </a:solidFill>
                <a:latin typeface="Consolas"/>
              </a:rPr>
              <a:t>SYS@orcl</a:t>
            </a:r>
            <a:r>
              <a:rPr sz="1250" b="0" dirty="0">
                <a:solidFill>
                  <a:srgbClr val="F2F2F2"/>
                </a:solidFill>
                <a:latin typeface="Consolas"/>
              </a:rPr>
              <a:t>&gt; SELECT </a:t>
            </a:r>
            <a:r>
              <a:rPr sz="1250" b="0" dirty="0" err="1">
                <a:solidFill>
                  <a:srgbClr val="F2F2F2"/>
                </a:solidFill>
                <a:latin typeface="Consolas"/>
              </a:rPr>
              <a:t>baseline_name</a:t>
            </a:r>
            <a:r>
              <a:rPr sz="1250" b="0" dirty="0">
                <a:solidFill>
                  <a:srgbClr val="F2F2F2"/>
                </a:solidFill>
                <a:latin typeface="Consolas"/>
              </a:rPr>
              <a:t>, </a:t>
            </a:r>
            <a:r>
              <a:rPr sz="1250" b="0" dirty="0" err="1">
                <a:solidFill>
                  <a:srgbClr val="F2F2F2"/>
                </a:solidFill>
                <a:latin typeface="Consolas"/>
              </a:rPr>
              <a:t>start_snap_id</a:t>
            </a:r>
            <a:r>
              <a:rPr sz="1250" b="0" dirty="0">
                <a:solidFill>
                  <a:srgbClr val="F2F2F2"/>
                </a:solidFill>
                <a:latin typeface="Consolas"/>
              </a:rPr>
              <a:t>, </a:t>
            </a:r>
            <a:r>
              <a:rPr sz="1250" b="0" dirty="0" err="1">
                <a:solidFill>
                  <a:srgbClr val="F2F2F2"/>
                </a:solidFill>
                <a:latin typeface="Consolas"/>
              </a:rPr>
              <a:t>end_snap_id</a:t>
            </a:r>
            <a:r>
              <a:rPr sz="1250" b="0" dirty="0">
                <a:solidFill>
                  <a:srgbClr val="F2F2F2"/>
                </a:solidFill>
                <a:latin typeface="Consolas"/>
              </a:rPr>
              <a:t>, </a:t>
            </a:r>
            <a:r>
              <a:rPr sz="1250" b="0" dirty="0" err="1">
                <a:solidFill>
                  <a:srgbClr val="F2F2F2"/>
                </a:solidFill>
                <a:latin typeface="Consolas"/>
              </a:rPr>
              <a:t>baseline_type</a:t>
            </a:r>
            <a:endParaRPr sz="1250" b="0" dirty="0">
              <a:solidFill>
                <a:srgbClr val="F2F2F2"/>
              </a:solidFill>
              <a:latin typeface="Consolas"/>
            </a:endParaRPr>
          </a:p>
          <a:p>
            <a:pPr>
              <a:spcAft>
                <a:spcPts val="0"/>
              </a:spcAft>
            </a:pPr>
            <a:r>
              <a:rPr sz="1250" b="0" dirty="0">
                <a:solidFill>
                  <a:srgbClr val="F2F2F2"/>
                </a:solidFill>
                <a:latin typeface="Consolas"/>
              </a:rPr>
              <a:t>  2       FROM </a:t>
            </a:r>
            <a:r>
              <a:rPr sz="1250" b="0" dirty="0" err="1">
                <a:solidFill>
                  <a:srgbClr val="F2F2F2"/>
                </a:solidFill>
                <a:latin typeface="Consolas"/>
              </a:rPr>
              <a:t>dba_hist_baseline</a:t>
            </a:r>
            <a:r>
              <a:rPr sz="1250" b="0" dirty="0">
                <a:solidFill>
                  <a:srgbClr val="F2F2F2"/>
                </a:solidFill>
                <a:latin typeface="Consolas"/>
              </a:rPr>
              <a:t>;</a:t>
            </a:r>
          </a:p>
        </p:txBody>
      </p:sp>
    </p:spTree>
    <p:extLst>
      <p:ext uri="{BB962C8B-B14F-4D97-AF65-F5344CB8AC3E}">
        <p14:creationId xmlns:p14="http://schemas.microsoft.com/office/powerpoint/2010/main" val="1889231241"/>
      </p:ext>
    </p:extLst>
  </p:cSld>
  <p:clrMapOvr>
    <a:masterClrMapping/>
  </p:clrMapOvr>
</p:sld>
</file>

<file path=ppt/slides/slide9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고정 vs 이동 윈도우</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사진인가, 따라오는 분포인가</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600"/>
              </a:spcAft>
            </a:pPr>
            <a:r>
              <a:rPr sz="1700" b="0">
                <a:solidFill>
                  <a:srgbClr val="222222"/>
                </a:solidFill>
                <a:latin typeface="맑은 고딕"/>
              </a:rPr>
              <a:t>•  고정 베이스라인 = 내가 고른 한 순간의 사진(배포·패치 전후 비교)</a:t>
            </a:r>
          </a:p>
          <a:p>
            <a:pPr>
              <a:spcAft>
                <a:spcPts val="600"/>
              </a:spcAft>
            </a:pPr>
            <a:r>
              <a:rPr sz="1700" b="0">
                <a:solidFill>
                  <a:srgbClr val="222222"/>
                </a:solidFill>
                <a:latin typeface="맑은 고딕"/>
              </a:rPr>
              <a:t>•  이동 윈도우 = 최근을 계속 따라오는 평시의 통계 분포</a:t>
            </a:r>
          </a:p>
          <a:p>
            <a:pPr>
              <a:spcAft>
                <a:spcPts val="600"/>
              </a:spcAft>
            </a:pPr>
            <a:r>
              <a:rPr sz="1700" b="0">
                <a:solidFill>
                  <a:srgbClr val="222222"/>
                </a:solidFill>
                <a:latin typeface="맑은 고딕"/>
              </a:rPr>
              <a:t>•  SYSTEM_MOVING_WINDOW 기본 존재, 크기는 보존 기간과 같음</a:t>
            </a:r>
          </a:p>
          <a:p>
            <a:pPr>
              <a:spcAft>
                <a:spcPts val="600"/>
              </a:spcAft>
            </a:pPr>
            <a:r>
              <a:rPr sz="1700" b="0">
                <a:solidFill>
                  <a:srgbClr val="222222"/>
                </a:solidFill>
                <a:latin typeface="맑은 고딕"/>
              </a:rPr>
              <a:t>•  적응형 임계값의 근거 → '평시 대비 비정상' 자동 판정(ch28)</a:t>
            </a:r>
          </a:p>
          <a:p>
            <a:pPr>
              <a:spcAft>
                <a:spcPts val="600"/>
              </a:spcAft>
            </a:pPr>
            <a:r>
              <a:rPr sz="1700" b="0">
                <a:solidFill>
                  <a:srgbClr val="222222"/>
                </a:solidFill>
                <a:latin typeface="맑은 고딕"/>
              </a:rPr>
              <a:t>•  윈도우는 업무 주기(주간·월간)를 덮도록 크기를 잡는다</a:t>
            </a:r>
          </a:p>
        </p:txBody>
      </p:sp>
    </p:spTree>
    <p:extLst>
      <p:ext uri="{BB962C8B-B14F-4D97-AF65-F5344CB8AC3E}">
        <p14:creationId xmlns:p14="http://schemas.microsoft.com/office/powerpoint/2010/main" val="4289556190"/>
      </p:ext>
    </p:extLst>
  </p:cSld>
  <p:clrMapOvr>
    <a:masterClrMapping/>
  </p:clrMapOvr>
</p:sld>
</file>

<file path=ppt/slides/slide9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23.9</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라이선스와 대안</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194560"/>
          </a:xfrm>
          <a:prstGeom prst="rect">
            <a:avLst/>
          </a:prstGeom>
          <a:noFill/>
        </p:spPr>
        <p:txBody>
          <a:bodyPr wrap="square">
            <a:spAutoFit/>
          </a:bodyPr>
          <a:lstStyle/>
          <a:p>
            <a:r>
              <a:rPr sz="1600" b="0">
                <a:solidFill>
                  <a:srgbClr val="FFFFFF"/>
                </a:solidFill>
                <a:latin typeface="맑은 고딕"/>
              </a:rPr>
              <a:t>•  이 장의 모든 도구는 Diagnostics Pack 🔒</a:t>
            </a:r>
          </a:p>
          <a:p>
            <a:r>
              <a:rPr sz="1600" b="0">
                <a:solidFill>
                  <a:srgbClr val="FFFFFF"/>
                </a:solidFill>
                <a:latin typeface="맑은 고딕"/>
              </a:rPr>
              <a:t>•  없으면 Statspack 두 구간 수동 대조</a:t>
            </a:r>
          </a:p>
          <a:p>
            <a:r>
              <a:rPr sz="1600" b="0">
                <a:solidFill>
                  <a:srgbClr val="FFFFFF"/>
                </a:solidFill>
                <a:latin typeface="맑은 고딕"/>
              </a:rPr>
              <a:t>•  또는 V$ 두 시점 캡처 후 델타 비교</a:t>
            </a:r>
          </a:p>
          <a:p>
            <a:r>
              <a:rPr sz="1600" b="0">
                <a:solidFill>
                  <a:srgbClr val="FFFFFF"/>
                </a:solidFill>
                <a:latin typeface="맑은 고딕"/>
              </a:rPr>
              <a:t>•  판정 원리는 도구와 무관하게 같다</a:t>
            </a:r>
          </a:p>
        </p:txBody>
      </p:sp>
    </p:spTree>
    <p:extLst>
      <p:ext uri="{BB962C8B-B14F-4D97-AF65-F5344CB8AC3E}">
        <p14:creationId xmlns:p14="http://schemas.microsoft.com/office/powerpoint/2010/main" val="2037390222"/>
      </p:ext>
    </p:extLst>
  </p:cSld>
  <p:clrMapOvr>
    <a:masterClrMapping/>
  </p:clrMapOvr>
</p:sld>
</file>

<file path=ppt/slides/slide9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라이선스 경계와 대안 경로</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 Diagnostics Pack / 무상 대안</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600"/>
              </a:spcAft>
            </a:pPr>
            <a:r>
              <a:rPr sz="1700" b="0">
                <a:solidFill>
                  <a:srgbClr val="222222"/>
                </a:solidFill>
                <a:latin typeface="맑은 고딕"/>
              </a:rPr>
              <a:t>•  🔒 Compare Periods·awrddrpt·AWR_DIFF·DBA_HIST_*·베이스라인</a:t>
            </a:r>
          </a:p>
          <a:p>
            <a:pPr>
              <a:spcAft>
                <a:spcPts val="600"/>
              </a:spcAft>
            </a:pPr>
            <a:r>
              <a:rPr sz="1700" b="0">
                <a:solidFill>
                  <a:srgbClr val="222222"/>
                </a:solidFill>
                <a:latin typeface="맑은 고딕"/>
              </a:rPr>
              <a:t>•  무상: V$ 직접 조회 / Statspack(spcreate·SNAP·spreport)</a:t>
            </a:r>
          </a:p>
          <a:p>
            <a:pPr>
              <a:spcAft>
                <a:spcPts val="600"/>
              </a:spcAft>
            </a:pPr>
            <a:r>
              <a:rPr sz="1700" b="0">
                <a:solidFill>
                  <a:srgbClr val="222222"/>
                </a:solidFill>
                <a:latin typeface="맑은 고딕"/>
              </a:rPr>
              <a:t>•  두 구간 차이 보고서 → Statspack 두 보고서 수동 대조</a:t>
            </a:r>
          </a:p>
          <a:p>
            <a:pPr>
              <a:spcAft>
                <a:spcPts val="600"/>
              </a:spcAft>
            </a:pPr>
            <a:r>
              <a:rPr sz="1700" b="0">
                <a:solidFill>
                  <a:srgbClr val="222222"/>
                </a:solidFill>
                <a:latin typeface="맑은 고딕"/>
              </a:rPr>
              <a:t>•  시간 모델 델타 → V$SYS_TIME_MODEL 두 시점 캡처</a:t>
            </a:r>
          </a:p>
          <a:p>
            <a:pPr>
              <a:spcAft>
                <a:spcPts val="600"/>
              </a:spcAft>
            </a:pPr>
            <a:r>
              <a:rPr sz="1700" b="0">
                <a:solidFill>
                  <a:srgbClr val="222222"/>
                </a:solidFill>
                <a:latin typeface="맑은 고딕"/>
              </a:rPr>
              <a:t>•  '조회만 했다'도 사용 감지됨(DBA_FEATURE_USAGE_STATISTICS)</a:t>
            </a:r>
          </a:p>
        </p:txBody>
      </p:sp>
    </p:spTree>
    <p:extLst>
      <p:ext uri="{BB962C8B-B14F-4D97-AF65-F5344CB8AC3E}">
        <p14:creationId xmlns:p14="http://schemas.microsoft.com/office/powerpoint/2010/main" val="817643173"/>
      </p:ext>
    </p:extLst>
  </p:cSld>
  <p:clrMapOvr>
    <a:masterClrMapping/>
  </p:clrMapOvr>
</p:sld>
</file>

<file path=ppt/slides/slide9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Statspack 두 구간 대조</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무상 대안 — Per Second/Per Txn 대조는 동일</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37160" rtlCol="0" anchor="ctr"/>
          <a:lstStyle/>
          <a:p>
            <a:pPr>
              <a:spcAft>
                <a:spcPts val="0"/>
              </a:spcAft>
            </a:pPr>
            <a:r>
              <a:rPr sz="1250" b="0" dirty="0">
                <a:solidFill>
                  <a:srgbClr val="F2F2F2"/>
                </a:solidFill>
                <a:latin typeface="Consolas"/>
              </a:rPr>
              <a:t>-- </a:t>
            </a:r>
            <a:r>
              <a:rPr sz="1250" b="0" dirty="0" err="1">
                <a:solidFill>
                  <a:srgbClr val="F2F2F2"/>
                </a:solidFill>
                <a:latin typeface="Consolas"/>
              </a:rPr>
              <a:t>설치</a:t>
            </a:r>
            <a:r>
              <a:rPr sz="1250" b="0" dirty="0">
                <a:solidFill>
                  <a:srgbClr val="F2F2F2"/>
                </a:solidFill>
                <a:latin typeface="Consolas"/>
              </a:rPr>
              <a:t>(</a:t>
            </a:r>
            <a:r>
              <a:rPr sz="1250" b="0" dirty="0" err="1">
                <a:solidFill>
                  <a:srgbClr val="F2F2F2"/>
                </a:solidFill>
                <a:latin typeface="Consolas"/>
              </a:rPr>
              <a:t>최초</a:t>
            </a:r>
            <a:r>
              <a:rPr sz="1250" b="0" dirty="0">
                <a:solidFill>
                  <a:srgbClr val="F2F2F2"/>
                </a:solidFill>
                <a:latin typeface="Consolas"/>
              </a:rPr>
              <a:t> 1회, PERFSTAT </a:t>
            </a:r>
            <a:r>
              <a:rPr sz="1250" b="0" dirty="0" err="1">
                <a:solidFill>
                  <a:srgbClr val="F2F2F2"/>
                </a:solidFill>
                <a:latin typeface="Consolas"/>
              </a:rPr>
              <a:t>계정</a:t>
            </a:r>
            <a:r>
              <a:rPr sz="1250" b="0" dirty="0">
                <a:solidFill>
                  <a:srgbClr val="F2F2F2"/>
                </a:solidFill>
                <a:latin typeface="Consolas"/>
              </a:rPr>
              <a:t>)</a:t>
            </a:r>
          </a:p>
          <a:p>
            <a:pPr>
              <a:spcAft>
                <a:spcPts val="0"/>
              </a:spcAft>
            </a:pPr>
            <a:r>
              <a:rPr sz="1250" b="0" dirty="0" err="1">
                <a:solidFill>
                  <a:srgbClr val="F2F2F2"/>
                </a:solidFill>
                <a:latin typeface="Consolas"/>
              </a:rPr>
              <a:t>SYS@orcl</a:t>
            </a:r>
            <a:r>
              <a:rPr sz="1250" b="0" dirty="0">
                <a:solidFill>
                  <a:srgbClr val="F2F2F2"/>
                </a:solidFill>
                <a:latin typeface="Consolas"/>
              </a:rPr>
              <a:t>&gt; @?/rdbms/admin/spcreate.sql</a:t>
            </a:r>
          </a:p>
          <a:p>
            <a:pPr>
              <a:spcAft>
                <a:spcPts val="0"/>
              </a:spcAft>
            </a:pPr>
            <a:r>
              <a:rPr sz="1250" b="0" dirty="0">
                <a:solidFill>
                  <a:srgbClr val="F2F2F2"/>
                </a:solidFill>
                <a:latin typeface="Consolas"/>
              </a:rPr>
              <a:t> </a:t>
            </a:r>
          </a:p>
          <a:p>
            <a:pPr>
              <a:spcAft>
                <a:spcPts val="0"/>
              </a:spcAft>
            </a:pPr>
            <a:r>
              <a:rPr sz="1250" b="0" dirty="0" err="1">
                <a:solidFill>
                  <a:srgbClr val="F2F2F2"/>
                </a:solidFill>
                <a:latin typeface="Consolas"/>
              </a:rPr>
              <a:t>PERFSTAT@orcl</a:t>
            </a:r>
            <a:r>
              <a:rPr sz="1250" b="0" dirty="0">
                <a:solidFill>
                  <a:srgbClr val="F2F2F2"/>
                </a:solidFill>
                <a:latin typeface="Consolas"/>
              </a:rPr>
              <a:t>&gt; EXEC STATSPACK.SNAP;   -- </a:t>
            </a:r>
            <a:r>
              <a:rPr sz="1250" b="0" dirty="0" err="1">
                <a:solidFill>
                  <a:srgbClr val="F2F2F2"/>
                </a:solidFill>
                <a:latin typeface="Consolas"/>
              </a:rPr>
              <a:t>평시</a:t>
            </a:r>
            <a:r>
              <a:rPr sz="1250" b="0" dirty="0">
                <a:solidFill>
                  <a:srgbClr val="F2F2F2"/>
                </a:solidFill>
                <a:latin typeface="Consolas"/>
              </a:rPr>
              <a:t> </a:t>
            </a:r>
            <a:r>
              <a:rPr sz="1250" b="0" dirty="0" err="1">
                <a:solidFill>
                  <a:srgbClr val="F2F2F2"/>
                </a:solidFill>
                <a:latin typeface="Consolas"/>
              </a:rPr>
              <a:t>시작</a:t>
            </a:r>
            <a:endParaRPr sz="1250" b="0" dirty="0">
              <a:solidFill>
                <a:srgbClr val="F2F2F2"/>
              </a:solidFill>
              <a:latin typeface="Consolas"/>
            </a:endParaRPr>
          </a:p>
          <a:p>
            <a:pPr>
              <a:spcAft>
                <a:spcPts val="0"/>
              </a:spcAft>
            </a:pPr>
            <a:r>
              <a:rPr sz="1250" b="0" dirty="0">
                <a:solidFill>
                  <a:srgbClr val="F2F2F2"/>
                </a:solidFill>
                <a:latin typeface="Consolas"/>
              </a:rPr>
              <a:t>    ... (</a:t>
            </a:r>
            <a:r>
              <a:rPr sz="1250" b="0" dirty="0" err="1">
                <a:solidFill>
                  <a:srgbClr val="F2F2F2"/>
                </a:solidFill>
                <a:latin typeface="Consolas"/>
              </a:rPr>
              <a:t>평시</a:t>
            </a:r>
            <a:r>
              <a:rPr sz="1250" b="0" dirty="0">
                <a:solidFill>
                  <a:srgbClr val="F2F2F2"/>
                </a:solidFill>
                <a:latin typeface="Consolas"/>
              </a:rPr>
              <a:t> </a:t>
            </a:r>
            <a:r>
              <a:rPr sz="1250" b="0" dirty="0" err="1">
                <a:solidFill>
                  <a:srgbClr val="F2F2F2"/>
                </a:solidFill>
                <a:latin typeface="Consolas"/>
              </a:rPr>
              <a:t>워크로드</a:t>
            </a:r>
            <a:r>
              <a:rPr sz="1250" b="0" dirty="0">
                <a:solidFill>
                  <a:srgbClr val="F2F2F2"/>
                </a:solidFill>
                <a:latin typeface="Consolas"/>
              </a:rPr>
              <a:t>) ...</a:t>
            </a:r>
          </a:p>
          <a:p>
            <a:pPr>
              <a:spcAft>
                <a:spcPts val="0"/>
              </a:spcAft>
            </a:pPr>
            <a:r>
              <a:rPr sz="1250" b="0" dirty="0" err="1">
                <a:solidFill>
                  <a:srgbClr val="F2F2F2"/>
                </a:solidFill>
                <a:latin typeface="Consolas"/>
              </a:rPr>
              <a:t>PERFSTAT@orcl</a:t>
            </a:r>
            <a:r>
              <a:rPr sz="1250" b="0" dirty="0">
                <a:solidFill>
                  <a:srgbClr val="F2F2F2"/>
                </a:solidFill>
                <a:latin typeface="Consolas"/>
              </a:rPr>
              <a:t>&gt; EXEC STATSPACK.SNAP;   -- </a:t>
            </a:r>
            <a:r>
              <a:rPr sz="1250" b="0" dirty="0" err="1">
                <a:solidFill>
                  <a:srgbClr val="F2F2F2"/>
                </a:solidFill>
                <a:latin typeface="Consolas"/>
              </a:rPr>
              <a:t>평시</a:t>
            </a:r>
            <a:r>
              <a:rPr sz="1250" b="0" dirty="0">
                <a:solidFill>
                  <a:srgbClr val="F2F2F2"/>
                </a:solidFill>
                <a:latin typeface="Consolas"/>
              </a:rPr>
              <a:t> 끝</a:t>
            </a:r>
          </a:p>
          <a:p>
            <a:pPr>
              <a:spcAft>
                <a:spcPts val="0"/>
              </a:spcAft>
            </a:pPr>
            <a:r>
              <a:rPr sz="1250" b="0" dirty="0" err="1">
                <a:solidFill>
                  <a:srgbClr val="F2F2F2"/>
                </a:solidFill>
                <a:latin typeface="Consolas"/>
              </a:rPr>
              <a:t>PERFSTAT@orcl</a:t>
            </a:r>
            <a:r>
              <a:rPr sz="1250" b="0" dirty="0">
                <a:solidFill>
                  <a:srgbClr val="F2F2F2"/>
                </a:solidFill>
                <a:latin typeface="Consolas"/>
              </a:rPr>
              <a:t>&gt; EXEC STATSPACK.SNAP;   -- </a:t>
            </a:r>
            <a:r>
              <a:rPr sz="1250" b="0" dirty="0" err="1">
                <a:solidFill>
                  <a:srgbClr val="F2F2F2"/>
                </a:solidFill>
                <a:latin typeface="Consolas"/>
              </a:rPr>
              <a:t>문제</a:t>
            </a:r>
            <a:r>
              <a:rPr sz="1250" b="0" dirty="0">
                <a:solidFill>
                  <a:srgbClr val="F2F2F2"/>
                </a:solidFill>
                <a:latin typeface="Consolas"/>
              </a:rPr>
              <a:t> </a:t>
            </a:r>
            <a:r>
              <a:rPr sz="1250" b="0" dirty="0" err="1">
                <a:solidFill>
                  <a:srgbClr val="F2F2F2"/>
                </a:solidFill>
                <a:latin typeface="Consolas"/>
              </a:rPr>
              <a:t>시작</a:t>
            </a:r>
            <a:endParaRPr sz="1250" b="0" dirty="0">
              <a:solidFill>
                <a:srgbClr val="F2F2F2"/>
              </a:solidFill>
              <a:latin typeface="Consolas"/>
            </a:endParaRPr>
          </a:p>
          <a:p>
            <a:pPr>
              <a:spcAft>
                <a:spcPts val="0"/>
              </a:spcAft>
            </a:pPr>
            <a:r>
              <a:rPr sz="1250" b="0" dirty="0">
                <a:solidFill>
                  <a:srgbClr val="F2F2F2"/>
                </a:solidFill>
                <a:latin typeface="Consolas"/>
              </a:rPr>
              <a:t>    ... (</a:t>
            </a:r>
            <a:r>
              <a:rPr sz="1250" b="0" dirty="0" err="1">
                <a:solidFill>
                  <a:srgbClr val="F2F2F2"/>
                </a:solidFill>
                <a:latin typeface="Consolas"/>
              </a:rPr>
              <a:t>문제</a:t>
            </a:r>
            <a:r>
              <a:rPr sz="1250" b="0" dirty="0">
                <a:solidFill>
                  <a:srgbClr val="F2F2F2"/>
                </a:solidFill>
                <a:latin typeface="Consolas"/>
              </a:rPr>
              <a:t> </a:t>
            </a:r>
            <a:r>
              <a:rPr sz="1250" b="0" dirty="0" err="1">
                <a:solidFill>
                  <a:srgbClr val="F2F2F2"/>
                </a:solidFill>
                <a:latin typeface="Consolas"/>
              </a:rPr>
              <a:t>워크로드</a:t>
            </a:r>
            <a:r>
              <a:rPr sz="1250" b="0" dirty="0">
                <a:solidFill>
                  <a:srgbClr val="F2F2F2"/>
                </a:solidFill>
                <a:latin typeface="Consolas"/>
              </a:rPr>
              <a:t>) ...</a:t>
            </a:r>
          </a:p>
          <a:p>
            <a:pPr>
              <a:spcAft>
                <a:spcPts val="0"/>
              </a:spcAft>
            </a:pPr>
            <a:r>
              <a:rPr sz="1250" b="0" dirty="0" err="1">
                <a:solidFill>
                  <a:srgbClr val="F2F2F2"/>
                </a:solidFill>
                <a:latin typeface="Consolas"/>
              </a:rPr>
              <a:t>PERFSTAT@orcl</a:t>
            </a:r>
            <a:r>
              <a:rPr sz="1250" b="0" dirty="0">
                <a:solidFill>
                  <a:srgbClr val="F2F2F2"/>
                </a:solidFill>
                <a:latin typeface="Consolas"/>
              </a:rPr>
              <a:t>&gt; EXEC STATSPACK.SNAP;   -- </a:t>
            </a:r>
            <a:r>
              <a:rPr sz="1250" b="0" dirty="0" err="1">
                <a:solidFill>
                  <a:srgbClr val="F2F2F2"/>
                </a:solidFill>
                <a:latin typeface="Consolas"/>
              </a:rPr>
              <a:t>문제</a:t>
            </a:r>
            <a:r>
              <a:rPr sz="1250" b="0" dirty="0">
                <a:solidFill>
                  <a:srgbClr val="F2F2F2"/>
                </a:solidFill>
                <a:latin typeface="Consolas"/>
              </a:rPr>
              <a:t> 끝</a:t>
            </a:r>
          </a:p>
          <a:p>
            <a:pPr>
              <a:spcAft>
                <a:spcPts val="0"/>
              </a:spcAft>
            </a:pPr>
            <a:r>
              <a:rPr sz="1250" b="0" dirty="0">
                <a:solidFill>
                  <a:srgbClr val="F2F2F2"/>
                </a:solidFill>
                <a:latin typeface="Consolas"/>
              </a:rPr>
              <a:t> </a:t>
            </a:r>
          </a:p>
          <a:p>
            <a:pPr>
              <a:spcAft>
                <a:spcPts val="0"/>
              </a:spcAft>
            </a:pPr>
            <a:r>
              <a:rPr sz="1250" b="0" dirty="0" err="1">
                <a:solidFill>
                  <a:srgbClr val="F2F2F2"/>
                </a:solidFill>
                <a:latin typeface="Consolas"/>
              </a:rPr>
              <a:t>PERFSTAT@orcl</a:t>
            </a:r>
            <a:r>
              <a:rPr sz="1250" b="0" dirty="0">
                <a:solidFill>
                  <a:srgbClr val="F2F2F2"/>
                </a:solidFill>
                <a:latin typeface="Consolas"/>
              </a:rPr>
              <a:t>&gt; @?/rdbms/admin/spreport.sql   -- </a:t>
            </a:r>
            <a:r>
              <a:rPr sz="1250" b="0" dirty="0" err="1">
                <a:solidFill>
                  <a:srgbClr val="F2F2F2"/>
                </a:solidFill>
                <a:latin typeface="Consolas"/>
              </a:rPr>
              <a:t>평시</a:t>
            </a:r>
            <a:r>
              <a:rPr sz="1250" b="0" dirty="0">
                <a:solidFill>
                  <a:srgbClr val="F2F2F2"/>
                </a:solidFill>
                <a:latin typeface="Consolas"/>
              </a:rPr>
              <a:t> </a:t>
            </a:r>
            <a:r>
              <a:rPr sz="1250" b="0" dirty="0" err="1">
                <a:solidFill>
                  <a:srgbClr val="F2F2F2"/>
                </a:solidFill>
                <a:latin typeface="Consolas"/>
              </a:rPr>
              <a:t>범위</a:t>
            </a:r>
            <a:endParaRPr sz="1250" b="0" dirty="0">
              <a:solidFill>
                <a:srgbClr val="F2F2F2"/>
              </a:solidFill>
              <a:latin typeface="Consolas"/>
            </a:endParaRPr>
          </a:p>
          <a:p>
            <a:pPr>
              <a:spcAft>
                <a:spcPts val="0"/>
              </a:spcAft>
            </a:pPr>
            <a:r>
              <a:rPr sz="1250" b="0" dirty="0" err="1">
                <a:solidFill>
                  <a:srgbClr val="F2F2F2"/>
                </a:solidFill>
                <a:latin typeface="Consolas"/>
              </a:rPr>
              <a:t>PERFSTAT@orcl</a:t>
            </a:r>
            <a:r>
              <a:rPr sz="1250" b="0" dirty="0">
                <a:solidFill>
                  <a:srgbClr val="F2F2F2"/>
                </a:solidFill>
                <a:latin typeface="Consolas"/>
              </a:rPr>
              <a:t>&gt; @?/rdbms/admin/spreport.sql   -- </a:t>
            </a:r>
            <a:r>
              <a:rPr sz="1250" b="0" dirty="0" err="1">
                <a:solidFill>
                  <a:srgbClr val="F2F2F2"/>
                </a:solidFill>
                <a:latin typeface="Consolas"/>
              </a:rPr>
              <a:t>문제</a:t>
            </a:r>
            <a:r>
              <a:rPr sz="1250" b="0" dirty="0">
                <a:solidFill>
                  <a:srgbClr val="F2F2F2"/>
                </a:solidFill>
                <a:latin typeface="Consolas"/>
              </a:rPr>
              <a:t> </a:t>
            </a:r>
            <a:r>
              <a:rPr sz="1250" b="0" dirty="0" err="1">
                <a:solidFill>
                  <a:srgbClr val="F2F2F2"/>
                </a:solidFill>
                <a:latin typeface="Consolas"/>
              </a:rPr>
              <a:t>범위</a:t>
            </a:r>
            <a:endParaRPr sz="1250" b="0" dirty="0">
              <a:solidFill>
                <a:srgbClr val="F2F2F2"/>
              </a:solidFill>
              <a:latin typeface="Consolas"/>
            </a:endParaRPr>
          </a:p>
        </p:txBody>
      </p:sp>
    </p:spTree>
    <p:extLst>
      <p:ext uri="{BB962C8B-B14F-4D97-AF65-F5344CB8AC3E}">
        <p14:creationId xmlns:p14="http://schemas.microsoft.com/office/powerpoint/2010/main" val="424823488"/>
      </p:ext>
    </p:extLst>
  </p:cSld>
  <p:clrMapOvr>
    <a:masterClrMapping/>
  </p:clrMapOvr>
</p:sld>
</file>

<file path=ppt/slides/slide9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퀴즈 (Quiz)</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정답은 실습문제 정답지 참고</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600"/>
              </a:spcAft>
            </a:pPr>
            <a:r>
              <a:rPr sz="1500" b="0">
                <a:solidFill>
                  <a:srgbClr val="222222"/>
                </a:solidFill>
                <a:latin typeface="맑은 고딕"/>
              </a:rPr>
              <a:t>•  Q1. 일반 AWR 보고서와 Compare Periods의 차이를 스냅샷 개수로 설명하라.</a:t>
            </a:r>
          </a:p>
          <a:p>
            <a:pPr>
              <a:spcAft>
                <a:spcPts val="600"/>
              </a:spcAft>
            </a:pPr>
            <a:r>
              <a:rPr sz="1500" b="0">
                <a:solidFill>
                  <a:srgbClr val="222222"/>
                </a:solidFill>
                <a:latin typeface="맑은 고딕"/>
              </a:rPr>
              <a:t>•  Q2. 초당 논리읽기 +136.8%인데 트랜잭션당 -99.7%인 상황을 해석하라.</a:t>
            </a:r>
          </a:p>
          <a:p>
            <a:pPr>
              <a:spcAft>
                <a:spcPts val="600"/>
              </a:spcAft>
            </a:pPr>
            <a:r>
              <a:rPr sz="1500" b="0">
                <a:solidFill>
                  <a:srgbClr val="222222"/>
                </a:solidFill>
                <a:latin typeface="맑은 고딕"/>
              </a:rPr>
              <a:t>•  Q3. DB Time 81.8→302.0초(3.7배)가 부하 증가인지 성능 저하인지 판정 절차는?</a:t>
            </a:r>
          </a:p>
          <a:p>
            <a:pPr>
              <a:spcAft>
                <a:spcPts val="600"/>
              </a:spcAft>
            </a:pPr>
            <a:r>
              <a:rPr sz="1500" b="0">
                <a:solidFill>
                  <a:srgbClr val="222222"/>
                </a:solidFill>
                <a:latin typeface="맑은 고딕"/>
              </a:rPr>
              <a:t>•  Q4. 특정 SQL 회귀를 확정하려면 어느 뷰에서 어떤 값을 두 구간 비교하나?</a:t>
            </a:r>
          </a:p>
          <a:p>
            <a:pPr>
              <a:spcAft>
                <a:spcPts val="600"/>
              </a:spcAft>
            </a:pPr>
            <a:r>
              <a:rPr sz="1500" b="0">
                <a:solidFill>
                  <a:srgbClr val="222222"/>
                </a:solidFill>
                <a:latin typeface="맑은 고딕"/>
              </a:rPr>
              <a:t>•  Q5. 고정 베이스라인과 이동 윈도우 베이스라인의 용도 차이는?</a:t>
            </a:r>
          </a:p>
          <a:p>
            <a:pPr>
              <a:spcAft>
                <a:spcPts val="600"/>
              </a:spcAft>
            </a:pPr>
            <a:r>
              <a:rPr sz="1500" b="0">
                <a:solidFill>
                  <a:srgbClr val="222222"/>
                </a:solidFill>
                <a:latin typeface="맑은 고딕"/>
              </a:rPr>
              <a:t>•  Q6. Diagnostics Pack이 없을 때 대안 두 경로와 공통 판정 원리는?</a:t>
            </a:r>
          </a:p>
        </p:txBody>
      </p:sp>
    </p:spTree>
    <p:extLst>
      <p:ext uri="{BB962C8B-B14F-4D97-AF65-F5344CB8AC3E}">
        <p14:creationId xmlns:p14="http://schemas.microsoft.com/office/powerpoint/2010/main" val="3041339213"/>
      </p:ext>
    </p:extLst>
  </p:cSld>
  <p:clrMapOvr>
    <a:masterClrMapping/>
  </p:clrMapOvr>
</p:sld>
</file>

<file path=ppt/slides/slide9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요약 (Summary)</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이 장의 핵심</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600"/>
              </a:spcAft>
            </a:pPr>
            <a:r>
              <a:rPr sz="1600" b="0">
                <a:solidFill>
                  <a:srgbClr val="222222"/>
                </a:solidFill>
                <a:latin typeface="맑은 고딕"/>
              </a:rPr>
              <a:t>•  Compare Periods는 두 구간의 차이(스냅샷 4개)를 정규화해 보여 준다</a:t>
            </a:r>
          </a:p>
          <a:p>
            <a:pPr>
              <a:spcAft>
                <a:spcPts val="600"/>
              </a:spcAft>
            </a:pPr>
            <a:r>
              <a:rPr sz="1600" b="0">
                <a:solidFill>
                  <a:srgbClr val="222222"/>
                </a:solidFill>
                <a:latin typeface="맑은 고딕"/>
              </a:rPr>
              <a:t>•  Load Profile은 초당값과 트랜잭션당값을 함께 봐야 한다</a:t>
            </a:r>
          </a:p>
          <a:p>
            <a:pPr>
              <a:spcAft>
                <a:spcPts val="600"/>
              </a:spcAft>
            </a:pPr>
            <a:r>
              <a:rPr sz="1600" b="0">
                <a:solidFill>
                  <a:srgbClr val="222222"/>
                </a:solidFill>
                <a:latin typeface="맑은 고딕"/>
              </a:rPr>
              <a:t>•  정수: DB Time 3.7배는 성능 저하 아닌 부하 증가 — 단위 작업당으로 나눠 판정</a:t>
            </a:r>
          </a:p>
          <a:p>
            <a:pPr>
              <a:spcAft>
                <a:spcPts val="600"/>
              </a:spcAft>
            </a:pPr>
            <a:r>
              <a:rPr sz="1600" b="0">
                <a:solidFill>
                  <a:srgbClr val="222222"/>
                </a:solidFill>
                <a:latin typeface="맑은 고딕"/>
              </a:rPr>
              <a:t>•  집계가 부하 증가여도 개별 SQL은 회귀 가능(실행당 지표·plan_hash_value)</a:t>
            </a:r>
          </a:p>
          <a:p>
            <a:pPr>
              <a:spcAft>
                <a:spcPts val="600"/>
              </a:spcAft>
            </a:pPr>
            <a:r>
              <a:rPr sz="1600" b="0">
                <a:solidFill>
                  <a:srgbClr val="222222"/>
                </a:solidFill>
                <a:latin typeface="맑은 고딕"/>
              </a:rPr>
              <a:t>•  베이스라인으로 평시 보존 / 🔒 없으면 Statspack·V$ 대안</a:t>
            </a:r>
          </a:p>
        </p:txBody>
      </p:sp>
    </p:spTree>
    <p:extLst>
      <p:ext uri="{BB962C8B-B14F-4D97-AF65-F5344CB8AC3E}">
        <p14:creationId xmlns:p14="http://schemas.microsoft.com/office/powerpoint/2010/main" val="3839624349"/>
      </p:ext>
    </p:extLst>
  </p:cSld>
  <p:clrMapOvr>
    <a:masterClrMapping/>
  </p:clrMapOvr>
</p:sld>
</file>

<file path=ppt/slides/slide9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실습 개요 (Practice Overview)</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실습 5개 · non-CDB orcl 19.3 · WL_06_mixed</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600"/>
              </a:spcAft>
            </a:pPr>
            <a:r>
              <a:rPr sz="1600" b="0">
                <a:solidFill>
                  <a:srgbClr val="222222"/>
                </a:solidFill>
                <a:latin typeface="맑은 고딕"/>
              </a:rPr>
              <a:t>•  실습 01 — Compare Periods 보고서 생성(awrddrpt.sql / AWR_DIFF_REPORT_TEXT)</a:t>
            </a:r>
          </a:p>
          <a:p>
            <a:pPr>
              <a:spcAft>
                <a:spcPts val="600"/>
              </a:spcAft>
            </a:pPr>
            <a:r>
              <a:rPr sz="1600" b="0">
                <a:solidFill>
                  <a:srgbClr val="222222"/>
                </a:solidFill>
                <a:latin typeface="맑은 고딕"/>
              </a:rPr>
              <a:t>•  실습 02 — 두 기간 Load Profile 차이 판독(초당 vs 트랜잭션당)</a:t>
            </a:r>
          </a:p>
          <a:p>
            <a:pPr>
              <a:spcAft>
                <a:spcPts val="600"/>
              </a:spcAft>
            </a:pPr>
            <a:r>
              <a:rPr sz="1600" b="0">
                <a:solidFill>
                  <a:srgbClr val="222222"/>
                </a:solidFill>
                <a:latin typeface="맑은 고딕"/>
              </a:rPr>
              <a:t>•  실습 03 — SQL 단위 회귀 탐지(DBA_HIST_SQLSTAT·plan_hash_value)</a:t>
            </a:r>
          </a:p>
          <a:p>
            <a:pPr>
              <a:spcAft>
                <a:spcPts val="600"/>
              </a:spcAft>
            </a:pPr>
            <a:r>
              <a:rPr sz="1600" b="0">
                <a:solidFill>
                  <a:srgbClr val="222222"/>
                </a:solidFill>
                <a:latin typeface="맑은 고딕"/>
              </a:rPr>
              <a:t>•  실습 04 — 베이스라인 대비 비교(CREATE_BASELINE·고정/이동)</a:t>
            </a:r>
          </a:p>
          <a:p>
            <a:pPr>
              <a:spcAft>
                <a:spcPts val="600"/>
              </a:spcAft>
            </a:pPr>
            <a:r>
              <a:rPr sz="1600" b="0">
                <a:solidFill>
                  <a:srgbClr val="222222"/>
                </a:solidFill>
                <a:latin typeface="맑은 고딕"/>
              </a:rPr>
              <a:t>•  실습 05 — 부하 증가 vs 성능 저하 판정(81.8초 vs 302.0초 오판 교정)</a:t>
            </a:r>
          </a:p>
        </p:txBody>
      </p:sp>
    </p:spTree>
    <p:extLst>
      <p:ext uri="{BB962C8B-B14F-4D97-AF65-F5344CB8AC3E}">
        <p14:creationId xmlns:p14="http://schemas.microsoft.com/office/powerpoint/2010/main" val="3074926132"/>
      </p:ext>
    </p:extLst>
  </p:cSld>
  <p:clrMapOvr>
    <a:masterClrMapping/>
  </p:clrMapOvr>
</p:sld>
</file>

<file path=ppt/slides/slide9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457200"/>
            <a:ext cx="10698480" cy="548640"/>
          </a:xfrm>
          <a:prstGeom prst="rect">
            <a:avLst/>
          </a:prstGeom>
          <a:noFill/>
        </p:spPr>
        <p:txBody>
          <a:bodyPr wrap="square">
            <a:spAutoFit/>
          </a:bodyPr>
          <a:lstStyle/>
          <a:p>
            <a:r>
              <a:rPr sz="1600" b="1">
                <a:solidFill>
                  <a:srgbClr val="FFFFFF"/>
                </a:solidFill>
                <a:latin typeface="맑은 고딕"/>
                <a:ea typeface="맑은 고딕"/>
              </a:rPr>
              <a:t>Oracle Database 19c 성능 튜닝 실무 과정</a:t>
            </a:r>
          </a:p>
        </p:txBody>
      </p:sp>
      <p:sp>
        <p:nvSpPr>
          <p:cNvPr id="6" name="TextBox 5"/>
          <p:cNvSpPr txBox="1"/>
          <p:nvPr/>
        </p:nvSpPr>
        <p:spPr>
          <a:xfrm>
            <a:off x="731520" y="2377440"/>
            <a:ext cx="10698480" cy="1554480"/>
          </a:xfrm>
          <a:prstGeom prst="rect">
            <a:avLst/>
          </a:prstGeom>
          <a:noFill/>
        </p:spPr>
        <p:txBody>
          <a:bodyPr wrap="square">
            <a:spAutoFit/>
          </a:bodyPr>
          <a:lstStyle/>
          <a:p>
            <a:r>
              <a:rPr sz="3400" b="1">
                <a:solidFill>
                  <a:srgbClr val="C0392B"/>
                </a:solidFill>
                <a:latin typeface="맑은 고딕"/>
                <a:ea typeface="맑은 고딕"/>
              </a:rPr>
              <a:t>ADDM — 자동 진단 결과 해석</a:t>
            </a:r>
          </a:p>
          <a:p>
            <a:r>
              <a:rPr sz="2000" b="0">
                <a:solidFill>
                  <a:srgbClr val="5A6672"/>
                </a:solidFill>
                <a:latin typeface="맑은 고딕"/>
                <a:ea typeface="맑은 고딕"/>
              </a:rPr>
              <a:t>Automatic Database Diagnostic Monitor — 권고는 가설이지 결론이 아니다</a:t>
            </a:r>
          </a:p>
        </p:txBody>
      </p:sp>
      <p:sp>
        <p:nvSpPr>
          <p:cNvPr id="7" name="TextBox 6"/>
          <p:cNvSpPr txBox="1"/>
          <p:nvPr/>
        </p:nvSpPr>
        <p:spPr>
          <a:xfrm>
            <a:off x="731520" y="4114800"/>
            <a:ext cx="10698480" cy="1097280"/>
          </a:xfrm>
          <a:prstGeom prst="rect">
            <a:avLst/>
          </a:prstGeom>
          <a:noFill/>
        </p:spPr>
        <p:txBody>
          <a:bodyPr wrap="square">
            <a:spAutoFit/>
          </a:bodyPr>
          <a:lstStyle/>
          <a:p>
            <a:r>
              <a:rPr sz="1500" b="0">
                <a:solidFill>
                  <a:srgbClr val="5A6672"/>
                </a:solidFill>
                <a:latin typeface="맑은 고딕"/>
                <a:ea typeface="맑은 고딕"/>
              </a:rPr>
              <a:t>Finding·Recommendation·Rationale 구조 · 영향도 해석 · ADDM 뷰 직접 조회 · 권고 채택 기준</a:t>
            </a:r>
          </a:p>
        </p:txBody>
      </p:sp>
      <p:sp>
        <p:nvSpPr>
          <p:cNvPr id="8" name="TextBox 7"/>
          <p:cNvSpPr txBox="1"/>
          <p:nvPr/>
        </p:nvSpPr>
        <p:spPr>
          <a:xfrm>
            <a:off x="731520" y="5577840"/>
            <a:ext cx="10698480" cy="914400"/>
          </a:xfrm>
          <a:prstGeom prst="rect">
            <a:avLst/>
          </a:prstGeom>
          <a:noFill/>
        </p:spPr>
        <p:txBody>
          <a:bodyPr wrap="square">
            <a:spAutoFit/>
          </a:bodyPr>
          <a:lstStyle/>
          <a:p>
            <a:r>
              <a:rPr sz="2000" b="1">
                <a:solidFill>
                  <a:srgbClr val="C0392B"/>
                </a:solidFill>
                <a:latin typeface="맑은 고딕"/>
                <a:ea typeface="맑은 고딕"/>
              </a:rPr>
              <a:t>ch24</a:t>
            </a:r>
          </a:p>
        </p:txBody>
      </p:sp>
    </p:spTree>
    <p:extLst>
      <p:ext uri="{BB962C8B-B14F-4D97-AF65-F5344CB8AC3E}">
        <p14:creationId xmlns:p14="http://schemas.microsoft.com/office/powerpoint/2010/main" val="1582263141"/>
      </p:ext>
    </p:extLst>
  </p:cSld>
  <p:clrMapOvr>
    <a:masterClrMapping/>
  </p:clrMapOvr>
</p:sld>
</file>

<file path=ppt/slides/slide9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ea typeface="맑은 고딕"/>
              </a:rPr>
              <a:t>학습 목표 (Objectives)</a:t>
            </a:r>
          </a:p>
        </p:txBody>
      </p:sp>
      <p:sp>
        <p:nvSpPr>
          <p:cNvPr id="4" name="TextBox 3"/>
          <p:cNvSpPr txBox="1"/>
          <p:nvPr/>
        </p:nvSpPr>
        <p:spPr>
          <a:xfrm>
            <a:off x="640080" y="1371600"/>
            <a:ext cx="10881360" cy="5120640"/>
          </a:xfrm>
          <a:prstGeom prst="rect">
            <a:avLst/>
          </a:prstGeom>
          <a:noFill/>
        </p:spPr>
        <p:txBody>
          <a:bodyPr wrap="square">
            <a:spAutoFit/>
          </a:bodyPr>
          <a:lstStyle/>
          <a:p>
            <a:r>
              <a:rPr sz="1600" b="0">
                <a:solidFill>
                  <a:srgbClr val="222222"/>
                </a:solidFill>
                <a:latin typeface="맑은 고딕"/>
                <a:ea typeface="맑은 고딕"/>
              </a:rPr>
              <a:t>•  ADDM이 AWR 위에서 top-down으로 DB Time을 분해하는 자동 진단자임을 설명한다.</a:t>
            </a:r>
          </a:p>
          <a:p>
            <a:r>
              <a:rPr sz="1600" b="0">
                <a:solidFill>
                  <a:srgbClr val="222222"/>
                </a:solidFill>
                <a:latin typeface="맑은 고딕"/>
                <a:ea typeface="맑은 고딕"/>
              </a:rPr>
              <a:t>•  Finding·Recommendation·Rationale 세 층 구조와 Finding의 네 유형을 구분한다.</a:t>
            </a:r>
          </a:p>
          <a:p>
            <a:r>
              <a:rPr sz="1600" b="0">
                <a:solidFill>
                  <a:srgbClr val="222222"/>
                </a:solidFill>
                <a:latin typeface="맑은 고딕"/>
                <a:ea typeface="맑은 고딕"/>
              </a:rPr>
              <a:t>•  영향도(Impact)와 이득(Benefit)이 각각 무엇을 재는지 구분한다.</a:t>
            </a:r>
          </a:p>
          <a:p>
            <a:r>
              <a:rPr sz="1600" b="0">
                <a:solidFill>
                  <a:srgbClr val="222222"/>
                </a:solidFill>
                <a:latin typeface="맑은 고딕"/>
                <a:ea typeface="맑은 고딕"/>
              </a:rPr>
              <a:t>•  addmrpt.sql / DBMS_ADDM.ANALYZE_DB로 태스크를 실행하고 보고서를 생성한다.</a:t>
            </a:r>
          </a:p>
          <a:p>
            <a:r>
              <a:rPr sz="1600" b="0">
                <a:solidFill>
                  <a:srgbClr val="222222"/>
                </a:solidFill>
                <a:latin typeface="맑은 고딕"/>
                <a:ea typeface="맑은 고딕"/>
              </a:rPr>
              <a:t>•  DBA_ADVISOR_*·DBA_ADDM_* 뷰로 Finding을 영향도 순으로 조회한다.</a:t>
            </a:r>
          </a:p>
          <a:p>
            <a:r>
              <a:rPr sz="1600" b="0">
                <a:solidFill>
                  <a:srgbClr val="222222"/>
                </a:solidFill>
                <a:latin typeface="맑은 고딕"/>
                <a:ea typeface="맑은 고딕"/>
              </a:rPr>
              <a:t>•  실측 상위 Finding을 ch22 AWR·ch25 ASH의 같은 구간과 연결해 해석한다.</a:t>
            </a:r>
          </a:p>
          <a:p>
            <a:r>
              <a:rPr sz="1600" b="0">
                <a:solidFill>
                  <a:srgbClr val="222222"/>
                </a:solidFill>
                <a:latin typeface="맑은 고딕"/>
                <a:ea typeface="맑은 고딕"/>
              </a:rPr>
              <a:t>•  권고 채택 전 영향도·근거·부작용을 검토해 "권고 맹신"을 피한다.</a:t>
            </a:r>
          </a:p>
        </p:txBody>
      </p:sp>
    </p:spTree>
    <p:extLst>
      <p:ext uri="{BB962C8B-B14F-4D97-AF65-F5344CB8AC3E}">
        <p14:creationId xmlns:p14="http://schemas.microsoft.com/office/powerpoint/2010/main" val="79068615"/>
      </p:ext>
    </p:extLst>
  </p:cSld>
  <p:clrMapOvr>
    <a:masterClrMapping/>
  </p:clrMapOvr>
</p:sld>
</file>

<file path=ppt/slides/slide9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ea typeface="맑은 고딕"/>
              </a:rPr>
              <a:t>이 장의 구성 (Agenda)</a:t>
            </a:r>
          </a:p>
        </p:txBody>
      </p:sp>
      <p:sp>
        <p:nvSpPr>
          <p:cNvPr id="4" name="TextBox 3"/>
          <p:cNvSpPr txBox="1"/>
          <p:nvPr/>
        </p:nvSpPr>
        <p:spPr>
          <a:xfrm>
            <a:off x="640080" y="1371600"/>
            <a:ext cx="10881360" cy="5120640"/>
          </a:xfrm>
          <a:prstGeom prst="rect">
            <a:avLst/>
          </a:prstGeom>
          <a:noFill/>
        </p:spPr>
        <p:txBody>
          <a:bodyPr wrap="square">
            <a:spAutoFit/>
          </a:bodyPr>
          <a:lstStyle/>
          <a:p>
            <a:r>
              <a:rPr sz="1600" b="0">
                <a:solidFill>
                  <a:srgbClr val="222222"/>
                </a:solidFill>
                <a:latin typeface="맑은 고딕"/>
                <a:ea typeface="맑은 고딕"/>
              </a:rPr>
              <a:t>•  24.2  ADDM이란 무엇인가 — AWR 위에서 도는 자동 진단자</a:t>
            </a:r>
          </a:p>
          <a:p>
            <a:r>
              <a:rPr sz="1600" b="0">
                <a:solidFill>
                  <a:srgbClr val="222222"/>
                </a:solidFill>
                <a:latin typeface="맑은 고딕"/>
                <a:ea typeface="맑은 고딕"/>
              </a:rPr>
              <a:t>•  24.3  Finding·Recommendation·Rationale 구조</a:t>
            </a:r>
          </a:p>
          <a:p>
            <a:r>
              <a:rPr sz="1600" b="0">
                <a:solidFill>
                  <a:srgbClr val="222222"/>
                </a:solidFill>
                <a:latin typeface="맑은 고딕"/>
                <a:ea typeface="맑은 고딕"/>
              </a:rPr>
              <a:t>•  24.4  ADDM 태스크 실행과 보고서 생성</a:t>
            </a:r>
          </a:p>
          <a:p>
            <a:r>
              <a:rPr sz="1600" b="0">
                <a:solidFill>
                  <a:srgbClr val="222222"/>
                </a:solidFill>
                <a:latin typeface="맑은 고딕"/>
                <a:ea typeface="맑은 고딕"/>
              </a:rPr>
              <a:t>•  24.5  실측 ADDM 보고서 판독 — 스냅샷 295~296</a:t>
            </a:r>
          </a:p>
          <a:p>
            <a:r>
              <a:rPr sz="1600" b="0">
                <a:solidFill>
                  <a:srgbClr val="222222"/>
                </a:solidFill>
                <a:latin typeface="맑은 고딕"/>
                <a:ea typeface="맑은 고딕"/>
              </a:rPr>
              <a:t>•  24.6  ADDM 뷰 직접 조회와 라이선스 없는 대안</a:t>
            </a:r>
          </a:p>
          <a:p>
            <a:r>
              <a:rPr sz="1600" b="0">
                <a:solidFill>
                  <a:srgbClr val="222222"/>
                </a:solidFill>
                <a:latin typeface="맑은 고딕"/>
                <a:ea typeface="맑은 고딕"/>
              </a:rPr>
              <a:t>•  24.7  권고를 그대로 따르면 안 되는 이유</a:t>
            </a:r>
          </a:p>
          <a:p>
            <a:r>
              <a:rPr sz="1600" b="0">
                <a:solidFill>
                  <a:srgbClr val="222222"/>
                </a:solidFill>
                <a:latin typeface="맑은 고딕"/>
                <a:ea typeface="맑은 고딕"/>
              </a:rPr>
              <a:t>•  ※ ADMIN 31장의 ADDM 개념 소개를 실측 판독·권고 판단으로 확장</a:t>
            </a:r>
          </a:p>
        </p:txBody>
      </p:sp>
    </p:spTree>
    <p:extLst>
      <p:ext uri="{BB962C8B-B14F-4D97-AF65-F5344CB8AC3E}">
        <p14:creationId xmlns:p14="http://schemas.microsoft.com/office/powerpoint/2010/main" val="582136471"/>
      </p:ext>
    </p:extLst>
  </p:cSld>
  <p:clrMapOvr>
    <a:masterClrMapping/>
  </p:clrMapOvr>
</p:sld>
</file>

<file path=ppt/slides/slide9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ea typeface="맑은 고딕"/>
              </a:rPr>
              <a:t>24.2</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ea typeface="맑은 고딕"/>
              </a:rPr>
              <a:t>ADDM이란 무엇인가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r>
              <a:rPr sz="1600" b="0">
                <a:solidFill>
                  <a:srgbClr val="FFFFFF"/>
                </a:solidFill>
                <a:latin typeface="맑은 고딕"/>
                <a:ea typeface="맑은 고딕"/>
              </a:rPr>
              <a:t>•  AWR 스냅샷 위에서 도는 자동 진단자</a:t>
            </a:r>
          </a:p>
          <a:p>
            <a:r>
              <a:rPr sz="1600" b="0">
                <a:solidFill>
                  <a:srgbClr val="FFFFFF"/>
                </a:solidFill>
                <a:latin typeface="맑은 고딕"/>
                <a:ea typeface="맑은 고딕"/>
              </a:rPr>
              <a:t>•  top-down DB Time 분해</a:t>
            </a:r>
          </a:p>
          <a:p>
            <a:r>
              <a:rPr sz="1600" b="0">
                <a:solidFill>
                  <a:srgbClr val="FFFFFF"/>
                </a:solidFill>
                <a:latin typeface="맑은 고딕"/>
                <a:ea typeface="맑은 고딕"/>
              </a:rPr>
              <a:t>•  자동 실행과 켜는 조건</a:t>
            </a:r>
          </a:p>
        </p:txBody>
      </p:sp>
    </p:spTree>
    <p:extLst>
      <p:ext uri="{BB962C8B-B14F-4D97-AF65-F5344CB8AC3E}">
        <p14:creationId xmlns:p14="http://schemas.microsoft.com/office/powerpoint/2010/main" val="2303775513"/>
      </p:ext>
    </p:extLst>
  </p:cSld>
  <p:clrMapOvr>
    <a:masterClrMapping/>
  </p:clrMapOvr>
</p:sld>
</file>

<file path=ppt/slides/slide9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ea typeface="맑은 고딕"/>
              </a:rPr>
              <a:t>ADDM의 위치 — V$·AWR·ASH와의 관계</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ea typeface="맑은 고딕"/>
              </a:rPr>
              <a:t>경쟁이 아니라 층위가 다른 협력</a:t>
            </a:r>
          </a:p>
        </p:txBody>
      </p:sp>
      <p:sp>
        <p:nvSpPr>
          <p:cNvPr id="5" name="TextBox 4"/>
          <p:cNvSpPr txBox="1"/>
          <p:nvPr/>
        </p:nvSpPr>
        <p:spPr>
          <a:xfrm>
            <a:off x="640080" y="1737360"/>
            <a:ext cx="10881360" cy="4754880"/>
          </a:xfrm>
          <a:prstGeom prst="rect">
            <a:avLst/>
          </a:prstGeom>
          <a:noFill/>
        </p:spPr>
        <p:txBody>
          <a:bodyPr wrap="square">
            <a:spAutoFit/>
          </a:bodyPr>
          <a:lstStyle/>
          <a:p>
            <a:r>
              <a:rPr sz="1700" b="0">
                <a:solidFill>
                  <a:srgbClr val="222222"/>
                </a:solidFill>
                <a:latin typeface="맑은 고딕"/>
                <a:ea typeface="맑은 고딕"/>
              </a:rPr>
              <a:t>•  V$ = 지금 이 순간 원천 / AWR = 스냅샷 요약(SYSAUX 영구)</a:t>
            </a:r>
          </a:p>
          <a:p>
            <a:r>
              <a:rPr sz="1700" b="0">
                <a:solidFill>
                  <a:srgbClr val="222222"/>
                </a:solidFill>
                <a:latin typeface="맑은 고딕"/>
                <a:ea typeface="맑은 고딕"/>
              </a:rPr>
              <a:t>•  ADDM = AWR 위 한 겹 — 두 스냅샷 사이 DB Time을 자동 해석</a:t>
            </a:r>
          </a:p>
          <a:p>
            <a:r>
              <a:rPr sz="1700" b="0">
                <a:solidFill>
                  <a:srgbClr val="222222"/>
                </a:solidFill>
                <a:latin typeface="맑은 고딕"/>
                <a:ea typeface="맑은 고딕"/>
              </a:rPr>
              <a:t>•  ASH = 활성 세션 1초 샘플링, 짧은 순간 포착</a:t>
            </a:r>
          </a:p>
          <a:p>
            <a:r>
              <a:rPr sz="1700" b="0">
                <a:solidFill>
                  <a:srgbClr val="222222"/>
                </a:solidFill>
                <a:latin typeface="맑은 고딕"/>
                <a:ea typeface="맑은 고딕"/>
              </a:rPr>
              <a:t>•  ADDM 출력은 진단의 출발점 → 더 좁힐 때 ASH·V$로</a:t>
            </a:r>
          </a:p>
        </p:txBody>
      </p:sp>
    </p:spTree>
    <p:extLst>
      <p:ext uri="{BB962C8B-B14F-4D97-AF65-F5344CB8AC3E}">
        <p14:creationId xmlns:p14="http://schemas.microsoft.com/office/powerpoint/2010/main" val="1683343377"/>
      </p:ext>
    </p:extLst>
  </p:cSld>
  <p:clrMapOvr>
    <a:masterClrMapping/>
  </p:clrMapOvr>
</p:sld>
</file>

<file path=ppt/slides/slide9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ea typeface="맑은 고딕"/>
              </a:rPr>
              <a:t>왜 사람이 AWR을 읽는데 ADDM이 필요한가</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ea typeface="맑은 고딕"/>
              </a:rPr>
              <a:t>자동화의 세 가지 값</a:t>
            </a:r>
          </a:p>
        </p:txBody>
      </p:sp>
      <p:sp>
        <p:nvSpPr>
          <p:cNvPr id="5" name="TextBox 4"/>
          <p:cNvSpPr txBox="1"/>
          <p:nvPr/>
        </p:nvSpPr>
        <p:spPr>
          <a:xfrm>
            <a:off x="640080" y="1737360"/>
            <a:ext cx="10881360" cy="4754880"/>
          </a:xfrm>
          <a:prstGeom prst="rect">
            <a:avLst/>
          </a:prstGeom>
          <a:noFill/>
        </p:spPr>
        <p:txBody>
          <a:bodyPr wrap="square">
            <a:spAutoFit/>
          </a:bodyPr>
          <a:lstStyle/>
          <a:p>
            <a:r>
              <a:rPr sz="1700" b="0">
                <a:solidFill>
                  <a:srgbClr val="222222"/>
                </a:solidFill>
                <a:latin typeface="맑은 고딕"/>
                <a:ea typeface="맑은 고딕"/>
              </a:rPr>
              <a:t>•  속도·일관성 — 수천 줄 보고서를 늘 같은 기준(DB Time)으로 몇 초 만에</a:t>
            </a:r>
          </a:p>
          <a:p>
            <a:r>
              <a:rPr sz="1700" b="0">
                <a:solidFill>
                  <a:srgbClr val="222222"/>
                </a:solidFill>
                <a:latin typeface="맑은 고딕"/>
                <a:ea typeface="맑은 고딕"/>
              </a:rPr>
              <a:t>•  top-down 인과 — "무엇이 높다"가 아니라 증상→근본 원인</a:t>
            </a:r>
          </a:p>
          <a:p>
            <a:r>
              <a:rPr sz="1700" b="0">
                <a:solidFill>
                  <a:srgbClr val="222222"/>
                </a:solidFill>
                <a:latin typeface="맑은 고딕"/>
                <a:ea typeface="맑은 고딕"/>
              </a:rPr>
              <a:t>•  비문제 영역까지 알려 줌 — 엉뚱한 곳 파는 것 방지</a:t>
            </a:r>
          </a:p>
          <a:p>
            <a:r>
              <a:rPr sz="1700" b="0">
                <a:solidFill>
                  <a:srgbClr val="222222"/>
                </a:solidFill>
                <a:latin typeface="맑은 고딕"/>
                <a:ea typeface="맑은 고딕"/>
              </a:rPr>
              <a:t>•  한계 — AWR 기반이라 짧은 스파이크는 못 봄(→ ch25 ASH)</a:t>
            </a:r>
          </a:p>
        </p:txBody>
      </p:sp>
    </p:spTree>
    <p:extLst>
      <p:ext uri="{BB962C8B-B14F-4D97-AF65-F5344CB8AC3E}">
        <p14:creationId xmlns:p14="http://schemas.microsoft.com/office/powerpoint/2010/main" val="2424080357"/>
      </p:ext>
    </p:extLst>
  </p:cSld>
  <p:clrMapOvr>
    <a:masterClrMapping/>
  </p:clrMapOvr>
</p:sld>
</file>

<file path=ppt/slides/slide9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ea typeface="맑은 고딕"/>
              </a:rPr>
              <a:t>자동 실행과 분석 구간</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ea typeface="맑은 고딕"/>
              </a:rPr>
              <a:t>스냅샷마다, 직전 두 개</a:t>
            </a:r>
          </a:p>
        </p:txBody>
      </p:sp>
      <p:sp>
        <p:nvSpPr>
          <p:cNvPr id="5" name="TextBox 4"/>
          <p:cNvSpPr txBox="1"/>
          <p:nvPr/>
        </p:nvSpPr>
        <p:spPr>
          <a:xfrm>
            <a:off x="640080" y="1737360"/>
            <a:ext cx="10881360" cy="4754880"/>
          </a:xfrm>
          <a:prstGeom prst="rect">
            <a:avLst/>
          </a:prstGeom>
          <a:noFill/>
        </p:spPr>
        <p:txBody>
          <a:bodyPr wrap="square">
            <a:spAutoFit/>
          </a:bodyPr>
          <a:lstStyle/>
          <a:p>
            <a:r>
              <a:rPr sz="1700" b="0">
                <a:solidFill>
                  <a:srgbClr val="222222"/>
                </a:solidFill>
                <a:latin typeface="맑은 고딕"/>
                <a:ea typeface="맑은 고딕"/>
              </a:rPr>
              <a:t>•  AWR 스냅샷 생성 시마다 자동으로 한 번씩 분석·저장</a:t>
            </a:r>
          </a:p>
          <a:p>
            <a:r>
              <a:rPr sz="1700" b="0">
                <a:solidFill>
                  <a:srgbClr val="222222"/>
                </a:solidFill>
                <a:latin typeface="맑은 고딕"/>
                <a:ea typeface="맑은 고딕"/>
              </a:rPr>
              <a:t>•  분석 구간 = 직전 두 스냅샷 (기본 60분이면 "지난 한 시간")</a:t>
            </a:r>
          </a:p>
          <a:p>
            <a:r>
              <a:rPr sz="1700" b="0">
                <a:solidFill>
                  <a:srgbClr val="222222"/>
                </a:solidFill>
                <a:latin typeface="맑은 고딕"/>
                <a:ea typeface="맑은 고딕"/>
              </a:rPr>
              <a:t>•  진단 첫 단계는 새 태스크가 아니라 자동 결과 확인</a:t>
            </a:r>
          </a:p>
          <a:p>
            <a:r>
              <a:rPr sz="1700" b="0">
                <a:solidFill>
                  <a:srgbClr val="222222"/>
                </a:solidFill>
                <a:latin typeface="맑은 고딕"/>
                <a:ea typeface="맑은 고딕"/>
              </a:rPr>
              <a:t>•  top-down — 증상 식별 → 근본 원인으로 좁힘 → 영향도 순 정렬</a:t>
            </a:r>
          </a:p>
        </p:txBody>
      </p:sp>
    </p:spTree>
    <p:extLst>
      <p:ext uri="{BB962C8B-B14F-4D97-AF65-F5344CB8AC3E}">
        <p14:creationId xmlns:p14="http://schemas.microsoft.com/office/powerpoint/2010/main" val="2324515453"/>
      </p:ext>
    </p:extLst>
  </p:cSld>
  <p:clrMapOvr>
    <a:masterClrMapping/>
  </p:clrMapOvr>
</p:sld>
</file>

<file path=ppt/slides/slide9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ea typeface="맑은 고딕"/>
              </a:rPr>
              <a:t>ADDM을 켜는 두 파라미터</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ea typeface="맑은 고딕"/>
              </a:rPr>
              <a:t>기본으로 켜져 있음 — 값부터 확인</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tlCol="0" anchor="ctr"/>
          <a:lstStyle/>
          <a:p>
            <a:pPr>
              <a:lnSpc>
                <a:spcPct val="100000"/>
              </a:lnSpc>
            </a:pPr>
            <a:r>
              <a:rPr sz="1250" b="0" dirty="0" err="1">
                <a:solidFill>
                  <a:srgbClr val="F2F2F2"/>
                </a:solidFill>
                <a:latin typeface="Consolas"/>
                <a:ea typeface="Consolas"/>
              </a:rPr>
              <a:t>SYS@orcl</a:t>
            </a:r>
            <a:r>
              <a:rPr sz="1250" b="0" dirty="0">
                <a:solidFill>
                  <a:srgbClr val="F2F2F2"/>
                </a:solidFill>
                <a:latin typeface="Consolas"/>
                <a:ea typeface="Consolas"/>
              </a:rPr>
              <a:t>&gt; SELECT name, value FROM </a:t>
            </a:r>
            <a:r>
              <a:rPr sz="1250" b="0" dirty="0" err="1">
                <a:solidFill>
                  <a:srgbClr val="F2F2F2"/>
                </a:solidFill>
                <a:latin typeface="Consolas"/>
                <a:ea typeface="Consolas"/>
              </a:rPr>
              <a:t>v$parameter</a:t>
            </a:r>
            <a:endParaRPr sz="1250" b="0" dirty="0">
              <a:solidFill>
                <a:srgbClr val="F2F2F2"/>
              </a:solidFill>
              <a:latin typeface="Consolas"/>
              <a:ea typeface="Consolas"/>
            </a:endParaRPr>
          </a:p>
          <a:p>
            <a:pPr>
              <a:lnSpc>
                <a:spcPct val="100000"/>
              </a:lnSpc>
            </a:pPr>
            <a:r>
              <a:rPr sz="1250" b="0" dirty="0">
                <a:solidFill>
                  <a:srgbClr val="F2F2F2"/>
                </a:solidFill>
                <a:latin typeface="Consolas"/>
                <a:ea typeface="Consolas"/>
              </a:rPr>
              <a:t>  2       WHERE name IN ('</a:t>
            </a:r>
            <a:r>
              <a:rPr sz="1250" b="0" dirty="0" err="1">
                <a:solidFill>
                  <a:srgbClr val="F2F2F2"/>
                </a:solidFill>
                <a:latin typeface="Consolas"/>
                <a:ea typeface="Consolas"/>
              </a:rPr>
              <a:t>control_management_pack_access</a:t>
            </a:r>
            <a:r>
              <a:rPr sz="1250" b="0" dirty="0">
                <a:solidFill>
                  <a:srgbClr val="F2F2F2"/>
                </a:solidFill>
                <a:latin typeface="Consolas"/>
                <a:ea typeface="Consolas"/>
              </a:rPr>
              <a:t>',</a:t>
            </a:r>
          </a:p>
          <a:p>
            <a:pPr>
              <a:lnSpc>
                <a:spcPct val="100000"/>
              </a:lnSpc>
            </a:pPr>
            <a:r>
              <a:rPr sz="1250" b="0" dirty="0">
                <a:solidFill>
                  <a:srgbClr val="F2F2F2"/>
                </a:solidFill>
                <a:latin typeface="Consolas"/>
                <a:ea typeface="Consolas"/>
              </a:rPr>
              <a:t>  3                      '</a:t>
            </a:r>
            <a:r>
              <a:rPr sz="1250" b="0" dirty="0" err="1">
                <a:solidFill>
                  <a:srgbClr val="F2F2F2"/>
                </a:solidFill>
                <a:latin typeface="Consolas"/>
                <a:ea typeface="Consolas"/>
              </a:rPr>
              <a:t>statistics_level</a:t>
            </a:r>
            <a:r>
              <a:rPr sz="1250" b="0" dirty="0">
                <a:solidFill>
                  <a:srgbClr val="F2F2F2"/>
                </a:solidFill>
                <a:latin typeface="Consolas"/>
                <a:ea typeface="Consolas"/>
              </a:rPr>
              <a:t>');</a:t>
            </a:r>
          </a:p>
          <a:p>
            <a:pPr>
              <a:lnSpc>
                <a:spcPct val="100000"/>
              </a:lnSpc>
            </a:pPr>
            <a:r>
              <a:rPr sz="1250" b="0" dirty="0">
                <a:solidFill>
                  <a:srgbClr val="F2F2F2"/>
                </a:solidFill>
                <a:latin typeface="Consolas"/>
                <a:ea typeface="Consolas"/>
              </a:rPr>
              <a:t> </a:t>
            </a:r>
          </a:p>
          <a:p>
            <a:pPr>
              <a:lnSpc>
                <a:spcPct val="100000"/>
              </a:lnSpc>
            </a:pPr>
            <a:r>
              <a:rPr sz="1250" b="0" dirty="0">
                <a:solidFill>
                  <a:srgbClr val="F2F2F2"/>
                </a:solidFill>
                <a:latin typeface="Consolas"/>
                <a:ea typeface="Consolas"/>
              </a:rPr>
              <a:t>NAME                             VALUE</a:t>
            </a:r>
          </a:p>
          <a:p>
            <a:pPr>
              <a:lnSpc>
                <a:spcPct val="100000"/>
              </a:lnSpc>
            </a:pPr>
            <a:r>
              <a:rPr sz="1250" b="0" dirty="0">
                <a:solidFill>
                  <a:srgbClr val="F2F2F2"/>
                </a:solidFill>
                <a:latin typeface="Consolas"/>
                <a:ea typeface="Consolas"/>
              </a:rPr>
              <a:t>-------------------------------- --------------------</a:t>
            </a:r>
          </a:p>
          <a:p>
            <a:pPr>
              <a:lnSpc>
                <a:spcPct val="100000"/>
              </a:lnSpc>
            </a:pPr>
            <a:r>
              <a:rPr sz="1250" b="0" dirty="0" err="1">
                <a:solidFill>
                  <a:srgbClr val="F2F2F2"/>
                </a:solidFill>
                <a:latin typeface="Consolas"/>
                <a:ea typeface="Consolas"/>
              </a:rPr>
              <a:t>control_management_pack_access</a:t>
            </a:r>
            <a:r>
              <a:rPr sz="1250" b="0" dirty="0">
                <a:solidFill>
                  <a:srgbClr val="F2F2F2"/>
                </a:solidFill>
                <a:latin typeface="Consolas"/>
                <a:ea typeface="Consolas"/>
              </a:rPr>
              <a:t>   DIAGNOSTIC+TUNING</a:t>
            </a:r>
          </a:p>
          <a:p>
            <a:pPr>
              <a:lnSpc>
                <a:spcPct val="100000"/>
              </a:lnSpc>
            </a:pPr>
            <a:r>
              <a:rPr sz="1250" b="0" dirty="0" err="1">
                <a:solidFill>
                  <a:srgbClr val="F2F2F2"/>
                </a:solidFill>
                <a:latin typeface="Consolas"/>
                <a:ea typeface="Consolas"/>
              </a:rPr>
              <a:t>statistics_level</a:t>
            </a:r>
            <a:r>
              <a:rPr sz="1250" b="0" dirty="0">
                <a:solidFill>
                  <a:srgbClr val="F2F2F2"/>
                </a:solidFill>
                <a:latin typeface="Consolas"/>
                <a:ea typeface="Consolas"/>
              </a:rPr>
              <a:t>                 TYPICAL</a:t>
            </a:r>
          </a:p>
        </p:txBody>
      </p:sp>
    </p:spTree>
    <p:extLst>
      <p:ext uri="{BB962C8B-B14F-4D97-AF65-F5344CB8AC3E}">
        <p14:creationId xmlns:p14="http://schemas.microsoft.com/office/powerpoint/2010/main" val="190333976"/>
      </p:ext>
    </p:extLst>
  </p:cSld>
  <p:clrMapOvr>
    <a:masterClrMapping/>
  </p:clrMapOvr>
</p:sld>
</file>

<file path=ppt/slides/slide9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ea typeface="맑은 고딕"/>
              </a:rPr>
              <a:t>24.3</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ea typeface="맑은 고딕"/>
              </a:rPr>
              <a:t>Finding·Recommendation·Rationale</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r>
              <a:rPr sz="1600" b="0">
                <a:solidFill>
                  <a:srgbClr val="FFFFFF"/>
                </a:solidFill>
                <a:latin typeface="맑은 고딕"/>
                <a:ea typeface="맑은 고딕"/>
              </a:rPr>
              <a:t>•  무엇이 문제 / 어떻게 / 왜</a:t>
            </a:r>
          </a:p>
          <a:p>
            <a:r>
              <a:rPr sz="1600" b="0">
                <a:solidFill>
                  <a:srgbClr val="FFFFFF"/>
                </a:solidFill>
                <a:latin typeface="맑은 고딕"/>
                <a:ea typeface="맑은 고딕"/>
              </a:rPr>
              <a:t>•  Finding 4유형</a:t>
            </a:r>
          </a:p>
          <a:p>
            <a:r>
              <a:rPr sz="1600" b="0">
                <a:solidFill>
                  <a:srgbClr val="FFFFFF"/>
                </a:solidFill>
                <a:latin typeface="맑은 고딕"/>
                <a:ea typeface="맑은 고딕"/>
              </a:rPr>
              <a:t>•  영향도와 이득</a:t>
            </a:r>
          </a:p>
        </p:txBody>
      </p:sp>
    </p:spTree>
    <p:extLst>
      <p:ext uri="{BB962C8B-B14F-4D97-AF65-F5344CB8AC3E}">
        <p14:creationId xmlns:p14="http://schemas.microsoft.com/office/powerpoint/2010/main" val="2304957338"/>
      </p:ext>
    </p:extLst>
  </p:cSld>
  <p:clrMapOvr>
    <a:masterClrMapping/>
  </p:clrMapOvr>
</p:sld>
</file>

<file path=ppt/slides/slide9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ea typeface="맑은 고딕"/>
              </a:rPr>
              <a:t>Finding의 네 가지 유형</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ea typeface="맑은 고딕"/>
              </a:rPr>
              <a:t>조치는 Problem에, Symptom은 단서로</a:t>
            </a:r>
          </a:p>
        </p:txBody>
      </p:sp>
      <p:sp>
        <p:nvSpPr>
          <p:cNvPr id="5" name="TextBox 4"/>
          <p:cNvSpPr txBox="1"/>
          <p:nvPr/>
        </p:nvSpPr>
        <p:spPr>
          <a:xfrm>
            <a:off x="640080" y="1737360"/>
            <a:ext cx="10881360" cy="4754880"/>
          </a:xfrm>
          <a:prstGeom prst="rect">
            <a:avLst/>
          </a:prstGeom>
          <a:noFill/>
        </p:spPr>
        <p:txBody>
          <a:bodyPr wrap="square">
            <a:spAutoFit/>
          </a:bodyPr>
          <a:lstStyle/>
          <a:p>
            <a:r>
              <a:rPr sz="1700" b="0">
                <a:solidFill>
                  <a:srgbClr val="222222"/>
                </a:solidFill>
                <a:latin typeface="맑은 고딕"/>
                <a:ea typeface="맑은 고딕"/>
              </a:rPr>
              <a:t>•  Problem(문제) — 근본 원인. 영향도가 붙고 권고가 달린다 → 조치 대상</a:t>
            </a:r>
          </a:p>
          <a:p>
            <a:r>
              <a:rPr sz="1700" b="0">
                <a:solidFill>
                  <a:srgbClr val="222222"/>
                </a:solidFill>
                <a:latin typeface="맑은 고딕"/>
                <a:ea typeface="맑은 고딕"/>
              </a:rPr>
              <a:t>•  Symptom(증상) — Problem으로 이어지는 현상. 조치 대상 아님</a:t>
            </a:r>
          </a:p>
          <a:p>
            <a:r>
              <a:rPr sz="1700" b="0">
                <a:solidFill>
                  <a:srgbClr val="222222"/>
                </a:solidFill>
                <a:latin typeface="맑은 고딕"/>
                <a:ea typeface="맑은 고딕"/>
              </a:rPr>
              <a:t>•  Information(정보) — 문제 아닌 영역(예: normal, successful completion)</a:t>
            </a:r>
          </a:p>
          <a:p>
            <a:r>
              <a:rPr sz="1700" b="0">
                <a:solidFill>
                  <a:srgbClr val="222222"/>
                </a:solidFill>
                <a:latin typeface="맑은 고딕"/>
                <a:ea typeface="맑은 고딕"/>
              </a:rPr>
              <a:t>•  Warning(경고) — 분석의 완전성 문제(예: AWR 데이터 누락)</a:t>
            </a:r>
          </a:p>
        </p:txBody>
      </p:sp>
    </p:spTree>
    <p:extLst>
      <p:ext uri="{BB962C8B-B14F-4D97-AF65-F5344CB8AC3E}">
        <p14:creationId xmlns:p14="http://schemas.microsoft.com/office/powerpoint/2010/main" val="611721318"/>
      </p:ext>
    </p:extLst>
  </p:cSld>
  <p:clrMapOvr>
    <a:masterClrMapping/>
  </p:clrMapOvr>
</p:sld>
</file>

<file path=ppt/slides/slide9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ea typeface="맑은 고딕"/>
              </a:rPr>
              <a:t>영향도(Impact) vs 이득(Benefit)</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ea typeface="맑은 고딕"/>
              </a:rPr>
              <a:t>무엇을 재는가 — 반드시 구분</a:t>
            </a:r>
          </a:p>
        </p:txBody>
      </p:sp>
      <p:sp>
        <p:nvSpPr>
          <p:cNvPr id="5" name="TextBox 4"/>
          <p:cNvSpPr txBox="1"/>
          <p:nvPr/>
        </p:nvSpPr>
        <p:spPr>
          <a:xfrm>
            <a:off x="640080" y="1737360"/>
            <a:ext cx="10881360" cy="4754880"/>
          </a:xfrm>
          <a:prstGeom prst="rect">
            <a:avLst/>
          </a:prstGeom>
          <a:noFill/>
        </p:spPr>
        <p:txBody>
          <a:bodyPr wrap="square">
            <a:spAutoFit/>
          </a:bodyPr>
          <a:lstStyle/>
          <a:p>
            <a:r>
              <a:rPr sz="1700" b="0">
                <a:solidFill>
                  <a:srgbClr val="222222"/>
                </a:solidFill>
                <a:latin typeface="맑은 고딕"/>
                <a:ea typeface="맑은 고딕"/>
              </a:rPr>
              <a:t>•  영향도 = 이 Finding이 유발한 DB Time 비중 (Top SQL 60.78%)</a:t>
            </a:r>
          </a:p>
          <a:p>
            <a:r>
              <a:rPr sz="1700" b="0">
                <a:solidFill>
                  <a:srgbClr val="222222"/>
                </a:solidFill>
                <a:latin typeface="맑은 고딕"/>
                <a:ea typeface="맑은 고딕"/>
              </a:rPr>
              <a:t>•  이득 = 이 권고를 구현하면 절약될 DB Time 비중</a:t>
            </a:r>
          </a:p>
          <a:p>
            <a:r>
              <a:rPr sz="1700" b="0">
                <a:solidFill>
                  <a:srgbClr val="222222"/>
                </a:solidFill>
                <a:latin typeface="맑은 고딕"/>
                <a:ea typeface="맑은 고딕"/>
              </a:rPr>
              <a:t>•  이득은 "Finding 영향도"가 아니라 "전체 DB Time"에 대한 %</a:t>
            </a:r>
          </a:p>
          <a:p>
            <a:r>
              <a:rPr sz="1700" b="0">
                <a:solidFill>
                  <a:srgbClr val="222222"/>
                </a:solidFill>
                <a:latin typeface="맑은 고딕"/>
                <a:ea typeface="맑은 고딕"/>
              </a:rPr>
              <a:t>•  이유 — 서로 다른 Finding의 권고를 같은 잣대로 비교하려고</a:t>
            </a:r>
          </a:p>
        </p:txBody>
      </p:sp>
    </p:spTree>
    <p:extLst>
      <p:ext uri="{BB962C8B-B14F-4D97-AF65-F5344CB8AC3E}">
        <p14:creationId xmlns:p14="http://schemas.microsoft.com/office/powerpoint/2010/main" val="690998444"/>
      </p:ext>
    </p:extLst>
  </p:cSld>
  <p:clrMapOvr>
    <a:masterClrMapping/>
  </p:clrMapOvr>
</p:sld>
</file>

<file path=ppt/slides/slide9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ea typeface="맑은 고딕"/>
              </a:rPr>
              <a:t>Recommendation = Action + Rationale</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ea typeface="맑은 고딕"/>
              </a:rPr>
              <a:t>권고 유형 다섯 가지</a:t>
            </a:r>
          </a:p>
        </p:txBody>
      </p:sp>
      <p:sp>
        <p:nvSpPr>
          <p:cNvPr id="5" name="TextBox 4"/>
          <p:cNvSpPr txBox="1"/>
          <p:nvPr/>
        </p:nvSpPr>
        <p:spPr>
          <a:xfrm>
            <a:off x="640080" y="1737360"/>
            <a:ext cx="10881360" cy="4754880"/>
          </a:xfrm>
          <a:prstGeom prst="rect">
            <a:avLst/>
          </a:prstGeom>
          <a:noFill/>
        </p:spPr>
        <p:txBody>
          <a:bodyPr wrap="square">
            <a:spAutoFit/>
          </a:bodyPr>
          <a:lstStyle/>
          <a:p>
            <a:r>
              <a:rPr sz="1700" b="0">
                <a:solidFill>
                  <a:srgbClr val="222222"/>
                </a:solidFill>
                <a:latin typeface="맑은 고딕"/>
                <a:ea typeface="맑은 고딕"/>
              </a:rPr>
              <a:t>•  추정 이득을 얻으려면 한 권고의 Action을 모두 적용</a:t>
            </a:r>
          </a:p>
          <a:p>
            <a:r>
              <a:rPr sz="1700" b="0">
                <a:solidFill>
                  <a:srgbClr val="222222"/>
                </a:solidFill>
                <a:latin typeface="맑은 고딕"/>
                <a:ea typeface="맑은 고딕"/>
              </a:rPr>
              <a:t>•  Rationale — 왜 그 조치를 권고했는지, 구현 정보</a:t>
            </a:r>
          </a:p>
          <a:p>
            <a:r>
              <a:rPr sz="1700" b="0">
                <a:solidFill>
                  <a:srgbClr val="222222"/>
                </a:solidFill>
                <a:latin typeface="맑은 고딕"/>
                <a:ea typeface="맑은 고딕"/>
              </a:rPr>
              <a:t>•  유형: 하드웨어 / DB 구성 / 스키마 / 애플리케이션 / 다른 어드바이저</a:t>
            </a:r>
          </a:p>
          <a:p>
            <a:r>
              <a:rPr sz="1700" b="0">
                <a:solidFill>
                  <a:srgbClr val="222222"/>
                </a:solidFill>
                <a:latin typeface="맑은 고딕"/>
                <a:ea typeface="맑은 고딕"/>
              </a:rPr>
              <a:t>•  실측: "SQL_ID 9vmszgd1ft9x0에 SQL Tuning Advisor 실행"</a:t>
            </a:r>
          </a:p>
        </p:txBody>
      </p:sp>
    </p:spTree>
    <p:extLst>
      <p:ext uri="{BB962C8B-B14F-4D97-AF65-F5344CB8AC3E}">
        <p14:creationId xmlns:p14="http://schemas.microsoft.com/office/powerpoint/2010/main" val="4070446939"/>
      </p:ext>
    </p:extLst>
  </p:cSld>
  <p:clrMapOvr>
    <a:masterClrMapping/>
  </p:clrMapOvr>
</p:sld>
</file>

<file path=ppt/slides/slide9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ea typeface="맑은 고딕"/>
              </a:rPr>
              <a:t>영향도 합이 100%를 넘을 수 있다</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ea typeface="맑은 고딕"/>
              </a:rPr>
              <a:t>겹침 — 계산 오류가 아니다</a:t>
            </a:r>
          </a:p>
        </p:txBody>
      </p:sp>
      <p:sp>
        <p:nvSpPr>
          <p:cNvPr id="5" name="TextBox 4"/>
          <p:cNvSpPr txBox="1"/>
          <p:nvPr/>
        </p:nvSpPr>
        <p:spPr>
          <a:xfrm>
            <a:off x="640080" y="1737360"/>
            <a:ext cx="10881360" cy="4754880"/>
          </a:xfrm>
          <a:prstGeom prst="rect">
            <a:avLst/>
          </a:prstGeom>
          <a:noFill/>
        </p:spPr>
        <p:txBody>
          <a:bodyPr wrap="square">
            <a:spAutoFit/>
          </a:bodyPr>
          <a:lstStyle/>
          <a:p>
            <a:r>
              <a:rPr sz="1700" b="0">
                <a:solidFill>
                  <a:srgbClr val="222222"/>
                </a:solidFill>
                <a:latin typeface="맑은 고딕"/>
                <a:ea typeface="맑은 고딕"/>
              </a:rPr>
              <a:t>•  한 문제에 여러 원인 → 여러 Problem·Symptom Finding</a:t>
            </a:r>
          </a:p>
          <a:p>
            <a:r>
              <a:rPr sz="1700" b="0">
                <a:solidFill>
                  <a:srgbClr val="222222"/>
                </a:solidFill>
                <a:latin typeface="맑은 고딕"/>
                <a:ea typeface="맑은 고딕"/>
              </a:rPr>
              <a:t>•  Finding들이 같은 DB Time 조각을 중복해 포함할 수 있음</a:t>
            </a:r>
          </a:p>
          <a:p>
            <a:r>
              <a:rPr sz="1700" b="0">
                <a:solidFill>
                  <a:srgbClr val="222222"/>
                </a:solidFill>
                <a:latin typeface="맑은 고딕"/>
                <a:ea typeface="맑은 고딕"/>
              </a:rPr>
              <a:t>•  예: I/O로 50% SQL + undersized buffer cache 75% = 같은 시간</a:t>
            </a:r>
          </a:p>
          <a:p>
            <a:r>
              <a:rPr sz="1700" b="0">
                <a:solidFill>
                  <a:srgbClr val="222222"/>
                </a:solidFill>
                <a:latin typeface="맑은 고딕"/>
                <a:ea typeface="맑은 고딕"/>
              </a:rPr>
              <a:t>•  권고 여러 개 = 대안일 수 있음, 전부 적용할 필요 없음</a:t>
            </a:r>
          </a:p>
        </p:txBody>
      </p:sp>
    </p:spTree>
    <p:extLst>
      <p:ext uri="{BB962C8B-B14F-4D97-AF65-F5344CB8AC3E}">
        <p14:creationId xmlns:p14="http://schemas.microsoft.com/office/powerpoint/2010/main" val="2871556100"/>
      </p:ext>
    </p:extLst>
  </p:cSld>
  <p:clrMapOvr>
    <a:masterClrMapping/>
  </p:clrMapOvr>
</p:sld>
</file>

<file path=ppt/slides/slide9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ea typeface="맑은 고딕"/>
              </a:rPr>
              <a:t>24.4</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ea typeface="맑은 고딕"/>
              </a:rPr>
              <a:t>ADDM 태스크 실행과 보고서</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r>
              <a:rPr sz="1600" b="0">
                <a:solidFill>
                  <a:srgbClr val="FFFFFF"/>
                </a:solidFill>
                <a:latin typeface="맑은 고딕"/>
                <a:ea typeface="맑은 고딕"/>
              </a:rPr>
              <a:t>•  자동 결과부터 확인</a:t>
            </a:r>
          </a:p>
          <a:p>
            <a:r>
              <a:rPr sz="1600" b="0">
                <a:solidFill>
                  <a:srgbClr val="FFFFFF"/>
                </a:solidFill>
                <a:latin typeface="맑은 고딕"/>
                <a:ea typeface="맑은 고딕"/>
              </a:rPr>
              <a:t>•  DBMS_ADDM / addmrpt.sql</a:t>
            </a:r>
          </a:p>
          <a:p>
            <a:r>
              <a:rPr sz="1600" b="0">
                <a:solidFill>
                  <a:srgbClr val="FFFFFF"/>
                </a:solidFill>
                <a:latin typeface="맑은 고딕"/>
                <a:ea typeface="맑은 고딕"/>
              </a:rPr>
              <a:t>•  분석 모드·Real-Time</a:t>
            </a:r>
          </a:p>
        </p:txBody>
      </p:sp>
    </p:spTree>
    <p:extLst>
      <p:ext uri="{BB962C8B-B14F-4D97-AF65-F5344CB8AC3E}">
        <p14:creationId xmlns:p14="http://schemas.microsoft.com/office/powerpoint/2010/main" val="2186749127"/>
      </p:ext>
    </p:extLst>
  </p:cSld>
  <p:clrMapOvr>
    <a:masterClrMapping/>
  </p:clrMapOvr>
</p:sld>
</file>

<file path=ppt/slides/slide9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ea typeface="맑은 고딕"/>
              </a:rPr>
              <a:t>실행 경로 — 자동 결과부터</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ea typeface="맑은 고딕"/>
              </a:rPr>
              <a:t>어느 경로든 저장 위치·읽는 법 동일</a:t>
            </a:r>
          </a:p>
        </p:txBody>
      </p:sp>
      <p:sp>
        <p:nvSpPr>
          <p:cNvPr id="5" name="TextBox 4"/>
          <p:cNvSpPr txBox="1"/>
          <p:nvPr/>
        </p:nvSpPr>
        <p:spPr>
          <a:xfrm>
            <a:off x="640080" y="1737360"/>
            <a:ext cx="10881360" cy="4754880"/>
          </a:xfrm>
          <a:prstGeom prst="rect">
            <a:avLst/>
          </a:prstGeom>
          <a:noFill/>
        </p:spPr>
        <p:txBody>
          <a:bodyPr wrap="square">
            <a:spAutoFit/>
          </a:bodyPr>
          <a:lstStyle/>
          <a:p>
            <a:r>
              <a:rPr sz="1700" b="0">
                <a:solidFill>
                  <a:srgbClr val="222222"/>
                </a:solidFill>
                <a:latin typeface="맑은 고딕"/>
                <a:ea typeface="맑은 고딕"/>
              </a:rPr>
              <a:t>•  먼저: 스냅샷마다 자동 생성된 ADDM 결과 확인</a:t>
            </a:r>
          </a:p>
          <a:p>
            <a:r>
              <a:rPr sz="1700" b="0">
                <a:solidFill>
                  <a:srgbClr val="222222"/>
                </a:solidFill>
                <a:latin typeface="맑은 고딕"/>
                <a:ea typeface="맑은 고딕"/>
              </a:rPr>
              <a:t>•  두 스냅샷이 AWR에 남아 있어야(purge 전) 분석 가능</a:t>
            </a:r>
          </a:p>
          <a:p>
            <a:r>
              <a:rPr sz="1700" b="0">
                <a:solidFill>
                  <a:srgbClr val="222222"/>
                </a:solidFill>
                <a:latin typeface="맑은 고딕"/>
                <a:ea typeface="맑은 고딕"/>
              </a:rPr>
              <a:t>•  대상 인스턴스는 시작 전 기동~종료까지 계속 떠 있어야</a:t>
            </a:r>
          </a:p>
          <a:p>
            <a:r>
              <a:rPr sz="1700" b="0">
                <a:solidFill>
                  <a:srgbClr val="222222"/>
                </a:solidFill>
                <a:latin typeface="맑은 고딕"/>
                <a:ea typeface="맑은 고딕"/>
              </a:rPr>
              <a:t>•  다른 구간·설정이 필요할 때만 수동 실행/addmrpt.sql</a:t>
            </a:r>
          </a:p>
        </p:txBody>
      </p:sp>
    </p:spTree>
    <p:extLst>
      <p:ext uri="{BB962C8B-B14F-4D97-AF65-F5344CB8AC3E}">
        <p14:creationId xmlns:p14="http://schemas.microsoft.com/office/powerpoint/2010/main" val="1295323725"/>
      </p:ext>
    </p:extLst>
  </p:cSld>
  <p:clrMapOvr>
    <a:masterClrMapping/>
  </p:clrMapOvr>
</p:sld>
</file>

<file path=ppt/slides/slide9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ea typeface="맑은 고딕"/>
              </a:rPr>
              <a:t>수동 실행 — DBMS_ADDM.ANALYZE_DB</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ea typeface="맑은 고딕"/>
              </a:rPr>
              <a:t>실측 태스크 TUNING_CH9_ADDM_296</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tlCol="0" anchor="ctr"/>
          <a:lstStyle/>
          <a:p>
            <a:pPr>
              <a:lnSpc>
                <a:spcPct val="100000"/>
              </a:lnSpc>
            </a:pPr>
            <a:r>
              <a:rPr sz="1250" b="0" dirty="0" err="1">
                <a:solidFill>
                  <a:srgbClr val="F2F2F2"/>
                </a:solidFill>
                <a:latin typeface="Consolas"/>
                <a:ea typeface="Consolas"/>
              </a:rPr>
              <a:t>SYS@orcl</a:t>
            </a:r>
            <a:r>
              <a:rPr sz="1250" b="0" dirty="0">
                <a:solidFill>
                  <a:srgbClr val="F2F2F2"/>
                </a:solidFill>
                <a:latin typeface="Consolas"/>
                <a:ea typeface="Consolas"/>
              </a:rPr>
              <a:t>&gt; VAR </a:t>
            </a:r>
            <a:r>
              <a:rPr sz="1250" b="0" dirty="0" err="1">
                <a:solidFill>
                  <a:srgbClr val="F2F2F2"/>
                </a:solidFill>
                <a:latin typeface="Consolas"/>
                <a:ea typeface="Consolas"/>
              </a:rPr>
              <a:t>tname</a:t>
            </a:r>
            <a:r>
              <a:rPr sz="1250" b="0" dirty="0">
                <a:solidFill>
                  <a:srgbClr val="F2F2F2"/>
                </a:solidFill>
                <a:latin typeface="Consolas"/>
                <a:ea typeface="Consolas"/>
              </a:rPr>
              <a:t> VARCHAR2(40);</a:t>
            </a:r>
          </a:p>
          <a:p>
            <a:pPr>
              <a:lnSpc>
                <a:spcPct val="100000"/>
              </a:lnSpc>
            </a:pPr>
            <a:r>
              <a:rPr sz="1250" b="0" dirty="0" err="1">
                <a:solidFill>
                  <a:srgbClr val="F2F2F2"/>
                </a:solidFill>
                <a:latin typeface="Consolas"/>
                <a:ea typeface="Consolas"/>
              </a:rPr>
              <a:t>SYS@orcl</a:t>
            </a:r>
            <a:r>
              <a:rPr sz="1250" b="0" dirty="0">
                <a:solidFill>
                  <a:srgbClr val="F2F2F2"/>
                </a:solidFill>
                <a:latin typeface="Consolas"/>
                <a:ea typeface="Consolas"/>
              </a:rPr>
              <a:t>&gt; BEGIN</a:t>
            </a:r>
          </a:p>
          <a:p>
            <a:pPr>
              <a:lnSpc>
                <a:spcPct val="100000"/>
              </a:lnSpc>
            </a:pPr>
            <a:r>
              <a:rPr sz="1250" b="0" dirty="0">
                <a:solidFill>
                  <a:srgbClr val="F2F2F2"/>
                </a:solidFill>
                <a:latin typeface="Consolas"/>
                <a:ea typeface="Consolas"/>
              </a:rPr>
              <a:t>  2         :</a:t>
            </a:r>
            <a:r>
              <a:rPr sz="1250" b="0" dirty="0" err="1">
                <a:solidFill>
                  <a:srgbClr val="F2F2F2"/>
                </a:solidFill>
                <a:latin typeface="Consolas"/>
                <a:ea typeface="Consolas"/>
              </a:rPr>
              <a:t>tname</a:t>
            </a:r>
            <a:r>
              <a:rPr sz="1250" b="0" dirty="0">
                <a:solidFill>
                  <a:srgbClr val="F2F2F2"/>
                </a:solidFill>
                <a:latin typeface="Consolas"/>
                <a:ea typeface="Consolas"/>
              </a:rPr>
              <a:t> := 'TUNING_CH9_ADDM_296';</a:t>
            </a:r>
          </a:p>
          <a:p>
            <a:pPr>
              <a:lnSpc>
                <a:spcPct val="100000"/>
              </a:lnSpc>
            </a:pPr>
            <a:r>
              <a:rPr sz="1250" b="0" dirty="0">
                <a:solidFill>
                  <a:srgbClr val="F2F2F2"/>
                </a:solidFill>
                <a:latin typeface="Consolas"/>
                <a:ea typeface="Consolas"/>
              </a:rPr>
              <a:t>  3         DBMS_ADDM.ANALYZE_DB(:</a:t>
            </a:r>
            <a:r>
              <a:rPr sz="1250" b="0" dirty="0" err="1">
                <a:solidFill>
                  <a:srgbClr val="F2F2F2"/>
                </a:solidFill>
                <a:latin typeface="Consolas"/>
                <a:ea typeface="Consolas"/>
              </a:rPr>
              <a:t>tname</a:t>
            </a:r>
            <a:r>
              <a:rPr sz="1250" b="0" dirty="0">
                <a:solidFill>
                  <a:srgbClr val="F2F2F2"/>
                </a:solidFill>
                <a:latin typeface="Consolas"/>
                <a:ea typeface="Consolas"/>
              </a:rPr>
              <a:t>, 295, 296);</a:t>
            </a:r>
          </a:p>
          <a:p>
            <a:pPr>
              <a:lnSpc>
                <a:spcPct val="100000"/>
              </a:lnSpc>
            </a:pPr>
            <a:r>
              <a:rPr sz="1250" b="0" dirty="0">
                <a:solidFill>
                  <a:srgbClr val="F2F2F2"/>
                </a:solidFill>
                <a:latin typeface="Consolas"/>
                <a:ea typeface="Consolas"/>
              </a:rPr>
              <a:t>  4       END;</a:t>
            </a:r>
          </a:p>
          <a:p>
            <a:pPr>
              <a:lnSpc>
                <a:spcPct val="100000"/>
              </a:lnSpc>
            </a:pPr>
            <a:r>
              <a:rPr sz="1250" b="0" dirty="0">
                <a:solidFill>
                  <a:srgbClr val="F2F2F2"/>
                </a:solidFill>
                <a:latin typeface="Consolas"/>
                <a:ea typeface="Consolas"/>
              </a:rPr>
              <a:t>  5       /</a:t>
            </a:r>
          </a:p>
          <a:p>
            <a:pPr>
              <a:lnSpc>
                <a:spcPct val="100000"/>
              </a:lnSpc>
            </a:pPr>
            <a:r>
              <a:rPr sz="1250" b="0" dirty="0">
                <a:solidFill>
                  <a:srgbClr val="F2F2F2"/>
                </a:solidFill>
                <a:latin typeface="Consolas"/>
                <a:ea typeface="Consolas"/>
              </a:rPr>
              <a:t> </a:t>
            </a:r>
          </a:p>
          <a:p>
            <a:pPr>
              <a:lnSpc>
                <a:spcPct val="100000"/>
              </a:lnSpc>
            </a:pPr>
            <a:r>
              <a:rPr sz="1250" b="0" dirty="0" err="1">
                <a:solidFill>
                  <a:srgbClr val="F2F2F2"/>
                </a:solidFill>
                <a:latin typeface="Consolas"/>
                <a:ea typeface="Consolas"/>
              </a:rPr>
              <a:t>SYS@orcl</a:t>
            </a:r>
            <a:r>
              <a:rPr sz="1250" b="0" dirty="0">
                <a:solidFill>
                  <a:srgbClr val="F2F2F2"/>
                </a:solidFill>
                <a:latin typeface="Consolas"/>
                <a:ea typeface="Consolas"/>
              </a:rPr>
              <a:t>&gt; SET LONG 1000000 PAGESIZE 0 LINESIZE 80</a:t>
            </a:r>
          </a:p>
          <a:p>
            <a:pPr>
              <a:lnSpc>
                <a:spcPct val="100000"/>
              </a:lnSpc>
            </a:pPr>
            <a:r>
              <a:rPr sz="1250" b="0" dirty="0" err="1">
                <a:solidFill>
                  <a:srgbClr val="F2F2F2"/>
                </a:solidFill>
                <a:latin typeface="Consolas"/>
                <a:ea typeface="Consolas"/>
              </a:rPr>
              <a:t>SYS@orcl</a:t>
            </a:r>
            <a:r>
              <a:rPr sz="1250" b="0" dirty="0">
                <a:solidFill>
                  <a:srgbClr val="F2F2F2"/>
                </a:solidFill>
                <a:latin typeface="Consolas"/>
                <a:ea typeface="Consolas"/>
              </a:rPr>
              <a:t>&gt; SELECT DBMS_ADDM.GET_REPORT(:</a:t>
            </a:r>
            <a:r>
              <a:rPr sz="1250" b="0" dirty="0" err="1">
                <a:solidFill>
                  <a:srgbClr val="F2F2F2"/>
                </a:solidFill>
                <a:latin typeface="Consolas"/>
                <a:ea typeface="Consolas"/>
              </a:rPr>
              <a:t>tname</a:t>
            </a:r>
            <a:r>
              <a:rPr sz="1250" b="0" dirty="0">
                <a:solidFill>
                  <a:srgbClr val="F2F2F2"/>
                </a:solidFill>
                <a:latin typeface="Consolas"/>
                <a:ea typeface="Consolas"/>
              </a:rPr>
              <a:t>) FROM dual;</a:t>
            </a:r>
          </a:p>
        </p:txBody>
      </p:sp>
    </p:spTree>
    <p:extLst>
      <p:ext uri="{BB962C8B-B14F-4D97-AF65-F5344CB8AC3E}">
        <p14:creationId xmlns:p14="http://schemas.microsoft.com/office/powerpoint/2010/main" val="2178047884"/>
      </p:ext>
    </p:extLst>
  </p:cSld>
  <p:clrMapOvr>
    <a:masterClrMapping/>
  </p:clrMapOvr>
</p:sld>
</file>

<file path=ppt/slides/slide9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ea typeface="맑은 고딕"/>
              </a:rPr>
              <a:t>addmrpt.sql과 분석 모드</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ea typeface="맑은 고딕"/>
              </a:rPr>
              <a:t>대화식 생성 / RAC의 세 모드</a:t>
            </a:r>
          </a:p>
        </p:txBody>
      </p:sp>
      <p:sp>
        <p:nvSpPr>
          <p:cNvPr id="5" name="TextBox 4"/>
          <p:cNvSpPr txBox="1"/>
          <p:nvPr/>
        </p:nvSpPr>
        <p:spPr>
          <a:xfrm>
            <a:off x="640080" y="1737360"/>
            <a:ext cx="10881360" cy="4754880"/>
          </a:xfrm>
          <a:prstGeom prst="rect">
            <a:avLst/>
          </a:prstGeom>
          <a:noFill/>
        </p:spPr>
        <p:txBody>
          <a:bodyPr wrap="square">
            <a:spAutoFit/>
          </a:bodyPr>
          <a:lstStyle/>
          <a:p>
            <a:r>
              <a:rPr sz="1700" b="0">
                <a:solidFill>
                  <a:srgbClr val="222222"/>
                </a:solidFill>
                <a:latin typeface="맑은 고딕"/>
                <a:ea typeface="맑은 고딕"/>
              </a:rPr>
              <a:t>•  addmrpt.sql — 스냅샷 목록 보여 주고 구간 입력받아 생성(awrrpt.sql의 짝)</a:t>
            </a:r>
          </a:p>
          <a:p>
            <a:r>
              <a:rPr sz="1700" b="0">
                <a:solidFill>
                  <a:srgbClr val="222222"/>
                </a:solidFill>
                <a:latin typeface="맑은 고딕"/>
                <a:ea typeface="맑은 고딕"/>
              </a:rPr>
              <a:t>•  내부적으로 ANALYZE_DB+GET_REPORT 래퍼 → 결과 동일</a:t>
            </a:r>
          </a:p>
          <a:p>
            <a:r>
              <a:rPr sz="1700" b="0">
                <a:solidFill>
                  <a:srgbClr val="222222"/>
                </a:solidFill>
                <a:latin typeface="맑은 고딕"/>
                <a:ea typeface="맑은 고딕"/>
              </a:rPr>
              <a:t>•  RAC: Database(전체)·Instance(특정)·Partial(부분집합)</a:t>
            </a:r>
          </a:p>
          <a:p>
            <a:r>
              <a:rPr sz="1700" b="0">
                <a:solidFill>
                  <a:srgbClr val="222222"/>
                </a:solidFill>
                <a:latin typeface="맑은 고딕"/>
                <a:ea typeface="맑은 고딕"/>
              </a:rPr>
              <a:t>•  단일 인스턴스 non-CDB — ANALYZE_DB도 그 한 인스턴스 분석</a:t>
            </a:r>
          </a:p>
        </p:txBody>
      </p:sp>
    </p:spTree>
    <p:extLst>
      <p:ext uri="{BB962C8B-B14F-4D97-AF65-F5344CB8AC3E}">
        <p14:creationId xmlns:p14="http://schemas.microsoft.com/office/powerpoint/2010/main" val="2062696206"/>
      </p:ext>
    </p:extLst>
  </p:cSld>
  <p:clrMapOvr>
    <a:masterClrMapping/>
  </p:clrMapOvr>
</p:sld>
</file>

<file path=ppt/slides/slide9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ea typeface="맑은 고딕"/>
              </a:rPr>
              <a:t>Real-Time ADDM · DBIO_EXPECTED</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ea typeface="맑은 고딕"/>
              </a:rPr>
              <a:t>스냅샷을 못 기다릴 때 / I/O 기준값</a:t>
            </a:r>
          </a:p>
        </p:txBody>
      </p:sp>
      <p:sp>
        <p:nvSpPr>
          <p:cNvPr id="5" name="TextBox 4"/>
          <p:cNvSpPr txBox="1"/>
          <p:nvPr/>
        </p:nvSpPr>
        <p:spPr>
          <a:xfrm>
            <a:off x="640080" y="1737360"/>
            <a:ext cx="10881360" cy="4754880"/>
          </a:xfrm>
          <a:prstGeom prst="rect">
            <a:avLst/>
          </a:prstGeom>
          <a:noFill/>
        </p:spPr>
        <p:txBody>
          <a:bodyPr wrap="square">
            <a:spAutoFit/>
          </a:bodyPr>
          <a:lstStyle/>
          <a:p>
            <a:r>
              <a:rPr sz="1700" b="0">
                <a:solidFill>
                  <a:srgbClr val="222222"/>
                </a:solidFill>
                <a:latin typeface="맑은 고딕"/>
                <a:ea typeface="맑은 고딕"/>
              </a:rPr>
              <a:t>•  Real-Time ADDM — MMON이 3초마다 락 없이 통계 수집</a:t>
            </a:r>
          </a:p>
          <a:p>
            <a:r>
              <a:rPr sz="1700" b="0">
                <a:solidFill>
                  <a:srgbClr val="222222"/>
                </a:solidFill>
                <a:latin typeface="맑은 고딕"/>
                <a:ea typeface="맑은 고딕"/>
              </a:rPr>
              <a:t>•  트리거: High load, CPU bound, 데드락 등 → DBA_HIST_REPORTS</a:t>
            </a:r>
          </a:p>
          <a:p>
            <a:r>
              <a:rPr sz="1700" b="0">
                <a:solidFill>
                  <a:srgbClr val="222222"/>
                </a:solidFill>
                <a:latin typeface="맑은 고딕"/>
                <a:ea typeface="맑은 고딕"/>
              </a:rPr>
              <a:t>•  DBIO_EXPECTED — 단일 블록 읽기 기대 시간(기본 10ms)</a:t>
            </a:r>
          </a:p>
          <a:p>
            <a:r>
              <a:rPr sz="1700" b="0">
                <a:solidFill>
                  <a:srgbClr val="222222"/>
                </a:solidFill>
                <a:latin typeface="맑은 고딕"/>
                <a:ea typeface="맑은 고딕"/>
              </a:rPr>
              <a:t>•  잘못 잡으면 I/O 진단 왜곡 — 하드웨어에 맞춰 한 번 고정</a:t>
            </a:r>
          </a:p>
        </p:txBody>
      </p:sp>
    </p:spTree>
    <p:extLst>
      <p:ext uri="{BB962C8B-B14F-4D97-AF65-F5344CB8AC3E}">
        <p14:creationId xmlns:p14="http://schemas.microsoft.com/office/powerpoint/2010/main" val="2393393123"/>
      </p:ext>
    </p:extLst>
  </p:cSld>
  <p:clrMapOvr>
    <a:masterClrMapping/>
  </p:clrMapOvr>
</p:sld>
</file>

<file path=ppt/slides/slide9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ea typeface="맑은 고딕"/>
              </a:rPr>
              <a:t>24.5</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ea typeface="맑은 고딕"/>
              </a:rPr>
              <a:t>실측 ADDM 보고서 판독</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r>
              <a:rPr sz="1600" b="0">
                <a:solidFill>
                  <a:srgbClr val="FFFFFF"/>
                </a:solidFill>
                <a:latin typeface="맑은 고딕"/>
                <a:ea typeface="맑은 고딕"/>
              </a:rPr>
              <a:t>•  스냅샷 295~296, DB Time 574초</a:t>
            </a:r>
          </a:p>
          <a:p>
            <a:r>
              <a:rPr sz="1600" b="0">
                <a:solidFill>
                  <a:srgbClr val="FFFFFF"/>
                </a:solidFill>
                <a:latin typeface="맑은 고딕"/>
                <a:ea typeface="맑은 고딕"/>
              </a:rPr>
              <a:t>•  상위 3개 Finding</a:t>
            </a:r>
          </a:p>
          <a:p>
            <a:r>
              <a:rPr sz="1600" b="0">
                <a:solidFill>
                  <a:srgbClr val="FFFFFF"/>
                </a:solidFill>
                <a:latin typeface="맑은 고딕"/>
                <a:ea typeface="맑은 고딕"/>
              </a:rPr>
              <a:t>•  ch22·ch24·ch25 같은 부하</a:t>
            </a:r>
          </a:p>
        </p:txBody>
      </p:sp>
    </p:spTree>
    <p:extLst>
      <p:ext uri="{BB962C8B-B14F-4D97-AF65-F5344CB8AC3E}">
        <p14:creationId xmlns:p14="http://schemas.microsoft.com/office/powerpoint/2010/main" val="2780713153"/>
      </p:ext>
    </p:extLst>
  </p:cSld>
  <p:clrMapOvr>
    <a:masterClrMapping/>
  </p:clrMapOvr>
</p:sld>
</file>

<file path=ppt/slides/slide9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ea typeface="맑은 고딕"/>
              </a:rPr>
              <a:t>Summary of Findings — 실측</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ea typeface="맑은 고딕"/>
              </a:rPr>
              <a:t>영향도 순 정렬이 곧 우선순위</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tlCol="0" anchor="ctr"/>
          <a:lstStyle/>
          <a:p>
            <a:pPr>
              <a:lnSpc>
                <a:spcPct val="100000"/>
              </a:lnSpc>
            </a:pPr>
            <a:r>
              <a:rPr sz="1250" b="0" dirty="0">
                <a:solidFill>
                  <a:srgbClr val="F2F2F2"/>
                </a:solidFill>
                <a:latin typeface="Consolas"/>
                <a:ea typeface="Consolas"/>
              </a:rPr>
              <a:t>Total database time was 574 seconds.</a:t>
            </a:r>
          </a:p>
          <a:p>
            <a:pPr>
              <a:lnSpc>
                <a:spcPct val="100000"/>
              </a:lnSpc>
            </a:pPr>
            <a:r>
              <a:rPr sz="1250" b="0" dirty="0">
                <a:solidFill>
                  <a:srgbClr val="F2F2F2"/>
                </a:solidFill>
                <a:latin typeface="Consolas"/>
                <a:ea typeface="Consolas"/>
              </a:rPr>
              <a:t>The average number of active sessions was 5.52.</a:t>
            </a:r>
          </a:p>
          <a:p>
            <a:pPr>
              <a:lnSpc>
                <a:spcPct val="100000"/>
              </a:lnSpc>
            </a:pPr>
            <a:r>
              <a:rPr sz="1250" b="0" dirty="0">
                <a:solidFill>
                  <a:srgbClr val="F2F2F2"/>
                </a:solidFill>
                <a:latin typeface="Consolas"/>
                <a:ea typeface="Consolas"/>
              </a:rPr>
              <a:t> </a:t>
            </a:r>
          </a:p>
          <a:p>
            <a:pPr>
              <a:lnSpc>
                <a:spcPct val="100000"/>
              </a:lnSpc>
            </a:pPr>
            <a:r>
              <a:rPr sz="1250" b="0" dirty="0">
                <a:solidFill>
                  <a:srgbClr val="F2F2F2"/>
                </a:solidFill>
                <a:latin typeface="Consolas"/>
                <a:ea typeface="Consolas"/>
              </a:rPr>
              <a:t>Summary of Findings</a:t>
            </a:r>
          </a:p>
          <a:p>
            <a:pPr>
              <a:lnSpc>
                <a:spcPct val="100000"/>
              </a:lnSpc>
            </a:pPr>
            <a:r>
              <a:rPr sz="1250" b="0" dirty="0">
                <a:solidFill>
                  <a:srgbClr val="F2F2F2"/>
                </a:solidFill>
                <a:latin typeface="Consolas"/>
                <a:ea typeface="Consolas"/>
              </a:rPr>
              <a:t>   Description                      Active Sessions   </a:t>
            </a:r>
            <a:r>
              <a:rPr sz="1250" b="0" dirty="0" err="1">
                <a:solidFill>
                  <a:srgbClr val="F2F2F2"/>
                </a:solidFill>
                <a:latin typeface="Consolas"/>
                <a:ea typeface="Consolas"/>
              </a:rPr>
              <a:t>Recomm</a:t>
            </a:r>
            <a:r>
              <a:rPr sz="1250" b="0" dirty="0">
                <a:solidFill>
                  <a:srgbClr val="F2F2F2"/>
                </a:solidFill>
                <a:latin typeface="Consolas"/>
                <a:ea typeface="Consolas"/>
              </a:rPr>
              <a:t>.</a:t>
            </a:r>
          </a:p>
          <a:p>
            <a:pPr>
              <a:lnSpc>
                <a:spcPct val="100000"/>
              </a:lnSpc>
            </a:pPr>
            <a:r>
              <a:rPr sz="1250" b="0" dirty="0">
                <a:solidFill>
                  <a:srgbClr val="F2F2F2"/>
                </a:solidFill>
                <a:latin typeface="Consolas"/>
                <a:ea typeface="Consolas"/>
              </a:rPr>
              <a:t>                                    Percent of Activity</a:t>
            </a:r>
          </a:p>
          <a:p>
            <a:pPr>
              <a:lnSpc>
                <a:spcPct val="100000"/>
              </a:lnSpc>
            </a:pPr>
            <a:r>
              <a:rPr sz="1250" b="0" dirty="0">
                <a:solidFill>
                  <a:srgbClr val="F2F2F2"/>
                </a:solidFill>
                <a:latin typeface="Consolas"/>
                <a:ea typeface="Consolas"/>
              </a:rPr>
              <a:t>   -------------------------------  ------------------ -------</a:t>
            </a:r>
          </a:p>
          <a:p>
            <a:pPr>
              <a:lnSpc>
                <a:spcPct val="100000"/>
              </a:lnSpc>
            </a:pPr>
            <a:r>
              <a:rPr sz="1250" b="0" dirty="0">
                <a:solidFill>
                  <a:srgbClr val="F2F2F2"/>
                </a:solidFill>
                <a:latin typeface="Consolas"/>
                <a:ea typeface="Consolas"/>
              </a:rPr>
              <a:t>1  Top SQL Statements               3.35 | 60.78         2</a:t>
            </a:r>
          </a:p>
          <a:p>
            <a:pPr>
              <a:lnSpc>
                <a:spcPct val="100000"/>
              </a:lnSpc>
            </a:pPr>
            <a:r>
              <a:rPr sz="1250" b="0" dirty="0">
                <a:solidFill>
                  <a:srgbClr val="F2F2F2"/>
                </a:solidFill>
                <a:latin typeface="Consolas"/>
                <a:ea typeface="Consolas"/>
              </a:rPr>
              <a:t>2  Hard Parse Due to Literal Usage   .32 |  5.82         1</a:t>
            </a:r>
          </a:p>
          <a:p>
            <a:pPr>
              <a:lnSpc>
                <a:spcPct val="100000"/>
              </a:lnSpc>
            </a:pPr>
            <a:r>
              <a:rPr sz="1250" b="0" dirty="0">
                <a:solidFill>
                  <a:srgbClr val="F2F2F2"/>
                </a:solidFill>
                <a:latin typeface="Consolas"/>
                <a:ea typeface="Consolas"/>
              </a:rPr>
              <a:t>3  Commits and Rollbacks             .2  |  3.69         2</a:t>
            </a:r>
          </a:p>
          <a:p>
            <a:pPr>
              <a:lnSpc>
                <a:spcPct val="100000"/>
              </a:lnSpc>
            </a:pPr>
            <a:r>
              <a:rPr sz="1250" b="0" dirty="0">
                <a:solidFill>
                  <a:srgbClr val="F2F2F2"/>
                </a:solidFill>
                <a:latin typeface="Consolas"/>
                <a:ea typeface="Consolas"/>
              </a:rPr>
              <a:t>4  Soft Parse                        .13 |  2.38         2</a:t>
            </a:r>
          </a:p>
        </p:txBody>
      </p:sp>
    </p:spTree>
    <p:extLst>
      <p:ext uri="{BB962C8B-B14F-4D97-AF65-F5344CB8AC3E}">
        <p14:creationId xmlns:p14="http://schemas.microsoft.com/office/powerpoint/2010/main" val="1610256713"/>
      </p:ext>
    </p:extLst>
  </p:cSld>
  <p:clrMapOvr>
    <a:masterClrMapping/>
  </p:clrMapOvr>
</p:sld>
</file>

<file path=ppt/slides/slide9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ea typeface="맑은 고딕"/>
              </a:rPr>
              <a:t>Finding 1 — Top SQL Statements</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ea typeface="맑은 고딕"/>
              </a:rPr>
              <a:t>영향도 60.78% — 압도적 1위</a:t>
            </a:r>
          </a:p>
        </p:txBody>
      </p:sp>
      <p:sp>
        <p:nvSpPr>
          <p:cNvPr id="5" name="TextBox 4"/>
          <p:cNvSpPr txBox="1"/>
          <p:nvPr/>
        </p:nvSpPr>
        <p:spPr>
          <a:xfrm>
            <a:off x="640080" y="1737360"/>
            <a:ext cx="10881360" cy="4754880"/>
          </a:xfrm>
          <a:prstGeom prst="rect">
            <a:avLst/>
          </a:prstGeom>
          <a:noFill/>
        </p:spPr>
        <p:txBody>
          <a:bodyPr wrap="square">
            <a:spAutoFit/>
          </a:bodyPr>
          <a:lstStyle/>
          <a:p>
            <a:r>
              <a:rPr sz="1700" b="0">
                <a:solidFill>
                  <a:srgbClr val="222222"/>
                </a:solidFill>
                <a:latin typeface="맑은 고딕"/>
                <a:ea typeface="맑은 고딕"/>
              </a:rPr>
              <a:t>•  SQL_ID 9vmszgd1ft9x0 = ch22 AWR Elapsed 1위(190.6초·33.2%)</a:t>
            </a:r>
          </a:p>
          <a:p>
            <a:r>
              <a:rPr sz="1700" b="0">
                <a:solidFill>
                  <a:srgbClr val="222222"/>
                </a:solidFill>
                <a:latin typeface="맑은 고딕"/>
                <a:ea typeface="맑은 고딕"/>
              </a:rPr>
              <a:t>•  CLAIM_DETAILS 대량 스캔(WL_02) count/sum 집계</a:t>
            </a:r>
          </a:p>
          <a:p>
            <a:r>
              <a:rPr sz="1700" b="0">
                <a:solidFill>
                  <a:srgbClr val="222222"/>
                </a:solidFill>
                <a:latin typeface="맑은 고딕"/>
                <a:ea typeface="맑은 고딕"/>
              </a:rPr>
              <a:t>•  권고: 이 SQL에 SQL Tuning Advisor 실행 (이득 31.37%)</a:t>
            </a:r>
          </a:p>
          <a:p>
            <a:r>
              <a:rPr sz="1700" b="0">
                <a:solidFill>
                  <a:srgbClr val="222222"/>
                </a:solidFill>
                <a:latin typeface="맑은 고딕"/>
                <a:ea typeface="맑은 고딕"/>
              </a:rPr>
              <a:t>•  Rationale: 5,912회 실행, 평균 0.032초, DB Time 100% CPU·I/O</a:t>
            </a:r>
          </a:p>
        </p:txBody>
      </p:sp>
    </p:spTree>
    <p:extLst>
      <p:ext uri="{BB962C8B-B14F-4D97-AF65-F5344CB8AC3E}">
        <p14:creationId xmlns:p14="http://schemas.microsoft.com/office/powerpoint/2010/main" val="4178117129"/>
      </p:ext>
    </p:extLst>
  </p:cSld>
  <p:clrMapOvr>
    <a:masterClrMapping/>
  </p:clrMapOvr>
</p:sld>
</file>

<file path=ppt/slides/slide9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ea typeface="맑은 고딕"/>
              </a:rPr>
              <a:t>Finding 1 상세 — 권고와 근거</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ea typeface="맑은 고딕"/>
              </a:rPr>
              <a:t>Action·Rationale의 실제 모습</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tlCol="0" anchor="ctr"/>
          <a:lstStyle/>
          <a:p>
            <a:pPr>
              <a:lnSpc>
                <a:spcPct val="100000"/>
              </a:lnSpc>
            </a:pPr>
            <a:r>
              <a:rPr sz="1250" b="0" dirty="0">
                <a:solidFill>
                  <a:srgbClr val="F2F2F2"/>
                </a:solidFill>
                <a:latin typeface="Consolas"/>
                <a:ea typeface="Consolas"/>
              </a:rPr>
              <a:t>Finding 1: Top SQL Statements</a:t>
            </a:r>
          </a:p>
          <a:p>
            <a:pPr>
              <a:lnSpc>
                <a:spcPct val="100000"/>
              </a:lnSpc>
            </a:pPr>
            <a:r>
              <a:rPr sz="1250" b="0" dirty="0">
                <a:solidFill>
                  <a:srgbClr val="F2F2F2"/>
                </a:solidFill>
                <a:latin typeface="Consolas"/>
                <a:ea typeface="Consolas"/>
              </a:rPr>
              <a:t>Impact is 3.35 active sessions, 60.78% of total activity.</a:t>
            </a:r>
          </a:p>
          <a:p>
            <a:pPr>
              <a:lnSpc>
                <a:spcPct val="100000"/>
              </a:lnSpc>
            </a:pPr>
            <a:r>
              <a:rPr sz="1250" b="0" dirty="0">
                <a:solidFill>
                  <a:srgbClr val="F2F2F2"/>
                </a:solidFill>
                <a:latin typeface="Consolas"/>
                <a:ea typeface="Consolas"/>
              </a:rPr>
              <a:t> </a:t>
            </a:r>
          </a:p>
          <a:p>
            <a:pPr>
              <a:lnSpc>
                <a:spcPct val="100000"/>
              </a:lnSpc>
            </a:pPr>
            <a:r>
              <a:rPr sz="1250" b="0" dirty="0">
                <a:solidFill>
                  <a:srgbClr val="F2F2F2"/>
                </a:solidFill>
                <a:latin typeface="Consolas"/>
                <a:ea typeface="Consolas"/>
              </a:rPr>
              <a:t>   Recommendation 1: SQL Tuning</a:t>
            </a:r>
          </a:p>
          <a:p>
            <a:pPr>
              <a:lnSpc>
                <a:spcPct val="100000"/>
              </a:lnSpc>
            </a:pPr>
            <a:r>
              <a:rPr sz="1250" b="0" dirty="0">
                <a:solidFill>
                  <a:srgbClr val="F2F2F2"/>
                </a:solidFill>
                <a:latin typeface="Consolas"/>
                <a:ea typeface="Consolas"/>
              </a:rPr>
              <a:t>   Estimated benefit is 1.73 active sessions, 31.37%.</a:t>
            </a:r>
          </a:p>
          <a:p>
            <a:pPr>
              <a:lnSpc>
                <a:spcPct val="100000"/>
              </a:lnSpc>
            </a:pPr>
            <a:r>
              <a:rPr sz="1250" b="0" dirty="0">
                <a:solidFill>
                  <a:srgbClr val="F2F2F2"/>
                </a:solidFill>
                <a:latin typeface="Consolas"/>
                <a:ea typeface="Consolas"/>
              </a:rPr>
              <a:t>   Action</a:t>
            </a:r>
          </a:p>
          <a:p>
            <a:pPr>
              <a:lnSpc>
                <a:spcPct val="100000"/>
              </a:lnSpc>
            </a:pPr>
            <a:r>
              <a:rPr sz="1250" b="0" dirty="0">
                <a:solidFill>
                  <a:srgbClr val="F2F2F2"/>
                </a:solidFill>
                <a:latin typeface="Consolas"/>
                <a:ea typeface="Consolas"/>
              </a:rPr>
              <a:t>      Run SQL Tuning Advisor on the SELECT statement with</a:t>
            </a:r>
          </a:p>
          <a:p>
            <a:pPr>
              <a:lnSpc>
                <a:spcPct val="100000"/>
              </a:lnSpc>
            </a:pPr>
            <a:r>
              <a:rPr sz="1250" b="0" dirty="0">
                <a:solidFill>
                  <a:srgbClr val="F2F2F2"/>
                </a:solidFill>
                <a:latin typeface="Consolas"/>
                <a:ea typeface="Consolas"/>
              </a:rPr>
              <a:t>      SQL_ID "9vmszgd1ft9x0".</a:t>
            </a:r>
          </a:p>
          <a:p>
            <a:pPr>
              <a:lnSpc>
                <a:spcPct val="100000"/>
              </a:lnSpc>
            </a:pPr>
            <a:r>
              <a:rPr sz="1250" b="0" dirty="0">
                <a:solidFill>
                  <a:srgbClr val="F2F2F2"/>
                </a:solidFill>
                <a:latin typeface="Consolas"/>
                <a:ea typeface="Consolas"/>
              </a:rPr>
              <a:t>   Rationale</a:t>
            </a:r>
          </a:p>
          <a:p>
            <a:pPr>
              <a:lnSpc>
                <a:spcPct val="100000"/>
              </a:lnSpc>
            </a:pPr>
            <a:r>
              <a:rPr sz="1250" b="0" dirty="0">
                <a:solidFill>
                  <a:srgbClr val="F2F2F2"/>
                </a:solidFill>
                <a:latin typeface="Consolas"/>
                <a:ea typeface="Consolas"/>
              </a:rPr>
              <a:t>      Executed 5912 times, avg elapsed time 0.032 seconds.</a:t>
            </a:r>
          </a:p>
        </p:txBody>
      </p:sp>
    </p:spTree>
    <p:extLst>
      <p:ext uri="{BB962C8B-B14F-4D97-AF65-F5344CB8AC3E}">
        <p14:creationId xmlns:p14="http://schemas.microsoft.com/office/powerpoint/2010/main" val="901396770"/>
      </p:ext>
    </p:extLst>
  </p:cSld>
  <p:clrMapOvr>
    <a:masterClrMapping/>
  </p:clrMapOvr>
</p:sld>
</file>

<file path=ppt/slides/slide9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ea typeface="맑은 고딕"/>
              </a:rPr>
              <a:t>Finding 2 — Hard Parse Due to Literal Usage</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ea typeface="맑은 고딕"/>
              </a:rPr>
              <a:t>WL_01 리터럴이 자동 진단에 잡힌 자리</a:t>
            </a:r>
          </a:p>
        </p:txBody>
      </p:sp>
      <p:sp>
        <p:nvSpPr>
          <p:cNvPr id="5" name="TextBox 4"/>
          <p:cNvSpPr txBox="1"/>
          <p:nvPr/>
        </p:nvSpPr>
        <p:spPr>
          <a:xfrm>
            <a:off x="640080" y="1737360"/>
            <a:ext cx="10881360" cy="4754880"/>
          </a:xfrm>
          <a:prstGeom prst="rect">
            <a:avLst/>
          </a:prstGeom>
          <a:noFill/>
        </p:spPr>
        <p:txBody>
          <a:bodyPr wrap="square">
            <a:spAutoFit/>
          </a:bodyPr>
          <a:lstStyle/>
          <a:p>
            <a:r>
              <a:rPr sz="1700" b="0">
                <a:solidFill>
                  <a:srgbClr val="222222"/>
                </a:solidFill>
                <a:latin typeface="맑은 고딕"/>
                <a:ea typeface="맑은 고딕"/>
              </a:rPr>
              <a:t>•  ch22 AWR의 숫자(하드 파싱 초당 319, Library Hit 59%)에 이름을 붙임</a:t>
            </a:r>
          </a:p>
          <a:p>
            <a:r>
              <a:rPr sz="1700" b="0">
                <a:solidFill>
                  <a:srgbClr val="222222"/>
                </a:solidFill>
                <a:latin typeface="맑은 고딕"/>
                <a:ea typeface="맑은 고딕"/>
              </a:rPr>
              <a:t>•  리터럴 → 커서 미공유 → 추가 하드 파싱 (영향도 5.82%)</a:t>
            </a:r>
          </a:p>
          <a:p>
            <a:r>
              <a:rPr sz="1700" b="0">
                <a:solidFill>
                  <a:srgbClr val="222222"/>
                </a:solidFill>
                <a:latin typeface="맑은 고딕"/>
                <a:ea typeface="맑은 고딕"/>
              </a:rPr>
              <a:t>•  권고: 바인드 변수 사용, 어렵다면 CURSOR_SHARING=FORCE</a:t>
            </a:r>
          </a:p>
          <a:p>
            <a:r>
              <a:rPr sz="1700" b="0">
                <a:solidFill>
                  <a:srgbClr val="222222"/>
                </a:solidFill>
                <a:latin typeface="맑은 고딕"/>
                <a:ea typeface="맑은 고딕"/>
              </a:rPr>
              <a:t>•  DBA_ADVISOR_FINDINGS: Hard Parse=SYMPTOM, Literal Usage=PROBLEM</a:t>
            </a:r>
          </a:p>
        </p:txBody>
      </p:sp>
    </p:spTree>
    <p:extLst>
      <p:ext uri="{BB962C8B-B14F-4D97-AF65-F5344CB8AC3E}">
        <p14:creationId xmlns:p14="http://schemas.microsoft.com/office/powerpoint/2010/main" val="1295100200"/>
      </p:ext>
    </p:extLst>
  </p:cSld>
  <p:clrMapOvr>
    <a:masterClrMapping/>
  </p:clrMapOvr>
</p:sld>
</file>

<file path=ppt/slides/slide9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ea typeface="맑은 고딕"/>
              </a:rPr>
              <a:t>Finding 3 — Commits and Rollbacks</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ea typeface="맑은 고딕"/>
              </a:rPr>
              <a:t>WL_05 잦은 커밋 (영향도 3.69%)</a:t>
            </a:r>
          </a:p>
        </p:txBody>
      </p:sp>
      <p:sp>
        <p:nvSpPr>
          <p:cNvPr id="5" name="TextBox 4"/>
          <p:cNvSpPr txBox="1"/>
          <p:nvPr/>
        </p:nvSpPr>
        <p:spPr>
          <a:xfrm>
            <a:off x="640080" y="1737360"/>
            <a:ext cx="10881360" cy="4754880"/>
          </a:xfrm>
          <a:prstGeom prst="rect">
            <a:avLst/>
          </a:prstGeom>
          <a:noFill/>
        </p:spPr>
        <p:txBody>
          <a:bodyPr wrap="square">
            <a:spAutoFit/>
          </a:bodyPr>
          <a:lstStyle/>
          <a:p>
            <a:r>
              <a:rPr sz="1700" b="0">
                <a:solidFill>
                  <a:srgbClr val="222222"/>
                </a:solidFill>
                <a:latin typeface="맑은 고딕"/>
                <a:ea typeface="맑은 고딕"/>
              </a:rPr>
              <a:t>•  커밋·롤백이 잦아 log file sync가 DB Time 소비(21.15초)</a:t>
            </a:r>
          </a:p>
          <a:p>
            <a:r>
              <a:rPr sz="1700" b="0">
                <a:solidFill>
                  <a:srgbClr val="222222"/>
                </a:solidFill>
                <a:latin typeface="맑은 고딕"/>
                <a:ea typeface="맑은 고딕"/>
              </a:rPr>
              <a:t>•  ch22 AWR Top Events의 log file sync 21.1초·Commit 3.7%와 동일</a:t>
            </a:r>
          </a:p>
          <a:p>
            <a:r>
              <a:rPr sz="1700" b="0">
                <a:solidFill>
                  <a:srgbClr val="222222"/>
                </a:solidFill>
                <a:latin typeface="맑은 고딕"/>
                <a:ea typeface="맑은 고딕"/>
              </a:rPr>
              <a:t>•  권고: 커밋 빈도 축소(배치 커밋) / 로그 I/O 개선</a:t>
            </a:r>
          </a:p>
          <a:p>
            <a:r>
              <a:rPr sz="1700" b="0">
                <a:solidFill>
                  <a:srgbClr val="222222"/>
                </a:solidFill>
                <a:latin typeface="맑은 고딕"/>
                <a:ea typeface="맑은 고딕"/>
              </a:rPr>
              <a:t>•  영향도 낮음 → Top SQL 먼저, 여기 매달리지 않는다</a:t>
            </a:r>
          </a:p>
        </p:txBody>
      </p:sp>
    </p:spTree>
    <p:extLst>
      <p:ext uri="{BB962C8B-B14F-4D97-AF65-F5344CB8AC3E}">
        <p14:creationId xmlns:p14="http://schemas.microsoft.com/office/powerpoint/2010/main" val="3700391350"/>
      </p:ext>
    </p:extLst>
  </p:cSld>
  <p:clrMapOvr>
    <a:masterClrMapping/>
  </p:clrMapOvr>
</p:sld>
</file>

<file path=ppt/slides/slide9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ea typeface="맑은 고딕"/>
              </a:rPr>
              <a:t>세 도구가 같은 사건을 가리킨다</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ea typeface="맑은 고딕"/>
              </a:rPr>
              <a:t>ch22·ch24·ch25의 일관성</a:t>
            </a:r>
          </a:p>
        </p:txBody>
      </p:sp>
      <p:sp>
        <p:nvSpPr>
          <p:cNvPr id="5" name="TextBox 4"/>
          <p:cNvSpPr txBox="1"/>
          <p:nvPr/>
        </p:nvSpPr>
        <p:spPr>
          <a:xfrm>
            <a:off x="640080" y="1737360"/>
            <a:ext cx="10881360" cy="4754880"/>
          </a:xfrm>
          <a:prstGeom prst="rect">
            <a:avLst/>
          </a:prstGeom>
          <a:noFill/>
        </p:spPr>
        <p:txBody>
          <a:bodyPr wrap="square">
            <a:spAutoFit/>
          </a:bodyPr>
          <a:lstStyle/>
          <a:p>
            <a:r>
              <a:rPr sz="1700" b="0">
                <a:solidFill>
                  <a:srgbClr val="222222"/>
                </a:solidFill>
                <a:latin typeface="맑은 고딕"/>
                <a:ea typeface="맑은 고딕"/>
              </a:rPr>
              <a:t>•  AWR(ch22): DB CPU 95.7% · log file sync · 하드 파싱 경합</a:t>
            </a:r>
          </a:p>
          <a:p>
            <a:r>
              <a:rPr sz="1700" b="0">
                <a:solidFill>
                  <a:srgbClr val="222222"/>
                </a:solidFill>
                <a:latin typeface="맑은 고딕"/>
                <a:ea typeface="맑은 고딕"/>
              </a:rPr>
              <a:t>•  ADDM(ch24): Top SQL 60.78% · Literal 5.82% · Commits 3.69%</a:t>
            </a:r>
          </a:p>
          <a:p>
            <a:r>
              <a:rPr sz="1700" b="0">
                <a:solidFill>
                  <a:srgbClr val="222222"/>
                </a:solidFill>
                <a:latin typeface="맑은 고딕"/>
                <a:ea typeface="맑은 고딕"/>
              </a:rPr>
              <a:t>•  ASH(ch25): ON CPU 90.7% · 상위 SQL 9vmszgd1ft9x0</a:t>
            </a:r>
          </a:p>
          <a:p>
            <a:r>
              <a:rPr sz="1700" b="0">
                <a:solidFill>
                  <a:srgbClr val="222222"/>
                </a:solidFill>
                <a:latin typeface="맑은 고딕"/>
                <a:ea typeface="맑은 고딕"/>
              </a:rPr>
              <a:t>•  셋은 모순 없음 — ADDM이 관점을 자동 통합해 "어디부터"를 정함</a:t>
            </a:r>
          </a:p>
        </p:txBody>
      </p:sp>
    </p:spTree>
    <p:extLst>
      <p:ext uri="{BB962C8B-B14F-4D97-AF65-F5344CB8AC3E}">
        <p14:creationId xmlns:p14="http://schemas.microsoft.com/office/powerpoint/2010/main" val="3388565223"/>
      </p:ext>
    </p:extLst>
  </p:cSld>
  <p:clrMapOvr>
    <a:masterClrMapping/>
  </p:clrMapOvr>
</p:sld>
</file>

<file path=ppt/slides/slide9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ea typeface="맑은 고딕"/>
              </a:rPr>
              <a:t>24.6</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ea typeface="맑은 고딕"/>
              </a:rPr>
              <a:t>ADDM 뷰 직접 조회</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r>
              <a:rPr sz="1600" b="0">
                <a:solidFill>
                  <a:srgbClr val="FFFFFF"/>
                </a:solidFill>
                <a:latin typeface="맑은 고딕"/>
                <a:ea typeface="맑은 고딕"/>
              </a:rPr>
              <a:t>•  텍스트 대신 뷰로 정렬·자동화</a:t>
            </a:r>
          </a:p>
          <a:p>
            <a:r>
              <a:rPr sz="1600" b="0">
                <a:solidFill>
                  <a:srgbClr val="FFFFFF"/>
                </a:solidFill>
                <a:latin typeface="맑은 고딕"/>
                <a:ea typeface="맑은 고딕"/>
              </a:rPr>
              <a:t>•  DBA_ADVISOR_* / DBA_ADDM_*</a:t>
            </a:r>
          </a:p>
          <a:p>
            <a:r>
              <a:rPr sz="1600" b="0">
                <a:solidFill>
                  <a:srgbClr val="FFFFFF"/>
                </a:solidFill>
                <a:latin typeface="맑은 고딕"/>
                <a:ea typeface="맑은 고딕"/>
              </a:rPr>
              <a:t>•  라이선스 없는 대안</a:t>
            </a:r>
          </a:p>
        </p:txBody>
      </p:sp>
    </p:spTree>
    <p:extLst>
      <p:ext uri="{BB962C8B-B14F-4D97-AF65-F5344CB8AC3E}">
        <p14:creationId xmlns:p14="http://schemas.microsoft.com/office/powerpoint/2010/main" val="2985514087"/>
      </p:ext>
    </p:extLst>
  </p:cSld>
  <p:clrMapOvr>
    <a:masterClrMapping/>
  </p:clrMapOvr>
</p:sld>
</file>

<file path=ppt/slides/slide9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ea typeface="맑은 고딕"/>
              </a:rPr>
              <a:t>핵심 ADDM 뷰</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ea typeface="맑은 고딕"/>
              </a:rPr>
              <a:t>공통 어드바이저 프레임워크 스키마</a:t>
            </a:r>
          </a:p>
        </p:txBody>
      </p:sp>
      <p:sp>
        <p:nvSpPr>
          <p:cNvPr id="5" name="TextBox 4"/>
          <p:cNvSpPr txBox="1"/>
          <p:nvPr/>
        </p:nvSpPr>
        <p:spPr>
          <a:xfrm>
            <a:off x="640080" y="1737360"/>
            <a:ext cx="10881360" cy="4754880"/>
          </a:xfrm>
          <a:prstGeom prst="rect">
            <a:avLst/>
          </a:prstGeom>
          <a:noFill/>
        </p:spPr>
        <p:txBody>
          <a:bodyPr wrap="square">
            <a:spAutoFit/>
          </a:bodyPr>
          <a:lstStyle/>
          <a:p>
            <a:r>
              <a:rPr sz="1700" b="0">
                <a:solidFill>
                  <a:srgbClr val="222222"/>
                </a:solidFill>
                <a:latin typeface="맑은 고딕"/>
                <a:ea typeface="맑은 고딕"/>
              </a:rPr>
              <a:t>•  DBA_ADVISOR_FINDINGS — 모든 Finding(id·name·type·impact)</a:t>
            </a:r>
          </a:p>
          <a:p>
            <a:r>
              <a:rPr sz="1700" b="0">
                <a:solidFill>
                  <a:srgbClr val="222222"/>
                </a:solidFill>
                <a:latin typeface="맑은 고딕"/>
                <a:ea typeface="맑은 고딕"/>
              </a:rPr>
              <a:t>•  DBA_ADDM_FINDINGS — 그 부분집합, ADDM Finding만</a:t>
            </a:r>
          </a:p>
          <a:p>
            <a:r>
              <a:rPr sz="1700" b="0">
                <a:solidFill>
                  <a:srgbClr val="222222"/>
                </a:solidFill>
                <a:latin typeface="맑은 고딕"/>
                <a:ea typeface="맑은 고딕"/>
              </a:rPr>
              <a:t>•  DBA_ADVISOR_RECOMMENDATIONS — RANK 순 검토, BENEFIT 확인</a:t>
            </a:r>
          </a:p>
          <a:p>
            <a:r>
              <a:rPr sz="1700" b="0">
                <a:solidFill>
                  <a:srgbClr val="222222"/>
                </a:solidFill>
                <a:latin typeface="맑은 고딕"/>
                <a:ea typeface="맑은 고딕"/>
              </a:rPr>
              <a:t>•  DBA_ADVISOR_ACTIONS / _RATIONALE / _TASKS</a:t>
            </a:r>
          </a:p>
        </p:txBody>
      </p:sp>
    </p:spTree>
    <p:extLst>
      <p:ext uri="{BB962C8B-B14F-4D97-AF65-F5344CB8AC3E}">
        <p14:creationId xmlns:p14="http://schemas.microsoft.com/office/powerpoint/2010/main" val="2001323059"/>
      </p:ext>
    </p:extLst>
  </p:cSld>
  <p:clrMapOvr>
    <a:masterClrMapping/>
  </p:clrMapOvr>
</p:sld>
</file>

<file path=ppt/slides/slide9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ea typeface="맑은 고딕"/>
              </a:rPr>
              <a:t>Finding을 영향도 순으로 조회</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ea typeface="맑은 고딕"/>
              </a:rPr>
              <a:t>실측 — 유형(type)과 영향도가 그대로</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tlCol="0" anchor="ctr"/>
          <a:lstStyle/>
          <a:p>
            <a:pPr>
              <a:lnSpc>
                <a:spcPct val="100000"/>
              </a:lnSpc>
            </a:pPr>
            <a:r>
              <a:rPr sz="1250" b="0" dirty="0" err="1">
                <a:solidFill>
                  <a:srgbClr val="F2F2F2"/>
                </a:solidFill>
                <a:latin typeface="Consolas"/>
                <a:ea typeface="Consolas"/>
              </a:rPr>
              <a:t>SYS@orcl</a:t>
            </a:r>
            <a:r>
              <a:rPr sz="1250" b="0" dirty="0">
                <a:solidFill>
                  <a:srgbClr val="F2F2F2"/>
                </a:solidFill>
                <a:latin typeface="Consolas"/>
                <a:ea typeface="Consolas"/>
              </a:rPr>
              <a:t>&gt; SELECT </a:t>
            </a:r>
            <a:r>
              <a:rPr sz="1250" b="0" dirty="0" err="1">
                <a:solidFill>
                  <a:srgbClr val="F2F2F2"/>
                </a:solidFill>
                <a:latin typeface="Consolas"/>
                <a:ea typeface="Consolas"/>
              </a:rPr>
              <a:t>f.finding_name</a:t>
            </a:r>
            <a:r>
              <a:rPr sz="1250" b="0" dirty="0">
                <a:solidFill>
                  <a:srgbClr val="F2F2F2"/>
                </a:solidFill>
                <a:latin typeface="Consolas"/>
                <a:ea typeface="Consolas"/>
              </a:rPr>
              <a:t>, </a:t>
            </a:r>
            <a:r>
              <a:rPr sz="1250" b="0" dirty="0" err="1">
                <a:solidFill>
                  <a:srgbClr val="F2F2F2"/>
                </a:solidFill>
                <a:latin typeface="Consolas"/>
                <a:ea typeface="Consolas"/>
              </a:rPr>
              <a:t>f.type</a:t>
            </a:r>
            <a:r>
              <a:rPr sz="1250" b="0" dirty="0">
                <a:solidFill>
                  <a:srgbClr val="F2F2F2"/>
                </a:solidFill>
                <a:latin typeface="Consolas"/>
                <a:ea typeface="Consolas"/>
              </a:rPr>
              <a:t>,</a:t>
            </a:r>
          </a:p>
          <a:p>
            <a:pPr>
              <a:lnSpc>
                <a:spcPct val="100000"/>
              </a:lnSpc>
            </a:pPr>
            <a:r>
              <a:rPr sz="1250" b="0" dirty="0">
                <a:solidFill>
                  <a:srgbClr val="F2F2F2"/>
                </a:solidFill>
                <a:latin typeface="Consolas"/>
                <a:ea typeface="Consolas"/>
              </a:rPr>
              <a:t>  2         ROUND(</a:t>
            </a:r>
            <a:r>
              <a:rPr sz="1250" b="0" dirty="0" err="1">
                <a:solidFill>
                  <a:srgbClr val="F2F2F2"/>
                </a:solidFill>
                <a:latin typeface="Consolas"/>
                <a:ea typeface="Consolas"/>
              </a:rPr>
              <a:t>f.impact</a:t>
            </a:r>
            <a:r>
              <a:rPr sz="1250" b="0" dirty="0">
                <a:solidFill>
                  <a:srgbClr val="F2F2F2"/>
                </a:solidFill>
                <a:latin typeface="Consolas"/>
                <a:ea typeface="Consolas"/>
              </a:rPr>
              <a:t>/1000000,2) AS </a:t>
            </a:r>
            <a:r>
              <a:rPr sz="1250" b="0" dirty="0" err="1">
                <a:solidFill>
                  <a:srgbClr val="F2F2F2"/>
                </a:solidFill>
                <a:latin typeface="Consolas"/>
                <a:ea typeface="Consolas"/>
              </a:rPr>
              <a:t>impact_sec</a:t>
            </a:r>
            <a:endParaRPr sz="1250" b="0" dirty="0">
              <a:solidFill>
                <a:srgbClr val="F2F2F2"/>
              </a:solidFill>
              <a:latin typeface="Consolas"/>
              <a:ea typeface="Consolas"/>
            </a:endParaRPr>
          </a:p>
          <a:p>
            <a:pPr>
              <a:lnSpc>
                <a:spcPct val="100000"/>
              </a:lnSpc>
            </a:pPr>
            <a:r>
              <a:rPr sz="1250" b="0" dirty="0">
                <a:solidFill>
                  <a:srgbClr val="F2F2F2"/>
                </a:solidFill>
                <a:latin typeface="Consolas"/>
                <a:ea typeface="Consolas"/>
              </a:rPr>
              <a:t>  3       FROM </a:t>
            </a:r>
            <a:r>
              <a:rPr sz="1250" b="0" dirty="0" err="1">
                <a:solidFill>
                  <a:srgbClr val="F2F2F2"/>
                </a:solidFill>
                <a:latin typeface="Consolas"/>
                <a:ea typeface="Consolas"/>
              </a:rPr>
              <a:t>dba_advisor_findings</a:t>
            </a:r>
            <a:r>
              <a:rPr sz="1250" b="0" dirty="0">
                <a:solidFill>
                  <a:srgbClr val="F2F2F2"/>
                </a:solidFill>
                <a:latin typeface="Consolas"/>
                <a:ea typeface="Consolas"/>
              </a:rPr>
              <a:t> f</a:t>
            </a:r>
          </a:p>
          <a:p>
            <a:pPr>
              <a:lnSpc>
                <a:spcPct val="100000"/>
              </a:lnSpc>
            </a:pPr>
            <a:r>
              <a:rPr sz="1250" b="0" dirty="0">
                <a:solidFill>
                  <a:srgbClr val="F2F2F2"/>
                </a:solidFill>
                <a:latin typeface="Consolas"/>
                <a:ea typeface="Consolas"/>
              </a:rPr>
              <a:t>  4       JOIN </a:t>
            </a:r>
            <a:r>
              <a:rPr sz="1250" b="0" dirty="0" err="1">
                <a:solidFill>
                  <a:srgbClr val="F2F2F2"/>
                </a:solidFill>
                <a:latin typeface="Consolas"/>
                <a:ea typeface="Consolas"/>
              </a:rPr>
              <a:t>dba_advisor_tasks</a:t>
            </a:r>
            <a:r>
              <a:rPr sz="1250" b="0" dirty="0">
                <a:solidFill>
                  <a:srgbClr val="F2F2F2"/>
                </a:solidFill>
                <a:latin typeface="Consolas"/>
                <a:ea typeface="Consolas"/>
              </a:rPr>
              <a:t> t USING (</a:t>
            </a:r>
            <a:r>
              <a:rPr sz="1250" b="0" dirty="0" err="1">
                <a:solidFill>
                  <a:srgbClr val="F2F2F2"/>
                </a:solidFill>
                <a:latin typeface="Consolas"/>
                <a:ea typeface="Consolas"/>
              </a:rPr>
              <a:t>task_id</a:t>
            </a:r>
            <a:r>
              <a:rPr sz="1250" b="0" dirty="0">
                <a:solidFill>
                  <a:srgbClr val="F2F2F2"/>
                </a:solidFill>
                <a:latin typeface="Consolas"/>
                <a:ea typeface="Consolas"/>
              </a:rPr>
              <a:t>)</a:t>
            </a:r>
          </a:p>
          <a:p>
            <a:pPr>
              <a:lnSpc>
                <a:spcPct val="100000"/>
              </a:lnSpc>
            </a:pPr>
            <a:r>
              <a:rPr sz="1250" b="0" dirty="0">
                <a:solidFill>
                  <a:srgbClr val="F2F2F2"/>
                </a:solidFill>
                <a:latin typeface="Consolas"/>
                <a:ea typeface="Consolas"/>
              </a:rPr>
              <a:t>  5       WHERE </a:t>
            </a:r>
            <a:r>
              <a:rPr sz="1250" b="0" dirty="0" err="1">
                <a:solidFill>
                  <a:srgbClr val="F2F2F2"/>
                </a:solidFill>
                <a:latin typeface="Consolas"/>
                <a:ea typeface="Consolas"/>
              </a:rPr>
              <a:t>t.task_name</a:t>
            </a:r>
            <a:r>
              <a:rPr sz="1250" b="0" dirty="0">
                <a:solidFill>
                  <a:srgbClr val="F2F2F2"/>
                </a:solidFill>
                <a:latin typeface="Consolas"/>
                <a:ea typeface="Consolas"/>
              </a:rPr>
              <a:t> = 'TUNING_CH9_ADDM_296'</a:t>
            </a:r>
          </a:p>
          <a:p>
            <a:pPr>
              <a:lnSpc>
                <a:spcPct val="100000"/>
              </a:lnSpc>
            </a:pPr>
            <a:r>
              <a:rPr sz="1250" b="0" dirty="0">
                <a:solidFill>
                  <a:srgbClr val="F2F2F2"/>
                </a:solidFill>
                <a:latin typeface="Consolas"/>
                <a:ea typeface="Consolas"/>
              </a:rPr>
              <a:t>  6       ORDER BY </a:t>
            </a:r>
            <a:r>
              <a:rPr sz="1250" b="0" dirty="0" err="1">
                <a:solidFill>
                  <a:srgbClr val="F2F2F2"/>
                </a:solidFill>
                <a:latin typeface="Consolas"/>
                <a:ea typeface="Consolas"/>
              </a:rPr>
              <a:t>f.impact</a:t>
            </a:r>
            <a:r>
              <a:rPr sz="1250" b="0" dirty="0">
                <a:solidFill>
                  <a:srgbClr val="F2F2F2"/>
                </a:solidFill>
                <a:latin typeface="Consolas"/>
                <a:ea typeface="Consolas"/>
              </a:rPr>
              <a:t> DESC;</a:t>
            </a:r>
          </a:p>
          <a:p>
            <a:pPr>
              <a:lnSpc>
                <a:spcPct val="100000"/>
              </a:lnSpc>
            </a:pPr>
            <a:r>
              <a:rPr sz="1250" b="0" dirty="0">
                <a:solidFill>
                  <a:srgbClr val="F2F2F2"/>
                </a:solidFill>
                <a:latin typeface="Consolas"/>
                <a:ea typeface="Consolas"/>
              </a:rPr>
              <a:t> </a:t>
            </a:r>
          </a:p>
          <a:p>
            <a:pPr>
              <a:lnSpc>
                <a:spcPct val="100000"/>
              </a:lnSpc>
            </a:pPr>
            <a:r>
              <a:rPr sz="1250" b="0" dirty="0">
                <a:solidFill>
                  <a:srgbClr val="F2F2F2"/>
                </a:solidFill>
                <a:latin typeface="Consolas"/>
                <a:ea typeface="Consolas"/>
              </a:rPr>
              <a:t>FINDING_NAME                     TYPE        IMPACT_SEC</a:t>
            </a:r>
          </a:p>
          <a:p>
            <a:pPr>
              <a:lnSpc>
                <a:spcPct val="100000"/>
              </a:lnSpc>
            </a:pPr>
            <a:r>
              <a:rPr sz="1250" b="0" dirty="0">
                <a:solidFill>
                  <a:srgbClr val="F2F2F2"/>
                </a:solidFill>
                <a:latin typeface="Consolas"/>
                <a:ea typeface="Consolas"/>
              </a:rPr>
              <a:t>Top SQL Statements               PROBLEM         348.72</a:t>
            </a:r>
          </a:p>
          <a:p>
            <a:pPr>
              <a:lnSpc>
                <a:spcPct val="100000"/>
              </a:lnSpc>
            </a:pPr>
            <a:r>
              <a:rPr sz="1250" b="0" dirty="0">
                <a:solidFill>
                  <a:srgbClr val="F2F2F2"/>
                </a:solidFill>
                <a:latin typeface="Consolas"/>
                <a:ea typeface="Consolas"/>
              </a:rPr>
              <a:t>Hard Parse                       SYMPTOM          35.28</a:t>
            </a:r>
          </a:p>
          <a:p>
            <a:pPr>
              <a:lnSpc>
                <a:spcPct val="100000"/>
              </a:lnSpc>
            </a:pPr>
            <a:r>
              <a:rPr sz="1250" b="0" dirty="0">
                <a:solidFill>
                  <a:srgbClr val="F2F2F2"/>
                </a:solidFill>
                <a:latin typeface="Consolas"/>
                <a:ea typeface="Consolas"/>
              </a:rPr>
              <a:t>Hard Parse Due to Literal Usage  PROBLEM          33.38</a:t>
            </a:r>
          </a:p>
          <a:p>
            <a:pPr>
              <a:lnSpc>
                <a:spcPct val="100000"/>
              </a:lnSpc>
            </a:pPr>
            <a:r>
              <a:rPr sz="1250" b="0" dirty="0">
                <a:solidFill>
                  <a:srgbClr val="F2F2F2"/>
                </a:solidFill>
                <a:latin typeface="Consolas"/>
                <a:ea typeface="Consolas"/>
              </a:rPr>
              <a:t>Commits and Rollbacks            PROBLEM          21.15</a:t>
            </a:r>
          </a:p>
        </p:txBody>
      </p:sp>
    </p:spTree>
    <p:extLst>
      <p:ext uri="{BB962C8B-B14F-4D97-AF65-F5344CB8AC3E}">
        <p14:creationId xmlns:p14="http://schemas.microsoft.com/office/powerpoint/2010/main" val="2851219090"/>
      </p:ext>
    </p:extLst>
  </p:cSld>
  <p:clrMapOvr>
    <a:masterClrMapping/>
  </p:clrMapOvr>
</p:sld>
</file>

<file path=ppt/slides/slide9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ea typeface="맑은 고딕"/>
              </a:rPr>
              <a:t>라이선스 없이 같은 병목 보기</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ea typeface="맑은 고딕"/>
              </a:rPr>
              <a:t>🔒 대안 경로 — V$ 델타·Statspack</a:t>
            </a:r>
          </a:p>
        </p:txBody>
      </p:sp>
      <p:sp>
        <p:nvSpPr>
          <p:cNvPr id="5" name="TextBox 4"/>
          <p:cNvSpPr txBox="1"/>
          <p:nvPr/>
        </p:nvSpPr>
        <p:spPr>
          <a:xfrm>
            <a:off x="640080" y="1737360"/>
            <a:ext cx="10881360" cy="4754880"/>
          </a:xfrm>
          <a:prstGeom prst="rect">
            <a:avLst/>
          </a:prstGeom>
          <a:noFill/>
        </p:spPr>
        <p:txBody>
          <a:bodyPr wrap="square">
            <a:spAutoFit/>
          </a:bodyPr>
          <a:lstStyle/>
          <a:p>
            <a:r>
              <a:rPr sz="1700" b="0">
                <a:solidFill>
                  <a:srgbClr val="222222"/>
                </a:solidFill>
                <a:latin typeface="맑은 고딕"/>
                <a:ea typeface="맑은 고딕"/>
              </a:rPr>
              <a:t>•  ADDM·DBA_ADVISOR_*·DBA_ADDM_* = Diagnostics Pack 필요</a:t>
            </a:r>
          </a:p>
          <a:p>
            <a:r>
              <a:rPr sz="1700" b="0">
                <a:solidFill>
                  <a:srgbClr val="222222"/>
                </a:solidFill>
                <a:latin typeface="맑은 고딕"/>
                <a:ea typeface="맑은 고딕"/>
              </a:rPr>
              <a:t>•  Top SQL → V$SQL을 elapsed/gets/executions로 정렬(무료)</a:t>
            </a:r>
          </a:p>
          <a:p>
            <a:r>
              <a:rPr sz="1700" b="0">
                <a:solidFill>
                  <a:srgbClr val="222222"/>
                </a:solidFill>
                <a:latin typeface="맑은 고딕"/>
                <a:ea typeface="맑은 고딕"/>
              </a:rPr>
              <a:t>•  하드 파싱 → V$SYSSTAT parse count(hard) 델타, V$LIBRARYCACHE</a:t>
            </a:r>
          </a:p>
          <a:p>
            <a:r>
              <a:rPr sz="1700" b="0">
                <a:solidFill>
                  <a:srgbClr val="222222"/>
                </a:solidFill>
                <a:latin typeface="맑은 고딕"/>
                <a:ea typeface="맑은 고딕"/>
              </a:rPr>
              <a:t>•  커밋 → V$SYSSTAT user commits 델타, V$SYSTEM_EVENT log file sync</a:t>
            </a:r>
          </a:p>
        </p:txBody>
      </p:sp>
    </p:spTree>
    <p:extLst>
      <p:ext uri="{BB962C8B-B14F-4D97-AF65-F5344CB8AC3E}">
        <p14:creationId xmlns:p14="http://schemas.microsoft.com/office/powerpoint/2010/main" val="2899118583"/>
      </p:ext>
    </p:extLst>
  </p:cSld>
  <p:clrMapOvr>
    <a:masterClrMapping/>
  </p:clrMapOvr>
</p:sld>
</file>

<file path=ppt/slides/slide9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ea typeface="맑은 고딕"/>
              </a:rPr>
              <a:t>24.7</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ea typeface="맑은 고딕"/>
              </a:rPr>
              <a:t>권고를 그대로 따르면 안 되는 이유</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r>
              <a:rPr sz="1600" b="0">
                <a:solidFill>
                  <a:srgbClr val="FFFFFF"/>
                </a:solidFill>
                <a:latin typeface="맑은 고딕"/>
                <a:ea typeface="맑은 고딕"/>
              </a:rPr>
              <a:t>•  권고는 가설이지 결론이 아니다</a:t>
            </a:r>
          </a:p>
          <a:p>
            <a:r>
              <a:rPr sz="1600" b="0">
                <a:solidFill>
                  <a:srgbClr val="FFFFFF"/>
                </a:solidFill>
                <a:latin typeface="맑은 고딕"/>
                <a:ea typeface="맑은 고딕"/>
              </a:rPr>
              <a:t>•  영향도·근거·부작용 검토</a:t>
            </a:r>
          </a:p>
          <a:p>
            <a:r>
              <a:rPr sz="1600" b="0">
                <a:solidFill>
                  <a:srgbClr val="FFFFFF"/>
                </a:solidFill>
                <a:latin typeface="맑은 고딕"/>
                <a:ea typeface="맑은 고딕"/>
              </a:rPr>
              <a:t>•  권고 맹신 경계</a:t>
            </a:r>
          </a:p>
        </p:txBody>
      </p:sp>
    </p:spTree>
    <p:extLst>
      <p:ext uri="{BB962C8B-B14F-4D97-AF65-F5344CB8AC3E}">
        <p14:creationId xmlns:p14="http://schemas.microsoft.com/office/powerpoint/2010/main" val="1942419986"/>
      </p:ext>
    </p:extLst>
  </p:cSld>
  <p:clrMapOvr>
    <a:masterClrMapping/>
  </p:clrMapOvr>
</p:sld>
</file>

<file path=ppt/slides/slide9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ea typeface="맑은 고딕"/>
              </a:rPr>
              <a:t>영향도 낮은 권고에 시간 쓰지 않기</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ea typeface="맑은 고딕"/>
              </a:rPr>
              <a:t>"쉬운 것"이 아니라 "영향 큰 것"부터</a:t>
            </a:r>
          </a:p>
        </p:txBody>
      </p:sp>
      <p:sp>
        <p:nvSpPr>
          <p:cNvPr id="5" name="TextBox 4"/>
          <p:cNvSpPr txBox="1"/>
          <p:nvPr/>
        </p:nvSpPr>
        <p:spPr>
          <a:xfrm>
            <a:off x="640080" y="1737360"/>
            <a:ext cx="10881360" cy="4754880"/>
          </a:xfrm>
          <a:prstGeom prst="rect">
            <a:avLst/>
          </a:prstGeom>
          <a:noFill/>
        </p:spPr>
        <p:txBody>
          <a:bodyPr wrap="square">
            <a:spAutoFit/>
          </a:bodyPr>
          <a:lstStyle/>
          <a:p>
            <a:r>
              <a:rPr sz="1700" b="0">
                <a:solidFill>
                  <a:srgbClr val="222222"/>
                </a:solidFill>
                <a:latin typeface="맑은 고딕"/>
                <a:ea typeface="맑은 고딕"/>
              </a:rPr>
              <a:t>•  Soft Parse(2.38%)·Commits(3.69%)는 손대기 쉬워 보임</a:t>
            </a:r>
          </a:p>
          <a:p>
            <a:r>
              <a:rPr sz="1700" b="0">
                <a:solidFill>
                  <a:srgbClr val="222222"/>
                </a:solidFill>
                <a:latin typeface="맑은 고딕"/>
                <a:ea typeface="맑은 고딕"/>
              </a:rPr>
              <a:t>•  Top SQL 60.78%인데 3%짜리 없애도 최대 개선 3% (Amdahl)</a:t>
            </a:r>
          </a:p>
          <a:p>
            <a:r>
              <a:rPr sz="1700" b="0">
                <a:solidFill>
                  <a:srgbClr val="222222"/>
                </a:solidFill>
                <a:latin typeface="맑은 고딕"/>
                <a:ea typeface="맑은 고딕"/>
              </a:rPr>
              <a:t>•  60%짜리를 절반 줄이면 30% 개선 — 어디 쓸지 명백</a:t>
            </a:r>
          </a:p>
          <a:p>
            <a:r>
              <a:rPr sz="1700" b="0">
                <a:solidFill>
                  <a:srgbClr val="222222"/>
                </a:solidFill>
                <a:latin typeface="맑은 고딕"/>
                <a:ea typeface="맑은 고딕"/>
              </a:rPr>
              <a:t>•  ADDM이 영향도 순 정렬 = 이 순서를 지키라는 신호</a:t>
            </a:r>
          </a:p>
        </p:txBody>
      </p:sp>
    </p:spTree>
    <p:extLst>
      <p:ext uri="{BB962C8B-B14F-4D97-AF65-F5344CB8AC3E}">
        <p14:creationId xmlns:p14="http://schemas.microsoft.com/office/powerpoint/2010/main" val="759184583"/>
      </p:ext>
    </p:extLst>
  </p:cSld>
  <p:clrMapOvr>
    <a:masterClrMapping/>
  </p:clrMapOvr>
</p:sld>
</file>

<file path=ppt/slides/slide9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ea typeface="맑은 고딕"/>
              </a:rPr>
              <a:t>근거(Rationale) 없이 채택하지 않기</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ea typeface="맑은 고딕"/>
              </a:rPr>
              <a:t>Action만 읽고 Rationale 건너뛰지 말 것</a:t>
            </a:r>
          </a:p>
        </p:txBody>
      </p:sp>
      <p:sp>
        <p:nvSpPr>
          <p:cNvPr id="5" name="TextBox 4"/>
          <p:cNvSpPr txBox="1"/>
          <p:nvPr/>
        </p:nvSpPr>
        <p:spPr>
          <a:xfrm>
            <a:off x="640080" y="1737360"/>
            <a:ext cx="10881360" cy="4754880"/>
          </a:xfrm>
          <a:prstGeom prst="rect">
            <a:avLst/>
          </a:prstGeom>
          <a:noFill/>
        </p:spPr>
        <p:txBody>
          <a:bodyPr wrap="square">
            <a:spAutoFit/>
          </a:bodyPr>
          <a:lstStyle/>
          <a:p>
            <a:r>
              <a:rPr sz="1700" b="0">
                <a:solidFill>
                  <a:srgbClr val="222222"/>
                </a:solidFill>
                <a:latin typeface="맑은 고딕"/>
                <a:ea typeface="맑은 고딕"/>
              </a:rPr>
              <a:t>•  Rationale = "이 권고가 내 상황에 맞는가"의 판단 재료</a:t>
            </a:r>
          </a:p>
          <a:p>
            <a:r>
              <a:rPr sz="1700" b="0">
                <a:solidFill>
                  <a:srgbClr val="222222"/>
                </a:solidFill>
                <a:latin typeface="맑은 고딕"/>
                <a:ea typeface="맑은 고딕"/>
              </a:rPr>
              <a:t>•  실측: "5,912회 실행" 근거 → 튜닝 방향(횟수 vs 단가) 결정</a:t>
            </a:r>
          </a:p>
          <a:p>
            <a:r>
              <a:rPr sz="1700" b="0">
                <a:solidFill>
                  <a:srgbClr val="222222"/>
                </a:solidFill>
                <a:latin typeface="맑은 고딕"/>
                <a:ea typeface="맑은 고딕"/>
              </a:rPr>
              <a:t>•  "인덱스 추가" 권고 → 그 SQL이 중요 업무인가, DML 느려지나</a:t>
            </a:r>
          </a:p>
          <a:p>
            <a:r>
              <a:rPr sz="1700" b="0">
                <a:solidFill>
                  <a:srgbClr val="222222"/>
                </a:solidFill>
                <a:latin typeface="맑은 고딕"/>
                <a:ea typeface="맑은 고딕"/>
              </a:rPr>
              <a:t>•  근거 없는 채택 = "근거 없는 조치" 함정과 만남</a:t>
            </a:r>
          </a:p>
        </p:txBody>
      </p:sp>
    </p:spTree>
    <p:extLst>
      <p:ext uri="{BB962C8B-B14F-4D97-AF65-F5344CB8AC3E}">
        <p14:creationId xmlns:p14="http://schemas.microsoft.com/office/powerpoint/2010/main" val="155954216"/>
      </p:ext>
    </p:extLst>
  </p:cSld>
  <p:clrMapOvr>
    <a:masterClrMapping/>
  </p:clrMapOvr>
</p:sld>
</file>

<file path=ppt/slides/slide9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ea typeface="맑은 고딕"/>
              </a:rPr>
              <a:t>권고의 부작용 — CURSOR_SHARING=FORCE</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ea typeface="맑은 고딕"/>
              </a:rPr>
              <a:t>"쉬운 권고"일수록 부작용 검토</a:t>
            </a:r>
          </a:p>
        </p:txBody>
      </p:sp>
      <p:sp>
        <p:nvSpPr>
          <p:cNvPr id="5" name="TextBox 4"/>
          <p:cNvSpPr txBox="1"/>
          <p:nvPr/>
        </p:nvSpPr>
        <p:spPr>
          <a:xfrm>
            <a:off x="640080" y="1737360"/>
            <a:ext cx="10881360" cy="4754880"/>
          </a:xfrm>
          <a:prstGeom prst="rect">
            <a:avLst/>
          </a:prstGeom>
          <a:noFill/>
        </p:spPr>
        <p:txBody>
          <a:bodyPr wrap="square">
            <a:spAutoFit/>
          </a:bodyPr>
          <a:lstStyle/>
          <a:p>
            <a:r>
              <a:rPr sz="1700" b="0">
                <a:solidFill>
                  <a:srgbClr val="222222"/>
                </a:solidFill>
                <a:latin typeface="맑은 고딕"/>
                <a:ea typeface="맑은 고딕"/>
              </a:rPr>
              <a:t>•  바인드 변수가 최선이나 앱 수정이 어려움</a:t>
            </a:r>
          </a:p>
          <a:p>
            <a:r>
              <a:rPr sz="1700" b="0">
                <a:solidFill>
                  <a:srgbClr val="222222"/>
                </a:solidFill>
                <a:latin typeface="맑은 고딕"/>
                <a:ea typeface="맑은 고딕"/>
              </a:rPr>
              <a:t>•  CURSOR_SHARING=FORCE는 구현 쉽고 상당한 개선</a:t>
            </a:r>
          </a:p>
          <a:p>
            <a:r>
              <a:rPr sz="1700" b="0">
                <a:solidFill>
                  <a:srgbClr val="222222"/>
                </a:solidFill>
                <a:latin typeface="맑은 고딕"/>
                <a:ea typeface="맑은 고딕"/>
              </a:rPr>
              <a:t>•  그러나 히스토그램 기반 카디널리티 추정 흐트러짐</a:t>
            </a:r>
          </a:p>
          <a:p>
            <a:r>
              <a:rPr sz="1700" b="0">
                <a:solidFill>
                  <a:srgbClr val="222222"/>
                </a:solidFill>
                <a:latin typeface="맑은 고딕"/>
                <a:ea typeface="맑은 고딕"/>
              </a:rPr>
              <a:t>•  일부 SQL 실행계획 악화 가능 — 트레이드오프는 사람이 판단</a:t>
            </a:r>
          </a:p>
        </p:txBody>
      </p:sp>
    </p:spTree>
    <p:extLst>
      <p:ext uri="{BB962C8B-B14F-4D97-AF65-F5344CB8AC3E}">
        <p14:creationId xmlns:p14="http://schemas.microsoft.com/office/powerpoint/2010/main" val="2284821551"/>
      </p:ext>
    </p:extLst>
  </p:cSld>
  <p:clrMapOvr>
    <a:masterClrMapping/>
  </p:clrMapOvr>
</p:sld>
</file>

<file path=ppt/slides/slide9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ea typeface="맑은 고딕"/>
              </a:rPr>
              <a:t>채택 판단 체크리스트</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ea typeface="맑은 고딕"/>
              </a:rPr>
              <a:t>권고 맹신을 절차로 막는다</a:t>
            </a:r>
          </a:p>
        </p:txBody>
      </p:sp>
      <p:sp>
        <p:nvSpPr>
          <p:cNvPr id="5" name="TextBox 4"/>
          <p:cNvSpPr txBox="1"/>
          <p:nvPr/>
        </p:nvSpPr>
        <p:spPr>
          <a:xfrm>
            <a:off x="640080" y="1737360"/>
            <a:ext cx="10881360" cy="4754880"/>
          </a:xfrm>
          <a:prstGeom prst="rect">
            <a:avLst/>
          </a:prstGeom>
          <a:noFill/>
        </p:spPr>
        <p:txBody>
          <a:bodyPr wrap="square">
            <a:spAutoFit/>
          </a:bodyPr>
          <a:lstStyle/>
          <a:p>
            <a:r>
              <a:rPr sz="1700" b="0">
                <a:solidFill>
                  <a:srgbClr val="222222"/>
                </a:solidFill>
                <a:latin typeface="맑은 고딕"/>
                <a:ea typeface="맑은 고딕"/>
              </a:rPr>
              <a:t>•  ① 상위 영향도 Finding인가? 아니면 상위부터</a:t>
            </a:r>
          </a:p>
          <a:p>
            <a:r>
              <a:rPr sz="1700" b="0">
                <a:solidFill>
                  <a:srgbClr val="222222"/>
                </a:solidFill>
                <a:latin typeface="맑은 고딕"/>
                <a:ea typeface="맑은 고딕"/>
              </a:rPr>
              <a:t>•  ② Rationale을 읽었는가? 내 맥락에 맞는가?</a:t>
            </a:r>
          </a:p>
          <a:p>
            <a:r>
              <a:rPr sz="1700" b="0">
                <a:solidFill>
                  <a:srgbClr val="222222"/>
                </a:solidFill>
                <a:latin typeface="맑은 고딕"/>
                <a:ea typeface="맑은 고딕"/>
              </a:rPr>
              <a:t>•  ③ 부작용(다른 SQL·DML·자원)은 무엇인가?</a:t>
            </a:r>
          </a:p>
          <a:p>
            <a:r>
              <a:rPr sz="1700" b="0">
                <a:solidFill>
                  <a:srgbClr val="222222"/>
                </a:solidFill>
                <a:latin typeface="맑은 고딕"/>
                <a:ea typeface="맑은 고딕"/>
              </a:rPr>
              <a:t>•  ④ 조치 전 캡처했는가? ⑤ 적용 후 재분석으로 영향도 감소 확인?</a:t>
            </a:r>
          </a:p>
        </p:txBody>
      </p:sp>
    </p:spTree>
    <p:extLst>
      <p:ext uri="{BB962C8B-B14F-4D97-AF65-F5344CB8AC3E}">
        <p14:creationId xmlns:p14="http://schemas.microsoft.com/office/powerpoint/2010/main" val="1020853448"/>
      </p:ext>
    </p:extLst>
  </p:cSld>
  <p:clrMapOvr>
    <a:masterClrMapping/>
  </p:clrMapOvr>
</p:sld>
</file>

<file path=ppt/slides/slide9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ea typeface="맑은 고딕"/>
              </a:rPr>
              <a:t>퀴즈 (Quiz)</a:t>
            </a:r>
          </a:p>
        </p:txBody>
      </p:sp>
      <p:sp>
        <p:nvSpPr>
          <p:cNvPr id="4" name="TextBox 3"/>
          <p:cNvSpPr txBox="1"/>
          <p:nvPr/>
        </p:nvSpPr>
        <p:spPr>
          <a:xfrm>
            <a:off x="640080" y="1371600"/>
            <a:ext cx="10881360" cy="5120640"/>
          </a:xfrm>
          <a:prstGeom prst="rect">
            <a:avLst/>
          </a:prstGeom>
          <a:noFill/>
        </p:spPr>
        <p:txBody>
          <a:bodyPr wrap="square">
            <a:spAutoFit/>
          </a:bodyPr>
          <a:lstStyle/>
          <a:p>
            <a:r>
              <a:rPr sz="1600" b="0">
                <a:solidFill>
                  <a:srgbClr val="222222"/>
                </a:solidFill>
                <a:latin typeface="맑은 고딕"/>
                <a:ea typeface="맑은 고딕"/>
              </a:rPr>
              <a:t>•  Q1. ADDM Finding의 네 유형을 쓰고, 조치를 어느 유형에 하는지 설명하라.</a:t>
            </a:r>
          </a:p>
          <a:p>
            <a:r>
              <a:rPr sz="1600" b="0">
                <a:solidFill>
                  <a:srgbClr val="222222"/>
                </a:solidFill>
                <a:latin typeface="맑은 고딕"/>
                <a:ea typeface="맑은 고딕"/>
              </a:rPr>
              <a:t>•  Q2. 영향도와 이득은 각각 무엇을 재는가? 이득이 전체 DB Time 기준인 이유는?</a:t>
            </a:r>
          </a:p>
          <a:p>
            <a:r>
              <a:rPr sz="1600" b="0">
                <a:solidFill>
                  <a:srgbClr val="222222"/>
                </a:solidFill>
                <a:latin typeface="맑은 고딕"/>
                <a:ea typeface="맑은 고딕"/>
              </a:rPr>
              <a:t>•  Q3. 여러 Finding의 영향도 합이 100%를 넘을 수 있는 이유를 예로 설명하라.</a:t>
            </a:r>
          </a:p>
          <a:p>
            <a:r>
              <a:rPr sz="1600" b="0">
                <a:solidFill>
                  <a:srgbClr val="222222"/>
                </a:solidFill>
                <a:latin typeface="맑은 고딕"/>
                <a:ea typeface="맑은 고딕"/>
              </a:rPr>
              <a:t>•  Q4. 실측 보고서에서 시간을 먼저 써야 할 Finding과 그 근거는?</a:t>
            </a:r>
          </a:p>
          <a:p>
            <a:r>
              <a:rPr sz="1600" b="0">
                <a:solidFill>
                  <a:srgbClr val="222222"/>
                </a:solidFill>
                <a:latin typeface="맑은 고딕"/>
                <a:ea typeface="맑은 고딕"/>
              </a:rPr>
              <a:t>•  Q5. Hard Parse(SYMPTOM)와 Literal Usage(PROBLEM) 중 조치 대상은?</a:t>
            </a:r>
          </a:p>
          <a:p>
            <a:r>
              <a:rPr sz="1600" b="0">
                <a:solidFill>
                  <a:srgbClr val="222222"/>
                </a:solidFill>
                <a:latin typeface="맑은 고딕"/>
                <a:ea typeface="맑은 고딕"/>
              </a:rPr>
              <a:t>•  Q6. CURSOR_SHARING=FORCE를 적용하기 전 검토할 부작용은?</a:t>
            </a:r>
          </a:p>
        </p:txBody>
      </p:sp>
    </p:spTree>
    <p:extLst>
      <p:ext uri="{BB962C8B-B14F-4D97-AF65-F5344CB8AC3E}">
        <p14:creationId xmlns:p14="http://schemas.microsoft.com/office/powerpoint/2010/main" val="1664173934"/>
      </p:ext>
    </p:extLst>
  </p:cSld>
  <p:clrMapOvr>
    <a:masterClrMapping/>
  </p:clrMapOvr>
</p:sld>
</file>

<file path=ppt/slides/slide9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ea typeface="맑은 고딕"/>
              </a:rPr>
              <a:t>요약 (Summary)</a:t>
            </a:r>
          </a:p>
        </p:txBody>
      </p:sp>
      <p:sp>
        <p:nvSpPr>
          <p:cNvPr id="4" name="TextBox 3"/>
          <p:cNvSpPr txBox="1"/>
          <p:nvPr/>
        </p:nvSpPr>
        <p:spPr>
          <a:xfrm>
            <a:off x="640080" y="1371600"/>
            <a:ext cx="10881360" cy="5120640"/>
          </a:xfrm>
          <a:prstGeom prst="rect">
            <a:avLst/>
          </a:prstGeom>
          <a:noFill/>
        </p:spPr>
        <p:txBody>
          <a:bodyPr wrap="square">
            <a:spAutoFit/>
          </a:bodyPr>
          <a:lstStyle/>
          <a:p>
            <a:r>
              <a:rPr sz="1600" b="0">
                <a:solidFill>
                  <a:srgbClr val="222222"/>
                </a:solidFill>
                <a:latin typeface="맑은 고딕"/>
                <a:ea typeface="맑은 고딕"/>
              </a:rPr>
              <a:t>•  ADDM = AWR 두 스냅샷 위 top-down DB Time 분해 자동 진단자, 진단의 출발점</a:t>
            </a:r>
          </a:p>
          <a:p>
            <a:r>
              <a:rPr sz="1600" b="0">
                <a:solidFill>
                  <a:srgbClr val="222222"/>
                </a:solidFill>
                <a:latin typeface="맑은 고딕"/>
                <a:ea typeface="맑은 고딕"/>
              </a:rPr>
              <a:t>•  Finding(Problem·Symptom·Information·Warning)·Recommendation·Rationale 3층</a:t>
            </a:r>
          </a:p>
          <a:p>
            <a:r>
              <a:rPr sz="1600" b="0">
                <a:solidFill>
                  <a:srgbClr val="222222"/>
                </a:solidFill>
                <a:latin typeface="맑은 고딕"/>
                <a:ea typeface="맑은 고딕"/>
              </a:rPr>
              <a:t>•  조치는 Problem에, 영향도 순 정렬이 곧 우선순위</a:t>
            </a:r>
          </a:p>
          <a:p>
            <a:r>
              <a:rPr sz="1600" b="0">
                <a:solidFill>
                  <a:srgbClr val="222222"/>
                </a:solidFill>
                <a:latin typeface="맑은 고딕"/>
                <a:ea typeface="맑은 고딕"/>
              </a:rPr>
              <a:t>•  실측: Top SQL 60.78% · Literal 5.82% · Commits 3.69% = ch22·ch25 같은 부하</a:t>
            </a:r>
          </a:p>
          <a:p>
            <a:r>
              <a:rPr sz="1600" b="0">
                <a:solidFill>
                  <a:srgbClr val="222222"/>
                </a:solidFill>
                <a:latin typeface="맑은 고딕"/>
                <a:ea typeface="맑은 고딕"/>
              </a:rPr>
              <a:t>•  DBMS_ADDM.ANALYZE_DB / DBA_ADVISOR_* — 🔒 없으면 V$ 델타·Statspack</a:t>
            </a:r>
          </a:p>
          <a:p>
            <a:r>
              <a:rPr sz="1600" b="0">
                <a:solidFill>
                  <a:srgbClr val="222222"/>
                </a:solidFill>
                <a:latin typeface="맑은 고딕"/>
                <a:ea typeface="맑은 고딕"/>
              </a:rPr>
              <a:t>•  권고는 가설 — 영향도·근거·부작용 검토 없는 채택은 자동화의 함정</a:t>
            </a:r>
          </a:p>
        </p:txBody>
      </p:sp>
    </p:spTree>
    <p:extLst>
      <p:ext uri="{BB962C8B-B14F-4D97-AF65-F5344CB8AC3E}">
        <p14:creationId xmlns:p14="http://schemas.microsoft.com/office/powerpoint/2010/main" val="7619430"/>
      </p:ext>
    </p:extLst>
  </p:cSld>
  <p:clrMapOvr>
    <a:masterClrMapping/>
  </p:clrMapOvr>
</p:sld>
</file>

<file path=ppt/slides/slide9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ea typeface="맑은 고딕"/>
              </a:rPr>
              <a:t>실습 개요 (Practice Overview)</a:t>
            </a:r>
          </a:p>
        </p:txBody>
      </p:sp>
      <p:sp>
        <p:nvSpPr>
          <p:cNvPr id="4" name="TextBox 3"/>
          <p:cNvSpPr txBox="1"/>
          <p:nvPr/>
        </p:nvSpPr>
        <p:spPr>
          <a:xfrm>
            <a:off x="640080" y="1371600"/>
            <a:ext cx="10881360" cy="5120640"/>
          </a:xfrm>
          <a:prstGeom prst="rect">
            <a:avLst/>
          </a:prstGeom>
          <a:noFill/>
        </p:spPr>
        <p:txBody>
          <a:bodyPr wrap="square">
            <a:spAutoFit/>
          </a:bodyPr>
          <a:lstStyle/>
          <a:p>
            <a:r>
              <a:rPr sz="1600" b="0">
                <a:solidFill>
                  <a:srgbClr val="222222"/>
                </a:solidFill>
                <a:latin typeface="맑은 고딕"/>
                <a:ea typeface="맑은 고딕"/>
              </a:rPr>
              <a:t>•  실습 01 — ADDM 태스크 실행과 보고서 생성(addmrpt.sql / DBMS_ADDM.ANALYZE_DB)  🔒</a:t>
            </a:r>
          </a:p>
          <a:p>
            <a:r>
              <a:rPr sz="1600" b="0">
                <a:solidFill>
                  <a:srgbClr val="222222"/>
                </a:solidFill>
                <a:latin typeface="맑은 고딕"/>
                <a:ea typeface="맑은 고딕"/>
              </a:rPr>
              <a:t>•  실습 02 — Finding·Recommendation·Rationale 구조와 영향도 해석  🔒</a:t>
            </a:r>
          </a:p>
          <a:p>
            <a:r>
              <a:rPr sz="1600" b="0">
                <a:solidFill>
                  <a:srgbClr val="222222"/>
                </a:solidFill>
                <a:latin typeface="맑은 고딕"/>
                <a:ea typeface="맑은 고딕"/>
              </a:rPr>
              <a:t>•  실습 03 — ADDM 분석 모드 확인(Database/Instance, 단일 인스턴스 동작)  🔒</a:t>
            </a:r>
          </a:p>
          <a:p>
            <a:r>
              <a:rPr sz="1600" b="0">
                <a:solidFill>
                  <a:srgbClr val="222222"/>
                </a:solidFill>
                <a:latin typeface="맑은 고딕"/>
                <a:ea typeface="맑은 고딕"/>
              </a:rPr>
              <a:t>•  실습 04 — ADDM 뷰 직접 조회(DBA_ADDM_FINDINGS, DBA_ADVISOR_*)와 대안  🔒</a:t>
            </a:r>
          </a:p>
          <a:p>
            <a:r>
              <a:rPr sz="1600" b="0">
                <a:solidFill>
                  <a:srgbClr val="222222"/>
                </a:solidFill>
                <a:latin typeface="맑은 고딕"/>
                <a:ea typeface="맑은 고딕"/>
              </a:rPr>
              <a:t>•  실습 05 — 권고를 그대로 따르면 안 되는 사례 판별  🔒</a:t>
            </a:r>
          </a:p>
          <a:p>
            <a:r>
              <a:rPr sz="1600" b="0">
                <a:solidFill>
                  <a:srgbClr val="222222"/>
                </a:solidFill>
                <a:latin typeface="맑은 고딕"/>
                <a:ea typeface="맑은 고딕"/>
              </a:rPr>
              <a:t>•  ※ 전 실습 Diagnostics Pack 필요 — 라이선스 표기와 V$ 대안 경로 병기</a:t>
            </a:r>
          </a:p>
        </p:txBody>
      </p:sp>
    </p:spTree>
    <p:extLst>
      <p:ext uri="{BB962C8B-B14F-4D97-AF65-F5344CB8AC3E}">
        <p14:creationId xmlns:p14="http://schemas.microsoft.com/office/powerpoint/2010/main" val="1781490265"/>
      </p:ext>
    </p:extLst>
  </p:cSld>
  <p:clrMapOvr>
    <a:masterClrMapping/>
  </p:clrMapOvr>
</p:sld>
</file>

<file path=ppt/slides/slide9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457200"/>
            <a:ext cx="10698480" cy="548640"/>
          </a:xfrm>
          <a:prstGeom prst="rect">
            <a:avLst/>
          </a:prstGeom>
          <a:noFill/>
        </p:spPr>
        <p:txBody>
          <a:bodyPr wrap="square" anchor="t">
            <a:spAutoFit/>
          </a:bodyPr>
          <a:lstStyle/>
          <a:p>
            <a:pPr algn="l"/>
            <a:r>
              <a:rPr sz="1600" b="1">
                <a:solidFill>
                  <a:srgbClr val="FFFFFF"/>
                </a:solidFill>
                <a:latin typeface="맑은 고딕"/>
              </a:rPr>
              <a:t>Oracle Database 19c 성능 튜닝 실무 과정</a:t>
            </a:r>
          </a:p>
        </p:txBody>
      </p:sp>
      <p:sp>
        <p:nvSpPr>
          <p:cNvPr id="6" name="TextBox 5"/>
          <p:cNvSpPr txBox="1"/>
          <p:nvPr/>
        </p:nvSpPr>
        <p:spPr>
          <a:xfrm>
            <a:off x="731520" y="2377440"/>
            <a:ext cx="10698480" cy="1554480"/>
          </a:xfrm>
          <a:prstGeom prst="rect">
            <a:avLst/>
          </a:prstGeom>
          <a:noFill/>
        </p:spPr>
        <p:txBody>
          <a:bodyPr wrap="square" anchor="t">
            <a:spAutoFit/>
          </a:bodyPr>
          <a:lstStyle/>
          <a:p>
            <a:pPr algn="l">
              <a:spcAft>
                <a:spcPts val="600"/>
              </a:spcAft>
            </a:pPr>
            <a:r>
              <a:rPr sz="3400" b="1">
                <a:solidFill>
                  <a:srgbClr val="C0392B"/>
                </a:solidFill>
                <a:latin typeface="맑은 고딕"/>
              </a:rPr>
              <a:t>ASH — 샘플링 데이터로 특정 시점 추적</a:t>
            </a:r>
          </a:p>
          <a:p>
            <a:pPr algn="l">
              <a:spcAft>
                <a:spcPts val="600"/>
              </a:spcAft>
            </a:pPr>
            <a:r>
              <a:rPr sz="2000" b="0">
                <a:solidFill>
                  <a:srgbClr val="5A6672"/>
                </a:solidFill>
                <a:latin typeface="맑은 고딕"/>
              </a:rPr>
              <a:t>Analyzing Sampled Data — 짧은 스파이크를 잡는 법</a:t>
            </a:r>
          </a:p>
        </p:txBody>
      </p:sp>
      <p:sp>
        <p:nvSpPr>
          <p:cNvPr id="7" name="TextBox 6"/>
          <p:cNvSpPr txBox="1"/>
          <p:nvPr/>
        </p:nvSpPr>
        <p:spPr>
          <a:xfrm>
            <a:off x="731520" y="4114800"/>
            <a:ext cx="10698480" cy="1097280"/>
          </a:xfrm>
          <a:prstGeom prst="rect">
            <a:avLst/>
          </a:prstGeom>
          <a:noFill/>
        </p:spPr>
        <p:txBody>
          <a:bodyPr wrap="square" anchor="t">
            <a:spAutoFit/>
          </a:bodyPr>
          <a:lstStyle/>
          <a:p>
            <a:pPr algn="l"/>
            <a:r>
              <a:rPr sz="1500" b="0">
                <a:solidFill>
                  <a:srgbClr val="5A6672"/>
                </a:solidFill>
                <a:latin typeface="맑은 고딕"/>
              </a:rPr>
              <a:t>샘플링 원리 · V$ACTIVE_SESSION_HISTORY · ashrpt.sql · 세션 재구성 · DBA_HIST · AWR·ADDM·ASH 대조</a:t>
            </a:r>
          </a:p>
        </p:txBody>
      </p:sp>
      <p:sp>
        <p:nvSpPr>
          <p:cNvPr id="8" name="TextBox 7"/>
          <p:cNvSpPr txBox="1"/>
          <p:nvPr/>
        </p:nvSpPr>
        <p:spPr>
          <a:xfrm>
            <a:off x="731520" y="5577840"/>
            <a:ext cx="10698480" cy="914400"/>
          </a:xfrm>
          <a:prstGeom prst="rect">
            <a:avLst/>
          </a:prstGeom>
          <a:noFill/>
        </p:spPr>
        <p:txBody>
          <a:bodyPr wrap="square" anchor="t">
            <a:spAutoFit/>
          </a:bodyPr>
          <a:lstStyle/>
          <a:p>
            <a:pPr algn="l"/>
            <a:r>
              <a:rPr sz="2000" b="1">
                <a:solidFill>
                  <a:srgbClr val="C0392B"/>
                </a:solidFill>
                <a:latin typeface="맑은 고딕"/>
              </a:rPr>
              <a:t>ch25</a:t>
            </a:r>
          </a:p>
        </p:txBody>
      </p:sp>
    </p:spTree>
    <p:extLst>
      <p:ext uri="{BB962C8B-B14F-4D97-AF65-F5344CB8AC3E}">
        <p14:creationId xmlns:p14="http://schemas.microsoft.com/office/powerpoint/2010/main" val="1272390763"/>
      </p:ext>
    </p:extLst>
  </p:cSld>
  <p:clrMapOvr>
    <a:masterClrMapping/>
  </p:clrMapOvr>
</p:sld>
</file>

<file path=ppt/slides/slide9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학습 목표 (Objectives)</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600"/>
              </a:spcAft>
            </a:pPr>
            <a:r>
              <a:rPr sz="1600" b="0">
                <a:solidFill>
                  <a:srgbClr val="222222"/>
                </a:solidFill>
                <a:latin typeface="맑은 고딕"/>
              </a:rPr>
              <a:t>•  ASH가 활성 세션을 1초 주기로 샘플링해 순환 버퍼에 저장하는 원리를 설명한다.</a:t>
            </a:r>
          </a:p>
          <a:p>
            <a:pPr algn="l">
              <a:spcAft>
                <a:spcPts val="600"/>
              </a:spcAft>
            </a:pPr>
            <a:r>
              <a:rPr sz="1600" b="0">
                <a:solidFill>
                  <a:srgbClr val="222222"/>
                </a:solidFill>
                <a:latin typeface="맑은 고딕"/>
              </a:rPr>
              <a:t>•  V$ACTIVE_SESSION_HISTORY 컬럼으로 상위 대기·SQL·세션을 직접 도출한다.</a:t>
            </a:r>
          </a:p>
          <a:p>
            <a:pPr algn="l">
              <a:spcAft>
                <a:spcPts val="600"/>
              </a:spcAft>
            </a:pPr>
            <a:r>
              <a:rPr sz="1600" b="0">
                <a:solidFill>
                  <a:srgbClr val="222222"/>
                </a:solidFill>
                <a:latin typeface="맑은 고딕"/>
              </a:rPr>
              <a:t>•  샘플 수(samples)가 실행 횟수가 아니라 소비 시간의 근사임을 이해한다.</a:t>
            </a:r>
          </a:p>
          <a:p>
            <a:pPr algn="l">
              <a:spcAft>
                <a:spcPts val="600"/>
              </a:spcAft>
            </a:pPr>
            <a:r>
              <a:rPr sz="1600" b="0">
                <a:solidFill>
                  <a:srgbClr val="222222"/>
                </a:solidFill>
                <a:latin typeface="맑은 고딕"/>
              </a:rPr>
              <a:t>•  ashrpt.sql로 보고서를 생성하고 begin_time·duration으로 구간을 지정한다.</a:t>
            </a:r>
          </a:p>
          <a:p>
            <a:pPr algn="l">
              <a:spcAft>
                <a:spcPts val="600"/>
              </a:spcAft>
            </a:pPr>
            <a:r>
              <a:rPr sz="1600" b="0">
                <a:solidFill>
                  <a:srgbClr val="222222"/>
                </a:solidFill>
                <a:latin typeface="맑은 고딕"/>
              </a:rPr>
              <a:t>•  한 세션이 무엇을 기다렸는지 SAMPLE_TIME 순으로 재구성한다.</a:t>
            </a:r>
          </a:p>
          <a:p>
            <a:pPr algn="l">
              <a:spcAft>
                <a:spcPts val="600"/>
              </a:spcAft>
            </a:pPr>
            <a:r>
              <a:rPr sz="1600" b="0">
                <a:solidFill>
                  <a:srgbClr val="222222"/>
                </a:solidFill>
                <a:latin typeface="맑은 고딕"/>
              </a:rPr>
              <a:t>•  메모리 ASH(V$)와 디스크 ASH(DBA_HIST_)의 해상도·보존 차이를 안다.</a:t>
            </a:r>
          </a:p>
          <a:p>
            <a:pPr algn="l">
              <a:spcAft>
                <a:spcPts val="600"/>
              </a:spcAft>
            </a:pPr>
            <a:r>
              <a:rPr sz="1600" b="0">
                <a:solidFill>
                  <a:srgbClr val="222222"/>
                </a:solidFill>
                <a:latin typeface="맑은 고딕"/>
              </a:rPr>
              <a:t>•  AWR·ADDM이 놓치는 짧은 스파이크를 ASH로 잡는 논리를 설명한다.</a:t>
            </a:r>
          </a:p>
          <a:p>
            <a:pPr algn="l">
              <a:spcAft>
                <a:spcPts val="600"/>
              </a:spcAft>
            </a:pPr>
            <a:r>
              <a:rPr sz="1600" b="0">
                <a:solidFill>
                  <a:srgbClr val="222222"/>
                </a:solidFill>
                <a:latin typeface="맑은 고딕"/>
              </a:rPr>
              <a:t>•  Diagnostics Pack 경계와 V$SESSION 폴링 대안 경로를 안다.</a:t>
            </a:r>
          </a:p>
        </p:txBody>
      </p:sp>
    </p:spTree>
    <p:extLst>
      <p:ext uri="{BB962C8B-B14F-4D97-AF65-F5344CB8AC3E}">
        <p14:creationId xmlns:p14="http://schemas.microsoft.com/office/powerpoint/2010/main" val="1879734690"/>
      </p:ext>
    </p:extLst>
  </p:cSld>
  <p:clrMapOvr>
    <a:masterClrMapping/>
  </p:clrMapOvr>
</p:sld>
</file>

<file path=ppt/slides/slide9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이 장의 구성 (Agenda)</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700"/>
              </a:spcAft>
            </a:pPr>
            <a:r>
              <a:rPr sz="1600" b="0">
                <a:solidFill>
                  <a:srgbClr val="222222"/>
                </a:solidFill>
                <a:latin typeface="맑은 고딕"/>
              </a:rPr>
              <a:t>•  25.2  ASH란 무엇인가 — 샘플링의 원리</a:t>
            </a:r>
          </a:p>
          <a:p>
            <a:pPr algn="l">
              <a:spcAft>
                <a:spcPts val="700"/>
              </a:spcAft>
            </a:pPr>
            <a:r>
              <a:rPr sz="1600" b="0">
                <a:solidFill>
                  <a:srgbClr val="222222"/>
                </a:solidFill>
                <a:latin typeface="맑은 고딕"/>
              </a:rPr>
              <a:t>•  25.3  ASH가 필요한 순간 — 짧은 스파이크</a:t>
            </a:r>
          </a:p>
          <a:p>
            <a:pPr algn="l">
              <a:spcAft>
                <a:spcPts val="700"/>
              </a:spcAft>
            </a:pPr>
            <a:r>
              <a:rPr sz="1600" b="0">
                <a:solidFill>
                  <a:srgbClr val="222222"/>
                </a:solidFill>
                <a:latin typeface="맑은 고딕"/>
              </a:rPr>
              <a:t>•  25.4  ASH 보고서 생성 — ashrpt.sql</a:t>
            </a:r>
          </a:p>
          <a:p>
            <a:pPr algn="l">
              <a:spcAft>
                <a:spcPts val="700"/>
              </a:spcAft>
            </a:pPr>
            <a:r>
              <a:rPr sz="1600" b="0">
                <a:solidFill>
                  <a:srgbClr val="222222"/>
                </a:solidFill>
                <a:latin typeface="맑은 고딕"/>
              </a:rPr>
              <a:t>•  25.5  실측 — 부하 구간 10분을 ASH로 재구성</a:t>
            </a:r>
          </a:p>
          <a:p>
            <a:pPr algn="l">
              <a:spcAft>
                <a:spcPts val="700"/>
              </a:spcAft>
            </a:pPr>
            <a:r>
              <a:rPr sz="1600" b="0">
                <a:solidFill>
                  <a:srgbClr val="222222"/>
                </a:solidFill>
                <a:latin typeface="맑은 고딕"/>
              </a:rPr>
              <a:t>•  25.6  세션 단위 추적 — 시간순 재구성</a:t>
            </a:r>
          </a:p>
          <a:p>
            <a:pPr algn="l">
              <a:spcAft>
                <a:spcPts val="700"/>
              </a:spcAft>
            </a:pPr>
            <a:r>
              <a:rPr sz="1600" b="0">
                <a:solidFill>
                  <a:srgbClr val="222222"/>
                </a:solidFill>
                <a:latin typeface="맑은 고딕"/>
              </a:rPr>
              <a:t>•  25.7  DBA_HIST_ACTIVE_SESS_HISTORY — 보존 구간</a:t>
            </a:r>
          </a:p>
          <a:p>
            <a:pPr algn="l">
              <a:spcAft>
                <a:spcPts val="700"/>
              </a:spcAft>
            </a:pPr>
            <a:r>
              <a:rPr sz="1600" b="0">
                <a:solidFill>
                  <a:srgbClr val="222222"/>
                </a:solidFill>
                <a:latin typeface="맑은 고딕"/>
              </a:rPr>
              <a:t>•  25.8  세 도구가 같은 부하를 본다 — AWR·ADDM·ASH</a:t>
            </a:r>
          </a:p>
          <a:p>
            <a:pPr algn="l">
              <a:spcAft>
                <a:spcPts val="700"/>
              </a:spcAft>
            </a:pPr>
            <a:r>
              <a:rPr sz="1600" b="0">
                <a:solidFill>
                  <a:srgbClr val="222222"/>
                </a:solidFill>
                <a:latin typeface="맑은 고딕"/>
              </a:rPr>
              <a:t>•  25.9  관리 팩 라이선스와 대안 경로</a:t>
            </a:r>
          </a:p>
        </p:txBody>
      </p:sp>
    </p:spTree>
    <p:extLst>
      <p:ext uri="{BB962C8B-B14F-4D97-AF65-F5344CB8AC3E}">
        <p14:creationId xmlns:p14="http://schemas.microsoft.com/office/powerpoint/2010/main" val="3499366780"/>
      </p:ext>
    </p:extLst>
  </p:cSld>
  <p:clrMapOvr>
    <a:masterClrMapping/>
  </p:clrMapOvr>
</p:sld>
</file>

<file path=ppt/slides/slide9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25.2</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ASH란 무엇인가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rPr>
              <a:t>•  활성 세션을 1초마다 샘플링</a:t>
            </a:r>
          </a:p>
          <a:p>
            <a:pPr algn="l">
              <a:spcAft>
                <a:spcPts val="600"/>
              </a:spcAft>
            </a:pPr>
            <a:r>
              <a:rPr sz="1600" b="0">
                <a:solidFill>
                  <a:srgbClr val="FFFFFF"/>
                </a:solidFill>
                <a:latin typeface="맑은 고딕"/>
              </a:rPr>
              <a:t>•  SGA 순환 버퍼에 저장</a:t>
            </a:r>
          </a:p>
          <a:p>
            <a:pPr algn="l">
              <a:spcAft>
                <a:spcPts val="600"/>
              </a:spcAft>
            </a:pPr>
            <a:r>
              <a:rPr sz="1600" b="0">
                <a:solidFill>
                  <a:srgbClr val="FFFFFF"/>
                </a:solidFill>
                <a:latin typeface="맑은 고딕"/>
              </a:rPr>
              <a:t>•  V$ACTIVE_SESSION_HISTORY</a:t>
            </a:r>
          </a:p>
          <a:p>
            <a:pPr algn="l">
              <a:spcAft>
                <a:spcPts val="600"/>
              </a:spcAft>
            </a:pPr>
            <a:r>
              <a:rPr sz="1600" b="0">
                <a:solidFill>
                  <a:srgbClr val="FFFFFF"/>
                </a:solidFill>
                <a:latin typeface="맑은 고딕"/>
              </a:rPr>
              <a:t>•  samples ≠ 실행 횟수</a:t>
            </a:r>
          </a:p>
        </p:txBody>
      </p:sp>
    </p:spTree>
    <p:extLst>
      <p:ext uri="{BB962C8B-B14F-4D97-AF65-F5344CB8AC3E}">
        <p14:creationId xmlns:p14="http://schemas.microsoft.com/office/powerpoint/2010/main" val="3293321530"/>
      </p:ext>
    </p:extLst>
  </p:cSld>
  <p:clrMapOvr>
    <a:masterClrMapping/>
  </p:clrMapOvr>
</p:sld>
</file>

<file path=ppt/slides/slide9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ASH — 샘플링의 원리</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1초마다 활성 세션의 스냅사진</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매 1초 활성 세션 상태를 SGA 순환 버퍼에 기록</a:t>
            </a:r>
          </a:p>
          <a:p>
            <a:pPr algn="l">
              <a:spcAft>
                <a:spcPts val="800"/>
              </a:spcAft>
            </a:pPr>
            <a:r>
              <a:rPr sz="1700" b="0">
                <a:solidFill>
                  <a:srgbClr val="222222"/>
                </a:solidFill>
                <a:latin typeface="맑은 고딕"/>
              </a:rPr>
              <a:t>•  AWR·ADDM은 구간을 평균 냄 / ASH는 평균 내지 않음</a:t>
            </a:r>
          </a:p>
          <a:p>
            <a:pPr algn="l">
              <a:spcAft>
                <a:spcPts val="800"/>
              </a:spcAft>
            </a:pPr>
            <a:r>
              <a:rPr sz="1700" b="0">
                <a:solidFill>
                  <a:srgbClr val="222222"/>
                </a:solidFill>
                <a:latin typeface="맑은 고딕"/>
              </a:rPr>
              <a:t>•  1초 원본 샘플 보관 → 특정 초의 활동까지 복원</a:t>
            </a:r>
          </a:p>
          <a:p>
            <a:pPr algn="l">
              <a:spcAft>
                <a:spcPts val="800"/>
              </a:spcAft>
            </a:pPr>
            <a:r>
              <a:rPr sz="1700" b="0">
                <a:solidFill>
                  <a:srgbClr val="222222"/>
                </a:solidFill>
                <a:latin typeface="맑은 고딕"/>
              </a:rPr>
              <a:t>•  이 시간 해상도가 짧은 스파이크를 잡는 힘</a:t>
            </a:r>
          </a:p>
        </p:txBody>
      </p:sp>
    </p:spTree>
    <p:extLst>
      <p:ext uri="{BB962C8B-B14F-4D97-AF65-F5344CB8AC3E}">
        <p14:creationId xmlns:p14="http://schemas.microsoft.com/office/powerpoint/2010/main" val="4058748287"/>
      </p:ext>
    </p:extLst>
  </p:cSld>
  <p:clrMapOvr>
    <a:masterClrMapping/>
  </p:clrMapOvr>
</p:sld>
</file>

<file path=ppt/slides/slide9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활성 세션만 샘플링한다</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ASH가 관리 가능한 크기를 유지하는 비결</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접속 + Idle 대기가 아닌 세션 = 활성 세션</a:t>
            </a:r>
          </a:p>
          <a:p>
            <a:pPr algn="l">
              <a:spcAft>
                <a:spcPts val="800"/>
              </a:spcAft>
            </a:pPr>
            <a:r>
              <a:rPr sz="1700" b="0">
                <a:solidFill>
                  <a:srgbClr val="222222"/>
                </a:solidFill>
                <a:latin typeface="맑은 고딕"/>
              </a:rPr>
              <a:t>•  CPU를 쓰는 세션(ON CPU)도 활성</a:t>
            </a:r>
          </a:p>
          <a:p>
            <a:pPr algn="l">
              <a:spcAft>
                <a:spcPts val="800"/>
              </a:spcAft>
            </a:pPr>
            <a:r>
              <a:rPr sz="1700" b="0">
                <a:solidFill>
                  <a:srgbClr val="222222"/>
                </a:solidFill>
                <a:latin typeface="맑은 고딕"/>
              </a:rPr>
              <a:t>•  SQL*Net message from client 등 Idle은 제외</a:t>
            </a:r>
          </a:p>
          <a:p>
            <a:pPr algn="l">
              <a:spcAft>
                <a:spcPts val="800"/>
              </a:spcAft>
            </a:pPr>
            <a:r>
              <a:rPr sz="1700" b="0">
                <a:solidFill>
                  <a:srgbClr val="222222"/>
                </a:solidFill>
                <a:latin typeface="맑은 고딕"/>
              </a:rPr>
              <a:t>•  데이터 크기 ∝ 접속 수가 아니라 실제 작업량</a:t>
            </a:r>
          </a:p>
        </p:txBody>
      </p:sp>
    </p:spTree>
    <p:extLst>
      <p:ext uri="{BB962C8B-B14F-4D97-AF65-F5344CB8AC3E}">
        <p14:creationId xmlns:p14="http://schemas.microsoft.com/office/powerpoint/2010/main" val="3531409714"/>
      </p:ext>
    </p:extLst>
  </p:cSld>
  <p:clrMapOvr>
    <a:masterClrMapping/>
  </p:clrMapOvr>
</p:sld>
</file>

<file path=ppt/slides/slide9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V$ACTIVE_SESSION_HISTORY 구조</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한 행 = 한 세션의 1초 샘플 한 장</a:t>
            </a:r>
          </a:p>
        </p:txBody>
      </p:sp>
      <p:sp>
        <p:nvSpPr>
          <p:cNvPr id="6" name="Rectangle 5"/>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tlCol="0" anchor="ctr"/>
          <a:lstStyle/>
          <a:p>
            <a:pPr>
              <a:lnSpc>
                <a:spcPct val="100000"/>
              </a:lnSpc>
              <a:spcAft>
                <a:spcPts val="0"/>
              </a:spcAft>
            </a:pPr>
            <a:r>
              <a:rPr sz="1250" dirty="0" err="1">
                <a:solidFill>
                  <a:srgbClr val="F2F2F2"/>
                </a:solidFill>
                <a:latin typeface="Consolas"/>
              </a:rPr>
              <a:t>SYS@orcl</a:t>
            </a:r>
            <a:r>
              <a:rPr sz="1250" dirty="0">
                <a:solidFill>
                  <a:srgbClr val="F2F2F2"/>
                </a:solidFill>
                <a:latin typeface="Consolas"/>
              </a:rPr>
              <a:t>&gt; SELECT </a:t>
            </a:r>
            <a:r>
              <a:rPr sz="1250" dirty="0" err="1">
                <a:solidFill>
                  <a:srgbClr val="F2F2F2"/>
                </a:solidFill>
                <a:latin typeface="Consolas"/>
              </a:rPr>
              <a:t>sample_time</a:t>
            </a:r>
            <a:r>
              <a:rPr sz="1250" dirty="0">
                <a:solidFill>
                  <a:srgbClr val="F2F2F2"/>
                </a:solidFill>
                <a:latin typeface="Consolas"/>
              </a:rPr>
              <a:t>, </a:t>
            </a:r>
            <a:r>
              <a:rPr sz="1250" dirty="0" err="1">
                <a:solidFill>
                  <a:srgbClr val="F2F2F2"/>
                </a:solidFill>
                <a:latin typeface="Consolas"/>
              </a:rPr>
              <a:t>session_id</a:t>
            </a:r>
            <a:r>
              <a:rPr sz="1250" dirty="0">
                <a:solidFill>
                  <a:srgbClr val="F2F2F2"/>
                </a:solidFill>
                <a:latin typeface="Consolas"/>
              </a:rPr>
              <a:t>, </a:t>
            </a:r>
            <a:r>
              <a:rPr sz="1250" dirty="0" err="1">
                <a:solidFill>
                  <a:srgbClr val="F2F2F2"/>
                </a:solidFill>
                <a:latin typeface="Consolas"/>
              </a:rPr>
              <a:t>session_state</a:t>
            </a:r>
            <a:r>
              <a:rPr sz="1250" dirty="0">
                <a:solidFill>
                  <a:srgbClr val="F2F2F2"/>
                </a:solidFill>
                <a:latin typeface="Consolas"/>
              </a:rPr>
              <a:t>,</a:t>
            </a:r>
          </a:p>
          <a:p>
            <a:pPr>
              <a:lnSpc>
                <a:spcPct val="100000"/>
              </a:lnSpc>
              <a:spcAft>
                <a:spcPts val="0"/>
              </a:spcAft>
            </a:pPr>
            <a:r>
              <a:rPr sz="1250" dirty="0">
                <a:solidFill>
                  <a:srgbClr val="F2F2F2"/>
                </a:solidFill>
                <a:latin typeface="Consolas"/>
              </a:rPr>
              <a:t>  2         event, </a:t>
            </a:r>
            <a:r>
              <a:rPr sz="1250" dirty="0" err="1">
                <a:solidFill>
                  <a:srgbClr val="F2F2F2"/>
                </a:solidFill>
                <a:latin typeface="Consolas"/>
              </a:rPr>
              <a:t>sql_id</a:t>
            </a:r>
            <a:endParaRPr sz="1250" dirty="0">
              <a:solidFill>
                <a:srgbClr val="F2F2F2"/>
              </a:solidFill>
              <a:latin typeface="Consolas"/>
            </a:endParaRPr>
          </a:p>
          <a:p>
            <a:pPr>
              <a:lnSpc>
                <a:spcPct val="100000"/>
              </a:lnSpc>
              <a:spcAft>
                <a:spcPts val="0"/>
              </a:spcAft>
            </a:pPr>
            <a:r>
              <a:rPr sz="1250" dirty="0">
                <a:solidFill>
                  <a:srgbClr val="F2F2F2"/>
                </a:solidFill>
                <a:latin typeface="Consolas"/>
              </a:rPr>
              <a:t>  3       FROM </a:t>
            </a:r>
            <a:r>
              <a:rPr sz="1250" dirty="0" err="1">
                <a:solidFill>
                  <a:srgbClr val="F2F2F2"/>
                </a:solidFill>
                <a:latin typeface="Consolas"/>
              </a:rPr>
              <a:t>v$active_session_history</a:t>
            </a:r>
            <a:endParaRPr sz="1250" dirty="0">
              <a:solidFill>
                <a:srgbClr val="F2F2F2"/>
              </a:solidFill>
              <a:latin typeface="Consolas"/>
            </a:endParaRPr>
          </a:p>
          <a:p>
            <a:pPr>
              <a:lnSpc>
                <a:spcPct val="100000"/>
              </a:lnSpc>
              <a:spcAft>
                <a:spcPts val="0"/>
              </a:spcAft>
            </a:pPr>
            <a:r>
              <a:rPr sz="1250" dirty="0">
                <a:solidFill>
                  <a:srgbClr val="F2F2F2"/>
                </a:solidFill>
                <a:latin typeface="Consolas"/>
              </a:rPr>
              <a:t>  4       WHERE </a:t>
            </a:r>
            <a:r>
              <a:rPr sz="1250" dirty="0" err="1">
                <a:solidFill>
                  <a:srgbClr val="F2F2F2"/>
                </a:solidFill>
                <a:latin typeface="Consolas"/>
              </a:rPr>
              <a:t>sample_time</a:t>
            </a:r>
            <a:r>
              <a:rPr sz="1250" dirty="0">
                <a:solidFill>
                  <a:srgbClr val="F2F2F2"/>
                </a:solidFill>
                <a:latin typeface="Consolas"/>
              </a:rPr>
              <a:t> &gt; SYSTIMESTAMP - INTERVAL '15' SECOND</a:t>
            </a:r>
          </a:p>
          <a:p>
            <a:pPr>
              <a:lnSpc>
                <a:spcPct val="100000"/>
              </a:lnSpc>
              <a:spcAft>
                <a:spcPts val="0"/>
              </a:spcAft>
            </a:pPr>
            <a:r>
              <a:rPr sz="1250" dirty="0">
                <a:solidFill>
                  <a:srgbClr val="F2F2F2"/>
                </a:solidFill>
                <a:latin typeface="Consolas"/>
              </a:rPr>
              <a:t>  5       ORDER BY </a:t>
            </a:r>
            <a:r>
              <a:rPr sz="1250" dirty="0" err="1">
                <a:solidFill>
                  <a:srgbClr val="F2F2F2"/>
                </a:solidFill>
                <a:latin typeface="Consolas"/>
              </a:rPr>
              <a:t>sample_time</a:t>
            </a:r>
            <a:r>
              <a:rPr sz="1250" dirty="0">
                <a:solidFill>
                  <a:srgbClr val="F2F2F2"/>
                </a:solidFill>
                <a:latin typeface="Consolas"/>
              </a:rPr>
              <a:t> DESC FETCH FIRST 8 ROWS ONLY;</a:t>
            </a:r>
          </a:p>
          <a:p>
            <a:pPr>
              <a:lnSpc>
                <a:spcPct val="100000"/>
              </a:lnSpc>
              <a:spcAft>
                <a:spcPts val="0"/>
              </a:spcAft>
            </a:pPr>
            <a:r>
              <a:rPr sz="1250" dirty="0">
                <a:solidFill>
                  <a:srgbClr val="F2F2F2"/>
                </a:solidFill>
                <a:latin typeface="Consolas"/>
              </a:rPr>
              <a:t> </a:t>
            </a:r>
          </a:p>
          <a:p>
            <a:pPr>
              <a:lnSpc>
                <a:spcPct val="100000"/>
              </a:lnSpc>
              <a:spcAft>
                <a:spcPts val="0"/>
              </a:spcAft>
            </a:pPr>
            <a:r>
              <a:rPr sz="1250" dirty="0">
                <a:solidFill>
                  <a:srgbClr val="F2F2F2"/>
                </a:solidFill>
                <a:latin typeface="Consolas"/>
              </a:rPr>
              <a:t>SAMPLE_TIME           SESS_ID STATE   EVENT           SQL_ID</a:t>
            </a:r>
          </a:p>
          <a:p>
            <a:pPr>
              <a:lnSpc>
                <a:spcPct val="100000"/>
              </a:lnSpc>
              <a:spcAft>
                <a:spcPts val="0"/>
              </a:spcAft>
            </a:pPr>
            <a:r>
              <a:rPr sz="1250" dirty="0">
                <a:solidFill>
                  <a:srgbClr val="F2F2F2"/>
                </a:solidFill>
                <a:latin typeface="Consolas"/>
              </a:rPr>
              <a:t>--------------------- ------- ------- --------------- -------------</a:t>
            </a:r>
          </a:p>
          <a:p>
            <a:pPr>
              <a:lnSpc>
                <a:spcPct val="100000"/>
              </a:lnSpc>
              <a:spcAft>
                <a:spcPts val="0"/>
              </a:spcAft>
            </a:pPr>
            <a:r>
              <a:rPr sz="1250" dirty="0">
                <a:solidFill>
                  <a:srgbClr val="F2F2F2"/>
                </a:solidFill>
                <a:latin typeface="Consolas"/>
              </a:rPr>
              <a:t>12.16.58.123               45 ON CPU                  9vmszgd1ft9x0</a:t>
            </a:r>
          </a:p>
          <a:p>
            <a:pPr>
              <a:lnSpc>
                <a:spcPct val="100000"/>
              </a:lnSpc>
              <a:spcAft>
                <a:spcPts val="0"/>
              </a:spcAft>
            </a:pPr>
            <a:r>
              <a:rPr sz="1250" dirty="0">
                <a:solidFill>
                  <a:srgbClr val="F2F2F2"/>
                </a:solidFill>
                <a:latin typeface="Consolas"/>
              </a:rPr>
              <a:t>12.16.58.123               61 WAITING log file sync   50kad7809jyj8</a:t>
            </a:r>
          </a:p>
        </p:txBody>
      </p:sp>
    </p:spTree>
    <p:extLst>
      <p:ext uri="{BB962C8B-B14F-4D97-AF65-F5344CB8AC3E}">
        <p14:creationId xmlns:p14="http://schemas.microsoft.com/office/powerpoint/2010/main" val="1878673924"/>
      </p:ext>
    </p:extLst>
  </p:cSld>
  <p:clrMapOvr>
    <a:masterClrMapping/>
  </p:clrMapOvr>
</p:sld>
</file>

<file path=ppt/slides/slide9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samples는 실행 횟수가 아니다</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이 장의 대표 오판 — 반드시 경계</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samples=186 ≠ 186번 실행</a:t>
            </a:r>
          </a:p>
          <a:p>
            <a:pPr algn="l">
              <a:spcAft>
                <a:spcPts val="800"/>
              </a:spcAft>
            </a:pPr>
            <a:r>
              <a:rPr sz="1700" b="0">
                <a:solidFill>
                  <a:srgbClr val="222222"/>
                </a:solidFill>
                <a:latin typeface="맑은 고딕"/>
              </a:rPr>
              <a:t>•  = 1초 샘플에 186번 '수행 중'으로 포착됨</a:t>
            </a:r>
          </a:p>
          <a:p>
            <a:pPr algn="l">
              <a:spcAft>
                <a:spcPts val="800"/>
              </a:spcAft>
            </a:pPr>
            <a:r>
              <a:rPr sz="1700" b="0">
                <a:solidFill>
                  <a:srgbClr val="222222"/>
                </a:solidFill>
                <a:latin typeface="맑은 고딕"/>
              </a:rPr>
              <a:t>•  100초짜리 SQL 1회 → 약 100 샘플</a:t>
            </a:r>
          </a:p>
          <a:p>
            <a:pPr algn="l">
              <a:spcAft>
                <a:spcPts val="800"/>
              </a:spcAft>
            </a:pPr>
            <a:r>
              <a:rPr sz="1700" b="0">
                <a:solidFill>
                  <a:srgbClr val="222222"/>
                </a:solidFill>
                <a:latin typeface="맑은 고딕"/>
              </a:rPr>
              <a:t>•  횟수는 V$SQL.EXECUTIONS / 시간은 ASH</a:t>
            </a:r>
          </a:p>
        </p:txBody>
      </p:sp>
    </p:spTree>
    <p:extLst>
      <p:ext uri="{BB962C8B-B14F-4D97-AF65-F5344CB8AC3E}">
        <p14:creationId xmlns:p14="http://schemas.microsoft.com/office/powerpoint/2010/main" val="96618166"/>
      </p:ext>
    </p:extLst>
  </p:cSld>
  <p:clrMapOvr>
    <a:masterClrMapping/>
  </p:clrMapOvr>
</p:sld>
</file>

<file path=ppt/slides/slide9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25.3</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짧은 스파이크</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rPr>
              <a:t>•  AWR·ADDM은 구간을 평균</a:t>
            </a:r>
          </a:p>
          <a:p>
            <a:pPr algn="l">
              <a:spcAft>
                <a:spcPts val="600"/>
              </a:spcAft>
            </a:pPr>
            <a:r>
              <a:rPr sz="1600" b="0">
                <a:solidFill>
                  <a:srgbClr val="FFFFFF"/>
                </a:solidFill>
                <a:latin typeface="맑은 고딕"/>
              </a:rPr>
              <a:t>•  2분 문제 → 평균에 희석</a:t>
            </a:r>
          </a:p>
          <a:p>
            <a:pPr algn="l">
              <a:spcAft>
                <a:spcPts val="600"/>
              </a:spcAft>
            </a:pPr>
            <a:r>
              <a:rPr sz="1600" b="0">
                <a:solidFill>
                  <a:srgbClr val="FFFFFF"/>
                </a:solidFill>
                <a:latin typeface="맑은 고딕"/>
              </a:rPr>
              <a:t>•  ASH는 구간만 잘라 포착</a:t>
            </a:r>
          </a:p>
          <a:p>
            <a:pPr algn="l">
              <a:spcAft>
                <a:spcPts val="600"/>
              </a:spcAft>
            </a:pPr>
            <a:r>
              <a:rPr sz="1600" b="0">
                <a:solidFill>
                  <a:srgbClr val="FFFFFF"/>
                </a:solidFill>
                <a:latin typeface="맑은 고딕"/>
              </a:rPr>
              <a:t>•  도구는 지속 시간으로 선택</a:t>
            </a:r>
          </a:p>
        </p:txBody>
      </p:sp>
    </p:spTree>
    <p:extLst>
      <p:ext uri="{BB962C8B-B14F-4D97-AF65-F5344CB8AC3E}">
        <p14:creationId xmlns:p14="http://schemas.microsoft.com/office/powerpoint/2010/main" val="3602895723"/>
      </p:ext>
    </p:extLst>
  </p:cSld>
  <p:clrMapOvr>
    <a:masterClrMapping/>
  </p:clrMapOvr>
</p:sld>
</file>

<file path=ppt/slides/slide9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AWR·ADDM이 놓치는 이유</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짧은(transient) 성능 문제</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ADDM: 문제 지속시간 / 스냅샷 간격 비중에 좌우</a:t>
            </a:r>
          </a:p>
          <a:p>
            <a:pPr algn="l">
              <a:spcAft>
                <a:spcPts val="800"/>
              </a:spcAft>
            </a:pPr>
            <a:r>
              <a:rPr sz="1700" b="0">
                <a:solidFill>
                  <a:srgbClr val="222222"/>
                </a:solidFill>
                <a:latin typeface="맑은 고딕"/>
              </a:rPr>
              <a:t>•  1시간 간격 · 2분 문제 → severity 희석·누락</a:t>
            </a:r>
          </a:p>
          <a:p>
            <a:pPr algn="l">
              <a:spcAft>
                <a:spcPts val="800"/>
              </a:spcAft>
            </a:pPr>
            <a:r>
              <a:rPr sz="1700" b="0">
                <a:solidFill>
                  <a:srgbClr val="222222"/>
                </a:solidFill>
                <a:latin typeface="맑은 고딕"/>
              </a:rPr>
              <a:t>•  AWR: 구간 합계라 2분 스파이크가 미미해짐</a:t>
            </a:r>
          </a:p>
          <a:p>
            <a:pPr algn="l">
              <a:spcAft>
                <a:spcPts val="800"/>
              </a:spcAft>
            </a:pPr>
            <a:r>
              <a:rPr sz="1700" b="0">
                <a:solidFill>
                  <a:srgbClr val="222222"/>
                </a:solidFill>
                <a:latin typeface="맑은 고딕"/>
              </a:rPr>
              <a:t>•  'AWR에 안 보임' ≠ '문제 없음'</a:t>
            </a:r>
          </a:p>
        </p:txBody>
      </p:sp>
    </p:spTree>
    <p:extLst>
      <p:ext uri="{BB962C8B-B14F-4D97-AF65-F5344CB8AC3E}">
        <p14:creationId xmlns:p14="http://schemas.microsoft.com/office/powerpoint/2010/main" val="2618176643"/>
      </p:ext>
    </p:extLst>
  </p:cSld>
  <p:clrMapOvr>
    <a:masterClrMapping/>
  </p:clrMapOvr>
</p:sld>
</file>

<file path=ppt/slides/slide9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도구별 시간 해상도</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같은 부하, 다른 렌즈</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V$ 뷰: 실시간 — 지나가면 사라짐</a:t>
            </a:r>
          </a:p>
          <a:p>
            <a:pPr algn="l">
              <a:spcAft>
                <a:spcPts val="800"/>
              </a:spcAft>
            </a:pPr>
            <a:r>
              <a:rPr sz="1700" b="0">
                <a:solidFill>
                  <a:srgbClr val="222222"/>
                </a:solidFill>
                <a:latin typeface="맑은 고딕"/>
              </a:rPr>
              <a:t>•  AWR: 스냅샷 간격(기본 1h) — 평균에 희석</a:t>
            </a:r>
          </a:p>
          <a:p>
            <a:pPr algn="l">
              <a:spcAft>
                <a:spcPts val="800"/>
              </a:spcAft>
            </a:pPr>
            <a:r>
              <a:rPr sz="1700" b="0">
                <a:solidFill>
                  <a:srgbClr val="222222"/>
                </a:solidFill>
                <a:latin typeface="맑은 고딕"/>
              </a:rPr>
              <a:t>•  ADDM: 스냅샷 간격 — severity 희석</a:t>
            </a:r>
          </a:p>
          <a:p>
            <a:pPr algn="l">
              <a:spcAft>
                <a:spcPts val="800"/>
              </a:spcAft>
            </a:pPr>
            <a:r>
              <a:rPr sz="1700" b="0">
                <a:solidFill>
                  <a:srgbClr val="222222"/>
                </a:solidFill>
                <a:latin typeface="맑은 고딕"/>
              </a:rPr>
              <a:t>•  ASH: 1초 샘플 — 구간만 잘라 스파이크 포착</a:t>
            </a:r>
          </a:p>
        </p:txBody>
      </p:sp>
    </p:spTree>
    <p:extLst>
      <p:ext uri="{BB962C8B-B14F-4D97-AF65-F5344CB8AC3E}">
        <p14:creationId xmlns:p14="http://schemas.microsoft.com/office/powerpoint/2010/main" val="2465637168"/>
      </p:ext>
    </p:extLst>
  </p:cSld>
  <p:clrMapOvr>
    <a:masterClrMapping/>
  </p:clrMapOvr>
</p:sld>
</file>

<file path=ppt/slides/slide9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25.4</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ASH 보고서 생성</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rPr>
              <a:t>•  ashrpt.sql / ashrpti.sql</a:t>
            </a:r>
          </a:p>
          <a:p>
            <a:pPr algn="l">
              <a:spcAft>
                <a:spcPts val="600"/>
              </a:spcAft>
            </a:pPr>
            <a:r>
              <a:rPr sz="1600" b="0">
                <a:solidFill>
                  <a:srgbClr val="FFFFFF"/>
                </a:solidFill>
                <a:latin typeface="맑은 고딕"/>
              </a:rPr>
              <a:t>•  begin_time · duration</a:t>
            </a:r>
          </a:p>
          <a:p>
            <a:pPr algn="l">
              <a:spcAft>
                <a:spcPts val="600"/>
              </a:spcAft>
            </a:pPr>
            <a:r>
              <a:rPr sz="1600" b="0">
                <a:solidFill>
                  <a:srgbClr val="FFFFFF"/>
                </a:solidFill>
                <a:latin typeface="맑은 고딕"/>
              </a:rPr>
              <a:t>•  보고서 섹션 구조</a:t>
            </a:r>
          </a:p>
          <a:p>
            <a:pPr algn="l">
              <a:spcAft>
                <a:spcPts val="600"/>
              </a:spcAft>
            </a:pPr>
            <a:r>
              <a:rPr sz="1600" b="0">
                <a:solidFill>
                  <a:srgbClr val="FFFFFF"/>
                </a:solidFill>
                <a:latin typeface="맑은 고딕"/>
              </a:rPr>
              <a:t>•  target로 차원 좁히기</a:t>
            </a:r>
          </a:p>
        </p:txBody>
      </p:sp>
    </p:spTree>
    <p:extLst>
      <p:ext uri="{BB962C8B-B14F-4D97-AF65-F5344CB8AC3E}">
        <p14:creationId xmlns:p14="http://schemas.microsoft.com/office/powerpoint/2010/main" val="3486590608"/>
      </p:ext>
    </p:extLst>
  </p:cSld>
  <p:clrMapOvr>
    <a:masterClrMapping/>
  </p:clrMapOvr>
</p:sld>
</file>

<file path=ppt/slides/slide9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ashrpt.sql 실행과 구간 지정</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'10분 전부터 현재까지'를 텍스트로</a:t>
            </a:r>
          </a:p>
        </p:txBody>
      </p:sp>
      <p:sp>
        <p:nvSpPr>
          <p:cNvPr id="6" name="Rectangle 5"/>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tlCol="0" anchor="ctr"/>
          <a:lstStyle/>
          <a:p>
            <a:pPr>
              <a:lnSpc>
                <a:spcPct val="100000"/>
              </a:lnSpc>
              <a:spcAft>
                <a:spcPts val="0"/>
              </a:spcAft>
            </a:pPr>
            <a:r>
              <a:rPr sz="1250" dirty="0" err="1">
                <a:solidFill>
                  <a:srgbClr val="F2F2F2"/>
                </a:solidFill>
                <a:latin typeface="Consolas"/>
              </a:rPr>
              <a:t>SYS@orcl</a:t>
            </a:r>
            <a:r>
              <a:rPr sz="1250" dirty="0">
                <a:solidFill>
                  <a:srgbClr val="F2F2F2"/>
                </a:solidFill>
                <a:latin typeface="Consolas"/>
              </a:rPr>
              <a:t>&gt; @?/rdbms/admin/ashrpt.sql</a:t>
            </a:r>
          </a:p>
          <a:p>
            <a:pPr>
              <a:lnSpc>
                <a:spcPct val="100000"/>
              </a:lnSpc>
              <a:spcAft>
                <a:spcPts val="0"/>
              </a:spcAft>
            </a:pPr>
            <a:r>
              <a:rPr sz="1250" dirty="0">
                <a:solidFill>
                  <a:srgbClr val="F2F2F2"/>
                </a:solidFill>
                <a:latin typeface="Consolas"/>
              </a:rPr>
              <a:t> </a:t>
            </a:r>
          </a:p>
          <a:p>
            <a:pPr>
              <a:lnSpc>
                <a:spcPct val="100000"/>
              </a:lnSpc>
              <a:spcAft>
                <a:spcPts val="0"/>
              </a:spcAft>
            </a:pPr>
            <a:r>
              <a:rPr sz="1250" dirty="0">
                <a:solidFill>
                  <a:srgbClr val="F2F2F2"/>
                </a:solidFill>
                <a:latin typeface="Consolas"/>
              </a:rPr>
              <a:t>Enter value for </a:t>
            </a:r>
            <a:r>
              <a:rPr sz="1250" dirty="0" err="1">
                <a:solidFill>
                  <a:srgbClr val="F2F2F2"/>
                </a:solidFill>
                <a:latin typeface="Consolas"/>
              </a:rPr>
              <a:t>report_type</a:t>
            </a:r>
            <a:r>
              <a:rPr sz="1250" dirty="0">
                <a:solidFill>
                  <a:srgbClr val="F2F2F2"/>
                </a:solidFill>
                <a:latin typeface="Consolas"/>
              </a:rPr>
              <a:t>: text      -- </a:t>
            </a:r>
            <a:r>
              <a:rPr sz="1250" dirty="0" err="1">
                <a:solidFill>
                  <a:srgbClr val="F2F2F2"/>
                </a:solidFill>
                <a:latin typeface="Consolas"/>
              </a:rPr>
              <a:t>텍스트</a:t>
            </a:r>
            <a:endParaRPr sz="1250" dirty="0">
              <a:solidFill>
                <a:srgbClr val="F2F2F2"/>
              </a:solidFill>
              <a:latin typeface="Consolas"/>
            </a:endParaRPr>
          </a:p>
          <a:p>
            <a:pPr>
              <a:lnSpc>
                <a:spcPct val="100000"/>
              </a:lnSpc>
              <a:spcAft>
                <a:spcPts val="0"/>
              </a:spcAft>
            </a:pPr>
            <a:r>
              <a:rPr sz="1250" dirty="0">
                <a:solidFill>
                  <a:srgbClr val="F2F2F2"/>
                </a:solidFill>
                <a:latin typeface="Consolas"/>
              </a:rPr>
              <a:t>Enter value for </a:t>
            </a:r>
            <a:r>
              <a:rPr sz="1250" dirty="0" err="1">
                <a:solidFill>
                  <a:srgbClr val="F2F2F2"/>
                </a:solidFill>
                <a:latin typeface="Consolas"/>
              </a:rPr>
              <a:t>begin_time</a:t>
            </a:r>
            <a:r>
              <a:rPr sz="1250" dirty="0">
                <a:solidFill>
                  <a:srgbClr val="F2F2F2"/>
                </a:solidFill>
                <a:latin typeface="Consolas"/>
              </a:rPr>
              <a:t>:  -10       -- 10분 전 </a:t>
            </a:r>
            <a:r>
              <a:rPr sz="1250" dirty="0" err="1">
                <a:solidFill>
                  <a:srgbClr val="F2F2F2"/>
                </a:solidFill>
                <a:latin typeface="Consolas"/>
              </a:rPr>
              <a:t>시작</a:t>
            </a:r>
            <a:endParaRPr sz="1250" dirty="0">
              <a:solidFill>
                <a:srgbClr val="F2F2F2"/>
              </a:solidFill>
              <a:latin typeface="Consolas"/>
            </a:endParaRPr>
          </a:p>
          <a:p>
            <a:pPr>
              <a:lnSpc>
                <a:spcPct val="100000"/>
              </a:lnSpc>
              <a:spcAft>
                <a:spcPts val="0"/>
              </a:spcAft>
            </a:pPr>
            <a:r>
              <a:rPr sz="1250" dirty="0">
                <a:solidFill>
                  <a:srgbClr val="F2F2F2"/>
                </a:solidFill>
                <a:latin typeface="Consolas"/>
              </a:rPr>
              <a:t>Enter value for duration:              -- (</a:t>
            </a:r>
            <a:r>
              <a:rPr sz="1250" dirty="0" err="1">
                <a:solidFill>
                  <a:srgbClr val="F2F2F2"/>
                </a:solidFill>
                <a:latin typeface="Consolas"/>
              </a:rPr>
              <a:t>공백</a:t>
            </a:r>
            <a:r>
              <a:rPr sz="1250" dirty="0">
                <a:solidFill>
                  <a:srgbClr val="F2F2F2"/>
                </a:solidFill>
                <a:latin typeface="Consolas"/>
              </a:rPr>
              <a:t>) </a:t>
            </a:r>
            <a:r>
              <a:rPr sz="1250" dirty="0" err="1">
                <a:solidFill>
                  <a:srgbClr val="F2F2F2"/>
                </a:solidFill>
                <a:latin typeface="Consolas"/>
              </a:rPr>
              <a:t>현재까지</a:t>
            </a:r>
            <a:endParaRPr sz="1250" dirty="0">
              <a:solidFill>
                <a:srgbClr val="F2F2F2"/>
              </a:solidFill>
              <a:latin typeface="Consolas"/>
            </a:endParaRPr>
          </a:p>
          <a:p>
            <a:pPr>
              <a:lnSpc>
                <a:spcPct val="100000"/>
              </a:lnSpc>
              <a:spcAft>
                <a:spcPts val="0"/>
              </a:spcAft>
            </a:pPr>
            <a:r>
              <a:rPr sz="1250" dirty="0">
                <a:solidFill>
                  <a:srgbClr val="F2F2F2"/>
                </a:solidFill>
                <a:latin typeface="Consolas"/>
              </a:rPr>
              <a:t>Enter value for </a:t>
            </a:r>
            <a:r>
              <a:rPr sz="1250" dirty="0" err="1">
                <a:solidFill>
                  <a:srgbClr val="F2F2F2"/>
                </a:solidFill>
                <a:latin typeface="Consolas"/>
              </a:rPr>
              <a:t>report_name</a:t>
            </a:r>
            <a:r>
              <a:rPr sz="1250" dirty="0">
                <a:solidFill>
                  <a:srgbClr val="F2F2F2"/>
                </a:solidFill>
                <a:latin typeface="Consolas"/>
              </a:rPr>
              <a:t>:           -- </a:t>
            </a:r>
            <a:r>
              <a:rPr sz="1250" dirty="0" err="1">
                <a:solidFill>
                  <a:srgbClr val="F2F2F2"/>
                </a:solidFill>
                <a:latin typeface="Consolas"/>
              </a:rPr>
              <a:t>기본</a:t>
            </a:r>
            <a:r>
              <a:rPr sz="1250" dirty="0">
                <a:solidFill>
                  <a:srgbClr val="F2F2F2"/>
                </a:solidFill>
                <a:latin typeface="Consolas"/>
              </a:rPr>
              <a:t> </a:t>
            </a:r>
            <a:r>
              <a:rPr sz="1250" dirty="0" err="1">
                <a:solidFill>
                  <a:srgbClr val="F2F2F2"/>
                </a:solidFill>
                <a:latin typeface="Consolas"/>
              </a:rPr>
              <a:t>이름</a:t>
            </a:r>
            <a:endParaRPr sz="1250" dirty="0">
              <a:solidFill>
                <a:srgbClr val="F2F2F2"/>
              </a:solidFill>
              <a:latin typeface="Consolas"/>
            </a:endParaRPr>
          </a:p>
          <a:p>
            <a:pPr>
              <a:lnSpc>
                <a:spcPct val="100000"/>
              </a:lnSpc>
              <a:spcAft>
                <a:spcPts val="0"/>
              </a:spcAft>
            </a:pPr>
            <a:r>
              <a:rPr sz="1250" dirty="0">
                <a:solidFill>
                  <a:srgbClr val="F2F2F2"/>
                </a:solidFill>
                <a:latin typeface="Consolas"/>
              </a:rPr>
              <a:t> </a:t>
            </a:r>
          </a:p>
          <a:p>
            <a:pPr>
              <a:lnSpc>
                <a:spcPct val="100000"/>
              </a:lnSpc>
              <a:spcAft>
                <a:spcPts val="0"/>
              </a:spcAft>
            </a:pPr>
            <a:r>
              <a:rPr sz="1250" dirty="0">
                <a:solidFill>
                  <a:srgbClr val="F2F2F2"/>
                </a:solidFill>
                <a:latin typeface="Consolas"/>
              </a:rPr>
              <a:t>Using the report name ashrpt_1_0825_1217.txt</a:t>
            </a:r>
          </a:p>
        </p:txBody>
      </p:sp>
    </p:spTree>
    <p:extLst>
      <p:ext uri="{BB962C8B-B14F-4D97-AF65-F5344CB8AC3E}">
        <p14:creationId xmlns:p14="http://schemas.microsoft.com/office/powerpoint/2010/main" val="546592409"/>
      </p:ext>
    </p:extLst>
  </p:cSld>
  <p:clrMapOvr>
    <a:masterClrMapping/>
  </p:clrMapOvr>
</p:sld>
</file>

<file path=ppt/slides/slide9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ASH 보고서 섹션 구조</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각 섹션이 무엇을 지목하나</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Top User/Background Events — 상위 대기와 %</a:t>
            </a:r>
          </a:p>
          <a:p>
            <a:pPr algn="l">
              <a:spcAft>
                <a:spcPts val="800"/>
              </a:spcAft>
            </a:pPr>
            <a:r>
              <a:rPr sz="1700" b="0">
                <a:solidFill>
                  <a:srgbClr val="222222"/>
                </a:solidFill>
                <a:latin typeface="맑은 고딕"/>
              </a:rPr>
              <a:t>•  Top SQL — 상위 SQL, Sampled # of Executions</a:t>
            </a:r>
          </a:p>
          <a:p>
            <a:pPr algn="l">
              <a:spcAft>
                <a:spcPts val="800"/>
              </a:spcAft>
            </a:pPr>
            <a:r>
              <a:rPr sz="1700" b="0">
                <a:solidFill>
                  <a:srgbClr val="222222"/>
                </a:solidFill>
                <a:latin typeface="맑은 고딕"/>
              </a:rPr>
              <a:t>•  Top Sessions — 상위 활성·블로킹 세션</a:t>
            </a:r>
          </a:p>
          <a:p>
            <a:pPr algn="l">
              <a:spcAft>
                <a:spcPts val="800"/>
              </a:spcAft>
            </a:pPr>
            <a:r>
              <a:rPr sz="1700" b="0">
                <a:solidFill>
                  <a:srgbClr val="222222"/>
                </a:solidFill>
                <a:latin typeface="맑은 고딕"/>
              </a:rPr>
              <a:t>•  Activity Over Time — 10개 슬롯 skew 분석</a:t>
            </a:r>
          </a:p>
        </p:txBody>
      </p:sp>
    </p:spTree>
    <p:extLst>
      <p:ext uri="{BB962C8B-B14F-4D97-AF65-F5344CB8AC3E}">
        <p14:creationId xmlns:p14="http://schemas.microsoft.com/office/powerpoint/2010/main" val="154055272"/>
      </p:ext>
    </p:extLst>
  </p:cSld>
  <p:clrMapOvr>
    <a:masterClrMapping/>
  </p:clrMapOvr>
</p:sld>
</file>

<file path=ppt/slides/slide9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target — 무엇을 좁혀 볼 것인가</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구간은 '언제', target은 '무엇을'</a:t>
            </a:r>
          </a:p>
        </p:txBody>
      </p:sp>
      <p:sp>
        <p:nvSpPr>
          <p:cNvPr id="6" name="Rectangle 5"/>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tlCol="0" anchor="ctr"/>
          <a:lstStyle/>
          <a:p>
            <a:pPr>
              <a:lnSpc>
                <a:spcPct val="100000"/>
              </a:lnSpc>
              <a:spcAft>
                <a:spcPts val="0"/>
              </a:spcAft>
            </a:pPr>
            <a:r>
              <a:rPr sz="1250" dirty="0">
                <a:solidFill>
                  <a:srgbClr val="F2F2F2"/>
                </a:solidFill>
                <a:latin typeface="Consolas"/>
              </a:rPr>
              <a:t>Enter value for </a:t>
            </a:r>
            <a:r>
              <a:rPr sz="1250" dirty="0" err="1">
                <a:solidFill>
                  <a:srgbClr val="F2F2F2"/>
                </a:solidFill>
                <a:latin typeface="Consolas"/>
              </a:rPr>
              <a:t>target_session_id</a:t>
            </a:r>
            <a:r>
              <a:rPr sz="1250" dirty="0">
                <a:solidFill>
                  <a:srgbClr val="F2F2F2"/>
                </a:solidFill>
                <a:latin typeface="Consolas"/>
              </a:rPr>
              <a:t>:            -- </a:t>
            </a:r>
            <a:r>
              <a:rPr sz="1250" dirty="0" err="1">
                <a:solidFill>
                  <a:srgbClr val="F2F2F2"/>
                </a:solidFill>
                <a:latin typeface="Consolas"/>
              </a:rPr>
              <a:t>전체</a:t>
            </a:r>
            <a:endParaRPr sz="1250" dirty="0">
              <a:solidFill>
                <a:srgbClr val="F2F2F2"/>
              </a:solidFill>
              <a:latin typeface="Consolas"/>
            </a:endParaRPr>
          </a:p>
          <a:p>
            <a:pPr>
              <a:lnSpc>
                <a:spcPct val="100000"/>
              </a:lnSpc>
              <a:spcAft>
                <a:spcPts val="0"/>
              </a:spcAft>
            </a:pPr>
            <a:r>
              <a:rPr sz="1250" dirty="0">
                <a:solidFill>
                  <a:srgbClr val="F2F2F2"/>
                </a:solidFill>
                <a:latin typeface="Consolas"/>
              </a:rPr>
              <a:t>Enter value for </a:t>
            </a:r>
            <a:r>
              <a:rPr sz="1250" dirty="0" err="1">
                <a:solidFill>
                  <a:srgbClr val="F2F2F2"/>
                </a:solidFill>
                <a:latin typeface="Consolas"/>
              </a:rPr>
              <a:t>target_sql_id</a:t>
            </a:r>
            <a:r>
              <a:rPr sz="1250" dirty="0">
                <a:solidFill>
                  <a:srgbClr val="F2F2F2"/>
                </a:solidFill>
                <a:latin typeface="Consolas"/>
              </a:rPr>
              <a:t>: 9vmszgd1ft9x0  -- 이 </a:t>
            </a:r>
            <a:r>
              <a:rPr sz="1250" dirty="0" err="1">
                <a:solidFill>
                  <a:srgbClr val="F2F2F2"/>
                </a:solidFill>
                <a:latin typeface="Consolas"/>
              </a:rPr>
              <a:t>SQL만</a:t>
            </a:r>
            <a:endParaRPr sz="1250" dirty="0">
              <a:solidFill>
                <a:srgbClr val="F2F2F2"/>
              </a:solidFill>
              <a:latin typeface="Consolas"/>
            </a:endParaRPr>
          </a:p>
          <a:p>
            <a:pPr>
              <a:lnSpc>
                <a:spcPct val="100000"/>
              </a:lnSpc>
              <a:spcAft>
                <a:spcPts val="0"/>
              </a:spcAft>
            </a:pPr>
            <a:r>
              <a:rPr sz="1250" dirty="0">
                <a:solidFill>
                  <a:srgbClr val="F2F2F2"/>
                </a:solidFill>
                <a:latin typeface="Consolas"/>
              </a:rPr>
              <a:t>Enter value for </a:t>
            </a:r>
            <a:r>
              <a:rPr sz="1250" dirty="0" err="1">
                <a:solidFill>
                  <a:srgbClr val="F2F2F2"/>
                </a:solidFill>
                <a:latin typeface="Consolas"/>
              </a:rPr>
              <a:t>target_wait_class</a:t>
            </a:r>
            <a:r>
              <a:rPr sz="1250" dirty="0">
                <a:solidFill>
                  <a:srgbClr val="F2F2F2"/>
                </a:solidFill>
                <a:latin typeface="Consolas"/>
              </a:rPr>
              <a:t>:            -- </a:t>
            </a:r>
            <a:r>
              <a:rPr sz="1250" dirty="0" err="1">
                <a:solidFill>
                  <a:srgbClr val="F2F2F2"/>
                </a:solidFill>
                <a:latin typeface="Consolas"/>
              </a:rPr>
              <a:t>전체</a:t>
            </a:r>
            <a:endParaRPr sz="1250" dirty="0">
              <a:solidFill>
                <a:srgbClr val="F2F2F2"/>
              </a:solidFill>
              <a:latin typeface="Consolas"/>
            </a:endParaRPr>
          </a:p>
          <a:p>
            <a:pPr>
              <a:lnSpc>
                <a:spcPct val="100000"/>
              </a:lnSpc>
              <a:spcAft>
                <a:spcPts val="0"/>
              </a:spcAft>
            </a:pPr>
            <a:r>
              <a:rPr sz="1250" dirty="0">
                <a:solidFill>
                  <a:srgbClr val="F2F2F2"/>
                </a:solidFill>
                <a:latin typeface="Consolas"/>
              </a:rPr>
              <a:t>Enter value for </a:t>
            </a:r>
            <a:r>
              <a:rPr sz="1250" dirty="0" err="1">
                <a:solidFill>
                  <a:srgbClr val="F2F2F2"/>
                </a:solidFill>
                <a:latin typeface="Consolas"/>
              </a:rPr>
              <a:t>target_module_name</a:t>
            </a:r>
            <a:r>
              <a:rPr sz="1250" dirty="0">
                <a:solidFill>
                  <a:srgbClr val="F2F2F2"/>
                </a:solidFill>
                <a:latin typeface="Consolas"/>
              </a:rPr>
              <a:t>:           -- </a:t>
            </a:r>
            <a:r>
              <a:rPr sz="1250" dirty="0" err="1">
                <a:solidFill>
                  <a:srgbClr val="F2F2F2"/>
                </a:solidFill>
                <a:latin typeface="Consolas"/>
              </a:rPr>
              <a:t>전체</a:t>
            </a:r>
            <a:endParaRPr sz="1250" dirty="0">
              <a:solidFill>
                <a:srgbClr val="F2F2F2"/>
              </a:solidFill>
              <a:latin typeface="Consolas"/>
            </a:endParaRPr>
          </a:p>
          <a:p>
            <a:pPr>
              <a:lnSpc>
                <a:spcPct val="100000"/>
              </a:lnSpc>
              <a:spcAft>
                <a:spcPts val="0"/>
              </a:spcAft>
            </a:pPr>
            <a:r>
              <a:rPr sz="1250" dirty="0">
                <a:solidFill>
                  <a:srgbClr val="F2F2F2"/>
                </a:solidFill>
                <a:latin typeface="Consolas"/>
              </a:rPr>
              <a:t> </a:t>
            </a:r>
          </a:p>
          <a:p>
            <a:pPr>
              <a:lnSpc>
                <a:spcPct val="100000"/>
              </a:lnSpc>
              <a:spcAft>
                <a:spcPts val="0"/>
              </a:spcAft>
            </a:pPr>
            <a:r>
              <a:rPr sz="1250" dirty="0">
                <a:solidFill>
                  <a:srgbClr val="F2F2F2"/>
                </a:solidFill>
                <a:latin typeface="Consolas"/>
              </a:rPr>
              <a:t>-- </a:t>
            </a:r>
            <a:r>
              <a:rPr sz="1250" dirty="0" err="1">
                <a:solidFill>
                  <a:srgbClr val="F2F2F2"/>
                </a:solidFill>
                <a:latin typeface="Consolas"/>
              </a:rPr>
              <a:t>세션·SQL·대기클래스·서비스·모듈·액션·클라이언트ID로</a:t>
            </a:r>
            <a:endParaRPr sz="1250" dirty="0">
              <a:solidFill>
                <a:srgbClr val="F2F2F2"/>
              </a:solidFill>
              <a:latin typeface="Consolas"/>
            </a:endParaRPr>
          </a:p>
          <a:p>
            <a:pPr>
              <a:lnSpc>
                <a:spcPct val="100000"/>
              </a:lnSpc>
              <a:spcAft>
                <a:spcPts val="0"/>
              </a:spcAft>
            </a:pPr>
            <a:r>
              <a:rPr sz="1250" dirty="0">
                <a:solidFill>
                  <a:srgbClr val="F2F2F2"/>
                </a:solidFill>
                <a:latin typeface="Consolas"/>
              </a:rPr>
              <a:t>-- </a:t>
            </a:r>
            <a:r>
              <a:rPr sz="1250" dirty="0" err="1">
                <a:solidFill>
                  <a:srgbClr val="F2F2F2"/>
                </a:solidFill>
                <a:latin typeface="Consolas"/>
              </a:rPr>
              <a:t>관심</a:t>
            </a:r>
            <a:r>
              <a:rPr sz="1250" dirty="0">
                <a:solidFill>
                  <a:srgbClr val="F2F2F2"/>
                </a:solidFill>
                <a:latin typeface="Consolas"/>
              </a:rPr>
              <a:t> </a:t>
            </a:r>
            <a:r>
              <a:rPr sz="1250" dirty="0" err="1">
                <a:solidFill>
                  <a:srgbClr val="F2F2F2"/>
                </a:solidFill>
                <a:latin typeface="Consolas"/>
              </a:rPr>
              <a:t>차원만</a:t>
            </a:r>
            <a:r>
              <a:rPr sz="1250" dirty="0">
                <a:solidFill>
                  <a:srgbClr val="F2F2F2"/>
                </a:solidFill>
                <a:latin typeface="Consolas"/>
              </a:rPr>
              <a:t> </a:t>
            </a:r>
            <a:r>
              <a:rPr sz="1250" dirty="0" err="1">
                <a:solidFill>
                  <a:srgbClr val="F2F2F2"/>
                </a:solidFill>
                <a:latin typeface="Consolas"/>
              </a:rPr>
              <a:t>남겨</a:t>
            </a:r>
            <a:r>
              <a:rPr sz="1250" dirty="0">
                <a:solidFill>
                  <a:srgbClr val="F2F2F2"/>
                </a:solidFill>
                <a:latin typeface="Consolas"/>
              </a:rPr>
              <a:t> </a:t>
            </a:r>
            <a:r>
              <a:rPr sz="1250" dirty="0" err="1">
                <a:solidFill>
                  <a:srgbClr val="F2F2F2"/>
                </a:solidFill>
                <a:latin typeface="Consolas"/>
              </a:rPr>
              <a:t>활동을</a:t>
            </a:r>
            <a:r>
              <a:rPr sz="1250" dirty="0">
                <a:solidFill>
                  <a:srgbClr val="F2F2F2"/>
                </a:solidFill>
                <a:latin typeface="Consolas"/>
              </a:rPr>
              <a:t> </a:t>
            </a:r>
            <a:r>
              <a:rPr sz="1250" dirty="0" err="1">
                <a:solidFill>
                  <a:srgbClr val="F2F2F2"/>
                </a:solidFill>
                <a:latin typeface="Consolas"/>
              </a:rPr>
              <a:t>분리해</a:t>
            </a:r>
            <a:r>
              <a:rPr sz="1250" dirty="0">
                <a:solidFill>
                  <a:srgbClr val="F2F2F2"/>
                </a:solidFill>
                <a:latin typeface="Consolas"/>
              </a:rPr>
              <a:t> </a:t>
            </a:r>
            <a:r>
              <a:rPr sz="1250" dirty="0" err="1">
                <a:solidFill>
                  <a:srgbClr val="F2F2F2"/>
                </a:solidFill>
                <a:latin typeface="Consolas"/>
              </a:rPr>
              <a:t>본다</a:t>
            </a:r>
            <a:endParaRPr sz="1250" dirty="0">
              <a:solidFill>
                <a:srgbClr val="F2F2F2"/>
              </a:solidFill>
              <a:latin typeface="Consolas"/>
            </a:endParaRPr>
          </a:p>
        </p:txBody>
      </p:sp>
    </p:spTree>
    <p:extLst>
      <p:ext uri="{BB962C8B-B14F-4D97-AF65-F5344CB8AC3E}">
        <p14:creationId xmlns:p14="http://schemas.microsoft.com/office/powerpoint/2010/main" val="1498455019"/>
      </p:ext>
    </p:extLst>
  </p:cSld>
  <p:clrMapOvr>
    <a:masterClrMapping/>
  </p:clrMapOvr>
</p:sld>
</file>

<file path=ppt/slides/slide9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25.5</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실측 — 10분 재구성</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rPr>
              <a:t>•  ch22·ch24과 같은 부하 구간</a:t>
            </a:r>
          </a:p>
          <a:p>
            <a:pPr algn="l">
              <a:spcAft>
                <a:spcPts val="600"/>
              </a:spcAft>
            </a:pPr>
            <a:r>
              <a:rPr sz="1600" b="0">
                <a:solidFill>
                  <a:srgbClr val="FFFFFF"/>
                </a:solidFill>
                <a:latin typeface="맑은 고딕"/>
              </a:rPr>
              <a:t>•  ON CPU 90.7%</a:t>
            </a:r>
          </a:p>
          <a:p>
            <a:pPr algn="l">
              <a:spcAft>
                <a:spcPts val="600"/>
              </a:spcAft>
            </a:pPr>
            <a:r>
              <a:rPr sz="1600" b="0">
                <a:solidFill>
                  <a:srgbClr val="FFFFFF"/>
                </a:solidFill>
                <a:latin typeface="맑은 고딕"/>
              </a:rPr>
              <a:t>•  상위 두 SQL이 대부분</a:t>
            </a:r>
          </a:p>
          <a:p>
            <a:pPr algn="l">
              <a:spcAft>
                <a:spcPts val="600"/>
              </a:spcAft>
            </a:pPr>
            <a:r>
              <a:rPr sz="1600" b="0">
                <a:solidFill>
                  <a:srgbClr val="FFFFFF"/>
                </a:solidFill>
                <a:latin typeface="맑은 고딕"/>
              </a:rPr>
              <a:t>•  AAS 4.48 · CPU per 0.56</a:t>
            </a:r>
          </a:p>
        </p:txBody>
      </p:sp>
    </p:spTree>
    <p:extLst>
      <p:ext uri="{BB962C8B-B14F-4D97-AF65-F5344CB8AC3E}">
        <p14:creationId xmlns:p14="http://schemas.microsoft.com/office/powerpoint/2010/main" val="367592251"/>
      </p:ext>
    </p:extLst>
  </p:cSld>
  <p:clrMapOvr>
    <a:masterClrMapping/>
  </p:clrMapOvr>
</p:sld>
</file>

<file path=ppt/slides/slide9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상위 대기 이벤트 (실측)</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최근 130초 · ON CPU가 EVENT NULL</a:t>
            </a:r>
          </a:p>
        </p:txBody>
      </p:sp>
      <p:sp>
        <p:nvSpPr>
          <p:cNvPr id="6" name="Rectangle 5"/>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tlCol="0" anchor="ctr"/>
          <a:lstStyle/>
          <a:p>
            <a:pPr>
              <a:lnSpc>
                <a:spcPct val="100000"/>
              </a:lnSpc>
              <a:spcAft>
                <a:spcPts val="0"/>
              </a:spcAft>
            </a:pPr>
            <a:r>
              <a:rPr sz="1250" dirty="0" err="1">
                <a:solidFill>
                  <a:srgbClr val="F2F2F2"/>
                </a:solidFill>
                <a:latin typeface="Consolas"/>
              </a:rPr>
              <a:t>SYS@orcl</a:t>
            </a:r>
            <a:r>
              <a:rPr sz="1250" dirty="0">
                <a:solidFill>
                  <a:srgbClr val="F2F2F2"/>
                </a:solidFill>
                <a:latin typeface="Consolas"/>
              </a:rPr>
              <a:t>&gt; SELECT NVL(</a:t>
            </a:r>
            <a:r>
              <a:rPr sz="1250" dirty="0" err="1">
                <a:solidFill>
                  <a:srgbClr val="F2F2F2"/>
                </a:solidFill>
                <a:latin typeface="Consolas"/>
              </a:rPr>
              <a:t>event,'ON</a:t>
            </a:r>
            <a:r>
              <a:rPr sz="1250" dirty="0">
                <a:solidFill>
                  <a:srgbClr val="F2F2F2"/>
                </a:solidFill>
                <a:latin typeface="Consolas"/>
              </a:rPr>
              <a:t> CPU') event, COUNT(*) samples,</a:t>
            </a:r>
          </a:p>
          <a:p>
            <a:pPr>
              <a:lnSpc>
                <a:spcPct val="100000"/>
              </a:lnSpc>
              <a:spcAft>
                <a:spcPts val="0"/>
              </a:spcAft>
            </a:pPr>
            <a:r>
              <a:rPr sz="1250" dirty="0">
                <a:solidFill>
                  <a:srgbClr val="F2F2F2"/>
                </a:solidFill>
                <a:latin typeface="Consolas"/>
              </a:rPr>
              <a:t>  2         ROUND(100*COUNT(*)/SUM(COUNT(*)) OVER(),1) pct</a:t>
            </a:r>
          </a:p>
          <a:p>
            <a:pPr>
              <a:lnSpc>
                <a:spcPct val="100000"/>
              </a:lnSpc>
              <a:spcAft>
                <a:spcPts val="0"/>
              </a:spcAft>
            </a:pPr>
            <a:r>
              <a:rPr sz="1250" dirty="0">
                <a:solidFill>
                  <a:srgbClr val="F2F2F2"/>
                </a:solidFill>
                <a:latin typeface="Consolas"/>
              </a:rPr>
              <a:t>  3       FROM </a:t>
            </a:r>
            <a:r>
              <a:rPr sz="1250" dirty="0" err="1">
                <a:solidFill>
                  <a:srgbClr val="F2F2F2"/>
                </a:solidFill>
                <a:latin typeface="Consolas"/>
              </a:rPr>
              <a:t>v$active_session_history</a:t>
            </a:r>
            <a:endParaRPr sz="1250" dirty="0">
              <a:solidFill>
                <a:srgbClr val="F2F2F2"/>
              </a:solidFill>
              <a:latin typeface="Consolas"/>
            </a:endParaRPr>
          </a:p>
          <a:p>
            <a:pPr>
              <a:lnSpc>
                <a:spcPct val="100000"/>
              </a:lnSpc>
              <a:spcAft>
                <a:spcPts val="0"/>
              </a:spcAft>
            </a:pPr>
            <a:r>
              <a:rPr sz="1250" dirty="0">
                <a:solidFill>
                  <a:srgbClr val="F2F2F2"/>
                </a:solidFill>
                <a:latin typeface="Consolas"/>
              </a:rPr>
              <a:t>  4       WHERE </a:t>
            </a:r>
            <a:r>
              <a:rPr sz="1250" dirty="0" err="1">
                <a:solidFill>
                  <a:srgbClr val="F2F2F2"/>
                </a:solidFill>
                <a:latin typeface="Consolas"/>
              </a:rPr>
              <a:t>sample_time</a:t>
            </a:r>
            <a:r>
              <a:rPr sz="1250" dirty="0">
                <a:solidFill>
                  <a:srgbClr val="F2F2F2"/>
                </a:solidFill>
                <a:latin typeface="Consolas"/>
              </a:rPr>
              <a:t> &gt; SYSTIMESTAMP - INTERVAL '130' SECOND</a:t>
            </a:r>
          </a:p>
          <a:p>
            <a:pPr>
              <a:lnSpc>
                <a:spcPct val="100000"/>
              </a:lnSpc>
              <a:spcAft>
                <a:spcPts val="0"/>
              </a:spcAft>
            </a:pPr>
            <a:r>
              <a:rPr sz="1250" dirty="0">
                <a:solidFill>
                  <a:srgbClr val="F2F2F2"/>
                </a:solidFill>
                <a:latin typeface="Consolas"/>
              </a:rPr>
              <a:t>  5       GROUP BY NVL(</a:t>
            </a:r>
            <a:r>
              <a:rPr sz="1250" dirty="0" err="1">
                <a:solidFill>
                  <a:srgbClr val="F2F2F2"/>
                </a:solidFill>
                <a:latin typeface="Consolas"/>
              </a:rPr>
              <a:t>event,'ON</a:t>
            </a:r>
            <a:r>
              <a:rPr sz="1250" dirty="0">
                <a:solidFill>
                  <a:srgbClr val="F2F2F2"/>
                </a:solidFill>
                <a:latin typeface="Consolas"/>
              </a:rPr>
              <a:t> CPU') ORDER BY samples DESC;</a:t>
            </a:r>
          </a:p>
          <a:p>
            <a:pPr>
              <a:lnSpc>
                <a:spcPct val="100000"/>
              </a:lnSpc>
              <a:spcAft>
                <a:spcPts val="0"/>
              </a:spcAft>
            </a:pPr>
            <a:r>
              <a:rPr sz="1250" dirty="0">
                <a:solidFill>
                  <a:srgbClr val="F2F2F2"/>
                </a:solidFill>
                <a:latin typeface="Consolas"/>
              </a:rPr>
              <a:t> </a:t>
            </a:r>
          </a:p>
          <a:p>
            <a:pPr>
              <a:lnSpc>
                <a:spcPct val="100000"/>
              </a:lnSpc>
              <a:spcAft>
                <a:spcPts val="0"/>
              </a:spcAft>
            </a:pPr>
            <a:r>
              <a:rPr sz="1250" dirty="0">
                <a:solidFill>
                  <a:srgbClr val="F2F2F2"/>
                </a:solidFill>
                <a:latin typeface="Consolas"/>
              </a:rPr>
              <a:t>EVENT                      SAMPLES   PCT</a:t>
            </a:r>
          </a:p>
          <a:p>
            <a:pPr>
              <a:lnSpc>
                <a:spcPct val="100000"/>
              </a:lnSpc>
              <a:spcAft>
                <a:spcPts val="0"/>
              </a:spcAft>
            </a:pPr>
            <a:r>
              <a:rPr sz="1250" dirty="0">
                <a:solidFill>
                  <a:srgbClr val="F2F2F2"/>
                </a:solidFill>
                <a:latin typeface="Consolas"/>
              </a:rPr>
              <a:t>-------------------------- ------- -----</a:t>
            </a:r>
          </a:p>
          <a:p>
            <a:pPr>
              <a:lnSpc>
                <a:spcPct val="100000"/>
              </a:lnSpc>
              <a:spcAft>
                <a:spcPts val="0"/>
              </a:spcAft>
            </a:pPr>
            <a:r>
              <a:rPr sz="1250" dirty="0">
                <a:solidFill>
                  <a:srgbClr val="F2F2F2"/>
                </a:solidFill>
                <a:latin typeface="Consolas"/>
              </a:rPr>
              <a:t>ON CPU                         529  90.7</a:t>
            </a:r>
          </a:p>
          <a:p>
            <a:pPr>
              <a:lnSpc>
                <a:spcPct val="100000"/>
              </a:lnSpc>
              <a:spcAft>
                <a:spcPts val="0"/>
              </a:spcAft>
            </a:pPr>
            <a:r>
              <a:rPr sz="1250" dirty="0">
                <a:solidFill>
                  <a:srgbClr val="F2F2F2"/>
                </a:solidFill>
                <a:latin typeface="Consolas"/>
              </a:rPr>
              <a:t>log file sync                   17   2.9</a:t>
            </a:r>
          </a:p>
          <a:p>
            <a:pPr>
              <a:lnSpc>
                <a:spcPct val="100000"/>
              </a:lnSpc>
              <a:spcAft>
                <a:spcPts val="0"/>
              </a:spcAft>
            </a:pPr>
            <a:r>
              <a:rPr sz="1250" dirty="0">
                <a:solidFill>
                  <a:srgbClr val="F2F2F2"/>
                </a:solidFill>
                <a:latin typeface="Consolas"/>
              </a:rPr>
              <a:t>log file parallel write         14   2.4</a:t>
            </a:r>
          </a:p>
          <a:p>
            <a:pPr>
              <a:lnSpc>
                <a:spcPct val="100000"/>
              </a:lnSpc>
              <a:spcAft>
                <a:spcPts val="0"/>
              </a:spcAft>
            </a:pPr>
            <a:r>
              <a:rPr sz="1250" dirty="0" err="1">
                <a:solidFill>
                  <a:srgbClr val="F2F2F2"/>
                </a:solidFill>
                <a:latin typeface="Consolas"/>
              </a:rPr>
              <a:t>db</a:t>
            </a:r>
            <a:r>
              <a:rPr sz="1250" dirty="0">
                <a:solidFill>
                  <a:srgbClr val="F2F2F2"/>
                </a:solidFill>
                <a:latin typeface="Consolas"/>
              </a:rPr>
              <a:t> file sequential read         10   1.7</a:t>
            </a:r>
          </a:p>
        </p:txBody>
      </p:sp>
    </p:spTree>
    <p:extLst>
      <p:ext uri="{BB962C8B-B14F-4D97-AF65-F5344CB8AC3E}">
        <p14:creationId xmlns:p14="http://schemas.microsoft.com/office/powerpoint/2010/main" val="546612207"/>
      </p:ext>
    </p:extLst>
  </p:cSld>
  <p:clrMapOvr>
    <a:masterClrMapping/>
  </p:clrMapOvr>
</p:sld>
</file>

<file path=ppt/slides/slide9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판독 — CPU가 90%면 어디를 보나</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대기가 아니라 CPU 소비가 병목</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SESSION_STATE가 ON CPU인지 WAITING인지부터 가른다</a:t>
            </a:r>
          </a:p>
          <a:p>
            <a:pPr algn="l">
              <a:spcAft>
                <a:spcPts val="800"/>
              </a:spcAft>
            </a:pPr>
            <a:r>
              <a:rPr sz="1700" b="0">
                <a:solidFill>
                  <a:srgbClr val="222222"/>
                </a:solidFill>
                <a:latin typeface="맑은 고딕"/>
              </a:rPr>
              <a:t>•  ON CPU 90.7% → 병목은 '기다림'이 아니라 'CPU 소비'</a:t>
            </a:r>
          </a:p>
          <a:p>
            <a:pPr algn="l">
              <a:spcAft>
                <a:spcPts val="800"/>
              </a:spcAft>
            </a:pPr>
            <a:r>
              <a:rPr sz="1700" b="0">
                <a:solidFill>
                  <a:srgbClr val="222222"/>
                </a:solidFill>
                <a:latin typeface="맑은 고딕"/>
              </a:rPr>
              <a:t>•  log file sync에 먼저 손대면 헛수고</a:t>
            </a:r>
          </a:p>
          <a:p>
            <a:pPr algn="l">
              <a:spcAft>
                <a:spcPts val="800"/>
              </a:spcAft>
            </a:pPr>
            <a:r>
              <a:rPr sz="1700" b="0">
                <a:solidFill>
                  <a:srgbClr val="222222"/>
                </a:solidFill>
                <a:latin typeface="맑은 고딕"/>
              </a:rPr>
              <a:t>•  다음 수순: CPU를 태우는 상위 SQL_ID로 내려간다</a:t>
            </a:r>
          </a:p>
        </p:txBody>
      </p:sp>
    </p:spTree>
    <p:extLst>
      <p:ext uri="{BB962C8B-B14F-4D97-AF65-F5344CB8AC3E}">
        <p14:creationId xmlns:p14="http://schemas.microsoft.com/office/powerpoint/2010/main" val="3323546942"/>
      </p:ext>
    </p:extLst>
  </p:cSld>
  <p:clrMapOvr>
    <a:masterClrMapping/>
  </p:clrMapOvr>
</p:sld>
</file>

<file path=ppt/slides/slide9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상위 SQL_ID (실측)</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누가 CPU를 태웠나</a:t>
            </a:r>
          </a:p>
        </p:txBody>
      </p:sp>
      <p:sp>
        <p:nvSpPr>
          <p:cNvPr id="6" name="Rectangle 5"/>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tlCol="0" anchor="ctr"/>
          <a:lstStyle/>
          <a:p>
            <a:pPr>
              <a:lnSpc>
                <a:spcPct val="100000"/>
              </a:lnSpc>
              <a:spcAft>
                <a:spcPts val="0"/>
              </a:spcAft>
            </a:pPr>
            <a:r>
              <a:rPr sz="1250" dirty="0" err="1">
                <a:solidFill>
                  <a:srgbClr val="F2F2F2"/>
                </a:solidFill>
                <a:latin typeface="Consolas"/>
              </a:rPr>
              <a:t>SYS@orcl</a:t>
            </a:r>
            <a:r>
              <a:rPr sz="1250" dirty="0">
                <a:solidFill>
                  <a:srgbClr val="F2F2F2"/>
                </a:solidFill>
                <a:latin typeface="Consolas"/>
              </a:rPr>
              <a:t>&gt; SELECT </a:t>
            </a:r>
            <a:r>
              <a:rPr sz="1250" dirty="0" err="1">
                <a:solidFill>
                  <a:srgbClr val="F2F2F2"/>
                </a:solidFill>
                <a:latin typeface="Consolas"/>
              </a:rPr>
              <a:t>sql_id</a:t>
            </a:r>
            <a:r>
              <a:rPr sz="1250" dirty="0">
                <a:solidFill>
                  <a:srgbClr val="F2F2F2"/>
                </a:solidFill>
                <a:latin typeface="Consolas"/>
              </a:rPr>
              <a:t>, COUNT(*) samples,</a:t>
            </a:r>
          </a:p>
          <a:p>
            <a:pPr>
              <a:lnSpc>
                <a:spcPct val="100000"/>
              </a:lnSpc>
              <a:spcAft>
                <a:spcPts val="0"/>
              </a:spcAft>
            </a:pPr>
            <a:r>
              <a:rPr sz="1250" dirty="0">
                <a:solidFill>
                  <a:srgbClr val="F2F2F2"/>
                </a:solidFill>
                <a:latin typeface="Consolas"/>
              </a:rPr>
              <a:t>  2         ROUND(100*RATIO_TO_REPORT(COUNT(*)) OVER(),1) pct</a:t>
            </a:r>
          </a:p>
          <a:p>
            <a:pPr>
              <a:lnSpc>
                <a:spcPct val="100000"/>
              </a:lnSpc>
              <a:spcAft>
                <a:spcPts val="0"/>
              </a:spcAft>
            </a:pPr>
            <a:r>
              <a:rPr sz="1250" dirty="0">
                <a:solidFill>
                  <a:srgbClr val="F2F2F2"/>
                </a:solidFill>
                <a:latin typeface="Consolas"/>
              </a:rPr>
              <a:t>  3       FROM </a:t>
            </a:r>
            <a:r>
              <a:rPr sz="1250" dirty="0" err="1">
                <a:solidFill>
                  <a:srgbClr val="F2F2F2"/>
                </a:solidFill>
                <a:latin typeface="Consolas"/>
              </a:rPr>
              <a:t>v$active_session_history</a:t>
            </a:r>
            <a:endParaRPr sz="1250" dirty="0">
              <a:solidFill>
                <a:srgbClr val="F2F2F2"/>
              </a:solidFill>
              <a:latin typeface="Consolas"/>
            </a:endParaRPr>
          </a:p>
          <a:p>
            <a:pPr>
              <a:lnSpc>
                <a:spcPct val="100000"/>
              </a:lnSpc>
              <a:spcAft>
                <a:spcPts val="0"/>
              </a:spcAft>
            </a:pPr>
            <a:r>
              <a:rPr sz="1250" dirty="0">
                <a:solidFill>
                  <a:srgbClr val="F2F2F2"/>
                </a:solidFill>
                <a:latin typeface="Consolas"/>
              </a:rPr>
              <a:t>  4       WHERE </a:t>
            </a:r>
            <a:r>
              <a:rPr sz="1250" dirty="0" err="1">
                <a:solidFill>
                  <a:srgbClr val="F2F2F2"/>
                </a:solidFill>
                <a:latin typeface="Consolas"/>
              </a:rPr>
              <a:t>sample_time</a:t>
            </a:r>
            <a:r>
              <a:rPr sz="1250" dirty="0">
                <a:solidFill>
                  <a:srgbClr val="F2F2F2"/>
                </a:solidFill>
                <a:latin typeface="Consolas"/>
              </a:rPr>
              <a:t> &gt; SYSTIMESTAMP - INTERVAL '130' SECOND</a:t>
            </a:r>
          </a:p>
          <a:p>
            <a:pPr>
              <a:lnSpc>
                <a:spcPct val="100000"/>
              </a:lnSpc>
              <a:spcAft>
                <a:spcPts val="0"/>
              </a:spcAft>
            </a:pPr>
            <a:r>
              <a:rPr sz="1250" dirty="0">
                <a:solidFill>
                  <a:srgbClr val="F2F2F2"/>
                </a:solidFill>
                <a:latin typeface="Consolas"/>
              </a:rPr>
              <a:t>  5         AND </a:t>
            </a:r>
            <a:r>
              <a:rPr sz="1250" dirty="0" err="1">
                <a:solidFill>
                  <a:srgbClr val="F2F2F2"/>
                </a:solidFill>
                <a:latin typeface="Consolas"/>
              </a:rPr>
              <a:t>sql_id</a:t>
            </a:r>
            <a:r>
              <a:rPr sz="1250" dirty="0">
                <a:solidFill>
                  <a:srgbClr val="F2F2F2"/>
                </a:solidFill>
                <a:latin typeface="Consolas"/>
              </a:rPr>
              <a:t> IS NOT NULL</a:t>
            </a:r>
          </a:p>
          <a:p>
            <a:pPr>
              <a:lnSpc>
                <a:spcPct val="100000"/>
              </a:lnSpc>
              <a:spcAft>
                <a:spcPts val="0"/>
              </a:spcAft>
            </a:pPr>
            <a:r>
              <a:rPr sz="1250" dirty="0">
                <a:solidFill>
                  <a:srgbClr val="F2F2F2"/>
                </a:solidFill>
                <a:latin typeface="Consolas"/>
              </a:rPr>
              <a:t>  6       GROUP BY </a:t>
            </a:r>
            <a:r>
              <a:rPr sz="1250" dirty="0" err="1">
                <a:solidFill>
                  <a:srgbClr val="F2F2F2"/>
                </a:solidFill>
                <a:latin typeface="Consolas"/>
              </a:rPr>
              <a:t>sql_id</a:t>
            </a:r>
            <a:r>
              <a:rPr sz="1250" dirty="0">
                <a:solidFill>
                  <a:srgbClr val="F2F2F2"/>
                </a:solidFill>
                <a:latin typeface="Consolas"/>
              </a:rPr>
              <a:t> ORDER BY samples DESC;</a:t>
            </a:r>
          </a:p>
          <a:p>
            <a:pPr>
              <a:lnSpc>
                <a:spcPct val="100000"/>
              </a:lnSpc>
              <a:spcAft>
                <a:spcPts val="0"/>
              </a:spcAft>
            </a:pPr>
            <a:r>
              <a:rPr sz="1250" dirty="0">
                <a:solidFill>
                  <a:srgbClr val="F2F2F2"/>
                </a:solidFill>
                <a:latin typeface="Consolas"/>
              </a:rPr>
              <a:t> </a:t>
            </a:r>
          </a:p>
          <a:p>
            <a:pPr>
              <a:lnSpc>
                <a:spcPct val="100000"/>
              </a:lnSpc>
              <a:spcAft>
                <a:spcPts val="0"/>
              </a:spcAft>
            </a:pPr>
            <a:r>
              <a:rPr sz="1250" dirty="0">
                <a:solidFill>
                  <a:srgbClr val="F2F2F2"/>
                </a:solidFill>
                <a:latin typeface="Consolas"/>
              </a:rPr>
              <a:t>SQL_ID          SAMPLES   PCT</a:t>
            </a:r>
          </a:p>
          <a:p>
            <a:pPr>
              <a:lnSpc>
                <a:spcPct val="100000"/>
              </a:lnSpc>
              <a:spcAft>
                <a:spcPts val="0"/>
              </a:spcAft>
            </a:pPr>
            <a:r>
              <a:rPr sz="1250" dirty="0">
                <a:solidFill>
                  <a:srgbClr val="F2F2F2"/>
                </a:solidFill>
                <a:latin typeface="Consolas"/>
              </a:rPr>
              <a:t>------------- --------- -----</a:t>
            </a:r>
          </a:p>
          <a:p>
            <a:pPr>
              <a:lnSpc>
                <a:spcPct val="100000"/>
              </a:lnSpc>
              <a:spcAft>
                <a:spcPts val="0"/>
              </a:spcAft>
            </a:pPr>
            <a:r>
              <a:rPr sz="1250" dirty="0">
                <a:solidFill>
                  <a:srgbClr val="F2F2F2"/>
                </a:solidFill>
                <a:latin typeface="Consolas"/>
              </a:rPr>
              <a:t>9vmszgd1ft9x0       186  52.1</a:t>
            </a:r>
          </a:p>
          <a:p>
            <a:pPr>
              <a:lnSpc>
                <a:spcPct val="100000"/>
              </a:lnSpc>
              <a:spcAft>
                <a:spcPts val="0"/>
              </a:spcAft>
            </a:pPr>
            <a:r>
              <a:rPr sz="1250" dirty="0">
                <a:solidFill>
                  <a:srgbClr val="F2F2F2"/>
                </a:solidFill>
                <a:latin typeface="Consolas"/>
              </a:rPr>
              <a:t>43fd4b2pxfzvm       154  43.1</a:t>
            </a:r>
          </a:p>
        </p:txBody>
      </p:sp>
    </p:spTree>
    <p:extLst>
      <p:ext uri="{BB962C8B-B14F-4D97-AF65-F5344CB8AC3E}">
        <p14:creationId xmlns:p14="http://schemas.microsoft.com/office/powerpoint/2010/main" val="190868491"/>
      </p:ext>
    </p:extLst>
  </p:cSld>
  <p:clrMapOvr>
    <a:masterClrMapping/>
  </p:clrMapOvr>
</p:sld>
</file>

<file path=ppt/slides/slide9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ASH 보고서 발췌 판독</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헤더 요약이 직접 조회와 일치하나</a:t>
            </a:r>
          </a:p>
        </p:txBody>
      </p:sp>
      <p:sp>
        <p:nvSpPr>
          <p:cNvPr id="6" name="Rectangle 5"/>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tlCol="0" anchor="ctr"/>
          <a:lstStyle/>
          <a:p>
            <a:pPr>
              <a:lnSpc>
                <a:spcPct val="100000"/>
              </a:lnSpc>
              <a:spcAft>
                <a:spcPts val="0"/>
              </a:spcAft>
            </a:pPr>
            <a:r>
              <a:rPr sz="1250" dirty="0">
                <a:solidFill>
                  <a:srgbClr val="F2F2F2"/>
                </a:solidFill>
                <a:latin typeface="Consolas"/>
              </a:rPr>
              <a:t>ASH Report For ORCL/</a:t>
            </a:r>
            <a:r>
              <a:rPr sz="1250" dirty="0" err="1">
                <a:solidFill>
                  <a:srgbClr val="F2F2F2"/>
                </a:solidFill>
                <a:latin typeface="Consolas"/>
              </a:rPr>
              <a:t>orcl</a:t>
            </a:r>
            <a:endParaRPr sz="1250" dirty="0">
              <a:solidFill>
                <a:srgbClr val="F2F2F2"/>
              </a:solidFill>
              <a:latin typeface="Consolas"/>
            </a:endParaRPr>
          </a:p>
          <a:p>
            <a:pPr>
              <a:lnSpc>
                <a:spcPct val="100000"/>
              </a:lnSpc>
              <a:spcAft>
                <a:spcPts val="0"/>
              </a:spcAft>
            </a:pPr>
            <a:r>
              <a:rPr sz="1250" dirty="0">
                <a:solidFill>
                  <a:srgbClr val="F2F2F2"/>
                </a:solidFill>
                <a:latin typeface="Consolas"/>
              </a:rPr>
              <a:t>          Analysis Begin Time:   25-Aug-26 12:15:20</a:t>
            </a:r>
          </a:p>
          <a:p>
            <a:pPr>
              <a:lnSpc>
                <a:spcPct val="100000"/>
              </a:lnSpc>
              <a:spcAft>
                <a:spcPts val="0"/>
              </a:spcAft>
            </a:pPr>
            <a:r>
              <a:rPr sz="1250" dirty="0">
                <a:solidFill>
                  <a:srgbClr val="F2F2F2"/>
                </a:solidFill>
                <a:latin typeface="Consolas"/>
              </a:rPr>
              <a:t>                 Sample Count:         582</a:t>
            </a:r>
          </a:p>
          <a:p>
            <a:pPr>
              <a:lnSpc>
                <a:spcPct val="100000"/>
              </a:lnSpc>
              <a:spcAft>
                <a:spcPts val="0"/>
              </a:spcAft>
            </a:pPr>
            <a:r>
              <a:rPr sz="1250" dirty="0">
                <a:solidFill>
                  <a:srgbClr val="F2F2F2"/>
                </a:solidFill>
                <a:latin typeface="Consolas"/>
              </a:rPr>
              <a:t>      Average Active Sessions:        4.48</a:t>
            </a:r>
          </a:p>
          <a:p>
            <a:pPr>
              <a:lnSpc>
                <a:spcPct val="100000"/>
              </a:lnSpc>
              <a:spcAft>
                <a:spcPts val="0"/>
              </a:spcAft>
            </a:pPr>
            <a:r>
              <a:rPr sz="1250" dirty="0">
                <a:solidFill>
                  <a:srgbClr val="F2F2F2"/>
                </a:solidFill>
                <a:latin typeface="Consolas"/>
              </a:rPr>
              <a:t>  Avg. Active Session per CPU:        0.56</a:t>
            </a:r>
          </a:p>
          <a:p>
            <a:pPr>
              <a:lnSpc>
                <a:spcPct val="100000"/>
              </a:lnSpc>
              <a:spcAft>
                <a:spcPts val="0"/>
              </a:spcAft>
            </a:pPr>
            <a:r>
              <a:rPr sz="1250" dirty="0">
                <a:solidFill>
                  <a:srgbClr val="F2F2F2"/>
                </a:solidFill>
                <a:latin typeface="Consolas"/>
              </a:rPr>
              <a:t> </a:t>
            </a:r>
          </a:p>
          <a:p>
            <a:pPr>
              <a:lnSpc>
                <a:spcPct val="100000"/>
              </a:lnSpc>
              <a:spcAft>
                <a:spcPts val="0"/>
              </a:spcAft>
            </a:pPr>
            <a:r>
              <a:rPr sz="1250" dirty="0">
                <a:solidFill>
                  <a:srgbClr val="F2F2F2"/>
                </a:solidFill>
                <a:latin typeface="Consolas"/>
              </a:rPr>
              <a:t>Top User Events           Event Class  % Event  </a:t>
            </a:r>
            <a:r>
              <a:rPr sz="1250" dirty="0" err="1">
                <a:solidFill>
                  <a:srgbClr val="F2F2F2"/>
                </a:solidFill>
                <a:latin typeface="Consolas"/>
              </a:rPr>
              <a:t>AvgAct</a:t>
            </a:r>
            <a:endParaRPr sz="1250" dirty="0">
              <a:solidFill>
                <a:srgbClr val="F2F2F2"/>
              </a:solidFill>
              <a:latin typeface="Consolas"/>
            </a:endParaRPr>
          </a:p>
          <a:p>
            <a:pPr>
              <a:lnSpc>
                <a:spcPct val="100000"/>
              </a:lnSpc>
              <a:spcAft>
                <a:spcPts val="0"/>
              </a:spcAft>
            </a:pPr>
            <a:r>
              <a:rPr sz="1250" dirty="0">
                <a:solidFill>
                  <a:srgbClr val="F2F2F2"/>
                </a:solidFill>
                <a:latin typeface="Consolas"/>
              </a:rPr>
              <a:t>------------------------- ----------- -------- -------</a:t>
            </a:r>
          </a:p>
          <a:p>
            <a:pPr>
              <a:lnSpc>
                <a:spcPct val="100000"/>
              </a:lnSpc>
              <a:spcAft>
                <a:spcPts val="0"/>
              </a:spcAft>
            </a:pPr>
            <a:r>
              <a:rPr sz="1250" dirty="0">
                <a:solidFill>
                  <a:srgbClr val="F2F2F2"/>
                </a:solidFill>
                <a:latin typeface="Consolas"/>
              </a:rPr>
              <a:t>CPU + Wait for CPU        </a:t>
            </a:r>
            <a:r>
              <a:rPr sz="1250" dirty="0" err="1">
                <a:solidFill>
                  <a:srgbClr val="F2F2F2"/>
                </a:solidFill>
                <a:latin typeface="Consolas"/>
              </a:rPr>
              <a:t>CPU</a:t>
            </a:r>
            <a:r>
              <a:rPr sz="1250" dirty="0">
                <a:solidFill>
                  <a:srgbClr val="F2F2F2"/>
                </a:solidFill>
                <a:latin typeface="Consolas"/>
              </a:rPr>
              <a:t>            89.69    4.02</a:t>
            </a:r>
          </a:p>
          <a:p>
            <a:pPr>
              <a:lnSpc>
                <a:spcPct val="100000"/>
              </a:lnSpc>
              <a:spcAft>
                <a:spcPts val="0"/>
              </a:spcAft>
            </a:pPr>
            <a:r>
              <a:rPr sz="1250" dirty="0">
                <a:solidFill>
                  <a:srgbClr val="F2F2F2"/>
                </a:solidFill>
                <a:latin typeface="Consolas"/>
              </a:rPr>
              <a:t>log file sync             Commit          2.92    0.13</a:t>
            </a:r>
          </a:p>
          <a:p>
            <a:pPr>
              <a:lnSpc>
                <a:spcPct val="100000"/>
              </a:lnSpc>
              <a:spcAft>
                <a:spcPts val="0"/>
              </a:spcAft>
            </a:pPr>
            <a:r>
              <a:rPr sz="1250" dirty="0" err="1">
                <a:solidFill>
                  <a:srgbClr val="F2F2F2"/>
                </a:solidFill>
                <a:latin typeface="Consolas"/>
              </a:rPr>
              <a:t>db</a:t>
            </a:r>
            <a:r>
              <a:rPr sz="1250" dirty="0">
                <a:solidFill>
                  <a:srgbClr val="F2F2F2"/>
                </a:solidFill>
                <a:latin typeface="Consolas"/>
              </a:rPr>
              <a:t> file sequential read   User I/O        1.72    0.08</a:t>
            </a:r>
          </a:p>
        </p:txBody>
      </p:sp>
    </p:spTree>
    <p:extLst>
      <p:ext uri="{BB962C8B-B14F-4D97-AF65-F5344CB8AC3E}">
        <p14:creationId xmlns:p14="http://schemas.microsoft.com/office/powerpoint/2010/main" val="3143130381"/>
      </p:ext>
    </p:extLst>
  </p:cSld>
  <p:clrMapOvr>
    <a:masterClrMapping/>
  </p:clrMapOvr>
</p:sld>
</file>

<file path=ppt/slides/slide9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Activity Over Time — 슬롯 skew</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어느 1분에 부하가 몰렸나</a:t>
            </a:r>
          </a:p>
        </p:txBody>
      </p:sp>
      <p:sp>
        <p:nvSpPr>
          <p:cNvPr id="6" name="Rectangle 5"/>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tlCol="0" anchor="ctr"/>
          <a:lstStyle/>
          <a:p>
            <a:pPr>
              <a:lnSpc>
                <a:spcPct val="100000"/>
              </a:lnSpc>
              <a:spcAft>
                <a:spcPts val="0"/>
              </a:spcAft>
            </a:pPr>
            <a:r>
              <a:rPr sz="1250" dirty="0" err="1">
                <a:solidFill>
                  <a:srgbClr val="F2F2F2"/>
                </a:solidFill>
                <a:latin typeface="Consolas"/>
              </a:rPr>
              <a:t>SYS@orcl</a:t>
            </a:r>
            <a:r>
              <a:rPr sz="1250" dirty="0">
                <a:solidFill>
                  <a:srgbClr val="F2F2F2"/>
                </a:solidFill>
                <a:latin typeface="Consolas"/>
              </a:rPr>
              <a:t>&gt; SELECT TO_CHAR(sample_time,'HH24:MI') slot,</a:t>
            </a:r>
          </a:p>
          <a:p>
            <a:pPr>
              <a:lnSpc>
                <a:spcPct val="100000"/>
              </a:lnSpc>
              <a:spcAft>
                <a:spcPts val="0"/>
              </a:spcAft>
            </a:pPr>
            <a:r>
              <a:rPr sz="1250" dirty="0">
                <a:solidFill>
                  <a:srgbClr val="F2F2F2"/>
                </a:solidFill>
                <a:latin typeface="Consolas"/>
              </a:rPr>
              <a:t>  2         COUNT(*) </a:t>
            </a:r>
            <a:r>
              <a:rPr sz="1250" dirty="0" err="1">
                <a:solidFill>
                  <a:srgbClr val="F2F2F2"/>
                </a:solidFill>
                <a:latin typeface="Consolas"/>
              </a:rPr>
              <a:t>slot_count</a:t>
            </a:r>
            <a:r>
              <a:rPr sz="1250" dirty="0">
                <a:solidFill>
                  <a:srgbClr val="F2F2F2"/>
                </a:solidFill>
                <a:latin typeface="Consolas"/>
              </a:rPr>
              <a:t>,</a:t>
            </a:r>
          </a:p>
          <a:p>
            <a:pPr>
              <a:lnSpc>
                <a:spcPct val="100000"/>
              </a:lnSpc>
              <a:spcAft>
                <a:spcPts val="0"/>
              </a:spcAft>
            </a:pPr>
            <a:r>
              <a:rPr sz="1250" dirty="0">
                <a:solidFill>
                  <a:srgbClr val="F2F2F2"/>
                </a:solidFill>
                <a:latin typeface="Consolas"/>
              </a:rPr>
              <a:t>  3         SUM(CASE WHEN </a:t>
            </a:r>
            <a:r>
              <a:rPr sz="1250" dirty="0" err="1">
                <a:solidFill>
                  <a:srgbClr val="F2F2F2"/>
                </a:solidFill>
                <a:latin typeface="Consolas"/>
              </a:rPr>
              <a:t>session_state</a:t>
            </a:r>
            <a:r>
              <a:rPr sz="1250" dirty="0">
                <a:solidFill>
                  <a:srgbClr val="F2F2F2"/>
                </a:solidFill>
                <a:latin typeface="Consolas"/>
              </a:rPr>
              <a:t>='ON CPU' THEN 1 END) </a:t>
            </a:r>
            <a:r>
              <a:rPr sz="1250" dirty="0" err="1">
                <a:solidFill>
                  <a:srgbClr val="F2F2F2"/>
                </a:solidFill>
                <a:latin typeface="Consolas"/>
              </a:rPr>
              <a:t>on_cpu</a:t>
            </a:r>
            <a:endParaRPr sz="1250" dirty="0">
              <a:solidFill>
                <a:srgbClr val="F2F2F2"/>
              </a:solidFill>
              <a:latin typeface="Consolas"/>
            </a:endParaRPr>
          </a:p>
          <a:p>
            <a:pPr>
              <a:lnSpc>
                <a:spcPct val="100000"/>
              </a:lnSpc>
              <a:spcAft>
                <a:spcPts val="0"/>
              </a:spcAft>
            </a:pPr>
            <a:r>
              <a:rPr sz="1250" dirty="0">
                <a:solidFill>
                  <a:srgbClr val="F2F2F2"/>
                </a:solidFill>
                <a:latin typeface="Consolas"/>
              </a:rPr>
              <a:t>  4       FROM </a:t>
            </a:r>
            <a:r>
              <a:rPr sz="1250" dirty="0" err="1">
                <a:solidFill>
                  <a:srgbClr val="F2F2F2"/>
                </a:solidFill>
                <a:latin typeface="Consolas"/>
              </a:rPr>
              <a:t>v$active_session_history</a:t>
            </a:r>
            <a:endParaRPr sz="1250" dirty="0">
              <a:solidFill>
                <a:srgbClr val="F2F2F2"/>
              </a:solidFill>
              <a:latin typeface="Consolas"/>
            </a:endParaRPr>
          </a:p>
          <a:p>
            <a:pPr>
              <a:lnSpc>
                <a:spcPct val="100000"/>
              </a:lnSpc>
              <a:spcAft>
                <a:spcPts val="0"/>
              </a:spcAft>
            </a:pPr>
            <a:r>
              <a:rPr sz="1250" dirty="0">
                <a:solidFill>
                  <a:srgbClr val="F2F2F2"/>
                </a:solidFill>
                <a:latin typeface="Consolas"/>
              </a:rPr>
              <a:t>  5       WHERE </a:t>
            </a:r>
            <a:r>
              <a:rPr sz="1250" dirty="0" err="1">
                <a:solidFill>
                  <a:srgbClr val="F2F2F2"/>
                </a:solidFill>
                <a:latin typeface="Consolas"/>
              </a:rPr>
              <a:t>sample_time</a:t>
            </a:r>
            <a:r>
              <a:rPr sz="1250" dirty="0">
                <a:solidFill>
                  <a:srgbClr val="F2F2F2"/>
                </a:solidFill>
                <a:latin typeface="Consolas"/>
              </a:rPr>
              <a:t> BETWEEN ... AND ...</a:t>
            </a:r>
          </a:p>
          <a:p>
            <a:pPr>
              <a:lnSpc>
                <a:spcPct val="100000"/>
              </a:lnSpc>
              <a:spcAft>
                <a:spcPts val="0"/>
              </a:spcAft>
            </a:pPr>
            <a:r>
              <a:rPr sz="1250" dirty="0">
                <a:solidFill>
                  <a:srgbClr val="F2F2F2"/>
                </a:solidFill>
                <a:latin typeface="Consolas"/>
              </a:rPr>
              <a:t>  6       GROUP BY TO_CHAR(sample_time,'HH24:MI') ORDER BY slot;</a:t>
            </a:r>
          </a:p>
          <a:p>
            <a:pPr>
              <a:lnSpc>
                <a:spcPct val="100000"/>
              </a:lnSpc>
              <a:spcAft>
                <a:spcPts val="0"/>
              </a:spcAft>
            </a:pPr>
            <a:r>
              <a:rPr sz="1250" dirty="0">
                <a:solidFill>
                  <a:srgbClr val="F2F2F2"/>
                </a:solidFill>
                <a:latin typeface="Consolas"/>
              </a:rPr>
              <a:t> </a:t>
            </a:r>
          </a:p>
          <a:p>
            <a:pPr>
              <a:lnSpc>
                <a:spcPct val="100000"/>
              </a:lnSpc>
              <a:spcAft>
                <a:spcPts val="0"/>
              </a:spcAft>
            </a:pPr>
            <a:r>
              <a:rPr sz="1250" dirty="0">
                <a:solidFill>
                  <a:srgbClr val="F2F2F2"/>
                </a:solidFill>
                <a:latin typeface="Consolas"/>
              </a:rPr>
              <a:t>SLOT   SLOT_COUNT   ON_CPU</a:t>
            </a:r>
          </a:p>
          <a:p>
            <a:pPr>
              <a:lnSpc>
                <a:spcPct val="100000"/>
              </a:lnSpc>
              <a:spcAft>
                <a:spcPts val="0"/>
              </a:spcAft>
            </a:pPr>
            <a:r>
              <a:rPr sz="1250" dirty="0">
                <a:solidFill>
                  <a:srgbClr val="F2F2F2"/>
                </a:solidFill>
                <a:latin typeface="Consolas"/>
              </a:rPr>
              <a:t>----- ----------- --------</a:t>
            </a:r>
          </a:p>
          <a:p>
            <a:pPr>
              <a:lnSpc>
                <a:spcPct val="100000"/>
              </a:lnSpc>
              <a:spcAft>
                <a:spcPts val="0"/>
              </a:spcAft>
            </a:pPr>
            <a:r>
              <a:rPr sz="1250" dirty="0">
                <a:solidFill>
                  <a:srgbClr val="F2F2F2"/>
                </a:solidFill>
                <a:latin typeface="Consolas"/>
              </a:rPr>
              <a:t>12:15         198      181</a:t>
            </a:r>
          </a:p>
          <a:p>
            <a:pPr>
              <a:lnSpc>
                <a:spcPct val="100000"/>
              </a:lnSpc>
              <a:spcAft>
                <a:spcPts val="0"/>
              </a:spcAft>
            </a:pPr>
            <a:r>
              <a:rPr sz="1250" dirty="0">
                <a:solidFill>
                  <a:srgbClr val="F2F2F2"/>
                </a:solidFill>
                <a:latin typeface="Consolas"/>
              </a:rPr>
              <a:t>12:16         241      219</a:t>
            </a:r>
          </a:p>
          <a:p>
            <a:pPr>
              <a:lnSpc>
                <a:spcPct val="100000"/>
              </a:lnSpc>
              <a:spcAft>
                <a:spcPts val="0"/>
              </a:spcAft>
            </a:pPr>
            <a:r>
              <a:rPr sz="1250" dirty="0">
                <a:solidFill>
                  <a:srgbClr val="F2F2F2"/>
                </a:solidFill>
                <a:latin typeface="Consolas"/>
              </a:rPr>
              <a:t>12:17         143      129</a:t>
            </a:r>
          </a:p>
        </p:txBody>
      </p:sp>
    </p:spTree>
    <p:extLst>
      <p:ext uri="{BB962C8B-B14F-4D97-AF65-F5344CB8AC3E}">
        <p14:creationId xmlns:p14="http://schemas.microsoft.com/office/powerpoint/2010/main" val="3544414613"/>
      </p:ext>
    </p:extLst>
  </p:cSld>
  <p:clrMapOvr>
    <a:masterClrMapping/>
  </p:clrMapOvr>
</p:sld>
</file>

<file path=ppt/slides/slide10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25.6</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세션 단위 추적</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rPr>
              <a:t>•  한 세션의 궤적을 시간순으로</a:t>
            </a:r>
          </a:p>
          <a:p>
            <a:pPr algn="l">
              <a:spcAft>
                <a:spcPts val="600"/>
              </a:spcAft>
            </a:pPr>
            <a:r>
              <a:rPr sz="1600" b="0">
                <a:solidFill>
                  <a:srgbClr val="FFFFFF"/>
                </a:solidFill>
                <a:latin typeface="맑은 고딕"/>
              </a:rPr>
              <a:t>•  SAMPLE_TIME 순 재구성</a:t>
            </a:r>
          </a:p>
          <a:p>
            <a:pPr algn="l">
              <a:spcAft>
                <a:spcPts val="600"/>
              </a:spcAft>
            </a:pPr>
            <a:r>
              <a:rPr sz="1600" b="0">
                <a:solidFill>
                  <a:srgbClr val="FFFFFF"/>
                </a:solidFill>
                <a:latin typeface="맑은 고딕"/>
              </a:rPr>
              <a:t>•  언제 무엇 때문에 멈췄나</a:t>
            </a:r>
          </a:p>
          <a:p>
            <a:pPr algn="l">
              <a:spcAft>
                <a:spcPts val="600"/>
              </a:spcAft>
            </a:pPr>
            <a:r>
              <a:rPr sz="1600" b="0">
                <a:solidFill>
                  <a:srgbClr val="FFFFFF"/>
                </a:solidFill>
                <a:latin typeface="맑은 고딕"/>
              </a:rPr>
              <a:t>•  BLOCKING_SESSION 역추적</a:t>
            </a:r>
          </a:p>
        </p:txBody>
      </p:sp>
    </p:spTree>
    <p:extLst>
      <p:ext uri="{BB962C8B-B14F-4D97-AF65-F5344CB8AC3E}">
        <p14:creationId xmlns:p14="http://schemas.microsoft.com/office/powerpoint/2010/main" val="2500781692"/>
      </p:ext>
    </p:extLst>
  </p:cSld>
  <p:clrMapOvr>
    <a:masterClrMapping/>
  </p:clrMapOvr>
</p:sld>
</file>

<file path=ppt/slides/slide10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한 세션의 10초 재구성</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집계로는 안 보이는 사건의 흐름</a:t>
            </a:r>
          </a:p>
        </p:txBody>
      </p:sp>
      <p:sp>
        <p:nvSpPr>
          <p:cNvPr id="6" name="Rectangle 5"/>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tlCol="0" anchor="ctr"/>
          <a:lstStyle/>
          <a:p>
            <a:pPr>
              <a:lnSpc>
                <a:spcPct val="100000"/>
              </a:lnSpc>
              <a:spcAft>
                <a:spcPts val="0"/>
              </a:spcAft>
            </a:pPr>
            <a:r>
              <a:rPr sz="1250" dirty="0" err="1">
                <a:solidFill>
                  <a:srgbClr val="F2F2F2"/>
                </a:solidFill>
                <a:latin typeface="Consolas"/>
              </a:rPr>
              <a:t>SYS@orcl</a:t>
            </a:r>
            <a:r>
              <a:rPr sz="1250" dirty="0">
                <a:solidFill>
                  <a:srgbClr val="F2F2F2"/>
                </a:solidFill>
                <a:latin typeface="Consolas"/>
              </a:rPr>
              <a:t>&gt; SELECT </a:t>
            </a:r>
            <a:r>
              <a:rPr sz="1250" dirty="0" err="1">
                <a:solidFill>
                  <a:srgbClr val="F2F2F2"/>
                </a:solidFill>
                <a:latin typeface="Consolas"/>
              </a:rPr>
              <a:t>sample_time</a:t>
            </a:r>
            <a:r>
              <a:rPr sz="1250" dirty="0">
                <a:solidFill>
                  <a:srgbClr val="F2F2F2"/>
                </a:solidFill>
                <a:latin typeface="Consolas"/>
              </a:rPr>
              <a:t>, </a:t>
            </a:r>
            <a:r>
              <a:rPr sz="1250" dirty="0" err="1">
                <a:solidFill>
                  <a:srgbClr val="F2F2F2"/>
                </a:solidFill>
                <a:latin typeface="Consolas"/>
              </a:rPr>
              <a:t>session_state</a:t>
            </a:r>
            <a:r>
              <a:rPr sz="1250" dirty="0">
                <a:solidFill>
                  <a:srgbClr val="F2F2F2"/>
                </a:solidFill>
                <a:latin typeface="Consolas"/>
              </a:rPr>
              <a:t> st, event, </a:t>
            </a:r>
            <a:r>
              <a:rPr sz="1250" dirty="0" err="1">
                <a:solidFill>
                  <a:srgbClr val="F2F2F2"/>
                </a:solidFill>
                <a:latin typeface="Consolas"/>
              </a:rPr>
              <a:t>sql_id</a:t>
            </a:r>
            <a:endParaRPr sz="1250" dirty="0">
              <a:solidFill>
                <a:srgbClr val="F2F2F2"/>
              </a:solidFill>
              <a:latin typeface="Consolas"/>
            </a:endParaRPr>
          </a:p>
          <a:p>
            <a:pPr>
              <a:lnSpc>
                <a:spcPct val="100000"/>
              </a:lnSpc>
              <a:spcAft>
                <a:spcPts val="0"/>
              </a:spcAft>
            </a:pPr>
            <a:r>
              <a:rPr sz="1250" dirty="0">
                <a:solidFill>
                  <a:srgbClr val="F2F2F2"/>
                </a:solidFill>
                <a:latin typeface="Consolas"/>
              </a:rPr>
              <a:t>  2       FROM </a:t>
            </a:r>
            <a:r>
              <a:rPr sz="1250" dirty="0" err="1">
                <a:solidFill>
                  <a:srgbClr val="F2F2F2"/>
                </a:solidFill>
                <a:latin typeface="Consolas"/>
              </a:rPr>
              <a:t>v$active_session_history</a:t>
            </a:r>
            <a:endParaRPr sz="1250" dirty="0">
              <a:solidFill>
                <a:srgbClr val="F2F2F2"/>
              </a:solidFill>
              <a:latin typeface="Consolas"/>
            </a:endParaRPr>
          </a:p>
          <a:p>
            <a:pPr>
              <a:lnSpc>
                <a:spcPct val="100000"/>
              </a:lnSpc>
              <a:spcAft>
                <a:spcPts val="0"/>
              </a:spcAft>
            </a:pPr>
            <a:r>
              <a:rPr sz="1250" dirty="0">
                <a:solidFill>
                  <a:srgbClr val="F2F2F2"/>
                </a:solidFill>
                <a:latin typeface="Consolas"/>
              </a:rPr>
              <a:t>  3       WHERE </a:t>
            </a:r>
            <a:r>
              <a:rPr sz="1250" dirty="0" err="1">
                <a:solidFill>
                  <a:srgbClr val="F2F2F2"/>
                </a:solidFill>
                <a:latin typeface="Consolas"/>
              </a:rPr>
              <a:t>session_id</a:t>
            </a:r>
            <a:r>
              <a:rPr sz="1250" dirty="0">
                <a:solidFill>
                  <a:srgbClr val="F2F2F2"/>
                </a:solidFill>
                <a:latin typeface="Consolas"/>
              </a:rPr>
              <a:t> = 45</a:t>
            </a:r>
          </a:p>
          <a:p>
            <a:pPr>
              <a:lnSpc>
                <a:spcPct val="100000"/>
              </a:lnSpc>
              <a:spcAft>
                <a:spcPts val="0"/>
              </a:spcAft>
            </a:pPr>
            <a:r>
              <a:rPr sz="1250" dirty="0">
                <a:solidFill>
                  <a:srgbClr val="F2F2F2"/>
                </a:solidFill>
                <a:latin typeface="Consolas"/>
              </a:rPr>
              <a:t>  4         AND </a:t>
            </a:r>
            <a:r>
              <a:rPr sz="1250" dirty="0" err="1">
                <a:solidFill>
                  <a:srgbClr val="F2F2F2"/>
                </a:solidFill>
                <a:latin typeface="Consolas"/>
              </a:rPr>
              <a:t>sample_time</a:t>
            </a:r>
            <a:r>
              <a:rPr sz="1250" dirty="0">
                <a:solidFill>
                  <a:srgbClr val="F2F2F2"/>
                </a:solidFill>
                <a:latin typeface="Consolas"/>
              </a:rPr>
              <a:t> BETWEEN ... AND ... ORDER BY </a:t>
            </a:r>
            <a:r>
              <a:rPr sz="1250" dirty="0" err="1">
                <a:solidFill>
                  <a:srgbClr val="F2F2F2"/>
                </a:solidFill>
                <a:latin typeface="Consolas"/>
              </a:rPr>
              <a:t>sample_time</a:t>
            </a:r>
            <a:r>
              <a:rPr sz="1250" dirty="0">
                <a:solidFill>
                  <a:srgbClr val="F2F2F2"/>
                </a:solidFill>
                <a:latin typeface="Consolas"/>
              </a:rPr>
              <a:t>;</a:t>
            </a:r>
          </a:p>
          <a:p>
            <a:pPr>
              <a:lnSpc>
                <a:spcPct val="100000"/>
              </a:lnSpc>
              <a:spcAft>
                <a:spcPts val="0"/>
              </a:spcAft>
            </a:pPr>
            <a:r>
              <a:rPr sz="1250" dirty="0">
                <a:solidFill>
                  <a:srgbClr val="F2F2F2"/>
                </a:solidFill>
                <a:latin typeface="Consolas"/>
              </a:rPr>
              <a:t> </a:t>
            </a:r>
          </a:p>
          <a:p>
            <a:pPr>
              <a:lnSpc>
                <a:spcPct val="100000"/>
              </a:lnSpc>
              <a:spcAft>
                <a:spcPts val="0"/>
              </a:spcAft>
            </a:pPr>
            <a:r>
              <a:rPr sz="1250" dirty="0">
                <a:solidFill>
                  <a:srgbClr val="F2F2F2"/>
                </a:solidFill>
                <a:latin typeface="Consolas"/>
              </a:rPr>
              <a:t>SAMPLE_TIME        ST      EVENT           SQL_ID</a:t>
            </a:r>
          </a:p>
          <a:p>
            <a:pPr>
              <a:lnSpc>
                <a:spcPct val="100000"/>
              </a:lnSpc>
              <a:spcAft>
                <a:spcPts val="0"/>
              </a:spcAft>
            </a:pPr>
            <a:r>
              <a:rPr sz="1250" dirty="0">
                <a:solidFill>
                  <a:srgbClr val="F2F2F2"/>
                </a:solidFill>
                <a:latin typeface="Consolas"/>
              </a:rPr>
              <a:t>------------------ ------- --------------- -------------</a:t>
            </a:r>
          </a:p>
          <a:p>
            <a:pPr>
              <a:lnSpc>
                <a:spcPct val="100000"/>
              </a:lnSpc>
              <a:spcAft>
                <a:spcPts val="0"/>
              </a:spcAft>
            </a:pPr>
            <a:r>
              <a:rPr sz="1250" dirty="0">
                <a:solidFill>
                  <a:srgbClr val="F2F2F2"/>
                </a:solidFill>
                <a:latin typeface="Consolas"/>
              </a:rPr>
              <a:t>12.16.01.128       ON CPU                  9vmszgd1ft9x0</a:t>
            </a:r>
          </a:p>
          <a:p>
            <a:pPr>
              <a:lnSpc>
                <a:spcPct val="100000"/>
              </a:lnSpc>
              <a:spcAft>
                <a:spcPts val="0"/>
              </a:spcAft>
            </a:pPr>
            <a:r>
              <a:rPr sz="1250" dirty="0">
                <a:solidFill>
                  <a:srgbClr val="F2F2F2"/>
                </a:solidFill>
                <a:latin typeface="Consolas"/>
              </a:rPr>
              <a:t>12.16.03.131       ON CPU                  9vmszgd1ft9x0</a:t>
            </a:r>
          </a:p>
          <a:p>
            <a:pPr>
              <a:lnSpc>
                <a:spcPct val="100000"/>
              </a:lnSpc>
              <a:spcAft>
                <a:spcPts val="0"/>
              </a:spcAft>
            </a:pPr>
            <a:r>
              <a:rPr sz="1250" dirty="0">
                <a:solidFill>
                  <a:srgbClr val="F2F2F2"/>
                </a:solidFill>
                <a:latin typeface="Consolas"/>
              </a:rPr>
              <a:t>12.16.04.133       WAITING log file sync   50kad7809jyj8</a:t>
            </a:r>
          </a:p>
          <a:p>
            <a:pPr>
              <a:lnSpc>
                <a:spcPct val="100000"/>
              </a:lnSpc>
              <a:spcAft>
                <a:spcPts val="0"/>
              </a:spcAft>
            </a:pPr>
            <a:r>
              <a:rPr sz="1250" dirty="0">
                <a:solidFill>
                  <a:srgbClr val="F2F2F2"/>
                </a:solidFill>
                <a:latin typeface="Consolas"/>
              </a:rPr>
              <a:t>12.16.05.135       ON CPU                  9vmszgd1ft9x0</a:t>
            </a:r>
          </a:p>
        </p:txBody>
      </p:sp>
    </p:spTree>
    <p:extLst>
      <p:ext uri="{BB962C8B-B14F-4D97-AF65-F5344CB8AC3E}">
        <p14:creationId xmlns:p14="http://schemas.microsoft.com/office/powerpoint/2010/main" val="3713612569"/>
      </p:ext>
    </p:extLst>
  </p:cSld>
  <p:clrMapOvr>
    <a:masterClrMapping/>
  </p:clrMapOvr>
</p:sld>
</file>

<file path=ppt/slides/slide10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세션 추적이 주는 것</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집계는 %, 추적은 인과의 순서</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집계: 구간에 log file sync가 몇 % 있었다</a:t>
            </a:r>
          </a:p>
          <a:p>
            <a:pPr algn="l">
              <a:spcAft>
                <a:spcPts val="800"/>
              </a:spcAft>
            </a:pPr>
            <a:r>
              <a:rPr sz="1700" b="0">
                <a:solidFill>
                  <a:srgbClr val="222222"/>
                </a:solidFill>
                <a:latin typeface="맑은 고딕"/>
              </a:rPr>
              <a:t>•  추적: CPU→커밋 대기→복귀의 사건 흐름</a:t>
            </a:r>
          </a:p>
          <a:p>
            <a:pPr algn="l">
              <a:spcAft>
                <a:spcPts val="800"/>
              </a:spcAft>
            </a:pPr>
            <a:r>
              <a:rPr sz="1700" b="0">
                <a:solidFill>
                  <a:srgbClr val="222222"/>
                </a:solidFill>
                <a:latin typeface="맑은 고딕"/>
              </a:rPr>
              <a:t>•  원인·결과의 순서가 보이면 조치 대상이 분명</a:t>
            </a:r>
          </a:p>
          <a:p>
            <a:pPr algn="l">
              <a:spcAft>
                <a:spcPts val="800"/>
              </a:spcAft>
            </a:pPr>
            <a:r>
              <a:rPr sz="1700" b="0">
                <a:solidFill>
                  <a:srgbClr val="222222"/>
                </a:solidFill>
                <a:latin typeface="맑은 고딕"/>
              </a:rPr>
              <a:t>•  BLOCKING_SESSION이 차면 블로커를 역추적</a:t>
            </a:r>
          </a:p>
        </p:txBody>
      </p:sp>
    </p:spTree>
    <p:extLst>
      <p:ext uri="{BB962C8B-B14F-4D97-AF65-F5344CB8AC3E}">
        <p14:creationId xmlns:p14="http://schemas.microsoft.com/office/powerpoint/2010/main" val="3203969215"/>
      </p:ext>
    </p:extLst>
  </p:cSld>
  <p:clrMapOvr>
    <a:masterClrMapping/>
  </p:clrMapOvr>
</p:sld>
</file>

<file path=ppt/slides/slide10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25.7</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DBA_HIST_ASH</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rPr>
              <a:t>•  메모리 ASH = 유한한 순환 버퍼</a:t>
            </a:r>
          </a:p>
          <a:p>
            <a:pPr algn="l">
              <a:spcAft>
                <a:spcPts val="600"/>
              </a:spcAft>
            </a:pPr>
            <a:r>
              <a:rPr sz="1600" b="0">
                <a:solidFill>
                  <a:srgbClr val="FFFFFF"/>
                </a:solidFill>
                <a:latin typeface="맑은 고딕"/>
              </a:rPr>
              <a:t>•  디스크 ASH = SYSAUX 영구 저장</a:t>
            </a:r>
          </a:p>
          <a:p>
            <a:pPr algn="l">
              <a:spcAft>
                <a:spcPts val="600"/>
              </a:spcAft>
            </a:pPr>
            <a:r>
              <a:rPr sz="1600" b="0">
                <a:solidFill>
                  <a:srgbClr val="FFFFFF"/>
                </a:solidFill>
                <a:latin typeface="맑은 고딕"/>
              </a:rPr>
              <a:t>•  약 1/10 flush · 10초 간격</a:t>
            </a:r>
          </a:p>
          <a:p>
            <a:pPr algn="l">
              <a:spcAft>
                <a:spcPts val="600"/>
              </a:spcAft>
            </a:pPr>
            <a:r>
              <a:rPr sz="1600" b="0">
                <a:solidFill>
                  <a:srgbClr val="FFFFFF"/>
                </a:solidFill>
                <a:latin typeface="맑은 고딕"/>
              </a:rPr>
              <a:t>•  최근은 V$ / 지나간 날은 DBA_HIST</a:t>
            </a:r>
          </a:p>
        </p:txBody>
      </p:sp>
    </p:spTree>
    <p:extLst>
      <p:ext uri="{BB962C8B-B14F-4D97-AF65-F5344CB8AC3E}">
        <p14:creationId xmlns:p14="http://schemas.microsoft.com/office/powerpoint/2010/main" val="3251592090"/>
      </p:ext>
    </p:extLst>
  </p:cSld>
  <p:clrMapOvr>
    <a:masterClrMapping/>
  </p:clrMapOvr>
</p:sld>
</file>

<file path=ppt/slides/slide10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메모리 ASH vs 디스크 ASH</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해상도와 보존이 다르다</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메모리: V$ · 1초 · 수십 분~ (버퍼가 찰 때까지)</a:t>
            </a:r>
          </a:p>
          <a:p>
            <a:pPr algn="l">
              <a:spcAft>
                <a:spcPts val="800"/>
              </a:spcAft>
            </a:pPr>
            <a:r>
              <a:rPr sz="1700" b="0">
                <a:solidFill>
                  <a:srgbClr val="222222"/>
                </a:solidFill>
                <a:latin typeface="맑은 고딕"/>
              </a:rPr>
              <a:t>•  디스크: DBA_HIST_ · 10초 · 기본 8일(AWR 보존)</a:t>
            </a:r>
          </a:p>
          <a:p>
            <a:pPr algn="l">
              <a:spcAft>
                <a:spcPts val="800"/>
              </a:spcAft>
            </a:pPr>
            <a:r>
              <a:rPr sz="1700" b="0">
                <a:solidFill>
                  <a:srgbClr val="222222"/>
                </a:solidFill>
                <a:latin typeface="맑은 고딕"/>
              </a:rPr>
              <a:t>•  MMON이 약 1/10을 골라 SYSAUX에 저장</a:t>
            </a:r>
          </a:p>
          <a:p>
            <a:pPr algn="l">
              <a:spcAft>
                <a:spcPts val="800"/>
              </a:spcAft>
            </a:pPr>
            <a:r>
              <a:rPr sz="1700" b="0">
                <a:solidFill>
                  <a:srgbClr val="222222"/>
                </a:solidFill>
                <a:latin typeface="맑은 고딕"/>
              </a:rPr>
              <a:t>•  최근 정밀분석은 V$ / 지나간 날은 DBA_HIST_</a:t>
            </a:r>
          </a:p>
        </p:txBody>
      </p:sp>
    </p:spTree>
    <p:extLst>
      <p:ext uri="{BB962C8B-B14F-4D97-AF65-F5344CB8AC3E}">
        <p14:creationId xmlns:p14="http://schemas.microsoft.com/office/powerpoint/2010/main" val="3755713209"/>
      </p:ext>
    </p:extLst>
  </p:cSld>
  <p:clrMapOvr>
    <a:masterClrMapping/>
  </p:clrMapOvr>
</p:sld>
</file>

<file path=ppt/slides/slide10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DBA_HIST_ASH 보존 구간 조회</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같은 구간, 샘플 수는 약 1/10</a:t>
            </a:r>
          </a:p>
        </p:txBody>
      </p:sp>
      <p:sp>
        <p:nvSpPr>
          <p:cNvPr id="6" name="Rectangle 5"/>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tlCol="0" anchor="ctr"/>
          <a:lstStyle/>
          <a:p>
            <a:pPr>
              <a:lnSpc>
                <a:spcPct val="100000"/>
              </a:lnSpc>
              <a:spcAft>
                <a:spcPts val="0"/>
              </a:spcAft>
            </a:pPr>
            <a:r>
              <a:rPr sz="1250" dirty="0" err="1">
                <a:solidFill>
                  <a:srgbClr val="F2F2F2"/>
                </a:solidFill>
                <a:latin typeface="Consolas"/>
              </a:rPr>
              <a:t>SYS@orcl</a:t>
            </a:r>
            <a:r>
              <a:rPr sz="1250" dirty="0">
                <a:solidFill>
                  <a:srgbClr val="F2F2F2"/>
                </a:solidFill>
                <a:latin typeface="Consolas"/>
              </a:rPr>
              <a:t>&gt; SELECT NVL(</a:t>
            </a:r>
            <a:r>
              <a:rPr sz="1250" dirty="0" err="1">
                <a:solidFill>
                  <a:srgbClr val="F2F2F2"/>
                </a:solidFill>
                <a:latin typeface="Consolas"/>
              </a:rPr>
              <a:t>event,'ON</a:t>
            </a:r>
            <a:r>
              <a:rPr sz="1250" dirty="0">
                <a:solidFill>
                  <a:srgbClr val="F2F2F2"/>
                </a:solidFill>
                <a:latin typeface="Consolas"/>
              </a:rPr>
              <a:t> CPU') event, COUNT(*) samples</a:t>
            </a:r>
          </a:p>
          <a:p>
            <a:pPr>
              <a:lnSpc>
                <a:spcPct val="100000"/>
              </a:lnSpc>
              <a:spcAft>
                <a:spcPts val="0"/>
              </a:spcAft>
            </a:pPr>
            <a:r>
              <a:rPr sz="1250" dirty="0">
                <a:solidFill>
                  <a:srgbClr val="F2F2F2"/>
                </a:solidFill>
                <a:latin typeface="Consolas"/>
              </a:rPr>
              <a:t>  2       FROM </a:t>
            </a:r>
            <a:r>
              <a:rPr sz="1250" dirty="0" err="1">
                <a:solidFill>
                  <a:srgbClr val="F2F2F2"/>
                </a:solidFill>
                <a:latin typeface="Consolas"/>
              </a:rPr>
              <a:t>dba_hist_active_sess_history</a:t>
            </a:r>
            <a:endParaRPr sz="1250" dirty="0">
              <a:solidFill>
                <a:srgbClr val="F2F2F2"/>
              </a:solidFill>
              <a:latin typeface="Consolas"/>
            </a:endParaRPr>
          </a:p>
          <a:p>
            <a:pPr>
              <a:lnSpc>
                <a:spcPct val="100000"/>
              </a:lnSpc>
              <a:spcAft>
                <a:spcPts val="0"/>
              </a:spcAft>
            </a:pPr>
            <a:r>
              <a:rPr sz="1250" dirty="0">
                <a:solidFill>
                  <a:srgbClr val="F2F2F2"/>
                </a:solidFill>
                <a:latin typeface="Consolas"/>
              </a:rPr>
              <a:t>  3       WHERE </a:t>
            </a:r>
            <a:r>
              <a:rPr sz="1250" dirty="0" err="1">
                <a:solidFill>
                  <a:srgbClr val="F2F2F2"/>
                </a:solidFill>
                <a:latin typeface="Consolas"/>
              </a:rPr>
              <a:t>sample_time</a:t>
            </a:r>
            <a:r>
              <a:rPr sz="1250" dirty="0">
                <a:solidFill>
                  <a:srgbClr val="F2F2F2"/>
                </a:solidFill>
                <a:latin typeface="Consolas"/>
              </a:rPr>
              <a:t> BETWEEN TIMESTAMP '2026-08-25 12:15:00'</a:t>
            </a:r>
          </a:p>
          <a:p>
            <a:pPr>
              <a:lnSpc>
                <a:spcPct val="100000"/>
              </a:lnSpc>
              <a:spcAft>
                <a:spcPts val="0"/>
              </a:spcAft>
            </a:pPr>
            <a:r>
              <a:rPr sz="1250" dirty="0">
                <a:solidFill>
                  <a:srgbClr val="F2F2F2"/>
                </a:solidFill>
                <a:latin typeface="Consolas"/>
              </a:rPr>
              <a:t>  4                             AND TIMESTAMP '2026-08-25 12:17:30'</a:t>
            </a:r>
          </a:p>
          <a:p>
            <a:pPr>
              <a:lnSpc>
                <a:spcPct val="100000"/>
              </a:lnSpc>
              <a:spcAft>
                <a:spcPts val="0"/>
              </a:spcAft>
            </a:pPr>
            <a:r>
              <a:rPr sz="1250" dirty="0">
                <a:solidFill>
                  <a:srgbClr val="F2F2F2"/>
                </a:solidFill>
                <a:latin typeface="Consolas"/>
              </a:rPr>
              <a:t>  5       GROUP BY NVL(</a:t>
            </a:r>
            <a:r>
              <a:rPr sz="1250" dirty="0" err="1">
                <a:solidFill>
                  <a:srgbClr val="F2F2F2"/>
                </a:solidFill>
                <a:latin typeface="Consolas"/>
              </a:rPr>
              <a:t>event,'ON</a:t>
            </a:r>
            <a:r>
              <a:rPr sz="1250" dirty="0">
                <a:solidFill>
                  <a:srgbClr val="F2F2F2"/>
                </a:solidFill>
                <a:latin typeface="Consolas"/>
              </a:rPr>
              <a:t> CPU') ORDER BY samples DESC;</a:t>
            </a:r>
          </a:p>
          <a:p>
            <a:pPr>
              <a:lnSpc>
                <a:spcPct val="100000"/>
              </a:lnSpc>
              <a:spcAft>
                <a:spcPts val="0"/>
              </a:spcAft>
            </a:pPr>
            <a:r>
              <a:rPr sz="1250" dirty="0">
                <a:solidFill>
                  <a:srgbClr val="F2F2F2"/>
                </a:solidFill>
                <a:latin typeface="Consolas"/>
              </a:rPr>
              <a:t> </a:t>
            </a:r>
          </a:p>
          <a:p>
            <a:pPr>
              <a:lnSpc>
                <a:spcPct val="100000"/>
              </a:lnSpc>
              <a:spcAft>
                <a:spcPts val="0"/>
              </a:spcAft>
            </a:pPr>
            <a:r>
              <a:rPr sz="1250" dirty="0">
                <a:solidFill>
                  <a:srgbClr val="F2F2F2"/>
                </a:solidFill>
                <a:latin typeface="Consolas"/>
              </a:rPr>
              <a:t>EVENT                      SAMPLES</a:t>
            </a:r>
          </a:p>
          <a:p>
            <a:pPr>
              <a:lnSpc>
                <a:spcPct val="100000"/>
              </a:lnSpc>
              <a:spcAft>
                <a:spcPts val="0"/>
              </a:spcAft>
            </a:pPr>
            <a:r>
              <a:rPr sz="1250" dirty="0">
                <a:solidFill>
                  <a:srgbClr val="F2F2F2"/>
                </a:solidFill>
                <a:latin typeface="Consolas"/>
              </a:rPr>
              <a:t>-------------------------- --------</a:t>
            </a:r>
          </a:p>
          <a:p>
            <a:pPr>
              <a:lnSpc>
                <a:spcPct val="100000"/>
              </a:lnSpc>
              <a:spcAft>
                <a:spcPts val="0"/>
              </a:spcAft>
            </a:pPr>
            <a:r>
              <a:rPr sz="1250" dirty="0">
                <a:solidFill>
                  <a:srgbClr val="F2F2F2"/>
                </a:solidFill>
                <a:latin typeface="Consolas"/>
              </a:rPr>
              <a:t>ON CPU                          53</a:t>
            </a:r>
          </a:p>
          <a:p>
            <a:pPr>
              <a:lnSpc>
                <a:spcPct val="100000"/>
              </a:lnSpc>
              <a:spcAft>
                <a:spcPts val="0"/>
              </a:spcAft>
            </a:pPr>
            <a:r>
              <a:rPr sz="1250" dirty="0">
                <a:solidFill>
                  <a:srgbClr val="F2F2F2"/>
                </a:solidFill>
                <a:latin typeface="Consolas"/>
              </a:rPr>
              <a:t>log file sync                    2</a:t>
            </a:r>
          </a:p>
          <a:p>
            <a:pPr>
              <a:lnSpc>
                <a:spcPct val="100000"/>
              </a:lnSpc>
              <a:spcAft>
                <a:spcPts val="0"/>
              </a:spcAft>
            </a:pPr>
            <a:r>
              <a:rPr sz="1250" dirty="0" err="1">
                <a:solidFill>
                  <a:srgbClr val="F2F2F2"/>
                </a:solidFill>
                <a:latin typeface="Consolas"/>
              </a:rPr>
              <a:t>db</a:t>
            </a:r>
            <a:r>
              <a:rPr sz="1250" dirty="0">
                <a:solidFill>
                  <a:srgbClr val="F2F2F2"/>
                </a:solidFill>
                <a:latin typeface="Consolas"/>
              </a:rPr>
              <a:t> file sequential read          1</a:t>
            </a:r>
          </a:p>
        </p:txBody>
      </p:sp>
    </p:spTree>
    <p:extLst>
      <p:ext uri="{BB962C8B-B14F-4D97-AF65-F5344CB8AC3E}">
        <p14:creationId xmlns:p14="http://schemas.microsoft.com/office/powerpoint/2010/main" val="2463316849"/>
      </p:ext>
    </p:extLst>
  </p:cSld>
  <p:clrMapOvr>
    <a:masterClrMapping/>
  </p:clrMapOvr>
</p:sld>
</file>

<file path=ppt/slides/slide10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25.8</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세 도구가 같은 부하를 본다</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rPr>
              <a:t>•  AWR = 무엇이 있었나</a:t>
            </a:r>
          </a:p>
          <a:p>
            <a:pPr algn="l">
              <a:spcAft>
                <a:spcPts val="600"/>
              </a:spcAft>
            </a:pPr>
            <a:r>
              <a:rPr sz="1600" b="0">
                <a:solidFill>
                  <a:srgbClr val="FFFFFF"/>
                </a:solidFill>
                <a:latin typeface="맑은 고딕"/>
              </a:rPr>
              <a:t>•  ADDM = 왜 그랬나</a:t>
            </a:r>
          </a:p>
          <a:p>
            <a:pPr algn="l">
              <a:spcAft>
                <a:spcPts val="600"/>
              </a:spcAft>
            </a:pPr>
            <a:r>
              <a:rPr sz="1600" b="0">
                <a:solidFill>
                  <a:srgbClr val="FFFFFF"/>
                </a:solidFill>
                <a:latin typeface="맑은 고딕"/>
              </a:rPr>
              <a:t>•  ASH = 언제·누가·무엇으로</a:t>
            </a:r>
          </a:p>
          <a:p>
            <a:pPr algn="l">
              <a:spcAft>
                <a:spcPts val="600"/>
              </a:spcAft>
            </a:pPr>
            <a:r>
              <a:rPr sz="1600" b="0">
                <a:solidFill>
                  <a:srgbClr val="FFFFFF"/>
                </a:solidFill>
                <a:latin typeface="맑은 고딕"/>
              </a:rPr>
              <a:t>•  결론은 한 점으로 모인다</a:t>
            </a:r>
          </a:p>
        </p:txBody>
      </p:sp>
    </p:spTree>
    <p:extLst>
      <p:ext uri="{BB962C8B-B14F-4D97-AF65-F5344CB8AC3E}">
        <p14:creationId xmlns:p14="http://schemas.microsoft.com/office/powerpoint/2010/main" val="1145131909"/>
      </p:ext>
    </p:extLst>
  </p:cSld>
  <p:clrMapOvr>
    <a:masterClrMapping/>
  </p:clrMapOvr>
</p:sld>
</file>

<file path=ppt/slides/slide10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AWR·ADDM·ASH 대조</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같은 부하, 세 각도, 한 결론</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AWR(ch22): 구간 누적 → DB CPU 지배</a:t>
            </a:r>
          </a:p>
          <a:p>
            <a:pPr algn="l">
              <a:spcAft>
                <a:spcPts val="800"/>
              </a:spcAft>
            </a:pPr>
            <a:r>
              <a:rPr sz="1700" b="0">
                <a:solidFill>
                  <a:srgbClr val="222222"/>
                </a:solidFill>
                <a:latin typeface="맑은 고딕"/>
              </a:rPr>
              <a:t>•  ADDM(ch24): 자동 진단 → 리터럴 하드파싱</a:t>
            </a:r>
          </a:p>
          <a:p>
            <a:pPr algn="l">
              <a:spcAft>
                <a:spcPts val="800"/>
              </a:spcAft>
            </a:pPr>
            <a:r>
              <a:rPr sz="1700" b="0">
                <a:solidFill>
                  <a:srgbClr val="222222"/>
                </a:solidFill>
                <a:latin typeface="맑은 고딕"/>
              </a:rPr>
              <a:t>•  ASH(ch25): 1초 샘플 → ON CPU 90.7%</a:t>
            </a:r>
          </a:p>
          <a:p>
            <a:pPr algn="l">
              <a:spcAft>
                <a:spcPts val="800"/>
              </a:spcAft>
            </a:pPr>
            <a:r>
              <a:rPr sz="1700" b="0">
                <a:solidFill>
                  <a:srgbClr val="222222"/>
                </a:solidFill>
                <a:latin typeface="맑은 고딕"/>
              </a:rPr>
              <a:t>•  불일치의 90%는 도구가 아니라 '구간 불일치'</a:t>
            </a:r>
          </a:p>
        </p:txBody>
      </p:sp>
    </p:spTree>
    <p:extLst>
      <p:ext uri="{BB962C8B-B14F-4D97-AF65-F5344CB8AC3E}">
        <p14:creationId xmlns:p14="http://schemas.microsoft.com/office/powerpoint/2010/main" val="2328555548"/>
      </p:ext>
    </p:extLst>
  </p:cSld>
  <p:clrMapOvr>
    <a:masterClrMapping/>
  </p:clrMapOvr>
</p:sld>
</file>

<file path=ppt/slides/slide10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25.9</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라이선스와 대안</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rPr>
              <a:t>•  🔒 Diagnostics Pack 필수</a:t>
            </a:r>
          </a:p>
          <a:p>
            <a:pPr algn="l">
              <a:spcAft>
                <a:spcPts val="600"/>
              </a:spcAft>
            </a:pPr>
            <a:r>
              <a:rPr sz="1600" b="0">
                <a:solidFill>
                  <a:srgbClr val="FFFFFF"/>
                </a:solidFill>
                <a:latin typeface="맑은 고딕"/>
              </a:rPr>
              <a:t>•  조회만으로 사용 이력 기록</a:t>
            </a:r>
          </a:p>
          <a:p>
            <a:pPr algn="l">
              <a:spcAft>
                <a:spcPts val="600"/>
              </a:spcAft>
            </a:pPr>
            <a:r>
              <a:rPr sz="1600" b="0">
                <a:solidFill>
                  <a:srgbClr val="FFFFFF"/>
                </a:solidFill>
                <a:latin typeface="맑은 고딕"/>
              </a:rPr>
              <a:t>•  대안: V$SESSION 폴링</a:t>
            </a:r>
          </a:p>
          <a:p>
            <a:pPr algn="l">
              <a:spcAft>
                <a:spcPts val="600"/>
              </a:spcAft>
            </a:pPr>
            <a:r>
              <a:rPr sz="1600" b="0">
                <a:solidFill>
                  <a:srgbClr val="FFFFFF"/>
                </a:solidFill>
                <a:latin typeface="맑은 고딕"/>
              </a:rPr>
              <a:t>•  완전 대체 아닌 절충</a:t>
            </a:r>
          </a:p>
        </p:txBody>
      </p:sp>
    </p:spTree>
    <p:extLst>
      <p:ext uri="{BB962C8B-B14F-4D97-AF65-F5344CB8AC3E}">
        <p14:creationId xmlns:p14="http://schemas.microsoft.com/office/powerpoint/2010/main" val="1784752537"/>
      </p:ext>
    </p:extLst>
  </p:cSld>
  <p:clrMapOvr>
    <a:masterClrMapping/>
  </p:clrMapOvr>
</p:sld>
</file>

<file path=ppt/slides/slide10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관리 팩 라이선스</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무심코 쓰면 위반</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V$ACTIVE_SESSION_HISTORY · DBA_HIST · ashrpt 모두 유상</a:t>
            </a:r>
          </a:p>
          <a:p>
            <a:pPr algn="l">
              <a:spcAft>
                <a:spcPts val="800"/>
              </a:spcAft>
            </a:pPr>
            <a:r>
              <a:rPr sz="1700" b="0">
                <a:solidFill>
                  <a:srgbClr val="222222"/>
                </a:solidFill>
                <a:latin typeface="맑은 고딕"/>
              </a:rPr>
              <a:t>•  조회 순간 DBA_FEATURE_USAGE_STATISTICS에 기록</a:t>
            </a:r>
          </a:p>
          <a:p>
            <a:pPr algn="l">
              <a:spcAft>
                <a:spcPts val="800"/>
              </a:spcAft>
            </a:pPr>
            <a:r>
              <a:rPr sz="1700" b="0">
                <a:solidFill>
                  <a:srgbClr val="222222"/>
                </a:solidFill>
                <a:latin typeface="맑은 고딕"/>
              </a:rPr>
              <a:t>•  CONTROL_MANAGEMENT_PACK_ACCESS ≥ DIAGNOSTIC 필요</a:t>
            </a:r>
          </a:p>
          <a:p>
            <a:pPr algn="l">
              <a:spcAft>
                <a:spcPts val="800"/>
              </a:spcAft>
            </a:pPr>
            <a:r>
              <a:rPr sz="1700" b="0">
                <a:solidFill>
                  <a:srgbClr val="222222"/>
                </a:solidFill>
                <a:latin typeface="맑은 고딕"/>
              </a:rPr>
              <a:t>•  파라미터 값이 곧 라이선스 보유 증명은 아니다</a:t>
            </a:r>
          </a:p>
        </p:txBody>
      </p:sp>
    </p:spTree>
    <p:extLst>
      <p:ext uri="{BB962C8B-B14F-4D97-AF65-F5344CB8AC3E}">
        <p14:creationId xmlns:p14="http://schemas.microsoft.com/office/powerpoint/2010/main" val="828487695"/>
      </p:ext>
    </p:extLst>
  </p:cSld>
  <p:clrMapOvr>
    <a:masterClrMapping/>
  </p:clrMapOvr>
</p:sld>
</file>

<file path=ppt/slides/slide10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대안 — V$SESSION 폴링</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라이선스 없이 활성 세션 근사 샘플링</a:t>
            </a:r>
          </a:p>
        </p:txBody>
      </p:sp>
      <p:sp>
        <p:nvSpPr>
          <p:cNvPr id="6" name="Rectangle 5"/>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tlCol="0" anchor="ctr"/>
          <a:lstStyle/>
          <a:p>
            <a:pPr>
              <a:lnSpc>
                <a:spcPct val="100000"/>
              </a:lnSpc>
              <a:spcAft>
                <a:spcPts val="0"/>
              </a:spcAft>
            </a:pPr>
            <a:r>
              <a:rPr sz="1250" dirty="0">
                <a:solidFill>
                  <a:srgbClr val="F2F2F2"/>
                </a:solidFill>
                <a:latin typeface="Consolas"/>
              </a:rPr>
              <a:t>-- </a:t>
            </a:r>
            <a:r>
              <a:rPr sz="1250" dirty="0" err="1">
                <a:solidFill>
                  <a:srgbClr val="F2F2F2"/>
                </a:solidFill>
                <a:latin typeface="Consolas"/>
              </a:rPr>
              <a:t>라이선스</a:t>
            </a:r>
            <a:r>
              <a:rPr sz="1250" dirty="0">
                <a:solidFill>
                  <a:srgbClr val="F2F2F2"/>
                </a:solidFill>
                <a:latin typeface="Consolas"/>
              </a:rPr>
              <a:t> </a:t>
            </a:r>
            <a:r>
              <a:rPr sz="1250" dirty="0" err="1">
                <a:solidFill>
                  <a:srgbClr val="F2F2F2"/>
                </a:solidFill>
                <a:latin typeface="Consolas"/>
              </a:rPr>
              <a:t>불필요</a:t>
            </a:r>
            <a:r>
              <a:rPr sz="1250" dirty="0">
                <a:solidFill>
                  <a:srgbClr val="F2F2F2"/>
                </a:solidFill>
                <a:latin typeface="Consolas"/>
              </a:rPr>
              <a:t>: '</a:t>
            </a:r>
            <a:r>
              <a:rPr sz="1250" dirty="0" err="1">
                <a:solidFill>
                  <a:srgbClr val="F2F2F2"/>
                </a:solidFill>
                <a:latin typeface="Consolas"/>
              </a:rPr>
              <a:t>지금</a:t>
            </a:r>
            <a:r>
              <a:rPr sz="1250" dirty="0">
                <a:solidFill>
                  <a:srgbClr val="F2F2F2"/>
                </a:solidFill>
                <a:latin typeface="Consolas"/>
              </a:rPr>
              <a:t> </a:t>
            </a:r>
            <a:r>
              <a:rPr sz="1250" dirty="0" err="1">
                <a:solidFill>
                  <a:srgbClr val="F2F2F2"/>
                </a:solidFill>
                <a:latin typeface="Consolas"/>
              </a:rPr>
              <a:t>활성</a:t>
            </a:r>
            <a:r>
              <a:rPr sz="1250" dirty="0">
                <a:solidFill>
                  <a:srgbClr val="F2F2F2"/>
                </a:solidFill>
                <a:latin typeface="Consolas"/>
              </a:rPr>
              <a:t> </a:t>
            </a:r>
            <a:r>
              <a:rPr sz="1250" dirty="0" err="1">
                <a:solidFill>
                  <a:srgbClr val="F2F2F2"/>
                </a:solidFill>
                <a:latin typeface="Consolas"/>
              </a:rPr>
              <a:t>세션'을</a:t>
            </a:r>
            <a:r>
              <a:rPr sz="1250" dirty="0">
                <a:solidFill>
                  <a:srgbClr val="F2F2F2"/>
                </a:solidFill>
                <a:latin typeface="Consolas"/>
              </a:rPr>
              <a:t> </a:t>
            </a:r>
            <a:r>
              <a:rPr sz="1250" dirty="0" err="1">
                <a:solidFill>
                  <a:srgbClr val="F2F2F2"/>
                </a:solidFill>
                <a:latin typeface="Consolas"/>
              </a:rPr>
              <a:t>반복</a:t>
            </a:r>
            <a:r>
              <a:rPr sz="1250" dirty="0">
                <a:solidFill>
                  <a:srgbClr val="F2F2F2"/>
                </a:solidFill>
                <a:latin typeface="Consolas"/>
              </a:rPr>
              <a:t> </a:t>
            </a:r>
            <a:r>
              <a:rPr sz="1250" dirty="0" err="1">
                <a:solidFill>
                  <a:srgbClr val="F2F2F2"/>
                </a:solidFill>
                <a:latin typeface="Consolas"/>
              </a:rPr>
              <a:t>조회해</a:t>
            </a:r>
            <a:r>
              <a:rPr sz="1250" dirty="0">
                <a:solidFill>
                  <a:srgbClr val="F2F2F2"/>
                </a:solidFill>
                <a:latin typeface="Consolas"/>
              </a:rPr>
              <a:t> </a:t>
            </a:r>
            <a:r>
              <a:rPr sz="1250" dirty="0" err="1">
                <a:solidFill>
                  <a:srgbClr val="F2F2F2"/>
                </a:solidFill>
                <a:latin typeface="Consolas"/>
              </a:rPr>
              <a:t>적재</a:t>
            </a:r>
            <a:endParaRPr sz="1250" dirty="0">
              <a:solidFill>
                <a:srgbClr val="F2F2F2"/>
              </a:solidFill>
              <a:latin typeface="Consolas"/>
            </a:endParaRPr>
          </a:p>
          <a:p>
            <a:pPr>
              <a:lnSpc>
                <a:spcPct val="100000"/>
              </a:lnSpc>
              <a:spcAft>
                <a:spcPts val="0"/>
              </a:spcAft>
            </a:pPr>
            <a:r>
              <a:rPr sz="1250" dirty="0" err="1">
                <a:solidFill>
                  <a:srgbClr val="F2F2F2"/>
                </a:solidFill>
                <a:latin typeface="Consolas"/>
              </a:rPr>
              <a:t>SYS@orcl</a:t>
            </a:r>
            <a:r>
              <a:rPr sz="1250" dirty="0">
                <a:solidFill>
                  <a:srgbClr val="F2F2F2"/>
                </a:solidFill>
                <a:latin typeface="Consolas"/>
              </a:rPr>
              <a:t>&gt; SELECT NVL(</a:t>
            </a:r>
            <a:r>
              <a:rPr sz="1250" dirty="0" err="1">
                <a:solidFill>
                  <a:srgbClr val="F2F2F2"/>
                </a:solidFill>
                <a:latin typeface="Consolas"/>
              </a:rPr>
              <a:t>event,'ON</a:t>
            </a:r>
            <a:r>
              <a:rPr sz="1250" dirty="0">
                <a:solidFill>
                  <a:srgbClr val="F2F2F2"/>
                </a:solidFill>
                <a:latin typeface="Consolas"/>
              </a:rPr>
              <a:t> CPU') event, COUNT(*) </a:t>
            </a:r>
            <a:r>
              <a:rPr sz="1250" dirty="0" err="1">
                <a:solidFill>
                  <a:srgbClr val="F2F2F2"/>
                </a:solidFill>
                <a:latin typeface="Consolas"/>
              </a:rPr>
              <a:t>active_now</a:t>
            </a:r>
            <a:endParaRPr sz="1250" dirty="0">
              <a:solidFill>
                <a:srgbClr val="F2F2F2"/>
              </a:solidFill>
              <a:latin typeface="Consolas"/>
            </a:endParaRPr>
          </a:p>
          <a:p>
            <a:pPr>
              <a:lnSpc>
                <a:spcPct val="100000"/>
              </a:lnSpc>
              <a:spcAft>
                <a:spcPts val="0"/>
              </a:spcAft>
            </a:pPr>
            <a:r>
              <a:rPr sz="1250" dirty="0">
                <a:solidFill>
                  <a:srgbClr val="F2F2F2"/>
                </a:solidFill>
                <a:latin typeface="Consolas"/>
              </a:rPr>
              <a:t>  2       FROM </a:t>
            </a:r>
            <a:r>
              <a:rPr sz="1250" dirty="0" err="1">
                <a:solidFill>
                  <a:srgbClr val="F2F2F2"/>
                </a:solidFill>
                <a:latin typeface="Consolas"/>
              </a:rPr>
              <a:t>v$session</a:t>
            </a:r>
            <a:endParaRPr sz="1250" dirty="0">
              <a:solidFill>
                <a:srgbClr val="F2F2F2"/>
              </a:solidFill>
              <a:latin typeface="Consolas"/>
            </a:endParaRPr>
          </a:p>
          <a:p>
            <a:pPr>
              <a:lnSpc>
                <a:spcPct val="100000"/>
              </a:lnSpc>
              <a:spcAft>
                <a:spcPts val="0"/>
              </a:spcAft>
            </a:pPr>
            <a:r>
              <a:rPr sz="1250" dirty="0">
                <a:solidFill>
                  <a:srgbClr val="F2F2F2"/>
                </a:solidFill>
                <a:latin typeface="Consolas"/>
              </a:rPr>
              <a:t>  3       WHERE status = 'ACTIVE'</a:t>
            </a:r>
          </a:p>
          <a:p>
            <a:pPr>
              <a:lnSpc>
                <a:spcPct val="100000"/>
              </a:lnSpc>
              <a:spcAft>
                <a:spcPts val="0"/>
              </a:spcAft>
            </a:pPr>
            <a:r>
              <a:rPr sz="1250" dirty="0">
                <a:solidFill>
                  <a:srgbClr val="F2F2F2"/>
                </a:solidFill>
                <a:latin typeface="Consolas"/>
              </a:rPr>
              <a:t>  4         AND </a:t>
            </a:r>
            <a:r>
              <a:rPr sz="1250" dirty="0" err="1">
                <a:solidFill>
                  <a:srgbClr val="F2F2F2"/>
                </a:solidFill>
                <a:latin typeface="Consolas"/>
              </a:rPr>
              <a:t>wait_class</a:t>
            </a:r>
            <a:r>
              <a:rPr sz="1250" dirty="0">
                <a:solidFill>
                  <a:srgbClr val="F2F2F2"/>
                </a:solidFill>
                <a:latin typeface="Consolas"/>
              </a:rPr>
              <a:t> &lt;&gt; 'Idle'</a:t>
            </a:r>
          </a:p>
          <a:p>
            <a:pPr>
              <a:lnSpc>
                <a:spcPct val="100000"/>
              </a:lnSpc>
              <a:spcAft>
                <a:spcPts val="0"/>
              </a:spcAft>
            </a:pPr>
            <a:r>
              <a:rPr sz="1250" dirty="0">
                <a:solidFill>
                  <a:srgbClr val="F2F2F2"/>
                </a:solidFill>
                <a:latin typeface="Consolas"/>
              </a:rPr>
              <a:t>  5       GROUP BY NVL(</a:t>
            </a:r>
            <a:r>
              <a:rPr sz="1250" dirty="0" err="1">
                <a:solidFill>
                  <a:srgbClr val="F2F2F2"/>
                </a:solidFill>
                <a:latin typeface="Consolas"/>
              </a:rPr>
              <a:t>event,'ON</a:t>
            </a:r>
            <a:r>
              <a:rPr sz="1250" dirty="0">
                <a:solidFill>
                  <a:srgbClr val="F2F2F2"/>
                </a:solidFill>
                <a:latin typeface="Consolas"/>
              </a:rPr>
              <a:t> CPU') ORDER BY </a:t>
            </a:r>
            <a:r>
              <a:rPr sz="1250" dirty="0" err="1">
                <a:solidFill>
                  <a:srgbClr val="F2F2F2"/>
                </a:solidFill>
                <a:latin typeface="Consolas"/>
              </a:rPr>
              <a:t>active_now</a:t>
            </a:r>
            <a:r>
              <a:rPr sz="1250" dirty="0">
                <a:solidFill>
                  <a:srgbClr val="F2F2F2"/>
                </a:solidFill>
                <a:latin typeface="Consolas"/>
              </a:rPr>
              <a:t> DESC;</a:t>
            </a:r>
          </a:p>
          <a:p>
            <a:pPr>
              <a:lnSpc>
                <a:spcPct val="100000"/>
              </a:lnSpc>
              <a:spcAft>
                <a:spcPts val="0"/>
              </a:spcAft>
            </a:pPr>
            <a:r>
              <a:rPr sz="1250" dirty="0">
                <a:solidFill>
                  <a:srgbClr val="F2F2F2"/>
                </a:solidFill>
                <a:latin typeface="Consolas"/>
              </a:rPr>
              <a:t> </a:t>
            </a:r>
          </a:p>
          <a:p>
            <a:pPr>
              <a:lnSpc>
                <a:spcPct val="100000"/>
              </a:lnSpc>
              <a:spcAft>
                <a:spcPts val="0"/>
              </a:spcAft>
            </a:pPr>
            <a:r>
              <a:rPr sz="1250" dirty="0">
                <a:solidFill>
                  <a:srgbClr val="F2F2F2"/>
                </a:solidFill>
                <a:latin typeface="Consolas"/>
              </a:rPr>
              <a:t>EVENT                     ACTIVE_NOW</a:t>
            </a:r>
          </a:p>
          <a:p>
            <a:pPr>
              <a:lnSpc>
                <a:spcPct val="100000"/>
              </a:lnSpc>
              <a:spcAft>
                <a:spcPts val="0"/>
              </a:spcAft>
            </a:pPr>
            <a:r>
              <a:rPr sz="1250" dirty="0">
                <a:solidFill>
                  <a:srgbClr val="F2F2F2"/>
                </a:solidFill>
                <a:latin typeface="Consolas"/>
              </a:rPr>
              <a:t>------------------------- ----------</a:t>
            </a:r>
          </a:p>
          <a:p>
            <a:pPr>
              <a:lnSpc>
                <a:spcPct val="100000"/>
              </a:lnSpc>
              <a:spcAft>
                <a:spcPts val="0"/>
              </a:spcAft>
            </a:pPr>
            <a:r>
              <a:rPr sz="1250" dirty="0">
                <a:solidFill>
                  <a:srgbClr val="F2F2F2"/>
                </a:solidFill>
                <a:latin typeface="Consolas"/>
              </a:rPr>
              <a:t>ON CPU                             5</a:t>
            </a:r>
          </a:p>
          <a:p>
            <a:pPr>
              <a:lnSpc>
                <a:spcPct val="100000"/>
              </a:lnSpc>
              <a:spcAft>
                <a:spcPts val="0"/>
              </a:spcAft>
            </a:pPr>
            <a:r>
              <a:rPr sz="1250" dirty="0">
                <a:solidFill>
                  <a:srgbClr val="F2F2F2"/>
                </a:solidFill>
                <a:latin typeface="Consolas"/>
              </a:rPr>
              <a:t>log file sync                     1</a:t>
            </a:r>
          </a:p>
        </p:txBody>
      </p:sp>
    </p:spTree>
    <p:extLst>
      <p:ext uri="{BB962C8B-B14F-4D97-AF65-F5344CB8AC3E}">
        <p14:creationId xmlns:p14="http://schemas.microsoft.com/office/powerpoint/2010/main" val="2245313408"/>
      </p:ext>
    </p:extLst>
  </p:cSld>
  <p:clrMapOvr>
    <a:masterClrMapping/>
  </p:clrMapOvr>
</p:sld>
</file>

<file path=ppt/slides/slide10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퀴즈 (Quiz)</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800"/>
              </a:spcAft>
            </a:pPr>
            <a:r>
              <a:rPr sz="1600" b="0">
                <a:solidFill>
                  <a:srgbClr val="222222"/>
                </a:solidFill>
                <a:latin typeface="맑은 고딕"/>
              </a:rPr>
              <a:t>•  Q1. ASH가 '활성 세션만' 샘플링하는 이유와, 데이터 크기가 무엇에 비례하는가?</a:t>
            </a:r>
          </a:p>
          <a:p>
            <a:pPr algn="l">
              <a:spcAft>
                <a:spcPts val="800"/>
              </a:spcAft>
            </a:pPr>
            <a:r>
              <a:rPr sz="1600" b="0">
                <a:solidFill>
                  <a:srgbClr val="222222"/>
                </a:solidFill>
                <a:latin typeface="맑은 고딕"/>
              </a:rPr>
              <a:t>•  Q2. samples=186을 '186번 실행'으로 읽으면 왜 틀리는가? 무엇에 비례하나?</a:t>
            </a:r>
          </a:p>
          <a:p>
            <a:pPr algn="l">
              <a:spcAft>
                <a:spcPts val="800"/>
              </a:spcAft>
            </a:pPr>
            <a:r>
              <a:rPr sz="1600" b="0">
                <a:solidFill>
                  <a:srgbClr val="222222"/>
                </a:solidFill>
                <a:latin typeface="맑은 고딕"/>
              </a:rPr>
              <a:t>•  Q3. 1시간 간격에서 2분 문제가 ADDM에 안 잡히는 이유와 ASH의 역할은?</a:t>
            </a:r>
          </a:p>
          <a:p>
            <a:pPr algn="l">
              <a:spcAft>
                <a:spcPts val="800"/>
              </a:spcAft>
            </a:pPr>
            <a:r>
              <a:rPr sz="1600" b="0">
                <a:solidFill>
                  <a:srgbClr val="222222"/>
                </a:solidFill>
                <a:latin typeface="맑은 고딕"/>
              </a:rPr>
              <a:t>•  Q4. ON CPU 90.7%에서 log file sync에 먼저 손대면 안 되는 이유와 다음 수순은?</a:t>
            </a:r>
          </a:p>
          <a:p>
            <a:pPr algn="l">
              <a:spcAft>
                <a:spcPts val="800"/>
              </a:spcAft>
            </a:pPr>
            <a:r>
              <a:rPr sz="1600" b="0">
                <a:solidFill>
                  <a:srgbClr val="222222"/>
                </a:solidFill>
                <a:latin typeface="맑은 고딕"/>
              </a:rPr>
              <a:t>•  Q5. V$ACTIVE_SESSION_HISTORY와 DBA_HIST_ 의 간격·보존·용도 차이는?</a:t>
            </a:r>
          </a:p>
          <a:p>
            <a:pPr algn="l">
              <a:spcAft>
                <a:spcPts val="800"/>
              </a:spcAft>
            </a:pPr>
            <a:r>
              <a:rPr sz="1600" b="0">
                <a:solidFill>
                  <a:srgbClr val="222222"/>
                </a:solidFill>
                <a:latin typeface="맑은 고딕"/>
              </a:rPr>
              <a:t>•  Q6. 라이선스 없을 때 ASH 대안 경로와 그 한계는?</a:t>
            </a:r>
          </a:p>
        </p:txBody>
      </p:sp>
    </p:spTree>
    <p:extLst>
      <p:ext uri="{BB962C8B-B14F-4D97-AF65-F5344CB8AC3E}">
        <p14:creationId xmlns:p14="http://schemas.microsoft.com/office/powerpoint/2010/main" val="2396880133"/>
      </p:ext>
    </p:extLst>
  </p:cSld>
  <p:clrMapOvr>
    <a:masterClrMapping/>
  </p:clrMapOvr>
</p:sld>
</file>

<file path=ppt/slides/slide10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요약 (Summary)</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700"/>
              </a:spcAft>
            </a:pPr>
            <a:r>
              <a:rPr sz="1500" b="0">
                <a:solidFill>
                  <a:srgbClr val="222222"/>
                </a:solidFill>
                <a:latin typeface="맑은 고딕"/>
              </a:rPr>
              <a:t>•  ASH = 활성 세션을 1초로 샘플링한 SGA 순환 버퍼. 활성 = Idle 아닌 세션.</a:t>
            </a:r>
          </a:p>
          <a:p>
            <a:pPr algn="l">
              <a:spcAft>
                <a:spcPts val="700"/>
              </a:spcAft>
            </a:pPr>
            <a:r>
              <a:rPr sz="1500" b="0">
                <a:solidFill>
                  <a:srgbClr val="222222"/>
                </a:solidFill>
                <a:latin typeface="맑은 고딕"/>
              </a:rPr>
              <a:t>•  samples는 실행 횟수가 아니라 DB Time 소비의 근사. 횟수는 V$SQL.</a:t>
            </a:r>
          </a:p>
          <a:p>
            <a:pPr algn="l">
              <a:spcAft>
                <a:spcPts val="700"/>
              </a:spcAft>
            </a:pPr>
            <a:r>
              <a:rPr sz="1500" b="0">
                <a:solidFill>
                  <a:srgbClr val="222222"/>
                </a:solidFill>
                <a:latin typeface="맑은 고딕"/>
              </a:rPr>
              <a:t>•  AWR·ADDM은 평균에 스파이크가 희석 / ASH는 구간을 잘라 포착.</a:t>
            </a:r>
          </a:p>
          <a:p>
            <a:pPr algn="l">
              <a:spcAft>
                <a:spcPts val="700"/>
              </a:spcAft>
            </a:pPr>
            <a:r>
              <a:rPr sz="1500" b="0">
                <a:solidFill>
                  <a:srgbClr val="222222"/>
                </a:solidFill>
                <a:latin typeface="맑은 고딕"/>
              </a:rPr>
              <a:t>•  실측: ON CPU 90.7% · log file sync 2.9% → CPU 지배형, 상위 SQL을 찾는다.</a:t>
            </a:r>
          </a:p>
          <a:p>
            <a:pPr algn="l">
              <a:spcAft>
                <a:spcPts val="700"/>
              </a:spcAft>
            </a:pPr>
            <a:r>
              <a:rPr sz="1500" b="0">
                <a:solidFill>
                  <a:srgbClr val="222222"/>
                </a:solidFill>
                <a:latin typeface="맑은 고딕"/>
              </a:rPr>
              <a:t>•  메모리 ASH(1초·수십 분) vs 디스크 ASH(10초·기본 8일).</a:t>
            </a:r>
          </a:p>
          <a:p>
            <a:pPr algn="l">
              <a:spcAft>
                <a:spcPts val="700"/>
              </a:spcAft>
            </a:pPr>
            <a:r>
              <a:rPr sz="1500" b="0">
                <a:solidFill>
                  <a:srgbClr val="222222"/>
                </a:solidFill>
                <a:latin typeface="맑은 고딕"/>
              </a:rPr>
              <a:t>•  AWR·ADDM·ASH는 같은 부하를 한 점으로 가리킨다 — 불일치는 구간 불일치.</a:t>
            </a:r>
          </a:p>
          <a:p>
            <a:pPr algn="l">
              <a:spcAft>
                <a:spcPts val="700"/>
              </a:spcAft>
            </a:pPr>
            <a:r>
              <a:rPr sz="1500" b="0">
                <a:solidFill>
                  <a:srgbClr val="222222"/>
                </a:solidFill>
                <a:latin typeface="맑은 고딕"/>
              </a:rPr>
              <a:t>•  ASH 뷰·보고서는 Diagnostics Pack 필요 / 대안은 V$SESSION 폴링.</a:t>
            </a:r>
          </a:p>
        </p:txBody>
      </p:sp>
    </p:spTree>
    <p:extLst>
      <p:ext uri="{BB962C8B-B14F-4D97-AF65-F5344CB8AC3E}">
        <p14:creationId xmlns:p14="http://schemas.microsoft.com/office/powerpoint/2010/main" val="3311450231"/>
      </p:ext>
    </p:extLst>
  </p:cSld>
  <p:clrMapOvr>
    <a:masterClrMapping/>
  </p:clrMapOvr>
</p:sld>
</file>

<file path=ppt/slides/slide10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실습 개요 (Practice Overview)</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800"/>
              </a:spcAft>
            </a:pPr>
            <a:r>
              <a:rPr sz="1600" b="0">
                <a:solidFill>
                  <a:srgbClr val="222222"/>
                </a:solidFill>
                <a:latin typeface="맑은 고딕"/>
              </a:rPr>
              <a:t>•  실습 01 — V$ACTIVE_SESSION_HISTORY 구조와 샘플링 주기 확인 🔒</a:t>
            </a:r>
          </a:p>
          <a:p>
            <a:pPr algn="l">
              <a:spcAft>
                <a:spcPts val="800"/>
              </a:spcAft>
            </a:pPr>
            <a:r>
              <a:rPr sz="1600" b="0">
                <a:solidFill>
                  <a:srgbClr val="222222"/>
                </a:solidFill>
                <a:latin typeface="맑은 고딕"/>
              </a:rPr>
              <a:t>•  실습 02 — ASH 보고서 생성(ashrpt.sql)과 구간 지정 🔒</a:t>
            </a:r>
          </a:p>
          <a:p>
            <a:pPr algn="l">
              <a:spcAft>
                <a:spcPts val="800"/>
              </a:spcAft>
            </a:pPr>
            <a:r>
              <a:rPr sz="1600" b="0">
                <a:solidFill>
                  <a:srgbClr val="222222"/>
                </a:solidFill>
                <a:latin typeface="맑은 고딕"/>
              </a:rPr>
              <a:t>•  실습 03 — 특정 10분 구간의 상위 세션·SQL·대기 도출(ON CPU 90.7%) 🔒</a:t>
            </a:r>
          </a:p>
          <a:p>
            <a:pPr algn="l">
              <a:spcAft>
                <a:spcPts val="800"/>
              </a:spcAft>
            </a:pPr>
            <a:r>
              <a:rPr sz="1600" b="0">
                <a:solidFill>
                  <a:srgbClr val="222222"/>
                </a:solidFill>
                <a:latin typeface="맑은 고딕"/>
              </a:rPr>
              <a:t>•  실습 04 — 세션 단위 추적: SAMPLE_TIME 순 재구성 🔒</a:t>
            </a:r>
          </a:p>
          <a:p>
            <a:pPr algn="l">
              <a:spcAft>
                <a:spcPts val="800"/>
              </a:spcAft>
            </a:pPr>
            <a:r>
              <a:rPr sz="1600" b="0">
                <a:solidFill>
                  <a:srgbClr val="222222"/>
                </a:solidFill>
                <a:latin typeface="맑은 고딕"/>
              </a:rPr>
              <a:t>•  실습 05 — DBA_HIST_ACTIVE_SESS_HISTORY 보존 구간 분석 🔒</a:t>
            </a:r>
          </a:p>
          <a:p>
            <a:pPr algn="l">
              <a:spcAft>
                <a:spcPts val="800"/>
              </a:spcAft>
            </a:pPr>
            <a:r>
              <a:rPr sz="1600" b="0">
                <a:solidFill>
                  <a:srgbClr val="222222"/>
                </a:solidFill>
                <a:latin typeface="맑은 고딕"/>
              </a:rPr>
              <a:t>•  실습 06 — AWR로 안 보이고 ASH로만 보이는 짧은 스파이크 재현 🔒</a:t>
            </a:r>
          </a:p>
        </p:txBody>
      </p:sp>
    </p:spTree>
    <p:extLst>
      <p:ext uri="{BB962C8B-B14F-4D97-AF65-F5344CB8AC3E}">
        <p14:creationId xmlns:p14="http://schemas.microsoft.com/office/powerpoint/2010/main" val="1324370092"/>
      </p:ext>
    </p:extLst>
  </p:cSld>
  <p:clrMapOvr>
    <a:masterClrMapping/>
  </p:clrMapOvr>
</p:sld>
</file>

<file path=ppt/slides/slide10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Day 8</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V$ 진단·대기 이벤트·모니터링·메모리 구조</a:t>
            </a:r>
          </a:p>
        </p:txBody>
      </p:sp>
      <p:sp>
        <p:nvSpPr>
          <p:cNvPr id="5" name="Rectangle 4"/>
          <p:cNvSpPr/>
          <p:nvPr/>
        </p:nvSpPr>
        <p:spPr>
          <a:xfrm>
            <a:off x="822960" y="4114800"/>
            <a:ext cx="5486400"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r>
              <a:rPr sz="1600" b="0">
                <a:solidFill>
                  <a:srgbClr val="FFFFFF"/>
                </a:solidFill>
                <a:latin typeface="맑은 고딕"/>
              </a:rPr>
              <a:t>•  TUN ch26 · ch27(3.5h) · ch28(1h) · ch29(1h)</a:t>
            </a:r>
          </a:p>
          <a:p>
            <a:r>
              <a:rPr sz="1600" b="0">
                <a:solidFill>
                  <a:srgbClr val="FFFFFF"/>
                </a:solidFill>
                <a:latin typeface="맑은 고딕"/>
              </a:rPr>
              <a:t>•  8h</a:t>
            </a:r>
          </a:p>
        </p:txBody>
      </p:sp>
    </p:spTree>
  </p:cSld>
  <p:clrMapOvr>
    <a:masterClrMapping/>
  </p:clrMapOvr>
</p:sld>
</file>

<file path=ppt/slides/slide10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5394960"/>
            <a:ext cx="12188952"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457200"/>
            <a:ext cx="10698480" cy="548640"/>
          </a:xfrm>
          <a:prstGeom prst="rect">
            <a:avLst/>
          </a:prstGeom>
          <a:noFill/>
        </p:spPr>
        <p:txBody>
          <a:bodyPr wrap="square" anchor="t">
            <a:spAutoFit/>
          </a:bodyPr>
          <a:lstStyle/>
          <a:p>
            <a:pPr algn="l">
              <a:spcAft>
                <a:spcPts val="600"/>
              </a:spcAft>
            </a:pPr>
            <a:r>
              <a:rPr sz="1600" b="1">
                <a:solidFill>
                  <a:srgbClr val="FFFFFF"/>
                </a:solidFill>
                <a:latin typeface="맑은 고딕"/>
                <a:ea typeface="맑은 고딕"/>
              </a:rPr>
              <a:t>Oracle Database 19c 성능 튜닝 실무 과정</a:t>
            </a:r>
          </a:p>
        </p:txBody>
      </p:sp>
      <p:sp>
        <p:nvSpPr>
          <p:cNvPr id="6" name="TextBox 5"/>
          <p:cNvSpPr txBox="1"/>
          <p:nvPr/>
        </p:nvSpPr>
        <p:spPr>
          <a:xfrm>
            <a:off x="731520" y="2377440"/>
            <a:ext cx="10698480" cy="1554480"/>
          </a:xfrm>
          <a:prstGeom prst="rect">
            <a:avLst/>
          </a:prstGeom>
          <a:noFill/>
        </p:spPr>
        <p:txBody>
          <a:bodyPr wrap="square" anchor="t">
            <a:spAutoFit/>
          </a:bodyPr>
          <a:lstStyle/>
          <a:p>
            <a:pPr algn="l">
              <a:spcAft>
                <a:spcPts val="400"/>
              </a:spcAft>
            </a:pPr>
            <a:r>
              <a:rPr sz="3400" b="1">
                <a:solidFill>
                  <a:srgbClr val="C0392B"/>
                </a:solidFill>
                <a:latin typeface="맑은 고딕"/>
                <a:ea typeface="맑은 고딕"/>
              </a:rPr>
              <a:t>V$ 인스턴스 튜닝 ① — 절차와 통계 해석</a:t>
            </a:r>
          </a:p>
          <a:p>
            <a:pPr algn="l">
              <a:spcAft>
                <a:spcPts val="400"/>
              </a:spcAft>
            </a:pPr>
            <a:r>
              <a:rPr sz="2000" b="0">
                <a:solidFill>
                  <a:srgbClr val="5A6672"/>
                </a:solidFill>
                <a:latin typeface="맑은 고딕"/>
                <a:ea typeface="맑은 고딕"/>
              </a:rPr>
              <a:t>Instance Tuning Using Performance Views — 절차와 통계</a:t>
            </a:r>
          </a:p>
        </p:txBody>
      </p:sp>
      <p:sp>
        <p:nvSpPr>
          <p:cNvPr id="7" name="TextBox 6"/>
          <p:cNvSpPr txBox="1"/>
          <p:nvPr/>
        </p:nvSpPr>
        <p:spPr>
          <a:xfrm>
            <a:off x="731520" y="4114800"/>
            <a:ext cx="10698480" cy="109728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진단 절차 · 세션→대기→SQL→세그먼트 · V$SYSSTAT 델타 · V$SQL 상위 SQL · 절대값 오판 교정</a:t>
            </a:r>
          </a:p>
        </p:txBody>
      </p:sp>
      <p:sp>
        <p:nvSpPr>
          <p:cNvPr id="8" name="TextBox 7"/>
          <p:cNvSpPr txBox="1"/>
          <p:nvPr/>
        </p:nvSpPr>
        <p:spPr>
          <a:xfrm>
            <a:off x="731520" y="5577840"/>
            <a:ext cx="10698480" cy="914400"/>
          </a:xfrm>
          <a:prstGeom prst="rect">
            <a:avLst/>
          </a:prstGeom>
          <a:noFill/>
        </p:spPr>
        <p:txBody>
          <a:bodyPr wrap="square" anchor="t">
            <a:spAutoFit/>
          </a:bodyPr>
          <a:lstStyle/>
          <a:p>
            <a:pPr algn="l">
              <a:spcAft>
                <a:spcPts val="600"/>
              </a:spcAft>
            </a:pPr>
            <a:r>
              <a:rPr sz="2000" b="1">
                <a:solidFill>
                  <a:srgbClr val="C0392B"/>
                </a:solidFill>
                <a:latin typeface="맑은 고딕"/>
                <a:ea typeface="맑은 고딕"/>
              </a:rPr>
              <a:t>ch26</a:t>
            </a:r>
          </a:p>
        </p:txBody>
      </p:sp>
    </p:spTree>
    <p:extLst>
      <p:ext uri="{BB962C8B-B14F-4D97-AF65-F5344CB8AC3E}">
        <p14:creationId xmlns:p14="http://schemas.microsoft.com/office/powerpoint/2010/main" val="3121716956"/>
      </p:ext>
    </p:extLst>
  </p:cSld>
  <p:clrMapOvr>
    <a:masterClrMapping/>
  </p:clrMapOvr>
</p:sld>
</file>

<file path=ppt/slides/slide10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학습 목표 (Objectives)</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900"/>
              </a:spcAft>
            </a:pPr>
            <a:r>
              <a:rPr sz="1600" b="0">
                <a:solidFill>
                  <a:srgbClr val="222222"/>
                </a:solidFill>
                <a:latin typeface="맑은 고딕"/>
                <a:ea typeface="맑은 고딕"/>
              </a:rPr>
              <a:t>•  인스턴스 튜닝 방법론 4단계(문제 정의→통계 검토→변경·측정→반복)를 설명한다.</a:t>
            </a:r>
          </a:p>
          <a:p>
            <a:pPr algn="l">
              <a:spcAft>
                <a:spcPts val="900"/>
              </a:spcAft>
            </a:pPr>
            <a:r>
              <a:rPr sz="1600" b="0">
                <a:solidFill>
                  <a:srgbClr val="222222"/>
                </a:solidFill>
                <a:latin typeface="맑은 고딕"/>
                <a:ea typeface="맑은 고딕"/>
              </a:rPr>
              <a:t>•  세션→대기→SQL→세그먼트의 실시간 진단 경로를 순서대로 밟는다.</a:t>
            </a:r>
          </a:p>
          <a:p>
            <a:pPr algn="l">
              <a:spcAft>
                <a:spcPts val="900"/>
              </a:spcAft>
            </a:pPr>
            <a:r>
              <a:rPr sz="1600" b="0">
                <a:solidFill>
                  <a:srgbClr val="222222"/>
                </a:solidFill>
                <a:latin typeface="맑은 고딕"/>
                <a:ea typeface="맑은 고딕"/>
              </a:rPr>
              <a:t>•  V$SYSSTAT 값이 누적임을 알고, 델타를 초·트랜잭션당으로 정규화한다.</a:t>
            </a:r>
          </a:p>
          <a:p>
            <a:pPr algn="l">
              <a:spcAft>
                <a:spcPts val="900"/>
              </a:spcAft>
            </a:pPr>
            <a:r>
              <a:rPr sz="1600" b="0">
                <a:solidFill>
                  <a:srgbClr val="222222"/>
                </a:solidFill>
                <a:latin typeface="맑은 고딕"/>
                <a:ea typeface="맑은 고딕"/>
              </a:rPr>
              <a:t>•  session logical reads·parse count·execute count 등 부하 통계를 읽는다.</a:t>
            </a:r>
          </a:p>
          <a:p>
            <a:pPr algn="l">
              <a:spcAft>
                <a:spcPts val="900"/>
              </a:spcAft>
            </a:pPr>
            <a:r>
              <a:rPr sz="1600" b="0">
                <a:solidFill>
                  <a:srgbClr val="222222"/>
                </a:solidFill>
                <a:latin typeface="맑은 고딕"/>
                <a:ea typeface="맑은 고딕"/>
              </a:rPr>
              <a:t>•  V$SQL을 실행시간·논리읽기·실행횟수·실행당으로 정렬해 상위 SQL을 선별한다.</a:t>
            </a:r>
          </a:p>
          <a:p>
            <a:pPr algn="l">
              <a:spcAft>
                <a:spcPts val="900"/>
              </a:spcAft>
            </a:pPr>
            <a:r>
              <a:rPr sz="1600" b="0">
                <a:solidFill>
                  <a:srgbClr val="222222"/>
                </a:solidFill>
                <a:latin typeface="맑은 고딕"/>
                <a:ea typeface="맑은 고딕"/>
              </a:rPr>
              <a:t>•  '절대값 기준 상위 SQL 선별'의 오판을 델타·비율·시그니처로 교정한다.</a:t>
            </a:r>
          </a:p>
          <a:p>
            <a:pPr algn="l">
              <a:spcAft>
                <a:spcPts val="900"/>
              </a:spcAft>
            </a:pPr>
            <a:r>
              <a:rPr sz="1600" b="0">
                <a:solidFill>
                  <a:srgbClr val="222222"/>
                </a:solidFill>
                <a:latin typeface="맑은 고딕"/>
                <a:ea typeface="맑은 고딕"/>
              </a:rPr>
              <a:t>•  V$ 실시간 조회는 라이선스가 필요 없고 DBA_HIST는 Diagnostics Pack이 필요함을 구분한다.</a:t>
            </a:r>
          </a:p>
        </p:txBody>
      </p:sp>
    </p:spTree>
    <p:extLst>
      <p:ext uri="{BB962C8B-B14F-4D97-AF65-F5344CB8AC3E}">
        <p14:creationId xmlns:p14="http://schemas.microsoft.com/office/powerpoint/2010/main" val="3550618744"/>
      </p:ext>
    </p:extLst>
  </p:cSld>
  <p:clrMapOvr>
    <a:masterClrMapping/>
  </p:clrMapOvr>
</p:sld>
</file>

<file path=ppt/slides/slide10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이 장의 구성 (Agenda)</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900"/>
              </a:spcAft>
            </a:pPr>
            <a:r>
              <a:rPr sz="1600" b="0">
                <a:solidFill>
                  <a:srgbClr val="222222"/>
                </a:solidFill>
                <a:latin typeface="맑은 고딕"/>
                <a:ea typeface="맑은 고딕"/>
              </a:rPr>
              <a:t>•  26.2  인스턴스 튜닝의 절차 — 무엇을 순서로 하는가</a:t>
            </a:r>
          </a:p>
          <a:p>
            <a:pPr algn="l">
              <a:spcAft>
                <a:spcPts val="900"/>
              </a:spcAft>
            </a:pPr>
            <a:r>
              <a:rPr sz="1600" b="0">
                <a:solidFill>
                  <a:srgbClr val="222222"/>
                </a:solidFill>
                <a:latin typeface="맑은 고딕"/>
                <a:ea typeface="맑은 고딕"/>
              </a:rPr>
              <a:t>•  26.3  실시간 진단 경로 — 세션 → 대기 → SQL → 세그먼트</a:t>
            </a:r>
          </a:p>
          <a:p>
            <a:pPr algn="l">
              <a:spcAft>
                <a:spcPts val="900"/>
              </a:spcAft>
            </a:pPr>
            <a:r>
              <a:rPr sz="1600" b="0">
                <a:solidFill>
                  <a:srgbClr val="222222"/>
                </a:solidFill>
                <a:latin typeface="맑은 고딕"/>
                <a:ea typeface="맑은 고딕"/>
              </a:rPr>
              <a:t>•  26.4  V$SYSSTAT — 시스템 통계 읽기(누적값·델타·정규화)</a:t>
            </a:r>
          </a:p>
          <a:p>
            <a:pPr algn="l">
              <a:spcAft>
                <a:spcPts val="900"/>
              </a:spcAft>
            </a:pPr>
            <a:r>
              <a:rPr sz="1600" b="0">
                <a:solidFill>
                  <a:srgbClr val="222222"/>
                </a:solidFill>
                <a:latin typeface="맑은 고딕"/>
                <a:ea typeface="맑은 고딕"/>
              </a:rPr>
              <a:t>•  26.5  V$SQL — 상위 부하 SQL 선별</a:t>
            </a:r>
          </a:p>
          <a:p>
            <a:pPr algn="l">
              <a:spcAft>
                <a:spcPts val="900"/>
              </a:spcAft>
            </a:pPr>
            <a:r>
              <a:rPr sz="1600" b="0">
                <a:solidFill>
                  <a:srgbClr val="222222"/>
                </a:solidFill>
                <a:latin typeface="맑은 고딕"/>
                <a:ea typeface="맑은 고딕"/>
              </a:rPr>
              <a:t>•  26.6  절대값을 델타·비율로 교정한다 — 이 장의 축</a:t>
            </a:r>
          </a:p>
          <a:p>
            <a:pPr algn="l">
              <a:spcAft>
                <a:spcPts val="900"/>
              </a:spcAft>
            </a:pPr>
            <a:r>
              <a:rPr sz="1600" b="0">
                <a:solidFill>
                  <a:srgbClr val="222222"/>
                </a:solidFill>
                <a:latin typeface="맑은 고딕"/>
                <a:ea typeface="맑은 고딕"/>
              </a:rPr>
              <a:t>•  26.7  AWR 없이도 진단은 된다 — V$의 위치</a:t>
            </a:r>
          </a:p>
          <a:p>
            <a:pPr algn="l">
              <a:spcAft>
                <a:spcPts val="900"/>
              </a:spcAft>
            </a:pPr>
            <a:r>
              <a:rPr sz="1600" b="0">
                <a:solidFill>
                  <a:srgbClr val="222222"/>
                </a:solidFill>
                <a:latin typeface="맑은 고딕"/>
                <a:ea typeface="맑은 고딕"/>
              </a:rPr>
              <a:t>•  ※ ADMIN 31장의 성능 뷰 소개를 실시간 진단 절차로 확장한다(non-CDB orcl 19.3).</a:t>
            </a:r>
          </a:p>
        </p:txBody>
      </p:sp>
    </p:spTree>
    <p:extLst>
      <p:ext uri="{BB962C8B-B14F-4D97-AF65-F5344CB8AC3E}">
        <p14:creationId xmlns:p14="http://schemas.microsoft.com/office/powerpoint/2010/main" val="383424048"/>
      </p:ext>
    </p:extLst>
  </p:cSld>
  <p:clrMapOvr>
    <a:masterClrMapping/>
  </p:clrMapOvr>
</p:sld>
</file>

<file path=ppt/slides/slide10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nchor="t">
            <a:spAutoFit/>
          </a:bodyPr>
          <a:lstStyle/>
          <a:p>
            <a:pPr algn="l">
              <a:spcAft>
                <a:spcPts val="600"/>
              </a:spcAft>
            </a:pPr>
            <a:r>
              <a:rPr sz="4000" b="1">
                <a:solidFill>
                  <a:srgbClr val="FFFFFF"/>
                </a:solidFill>
                <a:latin typeface="맑은 고딕"/>
                <a:ea typeface="맑은 고딕"/>
              </a:rPr>
              <a:t>26.2</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spcAft>
                <a:spcPts val="600"/>
              </a:spcAft>
            </a:pPr>
            <a:r>
              <a:rPr sz="2800" b="1">
                <a:solidFill>
                  <a:srgbClr val="FFFFFF"/>
                </a:solidFill>
                <a:latin typeface="맑은 고딕"/>
                <a:ea typeface="맑은 고딕"/>
              </a:rPr>
              <a:t>인스턴스 튜닝의 절차</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ea typeface="맑은 고딕"/>
              </a:rPr>
              <a:t>•  문제 정의 → 호스트·인스턴스 통계 → 변경·측정 → 반복</a:t>
            </a:r>
          </a:p>
          <a:p>
            <a:pPr algn="l">
              <a:spcAft>
                <a:spcPts val="600"/>
              </a:spcAft>
            </a:pPr>
            <a:r>
              <a:rPr sz="1600" b="0">
                <a:solidFill>
                  <a:srgbClr val="FFFFFF"/>
                </a:solidFill>
                <a:latin typeface="맑은 고딕"/>
                <a:ea typeface="맑은 고딕"/>
              </a:rPr>
              <a:t>•  기준선 없이는 성공을 증명할 수 없다</a:t>
            </a:r>
          </a:p>
          <a:p>
            <a:pPr algn="l">
              <a:spcAft>
                <a:spcPts val="600"/>
              </a:spcAft>
            </a:pPr>
            <a:r>
              <a:rPr sz="1600" b="0">
                <a:solidFill>
                  <a:srgbClr val="FFFFFF"/>
                </a:solidFill>
                <a:latin typeface="맑은 고딕"/>
                <a:ea typeface="맑은 고딕"/>
              </a:rPr>
              <a:t>•  증상과 원인을 혼동하지 않는다</a:t>
            </a:r>
          </a:p>
        </p:txBody>
      </p:sp>
    </p:spTree>
    <p:extLst>
      <p:ext uri="{BB962C8B-B14F-4D97-AF65-F5344CB8AC3E}">
        <p14:creationId xmlns:p14="http://schemas.microsoft.com/office/powerpoint/2010/main" val="1740675181"/>
      </p:ext>
    </p:extLst>
  </p:cSld>
  <p:clrMapOvr>
    <a:masterClrMapping/>
  </p:clrMapOvr>
</p:sld>
</file>

<file path=ppt/slides/slide10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성능 튜닝 방법론 4단계</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오라클이 권하는 반복 과정</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① 문제 정의: 목표·범위·시간대·정량화·변경사항을 수집</a:t>
            </a:r>
          </a:p>
          <a:p>
            <a:pPr algn="l">
              <a:spcAft>
                <a:spcPts val="1000"/>
              </a:spcAft>
            </a:pPr>
            <a:r>
              <a:rPr sz="1700" b="0">
                <a:solidFill>
                  <a:srgbClr val="222222"/>
                </a:solidFill>
                <a:latin typeface="맑은 고딕"/>
                <a:ea typeface="맑은 고딕"/>
              </a:rPr>
              <a:t>•  ② 호스트·인스턴스 통계 검토: OS와 오라클 통계를 교차</a:t>
            </a:r>
          </a:p>
          <a:p>
            <a:pPr algn="l">
              <a:spcAft>
                <a:spcPts val="1000"/>
              </a:spcAft>
            </a:pPr>
            <a:r>
              <a:rPr sz="1700" b="0">
                <a:solidFill>
                  <a:srgbClr val="222222"/>
                </a:solidFill>
                <a:latin typeface="맑은 고딕"/>
                <a:ea typeface="맑은 고딕"/>
              </a:rPr>
              <a:t>•  ③ 변경과 측정: 한 번에 하나만 바꿔 기준선과 대비</a:t>
            </a:r>
          </a:p>
          <a:p>
            <a:pPr algn="l">
              <a:spcAft>
                <a:spcPts val="1000"/>
              </a:spcAft>
            </a:pPr>
            <a:r>
              <a:rPr sz="1700" b="0">
                <a:solidFill>
                  <a:srgbClr val="222222"/>
                </a:solidFill>
                <a:latin typeface="맑은 고딕"/>
                <a:ea typeface="맑은 고딕"/>
              </a:rPr>
              <a:t>•  ④ 목표 미달 시 ②③ 반복 — 은탄환은 없다</a:t>
            </a:r>
          </a:p>
        </p:txBody>
      </p:sp>
    </p:spTree>
    <p:extLst>
      <p:ext uri="{BB962C8B-B14F-4D97-AF65-F5344CB8AC3E}">
        <p14:creationId xmlns:p14="http://schemas.microsoft.com/office/powerpoint/2010/main" val="3108023575"/>
      </p:ext>
    </p:extLst>
  </p:cSld>
  <p:clrMapOvr>
    <a:masterClrMapping/>
  </p:clrMapOvr>
</p:sld>
</file>

<file path=ppt/slides/slide10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① 문제 정의</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해결 전에 문제의 성격을 이해한다</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성능 목표: 시간당 몇 건, 응답 몇 초가 허용 가능한가</a:t>
            </a:r>
          </a:p>
          <a:p>
            <a:pPr algn="l">
              <a:spcAft>
                <a:spcPts val="1000"/>
              </a:spcAft>
            </a:pPr>
            <a:r>
              <a:rPr sz="1700" b="0">
                <a:solidFill>
                  <a:srgbClr val="222222"/>
                </a:solidFill>
                <a:latin typeface="맑은 고딕"/>
                <a:ea typeface="맑은 고딕"/>
              </a:rPr>
              <a:t>•  범위: 인스턴스 전체인가, 특정 앱·프로그램·사용자인가</a:t>
            </a:r>
          </a:p>
          <a:p>
            <a:pPr algn="l">
              <a:spcAft>
                <a:spcPts val="1000"/>
              </a:spcAft>
            </a:pPr>
            <a:r>
              <a:rPr sz="1700" b="0">
                <a:solidFill>
                  <a:srgbClr val="222222"/>
                </a:solidFill>
                <a:latin typeface="맑은 고딕"/>
                <a:ea typeface="맑은 고딕"/>
              </a:rPr>
              <a:t>•  시간대: 피크에만인가, 점진적인가, 갑작스러운가</a:t>
            </a:r>
          </a:p>
          <a:p>
            <a:pPr algn="l">
              <a:spcAft>
                <a:spcPts val="1000"/>
              </a:spcAft>
            </a:pPr>
            <a:r>
              <a:rPr sz="1700" b="0">
                <a:solidFill>
                  <a:srgbClr val="222222"/>
                </a:solidFill>
                <a:latin typeface="맑은 고딕"/>
                <a:ea typeface="맑은 고딕"/>
              </a:rPr>
              <a:t>•  정량화: 재현 가능한 응답시간을 확보 → 조치 전후 비교 기준</a:t>
            </a:r>
          </a:p>
          <a:p>
            <a:pPr algn="l">
              <a:spcAft>
                <a:spcPts val="1000"/>
              </a:spcAft>
            </a:pPr>
            <a:r>
              <a:rPr sz="1700" b="0">
                <a:solidFill>
                  <a:srgbClr val="222222"/>
                </a:solidFill>
                <a:latin typeface="맑은 고딕"/>
                <a:ea typeface="맑은 고딕"/>
              </a:rPr>
              <a:t>•  증상과 원인의 구분: 통계는 대개 증상을 가리킨다</a:t>
            </a:r>
          </a:p>
        </p:txBody>
      </p:sp>
    </p:spTree>
    <p:extLst>
      <p:ext uri="{BB962C8B-B14F-4D97-AF65-F5344CB8AC3E}">
        <p14:creationId xmlns:p14="http://schemas.microsoft.com/office/powerpoint/2010/main" val="262462820"/>
      </p:ext>
    </p:extLst>
  </p:cSld>
  <p:clrMapOvr>
    <a:masterClrMapping/>
  </p:clrMapOvr>
</p:sld>
</file>

<file path=ppt/slides/slide10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② 호스트·인스턴스 통계 검토</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OS와 오라클을 교차 확인</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호스트: CPU·I/O·네트워크 — 유휴 CPU 많으면 I/O·앱 병목 의심</a:t>
            </a:r>
          </a:p>
          <a:p>
            <a:pPr algn="l">
              <a:spcAft>
                <a:spcPts val="1000"/>
              </a:spcAft>
            </a:pPr>
            <a:r>
              <a:rPr sz="1700" b="0">
                <a:solidFill>
                  <a:srgbClr val="222222"/>
                </a:solidFill>
                <a:latin typeface="맑은 고딕"/>
                <a:ea typeface="맑은 고딕"/>
              </a:rPr>
              <a:t>•  I/O: V$SYSTEM_EVENT의 db file 계열, V$IOSTAT_FILE 지연</a:t>
            </a:r>
          </a:p>
          <a:p>
            <a:pPr algn="l">
              <a:spcAft>
                <a:spcPts val="1000"/>
              </a:spcAft>
            </a:pPr>
            <a:r>
              <a:rPr sz="1700" b="0">
                <a:solidFill>
                  <a:srgbClr val="222222"/>
                </a:solidFill>
                <a:latin typeface="맑은 고딕"/>
                <a:ea typeface="맑은 고딕"/>
              </a:rPr>
              <a:t>•  CPU: V$SYSSTAT(전체)·V$SESSTAT(세션별)·V$SYS_TIME_MODEL</a:t>
            </a:r>
          </a:p>
          <a:p>
            <a:pPr algn="l">
              <a:spcAft>
                <a:spcPts val="1000"/>
              </a:spcAft>
            </a:pPr>
            <a:r>
              <a:rPr sz="1700" b="0">
                <a:solidFill>
                  <a:srgbClr val="222222"/>
                </a:solidFill>
                <a:latin typeface="맑은 고딕"/>
                <a:ea typeface="맑은 고딕"/>
              </a:rPr>
              <a:t>•  오라클 통계를 OS 통계와 맞춰 진단의 일관성 확보</a:t>
            </a:r>
          </a:p>
        </p:txBody>
      </p:sp>
    </p:spTree>
    <p:extLst>
      <p:ext uri="{BB962C8B-B14F-4D97-AF65-F5344CB8AC3E}">
        <p14:creationId xmlns:p14="http://schemas.microsoft.com/office/powerpoint/2010/main" val="2729381883"/>
      </p:ext>
    </p:extLst>
  </p:cSld>
  <p:clrMapOvr>
    <a:masterClrMapping/>
  </p:clrMapOvr>
</p:sld>
</file>

<file path=ppt/slides/slide10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③ 변경과 측정 · ④ 반복</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한 번에 하나만, 그리고 반복</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한 번에 하나만 바꾼다 → 인과를 잃지 않는다</a:t>
            </a:r>
          </a:p>
          <a:p>
            <a:pPr algn="l">
              <a:spcAft>
                <a:spcPts val="1000"/>
              </a:spcAft>
            </a:pPr>
            <a:r>
              <a:rPr sz="1700" b="0">
                <a:solidFill>
                  <a:srgbClr val="222222"/>
                </a:solidFill>
                <a:latin typeface="맑은 고딕"/>
                <a:ea typeface="맑은 고딕"/>
              </a:rPr>
              <a:t>•  기준선과 대비해 효과를 측정한다</a:t>
            </a:r>
          </a:p>
          <a:p>
            <a:pPr algn="l">
              <a:spcAft>
                <a:spcPts val="1000"/>
              </a:spcAft>
            </a:pPr>
            <a:r>
              <a:rPr sz="1700" b="0">
                <a:solidFill>
                  <a:srgbClr val="222222"/>
                </a:solidFill>
                <a:latin typeface="맑은 고딕"/>
                <a:ea typeface="맑은 고딕"/>
              </a:rPr>
              <a:t>•  분리 불가하면 성격이 다른 변경끼리라도 나눠 측정</a:t>
            </a:r>
          </a:p>
          <a:p>
            <a:pPr algn="l">
              <a:spcAft>
                <a:spcPts val="1000"/>
              </a:spcAft>
            </a:pPr>
            <a:r>
              <a:rPr sz="1700" b="0">
                <a:solidFill>
                  <a:srgbClr val="222222"/>
                </a:solidFill>
                <a:latin typeface="맑은 고딕"/>
                <a:ea typeface="맑은 고딕"/>
              </a:rPr>
              <a:t>•  하나의 병목을 없애면 다음 병목이 드러난다 — 반복</a:t>
            </a:r>
          </a:p>
          <a:p>
            <a:pPr algn="l">
              <a:spcAft>
                <a:spcPts val="1000"/>
              </a:spcAft>
            </a:pPr>
            <a:r>
              <a:rPr sz="1700" b="0">
                <a:solidFill>
                  <a:srgbClr val="222222"/>
                </a:solidFill>
                <a:latin typeface="맑은 고딕"/>
                <a:ea typeface="맑은 고딕"/>
              </a:rPr>
              <a:t>•  멈추는 기준은 통계가 아니라 사용자 체감 성능</a:t>
            </a:r>
          </a:p>
        </p:txBody>
      </p:sp>
    </p:spTree>
    <p:extLst>
      <p:ext uri="{BB962C8B-B14F-4D97-AF65-F5344CB8AC3E}">
        <p14:creationId xmlns:p14="http://schemas.microsoft.com/office/powerpoint/2010/main" val="1682382052"/>
      </p:ext>
    </p:extLst>
  </p:cSld>
  <p:clrMapOvr>
    <a:masterClrMapping/>
  </p:clrMapOvr>
</p:sld>
</file>

<file path=ppt/slides/slide10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nchor="t">
            <a:spAutoFit/>
          </a:bodyPr>
          <a:lstStyle/>
          <a:p>
            <a:pPr algn="l">
              <a:spcAft>
                <a:spcPts val="600"/>
              </a:spcAft>
            </a:pPr>
            <a:r>
              <a:rPr sz="4000" b="1">
                <a:solidFill>
                  <a:srgbClr val="FFFFFF"/>
                </a:solidFill>
                <a:latin typeface="맑은 고딕"/>
                <a:ea typeface="맑은 고딕"/>
              </a:rPr>
              <a:t>26.3</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spcAft>
                <a:spcPts val="600"/>
              </a:spcAft>
            </a:pPr>
            <a:r>
              <a:rPr sz="2800" b="1">
                <a:solidFill>
                  <a:srgbClr val="FFFFFF"/>
                </a:solidFill>
                <a:latin typeface="맑은 고딕"/>
                <a:ea typeface="맑은 고딕"/>
              </a:rPr>
              <a:t>실시간 진단 경로</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ea typeface="맑은 고딕"/>
              </a:rPr>
              <a:t>•  세션 → 대기 → SQL → 세그먼트</a:t>
            </a:r>
          </a:p>
          <a:p>
            <a:pPr algn="l">
              <a:spcAft>
                <a:spcPts val="600"/>
              </a:spcAft>
            </a:pPr>
            <a:r>
              <a:rPr sz="1600" b="0">
                <a:solidFill>
                  <a:srgbClr val="FFFFFF"/>
                </a:solidFill>
                <a:latin typeface="맑은 고딕"/>
                <a:ea typeface="맑은 고딕"/>
              </a:rPr>
              <a:t>•  각 칸이 다음 칸을 가리킨다</a:t>
            </a:r>
          </a:p>
          <a:p>
            <a:pPr algn="l">
              <a:spcAft>
                <a:spcPts val="600"/>
              </a:spcAft>
            </a:pPr>
            <a:r>
              <a:rPr sz="1600" b="0">
                <a:solidFill>
                  <a:srgbClr val="FFFFFF"/>
                </a:solidFill>
                <a:latin typeface="맑은 고딕"/>
                <a:ea typeface="맑은 고딕"/>
              </a:rPr>
              <a:t>•  라이선스 없이 V$만으로 병목까지</a:t>
            </a:r>
          </a:p>
        </p:txBody>
      </p:sp>
    </p:spTree>
    <p:extLst>
      <p:ext uri="{BB962C8B-B14F-4D97-AF65-F5344CB8AC3E}">
        <p14:creationId xmlns:p14="http://schemas.microsoft.com/office/powerpoint/2010/main" val="1682991011"/>
      </p:ext>
    </p:extLst>
  </p:cSld>
  <p:clrMapOvr>
    <a:masterClrMapping/>
  </p:clrMapOvr>
</p:sld>
</file>

<file path=ppt/slides/slide10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왜 세션 → 대기 → SQL → 세그먼트인가</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좁은 입구로 들어가 범위를 좁힌다</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활성 세션 = '지금 실제로 자원을 쓰는 소수'</a:t>
            </a:r>
          </a:p>
          <a:p>
            <a:pPr algn="l">
              <a:spcAft>
                <a:spcPts val="1000"/>
              </a:spcAft>
            </a:pPr>
            <a:r>
              <a:rPr sz="1700" b="0">
                <a:solidFill>
                  <a:srgbClr val="222222"/>
                </a:solidFill>
                <a:latin typeface="맑은 고딕"/>
                <a:ea typeface="맑은 고딕"/>
              </a:rPr>
              <a:t>•  대기 = 어느 자원이 병목인지 방향을 가리킴</a:t>
            </a:r>
          </a:p>
          <a:p>
            <a:pPr algn="l">
              <a:spcAft>
                <a:spcPts val="1000"/>
              </a:spcAft>
            </a:pPr>
            <a:r>
              <a:rPr sz="1700" b="0">
                <a:solidFill>
                  <a:srgbClr val="222222"/>
                </a:solidFill>
                <a:latin typeface="맑은 고딕"/>
                <a:ea typeface="맑은 고딕"/>
              </a:rPr>
              <a:t>•  SQL = 원인 문장을 특정</a:t>
            </a:r>
          </a:p>
          <a:p>
            <a:pPr algn="l">
              <a:spcAft>
                <a:spcPts val="1000"/>
              </a:spcAft>
            </a:pPr>
            <a:r>
              <a:rPr sz="1700" b="0">
                <a:solidFill>
                  <a:srgbClr val="222222"/>
                </a:solidFill>
                <a:latin typeface="맑은 고딕"/>
                <a:ea typeface="맑은 고딕"/>
              </a:rPr>
              <a:t>•  세그먼트 = 조치 대상 객체까지 도달</a:t>
            </a:r>
          </a:p>
          <a:p>
            <a:pPr algn="l">
              <a:spcAft>
                <a:spcPts val="1000"/>
              </a:spcAft>
            </a:pPr>
            <a:r>
              <a:rPr sz="1700" b="0">
                <a:solidFill>
                  <a:srgbClr val="222222"/>
                </a:solidFill>
                <a:latin typeface="맑은 고딕"/>
                <a:ea typeface="맑은 고딕"/>
              </a:rPr>
              <a:t>•  통계부터 뒤지면 무엇이 관련 있는지 알 수 없어 길을 잃는다</a:t>
            </a:r>
          </a:p>
        </p:txBody>
      </p:sp>
    </p:spTree>
    <p:extLst>
      <p:ext uri="{BB962C8B-B14F-4D97-AF65-F5344CB8AC3E}">
        <p14:creationId xmlns:p14="http://schemas.microsoft.com/office/powerpoint/2010/main" val="2423075915"/>
      </p:ext>
    </p:extLst>
  </p:cSld>
  <p:clrMapOvr>
    <a:masterClrMapping/>
  </p:clrMapOvr>
</p:sld>
</file>

<file path=ppt/slides/slide10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세션: 지금 누가 무엇을 하는가</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V$SESSION</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status='ACTIVE'인 사용자 세션만 추린다</a:t>
            </a:r>
          </a:p>
          <a:p>
            <a:pPr algn="l">
              <a:spcAft>
                <a:spcPts val="1000"/>
              </a:spcAft>
            </a:pPr>
            <a:r>
              <a:rPr sz="1700" b="0">
                <a:solidFill>
                  <a:srgbClr val="222222"/>
                </a:solidFill>
                <a:latin typeface="맑은 고딕"/>
                <a:ea typeface="맑은 고딕"/>
              </a:rPr>
              <a:t>•  핵심 열: SQL_ID·EVENT·WAIT_CLASS·BLOCKING_SESSION·ROW_WAIT_OBJ#</a:t>
            </a:r>
          </a:p>
          <a:p>
            <a:pPr algn="l">
              <a:spcAft>
                <a:spcPts val="1000"/>
              </a:spcAft>
            </a:pPr>
            <a:r>
              <a:rPr sz="1700" b="0">
                <a:solidFill>
                  <a:srgbClr val="222222"/>
                </a:solidFill>
                <a:latin typeface="맑은 고딕"/>
                <a:ea typeface="맑은 고딕"/>
              </a:rPr>
              <a:t>•  BLOCKING_SESSION으로 '누가 누구를 막는가' 확인</a:t>
            </a:r>
          </a:p>
          <a:p>
            <a:pPr algn="l">
              <a:spcAft>
                <a:spcPts val="1000"/>
              </a:spcAft>
            </a:pPr>
            <a:r>
              <a:rPr sz="1700" b="0">
                <a:solidFill>
                  <a:srgbClr val="222222"/>
                </a:solidFill>
                <a:latin typeface="맑은 고딕"/>
                <a:ea typeface="맑은 고딕"/>
              </a:rPr>
              <a:t>•  ROW_WAIT_OBJ#를 DBA_OBJECTS와 조인해 경합 객체 특정</a:t>
            </a:r>
          </a:p>
        </p:txBody>
      </p:sp>
    </p:spTree>
    <p:extLst>
      <p:ext uri="{BB962C8B-B14F-4D97-AF65-F5344CB8AC3E}">
        <p14:creationId xmlns:p14="http://schemas.microsoft.com/office/powerpoint/2010/main" val="1573741265"/>
      </p:ext>
    </p:extLst>
  </p:cSld>
  <p:clrMapOvr>
    <a:masterClrMapping/>
  </p:clrMapOvr>
</p:sld>
</file>

<file path=ppt/slides/slide10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V$SESSION 실측 — 활성 세션과 대기</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부하 구간 SQLT 세션 관측(orcl 19.3)</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9728" rIns="137160" bIns="109728" rtlCol="0" anchor="ctr"/>
          <a:lstStyle/>
          <a:p>
            <a:pPr>
              <a:lnSpc>
                <a:spcPct val="100000"/>
              </a:lnSpc>
              <a:spcAft>
                <a:spcPts val="0"/>
              </a:spcAft>
            </a:pPr>
            <a:r>
              <a:rPr sz="1250" b="0" dirty="0" err="1">
                <a:solidFill>
                  <a:srgbClr val="F2F2F2"/>
                </a:solidFill>
                <a:latin typeface="Consolas"/>
                <a:ea typeface="Consolas"/>
              </a:rPr>
              <a:t>SYS@orcl</a:t>
            </a:r>
            <a:r>
              <a:rPr sz="1250" b="0" dirty="0">
                <a:solidFill>
                  <a:srgbClr val="F2F2F2"/>
                </a:solidFill>
                <a:latin typeface="Consolas"/>
                <a:ea typeface="Consolas"/>
              </a:rPr>
              <a:t>&gt; SELECT </a:t>
            </a:r>
            <a:r>
              <a:rPr sz="1250" b="0" dirty="0" err="1">
                <a:solidFill>
                  <a:srgbClr val="F2F2F2"/>
                </a:solidFill>
                <a:latin typeface="Consolas"/>
                <a:ea typeface="Consolas"/>
              </a:rPr>
              <a:t>sid</a:t>
            </a:r>
            <a:r>
              <a:rPr sz="1250" b="0" dirty="0">
                <a:solidFill>
                  <a:srgbClr val="F2F2F2"/>
                </a:solidFill>
                <a:latin typeface="Consolas"/>
                <a:ea typeface="Consolas"/>
              </a:rPr>
              <a:t>, status, SUBSTR(event,1,30) event,</a:t>
            </a:r>
          </a:p>
          <a:p>
            <a:pPr>
              <a:lnSpc>
                <a:spcPct val="100000"/>
              </a:lnSpc>
              <a:spcAft>
                <a:spcPts val="0"/>
              </a:spcAft>
            </a:pPr>
            <a:r>
              <a:rPr sz="1250" b="0" dirty="0">
                <a:solidFill>
                  <a:srgbClr val="F2F2F2"/>
                </a:solidFill>
                <a:latin typeface="Consolas"/>
                <a:ea typeface="Consolas"/>
              </a:rPr>
              <a:t>  2         </a:t>
            </a:r>
            <a:r>
              <a:rPr sz="1250" b="0" dirty="0" err="1">
                <a:solidFill>
                  <a:srgbClr val="F2F2F2"/>
                </a:solidFill>
                <a:latin typeface="Consolas"/>
                <a:ea typeface="Consolas"/>
              </a:rPr>
              <a:t>wait_class</a:t>
            </a:r>
            <a:r>
              <a:rPr sz="1250" b="0" dirty="0">
                <a:solidFill>
                  <a:srgbClr val="F2F2F2"/>
                </a:solidFill>
                <a:latin typeface="Consolas"/>
                <a:ea typeface="Consolas"/>
              </a:rPr>
              <a:t>, SUBSTR(sql_id,1,13) </a:t>
            </a:r>
            <a:r>
              <a:rPr sz="1250" b="0" dirty="0" err="1">
                <a:solidFill>
                  <a:srgbClr val="F2F2F2"/>
                </a:solidFill>
                <a:latin typeface="Consolas"/>
                <a:ea typeface="Consolas"/>
              </a:rPr>
              <a:t>sql_id</a:t>
            </a:r>
            <a:endParaRPr sz="1250" b="0" dirty="0">
              <a:solidFill>
                <a:srgbClr val="F2F2F2"/>
              </a:solidFill>
              <a:latin typeface="Consolas"/>
              <a:ea typeface="Consolas"/>
            </a:endParaRPr>
          </a:p>
          <a:p>
            <a:pPr>
              <a:lnSpc>
                <a:spcPct val="100000"/>
              </a:lnSpc>
              <a:spcAft>
                <a:spcPts val="0"/>
              </a:spcAft>
            </a:pPr>
            <a:r>
              <a:rPr sz="1250" b="0" dirty="0">
                <a:solidFill>
                  <a:srgbClr val="F2F2F2"/>
                </a:solidFill>
                <a:latin typeface="Consolas"/>
                <a:ea typeface="Consolas"/>
              </a:rPr>
              <a:t>  3       FROM </a:t>
            </a:r>
            <a:r>
              <a:rPr sz="1250" b="0" dirty="0" err="1">
                <a:solidFill>
                  <a:srgbClr val="F2F2F2"/>
                </a:solidFill>
                <a:latin typeface="Consolas"/>
                <a:ea typeface="Consolas"/>
              </a:rPr>
              <a:t>v$session</a:t>
            </a:r>
            <a:endParaRPr sz="1250" b="0" dirty="0">
              <a:solidFill>
                <a:srgbClr val="F2F2F2"/>
              </a:solidFill>
              <a:latin typeface="Consolas"/>
              <a:ea typeface="Consolas"/>
            </a:endParaRPr>
          </a:p>
          <a:p>
            <a:pPr>
              <a:lnSpc>
                <a:spcPct val="100000"/>
              </a:lnSpc>
              <a:spcAft>
                <a:spcPts val="0"/>
              </a:spcAft>
            </a:pPr>
            <a:r>
              <a:rPr sz="1250" b="0" dirty="0">
                <a:solidFill>
                  <a:srgbClr val="F2F2F2"/>
                </a:solidFill>
                <a:latin typeface="Consolas"/>
                <a:ea typeface="Consolas"/>
              </a:rPr>
              <a:t>  4       WHERE username='SQLT' AND status='ACTIVE';</a:t>
            </a:r>
          </a:p>
          <a:p>
            <a:pPr>
              <a:lnSpc>
                <a:spcPct val="100000"/>
              </a:lnSpc>
              <a:spcAft>
                <a:spcPts val="0"/>
              </a:spcAft>
            </a:pPr>
            <a:r>
              <a:rPr sz="1250" b="0" dirty="0">
                <a:solidFill>
                  <a:srgbClr val="F2F2F2"/>
                </a:solidFill>
                <a:latin typeface="Consolas"/>
                <a:ea typeface="Consolas"/>
              </a:rPr>
              <a:t> </a:t>
            </a:r>
          </a:p>
          <a:p>
            <a:pPr>
              <a:lnSpc>
                <a:spcPct val="100000"/>
              </a:lnSpc>
              <a:spcAft>
                <a:spcPts val="0"/>
              </a:spcAft>
            </a:pPr>
            <a:r>
              <a:rPr sz="1250" b="0" dirty="0">
                <a:solidFill>
                  <a:srgbClr val="F2F2F2"/>
                </a:solidFill>
                <a:latin typeface="Consolas"/>
                <a:ea typeface="Consolas"/>
              </a:rPr>
              <a:t>SID STATUS   EVENT                        WAIT_CLASS SQL_ID</a:t>
            </a:r>
          </a:p>
          <a:p>
            <a:pPr>
              <a:lnSpc>
                <a:spcPct val="100000"/>
              </a:lnSpc>
              <a:spcAft>
                <a:spcPts val="0"/>
              </a:spcAft>
            </a:pPr>
            <a:r>
              <a:rPr sz="1250" b="0" dirty="0">
                <a:solidFill>
                  <a:srgbClr val="F2F2F2"/>
                </a:solidFill>
                <a:latin typeface="Consolas"/>
                <a:ea typeface="Consolas"/>
              </a:rPr>
              <a:t>--- -------- ---------------------------- ---------- -------------</a:t>
            </a:r>
          </a:p>
          <a:p>
            <a:pPr>
              <a:lnSpc>
                <a:spcPct val="100000"/>
              </a:lnSpc>
              <a:spcAft>
                <a:spcPts val="0"/>
              </a:spcAft>
            </a:pPr>
            <a:r>
              <a:rPr sz="1250" b="0" dirty="0">
                <a:solidFill>
                  <a:srgbClr val="F2F2F2"/>
                </a:solidFill>
                <a:latin typeface="Consolas"/>
                <a:ea typeface="Consolas"/>
              </a:rPr>
              <a:t>692 ACTIVE   SQL*Net message from client  Idle       9vmszgd1ft9x0</a:t>
            </a:r>
          </a:p>
          <a:p>
            <a:pPr>
              <a:lnSpc>
                <a:spcPct val="100000"/>
              </a:lnSpc>
              <a:spcAft>
                <a:spcPts val="0"/>
              </a:spcAft>
            </a:pPr>
            <a:r>
              <a:rPr sz="1250" b="0" dirty="0">
                <a:solidFill>
                  <a:srgbClr val="F2F2F2"/>
                </a:solidFill>
                <a:latin typeface="Consolas"/>
                <a:ea typeface="Consolas"/>
              </a:rPr>
              <a:t>694 ACTIVE   SQL*Net message from client  Idle       9vmszgd1ft9x0</a:t>
            </a:r>
          </a:p>
        </p:txBody>
      </p:sp>
    </p:spTree>
    <p:extLst>
      <p:ext uri="{BB962C8B-B14F-4D97-AF65-F5344CB8AC3E}">
        <p14:creationId xmlns:p14="http://schemas.microsoft.com/office/powerpoint/2010/main" val="1548618309"/>
      </p:ext>
    </p:extLst>
  </p:cSld>
  <p:clrMapOvr>
    <a:masterClrMapping/>
  </p:clrMapOvr>
</p:sld>
</file>

<file path=ppt/slides/slide10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대기: 무엇을 기다리는가</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V$SESSION_WAIT · V$SESSION</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wait_class &lt;&gt; 'Idle' 세션을 우선한다</a:t>
            </a:r>
          </a:p>
          <a:p>
            <a:pPr algn="l">
              <a:spcAft>
                <a:spcPts val="1000"/>
              </a:spcAft>
            </a:pPr>
            <a:r>
              <a:rPr sz="1700" b="0">
                <a:solidFill>
                  <a:srgbClr val="222222"/>
                </a:solidFill>
                <a:latin typeface="맑은 고딕"/>
                <a:ea typeface="맑은 고딕"/>
              </a:rPr>
              <a:t>•  P1·P2·P3로 대기 대상 특정(예: 파일·블록 번호)</a:t>
            </a:r>
          </a:p>
          <a:p>
            <a:pPr algn="l">
              <a:spcAft>
                <a:spcPts val="1000"/>
              </a:spcAft>
            </a:pPr>
            <a:r>
              <a:rPr sz="1700" b="0">
                <a:solidFill>
                  <a:srgbClr val="222222"/>
                </a:solidFill>
                <a:latin typeface="맑은 고딕"/>
                <a:ea typeface="맑은 고딕"/>
              </a:rPr>
              <a:t>•  대기 시간이 가장 큰 이벤트가 다음 조사 지점</a:t>
            </a:r>
          </a:p>
          <a:p>
            <a:pPr algn="l">
              <a:spcAft>
                <a:spcPts val="1000"/>
              </a:spcAft>
            </a:pPr>
            <a:r>
              <a:rPr sz="1700" b="0">
                <a:solidFill>
                  <a:srgbClr val="222222"/>
                </a:solidFill>
                <a:latin typeface="맑은 고딕"/>
                <a:ea typeface="맑은 고딕"/>
              </a:rPr>
              <a:t>•  현재 상태 뷰(WAIT) vs 누적 뷰(EVENT·SYSTEM_EVENT) 구분</a:t>
            </a:r>
          </a:p>
        </p:txBody>
      </p:sp>
    </p:spTree>
    <p:extLst>
      <p:ext uri="{BB962C8B-B14F-4D97-AF65-F5344CB8AC3E}">
        <p14:creationId xmlns:p14="http://schemas.microsoft.com/office/powerpoint/2010/main" val="3365320424"/>
      </p:ext>
    </p:extLst>
  </p:cSld>
  <p:clrMapOvr>
    <a:masterClrMapping/>
  </p:clrMapOvr>
</p:sld>
</file>

<file path=ppt/slides/slide10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SQL: 어느 문장이 원인인가</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V$SQL</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세션이 물던 SQL_ID로 문장을 펼치거나 상위 부하로 정렬</a:t>
            </a:r>
          </a:p>
          <a:p>
            <a:pPr algn="l">
              <a:spcAft>
                <a:spcPts val="1000"/>
              </a:spcAft>
            </a:pPr>
            <a:r>
              <a:rPr sz="1700" b="0">
                <a:solidFill>
                  <a:srgbClr val="222222"/>
                </a:solidFill>
                <a:latin typeface="맑은 고딕"/>
                <a:ea typeface="맑은 고딕"/>
              </a:rPr>
              <a:t>•  V$SQL=자식 커서 단위, V$SQLAREA=부모 요약(VERSION_COUNT)</a:t>
            </a:r>
          </a:p>
          <a:p>
            <a:pPr algn="l">
              <a:spcAft>
                <a:spcPts val="1000"/>
              </a:spcAft>
            </a:pPr>
            <a:r>
              <a:rPr sz="1700" b="0">
                <a:solidFill>
                  <a:srgbClr val="222222"/>
                </a:solidFill>
                <a:latin typeface="맑은 고딕"/>
                <a:ea typeface="맑은 고딕"/>
              </a:rPr>
              <a:t>•  부하 중 값이 변하므로 두 번 떠서 델타로 본다</a:t>
            </a:r>
          </a:p>
          <a:p>
            <a:pPr algn="l">
              <a:spcAft>
                <a:spcPts val="1000"/>
              </a:spcAft>
            </a:pPr>
            <a:r>
              <a:rPr sz="1700" b="0">
                <a:solidFill>
                  <a:srgbClr val="222222"/>
                </a:solidFill>
                <a:latin typeface="맑은 고딕"/>
                <a:ea typeface="맑은 고딕"/>
              </a:rPr>
              <a:t>•  누적 상위와 구간 델타 상위가 다를 수 있다</a:t>
            </a:r>
          </a:p>
        </p:txBody>
      </p:sp>
    </p:spTree>
    <p:extLst>
      <p:ext uri="{BB962C8B-B14F-4D97-AF65-F5344CB8AC3E}">
        <p14:creationId xmlns:p14="http://schemas.microsoft.com/office/powerpoint/2010/main" val="512329241"/>
      </p:ext>
    </p:extLst>
  </p:cSld>
  <p:clrMapOvr>
    <a:masterClrMapping/>
  </p:clrMapOvr>
</p:sld>
</file>

<file path=ppt/slides/slide10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V$SQL 실측 — 논리읽기 상위</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SQLT 스키마, buffer_gets 정렬</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9728" rIns="137160" bIns="109728" rtlCol="0" anchor="ctr"/>
          <a:lstStyle/>
          <a:p>
            <a:pPr>
              <a:lnSpc>
                <a:spcPct val="100000"/>
              </a:lnSpc>
              <a:spcAft>
                <a:spcPts val="0"/>
              </a:spcAft>
            </a:pPr>
            <a:r>
              <a:rPr sz="1250" b="0" dirty="0">
                <a:solidFill>
                  <a:srgbClr val="F2F2F2"/>
                </a:solidFill>
                <a:latin typeface="Consolas"/>
                <a:ea typeface="Consolas"/>
              </a:rPr>
              <a:t>SQL_ID        EXECS BUFFER_GETS PER_EXEC TXT</a:t>
            </a:r>
          </a:p>
          <a:p>
            <a:pPr>
              <a:lnSpc>
                <a:spcPct val="100000"/>
              </a:lnSpc>
              <a:spcAft>
                <a:spcPts val="0"/>
              </a:spcAft>
            </a:pPr>
            <a:r>
              <a:rPr sz="1250" b="0" dirty="0">
                <a:solidFill>
                  <a:srgbClr val="F2F2F2"/>
                </a:solidFill>
                <a:latin typeface="Consolas"/>
                <a:ea typeface="Consolas"/>
              </a:rPr>
              <a:t>------------- ----- ----------- -------- --------------------------</a:t>
            </a:r>
          </a:p>
          <a:p>
            <a:pPr>
              <a:lnSpc>
                <a:spcPct val="100000"/>
              </a:lnSpc>
              <a:spcAft>
                <a:spcPts val="0"/>
              </a:spcAft>
            </a:pPr>
            <a:r>
              <a:rPr sz="1250" b="0" dirty="0">
                <a:solidFill>
                  <a:srgbClr val="F2F2F2"/>
                </a:solidFill>
                <a:latin typeface="Consolas"/>
                <a:ea typeface="Consolas"/>
              </a:rPr>
              <a:t>9vmszgd1ft9x0  1290     8494906     6585 select /*+ full(d) */ count</a:t>
            </a:r>
          </a:p>
          <a:p>
            <a:pPr>
              <a:lnSpc>
                <a:spcPct val="100000"/>
              </a:lnSpc>
              <a:spcAft>
                <a:spcPts val="0"/>
              </a:spcAft>
            </a:pPr>
            <a:r>
              <a:rPr sz="1250" b="0" dirty="0">
                <a:solidFill>
                  <a:srgbClr val="F2F2F2"/>
                </a:solidFill>
                <a:latin typeface="Consolas"/>
                <a:ea typeface="Consolas"/>
              </a:rPr>
              <a:t>ddukvcz4gwcad   631     1946786     3085 select </a:t>
            </a:r>
            <a:r>
              <a:rPr sz="1250" b="0" dirty="0" err="1">
                <a:solidFill>
                  <a:srgbClr val="F2F2F2"/>
                </a:solidFill>
                <a:latin typeface="Consolas"/>
                <a:ea typeface="Consolas"/>
              </a:rPr>
              <a:t>hosp_id</a:t>
            </a:r>
            <a:r>
              <a:rPr sz="1250" b="0" dirty="0">
                <a:solidFill>
                  <a:srgbClr val="F2F2F2"/>
                </a:solidFill>
                <a:latin typeface="Consolas"/>
                <a:ea typeface="Consolas"/>
              </a:rPr>
              <a:t>, count(*)...</a:t>
            </a:r>
          </a:p>
          <a:p>
            <a:pPr>
              <a:lnSpc>
                <a:spcPct val="100000"/>
              </a:lnSpc>
              <a:spcAft>
                <a:spcPts val="0"/>
              </a:spcAft>
            </a:pPr>
            <a:r>
              <a:rPr sz="1250" b="0" dirty="0">
                <a:solidFill>
                  <a:srgbClr val="F2F2F2"/>
                </a:solidFill>
                <a:latin typeface="Consolas"/>
                <a:ea typeface="Consolas"/>
              </a:rPr>
              <a:t>2hwjffuh4cs8t     2        6188     3094 select count(*) from medic</a:t>
            </a:r>
          </a:p>
          <a:p>
            <a:pPr>
              <a:lnSpc>
                <a:spcPct val="100000"/>
              </a:lnSpc>
              <a:spcAft>
                <a:spcPts val="0"/>
              </a:spcAft>
            </a:pPr>
            <a:r>
              <a:rPr sz="1250" b="0" dirty="0">
                <a:solidFill>
                  <a:srgbClr val="F2F2F2"/>
                </a:solidFill>
                <a:latin typeface="Consolas"/>
                <a:ea typeface="Consolas"/>
              </a:rPr>
              <a:t>6jwvu6btpjhnu     2        6188     3094 select count(*) from medic</a:t>
            </a:r>
          </a:p>
          <a:p>
            <a:pPr>
              <a:lnSpc>
                <a:spcPct val="100000"/>
              </a:lnSpc>
              <a:spcAft>
                <a:spcPts val="0"/>
              </a:spcAft>
            </a:pPr>
            <a:r>
              <a:rPr sz="1250" b="0" dirty="0">
                <a:solidFill>
                  <a:srgbClr val="F2F2F2"/>
                </a:solidFill>
                <a:latin typeface="Consolas"/>
                <a:ea typeface="Consolas"/>
              </a:rPr>
              <a:t>b85cymcwbd1qj     2        6188     3094 select count(*) from medic</a:t>
            </a:r>
          </a:p>
          <a:p>
            <a:pPr>
              <a:lnSpc>
                <a:spcPct val="100000"/>
              </a:lnSpc>
              <a:spcAft>
                <a:spcPts val="0"/>
              </a:spcAft>
            </a:pPr>
            <a:r>
              <a:rPr sz="1250" b="0" dirty="0">
                <a:solidFill>
                  <a:srgbClr val="F2F2F2"/>
                </a:solidFill>
                <a:latin typeface="Consolas"/>
                <a:ea typeface="Consolas"/>
              </a:rPr>
              <a:t>13ywm87qcw0by     2        6180     3090 select count(*) from medic</a:t>
            </a:r>
          </a:p>
          <a:p>
            <a:pPr>
              <a:lnSpc>
                <a:spcPct val="100000"/>
              </a:lnSpc>
              <a:spcAft>
                <a:spcPts val="0"/>
              </a:spcAft>
            </a:pPr>
            <a:r>
              <a:rPr sz="1250" b="0" dirty="0">
                <a:solidFill>
                  <a:srgbClr val="F2F2F2"/>
                </a:solidFill>
                <a:latin typeface="Consolas"/>
                <a:ea typeface="Consolas"/>
              </a:rPr>
              <a:t>fq4sycqx841ht     2        6180     3090 select count(*) from medic</a:t>
            </a:r>
          </a:p>
          <a:p>
            <a:pPr>
              <a:lnSpc>
                <a:spcPct val="100000"/>
              </a:lnSpc>
              <a:spcAft>
                <a:spcPts val="0"/>
              </a:spcAft>
            </a:pPr>
            <a:r>
              <a:rPr sz="1250" b="0" dirty="0">
                <a:solidFill>
                  <a:srgbClr val="F2F2F2"/>
                </a:solidFill>
                <a:latin typeface="Consolas"/>
                <a:ea typeface="Consolas"/>
              </a:rPr>
              <a:t>fxj7b9gx2w1ay     2        6180     3090 select count(*) from medic</a:t>
            </a:r>
          </a:p>
        </p:txBody>
      </p:sp>
    </p:spTree>
    <p:extLst>
      <p:ext uri="{BB962C8B-B14F-4D97-AF65-F5344CB8AC3E}">
        <p14:creationId xmlns:p14="http://schemas.microsoft.com/office/powerpoint/2010/main" val="3387432320"/>
      </p:ext>
    </p:extLst>
  </p:cSld>
  <p:clrMapOvr>
    <a:masterClrMapping/>
  </p:clrMapOvr>
</p:sld>
</file>

<file path=ppt/slides/slide10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세그먼트: 어느 객체가 뜨거운가</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V$SEGMENT_STATISTICS · V$SEGSTAT</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대기·SQL로 잡은 방향의 진원지 객체를 특정</a:t>
            </a:r>
          </a:p>
          <a:p>
            <a:pPr algn="l">
              <a:spcAft>
                <a:spcPts val="1000"/>
              </a:spcAft>
            </a:pPr>
            <a:r>
              <a:rPr sz="1700" b="0">
                <a:solidFill>
                  <a:srgbClr val="222222"/>
                </a:solidFill>
                <a:latin typeface="맑은 고딕"/>
                <a:ea typeface="맑은 고딕"/>
              </a:rPr>
              <a:t>•  logical reads·physical reads·buffer busy waits 등 세그먼트별</a:t>
            </a:r>
          </a:p>
          <a:p>
            <a:pPr algn="l">
              <a:spcAft>
                <a:spcPts val="1000"/>
              </a:spcAft>
            </a:pPr>
            <a:r>
              <a:rPr sz="1700" b="0">
                <a:solidFill>
                  <a:srgbClr val="222222"/>
                </a:solidFill>
                <a:latin typeface="맑은 고딕"/>
                <a:ea typeface="맑은 고딕"/>
              </a:rPr>
              <a:t>•  V$SEGSTAT=가벼움, V$SEGMENT_STATISTICS=소유자·TS까지</a:t>
            </a:r>
          </a:p>
          <a:p>
            <a:pPr algn="l">
              <a:spcAft>
                <a:spcPts val="1000"/>
              </a:spcAft>
            </a:pPr>
            <a:r>
              <a:rPr sz="1700" b="0">
                <a:solidFill>
                  <a:srgbClr val="222222"/>
                </a:solidFill>
                <a:latin typeface="맑은 고딕"/>
                <a:ea typeface="맑은 고딕"/>
              </a:rPr>
              <a:t>•  세션·대기·SQL·세그먼트가 한 줄의 인과로 완성</a:t>
            </a:r>
          </a:p>
        </p:txBody>
      </p:sp>
    </p:spTree>
    <p:extLst>
      <p:ext uri="{BB962C8B-B14F-4D97-AF65-F5344CB8AC3E}">
        <p14:creationId xmlns:p14="http://schemas.microsoft.com/office/powerpoint/2010/main" val="743126842"/>
      </p:ext>
    </p:extLst>
  </p:cSld>
  <p:clrMapOvr>
    <a:masterClrMapping/>
  </p:clrMapOvr>
</p:sld>
</file>

<file path=ppt/slides/slide10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nchor="t">
            <a:spAutoFit/>
          </a:bodyPr>
          <a:lstStyle/>
          <a:p>
            <a:pPr algn="l">
              <a:spcAft>
                <a:spcPts val="600"/>
              </a:spcAft>
            </a:pPr>
            <a:r>
              <a:rPr sz="4000" b="1">
                <a:solidFill>
                  <a:srgbClr val="FFFFFF"/>
                </a:solidFill>
                <a:latin typeface="맑은 고딕"/>
                <a:ea typeface="맑은 고딕"/>
              </a:rPr>
              <a:t>26.4</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spcAft>
                <a:spcPts val="600"/>
              </a:spcAft>
            </a:pPr>
            <a:r>
              <a:rPr sz="2800" b="1">
                <a:solidFill>
                  <a:srgbClr val="FFFFFF"/>
                </a:solidFill>
                <a:latin typeface="맑은 고딕"/>
                <a:ea typeface="맑은 고딕"/>
              </a:rPr>
              <a:t>V$SYSSTAT — 시스템 통계</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ea typeface="맑은 고딕"/>
              </a:rPr>
              <a:t>•  값은 기동 이후 누적이다</a:t>
            </a:r>
          </a:p>
          <a:p>
            <a:pPr algn="l">
              <a:spcAft>
                <a:spcPts val="600"/>
              </a:spcAft>
            </a:pPr>
            <a:r>
              <a:rPr sz="1600" b="0">
                <a:solidFill>
                  <a:srgbClr val="FFFFFF"/>
                </a:solidFill>
                <a:latin typeface="맑은 고딕"/>
                <a:ea typeface="맑은 고딕"/>
              </a:rPr>
              <a:t>•  절대값이 아니라 델타·비율</a:t>
            </a:r>
          </a:p>
          <a:p>
            <a:pPr algn="l">
              <a:spcAft>
                <a:spcPts val="600"/>
              </a:spcAft>
            </a:pPr>
            <a:r>
              <a:rPr sz="1600" b="0">
                <a:solidFill>
                  <a:srgbClr val="FFFFFF"/>
                </a:solidFill>
                <a:latin typeface="맑은 고딕"/>
                <a:ea typeface="맑은 고딕"/>
              </a:rPr>
              <a:t>•  하드 파싱 비율 같은 파생 지표</a:t>
            </a:r>
          </a:p>
        </p:txBody>
      </p:sp>
    </p:spTree>
    <p:extLst>
      <p:ext uri="{BB962C8B-B14F-4D97-AF65-F5344CB8AC3E}">
        <p14:creationId xmlns:p14="http://schemas.microsoft.com/office/powerpoint/2010/main" val="3341008634"/>
      </p:ext>
    </p:extLst>
  </p:cSld>
  <p:clrMapOvr>
    <a:masterClrMapping/>
  </p:clrMapOvr>
</p:sld>
</file>

<file path=ppt/slides/slide10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누적값의 함정</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절대값은 판정 근거가 아니다</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V$SYSSTAT 값은 인스턴스 기동 이후 누적</a:t>
            </a:r>
          </a:p>
          <a:p>
            <a:pPr algn="l">
              <a:spcAft>
                <a:spcPts val="1000"/>
              </a:spcAft>
            </a:pPr>
            <a:r>
              <a:rPr sz="1700" b="0">
                <a:solidFill>
                  <a:srgbClr val="222222"/>
                </a:solidFill>
                <a:latin typeface="맑은 고딕"/>
                <a:ea typeface="맑은 고딕"/>
              </a:rPr>
              <a:t>•  session logical reads 3.56억 = 10분치인지 3주치인지 모름</a:t>
            </a:r>
          </a:p>
          <a:p>
            <a:pPr algn="l">
              <a:spcAft>
                <a:spcPts val="1000"/>
              </a:spcAft>
            </a:pPr>
            <a:r>
              <a:rPr sz="1700" b="0">
                <a:solidFill>
                  <a:srgbClr val="222222"/>
                </a:solidFill>
                <a:latin typeface="맑은 고딕"/>
                <a:ea typeface="맑은 고딕"/>
              </a:rPr>
              <a:t>•  판정은 두 시점의 델타를 경과 시간으로 나눈 비율</a:t>
            </a:r>
          </a:p>
          <a:p>
            <a:pPr algn="l">
              <a:spcAft>
                <a:spcPts val="1000"/>
              </a:spcAft>
            </a:pPr>
            <a:r>
              <a:rPr sz="1700" b="0">
                <a:solidFill>
                  <a:srgbClr val="222222"/>
                </a:solidFill>
                <a:latin typeface="맑은 고딕"/>
                <a:ea typeface="맑은 고딕"/>
              </a:rPr>
              <a:t>•  초당(처리량 변화) / 트랜잭션당(한 건의 무게) 정규화</a:t>
            </a:r>
          </a:p>
        </p:txBody>
      </p:sp>
    </p:spTree>
    <p:extLst>
      <p:ext uri="{BB962C8B-B14F-4D97-AF65-F5344CB8AC3E}">
        <p14:creationId xmlns:p14="http://schemas.microsoft.com/office/powerpoint/2010/main" val="3720435062"/>
      </p:ext>
    </p:extLst>
  </p:cSld>
  <p:clrMapOvr>
    <a:masterClrMapping/>
  </p:clrMapOvr>
</p:sld>
</file>

<file path=ppt/slides/slide10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V$SYSSTAT 실측 — 주요 통계</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부하 구간 누적값(orcl 19.3)</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9728" rIns="137160" bIns="109728" rtlCol="0" anchor="ctr"/>
          <a:lstStyle/>
          <a:p>
            <a:pPr>
              <a:lnSpc>
                <a:spcPct val="100000"/>
              </a:lnSpc>
              <a:spcAft>
                <a:spcPts val="0"/>
              </a:spcAft>
            </a:pPr>
            <a:r>
              <a:rPr sz="1250" b="0" dirty="0">
                <a:solidFill>
                  <a:srgbClr val="F2F2F2"/>
                </a:solidFill>
                <a:latin typeface="Consolas"/>
                <a:ea typeface="Consolas"/>
              </a:rPr>
              <a:t>NAME                             VALUE</a:t>
            </a:r>
          </a:p>
          <a:p>
            <a:pPr>
              <a:lnSpc>
                <a:spcPct val="100000"/>
              </a:lnSpc>
              <a:spcAft>
                <a:spcPts val="0"/>
              </a:spcAft>
            </a:pPr>
            <a:r>
              <a:rPr sz="1250" b="0" dirty="0">
                <a:solidFill>
                  <a:srgbClr val="F2F2F2"/>
                </a:solidFill>
                <a:latin typeface="Consolas"/>
                <a:ea typeface="Consolas"/>
              </a:rPr>
              <a:t>------------------------------ ---------</a:t>
            </a:r>
          </a:p>
          <a:p>
            <a:pPr>
              <a:lnSpc>
                <a:spcPct val="100000"/>
              </a:lnSpc>
              <a:spcAft>
                <a:spcPts val="0"/>
              </a:spcAft>
            </a:pPr>
            <a:r>
              <a:rPr sz="1250" b="0" dirty="0">
                <a:solidFill>
                  <a:srgbClr val="F2F2F2"/>
                </a:solidFill>
                <a:latin typeface="Consolas"/>
                <a:ea typeface="Consolas"/>
              </a:rPr>
              <a:t>execute count                     338398</a:t>
            </a:r>
          </a:p>
          <a:p>
            <a:pPr>
              <a:lnSpc>
                <a:spcPct val="100000"/>
              </a:lnSpc>
              <a:spcAft>
                <a:spcPts val="0"/>
              </a:spcAft>
            </a:pPr>
            <a:r>
              <a:rPr sz="1250" b="0" dirty="0">
                <a:solidFill>
                  <a:srgbClr val="F2F2F2"/>
                </a:solidFill>
                <a:latin typeface="Consolas"/>
                <a:ea typeface="Consolas"/>
              </a:rPr>
              <a:t>parse count (hard)                112198</a:t>
            </a:r>
          </a:p>
          <a:p>
            <a:pPr>
              <a:lnSpc>
                <a:spcPct val="100000"/>
              </a:lnSpc>
              <a:spcAft>
                <a:spcPts val="0"/>
              </a:spcAft>
            </a:pPr>
            <a:r>
              <a:rPr sz="1250" b="0" dirty="0">
                <a:solidFill>
                  <a:srgbClr val="F2F2F2"/>
                </a:solidFill>
                <a:latin typeface="Consolas"/>
                <a:ea typeface="Consolas"/>
              </a:rPr>
              <a:t>parse count (total)               185227</a:t>
            </a:r>
          </a:p>
          <a:p>
            <a:pPr>
              <a:lnSpc>
                <a:spcPct val="100000"/>
              </a:lnSpc>
              <a:spcAft>
                <a:spcPts val="0"/>
              </a:spcAft>
            </a:pPr>
            <a:r>
              <a:rPr sz="1250" b="0" dirty="0">
                <a:solidFill>
                  <a:srgbClr val="F2F2F2"/>
                </a:solidFill>
                <a:latin typeface="Consolas"/>
                <a:ea typeface="Consolas"/>
              </a:rPr>
              <a:t>physical reads                     70100</a:t>
            </a:r>
          </a:p>
          <a:p>
            <a:pPr>
              <a:lnSpc>
                <a:spcPct val="100000"/>
              </a:lnSpc>
              <a:spcAft>
                <a:spcPts val="0"/>
              </a:spcAft>
            </a:pPr>
            <a:r>
              <a:rPr sz="1250" b="0" dirty="0">
                <a:solidFill>
                  <a:srgbClr val="F2F2F2"/>
                </a:solidFill>
                <a:latin typeface="Consolas"/>
                <a:ea typeface="Consolas"/>
              </a:rPr>
              <a:t>session logical reads          356228457</a:t>
            </a:r>
          </a:p>
          <a:p>
            <a:pPr>
              <a:lnSpc>
                <a:spcPct val="100000"/>
              </a:lnSpc>
              <a:spcAft>
                <a:spcPts val="0"/>
              </a:spcAft>
            </a:pPr>
            <a:r>
              <a:rPr sz="1250" b="0" dirty="0">
                <a:solidFill>
                  <a:srgbClr val="F2F2F2"/>
                </a:solidFill>
                <a:latin typeface="Consolas"/>
                <a:ea typeface="Consolas"/>
              </a:rPr>
              <a:t>sorts (disk)                           0</a:t>
            </a:r>
          </a:p>
          <a:p>
            <a:pPr>
              <a:lnSpc>
                <a:spcPct val="100000"/>
              </a:lnSpc>
              <a:spcAft>
                <a:spcPts val="0"/>
              </a:spcAft>
            </a:pPr>
            <a:r>
              <a:rPr sz="1250" b="0" dirty="0">
                <a:solidFill>
                  <a:srgbClr val="F2F2F2"/>
                </a:solidFill>
                <a:latin typeface="Consolas"/>
                <a:ea typeface="Consolas"/>
              </a:rPr>
              <a:t>sorts (memory)                     60198</a:t>
            </a:r>
          </a:p>
          <a:p>
            <a:pPr>
              <a:lnSpc>
                <a:spcPct val="100000"/>
              </a:lnSpc>
              <a:spcAft>
                <a:spcPts val="0"/>
              </a:spcAft>
            </a:pPr>
            <a:r>
              <a:rPr sz="1250" b="0" dirty="0">
                <a:solidFill>
                  <a:srgbClr val="F2F2F2"/>
                </a:solidFill>
                <a:latin typeface="Consolas"/>
                <a:ea typeface="Consolas"/>
              </a:rPr>
              <a:t>user commits                       63992</a:t>
            </a:r>
          </a:p>
        </p:txBody>
      </p:sp>
    </p:spTree>
    <p:extLst>
      <p:ext uri="{BB962C8B-B14F-4D97-AF65-F5344CB8AC3E}">
        <p14:creationId xmlns:p14="http://schemas.microsoft.com/office/powerpoint/2010/main" val="1754253919"/>
      </p:ext>
    </p:extLst>
  </p:cSld>
  <p:clrMapOvr>
    <a:masterClrMapping/>
  </p:clrMapOvr>
</p:sld>
</file>

<file path=ppt/slides/slide10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델타 계산 — 두 번 읽어 뺀다</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같은 통계, 60초 간격</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9728" rIns="137160" bIns="109728" rtlCol="0" anchor="ctr"/>
          <a:lstStyle/>
          <a:p>
            <a:pPr>
              <a:lnSpc>
                <a:spcPct val="100000"/>
              </a:lnSpc>
              <a:spcAft>
                <a:spcPts val="0"/>
              </a:spcAft>
            </a:pPr>
            <a:r>
              <a:rPr sz="1250" b="0" dirty="0">
                <a:solidFill>
                  <a:srgbClr val="F2F2F2"/>
                </a:solidFill>
                <a:latin typeface="Consolas"/>
                <a:ea typeface="Consolas"/>
              </a:rPr>
              <a:t>-- (</a:t>
            </a:r>
            <a:r>
              <a:rPr sz="1250" b="0" dirty="0" err="1">
                <a:solidFill>
                  <a:srgbClr val="F2F2F2"/>
                </a:solidFill>
                <a:latin typeface="Consolas"/>
                <a:ea typeface="Consolas"/>
              </a:rPr>
              <a:t>조치</a:t>
            </a:r>
            <a:r>
              <a:rPr sz="1250" b="0" dirty="0">
                <a:solidFill>
                  <a:srgbClr val="F2F2F2"/>
                </a:solidFill>
                <a:latin typeface="Consolas"/>
                <a:ea typeface="Consolas"/>
              </a:rPr>
              <a:t> 전) </a:t>
            </a:r>
            <a:r>
              <a:rPr sz="1250" b="0" dirty="0" err="1">
                <a:solidFill>
                  <a:srgbClr val="F2F2F2"/>
                </a:solidFill>
                <a:latin typeface="Consolas"/>
                <a:ea typeface="Consolas"/>
              </a:rPr>
              <a:t>시작</a:t>
            </a:r>
            <a:r>
              <a:rPr sz="1250" b="0" dirty="0">
                <a:solidFill>
                  <a:srgbClr val="F2F2F2"/>
                </a:solidFill>
                <a:latin typeface="Consolas"/>
                <a:ea typeface="Consolas"/>
              </a:rPr>
              <a:t> </a:t>
            </a:r>
            <a:r>
              <a:rPr sz="1250" b="0" dirty="0" err="1">
                <a:solidFill>
                  <a:srgbClr val="F2F2F2"/>
                </a:solidFill>
                <a:latin typeface="Consolas"/>
                <a:ea typeface="Consolas"/>
              </a:rPr>
              <a:t>스냅샷</a:t>
            </a:r>
            <a:endParaRPr sz="1250" b="0" dirty="0">
              <a:solidFill>
                <a:srgbClr val="F2F2F2"/>
              </a:solidFill>
              <a:latin typeface="Consolas"/>
              <a:ea typeface="Consolas"/>
            </a:endParaRPr>
          </a:p>
          <a:p>
            <a:pPr>
              <a:lnSpc>
                <a:spcPct val="100000"/>
              </a:lnSpc>
              <a:spcAft>
                <a:spcPts val="0"/>
              </a:spcAft>
            </a:pPr>
            <a:r>
              <a:rPr sz="1250" b="0" dirty="0">
                <a:solidFill>
                  <a:srgbClr val="F2F2F2"/>
                </a:solidFill>
                <a:latin typeface="Consolas"/>
                <a:ea typeface="Consolas"/>
              </a:rPr>
              <a:t>session logical reads = 356,228,457</a:t>
            </a:r>
          </a:p>
          <a:p>
            <a:pPr>
              <a:lnSpc>
                <a:spcPct val="100000"/>
              </a:lnSpc>
              <a:spcAft>
                <a:spcPts val="0"/>
              </a:spcAft>
            </a:pPr>
            <a:r>
              <a:rPr sz="1250" b="0" dirty="0">
                <a:solidFill>
                  <a:srgbClr val="F2F2F2"/>
                </a:solidFill>
                <a:latin typeface="Consolas"/>
                <a:ea typeface="Consolas"/>
              </a:rPr>
              <a:t> </a:t>
            </a:r>
          </a:p>
          <a:p>
            <a:pPr>
              <a:lnSpc>
                <a:spcPct val="100000"/>
              </a:lnSpc>
              <a:spcAft>
                <a:spcPts val="0"/>
              </a:spcAft>
            </a:pPr>
            <a:r>
              <a:rPr sz="1250" b="0" dirty="0">
                <a:solidFill>
                  <a:srgbClr val="F2F2F2"/>
                </a:solidFill>
                <a:latin typeface="Consolas"/>
                <a:ea typeface="Consolas"/>
              </a:rPr>
              <a:t>-- 60초 </a:t>
            </a:r>
            <a:r>
              <a:rPr sz="1250" b="0" dirty="0" err="1">
                <a:solidFill>
                  <a:srgbClr val="F2F2F2"/>
                </a:solidFill>
                <a:latin typeface="Consolas"/>
                <a:ea typeface="Consolas"/>
              </a:rPr>
              <a:t>부하</a:t>
            </a:r>
            <a:r>
              <a:rPr sz="1250" b="0" dirty="0">
                <a:solidFill>
                  <a:srgbClr val="F2F2F2"/>
                </a:solidFill>
                <a:latin typeface="Consolas"/>
                <a:ea typeface="Consolas"/>
              </a:rPr>
              <a:t> </a:t>
            </a:r>
            <a:r>
              <a:rPr sz="1250" b="0" dirty="0" err="1">
                <a:solidFill>
                  <a:srgbClr val="F2F2F2"/>
                </a:solidFill>
                <a:latin typeface="Consolas"/>
                <a:ea typeface="Consolas"/>
              </a:rPr>
              <a:t>구간</a:t>
            </a:r>
            <a:r>
              <a:rPr sz="1250" b="0" dirty="0">
                <a:solidFill>
                  <a:srgbClr val="F2F2F2"/>
                </a:solidFill>
                <a:latin typeface="Consolas"/>
                <a:ea typeface="Consolas"/>
              </a:rPr>
              <a:t> </a:t>
            </a:r>
            <a:r>
              <a:rPr sz="1250" b="0" dirty="0" err="1">
                <a:solidFill>
                  <a:srgbClr val="F2F2F2"/>
                </a:solidFill>
                <a:latin typeface="Consolas"/>
                <a:ea typeface="Consolas"/>
              </a:rPr>
              <a:t>경과</a:t>
            </a:r>
            <a:r>
              <a:rPr sz="1250" b="0" dirty="0">
                <a:solidFill>
                  <a:srgbClr val="F2F2F2"/>
                </a:solidFill>
                <a:latin typeface="Consolas"/>
                <a:ea typeface="Consolas"/>
              </a:rPr>
              <a:t> 후 </a:t>
            </a:r>
            <a:r>
              <a:rPr sz="1250" b="0" dirty="0" err="1">
                <a:solidFill>
                  <a:srgbClr val="F2F2F2"/>
                </a:solidFill>
                <a:latin typeface="Consolas"/>
                <a:ea typeface="Consolas"/>
              </a:rPr>
              <a:t>재조회</a:t>
            </a:r>
            <a:endParaRPr sz="1250" b="0" dirty="0">
              <a:solidFill>
                <a:srgbClr val="F2F2F2"/>
              </a:solidFill>
              <a:latin typeface="Consolas"/>
              <a:ea typeface="Consolas"/>
            </a:endParaRPr>
          </a:p>
          <a:p>
            <a:pPr>
              <a:lnSpc>
                <a:spcPct val="100000"/>
              </a:lnSpc>
              <a:spcAft>
                <a:spcPts val="0"/>
              </a:spcAft>
            </a:pPr>
            <a:r>
              <a:rPr sz="1250" b="0" dirty="0">
                <a:solidFill>
                  <a:srgbClr val="F2F2F2"/>
                </a:solidFill>
                <a:latin typeface="Consolas"/>
                <a:ea typeface="Consolas"/>
              </a:rPr>
              <a:t>session logical reads = 362,520,100   ← &lt;</a:t>
            </a:r>
            <a:r>
              <a:rPr sz="1250" b="0" dirty="0" err="1">
                <a:solidFill>
                  <a:srgbClr val="F2F2F2"/>
                </a:solidFill>
                <a:latin typeface="Consolas"/>
                <a:ea typeface="Consolas"/>
              </a:rPr>
              <a:t>환경값</a:t>
            </a:r>
            <a:r>
              <a:rPr sz="1250" b="0" dirty="0">
                <a:solidFill>
                  <a:srgbClr val="F2F2F2"/>
                </a:solidFill>
                <a:latin typeface="Consolas"/>
                <a:ea typeface="Consolas"/>
              </a:rPr>
              <a:t>&gt;</a:t>
            </a:r>
          </a:p>
          <a:p>
            <a:pPr>
              <a:lnSpc>
                <a:spcPct val="100000"/>
              </a:lnSpc>
              <a:spcAft>
                <a:spcPts val="0"/>
              </a:spcAft>
            </a:pPr>
            <a:r>
              <a:rPr sz="1250" b="0" dirty="0">
                <a:solidFill>
                  <a:srgbClr val="F2F2F2"/>
                </a:solidFill>
                <a:latin typeface="Consolas"/>
                <a:ea typeface="Consolas"/>
              </a:rPr>
              <a:t> </a:t>
            </a:r>
          </a:p>
          <a:p>
            <a:pPr>
              <a:lnSpc>
                <a:spcPct val="100000"/>
              </a:lnSpc>
              <a:spcAft>
                <a:spcPts val="0"/>
              </a:spcAft>
            </a:pPr>
            <a:r>
              <a:rPr sz="1250" b="0" dirty="0">
                <a:solidFill>
                  <a:srgbClr val="F2F2F2"/>
                </a:solidFill>
                <a:latin typeface="Consolas"/>
                <a:ea typeface="Consolas"/>
              </a:rPr>
              <a:t>-- </a:t>
            </a:r>
            <a:r>
              <a:rPr sz="1250" b="0" dirty="0" err="1">
                <a:solidFill>
                  <a:srgbClr val="F2F2F2"/>
                </a:solidFill>
                <a:latin typeface="Consolas"/>
                <a:ea typeface="Consolas"/>
              </a:rPr>
              <a:t>델타</a:t>
            </a:r>
            <a:r>
              <a:rPr sz="1250" b="0" dirty="0">
                <a:solidFill>
                  <a:srgbClr val="F2F2F2"/>
                </a:solidFill>
                <a:latin typeface="Consolas"/>
                <a:ea typeface="Consolas"/>
              </a:rPr>
              <a:t> = 362,520,100 - 356,228,457 = 6,291,643</a:t>
            </a:r>
          </a:p>
          <a:p>
            <a:pPr>
              <a:lnSpc>
                <a:spcPct val="100000"/>
              </a:lnSpc>
              <a:spcAft>
                <a:spcPts val="0"/>
              </a:spcAft>
            </a:pPr>
            <a:r>
              <a:rPr sz="1250" b="0" dirty="0">
                <a:solidFill>
                  <a:srgbClr val="F2F2F2"/>
                </a:solidFill>
                <a:latin typeface="Consolas"/>
                <a:ea typeface="Consolas"/>
              </a:rPr>
              <a:t>-- </a:t>
            </a:r>
            <a:r>
              <a:rPr sz="1250" b="0" dirty="0" err="1">
                <a:solidFill>
                  <a:srgbClr val="F2F2F2"/>
                </a:solidFill>
                <a:latin typeface="Consolas"/>
                <a:ea typeface="Consolas"/>
              </a:rPr>
              <a:t>초당</a:t>
            </a:r>
            <a:r>
              <a:rPr sz="1250" b="0" dirty="0">
                <a:solidFill>
                  <a:srgbClr val="F2F2F2"/>
                </a:solidFill>
                <a:latin typeface="Consolas"/>
                <a:ea typeface="Consolas"/>
              </a:rPr>
              <a:t> </a:t>
            </a:r>
            <a:r>
              <a:rPr sz="1250" b="0" dirty="0" err="1">
                <a:solidFill>
                  <a:srgbClr val="F2F2F2"/>
                </a:solidFill>
                <a:latin typeface="Consolas"/>
                <a:ea typeface="Consolas"/>
              </a:rPr>
              <a:t>논리읽기</a:t>
            </a:r>
            <a:r>
              <a:rPr sz="1250" b="0" dirty="0">
                <a:solidFill>
                  <a:srgbClr val="F2F2F2"/>
                </a:solidFill>
                <a:latin typeface="Consolas"/>
                <a:ea typeface="Consolas"/>
              </a:rPr>
              <a:t> = 6,291,643 / 60 ≈ 104,861 LIO/s</a:t>
            </a:r>
          </a:p>
          <a:p>
            <a:pPr>
              <a:lnSpc>
                <a:spcPct val="100000"/>
              </a:lnSpc>
              <a:spcAft>
                <a:spcPts val="0"/>
              </a:spcAft>
            </a:pPr>
            <a:r>
              <a:rPr sz="1250" b="0" dirty="0">
                <a:solidFill>
                  <a:srgbClr val="F2F2F2"/>
                </a:solidFill>
                <a:latin typeface="Consolas"/>
                <a:ea typeface="Consolas"/>
              </a:rPr>
              <a:t>-- 이 </a:t>
            </a:r>
            <a:r>
              <a:rPr sz="1250" b="0" dirty="0" err="1">
                <a:solidFill>
                  <a:srgbClr val="F2F2F2"/>
                </a:solidFill>
                <a:latin typeface="Consolas"/>
                <a:ea typeface="Consolas"/>
              </a:rPr>
              <a:t>초당</a:t>
            </a:r>
            <a:r>
              <a:rPr sz="1250" b="0" dirty="0">
                <a:solidFill>
                  <a:srgbClr val="F2F2F2"/>
                </a:solidFill>
                <a:latin typeface="Consolas"/>
                <a:ea typeface="Consolas"/>
              </a:rPr>
              <a:t> </a:t>
            </a:r>
            <a:r>
              <a:rPr sz="1250" b="0" dirty="0" err="1">
                <a:solidFill>
                  <a:srgbClr val="F2F2F2"/>
                </a:solidFill>
                <a:latin typeface="Consolas"/>
                <a:ea typeface="Consolas"/>
              </a:rPr>
              <a:t>비율만이</a:t>
            </a:r>
            <a:r>
              <a:rPr sz="1250" b="0" dirty="0">
                <a:solidFill>
                  <a:srgbClr val="F2F2F2"/>
                </a:solidFill>
                <a:latin typeface="Consolas"/>
                <a:ea typeface="Consolas"/>
              </a:rPr>
              <a:t> </a:t>
            </a:r>
            <a:r>
              <a:rPr sz="1250" b="0" dirty="0" err="1">
                <a:solidFill>
                  <a:srgbClr val="F2F2F2"/>
                </a:solidFill>
                <a:latin typeface="Consolas"/>
                <a:ea typeface="Consolas"/>
              </a:rPr>
              <a:t>판정의</a:t>
            </a:r>
            <a:r>
              <a:rPr sz="1250" b="0" dirty="0">
                <a:solidFill>
                  <a:srgbClr val="F2F2F2"/>
                </a:solidFill>
                <a:latin typeface="Consolas"/>
                <a:ea typeface="Consolas"/>
              </a:rPr>
              <a:t> </a:t>
            </a:r>
            <a:r>
              <a:rPr sz="1250" b="0" dirty="0" err="1">
                <a:solidFill>
                  <a:srgbClr val="F2F2F2"/>
                </a:solidFill>
                <a:latin typeface="Consolas"/>
                <a:ea typeface="Consolas"/>
              </a:rPr>
              <a:t>근거가</a:t>
            </a:r>
            <a:r>
              <a:rPr sz="1250" b="0" dirty="0">
                <a:solidFill>
                  <a:srgbClr val="F2F2F2"/>
                </a:solidFill>
                <a:latin typeface="Consolas"/>
                <a:ea typeface="Consolas"/>
              </a:rPr>
              <a:t> </a:t>
            </a:r>
            <a:r>
              <a:rPr sz="1250" b="0" dirty="0" err="1">
                <a:solidFill>
                  <a:srgbClr val="F2F2F2"/>
                </a:solidFill>
                <a:latin typeface="Consolas"/>
                <a:ea typeface="Consolas"/>
              </a:rPr>
              <a:t>된다</a:t>
            </a:r>
            <a:r>
              <a:rPr sz="1250" b="0" dirty="0">
                <a:solidFill>
                  <a:srgbClr val="F2F2F2"/>
                </a:solidFill>
                <a:latin typeface="Consolas"/>
                <a:ea typeface="Consolas"/>
              </a:rPr>
              <a:t>.</a:t>
            </a:r>
          </a:p>
        </p:txBody>
      </p:sp>
    </p:spTree>
    <p:extLst>
      <p:ext uri="{BB962C8B-B14F-4D97-AF65-F5344CB8AC3E}">
        <p14:creationId xmlns:p14="http://schemas.microsoft.com/office/powerpoint/2010/main" val="4002605796"/>
      </p:ext>
    </p:extLst>
  </p:cSld>
  <p:clrMapOvr>
    <a:masterClrMapping/>
  </p:clrMapOvr>
</p:sld>
</file>

<file path=ppt/slides/slide10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부하 관련 주요 통계</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무엇을 초·트랜잭션당으로 볼 것인가</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session logical reads: 작업량의 대표(논리읽기)</a:t>
            </a:r>
          </a:p>
          <a:p>
            <a:pPr algn="l">
              <a:spcAft>
                <a:spcPts val="1000"/>
              </a:spcAft>
            </a:pPr>
            <a:r>
              <a:rPr sz="1700" b="0">
                <a:solidFill>
                  <a:srgbClr val="222222"/>
                </a:solidFill>
                <a:latin typeface="맑은 고딕"/>
                <a:ea typeface="맑은 고딕"/>
              </a:rPr>
              <a:t>•  physical reads: 캐시 미스로 디스크까지 간 양</a:t>
            </a:r>
          </a:p>
          <a:p>
            <a:pPr algn="l">
              <a:spcAft>
                <a:spcPts val="1000"/>
              </a:spcAft>
            </a:pPr>
            <a:r>
              <a:rPr sz="1700" b="0">
                <a:solidFill>
                  <a:srgbClr val="222222"/>
                </a:solidFill>
                <a:latin typeface="맑은 고딕"/>
                <a:ea typeface="맑은 고딕"/>
              </a:rPr>
              <a:t>•  execute count / parse count: 실행과 파싱</a:t>
            </a:r>
          </a:p>
          <a:p>
            <a:pPr algn="l">
              <a:spcAft>
                <a:spcPts val="1000"/>
              </a:spcAft>
            </a:pPr>
            <a:r>
              <a:rPr sz="1700" b="0">
                <a:solidFill>
                  <a:srgbClr val="222222"/>
                </a:solidFill>
                <a:latin typeface="맑은 고딕"/>
                <a:ea typeface="맑은 고딕"/>
              </a:rPr>
              <a:t>•  user commits: 트랜잭션 수 정규화의 분모</a:t>
            </a:r>
          </a:p>
          <a:p>
            <a:pPr algn="l">
              <a:spcAft>
                <a:spcPts val="1000"/>
              </a:spcAft>
            </a:pPr>
            <a:r>
              <a:rPr sz="1700" b="0">
                <a:solidFill>
                  <a:srgbClr val="222222"/>
                </a:solidFill>
                <a:latin typeface="맑은 고딕"/>
                <a:ea typeface="맑은 고딕"/>
              </a:rPr>
              <a:t>•  sorts memory/disk: disk 정렬은 PGA 부족 신호</a:t>
            </a:r>
          </a:p>
        </p:txBody>
      </p:sp>
    </p:spTree>
    <p:extLst>
      <p:ext uri="{BB962C8B-B14F-4D97-AF65-F5344CB8AC3E}">
        <p14:creationId xmlns:p14="http://schemas.microsoft.com/office/powerpoint/2010/main" val="507475303"/>
      </p:ext>
    </p:extLst>
  </p:cSld>
  <p:clrMapOvr>
    <a:masterClrMapping/>
  </p:clrMapOvr>
</p:sld>
</file>

<file path=ppt/slides/slide10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초·트랜잭션당으로 정규화</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분모가 해석의 방향을 정한다</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초당 = Δ통계 / 경과초 → 처리량(throughput) 변화</a:t>
            </a:r>
          </a:p>
          <a:p>
            <a:pPr algn="l">
              <a:spcAft>
                <a:spcPts val="1000"/>
              </a:spcAft>
            </a:pPr>
            <a:r>
              <a:rPr sz="1700" b="0">
                <a:solidFill>
                  <a:srgbClr val="222222"/>
                </a:solidFill>
                <a:latin typeface="맑은 고딕"/>
                <a:ea typeface="맑은 고딕"/>
              </a:rPr>
              <a:t>•  트랜잭션당 = Δ통계 / Δcommits → 애플리케이션 특성 변화</a:t>
            </a:r>
          </a:p>
          <a:p>
            <a:pPr algn="l">
              <a:spcAft>
                <a:spcPts val="1000"/>
              </a:spcAft>
            </a:pPr>
            <a:r>
              <a:rPr sz="1700" b="0">
                <a:solidFill>
                  <a:srgbClr val="222222"/>
                </a:solidFill>
                <a:latin typeface="맑은 고딕"/>
                <a:ea typeface="맑은 고딕"/>
              </a:rPr>
              <a:t>•  AWR Load Profile이 보여 주는 두 정규화를 손으로 재현</a:t>
            </a:r>
          </a:p>
          <a:p>
            <a:pPr algn="l">
              <a:spcAft>
                <a:spcPts val="1000"/>
              </a:spcAft>
            </a:pPr>
            <a:r>
              <a:rPr sz="1700" b="0">
                <a:solidFill>
                  <a:srgbClr val="222222"/>
                </a:solidFill>
                <a:latin typeface="맑은 고딕"/>
                <a:ea typeface="맑은 고딕"/>
              </a:rPr>
              <a:t>•  physical read/write total bytes 합 = 초당 I/O(MB/s)</a:t>
            </a:r>
          </a:p>
        </p:txBody>
      </p:sp>
    </p:spTree>
    <p:extLst>
      <p:ext uri="{BB962C8B-B14F-4D97-AF65-F5344CB8AC3E}">
        <p14:creationId xmlns:p14="http://schemas.microsoft.com/office/powerpoint/2010/main" val="447009751"/>
      </p:ext>
    </p:extLst>
  </p:cSld>
  <p:clrMapOvr>
    <a:masterClrMapping/>
  </p:clrMapOvr>
</p:sld>
</file>

<file path=ppt/slides/slide10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하드 파싱 비율 — 파생 지표의 힘</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112,198 / 185,227 ≈ 60.6%</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하드 파싱 비율 = parse count (hard) / (total)</a:t>
            </a:r>
          </a:p>
          <a:p>
            <a:pPr algn="l">
              <a:spcAft>
                <a:spcPts val="1000"/>
              </a:spcAft>
            </a:pPr>
            <a:r>
              <a:rPr sz="1700" b="0">
                <a:solidFill>
                  <a:srgbClr val="222222"/>
                </a:solidFill>
                <a:latin typeface="맑은 고딕"/>
                <a:ea typeface="맑은 고딕"/>
              </a:rPr>
              <a:t>•  정상은 0에 가까워야 함 → 60.6%는 심각</a:t>
            </a:r>
          </a:p>
          <a:p>
            <a:pPr algn="l">
              <a:spcAft>
                <a:spcPts val="1000"/>
              </a:spcAft>
            </a:pPr>
            <a:r>
              <a:rPr sz="1700" b="0">
                <a:solidFill>
                  <a:srgbClr val="222222"/>
                </a:solidFill>
                <a:latin typeface="맑은 고딕"/>
                <a:ea typeface="맑은 고딕"/>
              </a:rPr>
              <a:t>•  원인: 같은 문장이 리터럴로 흩어진 6개 SQL_ID</a:t>
            </a:r>
          </a:p>
          <a:p>
            <a:pPr algn="l">
              <a:spcAft>
                <a:spcPts val="1000"/>
              </a:spcAft>
            </a:pPr>
            <a:r>
              <a:rPr sz="1700" b="0">
                <a:solidFill>
                  <a:srgbClr val="222222"/>
                </a:solidFill>
                <a:latin typeface="맑은 고딕"/>
                <a:ea typeface="맑은 고딕"/>
              </a:rPr>
              <a:t>•  조치: 바인드 변수(또는 CURSOR_SHARING 검토)</a:t>
            </a:r>
          </a:p>
          <a:p>
            <a:pPr algn="l">
              <a:spcAft>
                <a:spcPts val="1000"/>
              </a:spcAft>
            </a:pPr>
            <a:r>
              <a:rPr sz="1700" b="0">
                <a:solidFill>
                  <a:srgbClr val="222222"/>
                </a:solidFill>
                <a:latin typeface="맑은 고딕"/>
                <a:ea typeface="맑은 고딕"/>
              </a:rPr>
              <a:t>•  절대값 순위표에는 안 보이던 진짜 문제</a:t>
            </a:r>
          </a:p>
        </p:txBody>
      </p:sp>
    </p:spTree>
    <p:extLst>
      <p:ext uri="{BB962C8B-B14F-4D97-AF65-F5344CB8AC3E}">
        <p14:creationId xmlns:p14="http://schemas.microsoft.com/office/powerpoint/2010/main" val="4239126744"/>
      </p:ext>
    </p:extLst>
  </p:cSld>
  <p:clrMapOvr>
    <a:masterClrMapping/>
  </p:clrMapOvr>
</p:sld>
</file>

<file path=ppt/slides/slide10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대기로는 안 잡히는 문제들</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추가 통계 — 안전망</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redo log space requests: 체크포인트·DBWR·아카이버 튜닝 신호</a:t>
            </a:r>
          </a:p>
          <a:p>
            <a:pPr algn="l">
              <a:spcAft>
                <a:spcPts val="1000"/>
              </a:spcAft>
            </a:pPr>
            <a:r>
              <a:rPr sz="1700" b="0">
                <a:solidFill>
                  <a:srgbClr val="222222"/>
                </a:solidFill>
                <a:latin typeface="맑은 고딕"/>
                <a:ea typeface="맑은 고딕"/>
              </a:rPr>
              <a:t>•  table fetch continued row: 이행·연결 행(1% 넘으면 조사)</a:t>
            </a:r>
          </a:p>
          <a:p>
            <a:pPr algn="l">
              <a:spcAft>
                <a:spcPts val="1000"/>
              </a:spcAft>
            </a:pPr>
            <a:r>
              <a:rPr sz="1700" b="0">
                <a:solidFill>
                  <a:srgbClr val="222222"/>
                </a:solidFill>
                <a:latin typeface="맑은 고딕"/>
                <a:ea typeface="맑은 고딕"/>
              </a:rPr>
              <a:t>•  consistent changes/gets: 읽기 일관성 롤백 비용 → AUM 권장</a:t>
            </a:r>
          </a:p>
          <a:p>
            <a:pPr algn="l">
              <a:spcAft>
                <a:spcPts val="1000"/>
              </a:spcAft>
            </a:pPr>
            <a:r>
              <a:rPr sz="1700" b="0">
                <a:solidFill>
                  <a:srgbClr val="222222"/>
                </a:solidFill>
                <a:latin typeface="맑은 고딕"/>
                <a:ea typeface="맑은 고딕"/>
              </a:rPr>
              <a:t>•  이 통계들도 언제나 델타·비율로 읽는다</a:t>
            </a:r>
          </a:p>
        </p:txBody>
      </p:sp>
    </p:spTree>
    <p:extLst>
      <p:ext uri="{BB962C8B-B14F-4D97-AF65-F5344CB8AC3E}">
        <p14:creationId xmlns:p14="http://schemas.microsoft.com/office/powerpoint/2010/main" val="4231615943"/>
      </p:ext>
    </p:extLst>
  </p:cSld>
  <p:clrMapOvr>
    <a:masterClrMapping/>
  </p:clrMapOvr>
</p:sld>
</file>

<file path=ppt/slides/slide10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nchor="t">
            <a:spAutoFit/>
          </a:bodyPr>
          <a:lstStyle/>
          <a:p>
            <a:pPr algn="l">
              <a:spcAft>
                <a:spcPts val="600"/>
              </a:spcAft>
            </a:pPr>
            <a:r>
              <a:rPr sz="4000" b="1">
                <a:solidFill>
                  <a:srgbClr val="FFFFFF"/>
                </a:solidFill>
                <a:latin typeface="맑은 고딕"/>
                <a:ea typeface="맑은 고딕"/>
              </a:rPr>
              <a:t>26.5</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spcAft>
                <a:spcPts val="600"/>
              </a:spcAft>
            </a:pPr>
            <a:r>
              <a:rPr sz="2800" b="1">
                <a:solidFill>
                  <a:srgbClr val="FFFFFF"/>
                </a:solidFill>
                <a:latin typeface="맑은 고딕"/>
                <a:ea typeface="맑은 고딕"/>
              </a:rPr>
              <a:t>V$SQL — 상위 부하 SQL 선별</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ea typeface="맑은 고딕"/>
              </a:rPr>
              <a:t>•  정렬 기준: 실행시간·논리읽기·실행횟수</a:t>
            </a:r>
          </a:p>
          <a:p>
            <a:pPr algn="l">
              <a:spcAft>
                <a:spcPts val="600"/>
              </a:spcAft>
            </a:pPr>
            <a:r>
              <a:rPr sz="1600" b="0">
                <a:solidFill>
                  <a:srgbClr val="FFFFFF"/>
                </a:solidFill>
                <a:latin typeface="맑은 고딕"/>
                <a:ea typeface="맑은 고딕"/>
              </a:rPr>
              <a:t>•  실행당 비용으로 나눠 본다</a:t>
            </a:r>
          </a:p>
          <a:p>
            <a:pPr algn="l">
              <a:spcAft>
                <a:spcPts val="600"/>
              </a:spcAft>
            </a:pPr>
            <a:r>
              <a:rPr sz="1600" b="0">
                <a:solidFill>
                  <a:srgbClr val="FFFFFF"/>
                </a:solidFill>
                <a:latin typeface="맑은 고딕"/>
                <a:ea typeface="맑은 고딕"/>
              </a:rPr>
              <a:t>•  같은 문장을 시그니처로 묶는다</a:t>
            </a:r>
          </a:p>
        </p:txBody>
      </p:sp>
    </p:spTree>
    <p:extLst>
      <p:ext uri="{BB962C8B-B14F-4D97-AF65-F5344CB8AC3E}">
        <p14:creationId xmlns:p14="http://schemas.microsoft.com/office/powerpoint/2010/main" val="735443344"/>
      </p:ext>
    </p:extLst>
  </p:cSld>
  <p:clrMapOvr>
    <a:masterClrMapping/>
  </p:clrMapOvr>
</p:sld>
</file>

<file path=ppt/slides/slide10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정렬 기준 — 상위의 정의가 바뀐다</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한 기준만 보면 그림이 왜곡된다</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elapsed_time: 총 소요 시간이 큰 문장(대개 최우선)</a:t>
            </a:r>
          </a:p>
          <a:p>
            <a:pPr algn="l">
              <a:spcAft>
                <a:spcPts val="1000"/>
              </a:spcAft>
            </a:pPr>
            <a:r>
              <a:rPr sz="1700" b="0">
                <a:solidFill>
                  <a:srgbClr val="222222"/>
                </a:solidFill>
                <a:latin typeface="맑은 고딕"/>
                <a:ea typeface="맑은 고딕"/>
              </a:rPr>
              <a:t>•  buffer_gets: 논리읽기가 많은 CPU·캐시 부하원</a:t>
            </a:r>
          </a:p>
          <a:p>
            <a:pPr algn="l">
              <a:spcAft>
                <a:spcPts val="1000"/>
              </a:spcAft>
            </a:pPr>
            <a:r>
              <a:rPr sz="1700" b="0">
                <a:solidFill>
                  <a:srgbClr val="222222"/>
                </a:solidFill>
                <a:latin typeface="맑은 고딕"/>
                <a:ea typeface="맑은 고딕"/>
              </a:rPr>
              <a:t>•  executions: 자주 불리는 문장(파싱·왕복 부하)</a:t>
            </a:r>
          </a:p>
          <a:p>
            <a:pPr algn="l">
              <a:spcAft>
                <a:spcPts val="1000"/>
              </a:spcAft>
            </a:pPr>
            <a:r>
              <a:rPr sz="1700" b="0">
                <a:solidFill>
                  <a:srgbClr val="222222"/>
                </a:solidFill>
                <a:latin typeface="맑은 고딕"/>
                <a:ea typeface="맑은 고딕"/>
              </a:rPr>
              <a:t>•  buffer_gets/executions: 실행당 효율 — 문장 자체의 무게</a:t>
            </a:r>
          </a:p>
        </p:txBody>
      </p:sp>
    </p:spTree>
    <p:extLst>
      <p:ext uri="{BB962C8B-B14F-4D97-AF65-F5344CB8AC3E}">
        <p14:creationId xmlns:p14="http://schemas.microsoft.com/office/powerpoint/2010/main" val="595177839"/>
      </p:ext>
    </p:extLst>
  </p:cSld>
  <p:clrMapOvr>
    <a:masterClrMapping/>
  </p:clrMapOvr>
</p:sld>
</file>

<file path=ppt/slides/slide10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실행당으로 나눠 봐야 하는 이유</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총량이 큰 두 부류를 가른다</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무거운 문장: 실행당 비용이 큼 → SQL·인덱스·계획 수정</a:t>
            </a:r>
          </a:p>
          <a:p>
            <a:pPr algn="l">
              <a:spcAft>
                <a:spcPts val="1000"/>
              </a:spcAft>
            </a:pPr>
            <a:r>
              <a:rPr sz="1700" b="0">
                <a:solidFill>
                  <a:srgbClr val="222222"/>
                </a:solidFill>
                <a:latin typeface="맑은 고딕"/>
                <a:ea typeface="맑은 고딕"/>
              </a:rPr>
              <a:t>•  자주 불리는 문장: 실행당 가벼우나 호출이 많음 → 횟수 감소</a:t>
            </a:r>
          </a:p>
          <a:p>
            <a:pPr algn="l">
              <a:spcAft>
                <a:spcPts val="1000"/>
              </a:spcAft>
            </a:pPr>
            <a:r>
              <a:rPr sz="1700" b="0">
                <a:solidFill>
                  <a:srgbClr val="222222"/>
                </a:solidFill>
                <a:latin typeface="맑은 고딕"/>
                <a:ea typeface="맑은 고딕"/>
              </a:rPr>
              <a:t>•  실측 9vmsz: 총량 849만 + 실행당 6,585 = 두 축 모두 나쁨</a:t>
            </a:r>
          </a:p>
          <a:p>
            <a:pPr algn="l">
              <a:spcAft>
                <a:spcPts val="1000"/>
              </a:spcAft>
            </a:pPr>
            <a:r>
              <a:rPr sz="1700" b="0">
                <a:solidFill>
                  <a:srgbClr val="222222"/>
                </a:solidFill>
                <a:latin typeface="맑은 고딕"/>
                <a:ea typeface="맑은 고딕"/>
              </a:rPr>
              <a:t>•  elapsed vs buffer_gets 순위 어긋남 = '대기가 문제'라는 단서</a:t>
            </a:r>
          </a:p>
        </p:txBody>
      </p:sp>
    </p:spTree>
    <p:extLst>
      <p:ext uri="{BB962C8B-B14F-4D97-AF65-F5344CB8AC3E}">
        <p14:creationId xmlns:p14="http://schemas.microsoft.com/office/powerpoint/2010/main" val="1637092221"/>
      </p:ext>
    </p:extLst>
  </p:cSld>
  <p:clrMapOvr>
    <a:masterClrMapping/>
  </p:clrMapOvr>
</p:sld>
</file>

<file path=ppt/slides/slide10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절대값 오판 교정 (Common Error)</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이 장이 경계하는 대표 오판</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buffer_gets 절대값 1·2위만 손대면 나머지를 무시</a:t>
            </a:r>
          </a:p>
          <a:p>
            <a:pPr algn="l">
              <a:spcAft>
                <a:spcPts val="1000"/>
              </a:spcAft>
            </a:pPr>
            <a:r>
              <a:rPr sz="1700" b="0">
                <a:solidFill>
                  <a:srgbClr val="222222"/>
                </a:solidFill>
                <a:latin typeface="맑은 고딕"/>
                <a:ea typeface="맑은 고딕"/>
              </a:rPr>
              <a:t>•  그럴듯한 답: 그 문장은 빨라지나 근본 문제는 남음</a:t>
            </a:r>
          </a:p>
          <a:p>
            <a:pPr algn="l">
              <a:spcAft>
                <a:spcPts val="1000"/>
              </a:spcAft>
            </a:pPr>
            <a:r>
              <a:rPr sz="1700" b="0">
                <a:solidFill>
                  <a:srgbClr val="222222"/>
                </a:solidFill>
                <a:latin typeface="맑은 고딕"/>
                <a:ea typeface="맑은 고딕"/>
              </a:rPr>
              <a:t>•  하드 파싱 60.6%가 만든 래치 경합은 그대로</a:t>
            </a:r>
          </a:p>
          <a:p>
            <a:pPr algn="l">
              <a:spcAft>
                <a:spcPts val="1000"/>
              </a:spcAft>
            </a:pPr>
            <a:r>
              <a:rPr sz="1700" b="0">
                <a:solidFill>
                  <a:srgbClr val="222222"/>
                </a:solidFill>
                <a:latin typeface="맑은 고딕"/>
                <a:ea typeface="맑은 고딕"/>
              </a:rPr>
              <a:t>•  교정: 절대값 → 실행당 → 시그니처(FORCE_MATCHING)로 묶기</a:t>
            </a:r>
          </a:p>
        </p:txBody>
      </p:sp>
    </p:spTree>
    <p:extLst>
      <p:ext uri="{BB962C8B-B14F-4D97-AF65-F5344CB8AC3E}">
        <p14:creationId xmlns:p14="http://schemas.microsoft.com/office/powerpoint/2010/main" val="2590889784"/>
      </p:ext>
    </p:extLst>
  </p:cSld>
  <p:clrMapOvr>
    <a:masterClrMapping/>
  </p:clrMapOvr>
</p:sld>
</file>

<file path=ppt/slides/slide10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nchor="t">
            <a:spAutoFit/>
          </a:bodyPr>
          <a:lstStyle/>
          <a:p>
            <a:pPr algn="l">
              <a:spcAft>
                <a:spcPts val="600"/>
              </a:spcAft>
            </a:pPr>
            <a:r>
              <a:rPr sz="4000" b="1">
                <a:solidFill>
                  <a:srgbClr val="FFFFFF"/>
                </a:solidFill>
                <a:latin typeface="맑은 고딕"/>
                <a:ea typeface="맑은 고딕"/>
              </a:rPr>
              <a:t>26.6</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spcAft>
                <a:spcPts val="600"/>
              </a:spcAft>
            </a:pPr>
            <a:r>
              <a:rPr sz="2800" b="1">
                <a:solidFill>
                  <a:srgbClr val="FFFFFF"/>
                </a:solidFill>
                <a:latin typeface="맑은 고딕"/>
                <a:ea typeface="맑은 고딕"/>
              </a:rPr>
              <a:t>절대값을 델타·비율로 교정</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ea typeface="맑은 고딕"/>
              </a:rPr>
              <a:t>•  세 가지 오판 패턴</a:t>
            </a:r>
          </a:p>
          <a:p>
            <a:pPr algn="l">
              <a:spcAft>
                <a:spcPts val="600"/>
              </a:spcAft>
            </a:pPr>
            <a:r>
              <a:rPr sz="1600" b="0">
                <a:solidFill>
                  <a:srgbClr val="FFFFFF"/>
                </a:solidFill>
                <a:latin typeface="맑은 고딕"/>
                <a:ea typeface="맑은 고딕"/>
              </a:rPr>
              <a:t>•  부하 증가 ≠ 성능 저하</a:t>
            </a:r>
          </a:p>
          <a:p>
            <a:pPr algn="l">
              <a:spcAft>
                <a:spcPts val="600"/>
              </a:spcAft>
            </a:pPr>
            <a:r>
              <a:rPr sz="1600" b="0">
                <a:solidFill>
                  <a:srgbClr val="FFFFFF"/>
                </a:solidFill>
                <a:latin typeface="맑은 고딕"/>
                <a:ea typeface="맑은 고딕"/>
              </a:rPr>
              <a:t>•  공통 뿌리: 숫자 하나를 한 번 읽는 조급함</a:t>
            </a:r>
          </a:p>
        </p:txBody>
      </p:sp>
    </p:spTree>
    <p:extLst>
      <p:ext uri="{BB962C8B-B14F-4D97-AF65-F5344CB8AC3E}">
        <p14:creationId xmlns:p14="http://schemas.microsoft.com/office/powerpoint/2010/main" val="476709399"/>
      </p:ext>
    </p:extLst>
  </p:cSld>
  <p:clrMapOvr>
    <a:masterClrMapping/>
  </p:clrMapOvr>
</p:sld>
</file>

<file path=ppt/slides/slide10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세 가지 오판 패턴</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맥락 없는 숫자에 의미를 부여하지 않는다</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① 누적값 오판: 3.56억을 '많다'고 단정</a:t>
            </a:r>
          </a:p>
          <a:p>
            <a:pPr algn="l">
              <a:spcAft>
                <a:spcPts val="1000"/>
              </a:spcAft>
            </a:pPr>
            <a:r>
              <a:rPr sz="1700" b="0">
                <a:solidFill>
                  <a:srgbClr val="222222"/>
                </a:solidFill>
                <a:latin typeface="맑은 고딕"/>
                <a:ea typeface="맑은 고딕"/>
              </a:rPr>
              <a:t>•  ② 상위 SQL 오판: 절대값 1·2위만 손댐</a:t>
            </a:r>
          </a:p>
          <a:p>
            <a:pPr algn="l">
              <a:spcAft>
                <a:spcPts val="1000"/>
              </a:spcAft>
            </a:pPr>
            <a:r>
              <a:rPr sz="1700" b="0">
                <a:solidFill>
                  <a:srgbClr val="222222"/>
                </a:solidFill>
                <a:latin typeface="맑은 고딕"/>
                <a:ea typeface="맑은 고딕"/>
              </a:rPr>
              <a:t>•  ③ 부하 증가 ↔ 성능 저하 혼동</a:t>
            </a:r>
          </a:p>
          <a:p>
            <a:pPr algn="l">
              <a:spcAft>
                <a:spcPts val="1000"/>
              </a:spcAft>
            </a:pPr>
            <a:r>
              <a:rPr sz="1700" b="0">
                <a:solidFill>
                  <a:srgbClr val="222222"/>
                </a:solidFill>
                <a:latin typeface="맑은 고딕"/>
                <a:ea typeface="맑은 고딕"/>
              </a:rPr>
              <a:t>•  + 히트율 신앙: 단일 비율로 건강 판정(같은 부류)</a:t>
            </a:r>
          </a:p>
        </p:txBody>
      </p:sp>
    </p:spTree>
    <p:extLst>
      <p:ext uri="{BB962C8B-B14F-4D97-AF65-F5344CB8AC3E}">
        <p14:creationId xmlns:p14="http://schemas.microsoft.com/office/powerpoint/2010/main" val="3105344840"/>
      </p:ext>
    </p:extLst>
  </p:cSld>
  <p:clrMapOvr>
    <a:masterClrMapping/>
  </p:clrMapOvr>
</p:sld>
</file>

<file path=ppt/slides/slide10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부하 증가 vs 성능 저하</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트랜잭션당으로 가른다</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9728" rIns="137160" bIns="109728" rtlCol="0" anchor="ctr"/>
          <a:lstStyle/>
          <a:p>
            <a:pPr>
              <a:lnSpc>
                <a:spcPct val="100000"/>
              </a:lnSpc>
              <a:spcAft>
                <a:spcPts val="0"/>
              </a:spcAft>
            </a:pPr>
            <a:r>
              <a:rPr sz="1250" b="0" dirty="0">
                <a:solidFill>
                  <a:srgbClr val="F2F2F2"/>
                </a:solidFill>
                <a:latin typeface="Consolas"/>
                <a:ea typeface="Consolas"/>
              </a:rPr>
              <a:t>-- </a:t>
            </a:r>
            <a:r>
              <a:rPr sz="1250" b="0" dirty="0" err="1">
                <a:solidFill>
                  <a:srgbClr val="F2F2F2"/>
                </a:solidFill>
                <a:latin typeface="Consolas"/>
                <a:ea typeface="Consolas"/>
              </a:rPr>
              <a:t>오전</a:t>
            </a:r>
            <a:r>
              <a:rPr sz="1250" b="0" dirty="0">
                <a:solidFill>
                  <a:srgbClr val="F2F2F2"/>
                </a:solidFill>
                <a:latin typeface="Consolas"/>
                <a:ea typeface="Consolas"/>
              </a:rPr>
              <a:t>: </a:t>
            </a:r>
            <a:r>
              <a:rPr sz="1250" b="0" dirty="0" err="1">
                <a:solidFill>
                  <a:srgbClr val="F2F2F2"/>
                </a:solidFill>
                <a:latin typeface="Consolas"/>
                <a:ea typeface="Consolas"/>
              </a:rPr>
              <a:t>Δlogical</a:t>
            </a:r>
            <a:r>
              <a:rPr sz="1250" b="0" dirty="0">
                <a:solidFill>
                  <a:srgbClr val="F2F2F2"/>
                </a:solidFill>
                <a:latin typeface="Consolas"/>
                <a:ea typeface="Consolas"/>
              </a:rPr>
              <a:t> reads=3,000,000  </a:t>
            </a:r>
            <a:r>
              <a:rPr sz="1250" b="0" dirty="0" err="1">
                <a:solidFill>
                  <a:srgbClr val="F2F2F2"/>
                </a:solidFill>
                <a:latin typeface="Consolas"/>
                <a:ea typeface="Consolas"/>
              </a:rPr>
              <a:t>Δcommits</a:t>
            </a:r>
            <a:r>
              <a:rPr sz="1250" b="0" dirty="0">
                <a:solidFill>
                  <a:srgbClr val="F2F2F2"/>
                </a:solidFill>
                <a:latin typeface="Consolas"/>
                <a:ea typeface="Consolas"/>
              </a:rPr>
              <a:t>=3,000</a:t>
            </a:r>
          </a:p>
          <a:p>
            <a:pPr>
              <a:lnSpc>
                <a:spcPct val="100000"/>
              </a:lnSpc>
              <a:spcAft>
                <a:spcPts val="0"/>
              </a:spcAft>
            </a:pPr>
            <a:r>
              <a:rPr sz="1250" b="0" dirty="0">
                <a:solidFill>
                  <a:srgbClr val="F2F2F2"/>
                </a:solidFill>
                <a:latin typeface="Consolas"/>
                <a:ea typeface="Consolas"/>
              </a:rPr>
              <a:t>--   → </a:t>
            </a:r>
            <a:r>
              <a:rPr sz="1250" b="0" dirty="0" err="1">
                <a:solidFill>
                  <a:srgbClr val="F2F2F2"/>
                </a:solidFill>
                <a:latin typeface="Consolas"/>
                <a:ea typeface="Consolas"/>
              </a:rPr>
              <a:t>트랜잭션당</a:t>
            </a:r>
            <a:r>
              <a:rPr sz="1250" b="0" dirty="0">
                <a:solidFill>
                  <a:srgbClr val="F2F2F2"/>
                </a:solidFill>
                <a:latin typeface="Consolas"/>
                <a:ea typeface="Consolas"/>
              </a:rPr>
              <a:t> = 1,000 LIO/</a:t>
            </a:r>
            <a:r>
              <a:rPr sz="1250" b="0" dirty="0" err="1">
                <a:solidFill>
                  <a:srgbClr val="F2F2F2"/>
                </a:solidFill>
                <a:latin typeface="Consolas"/>
                <a:ea typeface="Consolas"/>
              </a:rPr>
              <a:t>txn</a:t>
            </a:r>
            <a:endParaRPr sz="1250" b="0" dirty="0">
              <a:solidFill>
                <a:srgbClr val="F2F2F2"/>
              </a:solidFill>
              <a:latin typeface="Consolas"/>
              <a:ea typeface="Consolas"/>
            </a:endParaRPr>
          </a:p>
          <a:p>
            <a:pPr>
              <a:lnSpc>
                <a:spcPct val="100000"/>
              </a:lnSpc>
              <a:spcAft>
                <a:spcPts val="0"/>
              </a:spcAft>
            </a:pPr>
            <a:r>
              <a:rPr sz="1250" b="0" dirty="0">
                <a:solidFill>
                  <a:srgbClr val="F2F2F2"/>
                </a:solidFill>
                <a:latin typeface="Consolas"/>
                <a:ea typeface="Consolas"/>
              </a:rPr>
              <a:t> </a:t>
            </a:r>
          </a:p>
          <a:p>
            <a:pPr>
              <a:lnSpc>
                <a:spcPct val="100000"/>
              </a:lnSpc>
              <a:spcAft>
                <a:spcPts val="0"/>
              </a:spcAft>
            </a:pPr>
            <a:r>
              <a:rPr sz="1250" b="0" dirty="0">
                <a:solidFill>
                  <a:srgbClr val="F2F2F2"/>
                </a:solidFill>
                <a:latin typeface="Consolas"/>
                <a:ea typeface="Consolas"/>
              </a:rPr>
              <a:t>-- </a:t>
            </a:r>
            <a:r>
              <a:rPr sz="1250" b="0" dirty="0" err="1">
                <a:solidFill>
                  <a:srgbClr val="F2F2F2"/>
                </a:solidFill>
                <a:latin typeface="Consolas"/>
                <a:ea typeface="Consolas"/>
              </a:rPr>
              <a:t>오후</a:t>
            </a:r>
            <a:r>
              <a:rPr sz="1250" b="0" dirty="0">
                <a:solidFill>
                  <a:srgbClr val="F2F2F2"/>
                </a:solidFill>
                <a:latin typeface="Consolas"/>
                <a:ea typeface="Consolas"/>
              </a:rPr>
              <a:t>: </a:t>
            </a:r>
            <a:r>
              <a:rPr sz="1250" b="0" dirty="0" err="1">
                <a:solidFill>
                  <a:srgbClr val="F2F2F2"/>
                </a:solidFill>
                <a:latin typeface="Consolas"/>
                <a:ea typeface="Consolas"/>
              </a:rPr>
              <a:t>Δlogical</a:t>
            </a:r>
            <a:r>
              <a:rPr sz="1250" b="0" dirty="0">
                <a:solidFill>
                  <a:srgbClr val="F2F2F2"/>
                </a:solidFill>
                <a:latin typeface="Consolas"/>
                <a:ea typeface="Consolas"/>
              </a:rPr>
              <a:t> reads=9,000,000  </a:t>
            </a:r>
            <a:r>
              <a:rPr sz="1250" b="0" dirty="0" err="1">
                <a:solidFill>
                  <a:srgbClr val="F2F2F2"/>
                </a:solidFill>
                <a:latin typeface="Consolas"/>
                <a:ea typeface="Consolas"/>
              </a:rPr>
              <a:t>Δcommits</a:t>
            </a:r>
            <a:r>
              <a:rPr sz="1250" b="0" dirty="0">
                <a:solidFill>
                  <a:srgbClr val="F2F2F2"/>
                </a:solidFill>
                <a:latin typeface="Consolas"/>
                <a:ea typeface="Consolas"/>
              </a:rPr>
              <a:t>=9,000</a:t>
            </a:r>
          </a:p>
          <a:p>
            <a:pPr>
              <a:lnSpc>
                <a:spcPct val="100000"/>
              </a:lnSpc>
              <a:spcAft>
                <a:spcPts val="0"/>
              </a:spcAft>
            </a:pPr>
            <a:r>
              <a:rPr sz="1250" b="0" dirty="0">
                <a:solidFill>
                  <a:srgbClr val="F2F2F2"/>
                </a:solidFill>
                <a:latin typeface="Consolas"/>
                <a:ea typeface="Consolas"/>
              </a:rPr>
              <a:t>--   → </a:t>
            </a:r>
            <a:r>
              <a:rPr sz="1250" b="0" dirty="0" err="1">
                <a:solidFill>
                  <a:srgbClr val="F2F2F2"/>
                </a:solidFill>
                <a:latin typeface="Consolas"/>
                <a:ea typeface="Consolas"/>
              </a:rPr>
              <a:t>트랜잭션당</a:t>
            </a:r>
            <a:r>
              <a:rPr sz="1250" b="0" dirty="0">
                <a:solidFill>
                  <a:srgbClr val="F2F2F2"/>
                </a:solidFill>
                <a:latin typeface="Consolas"/>
                <a:ea typeface="Consolas"/>
              </a:rPr>
              <a:t> = 1,000 LIO/</a:t>
            </a:r>
            <a:r>
              <a:rPr sz="1250" b="0" dirty="0" err="1">
                <a:solidFill>
                  <a:srgbClr val="F2F2F2"/>
                </a:solidFill>
                <a:latin typeface="Consolas"/>
                <a:ea typeface="Consolas"/>
              </a:rPr>
              <a:t>txn</a:t>
            </a:r>
            <a:endParaRPr sz="1250" b="0" dirty="0">
              <a:solidFill>
                <a:srgbClr val="F2F2F2"/>
              </a:solidFill>
              <a:latin typeface="Consolas"/>
              <a:ea typeface="Consolas"/>
            </a:endParaRPr>
          </a:p>
          <a:p>
            <a:pPr>
              <a:lnSpc>
                <a:spcPct val="100000"/>
              </a:lnSpc>
              <a:spcAft>
                <a:spcPts val="0"/>
              </a:spcAft>
            </a:pPr>
            <a:r>
              <a:rPr sz="1250" b="0" dirty="0">
                <a:solidFill>
                  <a:srgbClr val="F2F2F2"/>
                </a:solidFill>
                <a:latin typeface="Consolas"/>
                <a:ea typeface="Consolas"/>
              </a:rPr>
              <a:t> </a:t>
            </a:r>
          </a:p>
          <a:p>
            <a:pPr>
              <a:lnSpc>
                <a:spcPct val="100000"/>
              </a:lnSpc>
              <a:spcAft>
                <a:spcPts val="0"/>
              </a:spcAft>
            </a:pPr>
            <a:r>
              <a:rPr sz="1250" b="0" dirty="0">
                <a:solidFill>
                  <a:srgbClr val="F2F2F2"/>
                </a:solidFill>
                <a:latin typeface="Consolas"/>
                <a:ea typeface="Consolas"/>
              </a:rPr>
              <a:t>-- </a:t>
            </a:r>
            <a:r>
              <a:rPr sz="1250" b="0" dirty="0" err="1">
                <a:solidFill>
                  <a:srgbClr val="F2F2F2"/>
                </a:solidFill>
                <a:latin typeface="Consolas"/>
                <a:ea typeface="Consolas"/>
              </a:rPr>
              <a:t>총량</a:t>
            </a:r>
            <a:r>
              <a:rPr sz="1250" b="0" dirty="0">
                <a:solidFill>
                  <a:srgbClr val="F2F2F2"/>
                </a:solidFill>
                <a:latin typeface="Consolas"/>
                <a:ea typeface="Consolas"/>
              </a:rPr>
              <a:t> 3배지만 </a:t>
            </a:r>
            <a:r>
              <a:rPr sz="1250" b="0" dirty="0" err="1">
                <a:solidFill>
                  <a:srgbClr val="F2F2F2"/>
                </a:solidFill>
                <a:latin typeface="Consolas"/>
                <a:ea typeface="Consolas"/>
              </a:rPr>
              <a:t>트랜잭션당</a:t>
            </a:r>
            <a:r>
              <a:rPr sz="1250" b="0" dirty="0">
                <a:solidFill>
                  <a:srgbClr val="F2F2F2"/>
                </a:solidFill>
                <a:latin typeface="Consolas"/>
                <a:ea typeface="Consolas"/>
              </a:rPr>
              <a:t> </a:t>
            </a:r>
            <a:r>
              <a:rPr sz="1250" b="0" dirty="0" err="1">
                <a:solidFill>
                  <a:srgbClr val="F2F2F2"/>
                </a:solidFill>
                <a:latin typeface="Consolas"/>
                <a:ea typeface="Consolas"/>
              </a:rPr>
              <a:t>동일</a:t>
            </a:r>
            <a:r>
              <a:rPr sz="1250" b="0" dirty="0">
                <a:solidFill>
                  <a:srgbClr val="F2F2F2"/>
                </a:solidFill>
                <a:latin typeface="Consolas"/>
                <a:ea typeface="Consolas"/>
              </a:rPr>
              <a:t> → </a:t>
            </a:r>
            <a:r>
              <a:rPr sz="1250" b="0" dirty="0" err="1">
                <a:solidFill>
                  <a:srgbClr val="F2F2F2"/>
                </a:solidFill>
                <a:latin typeface="Consolas"/>
                <a:ea typeface="Consolas"/>
              </a:rPr>
              <a:t>성능</a:t>
            </a:r>
            <a:r>
              <a:rPr sz="1250" b="0" dirty="0">
                <a:solidFill>
                  <a:srgbClr val="F2F2F2"/>
                </a:solidFill>
                <a:latin typeface="Consolas"/>
                <a:ea typeface="Consolas"/>
              </a:rPr>
              <a:t> </a:t>
            </a:r>
            <a:r>
              <a:rPr sz="1250" b="0" dirty="0" err="1">
                <a:solidFill>
                  <a:srgbClr val="F2F2F2"/>
                </a:solidFill>
                <a:latin typeface="Consolas"/>
                <a:ea typeface="Consolas"/>
              </a:rPr>
              <a:t>저하</a:t>
            </a:r>
            <a:r>
              <a:rPr sz="1250" b="0" dirty="0">
                <a:solidFill>
                  <a:srgbClr val="F2F2F2"/>
                </a:solidFill>
                <a:latin typeface="Consolas"/>
                <a:ea typeface="Consolas"/>
              </a:rPr>
              <a:t> </a:t>
            </a:r>
            <a:r>
              <a:rPr sz="1250" b="0" dirty="0" err="1">
                <a:solidFill>
                  <a:srgbClr val="F2F2F2"/>
                </a:solidFill>
                <a:latin typeface="Consolas"/>
                <a:ea typeface="Consolas"/>
              </a:rPr>
              <a:t>아님</a:t>
            </a:r>
            <a:r>
              <a:rPr sz="1250" b="0" dirty="0">
                <a:solidFill>
                  <a:srgbClr val="F2F2F2"/>
                </a:solidFill>
                <a:latin typeface="Consolas"/>
                <a:ea typeface="Consolas"/>
              </a:rPr>
              <a:t>, </a:t>
            </a:r>
            <a:r>
              <a:rPr sz="1250" b="0" dirty="0" err="1">
                <a:solidFill>
                  <a:srgbClr val="F2F2F2"/>
                </a:solidFill>
                <a:latin typeface="Consolas"/>
                <a:ea typeface="Consolas"/>
              </a:rPr>
              <a:t>부하</a:t>
            </a:r>
            <a:r>
              <a:rPr sz="1250" b="0" dirty="0">
                <a:solidFill>
                  <a:srgbClr val="F2F2F2"/>
                </a:solidFill>
                <a:latin typeface="Consolas"/>
                <a:ea typeface="Consolas"/>
              </a:rPr>
              <a:t> 3배</a:t>
            </a:r>
          </a:p>
          <a:p>
            <a:pPr>
              <a:lnSpc>
                <a:spcPct val="100000"/>
              </a:lnSpc>
              <a:spcAft>
                <a:spcPts val="0"/>
              </a:spcAft>
            </a:pPr>
            <a:r>
              <a:rPr sz="1250" b="0" dirty="0">
                <a:solidFill>
                  <a:srgbClr val="F2F2F2"/>
                </a:solidFill>
                <a:latin typeface="Consolas"/>
                <a:ea typeface="Consolas"/>
              </a:rPr>
              <a:t>-- </a:t>
            </a:r>
            <a:r>
              <a:rPr sz="1250" b="0" dirty="0" err="1">
                <a:solidFill>
                  <a:srgbClr val="F2F2F2"/>
                </a:solidFill>
                <a:latin typeface="Consolas"/>
                <a:ea typeface="Consolas"/>
              </a:rPr>
              <a:t>오후</a:t>
            </a:r>
            <a:r>
              <a:rPr sz="1250" b="0" dirty="0">
                <a:solidFill>
                  <a:srgbClr val="F2F2F2"/>
                </a:solidFill>
                <a:latin typeface="Consolas"/>
                <a:ea typeface="Consolas"/>
              </a:rPr>
              <a:t> </a:t>
            </a:r>
            <a:r>
              <a:rPr sz="1250" b="0" dirty="0" err="1">
                <a:solidFill>
                  <a:srgbClr val="F2F2F2"/>
                </a:solidFill>
                <a:latin typeface="Consolas"/>
                <a:ea typeface="Consolas"/>
              </a:rPr>
              <a:t>트랜잭션당이</a:t>
            </a:r>
            <a:r>
              <a:rPr sz="1250" b="0" dirty="0">
                <a:solidFill>
                  <a:srgbClr val="F2F2F2"/>
                </a:solidFill>
                <a:latin typeface="Consolas"/>
                <a:ea typeface="Consolas"/>
              </a:rPr>
              <a:t> 3,000이면? </a:t>
            </a:r>
            <a:r>
              <a:rPr sz="1250" b="0" dirty="0" err="1">
                <a:solidFill>
                  <a:srgbClr val="F2F2F2"/>
                </a:solidFill>
                <a:latin typeface="Consolas"/>
                <a:ea typeface="Consolas"/>
              </a:rPr>
              <a:t>그때가</a:t>
            </a:r>
            <a:r>
              <a:rPr sz="1250" b="0" dirty="0">
                <a:solidFill>
                  <a:srgbClr val="F2F2F2"/>
                </a:solidFill>
                <a:latin typeface="Consolas"/>
                <a:ea typeface="Consolas"/>
              </a:rPr>
              <a:t> </a:t>
            </a:r>
            <a:r>
              <a:rPr sz="1250" b="0" dirty="0" err="1">
                <a:solidFill>
                  <a:srgbClr val="F2F2F2"/>
                </a:solidFill>
                <a:latin typeface="Consolas"/>
                <a:ea typeface="Consolas"/>
              </a:rPr>
              <a:t>진짜</a:t>
            </a:r>
            <a:r>
              <a:rPr sz="1250" b="0" dirty="0">
                <a:solidFill>
                  <a:srgbClr val="F2F2F2"/>
                </a:solidFill>
                <a:latin typeface="Consolas"/>
                <a:ea typeface="Consolas"/>
              </a:rPr>
              <a:t> </a:t>
            </a:r>
            <a:r>
              <a:rPr sz="1250" b="0" dirty="0" err="1">
                <a:solidFill>
                  <a:srgbClr val="F2F2F2"/>
                </a:solidFill>
                <a:latin typeface="Consolas"/>
                <a:ea typeface="Consolas"/>
              </a:rPr>
              <a:t>성능</a:t>
            </a:r>
            <a:r>
              <a:rPr sz="1250" b="0" dirty="0">
                <a:solidFill>
                  <a:srgbClr val="F2F2F2"/>
                </a:solidFill>
                <a:latin typeface="Consolas"/>
                <a:ea typeface="Consolas"/>
              </a:rPr>
              <a:t> </a:t>
            </a:r>
            <a:r>
              <a:rPr sz="1250" b="0" dirty="0" err="1">
                <a:solidFill>
                  <a:srgbClr val="F2F2F2"/>
                </a:solidFill>
                <a:latin typeface="Consolas"/>
                <a:ea typeface="Consolas"/>
              </a:rPr>
              <a:t>저하</a:t>
            </a:r>
            <a:r>
              <a:rPr sz="1250" b="0" dirty="0">
                <a:solidFill>
                  <a:srgbClr val="F2F2F2"/>
                </a:solidFill>
                <a:latin typeface="Consolas"/>
                <a:ea typeface="Consolas"/>
              </a:rPr>
              <a:t>.</a:t>
            </a:r>
          </a:p>
        </p:txBody>
      </p:sp>
    </p:spTree>
    <p:extLst>
      <p:ext uri="{BB962C8B-B14F-4D97-AF65-F5344CB8AC3E}">
        <p14:creationId xmlns:p14="http://schemas.microsoft.com/office/powerpoint/2010/main" val="2150598756"/>
      </p:ext>
    </p:extLst>
  </p:cSld>
  <p:clrMapOvr>
    <a:masterClrMapping/>
  </p:clrMapOvr>
</p:sld>
</file>

<file path=ppt/slides/slide10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교정 원칙</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보이는 절대값 → 올바른 정규화</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logical reads 3.56억 → 초당·트랜잭션당 LIO</a:t>
            </a:r>
          </a:p>
          <a:p>
            <a:pPr algn="l">
              <a:spcAft>
                <a:spcPts val="1000"/>
              </a:spcAft>
            </a:pPr>
            <a:r>
              <a:rPr sz="1700" b="0">
                <a:solidFill>
                  <a:srgbClr val="222222"/>
                </a:solidFill>
                <a:latin typeface="맑은 고딕"/>
                <a:ea typeface="맑은 고딕"/>
              </a:rPr>
              <a:t>•  buffer_gets 상위 SQL → 실행당·시그니처로 재평가</a:t>
            </a:r>
          </a:p>
          <a:p>
            <a:pPr algn="l">
              <a:spcAft>
                <a:spcPts val="1000"/>
              </a:spcAft>
            </a:pPr>
            <a:r>
              <a:rPr sz="1700" b="0">
                <a:solidFill>
                  <a:srgbClr val="222222"/>
                </a:solidFill>
                <a:latin typeface="맑은 고딕"/>
                <a:ea typeface="맑은 고딕"/>
              </a:rPr>
              <a:t>•  parse count (hard) → total 대비 비율(60.6%)</a:t>
            </a:r>
          </a:p>
          <a:p>
            <a:pPr algn="l">
              <a:spcAft>
                <a:spcPts val="1000"/>
              </a:spcAft>
            </a:pPr>
            <a:r>
              <a:rPr sz="1700" b="0">
                <a:solidFill>
                  <a:srgbClr val="222222"/>
                </a:solidFill>
                <a:latin typeface="맑은 고딕"/>
                <a:ea typeface="맑은 고딕"/>
              </a:rPr>
              <a:t>•  execute count 증가 → 초·트랜잭션당으로 부하/저하 구분</a:t>
            </a:r>
          </a:p>
        </p:txBody>
      </p:sp>
    </p:spTree>
    <p:extLst>
      <p:ext uri="{BB962C8B-B14F-4D97-AF65-F5344CB8AC3E}">
        <p14:creationId xmlns:p14="http://schemas.microsoft.com/office/powerpoint/2010/main" val="3672083908"/>
      </p:ext>
    </p:extLst>
  </p:cSld>
  <p:clrMapOvr>
    <a:masterClrMapping/>
  </p:clrMapOvr>
</p:sld>
</file>

<file path=ppt/slides/slide10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nchor="t">
            <a:spAutoFit/>
          </a:bodyPr>
          <a:lstStyle/>
          <a:p>
            <a:pPr algn="l">
              <a:spcAft>
                <a:spcPts val="600"/>
              </a:spcAft>
            </a:pPr>
            <a:r>
              <a:rPr sz="4000" b="1">
                <a:solidFill>
                  <a:srgbClr val="FFFFFF"/>
                </a:solidFill>
                <a:latin typeface="맑은 고딕"/>
                <a:ea typeface="맑은 고딕"/>
              </a:rPr>
              <a:t>26.7</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spcAft>
                <a:spcPts val="600"/>
              </a:spcAft>
            </a:pPr>
            <a:r>
              <a:rPr sz="2800" b="1">
                <a:solidFill>
                  <a:srgbClr val="FFFFFF"/>
                </a:solidFill>
                <a:latin typeface="맑은 고딕"/>
                <a:ea typeface="맑은 고딕"/>
              </a:rPr>
              <a:t>AWR 없이도 진단은 된다</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ea typeface="맑은 고딕"/>
              </a:rPr>
              <a:t>•  V$ 실시간 조회 = 라이선스 무관</a:t>
            </a:r>
          </a:p>
          <a:p>
            <a:pPr algn="l">
              <a:spcAft>
                <a:spcPts val="600"/>
              </a:spcAft>
            </a:pPr>
            <a:r>
              <a:rPr sz="1600" b="0">
                <a:solidFill>
                  <a:srgbClr val="FFFFFF"/>
                </a:solidFill>
                <a:latin typeface="맑은 고딕"/>
                <a:ea typeface="맑은 고딕"/>
              </a:rPr>
              <a:t>•  DBA_HIST·AWR·ADDM·ASH = Diagnostics Pack 🔒</a:t>
            </a:r>
          </a:p>
          <a:p>
            <a:pPr algn="l">
              <a:spcAft>
                <a:spcPts val="600"/>
              </a:spcAft>
            </a:pPr>
            <a:r>
              <a:rPr sz="1600" b="0">
                <a:solidFill>
                  <a:srgbClr val="FFFFFF"/>
                </a:solidFill>
                <a:latin typeface="맑은 고딕"/>
                <a:ea typeface="맑은 고딕"/>
              </a:rPr>
              <a:t>•  대안: Statspack · V$ 델타</a:t>
            </a:r>
          </a:p>
        </p:txBody>
      </p:sp>
    </p:spTree>
    <p:extLst>
      <p:ext uri="{BB962C8B-B14F-4D97-AF65-F5344CB8AC3E}">
        <p14:creationId xmlns:p14="http://schemas.microsoft.com/office/powerpoint/2010/main" val="459104164"/>
      </p:ext>
    </p:extLst>
  </p:cSld>
  <p:clrMapOvr>
    <a:masterClrMapping/>
  </p:clrMapOvr>
</p:sld>
</file>

<file path=ppt/slides/slide10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V$의 위치와 라이선스 경계</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'지금'은 무료, '과거'는 라이선스</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무관: V$SESSION·V$SESSION_WAIT·V$SQL·V$SYSSTAT·V$SEGMENT_STATISTICS</a:t>
            </a:r>
          </a:p>
          <a:p>
            <a:pPr algn="l">
              <a:spcAft>
                <a:spcPts val="1000"/>
              </a:spcAft>
            </a:pPr>
            <a:r>
              <a:rPr sz="1700" b="0">
                <a:solidFill>
                  <a:srgbClr val="222222"/>
                </a:solidFill>
                <a:latin typeface="맑은 고딕"/>
                <a:ea typeface="맑은 고딕"/>
              </a:rPr>
              <a:t>•  🔒 Diagnostics Pack: AWR·ADDM·ASH·DBA_HIST_*·V$ACTIVE_SESSION_HISTORY</a:t>
            </a:r>
          </a:p>
          <a:p>
            <a:pPr algn="l">
              <a:spcAft>
                <a:spcPts val="1000"/>
              </a:spcAft>
            </a:pPr>
            <a:r>
              <a:rPr sz="1700" b="0">
                <a:solidFill>
                  <a:srgbClr val="222222"/>
                </a:solidFill>
                <a:latin typeface="맑은 고딕"/>
                <a:ea typeface="맑은 고딕"/>
              </a:rPr>
              <a:t>•  대안: Statspack(무상) 또는 V$ 두 시점 델타</a:t>
            </a:r>
          </a:p>
          <a:p>
            <a:pPr algn="l">
              <a:spcAft>
                <a:spcPts val="1000"/>
              </a:spcAft>
            </a:pPr>
            <a:r>
              <a:rPr sz="1700" b="0">
                <a:solidFill>
                  <a:srgbClr val="222222"/>
                </a:solidFill>
                <a:latin typeface="맑은 고딕"/>
                <a:ea typeface="맑은 고딕"/>
              </a:rPr>
              <a:t>•  AWR이 자동화하던 '구간 정규화'를 손으로 할 뿐 논리는 동일</a:t>
            </a:r>
          </a:p>
        </p:txBody>
      </p:sp>
    </p:spTree>
    <p:extLst>
      <p:ext uri="{BB962C8B-B14F-4D97-AF65-F5344CB8AC3E}">
        <p14:creationId xmlns:p14="http://schemas.microsoft.com/office/powerpoint/2010/main" val="381251188"/>
      </p:ext>
    </p:extLst>
  </p:cSld>
  <p:clrMapOvr>
    <a:masterClrMapping/>
  </p:clrMapOvr>
</p:sld>
</file>

<file path=ppt/slides/slide10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라이선스 없이 보는 법</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보고 싶은 것 → V$ 대안</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지금 활성 세션·대기 → V$SESSION·V$SESSION_WAIT</a:t>
            </a:r>
          </a:p>
          <a:p>
            <a:pPr algn="l">
              <a:spcAft>
                <a:spcPts val="1000"/>
              </a:spcAft>
            </a:pPr>
            <a:r>
              <a:rPr sz="1700" b="0">
                <a:solidFill>
                  <a:srgbClr val="222222"/>
                </a:solidFill>
                <a:latin typeface="맑은 고딕"/>
                <a:ea typeface="맑은 고딕"/>
              </a:rPr>
              <a:t>•  지금 상위 부하 SQL → V$SQL 기준별 정렬</a:t>
            </a:r>
          </a:p>
          <a:p>
            <a:pPr algn="l">
              <a:spcAft>
                <a:spcPts val="1000"/>
              </a:spcAft>
            </a:pPr>
            <a:r>
              <a:rPr sz="1700" b="0">
                <a:solidFill>
                  <a:srgbClr val="222222"/>
                </a:solidFill>
                <a:latin typeface="맑은 고딕"/>
                <a:ea typeface="맑은 고딕"/>
              </a:rPr>
              <a:t>•  구간 부하율 → V$SYSSTAT 두 시점 델타</a:t>
            </a:r>
          </a:p>
          <a:p>
            <a:pPr algn="l">
              <a:spcAft>
                <a:spcPts val="1000"/>
              </a:spcAft>
            </a:pPr>
            <a:r>
              <a:rPr sz="1700" b="0">
                <a:solidFill>
                  <a:srgbClr val="222222"/>
                </a:solidFill>
                <a:latin typeface="맑은 고딕"/>
                <a:ea typeface="맑은 고딕"/>
              </a:rPr>
              <a:t>•  과거 구간 재구성 → 🔒 대신 Statspack 보고서</a:t>
            </a:r>
          </a:p>
          <a:p>
            <a:pPr algn="l">
              <a:spcAft>
                <a:spcPts val="1000"/>
              </a:spcAft>
            </a:pPr>
            <a:r>
              <a:rPr sz="1700" b="0">
                <a:solidFill>
                  <a:srgbClr val="222222"/>
                </a:solidFill>
                <a:latin typeface="맑은 고딕"/>
                <a:ea typeface="맑은 고딕"/>
              </a:rPr>
              <a:t>•  과거 스파이크 → 🔒 ASH 대신 V$SESSION 반복 샘플링</a:t>
            </a:r>
          </a:p>
        </p:txBody>
      </p:sp>
    </p:spTree>
    <p:extLst>
      <p:ext uri="{BB962C8B-B14F-4D97-AF65-F5344CB8AC3E}">
        <p14:creationId xmlns:p14="http://schemas.microsoft.com/office/powerpoint/2010/main" val="1858724459"/>
      </p:ext>
    </p:extLst>
  </p:cSld>
  <p:clrMapOvr>
    <a:masterClrMapping/>
  </p:clrMapOvr>
</p:sld>
</file>

<file path=ppt/slides/slide10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퀴즈 (Quiz)</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900"/>
              </a:spcAft>
            </a:pPr>
            <a:r>
              <a:rPr sz="1600" b="0">
                <a:solidFill>
                  <a:srgbClr val="222222"/>
                </a:solidFill>
                <a:latin typeface="맑은 고딕"/>
                <a:ea typeface="맑은 고딕"/>
              </a:rPr>
              <a:t>•  Q1. 인스턴스 튜닝 방법론 4단계를 순서대로 쓰고 각 단계의 수집·측정을 설명하라.</a:t>
            </a:r>
          </a:p>
          <a:p>
            <a:pPr algn="l">
              <a:spcAft>
                <a:spcPts val="900"/>
              </a:spcAft>
            </a:pPr>
            <a:r>
              <a:rPr sz="1600" b="0">
                <a:solidFill>
                  <a:srgbClr val="222222"/>
                </a:solidFill>
                <a:latin typeface="맑은 고딕"/>
                <a:ea typeface="맑은 고딕"/>
              </a:rPr>
              <a:t>•  Q2. 진단 경로 '세션→대기→SQL→세그먼트'가 왜 이 순서인지 설명하라.</a:t>
            </a:r>
          </a:p>
          <a:p>
            <a:pPr algn="l">
              <a:spcAft>
                <a:spcPts val="900"/>
              </a:spcAft>
            </a:pPr>
            <a:r>
              <a:rPr sz="1600" b="0">
                <a:solidFill>
                  <a:srgbClr val="222222"/>
                </a:solidFill>
                <a:latin typeface="맑은 고딕"/>
                <a:ea typeface="맑은 고딕"/>
              </a:rPr>
              <a:t>•  Q3. ACTIVE 세션의 대기가 'SQL*Net message from client'일 때 병목이 아닌 이유는?</a:t>
            </a:r>
          </a:p>
          <a:p>
            <a:pPr algn="l">
              <a:spcAft>
                <a:spcPts val="900"/>
              </a:spcAft>
            </a:pPr>
            <a:r>
              <a:rPr sz="1600" b="0">
                <a:solidFill>
                  <a:srgbClr val="222222"/>
                </a:solidFill>
                <a:latin typeface="맑은 고딕"/>
                <a:ea typeface="맑은 고딕"/>
              </a:rPr>
              <a:t>•  Q4. session logical reads 절대값만으로 판정 못 하는 이유와 올바른 절차는?</a:t>
            </a:r>
          </a:p>
          <a:p>
            <a:pPr algn="l">
              <a:spcAft>
                <a:spcPts val="900"/>
              </a:spcAft>
            </a:pPr>
            <a:r>
              <a:rPr sz="1600" b="0">
                <a:solidFill>
                  <a:srgbClr val="222222"/>
                </a:solidFill>
                <a:latin typeface="맑은 고딕"/>
                <a:ea typeface="맑은 고딕"/>
              </a:rPr>
              <a:t>•  Q5. 하드 파싱 112,198/185,227의 비율을 계산하고 비정상 근거·원인을 쓰라.</a:t>
            </a:r>
          </a:p>
          <a:p>
            <a:pPr algn="l">
              <a:spcAft>
                <a:spcPts val="900"/>
              </a:spcAft>
            </a:pPr>
            <a:r>
              <a:rPr sz="1600" b="0">
                <a:solidFill>
                  <a:srgbClr val="222222"/>
                </a:solidFill>
                <a:latin typeface="맑은 고딕"/>
                <a:ea typeface="맑은 고딕"/>
              </a:rPr>
              <a:t>•  Q6. buffer_gets 절대값 상위만 튜닝할 때 놓치는 것과 교정 방법은?</a:t>
            </a:r>
          </a:p>
        </p:txBody>
      </p:sp>
    </p:spTree>
    <p:extLst>
      <p:ext uri="{BB962C8B-B14F-4D97-AF65-F5344CB8AC3E}">
        <p14:creationId xmlns:p14="http://schemas.microsoft.com/office/powerpoint/2010/main" val="538187328"/>
      </p:ext>
    </p:extLst>
  </p:cSld>
  <p:clrMapOvr>
    <a:masterClrMapping/>
  </p:clrMapOvr>
</p:sld>
</file>

<file path=ppt/slides/slide10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요약 (Summary)</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900"/>
              </a:spcAft>
            </a:pPr>
            <a:r>
              <a:rPr sz="1600" b="0">
                <a:solidFill>
                  <a:srgbClr val="222222"/>
                </a:solidFill>
                <a:latin typeface="맑은 고딕"/>
                <a:ea typeface="맑은 고딕"/>
              </a:rPr>
              <a:t>•  인스턴스 튜닝은 문제 정의→통계 검토→변경·측정→반복이며 기준선이 필수다.</a:t>
            </a:r>
          </a:p>
          <a:p>
            <a:pPr algn="l">
              <a:spcAft>
                <a:spcPts val="900"/>
              </a:spcAft>
            </a:pPr>
            <a:r>
              <a:rPr sz="1600" b="0">
                <a:solidFill>
                  <a:srgbClr val="222222"/>
                </a:solidFill>
                <a:latin typeface="맑은 고딕"/>
                <a:ea typeface="맑은 고딕"/>
              </a:rPr>
              <a:t>•  실시간 진단은 세션→대기→SQL→세그먼트 순으로 좁힌다.</a:t>
            </a:r>
          </a:p>
          <a:p>
            <a:pPr algn="l">
              <a:spcAft>
                <a:spcPts val="900"/>
              </a:spcAft>
            </a:pPr>
            <a:r>
              <a:rPr sz="1600" b="0">
                <a:solidFill>
                  <a:srgbClr val="222222"/>
                </a:solidFill>
                <a:latin typeface="맑은 고딕"/>
                <a:ea typeface="맑은 고딕"/>
              </a:rPr>
              <a:t>•  ACTIVE라도 대기가 Idle이면 병목이 아니다 — 걸러 낸다.</a:t>
            </a:r>
          </a:p>
          <a:p>
            <a:pPr algn="l">
              <a:spcAft>
                <a:spcPts val="900"/>
              </a:spcAft>
            </a:pPr>
            <a:r>
              <a:rPr sz="1600" b="0">
                <a:solidFill>
                  <a:srgbClr val="222222"/>
                </a:solidFill>
                <a:latin typeface="맑은 고딕"/>
                <a:ea typeface="맑은 고딕"/>
              </a:rPr>
              <a:t>•  V$SYSSTAT은 누적값. 델타를 초·트랜잭션당으로 정규화해야 판정된다.</a:t>
            </a:r>
          </a:p>
          <a:p>
            <a:pPr algn="l">
              <a:spcAft>
                <a:spcPts val="900"/>
              </a:spcAft>
            </a:pPr>
            <a:r>
              <a:rPr sz="1600" b="0">
                <a:solidFill>
                  <a:srgbClr val="222222"/>
                </a:solidFill>
                <a:latin typeface="맑은 고딕"/>
                <a:ea typeface="맑은 고딕"/>
              </a:rPr>
              <a:t>•  V$SQL은 실행시간·논리읽기·실행횟수로 교차하고 실행당·시그니처로 확인.</a:t>
            </a:r>
          </a:p>
          <a:p>
            <a:pPr algn="l">
              <a:spcAft>
                <a:spcPts val="900"/>
              </a:spcAft>
            </a:pPr>
            <a:r>
              <a:rPr sz="1600" b="0">
                <a:solidFill>
                  <a:srgbClr val="222222"/>
                </a:solidFill>
                <a:latin typeface="맑은 고딕"/>
                <a:ea typeface="맑은 고딕"/>
              </a:rPr>
              <a:t>•  V$ 실시간 조회는 라이선스 무관 — AWR 없이도 진단은 가능하다.</a:t>
            </a:r>
          </a:p>
        </p:txBody>
      </p:sp>
    </p:spTree>
    <p:extLst>
      <p:ext uri="{BB962C8B-B14F-4D97-AF65-F5344CB8AC3E}">
        <p14:creationId xmlns:p14="http://schemas.microsoft.com/office/powerpoint/2010/main" val="3579534993"/>
      </p:ext>
    </p:extLst>
  </p:cSld>
  <p:clrMapOvr>
    <a:masterClrMapping/>
  </p:clrMapOvr>
</p:sld>
</file>

<file path=ppt/slides/slide10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실습 개요 (Practice Overview)</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900"/>
              </a:spcAft>
            </a:pPr>
            <a:r>
              <a:rPr sz="1600" b="0">
                <a:solidFill>
                  <a:srgbClr val="222222"/>
                </a:solidFill>
                <a:latin typeface="맑은 고딕"/>
                <a:ea typeface="맑은 고딕"/>
              </a:rPr>
              <a:t>•  실습 01 — 실시간 진단 경로: 세션→대기→SQL→세그먼트 추적</a:t>
            </a:r>
          </a:p>
          <a:p>
            <a:pPr algn="l">
              <a:spcAft>
                <a:spcPts val="900"/>
              </a:spcAft>
            </a:pPr>
            <a:r>
              <a:rPr sz="1600" b="0">
                <a:solidFill>
                  <a:srgbClr val="222222"/>
                </a:solidFill>
                <a:latin typeface="맑은 고딕"/>
                <a:ea typeface="맑은 고딕"/>
              </a:rPr>
              <a:t>•  실습 02 — V$SYSSTAT 델타 계산: 초·트랜잭션당 부하율과 하드 파싱 비율</a:t>
            </a:r>
          </a:p>
          <a:p>
            <a:pPr algn="l">
              <a:spcAft>
                <a:spcPts val="900"/>
              </a:spcAft>
            </a:pPr>
            <a:r>
              <a:rPr sz="1600" b="0">
                <a:solidFill>
                  <a:srgbClr val="222222"/>
                </a:solidFill>
                <a:latin typeface="맑은 고딕"/>
                <a:ea typeface="맑은 고딕"/>
              </a:rPr>
              <a:t>•  실습 03 — V$SESSION·V$SESSION_WAIT로 현재 활동 파악과 Idle 걸러내기</a:t>
            </a:r>
          </a:p>
          <a:p>
            <a:pPr algn="l">
              <a:spcAft>
                <a:spcPts val="900"/>
              </a:spcAft>
            </a:pPr>
            <a:r>
              <a:rPr sz="1600" b="0">
                <a:solidFill>
                  <a:srgbClr val="222222"/>
                </a:solidFill>
                <a:latin typeface="맑은 고딕"/>
                <a:ea typeface="맑은 고딕"/>
              </a:rPr>
              <a:t>•  실습 04 — V$SQL 정렬 기준별 상위 SQL 선별과 교차</a:t>
            </a:r>
          </a:p>
          <a:p>
            <a:pPr algn="l">
              <a:spcAft>
                <a:spcPts val="900"/>
              </a:spcAft>
            </a:pPr>
            <a:r>
              <a:rPr sz="1600" b="0">
                <a:solidFill>
                  <a:srgbClr val="222222"/>
                </a:solidFill>
                <a:latin typeface="맑은 고딕"/>
                <a:ea typeface="맑은 고딕"/>
              </a:rPr>
              <a:t>•  실습 05 — 절대값 오판을 델타·비율·시그니처로 교정</a:t>
            </a:r>
          </a:p>
          <a:p>
            <a:pPr algn="l">
              <a:spcAft>
                <a:spcPts val="900"/>
              </a:spcAft>
            </a:pPr>
            <a:r>
              <a:rPr sz="1600" b="0">
                <a:solidFill>
                  <a:srgbClr val="222222"/>
                </a:solidFill>
                <a:latin typeface="맑은 고딕"/>
                <a:ea typeface="맑은 고딕"/>
              </a:rPr>
              <a:t>•  ※ 모두 non-CDB(orcl 19.3), 라이선스 불필요한 V$ 조회만 사용</a:t>
            </a:r>
          </a:p>
        </p:txBody>
      </p:sp>
    </p:spTree>
    <p:extLst>
      <p:ext uri="{BB962C8B-B14F-4D97-AF65-F5344CB8AC3E}">
        <p14:creationId xmlns:p14="http://schemas.microsoft.com/office/powerpoint/2010/main" val="2664207816"/>
      </p:ext>
    </p:extLst>
  </p:cSld>
  <p:clrMapOvr>
    <a:masterClrMapping/>
  </p:clrMapOvr>
</p:sld>
</file>

<file path=ppt/slides/slide10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457200"/>
            <a:ext cx="10698480" cy="548640"/>
          </a:xfrm>
          <a:prstGeom prst="rect">
            <a:avLst/>
          </a:prstGeom>
          <a:noFill/>
        </p:spPr>
        <p:txBody>
          <a:bodyPr wrap="square" anchor="t">
            <a:spAutoFit/>
          </a:bodyPr>
          <a:lstStyle/>
          <a:p>
            <a:pPr algn="l"/>
            <a:r>
              <a:rPr sz="1600" b="1">
                <a:solidFill>
                  <a:srgbClr val="FFFFFF"/>
                </a:solidFill>
                <a:latin typeface="맑은 고딕"/>
              </a:rPr>
              <a:t>Oracle Database 19c 성능 튜닝 실무 과정</a:t>
            </a:r>
          </a:p>
        </p:txBody>
      </p:sp>
      <p:sp>
        <p:nvSpPr>
          <p:cNvPr id="6" name="TextBox 5"/>
          <p:cNvSpPr txBox="1"/>
          <p:nvPr/>
        </p:nvSpPr>
        <p:spPr>
          <a:xfrm>
            <a:off x="731520" y="2377440"/>
            <a:ext cx="10698480" cy="1554480"/>
          </a:xfrm>
          <a:prstGeom prst="rect">
            <a:avLst/>
          </a:prstGeom>
          <a:noFill/>
        </p:spPr>
        <p:txBody>
          <a:bodyPr wrap="square" anchor="t">
            <a:spAutoFit/>
          </a:bodyPr>
          <a:lstStyle/>
          <a:p>
            <a:pPr algn="l">
              <a:spcAft>
                <a:spcPts val="600"/>
              </a:spcAft>
            </a:pPr>
            <a:r>
              <a:rPr sz="3400" b="1">
                <a:solidFill>
                  <a:srgbClr val="C0392B"/>
                </a:solidFill>
                <a:latin typeface="맑은 고딕"/>
              </a:rPr>
              <a:t>V$ 뷰를 이용한 인스턴스 튜닝 ②</a:t>
            </a:r>
          </a:p>
          <a:p>
            <a:pPr algn="l">
              <a:spcAft>
                <a:spcPts val="600"/>
              </a:spcAft>
            </a:pPr>
            <a:r>
              <a:rPr sz="2000" b="0">
                <a:solidFill>
                  <a:srgbClr val="5A6672"/>
                </a:solidFill>
                <a:latin typeface="맑은 고딕"/>
              </a:rPr>
              <a:t>대기 이벤트 분석 — 증상에서 원천으로</a:t>
            </a:r>
          </a:p>
        </p:txBody>
      </p:sp>
      <p:sp>
        <p:nvSpPr>
          <p:cNvPr id="7" name="TextBox 6"/>
          <p:cNvSpPr txBox="1"/>
          <p:nvPr/>
        </p:nvSpPr>
        <p:spPr>
          <a:xfrm>
            <a:off x="731520" y="4114800"/>
            <a:ext cx="10698480" cy="1097280"/>
          </a:xfrm>
          <a:prstGeom prst="rect">
            <a:avLst/>
          </a:prstGeom>
          <a:noFill/>
        </p:spPr>
        <p:txBody>
          <a:bodyPr wrap="square" anchor="t">
            <a:spAutoFit/>
          </a:bodyPr>
          <a:lstStyle/>
          <a:p>
            <a:pPr algn="l"/>
            <a:r>
              <a:rPr sz="1500" b="0">
                <a:solidFill>
                  <a:srgbClr val="5A6672"/>
                </a:solidFill>
                <a:latin typeface="맑은 고딕"/>
              </a:rPr>
              <a:t>대기 클래스 · db file 계열 · buffer busy · log file sync · latch/mutex · enq: TX · Idle 오판</a:t>
            </a:r>
          </a:p>
        </p:txBody>
      </p:sp>
      <p:sp>
        <p:nvSpPr>
          <p:cNvPr id="8" name="TextBox 7"/>
          <p:cNvSpPr txBox="1"/>
          <p:nvPr/>
        </p:nvSpPr>
        <p:spPr>
          <a:xfrm>
            <a:off x="731520" y="5577840"/>
            <a:ext cx="10698480" cy="914400"/>
          </a:xfrm>
          <a:prstGeom prst="rect">
            <a:avLst/>
          </a:prstGeom>
          <a:noFill/>
        </p:spPr>
        <p:txBody>
          <a:bodyPr wrap="square" anchor="t">
            <a:spAutoFit/>
          </a:bodyPr>
          <a:lstStyle/>
          <a:p>
            <a:pPr algn="l"/>
            <a:r>
              <a:rPr sz="2000" b="1">
                <a:solidFill>
                  <a:srgbClr val="C0392B"/>
                </a:solidFill>
                <a:latin typeface="맑은 고딕"/>
              </a:rPr>
              <a:t>ch27</a:t>
            </a:r>
          </a:p>
        </p:txBody>
      </p:sp>
    </p:spTree>
    <p:extLst>
      <p:ext uri="{BB962C8B-B14F-4D97-AF65-F5344CB8AC3E}">
        <p14:creationId xmlns:p14="http://schemas.microsoft.com/office/powerpoint/2010/main" val="1719244128"/>
      </p:ext>
    </p:extLst>
  </p:cSld>
  <p:clrMapOvr>
    <a:masterClrMapping/>
  </p:clrMapOvr>
</p:sld>
</file>

<file path=ppt/slides/slide10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학습 목표 (Objectives)</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600"/>
              </a:spcAft>
            </a:pPr>
            <a:r>
              <a:rPr sz="1600" b="0">
                <a:solidFill>
                  <a:srgbClr val="222222"/>
                </a:solidFill>
                <a:latin typeface="맑은 고딕"/>
              </a:rPr>
              <a:t>•  V$EVENT_NAME의 wait_class로 대기 이벤트를 분류하고 세 뷰(현재·누적·사전)를 구분한다.</a:t>
            </a:r>
          </a:p>
          <a:p>
            <a:pPr algn="l">
              <a:spcAft>
                <a:spcPts val="600"/>
              </a:spcAft>
            </a:pPr>
            <a:r>
              <a:rPr sz="1600" b="0">
                <a:solidFill>
                  <a:srgbClr val="222222"/>
                </a:solidFill>
                <a:latin typeface="맑은 고딕"/>
              </a:rPr>
              <a:t>•  db file sequential(단일 블록)·scattered(다중 블록) read의 차이를 원리로 설명한다.</a:t>
            </a:r>
          </a:p>
          <a:p>
            <a:pPr algn="l">
              <a:spcAft>
                <a:spcPts val="600"/>
              </a:spcAft>
            </a:pPr>
            <a:r>
              <a:rPr sz="1600" b="0">
                <a:solidFill>
                  <a:srgbClr val="222222"/>
                </a:solidFill>
                <a:latin typeface="맑은 고딕"/>
              </a:rPr>
              <a:t>•  buffer busy waits의 원인 세그먼트를 V$SEGMENT_STATISTICS·ROW_WAIT_OBJ#로 지목한다.</a:t>
            </a:r>
          </a:p>
          <a:p>
            <a:pPr algn="l">
              <a:spcAft>
                <a:spcPts val="600"/>
              </a:spcAft>
            </a:pPr>
            <a:r>
              <a:rPr sz="1600" b="0">
                <a:solidFill>
                  <a:srgbClr val="222222"/>
                </a:solidFill>
                <a:latin typeface="맑은 고딕"/>
              </a:rPr>
              <a:t>•  log file sync를 커밋 빈도와 연결해 디스크 문제와 과도한 커밋을 구분한다.</a:t>
            </a:r>
          </a:p>
          <a:p>
            <a:pPr algn="l">
              <a:spcAft>
                <a:spcPts val="600"/>
              </a:spcAft>
            </a:pPr>
            <a:r>
              <a:rPr sz="1600" b="0">
                <a:solidFill>
                  <a:srgbClr val="222222"/>
                </a:solidFill>
                <a:latin typeface="맑은 고딕"/>
              </a:rPr>
              <a:t>•  latch: shared pool·library cache: mutex X 경합을 하드 파싱과 연결해 해석한다.</a:t>
            </a:r>
          </a:p>
          <a:p>
            <a:pPr algn="l">
              <a:spcAft>
                <a:spcPts val="600"/>
              </a:spcAft>
            </a:pPr>
            <a:r>
              <a:rPr sz="1600" b="0">
                <a:solidFill>
                  <a:srgbClr val="222222"/>
                </a:solidFill>
                <a:latin typeface="맑은 고딕"/>
              </a:rPr>
              <a:t>•  enq: TX - row lock contention을 재현하고 blocking_session으로 블로커를 역추적한다.</a:t>
            </a:r>
          </a:p>
          <a:p>
            <a:pPr algn="l">
              <a:spcAft>
                <a:spcPts val="600"/>
              </a:spcAft>
            </a:pPr>
            <a:r>
              <a:rPr sz="1600" b="0">
                <a:solidFill>
                  <a:srgbClr val="222222"/>
                </a:solidFill>
                <a:latin typeface="맑은 고딕"/>
              </a:rPr>
              <a:t>•  SQL*Net message from client 같은 Idle 이벤트를 병목으로 오판하지 않는다.</a:t>
            </a:r>
          </a:p>
        </p:txBody>
      </p:sp>
    </p:spTree>
    <p:extLst>
      <p:ext uri="{BB962C8B-B14F-4D97-AF65-F5344CB8AC3E}">
        <p14:creationId xmlns:p14="http://schemas.microsoft.com/office/powerpoint/2010/main" val="401451192"/>
      </p:ext>
    </p:extLst>
  </p:cSld>
  <p:clrMapOvr>
    <a:masterClrMapping/>
  </p:clrMapOvr>
</p:sld>
</file>

<file path=ppt/slides/slide10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이 장의 구성 (Agenda)</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600"/>
              </a:spcAft>
            </a:pPr>
            <a:r>
              <a:rPr sz="1600" b="0">
                <a:solidFill>
                  <a:srgbClr val="222222"/>
                </a:solidFill>
                <a:latin typeface="맑은 고딕"/>
              </a:rPr>
              <a:t>•  27.2  대기 이벤트 분류 체계 — V$EVENT_NAME과 대기 클래스</a:t>
            </a:r>
          </a:p>
          <a:p>
            <a:pPr algn="l">
              <a:spcAft>
                <a:spcPts val="600"/>
              </a:spcAft>
            </a:pPr>
            <a:r>
              <a:rPr sz="1600" b="0">
                <a:solidFill>
                  <a:srgbClr val="222222"/>
                </a:solidFill>
                <a:latin typeface="맑은 고딕"/>
              </a:rPr>
              <a:t>•  27.3  db file sequential read와 scattered read</a:t>
            </a:r>
          </a:p>
          <a:p>
            <a:pPr algn="l">
              <a:spcAft>
                <a:spcPts val="600"/>
              </a:spcAft>
            </a:pPr>
            <a:r>
              <a:rPr sz="1600" b="0">
                <a:solidFill>
                  <a:srgbClr val="222222"/>
                </a:solidFill>
                <a:latin typeface="맑은 고딕"/>
              </a:rPr>
              <a:t>•  27.4  buffer busy waits — 원인 세그먼트를 지목하라</a:t>
            </a:r>
          </a:p>
          <a:p>
            <a:pPr algn="l">
              <a:spcAft>
                <a:spcPts val="600"/>
              </a:spcAft>
            </a:pPr>
            <a:r>
              <a:rPr sz="1600" b="0">
                <a:solidFill>
                  <a:srgbClr val="222222"/>
                </a:solidFill>
                <a:latin typeface="맑은 고딕"/>
              </a:rPr>
              <a:t>•  27.5  log file sync — 커밋 빈도가 만드는 대기</a:t>
            </a:r>
          </a:p>
          <a:p>
            <a:pPr algn="l">
              <a:spcAft>
                <a:spcPts val="600"/>
              </a:spcAft>
            </a:pPr>
            <a:r>
              <a:rPr sz="1600" b="0">
                <a:solidFill>
                  <a:srgbClr val="222222"/>
                </a:solidFill>
                <a:latin typeface="맑은 고딕"/>
              </a:rPr>
              <a:t>•  27.6  latch와 mutex 경합 — 라이브러리 캐시의 자물쇠</a:t>
            </a:r>
          </a:p>
          <a:p>
            <a:pPr algn="l">
              <a:spcAft>
                <a:spcPts val="600"/>
              </a:spcAft>
            </a:pPr>
            <a:r>
              <a:rPr sz="1600" b="0">
                <a:solidFill>
                  <a:srgbClr val="222222"/>
                </a:solidFill>
                <a:latin typeface="맑은 고딕"/>
              </a:rPr>
              <a:t>•  27.7  enqueue 대기 — enq: TX - row lock contention</a:t>
            </a:r>
          </a:p>
          <a:p>
            <a:pPr algn="l">
              <a:spcAft>
                <a:spcPts val="600"/>
              </a:spcAft>
            </a:pPr>
            <a:r>
              <a:rPr sz="1600" b="0">
                <a:solidFill>
                  <a:srgbClr val="222222"/>
                </a:solidFill>
                <a:latin typeface="맑은 고딕"/>
              </a:rPr>
              <a:t>•  27.8  Idle 이벤트를 병목으로 오판하지 않기</a:t>
            </a:r>
          </a:p>
        </p:txBody>
      </p:sp>
    </p:spTree>
    <p:extLst>
      <p:ext uri="{BB962C8B-B14F-4D97-AF65-F5344CB8AC3E}">
        <p14:creationId xmlns:p14="http://schemas.microsoft.com/office/powerpoint/2010/main" val="3279466537"/>
      </p:ext>
    </p:extLst>
  </p:cSld>
  <p:clrMapOvr>
    <a:masterClrMapping/>
  </p:clrMapOvr>
</p:sld>
</file>

<file path=ppt/slides/slide10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27.2</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대기 이벤트 분류 체계</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rPr>
              <a:t>•  대기 이벤트는 증상이다</a:t>
            </a:r>
          </a:p>
          <a:p>
            <a:pPr algn="l">
              <a:spcAft>
                <a:spcPts val="600"/>
              </a:spcAft>
            </a:pPr>
            <a:r>
              <a:rPr sz="1600" b="0">
                <a:solidFill>
                  <a:srgbClr val="FFFFFF"/>
                </a:solidFill>
                <a:latin typeface="맑은 고딕"/>
              </a:rPr>
              <a:t>•  클래스로 큰 방향</a:t>
            </a:r>
          </a:p>
          <a:p>
            <a:pPr algn="l">
              <a:spcAft>
                <a:spcPts val="600"/>
              </a:spcAft>
            </a:pPr>
            <a:r>
              <a:rPr sz="1600" b="0">
                <a:solidFill>
                  <a:srgbClr val="FFFFFF"/>
                </a:solidFill>
                <a:latin typeface="맑은 고딕"/>
              </a:rPr>
              <a:t>•  현재·누적·사전 세 뷰</a:t>
            </a:r>
          </a:p>
          <a:p>
            <a:pPr algn="l">
              <a:spcAft>
                <a:spcPts val="600"/>
              </a:spcAft>
            </a:pPr>
            <a:r>
              <a:rPr sz="1600" b="0">
                <a:solidFill>
                  <a:srgbClr val="FFFFFF"/>
                </a:solidFill>
                <a:latin typeface="맑은 고딕"/>
              </a:rPr>
              <a:t>•  총 대기 시간으로 정렬</a:t>
            </a:r>
          </a:p>
        </p:txBody>
      </p:sp>
    </p:spTree>
    <p:extLst>
      <p:ext uri="{BB962C8B-B14F-4D97-AF65-F5344CB8AC3E}">
        <p14:creationId xmlns:p14="http://schemas.microsoft.com/office/powerpoint/2010/main" val="3615757931"/>
      </p:ext>
    </p:extLst>
  </p:cSld>
  <p:clrMapOvr>
    <a:masterClrMapping/>
  </p:clrMapOvr>
</p:sld>
</file>

<file path=ppt/slides/slide10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대기 이벤트는 증상이다</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이벤트에서 원천으로 한 계단 더</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이벤트 이름은 '어디를 파라'는 이정표일 뿐</a:t>
            </a:r>
          </a:p>
          <a:p>
            <a:pPr algn="l">
              <a:spcAft>
                <a:spcPts val="800"/>
              </a:spcAft>
            </a:pPr>
            <a:r>
              <a:rPr sz="1700" b="0">
                <a:solidFill>
                  <a:srgbClr val="222222"/>
                </a:solidFill>
                <a:latin typeface="맑은 고딕"/>
              </a:rPr>
              <a:t>•  db file read 상위 = '디스크가 느리다'가 아님</a:t>
            </a:r>
          </a:p>
          <a:p>
            <a:pPr algn="l">
              <a:spcAft>
                <a:spcPts val="800"/>
              </a:spcAft>
            </a:pPr>
            <a:r>
              <a:rPr sz="1700" b="0">
                <a:solidFill>
                  <a:srgbClr val="222222"/>
                </a:solidFill>
                <a:latin typeface="맑은 고딕"/>
              </a:rPr>
              <a:t>•  → '어느 SQL이 그 읽기를 유발하나'가 진짜 질문</a:t>
            </a:r>
          </a:p>
          <a:p>
            <a:pPr algn="l">
              <a:spcAft>
                <a:spcPts val="800"/>
              </a:spcAft>
            </a:pPr>
            <a:r>
              <a:rPr sz="1700" b="0">
                <a:solidFill>
                  <a:srgbClr val="222222"/>
                </a:solidFill>
                <a:latin typeface="맑은 고딕"/>
              </a:rPr>
              <a:t>•  정렬은 총 대기 시간(time_waited) 기준</a:t>
            </a:r>
          </a:p>
        </p:txBody>
      </p:sp>
    </p:spTree>
    <p:extLst>
      <p:ext uri="{BB962C8B-B14F-4D97-AF65-F5344CB8AC3E}">
        <p14:creationId xmlns:p14="http://schemas.microsoft.com/office/powerpoint/2010/main" val="1306073011"/>
      </p:ext>
    </p:extLst>
  </p:cSld>
  <p:clrMapOvr>
    <a:masterClrMapping/>
  </p:clrMapOvr>
</p:sld>
</file>

<file path=ppt/slides/slide10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세 뷰 — 현재·누적·사전 (실측)</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지금 non-Idle 대기 스냅사진</a:t>
            </a:r>
          </a:p>
        </p:txBody>
      </p:sp>
      <p:sp>
        <p:nvSpPr>
          <p:cNvPr id="6" name="Rectangle 5"/>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tlCol="0" anchor="ctr"/>
          <a:lstStyle/>
          <a:p>
            <a:pPr>
              <a:lnSpc>
                <a:spcPct val="100000"/>
              </a:lnSpc>
              <a:spcAft>
                <a:spcPts val="0"/>
              </a:spcAft>
            </a:pPr>
            <a:r>
              <a:rPr sz="1250" dirty="0" err="1">
                <a:solidFill>
                  <a:srgbClr val="F2F2F2"/>
                </a:solidFill>
                <a:latin typeface="Consolas"/>
              </a:rPr>
              <a:t>SYS@orcl</a:t>
            </a:r>
            <a:r>
              <a:rPr sz="1250" dirty="0">
                <a:solidFill>
                  <a:srgbClr val="F2F2F2"/>
                </a:solidFill>
                <a:latin typeface="Consolas"/>
              </a:rPr>
              <a:t>&gt; SELECT SUBSTR(event,1,34) event, </a:t>
            </a:r>
            <a:r>
              <a:rPr sz="1250" dirty="0" err="1">
                <a:solidFill>
                  <a:srgbClr val="F2F2F2"/>
                </a:solidFill>
                <a:latin typeface="Consolas"/>
              </a:rPr>
              <a:t>wait_class</a:t>
            </a:r>
            <a:r>
              <a:rPr sz="1250" dirty="0">
                <a:solidFill>
                  <a:srgbClr val="F2F2F2"/>
                </a:solidFill>
                <a:latin typeface="Consolas"/>
              </a:rPr>
              <a:t>,</a:t>
            </a:r>
          </a:p>
          <a:p>
            <a:pPr>
              <a:lnSpc>
                <a:spcPct val="100000"/>
              </a:lnSpc>
              <a:spcAft>
                <a:spcPts val="0"/>
              </a:spcAft>
            </a:pPr>
            <a:r>
              <a:rPr sz="1250" dirty="0">
                <a:solidFill>
                  <a:srgbClr val="F2F2F2"/>
                </a:solidFill>
                <a:latin typeface="Consolas"/>
              </a:rPr>
              <a:t>  2         COUNT(*) sessions</a:t>
            </a:r>
          </a:p>
          <a:p>
            <a:pPr>
              <a:lnSpc>
                <a:spcPct val="100000"/>
              </a:lnSpc>
              <a:spcAft>
                <a:spcPts val="0"/>
              </a:spcAft>
            </a:pPr>
            <a:r>
              <a:rPr sz="1250" dirty="0">
                <a:solidFill>
                  <a:srgbClr val="F2F2F2"/>
                </a:solidFill>
                <a:latin typeface="Consolas"/>
              </a:rPr>
              <a:t>  3       FROM </a:t>
            </a:r>
            <a:r>
              <a:rPr sz="1250" dirty="0" err="1">
                <a:solidFill>
                  <a:srgbClr val="F2F2F2"/>
                </a:solidFill>
                <a:latin typeface="Consolas"/>
              </a:rPr>
              <a:t>v$session</a:t>
            </a:r>
            <a:endParaRPr sz="1250" dirty="0">
              <a:solidFill>
                <a:srgbClr val="F2F2F2"/>
              </a:solidFill>
              <a:latin typeface="Consolas"/>
            </a:endParaRPr>
          </a:p>
          <a:p>
            <a:pPr>
              <a:lnSpc>
                <a:spcPct val="100000"/>
              </a:lnSpc>
              <a:spcAft>
                <a:spcPts val="0"/>
              </a:spcAft>
            </a:pPr>
            <a:r>
              <a:rPr sz="1250" dirty="0">
                <a:solidFill>
                  <a:srgbClr val="F2F2F2"/>
                </a:solidFill>
                <a:latin typeface="Consolas"/>
              </a:rPr>
              <a:t>  4       WHERE </a:t>
            </a:r>
            <a:r>
              <a:rPr sz="1250" dirty="0" err="1">
                <a:solidFill>
                  <a:srgbClr val="F2F2F2"/>
                </a:solidFill>
                <a:latin typeface="Consolas"/>
              </a:rPr>
              <a:t>wait_class</a:t>
            </a:r>
            <a:r>
              <a:rPr sz="1250" dirty="0">
                <a:solidFill>
                  <a:srgbClr val="F2F2F2"/>
                </a:solidFill>
                <a:latin typeface="Consolas"/>
              </a:rPr>
              <a:t> &lt;&gt; 'Idle' AND </a:t>
            </a:r>
            <a:r>
              <a:rPr sz="1250" dirty="0" err="1">
                <a:solidFill>
                  <a:srgbClr val="F2F2F2"/>
                </a:solidFill>
                <a:latin typeface="Consolas"/>
              </a:rPr>
              <a:t>wait_class</a:t>
            </a:r>
            <a:r>
              <a:rPr sz="1250" dirty="0">
                <a:solidFill>
                  <a:srgbClr val="F2F2F2"/>
                </a:solidFill>
                <a:latin typeface="Consolas"/>
              </a:rPr>
              <a:t> IS NOT NULL</a:t>
            </a:r>
          </a:p>
          <a:p>
            <a:pPr>
              <a:lnSpc>
                <a:spcPct val="100000"/>
              </a:lnSpc>
              <a:spcAft>
                <a:spcPts val="0"/>
              </a:spcAft>
            </a:pPr>
            <a:r>
              <a:rPr sz="1250" dirty="0">
                <a:solidFill>
                  <a:srgbClr val="F2F2F2"/>
                </a:solidFill>
                <a:latin typeface="Consolas"/>
              </a:rPr>
              <a:t>  5       GROUP BY event, </a:t>
            </a:r>
            <a:r>
              <a:rPr sz="1250" dirty="0" err="1">
                <a:solidFill>
                  <a:srgbClr val="F2F2F2"/>
                </a:solidFill>
                <a:latin typeface="Consolas"/>
              </a:rPr>
              <a:t>wait_class</a:t>
            </a:r>
            <a:r>
              <a:rPr sz="1250" dirty="0">
                <a:solidFill>
                  <a:srgbClr val="F2F2F2"/>
                </a:solidFill>
                <a:latin typeface="Consolas"/>
              </a:rPr>
              <a:t> ORDER BY COUNT(*) DESC;</a:t>
            </a:r>
          </a:p>
          <a:p>
            <a:pPr>
              <a:lnSpc>
                <a:spcPct val="100000"/>
              </a:lnSpc>
              <a:spcAft>
                <a:spcPts val="0"/>
              </a:spcAft>
            </a:pPr>
            <a:r>
              <a:rPr sz="1250" dirty="0">
                <a:solidFill>
                  <a:srgbClr val="F2F2F2"/>
                </a:solidFill>
                <a:latin typeface="Consolas"/>
              </a:rPr>
              <a:t> </a:t>
            </a:r>
          </a:p>
          <a:p>
            <a:pPr>
              <a:lnSpc>
                <a:spcPct val="100000"/>
              </a:lnSpc>
              <a:spcAft>
                <a:spcPts val="0"/>
              </a:spcAft>
            </a:pPr>
            <a:r>
              <a:rPr sz="1250" dirty="0">
                <a:solidFill>
                  <a:srgbClr val="F2F2F2"/>
                </a:solidFill>
                <a:latin typeface="Consolas"/>
              </a:rPr>
              <a:t>EVENT                        WAIT_CLASS      SESSIONS</a:t>
            </a:r>
          </a:p>
          <a:p>
            <a:pPr>
              <a:lnSpc>
                <a:spcPct val="100000"/>
              </a:lnSpc>
              <a:spcAft>
                <a:spcPts val="0"/>
              </a:spcAft>
            </a:pPr>
            <a:r>
              <a:rPr sz="1250" dirty="0">
                <a:solidFill>
                  <a:srgbClr val="F2F2F2"/>
                </a:solidFill>
                <a:latin typeface="Consolas"/>
              </a:rPr>
              <a:t>---------------------------- --------------- --------</a:t>
            </a:r>
          </a:p>
          <a:p>
            <a:pPr>
              <a:lnSpc>
                <a:spcPct val="100000"/>
              </a:lnSpc>
              <a:spcAft>
                <a:spcPts val="0"/>
              </a:spcAft>
            </a:pPr>
            <a:r>
              <a:rPr sz="1250" dirty="0">
                <a:solidFill>
                  <a:srgbClr val="F2F2F2"/>
                </a:solidFill>
                <a:latin typeface="Consolas"/>
              </a:rPr>
              <a:t>log file single write        System I/O             1</a:t>
            </a:r>
          </a:p>
          <a:p>
            <a:pPr>
              <a:lnSpc>
                <a:spcPct val="100000"/>
              </a:lnSpc>
              <a:spcAft>
                <a:spcPts val="0"/>
              </a:spcAft>
            </a:pPr>
            <a:r>
              <a:rPr sz="1250" dirty="0">
                <a:solidFill>
                  <a:srgbClr val="F2F2F2"/>
                </a:solidFill>
                <a:latin typeface="Consolas"/>
              </a:rPr>
              <a:t>log file switch completion   Configuration          1</a:t>
            </a:r>
          </a:p>
          <a:p>
            <a:pPr>
              <a:lnSpc>
                <a:spcPct val="100000"/>
              </a:lnSpc>
              <a:spcAft>
                <a:spcPts val="0"/>
              </a:spcAft>
            </a:pPr>
            <a:r>
              <a:rPr sz="1250" dirty="0">
                <a:solidFill>
                  <a:srgbClr val="F2F2F2"/>
                </a:solidFill>
                <a:latin typeface="Consolas"/>
              </a:rPr>
              <a:t>buffer busy waits            Concurrency            1</a:t>
            </a:r>
          </a:p>
          <a:p>
            <a:pPr>
              <a:lnSpc>
                <a:spcPct val="100000"/>
              </a:lnSpc>
              <a:spcAft>
                <a:spcPts val="0"/>
              </a:spcAft>
            </a:pPr>
            <a:r>
              <a:rPr sz="1250" dirty="0">
                <a:solidFill>
                  <a:srgbClr val="F2F2F2"/>
                </a:solidFill>
                <a:latin typeface="Consolas"/>
              </a:rPr>
              <a:t>SQL*Net message to client    Network                1</a:t>
            </a:r>
          </a:p>
        </p:txBody>
      </p:sp>
    </p:spTree>
    <p:extLst>
      <p:ext uri="{BB962C8B-B14F-4D97-AF65-F5344CB8AC3E}">
        <p14:creationId xmlns:p14="http://schemas.microsoft.com/office/powerpoint/2010/main" val="3493603516"/>
      </p:ext>
    </p:extLst>
  </p:cSld>
  <p:clrMapOvr>
    <a:masterClrMapping/>
  </p:clrMapOvr>
</p:sld>
</file>

<file path=ppt/slides/slide10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대기 클래스 지도</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주목 대상은 다섯 클래스</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User I/O — db file read → SQL·실행 계획</a:t>
            </a:r>
          </a:p>
          <a:p>
            <a:pPr algn="l">
              <a:spcAft>
                <a:spcPts val="800"/>
              </a:spcAft>
            </a:pPr>
            <a:r>
              <a:rPr sz="1700" b="0">
                <a:solidFill>
                  <a:srgbClr val="222222"/>
                </a:solidFill>
                <a:latin typeface="맑은 고딕"/>
              </a:rPr>
              <a:t>•  System I/O — log/control write → 백그라운드·디스크</a:t>
            </a:r>
          </a:p>
          <a:p>
            <a:pPr algn="l">
              <a:spcAft>
                <a:spcPts val="800"/>
              </a:spcAft>
            </a:pPr>
            <a:r>
              <a:rPr sz="1700" b="0">
                <a:solidFill>
                  <a:srgbClr val="222222"/>
                </a:solidFill>
                <a:latin typeface="맑은 고딕"/>
              </a:rPr>
              <a:t>•  Concurrency — buffer busy·latch·mutex → 경합·하드파싱</a:t>
            </a:r>
          </a:p>
          <a:p>
            <a:pPr algn="l">
              <a:spcAft>
                <a:spcPts val="800"/>
              </a:spcAft>
            </a:pPr>
            <a:r>
              <a:rPr sz="1700" b="0">
                <a:solidFill>
                  <a:srgbClr val="222222"/>
                </a:solidFill>
                <a:latin typeface="맑은 고딕"/>
              </a:rPr>
              <a:t>•  Commit — log file sync / Application — enq: TX</a:t>
            </a:r>
          </a:p>
          <a:p>
            <a:pPr algn="l">
              <a:spcAft>
                <a:spcPts val="800"/>
              </a:spcAft>
            </a:pPr>
            <a:r>
              <a:rPr sz="1700" b="0">
                <a:solidFill>
                  <a:srgbClr val="222222"/>
                </a:solidFill>
                <a:latin typeface="맑은 고딕"/>
              </a:rPr>
              <a:t>•  Idle(SQL*Net from client) → 병목 아님, 제외</a:t>
            </a:r>
          </a:p>
        </p:txBody>
      </p:sp>
    </p:spTree>
    <p:extLst>
      <p:ext uri="{BB962C8B-B14F-4D97-AF65-F5344CB8AC3E}">
        <p14:creationId xmlns:p14="http://schemas.microsoft.com/office/powerpoint/2010/main" val="3446767653"/>
      </p:ext>
    </p:extLst>
  </p:cSld>
  <p:clrMapOvr>
    <a:masterClrMapping/>
  </p:clrMapOvr>
</p:sld>
</file>

<file path=ppt/slides/slide10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세 지표를 함께 읽는다</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횟수·총 시간·평균 시간</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total_waits(빈도) · time_waited(영향) · 평균(성격)</a:t>
            </a:r>
          </a:p>
          <a:p>
            <a:pPr algn="l">
              <a:spcAft>
                <a:spcPts val="800"/>
              </a:spcAft>
            </a:pPr>
            <a:r>
              <a:rPr sz="1700" b="0">
                <a:solidFill>
                  <a:srgbClr val="222222"/>
                </a:solidFill>
                <a:latin typeface="맑은 고딕"/>
              </a:rPr>
              <a:t>•  control file sequential read: 86,867회지만 1초 → 무시</a:t>
            </a:r>
          </a:p>
          <a:p>
            <a:pPr algn="l">
              <a:spcAft>
                <a:spcPts val="800"/>
              </a:spcAft>
            </a:pPr>
            <a:r>
              <a:rPr sz="1700" b="0">
                <a:solidFill>
                  <a:srgbClr val="222222"/>
                </a:solidFill>
                <a:latin typeface="맑은 고딕"/>
              </a:rPr>
              <a:t>•  SQL*Net vector data to client: 3,974회지만 358초 → 주목</a:t>
            </a:r>
          </a:p>
          <a:p>
            <a:pPr algn="l">
              <a:spcAft>
                <a:spcPts val="800"/>
              </a:spcAft>
            </a:pPr>
            <a:r>
              <a:rPr sz="1700" b="0">
                <a:solidFill>
                  <a:srgbClr val="222222"/>
                </a:solidFill>
                <a:latin typeface="맑은 고딕"/>
              </a:rPr>
              <a:t>•  '횟수'로 정렬하면 엉뚱한 곳을 판다 → 총 시간 정렬</a:t>
            </a:r>
          </a:p>
        </p:txBody>
      </p:sp>
    </p:spTree>
    <p:extLst>
      <p:ext uri="{BB962C8B-B14F-4D97-AF65-F5344CB8AC3E}">
        <p14:creationId xmlns:p14="http://schemas.microsoft.com/office/powerpoint/2010/main" val="2357825309"/>
      </p:ext>
    </p:extLst>
  </p:cSld>
  <p:clrMapOvr>
    <a:masterClrMapping/>
  </p:clrMapOvr>
</p:sld>
</file>

<file path=ppt/slides/slide10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27.3</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db file 계열</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rPr>
              <a:t>•  sequential = 단일 블록</a:t>
            </a:r>
          </a:p>
          <a:p>
            <a:pPr algn="l">
              <a:spcAft>
                <a:spcPts val="600"/>
              </a:spcAft>
            </a:pPr>
            <a:r>
              <a:rPr sz="1600" b="0">
                <a:solidFill>
                  <a:srgbClr val="FFFFFF"/>
                </a:solidFill>
                <a:latin typeface="맑은 고딕"/>
              </a:rPr>
              <a:t>•  scattered = 다중 블록</a:t>
            </a:r>
          </a:p>
          <a:p>
            <a:pPr algn="l">
              <a:spcAft>
                <a:spcPts val="600"/>
              </a:spcAft>
            </a:pPr>
            <a:r>
              <a:rPr sz="1600" b="0">
                <a:solidFill>
                  <a:srgbClr val="FFFFFF"/>
                </a:solidFill>
                <a:latin typeface="맑은 고딕"/>
              </a:rPr>
              <a:t>•  이름이 직관과 반대</a:t>
            </a:r>
          </a:p>
          <a:p>
            <a:pPr algn="l">
              <a:spcAft>
                <a:spcPts val="600"/>
              </a:spcAft>
            </a:pPr>
            <a:r>
              <a:rPr sz="1600" b="0">
                <a:solidFill>
                  <a:srgbClr val="FFFFFF"/>
                </a:solidFill>
                <a:latin typeface="맑은 고딕"/>
              </a:rPr>
              <a:t>•  어느 쪽이 큰지로 접근 추론</a:t>
            </a:r>
          </a:p>
        </p:txBody>
      </p:sp>
    </p:spTree>
    <p:extLst>
      <p:ext uri="{BB962C8B-B14F-4D97-AF65-F5344CB8AC3E}">
        <p14:creationId xmlns:p14="http://schemas.microsoft.com/office/powerpoint/2010/main" val="2026579332"/>
      </p:ext>
    </p:extLst>
  </p:cSld>
  <p:clrMapOvr>
    <a:masterClrMapping/>
  </p:clrMapOvr>
</p:sld>
</file>

<file path=ppt/slides/slide10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이름과 실제가 반대</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단일 블록 vs 다중 블록</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sequential read = 단일 블록 = 인덱스 접근</a:t>
            </a:r>
          </a:p>
          <a:p>
            <a:pPr algn="l">
              <a:spcAft>
                <a:spcPts val="800"/>
              </a:spcAft>
            </a:pPr>
            <a:r>
              <a:rPr sz="1700" b="0">
                <a:solidFill>
                  <a:srgbClr val="222222"/>
                </a:solidFill>
                <a:latin typeface="맑은 고딕"/>
              </a:rPr>
              <a:t>•    ('버퍼에 순차 배치'라는 뜻, 디스크 순차 아님)</a:t>
            </a:r>
          </a:p>
          <a:p>
            <a:pPr algn="l">
              <a:spcAft>
                <a:spcPts val="800"/>
              </a:spcAft>
            </a:pPr>
            <a:r>
              <a:rPr sz="1700" b="0">
                <a:solidFill>
                  <a:srgbClr val="222222"/>
                </a:solidFill>
                <a:latin typeface="맑은 고딕"/>
              </a:rPr>
              <a:t>•  scattered read = 다중 블록 = 풀 테이블 스캔</a:t>
            </a:r>
          </a:p>
          <a:p>
            <a:pPr algn="l">
              <a:spcAft>
                <a:spcPts val="800"/>
              </a:spcAft>
            </a:pPr>
            <a:r>
              <a:rPr sz="1700" b="0">
                <a:solidFill>
                  <a:srgbClr val="222222"/>
                </a:solidFill>
                <a:latin typeface="맑은 고딕"/>
              </a:rPr>
              <a:t>•    (여러 블록을 흩어진 빈 버퍼에 담아 scattered)</a:t>
            </a:r>
          </a:p>
        </p:txBody>
      </p:sp>
    </p:spTree>
    <p:extLst>
      <p:ext uri="{BB962C8B-B14F-4D97-AF65-F5344CB8AC3E}">
        <p14:creationId xmlns:p14="http://schemas.microsoft.com/office/powerpoint/2010/main" val="3197064585"/>
      </p:ext>
    </p:extLst>
  </p:cSld>
  <p:clrMapOvr>
    <a:masterClrMapping/>
  </p:clrMapOvr>
</p:sld>
</file>

<file path=ppt/slides/slide10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실측 — 어느 쪽이 큰가 (V$SYSTEM_EVENT)</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non-Idle, 총 대기 시간 기준</a:t>
            </a:r>
          </a:p>
        </p:txBody>
      </p:sp>
      <p:sp>
        <p:nvSpPr>
          <p:cNvPr id="6" name="Rectangle 5"/>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tlCol="0" anchor="ctr"/>
          <a:lstStyle/>
          <a:p>
            <a:pPr>
              <a:lnSpc>
                <a:spcPct val="100000"/>
              </a:lnSpc>
              <a:spcAft>
                <a:spcPts val="0"/>
              </a:spcAft>
            </a:pPr>
            <a:r>
              <a:rPr sz="1250" dirty="0" err="1">
                <a:solidFill>
                  <a:srgbClr val="F2F2F2"/>
                </a:solidFill>
                <a:latin typeface="Consolas"/>
              </a:rPr>
              <a:t>SYS@orcl</a:t>
            </a:r>
            <a:r>
              <a:rPr sz="1250" dirty="0">
                <a:solidFill>
                  <a:srgbClr val="F2F2F2"/>
                </a:solidFill>
                <a:latin typeface="Consolas"/>
              </a:rPr>
              <a:t>&gt; SELECT SUBSTR(event,1,34) event, </a:t>
            </a:r>
            <a:r>
              <a:rPr sz="1250" dirty="0" err="1">
                <a:solidFill>
                  <a:srgbClr val="F2F2F2"/>
                </a:solidFill>
                <a:latin typeface="Consolas"/>
              </a:rPr>
              <a:t>total_waits</a:t>
            </a:r>
            <a:r>
              <a:rPr sz="1250" dirty="0">
                <a:solidFill>
                  <a:srgbClr val="F2F2F2"/>
                </a:solidFill>
                <a:latin typeface="Consolas"/>
              </a:rPr>
              <a:t>,</a:t>
            </a:r>
          </a:p>
          <a:p>
            <a:pPr>
              <a:lnSpc>
                <a:spcPct val="100000"/>
              </a:lnSpc>
              <a:spcAft>
                <a:spcPts val="0"/>
              </a:spcAft>
            </a:pPr>
            <a:r>
              <a:rPr sz="1250" dirty="0">
                <a:solidFill>
                  <a:srgbClr val="F2F2F2"/>
                </a:solidFill>
                <a:latin typeface="Consolas"/>
              </a:rPr>
              <a:t>  2         ROUND(</a:t>
            </a:r>
            <a:r>
              <a:rPr sz="1250" dirty="0" err="1">
                <a:solidFill>
                  <a:srgbClr val="F2F2F2"/>
                </a:solidFill>
                <a:latin typeface="Consolas"/>
              </a:rPr>
              <a:t>time_waited</a:t>
            </a:r>
            <a:r>
              <a:rPr sz="1250" dirty="0">
                <a:solidFill>
                  <a:srgbClr val="F2F2F2"/>
                </a:solidFill>
                <a:latin typeface="Consolas"/>
              </a:rPr>
              <a:t>/100) sec, </a:t>
            </a:r>
            <a:r>
              <a:rPr sz="1250" dirty="0" err="1">
                <a:solidFill>
                  <a:srgbClr val="F2F2F2"/>
                </a:solidFill>
                <a:latin typeface="Consolas"/>
              </a:rPr>
              <a:t>wait_class</a:t>
            </a:r>
            <a:endParaRPr sz="1250" dirty="0">
              <a:solidFill>
                <a:srgbClr val="F2F2F2"/>
              </a:solidFill>
              <a:latin typeface="Consolas"/>
            </a:endParaRPr>
          </a:p>
          <a:p>
            <a:pPr>
              <a:lnSpc>
                <a:spcPct val="100000"/>
              </a:lnSpc>
              <a:spcAft>
                <a:spcPts val="0"/>
              </a:spcAft>
            </a:pPr>
            <a:r>
              <a:rPr sz="1250" dirty="0">
                <a:solidFill>
                  <a:srgbClr val="F2F2F2"/>
                </a:solidFill>
                <a:latin typeface="Consolas"/>
              </a:rPr>
              <a:t>  3       FROM </a:t>
            </a:r>
            <a:r>
              <a:rPr sz="1250" dirty="0" err="1">
                <a:solidFill>
                  <a:srgbClr val="F2F2F2"/>
                </a:solidFill>
                <a:latin typeface="Consolas"/>
              </a:rPr>
              <a:t>v$system_event</a:t>
            </a:r>
            <a:r>
              <a:rPr sz="1250" dirty="0">
                <a:solidFill>
                  <a:srgbClr val="F2F2F2"/>
                </a:solidFill>
                <a:latin typeface="Consolas"/>
              </a:rPr>
              <a:t> WHERE </a:t>
            </a:r>
            <a:r>
              <a:rPr sz="1250" dirty="0" err="1">
                <a:solidFill>
                  <a:srgbClr val="F2F2F2"/>
                </a:solidFill>
                <a:latin typeface="Consolas"/>
              </a:rPr>
              <a:t>wait_class</a:t>
            </a:r>
            <a:r>
              <a:rPr sz="1250" dirty="0">
                <a:solidFill>
                  <a:srgbClr val="F2F2F2"/>
                </a:solidFill>
                <a:latin typeface="Consolas"/>
              </a:rPr>
              <a:t>&lt;&gt;'Idle'</a:t>
            </a:r>
          </a:p>
          <a:p>
            <a:pPr>
              <a:lnSpc>
                <a:spcPct val="100000"/>
              </a:lnSpc>
              <a:spcAft>
                <a:spcPts val="0"/>
              </a:spcAft>
            </a:pPr>
            <a:r>
              <a:rPr sz="1250" dirty="0">
                <a:solidFill>
                  <a:srgbClr val="F2F2F2"/>
                </a:solidFill>
                <a:latin typeface="Consolas"/>
              </a:rPr>
              <a:t>  4       ORDER BY </a:t>
            </a:r>
            <a:r>
              <a:rPr sz="1250" dirty="0" err="1">
                <a:solidFill>
                  <a:srgbClr val="F2F2F2"/>
                </a:solidFill>
                <a:latin typeface="Consolas"/>
              </a:rPr>
              <a:t>time_waited</a:t>
            </a:r>
            <a:r>
              <a:rPr sz="1250" dirty="0">
                <a:solidFill>
                  <a:srgbClr val="F2F2F2"/>
                </a:solidFill>
                <a:latin typeface="Consolas"/>
              </a:rPr>
              <a:t> DESC;</a:t>
            </a:r>
          </a:p>
          <a:p>
            <a:pPr>
              <a:lnSpc>
                <a:spcPct val="100000"/>
              </a:lnSpc>
              <a:spcAft>
                <a:spcPts val="0"/>
              </a:spcAft>
            </a:pPr>
            <a:r>
              <a:rPr sz="1250" dirty="0">
                <a:solidFill>
                  <a:srgbClr val="F2F2F2"/>
                </a:solidFill>
                <a:latin typeface="Consolas"/>
              </a:rPr>
              <a:t> </a:t>
            </a:r>
          </a:p>
          <a:p>
            <a:pPr>
              <a:lnSpc>
                <a:spcPct val="100000"/>
              </a:lnSpc>
              <a:spcAft>
                <a:spcPts val="0"/>
              </a:spcAft>
            </a:pPr>
            <a:r>
              <a:rPr sz="1250" dirty="0">
                <a:solidFill>
                  <a:srgbClr val="F2F2F2"/>
                </a:solidFill>
                <a:latin typeface="Consolas"/>
              </a:rPr>
              <a:t>EVENT                        TOTAL_WAITS  SEC WAIT_CLASS</a:t>
            </a:r>
          </a:p>
          <a:p>
            <a:pPr>
              <a:lnSpc>
                <a:spcPct val="100000"/>
              </a:lnSpc>
              <a:spcAft>
                <a:spcPts val="0"/>
              </a:spcAft>
            </a:pPr>
            <a:r>
              <a:rPr sz="1250" dirty="0">
                <a:solidFill>
                  <a:srgbClr val="F2F2F2"/>
                </a:solidFill>
                <a:latin typeface="Consolas"/>
              </a:rPr>
              <a:t>---------------------------- ----------- ---- ----------</a:t>
            </a:r>
          </a:p>
          <a:p>
            <a:pPr>
              <a:lnSpc>
                <a:spcPct val="100000"/>
              </a:lnSpc>
              <a:spcAft>
                <a:spcPts val="0"/>
              </a:spcAft>
            </a:pPr>
            <a:r>
              <a:rPr sz="1250" dirty="0">
                <a:solidFill>
                  <a:srgbClr val="F2F2F2"/>
                </a:solidFill>
                <a:latin typeface="Consolas"/>
              </a:rPr>
              <a:t>log file sync                      63826   53 Commit</a:t>
            </a:r>
          </a:p>
          <a:p>
            <a:pPr>
              <a:lnSpc>
                <a:spcPct val="100000"/>
              </a:lnSpc>
              <a:spcAft>
                <a:spcPts val="0"/>
              </a:spcAft>
            </a:pPr>
            <a:r>
              <a:rPr sz="1250" dirty="0">
                <a:solidFill>
                  <a:srgbClr val="F2F2F2"/>
                </a:solidFill>
                <a:latin typeface="Consolas"/>
              </a:rPr>
              <a:t>log file parallel write            64602   52 System I/O</a:t>
            </a:r>
          </a:p>
          <a:p>
            <a:pPr>
              <a:lnSpc>
                <a:spcPct val="100000"/>
              </a:lnSpc>
              <a:spcAft>
                <a:spcPts val="0"/>
              </a:spcAft>
            </a:pPr>
            <a:r>
              <a:rPr sz="1250" dirty="0" err="1">
                <a:solidFill>
                  <a:srgbClr val="F2F2F2"/>
                </a:solidFill>
                <a:latin typeface="Consolas"/>
              </a:rPr>
              <a:t>db</a:t>
            </a:r>
            <a:r>
              <a:rPr sz="1250" dirty="0">
                <a:solidFill>
                  <a:srgbClr val="F2F2F2"/>
                </a:solidFill>
                <a:latin typeface="Consolas"/>
              </a:rPr>
              <a:t> file sequential read            17097   52 User I/O</a:t>
            </a:r>
          </a:p>
          <a:p>
            <a:pPr>
              <a:lnSpc>
                <a:spcPct val="100000"/>
              </a:lnSpc>
              <a:spcAft>
                <a:spcPts val="0"/>
              </a:spcAft>
            </a:pPr>
            <a:r>
              <a:rPr sz="1250" dirty="0" err="1">
                <a:solidFill>
                  <a:srgbClr val="F2F2F2"/>
                </a:solidFill>
                <a:latin typeface="Consolas"/>
              </a:rPr>
              <a:t>db</a:t>
            </a:r>
            <a:r>
              <a:rPr sz="1250" dirty="0">
                <a:solidFill>
                  <a:srgbClr val="F2F2F2"/>
                </a:solidFill>
                <a:latin typeface="Consolas"/>
              </a:rPr>
              <a:t> file scattered read              1675   13 User I/O</a:t>
            </a:r>
          </a:p>
        </p:txBody>
      </p:sp>
    </p:spTree>
    <p:extLst>
      <p:ext uri="{BB962C8B-B14F-4D97-AF65-F5344CB8AC3E}">
        <p14:creationId xmlns:p14="http://schemas.microsoft.com/office/powerpoint/2010/main" val="1763138378"/>
      </p:ext>
    </p:extLst>
  </p:cSld>
  <p:clrMapOvr>
    <a:masterClrMapping/>
  </p:clrMapOvr>
</p:sld>
</file>

<file path=ppt/slides/slide10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판독 — db file 계열을 만나면</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이벤트는 방향, SQL이 대상</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scattered 큼 → 풀스캔 과다 → SQL·인덱스 설계</a:t>
            </a:r>
          </a:p>
          <a:p>
            <a:pPr algn="l">
              <a:spcAft>
                <a:spcPts val="800"/>
              </a:spcAft>
            </a:pPr>
            <a:r>
              <a:rPr sz="1700" b="0">
                <a:solidFill>
                  <a:srgbClr val="222222"/>
                </a:solidFill>
                <a:latin typeface="맑은 고딕"/>
              </a:rPr>
              <a:t>•  sequential 큼 → 인덱스 접근 과다 → 조인·반복 조회</a:t>
            </a:r>
          </a:p>
          <a:p>
            <a:pPr algn="l">
              <a:spcAft>
                <a:spcPts val="800"/>
              </a:spcAft>
            </a:pPr>
            <a:r>
              <a:rPr sz="1700" b="0">
                <a:solidFill>
                  <a:srgbClr val="222222"/>
                </a:solidFill>
                <a:latin typeface="맑은 고딕"/>
              </a:rPr>
              <a:t>•  평균 대기 시간이 크면(수십 ms↑) I/O 서브시스템</a:t>
            </a:r>
          </a:p>
          <a:p>
            <a:pPr algn="l">
              <a:spcAft>
                <a:spcPts val="800"/>
              </a:spcAft>
            </a:pPr>
            <a:r>
              <a:rPr sz="1700" b="0">
                <a:solidFill>
                  <a:srgbClr val="222222"/>
                </a:solidFill>
                <a:latin typeface="맑은 고딕"/>
              </a:rPr>
              <a:t>•  대상 SQL = V$SQL을 disk_reads·buffer_gets 순 정렬</a:t>
            </a:r>
          </a:p>
        </p:txBody>
      </p:sp>
    </p:spTree>
    <p:extLst>
      <p:ext uri="{BB962C8B-B14F-4D97-AF65-F5344CB8AC3E}">
        <p14:creationId xmlns:p14="http://schemas.microsoft.com/office/powerpoint/2010/main" val="1023531282"/>
      </p:ext>
    </p:extLst>
  </p:cSld>
  <p:clrMapOvr>
    <a:masterClrMapping/>
  </p:clrMapOvr>
</p:sld>
</file>

<file path=ppt/slides/slide10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27.4</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buffer busy waits</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rPr>
              <a:t>•  같은 블록에 동시 접근</a:t>
            </a:r>
          </a:p>
          <a:p>
            <a:pPr algn="l">
              <a:spcAft>
                <a:spcPts val="600"/>
              </a:spcAft>
            </a:pPr>
            <a:r>
              <a:rPr sz="1600" b="0">
                <a:solidFill>
                  <a:srgbClr val="FFFFFF"/>
                </a:solidFill>
                <a:latin typeface="맑은 고딕"/>
              </a:rPr>
              <a:t>•  동시성 문제(≠ 디스크)</a:t>
            </a:r>
          </a:p>
          <a:p>
            <a:pPr algn="l">
              <a:spcAft>
                <a:spcPts val="600"/>
              </a:spcAft>
            </a:pPr>
            <a:r>
              <a:rPr sz="1600" b="0">
                <a:solidFill>
                  <a:srgbClr val="FFFFFF"/>
                </a:solidFill>
                <a:latin typeface="맑은 고딕"/>
              </a:rPr>
              <a:t>•  V$WAITSTAT로 블록 클래스</a:t>
            </a:r>
          </a:p>
          <a:p>
            <a:pPr algn="l">
              <a:spcAft>
                <a:spcPts val="600"/>
              </a:spcAft>
            </a:pPr>
            <a:r>
              <a:rPr sz="1600" b="0">
                <a:solidFill>
                  <a:srgbClr val="FFFFFF"/>
                </a:solidFill>
                <a:latin typeface="맑은 고딕"/>
              </a:rPr>
              <a:t>•  V$SEGMENT_STATISTICS로 세그먼트</a:t>
            </a:r>
          </a:p>
        </p:txBody>
      </p:sp>
    </p:spTree>
    <p:extLst>
      <p:ext uri="{BB962C8B-B14F-4D97-AF65-F5344CB8AC3E}">
        <p14:creationId xmlns:p14="http://schemas.microsoft.com/office/powerpoint/2010/main" val="1323348448"/>
      </p:ext>
    </p:extLst>
  </p:cSld>
  <p:clrMapOvr>
    <a:masterClrMapping/>
  </p:clrMapOvr>
</p:sld>
</file>

<file path=ppt/slides/slide10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왜 같은 블록에 몰리나</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I/O 대기가 아니라 동시성 대기</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여러 세션이 같은 테이블에 동시 INSERT</a:t>
            </a:r>
          </a:p>
          <a:p>
            <a:pPr algn="l">
              <a:spcAft>
                <a:spcPts val="800"/>
              </a:spcAft>
            </a:pPr>
            <a:r>
              <a:rPr sz="1700" b="0">
                <a:solidFill>
                  <a:srgbClr val="222222"/>
                </a:solidFill>
                <a:latin typeface="맑은 고딕"/>
              </a:rPr>
              <a:t>•  인기 소형 코드 테이블 동시 읽기</a:t>
            </a:r>
          </a:p>
          <a:p>
            <a:pPr algn="l">
              <a:spcAft>
                <a:spcPts val="800"/>
              </a:spcAft>
            </a:pPr>
            <a:r>
              <a:rPr sz="1700" b="0">
                <a:solidFill>
                  <a:srgbClr val="222222"/>
                </a:solidFill>
                <a:latin typeface="맑은 고딕"/>
              </a:rPr>
              <a:t>•  ≠ 디스크 못 가져옴 / = 블록에 줄 섬</a:t>
            </a:r>
          </a:p>
          <a:p>
            <a:pPr algn="l">
              <a:spcAft>
                <a:spcPts val="800"/>
              </a:spcAft>
            </a:pPr>
            <a:r>
              <a:rPr sz="1700" b="0">
                <a:solidFill>
                  <a:srgbClr val="222222"/>
                </a:solidFill>
                <a:latin typeface="맑은 고딕"/>
              </a:rPr>
              <a:t>•  처방: 경합 분산(역키·해시 파티션·세그먼트 분산)</a:t>
            </a:r>
          </a:p>
        </p:txBody>
      </p:sp>
    </p:spTree>
    <p:extLst>
      <p:ext uri="{BB962C8B-B14F-4D97-AF65-F5344CB8AC3E}">
        <p14:creationId xmlns:p14="http://schemas.microsoft.com/office/powerpoint/2010/main" val="2758167491"/>
      </p:ext>
    </p:extLst>
  </p:cSld>
  <p:clrMapOvr>
    <a:masterClrMapping/>
  </p:clrMapOvr>
</p:sld>
</file>

<file path=ppt/slides/slide10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원인 세그먼트 지목 (V$SEGMENT_STATISTICS)</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logical/physical reads 상위가 진원지</a:t>
            </a:r>
          </a:p>
        </p:txBody>
      </p:sp>
      <p:sp>
        <p:nvSpPr>
          <p:cNvPr id="6" name="Rectangle 5"/>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tlCol="0" anchor="ctr"/>
          <a:lstStyle/>
          <a:p>
            <a:pPr>
              <a:lnSpc>
                <a:spcPct val="100000"/>
              </a:lnSpc>
              <a:spcAft>
                <a:spcPts val="0"/>
              </a:spcAft>
            </a:pPr>
            <a:r>
              <a:rPr sz="1250" dirty="0" err="1">
                <a:solidFill>
                  <a:srgbClr val="F2F2F2"/>
                </a:solidFill>
                <a:latin typeface="Consolas"/>
              </a:rPr>
              <a:t>SYS@orcl</a:t>
            </a:r>
            <a:r>
              <a:rPr sz="1250" dirty="0">
                <a:solidFill>
                  <a:srgbClr val="F2F2F2"/>
                </a:solidFill>
                <a:latin typeface="Consolas"/>
              </a:rPr>
              <a:t>&gt; SELECT </a:t>
            </a:r>
            <a:r>
              <a:rPr sz="1250" dirty="0" err="1">
                <a:solidFill>
                  <a:srgbClr val="F2F2F2"/>
                </a:solidFill>
                <a:latin typeface="Consolas"/>
              </a:rPr>
              <a:t>object_name</a:t>
            </a:r>
            <a:r>
              <a:rPr sz="1250" dirty="0">
                <a:solidFill>
                  <a:srgbClr val="F2F2F2"/>
                </a:solidFill>
                <a:latin typeface="Consolas"/>
              </a:rPr>
              <a:t>, </a:t>
            </a:r>
            <a:r>
              <a:rPr sz="1250" dirty="0" err="1">
                <a:solidFill>
                  <a:srgbClr val="F2F2F2"/>
                </a:solidFill>
                <a:latin typeface="Consolas"/>
              </a:rPr>
              <a:t>statistic_name</a:t>
            </a:r>
            <a:r>
              <a:rPr sz="1250" dirty="0">
                <a:solidFill>
                  <a:srgbClr val="F2F2F2"/>
                </a:solidFill>
                <a:latin typeface="Consolas"/>
              </a:rPr>
              <a:t>, value</a:t>
            </a:r>
          </a:p>
          <a:p>
            <a:pPr>
              <a:lnSpc>
                <a:spcPct val="100000"/>
              </a:lnSpc>
              <a:spcAft>
                <a:spcPts val="0"/>
              </a:spcAft>
            </a:pPr>
            <a:r>
              <a:rPr sz="1250" dirty="0">
                <a:solidFill>
                  <a:srgbClr val="F2F2F2"/>
                </a:solidFill>
                <a:latin typeface="Consolas"/>
              </a:rPr>
              <a:t>  2       FROM </a:t>
            </a:r>
            <a:r>
              <a:rPr sz="1250" dirty="0" err="1">
                <a:solidFill>
                  <a:srgbClr val="F2F2F2"/>
                </a:solidFill>
                <a:latin typeface="Consolas"/>
              </a:rPr>
              <a:t>v$segment_statistics</a:t>
            </a:r>
            <a:endParaRPr sz="1250" dirty="0">
              <a:solidFill>
                <a:srgbClr val="F2F2F2"/>
              </a:solidFill>
              <a:latin typeface="Consolas"/>
            </a:endParaRPr>
          </a:p>
          <a:p>
            <a:pPr>
              <a:lnSpc>
                <a:spcPct val="100000"/>
              </a:lnSpc>
              <a:spcAft>
                <a:spcPts val="0"/>
              </a:spcAft>
            </a:pPr>
            <a:r>
              <a:rPr sz="1250" dirty="0">
                <a:solidFill>
                  <a:srgbClr val="F2F2F2"/>
                </a:solidFill>
                <a:latin typeface="Consolas"/>
              </a:rPr>
              <a:t>  3       WHERE owner='SQLT' AND value&gt;0</a:t>
            </a:r>
          </a:p>
          <a:p>
            <a:pPr>
              <a:lnSpc>
                <a:spcPct val="100000"/>
              </a:lnSpc>
              <a:spcAft>
                <a:spcPts val="0"/>
              </a:spcAft>
            </a:pPr>
            <a:r>
              <a:rPr sz="1250" dirty="0">
                <a:solidFill>
                  <a:srgbClr val="F2F2F2"/>
                </a:solidFill>
                <a:latin typeface="Consolas"/>
              </a:rPr>
              <a:t>  4         AND </a:t>
            </a:r>
            <a:r>
              <a:rPr sz="1250" dirty="0" err="1">
                <a:solidFill>
                  <a:srgbClr val="F2F2F2"/>
                </a:solidFill>
                <a:latin typeface="Consolas"/>
              </a:rPr>
              <a:t>statistic_name</a:t>
            </a:r>
            <a:r>
              <a:rPr sz="1250" dirty="0">
                <a:solidFill>
                  <a:srgbClr val="F2F2F2"/>
                </a:solidFill>
                <a:latin typeface="Consolas"/>
              </a:rPr>
              <a:t> IN ('logical reads',</a:t>
            </a:r>
          </a:p>
          <a:p>
            <a:pPr>
              <a:lnSpc>
                <a:spcPct val="100000"/>
              </a:lnSpc>
              <a:spcAft>
                <a:spcPts val="0"/>
              </a:spcAft>
            </a:pPr>
            <a:r>
              <a:rPr sz="1250" dirty="0">
                <a:solidFill>
                  <a:srgbClr val="F2F2F2"/>
                </a:solidFill>
                <a:latin typeface="Consolas"/>
              </a:rPr>
              <a:t>  5             'physical </a:t>
            </a:r>
            <a:r>
              <a:rPr sz="1250" dirty="0" err="1">
                <a:solidFill>
                  <a:srgbClr val="F2F2F2"/>
                </a:solidFill>
                <a:latin typeface="Consolas"/>
              </a:rPr>
              <a:t>reads','buffer</a:t>
            </a:r>
            <a:r>
              <a:rPr sz="1250" dirty="0">
                <a:solidFill>
                  <a:srgbClr val="F2F2F2"/>
                </a:solidFill>
                <a:latin typeface="Consolas"/>
              </a:rPr>
              <a:t> busy waits')</a:t>
            </a:r>
          </a:p>
          <a:p>
            <a:pPr>
              <a:lnSpc>
                <a:spcPct val="100000"/>
              </a:lnSpc>
              <a:spcAft>
                <a:spcPts val="0"/>
              </a:spcAft>
            </a:pPr>
            <a:r>
              <a:rPr sz="1250" dirty="0">
                <a:solidFill>
                  <a:srgbClr val="F2F2F2"/>
                </a:solidFill>
                <a:latin typeface="Consolas"/>
              </a:rPr>
              <a:t>  6       ORDER BY value DESC;</a:t>
            </a:r>
          </a:p>
          <a:p>
            <a:pPr>
              <a:lnSpc>
                <a:spcPct val="100000"/>
              </a:lnSpc>
              <a:spcAft>
                <a:spcPts val="0"/>
              </a:spcAft>
            </a:pPr>
            <a:r>
              <a:rPr sz="1250" dirty="0">
                <a:solidFill>
                  <a:srgbClr val="F2F2F2"/>
                </a:solidFill>
                <a:latin typeface="Consolas"/>
              </a:rPr>
              <a:t> </a:t>
            </a:r>
          </a:p>
          <a:p>
            <a:pPr>
              <a:lnSpc>
                <a:spcPct val="100000"/>
              </a:lnSpc>
              <a:spcAft>
                <a:spcPts val="0"/>
              </a:spcAft>
            </a:pPr>
            <a:r>
              <a:rPr sz="1250" dirty="0">
                <a:solidFill>
                  <a:srgbClr val="F2F2F2"/>
                </a:solidFill>
                <a:latin typeface="Consolas"/>
              </a:rPr>
              <a:t>OBJECT_NAME       STATISTIC_NAME      VALUE</a:t>
            </a:r>
          </a:p>
          <a:p>
            <a:pPr>
              <a:lnSpc>
                <a:spcPct val="100000"/>
              </a:lnSpc>
              <a:spcAft>
                <a:spcPts val="0"/>
              </a:spcAft>
            </a:pPr>
            <a:r>
              <a:rPr sz="1250" dirty="0">
                <a:solidFill>
                  <a:srgbClr val="F2F2F2"/>
                </a:solidFill>
                <a:latin typeface="Consolas"/>
              </a:rPr>
              <a:t>----------------- --------------- ----------</a:t>
            </a:r>
          </a:p>
          <a:p>
            <a:pPr>
              <a:lnSpc>
                <a:spcPct val="100000"/>
              </a:lnSpc>
              <a:spcAft>
                <a:spcPts val="0"/>
              </a:spcAft>
            </a:pPr>
            <a:r>
              <a:rPr sz="1250" dirty="0">
                <a:solidFill>
                  <a:srgbClr val="F2F2F2"/>
                </a:solidFill>
                <a:latin typeface="Consolas"/>
              </a:rPr>
              <a:t>MEDICAL_CLAIMS    logical reads   225305696</a:t>
            </a:r>
          </a:p>
          <a:p>
            <a:pPr>
              <a:lnSpc>
                <a:spcPct val="100000"/>
              </a:lnSpc>
              <a:spcAft>
                <a:spcPts val="0"/>
              </a:spcAft>
            </a:pPr>
            <a:r>
              <a:rPr sz="1250" dirty="0">
                <a:solidFill>
                  <a:srgbClr val="F2F2F2"/>
                </a:solidFill>
                <a:latin typeface="Consolas"/>
              </a:rPr>
              <a:t>CLAIM_DETAILS     logical reads   123172432</a:t>
            </a:r>
          </a:p>
          <a:p>
            <a:pPr>
              <a:lnSpc>
                <a:spcPct val="100000"/>
              </a:lnSpc>
              <a:spcAft>
                <a:spcPts val="0"/>
              </a:spcAft>
            </a:pPr>
            <a:r>
              <a:rPr sz="1250" dirty="0">
                <a:solidFill>
                  <a:srgbClr val="F2F2F2"/>
                </a:solidFill>
                <a:latin typeface="Consolas"/>
              </a:rPr>
              <a:t>CLAIM_DETAILS     physical reads      13226</a:t>
            </a:r>
          </a:p>
        </p:txBody>
      </p:sp>
    </p:spTree>
    <p:extLst>
      <p:ext uri="{BB962C8B-B14F-4D97-AF65-F5344CB8AC3E}">
        <p14:creationId xmlns:p14="http://schemas.microsoft.com/office/powerpoint/2010/main" val="2332424371"/>
      </p:ext>
    </p:extLst>
  </p:cSld>
  <p:clrMapOvr>
    <a:masterClrMapping/>
  </p:clrMapOvr>
</p:sld>
</file>

<file path=ppt/slides/slide10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지금 막힌 세션의 객체 (ROW_WAIT_OBJ#)</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V$SESSION → DBA_OBJECTS</a:t>
            </a:r>
          </a:p>
        </p:txBody>
      </p:sp>
      <p:sp>
        <p:nvSpPr>
          <p:cNvPr id="6" name="Rectangle 5"/>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tlCol="0" anchor="ctr"/>
          <a:lstStyle/>
          <a:p>
            <a:pPr>
              <a:lnSpc>
                <a:spcPct val="100000"/>
              </a:lnSpc>
              <a:spcAft>
                <a:spcPts val="0"/>
              </a:spcAft>
            </a:pPr>
            <a:r>
              <a:rPr sz="1250" dirty="0" err="1">
                <a:solidFill>
                  <a:srgbClr val="F2F2F2"/>
                </a:solidFill>
                <a:latin typeface="Consolas"/>
              </a:rPr>
              <a:t>SYS@orcl</a:t>
            </a:r>
            <a:r>
              <a:rPr sz="1250" dirty="0">
                <a:solidFill>
                  <a:srgbClr val="F2F2F2"/>
                </a:solidFill>
                <a:latin typeface="Consolas"/>
              </a:rPr>
              <a:t>&gt; SELECT </a:t>
            </a:r>
            <a:r>
              <a:rPr sz="1250" dirty="0" err="1">
                <a:solidFill>
                  <a:srgbClr val="F2F2F2"/>
                </a:solidFill>
                <a:latin typeface="Consolas"/>
              </a:rPr>
              <a:t>sid</a:t>
            </a:r>
            <a:r>
              <a:rPr sz="1250" dirty="0">
                <a:solidFill>
                  <a:srgbClr val="F2F2F2"/>
                </a:solidFill>
                <a:latin typeface="Consolas"/>
              </a:rPr>
              <a:t>, </a:t>
            </a:r>
            <a:r>
              <a:rPr sz="1250" dirty="0" err="1">
                <a:solidFill>
                  <a:srgbClr val="F2F2F2"/>
                </a:solidFill>
                <a:latin typeface="Consolas"/>
              </a:rPr>
              <a:t>row_wait_obj</a:t>
            </a:r>
            <a:r>
              <a:rPr sz="1250" dirty="0">
                <a:solidFill>
                  <a:srgbClr val="F2F2F2"/>
                </a:solidFill>
                <a:latin typeface="Consolas"/>
              </a:rPr>
              <a:t>#</a:t>
            </a:r>
          </a:p>
          <a:p>
            <a:pPr>
              <a:lnSpc>
                <a:spcPct val="100000"/>
              </a:lnSpc>
              <a:spcAft>
                <a:spcPts val="0"/>
              </a:spcAft>
            </a:pPr>
            <a:r>
              <a:rPr sz="1250" dirty="0">
                <a:solidFill>
                  <a:srgbClr val="F2F2F2"/>
                </a:solidFill>
                <a:latin typeface="Consolas"/>
              </a:rPr>
              <a:t>  2       FROM </a:t>
            </a:r>
            <a:r>
              <a:rPr sz="1250" dirty="0" err="1">
                <a:solidFill>
                  <a:srgbClr val="F2F2F2"/>
                </a:solidFill>
                <a:latin typeface="Consolas"/>
              </a:rPr>
              <a:t>v$session</a:t>
            </a:r>
            <a:endParaRPr sz="1250" dirty="0">
              <a:solidFill>
                <a:srgbClr val="F2F2F2"/>
              </a:solidFill>
              <a:latin typeface="Consolas"/>
            </a:endParaRPr>
          </a:p>
          <a:p>
            <a:pPr>
              <a:lnSpc>
                <a:spcPct val="100000"/>
              </a:lnSpc>
              <a:spcAft>
                <a:spcPts val="0"/>
              </a:spcAft>
            </a:pPr>
            <a:r>
              <a:rPr sz="1250" dirty="0">
                <a:solidFill>
                  <a:srgbClr val="F2F2F2"/>
                </a:solidFill>
                <a:latin typeface="Consolas"/>
              </a:rPr>
              <a:t>  3       WHERE event = 'buffer busy waits';</a:t>
            </a:r>
          </a:p>
          <a:p>
            <a:pPr>
              <a:lnSpc>
                <a:spcPct val="100000"/>
              </a:lnSpc>
              <a:spcAft>
                <a:spcPts val="0"/>
              </a:spcAft>
            </a:pPr>
            <a:r>
              <a:rPr sz="1250" dirty="0">
                <a:solidFill>
                  <a:srgbClr val="F2F2F2"/>
                </a:solidFill>
                <a:latin typeface="Consolas"/>
              </a:rPr>
              <a:t>       SID  ROW_WAIT_OBJ#</a:t>
            </a:r>
          </a:p>
          <a:p>
            <a:pPr>
              <a:lnSpc>
                <a:spcPct val="100000"/>
              </a:lnSpc>
              <a:spcAft>
                <a:spcPts val="0"/>
              </a:spcAft>
            </a:pPr>
            <a:r>
              <a:rPr sz="1250" dirty="0">
                <a:solidFill>
                  <a:srgbClr val="F2F2F2"/>
                </a:solidFill>
                <a:latin typeface="Consolas"/>
              </a:rPr>
              <a:t>---------- --------------</a:t>
            </a:r>
          </a:p>
          <a:p>
            <a:pPr>
              <a:lnSpc>
                <a:spcPct val="100000"/>
              </a:lnSpc>
              <a:spcAft>
                <a:spcPts val="0"/>
              </a:spcAft>
            </a:pPr>
            <a:r>
              <a:rPr sz="1250" dirty="0">
                <a:solidFill>
                  <a:srgbClr val="F2F2F2"/>
                </a:solidFill>
                <a:latin typeface="Consolas"/>
              </a:rPr>
              <a:t>       596          74213</a:t>
            </a:r>
          </a:p>
          <a:p>
            <a:pPr>
              <a:lnSpc>
                <a:spcPct val="100000"/>
              </a:lnSpc>
              <a:spcAft>
                <a:spcPts val="0"/>
              </a:spcAft>
            </a:pPr>
            <a:r>
              <a:rPr sz="1250" dirty="0">
                <a:solidFill>
                  <a:srgbClr val="F2F2F2"/>
                </a:solidFill>
                <a:latin typeface="Consolas"/>
              </a:rPr>
              <a:t> </a:t>
            </a:r>
          </a:p>
          <a:p>
            <a:pPr>
              <a:lnSpc>
                <a:spcPct val="100000"/>
              </a:lnSpc>
              <a:spcAft>
                <a:spcPts val="0"/>
              </a:spcAft>
            </a:pPr>
            <a:r>
              <a:rPr sz="1250" dirty="0" err="1">
                <a:solidFill>
                  <a:srgbClr val="F2F2F2"/>
                </a:solidFill>
                <a:latin typeface="Consolas"/>
              </a:rPr>
              <a:t>SYS@orcl</a:t>
            </a:r>
            <a:r>
              <a:rPr sz="1250" dirty="0">
                <a:solidFill>
                  <a:srgbClr val="F2F2F2"/>
                </a:solidFill>
                <a:latin typeface="Consolas"/>
              </a:rPr>
              <a:t>&gt; SELECT owner, </a:t>
            </a:r>
            <a:r>
              <a:rPr sz="1250" dirty="0" err="1">
                <a:solidFill>
                  <a:srgbClr val="F2F2F2"/>
                </a:solidFill>
                <a:latin typeface="Consolas"/>
              </a:rPr>
              <a:t>object_name</a:t>
            </a:r>
            <a:r>
              <a:rPr sz="1250" dirty="0">
                <a:solidFill>
                  <a:srgbClr val="F2F2F2"/>
                </a:solidFill>
                <a:latin typeface="Consolas"/>
              </a:rPr>
              <a:t>, </a:t>
            </a:r>
            <a:r>
              <a:rPr sz="1250" dirty="0" err="1">
                <a:solidFill>
                  <a:srgbClr val="F2F2F2"/>
                </a:solidFill>
                <a:latin typeface="Consolas"/>
              </a:rPr>
              <a:t>object_type</a:t>
            </a:r>
            <a:endParaRPr sz="1250" dirty="0">
              <a:solidFill>
                <a:srgbClr val="F2F2F2"/>
              </a:solidFill>
              <a:latin typeface="Consolas"/>
            </a:endParaRPr>
          </a:p>
          <a:p>
            <a:pPr>
              <a:lnSpc>
                <a:spcPct val="100000"/>
              </a:lnSpc>
              <a:spcAft>
                <a:spcPts val="0"/>
              </a:spcAft>
            </a:pPr>
            <a:r>
              <a:rPr sz="1250" dirty="0">
                <a:solidFill>
                  <a:srgbClr val="F2F2F2"/>
                </a:solidFill>
                <a:latin typeface="Consolas"/>
              </a:rPr>
              <a:t>  2       FROM </a:t>
            </a:r>
            <a:r>
              <a:rPr sz="1250" dirty="0" err="1">
                <a:solidFill>
                  <a:srgbClr val="F2F2F2"/>
                </a:solidFill>
                <a:latin typeface="Consolas"/>
              </a:rPr>
              <a:t>dba_objects</a:t>
            </a:r>
            <a:r>
              <a:rPr sz="1250" dirty="0">
                <a:solidFill>
                  <a:srgbClr val="F2F2F2"/>
                </a:solidFill>
                <a:latin typeface="Consolas"/>
              </a:rPr>
              <a:t> WHERE </a:t>
            </a:r>
            <a:r>
              <a:rPr sz="1250" dirty="0" err="1">
                <a:solidFill>
                  <a:srgbClr val="F2F2F2"/>
                </a:solidFill>
                <a:latin typeface="Consolas"/>
              </a:rPr>
              <a:t>data_object_id</a:t>
            </a:r>
            <a:r>
              <a:rPr sz="1250" dirty="0">
                <a:solidFill>
                  <a:srgbClr val="F2F2F2"/>
                </a:solidFill>
                <a:latin typeface="Consolas"/>
              </a:rPr>
              <a:t> = 74213;</a:t>
            </a:r>
          </a:p>
          <a:p>
            <a:pPr>
              <a:lnSpc>
                <a:spcPct val="100000"/>
              </a:lnSpc>
              <a:spcAft>
                <a:spcPts val="0"/>
              </a:spcAft>
            </a:pPr>
            <a:r>
              <a:rPr sz="1250" dirty="0">
                <a:solidFill>
                  <a:srgbClr val="F2F2F2"/>
                </a:solidFill>
                <a:latin typeface="Consolas"/>
              </a:rPr>
              <a:t>OWNER  OBJECT_NAME     OBJECT_TYPE</a:t>
            </a:r>
          </a:p>
          <a:p>
            <a:pPr>
              <a:lnSpc>
                <a:spcPct val="100000"/>
              </a:lnSpc>
              <a:spcAft>
                <a:spcPts val="0"/>
              </a:spcAft>
            </a:pPr>
            <a:r>
              <a:rPr sz="1250" dirty="0">
                <a:solidFill>
                  <a:srgbClr val="F2F2F2"/>
                </a:solidFill>
                <a:latin typeface="Consolas"/>
              </a:rPr>
              <a:t>------ --------------- -----------</a:t>
            </a:r>
          </a:p>
          <a:p>
            <a:pPr>
              <a:lnSpc>
                <a:spcPct val="100000"/>
              </a:lnSpc>
              <a:spcAft>
                <a:spcPts val="0"/>
              </a:spcAft>
            </a:pPr>
            <a:r>
              <a:rPr sz="1250" dirty="0">
                <a:solidFill>
                  <a:srgbClr val="F2F2F2"/>
                </a:solidFill>
                <a:latin typeface="Consolas"/>
              </a:rPr>
              <a:t>SQLT   REVIEW_LOG_WL   TABLE</a:t>
            </a:r>
          </a:p>
        </p:txBody>
      </p:sp>
    </p:spTree>
    <p:extLst>
      <p:ext uri="{BB962C8B-B14F-4D97-AF65-F5344CB8AC3E}">
        <p14:creationId xmlns:p14="http://schemas.microsoft.com/office/powerpoint/2010/main" val="1613492644"/>
      </p:ext>
    </p:extLst>
  </p:cSld>
  <p:clrMapOvr>
    <a:masterClrMapping/>
  </p:clrMapOvr>
</p:sld>
</file>

<file path=ppt/slides/slide10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블록 클래스가 대응을 가른다</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V$WAITSTAT</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data block → 대상 세그먼트의 동시 DML 분산</a:t>
            </a:r>
          </a:p>
          <a:p>
            <a:pPr algn="l">
              <a:spcAft>
                <a:spcPts val="800"/>
              </a:spcAft>
            </a:pPr>
            <a:r>
              <a:rPr sz="1700" b="0">
                <a:solidFill>
                  <a:srgbClr val="222222"/>
                </a:solidFill>
                <a:latin typeface="맑은 고딕"/>
              </a:rPr>
              <a:t>•  segment header → freelist·ASSM 확인</a:t>
            </a:r>
          </a:p>
          <a:p>
            <a:pPr algn="l">
              <a:spcAft>
                <a:spcPts val="800"/>
              </a:spcAft>
            </a:pPr>
            <a:r>
              <a:rPr sz="1700" b="0">
                <a:solidFill>
                  <a:srgbClr val="222222"/>
                </a:solidFill>
                <a:latin typeface="맑은 고딕"/>
              </a:rPr>
              <a:t>•  undo header/block → 언두 구성 점검</a:t>
            </a:r>
          </a:p>
          <a:p>
            <a:pPr algn="l">
              <a:spcAft>
                <a:spcPts val="800"/>
              </a:spcAft>
            </a:pPr>
            <a:r>
              <a:rPr sz="1700" b="0">
                <a:solidFill>
                  <a:srgbClr val="222222"/>
                </a:solidFill>
                <a:latin typeface="맑은 고딕"/>
              </a:rPr>
              <a:t>•  먼저 '어느 클래스'인지부터 확인</a:t>
            </a:r>
          </a:p>
        </p:txBody>
      </p:sp>
    </p:spTree>
    <p:extLst>
      <p:ext uri="{BB962C8B-B14F-4D97-AF65-F5344CB8AC3E}">
        <p14:creationId xmlns:p14="http://schemas.microsoft.com/office/powerpoint/2010/main" val="3305074630"/>
      </p:ext>
    </p:extLst>
  </p:cSld>
  <p:clrMapOvr>
    <a:masterClrMapping/>
  </p:clrMapOvr>
</p:sld>
</file>

<file path=ppt/slides/slide10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27.5</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log file sync</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rPr>
              <a:t>•  커밋 시 리두 flush 대기</a:t>
            </a:r>
          </a:p>
          <a:p>
            <a:pPr algn="l">
              <a:spcAft>
                <a:spcPts val="600"/>
              </a:spcAft>
            </a:pPr>
            <a:r>
              <a:rPr sz="1600" b="0">
                <a:solidFill>
                  <a:srgbClr val="FFFFFF"/>
                </a:solidFill>
                <a:latin typeface="맑은 고딕"/>
              </a:rPr>
              <a:t>•  실측 63,826회</a:t>
            </a:r>
          </a:p>
          <a:p>
            <a:pPr algn="l">
              <a:spcAft>
                <a:spcPts val="600"/>
              </a:spcAft>
            </a:pPr>
            <a:r>
              <a:rPr sz="1600" b="0">
                <a:solidFill>
                  <a:srgbClr val="FFFFFF"/>
                </a:solidFill>
                <a:latin typeface="맑은 고딕"/>
              </a:rPr>
              <a:t>•  짝 이벤트 = parallel write</a:t>
            </a:r>
          </a:p>
          <a:p>
            <a:pPr algn="l">
              <a:spcAft>
                <a:spcPts val="600"/>
              </a:spcAft>
            </a:pPr>
            <a:r>
              <a:rPr sz="1600" b="0">
                <a:solidFill>
                  <a:srgbClr val="FFFFFF"/>
                </a:solidFill>
                <a:latin typeface="맑은 고딕"/>
              </a:rPr>
              <a:t>•  흔한 원인은 잦은 커밋</a:t>
            </a:r>
          </a:p>
        </p:txBody>
      </p:sp>
    </p:spTree>
    <p:extLst>
      <p:ext uri="{BB962C8B-B14F-4D97-AF65-F5344CB8AC3E}">
        <p14:creationId xmlns:p14="http://schemas.microsoft.com/office/powerpoint/2010/main" val="1757210847"/>
      </p:ext>
    </p:extLst>
  </p:cSld>
  <p:clrMapOvr>
    <a:masterClrMapping/>
  </p:clrMapOvr>
</p:sld>
</file>

<file path=ppt/slides/slide10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log file sync의 원리</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커밋의 리두가 디스크에 안착하기까지</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COMMIT/ROLLBACK → 리두를 LGWR가 로그 파일에 flush</a:t>
            </a:r>
          </a:p>
          <a:p>
            <a:pPr algn="l">
              <a:spcAft>
                <a:spcPts val="800"/>
              </a:spcAft>
            </a:pPr>
            <a:r>
              <a:rPr sz="1700" b="0">
                <a:solidFill>
                  <a:srgbClr val="222222"/>
                </a:solidFill>
                <a:latin typeface="맑은 고딕"/>
              </a:rPr>
              <a:t>•  서버 프로세스는 그 쓰기 완료까지 대기</a:t>
            </a:r>
          </a:p>
          <a:p>
            <a:pPr algn="l">
              <a:spcAft>
                <a:spcPts val="800"/>
              </a:spcAft>
            </a:pPr>
            <a:r>
              <a:rPr sz="1700" b="0">
                <a:solidFill>
                  <a:srgbClr val="222222"/>
                </a:solidFill>
                <a:latin typeface="맑은 고딕"/>
              </a:rPr>
              <a:t>•  = '내 커밋이 안전하게 기록되길 기다리는 시간'</a:t>
            </a:r>
          </a:p>
          <a:p>
            <a:pPr algn="l">
              <a:spcAft>
                <a:spcPts val="800"/>
              </a:spcAft>
            </a:pPr>
            <a:r>
              <a:rPr sz="1700" b="0">
                <a:solidFill>
                  <a:srgbClr val="222222"/>
                </a:solidFill>
                <a:latin typeface="맑은 고딕"/>
              </a:rPr>
              <a:t>•  Commit 클래스의 대표 이벤트</a:t>
            </a:r>
          </a:p>
        </p:txBody>
      </p:sp>
    </p:spTree>
    <p:extLst>
      <p:ext uri="{BB962C8B-B14F-4D97-AF65-F5344CB8AC3E}">
        <p14:creationId xmlns:p14="http://schemas.microsoft.com/office/powerpoint/2010/main" val="1011045408"/>
      </p:ext>
    </p:extLst>
  </p:cSld>
  <p:clrMapOvr>
    <a:masterClrMapping/>
  </p:clrMapOvr>
</p:sld>
</file>

<file path=ppt/slides/slide10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실측 — 커밋 대기의 두 얼굴</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log file sync vs parallel write</a:t>
            </a:r>
          </a:p>
        </p:txBody>
      </p:sp>
      <p:sp>
        <p:nvSpPr>
          <p:cNvPr id="6" name="Rectangle 5"/>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tlCol="0" anchor="ctr"/>
          <a:lstStyle/>
          <a:p>
            <a:pPr>
              <a:lnSpc>
                <a:spcPct val="100000"/>
              </a:lnSpc>
              <a:spcAft>
                <a:spcPts val="0"/>
              </a:spcAft>
            </a:pPr>
            <a:r>
              <a:rPr sz="1250" dirty="0">
                <a:solidFill>
                  <a:srgbClr val="F2F2F2"/>
                </a:solidFill>
                <a:latin typeface="Consolas"/>
              </a:rPr>
              <a:t>-- log file sync         : 63826 회 / 53초 (Commit)</a:t>
            </a:r>
          </a:p>
          <a:p>
            <a:pPr>
              <a:lnSpc>
                <a:spcPct val="100000"/>
              </a:lnSpc>
              <a:spcAft>
                <a:spcPts val="0"/>
              </a:spcAft>
            </a:pPr>
            <a:r>
              <a:rPr sz="1250" dirty="0">
                <a:solidFill>
                  <a:srgbClr val="F2F2F2"/>
                </a:solidFill>
                <a:latin typeface="Consolas"/>
              </a:rPr>
              <a:t>-- log file parallel write: 64602 회 / 52초 (System I/O)</a:t>
            </a:r>
          </a:p>
          <a:p>
            <a:pPr>
              <a:lnSpc>
                <a:spcPct val="100000"/>
              </a:lnSpc>
              <a:spcAft>
                <a:spcPts val="0"/>
              </a:spcAft>
            </a:pPr>
            <a:r>
              <a:rPr sz="1250" dirty="0">
                <a:solidFill>
                  <a:srgbClr val="F2F2F2"/>
                </a:solidFill>
                <a:latin typeface="Consolas"/>
              </a:rPr>
              <a:t> </a:t>
            </a:r>
          </a:p>
          <a:p>
            <a:pPr>
              <a:lnSpc>
                <a:spcPct val="100000"/>
              </a:lnSpc>
              <a:spcAft>
                <a:spcPts val="0"/>
              </a:spcAft>
            </a:pPr>
            <a:r>
              <a:rPr sz="1250" dirty="0" err="1">
                <a:solidFill>
                  <a:srgbClr val="F2F2F2"/>
                </a:solidFill>
                <a:latin typeface="Consolas"/>
              </a:rPr>
              <a:t>SYS@orcl</a:t>
            </a:r>
            <a:r>
              <a:rPr sz="1250" dirty="0">
                <a:solidFill>
                  <a:srgbClr val="F2F2F2"/>
                </a:solidFill>
                <a:latin typeface="Consolas"/>
              </a:rPr>
              <a:t>&gt; SELECT event, </a:t>
            </a:r>
            <a:r>
              <a:rPr sz="1250" dirty="0" err="1">
                <a:solidFill>
                  <a:srgbClr val="F2F2F2"/>
                </a:solidFill>
                <a:latin typeface="Consolas"/>
              </a:rPr>
              <a:t>total_waits</a:t>
            </a:r>
            <a:r>
              <a:rPr sz="1250" dirty="0">
                <a:solidFill>
                  <a:srgbClr val="F2F2F2"/>
                </a:solidFill>
                <a:latin typeface="Consolas"/>
              </a:rPr>
              <a:t>,</a:t>
            </a:r>
          </a:p>
          <a:p>
            <a:pPr>
              <a:lnSpc>
                <a:spcPct val="100000"/>
              </a:lnSpc>
              <a:spcAft>
                <a:spcPts val="0"/>
              </a:spcAft>
            </a:pPr>
            <a:r>
              <a:rPr sz="1250" dirty="0">
                <a:solidFill>
                  <a:srgbClr val="F2F2F2"/>
                </a:solidFill>
                <a:latin typeface="Consolas"/>
              </a:rPr>
              <a:t>  2         ROUND(</a:t>
            </a:r>
            <a:r>
              <a:rPr sz="1250" dirty="0" err="1">
                <a:solidFill>
                  <a:srgbClr val="F2F2F2"/>
                </a:solidFill>
                <a:latin typeface="Consolas"/>
              </a:rPr>
              <a:t>time_waited</a:t>
            </a:r>
            <a:r>
              <a:rPr sz="1250" dirty="0">
                <a:solidFill>
                  <a:srgbClr val="F2F2F2"/>
                </a:solidFill>
                <a:latin typeface="Consolas"/>
              </a:rPr>
              <a:t>/100) sec</a:t>
            </a:r>
          </a:p>
          <a:p>
            <a:pPr>
              <a:lnSpc>
                <a:spcPct val="100000"/>
              </a:lnSpc>
              <a:spcAft>
                <a:spcPts val="0"/>
              </a:spcAft>
            </a:pPr>
            <a:r>
              <a:rPr sz="1250" dirty="0">
                <a:solidFill>
                  <a:srgbClr val="F2F2F2"/>
                </a:solidFill>
                <a:latin typeface="Consolas"/>
              </a:rPr>
              <a:t>  3       FROM </a:t>
            </a:r>
            <a:r>
              <a:rPr sz="1250" dirty="0" err="1">
                <a:solidFill>
                  <a:srgbClr val="F2F2F2"/>
                </a:solidFill>
                <a:latin typeface="Consolas"/>
              </a:rPr>
              <a:t>v$system_event</a:t>
            </a:r>
            <a:endParaRPr sz="1250" dirty="0">
              <a:solidFill>
                <a:srgbClr val="F2F2F2"/>
              </a:solidFill>
              <a:latin typeface="Consolas"/>
            </a:endParaRPr>
          </a:p>
          <a:p>
            <a:pPr>
              <a:lnSpc>
                <a:spcPct val="100000"/>
              </a:lnSpc>
              <a:spcAft>
                <a:spcPts val="0"/>
              </a:spcAft>
            </a:pPr>
            <a:r>
              <a:rPr sz="1250" dirty="0">
                <a:solidFill>
                  <a:srgbClr val="F2F2F2"/>
                </a:solidFill>
                <a:latin typeface="Consolas"/>
              </a:rPr>
              <a:t>  4       WHERE event LIKE 'log file s%'</a:t>
            </a:r>
          </a:p>
          <a:p>
            <a:pPr>
              <a:lnSpc>
                <a:spcPct val="100000"/>
              </a:lnSpc>
              <a:spcAft>
                <a:spcPts val="0"/>
              </a:spcAft>
            </a:pPr>
            <a:r>
              <a:rPr sz="1250" dirty="0">
                <a:solidFill>
                  <a:srgbClr val="F2F2F2"/>
                </a:solidFill>
                <a:latin typeface="Consolas"/>
              </a:rPr>
              <a:t>  5          OR event = 'log file parallel write';</a:t>
            </a:r>
          </a:p>
          <a:p>
            <a:pPr>
              <a:lnSpc>
                <a:spcPct val="100000"/>
              </a:lnSpc>
              <a:spcAft>
                <a:spcPts val="0"/>
              </a:spcAft>
            </a:pPr>
            <a:r>
              <a:rPr sz="1250" dirty="0">
                <a:solidFill>
                  <a:srgbClr val="F2F2F2"/>
                </a:solidFill>
                <a:latin typeface="Consolas"/>
              </a:rPr>
              <a:t> </a:t>
            </a:r>
          </a:p>
          <a:p>
            <a:pPr>
              <a:lnSpc>
                <a:spcPct val="100000"/>
              </a:lnSpc>
              <a:spcAft>
                <a:spcPts val="0"/>
              </a:spcAft>
            </a:pPr>
            <a:r>
              <a:rPr sz="1250" dirty="0">
                <a:solidFill>
                  <a:srgbClr val="F2F2F2"/>
                </a:solidFill>
                <a:latin typeface="Consolas"/>
              </a:rPr>
              <a:t>EVENT                     TOTAL_WAITS  SEC</a:t>
            </a:r>
          </a:p>
          <a:p>
            <a:pPr>
              <a:lnSpc>
                <a:spcPct val="100000"/>
              </a:lnSpc>
              <a:spcAft>
                <a:spcPts val="0"/>
              </a:spcAft>
            </a:pPr>
            <a:r>
              <a:rPr sz="1250" dirty="0">
                <a:solidFill>
                  <a:srgbClr val="F2F2F2"/>
                </a:solidFill>
                <a:latin typeface="Consolas"/>
              </a:rPr>
              <a:t>------------------------- ----------- ----</a:t>
            </a:r>
          </a:p>
          <a:p>
            <a:pPr>
              <a:lnSpc>
                <a:spcPct val="100000"/>
              </a:lnSpc>
              <a:spcAft>
                <a:spcPts val="0"/>
              </a:spcAft>
            </a:pPr>
            <a:r>
              <a:rPr sz="1250" dirty="0">
                <a:solidFill>
                  <a:srgbClr val="F2F2F2"/>
                </a:solidFill>
                <a:latin typeface="Consolas"/>
              </a:rPr>
              <a:t>log file sync                   63826   53</a:t>
            </a:r>
          </a:p>
          <a:p>
            <a:pPr>
              <a:lnSpc>
                <a:spcPct val="100000"/>
              </a:lnSpc>
              <a:spcAft>
                <a:spcPts val="0"/>
              </a:spcAft>
            </a:pPr>
            <a:r>
              <a:rPr sz="1250" dirty="0">
                <a:solidFill>
                  <a:srgbClr val="F2F2F2"/>
                </a:solidFill>
                <a:latin typeface="Consolas"/>
              </a:rPr>
              <a:t>log file parallel write         64602   52</a:t>
            </a:r>
          </a:p>
        </p:txBody>
      </p:sp>
    </p:spTree>
    <p:extLst>
      <p:ext uri="{BB962C8B-B14F-4D97-AF65-F5344CB8AC3E}">
        <p14:creationId xmlns:p14="http://schemas.microsoft.com/office/powerpoint/2010/main" val="1589781245"/>
      </p:ext>
    </p:extLst>
  </p:cSld>
  <p:clrMapOvr>
    <a:masterClrMapping/>
  </p:clrMapOvr>
</p:sld>
</file>

<file path=ppt/slides/slide10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평균 대기 시간으로 원인을 가른다</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디스크냐, 과도한 커밋이냐</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평균 대기 큼 → 리두 로그 디스크가 느림</a:t>
            </a:r>
          </a:p>
          <a:p>
            <a:pPr algn="l">
              <a:spcAft>
                <a:spcPts val="800"/>
              </a:spcAft>
            </a:pPr>
            <a:r>
              <a:rPr sz="1700" b="0">
                <a:solidFill>
                  <a:srgbClr val="222222"/>
                </a:solidFill>
                <a:latin typeface="맑은 고딕"/>
              </a:rPr>
              <a:t>•  평균 대기 작은데 횟수 폭발 → 너무 잦은 커밋</a:t>
            </a:r>
          </a:p>
          <a:p>
            <a:pPr algn="l">
              <a:spcAft>
                <a:spcPts val="800"/>
              </a:spcAft>
            </a:pPr>
            <a:r>
              <a:rPr sz="1700" b="0">
                <a:solidFill>
                  <a:srgbClr val="222222"/>
                </a:solidFill>
                <a:latin typeface="맑은 고딕"/>
              </a:rPr>
              <a:t>•  실측 63,826회 = row-by-row commit의 흔적</a:t>
            </a:r>
          </a:p>
          <a:p>
            <a:pPr algn="l">
              <a:spcAft>
                <a:spcPts val="800"/>
              </a:spcAft>
            </a:pPr>
            <a:r>
              <a:rPr sz="1700" b="0">
                <a:solidFill>
                  <a:srgbClr val="222222"/>
                </a:solidFill>
                <a:latin typeface="맑은 고딕"/>
              </a:rPr>
              <a:t>•  처방: 루프 안 COMMIT 제거 → N건마다 배치 커밋</a:t>
            </a:r>
          </a:p>
        </p:txBody>
      </p:sp>
    </p:spTree>
    <p:extLst>
      <p:ext uri="{BB962C8B-B14F-4D97-AF65-F5344CB8AC3E}">
        <p14:creationId xmlns:p14="http://schemas.microsoft.com/office/powerpoint/2010/main" val="2082260791"/>
      </p:ext>
    </p:extLst>
  </p:cSld>
  <p:clrMapOvr>
    <a:masterClrMapping/>
  </p:clrMapOvr>
</p:sld>
</file>

<file path=ppt/slides/slide10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이웃 이벤트도 함께 본다</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리두 계열의 다른 대기</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log file switch completion — 로그 그룹 전환 대기(Config)</a:t>
            </a:r>
          </a:p>
          <a:p>
            <a:pPr algn="l">
              <a:spcAft>
                <a:spcPts val="800"/>
              </a:spcAft>
            </a:pPr>
            <a:r>
              <a:rPr sz="1700" b="0">
                <a:solidFill>
                  <a:srgbClr val="222222"/>
                </a:solidFill>
                <a:latin typeface="맑은 고딕"/>
              </a:rPr>
              <a:t>•    → 리두 로그가 작거나 개수 부족 / 체크포인트 지연</a:t>
            </a:r>
          </a:p>
          <a:p>
            <a:pPr algn="l">
              <a:spcAft>
                <a:spcPts val="800"/>
              </a:spcAft>
            </a:pPr>
            <a:r>
              <a:rPr sz="1700" b="0">
                <a:solidFill>
                  <a:srgbClr val="222222"/>
                </a:solidFill>
                <a:latin typeface="맑은 고딕"/>
              </a:rPr>
              <a:t>•  log buffer space — 리두 버퍼가 가득 참</a:t>
            </a:r>
          </a:p>
          <a:p>
            <a:pPr algn="l">
              <a:spcAft>
                <a:spcPts val="800"/>
              </a:spcAft>
            </a:pPr>
            <a:r>
              <a:rPr sz="1700" b="0">
                <a:solidFill>
                  <a:srgbClr val="222222"/>
                </a:solidFill>
                <a:latin typeface="맑은 고딕"/>
              </a:rPr>
              <a:t>•    → 리두 생성 속도가 기록 속도를 앞지름</a:t>
            </a:r>
          </a:p>
        </p:txBody>
      </p:sp>
    </p:spTree>
    <p:extLst>
      <p:ext uri="{BB962C8B-B14F-4D97-AF65-F5344CB8AC3E}">
        <p14:creationId xmlns:p14="http://schemas.microsoft.com/office/powerpoint/2010/main" val="1324548679"/>
      </p:ext>
    </p:extLst>
  </p:cSld>
  <p:clrMapOvr>
    <a:masterClrMapping/>
  </p:clrMapOvr>
</p:sld>
</file>

<file path=ppt/slides/slide10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27.6</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latch와 mutex</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rPr>
              <a:t>•  공유 메모리 구조 경량 잠금</a:t>
            </a:r>
          </a:p>
          <a:p>
            <a:pPr algn="l">
              <a:spcAft>
                <a:spcPts val="600"/>
              </a:spcAft>
            </a:pPr>
            <a:r>
              <a:rPr sz="1600" b="0">
                <a:solidFill>
                  <a:srgbClr val="FFFFFF"/>
                </a:solidFill>
                <a:latin typeface="맑은 고딕"/>
              </a:rPr>
              <a:t>•  경합의 배후 = 하드 파싱</a:t>
            </a:r>
          </a:p>
          <a:p>
            <a:pPr algn="l">
              <a:spcAft>
                <a:spcPts val="600"/>
              </a:spcAft>
            </a:pPr>
            <a:r>
              <a:rPr sz="1600" b="0">
                <a:solidFill>
                  <a:srgbClr val="FFFFFF"/>
                </a:solidFill>
                <a:latin typeface="맑은 고딕"/>
              </a:rPr>
              <a:t>•  S/X 모드</a:t>
            </a:r>
          </a:p>
          <a:p>
            <a:pPr algn="l">
              <a:spcAft>
                <a:spcPts val="600"/>
              </a:spcAft>
            </a:pPr>
            <a:r>
              <a:rPr sz="1600" b="0">
                <a:solidFill>
                  <a:srgbClr val="FFFFFF"/>
                </a:solidFill>
                <a:latin typeface="맑은 고딕"/>
              </a:rPr>
              <a:t>•  처방은 바인드 변수</a:t>
            </a:r>
          </a:p>
        </p:txBody>
      </p:sp>
    </p:spTree>
    <p:extLst>
      <p:ext uri="{BB962C8B-B14F-4D97-AF65-F5344CB8AC3E}">
        <p14:creationId xmlns:p14="http://schemas.microsoft.com/office/powerpoint/2010/main" val="2012148171"/>
      </p:ext>
    </p:extLst>
  </p:cSld>
  <p:clrMapOvr>
    <a:masterClrMapping/>
  </p:clrMapOvr>
</p:sld>
</file>

<file path=ppt/slides/slide10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latch와 mutex의 차이</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라이브러리 캐시를 지키는 자물쇠</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latch: 공유 구조 보호, 마이크로초 단위</a:t>
            </a:r>
          </a:p>
          <a:p>
            <a:pPr algn="l">
              <a:spcAft>
                <a:spcPts val="800"/>
              </a:spcAft>
            </a:pPr>
            <a:r>
              <a:rPr sz="1700" b="0">
                <a:solidFill>
                  <a:srgbClr val="222222"/>
                </a:solidFill>
                <a:latin typeface="맑은 고딕"/>
              </a:rPr>
              <a:t>•  mutex: 더 가볍고 세밀(커서마다 하나) → 경합 분산</a:t>
            </a:r>
          </a:p>
          <a:p>
            <a:pPr algn="l">
              <a:spcAft>
                <a:spcPts val="800"/>
              </a:spcAft>
            </a:pPr>
            <a:r>
              <a:rPr sz="1700" b="0">
                <a:solidFill>
                  <a:srgbClr val="222222"/>
                </a:solidFill>
                <a:latin typeface="맑은 고딕"/>
              </a:rPr>
              <a:t>•  요즘 라이브러리 캐시 경합 = mutex 이벤트로 표출</a:t>
            </a:r>
          </a:p>
          <a:p>
            <a:pPr algn="l">
              <a:spcAft>
                <a:spcPts val="800"/>
              </a:spcAft>
            </a:pPr>
            <a:r>
              <a:rPr sz="1700" b="0">
                <a:solidFill>
                  <a:srgbClr val="222222"/>
                </a:solidFill>
                <a:latin typeface="맑은 고딕"/>
              </a:rPr>
              <a:t>•  S=공유, X=배타 (cursor: pin S wait on X)</a:t>
            </a:r>
          </a:p>
        </p:txBody>
      </p:sp>
    </p:spTree>
    <p:extLst>
      <p:ext uri="{BB962C8B-B14F-4D97-AF65-F5344CB8AC3E}">
        <p14:creationId xmlns:p14="http://schemas.microsoft.com/office/powerpoint/2010/main" val="3027540719"/>
      </p:ext>
    </p:extLst>
  </p:cSld>
  <p:clrMapOvr>
    <a:masterClrMapping/>
  </p:clrMapOvr>
</p:sld>
</file>

<file path=ppt/slides/slide10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실측 — 경합의 배후는 하드 파싱</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latch: shared pool 13,156회</a:t>
            </a:r>
          </a:p>
        </p:txBody>
      </p:sp>
      <p:sp>
        <p:nvSpPr>
          <p:cNvPr id="6" name="Rectangle 5"/>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tlCol="0" anchor="ctr"/>
          <a:lstStyle/>
          <a:p>
            <a:pPr>
              <a:lnSpc>
                <a:spcPct val="100000"/>
              </a:lnSpc>
              <a:spcAft>
                <a:spcPts val="0"/>
              </a:spcAft>
            </a:pPr>
            <a:r>
              <a:rPr sz="1250" dirty="0">
                <a:solidFill>
                  <a:srgbClr val="F2F2F2"/>
                </a:solidFill>
                <a:latin typeface="Consolas"/>
              </a:rPr>
              <a:t>EVENT                       WAITS  SEC  CLASS</a:t>
            </a:r>
          </a:p>
          <a:p>
            <a:pPr>
              <a:lnSpc>
                <a:spcPct val="100000"/>
              </a:lnSpc>
              <a:spcAft>
                <a:spcPts val="0"/>
              </a:spcAft>
            </a:pPr>
            <a:r>
              <a:rPr sz="1250" dirty="0">
                <a:solidFill>
                  <a:srgbClr val="F2F2F2"/>
                </a:solidFill>
                <a:latin typeface="Consolas"/>
              </a:rPr>
              <a:t>--------------------------- ------ ---- -----------</a:t>
            </a:r>
          </a:p>
          <a:p>
            <a:pPr>
              <a:lnSpc>
                <a:spcPct val="100000"/>
              </a:lnSpc>
              <a:spcAft>
                <a:spcPts val="0"/>
              </a:spcAft>
            </a:pPr>
            <a:r>
              <a:rPr sz="1250" dirty="0">
                <a:solidFill>
                  <a:srgbClr val="F2F2F2"/>
                </a:solidFill>
                <a:latin typeface="Consolas"/>
              </a:rPr>
              <a:t>latch free                   17174    4  Other</a:t>
            </a:r>
          </a:p>
          <a:p>
            <a:pPr>
              <a:lnSpc>
                <a:spcPct val="100000"/>
              </a:lnSpc>
              <a:spcAft>
                <a:spcPts val="0"/>
              </a:spcAft>
            </a:pPr>
            <a:r>
              <a:rPr sz="1250" dirty="0">
                <a:solidFill>
                  <a:srgbClr val="F2F2F2"/>
                </a:solidFill>
                <a:latin typeface="Consolas"/>
              </a:rPr>
              <a:t>latch: shared pool           13156    1  Concurrency</a:t>
            </a:r>
          </a:p>
          <a:p>
            <a:pPr>
              <a:lnSpc>
                <a:spcPct val="100000"/>
              </a:lnSpc>
              <a:spcAft>
                <a:spcPts val="0"/>
              </a:spcAft>
            </a:pPr>
            <a:r>
              <a:rPr sz="1250" dirty="0">
                <a:solidFill>
                  <a:srgbClr val="F2F2F2"/>
                </a:solidFill>
                <a:latin typeface="Consolas"/>
              </a:rPr>
              <a:t>cursor: pin S wait on X       1077    2  Concurrency</a:t>
            </a:r>
          </a:p>
          <a:p>
            <a:pPr>
              <a:lnSpc>
                <a:spcPct val="100000"/>
              </a:lnSpc>
              <a:spcAft>
                <a:spcPts val="0"/>
              </a:spcAft>
            </a:pPr>
            <a:r>
              <a:rPr sz="1250" dirty="0">
                <a:solidFill>
                  <a:srgbClr val="F2F2F2"/>
                </a:solidFill>
                <a:latin typeface="Consolas"/>
              </a:rPr>
              <a:t>library cache: mutex X         387    1  Concurrency</a:t>
            </a:r>
          </a:p>
          <a:p>
            <a:pPr>
              <a:lnSpc>
                <a:spcPct val="100000"/>
              </a:lnSpc>
              <a:spcAft>
                <a:spcPts val="0"/>
              </a:spcAft>
            </a:pPr>
            <a:r>
              <a:rPr sz="1250" dirty="0">
                <a:solidFill>
                  <a:srgbClr val="F2F2F2"/>
                </a:solidFill>
                <a:latin typeface="Consolas"/>
              </a:rPr>
              <a:t> </a:t>
            </a:r>
          </a:p>
          <a:p>
            <a:pPr>
              <a:lnSpc>
                <a:spcPct val="100000"/>
              </a:lnSpc>
              <a:spcAft>
                <a:spcPts val="0"/>
              </a:spcAft>
            </a:pPr>
            <a:r>
              <a:rPr sz="1250" dirty="0">
                <a:solidFill>
                  <a:srgbClr val="F2F2F2"/>
                </a:solidFill>
                <a:latin typeface="Consolas"/>
              </a:rPr>
              <a:t>-- </a:t>
            </a:r>
            <a:r>
              <a:rPr sz="1250" dirty="0" err="1">
                <a:solidFill>
                  <a:srgbClr val="F2F2F2"/>
                </a:solidFill>
                <a:latin typeface="Consolas"/>
              </a:rPr>
              <a:t>공유</a:t>
            </a:r>
            <a:r>
              <a:rPr sz="1250" dirty="0">
                <a:solidFill>
                  <a:srgbClr val="F2F2F2"/>
                </a:solidFill>
                <a:latin typeface="Consolas"/>
              </a:rPr>
              <a:t> 풀 </a:t>
            </a:r>
            <a:r>
              <a:rPr sz="1250" dirty="0" err="1">
                <a:solidFill>
                  <a:srgbClr val="F2F2F2"/>
                </a:solidFill>
                <a:latin typeface="Consolas"/>
              </a:rPr>
              <a:t>래치</a:t>
            </a:r>
            <a:r>
              <a:rPr sz="1250" dirty="0">
                <a:solidFill>
                  <a:srgbClr val="F2F2F2"/>
                </a:solidFill>
                <a:latin typeface="Consolas"/>
              </a:rPr>
              <a:t> </a:t>
            </a:r>
            <a:r>
              <a:rPr sz="1250" dirty="0" err="1">
                <a:solidFill>
                  <a:srgbClr val="F2F2F2"/>
                </a:solidFill>
                <a:latin typeface="Consolas"/>
              </a:rPr>
              <a:t>경합</a:t>
            </a:r>
            <a:r>
              <a:rPr sz="1250" dirty="0">
                <a:solidFill>
                  <a:srgbClr val="F2F2F2"/>
                </a:solidFill>
                <a:latin typeface="Consolas"/>
              </a:rPr>
              <a:t> ↔ </a:t>
            </a:r>
            <a:r>
              <a:rPr sz="1250" dirty="0" err="1">
                <a:solidFill>
                  <a:srgbClr val="F2F2F2"/>
                </a:solidFill>
                <a:latin typeface="Consolas"/>
              </a:rPr>
              <a:t>하드</a:t>
            </a:r>
            <a:r>
              <a:rPr sz="1250" dirty="0">
                <a:solidFill>
                  <a:srgbClr val="F2F2F2"/>
                </a:solidFill>
                <a:latin typeface="Consolas"/>
              </a:rPr>
              <a:t> </a:t>
            </a:r>
            <a:r>
              <a:rPr sz="1250" dirty="0" err="1">
                <a:solidFill>
                  <a:srgbClr val="F2F2F2"/>
                </a:solidFill>
                <a:latin typeface="Consolas"/>
              </a:rPr>
              <a:t>파싱</a:t>
            </a:r>
            <a:r>
              <a:rPr sz="1250" dirty="0">
                <a:solidFill>
                  <a:srgbClr val="F2F2F2"/>
                </a:solidFill>
                <a:latin typeface="Consolas"/>
              </a:rPr>
              <a:t>(</a:t>
            </a:r>
            <a:r>
              <a:rPr sz="1250" dirty="0" err="1">
                <a:solidFill>
                  <a:srgbClr val="F2F2F2"/>
                </a:solidFill>
                <a:latin typeface="Consolas"/>
              </a:rPr>
              <a:t>리터럴</a:t>
            </a:r>
            <a:r>
              <a:rPr sz="1250" dirty="0">
                <a:solidFill>
                  <a:srgbClr val="F2F2F2"/>
                </a:solidFill>
                <a:latin typeface="Consolas"/>
              </a:rPr>
              <a:t> SQL </a:t>
            </a:r>
            <a:r>
              <a:rPr sz="1250" dirty="0" err="1">
                <a:solidFill>
                  <a:srgbClr val="F2F2F2"/>
                </a:solidFill>
                <a:latin typeface="Consolas"/>
              </a:rPr>
              <a:t>반복</a:t>
            </a:r>
            <a:r>
              <a:rPr sz="1250" dirty="0">
                <a:solidFill>
                  <a:srgbClr val="F2F2F2"/>
                </a:solidFill>
                <a:latin typeface="Consolas"/>
              </a:rPr>
              <a:t>)</a:t>
            </a:r>
          </a:p>
          <a:p>
            <a:pPr>
              <a:lnSpc>
                <a:spcPct val="100000"/>
              </a:lnSpc>
              <a:spcAft>
                <a:spcPts val="0"/>
              </a:spcAft>
            </a:pPr>
            <a:r>
              <a:rPr sz="1250" dirty="0">
                <a:solidFill>
                  <a:srgbClr val="F2F2F2"/>
                </a:solidFill>
                <a:latin typeface="Consolas"/>
              </a:rPr>
              <a:t>-- </a:t>
            </a:r>
            <a:r>
              <a:rPr sz="1250" dirty="0" err="1">
                <a:solidFill>
                  <a:srgbClr val="F2F2F2"/>
                </a:solidFill>
                <a:latin typeface="Consolas"/>
              </a:rPr>
              <a:t>근본</a:t>
            </a:r>
            <a:r>
              <a:rPr sz="1250" dirty="0">
                <a:solidFill>
                  <a:srgbClr val="F2F2F2"/>
                </a:solidFill>
                <a:latin typeface="Consolas"/>
              </a:rPr>
              <a:t> </a:t>
            </a:r>
            <a:r>
              <a:rPr sz="1250" dirty="0" err="1">
                <a:solidFill>
                  <a:srgbClr val="F2F2F2"/>
                </a:solidFill>
                <a:latin typeface="Consolas"/>
              </a:rPr>
              <a:t>처방</a:t>
            </a:r>
            <a:r>
              <a:rPr sz="1250" dirty="0">
                <a:solidFill>
                  <a:srgbClr val="F2F2F2"/>
                </a:solidFill>
                <a:latin typeface="Consolas"/>
              </a:rPr>
              <a:t>: </a:t>
            </a:r>
            <a:r>
              <a:rPr sz="1250" dirty="0" err="1">
                <a:solidFill>
                  <a:srgbClr val="F2F2F2"/>
                </a:solidFill>
                <a:latin typeface="Consolas"/>
              </a:rPr>
              <a:t>바인드</a:t>
            </a:r>
            <a:r>
              <a:rPr sz="1250" dirty="0">
                <a:solidFill>
                  <a:srgbClr val="F2F2F2"/>
                </a:solidFill>
                <a:latin typeface="Consolas"/>
              </a:rPr>
              <a:t> </a:t>
            </a:r>
            <a:r>
              <a:rPr sz="1250" dirty="0" err="1">
                <a:solidFill>
                  <a:srgbClr val="F2F2F2"/>
                </a:solidFill>
                <a:latin typeface="Consolas"/>
              </a:rPr>
              <a:t>변수</a:t>
            </a:r>
            <a:r>
              <a:rPr sz="1250" dirty="0">
                <a:solidFill>
                  <a:srgbClr val="F2F2F2"/>
                </a:solidFill>
                <a:latin typeface="Consolas"/>
              </a:rPr>
              <a:t> </a:t>
            </a:r>
            <a:r>
              <a:rPr sz="1250" dirty="0" err="1">
                <a:solidFill>
                  <a:srgbClr val="F2F2F2"/>
                </a:solidFill>
                <a:latin typeface="Consolas"/>
              </a:rPr>
              <a:t>사용</a:t>
            </a:r>
            <a:endParaRPr sz="1250" dirty="0">
              <a:solidFill>
                <a:srgbClr val="F2F2F2"/>
              </a:solidFill>
              <a:latin typeface="Consolas"/>
            </a:endParaRPr>
          </a:p>
          <a:p>
            <a:pPr>
              <a:lnSpc>
                <a:spcPct val="100000"/>
              </a:lnSpc>
              <a:spcAft>
                <a:spcPts val="0"/>
              </a:spcAft>
            </a:pPr>
            <a:r>
              <a:rPr sz="1250" dirty="0" err="1">
                <a:solidFill>
                  <a:srgbClr val="F2F2F2"/>
                </a:solidFill>
                <a:latin typeface="Consolas"/>
              </a:rPr>
              <a:t>SYS@orcl</a:t>
            </a:r>
            <a:r>
              <a:rPr sz="1250" dirty="0">
                <a:solidFill>
                  <a:srgbClr val="F2F2F2"/>
                </a:solidFill>
                <a:latin typeface="Consolas"/>
              </a:rPr>
              <a:t>&gt; SELECT </a:t>
            </a:r>
            <a:r>
              <a:rPr sz="1250" dirty="0" err="1">
                <a:solidFill>
                  <a:srgbClr val="F2F2F2"/>
                </a:solidFill>
                <a:latin typeface="Consolas"/>
              </a:rPr>
              <a:t>sql_text</a:t>
            </a:r>
            <a:r>
              <a:rPr sz="1250" dirty="0">
                <a:solidFill>
                  <a:srgbClr val="F2F2F2"/>
                </a:solidFill>
                <a:latin typeface="Consolas"/>
              </a:rPr>
              <a:t>, </a:t>
            </a:r>
            <a:r>
              <a:rPr sz="1250" dirty="0" err="1">
                <a:solidFill>
                  <a:srgbClr val="F2F2F2"/>
                </a:solidFill>
                <a:latin typeface="Consolas"/>
              </a:rPr>
              <a:t>parse_calls</a:t>
            </a:r>
            <a:r>
              <a:rPr sz="1250" dirty="0">
                <a:solidFill>
                  <a:srgbClr val="F2F2F2"/>
                </a:solidFill>
                <a:latin typeface="Consolas"/>
              </a:rPr>
              <a:t>, </a:t>
            </a:r>
            <a:r>
              <a:rPr sz="1250" dirty="0" err="1">
                <a:solidFill>
                  <a:srgbClr val="F2F2F2"/>
                </a:solidFill>
                <a:latin typeface="Consolas"/>
              </a:rPr>
              <a:t>version_count</a:t>
            </a:r>
            <a:endParaRPr sz="1250" dirty="0">
              <a:solidFill>
                <a:srgbClr val="F2F2F2"/>
              </a:solidFill>
              <a:latin typeface="Consolas"/>
            </a:endParaRPr>
          </a:p>
          <a:p>
            <a:pPr>
              <a:lnSpc>
                <a:spcPct val="100000"/>
              </a:lnSpc>
              <a:spcAft>
                <a:spcPts val="0"/>
              </a:spcAft>
            </a:pPr>
            <a:r>
              <a:rPr sz="1250" dirty="0">
                <a:solidFill>
                  <a:srgbClr val="F2F2F2"/>
                </a:solidFill>
                <a:latin typeface="Consolas"/>
              </a:rPr>
              <a:t>  2       FROM </a:t>
            </a:r>
            <a:r>
              <a:rPr sz="1250" dirty="0" err="1">
                <a:solidFill>
                  <a:srgbClr val="F2F2F2"/>
                </a:solidFill>
                <a:latin typeface="Consolas"/>
              </a:rPr>
              <a:t>v$sqlarea</a:t>
            </a:r>
            <a:r>
              <a:rPr sz="1250" dirty="0">
                <a:solidFill>
                  <a:srgbClr val="F2F2F2"/>
                </a:solidFill>
                <a:latin typeface="Consolas"/>
              </a:rPr>
              <a:t> ORDER BY </a:t>
            </a:r>
            <a:r>
              <a:rPr sz="1250" dirty="0" err="1">
                <a:solidFill>
                  <a:srgbClr val="F2F2F2"/>
                </a:solidFill>
                <a:latin typeface="Consolas"/>
              </a:rPr>
              <a:t>parse_calls</a:t>
            </a:r>
            <a:r>
              <a:rPr sz="1250" dirty="0">
                <a:solidFill>
                  <a:srgbClr val="F2F2F2"/>
                </a:solidFill>
                <a:latin typeface="Consolas"/>
              </a:rPr>
              <a:t> DESC;</a:t>
            </a:r>
          </a:p>
        </p:txBody>
      </p:sp>
    </p:spTree>
    <p:extLst>
      <p:ext uri="{BB962C8B-B14F-4D97-AF65-F5344CB8AC3E}">
        <p14:creationId xmlns:p14="http://schemas.microsoft.com/office/powerpoint/2010/main" val="872256073"/>
      </p:ext>
    </p:extLst>
  </p:cSld>
  <p:clrMapOvr>
    <a:masterClrMapping/>
  </p:clrMapOvr>
</p:sld>
</file>

<file path=ppt/slides/slide10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근본 처방</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증상이 아니라 파싱을 고친다</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1차 용의자 = 과도한 하드 파싱</a:t>
            </a:r>
          </a:p>
          <a:p>
            <a:pPr algn="l">
              <a:spcAft>
                <a:spcPts val="800"/>
              </a:spcAft>
            </a:pPr>
            <a:r>
              <a:rPr sz="1700" b="0">
                <a:solidFill>
                  <a:srgbClr val="222222"/>
                </a:solidFill>
                <a:latin typeface="맑은 고딕"/>
              </a:rPr>
              <a:t>•  V$SQLAREA에서 parse_calls·version_count 큰 SQL</a:t>
            </a:r>
          </a:p>
          <a:p>
            <a:pPr algn="l">
              <a:spcAft>
                <a:spcPts val="800"/>
              </a:spcAft>
            </a:pPr>
            <a:r>
              <a:rPr sz="1700" b="0">
                <a:solidFill>
                  <a:srgbClr val="222222"/>
                </a:solidFill>
                <a:latin typeface="맑은 고딕"/>
              </a:rPr>
              <a:t>•  근본 처방 = 바인드 변수(리터럴 제거)</a:t>
            </a:r>
          </a:p>
          <a:p>
            <a:pPr algn="l">
              <a:spcAft>
                <a:spcPts val="800"/>
              </a:spcAft>
            </a:pPr>
            <a:r>
              <a:rPr sz="1700" b="0">
                <a:solidFill>
                  <a:srgbClr val="222222"/>
                </a:solidFill>
                <a:latin typeface="맑은 고딕"/>
              </a:rPr>
              <a:t>•  parse count(hard) 300/초 넘으면 확장성 문제</a:t>
            </a:r>
          </a:p>
        </p:txBody>
      </p:sp>
    </p:spTree>
    <p:extLst>
      <p:ext uri="{BB962C8B-B14F-4D97-AF65-F5344CB8AC3E}">
        <p14:creationId xmlns:p14="http://schemas.microsoft.com/office/powerpoint/2010/main" val="3640291348"/>
      </p:ext>
    </p:extLst>
  </p:cSld>
  <p:clrMapOvr>
    <a:masterClrMapping/>
  </p:clrMapOvr>
</p:sld>
</file>

<file path=ppt/slides/slide10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27.7</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enq: TX - row lock contention</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rPr>
              <a:t>•  트랜잭션 잠금(Application)</a:t>
            </a:r>
          </a:p>
          <a:p>
            <a:pPr algn="l">
              <a:spcAft>
                <a:spcPts val="600"/>
              </a:spcAft>
            </a:pPr>
            <a:r>
              <a:rPr sz="1600" b="0">
                <a:solidFill>
                  <a:srgbClr val="FFFFFF"/>
                </a:solidFill>
                <a:latin typeface="맑은 고딕"/>
              </a:rPr>
              <a:t>•  쓰기 대 쓰기에서만</a:t>
            </a:r>
          </a:p>
          <a:p>
            <a:pPr algn="l">
              <a:spcAft>
                <a:spcPts val="600"/>
              </a:spcAft>
            </a:pPr>
            <a:r>
              <a:rPr sz="1600" b="0">
                <a:solidFill>
                  <a:srgbClr val="FFFFFF"/>
                </a:solidFill>
                <a:latin typeface="맑은 고딕"/>
              </a:rPr>
              <a:t>•  blocking_session 역추적</a:t>
            </a:r>
          </a:p>
          <a:p>
            <a:pPr algn="l">
              <a:spcAft>
                <a:spcPts val="600"/>
              </a:spcAft>
            </a:pPr>
            <a:r>
              <a:rPr sz="1600" b="0">
                <a:solidFill>
                  <a:srgbClr val="FFFFFF"/>
                </a:solidFill>
                <a:latin typeface="맑은 고딕"/>
              </a:rPr>
              <a:t>•  블로커는 대개 놀고 있다</a:t>
            </a:r>
          </a:p>
        </p:txBody>
      </p:sp>
    </p:spTree>
    <p:extLst>
      <p:ext uri="{BB962C8B-B14F-4D97-AF65-F5344CB8AC3E}">
        <p14:creationId xmlns:p14="http://schemas.microsoft.com/office/powerpoint/2010/main" val="758846845"/>
      </p:ext>
    </p:extLst>
  </p:cSld>
  <p:clrMapOvr>
    <a:masterClrMapping/>
  </p:clrMapOvr>
</p:sld>
</file>

<file path=ppt/slides/slide10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발생 원리와 ch17과의 관계</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같은 경합, 대기 이벤트의 축</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행 잠금은 읽기를 막지 않음 → '쓰기 대 쓰기'</a:t>
            </a:r>
          </a:p>
          <a:p>
            <a:pPr algn="l">
              <a:spcAft>
                <a:spcPts val="800"/>
              </a:spcAft>
            </a:pPr>
            <a:r>
              <a:rPr sz="1700" b="0">
                <a:solidFill>
                  <a:srgbClr val="222222"/>
                </a:solidFill>
                <a:latin typeface="맑은 고딕"/>
              </a:rPr>
              <a:t>•  앞 세션 커밋 전까지 뒤 세션이 그 행을 못 잡음</a:t>
            </a:r>
          </a:p>
          <a:p>
            <a:pPr algn="l">
              <a:spcAft>
                <a:spcPts val="800"/>
              </a:spcAft>
            </a:pPr>
            <a:r>
              <a:rPr sz="1700" b="0">
                <a:solidFill>
                  <a:srgbClr val="222222"/>
                </a:solidFill>
                <a:latin typeface="맑은 고딕"/>
              </a:rPr>
              <a:t>•  ch17: '누가 누구를 막았나'(블로킹 597↔596)</a:t>
            </a:r>
          </a:p>
          <a:p>
            <a:pPr algn="l">
              <a:spcAft>
                <a:spcPts val="800"/>
              </a:spcAft>
            </a:pPr>
            <a:r>
              <a:rPr sz="1700" b="0">
                <a:solidFill>
                  <a:srgbClr val="222222"/>
                </a:solidFill>
                <a:latin typeface="맑은 고딕"/>
              </a:rPr>
              <a:t>•  ch27: '이 대기가 어느 세그먼트·SQL에서'</a:t>
            </a:r>
          </a:p>
        </p:txBody>
      </p:sp>
    </p:spTree>
    <p:extLst>
      <p:ext uri="{BB962C8B-B14F-4D97-AF65-F5344CB8AC3E}">
        <p14:creationId xmlns:p14="http://schemas.microsoft.com/office/powerpoint/2010/main" val="1184041720"/>
      </p:ext>
    </p:extLst>
  </p:cSld>
  <p:clrMapOvr>
    <a:masterClrMapping/>
  </p:clrMapOvr>
</p:sld>
</file>

<file path=ppt/slides/slide10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블로커 역추적 (실측)</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대기 세션 → 최종 블로커</a:t>
            </a:r>
          </a:p>
        </p:txBody>
      </p:sp>
      <p:sp>
        <p:nvSpPr>
          <p:cNvPr id="6" name="Rectangle 5"/>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tlCol="0" anchor="ctr"/>
          <a:lstStyle/>
          <a:p>
            <a:pPr>
              <a:lnSpc>
                <a:spcPct val="100000"/>
              </a:lnSpc>
              <a:spcAft>
                <a:spcPts val="0"/>
              </a:spcAft>
            </a:pPr>
            <a:r>
              <a:rPr sz="1250" dirty="0" err="1">
                <a:solidFill>
                  <a:srgbClr val="F2F2F2"/>
                </a:solidFill>
                <a:latin typeface="Consolas"/>
              </a:rPr>
              <a:t>SYS@orcl</a:t>
            </a:r>
            <a:r>
              <a:rPr sz="1250" dirty="0">
                <a:solidFill>
                  <a:srgbClr val="F2F2F2"/>
                </a:solidFill>
                <a:latin typeface="Consolas"/>
              </a:rPr>
              <a:t>&gt; SELECT </a:t>
            </a:r>
            <a:r>
              <a:rPr sz="1250" dirty="0" err="1">
                <a:solidFill>
                  <a:srgbClr val="F2F2F2"/>
                </a:solidFill>
                <a:latin typeface="Consolas"/>
              </a:rPr>
              <a:t>s.sid</a:t>
            </a:r>
            <a:r>
              <a:rPr sz="1250" dirty="0">
                <a:solidFill>
                  <a:srgbClr val="F2F2F2"/>
                </a:solidFill>
                <a:latin typeface="Consolas"/>
              </a:rPr>
              <a:t>, </a:t>
            </a:r>
            <a:r>
              <a:rPr sz="1250" dirty="0" err="1">
                <a:solidFill>
                  <a:srgbClr val="F2F2F2"/>
                </a:solidFill>
                <a:latin typeface="Consolas"/>
              </a:rPr>
              <a:t>s.event</a:t>
            </a:r>
            <a:r>
              <a:rPr sz="1250" dirty="0">
                <a:solidFill>
                  <a:srgbClr val="F2F2F2"/>
                </a:solidFill>
                <a:latin typeface="Consolas"/>
              </a:rPr>
              <a:t>, </a:t>
            </a:r>
            <a:r>
              <a:rPr sz="1250" dirty="0" err="1">
                <a:solidFill>
                  <a:srgbClr val="F2F2F2"/>
                </a:solidFill>
                <a:latin typeface="Consolas"/>
              </a:rPr>
              <a:t>s.blocking_session</a:t>
            </a:r>
            <a:r>
              <a:rPr sz="1250" dirty="0">
                <a:solidFill>
                  <a:srgbClr val="F2F2F2"/>
                </a:solidFill>
                <a:latin typeface="Consolas"/>
              </a:rPr>
              <a:t> blocker,</a:t>
            </a:r>
          </a:p>
          <a:p>
            <a:pPr>
              <a:lnSpc>
                <a:spcPct val="100000"/>
              </a:lnSpc>
              <a:spcAft>
                <a:spcPts val="0"/>
              </a:spcAft>
            </a:pPr>
            <a:r>
              <a:rPr sz="1250" dirty="0">
                <a:solidFill>
                  <a:srgbClr val="F2F2F2"/>
                </a:solidFill>
                <a:latin typeface="Consolas"/>
              </a:rPr>
              <a:t>  2         </a:t>
            </a:r>
            <a:r>
              <a:rPr sz="1250" dirty="0" err="1">
                <a:solidFill>
                  <a:srgbClr val="F2F2F2"/>
                </a:solidFill>
                <a:latin typeface="Consolas"/>
              </a:rPr>
              <a:t>s.row_wait_obj</a:t>
            </a:r>
            <a:r>
              <a:rPr sz="1250" dirty="0">
                <a:solidFill>
                  <a:srgbClr val="F2F2F2"/>
                </a:solidFill>
                <a:latin typeface="Consolas"/>
              </a:rPr>
              <a:t># obj#, </a:t>
            </a:r>
            <a:r>
              <a:rPr sz="1250" dirty="0" err="1">
                <a:solidFill>
                  <a:srgbClr val="F2F2F2"/>
                </a:solidFill>
                <a:latin typeface="Consolas"/>
              </a:rPr>
              <a:t>s.seconds_in_wait</a:t>
            </a:r>
            <a:r>
              <a:rPr sz="1250" dirty="0">
                <a:solidFill>
                  <a:srgbClr val="F2F2F2"/>
                </a:solidFill>
                <a:latin typeface="Consolas"/>
              </a:rPr>
              <a:t> </a:t>
            </a:r>
            <a:r>
              <a:rPr sz="1250" dirty="0" err="1">
                <a:solidFill>
                  <a:srgbClr val="F2F2F2"/>
                </a:solidFill>
                <a:latin typeface="Consolas"/>
              </a:rPr>
              <a:t>wait_s</a:t>
            </a:r>
            <a:endParaRPr sz="1250" dirty="0">
              <a:solidFill>
                <a:srgbClr val="F2F2F2"/>
              </a:solidFill>
              <a:latin typeface="Consolas"/>
            </a:endParaRPr>
          </a:p>
          <a:p>
            <a:pPr>
              <a:lnSpc>
                <a:spcPct val="100000"/>
              </a:lnSpc>
              <a:spcAft>
                <a:spcPts val="0"/>
              </a:spcAft>
            </a:pPr>
            <a:r>
              <a:rPr sz="1250" dirty="0">
                <a:solidFill>
                  <a:srgbClr val="F2F2F2"/>
                </a:solidFill>
                <a:latin typeface="Consolas"/>
              </a:rPr>
              <a:t>  3       FROM </a:t>
            </a:r>
            <a:r>
              <a:rPr sz="1250" dirty="0" err="1">
                <a:solidFill>
                  <a:srgbClr val="F2F2F2"/>
                </a:solidFill>
                <a:latin typeface="Consolas"/>
              </a:rPr>
              <a:t>v$session</a:t>
            </a:r>
            <a:r>
              <a:rPr sz="1250" dirty="0">
                <a:solidFill>
                  <a:srgbClr val="F2F2F2"/>
                </a:solidFill>
                <a:latin typeface="Consolas"/>
              </a:rPr>
              <a:t> s</a:t>
            </a:r>
          </a:p>
          <a:p>
            <a:pPr>
              <a:lnSpc>
                <a:spcPct val="100000"/>
              </a:lnSpc>
              <a:spcAft>
                <a:spcPts val="0"/>
              </a:spcAft>
            </a:pPr>
            <a:r>
              <a:rPr sz="1250" dirty="0">
                <a:solidFill>
                  <a:srgbClr val="F2F2F2"/>
                </a:solidFill>
                <a:latin typeface="Consolas"/>
              </a:rPr>
              <a:t>  4       WHERE </a:t>
            </a:r>
            <a:r>
              <a:rPr sz="1250" dirty="0" err="1">
                <a:solidFill>
                  <a:srgbClr val="F2F2F2"/>
                </a:solidFill>
                <a:latin typeface="Consolas"/>
              </a:rPr>
              <a:t>s.event</a:t>
            </a:r>
            <a:r>
              <a:rPr sz="1250" dirty="0">
                <a:solidFill>
                  <a:srgbClr val="F2F2F2"/>
                </a:solidFill>
                <a:latin typeface="Consolas"/>
              </a:rPr>
              <a:t>='</a:t>
            </a:r>
            <a:r>
              <a:rPr sz="1250" dirty="0" err="1">
                <a:solidFill>
                  <a:srgbClr val="F2F2F2"/>
                </a:solidFill>
                <a:latin typeface="Consolas"/>
              </a:rPr>
              <a:t>enq</a:t>
            </a:r>
            <a:r>
              <a:rPr sz="1250" dirty="0">
                <a:solidFill>
                  <a:srgbClr val="F2F2F2"/>
                </a:solidFill>
                <a:latin typeface="Consolas"/>
              </a:rPr>
              <a:t>: TX - row lock contention';</a:t>
            </a:r>
          </a:p>
          <a:p>
            <a:pPr>
              <a:lnSpc>
                <a:spcPct val="100000"/>
              </a:lnSpc>
              <a:spcAft>
                <a:spcPts val="0"/>
              </a:spcAft>
            </a:pPr>
            <a:r>
              <a:rPr sz="1250" dirty="0">
                <a:solidFill>
                  <a:srgbClr val="F2F2F2"/>
                </a:solidFill>
                <a:latin typeface="Consolas"/>
              </a:rPr>
              <a:t>  SID  EVENT                          BLOCKER  OBJ#  WAIT_S</a:t>
            </a:r>
          </a:p>
          <a:p>
            <a:pPr>
              <a:lnSpc>
                <a:spcPct val="100000"/>
              </a:lnSpc>
              <a:spcAft>
                <a:spcPts val="0"/>
              </a:spcAft>
            </a:pPr>
            <a:r>
              <a:rPr sz="1250" dirty="0">
                <a:solidFill>
                  <a:srgbClr val="F2F2F2"/>
                </a:solidFill>
                <a:latin typeface="Consolas"/>
              </a:rPr>
              <a:t>  ---  ----------------------------- -------- ----- ------</a:t>
            </a:r>
          </a:p>
          <a:p>
            <a:pPr>
              <a:lnSpc>
                <a:spcPct val="100000"/>
              </a:lnSpc>
              <a:spcAft>
                <a:spcPts val="0"/>
              </a:spcAft>
            </a:pPr>
            <a:r>
              <a:rPr sz="1250" dirty="0">
                <a:solidFill>
                  <a:srgbClr val="F2F2F2"/>
                </a:solidFill>
                <a:latin typeface="Consolas"/>
              </a:rPr>
              <a:t>  596  </a:t>
            </a:r>
            <a:r>
              <a:rPr sz="1250" dirty="0" err="1">
                <a:solidFill>
                  <a:srgbClr val="F2F2F2"/>
                </a:solidFill>
                <a:latin typeface="Consolas"/>
              </a:rPr>
              <a:t>enq</a:t>
            </a:r>
            <a:r>
              <a:rPr sz="1250" dirty="0">
                <a:solidFill>
                  <a:srgbClr val="F2F2F2"/>
                </a:solidFill>
                <a:latin typeface="Consolas"/>
              </a:rPr>
              <a:t>: TX - row lock contention      597 74198     46</a:t>
            </a:r>
          </a:p>
          <a:p>
            <a:pPr>
              <a:lnSpc>
                <a:spcPct val="100000"/>
              </a:lnSpc>
              <a:spcAft>
                <a:spcPts val="0"/>
              </a:spcAft>
            </a:pPr>
            <a:r>
              <a:rPr sz="1250" dirty="0">
                <a:solidFill>
                  <a:srgbClr val="F2F2F2"/>
                </a:solidFill>
                <a:latin typeface="Consolas"/>
              </a:rPr>
              <a:t> </a:t>
            </a:r>
          </a:p>
          <a:p>
            <a:pPr>
              <a:lnSpc>
                <a:spcPct val="100000"/>
              </a:lnSpc>
              <a:spcAft>
                <a:spcPts val="0"/>
              </a:spcAft>
            </a:pPr>
            <a:r>
              <a:rPr sz="1250" dirty="0" err="1">
                <a:solidFill>
                  <a:srgbClr val="F2F2F2"/>
                </a:solidFill>
                <a:latin typeface="Consolas"/>
              </a:rPr>
              <a:t>SYS@orcl</a:t>
            </a:r>
            <a:r>
              <a:rPr sz="1250" dirty="0">
                <a:solidFill>
                  <a:srgbClr val="F2F2F2"/>
                </a:solidFill>
                <a:latin typeface="Consolas"/>
              </a:rPr>
              <a:t>&gt; SELECT </a:t>
            </a:r>
            <a:r>
              <a:rPr sz="1250" dirty="0" err="1">
                <a:solidFill>
                  <a:srgbClr val="F2F2F2"/>
                </a:solidFill>
                <a:latin typeface="Consolas"/>
              </a:rPr>
              <a:t>sid</a:t>
            </a:r>
            <a:r>
              <a:rPr sz="1250" dirty="0">
                <a:solidFill>
                  <a:srgbClr val="F2F2F2"/>
                </a:solidFill>
                <a:latin typeface="Consolas"/>
              </a:rPr>
              <a:t>, status, event FROM </a:t>
            </a:r>
            <a:r>
              <a:rPr sz="1250" dirty="0" err="1">
                <a:solidFill>
                  <a:srgbClr val="F2F2F2"/>
                </a:solidFill>
                <a:latin typeface="Consolas"/>
              </a:rPr>
              <a:t>v$session</a:t>
            </a:r>
            <a:r>
              <a:rPr sz="1250" dirty="0">
                <a:solidFill>
                  <a:srgbClr val="F2F2F2"/>
                </a:solidFill>
                <a:latin typeface="Consolas"/>
              </a:rPr>
              <a:t> WHERE </a:t>
            </a:r>
            <a:r>
              <a:rPr sz="1250" dirty="0" err="1">
                <a:solidFill>
                  <a:srgbClr val="F2F2F2"/>
                </a:solidFill>
                <a:latin typeface="Consolas"/>
              </a:rPr>
              <a:t>sid</a:t>
            </a:r>
            <a:r>
              <a:rPr sz="1250" dirty="0">
                <a:solidFill>
                  <a:srgbClr val="F2F2F2"/>
                </a:solidFill>
                <a:latin typeface="Consolas"/>
              </a:rPr>
              <a:t>=597;</a:t>
            </a:r>
          </a:p>
          <a:p>
            <a:pPr>
              <a:lnSpc>
                <a:spcPct val="100000"/>
              </a:lnSpc>
              <a:spcAft>
                <a:spcPts val="0"/>
              </a:spcAft>
            </a:pPr>
            <a:r>
              <a:rPr sz="1250" dirty="0">
                <a:solidFill>
                  <a:srgbClr val="F2F2F2"/>
                </a:solidFill>
                <a:latin typeface="Consolas"/>
              </a:rPr>
              <a:t>  SID  STATUS   EVENT</a:t>
            </a:r>
          </a:p>
          <a:p>
            <a:pPr>
              <a:lnSpc>
                <a:spcPct val="100000"/>
              </a:lnSpc>
              <a:spcAft>
                <a:spcPts val="0"/>
              </a:spcAft>
            </a:pPr>
            <a:r>
              <a:rPr sz="1250" dirty="0">
                <a:solidFill>
                  <a:srgbClr val="F2F2F2"/>
                </a:solidFill>
                <a:latin typeface="Consolas"/>
              </a:rPr>
              <a:t>  ---  -------- ---------------------------</a:t>
            </a:r>
          </a:p>
          <a:p>
            <a:pPr>
              <a:lnSpc>
                <a:spcPct val="100000"/>
              </a:lnSpc>
              <a:spcAft>
                <a:spcPts val="0"/>
              </a:spcAft>
            </a:pPr>
            <a:r>
              <a:rPr sz="1250" dirty="0">
                <a:solidFill>
                  <a:srgbClr val="F2F2F2"/>
                </a:solidFill>
                <a:latin typeface="Consolas"/>
              </a:rPr>
              <a:t>  597  INACTIVE SQL*Net message from client</a:t>
            </a:r>
          </a:p>
        </p:txBody>
      </p:sp>
    </p:spTree>
    <p:extLst>
      <p:ext uri="{BB962C8B-B14F-4D97-AF65-F5344CB8AC3E}">
        <p14:creationId xmlns:p14="http://schemas.microsoft.com/office/powerpoint/2010/main" val="526852967"/>
      </p:ext>
    </p:extLst>
  </p:cSld>
  <p:clrMapOvr>
    <a:masterClrMapping/>
  </p:clrMapOvr>
</p:sld>
</file>

<file path=ppt/slides/slide10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실무 시나리오 · 블로커가 놀고 있다</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대기 사슬의 맨 끝을 보라</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여러 세션이 enq: TX로 쌓임</a:t>
            </a:r>
          </a:p>
          <a:p>
            <a:pPr algn="l">
              <a:spcAft>
                <a:spcPts val="800"/>
              </a:spcAft>
            </a:pPr>
            <a:r>
              <a:rPr sz="1700" b="0">
                <a:solidFill>
                  <a:srgbClr val="222222"/>
                </a:solidFill>
                <a:latin typeface="맑은 고딕"/>
              </a:rPr>
              <a:t>•  blocking_session을 타고 올라가면 최종 블로커 1개</a:t>
            </a:r>
          </a:p>
          <a:p>
            <a:pPr algn="l">
              <a:spcAft>
                <a:spcPts val="800"/>
              </a:spcAft>
            </a:pPr>
            <a:r>
              <a:rPr sz="1700" b="0">
                <a:solidFill>
                  <a:srgbClr val="222222"/>
                </a:solidFill>
                <a:latin typeface="맑은 고딕"/>
              </a:rPr>
              <a:t>•  블로커는 INACTIVE·트랜잭션 방치 상태</a:t>
            </a:r>
          </a:p>
          <a:p>
            <a:pPr algn="l">
              <a:spcAft>
                <a:spcPts val="800"/>
              </a:spcAft>
            </a:pPr>
            <a:r>
              <a:rPr sz="1700" b="0">
                <a:solidFill>
                  <a:srgbClr val="222222"/>
                </a:solidFill>
                <a:latin typeface="맑은 고딕"/>
              </a:rPr>
              <a:t>•  조치: 커밋/롤백 유도, 짧은 트랜잭션 설계</a:t>
            </a:r>
          </a:p>
        </p:txBody>
      </p:sp>
    </p:spTree>
    <p:extLst>
      <p:ext uri="{BB962C8B-B14F-4D97-AF65-F5344CB8AC3E}">
        <p14:creationId xmlns:p14="http://schemas.microsoft.com/office/powerpoint/2010/main" val="3637109386"/>
      </p:ext>
    </p:extLst>
  </p:cSld>
  <p:clrMapOvr>
    <a:masterClrMapping/>
  </p:clrMapOvr>
</p:sld>
</file>

<file path=ppt/slides/slide10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27.8</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Idle 오판 — Common Error</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rPr>
              <a:t>•  SQL*Net message from client</a:t>
            </a:r>
          </a:p>
          <a:p>
            <a:pPr algn="l">
              <a:spcAft>
                <a:spcPts val="600"/>
              </a:spcAft>
            </a:pPr>
            <a:r>
              <a:rPr sz="1600" b="0">
                <a:solidFill>
                  <a:srgbClr val="FFFFFF"/>
                </a:solidFill>
                <a:latin typeface="맑은 고딕"/>
              </a:rPr>
              <a:t>•  = DB가 노는 시간(Idle)</a:t>
            </a:r>
          </a:p>
          <a:p>
            <a:pPr algn="l">
              <a:spcAft>
                <a:spcPts val="600"/>
              </a:spcAft>
            </a:pPr>
            <a:r>
              <a:rPr sz="1600" b="0">
                <a:solidFill>
                  <a:srgbClr val="FFFFFF"/>
                </a:solidFill>
                <a:latin typeface="맑은 고딕"/>
              </a:rPr>
              <a:t>•  from ≠ to client</a:t>
            </a:r>
          </a:p>
          <a:p>
            <a:pPr algn="l">
              <a:spcAft>
                <a:spcPts val="600"/>
              </a:spcAft>
            </a:pPr>
            <a:r>
              <a:rPr sz="1600" b="0">
                <a:solidFill>
                  <a:srgbClr val="FFFFFF"/>
                </a:solidFill>
                <a:latin typeface="맑은 고딕"/>
              </a:rPr>
              <a:t>•  wait_class&lt;&gt;'Idle'이 첫 규율</a:t>
            </a:r>
          </a:p>
        </p:txBody>
      </p:sp>
    </p:spTree>
    <p:extLst>
      <p:ext uri="{BB962C8B-B14F-4D97-AF65-F5344CB8AC3E}">
        <p14:creationId xmlns:p14="http://schemas.microsoft.com/office/powerpoint/2010/main" val="987519474"/>
      </p:ext>
    </p:extLst>
  </p:cSld>
  <p:clrMapOvr>
    <a:masterClrMapping/>
  </p:clrMapOvr>
</p:sld>
</file>

<file path=ppt/slides/slide10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SQL*Net message from client</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병목이 아니라 유휴 시간</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 서버가 클라이언트의 다음 요청을 기다림</a:t>
            </a:r>
          </a:p>
          <a:p>
            <a:pPr algn="l">
              <a:spcAft>
                <a:spcPts val="800"/>
              </a:spcAft>
            </a:pPr>
            <a:r>
              <a:rPr sz="1700" b="0">
                <a:solidFill>
                  <a:srgbClr val="222222"/>
                </a:solidFill>
                <a:latin typeface="맑은 고딕"/>
              </a:rPr>
              <a:t>•  = 사용자 생각 시간 → DB가 놀고 있음(Idle)</a:t>
            </a:r>
          </a:p>
          <a:p>
            <a:pPr algn="l">
              <a:spcAft>
                <a:spcPts val="800"/>
              </a:spcAft>
            </a:pPr>
            <a:r>
              <a:rPr sz="1700" b="0">
                <a:solidFill>
                  <a:srgbClr val="222222"/>
                </a:solidFill>
                <a:latin typeface="맑은 고딕"/>
              </a:rPr>
              <a:t>•  총 대기 시간이 커도 병목 아님</a:t>
            </a:r>
          </a:p>
          <a:p>
            <a:pPr algn="l">
              <a:spcAft>
                <a:spcPts val="800"/>
              </a:spcAft>
            </a:pPr>
            <a:r>
              <a:rPr sz="1700" b="0">
                <a:solidFill>
                  <a:srgbClr val="222222"/>
                </a:solidFill>
                <a:latin typeface="맑은 고딕"/>
              </a:rPr>
              <a:t>•  from client(Idle) ≠ to client(Network)</a:t>
            </a:r>
          </a:p>
        </p:txBody>
      </p:sp>
    </p:spTree>
    <p:extLst>
      <p:ext uri="{BB962C8B-B14F-4D97-AF65-F5344CB8AC3E}">
        <p14:creationId xmlns:p14="http://schemas.microsoft.com/office/powerpoint/2010/main" val="1625195661"/>
      </p:ext>
    </p:extLst>
  </p:cSld>
  <p:clrMapOvr>
    <a:masterClrMapping/>
  </p:clrMapOvr>
</p:sld>
</file>

<file path=ppt/slides/slide10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Idle을 걸러내는 습관</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wait_class&lt;&gt;'Idle' 한 줄</a:t>
            </a:r>
          </a:p>
        </p:txBody>
      </p:sp>
      <p:sp>
        <p:nvSpPr>
          <p:cNvPr id="6" name="Rectangle 5"/>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tlCol="0" anchor="ctr"/>
          <a:lstStyle/>
          <a:p>
            <a:pPr>
              <a:lnSpc>
                <a:spcPct val="100000"/>
              </a:lnSpc>
              <a:spcAft>
                <a:spcPts val="0"/>
              </a:spcAft>
            </a:pPr>
            <a:r>
              <a:rPr sz="1250" dirty="0" err="1">
                <a:solidFill>
                  <a:srgbClr val="F2F2F2"/>
                </a:solidFill>
                <a:latin typeface="Consolas"/>
              </a:rPr>
              <a:t>SYS@orcl</a:t>
            </a:r>
            <a:r>
              <a:rPr sz="1250" dirty="0">
                <a:solidFill>
                  <a:srgbClr val="F2F2F2"/>
                </a:solidFill>
                <a:latin typeface="Consolas"/>
              </a:rPr>
              <a:t>&gt; -- </a:t>
            </a:r>
            <a:r>
              <a:rPr sz="1250" dirty="0" err="1">
                <a:solidFill>
                  <a:srgbClr val="F2F2F2"/>
                </a:solidFill>
                <a:latin typeface="Consolas"/>
              </a:rPr>
              <a:t>방법</a:t>
            </a:r>
            <a:r>
              <a:rPr sz="1250" dirty="0">
                <a:solidFill>
                  <a:srgbClr val="F2F2F2"/>
                </a:solidFill>
                <a:latin typeface="Consolas"/>
              </a:rPr>
              <a:t> 1: </a:t>
            </a:r>
            <a:r>
              <a:rPr sz="1250" dirty="0" err="1">
                <a:solidFill>
                  <a:srgbClr val="F2F2F2"/>
                </a:solidFill>
                <a:latin typeface="Consolas"/>
              </a:rPr>
              <a:t>wait_class로</a:t>
            </a:r>
            <a:r>
              <a:rPr sz="1250" dirty="0">
                <a:solidFill>
                  <a:srgbClr val="F2F2F2"/>
                </a:solidFill>
                <a:latin typeface="Consolas"/>
              </a:rPr>
              <a:t> </a:t>
            </a:r>
            <a:r>
              <a:rPr sz="1250" dirty="0" err="1">
                <a:solidFill>
                  <a:srgbClr val="F2F2F2"/>
                </a:solidFill>
                <a:latin typeface="Consolas"/>
              </a:rPr>
              <a:t>직접</a:t>
            </a:r>
            <a:r>
              <a:rPr sz="1250" dirty="0">
                <a:solidFill>
                  <a:srgbClr val="F2F2F2"/>
                </a:solidFill>
                <a:latin typeface="Consolas"/>
              </a:rPr>
              <a:t> </a:t>
            </a:r>
            <a:r>
              <a:rPr sz="1250" dirty="0" err="1">
                <a:solidFill>
                  <a:srgbClr val="F2F2F2"/>
                </a:solidFill>
                <a:latin typeface="Consolas"/>
              </a:rPr>
              <a:t>필터</a:t>
            </a:r>
            <a:r>
              <a:rPr sz="1250" dirty="0">
                <a:solidFill>
                  <a:srgbClr val="F2F2F2"/>
                </a:solidFill>
                <a:latin typeface="Consolas"/>
              </a:rPr>
              <a:t>(</a:t>
            </a:r>
            <a:r>
              <a:rPr sz="1250" dirty="0" err="1">
                <a:solidFill>
                  <a:srgbClr val="F2F2F2"/>
                </a:solidFill>
                <a:latin typeface="Consolas"/>
              </a:rPr>
              <a:t>권장</a:t>
            </a:r>
            <a:r>
              <a:rPr sz="1250" dirty="0">
                <a:solidFill>
                  <a:srgbClr val="F2F2F2"/>
                </a:solidFill>
                <a:latin typeface="Consolas"/>
              </a:rPr>
              <a:t>)</a:t>
            </a:r>
          </a:p>
          <a:p>
            <a:pPr>
              <a:lnSpc>
                <a:spcPct val="100000"/>
              </a:lnSpc>
              <a:spcAft>
                <a:spcPts val="0"/>
              </a:spcAft>
            </a:pPr>
            <a:r>
              <a:rPr sz="1250" dirty="0" err="1">
                <a:solidFill>
                  <a:srgbClr val="F2F2F2"/>
                </a:solidFill>
                <a:latin typeface="Consolas"/>
              </a:rPr>
              <a:t>SYS@orcl</a:t>
            </a:r>
            <a:r>
              <a:rPr sz="1250" dirty="0">
                <a:solidFill>
                  <a:srgbClr val="F2F2F2"/>
                </a:solidFill>
                <a:latin typeface="Consolas"/>
              </a:rPr>
              <a:t>&gt; SELECT event, </a:t>
            </a:r>
            <a:r>
              <a:rPr sz="1250" dirty="0" err="1">
                <a:solidFill>
                  <a:srgbClr val="F2F2F2"/>
                </a:solidFill>
                <a:latin typeface="Consolas"/>
              </a:rPr>
              <a:t>total_waits</a:t>
            </a:r>
            <a:r>
              <a:rPr sz="1250" dirty="0">
                <a:solidFill>
                  <a:srgbClr val="F2F2F2"/>
                </a:solidFill>
                <a:latin typeface="Consolas"/>
              </a:rPr>
              <a:t>, </a:t>
            </a:r>
            <a:r>
              <a:rPr sz="1250" dirty="0" err="1">
                <a:solidFill>
                  <a:srgbClr val="F2F2F2"/>
                </a:solidFill>
                <a:latin typeface="Consolas"/>
              </a:rPr>
              <a:t>time_waited</a:t>
            </a:r>
            <a:r>
              <a:rPr sz="1250" dirty="0">
                <a:solidFill>
                  <a:srgbClr val="F2F2F2"/>
                </a:solidFill>
                <a:latin typeface="Consolas"/>
              </a:rPr>
              <a:t>, </a:t>
            </a:r>
            <a:r>
              <a:rPr sz="1250" dirty="0" err="1">
                <a:solidFill>
                  <a:srgbClr val="F2F2F2"/>
                </a:solidFill>
                <a:latin typeface="Consolas"/>
              </a:rPr>
              <a:t>wait_class</a:t>
            </a:r>
            <a:endParaRPr sz="1250" dirty="0">
              <a:solidFill>
                <a:srgbClr val="F2F2F2"/>
              </a:solidFill>
              <a:latin typeface="Consolas"/>
            </a:endParaRPr>
          </a:p>
          <a:p>
            <a:pPr>
              <a:lnSpc>
                <a:spcPct val="100000"/>
              </a:lnSpc>
              <a:spcAft>
                <a:spcPts val="0"/>
              </a:spcAft>
            </a:pPr>
            <a:r>
              <a:rPr sz="1250" dirty="0">
                <a:solidFill>
                  <a:srgbClr val="F2F2F2"/>
                </a:solidFill>
                <a:latin typeface="Consolas"/>
              </a:rPr>
              <a:t>  2       FROM </a:t>
            </a:r>
            <a:r>
              <a:rPr sz="1250" dirty="0" err="1">
                <a:solidFill>
                  <a:srgbClr val="F2F2F2"/>
                </a:solidFill>
                <a:latin typeface="Consolas"/>
              </a:rPr>
              <a:t>v$system_event</a:t>
            </a:r>
            <a:endParaRPr sz="1250" dirty="0">
              <a:solidFill>
                <a:srgbClr val="F2F2F2"/>
              </a:solidFill>
              <a:latin typeface="Consolas"/>
            </a:endParaRPr>
          </a:p>
          <a:p>
            <a:pPr>
              <a:lnSpc>
                <a:spcPct val="100000"/>
              </a:lnSpc>
              <a:spcAft>
                <a:spcPts val="0"/>
              </a:spcAft>
            </a:pPr>
            <a:r>
              <a:rPr sz="1250" dirty="0">
                <a:solidFill>
                  <a:srgbClr val="F2F2F2"/>
                </a:solidFill>
                <a:latin typeface="Consolas"/>
              </a:rPr>
              <a:t>  3       WHERE </a:t>
            </a:r>
            <a:r>
              <a:rPr sz="1250" dirty="0" err="1">
                <a:solidFill>
                  <a:srgbClr val="F2F2F2"/>
                </a:solidFill>
                <a:latin typeface="Consolas"/>
              </a:rPr>
              <a:t>wait_class</a:t>
            </a:r>
            <a:r>
              <a:rPr sz="1250" dirty="0">
                <a:solidFill>
                  <a:srgbClr val="F2F2F2"/>
                </a:solidFill>
                <a:latin typeface="Consolas"/>
              </a:rPr>
              <a:t> &lt;&gt; 'Idle'</a:t>
            </a:r>
          </a:p>
          <a:p>
            <a:pPr>
              <a:lnSpc>
                <a:spcPct val="100000"/>
              </a:lnSpc>
              <a:spcAft>
                <a:spcPts val="0"/>
              </a:spcAft>
            </a:pPr>
            <a:r>
              <a:rPr sz="1250" dirty="0">
                <a:solidFill>
                  <a:srgbClr val="F2F2F2"/>
                </a:solidFill>
                <a:latin typeface="Consolas"/>
              </a:rPr>
              <a:t>  4       ORDER BY </a:t>
            </a:r>
            <a:r>
              <a:rPr sz="1250" dirty="0" err="1">
                <a:solidFill>
                  <a:srgbClr val="F2F2F2"/>
                </a:solidFill>
                <a:latin typeface="Consolas"/>
              </a:rPr>
              <a:t>time_waited</a:t>
            </a:r>
            <a:r>
              <a:rPr sz="1250" dirty="0">
                <a:solidFill>
                  <a:srgbClr val="F2F2F2"/>
                </a:solidFill>
                <a:latin typeface="Consolas"/>
              </a:rPr>
              <a:t> DESC FETCH FIRST 10 ROWS ONLY;</a:t>
            </a:r>
          </a:p>
          <a:p>
            <a:pPr>
              <a:lnSpc>
                <a:spcPct val="100000"/>
              </a:lnSpc>
              <a:spcAft>
                <a:spcPts val="0"/>
              </a:spcAft>
            </a:pPr>
            <a:r>
              <a:rPr sz="1250" dirty="0">
                <a:solidFill>
                  <a:srgbClr val="F2F2F2"/>
                </a:solidFill>
                <a:latin typeface="Consolas"/>
              </a:rPr>
              <a:t> </a:t>
            </a:r>
          </a:p>
          <a:p>
            <a:pPr>
              <a:lnSpc>
                <a:spcPct val="100000"/>
              </a:lnSpc>
              <a:spcAft>
                <a:spcPts val="0"/>
              </a:spcAft>
            </a:pPr>
            <a:r>
              <a:rPr sz="1250" dirty="0" err="1">
                <a:solidFill>
                  <a:srgbClr val="F2F2F2"/>
                </a:solidFill>
                <a:latin typeface="Consolas"/>
              </a:rPr>
              <a:t>SYS@orcl</a:t>
            </a:r>
            <a:r>
              <a:rPr sz="1250" dirty="0">
                <a:solidFill>
                  <a:srgbClr val="F2F2F2"/>
                </a:solidFill>
                <a:latin typeface="Consolas"/>
              </a:rPr>
              <a:t>&gt; -- </a:t>
            </a:r>
            <a:r>
              <a:rPr sz="1250" dirty="0" err="1">
                <a:solidFill>
                  <a:srgbClr val="F2F2F2"/>
                </a:solidFill>
                <a:latin typeface="Consolas"/>
              </a:rPr>
              <a:t>방법</a:t>
            </a:r>
            <a:r>
              <a:rPr sz="1250" dirty="0">
                <a:solidFill>
                  <a:srgbClr val="F2F2F2"/>
                </a:solidFill>
                <a:latin typeface="Consolas"/>
              </a:rPr>
              <a:t> 2: </a:t>
            </a:r>
            <a:r>
              <a:rPr sz="1250" dirty="0" err="1">
                <a:solidFill>
                  <a:srgbClr val="F2F2F2"/>
                </a:solidFill>
                <a:latin typeface="Consolas"/>
              </a:rPr>
              <a:t>V$EVENT_NAME으로</a:t>
            </a:r>
            <a:r>
              <a:rPr sz="1250" dirty="0">
                <a:solidFill>
                  <a:srgbClr val="F2F2F2"/>
                </a:solidFill>
                <a:latin typeface="Consolas"/>
              </a:rPr>
              <a:t> </a:t>
            </a:r>
            <a:r>
              <a:rPr sz="1250" dirty="0" err="1">
                <a:solidFill>
                  <a:srgbClr val="F2F2F2"/>
                </a:solidFill>
                <a:latin typeface="Consolas"/>
              </a:rPr>
              <a:t>Idle을</a:t>
            </a:r>
            <a:r>
              <a:rPr sz="1250" dirty="0">
                <a:solidFill>
                  <a:srgbClr val="F2F2F2"/>
                </a:solidFill>
                <a:latin typeface="Consolas"/>
              </a:rPr>
              <a:t> NOT IN </a:t>
            </a:r>
            <a:r>
              <a:rPr sz="1250" dirty="0" err="1">
                <a:solidFill>
                  <a:srgbClr val="F2F2F2"/>
                </a:solidFill>
                <a:latin typeface="Consolas"/>
              </a:rPr>
              <a:t>제외</a:t>
            </a:r>
            <a:endParaRPr sz="1250" dirty="0">
              <a:solidFill>
                <a:srgbClr val="F2F2F2"/>
              </a:solidFill>
              <a:latin typeface="Consolas"/>
            </a:endParaRPr>
          </a:p>
          <a:p>
            <a:pPr>
              <a:lnSpc>
                <a:spcPct val="100000"/>
              </a:lnSpc>
              <a:spcAft>
                <a:spcPts val="0"/>
              </a:spcAft>
            </a:pPr>
            <a:r>
              <a:rPr sz="1250" dirty="0" err="1">
                <a:solidFill>
                  <a:srgbClr val="F2F2F2"/>
                </a:solidFill>
                <a:latin typeface="Consolas"/>
              </a:rPr>
              <a:t>SYS@orcl</a:t>
            </a:r>
            <a:r>
              <a:rPr sz="1250" dirty="0">
                <a:solidFill>
                  <a:srgbClr val="F2F2F2"/>
                </a:solidFill>
                <a:latin typeface="Consolas"/>
              </a:rPr>
              <a:t>&gt; SELECT </a:t>
            </a:r>
            <a:r>
              <a:rPr sz="1250" dirty="0" err="1">
                <a:solidFill>
                  <a:srgbClr val="F2F2F2"/>
                </a:solidFill>
                <a:latin typeface="Consolas"/>
              </a:rPr>
              <a:t>e.event</a:t>
            </a:r>
            <a:r>
              <a:rPr sz="1250" dirty="0">
                <a:solidFill>
                  <a:srgbClr val="F2F2F2"/>
                </a:solidFill>
                <a:latin typeface="Consolas"/>
              </a:rPr>
              <a:t>, </a:t>
            </a:r>
            <a:r>
              <a:rPr sz="1250" dirty="0" err="1">
                <a:solidFill>
                  <a:srgbClr val="F2F2F2"/>
                </a:solidFill>
                <a:latin typeface="Consolas"/>
              </a:rPr>
              <a:t>e.time_waited</a:t>
            </a:r>
            <a:r>
              <a:rPr sz="1250" dirty="0">
                <a:solidFill>
                  <a:srgbClr val="F2F2F2"/>
                </a:solidFill>
                <a:latin typeface="Consolas"/>
              </a:rPr>
              <a:t> FROM </a:t>
            </a:r>
            <a:r>
              <a:rPr sz="1250" dirty="0" err="1">
                <a:solidFill>
                  <a:srgbClr val="F2F2F2"/>
                </a:solidFill>
                <a:latin typeface="Consolas"/>
              </a:rPr>
              <a:t>v$system_event</a:t>
            </a:r>
            <a:r>
              <a:rPr sz="1250" dirty="0">
                <a:solidFill>
                  <a:srgbClr val="F2F2F2"/>
                </a:solidFill>
                <a:latin typeface="Consolas"/>
              </a:rPr>
              <a:t> e</a:t>
            </a:r>
          </a:p>
          <a:p>
            <a:pPr>
              <a:lnSpc>
                <a:spcPct val="100000"/>
              </a:lnSpc>
              <a:spcAft>
                <a:spcPts val="0"/>
              </a:spcAft>
            </a:pPr>
            <a:r>
              <a:rPr sz="1250" dirty="0">
                <a:solidFill>
                  <a:srgbClr val="F2F2F2"/>
                </a:solidFill>
                <a:latin typeface="Consolas"/>
              </a:rPr>
              <a:t>  2       WHERE </a:t>
            </a:r>
            <a:r>
              <a:rPr sz="1250" dirty="0" err="1">
                <a:solidFill>
                  <a:srgbClr val="F2F2F2"/>
                </a:solidFill>
                <a:latin typeface="Consolas"/>
              </a:rPr>
              <a:t>e.event</a:t>
            </a:r>
            <a:r>
              <a:rPr sz="1250" dirty="0">
                <a:solidFill>
                  <a:srgbClr val="F2F2F2"/>
                </a:solidFill>
                <a:latin typeface="Consolas"/>
              </a:rPr>
              <a:t> NOT IN (SELECT name FROM </a:t>
            </a:r>
            <a:r>
              <a:rPr sz="1250" dirty="0" err="1">
                <a:solidFill>
                  <a:srgbClr val="F2F2F2"/>
                </a:solidFill>
                <a:latin typeface="Consolas"/>
              </a:rPr>
              <a:t>v$event_name</a:t>
            </a:r>
            <a:endParaRPr sz="1250" dirty="0">
              <a:solidFill>
                <a:srgbClr val="F2F2F2"/>
              </a:solidFill>
              <a:latin typeface="Consolas"/>
            </a:endParaRPr>
          </a:p>
          <a:p>
            <a:pPr>
              <a:lnSpc>
                <a:spcPct val="100000"/>
              </a:lnSpc>
              <a:spcAft>
                <a:spcPts val="0"/>
              </a:spcAft>
            </a:pPr>
            <a:r>
              <a:rPr sz="1250" dirty="0">
                <a:solidFill>
                  <a:srgbClr val="F2F2F2"/>
                </a:solidFill>
                <a:latin typeface="Consolas"/>
              </a:rPr>
              <a:t>  3                             WHERE </a:t>
            </a:r>
            <a:r>
              <a:rPr sz="1250" dirty="0" err="1">
                <a:solidFill>
                  <a:srgbClr val="F2F2F2"/>
                </a:solidFill>
                <a:latin typeface="Consolas"/>
              </a:rPr>
              <a:t>wait_class</a:t>
            </a:r>
            <a:r>
              <a:rPr sz="1250" dirty="0">
                <a:solidFill>
                  <a:srgbClr val="F2F2F2"/>
                </a:solidFill>
                <a:latin typeface="Consolas"/>
              </a:rPr>
              <a:t>='Idle')</a:t>
            </a:r>
          </a:p>
          <a:p>
            <a:pPr>
              <a:lnSpc>
                <a:spcPct val="100000"/>
              </a:lnSpc>
              <a:spcAft>
                <a:spcPts val="0"/>
              </a:spcAft>
            </a:pPr>
            <a:r>
              <a:rPr sz="1250" dirty="0">
                <a:solidFill>
                  <a:srgbClr val="F2F2F2"/>
                </a:solidFill>
                <a:latin typeface="Consolas"/>
              </a:rPr>
              <a:t>  4       ORDER BY </a:t>
            </a:r>
            <a:r>
              <a:rPr sz="1250" dirty="0" err="1">
                <a:solidFill>
                  <a:srgbClr val="F2F2F2"/>
                </a:solidFill>
                <a:latin typeface="Consolas"/>
              </a:rPr>
              <a:t>e.time_waited</a:t>
            </a:r>
            <a:r>
              <a:rPr sz="1250" dirty="0">
                <a:solidFill>
                  <a:srgbClr val="F2F2F2"/>
                </a:solidFill>
                <a:latin typeface="Consolas"/>
              </a:rPr>
              <a:t> DESC;</a:t>
            </a:r>
          </a:p>
          <a:p>
            <a:pPr>
              <a:lnSpc>
                <a:spcPct val="100000"/>
              </a:lnSpc>
              <a:spcAft>
                <a:spcPts val="0"/>
              </a:spcAft>
            </a:pPr>
            <a:r>
              <a:rPr sz="1250" dirty="0">
                <a:solidFill>
                  <a:srgbClr val="F2F2F2"/>
                </a:solidFill>
                <a:latin typeface="Consolas"/>
              </a:rPr>
              <a:t> </a:t>
            </a:r>
          </a:p>
          <a:p>
            <a:pPr>
              <a:lnSpc>
                <a:spcPct val="100000"/>
              </a:lnSpc>
              <a:spcAft>
                <a:spcPts val="0"/>
              </a:spcAft>
            </a:pPr>
            <a:r>
              <a:rPr sz="1250" dirty="0">
                <a:solidFill>
                  <a:srgbClr val="F2F2F2"/>
                </a:solidFill>
                <a:latin typeface="Consolas"/>
              </a:rPr>
              <a:t>-- to client 313388회지만 1초 / vector data 358초 = </a:t>
            </a:r>
            <a:r>
              <a:rPr sz="1250" dirty="0" err="1">
                <a:solidFill>
                  <a:srgbClr val="F2F2F2"/>
                </a:solidFill>
                <a:latin typeface="Consolas"/>
              </a:rPr>
              <a:t>대량</a:t>
            </a:r>
            <a:r>
              <a:rPr sz="1250" dirty="0">
                <a:solidFill>
                  <a:srgbClr val="F2F2F2"/>
                </a:solidFill>
                <a:latin typeface="Consolas"/>
              </a:rPr>
              <a:t> </a:t>
            </a:r>
            <a:r>
              <a:rPr sz="1250" dirty="0" err="1">
                <a:solidFill>
                  <a:srgbClr val="F2F2F2"/>
                </a:solidFill>
                <a:latin typeface="Consolas"/>
              </a:rPr>
              <a:t>전송</a:t>
            </a:r>
            <a:endParaRPr sz="1250" dirty="0">
              <a:solidFill>
                <a:srgbClr val="F2F2F2"/>
              </a:solidFill>
              <a:latin typeface="Consolas"/>
            </a:endParaRPr>
          </a:p>
        </p:txBody>
      </p:sp>
    </p:spTree>
    <p:extLst>
      <p:ext uri="{BB962C8B-B14F-4D97-AF65-F5344CB8AC3E}">
        <p14:creationId xmlns:p14="http://schemas.microsoft.com/office/powerpoint/2010/main" val="1613159752"/>
      </p:ext>
    </p:extLst>
  </p:cSld>
  <p:clrMapOvr>
    <a:masterClrMapping/>
  </p:clrMapOvr>
</p:sld>
</file>

<file path=ppt/slides/slide10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교훈 · 맨 위가 Idle이면</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필터를 빠뜨렸다는 신호</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'SQL*Net이 70% 최대 병목' 진단서 = 오판</a:t>
            </a:r>
          </a:p>
          <a:p>
            <a:pPr algn="l">
              <a:spcAft>
                <a:spcPts val="800"/>
              </a:spcAft>
            </a:pPr>
            <a:r>
              <a:rPr sz="1700" b="0">
                <a:solidFill>
                  <a:srgbClr val="222222"/>
                </a:solidFill>
                <a:latin typeface="맑은 고딕"/>
              </a:rPr>
              <a:t>•  네트워크·DB 병목이 아니라 유휴 시간</a:t>
            </a:r>
          </a:p>
          <a:p>
            <a:pPr algn="l">
              <a:spcAft>
                <a:spcPts val="800"/>
              </a:spcAft>
            </a:pPr>
            <a:r>
              <a:rPr sz="1700" b="0">
                <a:solidFill>
                  <a:srgbClr val="222222"/>
                </a:solidFill>
                <a:latin typeface="맑은 고딕"/>
              </a:rPr>
              <a:t>•  wait_class&lt;&gt;'Idle'로 재집계 → 진짜 병목 등장</a:t>
            </a:r>
          </a:p>
          <a:p>
            <a:pPr algn="l">
              <a:spcAft>
                <a:spcPts val="800"/>
              </a:spcAft>
            </a:pPr>
            <a:r>
              <a:rPr sz="1700" b="0">
                <a:solidFill>
                  <a:srgbClr val="222222"/>
                </a:solidFill>
                <a:latin typeface="맑은 고딕"/>
              </a:rPr>
              <a:t>•  대기 목록 맨 위 Idle = 발견이 아니라 누락 신호</a:t>
            </a:r>
          </a:p>
        </p:txBody>
      </p:sp>
    </p:spTree>
    <p:extLst>
      <p:ext uri="{BB962C8B-B14F-4D97-AF65-F5344CB8AC3E}">
        <p14:creationId xmlns:p14="http://schemas.microsoft.com/office/powerpoint/2010/main" val="3657178170"/>
      </p:ext>
    </p:extLst>
  </p:cSld>
  <p:clrMapOvr>
    <a:masterClrMapping/>
  </p:clrMapOvr>
</p:sld>
</file>

<file path=ppt/slides/slide10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퀴즈 (Quiz)</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600"/>
              </a:spcAft>
            </a:pPr>
            <a:r>
              <a:rPr sz="1600" b="0">
                <a:solidFill>
                  <a:srgbClr val="222222"/>
                </a:solidFill>
                <a:latin typeface="맑은 고딕"/>
              </a:rPr>
              <a:t>•  Q1. scattered read가 다중 블록(풀스캔)인 이유와 이름이 반대인 까닭은?</a:t>
            </a:r>
          </a:p>
          <a:p>
            <a:pPr algn="l">
              <a:spcAft>
                <a:spcPts val="600"/>
              </a:spcAft>
            </a:pPr>
            <a:r>
              <a:rPr sz="1600" b="0">
                <a:solidFill>
                  <a:srgbClr val="222222"/>
                </a:solidFill>
                <a:latin typeface="맑은 고딕"/>
              </a:rPr>
              <a:t>•  Q2. buffer busy로 멈춘 세션의 객체를 즉시 특정하는 V$SESSION 컬럼은?</a:t>
            </a:r>
          </a:p>
          <a:p>
            <a:pPr algn="l">
              <a:spcAft>
                <a:spcPts val="600"/>
              </a:spcAft>
            </a:pPr>
            <a:r>
              <a:rPr sz="1600" b="0">
                <a:solidFill>
                  <a:srgbClr val="222222"/>
                </a:solidFill>
                <a:latin typeface="맑은 고딕"/>
              </a:rPr>
              <a:t>•  Q3. log file sync 상위 — 디스크 교체 전 확인할 짝 이벤트와 평균 대기 시간은?</a:t>
            </a:r>
          </a:p>
          <a:p>
            <a:pPr algn="l">
              <a:spcAft>
                <a:spcPts val="600"/>
              </a:spcAft>
            </a:pPr>
            <a:r>
              <a:rPr sz="1600" b="0">
                <a:solidFill>
                  <a:srgbClr val="222222"/>
                </a:solidFill>
                <a:latin typeface="맑은 고딕"/>
              </a:rPr>
              <a:t>•  Q4. latch: shared pool 경합의 근본 원인과 처방은?</a:t>
            </a:r>
          </a:p>
          <a:p>
            <a:pPr algn="l">
              <a:spcAft>
                <a:spcPts val="600"/>
              </a:spcAft>
            </a:pPr>
            <a:r>
              <a:rPr sz="1600" b="0">
                <a:solidFill>
                  <a:srgbClr val="222222"/>
                </a:solidFill>
                <a:latin typeface="맑은 고딕"/>
              </a:rPr>
              <a:t>•  Q5. enq: TX 블로커가 INACTIVE·SQL*Net from client면 무엇을 뜻하나?</a:t>
            </a:r>
          </a:p>
          <a:p>
            <a:pPr algn="l">
              <a:spcAft>
                <a:spcPts val="600"/>
              </a:spcAft>
            </a:pPr>
            <a:r>
              <a:rPr sz="1600" b="0">
                <a:solidFill>
                  <a:srgbClr val="222222"/>
                </a:solidFill>
                <a:latin typeface="맑은 고딕"/>
              </a:rPr>
              <a:t>•  Q6. V$SYSTEM_EVENT 맨 위가 SQL*Net message from client — 무엇을 잘못했나?</a:t>
            </a:r>
          </a:p>
        </p:txBody>
      </p:sp>
    </p:spTree>
    <p:extLst>
      <p:ext uri="{BB962C8B-B14F-4D97-AF65-F5344CB8AC3E}">
        <p14:creationId xmlns:p14="http://schemas.microsoft.com/office/powerpoint/2010/main" val="3707941156"/>
      </p:ext>
    </p:extLst>
  </p:cSld>
  <p:clrMapOvr>
    <a:masterClrMapping/>
  </p:clrMapOvr>
</p:sld>
</file>

<file path=ppt/slides/slide10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요약 (Summary)</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600"/>
              </a:spcAft>
            </a:pPr>
            <a:r>
              <a:rPr sz="1500" b="0">
                <a:solidFill>
                  <a:srgbClr val="222222"/>
                </a:solidFill>
                <a:latin typeface="맑은 고딕"/>
              </a:rPr>
              <a:t>•  대기 이벤트는 증상 — 클래스로 방향 잡고 원천(SQL·세그먼트·세션)으로 내려간다.</a:t>
            </a:r>
          </a:p>
          <a:p>
            <a:pPr algn="l">
              <a:spcAft>
                <a:spcPts val="600"/>
              </a:spcAft>
            </a:pPr>
            <a:r>
              <a:rPr sz="1500" b="0">
                <a:solidFill>
                  <a:srgbClr val="222222"/>
                </a:solidFill>
                <a:latin typeface="맑은 고딕"/>
              </a:rPr>
              <a:t>•  sequential=단일 블록=인덱스, scattered=다중 블록=풀스캔.</a:t>
            </a:r>
          </a:p>
          <a:p>
            <a:pPr algn="l">
              <a:spcAft>
                <a:spcPts val="600"/>
              </a:spcAft>
            </a:pPr>
            <a:r>
              <a:rPr sz="1500" b="0">
                <a:solidFill>
                  <a:srgbClr val="222222"/>
                </a:solidFill>
                <a:latin typeface="맑은 고딕"/>
              </a:rPr>
              <a:t>•  buffer busy = 동시성. V$SEGMENT_STATISTICS·ROW_WAIT_OBJ#로 세그먼트 지목.</a:t>
            </a:r>
          </a:p>
          <a:p>
            <a:pPr algn="l">
              <a:spcAft>
                <a:spcPts val="600"/>
              </a:spcAft>
            </a:pPr>
            <a:r>
              <a:rPr sz="1500" b="0">
                <a:solidFill>
                  <a:srgbClr val="222222"/>
                </a:solidFill>
                <a:latin typeface="맑은 고딕"/>
              </a:rPr>
              <a:t>•  log file sync = 커밋 대기. parallel write·평균 대기로 디스크 vs 잦은 커밋 판별.</a:t>
            </a:r>
          </a:p>
          <a:p>
            <a:pPr algn="l">
              <a:spcAft>
                <a:spcPts val="600"/>
              </a:spcAft>
            </a:pPr>
            <a:r>
              <a:rPr sz="1500" b="0">
                <a:solidFill>
                  <a:srgbClr val="222222"/>
                </a:solidFill>
                <a:latin typeface="맑은 고딕"/>
              </a:rPr>
              <a:t>•  latch/mutex 경합의 배후는 하드 파싱 — 처방은 바인드 변수.</a:t>
            </a:r>
          </a:p>
          <a:p>
            <a:pPr algn="l">
              <a:spcAft>
                <a:spcPts val="600"/>
              </a:spcAft>
            </a:pPr>
            <a:r>
              <a:rPr sz="1500" b="0">
                <a:solidFill>
                  <a:srgbClr val="222222"/>
                </a:solidFill>
                <a:latin typeface="맑은 고딕"/>
              </a:rPr>
              <a:t>•  enq: TX = 애플리케이션 잠금. blocking_session으로 최종 블로커 역추적.</a:t>
            </a:r>
          </a:p>
          <a:p>
            <a:pPr algn="l">
              <a:spcAft>
                <a:spcPts val="600"/>
              </a:spcAft>
            </a:pPr>
            <a:r>
              <a:rPr sz="1500" b="0">
                <a:solidFill>
                  <a:srgbClr val="222222"/>
                </a:solidFill>
                <a:latin typeface="맑은 고딕"/>
              </a:rPr>
              <a:t>•  SQL*Net message from client는 Idle — wait_class&lt;&gt;'Idle'이 첫 규율.</a:t>
            </a:r>
          </a:p>
        </p:txBody>
      </p:sp>
    </p:spTree>
    <p:extLst>
      <p:ext uri="{BB962C8B-B14F-4D97-AF65-F5344CB8AC3E}">
        <p14:creationId xmlns:p14="http://schemas.microsoft.com/office/powerpoint/2010/main" val="2896426019"/>
      </p:ext>
    </p:extLst>
  </p:cSld>
  <p:clrMapOvr>
    <a:masterClrMapping/>
  </p:clrMapOvr>
</p:sld>
</file>

<file path=ppt/slides/slide10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실습 개요 (Practice Overview)</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600"/>
              </a:spcAft>
            </a:pPr>
            <a:r>
              <a:rPr sz="1600" b="0">
                <a:solidFill>
                  <a:srgbClr val="222222"/>
                </a:solidFill>
                <a:latin typeface="맑은 고딕"/>
              </a:rPr>
              <a:t>•  실습 01 — 대기 이벤트 분류 체계 확인(V$EVENT_NAME, 클래스별)</a:t>
            </a:r>
          </a:p>
          <a:p>
            <a:pPr algn="l">
              <a:spcAft>
                <a:spcPts val="600"/>
              </a:spcAft>
            </a:pPr>
            <a:r>
              <a:rPr sz="1600" b="0">
                <a:solidFill>
                  <a:srgbClr val="222222"/>
                </a:solidFill>
                <a:latin typeface="맑은 고딕"/>
              </a:rPr>
              <a:t>•  실습 02 — WL_02_io.sql로 db file sequential/scattered read 유발·구분</a:t>
            </a:r>
          </a:p>
          <a:p>
            <a:pPr algn="l">
              <a:spcAft>
                <a:spcPts val="600"/>
              </a:spcAft>
            </a:pPr>
            <a:r>
              <a:rPr sz="1600" b="0">
                <a:solidFill>
                  <a:srgbClr val="222222"/>
                </a:solidFill>
                <a:latin typeface="맑은 고딕"/>
              </a:rPr>
              <a:t>•  실습 03 — buffer busy waits 재현과 원인 세그먼트 지목</a:t>
            </a:r>
          </a:p>
          <a:p>
            <a:pPr algn="l">
              <a:spcAft>
                <a:spcPts val="600"/>
              </a:spcAft>
            </a:pPr>
            <a:r>
              <a:rPr sz="1600" b="0">
                <a:solidFill>
                  <a:srgbClr val="222222"/>
                </a:solidFill>
                <a:latin typeface="맑은 고딕"/>
              </a:rPr>
              <a:t>•  실습 04 — WL_05_commit.sql로 log file sync 재현 — 커밋 빈도</a:t>
            </a:r>
          </a:p>
          <a:p>
            <a:pPr algn="l">
              <a:spcAft>
                <a:spcPts val="600"/>
              </a:spcAft>
            </a:pPr>
            <a:r>
              <a:rPr sz="1600" b="0">
                <a:solidFill>
                  <a:srgbClr val="222222"/>
                </a:solidFill>
                <a:latin typeface="맑은 고딕"/>
              </a:rPr>
              <a:t>•  실습 05 — latch/mutex 경합 관찰 — 라이브러리 캐시 경합</a:t>
            </a:r>
          </a:p>
          <a:p>
            <a:pPr algn="l">
              <a:spcAft>
                <a:spcPts val="600"/>
              </a:spcAft>
            </a:pPr>
            <a:r>
              <a:rPr sz="1600" b="0">
                <a:solidFill>
                  <a:srgbClr val="222222"/>
                </a:solidFill>
                <a:latin typeface="맑은 고딕"/>
              </a:rPr>
              <a:t>•  실습 06 — WL_04_lock.sql로 enq: TX 재현과 블로커 추적</a:t>
            </a:r>
          </a:p>
          <a:p>
            <a:pPr algn="l">
              <a:spcAft>
                <a:spcPts val="600"/>
              </a:spcAft>
            </a:pPr>
            <a:r>
              <a:rPr sz="1600" b="0">
                <a:solidFill>
                  <a:srgbClr val="222222"/>
                </a:solidFill>
                <a:latin typeface="맑은 고딕"/>
              </a:rPr>
              <a:t>•  실습 07 — Idle 이벤트를 병목으로 오판하는 사례 재현과 교정</a:t>
            </a:r>
          </a:p>
        </p:txBody>
      </p:sp>
    </p:spTree>
    <p:extLst>
      <p:ext uri="{BB962C8B-B14F-4D97-AF65-F5344CB8AC3E}">
        <p14:creationId xmlns:p14="http://schemas.microsoft.com/office/powerpoint/2010/main" val="283623573"/>
      </p:ext>
    </p:extLst>
  </p:cSld>
  <p:clrMapOvr>
    <a:masterClrMapping/>
  </p:clrMapOvr>
</p:sld>
</file>

<file path=ppt/slides/slide10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457200"/>
            <a:ext cx="10698480" cy="548640"/>
          </a:xfrm>
          <a:prstGeom prst="rect">
            <a:avLst/>
          </a:prstGeom>
          <a:noFill/>
        </p:spPr>
        <p:txBody>
          <a:bodyPr wrap="square">
            <a:spAutoFit/>
          </a:bodyPr>
          <a:lstStyle/>
          <a:p>
            <a:r>
              <a:rPr sz="1600" b="1">
                <a:solidFill>
                  <a:srgbClr val="FFFFFF"/>
                </a:solidFill>
                <a:latin typeface="맑은 고딕"/>
              </a:rPr>
              <a:t>Oracle Database 19c 성능 튜닝 실무 과정</a:t>
            </a:r>
          </a:p>
        </p:txBody>
      </p:sp>
      <p:sp>
        <p:nvSpPr>
          <p:cNvPr id="6" name="TextBox 5"/>
          <p:cNvSpPr txBox="1"/>
          <p:nvPr/>
        </p:nvSpPr>
        <p:spPr>
          <a:xfrm>
            <a:off x="731520" y="2377440"/>
            <a:ext cx="10698480" cy="1554480"/>
          </a:xfrm>
          <a:prstGeom prst="rect">
            <a:avLst/>
          </a:prstGeom>
          <a:noFill/>
        </p:spPr>
        <p:txBody>
          <a:bodyPr wrap="square">
            <a:spAutoFit/>
          </a:bodyPr>
          <a:lstStyle/>
          <a:p>
            <a:r>
              <a:rPr sz="3400" b="1">
                <a:solidFill>
                  <a:srgbClr val="C0392B"/>
                </a:solidFill>
                <a:latin typeface="맑은 고딕"/>
              </a:rPr>
              <a:t>경고·메트릭 기반 상시 모니터링</a:t>
            </a:r>
          </a:p>
          <a:p>
            <a:r>
              <a:rPr sz="2000" b="0">
                <a:solidFill>
                  <a:srgbClr val="5A6672"/>
                </a:solidFill>
                <a:latin typeface="맑은 고딕"/>
              </a:rPr>
              <a:t>Server-Generated Alerts &amp; Metrics — 얼마로 잡고, 울리면 무엇부터 보는가</a:t>
            </a:r>
          </a:p>
        </p:txBody>
      </p:sp>
      <p:sp>
        <p:nvSpPr>
          <p:cNvPr id="7" name="TextBox 6"/>
          <p:cNvSpPr txBox="1"/>
          <p:nvPr/>
        </p:nvSpPr>
        <p:spPr>
          <a:xfrm>
            <a:off x="731520" y="4114800"/>
            <a:ext cx="10698480" cy="1097280"/>
          </a:xfrm>
          <a:prstGeom prst="rect">
            <a:avLst/>
          </a:prstGeom>
          <a:noFill/>
        </p:spPr>
        <p:txBody>
          <a:bodyPr wrap="square">
            <a:spAutoFit/>
          </a:bodyPr>
          <a:lstStyle/>
          <a:p>
            <a:r>
              <a:rPr sz="1500" b="0">
                <a:solidFill>
                  <a:srgbClr val="5A6672"/>
                </a:solidFill>
                <a:latin typeface="맑은 고딕"/>
              </a:rPr>
              <a:t>서버 생성 알림 · 임계값 산정(이력 분포) · 알림 대응 절차 · 세션·서비스 모니터링   (ADMIN 32장 흡수·심화)</a:t>
            </a:r>
          </a:p>
        </p:txBody>
      </p:sp>
      <p:sp>
        <p:nvSpPr>
          <p:cNvPr id="8" name="TextBox 7"/>
          <p:cNvSpPr txBox="1"/>
          <p:nvPr/>
        </p:nvSpPr>
        <p:spPr>
          <a:xfrm>
            <a:off x="731520" y="5577840"/>
            <a:ext cx="10698480" cy="914400"/>
          </a:xfrm>
          <a:prstGeom prst="rect">
            <a:avLst/>
          </a:prstGeom>
          <a:noFill/>
        </p:spPr>
        <p:txBody>
          <a:bodyPr wrap="square">
            <a:spAutoFit/>
          </a:bodyPr>
          <a:lstStyle/>
          <a:p>
            <a:r>
              <a:rPr sz="2000" b="1">
                <a:solidFill>
                  <a:srgbClr val="C0392B"/>
                </a:solidFill>
                <a:latin typeface="맑은 고딕"/>
              </a:rPr>
              <a:t>ch28</a:t>
            </a:r>
          </a:p>
        </p:txBody>
      </p:sp>
    </p:spTree>
    <p:extLst>
      <p:ext uri="{BB962C8B-B14F-4D97-AF65-F5344CB8AC3E}">
        <p14:creationId xmlns:p14="http://schemas.microsoft.com/office/powerpoint/2010/main" val="3029790571"/>
      </p:ext>
    </p:extLst>
  </p:cSld>
  <p:clrMapOvr>
    <a:masterClrMapping/>
  </p:clrMapOvr>
</p:sld>
</file>

<file path=ppt/slides/slide10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학습 목표 (Objectives)</a:t>
            </a:r>
          </a:p>
        </p:txBody>
      </p:sp>
      <p:sp>
        <p:nvSpPr>
          <p:cNvPr id="4" name="TextBox 3"/>
          <p:cNvSpPr txBox="1"/>
          <p:nvPr/>
        </p:nvSpPr>
        <p:spPr>
          <a:xfrm>
            <a:off x="640080" y="1371600"/>
            <a:ext cx="10881360" cy="5120640"/>
          </a:xfrm>
          <a:prstGeom prst="rect">
            <a:avLst/>
          </a:prstGeom>
          <a:noFill/>
        </p:spPr>
        <p:txBody>
          <a:bodyPr wrap="square">
            <a:spAutoFit/>
          </a:bodyPr>
          <a:lstStyle/>
          <a:p>
            <a:pPr>
              <a:spcAft>
                <a:spcPts val="600"/>
              </a:spcAft>
            </a:pPr>
            <a:r>
              <a:rPr sz="1600" b="0">
                <a:solidFill>
                  <a:srgbClr val="222222"/>
                </a:solidFill>
                <a:latin typeface="맑은 고딕"/>
              </a:rPr>
              <a:t>•  서버 생성 알림 구조(MMON·ALERT_QUE·딕셔너리 뷰)를 설명하고 Stateful/Stateless를 구분한다.</a:t>
            </a:r>
          </a:p>
          <a:p>
            <a:pPr>
              <a:spcAft>
                <a:spcPts val="600"/>
              </a:spcAft>
            </a:pPr>
            <a:r>
              <a:rPr sz="1600" b="0">
                <a:solidFill>
                  <a:srgbClr val="222222"/>
                </a:solidFill>
                <a:latin typeface="맑은 고딕"/>
              </a:rPr>
              <a:t>•  DBMS_SERVER_ALERT.SET_THRESHOLD로 임계값을 설정·조회·초기화한다.</a:t>
            </a:r>
          </a:p>
          <a:p>
            <a:pPr>
              <a:spcAft>
                <a:spcPts val="600"/>
              </a:spcAft>
            </a:pPr>
            <a:r>
              <a:rPr sz="1600" b="0">
                <a:solidFill>
                  <a:srgbClr val="222222"/>
                </a:solidFill>
                <a:latin typeface="맑은 고딕"/>
              </a:rPr>
              <a:t>•  DBA_HIST 이력 분포(p95·p99)에서 근거 있는 임계값을 산정한다. (이 장의 핵심)</a:t>
            </a:r>
          </a:p>
          <a:p>
            <a:pPr>
              <a:spcAft>
                <a:spcPts val="600"/>
              </a:spcAft>
            </a:pPr>
            <a:r>
              <a:rPr sz="1600" b="0">
                <a:solidFill>
                  <a:srgbClr val="222222"/>
                </a:solidFill>
                <a:latin typeface="맑은 고딕"/>
              </a:rPr>
              <a:t>•  알림이 울렸을 때 증상에서 원인으로 좁혀 가는 대응 절차를 수행한다.</a:t>
            </a:r>
          </a:p>
          <a:p>
            <a:pPr>
              <a:spcAft>
                <a:spcPts val="600"/>
              </a:spcAft>
            </a:pPr>
            <a:r>
              <a:rPr sz="1600" b="0">
                <a:solidFill>
                  <a:srgbClr val="222222"/>
                </a:solidFill>
                <a:latin typeface="맑은 고딕"/>
              </a:rPr>
              <a:t>•  V$SESSION_LONGOPS로 장기 작업을, V$SERVICE_STATS·V$SERVICEMETRIC로 업무별 성능을 관찰한다.</a:t>
            </a:r>
          </a:p>
          <a:p>
            <a:pPr>
              <a:spcAft>
                <a:spcPts val="600"/>
              </a:spcAft>
            </a:pPr>
            <a:r>
              <a:rPr sz="1600" b="0">
                <a:solidFill>
                  <a:srgbClr val="222222"/>
                </a:solidFill>
                <a:latin typeface="맑은 고딕"/>
              </a:rPr>
              <a:t>•  임계값을 낮게 잡을 때의 알림 피로(alert fatigue)를 이해하고 피한다.</a:t>
            </a:r>
          </a:p>
        </p:txBody>
      </p:sp>
    </p:spTree>
    <p:extLst>
      <p:ext uri="{BB962C8B-B14F-4D97-AF65-F5344CB8AC3E}">
        <p14:creationId xmlns:p14="http://schemas.microsoft.com/office/powerpoint/2010/main" val="1844684524"/>
      </p:ext>
    </p:extLst>
  </p:cSld>
  <p:clrMapOvr>
    <a:masterClrMapping/>
  </p:clrMapOvr>
</p:sld>
</file>

<file path=ppt/slides/slide10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이 장의 구성 (Agenda)</a:t>
            </a:r>
          </a:p>
        </p:txBody>
      </p:sp>
      <p:sp>
        <p:nvSpPr>
          <p:cNvPr id="4" name="TextBox 3"/>
          <p:cNvSpPr txBox="1"/>
          <p:nvPr/>
        </p:nvSpPr>
        <p:spPr>
          <a:xfrm>
            <a:off x="640080" y="1371600"/>
            <a:ext cx="10881360" cy="5120640"/>
          </a:xfrm>
          <a:prstGeom prst="rect">
            <a:avLst/>
          </a:prstGeom>
          <a:noFill/>
        </p:spPr>
        <p:txBody>
          <a:bodyPr wrap="square">
            <a:spAutoFit/>
          </a:bodyPr>
          <a:lstStyle/>
          <a:p>
            <a:pPr>
              <a:spcAft>
                <a:spcPts val="600"/>
              </a:spcAft>
            </a:pPr>
            <a:r>
              <a:rPr sz="1600" b="0">
                <a:solidFill>
                  <a:srgbClr val="222222"/>
                </a:solidFill>
                <a:latin typeface="맑은 고딕"/>
              </a:rPr>
              <a:t>•  28.2  서버 생성 알림의 구조 — 무엇이 언제 울리는가</a:t>
            </a:r>
          </a:p>
          <a:p>
            <a:pPr>
              <a:spcAft>
                <a:spcPts val="600"/>
              </a:spcAft>
            </a:pPr>
            <a:r>
              <a:rPr sz="1600" b="0">
                <a:solidFill>
                  <a:srgbClr val="222222"/>
                </a:solidFill>
                <a:latin typeface="맑은 고딕"/>
              </a:rPr>
              <a:t>•  28.3  메트릭 임계값 설정 — DBMS_SERVER_ALERT.SET_THRESHOLD</a:t>
            </a:r>
          </a:p>
          <a:p>
            <a:pPr>
              <a:spcAft>
                <a:spcPts val="600"/>
              </a:spcAft>
            </a:pPr>
            <a:r>
              <a:rPr sz="1600" b="0">
                <a:solidFill>
                  <a:srgbClr val="222222"/>
                </a:solidFill>
                <a:latin typeface="맑은 고딕"/>
              </a:rPr>
              <a:t>•  28.4  임계값을 얼마로 잡을 것인가 — 이력 분포 산정 (핵심 · 🔒)</a:t>
            </a:r>
          </a:p>
          <a:p>
            <a:pPr>
              <a:spcAft>
                <a:spcPts val="600"/>
              </a:spcAft>
            </a:pPr>
            <a:r>
              <a:rPr sz="1600" b="0">
                <a:solidFill>
                  <a:srgbClr val="222222"/>
                </a:solidFill>
                <a:latin typeface="맑은 고딕"/>
              </a:rPr>
              <a:t>•  28.5  알림 대응 절차 — 울렸을 때 무엇부터 보는가</a:t>
            </a:r>
          </a:p>
          <a:p>
            <a:pPr>
              <a:spcAft>
                <a:spcPts val="600"/>
              </a:spcAft>
            </a:pPr>
            <a:r>
              <a:rPr sz="1600" b="0">
                <a:solidFill>
                  <a:srgbClr val="222222"/>
                </a:solidFill>
                <a:latin typeface="맑은 고딕"/>
              </a:rPr>
              <a:t>•  28.6  세션 모니터링 — 활성 세션·장기 실행 작업</a:t>
            </a:r>
          </a:p>
          <a:p>
            <a:pPr>
              <a:spcAft>
                <a:spcPts val="600"/>
              </a:spcAft>
            </a:pPr>
            <a:r>
              <a:rPr sz="1600" b="0">
                <a:solidFill>
                  <a:srgbClr val="222222"/>
                </a:solidFill>
                <a:latin typeface="맑은 고딕"/>
              </a:rPr>
              <a:t>•  28.7  서비스 단위 모니터링 — 업무별로 나눠 본다</a:t>
            </a:r>
          </a:p>
          <a:p>
            <a:pPr>
              <a:spcAft>
                <a:spcPts val="600"/>
              </a:spcAft>
            </a:pPr>
            <a:r>
              <a:rPr sz="1600" b="0">
                <a:solidFill>
                  <a:srgbClr val="222222"/>
                </a:solidFill>
                <a:latin typeface="맑은 고딕"/>
              </a:rPr>
              <a:t>•  28.8  흔한 함정 — 임계값을 낮게 잡아 알림 피로</a:t>
            </a:r>
          </a:p>
          <a:p>
            <a:pPr>
              <a:spcAft>
                <a:spcPts val="600"/>
              </a:spcAft>
            </a:pPr>
            <a:r>
              <a:rPr sz="1600" b="0">
                <a:solidFill>
                  <a:srgbClr val="222222"/>
                </a:solidFill>
                <a:latin typeface="맑은 고딕"/>
              </a:rPr>
              <a:t>•  ※ ADMIN 32장이 '설정하는 법'이었다면, 이 장은 '얼마로 잡고 울리면 무엇부터 보는가'다.</a:t>
            </a:r>
          </a:p>
        </p:txBody>
      </p:sp>
    </p:spTree>
    <p:extLst>
      <p:ext uri="{BB962C8B-B14F-4D97-AF65-F5344CB8AC3E}">
        <p14:creationId xmlns:p14="http://schemas.microsoft.com/office/powerpoint/2010/main" val="3533807091"/>
      </p:ext>
    </p:extLst>
  </p:cSld>
  <p:clrMapOvr>
    <a:masterClrMapping/>
  </p:clrMapOvr>
</p:sld>
</file>

<file path=ppt/slides/slide10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28.2</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서버 생성 알림의 구조</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spcAft>
                <a:spcPts val="400"/>
              </a:spcAft>
            </a:pPr>
            <a:r>
              <a:rPr sz="1600" b="0">
                <a:solidFill>
                  <a:srgbClr val="FFFFFF"/>
                </a:solidFill>
                <a:latin typeface="맑은 고딕"/>
              </a:rPr>
              <a:t>•  폴링의 약점과 push 알림</a:t>
            </a:r>
          </a:p>
          <a:p>
            <a:pPr>
              <a:spcAft>
                <a:spcPts val="400"/>
              </a:spcAft>
            </a:pPr>
            <a:r>
              <a:rPr sz="1600" b="0">
                <a:solidFill>
                  <a:srgbClr val="FFFFFF"/>
                </a:solidFill>
                <a:latin typeface="맑은 고딕"/>
              </a:rPr>
              <a:t>•  MMON · ALERT_QUE</a:t>
            </a:r>
          </a:p>
          <a:p>
            <a:pPr>
              <a:spcAft>
                <a:spcPts val="400"/>
              </a:spcAft>
            </a:pPr>
            <a:r>
              <a:rPr sz="1600" b="0">
                <a:solidFill>
                  <a:srgbClr val="FFFFFF"/>
                </a:solidFill>
                <a:latin typeface="맑은 고딕"/>
              </a:rPr>
              <a:t>•  Stateful vs Stateless</a:t>
            </a:r>
          </a:p>
          <a:p>
            <a:pPr>
              <a:spcAft>
                <a:spcPts val="400"/>
              </a:spcAft>
            </a:pPr>
            <a:r>
              <a:rPr sz="1600" b="0">
                <a:solidFill>
                  <a:srgbClr val="FFFFFF"/>
                </a:solidFill>
                <a:latin typeface="맑은 고딕"/>
              </a:rPr>
              <a:t>•  미해소·이력 딕셔너리 뷰</a:t>
            </a:r>
          </a:p>
        </p:txBody>
      </p:sp>
    </p:spTree>
    <p:extLst>
      <p:ext uri="{BB962C8B-B14F-4D97-AF65-F5344CB8AC3E}">
        <p14:creationId xmlns:p14="http://schemas.microsoft.com/office/powerpoint/2010/main" val="3918353511"/>
      </p:ext>
    </p:extLst>
  </p:cSld>
  <p:clrMapOvr>
    <a:masterClrMapping/>
  </p:clrMapOvr>
</p:sld>
</file>

<file path=ppt/slides/slide10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폴링에서 서버 생성 알림으로</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감시 로직을 커널 안으로</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전통적 감시 = DBA 스크립트로 주기적 폴링 → 사각지대·부하·유지 부담</a:t>
            </a:r>
          </a:p>
          <a:p>
            <a:pPr>
              <a:spcAft>
                <a:spcPts val="800"/>
              </a:spcAft>
            </a:pPr>
            <a:r>
              <a:rPr sz="1700" b="0">
                <a:solidFill>
                  <a:srgbClr val="222222"/>
                </a:solidFill>
                <a:latin typeface="맑은 고딕"/>
              </a:rPr>
              <a:t>•  서버 생성 알림 = 서버가 스스로 상태를 감시해 문제 시 알림 발생</a:t>
            </a:r>
          </a:p>
          <a:p>
            <a:pPr>
              <a:spcAft>
                <a:spcPts val="800"/>
              </a:spcAft>
            </a:pPr>
            <a:r>
              <a:rPr sz="1700" b="0">
                <a:solidFill>
                  <a:srgbClr val="222222"/>
                </a:solidFill>
                <a:latin typeface="맑은 고딕"/>
              </a:rPr>
              <a:t>•  감시 주체 = MMON. 임계값 초과 시 ALERT_QUE(Advanced Queuing)에 등록</a:t>
            </a:r>
          </a:p>
          <a:p>
            <a:pPr>
              <a:spcAft>
                <a:spcPts val="800"/>
              </a:spcAft>
            </a:pPr>
            <a:r>
              <a:rPr sz="1700" b="0">
                <a:solidFill>
                  <a:srgbClr val="222222"/>
                </a:solidFill>
                <a:latin typeface="맑은 고딕"/>
              </a:rPr>
              <a:t>•  폴링이 아니라 사건 발생 시점의 즉시 통지(push) 구조</a:t>
            </a:r>
          </a:p>
        </p:txBody>
      </p:sp>
    </p:spTree>
    <p:extLst>
      <p:ext uri="{BB962C8B-B14F-4D97-AF65-F5344CB8AC3E}">
        <p14:creationId xmlns:p14="http://schemas.microsoft.com/office/powerpoint/2010/main" val="732463038"/>
      </p:ext>
    </p:extLst>
  </p:cSld>
  <p:clrMapOvr>
    <a:masterClrMapping/>
  </p:clrMapOvr>
</p:sld>
</file>

<file path=ppt/slides/slide10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알림 소비 경로와 사전 정의 알림</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원천은 하나, 소비는 두 갈래</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소비 ① EM이 ALERT_QUE 구독 → 콘솔 표시·이메일·페이지 통지</a:t>
            </a:r>
          </a:p>
          <a:p>
            <a:pPr>
              <a:spcAft>
                <a:spcPts val="800"/>
              </a:spcAft>
            </a:pPr>
            <a:r>
              <a:rPr sz="1700" b="0">
                <a:solidFill>
                  <a:srgbClr val="222222"/>
                </a:solidFill>
                <a:latin typeface="맑은 고딕"/>
              </a:rPr>
              <a:t>•  소비 ② 딕셔너리 뷰 직접 조회 또는 DBMS_AQ로 큐 디큐</a:t>
            </a:r>
          </a:p>
          <a:p>
            <a:pPr>
              <a:spcAft>
                <a:spcPts val="800"/>
              </a:spcAft>
            </a:pPr>
            <a:r>
              <a:rPr sz="1700" b="0">
                <a:solidFill>
                  <a:srgbClr val="222222"/>
                </a:solidFill>
                <a:latin typeface="맑은 고딕"/>
              </a:rPr>
              <a:t>•  사전 정의 알림: Tablespace Space Usage(85/97), Snapshot Too Old 등</a:t>
            </a:r>
          </a:p>
          <a:p>
            <a:pPr>
              <a:spcAft>
                <a:spcPts val="800"/>
              </a:spcAft>
            </a:pPr>
            <a:r>
              <a:rPr sz="1700" b="0">
                <a:solidFill>
                  <a:srgbClr val="222222"/>
                </a:solidFill>
                <a:latin typeface="맑은 고딕"/>
              </a:rPr>
              <a:t>•  사용자 알림: 임계값을 지정해야 활성화(응답시간·활성 세션 등)</a:t>
            </a:r>
          </a:p>
        </p:txBody>
      </p:sp>
    </p:spTree>
    <p:extLst>
      <p:ext uri="{BB962C8B-B14F-4D97-AF65-F5344CB8AC3E}">
        <p14:creationId xmlns:p14="http://schemas.microsoft.com/office/powerpoint/2010/main" val="1175325915"/>
      </p:ext>
    </p:extLst>
  </p:cSld>
  <p:clrMapOvr>
    <a:masterClrMapping/>
  </p:clrMapOvr>
</p:sld>
</file>

<file path=ppt/slides/slide10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Stateful vs Stateless 알림</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대응 목표가 다르다</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Stateful = 조건이 지속되는 '동안' 유지되는 상태(예: 테이블스페이스 사용률)</a:t>
            </a:r>
          </a:p>
          <a:p>
            <a:pPr>
              <a:spcAft>
                <a:spcPts val="800"/>
              </a:spcAft>
            </a:pPr>
            <a:r>
              <a:rPr sz="1700" b="0">
                <a:solidFill>
                  <a:srgbClr val="222222"/>
                </a:solidFill>
                <a:latin typeface="맑은 고딕"/>
              </a:rPr>
              <a:t>•    → DBA_OUTSTANDING_ALERTS에 남아 있다가 조건 해소 시 자동 clear</a:t>
            </a:r>
          </a:p>
          <a:p>
            <a:pPr>
              <a:spcAft>
                <a:spcPts val="800"/>
              </a:spcAft>
            </a:pPr>
            <a:r>
              <a:rPr sz="1700" b="0">
                <a:solidFill>
                  <a:srgbClr val="222222"/>
                </a:solidFill>
                <a:latin typeface="맑은 고딕"/>
              </a:rPr>
              <a:t>•  Stateless = 특정 시점의 사건(예: Snapshot Too Old·인스턴스 up/down)</a:t>
            </a:r>
          </a:p>
          <a:p>
            <a:pPr>
              <a:spcAft>
                <a:spcPts val="800"/>
              </a:spcAft>
            </a:pPr>
            <a:r>
              <a:rPr sz="1700" b="0">
                <a:solidFill>
                  <a:srgbClr val="222222"/>
                </a:solidFill>
                <a:latin typeface="맑은 고딕"/>
              </a:rPr>
              <a:t>•    → 해소 개념 없이 곧바로 DBA_ALERT_HISTORY로 기록</a:t>
            </a:r>
          </a:p>
          <a:p>
            <a:pPr>
              <a:spcAft>
                <a:spcPts val="800"/>
              </a:spcAft>
            </a:pPr>
            <a:r>
              <a:rPr sz="1700" b="0">
                <a:solidFill>
                  <a:srgbClr val="222222"/>
                </a:solidFill>
                <a:latin typeface="맑은 고딕"/>
              </a:rPr>
              <a:t>•  대응: Stateful=원인 제거 / Stateless=사후 원인 확인</a:t>
            </a:r>
          </a:p>
        </p:txBody>
      </p:sp>
    </p:spTree>
    <p:extLst>
      <p:ext uri="{BB962C8B-B14F-4D97-AF65-F5344CB8AC3E}">
        <p14:creationId xmlns:p14="http://schemas.microsoft.com/office/powerpoint/2010/main" val="2254676635"/>
      </p:ext>
    </p:extLst>
  </p:cSld>
  <p:clrMapOvr>
    <a:masterClrMapping/>
  </p:clrMapOvr>
</p:sld>
</file>

<file path=ppt/slides/slide10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미해소 알림 조회 (Stateful)</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DBA_OUTSTANDING_ALERTS — 실측</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27000" tIns="101600" rtlCol="0" anchor="ctr"/>
          <a:lstStyle/>
          <a:p>
            <a:pPr>
              <a:lnSpc>
                <a:spcPct val="100000"/>
              </a:lnSpc>
              <a:spcAft>
                <a:spcPts val="0"/>
              </a:spcAft>
            </a:pPr>
            <a:r>
              <a:rPr sz="1250" b="0" dirty="0" err="1">
                <a:solidFill>
                  <a:srgbClr val="F2F2F2"/>
                </a:solidFill>
                <a:latin typeface="Consolas"/>
              </a:rPr>
              <a:t>SYS@orcl</a:t>
            </a:r>
            <a:r>
              <a:rPr sz="1250" b="0" dirty="0">
                <a:solidFill>
                  <a:srgbClr val="F2F2F2"/>
                </a:solidFill>
                <a:latin typeface="Consolas"/>
              </a:rPr>
              <a:t>&gt; SELECT reason, </a:t>
            </a:r>
            <a:r>
              <a:rPr sz="1250" b="0" dirty="0" err="1">
                <a:solidFill>
                  <a:srgbClr val="F2F2F2"/>
                </a:solidFill>
                <a:latin typeface="Consolas"/>
              </a:rPr>
              <a:t>message_level</a:t>
            </a:r>
            <a:r>
              <a:rPr sz="1250" b="0" dirty="0">
                <a:solidFill>
                  <a:srgbClr val="F2F2F2"/>
                </a:solidFill>
                <a:latin typeface="Consolas"/>
              </a:rPr>
              <a:t>,</a:t>
            </a:r>
          </a:p>
          <a:p>
            <a:pPr>
              <a:lnSpc>
                <a:spcPct val="100000"/>
              </a:lnSpc>
              <a:spcAft>
                <a:spcPts val="0"/>
              </a:spcAft>
            </a:pPr>
            <a:r>
              <a:rPr sz="1250" b="0" dirty="0">
                <a:solidFill>
                  <a:srgbClr val="F2F2F2"/>
                </a:solidFill>
                <a:latin typeface="Consolas"/>
              </a:rPr>
              <a:t>  2         TO_CHAR(</a:t>
            </a:r>
            <a:r>
              <a:rPr sz="1250" b="0" dirty="0" err="1">
                <a:solidFill>
                  <a:srgbClr val="F2F2F2"/>
                </a:solidFill>
                <a:latin typeface="Consolas"/>
              </a:rPr>
              <a:t>creation_time,'MM</a:t>
            </a:r>
            <a:r>
              <a:rPr sz="1250" b="0" dirty="0">
                <a:solidFill>
                  <a:srgbClr val="F2F2F2"/>
                </a:solidFill>
                <a:latin typeface="Consolas"/>
              </a:rPr>
              <a:t>-DD HH24:MI') created</a:t>
            </a:r>
          </a:p>
          <a:p>
            <a:pPr>
              <a:lnSpc>
                <a:spcPct val="100000"/>
              </a:lnSpc>
              <a:spcAft>
                <a:spcPts val="0"/>
              </a:spcAft>
            </a:pPr>
            <a:r>
              <a:rPr sz="1250" b="0" dirty="0">
                <a:solidFill>
                  <a:srgbClr val="F2F2F2"/>
                </a:solidFill>
                <a:latin typeface="Consolas"/>
              </a:rPr>
              <a:t>  3       FROM  </a:t>
            </a:r>
            <a:r>
              <a:rPr sz="1250" b="0" dirty="0" err="1">
                <a:solidFill>
                  <a:srgbClr val="F2F2F2"/>
                </a:solidFill>
                <a:latin typeface="Consolas"/>
              </a:rPr>
              <a:t>dba_outstanding_alerts</a:t>
            </a:r>
            <a:r>
              <a:rPr sz="1250" b="0" dirty="0">
                <a:solidFill>
                  <a:srgbClr val="F2F2F2"/>
                </a:solidFill>
                <a:latin typeface="Consolas"/>
              </a:rPr>
              <a:t> WHERE </a:t>
            </a:r>
            <a:r>
              <a:rPr sz="1250" b="0" dirty="0" err="1">
                <a:solidFill>
                  <a:srgbClr val="F2F2F2"/>
                </a:solidFill>
                <a:latin typeface="Consolas"/>
              </a:rPr>
              <a:t>rownum</a:t>
            </a:r>
            <a:r>
              <a:rPr sz="1250" b="0" dirty="0">
                <a:solidFill>
                  <a:srgbClr val="F2F2F2"/>
                </a:solidFill>
                <a:latin typeface="Consolas"/>
              </a:rPr>
              <a:t>&lt;=10;</a:t>
            </a:r>
          </a:p>
          <a:p>
            <a:pPr>
              <a:lnSpc>
                <a:spcPct val="100000"/>
              </a:lnSpc>
              <a:spcAft>
                <a:spcPts val="0"/>
              </a:spcAft>
            </a:pPr>
            <a:r>
              <a:rPr sz="1250" b="0" dirty="0">
                <a:solidFill>
                  <a:srgbClr val="F2F2F2"/>
                </a:solidFill>
                <a:latin typeface="Consolas"/>
              </a:rPr>
              <a:t> </a:t>
            </a:r>
          </a:p>
          <a:p>
            <a:pPr>
              <a:lnSpc>
                <a:spcPct val="100000"/>
              </a:lnSpc>
              <a:spcAft>
                <a:spcPts val="0"/>
              </a:spcAft>
            </a:pPr>
            <a:r>
              <a:rPr sz="1250" b="0" dirty="0">
                <a:solidFill>
                  <a:srgbClr val="F2F2F2"/>
                </a:solidFill>
                <a:latin typeface="Consolas"/>
              </a:rPr>
              <a:t>REASON                                MESSAGE_LEVEL CREATED</a:t>
            </a:r>
          </a:p>
          <a:p>
            <a:pPr>
              <a:lnSpc>
                <a:spcPct val="100000"/>
              </a:lnSpc>
              <a:spcAft>
                <a:spcPts val="0"/>
              </a:spcAft>
            </a:pPr>
            <a:r>
              <a:rPr sz="1250" b="0" dirty="0">
                <a:solidFill>
                  <a:srgbClr val="F2F2F2"/>
                </a:solidFill>
                <a:latin typeface="Consolas"/>
              </a:rPr>
              <a:t>------------------------------------- ------------- -----------</a:t>
            </a:r>
          </a:p>
          <a:p>
            <a:pPr>
              <a:lnSpc>
                <a:spcPct val="100000"/>
              </a:lnSpc>
              <a:spcAft>
                <a:spcPts val="0"/>
              </a:spcAft>
            </a:pPr>
            <a:r>
              <a:rPr sz="1250" b="0" dirty="0">
                <a:solidFill>
                  <a:srgbClr val="F2F2F2"/>
                </a:solidFill>
                <a:latin typeface="Consolas"/>
              </a:rPr>
              <a:t>Tablespace [RTBS] is [100 percent] full           1 08-10 10:20</a:t>
            </a:r>
          </a:p>
        </p:txBody>
      </p:sp>
    </p:spTree>
    <p:extLst>
      <p:ext uri="{BB962C8B-B14F-4D97-AF65-F5344CB8AC3E}">
        <p14:creationId xmlns:p14="http://schemas.microsoft.com/office/powerpoint/2010/main" val="3326613080"/>
      </p:ext>
    </p:extLst>
  </p:cSld>
  <p:clrMapOvr>
    <a:masterClrMapping/>
  </p:clrMapOvr>
</p:sld>
</file>

<file path=ppt/slides/slide10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알림 이력 조회 (Stateless)</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DBA_ALERT_HISTORY — 실측</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27000" tIns="101600" rtlCol="0" anchor="ctr"/>
          <a:lstStyle/>
          <a:p>
            <a:pPr>
              <a:lnSpc>
                <a:spcPct val="100000"/>
              </a:lnSpc>
              <a:spcAft>
                <a:spcPts val="0"/>
              </a:spcAft>
            </a:pPr>
            <a:r>
              <a:rPr sz="1250" b="0" dirty="0" err="1">
                <a:solidFill>
                  <a:srgbClr val="F2F2F2"/>
                </a:solidFill>
                <a:latin typeface="Consolas"/>
              </a:rPr>
              <a:t>SYS@orcl</a:t>
            </a:r>
            <a:r>
              <a:rPr sz="1250" b="0" dirty="0">
                <a:solidFill>
                  <a:srgbClr val="F2F2F2"/>
                </a:solidFill>
                <a:latin typeface="Consolas"/>
              </a:rPr>
              <a:t>&gt; SELECT SUBSTR(reason,1,44) reason,</a:t>
            </a:r>
          </a:p>
          <a:p>
            <a:pPr>
              <a:lnSpc>
                <a:spcPct val="100000"/>
              </a:lnSpc>
              <a:spcAft>
                <a:spcPts val="0"/>
              </a:spcAft>
            </a:pPr>
            <a:r>
              <a:rPr sz="1250" b="0" dirty="0">
                <a:solidFill>
                  <a:srgbClr val="F2F2F2"/>
                </a:solidFill>
                <a:latin typeface="Consolas"/>
              </a:rPr>
              <a:t>  2         TO_CHAR(</a:t>
            </a:r>
            <a:r>
              <a:rPr sz="1250" b="0" dirty="0" err="1">
                <a:solidFill>
                  <a:srgbClr val="F2F2F2"/>
                </a:solidFill>
                <a:latin typeface="Consolas"/>
              </a:rPr>
              <a:t>creation_time,'MM</a:t>
            </a:r>
            <a:r>
              <a:rPr sz="1250" b="0" dirty="0">
                <a:solidFill>
                  <a:srgbClr val="F2F2F2"/>
                </a:solidFill>
                <a:latin typeface="Consolas"/>
              </a:rPr>
              <a:t>-DD HH24:MI') created</a:t>
            </a:r>
          </a:p>
          <a:p>
            <a:pPr>
              <a:lnSpc>
                <a:spcPct val="100000"/>
              </a:lnSpc>
              <a:spcAft>
                <a:spcPts val="0"/>
              </a:spcAft>
            </a:pPr>
            <a:r>
              <a:rPr sz="1250" b="0" dirty="0">
                <a:solidFill>
                  <a:srgbClr val="F2F2F2"/>
                </a:solidFill>
                <a:latin typeface="Consolas"/>
              </a:rPr>
              <a:t>  3       FROM (SELECT </a:t>
            </a:r>
            <a:r>
              <a:rPr sz="1250" b="0" dirty="0" err="1">
                <a:solidFill>
                  <a:srgbClr val="F2F2F2"/>
                </a:solidFill>
                <a:latin typeface="Consolas"/>
              </a:rPr>
              <a:t>reason,creation_time</a:t>
            </a:r>
            <a:r>
              <a:rPr sz="1250" b="0" dirty="0">
                <a:solidFill>
                  <a:srgbClr val="F2F2F2"/>
                </a:solidFill>
                <a:latin typeface="Consolas"/>
              </a:rPr>
              <a:t> FROM </a:t>
            </a:r>
            <a:r>
              <a:rPr sz="1250" b="0" dirty="0" err="1">
                <a:solidFill>
                  <a:srgbClr val="F2F2F2"/>
                </a:solidFill>
                <a:latin typeface="Consolas"/>
              </a:rPr>
              <a:t>dba_alert_history</a:t>
            </a:r>
            <a:endParaRPr sz="1250" b="0" dirty="0">
              <a:solidFill>
                <a:srgbClr val="F2F2F2"/>
              </a:solidFill>
              <a:latin typeface="Consolas"/>
            </a:endParaRPr>
          </a:p>
          <a:p>
            <a:pPr>
              <a:lnSpc>
                <a:spcPct val="100000"/>
              </a:lnSpc>
              <a:spcAft>
                <a:spcPts val="0"/>
              </a:spcAft>
            </a:pPr>
            <a:r>
              <a:rPr sz="1250" b="0" dirty="0">
                <a:solidFill>
                  <a:srgbClr val="F2F2F2"/>
                </a:solidFill>
                <a:latin typeface="Consolas"/>
              </a:rPr>
              <a:t>  4             ORDER BY </a:t>
            </a:r>
            <a:r>
              <a:rPr sz="1250" b="0" dirty="0" err="1">
                <a:solidFill>
                  <a:srgbClr val="F2F2F2"/>
                </a:solidFill>
                <a:latin typeface="Consolas"/>
              </a:rPr>
              <a:t>creation_time</a:t>
            </a:r>
            <a:r>
              <a:rPr sz="1250" b="0" dirty="0">
                <a:solidFill>
                  <a:srgbClr val="F2F2F2"/>
                </a:solidFill>
                <a:latin typeface="Consolas"/>
              </a:rPr>
              <a:t> DESC) WHERE </a:t>
            </a:r>
            <a:r>
              <a:rPr sz="1250" b="0" dirty="0" err="1">
                <a:solidFill>
                  <a:srgbClr val="F2F2F2"/>
                </a:solidFill>
                <a:latin typeface="Consolas"/>
              </a:rPr>
              <a:t>rownum</a:t>
            </a:r>
            <a:r>
              <a:rPr sz="1250" b="0" dirty="0">
                <a:solidFill>
                  <a:srgbClr val="F2F2F2"/>
                </a:solidFill>
                <a:latin typeface="Consolas"/>
              </a:rPr>
              <a:t>&lt;=10;</a:t>
            </a:r>
          </a:p>
          <a:p>
            <a:pPr>
              <a:lnSpc>
                <a:spcPct val="100000"/>
              </a:lnSpc>
              <a:spcAft>
                <a:spcPts val="0"/>
              </a:spcAft>
            </a:pPr>
            <a:r>
              <a:rPr sz="1250" b="0" dirty="0">
                <a:solidFill>
                  <a:srgbClr val="F2F2F2"/>
                </a:solidFill>
                <a:latin typeface="Consolas"/>
              </a:rPr>
              <a:t> </a:t>
            </a:r>
          </a:p>
          <a:p>
            <a:pPr>
              <a:lnSpc>
                <a:spcPct val="100000"/>
              </a:lnSpc>
              <a:spcAft>
                <a:spcPts val="0"/>
              </a:spcAft>
            </a:pPr>
            <a:r>
              <a:rPr sz="1250" b="0" dirty="0">
                <a:solidFill>
                  <a:srgbClr val="F2F2F2"/>
                </a:solidFill>
                <a:latin typeface="Consolas"/>
              </a:rPr>
              <a:t>REASON                                       CREATED</a:t>
            </a:r>
          </a:p>
          <a:p>
            <a:pPr>
              <a:lnSpc>
                <a:spcPct val="100000"/>
              </a:lnSpc>
              <a:spcAft>
                <a:spcPts val="0"/>
              </a:spcAft>
            </a:pPr>
            <a:r>
              <a:rPr sz="1250" b="0" dirty="0">
                <a:solidFill>
                  <a:srgbClr val="F2F2F2"/>
                </a:solidFill>
                <a:latin typeface="Consolas"/>
              </a:rPr>
              <a:t>-------------------------------------------- -----------</a:t>
            </a:r>
          </a:p>
          <a:p>
            <a:pPr>
              <a:lnSpc>
                <a:spcPct val="100000"/>
              </a:lnSpc>
              <a:spcAft>
                <a:spcPts val="0"/>
              </a:spcAft>
            </a:pPr>
            <a:r>
              <a:rPr sz="1250" b="0" dirty="0">
                <a:solidFill>
                  <a:srgbClr val="F2F2F2"/>
                </a:solidFill>
                <a:latin typeface="Consolas"/>
              </a:rPr>
              <a:t>Instance </a:t>
            </a:r>
            <a:r>
              <a:rPr sz="1250" b="0" dirty="0" err="1">
                <a:solidFill>
                  <a:srgbClr val="F2F2F2"/>
                </a:solidFill>
                <a:latin typeface="Consolas"/>
              </a:rPr>
              <a:t>orcl.orcl</a:t>
            </a:r>
            <a:r>
              <a:rPr sz="1250" b="0" dirty="0">
                <a:solidFill>
                  <a:srgbClr val="F2F2F2"/>
                </a:solidFill>
                <a:latin typeface="Consolas"/>
              </a:rPr>
              <a:t>. down on node oel7v9.loca 08-24 14:56</a:t>
            </a:r>
          </a:p>
          <a:p>
            <a:pPr>
              <a:lnSpc>
                <a:spcPct val="100000"/>
              </a:lnSpc>
              <a:spcAft>
                <a:spcPts val="0"/>
              </a:spcAft>
            </a:pPr>
            <a:r>
              <a:rPr sz="1250" b="0" dirty="0">
                <a:solidFill>
                  <a:srgbClr val="F2F2F2"/>
                </a:solidFill>
                <a:latin typeface="Consolas"/>
              </a:rPr>
              <a:t>Instance </a:t>
            </a:r>
            <a:r>
              <a:rPr sz="1250" b="0" dirty="0" err="1">
                <a:solidFill>
                  <a:srgbClr val="F2F2F2"/>
                </a:solidFill>
                <a:latin typeface="Consolas"/>
              </a:rPr>
              <a:t>orcl.orcl</a:t>
            </a:r>
            <a:r>
              <a:rPr sz="1250" b="0" dirty="0">
                <a:solidFill>
                  <a:srgbClr val="F2F2F2"/>
                </a:solidFill>
                <a:latin typeface="Consolas"/>
              </a:rPr>
              <a:t>. up on node oel7v9.localdb 08-24 14:56</a:t>
            </a:r>
          </a:p>
          <a:p>
            <a:pPr>
              <a:lnSpc>
                <a:spcPct val="100000"/>
              </a:lnSpc>
              <a:spcAft>
                <a:spcPts val="0"/>
              </a:spcAft>
            </a:pPr>
            <a:r>
              <a:rPr sz="1250" b="0" dirty="0">
                <a:solidFill>
                  <a:srgbClr val="F2F2F2"/>
                </a:solidFill>
                <a:latin typeface="Consolas"/>
              </a:rPr>
              <a:t>Operation on resumable session </a:t>
            </a:r>
            <a:r>
              <a:rPr sz="1250" b="0" dirty="0" err="1">
                <a:solidFill>
                  <a:srgbClr val="F2F2F2"/>
                </a:solidFill>
                <a:latin typeface="Consolas"/>
              </a:rPr>
              <a:t>big_load_job</a:t>
            </a:r>
            <a:r>
              <a:rPr sz="1250" b="0" dirty="0">
                <a:solidFill>
                  <a:srgbClr val="F2F2F2"/>
                </a:solidFill>
                <a:latin typeface="Consolas"/>
              </a:rPr>
              <a:t>  08-20 13:08</a:t>
            </a:r>
          </a:p>
        </p:txBody>
      </p:sp>
    </p:spTree>
    <p:extLst>
      <p:ext uri="{BB962C8B-B14F-4D97-AF65-F5344CB8AC3E}">
        <p14:creationId xmlns:p14="http://schemas.microsoft.com/office/powerpoint/2010/main" val="4161454351"/>
      </p:ext>
    </p:extLst>
  </p:cSld>
  <p:clrMapOvr>
    <a:masterClrMapping/>
  </p:clrMapOvr>
</p:sld>
</file>

<file path=ppt/slides/slide10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28.3</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메트릭 임계값 설정</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spcAft>
                <a:spcPts val="400"/>
              </a:spcAft>
            </a:pPr>
            <a:r>
              <a:rPr sz="1600" b="0">
                <a:solidFill>
                  <a:srgbClr val="FFFFFF"/>
                </a:solidFill>
                <a:latin typeface="맑은 고딕"/>
              </a:rPr>
              <a:t>•  메트릭 = 표준화된 성능 지표</a:t>
            </a:r>
          </a:p>
          <a:p>
            <a:pPr>
              <a:spcAft>
                <a:spcPts val="400"/>
              </a:spcAft>
            </a:pPr>
            <a:r>
              <a:rPr sz="1600" b="0">
                <a:solidFill>
                  <a:srgbClr val="FFFFFF"/>
                </a:solidFill>
                <a:latin typeface="맑은 고딕"/>
              </a:rPr>
              <a:t>•  DBA_THRESHOLDS 조회</a:t>
            </a:r>
          </a:p>
          <a:p>
            <a:pPr>
              <a:spcAft>
                <a:spcPts val="400"/>
              </a:spcAft>
            </a:pPr>
            <a:r>
              <a:rPr sz="1600" b="0">
                <a:solidFill>
                  <a:srgbClr val="FFFFFF"/>
                </a:solidFill>
                <a:latin typeface="맑은 고딕"/>
              </a:rPr>
              <a:t>•  SET_THRESHOLD 인자</a:t>
            </a:r>
          </a:p>
          <a:p>
            <a:pPr>
              <a:spcAft>
                <a:spcPts val="400"/>
              </a:spcAft>
            </a:pPr>
            <a:r>
              <a:rPr sz="1600" b="0">
                <a:solidFill>
                  <a:srgbClr val="FFFFFF"/>
                </a:solidFill>
                <a:latin typeface="맑은 고딕"/>
              </a:rPr>
              <a:t>•  연속 관측으로 스파이크 흡수</a:t>
            </a:r>
          </a:p>
        </p:txBody>
      </p:sp>
    </p:spTree>
    <p:extLst>
      <p:ext uri="{BB962C8B-B14F-4D97-AF65-F5344CB8AC3E}">
        <p14:creationId xmlns:p14="http://schemas.microsoft.com/office/powerpoint/2010/main" val="694456575"/>
      </p:ext>
    </p:extLst>
  </p:cSld>
  <p:clrMapOvr>
    <a:masterClrMapping/>
  </p:clrMapOvr>
</p:sld>
</file>

<file path=ppt/slides/slide1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메트릭이란 무엇이며 무엇을 감시하나</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표준화된 성능 지표</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메트릭 = 누적 절대값을 '초당·호출당·%'로 표준화한 지표</a:t>
            </a:r>
          </a:p>
          <a:p>
            <a:pPr>
              <a:spcAft>
                <a:spcPts val="800"/>
              </a:spcAft>
            </a:pPr>
            <a:r>
              <a:rPr sz="1700" b="0">
                <a:solidFill>
                  <a:srgbClr val="222222"/>
                </a:solidFill>
                <a:latin typeface="맑은 고딕"/>
              </a:rPr>
              <a:t>•  MMON이 15초·60초 간격으로 계산 → V$SYSMETRIC 등에 노출</a:t>
            </a:r>
          </a:p>
          <a:p>
            <a:pPr>
              <a:spcAft>
                <a:spcPts val="800"/>
              </a:spcAft>
            </a:pPr>
            <a:r>
              <a:rPr sz="1700" b="0">
                <a:solidFill>
                  <a:srgbClr val="222222"/>
                </a:solidFill>
                <a:latin typeface="맑은 고딕"/>
              </a:rPr>
              <a:t>•  수준: 시스템 / 세션 / 서비스 / 특정 대상(파일·이벤트)</a:t>
            </a:r>
          </a:p>
          <a:p>
            <a:pPr>
              <a:spcAft>
                <a:spcPts val="800"/>
              </a:spcAft>
            </a:pPr>
            <a:r>
              <a:rPr sz="1700" b="0">
                <a:solidFill>
                  <a:srgbClr val="222222"/>
                </a:solidFill>
                <a:latin typeface="맑은 고딕"/>
              </a:rPr>
              <a:t>•  감시 대상 선정 기준: '나빠지면 사용자가 실제로 아파하는가'</a:t>
            </a:r>
          </a:p>
          <a:p>
            <a:pPr>
              <a:spcAft>
                <a:spcPts val="800"/>
              </a:spcAft>
            </a:pPr>
            <a:r>
              <a:rPr sz="1700" b="0">
                <a:solidFill>
                  <a:srgbClr val="222222"/>
                </a:solidFill>
                <a:latin typeface="맑은 고딕"/>
              </a:rPr>
              <a:t>•  메트릭 목록·단위는 V$METRICNAME으로 확인</a:t>
            </a:r>
          </a:p>
        </p:txBody>
      </p:sp>
    </p:spTree>
    <p:extLst>
      <p:ext uri="{BB962C8B-B14F-4D97-AF65-F5344CB8AC3E}">
        <p14:creationId xmlns:p14="http://schemas.microsoft.com/office/powerpoint/2010/main" val="1204382892"/>
      </p:ext>
    </p:extLst>
  </p:cSld>
  <p:clrMapOvr>
    <a:masterClrMapping/>
  </p:clrMapOvr>
</p:sld>
</file>

<file path=ppt/slides/slide1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현재 임계값 조회</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DBA_THRESHOLDS — 실측</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27000" tIns="101600" rtlCol="0" anchor="ctr"/>
          <a:lstStyle/>
          <a:p>
            <a:pPr>
              <a:lnSpc>
                <a:spcPct val="100000"/>
              </a:lnSpc>
              <a:spcAft>
                <a:spcPts val="0"/>
              </a:spcAft>
            </a:pPr>
            <a:r>
              <a:rPr sz="1250" b="0" dirty="0" err="1">
                <a:solidFill>
                  <a:srgbClr val="F2F2F2"/>
                </a:solidFill>
                <a:latin typeface="Consolas"/>
              </a:rPr>
              <a:t>SYS@orcl</a:t>
            </a:r>
            <a:r>
              <a:rPr sz="1250" b="0" dirty="0">
                <a:solidFill>
                  <a:srgbClr val="F2F2F2"/>
                </a:solidFill>
                <a:latin typeface="Consolas"/>
              </a:rPr>
              <a:t>&gt; SELECT </a:t>
            </a:r>
            <a:r>
              <a:rPr sz="1250" b="0" dirty="0" err="1">
                <a:solidFill>
                  <a:srgbClr val="F2F2F2"/>
                </a:solidFill>
                <a:latin typeface="Consolas"/>
              </a:rPr>
              <a:t>metrics_name</a:t>
            </a:r>
            <a:r>
              <a:rPr sz="1250" b="0" dirty="0">
                <a:solidFill>
                  <a:srgbClr val="F2F2F2"/>
                </a:solidFill>
                <a:latin typeface="Consolas"/>
              </a:rPr>
              <a:t>, </a:t>
            </a:r>
            <a:r>
              <a:rPr sz="1250" b="0" dirty="0" err="1">
                <a:solidFill>
                  <a:srgbClr val="F2F2F2"/>
                </a:solidFill>
                <a:latin typeface="Consolas"/>
              </a:rPr>
              <a:t>warning_value</a:t>
            </a:r>
            <a:r>
              <a:rPr sz="1250" b="0" dirty="0">
                <a:solidFill>
                  <a:srgbClr val="F2F2F2"/>
                </a:solidFill>
                <a:latin typeface="Consolas"/>
              </a:rPr>
              <a:t>,</a:t>
            </a:r>
          </a:p>
          <a:p>
            <a:pPr>
              <a:lnSpc>
                <a:spcPct val="100000"/>
              </a:lnSpc>
              <a:spcAft>
                <a:spcPts val="0"/>
              </a:spcAft>
            </a:pPr>
            <a:r>
              <a:rPr sz="1250" b="0" dirty="0">
                <a:solidFill>
                  <a:srgbClr val="F2F2F2"/>
                </a:solidFill>
                <a:latin typeface="Consolas"/>
              </a:rPr>
              <a:t>  2         </a:t>
            </a:r>
            <a:r>
              <a:rPr sz="1250" b="0" dirty="0" err="1">
                <a:solidFill>
                  <a:srgbClr val="F2F2F2"/>
                </a:solidFill>
                <a:latin typeface="Consolas"/>
              </a:rPr>
              <a:t>critical_value</a:t>
            </a:r>
            <a:r>
              <a:rPr sz="1250" b="0" dirty="0">
                <a:solidFill>
                  <a:srgbClr val="F2F2F2"/>
                </a:solidFill>
                <a:latin typeface="Consolas"/>
              </a:rPr>
              <a:t>, </a:t>
            </a:r>
            <a:r>
              <a:rPr sz="1250" b="0" dirty="0" err="1">
                <a:solidFill>
                  <a:srgbClr val="F2F2F2"/>
                </a:solidFill>
                <a:latin typeface="Consolas"/>
              </a:rPr>
              <a:t>consecutive_occurrences</a:t>
            </a:r>
            <a:endParaRPr sz="1250" b="0" dirty="0">
              <a:solidFill>
                <a:srgbClr val="F2F2F2"/>
              </a:solidFill>
              <a:latin typeface="Consolas"/>
            </a:endParaRPr>
          </a:p>
          <a:p>
            <a:pPr>
              <a:lnSpc>
                <a:spcPct val="100000"/>
              </a:lnSpc>
              <a:spcAft>
                <a:spcPts val="0"/>
              </a:spcAft>
            </a:pPr>
            <a:r>
              <a:rPr sz="1250" b="0" dirty="0">
                <a:solidFill>
                  <a:srgbClr val="F2F2F2"/>
                </a:solidFill>
                <a:latin typeface="Consolas"/>
              </a:rPr>
              <a:t>  3       FROM </a:t>
            </a:r>
            <a:r>
              <a:rPr sz="1250" b="0" dirty="0" err="1">
                <a:solidFill>
                  <a:srgbClr val="F2F2F2"/>
                </a:solidFill>
                <a:latin typeface="Consolas"/>
              </a:rPr>
              <a:t>dba_thresholds</a:t>
            </a:r>
            <a:r>
              <a:rPr sz="1250" b="0" dirty="0">
                <a:solidFill>
                  <a:srgbClr val="F2F2F2"/>
                </a:solidFill>
                <a:latin typeface="Consolas"/>
              </a:rPr>
              <a:t> WHERE </a:t>
            </a:r>
            <a:r>
              <a:rPr sz="1250" b="0" dirty="0" err="1">
                <a:solidFill>
                  <a:srgbClr val="F2F2F2"/>
                </a:solidFill>
                <a:latin typeface="Consolas"/>
              </a:rPr>
              <a:t>rownum</a:t>
            </a:r>
            <a:r>
              <a:rPr sz="1250" b="0" dirty="0">
                <a:solidFill>
                  <a:srgbClr val="F2F2F2"/>
                </a:solidFill>
                <a:latin typeface="Consolas"/>
              </a:rPr>
              <a:t>&lt;=15</a:t>
            </a:r>
          </a:p>
          <a:p>
            <a:pPr>
              <a:lnSpc>
                <a:spcPct val="100000"/>
              </a:lnSpc>
              <a:spcAft>
                <a:spcPts val="0"/>
              </a:spcAft>
            </a:pPr>
            <a:r>
              <a:rPr sz="1250" b="0" dirty="0">
                <a:solidFill>
                  <a:srgbClr val="F2F2F2"/>
                </a:solidFill>
                <a:latin typeface="Consolas"/>
              </a:rPr>
              <a:t>  4       ORDER BY </a:t>
            </a:r>
            <a:r>
              <a:rPr sz="1250" b="0" dirty="0" err="1">
                <a:solidFill>
                  <a:srgbClr val="F2F2F2"/>
                </a:solidFill>
                <a:latin typeface="Consolas"/>
              </a:rPr>
              <a:t>metrics_name</a:t>
            </a:r>
            <a:r>
              <a:rPr sz="1250" b="0" dirty="0">
                <a:solidFill>
                  <a:srgbClr val="F2F2F2"/>
                </a:solidFill>
                <a:latin typeface="Consolas"/>
              </a:rPr>
              <a:t>;</a:t>
            </a:r>
          </a:p>
          <a:p>
            <a:pPr>
              <a:lnSpc>
                <a:spcPct val="100000"/>
              </a:lnSpc>
              <a:spcAft>
                <a:spcPts val="0"/>
              </a:spcAft>
            </a:pPr>
            <a:r>
              <a:rPr sz="1250" b="0" dirty="0">
                <a:solidFill>
                  <a:srgbClr val="F2F2F2"/>
                </a:solidFill>
                <a:latin typeface="Consolas"/>
              </a:rPr>
              <a:t> </a:t>
            </a:r>
          </a:p>
          <a:p>
            <a:pPr>
              <a:lnSpc>
                <a:spcPct val="100000"/>
              </a:lnSpc>
              <a:spcAft>
                <a:spcPts val="0"/>
              </a:spcAft>
            </a:pPr>
            <a:r>
              <a:rPr sz="1250" b="0" dirty="0">
                <a:solidFill>
                  <a:srgbClr val="F2F2F2"/>
                </a:solidFill>
                <a:latin typeface="Consolas"/>
              </a:rPr>
              <a:t>METRICS_NAME            WARNING CRITICAL CONSEC</a:t>
            </a:r>
          </a:p>
          <a:p>
            <a:pPr>
              <a:lnSpc>
                <a:spcPct val="100000"/>
              </a:lnSpc>
              <a:spcAft>
                <a:spcPts val="0"/>
              </a:spcAft>
            </a:pPr>
            <a:r>
              <a:rPr sz="1250" b="0" dirty="0">
                <a:solidFill>
                  <a:srgbClr val="F2F2F2"/>
                </a:solidFill>
                <a:latin typeface="Consolas"/>
              </a:rPr>
              <a:t>----------------------- ------- -------- ------</a:t>
            </a:r>
          </a:p>
          <a:p>
            <a:pPr>
              <a:lnSpc>
                <a:spcPct val="100000"/>
              </a:lnSpc>
              <a:spcAft>
                <a:spcPts val="0"/>
              </a:spcAft>
            </a:pPr>
            <a:r>
              <a:rPr sz="1250" b="0" dirty="0">
                <a:solidFill>
                  <a:srgbClr val="F2F2F2"/>
                </a:solidFill>
                <a:latin typeface="Consolas"/>
              </a:rPr>
              <a:t>Tablespace Space Usage  &lt;SYS-GEN&gt;      0</a:t>
            </a:r>
          </a:p>
          <a:p>
            <a:pPr>
              <a:lnSpc>
                <a:spcPct val="100000"/>
              </a:lnSpc>
              <a:spcAft>
                <a:spcPts val="0"/>
              </a:spcAft>
            </a:pPr>
            <a:r>
              <a:rPr sz="1250" b="0" dirty="0">
                <a:solidFill>
                  <a:srgbClr val="F2F2F2"/>
                </a:solidFill>
                <a:latin typeface="Consolas"/>
              </a:rPr>
              <a:t>Tablespace Space Usage  85            97       1</a:t>
            </a:r>
          </a:p>
          <a:p>
            <a:pPr>
              <a:lnSpc>
                <a:spcPct val="100000"/>
              </a:lnSpc>
              <a:spcAft>
                <a:spcPts val="0"/>
              </a:spcAft>
            </a:pPr>
            <a:r>
              <a:rPr sz="1250" b="0" dirty="0">
                <a:solidFill>
                  <a:srgbClr val="F2F2F2"/>
                </a:solidFill>
                <a:latin typeface="Consolas"/>
              </a:rPr>
              <a:t>Tablespace Space Usage  &lt;SYS-GEN&gt;      0</a:t>
            </a:r>
          </a:p>
        </p:txBody>
      </p:sp>
    </p:spTree>
    <p:extLst>
      <p:ext uri="{BB962C8B-B14F-4D97-AF65-F5344CB8AC3E}">
        <p14:creationId xmlns:p14="http://schemas.microsoft.com/office/powerpoint/2010/main" val="693506610"/>
      </p:ext>
    </p:extLst>
  </p:cSld>
  <p:clrMapOvr>
    <a:masterClrMapping/>
  </p:clrMapOvr>
</p:sld>
</file>

<file path=ppt/slides/slide1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임계값 설정 — SET_THRESHOLD</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값은 28.4에서 이력으로 산정</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27000" tIns="101600" rtlCol="0" anchor="ctr"/>
          <a:lstStyle/>
          <a:p>
            <a:pPr>
              <a:lnSpc>
                <a:spcPct val="100000"/>
              </a:lnSpc>
              <a:spcAft>
                <a:spcPts val="0"/>
              </a:spcAft>
            </a:pPr>
            <a:r>
              <a:rPr sz="1250" b="0" dirty="0" err="1">
                <a:solidFill>
                  <a:srgbClr val="F2F2F2"/>
                </a:solidFill>
                <a:latin typeface="Consolas"/>
              </a:rPr>
              <a:t>SYS@orcl</a:t>
            </a:r>
            <a:r>
              <a:rPr sz="1250" b="0" dirty="0">
                <a:solidFill>
                  <a:srgbClr val="F2F2F2"/>
                </a:solidFill>
                <a:latin typeface="Consolas"/>
              </a:rPr>
              <a:t>&gt; BEGIN</a:t>
            </a:r>
          </a:p>
          <a:p>
            <a:pPr>
              <a:lnSpc>
                <a:spcPct val="100000"/>
              </a:lnSpc>
              <a:spcAft>
                <a:spcPts val="0"/>
              </a:spcAft>
            </a:pPr>
            <a:r>
              <a:rPr sz="1250" b="0" dirty="0">
                <a:solidFill>
                  <a:srgbClr val="F2F2F2"/>
                </a:solidFill>
                <a:latin typeface="Consolas"/>
              </a:rPr>
              <a:t>  2    DBMS_SERVER_ALERT.SET_THRESHOLD(</a:t>
            </a:r>
          </a:p>
          <a:p>
            <a:pPr>
              <a:lnSpc>
                <a:spcPct val="100000"/>
              </a:lnSpc>
              <a:spcAft>
                <a:spcPts val="0"/>
              </a:spcAft>
            </a:pPr>
            <a:r>
              <a:rPr sz="1250" b="0" dirty="0">
                <a:solidFill>
                  <a:srgbClr val="F2F2F2"/>
                </a:solidFill>
                <a:latin typeface="Consolas"/>
              </a:rPr>
              <a:t>  3      </a:t>
            </a:r>
            <a:r>
              <a:rPr sz="1250" b="0" dirty="0" err="1">
                <a:solidFill>
                  <a:srgbClr val="F2F2F2"/>
                </a:solidFill>
                <a:latin typeface="Consolas"/>
              </a:rPr>
              <a:t>metrics_id</a:t>
            </a:r>
            <a:r>
              <a:rPr sz="1250" b="0" dirty="0">
                <a:solidFill>
                  <a:srgbClr val="F2F2F2"/>
                </a:solidFill>
                <a:latin typeface="Consolas"/>
              </a:rPr>
              <a:t>       =&gt; DBMS_SERVER_ALERT.CPU_TIME_PER_CALL,</a:t>
            </a:r>
          </a:p>
          <a:p>
            <a:pPr>
              <a:lnSpc>
                <a:spcPct val="100000"/>
              </a:lnSpc>
              <a:spcAft>
                <a:spcPts val="0"/>
              </a:spcAft>
            </a:pPr>
            <a:r>
              <a:rPr sz="1250" b="0" dirty="0">
                <a:solidFill>
                  <a:srgbClr val="F2F2F2"/>
                </a:solidFill>
                <a:latin typeface="Consolas"/>
              </a:rPr>
              <a:t>  4      </a:t>
            </a:r>
            <a:r>
              <a:rPr sz="1250" b="0" dirty="0" err="1">
                <a:solidFill>
                  <a:srgbClr val="F2F2F2"/>
                </a:solidFill>
                <a:latin typeface="Consolas"/>
              </a:rPr>
              <a:t>warning_operator</a:t>
            </a:r>
            <a:r>
              <a:rPr sz="1250" b="0" dirty="0">
                <a:solidFill>
                  <a:srgbClr val="F2F2F2"/>
                </a:solidFill>
                <a:latin typeface="Consolas"/>
              </a:rPr>
              <a:t> =&gt; DBMS_SERVER_ALERT.OPERATOR_GE,</a:t>
            </a:r>
          </a:p>
          <a:p>
            <a:pPr>
              <a:lnSpc>
                <a:spcPct val="100000"/>
              </a:lnSpc>
              <a:spcAft>
                <a:spcPts val="0"/>
              </a:spcAft>
            </a:pPr>
            <a:r>
              <a:rPr sz="1250" b="0" dirty="0">
                <a:solidFill>
                  <a:srgbClr val="F2F2F2"/>
                </a:solidFill>
                <a:latin typeface="Consolas"/>
              </a:rPr>
              <a:t>  5      </a:t>
            </a:r>
            <a:r>
              <a:rPr sz="1250" b="0" dirty="0" err="1">
                <a:solidFill>
                  <a:srgbClr val="F2F2F2"/>
                </a:solidFill>
                <a:latin typeface="Consolas"/>
              </a:rPr>
              <a:t>warning_value</a:t>
            </a:r>
            <a:r>
              <a:rPr sz="1250" b="0" dirty="0">
                <a:solidFill>
                  <a:srgbClr val="F2F2F2"/>
                </a:solidFill>
                <a:latin typeface="Consolas"/>
              </a:rPr>
              <a:t>    =&gt; '&lt;</a:t>
            </a:r>
            <a:r>
              <a:rPr sz="1250" b="0" dirty="0" err="1">
                <a:solidFill>
                  <a:srgbClr val="F2F2F2"/>
                </a:solidFill>
                <a:latin typeface="Consolas"/>
              </a:rPr>
              <a:t>이력</a:t>
            </a:r>
            <a:r>
              <a:rPr sz="1250" b="0" dirty="0">
                <a:solidFill>
                  <a:srgbClr val="F2F2F2"/>
                </a:solidFill>
                <a:latin typeface="Consolas"/>
              </a:rPr>
              <a:t> </a:t>
            </a:r>
            <a:r>
              <a:rPr sz="1250" b="0" dirty="0" err="1">
                <a:solidFill>
                  <a:srgbClr val="F2F2F2"/>
                </a:solidFill>
                <a:latin typeface="Consolas"/>
              </a:rPr>
              <a:t>산정</a:t>
            </a:r>
            <a:r>
              <a:rPr sz="1250" b="0" dirty="0">
                <a:solidFill>
                  <a:srgbClr val="F2F2F2"/>
                </a:solidFill>
                <a:latin typeface="Consolas"/>
              </a:rPr>
              <a:t> </a:t>
            </a:r>
            <a:r>
              <a:rPr sz="1250" b="0" dirty="0" err="1">
                <a:solidFill>
                  <a:srgbClr val="F2F2F2"/>
                </a:solidFill>
                <a:latin typeface="Consolas"/>
              </a:rPr>
              <a:t>경고값</a:t>
            </a:r>
            <a:r>
              <a:rPr sz="1250" b="0" dirty="0">
                <a:solidFill>
                  <a:srgbClr val="F2F2F2"/>
                </a:solidFill>
                <a:latin typeface="Consolas"/>
              </a:rPr>
              <a:t>&gt;',</a:t>
            </a:r>
          </a:p>
          <a:p>
            <a:pPr>
              <a:lnSpc>
                <a:spcPct val="100000"/>
              </a:lnSpc>
              <a:spcAft>
                <a:spcPts val="0"/>
              </a:spcAft>
            </a:pPr>
            <a:r>
              <a:rPr sz="1250" b="0" dirty="0">
                <a:solidFill>
                  <a:srgbClr val="F2F2F2"/>
                </a:solidFill>
                <a:latin typeface="Consolas"/>
              </a:rPr>
              <a:t>  6      </a:t>
            </a:r>
            <a:r>
              <a:rPr sz="1250" b="0" dirty="0" err="1">
                <a:solidFill>
                  <a:srgbClr val="F2F2F2"/>
                </a:solidFill>
                <a:latin typeface="Consolas"/>
              </a:rPr>
              <a:t>critical_value</a:t>
            </a:r>
            <a:r>
              <a:rPr sz="1250" b="0" dirty="0">
                <a:solidFill>
                  <a:srgbClr val="F2F2F2"/>
                </a:solidFill>
                <a:latin typeface="Consolas"/>
              </a:rPr>
              <a:t>   =&gt; '&lt;</a:t>
            </a:r>
            <a:r>
              <a:rPr sz="1250" b="0" dirty="0" err="1">
                <a:solidFill>
                  <a:srgbClr val="F2F2F2"/>
                </a:solidFill>
                <a:latin typeface="Consolas"/>
              </a:rPr>
              <a:t>이력</a:t>
            </a:r>
            <a:r>
              <a:rPr sz="1250" b="0" dirty="0">
                <a:solidFill>
                  <a:srgbClr val="F2F2F2"/>
                </a:solidFill>
                <a:latin typeface="Consolas"/>
              </a:rPr>
              <a:t> </a:t>
            </a:r>
            <a:r>
              <a:rPr sz="1250" b="0" dirty="0" err="1">
                <a:solidFill>
                  <a:srgbClr val="F2F2F2"/>
                </a:solidFill>
                <a:latin typeface="Consolas"/>
              </a:rPr>
              <a:t>산정</a:t>
            </a:r>
            <a:r>
              <a:rPr sz="1250" b="0" dirty="0">
                <a:solidFill>
                  <a:srgbClr val="F2F2F2"/>
                </a:solidFill>
                <a:latin typeface="Consolas"/>
              </a:rPr>
              <a:t> </a:t>
            </a:r>
            <a:r>
              <a:rPr sz="1250" b="0" dirty="0" err="1">
                <a:solidFill>
                  <a:srgbClr val="F2F2F2"/>
                </a:solidFill>
                <a:latin typeface="Consolas"/>
              </a:rPr>
              <a:t>위험값</a:t>
            </a:r>
            <a:r>
              <a:rPr sz="1250" b="0" dirty="0">
                <a:solidFill>
                  <a:srgbClr val="F2F2F2"/>
                </a:solidFill>
                <a:latin typeface="Consolas"/>
              </a:rPr>
              <a:t>&gt;',</a:t>
            </a:r>
          </a:p>
          <a:p>
            <a:pPr>
              <a:lnSpc>
                <a:spcPct val="100000"/>
              </a:lnSpc>
              <a:spcAft>
                <a:spcPts val="0"/>
              </a:spcAft>
            </a:pPr>
            <a:r>
              <a:rPr sz="1250" b="0" dirty="0">
                <a:solidFill>
                  <a:srgbClr val="F2F2F2"/>
                </a:solidFill>
                <a:latin typeface="Consolas"/>
              </a:rPr>
              <a:t>  7      </a:t>
            </a:r>
            <a:r>
              <a:rPr sz="1250" b="0" dirty="0" err="1">
                <a:solidFill>
                  <a:srgbClr val="F2F2F2"/>
                </a:solidFill>
                <a:latin typeface="Consolas"/>
              </a:rPr>
              <a:t>observation_period</a:t>
            </a:r>
            <a:r>
              <a:rPr sz="1250" b="0" dirty="0">
                <a:solidFill>
                  <a:srgbClr val="F2F2F2"/>
                </a:solidFill>
                <a:latin typeface="Consolas"/>
              </a:rPr>
              <a:t>=&gt; 1, </a:t>
            </a:r>
            <a:r>
              <a:rPr sz="1250" b="0" dirty="0" err="1">
                <a:solidFill>
                  <a:srgbClr val="F2F2F2"/>
                </a:solidFill>
                <a:latin typeface="Consolas"/>
              </a:rPr>
              <a:t>consecutive_occurrences</a:t>
            </a:r>
            <a:r>
              <a:rPr sz="1250" b="0" dirty="0">
                <a:solidFill>
                  <a:srgbClr val="F2F2F2"/>
                </a:solidFill>
                <a:latin typeface="Consolas"/>
              </a:rPr>
              <a:t>=&gt; 3,</a:t>
            </a:r>
          </a:p>
          <a:p>
            <a:pPr>
              <a:lnSpc>
                <a:spcPct val="100000"/>
              </a:lnSpc>
              <a:spcAft>
                <a:spcPts val="0"/>
              </a:spcAft>
            </a:pPr>
            <a:r>
              <a:rPr sz="1250" b="0" dirty="0">
                <a:solidFill>
                  <a:srgbClr val="F2F2F2"/>
                </a:solidFill>
                <a:latin typeface="Consolas"/>
              </a:rPr>
              <a:t>  8      </a:t>
            </a:r>
            <a:r>
              <a:rPr sz="1250" b="0" dirty="0" err="1">
                <a:solidFill>
                  <a:srgbClr val="F2F2F2"/>
                </a:solidFill>
                <a:latin typeface="Consolas"/>
              </a:rPr>
              <a:t>instance_name</a:t>
            </a:r>
            <a:r>
              <a:rPr sz="1250" b="0" dirty="0">
                <a:solidFill>
                  <a:srgbClr val="F2F2F2"/>
                </a:solidFill>
                <a:latin typeface="Consolas"/>
              </a:rPr>
              <a:t>    =&gt; '</a:t>
            </a:r>
            <a:r>
              <a:rPr sz="1250" b="0" dirty="0" err="1">
                <a:solidFill>
                  <a:srgbClr val="F2F2F2"/>
                </a:solidFill>
                <a:latin typeface="Consolas"/>
              </a:rPr>
              <a:t>orcl</a:t>
            </a:r>
            <a:r>
              <a:rPr sz="1250" b="0" dirty="0">
                <a:solidFill>
                  <a:srgbClr val="F2F2F2"/>
                </a:solidFill>
                <a:latin typeface="Consolas"/>
              </a:rPr>
              <a:t>',</a:t>
            </a:r>
          </a:p>
          <a:p>
            <a:pPr>
              <a:lnSpc>
                <a:spcPct val="100000"/>
              </a:lnSpc>
              <a:spcAft>
                <a:spcPts val="0"/>
              </a:spcAft>
            </a:pPr>
            <a:r>
              <a:rPr sz="1250" b="0" dirty="0">
                <a:solidFill>
                  <a:srgbClr val="F2F2F2"/>
                </a:solidFill>
                <a:latin typeface="Consolas"/>
              </a:rPr>
              <a:t>  9      </a:t>
            </a:r>
            <a:r>
              <a:rPr sz="1250" b="0" dirty="0" err="1">
                <a:solidFill>
                  <a:srgbClr val="F2F2F2"/>
                </a:solidFill>
                <a:latin typeface="Consolas"/>
              </a:rPr>
              <a:t>object_type</a:t>
            </a:r>
            <a:r>
              <a:rPr sz="1250" b="0" dirty="0">
                <a:solidFill>
                  <a:srgbClr val="F2F2F2"/>
                </a:solidFill>
                <a:latin typeface="Consolas"/>
              </a:rPr>
              <a:t> =&gt; DBMS_SERVER_ALERT.OBJECT_TYPE_SERVICE,</a:t>
            </a:r>
          </a:p>
          <a:p>
            <a:pPr>
              <a:lnSpc>
                <a:spcPct val="100000"/>
              </a:lnSpc>
              <a:spcAft>
                <a:spcPts val="0"/>
              </a:spcAft>
            </a:pPr>
            <a:r>
              <a:rPr sz="1250" b="0" dirty="0">
                <a:solidFill>
                  <a:srgbClr val="F2F2F2"/>
                </a:solidFill>
                <a:latin typeface="Consolas"/>
              </a:rPr>
              <a:t> 10      </a:t>
            </a:r>
            <a:r>
              <a:rPr sz="1250" b="0" dirty="0" err="1">
                <a:solidFill>
                  <a:srgbClr val="F2F2F2"/>
                </a:solidFill>
                <a:latin typeface="Consolas"/>
              </a:rPr>
              <a:t>object_name</a:t>
            </a:r>
            <a:r>
              <a:rPr sz="1250" b="0" dirty="0">
                <a:solidFill>
                  <a:srgbClr val="F2F2F2"/>
                </a:solidFill>
                <a:latin typeface="Consolas"/>
              </a:rPr>
              <a:t> =&gt; '</a:t>
            </a:r>
            <a:r>
              <a:rPr sz="1250" b="0" dirty="0" err="1">
                <a:solidFill>
                  <a:srgbClr val="F2F2F2"/>
                </a:solidFill>
                <a:latin typeface="Consolas"/>
              </a:rPr>
              <a:t>orcl</a:t>
            </a:r>
            <a:r>
              <a:rPr sz="1250" b="0" dirty="0">
                <a:solidFill>
                  <a:srgbClr val="F2F2F2"/>
                </a:solidFill>
                <a:latin typeface="Consolas"/>
              </a:rPr>
              <a:t>'); END; /</a:t>
            </a:r>
          </a:p>
        </p:txBody>
      </p:sp>
    </p:spTree>
    <p:extLst>
      <p:ext uri="{BB962C8B-B14F-4D97-AF65-F5344CB8AC3E}">
        <p14:creationId xmlns:p14="http://schemas.microsoft.com/office/powerpoint/2010/main" val="2088465846"/>
      </p:ext>
    </p:extLst>
  </p:cSld>
  <p:clrMapOvr>
    <a:masterClrMapping/>
  </p:clrMapOvr>
</p:sld>
</file>

<file path=ppt/slides/slide1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연속 관측으로 알림 피로를 막는다</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임계값·주기·연속횟수는 한 세트</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임계값을 잘 잡아도 순간 스파이크는 늘 발생한다</a:t>
            </a:r>
          </a:p>
          <a:p>
            <a:pPr>
              <a:spcAft>
                <a:spcPts val="800"/>
              </a:spcAft>
            </a:pPr>
            <a:r>
              <a:rPr sz="1700" b="0">
                <a:solidFill>
                  <a:srgbClr val="222222"/>
                </a:solidFill>
                <a:latin typeface="맑은 고딕"/>
              </a:rPr>
              <a:t>•  consecutive_occurrences=2~3 → 연속 관측될 때만 알림</a:t>
            </a:r>
          </a:p>
          <a:p>
            <a:pPr>
              <a:spcAft>
                <a:spcPts val="800"/>
              </a:spcAft>
            </a:pPr>
            <a:r>
              <a:rPr sz="1700" b="0">
                <a:solidFill>
                  <a:srgbClr val="222222"/>
                </a:solidFill>
                <a:latin typeface="맑은 고딕"/>
              </a:rPr>
              <a:t>•  임계값을 낮추는 것보다 연속 횟수를 늘리는 편이 스파이크에 강함</a:t>
            </a:r>
          </a:p>
          <a:p>
            <a:pPr>
              <a:spcAft>
                <a:spcPts val="800"/>
              </a:spcAft>
            </a:pPr>
            <a:r>
              <a:rPr sz="1700" b="0">
                <a:solidFill>
                  <a:srgbClr val="222222"/>
                </a:solidFill>
                <a:latin typeface="맑은 고딕"/>
              </a:rPr>
              <a:t>•  임계값 · 관측 주기 · 연속 횟수 = 함께 돌리는 세 손잡이</a:t>
            </a:r>
          </a:p>
        </p:txBody>
      </p:sp>
    </p:spTree>
    <p:extLst>
      <p:ext uri="{BB962C8B-B14F-4D97-AF65-F5344CB8AC3E}">
        <p14:creationId xmlns:p14="http://schemas.microsoft.com/office/powerpoint/2010/main" val="1533718835"/>
      </p:ext>
    </p:extLst>
  </p:cSld>
  <p:clrMapOvr>
    <a:masterClrMapping/>
  </p:clrMapOvr>
</p:sld>
</file>

<file path=ppt/slides/slide1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28.4</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임계값을 얼마로 잡을 것인가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spcAft>
                <a:spcPts val="400"/>
              </a:spcAft>
            </a:pPr>
            <a:r>
              <a:rPr sz="1600" b="0">
                <a:solidFill>
                  <a:srgbClr val="FFFFFF"/>
                </a:solidFill>
                <a:latin typeface="맑은 고딕"/>
              </a:rPr>
              <a:t>•  이 장의 핵심 · ADMIN 미수록</a:t>
            </a:r>
          </a:p>
          <a:p>
            <a:pPr>
              <a:spcAft>
                <a:spcPts val="400"/>
              </a:spcAft>
            </a:pPr>
            <a:r>
              <a:rPr sz="1600" b="0">
                <a:solidFill>
                  <a:srgbClr val="FFFFFF"/>
                </a:solidFill>
                <a:latin typeface="맑은 고딕"/>
              </a:rPr>
              <a:t>•  감이 아니라 이력 분포에서</a:t>
            </a:r>
          </a:p>
          <a:p>
            <a:pPr>
              <a:spcAft>
                <a:spcPts val="400"/>
              </a:spcAft>
            </a:pPr>
            <a:r>
              <a:rPr sz="1600" b="0">
                <a:solidFill>
                  <a:srgbClr val="FFFFFF"/>
                </a:solidFill>
                <a:latin typeface="맑은 고딕"/>
              </a:rPr>
              <a:t>•  p95=경고 / p99~peak=위험</a:t>
            </a:r>
          </a:p>
          <a:p>
            <a:pPr>
              <a:spcAft>
                <a:spcPts val="400"/>
              </a:spcAft>
            </a:pPr>
            <a:r>
              <a:rPr sz="1600" b="0">
                <a:solidFill>
                  <a:srgbClr val="FFFFFF"/>
                </a:solidFill>
                <a:latin typeface="맑은 고딕"/>
              </a:rPr>
              <a:t>•  🔒 DBA_HIST 필요(대안 있음)</a:t>
            </a:r>
          </a:p>
        </p:txBody>
      </p:sp>
    </p:spTree>
    <p:extLst>
      <p:ext uri="{BB962C8B-B14F-4D97-AF65-F5344CB8AC3E}">
        <p14:creationId xmlns:p14="http://schemas.microsoft.com/office/powerpoint/2010/main" val="1422627029"/>
      </p:ext>
    </p:extLst>
  </p:cSld>
  <p:clrMapOvr>
    <a:masterClrMapping/>
  </p:clrMapOvr>
</p:sld>
</file>

<file path=ppt/slides/slide1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임계값에 정답 숫자는 이식되지 않는다</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그 시스템의 평시에서 나온다</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'CPU 80% 경고' 같은 값은 그 값을 만든 시스템의 평시일 뿐</a:t>
            </a:r>
          </a:p>
          <a:p>
            <a:pPr>
              <a:spcAft>
                <a:spcPts val="800"/>
              </a:spcAft>
            </a:pPr>
            <a:r>
              <a:rPr sz="1700" b="0">
                <a:solidFill>
                  <a:srgbClr val="222222"/>
                </a:solidFill>
                <a:latin typeface="맑은 고딕"/>
              </a:rPr>
              <a:t>•  시스템마다 평시 부하가 다름 → 남의 옷을 입으면 크거나 작다</a:t>
            </a:r>
          </a:p>
          <a:p>
            <a:pPr>
              <a:spcAft>
                <a:spcPts val="800"/>
              </a:spcAft>
            </a:pPr>
            <a:r>
              <a:rPr sz="1700" b="0">
                <a:solidFill>
                  <a:srgbClr val="222222"/>
                </a:solidFill>
                <a:latin typeface="맑은 고딕"/>
              </a:rPr>
              <a:t>•  옳은 임계값 = 그 시스템의 '정상 범위를 벗어난 지점'</a:t>
            </a:r>
          </a:p>
          <a:p>
            <a:pPr>
              <a:spcAft>
                <a:spcPts val="800"/>
              </a:spcAft>
            </a:pPr>
            <a:r>
              <a:rPr sz="1700" b="0">
                <a:solidFill>
                  <a:srgbClr val="222222"/>
                </a:solidFill>
                <a:latin typeface="맑은 고딕"/>
              </a:rPr>
              <a:t>•  설계 1단계 = 값 정하기가 아니라 '내 평시 측정하기'</a:t>
            </a:r>
          </a:p>
        </p:txBody>
      </p:sp>
    </p:spTree>
    <p:extLst>
      <p:ext uri="{BB962C8B-B14F-4D97-AF65-F5344CB8AC3E}">
        <p14:creationId xmlns:p14="http://schemas.microsoft.com/office/powerpoint/2010/main" val="1310759376"/>
      </p:ext>
    </p:extLst>
  </p:cSld>
  <p:clrMapOvr>
    <a:masterClrMapping/>
  </p:clrMapOvr>
</p:sld>
</file>

<file path=ppt/slides/slide1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현재값만으로는 못 정한다</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V$SYSMETRIC 현재값 — 실측</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27000" tIns="101600" rtlCol="0" anchor="ctr"/>
          <a:lstStyle/>
          <a:p>
            <a:pPr>
              <a:lnSpc>
                <a:spcPct val="100000"/>
              </a:lnSpc>
              <a:spcAft>
                <a:spcPts val="0"/>
              </a:spcAft>
            </a:pPr>
            <a:r>
              <a:rPr sz="1250" b="0" dirty="0" err="1">
                <a:solidFill>
                  <a:srgbClr val="F2F2F2"/>
                </a:solidFill>
                <a:latin typeface="Consolas"/>
              </a:rPr>
              <a:t>SYS@orcl</a:t>
            </a:r>
            <a:r>
              <a:rPr sz="1250" b="0" dirty="0">
                <a:solidFill>
                  <a:srgbClr val="F2F2F2"/>
                </a:solidFill>
                <a:latin typeface="Consolas"/>
              </a:rPr>
              <a:t>&gt; SELECT </a:t>
            </a:r>
            <a:r>
              <a:rPr sz="1250" b="0" dirty="0" err="1">
                <a:solidFill>
                  <a:srgbClr val="F2F2F2"/>
                </a:solidFill>
                <a:latin typeface="Consolas"/>
              </a:rPr>
              <a:t>metric_name</a:t>
            </a:r>
            <a:r>
              <a:rPr sz="1250" b="0" dirty="0">
                <a:solidFill>
                  <a:srgbClr val="F2F2F2"/>
                </a:solidFill>
                <a:latin typeface="Consolas"/>
              </a:rPr>
              <a:t>, ROUND(value,2) value, </a:t>
            </a:r>
            <a:r>
              <a:rPr sz="1250" b="0" dirty="0" err="1">
                <a:solidFill>
                  <a:srgbClr val="F2F2F2"/>
                </a:solidFill>
                <a:latin typeface="Consolas"/>
              </a:rPr>
              <a:t>metric_unit</a:t>
            </a:r>
            <a:endParaRPr sz="1250" b="0" dirty="0">
              <a:solidFill>
                <a:srgbClr val="F2F2F2"/>
              </a:solidFill>
              <a:latin typeface="Consolas"/>
            </a:endParaRPr>
          </a:p>
          <a:p>
            <a:pPr>
              <a:lnSpc>
                <a:spcPct val="100000"/>
              </a:lnSpc>
              <a:spcAft>
                <a:spcPts val="0"/>
              </a:spcAft>
            </a:pPr>
            <a:r>
              <a:rPr sz="1250" b="0" dirty="0">
                <a:solidFill>
                  <a:srgbClr val="F2F2F2"/>
                </a:solidFill>
                <a:latin typeface="Consolas"/>
              </a:rPr>
              <a:t>  2  FROM </a:t>
            </a:r>
            <a:r>
              <a:rPr sz="1250" b="0" dirty="0" err="1">
                <a:solidFill>
                  <a:srgbClr val="F2F2F2"/>
                </a:solidFill>
                <a:latin typeface="Consolas"/>
              </a:rPr>
              <a:t>v$sysmetric</a:t>
            </a:r>
            <a:r>
              <a:rPr sz="1250" b="0" dirty="0">
                <a:solidFill>
                  <a:srgbClr val="F2F2F2"/>
                </a:solidFill>
                <a:latin typeface="Consolas"/>
              </a:rPr>
              <a:t> WHERE </a:t>
            </a:r>
            <a:r>
              <a:rPr sz="1250" b="0" dirty="0" err="1">
                <a:solidFill>
                  <a:srgbClr val="F2F2F2"/>
                </a:solidFill>
                <a:latin typeface="Consolas"/>
              </a:rPr>
              <a:t>intsize_csec</a:t>
            </a:r>
            <a:r>
              <a:rPr sz="1250" b="0" dirty="0">
                <a:solidFill>
                  <a:srgbClr val="F2F2F2"/>
                </a:solidFill>
                <a:latin typeface="Consolas"/>
              </a:rPr>
              <a:t> BETWEEN 5900 AND 6100</a:t>
            </a:r>
          </a:p>
          <a:p>
            <a:pPr>
              <a:lnSpc>
                <a:spcPct val="100000"/>
              </a:lnSpc>
              <a:spcAft>
                <a:spcPts val="0"/>
              </a:spcAft>
            </a:pPr>
            <a:r>
              <a:rPr sz="1250" b="0" dirty="0">
                <a:solidFill>
                  <a:srgbClr val="F2F2F2"/>
                </a:solidFill>
                <a:latin typeface="Consolas"/>
              </a:rPr>
              <a:t>  3    AND </a:t>
            </a:r>
            <a:r>
              <a:rPr sz="1250" b="0" dirty="0" err="1">
                <a:solidFill>
                  <a:srgbClr val="F2F2F2"/>
                </a:solidFill>
                <a:latin typeface="Consolas"/>
              </a:rPr>
              <a:t>metric_name</a:t>
            </a:r>
            <a:r>
              <a:rPr sz="1250" b="0" dirty="0">
                <a:solidFill>
                  <a:srgbClr val="F2F2F2"/>
                </a:solidFill>
                <a:latin typeface="Consolas"/>
              </a:rPr>
              <a:t> IN (...);</a:t>
            </a:r>
          </a:p>
          <a:p>
            <a:pPr>
              <a:lnSpc>
                <a:spcPct val="100000"/>
              </a:lnSpc>
              <a:spcAft>
                <a:spcPts val="0"/>
              </a:spcAft>
            </a:pPr>
            <a:r>
              <a:rPr sz="1250" b="0" dirty="0">
                <a:solidFill>
                  <a:srgbClr val="F2F2F2"/>
                </a:solidFill>
                <a:latin typeface="Consolas"/>
              </a:rPr>
              <a:t> </a:t>
            </a:r>
          </a:p>
          <a:p>
            <a:pPr>
              <a:lnSpc>
                <a:spcPct val="100000"/>
              </a:lnSpc>
              <a:spcAft>
                <a:spcPts val="0"/>
              </a:spcAft>
            </a:pPr>
            <a:r>
              <a:rPr sz="1250" b="0" dirty="0">
                <a:solidFill>
                  <a:srgbClr val="F2F2F2"/>
                </a:solidFill>
                <a:latin typeface="Consolas"/>
              </a:rPr>
              <a:t>METRIC_NAME                VALUE   METRIC_UNIT</a:t>
            </a:r>
          </a:p>
          <a:p>
            <a:pPr>
              <a:lnSpc>
                <a:spcPct val="100000"/>
              </a:lnSpc>
              <a:spcAft>
                <a:spcPts val="0"/>
              </a:spcAft>
            </a:pPr>
            <a:r>
              <a:rPr sz="1250" b="0" dirty="0">
                <a:solidFill>
                  <a:srgbClr val="F2F2F2"/>
                </a:solidFill>
                <a:latin typeface="Consolas"/>
              </a:rPr>
              <a:t>-------------------------- ------- --------------------</a:t>
            </a:r>
          </a:p>
          <a:p>
            <a:pPr>
              <a:lnSpc>
                <a:spcPct val="100000"/>
              </a:lnSpc>
              <a:spcAft>
                <a:spcPts val="0"/>
              </a:spcAft>
            </a:pPr>
            <a:r>
              <a:rPr sz="1250" b="0" dirty="0">
                <a:solidFill>
                  <a:srgbClr val="F2F2F2"/>
                </a:solidFill>
                <a:latin typeface="Consolas"/>
              </a:rPr>
              <a:t>Average Active Sessions    4.28    Active Sessions</a:t>
            </a:r>
          </a:p>
          <a:p>
            <a:pPr>
              <a:lnSpc>
                <a:spcPct val="100000"/>
              </a:lnSpc>
              <a:spcAft>
                <a:spcPts val="0"/>
              </a:spcAft>
            </a:pPr>
            <a:r>
              <a:rPr sz="1250" b="0" dirty="0">
                <a:solidFill>
                  <a:srgbClr val="F2F2F2"/>
                </a:solidFill>
                <a:latin typeface="Consolas"/>
              </a:rPr>
              <a:t>Database CPU Time Ratio    96.8    % </a:t>
            </a:r>
            <a:r>
              <a:rPr sz="1250" b="0" dirty="0" err="1">
                <a:solidFill>
                  <a:srgbClr val="F2F2F2"/>
                </a:solidFill>
                <a:latin typeface="Consolas"/>
              </a:rPr>
              <a:t>Cpu</a:t>
            </a:r>
            <a:r>
              <a:rPr sz="1250" b="0" dirty="0">
                <a:solidFill>
                  <a:srgbClr val="F2F2F2"/>
                </a:solidFill>
                <a:latin typeface="Consolas"/>
              </a:rPr>
              <a:t>/</a:t>
            </a:r>
            <a:r>
              <a:rPr sz="1250" b="0" dirty="0" err="1">
                <a:solidFill>
                  <a:srgbClr val="F2F2F2"/>
                </a:solidFill>
                <a:latin typeface="Consolas"/>
              </a:rPr>
              <a:t>DB_Time</a:t>
            </a:r>
            <a:endParaRPr sz="1250" b="0" dirty="0">
              <a:solidFill>
                <a:srgbClr val="F2F2F2"/>
              </a:solidFill>
              <a:latin typeface="Consolas"/>
            </a:endParaRPr>
          </a:p>
          <a:p>
            <a:pPr>
              <a:lnSpc>
                <a:spcPct val="100000"/>
              </a:lnSpc>
              <a:spcAft>
                <a:spcPts val="0"/>
              </a:spcAft>
            </a:pPr>
            <a:r>
              <a:rPr sz="1250" b="0" dirty="0">
                <a:solidFill>
                  <a:srgbClr val="F2F2F2"/>
                </a:solidFill>
                <a:latin typeface="Consolas"/>
              </a:rPr>
              <a:t>Database Wait Time Ratio   3.2     % Wait/</a:t>
            </a:r>
            <a:r>
              <a:rPr sz="1250" b="0" dirty="0" err="1">
                <a:solidFill>
                  <a:srgbClr val="F2F2F2"/>
                </a:solidFill>
                <a:latin typeface="Consolas"/>
              </a:rPr>
              <a:t>DB_Time</a:t>
            </a:r>
            <a:endParaRPr sz="1250" b="0" dirty="0">
              <a:solidFill>
                <a:srgbClr val="F2F2F2"/>
              </a:solidFill>
              <a:latin typeface="Consolas"/>
            </a:endParaRPr>
          </a:p>
          <a:p>
            <a:pPr>
              <a:lnSpc>
                <a:spcPct val="100000"/>
              </a:lnSpc>
              <a:spcAft>
                <a:spcPts val="0"/>
              </a:spcAft>
            </a:pPr>
            <a:r>
              <a:rPr sz="1250" b="0" dirty="0">
                <a:solidFill>
                  <a:srgbClr val="F2F2F2"/>
                </a:solidFill>
                <a:latin typeface="Consolas"/>
              </a:rPr>
              <a:t>Executions Per Sec         916.31  Executes Per Second</a:t>
            </a:r>
          </a:p>
          <a:p>
            <a:pPr>
              <a:lnSpc>
                <a:spcPct val="100000"/>
              </a:lnSpc>
              <a:spcAft>
                <a:spcPts val="0"/>
              </a:spcAft>
            </a:pPr>
            <a:r>
              <a:rPr sz="1250" b="0" dirty="0">
                <a:solidFill>
                  <a:srgbClr val="F2F2F2"/>
                </a:solidFill>
                <a:latin typeface="Consolas"/>
              </a:rPr>
              <a:t>Host CPU Utilization (%)   48.77   % Busy/(</a:t>
            </a:r>
            <a:r>
              <a:rPr sz="1250" b="0" dirty="0" err="1">
                <a:solidFill>
                  <a:srgbClr val="F2F2F2"/>
                </a:solidFill>
                <a:latin typeface="Consolas"/>
              </a:rPr>
              <a:t>Idle+Busy</a:t>
            </a:r>
            <a:r>
              <a:rPr sz="1250" b="0" dirty="0">
                <a:solidFill>
                  <a:srgbClr val="F2F2F2"/>
                </a:solidFill>
                <a:latin typeface="Consolas"/>
              </a:rPr>
              <a:t>)</a:t>
            </a:r>
          </a:p>
        </p:txBody>
      </p:sp>
    </p:spTree>
    <p:extLst>
      <p:ext uri="{BB962C8B-B14F-4D97-AF65-F5344CB8AC3E}">
        <p14:creationId xmlns:p14="http://schemas.microsoft.com/office/powerpoint/2010/main" val="791577408"/>
      </p:ext>
    </p:extLst>
  </p:cSld>
  <p:clrMapOvr>
    <a:masterClrMapping/>
  </p:clrMapOvr>
</p:sld>
</file>

<file path=ppt/slides/slide1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이력 분포를 뽑는다</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DBA_HIST_SYSMETRIC_SUMMARY  🔒</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27000" tIns="101600" rtlCol="0" anchor="ctr"/>
          <a:lstStyle/>
          <a:p>
            <a:pPr>
              <a:lnSpc>
                <a:spcPct val="100000"/>
              </a:lnSpc>
              <a:spcAft>
                <a:spcPts val="0"/>
              </a:spcAft>
            </a:pPr>
            <a:r>
              <a:rPr sz="1250" b="0" dirty="0" err="1">
                <a:solidFill>
                  <a:srgbClr val="F2F2F2"/>
                </a:solidFill>
                <a:latin typeface="Consolas"/>
              </a:rPr>
              <a:t>SYS@orcl</a:t>
            </a:r>
            <a:r>
              <a:rPr sz="1250" b="0" dirty="0">
                <a:solidFill>
                  <a:srgbClr val="F2F2F2"/>
                </a:solidFill>
                <a:latin typeface="Consolas"/>
              </a:rPr>
              <a:t>&gt; SELECT </a:t>
            </a:r>
            <a:r>
              <a:rPr sz="1250" b="0" dirty="0" err="1">
                <a:solidFill>
                  <a:srgbClr val="F2F2F2"/>
                </a:solidFill>
                <a:latin typeface="Consolas"/>
              </a:rPr>
              <a:t>metric_name</a:t>
            </a:r>
            <a:r>
              <a:rPr sz="1250" b="0" dirty="0">
                <a:solidFill>
                  <a:srgbClr val="F2F2F2"/>
                </a:solidFill>
                <a:latin typeface="Consolas"/>
              </a:rPr>
              <a:t>,</a:t>
            </a:r>
          </a:p>
          <a:p>
            <a:pPr>
              <a:lnSpc>
                <a:spcPct val="100000"/>
              </a:lnSpc>
              <a:spcAft>
                <a:spcPts val="0"/>
              </a:spcAft>
            </a:pPr>
            <a:r>
              <a:rPr sz="1250" b="0" dirty="0">
                <a:solidFill>
                  <a:srgbClr val="F2F2F2"/>
                </a:solidFill>
                <a:latin typeface="Consolas"/>
              </a:rPr>
              <a:t>  2    ROUND(PERCENTILE_CONT(0.50) WITHIN GROUP</a:t>
            </a:r>
          </a:p>
          <a:p>
            <a:pPr>
              <a:lnSpc>
                <a:spcPct val="100000"/>
              </a:lnSpc>
              <a:spcAft>
                <a:spcPts val="0"/>
              </a:spcAft>
            </a:pPr>
            <a:r>
              <a:rPr sz="1250" b="0" dirty="0">
                <a:solidFill>
                  <a:srgbClr val="F2F2F2"/>
                </a:solidFill>
                <a:latin typeface="Consolas"/>
              </a:rPr>
              <a:t>  3      (ORDER BY average),2) p50,</a:t>
            </a:r>
          </a:p>
          <a:p>
            <a:pPr>
              <a:lnSpc>
                <a:spcPct val="100000"/>
              </a:lnSpc>
              <a:spcAft>
                <a:spcPts val="0"/>
              </a:spcAft>
            </a:pPr>
            <a:r>
              <a:rPr sz="1250" b="0" dirty="0">
                <a:solidFill>
                  <a:srgbClr val="F2F2F2"/>
                </a:solidFill>
                <a:latin typeface="Consolas"/>
              </a:rPr>
              <a:t>  4    ROUND(PERCENTILE_CONT(0.95) WITHIN GROUP</a:t>
            </a:r>
          </a:p>
          <a:p>
            <a:pPr>
              <a:lnSpc>
                <a:spcPct val="100000"/>
              </a:lnSpc>
              <a:spcAft>
                <a:spcPts val="0"/>
              </a:spcAft>
            </a:pPr>
            <a:r>
              <a:rPr sz="1250" b="0" dirty="0">
                <a:solidFill>
                  <a:srgbClr val="F2F2F2"/>
                </a:solidFill>
                <a:latin typeface="Consolas"/>
              </a:rPr>
              <a:t>  5      (ORDER BY average),2) p95,</a:t>
            </a:r>
          </a:p>
          <a:p>
            <a:pPr>
              <a:lnSpc>
                <a:spcPct val="100000"/>
              </a:lnSpc>
              <a:spcAft>
                <a:spcPts val="0"/>
              </a:spcAft>
            </a:pPr>
            <a:r>
              <a:rPr sz="1250" b="0" dirty="0">
                <a:solidFill>
                  <a:srgbClr val="F2F2F2"/>
                </a:solidFill>
                <a:latin typeface="Consolas"/>
              </a:rPr>
              <a:t>  6    ROUND(PERCENTILE_CONT(0.99) WITHIN GROUP</a:t>
            </a:r>
          </a:p>
          <a:p>
            <a:pPr>
              <a:lnSpc>
                <a:spcPct val="100000"/>
              </a:lnSpc>
              <a:spcAft>
                <a:spcPts val="0"/>
              </a:spcAft>
            </a:pPr>
            <a:r>
              <a:rPr sz="1250" b="0" dirty="0">
                <a:solidFill>
                  <a:srgbClr val="F2F2F2"/>
                </a:solidFill>
                <a:latin typeface="Consolas"/>
              </a:rPr>
              <a:t>  7      (ORDER BY average),2) p99, ROUND(MAX(</a:t>
            </a:r>
            <a:r>
              <a:rPr sz="1250" b="0" dirty="0" err="1">
                <a:solidFill>
                  <a:srgbClr val="F2F2F2"/>
                </a:solidFill>
                <a:latin typeface="Consolas"/>
              </a:rPr>
              <a:t>maxval</a:t>
            </a:r>
            <a:r>
              <a:rPr sz="1250" b="0" dirty="0">
                <a:solidFill>
                  <a:srgbClr val="F2F2F2"/>
                </a:solidFill>
                <a:latin typeface="Consolas"/>
              </a:rPr>
              <a:t>),2) peak</a:t>
            </a:r>
          </a:p>
          <a:p>
            <a:pPr>
              <a:lnSpc>
                <a:spcPct val="100000"/>
              </a:lnSpc>
              <a:spcAft>
                <a:spcPts val="0"/>
              </a:spcAft>
            </a:pPr>
            <a:r>
              <a:rPr sz="1250" b="0" dirty="0">
                <a:solidFill>
                  <a:srgbClr val="F2F2F2"/>
                </a:solidFill>
                <a:latin typeface="Consolas"/>
              </a:rPr>
              <a:t>  8  FROM </a:t>
            </a:r>
            <a:r>
              <a:rPr sz="1250" b="0" dirty="0" err="1">
                <a:solidFill>
                  <a:srgbClr val="F2F2F2"/>
                </a:solidFill>
                <a:latin typeface="Consolas"/>
              </a:rPr>
              <a:t>dba_hist_sysmetric_summary</a:t>
            </a:r>
            <a:endParaRPr sz="1250" b="0" dirty="0">
              <a:solidFill>
                <a:srgbClr val="F2F2F2"/>
              </a:solidFill>
              <a:latin typeface="Consolas"/>
            </a:endParaRPr>
          </a:p>
          <a:p>
            <a:pPr>
              <a:lnSpc>
                <a:spcPct val="100000"/>
              </a:lnSpc>
              <a:spcAft>
                <a:spcPts val="0"/>
              </a:spcAft>
            </a:pPr>
            <a:r>
              <a:rPr sz="1250" b="0" dirty="0">
                <a:solidFill>
                  <a:srgbClr val="F2F2F2"/>
                </a:solidFill>
                <a:latin typeface="Consolas"/>
              </a:rPr>
              <a:t>  9  WHERE </a:t>
            </a:r>
            <a:r>
              <a:rPr sz="1250" b="0" dirty="0" err="1">
                <a:solidFill>
                  <a:srgbClr val="F2F2F2"/>
                </a:solidFill>
                <a:latin typeface="Consolas"/>
              </a:rPr>
              <a:t>metric_name</a:t>
            </a:r>
            <a:r>
              <a:rPr sz="1250" b="0" dirty="0">
                <a:solidFill>
                  <a:srgbClr val="F2F2F2"/>
                </a:solidFill>
                <a:latin typeface="Consolas"/>
              </a:rPr>
              <a:t>='Average Active Sessions'</a:t>
            </a:r>
          </a:p>
          <a:p>
            <a:pPr>
              <a:lnSpc>
                <a:spcPct val="100000"/>
              </a:lnSpc>
              <a:spcAft>
                <a:spcPts val="0"/>
              </a:spcAft>
            </a:pPr>
            <a:r>
              <a:rPr sz="1250" b="0" dirty="0">
                <a:solidFill>
                  <a:srgbClr val="F2F2F2"/>
                </a:solidFill>
                <a:latin typeface="Consolas"/>
              </a:rPr>
              <a:t> 10  GROUP BY </a:t>
            </a:r>
            <a:r>
              <a:rPr sz="1250" b="0" dirty="0" err="1">
                <a:solidFill>
                  <a:srgbClr val="F2F2F2"/>
                </a:solidFill>
                <a:latin typeface="Consolas"/>
              </a:rPr>
              <a:t>metric_name</a:t>
            </a:r>
            <a:r>
              <a:rPr sz="1250" b="0" dirty="0">
                <a:solidFill>
                  <a:srgbClr val="F2F2F2"/>
                </a:solidFill>
                <a:latin typeface="Consolas"/>
              </a:rPr>
              <a:t>;</a:t>
            </a:r>
          </a:p>
          <a:p>
            <a:pPr>
              <a:lnSpc>
                <a:spcPct val="100000"/>
              </a:lnSpc>
              <a:spcAft>
                <a:spcPts val="0"/>
              </a:spcAft>
            </a:pPr>
            <a:r>
              <a:rPr sz="1250" b="0" dirty="0">
                <a:solidFill>
                  <a:srgbClr val="F2F2F2"/>
                </a:solidFill>
                <a:latin typeface="Consolas"/>
              </a:rPr>
              <a:t> </a:t>
            </a:r>
          </a:p>
          <a:p>
            <a:pPr>
              <a:lnSpc>
                <a:spcPct val="100000"/>
              </a:lnSpc>
              <a:spcAft>
                <a:spcPts val="0"/>
              </a:spcAft>
            </a:pPr>
            <a:r>
              <a:rPr sz="1250" b="0" dirty="0">
                <a:solidFill>
                  <a:srgbClr val="F2F2F2"/>
                </a:solidFill>
                <a:latin typeface="Consolas"/>
              </a:rPr>
              <a:t>P50    P95    P99    PEAK</a:t>
            </a:r>
          </a:p>
          <a:p>
            <a:pPr>
              <a:lnSpc>
                <a:spcPct val="100000"/>
              </a:lnSpc>
              <a:spcAft>
                <a:spcPts val="0"/>
              </a:spcAft>
            </a:pPr>
            <a:r>
              <a:rPr sz="1250" b="0" dirty="0">
                <a:solidFill>
                  <a:srgbClr val="F2F2F2"/>
                </a:solidFill>
                <a:latin typeface="Consolas"/>
              </a:rPr>
              <a:t>&lt;</a:t>
            </a:r>
            <a:r>
              <a:rPr sz="1250" b="0" dirty="0" err="1">
                <a:solidFill>
                  <a:srgbClr val="F2F2F2"/>
                </a:solidFill>
                <a:latin typeface="Consolas"/>
              </a:rPr>
              <a:t>환경값</a:t>
            </a:r>
            <a:r>
              <a:rPr sz="1250" b="0" dirty="0">
                <a:solidFill>
                  <a:srgbClr val="F2F2F2"/>
                </a:solidFill>
                <a:latin typeface="Consolas"/>
              </a:rPr>
              <a:t>&gt; &lt;</a:t>
            </a:r>
            <a:r>
              <a:rPr sz="1250" b="0" dirty="0" err="1">
                <a:solidFill>
                  <a:srgbClr val="F2F2F2"/>
                </a:solidFill>
                <a:latin typeface="Consolas"/>
              </a:rPr>
              <a:t>환경값</a:t>
            </a:r>
            <a:r>
              <a:rPr sz="1250" b="0" dirty="0">
                <a:solidFill>
                  <a:srgbClr val="F2F2F2"/>
                </a:solidFill>
                <a:latin typeface="Consolas"/>
              </a:rPr>
              <a:t>&gt; &lt;</a:t>
            </a:r>
            <a:r>
              <a:rPr sz="1250" b="0" dirty="0" err="1">
                <a:solidFill>
                  <a:srgbClr val="F2F2F2"/>
                </a:solidFill>
                <a:latin typeface="Consolas"/>
              </a:rPr>
              <a:t>환경값</a:t>
            </a:r>
            <a:r>
              <a:rPr sz="1250" b="0" dirty="0">
                <a:solidFill>
                  <a:srgbClr val="F2F2F2"/>
                </a:solidFill>
                <a:latin typeface="Consolas"/>
              </a:rPr>
              <a:t>&gt; &lt;</a:t>
            </a:r>
            <a:r>
              <a:rPr sz="1250" b="0" dirty="0" err="1">
                <a:solidFill>
                  <a:srgbClr val="F2F2F2"/>
                </a:solidFill>
                <a:latin typeface="Consolas"/>
              </a:rPr>
              <a:t>환경값</a:t>
            </a:r>
            <a:r>
              <a:rPr sz="1250" b="0" dirty="0">
                <a:solidFill>
                  <a:srgbClr val="F2F2F2"/>
                </a:solidFill>
                <a:latin typeface="Consolas"/>
              </a:rPr>
              <a:t>&gt;</a:t>
            </a:r>
          </a:p>
        </p:txBody>
      </p:sp>
    </p:spTree>
    <p:extLst>
      <p:ext uri="{BB962C8B-B14F-4D97-AF65-F5344CB8AC3E}">
        <p14:creationId xmlns:p14="http://schemas.microsoft.com/office/powerpoint/2010/main" val="3423057805"/>
      </p:ext>
    </p:extLst>
  </p:cSld>
  <p:clrMapOvr>
    <a:masterClrMapping/>
  </p:clrMapOvr>
</p:sld>
</file>

<file path=ppt/slides/slide1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분포에서 경고·위험을 도출하는 규칙</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숫자가 아니라 절차</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경고(Warning) = 평시 상위 5% 지점(p95) → 드물게만 넘는 선</a:t>
            </a:r>
          </a:p>
          <a:p>
            <a:pPr>
              <a:spcAft>
                <a:spcPts val="800"/>
              </a:spcAft>
            </a:pPr>
            <a:r>
              <a:rPr sz="1700" b="0">
                <a:solidFill>
                  <a:srgbClr val="222222"/>
                </a:solidFill>
                <a:latin typeface="맑은 고딕"/>
              </a:rPr>
              <a:t>•  위험(Critical) = p99와 관측 최댓값(peak) 사이 → 거의 안 닿는 선</a:t>
            </a:r>
          </a:p>
          <a:p>
            <a:pPr>
              <a:spcAft>
                <a:spcPts val="800"/>
              </a:spcAft>
            </a:pPr>
            <a:r>
              <a:rPr sz="1700" b="0">
                <a:solidFill>
                  <a:srgbClr val="222222"/>
                </a:solidFill>
                <a:latin typeface="맑은 고딕"/>
              </a:rPr>
              <a:t>•  경고~위험 사이에 대응할 물리적 시간 간격을 확보</a:t>
            </a:r>
          </a:p>
          <a:p>
            <a:pPr>
              <a:spcAft>
                <a:spcPts val="800"/>
              </a:spcAft>
            </a:pPr>
            <a:r>
              <a:rPr sz="1700" b="0">
                <a:solidFill>
                  <a:srgbClr val="222222"/>
                </a:solidFill>
                <a:latin typeface="맑은 고딕"/>
              </a:rPr>
              <a:t>•  consecutive_occurrences 2~3으로 p95 스침 흡수</a:t>
            </a:r>
          </a:p>
          <a:p>
            <a:pPr>
              <a:spcAft>
                <a:spcPts val="800"/>
              </a:spcAft>
            </a:pPr>
            <a:r>
              <a:rPr sz="1700" b="0">
                <a:solidFill>
                  <a:srgbClr val="222222"/>
                </a:solidFill>
                <a:latin typeface="맑은 고딕"/>
              </a:rPr>
              <a:t>•  분기마다 이력 재산정 — 평시 자체가 이동한다</a:t>
            </a:r>
          </a:p>
        </p:txBody>
      </p:sp>
    </p:spTree>
    <p:extLst>
      <p:ext uri="{BB962C8B-B14F-4D97-AF65-F5344CB8AC3E}">
        <p14:creationId xmlns:p14="http://schemas.microsoft.com/office/powerpoint/2010/main" val="2606238058"/>
      </p:ext>
    </p:extLst>
  </p:cSld>
  <p:clrMapOvr>
    <a:masterClrMapping/>
  </p:clrMapOvr>
</p:sld>
</file>

<file path=ppt/slides/slide1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평균±표준편차로 보정하기</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지표 성격에 맞춰 손잡이 조합</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정규에 가까우면 평균+2σ≈상위 2~3%(경고), 평균+3σ(위험)</a:t>
            </a:r>
          </a:p>
          <a:p>
            <a:pPr>
              <a:spcAft>
                <a:spcPts val="800"/>
              </a:spcAft>
            </a:pPr>
            <a:r>
              <a:rPr sz="1700" b="0">
                <a:solidFill>
                  <a:srgbClr val="222222"/>
                </a:solidFill>
                <a:latin typeface="맑은 고딕"/>
              </a:rPr>
              <a:t>•  백분위수와 두 방법이 일치하면 확신↑, 어긋나면 치우친 분포</a:t>
            </a:r>
          </a:p>
          <a:p>
            <a:pPr>
              <a:spcAft>
                <a:spcPts val="800"/>
              </a:spcAft>
            </a:pPr>
            <a:r>
              <a:rPr sz="1700" b="0">
                <a:solidFill>
                  <a:srgbClr val="222222"/>
                </a:solidFill>
                <a:latin typeface="맑은 고딕"/>
              </a:rPr>
              <a:t>•  CPU Time Ratio(96.8%): 상한 100% → 값보다 '지속성'을 본다</a:t>
            </a:r>
          </a:p>
          <a:p>
            <a:pPr>
              <a:spcAft>
                <a:spcPts val="800"/>
              </a:spcAft>
            </a:pPr>
            <a:r>
              <a:rPr sz="1700" b="0">
                <a:solidFill>
                  <a:srgbClr val="222222"/>
                </a:solidFill>
                <a:latin typeface="맑은 고딕"/>
              </a:rPr>
              <a:t>•  Executions Per Sec(916.31): 상한 없음 → 백분위수 방식이 적합</a:t>
            </a:r>
          </a:p>
          <a:p>
            <a:pPr>
              <a:spcAft>
                <a:spcPts val="800"/>
              </a:spcAft>
            </a:pPr>
            <a:r>
              <a:rPr sz="1700" b="0">
                <a:solidFill>
                  <a:srgbClr val="222222"/>
                </a:solidFill>
                <a:latin typeface="맑은 고딕"/>
              </a:rPr>
              <a:t>•  표본 구간을 업무 시간대로 분리(낮 vs 배치 새벽)</a:t>
            </a:r>
          </a:p>
        </p:txBody>
      </p:sp>
    </p:spTree>
    <p:extLst>
      <p:ext uri="{BB962C8B-B14F-4D97-AF65-F5344CB8AC3E}">
        <p14:creationId xmlns:p14="http://schemas.microsoft.com/office/powerpoint/2010/main" val="398889088"/>
      </p:ext>
    </p:extLst>
  </p:cSld>
  <p:clrMapOvr>
    <a:masterClrMapping/>
  </p:clrMapOvr>
</p:sld>
</file>

<file path=ppt/slides/slide1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실무 시나리오 — 4.28로 임계값 정하기</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현재값은 분포 위의 한 점</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상황: AAS 4.28, Host CPU 48.77%. 활성 세션 경고를 걸어야 한다</a:t>
            </a:r>
          </a:p>
          <a:p>
            <a:pPr>
              <a:spcAft>
                <a:spcPts val="800"/>
              </a:spcAft>
            </a:pPr>
            <a:r>
              <a:rPr sz="1700" b="0">
                <a:solidFill>
                  <a:srgbClr val="222222"/>
                </a:solidFill>
                <a:latin typeface="맑은 고딕"/>
              </a:rPr>
              <a:t>•  ✗ '4.28이 지금 값이니 5쯤에 경고' → 평시 중앙값이면 상시 알림</a:t>
            </a:r>
          </a:p>
          <a:p>
            <a:pPr>
              <a:spcAft>
                <a:spcPts val="800"/>
              </a:spcAft>
            </a:pPr>
            <a:r>
              <a:rPr sz="1700" b="0">
                <a:solidFill>
                  <a:srgbClr val="222222"/>
                </a:solidFill>
                <a:latin typeface="맑은 고딕"/>
              </a:rPr>
              <a:t>•  ○ 이력에서 p95·p99를 뽑아 경고=p95, 위험=p99~peak</a:t>
            </a:r>
          </a:p>
          <a:p>
            <a:pPr>
              <a:spcAft>
                <a:spcPts val="800"/>
              </a:spcAft>
            </a:pPr>
            <a:r>
              <a:rPr sz="1700" b="0">
                <a:solidFill>
                  <a:srgbClr val="222222"/>
                </a:solidFill>
                <a:latin typeface="맑은 고딕"/>
              </a:rPr>
              <a:t>•  Host CPU가 코어 대비 절반 → 세션이 코어 수 넘는 지점이 위험 후보</a:t>
            </a:r>
          </a:p>
          <a:p>
            <a:pPr>
              <a:spcAft>
                <a:spcPts val="800"/>
              </a:spcAft>
            </a:pPr>
            <a:r>
              <a:rPr sz="1700" b="0">
                <a:solidFill>
                  <a:srgbClr val="222222"/>
                </a:solidFill>
                <a:latin typeface="맑은 고딕"/>
              </a:rPr>
              <a:t>•  현재값 4.28은 임계값이 아니라 분포 위 좌표로만 쓴다</a:t>
            </a:r>
          </a:p>
        </p:txBody>
      </p:sp>
    </p:spTree>
    <p:extLst>
      <p:ext uri="{BB962C8B-B14F-4D97-AF65-F5344CB8AC3E}">
        <p14:creationId xmlns:p14="http://schemas.microsoft.com/office/powerpoint/2010/main" val="2082766141"/>
      </p:ext>
    </p:extLst>
  </p:cSld>
  <p:clrMapOvr>
    <a:masterClrMapping/>
  </p:clrMapOvr>
</p:sld>
</file>

<file path=ppt/slides/slide1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임계값은 한 번 정하고 끝이 아니다</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평시가 이동한다</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사용자·데이터·업무가 늘면 평시 자체가 위로 이동</a:t>
            </a:r>
          </a:p>
          <a:p>
            <a:pPr>
              <a:spcAft>
                <a:spcPts val="800"/>
              </a:spcAft>
            </a:pPr>
            <a:r>
              <a:rPr sz="1700" b="0">
                <a:solidFill>
                  <a:srgbClr val="222222"/>
                </a:solidFill>
                <a:latin typeface="맑은 고딕"/>
              </a:rPr>
              <a:t>•  3개월 전 p95가 오늘은 평시 중앙값일 수 있다 → 다시 알림 피로</a:t>
            </a:r>
          </a:p>
          <a:p>
            <a:pPr>
              <a:spcAft>
                <a:spcPts val="800"/>
              </a:spcAft>
            </a:pPr>
            <a:r>
              <a:rPr sz="1700" b="0">
                <a:solidFill>
                  <a:srgbClr val="222222"/>
                </a:solidFill>
                <a:latin typeface="맑은 고딕"/>
              </a:rPr>
              <a:t>•  분기마다·큰 배포 뒤에 이력 재산정, 근거와 함께 기록</a:t>
            </a:r>
          </a:p>
          <a:p>
            <a:pPr>
              <a:spcAft>
                <a:spcPts val="800"/>
              </a:spcAft>
            </a:pPr>
            <a:r>
              <a:rPr sz="1700" b="0">
                <a:solidFill>
                  <a:srgbClr val="222222"/>
                </a:solidFill>
                <a:latin typeface="맑은 고딕"/>
              </a:rPr>
              <a:t>•  발생 빈도가 는다 = 임계값이 낮아서가 아니라 한계 접근 신호</a:t>
            </a:r>
          </a:p>
          <a:p>
            <a:pPr>
              <a:spcAft>
                <a:spcPts val="800"/>
              </a:spcAft>
            </a:pPr>
            <a:r>
              <a:rPr sz="1700" b="0">
                <a:solidFill>
                  <a:srgbClr val="222222"/>
                </a:solidFill>
                <a:latin typeface="맑은 고딕"/>
              </a:rPr>
              <a:t>•  임계값 발생 추이 = 용량 계획의 입력</a:t>
            </a:r>
          </a:p>
        </p:txBody>
      </p:sp>
    </p:spTree>
    <p:extLst>
      <p:ext uri="{BB962C8B-B14F-4D97-AF65-F5344CB8AC3E}">
        <p14:creationId xmlns:p14="http://schemas.microsoft.com/office/powerpoint/2010/main" val="1119055067"/>
      </p:ext>
    </p:extLst>
  </p:cSld>
  <p:clrMapOvr>
    <a:masterClrMapping/>
  </p:clrMapOvr>
</p:sld>
</file>

<file path=ppt/slides/slide1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28.5</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알림 대응 절차</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spcAft>
                <a:spcPts val="400"/>
              </a:spcAft>
            </a:pPr>
            <a:r>
              <a:rPr sz="1600" b="0">
                <a:solidFill>
                  <a:srgbClr val="FFFFFF"/>
                </a:solidFill>
                <a:latin typeface="맑은 고딕"/>
              </a:rPr>
              <a:t>•  울리면 무엇부터 보는가</a:t>
            </a:r>
          </a:p>
          <a:p>
            <a:pPr>
              <a:spcAft>
                <a:spcPts val="400"/>
              </a:spcAft>
            </a:pPr>
            <a:r>
              <a:rPr sz="1600" b="0">
                <a:solidFill>
                  <a:srgbClr val="FFFFFF"/>
                </a:solidFill>
                <a:latin typeface="맑은 고딕"/>
              </a:rPr>
              <a:t>•  증상 → 원인으로 좁히기</a:t>
            </a:r>
          </a:p>
          <a:p>
            <a:pPr>
              <a:spcAft>
                <a:spcPts val="400"/>
              </a:spcAft>
            </a:pPr>
            <a:r>
              <a:rPr sz="1600" b="0">
                <a:solidFill>
                  <a:srgbClr val="FFFFFF"/>
                </a:solidFill>
                <a:latin typeface="맑은 고딕"/>
              </a:rPr>
              <a:t>•  위→아래 순서 준수</a:t>
            </a:r>
          </a:p>
          <a:p>
            <a:pPr>
              <a:spcAft>
                <a:spcPts val="400"/>
              </a:spcAft>
            </a:pPr>
            <a:r>
              <a:rPr sz="1600" b="0">
                <a:solidFill>
                  <a:srgbClr val="FFFFFF"/>
                </a:solidFill>
                <a:latin typeface="맑은 고딕"/>
              </a:rPr>
              <a:t>•  근거를 남긴다</a:t>
            </a:r>
          </a:p>
        </p:txBody>
      </p:sp>
    </p:spTree>
    <p:extLst>
      <p:ext uri="{BB962C8B-B14F-4D97-AF65-F5344CB8AC3E}">
        <p14:creationId xmlns:p14="http://schemas.microsoft.com/office/powerpoint/2010/main" val="1195579403"/>
      </p:ext>
    </p:extLst>
  </p:cSld>
  <p:clrMapOvr>
    <a:masterClrMapping/>
  </p:clrMapOvr>
</p:sld>
</file>

<file path=ppt/slides/slide1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대응 절차 — 위에서 아래로</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알림은 증상, 원인은 V$로 판다</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1) 알림 유형·심각도 — OUTSTANDING/HISTORY</a:t>
            </a:r>
          </a:p>
          <a:p>
            <a:pPr>
              <a:spcAft>
                <a:spcPts val="800"/>
              </a:spcAft>
            </a:pPr>
            <a:r>
              <a:rPr sz="1700" b="0">
                <a:solidFill>
                  <a:srgbClr val="222222"/>
                </a:solidFill>
                <a:latin typeface="맑은 고딕"/>
              </a:rPr>
              <a:t>•  2) 전체 부하 — V$SYSMETRIC(AAS·CPU·Wait Ratio)</a:t>
            </a:r>
          </a:p>
          <a:p>
            <a:pPr>
              <a:spcAft>
                <a:spcPts val="800"/>
              </a:spcAft>
            </a:pPr>
            <a:r>
              <a:rPr sz="1700" b="0">
                <a:solidFill>
                  <a:srgbClr val="222222"/>
                </a:solidFill>
                <a:latin typeface="맑은 고딕"/>
              </a:rPr>
              <a:t>•  3) 활성 세션 지목 — V$SESSION(ACTIVE)</a:t>
            </a:r>
          </a:p>
          <a:p>
            <a:pPr>
              <a:spcAft>
                <a:spcPts val="800"/>
              </a:spcAft>
            </a:pPr>
            <a:r>
              <a:rPr sz="1700" b="0">
                <a:solidFill>
                  <a:srgbClr val="222222"/>
                </a:solidFill>
                <a:latin typeface="맑은 고딕"/>
              </a:rPr>
              <a:t>•  4) 대기·블로커 — BLOCKING_SESSION, V$SESSION_WAIT</a:t>
            </a:r>
          </a:p>
          <a:p>
            <a:pPr>
              <a:spcAft>
                <a:spcPts val="800"/>
              </a:spcAft>
            </a:pPr>
            <a:r>
              <a:rPr sz="1700" b="0">
                <a:solidFill>
                  <a:srgbClr val="222222"/>
                </a:solidFill>
                <a:latin typeface="맑은 고딕"/>
              </a:rPr>
              <a:t>•  5) 원인 SQL·세그먼트 — V$SQL, V$SEGMENT_STATISTICS</a:t>
            </a:r>
          </a:p>
          <a:p>
            <a:pPr>
              <a:spcAft>
                <a:spcPts val="800"/>
              </a:spcAft>
            </a:pPr>
            <a:r>
              <a:rPr sz="1700" b="0">
                <a:solidFill>
                  <a:srgbClr val="222222"/>
                </a:solidFill>
                <a:latin typeface="맑은 고딕"/>
              </a:rPr>
              <a:t>•  6) 조치 후 재확인 — 1~2단계 재측정</a:t>
            </a:r>
          </a:p>
        </p:txBody>
      </p:sp>
    </p:spTree>
    <p:extLst>
      <p:ext uri="{BB962C8B-B14F-4D97-AF65-F5344CB8AC3E}">
        <p14:creationId xmlns:p14="http://schemas.microsoft.com/office/powerpoint/2010/main" val="585268712"/>
      </p:ext>
    </p:extLst>
  </p:cSld>
  <p:clrMapOvr>
    <a:masterClrMapping/>
  </p:clrMapOvr>
</p:sld>
</file>

<file path=ppt/slides/slide1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WL_04_lock 대응 실습 흐름</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잠금 경합 유발 → 알림 → 대응</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WL_04_lock: 한 세션이 행을 잡고 커밋 안 함 → 다른 세션들 대기</a:t>
            </a:r>
          </a:p>
          <a:p>
            <a:pPr>
              <a:spcAft>
                <a:spcPts val="800"/>
              </a:spcAft>
            </a:pPr>
            <a:r>
              <a:rPr sz="1700" b="0">
                <a:solidFill>
                  <a:srgbClr val="222222"/>
                </a:solidFill>
                <a:latin typeface="맑은 고딕"/>
              </a:rPr>
              <a:t>•  활성 세션↑, 서비스 응답시간 메트릭↑ → 알림 발생(Stateful)</a:t>
            </a:r>
          </a:p>
          <a:p>
            <a:pPr>
              <a:spcAft>
                <a:spcPts val="800"/>
              </a:spcAft>
            </a:pPr>
            <a:r>
              <a:rPr sz="1700" b="0">
                <a:solidFill>
                  <a:srgbClr val="222222"/>
                </a:solidFill>
                <a:latin typeface="맑은 고딕"/>
              </a:rPr>
              <a:t>•  2)Wait Ratio↑ 3)enq: TX-row lock contention에 세션 몰림</a:t>
            </a:r>
          </a:p>
          <a:p>
            <a:pPr>
              <a:spcAft>
                <a:spcPts val="800"/>
              </a:spcAft>
            </a:pPr>
            <a:r>
              <a:rPr sz="1700" b="0">
                <a:solidFill>
                  <a:srgbClr val="222222"/>
                </a:solidFill>
                <a:latin typeface="맑은 고딕"/>
              </a:rPr>
              <a:t>•  4) BLOCKING_SESSION으로 블로커 지목 → 커밋 유도/응급 종료</a:t>
            </a:r>
          </a:p>
          <a:p>
            <a:pPr>
              <a:spcAft>
                <a:spcPts val="800"/>
              </a:spcAft>
            </a:pPr>
            <a:r>
              <a:rPr sz="1700" b="0">
                <a:solidFill>
                  <a:srgbClr val="222222"/>
                </a:solidFill>
                <a:latin typeface="맑은 고딕"/>
              </a:rPr>
              <a:t>•  6) 대기 세션 해소·알림 자동 clear·Wait Ratio 정상 재확인</a:t>
            </a:r>
          </a:p>
        </p:txBody>
      </p:sp>
    </p:spTree>
    <p:extLst>
      <p:ext uri="{BB962C8B-B14F-4D97-AF65-F5344CB8AC3E}">
        <p14:creationId xmlns:p14="http://schemas.microsoft.com/office/powerpoint/2010/main" val="4075237659"/>
      </p:ext>
    </p:extLst>
  </p:cSld>
  <p:clrMapOvr>
    <a:masterClrMapping/>
  </p:clrMapOvr>
</p:sld>
</file>

<file path=ppt/slides/slide1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대응하며 근거를 남긴다</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ch17의 원칙을 알림 상황에</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조치 전 상태 캡처 없으면 조치 효과를 증명 못 함</a:t>
            </a:r>
          </a:p>
          <a:p>
            <a:pPr>
              <a:spcAft>
                <a:spcPts val="800"/>
              </a:spcAft>
            </a:pPr>
            <a:r>
              <a:rPr sz="1700" b="0">
                <a:solidFill>
                  <a:srgbClr val="222222"/>
                </a:solidFill>
                <a:latin typeface="맑은 고딕"/>
              </a:rPr>
              <a:t>•  기록: 알림 시각 · V$SYSMETRIC 값 · 활성 세션·대기 · 블로커·SQL</a:t>
            </a:r>
          </a:p>
          <a:p>
            <a:pPr>
              <a:spcAft>
                <a:spcPts val="800"/>
              </a:spcAft>
            </a:pPr>
            <a:r>
              <a:rPr sz="1700" b="0">
                <a:solidFill>
                  <a:srgbClr val="222222"/>
                </a:solidFill>
                <a:latin typeface="맑은 고딕"/>
              </a:rPr>
              <a:t>•  그리고 조치 내용 + 조치 후 값을 순서대로</a:t>
            </a:r>
          </a:p>
          <a:p>
            <a:pPr>
              <a:spcAft>
                <a:spcPts val="800"/>
              </a:spcAft>
            </a:pPr>
            <a:r>
              <a:rPr sz="1700" b="0">
                <a:solidFill>
                  <a:srgbClr val="222222"/>
                </a:solidFill>
                <a:latin typeface="맑은 고딕"/>
              </a:rPr>
              <a:t>•  ① 같은 알림 재발 시 지난 원인과 대조해 빠른 판단</a:t>
            </a:r>
          </a:p>
          <a:p>
            <a:pPr>
              <a:spcAft>
                <a:spcPts val="800"/>
              </a:spcAft>
            </a:pPr>
            <a:r>
              <a:rPr sz="1700" b="0">
                <a:solidFill>
                  <a:srgbClr val="222222"/>
                </a:solidFill>
                <a:latin typeface="맑은 고딕"/>
              </a:rPr>
              <a:t>•  ② 반복되는 알림의 기록 = 근본 원인(recurring root cause) 증거</a:t>
            </a:r>
          </a:p>
        </p:txBody>
      </p:sp>
    </p:spTree>
    <p:extLst>
      <p:ext uri="{BB962C8B-B14F-4D97-AF65-F5344CB8AC3E}">
        <p14:creationId xmlns:p14="http://schemas.microsoft.com/office/powerpoint/2010/main" val="604033226"/>
      </p:ext>
    </p:extLst>
  </p:cSld>
  <p:clrMapOvr>
    <a:masterClrMapping/>
  </p:clrMapOvr>
</p:sld>
</file>

<file path=ppt/slides/slide1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28.6</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세션 모니터링</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spcAft>
                <a:spcPts val="400"/>
              </a:spcAft>
            </a:pPr>
            <a:r>
              <a:rPr sz="1600" b="0">
                <a:solidFill>
                  <a:srgbClr val="FFFFFF"/>
                </a:solidFill>
                <a:latin typeface="맑은 고딕"/>
              </a:rPr>
              <a:t>•  활성 세션 상시 관찰</a:t>
            </a:r>
          </a:p>
          <a:p>
            <a:pPr>
              <a:spcAft>
                <a:spcPts val="400"/>
              </a:spcAft>
            </a:pPr>
            <a:r>
              <a:rPr sz="1600" b="0">
                <a:solidFill>
                  <a:srgbClr val="FFFFFF"/>
                </a:solidFill>
                <a:latin typeface="맑은 고딕"/>
              </a:rPr>
              <a:t>•  장기 실행 작업 진척</a:t>
            </a:r>
          </a:p>
          <a:p>
            <a:pPr>
              <a:spcAft>
                <a:spcPts val="400"/>
              </a:spcAft>
            </a:pPr>
            <a:r>
              <a:rPr sz="1600" b="0">
                <a:solidFill>
                  <a:srgbClr val="FFFFFF"/>
                </a:solidFill>
                <a:latin typeface="맑은 고딕"/>
              </a:rPr>
              <a:t>•  V$SESSION_LONGOPS</a:t>
            </a:r>
          </a:p>
          <a:p>
            <a:pPr>
              <a:spcAft>
                <a:spcPts val="400"/>
              </a:spcAft>
            </a:pPr>
            <a:r>
              <a:rPr sz="1600" b="0">
                <a:solidFill>
                  <a:srgbClr val="FFFFFF"/>
                </a:solidFill>
                <a:latin typeface="맑은 고딕"/>
              </a:rPr>
              <a:t>•  work vs wait 구분</a:t>
            </a:r>
          </a:p>
        </p:txBody>
      </p:sp>
    </p:spTree>
    <p:extLst>
      <p:ext uri="{BB962C8B-B14F-4D97-AF65-F5344CB8AC3E}">
        <p14:creationId xmlns:p14="http://schemas.microsoft.com/office/powerpoint/2010/main" val="3746039814"/>
      </p:ext>
    </p:extLst>
  </p:cSld>
  <p:clrMapOvr>
    <a:masterClrMapping/>
  </p:clrMapOvr>
</p:sld>
</file>

<file path=ppt/slides/slide1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장기 실행 작업</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V$SESSION_LONGOPS — 실측</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27000" tIns="101600" rtlCol="0" anchor="ctr"/>
          <a:lstStyle/>
          <a:p>
            <a:pPr>
              <a:lnSpc>
                <a:spcPct val="100000"/>
              </a:lnSpc>
              <a:spcAft>
                <a:spcPts val="0"/>
              </a:spcAft>
            </a:pPr>
            <a:r>
              <a:rPr sz="1250" b="0" dirty="0" err="1">
                <a:solidFill>
                  <a:srgbClr val="F2F2F2"/>
                </a:solidFill>
                <a:latin typeface="Consolas"/>
              </a:rPr>
              <a:t>SYS@orcl</a:t>
            </a:r>
            <a:r>
              <a:rPr sz="1250" b="0" dirty="0">
                <a:solidFill>
                  <a:srgbClr val="F2F2F2"/>
                </a:solidFill>
                <a:latin typeface="Consolas"/>
              </a:rPr>
              <a:t>&gt; SELECT SUBSTR(opname,1,30) </a:t>
            </a:r>
            <a:r>
              <a:rPr sz="1250" b="0" dirty="0" err="1">
                <a:solidFill>
                  <a:srgbClr val="F2F2F2"/>
                </a:solidFill>
                <a:latin typeface="Consolas"/>
              </a:rPr>
              <a:t>opname</a:t>
            </a:r>
            <a:r>
              <a:rPr sz="1250" b="0" dirty="0">
                <a:solidFill>
                  <a:srgbClr val="F2F2F2"/>
                </a:solidFill>
                <a:latin typeface="Consolas"/>
              </a:rPr>
              <a:t>, </a:t>
            </a:r>
            <a:r>
              <a:rPr sz="1250" b="0" dirty="0" err="1">
                <a:solidFill>
                  <a:srgbClr val="F2F2F2"/>
                </a:solidFill>
                <a:latin typeface="Consolas"/>
              </a:rPr>
              <a:t>sofar</a:t>
            </a:r>
            <a:r>
              <a:rPr sz="1250" b="0" dirty="0">
                <a:solidFill>
                  <a:srgbClr val="F2F2F2"/>
                </a:solidFill>
                <a:latin typeface="Consolas"/>
              </a:rPr>
              <a:t>,</a:t>
            </a:r>
          </a:p>
          <a:p>
            <a:pPr>
              <a:lnSpc>
                <a:spcPct val="100000"/>
              </a:lnSpc>
              <a:spcAft>
                <a:spcPts val="0"/>
              </a:spcAft>
            </a:pPr>
            <a:r>
              <a:rPr sz="1250" b="0" dirty="0">
                <a:solidFill>
                  <a:srgbClr val="F2F2F2"/>
                </a:solidFill>
                <a:latin typeface="Consolas"/>
              </a:rPr>
              <a:t>  2         </a:t>
            </a:r>
            <a:r>
              <a:rPr sz="1250" b="0" dirty="0" err="1">
                <a:solidFill>
                  <a:srgbClr val="F2F2F2"/>
                </a:solidFill>
                <a:latin typeface="Consolas"/>
              </a:rPr>
              <a:t>totalwork</a:t>
            </a:r>
            <a:r>
              <a:rPr sz="1250" b="0" dirty="0">
                <a:solidFill>
                  <a:srgbClr val="F2F2F2"/>
                </a:solidFill>
                <a:latin typeface="Consolas"/>
              </a:rPr>
              <a:t>, ROUND(</a:t>
            </a:r>
            <a:r>
              <a:rPr sz="1250" b="0" dirty="0" err="1">
                <a:solidFill>
                  <a:srgbClr val="F2F2F2"/>
                </a:solidFill>
                <a:latin typeface="Consolas"/>
              </a:rPr>
              <a:t>sofar</a:t>
            </a:r>
            <a:r>
              <a:rPr sz="1250" b="0" dirty="0">
                <a:solidFill>
                  <a:srgbClr val="F2F2F2"/>
                </a:solidFill>
                <a:latin typeface="Consolas"/>
              </a:rPr>
              <a:t>/GREATEST(totalwork,1)*100) pct</a:t>
            </a:r>
          </a:p>
          <a:p>
            <a:pPr>
              <a:lnSpc>
                <a:spcPct val="100000"/>
              </a:lnSpc>
              <a:spcAft>
                <a:spcPts val="0"/>
              </a:spcAft>
            </a:pPr>
            <a:r>
              <a:rPr sz="1250" b="0" dirty="0">
                <a:solidFill>
                  <a:srgbClr val="F2F2F2"/>
                </a:solidFill>
                <a:latin typeface="Consolas"/>
              </a:rPr>
              <a:t>  3       FROM </a:t>
            </a:r>
            <a:r>
              <a:rPr sz="1250" b="0" dirty="0" err="1">
                <a:solidFill>
                  <a:srgbClr val="F2F2F2"/>
                </a:solidFill>
                <a:latin typeface="Consolas"/>
              </a:rPr>
              <a:t>v$session_longops</a:t>
            </a:r>
            <a:r>
              <a:rPr sz="1250" b="0" dirty="0">
                <a:solidFill>
                  <a:srgbClr val="F2F2F2"/>
                </a:solidFill>
                <a:latin typeface="Consolas"/>
              </a:rPr>
              <a:t> WHERE </a:t>
            </a:r>
            <a:r>
              <a:rPr sz="1250" b="0" dirty="0" err="1">
                <a:solidFill>
                  <a:srgbClr val="F2F2F2"/>
                </a:solidFill>
                <a:latin typeface="Consolas"/>
              </a:rPr>
              <a:t>rownum</a:t>
            </a:r>
            <a:r>
              <a:rPr sz="1250" b="0" dirty="0">
                <a:solidFill>
                  <a:srgbClr val="F2F2F2"/>
                </a:solidFill>
                <a:latin typeface="Consolas"/>
              </a:rPr>
              <a:t>&lt;=6;</a:t>
            </a:r>
          </a:p>
          <a:p>
            <a:pPr>
              <a:lnSpc>
                <a:spcPct val="100000"/>
              </a:lnSpc>
              <a:spcAft>
                <a:spcPts val="0"/>
              </a:spcAft>
            </a:pPr>
            <a:r>
              <a:rPr sz="1250" b="0" dirty="0">
                <a:solidFill>
                  <a:srgbClr val="F2F2F2"/>
                </a:solidFill>
                <a:latin typeface="Consolas"/>
              </a:rPr>
              <a:t> </a:t>
            </a:r>
          </a:p>
          <a:p>
            <a:pPr>
              <a:lnSpc>
                <a:spcPct val="100000"/>
              </a:lnSpc>
              <a:spcAft>
                <a:spcPts val="0"/>
              </a:spcAft>
            </a:pPr>
            <a:r>
              <a:rPr sz="1250" b="0" dirty="0">
                <a:solidFill>
                  <a:srgbClr val="F2F2F2"/>
                </a:solidFill>
                <a:latin typeface="Consolas"/>
              </a:rPr>
              <a:t>OPNAME                          SOFAR  TOTALWORK PCT</a:t>
            </a:r>
          </a:p>
          <a:p>
            <a:pPr>
              <a:lnSpc>
                <a:spcPct val="100000"/>
              </a:lnSpc>
              <a:spcAft>
                <a:spcPts val="0"/>
              </a:spcAft>
            </a:pPr>
            <a:r>
              <a:rPr sz="1250" b="0" dirty="0">
                <a:solidFill>
                  <a:srgbClr val="F2F2F2"/>
                </a:solidFill>
                <a:latin typeface="Consolas"/>
              </a:rPr>
              <a:t>------------------------------ ------- --------- ---</a:t>
            </a:r>
          </a:p>
          <a:p>
            <a:pPr>
              <a:lnSpc>
                <a:spcPct val="100000"/>
              </a:lnSpc>
              <a:spcAft>
                <a:spcPts val="0"/>
              </a:spcAft>
            </a:pPr>
            <a:r>
              <a:rPr sz="1250" b="0" dirty="0">
                <a:solidFill>
                  <a:srgbClr val="F2F2F2"/>
                </a:solidFill>
                <a:latin typeface="Consolas"/>
              </a:rPr>
              <a:t>RMAN: incremental datafile bac  120320    120320 100</a:t>
            </a:r>
          </a:p>
          <a:p>
            <a:pPr>
              <a:lnSpc>
                <a:spcPct val="100000"/>
              </a:lnSpc>
              <a:spcAft>
                <a:spcPts val="0"/>
              </a:spcAft>
            </a:pPr>
            <a:r>
              <a:rPr sz="1250" b="0" dirty="0">
                <a:solidFill>
                  <a:srgbClr val="F2F2F2"/>
                </a:solidFill>
                <a:latin typeface="Consolas"/>
              </a:rPr>
              <a:t>RMAN: incremental datafile bac  104922    104922 100</a:t>
            </a:r>
          </a:p>
          <a:p>
            <a:pPr>
              <a:lnSpc>
                <a:spcPct val="100000"/>
              </a:lnSpc>
              <a:spcAft>
                <a:spcPts val="0"/>
              </a:spcAft>
            </a:pPr>
            <a:r>
              <a:rPr sz="1250" b="0" dirty="0">
                <a:solidFill>
                  <a:srgbClr val="F2F2F2"/>
                </a:solidFill>
                <a:latin typeface="Consolas"/>
              </a:rPr>
              <a:t>RMAN: incremental datafile bac  115200    115200 100</a:t>
            </a:r>
          </a:p>
          <a:p>
            <a:pPr>
              <a:lnSpc>
                <a:spcPct val="100000"/>
              </a:lnSpc>
              <a:spcAft>
                <a:spcPts val="0"/>
              </a:spcAft>
            </a:pPr>
            <a:r>
              <a:rPr sz="1250" b="0" dirty="0">
                <a:solidFill>
                  <a:srgbClr val="F2F2F2"/>
                </a:solidFill>
                <a:latin typeface="Consolas"/>
              </a:rPr>
              <a:t>RMAN: incremental datafile bac  264800    264800 100</a:t>
            </a:r>
          </a:p>
        </p:txBody>
      </p:sp>
    </p:spTree>
    <p:extLst>
      <p:ext uri="{BB962C8B-B14F-4D97-AF65-F5344CB8AC3E}">
        <p14:creationId xmlns:p14="http://schemas.microsoft.com/office/powerpoint/2010/main" val="2612019845"/>
      </p:ext>
    </p:extLst>
  </p:cSld>
  <p:clrMapOvr>
    <a:masterClrMapping/>
  </p:clrMapOvr>
</p:sld>
</file>

<file path=ppt/slides/slide1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활성 세션 — work인가 wait인가</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V$SESSION status='ACTIVE'</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활성 세션을 event로 묶어 보면 병목의 성격이 드러남</a:t>
            </a:r>
          </a:p>
          <a:p>
            <a:pPr>
              <a:spcAft>
                <a:spcPts val="800"/>
              </a:spcAft>
            </a:pPr>
            <a:r>
              <a:rPr sz="1700" b="0">
                <a:solidFill>
                  <a:srgbClr val="222222"/>
                </a:solidFill>
                <a:latin typeface="맑은 고딕"/>
              </a:rPr>
              <a:t>•  CPU를 쓰느라 활성(work) → 용량 문제에 가까움</a:t>
            </a:r>
          </a:p>
          <a:p>
            <a:pPr>
              <a:spcAft>
                <a:spcPts val="800"/>
              </a:spcAft>
            </a:pPr>
            <a:r>
              <a:rPr sz="1700" b="0">
                <a:solidFill>
                  <a:srgbClr val="222222"/>
                </a:solidFill>
                <a:latin typeface="맑은 고딕"/>
              </a:rPr>
              <a:t>•  무언가 기다려 활성(wait) → 경합 문제에 가까움</a:t>
            </a:r>
          </a:p>
          <a:p>
            <a:pPr>
              <a:spcAft>
                <a:spcPts val="800"/>
              </a:spcAft>
            </a:pPr>
            <a:r>
              <a:rPr sz="1700" b="0">
                <a:solidFill>
                  <a:srgbClr val="222222"/>
                </a:solidFill>
                <a:latin typeface="맑은 고딕"/>
              </a:rPr>
              <a:t>•  enq: TX 몰림 = 잠금 → 다음은 BLOCKING_SESSION 추적(ch27)</a:t>
            </a:r>
          </a:p>
          <a:p>
            <a:pPr>
              <a:spcAft>
                <a:spcPts val="800"/>
              </a:spcAft>
            </a:pPr>
            <a:r>
              <a:rPr sz="1700" b="0">
                <a:solidFill>
                  <a:srgbClr val="222222"/>
                </a:solidFill>
                <a:latin typeface="맑은 고딕"/>
              </a:rPr>
              <a:t>•  장기 작업(정상)과 갑자기 몰린 대기(비정상)를 함께 보아 구분</a:t>
            </a:r>
          </a:p>
        </p:txBody>
      </p:sp>
    </p:spTree>
    <p:extLst>
      <p:ext uri="{BB962C8B-B14F-4D97-AF65-F5344CB8AC3E}">
        <p14:creationId xmlns:p14="http://schemas.microsoft.com/office/powerpoint/2010/main" val="1034297520"/>
      </p:ext>
    </p:extLst>
  </p:cSld>
  <p:clrMapOvr>
    <a:masterClrMapping/>
  </p:clrMapOvr>
</p:sld>
</file>

<file path=ppt/slides/slide1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28.7</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서비스 단위 모니터링</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spcAft>
                <a:spcPts val="400"/>
              </a:spcAft>
            </a:pPr>
            <a:r>
              <a:rPr sz="1600" b="0">
                <a:solidFill>
                  <a:srgbClr val="FFFFFF"/>
                </a:solidFill>
                <a:latin typeface="맑은 고딕"/>
              </a:rPr>
              <a:t>•  업무별로 나눠 본다</a:t>
            </a:r>
          </a:p>
          <a:p>
            <a:pPr>
              <a:spcAft>
                <a:spcPts val="400"/>
              </a:spcAft>
            </a:pPr>
            <a:r>
              <a:rPr sz="1600" b="0">
                <a:solidFill>
                  <a:srgbClr val="FFFFFF"/>
                </a:solidFill>
                <a:latin typeface="맑은 고딕"/>
              </a:rPr>
              <a:t>•  V$SERVICE_STATS(누적)</a:t>
            </a:r>
          </a:p>
          <a:p>
            <a:pPr>
              <a:spcAft>
                <a:spcPts val="400"/>
              </a:spcAft>
            </a:pPr>
            <a:r>
              <a:rPr sz="1600" b="0">
                <a:solidFill>
                  <a:srgbClr val="FFFFFF"/>
                </a:solidFill>
                <a:latin typeface="맑은 고딕"/>
              </a:rPr>
              <a:t>•  V$SERVICEMETRIC(최근)</a:t>
            </a:r>
          </a:p>
          <a:p>
            <a:pPr>
              <a:spcAft>
                <a:spcPts val="400"/>
              </a:spcAft>
            </a:pPr>
            <a:r>
              <a:rPr sz="1600" b="0">
                <a:solidFill>
                  <a:srgbClr val="FFFFFF"/>
                </a:solidFill>
                <a:latin typeface="맑은 고딕"/>
              </a:rPr>
              <a:t>•  서비스별 임계값</a:t>
            </a:r>
          </a:p>
        </p:txBody>
      </p:sp>
    </p:spTree>
    <p:extLst>
      <p:ext uri="{BB962C8B-B14F-4D97-AF65-F5344CB8AC3E}">
        <p14:creationId xmlns:p14="http://schemas.microsoft.com/office/powerpoint/2010/main" val="3915681465"/>
      </p:ext>
    </p:extLst>
  </p:cSld>
  <p:clrMapOvr>
    <a:masterClrMapping/>
  </p:clrMapOvr>
</p:sld>
</file>

<file path=ppt/slides/slide1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서비스별 누적 통계</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V$SERVICE_STATS — 누적은 델타로</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27000" tIns="101600" rtlCol="0" anchor="ctr"/>
          <a:lstStyle/>
          <a:p>
            <a:pPr>
              <a:lnSpc>
                <a:spcPct val="100000"/>
              </a:lnSpc>
              <a:spcAft>
                <a:spcPts val="0"/>
              </a:spcAft>
            </a:pPr>
            <a:r>
              <a:rPr sz="1250" b="0" dirty="0" err="1">
                <a:solidFill>
                  <a:srgbClr val="F2F2F2"/>
                </a:solidFill>
                <a:latin typeface="Consolas"/>
              </a:rPr>
              <a:t>SYS@orcl</a:t>
            </a:r>
            <a:r>
              <a:rPr sz="1250" b="0" dirty="0">
                <a:solidFill>
                  <a:srgbClr val="F2F2F2"/>
                </a:solidFill>
                <a:latin typeface="Consolas"/>
              </a:rPr>
              <a:t>&gt; SELECT </a:t>
            </a:r>
            <a:r>
              <a:rPr sz="1250" b="0" dirty="0" err="1">
                <a:solidFill>
                  <a:srgbClr val="F2F2F2"/>
                </a:solidFill>
                <a:latin typeface="Consolas"/>
              </a:rPr>
              <a:t>service_name</a:t>
            </a:r>
            <a:r>
              <a:rPr sz="1250" b="0" dirty="0">
                <a:solidFill>
                  <a:srgbClr val="F2F2F2"/>
                </a:solidFill>
                <a:latin typeface="Consolas"/>
              </a:rPr>
              <a:t>, </a:t>
            </a:r>
            <a:r>
              <a:rPr sz="1250" b="0" dirty="0" err="1">
                <a:solidFill>
                  <a:srgbClr val="F2F2F2"/>
                </a:solidFill>
                <a:latin typeface="Consolas"/>
              </a:rPr>
              <a:t>stat_name</a:t>
            </a:r>
            <a:r>
              <a:rPr sz="1250" b="0" dirty="0">
                <a:solidFill>
                  <a:srgbClr val="F2F2F2"/>
                </a:solidFill>
                <a:latin typeface="Consolas"/>
              </a:rPr>
              <a:t>, value</a:t>
            </a:r>
          </a:p>
          <a:p>
            <a:pPr>
              <a:lnSpc>
                <a:spcPct val="100000"/>
              </a:lnSpc>
              <a:spcAft>
                <a:spcPts val="0"/>
              </a:spcAft>
            </a:pPr>
            <a:r>
              <a:rPr sz="1250" b="0" dirty="0">
                <a:solidFill>
                  <a:srgbClr val="F2F2F2"/>
                </a:solidFill>
                <a:latin typeface="Consolas"/>
              </a:rPr>
              <a:t>  2       FROM </a:t>
            </a:r>
            <a:r>
              <a:rPr sz="1250" b="0" dirty="0" err="1">
                <a:solidFill>
                  <a:srgbClr val="F2F2F2"/>
                </a:solidFill>
                <a:latin typeface="Consolas"/>
              </a:rPr>
              <a:t>v$service_stats</a:t>
            </a:r>
            <a:endParaRPr sz="1250" b="0" dirty="0">
              <a:solidFill>
                <a:srgbClr val="F2F2F2"/>
              </a:solidFill>
              <a:latin typeface="Consolas"/>
            </a:endParaRPr>
          </a:p>
          <a:p>
            <a:pPr>
              <a:lnSpc>
                <a:spcPct val="100000"/>
              </a:lnSpc>
              <a:spcAft>
                <a:spcPts val="0"/>
              </a:spcAft>
            </a:pPr>
            <a:r>
              <a:rPr sz="1250" b="0" dirty="0">
                <a:solidFill>
                  <a:srgbClr val="F2F2F2"/>
                </a:solidFill>
                <a:latin typeface="Consolas"/>
              </a:rPr>
              <a:t>  3       WHERE </a:t>
            </a:r>
            <a:r>
              <a:rPr sz="1250" b="0" dirty="0" err="1">
                <a:solidFill>
                  <a:srgbClr val="F2F2F2"/>
                </a:solidFill>
                <a:latin typeface="Consolas"/>
              </a:rPr>
              <a:t>stat_name</a:t>
            </a:r>
            <a:r>
              <a:rPr sz="1250" b="0" dirty="0">
                <a:solidFill>
                  <a:srgbClr val="F2F2F2"/>
                </a:solidFill>
                <a:latin typeface="Consolas"/>
              </a:rPr>
              <a:t> IN ('DB </a:t>
            </a:r>
            <a:r>
              <a:rPr sz="1250" b="0" dirty="0" err="1">
                <a:solidFill>
                  <a:srgbClr val="F2F2F2"/>
                </a:solidFill>
                <a:latin typeface="Consolas"/>
              </a:rPr>
              <a:t>time','DB</a:t>
            </a:r>
            <a:r>
              <a:rPr sz="1250" b="0" dirty="0">
                <a:solidFill>
                  <a:srgbClr val="F2F2F2"/>
                </a:solidFill>
                <a:latin typeface="Consolas"/>
              </a:rPr>
              <a:t> CPU',</a:t>
            </a:r>
          </a:p>
          <a:p>
            <a:pPr>
              <a:lnSpc>
                <a:spcPct val="100000"/>
              </a:lnSpc>
              <a:spcAft>
                <a:spcPts val="0"/>
              </a:spcAft>
            </a:pPr>
            <a:r>
              <a:rPr sz="1250" b="0" dirty="0">
                <a:solidFill>
                  <a:srgbClr val="F2F2F2"/>
                </a:solidFill>
                <a:latin typeface="Consolas"/>
              </a:rPr>
              <a:t>  4         'user </a:t>
            </a:r>
            <a:r>
              <a:rPr sz="1250" b="0" dirty="0" err="1">
                <a:solidFill>
                  <a:srgbClr val="F2F2F2"/>
                </a:solidFill>
                <a:latin typeface="Consolas"/>
              </a:rPr>
              <a:t>calls','physical</a:t>
            </a:r>
            <a:r>
              <a:rPr sz="1250" b="0" dirty="0">
                <a:solidFill>
                  <a:srgbClr val="F2F2F2"/>
                </a:solidFill>
                <a:latin typeface="Consolas"/>
              </a:rPr>
              <a:t> reads')</a:t>
            </a:r>
          </a:p>
          <a:p>
            <a:pPr>
              <a:lnSpc>
                <a:spcPct val="100000"/>
              </a:lnSpc>
              <a:spcAft>
                <a:spcPts val="0"/>
              </a:spcAft>
            </a:pPr>
            <a:r>
              <a:rPr sz="1250" b="0" dirty="0">
                <a:solidFill>
                  <a:srgbClr val="F2F2F2"/>
                </a:solidFill>
                <a:latin typeface="Consolas"/>
              </a:rPr>
              <a:t>  5         AND </a:t>
            </a:r>
            <a:r>
              <a:rPr sz="1250" b="0" dirty="0" err="1">
                <a:solidFill>
                  <a:srgbClr val="F2F2F2"/>
                </a:solidFill>
                <a:latin typeface="Consolas"/>
              </a:rPr>
              <a:t>service_name</a:t>
            </a:r>
            <a:r>
              <a:rPr sz="1250" b="0" dirty="0">
                <a:solidFill>
                  <a:srgbClr val="F2F2F2"/>
                </a:solidFill>
                <a:latin typeface="Consolas"/>
              </a:rPr>
              <a:t> NOT LIKE 'SYS$%'</a:t>
            </a:r>
          </a:p>
          <a:p>
            <a:pPr>
              <a:lnSpc>
                <a:spcPct val="100000"/>
              </a:lnSpc>
              <a:spcAft>
                <a:spcPts val="0"/>
              </a:spcAft>
            </a:pPr>
            <a:r>
              <a:rPr sz="1250" b="0" dirty="0">
                <a:solidFill>
                  <a:srgbClr val="F2F2F2"/>
                </a:solidFill>
                <a:latin typeface="Consolas"/>
              </a:rPr>
              <a:t>  6       ORDER BY </a:t>
            </a:r>
            <a:r>
              <a:rPr sz="1250" b="0" dirty="0" err="1">
                <a:solidFill>
                  <a:srgbClr val="F2F2F2"/>
                </a:solidFill>
                <a:latin typeface="Consolas"/>
              </a:rPr>
              <a:t>service_name</a:t>
            </a:r>
            <a:r>
              <a:rPr sz="1250" b="0" dirty="0">
                <a:solidFill>
                  <a:srgbClr val="F2F2F2"/>
                </a:solidFill>
                <a:latin typeface="Consolas"/>
              </a:rPr>
              <a:t>, </a:t>
            </a:r>
            <a:r>
              <a:rPr sz="1250" b="0" dirty="0" err="1">
                <a:solidFill>
                  <a:srgbClr val="F2F2F2"/>
                </a:solidFill>
                <a:latin typeface="Consolas"/>
              </a:rPr>
              <a:t>stat_name</a:t>
            </a:r>
            <a:r>
              <a:rPr sz="1250" b="0" dirty="0">
                <a:solidFill>
                  <a:srgbClr val="F2F2F2"/>
                </a:solidFill>
                <a:latin typeface="Consolas"/>
              </a:rPr>
              <a:t>;</a:t>
            </a:r>
          </a:p>
          <a:p>
            <a:pPr>
              <a:lnSpc>
                <a:spcPct val="100000"/>
              </a:lnSpc>
              <a:spcAft>
                <a:spcPts val="0"/>
              </a:spcAft>
            </a:pPr>
            <a:r>
              <a:rPr sz="1250" b="0" dirty="0">
                <a:solidFill>
                  <a:srgbClr val="F2F2F2"/>
                </a:solidFill>
                <a:latin typeface="Consolas"/>
              </a:rPr>
              <a:t> </a:t>
            </a:r>
          </a:p>
          <a:p>
            <a:pPr>
              <a:lnSpc>
                <a:spcPct val="100000"/>
              </a:lnSpc>
              <a:spcAft>
                <a:spcPts val="0"/>
              </a:spcAft>
            </a:pPr>
            <a:r>
              <a:rPr sz="1250" b="0" dirty="0">
                <a:solidFill>
                  <a:srgbClr val="F2F2F2"/>
                </a:solidFill>
                <a:latin typeface="Consolas"/>
              </a:rPr>
              <a:t>SERVICE_NAME  STAT_NAME        VALUE</a:t>
            </a:r>
          </a:p>
          <a:p>
            <a:pPr>
              <a:lnSpc>
                <a:spcPct val="100000"/>
              </a:lnSpc>
              <a:spcAft>
                <a:spcPts val="0"/>
              </a:spcAft>
            </a:pPr>
            <a:r>
              <a:rPr sz="1250" b="0" dirty="0">
                <a:solidFill>
                  <a:srgbClr val="F2F2F2"/>
                </a:solidFill>
                <a:latin typeface="Consolas"/>
              </a:rPr>
              <a:t>------------- ---------------- --------</a:t>
            </a:r>
          </a:p>
          <a:p>
            <a:pPr>
              <a:lnSpc>
                <a:spcPct val="100000"/>
              </a:lnSpc>
              <a:spcAft>
                <a:spcPts val="0"/>
              </a:spcAft>
            </a:pPr>
            <a:r>
              <a:rPr sz="1250" b="0" dirty="0" err="1">
                <a:solidFill>
                  <a:srgbClr val="F2F2F2"/>
                </a:solidFill>
                <a:latin typeface="Consolas"/>
              </a:rPr>
              <a:t>orcl</a:t>
            </a:r>
            <a:r>
              <a:rPr sz="1250" b="0" dirty="0">
                <a:solidFill>
                  <a:srgbClr val="F2F2F2"/>
                </a:solidFill>
                <a:latin typeface="Consolas"/>
              </a:rPr>
              <a:t>          DB CPU           &lt;</a:t>
            </a:r>
            <a:r>
              <a:rPr sz="1250" b="0" dirty="0" err="1">
                <a:solidFill>
                  <a:srgbClr val="F2F2F2"/>
                </a:solidFill>
                <a:latin typeface="Consolas"/>
              </a:rPr>
              <a:t>환경값</a:t>
            </a:r>
            <a:r>
              <a:rPr sz="1250" b="0" dirty="0">
                <a:solidFill>
                  <a:srgbClr val="F2F2F2"/>
                </a:solidFill>
                <a:latin typeface="Consolas"/>
              </a:rPr>
              <a:t>&gt;</a:t>
            </a:r>
          </a:p>
          <a:p>
            <a:pPr>
              <a:lnSpc>
                <a:spcPct val="100000"/>
              </a:lnSpc>
              <a:spcAft>
                <a:spcPts val="0"/>
              </a:spcAft>
            </a:pPr>
            <a:r>
              <a:rPr sz="1250" b="0" dirty="0" err="1">
                <a:solidFill>
                  <a:srgbClr val="F2F2F2"/>
                </a:solidFill>
                <a:latin typeface="Consolas"/>
              </a:rPr>
              <a:t>orcl</a:t>
            </a:r>
            <a:r>
              <a:rPr sz="1250" b="0" dirty="0">
                <a:solidFill>
                  <a:srgbClr val="F2F2F2"/>
                </a:solidFill>
                <a:latin typeface="Consolas"/>
              </a:rPr>
              <a:t>          DB time          &lt;</a:t>
            </a:r>
            <a:r>
              <a:rPr sz="1250" b="0" dirty="0" err="1">
                <a:solidFill>
                  <a:srgbClr val="F2F2F2"/>
                </a:solidFill>
                <a:latin typeface="Consolas"/>
              </a:rPr>
              <a:t>환경값</a:t>
            </a:r>
            <a:r>
              <a:rPr sz="1250" b="0" dirty="0">
                <a:solidFill>
                  <a:srgbClr val="F2F2F2"/>
                </a:solidFill>
                <a:latin typeface="Consolas"/>
              </a:rPr>
              <a:t>&gt;</a:t>
            </a:r>
          </a:p>
          <a:p>
            <a:pPr>
              <a:lnSpc>
                <a:spcPct val="100000"/>
              </a:lnSpc>
              <a:spcAft>
                <a:spcPts val="0"/>
              </a:spcAft>
            </a:pPr>
            <a:r>
              <a:rPr sz="1250" b="0" dirty="0" err="1">
                <a:solidFill>
                  <a:srgbClr val="F2F2F2"/>
                </a:solidFill>
                <a:latin typeface="Consolas"/>
              </a:rPr>
              <a:t>orcl</a:t>
            </a:r>
            <a:r>
              <a:rPr sz="1250" b="0" dirty="0">
                <a:solidFill>
                  <a:srgbClr val="F2F2F2"/>
                </a:solidFill>
                <a:latin typeface="Consolas"/>
              </a:rPr>
              <a:t>          physical reads   &lt;</a:t>
            </a:r>
            <a:r>
              <a:rPr sz="1250" b="0" dirty="0" err="1">
                <a:solidFill>
                  <a:srgbClr val="F2F2F2"/>
                </a:solidFill>
                <a:latin typeface="Consolas"/>
              </a:rPr>
              <a:t>환경값</a:t>
            </a:r>
            <a:r>
              <a:rPr sz="1250" b="0" dirty="0">
                <a:solidFill>
                  <a:srgbClr val="F2F2F2"/>
                </a:solidFill>
                <a:latin typeface="Consolas"/>
              </a:rPr>
              <a:t>&gt;</a:t>
            </a:r>
          </a:p>
          <a:p>
            <a:pPr>
              <a:lnSpc>
                <a:spcPct val="100000"/>
              </a:lnSpc>
              <a:spcAft>
                <a:spcPts val="0"/>
              </a:spcAft>
            </a:pPr>
            <a:r>
              <a:rPr sz="1250" b="0" dirty="0" err="1">
                <a:solidFill>
                  <a:srgbClr val="F2F2F2"/>
                </a:solidFill>
                <a:latin typeface="Consolas"/>
              </a:rPr>
              <a:t>orcl</a:t>
            </a:r>
            <a:r>
              <a:rPr sz="1250" b="0" dirty="0">
                <a:solidFill>
                  <a:srgbClr val="F2F2F2"/>
                </a:solidFill>
                <a:latin typeface="Consolas"/>
              </a:rPr>
              <a:t>          user calls       &lt;</a:t>
            </a:r>
            <a:r>
              <a:rPr sz="1250" b="0" dirty="0" err="1">
                <a:solidFill>
                  <a:srgbClr val="F2F2F2"/>
                </a:solidFill>
                <a:latin typeface="Consolas"/>
              </a:rPr>
              <a:t>환경값</a:t>
            </a:r>
            <a:r>
              <a:rPr sz="1250" b="0" dirty="0">
                <a:solidFill>
                  <a:srgbClr val="F2F2F2"/>
                </a:solidFill>
                <a:latin typeface="Consolas"/>
              </a:rPr>
              <a:t>&gt;</a:t>
            </a:r>
          </a:p>
        </p:txBody>
      </p:sp>
    </p:spTree>
    <p:extLst>
      <p:ext uri="{BB962C8B-B14F-4D97-AF65-F5344CB8AC3E}">
        <p14:creationId xmlns:p14="http://schemas.microsoft.com/office/powerpoint/2010/main" val="121613395"/>
      </p:ext>
    </p:extLst>
  </p:cSld>
  <p:clrMapOvr>
    <a:masterClrMapping/>
  </p:clrMapOvr>
</p:sld>
</file>

<file path=ppt/slides/slide1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서비스로 나눠 감시하라</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V$SERVICE_STATS / V$SERVICEMETRIC</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인스턴스 전체 지표로는 '어느 업무가' 문제인지 모른다</a:t>
            </a:r>
          </a:p>
          <a:p>
            <a:pPr>
              <a:spcAft>
                <a:spcPts val="800"/>
              </a:spcAft>
            </a:pPr>
            <a:r>
              <a:rPr sz="1700" b="0">
                <a:solidFill>
                  <a:srgbClr val="222222"/>
                </a:solidFill>
                <a:latin typeface="맑은 고딕"/>
              </a:rPr>
              <a:t>•  서비스 = 워크로드를 나누는 논리 단위, 통계를 서비스별 집계</a:t>
            </a:r>
          </a:p>
          <a:p>
            <a:pPr>
              <a:spcAft>
                <a:spcPts val="800"/>
              </a:spcAft>
            </a:pPr>
            <a:r>
              <a:rPr sz="1700" b="0">
                <a:solidFill>
                  <a:srgbClr val="222222"/>
                </a:solidFill>
                <a:latin typeface="맑은 고딕"/>
              </a:rPr>
              <a:t>•  V$SERVICE_STATS: 서비스별 DB time·CPU·읽기(누적 → 델타로)</a:t>
            </a:r>
          </a:p>
          <a:p>
            <a:pPr>
              <a:spcAft>
                <a:spcPts val="800"/>
              </a:spcAft>
            </a:pPr>
            <a:r>
              <a:rPr sz="1700" b="0">
                <a:solidFill>
                  <a:srgbClr val="222222"/>
                </a:solidFill>
                <a:latin typeface="맑은 고딕"/>
              </a:rPr>
              <a:t>•  V$SERVICEMETRIC: 서비스별 최근 구간 응답시간·CPU</a:t>
            </a:r>
          </a:p>
          <a:p>
            <a:pPr>
              <a:spcAft>
                <a:spcPts val="800"/>
              </a:spcAft>
            </a:pPr>
            <a:r>
              <a:rPr sz="1700" b="0">
                <a:solidFill>
                  <a:srgbClr val="222222"/>
                </a:solidFill>
                <a:latin typeface="맑은 고딕"/>
              </a:rPr>
              <a:t>•  SET_THRESHOLD object_type=SERVICE → 서비스별 임계값</a:t>
            </a:r>
          </a:p>
        </p:txBody>
      </p:sp>
    </p:spTree>
    <p:extLst>
      <p:ext uri="{BB962C8B-B14F-4D97-AF65-F5344CB8AC3E}">
        <p14:creationId xmlns:p14="http://schemas.microsoft.com/office/powerpoint/2010/main" val="1716117592"/>
      </p:ext>
    </p:extLst>
  </p:cSld>
  <p:clrMapOvr>
    <a:masterClrMapping/>
  </p:clrMapOvr>
</p:sld>
</file>

<file path=ppt/slides/slide1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28.8</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흔한 함정 — 알림 피로</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spcAft>
                <a:spcPts val="400"/>
              </a:spcAft>
            </a:pPr>
            <a:r>
              <a:rPr sz="1600" b="0">
                <a:solidFill>
                  <a:srgbClr val="FFFFFF"/>
                </a:solidFill>
                <a:latin typeface="맑은 고딕"/>
              </a:rPr>
              <a:t>•  낮으면 소음, 높으면 지각</a:t>
            </a:r>
          </a:p>
          <a:p>
            <a:pPr>
              <a:spcAft>
                <a:spcPts val="400"/>
              </a:spcAft>
            </a:pPr>
            <a:r>
              <a:rPr sz="1600" b="0">
                <a:solidFill>
                  <a:srgbClr val="FFFFFF"/>
                </a:solidFill>
                <a:latin typeface="맑은 고딕"/>
              </a:rPr>
              <a:t>•  무뎌지면 진짜도 무시</a:t>
            </a:r>
          </a:p>
          <a:p>
            <a:pPr>
              <a:spcAft>
                <a:spcPts val="400"/>
              </a:spcAft>
            </a:pPr>
            <a:r>
              <a:rPr sz="1600" b="0">
                <a:solidFill>
                  <a:srgbClr val="FFFFFF"/>
                </a:solidFill>
                <a:latin typeface="맑은 고딕"/>
              </a:rPr>
              <a:t>•  해법 = 분포 기반 산정</a:t>
            </a:r>
          </a:p>
          <a:p>
            <a:pPr>
              <a:spcAft>
                <a:spcPts val="400"/>
              </a:spcAft>
            </a:pPr>
            <a:r>
              <a:rPr sz="1600" b="0">
                <a:solidFill>
                  <a:srgbClr val="FFFFFF"/>
                </a:solidFill>
                <a:latin typeface="맑은 고딕"/>
              </a:rPr>
              <a:t>•  울리면 반드시 조치할 것만</a:t>
            </a:r>
          </a:p>
        </p:txBody>
      </p:sp>
    </p:spTree>
    <p:extLst>
      <p:ext uri="{BB962C8B-B14F-4D97-AF65-F5344CB8AC3E}">
        <p14:creationId xmlns:p14="http://schemas.microsoft.com/office/powerpoint/2010/main" val="1536577363"/>
      </p:ext>
    </p:extLst>
  </p:cSld>
  <p:clrMapOvr>
    <a:masterClrMapping/>
  </p:clrMapOvr>
</p:sld>
</file>

<file path=ppt/slides/slide1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임계값을 낮게 잡으면</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alert fatigue의 진짜 위험</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선의로 낮게 잡음 → 정상 운영 중에도 수시로 울림</a:t>
            </a:r>
          </a:p>
          <a:p>
            <a:pPr>
              <a:spcAft>
                <a:spcPts val="800"/>
              </a:spcAft>
            </a:pPr>
            <a:r>
              <a:rPr sz="1700" b="0">
                <a:solidFill>
                  <a:srgbClr val="222222"/>
                </a:solidFill>
                <a:latin typeface="맑은 고딕"/>
              </a:rPr>
              <a:t>•  며칠 뒤 '또 그 알림' → 아무도 열어 보지 않음</a:t>
            </a:r>
          </a:p>
          <a:p>
            <a:pPr>
              <a:spcAft>
                <a:spcPts val="800"/>
              </a:spcAft>
            </a:pPr>
            <a:r>
              <a:rPr sz="1700" b="0">
                <a:solidFill>
                  <a:srgbClr val="222222"/>
                </a:solidFill>
                <a:latin typeface="맑은 고딕"/>
              </a:rPr>
              <a:t>•  무뎌진 사람은 '진짜 위험 알림'까지 함께 무시 = 감시 무력화</a:t>
            </a:r>
          </a:p>
          <a:p>
            <a:pPr>
              <a:spcAft>
                <a:spcPts val="800"/>
              </a:spcAft>
            </a:pPr>
            <a:r>
              <a:rPr sz="1700" b="0">
                <a:solidFill>
                  <a:srgbClr val="222222"/>
                </a:solidFill>
                <a:latin typeface="맑은 고딕"/>
              </a:rPr>
              <a:t>•  반대로 너무 높으면 문제가 커진 뒤에야 울림(RTBS 100% 사례)</a:t>
            </a:r>
          </a:p>
          <a:p>
            <a:pPr>
              <a:spcAft>
                <a:spcPts val="800"/>
              </a:spcAft>
            </a:pPr>
            <a:r>
              <a:rPr sz="1700" b="0">
                <a:solidFill>
                  <a:srgbClr val="222222"/>
                </a:solidFill>
                <a:latin typeface="맑은 고딕"/>
              </a:rPr>
              <a:t>•  해법: 경고=p95 · 위험=거의 안 닿는 선 · 연속 관측으로 흡수</a:t>
            </a:r>
          </a:p>
        </p:txBody>
      </p:sp>
    </p:spTree>
    <p:extLst>
      <p:ext uri="{BB962C8B-B14F-4D97-AF65-F5344CB8AC3E}">
        <p14:creationId xmlns:p14="http://schemas.microsoft.com/office/powerpoint/2010/main" val="3519435207"/>
      </p:ext>
    </p:extLst>
  </p:cSld>
  <p:clrMapOvr>
    <a:masterClrMapping/>
  </p:clrMapOvr>
</p:sld>
</file>

<file path=ppt/slides/slide1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퀴즈 (Quiz)</a:t>
            </a:r>
          </a:p>
        </p:txBody>
      </p:sp>
      <p:sp>
        <p:nvSpPr>
          <p:cNvPr id="4" name="TextBox 3"/>
          <p:cNvSpPr txBox="1"/>
          <p:nvPr/>
        </p:nvSpPr>
        <p:spPr>
          <a:xfrm>
            <a:off x="640080" y="1371600"/>
            <a:ext cx="10881360" cy="5120640"/>
          </a:xfrm>
          <a:prstGeom prst="rect">
            <a:avLst/>
          </a:prstGeom>
          <a:noFill/>
        </p:spPr>
        <p:txBody>
          <a:bodyPr wrap="square">
            <a:spAutoFit/>
          </a:bodyPr>
          <a:lstStyle/>
          <a:p>
            <a:pPr>
              <a:spcAft>
                <a:spcPts val="600"/>
              </a:spcAft>
            </a:pPr>
            <a:r>
              <a:rPr sz="1600" b="0">
                <a:solidFill>
                  <a:srgbClr val="222222"/>
                </a:solidFill>
                <a:latin typeface="맑은 고딕"/>
              </a:rPr>
              <a:t>•  Q1. Stateful과 Stateless 알림의 차이를 해소 방식·조회 뷰로 설명하라.</a:t>
            </a:r>
          </a:p>
          <a:p>
            <a:pPr>
              <a:spcAft>
                <a:spcPts val="600"/>
              </a:spcAft>
            </a:pPr>
            <a:r>
              <a:rPr sz="1600" b="0">
                <a:solidFill>
                  <a:srgbClr val="222222"/>
                </a:solidFill>
                <a:latin typeface="맑은 고딕"/>
              </a:rPr>
              <a:t>•  Q2. 임계값을 이력 분포에서 산정해야 하는 이유를 한 문장으로.</a:t>
            </a:r>
          </a:p>
          <a:p>
            <a:pPr>
              <a:spcAft>
                <a:spcPts val="600"/>
              </a:spcAft>
            </a:pPr>
            <a:r>
              <a:rPr sz="1600" b="0">
                <a:solidFill>
                  <a:srgbClr val="222222"/>
                </a:solidFill>
                <a:latin typeface="맑은 고딕"/>
              </a:rPr>
              <a:t>•  Q3. 경고 p95·위험 p99~peak 규칙에서 각 값의 의미는?</a:t>
            </a:r>
          </a:p>
          <a:p>
            <a:pPr>
              <a:spcAft>
                <a:spcPts val="600"/>
              </a:spcAft>
            </a:pPr>
            <a:r>
              <a:rPr sz="1600" b="0">
                <a:solidFill>
                  <a:srgbClr val="222222"/>
                </a:solidFill>
                <a:latin typeface="맑은 고딕"/>
              </a:rPr>
              <a:t>•  Q4. consecutive_occurrences를 늘리면 무엇이 좋아지는가?</a:t>
            </a:r>
          </a:p>
          <a:p>
            <a:pPr>
              <a:spcAft>
                <a:spcPts val="600"/>
              </a:spcAft>
            </a:pPr>
            <a:r>
              <a:rPr sz="1600" b="0">
                <a:solidFill>
                  <a:srgbClr val="222222"/>
                </a:solidFill>
                <a:latin typeface="맑은 고딕"/>
              </a:rPr>
              <a:t>•  Q5. 알림이 울렸을 때 활성 세션보다 먼저 볼 것은 무엇이며 왜인가?</a:t>
            </a:r>
          </a:p>
          <a:p>
            <a:pPr>
              <a:spcAft>
                <a:spcPts val="600"/>
              </a:spcAft>
            </a:pPr>
            <a:r>
              <a:rPr sz="1600" b="0">
                <a:solidFill>
                  <a:srgbClr val="222222"/>
                </a:solidFill>
                <a:latin typeface="맑은 고딕"/>
              </a:rPr>
              <a:t>•  Q6. 임계값을 낮게 잡을 때 알림 피로의 가장 큰 위험은?</a:t>
            </a:r>
          </a:p>
        </p:txBody>
      </p:sp>
    </p:spTree>
    <p:extLst>
      <p:ext uri="{BB962C8B-B14F-4D97-AF65-F5344CB8AC3E}">
        <p14:creationId xmlns:p14="http://schemas.microsoft.com/office/powerpoint/2010/main" val="3151220088"/>
      </p:ext>
    </p:extLst>
  </p:cSld>
  <p:clrMapOvr>
    <a:masterClrMapping/>
  </p:clrMapOvr>
</p:sld>
</file>

<file path=ppt/slides/slide1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요약 (Summary)</a:t>
            </a:r>
          </a:p>
        </p:txBody>
      </p:sp>
      <p:sp>
        <p:nvSpPr>
          <p:cNvPr id="4" name="TextBox 3"/>
          <p:cNvSpPr txBox="1"/>
          <p:nvPr/>
        </p:nvSpPr>
        <p:spPr>
          <a:xfrm>
            <a:off x="640080" y="1371600"/>
            <a:ext cx="10881360" cy="5120640"/>
          </a:xfrm>
          <a:prstGeom prst="rect">
            <a:avLst/>
          </a:prstGeom>
          <a:noFill/>
        </p:spPr>
        <p:txBody>
          <a:bodyPr wrap="square">
            <a:spAutoFit/>
          </a:bodyPr>
          <a:lstStyle/>
          <a:p>
            <a:pPr>
              <a:spcAft>
                <a:spcPts val="600"/>
              </a:spcAft>
            </a:pPr>
            <a:r>
              <a:rPr sz="1600" b="0">
                <a:solidFill>
                  <a:srgbClr val="222222"/>
                </a:solidFill>
                <a:latin typeface="맑은 고딕"/>
              </a:rPr>
              <a:t>•  서버 생성 알림 = MMON이 감시→ALERT_QUE 등록하는 push. EM 없이 딕셔너리 뷰로 관리.</a:t>
            </a:r>
          </a:p>
          <a:p>
            <a:pPr>
              <a:spcAft>
                <a:spcPts val="600"/>
              </a:spcAft>
            </a:pPr>
            <a:r>
              <a:rPr sz="1600" b="0">
                <a:solidFill>
                  <a:srgbClr val="222222"/>
                </a:solidFill>
                <a:latin typeface="맑은 고딕"/>
              </a:rPr>
              <a:t>•  Stateful(지속·자동 해소) / Stateless(사건·이력 직행) — 대응 목표가 다르다.</a:t>
            </a:r>
          </a:p>
          <a:p>
            <a:pPr>
              <a:spcAft>
                <a:spcPts val="600"/>
              </a:spcAft>
            </a:pPr>
            <a:r>
              <a:rPr sz="1600" b="0">
                <a:solidFill>
                  <a:srgbClr val="222222"/>
                </a:solidFill>
                <a:latin typeface="맑은 고딕"/>
              </a:rPr>
              <a:t>•  설정은 SET_THRESHOLD, 확인은 DBA_THRESHOLDS. 값·연산자·주기·연속·대상.</a:t>
            </a:r>
          </a:p>
          <a:p>
            <a:pPr>
              <a:spcAft>
                <a:spcPts val="600"/>
              </a:spcAft>
            </a:pPr>
            <a:r>
              <a:rPr sz="1600" b="0">
                <a:solidFill>
                  <a:srgbClr val="222222"/>
                </a:solidFill>
                <a:latin typeface="맑은 고딕"/>
              </a:rPr>
              <a:t>•  임계값은 감이 아니라 DBA_HIST 분포에서: 경고=p95, 위험=p99~peak, 연속으로 흡수(핵심).</a:t>
            </a:r>
          </a:p>
          <a:p>
            <a:pPr>
              <a:spcAft>
                <a:spcPts val="600"/>
              </a:spcAft>
            </a:pPr>
            <a:r>
              <a:rPr sz="1600" b="0">
                <a:solidFill>
                  <a:srgbClr val="222222"/>
                </a:solidFill>
                <a:latin typeface="맑은 고딕"/>
              </a:rPr>
              <a:t>•  울리면 유형→전체부하→활성세션→대기·블로커→SQL·세그먼트→재확인 순으로.</a:t>
            </a:r>
          </a:p>
          <a:p>
            <a:pPr>
              <a:spcAft>
                <a:spcPts val="600"/>
              </a:spcAft>
            </a:pPr>
            <a:r>
              <a:rPr sz="1600" b="0">
                <a:solidFill>
                  <a:srgbClr val="222222"/>
                </a:solidFill>
                <a:latin typeface="맑은 고딕"/>
              </a:rPr>
              <a:t>•  세션=LONGOPS·활성 관찰, 업무=V$SERVICE_STATS·V$SERVICEMETRIC로 분리.</a:t>
            </a:r>
          </a:p>
          <a:p>
            <a:pPr>
              <a:spcAft>
                <a:spcPts val="600"/>
              </a:spcAft>
            </a:pPr>
            <a:r>
              <a:rPr sz="1600" b="0">
                <a:solidFill>
                  <a:srgbClr val="222222"/>
                </a:solidFill>
                <a:latin typeface="맑은 고딕"/>
              </a:rPr>
              <a:t>•  낮으면 알림 피로, 높으면 지각. 울리면 반드시 조치할 알림만 남긴다.</a:t>
            </a:r>
          </a:p>
        </p:txBody>
      </p:sp>
    </p:spTree>
    <p:extLst>
      <p:ext uri="{BB962C8B-B14F-4D97-AF65-F5344CB8AC3E}">
        <p14:creationId xmlns:p14="http://schemas.microsoft.com/office/powerpoint/2010/main" val="3363144995"/>
      </p:ext>
    </p:extLst>
  </p:cSld>
  <p:clrMapOvr>
    <a:masterClrMapping/>
  </p:clrMapOvr>
</p:sld>
</file>

<file path=ppt/slides/slide1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실습 개요 (Practice Overview)</a:t>
            </a:r>
          </a:p>
        </p:txBody>
      </p:sp>
      <p:sp>
        <p:nvSpPr>
          <p:cNvPr id="4" name="TextBox 3"/>
          <p:cNvSpPr txBox="1"/>
          <p:nvPr/>
        </p:nvSpPr>
        <p:spPr>
          <a:xfrm>
            <a:off x="640080" y="1371600"/>
            <a:ext cx="10881360" cy="5120640"/>
          </a:xfrm>
          <a:prstGeom prst="rect">
            <a:avLst/>
          </a:prstGeom>
          <a:noFill/>
        </p:spPr>
        <p:txBody>
          <a:bodyPr wrap="square">
            <a:spAutoFit/>
          </a:bodyPr>
          <a:lstStyle/>
          <a:p>
            <a:pPr>
              <a:spcAft>
                <a:spcPts val="600"/>
              </a:spcAft>
            </a:pPr>
            <a:r>
              <a:rPr sz="1600" b="0">
                <a:solidFill>
                  <a:srgbClr val="222222"/>
                </a:solidFill>
                <a:latin typeface="맑은 고딕"/>
              </a:rPr>
              <a:t>•  실습 01 — 서버 생성 알림 구조 확인(Stateful/Stateless, OUTSTANDING/HISTORY)</a:t>
            </a:r>
          </a:p>
          <a:p>
            <a:pPr>
              <a:spcAft>
                <a:spcPts val="600"/>
              </a:spcAft>
            </a:pPr>
            <a:r>
              <a:rPr sz="1600" b="0">
                <a:solidFill>
                  <a:srgbClr val="222222"/>
                </a:solidFill>
                <a:latin typeface="맑은 고딕"/>
              </a:rPr>
              <a:t>•  실습 02 — 메트릭 임계값 설정(SET_THRESHOLD)과 DBA_THRESHOLDS 조회</a:t>
            </a:r>
          </a:p>
          <a:p>
            <a:pPr>
              <a:spcAft>
                <a:spcPts val="600"/>
              </a:spcAft>
            </a:pPr>
            <a:r>
              <a:rPr sz="1600" b="0">
                <a:solidFill>
                  <a:srgbClr val="222222"/>
                </a:solidFill>
                <a:latin typeface="맑은 고딕"/>
              </a:rPr>
              <a:t>•  실습 03 — 임계값 산정: DBA_HIST 이력 분포(p95·p99) (🔒·대안 경로)</a:t>
            </a:r>
          </a:p>
          <a:p>
            <a:pPr>
              <a:spcAft>
                <a:spcPts val="600"/>
              </a:spcAft>
            </a:pPr>
            <a:r>
              <a:rPr sz="1600" b="0">
                <a:solidFill>
                  <a:srgbClr val="222222"/>
                </a:solidFill>
                <a:latin typeface="맑은 고딕"/>
              </a:rPr>
              <a:t>•  실습 04 — 테이블스페이스 사용률 알림 발생·해제 전 과정 재현</a:t>
            </a:r>
          </a:p>
          <a:p>
            <a:pPr>
              <a:spcAft>
                <a:spcPts val="600"/>
              </a:spcAft>
            </a:pPr>
            <a:r>
              <a:rPr sz="1600" b="0">
                <a:solidFill>
                  <a:srgbClr val="222222"/>
                </a:solidFill>
                <a:latin typeface="맑은 고딕"/>
              </a:rPr>
              <a:t>•  실습 05 — WL_04_lock 경합 유발 → 알림 대응 절차(무엇부터 보는가)</a:t>
            </a:r>
          </a:p>
          <a:p>
            <a:pPr>
              <a:spcAft>
                <a:spcPts val="600"/>
              </a:spcAft>
            </a:pPr>
            <a:r>
              <a:rPr sz="1600" b="0">
                <a:solidFill>
                  <a:srgbClr val="222222"/>
                </a:solidFill>
                <a:latin typeface="맑은 고딕"/>
              </a:rPr>
              <a:t>•  실습 06 — 세션 모니터링·장기 실행 작업(V$SESSION_LONGOPS)</a:t>
            </a:r>
          </a:p>
          <a:p>
            <a:pPr>
              <a:spcAft>
                <a:spcPts val="600"/>
              </a:spcAft>
            </a:pPr>
            <a:r>
              <a:rPr sz="1600" b="0">
                <a:solidFill>
                  <a:srgbClr val="222222"/>
                </a:solidFill>
                <a:latin typeface="맑은 고딕"/>
              </a:rPr>
              <a:t>•  실습 07 — 서비스 단위 모니터링(V$SERVICE_STATS·V$SERVICEMETRIC)</a:t>
            </a:r>
          </a:p>
          <a:p>
            <a:pPr>
              <a:spcAft>
                <a:spcPts val="600"/>
              </a:spcAft>
            </a:pPr>
            <a:r>
              <a:rPr sz="1600" b="0">
                <a:solidFill>
                  <a:srgbClr val="222222"/>
                </a:solidFill>
                <a:latin typeface="맑은 고딕"/>
              </a:rPr>
              <a:t>•  ※ 환경: non-CDB orcl 19.3, SYS@orcl&gt;/SQLT@orcl&gt;. '조치 전→조회→해석'+'이상→원인→조치→재확인'.</a:t>
            </a:r>
          </a:p>
        </p:txBody>
      </p:sp>
    </p:spTree>
    <p:extLst>
      <p:ext uri="{BB962C8B-B14F-4D97-AF65-F5344CB8AC3E}">
        <p14:creationId xmlns:p14="http://schemas.microsoft.com/office/powerpoint/2010/main" val="924450762"/>
      </p:ext>
    </p:extLst>
  </p:cSld>
  <p:clrMapOvr>
    <a:masterClrMapping/>
  </p:clrMapOvr>
</p:sld>
</file>

<file path=ppt/slides/slide1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5394960"/>
            <a:ext cx="12188952"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457200"/>
            <a:ext cx="10698480" cy="548640"/>
          </a:xfrm>
          <a:prstGeom prst="rect">
            <a:avLst/>
          </a:prstGeom>
          <a:noFill/>
        </p:spPr>
        <p:txBody>
          <a:bodyPr wrap="square" anchor="t">
            <a:spAutoFit/>
          </a:bodyPr>
          <a:lstStyle/>
          <a:p>
            <a:pPr algn="l">
              <a:spcAft>
                <a:spcPts val="600"/>
              </a:spcAft>
            </a:pPr>
            <a:r>
              <a:rPr sz="1600" b="1">
                <a:solidFill>
                  <a:srgbClr val="FFFFFF"/>
                </a:solidFill>
                <a:latin typeface="맑은 고딕"/>
                <a:ea typeface="맑은 고딕"/>
              </a:rPr>
              <a:t>Oracle Database 19c 성능 튜닝 실무 과정</a:t>
            </a:r>
          </a:p>
        </p:txBody>
      </p:sp>
      <p:sp>
        <p:nvSpPr>
          <p:cNvPr id="6" name="TextBox 5"/>
          <p:cNvSpPr txBox="1"/>
          <p:nvPr/>
        </p:nvSpPr>
        <p:spPr>
          <a:xfrm>
            <a:off x="731520" y="2377440"/>
            <a:ext cx="10698480" cy="1554480"/>
          </a:xfrm>
          <a:prstGeom prst="rect">
            <a:avLst/>
          </a:prstGeom>
          <a:noFill/>
        </p:spPr>
        <p:txBody>
          <a:bodyPr wrap="square" anchor="t">
            <a:spAutoFit/>
          </a:bodyPr>
          <a:lstStyle/>
          <a:p>
            <a:pPr algn="l">
              <a:spcAft>
                <a:spcPts val="400"/>
              </a:spcAft>
            </a:pPr>
            <a:r>
              <a:rPr sz="3200" b="1">
                <a:solidFill>
                  <a:srgbClr val="C0392B"/>
                </a:solidFill>
                <a:latin typeface="맑은 고딕"/>
                <a:ea typeface="맑은 고딕"/>
              </a:rPr>
              <a:t>데이터베이스 메모리 할당 구조</a:t>
            </a:r>
          </a:p>
          <a:p>
            <a:pPr algn="l">
              <a:spcAft>
                <a:spcPts val="400"/>
              </a:spcAft>
            </a:pPr>
            <a:r>
              <a:rPr sz="1900" b="0">
                <a:solidFill>
                  <a:srgbClr val="5A6672"/>
                </a:solidFill>
                <a:latin typeface="맑은 고딕"/>
                <a:ea typeface="맑은 고딕"/>
              </a:rPr>
              <a:t>Database Memory Allocation — AMM · ASMM · 수동</a:t>
            </a:r>
          </a:p>
        </p:txBody>
      </p:sp>
      <p:sp>
        <p:nvSpPr>
          <p:cNvPr id="7" name="TextBox 6"/>
          <p:cNvSpPr txBox="1"/>
          <p:nvPr/>
        </p:nvSpPr>
        <p:spPr>
          <a:xfrm>
            <a:off x="731520" y="4114800"/>
            <a:ext cx="10698480" cy="109728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메모리 관리 방식 판별 · 파라미터 체계 · 자동 조정 이력 · 메모리 어드바이저 · ORA-04031</a:t>
            </a:r>
          </a:p>
        </p:txBody>
      </p:sp>
      <p:sp>
        <p:nvSpPr>
          <p:cNvPr id="8" name="TextBox 7"/>
          <p:cNvSpPr txBox="1"/>
          <p:nvPr/>
        </p:nvSpPr>
        <p:spPr>
          <a:xfrm>
            <a:off x="731520" y="5577840"/>
            <a:ext cx="10698480" cy="914400"/>
          </a:xfrm>
          <a:prstGeom prst="rect">
            <a:avLst/>
          </a:prstGeom>
          <a:noFill/>
        </p:spPr>
        <p:txBody>
          <a:bodyPr wrap="square" anchor="t">
            <a:spAutoFit/>
          </a:bodyPr>
          <a:lstStyle/>
          <a:p>
            <a:pPr algn="l">
              <a:spcAft>
                <a:spcPts val="600"/>
              </a:spcAft>
            </a:pPr>
            <a:r>
              <a:rPr sz="2000" b="1">
                <a:solidFill>
                  <a:srgbClr val="C0392B"/>
                </a:solidFill>
                <a:latin typeface="맑은 고딕"/>
                <a:ea typeface="맑은 고딕"/>
              </a:rPr>
              <a:t>ch29</a:t>
            </a:r>
          </a:p>
        </p:txBody>
      </p:sp>
    </p:spTree>
    <p:extLst>
      <p:ext uri="{BB962C8B-B14F-4D97-AF65-F5344CB8AC3E}">
        <p14:creationId xmlns:p14="http://schemas.microsoft.com/office/powerpoint/2010/main" val="4222797397"/>
      </p:ext>
    </p:extLst>
  </p:cSld>
  <p:clrMapOvr>
    <a:masterClrMapping/>
  </p:clrMapOvr>
</p:sld>
</file>

<file path=ppt/slides/slide1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학습 목표 (Objectives)</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900"/>
              </a:spcAft>
            </a:pPr>
            <a:r>
              <a:rPr sz="1600" b="0">
                <a:solidFill>
                  <a:srgbClr val="222222"/>
                </a:solidFill>
                <a:latin typeface="맑은 고딕"/>
                <a:ea typeface="맑은 고딕"/>
              </a:rPr>
              <a:t>•  오라클 메모리 구조(SGA 캐시·풀, PGA, In-Memory)를 열거하고 역할을 설명한다.</a:t>
            </a:r>
          </a:p>
          <a:p>
            <a:pPr algn="l">
              <a:spcAft>
                <a:spcPts val="900"/>
              </a:spcAft>
            </a:pPr>
            <a:r>
              <a:rPr sz="1600" b="0">
                <a:solidFill>
                  <a:srgbClr val="222222"/>
                </a:solidFill>
                <a:latin typeface="맑은 고딕"/>
                <a:ea typeface="맑은 고딕"/>
              </a:rPr>
              <a:t>•  메모리 관리 세 방식(AMM·ASMM·수동)을 파라미터 값 조합만으로 판별한다.</a:t>
            </a:r>
          </a:p>
          <a:p>
            <a:pPr algn="l">
              <a:spcAft>
                <a:spcPts val="900"/>
              </a:spcAft>
            </a:pPr>
            <a:r>
              <a:rPr sz="1600" b="0">
                <a:solidFill>
                  <a:srgbClr val="222222"/>
                </a:solidFill>
                <a:latin typeface="맑은 고딕"/>
                <a:ea typeface="맑은 고딕"/>
              </a:rPr>
              <a:t>•  MEMORY_TARGET·SGA_TARGET·PGA_AGGREGATE_TARGET의 목표·상한·동적/정적 관계를 구분한다.</a:t>
            </a:r>
          </a:p>
          <a:p>
            <a:pPr algn="l">
              <a:spcAft>
                <a:spcPts val="900"/>
              </a:spcAft>
            </a:pPr>
            <a:r>
              <a:rPr sz="1600" b="0">
                <a:solidFill>
                  <a:srgbClr val="222222"/>
                </a:solidFill>
                <a:latin typeface="맑은 고딕"/>
                <a:ea typeface="맑은 고딕"/>
              </a:rPr>
              <a:t>•  V$SGAINFO·V$SGA_DYNAMIC_COMPONENTS로 실제 배분과 그래뉼을 읽는다.</a:t>
            </a:r>
          </a:p>
          <a:p>
            <a:pPr algn="l">
              <a:spcAft>
                <a:spcPts val="900"/>
              </a:spcAft>
            </a:pPr>
            <a:r>
              <a:rPr sz="1600" b="0">
                <a:solidFill>
                  <a:srgbClr val="222222"/>
                </a:solidFill>
                <a:latin typeface="맑은 고딕"/>
                <a:ea typeface="맑은 고딕"/>
              </a:rPr>
              <a:t>•  V$SGA_RESIZE_OPS·V$MEMORY_RESIZE_OPS로 자동 조정 이력을 추적한다.</a:t>
            </a:r>
          </a:p>
          <a:p>
            <a:pPr algn="l">
              <a:spcAft>
                <a:spcPts val="900"/>
              </a:spcAft>
            </a:pPr>
            <a:r>
              <a:rPr sz="1600" b="0">
                <a:solidFill>
                  <a:srgbClr val="222222"/>
                </a:solidFill>
                <a:latin typeface="맑은 고딕"/>
                <a:ea typeface="맑은 고딕"/>
              </a:rPr>
              <a:t>•  V$SGA_TARGET_ADVICE 곡선으로 '더 줘도 평평한 지점'과 '절벽'을 판정한다.</a:t>
            </a:r>
          </a:p>
          <a:p>
            <a:pPr algn="l">
              <a:spcAft>
                <a:spcPts val="900"/>
              </a:spcAft>
            </a:pPr>
            <a:r>
              <a:rPr sz="1600" b="0">
                <a:solidFill>
                  <a:srgbClr val="222222"/>
                </a:solidFill>
                <a:latin typeface="맑은 고딕"/>
                <a:ea typeface="맑은 고딕"/>
              </a:rPr>
              <a:t>•  ORA-04031을 재현하고 원인(부족·단편화)과 해소책을 설명한다. In-Memory는 라이선스 조건만.</a:t>
            </a:r>
          </a:p>
        </p:txBody>
      </p:sp>
    </p:spTree>
    <p:extLst>
      <p:ext uri="{BB962C8B-B14F-4D97-AF65-F5344CB8AC3E}">
        <p14:creationId xmlns:p14="http://schemas.microsoft.com/office/powerpoint/2010/main" val="2086006309"/>
      </p:ext>
    </p:extLst>
  </p:cSld>
  <p:clrMapOvr>
    <a:masterClrMapping/>
  </p:clrMapOvr>
</p:sld>
</file>

<file path=ppt/slides/slide1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이 장의 구성 (Agenda)</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900"/>
              </a:spcAft>
            </a:pPr>
            <a:r>
              <a:rPr sz="1600" b="0">
                <a:solidFill>
                  <a:srgbClr val="222222"/>
                </a:solidFill>
                <a:latin typeface="맑은 고딕"/>
                <a:ea typeface="맑은 고딕"/>
              </a:rPr>
              <a:t>•  29.2  오라클 메모리 구조 개요 — 무엇을 배분하는가</a:t>
            </a:r>
          </a:p>
          <a:p>
            <a:pPr algn="l">
              <a:spcAft>
                <a:spcPts val="900"/>
              </a:spcAft>
            </a:pPr>
            <a:r>
              <a:rPr sz="1600" b="0">
                <a:solidFill>
                  <a:srgbClr val="222222"/>
                </a:solidFill>
                <a:latin typeface="맑은 고딕"/>
                <a:ea typeface="맑은 고딕"/>
              </a:rPr>
              <a:t>•  29.3  메모리 관리 방식 세 가지 — AMM · ASMM · 수동</a:t>
            </a:r>
          </a:p>
          <a:p>
            <a:pPr algn="l">
              <a:spcAft>
                <a:spcPts val="900"/>
              </a:spcAft>
            </a:pPr>
            <a:r>
              <a:rPr sz="1600" b="0">
                <a:solidFill>
                  <a:srgbClr val="222222"/>
                </a:solidFill>
                <a:latin typeface="맑은 고딕"/>
                <a:ea typeface="맑은 고딕"/>
              </a:rPr>
              <a:t>•  29.4  파라미터 체계 — 목표·상한·동적/정적</a:t>
            </a:r>
          </a:p>
          <a:p>
            <a:pPr algn="l">
              <a:spcAft>
                <a:spcPts val="900"/>
              </a:spcAft>
            </a:pPr>
            <a:r>
              <a:rPr sz="1600" b="0">
                <a:solidFill>
                  <a:srgbClr val="222222"/>
                </a:solidFill>
                <a:latin typeface="맑은 고딕"/>
                <a:ea typeface="맑은 고딕"/>
              </a:rPr>
              <a:t>•  29.5  SGA 동적 구성과 자동 조정 이력</a:t>
            </a:r>
          </a:p>
          <a:p>
            <a:pPr algn="l">
              <a:spcAft>
                <a:spcPts val="900"/>
              </a:spcAft>
            </a:pPr>
            <a:r>
              <a:rPr sz="1600" b="0">
                <a:solidFill>
                  <a:srgbClr val="222222"/>
                </a:solidFill>
                <a:latin typeface="맑은 고딕"/>
                <a:ea typeface="맑은 고딕"/>
              </a:rPr>
              <a:t>•  29.6  메모리 어드바이저 — 지금 크기가 적절한가</a:t>
            </a:r>
          </a:p>
          <a:p>
            <a:pPr algn="l">
              <a:spcAft>
                <a:spcPts val="900"/>
              </a:spcAft>
            </a:pPr>
            <a:r>
              <a:rPr sz="1600" b="0">
                <a:solidFill>
                  <a:srgbClr val="222222"/>
                </a:solidFill>
                <a:latin typeface="맑은 고딕"/>
                <a:ea typeface="맑은 고딕"/>
              </a:rPr>
              <a:t>•  29.7  ORA-04031 — 메모리 부족의 대표 오류</a:t>
            </a:r>
          </a:p>
          <a:p>
            <a:pPr algn="l">
              <a:spcAft>
                <a:spcPts val="900"/>
              </a:spcAft>
            </a:pPr>
            <a:r>
              <a:rPr sz="1600" b="0">
                <a:solidFill>
                  <a:srgbClr val="222222"/>
                </a:solidFill>
                <a:latin typeface="맑은 고딕"/>
                <a:ea typeface="맑은 고딕"/>
              </a:rPr>
              <a:t>•  29.8  In-Memory Column Store — 존재와 라이선스(실습 제외)</a:t>
            </a:r>
          </a:p>
          <a:p>
            <a:pPr algn="l">
              <a:spcAft>
                <a:spcPts val="900"/>
              </a:spcAft>
            </a:pPr>
            <a:r>
              <a:rPr sz="1600" b="0">
                <a:solidFill>
                  <a:srgbClr val="222222"/>
                </a:solidFill>
                <a:latin typeface="맑은 고딕"/>
                <a:ea typeface="맑은 고딕"/>
              </a:rPr>
              <a:t>•  ※ 실습 DB는 ASMM(orcl 19.3, non-CDB). 파라미터 변경·재기동은 개인 환경 전용.</a:t>
            </a:r>
          </a:p>
        </p:txBody>
      </p:sp>
    </p:spTree>
    <p:extLst>
      <p:ext uri="{BB962C8B-B14F-4D97-AF65-F5344CB8AC3E}">
        <p14:creationId xmlns:p14="http://schemas.microsoft.com/office/powerpoint/2010/main" val="69115667"/>
      </p:ext>
    </p:extLst>
  </p:cSld>
  <p:clrMapOvr>
    <a:masterClrMapping/>
  </p:clrMapOvr>
</p:sld>
</file>

<file path=ppt/slides/slide1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nchor="t">
            <a:spAutoFit/>
          </a:bodyPr>
          <a:lstStyle/>
          <a:p>
            <a:pPr algn="l">
              <a:spcAft>
                <a:spcPts val="600"/>
              </a:spcAft>
            </a:pPr>
            <a:r>
              <a:rPr sz="4000" b="1">
                <a:solidFill>
                  <a:srgbClr val="FFFFFF"/>
                </a:solidFill>
                <a:latin typeface="맑은 고딕"/>
                <a:ea typeface="맑은 고딕"/>
              </a:rPr>
              <a:t>29.2</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spcAft>
                <a:spcPts val="600"/>
              </a:spcAft>
            </a:pPr>
            <a:r>
              <a:rPr sz="2800" b="1">
                <a:solidFill>
                  <a:srgbClr val="FFFFFF"/>
                </a:solidFill>
                <a:latin typeface="맑은 고딕"/>
                <a:ea typeface="맑은 고딕"/>
              </a:rPr>
              <a:t>오라클 메모리 구조 개요</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ea typeface="맑은 고딕"/>
              </a:rPr>
              <a:t>•  공유 영역 SGA vs 프로세스 사설 PGA</a:t>
            </a:r>
          </a:p>
          <a:p>
            <a:pPr algn="l">
              <a:spcAft>
                <a:spcPts val="600"/>
              </a:spcAft>
            </a:pPr>
            <a:r>
              <a:rPr sz="1600" b="0">
                <a:solidFill>
                  <a:srgbClr val="FFFFFF"/>
                </a:solidFill>
                <a:latin typeface="맑은 고딕"/>
                <a:ea typeface="맑은 고딕"/>
              </a:rPr>
              <a:t>•  버퍼 캐시·공유 풀이 성능의 핵심</a:t>
            </a:r>
          </a:p>
          <a:p>
            <a:pPr algn="l">
              <a:spcAft>
                <a:spcPts val="600"/>
              </a:spcAft>
            </a:pPr>
            <a:r>
              <a:rPr sz="1600" b="0">
                <a:solidFill>
                  <a:srgbClr val="FFFFFF"/>
                </a:solidFill>
                <a:latin typeface="맑은 고딕"/>
                <a:ea typeface="맑은 고딕"/>
              </a:rPr>
              <a:t>•  무엇이 자동 조정 대상인가</a:t>
            </a:r>
          </a:p>
        </p:txBody>
      </p:sp>
    </p:spTree>
    <p:extLst>
      <p:ext uri="{BB962C8B-B14F-4D97-AF65-F5344CB8AC3E}">
        <p14:creationId xmlns:p14="http://schemas.microsoft.com/office/powerpoint/2010/main" val="4162650540"/>
      </p:ext>
    </p:extLst>
  </p:cSld>
  <p:clrMapOvr>
    <a:masterClrMapping/>
  </p:clrMapOvr>
</p:sld>
</file>

<file path=ppt/slides/slide1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메모리가 성능을 좌우하는 이유</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물리 I/O는 메모리 접근보다 압도적으로 느리다</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디스크 접근(물리 I/O)은 대개 10ms 안팎 — 메모리보다 수십만 배 느림</a:t>
            </a:r>
          </a:p>
          <a:p>
            <a:pPr algn="l">
              <a:spcAft>
                <a:spcPts val="1000"/>
              </a:spcAft>
            </a:pPr>
            <a:r>
              <a:rPr sz="1700" b="0">
                <a:solidFill>
                  <a:srgbClr val="222222"/>
                </a:solidFill>
                <a:latin typeface="맑은 고딕"/>
                <a:ea typeface="맑은 고딕"/>
              </a:rPr>
              <a:t>•  물리 I/O는 드라이버·OS 스케줄러를 거쳐 CPU도 더 씀</a:t>
            </a:r>
          </a:p>
          <a:p>
            <a:pPr algn="l">
              <a:spcAft>
                <a:spcPts val="1000"/>
              </a:spcAft>
            </a:pPr>
            <a:r>
              <a:rPr sz="1700" b="0">
                <a:solidFill>
                  <a:srgbClr val="222222"/>
                </a:solidFill>
                <a:latin typeface="맑은 고딕"/>
                <a:ea typeface="맑은 고딕"/>
              </a:rPr>
              <a:t>•  자주 쓰는 데이터를 메모리에 붙들면 물리 I/O·CPU를 함께 줄인다</a:t>
            </a:r>
          </a:p>
          <a:p>
            <a:pPr algn="l">
              <a:spcAft>
                <a:spcPts val="1000"/>
              </a:spcAft>
            </a:pPr>
            <a:r>
              <a:rPr sz="1700" b="0">
                <a:solidFill>
                  <a:srgbClr val="222222"/>
                </a:solidFill>
                <a:latin typeface="맑은 고딕"/>
                <a:ea typeface="맑은 고딕"/>
              </a:rPr>
              <a:t>•  메모리 관리 = 전체 크기 결정 + 구성 요소별 배분</a:t>
            </a:r>
          </a:p>
        </p:txBody>
      </p:sp>
    </p:spTree>
    <p:extLst>
      <p:ext uri="{BB962C8B-B14F-4D97-AF65-F5344CB8AC3E}">
        <p14:creationId xmlns:p14="http://schemas.microsoft.com/office/powerpoint/2010/main" val="1003545986"/>
      </p:ext>
    </p:extLst>
  </p:cSld>
  <p:clrMapOvr>
    <a:masterClrMapping/>
  </p:clrMapOvr>
</p:sld>
</file>

<file path=ppt/slides/slide1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SGA의 주요 구성 요소</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공유 영역 — 모든 세션이 함께 쓴다</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버퍼 캐시(DB_CACHE_SIZE): 데이터 블록 캐싱 → 물리 I/O 감소</a:t>
            </a:r>
          </a:p>
          <a:p>
            <a:pPr algn="l">
              <a:spcAft>
                <a:spcPts val="1000"/>
              </a:spcAft>
            </a:pPr>
            <a:r>
              <a:rPr sz="1700" b="0">
                <a:solidFill>
                  <a:srgbClr val="222222"/>
                </a:solidFill>
                <a:latin typeface="맑은 고딕"/>
                <a:ea typeface="맑은 고딕"/>
              </a:rPr>
              <a:t>•  공유 풀(SHARED_POOL_SIZE): 라이브러리 캐시·딕셔너리 캐시·결과 캐시</a:t>
            </a:r>
          </a:p>
          <a:p>
            <a:pPr algn="l">
              <a:spcAft>
                <a:spcPts val="1000"/>
              </a:spcAft>
            </a:pPr>
            <a:r>
              <a:rPr sz="1700" b="0">
                <a:solidFill>
                  <a:srgbClr val="222222"/>
                </a:solidFill>
                <a:latin typeface="맑은 고딕"/>
                <a:ea typeface="맑은 고딕"/>
              </a:rPr>
              <a:t>•  라지 풀·자바 풀·스트림 풀: 병렬·RMAN·JVM·AQ용</a:t>
            </a:r>
          </a:p>
          <a:p>
            <a:pPr algn="l">
              <a:spcAft>
                <a:spcPts val="1000"/>
              </a:spcAft>
            </a:pPr>
            <a:r>
              <a:rPr sz="1700" b="0">
                <a:solidFill>
                  <a:srgbClr val="222222"/>
                </a:solidFill>
                <a:latin typeface="맑은 고딕"/>
                <a:ea typeface="맑은 고딕"/>
              </a:rPr>
              <a:t>•  리두 로그 버퍼(LOG_BUFFER): 자동 조정 대상 아님</a:t>
            </a:r>
          </a:p>
          <a:p>
            <a:pPr algn="l">
              <a:spcAft>
                <a:spcPts val="1000"/>
              </a:spcAft>
            </a:pPr>
            <a:r>
              <a:rPr sz="1700" b="0">
                <a:solidFill>
                  <a:srgbClr val="222222"/>
                </a:solidFill>
                <a:latin typeface="맑은 고딕"/>
                <a:ea typeface="맑은 고딕"/>
              </a:rPr>
              <a:t>•  In-Memory 영역(INMEMORY_SIZE): 컬럼 저장(별도 라이선스)</a:t>
            </a:r>
          </a:p>
        </p:txBody>
      </p:sp>
    </p:spTree>
    <p:extLst>
      <p:ext uri="{BB962C8B-B14F-4D97-AF65-F5344CB8AC3E}">
        <p14:creationId xmlns:p14="http://schemas.microsoft.com/office/powerpoint/2010/main" val="4242579144"/>
      </p:ext>
    </p:extLst>
  </p:cSld>
  <p:clrMapOvr>
    <a:masterClrMapping/>
  </p:clrMapOvr>
</p:sld>
</file>

<file path=ppt/slides/slide1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SGA vs PGA — 공유냐 사설이냐</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배분 전략을 가르는 기준</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SGA: 모든 세션이 공유 → 캐시가 클수록 재사용 이득</a:t>
            </a:r>
          </a:p>
          <a:p>
            <a:pPr algn="l">
              <a:spcAft>
                <a:spcPts val="1000"/>
              </a:spcAft>
            </a:pPr>
            <a:r>
              <a:rPr sz="1700" b="0">
                <a:solidFill>
                  <a:srgbClr val="222222"/>
                </a:solidFill>
                <a:latin typeface="맑은 고딕"/>
                <a:ea typeface="맑은 고딕"/>
              </a:rPr>
              <a:t>•  PGA: 세션마다 사설(정렬·해시 작업 영역) → 세션 수에 비례해 증가</a:t>
            </a:r>
          </a:p>
          <a:p>
            <a:pPr algn="l">
              <a:spcAft>
                <a:spcPts val="1000"/>
              </a:spcAft>
            </a:pPr>
            <a:r>
              <a:rPr sz="1700" b="0">
                <a:solidFill>
                  <a:srgbClr val="222222"/>
                </a:solidFill>
                <a:latin typeface="맑은 고딕"/>
                <a:ea typeface="맑은 고딕"/>
              </a:rPr>
              <a:t>•  OLTP(동시 접속 多): PGA 여유를 고려</a:t>
            </a:r>
          </a:p>
          <a:p>
            <a:pPr algn="l">
              <a:spcAft>
                <a:spcPts val="1000"/>
              </a:spcAft>
            </a:pPr>
            <a:r>
              <a:rPr sz="1700" b="0">
                <a:solidFill>
                  <a:srgbClr val="222222"/>
                </a:solidFill>
                <a:latin typeface="맑은 고딕"/>
                <a:ea typeface="맑은 고딕"/>
              </a:rPr>
              <a:t>•  DW(대량 데이터): 큰 작업 영역(PGA)+큰 버퍼 캐시(SGA)</a:t>
            </a:r>
          </a:p>
        </p:txBody>
      </p:sp>
    </p:spTree>
    <p:extLst>
      <p:ext uri="{BB962C8B-B14F-4D97-AF65-F5344CB8AC3E}">
        <p14:creationId xmlns:p14="http://schemas.microsoft.com/office/powerpoint/2010/main" val="4160410084"/>
      </p:ext>
    </p:extLst>
  </p:cSld>
  <p:clrMapOvr>
    <a:masterClrMapping/>
  </p:clrMapOvr>
</p:sld>
</file>

<file path=ppt/slides/slide1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nchor="t">
            <a:spAutoFit/>
          </a:bodyPr>
          <a:lstStyle/>
          <a:p>
            <a:pPr algn="l">
              <a:spcAft>
                <a:spcPts val="600"/>
              </a:spcAft>
            </a:pPr>
            <a:r>
              <a:rPr sz="4000" b="1">
                <a:solidFill>
                  <a:srgbClr val="FFFFFF"/>
                </a:solidFill>
                <a:latin typeface="맑은 고딕"/>
                <a:ea typeface="맑은 고딕"/>
              </a:rPr>
              <a:t>29.3</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spcAft>
                <a:spcPts val="600"/>
              </a:spcAft>
            </a:pPr>
            <a:r>
              <a:rPr sz="2800" b="1">
                <a:solidFill>
                  <a:srgbClr val="FFFFFF"/>
                </a:solidFill>
                <a:latin typeface="맑은 고딕"/>
                <a:ea typeface="맑은 고딕"/>
              </a:rPr>
              <a:t>메모리 관리 방식 세 가지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ea typeface="맑은 고딕"/>
              </a:rPr>
              <a:t>•  AMM: MEMORY_TARGET&gt;0</a:t>
            </a:r>
          </a:p>
          <a:p>
            <a:pPr algn="l">
              <a:spcAft>
                <a:spcPts val="600"/>
              </a:spcAft>
            </a:pPr>
            <a:r>
              <a:rPr sz="1600" b="0">
                <a:solidFill>
                  <a:srgbClr val="FFFFFF"/>
                </a:solidFill>
                <a:latin typeface="맑은 고딕"/>
                <a:ea typeface="맑은 고딕"/>
              </a:rPr>
              <a:t>•  ASMM: MEMORY_TARGET=0, SGA_TARGET&gt;0</a:t>
            </a:r>
          </a:p>
          <a:p>
            <a:pPr algn="l">
              <a:spcAft>
                <a:spcPts val="600"/>
              </a:spcAft>
            </a:pPr>
            <a:r>
              <a:rPr sz="1600" b="0">
                <a:solidFill>
                  <a:srgbClr val="FFFFFF"/>
                </a:solidFill>
                <a:latin typeface="맑은 고딕"/>
                <a:ea typeface="맑은 고딕"/>
              </a:rPr>
              <a:t>•  수동: 둘 다 0 · 실습 DB는 ASMM</a:t>
            </a:r>
          </a:p>
        </p:txBody>
      </p:sp>
    </p:spTree>
    <p:extLst>
      <p:ext uri="{BB962C8B-B14F-4D97-AF65-F5344CB8AC3E}">
        <p14:creationId xmlns:p14="http://schemas.microsoft.com/office/powerpoint/2010/main" val="2197770986"/>
      </p:ext>
    </p:extLst>
  </p:cSld>
  <p:clrMapOvr>
    <a:masterClrMapping/>
  </p:clrMapOvr>
</p:sld>
</file>

<file path=ppt/slides/slide1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자동 메모리 관리(AMM)</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SGA+PGA를 통째로 오라클이 조정</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MEMORY_TARGET(동적) 하나로 총 메모리만 지정</a:t>
            </a:r>
          </a:p>
          <a:p>
            <a:pPr algn="l">
              <a:spcAft>
                <a:spcPts val="1000"/>
              </a:spcAft>
            </a:pPr>
            <a:r>
              <a:rPr sz="1700" b="0">
                <a:solidFill>
                  <a:srgbClr val="222222"/>
                </a:solidFill>
                <a:latin typeface="맑은 고딕"/>
                <a:ea typeface="맑은 고딕"/>
              </a:rPr>
              <a:t>•  SGA↔PGA, SGA 내부 풀 사이를 필요에 따라 재분배</a:t>
            </a:r>
          </a:p>
          <a:p>
            <a:pPr algn="l">
              <a:spcAft>
                <a:spcPts val="1000"/>
              </a:spcAft>
            </a:pPr>
            <a:r>
              <a:rPr sz="1700" b="0">
                <a:solidFill>
                  <a:srgbClr val="222222"/>
                </a:solidFill>
                <a:latin typeface="맑은 고딕"/>
                <a:ea typeface="맑은 고딕"/>
              </a:rPr>
              <a:t>•  가장 자동화 — 오라클 권장, 소규모·개발에 편리</a:t>
            </a:r>
          </a:p>
          <a:p>
            <a:pPr algn="l">
              <a:spcAft>
                <a:spcPts val="1000"/>
              </a:spcAft>
            </a:pPr>
            <a:r>
              <a:rPr sz="1700" b="0">
                <a:solidFill>
                  <a:srgbClr val="222222"/>
                </a:solidFill>
                <a:latin typeface="맑은 고딕"/>
                <a:ea typeface="맑은 고딕"/>
              </a:rPr>
              <a:t>•  제약: 리눅스 HugePages를 활용 못 함 → 대형 SGA는 ASMM 선호</a:t>
            </a:r>
          </a:p>
        </p:txBody>
      </p:sp>
    </p:spTree>
    <p:extLst>
      <p:ext uri="{BB962C8B-B14F-4D97-AF65-F5344CB8AC3E}">
        <p14:creationId xmlns:p14="http://schemas.microsoft.com/office/powerpoint/2010/main" val="2485894526"/>
      </p:ext>
    </p:extLst>
  </p:cSld>
  <p:clrMapOvr>
    <a:masterClrMapping/>
  </p:clrMapOvr>
</p:sld>
</file>

<file path=ppt/slides/slide1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자동 공유 메모리 관리(ASMM)</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SGA는 자동 분배, PGA는 별도 관리</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MEMORY_TARGET=0, SGA_TARGET&gt;0일 때 작동</a:t>
            </a:r>
          </a:p>
          <a:p>
            <a:pPr algn="l">
              <a:spcAft>
                <a:spcPts val="1000"/>
              </a:spcAft>
            </a:pPr>
            <a:r>
              <a:rPr sz="1700" b="0">
                <a:solidFill>
                  <a:srgbClr val="222222"/>
                </a:solidFill>
                <a:latin typeface="맑은 고딕"/>
                <a:ea typeface="맑은 고딕"/>
              </a:rPr>
              <a:t>•  SGA_TARGET 안에서 버퍼 캐시·공유 풀·라지 풀 등 자동 분배</a:t>
            </a:r>
          </a:p>
          <a:p>
            <a:pPr algn="l">
              <a:spcAft>
                <a:spcPts val="1000"/>
              </a:spcAft>
            </a:pPr>
            <a:r>
              <a:rPr sz="1700" b="0">
                <a:solidFill>
                  <a:srgbClr val="222222"/>
                </a:solidFill>
                <a:latin typeface="맑은 고딕"/>
                <a:ea typeface="맑은 고딕"/>
              </a:rPr>
              <a:t>•  개별 풀에 0 아닌 값을 주면 '최소 보장치(하한)'로 작동</a:t>
            </a:r>
          </a:p>
          <a:p>
            <a:pPr algn="l">
              <a:spcAft>
                <a:spcPts val="1000"/>
              </a:spcAft>
            </a:pPr>
            <a:r>
              <a:rPr sz="1700" b="0">
                <a:solidFill>
                  <a:srgbClr val="222222"/>
                </a:solidFill>
                <a:latin typeface="맑은 고딕"/>
                <a:ea typeface="맑은 고딕"/>
              </a:rPr>
              <a:t>•  PGA는 PGA_AGGREGATE_TARGET로 자동 관리 → 실습 DB가 이 상태</a:t>
            </a:r>
          </a:p>
        </p:txBody>
      </p:sp>
    </p:spTree>
    <p:extLst>
      <p:ext uri="{BB962C8B-B14F-4D97-AF65-F5344CB8AC3E}">
        <p14:creationId xmlns:p14="http://schemas.microsoft.com/office/powerpoint/2010/main" val="1730013523"/>
      </p:ext>
    </p:extLst>
  </p:cSld>
  <p:clrMapOvr>
    <a:masterClrMapping/>
  </p:clrMapOvr>
</p:sld>
</file>

<file path=ppt/slides/slide1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수동 관리와 판별 규칙</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세 줄로 방식을 가른다</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수동: MEMORY_TARGET=0 그리고 SGA_TARGET=0 → 개별 풀 직접 지정</a:t>
            </a:r>
          </a:p>
          <a:p>
            <a:pPr algn="l">
              <a:spcAft>
                <a:spcPts val="1000"/>
              </a:spcAft>
            </a:pPr>
            <a:r>
              <a:rPr sz="1700" b="0">
                <a:solidFill>
                  <a:srgbClr val="222222"/>
                </a:solidFill>
                <a:latin typeface="맑은 고딕"/>
                <a:ea typeface="맑은 고딕"/>
              </a:rPr>
              <a:t>•  판별 ① MEMORY_TARGET&gt;0 이면 AMM(확정)</a:t>
            </a:r>
          </a:p>
          <a:p>
            <a:pPr algn="l">
              <a:spcAft>
                <a:spcPts val="1000"/>
              </a:spcAft>
            </a:pPr>
            <a:r>
              <a:rPr sz="1700" b="0">
                <a:solidFill>
                  <a:srgbClr val="222222"/>
                </a:solidFill>
                <a:latin typeface="맑은 고딕"/>
                <a:ea typeface="맑은 고딕"/>
              </a:rPr>
              <a:t>•  판별 ② =0이고 SGA_TARGET&gt;0 이면 ASMM</a:t>
            </a:r>
          </a:p>
          <a:p>
            <a:pPr algn="l">
              <a:spcAft>
                <a:spcPts val="1000"/>
              </a:spcAft>
            </a:pPr>
            <a:r>
              <a:rPr sz="1700" b="0">
                <a:solidFill>
                  <a:srgbClr val="222222"/>
                </a:solidFill>
                <a:latin typeface="맑은 고딕"/>
                <a:ea typeface="맑은 고딕"/>
              </a:rPr>
              <a:t>•  판별 ③ 둘 다 0이면 수동</a:t>
            </a:r>
          </a:p>
          <a:p>
            <a:pPr algn="l">
              <a:spcAft>
                <a:spcPts val="1000"/>
              </a:spcAft>
            </a:pPr>
            <a:r>
              <a:rPr sz="1700" b="0">
                <a:solidFill>
                  <a:srgbClr val="222222"/>
                </a:solidFill>
                <a:latin typeface="맑은 고딕"/>
                <a:ea typeface="맑은 고딕"/>
              </a:rPr>
              <a:t>•  방식을 모른 채 파라미터를 바꾸면 의도와 다른 결과가 난다</a:t>
            </a:r>
          </a:p>
        </p:txBody>
      </p:sp>
    </p:spTree>
    <p:extLst>
      <p:ext uri="{BB962C8B-B14F-4D97-AF65-F5344CB8AC3E}">
        <p14:creationId xmlns:p14="http://schemas.microsoft.com/office/powerpoint/2010/main" val="3344404946"/>
      </p:ext>
    </p:extLst>
  </p:cSld>
  <p:clrMapOvr>
    <a:masterClrMapping/>
  </p:clrMapOvr>
</p:sld>
</file>

<file path=ppt/slides/slide1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실측 — 파라미터로 방식 판별</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V$PARAMETER (orcl 19.3, non-CDB)</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9728" rIns="137160" bIns="109728" rtlCol="0" anchor="ctr"/>
          <a:lstStyle/>
          <a:p>
            <a:pPr>
              <a:lnSpc>
                <a:spcPct val="100000"/>
              </a:lnSpc>
              <a:spcAft>
                <a:spcPts val="0"/>
              </a:spcAft>
            </a:pPr>
            <a:r>
              <a:rPr sz="1250" b="0" dirty="0">
                <a:solidFill>
                  <a:srgbClr val="F2F2F2"/>
                </a:solidFill>
                <a:latin typeface="Consolas"/>
                <a:ea typeface="Consolas"/>
              </a:rPr>
              <a:t>NAME                   DISPLAY_VALUE</a:t>
            </a:r>
          </a:p>
          <a:p>
            <a:pPr>
              <a:lnSpc>
                <a:spcPct val="100000"/>
              </a:lnSpc>
              <a:spcAft>
                <a:spcPts val="0"/>
              </a:spcAft>
            </a:pPr>
            <a:r>
              <a:rPr sz="1250" b="0" dirty="0">
                <a:solidFill>
                  <a:srgbClr val="F2F2F2"/>
                </a:solidFill>
                <a:latin typeface="Consolas"/>
                <a:ea typeface="Consolas"/>
              </a:rPr>
              <a:t>---------------------- --------------</a:t>
            </a:r>
          </a:p>
          <a:p>
            <a:pPr>
              <a:lnSpc>
                <a:spcPct val="100000"/>
              </a:lnSpc>
              <a:spcAft>
                <a:spcPts val="0"/>
              </a:spcAft>
            </a:pPr>
            <a:r>
              <a:rPr sz="1250" b="0" dirty="0" err="1">
                <a:solidFill>
                  <a:srgbClr val="F2F2F2"/>
                </a:solidFill>
                <a:latin typeface="Consolas"/>
                <a:ea typeface="Consolas"/>
              </a:rPr>
              <a:t>db_cache_size</a:t>
            </a:r>
            <a:r>
              <a:rPr sz="1250" b="0" dirty="0">
                <a:solidFill>
                  <a:srgbClr val="F2F2F2"/>
                </a:solidFill>
                <a:latin typeface="Consolas"/>
                <a:ea typeface="Consolas"/>
              </a:rPr>
              <a:t>          0</a:t>
            </a:r>
          </a:p>
          <a:p>
            <a:pPr>
              <a:lnSpc>
                <a:spcPct val="100000"/>
              </a:lnSpc>
              <a:spcAft>
                <a:spcPts val="0"/>
              </a:spcAft>
            </a:pPr>
            <a:r>
              <a:rPr sz="1250" b="0" dirty="0" err="1">
                <a:solidFill>
                  <a:srgbClr val="F2F2F2"/>
                </a:solidFill>
                <a:latin typeface="Consolas"/>
                <a:ea typeface="Consolas"/>
              </a:rPr>
              <a:t>memory_max_target</a:t>
            </a:r>
            <a:r>
              <a:rPr sz="1250" b="0" dirty="0">
                <a:solidFill>
                  <a:srgbClr val="F2F2F2"/>
                </a:solidFill>
                <a:latin typeface="Consolas"/>
                <a:ea typeface="Consolas"/>
              </a:rPr>
              <a:t>      0</a:t>
            </a:r>
          </a:p>
          <a:p>
            <a:pPr>
              <a:lnSpc>
                <a:spcPct val="100000"/>
              </a:lnSpc>
              <a:spcAft>
                <a:spcPts val="0"/>
              </a:spcAft>
            </a:pPr>
            <a:r>
              <a:rPr sz="1250" b="0" dirty="0" err="1">
                <a:solidFill>
                  <a:srgbClr val="F2F2F2"/>
                </a:solidFill>
                <a:latin typeface="Consolas"/>
                <a:ea typeface="Consolas"/>
              </a:rPr>
              <a:t>memory_target</a:t>
            </a:r>
            <a:r>
              <a:rPr sz="1250" b="0" dirty="0">
                <a:solidFill>
                  <a:srgbClr val="F2F2F2"/>
                </a:solidFill>
                <a:latin typeface="Consolas"/>
                <a:ea typeface="Consolas"/>
              </a:rPr>
              <a:t>          0        &lt;-- AMM </a:t>
            </a:r>
            <a:r>
              <a:rPr sz="1250" b="0" dirty="0" err="1">
                <a:solidFill>
                  <a:srgbClr val="F2F2F2"/>
                </a:solidFill>
                <a:latin typeface="Consolas"/>
                <a:ea typeface="Consolas"/>
              </a:rPr>
              <a:t>아님</a:t>
            </a:r>
            <a:endParaRPr sz="1250" b="0" dirty="0">
              <a:solidFill>
                <a:srgbClr val="F2F2F2"/>
              </a:solidFill>
              <a:latin typeface="Consolas"/>
              <a:ea typeface="Consolas"/>
            </a:endParaRPr>
          </a:p>
          <a:p>
            <a:pPr>
              <a:lnSpc>
                <a:spcPct val="100000"/>
              </a:lnSpc>
              <a:spcAft>
                <a:spcPts val="0"/>
              </a:spcAft>
            </a:pPr>
            <a:r>
              <a:rPr sz="1250" b="0" dirty="0" err="1">
                <a:solidFill>
                  <a:srgbClr val="F2F2F2"/>
                </a:solidFill>
                <a:latin typeface="Consolas"/>
                <a:ea typeface="Consolas"/>
              </a:rPr>
              <a:t>pga_aggregate_limit</a:t>
            </a:r>
            <a:r>
              <a:rPr sz="1250" b="0" dirty="0">
                <a:solidFill>
                  <a:srgbClr val="F2F2F2"/>
                </a:solidFill>
                <a:latin typeface="Consolas"/>
                <a:ea typeface="Consolas"/>
              </a:rPr>
              <a:t>    2G</a:t>
            </a:r>
          </a:p>
          <a:p>
            <a:pPr>
              <a:lnSpc>
                <a:spcPct val="100000"/>
              </a:lnSpc>
              <a:spcAft>
                <a:spcPts val="0"/>
              </a:spcAft>
            </a:pPr>
            <a:r>
              <a:rPr sz="1250" b="0" dirty="0" err="1">
                <a:solidFill>
                  <a:srgbClr val="F2F2F2"/>
                </a:solidFill>
                <a:latin typeface="Consolas"/>
                <a:ea typeface="Consolas"/>
              </a:rPr>
              <a:t>pga_aggregate_target</a:t>
            </a:r>
            <a:r>
              <a:rPr sz="1250" b="0" dirty="0">
                <a:solidFill>
                  <a:srgbClr val="F2F2F2"/>
                </a:solidFill>
                <a:latin typeface="Consolas"/>
                <a:ea typeface="Consolas"/>
              </a:rPr>
              <a:t>   700M</a:t>
            </a:r>
          </a:p>
          <a:p>
            <a:pPr>
              <a:lnSpc>
                <a:spcPct val="100000"/>
              </a:lnSpc>
              <a:spcAft>
                <a:spcPts val="0"/>
              </a:spcAft>
            </a:pPr>
            <a:r>
              <a:rPr sz="1250" b="0" dirty="0" err="1">
                <a:solidFill>
                  <a:srgbClr val="F2F2F2"/>
                </a:solidFill>
                <a:latin typeface="Consolas"/>
                <a:ea typeface="Consolas"/>
              </a:rPr>
              <a:t>sga_max_size</a:t>
            </a:r>
            <a:r>
              <a:rPr sz="1250" b="0" dirty="0">
                <a:solidFill>
                  <a:srgbClr val="F2F2F2"/>
                </a:solidFill>
                <a:latin typeface="Consolas"/>
                <a:ea typeface="Consolas"/>
              </a:rPr>
              <a:t>           2G</a:t>
            </a:r>
          </a:p>
          <a:p>
            <a:pPr>
              <a:lnSpc>
                <a:spcPct val="100000"/>
              </a:lnSpc>
              <a:spcAft>
                <a:spcPts val="0"/>
              </a:spcAft>
            </a:pPr>
            <a:r>
              <a:rPr sz="1250" b="0" dirty="0" err="1">
                <a:solidFill>
                  <a:srgbClr val="F2F2F2"/>
                </a:solidFill>
                <a:latin typeface="Consolas"/>
                <a:ea typeface="Consolas"/>
              </a:rPr>
              <a:t>sga_target</a:t>
            </a:r>
            <a:r>
              <a:rPr sz="1250" b="0" dirty="0">
                <a:solidFill>
                  <a:srgbClr val="F2F2F2"/>
                </a:solidFill>
                <a:latin typeface="Consolas"/>
                <a:ea typeface="Consolas"/>
              </a:rPr>
              <a:t>             1504M     &lt;-- &gt;0 → ASMM</a:t>
            </a:r>
          </a:p>
          <a:p>
            <a:pPr>
              <a:lnSpc>
                <a:spcPct val="100000"/>
              </a:lnSpc>
              <a:spcAft>
                <a:spcPts val="0"/>
              </a:spcAft>
            </a:pPr>
            <a:r>
              <a:rPr sz="1250" b="0" dirty="0" err="1">
                <a:solidFill>
                  <a:srgbClr val="F2F2F2"/>
                </a:solidFill>
                <a:latin typeface="Consolas"/>
                <a:ea typeface="Consolas"/>
              </a:rPr>
              <a:t>shared_pool_size</a:t>
            </a:r>
            <a:r>
              <a:rPr sz="1250" b="0" dirty="0">
                <a:solidFill>
                  <a:srgbClr val="F2F2F2"/>
                </a:solidFill>
                <a:latin typeface="Consolas"/>
                <a:ea typeface="Consolas"/>
              </a:rPr>
              <a:t>       0</a:t>
            </a:r>
          </a:p>
        </p:txBody>
      </p:sp>
    </p:spTree>
    <p:extLst>
      <p:ext uri="{BB962C8B-B14F-4D97-AF65-F5344CB8AC3E}">
        <p14:creationId xmlns:p14="http://schemas.microsoft.com/office/powerpoint/2010/main" val="1365399574"/>
      </p:ext>
    </p:extLst>
  </p:cSld>
  <p:clrMapOvr>
    <a:masterClrMapping/>
  </p:clrMapOvr>
</p:sld>
</file>

<file path=ppt/slides/slide1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세 방식 한눈에 비교</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자동화 수준과 관리 노력의 트레이드오프</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AMM: 관리 노력 최소 / 오라클이 SGA+PGA 전부 조정 / HugePages 제약</a:t>
            </a:r>
          </a:p>
          <a:p>
            <a:pPr algn="l">
              <a:spcAft>
                <a:spcPts val="1000"/>
              </a:spcAft>
            </a:pPr>
            <a:r>
              <a:rPr sz="1700" b="0">
                <a:solidFill>
                  <a:srgbClr val="222222"/>
                </a:solidFill>
                <a:latin typeface="맑은 고딕"/>
                <a:ea typeface="맑은 고딕"/>
              </a:rPr>
              <a:t>•  ASMM: SGA만 자동 + PGA 별도 / HugePages 가능 / 운영 환경 선호</a:t>
            </a:r>
          </a:p>
          <a:p>
            <a:pPr algn="l">
              <a:spcAft>
                <a:spcPts val="1000"/>
              </a:spcAft>
            </a:pPr>
            <a:r>
              <a:rPr sz="1700" b="0">
                <a:solidFill>
                  <a:srgbClr val="222222"/>
                </a:solidFill>
                <a:latin typeface="맑은 고딕"/>
                <a:ea typeface="맑은 고딕"/>
              </a:rPr>
              <a:t>•  수동: 완전한 제어 / 워크로드 변화마다 손봐야 해 노력 최대</a:t>
            </a:r>
          </a:p>
          <a:p>
            <a:pPr algn="l">
              <a:spcAft>
                <a:spcPts val="1000"/>
              </a:spcAft>
            </a:pPr>
            <a:r>
              <a:rPr sz="1700" b="0">
                <a:solidFill>
                  <a:srgbClr val="222222"/>
                </a:solidFill>
                <a:latin typeface="맑은 고딕"/>
                <a:ea typeface="맑은 고딕"/>
              </a:rPr>
              <a:t>•  공통: 자동이라도 상한을 잘못 주면 자동으로 나빠진다</a:t>
            </a:r>
          </a:p>
        </p:txBody>
      </p:sp>
    </p:spTree>
    <p:extLst>
      <p:ext uri="{BB962C8B-B14F-4D97-AF65-F5344CB8AC3E}">
        <p14:creationId xmlns:p14="http://schemas.microsoft.com/office/powerpoint/2010/main" val="4187459598"/>
      </p:ext>
    </p:extLst>
  </p:cSld>
  <p:clrMapOvr>
    <a:masterClrMapping/>
  </p:clrMapOvr>
</p:sld>
</file>

<file path=ppt/slides/slide1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nchor="t">
            <a:spAutoFit/>
          </a:bodyPr>
          <a:lstStyle/>
          <a:p>
            <a:pPr algn="l">
              <a:spcAft>
                <a:spcPts val="600"/>
              </a:spcAft>
            </a:pPr>
            <a:r>
              <a:rPr sz="4000" b="1">
                <a:solidFill>
                  <a:srgbClr val="FFFFFF"/>
                </a:solidFill>
                <a:latin typeface="맑은 고딕"/>
                <a:ea typeface="맑은 고딕"/>
              </a:rPr>
              <a:t>29.4</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spcAft>
                <a:spcPts val="600"/>
              </a:spcAft>
            </a:pPr>
            <a:r>
              <a:rPr sz="2800" b="1">
                <a:solidFill>
                  <a:srgbClr val="FFFFFF"/>
                </a:solidFill>
                <a:latin typeface="맑은 고딕"/>
                <a:ea typeface="맑은 고딕"/>
              </a:rPr>
              <a:t>파라미터 체계</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ea typeface="맑은 고딕"/>
              </a:rPr>
              <a:t>•  목표(동적) vs 상한(정적)</a:t>
            </a:r>
          </a:p>
          <a:p>
            <a:pPr algn="l">
              <a:spcAft>
                <a:spcPts val="600"/>
              </a:spcAft>
            </a:pPr>
            <a:r>
              <a:rPr sz="1600" b="0">
                <a:solidFill>
                  <a:srgbClr val="FFFFFF"/>
                </a:solidFill>
                <a:latin typeface="맑은 고딕"/>
                <a:ea typeface="맑은 고딕"/>
              </a:rPr>
              <a:t>•  목표는 상한을 넘을 수 없다</a:t>
            </a:r>
          </a:p>
          <a:p>
            <a:pPr algn="l">
              <a:spcAft>
                <a:spcPts val="600"/>
              </a:spcAft>
            </a:pPr>
            <a:r>
              <a:rPr sz="1600" b="0">
                <a:solidFill>
                  <a:srgbClr val="FFFFFF"/>
                </a:solidFill>
                <a:latin typeface="맑은 고딕"/>
                <a:ea typeface="맑은 고딕"/>
              </a:rPr>
              <a:t>•  MEMORY_TARGET과 SGA_TARGET 혼동 주의</a:t>
            </a:r>
          </a:p>
        </p:txBody>
      </p:sp>
    </p:spTree>
    <p:extLst>
      <p:ext uri="{BB962C8B-B14F-4D97-AF65-F5344CB8AC3E}">
        <p14:creationId xmlns:p14="http://schemas.microsoft.com/office/powerpoint/2010/main" val="3186153971"/>
      </p:ext>
    </p:extLst>
  </p:cSld>
  <p:clrMapOvr>
    <a:masterClrMapping/>
  </p:clrMapOvr>
</p:sld>
</file>

<file path=ppt/slides/slide1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목표·상한과 동적/정적</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파라미터는 짝으로 이해한다</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SGA_TARGET(1504M, 동적) ≤ SGA_MAX_SIZE(2G, 정적)</a:t>
            </a:r>
          </a:p>
          <a:p>
            <a:pPr algn="l">
              <a:spcAft>
                <a:spcPts val="1000"/>
              </a:spcAft>
            </a:pPr>
            <a:r>
              <a:rPr sz="1700" b="0">
                <a:solidFill>
                  <a:srgbClr val="222222"/>
                </a:solidFill>
                <a:latin typeface="맑은 고딕"/>
                <a:ea typeface="맑은 고딕"/>
              </a:rPr>
              <a:t>•  목표는 상한 이하여야 하고, 상한까지 동적으로 키울 수 있다</a:t>
            </a:r>
          </a:p>
          <a:p>
            <a:pPr algn="l">
              <a:spcAft>
                <a:spcPts val="1000"/>
              </a:spcAft>
            </a:pPr>
            <a:r>
              <a:rPr sz="1700" b="0">
                <a:solidFill>
                  <a:srgbClr val="222222"/>
                </a:solidFill>
                <a:latin typeface="맑은 고딕"/>
                <a:ea typeface="맑은 고딕"/>
              </a:rPr>
              <a:t>•  PGA_AGGREGATE_TARGET(700M, 목표) vs PGA_AGGREGATE_LIMIT(2G, 하드 한도)</a:t>
            </a:r>
          </a:p>
          <a:p>
            <a:pPr algn="l">
              <a:spcAft>
                <a:spcPts val="1000"/>
              </a:spcAft>
            </a:pPr>
            <a:r>
              <a:rPr sz="1700" b="0">
                <a:solidFill>
                  <a:srgbClr val="222222"/>
                </a:solidFill>
                <a:latin typeface="맑은 고딕"/>
                <a:ea typeface="맑은 고딕"/>
              </a:rPr>
              <a:t>•  상한은 성장 여유를 고려해 넉넉히, 목표만 동적으로 조절</a:t>
            </a:r>
          </a:p>
        </p:txBody>
      </p:sp>
    </p:spTree>
    <p:extLst>
      <p:ext uri="{BB962C8B-B14F-4D97-AF65-F5344CB8AC3E}">
        <p14:creationId xmlns:p14="http://schemas.microsoft.com/office/powerpoint/2010/main" val="3627370044"/>
      </p:ext>
    </p:extLst>
  </p:cSld>
  <p:clrMapOvr>
    <a:masterClrMapping/>
  </p:clrMapOvr>
</p:sld>
</file>

<file path=ppt/slides/slide1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Common Error — 자동을 두 번 켜기</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MEMORY_TARGET과 SGA_TARGET 동시 설정 혼란</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증상: 재기동 후 SGA가 기대와 다르거나 ORA-00838/00844로 기동 막힘</a:t>
            </a:r>
          </a:p>
          <a:p>
            <a:pPr algn="l">
              <a:spcAft>
                <a:spcPts val="1000"/>
              </a:spcAft>
            </a:pPr>
            <a:r>
              <a:rPr sz="1700" b="0">
                <a:solidFill>
                  <a:srgbClr val="222222"/>
                </a:solidFill>
                <a:latin typeface="맑은 고딕"/>
                <a:ea typeface="맑은 고딕"/>
              </a:rPr>
              <a:t>•  원인: MEMORY_TARGET&gt;0이면 AMM, 이때 SGA_TARGET은 '하한'으로만</a:t>
            </a:r>
          </a:p>
          <a:p>
            <a:pPr algn="l">
              <a:spcAft>
                <a:spcPts val="1000"/>
              </a:spcAft>
            </a:pPr>
            <a:r>
              <a:rPr sz="1700" b="0">
                <a:solidFill>
                  <a:srgbClr val="222222"/>
                </a:solidFill>
                <a:latin typeface="맑은 고딕"/>
                <a:ea typeface="맑은 고딕"/>
              </a:rPr>
              <a:t>•  관계를 어기면(MEMORY_TARGET&lt;SGA_TARGET 등) 오류</a:t>
            </a:r>
          </a:p>
          <a:p>
            <a:pPr algn="l">
              <a:spcAft>
                <a:spcPts val="1000"/>
              </a:spcAft>
            </a:pPr>
            <a:r>
              <a:rPr sz="1700" b="0">
                <a:solidFill>
                  <a:srgbClr val="222222"/>
                </a:solidFill>
                <a:latin typeface="맑은 고딕"/>
                <a:ea typeface="맑은 고딕"/>
              </a:rPr>
              <a:t>•  판정: '자동'을 두 번 켜지 말고 한 방식을 고른다</a:t>
            </a:r>
          </a:p>
          <a:p>
            <a:pPr algn="l">
              <a:spcAft>
                <a:spcPts val="1000"/>
              </a:spcAft>
            </a:pPr>
            <a:r>
              <a:rPr sz="1700" b="0">
                <a:solidFill>
                  <a:srgbClr val="222222"/>
                </a:solidFill>
                <a:latin typeface="맑은 고딕"/>
                <a:ea typeface="맑은 고딕"/>
              </a:rPr>
              <a:t>•  ASMM이면 MEMORY_TARGET=0 + SGA_TARGET만 설정</a:t>
            </a:r>
          </a:p>
        </p:txBody>
      </p:sp>
    </p:spTree>
    <p:extLst>
      <p:ext uri="{BB962C8B-B14F-4D97-AF65-F5344CB8AC3E}">
        <p14:creationId xmlns:p14="http://schemas.microsoft.com/office/powerpoint/2010/main" val="1969751004"/>
      </p:ext>
    </p:extLst>
  </p:cSld>
  <p:clrMapOvr>
    <a:masterClrMapping/>
  </p:clrMapOvr>
</p:sld>
</file>

<file path=ppt/slides/slide1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nchor="t">
            <a:spAutoFit/>
          </a:bodyPr>
          <a:lstStyle/>
          <a:p>
            <a:pPr algn="l">
              <a:spcAft>
                <a:spcPts val="600"/>
              </a:spcAft>
            </a:pPr>
            <a:r>
              <a:rPr sz="4000" b="1">
                <a:solidFill>
                  <a:srgbClr val="FFFFFF"/>
                </a:solidFill>
                <a:latin typeface="맑은 고딕"/>
                <a:ea typeface="맑은 고딕"/>
              </a:rPr>
              <a:t>29.5</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spcAft>
                <a:spcPts val="600"/>
              </a:spcAft>
            </a:pPr>
            <a:r>
              <a:rPr sz="2800" b="1">
                <a:solidFill>
                  <a:srgbClr val="FFFFFF"/>
                </a:solidFill>
                <a:latin typeface="맑은 고딕"/>
                <a:ea typeface="맑은 고딕"/>
              </a:rPr>
              <a:t>SGA 동적 구성과 조정 이력</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ea typeface="맑은 고딕"/>
              </a:rPr>
              <a:t>•  파라미터=지시, 실제 배분=결과</a:t>
            </a:r>
          </a:p>
          <a:p>
            <a:pPr algn="l">
              <a:spcAft>
                <a:spcPts val="600"/>
              </a:spcAft>
            </a:pPr>
            <a:r>
              <a:rPr sz="1600" b="0">
                <a:solidFill>
                  <a:srgbClr val="FFFFFF"/>
                </a:solidFill>
                <a:latin typeface="맑은 고딕"/>
                <a:ea typeface="맑은 고딕"/>
              </a:rPr>
              <a:t>•  그래뉼(16MB) 단위 조정</a:t>
            </a:r>
          </a:p>
          <a:p>
            <a:pPr algn="l">
              <a:spcAft>
                <a:spcPts val="600"/>
              </a:spcAft>
            </a:pPr>
            <a:r>
              <a:rPr sz="1600" b="0">
                <a:solidFill>
                  <a:srgbClr val="FFFFFF"/>
                </a:solidFill>
                <a:latin typeface="맑은 고딕"/>
                <a:ea typeface="맑은 고딕"/>
              </a:rPr>
              <a:t>•  GROW/SHRINK는 짝을 이룬다</a:t>
            </a:r>
          </a:p>
        </p:txBody>
      </p:sp>
    </p:spTree>
    <p:extLst>
      <p:ext uri="{BB962C8B-B14F-4D97-AF65-F5344CB8AC3E}">
        <p14:creationId xmlns:p14="http://schemas.microsoft.com/office/powerpoint/2010/main" val="417349434"/>
      </p:ext>
    </p:extLst>
  </p:cSld>
  <p:clrMapOvr>
    <a:masterClrMapping/>
  </p:clrMapOvr>
</p:sld>
</file>

<file path=ppt/slides/slide1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실측 — SGA 구성 (V$SGAINFO)</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실제로 어떻게 쪼개졌는가</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9728" rIns="137160" bIns="109728" rtlCol="0" anchor="ctr"/>
          <a:lstStyle/>
          <a:p>
            <a:pPr>
              <a:lnSpc>
                <a:spcPct val="100000"/>
              </a:lnSpc>
              <a:spcAft>
                <a:spcPts val="0"/>
              </a:spcAft>
            </a:pPr>
            <a:r>
              <a:rPr sz="1250" b="0" dirty="0">
                <a:solidFill>
                  <a:srgbClr val="F2F2F2"/>
                </a:solidFill>
                <a:latin typeface="Consolas"/>
                <a:ea typeface="Consolas"/>
              </a:rPr>
              <a:t>NAME                              MB    RESIZEABLE</a:t>
            </a:r>
          </a:p>
          <a:p>
            <a:pPr>
              <a:lnSpc>
                <a:spcPct val="100000"/>
              </a:lnSpc>
              <a:spcAft>
                <a:spcPts val="0"/>
              </a:spcAft>
            </a:pPr>
            <a:r>
              <a:rPr sz="1250" b="0" dirty="0">
                <a:solidFill>
                  <a:srgbClr val="F2F2F2"/>
                </a:solidFill>
                <a:latin typeface="Consolas"/>
                <a:ea typeface="Consolas"/>
              </a:rPr>
              <a:t>-------------------------------- ------ ----------</a:t>
            </a:r>
          </a:p>
          <a:p>
            <a:pPr>
              <a:lnSpc>
                <a:spcPct val="100000"/>
              </a:lnSpc>
              <a:spcAft>
                <a:spcPts val="0"/>
              </a:spcAft>
            </a:pPr>
            <a:r>
              <a:rPr sz="1250" b="0" dirty="0">
                <a:solidFill>
                  <a:srgbClr val="F2F2F2"/>
                </a:solidFill>
                <a:latin typeface="Consolas"/>
                <a:ea typeface="Consolas"/>
              </a:rPr>
              <a:t>Maximum SGA Size                 2048   No</a:t>
            </a:r>
          </a:p>
          <a:p>
            <a:pPr>
              <a:lnSpc>
                <a:spcPct val="100000"/>
              </a:lnSpc>
              <a:spcAft>
                <a:spcPts val="0"/>
              </a:spcAft>
            </a:pPr>
            <a:r>
              <a:rPr sz="1250" b="0" dirty="0">
                <a:solidFill>
                  <a:srgbClr val="F2F2F2"/>
                </a:solidFill>
                <a:latin typeface="Consolas"/>
                <a:ea typeface="Consolas"/>
              </a:rPr>
              <a:t>Buffer Cache Size                1024   Yes</a:t>
            </a:r>
          </a:p>
          <a:p>
            <a:pPr>
              <a:lnSpc>
                <a:spcPct val="100000"/>
              </a:lnSpc>
              <a:spcAft>
                <a:spcPts val="0"/>
              </a:spcAft>
            </a:pPr>
            <a:r>
              <a:rPr sz="1250" b="0" dirty="0">
                <a:solidFill>
                  <a:srgbClr val="F2F2F2"/>
                </a:solidFill>
                <a:latin typeface="Consolas"/>
                <a:ea typeface="Consolas"/>
              </a:rPr>
              <a:t>Free SGA Memory Available         544</a:t>
            </a:r>
          </a:p>
          <a:p>
            <a:pPr>
              <a:lnSpc>
                <a:spcPct val="100000"/>
              </a:lnSpc>
              <a:spcAft>
                <a:spcPts val="0"/>
              </a:spcAft>
            </a:pPr>
            <a:r>
              <a:rPr sz="1250" b="0" dirty="0">
                <a:solidFill>
                  <a:srgbClr val="F2F2F2"/>
                </a:solidFill>
                <a:latin typeface="Consolas"/>
                <a:ea typeface="Consolas"/>
              </a:rPr>
              <a:t>Shared Pool Size                  416   Yes</a:t>
            </a:r>
          </a:p>
          <a:p>
            <a:pPr>
              <a:lnSpc>
                <a:spcPct val="100000"/>
              </a:lnSpc>
              <a:spcAft>
                <a:spcPts val="0"/>
              </a:spcAft>
            </a:pPr>
            <a:r>
              <a:rPr sz="1250" b="0" dirty="0">
                <a:solidFill>
                  <a:srgbClr val="F2F2F2"/>
                </a:solidFill>
                <a:latin typeface="Consolas"/>
                <a:ea typeface="Consolas"/>
              </a:rPr>
              <a:t>Startup overhead in Shared Pool   249.3 No</a:t>
            </a:r>
          </a:p>
          <a:p>
            <a:pPr>
              <a:lnSpc>
                <a:spcPct val="100000"/>
              </a:lnSpc>
              <a:spcAft>
                <a:spcPts val="0"/>
              </a:spcAft>
            </a:pPr>
            <a:r>
              <a:rPr sz="1250" b="0" dirty="0">
                <a:solidFill>
                  <a:srgbClr val="F2F2F2"/>
                </a:solidFill>
                <a:latin typeface="Consolas"/>
                <a:ea typeface="Consolas"/>
              </a:rPr>
              <a:t>Shared IO Pool Size                64   Yes</a:t>
            </a:r>
          </a:p>
          <a:p>
            <a:pPr>
              <a:lnSpc>
                <a:spcPct val="100000"/>
              </a:lnSpc>
              <a:spcAft>
                <a:spcPts val="0"/>
              </a:spcAft>
            </a:pPr>
            <a:r>
              <a:rPr sz="1250" b="0" dirty="0">
                <a:solidFill>
                  <a:srgbClr val="F2F2F2"/>
                </a:solidFill>
                <a:latin typeface="Consolas"/>
                <a:ea typeface="Consolas"/>
              </a:rPr>
              <a:t>Granule Size                       16   No</a:t>
            </a:r>
          </a:p>
          <a:p>
            <a:pPr>
              <a:lnSpc>
                <a:spcPct val="100000"/>
              </a:lnSpc>
              <a:spcAft>
                <a:spcPts val="0"/>
              </a:spcAft>
            </a:pPr>
            <a:r>
              <a:rPr sz="1250" b="0" dirty="0">
                <a:solidFill>
                  <a:srgbClr val="F2F2F2"/>
                </a:solidFill>
                <a:latin typeface="Consolas"/>
                <a:ea typeface="Consolas"/>
              </a:rPr>
              <a:t>Large Pool Size                    16   Yes</a:t>
            </a:r>
          </a:p>
          <a:p>
            <a:pPr>
              <a:lnSpc>
                <a:spcPct val="100000"/>
              </a:lnSpc>
              <a:spcAft>
                <a:spcPts val="0"/>
              </a:spcAft>
            </a:pPr>
            <a:r>
              <a:rPr sz="1250" b="0" dirty="0">
                <a:solidFill>
                  <a:srgbClr val="F2F2F2"/>
                </a:solidFill>
                <a:latin typeface="Consolas"/>
                <a:ea typeface="Consolas"/>
              </a:rPr>
              <a:t>Fixed SGA Size                      8.5 No</a:t>
            </a:r>
          </a:p>
          <a:p>
            <a:pPr>
              <a:lnSpc>
                <a:spcPct val="100000"/>
              </a:lnSpc>
              <a:spcAft>
                <a:spcPts val="0"/>
              </a:spcAft>
            </a:pPr>
            <a:r>
              <a:rPr sz="1250" b="0" dirty="0">
                <a:solidFill>
                  <a:srgbClr val="F2F2F2"/>
                </a:solidFill>
                <a:latin typeface="Consolas"/>
                <a:ea typeface="Consolas"/>
              </a:rPr>
              <a:t>In-Memory Area Size                 0   No</a:t>
            </a:r>
          </a:p>
        </p:txBody>
      </p:sp>
    </p:spTree>
    <p:extLst>
      <p:ext uri="{BB962C8B-B14F-4D97-AF65-F5344CB8AC3E}">
        <p14:creationId xmlns:p14="http://schemas.microsoft.com/office/powerpoint/2010/main" val="1749132187"/>
      </p:ext>
    </p:extLst>
  </p:cSld>
  <p:clrMapOvr>
    <a:masterClrMapping/>
  </p:clrMapOvr>
</p:sld>
</file>

<file path=ppt/slides/slide1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그래뉼과 Free SGA 해석</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숫자가 무엇의 합인지 확인한다</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그래뉼=16MB (SGA&gt;1GB이므로) — 모든 조정은 16MB 배수</a:t>
            </a:r>
          </a:p>
          <a:p>
            <a:pPr algn="l">
              <a:spcAft>
                <a:spcPts val="1000"/>
              </a:spcAft>
            </a:pPr>
            <a:r>
              <a:rPr sz="1700" b="0">
                <a:solidFill>
                  <a:srgbClr val="222222"/>
                </a:solidFill>
                <a:latin typeface="맑은 고딕"/>
                <a:ea typeface="맑은 고딕"/>
              </a:rPr>
              <a:t>•  그래뉼은 기동 시 계산되어 수명 동안 불변</a:t>
            </a:r>
          </a:p>
          <a:p>
            <a:pPr algn="l">
              <a:spcAft>
                <a:spcPts val="1000"/>
              </a:spcAft>
            </a:pPr>
            <a:r>
              <a:rPr sz="1700" b="0">
                <a:solidFill>
                  <a:srgbClr val="222222"/>
                </a:solidFill>
                <a:latin typeface="맑은 고딕"/>
                <a:ea typeface="맑은 고딕"/>
              </a:rPr>
              <a:t>•  Buffer Cache Size 1024 = DEFAULT+KEEP+4K 등의 합</a:t>
            </a:r>
          </a:p>
          <a:p>
            <a:pPr algn="l">
              <a:spcAft>
                <a:spcPts val="1000"/>
              </a:spcAft>
            </a:pPr>
            <a:r>
              <a:rPr sz="1700" b="0">
                <a:solidFill>
                  <a:srgbClr val="222222"/>
                </a:solidFill>
                <a:latin typeface="맑은 고딕"/>
                <a:ea typeface="맑은 고딕"/>
              </a:rPr>
              <a:t>•  그중 DEFAULT buffer cache는 864MB(뒤 화면과 대조)</a:t>
            </a:r>
          </a:p>
          <a:p>
            <a:pPr algn="l">
              <a:spcAft>
                <a:spcPts val="1000"/>
              </a:spcAft>
            </a:pPr>
            <a:r>
              <a:rPr sz="1700" b="0">
                <a:solidFill>
                  <a:srgbClr val="222222"/>
                </a:solidFill>
                <a:latin typeface="맑은 고딕"/>
                <a:ea typeface="맑은 고딕"/>
              </a:rPr>
              <a:t>•  뷰마다 '이 숫자가 무엇의 합인가'를 확인하는 습관</a:t>
            </a:r>
          </a:p>
        </p:txBody>
      </p:sp>
    </p:spTree>
    <p:extLst>
      <p:ext uri="{BB962C8B-B14F-4D97-AF65-F5344CB8AC3E}">
        <p14:creationId xmlns:p14="http://schemas.microsoft.com/office/powerpoint/2010/main" val="955315032"/>
      </p:ext>
    </p:extLst>
  </p:cSld>
  <p:clrMapOvr>
    <a:masterClrMapping/>
  </p:clrMapOvr>
</p:sld>
</file>

<file path=ppt/slides/slide1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실측 — 동적 구성 (V$SGA_DYNAMIC_COMPONENTS)</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현재·최소·최대로 움직인 범위를 본다</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9728" rIns="137160" bIns="109728" rtlCol="0" anchor="ctr"/>
          <a:lstStyle/>
          <a:p>
            <a:pPr>
              <a:lnSpc>
                <a:spcPct val="100000"/>
              </a:lnSpc>
              <a:spcAft>
                <a:spcPts val="0"/>
              </a:spcAft>
            </a:pPr>
            <a:r>
              <a:rPr sz="1250" b="0" dirty="0">
                <a:solidFill>
                  <a:srgbClr val="F2F2F2"/>
                </a:solidFill>
                <a:latin typeface="Consolas"/>
                <a:ea typeface="Consolas"/>
              </a:rPr>
              <a:t>COMPONENT                CUR_MB  MIN_MB  MAX_MB</a:t>
            </a:r>
          </a:p>
          <a:p>
            <a:pPr>
              <a:lnSpc>
                <a:spcPct val="100000"/>
              </a:lnSpc>
              <a:spcAft>
                <a:spcPts val="0"/>
              </a:spcAft>
            </a:pPr>
            <a:r>
              <a:rPr sz="1250" b="0" dirty="0">
                <a:solidFill>
                  <a:srgbClr val="F2F2F2"/>
                </a:solidFill>
                <a:latin typeface="Consolas"/>
                <a:ea typeface="Consolas"/>
              </a:rPr>
              <a:t>------------------------ ------- ------- -------</a:t>
            </a:r>
          </a:p>
          <a:p>
            <a:pPr>
              <a:lnSpc>
                <a:spcPct val="100000"/>
              </a:lnSpc>
              <a:spcAft>
                <a:spcPts val="0"/>
              </a:spcAft>
            </a:pPr>
            <a:r>
              <a:rPr sz="1250" b="0" dirty="0">
                <a:solidFill>
                  <a:srgbClr val="F2F2F2"/>
                </a:solidFill>
                <a:latin typeface="Consolas"/>
                <a:ea typeface="Consolas"/>
              </a:rPr>
              <a:t>DEFAULT buffer cache      864     832     864</a:t>
            </a:r>
          </a:p>
          <a:p>
            <a:pPr>
              <a:lnSpc>
                <a:spcPct val="100000"/>
              </a:lnSpc>
              <a:spcAft>
                <a:spcPts val="0"/>
              </a:spcAft>
            </a:pPr>
            <a:r>
              <a:rPr sz="1250" b="0" dirty="0">
                <a:solidFill>
                  <a:srgbClr val="F2F2F2"/>
                </a:solidFill>
                <a:latin typeface="Consolas"/>
                <a:ea typeface="Consolas"/>
              </a:rPr>
              <a:t>shared pool               416     416     416</a:t>
            </a:r>
          </a:p>
          <a:p>
            <a:pPr>
              <a:lnSpc>
                <a:spcPct val="100000"/>
              </a:lnSpc>
              <a:spcAft>
                <a:spcPts val="0"/>
              </a:spcAft>
            </a:pPr>
            <a:r>
              <a:rPr sz="1250" b="0" dirty="0">
                <a:solidFill>
                  <a:srgbClr val="F2F2F2"/>
                </a:solidFill>
                <a:latin typeface="Consolas"/>
                <a:ea typeface="Consolas"/>
              </a:rPr>
              <a:t>Shared IO Pool             64      64      64</a:t>
            </a:r>
          </a:p>
          <a:p>
            <a:pPr>
              <a:lnSpc>
                <a:spcPct val="100000"/>
              </a:lnSpc>
              <a:spcAft>
                <a:spcPts val="0"/>
              </a:spcAft>
            </a:pPr>
            <a:r>
              <a:rPr sz="1250" b="0" dirty="0">
                <a:solidFill>
                  <a:srgbClr val="F2F2F2"/>
                </a:solidFill>
                <a:latin typeface="Consolas"/>
                <a:ea typeface="Consolas"/>
              </a:rPr>
              <a:t>KEEP buffer cache          48      48      48</a:t>
            </a:r>
          </a:p>
          <a:p>
            <a:pPr>
              <a:lnSpc>
                <a:spcPct val="100000"/>
              </a:lnSpc>
              <a:spcAft>
                <a:spcPts val="0"/>
              </a:spcAft>
            </a:pPr>
            <a:r>
              <a:rPr sz="1250" b="0" dirty="0">
                <a:solidFill>
                  <a:srgbClr val="F2F2F2"/>
                </a:solidFill>
                <a:latin typeface="Consolas"/>
                <a:ea typeface="Consolas"/>
              </a:rPr>
              <a:t>DEFAULT 4K buffer cache    48      48      48</a:t>
            </a:r>
          </a:p>
          <a:p>
            <a:pPr>
              <a:lnSpc>
                <a:spcPct val="100000"/>
              </a:lnSpc>
              <a:spcAft>
                <a:spcPts val="0"/>
              </a:spcAft>
            </a:pPr>
            <a:r>
              <a:rPr sz="1250" b="0" dirty="0">
                <a:solidFill>
                  <a:srgbClr val="F2F2F2"/>
                </a:solidFill>
                <a:latin typeface="Consolas"/>
                <a:ea typeface="Consolas"/>
              </a:rPr>
              <a:t>streams pool               32      32      32</a:t>
            </a:r>
          </a:p>
          <a:p>
            <a:pPr>
              <a:lnSpc>
                <a:spcPct val="100000"/>
              </a:lnSpc>
              <a:spcAft>
                <a:spcPts val="0"/>
              </a:spcAft>
            </a:pPr>
            <a:r>
              <a:rPr sz="1250" b="0" dirty="0">
                <a:solidFill>
                  <a:srgbClr val="F2F2F2"/>
                </a:solidFill>
                <a:latin typeface="Consolas"/>
                <a:ea typeface="Consolas"/>
              </a:rPr>
              <a:t>large pool                 16      16      48</a:t>
            </a:r>
          </a:p>
        </p:txBody>
      </p:sp>
    </p:spTree>
    <p:extLst>
      <p:ext uri="{BB962C8B-B14F-4D97-AF65-F5344CB8AC3E}">
        <p14:creationId xmlns:p14="http://schemas.microsoft.com/office/powerpoint/2010/main" val="260039121"/>
      </p:ext>
    </p:extLst>
  </p:cSld>
  <p:clrMapOvr>
    <a:masterClrMapping/>
  </p:clrMapOvr>
</p:sld>
</file>

<file path=ppt/slides/slide1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실측 — 조정 이력 (V$SGA_RESIZE_OPS)</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GROW/SHRINK가 짝을 이룬다</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9728" rIns="137160" bIns="109728" rtlCol="0" anchor="ctr"/>
          <a:lstStyle/>
          <a:p>
            <a:pPr>
              <a:lnSpc>
                <a:spcPct val="100000"/>
              </a:lnSpc>
              <a:spcAft>
                <a:spcPts val="0"/>
              </a:spcAft>
            </a:pPr>
            <a:r>
              <a:rPr sz="1250" b="0" dirty="0">
                <a:solidFill>
                  <a:srgbClr val="F2F2F2"/>
                </a:solidFill>
                <a:latin typeface="Consolas"/>
                <a:ea typeface="Consolas"/>
              </a:rPr>
              <a:t>COMPONENT             OPER   FROM  TO   T</a:t>
            </a:r>
          </a:p>
          <a:p>
            <a:pPr>
              <a:lnSpc>
                <a:spcPct val="100000"/>
              </a:lnSpc>
              <a:spcAft>
                <a:spcPts val="0"/>
              </a:spcAft>
            </a:pPr>
            <a:r>
              <a:rPr sz="1250" b="0" dirty="0">
                <a:solidFill>
                  <a:srgbClr val="F2F2F2"/>
                </a:solidFill>
                <a:latin typeface="Consolas"/>
                <a:ea typeface="Consolas"/>
              </a:rPr>
              <a:t>--------------------- ------ ----- ---- -----------</a:t>
            </a:r>
          </a:p>
          <a:p>
            <a:pPr>
              <a:lnSpc>
                <a:spcPct val="100000"/>
              </a:lnSpc>
              <a:spcAft>
                <a:spcPts val="0"/>
              </a:spcAft>
            </a:pPr>
            <a:r>
              <a:rPr sz="1250" b="0" dirty="0">
                <a:solidFill>
                  <a:srgbClr val="F2F2F2"/>
                </a:solidFill>
                <a:latin typeface="Consolas"/>
                <a:ea typeface="Consolas"/>
              </a:rPr>
              <a:t>large pool            GROW    16    32  08-25 17:28</a:t>
            </a:r>
          </a:p>
          <a:p>
            <a:pPr>
              <a:lnSpc>
                <a:spcPct val="100000"/>
              </a:lnSpc>
              <a:spcAft>
                <a:spcPts val="0"/>
              </a:spcAft>
            </a:pPr>
            <a:r>
              <a:rPr sz="1250" b="0" dirty="0">
                <a:solidFill>
                  <a:srgbClr val="F2F2F2"/>
                </a:solidFill>
                <a:latin typeface="Consolas"/>
                <a:ea typeface="Consolas"/>
              </a:rPr>
              <a:t>DEFAULT buffer cache  SHRINK 864   848  08-25 17:28</a:t>
            </a:r>
          </a:p>
          <a:p>
            <a:pPr>
              <a:lnSpc>
                <a:spcPct val="100000"/>
              </a:lnSpc>
              <a:spcAft>
                <a:spcPts val="0"/>
              </a:spcAft>
            </a:pPr>
            <a:r>
              <a:rPr sz="1250" b="0" dirty="0">
                <a:solidFill>
                  <a:srgbClr val="F2F2F2"/>
                </a:solidFill>
                <a:latin typeface="Consolas"/>
                <a:ea typeface="Consolas"/>
              </a:rPr>
              <a:t>large pool            SHRINK  32    16  08-25 17:28</a:t>
            </a:r>
          </a:p>
          <a:p>
            <a:pPr>
              <a:lnSpc>
                <a:spcPct val="100000"/>
              </a:lnSpc>
              <a:spcAft>
                <a:spcPts val="0"/>
              </a:spcAft>
            </a:pPr>
            <a:r>
              <a:rPr sz="1250" b="0" dirty="0">
                <a:solidFill>
                  <a:srgbClr val="F2F2F2"/>
                </a:solidFill>
                <a:latin typeface="Consolas"/>
                <a:ea typeface="Consolas"/>
              </a:rPr>
              <a:t>DEFAULT buffer cache  GROW   848   864  08-25 17:28</a:t>
            </a:r>
          </a:p>
          <a:p>
            <a:pPr>
              <a:lnSpc>
                <a:spcPct val="100000"/>
              </a:lnSpc>
              <a:spcAft>
                <a:spcPts val="0"/>
              </a:spcAft>
            </a:pPr>
            <a:r>
              <a:rPr sz="1250" b="0" dirty="0">
                <a:solidFill>
                  <a:srgbClr val="F2F2F2"/>
                </a:solidFill>
                <a:latin typeface="Consolas"/>
                <a:ea typeface="Consolas"/>
              </a:rPr>
              <a:t>large pool            SHRINK  48    16  08-25 14:34</a:t>
            </a:r>
          </a:p>
          <a:p>
            <a:pPr>
              <a:lnSpc>
                <a:spcPct val="100000"/>
              </a:lnSpc>
              <a:spcAft>
                <a:spcPts val="0"/>
              </a:spcAft>
            </a:pPr>
            <a:r>
              <a:rPr sz="1250" b="0" dirty="0">
                <a:solidFill>
                  <a:srgbClr val="F2F2F2"/>
                </a:solidFill>
                <a:latin typeface="Consolas"/>
                <a:ea typeface="Consolas"/>
              </a:rPr>
              <a:t>DEFAULT buffer cache  GROW   832   864  08-25 14:34</a:t>
            </a:r>
          </a:p>
          <a:p>
            <a:pPr>
              <a:lnSpc>
                <a:spcPct val="100000"/>
              </a:lnSpc>
              <a:spcAft>
                <a:spcPts val="0"/>
              </a:spcAft>
            </a:pPr>
            <a:r>
              <a:rPr sz="1250" b="0" dirty="0">
                <a:solidFill>
                  <a:srgbClr val="F2F2F2"/>
                </a:solidFill>
                <a:latin typeface="Consolas"/>
                <a:ea typeface="Consolas"/>
              </a:rPr>
              <a:t>-- </a:t>
            </a:r>
            <a:r>
              <a:rPr sz="1250" b="0" dirty="0" err="1">
                <a:solidFill>
                  <a:srgbClr val="F2F2F2"/>
                </a:solidFill>
                <a:latin typeface="Consolas"/>
                <a:ea typeface="Consolas"/>
              </a:rPr>
              <a:t>총량</a:t>
            </a:r>
            <a:r>
              <a:rPr sz="1250" b="0" dirty="0">
                <a:solidFill>
                  <a:srgbClr val="F2F2F2"/>
                </a:solidFill>
                <a:latin typeface="Consolas"/>
                <a:ea typeface="Consolas"/>
              </a:rPr>
              <a:t>(SGA_TARGET) </a:t>
            </a:r>
            <a:r>
              <a:rPr sz="1250" b="0" dirty="0" err="1">
                <a:solidFill>
                  <a:srgbClr val="F2F2F2"/>
                </a:solidFill>
                <a:latin typeface="Consolas"/>
                <a:ea typeface="Consolas"/>
              </a:rPr>
              <a:t>고정</a:t>
            </a:r>
            <a:r>
              <a:rPr sz="1250" b="0" dirty="0">
                <a:solidFill>
                  <a:srgbClr val="F2F2F2"/>
                </a:solidFill>
                <a:latin typeface="Consolas"/>
                <a:ea typeface="Consolas"/>
              </a:rPr>
              <a:t> → 한 </a:t>
            </a:r>
            <a:r>
              <a:rPr sz="1250" b="0" dirty="0" err="1">
                <a:solidFill>
                  <a:srgbClr val="F2F2F2"/>
                </a:solidFill>
                <a:latin typeface="Consolas"/>
                <a:ea typeface="Consolas"/>
              </a:rPr>
              <a:t>풀이</a:t>
            </a:r>
            <a:r>
              <a:rPr sz="1250" b="0" dirty="0">
                <a:solidFill>
                  <a:srgbClr val="F2F2F2"/>
                </a:solidFill>
                <a:latin typeface="Consolas"/>
                <a:ea typeface="Consolas"/>
              </a:rPr>
              <a:t> </a:t>
            </a:r>
            <a:r>
              <a:rPr sz="1250" b="0" dirty="0" err="1">
                <a:solidFill>
                  <a:srgbClr val="F2F2F2"/>
                </a:solidFill>
                <a:latin typeface="Consolas"/>
                <a:ea typeface="Consolas"/>
              </a:rPr>
              <a:t>커지면</a:t>
            </a:r>
            <a:r>
              <a:rPr sz="1250" b="0" dirty="0">
                <a:solidFill>
                  <a:srgbClr val="F2F2F2"/>
                </a:solidFill>
                <a:latin typeface="Consolas"/>
                <a:ea typeface="Consolas"/>
              </a:rPr>
              <a:t> </a:t>
            </a:r>
            <a:r>
              <a:rPr sz="1250" b="0" dirty="0" err="1">
                <a:solidFill>
                  <a:srgbClr val="F2F2F2"/>
                </a:solidFill>
                <a:latin typeface="Consolas"/>
                <a:ea typeface="Consolas"/>
              </a:rPr>
              <a:t>다른</a:t>
            </a:r>
            <a:r>
              <a:rPr sz="1250" b="0" dirty="0">
                <a:solidFill>
                  <a:srgbClr val="F2F2F2"/>
                </a:solidFill>
                <a:latin typeface="Consolas"/>
                <a:ea typeface="Consolas"/>
              </a:rPr>
              <a:t> </a:t>
            </a:r>
            <a:r>
              <a:rPr sz="1250" b="0" dirty="0" err="1">
                <a:solidFill>
                  <a:srgbClr val="F2F2F2"/>
                </a:solidFill>
                <a:latin typeface="Consolas"/>
                <a:ea typeface="Consolas"/>
              </a:rPr>
              <a:t>풀이</a:t>
            </a:r>
            <a:r>
              <a:rPr sz="1250" b="0" dirty="0">
                <a:solidFill>
                  <a:srgbClr val="F2F2F2"/>
                </a:solidFill>
                <a:latin typeface="Consolas"/>
                <a:ea typeface="Consolas"/>
              </a:rPr>
              <a:t> </a:t>
            </a:r>
            <a:r>
              <a:rPr sz="1250" b="0" dirty="0" err="1">
                <a:solidFill>
                  <a:srgbClr val="F2F2F2"/>
                </a:solidFill>
                <a:latin typeface="Consolas"/>
                <a:ea typeface="Consolas"/>
              </a:rPr>
              <a:t>내놓는다</a:t>
            </a:r>
            <a:endParaRPr sz="1250" b="0" dirty="0">
              <a:solidFill>
                <a:srgbClr val="F2F2F2"/>
              </a:solidFill>
              <a:latin typeface="Consolas"/>
              <a:ea typeface="Consolas"/>
            </a:endParaRPr>
          </a:p>
        </p:txBody>
      </p:sp>
    </p:spTree>
    <p:extLst>
      <p:ext uri="{BB962C8B-B14F-4D97-AF65-F5344CB8AC3E}">
        <p14:creationId xmlns:p14="http://schemas.microsoft.com/office/powerpoint/2010/main" val="4123800322"/>
      </p:ext>
    </p:extLst>
  </p:cSld>
  <p:clrMapOvr>
    <a:masterClrMapping/>
  </p:clrMapOvr>
</p:sld>
</file>

<file path=ppt/slides/slide1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조정 이력 해석 — 정상과 신호</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GROW/SHRINK가 잦다고 다 나쁜 것은 아니다</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짧은 왕복(thrashing 없이) = 건강한 자동 조정</a:t>
            </a:r>
          </a:p>
          <a:p>
            <a:pPr algn="l">
              <a:spcAft>
                <a:spcPts val="1000"/>
              </a:spcAft>
            </a:pPr>
            <a:r>
              <a:rPr sz="1700" b="0">
                <a:solidFill>
                  <a:srgbClr val="222222"/>
                </a:solidFill>
                <a:latin typeface="맑은 고딕"/>
                <a:ea typeface="맑은 고딕"/>
              </a:rPr>
              <a:t>•  문제 신호 ① 한 풀이 한 방향으로 계속 밀림 → 하한 검토</a:t>
            </a:r>
          </a:p>
          <a:p>
            <a:pPr algn="l">
              <a:spcAft>
                <a:spcPts val="1000"/>
              </a:spcAft>
            </a:pPr>
            <a:r>
              <a:rPr sz="1700" b="0">
                <a:solidFill>
                  <a:srgbClr val="222222"/>
                </a:solidFill>
                <a:latin typeface="맑은 고딕"/>
                <a:ea typeface="맑은 고딕"/>
              </a:rPr>
              <a:t>•  문제 신호 ② 조정이 지나치게 잦아 오버헤드 발생</a:t>
            </a:r>
          </a:p>
          <a:p>
            <a:pPr algn="l">
              <a:spcAft>
                <a:spcPts val="1000"/>
              </a:spcAft>
            </a:pPr>
            <a:r>
              <a:rPr sz="1700" b="0">
                <a:solidFill>
                  <a:srgbClr val="222222"/>
                </a:solidFill>
                <a:latin typeface="맑은 고딕"/>
                <a:ea typeface="맑은 고딕"/>
              </a:rPr>
              <a:t>•  문제 신호 ③ 조정에도 특정 풀에서 ORA-04031 반복</a:t>
            </a:r>
          </a:p>
          <a:p>
            <a:pPr algn="l">
              <a:spcAft>
                <a:spcPts val="1000"/>
              </a:spcAft>
            </a:pPr>
            <a:r>
              <a:rPr sz="1700" b="0">
                <a:solidFill>
                  <a:srgbClr val="222222"/>
                </a:solidFill>
                <a:latin typeface="맑은 고딕"/>
                <a:ea typeface="맑은 고딕"/>
              </a:rPr>
              <a:t>•  조정 이력은 '판정 근거'이지 그 자체가 '문제'는 아니다</a:t>
            </a:r>
          </a:p>
        </p:txBody>
      </p:sp>
    </p:spTree>
    <p:extLst>
      <p:ext uri="{BB962C8B-B14F-4D97-AF65-F5344CB8AC3E}">
        <p14:creationId xmlns:p14="http://schemas.microsoft.com/office/powerpoint/2010/main" val="210271497"/>
      </p:ext>
    </p:extLst>
  </p:cSld>
  <p:clrMapOvr>
    <a:masterClrMapping/>
  </p:clrMapOvr>
</p:sld>
</file>

<file path=ppt/slides/slide1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어느 뷰가 언제 채워지나</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방식에 맞는 뷰를 고른다</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V$SGA_RESIZE_OPS: SGA 풀 조정(ASMM·AMM 공통)</a:t>
            </a:r>
          </a:p>
          <a:p>
            <a:pPr algn="l">
              <a:spcAft>
                <a:spcPts val="1000"/>
              </a:spcAft>
            </a:pPr>
            <a:r>
              <a:rPr sz="1700" b="0">
                <a:solidFill>
                  <a:srgbClr val="222222"/>
                </a:solidFill>
                <a:latin typeface="맑은 고딕"/>
                <a:ea typeface="맑은 고딕"/>
              </a:rPr>
              <a:t>•  V$MEMORY_RESIZE_OPS: SGA+PGA 통합 조정(주로 AMM)</a:t>
            </a:r>
          </a:p>
          <a:p>
            <a:pPr algn="l">
              <a:spcAft>
                <a:spcPts val="1000"/>
              </a:spcAft>
            </a:pPr>
            <a:r>
              <a:rPr sz="1700" b="0">
                <a:solidFill>
                  <a:srgbClr val="222222"/>
                </a:solidFill>
                <a:latin typeface="맑은 고딕"/>
                <a:ea typeface="맑은 고딕"/>
              </a:rPr>
              <a:t>•  ASMM(실습 DB)에서는 SGA_RESIZE_OPS가 자연스럽다</a:t>
            </a:r>
          </a:p>
          <a:p>
            <a:pPr algn="l">
              <a:spcAft>
                <a:spcPts val="1000"/>
              </a:spcAft>
            </a:pPr>
            <a:r>
              <a:rPr sz="1700" b="0">
                <a:solidFill>
                  <a:srgbClr val="222222"/>
                </a:solidFill>
                <a:latin typeface="맑은 고딕"/>
                <a:ea typeface="맑은 고딕"/>
              </a:rPr>
              <a:t>•  V$MEMORY_RESIZE_OPS는 AMM에서 SGA↔PGA 이동까지 포함</a:t>
            </a:r>
          </a:p>
        </p:txBody>
      </p:sp>
    </p:spTree>
    <p:extLst>
      <p:ext uri="{BB962C8B-B14F-4D97-AF65-F5344CB8AC3E}">
        <p14:creationId xmlns:p14="http://schemas.microsoft.com/office/powerpoint/2010/main" val="3815501029"/>
      </p:ext>
    </p:extLst>
  </p:cSld>
  <p:clrMapOvr>
    <a:masterClrMapping/>
  </p:clrMapOvr>
</p:sld>
</file>

<file path=ppt/slides/slide1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실무 시나리오 · '특정 시간대만 느리다'</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메모리 관점으로 좁히기</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1단계 판별: V$PARAMETER로 MEMORY_TARGET=0·SGA_TARGET=1504M → ASMM</a:t>
            </a:r>
          </a:p>
          <a:p>
            <a:pPr algn="l">
              <a:spcAft>
                <a:spcPts val="1000"/>
              </a:spcAft>
            </a:pPr>
            <a:r>
              <a:rPr sz="1700" b="0">
                <a:solidFill>
                  <a:srgbClr val="222222"/>
                </a:solidFill>
                <a:latin typeface="맑은 고딕"/>
                <a:ea typeface="맑은 고딕"/>
              </a:rPr>
              <a:t>•  2단계 이력: V$SGA_RESIZE_OPS를 그 시간대로 필터 — 어느 풀이 압력?</a:t>
            </a:r>
          </a:p>
          <a:p>
            <a:pPr algn="l">
              <a:spcAft>
                <a:spcPts val="1000"/>
              </a:spcAft>
            </a:pPr>
            <a:r>
              <a:rPr sz="1700" b="0">
                <a:solidFill>
                  <a:srgbClr val="222222"/>
                </a:solidFill>
                <a:latin typeface="맑은 고딕"/>
                <a:ea typeface="맑은 고딕"/>
              </a:rPr>
              <a:t>•  3단계 어드바이저: 곡선이 평평하면 SGA 증설 요구를 근거로 기각</a:t>
            </a:r>
          </a:p>
          <a:p>
            <a:pPr algn="l">
              <a:spcAft>
                <a:spcPts val="1000"/>
              </a:spcAft>
            </a:pPr>
            <a:r>
              <a:rPr sz="1700" b="0">
                <a:solidFill>
                  <a:srgbClr val="222222"/>
                </a:solidFill>
                <a:latin typeface="맑은 고딕"/>
                <a:ea typeface="맑은 고딕"/>
              </a:rPr>
              <a:t>•  4단계 진짜 원인: 대량 정렬이면 PGA(ch33), 리터럴이면 공유 풀(29.7)</a:t>
            </a:r>
          </a:p>
          <a:p>
            <a:pPr algn="l">
              <a:spcAft>
                <a:spcPts val="1000"/>
              </a:spcAft>
            </a:pPr>
            <a:r>
              <a:rPr sz="1700" b="0">
                <a:solidFill>
                  <a:srgbClr val="222222"/>
                </a:solidFill>
                <a:latin typeface="맑은 고딕"/>
                <a:ea typeface="맑은 고딕"/>
              </a:rPr>
              <a:t>•  판정: '늘리자'는 감이 아니라 판별→이력→어드바이저→진단으로 답한다</a:t>
            </a:r>
          </a:p>
        </p:txBody>
      </p:sp>
    </p:spTree>
    <p:extLst>
      <p:ext uri="{BB962C8B-B14F-4D97-AF65-F5344CB8AC3E}">
        <p14:creationId xmlns:p14="http://schemas.microsoft.com/office/powerpoint/2010/main" val="1223366500"/>
      </p:ext>
    </p:extLst>
  </p:cSld>
  <p:clrMapOvr>
    <a:masterClrMapping/>
  </p:clrMapOvr>
</p:sld>
</file>

<file path=ppt/slides/slide1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nchor="t">
            <a:spAutoFit/>
          </a:bodyPr>
          <a:lstStyle/>
          <a:p>
            <a:pPr algn="l">
              <a:spcAft>
                <a:spcPts val="600"/>
              </a:spcAft>
            </a:pPr>
            <a:r>
              <a:rPr sz="4000" b="1">
                <a:solidFill>
                  <a:srgbClr val="FFFFFF"/>
                </a:solidFill>
                <a:latin typeface="맑은 고딕"/>
                <a:ea typeface="맑은 고딕"/>
              </a:rPr>
              <a:t>29.6</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spcAft>
                <a:spcPts val="600"/>
              </a:spcAft>
            </a:pPr>
            <a:r>
              <a:rPr sz="2800" b="1">
                <a:solidFill>
                  <a:srgbClr val="FFFFFF"/>
                </a:solidFill>
                <a:latin typeface="맑은 고딕"/>
                <a:ea typeface="맑은 고딕"/>
              </a:rPr>
              <a:t>메모리 어드바이저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ea typeface="맑은 고딕"/>
              </a:rPr>
              <a:t>•  감이 아니라 곡선으로 결정</a:t>
            </a:r>
          </a:p>
          <a:p>
            <a:pPr algn="l">
              <a:spcAft>
                <a:spcPts val="600"/>
              </a:spcAft>
            </a:pPr>
            <a:r>
              <a:rPr sz="1600" b="0">
                <a:solidFill>
                  <a:srgbClr val="FFFFFF"/>
                </a:solidFill>
                <a:latin typeface="맑은 고딕"/>
                <a:ea typeface="맑은 고딕"/>
              </a:rPr>
              <a:t>•  무릎(knee)과 절벽(cliff)</a:t>
            </a:r>
          </a:p>
          <a:p>
            <a:pPr algn="l">
              <a:spcAft>
                <a:spcPts val="600"/>
              </a:spcAft>
            </a:pPr>
            <a:r>
              <a:rPr sz="1600" b="0">
                <a:solidFill>
                  <a:srgbClr val="FFFFFF"/>
                </a:solidFill>
                <a:latin typeface="맑은 고딕"/>
                <a:ea typeface="맑은 고딕"/>
              </a:rPr>
              <a:t>•  라이선스 무관 기본 기능</a:t>
            </a:r>
          </a:p>
        </p:txBody>
      </p:sp>
    </p:spTree>
    <p:extLst>
      <p:ext uri="{BB962C8B-B14F-4D97-AF65-F5344CB8AC3E}">
        <p14:creationId xmlns:p14="http://schemas.microsoft.com/office/powerpoint/2010/main" val="3134428936"/>
      </p:ext>
    </p:extLst>
  </p:cSld>
  <p:clrMapOvr>
    <a:masterClrMapping/>
  </p:clrMapOvr>
</p:sld>
</file>

<file path=ppt/slides/slide1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실측 — SGA 어드바이저 (V$SGA_TARGET_ADVICE)</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크기 배수 대 예상 DB Time</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9728" rIns="137160" bIns="109728" rtlCol="0" anchor="ctr"/>
          <a:lstStyle/>
          <a:p>
            <a:pPr>
              <a:lnSpc>
                <a:spcPct val="100000"/>
              </a:lnSpc>
              <a:spcAft>
                <a:spcPts val="0"/>
              </a:spcAft>
            </a:pPr>
            <a:r>
              <a:rPr sz="1250" b="0" dirty="0">
                <a:solidFill>
                  <a:srgbClr val="F2F2F2"/>
                </a:solidFill>
                <a:latin typeface="Consolas"/>
                <a:ea typeface="Consolas"/>
              </a:rPr>
              <a:t>SGA_MB  FACTOR  ESTD_DB_TIME</a:t>
            </a:r>
          </a:p>
          <a:p>
            <a:pPr>
              <a:lnSpc>
                <a:spcPct val="100000"/>
              </a:lnSpc>
              <a:spcAft>
                <a:spcPts val="0"/>
              </a:spcAft>
            </a:pPr>
            <a:r>
              <a:rPr sz="1250" b="0" dirty="0">
                <a:solidFill>
                  <a:srgbClr val="F2F2F2"/>
                </a:solidFill>
                <a:latin typeface="Consolas"/>
                <a:ea typeface="Consolas"/>
              </a:rPr>
              <a:t>------  ------  ------------</a:t>
            </a:r>
          </a:p>
          <a:p>
            <a:pPr>
              <a:lnSpc>
                <a:spcPct val="100000"/>
              </a:lnSpc>
              <a:spcAft>
                <a:spcPts val="0"/>
              </a:spcAft>
            </a:pPr>
            <a:r>
              <a:rPr sz="1250" b="0" dirty="0">
                <a:solidFill>
                  <a:srgbClr val="F2F2F2"/>
                </a:solidFill>
                <a:latin typeface="Consolas"/>
                <a:ea typeface="Consolas"/>
              </a:rPr>
              <a:t>  752    0.5        2213</a:t>
            </a:r>
          </a:p>
          <a:p>
            <a:pPr>
              <a:lnSpc>
                <a:spcPct val="100000"/>
              </a:lnSpc>
              <a:spcAft>
                <a:spcPts val="0"/>
              </a:spcAft>
            </a:pPr>
            <a:r>
              <a:rPr sz="1250" b="0" dirty="0">
                <a:solidFill>
                  <a:srgbClr val="F2F2F2"/>
                </a:solidFill>
                <a:latin typeface="Consolas"/>
                <a:ea typeface="Consolas"/>
              </a:rPr>
              <a:t> 1128    0.75       1636</a:t>
            </a:r>
          </a:p>
          <a:p>
            <a:pPr>
              <a:lnSpc>
                <a:spcPct val="100000"/>
              </a:lnSpc>
              <a:spcAft>
                <a:spcPts val="0"/>
              </a:spcAft>
            </a:pPr>
            <a:r>
              <a:rPr sz="1250" b="0" dirty="0">
                <a:solidFill>
                  <a:srgbClr val="F2F2F2"/>
                </a:solidFill>
                <a:latin typeface="Consolas"/>
                <a:ea typeface="Consolas"/>
              </a:rPr>
              <a:t> 1504    1.0        1635    &lt;-- </a:t>
            </a:r>
            <a:r>
              <a:rPr sz="1250" b="0" dirty="0" err="1">
                <a:solidFill>
                  <a:srgbClr val="F2F2F2"/>
                </a:solidFill>
                <a:latin typeface="Consolas"/>
                <a:ea typeface="Consolas"/>
              </a:rPr>
              <a:t>현재</a:t>
            </a:r>
            <a:endParaRPr sz="1250" b="0" dirty="0">
              <a:solidFill>
                <a:srgbClr val="F2F2F2"/>
              </a:solidFill>
              <a:latin typeface="Consolas"/>
              <a:ea typeface="Consolas"/>
            </a:endParaRPr>
          </a:p>
          <a:p>
            <a:pPr>
              <a:lnSpc>
                <a:spcPct val="100000"/>
              </a:lnSpc>
              <a:spcAft>
                <a:spcPts val="0"/>
              </a:spcAft>
            </a:pPr>
            <a:r>
              <a:rPr sz="1250" b="0" dirty="0">
                <a:solidFill>
                  <a:srgbClr val="F2F2F2"/>
                </a:solidFill>
                <a:latin typeface="Consolas"/>
                <a:ea typeface="Consolas"/>
              </a:rPr>
              <a:t> 1880    1.25       1635</a:t>
            </a:r>
          </a:p>
          <a:p>
            <a:pPr>
              <a:lnSpc>
                <a:spcPct val="100000"/>
              </a:lnSpc>
              <a:spcAft>
                <a:spcPts val="0"/>
              </a:spcAft>
            </a:pPr>
            <a:r>
              <a:rPr sz="1250" b="0" dirty="0">
                <a:solidFill>
                  <a:srgbClr val="F2F2F2"/>
                </a:solidFill>
                <a:latin typeface="Consolas"/>
                <a:ea typeface="Consolas"/>
              </a:rPr>
              <a:t> 2256    1.5        1635</a:t>
            </a:r>
          </a:p>
          <a:p>
            <a:pPr>
              <a:lnSpc>
                <a:spcPct val="100000"/>
              </a:lnSpc>
              <a:spcAft>
                <a:spcPts val="0"/>
              </a:spcAft>
            </a:pPr>
            <a:r>
              <a:rPr sz="1250" b="0" dirty="0">
                <a:solidFill>
                  <a:srgbClr val="F2F2F2"/>
                </a:solidFill>
                <a:latin typeface="Consolas"/>
                <a:ea typeface="Consolas"/>
              </a:rPr>
              <a:t> 3008    2.0        1635</a:t>
            </a:r>
          </a:p>
          <a:p>
            <a:pPr>
              <a:lnSpc>
                <a:spcPct val="100000"/>
              </a:lnSpc>
              <a:spcAft>
                <a:spcPts val="0"/>
              </a:spcAft>
            </a:pPr>
            <a:r>
              <a:rPr sz="1250" b="0" dirty="0">
                <a:solidFill>
                  <a:srgbClr val="F2F2F2"/>
                </a:solidFill>
                <a:latin typeface="Consolas"/>
                <a:ea typeface="Consolas"/>
              </a:rPr>
              <a:t>-- </a:t>
            </a:r>
            <a:r>
              <a:rPr sz="1250" b="0" dirty="0" err="1">
                <a:solidFill>
                  <a:srgbClr val="F2F2F2"/>
                </a:solidFill>
                <a:latin typeface="Consolas"/>
                <a:ea typeface="Consolas"/>
              </a:rPr>
              <a:t>늘려도</a:t>
            </a:r>
            <a:r>
              <a:rPr sz="1250" b="0" dirty="0">
                <a:solidFill>
                  <a:srgbClr val="F2F2F2"/>
                </a:solidFill>
                <a:latin typeface="Consolas"/>
                <a:ea typeface="Consolas"/>
              </a:rPr>
              <a:t> </a:t>
            </a:r>
            <a:r>
              <a:rPr sz="1250" b="0" dirty="0" err="1">
                <a:solidFill>
                  <a:srgbClr val="F2F2F2"/>
                </a:solidFill>
                <a:latin typeface="Consolas"/>
                <a:ea typeface="Consolas"/>
              </a:rPr>
              <a:t>평평</a:t>
            </a:r>
            <a:r>
              <a:rPr sz="1250" b="0" dirty="0">
                <a:solidFill>
                  <a:srgbClr val="F2F2F2"/>
                </a:solidFill>
                <a:latin typeface="Consolas"/>
                <a:ea typeface="Consolas"/>
              </a:rPr>
              <a:t>(1635), 1128까지 </a:t>
            </a:r>
            <a:r>
              <a:rPr sz="1250" b="0" dirty="0" err="1">
                <a:solidFill>
                  <a:srgbClr val="F2F2F2"/>
                </a:solidFill>
                <a:latin typeface="Consolas"/>
                <a:ea typeface="Consolas"/>
              </a:rPr>
              <a:t>줄여도</a:t>
            </a:r>
            <a:r>
              <a:rPr sz="1250" b="0" dirty="0">
                <a:solidFill>
                  <a:srgbClr val="F2F2F2"/>
                </a:solidFill>
                <a:latin typeface="Consolas"/>
                <a:ea typeface="Consolas"/>
              </a:rPr>
              <a:t> </a:t>
            </a:r>
            <a:r>
              <a:rPr sz="1250" b="0" dirty="0" err="1">
                <a:solidFill>
                  <a:srgbClr val="F2F2F2"/>
                </a:solidFill>
                <a:latin typeface="Consolas"/>
                <a:ea typeface="Consolas"/>
              </a:rPr>
              <a:t>거의</a:t>
            </a:r>
            <a:r>
              <a:rPr sz="1250" b="0" dirty="0">
                <a:solidFill>
                  <a:srgbClr val="F2F2F2"/>
                </a:solidFill>
                <a:latin typeface="Consolas"/>
                <a:ea typeface="Consolas"/>
              </a:rPr>
              <a:t> </a:t>
            </a:r>
            <a:r>
              <a:rPr sz="1250" b="0" dirty="0" err="1">
                <a:solidFill>
                  <a:srgbClr val="F2F2F2"/>
                </a:solidFill>
                <a:latin typeface="Consolas"/>
                <a:ea typeface="Consolas"/>
              </a:rPr>
              <a:t>동일</a:t>
            </a:r>
            <a:r>
              <a:rPr sz="1250" b="0" dirty="0">
                <a:solidFill>
                  <a:srgbClr val="F2F2F2"/>
                </a:solidFill>
                <a:latin typeface="Consolas"/>
                <a:ea typeface="Consolas"/>
              </a:rPr>
              <a:t>(1636)</a:t>
            </a:r>
          </a:p>
          <a:p>
            <a:pPr>
              <a:lnSpc>
                <a:spcPct val="100000"/>
              </a:lnSpc>
              <a:spcAft>
                <a:spcPts val="0"/>
              </a:spcAft>
            </a:pPr>
            <a:r>
              <a:rPr sz="1250" b="0" dirty="0">
                <a:solidFill>
                  <a:srgbClr val="F2F2F2"/>
                </a:solidFill>
                <a:latin typeface="Consolas"/>
                <a:ea typeface="Consolas"/>
              </a:rPr>
              <a:t>-- 752로 </a:t>
            </a:r>
            <a:r>
              <a:rPr sz="1250" b="0" dirty="0" err="1">
                <a:solidFill>
                  <a:srgbClr val="F2F2F2"/>
                </a:solidFill>
                <a:latin typeface="Consolas"/>
                <a:ea typeface="Consolas"/>
              </a:rPr>
              <a:t>반토막</a:t>
            </a:r>
            <a:r>
              <a:rPr sz="1250" b="0" dirty="0">
                <a:solidFill>
                  <a:srgbClr val="F2F2F2"/>
                </a:solidFill>
                <a:latin typeface="Consolas"/>
                <a:ea typeface="Consolas"/>
              </a:rPr>
              <a:t> </a:t>
            </a:r>
            <a:r>
              <a:rPr sz="1250" b="0" dirty="0" err="1">
                <a:solidFill>
                  <a:srgbClr val="F2F2F2"/>
                </a:solidFill>
                <a:latin typeface="Consolas"/>
                <a:ea typeface="Consolas"/>
              </a:rPr>
              <a:t>내면</a:t>
            </a:r>
            <a:r>
              <a:rPr sz="1250" b="0" dirty="0">
                <a:solidFill>
                  <a:srgbClr val="F2F2F2"/>
                </a:solidFill>
                <a:latin typeface="Consolas"/>
                <a:ea typeface="Consolas"/>
              </a:rPr>
              <a:t> 2213으로 </a:t>
            </a:r>
            <a:r>
              <a:rPr sz="1250" b="0" dirty="0" err="1">
                <a:solidFill>
                  <a:srgbClr val="F2F2F2"/>
                </a:solidFill>
                <a:latin typeface="Consolas"/>
                <a:ea typeface="Consolas"/>
              </a:rPr>
              <a:t>급증</a:t>
            </a:r>
            <a:r>
              <a:rPr sz="1250" b="0" dirty="0">
                <a:solidFill>
                  <a:srgbClr val="F2F2F2"/>
                </a:solidFill>
                <a:latin typeface="Consolas"/>
                <a:ea typeface="Consolas"/>
              </a:rPr>
              <a:t> (</a:t>
            </a:r>
            <a:r>
              <a:rPr sz="1250" b="0" dirty="0" err="1">
                <a:solidFill>
                  <a:srgbClr val="F2F2F2"/>
                </a:solidFill>
                <a:latin typeface="Consolas"/>
                <a:ea typeface="Consolas"/>
              </a:rPr>
              <a:t>절벽</a:t>
            </a:r>
            <a:r>
              <a:rPr sz="1250" b="0" dirty="0">
                <a:solidFill>
                  <a:srgbClr val="F2F2F2"/>
                </a:solidFill>
                <a:latin typeface="Consolas"/>
                <a:ea typeface="Consolas"/>
              </a:rPr>
              <a:t>)</a:t>
            </a:r>
          </a:p>
        </p:txBody>
      </p:sp>
    </p:spTree>
    <p:extLst>
      <p:ext uri="{BB962C8B-B14F-4D97-AF65-F5344CB8AC3E}">
        <p14:creationId xmlns:p14="http://schemas.microsoft.com/office/powerpoint/2010/main" val="1232294555"/>
      </p:ext>
    </p:extLst>
  </p:cSld>
  <p:clrMapOvr>
    <a:masterClrMapping/>
  </p:clrMapOvr>
</p:sld>
</file>

<file path=ppt/slides/slide1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곡선 읽기 — 무릎과 절벽</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두 원칙</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① '더 줘도 평평'하면 늘리지 않는다 → 그 메모리는 PGA로</a:t>
            </a:r>
          </a:p>
          <a:p>
            <a:pPr algn="l">
              <a:spcAft>
                <a:spcPts val="1000"/>
              </a:spcAft>
            </a:pPr>
            <a:r>
              <a:rPr sz="1700" b="0">
                <a:solidFill>
                  <a:srgbClr val="222222"/>
                </a:solidFill>
                <a:latin typeface="맑은 고딕"/>
                <a:ea typeface="맑은 고딕"/>
              </a:rPr>
              <a:t>•  ② '줄이면 급증'하는 절벽 바로 위 + 여유 한 칸이 최적</a:t>
            </a:r>
          </a:p>
          <a:p>
            <a:pPr algn="l">
              <a:spcAft>
                <a:spcPts val="1000"/>
              </a:spcAft>
            </a:pPr>
            <a:r>
              <a:rPr sz="1700" b="0">
                <a:solidFill>
                  <a:srgbClr val="222222"/>
                </a:solidFill>
                <a:latin typeface="맑은 고딕"/>
                <a:ea typeface="맑은 고딕"/>
              </a:rPr>
              <a:t>•  어드바이저는 관측 워크로드 기반 추정 — 대표 구간에서 관측</a:t>
            </a:r>
          </a:p>
          <a:p>
            <a:pPr algn="l">
              <a:spcAft>
                <a:spcPts val="1000"/>
              </a:spcAft>
            </a:pPr>
            <a:r>
              <a:rPr sz="1700" b="0">
                <a:solidFill>
                  <a:srgbClr val="222222"/>
                </a:solidFill>
                <a:latin typeface="맑은 고딕"/>
                <a:ea typeface="맑은 고딕"/>
              </a:rPr>
              <a:t>•  실측: 1128MB까지 줄여도 DB Time 거의 그대로(과대 배정)</a:t>
            </a:r>
          </a:p>
        </p:txBody>
      </p:sp>
    </p:spTree>
    <p:extLst>
      <p:ext uri="{BB962C8B-B14F-4D97-AF65-F5344CB8AC3E}">
        <p14:creationId xmlns:p14="http://schemas.microsoft.com/office/powerpoint/2010/main" val="130750573"/>
      </p:ext>
    </p:extLst>
  </p:cSld>
  <p:clrMapOvr>
    <a:masterClrMapping/>
  </p:clrMapOvr>
</p:sld>
</file>

<file path=ppt/slides/slide1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어드바이저의 함정</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평평하다고 튜닝할 게 없는 건 아니다</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값은 STATISTICS_LEVEL=TYPICAL 이상 + 충분한 워크로드에서 수집</a:t>
            </a:r>
          </a:p>
          <a:p>
            <a:pPr algn="l">
              <a:spcAft>
                <a:spcPts val="1000"/>
              </a:spcAft>
            </a:pPr>
            <a:r>
              <a:rPr sz="1700" b="0">
                <a:solidFill>
                  <a:srgbClr val="222222"/>
                </a:solidFill>
                <a:latin typeface="맑은 고딕"/>
                <a:ea typeface="맑은 고딕"/>
              </a:rPr>
              <a:t>•  방금 기동한 인스턴스의 곡선은 표본이 빈약</a:t>
            </a:r>
          </a:p>
          <a:p>
            <a:pPr algn="l">
              <a:spcAft>
                <a:spcPts val="1000"/>
              </a:spcAft>
            </a:pPr>
            <a:r>
              <a:rPr sz="1700" b="0">
                <a:solidFill>
                  <a:srgbClr val="222222"/>
                </a:solidFill>
                <a:latin typeface="맑은 고딕"/>
                <a:ea typeface="맑은 고딕"/>
              </a:rPr>
              <a:t>•  '크기로는' 개선 안 됨 ≠ '튜닝할 게 없음'</a:t>
            </a:r>
          </a:p>
          <a:p>
            <a:pPr algn="l">
              <a:spcAft>
                <a:spcPts val="1000"/>
              </a:spcAft>
            </a:pPr>
            <a:r>
              <a:rPr sz="1700" b="0">
                <a:solidFill>
                  <a:srgbClr val="222222"/>
                </a:solidFill>
                <a:latin typeface="맑은 고딕"/>
                <a:ea typeface="맑은 고딕"/>
              </a:rPr>
              <a:t>•  진짜 병목: 비효율 SQL·하드 파싱·PGA·I/O → ch26~ch30 진단</a:t>
            </a:r>
          </a:p>
        </p:txBody>
      </p:sp>
    </p:spTree>
    <p:extLst>
      <p:ext uri="{BB962C8B-B14F-4D97-AF65-F5344CB8AC3E}">
        <p14:creationId xmlns:p14="http://schemas.microsoft.com/office/powerpoint/2010/main" val="221165442"/>
      </p:ext>
    </p:extLst>
  </p:cSld>
  <p:clrMapOvr>
    <a:masterClrMapping/>
  </p:clrMapOvr>
</p:sld>
</file>

<file path=ppt/slides/slide1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nchor="t">
            <a:spAutoFit/>
          </a:bodyPr>
          <a:lstStyle/>
          <a:p>
            <a:pPr algn="l">
              <a:spcAft>
                <a:spcPts val="600"/>
              </a:spcAft>
            </a:pPr>
            <a:r>
              <a:rPr sz="4000" b="1">
                <a:solidFill>
                  <a:srgbClr val="FFFFFF"/>
                </a:solidFill>
                <a:latin typeface="맑은 고딕"/>
                <a:ea typeface="맑은 고딕"/>
              </a:rPr>
              <a:t>29.7</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spcAft>
                <a:spcPts val="600"/>
              </a:spcAft>
            </a:pPr>
            <a:r>
              <a:rPr sz="2800" b="1">
                <a:solidFill>
                  <a:srgbClr val="FFFFFF"/>
                </a:solidFill>
                <a:latin typeface="맑은 고딕"/>
                <a:ea typeface="맑은 고딕"/>
              </a:rPr>
              <a:t>ORA-04031 — 메모리 부족의 대표 오류</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ea typeface="맑은 고딕"/>
              </a:rPr>
              <a:t>•  절대 부족 vs 단편화</a:t>
            </a:r>
          </a:p>
          <a:p>
            <a:pPr algn="l">
              <a:spcAft>
                <a:spcPts val="600"/>
              </a:spcAft>
            </a:pPr>
            <a:r>
              <a:rPr sz="1600" b="0">
                <a:solidFill>
                  <a:srgbClr val="FFFFFF"/>
                </a:solidFill>
                <a:latin typeface="맑은 고딕"/>
                <a:ea typeface="맑은 고딕"/>
              </a:rPr>
              <a:t>•  증상과 원인의 구분</a:t>
            </a:r>
          </a:p>
          <a:p>
            <a:pPr algn="l">
              <a:spcAft>
                <a:spcPts val="600"/>
              </a:spcAft>
            </a:pPr>
            <a:r>
              <a:rPr sz="1600" b="0">
                <a:solidFill>
                  <a:srgbClr val="FFFFFF"/>
                </a:solidFill>
                <a:latin typeface="맑은 고딕"/>
                <a:ea typeface="맑은 고딕"/>
              </a:rPr>
              <a:t>•  FLUSH는 임시, 근본은 구성·바인드</a:t>
            </a:r>
          </a:p>
        </p:txBody>
      </p:sp>
    </p:spTree>
    <p:extLst>
      <p:ext uri="{BB962C8B-B14F-4D97-AF65-F5344CB8AC3E}">
        <p14:creationId xmlns:p14="http://schemas.microsoft.com/office/powerpoint/2010/main" val="48620431"/>
      </p:ext>
    </p:extLst>
  </p:cSld>
  <p:clrMapOvr>
    <a:masterClrMapping/>
  </p:clrMapOvr>
</p:sld>
</file>

<file path=ppt/slides/slide1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ORA-04031이란</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공유 메모리 연속 청크 할당 실패</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메시지: unable to allocate N bytes of shared memory</a:t>
            </a:r>
          </a:p>
          <a:p>
            <a:pPr algn="l">
              <a:spcAft>
                <a:spcPts val="1000"/>
              </a:spcAft>
            </a:pPr>
            <a:r>
              <a:rPr sz="1700" b="0">
                <a:solidFill>
                  <a:srgbClr val="222222"/>
                </a:solidFill>
                <a:latin typeface="맑은 고딕"/>
                <a:ea typeface="맑은 고딕"/>
              </a:rPr>
              <a:t>•  원인 ① 절대 부족: 풀이 워크로드에 비해 너무 작다</a:t>
            </a:r>
          </a:p>
          <a:p>
            <a:pPr algn="l">
              <a:spcAft>
                <a:spcPts val="1000"/>
              </a:spcAft>
            </a:pPr>
            <a:r>
              <a:rPr sz="1700" b="0">
                <a:solidFill>
                  <a:srgbClr val="222222"/>
                </a:solidFill>
                <a:latin typeface="맑은 고딕"/>
                <a:ea typeface="맑은 고딕"/>
              </a:rPr>
              <a:t>•  원인 ② 단편화: 총량은 있으나 작은 조각으로 흩어짐</a:t>
            </a:r>
          </a:p>
          <a:p>
            <a:pPr algn="l">
              <a:spcAft>
                <a:spcPts val="1000"/>
              </a:spcAft>
            </a:pPr>
            <a:r>
              <a:rPr sz="1700" b="0">
                <a:solidFill>
                  <a:srgbClr val="222222"/>
                </a:solidFill>
                <a:latin typeface="맑은 고딕"/>
                <a:ea typeface="맑은 고딕"/>
              </a:rPr>
              <a:t>•  리터럴 SQL 폭증이 라이브러리 캐시를 잘게 채워 단편화 심화</a:t>
            </a:r>
          </a:p>
          <a:p>
            <a:pPr algn="l">
              <a:spcAft>
                <a:spcPts val="1000"/>
              </a:spcAft>
            </a:pPr>
            <a:r>
              <a:rPr sz="1700" b="0">
                <a:solidFill>
                  <a:srgbClr val="222222"/>
                </a:solidFill>
                <a:latin typeface="맑은 고딕"/>
                <a:ea typeface="맑은 고딕"/>
              </a:rPr>
              <a:t>•  예측 어려움 — 며칠 멀쩡하다 특정 크기 할당에서만 실패</a:t>
            </a:r>
          </a:p>
        </p:txBody>
      </p:sp>
    </p:spTree>
    <p:extLst>
      <p:ext uri="{BB962C8B-B14F-4D97-AF65-F5344CB8AC3E}">
        <p14:creationId xmlns:p14="http://schemas.microsoft.com/office/powerpoint/2010/main" val="795807092"/>
      </p:ext>
    </p:extLst>
  </p:cSld>
  <p:clrMapOvr>
    <a:masterClrMapping/>
  </p:clrMapOvr>
</p:sld>
</file>

<file path=ppt/slides/slide1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원인 감별과 해소</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키울 것인가, 애플리케이션을 고칠 것인가</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감별: 메시지의 풀 이름 + 발생 시점(기동 직후=부족, 며칠 뒤=단편화)</a:t>
            </a:r>
          </a:p>
          <a:p>
            <a:pPr algn="l">
              <a:spcAft>
                <a:spcPts val="1000"/>
              </a:spcAft>
            </a:pPr>
            <a:r>
              <a:rPr sz="1700" b="0">
                <a:solidFill>
                  <a:srgbClr val="222222"/>
                </a:solidFill>
                <a:latin typeface="맑은 고딕"/>
                <a:ea typeface="맑은 고딕"/>
              </a:rPr>
              <a:t>•  V$SGASTAT의 free memory가 넉넉한데 실패 → 단편화</a:t>
            </a:r>
          </a:p>
          <a:p>
            <a:pPr algn="l">
              <a:spcAft>
                <a:spcPts val="1000"/>
              </a:spcAft>
            </a:pPr>
            <a:r>
              <a:rPr sz="1700" b="0">
                <a:solidFill>
                  <a:srgbClr val="222222"/>
                </a:solidFill>
                <a:latin typeface="맑은 고딕"/>
                <a:ea typeface="맑은 고딕"/>
              </a:rPr>
              <a:t>•  해소 ① 부족: SGA_TARGET(또는 풀 하한)을 어드바이저 근거로 상향</a:t>
            </a:r>
          </a:p>
          <a:p>
            <a:pPr algn="l">
              <a:spcAft>
                <a:spcPts val="1000"/>
              </a:spcAft>
            </a:pPr>
            <a:r>
              <a:rPr sz="1700" b="0">
                <a:solidFill>
                  <a:srgbClr val="222222"/>
                </a:solidFill>
                <a:latin typeface="맑은 고딕"/>
                <a:ea typeface="맑은 고딕"/>
              </a:rPr>
              <a:t>•  해소 ② 단편화: 바인드 변수·CURSOR_SHARING → 커서 공유 회복</a:t>
            </a:r>
          </a:p>
          <a:p>
            <a:pPr algn="l">
              <a:spcAft>
                <a:spcPts val="1000"/>
              </a:spcAft>
            </a:pPr>
            <a:r>
              <a:rPr sz="1700" b="0">
                <a:solidFill>
                  <a:srgbClr val="222222"/>
                </a:solidFill>
                <a:latin typeface="맑은 고딕"/>
                <a:ea typeface="맑은 고딕"/>
              </a:rPr>
              <a:t>•  FLUSH SHARED_POOL은 임시책(하드 파싱 급증) — 근본 아님</a:t>
            </a:r>
          </a:p>
        </p:txBody>
      </p:sp>
    </p:spTree>
    <p:extLst>
      <p:ext uri="{BB962C8B-B14F-4D97-AF65-F5344CB8AC3E}">
        <p14:creationId xmlns:p14="http://schemas.microsoft.com/office/powerpoint/2010/main" val="3622631378"/>
      </p:ext>
    </p:extLst>
  </p:cSld>
  <p:clrMapOvr>
    <a:masterClrMapping/>
  </p:clrMapOvr>
</p:sld>
</file>

<file path=ppt/slides/slide1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 파라미터 변경·재기동은 개인 환경 전용</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실습 02·03·05 공통 안전 수칙</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SGA_TARGET·MEMORY_TARGET·SHARED_POOL_SIZE 변경과 재기동은 개인 DB만</a:t>
            </a:r>
          </a:p>
          <a:p>
            <a:pPr algn="l">
              <a:spcAft>
                <a:spcPts val="1000"/>
              </a:spcAft>
            </a:pPr>
            <a:r>
              <a:rPr sz="1700" b="0">
                <a:solidFill>
                  <a:srgbClr val="222222"/>
                </a:solidFill>
                <a:latin typeface="맑은 고딕"/>
                <a:ea typeface="맑은 고딕"/>
              </a:rPr>
              <a:t>•  공유 서버에서 잘못 주면 기동 실패(ORA-00838 등)·타 세션 즉시 영향</a:t>
            </a:r>
          </a:p>
          <a:p>
            <a:pPr algn="l">
              <a:spcAft>
                <a:spcPts val="1000"/>
              </a:spcAft>
            </a:pPr>
            <a:r>
              <a:rPr sz="1700" b="0">
                <a:solidFill>
                  <a:srgbClr val="222222"/>
                </a:solidFill>
                <a:latin typeface="맑은 고딕"/>
                <a:ea typeface="맑은 고딕"/>
              </a:rPr>
              <a:t>•  ORA-04031 재현은 격리 환경에서, 재현 후 반드시 원복</a:t>
            </a:r>
          </a:p>
          <a:p>
            <a:pPr algn="l">
              <a:spcAft>
                <a:spcPts val="1000"/>
              </a:spcAft>
            </a:pPr>
            <a:r>
              <a:rPr sz="1700" b="0">
                <a:solidFill>
                  <a:srgbClr val="222222"/>
                </a:solidFill>
                <a:latin typeface="맑은 고딕"/>
                <a:ea typeface="맑은 고딕"/>
              </a:rPr>
              <a:t>•  절대값(1504M 등)은 환경 의존 &lt;환경값&gt; — 외울 것은 절차</a:t>
            </a:r>
          </a:p>
        </p:txBody>
      </p:sp>
    </p:spTree>
    <p:extLst>
      <p:ext uri="{BB962C8B-B14F-4D97-AF65-F5344CB8AC3E}">
        <p14:creationId xmlns:p14="http://schemas.microsoft.com/office/powerpoint/2010/main" val="1800915349"/>
      </p:ext>
    </p:extLst>
  </p:cSld>
  <p:clrMapOvr>
    <a:masterClrMapping/>
  </p:clrMapOvr>
</p:sld>
</file>

<file path=ppt/slides/slide1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nchor="t">
            <a:spAutoFit/>
          </a:bodyPr>
          <a:lstStyle/>
          <a:p>
            <a:pPr algn="l">
              <a:spcAft>
                <a:spcPts val="600"/>
              </a:spcAft>
            </a:pPr>
            <a:r>
              <a:rPr sz="4000" b="1">
                <a:solidFill>
                  <a:srgbClr val="FFFFFF"/>
                </a:solidFill>
                <a:latin typeface="맑은 고딕"/>
                <a:ea typeface="맑은 고딕"/>
              </a:rPr>
              <a:t>29.8</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spcAft>
                <a:spcPts val="600"/>
              </a:spcAft>
            </a:pPr>
            <a:r>
              <a:rPr sz="2800" b="1">
                <a:solidFill>
                  <a:srgbClr val="FFFFFF"/>
                </a:solidFill>
                <a:latin typeface="맑은 고딕"/>
                <a:ea typeface="맑은 고딕"/>
              </a:rPr>
              <a:t>In-Memory Column Store</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ea typeface="맑은 고딕"/>
              </a:rPr>
              <a:t>•  존재와 적용 조건만</a:t>
            </a:r>
          </a:p>
          <a:p>
            <a:pPr algn="l">
              <a:spcAft>
                <a:spcPts val="600"/>
              </a:spcAft>
            </a:pPr>
            <a:r>
              <a:rPr sz="1600" b="0">
                <a:solidFill>
                  <a:srgbClr val="FFFFFF"/>
                </a:solidFill>
                <a:latin typeface="맑은 고딕"/>
                <a:ea typeface="맑은 고딕"/>
              </a:rPr>
              <a:t>•  별도 유상 라이선스 옵션</a:t>
            </a:r>
          </a:p>
          <a:p>
            <a:pPr algn="l">
              <a:spcAft>
                <a:spcPts val="600"/>
              </a:spcAft>
            </a:pPr>
            <a:r>
              <a:rPr sz="1600" b="0">
                <a:solidFill>
                  <a:srgbClr val="FFFFFF"/>
                </a:solidFill>
                <a:latin typeface="맑은 고딕"/>
                <a:ea typeface="맑은 고딕"/>
              </a:rPr>
              <a:t>•  메모리 파라미터·어드바이저는 라이선스 무관</a:t>
            </a:r>
          </a:p>
        </p:txBody>
      </p:sp>
    </p:spTree>
    <p:extLst>
      <p:ext uri="{BB962C8B-B14F-4D97-AF65-F5344CB8AC3E}">
        <p14:creationId xmlns:p14="http://schemas.microsoft.com/office/powerpoint/2010/main" val="1345882229"/>
      </p:ext>
    </p:extLst>
  </p:cSld>
  <p:clrMapOvr>
    <a:masterClrMapping/>
  </p:clrMapOvr>
</p:sld>
</file>

<file path=ppt/slides/slide1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In-Memory와 라이선스 경계</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이 장은 존재·조건만, 실습 제외</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IM column store: 테이블을 컬럼 형식으로 SGA에 저장 → 스캔·집계 가속</a:t>
            </a:r>
          </a:p>
          <a:p>
            <a:pPr algn="l">
              <a:spcAft>
                <a:spcPts val="1000"/>
              </a:spcAft>
            </a:pPr>
            <a:r>
              <a:rPr sz="1700" b="0">
                <a:solidFill>
                  <a:srgbClr val="222222"/>
                </a:solidFill>
                <a:latin typeface="맑은 고딕"/>
                <a:ea typeface="맑은 고딕"/>
              </a:rPr>
              <a:t>•  버퍼 캐시를 대체하지 않고 보완(행·컬럼 병존), INMEMORY_SIZE로 설정</a:t>
            </a:r>
          </a:p>
          <a:p>
            <a:pPr algn="l">
              <a:spcAft>
                <a:spcPts val="1000"/>
              </a:spcAft>
            </a:pPr>
            <a:r>
              <a:rPr sz="1700" b="0">
                <a:solidFill>
                  <a:srgbClr val="222222"/>
                </a:solidFill>
                <a:latin typeface="맑은 고딕"/>
                <a:ea typeface="맑은 고딕"/>
              </a:rPr>
              <a:t>•  적합: 분석성 워크로드 / OLTP엔 이득 작고 유지 비용</a:t>
            </a:r>
          </a:p>
          <a:p>
            <a:pPr algn="l">
              <a:spcAft>
                <a:spcPts val="1000"/>
              </a:spcAft>
            </a:pPr>
            <a:r>
              <a:rPr sz="1700" b="0">
                <a:solidFill>
                  <a:srgbClr val="222222"/>
                </a:solidFill>
                <a:latin typeface="맑은 고딕"/>
                <a:ea typeface="맑은 고딕"/>
              </a:rPr>
              <a:t>•  🔒 별도 유상 옵션(Oracle Database In-Memory)</a:t>
            </a:r>
          </a:p>
          <a:p>
            <a:pPr algn="l">
              <a:spcAft>
                <a:spcPts val="1000"/>
              </a:spcAft>
            </a:pPr>
            <a:r>
              <a:rPr sz="1700" b="0">
                <a:solidFill>
                  <a:srgbClr val="222222"/>
                </a:solidFill>
                <a:latin typeface="맑은 고딕"/>
                <a:ea typeface="맑은 고딕"/>
              </a:rPr>
              <a:t>•  메모리 파라미터·어드바이저·V$SGA* 진단 뷰는 라이선스 무관</a:t>
            </a:r>
          </a:p>
        </p:txBody>
      </p:sp>
    </p:spTree>
    <p:extLst>
      <p:ext uri="{BB962C8B-B14F-4D97-AF65-F5344CB8AC3E}">
        <p14:creationId xmlns:p14="http://schemas.microsoft.com/office/powerpoint/2010/main" val="326218914"/>
      </p:ext>
    </p:extLst>
  </p:cSld>
  <p:clrMapOvr>
    <a:masterClrMapping/>
  </p:clrMapOvr>
</p:sld>
</file>

<file path=ppt/slides/slide1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퀴즈 (Quiz)</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900"/>
              </a:spcAft>
            </a:pPr>
            <a:r>
              <a:rPr sz="1600" b="0">
                <a:solidFill>
                  <a:srgbClr val="222222"/>
                </a:solidFill>
                <a:latin typeface="맑은 고딕"/>
                <a:ea typeface="맑은 고딕"/>
              </a:rPr>
              <a:t>•  Q1. MEMORY_TARGET·SGA_TARGET 값으로 AMM·ASMM·수동을 판별하는 규칙과 실측 판정은?</a:t>
            </a:r>
          </a:p>
          <a:p>
            <a:pPr algn="l">
              <a:spcAft>
                <a:spcPts val="900"/>
              </a:spcAft>
            </a:pPr>
            <a:r>
              <a:rPr sz="1600" b="0">
                <a:solidFill>
                  <a:srgbClr val="222222"/>
                </a:solidFill>
                <a:latin typeface="맑은 고딕"/>
                <a:ea typeface="맑은 고딕"/>
              </a:rPr>
              <a:t>•  Q2. ASMM에서 DB_CACHE_SIZE=0이 '메모리가 없다'는 뜻이 아닌 이유는?</a:t>
            </a:r>
          </a:p>
          <a:p>
            <a:pPr algn="l">
              <a:spcAft>
                <a:spcPts val="900"/>
              </a:spcAft>
            </a:pPr>
            <a:r>
              <a:rPr sz="1600" b="0">
                <a:solidFill>
                  <a:srgbClr val="222222"/>
                </a:solidFill>
                <a:latin typeface="맑은 고딕"/>
                <a:ea typeface="맑은 고딕"/>
              </a:rPr>
              <a:t>•  Q3. 목표(target)와 상한(max), 동적/정적의 관계를 SGA_TARGET·SGA_MAX_SIZE로 설명하라.</a:t>
            </a:r>
          </a:p>
          <a:p>
            <a:pPr algn="l">
              <a:spcAft>
                <a:spcPts val="900"/>
              </a:spcAft>
            </a:pPr>
            <a:r>
              <a:rPr sz="1600" b="0">
                <a:solidFill>
                  <a:srgbClr val="222222"/>
                </a:solidFill>
                <a:latin typeface="맑은 고딕"/>
                <a:ea typeface="맑은 고딕"/>
              </a:rPr>
              <a:t>•  Q4. V$SGA_RESIZE_OPS에서 large pool GROW와 buffer cache SHRINK가 짝을 이루는 이유는?</a:t>
            </a:r>
          </a:p>
          <a:p>
            <a:pPr algn="l">
              <a:spcAft>
                <a:spcPts val="900"/>
              </a:spcAft>
            </a:pPr>
            <a:r>
              <a:rPr sz="1600" b="0">
                <a:solidFill>
                  <a:srgbClr val="222222"/>
                </a:solidFill>
                <a:latin typeface="맑은 고딕"/>
                <a:ea typeface="맑은 고딕"/>
              </a:rPr>
              <a:t>•  Q5. SGA 어드바이저 곡선(1504=1635, 3008=1635, 1128=1636, 752=2213)으로 어떤 결정을?</a:t>
            </a:r>
          </a:p>
          <a:p>
            <a:pPr algn="l">
              <a:spcAft>
                <a:spcPts val="900"/>
              </a:spcAft>
            </a:pPr>
            <a:r>
              <a:rPr sz="1600" b="0">
                <a:solidFill>
                  <a:srgbClr val="222222"/>
                </a:solidFill>
                <a:latin typeface="맑은 고딕"/>
                <a:ea typeface="맑은 고딕"/>
              </a:rPr>
              <a:t>•  Q6. ORA-04031의 두 원인(부족·단편화)과 각 해소책, FLUSH가 근본이 아닌 이유는?</a:t>
            </a:r>
          </a:p>
        </p:txBody>
      </p:sp>
    </p:spTree>
    <p:extLst>
      <p:ext uri="{BB962C8B-B14F-4D97-AF65-F5344CB8AC3E}">
        <p14:creationId xmlns:p14="http://schemas.microsoft.com/office/powerpoint/2010/main" val="1787797333"/>
      </p:ext>
    </p:extLst>
  </p:cSld>
  <p:clrMapOvr>
    <a:masterClrMapping/>
  </p:clrMapOvr>
</p:sld>
</file>

<file path=ppt/slides/slide1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요약 (Summary)</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900"/>
              </a:spcAft>
            </a:pPr>
            <a:r>
              <a:rPr sz="1600" b="0">
                <a:solidFill>
                  <a:srgbClr val="222222"/>
                </a:solidFill>
                <a:latin typeface="맑은 고딕"/>
                <a:ea typeface="맑은 고딕"/>
              </a:rPr>
              <a:t>•  메모리 관리는 AMM(MEMORY_TARGET&gt;0)·ASMM(=0, SGA_TARGET&gt;0)·수동(둘 다 0) 세 방식.</a:t>
            </a:r>
          </a:p>
          <a:p>
            <a:pPr algn="l">
              <a:spcAft>
                <a:spcPts val="900"/>
              </a:spcAft>
            </a:pPr>
            <a:r>
              <a:rPr sz="1600" b="0">
                <a:solidFill>
                  <a:srgbClr val="222222"/>
                </a:solidFill>
                <a:latin typeface="맑은 고딕"/>
                <a:ea typeface="맑은 고딕"/>
              </a:rPr>
              <a:t>•  실습 DB는 ASMM — SGA_TARGET=1504M, 개별 풀 0(자동), PGA_AGGREGATE_TARGET=700M.</a:t>
            </a:r>
          </a:p>
          <a:p>
            <a:pPr algn="l">
              <a:spcAft>
                <a:spcPts val="900"/>
              </a:spcAft>
            </a:pPr>
            <a:r>
              <a:rPr sz="1600" b="0">
                <a:solidFill>
                  <a:srgbClr val="222222"/>
                </a:solidFill>
                <a:latin typeface="맑은 고딕"/>
                <a:ea typeface="맑은 고딕"/>
              </a:rPr>
              <a:t>•  파라미터는 목표(동적)·상한(정적)의 짝. MEMORY_TARGET과 SGA_TARGET을 혼동하면 기동 실패.</a:t>
            </a:r>
          </a:p>
          <a:p>
            <a:pPr algn="l">
              <a:spcAft>
                <a:spcPts val="900"/>
              </a:spcAft>
            </a:pPr>
            <a:r>
              <a:rPr sz="1600" b="0">
                <a:solidFill>
                  <a:srgbClr val="222222"/>
                </a:solidFill>
                <a:latin typeface="맑은 고딕"/>
                <a:ea typeface="맑은 고딕"/>
              </a:rPr>
              <a:t>•  V$SGAINFO·동적 구성으로 실제 배분·그래뉼(16MB), V$SGA_RESIZE_OPS로 GROW/SHRINK 짝 추적.</a:t>
            </a:r>
          </a:p>
          <a:p>
            <a:pPr algn="l">
              <a:spcAft>
                <a:spcPts val="900"/>
              </a:spcAft>
            </a:pPr>
            <a:r>
              <a:rPr sz="1600" b="0">
                <a:solidFill>
                  <a:srgbClr val="222222"/>
                </a:solidFill>
                <a:latin typeface="맑은 고딕"/>
                <a:ea typeface="맑은 고딕"/>
              </a:rPr>
              <a:t>•  어드바이저 곡선으로 무릎·절벽 판정 — 실측은 1128MB까지 줄여도 DB Time 거의 그대로.</a:t>
            </a:r>
          </a:p>
          <a:p>
            <a:pPr algn="l">
              <a:spcAft>
                <a:spcPts val="900"/>
              </a:spcAft>
            </a:pPr>
            <a:r>
              <a:rPr sz="1600" b="0">
                <a:solidFill>
                  <a:srgbClr val="222222"/>
                </a:solidFill>
                <a:latin typeface="맑은 고딕"/>
                <a:ea typeface="맑은 고딕"/>
              </a:rPr>
              <a:t>•  ORA-04031은 부족·단편화에서 온다. 구성 조정·바인드 변수화로 해소. In-Memory는 라이선스 옵션.</a:t>
            </a:r>
          </a:p>
        </p:txBody>
      </p:sp>
    </p:spTree>
    <p:extLst>
      <p:ext uri="{BB962C8B-B14F-4D97-AF65-F5344CB8AC3E}">
        <p14:creationId xmlns:p14="http://schemas.microsoft.com/office/powerpoint/2010/main" val="2688350359"/>
      </p:ext>
    </p:extLst>
  </p:cSld>
  <p:clrMapOvr>
    <a:masterClrMapping/>
  </p:clrMapOvr>
</p:sld>
</file>

<file path=ppt/slides/slide1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실습 개요 (Practice Overview)</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900"/>
              </a:spcAft>
            </a:pPr>
            <a:r>
              <a:rPr sz="1600" b="0">
                <a:solidFill>
                  <a:srgbClr val="222222"/>
                </a:solidFill>
                <a:latin typeface="맑은 고딕"/>
                <a:ea typeface="맑은 고딕"/>
              </a:rPr>
              <a:t>•  실습 01 — 메모리 관리 방식 판별(AMM/ASMM/수동)과 파라미터 확인(실측=ASMM)</a:t>
            </a:r>
          </a:p>
          <a:p>
            <a:pPr algn="l">
              <a:spcAft>
                <a:spcPts val="900"/>
              </a:spcAft>
            </a:pPr>
            <a:r>
              <a:rPr sz="1600" b="0">
                <a:solidFill>
                  <a:srgbClr val="222222"/>
                </a:solidFill>
                <a:latin typeface="맑은 고딕"/>
                <a:ea typeface="맑은 고딕"/>
              </a:rPr>
              <a:t>•  실습 02 — AMM 구성과 MEMORY_TARGET 조정 후 재기동 확인(개인 환경 전용)</a:t>
            </a:r>
          </a:p>
          <a:p>
            <a:pPr algn="l">
              <a:spcAft>
                <a:spcPts val="900"/>
              </a:spcAft>
            </a:pPr>
            <a:r>
              <a:rPr sz="1600" b="0">
                <a:solidFill>
                  <a:srgbClr val="222222"/>
                </a:solidFill>
                <a:latin typeface="맑은 고딕"/>
                <a:ea typeface="맑은 고딕"/>
              </a:rPr>
              <a:t>•  실습 03 — ASMM 전환과 SGA_TARGET·PGA_AGGREGATE_TARGET 동작 확인(개인 환경 전용)</a:t>
            </a:r>
          </a:p>
          <a:p>
            <a:pPr algn="l">
              <a:spcAft>
                <a:spcPts val="900"/>
              </a:spcAft>
            </a:pPr>
            <a:r>
              <a:rPr sz="1600" b="0">
                <a:solidFill>
                  <a:srgbClr val="222222"/>
                </a:solidFill>
                <a:latin typeface="맑은 고딕"/>
                <a:ea typeface="맑은 고딕"/>
              </a:rPr>
              <a:t>•  실습 04 — 자동 조정 이력 추적(V$SGA_RESIZE_OPS·V$MEMORY_RESIZE_OPS)</a:t>
            </a:r>
          </a:p>
          <a:p>
            <a:pPr algn="l">
              <a:spcAft>
                <a:spcPts val="900"/>
              </a:spcAft>
            </a:pPr>
            <a:r>
              <a:rPr sz="1600" b="0">
                <a:solidFill>
                  <a:srgbClr val="222222"/>
                </a:solidFill>
                <a:latin typeface="맑은 고딕"/>
                <a:ea typeface="맑은 고딕"/>
              </a:rPr>
              <a:t>•  실습 05 — 메모리 부족(ORA-04031) 재현 → 구성 조정으로 해소(개인 환경 전용)</a:t>
            </a:r>
          </a:p>
          <a:p>
            <a:pPr algn="l">
              <a:spcAft>
                <a:spcPts val="900"/>
              </a:spcAft>
            </a:pPr>
            <a:r>
              <a:rPr sz="1600" b="0">
                <a:solidFill>
                  <a:srgbClr val="222222"/>
                </a:solidFill>
                <a:latin typeface="맑은 고딕"/>
                <a:ea typeface="맑은 고딕"/>
              </a:rPr>
              <a:t>•  ※ 모두 non-CDB(orcl 19.3). 파라미터 변경·재기동은 반드시 개인 실습 환경에서만.</a:t>
            </a:r>
          </a:p>
        </p:txBody>
      </p:sp>
    </p:spTree>
    <p:extLst>
      <p:ext uri="{BB962C8B-B14F-4D97-AF65-F5344CB8AC3E}">
        <p14:creationId xmlns:p14="http://schemas.microsoft.com/office/powerpoint/2010/main" val="626414457"/>
      </p:ext>
    </p:extLst>
  </p:cSld>
  <p:clrMapOvr>
    <a:masterClrMapping/>
  </p:clrMapOvr>
</p:sld>
</file>

<file path=ppt/slides/slide1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Day 9</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어드바이저와 SGA</a:t>
            </a:r>
          </a:p>
        </p:txBody>
      </p:sp>
      <p:sp>
        <p:nvSpPr>
          <p:cNvPr id="5" name="Rectangle 4"/>
          <p:cNvSpPr/>
          <p:nvPr/>
        </p:nvSpPr>
        <p:spPr>
          <a:xfrm>
            <a:off x="822960" y="4114800"/>
            <a:ext cx="5486400"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r>
              <a:rPr sz="1600" b="0">
                <a:solidFill>
                  <a:srgbClr val="FFFFFF"/>
                </a:solidFill>
                <a:latin typeface="맑은 고딕"/>
              </a:rPr>
              <a:t>•  TUN ch30 · 브리지 03 · ch31 · ch32</a:t>
            </a:r>
          </a:p>
          <a:p>
            <a:r>
              <a:rPr sz="1600" b="0">
                <a:solidFill>
                  <a:srgbClr val="FFFFFF"/>
                </a:solidFill>
                <a:latin typeface="맑은 고딕"/>
              </a:rPr>
              <a:t>•  8h — 손 튜닝 SQL 을 STA 권고와 대조</a:t>
            </a:r>
          </a:p>
        </p:txBody>
      </p:sp>
    </p:spTree>
  </p:cSld>
  <p:clrMapOvr>
    <a:masterClrMapping/>
  </p:clrMapOvr>
</p:sld>
</file>

<file path=ppt/slides/slide1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457200"/>
            <a:ext cx="10698480" cy="548640"/>
          </a:xfrm>
          <a:prstGeom prst="rect">
            <a:avLst/>
          </a:prstGeom>
          <a:noFill/>
        </p:spPr>
        <p:txBody>
          <a:bodyPr wrap="square">
            <a:spAutoFit/>
          </a:bodyPr>
          <a:lstStyle/>
          <a:p>
            <a:pPr algn="l">
              <a:spcAft>
                <a:spcPts val="600"/>
              </a:spcAft>
            </a:pPr>
            <a:r>
              <a:rPr sz="1600" b="1">
                <a:solidFill>
                  <a:srgbClr val="FFFFFF"/>
                </a:solidFill>
                <a:latin typeface="맑은 고딕"/>
              </a:rPr>
              <a:t>Oracle Database 19c 성능 튜닝 실무 과정</a:t>
            </a:r>
          </a:p>
        </p:txBody>
      </p:sp>
      <p:sp>
        <p:nvSpPr>
          <p:cNvPr id="6" name="TextBox 5"/>
          <p:cNvSpPr txBox="1"/>
          <p:nvPr/>
        </p:nvSpPr>
        <p:spPr>
          <a:xfrm>
            <a:off x="731520" y="2377440"/>
            <a:ext cx="10698480" cy="1554480"/>
          </a:xfrm>
          <a:prstGeom prst="rect">
            <a:avLst/>
          </a:prstGeom>
          <a:noFill/>
        </p:spPr>
        <p:txBody>
          <a:bodyPr wrap="square">
            <a:spAutoFit/>
          </a:bodyPr>
          <a:lstStyle/>
          <a:p>
            <a:pPr algn="l">
              <a:spcAft>
                <a:spcPts val="600"/>
              </a:spcAft>
            </a:pPr>
            <a:r>
              <a:rPr sz="3400" b="1">
                <a:solidFill>
                  <a:srgbClr val="C0392B"/>
                </a:solidFill>
                <a:latin typeface="맑은 고딕"/>
              </a:rPr>
              <a:t>Advisor 프레임워크와 자동 튜닝</a:t>
            </a:r>
          </a:p>
        </p:txBody>
      </p:sp>
      <p:sp>
        <p:nvSpPr>
          <p:cNvPr id="7" name="TextBox 6"/>
          <p:cNvSpPr txBox="1"/>
          <p:nvPr/>
        </p:nvSpPr>
        <p:spPr>
          <a:xfrm>
            <a:off x="731520" y="4114800"/>
            <a:ext cx="10698480" cy="1097280"/>
          </a:xfrm>
          <a:prstGeom prst="rect">
            <a:avLst/>
          </a:prstGeom>
          <a:noFill/>
        </p:spPr>
        <p:txBody>
          <a:bodyPr wrap="square">
            <a:spAutoFit/>
          </a:bodyPr>
          <a:lstStyle/>
          <a:p>
            <a:pPr algn="l">
              <a:spcAft>
                <a:spcPts val="600"/>
              </a:spcAft>
            </a:pPr>
            <a:r>
              <a:rPr sz="1500" b="0">
                <a:solidFill>
                  <a:srgbClr val="5A6672"/>
                </a:solidFill>
                <a:latin typeface="맑은 고딕"/>
              </a:rPr>
              <a:t>자동 유지관리 작업 · SQL Tuning/Access Advisor · SPA · 권고 해석과 채택 판단  (ADMIN 29·30·33장 흡수·심화)</a:t>
            </a:r>
          </a:p>
        </p:txBody>
      </p:sp>
      <p:sp>
        <p:nvSpPr>
          <p:cNvPr id="8" name="TextBox 7"/>
          <p:cNvSpPr txBox="1"/>
          <p:nvPr/>
        </p:nvSpPr>
        <p:spPr>
          <a:xfrm>
            <a:off x="731520" y="5577840"/>
            <a:ext cx="10698480" cy="914400"/>
          </a:xfrm>
          <a:prstGeom prst="rect">
            <a:avLst/>
          </a:prstGeom>
          <a:noFill/>
        </p:spPr>
        <p:txBody>
          <a:bodyPr wrap="square">
            <a:spAutoFit/>
          </a:bodyPr>
          <a:lstStyle/>
          <a:p>
            <a:pPr algn="l">
              <a:spcAft>
                <a:spcPts val="600"/>
              </a:spcAft>
            </a:pPr>
            <a:r>
              <a:rPr sz="2000" b="1">
                <a:solidFill>
                  <a:srgbClr val="C0392B"/>
                </a:solidFill>
                <a:latin typeface="맑은 고딕"/>
              </a:rPr>
              <a:t>ch30</a:t>
            </a:r>
          </a:p>
        </p:txBody>
      </p:sp>
    </p:spTree>
    <p:extLst>
      <p:ext uri="{BB962C8B-B14F-4D97-AF65-F5344CB8AC3E}">
        <p14:creationId xmlns:p14="http://schemas.microsoft.com/office/powerpoint/2010/main" val="3648734559"/>
      </p:ext>
    </p:extLst>
  </p:cSld>
  <p:clrMapOvr>
    <a:masterClrMapping/>
  </p:clrMapOvr>
</p:sld>
</file>

<file path=ppt/slides/slide1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학습 목표 (Objectives)</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600"/>
              </a:spcAft>
            </a:pPr>
            <a:r>
              <a:rPr sz="1600" b="0">
                <a:solidFill>
                  <a:srgbClr val="222222"/>
                </a:solidFill>
                <a:latin typeface="맑은 고딕"/>
              </a:rPr>
              <a:t>•  세 가지 자동 유지관리 작업을 구분하고 DBA_AUTOTASK_*로 무엇이 언제 도는지 확인한다.</a:t>
            </a:r>
          </a:p>
          <a:p>
            <a:pPr algn="l">
              <a:spcAft>
                <a:spcPts val="600"/>
              </a:spcAft>
            </a:pPr>
            <a:r>
              <a:rPr sz="1600" b="0">
                <a:solidFill>
                  <a:srgbClr val="222222"/>
                </a:solidFill>
                <a:latin typeface="맑은 고딕"/>
              </a:rPr>
              <a:t>•  유지관리 윈도우가 업무 시간과 겹칠 때 윈도우 조정·리소스 할당으로 통제한다.</a:t>
            </a:r>
          </a:p>
          <a:p>
            <a:pPr algn="l">
              <a:spcAft>
                <a:spcPts val="600"/>
              </a:spcAft>
            </a:pPr>
            <a:r>
              <a:rPr sz="1600" b="0">
                <a:solidFill>
                  <a:srgbClr val="222222"/>
                </a:solidFill>
                <a:latin typeface="맑은 고딕"/>
              </a:rPr>
              <a:t>•  Advisory Framework의 공통 구조(태스크·Finding·Recommendation)와 라이선스 경계를 안다.</a:t>
            </a:r>
          </a:p>
          <a:p>
            <a:pPr algn="l">
              <a:spcAft>
                <a:spcPts val="600"/>
              </a:spcAft>
            </a:pPr>
            <a:r>
              <a:rPr sz="1600" b="0">
                <a:solidFill>
                  <a:srgbClr val="222222"/>
                </a:solidFill>
                <a:latin typeface="맑은 고딕"/>
              </a:rPr>
              <a:t>•  SQL Tuning Advisor 권고를 해석하고, '권고 없음'도 유효한 결과임을 이해한다.</a:t>
            </a:r>
          </a:p>
          <a:p>
            <a:pPr algn="l">
              <a:spcAft>
                <a:spcPts val="600"/>
              </a:spcAft>
            </a:pPr>
            <a:r>
              <a:rPr sz="1600" b="0">
                <a:solidFill>
                  <a:srgbClr val="222222"/>
                </a:solidFill>
                <a:latin typeface="맑은 고딕"/>
              </a:rPr>
              <a:t>•  SQL Access Advisor·SPA로 워크로드 기준 설계·변경 검증을 수행한다.</a:t>
            </a:r>
          </a:p>
          <a:p>
            <a:pPr algn="l">
              <a:spcAft>
                <a:spcPts val="600"/>
              </a:spcAft>
            </a:pPr>
            <a:r>
              <a:rPr sz="1600" b="0">
                <a:solidFill>
                  <a:srgbClr val="222222"/>
                </a:solidFill>
                <a:latin typeface="맑은 고딕"/>
              </a:rPr>
              <a:t>•  SQL Plan Directives·Adaptive Plans를 관찰하고 비활성화 시점을 판단한다.</a:t>
            </a:r>
          </a:p>
          <a:p>
            <a:pPr algn="l">
              <a:spcAft>
                <a:spcPts val="600"/>
              </a:spcAft>
            </a:pPr>
            <a:r>
              <a:rPr sz="1600" b="0">
                <a:solidFill>
                  <a:srgbClr val="222222"/>
                </a:solidFill>
                <a:latin typeface="맑은 고딕"/>
              </a:rPr>
              <a:t>•  어드바이저는 항상 권고하지 않으며, 권고는 검증할 가설임을 체득한다.</a:t>
            </a:r>
          </a:p>
        </p:txBody>
      </p:sp>
    </p:spTree>
    <p:extLst>
      <p:ext uri="{BB962C8B-B14F-4D97-AF65-F5344CB8AC3E}">
        <p14:creationId xmlns:p14="http://schemas.microsoft.com/office/powerpoint/2010/main" val="2619677280"/>
      </p:ext>
    </p:extLst>
  </p:cSld>
  <p:clrMapOvr>
    <a:masterClrMapping/>
  </p:clrMapOvr>
</p:sld>
</file>

<file path=ppt/slides/slide1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이 장의 구성 (Agenda)</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600"/>
              </a:spcAft>
            </a:pPr>
            <a:r>
              <a:rPr sz="1600" b="0">
                <a:solidFill>
                  <a:srgbClr val="222222"/>
                </a:solidFill>
                <a:latin typeface="맑은 고딕"/>
              </a:rPr>
              <a:t>•  30.2  자동 유지관리 작업과 유지관리 윈도우</a:t>
            </a:r>
          </a:p>
          <a:p>
            <a:pPr algn="l">
              <a:spcAft>
                <a:spcPts val="600"/>
              </a:spcAft>
            </a:pPr>
            <a:r>
              <a:rPr sz="1600" b="0">
                <a:solidFill>
                  <a:srgbClr val="222222"/>
                </a:solidFill>
                <a:latin typeface="맑은 고딕"/>
              </a:rPr>
              <a:t>•  30.3  Advisory Framework 전반</a:t>
            </a:r>
          </a:p>
          <a:p>
            <a:pPr algn="l">
              <a:spcAft>
                <a:spcPts val="600"/>
              </a:spcAft>
            </a:pPr>
            <a:r>
              <a:rPr sz="1600" b="0">
                <a:solidFill>
                  <a:srgbClr val="222222"/>
                </a:solidFill>
                <a:latin typeface="맑은 고딕"/>
              </a:rPr>
              <a:t>•  30.4  SQL Tuning Advisor — 두 실측 사례의 대조</a:t>
            </a:r>
          </a:p>
          <a:p>
            <a:pPr algn="l">
              <a:spcAft>
                <a:spcPts val="600"/>
              </a:spcAft>
            </a:pPr>
            <a:r>
              <a:rPr sz="1600" b="0">
                <a:solidFill>
                  <a:srgbClr val="222222"/>
                </a:solidFill>
                <a:latin typeface="맑은 고딕"/>
              </a:rPr>
              <a:t>•  30.5  SQL Access Advisor</a:t>
            </a:r>
          </a:p>
          <a:p>
            <a:pPr algn="l">
              <a:spcAft>
                <a:spcPts val="600"/>
              </a:spcAft>
            </a:pPr>
            <a:r>
              <a:rPr sz="1600" b="0">
                <a:solidFill>
                  <a:srgbClr val="222222"/>
                </a:solidFill>
                <a:latin typeface="맑은 고딕"/>
              </a:rPr>
              <a:t>•  30.6  SQL Performance Analyzer (SPA)</a:t>
            </a:r>
          </a:p>
          <a:p>
            <a:pPr algn="l">
              <a:spcAft>
                <a:spcPts val="600"/>
              </a:spcAft>
            </a:pPr>
            <a:r>
              <a:rPr sz="1600" b="0">
                <a:solidFill>
                  <a:srgbClr val="222222"/>
                </a:solidFill>
                <a:latin typeface="맑은 고딕"/>
              </a:rPr>
              <a:t>•  30.7  SQL Plan Directives와 Adaptive Plans</a:t>
            </a:r>
          </a:p>
          <a:p>
            <a:pPr algn="l">
              <a:spcAft>
                <a:spcPts val="600"/>
              </a:spcAft>
            </a:pPr>
            <a:r>
              <a:rPr sz="1600" b="0">
                <a:solidFill>
                  <a:srgbClr val="222222"/>
                </a:solidFill>
                <a:latin typeface="맑은 고딕"/>
              </a:rPr>
              <a:t>•  요약 · 퀴즈 · 실습 개요</a:t>
            </a:r>
          </a:p>
        </p:txBody>
      </p:sp>
    </p:spTree>
    <p:extLst>
      <p:ext uri="{BB962C8B-B14F-4D97-AF65-F5344CB8AC3E}">
        <p14:creationId xmlns:p14="http://schemas.microsoft.com/office/powerpoint/2010/main" val="1426273726"/>
      </p:ext>
    </p:extLst>
  </p:cSld>
  <p:clrMapOvr>
    <a:masterClrMapping/>
  </p:clrMapOvr>
</p:sld>
</file>

<file path=ppt/slides/slide1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이 장의 두 축과 ADMIN 심화</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무엇이 흡수되고 무엇이 더해지나</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600"/>
              </a:spcAft>
            </a:pPr>
            <a:r>
              <a:rPr sz="1700" b="0">
                <a:solidFill>
                  <a:srgbClr val="222222"/>
                </a:solidFill>
                <a:latin typeface="맑은 고딕"/>
              </a:rPr>
              <a:t>•  축 1 — 자동으로 도는 것을 통제한다(자동 작업·윈도우·자원)</a:t>
            </a:r>
          </a:p>
          <a:p>
            <a:pPr algn="l">
              <a:spcAft>
                <a:spcPts val="600"/>
              </a:spcAft>
            </a:pPr>
            <a:r>
              <a:rPr sz="1700" b="0">
                <a:solidFill>
                  <a:srgbClr val="222222"/>
                </a:solidFill>
                <a:latin typeface="맑은 고딕"/>
              </a:rPr>
              <a:t>•  축 2 — 권고를 해석하고 채택을 판단한다(어드바이저)</a:t>
            </a:r>
          </a:p>
          <a:p>
            <a:pPr algn="l">
              <a:spcAft>
                <a:spcPts val="600"/>
              </a:spcAft>
            </a:pPr>
            <a:r>
              <a:rPr sz="1700" b="0">
                <a:solidFill>
                  <a:srgbClr val="222222"/>
                </a:solidFill>
                <a:latin typeface="맑은 고딕"/>
              </a:rPr>
              <a:t>•  ADMIN 29·30장 = 자동 작업 '설정' → 여기선 업무 영향 '통제'</a:t>
            </a:r>
          </a:p>
          <a:p>
            <a:pPr algn="l">
              <a:spcAft>
                <a:spcPts val="600"/>
              </a:spcAft>
            </a:pPr>
            <a:r>
              <a:rPr sz="1700" b="0">
                <a:solidFill>
                  <a:srgbClr val="222222"/>
                </a:solidFill>
                <a:latin typeface="맑은 고딕"/>
              </a:rPr>
              <a:t>•  ADMIN 33장 = 어드바이저 '소개' → 여기선 권고 '해석·채택 판단'</a:t>
            </a:r>
          </a:p>
          <a:p>
            <a:pPr algn="l">
              <a:spcAft>
                <a:spcPts val="600"/>
              </a:spcAft>
            </a:pPr>
            <a:r>
              <a:rPr sz="1700" b="0">
                <a:solidFill>
                  <a:srgbClr val="222222"/>
                </a:solidFill>
                <a:latin typeface="맑은 고딕"/>
              </a:rPr>
              <a:t>•  실측 두 사례로 '권고 맹신 경계'를 가르친다</a:t>
            </a:r>
          </a:p>
        </p:txBody>
      </p:sp>
    </p:spTree>
    <p:extLst>
      <p:ext uri="{BB962C8B-B14F-4D97-AF65-F5344CB8AC3E}">
        <p14:creationId xmlns:p14="http://schemas.microsoft.com/office/powerpoint/2010/main" val="3736632345"/>
      </p:ext>
    </p:extLst>
  </p:cSld>
  <p:clrMapOvr>
    <a:masterClrMapping/>
  </p:clrMapOvr>
</p:sld>
</file>

<file path=ppt/slides/slide1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30.2</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자동 유지관리 작업과 유지관리 윈도우</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600"/>
              </a:spcAft>
            </a:pPr>
            <a:r>
              <a:rPr sz="1600" b="0">
                <a:solidFill>
                  <a:srgbClr val="FFFFFF"/>
                </a:solidFill>
                <a:latin typeface="맑은 고딕"/>
              </a:rPr>
              <a:t>•  세 가지 자동 작업 · 유지관리 윈도우</a:t>
            </a:r>
          </a:p>
          <a:p>
            <a:pPr algn="l">
              <a:spcAft>
                <a:spcPts val="600"/>
              </a:spcAft>
            </a:pPr>
            <a:r>
              <a:rPr sz="1600" b="0">
                <a:solidFill>
                  <a:srgbClr val="FFFFFF"/>
                </a:solidFill>
                <a:latin typeface="맑은 고딕"/>
              </a:rPr>
              <a:t>•  업무 시간 영향 통제 — 윈도우 조정·리소스 할당</a:t>
            </a:r>
          </a:p>
          <a:p>
            <a:pPr algn="l">
              <a:spcAft>
                <a:spcPts val="600"/>
              </a:spcAft>
            </a:pPr>
            <a:r>
              <a:rPr sz="1600" b="0">
                <a:solidFill>
                  <a:srgbClr val="FFFFFF"/>
                </a:solidFill>
                <a:latin typeface="맑은 고딕"/>
              </a:rPr>
              <a:t>•  ADMIN 29·30장 '설정'을 '통제·판단'으로 심화</a:t>
            </a:r>
          </a:p>
        </p:txBody>
      </p:sp>
    </p:spTree>
    <p:extLst>
      <p:ext uri="{BB962C8B-B14F-4D97-AF65-F5344CB8AC3E}">
        <p14:creationId xmlns:p14="http://schemas.microsoft.com/office/powerpoint/2010/main" val="2472341474"/>
      </p:ext>
    </p:extLst>
  </p:cSld>
  <p:clrMapOvr>
    <a:masterClrMapping/>
  </p:clrMapOvr>
</p:sld>
</file>

<file path=ppt/slides/slide1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세 가지 자동 유지관리 작업</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사전 예방적 유지관리 인프라</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600"/>
              </a:spcAft>
            </a:pPr>
            <a:r>
              <a:rPr sz="1700" b="0">
                <a:solidFill>
                  <a:srgbClr val="222222"/>
                </a:solidFill>
                <a:latin typeface="맑은 고딕"/>
              </a:rPr>
              <a:t>•  auto optimizer stats collection — 낡은/없는 통계 자동 수집(가장 중요)</a:t>
            </a:r>
          </a:p>
          <a:p>
            <a:pPr algn="l">
              <a:spcAft>
                <a:spcPts val="600"/>
              </a:spcAft>
            </a:pPr>
            <a:r>
              <a:rPr sz="1700" b="0">
                <a:solidFill>
                  <a:srgbClr val="222222"/>
                </a:solidFill>
                <a:latin typeface="맑은 고딕"/>
              </a:rPr>
              <a:t>•  auto space advisor — 세그먼트 공간 낭비 분석(권고만)</a:t>
            </a:r>
          </a:p>
          <a:p>
            <a:pPr algn="l">
              <a:spcAft>
                <a:spcPts val="600"/>
              </a:spcAft>
            </a:pPr>
            <a:r>
              <a:rPr sz="1700" b="0">
                <a:solidFill>
                  <a:srgbClr val="222222"/>
                </a:solidFill>
                <a:latin typeface="맑은 고딕"/>
              </a:rPr>
              <a:t>•  sql tuning advisor — 고부하 SQL 자동 튜닝 분석  🔒 Tuning Pack</a:t>
            </a:r>
          </a:p>
          <a:p>
            <a:pPr algn="l">
              <a:spcAft>
                <a:spcPts val="600"/>
              </a:spcAft>
            </a:pPr>
            <a:r>
              <a:rPr sz="1700" b="0">
                <a:solidFill>
                  <a:srgbClr val="222222"/>
                </a:solidFill>
                <a:latin typeface="맑은 고딕"/>
              </a:rPr>
              <a:t>•  통계 수집·세그먼트 어드바이저는 팩 불필요 / SQL 튜닝만 Tuning Pack</a:t>
            </a:r>
          </a:p>
        </p:txBody>
      </p:sp>
    </p:spTree>
    <p:extLst>
      <p:ext uri="{BB962C8B-B14F-4D97-AF65-F5344CB8AC3E}">
        <p14:creationId xmlns:p14="http://schemas.microsoft.com/office/powerpoint/2010/main" val="724828259"/>
      </p:ext>
    </p:extLst>
  </p:cSld>
  <p:clrMapOvr>
    <a:masterClrMapping/>
  </p:clrMapOvr>
</p:sld>
</file>

<file path=ppt/slides/slide1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무엇이 켜져 있나 — DBA_AUTOTASK_CLIENT</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라이선스 무관 조회 (실측)</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tlCol="0" anchor="ctr"/>
          <a:lstStyle/>
          <a:p>
            <a:pPr>
              <a:lnSpc>
                <a:spcPct val="100000"/>
              </a:lnSpc>
              <a:spcAft>
                <a:spcPts val="0"/>
              </a:spcAft>
            </a:pPr>
            <a:r>
              <a:rPr sz="1250" dirty="0" err="1">
                <a:solidFill>
                  <a:srgbClr val="F2F2F2"/>
                </a:solidFill>
                <a:latin typeface="Consolas"/>
              </a:rPr>
              <a:t>SYS@orcl</a:t>
            </a:r>
            <a:r>
              <a:rPr sz="1250" dirty="0">
                <a:solidFill>
                  <a:srgbClr val="F2F2F2"/>
                </a:solidFill>
                <a:latin typeface="Consolas"/>
              </a:rPr>
              <a:t>&gt; SELECT </a:t>
            </a:r>
            <a:r>
              <a:rPr sz="1250" dirty="0" err="1">
                <a:solidFill>
                  <a:srgbClr val="F2F2F2"/>
                </a:solidFill>
                <a:latin typeface="Consolas"/>
              </a:rPr>
              <a:t>client_name</a:t>
            </a:r>
            <a:r>
              <a:rPr sz="1250" dirty="0">
                <a:solidFill>
                  <a:srgbClr val="F2F2F2"/>
                </a:solidFill>
                <a:latin typeface="Consolas"/>
              </a:rPr>
              <a:t>, status, attributes</a:t>
            </a:r>
          </a:p>
          <a:p>
            <a:pPr>
              <a:lnSpc>
                <a:spcPct val="100000"/>
              </a:lnSpc>
              <a:spcAft>
                <a:spcPts val="0"/>
              </a:spcAft>
            </a:pPr>
            <a:r>
              <a:rPr sz="1250" dirty="0">
                <a:solidFill>
                  <a:srgbClr val="F2F2F2"/>
                </a:solidFill>
                <a:latin typeface="Consolas"/>
              </a:rPr>
              <a:t>  2       FROM </a:t>
            </a:r>
            <a:r>
              <a:rPr sz="1250" dirty="0" err="1">
                <a:solidFill>
                  <a:srgbClr val="F2F2F2"/>
                </a:solidFill>
                <a:latin typeface="Consolas"/>
              </a:rPr>
              <a:t>dba_autotask_client</a:t>
            </a:r>
            <a:r>
              <a:rPr sz="1250" dirty="0">
                <a:solidFill>
                  <a:srgbClr val="F2F2F2"/>
                </a:solidFill>
                <a:latin typeface="Consolas"/>
              </a:rPr>
              <a:t> ORDER BY </a:t>
            </a:r>
            <a:r>
              <a:rPr sz="1250" dirty="0" err="1">
                <a:solidFill>
                  <a:srgbClr val="F2F2F2"/>
                </a:solidFill>
                <a:latin typeface="Consolas"/>
              </a:rPr>
              <a:t>client_name</a:t>
            </a:r>
            <a:r>
              <a:rPr sz="1250" dirty="0">
                <a:solidFill>
                  <a:srgbClr val="F2F2F2"/>
                </a:solidFill>
                <a:latin typeface="Consolas"/>
              </a:rPr>
              <a:t>;</a:t>
            </a:r>
          </a:p>
          <a:p>
            <a:pPr>
              <a:lnSpc>
                <a:spcPct val="100000"/>
              </a:lnSpc>
              <a:spcAft>
                <a:spcPts val="0"/>
              </a:spcAft>
            </a:pPr>
            <a:r>
              <a:rPr sz="1250" dirty="0">
                <a:solidFill>
                  <a:srgbClr val="F2F2F2"/>
                </a:solidFill>
                <a:latin typeface="Consolas"/>
              </a:rPr>
              <a:t> </a:t>
            </a:r>
          </a:p>
          <a:p>
            <a:pPr>
              <a:lnSpc>
                <a:spcPct val="100000"/>
              </a:lnSpc>
              <a:spcAft>
                <a:spcPts val="0"/>
              </a:spcAft>
            </a:pPr>
            <a:r>
              <a:rPr sz="1250" dirty="0">
                <a:solidFill>
                  <a:srgbClr val="F2F2F2"/>
                </a:solidFill>
                <a:latin typeface="Consolas"/>
              </a:rPr>
              <a:t>CLIENT_NAME                       STATUS   ATTRIBUTES</a:t>
            </a:r>
          </a:p>
          <a:p>
            <a:pPr>
              <a:lnSpc>
                <a:spcPct val="100000"/>
              </a:lnSpc>
              <a:spcAft>
                <a:spcPts val="0"/>
              </a:spcAft>
            </a:pPr>
            <a:r>
              <a:rPr sz="1250" dirty="0">
                <a:solidFill>
                  <a:srgbClr val="F2F2F2"/>
                </a:solidFill>
                <a:latin typeface="Consolas"/>
              </a:rPr>
              <a:t>--------------------------------- -------- --------------------</a:t>
            </a:r>
          </a:p>
          <a:p>
            <a:pPr>
              <a:lnSpc>
                <a:spcPct val="100000"/>
              </a:lnSpc>
              <a:spcAft>
                <a:spcPts val="0"/>
              </a:spcAft>
            </a:pPr>
            <a:r>
              <a:rPr sz="1250" dirty="0">
                <a:solidFill>
                  <a:srgbClr val="F2F2F2"/>
                </a:solidFill>
                <a:latin typeface="Consolas"/>
              </a:rPr>
              <a:t>auto optimizer stats collection   ENABLED  ON BY DEFAULT, ...</a:t>
            </a:r>
          </a:p>
          <a:p>
            <a:pPr>
              <a:lnSpc>
                <a:spcPct val="100000"/>
              </a:lnSpc>
              <a:spcAft>
                <a:spcPts val="0"/>
              </a:spcAft>
            </a:pPr>
            <a:r>
              <a:rPr sz="1250" dirty="0">
                <a:solidFill>
                  <a:srgbClr val="F2F2F2"/>
                </a:solidFill>
                <a:latin typeface="Consolas"/>
              </a:rPr>
              <a:t>auto space advisor                ENABLED  ON BY DEFAULT, ...</a:t>
            </a:r>
          </a:p>
          <a:p>
            <a:pPr>
              <a:lnSpc>
                <a:spcPct val="100000"/>
              </a:lnSpc>
              <a:spcAft>
                <a:spcPts val="0"/>
              </a:spcAft>
            </a:pPr>
            <a:r>
              <a:rPr sz="1250" dirty="0" err="1">
                <a:solidFill>
                  <a:srgbClr val="F2F2F2"/>
                </a:solidFill>
                <a:latin typeface="Consolas"/>
              </a:rPr>
              <a:t>sql</a:t>
            </a:r>
            <a:r>
              <a:rPr sz="1250" dirty="0">
                <a:solidFill>
                  <a:srgbClr val="F2F2F2"/>
                </a:solidFill>
                <a:latin typeface="Consolas"/>
              </a:rPr>
              <a:t> tuning advisor                ENABLED  ONCE PER WINDOW, ...</a:t>
            </a:r>
          </a:p>
        </p:txBody>
      </p:sp>
    </p:spTree>
    <p:extLst>
      <p:ext uri="{BB962C8B-B14F-4D97-AF65-F5344CB8AC3E}">
        <p14:creationId xmlns:p14="http://schemas.microsoft.com/office/powerpoint/2010/main" val="1771757201"/>
      </p:ext>
    </p:extLst>
  </p:cSld>
  <p:clrMapOvr>
    <a:masterClrMapping/>
  </p:clrMapOvr>
</p:sld>
</file>

<file path=ppt/slides/slide1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언제 도나 — 유지관리 윈도우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DBA_AUTOTASK_WINDOW_CLIENTS (실측)</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tlCol="0" anchor="ctr"/>
          <a:lstStyle/>
          <a:p>
            <a:pPr>
              <a:lnSpc>
                <a:spcPct val="100000"/>
              </a:lnSpc>
              <a:spcAft>
                <a:spcPts val="0"/>
              </a:spcAft>
            </a:pPr>
            <a:r>
              <a:rPr sz="1250" dirty="0" err="1">
                <a:solidFill>
                  <a:srgbClr val="F2F2F2"/>
                </a:solidFill>
                <a:latin typeface="Consolas"/>
              </a:rPr>
              <a:t>SYS@orcl</a:t>
            </a:r>
            <a:r>
              <a:rPr sz="1250" dirty="0">
                <a:solidFill>
                  <a:srgbClr val="F2F2F2"/>
                </a:solidFill>
                <a:latin typeface="Consolas"/>
              </a:rPr>
              <a:t>&gt; SELECT </a:t>
            </a:r>
            <a:r>
              <a:rPr sz="1250" dirty="0" err="1">
                <a:solidFill>
                  <a:srgbClr val="F2F2F2"/>
                </a:solidFill>
                <a:latin typeface="Consolas"/>
              </a:rPr>
              <a:t>window_name</a:t>
            </a:r>
            <a:r>
              <a:rPr sz="1250" dirty="0">
                <a:solidFill>
                  <a:srgbClr val="F2F2F2"/>
                </a:solidFill>
                <a:latin typeface="Consolas"/>
              </a:rPr>
              <a:t>, </a:t>
            </a:r>
            <a:r>
              <a:rPr sz="1250" dirty="0" err="1">
                <a:solidFill>
                  <a:srgbClr val="F2F2F2"/>
                </a:solidFill>
                <a:latin typeface="Consolas"/>
              </a:rPr>
              <a:t>optimizer_stats</a:t>
            </a:r>
            <a:r>
              <a:rPr sz="1250" dirty="0">
                <a:solidFill>
                  <a:srgbClr val="F2F2F2"/>
                </a:solidFill>
                <a:latin typeface="Consolas"/>
              </a:rPr>
              <a:t>,</a:t>
            </a:r>
          </a:p>
          <a:p>
            <a:pPr>
              <a:lnSpc>
                <a:spcPct val="100000"/>
              </a:lnSpc>
              <a:spcAft>
                <a:spcPts val="0"/>
              </a:spcAft>
            </a:pPr>
            <a:r>
              <a:rPr sz="1250" dirty="0">
                <a:solidFill>
                  <a:srgbClr val="F2F2F2"/>
                </a:solidFill>
                <a:latin typeface="Consolas"/>
              </a:rPr>
              <a:t>  2         </a:t>
            </a:r>
            <a:r>
              <a:rPr sz="1250" dirty="0" err="1">
                <a:solidFill>
                  <a:srgbClr val="F2F2F2"/>
                </a:solidFill>
                <a:latin typeface="Consolas"/>
              </a:rPr>
              <a:t>sql_tune_advisor</a:t>
            </a:r>
            <a:r>
              <a:rPr sz="1250" dirty="0">
                <a:solidFill>
                  <a:srgbClr val="F2F2F2"/>
                </a:solidFill>
                <a:latin typeface="Consolas"/>
              </a:rPr>
              <a:t>, </a:t>
            </a:r>
            <a:r>
              <a:rPr sz="1250" dirty="0" err="1">
                <a:solidFill>
                  <a:srgbClr val="F2F2F2"/>
                </a:solidFill>
                <a:latin typeface="Consolas"/>
              </a:rPr>
              <a:t>autotask_status</a:t>
            </a:r>
            <a:endParaRPr sz="1250" dirty="0">
              <a:solidFill>
                <a:srgbClr val="F2F2F2"/>
              </a:solidFill>
              <a:latin typeface="Consolas"/>
            </a:endParaRPr>
          </a:p>
          <a:p>
            <a:pPr>
              <a:lnSpc>
                <a:spcPct val="100000"/>
              </a:lnSpc>
              <a:spcAft>
                <a:spcPts val="0"/>
              </a:spcAft>
            </a:pPr>
            <a:r>
              <a:rPr sz="1250" dirty="0">
                <a:solidFill>
                  <a:srgbClr val="F2F2F2"/>
                </a:solidFill>
                <a:latin typeface="Consolas"/>
              </a:rPr>
              <a:t>  3       FROM </a:t>
            </a:r>
            <a:r>
              <a:rPr sz="1250" dirty="0" err="1">
                <a:solidFill>
                  <a:srgbClr val="F2F2F2"/>
                </a:solidFill>
                <a:latin typeface="Consolas"/>
              </a:rPr>
              <a:t>dba_autotask_window_clients</a:t>
            </a:r>
            <a:r>
              <a:rPr sz="1250" dirty="0">
                <a:solidFill>
                  <a:srgbClr val="F2F2F2"/>
                </a:solidFill>
                <a:latin typeface="Consolas"/>
              </a:rPr>
              <a:t> WHERE </a:t>
            </a:r>
            <a:r>
              <a:rPr sz="1250" dirty="0" err="1">
                <a:solidFill>
                  <a:srgbClr val="F2F2F2"/>
                </a:solidFill>
                <a:latin typeface="Consolas"/>
              </a:rPr>
              <a:t>rownum</a:t>
            </a:r>
            <a:r>
              <a:rPr sz="1250" dirty="0">
                <a:solidFill>
                  <a:srgbClr val="F2F2F2"/>
                </a:solidFill>
                <a:latin typeface="Consolas"/>
              </a:rPr>
              <a:t>&lt;=8;</a:t>
            </a:r>
          </a:p>
          <a:p>
            <a:pPr>
              <a:lnSpc>
                <a:spcPct val="100000"/>
              </a:lnSpc>
              <a:spcAft>
                <a:spcPts val="0"/>
              </a:spcAft>
            </a:pPr>
            <a:r>
              <a:rPr sz="1250" dirty="0">
                <a:solidFill>
                  <a:srgbClr val="F2F2F2"/>
                </a:solidFill>
                <a:latin typeface="Consolas"/>
              </a:rPr>
              <a:t> </a:t>
            </a:r>
          </a:p>
          <a:p>
            <a:pPr>
              <a:lnSpc>
                <a:spcPct val="100000"/>
              </a:lnSpc>
              <a:spcAft>
                <a:spcPts val="0"/>
              </a:spcAft>
            </a:pPr>
            <a:r>
              <a:rPr sz="1250" dirty="0">
                <a:solidFill>
                  <a:srgbClr val="F2F2F2"/>
                </a:solidFill>
                <a:latin typeface="Consolas"/>
              </a:rPr>
              <a:t>WINDOW_NAME       OPTIMIZER_STATS  SQL_TUNE_ADVISOR  AUTOTASK</a:t>
            </a:r>
          </a:p>
          <a:p>
            <a:pPr>
              <a:lnSpc>
                <a:spcPct val="100000"/>
              </a:lnSpc>
              <a:spcAft>
                <a:spcPts val="0"/>
              </a:spcAft>
            </a:pPr>
            <a:r>
              <a:rPr sz="1250" dirty="0">
                <a:solidFill>
                  <a:srgbClr val="F2F2F2"/>
                </a:solidFill>
                <a:latin typeface="Consolas"/>
              </a:rPr>
              <a:t>----------------- ---------------- ----------------- --------</a:t>
            </a:r>
          </a:p>
          <a:p>
            <a:pPr>
              <a:lnSpc>
                <a:spcPct val="100000"/>
              </a:lnSpc>
              <a:spcAft>
                <a:spcPts val="0"/>
              </a:spcAft>
            </a:pPr>
            <a:r>
              <a:rPr sz="1250" dirty="0">
                <a:solidFill>
                  <a:srgbClr val="F2F2F2"/>
                </a:solidFill>
                <a:latin typeface="Consolas"/>
              </a:rPr>
              <a:t>MONDAY_WINDOW     ENABLED          </a:t>
            </a:r>
            <a:r>
              <a:rPr sz="1250" dirty="0" err="1">
                <a:solidFill>
                  <a:srgbClr val="F2F2F2"/>
                </a:solidFill>
                <a:latin typeface="Consolas"/>
              </a:rPr>
              <a:t>ENABLED</a:t>
            </a:r>
            <a:r>
              <a:rPr sz="1250" dirty="0">
                <a:solidFill>
                  <a:srgbClr val="F2F2F2"/>
                </a:solidFill>
                <a:latin typeface="Consolas"/>
              </a:rPr>
              <a:t>           </a:t>
            </a:r>
            <a:r>
              <a:rPr sz="1250" dirty="0" err="1">
                <a:solidFill>
                  <a:srgbClr val="F2F2F2"/>
                </a:solidFill>
                <a:latin typeface="Consolas"/>
              </a:rPr>
              <a:t>ENABLED</a:t>
            </a:r>
            <a:endParaRPr sz="1250" dirty="0">
              <a:solidFill>
                <a:srgbClr val="F2F2F2"/>
              </a:solidFill>
              <a:latin typeface="Consolas"/>
            </a:endParaRPr>
          </a:p>
          <a:p>
            <a:pPr>
              <a:lnSpc>
                <a:spcPct val="100000"/>
              </a:lnSpc>
              <a:spcAft>
                <a:spcPts val="0"/>
              </a:spcAft>
            </a:pPr>
            <a:r>
              <a:rPr sz="1250" dirty="0">
                <a:solidFill>
                  <a:srgbClr val="F2F2F2"/>
                </a:solidFill>
                <a:latin typeface="Consolas"/>
              </a:rPr>
              <a:t>...(</a:t>
            </a:r>
            <a:r>
              <a:rPr sz="1250" dirty="0" err="1">
                <a:solidFill>
                  <a:srgbClr val="F2F2F2"/>
                </a:solidFill>
                <a:latin typeface="Consolas"/>
              </a:rPr>
              <a:t>요일별</a:t>
            </a:r>
            <a:r>
              <a:rPr sz="1250" dirty="0">
                <a:solidFill>
                  <a:srgbClr val="F2F2F2"/>
                </a:solidFill>
                <a:latin typeface="Consolas"/>
              </a:rPr>
              <a:t> 7개)   ENABLED          </a:t>
            </a:r>
            <a:r>
              <a:rPr sz="1250" dirty="0" err="1">
                <a:solidFill>
                  <a:srgbClr val="F2F2F2"/>
                </a:solidFill>
                <a:latin typeface="Consolas"/>
              </a:rPr>
              <a:t>ENABLED</a:t>
            </a:r>
            <a:r>
              <a:rPr sz="1250" dirty="0">
                <a:solidFill>
                  <a:srgbClr val="F2F2F2"/>
                </a:solidFill>
                <a:latin typeface="Consolas"/>
              </a:rPr>
              <a:t>           </a:t>
            </a:r>
            <a:r>
              <a:rPr sz="1250" dirty="0" err="1">
                <a:solidFill>
                  <a:srgbClr val="F2F2F2"/>
                </a:solidFill>
                <a:latin typeface="Consolas"/>
              </a:rPr>
              <a:t>ENABLED</a:t>
            </a:r>
            <a:endParaRPr sz="1250" dirty="0">
              <a:solidFill>
                <a:srgbClr val="F2F2F2"/>
              </a:solidFill>
              <a:latin typeface="Consolas"/>
            </a:endParaRPr>
          </a:p>
        </p:txBody>
      </p:sp>
    </p:spTree>
    <p:extLst>
      <p:ext uri="{BB962C8B-B14F-4D97-AF65-F5344CB8AC3E}">
        <p14:creationId xmlns:p14="http://schemas.microsoft.com/office/powerpoint/2010/main" val="4293097198"/>
      </p:ext>
    </p:extLst>
  </p:cSld>
  <p:clrMapOvr>
    <a:masterClrMapping/>
  </p:clrMapOvr>
</p:sld>
</file>

<file path=ppt/slides/slide1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업무 시간 영향 통제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윈도우가 업무·배치와 겹칠 때</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600"/>
              </a:spcAft>
            </a:pPr>
            <a:r>
              <a:rPr sz="1700" b="0">
                <a:solidFill>
                  <a:srgbClr val="222222"/>
                </a:solidFill>
                <a:latin typeface="맑은 고딕"/>
              </a:rPr>
              <a:t>•  방법 1 — 윈도우 시간을 옮긴다(DBMS_SCHEDULER.SET_ATTRIBUTE)</a:t>
            </a:r>
          </a:p>
          <a:p>
            <a:pPr algn="l">
              <a:spcAft>
                <a:spcPts val="600"/>
              </a:spcAft>
            </a:pPr>
            <a:r>
              <a:rPr sz="1700" b="0">
                <a:solidFill>
                  <a:srgbClr val="222222"/>
                </a:solidFill>
                <a:latin typeface="맑은 고딕"/>
              </a:rPr>
              <a:t>•  방법 2 — 자원을 조인다: DEFAULT_MAINTENANCE_PLAN의 ORA$AUTOTASK</a:t>
            </a:r>
          </a:p>
          <a:p>
            <a:pPr algn="l">
              <a:spcAft>
                <a:spcPts val="600"/>
              </a:spcAft>
            </a:pPr>
            <a:r>
              <a:rPr sz="1700" b="0">
                <a:solidFill>
                  <a:srgbClr val="222222"/>
                </a:solidFill>
                <a:latin typeface="맑은 고딕"/>
              </a:rPr>
              <a:t>•  기본 배분: ORA$AUTOTASK 25 / ORA$DIAGNOSTICS 5 / OTHER_GROUPS 70</a:t>
            </a:r>
          </a:p>
          <a:p>
            <a:pPr algn="l">
              <a:spcAft>
                <a:spcPts val="600"/>
              </a:spcAft>
            </a:pPr>
            <a:r>
              <a:rPr sz="1700" b="0">
                <a:solidFill>
                  <a:srgbClr val="222222"/>
                </a:solidFill>
                <a:latin typeface="맑은 고딕"/>
              </a:rPr>
              <a:t>•  리소스 변경은 대기 영역(Pending Area) 4단계 워크플로우 필수</a:t>
            </a:r>
          </a:p>
          <a:p>
            <a:pPr algn="l">
              <a:spcAft>
                <a:spcPts val="600"/>
              </a:spcAft>
            </a:pPr>
            <a:r>
              <a:rPr sz="1700" b="0">
                <a:solidFill>
                  <a:srgbClr val="222222"/>
                </a:solidFill>
                <a:latin typeface="맑은 고딕"/>
              </a:rPr>
              <a:t>•  mgmt_p1은 상한이 아니라 '경합 시 보장 최소치'</a:t>
            </a:r>
          </a:p>
        </p:txBody>
      </p:sp>
    </p:spTree>
    <p:extLst>
      <p:ext uri="{BB962C8B-B14F-4D97-AF65-F5344CB8AC3E}">
        <p14:creationId xmlns:p14="http://schemas.microsoft.com/office/powerpoint/2010/main" val="2347032319"/>
      </p:ext>
    </p:extLst>
  </p:cSld>
  <p:clrMapOvr>
    <a:masterClrMapping/>
  </p:clrMapOvr>
</p:sld>
</file>

<file path=ppt/slides/slide1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자동 작업이 업무를 방해할 때의 순서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끄기 전에 확인·조정·조임</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600"/>
              </a:spcAft>
            </a:pPr>
            <a:r>
              <a:rPr sz="1700" b="0">
                <a:solidFill>
                  <a:srgbClr val="222222"/>
                </a:solidFill>
                <a:latin typeface="맑은 고딕"/>
              </a:rPr>
              <a:t>•  ① 확인 — 윈도우가 언제 열리고 업무·배치와 겹치는가</a:t>
            </a:r>
          </a:p>
          <a:p>
            <a:pPr algn="l">
              <a:spcAft>
                <a:spcPts val="600"/>
              </a:spcAft>
            </a:pPr>
            <a:r>
              <a:rPr sz="1700" b="0">
                <a:solidFill>
                  <a:srgbClr val="222222"/>
                </a:solidFill>
                <a:latin typeface="맑은 고딕"/>
              </a:rPr>
              <a:t>•  ② 조정 — 겹치면 윈도우 시간을 옮긴다(통계는 계속 최신)</a:t>
            </a:r>
          </a:p>
          <a:p>
            <a:pPr algn="l">
              <a:spcAft>
                <a:spcPts val="600"/>
              </a:spcAft>
            </a:pPr>
            <a:r>
              <a:rPr sz="1700" b="0">
                <a:solidFill>
                  <a:srgbClr val="222222"/>
                </a:solidFill>
                <a:latin typeface="맑은 고딕"/>
              </a:rPr>
              <a:t>•  ③ 조임 — 못 옮기면 ORA$AUTOTASK 배분을 낮춘다</a:t>
            </a:r>
          </a:p>
          <a:p>
            <a:pPr algn="l">
              <a:spcAft>
                <a:spcPts val="600"/>
              </a:spcAft>
            </a:pPr>
            <a:r>
              <a:rPr sz="1700" b="0">
                <a:solidFill>
                  <a:srgbClr val="222222"/>
                </a:solidFill>
                <a:latin typeface="맑은 고딕"/>
              </a:rPr>
              <a:t>•  ④ 최후에만 끈다 — 끄면 통계가 낡아 계획 품질 저하</a:t>
            </a:r>
          </a:p>
          <a:p>
            <a:pPr algn="l">
              <a:spcAft>
                <a:spcPts val="600"/>
              </a:spcAft>
            </a:pPr>
            <a:r>
              <a:rPr sz="1700" b="0">
                <a:solidFill>
                  <a:srgbClr val="222222"/>
                </a:solidFill>
                <a:latin typeface="맑은 고딕"/>
              </a:rPr>
              <a:t>•  DBA_AUTOTASK_JOB_HISTORY로 실행 시각·소요를 대조한다</a:t>
            </a:r>
          </a:p>
        </p:txBody>
      </p:sp>
    </p:spTree>
    <p:extLst>
      <p:ext uri="{BB962C8B-B14F-4D97-AF65-F5344CB8AC3E}">
        <p14:creationId xmlns:p14="http://schemas.microsoft.com/office/powerpoint/2010/main" val="2276281623"/>
      </p:ext>
    </p:extLst>
  </p:cSld>
  <p:clrMapOvr>
    <a:masterClrMapping/>
  </p:clrMapOvr>
</p:sld>
</file>

<file path=ppt/slides/slide1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언제 얼마나 돌았나 — 실행 이력</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DBA_AUTOTASK_JOB_HISTORY</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tlCol="0" anchor="ctr"/>
          <a:lstStyle/>
          <a:p>
            <a:pPr>
              <a:lnSpc>
                <a:spcPct val="100000"/>
              </a:lnSpc>
              <a:spcAft>
                <a:spcPts val="0"/>
              </a:spcAft>
            </a:pPr>
            <a:r>
              <a:rPr sz="1250" dirty="0" err="1">
                <a:solidFill>
                  <a:srgbClr val="F2F2F2"/>
                </a:solidFill>
                <a:latin typeface="Consolas"/>
              </a:rPr>
              <a:t>SYS@orcl</a:t>
            </a:r>
            <a:r>
              <a:rPr sz="1250" dirty="0">
                <a:solidFill>
                  <a:srgbClr val="F2F2F2"/>
                </a:solidFill>
                <a:latin typeface="Consolas"/>
              </a:rPr>
              <a:t>&gt; SELECT </a:t>
            </a:r>
            <a:r>
              <a:rPr sz="1250" dirty="0" err="1">
                <a:solidFill>
                  <a:srgbClr val="F2F2F2"/>
                </a:solidFill>
                <a:latin typeface="Consolas"/>
              </a:rPr>
              <a:t>client_name</a:t>
            </a:r>
            <a:r>
              <a:rPr sz="1250" dirty="0">
                <a:solidFill>
                  <a:srgbClr val="F2F2F2"/>
                </a:solidFill>
                <a:latin typeface="Consolas"/>
              </a:rPr>
              <a:t>,</a:t>
            </a:r>
          </a:p>
          <a:p>
            <a:pPr>
              <a:lnSpc>
                <a:spcPct val="100000"/>
              </a:lnSpc>
              <a:spcAft>
                <a:spcPts val="0"/>
              </a:spcAft>
            </a:pPr>
            <a:r>
              <a:rPr sz="1250" dirty="0">
                <a:solidFill>
                  <a:srgbClr val="F2F2F2"/>
                </a:solidFill>
                <a:latin typeface="Consolas"/>
              </a:rPr>
              <a:t>  2         TO_CHAR(</a:t>
            </a:r>
            <a:r>
              <a:rPr sz="1250" dirty="0" err="1">
                <a:solidFill>
                  <a:srgbClr val="F2F2F2"/>
                </a:solidFill>
                <a:latin typeface="Consolas"/>
              </a:rPr>
              <a:t>window_start_time,'MM</a:t>
            </a:r>
            <a:r>
              <a:rPr sz="1250" dirty="0">
                <a:solidFill>
                  <a:srgbClr val="F2F2F2"/>
                </a:solidFill>
                <a:latin typeface="Consolas"/>
              </a:rPr>
              <a:t>-DD HH24:MI') started,</a:t>
            </a:r>
          </a:p>
          <a:p>
            <a:pPr>
              <a:lnSpc>
                <a:spcPct val="100000"/>
              </a:lnSpc>
              <a:spcAft>
                <a:spcPts val="0"/>
              </a:spcAft>
            </a:pPr>
            <a:r>
              <a:rPr sz="1250" dirty="0">
                <a:solidFill>
                  <a:srgbClr val="F2F2F2"/>
                </a:solidFill>
                <a:latin typeface="Consolas"/>
              </a:rPr>
              <a:t>  3         </a:t>
            </a:r>
            <a:r>
              <a:rPr sz="1250" dirty="0" err="1">
                <a:solidFill>
                  <a:srgbClr val="F2F2F2"/>
                </a:solidFill>
                <a:latin typeface="Consolas"/>
              </a:rPr>
              <a:t>job_status</a:t>
            </a:r>
            <a:r>
              <a:rPr sz="1250" dirty="0">
                <a:solidFill>
                  <a:srgbClr val="F2F2F2"/>
                </a:solidFill>
                <a:latin typeface="Consolas"/>
              </a:rPr>
              <a:t>, </a:t>
            </a:r>
            <a:r>
              <a:rPr sz="1250" dirty="0" err="1">
                <a:solidFill>
                  <a:srgbClr val="F2F2F2"/>
                </a:solidFill>
                <a:latin typeface="Consolas"/>
              </a:rPr>
              <a:t>job_duration</a:t>
            </a:r>
            <a:endParaRPr sz="1250" dirty="0">
              <a:solidFill>
                <a:srgbClr val="F2F2F2"/>
              </a:solidFill>
              <a:latin typeface="Consolas"/>
            </a:endParaRPr>
          </a:p>
          <a:p>
            <a:pPr>
              <a:lnSpc>
                <a:spcPct val="100000"/>
              </a:lnSpc>
              <a:spcAft>
                <a:spcPts val="0"/>
              </a:spcAft>
            </a:pPr>
            <a:r>
              <a:rPr sz="1250" dirty="0">
                <a:solidFill>
                  <a:srgbClr val="F2F2F2"/>
                </a:solidFill>
                <a:latin typeface="Consolas"/>
              </a:rPr>
              <a:t>  4       FROM </a:t>
            </a:r>
            <a:r>
              <a:rPr sz="1250" dirty="0" err="1">
                <a:solidFill>
                  <a:srgbClr val="F2F2F2"/>
                </a:solidFill>
                <a:latin typeface="Consolas"/>
              </a:rPr>
              <a:t>dba_autotask_job_history</a:t>
            </a:r>
            <a:endParaRPr sz="1250" dirty="0">
              <a:solidFill>
                <a:srgbClr val="F2F2F2"/>
              </a:solidFill>
              <a:latin typeface="Consolas"/>
            </a:endParaRPr>
          </a:p>
          <a:p>
            <a:pPr>
              <a:lnSpc>
                <a:spcPct val="100000"/>
              </a:lnSpc>
              <a:spcAft>
                <a:spcPts val="0"/>
              </a:spcAft>
            </a:pPr>
            <a:r>
              <a:rPr sz="1250" dirty="0">
                <a:solidFill>
                  <a:srgbClr val="F2F2F2"/>
                </a:solidFill>
                <a:latin typeface="Consolas"/>
              </a:rPr>
              <a:t>  5       WHERE </a:t>
            </a:r>
            <a:r>
              <a:rPr sz="1250" dirty="0" err="1">
                <a:solidFill>
                  <a:srgbClr val="F2F2F2"/>
                </a:solidFill>
                <a:latin typeface="Consolas"/>
              </a:rPr>
              <a:t>window_start_time</a:t>
            </a:r>
            <a:r>
              <a:rPr sz="1250" dirty="0">
                <a:solidFill>
                  <a:srgbClr val="F2F2F2"/>
                </a:solidFill>
                <a:latin typeface="Consolas"/>
              </a:rPr>
              <a:t> &gt; SYSTIMESTAMP - 7</a:t>
            </a:r>
          </a:p>
          <a:p>
            <a:pPr>
              <a:lnSpc>
                <a:spcPct val="100000"/>
              </a:lnSpc>
              <a:spcAft>
                <a:spcPts val="0"/>
              </a:spcAft>
            </a:pPr>
            <a:r>
              <a:rPr sz="1250" dirty="0">
                <a:solidFill>
                  <a:srgbClr val="F2F2F2"/>
                </a:solidFill>
                <a:latin typeface="Consolas"/>
              </a:rPr>
              <a:t>  6       ORDER BY </a:t>
            </a:r>
            <a:r>
              <a:rPr sz="1250" dirty="0" err="1">
                <a:solidFill>
                  <a:srgbClr val="F2F2F2"/>
                </a:solidFill>
                <a:latin typeface="Consolas"/>
              </a:rPr>
              <a:t>window_start_time</a:t>
            </a:r>
            <a:r>
              <a:rPr sz="1250" dirty="0">
                <a:solidFill>
                  <a:srgbClr val="F2F2F2"/>
                </a:solidFill>
                <a:latin typeface="Consolas"/>
              </a:rPr>
              <a:t> DESC FETCH FIRST 5 ROWS ONLY;</a:t>
            </a:r>
          </a:p>
          <a:p>
            <a:pPr>
              <a:lnSpc>
                <a:spcPct val="100000"/>
              </a:lnSpc>
              <a:spcAft>
                <a:spcPts val="0"/>
              </a:spcAft>
            </a:pPr>
            <a:r>
              <a:rPr sz="1250" dirty="0">
                <a:solidFill>
                  <a:srgbClr val="F2F2F2"/>
                </a:solidFill>
                <a:latin typeface="Consolas"/>
              </a:rPr>
              <a:t> </a:t>
            </a:r>
          </a:p>
          <a:p>
            <a:pPr>
              <a:lnSpc>
                <a:spcPct val="100000"/>
              </a:lnSpc>
              <a:spcAft>
                <a:spcPts val="0"/>
              </a:spcAft>
            </a:pPr>
            <a:r>
              <a:rPr sz="1250" dirty="0">
                <a:solidFill>
                  <a:srgbClr val="F2F2F2"/>
                </a:solidFill>
                <a:latin typeface="Consolas"/>
              </a:rPr>
              <a:t>auto optimizer stats collection  &lt;</a:t>
            </a:r>
            <a:r>
              <a:rPr sz="1250" dirty="0" err="1">
                <a:solidFill>
                  <a:srgbClr val="F2F2F2"/>
                </a:solidFill>
                <a:latin typeface="Consolas"/>
              </a:rPr>
              <a:t>환경값</a:t>
            </a:r>
            <a:r>
              <a:rPr sz="1250" dirty="0">
                <a:solidFill>
                  <a:srgbClr val="F2F2F2"/>
                </a:solidFill>
                <a:latin typeface="Consolas"/>
              </a:rPr>
              <a:t>&gt;  SUCCEEDED  +000 00:0X</a:t>
            </a:r>
          </a:p>
          <a:p>
            <a:pPr>
              <a:lnSpc>
                <a:spcPct val="100000"/>
              </a:lnSpc>
              <a:spcAft>
                <a:spcPts val="0"/>
              </a:spcAft>
            </a:pPr>
            <a:r>
              <a:rPr sz="1250" dirty="0" err="1">
                <a:solidFill>
                  <a:srgbClr val="F2F2F2"/>
                </a:solidFill>
                <a:latin typeface="Consolas"/>
              </a:rPr>
              <a:t>sql</a:t>
            </a:r>
            <a:r>
              <a:rPr sz="1250" dirty="0">
                <a:solidFill>
                  <a:srgbClr val="F2F2F2"/>
                </a:solidFill>
                <a:latin typeface="Consolas"/>
              </a:rPr>
              <a:t> tuning advisor               &lt;</a:t>
            </a:r>
            <a:r>
              <a:rPr sz="1250" dirty="0" err="1">
                <a:solidFill>
                  <a:srgbClr val="F2F2F2"/>
                </a:solidFill>
                <a:latin typeface="Consolas"/>
              </a:rPr>
              <a:t>환경값</a:t>
            </a:r>
            <a:r>
              <a:rPr sz="1250" dirty="0">
                <a:solidFill>
                  <a:srgbClr val="F2F2F2"/>
                </a:solidFill>
                <a:latin typeface="Consolas"/>
              </a:rPr>
              <a:t>&gt;  SUCCEEDED  +000 00:0X</a:t>
            </a:r>
          </a:p>
        </p:txBody>
      </p:sp>
    </p:spTree>
    <p:extLst>
      <p:ext uri="{BB962C8B-B14F-4D97-AF65-F5344CB8AC3E}">
        <p14:creationId xmlns:p14="http://schemas.microsoft.com/office/powerpoint/2010/main" val="1370925795"/>
      </p:ext>
    </p:extLst>
  </p:cSld>
  <p:clrMapOvr>
    <a:masterClrMapping/>
  </p:clrMapOvr>
</p:sld>
</file>

<file path=ppt/slides/slide1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30.3</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Advisory Framework 전반</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600"/>
              </a:spcAft>
            </a:pPr>
            <a:r>
              <a:rPr sz="1600" b="0">
                <a:solidFill>
                  <a:srgbClr val="FFFFFF"/>
                </a:solidFill>
                <a:latin typeface="맑은 고딕"/>
              </a:rPr>
              <a:t>•  어드바이저 종류 — DBA_ADVISOR_DEFINITIONS</a:t>
            </a:r>
          </a:p>
          <a:p>
            <a:pPr algn="l">
              <a:spcAft>
                <a:spcPts val="600"/>
              </a:spcAft>
            </a:pPr>
            <a:r>
              <a:rPr sz="1600" b="0">
                <a:solidFill>
                  <a:srgbClr val="FFFFFF"/>
                </a:solidFill>
                <a:latin typeface="맑은 고딕"/>
              </a:rPr>
              <a:t>•  공통 구조 — 태스크·Finding·Recommendation</a:t>
            </a:r>
          </a:p>
          <a:p>
            <a:pPr algn="l">
              <a:spcAft>
                <a:spcPts val="600"/>
              </a:spcAft>
            </a:pPr>
            <a:r>
              <a:rPr sz="1600" b="0">
                <a:solidFill>
                  <a:srgbClr val="FFFFFF"/>
                </a:solidFill>
                <a:latin typeface="맑은 고딕"/>
              </a:rPr>
              <a:t>•  라이선스 경계 — 무엇이 Tuning Pack인가</a:t>
            </a:r>
          </a:p>
        </p:txBody>
      </p:sp>
    </p:spTree>
    <p:extLst>
      <p:ext uri="{BB962C8B-B14F-4D97-AF65-F5344CB8AC3E}">
        <p14:creationId xmlns:p14="http://schemas.microsoft.com/office/powerpoint/2010/main" val="3141391635"/>
      </p:ext>
    </p:extLst>
  </p:cSld>
  <p:clrMapOvr>
    <a:masterClrMapping/>
  </p:clrMapOvr>
</p:sld>
</file>

<file path=ppt/slides/slide1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어드바이저 종류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DBA_ADVISOR_DEFINITIONS (실측)</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tlCol="0" anchor="ctr"/>
          <a:lstStyle/>
          <a:p>
            <a:pPr>
              <a:lnSpc>
                <a:spcPct val="100000"/>
              </a:lnSpc>
              <a:spcAft>
                <a:spcPts val="0"/>
              </a:spcAft>
            </a:pPr>
            <a:r>
              <a:rPr sz="1250" dirty="0" err="1">
                <a:solidFill>
                  <a:srgbClr val="F2F2F2"/>
                </a:solidFill>
                <a:latin typeface="Consolas"/>
              </a:rPr>
              <a:t>SYS@orcl</a:t>
            </a:r>
            <a:r>
              <a:rPr sz="1250" dirty="0">
                <a:solidFill>
                  <a:srgbClr val="F2F2F2"/>
                </a:solidFill>
                <a:latin typeface="Consolas"/>
              </a:rPr>
              <a:t>&gt; SELECT </a:t>
            </a:r>
            <a:r>
              <a:rPr sz="1250" dirty="0" err="1">
                <a:solidFill>
                  <a:srgbClr val="F2F2F2"/>
                </a:solidFill>
                <a:latin typeface="Consolas"/>
              </a:rPr>
              <a:t>advisor_name</a:t>
            </a:r>
            <a:r>
              <a:rPr sz="1250" dirty="0">
                <a:solidFill>
                  <a:srgbClr val="F2F2F2"/>
                </a:solidFill>
                <a:latin typeface="Consolas"/>
              </a:rPr>
              <a:t> FROM </a:t>
            </a:r>
            <a:r>
              <a:rPr sz="1250" dirty="0" err="1">
                <a:solidFill>
                  <a:srgbClr val="F2F2F2"/>
                </a:solidFill>
                <a:latin typeface="Consolas"/>
              </a:rPr>
              <a:t>dba_advisor_definitions</a:t>
            </a:r>
            <a:endParaRPr sz="1250" dirty="0">
              <a:solidFill>
                <a:srgbClr val="F2F2F2"/>
              </a:solidFill>
              <a:latin typeface="Consolas"/>
            </a:endParaRPr>
          </a:p>
          <a:p>
            <a:pPr>
              <a:lnSpc>
                <a:spcPct val="100000"/>
              </a:lnSpc>
              <a:spcAft>
                <a:spcPts val="0"/>
              </a:spcAft>
            </a:pPr>
            <a:r>
              <a:rPr sz="1250" dirty="0">
                <a:solidFill>
                  <a:srgbClr val="F2F2F2"/>
                </a:solidFill>
                <a:latin typeface="Consolas"/>
              </a:rPr>
              <a:t>  2       ORDER BY </a:t>
            </a:r>
            <a:r>
              <a:rPr sz="1250" dirty="0" err="1">
                <a:solidFill>
                  <a:srgbClr val="F2F2F2"/>
                </a:solidFill>
                <a:latin typeface="Consolas"/>
              </a:rPr>
              <a:t>advisor_name</a:t>
            </a:r>
            <a:r>
              <a:rPr sz="1250" dirty="0">
                <a:solidFill>
                  <a:srgbClr val="F2F2F2"/>
                </a:solidFill>
                <a:latin typeface="Consolas"/>
              </a:rPr>
              <a:t>;</a:t>
            </a:r>
          </a:p>
          <a:p>
            <a:pPr>
              <a:lnSpc>
                <a:spcPct val="100000"/>
              </a:lnSpc>
              <a:spcAft>
                <a:spcPts val="0"/>
              </a:spcAft>
            </a:pPr>
            <a:r>
              <a:rPr sz="1250" dirty="0">
                <a:solidFill>
                  <a:srgbClr val="F2F2F2"/>
                </a:solidFill>
                <a:latin typeface="Consolas"/>
              </a:rPr>
              <a:t> </a:t>
            </a:r>
          </a:p>
          <a:p>
            <a:pPr>
              <a:lnSpc>
                <a:spcPct val="100000"/>
              </a:lnSpc>
              <a:spcAft>
                <a:spcPts val="0"/>
              </a:spcAft>
            </a:pPr>
            <a:r>
              <a:rPr sz="1250" dirty="0">
                <a:solidFill>
                  <a:srgbClr val="F2F2F2"/>
                </a:solidFill>
                <a:latin typeface="Consolas"/>
              </a:rPr>
              <a:t>ADDM                       SQL Tuning Advisor</a:t>
            </a:r>
          </a:p>
          <a:p>
            <a:pPr>
              <a:lnSpc>
                <a:spcPct val="100000"/>
              </a:lnSpc>
              <a:spcAft>
                <a:spcPts val="0"/>
              </a:spcAft>
            </a:pPr>
            <a:r>
              <a:rPr sz="1250" dirty="0">
                <a:solidFill>
                  <a:srgbClr val="F2F2F2"/>
                </a:solidFill>
                <a:latin typeface="Consolas"/>
              </a:rPr>
              <a:t>Compression Advisor        SQL Workload Manager</a:t>
            </a:r>
          </a:p>
          <a:p>
            <a:pPr>
              <a:lnSpc>
                <a:spcPct val="100000"/>
              </a:lnSpc>
              <a:spcAft>
                <a:spcPts val="0"/>
              </a:spcAft>
            </a:pPr>
            <a:r>
              <a:rPr sz="1250" dirty="0">
                <a:solidFill>
                  <a:srgbClr val="F2F2F2"/>
                </a:solidFill>
                <a:latin typeface="Consolas"/>
              </a:rPr>
              <a:t>SPM Evolve Advisor         Segment Advisor</a:t>
            </a:r>
          </a:p>
          <a:p>
            <a:pPr>
              <a:lnSpc>
                <a:spcPct val="100000"/>
              </a:lnSpc>
              <a:spcAft>
                <a:spcPts val="0"/>
              </a:spcAft>
            </a:pPr>
            <a:r>
              <a:rPr sz="1250" dirty="0">
                <a:solidFill>
                  <a:srgbClr val="F2F2F2"/>
                </a:solidFill>
                <a:latin typeface="Consolas"/>
              </a:rPr>
              <a:t>SQL Access Advisor         Statistics Advisor</a:t>
            </a:r>
          </a:p>
          <a:p>
            <a:pPr>
              <a:lnSpc>
                <a:spcPct val="100000"/>
              </a:lnSpc>
              <a:spcAft>
                <a:spcPts val="0"/>
              </a:spcAft>
            </a:pPr>
            <a:r>
              <a:rPr sz="1250" dirty="0">
                <a:solidFill>
                  <a:srgbClr val="F2F2F2"/>
                </a:solidFill>
                <a:latin typeface="Consolas"/>
              </a:rPr>
              <a:t>SQL Performance Analyzer   Tune </a:t>
            </a:r>
            <a:r>
              <a:rPr sz="1250" dirty="0" err="1">
                <a:solidFill>
                  <a:srgbClr val="F2F2F2"/>
                </a:solidFill>
                <a:latin typeface="Consolas"/>
              </a:rPr>
              <a:t>MView</a:t>
            </a:r>
            <a:endParaRPr sz="1250" dirty="0">
              <a:solidFill>
                <a:srgbClr val="F2F2F2"/>
              </a:solidFill>
              <a:latin typeface="Consolas"/>
            </a:endParaRPr>
          </a:p>
          <a:p>
            <a:pPr>
              <a:lnSpc>
                <a:spcPct val="100000"/>
              </a:lnSpc>
              <a:spcAft>
                <a:spcPts val="0"/>
              </a:spcAft>
            </a:pPr>
            <a:r>
              <a:rPr sz="1250" dirty="0">
                <a:solidFill>
                  <a:srgbClr val="F2F2F2"/>
                </a:solidFill>
                <a:latin typeface="Consolas"/>
              </a:rPr>
              <a:t>SQL Repair Advisor         Undo Advisor</a:t>
            </a:r>
          </a:p>
          <a:p>
            <a:pPr>
              <a:lnSpc>
                <a:spcPct val="100000"/>
              </a:lnSpc>
              <a:spcAft>
                <a:spcPts val="0"/>
              </a:spcAft>
            </a:pPr>
            <a:r>
              <a:rPr sz="1250" dirty="0">
                <a:solidFill>
                  <a:srgbClr val="F2F2F2"/>
                </a:solidFill>
                <a:latin typeface="Consolas"/>
              </a:rPr>
              <a:t> </a:t>
            </a:r>
          </a:p>
          <a:p>
            <a:pPr>
              <a:lnSpc>
                <a:spcPct val="100000"/>
              </a:lnSpc>
              <a:spcAft>
                <a:spcPts val="0"/>
              </a:spcAft>
            </a:pPr>
            <a:r>
              <a:rPr sz="1250" dirty="0">
                <a:solidFill>
                  <a:srgbClr val="F2F2F2"/>
                </a:solidFill>
                <a:latin typeface="Consolas"/>
              </a:rPr>
              <a:t>12 rows selected.</a:t>
            </a:r>
          </a:p>
        </p:txBody>
      </p:sp>
    </p:spTree>
    <p:extLst>
      <p:ext uri="{BB962C8B-B14F-4D97-AF65-F5344CB8AC3E}">
        <p14:creationId xmlns:p14="http://schemas.microsoft.com/office/powerpoint/2010/main" val="1065224021"/>
      </p:ext>
    </p:extLst>
  </p:cSld>
  <p:clrMapOvr>
    <a:masterClrMapping/>
  </p:clrMapOvr>
</p:sld>
</file>

<file path=ppt/slides/slide1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공통 아키텍처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모든 어드바이저가 같은 수명주기</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600"/>
              </a:spcAft>
            </a:pPr>
            <a:r>
              <a:rPr sz="1700" b="0">
                <a:solidFill>
                  <a:srgbClr val="222222"/>
                </a:solidFill>
                <a:latin typeface="맑은 고딕"/>
              </a:rPr>
              <a:t>•  ① 태스크 생성 → ② 대상(SQL/워크로드) 연결 → ③ 실행 → ④ 결과 조회</a:t>
            </a:r>
          </a:p>
          <a:p>
            <a:pPr algn="l">
              <a:spcAft>
                <a:spcPts val="600"/>
              </a:spcAft>
            </a:pPr>
            <a:r>
              <a:rPr sz="1700" b="0">
                <a:solidFill>
                  <a:srgbClr val="222222"/>
                </a:solidFill>
                <a:latin typeface="맑은 고딕"/>
              </a:rPr>
              <a:t>•  결과 = Finding(무엇을 발견) + Recommendation(무엇을 하라)</a:t>
            </a:r>
          </a:p>
          <a:p>
            <a:pPr algn="l">
              <a:spcAft>
                <a:spcPts val="600"/>
              </a:spcAft>
            </a:pPr>
            <a:r>
              <a:rPr sz="1700" b="0">
                <a:solidFill>
                  <a:srgbClr val="222222"/>
                </a:solidFill>
                <a:latin typeface="맑은 고딕"/>
              </a:rPr>
              <a:t>•  DBA_ADVISOR_TASKS / FINDINGS / RECOMMENDATIONS / ACTIONS / RATIONALE</a:t>
            </a:r>
          </a:p>
          <a:p>
            <a:pPr algn="l">
              <a:spcAft>
                <a:spcPts val="600"/>
              </a:spcAft>
            </a:pPr>
            <a:r>
              <a:rPr sz="1700" b="0">
                <a:solidFill>
                  <a:srgbClr val="222222"/>
                </a:solidFill>
                <a:latin typeface="맑은 고딕"/>
              </a:rPr>
              <a:t>•  패키지만 다름: DBMS_SQLTUNE · DBMS_ADVISOR · DBMS_SQLPA</a:t>
            </a:r>
          </a:p>
        </p:txBody>
      </p:sp>
    </p:spTree>
    <p:extLst>
      <p:ext uri="{BB962C8B-B14F-4D97-AF65-F5344CB8AC3E}">
        <p14:creationId xmlns:p14="http://schemas.microsoft.com/office/powerpoint/2010/main" val="3888738821"/>
      </p:ext>
    </p:extLst>
  </p:cSld>
  <p:clrMapOvr>
    <a:masterClrMapping/>
  </p:clrMapOvr>
</p:sld>
</file>

<file path=ppt/slides/slide1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 라이선스 경계</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600"/>
              </a:spcAft>
            </a:pPr>
            <a:r>
              <a:rPr sz="1700" b="0">
                <a:solidFill>
                  <a:srgbClr val="222222"/>
                </a:solidFill>
                <a:latin typeface="맑은 고딕"/>
              </a:rPr>
              <a:t>•  SQL Tuning/Access Advisor · SPA → Tuning Pack(Diagnostics 선행)</a:t>
            </a:r>
          </a:p>
          <a:p>
            <a:pPr algn="l">
              <a:spcAft>
                <a:spcPts val="600"/>
              </a:spcAft>
            </a:pPr>
            <a:r>
              <a:rPr sz="1700" b="0">
                <a:solidFill>
                  <a:srgbClr val="222222"/>
                </a:solidFill>
                <a:latin typeface="맑은 고딕"/>
              </a:rPr>
              <a:t>•  자동 SQL 튜닝 어드바이저 결과 조회 → Tuning Pack 경계</a:t>
            </a:r>
          </a:p>
          <a:p>
            <a:pPr algn="l">
              <a:spcAft>
                <a:spcPts val="600"/>
              </a:spcAft>
            </a:pPr>
            <a:r>
              <a:rPr sz="1700" b="0">
                <a:solidFill>
                  <a:srgbClr val="222222"/>
                </a:solidFill>
                <a:latin typeface="맑은 고딕"/>
              </a:rPr>
              <a:t>•  DBA_AUTOTASK_* 조회 · 윈도우 조정 · 리소스 변경 → 팩 무관</a:t>
            </a:r>
          </a:p>
          <a:p>
            <a:pPr algn="l">
              <a:spcAft>
                <a:spcPts val="600"/>
              </a:spcAft>
            </a:pPr>
            <a:r>
              <a:rPr sz="1700" b="0">
                <a:solidFill>
                  <a:srgbClr val="222222"/>
                </a:solidFill>
                <a:latin typeface="맑은 고딕"/>
              </a:rPr>
              <a:t>•  대안: 인덱스 설계는 실행계획 분석, 계획 안정은 SQL Plan Baseline</a:t>
            </a:r>
          </a:p>
        </p:txBody>
      </p:sp>
    </p:spTree>
    <p:extLst>
      <p:ext uri="{BB962C8B-B14F-4D97-AF65-F5344CB8AC3E}">
        <p14:creationId xmlns:p14="http://schemas.microsoft.com/office/powerpoint/2010/main" val="1779236550"/>
      </p:ext>
    </p:extLst>
  </p:cSld>
  <p:clrMapOvr>
    <a:masterClrMapping/>
  </p:clrMapOvr>
</p:sld>
</file>

<file path=ppt/slides/slide1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30.4</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SQL Tuning Advisor — 두 실측 사례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600"/>
              </a:spcAft>
            </a:pPr>
            <a:r>
              <a:rPr sz="1600" b="0">
                <a:solidFill>
                  <a:srgbClr val="FFFFFF"/>
                </a:solidFill>
                <a:latin typeface="맑은 고딕"/>
              </a:rPr>
              <a:t>•  권고 종류: 통계·프로파일·인덱스·재작성</a:t>
            </a:r>
          </a:p>
          <a:p>
            <a:pPr algn="l">
              <a:spcAft>
                <a:spcPts val="600"/>
              </a:spcAft>
            </a:pPr>
            <a:r>
              <a:rPr sz="1600" b="0">
                <a:solidFill>
                  <a:srgbClr val="FFFFFF"/>
                </a:solidFill>
                <a:latin typeface="맑은 고딕"/>
              </a:rPr>
              <a:t>•  사례 1: '권고 없음'(이미 최적) / 사례 2: benefit 99.64%</a:t>
            </a:r>
          </a:p>
          <a:p>
            <a:pPr algn="l">
              <a:spcAft>
                <a:spcPts val="600"/>
              </a:spcAft>
            </a:pPr>
            <a:r>
              <a:rPr sz="1600" b="0">
                <a:solidFill>
                  <a:srgbClr val="FFFFFF"/>
                </a:solidFill>
                <a:latin typeface="맑은 고딕"/>
              </a:rPr>
              <a:t>•  핵심 — 어드바이저는 항상 권고하지 않는다</a:t>
            </a:r>
          </a:p>
        </p:txBody>
      </p:sp>
    </p:spTree>
    <p:extLst>
      <p:ext uri="{BB962C8B-B14F-4D97-AF65-F5344CB8AC3E}">
        <p14:creationId xmlns:p14="http://schemas.microsoft.com/office/powerpoint/2010/main" val="1615522820"/>
      </p:ext>
    </p:extLst>
  </p:cSld>
  <p:clrMapOvr>
    <a:masterClrMapping/>
  </p:clrMapOvr>
</p:sld>
</file>

<file path=ppt/slides/slide1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무엇을 권고하는가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네 종류, 우선순위로 읽는다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600"/>
              </a:spcAft>
            </a:pPr>
            <a:r>
              <a:rPr sz="1700" b="0">
                <a:solidFill>
                  <a:srgbClr val="222222"/>
                </a:solidFill>
                <a:latin typeface="맑은 고딕"/>
              </a:rPr>
              <a:t>•  통계 — 가장 먼저, 가장 안전 (통계만 바꿔도 계획 개선)</a:t>
            </a:r>
          </a:p>
          <a:p>
            <a:pPr algn="l">
              <a:spcAft>
                <a:spcPts val="600"/>
              </a:spcAft>
            </a:pPr>
            <a:r>
              <a:rPr sz="1700" b="0">
                <a:solidFill>
                  <a:srgbClr val="222222"/>
                </a:solidFill>
                <a:latin typeface="맑은 고딕"/>
              </a:rPr>
              <a:t>•  SQL 프로파일 — SQL 안 고치고 계획만 보정 (근본 해결 아님)</a:t>
            </a:r>
          </a:p>
          <a:p>
            <a:pPr algn="l">
              <a:spcAft>
                <a:spcPts val="600"/>
              </a:spcAft>
            </a:pPr>
            <a:r>
              <a:rPr sz="1700" b="0">
                <a:solidFill>
                  <a:srgbClr val="222222"/>
                </a:solidFill>
                <a:latin typeface="맑은 고딕"/>
              </a:rPr>
              <a:t>•  인덱스 — 단일 문장 기준, 워크로드 전체는 Access Advisor로</a:t>
            </a:r>
          </a:p>
          <a:p>
            <a:pPr algn="l">
              <a:spcAft>
                <a:spcPts val="600"/>
              </a:spcAft>
            </a:pPr>
            <a:r>
              <a:rPr sz="1700" b="0">
                <a:solidFill>
                  <a:srgbClr val="222222"/>
                </a:solidFill>
                <a:latin typeface="맑은 고딕"/>
              </a:rPr>
              <a:t>•  재작성 — 개발 협의 필요, 이 과정의 종착점(SQLT로 이관)</a:t>
            </a:r>
          </a:p>
        </p:txBody>
      </p:sp>
    </p:spTree>
    <p:extLst>
      <p:ext uri="{BB962C8B-B14F-4D97-AF65-F5344CB8AC3E}">
        <p14:creationId xmlns:p14="http://schemas.microsoft.com/office/powerpoint/2010/main" val="700551325"/>
      </p:ext>
    </p:extLst>
  </p:cSld>
  <p:clrMapOvr>
    <a:masterClrMapping/>
  </p:clrMapOvr>
</p:sld>
</file>

<file path=ppt/slides/slide1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SQL 프로파일 — 매력과 함정</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가장 손쉬워 보이지만 가장 신중히</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600"/>
              </a:spcAft>
            </a:pPr>
            <a:r>
              <a:rPr sz="1700" b="0">
                <a:solidFill>
                  <a:srgbClr val="222222"/>
                </a:solidFill>
                <a:latin typeface="맑은 고딕"/>
              </a:rPr>
              <a:t>•  SQL 텍스트를 안 고치고 카디널리티 보정 힌트를 딕셔너리에 저장</a:t>
            </a:r>
          </a:p>
          <a:p>
            <a:pPr algn="l">
              <a:spcAft>
                <a:spcPts val="600"/>
              </a:spcAft>
            </a:pPr>
            <a:r>
              <a:rPr sz="1700" b="0">
                <a:solidFill>
                  <a:srgbClr val="222222"/>
                </a:solidFill>
                <a:latin typeface="맑은 고딕"/>
              </a:rPr>
              <a:t>•  즉시 효과 → 매력적. 그러나 데이터 분포 바뀌면 보정이 틀어짐</a:t>
            </a:r>
          </a:p>
          <a:p>
            <a:pPr algn="l">
              <a:spcAft>
                <a:spcPts val="600"/>
              </a:spcAft>
            </a:pPr>
            <a:r>
              <a:rPr sz="1700" b="0">
                <a:solidFill>
                  <a:srgbClr val="222222"/>
                </a:solidFill>
                <a:latin typeface="맑은 고딕"/>
              </a:rPr>
              <a:t>•  SQL 자체의 나쁜 구조는 그대로 남는다 → 근본 해결 아님</a:t>
            </a:r>
          </a:p>
          <a:p>
            <a:pPr algn="l">
              <a:spcAft>
                <a:spcPts val="600"/>
              </a:spcAft>
            </a:pPr>
            <a:r>
              <a:rPr sz="1700" b="0">
                <a:solidFill>
                  <a:srgbClr val="222222"/>
                </a:solidFill>
                <a:latin typeface="맑은 고딕"/>
              </a:rPr>
              <a:t>•  Common Error: SQL 프로파일을 근본 해결로 착각</a:t>
            </a:r>
          </a:p>
          <a:p>
            <a:pPr algn="l">
              <a:spcAft>
                <a:spcPts val="600"/>
              </a:spcAft>
            </a:pPr>
            <a:r>
              <a:rPr sz="1700" b="0">
                <a:solidFill>
                  <a:srgbClr val="222222"/>
                </a:solidFill>
                <a:latin typeface="맑은 고딕"/>
              </a:rPr>
              <a:t>•  응급 처치로 쓰고 근본 원인(통계·인덱스·구조)은 별도 추적</a:t>
            </a:r>
          </a:p>
        </p:txBody>
      </p:sp>
    </p:spTree>
    <p:extLst>
      <p:ext uri="{BB962C8B-B14F-4D97-AF65-F5344CB8AC3E}">
        <p14:creationId xmlns:p14="http://schemas.microsoft.com/office/powerpoint/2010/main" val="3481278058"/>
      </p:ext>
    </p:extLst>
  </p:cSld>
  <p:clrMapOvr>
    <a:masterClrMapping/>
  </p:clrMapOvr>
</p:sld>
</file>

<file path=ppt/slides/slide1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사례 1 — 권고가 없는 경우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SQL 9vmszgd1ft9x0 (전체 집계) 실측</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tlCol="0" anchor="ctr"/>
          <a:lstStyle/>
          <a:p>
            <a:pPr>
              <a:lnSpc>
                <a:spcPct val="100000"/>
              </a:lnSpc>
              <a:spcAft>
                <a:spcPts val="0"/>
              </a:spcAft>
            </a:pPr>
            <a:r>
              <a:rPr sz="1250" dirty="0" err="1">
                <a:solidFill>
                  <a:srgbClr val="F2F2F2"/>
                </a:solidFill>
                <a:latin typeface="Consolas"/>
              </a:rPr>
              <a:t>SYS@orcl</a:t>
            </a:r>
            <a:r>
              <a:rPr sz="1250" dirty="0">
                <a:solidFill>
                  <a:srgbClr val="F2F2F2"/>
                </a:solidFill>
                <a:latin typeface="Consolas"/>
              </a:rPr>
              <a:t>&gt; t := DBMS_SQLTUNE.CREATE_TUNING_TASK(</a:t>
            </a:r>
          </a:p>
          <a:p>
            <a:pPr>
              <a:lnSpc>
                <a:spcPct val="100000"/>
              </a:lnSpc>
              <a:spcAft>
                <a:spcPts val="0"/>
              </a:spcAft>
            </a:pPr>
            <a:r>
              <a:rPr sz="1250" dirty="0">
                <a:solidFill>
                  <a:srgbClr val="F2F2F2"/>
                </a:solidFill>
                <a:latin typeface="Consolas"/>
              </a:rPr>
              <a:t>            </a:t>
            </a:r>
            <a:r>
              <a:rPr sz="1250" dirty="0" err="1">
                <a:solidFill>
                  <a:srgbClr val="F2F2F2"/>
                </a:solidFill>
                <a:latin typeface="Consolas"/>
              </a:rPr>
              <a:t>sql_id</a:t>
            </a:r>
            <a:r>
              <a:rPr sz="1250" dirty="0">
                <a:solidFill>
                  <a:srgbClr val="F2F2F2"/>
                </a:solidFill>
                <a:latin typeface="Consolas"/>
              </a:rPr>
              <a:t>=&gt;'9vmszgd1ft9x0', scope=&gt;'COMPREHENSIVE');</a:t>
            </a:r>
          </a:p>
          <a:p>
            <a:pPr>
              <a:lnSpc>
                <a:spcPct val="100000"/>
              </a:lnSpc>
              <a:spcAft>
                <a:spcPts val="0"/>
              </a:spcAft>
            </a:pPr>
            <a:r>
              <a:rPr sz="1250" dirty="0" err="1">
                <a:solidFill>
                  <a:srgbClr val="F2F2F2"/>
                </a:solidFill>
                <a:latin typeface="Consolas"/>
              </a:rPr>
              <a:t>SYS@orcl</a:t>
            </a:r>
            <a:r>
              <a:rPr sz="1250" dirty="0">
                <a:solidFill>
                  <a:srgbClr val="F2F2F2"/>
                </a:solidFill>
                <a:latin typeface="Consolas"/>
              </a:rPr>
              <a:t>&gt; DBMS_SQLTUNE.EXECUTE_TUNING_TASK(...);</a:t>
            </a:r>
          </a:p>
          <a:p>
            <a:pPr>
              <a:lnSpc>
                <a:spcPct val="100000"/>
              </a:lnSpc>
              <a:spcAft>
                <a:spcPts val="0"/>
              </a:spcAft>
            </a:pPr>
            <a:r>
              <a:rPr sz="1250" dirty="0" err="1">
                <a:solidFill>
                  <a:srgbClr val="F2F2F2"/>
                </a:solidFill>
                <a:latin typeface="Consolas"/>
              </a:rPr>
              <a:t>SYS@orcl</a:t>
            </a:r>
            <a:r>
              <a:rPr sz="1250" dirty="0">
                <a:solidFill>
                  <a:srgbClr val="F2F2F2"/>
                </a:solidFill>
                <a:latin typeface="Consolas"/>
              </a:rPr>
              <a:t>&gt; SELECT DBMS_SQLTUNE.REPORT_TUNING_TASK(...) FROM dual;</a:t>
            </a:r>
          </a:p>
          <a:p>
            <a:pPr>
              <a:lnSpc>
                <a:spcPct val="100000"/>
              </a:lnSpc>
              <a:spcAft>
                <a:spcPts val="0"/>
              </a:spcAft>
            </a:pPr>
            <a:r>
              <a:rPr sz="1250" dirty="0">
                <a:solidFill>
                  <a:srgbClr val="F2F2F2"/>
                </a:solidFill>
                <a:latin typeface="Consolas"/>
              </a:rPr>
              <a:t> </a:t>
            </a:r>
          </a:p>
          <a:p>
            <a:pPr>
              <a:lnSpc>
                <a:spcPct val="100000"/>
              </a:lnSpc>
              <a:spcAft>
                <a:spcPts val="0"/>
              </a:spcAft>
            </a:pPr>
            <a:r>
              <a:rPr sz="1250" dirty="0">
                <a:solidFill>
                  <a:srgbClr val="F2F2F2"/>
                </a:solidFill>
                <a:latin typeface="Consolas"/>
              </a:rPr>
              <a:t>SQL Text : select /*+ full(d) */ count(*), sum(</a:t>
            </a:r>
            <a:r>
              <a:rPr sz="1250" dirty="0" err="1">
                <a:solidFill>
                  <a:srgbClr val="F2F2F2"/>
                </a:solidFill>
                <a:latin typeface="Consolas"/>
              </a:rPr>
              <a:t>d.amt</a:t>
            </a:r>
            <a:r>
              <a:rPr sz="1250" dirty="0">
                <a:solidFill>
                  <a:srgbClr val="F2F2F2"/>
                </a:solidFill>
                <a:latin typeface="Consolas"/>
              </a:rPr>
              <a:t>)</a:t>
            </a:r>
          </a:p>
          <a:p>
            <a:pPr>
              <a:lnSpc>
                <a:spcPct val="100000"/>
              </a:lnSpc>
              <a:spcAft>
                <a:spcPts val="0"/>
              </a:spcAft>
            </a:pPr>
            <a:r>
              <a:rPr sz="1250" dirty="0">
                <a:solidFill>
                  <a:srgbClr val="F2F2F2"/>
                </a:solidFill>
                <a:latin typeface="Consolas"/>
              </a:rPr>
              <a:t>           from </a:t>
            </a:r>
            <a:r>
              <a:rPr sz="1250" dirty="0" err="1">
                <a:solidFill>
                  <a:srgbClr val="F2F2F2"/>
                </a:solidFill>
                <a:latin typeface="Consolas"/>
              </a:rPr>
              <a:t>claim_details</a:t>
            </a:r>
            <a:r>
              <a:rPr sz="1250" dirty="0">
                <a:solidFill>
                  <a:srgbClr val="F2F2F2"/>
                </a:solidFill>
                <a:latin typeface="Consolas"/>
              </a:rPr>
              <a:t> d</a:t>
            </a:r>
          </a:p>
          <a:p>
            <a:pPr>
              <a:lnSpc>
                <a:spcPct val="100000"/>
              </a:lnSpc>
              <a:spcAft>
                <a:spcPts val="0"/>
              </a:spcAft>
            </a:pPr>
            <a:r>
              <a:rPr sz="1250" dirty="0">
                <a:solidFill>
                  <a:srgbClr val="F2F2F2"/>
                </a:solidFill>
                <a:latin typeface="Consolas"/>
              </a:rPr>
              <a:t>----------------------------------------------------------</a:t>
            </a:r>
          </a:p>
          <a:p>
            <a:pPr>
              <a:lnSpc>
                <a:spcPct val="100000"/>
              </a:lnSpc>
              <a:spcAft>
                <a:spcPts val="0"/>
              </a:spcAft>
            </a:pPr>
            <a:r>
              <a:rPr sz="1250" dirty="0">
                <a:solidFill>
                  <a:srgbClr val="F2F2F2"/>
                </a:solidFill>
                <a:latin typeface="Consolas"/>
              </a:rPr>
              <a:t>There are no recommendations to improve the statement.</a:t>
            </a:r>
          </a:p>
        </p:txBody>
      </p:sp>
    </p:spTree>
    <p:extLst>
      <p:ext uri="{BB962C8B-B14F-4D97-AF65-F5344CB8AC3E}">
        <p14:creationId xmlns:p14="http://schemas.microsoft.com/office/powerpoint/2010/main" val="1644701607"/>
      </p:ext>
    </p:extLst>
  </p:cSld>
  <p:clrMapOvr>
    <a:masterClrMapping/>
  </p:clrMapOvr>
</p:sld>
</file>

<file path=ppt/slides/slide1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사례 2 — 인덱스 권고 (benefit 99.64%)</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선택 조건 SQL, PK만 있어 전체 스캔</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tlCol="0" anchor="ctr"/>
          <a:lstStyle/>
          <a:p>
            <a:pPr>
              <a:lnSpc>
                <a:spcPct val="100000"/>
              </a:lnSpc>
              <a:spcAft>
                <a:spcPts val="0"/>
              </a:spcAft>
            </a:pPr>
            <a:r>
              <a:rPr sz="1250" dirty="0">
                <a:solidFill>
                  <a:srgbClr val="F2F2F2"/>
                </a:solidFill>
                <a:latin typeface="Consolas"/>
              </a:rPr>
              <a:t>FINDINGS SECTION (1 finding)</a:t>
            </a:r>
          </a:p>
          <a:p>
            <a:pPr>
              <a:lnSpc>
                <a:spcPct val="100000"/>
              </a:lnSpc>
              <a:spcAft>
                <a:spcPts val="0"/>
              </a:spcAft>
            </a:pPr>
            <a:r>
              <a:rPr sz="1250" dirty="0">
                <a:solidFill>
                  <a:srgbClr val="F2F2F2"/>
                </a:solidFill>
                <a:latin typeface="Consolas"/>
              </a:rPr>
              <a:t>1- Index Finding</a:t>
            </a:r>
          </a:p>
          <a:p>
            <a:pPr>
              <a:lnSpc>
                <a:spcPct val="100000"/>
              </a:lnSpc>
              <a:spcAft>
                <a:spcPts val="0"/>
              </a:spcAft>
            </a:pPr>
            <a:r>
              <a:rPr sz="1250" dirty="0">
                <a:solidFill>
                  <a:srgbClr val="F2F2F2"/>
                </a:solidFill>
                <a:latin typeface="Consolas"/>
              </a:rPr>
              <a:t>  Recommendation (estimated benefit: 99.64%)</a:t>
            </a:r>
          </a:p>
          <a:p>
            <a:pPr>
              <a:lnSpc>
                <a:spcPct val="100000"/>
              </a:lnSpc>
              <a:spcAft>
                <a:spcPts val="0"/>
              </a:spcAft>
            </a:pPr>
            <a:r>
              <a:rPr sz="1250" dirty="0">
                <a:solidFill>
                  <a:srgbClr val="F2F2F2"/>
                </a:solidFill>
                <a:latin typeface="Consolas"/>
              </a:rPr>
              <a:t>  create index SQLT.IDX$$_02860001 on SQLT.MEDICAL_CLAIMS</a:t>
            </a:r>
          </a:p>
          <a:p>
            <a:pPr>
              <a:lnSpc>
                <a:spcPct val="100000"/>
              </a:lnSpc>
              <a:spcAft>
                <a:spcPts val="0"/>
              </a:spcAft>
            </a:pPr>
            <a:r>
              <a:rPr sz="1250" dirty="0">
                <a:solidFill>
                  <a:srgbClr val="F2F2F2"/>
                </a:solidFill>
                <a:latin typeface="Consolas"/>
              </a:rPr>
              <a:t>   ("HOSP_ID","RECEIPT_DATE","CLAIM_ID","TOTAL_AMT");</a:t>
            </a:r>
          </a:p>
          <a:p>
            <a:pPr>
              <a:lnSpc>
                <a:spcPct val="100000"/>
              </a:lnSpc>
              <a:spcAft>
                <a:spcPts val="0"/>
              </a:spcAft>
            </a:pPr>
            <a:r>
              <a:rPr sz="1250" dirty="0">
                <a:solidFill>
                  <a:srgbClr val="F2F2F2"/>
                </a:solidFill>
                <a:latin typeface="Consolas"/>
              </a:rPr>
              <a:t> </a:t>
            </a:r>
          </a:p>
          <a:p>
            <a:pPr>
              <a:lnSpc>
                <a:spcPct val="100000"/>
              </a:lnSpc>
              <a:spcAft>
                <a:spcPts val="0"/>
              </a:spcAft>
            </a:pPr>
            <a:r>
              <a:rPr sz="1250" dirty="0">
                <a:solidFill>
                  <a:srgbClr val="F2F2F2"/>
                </a:solidFill>
                <a:latin typeface="Consolas"/>
              </a:rPr>
              <a:t>EXPLAIN PLANS SECTION — 1- Original</a:t>
            </a:r>
          </a:p>
          <a:p>
            <a:pPr>
              <a:lnSpc>
                <a:spcPct val="100000"/>
              </a:lnSpc>
              <a:spcAft>
                <a:spcPts val="0"/>
              </a:spcAft>
            </a:pPr>
            <a:r>
              <a:rPr sz="1250" dirty="0">
                <a:solidFill>
                  <a:srgbClr val="F2F2F2"/>
                </a:solidFill>
                <a:latin typeface="Consolas"/>
              </a:rPr>
              <a:t>|*  1 |  TABLE ACCESS FULL| MEDICAL_CLAIMS | cost 856 |</a:t>
            </a:r>
          </a:p>
        </p:txBody>
      </p:sp>
    </p:spTree>
    <p:extLst>
      <p:ext uri="{BB962C8B-B14F-4D97-AF65-F5344CB8AC3E}">
        <p14:creationId xmlns:p14="http://schemas.microsoft.com/office/powerpoint/2010/main" val="1163433838"/>
      </p:ext>
    </p:extLst>
  </p:cSld>
  <p:clrMapOvr>
    <a:masterClrMapping/>
  </p:clrMapOvr>
</p:sld>
</file>

<file path=ppt/slides/slide1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두 사례의 대조 — 핵심 교훈</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어드바이저는 항상 권고하지 않는다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600"/>
              </a:spcAft>
            </a:pPr>
            <a:r>
              <a:rPr sz="1700" b="0">
                <a:solidFill>
                  <a:srgbClr val="222222"/>
                </a:solidFill>
                <a:latin typeface="맑은 고딕"/>
              </a:rPr>
              <a:t>•  같은 어드바이저·같은 실행 → 한쪽은 침묵, 한쪽은 99.64%</a:t>
            </a:r>
          </a:p>
          <a:p>
            <a:pPr algn="l">
              <a:spcAft>
                <a:spcPts val="600"/>
              </a:spcAft>
            </a:pPr>
            <a:r>
              <a:rPr sz="1700" b="0">
                <a:solidFill>
                  <a:srgbClr val="222222"/>
                </a:solidFill>
                <a:latin typeface="맑은 고딕"/>
              </a:rPr>
              <a:t>•  차이는 SQL 성격 — 전체 집계는 인덱스 무익, 소수 조회는 결정적</a:t>
            </a:r>
          </a:p>
          <a:p>
            <a:pPr algn="l">
              <a:spcAft>
                <a:spcPts val="600"/>
              </a:spcAft>
            </a:pPr>
            <a:r>
              <a:rPr sz="1700" b="0">
                <a:solidFill>
                  <a:srgbClr val="222222"/>
                </a:solidFill>
                <a:latin typeface="맑은 고딕"/>
              </a:rPr>
              <a:t>•  오판 1: '권고 없음 = 쓸모없음' (아니다, 이미 최적의 확인)</a:t>
            </a:r>
          </a:p>
          <a:p>
            <a:pPr algn="l">
              <a:spcAft>
                <a:spcPts val="600"/>
              </a:spcAft>
            </a:pPr>
            <a:r>
              <a:rPr sz="1700" b="0">
                <a:solidFill>
                  <a:srgbClr val="222222"/>
                </a:solidFill>
                <a:latin typeface="맑은 고딕"/>
              </a:rPr>
              <a:t>•  오판 2: 'benefit 99.64% = 무조건 생성' (단일 문장 기준일 뿐)</a:t>
            </a:r>
          </a:p>
          <a:p>
            <a:pPr algn="l">
              <a:spcAft>
                <a:spcPts val="600"/>
              </a:spcAft>
            </a:pPr>
            <a:r>
              <a:rPr sz="1700" b="0">
                <a:solidFill>
                  <a:srgbClr val="222222"/>
                </a:solidFill>
                <a:latin typeface="맑은 고딕"/>
              </a:rPr>
              <a:t>•  권고는 결론이 아니라 검증할 가설이다</a:t>
            </a:r>
          </a:p>
        </p:txBody>
      </p:sp>
    </p:spTree>
    <p:extLst>
      <p:ext uri="{BB962C8B-B14F-4D97-AF65-F5344CB8AC3E}">
        <p14:creationId xmlns:p14="http://schemas.microsoft.com/office/powerpoint/2010/main" val="991391973"/>
      </p:ext>
    </p:extLst>
  </p:cSld>
  <p:clrMapOvr>
    <a:masterClrMapping/>
  </p:clrMapOvr>
</p:sld>
</file>

<file path=ppt/slides/slide1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benefit을 그대로 믿었다가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실무 시나리오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600"/>
              </a:spcAft>
            </a:pPr>
            <a:r>
              <a:rPr sz="1700" b="0">
                <a:solidFill>
                  <a:srgbClr val="222222"/>
                </a:solidFill>
                <a:latin typeface="맑은 고딕"/>
              </a:rPr>
              <a:t>•  개발팀이 benefit 99.64%만 보고 인덱스를 운영에 생성</a:t>
            </a:r>
          </a:p>
          <a:p>
            <a:pPr algn="l">
              <a:spcAft>
                <a:spcPts val="600"/>
              </a:spcAft>
            </a:pPr>
            <a:r>
              <a:rPr sz="1700" b="0">
                <a:solidFill>
                  <a:srgbClr val="222222"/>
                </a:solidFill>
                <a:latin typeface="맑은 고딕"/>
              </a:rPr>
              <a:t>•  조회는 빨라졌으나 대량 INSERT 배치가 20% 느려짐</a:t>
            </a:r>
          </a:p>
          <a:p>
            <a:pPr algn="l">
              <a:spcAft>
                <a:spcPts val="600"/>
              </a:spcAft>
            </a:pPr>
            <a:r>
              <a:rPr sz="1700" b="0">
                <a:solidFill>
                  <a:srgbClr val="222222"/>
                </a:solidFill>
                <a:latin typeface="맑은 고딕"/>
              </a:rPr>
              <a:t>•  빠진 것: 인덱스 유지 비용(쓰기)을 보지 않음</a:t>
            </a:r>
          </a:p>
          <a:p>
            <a:pPr algn="l">
              <a:spcAft>
                <a:spcPts val="600"/>
              </a:spcAft>
            </a:pPr>
            <a:r>
              <a:rPr sz="1700" b="0">
                <a:solidFill>
                  <a:srgbClr val="222222"/>
                </a:solidFill>
                <a:latin typeface="맑은 고딕"/>
              </a:rPr>
              <a:t>•  어드바이저 rationale: '대표 워크로드로 Access Advisor를 돌려라'</a:t>
            </a:r>
          </a:p>
          <a:p>
            <a:pPr algn="l">
              <a:spcAft>
                <a:spcPts val="600"/>
              </a:spcAft>
            </a:pPr>
            <a:r>
              <a:rPr sz="1700" b="0">
                <a:solidFill>
                  <a:srgbClr val="222222"/>
                </a:solidFill>
                <a:latin typeface="맑은 고딕"/>
              </a:rPr>
              <a:t>•  실습은 권고 확인까지만 — 인덱스 미생성(Before 상태 유지)</a:t>
            </a:r>
          </a:p>
        </p:txBody>
      </p:sp>
    </p:spTree>
    <p:extLst>
      <p:ext uri="{BB962C8B-B14F-4D97-AF65-F5344CB8AC3E}">
        <p14:creationId xmlns:p14="http://schemas.microsoft.com/office/powerpoint/2010/main" val="4105932302"/>
      </p:ext>
    </p:extLst>
  </p:cSld>
  <p:clrMapOvr>
    <a:masterClrMapping/>
  </p:clrMapOvr>
</p:sld>
</file>

<file path=ppt/slides/slide1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자동 SQL 튜닝과 자동 채택</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밤마다 도는 SYS_AUTO_SQL_TUNING_TASK</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600"/>
              </a:spcAft>
            </a:pPr>
            <a:r>
              <a:rPr sz="1700" b="0">
                <a:solidFill>
                  <a:srgbClr val="222222"/>
                </a:solidFill>
                <a:latin typeface="맑은 고딕"/>
              </a:rPr>
              <a:t>•  자동 작업이 고부하 SQL을 골라 같은 분석 수행</a:t>
            </a:r>
          </a:p>
          <a:p>
            <a:pPr algn="l">
              <a:spcAft>
                <a:spcPts val="600"/>
              </a:spcAft>
            </a:pPr>
            <a:r>
              <a:rPr sz="1700" b="0">
                <a:solidFill>
                  <a:srgbClr val="222222"/>
                </a:solidFill>
                <a:latin typeface="맑은 고딕"/>
              </a:rPr>
              <a:t>•  REPORT_AUTO_TUNING_TASK로 결과 조회 (🔒 Tuning Pack)</a:t>
            </a:r>
          </a:p>
          <a:p>
            <a:pPr algn="l">
              <a:spcAft>
                <a:spcPts val="600"/>
              </a:spcAft>
            </a:pPr>
            <a:r>
              <a:rPr sz="1700" b="0">
                <a:solidFill>
                  <a:srgbClr val="222222"/>
                </a:solidFill>
                <a:latin typeface="맑은 고딕"/>
              </a:rPr>
              <a:t>•  ACCEPT_SQL_PROFILES 기본 FALSE — 자동 채택 꺼짐(권장)</a:t>
            </a:r>
          </a:p>
          <a:p>
            <a:pPr algn="l">
              <a:spcAft>
                <a:spcPts val="600"/>
              </a:spcAft>
            </a:pPr>
            <a:r>
              <a:rPr sz="1700" b="0">
                <a:solidFill>
                  <a:srgbClr val="222222"/>
                </a:solidFill>
                <a:latin typeface="맑은 고딕"/>
              </a:rPr>
              <a:t>•  발견된 프로파일은 검토 후 수동 ACCEPT — 그래도 응급 처치</a:t>
            </a:r>
          </a:p>
        </p:txBody>
      </p:sp>
    </p:spTree>
    <p:extLst>
      <p:ext uri="{BB962C8B-B14F-4D97-AF65-F5344CB8AC3E}">
        <p14:creationId xmlns:p14="http://schemas.microsoft.com/office/powerpoint/2010/main" val="937424060"/>
      </p:ext>
    </p:extLst>
  </p:cSld>
  <p:clrMapOvr>
    <a:masterClrMapping/>
  </p:clrMapOvr>
</p:sld>
</file>

<file path=ppt/slides/slide1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30.5</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SQL Access Advisor</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600"/>
              </a:spcAft>
            </a:pPr>
            <a:r>
              <a:rPr sz="1600" b="0">
                <a:solidFill>
                  <a:srgbClr val="FFFFFF"/>
                </a:solidFill>
                <a:latin typeface="맑은 고딕"/>
              </a:rPr>
              <a:t>•  SQL Tuning Advisor와의 차이 — 단일 vs 워크로드</a:t>
            </a:r>
          </a:p>
          <a:p>
            <a:pPr algn="l">
              <a:spcAft>
                <a:spcPts val="600"/>
              </a:spcAft>
            </a:pPr>
            <a:r>
              <a:rPr sz="1600" b="0">
                <a:solidFill>
                  <a:srgbClr val="FFFFFF"/>
                </a:solidFill>
                <a:latin typeface="맑은 고딕"/>
              </a:rPr>
              <a:t>•  인덱스·구체화 뷰 권고와 DDL 스크립트</a:t>
            </a:r>
          </a:p>
          <a:p>
            <a:pPr algn="l">
              <a:spcAft>
                <a:spcPts val="600"/>
              </a:spcAft>
            </a:pPr>
            <a:r>
              <a:rPr sz="1600" b="0">
                <a:solidFill>
                  <a:srgbClr val="FFFFFF"/>
                </a:solidFill>
                <a:latin typeface="맑은 고딕"/>
              </a:rPr>
              <a:t>•  채택 판단 — 유지 비용·공간·중복</a:t>
            </a:r>
          </a:p>
        </p:txBody>
      </p:sp>
    </p:spTree>
    <p:extLst>
      <p:ext uri="{BB962C8B-B14F-4D97-AF65-F5344CB8AC3E}">
        <p14:creationId xmlns:p14="http://schemas.microsoft.com/office/powerpoint/2010/main" val="4232203584"/>
      </p:ext>
    </p:extLst>
  </p:cSld>
  <p:clrMapOvr>
    <a:masterClrMapping/>
  </p:clrMapOvr>
</p:sld>
</file>

<file path=ppt/slides/slide1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SQL Tuning Advisor와 무엇이 다른가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층위가 다르다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600"/>
              </a:spcAft>
            </a:pPr>
            <a:r>
              <a:rPr sz="1700" b="0">
                <a:solidFill>
                  <a:srgbClr val="222222"/>
                </a:solidFill>
                <a:latin typeface="맑은 고딕"/>
              </a:rPr>
              <a:t>•  SQL Tuning: SQL 한 문장을 어떻게 잘 돌게 할까</a:t>
            </a:r>
          </a:p>
          <a:p>
            <a:pPr algn="l">
              <a:spcAft>
                <a:spcPts val="600"/>
              </a:spcAft>
            </a:pPr>
            <a:r>
              <a:rPr sz="1700" b="0">
                <a:solidFill>
                  <a:srgbClr val="222222"/>
                </a:solidFill>
                <a:latin typeface="맑은 고딕"/>
              </a:rPr>
              <a:t>•  SQL Access: 워크로드 전체에 어떤 물리 구조가 최적일까</a:t>
            </a:r>
          </a:p>
          <a:p>
            <a:pPr algn="l">
              <a:spcAft>
                <a:spcPts val="600"/>
              </a:spcAft>
            </a:pPr>
            <a:r>
              <a:rPr sz="1700" b="0">
                <a:solidFill>
                  <a:srgbClr val="222222"/>
                </a:solidFill>
                <a:latin typeface="맑은 고딕"/>
              </a:rPr>
              <a:t>•  권고: 인덱스 + 구체화 뷰(MV) + MV 로그 + 파티셔닝</a:t>
            </a:r>
          </a:p>
          <a:p>
            <a:pPr algn="l">
              <a:spcAft>
                <a:spcPts val="600"/>
              </a:spcAft>
            </a:pPr>
            <a:r>
              <a:rPr sz="1700" b="0">
                <a:solidFill>
                  <a:srgbClr val="222222"/>
                </a:solidFill>
                <a:latin typeface="맑은 고딕"/>
              </a:rPr>
              <a:t>•  인덱스 유지 비용·공간까지 종합 고려 (DBMS_ADVISOR)</a:t>
            </a:r>
          </a:p>
        </p:txBody>
      </p:sp>
    </p:spTree>
    <p:extLst>
      <p:ext uri="{BB962C8B-B14F-4D97-AF65-F5344CB8AC3E}">
        <p14:creationId xmlns:p14="http://schemas.microsoft.com/office/powerpoint/2010/main" val="2483631069"/>
      </p:ext>
    </p:extLst>
  </p:cSld>
  <p:clrMapOvr>
    <a:masterClrMapping/>
  </p:clrMapOvr>
</p:sld>
</file>

<file path=ppt/slides/slide1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실행 흐름과 채택 판단</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QUICK_TUNE / GET_TASK_SCRIPT (🔒 Tuning Pack)</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tlCol="0" anchor="ctr"/>
          <a:lstStyle/>
          <a:p>
            <a:pPr>
              <a:lnSpc>
                <a:spcPct val="100000"/>
              </a:lnSpc>
              <a:spcAft>
                <a:spcPts val="0"/>
              </a:spcAft>
            </a:pPr>
            <a:r>
              <a:rPr sz="1250" dirty="0" err="1">
                <a:solidFill>
                  <a:srgbClr val="F2F2F2"/>
                </a:solidFill>
                <a:latin typeface="Consolas"/>
              </a:rPr>
              <a:t>SYS@orcl</a:t>
            </a:r>
            <a:r>
              <a:rPr sz="1250" dirty="0">
                <a:solidFill>
                  <a:srgbClr val="F2F2F2"/>
                </a:solidFill>
                <a:latin typeface="Consolas"/>
              </a:rPr>
              <a:t>&gt; EXEC DBMS_ADVISOR.QUICK_TUNE(</a:t>
            </a:r>
          </a:p>
          <a:p>
            <a:pPr>
              <a:lnSpc>
                <a:spcPct val="100000"/>
              </a:lnSpc>
              <a:spcAft>
                <a:spcPts val="0"/>
              </a:spcAft>
            </a:pPr>
            <a:r>
              <a:rPr sz="1250" dirty="0">
                <a:solidFill>
                  <a:srgbClr val="F2F2F2"/>
                </a:solidFill>
                <a:latin typeface="Consolas"/>
              </a:rPr>
              <a:t>&gt;   </a:t>
            </a:r>
            <a:r>
              <a:rPr sz="1250" dirty="0" err="1">
                <a:solidFill>
                  <a:srgbClr val="F2F2F2"/>
                </a:solidFill>
                <a:latin typeface="Consolas"/>
              </a:rPr>
              <a:t>advisor_name</a:t>
            </a:r>
            <a:r>
              <a:rPr sz="1250" dirty="0">
                <a:solidFill>
                  <a:srgbClr val="F2F2F2"/>
                </a:solidFill>
                <a:latin typeface="Consolas"/>
              </a:rPr>
              <a:t>=&gt;DBMS_ADVISOR.SQLACCESS_ADVISOR,</a:t>
            </a:r>
          </a:p>
          <a:p>
            <a:pPr>
              <a:lnSpc>
                <a:spcPct val="100000"/>
              </a:lnSpc>
              <a:spcAft>
                <a:spcPts val="0"/>
              </a:spcAft>
            </a:pPr>
            <a:r>
              <a:rPr sz="1250" dirty="0">
                <a:solidFill>
                  <a:srgbClr val="F2F2F2"/>
                </a:solidFill>
                <a:latin typeface="Consolas"/>
              </a:rPr>
              <a:t>&gt;   </a:t>
            </a:r>
            <a:r>
              <a:rPr sz="1250" dirty="0" err="1">
                <a:solidFill>
                  <a:srgbClr val="F2F2F2"/>
                </a:solidFill>
                <a:latin typeface="Consolas"/>
              </a:rPr>
              <a:t>task_name</a:t>
            </a:r>
            <a:r>
              <a:rPr sz="1250" dirty="0">
                <a:solidFill>
                  <a:srgbClr val="F2F2F2"/>
                </a:solidFill>
                <a:latin typeface="Consolas"/>
              </a:rPr>
              <a:t>=&gt;'QT_CLAIMS', attr1=&gt;:</a:t>
            </a:r>
            <a:r>
              <a:rPr sz="1250" dirty="0" err="1">
                <a:solidFill>
                  <a:srgbClr val="F2F2F2"/>
                </a:solidFill>
                <a:latin typeface="Consolas"/>
              </a:rPr>
              <a:t>sql</a:t>
            </a:r>
            <a:r>
              <a:rPr sz="1250" dirty="0">
                <a:solidFill>
                  <a:srgbClr val="F2F2F2"/>
                </a:solidFill>
                <a:latin typeface="Consolas"/>
              </a:rPr>
              <a:t>);</a:t>
            </a:r>
          </a:p>
          <a:p>
            <a:pPr>
              <a:lnSpc>
                <a:spcPct val="100000"/>
              </a:lnSpc>
              <a:spcAft>
                <a:spcPts val="0"/>
              </a:spcAft>
            </a:pPr>
            <a:r>
              <a:rPr sz="1250" dirty="0" err="1">
                <a:solidFill>
                  <a:srgbClr val="F2F2F2"/>
                </a:solidFill>
                <a:latin typeface="Consolas"/>
              </a:rPr>
              <a:t>SYS@orcl</a:t>
            </a:r>
            <a:r>
              <a:rPr sz="1250" dirty="0">
                <a:solidFill>
                  <a:srgbClr val="F2F2F2"/>
                </a:solidFill>
                <a:latin typeface="Consolas"/>
              </a:rPr>
              <a:t>&gt; SELECT DBMS_ADVISOR.GET_TASK_SCRIPT('QT_CLAIMS')</a:t>
            </a:r>
          </a:p>
          <a:p>
            <a:pPr>
              <a:lnSpc>
                <a:spcPct val="100000"/>
              </a:lnSpc>
              <a:spcAft>
                <a:spcPts val="0"/>
              </a:spcAft>
            </a:pPr>
            <a:r>
              <a:rPr sz="1250" dirty="0">
                <a:solidFill>
                  <a:srgbClr val="F2F2F2"/>
                </a:solidFill>
                <a:latin typeface="Consolas"/>
              </a:rPr>
              <a:t>  2       FROM dual;   -- </a:t>
            </a:r>
            <a:r>
              <a:rPr sz="1250" dirty="0" err="1">
                <a:solidFill>
                  <a:srgbClr val="F2F2F2"/>
                </a:solidFill>
                <a:latin typeface="Consolas"/>
              </a:rPr>
              <a:t>권고</a:t>
            </a:r>
            <a:r>
              <a:rPr sz="1250" dirty="0">
                <a:solidFill>
                  <a:srgbClr val="F2F2F2"/>
                </a:solidFill>
                <a:latin typeface="Consolas"/>
              </a:rPr>
              <a:t> DDL </a:t>
            </a:r>
            <a:r>
              <a:rPr sz="1250" dirty="0" err="1">
                <a:solidFill>
                  <a:srgbClr val="F2F2F2"/>
                </a:solidFill>
                <a:latin typeface="Consolas"/>
              </a:rPr>
              <a:t>확인</a:t>
            </a:r>
            <a:r>
              <a:rPr sz="1250" dirty="0">
                <a:solidFill>
                  <a:srgbClr val="F2F2F2"/>
                </a:solidFill>
                <a:latin typeface="Consolas"/>
              </a:rPr>
              <a:t>(</a:t>
            </a:r>
            <a:r>
              <a:rPr sz="1250" dirty="0" err="1">
                <a:solidFill>
                  <a:srgbClr val="F2F2F2"/>
                </a:solidFill>
                <a:latin typeface="Consolas"/>
              </a:rPr>
              <a:t>적용</a:t>
            </a:r>
            <a:r>
              <a:rPr sz="1250" dirty="0">
                <a:solidFill>
                  <a:srgbClr val="F2F2F2"/>
                </a:solidFill>
                <a:latin typeface="Consolas"/>
              </a:rPr>
              <a:t> 안 함)</a:t>
            </a:r>
          </a:p>
          <a:p>
            <a:pPr>
              <a:lnSpc>
                <a:spcPct val="100000"/>
              </a:lnSpc>
              <a:spcAft>
                <a:spcPts val="0"/>
              </a:spcAft>
            </a:pPr>
            <a:r>
              <a:rPr sz="1250" dirty="0">
                <a:solidFill>
                  <a:srgbClr val="F2F2F2"/>
                </a:solidFill>
                <a:latin typeface="Consolas"/>
              </a:rPr>
              <a:t> </a:t>
            </a:r>
          </a:p>
          <a:p>
            <a:pPr>
              <a:lnSpc>
                <a:spcPct val="100000"/>
              </a:lnSpc>
              <a:spcAft>
                <a:spcPts val="0"/>
              </a:spcAft>
            </a:pPr>
            <a:r>
              <a:rPr sz="1250" dirty="0" err="1">
                <a:solidFill>
                  <a:srgbClr val="F2F2F2"/>
                </a:solidFill>
                <a:latin typeface="Consolas"/>
              </a:rPr>
              <a:t>채택</a:t>
            </a:r>
            <a:r>
              <a:rPr sz="1250" dirty="0">
                <a:solidFill>
                  <a:srgbClr val="F2F2F2"/>
                </a:solidFill>
                <a:latin typeface="Consolas"/>
              </a:rPr>
              <a:t> </a:t>
            </a:r>
            <a:r>
              <a:rPr sz="1250" dirty="0" err="1">
                <a:solidFill>
                  <a:srgbClr val="F2F2F2"/>
                </a:solidFill>
                <a:latin typeface="Consolas"/>
              </a:rPr>
              <a:t>판단</a:t>
            </a:r>
            <a:r>
              <a:rPr sz="1250" dirty="0">
                <a:solidFill>
                  <a:srgbClr val="F2F2F2"/>
                </a:solidFill>
                <a:latin typeface="Consolas"/>
              </a:rPr>
              <a:t>: </a:t>
            </a:r>
            <a:r>
              <a:rPr sz="1250" dirty="0" err="1">
                <a:solidFill>
                  <a:srgbClr val="F2F2F2"/>
                </a:solidFill>
                <a:latin typeface="Consolas"/>
              </a:rPr>
              <a:t>기존</a:t>
            </a:r>
            <a:r>
              <a:rPr sz="1250" dirty="0">
                <a:solidFill>
                  <a:srgbClr val="F2F2F2"/>
                </a:solidFill>
                <a:latin typeface="Consolas"/>
              </a:rPr>
              <a:t> </a:t>
            </a:r>
            <a:r>
              <a:rPr sz="1250" dirty="0" err="1">
                <a:solidFill>
                  <a:srgbClr val="F2F2F2"/>
                </a:solidFill>
                <a:latin typeface="Consolas"/>
              </a:rPr>
              <a:t>인덱스와</a:t>
            </a:r>
            <a:r>
              <a:rPr sz="1250" dirty="0">
                <a:solidFill>
                  <a:srgbClr val="F2F2F2"/>
                </a:solidFill>
                <a:latin typeface="Consolas"/>
              </a:rPr>
              <a:t> </a:t>
            </a:r>
            <a:r>
              <a:rPr sz="1250" dirty="0" err="1">
                <a:solidFill>
                  <a:srgbClr val="F2F2F2"/>
                </a:solidFill>
                <a:latin typeface="Consolas"/>
              </a:rPr>
              <a:t>중복</a:t>
            </a:r>
            <a:r>
              <a:rPr sz="1250" dirty="0">
                <a:solidFill>
                  <a:srgbClr val="F2F2F2"/>
                </a:solidFill>
                <a:latin typeface="Consolas"/>
              </a:rPr>
              <a:t>? </a:t>
            </a:r>
            <a:r>
              <a:rPr sz="1250" dirty="0" err="1">
                <a:solidFill>
                  <a:srgbClr val="F2F2F2"/>
                </a:solidFill>
                <a:latin typeface="Consolas"/>
              </a:rPr>
              <a:t>쓰기</a:t>
            </a:r>
            <a:r>
              <a:rPr sz="1250" dirty="0">
                <a:solidFill>
                  <a:srgbClr val="F2F2F2"/>
                </a:solidFill>
                <a:latin typeface="Consolas"/>
              </a:rPr>
              <a:t> </a:t>
            </a:r>
            <a:r>
              <a:rPr sz="1250" dirty="0" err="1">
                <a:solidFill>
                  <a:srgbClr val="F2F2F2"/>
                </a:solidFill>
                <a:latin typeface="Consolas"/>
              </a:rPr>
              <a:t>빈도</a:t>
            </a:r>
            <a:r>
              <a:rPr sz="1250" dirty="0">
                <a:solidFill>
                  <a:srgbClr val="F2F2F2"/>
                </a:solidFill>
                <a:latin typeface="Consolas"/>
              </a:rPr>
              <a:t>? MV </a:t>
            </a:r>
            <a:r>
              <a:rPr sz="1250" dirty="0" err="1">
                <a:solidFill>
                  <a:srgbClr val="F2F2F2"/>
                </a:solidFill>
                <a:latin typeface="Consolas"/>
              </a:rPr>
              <a:t>갱신</a:t>
            </a:r>
            <a:r>
              <a:rPr sz="1250" dirty="0">
                <a:solidFill>
                  <a:srgbClr val="F2F2F2"/>
                </a:solidFill>
                <a:latin typeface="Consolas"/>
              </a:rPr>
              <a:t> </a:t>
            </a:r>
            <a:r>
              <a:rPr sz="1250" dirty="0" err="1">
                <a:solidFill>
                  <a:srgbClr val="F2F2F2"/>
                </a:solidFill>
                <a:latin typeface="Consolas"/>
              </a:rPr>
              <a:t>주기</a:t>
            </a:r>
            <a:r>
              <a:rPr sz="1250" dirty="0">
                <a:solidFill>
                  <a:srgbClr val="F2F2F2"/>
                </a:solidFill>
                <a:latin typeface="Consolas"/>
              </a:rPr>
              <a:t>?</a:t>
            </a:r>
          </a:p>
          <a:p>
            <a:pPr>
              <a:lnSpc>
                <a:spcPct val="100000"/>
              </a:lnSpc>
              <a:spcAft>
                <a:spcPts val="0"/>
              </a:spcAft>
            </a:pPr>
            <a:r>
              <a:rPr sz="1250" dirty="0">
                <a:solidFill>
                  <a:srgbClr val="F2F2F2"/>
                </a:solidFill>
                <a:latin typeface="Consolas"/>
              </a:rPr>
              <a:t>         </a:t>
            </a:r>
            <a:r>
              <a:rPr sz="1250" dirty="0" err="1">
                <a:solidFill>
                  <a:srgbClr val="F2F2F2"/>
                </a:solidFill>
                <a:latin typeface="Consolas"/>
              </a:rPr>
              <a:t>대표</a:t>
            </a:r>
            <a:r>
              <a:rPr sz="1250" dirty="0">
                <a:solidFill>
                  <a:srgbClr val="F2F2F2"/>
                </a:solidFill>
                <a:latin typeface="Consolas"/>
              </a:rPr>
              <a:t> </a:t>
            </a:r>
            <a:r>
              <a:rPr sz="1250" dirty="0" err="1">
                <a:solidFill>
                  <a:srgbClr val="F2F2F2"/>
                </a:solidFill>
                <a:latin typeface="Consolas"/>
              </a:rPr>
              <a:t>워크로드로</a:t>
            </a:r>
            <a:r>
              <a:rPr sz="1250" dirty="0">
                <a:solidFill>
                  <a:srgbClr val="F2F2F2"/>
                </a:solidFill>
                <a:latin typeface="Consolas"/>
              </a:rPr>
              <a:t> </a:t>
            </a:r>
            <a:r>
              <a:rPr sz="1250" dirty="0" err="1">
                <a:solidFill>
                  <a:srgbClr val="F2F2F2"/>
                </a:solidFill>
                <a:latin typeface="Consolas"/>
              </a:rPr>
              <a:t>돌렸나</a:t>
            </a:r>
            <a:r>
              <a:rPr sz="1250" dirty="0">
                <a:solidFill>
                  <a:srgbClr val="F2F2F2"/>
                </a:solidFill>
                <a:latin typeface="Consolas"/>
              </a:rPr>
              <a:t>? </a:t>
            </a:r>
            <a:r>
              <a:rPr sz="1250" dirty="0" err="1">
                <a:solidFill>
                  <a:srgbClr val="F2F2F2"/>
                </a:solidFill>
                <a:latin typeface="Consolas"/>
              </a:rPr>
              <a:t>테스트</a:t>
            </a:r>
            <a:r>
              <a:rPr sz="1250" dirty="0">
                <a:solidFill>
                  <a:srgbClr val="F2F2F2"/>
                </a:solidFill>
                <a:latin typeface="Consolas"/>
              </a:rPr>
              <a:t> 후 before/after </a:t>
            </a:r>
            <a:r>
              <a:rPr sz="1250" dirty="0" err="1">
                <a:solidFill>
                  <a:srgbClr val="F2F2F2"/>
                </a:solidFill>
                <a:latin typeface="Consolas"/>
              </a:rPr>
              <a:t>판정</a:t>
            </a:r>
            <a:endParaRPr sz="1250" dirty="0">
              <a:solidFill>
                <a:srgbClr val="F2F2F2"/>
              </a:solidFill>
              <a:latin typeface="Consolas"/>
            </a:endParaRPr>
          </a:p>
        </p:txBody>
      </p:sp>
    </p:spTree>
    <p:extLst>
      <p:ext uri="{BB962C8B-B14F-4D97-AF65-F5344CB8AC3E}">
        <p14:creationId xmlns:p14="http://schemas.microsoft.com/office/powerpoint/2010/main" val="2864352159"/>
      </p:ext>
    </p:extLst>
  </p:cSld>
  <p:clrMapOvr>
    <a:masterClrMapping/>
  </p:clrMapOvr>
</p:sld>
</file>

<file path=ppt/slides/slide1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30.6</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SQL Performance Analyzer (SPA)</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600"/>
              </a:spcAft>
            </a:pPr>
            <a:r>
              <a:rPr sz="1600" b="0">
                <a:solidFill>
                  <a:srgbClr val="FFFFFF"/>
                </a:solidFill>
                <a:latin typeface="맑은 고딕"/>
              </a:rPr>
              <a:t>•  변경 전후를 SQL 집합으로 비교</a:t>
            </a:r>
          </a:p>
          <a:p>
            <a:pPr algn="l">
              <a:spcAft>
                <a:spcPts val="600"/>
              </a:spcAft>
            </a:pPr>
            <a:r>
              <a:rPr sz="1600" b="0">
                <a:solidFill>
                  <a:srgbClr val="FFFFFF"/>
                </a:solidFill>
                <a:latin typeface="맑은 고딕"/>
              </a:rPr>
              <a:t>•  before / after / COMPARE PERFORMANCE</a:t>
            </a:r>
          </a:p>
          <a:p>
            <a:pPr algn="l">
              <a:spcAft>
                <a:spcPts val="600"/>
              </a:spcAft>
            </a:pPr>
            <a:r>
              <a:rPr sz="1600" b="0">
                <a:solidFill>
                  <a:srgbClr val="FFFFFF"/>
                </a:solidFill>
                <a:latin typeface="맑은 고딕"/>
              </a:rPr>
              <a:t>•  회귀 SQL만 골라 대응</a:t>
            </a:r>
          </a:p>
        </p:txBody>
      </p:sp>
    </p:spTree>
    <p:extLst>
      <p:ext uri="{BB962C8B-B14F-4D97-AF65-F5344CB8AC3E}">
        <p14:creationId xmlns:p14="http://schemas.microsoft.com/office/powerpoint/2010/main" val="2588596241"/>
      </p:ext>
    </p:extLst>
  </p:cSld>
  <p:clrMapOvr>
    <a:masterClrMapping/>
  </p:clrMapOvr>
</p:sld>
</file>

<file path=ppt/slides/slide1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변경 전후 비교 흐름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DBMS_SQLPA, STS 기반 (🔒 Tuning Pack)</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tlCol="0" anchor="ctr"/>
          <a:lstStyle/>
          <a:p>
            <a:pPr>
              <a:lnSpc>
                <a:spcPct val="100000"/>
              </a:lnSpc>
              <a:spcAft>
                <a:spcPts val="0"/>
              </a:spcAft>
            </a:pPr>
            <a:r>
              <a:rPr sz="1250" dirty="0">
                <a:solidFill>
                  <a:srgbClr val="F2F2F2"/>
                </a:solidFill>
                <a:latin typeface="Consolas"/>
              </a:rPr>
              <a:t>-- (1) </a:t>
            </a:r>
            <a:r>
              <a:rPr sz="1250" dirty="0" err="1">
                <a:solidFill>
                  <a:srgbClr val="F2F2F2"/>
                </a:solidFill>
                <a:latin typeface="Consolas"/>
              </a:rPr>
              <a:t>분석</a:t>
            </a:r>
            <a:r>
              <a:rPr sz="1250" dirty="0">
                <a:solidFill>
                  <a:srgbClr val="F2F2F2"/>
                </a:solidFill>
                <a:latin typeface="Consolas"/>
              </a:rPr>
              <a:t> </a:t>
            </a:r>
            <a:r>
              <a:rPr sz="1250" dirty="0" err="1">
                <a:solidFill>
                  <a:srgbClr val="F2F2F2"/>
                </a:solidFill>
                <a:latin typeface="Consolas"/>
              </a:rPr>
              <a:t>태스크</a:t>
            </a:r>
            <a:r>
              <a:rPr sz="1250" dirty="0">
                <a:solidFill>
                  <a:srgbClr val="F2F2F2"/>
                </a:solidFill>
                <a:latin typeface="Consolas"/>
              </a:rPr>
              <a:t> </a:t>
            </a:r>
            <a:r>
              <a:rPr sz="1250" dirty="0" err="1">
                <a:solidFill>
                  <a:srgbClr val="F2F2F2"/>
                </a:solidFill>
                <a:latin typeface="Consolas"/>
              </a:rPr>
              <a:t>생성</a:t>
            </a:r>
            <a:r>
              <a:rPr sz="1250" dirty="0">
                <a:solidFill>
                  <a:srgbClr val="F2F2F2"/>
                </a:solidFill>
                <a:latin typeface="Consolas"/>
              </a:rPr>
              <a:t> (STS </a:t>
            </a:r>
            <a:r>
              <a:rPr sz="1250" dirty="0" err="1">
                <a:solidFill>
                  <a:srgbClr val="F2F2F2"/>
                </a:solidFill>
                <a:latin typeface="Consolas"/>
              </a:rPr>
              <a:t>기반</a:t>
            </a:r>
            <a:r>
              <a:rPr sz="1250" dirty="0">
                <a:solidFill>
                  <a:srgbClr val="F2F2F2"/>
                </a:solidFill>
                <a:latin typeface="Consolas"/>
              </a:rPr>
              <a:t>)</a:t>
            </a:r>
          </a:p>
          <a:p>
            <a:pPr>
              <a:lnSpc>
                <a:spcPct val="100000"/>
              </a:lnSpc>
              <a:spcAft>
                <a:spcPts val="0"/>
              </a:spcAft>
            </a:pPr>
            <a:r>
              <a:rPr sz="1250" dirty="0">
                <a:solidFill>
                  <a:srgbClr val="F2F2F2"/>
                </a:solidFill>
                <a:latin typeface="Consolas"/>
              </a:rPr>
              <a:t>EXEC :t:=DBMS_SQLPA.CREATE_ANALYSIS_TASK(</a:t>
            </a:r>
            <a:r>
              <a:rPr sz="1250" dirty="0" err="1">
                <a:solidFill>
                  <a:srgbClr val="F2F2F2"/>
                </a:solidFill>
                <a:latin typeface="Consolas"/>
              </a:rPr>
              <a:t>sqlset_name</a:t>
            </a:r>
            <a:r>
              <a:rPr sz="1250" dirty="0">
                <a:solidFill>
                  <a:srgbClr val="F2F2F2"/>
                </a:solidFill>
                <a:latin typeface="Consolas"/>
              </a:rPr>
              <a:t>=&gt;'CLAIMS_STS',...);</a:t>
            </a:r>
          </a:p>
          <a:p>
            <a:pPr>
              <a:lnSpc>
                <a:spcPct val="100000"/>
              </a:lnSpc>
              <a:spcAft>
                <a:spcPts val="0"/>
              </a:spcAft>
            </a:pPr>
            <a:r>
              <a:rPr sz="1250" dirty="0">
                <a:solidFill>
                  <a:srgbClr val="F2F2F2"/>
                </a:solidFill>
                <a:latin typeface="Consolas"/>
              </a:rPr>
              <a:t>-- (2) before </a:t>
            </a:r>
            <a:r>
              <a:rPr sz="1250" dirty="0" err="1">
                <a:solidFill>
                  <a:srgbClr val="F2F2F2"/>
                </a:solidFill>
                <a:latin typeface="Consolas"/>
              </a:rPr>
              <a:t>측정</a:t>
            </a:r>
            <a:r>
              <a:rPr sz="1250" dirty="0">
                <a:solidFill>
                  <a:srgbClr val="F2F2F2"/>
                </a:solidFill>
                <a:latin typeface="Consolas"/>
              </a:rPr>
              <a:t>  </a:t>
            </a:r>
            <a:r>
              <a:rPr sz="1250" dirty="0" err="1">
                <a:solidFill>
                  <a:srgbClr val="F2F2F2"/>
                </a:solidFill>
                <a:latin typeface="Consolas"/>
              </a:rPr>
              <a:t>execution_type</a:t>
            </a:r>
            <a:r>
              <a:rPr sz="1250" dirty="0">
                <a:solidFill>
                  <a:srgbClr val="F2F2F2"/>
                </a:solidFill>
                <a:latin typeface="Consolas"/>
              </a:rPr>
              <a:t>=&gt;'TEST EXECUTE'</a:t>
            </a:r>
          </a:p>
          <a:p>
            <a:pPr>
              <a:lnSpc>
                <a:spcPct val="100000"/>
              </a:lnSpc>
              <a:spcAft>
                <a:spcPts val="0"/>
              </a:spcAft>
            </a:pPr>
            <a:r>
              <a:rPr sz="1250" dirty="0">
                <a:solidFill>
                  <a:srgbClr val="F2F2F2"/>
                </a:solidFill>
                <a:latin typeface="Consolas"/>
              </a:rPr>
              <a:t>-- (3) </a:t>
            </a:r>
            <a:r>
              <a:rPr sz="1250" dirty="0" err="1">
                <a:solidFill>
                  <a:srgbClr val="F2F2F2"/>
                </a:solidFill>
                <a:latin typeface="Consolas"/>
              </a:rPr>
              <a:t>환경</a:t>
            </a:r>
            <a:r>
              <a:rPr sz="1250" dirty="0">
                <a:solidFill>
                  <a:srgbClr val="F2F2F2"/>
                </a:solidFill>
                <a:latin typeface="Consolas"/>
              </a:rPr>
              <a:t> </a:t>
            </a:r>
            <a:r>
              <a:rPr sz="1250" dirty="0" err="1">
                <a:solidFill>
                  <a:srgbClr val="F2F2F2"/>
                </a:solidFill>
                <a:latin typeface="Consolas"/>
              </a:rPr>
              <a:t>변경</a:t>
            </a:r>
            <a:r>
              <a:rPr sz="1250" dirty="0">
                <a:solidFill>
                  <a:srgbClr val="F2F2F2"/>
                </a:solidFill>
                <a:latin typeface="Consolas"/>
              </a:rPr>
              <a:t>   ALTER SESSION SET </a:t>
            </a:r>
            <a:r>
              <a:rPr sz="1250" dirty="0" err="1">
                <a:solidFill>
                  <a:srgbClr val="F2F2F2"/>
                </a:solidFill>
                <a:latin typeface="Consolas"/>
              </a:rPr>
              <a:t>optimizer_index_cost_adj</a:t>
            </a:r>
            <a:r>
              <a:rPr sz="1250" dirty="0">
                <a:solidFill>
                  <a:srgbClr val="F2F2F2"/>
                </a:solidFill>
                <a:latin typeface="Consolas"/>
              </a:rPr>
              <a:t>=20;</a:t>
            </a:r>
          </a:p>
          <a:p>
            <a:pPr>
              <a:lnSpc>
                <a:spcPct val="100000"/>
              </a:lnSpc>
              <a:spcAft>
                <a:spcPts val="0"/>
              </a:spcAft>
            </a:pPr>
            <a:r>
              <a:rPr sz="1250" dirty="0">
                <a:solidFill>
                  <a:srgbClr val="F2F2F2"/>
                </a:solidFill>
                <a:latin typeface="Consolas"/>
              </a:rPr>
              <a:t>-- (4) after </a:t>
            </a:r>
            <a:r>
              <a:rPr sz="1250" dirty="0" err="1">
                <a:solidFill>
                  <a:srgbClr val="F2F2F2"/>
                </a:solidFill>
                <a:latin typeface="Consolas"/>
              </a:rPr>
              <a:t>측정</a:t>
            </a:r>
            <a:endParaRPr sz="1250" dirty="0">
              <a:solidFill>
                <a:srgbClr val="F2F2F2"/>
              </a:solidFill>
              <a:latin typeface="Consolas"/>
            </a:endParaRPr>
          </a:p>
          <a:p>
            <a:pPr>
              <a:lnSpc>
                <a:spcPct val="100000"/>
              </a:lnSpc>
              <a:spcAft>
                <a:spcPts val="0"/>
              </a:spcAft>
            </a:pPr>
            <a:r>
              <a:rPr sz="1250" dirty="0">
                <a:solidFill>
                  <a:srgbClr val="F2F2F2"/>
                </a:solidFill>
                <a:latin typeface="Consolas"/>
              </a:rPr>
              <a:t>-- (5) COMPARE PERFORMANCE (</a:t>
            </a:r>
            <a:r>
              <a:rPr sz="1250" dirty="0" err="1">
                <a:solidFill>
                  <a:srgbClr val="F2F2F2"/>
                </a:solidFill>
                <a:latin typeface="Consolas"/>
              </a:rPr>
              <a:t>comparison_metric</a:t>
            </a:r>
            <a:r>
              <a:rPr sz="1250" dirty="0">
                <a:solidFill>
                  <a:srgbClr val="F2F2F2"/>
                </a:solidFill>
                <a:latin typeface="Consolas"/>
              </a:rPr>
              <a:t>=</a:t>
            </a:r>
            <a:r>
              <a:rPr sz="1250" dirty="0" err="1">
                <a:solidFill>
                  <a:srgbClr val="F2F2F2"/>
                </a:solidFill>
                <a:latin typeface="Consolas"/>
              </a:rPr>
              <a:t>elapsed_time</a:t>
            </a:r>
            <a:r>
              <a:rPr sz="1250" dirty="0">
                <a:solidFill>
                  <a:srgbClr val="F2F2F2"/>
                </a:solidFill>
                <a:latin typeface="Consolas"/>
              </a:rPr>
              <a:t>)</a:t>
            </a:r>
          </a:p>
          <a:p>
            <a:pPr>
              <a:lnSpc>
                <a:spcPct val="100000"/>
              </a:lnSpc>
              <a:spcAft>
                <a:spcPts val="0"/>
              </a:spcAft>
            </a:pPr>
            <a:r>
              <a:rPr sz="1250" dirty="0">
                <a:solidFill>
                  <a:srgbClr val="F2F2F2"/>
                </a:solidFill>
                <a:latin typeface="Consolas"/>
              </a:rPr>
              <a:t>-- (6) REPORT_ANALYSIS_TASK(type=&gt;'TEXT', section=&gt;'SUMMARY')</a:t>
            </a:r>
          </a:p>
          <a:p>
            <a:pPr>
              <a:lnSpc>
                <a:spcPct val="100000"/>
              </a:lnSpc>
              <a:spcAft>
                <a:spcPts val="0"/>
              </a:spcAft>
            </a:pPr>
            <a:r>
              <a:rPr sz="1250" dirty="0">
                <a:solidFill>
                  <a:srgbClr val="F2F2F2"/>
                </a:solidFill>
                <a:latin typeface="Consolas"/>
              </a:rPr>
              <a:t>  Improved:&lt;</a:t>
            </a:r>
            <a:r>
              <a:rPr sz="1250" dirty="0" err="1">
                <a:solidFill>
                  <a:srgbClr val="F2F2F2"/>
                </a:solidFill>
                <a:latin typeface="Consolas"/>
              </a:rPr>
              <a:t>환경값</a:t>
            </a:r>
            <a:r>
              <a:rPr sz="1250" dirty="0">
                <a:solidFill>
                  <a:srgbClr val="F2F2F2"/>
                </a:solidFill>
                <a:latin typeface="Consolas"/>
              </a:rPr>
              <a:t>&gt;  Regressed:&lt;</a:t>
            </a:r>
            <a:r>
              <a:rPr sz="1250" dirty="0" err="1">
                <a:solidFill>
                  <a:srgbClr val="F2F2F2"/>
                </a:solidFill>
                <a:latin typeface="Consolas"/>
              </a:rPr>
              <a:t>환경값</a:t>
            </a:r>
            <a:r>
              <a:rPr sz="1250" dirty="0">
                <a:solidFill>
                  <a:srgbClr val="F2F2F2"/>
                </a:solidFill>
                <a:latin typeface="Consolas"/>
              </a:rPr>
              <a:t>&gt;  Unchanged:&lt;</a:t>
            </a:r>
            <a:r>
              <a:rPr sz="1250" dirty="0" err="1">
                <a:solidFill>
                  <a:srgbClr val="F2F2F2"/>
                </a:solidFill>
                <a:latin typeface="Consolas"/>
              </a:rPr>
              <a:t>환경값</a:t>
            </a:r>
            <a:r>
              <a:rPr sz="1250" dirty="0">
                <a:solidFill>
                  <a:srgbClr val="F2F2F2"/>
                </a:solidFill>
                <a:latin typeface="Consolas"/>
              </a:rPr>
              <a:t>&gt;</a:t>
            </a:r>
          </a:p>
        </p:txBody>
      </p:sp>
    </p:spTree>
    <p:extLst>
      <p:ext uri="{BB962C8B-B14F-4D97-AF65-F5344CB8AC3E}">
        <p14:creationId xmlns:p14="http://schemas.microsoft.com/office/powerpoint/2010/main" val="2268696683"/>
      </p:ext>
    </p:extLst>
  </p:cSld>
  <p:clrMapOvr>
    <a:masterClrMapping/>
  </p:clrMapOvr>
</p:sld>
</file>

<file path=ppt/slides/slide1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회귀 SQL 대응</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전체 이득은 취하고 회귀만 막는다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600"/>
              </a:spcAft>
            </a:pPr>
            <a:r>
              <a:rPr sz="1700" b="0">
                <a:solidFill>
                  <a:srgbClr val="222222"/>
                </a:solidFill>
                <a:latin typeface="맑은 고딕"/>
              </a:rPr>
              <a:t>•  변경이 전체 이득이어도 몇몇 SQL은 느려질 수 있다</a:t>
            </a:r>
          </a:p>
          <a:p>
            <a:pPr algn="l">
              <a:spcAft>
                <a:spcPts val="600"/>
              </a:spcAft>
            </a:pPr>
            <a:r>
              <a:rPr sz="1700" b="0">
                <a:solidFill>
                  <a:srgbClr val="222222"/>
                </a:solidFill>
                <a:latin typeface="맑은 고딕"/>
              </a:rPr>
              <a:t>•  SPA의 가치: 변경 적용 전에 회귀 SQL을 미리 골라냄</a:t>
            </a:r>
          </a:p>
          <a:p>
            <a:pPr algn="l">
              <a:spcAft>
                <a:spcPts val="600"/>
              </a:spcAft>
            </a:pPr>
            <a:r>
              <a:rPr sz="1700" b="0">
                <a:solidFill>
                  <a:srgbClr val="222222"/>
                </a:solidFill>
                <a:latin typeface="맑은 고딕"/>
              </a:rPr>
              <a:t>•  대응: 회귀 SQL만 SQL Plan Baseline으로 기존 계획 고정</a:t>
            </a:r>
          </a:p>
          <a:p>
            <a:pPr algn="l">
              <a:spcAft>
                <a:spcPts val="600"/>
              </a:spcAft>
            </a:pPr>
            <a:r>
              <a:rPr sz="1700" b="0">
                <a:solidFill>
                  <a:srgbClr val="222222"/>
                </a:solidFill>
                <a:latin typeface="맑은 고딕"/>
              </a:rPr>
              <a:t>•  Baseline은 SQL Plan Management 기능 — 팩 불필요</a:t>
            </a:r>
          </a:p>
        </p:txBody>
      </p:sp>
    </p:spTree>
    <p:extLst>
      <p:ext uri="{BB962C8B-B14F-4D97-AF65-F5344CB8AC3E}">
        <p14:creationId xmlns:p14="http://schemas.microsoft.com/office/powerpoint/2010/main" val="2040881118"/>
      </p:ext>
    </p:extLst>
  </p:cSld>
  <p:clrMapOvr>
    <a:masterClrMapping/>
  </p:clrMapOvr>
</p:sld>
</file>

<file path=ppt/slides/slide1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30.7</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SQL Plan Directives와 Adaptive Plans</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600"/>
              </a:spcAft>
            </a:pPr>
            <a:r>
              <a:rPr sz="1600" b="0">
                <a:solidFill>
                  <a:srgbClr val="FFFFFF"/>
                </a:solidFill>
                <a:latin typeface="맑은 고딕"/>
              </a:rPr>
              <a:t>•  옵티마이저의 자기 보정 — 실행 중/이후</a:t>
            </a:r>
          </a:p>
          <a:p>
            <a:pPr algn="l">
              <a:spcAft>
                <a:spcPts val="600"/>
              </a:spcAft>
            </a:pPr>
            <a:r>
              <a:rPr sz="1600" b="0">
                <a:solidFill>
                  <a:srgbClr val="FFFFFF"/>
                </a:solidFill>
                <a:latin typeface="맑은 고딕"/>
              </a:rPr>
              <a:t>•  Adaptive Plans(19c 기본 ON) · Directives</a:t>
            </a:r>
          </a:p>
          <a:p>
            <a:pPr algn="l">
              <a:spcAft>
                <a:spcPts val="600"/>
              </a:spcAft>
            </a:pPr>
            <a:r>
              <a:rPr sz="1600" b="0">
                <a:solidFill>
                  <a:srgbClr val="FFFFFF"/>
                </a:solidFill>
                <a:latin typeface="맑은 고딕"/>
              </a:rPr>
              <a:t>•  계획이 흔들릴 때의 대응 순서</a:t>
            </a:r>
          </a:p>
        </p:txBody>
      </p:sp>
    </p:spTree>
    <p:extLst>
      <p:ext uri="{BB962C8B-B14F-4D97-AF65-F5344CB8AC3E}">
        <p14:creationId xmlns:p14="http://schemas.microsoft.com/office/powerpoint/2010/main" val="637794928"/>
      </p:ext>
    </p:extLst>
  </p:cSld>
  <p:clrMapOvr>
    <a:masterClrMapping/>
  </p:clrMapOvr>
</p:sld>
</file>

<file path=ppt/slides/slide1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Adaptive Plans — 실행 중 결정</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19c 기본값 확인</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tlCol="0" anchor="ctr"/>
          <a:lstStyle/>
          <a:p>
            <a:pPr>
              <a:lnSpc>
                <a:spcPct val="100000"/>
              </a:lnSpc>
              <a:spcAft>
                <a:spcPts val="0"/>
              </a:spcAft>
            </a:pPr>
            <a:r>
              <a:rPr sz="1250" dirty="0" err="1">
                <a:solidFill>
                  <a:srgbClr val="F2F2F2"/>
                </a:solidFill>
                <a:latin typeface="Consolas"/>
              </a:rPr>
              <a:t>SYS@orcl</a:t>
            </a:r>
            <a:r>
              <a:rPr sz="1250" dirty="0">
                <a:solidFill>
                  <a:srgbClr val="F2F2F2"/>
                </a:solidFill>
                <a:latin typeface="Consolas"/>
              </a:rPr>
              <a:t>&gt; SHOW PARAMETER </a:t>
            </a:r>
            <a:r>
              <a:rPr sz="1250" dirty="0" err="1">
                <a:solidFill>
                  <a:srgbClr val="F2F2F2"/>
                </a:solidFill>
                <a:latin typeface="Consolas"/>
              </a:rPr>
              <a:t>optimizer_adaptive</a:t>
            </a:r>
            <a:endParaRPr sz="1250" dirty="0">
              <a:solidFill>
                <a:srgbClr val="F2F2F2"/>
              </a:solidFill>
              <a:latin typeface="Consolas"/>
            </a:endParaRPr>
          </a:p>
          <a:p>
            <a:pPr>
              <a:lnSpc>
                <a:spcPct val="100000"/>
              </a:lnSpc>
              <a:spcAft>
                <a:spcPts val="0"/>
              </a:spcAft>
            </a:pPr>
            <a:r>
              <a:rPr sz="1250" dirty="0">
                <a:solidFill>
                  <a:srgbClr val="F2F2F2"/>
                </a:solidFill>
                <a:latin typeface="Consolas"/>
              </a:rPr>
              <a:t> </a:t>
            </a:r>
          </a:p>
          <a:p>
            <a:pPr>
              <a:lnSpc>
                <a:spcPct val="100000"/>
              </a:lnSpc>
              <a:spcAft>
                <a:spcPts val="0"/>
              </a:spcAft>
            </a:pPr>
            <a:r>
              <a:rPr sz="1250" dirty="0">
                <a:solidFill>
                  <a:srgbClr val="F2F2F2"/>
                </a:solidFill>
                <a:latin typeface="Consolas"/>
              </a:rPr>
              <a:t>NAME                             TYPE      VALUE</a:t>
            </a:r>
          </a:p>
          <a:p>
            <a:pPr>
              <a:lnSpc>
                <a:spcPct val="100000"/>
              </a:lnSpc>
              <a:spcAft>
                <a:spcPts val="0"/>
              </a:spcAft>
            </a:pPr>
            <a:r>
              <a:rPr sz="1250" dirty="0">
                <a:solidFill>
                  <a:srgbClr val="F2F2F2"/>
                </a:solidFill>
                <a:latin typeface="Consolas"/>
              </a:rPr>
              <a:t>-------------------------------- --------- -------</a:t>
            </a:r>
          </a:p>
          <a:p>
            <a:pPr>
              <a:lnSpc>
                <a:spcPct val="100000"/>
              </a:lnSpc>
              <a:spcAft>
                <a:spcPts val="0"/>
              </a:spcAft>
            </a:pPr>
            <a:r>
              <a:rPr sz="1250" dirty="0" err="1">
                <a:solidFill>
                  <a:srgbClr val="F2F2F2"/>
                </a:solidFill>
                <a:latin typeface="Consolas"/>
              </a:rPr>
              <a:t>optimizer_adaptive_plans</a:t>
            </a:r>
            <a:r>
              <a:rPr sz="1250" dirty="0">
                <a:solidFill>
                  <a:srgbClr val="F2F2F2"/>
                </a:solidFill>
                <a:latin typeface="Consolas"/>
              </a:rPr>
              <a:t>         </a:t>
            </a:r>
            <a:r>
              <a:rPr sz="1250" dirty="0" err="1">
                <a:solidFill>
                  <a:srgbClr val="F2F2F2"/>
                </a:solidFill>
                <a:latin typeface="Consolas"/>
              </a:rPr>
              <a:t>boolean</a:t>
            </a:r>
            <a:r>
              <a:rPr sz="1250" dirty="0">
                <a:solidFill>
                  <a:srgbClr val="F2F2F2"/>
                </a:solidFill>
                <a:latin typeface="Consolas"/>
              </a:rPr>
              <a:t>   TRUE</a:t>
            </a:r>
          </a:p>
          <a:p>
            <a:pPr>
              <a:lnSpc>
                <a:spcPct val="100000"/>
              </a:lnSpc>
              <a:spcAft>
                <a:spcPts val="0"/>
              </a:spcAft>
            </a:pPr>
            <a:r>
              <a:rPr sz="1250" dirty="0" err="1">
                <a:solidFill>
                  <a:srgbClr val="F2F2F2"/>
                </a:solidFill>
                <a:latin typeface="Consolas"/>
              </a:rPr>
              <a:t>optimizer_adaptive_statistics</a:t>
            </a:r>
            <a:r>
              <a:rPr sz="1250" dirty="0">
                <a:solidFill>
                  <a:srgbClr val="F2F2F2"/>
                </a:solidFill>
                <a:latin typeface="Consolas"/>
              </a:rPr>
              <a:t>    </a:t>
            </a:r>
            <a:r>
              <a:rPr sz="1250" dirty="0" err="1">
                <a:solidFill>
                  <a:srgbClr val="F2F2F2"/>
                </a:solidFill>
                <a:latin typeface="Consolas"/>
              </a:rPr>
              <a:t>boolean</a:t>
            </a:r>
            <a:r>
              <a:rPr sz="1250" dirty="0">
                <a:solidFill>
                  <a:srgbClr val="F2F2F2"/>
                </a:solidFill>
                <a:latin typeface="Consolas"/>
              </a:rPr>
              <a:t>   FALSE</a:t>
            </a:r>
          </a:p>
          <a:p>
            <a:pPr>
              <a:lnSpc>
                <a:spcPct val="100000"/>
              </a:lnSpc>
              <a:spcAft>
                <a:spcPts val="0"/>
              </a:spcAft>
            </a:pPr>
            <a:r>
              <a:rPr sz="1250" dirty="0">
                <a:solidFill>
                  <a:srgbClr val="F2F2F2"/>
                </a:solidFill>
                <a:latin typeface="Consolas"/>
              </a:rPr>
              <a:t> </a:t>
            </a:r>
          </a:p>
          <a:p>
            <a:pPr>
              <a:lnSpc>
                <a:spcPct val="100000"/>
              </a:lnSpc>
              <a:spcAft>
                <a:spcPts val="0"/>
              </a:spcAft>
            </a:pPr>
            <a:r>
              <a:rPr sz="1250" dirty="0" err="1">
                <a:solidFill>
                  <a:srgbClr val="F2F2F2"/>
                </a:solidFill>
                <a:latin typeface="Consolas"/>
              </a:rPr>
              <a:t>계획</a:t>
            </a:r>
            <a:r>
              <a:rPr sz="1250" dirty="0">
                <a:solidFill>
                  <a:srgbClr val="F2F2F2"/>
                </a:solidFill>
                <a:latin typeface="Consolas"/>
              </a:rPr>
              <a:t>(PLANS) ON / </a:t>
            </a:r>
            <a:r>
              <a:rPr sz="1250" dirty="0" err="1">
                <a:solidFill>
                  <a:srgbClr val="F2F2F2"/>
                </a:solidFill>
                <a:latin typeface="Consolas"/>
              </a:rPr>
              <a:t>통계</a:t>
            </a:r>
            <a:r>
              <a:rPr sz="1250" dirty="0">
                <a:solidFill>
                  <a:srgbClr val="F2F2F2"/>
                </a:solidFill>
                <a:latin typeface="Consolas"/>
              </a:rPr>
              <a:t>(STATISTICS) OFF = </a:t>
            </a:r>
            <a:r>
              <a:rPr sz="1250" dirty="0" err="1">
                <a:solidFill>
                  <a:srgbClr val="F2F2F2"/>
                </a:solidFill>
                <a:latin typeface="Consolas"/>
              </a:rPr>
              <a:t>권장</a:t>
            </a:r>
            <a:r>
              <a:rPr sz="1250" dirty="0">
                <a:solidFill>
                  <a:srgbClr val="F2F2F2"/>
                </a:solidFill>
                <a:latin typeface="Consolas"/>
              </a:rPr>
              <a:t> </a:t>
            </a:r>
            <a:r>
              <a:rPr sz="1250" dirty="0" err="1">
                <a:solidFill>
                  <a:srgbClr val="F2F2F2"/>
                </a:solidFill>
                <a:latin typeface="Consolas"/>
              </a:rPr>
              <a:t>기본</a:t>
            </a:r>
            <a:endParaRPr sz="1250" dirty="0">
              <a:solidFill>
                <a:srgbClr val="F2F2F2"/>
              </a:solidFill>
              <a:latin typeface="Consolas"/>
            </a:endParaRPr>
          </a:p>
        </p:txBody>
      </p:sp>
    </p:spTree>
    <p:extLst>
      <p:ext uri="{BB962C8B-B14F-4D97-AF65-F5344CB8AC3E}">
        <p14:creationId xmlns:p14="http://schemas.microsoft.com/office/powerpoint/2010/main" val="3343760973"/>
      </p:ext>
    </p:extLst>
  </p:cSld>
  <p:clrMapOvr>
    <a:masterClrMapping/>
  </p:clrMapOvr>
</p:sld>
</file>

<file path=ppt/slides/slide1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SQL Plan Directives — 다음 실행 메모</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DBA_SQL_PLAN_DIRECTIVES</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tlCol="0" anchor="ctr"/>
          <a:lstStyle/>
          <a:p>
            <a:pPr>
              <a:lnSpc>
                <a:spcPct val="100000"/>
              </a:lnSpc>
              <a:spcAft>
                <a:spcPts val="0"/>
              </a:spcAft>
            </a:pPr>
            <a:r>
              <a:rPr sz="1250" dirty="0" err="1">
                <a:solidFill>
                  <a:srgbClr val="F2F2F2"/>
                </a:solidFill>
                <a:latin typeface="Consolas"/>
              </a:rPr>
              <a:t>SYS@orcl</a:t>
            </a:r>
            <a:r>
              <a:rPr sz="1250" dirty="0">
                <a:solidFill>
                  <a:srgbClr val="F2F2F2"/>
                </a:solidFill>
                <a:latin typeface="Consolas"/>
              </a:rPr>
              <a:t>&gt; SELECT </a:t>
            </a:r>
            <a:r>
              <a:rPr sz="1250" dirty="0" err="1">
                <a:solidFill>
                  <a:srgbClr val="F2F2F2"/>
                </a:solidFill>
                <a:latin typeface="Consolas"/>
              </a:rPr>
              <a:t>directive_id</a:t>
            </a:r>
            <a:r>
              <a:rPr sz="1250" dirty="0">
                <a:solidFill>
                  <a:srgbClr val="F2F2F2"/>
                </a:solidFill>
                <a:latin typeface="Consolas"/>
              </a:rPr>
              <a:t>, type, state, reason</a:t>
            </a:r>
          </a:p>
          <a:p>
            <a:pPr>
              <a:lnSpc>
                <a:spcPct val="100000"/>
              </a:lnSpc>
              <a:spcAft>
                <a:spcPts val="0"/>
              </a:spcAft>
            </a:pPr>
            <a:r>
              <a:rPr sz="1250" dirty="0">
                <a:solidFill>
                  <a:srgbClr val="F2F2F2"/>
                </a:solidFill>
                <a:latin typeface="Consolas"/>
              </a:rPr>
              <a:t>  2       FROM </a:t>
            </a:r>
            <a:r>
              <a:rPr sz="1250" dirty="0" err="1">
                <a:solidFill>
                  <a:srgbClr val="F2F2F2"/>
                </a:solidFill>
                <a:latin typeface="Consolas"/>
              </a:rPr>
              <a:t>dba_sql_plan_directives</a:t>
            </a:r>
            <a:r>
              <a:rPr sz="1250" dirty="0">
                <a:solidFill>
                  <a:srgbClr val="F2F2F2"/>
                </a:solidFill>
                <a:latin typeface="Consolas"/>
              </a:rPr>
              <a:t> WHERE ... MEDICAL_CLAIMS;</a:t>
            </a:r>
          </a:p>
          <a:p>
            <a:pPr>
              <a:lnSpc>
                <a:spcPct val="100000"/>
              </a:lnSpc>
              <a:spcAft>
                <a:spcPts val="0"/>
              </a:spcAft>
            </a:pPr>
            <a:r>
              <a:rPr sz="1250" dirty="0">
                <a:solidFill>
                  <a:srgbClr val="F2F2F2"/>
                </a:solidFill>
                <a:latin typeface="Consolas"/>
              </a:rPr>
              <a:t> </a:t>
            </a:r>
          </a:p>
          <a:p>
            <a:pPr>
              <a:lnSpc>
                <a:spcPct val="100000"/>
              </a:lnSpc>
              <a:spcAft>
                <a:spcPts val="0"/>
              </a:spcAft>
            </a:pPr>
            <a:r>
              <a:rPr sz="1250" dirty="0">
                <a:solidFill>
                  <a:srgbClr val="F2F2F2"/>
                </a:solidFill>
                <a:latin typeface="Consolas"/>
              </a:rPr>
              <a:t>DIRECTIVE_ID  TYPE             STATE   REASON</a:t>
            </a:r>
          </a:p>
          <a:p>
            <a:pPr>
              <a:lnSpc>
                <a:spcPct val="100000"/>
              </a:lnSpc>
              <a:spcAft>
                <a:spcPts val="0"/>
              </a:spcAft>
            </a:pPr>
            <a:r>
              <a:rPr sz="1250" dirty="0">
                <a:solidFill>
                  <a:srgbClr val="F2F2F2"/>
                </a:solidFill>
                <a:latin typeface="Consolas"/>
              </a:rPr>
              <a:t>------------  ---------------- ------- ----------------------</a:t>
            </a:r>
          </a:p>
          <a:p>
            <a:pPr>
              <a:lnSpc>
                <a:spcPct val="100000"/>
              </a:lnSpc>
              <a:spcAft>
                <a:spcPts val="0"/>
              </a:spcAft>
            </a:pPr>
            <a:r>
              <a:rPr sz="1250" dirty="0">
                <a:solidFill>
                  <a:srgbClr val="F2F2F2"/>
                </a:solidFill>
                <a:latin typeface="Consolas"/>
              </a:rPr>
              <a:t>&lt;</a:t>
            </a:r>
            <a:r>
              <a:rPr sz="1250" dirty="0" err="1">
                <a:solidFill>
                  <a:srgbClr val="F2F2F2"/>
                </a:solidFill>
                <a:latin typeface="Consolas"/>
              </a:rPr>
              <a:t>환경값</a:t>
            </a:r>
            <a:r>
              <a:rPr sz="1250" dirty="0">
                <a:solidFill>
                  <a:srgbClr val="F2F2F2"/>
                </a:solidFill>
                <a:latin typeface="Consolas"/>
              </a:rPr>
              <a:t>&gt;      DYNAMIC_SAMPLING USABLE  SINGLE TABLE CARDINALITY</a:t>
            </a:r>
          </a:p>
          <a:p>
            <a:pPr>
              <a:lnSpc>
                <a:spcPct val="100000"/>
              </a:lnSpc>
              <a:spcAft>
                <a:spcPts val="0"/>
              </a:spcAft>
            </a:pPr>
            <a:r>
              <a:rPr sz="1250" dirty="0">
                <a:solidFill>
                  <a:srgbClr val="F2F2F2"/>
                </a:solidFill>
                <a:latin typeface="Consolas"/>
              </a:rPr>
              <a:t>                                       MISESTIMATE</a:t>
            </a:r>
          </a:p>
          <a:p>
            <a:pPr>
              <a:lnSpc>
                <a:spcPct val="100000"/>
              </a:lnSpc>
              <a:spcAft>
                <a:spcPts val="0"/>
              </a:spcAft>
            </a:pPr>
            <a:r>
              <a:rPr sz="1250" dirty="0">
                <a:solidFill>
                  <a:srgbClr val="F2F2F2"/>
                </a:solidFill>
                <a:latin typeface="Consolas"/>
              </a:rPr>
              <a:t> </a:t>
            </a:r>
          </a:p>
          <a:p>
            <a:pPr>
              <a:lnSpc>
                <a:spcPct val="100000"/>
              </a:lnSpc>
              <a:spcAft>
                <a:spcPts val="0"/>
              </a:spcAft>
            </a:pPr>
            <a:r>
              <a:rPr sz="1250" dirty="0" err="1">
                <a:solidFill>
                  <a:srgbClr val="F2F2F2"/>
                </a:solidFill>
                <a:latin typeface="Consolas"/>
              </a:rPr>
              <a:t>근본</a:t>
            </a:r>
            <a:r>
              <a:rPr sz="1250" dirty="0">
                <a:solidFill>
                  <a:srgbClr val="F2F2F2"/>
                </a:solidFill>
                <a:latin typeface="Consolas"/>
              </a:rPr>
              <a:t> </a:t>
            </a:r>
            <a:r>
              <a:rPr sz="1250" dirty="0" err="1">
                <a:solidFill>
                  <a:srgbClr val="F2F2F2"/>
                </a:solidFill>
                <a:latin typeface="Consolas"/>
              </a:rPr>
              <a:t>해결</a:t>
            </a:r>
            <a:r>
              <a:rPr sz="1250" dirty="0">
                <a:solidFill>
                  <a:srgbClr val="F2F2F2"/>
                </a:solidFill>
                <a:latin typeface="Consolas"/>
              </a:rPr>
              <a:t> = </a:t>
            </a:r>
            <a:r>
              <a:rPr sz="1250" dirty="0" err="1">
                <a:solidFill>
                  <a:srgbClr val="F2F2F2"/>
                </a:solidFill>
                <a:latin typeface="Consolas"/>
              </a:rPr>
              <a:t>상관관계</a:t>
            </a:r>
            <a:r>
              <a:rPr sz="1250" dirty="0">
                <a:solidFill>
                  <a:srgbClr val="F2F2F2"/>
                </a:solidFill>
                <a:latin typeface="Consolas"/>
              </a:rPr>
              <a:t> </a:t>
            </a:r>
            <a:r>
              <a:rPr sz="1250" dirty="0" err="1">
                <a:solidFill>
                  <a:srgbClr val="F2F2F2"/>
                </a:solidFill>
                <a:latin typeface="Consolas"/>
              </a:rPr>
              <a:t>컬럼에</a:t>
            </a:r>
            <a:r>
              <a:rPr sz="1250" dirty="0">
                <a:solidFill>
                  <a:srgbClr val="F2F2F2"/>
                </a:solidFill>
                <a:latin typeface="Consolas"/>
              </a:rPr>
              <a:t> </a:t>
            </a:r>
            <a:r>
              <a:rPr sz="1250" dirty="0" err="1">
                <a:solidFill>
                  <a:srgbClr val="F2F2F2"/>
                </a:solidFill>
                <a:latin typeface="Consolas"/>
              </a:rPr>
              <a:t>컬럼</a:t>
            </a:r>
            <a:r>
              <a:rPr sz="1250" dirty="0">
                <a:solidFill>
                  <a:srgbClr val="F2F2F2"/>
                </a:solidFill>
                <a:latin typeface="Consolas"/>
              </a:rPr>
              <a:t> </a:t>
            </a:r>
            <a:r>
              <a:rPr sz="1250" dirty="0" err="1">
                <a:solidFill>
                  <a:srgbClr val="F2F2F2"/>
                </a:solidFill>
                <a:latin typeface="Consolas"/>
              </a:rPr>
              <a:t>그룹</a:t>
            </a:r>
            <a:r>
              <a:rPr sz="1250" dirty="0">
                <a:solidFill>
                  <a:srgbClr val="F2F2F2"/>
                </a:solidFill>
                <a:latin typeface="Consolas"/>
              </a:rPr>
              <a:t> </a:t>
            </a:r>
            <a:r>
              <a:rPr sz="1250" dirty="0" err="1">
                <a:solidFill>
                  <a:srgbClr val="F2F2F2"/>
                </a:solidFill>
                <a:latin typeface="Consolas"/>
              </a:rPr>
              <a:t>확장</a:t>
            </a:r>
            <a:r>
              <a:rPr sz="1250" dirty="0">
                <a:solidFill>
                  <a:srgbClr val="F2F2F2"/>
                </a:solidFill>
                <a:latin typeface="Consolas"/>
              </a:rPr>
              <a:t> </a:t>
            </a:r>
            <a:r>
              <a:rPr sz="1250" dirty="0" err="1">
                <a:solidFill>
                  <a:srgbClr val="F2F2F2"/>
                </a:solidFill>
                <a:latin typeface="Consolas"/>
              </a:rPr>
              <a:t>통계</a:t>
            </a:r>
            <a:r>
              <a:rPr sz="1250" dirty="0">
                <a:solidFill>
                  <a:srgbClr val="F2F2F2"/>
                </a:solidFill>
                <a:latin typeface="Consolas"/>
              </a:rPr>
              <a:t>(ch21)</a:t>
            </a:r>
          </a:p>
        </p:txBody>
      </p:sp>
    </p:spTree>
    <p:extLst>
      <p:ext uri="{BB962C8B-B14F-4D97-AF65-F5344CB8AC3E}">
        <p14:creationId xmlns:p14="http://schemas.microsoft.com/office/powerpoint/2010/main" val="1165986680"/>
      </p:ext>
    </p:extLst>
  </p:cSld>
  <p:clrMapOvr>
    <a:masterClrMapping/>
  </p:clrMapOvr>
</p:sld>
</file>

<file path=ppt/slides/slide1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계획이 흔들릴 때의 대응 순서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전역 비활성화는 최후</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600"/>
              </a:spcAft>
            </a:pPr>
            <a:r>
              <a:rPr sz="1700" b="0">
                <a:solidFill>
                  <a:srgbClr val="222222"/>
                </a:solidFill>
                <a:latin typeface="맑은 고딕"/>
              </a:rPr>
              <a:t>•  ① 근본 해소 — 확장 통계·통계 재수집으로 원인 제거</a:t>
            </a:r>
          </a:p>
          <a:p>
            <a:pPr algn="l">
              <a:spcAft>
                <a:spcPts val="600"/>
              </a:spcAft>
            </a:pPr>
            <a:r>
              <a:rPr sz="1700" b="0">
                <a:solidFill>
                  <a:srgbClr val="222222"/>
                </a:solidFill>
                <a:latin typeface="맑은 고딕"/>
              </a:rPr>
              <a:t>•  ② 특정 SQL만 고정 — SQL Plan Baseline(팩 불필요)</a:t>
            </a:r>
          </a:p>
          <a:p>
            <a:pPr algn="l">
              <a:spcAft>
                <a:spcPts val="600"/>
              </a:spcAft>
            </a:pPr>
            <a:r>
              <a:rPr sz="1700" b="0">
                <a:solidFill>
                  <a:srgbClr val="222222"/>
                </a:solidFill>
                <a:latin typeface="맑은 고딕"/>
              </a:rPr>
              <a:t>•  ③ 전역 비활성화는 최후 — 끄면 다른 SQL 이득도 사라짐</a:t>
            </a:r>
          </a:p>
          <a:p>
            <a:pPr algn="l">
              <a:spcAft>
                <a:spcPts val="600"/>
              </a:spcAft>
            </a:pPr>
            <a:r>
              <a:rPr sz="1700" b="0">
                <a:solidFill>
                  <a:srgbClr val="222222"/>
                </a:solidFill>
                <a:latin typeface="맑은 고딕"/>
              </a:rPr>
              <a:t>•  판단 기준은 언제나 '한 SQL 편의'가 아니라 '워크로드 전체'</a:t>
            </a:r>
          </a:p>
        </p:txBody>
      </p:sp>
    </p:spTree>
    <p:extLst>
      <p:ext uri="{BB962C8B-B14F-4D97-AF65-F5344CB8AC3E}">
        <p14:creationId xmlns:p14="http://schemas.microsoft.com/office/powerpoint/2010/main" val="2980735411"/>
      </p:ext>
    </p:extLst>
  </p:cSld>
  <p:clrMapOvr>
    <a:masterClrMapping/>
  </p:clrMapOvr>
</p:sld>
</file>

<file path=ppt/slides/slide1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퀴즈 (Quiz)</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600"/>
              </a:spcAft>
            </a:pPr>
            <a:r>
              <a:rPr sz="1600" b="0">
                <a:solidFill>
                  <a:srgbClr val="222222"/>
                </a:solidFill>
                <a:latin typeface="맑은 고딕"/>
              </a:rPr>
              <a:t>•  Q1. 세 자동 유지관리 작업과 그중 Tuning Pack이 필요한 것은?</a:t>
            </a:r>
          </a:p>
          <a:p>
            <a:pPr algn="l">
              <a:spcAft>
                <a:spcPts val="600"/>
              </a:spcAft>
            </a:pPr>
            <a:r>
              <a:rPr sz="1600" b="0">
                <a:solidFill>
                  <a:srgbClr val="222222"/>
                </a:solidFill>
                <a:latin typeface="맑은 고딕"/>
              </a:rPr>
              <a:t>•  Q2. 윈도우가 업무와 겹칠 때 대응 두 방향과 ORA$AUTOTASK 기본 배분값은?</a:t>
            </a:r>
          </a:p>
          <a:p>
            <a:pPr algn="l">
              <a:spcAft>
                <a:spcPts val="600"/>
              </a:spcAft>
            </a:pPr>
            <a:r>
              <a:rPr sz="1600" b="0">
                <a:solidFill>
                  <a:srgbClr val="222222"/>
                </a:solidFill>
                <a:latin typeface="맑은 고딕"/>
              </a:rPr>
              <a:t>•  Q3. 'no recommendations'와 benefit 99.64%의 차이가 왜 생기나?</a:t>
            </a:r>
          </a:p>
          <a:p>
            <a:pPr algn="l">
              <a:spcAft>
                <a:spcPts val="600"/>
              </a:spcAft>
            </a:pPr>
            <a:r>
              <a:rPr sz="1600" b="0">
                <a:solidFill>
                  <a:srgbClr val="222222"/>
                </a:solidFill>
                <a:latin typeface="맑은 고딕"/>
              </a:rPr>
              <a:t>•  Q4. benefit 99.64%를 곧바로 인덱스로 만들면 안 되는 이유는?</a:t>
            </a:r>
          </a:p>
          <a:p>
            <a:pPr algn="l">
              <a:spcAft>
                <a:spcPts val="600"/>
              </a:spcAft>
            </a:pPr>
            <a:r>
              <a:rPr sz="1600" b="0">
                <a:solidFill>
                  <a:srgbClr val="222222"/>
                </a:solidFill>
                <a:latin typeface="맑은 고딕"/>
              </a:rPr>
              <a:t>•  Q5. SQL Tuning Advisor와 SQL Access Advisor의 입력·관점 차이는?</a:t>
            </a:r>
          </a:p>
          <a:p>
            <a:pPr algn="l">
              <a:spcAft>
                <a:spcPts val="600"/>
              </a:spcAft>
            </a:pPr>
            <a:r>
              <a:rPr sz="1600" b="0">
                <a:solidFill>
                  <a:srgbClr val="222222"/>
                </a:solidFill>
                <a:latin typeface="맑은 고딕"/>
              </a:rPr>
              <a:t>•  Q6. SQL 프로파일이 근본 해결이 아닌 이유와 ACCEPT_SQL_PROFILES 권장값은?</a:t>
            </a:r>
          </a:p>
        </p:txBody>
      </p:sp>
    </p:spTree>
    <p:extLst>
      <p:ext uri="{BB962C8B-B14F-4D97-AF65-F5344CB8AC3E}">
        <p14:creationId xmlns:p14="http://schemas.microsoft.com/office/powerpoint/2010/main" val="2921957021"/>
      </p:ext>
    </p:extLst>
  </p:cSld>
  <p:clrMapOvr>
    <a:masterClrMapping/>
  </p:clrMapOvr>
</p:sld>
</file>

<file path=ppt/slides/slide1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요약 (Summary)</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600"/>
              </a:spcAft>
            </a:pPr>
            <a:r>
              <a:rPr sz="1600" b="0">
                <a:solidFill>
                  <a:srgbClr val="222222"/>
                </a:solidFill>
                <a:latin typeface="맑은 고딕"/>
              </a:rPr>
              <a:t>•  자동 작업 셋은 DBA_AUTOTASK_*로 무엇이 언제 도는지 먼저 확인한다.</a:t>
            </a:r>
          </a:p>
          <a:p>
            <a:pPr algn="l">
              <a:spcAft>
                <a:spcPts val="600"/>
              </a:spcAft>
            </a:pPr>
            <a:r>
              <a:rPr sz="1600" b="0">
                <a:solidFill>
                  <a:srgbClr val="222222"/>
                </a:solidFill>
                <a:latin typeface="맑은 고딕"/>
              </a:rPr>
              <a:t>•  업무와 겹치면 윈도우 조정→자원 조임→최후에 끄기(대기 영역 4단계).</a:t>
            </a:r>
          </a:p>
          <a:p>
            <a:pPr algn="l">
              <a:spcAft>
                <a:spcPts val="600"/>
              </a:spcAft>
            </a:pPr>
            <a:r>
              <a:rPr sz="1600" b="0">
                <a:solidFill>
                  <a:srgbClr val="222222"/>
                </a:solidFill>
                <a:latin typeface="맑은 고딕"/>
              </a:rPr>
              <a:t>•  Advisory Framework는 태스크→Finding→Recommendation 공통 구조.</a:t>
            </a:r>
          </a:p>
          <a:p>
            <a:pPr algn="l">
              <a:spcAft>
                <a:spcPts val="600"/>
              </a:spcAft>
            </a:pPr>
            <a:r>
              <a:rPr sz="1600" b="0">
                <a:solidFill>
                  <a:srgbClr val="222222"/>
                </a:solidFill>
                <a:latin typeface="맑은 고딕"/>
              </a:rPr>
              <a:t>•  실측: 전체 집계 SQL은 '권고 없음', 선택 조건 SQL은 인덱스 99.64%.</a:t>
            </a:r>
          </a:p>
          <a:p>
            <a:pPr algn="l">
              <a:spcAft>
                <a:spcPts val="600"/>
              </a:spcAft>
            </a:pPr>
            <a:r>
              <a:rPr sz="1600" b="0">
                <a:solidFill>
                  <a:srgbClr val="222222"/>
                </a:solidFill>
                <a:latin typeface="맑은 고딕"/>
              </a:rPr>
              <a:t>•  권고 없음도 결과, 큰 benefit도 단일 문장 기준 — 워크로드로 판단.</a:t>
            </a:r>
          </a:p>
          <a:p>
            <a:pPr algn="l">
              <a:spcAft>
                <a:spcPts val="600"/>
              </a:spcAft>
            </a:pPr>
            <a:r>
              <a:rPr sz="1600" b="0">
                <a:solidFill>
                  <a:srgbClr val="222222"/>
                </a:solidFill>
                <a:latin typeface="맑은 고딕"/>
              </a:rPr>
              <a:t>•  Access Advisor=워크로드 설계 / SPA=변경 검증·회귀 탐지.</a:t>
            </a:r>
          </a:p>
          <a:p>
            <a:pPr algn="l">
              <a:spcAft>
                <a:spcPts val="600"/>
              </a:spcAft>
            </a:pPr>
            <a:r>
              <a:rPr sz="1600" b="0">
                <a:solidFill>
                  <a:srgbClr val="222222"/>
                </a:solidFill>
                <a:latin typeface="맑은 고딕"/>
              </a:rPr>
              <a:t>•  Adaptive/Directives는 자기 보정 — 확장 통계→Baseline→전역 끄기 순.</a:t>
            </a:r>
          </a:p>
        </p:txBody>
      </p:sp>
    </p:spTree>
    <p:extLst>
      <p:ext uri="{BB962C8B-B14F-4D97-AF65-F5344CB8AC3E}">
        <p14:creationId xmlns:p14="http://schemas.microsoft.com/office/powerpoint/2010/main" val="2134189770"/>
      </p:ext>
    </p:extLst>
  </p:cSld>
  <p:clrMapOvr>
    <a:masterClrMapping/>
  </p:clrMapOvr>
</p:sld>
</file>

<file path=ppt/slides/slide1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실습 개요 (Practice Overview)</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600"/>
              </a:spcAft>
            </a:pPr>
            <a:r>
              <a:rPr sz="1500" b="0">
                <a:solidFill>
                  <a:srgbClr val="222222"/>
                </a:solidFill>
                <a:latin typeface="맑은 고딕"/>
              </a:rPr>
              <a:t>•  실습 01 — 자동 유지관리 작업 구성 확인(DBA_AUTOTASK_*)</a:t>
            </a:r>
          </a:p>
          <a:p>
            <a:pPr algn="l">
              <a:spcAft>
                <a:spcPts val="600"/>
              </a:spcAft>
            </a:pPr>
            <a:r>
              <a:rPr sz="1500" b="0">
                <a:solidFill>
                  <a:srgbClr val="222222"/>
                </a:solidFill>
                <a:latin typeface="맑은 고딕"/>
              </a:rPr>
              <a:t>•  실습 02 — 유지관리 윈도우 조정·리소스 할당 변경</a:t>
            </a:r>
          </a:p>
          <a:p>
            <a:pPr algn="l">
              <a:spcAft>
                <a:spcPts val="600"/>
              </a:spcAft>
            </a:pPr>
            <a:r>
              <a:rPr sz="1500" b="0">
                <a:solidFill>
                  <a:srgbClr val="222222"/>
                </a:solidFill>
                <a:latin typeface="맑은 고딕"/>
              </a:rPr>
              <a:t>•  실습 03 — Advisory Framework 전반(DBA_ADVISOR_DEFINITIONS)</a:t>
            </a:r>
          </a:p>
          <a:p>
            <a:pPr algn="l">
              <a:spcAft>
                <a:spcPts val="600"/>
              </a:spcAft>
            </a:pPr>
            <a:r>
              <a:rPr sz="1500" b="0">
                <a:solidFill>
                  <a:srgbClr val="222222"/>
                </a:solidFill>
                <a:latin typeface="맑은 고딕"/>
              </a:rPr>
              <a:t>•  실습 04 — SQL Tuning Advisor ① '권고 없음' 확인 🔒</a:t>
            </a:r>
          </a:p>
          <a:p>
            <a:pPr algn="l">
              <a:spcAft>
                <a:spcPts val="600"/>
              </a:spcAft>
            </a:pPr>
            <a:r>
              <a:rPr sz="1500" b="0">
                <a:solidFill>
                  <a:srgbClr val="222222"/>
                </a:solidFill>
                <a:latin typeface="맑은 고딕"/>
              </a:rPr>
              <a:t>•  실습 05 — SQL Tuning Advisor ② 인덱스 권고(99.64%) 🔒</a:t>
            </a:r>
          </a:p>
          <a:p>
            <a:pPr algn="l">
              <a:spcAft>
                <a:spcPts val="600"/>
              </a:spcAft>
            </a:pPr>
            <a:r>
              <a:rPr sz="1500" b="0">
                <a:solidFill>
                  <a:srgbClr val="222222"/>
                </a:solidFill>
                <a:latin typeface="맑은 고딕"/>
              </a:rPr>
              <a:t>•  실습 06 — 자동 SQL 튜닝 결과·채택 정책 🔒</a:t>
            </a:r>
          </a:p>
          <a:p>
            <a:pPr algn="l">
              <a:spcAft>
                <a:spcPts val="600"/>
              </a:spcAft>
            </a:pPr>
            <a:r>
              <a:rPr sz="1500" b="0">
                <a:solidFill>
                  <a:srgbClr val="222222"/>
                </a:solidFill>
                <a:latin typeface="맑은 고딕"/>
              </a:rPr>
              <a:t>•  실습 07 — SQL Access Advisor / SPA 🔒</a:t>
            </a:r>
          </a:p>
          <a:p>
            <a:pPr algn="l">
              <a:spcAft>
                <a:spcPts val="600"/>
              </a:spcAft>
            </a:pPr>
            <a:r>
              <a:rPr sz="1500" b="0">
                <a:solidFill>
                  <a:srgbClr val="222222"/>
                </a:solidFill>
                <a:latin typeface="맑은 고딕"/>
              </a:rPr>
              <a:t>•  실습 08 — SQL Plan Directives·Adaptive Plans 관찰</a:t>
            </a:r>
          </a:p>
        </p:txBody>
      </p:sp>
    </p:spTree>
    <p:extLst>
      <p:ext uri="{BB962C8B-B14F-4D97-AF65-F5344CB8AC3E}">
        <p14:creationId xmlns:p14="http://schemas.microsoft.com/office/powerpoint/2010/main" val="2763504731"/>
      </p:ext>
    </p:extLst>
  </p:cSld>
  <p:clrMapOvr>
    <a:masterClrMapping/>
  </p:clrMapOvr>
</p:sld>
</file>

<file path=ppt/slides/slide1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457200"/>
            <a:ext cx="10698480" cy="548640"/>
          </a:xfrm>
          <a:prstGeom prst="rect">
            <a:avLst/>
          </a:prstGeom>
          <a:noFill/>
        </p:spPr>
        <p:txBody>
          <a:bodyPr wrap="square" anchor="t">
            <a:spAutoFit/>
          </a:bodyPr>
          <a:lstStyle/>
          <a:p>
            <a:pPr algn="l"/>
            <a:r>
              <a:rPr sz="1600" b="1">
                <a:solidFill>
                  <a:srgbClr val="FFFFFF"/>
                </a:solidFill>
                <a:latin typeface="맑은 고딕"/>
                <a:ea typeface="맑은 고딕"/>
              </a:rPr>
              <a:t>Oracle Database 19c 성능 튜닝 실무 과정</a:t>
            </a:r>
          </a:p>
        </p:txBody>
      </p:sp>
      <p:sp>
        <p:nvSpPr>
          <p:cNvPr id="6" name="TextBox 5"/>
          <p:cNvSpPr txBox="1"/>
          <p:nvPr/>
        </p:nvSpPr>
        <p:spPr>
          <a:xfrm>
            <a:off x="731520" y="2377440"/>
            <a:ext cx="10698480" cy="1554480"/>
          </a:xfrm>
          <a:prstGeom prst="rect">
            <a:avLst/>
          </a:prstGeom>
          <a:noFill/>
        </p:spPr>
        <p:txBody>
          <a:bodyPr wrap="square" anchor="t">
            <a:spAutoFit/>
          </a:bodyPr>
          <a:lstStyle/>
          <a:p>
            <a:pPr algn="l"/>
            <a:r>
              <a:rPr sz="3400" b="1">
                <a:solidFill>
                  <a:srgbClr val="C0392B"/>
                </a:solidFill>
                <a:latin typeface="맑은 고딕"/>
                <a:ea typeface="맑은 고딕"/>
              </a:rPr>
              <a:t>SGA 튜닝 ① 버퍼 캐시와 리두 로그 버퍼</a:t>
            </a:r>
          </a:p>
          <a:p>
            <a:pPr algn="l"/>
            <a:r>
              <a:rPr sz="3400" b="1">
                <a:solidFill>
                  <a:srgbClr val="C0392B"/>
                </a:solidFill>
                <a:latin typeface="맑은 고딕"/>
                <a:ea typeface="맑은 고딕"/>
              </a:rPr>
              <a:t>Tuning the Database Buffer Cache — 히트율의 함정</a:t>
            </a:r>
          </a:p>
        </p:txBody>
      </p:sp>
      <p:sp>
        <p:nvSpPr>
          <p:cNvPr id="7" name="TextBox 6"/>
          <p:cNvSpPr txBox="1"/>
          <p:nvPr/>
        </p:nvSpPr>
        <p:spPr>
          <a:xfrm>
            <a:off x="731520" y="4114800"/>
            <a:ext cx="10698480" cy="1097280"/>
          </a:xfrm>
          <a:prstGeom prst="rect">
            <a:avLst/>
          </a:prstGeom>
          <a:noFill/>
        </p:spPr>
        <p:txBody>
          <a:bodyPr wrap="square" anchor="t">
            <a:spAutoFit/>
          </a:bodyPr>
          <a:lstStyle/>
          <a:p>
            <a:pPr algn="l"/>
            <a:r>
              <a:rPr sz="1500" b="0">
                <a:solidFill>
                  <a:srgbClr val="5A6672"/>
                </a:solidFill>
                <a:latin typeface="맑은 고딕"/>
                <a:ea typeface="맑은 고딕"/>
              </a:rPr>
              <a:t>버퍼 캐시 구조 · 히트율의 함정 · V$DB_CACHE_ADVICE · KEEP/RECYCLE 풀 · 리두 로그 버퍼</a:t>
            </a:r>
          </a:p>
        </p:txBody>
      </p:sp>
      <p:sp>
        <p:nvSpPr>
          <p:cNvPr id="8" name="TextBox 7"/>
          <p:cNvSpPr txBox="1"/>
          <p:nvPr/>
        </p:nvSpPr>
        <p:spPr>
          <a:xfrm>
            <a:off x="731520" y="5577840"/>
            <a:ext cx="10698480" cy="914400"/>
          </a:xfrm>
          <a:prstGeom prst="rect">
            <a:avLst/>
          </a:prstGeom>
          <a:noFill/>
        </p:spPr>
        <p:txBody>
          <a:bodyPr wrap="square" anchor="t">
            <a:spAutoFit/>
          </a:bodyPr>
          <a:lstStyle/>
          <a:p>
            <a:pPr algn="l"/>
            <a:r>
              <a:rPr sz="2000" b="1">
                <a:solidFill>
                  <a:srgbClr val="C0392B"/>
                </a:solidFill>
                <a:latin typeface="맑은 고딕"/>
                <a:ea typeface="맑은 고딕"/>
              </a:rPr>
              <a:t>ch31</a:t>
            </a:r>
          </a:p>
        </p:txBody>
      </p:sp>
    </p:spTree>
    <p:extLst>
      <p:ext uri="{BB962C8B-B14F-4D97-AF65-F5344CB8AC3E}">
        <p14:creationId xmlns:p14="http://schemas.microsoft.com/office/powerpoint/2010/main" val="3375819027"/>
      </p:ext>
    </p:extLst>
  </p:cSld>
  <p:clrMapOvr>
    <a:masterClrMapping/>
  </p:clrMapOvr>
</p:sld>
</file>

<file path=ppt/slides/slide1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학습 목표 (Objectives)</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800"/>
              </a:spcAft>
            </a:pPr>
            <a:r>
              <a:rPr sz="1600" b="0">
                <a:solidFill>
                  <a:srgbClr val="222222"/>
                </a:solidFill>
                <a:latin typeface="맑은 고딕"/>
                <a:ea typeface="맑은 고딕"/>
              </a:rPr>
              <a:t>•  버퍼 캐시 구조(DEFAULT·KEEP·RECYCLE, LRU, DBWR)와 논리·물리 읽기를 구분한다.</a:t>
            </a:r>
          </a:p>
          <a:p>
            <a:pPr algn="l">
              <a:spcAft>
                <a:spcPts val="800"/>
              </a:spcAft>
            </a:pPr>
            <a:r>
              <a:rPr sz="1600" b="0">
                <a:solidFill>
                  <a:srgbClr val="222222"/>
                </a:solidFill>
                <a:latin typeface="맑은 고딕"/>
                <a:ea typeface="맑은 고딕"/>
              </a:rPr>
              <a:t>•  히트율의 함정 — 100%에 가까워도 좋은 상태가 아닐 수 있음을 실측으로 설명한다.</a:t>
            </a:r>
          </a:p>
          <a:p>
            <a:pPr algn="l">
              <a:spcAft>
                <a:spcPts val="800"/>
              </a:spcAft>
            </a:pPr>
            <a:r>
              <a:rPr sz="1600" b="0">
                <a:solidFill>
                  <a:srgbClr val="222222"/>
                </a:solidFill>
                <a:latin typeface="맑은 고딕"/>
                <a:ea typeface="맑은 고딕"/>
              </a:rPr>
              <a:t>•  반복 스캔이 히트율을 부풀리는 원리와 대량 논리 읽기의 비효율을 판별한다.</a:t>
            </a:r>
          </a:p>
          <a:p>
            <a:pPr algn="l">
              <a:spcAft>
                <a:spcPts val="800"/>
              </a:spcAft>
            </a:pPr>
            <a:r>
              <a:rPr sz="1600" b="0">
                <a:solidFill>
                  <a:srgbClr val="222222"/>
                </a:solidFill>
                <a:latin typeface="맑은 고딕"/>
                <a:ea typeface="맑은 고딕"/>
              </a:rPr>
              <a:t>•  V$DB_CACHE_ADVICE로 크기 변경 효과를 예측하고 수렴 구간을 읽는다.</a:t>
            </a:r>
          </a:p>
          <a:p>
            <a:pPr algn="l">
              <a:spcAft>
                <a:spcPts val="800"/>
              </a:spcAft>
            </a:pPr>
            <a:r>
              <a:rPr sz="1600" b="0">
                <a:solidFill>
                  <a:srgbClr val="222222"/>
                </a:solidFill>
                <a:latin typeface="맑은 고딕"/>
                <a:ea typeface="맑은 고딕"/>
              </a:rPr>
              <a:t>•  다중 버퍼 풀(KEEP=소형 참조, RECYCLE=대량 스캔) 배치 기준을 세운다.</a:t>
            </a:r>
          </a:p>
          <a:p>
            <a:pPr algn="l">
              <a:spcAft>
                <a:spcPts val="800"/>
              </a:spcAft>
            </a:pPr>
            <a:r>
              <a:rPr sz="1600" b="0">
                <a:solidFill>
                  <a:srgbClr val="222222"/>
                </a:solidFill>
                <a:latin typeface="맑은 고딕"/>
                <a:ea typeface="맑은 고딕"/>
              </a:rPr>
              <a:t>•  리두 로그 버퍼 동작과 log buffer space 대기·재시도 비율을 판독한다.</a:t>
            </a:r>
          </a:p>
        </p:txBody>
      </p:sp>
    </p:spTree>
    <p:extLst>
      <p:ext uri="{BB962C8B-B14F-4D97-AF65-F5344CB8AC3E}">
        <p14:creationId xmlns:p14="http://schemas.microsoft.com/office/powerpoint/2010/main" val="1218317695"/>
      </p:ext>
    </p:extLst>
  </p:cSld>
  <p:clrMapOvr>
    <a:masterClrMapping/>
  </p:clrMapOvr>
</p:sld>
</file>

<file path=ppt/slides/slide1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이 장의 구성 (Agenda)</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800"/>
              </a:spcAft>
            </a:pPr>
            <a:r>
              <a:rPr sz="1600" b="0">
                <a:solidFill>
                  <a:srgbClr val="222222"/>
                </a:solidFill>
                <a:latin typeface="맑은 고딕"/>
                <a:ea typeface="맑은 고딕"/>
              </a:rPr>
              <a:t>•  31.2  버퍼 캐시 구조 — 무엇을, 왜 캐싱하는가</a:t>
            </a:r>
          </a:p>
          <a:p>
            <a:pPr algn="l">
              <a:spcAft>
                <a:spcPts val="800"/>
              </a:spcAft>
            </a:pPr>
            <a:r>
              <a:rPr sz="1600" b="0">
                <a:solidFill>
                  <a:srgbClr val="222222"/>
                </a:solidFill>
                <a:latin typeface="맑은 고딕"/>
                <a:ea typeface="맑은 고딕"/>
              </a:rPr>
              <a:t>•  31.3  히트율의 함정 — 이 장의 핵심</a:t>
            </a:r>
          </a:p>
          <a:p>
            <a:pPr algn="l">
              <a:spcAft>
                <a:spcPts val="800"/>
              </a:spcAft>
            </a:pPr>
            <a:r>
              <a:rPr sz="1600" b="0">
                <a:solidFill>
                  <a:srgbClr val="222222"/>
                </a:solidFill>
                <a:latin typeface="맑은 고딕"/>
                <a:ea typeface="맑은 고딕"/>
              </a:rPr>
              <a:t>•  31.4  V$DB_CACHE_ADVICE — 크기 변경 효과 예측</a:t>
            </a:r>
          </a:p>
          <a:p>
            <a:pPr algn="l">
              <a:spcAft>
                <a:spcPts val="800"/>
              </a:spcAft>
            </a:pPr>
            <a:r>
              <a:rPr sz="1600" b="0">
                <a:solidFill>
                  <a:srgbClr val="222222"/>
                </a:solidFill>
                <a:latin typeface="맑은 고딕"/>
                <a:ea typeface="맑은 고딕"/>
              </a:rPr>
              <a:t>•  31.5  다중 버퍼 풀 — KEEP과 RECYCLE</a:t>
            </a:r>
          </a:p>
          <a:p>
            <a:pPr algn="l">
              <a:spcAft>
                <a:spcPts val="800"/>
              </a:spcAft>
            </a:pPr>
            <a:r>
              <a:rPr sz="1600" b="0">
                <a:solidFill>
                  <a:srgbClr val="222222"/>
                </a:solidFill>
                <a:latin typeface="맑은 고딕"/>
                <a:ea typeface="맑은 고딕"/>
              </a:rPr>
              <a:t>•  31.6  캐싱 모드와 대량 스캔의 캐시 동작</a:t>
            </a:r>
          </a:p>
          <a:p>
            <a:pPr algn="l">
              <a:spcAft>
                <a:spcPts val="800"/>
              </a:spcAft>
            </a:pPr>
            <a:r>
              <a:rPr sz="1600" b="0">
                <a:solidFill>
                  <a:srgbClr val="222222"/>
                </a:solidFill>
                <a:latin typeface="맑은 고딕"/>
                <a:ea typeface="맑은 고딕"/>
              </a:rPr>
              <a:t>•  31.7  리두 로그 버퍼 — log buffer space 대기</a:t>
            </a:r>
          </a:p>
        </p:txBody>
      </p:sp>
    </p:spTree>
    <p:extLst>
      <p:ext uri="{BB962C8B-B14F-4D97-AF65-F5344CB8AC3E}">
        <p14:creationId xmlns:p14="http://schemas.microsoft.com/office/powerpoint/2010/main" val="1632577239"/>
      </p:ext>
    </p:extLst>
  </p:cSld>
  <p:clrMapOvr>
    <a:masterClrMapping/>
  </p:clrMapOvr>
</p:sld>
</file>

<file path=ppt/slides/slide1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ea typeface="맑은 고딕"/>
              </a:rPr>
              <a:t>31.2</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ea typeface="맑은 고딕"/>
              </a:rPr>
              <a:t>버퍼 캐시 구조</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ea typeface="맑은 고딕"/>
              </a:rPr>
              <a:t>•  논리 읽기 vs 물리 읽기</a:t>
            </a:r>
          </a:p>
          <a:p>
            <a:pPr algn="l">
              <a:spcAft>
                <a:spcPts val="600"/>
              </a:spcAft>
            </a:pPr>
            <a:r>
              <a:rPr sz="1600" b="0">
                <a:solidFill>
                  <a:srgbClr val="FFFFFF"/>
                </a:solidFill>
                <a:latin typeface="맑은 고딕"/>
                <a:ea typeface="맑은 고딕"/>
              </a:rPr>
              <a:t>•  LRU·touch count·DBWR</a:t>
            </a:r>
          </a:p>
          <a:p>
            <a:pPr algn="l">
              <a:spcAft>
                <a:spcPts val="600"/>
              </a:spcAft>
            </a:pPr>
            <a:r>
              <a:rPr sz="1600" b="0">
                <a:solidFill>
                  <a:srgbClr val="FFFFFF"/>
                </a:solidFill>
                <a:latin typeface="맑은 고딕"/>
                <a:ea typeface="맑은 고딕"/>
              </a:rPr>
              <a:t>•  DEFAULT/KEEP/RECYCLE 풀</a:t>
            </a:r>
          </a:p>
        </p:txBody>
      </p:sp>
    </p:spTree>
    <p:extLst>
      <p:ext uri="{BB962C8B-B14F-4D97-AF65-F5344CB8AC3E}">
        <p14:creationId xmlns:p14="http://schemas.microsoft.com/office/powerpoint/2010/main" val="146447507"/>
      </p:ext>
    </p:extLst>
  </p:cSld>
  <p:clrMapOvr>
    <a:masterClrMapping/>
  </p:clrMapOvr>
</p:sld>
</file>

<file path=ppt/slides/slide1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SGA 안에서 버퍼 캐시의 자리</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ea typeface="맑은 고딕"/>
              </a:rPr>
              <a:t>이 장이 다루는 두 구조</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SGA = 버퍼 캐시 + 공유 풀 + 라지/자바/스트림 풀 + 리두 버퍼</a:t>
            </a:r>
          </a:p>
          <a:p>
            <a:pPr algn="l">
              <a:spcAft>
                <a:spcPts val="1000"/>
              </a:spcAft>
            </a:pPr>
            <a:r>
              <a:rPr sz="1700" b="0">
                <a:solidFill>
                  <a:srgbClr val="222222"/>
                </a:solidFill>
                <a:latin typeface="맑은 고딕"/>
                <a:ea typeface="맑은 고딕"/>
              </a:rPr>
              <a:t>•  버퍼 캐시와 공유 풀이 대개 가장 큰 비중</a:t>
            </a:r>
          </a:p>
          <a:p>
            <a:pPr algn="l">
              <a:spcAft>
                <a:spcPts val="1000"/>
              </a:spcAft>
            </a:pPr>
            <a:r>
              <a:rPr sz="1700" b="0">
                <a:solidFill>
                  <a:srgbClr val="222222"/>
                </a:solidFill>
                <a:latin typeface="맑은 고딕"/>
                <a:ea typeface="맑은 고딕"/>
              </a:rPr>
              <a:t>•  ASMM/AMM가 자동 조정해도 각 구조의 원리는 알아야 판단 가능</a:t>
            </a:r>
          </a:p>
          <a:p>
            <a:pPr algn="l">
              <a:spcAft>
                <a:spcPts val="1000"/>
              </a:spcAft>
            </a:pPr>
            <a:r>
              <a:rPr sz="1700" b="0">
                <a:solidFill>
                  <a:srgbClr val="222222"/>
                </a:solidFill>
                <a:latin typeface="맑은 고딕"/>
                <a:ea typeface="맑은 고딕"/>
              </a:rPr>
              <a:t>•  이 장: 버퍼 캐시(읽기) + 리두 로그 버퍼(쓰기)</a:t>
            </a:r>
          </a:p>
        </p:txBody>
      </p:sp>
    </p:spTree>
    <p:extLst>
      <p:ext uri="{BB962C8B-B14F-4D97-AF65-F5344CB8AC3E}">
        <p14:creationId xmlns:p14="http://schemas.microsoft.com/office/powerpoint/2010/main" val="3510487759"/>
      </p:ext>
    </p:extLst>
  </p:cSld>
  <p:clrMapOvr>
    <a:masterClrMapping/>
  </p:clrMapOvr>
</p:sld>
</file>

<file path=ppt/slides/slide1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무엇을, 왜 캐싱하는가</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ea typeface="맑은 고딕"/>
              </a:rPr>
              <a:t>버퍼 캐시의 목적</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버퍼 캐시 = SGA 안 데이터 블록의 사본 저장소</a:t>
            </a:r>
          </a:p>
          <a:p>
            <a:pPr algn="l">
              <a:spcAft>
                <a:spcPts val="1000"/>
              </a:spcAft>
            </a:pPr>
            <a:r>
              <a:rPr sz="1700" b="0">
                <a:solidFill>
                  <a:srgbClr val="222222"/>
                </a:solidFill>
                <a:latin typeface="맑은 고딕"/>
                <a:ea typeface="맑은 고딕"/>
              </a:rPr>
              <a:t>•  캐시 히트 → 메모리에서 바로(논리 읽기)</a:t>
            </a:r>
          </a:p>
          <a:p>
            <a:pPr algn="l">
              <a:spcAft>
                <a:spcPts val="1000"/>
              </a:spcAft>
            </a:pPr>
            <a:r>
              <a:rPr sz="1700" b="0">
                <a:solidFill>
                  <a:srgbClr val="222222"/>
                </a:solidFill>
                <a:latin typeface="맑은 고딕"/>
                <a:ea typeface="맑은 고딕"/>
              </a:rPr>
              <a:t>•  캐시 미스 → 데이터 파일에서 읽어 올림(물리 읽기)</a:t>
            </a:r>
          </a:p>
          <a:p>
            <a:pPr algn="l">
              <a:spcAft>
                <a:spcPts val="1000"/>
              </a:spcAft>
            </a:pPr>
            <a:r>
              <a:rPr sz="1700" b="0">
                <a:solidFill>
                  <a:srgbClr val="222222"/>
                </a:solidFill>
                <a:latin typeface="맑은 고딕"/>
                <a:ea typeface="맑은 고딕"/>
              </a:rPr>
              <a:t>•  목적: 자주 쓰는 블록을 잡아 둬 물리 I/O를 줄인다</a:t>
            </a:r>
          </a:p>
        </p:txBody>
      </p:sp>
    </p:spTree>
    <p:extLst>
      <p:ext uri="{BB962C8B-B14F-4D97-AF65-F5344CB8AC3E}">
        <p14:creationId xmlns:p14="http://schemas.microsoft.com/office/powerpoint/2010/main" val="3821669288"/>
      </p:ext>
    </p:extLst>
  </p:cSld>
  <p:clrMapOvr>
    <a:masterClrMapping/>
  </p:clrMapOvr>
</p:sld>
</file>

<file path=ppt/slides/slide1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논리 읽기와 물리 읽기</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ea typeface="맑은 고딕"/>
              </a:rPr>
              <a:t>이 장의 토대가 되는 구분</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논리 읽기 = db block gets + consistent gets (요청 총량)</a:t>
            </a:r>
          </a:p>
          <a:p>
            <a:pPr algn="l">
              <a:spcAft>
                <a:spcPts val="1000"/>
              </a:spcAft>
            </a:pPr>
            <a:r>
              <a:rPr sz="1700" b="0">
                <a:solidFill>
                  <a:srgbClr val="222222"/>
                </a:solidFill>
                <a:latin typeface="맑은 고딕"/>
                <a:ea typeface="맑은 고딕"/>
              </a:rPr>
              <a:t>•  물리 읽기 = 캐시에 없어 디스크까지 내려간 부분</a:t>
            </a:r>
          </a:p>
          <a:p>
            <a:pPr algn="l">
              <a:spcAft>
                <a:spcPts val="1000"/>
              </a:spcAft>
            </a:pPr>
            <a:r>
              <a:rPr sz="1700" b="0">
                <a:solidFill>
                  <a:srgbClr val="222222"/>
                </a:solidFill>
                <a:latin typeface="맑은 고딕"/>
                <a:ea typeface="맑은 고딕"/>
              </a:rPr>
              <a:t>•  물리 읽기는 언제나 논리 읽기의 부분집합</a:t>
            </a:r>
          </a:p>
          <a:p>
            <a:pPr algn="l">
              <a:spcAft>
                <a:spcPts val="1000"/>
              </a:spcAft>
            </a:pPr>
            <a:r>
              <a:rPr sz="1700" b="0">
                <a:solidFill>
                  <a:srgbClr val="222222"/>
                </a:solidFill>
                <a:latin typeface="맑은 고딕"/>
                <a:ea typeface="맑은 고딕"/>
              </a:rPr>
              <a:t>•  히트율은 '물리 회피율'만 말할 뿐, 논리 읽기 낭비는 못 본다</a:t>
            </a:r>
          </a:p>
        </p:txBody>
      </p:sp>
    </p:spTree>
    <p:extLst>
      <p:ext uri="{BB962C8B-B14F-4D97-AF65-F5344CB8AC3E}">
        <p14:creationId xmlns:p14="http://schemas.microsoft.com/office/powerpoint/2010/main" val="973489492"/>
      </p:ext>
    </p:extLst>
  </p:cSld>
  <p:clrMapOvr>
    <a:masterClrMapping/>
  </p:clrMapOvr>
</p:sld>
</file>

<file path=ppt/slides/slide1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LRU와 DBWR</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ea typeface="맑은 고딕"/>
              </a:rPr>
              <a:t>누구를 캐시에 남길 것인가</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LRU + 접촉 횟수(touch count)로 남길 블록을 결정</a:t>
            </a:r>
          </a:p>
          <a:p>
            <a:pPr algn="l">
              <a:spcAft>
                <a:spcPts val="1000"/>
              </a:spcAft>
            </a:pPr>
            <a:r>
              <a:rPr sz="1700" b="0">
                <a:solidFill>
                  <a:srgbClr val="222222"/>
                </a:solidFill>
                <a:latin typeface="맑은 고딕"/>
                <a:ea typeface="맑은 고딕"/>
              </a:rPr>
              <a:t>•  자주 쓰면 앞(MRU), 오래 안 쓰면 뒤(LRU)로 밀려 재사용</a:t>
            </a:r>
          </a:p>
          <a:p>
            <a:pPr algn="l">
              <a:spcAft>
                <a:spcPts val="1000"/>
              </a:spcAft>
            </a:pPr>
            <a:r>
              <a:rPr sz="1700" b="0">
                <a:solidFill>
                  <a:srgbClr val="222222"/>
                </a:solidFill>
                <a:latin typeface="맑은 고딕"/>
                <a:ea typeface="맑은 고딕"/>
              </a:rPr>
              <a:t>•  변경 블록(dirty)은 DBWR가 데이터 파일에 쓴 뒤 재사용</a:t>
            </a:r>
          </a:p>
          <a:p>
            <a:pPr algn="l">
              <a:spcAft>
                <a:spcPts val="1000"/>
              </a:spcAft>
            </a:pPr>
            <a:r>
              <a:rPr sz="1700" b="0">
                <a:solidFill>
                  <a:srgbClr val="222222"/>
                </a:solidFill>
                <a:latin typeface="맑은 고딕"/>
                <a:ea typeface="맑은 고딕"/>
              </a:rPr>
              <a:t>•  WAL 원칙: 리두를 먼저 기록하고 블록을 나중에 쓴다</a:t>
            </a:r>
          </a:p>
        </p:txBody>
      </p:sp>
    </p:spTree>
    <p:extLst>
      <p:ext uri="{BB962C8B-B14F-4D97-AF65-F5344CB8AC3E}">
        <p14:creationId xmlns:p14="http://schemas.microsoft.com/office/powerpoint/2010/main" val="769689673"/>
      </p:ext>
    </p:extLst>
  </p:cSld>
  <p:clrMapOvr>
    <a:masterClrMapping/>
  </p:clrMapOvr>
</p:sld>
</file>

<file path=ppt/slides/slide1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풀별 크기·히트율 실측</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ea typeface="맑은 고딕"/>
              </a:rPr>
              <a:t>V$BUFFER_POOL_STATISTICS (별칭 충돌 수정 후)</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37160" rtlCol="0" anchor="ctr"/>
          <a:lstStyle/>
          <a:p>
            <a:pPr>
              <a:lnSpc>
                <a:spcPct val="100000"/>
              </a:lnSpc>
              <a:spcAft>
                <a:spcPts val="0"/>
              </a:spcAft>
            </a:pPr>
            <a:r>
              <a:rPr sz="1250" b="0" dirty="0" err="1">
                <a:solidFill>
                  <a:srgbClr val="F2F2F2"/>
                </a:solidFill>
                <a:latin typeface="Consolas"/>
                <a:ea typeface="Consolas"/>
              </a:rPr>
              <a:t>SYS@orcl</a:t>
            </a:r>
            <a:r>
              <a:rPr sz="1250" b="0" dirty="0">
                <a:solidFill>
                  <a:srgbClr val="F2F2F2"/>
                </a:solidFill>
                <a:latin typeface="Consolas"/>
                <a:ea typeface="Consolas"/>
              </a:rPr>
              <a:t>&gt; SELECT name, </a:t>
            </a:r>
            <a:r>
              <a:rPr sz="1250" b="0" dirty="0" err="1">
                <a:solidFill>
                  <a:srgbClr val="F2F2F2"/>
                </a:solidFill>
                <a:latin typeface="Consolas"/>
                <a:ea typeface="Consolas"/>
              </a:rPr>
              <a:t>set_msize</a:t>
            </a:r>
            <a:r>
              <a:rPr sz="1250" b="0" dirty="0">
                <a:solidFill>
                  <a:srgbClr val="F2F2F2"/>
                </a:solidFill>
                <a:latin typeface="Consolas"/>
                <a:ea typeface="Consolas"/>
              </a:rPr>
              <a:t> </a:t>
            </a:r>
            <a:r>
              <a:rPr sz="1250" b="0" dirty="0" err="1">
                <a:solidFill>
                  <a:srgbClr val="F2F2F2"/>
                </a:solidFill>
                <a:latin typeface="Consolas"/>
                <a:ea typeface="Consolas"/>
              </a:rPr>
              <a:t>buf_cnt</a:t>
            </a:r>
            <a:r>
              <a:rPr sz="1250" b="0" dirty="0">
                <a:solidFill>
                  <a:srgbClr val="F2F2F2"/>
                </a:solidFill>
                <a:latin typeface="Consolas"/>
                <a:ea typeface="Consolas"/>
              </a:rPr>
              <a:t>,</a:t>
            </a:r>
          </a:p>
          <a:p>
            <a:pPr>
              <a:lnSpc>
                <a:spcPct val="100000"/>
              </a:lnSpc>
              <a:spcAft>
                <a:spcPts val="0"/>
              </a:spcAft>
            </a:pPr>
            <a:r>
              <a:rPr sz="1250" b="0" dirty="0">
                <a:solidFill>
                  <a:srgbClr val="F2F2F2"/>
                </a:solidFill>
                <a:latin typeface="Consolas"/>
                <a:ea typeface="Consolas"/>
              </a:rPr>
              <a:t>  2    ROUND(</a:t>
            </a:r>
            <a:r>
              <a:rPr sz="1250" b="0" dirty="0" err="1">
                <a:solidFill>
                  <a:srgbClr val="F2F2F2"/>
                </a:solidFill>
                <a:latin typeface="Consolas"/>
                <a:ea typeface="Consolas"/>
              </a:rPr>
              <a:t>set_msize</a:t>
            </a:r>
            <a:r>
              <a:rPr sz="1250" b="0" dirty="0">
                <a:solidFill>
                  <a:srgbClr val="F2F2F2"/>
                </a:solidFill>
                <a:latin typeface="Consolas"/>
                <a:ea typeface="Consolas"/>
              </a:rPr>
              <a:t>*</a:t>
            </a:r>
            <a:r>
              <a:rPr sz="1250" b="0" dirty="0" err="1">
                <a:solidFill>
                  <a:srgbClr val="F2F2F2"/>
                </a:solidFill>
                <a:latin typeface="Consolas"/>
                <a:ea typeface="Consolas"/>
              </a:rPr>
              <a:t>block_size</a:t>
            </a:r>
            <a:r>
              <a:rPr sz="1250" b="0" dirty="0">
                <a:solidFill>
                  <a:srgbClr val="F2F2F2"/>
                </a:solidFill>
                <a:latin typeface="Consolas"/>
                <a:ea typeface="Consolas"/>
              </a:rPr>
              <a:t>/1024/1024,1) mb,</a:t>
            </a:r>
          </a:p>
          <a:p>
            <a:pPr>
              <a:lnSpc>
                <a:spcPct val="100000"/>
              </a:lnSpc>
              <a:spcAft>
                <a:spcPts val="0"/>
              </a:spcAft>
            </a:pPr>
            <a:r>
              <a:rPr sz="1250" b="0" dirty="0">
                <a:solidFill>
                  <a:srgbClr val="F2F2F2"/>
                </a:solidFill>
                <a:latin typeface="Consolas"/>
                <a:ea typeface="Consolas"/>
              </a:rPr>
              <a:t>  3    ROUND(100*(1-physical_reads/</a:t>
            </a:r>
          </a:p>
          <a:p>
            <a:pPr>
              <a:lnSpc>
                <a:spcPct val="100000"/>
              </a:lnSpc>
              <a:spcAft>
                <a:spcPts val="0"/>
              </a:spcAft>
            </a:pPr>
            <a:r>
              <a:rPr sz="1250" b="0" dirty="0">
                <a:solidFill>
                  <a:srgbClr val="F2F2F2"/>
                </a:solidFill>
                <a:latin typeface="Consolas"/>
                <a:ea typeface="Consolas"/>
              </a:rPr>
              <a:t>  4      GREATEST(db_block_gets+consistent_gets,1)),2) </a:t>
            </a:r>
            <a:r>
              <a:rPr sz="1250" b="0" dirty="0" err="1">
                <a:solidFill>
                  <a:srgbClr val="F2F2F2"/>
                </a:solidFill>
                <a:latin typeface="Consolas"/>
                <a:ea typeface="Consolas"/>
              </a:rPr>
              <a:t>hit_pct</a:t>
            </a:r>
            <a:endParaRPr sz="1250" b="0" dirty="0">
              <a:solidFill>
                <a:srgbClr val="F2F2F2"/>
              </a:solidFill>
              <a:latin typeface="Consolas"/>
              <a:ea typeface="Consolas"/>
            </a:endParaRPr>
          </a:p>
          <a:p>
            <a:pPr>
              <a:lnSpc>
                <a:spcPct val="100000"/>
              </a:lnSpc>
              <a:spcAft>
                <a:spcPts val="0"/>
              </a:spcAft>
            </a:pPr>
            <a:r>
              <a:rPr sz="1250" b="0" dirty="0">
                <a:solidFill>
                  <a:srgbClr val="F2F2F2"/>
                </a:solidFill>
                <a:latin typeface="Consolas"/>
                <a:ea typeface="Consolas"/>
              </a:rPr>
              <a:t>  5  FROM </a:t>
            </a:r>
            <a:r>
              <a:rPr sz="1250" b="0" dirty="0" err="1">
                <a:solidFill>
                  <a:srgbClr val="F2F2F2"/>
                </a:solidFill>
                <a:latin typeface="Consolas"/>
                <a:ea typeface="Consolas"/>
              </a:rPr>
              <a:t>v$buffer_pool_statistics</a:t>
            </a:r>
            <a:r>
              <a:rPr sz="1250" b="0" dirty="0">
                <a:solidFill>
                  <a:srgbClr val="F2F2F2"/>
                </a:solidFill>
                <a:latin typeface="Consolas"/>
                <a:ea typeface="Consolas"/>
              </a:rPr>
              <a:t> WHERE </a:t>
            </a:r>
            <a:r>
              <a:rPr sz="1250" b="0" dirty="0" err="1">
                <a:solidFill>
                  <a:srgbClr val="F2F2F2"/>
                </a:solidFill>
                <a:latin typeface="Consolas"/>
                <a:ea typeface="Consolas"/>
              </a:rPr>
              <a:t>set_msize</a:t>
            </a:r>
            <a:r>
              <a:rPr sz="1250" b="0" dirty="0">
                <a:solidFill>
                  <a:srgbClr val="F2F2F2"/>
                </a:solidFill>
                <a:latin typeface="Consolas"/>
                <a:ea typeface="Consolas"/>
              </a:rPr>
              <a:t>&gt;0;</a:t>
            </a:r>
          </a:p>
          <a:p>
            <a:pPr>
              <a:lnSpc>
                <a:spcPct val="100000"/>
              </a:lnSpc>
              <a:spcAft>
                <a:spcPts val="0"/>
              </a:spcAft>
            </a:pPr>
            <a:r>
              <a:rPr sz="1250" b="0" dirty="0">
                <a:solidFill>
                  <a:srgbClr val="F2F2F2"/>
                </a:solidFill>
                <a:latin typeface="Consolas"/>
                <a:ea typeface="Consolas"/>
              </a:rPr>
              <a:t> </a:t>
            </a:r>
          </a:p>
          <a:p>
            <a:pPr>
              <a:lnSpc>
                <a:spcPct val="100000"/>
              </a:lnSpc>
              <a:spcAft>
                <a:spcPts val="0"/>
              </a:spcAft>
            </a:pPr>
            <a:r>
              <a:rPr sz="1250" b="0" dirty="0">
                <a:solidFill>
                  <a:srgbClr val="F2F2F2"/>
                </a:solidFill>
                <a:latin typeface="Consolas"/>
                <a:ea typeface="Consolas"/>
              </a:rPr>
              <a:t>NAME       BUF_CNT     MB    HIT_PCT</a:t>
            </a:r>
          </a:p>
          <a:p>
            <a:pPr>
              <a:lnSpc>
                <a:spcPct val="100000"/>
              </a:lnSpc>
              <a:spcAft>
                <a:spcPts val="0"/>
              </a:spcAft>
            </a:pPr>
            <a:r>
              <a:rPr sz="1250" b="0" dirty="0">
                <a:solidFill>
                  <a:srgbClr val="F2F2F2"/>
                </a:solidFill>
                <a:latin typeface="Consolas"/>
                <a:ea typeface="Consolas"/>
              </a:rPr>
              <a:t>-------- --------- ------ ----------</a:t>
            </a:r>
          </a:p>
          <a:p>
            <a:pPr>
              <a:lnSpc>
                <a:spcPct val="100000"/>
              </a:lnSpc>
              <a:spcAft>
                <a:spcPts val="0"/>
              </a:spcAft>
            </a:pPr>
            <a:r>
              <a:rPr sz="1250" b="0" dirty="0">
                <a:solidFill>
                  <a:srgbClr val="F2F2F2"/>
                </a:solidFill>
                <a:latin typeface="Consolas"/>
                <a:ea typeface="Consolas"/>
              </a:rPr>
              <a:t>DEFAULT     11268     44        100</a:t>
            </a:r>
          </a:p>
          <a:p>
            <a:pPr>
              <a:lnSpc>
                <a:spcPct val="100000"/>
              </a:lnSpc>
              <a:spcAft>
                <a:spcPts val="0"/>
              </a:spcAft>
            </a:pPr>
            <a:r>
              <a:rPr sz="1250" b="0" dirty="0">
                <a:solidFill>
                  <a:srgbClr val="F2F2F2"/>
                </a:solidFill>
                <a:latin typeface="Consolas"/>
                <a:ea typeface="Consolas"/>
              </a:rPr>
              <a:t>DEFAULT    105732    826      99.98</a:t>
            </a:r>
          </a:p>
          <a:p>
            <a:pPr>
              <a:lnSpc>
                <a:spcPct val="100000"/>
              </a:lnSpc>
              <a:spcAft>
                <a:spcPts val="0"/>
              </a:spcAft>
            </a:pPr>
            <a:r>
              <a:rPr sz="1250" b="0" dirty="0">
                <a:solidFill>
                  <a:srgbClr val="F2F2F2"/>
                </a:solidFill>
                <a:latin typeface="Consolas"/>
                <a:ea typeface="Consolas"/>
              </a:rPr>
              <a:t>KEEP         5874   45.9        100</a:t>
            </a:r>
          </a:p>
          <a:p>
            <a:pPr>
              <a:lnSpc>
                <a:spcPct val="100000"/>
              </a:lnSpc>
              <a:spcAft>
                <a:spcPts val="0"/>
              </a:spcAft>
            </a:pPr>
            <a:r>
              <a:rPr sz="1250" b="0" dirty="0">
                <a:solidFill>
                  <a:srgbClr val="F2F2F2"/>
                </a:solidFill>
                <a:latin typeface="Consolas"/>
                <a:ea typeface="Consolas"/>
              </a:rPr>
              <a:t> </a:t>
            </a:r>
          </a:p>
          <a:p>
            <a:pPr>
              <a:lnSpc>
                <a:spcPct val="100000"/>
              </a:lnSpc>
              <a:spcAft>
                <a:spcPts val="0"/>
              </a:spcAft>
            </a:pPr>
            <a:r>
              <a:rPr sz="1250" b="0" dirty="0">
                <a:solidFill>
                  <a:srgbClr val="F2F2F2"/>
                </a:solidFill>
                <a:latin typeface="Consolas"/>
                <a:ea typeface="Consolas"/>
              </a:rPr>
              <a:t>-- 첫 </a:t>
            </a:r>
            <a:r>
              <a:rPr sz="1250" b="0" dirty="0" err="1">
                <a:solidFill>
                  <a:srgbClr val="F2F2F2"/>
                </a:solidFill>
                <a:latin typeface="Consolas"/>
                <a:ea typeface="Consolas"/>
              </a:rPr>
              <a:t>시도는</a:t>
            </a:r>
            <a:r>
              <a:rPr sz="1250" b="0" dirty="0">
                <a:solidFill>
                  <a:srgbClr val="F2F2F2"/>
                </a:solidFill>
                <a:latin typeface="Consolas"/>
                <a:ea typeface="Consolas"/>
              </a:rPr>
              <a:t> </a:t>
            </a:r>
            <a:r>
              <a:rPr sz="1250" b="0" dirty="0" err="1">
                <a:solidFill>
                  <a:srgbClr val="F2F2F2"/>
                </a:solidFill>
                <a:latin typeface="Consolas"/>
                <a:ea typeface="Consolas"/>
              </a:rPr>
              <a:t>별칭</a:t>
            </a:r>
            <a:r>
              <a:rPr sz="1250" b="0" dirty="0">
                <a:solidFill>
                  <a:srgbClr val="F2F2F2"/>
                </a:solidFill>
                <a:latin typeface="Consolas"/>
                <a:ea typeface="Consolas"/>
              </a:rPr>
              <a:t> </a:t>
            </a:r>
            <a:r>
              <a:rPr sz="1250" b="0" dirty="0" err="1">
                <a:solidFill>
                  <a:srgbClr val="F2F2F2"/>
                </a:solidFill>
                <a:latin typeface="Consolas"/>
                <a:ea typeface="Consolas"/>
              </a:rPr>
              <a:t>buffers가</a:t>
            </a:r>
            <a:r>
              <a:rPr sz="1250" b="0" dirty="0">
                <a:solidFill>
                  <a:srgbClr val="F2F2F2"/>
                </a:solidFill>
                <a:latin typeface="Consolas"/>
                <a:ea typeface="Consolas"/>
              </a:rPr>
              <a:t> </a:t>
            </a:r>
            <a:r>
              <a:rPr sz="1250" b="0" dirty="0" err="1">
                <a:solidFill>
                  <a:srgbClr val="F2F2F2"/>
                </a:solidFill>
                <a:latin typeface="Consolas"/>
                <a:ea typeface="Consolas"/>
              </a:rPr>
              <a:t>예약어</a:t>
            </a:r>
            <a:r>
              <a:rPr sz="1250" b="0" dirty="0">
                <a:solidFill>
                  <a:srgbClr val="F2F2F2"/>
                </a:solidFill>
                <a:latin typeface="Consolas"/>
                <a:ea typeface="Consolas"/>
              </a:rPr>
              <a:t> </a:t>
            </a:r>
            <a:r>
              <a:rPr sz="1250" b="0" dirty="0" err="1">
                <a:solidFill>
                  <a:srgbClr val="F2F2F2"/>
                </a:solidFill>
                <a:latin typeface="Consolas"/>
                <a:ea typeface="Consolas"/>
              </a:rPr>
              <a:t>충돌로</a:t>
            </a:r>
            <a:r>
              <a:rPr sz="1250" b="0" dirty="0">
                <a:solidFill>
                  <a:srgbClr val="F2F2F2"/>
                </a:solidFill>
                <a:latin typeface="Consolas"/>
                <a:ea typeface="Consolas"/>
              </a:rPr>
              <a:t> ORA-00904 → </a:t>
            </a:r>
            <a:r>
              <a:rPr sz="1250" b="0" dirty="0" err="1">
                <a:solidFill>
                  <a:srgbClr val="F2F2F2"/>
                </a:solidFill>
                <a:latin typeface="Consolas"/>
                <a:ea typeface="Consolas"/>
              </a:rPr>
              <a:t>buf_cnt로</a:t>
            </a:r>
            <a:r>
              <a:rPr sz="1250" b="0" dirty="0">
                <a:solidFill>
                  <a:srgbClr val="F2F2F2"/>
                </a:solidFill>
                <a:latin typeface="Consolas"/>
                <a:ea typeface="Consolas"/>
              </a:rPr>
              <a:t> </a:t>
            </a:r>
            <a:r>
              <a:rPr sz="1250" b="0" dirty="0" err="1">
                <a:solidFill>
                  <a:srgbClr val="F2F2F2"/>
                </a:solidFill>
                <a:latin typeface="Consolas"/>
                <a:ea typeface="Consolas"/>
              </a:rPr>
              <a:t>수정</a:t>
            </a:r>
            <a:r>
              <a:rPr sz="1250" b="0" dirty="0">
                <a:solidFill>
                  <a:srgbClr val="F2F2F2"/>
                </a:solidFill>
                <a:latin typeface="Consolas"/>
                <a:ea typeface="Consolas"/>
              </a:rPr>
              <a:t>.</a:t>
            </a:r>
          </a:p>
        </p:txBody>
      </p:sp>
    </p:spTree>
    <p:extLst>
      <p:ext uri="{BB962C8B-B14F-4D97-AF65-F5344CB8AC3E}">
        <p14:creationId xmlns:p14="http://schemas.microsoft.com/office/powerpoint/2010/main" val="3457337072"/>
      </p:ext>
    </p:extLst>
  </p:cSld>
  <p:clrMapOvr>
    <a:masterClrMapping/>
  </p:clrMapOvr>
</p:sld>
</file>

<file path=ppt/slides/slide1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ea typeface="맑은 고딕"/>
              </a:rPr>
              <a:t>31.3</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ea typeface="맑은 고딕"/>
              </a:rPr>
              <a:t>히트율의 함정</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ea typeface="맑은 고딕"/>
              </a:rPr>
              <a:t>•  100%인데 나쁠 수 있다</a:t>
            </a:r>
          </a:p>
          <a:p>
            <a:pPr algn="l">
              <a:spcAft>
                <a:spcPts val="600"/>
              </a:spcAft>
            </a:pPr>
            <a:r>
              <a:rPr sz="1600" b="0">
                <a:solidFill>
                  <a:srgbClr val="FFFFFF"/>
                </a:solidFill>
                <a:latin typeface="맑은 고딕"/>
                <a:ea typeface="맑은 고딕"/>
              </a:rPr>
              <a:t>•  나쁜 SQL이 히트율을 올린다</a:t>
            </a:r>
          </a:p>
          <a:p>
            <a:pPr algn="l">
              <a:spcAft>
                <a:spcPts val="600"/>
              </a:spcAft>
            </a:pPr>
            <a:r>
              <a:rPr sz="1600" b="0">
                <a:solidFill>
                  <a:srgbClr val="FFFFFF"/>
                </a:solidFill>
                <a:latin typeface="맑은 고딕"/>
                <a:ea typeface="맑은 고딕"/>
              </a:rPr>
              <a:t>•  실측 99.98% / 논리 3.7억</a:t>
            </a:r>
          </a:p>
        </p:txBody>
      </p:sp>
    </p:spTree>
    <p:extLst>
      <p:ext uri="{BB962C8B-B14F-4D97-AF65-F5344CB8AC3E}">
        <p14:creationId xmlns:p14="http://schemas.microsoft.com/office/powerpoint/2010/main" val="4032340043"/>
      </p:ext>
    </p:extLst>
  </p:cSld>
  <p:clrMapOvr>
    <a:masterClrMapping/>
  </p:clrMapOvr>
</p:sld>
</file>

<file path=ppt/slides/slide1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히트율의 역설</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ea typeface="맑은 고딕"/>
              </a:rPr>
              <a:t>이 장에서 가장 중요한 것</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히트율 = 1 − 물리 읽기 / 논리 읽기</a:t>
            </a:r>
          </a:p>
          <a:p>
            <a:pPr algn="l">
              <a:spcAft>
                <a:spcPts val="1000"/>
              </a:spcAft>
            </a:pPr>
            <a:r>
              <a:rPr sz="1700" b="0">
                <a:solidFill>
                  <a:srgbClr val="222222"/>
                </a:solidFill>
                <a:latin typeface="맑은 고딕"/>
                <a:ea typeface="맑은 고딕"/>
              </a:rPr>
              <a:t>•  100%에 가까워도 시스템은 나쁜 상태일 수 있다</a:t>
            </a:r>
          </a:p>
          <a:p>
            <a:pPr algn="l">
              <a:spcAft>
                <a:spcPts val="1000"/>
              </a:spcAft>
            </a:pPr>
            <a:r>
              <a:rPr sz="1700" b="0">
                <a:solidFill>
                  <a:srgbClr val="222222"/>
                </a:solidFill>
                <a:latin typeface="맑은 고딕"/>
                <a:ea typeface="맑은 고딕"/>
              </a:rPr>
              <a:t>•  심지어 나쁜 SQL일수록 히트율은 더 높아진다</a:t>
            </a:r>
          </a:p>
          <a:p>
            <a:pPr algn="l">
              <a:spcAft>
                <a:spcPts val="1000"/>
              </a:spcAft>
            </a:pPr>
            <a:r>
              <a:rPr sz="1700" b="0">
                <a:solidFill>
                  <a:srgbClr val="222222"/>
                </a:solidFill>
                <a:latin typeface="맑은 고딕"/>
                <a:ea typeface="맑은 고딕"/>
              </a:rPr>
              <a:t>•  히트율은 잘못 읽으면 문제를 가려 버리는 지표</a:t>
            </a:r>
          </a:p>
        </p:txBody>
      </p:sp>
    </p:spTree>
    <p:extLst>
      <p:ext uri="{BB962C8B-B14F-4D97-AF65-F5344CB8AC3E}">
        <p14:creationId xmlns:p14="http://schemas.microsoft.com/office/powerpoint/2010/main" val="1992608492"/>
      </p:ext>
    </p:extLst>
  </p:cSld>
  <p:clrMapOvr>
    <a:masterClrMapping/>
  </p:clrMapOvr>
</p:sld>
</file>

<file path=ppt/slides/slide1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실측으로 계산하기</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ea typeface="맑은 고딕"/>
              </a:rPr>
              <a:t>V$SYSSTAT 원자료 → 99.98%</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37160" rtlCol="0" anchor="ctr"/>
          <a:lstStyle/>
          <a:p>
            <a:pPr>
              <a:lnSpc>
                <a:spcPct val="100000"/>
              </a:lnSpc>
              <a:spcAft>
                <a:spcPts val="0"/>
              </a:spcAft>
            </a:pPr>
            <a:r>
              <a:rPr sz="1250" b="0" dirty="0" err="1">
                <a:solidFill>
                  <a:srgbClr val="F2F2F2"/>
                </a:solidFill>
                <a:latin typeface="Consolas"/>
                <a:ea typeface="Consolas"/>
              </a:rPr>
              <a:t>SYS@orcl</a:t>
            </a:r>
            <a:r>
              <a:rPr sz="1250" b="0" dirty="0">
                <a:solidFill>
                  <a:srgbClr val="F2F2F2"/>
                </a:solidFill>
                <a:latin typeface="Consolas"/>
                <a:ea typeface="Consolas"/>
              </a:rPr>
              <a:t>&gt; SELECT name, value FROM </a:t>
            </a:r>
            <a:r>
              <a:rPr sz="1250" b="0" dirty="0" err="1">
                <a:solidFill>
                  <a:srgbClr val="F2F2F2"/>
                </a:solidFill>
                <a:latin typeface="Consolas"/>
                <a:ea typeface="Consolas"/>
              </a:rPr>
              <a:t>v$sysstat</a:t>
            </a:r>
            <a:endParaRPr sz="1250" b="0" dirty="0">
              <a:solidFill>
                <a:srgbClr val="F2F2F2"/>
              </a:solidFill>
              <a:latin typeface="Consolas"/>
              <a:ea typeface="Consolas"/>
            </a:endParaRPr>
          </a:p>
          <a:p>
            <a:pPr>
              <a:lnSpc>
                <a:spcPct val="100000"/>
              </a:lnSpc>
              <a:spcAft>
                <a:spcPts val="0"/>
              </a:spcAft>
            </a:pPr>
            <a:r>
              <a:rPr sz="1250" b="0" dirty="0">
                <a:solidFill>
                  <a:srgbClr val="F2F2F2"/>
                </a:solidFill>
                <a:latin typeface="Consolas"/>
                <a:ea typeface="Consolas"/>
              </a:rPr>
              <a:t>  2  WHERE name IN ('</a:t>
            </a:r>
            <a:r>
              <a:rPr sz="1250" b="0" dirty="0" err="1">
                <a:solidFill>
                  <a:srgbClr val="F2F2F2"/>
                </a:solidFill>
                <a:latin typeface="Consolas"/>
                <a:ea typeface="Consolas"/>
              </a:rPr>
              <a:t>db</a:t>
            </a:r>
            <a:r>
              <a:rPr sz="1250" b="0" dirty="0">
                <a:solidFill>
                  <a:srgbClr val="F2F2F2"/>
                </a:solidFill>
                <a:latin typeface="Consolas"/>
                <a:ea typeface="Consolas"/>
              </a:rPr>
              <a:t> block </a:t>
            </a:r>
            <a:r>
              <a:rPr sz="1250" b="0" dirty="0" err="1">
                <a:solidFill>
                  <a:srgbClr val="F2F2F2"/>
                </a:solidFill>
                <a:latin typeface="Consolas"/>
                <a:ea typeface="Consolas"/>
              </a:rPr>
              <a:t>gets','consistent</a:t>
            </a:r>
            <a:r>
              <a:rPr sz="1250" b="0" dirty="0">
                <a:solidFill>
                  <a:srgbClr val="F2F2F2"/>
                </a:solidFill>
                <a:latin typeface="Consolas"/>
                <a:ea typeface="Consolas"/>
              </a:rPr>
              <a:t> gets',</a:t>
            </a:r>
          </a:p>
          <a:p>
            <a:pPr>
              <a:lnSpc>
                <a:spcPct val="100000"/>
              </a:lnSpc>
              <a:spcAft>
                <a:spcPts val="0"/>
              </a:spcAft>
            </a:pPr>
            <a:r>
              <a:rPr sz="1250" b="0" dirty="0">
                <a:solidFill>
                  <a:srgbClr val="F2F2F2"/>
                </a:solidFill>
                <a:latin typeface="Consolas"/>
                <a:ea typeface="Consolas"/>
              </a:rPr>
              <a:t>  3                 'physical </a:t>
            </a:r>
            <a:r>
              <a:rPr sz="1250" b="0" dirty="0" err="1">
                <a:solidFill>
                  <a:srgbClr val="F2F2F2"/>
                </a:solidFill>
                <a:latin typeface="Consolas"/>
                <a:ea typeface="Consolas"/>
              </a:rPr>
              <a:t>reads','session</a:t>
            </a:r>
            <a:r>
              <a:rPr sz="1250" b="0" dirty="0">
                <a:solidFill>
                  <a:srgbClr val="F2F2F2"/>
                </a:solidFill>
                <a:latin typeface="Consolas"/>
                <a:ea typeface="Consolas"/>
              </a:rPr>
              <a:t> logical reads');</a:t>
            </a:r>
          </a:p>
          <a:p>
            <a:pPr>
              <a:lnSpc>
                <a:spcPct val="100000"/>
              </a:lnSpc>
              <a:spcAft>
                <a:spcPts val="0"/>
              </a:spcAft>
            </a:pPr>
            <a:r>
              <a:rPr sz="1250" b="0" dirty="0">
                <a:solidFill>
                  <a:srgbClr val="F2F2F2"/>
                </a:solidFill>
                <a:latin typeface="Consolas"/>
                <a:ea typeface="Consolas"/>
              </a:rPr>
              <a:t> </a:t>
            </a:r>
          </a:p>
          <a:p>
            <a:pPr>
              <a:lnSpc>
                <a:spcPct val="100000"/>
              </a:lnSpc>
              <a:spcAft>
                <a:spcPts val="0"/>
              </a:spcAft>
            </a:pPr>
            <a:r>
              <a:rPr sz="1250" b="0" dirty="0">
                <a:solidFill>
                  <a:srgbClr val="F2F2F2"/>
                </a:solidFill>
                <a:latin typeface="Consolas"/>
                <a:ea typeface="Consolas"/>
              </a:rPr>
              <a:t>NAME                      VALUE</a:t>
            </a:r>
          </a:p>
          <a:p>
            <a:pPr>
              <a:lnSpc>
                <a:spcPct val="100000"/>
              </a:lnSpc>
              <a:spcAft>
                <a:spcPts val="0"/>
              </a:spcAft>
            </a:pPr>
            <a:r>
              <a:rPr sz="1250" b="0" dirty="0">
                <a:solidFill>
                  <a:srgbClr val="F2F2F2"/>
                </a:solidFill>
                <a:latin typeface="Consolas"/>
                <a:ea typeface="Consolas"/>
              </a:rPr>
              <a:t>--------------------- -----------</a:t>
            </a:r>
          </a:p>
          <a:p>
            <a:pPr>
              <a:lnSpc>
                <a:spcPct val="100000"/>
              </a:lnSpc>
              <a:spcAft>
                <a:spcPts val="0"/>
              </a:spcAft>
            </a:pPr>
            <a:r>
              <a:rPr sz="1250" b="0" dirty="0">
                <a:solidFill>
                  <a:srgbClr val="F2F2F2"/>
                </a:solidFill>
                <a:latin typeface="Consolas"/>
                <a:ea typeface="Consolas"/>
              </a:rPr>
              <a:t>consistent gets       374267229</a:t>
            </a:r>
          </a:p>
          <a:p>
            <a:pPr>
              <a:lnSpc>
                <a:spcPct val="100000"/>
              </a:lnSpc>
              <a:spcAft>
                <a:spcPts val="0"/>
              </a:spcAft>
            </a:pPr>
            <a:r>
              <a:rPr sz="1250" b="0" dirty="0" err="1">
                <a:solidFill>
                  <a:srgbClr val="F2F2F2"/>
                </a:solidFill>
                <a:latin typeface="Consolas"/>
                <a:ea typeface="Consolas"/>
              </a:rPr>
              <a:t>db</a:t>
            </a:r>
            <a:r>
              <a:rPr sz="1250" b="0" dirty="0">
                <a:solidFill>
                  <a:srgbClr val="F2F2F2"/>
                </a:solidFill>
                <a:latin typeface="Consolas"/>
                <a:ea typeface="Consolas"/>
              </a:rPr>
              <a:t> block gets            618971</a:t>
            </a:r>
          </a:p>
          <a:p>
            <a:pPr>
              <a:lnSpc>
                <a:spcPct val="100000"/>
              </a:lnSpc>
              <a:spcAft>
                <a:spcPts val="0"/>
              </a:spcAft>
            </a:pPr>
            <a:r>
              <a:rPr sz="1250" b="0" dirty="0">
                <a:solidFill>
                  <a:srgbClr val="F2F2F2"/>
                </a:solidFill>
                <a:latin typeface="Consolas"/>
                <a:ea typeface="Consolas"/>
              </a:rPr>
              <a:t>physical reads            75765</a:t>
            </a:r>
          </a:p>
          <a:p>
            <a:pPr>
              <a:lnSpc>
                <a:spcPct val="100000"/>
              </a:lnSpc>
              <a:spcAft>
                <a:spcPts val="0"/>
              </a:spcAft>
            </a:pPr>
            <a:r>
              <a:rPr sz="1250" b="0" dirty="0">
                <a:solidFill>
                  <a:srgbClr val="F2F2F2"/>
                </a:solidFill>
                <a:latin typeface="Consolas"/>
                <a:ea typeface="Consolas"/>
              </a:rPr>
              <a:t>session logical reads 374886200</a:t>
            </a:r>
          </a:p>
          <a:p>
            <a:pPr>
              <a:lnSpc>
                <a:spcPct val="100000"/>
              </a:lnSpc>
              <a:spcAft>
                <a:spcPts val="0"/>
              </a:spcAft>
            </a:pPr>
            <a:r>
              <a:rPr sz="1250" b="0" dirty="0">
                <a:solidFill>
                  <a:srgbClr val="F2F2F2"/>
                </a:solidFill>
                <a:latin typeface="Consolas"/>
                <a:ea typeface="Consolas"/>
              </a:rPr>
              <a:t> </a:t>
            </a:r>
          </a:p>
          <a:p>
            <a:pPr>
              <a:lnSpc>
                <a:spcPct val="100000"/>
              </a:lnSpc>
              <a:spcAft>
                <a:spcPts val="0"/>
              </a:spcAft>
            </a:pPr>
            <a:r>
              <a:rPr sz="1250" b="0" dirty="0">
                <a:solidFill>
                  <a:srgbClr val="F2F2F2"/>
                </a:solidFill>
                <a:latin typeface="Consolas"/>
                <a:ea typeface="Consolas"/>
              </a:rPr>
              <a:t>-- </a:t>
            </a:r>
            <a:r>
              <a:rPr sz="1250" b="0" dirty="0" err="1">
                <a:solidFill>
                  <a:srgbClr val="F2F2F2"/>
                </a:solidFill>
                <a:latin typeface="Consolas"/>
                <a:ea typeface="Consolas"/>
              </a:rPr>
              <a:t>히트율</a:t>
            </a:r>
            <a:r>
              <a:rPr sz="1250" b="0" dirty="0">
                <a:solidFill>
                  <a:srgbClr val="F2F2F2"/>
                </a:solidFill>
                <a:latin typeface="Consolas"/>
                <a:ea typeface="Consolas"/>
              </a:rPr>
              <a:t> = 1 - 75,765 / (618,971 + 374,267,229) = 99.98%</a:t>
            </a:r>
          </a:p>
          <a:p>
            <a:pPr>
              <a:lnSpc>
                <a:spcPct val="100000"/>
              </a:lnSpc>
              <a:spcAft>
                <a:spcPts val="0"/>
              </a:spcAft>
            </a:pPr>
            <a:r>
              <a:rPr sz="1250" b="0" dirty="0">
                <a:solidFill>
                  <a:srgbClr val="F2F2F2"/>
                </a:solidFill>
                <a:latin typeface="Consolas"/>
                <a:ea typeface="Consolas"/>
              </a:rPr>
              <a:t>-- </a:t>
            </a:r>
            <a:r>
              <a:rPr sz="1250" b="0" dirty="0" err="1">
                <a:solidFill>
                  <a:srgbClr val="F2F2F2"/>
                </a:solidFill>
                <a:latin typeface="Consolas"/>
                <a:ea typeface="Consolas"/>
              </a:rPr>
              <a:t>그런데</a:t>
            </a:r>
            <a:r>
              <a:rPr sz="1250" b="0" dirty="0">
                <a:solidFill>
                  <a:srgbClr val="F2F2F2"/>
                </a:solidFill>
                <a:latin typeface="Consolas"/>
                <a:ea typeface="Consolas"/>
              </a:rPr>
              <a:t> </a:t>
            </a:r>
            <a:r>
              <a:rPr sz="1250" b="0" dirty="0" err="1">
                <a:solidFill>
                  <a:srgbClr val="F2F2F2"/>
                </a:solidFill>
                <a:latin typeface="Consolas"/>
                <a:ea typeface="Consolas"/>
              </a:rPr>
              <a:t>논리</a:t>
            </a:r>
            <a:r>
              <a:rPr sz="1250" b="0" dirty="0">
                <a:solidFill>
                  <a:srgbClr val="F2F2F2"/>
                </a:solidFill>
                <a:latin typeface="Consolas"/>
                <a:ea typeface="Consolas"/>
              </a:rPr>
              <a:t> </a:t>
            </a:r>
            <a:r>
              <a:rPr sz="1250" b="0" dirty="0" err="1">
                <a:solidFill>
                  <a:srgbClr val="F2F2F2"/>
                </a:solidFill>
                <a:latin typeface="Consolas"/>
                <a:ea typeface="Consolas"/>
              </a:rPr>
              <a:t>읽기가</a:t>
            </a:r>
            <a:r>
              <a:rPr sz="1250" b="0" dirty="0">
                <a:solidFill>
                  <a:srgbClr val="F2F2F2"/>
                </a:solidFill>
                <a:latin typeface="Consolas"/>
                <a:ea typeface="Consolas"/>
              </a:rPr>
              <a:t> 3.7억 회! </a:t>
            </a:r>
            <a:r>
              <a:rPr sz="1250" b="0" dirty="0" err="1">
                <a:solidFill>
                  <a:srgbClr val="F2F2F2"/>
                </a:solidFill>
                <a:latin typeface="Consolas"/>
                <a:ea typeface="Consolas"/>
              </a:rPr>
              <a:t>물리는</a:t>
            </a:r>
            <a:r>
              <a:rPr sz="1250" b="0" dirty="0">
                <a:solidFill>
                  <a:srgbClr val="F2F2F2"/>
                </a:solidFill>
                <a:latin typeface="Consolas"/>
                <a:ea typeface="Consolas"/>
              </a:rPr>
              <a:t> 7.5만. </a:t>
            </a:r>
            <a:r>
              <a:rPr sz="1250" b="0" dirty="0" err="1">
                <a:solidFill>
                  <a:srgbClr val="F2F2F2"/>
                </a:solidFill>
                <a:latin typeface="Consolas"/>
                <a:ea typeface="Consolas"/>
              </a:rPr>
              <a:t>무엇이</a:t>
            </a:r>
            <a:r>
              <a:rPr sz="1250" b="0" dirty="0">
                <a:solidFill>
                  <a:srgbClr val="F2F2F2"/>
                </a:solidFill>
                <a:latin typeface="Consolas"/>
                <a:ea typeface="Consolas"/>
              </a:rPr>
              <a:t> </a:t>
            </a:r>
            <a:r>
              <a:rPr sz="1250" b="0" dirty="0" err="1">
                <a:solidFill>
                  <a:srgbClr val="F2F2F2"/>
                </a:solidFill>
                <a:latin typeface="Consolas"/>
                <a:ea typeface="Consolas"/>
              </a:rPr>
              <a:t>문제인가</a:t>
            </a:r>
            <a:r>
              <a:rPr sz="1250" b="0" dirty="0">
                <a:solidFill>
                  <a:srgbClr val="F2F2F2"/>
                </a:solidFill>
                <a:latin typeface="Consolas"/>
                <a:ea typeface="Consolas"/>
              </a:rPr>
              <a:t>?</a:t>
            </a:r>
          </a:p>
        </p:txBody>
      </p:sp>
    </p:spTree>
    <p:extLst>
      <p:ext uri="{BB962C8B-B14F-4D97-AF65-F5344CB8AC3E}">
        <p14:creationId xmlns:p14="http://schemas.microsoft.com/office/powerpoint/2010/main" val="3276144835"/>
      </p:ext>
    </p:extLst>
  </p:cSld>
  <p:clrMapOvr>
    <a:masterClrMapping/>
  </p:clrMapOvr>
</p:sld>
</file>

<file path=ppt/slides/slide1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나쁜 SQL이 히트율을 올린다</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ea typeface="맑은 고딕"/>
              </a:rPr>
              <a:t>반복 스캔의 산수</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100블록을 1번 읽으면: 논리 100, 물리 100, 히트율 0%</a:t>
            </a:r>
          </a:p>
          <a:p>
            <a:pPr algn="l">
              <a:spcAft>
                <a:spcPts val="1000"/>
              </a:spcAft>
            </a:pPr>
            <a:r>
              <a:rPr sz="1700" b="0">
                <a:solidFill>
                  <a:srgbClr val="222222"/>
                </a:solidFill>
                <a:latin typeface="맑은 고딕"/>
                <a:ea typeface="맑은 고딕"/>
              </a:rPr>
              <a:t>•  같은 100블록을 1,000번 읽으면: 논리 100,000, 물리 100</a:t>
            </a:r>
          </a:p>
          <a:p>
            <a:pPr algn="l">
              <a:spcAft>
                <a:spcPts val="1000"/>
              </a:spcAft>
            </a:pPr>
            <a:r>
              <a:rPr sz="1700" b="0">
                <a:solidFill>
                  <a:srgbClr val="222222"/>
                </a:solidFill>
                <a:latin typeface="맑은 고딕"/>
                <a:ea typeface="맑은 고딕"/>
              </a:rPr>
              <a:t>•  → 히트율 = 1 − 100/100,000 = 99.9%로 치솟음</a:t>
            </a:r>
          </a:p>
          <a:p>
            <a:pPr algn="l">
              <a:spcAft>
                <a:spcPts val="1000"/>
              </a:spcAft>
            </a:pPr>
            <a:r>
              <a:rPr sz="1700" b="0">
                <a:solidFill>
                  <a:srgbClr val="222222"/>
                </a:solidFill>
                <a:latin typeface="맑은 고딕"/>
                <a:ea typeface="맑은 고딕"/>
              </a:rPr>
              <a:t>•  반복이 심할수록 히트율은 100%에 수렴한다</a:t>
            </a:r>
          </a:p>
        </p:txBody>
      </p:sp>
    </p:spTree>
    <p:extLst>
      <p:ext uri="{BB962C8B-B14F-4D97-AF65-F5344CB8AC3E}">
        <p14:creationId xmlns:p14="http://schemas.microsoft.com/office/powerpoint/2010/main" val="1236358361"/>
      </p:ext>
    </p:extLst>
  </p:cSld>
  <p:clrMapOvr>
    <a:masterClrMapping/>
  </p:clrMapOvr>
</p:sld>
</file>

<file path=ppt/slides/slide1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왜 대량 논리 읽기가 느린가</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ea typeface="맑은 고딕"/>
              </a:rPr>
              <a:t>물리 I/O가 없어도 느리다</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논리 읽기 한 번도 CPU와 버퍼 래치 비용이 든다</a:t>
            </a:r>
          </a:p>
          <a:p>
            <a:pPr algn="l">
              <a:spcAft>
                <a:spcPts val="1000"/>
              </a:spcAft>
            </a:pPr>
            <a:r>
              <a:rPr sz="1700" b="0">
                <a:solidFill>
                  <a:srgbClr val="222222"/>
                </a:solidFill>
                <a:latin typeface="맑은 고딕"/>
                <a:ea typeface="맑은 고딕"/>
              </a:rPr>
              <a:t>•  초당 수십만 논리 읽기 → CPU가 묶인다</a:t>
            </a:r>
          </a:p>
          <a:p>
            <a:pPr algn="l">
              <a:spcAft>
                <a:spcPts val="1000"/>
              </a:spcAft>
            </a:pPr>
            <a:r>
              <a:rPr sz="1700" b="0">
                <a:solidFill>
                  <a:srgbClr val="222222"/>
                </a:solidFill>
                <a:latin typeface="맑은 고딕"/>
                <a:ea typeface="맑은 고딕"/>
              </a:rPr>
              <a:t>•  인기 블록 동시 접근 → cache buffers chains·buffer busy</a:t>
            </a:r>
          </a:p>
          <a:p>
            <a:pPr algn="l">
              <a:spcAft>
                <a:spcPts val="1000"/>
              </a:spcAft>
            </a:pPr>
            <a:r>
              <a:rPr sz="1700" b="0">
                <a:solidFill>
                  <a:srgbClr val="222222"/>
                </a:solidFill>
                <a:latin typeface="맑은 고딕"/>
                <a:ea typeface="맑은 고딕"/>
              </a:rPr>
              <a:t>•  히트율 100% = 디스크를 안 쓴다 ≠ 빠르다</a:t>
            </a:r>
          </a:p>
        </p:txBody>
      </p:sp>
    </p:spTree>
    <p:extLst>
      <p:ext uri="{BB962C8B-B14F-4D97-AF65-F5344CB8AC3E}">
        <p14:creationId xmlns:p14="http://schemas.microsoft.com/office/powerpoint/2010/main" val="2013489769"/>
      </p:ext>
    </p:extLst>
  </p:cSld>
  <p:clrMapOvr>
    <a:masterClrMapping/>
  </p:clrMapOvr>
</p:sld>
</file>

<file path=ppt/slides/slide1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히트율 신앙은 왜 끈질긴가</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ea typeface="맑은 고딕"/>
              </a:rPr>
              <a:t>그리고 함께 봐야 할 것</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이유1: 단 하나의 숫자라 직관적이고 보고하기 쉽다</a:t>
            </a:r>
          </a:p>
          <a:p>
            <a:pPr algn="l">
              <a:spcAft>
                <a:spcPts val="1000"/>
              </a:spcAft>
            </a:pPr>
            <a:r>
              <a:rPr sz="1700" b="0">
                <a:solidFill>
                  <a:srgbClr val="222222"/>
                </a:solidFill>
                <a:latin typeface="맑은 고딕"/>
                <a:ea typeface="맑은 고딕"/>
              </a:rPr>
              <a:t>•  이유2: 메모리가 귀하던 시절엔 물리 I/O가 지배적 병목이었다</a:t>
            </a:r>
          </a:p>
          <a:p>
            <a:pPr algn="l">
              <a:spcAft>
                <a:spcPts val="1000"/>
              </a:spcAft>
            </a:pPr>
            <a:r>
              <a:rPr sz="1700" b="0">
                <a:solidFill>
                  <a:srgbClr val="222222"/>
                </a:solidFill>
                <a:latin typeface="맑은 고딕"/>
                <a:ea typeface="맑은 고딕"/>
              </a:rPr>
              <a:t>•  지금은 대부분 OLTP가 이미 99%+ → 변별력 상실</a:t>
            </a:r>
          </a:p>
          <a:p>
            <a:pPr algn="l">
              <a:spcAft>
                <a:spcPts val="1000"/>
              </a:spcAft>
            </a:pPr>
            <a:r>
              <a:rPr sz="1700" b="0">
                <a:solidFill>
                  <a:srgbClr val="222222"/>
                </a:solidFill>
                <a:latin typeface="맑은 고딕"/>
                <a:ea typeface="맑은 고딕"/>
              </a:rPr>
              <a:t>•  함께 볼 것: 논리 읽기 총량·추세 / 상위 buffer_gets SQL / CPU 비중</a:t>
            </a:r>
          </a:p>
        </p:txBody>
      </p:sp>
    </p:spTree>
    <p:extLst>
      <p:ext uri="{BB962C8B-B14F-4D97-AF65-F5344CB8AC3E}">
        <p14:creationId xmlns:p14="http://schemas.microsoft.com/office/powerpoint/2010/main" val="3979738843"/>
      </p:ext>
    </p:extLst>
  </p:cSld>
  <p:clrMapOvr>
    <a:masterClrMapping/>
  </p:clrMapOvr>
</p:sld>
</file>

<file path=ppt/slides/slide1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실무 시나리오</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ea typeface="맑은 고딕"/>
              </a:rPr>
              <a:t>히트율 99.99%인데 화면이 느리다</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상황: 히트율 99.99% 확인 후 '애플리케이션 문제'로 결론</a:t>
            </a:r>
          </a:p>
          <a:p>
            <a:pPr algn="l">
              <a:spcAft>
                <a:spcPts val="1000"/>
              </a:spcAft>
            </a:pPr>
            <a:r>
              <a:rPr sz="1700" b="0">
                <a:solidFill>
                  <a:srgbClr val="222222"/>
                </a:solidFill>
                <a:latin typeface="맑은 고딕"/>
                <a:ea typeface="맑은 고딕"/>
              </a:rPr>
              <a:t>•  놓친 것: 이 SQL의 실행당 논리 읽기가 수십만</a:t>
            </a:r>
          </a:p>
          <a:p>
            <a:pPr algn="l">
              <a:spcAft>
                <a:spcPts val="1000"/>
              </a:spcAft>
            </a:pPr>
            <a:r>
              <a:rPr sz="1700" b="0">
                <a:solidFill>
                  <a:srgbClr val="222222"/>
                </a:solidFill>
                <a:latin typeface="맑은 고딕"/>
                <a:ea typeface="맑은 고딕"/>
              </a:rPr>
              <a:t>•  반복 읽는 비효율 실행계획 → 논리 폭증, 히트율은 100% 수렴</a:t>
            </a:r>
          </a:p>
          <a:p>
            <a:pPr algn="l">
              <a:spcAft>
                <a:spcPts val="1000"/>
              </a:spcAft>
            </a:pPr>
            <a:r>
              <a:rPr sz="1700" b="0">
                <a:solidFill>
                  <a:srgbClr val="222222"/>
                </a:solidFill>
                <a:latin typeface="맑은 고딕"/>
                <a:ea typeface="맑은 고딕"/>
              </a:rPr>
              <a:t>•  조치: 캐시 확장이 아니라 실행계획을 고친다</a:t>
            </a:r>
          </a:p>
        </p:txBody>
      </p:sp>
    </p:spTree>
    <p:extLst>
      <p:ext uri="{BB962C8B-B14F-4D97-AF65-F5344CB8AC3E}">
        <p14:creationId xmlns:p14="http://schemas.microsoft.com/office/powerpoint/2010/main" val="3470370813"/>
      </p:ext>
    </p:extLst>
  </p:cSld>
  <p:clrMapOvr>
    <a:masterClrMapping/>
  </p:clrMapOvr>
</p:sld>
</file>

<file path=ppt/slides/slide1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ea typeface="맑은 고딕"/>
              </a:rPr>
              <a:t>31.4</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ea typeface="맑은 고딕"/>
              </a:rPr>
              <a:t>버퍼 캐시 어드바이저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ea typeface="맑은 고딕"/>
              </a:rPr>
              <a:t>•  크기→물리 읽기를 함수로</a:t>
            </a:r>
          </a:p>
          <a:p>
            <a:pPr algn="l">
              <a:spcAft>
                <a:spcPts val="600"/>
              </a:spcAft>
            </a:pPr>
            <a:r>
              <a:rPr sz="1600" b="0">
                <a:solidFill>
                  <a:srgbClr val="FFFFFF"/>
                </a:solidFill>
                <a:latin typeface="맑은 고딕"/>
                <a:ea typeface="맑은 고딕"/>
              </a:rPr>
              <a:t>•  물리 읽기 계수</a:t>
            </a:r>
          </a:p>
          <a:p>
            <a:pPr algn="l">
              <a:spcAft>
                <a:spcPts val="600"/>
              </a:spcAft>
            </a:pPr>
            <a:r>
              <a:rPr sz="1600" b="0">
                <a:solidFill>
                  <a:srgbClr val="FFFFFF"/>
                </a:solidFill>
                <a:latin typeface="맑은 고딕"/>
                <a:ea typeface="맑은 고딕"/>
              </a:rPr>
              <a:t>•  480MB에서 수렴</a:t>
            </a:r>
          </a:p>
        </p:txBody>
      </p:sp>
    </p:spTree>
    <p:extLst>
      <p:ext uri="{BB962C8B-B14F-4D97-AF65-F5344CB8AC3E}">
        <p14:creationId xmlns:p14="http://schemas.microsoft.com/office/powerpoint/2010/main" val="418043016"/>
      </p:ext>
    </p:extLst>
  </p:cSld>
  <p:clrMapOvr>
    <a:masterClrMapping/>
  </p:clrMapOvr>
</p:sld>
</file>

<file path=ppt/slides/slide1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왜 히트율이 아니라 예측인가</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ea typeface="맑은 고딕"/>
              </a:rPr>
              <a:t>결과값 vs 함수형 데이터</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히트율: '지금 이 크기에서 얼마나 적중했나' — 결과값 하나</a:t>
            </a:r>
          </a:p>
          <a:p>
            <a:pPr algn="l">
              <a:spcAft>
                <a:spcPts val="1000"/>
              </a:spcAft>
            </a:pPr>
            <a:r>
              <a:rPr sz="1700" b="0">
                <a:solidFill>
                  <a:srgbClr val="222222"/>
                </a:solidFill>
                <a:latin typeface="맑은 고딕"/>
                <a:ea typeface="맑은 고딕"/>
              </a:rPr>
              <a:t>•  어드바이스: '크기를 바꾸면 어떻게 될까' — 크기의 함수</a:t>
            </a:r>
          </a:p>
          <a:p>
            <a:pPr algn="l">
              <a:spcAft>
                <a:spcPts val="1000"/>
              </a:spcAft>
            </a:pPr>
            <a:r>
              <a:rPr sz="1700" b="0">
                <a:solidFill>
                  <a:srgbClr val="222222"/>
                </a:solidFill>
                <a:latin typeface="맑은 고딕"/>
                <a:ea typeface="맑은 고딕"/>
              </a:rPr>
              <a:t>•  튜닝은 '무엇을 바꾸면 무엇이 달라지나'를 다루는 일</a:t>
            </a:r>
          </a:p>
          <a:p>
            <a:pPr algn="l">
              <a:spcAft>
                <a:spcPts val="1000"/>
              </a:spcAft>
            </a:pPr>
            <a:r>
              <a:rPr sz="1700" b="0">
                <a:solidFill>
                  <a:srgbClr val="222222"/>
                </a:solidFill>
                <a:latin typeface="맑은 고딕"/>
                <a:ea typeface="맑은 고딕"/>
              </a:rPr>
              <a:t>•  기여하지 않는 버퍼는 낭비 — 그 구간을 어드바이스가 보여준다</a:t>
            </a:r>
          </a:p>
        </p:txBody>
      </p:sp>
    </p:spTree>
    <p:extLst>
      <p:ext uri="{BB962C8B-B14F-4D97-AF65-F5344CB8AC3E}">
        <p14:creationId xmlns:p14="http://schemas.microsoft.com/office/powerpoint/2010/main" val="3984153618"/>
      </p:ext>
    </p:extLst>
  </p:cSld>
  <p:clrMapOvr>
    <a:masterClrMapping/>
  </p:clrMapOvr>
</p:sld>
</file>

<file path=ppt/slides/slide1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V$DB_CACHE_ADVICE 실측</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ea typeface="맑은 고딕"/>
              </a:rPr>
              <a:t>크기별 물리 읽기 예측 (DEFAULT 8K)</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37160" rtlCol="0" anchor="ctr"/>
          <a:lstStyle/>
          <a:p>
            <a:pPr>
              <a:lnSpc>
                <a:spcPct val="100000"/>
              </a:lnSpc>
              <a:spcAft>
                <a:spcPts val="0"/>
              </a:spcAft>
            </a:pPr>
            <a:r>
              <a:rPr sz="1250" b="0" dirty="0" err="1">
                <a:solidFill>
                  <a:srgbClr val="F2F2F2"/>
                </a:solidFill>
                <a:latin typeface="Consolas"/>
                <a:ea typeface="Consolas"/>
              </a:rPr>
              <a:t>SYS@orcl</a:t>
            </a:r>
            <a:r>
              <a:rPr sz="1250" b="0" dirty="0">
                <a:solidFill>
                  <a:srgbClr val="F2F2F2"/>
                </a:solidFill>
                <a:latin typeface="Consolas"/>
                <a:ea typeface="Consolas"/>
              </a:rPr>
              <a:t>&gt; SELECT ROUND(</a:t>
            </a:r>
            <a:r>
              <a:rPr sz="1250" b="0" dirty="0" err="1">
                <a:solidFill>
                  <a:srgbClr val="F2F2F2"/>
                </a:solidFill>
                <a:latin typeface="Consolas"/>
                <a:ea typeface="Consolas"/>
              </a:rPr>
              <a:t>size_for_estimate</a:t>
            </a:r>
            <a:r>
              <a:rPr sz="1250" b="0" dirty="0">
                <a:solidFill>
                  <a:srgbClr val="F2F2F2"/>
                </a:solidFill>
                <a:latin typeface="Consolas"/>
                <a:ea typeface="Consolas"/>
              </a:rPr>
              <a:t>) </a:t>
            </a:r>
            <a:r>
              <a:rPr sz="1250" b="0" dirty="0" err="1">
                <a:solidFill>
                  <a:srgbClr val="F2F2F2"/>
                </a:solidFill>
                <a:latin typeface="Consolas"/>
                <a:ea typeface="Consolas"/>
              </a:rPr>
              <a:t>cache_mb</a:t>
            </a:r>
            <a:r>
              <a:rPr sz="1250" b="0" dirty="0">
                <a:solidFill>
                  <a:srgbClr val="F2F2F2"/>
                </a:solidFill>
                <a:latin typeface="Consolas"/>
                <a:ea typeface="Consolas"/>
              </a:rPr>
              <a:t>,</a:t>
            </a:r>
          </a:p>
          <a:p>
            <a:pPr>
              <a:lnSpc>
                <a:spcPct val="100000"/>
              </a:lnSpc>
              <a:spcAft>
                <a:spcPts val="0"/>
              </a:spcAft>
            </a:pPr>
            <a:r>
              <a:rPr sz="1250" b="0" dirty="0">
                <a:solidFill>
                  <a:srgbClr val="F2F2F2"/>
                </a:solidFill>
                <a:latin typeface="Consolas"/>
                <a:ea typeface="Consolas"/>
              </a:rPr>
              <a:t>  2    </a:t>
            </a:r>
            <a:r>
              <a:rPr sz="1250" b="0" dirty="0" err="1">
                <a:solidFill>
                  <a:srgbClr val="F2F2F2"/>
                </a:solidFill>
                <a:latin typeface="Consolas"/>
                <a:ea typeface="Consolas"/>
              </a:rPr>
              <a:t>size_factor</a:t>
            </a:r>
            <a:r>
              <a:rPr sz="1250" b="0" dirty="0">
                <a:solidFill>
                  <a:srgbClr val="F2F2F2"/>
                </a:solidFill>
                <a:latin typeface="Consolas"/>
                <a:ea typeface="Consolas"/>
              </a:rPr>
              <a:t> factor, </a:t>
            </a:r>
            <a:r>
              <a:rPr sz="1250" b="0" dirty="0" err="1">
                <a:solidFill>
                  <a:srgbClr val="F2F2F2"/>
                </a:solidFill>
                <a:latin typeface="Consolas"/>
                <a:ea typeface="Consolas"/>
              </a:rPr>
              <a:t>estd_physical_read_factor</a:t>
            </a:r>
            <a:r>
              <a:rPr sz="1250" b="0" dirty="0">
                <a:solidFill>
                  <a:srgbClr val="F2F2F2"/>
                </a:solidFill>
                <a:latin typeface="Consolas"/>
                <a:ea typeface="Consolas"/>
              </a:rPr>
              <a:t> </a:t>
            </a:r>
            <a:r>
              <a:rPr sz="1250" b="0" dirty="0" err="1">
                <a:solidFill>
                  <a:srgbClr val="F2F2F2"/>
                </a:solidFill>
                <a:latin typeface="Consolas"/>
                <a:ea typeface="Consolas"/>
              </a:rPr>
              <a:t>rd_factor</a:t>
            </a:r>
            <a:r>
              <a:rPr sz="1250" b="0" dirty="0">
                <a:solidFill>
                  <a:srgbClr val="F2F2F2"/>
                </a:solidFill>
                <a:latin typeface="Consolas"/>
                <a:ea typeface="Consolas"/>
              </a:rPr>
              <a:t>,</a:t>
            </a:r>
          </a:p>
          <a:p>
            <a:pPr>
              <a:lnSpc>
                <a:spcPct val="100000"/>
              </a:lnSpc>
              <a:spcAft>
                <a:spcPts val="0"/>
              </a:spcAft>
            </a:pPr>
            <a:r>
              <a:rPr sz="1250" b="0" dirty="0">
                <a:solidFill>
                  <a:srgbClr val="F2F2F2"/>
                </a:solidFill>
                <a:latin typeface="Consolas"/>
                <a:ea typeface="Consolas"/>
              </a:rPr>
              <a:t>  3    </a:t>
            </a:r>
            <a:r>
              <a:rPr sz="1250" b="0" dirty="0" err="1">
                <a:solidFill>
                  <a:srgbClr val="F2F2F2"/>
                </a:solidFill>
                <a:latin typeface="Consolas"/>
                <a:ea typeface="Consolas"/>
              </a:rPr>
              <a:t>estd_physical_reads</a:t>
            </a:r>
            <a:endParaRPr sz="1250" b="0" dirty="0">
              <a:solidFill>
                <a:srgbClr val="F2F2F2"/>
              </a:solidFill>
              <a:latin typeface="Consolas"/>
              <a:ea typeface="Consolas"/>
            </a:endParaRPr>
          </a:p>
          <a:p>
            <a:pPr>
              <a:lnSpc>
                <a:spcPct val="100000"/>
              </a:lnSpc>
              <a:spcAft>
                <a:spcPts val="0"/>
              </a:spcAft>
            </a:pPr>
            <a:r>
              <a:rPr sz="1250" b="0" dirty="0">
                <a:solidFill>
                  <a:srgbClr val="F2F2F2"/>
                </a:solidFill>
                <a:latin typeface="Consolas"/>
                <a:ea typeface="Consolas"/>
              </a:rPr>
              <a:t>  4  FROM </a:t>
            </a:r>
            <a:r>
              <a:rPr sz="1250" b="0" dirty="0" err="1">
                <a:solidFill>
                  <a:srgbClr val="F2F2F2"/>
                </a:solidFill>
                <a:latin typeface="Consolas"/>
                <a:ea typeface="Consolas"/>
              </a:rPr>
              <a:t>v$db_cache_advice</a:t>
            </a:r>
            <a:endParaRPr sz="1250" b="0" dirty="0">
              <a:solidFill>
                <a:srgbClr val="F2F2F2"/>
              </a:solidFill>
              <a:latin typeface="Consolas"/>
              <a:ea typeface="Consolas"/>
            </a:endParaRPr>
          </a:p>
          <a:p>
            <a:pPr>
              <a:lnSpc>
                <a:spcPct val="100000"/>
              </a:lnSpc>
              <a:spcAft>
                <a:spcPts val="0"/>
              </a:spcAft>
            </a:pPr>
            <a:r>
              <a:rPr sz="1250" b="0" dirty="0">
                <a:solidFill>
                  <a:srgbClr val="F2F2F2"/>
                </a:solidFill>
                <a:latin typeface="Consolas"/>
                <a:ea typeface="Consolas"/>
              </a:rPr>
              <a:t>  5  WHERE name='DEFAULT' AND </a:t>
            </a:r>
            <a:r>
              <a:rPr sz="1250" b="0" dirty="0" err="1">
                <a:solidFill>
                  <a:srgbClr val="F2F2F2"/>
                </a:solidFill>
                <a:latin typeface="Consolas"/>
                <a:ea typeface="Consolas"/>
              </a:rPr>
              <a:t>block_size</a:t>
            </a:r>
            <a:r>
              <a:rPr sz="1250" b="0" dirty="0">
                <a:solidFill>
                  <a:srgbClr val="F2F2F2"/>
                </a:solidFill>
                <a:latin typeface="Consolas"/>
                <a:ea typeface="Consolas"/>
              </a:rPr>
              <a:t>=8192</a:t>
            </a:r>
          </a:p>
          <a:p>
            <a:pPr>
              <a:lnSpc>
                <a:spcPct val="100000"/>
              </a:lnSpc>
              <a:spcAft>
                <a:spcPts val="0"/>
              </a:spcAft>
            </a:pPr>
            <a:r>
              <a:rPr sz="1250" b="0" dirty="0">
                <a:solidFill>
                  <a:srgbClr val="F2F2F2"/>
                </a:solidFill>
                <a:latin typeface="Consolas"/>
                <a:ea typeface="Consolas"/>
              </a:rPr>
              <a:t>  6  ORDER BY </a:t>
            </a:r>
            <a:r>
              <a:rPr sz="1250" b="0" dirty="0" err="1">
                <a:solidFill>
                  <a:srgbClr val="F2F2F2"/>
                </a:solidFill>
                <a:latin typeface="Consolas"/>
                <a:ea typeface="Consolas"/>
              </a:rPr>
              <a:t>size_for_estimate</a:t>
            </a:r>
            <a:r>
              <a:rPr sz="1250" b="0" dirty="0">
                <a:solidFill>
                  <a:srgbClr val="F2F2F2"/>
                </a:solidFill>
                <a:latin typeface="Consolas"/>
                <a:ea typeface="Consolas"/>
              </a:rPr>
              <a:t>;</a:t>
            </a:r>
          </a:p>
          <a:p>
            <a:pPr>
              <a:lnSpc>
                <a:spcPct val="100000"/>
              </a:lnSpc>
              <a:spcAft>
                <a:spcPts val="0"/>
              </a:spcAft>
            </a:pPr>
            <a:r>
              <a:rPr sz="1250" b="0" dirty="0">
                <a:solidFill>
                  <a:srgbClr val="F2F2F2"/>
                </a:solidFill>
                <a:latin typeface="Consolas"/>
                <a:ea typeface="Consolas"/>
              </a:rPr>
              <a:t> </a:t>
            </a:r>
          </a:p>
          <a:p>
            <a:pPr>
              <a:lnSpc>
                <a:spcPct val="100000"/>
              </a:lnSpc>
              <a:spcAft>
                <a:spcPts val="0"/>
              </a:spcAft>
            </a:pPr>
            <a:r>
              <a:rPr sz="1250" b="0" dirty="0">
                <a:solidFill>
                  <a:srgbClr val="F2F2F2"/>
                </a:solidFill>
                <a:latin typeface="Consolas"/>
                <a:ea typeface="Consolas"/>
              </a:rPr>
              <a:t> CACHE_MB   FACTOR  RD_FACTOR  ESTD_PHYSICAL_READS</a:t>
            </a:r>
          </a:p>
          <a:p>
            <a:pPr>
              <a:lnSpc>
                <a:spcPct val="100000"/>
              </a:lnSpc>
              <a:spcAft>
                <a:spcPts val="0"/>
              </a:spcAft>
            </a:pPr>
            <a:r>
              <a:rPr sz="1250" b="0" dirty="0">
                <a:solidFill>
                  <a:srgbClr val="F2F2F2"/>
                </a:solidFill>
                <a:latin typeface="Consolas"/>
                <a:ea typeface="Consolas"/>
              </a:rPr>
              <a:t>--------- -------- ---------- --------------------</a:t>
            </a:r>
          </a:p>
          <a:p>
            <a:pPr>
              <a:lnSpc>
                <a:spcPct val="100000"/>
              </a:lnSpc>
              <a:spcAft>
                <a:spcPts val="0"/>
              </a:spcAft>
            </a:pPr>
            <a:r>
              <a:rPr sz="1250" b="0" dirty="0">
                <a:solidFill>
                  <a:srgbClr val="F2F2F2"/>
                </a:solidFill>
                <a:latin typeface="Consolas"/>
                <a:ea typeface="Consolas"/>
              </a:rPr>
              <a:t>       80   0.0926   446.8807             33631793</a:t>
            </a:r>
          </a:p>
          <a:p>
            <a:pPr>
              <a:lnSpc>
                <a:spcPct val="100000"/>
              </a:lnSpc>
              <a:spcAft>
                <a:spcPts val="0"/>
              </a:spcAft>
            </a:pPr>
            <a:r>
              <a:rPr sz="1250" b="0" dirty="0">
                <a:solidFill>
                  <a:srgbClr val="F2F2F2"/>
                </a:solidFill>
                <a:latin typeface="Consolas"/>
                <a:ea typeface="Consolas"/>
              </a:rPr>
              <a:t>      160   0.1852     2.6614               200293</a:t>
            </a:r>
          </a:p>
          <a:p>
            <a:pPr>
              <a:lnSpc>
                <a:spcPct val="100000"/>
              </a:lnSpc>
              <a:spcAft>
                <a:spcPts val="0"/>
              </a:spcAft>
            </a:pPr>
            <a:r>
              <a:rPr sz="1250" b="0" dirty="0">
                <a:solidFill>
                  <a:srgbClr val="F2F2F2"/>
                </a:solidFill>
                <a:latin typeface="Consolas"/>
                <a:ea typeface="Consolas"/>
              </a:rPr>
              <a:t>      320   0.3704     1.1634                87559</a:t>
            </a:r>
          </a:p>
          <a:p>
            <a:pPr>
              <a:lnSpc>
                <a:spcPct val="100000"/>
              </a:lnSpc>
              <a:spcAft>
                <a:spcPts val="0"/>
              </a:spcAft>
            </a:pPr>
            <a:r>
              <a:rPr sz="1250" b="0" dirty="0">
                <a:solidFill>
                  <a:srgbClr val="F2F2F2"/>
                </a:solidFill>
                <a:latin typeface="Consolas"/>
                <a:ea typeface="Consolas"/>
              </a:rPr>
              <a:t>      480   0.5556     1.0000                75259  &lt;= </a:t>
            </a:r>
            <a:r>
              <a:rPr sz="1250" b="0" dirty="0" err="1">
                <a:solidFill>
                  <a:srgbClr val="F2F2F2"/>
                </a:solidFill>
                <a:latin typeface="Consolas"/>
                <a:ea typeface="Consolas"/>
              </a:rPr>
              <a:t>수렴</a:t>
            </a:r>
            <a:endParaRPr sz="1250" b="0" dirty="0">
              <a:solidFill>
                <a:srgbClr val="F2F2F2"/>
              </a:solidFill>
              <a:latin typeface="Consolas"/>
              <a:ea typeface="Consolas"/>
            </a:endParaRPr>
          </a:p>
          <a:p>
            <a:pPr>
              <a:lnSpc>
                <a:spcPct val="100000"/>
              </a:lnSpc>
              <a:spcAft>
                <a:spcPts val="0"/>
              </a:spcAft>
            </a:pPr>
            <a:r>
              <a:rPr sz="1250" b="0" dirty="0">
                <a:solidFill>
                  <a:srgbClr val="F2F2F2"/>
                </a:solidFill>
                <a:latin typeface="Consolas"/>
                <a:ea typeface="Consolas"/>
              </a:rPr>
              <a:t>      864   1.0000     1.0000                75259  (</a:t>
            </a:r>
            <a:r>
              <a:rPr sz="1250" b="0" dirty="0" err="1">
                <a:solidFill>
                  <a:srgbClr val="F2F2F2"/>
                </a:solidFill>
                <a:latin typeface="Consolas"/>
                <a:ea typeface="Consolas"/>
              </a:rPr>
              <a:t>현재</a:t>
            </a:r>
            <a:r>
              <a:rPr sz="1250" b="0" dirty="0">
                <a:solidFill>
                  <a:srgbClr val="F2F2F2"/>
                </a:solidFill>
                <a:latin typeface="Consolas"/>
                <a:ea typeface="Consolas"/>
              </a:rPr>
              <a:t>)</a:t>
            </a:r>
          </a:p>
          <a:p>
            <a:pPr>
              <a:lnSpc>
                <a:spcPct val="100000"/>
              </a:lnSpc>
              <a:spcAft>
                <a:spcPts val="0"/>
              </a:spcAft>
            </a:pPr>
            <a:r>
              <a:rPr sz="1250" b="0" dirty="0">
                <a:solidFill>
                  <a:srgbClr val="F2F2F2"/>
                </a:solidFill>
                <a:latin typeface="Consolas"/>
                <a:ea typeface="Consolas"/>
              </a:rPr>
              <a:t>     1600   1.8519     1.0000                75259</a:t>
            </a:r>
          </a:p>
        </p:txBody>
      </p:sp>
    </p:spTree>
    <p:extLst>
      <p:ext uri="{BB962C8B-B14F-4D97-AF65-F5344CB8AC3E}">
        <p14:creationId xmlns:p14="http://schemas.microsoft.com/office/powerpoint/2010/main" val="4132255618"/>
      </p:ext>
    </p:extLst>
  </p:cSld>
  <p:clrMapOvr>
    <a:masterClrMapping/>
  </p:clrMapOvr>
</p:sld>
</file>

<file path=ppt/slides/slide1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어드바이스를 읽는 법</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ea typeface="맑은 고딕"/>
              </a:rPr>
              <a:t>세 구간으로 나눠 읽는다</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위험 구간(80MB): 계수 447배 — 절대 줄이면 안 됨</a:t>
            </a:r>
          </a:p>
          <a:p>
            <a:pPr algn="l">
              <a:spcAft>
                <a:spcPts val="1000"/>
              </a:spcAft>
            </a:pPr>
            <a:r>
              <a:rPr sz="1700" b="0">
                <a:solidFill>
                  <a:srgbClr val="222222"/>
                </a:solidFill>
                <a:latin typeface="맑은 고딕"/>
                <a:ea typeface="맑은 고딕"/>
              </a:rPr>
              <a:t>•  개선 구간(160~400MB): 계수 2.66→1.0, 키우면 물리 읽기 감소</a:t>
            </a:r>
          </a:p>
          <a:p>
            <a:pPr algn="l">
              <a:spcAft>
                <a:spcPts val="1000"/>
              </a:spcAft>
            </a:pPr>
            <a:r>
              <a:rPr sz="1700" b="0">
                <a:solidFill>
                  <a:srgbClr val="222222"/>
                </a:solidFill>
                <a:latin typeface="맑은 고딕"/>
                <a:ea typeface="맑은 고딕"/>
              </a:rPr>
              <a:t>•  수렴 구간(480MB↑): 계수 1.0, 더 키워도 소용없음</a:t>
            </a:r>
          </a:p>
          <a:p>
            <a:pPr algn="l">
              <a:spcAft>
                <a:spcPts val="1000"/>
              </a:spcAft>
            </a:pPr>
            <a:r>
              <a:rPr sz="1700" b="0">
                <a:solidFill>
                  <a:srgbClr val="222222"/>
                </a:solidFill>
                <a:latin typeface="맑은 고딕"/>
                <a:ea typeface="맑은 고딕"/>
              </a:rPr>
              <a:t>•  결론: 현재 864MB는 이미 충분. 회수해도 물리 읽기 불변</a:t>
            </a:r>
          </a:p>
        </p:txBody>
      </p:sp>
    </p:spTree>
    <p:extLst>
      <p:ext uri="{BB962C8B-B14F-4D97-AF65-F5344CB8AC3E}">
        <p14:creationId xmlns:p14="http://schemas.microsoft.com/office/powerpoint/2010/main" val="871659294"/>
      </p:ext>
    </p:extLst>
  </p:cSld>
  <p:clrMapOvr>
    <a:masterClrMapping/>
  </p:clrMapOvr>
</p:sld>
</file>

<file path=ppt/slides/slide1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ea typeface="맑은 고딕"/>
              </a:rPr>
              <a:t>31.5</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ea typeface="맑은 고딕"/>
              </a:rPr>
              <a:t>다중 버퍼 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ea typeface="맑은 고딕"/>
              </a:rPr>
              <a:t>•  KEEP=소형 참조 상주</a:t>
            </a:r>
          </a:p>
          <a:p>
            <a:pPr algn="l">
              <a:spcAft>
                <a:spcPts val="600"/>
              </a:spcAft>
            </a:pPr>
            <a:r>
              <a:rPr sz="1600" b="0">
                <a:solidFill>
                  <a:srgbClr val="FFFFFF"/>
                </a:solidFill>
                <a:latin typeface="맑은 고딕"/>
                <a:ea typeface="맑은 고딕"/>
              </a:rPr>
              <a:t>•  RECYCLE=대량 스캔 격리</a:t>
            </a:r>
          </a:p>
          <a:p>
            <a:pPr algn="l">
              <a:spcAft>
                <a:spcPts val="600"/>
              </a:spcAft>
            </a:pPr>
            <a:r>
              <a:rPr sz="1600" b="0">
                <a:solidFill>
                  <a:srgbClr val="FFFFFF"/>
                </a:solidFill>
                <a:latin typeface="맑은 고딕"/>
                <a:ea typeface="맑은 고딕"/>
              </a:rPr>
              <a:t>•  DRUG_MASTER 사례</a:t>
            </a:r>
          </a:p>
        </p:txBody>
      </p:sp>
    </p:spTree>
    <p:extLst>
      <p:ext uri="{BB962C8B-B14F-4D97-AF65-F5344CB8AC3E}">
        <p14:creationId xmlns:p14="http://schemas.microsoft.com/office/powerpoint/2010/main" val="365477741"/>
      </p:ext>
    </p:extLst>
  </p:cSld>
  <p:clrMapOvr>
    <a:masterClrMapping/>
  </p:clrMapOvr>
</p:sld>
</file>

<file path=ppt/slides/slide1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왜 풀을 나누는가</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ea typeface="맑은 고딕"/>
              </a:rPr>
              <a:t>대형 스캔이 따뜻한 블록을 밀어낸다</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하나의 풀 → 성격 반대인 객체가 같은 LRU에서 경쟁</a:t>
            </a:r>
          </a:p>
          <a:p>
            <a:pPr algn="l">
              <a:spcAft>
                <a:spcPts val="1000"/>
              </a:spcAft>
            </a:pPr>
            <a:r>
              <a:rPr sz="1700" b="0">
                <a:solidFill>
                  <a:srgbClr val="222222"/>
                </a:solidFill>
                <a:latin typeface="맑은 고딕"/>
                <a:ea typeface="맑은 고딕"/>
              </a:rPr>
              <a:t>•  대형 세그먼트 스캔이 소형 마스터의 따뜻한 블록을 축출</a:t>
            </a:r>
          </a:p>
          <a:p>
            <a:pPr algn="l">
              <a:spcAft>
                <a:spcPts val="1000"/>
              </a:spcAft>
            </a:pPr>
            <a:r>
              <a:rPr sz="1700" b="0">
                <a:solidFill>
                  <a:srgbClr val="222222"/>
                </a:solidFill>
                <a:latin typeface="맑은 고딕"/>
                <a:ea typeface="맑은 고딕"/>
              </a:rPr>
              <a:t>•  비순차 물리 읽기의 10% 초과 세그먼트 = '아주 크다'</a:t>
            </a:r>
          </a:p>
          <a:p>
            <a:pPr algn="l">
              <a:spcAft>
                <a:spcPts val="1000"/>
              </a:spcAft>
            </a:pPr>
            <a:r>
              <a:rPr sz="1700" b="0">
                <a:solidFill>
                  <a:srgbClr val="222222"/>
                </a:solidFill>
                <a:latin typeface="맑은 고딕"/>
                <a:ea typeface="맑은 고딕"/>
              </a:rPr>
              <a:t>•  해법: KEEP·RECYCLE로 물리적 분리</a:t>
            </a:r>
          </a:p>
        </p:txBody>
      </p:sp>
    </p:spTree>
    <p:extLst>
      <p:ext uri="{BB962C8B-B14F-4D97-AF65-F5344CB8AC3E}">
        <p14:creationId xmlns:p14="http://schemas.microsoft.com/office/powerpoint/2010/main" val="1020068834"/>
      </p:ext>
    </p:extLst>
  </p:cSld>
  <p:clrMapOvr>
    <a:masterClrMapping/>
  </p:clrMapOvr>
</p:sld>
</file>

<file path=ppt/slides/slide1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KEEP / RECYCLE / DEFAULT</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ea typeface="맑은 고딕"/>
              </a:rPr>
              <a:t>각 풀의 역할</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KEEP: 항상 상주, 미스 최소화 — 소형 코드·마스터 테이블</a:t>
            </a:r>
          </a:p>
          <a:p>
            <a:pPr algn="l">
              <a:spcAft>
                <a:spcPts val="1000"/>
              </a:spcAft>
            </a:pPr>
            <a:r>
              <a:rPr sz="1700" b="0">
                <a:solidFill>
                  <a:srgbClr val="222222"/>
                </a:solidFill>
                <a:latin typeface="맑은 고딕"/>
                <a:ea typeface="맑은 고딕"/>
              </a:rPr>
              <a:t>•  RECYCLE: 빨리 버림, 격리 — 대량 스캔 대형 세그먼트</a:t>
            </a:r>
          </a:p>
          <a:p>
            <a:pPr algn="l">
              <a:spcAft>
                <a:spcPts val="1000"/>
              </a:spcAft>
            </a:pPr>
            <a:r>
              <a:rPr sz="1700" b="0">
                <a:solidFill>
                  <a:srgbClr val="222222"/>
                </a:solidFill>
                <a:latin typeface="맑은 고딕"/>
                <a:ea typeface="맑은 고딕"/>
              </a:rPr>
              <a:t>•  DEFAULT: 나머지 일반 객체</a:t>
            </a:r>
          </a:p>
          <a:p>
            <a:pPr algn="l">
              <a:spcAft>
                <a:spcPts val="1000"/>
              </a:spcAft>
            </a:pPr>
            <a:r>
              <a:rPr sz="1700" b="0">
                <a:solidFill>
                  <a:srgbClr val="222222"/>
                </a:solidFill>
                <a:latin typeface="맑은 고딕"/>
                <a:ea typeface="맑은 고딕"/>
              </a:rPr>
              <a:t>•  실측: db_keep_cache_size=48M 이미 설정, recycle=0</a:t>
            </a:r>
          </a:p>
        </p:txBody>
      </p:sp>
    </p:spTree>
    <p:extLst>
      <p:ext uri="{BB962C8B-B14F-4D97-AF65-F5344CB8AC3E}">
        <p14:creationId xmlns:p14="http://schemas.microsoft.com/office/powerpoint/2010/main" val="3987742785"/>
      </p:ext>
    </p:extLst>
  </p:cSld>
  <p:clrMapOvr>
    <a:masterClrMapping/>
  </p:clrMapOvr>
</p:sld>
</file>

<file path=ppt/slides/slide1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풀 파라미터 실측</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ea typeface="맑은 고딕"/>
              </a:rPr>
              <a:t>KEEP은 명시, DEFAULT는 ASMM 자동</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37160" rtlCol="0" anchor="ctr"/>
          <a:lstStyle/>
          <a:p>
            <a:pPr>
              <a:lnSpc>
                <a:spcPct val="100000"/>
              </a:lnSpc>
              <a:spcAft>
                <a:spcPts val="0"/>
              </a:spcAft>
            </a:pPr>
            <a:r>
              <a:rPr sz="1250" b="0" dirty="0" err="1">
                <a:solidFill>
                  <a:srgbClr val="F2F2F2"/>
                </a:solidFill>
                <a:latin typeface="Consolas"/>
                <a:ea typeface="Consolas"/>
              </a:rPr>
              <a:t>SYS@orcl</a:t>
            </a:r>
            <a:r>
              <a:rPr sz="1250" b="0" dirty="0">
                <a:solidFill>
                  <a:srgbClr val="F2F2F2"/>
                </a:solidFill>
                <a:latin typeface="Consolas"/>
                <a:ea typeface="Consolas"/>
              </a:rPr>
              <a:t>&gt; SELECT name, </a:t>
            </a:r>
            <a:r>
              <a:rPr sz="1250" b="0" dirty="0" err="1">
                <a:solidFill>
                  <a:srgbClr val="F2F2F2"/>
                </a:solidFill>
                <a:latin typeface="Consolas"/>
                <a:ea typeface="Consolas"/>
              </a:rPr>
              <a:t>display_value</a:t>
            </a:r>
            <a:r>
              <a:rPr sz="1250" b="0" dirty="0">
                <a:solidFill>
                  <a:srgbClr val="F2F2F2"/>
                </a:solidFill>
                <a:latin typeface="Consolas"/>
                <a:ea typeface="Consolas"/>
              </a:rPr>
              <a:t> FROM </a:t>
            </a:r>
            <a:r>
              <a:rPr sz="1250" b="0" dirty="0" err="1">
                <a:solidFill>
                  <a:srgbClr val="F2F2F2"/>
                </a:solidFill>
                <a:latin typeface="Consolas"/>
                <a:ea typeface="Consolas"/>
              </a:rPr>
              <a:t>v$parameter</a:t>
            </a:r>
            <a:endParaRPr sz="1250" b="0" dirty="0">
              <a:solidFill>
                <a:srgbClr val="F2F2F2"/>
              </a:solidFill>
              <a:latin typeface="Consolas"/>
              <a:ea typeface="Consolas"/>
            </a:endParaRPr>
          </a:p>
          <a:p>
            <a:pPr>
              <a:lnSpc>
                <a:spcPct val="100000"/>
              </a:lnSpc>
              <a:spcAft>
                <a:spcPts val="0"/>
              </a:spcAft>
            </a:pPr>
            <a:r>
              <a:rPr sz="1250" b="0" dirty="0">
                <a:solidFill>
                  <a:srgbClr val="F2F2F2"/>
                </a:solidFill>
                <a:latin typeface="Consolas"/>
                <a:ea typeface="Consolas"/>
              </a:rPr>
              <a:t>  2  WHERE name IN ('db_cache_size','</a:t>
            </a:r>
            <a:r>
              <a:rPr sz="1250" b="0" dirty="0" err="1">
                <a:solidFill>
                  <a:srgbClr val="F2F2F2"/>
                </a:solidFill>
                <a:latin typeface="Consolas"/>
                <a:ea typeface="Consolas"/>
              </a:rPr>
              <a:t>db_keep_cache_size</a:t>
            </a:r>
            <a:r>
              <a:rPr sz="1250" b="0" dirty="0">
                <a:solidFill>
                  <a:srgbClr val="F2F2F2"/>
                </a:solidFill>
                <a:latin typeface="Consolas"/>
                <a:ea typeface="Consolas"/>
              </a:rPr>
              <a:t>',</a:t>
            </a:r>
          </a:p>
          <a:p>
            <a:pPr>
              <a:lnSpc>
                <a:spcPct val="100000"/>
              </a:lnSpc>
              <a:spcAft>
                <a:spcPts val="0"/>
              </a:spcAft>
            </a:pPr>
            <a:r>
              <a:rPr sz="1250" b="0" dirty="0">
                <a:solidFill>
                  <a:srgbClr val="F2F2F2"/>
                </a:solidFill>
                <a:latin typeface="Consolas"/>
                <a:ea typeface="Consolas"/>
              </a:rPr>
              <a:t>  3                 '</a:t>
            </a:r>
            <a:r>
              <a:rPr sz="1250" b="0" dirty="0" err="1">
                <a:solidFill>
                  <a:srgbClr val="F2F2F2"/>
                </a:solidFill>
                <a:latin typeface="Consolas"/>
                <a:ea typeface="Consolas"/>
              </a:rPr>
              <a:t>db_recycle_cache_size</a:t>
            </a:r>
            <a:r>
              <a:rPr sz="1250" b="0" dirty="0">
                <a:solidFill>
                  <a:srgbClr val="F2F2F2"/>
                </a:solidFill>
                <a:latin typeface="Consolas"/>
                <a:ea typeface="Consolas"/>
              </a:rPr>
              <a:t>') ORDER BY name;</a:t>
            </a:r>
          </a:p>
          <a:p>
            <a:pPr>
              <a:lnSpc>
                <a:spcPct val="100000"/>
              </a:lnSpc>
              <a:spcAft>
                <a:spcPts val="0"/>
              </a:spcAft>
            </a:pPr>
            <a:r>
              <a:rPr sz="1250" b="0" dirty="0">
                <a:solidFill>
                  <a:srgbClr val="F2F2F2"/>
                </a:solidFill>
                <a:latin typeface="Consolas"/>
                <a:ea typeface="Consolas"/>
              </a:rPr>
              <a:t> </a:t>
            </a:r>
          </a:p>
          <a:p>
            <a:pPr>
              <a:lnSpc>
                <a:spcPct val="100000"/>
              </a:lnSpc>
              <a:spcAft>
                <a:spcPts val="0"/>
              </a:spcAft>
            </a:pPr>
            <a:r>
              <a:rPr sz="1250" b="0" dirty="0">
                <a:solidFill>
                  <a:srgbClr val="F2F2F2"/>
                </a:solidFill>
                <a:latin typeface="Consolas"/>
                <a:ea typeface="Consolas"/>
              </a:rPr>
              <a:t>NAME                     DISPLAY_VALUE</a:t>
            </a:r>
          </a:p>
          <a:p>
            <a:pPr>
              <a:lnSpc>
                <a:spcPct val="100000"/>
              </a:lnSpc>
              <a:spcAft>
                <a:spcPts val="0"/>
              </a:spcAft>
            </a:pPr>
            <a:r>
              <a:rPr sz="1250" b="0" dirty="0">
                <a:solidFill>
                  <a:srgbClr val="F2F2F2"/>
                </a:solidFill>
                <a:latin typeface="Consolas"/>
                <a:ea typeface="Consolas"/>
              </a:rPr>
              <a:t>----------------------- --------------</a:t>
            </a:r>
          </a:p>
          <a:p>
            <a:pPr>
              <a:lnSpc>
                <a:spcPct val="100000"/>
              </a:lnSpc>
              <a:spcAft>
                <a:spcPts val="0"/>
              </a:spcAft>
            </a:pPr>
            <a:r>
              <a:rPr sz="1250" b="0" dirty="0" err="1">
                <a:solidFill>
                  <a:srgbClr val="F2F2F2"/>
                </a:solidFill>
                <a:latin typeface="Consolas"/>
                <a:ea typeface="Consolas"/>
              </a:rPr>
              <a:t>db_cache_size</a:t>
            </a:r>
            <a:r>
              <a:rPr sz="1250" b="0" dirty="0">
                <a:solidFill>
                  <a:srgbClr val="F2F2F2"/>
                </a:solidFill>
                <a:latin typeface="Consolas"/>
                <a:ea typeface="Consolas"/>
              </a:rPr>
              <a:t>           0</a:t>
            </a:r>
          </a:p>
          <a:p>
            <a:pPr>
              <a:lnSpc>
                <a:spcPct val="100000"/>
              </a:lnSpc>
              <a:spcAft>
                <a:spcPts val="0"/>
              </a:spcAft>
            </a:pPr>
            <a:r>
              <a:rPr sz="1250" b="0" dirty="0" err="1">
                <a:solidFill>
                  <a:srgbClr val="F2F2F2"/>
                </a:solidFill>
                <a:latin typeface="Consolas"/>
                <a:ea typeface="Consolas"/>
              </a:rPr>
              <a:t>db_keep_cache_size</a:t>
            </a:r>
            <a:r>
              <a:rPr sz="1250" b="0" dirty="0">
                <a:solidFill>
                  <a:srgbClr val="F2F2F2"/>
                </a:solidFill>
                <a:latin typeface="Consolas"/>
                <a:ea typeface="Consolas"/>
              </a:rPr>
              <a:t>      48M</a:t>
            </a:r>
          </a:p>
          <a:p>
            <a:pPr>
              <a:lnSpc>
                <a:spcPct val="100000"/>
              </a:lnSpc>
              <a:spcAft>
                <a:spcPts val="0"/>
              </a:spcAft>
            </a:pPr>
            <a:r>
              <a:rPr sz="1250" b="0" dirty="0" err="1">
                <a:solidFill>
                  <a:srgbClr val="F2F2F2"/>
                </a:solidFill>
                <a:latin typeface="Consolas"/>
                <a:ea typeface="Consolas"/>
              </a:rPr>
              <a:t>db_recycle_cache_size</a:t>
            </a:r>
            <a:r>
              <a:rPr sz="1250" b="0" dirty="0">
                <a:solidFill>
                  <a:srgbClr val="F2F2F2"/>
                </a:solidFill>
                <a:latin typeface="Consolas"/>
                <a:ea typeface="Consolas"/>
              </a:rPr>
              <a:t>   0</a:t>
            </a:r>
          </a:p>
          <a:p>
            <a:pPr>
              <a:lnSpc>
                <a:spcPct val="100000"/>
              </a:lnSpc>
              <a:spcAft>
                <a:spcPts val="0"/>
              </a:spcAft>
            </a:pPr>
            <a:r>
              <a:rPr sz="1250" b="0" dirty="0">
                <a:solidFill>
                  <a:srgbClr val="F2F2F2"/>
                </a:solidFill>
                <a:latin typeface="Consolas"/>
                <a:ea typeface="Consolas"/>
              </a:rPr>
              <a:t> </a:t>
            </a:r>
          </a:p>
          <a:p>
            <a:pPr>
              <a:lnSpc>
                <a:spcPct val="100000"/>
              </a:lnSpc>
              <a:spcAft>
                <a:spcPts val="0"/>
              </a:spcAft>
            </a:pPr>
            <a:r>
              <a:rPr sz="1250" b="0" dirty="0">
                <a:solidFill>
                  <a:srgbClr val="F2F2F2"/>
                </a:solidFill>
                <a:latin typeface="Consolas"/>
                <a:ea typeface="Consolas"/>
              </a:rPr>
              <a:t>-- </a:t>
            </a:r>
            <a:r>
              <a:rPr sz="1250" b="0" dirty="0" err="1">
                <a:solidFill>
                  <a:srgbClr val="F2F2F2"/>
                </a:solidFill>
                <a:latin typeface="Consolas"/>
                <a:ea typeface="Consolas"/>
              </a:rPr>
              <a:t>db_cache_size</a:t>
            </a:r>
            <a:r>
              <a:rPr sz="1250" b="0" dirty="0">
                <a:solidFill>
                  <a:srgbClr val="F2F2F2"/>
                </a:solidFill>
                <a:latin typeface="Consolas"/>
                <a:ea typeface="Consolas"/>
              </a:rPr>
              <a:t>=0 → </a:t>
            </a:r>
            <a:r>
              <a:rPr sz="1250" b="0" dirty="0" err="1">
                <a:solidFill>
                  <a:srgbClr val="F2F2F2"/>
                </a:solidFill>
                <a:latin typeface="Consolas"/>
                <a:ea typeface="Consolas"/>
              </a:rPr>
              <a:t>ASMM가</a:t>
            </a:r>
            <a:r>
              <a:rPr sz="1250" b="0" dirty="0">
                <a:solidFill>
                  <a:srgbClr val="F2F2F2"/>
                </a:solidFill>
                <a:latin typeface="Consolas"/>
                <a:ea typeface="Consolas"/>
              </a:rPr>
              <a:t> </a:t>
            </a:r>
            <a:r>
              <a:rPr sz="1250" b="0" dirty="0" err="1">
                <a:solidFill>
                  <a:srgbClr val="F2F2F2"/>
                </a:solidFill>
                <a:latin typeface="Consolas"/>
                <a:ea typeface="Consolas"/>
              </a:rPr>
              <a:t>DEFAULT를</a:t>
            </a:r>
            <a:r>
              <a:rPr sz="1250" b="0" dirty="0">
                <a:solidFill>
                  <a:srgbClr val="F2F2F2"/>
                </a:solidFill>
                <a:latin typeface="Consolas"/>
                <a:ea typeface="Consolas"/>
              </a:rPr>
              <a:t> </a:t>
            </a:r>
            <a:r>
              <a:rPr sz="1250" b="0" dirty="0" err="1">
                <a:solidFill>
                  <a:srgbClr val="F2F2F2"/>
                </a:solidFill>
                <a:latin typeface="Consolas"/>
                <a:ea typeface="Consolas"/>
              </a:rPr>
              <a:t>자동</a:t>
            </a:r>
            <a:r>
              <a:rPr sz="1250" b="0" dirty="0">
                <a:solidFill>
                  <a:srgbClr val="F2F2F2"/>
                </a:solidFill>
                <a:latin typeface="Consolas"/>
                <a:ea typeface="Consolas"/>
              </a:rPr>
              <a:t> </a:t>
            </a:r>
            <a:r>
              <a:rPr sz="1250" b="0" dirty="0" err="1">
                <a:solidFill>
                  <a:srgbClr val="F2F2F2"/>
                </a:solidFill>
                <a:latin typeface="Consolas"/>
                <a:ea typeface="Consolas"/>
              </a:rPr>
              <a:t>관리</a:t>
            </a:r>
            <a:r>
              <a:rPr sz="1250" b="0" dirty="0">
                <a:solidFill>
                  <a:srgbClr val="F2F2F2"/>
                </a:solidFill>
                <a:latin typeface="Consolas"/>
                <a:ea typeface="Consolas"/>
              </a:rPr>
              <a:t>(</a:t>
            </a:r>
            <a:r>
              <a:rPr sz="1250" b="0" dirty="0" err="1">
                <a:solidFill>
                  <a:srgbClr val="F2F2F2"/>
                </a:solidFill>
                <a:latin typeface="Consolas"/>
                <a:ea typeface="Consolas"/>
              </a:rPr>
              <a:t>sga_target</a:t>
            </a:r>
            <a:r>
              <a:rPr sz="1250" b="0" dirty="0">
                <a:solidFill>
                  <a:srgbClr val="F2F2F2"/>
                </a:solidFill>
                <a:latin typeface="Consolas"/>
                <a:ea typeface="Consolas"/>
              </a:rPr>
              <a:t>&gt;0)</a:t>
            </a:r>
          </a:p>
          <a:p>
            <a:pPr>
              <a:lnSpc>
                <a:spcPct val="100000"/>
              </a:lnSpc>
              <a:spcAft>
                <a:spcPts val="0"/>
              </a:spcAft>
            </a:pPr>
            <a:r>
              <a:rPr sz="1250" b="0" dirty="0">
                <a:solidFill>
                  <a:srgbClr val="F2F2F2"/>
                </a:solidFill>
                <a:latin typeface="Consolas"/>
                <a:ea typeface="Consolas"/>
              </a:rPr>
              <a:t>-- KEEP/</a:t>
            </a:r>
            <a:r>
              <a:rPr sz="1250" b="0" dirty="0" err="1">
                <a:solidFill>
                  <a:srgbClr val="F2F2F2"/>
                </a:solidFill>
                <a:latin typeface="Consolas"/>
                <a:ea typeface="Consolas"/>
              </a:rPr>
              <a:t>RECYCLE은</a:t>
            </a:r>
            <a:r>
              <a:rPr sz="1250" b="0" dirty="0">
                <a:solidFill>
                  <a:srgbClr val="F2F2F2"/>
                </a:solidFill>
                <a:latin typeface="Consolas"/>
                <a:ea typeface="Consolas"/>
              </a:rPr>
              <a:t> </a:t>
            </a:r>
            <a:r>
              <a:rPr sz="1250" b="0" dirty="0" err="1">
                <a:solidFill>
                  <a:srgbClr val="F2F2F2"/>
                </a:solidFill>
                <a:latin typeface="Consolas"/>
                <a:ea typeface="Consolas"/>
              </a:rPr>
              <a:t>자동</a:t>
            </a:r>
            <a:r>
              <a:rPr sz="1250" b="0" dirty="0">
                <a:solidFill>
                  <a:srgbClr val="F2F2F2"/>
                </a:solidFill>
                <a:latin typeface="Consolas"/>
                <a:ea typeface="Consolas"/>
              </a:rPr>
              <a:t> </a:t>
            </a:r>
            <a:r>
              <a:rPr sz="1250" b="0" dirty="0" err="1">
                <a:solidFill>
                  <a:srgbClr val="F2F2F2"/>
                </a:solidFill>
                <a:latin typeface="Consolas"/>
                <a:ea typeface="Consolas"/>
              </a:rPr>
              <a:t>대상이</a:t>
            </a:r>
            <a:r>
              <a:rPr sz="1250" b="0" dirty="0">
                <a:solidFill>
                  <a:srgbClr val="F2F2F2"/>
                </a:solidFill>
                <a:latin typeface="Consolas"/>
                <a:ea typeface="Consolas"/>
              </a:rPr>
              <a:t> </a:t>
            </a:r>
            <a:r>
              <a:rPr sz="1250" b="0" dirty="0" err="1">
                <a:solidFill>
                  <a:srgbClr val="F2F2F2"/>
                </a:solidFill>
                <a:latin typeface="Consolas"/>
                <a:ea typeface="Consolas"/>
              </a:rPr>
              <a:t>아니라</a:t>
            </a:r>
            <a:r>
              <a:rPr sz="1250" b="0" dirty="0">
                <a:solidFill>
                  <a:srgbClr val="F2F2F2"/>
                </a:solidFill>
                <a:latin typeface="Consolas"/>
                <a:ea typeface="Consolas"/>
              </a:rPr>
              <a:t> </a:t>
            </a:r>
            <a:r>
              <a:rPr sz="1250" b="0" dirty="0" err="1">
                <a:solidFill>
                  <a:srgbClr val="F2F2F2"/>
                </a:solidFill>
                <a:latin typeface="Consolas"/>
                <a:ea typeface="Consolas"/>
              </a:rPr>
              <a:t>명시적으로</a:t>
            </a:r>
            <a:r>
              <a:rPr sz="1250" b="0" dirty="0">
                <a:solidFill>
                  <a:srgbClr val="F2F2F2"/>
                </a:solidFill>
                <a:latin typeface="Consolas"/>
                <a:ea typeface="Consolas"/>
              </a:rPr>
              <a:t> </a:t>
            </a:r>
            <a:r>
              <a:rPr sz="1250" b="0" dirty="0" err="1">
                <a:solidFill>
                  <a:srgbClr val="F2F2F2"/>
                </a:solidFill>
                <a:latin typeface="Consolas"/>
                <a:ea typeface="Consolas"/>
              </a:rPr>
              <a:t>크기를</a:t>
            </a:r>
            <a:r>
              <a:rPr sz="1250" b="0" dirty="0">
                <a:solidFill>
                  <a:srgbClr val="F2F2F2"/>
                </a:solidFill>
                <a:latin typeface="Consolas"/>
                <a:ea typeface="Consolas"/>
              </a:rPr>
              <a:t> </a:t>
            </a:r>
            <a:r>
              <a:rPr sz="1250" b="0" dirty="0" err="1">
                <a:solidFill>
                  <a:srgbClr val="F2F2F2"/>
                </a:solidFill>
                <a:latin typeface="Consolas"/>
                <a:ea typeface="Consolas"/>
              </a:rPr>
              <a:t>준다</a:t>
            </a:r>
            <a:r>
              <a:rPr sz="1250" b="0" dirty="0">
                <a:solidFill>
                  <a:srgbClr val="F2F2F2"/>
                </a:solidFill>
                <a:latin typeface="Consolas"/>
                <a:ea typeface="Consolas"/>
              </a:rPr>
              <a:t>.</a:t>
            </a:r>
          </a:p>
        </p:txBody>
      </p:sp>
    </p:spTree>
    <p:extLst>
      <p:ext uri="{BB962C8B-B14F-4D97-AF65-F5344CB8AC3E}">
        <p14:creationId xmlns:p14="http://schemas.microsoft.com/office/powerpoint/2010/main" val="2681494570"/>
      </p:ext>
    </p:extLst>
  </p:cSld>
  <p:clrMapOvr>
    <a:masterClrMapping/>
  </p:clrMapOvr>
</p:sld>
</file>

<file path=ppt/slides/slide1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DRUG_MASTER를 KEEP에</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ea typeface="맑은 고딕"/>
              </a:rPr>
              <a:t>조치 전 → 조치 → 조치 후 예열</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37160" rtlCol="0" anchor="ctr"/>
          <a:lstStyle/>
          <a:p>
            <a:pPr>
              <a:lnSpc>
                <a:spcPct val="100000"/>
              </a:lnSpc>
              <a:spcAft>
                <a:spcPts val="0"/>
              </a:spcAft>
            </a:pPr>
            <a:r>
              <a:rPr sz="1250" b="0" dirty="0" err="1">
                <a:solidFill>
                  <a:srgbClr val="F2F2F2"/>
                </a:solidFill>
                <a:latin typeface="Consolas"/>
                <a:ea typeface="Consolas"/>
              </a:rPr>
              <a:t>SYS@orcl</a:t>
            </a:r>
            <a:r>
              <a:rPr sz="1250" b="0" dirty="0">
                <a:solidFill>
                  <a:srgbClr val="F2F2F2"/>
                </a:solidFill>
                <a:latin typeface="Consolas"/>
                <a:ea typeface="Consolas"/>
              </a:rPr>
              <a:t>&gt; -- (</a:t>
            </a:r>
            <a:r>
              <a:rPr sz="1250" b="0" dirty="0" err="1">
                <a:solidFill>
                  <a:srgbClr val="F2F2F2"/>
                </a:solidFill>
                <a:latin typeface="Consolas"/>
                <a:ea typeface="Consolas"/>
              </a:rPr>
              <a:t>조치</a:t>
            </a:r>
            <a:r>
              <a:rPr sz="1250" b="0" dirty="0">
                <a:solidFill>
                  <a:srgbClr val="F2F2F2"/>
                </a:solidFill>
                <a:latin typeface="Consolas"/>
                <a:ea typeface="Consolas"/>
              </a:rPr>
              <a:t> 전) </a:t>
            </a:r>
            <a:r>
              <a:rPr sz="1250" b="0" dirty="0" err="1">
                <a:solidFill>
                  <a:srgbClr val="F2F2F2"/>
                </a:solidFill>
                <a:latin typeface="Consolas"/>
                <a:ea typeface="Consolas"/>
              </a:rPr>
              <a:t>현재</a:t>
            </a:r>
            <a:r>
              <a:rPr sz="1250" b="0" dirty="0">
                <a:solidFill>
                  <a:srgbClr val="F2F2F2"/>
                </a:solidFill>
                <a:latin typeface="Consolas"/>
                <a:ea typeface="Consolas"/>
              </a:rPr>
              <a:t> 풀 </a:t>
            </a:r>
            <a:r>
              <a:rPr sz="1250" b="0" dirty="0" err="1">
                <a:solidFill>
                  <a:srgbClr val="F2F2F2"/>
                </a:solidFill>
                <a:latin typeface="Consolas"/>
                <a:ea typeface="Consolas"/>
              </a:rPr>
              <a:t>확인</a:t>
            </a:r>
            <a:endParaRPr sz="1250" b="0" dirty="0">
              <a:solidFill>
                <a:srgbClr val="F2F2F2"/>
              </a:solidFill>
              <a:latin typeface="Consolas"/>
              <a:ea typeface="Consolas"/>
            </a:endParaRPr>
          </a:p>
          <a:p>
            <a:pPr>
              <a:lnSpc>
                <a:spcPct val="100000"/>
              </a:lnSpc>
              <a:spcAft>
                <a:spcPts val="0"/>
              </a:spcAft>
            </a:pPr>
            <a:r>
              <a:rPr sz="1250" b="0" dirty="0" err="1">
                <a:solidFill>
                  <a:srgbClr val="F2F2F2"/>
                </a:solidFill>
                <a:latin typeface="Consolas"/>
                <a:ea typeface="Consolas"/>
              </a:rPr>
              <a:t>SYS@orcl</a:t>
            </a:r>
            <a:r>
              <a:rPr sz="1250" b="0" dirty="0">
                <a:solidFill>
                  <a:srgbClr val="F2F2F2"/>
                </a:solidFill>
                <a:latin typeface="Consolas"/>
                <a:ea typeface="Consolas"/>
              </a:rPr>
              <a:t>&gt; SELECT </a:t>
            </a:r>
            <a:r>
              <a:rPr sz="1250" b="0" dirty="0" err="1">
                <a:solidFill>
                  <a:srgbClr val="F2F2F2"/>
                </a:solidFill>
                <a:latin typeface="Consolas"/>
                <a:ea typeface="Consolas"/>
              </a:rPr>
              <a:t>buffer_pool</a:t>
            </a:r>
            <a:r>
              <a:rPr sz="1250" b="0" dirty="0">
                <a:solidFill>
                  <a:srgbClr val="F2F2F2"/>
                </a:solidFill>
                <a:latin typeface="Consolas"/>
                <a:ea typeface="Consolas"/>
              </a:rPr>
              <a:t> FROM </a:t>
            </a:r>
            <a:r>
              <a:rPr sz="1250" b="0" dirty="0" err="1">
                <a:solidFill>
                  <a:srgbClr val="F2F2F2"/>
                </a:solidFill>
                <a:latin typeface="Consolas"/>
                <a:ea typeface="Consolas"/>
              </a:rPr>
              <a:t>dba_tables</a:t>
            </a:r>
            <a:endParaRPr sz="1250" b="0" dirty="0">
              <a:solidFill>
                <a:srgbClr val="F2F2F2"/>
              </a:solidFill>
              <a:latin typeface="Consolas"/>
              <a:ea typeface="Consolas"/>
            </a:endParaRPr>
          </a:p>
          <a:p>
            <a:pPr>
              <a:lnSpc>
                <a:spcPct val="100000"/>
              </a:lnSpc>
              <a:spcAft>
                <a:spcPts val="0"/>
              </a:spcAft>
            </a:pPr>
            <a:r>
              <a:rPr sz="1250" b="0" dirty="0">
                <a:solidFill>
                  <a:srgbClr val="F2F2F2"/>
                </a:solidFill>
                <a:latin typeface="Consolas"/>
                <a:ea typeface="Consolas"/>
              </a:rPr>
              <a:t>  2  WHERE owner='SQLT' AND </a:t>
            </a:r>
            <a:r>
              <a:rPr sz="1250" b="0" dirty="0" err="1">
                <a:solidFill>
                  <a:srgbClr val="F2F2F2"/>
                </a:solidFill>
                <a:latin typeface="Consolas"/>
                <a:ea typeface="Consolas"/>
              </a:rPr>
              <a:t>table_name</a:t>
            </a:r>
            <a:r>
              <a:rPr sz="1250" b="0" dirty="0">
                <a:solidFill>
                  <a:srgbClr val="F2F2F2"/>
                </a:solidFill>
                <a:latin typeface="Consolas"/>
                <a:ea typeface="Consolas"/>
              </a:rPr>
              <a:t>='DRUG_MASTER';</a:t>
            </a:r>
          </a:p>
          <a:p>
            <a:pPr>
              <a:lnSpc>
                <a:spcPct val="100000"/>
              </a:lnSpc>
              <a:spcAft>
                <a:spcPts val="0"/>
              </a:spcAft>
            </a:pPr>
            <a:r>
              <a:rPr sz="1250" b="0" dirty="0">
                <a:solidFill>
                  <a:srgbClr val="F2F2F2"/>
                </a:solidFill>
                <a:latin typeface="Consolas"/>
                <a:ea typeface="Consolas"/>
              </a:rPr>
              <a:t>BUFFER_POOL --&gt; DEFAULT</a:t>
            </a:r>
          </a:p>
          <a:p>
            <a:pPr>
              <a:lnSpc>
                <a:spcPct val="100000"/>
              </a:lnSpc>
              <a:spcAft>
                <a:spcPts val="0"/>
              </a:spcAft>
            </a:pPr>
            <a:r>
              <a:rPr sz="1250" b="0" dirty="0">
                <a:solidFill>
                  <a:srgbClr val="F2F2F2"/>
                </a:solidFill>
                <a:latin typeface="Consolas"/>
                <a:ea typeface="Consolas"/>
              </a:rPr>
              <a:t> </a:t>
            </a:r>
          </a:p>
          <a:p>
            <a:pPr>
              <a:lnSpc>
                <a:spcPct val="100000"/>
              </a:lnSpc>
              <a:spcAft>
                <a:spcPts val="0"/>
              </a:spcAft>
            </a:pPr>
            <a:r>
              <a:rPr sz="1250" b="0" dirty="0" err="1">
                <a:solidFill>
                  <a:srgbClr val="F2F2F2"/>
                </a:solidFill>
                <a:latin typeface="Consolas"/>
                <a:ea typeface="Consolas"/>
              </a:rPr>
              <a:t>SYS@orcl</a:t>
            </a:r>
            <a:r>
              <a:rPr sz="1250" b="0" dirty="0">
                <a:solidFill>
                  <a:srgbClr val="F2F2F2"/>
                </a:solidFill>
                <a:latin typeface="Consolas"/>
                <a:ea typeface="Consolas"/>
              </a:rPr>
              <a:t>&gt; -- (</a:t>
            </a:r>
            <a:r>
              <a:rPr sz="1250" b="0" dirty="0" err="1">
                <a:solidFill>
                  <a:srgbClr val="F2F2F2"/>
                </a:solidFill>
                <a:latin typeface="Consolas"/>
                <a:ea typeface="Consolas"/>
              </a:rPr>
              <a:t>조치</a:t>
            </a:r>
            <a:r>
              <a:rPr sz="1250" b="0" dirty="0">
                <a:solidFill>
                  <a:srgbClr val="F2F2F2"/>
                </a:solidFill>
                <a:latin typeface="Consolas"/>
                <a:ea typeface="Consolas"/>
              </a:rPr>
              <a:t>) KEEP </a:t>
            </a:r>
            <a:r>
              <a:rPr sz="1250" b="0" dirty="0" err="1">
                <a:solidFill>
                  <a:srgbClr val="F2F2F2"/>
                </a:solidFill>
                <a:latin typeface="Consolas"/>
                <a:ea typeface="Consolas"/>
              </a:rPr>
              <a:t>풀로</a:t>
            </a:r>
            <a:r>
              <a:rPr sz="1250" b="0" dirty="0">
                <a:solidFill>
                  <a:srgbClr val="F2F2F2"/>
                </a:solidFill>
                <a:latin typeface="Consolas"/>
                <a:ea typeface="Consolas"/>
              </a:rPr>
              <a:t> </a:t>
            </a:r>
            <a:r>
              <a:rPr sz="1250" b="0" dirty="0" err="1">
                <a:solidFill>
                  <a:srgbClr val="F2F2F2"/>
                </a:solidFill>
                <a:latin typeface="Consolas"/>
                <a:ea typeface="Consolas"/>
              </a:rPr>
              <a:t>지정</a:t>
            </a:r>
            <a:endParaRPr sz="1250" b="0" dirty="0">
              <a:solidFill>
                <a:srgbClr val="F2F2F2"/>
              </a:solidFill>
              <a:latin typeface="Consolas"/>
              <a:ea typeface="Consolas"/>
            </a:endParaRPr>
          </a:p>
          <a:p>
            <a:pPr>
              <a:lnSpc>
                <a:spcPct val="100000"/>
              </a:lnSpc>
              <a:spcAft>
                <a:spcPts val="0"/>
              </a:spcAft>
            </a:pPr>
            <a:r>
              <a:rPr sz="1250" b="0" dirty="0" err="1">
                <a:solidFill>
                  <a:srgbClr val="F2F2F2"/>
                </a:solidFill>
                <a:latin typeface="Consolas"/>
                <a:ea typeface="Consolas"/>
              </a:rPr>
              <a:t>SYS@orcl</a:t>
            </a:r>
            <a:r>
              <a:rPr sz="1250" b="0" dirty="0">
                <a:solidFill>
                  <a:srgbClr val="F2F2F2"/>
                </a:solidFill>
                <a:latin typeface="Consolas"/>
                <a:ea typeface="Consolas"/>
              </a:rPr>
              <a:t>&gt; ALTER TABLE </a:t>
            </a:r>
            <a:r>
              <a:rPr sz="1250" b="0" dirty="0" err="1">
                <a:solidFill>
                  <a:srgbClr val="F2F2F2"/>
                </a:solidFill>
                <a:latin typeface="Consolas"/>
                <a:ea typeface="Consolas"/>
              </a:rPr>
              <a:t>sqlt.drug_master</a:t>
            </a:r>
            <a:endParaRPr sz="1250" b="0" dirty="0">
              <a:solidFill>
                <a:srgbClr val="F2F2F2"/>
              </a:solidFill>
              <a:latin typeface="Consolas"/>
              <a:ea typeface="Consolas"/>
            </a:endParaRPr>
          </a:p>
          <a:p>
            <a:pPr>
              <a:lnSpc>
                <a:spcPct val="100000"/>
              </a:lnSpc>
              <a:spcAft>
                <a:spcPts val="0"/>
              </a:spcAft>
            </a:pPr>
            <a:r>
              <a:rPr sz="1250" b="0" dirty="0">
                <a:solidFill>
                  <a:srgbClr val="F2F2F2"/>
                </a:solidFill>
                <a:latin typeface="Consolas"/>
                <a:ea typeface="Consolas"/>
              </a:rPr>
              <a:t>  2         STORAGE (BUFFER_POOL KEEP);</a:t>
            </a:r>
          </a:p>
          <a:p>
            <a:pPr>
              <a:lnSpc>
                <a:spcPct val="100000"/>
              </a:lnSpc>
              <a:spcAft>
                <a:spcPts val="0"/>
              </a:spcAft>
            </a:pPr>
            <a:r>
              <a:rPr sz="1250" b="0" dirty="0">
                <a:solidFill>
                  <a:srgbClr val="F2F2F2"/>
                </a:solidFill>
                <a:latin typeface="Consolas"/>
                <a:ea typeface="Consolas"/>
              </a:rPr>
              <a:t>Table altered.</a:t>
            </a:r>
          </a:p>
          <a:p>
            <a:pPr>
              <a:lnSpc>
                <a:spcPct val="100000"/>
              </a:lnSpc>
              <a:spcAft>
                <a:spcPts val="0"/>
              </a:spcAft>
            </a:pPr>
            <a:r>
              <a:rPr sz="1250" b="0" dirty="0">
                <a:solidFill>
                  <a:srgbClr val="F2F2F2"/>
                </a:solidFill>
                <a:latin typeface="Consolas"/>
                <a:ea typeface="Consolas"/>
              </a:rPr>
              <a:t> </a:t>
            </a:r>
          </a:p>
          <a:p>
            <a:pPr>
              <a:lnSpc>
                <a:spcPct val="100000"/>
              </a:lnSpc>
              <a:spcAft>
                <a:spcPts val="0"/>
              </a:spcAft>
            </a:pPr>
            <a:r>
              <a:rPr sz="1250" b="0" dirty="0" err="1">
                <a:solidFill>
                  <a:srgbClr val="F2F2F2"/>
                </a:solidFill>
                <a:latin typeface="Consolas"/>
                <a:ea typeface="Consolas"/>
              </a:rPr>
              <a:t>SYS@orcl</a:t>
            </a:r>
            <a:r>
              <a:rPr sz="1250" b="0" dirty="0">
                <a:solidFill>
                  <a:srgbClr val="F2F2F2"/>
                </a:solidFill>
                <a:latin typeface="Consolas"/>
                <a:ea typeface="Consolas"/>
              </a:rPr>
              <a:t>&gt; -- (</a:t>
            </a:r>
            <a:r>
              <a:rPr sz="1250" b="0" dirty="0" err="1">
                <a:solidFill>
                  <a:srgbClr val="F2F2F2"/>
                </a:solidFill>
                <a:latin typeface="Consolas"/>
                <a:ea typeface="Consolas"/>
              </a:rPr>
              <a:t>조치</a:t>
            </a:r>
            <a:r>
              <a:rPr sz="1250" b="0" dirty="0">
                <a:solidFill>
                  <a:srgbClr val="F2F2F2"/>
                </a:solidFill>
                <a:latin typeface="Consolas"/>
                <a:ea typeface="Consolas"/>
              </a:rPr>
              <a:t> 후) </a:t>
            </a:r>
            <a:r>
              <a:rPr sz="1250" b="0" dirty="0" err="1">
                <a:solidFill>
                  <a:srgbClr val="F2F2F2"/>
                </a:solidFill>
                <a:latin typeface="Consolas"/>
                <a:ea typeface="Consolas"/>
              </a:rPr>
              <a:t>재확인</a:t>
            </a:r>
            <a:r>
              <a:rPr sz="1250" b="0" dirty="0">
                <a:solidFill>
                  <a:srgbClr val="F2F2F2"/>
                </a:solidFill>
                <a:latin typeface="Consolas"/>
                <a:ea typeface="Consolas"/>
              </a:rPr>
              <a:t> + </a:t>
            </a:r>
            <a:r>
              <a:rPr sz="1250" b="0" dirty="0" err="1">
                <a:solidFill>
                  <a:srgbClr val="F2F2F2"/>
                </a:solidFill>
                <a:latin typeface="Consolas"/>
                <a:ea typeface="Consolas"/>
              </a:rPr>
              <a:t>전체</a:t>
            </a:r>
            <a:r>
              <a:rPr sz="1250" b="0" dirty="0">
                <a:solidFill>
                  <a:srgbClr val="F2F2F2"/>
                </a:solidFill>
                <a:latin typeface="Consolas"/>
                <a:ea typeface="Consolas"/>
              </a:rPr>
              <a:t> </a:t>
            </a:r>
            <a:r>
              <a:rPr sz="1250" b="0" dirty="0" err="1">
                <a:solidFill>
                  <a:srgbClr val="F2F2F2"/>
                </a:solidFill>
                <a:latin typeface="Consolas"/>
                <a:ea typeface="Consolas"/>
              </a:rPr>
              <a:t>스캔으로</a:t>
            </a:r>
            <a:r>
              <a:rPr sz="1250" b="0" dirty="0">
                <a:solidFill>
                  <a:srgbClr val="F2F2F2"/>
                </a:solidFill>
                <a:latin typeface="Consolas"/>
                <a:ea typeface="Consolas"/>
              </a:rPr>
              <a:t> </a:t>
            </a:r>
            <a:r>
              <a:rPr sz="1250" b="0" dirty="0" err="1">
                <a:solidFill>
                  <a:srgbClr val="F2F2F2"/>
                </a:solidFill>
                <a:latin typeface="Consolas"/>
                <a:ea typeface="Consolas"/>
              </a:rPr>
              <a:t>예열</a:t>
            </a:r>
            <a:endParaRPr sz="1250" b="0" dirty="0">
              <a:solidFill>
                <a:srgbClr val="F2F2F2"/>
              </a:solidFill>
              <a:latin typeface="Consolas"/>
              <a:ea typeface="Consolas"/>
            </a:endParaRPr>
          </a:p>
          <a:p>
            <a:pPr>
              <a:lnSpc>
                <a:spcPct val="100000"/>
              </a:lnSpc>
              <a:spcAft>
                <a:spcPts val="0"/>
              </a:spcAft>
            </a:pPr>
            <a:r>
              <a:rPr sz="1250" b="0" dirty="0" err="1">
                <a:solidFill>
                  <a:srgbClr val="F2F2F2"/>
                </a:solidFill>
                <a:latin typeface="Consolas"/>
                <a:ea typeface="Consolas"/>
              </a:rPr>
              <a:t>SYS@orcl</a:t>
            </a:r>
            <a:r>
              <a:rPr sz="1250" b="0" dirty="0">
                <a:solidFill>
                  <a:srgbClr val="F2F2F2"/>
                </a:solidFill>
                <a:latin typeface="Consolas"/>
                <a:ea typeface="Consolas"/>
              </a:rPr>
              <a:t>&gt; SELECT /*+ FULL(d) */ COUNT(*) FROM </a:t>
            </a:r>
            <a:r>
              <a:rPr sz="1250" b="0" dirty="0" err="1">
                <a:solidFill>
                  <a:srgbClr val="F2F2F2"/>
                </a:solidFill>
                <a:latin typeface="Consolas"/>
                <a:ea typeface="Consolas"/>
              </a:rPr>
              <a:t>sqlt.drug_master</a:t>
            </a:r>
            <a:r>
              <a:rPr sz="1250" b="0" dirty="0">
                <a:solidFill>
                  <a:srgbClr val="F2F2F2"/>
                </a:solidFill>
                <a:latin typeface="Consolas"/>
                <a:ea typeface="Consolas"/>
              </a:rPr>
              <a:t> d;</a:t>
            </a:r>
          </a:p>
        </p:txBody>
      </p:sp>
    </p:spTree>
    <p:extLst>
      <p:ext uri="{BB962C8B-B14F-4D97-AF65-F5344CB8AC3E}">
        <p14:creationId xmlns:p14="http://schemas.microsoft.com/office/powerpoint/2010/main" val="1762329420"/>
      </p:ext>
    </p:extLst>
  </p:cSld>
  <p:clrMapOvr>
    <a:masterClrMapping/>
  </p:clrMapOvr>
</p:sld>
</file>

<file path=ppt/slides/slide1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RECYCLE로 대량 스캔 격리</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ea typeface="맑은 고딕"/>
              </a:rPr>
              <a:t>DEFAULT 풀 오염 방지</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37160" rtlCol="0" anchor="ctr"/>
          <a:lstStyle/>
          <a:p>
            <a:pPr>
              <a:lnSpc>
                <a:spcPct val="100000"/>
              </a:lnSpc>
              <a:spcAft>
                <a:spcPts val="0"/>
              </a:spcAft>
            </a:pPr>
            <a:r>
              <a:rPr sz="1250" b="0" dirty="0" err="1">
                <a:solidFill>
                  <a:srgbClr val="F2F2F2"/>
                </a:solidFill>
                <a:latin typeface="Consolas"/>
                <a:ea typeface="Consolas"/>
              </a:rPr>
              <a:t>SYS@orcl</a:t>
            </a:r>
            <a:r>
              <a:rPr sz="1250" b="0" dirty="0">
                <a:solidFill>
                  <a:srgbClr val="F2F2F2"/>
                </a:solidFill>
                <a:latin typeface="Consolas"/>
                <a:ea typeface="Consolas"/>
              </a:rPr>
              <a:t>&gt; -- </a:t>
            </a:r>
            <a:r>
              <a:rPr sz="1250" b="0" dirty="0" err="1">
                <a:solidFill>
                  <a:srgbClr val="F2F2F2"/>
                </a:solidFill>
                <a:latin typeface="Consolas"/>
                <a:ea typeface="Consolas"/>
              </a:rPr>
              <a:t>대량</a:t>
            </a:r>
            <a:r>
              <a:rPr sz="1250" b="0" dirty="0">
                <a:solidFill>
                  <a:srgbClr val="F2F2F2"/>
                </a:solidFill>
                <a:latin typeface="Consolas"/>
                <a:ea typeface="Consolas"/>
              </a:rPr>
              <a:t> </a:t>
            </a:r>
            <a:r>
              <a:rPr sz="1250" b="0" dirty="0" err="1">
                <a:solidFill>
                  <a:srgbClr val="F2F2F2"/>
                </a:solidFill>
                <a:latin typeface="Consolas"/>
                <a:ea typeface="Consolas"/>
              </a:rPr>
              <a:t>스캔</a:t>
            </a:r>
            <a:r>
              <a:rPr sz="1250" b="0" dirty="0">
                <a:solidFill>
                  <a:srgbClr val="F2F2F2"/>
                </a:solidFill>
                <a:latin typeface="Consolas"/>
                <a:ea typeface="Consolas"/>
              </a:rPr>
              <a:t> </a:t>
            </a:r>
            <a:r>
              <a:rPr sz="1250" b="0" dirty="0" err="1">
                <a:solidFill>
                  <a:srgbClr val="F2F2F2"/>
                </a:solidFill>
                <a:latin typeface="Consolas"/>
                <a:ea typeface="Consolas"/>
              </a:rPr>
              <a:t>대형</a:t>
            </a:r>
            <a:r>
              <a:rPr sz="1250" b="0" dirty="0">
                <a:solidFill>
                  <a:srgbClr val="F2F2F2"/>
                </a:solidFill>
                <a:latin typeface="Consolas"/>
                <a:ea typeface="Consolas"/>
              </a:rPr>
              <a:t> </a:t>
            </a:r>
            <a:r>
              <a:rPr sz="1250" b="0" dirty="0" err="1">
                <a:solidFill>
                  <a:srgbClr val="F2F2F2"/>
                </a:solidFill>
                <a:latin typeface="Consolas"/>
                <a:ea typeface="Consolas"/>
              </a:rPr>
              <a:t>세그먼트를</a:t>
            </a:r>
            <a:r>
              <a:rPr sz="1250" b="0" dirty="0">
                <a:solidFill>
                  <a:srgbClr val="F2F2F2"/>
                </a:solidFill>
                <a:latin typeface="Consolas"/>
                <a:ea typeface="Consolas"/>
              </a:rPr>
              <a:t> </a:t>
            </a:r>
            <a:r>
              <a:rPr sz="1250" b="0" dirty="0" err="1">
                <a:solidFill>
                  <a:srgbClr val="F2F2F2"/>
                </a:solidFill>
                <a:latin typeface="Consolas"/>
                <a:ea typeface="Consolas"/>
              </a:rPr>
              <a:t>RECYCLE로</a:t>
            </a:r>
            <a:r>
              <a:rPr sz="1250" b="0" dirty="0">
                <a:solidFill>
                  <a:srgbClr val="F2F2F2"/>
                </a:solidFill>
                <a:latin typeface="Consolas"/>
                <a:ea typeface="Consolas"/>
              </a:rPr>
              <a:t> </a:t>
            </a:r>
            <a:r>
              <a:rPr sz="1250" b="0" dirty="0" err="1">
                <a:solidFill>
                  <a:srgbClr val="F2F2F2"/>
                </a:solidFill>
                <a:latin typeface="Consolas"/>
                <a:ea typeface="Consolas"/>
              </a:rPr>
              <a:t>격리</a:t>
            </a:r>
            <a:endParaRPr sz="1250" b="0" dirty="0">
              <a:solidFill>
                <a:srgbClr val="F2F2F2"/>
              </a:solidFill>
              <a:latin typeface="Consolas"/>
              <a:ea typeface="Consolas"/>
            </a:endParaRPr>
          </a:p>
          <a:p>
            <a:pPr>
              <a:lnSpc>
                <a:spcPct val="100000"/>
              </a:lnSpc>
              <a:spcAft>
                <a:spcPts val="0"/>
              </a:spcAft>
            </a:pPr>
            <a:r>
              <a:rPr sz="1250" b="0" dirty="0" err="1">
                <a:solidFill>
                  <a:srgbClr val="F2F2F2"/>
                </a:solidFill>
                <a:latin typeface="Consolas"/>
                <a:ea typeface="Consolas"/>
              </a:rPr>
              <a:t>SYS@orcl</a:t>
            </a:r>
            <a:r>
              <a:rPr sz="1250" b="0" dirty="0">
                <a:solidFill>
                  <a:srgbClr val="F2F2F2"/>
                </a:solidFill>
                <a:latin typeface="Consolas"/>
                <a:ea typeface="Consolas"/>
              </a:rPr>
              <a:t>&gt; ALTER TABLE </a:t>
            </a:r>
            <a:r>
              <a:rPr sz="1250" b="0" dirty="0" err="1">
                <a:solidFill>
                  <a:srgbClr val="F2F2F2"/>
                </a:solidFill>
                <a:latin typeface="Consolas"/>
                <a:ea typeface="Consolas"/>
              </a:rPr>
              <a:t>sqlt.claim_detail_archive</a:t>
            </a:r>
            <a:endParaRPr sz="1250" b="0" dirty="0">
              <a:solidFill>
                <a:srgbClr val="F2F2F2"/>
              </a:solidFill>
              <a:latin typeface="Consolas"/>
              <a:ea typeface="Consolas"/>
            </a:endParaRPr>
          </a:p>
          <a:p>
            <a:pPr>
              <a:lnSpc>
                <a:spcPct val="100000"/>
              </a:lnSpc>
              <a:spcAft>
                <a:spcPts val="0"/>
              </a:spcAft>
            </a:pPr>
            <a:r>
              <a:rPr sz="1250" b="0" dirty="0">
                <a:solidFill>
                  <a:srgbClr val="F2F2F2"/>
                </a:solidFill>
                <a:latin typeface="Consolas"/>
                <a:ea typeface="Consolas"/>
              </a:rPr>
              <a:t>  2         STORAGE (BUFFER_POOL RECYCLE);</a:t>
            </a:r>
          </a:p>
          <a:p>
            <a:pPr>
              <a:lnSpc>
                <a:spcPct val="100000"/>
              </a:lnSpc>
              <a:spcAft>
                <a:spcPts val="0"/>
              </a:spcAft>
            </a:pPr>
            <a:r>
              <a:rPr sz="1250" b="0" dirty="0">
                <a:solidFill>
                  <a:srgbClr val="F2F2F2"/>
                </a:solidFill>
                <a:latin typeface="Consolas"/>
                <a:ea typeface="Consolas"/>
              </a:rPr>
              <a:t>Table altered.</a:t>
            </a:r>
          </a:p>
          <a:p>
            <a:pPr>
              <a:lnSpc>
                <a:spcPct val="100000"/>
              </a:lnSpc>
              <a:spcAft>
                <a:spcPts val="0"/>
              </a:spcAft>
            </a:pPr>
            <a:r>
              <a:rPr sz="1250" b="0" dirty="0">
                <a:solidFill>
                  <a:srgbClr val="F2F2F2"/>
                </a:solidFill>
                <a:latin typeface="Consolas"/>
                <a:ea typeface="Consolas"/>
              </a:rPr>
              <a:t> </a:t>
            </a:r>
          </a:p>
          <a:p>
            <a:pPr>
              <a:lnSpc>
                <a:spcPct val="100000"/>
              </a:lnSpc>
              <a:spcAft>
                <a:spcPts val="0"/>
              </a:spcAft>
            </a:pPr>
            <a:r>
              <a:rPr sz="1250" b="0" dirty="0" err="1">
                <a:solidFill>
                  <a:srgbClr val="F2F2F2"/>
                </a:solidFill>
                <a:latin typeface="Consolas"/>
                <a:ea typeface="Consolas"/>
              </a:rPr>
              <a:t>SYS@orcl</a:t>
            </a:r>
            <a:r>
              <a:rPr sz="1250" b="0" dirty="0">
                <a:solidFill>
                  <a:srgbClr val="F2F2F2"/>
                </a:solidFill>
                <a:latin typeface="Consolas"/>
                <a:ea typeface="Consolas"/>
              </a:rPr>
              <a:t>&gt; ALTER INDEX </a:t>
            </a:r>
            <a:r>
              <a:rPr sz="1250" b="0" dirty="0" err="1">
                <a:solidFill>
                  <a:srgbClr val="F2F2F2"/>
                </a:solidFill>
                <a:latin typeface="Consolas"/>
                <a:ea typeface="Consolas"/>
              </a:rPr>
              <a:t>sqlt.ix_claim_arch_dt</a:t>
            </a:r>
            <a:endParaRPr sz="1250" b="0" dirty="0">
              <a:solidFill>
                <a:srgbClr val="F2F2F2"/>
              </a:solidFill>
              <a:latin typeface="Consolas"/>
              <a:ea typeface="Consolas"/>
            </a:endParaRPr>
          </a:p>
          <a:p>
            <a:pPr>
              <a:lnSpc>
                <a:spcPct val="100000"/>
              </a:lnSpc>
              <a:spcAft>
                <a:spcPts val="0"/>
              </a:spcAft>
            </a:pPr>
            <a:r>
              <a:rPr sz="1250" b="0" dirty="0">
                <a:solidFill>
                  <a:srgbClr val="F2F2F2"/>
                </a:solidFill>
                <a:latin typeface="Consolas"/>
                <a:ea typeface="Consolas"/>
              </a:rPr>
              <a:t>  2         STORAGE (BUFFER_POOL RECYCLE);</a:t>
            </a:r>
          </a:p>
          <a:p>
            <a:pPr>
              <a:lnSpc>
                <a:spcPct val="100000"/>
              </a:lnSpc>
              <a:spcAft>
                <a:spcPts val="0"/>
              </a:spcAft>
            </a:pPr>
            <a:r>
              <a:rPr sz="1250" b="0" dirty="0">
                <a:solidFill>
                  <a:srgbClr val="F2F2F2"/>
                </a:solidFill>
                <a:latin typeface="Consolas"/>
                <a:ea typeface="Consolas"/>
              </a:rPr>
              <a:t>Index altered.</a:t>
            </a:r>
          </a:p>
          <a:p>
            <a:pPr>
              <a:lnSpc>
                <a:spcPct val="100000"/>
              </a:lnSpc>
              <a:spcAft>
                <a:spcPts val="0"/>
              </a:spcAft>
            </a:pPr>
            <a:r>
              <a:rPr sz="1250" b="0" dirty="0">
                <a:solidFill>
                  <a:srgbClr val="F2F2F2"/>
                </a:solidFill>
                <a:latin typeface="Consolas"/>
                <a:ea typeface="Consolas"/>
              </a:rPr>
              <a:t> </a:t>
            </a:r>
          </a:p>
          <a:p>
            <a:pPr>
              <a:lnSpc>
                <a:spcPct val="100000"/>
              </a:lnSpc>
              <a:spcAft>
                <a:spcPts val="0"/>
              </a:spcAft>
            </a:pPr>
            <a:r>
              <a:rPr sz="1250" b="0" dirty="0">
                <a:solidFill>
                  <a:srgbClr val="F2F2F2"/>
                </a:solidFill>
                <a:latin typeface="Consolas"/>
                <a:ea typeface="Consolas"/>
              </a:rPr>
              <a:t>-- </a:t>
            </a:r>
            <a:r>
              <a:rPr sz="1250" b="0" dirty="0" err="1">
                <a:solidFill>
                  <a:srgbClr val="F2F2F2"/>
                </a:solidFill>
                <a:latin typeface="Consolas"/>
                <a:ea typeface="Consolas"/>
              </a:rPr>
              <a:t>판정</a:t>
            </a:r>
            <a:r>
              <a:rPr sz="1250" b="0" dirty="0">
                <a:solidFill>
                  <a:srgbClr val="F2F2F2"/>
                </a:solidFill>
                <a:latin typeface="Consolas"/>
                <a:ea typeface="Consolas"/>
              </a:rPr>
              <a:t>: 이 </a:t>
            </a:r>
            <a:r>
              <a:rPr sz="1250" b="0" dirty="0" err="1">
                <a:solidFill>
                  <a:srgbClr val="F2F2F2"/>
                </a:solidFill>
                <a:latin typeface="Consolas"/>
                <a:ea typeface="Consolas"/>
              </a:rPr>
              <a:t>세그먼트의</a:t>
            </a:r>
            <a:r>
              <a:rPr sz="1250" b="0" dirty="0">
                <a:solidFill>
                  <a:srgbClr val="F2F2F2"/>
                </a:solidFill>
                <a:latin typeface="Consolas"/>
                <a:ea typeface="Consolas"/>
              </a:rPr>
              <a:t> </a:t>
            </a:r>
            <a:r>
              <a:rPr sz="1250" b="0" dirty="0" err="1">
                <a:solidFill>
                  <a:srgbClr val="F2F2F2"/>
                </a:solidFill>
                <a:latin typeface="Consolas"/>
                <a:ea typeface="Consolas"/>
              </a:rPr>
              <a:t>넓은</a:t>
            </a:r>
            <a:r>
              <a:rPr sz="1250" b="0" dirty="0">
                <a:solidFill>
                  <a:srgbClr val="F2F2F2"/>
                </a:solidFill>
                <a:latin typeface="Consolas"/>
                <a:ea typeface="Consolas"/>
              </a:rPr>
              <a:t> </a:t>
            </a:r>
            <a:r>
              <a:rPr sz="1250" b="0" dirty="0" err="1">
                <a:solidFill>
                  <a:srgbClr val="F2F2F2"/>
                </a:solidFill>
                <a:latin typeface="Consolas"/>
                <a:ea typeface="Consolas"/>
              </a:rPr>
              <a:t>스캔이</a:t>
            </a:r>
            <a:r>
              <a:rPr sz="1250" b="0" dirty="0">
                <a:solidFill>
                  <a:srgbClr val="F2F2F2"/>
                </a:solidFill>
                <a:latin typeface="Consolas"/>
                <a:ea typeface="Consolas"/>
              </a:rPr>
              <a:t> </a:t>
            </a:r>
            <a:r>
              <a:rPr sz="1250" b="0" dirty="0" err="1">
                <a:solidFill>
                  <a:srgbClr val="F2F2F2"/>
                </a:solidFill>
                <a:latin typeface="Consolas"/>
                <a:ea typeface="Consolas"/>
              </a:rPr>
              <a:t>DEFAULT의</a:t>
            </a:r>
            <a:r>
              <a:rPr sz="1250" b="0" dirty="0">
                <a:solidFill>
                  <a:srgbClr val="F2F2F2"/>
                </a:solidFill>
                <a:latin typeface="Consolas"/>
                <a:ea typeface="Consolas"/>
              </a:rPr>
              <a:t> '</a:t>
            </a:r>
            <a:r>
              <a:rPr sz="1250" b="0" dirty="0" err="1">
                <a:solidFill>
                  <a:srgbClr val="F2F2F2"/>
                </a:solidFill>
                <a:latin typeface="Consolas"/>
                <a:ea typeface="Consolas"/>
              </a:rPr>
              <a:t>따뜻한</a:t>
            </a:r>
            <a:r>
              <a:rPr sz="1250" b="0" dirty="0">
                <a:solidFill>
                  <a:srgbClr val="F2F2F2"/>
                </a:solidFill>
                <a:latin typeface="Consolas"/>
                <a:ea typeface="Consolas"/>
              </a:rPr>
              <a:t>' </a:t>
            </a:r>
            <a:r>
              <a:rPr sz="1250" b="0" dirty="0" err="1">
                <a:solidFill>
                  <a:srgbClr val="F2F2F2"/>
                </a:solidFill>
                <a:latin typeface="Consolas"/>
                <a:ea typeface="Consolas"/>
              </a:rPr>
              <a:t>블록을</a:t>
            </a:r>
            <a:endParaRPr sz="1250" b="0" dirty="0">
              <a:solidFill>
                <a:srgbClr val="F2F2F2"/>
              </a:solidFill>
              <a:latin typeface="Consolas"/>
              <a:ea typeface="Consolas"/>
            </a:endParaRPr>
          </a:p>
          <a:p>
            <a:pPr>
              <a:lnSpc>
                <a:spcPct val="100000"/>
              </a:lnSpc>
              <a:spcAft>
                <a:spcPts val="0"/>
              </a:spcAft>
            </a:pPr>
            <a:r>
              <a:rPr sz="1250" b="0" dirty="0">
                <a:solidFill>
                  <a:srgbClr val="F2F2F2"/>
                </a:solidFill>
                <a:latin typeface="Consolas"/>
                <a:ea typeface="Consolas"/>
              </a:rPr>
              <a:t>--   </a:t>
            </a:r>
            <a:r>
              <a:rPr sz="1250" b="0" dirty="0" err="1">
                <a:solidFill>
                  <a:srgbClr val="F2F2F2"/>
                </a:solidFill>
                <a:latin typeface="Consolas"/>
                <a:ea typeface="Consolas"/>
              </a:rPr>
              <a:t>밀어내는</a:t>
            </a:r>
            <a:r>
              <a:rPr sz="1250" b="0" dirty="0">
                <a:solidFill>
                  <a:srgbClr val="F2F2F2"/>
                </a:solidFill>
                <a:latin typeface="Consolas"/>
                <a:ea typeface="Consolas"/>
              </a:rPr>
              <a:t> </a:t>
            </a:r>
            <a:r>
              <a:rPr sz="1250" b="0" dirty="0" err="1">
                <a:solidFill>
                  <a:srgbClr val="F2F2F2"/>
                </a:solidFill>
                <a:latin typeface="Consolas"/>
                <a:ea typeface="Consolas"/>
              </a:rPr>
              <a:t>현상이</a:t>
            </a:r>
            <a:r>
              <a:rPr sz="1250" b="0" dirty="0">
                <a:solidFill>
                  <a:srgbClr val="F2F2F2"/>
                </a:solidFill>
                <a:latin typeface="Consolas"/>
                <a:ea typeface="Consolas"/>
              </a:rPr>
              <a:t> </a:t>
            </a:r>
            <a:r>
              <a:rPr sz="1250" b="0" dirty="0" err="1">
                <a:solidFill>
                  <a:srgbClr val="F2F2F2"/>
                </a:solidFill>
                <a:latin typeface="Consolas"/>
                <a:ea typeface="Consolas"/>
              </a:rPr>
              <a:t>사라지는지</a:t>
            </a:r>
            <a:r>
              <a:rPr sz="1250" b="0" dirty="0">
                <a:solidFill>
                  <a:srgbClr val="F2F2F2"/>
                </a:solidFill>
                <a:latin typeface="Consolas"/>
                <a:ea typeface="Consolas"/>
              </a:rPr>
              <a:t> </a:t>
            </a:r>
            <a:r>
              <a:rPr sz="1250" b="0" dirty="0" err="1">
                <a:solidFill>
                  <a:srgbClr val="F2F2F2"/>
                </a:solidFill>
                <a:latin typeface="Consolas"/>
                <a:ea typeface="Consolas"/>
              </a:rPr>
              <a:t>관찰</a:t>
            </a:r>
            <a:r>
              <a:rPr sz="1250" b="0" dirty="0">
                <a:solidFill>
                  <a:srgbClr val="F2F2F2"/>
                </a:solidFill>
                <a:latin typeface="Consolas"/>
                <a:ea typeface="Consolas"/>
              </a:rPr>
              <a:t>(</a:t>
            </a:r>
            <a:r>
              <a:rPr sz="1250" b="0" dirty="0" err="1">
                <a:solidFill>
                  <a:srgbClr val="F2F2F2"/>
                </a:solidFill>
                <a:latin typeface="Consolas"/>
                <a:ea typeface="Consolas"/>
              </a:rPr>
              <a:t>상위</a:t>
            </a:r>
            <a:r>
              <a:rPr sz="1250" b="0" dirty="0">
                <a:solidFill>
                  <a:srgbClr val="F2F2F2"/>
                </a:solidFill>
                <a:latin typeface="Consolas"/>
                <a:ea typeface="Consolas"/>
              </a:rPr>
              <a:t> SQL </a:t>
            </a:r>
            <a:r>
              <a:rPr sz="1250" b="0" dirty="0" err="1">
                <a:solidFill>
                  <a:srgbClr val="F2F2F2"/>
                </a:solidFill>
                <a:latin typeface="Consolas"/>
                <a:ea typeface="Consolas"/>
              </a:rPr>
              <a:t>물리</a:t>
            </a:r>
            <a:r>
              <a:rPr sz="1250" b="0" dirty="0">
                <a:solidFill>
                  <a:srgbClr val="F2F2F2"/>
                </a:solidFill>
                <a:latin typeface="Consolas"/>
                <a:ea typeface="Consolas"/>
              </a:rPr>
              <a:t> </a:t>
            </a:r>
            <a:r>
              <a:rPr sz="1250" b="0" dirty="0" err="1">
                <a:solidFill>
                  <a:srgbClr val="F2F2F2"/>
                </a:solidFill>
                <a:latin typeface="Consolas"/>
                <a:ea typeface="Consolas"/>
              </a:rPr>
              <a:t>읽기</a:t>
            </a:r>
            <a:r>
              <a:rPr sz="1250" b="0" dirty="0">
                <a:solidFill>
                  <a:srgbClr val="F2F2F2"/>
                </a:solidFill>
                <a:latin typeface="Consolas"/>
                <a:ea typeface="Consolas"/>
              </a:rPr>
              <a:t> </a:t>
            </a:r>
            <a:r>
              <a:rPr sz="1250" b="0" dirty="0" err="1">
                <a:solidFill>
                  <a:srgbClr val="F2F2F2"/>
                </a:solidFill>
                <a:latin typeface="Consolas"/>
                <a:ea typeface="Consolas"/>
              </a:rPr>
              <a:t>비교</a:t>
            </a:r>
            <a:r>
              <a:rPr sz="1250" b="0" dirty="0">
                <a:solidFill>
                  <a:srgbClr val="F2F2F2"/>
                </a:solidFill>
                <a:latin typeface="Consolas"/>
                <a:ea typeface="Consolas"/>
              </a:rPr>
              <a:t>).</a:t>
            </a:r>
          </a:p>
        </p:txBody>
      </p:sp>
    </p:spTree>
    <p:extLst>
      <p:ext uri="{BB962C8B-B14F-4D97-AF65-F5344CB8AC3E}">
        <p14:creationId xmlns:p14="http://schemas.microsoft.com/office/powerpoint/2010/main" val="3681291758"/>
      </p:ext>
    </p:extLst>
  </p:cSld>
  <p:clrMapOvr>
    <a:masterClrMapping/>
  </p:clrMapOvr>
</p:sld>
</file>

<file path=ppt/slides/slide1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풀 배치 기준</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ea typeface="맑은 고딕"/>
              </a:rPr>
              <a:t>Best Practice</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KEEP: 작고 자주 참조되는 코드·마스터, 예측 가능한 응답시간</a:t>
            </a:r>
          </a:p>
          <a:p>
            <a:pPr algn="l">
              <a:spcAft>
                <a:spcPts val="1000"/>
              </a:spcAft>
            </a:pPr>
            <a:r>
              <a:rPr sz="1700" b="0">
                <a:solidFill>
                  <a:srgbClr val="222222"/>
                </a:solidFill>
                <a:latin typeface="맑은 고딕"/>
                <a:ea typeface="맑은 고딕"/>
              </a:rPr>
              <a:t>•  RECYCLE: 비순차 물리 읽기 10% 초과 대형 세그먼트</a:t>
            </a:r>
          </a:p>
          <a:p>
            <a:pPr algn="l">
              <a:spcAft>
                <a:spcPts val="1000"/>
              </a:spcAft>
            </a:pPr>
            <a:r>
              <a:rPr sz="1700" b="0">
                <a:solidFill>
                  <a:srgbClr val="222222"/>
                </a:solidFill>
                <a:latin typeface="맑은 고딕"/>
                <a:ea typeface="맑은 고딕"/>
              </a:rPr>
              <a:t>•  먼저 SQL 튜닝 — 비선택적 인덱스는 선택적 인덱스로</a:t>
            </a:r>
          </a:p>
          <a:p>
            <a:pPr algn="l">
              <a:spcAft>
                <a:spcPts val="1000"/>
              </a:spcAft>
            </a:pPr>
            <a:r>
              <a:rPr sz="1700" b="0">
                <a:solidFill>
                  <a:srgbClr val="222222"/>
                </a:solidFill>
                <a:latin typeface="맑은 고딕"/>
                <a:ea typeface="맑은 고딕"/>
              </a:rPr>
              <a:t>•  풀 크기는 각 풀에 대해 V$DB_CACHE_ADVICE로 따로 산정</a:t>
            </a:r>
          </a:p>
        </p:txBody>
      </p:sp>
    </p:spTree>
    <p:extLst>
      <p:ext uri="{BB962C8B-B14F-4D97-AF65-F5344CB8AC3E}">
        <p14:creationId xmlns:p14="http://schemas.microsoft.com/office/powerpoint/2010/main" val="2760131344"/>
      </p:ext>
    </p:extLst>
  </p:cSld>
  <p:clrMapOvr>
    <a:masterClrMapping/>
  </p:clrMapOvr>
</p:sld>
</file>

<file path=ppt/slides/slide1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ea typeface="맑은 고딕"/>
              </a:rPr>
              <a:t>31.6</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ea typeface="맑은 고딕"/>
              </a:rPr>
              <a:t>캐싱 모드와 대량 스캔</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ea typeface="맑은 고딕"/>
              </a:rPr>
              <a:t>•  CACHE / NOCACHE</a:t>
            </a:r>
          </a:p>
          <a:p>
            <a:pPr algn="l">
              <a:spcAft>
                <a:spcPts val="600"/>
              </a:spcAft>
            </a:pPr>
            <a:r>
              <a:rPr sz="1600" b="0">
                <a:solidFill>
                  <a:srgbClr val="FFFFFF"/>
                </a:solidFill>
                <a:latin typeface="맑은 고딕"/>
                <a:ea typeface="맑은 고딕"/>
              </a:rPr>
              <a:t>•  LRU 꼬리 배치</a:t>
            </a:r>
          </a:p>
          <a:p>
            <a:pPr algn="l">
              <a:spcAft>
                <a:spcPts val="600"/>
              </a:spcAft>
            </a:pPr>
            <a:r>
              <a:rPr sz="1600" b="0">
                <a:solidFill>
                  <a:srgbClr val="FFFFFF"/>
                </a:solidFill>
                <a:latin typeface="맑은 고딕"/>
                <a:ea typeface="맑은 고딕"/>
              </a:rPr>
              <a:t>•  직접 경로 읽기</a:t>
            </a:r>
          </a:p>
        </p:txBody>
      </p:sp>
    </p:spTree>
    <p:extLst>
      <p:ext uri="{BB962C8B-B14F-4D97-AF65-F5344CB8AC3E}">
        <p14:creationId xmlns:p14="http://schemas.microsoft.com/office/powerpoint/2010/main" val="3811076266"/>
      </p:ext>
    </p:extLst>
  </p:cSld>
  <p:clrMapOvr>
    <a:masterClrMapping/>
  </p:clrMapOvr>
</p:sld>
</file>

<file path=ppt/slides/slide1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같은 100%, 다른 의미</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ea typeface="맑은 고딕"/>
              </a:rPr>
              <a:t>맥락이 해석을 바꾼다</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DEFAULT 풀 99.98%: 반복 스캔으로 부풀려졌을 수 있다</a:t>
            </a:r>
          </a:p>
          <a:p>
            <a:pPr algn="l">
              <a:spcAft>
                <a:spcPts val="1000"/>
              </a:spcAft>
            </a:pPr>
            <a:r>
              <a:rPr sz="1700" b="0">
                <a:solidFill>
                  <a:srgbClr val="222222"/>
                </a:solidFill>
                <a:latin typeface="맑은 고딕"/>
                <a:ea typeface="맑은 고딕"/>
              </a:rPr>
              <a:t>•  KEEP 풀 100%: 작고 자주 쓰는 것만 담아 항상 적중(정상)</a:t>
            </a:r>
          </a:p>
          <a:p>
            <a:pPr algn="l">
              <a:spcAft>
                <a:spcPts val="1000"/>
              </a:spcAft>
            </a:pPr>
            <a:r>
              <a:rPr sz="1700" b="0">
                <a:solidFill>
                  <a:srgbClr val="222222"/>
                </a:solidFill>
                <a:latin typeface="맑은 고딕"/>
                <a:ea typeface="맑은 고딕"/>
              </a:rPr>
              <a:t>•  직접 경로 읽기 대형 스캔: 히트율에 아예 안 잡힘</a:t>
            </a:r>
          </a:p>
          <a:p>
            <a:pPr algn="l">
              <a:spcAft>
                <a:spcPts val="1000"/>
              </a:spcAft>
            </a:pPr>
            <a:r>
              <a:rPr sz="1700" b="0">
                <a:solidFill>
                  <a:srgbClr val="222222"/>
                </a:solidFill>
                <a:latin typeface="맑은 고딕"/>
                <a:ea typeface="맑은 고딕"/>
              </a:rPr>
              <a:t>•  CACHE는 LRU 위치만 바꿈 / KEEP은 전용 풀로 격리</a:t>
            </a:r>
          </a:p>
        </p:txBody>
      </p:sp>
    </p:spTree>
    <p:extLst>
      <p:ext uri="{BB962C8B-B14F-4D97-AF65-F5344CB8AC3E}">
        <p14:creationId xmlns:p14="http://schemas.microsoft.com/office/powerpoint/2010/main" val="2101589632"/>
      </p:ext>
    </p:extLst>
  </p:cSld>
  <p:clrMapOvr>
    <a:masterClrMapping/>
  </p:clrMapOvr>
</p:sld>
</file>

<file path=ppt/slides/slide1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ea typeface="맑은 고딕"/>
              </a:rPr>
              <a:t>31.7</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ea typeface="맑은 고딕"/>
              </a:rPr>
              <a:t>리두 로그 버퍼</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ea typeface="맑은 고딕"/>
              </a:rPr>
              <a:t>•  LGWR 기록 조건</a:t>
            </a:r>
          </a:p>
          <a:p>
            <a:pPr algn="l">
              <a:spcAft>
                <a:spcPts val="600"/>
              </a:spcAft>
            </a:pPr>
            <a:r>
              <a:rPr sz="1600" b="0">
                <a:solidFill>
                  <a:srgbClr val="FFFFFF"/>
                </a:solidFill>
                <a:latin typeface="맑은 고딕"/>
                <a:ea typeface="맑은 고딕"/>
              </a:rPr>
              <a:t>•  log buffer space 대기</a:t>
            </a:r>
          </a:p>
          <a:p>
            <a:pPr algn="l">
              <a:spcAft>
                <a:spcPts val="600"/>
              </a:spcAft>
            </a:pPr>
            <a:r>
              <a:rPr sz="1600" b="0">
                <a:solidFill>
                  <a:srgbClr val="FFFFFF"/>
                </a:solidFill>
                <a:latin typeface="맑은 고딕"/>
                <a:ea typeface="맑은 고딕"/>
              </a:rPr>
              <a:t>•  재시도 비율로 판단</a:t>
            </a:r>
          </a:p>
        </p:txBody>
      </p:sp>
    </p:spTree>
    <p:extLst>
      <p:ext uri="{BB962C8B-B14F-4D97-AF65-F5344CB8AC3E}">
        <p14:creationId xmlns:p14="http://schemas.microsoft.com/office/powerpoint/2010/main" val="2195808079"/>
      </p:ext>
    </p:extLst>
  </p:cSld>
  <p:clrMapOvr>
    <a:masterClrMapping/>
  </p:clrMapOvr>
</p:sld>
</file>

<file path=ppt/slides/slide1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리두 로그 버퍼 동작</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ea typeface="맑은 고딕"/>
              </a:rPr>
              <a:t>LGWR는 언제 쓰는가</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데이터 블록 변경 → 리두가 리두 로그 버퍼에 기록됨</a:t>
            </a:r>
          </a:p>
          <a:p>
            <a:pPr algn="l">
              <a:spcAft>
                <a:spcPts val="1000"/>
              </a:spcAft>
            </a:pPr>
            <a:r>
              <a:rPr sz="1700" b="0">
                <a:solidFill>
                  <a:srgbClr val="222222"/>
                </a:solidFill>
                <a:latin typeface="맑은 고딕"/>
                <a:ea typeface="맑은 고딕"/>
              </a:rPr>
              <a:t>•  LGWR 기록 조건: ①버퍼 1/3 참 ②COMMIT/ROLLBACK ③DBWR 요청</a:t>
            </a:r>
          </a:p>
          <a:p>
            <a:pPr algn="l">
              <a:spcAft>
                <a:spcPts val="1000"/>
              </a:spcAft>
            </a:pPr>
            <a:r>
              <a:rPr sz="1700" b="0">
                <a:solidFill>
                  <a:srgbClr val="222222"/>
                </a:solidFill>
                <a:latin typeface="맑은 고딕"/>
                <a:ea typeface="맑은 고딕"/>
              </a:rPr>
              <a:t>•  공간 없으면 서버 프로세스가 log buffer space로 대기</a:t>
            </a:r>
          </a:p>
          <a:p>
            <a:pPr algn="l">
              <a:spcAft>
                <a:spcPts val="1000"/>
              </a:spcAft>
            </a:pPr>
            <a:r>
              <a:rPr sz="1700" b="0">
                <a:solidFill>
                  <a:srgbClr val="222222"/>
                </a:solidFill>
                <a:latin typeface="맑은 고딕"/>
                <a:ea typeface="맑은 고딕"/>
              </a:rPr>
              <a:t>•  버퍼 캐시와 반대: 대개 작아도 충분, 키우면 손해일 수도</a:t>
            </a:r>
          </a:p>
        </p:txBody>
      </p:sp>
    </p:spTree>
    <p:extLst>
      <p:ext uri="{BB962C8B-B14F-4D97-AF65-F5344CB8AC3E}">
        <p14:creationId xmlns:p14="http://schemas.microsoft.com/office/powerpoint/2010/main" val="491607587"/>
      </p:ext>
    </p:extLst>
  </p:cSld>
  <p:clrMapOvr>
    <a:masterClrMapping/>
  </p:clrMapOvr>
</p:sld>
</file>

<file path=ppt/slides/slide1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리두 지표 실측</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ea typeface="맑은 고딕"/>
              </a:rPr>
              <a:t>재시도를 리두 항목과 비교</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37160" rtlCol="0" anchor="ctr"/>
          <a:lstStyle/>
          <a:p>
            <a:pPr>
              <a:lnSpc>
                <a:spcPct val="100000"/>
              </a:lnSpc>
              <a:spcAft>
                <a:spcPts val="0"/>
              </a:spcAft>
            </a:pPr>
            <a:r>
              <a:rPr sz="1250" b="0" dirty="0" err="1">
                <a:solidFill>
                  <a:srgbClr val="F2F2F2"/>
                </a:solidFill>
                <a:latin typeface="Consolas"/>
                <a:ea typeface="Consolas"/>
              </a:rPr>
              <a:t>SYS@orcl</a:t>
            </a:r>
            <a:r>
              <a:rPr sz="1250" b="0" dirty="0">
                <a:solidFill>
                  <a:srgbClr val="F2F2F2"/>
                </a:solidFill>
                <a:latin typeface="Consolas"/>
                <a:ea typeface="Consolas"/>
              </a:rPr>
              <a:t>&gt; SELECT '</a:t>
            </a:r>
            <a:r>
              <a:rPr sz="1250" b="0" dirty="0" err="1">
                <a:solidFill>
                  <a:srgbClr val="F2F2F2"/>
                </a:solidFill>
                <a:latin typeface="Consolas"/>
                <a:ea typeface="Consolas"/>
              </a:rPr>
              <a:t>log_buffer</a:t>
            </a:r>
            <a:r>
              <a:rPr sz="1250" b="0" dirty="0">
                <a:solidFill>
                  <a:srgbClr val="F2F2F2"/>
                </a:solidFill>
                <a:latin typeface="Consolas"/>
                <a:ea typeface="Consolas"/>
              </a:rPr>
              <a:t>' name, </a:t>
            </a:r>
            <a:r>
              <a:rPr sz="1250" b="0" dirty="0" err="1">
                <a:solidFill>
                  <a:srgbClr val="F2F2F2"/>
                </a:solidFill>
                <a:latin typeface="Consolas"/>
                <a:ea typeface="Consolas"/>
              </a:rPr>
              <a:t>display_value</a:t>
            </a:r>
            <a:r>
              <a:rPr sz="1250" b="0" dirty="0">
                <a:solidFill>
                  <a:srgbClr val="F2F2F2"/>
                </a:solidFill>
                <a:latin typeface="Consolas"/>
                <a:ea typeface="Consolas"/>
              </a:rPr>
              <a:t> </a:t>
            </a:r>
            <a:r>
              <a:rPr sz="1250" b="0" dirty="0" err="1">
                <a:solidFill>
                  <a:srgbClr val="F2F2F2"/>
                </a:solidFill>
                <a:latin typeface="Consolas"/>
                <a:ea typeface="Consolas"/>
              </a:rPr>
              <a:t>val</a:t>
            </a:r>
            <a:endParaRPr sz="1250" b="0" dirty="0">
              <a:solidFill>
                <a:srgbClr val="F2F2F2"/>
              </a:solidFill>
              <a:latin typeface="Consolas"/>
              <a:ea typeface="Consolas"/>
            </a:endParaRPr>
          </a:p>
          <a:p>
            <a:pPr>
              <a:lnSpc>
                <a:spcPct val="100000"/>
              </a:lnSpc>
              <a:spcAft>
                <a:spcPts val="0"/>
              </a:spcAft>
            </a:pPr>
            <a:r>
              <a:rPr sz="1250" b="0" dirty="0">
                <a:solidFill>
                  <a:srgbClr val="F2F2F2"/>
                </a:solidFill>
                <a:latin typeface="Consolas"/>
                <a:ea typeface="Consolas"/>
              </a:rPr>
              <a:t>  2  FROM </a:t>
            </a:r>
            <a:r>
              <a:rPr sz="1250" b="0" dirty="0" err="1">
                <a:solidFill>
                  <a:srgbClr val="F2F2F2"/>
                </a:solidFill>
                <a:latin typeface="Consolas"/>
                <a:ea typeface="Consolas"/>
              </a:rPr>
              <a:t>v$parameter</a:t>
            </a:r>
            <a:r>
              <a:rPr sz="1250" b="0" dirty="0">
                <a:solidFill>
                  <a:srgbClr val="F2F2F2"/>
                </a:solidFill>
                <a:latin typeface="Consolas"/>
                <a:ea typeface="Consolas"/>
              </a:rPr>
              <a:t> WHERE name='</a:t>
            </a:r>
            <a:r>
              <a:rPr sz="1250" b="0" dirty="0" err="1">
                <a:solidFill>
                  <a:srgbClr val="F2F2F2"/>
                </a:solidFill>
                <a:latin typeface="Consolas"/>
                <a:ea typeface="Consolas"/>
              </a:rPr>
              <a:t>log_buffer</a:t>
            </a:r>
            <a:r>
              <a:rPr sz="1250" b="0" dirty="0">
                <a:solidFill>
                  <a:srgbClr val="F2F2F2"/>
                </a:solidFill>
                <a:latin typeface="Consolas"/>
                <a:ea typeface="Consolas"/>
              </a:rPr>
              <a:t>'</a:t>
            </a:r>
          </a:p>
          <a:p>
            <a:pPr>
              <a:lnSpc>
                <a:spcPct val="100000"/>
              </a:lnSpc>
              <a:spcAft>
                <a:spcPts val="0"/>
              </a:spcAft>
            </a:pPr>
            <a:r>
              <a:rPr sz="1250" b="0" dirty="0">
                <a:solidFill>
                  <a:srgbClr val="F2F2F2"/>
                </a:solidFill>
                <a:latin typeface="Consolas"/>
                <a:ea typeface="Consolas"/>
              </a:rPr>
              <a:t>  3  UNION ALL</a:t>
            </a:r>
          </a:p>
          <a:p>
            <a:pPr>
              <a:lnSpc>
                <a:spcPct val="100000"/>
              </a:lnSpc>
              <a:spcAft>
                <a:spcPts val="0"/>
              </a:spcAft>
            </a:pPr>
            <a:r>
              <a:rPr sz="1250" b="0" dirty="0">
                <a:solidFill>
                  <a:srgbClr val="F2F2F2"/>
                </a:solidFill>
                <a:latin typeface="Consolas"/>
                <a:ea typeface="Consolas"/>
              </a:rPr>
              <a:t>  4  SELECT stat.name, TO_CHAR(</a:t>
            </a:r>
            <a:r>
              <a:rPr sz="1250" b="0" dirty="0" err="1">
                <a:solidFill>
                  <a:srgbClr val="F2F2F2"/>
                </a:solidFill>
                <a:latin typeface="Consolas"/>
                <a:ea typeface="Consolas"/>
              </a:rPr>
              <a:t>stat.value</a:t>
            </a:r>
            <a:r>
              <a:rPr sz="1250" b="0" dirty="0">
                <a:solidFill>
                  <a:srgbClr val="F2F2F2"/>
                </a:solidFill>
                <a:latin typeface="Consolas"/>
                <a:ea typeface="Consolas"/>
              </a:rPr>
              <a:t>) FROM </a:t>
            </a:r>
            <a:r>
              <a:rPr sz="1250" b="0" dirty="0" err="1">
                <a:solidFill>
                  <a:srgbClr val="F2F2F2"/>
                </a:solidFill>
                <a:latin typeface="Consolas"/>
                <a:ea typeface="Consolas"/>
              </a:rPr>
              <a:t>v$sysstat</a:t>
            </a:r>
            <a:r>
              <a:rPr sz="1250" b="0" dirty="0">
                <a:solidFill>
                  <a:srgbClr val="F2F2F2"/>
                </a:solidFill>
                <a:latin typeface="Consolas"/>
                <a:ea typeface="Consolas"/>
              </a:rPr>
              <a:t> stat</a:t>
            </a:r>
          </a:p>
          <a:p>
            <a:pPr>
              <a:lnSpc>
                <a:spcPct val="100000"/>
              </a:lnSpc>
              <a:spcAft>
                <a:spcPts val="0"/>
              </a:spcAft>
            </a:pPr>
            <a:r>
              <a:rPr sz="1250" b="0" dirty="0">
                <a:solidFill>
                  <a:srgbClr val="F2F2F2"/>
                </a:solidFill>
                <a:latin typeface="Consolas"/>
                <a:ea typeface="Consolas"/>
              </a:rPr>
              <a:t>  5  WHERE stat.name IN ('redo </a:t>
            </a:r>
            <a:r>
              <a:rPr sz="1250" b="0" dirty="0" err="1">
                <a:solidFill>
                  <a:srgbClr val="F2F2F2"/>
                </a:solidFill>
                <a:latin typeface="Consolas"/>
                <a:ea typeface="Consolas"/>
              </a:rPr>
              <a:t>size','redo</a:t>
            </a:r>
            <a:r>
              <a:rPr sz="1250" b="0" dirty="0">
                <a:solidFill>
                  <a:srgbClr val="F2F2F2"/>
                </a:solidFill>
                <a:latin typeface="Consolas"/>
                <a:ea typeface="Consolas"/>
              </a:rPr>
              <a:t> entries',</a:t>
            </a:r>
          </a:p>
          <a:p>
            <a:pPr>
              <a:lnSpc>
                <a:spcPct val="100000"/>
              </a:lnSpc>
              <a:spcAft>
                <a:spcPts val="0"/>
              </a:spcAft>
            </a:pPr>
            <a:r>
              <a:rPr sz="1250" b="0" dirty="0">
                <a:solidFill>
                  <a:srgbClr val="F2F2F2"/>
                </a:solidFill>
                <a:latin typeface="Consolas"/>
                <a:ea typeface="Consolas"/>
              </a:rPr>
              <a:t>  6                      'redo buffer allocation retries');</a:t>
            </a:r>
          </a:p>
          <a:p>
            <a:pPr>
              <a:lnSpc>
                <a:spcPct val="100000"/>
              </a:lnSpc>
              <a:spcAft>
                <a:spcPts val="0"/>
              </a:spcAft>
            </a:pPr>
            <a:r>
              <a:rPr sz="1250" b="0" dirty="0">
                <a:solidFill>
                  <a:srgbClr val="F2F2F2"/>
                </a:solidFill>
                <a:latin typeface="Consolas"/>
                <a:ea typeface="Consolas"/>
              </a:rPr>
              <a:t> </a:t>
            </a:r>
          </a:p>
          <a:p>
            <a:pPr>
              <a:lnSpc>
                <a:spcPct val="100000"/>
              </a:lnSpc>
              <a:spcAft>
                <a:spcPts val="0"/>
              </a:spcAft>
            </a:pPr>
            <a:r>
              <a:rPr sz="1250" b="0" dirty="0">
                <a:solidFill>
                  <a:srgbClr val="F2F2F2"/>
                </a:solidFill>
                <a:latin typeface="Consolas"/>
                <a:ea typeface="Consolas"/>
              </a:rPr>
              <a:t>NAME                             VAL</a:t>
            </a:r>
          </a:p>
          <a:p>
            <a:pPr>
              <a:lnSpc>
                <a:spcPct val="100000"/>
              </a:lnSpc>
              <a:spcAft>
                <a:spcPts val="0"/>
              </a:spcAft>
            </a:pPr>
            <a:r>
              <a:rPr sz="1250" b="0" dirty="0">
                <a:solidFill>
                  <a:srgbClr val="F2F2F2"/>
                </a:solidFill>
                <a:latin typeface="Consolas"/>
                <a:ea typeface="Consolas"/>
              </a:rPr>
              <a:t>------------------------------ ----------</a:t>
            </a:r>
          </a:p>
          <a:p>
            <a:pPr>
              <a:lnSpc>
                <a:spcPct val="100000"/>
              </a:lnSpc>
              <a:spcAft>
                <a:spcPts val="0"/>
              </a:spcAft>
            </a:pPr>
            <a:r>
              <a:rPr sz="1250" b="0" dirty="0" err="1">
                <a:solidFill>
                  <a:srgbClr val="F2F2F2"/>
                </a:solidFill>
                <a:latin typeface="Consolas"/>
                <a:ea typeface="Consolas"/>
              </a:rPr>
              <a:t>log_buffer</a:t>
            </a:r>
            <a:r>
              <a:rPr sz="1250" b="0" dirty="0">
                <a:solidFill>
                  <a:srgbClr val="F2F2F2"/>
                </a:solidFill>
                <a:latin typeface="Consolas"/>
                <a:ea typeface="Consolas"/>
              </a:rPr>
              <a:t>                     7360K</a:t>
            </a:r>
          </a:p>
          <a:p>
            <a:pPr>
              <a:lnSpc>
                <a:spcPct val="100000"/>
              </a:lnSpc>
              <a:spcAft>
                <a:spcPts val="0"/>
              </a:spcAft>
            </a:pPr>
            <a:r>
              <a:rPr sz="1250" b="0" dirty="0">
                <a:solidFill>
                  <a:srgbClr val="F2F2F2"/>
                </a:solidFill>
                <a:latin typeface="Consolas"/>
                <a:ea typeface="Consolas"/>
              </a:rPr>
              <a:t>redo size                      129961816</a:t>
            </a:r>
          </a:p>
          <a:p>
            <a:pPr>
              <a:lnSpc>
                <a:spcPct val="100000"/>
              </a:lnSpc>
              <a:spcAft>
                <a:spcPts val="0"/>
              </a:spcAft>
            </a:pPr>
            <a:r>
              <a:rPr sz="1250" b="0" dirty="0">
                <a:solidFill>
                  <a:srgbClr val="F2F2F2"/>
                </a:solidFill>
                <a:latin typeface="Consolas"/>
                <a:ea typeface="Consolas"/>
              </a:rPr>
              <a:t>redo entries                   249457</a:t>
            </a:r>
          </a:p>
          <a:p>
            <a:pPr>
              <a:lnSpc>
                <a:spcPct val="100000"/>
              </a:lnSpc>
              <a:spcAft>
                <a:spcPts val="0"/>
              </a:spcAft>
            </a:pPr>
            <a:r>
              <a:rPr sz="1250" b="0" dirty="0">
                <a:solidFill>
                  <a:srgbClr val="F2F2F2"/>
                </a:solidFill>
                <a:latin typeface="Consolas"/>
                <a:ea typeface="Consolas"/>
              </a:rPr>
              <a:t>redo buffer allocation retries 3</a:t>
            </a:r>
          </a:p>
          <a:p>
            <a:pPr>
              <a:lnSpc>
                <a:spcPct val="100000"/>
              </a:lnSpc>
              <a:spcAft>
                <a:spcPts val="0"/>
              </a:spcAft>
            </a:pPr>
            <a:r>
              <a:rPr sz="1250" b="0" dirty="0">
                <a:solidFill>
                  <a:srgbClr val="F2F2F2"/>
                </a:solidFill>
                <a:latin typeface="Consolas"/>
                <a:ea typeface="Consolas"/>
              </a:rPr>
              <a:t> </a:t>
            </a:r>
          </a:p>
          <a:p>
            <a:pPr>
              <a:lnSpc>
                <a:spcPct val="100000"/>
              </a:lnSpc>
              <a:spcAft>
                <a:spcPts val="0"/>
              </a:spcAft>
            </a:pPr>
            <a:r>
              <a:rPr sz="1250" b="0" dirty="0">
                <a:solidFill>
                  <a:srgbClr val="F2F2F2"/>
                </a:solidFill>
                <a:latin typeface="Consolas"/>
                <a:ea typeface="Consolas"/>
              </a:rPr>
              <a:t>-- retries 3 / entries 249,457 = 0.0012% → </a:t>
            </a:r>
            <a:r>
              <a:rPr sz="1250" b="0" dirty="0" err="1">
                <a:solidFill>
                  <a:srgbClr val="F2F2F2"/>
                </a:solidFill>
                <a:latin typeface="Consolas"/>
                <a:ea typeface="Consolas"/>
              </a:rPr>
              <a:t>버퍼</a:t>
            </a:r>
            <a:r>
              <a:rPr sz="1250" b="0" dirty="0">
                <a:solidFill>
                  <a:srgbClr val="F2F2F2"/>
                </a:solidFill>
                <a:latin typeface="Consolas"/>
                <a:ea typeface="Consolas"/>
              </a:rPr>
              <a:t> </a:t>
            </a:r>
            <a:r>
              <a:rPr sz="1250" b="0" dirty="0" err="1">
                <a:solidFill>
                  <a:srgbClr val="F2F2F2"/>
                </a:solidFill>
                <a:latin typeface="Consolas"/>
                <a:ea typeface="Consolas"/>
              </a:rPr>
              <a:t>충분</a:t>
            </a:r>
            <a:r>
              <a:rPr sz="1250" b="0" dirty="0">
                <a:solidFill>
                  <a:srgbClr val="F2F2F2"/>
                </a:solidFill>
                <a:latin typeface="Consolas"/>
                <a:ea typeface="Consolas"/>
              </a:rPr>
              <a:t>!</a:t>
            </a:r>
          </a:p>
        </p:txBody>
      </p:sp>
    </p:spTree>
    <p:extLst>
      <p:ext uri="{BB962C8B-B14F-4D97-AF65-F5344CB8AC3E}">
        <p14:creationId xmlns:p14="http://schemas.microsoft.com/office/powerpoint/2010/main" val="1229867722"/>
      </p:ext>
    </p:extLst>
  </p:cSld>
  <p:clrMapOvr>
    <a:masterClrMapping/>
  </p:clrMapOvr>
</p:sld>
</file>

<file path=ppt/slides/slide1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직접 경로 읽기와 소형 테이블 임계</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ea typeface="맑은 고딕"/>
              </a:rPr>
              <a:t>실행계획은 그대로인데 느려졌다면</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소형 테이블 임계 = max(버퍼 캐시의 2%, 20블록)</a:t>
            </a:r>
          </a:p>
          <a:p>
            <a:pPr algn="l">
              <a:spcAft>
                <a:spcPts val="1000"/>
              </a:spcAft>
            </a:pPr>
            <a:r>
              <a:rPr sz="1700" b="0">
                <a:solidFill>
                  <a:srgbClr val="222222"/>
                </a:solidFill>
                <a:latin typeface="맑은 고딕"/>
                <a:ea typeface="맑은 고딕"/>
              </a:rPr>
              <a:t>•  임계 초과 대형 스캔 → LRU 꼬리 or 직접 경로(PGA)로 우회</a:t>
            </a:r>
          </a:p>
          <a:p>
            <a:pPr algn="l">
              <a:spcAft>
                <a:spcPts val="1000"/>
              </a:spcAft>
            </a:pPr>
            <a:r>
              <a:rPr sz="1700" b="0">
                <a:solidFill>
                  <a:srgbClr val="222222"/>
                </a:solidFill>
                <a:latin typeface="맑은 고딕"/>
                <a:ea typeface="맑은 고딕"/>
              </a:rPr>
              <a:t>•  19c 적응적 직접 경로 읽기: 상황 따라 경로 전환</a:t>
            </a:r>
          </a:p>
          <a:p>
            <a:pPr algn="l">
              <a:spcAft>
                <a:spcPts val="1000"/>
              </a:spcAft>
            </a:pPr>
            <a:r>
              <a:rPr sz="1700" b="0">
                <a:solidFill>
                  <a:srgbClr val="222222"/>
                </a:solidFill>
                <a:latin typeface="맑은 고딕"/>
                <a:ea typeface="맑은 고딕"/>
              </a:rPr>
              <a:t>•  경로 전환 시 물리 읽기·direct path read 대기가 갑자기 증가</a:t>
            </a:r>
          </a:p>
        </p:txBody>
      </p:sp>
    </p:spTree>
    <p:extLst>
      <p:ext uri="{BB962C8B-B14F-4D97-AF65-F5344CB8AC3E}">
        <p14:creationId xmlns:p14="http://schemas.microsoft.com/office/powerpoint/2010/main" val="4227301349"/>
      </p:ext>
    </p:extLst>
  </p:cSld>
  <p:clrMapOvr>
    <a:masterClrMapping/>
  </p:clrMapOvr>
</p:sld>
</file>

<file path=ppt/slides/slide1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리두 버퍼 판정 규율</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ea typeface="맑은 고딕"/>
              </a:rPr>
              <a:t>버퍼냐 I/O냐를 가른다</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retries / entries 비율로 충분성 판단(경험칙 1% 미만이면 충분)</a:t>
            </a:r>
          </a:p>
          <a:p>
            <a:pPr algn="l">
              <a:spcAft>
                <a:spcPts val="1000"/>
              </a:spcAft>
            </a:pPr>
            <a:r>
              <a:rPr sz="1700" b="0">
                <a:solidFill>
                  <a:srgbClr val="222222"/>
                </a:solidFill>
                <a:latin typeface="맑은 고딕"/>
                <a:ea typeface="맑은 고딕"/>
              </a:rPr>
              <a:t>•  log buffer space 상위 → log file parallel write도 함께 확인</a:t>
            </a:r>
          </a:p>
          <a:p>
            <a:pPr algn="l">
              <a:spcAft>
                <a:spcPts val="1000"/>
              </a:spcAft>
            </a:pPr>
            <a:r>
              <a:rPr sz="1700" b="0">
                <a:solidFill>
                  <a:srgbClr val="222222"/>
                </a:solidFill>
                <a:latin typeface="맑은 고딕"/>
                <a:ea typeface="맑은 고딕"/>
              </a:rPr>
              <a:t>•  후자가 높으면 병목은 버퍼가 아니라 리두 I/O(디스크)</a:t>
            </a:r>
          </a:p>
          <a:p>
            <a:pPr algn="l">
              <a:spcAft>
                <a:spcPts val="1000"/>
              </a:spcAft>
            </a:pPr>
            <a:r>
              <a:rPr sz="1700" b="0">
                <a:solidFill>
                  <a:srgbClr val="222222"/>
                </a:solidFill>
                <a:latin typeface="맑은 고딕"/>
                <a:ea typeface="맑은 고딕"/>
              </a:rPr>
              <a:t>•  근거 없이 log_buffer 키우지 않는다 / 커밋 빈도 최적화 우선</a:t>
            </a:r>
          </a:p>
        </p:txBody>
      </p:sp>
    </p:spTree>
    <p:extLst>
      <p:ext uri="{BB962C8B-B14F-4D97-AF65-F5344CB8AC3E}">
        <p14:creationId xmlns:p14="http://schemas.microsoft.com/office/powerpoint/2010/main" val="3403372195"/>
      </p:ext>
    </p:extLst>
  </p:cSld>
  <p:clrMapOvr>
    <a:masterClrMapping/>
  </p:clrMapOvr>
</p:sld>
</file>

<file path=ppt/slides/slide1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퀴즈 (Quiz)</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800"/>
              </a:spcAft>
            </a:pPr>
            <a:r>
              <a:rPr sz="1500" b="0">
                <a:solidFill>
                  <a:srgbClr val="222222"/>
                </a:solidFill>
                <a:latin typeface="맑은 고딕"/>
                <a:ea typeface="맑은 고딕"/>
              </a:rPr>
              <a:t>•  Q1. 히트율 공식을 쓰고, 99.98%인데도 좋은 상태가 아닐 수 있는 이유를 실측으로 설명하라.</a:t>
            </a:r>
          </a:p>
          <a:p>
            <a:pPr algn="l">
              <a:spcAft>
                <a:spcPts val="800"/>
              </a:spcAft>
            </a:pPr>
            <a:r>
              <a:rPr sz="1500" b="0">
                <a:solidFill>
                  <a:srgbClr val="222222"/>
                </a:solidFill>
                <a:latin typeface="맑은 고딕"/>
                <a:ea typeface="맑은 고딕"/>
              </a:rPr>
              <a:t>•  Q2. 비효율 SQL의 반복 스캔이 히트율을 '오히려 올리는' 원리를 설명하라.</a:t>
            </a:r>
          </a:p>
          <a:p>
            <a:pPr algn="l">
              <a:spcAft>
                <a:spcPts val="800"/>
              </a:spcAft>
            </a:pPr>
            <a:r>
              <a:rPr sz="1500" b="0">
                <a:solidFill>
                  <a:srgbClr val="222222"/>
                </a:solidFill>
                <a:latin typeface="맑은 고딕"/>
                <a:ea typeface="맑은 고딕"/>
              </a:rPr>
              <a:t>•  Q3. V$DB_CACHE_ADVICE 계수가 480MB에서 1.0으로 수렴했다. 어떤 결론을 내릴 수 있는가?</a:t>
            </a:r>
          </a:p>
          <a:p>
            <a:pPr algn="l">
              <a:spcAft>
                <a:spcPts val="800"/>
              </a:spcAft>
            </a:pPr>
            <a:r>
              <a:rPr sz="1500" b="0">
                <a:solidFill>
                  <a:srgbClr val="222222"/>
                </a:solidFill>
                <a:latin typeface="맑은 고딕"/>
                <a:ea typeface="맑은 고딕"/>
              </a:rPr>
              <a:t>•  Q4. KEEP과 RECYCLE의 용도를 쓰고, DRUG_MASTER를 어느 풀에 둘지 이유와 함께 답하라.</a:t>
            </a:r>
          </a:p>
          <a:p>
            <a:pPr algn="l">
              <a:spcAft>
                <a:spcPts val="800"/>
              </a:spcAft>
            </a:pPr>
            <a:r>
              <a:rPr sz="1500" b="0">
                <a:solidFill>
                  <a:srgbClr val="222222"/>
                </a:solidFill>
                <a:latin typeface="맑은 고딕"/>
                <a:ea typeface="맑은 고딕"/>
              </a:rPr>
              <a:t>•  Q5. BUFFER_POOL KEEP 지정 직후 전체 스캔으로 예열하는 이유는?</a:t>
            </a:r>
          </a:p>
          <a:p>
            <a:pPr algn="l">
              <a:spcAft>
                <a:spcPts val="800"/>
              </a:spcAft>
            </a:pPr>
            <a:r>
              <a:rPr sz="1500" b="0">
                <a:solidFill>
                  <a:srgbClr val="222222"/>
                </a:solidFill>
                <a:latin typeface="맑은 고딕"/>
                <a:ea typeface="맑은 고딕"/>
              </a:rPr>
              <a:t>•  Q6. redo buffer allocation retries를 무엇과 비교해 리두 버퍼 크기를 판단하는가?</a:t>
            </a:r>
          </a:p>
        </p:txBody>
      </p:sp>
    </p:spTree>
    <p:extLst>
      <p:ext uri="{BB962C8B-B14F-4D97-AF65-F5344CB8AC3E}">
        <p14:creationId xmlns:p14="http://schemas.microsoft.com/office/powerpoint/2010/main" val="3567554538"/>
      </p:ext>
    </p:extLst>
  </p:cSld>
  <p:clrMapOvr>
    <a:masterClrMapping/>
  </p:clrMapOvr>
</p:sld>
</file>

<file path=ppt/slides/slide1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요약 (Summary)</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800"/>
              </a:spcAft>
            </a:pPr>
            <a:r>
              <a:rPr sz="1600" b="0">
                <a:solidFill>
                  <a:srgbClr val="222222"/>
                </a:solidFill>
                <a:latin typeface="맑은 고딕"/>
                <a:ea typeface="맑은 고딕"/>
              </a:rPr>
              <a:t>•  히트율 = 1 − 물리/논리. 물리 회피율일 뿐, 논리 읽기 낭비는 못 본다.</a:t>
            </a:r>
          </a:p>
          <a:p>
            <a:pPr algn="l">
              <a:spcAft>
                <a:spcPts val="800"/>
              </a:spcAft>
            </a:pPr>
            <a:r>
              <a:rPr sz="1600" b="0">
                <a:solidFill>
                  <a:srgbClr val="222222"/>
                </a:solidFill>
                <a:latin typeface="맑은 고딕"/>
                <a:ea typeface="맑은 고딕"/>
              </a:rPr>
              <a:t>•  실측 99.98%지만 논리 읽기 3.7억. 나쁜 SQL이 히트율을 오히려 올린다.</a:t>
            </a:r>
          </a:p>
          <a:p>
            <a:pPr algn="l">
              <a:spcAft>
                <a:spcPts val="800"/>
              </a:spcAft>
            </a:pPr>
            <a:r>
              <a:rPr sz="1600" b="0">
                <a:solidFill>
                  <a:srgbClr val="222222"/>
                </a:solidFill>
                <a:latin typeface="맑은 고딕"/>
                <a:ea typeface="맑은 고딕"/>
              </a:rPr>
              <a:t>•  크기 판단은 히트율이 아니라 V$DB_CACHE_ADVICE로. 480MB에서 수렴.</a:t>
            </a:r>
          </a:p>
          <a:p>
            <a:pPr algn="l">
              <a:spcAft>
                <a:spcPts val="800"/>
              </a:spcAft>
            </a:pPr>
            <a:r>
              <a:rPr sz="1600" b="0">
                <a:solidFill>
                  <a:srgbClr val="222222"/>
                </a:solidFill>
                <a:latin typeface="맑은 고딕"/>
                <a:ea typeface="맑은 고딕"/>
              </a:rPr>
              <a:t>•  다중 풀: 소형 참조는 KEEP(48M 설정), 대량 스캔은 RECYCLE로 격리.</a:t>
            </a:r>
          </a:p>
          <a:p>
            <a:pPr algn="l">
              <a:spcAft>
                <a:spcPts val="800"/>
              </a:spcAft>
            </a:pPr>
            <a:r>
              <a:rPr sz="1600" b="0">
                <a:solidFill>
                  <a:srgbClr val="222222"/>
                </a:solidFill>
                <a:latin typeface="맑은 고딕"/>
                <a:ea typeface="맑은 고딕"/>
              </a:rPr>
              <a:t>•  같은 100%도 KEEP과 DEFAULT는 의미가 다르다. 직접 경로는 히트율에 안 잡힌다.</a:t>
            </a:r>
          </a:p>
          <a:p>
            <a:pPr algn="l">
              <a:spcAft>
                <a:spcPts val="800"/>
              </a:spcAft>
            </a:pPr>
            <a:r>
              <a:rPr sz="1600" b="0">
                <a:solidFill>
                  <a:srgbClr val="222222"/>
                </a:solidFill>
                <a:latin typeface="맑은 고딕"/>
                <a:ea typeface="맑은 고딕"/>
              </a:rPr>
              <a:t>•  리두 버퍼: retries/entries 비율(실측 3/249,457)로 충분성을 판단한다.</a:t>
            </a:r>
          </a:p>
        </p:txBody>
      </p:sp>
    </p:spTree>
    <p:extLst>
      <p:ext uri="{BB962C8B-B14F-4D97-AF65-F5344CB8AC3E}">
        <p14:creationId xmlns:p14="http://schemas.microsoft.com/office/powerpoint/2010/main" val="1600711484"/>
      </p:ext>
    </p:extLst>
  </p:cSld>
  <p:clrMapOvr>
    <a:masterClrMapping/>
  </p:clrMapOvr>
</p:sld>
</file>

<file path=ppt/slides/slide1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실습 개요 (Practice Overview)</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800"/>
              </a:spcAft>
            </a:pPr>
            <a:r>
              <a:rPr sz="1500" b="0">
                <a:solidFill>
                  <a:srgbClr val="222222"/>
                </a:solidFill>
                <a:latin typeface="맑은 고딕"/>
                <a:ea typeface="맑은 고딕"/>
              </a:rPr>
              <a:t>•  실습 01 — 버퍼 캐시 구성·크기·사용률 확인(V$BUFFER_POOL_STATISTICS, ORA-00904 수정)</a:t>
            </a:r>
          </a:p>
          <a:p>
            <a:pPr algn="l">
              <a:spcAft>
                <a:spcPts val="800"/>
              </a:spcAft>
            </a:pPr>
            <a:r>
              <a:rPr sz="1500" b="0">
                <a:solidFill>
                  <a:srgbClr val="222222"/>
                </a:solidFill>
                <a:latin typeface="맑은 고딕"/>
                <a:ea typeface="맑은 고딕"/>
              </a:rPr>
              <a:t>•  실습 02 — 히트율의 함정 재현(WL_02_io, 조치 전후 히트율·논리 읽기 비교)</a:t>
            </a:r>
          </a:p>
          <a:p>
            <a:pPr algn="l">
              <a:spcAft>
                <a:spcPts val="800"/>
              </a:spcAft>
            </a:pPr>
            <a:r>
              <a:rPr sz="1500" b="0">
                <a:solidFill>
                  <a:srgbClr val="222222"/>
                </a:solidFill>
                <a:latin typeface="맑은 고딕"/>
                <a:ea typeface="맑은 고딕"/>
              </a:rPr>
              <a:t>•  실습 03 — 버퍼 캐시 어드바이저 판독(V$DB_CACHE_ADVICE, 수렴 구간)</a:t>
            </a:r>
          </a:p>
          <a:p>
            <a:pPr algn="l">
              <a:spcAft>
                <a:spcPts val="800"/>
              </a:spcAft>
            </a:pPr>
            <a:r>
              <a:rPr sz="1500" b="0">
                <a:solidFill>
                  <a:srgbClr val="222222"/>
                </a:solidFill>
                <a:latin typeface="맑은 고딕"/>
                <a:ea typeface="맑은 고딕"/>
              </a:rPr>
              <a:t>•  실습 04 — 다중 버퍼 풀 KEEP 구성(DRUG_MASTER 배치·예열)</a:t>
            </a:r>
          </a:p>
          <a:p>
            <a:pPr algn="l">
              <a:spcAft>
                <a:spcPts val="800"/>
              </a:spcAft>
            </a:pPr>
            <a:r>
              <a:rPr sz="1500" b="0">
                <a:solidFill>
                  <a:srgbClr val="222222"/>
                </a:solidFill>
                <a:latin typeface="맑은 고딕"/>
                <a:ea typeface="맑은 고딕"/>
              </a:rPr>
              <a:t>•  실습 05 — RECYCLE 풀과 대량 스캔 분리</a:t>
            </a:r>
          </a:p>
          <a:p>
            <a:pPr algn="l">
              <a:spcAft>
                <a:spcPts val="800"/>
              </a:spcAft>
            </a:pPr>
            <a:r>
              <a:rPr sz="1500" b="0">
                <a:solidFill>
                  <a:srgbClr val="222222"/>
                </a:solidFill>
                <a:latin typeface="맑은 고딕"/>
                <a:ea typeface="맑은 고딕"/>
              </a:rPr>
              <a:t>•  실습 06 — 리두 로그 버퍼와 log buffer space 대기(재시도 비율)</a:t>
            </a:r>
          </a:p>
        </p:txBody>
      </p:sp>
    </p:spTree>
    <p:extLst>
      <p:ext uri="{BB962C8B-B14F-4D97-AF65-F5344CB8AC3E}">
        <p14:creationId xmlns:p14="http://schemas.microsoft.com/office/powerpoint/2010/main" val="1196341625"/>
      </p:ext>
    </p:extLst>
  </p:cSld>
  <p:clrMapOvr>
    <a:masterClrMapping/>
  </p:clrMapOvr>
</p:sld>
</file>

<file path=ppt/slides/slide1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5394960"/>
            <a:ext cx="12188952"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457200"/>
            <a:ext cx="10698480" cy="548640"/>
          </a:xfrm>
          <a:prstGeom prst="rect">
            <a:avLst/>
          </a:prstGeom>
          <a:noFill/>
        </p:spPr>
        <p:txBody>
          <a:bodyPr wrap="square" anchor="t">
            <a:spAutoFit/>
          </a:bodyPr>
          <a:lstStyle/>
          <a:p>
            <a:pPr algn="l"/>
            <a:r>
              <a:rPr sz="1600" b="1">
                <a:solidFill>
                  <a:srgbClr val="FFFFFF"/>
                </a:solidFill>
                <a:latin typeface="맑은 고딕"/>
              </a:rPr>
              <a:t>Oracle Database 19c 성능 튜닝 실무 과정</a:t>
            </a:r>
          </a:p>
        </p:txBody>
      </p:sp>
      <p:sp>
        <p:nvSpPr>
          <p:cNvPr id="6" name="TextBox 5"/>
          <p:cNvSpPr txBox="1"/>
          <p:nvPr/>
        </p:nvSpPr>
        <p:spPr>
          <a:xfrm>
            <a:off x="731520" y="2377440"/>
            <a:ext cx="10698480" cy="1554480"/>
          </a:xfrm>
          <a:prstGeom prst="rect">
            <a:avLst/>
          </a:prstGeom>
          <a:noFill/>
        </p:spPr>
        <p:txBody>
          <a:bodyPr wrap="square" anchor="t">
            <a:spAutoFit/>
          </a:bodyPr>
          <a:lstStyle/>
          <a:p>
            <a:pPr algn="l"/>
            <a:r>
              <a:rPr sz="3400" b="1">
                <a:solidFill>
                  <a:srgbClr val="C0392B"/>
                </a:solidFill>
                <a:latin typeface="맑은 고딕"/>
              </a:rPr>
              <a:t>SGA 튜닝 ② 공유 풀과 라지 풀</a:t>
            </a:r>
          </a:p>
          <a:p>
            <a:pPr algn="l"/>
            <a:r>
              <a:rPr sz="2000" b="0">
                <a:solidFill>
                  <a:srgbClr val="5A6672"/>
                </a:solidFill>
                <a:latin typeface="맑은 고딕"/>
              </a:rPr>
              <a:t>Shared Pool &amp; Large Pool — 부족의 진짜 원인은 파싱이다</a:t>
            </a:r>
          </a:p>
        </p:txBody>
      </p:sp>
      <p:sp>
        <p:nvSpPr>
          <p:cNvPr id="7" name="TextBox 6"/>
          <p:cNvSpPr txBox="1"/>
          <p:nvPr/>
        </p:nvSpPr>
        <p:spPr>
          <a:xfrm>
            <a:off x="731520" y="4114800"/>
            <a:ext cx="10698480" cy="1097280"/>
          </a:xfrm>
          <a:prstGeom prst="rect">
            <a:avLst/>
          </a:prstGeom>
          <a:noFill/>
        </p:spPr>
        <p:txBody>
          <a:bodyPr wrap="square" anchor="t">
            <a:spAutoFit/>
          </a:bodyPr>
          <a:lstStyle/>
          <a:p>
            <a:pPr algn="l"/>
            <a:r>
              <a:rPr sz="1500" b="0">
                <a:solidFill>
                  <a:srgbClr val="5A6672"/>
                </a:solidFill>
                <a:latin typeface="맑은 고딕"/>
              </a:rPr>
              <a:t>라이브러리 캐시 · 하드 파싱 · CURSOR_SHARING · V$SHARED_POOL_ADVICE · ORA-04031 · 라지 풀 분리</a:t>
            </a:r>
          </a:p>
        </p:txBody>
      </p:sp>
      <p:sp>
        <p:nvSpPr>
          <p:cNvPr id="8" name="TextBox 7"/>
          <p:cNvSpPr txBox="1"/>
          <p:nvPr/>
        </p:nvSpPr>
        <p:spPr>
          <a:xfrm>
            <a:off x="731520" y="5577840"/>
            <a:ext cx="10698480" cy="914400"/>
          </a:xfrm>
          <a:prstGeom prst="rect">
            <a:avLst/>
          </a:prstGeom>
          <a:noFill/>
        </p:spPr>
        <p:txBody>
          <a:bodyPr wrap="square" anchor="t">
            <a:spAutoFit/>
          </a:bodyPr>
          <a:lstStyle/>
          <a:p>
            <a:pPr algn="l"/>
            <a:r>
              <a:rPr sz="2000" b="1">
                <a:solidFill>
                  <a:srgbClr val="C0392B"/>
                </a:solidFill>
                <a:latin typeface="맑은 고딕"/>
              </a:rPr>
              <a:t>ch32</a:t>
            </a:r>
          </a:p>
        </p:txBody>
      </p:sp>
    </p:spTree>
    <p:extLst>
      <p:ext uri="{BB962C8B-B14F-4D97-AF65-F5344CB8AC3E}">
        <p14:creationId xmlns:p14="http://schemas.microsoft.com/office/powerpoint/2010/main" val="2473835721"/>
      </p:ext>
    </p:extLst>
  </p:cSld>
  <p:clrMapOvr>
    <a:masterClrMapping/>
  </p:clrMapOvr>
</p:sld>
</file>

<file path=ppt/slides/slide1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학습 목표 (Objectives)</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600"/>
              </a:spcAft>
            </a:pPr>
            <a:r>
              <a:rPr sz="1600" b="0">
                <a:solidFill>
                  <a:srgbClr val="222222"/>
                </a:solidFill>
                <a:latin typeface="맑은 고딕"/>
              </a:rPr>
              <a:t>•  V$SGASTAT으로 공유 풀 구성을 읽고 파편화·부풀림을 판별한다.</a:t>
            </a:r>
          </a:p>
          <a:p>
            <a:pPr algn="l">
              <a:spcAft>
                <a:spcPts val="600"/>
              </a:spcAft>
            </a:pPr>
            <a:r>
              <a:rPr sz="1600" b="0">
                <a:solidFill>
                  <a:srgbClr val="222222"/>
                </a:solidFill>
                <a:latin typeface="맑은 고딕"/>
              </a:rPr>
              <a:t>•  V$LIBRARYCACHE의 히트율·RELOADS·INVALIDATIONS로 커서 재사용을 진단한다.</a:t>
            </a:r>
          </a:p>
          <a:p>
            <a:pPr algn="l">
              <a:spcAft>
                <a:spcPts val="600"/>
              </a:spcAft>
            </a:pPr>
            <a:r>
              <a:rPr sz="1600" b="0">
                <a:solidFill>
                  <a:srgbClr val="222222"/>
                </a:solidFill>
                <a:latin typeface="맑은 고딕"/>
              </a:rPr>
              <a:t>•  파싱 통계로 하드 파싱 비율을 계산하고 리터럴 SQL을 지목한다.</a:t>
            </a:r>
          </a:p>
          <a:p>
            <a:pPr algn="l">
              <a:spcAft>
                <a:spcPts val="600"/>
              </a:spcAft>
            </a:pPr>
            <a:r>
              <a:rPr sz="1600" b="0">
                <a:solidFill>
                  <a:srgbClr val="222222"/>
                </a:solidFill>
                <a:latin typeface="맑은 고딕"/>
              </a:rPr>
              <a:t>•  CURSOR_SHARING이 공유 풀 점유를 어떻게 바꾸는지 이해하고 한계를 안다.</a:t>
            </a:r>
          </a:p>
          <a:p>
            <a:pPr algn="l">
              <a:spcAft>
                <a:spcPts val="600"/>
              </a:spcAft>
            </a:pPr>
            <a:r>
              <a:rPr sz="1600" b="0">
                <a:solidFill>
                  <a:srgbClr val="222222"/>
                </a:solidFill>
                <a:latin typeface="맑은 고딕"/>
              </a:rPr>
              <a:t>•  V$SHARED_POOL_ADVICE로 '크기 확대가 유효한가'를 판정한다.</a:t>
            </a:r>
          </a:p>
          <a:p>
            <a:pPr algn="l">
              <a:spcAft>
                <a:spcPts val="600"/>
              </a:spcAft>
            </a:pPr>
            <a:r>
              <a:rPr sz="1600" b="0">
                <a:solidFill>
                  <a:srgbClr val="222222"/>
                </a:solidFill>
                <a:latin typeface="맑은 고딕"/>
              </a:rPr>
              <a:t>•  ORA-04031을 메시지로 원인 영역부터 식별하고 순서대로 해소한다.</a:t>
            </a:r>
          </a:p>
          <a:p>
            <a:pPr algn="l">
              <a:spcAft>
                <a:spcPts val="600"/>
              </a:spcAft>
            </a:pPr>
            <a:r>
              <a:rPr sz="1600" b="0">
                <a:solidFill>
                  <a:srgbClr val="222222"/>
                </a:solidFill>
                <a:latin typeface="맑은 고딕"/>
              </a:rPr>
              <a:t>•  라지 풀을 분리해 병렬·RMAN 버퍼가 공유 풀을 침범하지 않게 한다.</a:t>
            </a:r>
          </a:p>
        </p:txBody>
      </p:sp>
    </p:spTree>
    <p:extLst>
      <p:ext uri="{BB962C8B-B14F-4D97-AF65-F5344CB8AC3E}">
        <p14:creationId xmlns:p14="http://schemas.microsoft.com/office/powerpoint/2010/main" val="342707675"/>
      </p:ext>
    </p:extLst>
  </p:cSld>
  <p:clrMapOvr>
    <a:masterClrMapping/>
  </p:clrMapOvr>
</p:sld>
</file>

<file path=ppt/slides/slide1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이 장의 구성 (Agenda)</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600"/>
              </a:spcAft>
            </a:pPr>
            <a:r>
              <a:rPr sz="1600" b="0">
                <a:solidFill>
                  <a:srgbClr val="222222"/>
                </a:solidFill>
                <a:latin typeface="맑은 고딕"/>
              </a:rPr>
              <a:t>•  32.2  공유 풀은 무엇으로 차 있는가 — V$SGASTAT</a:t>
            </a:r>
          </a:p>
          <a:p>
            <a:pPr algn="l">
              <a:spcAft>
                <a:spcPts val="600"/>
              </a:spcAft>
            </a:pPr>
            <a:r>
              <a:rPr sz="1600" b="0">
                <a:solidFill>
                  <a:srgbClr val="222222"/>
                </a:solidFill>
                <a:latin typeface="맑은 고딕"/>
              </a:rPr>
              <a:t>•  32.3  라이브러리 캐시 판독 — V$LIBRARYCACHE</a:t>
            </a:r>
          </a:p>
          <a:p>
            <a:pPr algn="l">
              <a:spcAft>
                <a:spcPts val="600"/>
              </a:spcAft>
            </a:pPr>
            <a:r>
              <a:rPr sz="1600" b="0">
                <a:solidFill>
                  <a:srgbClr val="222222"/>
                </a:solidFill>
                <a:latin typeface="맑은 고딕"/>
              </a:rPr>
              <a:t>•  32.4  하드 파싱 — 공유 풀 부족의 진짜 원인</a:t>
            </a:r>
          </a:p>
          <a:p>
            <a:pPr algn="l">
              <a:spcAft>
                <a:spcPts val="600"/>
              </a:spcAft>
            </a:pPr>
            <a:r>
              <a:rPr sz="1600" b="0">
                <a:solidFill>
                  <a:srgbClr val="222222"/>
                </a:solidFill>
                <a:latin typeface="맑은 고딕"/>
              </a:rPr>
              <a:t>•  32.5  커서 공유 — CURSOR_SHARING</a:t>
            </a:r>
          </a:p>
          <a:p>
            <a:pPr algn="l">
              <a:spcAft>
                <a:spcPts val="600"/>
              </a:spcAft>
            </a:pPr>
            <a:r>
              <a:rPr sz="1600" b="0">
                <a:solidFill>
                  <a:srgbClr val="222222"/>
                </a:solidFill>
                <a:latin typeface="맑은 고딕"/>
              </a:rPr>
              <a:t>•  32.6  공유 풀 어드바이저 — V$SHARED_POOL_ADVICE</a:t>
            </a:r>
          </a:p>
          <a:p>
            <a:pPr algn="l">
              <a:spcAft>
                <a:spcPts val="600"/>
              </a:spcAft>
            </a:pPr>
            <a:r>
              <a:rPr sz="1600" b="0">
                <a:solidFill>
                  <a:srgbClr val="222222"/>
                </a:solidFill>
                <a:latin typeface="맑은 고딕"/>
              </a:rPr>
              <a:t>•  32.7  ORA-04031 재현과 해소</a:t>
            </a:r>
          </a:p>
          <a:p>
            <a:pPr algn="l">
              <a:spcAft>
                <a:spcPts val="600"/>
              </a:spcAft>
            </a:pPr>
            <a:r>
              <a:rPr sz="1600" b="0">
                <a:solidFill>
                  <a:srgbClr val="222222"/>
                </a:solidFill>
                <a:latin typeface="맑은 고딕"/>
              </a:rPr>
              <a:t>•  32.8  라지 풀 분리 — 공유 풀을 지키는 방벽</a:t>
            </a:r>
          </a:p>
          <a:p>
            <a:pPr algn="l">
              <a:spcAft>
                <a:spcPts val="600"/>
              </a:spcAft>
            </a:pPr>
            <a:r>
              <a:rPr sz="1600" b="0">
                <a:solidFill>
                  <a:srgbClr val="222222"/>
                </a:solidFill>
                <a:latin typeface="맑은 고딕"/>
              </a:rPr>
              <a:t>•  32.9~32.13  체크리스트 · 오판 · 라이선스 · 요약</a:t>
            </a:r>
          </a:p>
        </p:txBody>
      </p:sp>
    </p:spTree>
    <p:extLst>
      <p:ext uri="{BB962C8B-B14F-4D97-AF65-F5344CB8AC3E}">
        <p14:creationId xmlns:p14="http://schemas.microsoft.com/office/powerpoint/2010/main" val="3667704854"/>
      </p:ext>
    </p:extLst>
  </p:cSld>
  <p:clrMapOvr>
    <a:masterClrMapping/>
  </p:clrMapOvr>
</p:sld>
</file>

<file path=ppt/slides/slide1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공유 풀을 왜 따로 보는가</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ch32의 한 문장</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버퍼 캐시=데이터, 공유 풀=데이터를 다루는 '방법'(SQL·커서)</a:t>
            </a:r>
          </a:p>
          <a:p>
            <a:pPr algn="l">
              <a:spcAft>
                <a:spcPts val="600"/>
              </a:spcAft>
            </a:pPr>
            <a:r>
              <a:rPr sz="1700" b="0">
                <a:solidFill>
                  <a:srgbClr val="222222"/>
                </a:solidFill>
                <a:latin typeface="맑은 고딕"/>
              </a:rPr>
              <a:t>•  공유 풀이 아프면 디스크가 아니라 파싱이 CPU를 태운다</a:t>
            </a:r>
          </a:p>
          <a:p>
            <a:pPr algn="l">
              <a:spcAft>
                <a:spcPts val="600"/>
              </a:spcAft>
            </a:pPr>
            <a:r>
              <a:rPr sz="1700" b="0">
                <a:solidFill>
                  <a:srgbClr val="222222"/>
                </a:solidFill>
                <a:latin typeface="맑은 고딕"/>
              </a:rPr>
              <a:t>•  핵심: 공유 풀 부족의 진짜 원인은 대개 크기가 아니라 파싱</a:t>
            </a:r>
          </a:p>
          <a:p>
            <a:pPr algn="l">
              <a:spcAft>
                <a:spcPts val="600"/>
              </a:spcAft>
            </a:pPr>
            <a:r>
              <a:rPr sz="1700" b="0">
                <a:solidFill>
                  <a:srgbClr val="222222"/>
                </a:solidFill>
                <a:latin typeface="맑은 고딕"/>
              </a:rPr>
              <a:t>•  ORA-04031을 크기만 키워 임시 봉합하지 않는다</a:t>
            </a:r>
          </a:p>
          <a:p>
            <a:pPr algn="l">
              <a:spcAft>
                <a:spcPts val="600"/>
              </a:spcAft>
            </a:pPr>
            <a:r>
              <a:rPr sz="1700" b="0">
                <a:solidFill>
                  <a:srgbClr val="222222"/>
                </a:solidFill>
                <a:latin typeface="맑은 고딕"/>
              </a:rPr>
              <a:t>•  도구 3층: V$SGASTAT → V$LIBRARYCACHE·파싱통계 → 어드바이저</a:t>
            </a:r>
          </a:p>
          <a:p>
            <a:pPr algn="l">
              <a:spcAft>
                <a:spcPts val="600"/>
              </a:spcAft>
            </a:pPr>
            <a:r>
              <a:rPr sz="1700" b="0">
                <a:solidFill>
                  <a:srgbClr val="222222"/>
                </a:solidFill>
                <a:latin typeface="맑은 고딕"/>
              </a:rPr>
              <a:t>•  ch29~ch32 SGA 3부작의 마지막 · 다음은 ch33 결과캐시·PGA</a:t>
            </a:r>
          </a:p>
        </p:txBody>
      </p:sp>
    </p:spTree>
    <p:extLst>
      <p:ext uri="{BB962C8B-B14F-4D97-AF65-F5344CB8AC3E}">
        <p14:creationId xmlns:p14="http://schemas.microsoft.com/office/powerpoint/2010/main" val="2421315518"/>
      </p:ext>
    </p:extLst>
  </p:cSld>
  <p:clrMapOvr>
    <a:masterClrMapping/>
  </p:clrMapOvr>
</p:sld>
</file>

<file path=ppt/slides/slide1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32.2</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공유 풀 구성 — V$SGASTAT</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400"/>
              </a:spcAft>
            </a:pPr>
            <a:r>
              <a:rPr sz="1600" b="0">
                <a:solidFill>
                  <a:srgbClr val="FFFFFF"/>
                </a:solidFill>
                <a:latin typeface="맑은 고딕"/>
              </a:rPr>
              <a:t>•  공유 풀을 구성 요소 단위로 쪼개 본다</a:t>
            </a:r>
          </a:p>
          <a:p>
            <a:pPr algn="l">
              <a:spcAft>
                <a:spcPts val="400"/>
              </a:spcAft>
            </a:pPr>
            <a:r>
              <a:rPr sz="1600" b="0">
                <a:solidFill>
                  <a:srgbClr val="FFFFFF"/>
                </a:solidFill>
                <a:latin typeface="맑은 고딕"/>
              </a:rPr>
              <a:t>•  SQLA=공유 SQL, KGLH0/KGLS=라이브러리 캐시 힙</a:t>
            </a:r>
          </a:p>
          <a:p>
            <a:pPr algn="l">
              <a:spcAft>
                <a:spcPts val="400"/>
              </a:spcAft>
            </a:pPr>
            <a:r>
              <a:rPr sz="1600" b="0">
                <a:solidFill>
                  <a:srgbClr val="FFFFFF"/>
                </a:solidFill>
                <a:latin typeface="맑은 고딕"/>
              </a:rPr>
              <a:t>•  free memory 총량이 넉넉해도 파편화로 ORA-04031</a:t>
            </a:r>
          </a:p>
          <a:p>
            <a:pPr algn="l">
              <a:spcAft>
                <a:spcPts val="400"/>
              </a:spcAft>
            </a:pPr>
            <a:r>
              <a:rPr sz="1600" b="0">
                <a:solidFill>
                  <a:srgbClr val="FFFFFF"/>
                </a:solidFill>
                <a:latin typeface="맑은 고딕"/>
              </a:rPr>
              <a:t>•  row cache=데이터 사전 캐시도 공유 풀에 있다</a:t>
            </a:r>
          </a:p>
        </p:txBody>
      </p:sp>
    </p:spTree>
    <p:extLst>
      <p:ext uri="{BB962C8B-B14F-4D97-AF65-F5344CB8AC3E}">
        <p14:creationId xmlns:p14="http://schemas.microsoft.com/office/powerpoint/2010/main" val="4219302408"/>
      </p:ext>
    </p:extLst>
  </p:cSld>
  <p:clrMapOvr>
    <a:masterClrMapping/>
  </p:clrMapOvr>
</p:sld>
</file>

<file path=ppt/slides/slide1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공유 풀 구성 실측</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V$SGASTAT (pool='shared pool' 상위)</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09728" rtlCol="0" anchor="t"/>
          <a:lstStyle/>
          <a:p>
            <a:pPr>
              <a:spcBef>
                <a:spcPts val="0"/>
              </a:spcBef>
              <a:spcAft>
                <a:spcPts val="0"/>
              </a:spcAft>
            </a:pPr>
            <a:r>
              <a:rPr sz="1250" dirty="0">
                <a:solidFill>
                  <a:srgbClr val="F2F2F2"/>
                </a:solidFill>
                <a:latin typeface="Consolas"/>
              </a:rPr>
              <a:t>NAME                          MB</a:t>
            </a:r>
          </a:p>
          <a:p>
            <a:pPr>
              <a:spcBef>
                <a:spcPts val="0"/>
              </a:spcBef>
              <a:spcAft>
                <a:spcPts val="0"/>
              </a:spcAft>
            </a:pPr>
            <a:r>
              <a:rPr sz="1250" dirty="0">
                <a:solidFill>
                  <a:srgbClr val="F2F2F2"/>
                </a:solidFill>
                <a:latin typeface="Consolas"/>
              </a:rPr>
              <a:t>------------------------- ------</a:t>
            </a:r>
          </a:p>
          <a:p>
            <a:pPr>
              <a:spcBef>
                <a:spcPts val="0"/>
              </a:spcBef>
              <a:spcAft>
                <a:spcPts val="0"/>
              </a:spcAft>
            </a:pPr>
            <a:r>
              <a:rPr sz="1250" dirty="0">
                <a:solidFill>
                  <a:srgbClr val="F2F2F2"/>
                </a:solidFill>
                <a:latin typeface="Consolas"/>
              </a:rPr>
              <a:t>free memory                67.22</a:t>
            </a:r>
          </a:p>
          <a:p>
            <a:pPr>
              <a:spcBef>
                <a:spcPts val="0"/>
              </a:spcBef>
              <a:spcAft>
                <a:spcPts val="0"/>
              </a:spcAft>
            </a:pPr>
            <a:r>
              <a:rPr sz="1250" dirty="0">
                <a:solidFill>
                  <a:srgbClr val="F2F2F2"/>
                </a:solidFill>
                <a:latin typeface="Consolas"/>
              </a:rPr>
              <a:t>SQLA                       30.71</a:t>
            </a:r>
          </a:p>
          <a:p>
            <a:pPr>
              <a:spcBef>
                <a:spcPts val="0"/>
              </a:spcBef>
              <a:spcAft>
                <a:spcPts val="0"/>
              </a:spcAft>
            </a:pPr>
            <a:r>
              <a:rPr sz="1250" dirty="0">
                <a:solidFill>
                  <a:srgbClr val="F2F2F2"/>
                </a:solidFill>
                <a:latin typeface="Consolas"/>
              </a:rPr>
              <a:t>KGLH0                      25.82</a:t>
            </a:r>
          </a:p>
          <a:p>
            <a:pPr>
              <a:spcBef>
                <a:spcPts val="0"/>
              </a:spcBef>
              <a:spcAft>
                <a:spcPts val="0"/>
              </a:spcAft>
            </a:pPr>
            <a:r>
              <a:rPr sz="1250" dirty="0" err="1">
                <a:solidFill>
                  <a:srgbClr val="F2F2F2"/>
                </a:solidFill>
                <a:latin typeface="Consolas"/>
              </a:rPr>
              <a:t>ksunfy_meta</a:t>
            </a:r>
            <a:r>
              <a:rPr sz="1250" dirty="0">
                <a:solidFill>
                  <a:srgbClr val="F2F2F2"/>
                </a:solidFill>
                <a:latin typeface="Consolas"/>
              </a:rPr>
              <a:t> 1              19.74</a:t>
            </a:r>
          </a:p>
          <a:p>
            <a:pPr>
              <a:spcBef>
                <a:spcPts val="0"/>
              </a:spcBef>
              <a:spcAft>
                <a:spcPts val="0"/>
              </a:spcAft>
            </a:pPr>
            <a:r>
              <a:rPr sz="1250" dirty="0">
                <a:solidFill>
                  <a:srgbClr val="F2F2F2"/>
                </a:solidFill>
                <a:latin typeface="Consolas"/>
              </a:rPr>
              <a:t>ASH buffers                16.00</a:t>
            </a:r>
          </a:p>
          <a:p>
            <a:pPr>
              <a:spcBef>
                <a:spcPts val="0"/>
              </a:spcBef>
              <a:spcAft>
                <a:spcPts val="0"/>
              </a:spcAft>
            </a:pPr>
            <a:r>
              <a:rPr sz="1250" dirty="0">
                <a:solidFill>
                  <a:srgbClr val="F2F2F2"/>
                </a:solidFill>
                <a:latin typeface="Consolas"/>
              </a:rPr>
              <a:t>SO private </a:t>
            </a:r>
            <a:r>
              <a:rPr sz="1250" dirty="0" err="1">
                <a:solidFill>
                  <a:srgbClr val="F2F2F2"/>
                </a:solidFill>
                <a:latin typeface="Consolas"/>
              </a:rPr>
              <a:t>sga</a:t>
            </a:r>
            <a:r>
              <a:rPr sz="1250" dirty="0">
                <a:solidFill>
                  <a:srgbClr val="F2F2F2"/>
                </a:solidFill>
                <a:latin typeface="Consolas"/>
              </a:rPr>
              <a:t>             13.49</a:t>
            </a:r>
          </a:p>
          <a:p>
            <a:pPr>
              <a:spcBef>
                <a:spcPts val="0"/>
              </a:spcBef>
              <a:spcAft>
                <a:spcPts val="0"/>
              </a:spcAft>
            </a:pPr>
            <a:r>
              <a:rPr sz="1250" dirty="0">
                <a:solidFill>
                  <a:srgbClr val="F2F2F2"/>
                </a:solidFill>
                <a:latin typeface="Consolas"/>
              </a:rPr>
              <a:t>row cache mutex             8.60</a:t>
            </a:r>
          </a:p>
          <a:p>
            <a:pPr>
              <a:spcBef>
                <a:spcPts val="0"/>
              </a:spcBef>
              <a:spcAft>
                <a:spcPts val="0"/>
              </a:spcAft>
            </a:pPr>
            <a:r>
              <a:rPr sz="1250" dirty="0">
                <a:solidFill>
                  <a:srgbClr val="F2F2F2"/>
                </a:solidFill>
                <a:latin typeface="Consolas"/>
              </a:rPr>
              <a:t>KGLS                        7.49</a:t>
            </a:r>
          </a:p>
        </p:txBody>
      </p:sp>
    </p:spTree>
    <p:extLst>
      <p:ext uri="{BB962C8B-B14F-4D97-AF65-F5344CB8AC3E}">
        <p14:creationId xmlns:p14="http://schemas.microsoft.com/office/powerpoint/2010/main" val="2659555220"/>
      </p:ext>
    </p:extLst>
  </p:cSld>
  <p:clrMapOvr>
    <a:masterClrMapping/>
  </p:clrMapOvr>
</p:sld>
</file>

<file path=ppt/slides/slide1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free memory가 넉넉한데 ORA-04031?</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총량이 아니라 파편화가 문제</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ORA-04031 = 요청한 크기의 '연속' 공간 할당 실패</a:t>
            </a:r>
          </a:p>
          <a:p>
            <a:pPr algn="l">
              <a:spcAft>
                <a:spcPts val="600"/>
              </a:spcAft>
            </a:pPr>
            <a:r>
              <a:rPr sz="1700" b="0">
                <a:solidFill>
                  <a:srgbClr val="222222"/>
                </a:solidFill>
                <a:latin typeface="맑은 고딕"/>
              </a:rPr>
              <a:t>•  리터럴 커서 수만 개 → 공유 풀을 잘게 파편화</a:t>
            </a:r>
          </a:p>
          <a:p>
            <a:pPr algn="l">
              <a:spcAft>
                <a:spcPts val="600"/>
              </a:spcAft>
            </a:pPr>
            <a:r>
              <a:rPr sz="1700" b="0">
                <a:solidFill>
                  <a:srgbClr val="222222"/>
                </a:solidFill>
                <a:latin typeface="맑은 고딕"/>
              </a:rPr>
              <a:t>•  합계 여유 60MB인데 5KB 연속 청크 하나가 없다</a:t>
            </a:r>
          </a:p>
          <a:p>
            <a:pPr algn="l">
              <a:spcAft>
                <a:spcPts val="600"/>
              </a:spcAft>
            </a:pPr>
            <a:r>
              <a:rPr sz="1700" b="0">
                <a:solidFill>
                  <a:srgbClr val="222222"/>
                </a:solidFill>
                <a:latin typeface="맑은 고딕"/>
              </a:rPr>
              <a:t>•  → free memory 총량은 ORA-04031을 배제하지 못한다</a:t>
            </a:r>
          </a:p>
          <a:p>
            <a:pPr algn="l">
              <a:spcAft>
                <a:spcPts val="600"/>
              </a:spcAft>
            </a:pPr>
            <a:r>
              <a:rPr sz="1700" b="0">
                <a:solidFill>
                  <a:srgbClr val="222222"/>
                </a:solidFill>
                <a:latin typeface="맑은 고딕"/>
              </a:rPr>
              <a:t>•  크기 확대는 며칠 봉합, 근본은 바인드 변수</a:t>
            </a:r>
          </a:p>
        </p:txBody>
      </p:sp>
    </p:spTree>
    <p:extLst>
      <p:ext uri="{BB962C8B-B14F-4D97-AF65-F5344CB8AC3E}">
        <p14:creationId xmlns:p14="http://schemas.microsoft.com/office/powerpoint/2010/main" val="4044216733"/>
      </p:ext>
    </p:extLst>
  </p:cSld>
  <p:clrMapOvr>
    <a:masterClrMapping/>
  </p:clrMapOvr>
</p:sld>
</file>

<file path=ppt/slides/slide1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32.3</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라이브러리 캐시 판독</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400"/>
              </a:spcAft>
            </a:pPr>
            <a:r>
              <a:rPr sz="1600" b="0">
                <a:solidFill>
                  <a:srgbClr val="FFFFFF"/>
                </a:solidFill>
                <a:latin typeface="맑은 고딕"/>
              </a:rPr>
              <a:t>•  GET_HIT/PIN_HIT=커서 재사용 성공률</a:t>
            </a:r>
          </a:p>
          <a:p>
            <a:pPr algn="l">
              <a:spcAft>
                <a:spcPts val="400"/>
              </a:spcAft>
            </a:pPr>
            <a:r>
              <a:rPr sz="1600" b="0">
                <a:solidFill>
                  <a:srgbClr val="FFFFFF"/>
                </a:solidFill>
                <a:latin typeface="맑은 고딕"/>
              </a:rPr>
              <a:t>•  RELOADS=공간 압박, INVALIDATIONS=객체 변경</a:t>
            </a:r>
          </a:p>
          <a:p>
            <a:pPr algn="l">
              <a:spcAft>
                <a:spcPts val="400"/>
              </a:spcAft>
            </a:pPr>
            <a:r>
              <a:rPr sz="1600" b="0">
                <a:solidFill>
                  <a:srgbClr val="FFFFFF"/>
                </a:solidFill>
                <a:latin typeface="맑은 고딕"/>
              </a:rPr>
              <a:t>•  SQL AREA 낮고 TABLE/PROCEDURE 높으면 리터럴 신호</a:t>
            </a:r>
          </a:p>
          <a:p>
            <a:pPr algn="l">
              <a:spcAft>
                <a:spcPts val="400"/>
              </a:spcAft>
            </a:pPr>
            <a:r>
              <a:rPr sz="1600" b="0">
                <a:solidFill>
                  <a:srgbClr val="FFFFFF"/>
                </a:solidFill>
                <a:latin typeface="맑은 고딕"/>
              </a:rPr>
              <a:t>•  누적값이므로 델타로 진단한다</a:t>
            </a:r>
          </a:p>
        </p:txBody>
      </p:sp>
    </p:spTree>
    <p:extLst>
      <p:ext uri="{BB962C8B-B14F-4D97-AF65-F5344CB8AC3E}">
        <p14:creationId xmlns:p14="http://schemas.microsoft.com/office/powerpoint/2010/main" val="1268144473"/>
      </p:ext>
    </p:extLst>
  </p:cSld>
  <p:clrMapOvr>
    <a:masterClrMapping/>
  </p:clrMapOvr>
</p:sld>
</file>

<file path=ppt/slides/slide1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라이브러리 캐시 실측</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V$LIBRARYCACHE (gets 상위)</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09728" rtlCol="0" anchor="t"/>
          <a:lstStyle/>
          <a:p>
            <a:pPr>
              <a:spcBef>
                <a:spcPts val="0"/>
              </a:spcBef>
              <a:spcAft>
                <a:spcPts val="0"/>
              </a:spcAft>
            </a:pPr>
            <a:r>
              <a:rPr sz="1250" dirty="0">
                <a:solidFill>
                  <a:srgbClr val="F2F2F2"/>
                </a:solidFill>
                <a:latin typeface="Consolas"/>
              </a:rPr>
              <a:t>NAMESPACE          GETS  GET_HIT  PIN_HIT RELOADS INVALID</a:t>
            </a:r>
          </a:p>
          <a:p>
            <a:pPr>
              <a:spcBef>
                <a:spcPts val="0"/>
              </a:spcBef>
              <a:spcAft>
                <a:spcPts val="0"/>
              </a:spcAft>
            </a:pPr>
            <a:r>
              <a:rPr sz="1250" dirty="0">
                <a:solidFill>
                  <a:srgbClr val="F2F2F2"/>
                </a:solidFill>
                <a:latin typeface="Consolas"/>
              </a:rPr>
              <a:t>--------------- ------- -------- -------- ------- -------</a:t>
            </a:r>
          </a:p>
          <a:p>
            <a:pPr>
              <a:spcBef>
                <a:spcPts val="0"/>
              </a:spcBef>
              <a:spcAft>
                <a:spcPts val="0"/>
              </a:spcAft>
            </a:pPr>
            <a:r>
              <a:rPr sz="1250" dirty="0">
                <a:solidFill>
                  <a:srgbClr val="F2F2F2"/>
                </a:solidFill>
                <a:latin typeface="Consolas"/>
              </a:rPr>
              <a:t>SQL AREA         304311     13.9     44.6    2441     699</a:t>
            </a:r>
          </a:p>
          <a:p>
            <a:pPr>
              <a:spcBef>
                <a:spcPts val="0"/>
              </a:spcBef>
              <a:spcAft>
                <a:spcPts val="0"/>
              </a:spcAft>
            </a:pPr>
            <a:r>
              <a:rPr sz="1250" dirty="0">
                <a:solidFill>
                  <a:srgbClr val="F2F2F2"/>
                </a:solidFill>
                <a:latin typeface="Consolas"/>
              </a:rPr>
              <a:t>TABLE/PROCEDURE  163666     95.2     97.2    4318       0</a:t>
            </a:r>
          </a:p>
          <a:p>
            <a:pPr>
              <a:spcBef>
                <a:spcPts val="0"/>
              </a:spcBef>
              <a:spcAft>
                <a:spcPts val="0"/>
              </a:spcAft>
            </a:pPr>
            <a:r>
              <a:rPr sz="1250" dirty="0">
                <a:solidFill>
                  <a:srgbClr val="F2F2F2"/>
                </a:solidFill>
                <a:latin typeface="Consolas"/>
              </a:rPr>
              <a:t>SCHEMA            10179     99.7    100.0       0       0</a:t>
            </a:r>
          </a:p>
          <a:p>
            <a:pPr>
              <a:spcBef>
                <a:spcPts val="0"/>
              </a:spcBef>
              <a:spcAft>
                <a:spcPts val="0"/>
              </a:spcAft>
            </a:pPr>
            <a:r>
              <a:rPr sz="1250" dirty="0">
                <a:solidFill>
                  <a:srgbClr val="F2F2F2"/>
                </a:solidFill>
                <a:latin typeface="Consolas"/>
              </a:rPr>
              <a:t>BODY               2174     93.6     97.1     106       0</a:t>
            </a:r>
          </a:p>
          <a:p>
            <a:pPr>
              <a:spcBef>
                <a:spcPts val="0"/>
              </a:spcBef>
              <a:spcAft>
                <a:spcPts val="0"/>
              </a:spcAft>
            </a:pPr>
            <a:r>
              <a:rPr sz="1250" dirty="0">
                <a:solidFill>
                  <a:srgbClr val="F2F2F2"/>
                </a:solidFill>
                <a:latin typeface="Consolas"/>
              </a:rPr>
              <a:t>INDEX              1216     84.4     70.8     163       0</a:t>
            </a:r>
          </a:p>
        </p:txBody>
      </p:sp>
    </p:spTree>
    <p:extLst>
      <p:ext uri="{BB962C8B-B14F-4D97-AF65-F5344CB8AC3E}">
        <p14:creationId xmlns:p14="http://schemas.microsoft.com/office/powerpoint/2010/main" val="4109688592"/>
      </p:ext>
    </p:extLst>
  </p:cSld>
  <p:clrMapOvr>
    <a:masterClrMapping/>
  </p:clrMapOvr>
</p:sld>
</file>

<file path=ppt/slides/slide1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RELOADS와 INVALIDATIONS는 다르다</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원인이 다르니 조치도 갈린다</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RELOADS = 공간 압박: 커서가 밀려났다 재적재(재파싱)</a:t>
            </a:r>
          </a:p>
          <a:p>
            <a:pPr algn="l">
              <a:spcAft>
                <a:spcPts val="600"/>
              </a:spcAft>
            </a:pPr>
            <a:r>
              <a:rPr sz="1700" b="0">
                <a:solidFill>
                  <a:srgbClr val="222222"/>
                </a:solidFill>
                <a:latin typeface="맑은 고딕"/>
              </a:rPr>
              <a:t>•    → 공유 풀이 좁거나 리터럴이 유효 커서를 밀어냄</a:t>
            </a:r>
          </a:p>
          <a:p>
            <a:pPr algn="l">
              <a:spcAft>
                <a:spcPts val="600"/>
              </a:spcAft>
            </a:pPr>
            <a:r>
              <a:rPr sz="1700" b="0">
                <a:solidFill>
                  <a:srgbClr val="222222"/>
                </a:solidFill>
                <a:latin typeface="맑은 고딕"/>
              </a:rPr>
              <a:t>•  INVALIDATIONS = 변경: DDL·통계 재수집으로 커서 무효화</a:t>
            </a:r>
          </a:p>
          <a:p>
            <a:pPr algn="l">
              <a:spcAft>
                <a:spcPts val="600"/>
              </a:spcAft>
            </a:pPr>
            <a:r>
              <a:rPr sz="1700" b="0">
                <a:solidFill>
                  <a:srgbClr val="222222"/>
                </a:solidFill>
                <a:latin typeface="맑은 고딕"/>
              </a:rPr>
              <a:t>•    → 업무 시간 통계수집·DDL 남발 점검</a:t>
            </a:r>
          </a:p>
          <a:p>
            <a:pPr algn="l">
              <a:spcAft>
                <a:spcPts val="600"/>
              </a:spcAft>
            </a:pPr>
            <a:r>
              <a:rPr sz="1700" b="0">
                <a:solidFill>
                  <a:srgbClr val="222222"/>
                </a:solidFill>
                <a:latin typeface="맑은 고딕"/>
              </a:rPr>
              <a:t>•  네임스페이스로 '어느 종류 객체가 압박받나' 좁힘</a:t>
            </a:r>
          </a:p>
          <a:p>
            <a:pPr algn="l">
              <a:spcAft>
                <a:spcPts val="600"/>
              </a:spcAft>
            </a:pPr>
            <a:r>
              <a:rPr sz="1700" b="0">
                <a:solidFill>
                  <a:srgbClr val="222222"/>
                </a:solidFill>
                <a:latin typeface="맑은 고딕"/>
              </a:rPr>
              <a:t>•  BODY RELOADS 튀면 → 대형 패키지 KEEP 고정 검토</a:t>
            </a:r>
          </a:p>
        </p:txBody>
      </p:sp>
    </p:spTree>
    <p:extLst>
      <p:ext uri="{BB962C8B-B14F-4D97-AF65-F5344CB8AC3E}">
        <p14:creationId xmlns:p14="http://schemas.microsoft.com/office/powerpoint/2010/main" val="2724502685"/>
      </p:ext>
    </p:extLst>
  </p:cSld>
  <p:clrMapOvr>
    <a:masterClrMapping/>
  </p:clrMapOvr>
</p:sld>
</file>

<file path=ppt/slides/slide1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GET과 PIN, 그리고 낮은 값의 의미</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이중고: 새 커서 + 밀려남</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GET=핸들 찾기, PIN=실행하려 고정하기</a:t>
            </a:r>
          </a:p>
          <a:p>
            <a:pPr algn="l">
              <a:spcAft>
                <a:spcPts val="600"/>
              </a:spcAft>
            </a:pPr>
            <a:r>
              <a:rPr sz="1700" b="0">
                <a:solidFill>
                  <a:srgbClr val="222222"/>
                </a:solidFill>
                <a:latin typeface="맑은 고딕"/>
              </a:rPr>
              <a:t>•  PINS(70만) &gt; GETS(30만): 한 번 찾아 여러 번 실행 (자연)</a:t>
            </a:r>
          </a:p>
          <a:p>
            <a:pPr algn="l">
              <a:spcAft>
                <a:spcPts val="600"/>
              </a:spcAft>
            </a:pPr>
            <a:r>
              <a:rPr sz="1700" b="0">
                <a:solidFill>
                  <a:srgbClr val="222222"/>
                </a:solidFill>
                <a:latin typeface="맑은 고딕"/>
              </a:rPr>
              <a:t>•  GET_HIT 낮음 = 찾기 자체 실패(새 SQL이라 없음)</a:t>
            </a:r>
          </a:p>
          <a:p>
            <a:pPr algn="l">
              <a:spcAft>
                <a:spcPts val="600"/>
              </a:spcAft>
            </a:pPr>
            <a:r>
              <a:rPr sz="1700" b="0">
                <a:solidFill>
                  <a:srgbClr val="222222"/>
                </a:solidFill>
                <a:latin typeface="맑은 고딕"/>
              </a:rPr>
              <a:t>•  PIN_HIT 낮음 = 찾았는데 재파싱 필요(밀려났다/무효화)</a:t>
            </a:r>
          </a:p>
          <a:p>
            <a:pPr algn="l">
              <a:spcAft>
                <a:spcPts val="600"/>
              </a:spcAft>
            </a:pPr>
            <a:r>
              <a:rPr sz="1700" b="0">
                <a:solidFill>
                  <a:srgbClr val="222222"/>
                </a:solidFill>
                <a:latin typeface="맑은 고딕"/>
              </a:rPr>
              <a:t>•  실측은 둘 다 낮음 → 리터럴+밀려남 이중고</a:t>
            </a:r>
          </a:p>
        </p:txBody>
      </p:sp>
    </p:spTree>
    <p:extLst>
      <p:ext uri="{BB962C8B-B14F-4D97-AF65-F5344CB8AC3E}">
        <p14:creationId xmlns:p14="http://schemas.microsoft.com/office/powerpoint/2010/main" val="56595108"/>
      </p:ext>
    </p:extLst>
  </p:cSld>
  <p:clrMapOvr>
    <a:masterClrMapping/>
  </p:clrMapOvr>
</p:sld>
</file>

<file path=ppt/slides/slide1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32.4</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하드 파싱 — 진짜 원인</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400"/>
              </a:spcAft>
            </a:pPr>
            <a:r>
              <a:rPr sz="1600" b="0">
                <a:solidFill>
                  <a:srgbClr val="FFFFFF"/>
                </a:solidFill>
                <a:latin typeface="맑은 고딕"/>
              </a:rPr>
              <a:t>•  소프트=커서 재사용, 하드=처음부터 파싱</a:t>
            </a:r>
          </a:p>
          <a:p>
            <a:pPr algn="l">
              <a:spcAft>
                <a:spcPts val="400"/>
              </a:spcAft>
            </a:pPr>
            <a:r>
              <a:rPr sz="1600" b="0">
                <a:solidFill>
                  <a:srgbClr val="FFFFFF"/>
                </a:solidFill>
                <a:latin typeface="맑은 고딕"/>
              </a:rPr>
              <a:t>•  하드 파싱 비율 = hard/total, 정상은 0에 수렴</a:t>
            </a:r>
          </a:p>
          <a:p>
            <a:pPr algn="l">
              <a:spcAft>
                <a:spcPts val="400"/>
              </a:spcAft>
            </a:pPr>
            <a:r>
              <a:rPr sz="1600" b="0">
                <a:solidFill>
                  <a:srgbClr val="FFFFFF"/>
                </a:solidFill>
                <a:latin typeface="맑은 고딕"/>
              </a:rPr>
              <a:t>•  실측 134042/218056 ≈ 61.5% → 리터럴 폭증</a:t>
            </a:r>
          </a:p>
          <a:p>
            <a:pPr algn="l">
              <a:spcAft>
                <a:spcPts val="400"/>
              </a:spcAft>
            </a:pPr>
            <a:r>
              <a:rPr sz="1600" b="0">
                <a:solidFill>
                  <a:srgbClr val="FFFFFF"/>
                </a:solidFill>
                <a:latin typeface="맑은 고딕"/>
              </a:rPr>
              <a:t>•  악순환의 종착역이 ORA-04031</a:t>
            </a:r>
          </a:p>
        </p:txBody>
      </p:sp>
    </p:spTree>
    <p:extLst>
      <p:ext uri="{BB962C8B-B14F-4D97-AF65-F5344CB8AC3E}">
        <p14:creationId xmlns:p14="http://schemas.microsoft.com/office/powerpoint/2010/main" val="3671352981"/>
      </p:ext>
    </p:extLst>
  </p:cSld>
  <p:clrMapOvr>
    <a:masterClrMapping/>
  </p:clrMapOvr>
</p:sld>
</file>

<file path=ppt/slides/slide1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파싱 통계 실측</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V$SYSSTAT</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09728" rtlCol="0" anchor="t"/>
          <a:lstStyle/>
          <a:p>
            <a:pPr>
              <a:spcBef>
                <a:spcPts val="0"/>
              </a:spcBef>
              <a:spcAft>
                <a:spcPts val="0"/>
              </a:spcAft>
            </a:pPr>
            <a:r>
              <a:rPr sz="1250" dirty="0">
                <a:solidFill>
                  <a:srgbClr val="F2F2F2"/>
                </a:solidFill>
                <a:latin typeface="Consolas"/>
              </a:rPr>
              <a:t>NAME                             VALUE</a:t>
            </a:r>
          </a:p>
          <a:p>
            <a:pPr>
              <a:spcBef>
                <a:spcPts val="0"/>
              </a:spcBef>
              <a:spcAft>
                <a:spcPts val="0"/>
              </a:spcAft>
            </a:pPr>
            <a:r>
              <a:rPr sz="1250" dirty="0">
                <a:solidFill>
                  <a:srgbClr val="F2F2F2"/>
                </a:solidFill>
                <a:latin typeface="Consolas"/>
              </a:rPr>
              <a:t>---------------------------- ---------</a:t>
            </a:r>
          </a:p>
          <a:p>
            <a:pPr>
              <a:spcBef>
                <a:spcPts val="0"/>
              </a:spcBef>
              <a:spcAft>
                <a:spcPts val="0"/>
              </a:spcAft>
            </a:pPr>
            <a:r>
              <a:rPr sz="1250" dirty="0">
                <a:solidFill>
                  <a:srgbClr val="F2F2F2"/>
                </a:solidFill>
                <a:latin typeface="Consolas"/>
              </a:rPr>
              <a:t>parse count (hard)              134042</a:t>
            </a:r>
          </a:p>
          <a:p>
            <a:pPr>
              <a:spcBef>
                <a:spcPts val="0"/>
              </a:spcBef>
              <a:spcAft>
                <a:spcPts val="0"/>
              </a:spcAft>
            </a:pPr>
            <a:r>
              <a:rPr sz="1250" dirty="0">
                <a:solidFill>
                  <a:srgbClr val="F2F2F2"/>
                </a:solidFill>
                <a:latin typeface="Consolas"/>
              </a:rPr>
              <a:t>parse count (total)             218056</a:t>
            </a:r>
          </a:p>
          <a:p>
            <a:pPr>
              <a:spcBef>
                <a:spcPts val="0"/>
              </a:spcBef>
              <a:spcAft>
                <a:spcPts val="0"/>
              </a:spcAft>
            </a:pPr>
            <a:r>
              <a:rPr sz="1250" dirty="0">
                <a:solidFill>
                  <a:srgbClr val="F2F2F2"/>
                </a:solidFill>
                <a:latin typeface="Consolas"/>
              </a:rPr>
              <a:t>parse time </a:t>
            </a:r>
            <a:r>
              <a:rPr sz="1250" dirty="0" err="1">
                <a:solidFill>
                  <a:srgbClr val="F2F2F2"/>
                </a:solidFill>
                <a:latin typeface="Consolas"/>
              </a:rPr>
              <a:t>cpu</a:t>
            </a:r>
            <a:r>
              <a:rPr sz="1250" dirty="0">
                <a:solidFill>
                  <a:srgbClr val="F2F2F2"/>
                </a:solidFill>
                <a:latin typeface="Consolas"/>
              </a:rPr>
              <a:t>                    6804</a:t>
            </a:r>
          </a:p>
          <a:p>
            <a:pPr>
              <a:spcBef>
                <a:spcPts val="0"/>
              </a:spcBef>
              <a:spcAft>
                <a:spcPts val="0"/>
              </a:spcAft>
            </a:pPr>
            <a:r>
              <a:rPr sz="1250" dirty="0">
                <a:solidFill>
                  <a:srgbClr val="F2F2F2"/>
                </a:solidFill>
                <a:latin typeface="Consolas"/>
              </a:rPr>
              <a:t>session cursor cache hits       179634</a:t>
            </a:r>
          </a:p>
        </p:txBody>
      </p:sp>
    </p:spTree>
    <p:extLst>
      <p:ext uri="{BB962C8B-B14F-4D97-AF65-F5344CB8AC3E}">
        <p14:creationId xmlns:p14="http://schemas.microsoft.com/office/powerpoint/2010/main" val="1542450450"/>
      </p:ext>
    </p:extLst>
  </p:cSld>
  <p:clrMapOvr>
    <a:masterClrMapping/>
  </p:clrMapOvr>
</p:sld>
</file>

<file path=ppt/slides/slide1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하드 파싱이 공유 풀을 갉는 악순환</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리터럴 → 일회용 커서 → 파편화 → 재파싱</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리터럴 'id=1','id=2',… → 전부 다른 SQL로 각각 하드파싱</a:t>
            </a:r>
          </a:p>
          <a:p>
            <a:pPr algn="l">
              <a:spcAft>
                <a:spcPts val="600"/>
              </a:spcAft>
            </a:pPr>
            <a:r>
              <a:rPr sz="1700" b="0">
                <a:solidFill>
                  <a:srgbClr val="222222"/>
                </a:solidFill>
                <a:latin typeface="맑은 고딕"/>
              </a:rPr>
              <a:t>•  ① CPU가 파싱에 낭비 (parse time cpu ↑)</a:t>
            </a:r>
          </a:p>
          <a:p>
            <a:pPr algn="l">
              <a:spcAft>
                <a:spcPts val="600"/>
              </a:spcAft>
            </a:pPr>
            <a:r>
              <a:rPr sz="1700" b="0">
                <a:solidFill>
                  <a:srgbClr val="222222"/>
                </a:solidFill>
                <a:latin typeface="맑은 고딕"/>
              </a:rPr>
              <a:t>•  ② 공유 풀이 일회용 커서로 부풀음 (SQLA·KGLH0 ↑)</a:t>
            </a:r>
          </a:p>
          <a:p>
            <a:pPr algn="l">
              <a:spcAft>
                <a:spcPts val="600"/>
              </a:spcAft>
            </a:pPr>
            <a:r>
              <a:rPr sz="1700" b="0">
                <a:solidFill>
                  <a:srgbClr val="222222"/>
                </a:solidFill>
                <a:latin typeface="맑은 고딕"/>
              </a:rPr>
              <a:t>•  ③ 새 커서 공간 위해 유효 커서 밀어냄 (RELOADS ↑)</a:t>
            </a:r>
          </a:p>
          <a:p>
            <a:pPr algn="l">
              <a:spcAft>
                <a:spcPts val="600"/>
              </a:spcAft>
            </a:pPr>
            <a:r>
              <a:rPr sz="1700" b="0">
                <a:solidFill>
                  <a:srgbClr val="222222"/>
                </a:solidFill>
                <a:latin typeface="맑은 고딕"/>
              </a:rPr>
              <a:t>•  → 밀려난 커서 재파싱 → 악순환 → 종착역 ORA-04031</a:t>
            </a:r>
          </a:p>
          <a:p>
            <a:pPr algn="l">
              <a:spcAft>
                <a:spcPts val="600"/>
              </a:spcAft>
            </a:pPr>
            <a:r>
              <a:rPr sz="1700" b="0">
                <a:solidFill>
                  <a:srgbClr val="222222"/>
                </a:solidFill>
                <a:latin typeface="맑은 고딕"/>
              </a:rPr>
              <a:t>•  크기 확대는 악순환 속도만 늦출 뿐, 방향은 그대로</a:t>
            </a:r>
          </a:p>
        </p:txBody>
      </p:sp>
    </p:spTree>
    <p:extLst>
      <p:ext uri="{BB962C8B-B14F-4D97-AF65-F5344CB8AC3E}">
        <p14:creationId xmlns:p14="http://schemas.microsoft.com/office/powerpoint/2010/main" val="3788081354"/>
      </p:ext>
    </p:extLst>
  </p:cSld>
  <p:clrMapOvr>
    <a:masterClrMapping/>
  </p:clrMapOvr>
</p:sld>
</file>

<file path=ppt/slides/slide1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파싱 단계와 경합 지점</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공유 풀 문제의 세 얼굴</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하드 파싱 5단계: 구문→의미→커서탐색(실패)→최적화→할당</a:t>
            </a:r>
          </a:p>
          <a:p>
            <a:pPr algn="l">
              <a:spcAft>
                <a:spcPts val="600"/>
              </a:spcAft>
            </a:pPr>
            <a:r>
              <a:rPr sz="1700" b="0">
                <a:solidFill>
                  <a:srgbClr val="222222"/>
                </a:solidFill>
                <a:latin typeface="맑은 고딕"/>
              </a:rPr>
              <a:t>•  할당 단계에서 라이브러리 캐시 뮤텍스·shared pool 래치 잡음</a:t>
            </a:r>
          </a:p>
          <a:p>
            <a:pPr algn="l">
              <a:spcAft>
                <a:spcPts val="600"/>
              </a:spcAft>
            </a:pPr>
            <a:r>
              <a:rPr sz="1700" b="0">
                <a:solidFill>
                  <a:srgbClr val="222222"/>
                </a:solidFill>
                <a:latin typeface="맑은 고딕"/>
              </a:rPr>
              <a:t>•  여러 세션 동시 하드파싱 → 이 직렬화 지점에서 줄서기</a:t>
            </a:r>
          </a:p>
          <a:p>
            <a:pPr algn="l">
              <a:spcAft>
                <a:spcPts val="600"/>
              </a:spcAft>
            </a:pPr>
            <a:r>
              <a:rPr sz="1700" b="0">
                <a:solidFill>
                  <a:srgbClr val="222222"/>
                </a:solidFill>
                <a:latin typeface="맑은 고딕"/>
              </a:rPr>
              <a:t>•  대기로 나타남: library cache: mutex X / cursor: pin S wait on X</a:t>
            </a:r>
          </a:p>
          <a:p>
            <a:pPr algn="l">
              <a:spcAft>
                <a:spcPts val="600"/>
              </a:spcAft>
            </a:pPr>
            <a:r>
              <a:rPr sz="1700" b="0">
                <a:solidFill>
                  <a:srgbClr val="222222"/>
                </a:solidFill>
                <a:latin typeface="맑은 고딕"/>
              </a:rPr>
              <a:t>•  세 얼굴: 낮은 히트율 + 높은 하드파싱% + 뮤텍스·래치 경합</a:t>
            </a:r>
          </a:p>
        </p:txBody>
      </p:sp>
    </p:spTree>
    <p:extLst>
      <p:ext uri="{BB962C8B-B14F-4D97-AF65-F5344CB8AC3E}">
        <p14:creationId xmlns:p14="http://schemas.microsoft.com/office/powerpoint/2010/main" val="73935854"/>
      </p:ext>
    </p:extLst>
  </p:cSld>
  <p:clrMapOvr>
    <a:masterClrMapping/>
  </p:clrMapOvr>
</p:sld>
</file>

<file path=ppt/slides/slide1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32.5</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커서 공유 — CURSOR_SHARING</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400"/>
              </a:spcAft>
            </a:pPr>
            <a:r>
              <a:rPr sz="1600" b="0">
                <a:solidFill>
                  <a:srgbClr val="FFFFFF"/>
                </a:solidFill>
                <a:latin typeface="맑은 고딕"/>
              </a:rPr>
              <a:t>•  EXACT(기본): 텍스트 다르면 다른 커서 → 하드파싱</a:t>
            </a:r>
          </a:p>
          <a:p>
            <a:pPr algn="l">
              <a:spcAft>
                <a:spcPts val="400"/>
              </a:spcAft>
            </a:pPr>
            <a:r>
              <a:rPr sz="1600" b="0">
                <a:solidFill>
                  <a:srgbClr val="FFFFFF"/>
                </a:solidFill>
                <a:latin typeface="맑은 고딕"/>
              </a:rPr>
              <a:t>•  FORCE: 리터럴을 시스템 바인드로 치환 → 하드파싱 급감</a:t>
            </a:r>
          </a:p>
          <a:p>
            <a:pPr algn="l">
              <a:spcAft>
                <a:spcPts val="400"/>
              </a:spcAft>
            </a:pPr>
            <a:r>
              <a:rPr sz="1600" b="0">
                <a:solidFill>
                  <a:srgbClr val="FFFFFF"/>
                </a:solidFill>
                <a:latin typeface="맑은 고딕"/>
              </a:rPr>
              <a:t>•  SIMILAR: 12c부터 폐기, 쓰지 않는다</a:t>
            </a:r>
          </a:p>
          <a:p>
            <a:pPr algn="l">
              <a:spcAft>
                <a:spcPts val="400"/>
              </a:spcAft>
            </a:pPr>
            <a:r>
              <a:rPr sz="1600" b="0">
                <a:solidFill>
                  <a:srgbClr val="FFFFFF"/>
                </a:solidFill>
                <a:latin typeface="맑은 고딕"/>
              </a:rPr>
              <a:t>•  FORCE는 임시방편, 근본은 앱의 바인드 변수</a:t>
            </a:r>
          </a:p>
        </p:txBody>
      </p:sp>
    </p:spTree>
    <p:extLst>
      <p:ext uri="{BB962C8B-B14F-4D97-AF65-F5344CB8AC3E}">
        <p14:creationId xmlns:p14="http://schemas.microsoft.com/office/powerpoint/2010/main" val="3641471686"/>
      </p:ext>
    </p:extLst>
  </p:cSld>
  <p:clrMapOvr>
    <a:masterClrMapping/>
  </p:clrMapOvr>
</p:sld>
</file>

<file path=ppt/slides/slide1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바인드 변수 vs CURSOR_SHARING</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정공법과 사후 보정</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바인드 변수 = 앱이 값을 :id로 넘김 → 커서 하나만 생김(정공법)</a:t>
            </a:r>
          </a:p>
          <a:p>
            <a:pPr algn="l">
              <a:spcAft>
                <a:spcPts val="600"/>
              </a:spcAft>
            </a:pPr>
            <a:r>
              <a:rPr sz="1700" b="0">
                <a:solidFill>
                  <a:srgbClr val="222222"/>
                </a:solidFill>
                <a:latin typeface="맑은 고딕"/>
              </a:rPr>
              <a:t>•  CURSOR_SHARING=FORCE = 오라클이 실행 시점에 바꿔치기(사후 보정)</a:t>
            </a:r>
          </a:p>
          <a:p>
            <a:pPr algn="l">
              <a:spcAft>
                <a:spcPts val="600"/>
              </a:spcAft>
            </a:pPr>
            <a:r>
              <a:rPr sz="1700" b="0">
                <a:solidFill>
                  <a:srgbClr val="222222"/>
                </a:solidFill>
                <a:latin typeface="맑은 고딕"/>
              </a:rPr>
              <a:t>•  FORCE는 '앱 못 고칠 때'의 차선책</a:t>
            </a:r>
          </a:p>
          <a:p>
            <a:pPr algn="l">
              <a:spcAft>
                <a:spcPts val="600"/>
              </a:spcAft>
            </a:pPr>
            <a:r>
              <a:rPr sz="1700" b="0">
                <a:solidFill>
                  <a:srgbClr val="222222"/>
                </a:solidFill>
                <a:latin typeface="맑은 고딕"/>
              </a:rPr>
              <a:t>•  성능·계획 품질은 앱 수정 &gt; FORCE</a:t>
            </a:r>
          </a:p>
          <a:p>
            <a:pPr algn="l">
              <a:spcAft>
                <a:spcPts val="600"/>
              </a:spcAft>
            </a:pPr>
            <a:r>
              <a:rPr sz="1700" b="0">
                <a:solidFill>
                  <a:srgbClr val="222222"/>
                </a:solidFill>
                <a:latin typeface="맑은 고딕"/>
              </a:rPr>
              <a:t>•  ch16 바인드 변수를 '공유 풀 점유' 관점에서 다시 봄</a:t>
            </a:r>
          </a:p>
        </p:txBody>
      </p:sp>
    </p:spTree>
    <p:extLst>
      <p:ext uri="{BB962C8B-B14F-4D97-AF65-F5344CB8AC3E}">
        <p14:creationId xmlns:p14="http://schemas.microsoft.com/office/powerpoint/2010/main" val="4023521270"/>
      </p:ext>
    </p:extLst>
  </p:cSld>
  <p:clrMapOvr>
    <a:masterClrMapping/>
  </p:clrMapOvr>
</p:sld>
</file>

<file path=ppt/slides/slide1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CURSOR_SHARING=FORCE 치환 확인</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리터럴이 시스템 바인드로 바뀐 흔적</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09728" rtlCol="0" anchor="t"/>
          <a:lstStyle/>
          <a:p>
            <a:pPr>
              <a:spcBef>
                <a:spcPts val="0"/>
              </a:spcBef>
              <a:spcAft>
                <a:spcPts val="0"/>
              </a:spcAft>
            </a:pPr>
            <a:r>
              <a:rPr sz="1250" dirty="0" err="1">
                <a:solidFill>
                  <a:srgbClr val="F2F2F2"/>
                </a:solidFill>
                <a:latin typeface="Consolas"/>
              </a:rPr>
              <a:t>SYS@orcl</a:t>
            </a:r>
            <a:r>
              <a:rPr sz="1250" dirty="0">
                <a:solidFill>
                  <a:srgbClr val="F2F2F2"/>
                </a:solidFill>
                <a:latin typeface="Consolas"/>
              </a:rPr>
              <a:t>&gt; ALTER SESSION SET </a:t>
            </a:r>
            <a:r>
              <a:rPr sz="1250" dirty="0" err="1">
                <a:solidFill>
                  <a:srgbClr val="F2F2F2"/>
                </a:solidFill>
                <a:latin typeface="Consolas"/>
              </a:rPr>
              <a:t>cursor_sharing</a:t>
            </a:r>
            <a:r>
              <a:rPr sz="1250" dirty="0">
                <a:solidFill>
                  <a:srgbClr val="F2F2F2"/>
                </a:solidFill>
                <a:latin typeface="Consolas"/>
              </a:rPr>
              <a:t>=FORCE;</a:t>
            </a:r>
          </a:p>
          <a:p>
            <a:pPr>
              <a:spcBef>
                <a:spcPts val="0"/>
              </a:spcBef>
              <a:spcAft>
                <a:spcPts val="0"/>
              </a:spcAft>
            </a:pPr>
            <a:r>
              <a:rPr sz="1250" dirty="0">
                <a:solidFill>
                  <a:srgbClr val="F2F2F2"/>
                </a:solidFill>
                <a:latin typeface="Consolas"/>
              </a:rPr>
              <a:t> </a:t>
            </a:r>
          </a:p>
          <a:p>
            <a:pPr>
              <a:spcBef>
                <a:spcPts val="0"/>
              </a:spcBef>
              <a:spcAft>
                <a:spcPts val="0"/>
              </a:spcAft>
            </a:pPr>
            <a:r>
              <a:rPr sz="1250" dirty="0" err="1">
                <a:solidFill>
                  <a:srgbClr val="F2F2F2"/>
                </a:solidFill>
                <a:latin typeface="Consolas"/>
              </a:rPr>
              <a:t>SQLT@orcl</a:t>
            </a:r>
            <a:r>
              <a:rPr sz="1250" dirty="0">
                <a:solidFill>
                  <a:srgbClr val="F2F2F2"/>
                </a:solidFill>
                <a:latin typeface="Consolas"/>
              </a:rPr>
              <a:t>&gt; SELECT </a:t>
            </a:r>
            <a:r>
              <a:rPr sz="1250" dirty="0" err="1">
                <a:solidFill>
                  <a:srgbClr val="F2F2F2"/>
                </a:solidFill>
                <a:latin typeface="Consolas"/>
              </a:rPr>
              <a:t>sql_text</a:t>
            </a:r>
            <a:r>
              <a:rPr sz="1250" dirty="0">
                <a:solidFill>
                  <a:srgbClr val="F2F2F2"/>
                </a:solidFill>
                <a:latin typeface="Consolas"/>
              </a:rPr>
              <a:t> FROM </a:t>
            </a:r>
            <a:r>
              <a:rPr sz="1250" dirty="0" err="1">
                <a:solidFill>
                  <a:srgbClr val="F2F2F2"/>
                </a:solidFill>
                <a:latin typeface="Consolas"/>
              </a:rPr>
              <a:t>v$sql</a:t>
            </a:r>
            <a:endParaRPr sz="1250" dirty="0">
              <a:solidFill>
                <a:srgbClr val="F2F2F2"/>
              </a:solidFill>
              <a:latin typeface="Consolas"/>
            </a:endParaRPr>
          </a:p>
          <a:p>
            <a:pPr>
              <a:spcBef>
                <a:spcPts val="0"/>
              </a:spcBef>
              <a:spcAft>
                <a:spcPts val="0"/>
              </a:spcAft>
            </a:pPr>
            <a:r>
              <a:rPr sz="1250" dirty="0">
                <a:solidFill>
                  <a:srgbClr val="F2F2F2"/>
                </a:solidFill>
                <a:latin typeface="Consolas"/>
              </a:rPr>
              <a:t>  2       WHERE </a:t>
            </a:r>
            <a:r>
              <a:rPr sz="1250" dirty="0" err="1">
                <a:solidFill>
                  <a:srgbClr val="F2F2F2"/>
                </a:solidFill>
                <a:latin typeface="Consolas"/>
              </a:rPr>
              <a:t>sql_text</a:t>
            </a:r>
            <a:r>
              <a:rPr sz="1250" dirty="0">
                <a:solidFill>
                  <a:srgbClr val="F2F2F2"/>
                </a:solidFill>
                <a:latin typeface="Consolas"/>
              </a:rPr>
              <a:t> LIKE '%</a:t>
            </a:r>
            <a:r>
              <a:rPr sz="1250" dirty="0" err="1">
                <a:solidFill>
                  <a:srgbClr val="F2F2F2"/>
                </a:solidFill>
                <a:latin typeface="Consolas"/>
              </a:rPr>
              <a:t>patient_id</a:t>
            </a:r>
            <a:r>
              <a:rPr sz="1250" dirty="0">
                <a:solidFill>
                  <a:srgbClr val="F2F2F2"/>
                </a:solidFill>
                <a:latin typeface="Consolas"/>
              </a:rPr>
              <a:t>=%' AND ROWNUM&lt;=1;</a:t>
            </a:r>
          </a:p>
          <a:p>
            <a:pPr>
              <a:spcBef>
                <a:spcPts val="0"/>
              </a:spcBef>
              <a:spcAft>
                <a:spcPts val="0"/>
              </a:spcAft>
            </a:pPr>
            <a:r>
              <a:rPr sz="1250" dirty="0">
                <a:solidFill>
                  <a:srgbClr val="F2F2F2"/>
                </a:solidFill>
                <a:latin typeface="Consolas"/>
              </a:rPr>
              <a:t> </a:t>
            </a:r>
          </a:p>
          <a:p>
            <a:pPr>
              <a:spcBef>
                <a:spcPts val="0"/>
              </a:spcBef>
              <a:spcAft>
                <a:spcPts val="0"/>
              </a:spcAft>
            </a:pPr>
            <a:r>
              <a:rPr sz="1250" dirty="0">
                <a:solidFill>
                  <a:srgbClr val="F2F2F2"/>
                </a:solidFill>
                <a:latin typeface="Consolas"/>
              </a:rPr>
              <a:t>SQL_TEXT</a:t>
            </a:r>
          </a:p>
          <a:p>
            <a:pPr>
              <a:spcBef>
                <a:spcPts val="0"/>
              </a:spcBef>
              <a:spcAft>
                <a:spcPts val="0"/>
              </a:spcAft>
            </a:pPr>
            <a:r>
              <a:rPr sz="1250" dirty="0">
                <a:solidFill>
                  <a:srgbClr val="F2F2F2"/>
                </a:solidFill>
                <a:latin typeface="Consolas"/>
              </a:rPr>
              <a:t>----------------------------------------</a:t>
            </a:r>
          </a:p>
          <a:p>
            <a:pPr>
              <a:spcBef>
                <a:spcPts val="0"/>
              </a:spcBef>
              <a:spcAft>
                <a:spcPts val="0"/>
              </a:spcAft>
            </a:pPr>
            <a:r>
              <a:rPr sz="1250" dirty="0">
                <a:solidFill>
                  <a:srgbClr val="F2F2F2"/>
                </a:solidFill>
                <a:latin typeface="Consolas"/>
              </a:rPr>
              <a:t>SELECT ... WHERE </a:t>
            </a:r>
            <a:r>
              <a:rPr sz="1250" dirty="0" err="1">
                <a:solidFill>
                  <a:srgbClr val="F2F2F2"/>
                </a:solidFill>
                <a:latin typeface="Consolas"/>
              </a:rPr>
              <a:t>patient_id</a:t>
            </a:r>
            <a:r>
              <a:rPr sz="1250" dirty="0">
                <a:solidFill>
                  <a:srgbClr val="F2F2F2"/>
                </a:solidFill>
                <a:latin typeface="Consolas"/>
              </a:rPr>
              <a:t>=:"SYS_B_0"</a:t>
            </a:r>
          </a:p>
        </p:txBody>
      </p:sp>
    </p:spTree>
    <p:extLst>
      <p:ext uri="{BB962C8B-B14F-4D97-AF65-F5344CB8AC3E}">
        <p14:creationId xmlns:p14="http://schemas.microsoft.com/office/powerpoint/2010/main" val="980988010"/>
      </p:ext>
    </p:extLst>
  </p:cSld>
  <p:clrMapOvr>
    <a:masterClrMapping/>
  </p:clrMapOvr>
</p:sld>
</file>

<file path=ppt/slides/slide1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FORCE의 함정 — 편중 컬럼</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급한 불은 끄되 계획을 재검증</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FORCE는 하드파싱·공유풀 점유를 줄이는 강력한 임시방편</a:t>
            </a:r>
          </a:p>
          <a:p>
            <a:pPr algn="l">
              <a:spcAft>
                <a:spcPts val="600"/>
              </a:spcAft>
            </a:pPr>
            <a:r>
              <a:rPr sz="1700" b="0">
                <a:solidFill>
                  <a:srgbClr val="222222"/>
                </a:solidFill>
                <a:latin typeface="맑은 고딕"/>
              </a:rPr>
              <a:t>•  그러나 편중(skew) 컬럼에선 하나의 계획 공유 → 성능 저하 가능</a:t>
            </a:r>
          </a:p>
          <a:p>
            <a:pPr algn="l">
              <a:spcAft>
                <a:spcPts val="600"/>
              </a:spcAft>
            </a:pPr>
            <a:r>
              <a:rPr sz="1700" b="0">
                <a:solidFill>
                  <a:srgbClr val="222222"/>
                </a:solidFill>
                <a:latin typeface="맑은 고딕"/>
              </a:rPr>
              <a:t>•  예: HOSP_ID처럼 값마다 건수 다른 컬럼</a:t>
            </a:r>
          </a:p>
          <a:p>
            <a:pPr algn="l">
              <a:spcAft>
                <a:spcPts val="600"/>
              </a:spcAft>
            </a:pPr>
            <a:r>
              <a:rPr sz="1700" b="0">
                <a:solidFill>
                  <a:srgbClr val="222222"/>
                </a:solidFill>
                <a:latin typeface="맑은 고딕"/>
              </a:rPr>
              <a:t>•  원칙: FORCE는 세션·시스템 임시조치, 근본은 바인드 전환</a:t>
            </a:r>
          </a:p>
          <a:p>
            <a:pPr algn="l">
              <a:spcAft>
                <a:spcPts val="600"/>
              </a:spcAft>
            </a:pPr>
            <a:r>
              <a:rPr sz="1700" b="0">
                <a:solidFill>
                  <a:srgbClr val="222222"/>
                </a:solidFill>
                <a:latin typeface="맑은 고딕"/>
              </a:rPr>
              <a:t>•  적용 후 반드시 주요 SQL 계획 재검증</a:t>
            </a:r>
          </a:p>
        </p:txBody>
      </p:sp>
    </p:spTree>
    <p:extLst>
      <p:ext uri="{BB962C8B-B14F-4D97-AF65-F5344CB8AC3E}">
        <p14:creationId xmlns:p14="http://schemas.microsoft.com/office/powerpoint/2010/main" val="1487380995"/>
      </p:ext>
    </p:extLst>
  </p:cSld>
  <p:clrMapOvr>
    <a:masterClrMapping/>
  </p:clrMapOvr>
</p:sld>
</file>

<file path=ppt/slides/slide1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32.6</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공유 풀 어드바이저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400"/>
              </a:spcAft>
            </a:pPr>
            <a:r>
              <a:rPr sz="1600" b="0">
                <a:solidFill>
                  <a:srgbClr val="FFFFFF"/>
                </a:solidFill>
                <a:latin typeface="맑은 고딕"/>
              </a:rPr>
              <a:t>•  크기를 바꾸면 파싱 절약이 얼마나 변할지 시뮬레이션</a:t>
            </a:r>
          </a:p>
          <a:p>
            <a:pPr algn="l">
              <a:spcAft>
                <a:spcPts val="400"/>
              </a:spcAft>
            </a:pPr>
            <a:r>
              <a:rPr sz="1600" b="0">
                <a:solidFill>
                  <a:srgbClr val="FFFFFF"/>
                </a:solidFill>
                <a:latin typeface="맑은 고딕"/>
              </a:rPr>
              <a:t>•  SAVED 곡선의 무릎(knee)을 찾는다</a:t>
            </a:r>
          </a:p>
          <a:p>
            <a:pPr algn="l">
              <a:spcAft>
                <a:spcPts val="400"/>
              </a:spcAft>
            </a:pPr>
            <a:r>
              <a:rPr sz="1600" b="0">
                <a:solidFill>
                  <a:srgbClr val="FFFFFF"/>
                </a:solidFill>
                <a:latin typeface="맑은 고딕"/>
              </a:rPr>
              <a:t>•  실측: 416MB에서 무릎 — 줄이면 손해, 늘려도 이득 없음</a:t>
            </a:r>
          </a:p>
          <a:p>
            <a:pPr algn="l">
              <a:spcAft>
                <a:spcPts val="400"/>
              </a:spcAft>
            </a:pPr>
            <a:r>
              <a:rPr sz="1600" b="0">
                <a:solidFill>
                  <a:srgbClr val="FFFFFF"/>
                </a:solidFill>
                <a:latin typeface="맑은 고딕"/>
              </a:rPr>
              <a:t>•  '크기로 풀 문제가 아니다'를 숫자로 증명</a:t>
            </a:r>
          </a:p>
        </p:txBody>
      </p:sp>
    </p:spTree>
    <p:extLst>
      <p:ext uri="{BB962C8B-B14F-4D97-AF65-F5344CB8AC3E}">
        <p14:creationId xmlns:p14="http://schemas.microsoft.com/office/powerpoint/2010/main" val="3516361635"/>
      </p:ext>
    </p:extLst>
  </p:cSld>
  <p:clrMapOvr>
    <a:masterClrMapping/>
  </p:clrMapOvr>
</p:sld>
</file>

<file path=ppt/slides/slide1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공유 풀 어드바이저 실측</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V$SHARED_POOL_ADVICE</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09728" rtlCol="0" anchor="t"/>
          <a:lstStyle/>
          <a:p>
            <a:pPr>
              <a:spcBef>
                <a:spcPts val="0"/>
              </a:spcBef>
              <a:spcAft>
                <a:spcPts val="0"/>
              </a:spcAft>
            </a:pPr>
            <a:r>
              <a:rPr sz="1250" dirty="0">
                <a:solidFill>
                  <a:srgbClr val="F2F2F2"/>
                </a:solidFill>
                <a:latin typeface="Consolas"/>
              </a:rPr>
              <a:t>   SP_MB   FACTOR    SAVED</a:t>
            </a:r>
          </a:p>
          <a:p>
            <a:pPr>
              <a:spcBef>
                <a:spcPts val="0"/>
              </a:spcBef>
              <a:spcAft>
                <a:spcPts val="0"/>
              </a:spcAft>
            </a:pPr>
            <a:r>
              <a:rPr sz="1250" dirty="0">
                <a:solidFill>
                  <a:srgbClr val="F2F2F2"/>
                </a:solidFill>
                <a:latin typeface="Consolas"/>
              </a:rPr>
              <a:t>-------- -------- --------</a:t>
            </a:r>
          </a:p>
          <a:p>
            <a:pPr>
              <a:spcBef>
                <a:spcPts val="0"/>
              </a:spcBef>
              <a:spcAft>
                <a:spcPts val="0"/>
              </a:spcAft>
            </a:pPr>
            <a:r>
              <a:rPr sz="1250" dirty="0">
                <a:solidFill>
                  <a:srgbClr val="F2F2F2"/>
                </a:solidFill>
                <a:latin typeface="Consolas"/>
              </a:rPr>
              <a:t>     368   0.8846   0.6424</a:t>
            </a:r>
          </a:p>
          <a:p>
            <a:pPr>
              <a:spcBef>
                <a:spcPts val="0"/>
              </a:spcBef>
              <a:spcAft>
                <a:spcPts val="0"/>
              </a:spcAft>
            </a:pPr>
            <a:r>
              <a:rPr sz="1250" dirty="0">
                <a:solidFill>
                  <a:srgbClr val="F2F2F2"/>
                </a:solidFill>
                <a:latin typeface="Consolas"/>
              </a:rPr>
              <a:t>     384   0.9231   0.8626</a:t>
            </a:r>
          </a:p>
          <a:p>
            <a:pPr>
              <a:spcBef>
                <a:spcPts val="0"/>
              </a:spcBef>
              <a:spcAft>
                <a:spcPts val="0"/>
              </a:spcAft>
            </a:pPr>
            <a:r>
              <a:rPr sz="1250" dirty="0">
                <a:solidFill>
                  <a:srgbClr val="F2F2F2"/>
                </a:solidFill>
                <a:latin typeface="Consolas"/>
              </a:rPr>
              <a:t>     400   0.9615   0.9363</a:t>
            </a:r>
          </a:p>
          <a:p>
            <a:pPr>
              <a:spcBef>
                <a:spcPts val="0"/>
              </a:spcBef>
              <a:spcAft>
                <a:spcPts val="0"/>
              </a:spcAft>
            </a:pPr>
            <a:r>
              <a:rPr sz="1250" dirty="0">
                <a:solidFill>
                  <a:srgbClr val="F2F2F2"/>
                </a:solidFill>
                <a:latin typeface="Consolas"/>
              </a:rPr>
              <a:t>     416   1.0000   1.0000   &lt;-- </a:t>
            </a:r>
            <a:r>
              <a:rPr sz="1250" dirty="0" err="1">
                <a:solidFill>
                  <a:srgbClr val="F2F2F2"/>
                </a:solidFill>
                <a:latin typeface="Consolas"/>
              </a:rPr>
              <a:t>현재</a:t>
            </a:r>
            <a:endParaRPr sz="1250" dirty="0">
              <a:solidFill>
                <a:srgbClr val="F2F2F2"/>
              </a:solidFill>
              <a:latin typeface="Consolas"/>
            </a:endParaRPr>
          </a:p>
          <a:p>
            <a:pPr>
              <a:spcBef>
                <a:spcPts val="0"/>
              </a:spcBef>
              <a:spcAft>
                <a:spcPts val="0"/>
              </a:spcAft>
            </a:pPr>
            <a:r>
              <a:rPr sz="1250" dirty="0">
                <a:solidFill>
                  <a:srgbClr val="F2F2F2"/>
                </a:solidFill>
                <a:latin typeface="Consolas"/>
              </a:rPr>
              <a:t>     464   1.1154   1.0000</a:t>
            </a:r>
          </a:p>
          <a:p>
            <a:pPr>
              <a:spcBef>
                <a:spcPts val="0"/>
              </a:spcBef>
              <a:spcAft>
                <a:spcPts val="0"/>
              </a:spcAft>
            </a:pPr>
            <a:r>
              <a:rPr sz="1250" dirty="0">
                <a:solidFill>
                  <a:srgbClr val="F2F2F2"/>
                </a:solidFill>
                <a:latin typeface="Consolas"/>
              </a:rPr>
              <a:t>     560   1.3462   1.0000</a:t>
            </a:r>
          </a:p>
          <a:p>
            <a:pPr>
              <a:spcBef>
                <a:spcPts val="0"/>
              </a:spcBef>
              <a:spcAft>
                <a:spcPts val="0"/>
              </a:spcAft>
            </a:pPr>
            <a:r>
              <a:rPr sz="1250" dirty="0">
                <a:solidFill>
                  <a:srgbClr val="F2F2F2"/>
                </a:solidFill>
                <a:latin typeface="Consolas"/>
              </a:rPr>
              <a:t>     608   1.4615   1.0007</a:t>
            </a:r>
          </a:p>
        </p:txBody>
      </p:sp>
    </p:spTree>
    <p:extLst>
      <p:ext uri="{BB962C8B-B14F-4D97-AF65-F5344CB8AC3E}">
        <p14:creationId xmlns:p14="http://schemas.microsoft.com/office/powerpoint/2010/main" val="428815074"/>
      </p:ext>
    </p:extLst>
  </p:cSld>
  <p:clrMapOvr>
    <a:masterClrMapping/>
  </p:clrMapOvr>
</p:sld>
</file>

<file path=ppt/slides/slide1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어드바이저가 말하는 것과 아닌 것</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곡선의 모양이 방향을 정한다</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말하는 것: 416MB 적정 — 줄이면 손해, 늘려도 이득 없음</a:t>
            </a:r>
          </a:p>
          <a:p>
            <a:pPr algn="l">
              <a:spcAft>
                <a:spcPts val="600"/>
              </a:spcAft>
            </a:pPr>
            <a:r>
              <a:rPr sz="1700" b="0">
                <a:solidFill>
                  <a:srgbClr val="222222"/>
                </a:solidFill>
                <a:latin typeface="맑은 고딕"/>
              </a:rPr>
              <a:t>•  말 안 하는 것: 왜 파싱이 많은지(리터럴)는 모름</a:t>
            </a:r>
          </a:p>
          <a:p>
            <a:pPr algn="l">
              <a:spcAft>
                <a:spcPts val="600"/>
              </a:spcAft>
            </a:pPr>
            <a:r>
              <a:rPr sz="1700" b="0">
                <a:solidFill>
                  <a:srgbClr val="222222"/>
                </a:solidFill>
                <a:latin typeface="맑은 고딕"/>
              </a:rPr>
              <a:t>•  무릎 이전=확대 유효, 무릎 이후=낭비 (ch31 V$DB_CACHE_ADVICE와 동일)</a:t>
            </a:r>
          </a:p>
          <a:p>
            <a:pPr algn="l">
              <a:spcAft>
                <a:spcPts val="600"/>
              </a:spcAft>
            </a:pPr>
            <a:r>
              <a:rPr sz="1700" b="0">
                <a:solidFill>
                  <a:srgbClr val="222222"/>
                </a:solidFill>
                <a:latin typeface="맑은 고딕"/>
              </a:rPr>
              <a:t>•  곡선 가파르면 확대, 평평하면 파싱 제거 — 데이터가 방향 결정</a:t>
            </a:r>
          </a:p>
          <a:p>
            <a:pPr algn="l">
              <a:spcAft>
                <a:spcPts val="600"/>
              </a:spcAft>
            </a:pPr>
            <a:r>
              <a:rPr sz="1700" b="0">
                <a:solidFill>
                  <a:srgbClr val="222222"/>
                </a:solidFill>
                <a:latin typeface="맑은 고딕"/>
              </a:rPr>
              <a:t>•  ORA-04031 대응의 관문: 확대가 유효한지부터 판정</a:t>
            </a:r>
          </a:p>
        </p:txBody>
      </p:sp>
    </p:spTree>
    <p:extLst>
      <p:ext uri="{BB962C8B-B14F-4D97-AF65-F5344CB8AC3E}">
        <p14:creationId xmlns:p14="http://schemas.microsoft.com/office/powerpoint/2010/main" val="2022950743"/>
      </p:ext>
    </p:extLst>
  </p:cSld>
  <p:clrMapOvr>
    <a:masterClrMapping/>
  </p:clrMapOvr>
</p:sld>
</file>

<file path=ppt/slides/slide1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32.7</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ORA-04031 재현과 해소</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400"/>
              </a:spcAft>
            </a:pPr>
            <a:r>
              <a:rPr sz="1600" b="0">
                <a:solidFill>
                  <a:srgbClr val="FFFFFF"/>
                </a:solidFill>
                <a:latin typeface="맑은 고딕"/>
              </a:rPr>
              <a:t>•  성능 저하가 아니라 '기능 실패' — SQL이 못 돎</a:t>
            </a:r>
          </a:p>
          <a:p>
            <a:pPr algn="l">
              <a:spcAft>
                <a:spcPts val="400"/>
              </a:spcAft>
            </a:pPr>
            <a:r>
              <a:rPr sz="1600" b="0">
                <a:solidFill>
                  <a:srgbClr val="FFFFFF"/>
                </a:solidFill>
                <a:latin typeface="맑은 고딕"/>
              </a:rPr>
              <a:t>•  메시지가 영역·대상·하위영역·함수를 담는다</a:t>
            </a:r>
          </a:p>
          <a:p>
            <a:pPr algn="l">
              <a:spcAft>
                <a:spcPts val="400"/>
              </a:spcAft>
            </a:pPr>
            <a:r>
              <a:rPr sz="1600" b="0">
                <a:solidFill>
                  <a:srgbClr val="FFFFFF"/>
                </a:solidFill>
                <a:latin typeface="맑은 고딕"/>
              </a:rPr>
              <a:t>•  원인 영역부터 식별 → 어드바이저로 확대 유효성 판정</a:t>
            </a:r>
          </a:p>
          <a:p>
            <a:pPr algn="l">
              <a:spcAft>
                <a:spcPts val="400"/>
              </a:spcAft>
            </a:pPr>
            <a:r>
              <a:rPr sz="1600" b="0">
                <a:solidFill>
                  <a:srgbClr val="FFFFFF"/>
                </a:solidFill>
                <a:latin typeface="맑은 고딕"/>
              </a:rPr>
              <a:t>•  순위: 바인드 → CURSOR_SHARING → 예약풀 → 크기(최후)</a:t>
            </a:r>
          </a:p>
        </p:txBody>
      </p:sp>
    </p:spTree>
    <p:extLst>
      <p:ext uri="{BB962C8B-B14F-4D97-AF65-F5344CB8AC3E}">
        <p14:creationId xmlns:p14="http://schemas.microsoft.com/office/powerpoint/2010/main" val="945230314"/>
      </p:ext>
    </p:extLst>
  </p:cSld>
  <p:clrMapOvr>
    <a:masterClrMapping/>
  </p:clrMapOvr>
</p:sld>
</file>

<file path=ppt/slides/slide1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ORA-04031 메시지 해부</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괄호 네 조각을 읽는다</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09728" rtlCol="0" anchor="t"/>
          <a:lstStyle/>
          <a:p>
            <a:pPr>
              <a:spcBef>
                <a:spcPts val="0"/>
              </a:spcBef>
              <a:spcAft>
                <a:spcPts val="0"/>
              </a:spcAft>
            </a:pPr>
            <a:r>
              <a:rPr sz="1250" dirty="0">
                <a:solidFill>
                  <a:srgbClr val="F2F2F2"/>
                </a:solidFill>
                <a:latin typeface="Consolas"/>
              </a:rPr>
              <a:t>ORA-04031: unable to allocate 4160 bytes of shared memory</a:t>
            </a:r>
          </a:p>
          <a:p>
            <a:pPr>
              <a:spcBef>
                <a:spcPts val="0"/>
              </a:spcBef>
              <a:spcAft>
                <a:spcPts val="0"/>
              </a:spcAft>
            </a:pPr>
            <a:r>
              <a:rPr sz="1250" dirty="0">
                <a:solidFill>
                  <a:srgbClr val="F2F2F2"/>
                </a:solidFill>
                <a:latin typeface="Consolas"/>
              </a:rPr>
              <a:t>  ("shared </a:t>
            </a:r>
            <a:r>
              <a:rPr sz="1250" dirty="0" err="1">
                <a:solidFill>
                  <a:srgbClr val="F2F2F2"/>
                </a:solidFill>
                <a:latin typeface="Consolas"/>
              </a:rPr>
              <a:t>pool","SELECT</a:t>
            </a:r>
            <a:r>
              <a:rPr sz="1250" dirty="0">
                <a:solidFill>
                  <a:srgbClr val="F2F2F2"/>
                </a:solidFill>
                <a:latin typeface="Consolas"/>
              </a:rPr>
              <a:t> ... WL01_LIT ...",</a:t>
            </a:r>
          </a:p>
          <a:p>
            <a:pPr>
              <a:spcBef>
                <a:spcPts val="0"/>
              </a:spcBef>
              <a:spcAft>
                <a:spcPts val="0"/>
              </a:spcAft>
            </a:pPr>
            <a:r>
              <a:rPr sz="1250" dirty="0">
                <a:solidFill>
                  <a:srgbClr val="F2F2F2"/>
                </a:solidFill>
                <a:latin typeface="Consolas"/>
              </a:rPr>
              <a:t>   "SQLA","</a:t>
            </a:r>
            <a:r>
              <a:rPr sz="1250" dirty="0" err="1">
                <a:solidFill>
                  <a:srgbClr val="F2F2F2"/>
                </a:solidFill>
                <a:latin typeface="Consolas"/>
              </a:rPr>
              <a:t>kkscsAddChildNode</a:t>
            </a:r>
            <a:r>
              <a:rPr sz="1250" dirty="0">
                <a:solidFill>
                  <a:srgbClr val="F2F2F2"/>
                </a:solidFill>
                <a:latin typeface="Consolas"/>
              </a:rPr>
              <a:t>")</a:t>
            </a:r>
          </a:p>
          <a:p>
            <a:pPr>
              <a:spcBef>
                <a:spcPts val="0"/>
              </a:spcBef>
              <a:spcAft>
                <a:spcPts val="0"/>
              </a:spcAft>
            </a:pPr>
            <a:r>
              <a:rPr sz="1250" dirty="0">
                <a:solidFill>
                  <a:srgbClr val="F2F2F2"/>
                </a:solidFill>
                <a:latin typeface="Consolas"/>
              </a:rPr>
              <a:t> </a:t>
            </a:r>
          </a:p>
          <a:p>
            <a:pPr>
              <a:spcBef>
                <a:spcPts val="0"/>
              </a:spcBef>
              <a:spcAft>
                <a:spcPts val="0"/>
              </a:spcAft>
            </a:pPr>
            <a:r>
              <a:rPr sz="1250" dirty="0">
                <a:solidFill>
                  <a:srgbClr val="F2F2F2"/>
                </a:solidFill>
                <a:latin typeface="Consolas"/>
              </a:rPr>
              <a:t>   shared pool  = </a:t>
            </a:r>
            <a:r>
              <a:rPr sz="1250" dirty="0" err="1">
                <a:solidFill>
                  <a:srgbClr val="F2F2F2"/>
                </a:solidFill>
                <a:latin typeface="Consolas"/>
              </a:rPr>
              <a:t>실패한</a:t>
            </a:r>
            <a:r>
              <a:rPr sz="1250" dirty="0">
                <a:solidFill>
                  <a:srgbClr val="F2F2F2"/>
                </a:solidFill>
                <a:latin typeface="Consolas"/>
              </a:rPr>
              <a:t> </a:t>
            </a:r>
            <a:r>
              <a:rPr sz="1250" dirty="0" err="1">
                <a:solidFill>
                  <a:srgbClr val="F2F2F2"/>
                </a:solidFill>
                <a:latin typeface="Consolas"/>
              </a:rPr>
              <a:t>영역</a:t>
            </a:r>
            <a:r>
              <a:rPr sz="1250" dirty="0">
                <a:solidFill>
                  <a:srgbClr val="F2F2F2"/>
                </a:solidFill>
                <a:latin typeface="Consolas"/>
              </a:rPr>
              <a:t> (large </a:t>
            </a:r>
            <a:r>
              <a:rPr sz="1250" dirty="0" err="1">
                <a:solidFill>
                  <a:srgbClr val="F2F2F2"/>
                </a:solidFill>
                <a:latin typeface="Consolas"/>
              </a:rPr>
              <a:t>pool이면</a:t>
            </a:r>
            <a:r>
              <a:rPr sz="1250" dirty="0">
                <a:solidFill>
                  <a:srgbClr val="F2F2F2"/>
                </a:solidFill>
                <a:latin typeface="Consolas"/>
              </a:rPr>
              <a:t> </a:t>
            </a:r>
            <a:r>
              <a:rPr sz="1250" dirty="0" err="1">
                <a:solidFill>
                  <a:srgbClr val="F2F2F2"/>
                </a:solidFill>
                <a:latin typeface="Consolas"/>
              </a:rPr>
              <a:t>라지</a:t>
            </a:r>
            <a:r>
              <a:rPr sz="1250" dirty="0">
                <a:solidFill>
                  <a:srgbClr val="F2F2F2"/>
                </a:solidFill>
                <a:latin typeface="Consolas"/>
              </a:rPr>
              <a:t> 풀)</a:t>
            </a:r>
          </a:p>
          <a:p>
            <a:pPr>
              <a:spcBef>
                <a:spcPts val="0"/>
              </a:spcBef>
              <a:spcAft>
                <a:spcPts val="0"/>
              </a:spcAft>
            </a:pPr>
            <a:r>
              <a:rPr sz="1250" dirty="0">
                <a:solidFill>
                  <a:srgbClr val="F2F2F2"/>
                </a:solidFill>
                <a:latin typeface="Consolas"/>
              </a:rPr>
              <a:t>   SELECT WL01  = </a:t>
            </a:r>
            <a:r>
              <a:rPr sz="1250" dirty="0" err="1">
                <a:solidFill>
                  <a:srgbClr val="F2F2F2"/>
                </a:solidFill>
                <a:latin typeface="Consolas"/>
              </a:rPr>
              <a:t>실패</a:t>
            </a:r>
            <a:r>
              <a:rPr sz="1250" dirty="0">
                <a:solidFill>
                  <a:srgbClr val="F2F2F2"/>
                </a:solidFill>
                <a:latin typeface="Consolas"/>
              </a:rPr>
              <a:t> </a:t>
            </a:r>
            <a:r>
              <a:rPr sz="1250" dirty="0" err="1">
                <a:solidFill>
                  <a:srgbClr val="F2F2F2"/>
                </a:solidFill>
                <a:latin typeface="Consolas"/>
              </a:rPr>
              <a:t>유발</a:t>
            </a:r>
            <a:r>
              <a:rPr sz="1250" dirty="0">
                <a:solidFill>
                  <a:srgbClr val="F2F2F2"/>
                </a:solidFill>
                <a:latin typeface="Consolas"/>
              </a:rPr>
              <a:t> </a:t>
            </a:r>
            <a:r>
              <a:rPr sz="1250" dirty="0" err="1">
                <a:solidFill>
                  <a:srgbClr val="F2F2F2"/>
                </a:solidFill>
                <a:latin typeface="Consolas"/>
              </a:rPr>
              <a:t>대상</a:t>
            </a:r>
            <a:r>
              <a:rPr sz="1250" dirty="0">
                <a:solidFill>
                  <a:srgbClr val="F2F2F2"/>
                </a:solidFill>
                <a:latin typeface="Consolas"/>
              </a:rPr>
              <a:t> (</a:t>
            </a:r>
            <a:r>
              <a:rPr sz="1250" dirty="0" err="1">
                <a:solidFill>
                  <a:srgbClr val="F2F2F2"/>
                </a:solidFill>
                <a:latin typeface="Consolas"/>
              </a:rPr>
              <a:t>리터럴</a:t>
            </a:r>
            <a:r>
              <a:rPr sz="1250" dirty="0">
                <a:solidFill>
                  <a:srgbClr val="F2F2F2"/>
                </a:solidFill>
                <a:latin typeface="Consolas"/>
              </a:rPr>
              <a:t> </a:t>
            </a:r>
            <a:r>
              <a:rPr sz="1250" dirty="0" err="1">
                <a:solidFill>
                  <a:srgbClr val="F2F2F2"/>
                </a:solidFill>
                <a:latin typeface="Consolas"/>
              </a:rPr>
              <a:t>커서</a:t>
            </a:r>
            <a:r>
              <a:rPr sz="1250" dirty="0">
                <a:solidFill>
                  <a:srgbClr val="F2F2F2"/>
                </a:solidFill>
                <a:latin typeface="Consolas"/>
              </a:rPr>
              <a:t>)</a:t>
            </a:r>
          </a:p>
          <a:p>
            <a:pPr>
              <a:spcBef>
                <a:spcPts val="0"/>
              </a:spcBef>
              <a:spcAft>
                <a:spcPts val="0"/>
              </a:spcAft>
            </a:pPr>
            <a:r>
              <a:rPr sz="1250" dirty="0">
                <a:solidFill>
                  <a:srgbClr val="F2F2F2"/>
                </a:solidFill>
                <a:latin typeface="Consolas"/>
              </a:rPr>
              <a:t>   SQLA         = </a:t>
            </a:r>
            <a:r>
              <a:rPr sz="1250" dirty="0" err="1">
                <a:solidFill>
                  <a:srgbClr val="F2F2F2"/>
                </a:solidFill>
                <a:latin typeface="Consolas"/>
              </a:rPr>
              <a:t>공유</a:t>
            </a:r>
            <a:r>
              <a:rPr sz="1250" dirty="0">
                <a:solidFill>
                  <a:srgbClr val="F2F2F2"/>
                </a:solidFill>
                <a:latin typeface="Consolas"/>
              </a:rPr>
              <a:t> SQL </a:t>
            </a:r>
            <a:r>
              <a:rPr sz="1250" dirty="0" err="1">
                <a:solidFill>
                  <a:srgbClr val="F2F2F2"/>
                </a:solidFill>
                <a:latin typeface="Consolas"/>
              </a:rPr>
              <a:t>영역</a:t>
            </a:r>
            <a:r>
              <a:rPr sz="1250" dirty="0">
                <a:solidFill>
                  <a:srgbClr val="F2F2F2"/>
                </a:solidFill>
                <a:latin typeface="Consolas"/>
              </a:rPr>
              <a:t> </a:t>
            </a:r>
            <a:r>
              <a:rPr sz="1250" dirty="0" err="1">
                <a:solidFill>
                  <a:srgbClr val="F2F2F2"/>
                </a:solidFill>
                <a:latin typeface="Consolas"/>
              </a:rPr>
              <a:t>하위에서</a:t>
            </a:r>
            <a:r>
              <a:rPr sz="1250" dirty="0">
                <a:solidFill>
                  <a:srgbClr val="F2F2F2"/>
                </a:solidFill>
                <a:latin typeface="Consolas"/>
              </a:rPr>
              <a:t> </a:t>
            </a:r>
            <a:r>
              <a:rPr sz="1250" dirty="0" err="1">
                <a:solidFill>
                  <a:srgbClr val="F2F2F2"/>
                </a:solidFill>
                <a:latin typeface="Consolas"/>
              </a:rPr>
              <a:t>할당</a:t>
            </a:r>
            <a:r>
              <a:rPr sz="1250" dirty="0">
                <a:solidFill>
                  <a:srgbClr val="F2F2F2"/>
                </a:solidFill>
                <a:latin typeface="Consolas"/>
              </a:rPr>
              <a:t> </a:t>
            </a:r>
            <a:r>
              <a:rPr sz="1250" dirty="0" err="1">
                <a:solidFill>
                  <a:srgbClr val="F2F2F2"/>
                </a:solidFill>
                <a:latin typeface="Consolas"/>
              </a:rPr>
              <a:t>시도</a:t>
            </a:r>
            <a:endParaRPr sz="1250" dirty="0">
              <a:solidFill>
                <a:srgbClr val="F2F2F2"/>
              </a:solidFill>
              <a:latin typeface="Consolas"/>
            </a:endParaRPr>
          </a:p>
          <a:p>
            <a:pPr>
              <a:spcBef>
                <a:spcPts val="0"/>
              </a:spcBef>
              <a:spcAft>
                <a:spcPts val="0"/>
              </a:spcAft>
            </a:pPr>
            <a:r>
              <a:rPr sz="1250" dirty="0">
                <a:solidFill>
                  <a:srgbClr val="F2F2F2"/>
                </a:solidFill>
                <a:latin typeface="Consolas"/>
              </a:rPr>
              <a:t>   </a:t>
            </a:r>
            <a:r>
              <a:rPr sz="1250" dirty="0" err="1">
                <a:solidFill>
                  <a:srgbClr val="F2F2F2"/>
                </a:solidFill>
                <a:latin typeface="Consolas"/>
              </a:rPr>
              <a:t>kkscsAdd</a:t>
            </a:r>
            <a:r>
              <a:rPr sz="1250" dirty="0">
                <a:solidFill>
                  <a:srgbClr val="F2F2F2"/>
                </a:solidFill>
                <a:latin typeface="Consolas"/>
              </a:rPr>
              <a:t>...  = </a:t>
            </a:r>
            <a:r>
              <a:rPr sz="1250" dirty="0" err="1">
                <a:solidFill>
                  <a:srgbClr val="F2F2F2"/>
                </a:solidFill>
                <a:latin typeface="Consolas"/>
              </a:rPr>
              <a:t>자식</a:t>
            </a:r>
            <a:r>
              <a:rPr sz="1250" dirty="0">
                <a:solidFill>
                  <a:srgbClr val="F2F2F2"/>
                </a:solidFill>
                <a:latin typeface="Consolas"/>
              </a:rPr>
              <a:t> </a:t>
            </a:r>
            <a:r>
              <a:rPr sz="1250" dirty="0" err="1">
                <a:solidFill>
                  <a:srgbClr val="F2F2F2"/>
                </a:solidFill>
                <a:latin typeface="Consolas"/>
              </a:rPr>
              <a:t>커서</a:t>
            </a:r>
            <a:r>
              <a:rPr sz="1250" dirty="0">
                <a:solidFill>
                  <a:srgbClr val="F2F2F2"/>
                </a:solidFill>
                <a:latin typeface="Consolas"/>
              </a:rPr>
              <a:t> </a:t>
            </a:r>
            <a:r>
              <a:rPr sz="1250" dirty="0" err="1">
                <a:solidFill>
                  <a:srgbClr val="F2F2F2"/>
                </a:solidFill>
                <a:latin typeface="Consolas"/>
              </a:rPr>
              <a:t>추가</a:t>
            </a:r>
            <a:r>
              <a:rPr sz="1250" dirty="0">
                <a:solidFill>
                  <a:srgbClr val="F2F2F2"/>
                </a:solidFill>
                <a:latin typeface="Consolas"/>
              </a:rPr>
              <a:t> </a:t>
            </a:r>
            <a:r>
              <a:rPr sz="1250" dirty="0" err="1">
                <a:solidFill>
                  <a:srgbClr val="F2F2F2"/>
                </a:solidFill>
                <a:latin typeface="Consolas"/>
              </a:rPr>
              <a:t>함수</a:t>
            </a:r>
            <a:endParaRPr sz="1250" dirty="0">
              <a:solidFill>
                <a:srgbClr val="F2F2F2"/>
              </a:solidFill>
              <a:latin typeface="Consolas"/>
            </a:endParaRPr>
          </a:p>
        </p:txBody>
      </p:sp>
    </p:spTree>
    <p:extLst>
      <p:ext uri="{BB962C8B-B14F-4D97-AF65-F5344CB8AC3E}">
        <p14:creationId xmlns:p14="http://schemas.microsoft.com/office/powerpoint/2010/main" val="2603988310"/>
      </p:ext>
    </p:extLst>
  </p:cSld>
  <p:clrMapOvr>
    <a:masterClrMapping/>
  </p:clrMapOvr>
</p:sld>
</file>

<file path=ppt/slides/slide1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해소 순서 — 근본부터</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크기 확대는 최후, 처음이 아니다</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1(근본) 하드파싱 제거 — 앱 바인드 변수 전환</a:t>
            </a:r>
          </a:p>
          <a:p>
            <a:pPr algn="l">
              <a:spcAft>
                <a:spcPts val="600"/>
              </a:spcAft>
            </a:pPr>
            <a:r>
              <a:rPr sz="1700" b="0">
                <a:solidFill>
                  <a:srgbClr val="222222"/>
                </a:solidFill>
                <a:latin typeface="맑은 고딕"/>
              </a:rPr>
              <a:t>•  2(완화) CURSOR_SHARING=FORCE — 커서 폭증 차단</a:t>
            </a:r>
          </a:p>
          <a:p>
            <a:pPr algn="l">
              <a:spcAft>
                <a:spcPts val="600"/>
              </a:spcAft>
            </a:pPr>
            <a:r>
              <a:rPr sz="1700" b="0">
                <a:solidFill>
                  <a:srgbClr val="222222"/>
                </a:solidFill>
                <a:latin typeface="맑은 고딕"/>
              </a:rPr>
              <a:t>•  3(완충) 예약 풀(SHARED_POOL_RESERVED_SIZE) 조정</a:t>
            </a:r>
          </a:p>
          <a:p>
            <a:pPr algn="l">
              <a:spcAft>
                <a:spcPts val="600"/>
              </a:spcAft>
            </a:pPr>
            <a:r>
              <a:rPr sz="1700" b="0">
                <a:solidFill>
                  <a:srgbClr val="222222"/>
                </a:solidFill>
                <a:latin typeface="맑은 고딕"/>
              </a:rPr>
              <a:t>•  4(최후) SHARED_POOL_SIZE/SGA_TARGET 확대 — 어드바이저가 유효 보일 때만</a:t>
            </a:r>
          </a:p>
          <a:p>
            <a:pPr algn="l">
              <a:spcAft>
                <a:spcPts val="600"/>
              </a:spcAft>
            </a:pPr>
            <a:r>
              <a:rPr sz="1700" b="0">
                <a:solidFill>
                  <a:srgbClr val="222222"/>
                </a:solidFill>
                <a:latin typeface="맑은 고딕"/>
              </a:rPr>
              <a:t>•  재현→원인영역 식별→확증→해소→재확인이 실습5의 뼈대</a:t>
            </a:r>
          </a:p>
        </p:txBody>
      </p:sp>
    </p:spTree>
    <p:extLst>
      <p:ext uri="{BB962C8B-B14F-4D97-AF65-F5344CB8AC3E}">
        <p14:creationId xmlns:p14="http://schemas.microsoft.com/office/powerpoint/2010/main" val="3656649990"/>
      </p:ext>
    </p:extLst>
  </p:cSld>
  <p:clrMapOvr>
    <a:masterClrMapping/>
  </p:clrMapOvr>
</p:sld>
</file>

<file path=ppt/slides/slide1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32.8</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라지 풀 분리</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400"/>
              </a:spcAft>
            </a:pPr>
            <a:r>
              <a:rPr sz="1600" b="0">
                <a:solidFill>
                  <a:srgbClr val="FFFFFF"/>
                </a:solidFill>
                <a:latin typeface="맑은 고딕"/>
              </a:rPr>
              <a:t>•  병렬·RMAN·공유서버의 큰 버퍼 담당</a:t>
            </a:r>
          </a:p>
          <a:p>
            <a:pPr algn="l">
              <a:spcAft>
                <a:spcPts val="400"/>
              </a:spcAft>
            </a:pPr>
            <a:r>
              <a:rPr sz="1600" b="0">
                <a:solidFill>
                  <a:srgbClr val="FFFFFF"/>
                </a:solidFill>
                <a:latin typeface="맑은 고딕"/>
              </a:rPr>
              <a:t>•  없으면 큰 할당이 공유 풀 침범 → 커서 밀어냄</a:t>
            </a:r>
          </a:p>
          <a:p>
            <a:pPr algn="l">
              <a:spcAft>
                <a:spcPts val="400"/>
              </a:spcAft>
            </a:pPr>
            <a:r>
              <a:rPr sz="1600" b="0">
                <a:solidFill>
                  <a:srgbClr val="FFFFFF"/>
                </a:solidFill>
                <a:latin typeface="맑은 고딕"/>
              </a:rPr>
              <a:t>•  라지 풀엔 LRU 없음 — 큰 할당에 파편화 적음</a:t>
            </a:r>
          </a:p>
          <a:p>
            <a:pPr algn="l">
              <a:spcAft>
                <a:spcPts val="400"/>
              </a:spcAft>
            </a:pPr>
            <a:r>
              <a:rPr sz="1600" b="0">
                <a:solidFill>
                  <a:srgbClr val="FFFFFF"/>
                </a:solidFill>
                <a:latin typeface="맑은 고딕"/>
              </a:rPr>
              <a:t>•  PX msg pool이 라지 풀에 있다 = 공유 풀 보호 중</a:t>
            </a:r>
          </a:p>
        </p:txBody>
      </p:sp>
    </p:spTree>
    <p:extLst>
      <p:ext uri="{BB962C8B-B14F-4D97-AF65-F5344CB8AC3E}">
        <p14:creationId xmlns:p14="http://schemas.microsoft.com/office/powerpoint/2010/main" val="4059470731"/>
      </p:ext>
    </p:extLst>
  </p:cSld>
  <p:clrMapOvr>
    <a:masterClrMapping/>
  </p:clrMapOvr>
</p:sld>
</file>

<file path=ppt/slides/slide1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라지 풀 실측</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V$SGASTAT (pool='large pool')</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09728" rtlCol="0" anchor="t"/>
          <a:lstStyle/>
          <a:p>
            <a:pPr>
              <a:spcBef>
                <a:spcPts val="0"/>
              </a:spcBef>
              <a:spcAft>
                <a:spcPts val="0"/>
              </a:spcAft>
            </a:pPr>
            <a:r>
              <a:rPr sz="1250" dirty="0">
                <a:solidFill>
                  <a:srgbClr val="F2F2F2"/>
                </a:solidFill>
                <a:latin typeface="Consolas"/>
              </a:rPr>
              <a:t>NAME               MB</a:t>
            </a:r>
          </a:p>
          <a:p>
            <a:pPr>
              <a:spcBef>
                <a:spcPts val="0"/>
              </a:spcBef>
              <a:spcAft>
                <a:spcPts val="0"/>
              </a:spcAft>
            </a:pPr>
            <a:r>
              <a:rPr sz="1250" dirty="0">
                <a:solidFill>
                  <a:srgbClr val="F2F2F2"/>
                </a:solidFill>
                <a:latin typeface="Consolas"/>
              </a:rPr>
              <a:t>-------------- ------</a:t>
            </a:r>
          </a:p>
          <a:p>
            <a:pPr>
              <a:spcBef>
                <a:spcPts val="0"/>
              </a:spcBef>
              <a:spcAft>
                <a:spcPts val="0"/>
              </a:spcAft>
            </a:pPr>
            <a:r>
              <a:rPr sz="1250" dirty="0">
                <a:solidFill>
                  <a:srgbClr val="F2F2F2"/>
                </a:solidFill>
                <a:latin typeface="Consolas"/>
              </a:rPr>
              <a:t>PX msg pool     15.00</a:t>
            </a:r>
          </a:p>
          <a:p>
            <a:pPr>
              <a:spcBef>
                <a:spcPts val="0"/>
              </a:spcBef>
              <a:spcAft>
                <a:spcPts val="0"/>
              </a:spcAft>
            </a:pPr>
            <a:r>
              <a:rPr sz="1250" dirty="0">
                <a:solidFill>
                  <a:srgbClr val="F2F2F2"/>
                </a:solidFill>
                <a:latin typeface="Consolas"/>
              </a:rPr>
              <a:t>free memory      0.69</a:t>
            </a:r>
          </a:p>
          <a:p>
            <a:pPr>
              <a:spcBef>
                <a:spcPts val="0"/>
              </a:spcBef>
              <a:spcAft>
                <a:spcPts val="0"/>
              </a:spcAft>
            </a:pPr>
            <a:r>
              <a:rPr sz="1250" dirty="0">
                <a:solidFill>
                  <a:srgbClr val="F2F2F2"/>
                </a:solidFill>
                <a:latin typeface="Consolas"/>
              </a:rPr>
              <a:t>session heap     0.31</a:t>
            </a:r>
          </a:p>
          <a:p>
            <a:pPr>
              <a:spcBef>
                <a:spcPts val="0"/>
              </a:spcBef>
              <a:spcAft>
                <a:spcPts val="0"/>
              </a:spcAft>
            </a:pPr>
            <a:r>
              <a:rPr sz="1250" dirty="0">
                <a:solidFill>
                  <a:srgbClr val="F2F2F2"/>
                </a:solidFill>
                <a:latin typeface="Consolas"/>
              </a:rPr>
              <a:t>miscellaneous    0.06</a:t>
            </a:r>
          </a:p>
        </p:txBody>
      </p:sp>
    </p:spTree>
    <p:extLst>
      <p:ext uri="{BB962C8B-B14F-4D97-AF65-F5344CB8AC3E}">
        <p14:creationId xmlns:p14="http://schemas.microsoft.com/office/powerpoint/2010/main" val="3946828540"/>
      </p:ext>
    </p:extLst>
  </p:cSld>
  <p:clrMapOvr>
    <a:masterClrMapping/>
  </p:clrMapOvr>
</p:sld>
</file>

<file path=ppt/slides/slide1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라지 풀을 언제 명시적으로 구성하나</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병렬·RMAN·공유서버가 있으면</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병렬 실행: PX 메시지 버퍼 → 없으면 공유 풀 점유</a:t>
            </a:r>
          </a:p>
          <a:p>
            <a:pPr algn="l">
              <a:spcAft>
                <a:spcPts val="600"/>
              </a:spcAft>
            </a:pPr>
            <a:r>
              <a:rPr sz="1700" b="0">
                <a:solidFill>
                  <a:srgbClr val="222222"/>
                </a:solidFill>
                <a:latin typeface="맑은 고딕"/>
              </a:rPr>
              <a:t>•  RMAN: 백업·복구 I/O 버퍼 → 없으면 백업시간대 파편화·ORA-04031</a:t>
            </a:r>
          </a:p>
          <a:p>
            <a:pPr algn="l">
              <a:spcAft>
                <a:spcPts val="600"/>
              </a:spcAft>
            </a:pPr>
            <a:r>
              <a:rPr sz="1700" b="0">
                <a:solidFill>
                  <a:srgbClr val="222222"/>
                </a:solidFill>
                <a:latin typeface="맑은 고딕"/>
              </a:rPr>
              <a:t>•  공유 서버: 세션 UGA → 없으면 세션 메모리가 공유 풀 잠식</a:t>
            </a:r>
          </a:p>
          <a:p>
            <a:pPr algn="l">
              <a:spcAft>
                <a:spcPts val="600"/>
              </a:spcAft>
            </a:pPr>
            <a:r>
              <a:rPr sz="1700" b="0">
                <a:solidFill>
                  <a:srgbClr val="222222"/>
                </a:solidFill>
                <a:latin typeface="맑은 고딕"/>
              </a:rPr>
              <a:t>•  ASMM: LARGE_POOL_SIZE를 하한으로 잡으면 자동조정이 그 위에서</a:t>
            </a:r>
          </a:p>
          <a:p>
            <a:pPr algn="l">
              <a:spcAft>
                <a:spcPts val="600"/>
              </a:spcAft>
            </a:pPr>
            <a:r>
              <a:rPr sz="1700" b="0">
                <a:solidFill>
                  <a:srgbClr val="222222"/>
                </a:solidFill>
                <a:latin typeface="맑은 고딕"/>
              </a:rPr>
              <a:t>•  순수 OLTP(병렬·백업 없음)면 라지 풀 작아도 무방</a:t>
            </a:r>
          </a:p>
        </p:txBody>
      </p:sp>
    </p:spTree>
    <p:extLst>
      <p:ext uri="{BB962C8B-B14F-4D97-AF65-F5344CB8AC3E}">
        <p14:creationId xmlns:p14="http://schemas.microsoft.com/office/powerpoint/2010/main" val="3557166761"/>
      </p:ext>
    </p:extLst>
  </p:cSld>
  <p:clrMapOvr>
    <a:masterClrMapping/>
  </p:clrMapOvr>
</p:sld>
</file>

<file path=ppt/slides/slide1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공유 풀 진단 체크리스트</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각 단계가 앞 가설을 이어받아 좁힌다</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1. V$SGASTAT — SQLA·KGLH0 부풀고 free 조각났나(free 67MB나 파편화)</a:t>
            </a:r>
          </a:p>
          <a:p>
            <a:pPr algn="l">
              <a:spcAft>
                <a:spcPts val="600"/>
              </a:spcAft>
            </a:pPr>
            <a:r>
              <a:rPr sz="1700" b="0">
                <a:solidFill>
                  <a:srgbClr val="222222"/>
                </a:solidFill>
                <a:latin typeface="맑은 고딕"/>
              </a:rPr>
              <a:t>•  2. V$LIBRARYCACHE — GET/PIN_HIT 낮은가(13.9%/44.6%)</a:t>
            </a:r>
          </a:p>
          <a:p>
            <a:pPr algn="l">
              <a:spcAft>
                <a:spcPts val="600"/>
              </a:spcAft>
            </a:pPr>
            <a:r>
              <a:rPr sz="1700" b="0">
                <a:solidFill>
                  <a:srgbClr val="222222"/>
                </a:solidFill>
                <a:latin typeface="맑은 고딕"/>
              </a:rPr>
              <a:t>•  3. 파싱 통계 — 하드파싱 비율 높은가(61.5%)</a:t>
            </a:r>
          </a:p>
          <a:p>
            <a:pPr algn="l">
              <a:spcAft>
                <a:spcPts val="600"/>
              </a:spcAft>
            </a:pPr>
            <a:r>
              <a:rPr sz="1700" b="0">
                <a:solidFill>
                  <a:srgbClr val="222222"/>
                </a:solidFill>
                <a:latin typeface="맑은 고딕"/>
              </a:rPr>
              <a:t>•  4. V$SHARED_POOL_ADVICE — 확대 유효한가(곡선 평평→아님)</a:t>
            </a:r>
          </a:p>
          <a:p>
            <a:pPr algn="l">
              <a:spcAft>
                <a:spcPts val="600"/>
              </a:spcAft>
            </a:pPr>
            <a:r>
              <a:rPr sz="1700" b="0">
                <a:solidFill>
                  <a:srgbClr val="222222"/>
                </a:solidFill>
                <a:latin typeface="맑은 고딕"/>
              </a:rPr>
              <a:t>•  5. 원인 조치 — 바인드→CURSOR_SHARING→예약풀→크기</a:t>
            </a:r>
          </a:p>
          <a:p>
            <a:pPr algn="l">
              <a:spcAft>
                <a:spcPts val="600"/>
              </a:spcAft>
            </a:pPr>
            <a:r>
              <a:rPr sz="1700" b="0">
                <a:solidFill>
                  <a:srgbClr val="222222"/>
                </a:solidFill>
                <a:latin typeface="맑은 고딕"/>
              </a:rPr>
              <a:t>•  6. V$SGASTAT(large) — 병렬·RMAN 버퍼 분리됐나(PX msg 15MB)</a:t>
            </a:r>
          </a:p>
        </p:txBody>
      </p:sp>
    </p:spTree>
    <p:extLst>
      <p:ext uri="{BB962C8B-B14F-4D97-AF65-F5344CB8AC3E}">
        <p14:creationId xmlns:p14="http://schemas.microsoft.com/office/powerpoint/2010/main" val="1586155691"/>
      </p:ext>
    </p:extLst>
  </p:cSld>
  <p:clrMapOvr>
    <a:masterClrMapping/>
  </p:clrMapOvr>
</p:sld>
</file>

<file path=ppt/slides/slide1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실측 한눈에 — 하나의 원인으로 수렴</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서로 다른 뷰의 숫자가 한 곳을 가리킨다</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V$SGASTAT: SQLA 30.71MB·KGLH0 25.82MB로 커서가 공유 풀 점유</a:t>
            </a:r>
          </a:p>
          <a:p>
            <a:pPr algn="l">
              <a:spcAft>
                <a:spcPts val="600"/>
              </a:spcAft>
            </a:pPr>
            <a:r>
              <a:rPr sz="1700" b="0">
                <a:solidFill>
                  <a:srgbClr val="222222"/>
                </a:solidFill>
                <a:latin typeface="맑은 고딕"/>
              </a:rPr>
              <a:t>•  V$LIBRARYCACHE: SQL AREA GET_HIT 13.9%, RELOADS 2441</a:t>
            </a:r>
          </a:p>
          <a:p>
            <a:pPr algn="l">
              <a:spcAft>
                <a:spcPts val="600"/>
              </a:spcAft>
            </a:pPr>
            <a:r>
              <a:rPr sz="1700" b="0">
                <a:solidFill>
                  <a:srgbClr val="222222"/>
                </a:solidFill>
                <a:latin typeface="맑은 고딕"/>
              </a:rPr>
              <a:t>•  파싱 통계: 하드파싱 비율 61.5% (134042/218056)</a:t>
            </a:r>
          </a:p>
          <a:p>
            <a:pPr algn="l">
              <a:spcAft>
                <a:spcPts val="600"/>
              </a:spcAft>
            </a:pPr>
            <a:r>
              <a:rPr sz="1700" b="0">
                <a:solidFill>
                  <a:srgbClr val="222222"/>
                </a:solidFill>
                <a:latin typeface="맑은 고딕"/>
              </a:rPr>
              <a:t>•  V$SHARED_POOL_ADVICE: 확대 곡선 평평(SAVED 1.0 고정)</a:t>
            </a:r>
          </a:p>
          <a:p>
            <a:pPr algn="l">
              <a:spcAft>
                <a:spcPts val="600"/>
              </a:spcAft>
            </a:pPr>
            <a:r>
              <a:rPr sz="1700" b="0">
                <a:solidFill>
                  <a:srgbClr val="222222"/>
                </a:solidFill>
                <a:latin typeface="맑은 고딕"/>
              </a:rPr>
              <a:t>•  V$SGASTAT(large): PX msg pool 15MB 분리로 공유 풀 보호</a:t>
            </a:r>
          </a:p>
          <a:p>
            <a:pPr algn="l">
              <a:spcAft>
                <a:spcPts val="600"/>
              </a:spcAft>
            </a:pPr>
            <a:r>
              <a:rPr sz="1700" b="0">
                <a:solidFill>
                  <a:srgbClr val="222222"/>
                </a:solidFill>
                <a:latin typeface="맑은 고딕"/>
              </a:rPr>
              <a:t>•  → 결론: 리터럴 하드파싱이 공유 풀을 압박 · 답은 바인드 변수</a:t>
            </a:r>
          </a:p>
        </p:txBody>
      </p:sp>
    </p:spTree>
    <p:extLst>
      <p:ext uri="{BB962C8B-B14F-4D97-AF65-F5344CB8AC3E}">
        <p14:creationId xmlns:p14="http://schemas.microsoft.com/office/powerpoint/2010/main" val="2786168460"/>
      </p:ext>
    </p:extLst>
  </p:cSld>
  <p:clrMapOvr>
    <a:masterClrMapping/>
  </p:clrMapOvr>
</p:sld>
</file>

<file path=ppt/slides/slide1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이 장이 경계하는 오판 넷</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공유 풀 튜닝의 함정</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① ORA-04031을 크기만 키워 봉합 → 원인이 파싱이면 재발</a:t>
            </a:r>
          </a:p>
          <a:p>
            <a:pPr algn="l">
              <a:spcAft>
                <a:spcPts val="600"/>
              </a:spcAft>
            </a:pPr>
            <a:r>
              <a:rPr sz="1700" b="0">
                <a:solidFill>
                  <a:srgbClr val="222222"/>
                </a:solidFill>
                <a:latin typeface="맑은 고딕"/>
              </a:rPr>
              <a:t>•  ② free memory 넉넉하니 공유 풀 충분 → 파편화 무시</a:t>
            </a:r>
          </a:p>
          <a:p>
            <a:pPr algn="l">
              <a:spcAft>
                <a:spcPts val="600"/>
              </a:spcAft>
            </a:pPr>
            <a:r>
              <a:rPr sz="1700" b="0">
                <a:solidFill>
                  <a:srgbClr val="222222"/>
                </a:solidFill>
                <a:latin typeface="맑은 고딕"/>
              </a:rPr>
              <a:t>•  ③ 라이브러리 캐시 히트율 낮으니 무조건 확대 → 어드바이저부터</a:t>
            </a:r>
          </a:p>
          <a:p>
            <a:pPr algn="l">
              <a:spcAft>
                <a:spcPts val="600"/>
              </a:spcAft>
            </a:pPr>
            <a:r>
              <a:rPr sz="1700" b="0">
                <a:solidFill>
                  <a:srgbClr val="222222"/>
                </a:solidFill>
                <a:latin typeface="맑은 고딕"/>
              </a:rPr>
              <a:t>•  ④ CURSOR_SHARING=FORCE면 만사형통 → 편중 컬럼 계획 저하</a:t>
            </a:r>
          </a:p>
          <a:p>
            <a:pPr algn="l">
              <a:spcAft>
                <a:spcPts val="600"/>
              </a:spcAft>
            </a:pPr>
            <a:r>
              <a:rPr sz="1700" b="0">
                <a:solidFill>
                  <a:srgbClr val="222222"/>
                </a:solidFill>
                <a:latin typeface="맑은 고딕"/>
              </a:rPr>
              <a:t>•  공통 처방: 원인 영역 식별 + 어드바이저 판정 + 순서 준수</a:t>
            </a:r>
          </a:p>
        </p:txBody>
      </p:sp>
    </p:spTree>
    <p:extLst>
      <p:ext uri="{BB962C8B-B14F-4D97-AF65-F5344CB8AC3E}">
        <p14:creationId xmlns:p14="http://schemas.microsoft.com/office/powerpoint/2010/main" val="3410905399"/>
      </p:ext>
    </p:extLst>
  </p:cSld>
  <p:clrMapOvr>
    <a:masterClrMapping/>
  </p:clrMapOvr>
</p:sld>
</file>

<file path=ppt/slides/slide1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라이선스 노트</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공유 풀 진단은 대부분 라이선스 무관</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무관: V$LIBRARYCACHE·V$SGASTAT·V$SYSSTAT·V$SQLAREA</a:t>
            </a:r>
          </a:p>
          <a:p>
            <a:pPr algn="l">
              <a:spcAft>
                <a:spcPts val="600"/>
              </a:spcAft>
            </a:pPr>
            <a:r>
              <a:rPr sz="1700" b="0">
                <a:solidFill>
                  <a:srgbClr val="222222"/>
                </a:solidFill>
                <a:latin typeface="맑은 고딕"/>
              </a:rPr>
              <a:t>•  무관: V$SHARED_POOL_ADVICE 어드바이저 뷰도 조회 가능</a:t>
            </a:r>
          </a:p>
          <a:p>
            <a:pPr algn="l">
              <a:spcAft>
                <a:spcPts val="600"/>
              </a:spcAft>
            </a:pPr>
            <a:r>
              <a:rPr sz="1700" b="0">
                <a:solidFill>
                  <a:srgbClr val="222222"/>
                </a:solidFill>
                <a:latin typeface="맑은 고딕"/>
              </a:rPr>
              <a:t>•  무관: CURSOR_SHARING·LARGE_POOL_SIZE 조정</a:t>
            </a:r>
          </a:p>
          <a:p>
            <a:pPr algn="l">
              <a:spcAft>
                <a:spcPts val="600"/>
              </a:spcAft>
            </a:pPr>
            <a:r>
              <a:rPr sz="1700" b="0">
                <a:solidFill>
                  <a:srgbClr val="222222"/>
                </a:solidFill>
                <a:latin typeface="맑은 고딕"/>
              </a:rPr>
              <a:t>•  🔒 Diagnostics Pack 필요: DBA_HIST_* 이력, AWR 어드바이저 섹션</a:t>
            </a:r>
          </a:p>
          <a:p>
            <a:pPr algn="l">
              <a:spcAft>
                <a:spcPts val="600"/>
              </a:spcAft>
            </a:pPr>
            <a:r>
              <a:rPr sz="1700" b="0">
                <a:solidFill>
                  <a:srgbClr val="222222"/>
                </a:solidFill>
                <a:latin typeface="맑은 고딕"/>
              </a:rPr>
              <a:t>•  대안: V$ 뷰를 두 시점에 조회해 델타 계산(ch26·ch27 경로)</a:t>
            </a:r>
          </a:p>
        </p:txBody>
      </p:sp>
    </p:spTree>
    <p:extLst>
      <p:ext uri="{BB962C8B-B14F-4D97-AF65-F5344CB8AC3E}">
        <p14:creationId xmlns:p14="http://schemas.microsoft.com/office/powerpoint/2010/main" val="219131927"/>
      </p:ext>
    </p:extLst>
  </p:cSld>
  <p:clrMapOvr>
    <a:masterClrMapping/>
  </p:clrMapOvr>
</p:sld>
</file>

<file path=ppt/slides/slide1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퀴즈 (Quiz)</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600"/>
              </a:spcAft>
            </a:pPr>
            <a:r>
              <a:rPr sz="1500" b="0">
                <a:solidFill>
                  <a:srgbClr val="222222"/>
                </a:solidFill>
                <a:latin typeface="맑은 고딕"/>
              </a:rPr>
              <a:t>•  Q1. free memory 67MB나 남았는데 ORA-04031. 총량이 충분한데 왜?</a:t>
            </a:r>
          </a:p>
          <a:p>
            <a:pPr algn="l">
              <a:spcAft>
                <a:spcPts val="600"/>
              </a:spcAft>
            </a:pPr>
            <a:r>
              <a:rPr sz="1500" b="0">
                <a:solidFill>
                  <a:srgbClr val="222222"/>
                </a:solidFill>
                <a:latin typeface="맑은 고딕"/>
              </a:rPr>
              <a:t>•  Q2. SQL AREA GET_HIT 13.9% vs TABLE/PROCEDURE 95.2%. 이 차이가 가리키는 원인은?</a:t>
            </a:r>
          </a:p>
          <a:p>
            <a:pPr algn="l">
              <a:spcAft>
                <a:spcPts val="600"/>
              </a:spcAft>
            </a:pPr>
            <a:r>
              <a:rPr sz="1500" b="0">
                <a:solidFill>
                  <a:srgbClr val="222222"/>
                </a:solidFill>
                <a:latin typeface="맑은 고딕"/>
              </a:rPr>
              <a:t>•  Q3. 하드파싱 비율 61.5%. 정상은 어디에 수렴해야 하고 61.5%는 무엇을 뜻하나?</a:t>
            </a:r>
          </a:p>
          <a:p>
            <a:pPr algn="l">
              <a:spcAft>
                <a:spcPts val="600"/>
              </a:spcAft>
            </a:pPr>
            <a:r>
              <a:rPr sz="1500" b="0">
                <a:solidFill>
                  <a:srgbClr val="222222"/>
                </a:solidFill>
                <a:latin typeface="맑은 고딕"/>
              </a:rPr>
              <a:t>•  Q4. 어드바이저 SAVED가 416·512·560MB에서 모두 1.0. ORA-04031에 크기를 키워야 하나?</a:t>
            </a:r>
          </a:p>
          <a:p>
            <a:pPr algn="l">
              <a:spcAft>
                <a:spcPts val="600"/>
              </a:spcAft>
            </a:pPr>
            <a:r>
              <a:rPr sz="1500" b="0">
                <a:solidFill>
                  <a:srgbClr val="222222"/>
                </a:solidFill>
                <a:latin typeface="맑은 고딕"/>
              </a:rPr>
              <a:t>•  Q5. ORA-04031 메시지에 shared pool/SQLA/kkscsAddChildNode. 원인 영역과 진짜 원인은?</a:t>
            </a:r>
          </a:p>
          <a:p>
            <a:pPr algn="l">
              <a:spcAft>
                <a:spcPts val="600"/>
              </a:spcAft>
            </a:pPr>
            <a:r>
              <a:rPr sz="1500" b="0">
                <a:solidFill>
                  <a:srgbClr val="222222"/>
                </a:solidFill>
                <a:latin typeface="맑은 고딕"/>
              </a:rPr>
              <a:t>•  Q6. FORCE로 하드파싱 급감했는데 일부 SQL이 느려졌다. 무엇을 확인·대응하나?</a:t>
            </a:r>
          </a:p>
        </p:txBody>
      </p:sp>
    </p:spTree>
    <p:extLst>
      <p:ext uri="{BB962C8B-B14F-4D97-AF65-F5344CB8AC3E}">
        <p14:creationId xmlns:p14="http://schemas.microsoft.com/office/powerpoint/2010/main" val="337465428"/>
      </p:ext>
    </p:extLst>
  </p:cSld>
  <p:clrMapOvr>
    <a:masterClrMapping/>
  </p:clrMapOvr>
</p:sld>
</file>

<file path=ppt/slides/slide1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요약 (Summary)</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600"/>
              </a:spcAft>
            </a:pPr>
            <a:r>
              <a:rPr sz="1500" b="0">
                <a:solidFill>
                  <a:srgbClr val="222222"/>
                </a:solidFill>
                <a:latin typeface="맑은 고딕"/>
              </a:rPr>
              <a:t>•  공유 풀=SQL·커서·실행계획·데이터사전. 부족의 진짜 원인은 대개 파싱</a:t>
            </a:r>
          </a:p>
          <a:p>
            <a:pPr algn="l">
              <a:spcAft>
                <a:spcPts val="600"/>
              </a:spcAft>
            </a:pPr>
            <a:r>
              <a:rPr sz="1500" b="0">
                <a:solidFill>
                  <a:srgbClr val="222222"/>
                </a:solidFill>
                <a:latin typeface="맑은 고딕"/>
              </a:rPr>
              <a:t>•  V$SGASTAT: free 67MB여도 파편화로 ORA-04031 가능</a:t>
            </a:r>
          </a:p>
          <a:p>
            <a:pPr algn="l">
              <a:spcAft>
                <a:spcPts val="600"/>
              </a:spcAft>
            </a:pPr>
            <a:r>
              <a:rPr sz="1500" b="0">
                <a:solidFill>
                  <a:srgbClr val="222222"/>
                </a:solidFill>
                <a:latin typeface="맑은 고딕"/>
              </a:rPr>
              <a:t>•  V$LIBRARYCACHE: SQL AREA GET_HIT 13.9%=커서 재사용 실패(하드파싱)</a:t>
            </a:r>
          </a:p>
          <a:p>
            <a:pPr algn="l">
              <a:spcAft>
                <a:spcPts val="600"/>
              </a:spcAft>
            </a:pPr>
            <a:r>
              <a:rPr sz="1500" b="0">
                <a:solidFill>
                  <a:srgbClr val="222222"/>
                </a:solidFill>
                <a:latin typeface="맑은 고딕"/>
              </a:rPr>
              <a:t>•  파싱 통계: 하드 61.5%=리터럴. CURSOR_SHARING=FORCE는 임시방편</a:t>
            </a:r>
          </a:p>
          <a:p>
            <a:pPr algn="l">
              <a:spcAft>
                <a:spcPts val="600"/>
              </a:spcAft>
            </a:pPr>
            <a:r>
              <a:rPr sz="1500" b="0">
                <a:solidFill>
                  <a:srgbClr val="222222"/>
                </a:solidFill>
                <a:latin typeface="맑은 고딕"/>
              </a:rPr>
              <a:t>•  V$SHARED_POOL_ADVICE: 416MB 무릎, 확대 평평→크기론 해결 안 됨</a:t>
            </a:r>
          </a:p>
          <a:p>
            <a:pPr algn="l">
              <a:spcAft>
                <a:spcPts val="600"/>
              </a:spcAft>
            </a:pPr>
            <a:r>
              <a:rPr sz="1500" b="0">
                <a:solidFill>
                  <a:srgbClr val="222222"/>
                </a:solidFill>
                <a:latin typeface="맑은 고딕"/>
              </a:rPr>
              <a:t>•  ORA-04031: 메시지로 영역 식별, 바인드→FORCE→예약풀→크기(최후)</a:t>
            </a:r>
          </a:p>
          <a:p>
            <a:pPr algn="l">
              <a:spcAft>
                <a:spcPts val="600"/>
              </a:spcAft>
            </a:pPr>
            <a:r>
              <a:rPr sz="1500" b="0">
                <a:solidFill>
                  <a:srgbClr val="222222"/>
                </a:solidFill>
                <a:latin typeface="맑은 고딕"/>
              </a:rPr>
              <a:t>•  라지 풀: PX msg 15MB 분리로 공유 풀 보호. 진단은 라이선스 무관</a:t>
            </a:r>
          </a:p>
        </p:txBody>
      </p:sp>
    </p:spTree>
    <p:extLst>
      <p:ext uri="{BB962C8B-B14F-4D97-AF65-F5344CB8AC3E}">
        <p14:creationId xmlns:p14="http://schemas.microsoft.com/office/powerpoint/2010/main" val="654907555"/>
      </p:ext>
    </p:extLst>
  </p:cSld>
  <p:clrMapOvr>
    <a:masterClrMapping/>
  </p:clrMapOvr>
</p:sld>
</file>

<file path=ppt/slides/slide1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실습 개요 (Practice Overview)</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non-CDB orcl 19.3(ASMM) · SYS@orcl / SQLT@orcl</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500" b="0">
                <a:solidFill>
                  <a:srgbClr val="222222"/>
                </a:solidFill>
                <a:latin typeface="맑은 고딕"/>
              </a:rPr>
              <a:t>•  실습 01 — 라이브러리 캐시(V$LIBRARYCACHE)와 재파싱 지표 판독</a:t>
            </a:r>
          </a:p>
          <a:p>
            <a:pPr algn="l">
              <a:spcAft>
                <a:spcPts val="600"/>
              </a:spcAft>
            </a:pPr>
            <a:r>
              <a:rPr sz="1500" b="0">
                <a:solidFill>
                  <a:srgbClr val="222222"/>
                </a:solidFill>
                <a:latin typeface="맑은 고딕"/>
              </a:rPr>
              <a:t>•  실습 02 — WL_01_parse로 하드 파싱 유발 후 공유 풀 변화 관찰</a:t>
            </a:r>
          </a:p>
          <a:p>
            <a:pPr algn="l">
              <a:spcAft>
                <a:spcPts val="600"/>
              </a:spcAft>
            </a:pPr>
            <a:r>
              <a:rPr sz="1500" b="0">
                <a:solidFill>
                  <a:srgbClr val="222222"/>
                </a:solidFill>
                <a:latin typeface="맑은 고딕"/>
              </a:rPr>
              <a:t>•  실습 03 — 커서 공유(EXACT/FORCE)별 공유 풀 점유·커서 개수 비교</a:t>
            </a:r>
          </a:p>
          <a:p>
            <a:pPr algn="l">
              <a:spcAft>
                <a:spcPts val="600"/>
              </a:spcAft>
            </a:pPr>
            <a:r>
              <a:rPr sz="1500" b="0">
                <a:solidFill>
                  <a:srgbClr val="222222"/>
                </a:solidFill>
                <a:latin typeface="맑은 고딕"/>
              </a:rPr>
              <a:t>•  실습 04 — 공유 풀 어드바이저(V$SHARED_POOL_ADVICE) 판독</a:t>
            </a:r>
          </a:p>
          <a:p>
            <a:pPr algn="l">
              <a:spcAft>
                <a:spcPts val="600"/>
              </a:spcAft>
            </a:pPr>
            <a:r>
              <a:rPr sz="1500" b="0">
                <a:solidFill>
                  <a:srgbClr val="222222"/>
                </a:solidFill>
                <a:latin typeface="맑은 고딕"/>
              </a:rPr>
              <a:t>•  실습 05 — ORA-04031 재현·원인 영역 식별·예약풀/크기 조정(개인환경 전용)</a:t>
            </a:r>
          </a:p>
          <a:p>
            <a:pPr algn="l">
              <a:spcAft>
                <a:spcPts val="600"/>
              </a:spcAft>
            </a:pPr>
            <a:r>
              <a:rPr sz="1500" b="0">
                <a:solidFill>
                  <a:srgbClr val="222222"/>
                </a:solidFill>
                <a:latin typeface="맑은 고딕"/>
              </a:rPr>
              <a:t>•  실습 06 — 라지 풀 구성과 병렬·RMAN 버퍼 분리 확인</a:t>
            </a:r>
          </a:p>
          <a:p>
            <a:pPr algn="l">
              <a:spcAft>
                <a:spcPts val="600"/>
              </a:spcAft>
            </a:pPr>
            <a:r>
              <a:rPr sz="1500" b="0">
                <a:solidFill>
                  <a:srgbClr val="222222"/>
                </a:solidFill>
                <a:latin typeface="맑은 고딕"/>
              </a:rPr>
              <a:t>•  ※ 각 실습: 조치 전→조회·조치→해석 + 이상→원인→조치→재확인</a:t>
            </a:r>
          </a:p>
        </p:txBody>
      </p:sp>
    </p:spTree>
    <p:extLst>
      <p:ext uri="{BB962C8B-B14F-4D97-AF65-F5344CB8AC3E}">
        <p14:creationId xmlns:p14="http://schemas.microsoft.com/office/powerpoint/2010/main" val="2535957616"/>
      </p:ext>
    </p:extLst>
  </p:cSld>
  <p:clrMapOvr>
    <a:masterClrMapping/>
  </p:clrMapOvr>
</p:sld>
</file>

<file path=ppt/slides/slide1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Day 10</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결과 캐시·PGA·I/O, 총정리, 종합 평가</a:t>
            </a:r>
          </a:p>
        </p:txBody>
      </p:sp>
      <p:sp>
        <p:nvSpPr>
          <p:cNvPr id="5" name="Rectangle 4"/>
          <p:cNvSpPr/>
          <p:nvPr/>
        </p:nvSpPr>
        <p:spPr>
          <a:xfrm>
            <a:off x="822960" y="4114800"/>
            <a:ext cx="5486400"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r>
              <a:rPr sz="1600" b="0">
                <a:solidFill>
                  <a:srgbClr val="FFFFFF"/>
                </a:solidFill>
                <a:latin typeface="맑은 고딕"/>
              </a:rPr>
              <a:t>•  TUN ch33 · ch34 · 총정리 · 종합 진단 시나리오</a:t>
            </a:r>
          </a:p>
          <a:p>
            <a:r>
              <a:rPr sz="1600" b="0">
                <a:solidFill>
                  <a:srgbClr val="FFFFFF"/>
                </a:solidFill>
                <a:latin typeface="맑은 고딕"/>
              </a:rPr>
              <a:t>•  8h — 평가 60%, 3h50m</a:t>
            </a:r>
          </a:p>
        </p:txBody>
      </p:sp>
    </p:spTree>
  </p:cSld>
  <p:clrMapOvr>
    <a:masterClrMapping/>
  </p:clrMapOvr>
</p:sld>
</file>

<file path=ppt/slides/slide1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5394960"/>
            <a:ext cx="12188952"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457200"/>
            <a:ext cx="10698480" cy="548640"/>
          </a:xfrm>
          <a:prstGeom prst="rect">
            <a:avLst/>
          </a:prstGeom>
          <a:noFill/>
        </p:spPr>
        <p:txBody>
          <a:bodyPr wrap="square" anchor="t">
            <a:spAutoFit/>
          </a:bodyPr>
          <a:lstStyle/>
          <a:p>
            <a:pPr algn="l"/>
            <a:r>
              <a:rPr sz="1600" b="1">
                <a:solidFill>
                  <a:srgbClr val="FFFFFF"/>
                </a:solidFill>
                <a:latin typeface="맑은 고딕"/>
              </a:rPr>
              <a:t>Oracle Database 19c 성능 튜닝 실무 과정</a:t>
            </a:r>
          </a:p>
        </p:txBody>
      </p:sp>
      <p:sp>
        <p:nvSpPr>
          <p:cNvPr id="6" name="TextBox 5"/>
          <p:cNvSpPr txBox="1"/>
          <p:nvPr/>
        </p:nvSpPr>
        <p:spPr>
          <a:xfrm>
            <a:off x="731520" y="2377440"/>
            <a:ext cx="10698480" cy="1554480"/>
          </a:xfrm>
          <a:prstGeom prst="rect">
            <a:avLst/>
          </a:prstGeom>
          <a:noFill/>
        </p:spPr>
        <p:txBody>
          <a:bodyPr wrap="square" anchor="t">
            <a:spAutoFit/>
          </a:bodyPr>
          <a:lstStyle/>
          <a:p>
            <a:pPr algn="l"/>
            <a:r>
              <a:rPr sz="3400" b="1">
                <a:solidFill>
                  <a:srgbClr val="C0392B"/>
                </a:solidFill>
                <a:latin typeface="맑은 고딕"/>
              </a:rPr>
              <a:t>결과 캐시와 PGA 튜닝</a:t>
            </a:r>
          </a:p>
          <a:p>
            <a:pPr algn="l"/>
            <a:r>
              <a:rPr sz="2000" b="0">
                <a:solidFill>
                  <a:srgbClr val="5A6672"/>
                </a:solidFill>
                <a:latin typeface="맑은 고딕"/>
              </a:rPr>
              <a:t>Result Cache &amp; PGA Tuning — 재계산을 없애고, 정렬을 메모리에서 끝낸다</a:t>
            </a:r>
          </a:p>
        </p:txBody>
      </p:sp>
      <p:sp>
        <p:nvSpPr>
          <p:cNvPr id="7" name="TextBox 6"/>
          <p:cNvSpPr txBox="1"/>
          <p:nvPr/>
        </p:nvSpPr>
        <p:spPr>
          <a:xfrm>
            <a:off x="731520" y="4114800"/>
            <a:ext cx="10698480" cy="1097280"/>
          </a:xfrm>
          <a:prstGeom prst="rect">
            <a:avLst/>
          </a:prstGeom>
          <a:noFill/>
        </p:spPr>
        <p:txBody>
          <a:bodyPr wrap="square" anchor="t">
            <a:spAutoFit/>
          </a:bodyPr>
          <a:lstStyle/>
          <a:p>
            <a:pPr algn="l"/>
            <a:r>
              <a:rPr sz="1500" b="0">
                <a:solidFill>
                  <a:srgbClr val="5A6672"/>
                </a:solidFill>
                <a:latin typeface="맑은 고딕"/>
              </a:rPr>
              <a:t>서버·클라이언트 결과 캐시 · 무효화 · 적용 판별 · 작업 영역 · optimal/one-pass/multi-pass · PGA_AGGREGATE_LIMIT · 실측 orcl 19.3</a:t>
            </a:r>
          </a:p>
        </p:txBody>
      </p:sp>
      <p:sp>
        <p:nvSpPr>
          <p:cNvPr id="8" name="TextBox 7"/>
          <p:cNvSpPr txBox="1"/>
          <p:nvPr/>
        </p:nvSpPr>
        <p:spPr>
          <a:xfrm>
            <a:off x="731520" y="5577840"/>
            <a:ext cx="10698480" cy="914400"/>
          </a:xfrm>
          <a:prstGeom prst="rect">
            <a:avLst/>
          </a:prstGeom>
          <a:noFill/>
        </p:spPr>
        <p:txBody>
          <a:bodyPr wrap="square" anchor="t">
            <a:spAutoFit/>
          </a:bodyPr>
          <a:lstStyle/>
          <a:p>
            <a:pPr algn="l"/>
            <a:r>
              <a:rPr sz="2000" b="1">
                <a:solidFill>
                  <a:srgbClr val="C0392B"/>
                </a:solidFill>
                <a:latin typeface="맑은 고딕"/>
              </a:rPr>
              <a:t>ch33</a:t>
            </a:r>
          </a:p>
        </p:txBody>
      </p:sp>
    </p:spTree>
    <p:extLst>
      <p:ext uri="{BB962C8B-B14F-4D97-AF65-F5344CB8AC3E}">
        <p14:creationId xmlns:p14="http://schemas.microsoft.com/office/powerpoint/2010/main" val="1805564036"/>
      </p:ext>
    </p:extLst>
  </p:cSld>
  <p:clrMapOvr>
    <a:masterClrMapping/>
  </p:clrMapOvr>
</p:sld>
</file>

<file path=ppt/slides/slide1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학습 목표 (Objectives)</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600"/>
              </a:spcAft>
            </a:pPr>
            <a:r>
              <a:rPr sz="1500" b="0">
                <a:solidFill>
                  <a:srgbClr val="222222"/>
                </a:solidFill>
                <a:latin typeface="맑은 고딕"/>
              </a:rPr>
              <a:t>•  서버·클라이언트 결과 캐시를 구분하고 RESULT_CACHE 힌트로 결과를 캐시에 올린다.</a:t>
            </a:r>
          </a:p>
          <a:p>
            <a:pPr algn="l">
              <a:spcAft>
                <a:spcPts val="600"/>
              </a:spcAft>
            </a:pPr>
            <a:r>
              <a:rPr sz="1500" b="0">
                <a:solidFill>
                  <a:srgbClr val="222222"/>
                </a:solidFill>
                <a:latin typeface="맑은 고딕"/>
              </a:rPr>
              <a:t>•  결과 캐시 무효화 과정을 관찰하고 V$RESULT_CACHE_STATISTICS로 건강 상태를 읽는다.</a:t>
            </a:r>
          </a:p>
          <a:p>
            <a:pPr algn="l">
              <a:spcAft>
                <a:spcPts val="600"/>
              </a:spcAft>
            </a:pPr>
            <a:r>
              <a:rPr sz="1500" b="0">
                <a:solidFill>
                  <a:srgbClr val="222222"/>
                </a:solidFill>
                <a:latin typeface="맑은 고딕"/>
              </a:rPr>
              <a:t>•  결과 캐시가 이득인 질의와 손해인 질의를 판별한다(변경 잦은 테이블은 손해).</a:t>
            </a:r>
          </a:p>
          <a:p>
            <a:pPr algn="l">
              <a:spcAft>
                <a:spcPts val="600"/>
              </a:spcAft>
            </a:pPr>
            <a:r>
              <a:rPr sz="1500" b="0">
                <a:solidFill>
                  <a:srgbClr val="222222"/>
                </a:solidFill>
                <a:latin typeface="맑은 고딕"/>
              </a:rPr>
              <a:t>•  PGA 작업 영역의 optimal / one-pass / multi-pass 세 크기를 구분한다.</a:t>
            </a:r>
          </a:p>
          <a:p>
            <a:pPr algn="l">
              <a:spcAft>
                <a:spcPts val="600"/>
              </a:spcAft>
            </a:pPr>
            <a:r>
              <a:rPr sz="1500" b="0">
                <a:solidFill>
                  <a:srgbClr val="222222"/>
                </a:solidFill>
                <a:latin typeface="맑은 고딕"/>
              </a:rPr>
              <a:t>•  V$PGASTAT·V$SQL_WORKAREA_HISTOGRAM으로 작업 영역 분포를 진단한다.</a:t>
            </a:r>
          </a:p>
          <a:p>
            <a:pPr algn="l">
              <a:spcAft>
                <a:spcPts val="600"/>
              </a:spcAft>
            </a:pPr>
            <a:r>
              <a:rPr sz="1500" b="0">
                <a:solidFill>
                  <a:srgbClr val="222222"/>
                </a:solidFill>
                <a:latin typeface="맑은 고딕"/>
              </a:rPr>
              <a:t>•  세션 수준 축소로 1-pass·multi-pass 정렬(디스크 정렬)을 재현한다.</a:t>
            </a:r>
          </a:p>
          <a:p>
            <a:pPr algn="l">
              <a:spcAft>
                <a:spcPts val="600"/>
              </a:spcAft>
            </a:pPr>
            <a:r>
              <a:rPr sz="1500" b="0">
                <a:solidFill>
                  <a:srgbClr val="222222"/>
                </a:solidFill>
                <a:latin typeface="맑은 고딕"/>
              </a:rPr>
              <a:t>•  PGA_AGGREGATE_TARGET(목표)과 PGA_AGGREGATE_LIMIT(한도)의 차이·ORA-04036을 안다.</a:t>
            </a:r>
          </a:p>
        </p:txBody>
      </p:sp>
    </p:spTree>
    <p:extLst>
      <p:ext uri="{BB962C8B-B14F-4D97-AF65-F5344CB8AC3E}">
        <p14:creationId xmlns:p14="http://schemas.microsoft.com/office/powerpoint/2010/main" val="2503994148"/>
      </p:ext>
    </p:extLst>
  </p:cSld>
  <p:clrMapOvr>
    <a:masterClrMapping/>
  </p:clrMapOvr>
</p:sld>
</file>

<file path=ppt/slides/slide1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이 장의 구성 (Agenda)</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600"/>
              </a:spcAft>
            </a:pPr>
            <a:r>
              <a:rPr sz="1600" b="0">
                <a:solidFill>
                  <a:srgbClr val="222222"/>
                </a:solidFill>
                <a:latin typeface="맑은 고딕"/>
              </a:rPr>
              <a:t>•  33.2  결과 캐시란 무엇인가 — 서버·클라이언트</a:t>
            </a:r>
          </a:p>
          <a:p>
            <a:pPr algn="l">
              <a:spcAft>
                <a:spcPts val="600"/>
              </a:spcAft>
            </a:pPr>
            <a:r>
              <a:rPr sz="1600" b="0">
                <a:solidFill>
                  <a:srgbClr val="222222"/>
                </a:solidFill>
                <a:latin typeface="맑은 고딕"/>
              </a:rPr>
              <a:t>•  33.3  활성화와 RESULT_CACHE 힌트 · 요건과 제약</a:t>
            </a:r>
          </a:p>
          <a:p>
            <a:pPr algn="l">
              <a:spcAft>
                <a:spcPts val="600"/>
              </a:spcAft>
            </a:pPr>
            <a:r>
              <a:rPr sz="1600" b="0">
                <a:solidFill>
                  <a:srgbClr val="222222"/>
                </a:solidFill>
                <a:latin typeface="맑은 고딕"/>
              </a:rPr>
              <a:t>•  33.4~33.5  무효화 · 모니터링(V$RESULT_CACHE_STATISTICS)</a:t>
            </a:r>
          </a:p>
          <a:p>
            <a:pPr algn="l">
              <a:spcAft>
                <a:spcPts val="600"/>
              </a:spcAft>
            </a:pPr>
            <a:r>
              <a:rPr sz="1600" b="0">
                <a:solidFill>
                  <a:srgbClr val="222222"/>
                </a:solidFill>
                <a:latin typeface="맑은 고딕"/>
              </a:rPr>
              <a:t>•  33.6  적용 부적합 판별 — 변경 잦은 테이블은 손해</a:t>
            </a:r>
          </a:p>
          <a:p>
            <a:pPr algn="l">
              <a:spcAft>
                <a:spcPts val="600"/>
              </a:spcAft>
            </a:pPr>
            <a:r>
              <a:rPr sz="1600" b="0">
                <a:solidFill>
                  <a:srgbClr val="222222"/>
                </a:solidFill>
                <a:latin typeface="맑은 고딕"/>
              </a:rPr>
              <a:t>•  33.7~33.8  PGA 작업 영역 · optimal/one-pass/multi-pass</a:t>
            </a:r>
          </a:p>
          <a:p>
            <a:pPr algn="l">
              <a:spcAft>
                <a:spcPts val="600"/>
              </a:spcAft>
            </a:pPr>
            <a:r>
              <a:rPr sz="1600" b="0">
                <a:solidFill>
                  <a:srgbClr val="222222"/>
                </a:solidFill>
                <a:latin typeface="맑은 고딕"/>
              </a:rPr>
              <a:t>•  33.9  PGA 모니터링 — V$PGASTAT·작업 영역 히스토그램</a:t>
            </a:r>
          </a:p>
          <a:p>
            <a:pPr algn="l">
              <a:spcAft>
                <a:spcPts val="600"/>
              </a:spcAft>
            </a:pPr>
            <a:r>
              <a:rPr sz="1600" b="0">
                <a:solidFill>
                  <a:srgbClr val="222222"/>
                </a:solidFill>
                <a:latin typeface="맑은 고딕"/>
              </a:rPr>
              <a:t>•  33.10  1-pass·multi-pass 정렬 재현(세션 수준 축소)</a:t>
            </a:r>
          </a:p>
          <a:p>
            <a:pPr algn="l">
              <a:spcAft>
                <a:spcPts val="600"/>
              </a:spcAft>
            </a:pPr>
            <a:r>
              <a:rPr sz="1600" b="0">
                <a:solidFill>
                  <a:srgbClr val="222222"/>
                </a:solidFill>
                <a:latin typeface="맑은 고딕"/>
              </a:rPr>
              <a:t>•  33.11  PGA_AGGREGATE_LIMIT — 절대 한도와 ORA-04036</a:t>
            </a:r>
          </a:p>
        </p:txBody>
      </p:sp>
    </p:spTree>
    <p:extLst>
      <p:ext uri="{BB962C8B-B14F-4D97-AF65-F5344CB8AC3E}">
        <p14:creationId xmlns:p14="http://schemas.microsoft.com/office/powerpoint/2010/main" val="2330095801"/>
      </p:ext>
    </p:extLst>
  </p:cSld>
  <p:clrMapOvr>
    <a:masterClrMapping/>
  </p:clrMapOvr>
</p:sld>
</file>

<file path=ppt/slides/slide1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왜 결과 캐시와 PGA인가</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ch33의 두 문장</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같은 공유 풀 안, 성격이 정반대인 두 메모리를 다룬다</a:t>
            </a:r>
          </a:p>
          <a:p>
            <a:pPr algn="l">
              <a:spcAft>
                <a:spcPts val="600"/>
              </a:spcAft>
            </a:pPr>
            <a:r>
              <a:rPr sz="1700" b="0">
                <a:solidFill>
                  <a:srgbClr val="222222"/>
                </a:solidFill>
                <a:latin typeface="맑은 고딕"/>
              </a:rPr>
              <a:t>•  결과 캐시 = 공유되는 '질의 결과' 캐시(재계산 제거)</a:t>
            </a:r>
          </a:p>
          <a:p>
            <a:pPr algn="l">
              <a:spcAft>
                <a:spcPts val="600"/>
              </a:spcAft>
            </a:pPr>
            <a:r>
              <a:rPr sz="1700" b="0">
                <a:solidFill>
                  <a:srgbClr val="222222"/>
                </a:solidFill>
                <a:latin typeface="맑은 고딕"/>
              </a:rPr>
              <a:t>•  PGA = 서버 프로세스의 사적 작업 공간(정렬·해시)</a:t>
            </a:r>
          </a:p>
          <a:p>
            <a:pPr algn="l">
              <a:spcAft>
                <a:spcPts val="600"/>
              </a:spcAft>
            </a:pPr>
            <a:r>
              <a:rPr sz="1700" b="0">
                <a:solidFill>
                  <a:srgbClr val="222222"/>
                </a:solidFill>
                <a:latin typeface="맑은 고딕"/>
              </a:rPr>
              <a:t>•  결과 캐시: 읽기 위주·소량 반환·반복 호출에서만 이득</a:t>
            </a:r>
          </a:p>
          <a:p>
            <a:pPr algn="l">
              <a:spcAft>
                <a:spcPts val="600"/>
              </a:spcAft>
            </a:pPr>
            <a:r>
              <a:rPr sz="1700" b="0">
                <a:solidFill>
                  <a:srgbClr val="222222"/>
                </a:solidFill>
                <a:latin typeface="맑은 고딕"/>
              </a:rPr>
              <a:t>•  PGA: 작업 영역이 optimal로 도느냐가 전부</a:t>
            </a:r>
          </a:p>
          <a:p>
            <a:pPr algn="l">
              <a:spcAft>
                <a:spcPts val="600"/>
              </a:spcAft>
            </a:pPr>
            <a:r>
              <a:rPr sz="1700" b="0">
                <a:solidFill>
                  <a:srgbClr val="222222"/>
                </a:solidFill>
                <a:latin typeface="맑은 고딕"/>
              </a:rPr>
              <a:t>•  실측 orcl 19.3 — PGA 700M, 디스크 정렬 0인 '건강한 기본 상태'</a:t>
            </a:r>
          </a:p>
        </p:txBody>
      </p:sp>
    </p:spTree>
    <p:extLst>
      <p:ext uri="{BB962C8B-B14F-4D97-AF65-F5344CB8AC3E}">
        <p14:creationId xmlns:p14="http://schemas.microsoft.com/office/powerpoint/2010/main" val="1819904386"/>
      </p:ext>
    </p:extLst>
  </p:cSld>
  <p:clrMapOvr>
    <a:masterClrMapping/>
  </p:clrMapOvr>
</p:sld>
</file>

<file path=ppt/slides/slide1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33.2</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결과 캐시란 무엇인가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400"/>
              </a:spcAft>
            </a:pPr>
            <a:r>
              <a:rPr sz="1600" b="0">
                <a:solidFill>
                  <a:srgbClr val="FFFFFF"/>
                </a:solidFill>
                <a:latin typeface="맑은 고딕"/>
              </a:rPr>
              <a:t>•  서버 결과 캐시 — 공유 풀 안의 메모리 풀</a:t>
            </a:r>
          </a:p>
          <a:p>
            <a:pPr algn="l">
              <a:spcAft>
                <a:spcPts val="400"/>
              </a:spcAft>
            </a:pPr>
            <a:r>
              <a:rPr sz="1600" b="0">
                <a:solidFill>
                  <a:srgbClr val="FFFFFF"/>
                </a:solidFill>
                <a:latin typeface="맑은 고딕"/>
              </a:rPr>
              <a:t>•  클라이언트 결과 캐시 — OCI 클라이언트 메모리</a:t>
            </a:r>
          </a:p>
          <a:p>
            <a:pPr algn="l">
              <a:spcAft>
                <a:spcPts val="400"/>
              </a:spcAft>
            </a:pPr>
            <a:r>
              <a:rPr sz="1600" b="0">
                <a:solidFill>
                  <a:srgbClr val="FFFFFF"/>
                </a:solidFill>
                <a:latin typeface="맑은 고딕"/>
              </a:rPr>
              <a:t>•  실행계획의 RESULT CACHE 연산으로 확인</a:t>
            </a:r>
          </a:p>
        </p:txBody>
      </p:sp>
    </p:spTree>
    <p:extLst>
      <p:ext uri="{BB962C8B-B14F-4D97-AF65-F5344CB8AC3E}">
        <p14:creationId xmlns:p14="http://schemas.microsoft.com/office/powerpoint/2010/main" val="4220632636"/>
      </p:ext>
    </p:extLst>
  </p:cSld>
  <p:clrMapOvr>
    <a:masterClrMapping/>
  </p:clrMapOvr>
</p:sld>
</file>

<file path=ppt/slides/slide1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세 가지 캐시, 서로 다른 층위</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무엇을 저장해 무엇을 아끼는가</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버퍼 캐시(ch31): '데이터 블록' 저장 → 물리 I/O 절감</a:t>
            </a:r>
          </a:p>
          <a:p>
            <a:pPr algn="l">
              <a:spcAft>
                <a:spcPts val="600"/>
              </a:spcAft>
            </a:pPr>
            <a:r>
              <a:rPr sz="1700" b="0">
                <a:solidFill>
                  <a:srgbClr val="222222"/>
                </a:solidFill>
                <a:latin typeface="맑은 고딕"/>
              </a:rPr>
              <a:t>•  라이브러리 캐시(ch32): '실행계획' 저장 → 하드 파싱 절감</a:t>
            </a:r>
          </a:p>
          <a:p>
            <a:pPr algn="l">
              <a:spcAft>
                <a:spcPts val="600"/>
              </a:spcAft>
            </a:pPr>
            <a:r>
              <a:rPr sz="1700" b="0">
                <a:solidFill>
                  <a:srgbClr val="222222"/>
                </a:solidFill>
                <a:latin typeface="맑은 고딕"/>
              </a:rPr>
              <a:t>•  결과 캐시(ch33): '질의의 최종 결과' 저장 → 실행 자체 제거</a:t>
            </a:r>
          </a:p>
          <a:p>
            <a:pPr algn="l">
              <a:spcAft>
                <a:spcPts val="600"/>
              </a:spcAft>
            </a:pPr>
            <a:r>
              <a:rPr sz="1700" b="0">
                <a:solidFill>
                  <a:srgbClr val="222222"/>
                </a:solidFill>
                <a:latin typeface="맑은 고딕"/>
              </a:rPr>
              <a:t>•  결과 캐시가 이득이 가장 크다 — 히트하면 실행 단계 생략</a:t>
            </a:r>
          </a:p>
          <a:p>
            <a:pPr algn="l">
              <a:spcAft>
                <a:spcPts val="600"/>
              </a:spcAft>
            </a:pPr>
            <a:r>
              <a:rPr sz="1700" b="0">
                <a:solidFill>
                  <a:srgbClr val="222222"/>
                </a:solidFill>
                <a:latin typeface="맑은 고딕"/>
              </a:rPr>
              <a:t>•  그만큼 '기반 데이터가 안 바뀐다'는 조건이 까다롭다</a:t>
            </a:r>
          </a:p>
          <a:p>
            <a:pPr algn="l">
              <a:spcAft>
                <a:spcPts val="600"/>
              </a:spcAft>
            </a:pPr>
            <a:r>
              <a:rPr sz="1700" b="0">
                <a:solidFill>
                  <a:srgbClr val="222222"/>
                </a:solidFill>
                <a:latin typeface="맑은 고딕"/>
              </a:rPr>
              <a:t>•  서버 캐시=공유 풀 / 클라이언트 캐시=OCI 프로세스 메모리(별개)</a:t>
            </a:r>
          </a:p>
        </p:txBody>
      </p:sp>
    </p:spTree>
    <p:extLst>
      <p:ext uri="{BB962C8B-B14F-4D97-AF65-F5344CB8AC3E}">
        <p14:creationId xmlns:p14="http://schemas.microsoft.com/office/powerpoint/2010/main" val="799220391"/>
      </p:ext>
    </p:extLst>
  </p:cSld>
  <p:clrMapOvr>
    <a:masterClrMapping/>
  </p:clrMapOvr>
</p:sld>
</file>

<file path=ppt/slides/slide1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실행계획에서 결과 캐시 확인</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RESULT_CACHE 힌트와 RESULT CACHE 연산</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09728" rtlCol="0" anchor="t"/>
          <a:lstStyle/>
          <a:p>
            <a:pPr>
              <a:spcBef>
                <a:spcPts val="0"/>
              </a:spcBef>
              <a:spcAft>
                <a:spcPts val="0"/>
              </a:spcAft>
            </a:pPr>
            <a:r>
              <a:rPr sz="1250" dirty="0">
                <a:solidFill>
                  <a:srgbClr val="F2F2F2"/>
                </a:solidFill>
                <a:latin typeface="Consolas"/>
              </a:rPr>
              <a:t>SELECT /*+ RESULT_CACHE */ </a:t>
            </a:r>
            <a:r>
              <a:rPr sz="1250" dirty="0" err="1">
                <a:solidFill>
                  <a:srgbClr val="F2F2F2"/>
                </a:solidFill>
                <a:latin typeface="Consolas"/>
              </a:rPr>
              <a:t>department_id</a:t>
            </a:r>
            <a:r>
              <a:rPr sz="1250" dirty="0">
                <a:solidFill>
                  <a:srgbClr val="F2F2F2"/>
                </a:solidFill>
                <a:latin typeface="Consolas"/>
              </a:rPr>
              <a:t>, AVG(salary)</a:t>
            </a:r>
          </a:p>
          <a:p>
            <a:pPr>
              <a:spcBef>
                <a:spcPts val="0"/>
              </a:spcBef>
              <a:spcAft>
                <a:spcPts val="0"/>
              </a:spcAft>
            </a:pPr>
            <a:r>
              <a:rPr sz="1250" dirty="0">
                <a:solidFill>
                  <a:srgbClr val="F2F2F2"/>
                </a:solidFill>
                <a:latin typeface="Consolas"/>
              </a:rPr>
              <a:t>  FROM </a:t>
            </a:r>
            <a:r>
              <a:rPr sz="1250" dirty="0" err="1">
                <a:solidFill>
                  <a:srgbClr val="F2F2F2"/>
                </a:solidFill>
                <a:latin typeface="Consolas"/>
              </a:rPr>
              <a:t>hr.employees</a:t>
            </a:r>
            <a:endParaRPr sz="1250" dirty="0">
              <a:solidFill>
                <a:srgbClr val="F2F2F2"/>
              </a:solidFill>
              <a:latin typeface="Consolas"/>
            </a:endParaRPr>
          </a:p>
          <a:p>
            <a:pPr>
              <a:spcBef>
                <a:spcPts val="0"/>
              </a:spcBef>
              <a:spcAft>
                <a:spcPts val="0"/>
              </a:spcAft>
            </a:pPr>
            <a:r>
              <a:rPr sz="1250" dirty="0">
                <a:solidFill>
                  <a:srgbClr val="F2F2F2"/>
                </a:solidFill>
                <a:latin typeface="Consolas"/>
              </a:rPr>
              <a:t> GROUP BY </a:t>
            </a:r>
            <a:r>
              <a:rPr sz="1250" dirty="0" err="1">
                <a:solidFill>
                  <a:srgbClr val="F2F2F2"/>
                </a:solidFill>
                <a:latin typeface="Consolas"/>
              </a:rPr>
              <a:t>department_id</a:t>
            </a:r>
            <a:r>
              <a:rPr sz="1250" dirty="0">
                <a:solidFill>
                  <a:srgbClr val="F2F2F2"/>
                </a:solidFill>
                <a:latin typeface="Consolas"/>
              </a:rPr>
              <a:t>;</a:t>
            </a:r>
          </a:p>
          <a:p>
            <a:pPr>
              <a:spcBef>
                <a:spcPts val="0"/>
              </a:spcBef>
              <a:spcAft>
                <a:spcPts val="0"/>
              </a:spcAft>
            </a:pPr>
            <a:r>
              <a:rPr sz="1250" dirty="0">
                <a:solidFill>
                  <a:srgbClr val="F2F2F2"/>
                </a:solidFill>
                <a:latin typeface="Consolas"/>
              </a:rPr>
              <a:t> </a:t>
            </a:r>
          </a:p>
          <a:p>
            <a:pPr>
              <a:spcBef>
                <a:spcPts val="0"/>
              </a:spcBef>
              <a:spcAft>
                <a:spcPts val="0"/>
              </a:spcAft>
            </a:pPr>
            <a:r>
              <a:rPr sz="1250" dirty="0">
                <a:solidFill>
                  <a:srgbClr val="F2F2F2"/>
                </a:solidFill>
                <a:latin typeface="Consolas"/>
              </a:rPr>
              <a:t>-----------------------------------------------------------</a:t>
            </a:r>
          </a:p>
          <a:p>
            <a:pPr>
              <a:spcBef>
                <a:spcPts val="0"/>
              </a:spcBef>
              <a:spcAft>
                <a:spcPts val="0"/>
              </a:spcAft>
            </a:pPr>
            <a:r>
              <a:rPr sz="1250" dirty="0">
                <a:solidFill>
                  <a:srgbClr val="F2F2F2"/>
                </a:solidFill>
                <a:latin typeface="Consolas"/>
              </a:rPr>
              <a:t>| Id | Operation           | Name                       |</a:t>
            </a:r>
          </a:p>
          <a:p>
            <a:pPr>
              <a:spcBef>
                <a:spcPts val="0"/>
              </a:spcBef>
              <a:spcAft>
                <a:spcPts val="0"/>
              </a:spcAft>
            </a:pPr>
            <a:r>
              <a:rPr sz="1250" dirty="0">
                <a:solidFill>
                  <a:srgbClr val="F2F2F2"/>
                </a:solidFill>
                <a:latin typeface="Consolas"/>
              </a:rPr>
              <a:t>-----------------------------------------------------------</a:t>
            </a:r>
          </a:p>
          <a:p>
            <a:pPr>
              <a:spcBef>
                <a:spcPts val="0"/>
              </a:spcBef>
              <a:spcAft>
                <a:spcPts val="0"/>
              </a:spcAft>
            </a:pPr>
            <a:r>
              <a:rPr sz="1250" dirty="0">
                <a:solidFill>
                  <a:srgbClr val="F2F2F2"/>
                </a:solidFill>
                <a:latin typeface="Consolas"/>
              </a:rPr>
              <a:t>|  0 | SELECT STATEMENT    |                            |</a:t>
            </a:r>
          </a:p>
          <a:p>
            <a:pPr>
              <a:spcBef>
                <a:spcPts val="0"/>
              </a:spcBef>
              <a:spcAft>
                <a:spcPts val="0"/>
              </a:spcAft>
            </a:pPr>
            <a:r>
              <a:rPr sz="1250" dirty="0">
                <a:solidFill>
                  <a:srgbClr val="F2F2F2"/>
                </a:solidFill>
                <a:latin typeface="Consolas"/>
              </a:rPr>
              <a:t>|  1 |  RESULT CACHE       | 8fpza04gtwsfr6n595au15yj4y |  &lt;= </a:t>
            </a:r>
            <a:r>
              <a:rPr sz="1250" dirty="0" err="1">
                <a:solidFill>
                  <a:srgbClr val="F2F2F2"/>
                </a:solidFill>
                <a:latin typeface="Consolas"/>
              </a:rPr>
              <a:t>여기</a:t>
            </a:r>
            <a:endParaRPr sz="1250" dirty="0">
              <a:solidFill>
                <a:srgbClr val="F2F2F2"/>
              </a:solidFill>
              <a:latin typeface="Consolas"/>
            </a:endParaRPr>
          </a:p>
          <a:p>
            <a:pPr>
              <a:spcBef>
                <a:spcPts val="0"/>
              </a:spcBef>
              <a:spcAft>
                <a:spcPts val="0"/>
              </a:spcAft>
            </a:pPr>
            <a:r>
              <a:rPr sz="1250" dirty="0">
                <a:solidFill>
                  <a:srgbClr val="F2F2F2"/>
                </a:solidFill>
                <a:latin typeface="Consolas"/>
              </a:rPr>
              <a:t>|  2 |   HASH GROUP BY     |                            |</a:t>
            </a:r>
          </a:p>
          <a:p>
            <a:pPr>
              <a:spcBef>
                <a:spcPts val="0"/>
              </a:spcBef>
              <a:spcAft>
                <a:spcPts val="0"/>
              </a:spcAft>
            </a:pPr>
            <a:r>
              <a:rPr sz="1250" dirty="0">
                <a:solidFill>
                  <a:srgbClr val="F2F2F2"/>
                </a:solidFill>
                <a:latin typeface="Consolas"/>
              </a:rPr>
              <a:t>|  3 |    TABLE ACCESS FULL| EMPLOYEES                  |</a:t>
            </a:r>
          </a:p>
          <a:p>
            <a:pPr>
              <a:spcBef>
                <a:spcPts val="0"/>
              </a:spcBef>
              <a:spcAft>
                <a:spcPts val="0"/>
              </a:spcAft>
            </a:pPr>
            <a:r>
              <a:rPr sz="1250" dirty="0">
                <a:solidFill>
                  <a:srgbClr val="F2F2F2"/>
                </a:solidFill>
                <a:latin typeface="Consolas"/>
              </a:rPr>
              <a:t>-----------------------------------------------------------</a:t>
            </a:r>
          </a:p>
        </p:txBody>
      </p:sp>
    </p:spTree>
    <p:extLst>
      <p:ext uri="{BB962C8B-B14F-4D97-AF65-F5344CB8AC3E}">
        <p14:creationId xmlns:p14="http://schemas.microsoft.com/office/powerpoint/2010/main" val="2811650165"/>
      </p:ext>
    </p:extLst>
  </p:cSld>
  <p:clrMapOvr>
    <a:masterClrMapping/>
  </p:clrMapOvr>
</p:sld>
</file>

<file path=ppt/slides/slide1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클라이언트 결과 캐시 — OCI 프로세스 안</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서버 캐시와 완전히 별개</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클라이언트 프로세스 안의 메모리 — 그 프로세스 세션들이 공유</a:t>
            </a:r>
          </a:p>
          <a:p>
            <a:pPr algn="l">
              <a:spcAft>
                <a:spcPts val="600"/>
              </a:spcAft>
            </a:pPr>
            <a:r>
              <a:rPr sz="1700" b="0">
                <a:solidFill>
                  <a:srgbClr val="222222"/>
                </a:solidFill>
                <a:latin typeface="맑은 고딕"/>
              </a:rPr>
              <a:t>•  OCCI·JDBC OCI 드라이버·ODP.NET 지원</a:t>
            </a:r>
          </a:p>
          <a:p>
            <a:pPr algn="l">
              <a:spcAft>
                <a:spcPts val="600"/>
              </a:spcAft>
            </a:pPr>
            <a:r>
              <a:rPr sz="1700" b="0">
                <a:solidFill>
                  <a:srgbClr val="222222"/>
                </a:solidFill>
                <a:latin typeface="맑은 고딕"/>
              </a:rPr>
              <a:t>•  이점 ① 서버 왕복 없이 응답 → 응답시간↓</a:t>
            </a:r>
          </a:p>
          <a:p>
            <a:pPr algn="l">
              <a:spcAft>
                <a:spcPts val="600"/>
              </a:spcAft>
            </a:pPr>
            <a:r>
              <a:rPr sz="1700" b="0">
                <a:solidFill>
                  <a:srgbClr val="222222"/>
                </a:solidFill>
                <a:latin typeface="맑은 고딕"/>
              </a:rPr>
              <a:t>•  이점 ② 서버 CPU·I/O 절약 → 확장성↑ / ③ 값싼 클라이언트 메모리</a:t>
            </a:r>
          </a:p>
          <a:p>
            <a:pPr algn="l">
              <a:spcAft>
                <a:spcPts val="600"/>
              </a:spcAft>
            </a:pPr>
            <a:r>
              <a:rPr sz="1700" b="0">
                <a:solidFill>
                  <a:srgbClr val="222222"/>
                </a:solidFill>
                <a:latin typeface="맑은 고딕"/>
              </a:rPr>
              <a:t>•  활성화: CLIENT_RESULT_CACHE_SIZE ≥ 32768바이트(기본 0=비활성)</a:t>
            </a:r>
          </a:p>
          <a:p>
            <a:pPr algn="l">
              <a:spcAft>
                <a:spcPts val="600"/>
              </a:spcAft>
            </a:pPr>
            <a:r>
              <a:rPr sz="1700" b="0">
                <a:solidFill>
                  <a:srgbClr val="222222"/>
                </a:solidFill>
                <a:latin typeface="맑은 고딕"/>
              </a:rPr>
              <a:t>•  서버가 변경 감지 시 다음 왕복에 무효화 전송 → 일관성 유지</a:t>
            </a:r>
          </a:p>
        </p:txBody>
      </p:sp>
    </p:spTree>
    <p:extLst>
      <p:ext uri="{BB962C8B-B14F-4D97-AF65-F5344CB8AC3E}">
        <p14:creationId xmlns:p14="http://schemas.microsoft.com/office/powerpoint/2010/main" val="9171054"/>
      </p:ext>
    </p:extLst>
  </p:cSld>
  <p:clrMapOvr>
    <a:masterClrMapping/>
  </p:clrMapOvr>
</p:sld>
</file>

<file path=ppt/slides/slide1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33.3</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활성화와 RESULT_CACHE 힌트</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400"/>
              </a:spcAft>
            </a:pPr>
            <a:r>
              <a:rPr sz="1600" b="0">
                <a:solidFill>
                  <a:srgbClr val="FFFFFF"/>
                </a:solidFill>
                <a:latin typeface="맑은 고딕"/>
              </a:rPr>
              <a:t>•  결과 캐시 모드 — MANUAL(기본·권장) vs FORCE</a:t>
            </a:r>
          </a:p>
          <a:p>
            <a:pPr algn="l">
              <a:spcAft>
                <a:spcPts val="400"/>
              </a:spcAft>
            </a:pPr>
            <a:r>
              <a:rPr sz="1600" b="0">
                <a:solidFill>
                  <a:srgbClr val="FFFFFF"/>
                </a:solidFill>
                <a:latin typeface="맑은 고딕"/>
              </a:rPr>
              <a:t>•  우선순위 — 힌트 &gt; 테이블 주석 &gt; 모드</a:t>
            </a:r>
          </a:p>
          <a:p>
            <a:pPr algn="l">
              <a:spcAft>
                <a:spcPts val="400"/>
              </a:spcAft>
            </a:pPr>
            <a:r>
              <a:rPr sz="1600" b="0">
                <a:solidFill>
                  <a:srgbClr val="FFFFFF"/>
                </a:solidFill>
                <a:latin typeface="맑은 고딕"/>
              </a:rPr>
              <a:t>•  요건과 제약 · DRUG_MASTER가 좋은 후보인 이유</a:t>
            </a:r>
          </a:p>
        </p:txBody>
      </p:sp>
    </p:spTree>
    <p:extLst>
      <p:ext uri="{BB962C8B-B14F-4D97-AF65-F5344CB8AC3E}">
        <p14:creationId xmlns:p14="http://schemas.microsoft.com/office/powerpoint/2010/main" val="4215404856"/>
      </p:ext>
    </p:extLst>
  </p:cSld>
  <p:clrMapOvr>
    <a:masterClrMapping/>
  </p:clrMapOvr>
</p:sld>
</file>

<file path=ppt/slides/slide1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결과 캐시 모드 — MANUAL이 기본이자 정답</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RESULT_CACHE_MODE</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MANUAL: 힌트·테이블 주석으로 명시한 결과만 캐시(기본·권장)</a:t>
            </a:r>
          </a:p>
          <a:p>
            <a:pPr algn="l">
              <a:spcAft>
                <a:spcPts val="600"/>
              </a:spcAft>
            </a:pPr>
            <a:r>
              <a:rPr sz="1700" b="0">
                <a:solidFill>
                  <a:srgbClr val="222222"/>
                </a:solidFill>
                <a:latin typeface="맑은 고딕"/>
              </a:rPr>
              <a:t>•  FORCE: 모든 결과를 캐시 시도 → NO_RESULT_CACHE로만 제외</a:t>
            </a:r>
          </a:p>
          <a:p>
            <a:pPr algn="l">
              <a:spcAft>
                <a:spcPts val="600"/>
              </a:spcAft>
            </a:pPr>
            <a:r>
              <a:rPr sz="1700" b="0">
                <a:solidFill>
                  <a:srgbClr val="222222"/>
                </a:solidFill>
                <a:latin typeface="맑은 고딕"/>
              </a:rPr>
              <a:t>•  실측: result_cache_mode = MANUAL (기본)</a:t>
            </a:r>
          </a:p>
          <a:p>
            <a:pPr algn="l">
              <a:spcAft>
                <a:spcPts val="600"/>
              </a:spcAft>
            </a:pPr>
            <a:r>
              <a:rPr sz="1700" b="0">
                <a:solidFill>
                  <a:srgbClr val="222222"/>
                </a:solidFill>
                <a:latin typeface="맑은 고딕"/>
              </a:rPr>
              <a:t>•  FORCE 비권장 ① 모든 질의 캐시 시도 → 래치·성능 오버헤드</a:t>
            </a:r>
          </a:p>
          <a:p>
            <a:pPr algn="l">
              <a:spcAft>
                <a:spcPts val="600"/>
              </a:spcAft>
            </a:pPr>
            <a:r>
              <a:rPr sz="1700" b="0">
                <a:solidFill>
                  <a:srgbClr val="222222"/>
                </a:solidFill>
                <a:latin typeface="맑은 고딕"/>
              </a:rPr>
              <a:t>•  FORCE 비권장 ② 비결정적 함수까지 캐시 → 낡은 결과 위험</a:t>
            </a:r>
          </a:p>
          <a:p>
            <a:pPr algn="l">
              <a:spcAft>
                <a:spcPts val="600"/>
              </a:spcAft>
            </a:pPr>
            <a:r>
              <a:rPr sz="1700" b="0">
                <a:solidFill>
                  <a:srgbClr val="222222"/>
                </a:solidFill>
                <a:latin typeface="맑은 고딕"/>
              </a:rPr>
              <a:t>•  '캐시가 좋다니 전부 켜자'가 정확히 이 함정</a:t>
            </a:r>
          </a:p>
        </p:txBody>
      </p:sp>
    </p:spTree>
    <p:extLst>
      <p:ext uri="{BB962C8B-B14F-4D97-AF65-F5344CB8AC3E}">
        <p14:creationId xmlns:p14="http://schemas.microsoft.com/office/powerpoint/2010/main" val="1794520217"/>
      </p:ext>
    </p:extLst>
  </p:cSld>
  <p:clrMapOvr>
    <a:masterClrMapping/>
  </p:clrMapOvr>
</p:sld>
</file>

<file path=ppt/slides/slide12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우선순위: 힌트 &gt; 테이블 주석 &gt; 모드</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같은 테이블도 질의별로 캐시 여부를 뒤집는다</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09728" rtlCol="0" anchor="t"/>
          <a:lstStyle/>
          <a:p>
            <a:pPr>
              <a:spcBef>
                <a:spcPts val="0"/>
              </a:spcBef>
              <a:spcAft>
                <a:spcPts val="0"/>
              </a:spcAft>
            </a:pPr>
            <a:r>
              <a:rPr sz="1250" dirty="0">
                <a:solidFill>
                  <a:srgbClr val="F2F2F2"/>
                </a:solidFill>
                <a:latin typeface="Consolas"/>
              </a:rPr>
              <a:t>-- </a:t>
            </a:r>
            <a:r>
              <a:rPr sz="1250" dirty="0" err="1">
                <a:solidFill>
                  <a:srgbClr val="F2F2F2"/>
                </a:solidFill>
                <a:latin typeface="Consolas"/>
              </a:rPr>
              <a:t>테이블</a:t>
            </a:r>
            <a:r>
              <a:rPr sz="1250" dirty="0">
                <a:solidFill>
                  <a:srgbClr val="F2F2F2"/>
                </a:solidFill>
                <a:latin typeface="Consolas"/>
              </a:rPr>
              <a:t> </a:t>
            </a:r>
            <a:r>
              <a:rPr sz="1250" dirty="0" err="1">
                <a:solidFill>
                  <a:srgbClr val="F2F2F2"/>
                </a:solidFill>
                <a:latin typeface="Consolas"/>
              </a:rPr>
              <a:t>주석</a:t>
            </a:r>
            <a:r>
              <a:rPr sz="1250" dirty="0">
                <a:solidFill>
                  <a:srgbClr val="F2F2F2"/>
                </a:solidFill>
                <a:latin typeface="Consolas"/>
              </a:rPr>
              <a:t>: 이 </a:t>
            </a:r>
            <a:r>
              <a:rPr sz="1250" dirty="0" err="1">
                <a:solidFill>
                  <a:srgbClr val="F2F2F2"/>
                </a:solidFill>
                <a:latin typeface="Consolas"/>
              </a:rPr>
              <a:t>테이블</a:t>
            </a:r>
            <a:r>
              <a:rPr sz="1250" dirty="0">
                <a:solidFill>
                  <a:srgbClr val="F2F2F2"/>
                </a:solidFill>
                <a:latin typeface="Consolas"/>
              </a:rPr>
              <a:t> </a:t>
            </a:r>
            <a:r>
              <a:rPr sz="1250" dirty="0" err="1">
                <a:solidFill>
                  <a:srgbClr val="F2F2F2"/>
                </a:solidFill>
                <a:latin typeface="Consolas"/>
              </a:rPr>
              <a:t>질의는</a:t>
            </a:r>
            <a:r>
              <a:rPr sz="1250" dirty="0">
                <a:solidFill>
                  <a:srgbClr val="F2F2F2"/>
                </a:solidFill>
                <a:latin typeface="Consolas"/>
              </a:rPr>
              <a:t> </a:t>
            </a:r>
            <a:r>
              <a:rPr sz="1250" dirty="0" err="1">
                <a:solidFill>
                  <a:srgbClr val="F2F2F2"/>
                </a:solidFill>
                <a:latin typeface="Consolas"/>
              </a:rPr>
              <a:t>캐시</a:t>
            </a:r>
            <a:r>
              <a:rPr sz="1250" dirty="0">
                <a:solidFill>
                  <a:srgbClr val="F2F2F2"/>
                </a:solidFill>
                <a:latin typeface="Consolas"/>
              </a:rPr>
              <a:t> </a:t>
            </a:r>
            <a:r>
              <a:rPr sz="1250" dirty="0" err="1">
                <a:solidFill>
                  <a:srgbClr val="F2F2F2"/>
                </a:solidFill>
                <a:latin typeface="Consolas"/>
              </a:rPr>
              <a:t>대상으로</a:t>
            </a:r>
            <a:r>
              <a:rPr sz="1250" dirty="0">
                <a:solidFill>
                  <a:srgbClr val="F2F2F2"/>
                </a:solidFill>
                <a:latin typeface="Consolas"/>
              </a:rPr>
              <a:t> </a:t>
            </a:r>
            <a:r>
              <a:rPr sz="1250" dirty="0" err="1">
                <a:solidFill>
                  <a:srgbClr val="F2F2F2"/>
                </a:solidFill>
                <a:latin typeface="Consolas"/>
              </a:rPr>
              <a:t>강제</a:t>
            </a:r>
            <a:endParaRPr sz="1250" dirty="0">
              <a:solidFill>
                <a:srgbClr val="F2F2F2"/>
              </a:solidFill>
              <a:latin typeface="Consolas"/>
            </a:endParaRPr>
          </a:p>
          <a:p>
            <a:pPr>
              <a:spcBef>
                <a:spcPts val="0"/>
              </a:spcBef>
              <a:spcAft>
                <a:spcPts val="0"/>
              </a:spcAft>
            </a:pPr>
            <a:r>
              <a:rPr sz="1250" dirty="0">
                <a:solidFill>
                  <a:srgbClr val="F2F2F2"/>
                </a:solidFill>
                <a:latin typeface="Consolas"/>
              </a:rPr>
              <a:t>ALTER TABLE </a:t>
            </a:r>
            <a:r>
              <a:rPr sz="1250" dirty="0" err="1">
                <a:solidFill>
                  <a:srgbClr val="F2F2F2"/>
                </a:solidFill>
                <a:latin typeface="Consolas"/>
              </a:rPr>
              <a:t>drug_master</a:t>
            </a:r>
            <a:r>
              <a:rPr sz="1250" dirty="0">
                <a:solidFill>
                  <a:srgbClr val="F2F2F2"/>
                </a:solidFill>
                <a:latin typeface="Consolas"/>
              </a:rPr>
              <a:t> RESULT_CACHE (MODE FORCE);</a:t>
            </a:r>
          </a:p>
          <a:p>
            <a:pPr>
              <a:spcBef>
                <a:spcPts val="0"/>
              </a:spcBef>
              <a:spcAft>
                <a:spcPts val="0"/>
              </a:spcAft>
            </a:pPr>
            <a:r>
              <a:rPr sz="1250" dirty="0">
                <a:solidFill>
                  <a:srgbClr val="F2F2F2"/>
                </a:solidFill>
                <a:latin typeface="Consolas"/>
              </a:rPr>
              <a:t> </a:t>
            </a:r>
          </a:p>
          <a:p>
            <a:pPr>
              <a:spcBef>
                <a:spcPts val="0"/>
              </a:spcBef>
              <a:spcAft>
                <a:spcPts val="0"/>
              </a:spcAft>
            </a:pPr>
            <a:r>
              <a:rPr sz="1250" dirty="0">
                <a:solidFill>
                  <a:srgbClr val="F2F2F2"/>
                </a:solidFill>
                <a:latin typeface="Consolas"/>
              </a:rPr>
              <a:t>-- </a:t>
            </a:r>
            <a:r>
              <a:rPr sz="1250" dirty="0" err="1">
                <a:solidFill>
                  <a:srgbClr val="F2F2F2"/>
                </a:solidFill>
                <a:latin typeface="Consolas"/>
              </a:rPr>
              <a:t>자주</a:t>
            </a:r>
            <a:r>
              <a:rPr sz="1250" dirty="0">
                <a:solidFill>
                  <a:srgbClr val="F2F2F2"/>
                </a:solidFill>
                <a:latin typeface="Consolas"/>
              </a:rPr>
              <a:t> </a:t>
            </a:r>
            <a:r>
              <a:rPr sz="1250" dirty="0" err="1">
                <a:solidFill>
                  <a:srgbClr val="F2F2F2"/>
                </a:solidFill>
                <a:latin typeface="Consolas"/>
              </a:rPr>
              <a:t>쓰고</a:t>
            </a:r>
            <a:r>
              <a:rPr sz="1250" dirty="0">
                <a:solidFill>
                  <a:srgbClr val="F2F2F2"/>
                </a:solidFill>
                <a:latin typeface="Consolas"/>
              </a:rPr>
              <a:t> </a:t>
            </a:r>
            <a:r>
              <a:rPr sz="1250" dirty="0" err="1">
                <a:solidFill>
                  <a:srgbClr val="F2F2F2"/>
                </a:solidFill>
                <a:latin typeface="Consolas"/>
              </a:rPr>
              <a:t>소량</a:t>
            </a:r>
            <a:r>
              <a:rPr sz="1250" dirty="0">
                <a:solidFill>
                  <a:srgbClr val="F2F2F2"/>
                </a:solidFill>
                <a:latin typeface="Consolas"/>
              </a:rPr>
              <a:t> </a:t>
            </a:r>
            <a:r>
              <a:rPr sz="1250" dirty="0" err="1">
                <a:solidFill>
                  <a:srgbClr val="F2F2F2"/>
                </a:solidFill>
                <a:latin typeface="Consolas"/>
              </a:rPr>
              <a:t>반환</a:t>
            </a:r>
            <a:r>
              <a:rPr sz="1250" dirty="0">
                <a:solidFill>
                  <a:srgbClr val="F2F2F2"/>
                </a:solidFill>
                <a:latin typeface="Consolas"/>
              </a:rPr>
              <a:t> → </a:t>
            </a:r>
            <a:r>
              <a:rPr sz="1250" dirty="0" err="1">
                <a:solidFill>
                  <a:srgbClr val="F2F2F2"/>
                </a:solidFill>
                <a:latin typeface="Consolas"/>
              </a:rPr>
              <a:t>주석</a:t>
            </a:r>
            <a:r>
              <a:rPr sz="1250" dirty="0">
                <a:solidFill>
                  <a:srgbClr val="F2F2F2"/>
                </a:solidFill>
                <a:latin typeface="Consolas"/>
              </a:rPr>
              <a:t> </a:t>
            </a:r>
            <a:r>
              <a:rPr sz="1250" dirty="0" err="1">
                <a:solidFill>
                  <a:srgbClr val="F2F2F2"/>
                </a:solidFill>
                <a:latin typeface="Consolas"/>
              </a:rPr>
              <a:t>덕분에</a:t>
            </a:r>
            <a:r>
              <a:rPr sz="1250" dirty="0">
                <a:solidFill>
                  <a:srgbClr val="F2F2F2"/>
                </a:solidFill>
                <a:latin typeface="Consolas"/>
              </a:rPr>
              <a:t> </a:t>
            </a:r>
            <a:r>
              <a:rPr sz="1250" dirty="0" err="1">
                <a:solidFill>
                  <a:srgbClr val="F2F2F2"/>
                </a:solidFill>
                <a:latin typeface="Consolas"/>
              </a:rPr>
              <a:t>캐시</a:t>
            </a:r>
            <a:r>
              <a:rPr sz="1250" dirty="0">
                <a:solidFill>
                  <a:srgbClr val="F2F2F2"/>
                </a:solidFill>
                <a:latin typeface="Consolas"/>
              </a:rPr>
              <a:t> (</a:t>
            </a:r>
            <a:r>
              <a:rPr sz="1250" dirty="0" err="1">
                <a:solidFill>
                  <a:srgbClr val="F2F2F2"/>
                </a:solidFill>
                <a:latin typeface="Consolas"/>
              </a:rPr>
              <a:t>이득</a:t>
            </a:r>
            <a:r>
              <a:rPr sz="1250" dirty="0">
                <a:solidFill>
                  <a:srgbClr val="F2F2F2"/>
                </a:solidFill>
                <a:latin typeface="Consolas"/>
              </a:rPr>
              <a:t>)</a:t>
            </a:r>
          </a:p>
          <a:p>
            <a:pPr>
              <a:spcBef>
                <a:spcPts val="0"/>
              </a:spcBef>
              <a:spcAft>
                <a:spcPts val="0"/>
              </a:spcAft>
            </a:pPr>
            <a:r>
              <a:rPr sz="1250" dirty="0">
                <a:solidFill>
                  <a:srgbClr val="F2F2F2"/>
                </a:solidFill>
                <a:latin typeface="Consolas"/>
              </a:rPr>
              <a:t>SELECT category, COUNT(*) FROM </a:t>
            </a:r>
            <a:r>
              <a:rPr sz="1250" dirty="0" err="1">
                <a:solidFill>
                  <a:srgbClr val="F2F2F2"/>
                </a:solidFill>
                <a:latin typeface="Consolas"/>
              </a:rPr>
              <a:t>drug_master</a:t>
            </a:r>
            <a:r>
              <a:rPr sz="1250" dirty="0">
                <a:solidFill>
                  <a:srgbClr val="F2F2F2"/>
                </a:solidFill>
                <a:latin typeface="Consolas"/>
              </a:rPr>
              <a:t> GROUP BY category;</a:t>
            </a:r>
          </a:p>
          <a:p>
            <a:pPr>
              <a:spcBef>
                <a:spcPts val="0"/>
              </a:spcBef>
              <a:spcAft>
                <a:spcPts val="0"/>
              </a:spcAft>
            </a:pPr>
            <a:r>
              <a:rPr sz="1250" dirty="0">
                <a:solidFill>
                  <a:srgbClr val="F2F2F2"/>
                </a:solidFill>
                <a:latin typeface="Consolas"/>
              </a:rPr>
              <a:t> </a:t>
            </a:r>
          </a:p>
          <a:p>
            <a:pPr>
              <a:spcBef>
                <a:spcPts val="0"/>
              </a:spcBef>
              <a:spcAft>
                <a:spcPts val="0"/>
              </a:spcAft>
            </a:pPr>
            <a:r>
              <a:rPr sz="1250" dirty="0">
                <a:solidFill>
                  <a:srgbClr val="F2F2F2"/>
                </a:solidFill>
                <a:latin typeface="Consolas"/>
              </a:rPr>
              <a:t>-- </a:t>
            </a:r>
            <a:r>
              <a:rPr sz="1250" dirty="0" err="1">
                <a:solidFill>
                  <a:srgbClr val="F2F2F2"/>
                </a:solidFill>
                <a:latin typeface="Consolas"/>
              </a:rPr>
              <a:t>일회성·대량</a:t>
            </a:r>
            <a:r>
              <a:rPr sz="1250" dirty="0">
                <a:solidFill>
                  <a:srgbClr val="F2F2F2"/>
                </a:solidFill>
                <a:latin typeface="Consolas"/>
              </a:rPr>
              <a:t> </a:t>
            </a:r>
            <a:r>
              <a:rPr sz="1250" dirty="0" err="1">
                <a:solidFill>
                  <a:srgbClr val="F2F2F2"/>
                </a:solidFill>
                <a:latin typeface="Consolas"/>
              </a:rPr>
              <a:t>반환</a:t>
            </a:r>
            <a:r>
              <a:rPr sz="1250" dirty="0">
                <a:solidFill>
                  <a:srgbClr val="F2F2F2"/>
                </a:solidFill>
                <a:latin typeface="Consolas"/>
              </a:rPr>
              <a:t> → </a:t>
            </a:r>
            <a:r>
              <a:rPr sz="1250" dirty="0" err="1">
                <a:solidFill>
                  <a:srgbClr val="F2F2F2"/>
                </a:solidFill>
                <a:latin typeface="Consolas"/>
              </a:rPr>
              <a:t>힌트로</a:t>
            </a:r>
            <a:r>
              <a:rPr sz="1250" dirty="0">
                <a:solidFill>
                  <a:srgbClr val="F2F2F2"/>
                </a:solidFill>
                <a:latin typeface="Consolas"/>
              </a:rPr>
              <a:t> </a:t>
            </a:r>
            <a:r>
              <a:rPr sz="1250" dirty="0" err="1">
                <a:solidFill>
                  <a:srgbClr val="F2F2F2"/>
                </a:solidFill>
                <a:latin typeface="Consolas"/>
              </a:rPr>
              <a:t>캐시</a:t>
            </a:r>
            <a:r>
              <a:rPr sz="1250" dirty="0">
                <a:solidFill>
                  <a:srgbClr val="F2F2F2"/>
                </a:solidFill>
                <a:latin typeface="Consolas"/>
              </a:rPr>
              <a:t> </a:t>
            </a:r>
            <a:r>
              <a:rPr sz="1250" dirty="0" err="1">
                <a:solidFill>
                  <a:srgbClr val="F2F2F2"/>
                </a:solidFill>
                <a:latin typeface="Consolas"/>
              </a:rPr>
              <a:t>제외</a:t>
            </a:r>
            <a:r>
              <a:rPr sz="1250" dirty="0">
                <a:solidFill>
                  <a:srgbClr val="F2F2F2"/>
                </a:solidFill>
                <a:latin typeface="Consolas"/>
              </a:rPr>
              <a:t> (</a:t>
            </a:r>
            <a:r>
              <a:rPr sz="1250" dirty="0" err="1">
                <a:solidFill>
                  <a:srgbClr val="F2F2F2"/>
                </a:solidFill>
                <a:latin typeface="Consolas"/>
              </a:rPr>
              <a:t>힌트가</a:t>
            </a:r>
            <a:r>
              <a:rPr sz="1250" dirty="0">
                <a:solidFill>
                  <a:srgbClr val="F2F2F2"/>
                </a:solidFill>
                <a:latin typeface="Consolas"/>
              </a:rPr>
              <a:t> </a:t>
            </a:r>
            <a:r>
              <a:rPr sz="1250" dirty="0" err="1">
                <a:solidFill>
                  <a:srgbClr val="F2F2F2"/>
                </a:solidFill>
                <a:latin typeface="Consolas"/>
              </a:rPr>
              <a:t>최우선</a:t>
            </a:r>
            <a:r>
              <a:rPr sz="1250" dirty="0">
                <a:solidFill>
                  <a:srgbClr val="F2F2F2"/>
                </a:solidFill>
                <a:latin typeface="Consolas"/>
              </a:rPr>
              <a:t>)</a:t>
            </a:r>
          </a:p>
          <a:p>
            <a:pPr>
              <a:spcBef>
                <a:spcPts val="0"/>
              </a:spcBef>
              <a:spcAft>
                <a:spcPts val="0"/>
              </a:spcAft>
            </a:pPr>
            <a:r>
              <a:rPr sz="1250" dirty="0">
                <a:solidFill>
                  <a:srgbClr val="F2F2F2"/>
                </a:solidFill>
                <a:latin typeface="Consolas"/>
              </a:rPr>
              <a:t>SELECT /*+ NO_RESULT_CACHE */ *</a:t>
            </a:r>
          </a:p>
          <a:p>
            <a:pPr>
              <a:spcBef>
                <a:spcPts val="0"/>
              </a:spcBef>
              <a:spcAft>
                <a:spcPts val="0"/>
              </a:spcAft>
            </a:pPr>
            <a:r>
              <a:rPr sz="1250" dirty="0">
                <a:solidFill>
                  <a:srgbClr val="F2F2F2"/>
                </a:solidFill>
                <a:latin typeface="Consolas"/>
              </a:rPr>
              <a:t>  FROM </a:t>
            </a:r>
            <a:r>
              <a:rPr sz="1250" dirty="0" err="1">
                <a:solidFill>
                  <a:srgbClr val="F2F2F2"/>
                </a:solidFill>
                <a:latin typeface="Consolas"/>
              </a:rPr>
              <a:t>drug_master</a:t>
            </a:r>
            <a:r>
              <a:rPr sz="1250" dirty="0">
                <a:solidFill>
                  <a:srgbClr val="F2F2F2"/>
                </a:solidFill>
                <a:latin typeface="Consolas"/>
              </a:rPr>
              <a:t> ORDER BY </a:t>
            </a:r>
            <a:r>
              <a:rPr sz="1250" dirty="0" err="1">
                <a:solidFill>
                  <a:srgbClr val="F2F2F2"/>
                </a:solidFill>
                <a:latin typeface="Consolas"/>
              </a:rPr>
              <a:t>apply_date</a:t>
            </a:r>
            <a:r>
              <a:rPr sz="1250" dirty="0">
                <a:solidFill>
                  <a:srgbClr val="F2F2F2"/>
                </a:solidFill>
                <a:latin typeface="Consolas"/>
              </a:rPr>
              <a:t> DESC;</a:t>
            </a:r>
          </a:p>
        </p:txBody>
      </p:sp>
    </p:spTree>
    <p:extLst>
      <p:ext uri="{BB962C8B-B14F-4D97-AF65-F5344CB8AC3E}">
        <p14:creationId xmlns:p14="http://schemas.microsoft.com/office/powerpoint/2010/main" val="931151554"/>
      </p:ext>
    </p:extLst>
  </p:cSld>
  <p:clrMapOvr>
    <a:masterClrMapping/>
  </p:clrMapOvr>
</p:sld>
</file>

<file path=ppt/slides/slide12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DRUG_MASTER — 왜 좋은 후보인가</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후보를 고르는 세 가지 질문</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① 읽기 위주인가? — DRUG_MASTER(수가·약가 마스터)는 거의 안 변함</a:t>
            </a:r>
          </a:p>
          <a:p>
            <a:pPr algn="l">
              <a:spcAft>
                <a:spcPts val="600"/>
              </a:spcAft>
            </a:pPr>
            <a:r>
              <a:rPr sz="1700" b="0">
                <a:solidFill>
                  <a:srgbClr val="222222"/>
                </a:solidFill>
                <a:latin typeface="맑은 고딕"/>
              </a:rPr>
              <a:t>•  ② 반환 행이 적은가? — 분류별 집계는 수십 줄 (MAX_RESULT 5% 이내)</a:t>
            </a:r>
          </a:p>
          <a:p>
            <a:pPr algn="l">
              <a:spcAft>
                <a:spcPts val="600"/>
              </a:spcAft>
            </a:pPr>
            <a:r>
              <a:rPr sz="1700" b="0">
                <a:solidFill>
                  <a:srgbClr val="222222"/>
                </a:solidFill>
                <a:latin typeface="맑은 고딕"/>
              </a:rPr>
              <a:t>•  ③ 반복 호출되는가? — 같은 값으로 자주 실행되어야 Find가 쌓임</a:t>
            </a:r>
          </a:p>
          <a:p>
            <a:pPr algn="l">
              <a:spcAft>
                <a:spcPts val="600"/>
              </a:spcAft>
            </a:pPr>
            <a:r>
              <a:rPr sz="1700" b="0">
                <a:solidFill>
                  <a:srgbClr val="222222"/>
                </a:solidFill>
                <a:latin typeface="맑은 고딕"/>
              </a:rPr>
              <a:t>•  적합: DRUG_MASTER(수천 건, 읽기 위주 참조)</a:t>
            </a:r>
          </a:p>
          <a:p>
            <a:pPr algn="l">
              <a:spcAft>
                <a:spcPts val="600"/>
              </a:spcAft>
            </a:pPr>
            <a:r>
              <a:rPr sz="1700" b="0">
                <a:solidFill>
                  <a:srgbClr val="222222"/>
                </a:solidFill>
                <a:latin typeface="맑은 고딕"/>
              </a:rPr>
              <a:t>•  부적합: CLAIM_DETAILS(100만+, 계속 적재·변경)</a:t>
            </a:r>
          </a:p>
          <a:p>
            <a:pPr algn="l">
              <a:spcAft>
                <a:spcPts val="600"/>
              </a:spcAft>
            </a:pPr>
            <a:r>
              <a:rPr sz="1700" b="0">
                <a:solidFill>
                  <a:srgbClr val="222222"/>
                </a:solidFill>
                <a:latin typeface="맑은 고딕"/>
              </a:rPr>
              <a:t>•  요건: 읽기 일관성·바인드 파라미터화 / 금지: SYSDATE·시퀀스·임시테이블</a:t>
            </a:r>
          </a:p>
        </p:txBody>
      </p:sp>
    </p:spTree>
    <p:extLst>
      <p:ext uri="{BB962C8B-B14F-4D97-AF65-F5344CB8AC3E}">
        <p14:creationId xmlns:p14="http://schemas.microsoft.com/office/powerpoint/2010/main" val="664024842"/>
      </p:ext>
    </p:extLst>
  </p:cSld>
  <p:clrMapOvr>
    <a:masterClrMapping/>
  </p:clrMapOvr>
</p:sld>
</file>

<file path=ppt/slides/slide1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캐시될 자격 — 요건과 제약</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힌트를 붙였는데 왜 캐시가 안 되지?</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읽기 일관성: 가장 최근 커밋 상태(또는 플래시백 시점)여야 함</a:t>
            </a:r>
          </a:p>
          <a:p>
            <a:pPr algn="l">
              <a:spcAft>
                <a:spcPts val="600"/>
              </a:spcAft>
            </a:pPr>
            <a:r>
              <a:rPr sz="1700" b="0">
                <a:solidFill>
                  <a:srgbClr val="222222"/>
                </a:solidFill>
                <a:latin typeface="맑은 고딕"/>
              </a:rPr>
              <a:t>•  활성 트랜잭션이 참조 객체를 걸고 있으면 캐시 대상 아님</a:t>
            </a:r>
          </a:p>
          <a:p>
            <a:pPr algn="l">
              <a:spcAft>
                <a:spcPts val="600"/>
              </a:spcAft>
            </a:pPr>
            <a:r>
              <a:rPr sz="1700" b="0">
                <a:solidFill>
                  <a:srgbClr val="222222"/>
                </a:solidFill>
                <a:latin typeface="맑은 고딕"/>
              </a:rPr>
              <a:t>•  파라미터화: 바인드·USER·SYS_CONTEXT(상수)·NLS면 같은 값에 재사용</a:t>
            </a:r>
          </a:p>
          <a:p>
            <a:pPr algn="l">
              <a:spcAft>
                <a:spcPts val="600"/>
              </a:spcAft>
            </a:pPr>
            <a:r>
              <a:rPr sz="1700" b="0">
                <a:solidFill>
                  <a:srgbClr val="222222"/>
                </a:solidFill>
                <a:latin typeface="맑은 고딕"/>
              </a:rPr>
              <a:t>•  금지 ① 임시 테이블, SYS·SYSTEM 스키마 테이블</a:t>
            </a:r>
          </a:p>
          <a:p>
            <a:pPr algn="l">
              <a:spcAft>
                <a:spcPts val="600"/>
              </a:spcAft>
            </a:pPr>
            <a:r>
              <a:rPr sz="1700" b="0">
                <a:solidFill>
                  <a:srgbClr val="222222"/>
                </a:solidFill>
                <a:latin typeface="맑은 고딕"/>
              </a:rPr>
              <a:t>•  금지 ② 시퀀스 CURRVAL·NEXTVAL</a:t>
            </a:r>
          </a:p>
          <a:p>
            <a:pPr algn="l">
              <a:spcAft>
                <a:spcPts val="600"/>
              </a:spcAft>
            </a:pPr>
            <a:r>
              <a:rPr sz="1700" b="0">
                <a:solidFill>
                  <a:srgbClr val="222222"/>
                </a:solidFill>
                <a:latin typeface="맑은 고딕"/>
              </a:rPr>
              <a:t>•  금지 ③ SYSDATE·SYSTIMESTAMP·CURRENT_DATE·SYS_GUID 등</a:t>
            </a:r>
          </a:p>
        </p:txBody>
      </p:sp>
    </p:spTree>
    <p:extLst>
      <p:ext uri="{BB962C8B-B14F-4D97-AF65-F5344CB8AC3E}">
        <p14:creationId xmlns:p14="http://schemas.microsoft.com/office/powerpoint/2010/main" val="1006073040"/>
      </p:ext>
    </p:extLst>
  </p:cSld>
  <p:clrMapOvr>
    <a:masterClrMapping/>
  </p:clrMapOvr>
</p:sld>
</file>

<file path=ppt/slides/slide12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33.4 ~ 33.5</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무효화와 모니터링</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400"/>
              </a:spcAft>
            </a:pPr>
            <a:r>
              <a:rPr sz="1600" b="0">
                <a:solidFill>
                  <a:srgbClr val="FFFFFF"/>
                </a:solidFill>
                <a:latin typeface="맑은 고딕"/>
              </a:rPr>
              <a:t>•  무효화 — 기반 테이블이 바뀌면 결과가 낡는다</a:t>
            </a:r>
          </a:p>
          <a:p>
            <a:pPr algn="l">
              <a:spcAft>
                <a:spcPts val="400"/>
              </a:spcAft>
            </a:pPr>
            <a:r>
              <a:rPr sz="1600" b="0">
                <a:solidFill>
                  <a:srgbClr val="FFFFFF"/>
                </a:solidFill>
                <a:latin typeface="맑은 고딕"/>
              </a:rPr>
              <a:t>•  V$RESULT_CACHE_STATISTICS로 건강 상태 판독</a:t>
            </a:r>
          </a:p>
          <a:p>
            <a:pPr algn="l">
              <a:spcAft>
                <a:spcPts val="400"/>
              </a:spcAft>
            </a:pPr>
            <a:r>
              <a:rPr sz="1600" b="0">
                <a:solidFill>
                  <a:srgbClr val="FFFFFF"/>
                </a:solidFill>
                <a:latin typeface="맑은 고딕"/>
              </a:rPr>
              <a:t>•  Find↑ · Invalidation≈0 · Failure≈0 = 건강</a:t>
            </a:r>
          </a:p>
        </p:txBody>
      </p:sp>
    </p:spTree>
    <p:extLst>
      <p:ext uri="{BB962C8B-B14F-4D97-AF65-F5344CB8AC3E}">
        <p14:creationId xmlns:p14="http://schemas.microsoft.com/office/powerpoint/2010/main" val="3378114173"/>
      </p:ext>
    </p:extLst>
  </p:cSld>
  <p:clrMapOvr>
    <a:masterClrMapping/>
  </p:clrMapOvr>
</p:sld>
</file>

<file path=ppt/slides/slide12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무효화 — 정확성의 대가</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기반 객체가 바뀌면 결과는 무효</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캐시된 결과가 의존하는 객체가 DML·DDL로 바뀌면 즉시 무효</a:t>
            </a:r>
          </a:p>
          <a:p>
            <a:pPr algn="l">
              <a:spcAft>
                <a:spcPts val="600"/>
              </a:spcAft>
            </a:pPr>
            <a:r>
              <a:rPr sz="1700" b="0">
                <a:solidFill>
                  <a:srgbClr val="222222"/>
                </a:solidFill>
                <a:latin typeface="맑은 고딕"/>
              </a:rPr>
              <a:t>•  다음 실행은 히트 대신 재계산 → 캐시 갱신 (자동·투명)</a:t>
            </a:r>
          </a:p>
          <a:p>
            <a:pPr algn="l">
              <a:spcAft>
                <a:spcPts val="600"/>
              </a:spcAft>
            </a:pPr>
            <a:r>
              <a:rPr sz="1700" b="0">
                <a:solidFill>
                  <a:srgbClr val="222222"/>
                </a:solidFill>
                <a:latin typeface="맑은 고딕"/>
              </a:rPr>
              <a:t>•  무효화 단위는 '결과 하나' — 같은 테이블 의존 결과는 함께 무효</a:t>
            </a:r>
          </a:p>
          <a:p>
            <a:pPr algn="l">
              <a:spcAft>
                <a:spcPts val="600"/>
              </a:spcAft>
            </a:pPr>
            <a:r>
              <a:rPr sz="1700" b="0">
                <a:solidFill>
                  <a:srgbClr val="222222"/>
                </a:solidFill>
                <a:latin typeface="맑은 고딕"/>
              </a:rPr>
              <a:t>•  커밋 기준 — 변경만 하고 커밋 안 하면 다른 세션 캐시는 유효</a:t>
            </a:r>
          </a:p>
          <a:p>
            <a:pPr algn="l">
              <a:spcAft>
                <a:spcPts val="600"/>
              </a:spcAft>
            </a:pPr>
            <a:r>
              <a:rPr sz="1700" b="0">
                <a:solidFill>
                  <a:srgbClr val="222222"/>
                </a:solidFill>
                <a:latin typeface="맑은 고딕"/>
              </a:rPr>
              <a:t>•  V$RESULT_CACHE_OBJECTS.STATUS: Published(유효)/Invalid(무효)</a:t>
            </a:r>
          </a:p>
          <a:p>
            <a:pPr algn="l">
              <a:spcAft>
                <a:spcPts val="600"/>
              </a:spcAft>
            </a:pPr>
            <a:r>
              <a:rPr sz="1700" b="0">
                <a:solidFill>
                  <a:srgbClr val="222222"/>
                </a:solidFill>
                <a:latin typeface="맑은 고딕"/>
              </a:rPr>
              <a:t>•  이 무효화가 축복이자 저주 — 잦으면 손해(33.6)</a:t>
            </a:r>
          </a:p>
        </p:txBody>
      </p:sp>
    </p:spTree>
    <p:extLst>
      <p:ext uri="{BB962C8B-B14F-4D97-AF65-F5344CB8AC3E}">
        <p14:creationId xmlns:p14="http://schemas.microsoft.com/office/powerpoint/2010/main" val="1447232228"/>
      </p:ext>
    </p:extLst>
  </p:cSld>
  <p:clrMapOvr>
    <a:masterClrMapping/>
  </p:clrMapOvr>
</p:sld>
</file>

<file path=ppt/slides/slide12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V$RESULT_CACHE_STATISTICS 판독 (실측)</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Find는 높게, Invalidation·Failure는 낮게</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09728" rtlCol="0" anchor="t"/>
          <a:lstStyle/>
          <a:p>
            <a:pPr>
              <a:spcBef>
                <a:spcPts val="0"/>
              </a:spcBef>
              <a:spcAft>
                <a:spcPts val="0"/>
              </a:spcAft>
            </a:pPr>
            <a:r>
              <a:rPr sz="1250" dirty="0">
                <a:solidFill>
                  <a:srgbClr val="F2F2F2"/>
                </a:solidFill>
                <a:latin typeface="Consolas"/>
              </a:rPr>
              <a:t>NAME                          VALUE   -- </a:t>
            </a:r>
            <a:r>
              <a:rPr sz="1250" dirty="0" err="1">
                <a:solidFill>
                  <a:srgbClr val="F2F2F2"/>
                </a:solidFill>
                <a:latin typeface="Consolas"/>
              </a:rPr>
              <a:t>해석</a:t>
            </a:r>
            <a:endParaRPr sz="1250" dirty="0">
              <a:solidFill>
                <a:srgbClr val="F2F2F2"/>
              </a:solidFill>
              <a:latin typeface="Consolas"/>
            </a:endParaRPr>
          </a:p>
          <a:p>
            <a:pPr>
              <a:spcBef>
                <a:spcPts val="0"/>
              </a:spcBef>
              <a:spcAft>
                <a:spcPts val="0"/>
              </a:spcAft>
            </a:pPr>
            <a:r>
              <a:rPr sz="1250" dirty="0">
                <a:solidFill>
                  <a:srgbClr val="F2F2F2"/>
                </a:solidFill>
                <a:latin typeface="Consolas"/>
              </a:rPr>
              <a:t>----------------------------------------------------------</a:t>
            </a:r>
          </a:p>
          <a:p>
            <a:pPr>
              <a:spcBef>
                <a:spcPts val="0"/>
              </a:spcBef>
              <a:spcAft>
                <a:spcPts val="0"/>
              </a:spcAft>
            </a:pPr>
            <a:r>
              <a:rPr sz="1250" dirty="0">
                <a:solidFill>
                  <a:srgbClr val="F2F2F2"/>
                </a:solidFill>
                <a:latin typeface="Consolas"/>
              </a:rPr>
              <a:t>Block Size (Bytes)             1024</a:t>
            </a:r>
          </a:p>
          <a:p>
            <a:pPr>
              <a:spcBef>
                <a:spcPts val="0"/>
              </a:spcBef>
              <a:spcAft>
                <a:spcPts val="0"/>
              </a:spcAft>
            </a:pPr>
            <a:r>
              <a:rPr sz="1250" dirty="0">
                <a:solidFill>
                  <a:srgbClr val="F2F2F2"/>
                </a:solidFill>
                <a:latin typeface="Consolas"/>
              </a:rPr>
              <a:t>Block Count Maximum            7712    -- </a:t>
            </a:r>
            <a:r>
              <a:rPr sz="1250" dirty="0" err="1">
                <a:solidFill>
                  <a:srgbClr val="F2F2F2"/>
                </a:solidFill>
                <a:latin typeface="Consolas"/>
              </a:rPr>
              <a:t>최대</a:t>
            </a:r>
            <a:r>
              <a:rPr sz="1250" dirty="0">
                <a:solidFill>
                  <a:srgbClr val="F2F2F2"/>
                </a:solidFill>
                <a:latin typeface="Consolas"/>
              </a:rPr>
              <a:t> </a:t>
            </a:r>
            <a:r>
              <a:rPr sz="1250" dirty="0" err="1">
                <a:solidFill>
                  <a:srgbClr val="F2F2F2"/>
                </a:solidFill>
                <a:latin typeface="Consolas"/>
              </a:rPr>
              <a:t>확보</a:t>
            </a:r>
            <a:r>
              <a:rPr sz="1250" dirty="0">
                <a:solidFill>
                  <a:srgbClr val="F2F2F2"/>
                </a:solidFill>
                <a:latin typeface="Consolas"/>
              </a:rPr>
              <a:t> </a:t>
            </a:r>
            <a:r>
              <a:rPr sz="1250" dirty="0" err="1">
                <a:solidFill>
                  <a:srgbClr val="F2F2F2"/>
                </a:solidFill>
                <a:latin typeface="Consolas"/>
              </a:rPr>
              <a:t>가능</a:t>
            </a:r>
            <a:endParaRPr sz="1250" dirty="0">
              <a:solidFill>
                <a:srgbClr val="F2F2F2"/>
              </a:solidFill>
              <a:latin typeface="Consolas"/>
            </a:endParaRPr>
          </a:p>
          <a:p>
            <a:pPr>
              <a:spcBef>
                <a:spcPts val="0"/>
              </a:spcBef>
              <a:spcAft>
                <a:spcPts val="0"/>
              </a:spcAft>
            </a:pPr>
            <a:r>
              <a:rPr sz="1250" dirty="0">
                <a:solidFill>
                  <a:srgbClr val="F2F2F2"/>
                </a:solidFill>
                <a:latin typeface="Consolas"/>
              </a:rPr>
              <a:t>Block Count Current              32    -- </a:t>
            </a:r>
            <a:r>
              <a:rPr sz="1250" dirty="0" err="1">
                <a:solidFill>
                  <a:srgbClr val="F2F2F2"/>
                </a:solidFill>
                <a:latin typeface="Consolas"/>
              </a:rPr>
              <a:t>현재</a:t>
            </a:r>
            <a:r>
              <a:rPr sz="1250" dirty="0">
                <a:solidFill>
                  <a:srgbClr val="F2F2F2"/>
                </a:solidFill>
                <a:latin typeface="Consolas"/>
              </a:rPr>
              <a:t> </a:t>
            </a:r>
            <a:r>
              <a:rPr sz="1250" dirty="0" err="1">
                <a:solidFill>
                  <a:srgbClr val="F2F2F2"/>
                </a:solidFill>
                <a:latin typeface="Consolas"/>
              </a:rPr>
              <a:t>사용</a:t>
            </a:r>
            <a:r>
              <a:rPr sz="1250" dirty="0">
                <a:solidFill>
                  <a:srgbClr val="F2F2F2"/>
                </a:solidFill>
                <a:latin typeface="Consolas"/>
              </a:rPr>
              <a:t>(</a:t>
            </a:r>
            <a:r>
              <a:rPr sz="1250" dirty="0" err="1">
                <a:solidFill>
                  <a:srgbClr val="F2F2F2"/>
                </a:solidFill>
                <a:latin typeface="Consolas"/>
              </a:rPr>
              <a:t>여유</a:t>
            </a:r>
            <a:r>
              <a:rPr sz="1250" dirty="0">
                <a:solidFill>
                  <a:srgbClr val="F2F2F2"/>
                </a:solidFill>
                <a:latin typeface="Consolas"/>
              </a:rPr>
              <a:t> 큼)</a:t>
            </a:r>
          </a:p>
          <a:p>
            <a:pPr>
              <a:spcBef>
                <a:spcPts val="0"/>
              </a:spcBef>
              <a:spcAft>
                <a:spcPts val="0"/>
              </a:spcAft>
            </a:pPr>
            <a:r>
              <a:rPr sz="1250" dirty="0">
                <a:solidFill>
                  <a:srgbClr val="F2F2F2"/>
                </a:solidFill>
                <a:latin typeface="Consolas"/>
              </a:rPr>
              <a:t>Create Count Success              1    -- </a:t>
            </a:r>
            <a:r>
              <a:rPr sz="1250" dirty="0" err="1">
                <a:solidFill>
                  <a:srgbClr val="F2F2F2"/>
                </a:solidFill>
                <a:latin typeface="Consolas"/>
              </a:rPr>
              <a:t>생성</a:t>
            </a:r>
            <a:r>
              <a:rPr sz="1250" dirty="0">
                <a:solidFill>
                  <a:srgbClr val="F2F2F2"/>
                </a:solidFill>
                <a:latin typeface="Consolas"/>
              </a:rPr>
              <a:t> </a:t>
            </a:r>
            <a:r>
              <a:rPr sz="1250" dirty="0" err="1">
                <a:solidFill>
                  <a:srgbClr val="F2F2F2"/>
                </a:solidFill>
                <a:latin typeface="Consolas"/>
              </a:rPr>
              <a:t>성공</a:t>
            </a:r>
            <a:endParaRPr sz="1250" dirty="0">
              <a:solidFill>
                <a:srgbClr val="F2F2F2"/>
              </a:solidFill>
              <a:latin typeface="Consolas"/>
            </a:endParaRPr>
          </a:p>
          <a:p>
            <a:pPr>
              <a:spcBef>
                <a:spcPts val="0"/>
              </a:spcBef>
              <a:spcAft>
                <a:spcPts val="0"/>
              </a:spcAft>
            </a:pPr>
            <a:r>
              <a:rPr sz="1250" dirty="0">
                <a:solidFill>
                  <a:srgbClr val="F2F2F2"/>
                </a:solidFill>
                <a:latin typeface="Consolas"/>
              </a:rPr>
              <a:t>Create Count Failure              0    -- </a:t>
            </a:r>
            <a:r>
              <a:rPr sz="1250" dirty="0" err="1">
                <a:solidFill>
                  <a:srgbClr val="F2F2F2"/>
                </a:solidFill>
                <a:latin typeface="Consolas"/>
              </a:rPr>
              <a:t>낮을수록</a:t>
            </a:r>
            <a:r>
              <a:rPr sz="1250" dirty="0">
                <a:solidFill>
                  <a:srgbClr val="F2F2F2"/>
                </a:solidFill>
                <a:latin typeface="Consolas"/>
              </a:rPr>
              <a:t> </a:t>
            </a:r>
            <a:r>
              <a:rPr sz="1250" dirty="0" err="1">
                <a:solidFill>
                  <a:srgbClr val="F2F2F2"/>
                </a:solidFill>
                <a:latin typeface="Consolas"/>
              </a:rPr>
              <a:t>좋음</a:t>
            </a:r>
            <a:endParaRPr sz="1250" dirty="0">
              <a:solidFill>
                <a:srgbClr val="F2F2F2"/>
              </a:solidFill>
              <a:latin typeface="Consolas"/>
            </a:endParaRPr>
          </a:p>
          <a:p>
            <a:pPr>
              <a:spcBef>
                <a:spcPts val="0"/>
              </a:spcBef>
              <a:spcAft>
                <a:spcPts val="0"/>
              </a:spcAft>
            </a:pPr>
            <a:r>
              <a:rPr sz="1250" dirty="0">
                <a:solidFill>
                  <a:srgbClr val="F2F2F2"/>
                </a:solidFill>
                <a:latin typeface="Consolas"/>
              </a:rPr>
              <a:t>Find Count                        5    -- </a:t>
            </a:r>
            <a:r>
              <a:rPr sz="1250" dirty="0" err="1">
                <a:solidFill>
                  <a:srgbClr val="F2F2F2"/>
                </a:solidFill>
                <a:latin typeface="Consolas"/>
              </a:rPr>
              <a:t>캐시</a:t>
            </a:r>
            <a:r>
              <a:rPr sz="1250" dirty="0">
                <a:solidFill>
                  <a:srgbClr val="F2F2F2"/>
                </a:solidFill>
                <a:latin typeface="Consolas"/>
              </a:rPr>
              <a:t> </a:t>
            </a:r>
            <a:r>
              <a:rPr sz="1250" dirty="0" err="1">
                <a:solidFill>
                  <a:srgbClr val="F2F2F2"/>
                </a:solidFill>
                <a:latin typeface="Consolas"/>
              </a:rPr>
              <a:t>히트</a:t>
            </a:r>
            <a:r>
              <a:rPr sz="1250" dirty="0">
                <a:solidFill>
                  <a:srgbClr val="F2F2F2"/>
                </a:solidFill>
                <a:latin typeface="Consolas"/>
              </a:rPr>
              <a:t>(</a:t>
            </a:r>
            <a:r>
              <a:rPr sz="1250" dirty="0" err="1">
                <a:solidFill>
                  <a:srgbClr val="F2F2F2"/>
                </a:solidFill>
                <a:latin typeface="Consolas"/>
              </a:rPr>
              <a:t>높을수록</a:t>
            </a:r>
            <a:r>
              <a:rPr sz="1250" dirty="0">
                <a:solidFill>
                  <a:srgbClr val="F2F2F2"/>
                </a:solidFill>
                <a:latin typeface="Consolas"/>
              </a:rPr>
              <a:t> </a:t>
            </a:r>
            <a:r>
              <a:rPr sz="1250" dirty="0" err="1">
                <a:solidFill>
                  <a:srgbClr val="F2F2F2"/>
                </a:solidFill>
                <a:latin typeface="Consolas"/>
              </a:rPr>
              <a:t>좋음</a:t>
            </a:r>
            <a:r>
              <a:rPr sz="1250" dirty="0">
                <a:solidFill>
                  <a:srgbClr val="F2F2F2"/>
                </a:solidFill>
                <a:latin typeface="Consolas"/>
              </a:rPr>
              <a:t>)</a:t>
            </a:r>
          </a:p>
          <a:p>
            <a:pPr>
              <a:spcBef>
                <a:spcPts val="0"/>
              </a:spcBef>
              <a:spcAft>
                <a:spcPts val="0"/>
              </a:spcAft>
            </a:pPr>
            <a:r>
              <a:rPr sz="1250" dirty="0">
                <a:solidFill>
                  <a:srgbClr val="F2F2F2"/>
                </a:solidFill>
                <a:latin typeface="Consolas"/>
              </a:rPr>
              <a:t>Invalidation Count                0    -- </a:t>
            </a:r>
            <a:r>
              <a:rPr sz="1250" dirty="0" err="1">
                <a:solidFill>
                  <a:srgbClr val="F2F2F2"/>
                </a:solidFill>
                <a:latin typeface="Consolas"/>
              </a:rPr>
              <a:t>낮을수록</a:t>
            </a:r>
            <a:r>
              <a:rPr sz="1250" dirty="0">
                <a:solidFill>
                  <a:srgbClr val="F2F2F2"/>
                </a:solidFill>
                <a:latin typeface="Consolas"/>
              </a:rPr>
              <a:t> </a:t>
            </a:r>
            <a:r>
              <a:rPr sz="1250" dirty="0" err="1">
                <a:solidFill>
                  <a:srgbClr val="F2F2F2"/>
                </a:solidFill>
                <a:latin typeface="Consolas"/>
              </a:rPr>
              <a:t>좋음</a:t>
            </a:r>
            <a:endParaRPr sz="1250" dirty="0">
              <a:solidFill>
                <a:srgbClr val="F2F2F2"/>
              </a:solidFill>
              <a:latin typeface="Consolas"/>
            </a:endParaRPr>
          </a:p>
          <a:p>
            <a:pPr>
              <a:spcBef>
                <a:spcPts val="0"/>
              </a:spcBef>
              <a:spcAft>
                <a:spcPts val="0"/>
              </a:spcAft>
            </a:pPr>
            <a:r>
              <a:rPr sz="1250" dirty="0">
                <a:solidFill>
                  <a:srgbClr val="F2F2F2"/>
                </a:solidFill>
                <a:latin typeface="Consolas"/>
              </a:rPr>
              <a:t>Delete Count Valid                0    -- </a:t>
            </a:r>
            <a:r>
              <a:rPr sz="1250" dirty="0" err="1">
                <a:solidFill>
                  <a:srgbClr val="F2F2F2"/>
                </a:solidFill>
                <a:latin typeface="Consolas"/>
              </a:rPr>
              <a:t>낮을수록</a:t>
            </a:r>
            <a:r>
              <a:rPr sz="1250" dirty="0">
                <a:solidFill>
                  <a:srgbClr val="F2F2F2"/>
                </a:solidFill>
                <a:latin typeface="Consolas"/>
              </a:rPr>
              <a:t> </a:t>
            </a:r>
            <a:r>
              <a:rPr sz="1250" dirty="0" err="1">
                <a:solidFill>
                  <a:srgbClr val="F2F2F2"/>
                </a:solidFill>
                <a:latin typeface="Consolas"/>
              </a:rPr>
              <a:t>좋음</a:t>
            </a:r>
            <a:endParaRPr sz="1250" dirty="0">
              <a:solidFill>
                <a:srgbClr val="F2F2F2"/>
              </a:solidFill>
              <a:latin typeface="Consolas"/>
            </a:endParaRPr>
          </a:p>
        </p:txBody>
      </p:sp>
    </p:spTree>
    <p:extLst>
      <p:ext uri="{BB962C8B-B14F-4D97-AF65-F5344CB8AC3E}">
        <p14:creationId xmlns:p14="http://schemas.microsoft.com/office/powerpoint/2010/main" val="212393723"/>
      </p:ext>
    </p:extLst>
  </p:cSld>
  <p:clrMapOvr>
    <a:masterClrMapping/>
  </p:clrMapOvr>
</p:sld>
</file>

<file path=ppt/slides/slide12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메모리 사용 요약 — MEMORY_REPORT</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DBMS_RESULT_CACHE로 한눈에</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09728" rtlCol="0" anchor="t"/>
          <a:lstStyle/>
          <a:p>
            <a:pPr>
              <a:spcBef>
                <a:spcPts val="0"/>
              </a:spcBef>
              <a:spcAft>
                <a:spcPts val="0"/>
              </a:spcAft>
            </a:pPr>
            <a:r>
              <a:rPr sz="1250" dirty="0">
                <a:solidFill>
                  <a:srgbClr val="F2F2F2"/>
                </a:solidFill>
                <a:latin typeface="Consolas"/>
              </a:rPr>
              <a:t>SQL&gt; SET SERVEROUTPUT ON</a:t>
            </a:r>
          </a:p>
          <a:p>
            <a:pPr>
              <a:spcBef>
                <a:spcPts val="0"/>
              </a:spcBef>
              <a:spcAft>
                <a:spcPts val="0"/>
              </a:spcAft>
            </a:pPr>
            <a:r>
              <a:rPr sz="1250" dirty="0">
                <a:solidFill>
                  <a:srgbClr val="F2F2F2"/>
                </a:solidFill>
                <a:latin typeface="Consolas"/>
              </a:rPr>
              <a:t>SQL&gt; EXECUTE DBMS_RESULT_CACHE.MEMORY_REPORT</a:t>
            </a:r>
          </a:p>
          <a:p>
            <a:pPr>
              <a:spcBef>
                <a:spcPts val="0"/>
              </a:spcBef>
              <a:spcAft>
                <a:spcPts val="0"/>
              </a:spcAft>
            </a:pPr>
            <a:r>
              <a:rPr sz="1250" dirty="0">
                <a:solidFill>
                  <a:srgbClr val="F2F2F2"/>
                </a:solidFill>
                <a:latin typeface="Consolas"/>
              </a:rPr>
              <a:t> </a:t>
            </a:r>
          </a:p>
          <a:p>
            <a:pPr>
              <a:spcBef>
                <a:spcPts val="0"/>
              </a:spcBef>
              <a:spcAft>
                <a:spcPts val="0"/>
              </a:spcAft>
            </a:pPr>
            <a:r>
              <a:rPr sz="1250" dirty="0">
                <a:solidFill>
                  <a:srgbClr val="F2F2F2"/>
                </a:solidFill>
                <a:latin typeface="Consolas"/>
              </a:rPr>
              <a:t>R e s u l t   C a c h e   M e m o r y   R e p o r t</a:t>
            </a:r>
          </a:p>
          <a:p>
            <a:pPr>
              <a:spcBef>
                <a:spcPts val="0"/>
              </a:spcBef>
              <a:spcAft>
                <a:spcPts val="0"/>
              </a:spcAft>
            </a:pPr>
            <a:r>
              <a:rPr sz="1250" dirty="0">
                <a:solidFill>
                  <a:srgbClr val="F2F2F2"/>
                </a:solidFill>
                <a:latin typeface="Consolas"/>
              </a:rPr>
              <a:t>[Parameters]</a:t>
            </a:r>
          </a:p>
          <a:p>
            <a:pPr>
              <a:spcBef>
                <a:spcPts val="0"/>
              </a:spcBef>
              <a:spcAft>
                <a:spcPts val="0"/>
              </a:spcAft>
            </a:pPr>
            <a:r>
              <a:rPr sz="1250" dirty="0">
                <a:solidFill>
                  <a:srgbClr val="F2F2F2"/>
                </a:solidFill>
                <a:latin typeface="Consolas"/>
              </a:rPr>
              <a:t>Block Size          = 1024 bytes</a:t>
            </a:r>
          </a:p>
          <a:p>
            <a:pPr>
              <a:spcBef>
                <a:spcPts val="0"/>
              </a:spcBef>
              <a:spcAft>
                <a:spcPts val="0"/>
              </a:spcAft>
            </a:pPr>
            <a:r>
              <a:rPr sz="1250" dirty="0">
                <a:solidFill>
                  <a:srgbClr val="F2F2F2"/>
                </a:solidFill>
                <a:latin typeface="Consolas"/>
              </a:rPr>
              <a:t>Maximum Cache Size  = 7712K bytes (7712 blocks)</a:t>
            </a:r>
          </a:p>
          <a:p>
            <a:pPr>
              <a:spcBef>
                <a:spcPts val="0"/>
              </a:spcBef>
              <a:spcAft>
                <a:spcPts val="0"/>
              </a:spcAft>
            </a:pPr>
            <a:r>
              <a:rPr sz="1250" dirty="0">
                <a:solidFill>
                  <a:srgbClr val="F2F2F2"/>
                </a:solidFill>
                <a:latin typeface="Consolas"/>
              </a:rPr>
              <a:t>Maximum Result Size = 385 blocks</a:t>
            </a:r>
          </a:p>
          <a:p>
            <a:pPr>
              <a:spcBef>
                <a:spcPts val="0"/>
              </a:spcBef>
              <a:spcAft>
                <a:spcPts val="0"/>
              </a:spcAft>
            </a:pPr>
            <a:r>
              <a:rPr sz="1250" dirty="0">
                <a:solidFill>
                  <a:srgbClr val="F2F2F2"/>
                </a:solidFill>
                <a:latin typeface="Consolas"/>
              </a:rPr>
              <a:t>[Memory]  Total Memory = ...  Cache Memory = 32 blocks</a:t>
            </a:r>
          </a:p>
        </p:txBody>
      </p:sp>
    </p:spTree>
    <p:extLst>
      <p:ext uri="{BB962C8B-B14F-4D97-AF65-F5344CB8AC3E}">
        <p14:creationId xmlns:p14="http://schemas.microsoft.com/office/powerpoint/2010/main" val="1843228725"/>
      </p:ext>
    </p:extLst>
  </p:cSld>
  <p:clrMapOvr>
    <a:masterClrMapping/>
  </p:clrMapOvr>
</p:sld>
</file>

<file path=ppt/slides/slide12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33.6</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적용 부적합 판별</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400"/>
              </a:spcAft>
            </a:pPr>
            <a:r>
              <a:rPr sz="1600" b="0">
                <a:solidFill>
                  <a:srgbClr val="FFFFFF"/>
                </a:solidFill>
                <a:latin typeface="맑은 고딕"/>
              </a:rPr>
              <a:t>•  변경 잦은 테이블에서는 손해다 (DBA Point)</a:t>
            </a:r>
          </a:p>
          <a:p>
            <a:pPr algn="l">
              <a:spcAft>
                <a:spcPts val="400"/>
              </a:spcAft>
            </a:pPr>
            <a:r>
              <a:rPr sz="1600" b="0">
                <a:solidFill>
                  <a:srgbClr val="FFFFFF"/>
                </a:solidFill>
                <a:latin typeface="맑은 고딕"/>
              </a:rPr>
              <a:t>•  생성-무효화-재생성 반복 → 관리 비용만, 이득 없음</a:t>
            </a:r>
          </a:p>
          <a:p>
            <a:pPr algn="l">
              <a:spcAft>
                <a:spcPts val="400"/>
              </a:spcAft>
            </a:pPr>
            <a:r>
              <a:rPr sz="1600" b="0">
                <a:solidFill>
                  <a:srgbClr val="FFFFFF"/>
                </a:solidFill>
                <a:latin typeface="맑은 고딕"/>
              </a:rPr>
              <a:t>•  판별 한 문장 + 무효화 통계로 사후 검증</a:t>
            </a:r>
          </a:p>
        </p:txBody>
      </p:sp>
    </p:spTree>
    <p:extLst>
      <p:ext uri="{BB962C8B-B14F-4D97-AF65-F5344CB8AC3E}">
        <p14:creationId xmlns:p14="http://schemas.microsoft.com/office/powerpoint/2010/main" val="3247371590"/>
      </p:ext>
    </p:extLst>
  </p:cSld>
  <p:clrMapOvr>
    <a:masterClrMapping/>
  </p:clrMapOvr>
</p:sld>
</file>

<file path=ppt/slides/slide12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결과 캐시가 손해가 되는 순간</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변경 잦은 테이블은 붙이지 않는다</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이득의 원천 = '한 번 계산해 여러 번 재사용'</a:t>
            </a:r>
          </a:p>
          <a:p>
            <a:pPr algn="l">
              <a:spcAft>
                <a:spcPts val="600"/>
              </a:spcAft>
            </a:pPr>
            <a:r>
              <a:rPr sz="1700" b="0">
                <a:solidFill>
                  <a:srgbClr val="222222"/>
                </a:solidFill>
                <a:latin typeface="맑은 고딕"/>
              </a:rPr>
              <a:t>•  기반 테이블이 자주 바뀌면 캐시가 자꾸 무효화됨</a:t>
            </a:r>
          </a:p>
          <a:p>
            <a:pPr algn="l">
              <a:spcAft>
                <a:spcPts val="600"/>
              </a:spcAft>
            </a:pPr>
            <a:r>
              <a:rPr sz="1700" b="0">
                <a:solidFill>
                  <a:srgbClr val="222222"/>
                </a:solidFill>
                <a:latin typeface="맑은 고딕"/>
              </a:rPr>
              <a:t>•  무효화 다음 실행 = 히트 아니라 재계산 → 다시 저장</a:t>
            </a:r>
          </a:p>
          <a:p>
            <a:pPr algn="l">
              <a:spcAft>
                <a:spcPts val="600"/>
              </a:spcAft>
            </a:pPr>
            <a:r>
              <a:rPr sz="1700" b="0">
                <a:solidFill>
                  <a:srgbClr val="222222"/>
                </a:solidFill>
                <a:latin typeface="맑은 고딕"/>
              </a:rPr>
              <a:t>•  생성→짧은 재사용→무효화→재생성 반복 = 관리 비용만</a:t>
            </a:r>
          </a:p>
          <a:p>
            <a:pPr algn="l">
              <a:spcAft>
                <a:spcPts val="600"/>
              </a:spcAft>
            </a:pPr>
            <a:r>
              <a:rPr sz="1700" b="0">
                <a:solidFill>
                  <a:srgbClr val="222222"/>
                </a:solidFill>
                <a:latin typeface="맑은 고딕"/>
              </a:rPr>
              <a:t>•  심하면 결과 캐시 래치 경합이라는 새 병목 발생</a:t>
            </a:r>
          </a:p>
          <a:p>
            <a:pPr algn="l">
              <a:spcAft>
                <a:spcPts val="600"/>
              </a:spcAft>
            </a:pPr>
            <a:r>
              <a:rPr sz="1700" b="0">
                <a:solidFill>
                  <a:srgbClr val="222222"/>
                </a:solidFill>
                <a:latin typeface="맑은 고딕"/>
              </a:rPr>
              <a:t>•  조치: 캐시를 키우지 말고 그 질의에서 캐시를 '뗀다'</a:t>
            </a:r>
          </a:p>
        </p:txBody>
      </p:sp>
    </p:spTree>
    <p:extLst>
      <p:ext uri="{BB962C8B-B14F-4D97-AF65-F5344CB8AC3E}">
        <p14:creationId xmlns:p14="http://schemas.microsoft.com/office/powerpoint/2010/main" val="2922365234"/>
      </p:ext>
    </p:extLst>
  </p:cSld>
  <p:clrMapOvr>
    <a:masterClrMapping/>
  </p:clrMapOvr>
</p:sld>
</file>

<file path=ppt/slides/slide12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적합 vs 부적합 — 한눈에</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진료비 스키마로 대조</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적합: 읽기 위주(DRUG_MASTER) / 적은 반환 / 반복 호출</a:t>
            </a:r>
          </a:p>
          <a:p>
            <a:pPr algn="l">
              <a:spcAft>
                <a:spcPts val="600"/>
              </a:spcAft>
            </a:pPr>
            <a:r>
              <a:rPr sz="1700" b="0">
                <a:solidFill>
                  <a:srgbClr val="222222"/>
                </a:solidFill>
                <a:latin typeface="맑은 고딕"/>
              </a:rPr>
              <a:t>•  부적합: 쓰기 잦음(CLAIM_DETAILS) / 대량 반환 / 일회성</a:t>
            </a:r>
          </a:p>
          <a:p>
            <a:pPr algn="l">
              <a:spcAft>
                <a:spcPts val="600"/>
              </a:spcAft>
            </a:pPr>
            <a:r>
              <a:rPr sz="1700" b="0">
                <a:solidFill>
                  <a:srgbClr val="222222"/>
                </a:solidFill>
                <a:latin typeface="맑은 고딕"/>
              </a:rPr>
              <a:t>•  신호(적합): Find↑ · Invalidation≈0 · Create Failure≈0</a:t>
            </a:r>
          </a:p>
          <a:p>
            <a:pPr algn="l">
              <a:spcAft>
                <a:spcPts val="600"/>
              </a:spcAft>
            </a:pPr>
            <a:r>
              <a:rPr sz="1700" b="0">
                <a:solidFill>
                  <a:srgbClr val="222222"/>
                </a:solidFill>
                <a:latin typeface="맑은 고딕"/>
              </a:rPr>
              <a:t>•  신호(부적합): Invalidation↑ · Create Failure↑ · Find 낮음</a:t>
            </a:r>
          </a:p>
          <a:p>
            <a:pPr algn="l">
              <a:spcAft>
                <a:spcPts val="600"/>
              </a:spcAft>
            </a:pPr>
            <a:r>
              <a:rPr sz="1700" b="0">
                <a:solidFill>
                  <a:srgbClr val="222222"/>
                </a:solidFill>
                <a:latin typeface="맑은 고딕"/>
              </a:rPr>
              <a:t>•  판별 한 문장: '읽기 위주 테이블에서 적은 결과를 반복 반환하는가'</a:t>
            </a:r>
          </a:p>
          <a:p>
            <a:pPr algn="l">
              <a:spcAft>
                <a:spcPts val="600"/>
              </a:spcAft>
            </a:pPr>
            <a:r>
              <a:rPr sz="1700" b="0">
                <a:solidFill>
                  <a:srgbClr val="222222"/>
                </a:solidFill>
                <a:latin typeface="맑은 고딕"/>
              </a:rPr>
              <a:t>•  붙인 뒤에도 Invalidation Count 관찰 → 손해면 즉시 제거</a:t>
            </a:r>
          </a:p>
        </p:txBody>
      </p:sp>
    </p:spTree>
    <p:extLst>
      <p:ext uri="{BB962C8B-B14F-4D97-AF65-F5344CB8AC3E}">
        <p14:creationId xmlns:p14="http://schemas.microsoft.com/office/powerpoint/2010/main" val="2831454793"/>
      </p:ext>
    </p:extLst>
  </p:cSld>
  <p:clrMapOvr>
    <a:masterClrMapping/>
  </p:clrMapOvr>
</p:sld>
</file>

<file path=ppt/slides/slide12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33.7 ~ 33.8</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PGA와 작업 영역</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400"/>
              </a:spcAft>
            </a:pPr>
            <a:r>
              <a:rPr sz="1600" b="0">
                <a:solidFill>
                  <a:srgbClr val="FFFFFF"/>
                </a:solidFill>
                <a:latin typeface="맑은 고딕"/>
              </a:rPr>
              <a:t>•  PGA — 서버 프로세스의 사적 작업 공간</a:t>
            </a:r>
          </a:p>
          <a:p>
            <a:pPr algn="l">
              <a:spcAft>
                <a:spcPts val="400"/>
              </a:spcAft>
            </a:pPr>
            <a:r>
              <a:rPr sz="1600" b="0">
                <a:solidFill>
                  <a:srgbClr val="FFFFFF"/>
                </a:solidFill>
                <a:latin typeface="맑은 고딕"/>
              </a:rPr>
              <a:t>•  정렬 영역·해시 영역이 작업 영역을 쓴다</a:t>
            </a:r>
          </a:p>
          <a:p>
            <a:pPr algn="l">
              <a:spcAft>
                <a:spcPts val="400"/>
              </a:spcAft>
            </a:pPr>
            <a:r>
              <a:rPr sz="1600" b="0">
                <a:solidFill>
                  <a:srgbClr val="FFFFFF"/>
                </a:solidFill>
                <a:latin typeface="맑은 고딕"/>
              </a:rPr>
              <a:t>•  optimal / one-pass / multi-pass 세 크기</a:t>
            </a:r>
          </a:p>
        </p:txBody>
      </p:sp>
    </p:spTree>
    <p:extLst>
      <p:ext uri="{BB962C8B-B14F-4D97-AF65-F5344CB8AC3E}">
        <p14:creationId xmlns:p14="http://schemas.microsoft.com/office/powerpoint/2010/main" val="115505608"/>
      </p:ext>
    </p:extLst>
  </p:cSld>
  <p:clrMapOvr>
    <a:masterClrMapping/>
  </p:clrMapOvr>
</p:sld>
</file>

<file path=ppt/slides/slide12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PGA와 작업 영역</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공유되지 않는 사적 메모리</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PGA = 서버 프로세스 하나의 사적 메모리(그 프로세스만 접근)</a:t>
            </a:r>
          </a:p>
          <a:p>
            <a:pPr algn="l">
              <a:spcAft>
                <a:spcPts val="600"/>
              </a:spcAft>
            </a:pPr>
            <a:r>
              <a:rPr sz="1700" b="0">
                <a:solidFill>
                  <a:srgbClr val="222222"/>
                </a:solidFill>
                <a:latin typeface="맑은 고딕"/>
              </a:rPr>
              <a:t>•  정렬(ORDER BY·GROUP BY·윈도우) → 정렬 영역(sort area)</a:t>
            </a:r>
          </a:p>
          <a:p>
            <a:pPr algn="l">
              <a:spcAft>
                <a:spcPts val="600"/>
              </a:spcAft>
            </a:pPr>
            <a:r>
              <a:rPr sz="1700" b="0">
                <a:solidFill>
                  <a:srgbClr val="222222"/>
                </a:solidFill>
                <a:latin typeface="맑은 고딕"/>
              </a:rPr>
              <a:t>•  해시 조인 → 해시 영역(hash area)</a:t>
            </a:r>
          </a:p>
          <a:p>
            <a:pPr algn="l">
              <a:spcAft>
                <a:spcPts val="600"/>
              </a:spcAft>
            </a:pPr>
            <a:r>
              <a:rPr sz="1700" b="0">
                <a:solidFill>
                  <a:srgbClr val="222222"/>
                </a:solidFill>
                <a:latin typeface="맑은 고딕"/>
              </a:rPr>
              <a:t>•  작업 영역 크면 빠르지만 메모리 소비↑, 작으면 디스크로 넘침</a:t>
            </a:r>
          </a:p>
          <a:p>
            <a:pPr algn="l">
              <a:spcAft>
                <a:spcPts val="600"/>
              </a:spcAft>
            </a:pPr>
            <a:r>
              <a:rPr sz="1700" b="0">
                <a:solidFill>
                  <a:srgbClr val="222222"/>
                </a:solidFill>
                <a:latin typeface="맑은 고딕"/>
              </a:rPr>
              <a:t>•  SGA와 달리 공유 안 됨 → 접속 세션 늘면 PGA 수요도 늘어</a:t>
            </a:r>
          </a:p>
          <a:p>
            <a:pPr algn="l">
              <a:spcAft>
                <a:spcPts val="600"/>
              </a:spcAft>
            </a:pPr>
            <a:r>
              <a:rPr sz="1700" b="0">
                <a:solidFill>
                  <a:srgbClr val="222222"/>
                </a:solidFill>
                <a:latin typeface="맑은 고딕"/>
              </a:rPr>
              <a:t>•  동시 작업 영역↑ → global memory bound↓ (하나에 줄 최대치 감소)</a:t>
            </a:r>
          </a:p>
        </p:txBody>
      </p:sp>
    </p:spTree>
    <p:extLst>
      <p:ext uri="{BB962C8B-B14F-4D97-AF65-F5344CB8AC3E}">
        <p14:creationId xmlns:p14="http://schemas.microsoft.com/office/powerpoint/2010/main" val="881459126"/>
      </p:ext>
    </p:extLst>
  </p:cSld>
  <p:clrMapOvr>
    <a:masterClrMapping/>
  </p:clrMapOvr>
</p:sld>
</file>

<file path=ppt/slides/slide12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optimal · one-pass · multi-pass</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PGA 진단의 공통 언어</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optimal: 전부 메모리에서 끝남 — 이상적, 디스크 접근 없음</a:t>
            </a:r>
          </a:p>
          <a:p>
            <a:pPr algn="l">
              <a:spcAft>
                <a:spcPts val="600"/>
              </a:spcAft>
            </a:pPr>
            <a:r>
              <a:rPr sz="1700" b="0">
                <a:solidFill>
                  <a:srgbClr val="222222"/>
                </a:solidFill>
                <a:latin typeface="맑은 고딕"/>
              </a:rPr>
              <a:t>•  one-pass: optimal보다 작아 디스크 1회 경유 — 응답시간 증가</a:t>
            </a:r>
          </a:p>
          <a:p>
            <a:pPr algn="l">
              <a:spcAft>
                <a:spcPts val="600"/>
              </a:spcAft>
            </a:pPr>
            <a:r>
              <a:rPr sz="1700" b="0">
                <a:solidFill>
                  <a:srgbClr val="222222"/>
                </a:solidFill>
                <a:latin typeface="맑은 고딕"/>
              </a:rPr>
              <a:t>•  multi-pass: 여러 번 디스크 경유 — 응답시간 급증(치명적)</a:t>
            </a:r>
          </a:p>
          <a:p>
            <a:pPr algn="l">
              <a:spcAft>
                <a:spcPts val="600"/>
              </a:spcAft>
            </a:pPr>
            <a:r>
              <a:rPr sz="1700" b="0">
                <a:solidFill>
                  <a:srgbClr val="222222"/>
                </a:solidFill>
                <a:latin typeface="맑은 고딕"/>
              </a:rPr>
              <a:t>•  목표: optimal 90%+ (OLTP 100%), one-pass 10%-, multi-pass 회피</a:t>
            </a:r>
          </a:p>
          <a:p>
            <a:pPr algn="l">
              <a:spcAft>
                <a:spcPts val="600"/>
              </a:spcAft>
            </a:pPr>
            <a:r>
              <a:rPr sz="1700" b="0">
                <a:solidFill>
                  <a:srgbClr val="222222"/>
                </a:solidFill>
                <a:latin typeface="맑은 고딕"/>
              </a:rPr>
              <a:t>•  핵심 감각: one-pass는 감수, multi-pass는 제거</a:t>
            </a:r>
          </a:p>
          <a:p>
            <a:pPr algn="l">
              <a:spcAft>
                <a:spcPts val="600"/>
              </a:spcAft>
            </a:pPr>
            <a:r>
              <a:rPr sz="1700" b="0">
                <a:solidFill>
                  <a:srgbClr val="222222"/>
                </a:solidFill>
                <a:latin typeface="맑은 고딕"/>
              </a:rPr>
              <a:t>•  one-pass 메모리 요구는 작다 — 1GB 정렬을 22MB로 one-pass</a:t>
            </a:r>
          </a:p>
        </p:txBody>
      </p:sp>
    </p:spTree>
    <p:extLst>
      <p:ext uri="{BB962C8B-B14F-4D97-AF65-F5344CB8AC3E}">
        <p14:creationId xmlns:p14="http://schemas.microsoft.com/office/powerpoint/2010/main" val="2772122845"/>
      </p:ext>
    </p:extLst>
  </p:cSld>
  <p:clrMapOvr>
    <a:masterClrMapping/>
  </p:clrMapOvr>
</p:sld>
</file>

<file path=ppt/slides/slide12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33.9</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PGA 모니터링</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400"/>
              </a:spcAft>
            </a:pPr>
            <a:r>
              <a:rPr sz="1600" b="0">
                <a:solidFill>
                  <a:srgbClr val="FFFFFF"/>
                </a:solidFill>
                <a:latin typeface="맑은 고딕"/>
              </a:rPr>
              <a:t>•  V$PGASTAT — target·over allocation·cache hit</a:t>
            </a:r>
          </a:p>
          <a:p>
            <a:pPr algn="l">
              <a:spcAft>
                <a:spcPts val="400"/>
              </a:spcAft>
            </a:pPr>
            <a:r>
              <a:rPr sz="1600" b="0">
                <a:solidFill>
                  <a:srgbClr val="FFFFFF"/>
                </a:solidFill>
                <a:latin typeface="맑은 고딕"/>
              </a:rPr>
              <a:t>•  V$SQL_WORKAREA_HISTOGRAM — 크기별 optimal 분포</a:t>
            </a:r>
          </a:p>
          <a:p>
            <a:pPr algn="l">
              <a:spcAft>
                <a:spcPts val="400"/>
              </a:spcAft>
            </a:pPr>
            <a:r>
              <a:rPr sz="1600" b="0">
                <a:solidFill>
                  <a:srgbClr val="FFFFFF"/>
                </a:solidFill>
                <a:latin typeface="맑은 고딕"/>
              </a:rPr>
              <a:t>•  실측: 전부 optimal, 디스크 정렬 0 (건강)</a:t>
            </a:r>
          </a:p>
        </p:txBody>
      </p:sp>
    </p:spTree>
    <p:extLst>
      <p:ext uri="{BB962C8B-B14F-4D97-AF65-F5344CB8AC3E}">
        <p14:creationId xmlns:p14="http://schemas.microsoft.com/office/powerpoint/2010/main" val="2029937474"/>
      </p:ext>
    </p:extLst>
  </p:cSld>
  <p:clrMapOvr>
    <a:masterClrMapping/>
  </p:clrMapOvr>
</p:sld>
</file>

<file path=ppt/slides/slide12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V$PGASTAT 판독 (실측)</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target은 목표이지 한도가 아니다</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09728" rtlCol="0" anchor="t"/>
          <a:lstStyle/>
          <a:p>
            <a:pPr>
              <a:spcBef>
                <a:spcPts val="0"/>
              </a:spcBef>
              <a:spcAft>
                <a:spcPts val="0"/>
              </a:spcAft>
            </a:pPr>
            <a:r>
              <a:rPr sz="1250" dirty="0">
                <a:solidFill>
                  <a:srgbClr val="F2F2F2"/>
                </a:solidFill>
                <a:latin typeface="Consolas"/>
              </a:rPr>
              <a:t>NAME                              MB   -- </a:t>
            </a:r>
            <a:r>
              <a:rPr sz="1250" dirty="0" err="1">
                <a:solidFill>
                  <a:srgbClr val="F2F2F2"/>
                </a:solidFill>
                <a:latin typeface="Consolas"/>
              </a:rPr>
              <a:t>해석</a:t>
            </a:r>
            <a:endParaRPr sz="1250" dirty="0">
              <a:solidFill>
                <a:srgbClr val="F2F2F2"/>
              </a:solidFill>
              <a:latin typeface="Consolas"/>
            </a:endParaRPr>
          </a:p>
          <a:p>
            <a:pPr>
              <a:spcBef>
                <a:spcPts val="0"/>
              </a:spcBef>
              <a:spcAft>
                <a:spcPts val="0"/>
              </a:spcAft>
            </a:pPr>
            <a:r>
              <a:rPr sz="1250" dirty="0">
                <a:solidFill>
                  <a:srgbClr val="F2F2F2"/>
                </a:solidFill>
                <a:latin typeface="Consolas"/>
              </a:rPr>
              <a:t>----------------------------------------------------------</a:t>
            </a:r>
          </a:p>
          <a:p>
            <a:pPr>
              <a:spcBef>
                <a:spcPts val="0"/>
              </a:spcBef>
              <a:spcAft>
                <a:spcPts val="0"/>
              </a:spcAft>
            </a:pPr>
            <a:r>
              <a:rPr sz="1250" dirty="0">
                <a:solidFill>
                  <a:srgbClr val="F2F2F2"/>
                </a:solidFill>
                <a:latin typeface="Consolas"/>
              </a:rPr>
              <a:t>aggregate PGA target parameter   700   -- </a:t>
            </a:r>
            <a:r>
              <a:rPr sz="1250" dirty="0" err="1">
                <a:solidFill>
                  <a:srgbClr val="F2F2F2"/>
                </a:solidFill>
                <a:latin typeface="Consolas"/>
              </a:rPr>
              <a:t>목표</a:t>
            </a:r>
            <a:r>
              <a:rPr sz="1250" dirty="0">
                <a:solidFill>
                  <a:srgbClr val="F2F2F2"/>
                </a:solidFill>
                <a:latin typeface="Consolas"/>
              </a:rPr>
              <a:t>(</a:t>
            </a:r>
            <a:r>
              <a:rPr sz="1250" dirty="0" err="1">
                <a:solidFill>
                  <a:srgbClr val="F2F2F2"/>
                </a:solidFill>
                <a:latin typeface="Consolas"/>
              </a:rPr>
              <a:t>한도</a:t>
            </a:r>
            <a:r>
              <a:rPr sz="1250" dirty="0">
                <a:solidFill>
                  <a:srgbClr val="F2F2F2"/>
                </a:solidFill>
                <a:latin typeface="Consolas"/>
              </a:rPr>
              <a:t> </a:t>
            </a:r>
            <a:r>
              <a:rPr sz="1250" dirty="0" err="1">
                <a:solidFill>
                  <a:srgbClr val="F2F2F2"/>
                </a:solidFill>
                <a:latin typeface="Consolas"/>
              </a:rPr>
              <a:t>아님</a:t>
            </a:r>
            <a:r>
              <a:rPr sz="1250" dirty="0">
                <a:solidFill>
                  <a:srgbClr val="F2F2F2"/>
                </a:solidFill>
                <a:latin typeface="Consolas"/>
              </a:rPr>
              <a:t>)</a:t>
            </a:r>
          </a:p>
          <a:p>
            <a:pPr>
              <a:spcBef>
                <a:spcPts val="0"/>
              </a:spcBef>
              <a:spcAft>
                <a:spcPts val="0"/>
              </a:spcAft>
            </a:pPr>
            <a:r>
              <a:rPr sz="1250" dirty="0">
                <a:solidFill>
                  <a:srgbClr val="F2F2F2"/>
                </a:solidFill>
                <a:latin typeface="Consolas"/>
              </a:rPr>
              <a:t>total PGA </a:t>
            </a:r>
            <a:r>
              <a:rPr sz="1250" dirty="0" err="1">
                <a:solidFill>
                  <a:srgbClr val="F2F2F2"/>
                </a:solidFill>
                <a:latin typeface="Consolas"/>
              </a:rPr>
              <a:t>inuse</a:t>
            </a:r>
            <a:r>
              <a:rPr sz="1250" dirty="0">
                <a:solidFill>
                  <a:srgbClr val="F2F2F2"/>
                </a:solidFill>
                <a:latin typeface="Consolas"/>
              </a:rPr>
              <a:t>                  297.41</a:t>
            </a:r>
          </a:p>
          <a:p>
            <a:pPr>
              <a:spcBef>
                <a:spcPts val="0"/>
              </a:spcBef>
              <a:spcAft>
                <a:spcPts val="0"/>
              </a:spcAft>
            </a:pPr>
            <a:r>
              <a:rPr sz="1250" dirty="0">
                <a:solidFill>
                  <a:srgbClr val="F2F2F2"/>
                </a:solidFill>
                <a:latin typeface="Consolas"/>
              </a:rPr>
              <a:t>total PGA allocated              487.82  -- target 700 </a:t>
            </a:r>
            <a:r>
              <a:rPr sz="1250" dirty="0" err="1">
                <a:solidFill>
                  <a:srgbClr val="F2F2F2"/>
                </a:solidFill>
                <a:latin typeface="Consolas"/>
              </a:rPr>
              <a:t>이내</a:t>
            </a:r>
            <a:endParaRPr sz="1250" dirty="0">
              <a:solidFill>
                <a:srgbClr val="F2F2F2"/>
              </a:solidFill>
              <a:latin typeface="Consolas"/>
            </a:endParaRPr>
          </a:p>
          <a:p>
            <a:pPr>
              <a:spcBef>
                <a:spcPts val="0"/>
              </a:spcBef>
              <a:spcAft>
                <a:spcPts val="0"/>
              </a:spcAft>
            </a:pPr>
            <a:r>
              <a:rPr sz="1250" dirty="0">
                <a:solidFill>
                  <a:srgbClr val="F2F2F2"/>
                </a:solidFill>
                <a:latin typeface="Consolas"/>
              </a:rPr>
              <a:t>maximum PGA allocated            510.74  -- </a:t>
            </a:r>
            <a:r>
              <a:rPr sz="1250" dirty="0" err="1">
                <a:solidFill>
                  <a:srgbClr val="F2F2F2"/>
                </a:solidFill>
                <a:latin typeface="Consolas"/>
              </a:rPr>
              <a:t>기동</a:t>
            </a:r>
            <a:r>
              <a:rPr sz="1250" dirty="0">
                <a:solidFill>
                  <a:srgbClr val="F2F2F2"/>
                </a:solidFill>
                <a:latin typeface="Consolas"/>
              </a:rPr>
              <a:t> </a:t>
            </a:r>
            <a:r>
              <a:rPr sz="1250" dirty="0" err="1">
                <a:solidFill>
                  <a:srgbClr val="F2F2F2"/>
                </a:solidFill>
                <a:latin typeface="Consolas"/>
              </a:rPr>
              <a:t>이후</a:t>
            </a:r>
            <a:r>
              <a:rPr sz="1250" dirty="0">
                <a:solidFill>
                  <a:srgbClr val="F2F2F2"/>
                </a:solidFill>
                <a:latin typeface="Consolas"/>
              </a:rPr>
              <a:t> </a:t>
            </a:r>
            <a:r>
              <a:rPr sz="1250" dirty="0" err="1">
                <a:solidFill>
                  <a:srgbClr val="F2F2F2"/>
                </a:solidFill>
                <a:latin typeface="Consolas"/>
              </a:rPr>
              <a:t>최대</a:t>
            </a:r>
            <a:endParaRPr sz="1250" dirty="0">
              <a:solidFill>
                <a:srgbClr val="F2F2F2"/>
              </a:solidFill>
              <a:latin typeface="Consolas"/>
            </a:endParaRPr>
          </a:p>
          <a:p>
            <a:pPr>
              <a:spcBef>
                <a:spcPts val="0"/>
              </a:spcBef>
              <a:spcAft>
                <a:spcPts val="0"/>
              </a:spcAft>
            </a:pPr>
            <a:r>
              <a:rPr sz="1250" dirty="0">
                <a:solidFill>
                  <a:srgbClr val="F2F2F2"/>
                </a:solidFill>
                <a:latin typeface="Consolas"/>
              </a:rPr>
              <a:t>over allocation count              0   -- </a:t>
            </a:r>
            <a:r>
              <a:rPr sz="1250" dirty="0" err="1">
                <a:solidFill>
                  <a:srgbClr val="F2F2F2"/>
                </a:solidFill>
                <a:latin typeface="Consolas"/>
              </a:rPr>
              <a:t>초과</a:t>
            </a:r>
            <a:r>
              <a:rPr sz="1250" dirty="0">
                <a:solidFill>
                  <a:srgbClr val="F2F2F2"/>
                </a:solidFill>
                <a:latin typeface="Consolas"/>
              </a:rPr>
              <a:t> </a:t>
            </a:r>
            <a:r>
              <a:rPr sz="1250" dirty="0" err="1">
                <a:solidFill>
                  <a:srgbClr val="F2F2F2"/>
                </a:solidFill>
                <a:latin typeface="Consolas"/>
              </a:rPr>
              <a:t>할당</a:t>
            </a:r>
            <a:r>
              <a:rPr sz="1250" dirty="0">
                <a:solidFill>
                  <a:srgbClr val="F2F2F2"/>
                </a:solidFill>
                <a:latin typeface="Consolas"/>
              </a:rPr>
              <a:t> 0(</a:t>
            </a:r>
            <a:r>
              <a:rPr sz="1250" dirty="0" err="1">
                <a:solidFill>
                  <a:srgbClr val="F2F2F2"/>
                </a:solidFill>
                <a:latin typeface="Consolas"/>
              </a:rPr>
              <a:t>건강</a:t>
            </a:r>
            <a:r>
              <a:rPr sz="1250" dirty="0">
                <a:solidFill>
                  <a:srgbClr val="F2F2F2"/>
                </a:solidFill>
                <a:latin typeface="Consolas"/>
              </a:rPr>
              <a:t>)</a:t>
            </a:r>
          </a:p>
          <a:p>
            <a:pPr>
              <a:spcBef>
                <a:spcPts val="0"/>
              </a:spcBef>
              <a:spcAft>
                <a:spcPts val="0"/>
              </a:spcAft>
            </a:pPr>
            <a:r>
              <a:rPr sz="1250" dirty="0">
                <a:solidFill>
                  <a:srgbClr val="F2F2F2"/>
                </a:solidFill>
                <a:latin typeface="Consolas"/>
              </a:rPr>
              <a:t>cache hit percentage             100   -- </a:t>
            </a:r>
            <a:r>
              <a:rPr sz="1250" dirty="0" err="1">
                <a:solidFill>
                  <a:srgbClr val="F2F2F2"/>
                </a:solidFill>
                <a:latin typeface="Consolas"/>
              </a:rPr>
              <a:t>전부</a:t>
            </a:r>
            <a:r>
              <a:rPr sz="1250" dirty="0">
                <a:solidFill>
                  <a:srgbClr val="F2F2F2"/>
                </a:solidFill>
                <a:latin typeface="Consolas"/>
              </a:rPr>
              <a:t> optimal(</a:t>
            </a:r>
            <a:r>
              <a:rPr sz="1250" dirty="0" err="1">
                <a:solidFill>
                  <a:srgbClr val="F2F2F2"/>
                </a:solidFill>
                <a:latin typeface="Consolas"/>
              </a:rPr>
              <a:t>이상적</a:t>
            </a:r>
            <a:r>
              <a:rPr sz="1250" dirty="0">
                <a:solidFill>
                  <a:srgbClr val="F2F2F2"/>
                </a:solidFill>
                <a:latin typeface="Consolas"/>
              </a:rPr>
              <a:t>)</a:t>
            </a:r>
          </a:p>
        </p:txBody>
      </p:sp>
    </p:spTree>
    <p:extLst>
      <p:ext uri="{BB962C8B-B14F-4D97-AF65-F5344CB8AC3E}">
        <p14:creationId xmlns:p14="http://schemas.microsoft.com/office/powerpoint/2010/main" val="521754950"/>
      </p:ext>
    </p:extLst>
  </p:cSld>
  <p:clrMapOvr>
    <a:masterClrMapping/>
  </p:clrMapOvr>
</p:sld>
</file>

<file path=ppt/slides/slide12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작업 영역 히스토그램 (실측)</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모든 버킷에서 onepass·multipass = 0</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09728" rtlCol="0" anchor="t"/>
          <a:lstStyle/>
          <a:p>
            <a:pPr>
              <a:spcBef>
                <a:spcPts val="0"/>
              </a:spcBef>
              <a:spcAft>
                <a:spcPts val="0"/>
              </a:spcAft>
            </a:pPr>
            <a:r>
              <a:rPr sz="1250" dirty="0">
                <a:solidFill>
                  <a:srgbClr val="F2F2F2"/>
                </a:solidFill>
                <a:latin typeface="Consolas"/>
              </a:rPr>
              <a:t>LOW_KB | HIGH_KB | OPTIMAL | ONEPASS | MULTIPASS</a:t>
            </a:r>
          </a:p>
          <a:p>
            <a:pPr>
              <a:spcBef>
                <a:spcPts val="0"/>
              </a:spcBef>
              <a:spcAft>
                <a:spcPts val="0"/>
              </a:spcAft>
            </a:pPr>
            <a:r>
              <a:rPr sz="1250" dirty="0">
                <a:solidFill>
                  <a:srgbClr val="F2F2F2"/>
                </a:solidFill>
                <a:latin typeface="Consolas"/>
              </a:rPr>
              <a:t>-------------------------------------------------</a:t>
            </a:r>
          </a:p>
          <a:p>
            <a:pPr>
              <a:spcBef>
                <a:spcPts val="0"/>
              </a:spcBef>
              <a:spcAft>
                <a:spcPts val="0"/>
              </a:spcAft>
            </a:pPr>
            <a:r>
              <a:rPr sz="1250" dirty="0">
                <a:solidFill>
                  <a:srgbClr val="F2F2F2"/>
                </a:solidFill>
                <a:latin typeface="Consolas"/>
              </a:rPr>
              <a:t>     2 |     4   |   25677 |    0    |    0</a:t>
            </a:r>
          </a:p>
          <a:p>
            <a:pPr>
              <a:spcBef>
                <a:spcPts val="0"/>
              </a:spcBef>
              <a:spcAft>
                <a:spcPts val="0"/>
              </a:spcAft>
            </a:pPr>
            <a:r>
              <a:rPr sz="1250" dirty="0">
                <a:solidFill>
                  <a:srgbClr val="F2F2F2"/>
                </a:solidFill>
                <a:latin typeface="Consolas"/>
              </a:rPr>
              <a:t>    64 |   128   |   20190 |    0    |    0</a:t>
            </a:r>
          </a:p>
          <a:p>
            <a:pPr>
              <a:spcBef>
                <a:spcPts val="0"/>
              </a:spcBef>
              <a:spcAft>
                <a:spcPts val="0"/>
              </a:spcAft>
            </a:pPr>
            <a:r>
              <a:rPr sz="1250" dirty="0">
                <a:solidFill>
                  <a:srgbClr val="F2F2F2"/>
                </a:solidFill>
                <a:latin typeface="Consolas"/>
              </a:rPr>
              <a:t>   512 |  1024   |   10872 |    0    |    0</a:t>
            </a:r>
          </a:p>
          <a:p>
            <a:pPr>
              <a:spcBef>
                <a:spcPts val="0"/>
              </a:spcBef>
              <a:spcAft>
                <a:spcPts val="0"/>
              </a:spcAft>
            </a:pPr>
            <a:r>
              <a:rPr sz="1250" dirty="0">
                <a:solidFill>
                  <a:srgbClr val="F2F2F2"/>
                </a:solidFill>
                <a:latin typeface="Consolas"/>
              </a:rPr>
              <a:t>  1024 |  2048   |   10690 |    0    |    0</a:t>
            </a:r>
          </a:p>
          <a:p>
            <a:pPr>
              <a:spcBef>
                <a:spcPts val="0"/>
              </a:spcBef>
              <a:spcAft>
                <a:spcPts val="0"/>
              </a:spcAft>
            </a:pPr>
            <a:r>
              <a:rPr sz="1250" dirty="0">
                <a:solidFill>
                  <a:srgbClr val="F2F2F2"/>
                </a:solidFill>
                <a:latin typeface="Consolas"/>
              </a:rPr>
              <a:t> 32768 | 65536   |       2 |    0    |    0   &lt;= 큰 </a:t>
            </a:r>
            <a:r>
              <a:rPr sz="1250" dirty="0" err="1">
                <a:solidFill>
                  <a:srgbClr val="F2F2F2"/>
                </a:solidFill>
                <a:latin typeface="Consolas"/>
              </a:rPr>
              <a:t>정렬도</a:t>
            </a:r>
            <a:r>
              <a:rPr sz="1250" dirty="0">
                <a:solidFill>
                  <a:srgbClr val="F2F2F2"/>
                </a:solidFill>
                <a:latin typeface="Consolas"/>
              </a:rPr>
              <a:t> optimal</a:t>
            </a:r>
          </a:p>
          <a:p>
            <a:pPr>
              <a:spcBef>
                <a:spcPts val="0"/>
              </a:spcBef>
              <a:spcAft>
                <a:spcPts val="0"/>
              </a:spcAft>
            </a:pPr>
            <a:r>
              <a:rPr sz="1250" dirty="0">
                <a:solidFill>
                  <a:srgbClr val="F2F2F2"/>
                </a:solidFill>
                <a:latin typeface="Consolas"/>
              </a:rPr>
              <a:t> </a:t>
            </a:r>
          </a:p>
          <a:p>
            <a:pPr>
              <a:spcBef>
                <a:spcPts val="0"/>
              </a:spcBef>
              <a:spcAft>
                <a:spcPts val="0"/>
              </a:spcAft>
            </a:pPr>
            <a:r>
              <a:rPr sz="1250" dirty="0">
                <a:solidFill>
                  <a:srgbClr val="F2F2F2"/>
                </a:solidFill>
                <a:latin typeface="Consolas"/>
              </a:rPr>
              <a:t>-- V$SYSSTAT: sorts(disk)=0, sorts(memory)=67163</a:t>
            </a:r>
          </a:p>
        </p:txBody>
      </p:sp>
    </p:spTree>
    <p:extLst>
      <p:ext uri="{BB962C8B-B14F-4D97-AF65-F5344CB8AC3E}">
        <p14:creationId xmlns:p14="http://schemas.microsoft.com/office/powerpoint/2010/main" val="2505263166"/>
      </p:ext>
    </p:extLst>
  </p:cSld>
  <p:clrMapOvr>
    <a:masterClrMapping/>
  </p:clrMapOvr>
</p:sld>
</file>

<file path=ppt/slides/slide13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PGA_AGGREGATE_TARGET 튜닝 — 추측하지 않는다</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V$PGA_TARGET_ADVICE로 근거 있게</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09728" rtlCol="0" anchor="t"/>
          <a:lstStyle/>
          <a:p>
            <a:pPr>
              <a:spcBef>
                <a:spcPts val="0"/>
              </a:spcBef>
              <a:spcAft>
                <a:spcPts val="0"/>
              </a:spcAft>
            </a:pPr>
            <a:r>
              <a:rPr sz="1250" dirty="0">
                <a:solidFill>
                  <a:srgbClr val="F2F2F2"/>
                </a:solidFill>
                <a:latin typeface="Consolas"/>
              </a:rPr>
              <a:t>SELECT ROUND(</a:t>
            </a:r>
            <a:r>
              <a:rPr sz="1250" dirty="0" err="1">
                <a:solidFill>
                  <a:srgbClr val="F2F2F2"/>
                </a:solidFill>
                <a:latin typeface="Consolas"/>
              </a:rPr>
              <a:t>pga_target_for_estimate</a:t>
            </a:r>
            <a:r>
              <a:rPr sz="1250" dirty="0">
                <a:solidFill>
                  <a:srgbClr val="F2F2F2"/>
                </a:solidFill>
                <a:latin typeface="Consolas"/>
              </a:rPr>
              <a:t>/1024/1024) </a:t>
            </a:r>
            <a:r>
              <a:rPr sz="1250" dirty="0" err="1">
                <a:solidFill>
                  <a:srgbClr val="F2F2F2"/>
                </a:solidFill>
                <a:latin typeface="Consolas"/>
              </a:rPr>
              <a:t>target_mb</a:t>
            </a:r>
            <a:r>
              <a:rPr sz="1250" dirty="0">
                <a:solidFill>
                  <a:srgbClr val="F2F2F2"/>
                </a:solidFill>
                <a:latin typeface="Consolas"/>
              </a:rPr>
              <a:t>,</a:t>
            </a:r>
          </a:p>
          <a:p>
            <a:pPr>
              <a:spcBef>
                <a:spcPts val="0"/>
              </a:spcBef>
              <a:spcAft>
                <a:spcPts val="0"/>
              </a:spcAft>
            </a:pPr>
            <a:r>
              <a:rPr sz="1250" dirty="0">
                <a:solidFill>
                  <a:srgbClr val="F2F2F2"/>
                </a:solidFill>
                <a:latin typeface="Consolas"/>
              </a:rPr>
              <a:t>       </a:t>
            </a:r>
            <a:r>
              <a:rPr sz="1250" dirty="0" err="1">
                <a:solidFill>
                  <a:srgbClr val="F2F2F2"/>
                </a:solidFill>
                <a:latin typeface="Consolas"/>
              </a:rPr>
              <a:t>estd_pga_cache_hit_percentage</a:t>
            </a:r>
            <a:r>
              <a:rPr sz="1250" dirty="0">
                <a:solidFill>
                  <a:srgbClr val="F2F2F2"/>
                </a:solidFill>
                <a:latin typeface="Consolas"/>
              </a:rPr>
              <a:t> </a:t>
            </a:r>
            <a:r>
              <a:rPr sz="1250" dirty="0" err="1">
                <a:solidFill>
                  <a:srgbClr val="F2F2F2"/>
                </a:solidFill>
                <a:latin typeface="Consolas"/>
              </a:rPr>
              <a:t>cache_hit_perc</a:t>
            </a:r>
            <a:r>
              <a:rPr sz="1250" dirty="0">
                <a:solidFill>
                  <a:srgbClr val="F2F2F2"/>
                </a:solidFill>
                <a:latin typeface="Consolas"/>
              </a:rPr>
              <a:t>,</a:t>
            </a:r>
          </a:p>
          <a:p>
            <a:pPr>
              <a:spcBef>
                <a:spcPts val="0"/>
              </a:spcBef>
              <a:spcAft>
                <a:spcPts val="0"/>
              </a:spcAft>
            </a:pPr>
            <a:r>
              <a:rPr sz="1250" dirty="0">
                <a:solidFill>
                  <a:srgbClr val="F2F2F2"/>
                </a:solidFill>
                <a:latin typeface="Consolas"/>
              </a:rPr>
              <a:t>       </a:t>
            </a:r>
            <a:r>
              <a:rPr sz="1250" dirty="0" err="1">
                <a:solidFill>
                  <a:srgbClr val="F2F2F2"/>
                </a:solidFill>
                <a:latin typeface="Consolas"/>
              </a:rPr>
              <a:t>estd_overalloc_count</a:t>
            </a:r>
            <a:endParaRPr sz="1250" dirty="0">
              <a:solidFill>
                <a:srgbClr val="F2F2F2"/>
              </a:solidFill>
              <a:latin typeface="Consolas"/>
            </a:endParaRPr>
          </a:p>
          <a:p>
            <a:pPr>
              <a:spcBef>
                <a:spcPts val="0"/>
              </a:spcBef>
              <a:spcAft>
                <a:spcPts val="0"/>
              </a:spcAft>
            </a:pPr>
            <a:r>
              <a:rPr sz="1250" dirty="0">
                <a:solidFill>
                  <a:srgbClr val="F2F2F2"/>
                </a:solidFill>
                <a:latin typeface="Consolas"/>
              </a:rPr>
              <a:t>  FROM </a:t>
            </a:r>
            <a:r>
              <a:rPr sz="1250" dirty="0" err="1">
                <a:solidFill>
                  <a:srgbClr val="F2F2F2"/>
                </a:solidFill>
                <a:latin typeface="Consolas"/>
              </a:rPr>
              <a:t>v$pga_target_advice</a:t>
            </a:r>
            <a:r>
              <a:rPr sz="1250" dirty="0">
                <a:solidFill>
                  <a:srgbClr val="F2F2F2"/>
                </a:solidFill>
                <a:latin typeface="Consolas"/>
              </a:rPr>
              <a:t>;</a:t>
            </a:r>
          </a:p>
          <a:p>
            <a:pPr>
              <a:spcBef>
                <a:spcPts val="0"/>
              </a:spcBef>
              <a:spcAft>
                <a:spcPts val="0"/>
              </a:spcAft>
            </a:pPr>
            <a:r>
              <a:rPr sz="1250" dirty="0">
                <a:solidFill>
                  <a:srgbClr val="F2F2F2"/>
                </a:solidFill>
                <a:latin typeface="Consolas"/>
              </a:rPr>
              <a:t> </a:t>
            </a:r>
          </a:p>
          <a:p>
            <a:pPr>
              <a:spcBef>
                <a:spcPts val="0"/>
              </a:spcBef>
              <a:spcAft>
                <a:spcPts val="0"/>
              </a:spcAft>
            </a:pPr>
            <a:r>
              <a:rPr sz="1250" dirty="0">
                <a:solidFill>
                  <a:srgbClr val="F2F2F2"/>
                </a:solidFill>
                <a:latin typeface="Consolas"/>
              </a:rPr>
              <a:t>-- </a:t>
            </a:r>
            <a:r>
              <a:rPr sz="1250" dirty="0" err="1">
                <a:solidFill>
                  <a:srgbClr val="F2F2F2"/>
                </a:solidFill>
                <a:latin typeface="Consolas"/>
              </a:rPr>
              <a:t>절차</a:t>
            </a:r>
            <a:r>
              <a:rPr sz="1250" dirty="0">
                <a:solidFill>
                  <a:srgbClr val="F2F2F2"/>
                </a:solidFill>
                <a:latin typeface="Consolas"/>
              </a:rPr>
              <a:t> ① over allocation=0 </a:t>
            </a:r>
            <a:r>
              <a:rPr sz="1250" dirty="0" err="1">
                <a:solidFill>
                  <a:srgbClr val="F2F2F2"/>
                </a:solidFill>
                <a:latin typeface="Consolas"/>
              </a:rPr>
              <a:t>되는</a:t>
            </a:r>
            <a:r>
              <a:rPr sz="1250" dirty="0">
                <a:solidFill>
                  <a:srgbClr val="F2F2F2"/>
                </a:solidFill>
                <a:latin typeface="Consolas"/>
              </a:rPr>
              <a:t> </a:t>
            </a:r>
            <a:r>
              <a:rPr sz="1250" dirty="0" err="1">
                <a:solidFill>
                  <a:srgbClr val="F2F2F2"/>
                </a:solidFill>
                <a:latin typeface="Consolas"/>
              </a:rPr>
              <a:t>지점</a:t>
            </a:r>
            <a:r>
              <a:rPr sz="1250" dirty="0">
                <a:solidFill>
                  <a:srgbClr val="F2F2F2"/>
                </a:solidFill>
                <a:latin typeface="Consolas"/>
              </a:rPr>
              <a:t> </a:t>
            </a:r>
            <a:r>
              <a:rPr sz="1250" dirty="0" err="1">
                <a:solidFill>
                  <a:srgbClr val="F2F2F2"/>
                </a:solidFill>
                <a:latin typeface="Consolas"/>
              </a:rPr>
              <a:t>이상으로</a:t>
            </a:r>
            <a:r>
              <a:rPr sz="1250" dirty="0">
                <a:solidFill>
                  <a:srgbClr val="F2F2F2"/>
                </a:solidFill>
                <a:latin typeface="Consolas"/>
              </a:rPr>
              <a:t> target</a:t>
            </a:r>
          </a:p>
          <a:p>
            <a:pPr>
              <a:spcBef>
                <a:spcPts val="0"/>
              </a:spcBef>
              <a:spcAft>
                <a:spcPts val="0"/>
              </a:spcAft>
            </a:pPr>
            <a:r>
              <a:rPr sz="1250" dirty="0">
                <a:solidFill>
                  <a:srgbClr val="F2F2F2"/>
                </a:solidFill>
                <a:latin typeface="Consolas"/>
              </a:rPr>
              <a:t>--      ② </a:t>
            </a:r>
            <a:r>
              <a:rPr sz="1250" dirty="0" err="1">
                <a:solidFill>
                  <a:srgbClr val="F2F2F2"/>
                </a:solidFill>
                <a:latin typeface="Consolas"/>
              </a:rPr>
              <a:t>응답시간·메모리</a:t>
            </a:r>
            <a:r>
              <a:rPr sz="1250" dirty="0">
                <a:solidFill>
                  <a:srgbClr val="F2F2F2"/>
                </a:solidFill>
                <a:latin typeface="Consolas"/>
              </a:rPr>
              <a:t> </a:t>
            </a:r>
            <a:r>
              <a:rPr sz="1250" dirty="0" err="1">
                <a:solidFill>
                  <a:srgbClr val="F2F2F2"/>
                </a:solidFill>
                <a:latin typeface="Consolas"/>
              </a:rPr>
              <a:t>제약</a:t>
            </a:r>
            <a:r>
              <a:rPr sz="1250" dirty="0">
                <a:solidFill>
                  <a:srgbClr val="F2F2F2"/>
                </a:solidFill>
                <a:latin typeface="Consolas"/>
              </a:rPr>
              <a:t> </a:t>
            </a:r>
            <a:r>
              <a:rPr sz="1250" dirty="0" err="1">
                <a:solidFill>
                  <a:srgbClr val="F2F2F2"/>
                </a:solidFill>
                <a:latin typeface="Consolas"/>
              </a:rPr>
              <a:t>안에서</a:t>
            </a:r>
            <a:r>
              <a:rPr sz="1250" dirty="0">
                <a:solidFill>
                  <a:srgbClr val="F2F2F2"/>
                </a:solidFill>
                <a:latin typeface="Consolas"/>
              </a:rPr>
              <a:t> cache hit </a:t>
            </a:r>
            <a:r>
              <a:rPr sz="1250" dirty="0" err="1">
                <a:solidFill>
                  <a:srgbClr val="F2F2F2"/>
                </a:solidFill>
                <a:latin typeface="Consolas"/>
              </a:rPr>
              <a:t>최대화</a:t>
            </a:r>
            <a:endParaRPr sz="1250" dirty="0">
              <a:solidFill>
                <a:srgbClr val="F2F2F2"/>
              </a:solidFill>
              <a:latin typeface="Consolas"/>
            </a:endParaRPr>
          </a:p>
          <a:p>
            <a:pPr>
              <a:spcBef>
                <a:spcPts val="0"/>
              </a:spcBef>
              <a:spcAft>
                <a:spcPts val="0"/>
              </a:spcAft>
            </a:pPr>
            <a:r>
              <a:rPr sz="1250" dirty="0">
                <a:solidFill>
                  <a:srgbClr val="F2F2F2"/>
                </a:solidFill>
                <a:latin typeface="Consolas"/>
              </a:rPr>
              <a:t>--      ③ </a:t>
            </a:r>
            <a:r>
              <a:rPr sz="1250" dirty="0" err="1">
                <a:solidFill>
                  <a:srgbClr val="F2F2F2"/>
                </a:solidFill>
                <a:latin typeface="Consolas"/>
              </a:rPr>
              <a:t>조정</a:t>
            </a:r>
            <a:r>
              <a:rPr sz="1250" dirty="0">
                <a:solidFill>
                  <a:srgbClr val="F2F2F2"/>
                </a:solidFill>
                <a:latin typeface="Consolas"/>
              </a:rPr>
              <a:t> 후 </a:t>
            </a:r>
            <a:r>
              <a:rPr sz="1250" dirty="0" err="1">
                <a:solidFill>
                  <a:srgbClr val="F2F2F2"/>
                </a:solidFill>
                <a:latin typeface="Consolas"/>
              </a:rPr>
              <a:t>실제</a:t>
            </a:r>
            <a:r>
              <a:rPr sz="1250" dirty="0">
                <a:solidFill>
                  <a:srgbClr val="F2F2F2"/>
                </a:solidFill>
                <a:latin typeface="Consolas"/>
              </a:rPr>
              <a:t> optimal/one/multi </a:t>
            </a:r>
            <a:r>
              <a:rPr sz="1250" dirty="0" err="1">
                <a:solidFill>
                  <a:srgbClr val="F2F2F2"/>
                </a:solidFill>
                <a:latin typeface="Consolas"/>
              </a:rPr>
              <a:t>분포로</a:t>
            </a:r>
            <a:r>
              <a:rPr sz="1250" dirty="0">
                <a:solidFill>
                  <a:srgbClr val="F2F2F2"/>
                </a:solidFill>
                <a:latin typeface="Consolas"/>
              </a:rPr>
              <a:t> </a:t>
            </a:r>
            <a:r>
              <a:rPr sz="1250" dirty="0" err="1">
                <a:solidFill>
                  <a:srgbClr val="F2F2F2"/>
                </a:solidFill>
                <a:latin typeface="Consolas"/>
              </a:rPr>
              <a:t>검증</a:t>
            </a:r>
            <a:endParaRPr sz="1250" dirty="0">
              <a:solidFill>
                <a:srgbClr val="F2F2F2"/>
              </a:solidFill>
              <a:latin typeface="Consolas"/>
            </a:endParaRPr>
          </a:p>
        </p:txBody>
      </p:sp>
    </p:spTree>
    <p:extLst>
      <p:ext uri="{BB962C8B-B14F-4D97-AF65-F5344CB8AC3E}">
        <p14:creationId xmlns:p14="http://schemas.microsoft.com/office/powerpoint/2010/main" val="4250245149"/>
      </p:ext>
    </p:extLst>
  </p:cSld>
  <p:clrMapOvr>
    <a:masterClrMapping/>
  </p:clrMapOvr>
</p:sld>
</file>

<file path=ppt/slides/slide13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범인 좁히기 — 세션·커서 수준</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히스토그램이 이상하면 여기서 지목</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V$PROCESS_MEMORY: 프로세스별 PGA를 범주(SQL·PL/SQL·기타)로 분해</a:t>
            </a:r>
          </a:p>
          <a:p>
            <a:pPr algn="l">
              <a:spcAft>
                <a:spcPts val="600"/>
              </a:spcAft>
            </a:pPr>
            <a:r>
              <a:rPr sz="1700" b="0">
                <a:solidFill>
                  <a:srgbClr val="222222"/>
                </a:solidFill>
                <a:latin typeface="맑은 고딕"/>
              </a:rPr>
              <a:t>•  → 조정 불가능 PGA 폭주 세션 지목(ORA-04036 원인 추적)</a:t>
            </a:r>
          </a:p>
          <a:p>
            <a:pPr algn="l">
              <a:spcAft>
                <a:spcPts val="600"/>
              </a:spcAft>
            </a:pPr>
            <a:r>
              <a:rPr sz="1700" b="0">
                <a:solidFill>
                  <a:srgbClr val="222222"/>
                </a:solidFill>
                <a:latin typeface="맑은 고딕"/>
              </a:rPr>
              <a:t>•  V$SQL_WORKAREA: 커서별 작업 영역 누적 통계</a:t>
            </a:r>
          </a:p>
          <a:p>
            <a:pPr algn="l">
              <a:spcAft>
                <a:spcPts val="600"/>
              </a:spcAft>
            </a:pPr>
            <a:r>
              <a:rPr sz="1700" b="0">
                <a:solidFill>
                  <a:srgbClr val="222222"/>
                </a:solidFill>
                <a:latin typeface="맑은 고딕"/>
              </a:rPr>
              <a:t>•  → V$SQL·V$SQL_PLAN 조인 시 어느 연산자가 one/multi-pass인지</a:t>
            </a:r>
          </a:p>
          <a:p>
            <a:pPr algn="l">
              <a:spcAft>
                <a:spcPts val="600"/>
              </a:spcAft>
            </a:pPr>
            <a:r>
              <a:rPr sz="1700" b="0">
                <a:solidFill>
                  <a:srgbClr val="222222"/>
                </a:solidFill>
                <a:latin typeface="맑은 고딕"/>
              </a:rPr>
              <a:t>•  one/multi-pass 커서만 뽑는 질의 = 실측에선 '빈 결과'(건강 증명)</a:t>
            </a:r>
          </a:p>
          <a:p>
            <a:pPr algn="l">
              <a:spcAft>
                <a:spcPts val="600"/>
              </a:spcAft>
            </a:pPr>
            <a:r>
              <a:rPr sz="1700" b="0">
                <a:solidFill>
                  <a:srgbClr val="222222"/>
                </a:solidFill>
                <a:latin typeface="맑은 고딕"/>
              </a:rPr>
              <a:t>•  V$SQL_WORKAREA_ACTIVE: 실행 중 NUMBER_PASSES·TEMPSEG_SIZE 실시간</a:t>
            </a:r>
          </a:p>
        </p:txBody>
      </p:sp>
    </p:spTree>
    <p:extLst>
      <p:ext uri="{BB962C8B-B14F-4D97-AF65-F5344CB8AC3E}">
        <p14:creationId xmlns:p14="http://schemas.microsoft.com/office/powerpoint/2010/main" val="311541881"/>
      </p:ext>
    </p:extLst>
  </p:cSld>
  <p:clrMapOvr>
    <a:masterClrMapping/>
  </p:clrMapOvr>
</p:sld>
</file>

<file path=ppt/slides/slide13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33.10</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1-pass·multi-pass 정렬 재현</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400"/>
              </a:spcAft>
            </a:pPr>
            <a:r>
              <a:rPr sz="1600" b="0">
                <a:solidFill>
                  <a:srgbClr val="FFFFFF"/>
                </a:solidFill>
                <a:latin typeface="맑은 고딕"/>
              </a:rPr>
              <a:t>•  건강한 상태에서 나쁜 상태를 일부러 만든다</a:t>
            </a:r>
          </a:p>
          <a:p>
            <a:pPr algn="l">
              <a:spcAft>
                <a:spcPts val="400"/>
              </a:spcAft>
            </a:pPr>
            <a:r>
              <a:rPr sz="1600" b="0">
                <a:solidFill>
                  <a:srgbClr val="FFFFFF"/>
                </a:solidFill>
                <a:latin typeface="맑은 고딕"/>
              </a:rPr>
              <a:t>•  세션 수준 축소 — 인스턴스는 건드리지 않는다</a:t>
            </a:r>
          </a:p>
          <a:p>
            <a:pPr algn="l">
              <a:spcAft>
                <a:spcPts val="400"/>
              </a:spcAft>
            </a:pPr>
            <a:r>
              <a:rPr sz="1600" b="0">
                <a:solidFill>
                  <a:srgbClr val="FFFFFF"/>
                </a:solidFill>
                <a:latin typeface="맑은 고딕"/>
              </a:rPr>
              <a:t>•  디스크 정렬·임시 테이블스페이스 사용 관찰</a:t>
            </a:r>
          </a:p>
        </p:txBody>
      </p:sp>
    </p:spTree>
    <p:extLst>
      <p:ext uri="{BB962C8B-B14F-4D97-AF65-F5344CB8AC3E}">
        <p14:creationId xmlns:p14="http://schemas.microsoft.com/office/powerpoint/2010/main" val="1776072832"/>
      </p:ext>
    </p:extLst>
  </p:cSld>
  <p:clrMapOvr>
    <a:masterClrMapping/>
  </p:clrMapOvr>
</p:sld>
</file>

<file path=ppt/slides/slide13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세션 수준 축소로 디스크 정렬 재현</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인스턴스 파라미터는 절대 건드리지 않는다</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09728" rtlCol="0" anchor="t"/>
          <a:lstStyle/>
          <a:p>
            <a:pPr>
              <a:spcBef>
                <a:spcPts val="0"/>
              </a:spcBef>
              <a:spcAft>
                <a:spcPts val="0"/>
              </a:spcAft>
            </a:pPr>
            <a:r>
              <a:rPr sz="1250" dirty="0">
                <a:solidFill>
                  <a:srgbClr val="F2F2F2"/>
                </a:solidFill>
                <a:latin typeface="Consolas"/>
              </a:rPr>
              <a:t>-- (</a:t>
            </a:r>
            <a:r>
              <a:rPr sz="1250" dirty="0" err="1">
                <a:solidFill>
                  <a:srgbClr val="F2F2F2"/>
                </a:solidFill>
                <a:latin typeface="Consolas"/>
              </a:rPr>
              <a:t>개인</a:t>
            </a:r>
            <a:r>
              <a:rPr sz="1250" dirty="0">
                <a:solidFill>
                  <a:srgbClr val="F2F2F2"/>
                </a:solidFill>
                <a:latin typeface="Consolas"/>
              </a:rPr>
              <a:t> </a:t>
            </a:r>
            <a:r>
              <a:rPr sz="1250" dirty="0" err="1">
                <a:solidFill>
                  <a:srgbClr val="F2F2F2"/>
                </a:solidFill>
                <a:latin typeface="Consolas"/>
              </a:rPr>
              <a:t>실습</a:t>
            </a:r>
            <a:r>
              <a:rPr sz="1250" dirty="0">
                <a:solidFill>
                  <a:srgbClr val="F2F2F2"/>
                </a:solidFill>
                <a:latin typeface="Consolas"/>
              </a:rPr>
              <a:t> </a:t>
            </a:r>
            <a:r>
              <a:rPr sz="1250" dirty="0" err="1">
                <a:solidFill>
                  <a:srgbClr val="F2F2F2"/>
                </a:solidFill>
                <a:latin typeface="Consolas"/>
              </a:rPr>
              <a:t>환경</a:t>
            </a:r>
            <a:r>
              <a:rPr sz="1250" dirty="0">
                <a:solidFill>
                  <a:srgbClr val="F2F2F2"/>
                </a:solidFill>
                <a:latin typeface="Consolas"/>
              </a:rPr>
              <a:t> </a:t>
            </a:r>
            <a:r>
              <a:rPr sz="1250" dirty="0" err="1">
                <a:solidFill>
                  <a:srgbClr val="F2F2F2"/>
                </a:solidFill>
                <a:latin typeface="Consolas"/>
              </a:rPr>
              <a:t>전용</a:t>
            </a:r>
            <a:r>
              <a:rPr sz="1250" dirty="0">
                <a:solidFill>
                  <a:srgbClr val="F2F2F2"/>
                </a:solidFill>
                <a:latin typeface="Consolas"/>
              </a:rPr>
              <a:t>) 이 </a:t>
            </a:r>
            <a:r>
              <a:rPr sz="1250" dirty="0" err="1">
                <a:solidFill>
                  <a:srgbClr val="F2F2F2"/>
                </a:solidFill>
                <a:latin typeface="Consolas"/>
              </a:rPr>
              <a:t>세션의</a:t>
            </a:r>
            <a:r>
              <a:rPr sz="1250" dirty="0">
                <a:solidFill>
                  <a:srgbClr val="F2F2F2"/>
                </a:solidFill>
                <a:latin typeface="Consolas"/>
              </a:rPr>
              <a:t> </a:t>
            </a:r>
            <a:r>
              <a:rPr sz="1250" dirty="0" err="1">
                <a:solidFill>
                  <a:srgbClr val="F2F2F2"/>
                </a:solidFill>
                <a:latin typeface="Consolas"/>
              </a:rPr>
              <a:t>작업</a:t>
            </a:r>
            <a:r>
              <a:rPr sz="1250" dirty="0">
                <a:solidFill>
                  <a:srgbClr val="F2F2F2"/>
                </a:solidFill>
                <a:latin typeface="Consolas"/>
              </a:rPr>
              <a:t> </a:t>
            </a:r>
            <a:r>
              <a:rPr sz="1250" dirty="0" err="1">
                <a:solidFill>
                  <a:srgbClr val="F2F2F2"/>
                </a:solidFill>
                <a:latin typeface="Consolas"/>
              </a:rPr>
              <a:t>영역만</a:t>
            </a:r>
            <a:r>
              <a:rPr sz="1250" dirty="0">
                <a:solidFill>
                  <a:srgbClr val="F2F2F2"/>
                </a:solidFill>
                <a:latin typeface="Consolas"/>
              </a:rPr>
              <a:t> </a:t>
            </a:r>
            <a:r>
              <a:rPr sz="1250" dirty="0" err="1">
                <a:solidFill>
                  <a:srgbClr val="F2F2F2"/>
                </a:solidFill>
                <a:latin typeface="Consolas"/>
              </a:rPr>
              <a:t>축소</a:t>
            </a:r>
            <a:endParaRPr sz="1250" dirty="0">
              <a:solidFill>
                <a:srgbClr val="F2F2F2"/>
              </a:solidFill>
              <a:latin typeface="Consolas"/>
            </a:endParaRPr>
          </a:p>
          <a:p>
            <a:pPr>
              <a:spcBef>
                <a:spcPts val="0"/>
              </a:spcBef>
              <a:spcAft>
                <a:spcPts val="0"/>
              </a:spcAft>
            </a:pPr>
            <a:r>
              <a:rPr sz="1250" dirty="0">
                <a:solidFill>
                  <a:srgbClr val="F2F2F2"/>
                </a:solidFill>
                <a:latin typeface="Consolas"/>
              </a:rPr>
              <a:t>ALTER SESSION SET WORKAREA_SIZE_POLICY = MANUAL;</a:t>
            </a:r>
          </a:p>
          <a:p>
            <a:pPr>
              <a:spcBef>
                <a:spcPts val="0"/>
              </a:spcBef>
              <a:spcAft>
                <a:spcPts val="0"/>
              </a:spcAft>
            </a:pPr>
            <a:r>
              <a:rPr sz="1250" dirty="0">
                <a:solidFill>
                  <a:srgbClr val="F2F2F2"/>
                </a:solidFill>
                <a:latin typeface="Consolas"/>
              </a:rPr>
              <a:t>ALTER SESSION SET SORT_AREA_SIZE = 65536;   -- 64KB</a:t>
            </a:r>
          </a:p>
          <a:p>
            <a:pPr>
              <a:spcBef>
                <a:spcPts val="0"/>
              </a:spcBef>
              <a:spcAft>
                <a:spcPts val="0"/>
              </a:spcAft>
            </a:pPr>
            <a:r>
              <a:rPr sz="1250" dirty="0">
                <a:solidFill>
                  <a:srgbClr val="F2F2F2"/>
                </a:solidFill>
                <a:latin typeface="Consolas"/>
              </a:rPr>
              <a:t>ALTER SESSION SET HASH_AREA_SIZE = 65536;</a:t>
            </a:r>
          </a:p>
          <a:p>
            <a:pPr>
              <a:spcBef>
                <a:spcPts val="0"/>
              </a:spcBef>
              <a:spcAft>
                <a:spcPts val="0"/>
              </a:spcAft>
            </a:pPr>
            <a:r>
              <a:rPr sz="1250" dirty="0">
                <a:solidFill>
                  <a:srgbClr val="F2F2F2"/>
                </a:solidFill>
                <a:latin typeface="Consolas"/>
              </a:rPr>
              <a:t> </a:t>
            </a:r>
          </a:p>
          <a:p>
            <a:pPr>
              <a:spcBef>
                <a:spcPts val="0"/>
              </a:spcBef>
              <a:spcAft>
                <a:spcPts val="0"/>
              </a:spcAft>
            </a:pPr>
            <a:r>
              <a:rPr sz="1250" dirty="0">
                <a:solidFill>
                  <a:srgbClr val="F2F2F2"/>
                </a:solidFill>
                <a:latin typeface="Consolas"/>
              </a:rPr>
              <a:t>-- </a:t>
            </a:r>
            <a:r>
              <a:rPr sz="1250" dirty="0" err="1">
                <a:solidFill>
                  <a:srgbClr val="F2F2F2"/>
                </a:solidFill>
                <a:latin typeface="Consolas"/>
              </a:rPr>
              <a:t>대량</a:t>
            </a:r>
            <a:r>
              <a:rPr sz="1250" dirty="0">
                <a:solidFill>
                  <a:srgbClr val="F2F2F2"/>
                </a:solidFill>
                <a:latin typeface="Consolas"/>
              </a:rPr>
              <a:t> </a:t>
            </a:r>
            <a:r>
              <a:rPr sz="1250" dirty="0" err="1">
                <a:solidFill>
                  <a:srgbClr val="F2F2F2"/>
                </a:solidFill>
                <a:latin typeface="Consolas"/>
              </a:rPr>
              <a:t>정렬</a:t>
            </a:r>
            <a:r>
              <a:rPr sz="1250" dirty="0">
                <a:solidFill>
                  <a:srgbClr val="F2F2F2"/>
                </a:solidFill>
                <a:latin typeface="Consolas"/>
              </a:rPr>
              <a:t> (CLAIM_DETAILS 100만 행 </a:t>
            </a:r>
            <a:r>
              <a:rPr sz="1250" dirty="0" err="1">
                <a:solidFill>
                  <a:srgbClr val="F2F2F2"/>
                </a:solidFill>
                <a:latin typeface="Consolas"/>
              </a:rPr>
              <a:t>규모</a:t>
            </a:r>
            <a:r>
              <a:rPr sz="1250" dirty="0">
                <a:solidFill>
                  <a:srgbClr val="F2F2F2"/>
                </a:solidFill>
                <a:latin typeface="Consolas"/>
              </a:rPr>
              <a:t>)</a:t>
            </a:r>
          </a:p>
          <a:p>
            <a:pPr>
              <a:spcBef>
                <a:spcPts val="0"/>
              </a:spcBef>
              <a:spcAft>
                <a:spcPts val="0"/>
              </a:spcAft>
            </a:pPr>
            <a:r>
              <a:rPr sz="1250" dirty="0">
                <a:solidFill>
                  <a:srgbClr val="F2F2F2"/>
                </a:solidFill>
                <a:latin typeface="Consolas"/>
              </a:rPr>
              <a:t>SELECT </a:t>
            </a:r>
            <a:r>
              <a:rPr sz="1250" dirty="0" err="1">
                <a:solidFill>
                  <a:srgbClr val="F2F2F2"/>
                </a:solidFill>
                <a:latin typeface="Consolas"/>
              </a:rPr>
              <a:t>drug_code</a:t>
            </a:r>
            <a:r>
              <a:rPr sz="1250" dirty="0">
                <a:solidFill>
                  <a:srgbClr val="F2F2F2"/>
                </a:solidFill>
                <a:latin typeface="Consolas"/>
              </a:rPr>
              <a:t>, COUNT(*), SUM(</a:t>
            </a:r>
            <a:r>
              <a:rPr sz="1250" dirty="0" err="1">
                <a:solidFill>
                  <a:srgbClr val="F2F2F2"/>
                </a:solidFill>
                <a:latin typeface="Consolas"/>
              </a:rPr>
              <a:t>claim_amount</a:t>
            </a:r>
            <a:r>
              <a:rPr sz="1250" dirty="0">
                <a:solidFill>
                  <a:srgbClr val="F2F2F2"/>
                </a:solidFill>
                <a:latin typeface="Consolas"/>
              </a:rPr>
              <a:t>)</a:t>
            </a:r>
          </a:p>
          <a:p>
            <a:pPr>
              <a:spcBef>
                <a:spcPts val="0"/>
              </a:spcBef>
              <a:spcAft>
                <a:spcPts val="0"/>
              </a:spcAft>
            </a:pPr>
            <a:r>
              <a:rPr sz="1250" dirty="0">
                <a:solidFill>
                  <a:srgbClr val="F2F2F2"/>
                </a:solidFill>
                <a:latin typeface="Consolas"/>
              </a:rPr>
              <a:t>  FROM </a:t>
            </a:r>
            <a:r>
              <a:rPr sz="1250" dirty="0" err="1">
                <a:solidFill>
                  <a:srgbClr val="F2F2F2"/>
                </a:solidFill>
                <a:latin typeface="Consolas"/>
              </a:rPr>
              <a:t>claim_details</a:t>
            </a:r>
            <a:r>
              <a:rPr sz="1250" dirty="0">
                <a:solidFill>
                  <a:srgbClr val="F2F2F2"/>
                </a:solidFill>
                <a:latin typeface="Consolas"/>
              </a:rPr>
              <a:t> GROUP BY </a:t>
            </a:r>
            <a:r>
              <a:rPr sz="1250" dirty="0" err="1">
                <a:solidFill>
                  <a:srgbClr val="F2F2F2"/>
                </a:solidFill>
                <a:latin typeface="Consolas"/>
              </a:rPr>
              <a:t>drug_code</a:t>
            </a:r>
            <a:r>
              <a:rPr sz="1250" dirty="0">
                <a:solidFill>
                  <a:srgbClr val="F2F2F2"/>
                </a:solidFill>
                <a:latin typeface="Consolas"/>
              </a:rPr>
              <a:t> ORDER BY 3 DESC;</a:t>
            </a:r>
          </a:p>
          <a:p>
            <a:pPr>
              <a:spcBef>
                <a:spcPts val="0"/>
              </a:spcBef>
              <a:spcAft>
                <a:spcPts val="0"/>
              </a:spcAft>
            </a:pPr>
            <a:r>
              <a:rPr sz="1250" dirty="0">
                <a:solidFill>
                  <a:srgbClr val="F2F2F2"/>
                </a:solidFill>
                <a:latin typeface="Consolas"/>
              </a:rPr>
              <a:t>-- </a:t>
            </a:r>
            <a:r>
              <a:rPr sz="1250" dirty="0" err="1">
                <a:solidFill>
                  <a:srgbClr val="F2F2F2"/>
                </a:solidFill>
                <a:latin typeface="Consolas"/>
              </a:rPr>
              <a:t>관찰</a:t>
            </a:r>
            <a:r>
              <a:rPr sz="1250" dirty="0">
                <a:solidFill>
                  <a:srgbClr val="F2F2F2"/>
                </a:solidFill>
                <a:latin typeface="Consolas"/>
              </a:rPr>
              <a:t>: sorts(disk)↑, </a:t>
            </a:r>
            <a:r>
              <a:rPr sz="1250" dirty="0" err="1">
                <a:solidFill>
                  <a:srgbClr val="F2F2F2"/>
                </a:solidFill>
                <a:latin typeface="Consolas"/>
              </a:rPr>
              <a:t>히스토그램</a:t>
            </a:r>
            <a:r>
              <a:rPr sz="1250" dirty="0">
                <a:solidFill>
                  <a:srgbClr val="F2F2F2"/>
                </a:solidFill>
                <a:latin typeface="Consolas"/>
              </a:rPr>
              <a:t> </a:t>
            </a:r>
            <a:r>
              <a:rPr sz="1250" dirty="0" err="1">
                <a:solidFill>
                  <a:srgbClr val="F2F2F2"/>
                </a:solidFill>
                <a:latin typeface="Consolas"/>
              </a:rPr>
              <a:t>onepass</a:t>
            </a:r>
            <a:r>
              <a:rPr sz="1250" dirty="0">
                <a:solidFill>
                  <a:srgbClr val="F2F2F2"/>
                </a:solidFill>
                <a:latin typeface="Consolas"/>
              </a:rPr>
              <a:t>↑, TEMPSEG </a:t>
            </a:r>
            <a:r>
              <a:rPr sz="1250" dirty="0" err="1">
                <a:solidFill>
                  <a:srgbClr val="F2F2F2"/>
                </a:solidFill>
                <a:latin typeface="Consolas"/>
              </a:rPr>
              <a:t>사용</a:t>
            </a:r>
            <a:endParaRPr sz="1250" dirty="0">
              <a:solidFill>
                <a:srgbClr val="F2F2F2"/>
              </a:solidFill>
              <a:latin typeface="Consolas"/>
            </a:endParaRPr>
          </a:p>
        </p:txBody>
      </p:sp>
    </p:spTree>
    <p:extLst>
      <p:ext uri="{BB962C8B-B14F-4D97-AF65-F5344CB8AC3E}">
        <p14:creationId xmlns:p14="http://schemas.microsoft.com/office/powerpoint/2010/main" val="1502354061"/>
      </p:ext>
    </p:extLst>
  </p:cSld>
  <p:clrMapOvr>
    <a:masterClrMapping/>
  </p:clrMapOvr>
</p:sld>
</file>

<file path=ppt/slides/slide13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재현의 목적 — 정상값을 몸에 익힌다</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전후 대비가 곧 학습</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목적은 '느리게 만들기'가 아니라 '지표 반응을 눈에 익히기'</a:t>
            </a:r>
          </a:p>
          <a:p>
            <a:pPr algn="l">
              <a:spcAft>
                <a:spcPts val="600"/>
              </a:spcAft>
            </a:pPr>
            <a:r>
              <a:rPr sz="1700" b="0">
                <a:solidFill>
                  <a:srgbClr val="222222"/>
                </a:solidFill>
                <a:latin typeface="맑은 고딕"/>
              </a:rPr>
              <a:t>•  출발: optimal(sorts disk=0, 히스토그램 전부 optimal)</a:t>
            </a:r>
          </a:p>
          <a:p>
            <a:pPr algn="l">
              <a:spcAft>
                <a:spcPts val="600"/>
              </a:spcAft>
            </a:pPr>
            <a:r>
              <a:rPr sz="1700" b="0">
                <a:solidFill>
                  <a:srgbClr val="222222"/>
                </a:solidFill>
                <a:latin typeface="맑은 고딕"/>
              </a:rPr>
              <a:t>•  축소 후: sorts(disk) 0→튐, 히스토그램 onepass 잡힘</a:t>
            </a:r>
          </a:p>
          <a:p>
            <a:pPr algn="l">
              <a:spcAft>
                <a:spcPts val="600"/>
              </a:spcAft>
            </a:pPr>
            <a:r>
              <a:rPr sz="1700" b="0">
                <a:solidFill>
                  <a:srgbClr val="222222"/>
                </a:solidFill>
                <a:latin typeface="맑은 고딕"/>
              </a:rPr>
              <a:t>•  더 축소: one-pass → multi-pass, 응답시간 급격히 악화 체감</a:t>
            </a:r>
          </a:p>
          <a:p>
            <a:pPr algn="l">
              <a:spcAft>
                <a:spcPts val="600"/>
              </a:spcAft>
            </a:pPr>
            <a:r>
              <a:rPr sz="1700" b="0">
                <a:solidFill>
                  <a:srgbClr val="222222"/>
                </a:solidFill>
                <a:latin typeface="맑은 고딕"/>
              </a:rPr>
              <a:t>•  임시 공간 부족 시 ORA-01652(임시 세그먼트 확장 실패)</a:t>
            </a:r>
          </a:p>
          <a:p>
            <a:pPr algn="l">
              <a:spcAft>
                <a:spcPts val="600"/>
              </a:spcAft>
            </a:pPr>
            <a:r>
              <a:rPr sz="1700" b="0">
                <a:solidFill>
                  <a:srgbClr val="222222"/>
                </a:solidFill>
                <a:latin typeface="맑은 고딕"/>
              </a:rPr>
              <a:t>•  인스턴스 축소는 개인 환경 전용 — 조치 전 값 캡처·원복 필수</a:t>
            </a:r>
          </a:p>
        </p:txBody>
      </p:sp>
    </p:spTree>
    <p:extLst>
      <p:ext uri="{BB962C8B-B14F-4D97-AF65-F5344CB8AC3E}">
        <p14:creationId xmlns:p14="http://schemas.microsoft.com/office/powerpoint/2010/main" val="1314473615"/>
      </p:ext>
    </p:extLst>
  </p:cSld>
  <p:clrMapOvr>
    <a:masterClrMapping/>
  </p:clrMapOvr>
</p:sld>
</file>

<file path=ppt/slides/slide13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33.11</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PGA_AGGREGATE_LIMIT</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400"/>
              </a:spcAft>
            </a:pPr>
            <a:r>
              <a:rPr sz="1600" b="0">
                <a:solidFill>
                  <a:srgbClr val="FFFFFF"/>
                </a:solidFill>
                <a:latin typeface="맑은 고딕"/>
              </a:rPr>
              <a:t>•  target(목표) vs limit(절대 한도)</a:t>
            </a:r>
          </a:p>
          <a:p>
            <a:pPr algn="l">
              <a:spcAft>
                <a:spcPts val="400"/>
              </a:spcAft>
            </a:pPr>
            <a:r>
              <a:rPr sz="1600" b="0">
                <a:solidFill>
                  <a:srgbClr val="FFFFFF"/>
                </a:solidFill>
                <a:latin typeface="맑은 고딕"/>
              </a:rPr>
              <a:t>•  조정 가능 메모리 vs 조정 불가능 메모리</a:t>
            </a:r>
          </a:p>
          <a:p>
            <a:pPr algn="l">
              <a:spcAft>
                <a:spcPts val="400"/>
              </a:spcAft>
            </a:pPr>
            <a:r>
              <a:rPr sz="1600" b="0">
                <a:solidFill>
                  <a:srgbClr val="FFFFFF"/>
                </a:solidFill>
                <a:latin typeface="맑은 고딕"/>
              </a:rPr>
              <a:t>•  ORA-04036 — 메모리 부족으로만 읽지 않는다</a:t>
            </a:r>
          </a:p>
        </p:txBody>
      </p:sp>
    </p:spTree>
    <p:extLst>
      <p:ext uri="{BB962C8B-B14F-4D97-AF65-F5344CB8AC3E}">
        <p14:creationId xmlns:p14="http://schemas.microsoft.com/office/powerpoint/2010/main" val="2069340693"/>
      </p:ext>
    </p:extLst>
  </p:cSld>
  <p:clrMapOvr>
    <a:masterClrMapping/>
  </p:clrMapOvr>
</p:sld>
</file>

<file path=ppt/slides/slide13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target은 목표, limit은 천장</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ORA-04036의 진짜 의미</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target은 목표이지 한도 아님 — 소폭·잠깐 초과는 정상</a:t>
            </a:r>
          </a:p>
          <a:p>
            <a:pPr algn="l">
              <a:spcAft>
                <a:spcPts val="600"/>
              </a:spcAft>
            </a:pPr>
            <a:r>
              <a:rPr sz="1700" b="0">
                <a:solidFill>
                  <a:srgbClr val="222222"/>
                </a:solidFill>
                <a:latin typeface="맑은 고딕"/>
              </a:rPr>
              <a:t>•  target은 '조정 가능한' 메모리만 통제(정렬·해시 영역)</a:t>
            </a:r>
          </a:p>
          <a:p>
            <a:pPr algn="l">
              <a:spcAft>
                <a:spcPts val="600"/>
              </a:spcAft>
            </a:pPr>
            <a:r>
              <a:rPr sz="1700" b="0">
                <a:solidFill>
                  <a:srgbClr val="222222"/>
                </a:solidFill>
                <a:latin typeface="맑은 고딕"/>
              </a:rPr>
              <a:t>•  '조정 불가능한' 메모리(PL/SQL 컬렉션 등)는 통제 밖</a:t>
            </a:r>
          </a:p>
          <a:p>
            <a:pPr algn="l">
              <a:spcAft>
                <a:spcPts val="600"/>
              </a:spcAft>
            </a:pPr>
            <a:r>
              <a:rPr sz="1700" b="0">
                <a:solidFill>
                  <a:srgbClr val="222222"/>
                </a:solidFill>
                <a:latin typeface="맑은 고딕"/>
              </a:rPr>
              <a:t>•  limit 초과 시 조정 불가능 PGA 최대 세션의 콜 중단→세션 종료</a:t>
            </a:r>
          </a:p>
          <a:p>
            <a:pPr algn="l">
              <a:spcAft>
                <a:spcPts val="600"/>
              </a:spcAft>
            </a:pPr>
            <a:r>
              <a:rPr sz="1700" b="0">
                <a:solidFill>
                  <a:srgbClr val="222222"/>
                </a:solidFill>
                <a:latin typeface="맑은 고딕"/>
              </a:rPr>
              <a:t>•  그 오류가 ORA-04036 — '안전장치가 작동했다'는 신호</a:t>
            </a:r>
          </a:p>
          <a:p>
            <a:pPr algn="l">
              <a:spcAft>
                <a:spcPts val="600"/>
              </a:spcAft>
            </a:pPr>
            <a:r>
              <a:rPr sz="1700" b="0">
                <a:solidFill>
                  <a:srgbClr val="222222"/>
                </a:solidFill>
                <a:latin typeface="맑은 고딕"/>
              </a:rPr>
              <a:t>•  오판 금지: 메모리 부족이 아니라 특정 세션 폭주가 진짜 원인</a:t>
            </a:r>
          </a:p>
        </p:txBody>
      </p:sp>
    </p:spTree>
    <p:extLst>
      <p:ext uri="{BB962C8B-B14F-4D97-AF65-F5344CB8AC3E}">
        <p14:creationId xmlns:p14="http://schemas.microsoft.com/office/powerpoint/2010/main" val="3323785239"/>
      </p:ext>
    </p:extLst>
  </p:cSld>
  <p:clrMapOvr>
    <a:masterClrMapping/>
  </p:clrMapOvr>
</p:sld>
</file>

<file path=ppt/slides/slide13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ORA-04036 대응 — 올바른 순서</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한도를 키우는 건 처음이 아니라 마지막</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Common Error: ORA-04036을 메모리 부족으로만 읽고 한도만 키움</a:t>
            </a:r>
          </a:p>
          <a:p>
            <a:pPr algn="l">
              <a:spcAft>
                <a:spcPts val="600"/>
              </a:spcAft>
            </a:pPr>
            <a:r>
              <a:rPr sz="1700" b="0">
                <a:solidFill>
                  <a:srgbClr val="222222"/>
                </a:solidFill>
                <a:latin typeface="맑은 고딕"/>
              </a:rPr>
              <a:t>•  진짜 원인: 특정 세션의 조정 불가능 PGA 폭주(거대 컬렉션 등)</a:t>
            </a:r>
          </a:p>
          <a:p>
            <a:pPr algn="l">
              <a:spcAft>
                <a:spcPts val="600"/>
              </a:spcAft>
            </a:pPr>
            <a:r>
              <a:rPr sz="1700" b="0">
                <a:solidFill>
                  <a:srgbClr val="222222"/>
                </a:solidFill>
                <a:latin typeface="맑은 고딕"/>
              </a:rPr>
              <a:t>•  ① V$PROCESS_MEMORY로 범인 세션·범주 지목</a:t>
            </a:r>
          </a:p>
          <a:p>
            <a:pPr algn="l">
              <a:spcAft>
                <a:spcPts val="600"/>
              </a:spcAft>
            </a:pPr>
            <a:r>
              <a:rPr sz="1700" b="0">
                <a:solidFill>
                  <a:srgbClr val="222222"/>
                </a:solidFill>
                <a:latin typeface="맑은 고딕"/>
              </a:rPr>
              <a:t>•  ② 그 SQL·PL/SQL을 고친다</a:t>
            </a:r>
          </a:p>
          <a:p>
            <a:pPr algn="l">
              <a:spcAft>
                <a:spcPts val="600"/>
              </a:spcAft>
            </a:pPr>
            <a:r>
              <a:rPr sz="1700" b="0">
                <a:solidFill>
                  <a:srgbClr val="222222"/>
                </a:solidFill>
                <a:latin typeface="맑은 고딕"/>
              </a:rPr>
              <a:t>•  ③ 필요하면 근거 있게 한도 조정 (마지막 수단)</a:t>
            </a:r>
          </a:p>
          <a:p>
            <a:pPr algn="l">
              <a:spcAft>
                <a:spcPts val="600"/>
              </a:spcAft>
            </a:pPr>
            <a:r>
              <a:rPr sz="1700" b="0">
                <a:solidFill>
                  <a:srgbClr val="222222"/>
                </a:solidFill>
                <a:latin typeface="맑은 고딕"/>
              </a:rPr>
              <a:t>•  세션 단위 한도: 리소스 관리자 SESSION_PGA_LIMIT → ORA-10260</a:t>
            </a:r>
          </a:p>
        </p:txBody>
      </p:sp>
    </p:spTree>
    <p:extLst>
      <p:ext uri="{BB962C8B-B14F-4D97-AF65-F5344CB8AC3E}">
        <p14:creationId xmlns:p14="http://schemas.microsoft.com/office/powerpoint/2010/main" val="1833958802"/>
      </p:ext>
    </p:extLst>
  </p:cSld>
  <p:clrMapOvr>
    <a:masterClrMapping/>
  </p:clrMapOvr>
</p:sld>
</file>

<file path=ppt/slides/slide13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퀴즈 (Quiz)</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스스로 점검</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Q1. 서버 결과 캐시와 버퍼 캐시가 저장하는 대상의 차이는?</a:t>
            </a:r>
          </a:p>
          <a:p>
            <a:pPr algn="l">
              <a:spcAft>
                <a:spcPts val="600"/>
              </a:spcAft>
            </a:pPr>
            <a:r>
              <a:rPr sz="1700" b="0">
                <a:solidFill>
                  <a:srgbClr val="222222"/>
                </a:solidFill>
                <a:latin typeface="맑은 고딕"/>
              </a:rPr>
              <a:t>•  Q2. RESULT_CACHE_MODE를 FORCE로 두면 안 되는 이유 두 가지는?</a:t>
            </a:r>
          </a:p>
          <a:p>
            <a:pPr algn="l">
              <a:spcAft>
                <a:spcPts val="600"/>
              </a:spcAft>
            </a:pPr>
            <a:r>
              <a:rPr sz="1700" b="0">
                <a:solidFill>
                  <a:srgbClr val="222222"/>
                </a:solidFill>
                <a:latin typeface="맑은 고딕"/>
              </a:rPr>
              <a:t>•  Q3. DRUG_MASTER는 적합하고 CLAIM_DETAILS는 부적합한 이유(무효화 관점)?</a:t>
            </a:r>
          </a:p>
          <a:p>
            <a:pPr algn="l">
              <a:spcAft>
                <a:spcPts val="600"/>
              </a:spcAft>
            </a:pPr>
            <a:r>
              <a:rPr sz="1700" b="0">
                <a:solidFill>
                  <a:srgbClr val="222222"/>
                </a:solidFill>
                <a:latin typeface="맑은 고딕"/>
              </a:rPr>
              <a:t>•  Q4. V$RESULT_CACHE_STATISTICS에서 '건강한 캐시' 통계 조합은?</a:t>
            </a:r>
          </a:p>
          <a:p>
            <a:pPr algn="l">
              <a:spcAft>
                <a:spcPts val="600"/>
              </a:spcAft>
            </a:pPr>
            <a:r>
              <a:rPr sz="1700" b="0">
                <a:solidFill>
                  <a:srgbClr val="222222"/>
                </a:solidFill>
                <a:latin typeface="맑은 고딕"/>
              </a:rPr>
              <a:t>•  Q5. optimal·one-pass·multi-pass 정의와 실무 목표는?</a:t>
            </a:r>
          </a:p>
          <a:p>
            <a:pPr algn="l">
              <a:spcAft>
                <a:spcPts val="600"/>
              </a:spcAft>
            </a:pPr>
            <a:r>
              <a:rPr sz="1700" b="0">
                <a:solidFill>
                  <a:srgbClr val="222222"/>
                </a:solidFill>
                <a:latin typeface="맑은 고딕"/>
              </a:rPr>
              <a:t>•  Q6. cache hit 100%인데도 1-pass를 세션 수준으로 재현하는 이유·방법은?</a:t>
            </a:r>
          </a:p>
        </p:txBody>
      </p:sp>
    </p:spTree>
    <p:extLst>
      <p:ext uri="{BB962C8B-B14F-4D97-AF65-F5344CB8AC3E}">
        <p14:creationId xmlns:p14="http://schemas.microsoft.com/office/powerpoint/2010/main" val="3646891656"/>
      </p:ext>
    </p:extLst>
  </p:cSld>
  <p:clrMapOvr>
    <a:masterClrMapping/>
  </p:clrMapOvr>
</p:sld>
</file>

<file path=ppt/slides/slide13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요약 (Summary)</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ch33 핵심 정리</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결과 캐시 = 완성된 결과 저장 → 재계산 제거. 서버/클라이언트 별개</a:t>
            </a:r>
          </a:p>
          <a:p>
            <a:pPr algn="l">
              <a:spcAft>
                <a:spcPts val="600"/>
              </a:spcAft>
            </a:pPr>
            <a:r>
              <a:rPr sz="1700" b="0">
                <a:solidFill>
                  <a:srgbClr val="222222"/>
                </a:solidFill>
                <a:latin typeface="맑은 고딕"/>
              </a:rPr>
              <a:t>•  모드는 MANUAL(기본·권장). 힌트 &gt; 테이블 주석 &gt; 모드</a:t>
            </a:r>
          </a:p>
          <a:p>
            <a:pPr algn="l">
              <a:spcAft>
                <a:spcPts val="600"/>
              </a:spcAft>
            </a:pPr>
            <a:r>
              <a:rPr sz="1700" b="0">
                <a:solidFill>
                  <a:srgbClr val="222222"/>
                </a:solidFill>
                <a:latin typeface="맑은 고딕"/>
              </a:rPr>
              <a:t>•  무효화가 정확성을 지키지만 변경 잦으면 손해 → 판별 필수</a:t>
            </a:r>
          </a:p>
          <a:p>
            <a:pPr algn="l">
              <a:spcAft>
                <a:spcPts val="600"/>
              </a:spcAft>
            </a:pPr>
            <a:r>
              <a:rPr sz="1700" b="0">
                <a:solidFill>
                  <a:srgbClr val="222222"/>
                </a:solidFill>
                <a:latin typeface="맑은 고딕"/>
              </a:rPr>
              <a:t>•  판별 한 문장: 읽기 위주·소량 반환·반복 호출인가</a:t>
            </a:r>
          </a:p>
          <a:p>
            <a:pPr algn="l">
              <a:spcAft>
                <a:spcPts val="600"/>
              </a:spcAft>
            </a:pPr>
            <a:r>
              <a:rPr sz="1700" b="0">
                <a:solidFill>
                  <a:srgbClr val="222222"/>
                </a:solidFill>
                <a:latin typeface="맑은 고딕"/>
              </a:rPr>
              <a:t>•  PGA 작업 영역은 optimal 90%+ 목표, multi-pass 회피</a:t>
            </a:r>
          </a:p>
          <a:p>
            <a:pPr algn="l">
              <a:spcAft>
                <a:spcPts val="600"/>
              </a:spcAft>
            </a:pPr>
            <a:r>
              <a:rPr sz="1700" b="0">
                <a:solidFill>
                  <a:srgbClr val="222222"/>
                </a:solidFill>
                <a:latin typeface="맑은 고딕"/>
              </a:rPr>
              <a:t>•  실측: 700M·over alloc 0·cache hit 100%·디스크 정렬 0(건강)</a:t>
            </a:r>
          </a:p>
          <a:p>
            <a:pPr algn="l">
              <a:spcAft>
                <a:spcPts val="600"/>
              </a:spcAft>
            </a:pPr>
            <a:r>
              <a:rPr sz="1700" b="0">
                <a:solidFill>
                  <a:srgbClr val="222222"/>
                </a:solidFill>
                <a:latin typeface="맑은 고딕"/>
              </a:rPr>
              <a:t>•  target(목표) vs limit(한도). ORA-04036은 세션 폭주가 진짜 원인</a:t>
            </a:r>
          </a:p>
        </p:txBody>
      </p:sp>
    </p:spTree>
    <p:extLst>
      <p:ext uri="{BB962C8B-B14F-4D97-AF65-F5344CB8AC3E}">
        <p14:creationId xmlns:p14="http://schemas.microsoft.com/office/powerpoint/2010/main" val="1695857330"/>
      </p:ext>
    </p:extLst>
  </p:cSld>
  <p:clrMapOvr>
    <a:masterClrMapping/>
  </p:clrMapOvr>
</p:sld>
</file>

<file path=ppt/slides/slide13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실습 개요 (Practice Overview)</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6개 실습 · non-CDB orcl 19.3 · 조치 전→조회→해석</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실습 01 — 서버 결과 캐시 활성화와 RESULT_CACHE 힌트(DRUG_MASTER)</a:t>
            </a:r>
          </a:p>
          <a:p>
            <a:pPr algn="l">
              <a:spcAft>
                <a:spcPts val="600"/>
              </a:spcAft>
            </a:pPr>
            <a:r>
              <a:rPr sz="1700" b="0">
                <a:solidFill>
                  <a:srgbClr val="222222"/>
                </a:solidFill>
                <a:latin typeface="맑은 고딕"/>
              </a:rPr>
              <a:t>•  실습 02 — 결과 캐시 무효화 관찰(기반 테이블 변경)</a:t>
            </a:r>
          </a:p>
          <a:p>
            <a:pPr algn="l">
              <a:spcAft>
                <a:spcPts val="600"/>
              </a:spcAft>
            </a:pPr>
            <a:r>
              <a:rPr sz="1700" b="0">
                <a:solidFill>
                  <a:srgbClr val="222222"/>
                </a:solidFill>
                <a:latin typeface="맑은 고딕"/>
              </a:rPr>
              <a:t>•  실습 03 — 결과 캐시 모니터링과 적용 부적합 판별</a:t>
            </a:r>
          </a:p>
          <a:p>
            <a:pPr algn="l">
              <a:spcAft>
                <a:spcPts val="600"/>
              </a:spcAft>
            </a:pPr>
            <a:r>
              <a:rPr sz="1700" b="0">
                <a:solidFill>
                  <a:srgbClr val="222222"/>
                </a:solidFill>
                <a:latin typeface="맑은 고딕"/>
              </a:rPr>
              <a:t>•  실습 04 — PGA 작업 영역 확인(V$PGASTAT·V$SQL_WORKAREA_HISTOGRAM)</a:t>
            </a:r>
          </a:p>
          <a:p>
            <a:pPr algn="l">
              <a:spcAft>
                <a:spcPts val="600"/>
              </a:spcAft>
            </a:pPr>
            <a:r>
              <a:rPr sz="1700" b="0">
                <a:solidFill>
                  <a:srgbClr val="222222"/>
                </a:solidFill>
                <a:latin typeface="맑은 고딕"/>
              </a:rPr>
              <a:t>•  실습 05 — 1-pass·multi-pass 정렬 재현(세션 축소·임시 테이블스페이스)</a:t>
            </a:r>
          </a:p>
          <a:p>
            <a:pPr algn="l">
              <a:spcAft>
                <a:spcPts val="600"/>
              </a:spcAft>
            </a:pPr>
            <a:r>
              <a:rPr sz="1700" b="0">
                <a:solidFill>
                  <a:srgbClr val="222222"/>
                </a:solidFill>
                <a:latin typeface="맑은 고딕"/>
              </a:rPr>
              <a:t>•  실습 06 — PGA_AGGREGATE_LIMIT 초과(ORA-04036) 재현과 조정</a:t>
            </a:r>
          </a:p>
        </p:txBody>
      </p:sp>
    </p:spTree>
    <p:extLst>
      <p:ext uri="{BB962C8B-B14F-4D97-AF65-F5344CB8AC3E}">
        <p14:creationId xmlns:p14="http://schemas.microsoft.com/office/powerpoint/2010/main" val="2917147656"/>
      </p:ext>
    </p:extLst>
  </p:cSld>
  <p:clrMapOvr>
    <a:masterClrMapping/>
  </p:clrMapOvr>
</p:sld>
</file>

<file path=ppt/slides/slide13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5394960"/>
            <a:ext cx="12188952"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457200"/>
            <a:ext cx="10698480" cy="548640"/>
          </a:xfrm>
          <a:prstGeom prst="rect">
            <a:avLst/>
          </a:prstGeom>
          <a:noFill/>
        </p:spPr>
        <p:txBody>
          <a:bodyPr wrap="square">
            <a:spAutoFit/>
          </a:bodyPr>
          <a:lstStyle/>
          <a:p>
            <a:r>
              <a:rPr sz="1600" b="1">
                <a:solidFill>
                  <a:srgbClr val="FFFFFF"/>
                </a:solidFill>
                <a:latin typeface="맑은 고딕"/>
              </a:rPr>
              <a:t>Oracle Database 19c 성능 튜닝 실무 과정</a:t>
            </a:r>
          </a:p>
        </p:txBody>
      </p:sp>
      <p:sp>
        <p:nvSpPr>
          <p:cNvPr id="6" name="TextBox 5"/>
          <p:cNvSpPr txBox="1"/>
          <p:nvPr/>
        </p:nvSpPr>
        <p:spPr>
          <a:xfrm>
            <a:off x="731520" y="2377440"/>
            <a:ext cx="10698480" cy="1554480"/>
          </a:xfrm>
          <a:prstGeom prst="rect">
            <a:avLst/>
          </a:prstGeom>
          <a:noFill/>
        </p:spPr>
        <p:txBody>
          <a:bodyPr wrap="square">
            <a:spAutoFit/>
          </a:bodyPr>
          <a:lstStyle/>
          <a:p>
            <a:r>
              <a:rPr sz="3400" b="1">
                <a:solidFill>
                  <a:srgbClr val="C0392B"/>
                </a:solidFill>
                <a:latin typeface="맑은 고딕"/>
              </a:rPr>
              <a:t>I/O 구성과 OS 자원 관리</a:t>
            </a:r>
          </a:p>
          <a:p>
            <a:r>
              <a:rPr sz="2000" b="0">
                <a:solidFill>
                  <a:srgbClr val="5A6672"/>
                </a:solidFill>
                <a:latin typeface="맑은 고딕"/>
              </a:rPr>
              <a:t>I/O Configuration &amp; Managing OS Resources — 병목이 DB 안인가 밖인가</a:t>
            </a:r>
          </a:p>
        </p:txBody>
      </p:sp>
      <p:sp>
        <p:nvSpPr>
          <p:cNvPr id="7" name="TextBox 6"/>
          <p:cNvSpPr txBox="1"/>
          <p:nvPr/>
        </p:nvSpPr>
        <p:spPr>
          <a:xfrm>
            <a:off x="731520" y="4114800"/>
            <a:ext cx="10698480" cy="1097280"/>
          </a:xfrm>
          <a:prstGeom prst="rect">
            <a:avLst/>
          </a:prstGeom>
          <a:noFill/>
        </p:spPr>
        <p:txBody>
          <a:bodyPr wrap="square">
            <a:spAutoFit/>
          </a:bodyPr>
          <a:lstStyle/>
          <a:p>
            <a:r>
              <a:rPr sz="1500" b="0">
                <a:solidFill>
                  <a:srgbClr val="5A6672"/>
                </a:solidFill>
                <a:latin typeface="맑은 고딕"/>
              </a:rPr>
              <a:t>파일별 I/O 분포 · CALIBRATE_IO · 비동기 I/O · 다중 블록 읽기 · V$OSSTAT CPU·메모리 · 네트워크 오판</a:t>
            </a:r>
          </a:p>
        </p:txBody>
      </p:sp>
      <p:sp>
        <p:nvSpPr>
          <p:cNvPr id="8" name="TextBox 7"/>
          <p:cNvSpPr txBox="1"/>
          <p:nvPr/>
        </p:nvSpPr>
        <p:spPr>
          <a:xfrm>
            <a:off x="731520" y="5577840"/>
            <a:ext cx="10698480" cy="914400"/>
          </a:xfrm>
          <a:prstGeom prst="rect">
            <a:avLst/>
          </a:prstGeom>
          <a:noFill/>
        </p:spPr>
        <p:txBody>
          <a:bodyPr wrap="square">
            <a:spAutoFit/>
          </a:bodyPr>
          <a:lstStyle/>
          <a:p>
            <a:r>
              <a:rPr sz="2000" b="1">
                <a:solidFill>
                  <a:srgbClr val="C0392B"/>
                </a:solidFill>
                <a:latin typeface="맑은 고딕"/>
              </a:rPr>
              <a:t>ch34</a:t>
            </a:r>
          </a:p>
        </p:txBody>
      </p:sp>
    </p:spTree>
    <p:extLst>
      <p:ext uri="{BB962C8B-B14F-4D97-AF65-F5344CB8AC3E}">
        <p14:creationId xmlns:p14="http://schemas.microsoft.com/office/powerpoint/2010/main" val="103521172"/>
      </p:ext>
    </p:extLst>
  </p:cSld>
  <p:clrMapOvr>
    <a:masterClrMapping/>
  </p:clrMapOvr>
</p:sld>
</file>

<file path=ppt/slides/slide13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학습 목표 (Objectives)</a:t>
            </a:r>
          </a:p>
        </p:txBody>
      </p:sp>
      <p:sp>
        <p:nvSpPr>
          <p:cNvPr id="4" name="TextBox 3"/>
          <p:cNvSpPr txBox="1"/>
          <p:nvPr/>
        </p:nvSpPr>
        <p:spPr>
          <a:xfrm>
            <a:off x="640080" y="1371600"/>
            <a:ext cx="10881360" cy="5120640"/>
          </a:xfrm>
          <a:prstGeom prst="rect">
            <a:avLst/>
          </a:prstGeom>
          <a:noFill/>
        </p:spPr>
        <p:txBody>
          <a:bodyPr wrap="square">
            <a:spAutoFit/>
          </a:bodyPr>
          <a:lstStyle/>
          <a:p>
            <a:pPr>
              <a:spcAft>
                <a:spcPts val="600"/>
              </a:spcAft>
            </a:pPr>
            <a:r>
              <a:rPr sz="1600" b="0">
                <a:solidFill>
                  <a:srgbClr val="222222"/>
                </a:solidFill>
                <a:latin typeface="맑은 고딕"/>
              </a:rPr>
              <a:t>•  V$FILESTAT·V$IOSTAT_FILE로 데이터파일별 I/O 분포를 읽고 편중을 판별한다.</a:t>
            </a:r>
          </a:p>
          <a:p>
            <a:pPr>
              <a:spcAft>
                <a:spcPts val="600"/>
              </a:spcAft>
            </a:pPr>
            <a:r>
              <a:rPr sz="1600" b="0">
                <a:solidFill>
                  <a:srgbClr val="222222"/>
                </a:solidFill>
                <a:latin typeface="맑은 고딕"/>
              </a:rPr>
              <a:t>•  시스템 통계가 NOWORKLOAD(MBRC·SREADTIM NULL)인지 확인한다.</a:t>
            </a:r>
          </a:p>
          <a:p>
            <a:pPr>
              <a:spcAft>
                <a:spcPts val="600"/>
              </a:spcAft>
            </a:pPr>
            <a:r>
              <a:rPr sz="1600" b="0">
                <a:solidFill>
                  <a:srgbClr val="222222"/>
                </a:solidFill>
                <a:latin typeface="맑은 고딕"/>
              </a:rPr>
              <a:t>•  CALIBRATE_IO의 전제조건·실행·결과(max_iops·max_mbps·latency)를 이해한다.</a:t>
            </a:r>
          </a:p>
          <a:p>
            <a:pPr>
              <a:spcAft>
                <a:spcPts val="600"/>
              </a:spcAft>
            </a:pPr>
            <a:r>
              <a:rPr sz="1600" b="0">
                <a:solidFill>
                  <a:srgbClr val="222222"/>
                </a:solidFill>
                <a:latin typeface="맑은 고딕"/>
              </a:rPr>
              <a:t>•  비동기 I/O(FILESYSTEMIO_OPTIONS·DISK_ASYNCH_IO)와 다중 블록 읽기를 점검한다.</a:t>
            </a:r>
          </a:p>
          <a:p>
            <a:pPr>
              <a:spcAft>
                <a:spcPts val="600"/>
              </a:spcAft>
            </a:pPr>
            <a:r>
              <a:rPr sz="1600" b="0">
                <a:solidFill>
                  <a:srgbClr val="222222"/>
                </a:solidFill>
                <a:latin typeface="맑은 고딕"/>
              </a:rPr>
              <a:t>•  V$OSSTAT로 CPU 사용률을 계산하고 DB 통계와 대조해 병목 위치를 가른다.</a:t>
            </a:r>
          </a:p>
          <a:p>
            <a:pPr>
              <a:spcAft>
                <a:spcPts val="600"/>
              </a:spcAft>
            </a:pPr>
            <a:r>
              <a:rPr sz="1600" b="0">
                <a:solidFill>
                  <a:srgbClr val="222222"/>
                </a:solidFill>
                <a:latin typeface="맑은 고딕"/>
              </a:rPr>
              <a:t>•  스와핑 서버에서 SGA를 키우면 안 되는 이유를 설명한다.</a:t>
            </a:r>
          </a:p>
          <a:p>
            <a:pPr>
              <a:spcAft>
                <a:spcPts val="600"/>
              </a:spcAft>
            </a:pPr>
            <a:r>
              <a:rPr sz="1600" b="0">
                <a:solidFill>
                  <a:srgbClr val="222222"/>
                </a:solidFill>
                <a:latin typeface="맑은 고딕"/>
              </a:rPr>
              <a:t>•  SQL*Net message from client를 Idle로 올바르게 해석한다.</a:t>
            </a:r>
          </a:p>
        </p:txBody>
      </p:sp>
    </p:spTree>
    <p:extLst>
      <p:ext uri="{BB962C8B-B14F-4D97-AF65-F5344CB8AC3E}">
        <p14:creationId xmlns:p14="http://schemas.microsoft.com/office/powerpoint/2010/main" val="657408580"/>
      </p:ext>
    </p:extLst>
  </p:cSld>
  <p:clrMapOvr>
    <a:masterClrMapping/>
  </p:clrMapOvr>
</p:sld>
</file>

<file path=ppt/slides/slide13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이 장의 구성 (Agenda)</a:t>
            </a:r>
          </a:p>
        </p:txBody>
      </p:sp>
      <p:sp>
        <p:nvSpPr>
          <p:cNvPr id="4" name="TextBox 3"/>
          <p:cNvSpPr txBox="1"/>
          <p:nvPr/>
        </p:nvSpPr>
        <p:spPr>
          <a:xfrm>
            <a:off x="640080" y="1371600"/>
            <a:ext cx="10881360" cy="5120640"/>
          </a:xfrm>
          <a:prstGeom prst="rect">
            <a:avLst/>
          </a:prstGeom>
          <a:noFill/>
        </p:spPr>
        <p:txBody>
          <a:bodyPr wrap="square">
            <a:spAutoFit/>
          </a:bodyPr>
          <a:lstStyle/>
          <a:p>
            <a:pPr>
              <a:spcAft>
                <a:spcPts val="600"/>
              </a:spcAft>
            </a:pPr>
            <a:r>
              <a:rPr sz="1600" b="0">
                <a:solidFill>
                  <a:srgbClr val="222222"/>
                </a:solidFill>
                <a:latin typeface="맑은 고딕"/>
              </a:rPr>
              <a:t>•  34.2  데이터파일별 I/O 분포 — 편중 판별</a:t>
            </a:r>
          </a:p>
          <a:p>
            <a:pPr>
              <a:spcAft>
                <a:spcPts val="600"/>
              </a:spcAft>
            </a:pPr>
            <a:r>
              <a:rPr sz="1600" b="0">
                <a:solidFill>
                  <a:srgbClr val="222222"/>
                </a:solidFill>
                <a:latin typeface="맑은 고딕"/>
              </a:rPr>
              <a:t>•  34.3  I/O 캘리브레이션 — CALIBRATE_IO</a:t>
            </a:r>
          </a:p>
          <a:p>
            <a:pPr>
              <a:spcAft>
                <a:spcPts val="600"/>
              </a:spcAft>
            </a:pPr>
            <a:r>
              <a:rPr sz="1600" b="0">
                <a:solidFill>
                  <a:srgbClr val="222222"/>
                </a:solidFill>
                <a:latin typeface="맑은 고딕"/>
              </a:rPr>
              <a:t>•  34.4  비동기 I/O와 다중 블록 읽기</a:t>
            </a:r>
          </a:p>
          <a:p>
            <a:pPr>
              <a:spcAft>
                <a:spcPts val="600"/>
              </a:spcAft>
            </a:pPr>
            <a:r>
              <a:rPr sz="1600" b="0">
                <a:solidFill>
                  <a:srgbClr val="222222"/>
                </a:solidFill>
                <a:latin typeface="맑은 고딕"/>
              </a:rPr>
              <a:t>•  34.5  병목이 DB 안인가 밖인가 — OS 자원 판별</a:t>
            </a:r>
          </a:p>
          <a:p>
            <a:pPr>
              <a:spcAft>
                <a:spcPts val="600"/>
              </a:spcAft>
            </a:pPr>
            <a:r>
              <a:rPr sz="1600" b="0">
                <a:solidFill>
                  <a:srgbClr val="222222"/>
                </a:solidFill>
                <a:latin typeface="맑은 고딕"/>
              </a:rPr>
              <a:t>•  34.6  네트워크 지연 오판 — SQL*Net message from client</a:t>
            </a:r>
          </a:p>
          <a:p>
            <a:pPr>
              <a:spcAft>
                <a:spcPts val="600"/>
              </a:spcAft>
            </a:pPr>
            <a:r>
              <a:rPr sz="1600" b="0">
                <a:solidFill>
                  <a:srgbClr val="222222"/>
                </a:solidFill>
                <a:latin typeface="맑은 고딕"/>
              </a:rPr>
              <a:t>•  34.7  측정 → 진단 → 조치 → 재측정 (과정 전체 종합)</a:t>
            </a:r>
          </a:p>
        </p:txBody>
      </p:sp>
    </p:spTree>
    <p:extLst>
      <p:ext uri="{BB962C8B-B14F-4D97-AF65-F5344CB8AC3E}">
        <p14:creationId xmlns:p14="http://schemas.microsoft.com/office/powerpoint/2010/main" val="990539315"/>
      </p:ext>
    </p:extLst>
  </p:cSld>
  <p:clrMapOvr>
    <a:masterClrMapping/>
  </p:clrMapOvr>
</p:sld>
</file>

<file path=ppt/slides/slide13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34.2</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데이터파일별 I/O 분포</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r>
              <a:rPr sz="1600" b="0">
                <a:solidFill>
                  <a:srgbClr val="FFFFFF"/>
                </a:solidFill>
                <a:latin typeface="맑은 고딕"/>
              </a:rPr>
              <a:t>•  V$FILESTAT — 파일별 읽기·쓰기·평균 지연</a:t>
            </a:r>
          </a:p>
          <a:p>
            <a:r>
              <a:rPr sz="1600" b="0">
                <a:solidFill>
                  <a:srgbClr val="FFFFFF"/>
                </a:solidFill>
                <a:latin typeface="맑은 고딕"/>
              </a:rPr>
              <a:t>•  편중 판별: 절대값이 아니라 상대 비교·델타</a:t>
            </a:r>
          </a:p>
          <a:p>
            <a:r>
              <a:rPr sz="1600" b="0">
                <a:solidFill>
                  <a:srgbClr val="FFFFFF"/>
                </a:solidFill>
                <a:latin typeface="맑은 고딕"/>
              </a:rPr>
              <a:t>•  V$IOSTAT_FILE — 파일 유형별 소량/대량 읽기</a:t>
            </a:r>
          </a:p>
        </p:txBody>
      </p:sp>
    </p:spTree>
    <p:extLst>
      <p:ext uri="{BB962C8B-B14F-4D97-AF65-F5344CB8AC3E}">
        <p14:creationId xmlns:p14="http://schemas.microsoft.com/office/powerpoint/2010/main" val="572972633"/>
      </p:ext>
    </p:extLst>
  </p:cSld>
  <p:clrMapOvr>
    <a:masterClrMapping/>
  </p:clrMapOvr>
</p:sld>
</file>

<file path=ppt/slides/slide13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V$FILESTAT가 보여 주는 것</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파일별 물리 I/O의 분포와 지연</a:t>
            </a:r>
          </a:p>
        </p:txBody>
      </p:sp>
      <p:sp>
        <p:nvSpPr>
          <p:cNvPr id="5" name="TextBox 4"/>
          <p:cNvSpPr txBox="1"/>
          <p:nvPr/>
        </p:nvSpPr>
        <p:spPr>
          <a:xfrm>
            <a:off x="640080" y="1737360"/>
            <a:ext cx="10881360" cy="4754879"/>
          </a:xfrm>
          <a:prstGeom prst="rect">
            <a:avLst/>
          </a:prstGeom>
          <a:noFill/>
        </p:spPr>
        <p:txBody>
          <a:bodyPr wrap="square">
            <a:spAutoFit/>
          </a:bodyPr>
          <a:lstStyle/>
          <a:p>
            <a:pPr>
              <a:spcAft>
                <a:spcPts val="600"/>
              </a:spcAft>
            </a:pPr>
            <a:r>
              <a:rPr sz="1600" b="0">
                <a:solidFill>
                  <a:srgbClr val="222222"/>
                </a:solidFill>
                <a:latin typeface="맑은 고딕"/>
              </a:rPr>
              <a:t>•  PHYRDS(읽기)·PHYWRTS(쓰기)·READTIM·WRITETIM 누적</a:t>
            </a:r>
          </a:p>
          <a:p>
            <a:pPr>
              <a:spcAft>
                <a:spcPts val="600"/>
              </a:spcAft>
            </a:pPr>
            <a:r>
              <a:rPr sz="1600" b="0">
                <a:solidFill>
                  <a:srgbClr val="222222"/>
                </a:solidFill>
                <a:latin typeface="맑은 고딕"/>
              </a:rPr>
              <a:t>•  평균 읽기 지연 ≈ READTIM / PHYRDS</a:t>
            </a:r>
          </a:p>
          <a:p>
            <a:pPr>
              <a:spcAft>
                <a:spcPts val="600"/>
              </a:spcAft>
            </a:pPr>
            <a:r>
              <a:rPr sz="1600" b="0">
                <a:solidFill>
                  <a:srgbClr val="222222"/>
                </a:solidFill>
                <a:latin typeface="맑은 고딕"/>
              </a:rPr>
              <a:t>•  DBA_DATA_FILES와 조인해 파일 이름별로 본다</a:t>
            </a:r>
          </a:p>
          <a:p>
            <a:pPr>
              <a:spcAft>
                <a:spcPts val="600"/>
              </a:spcAft>
            </a:pPr>
            <a:r>
              <a:rPr sz="1600" b="0">
                <a:solidFill>
                  <a:srgbClr val="222222"/>
                </a:solidFill>
                <a:latin typeface="맑은 고딕"/>
              </a:rPr>
              <a:t>•  누적값이므로 구간은 델타로 계산</a:t>
            </a:r>
          </a:p>
        </p:txBody>
      </p:sp>
    </p:spTree>
    <p:extLst>
      <p:ext uri="{BB962C8B-B14F-4D97-AF65-F5344CB8AC3E}">
        <p14:creationId xmlns:p14="http://schemas.microsoft.com/office/powerpoint/2010/main" val="3949780789"/>
      </p:ext>
    </p:extLst>
  </p:cSld>
  <p:clrMapOvr>
    <a:masterClrMapping/>
  </p:clrMapOvr>
</p:sld>
</file>

<file path=ppt/slides/slide13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V$FILESTAT 실측 — 파일별 I/O</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읽기 횟수 내림차순 (orcl)</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01600" tIns="76200" rtlCol="0" anchor="ctr"/>
          <a:lstStyle/>
          <a:p>
            <a:pPr>
              <a:spcAft>
                <a:spcPts val="0"/>
              </a:spcAft>
            </a:pPr>
            <a:r>
              <a:rPr sz="1250" b="0" dirty="0">
                <a:solidFill>
                  <a:srgbClr val="F2F2F2"/>
                </a:solidFill>
                <a:latin typeface="Consolas"/>
              </a:rPr>
              <a:t>SQL&gt; SELECT </a:t>
            </a:r>
            <a:r>
              <a:rPr sz="1250" b="0" dirty="0" err="1">
                <a:solidFill>
                  <a:srgbClr val="F2F2F2"/>
                </a:solidFill>
                <a:latin typeface="Consolas"/>
              </a:rPr>
              <a:t>d.file_name</a:t>
            </a:r>
            <a:r>
              <a:rPr sz="1250" b="0" dirty="0">
                <a:solidFill>
                  <a:srgbClr val="F2F2F2"/>
                </a:solidFill>
                <a:latin typeface="Consolas"/>
              </a:rPr>
              <a:t>, </a:t>
            </a:r>
            <a:r>
              <a:rPr sz="1250" b="0" dirty="0" err="1">
                <a:solidFill>
                  <a:srgbClr val="F2F2F2"/>
                </a:solidFill>
                <a:latin typeface="Consolas"/>
              </a:rPr>
              <a:t>f.phyrds</a:t>
            </a:r>
            <a:r>
              <a:rPr sz="1250" b="0" dirty="0">
                <a:solidFill>
                  <a:srgbClr val="F2F2F2"/>
                </a:solidFill>
                <a:latin typeface="Consolas"/>
              </a:rPr>
              <a:t> reads, </a:t>
            </a:r>
            <a:r>
              <a:rPr sz="1250" b="0" dirty="0" err="1">
                <a:solidFill>
                  <a:srgbClr val="F2F2F2"/>
                </a:solidFill>
                <a:latin typeface="Consolas"/>
              </a:rPr>
              <a:t>f.phywrts</a:t>
            </a:r>
            <a:r>
              <a:rPr sz="1250" b="0" dirty="0">
                <a:solidFill>
                  <a:srgbClr val="F2F2F2"/>
                </a:solidFill>
                <a:latin typeface="Consolas"/>
              </a:rPr>
              <a:t> writes,</a:t>
            </a:r>
          </a:p>
          <a:p>
            <a:pPr>
              <a:spcAft>
                <a:spcPts val="0"/>
              </a:spcAft>
            </a:pPr>
            <a:r>
              <a:rPr sz="1250" b="0" dirty="0">
                <a:solidFill>
                  <a:srgbClr val="F2F2F2"/>
                </a:solidFill>
                <a:latin typeface="Consolas"/>
              </a:rPr>
              <a:t>  2         ROUND(</a:t>
            </a:r>
            <a:r>
              <a:rPr sz="1250" b="0" dirty="0" err="1">
                <a:solidFill>
                  <a:srgbClr val="F2F2F2"/>
                </a:solidFill>
                <a:latin typeface="Consolas"/>
              </a:rPr>
              <a:t>f.readtim</a:t>
            </a:r>
            <a:r>
              <a:rPr sz="1250" b="0" dirty="0">
                <a:solidFill>
                  <a:srgbClr val="F2F2F2"/>
                </a:solidFill>
                <a:latin typeface="Consolas"/>
              </a:rPr>
              <a:t>/GREATEST(f.phyrds,1),2) </a:t>
            </a:r>
            <a:r>
              <a:rPr sz="1250" b="0" dirty="0" err="1">
                <a:solidFill>
                  <a:srgbClr val="F2F2F2"/>
                </a:solidFill>
                <a:latin typeface="Consolas"/>
              </a:rPr>
              <a:t>avg_rd_ms</a:t>
            </a:r>
            <a:endParaRPr sz="1250" b="0" dirty="0">
              <a:solidFill>
                <a:srgbClr val="F2F2F2"/>
              </a:solidFill>
              <a:latin typeface="Consolas"/>
            </a:endParaRPr>
          </a:p>
          <a:p>
            <a:pPr>
              <a:spcAft>
                <a:spcPts val="0"/>
              </a:spcAft>
            </a:pPr>
            <a:r>
              <a:rPr sz="1250" b="0" dirty="0">
                <a:solidFill>
                  <a:srgbClr val="F2F2F2"/>
                </a:solidFill>
                <a:latin typeface="Consolas"/>
              </a:rPr>
              <a:t>  3    FROM </a:t>
            </a:r>
            <a:r>
              <a:rPr sz="1250" b="0" dirty="0" err="1">
                <a:solidFill>
                  <a:srgbClr val="F2F2F2"/>
                </a:solidFill>
                <a:latin typeface="Consolas"/>
              </a:rPr>
              <a:t>v$filestat</a:t>
            </a:r>
            <a:r>
              <a:rPr sz="1250" b="0" dirty="0">
                <a:solidFill>
                  <a:srgbClr val="F2F2F2"/>
                </a:solidFill>
                <a:latin typeface="Consolas"/>
              </a:rPr>
              <a:t> f JOIN </a:t>
            </a:r>
            <a:r>
              <a:rPr sz="1250" b="0" dirty="0" err="1">
                <a:solidFill>
                  <a:srgbClr val="F2F2F2"/>
                </a:solidFill>
                <a:latin typeface="Consolas"/>
              </a:rPr>
              <a:t>dba_data_files</a:t>
            </a:r>
            <a:r>
              <a:rPr sz="1250" b="0" dirty="0">
                <a:solidFill>
                  <a:srgbClr val="F2F2F2"/>
                </a:solidFill>
                <a:latin typeface="Consolas"/>
              </a:rPr>
              <a:t> d ON </a:t>
            </a:r>
            <a:r>
              <a:rPr sz="1250" b="0" dirty="0" err="1">
                <a:solidFill>
                  <a:srgbClr val="F2F2F2"/>
                </a:solidFill>
                <a:latin typeface="Consolas"/>
              </a:rPr>
              <a:t>f.file</a:t>
            </a:r>
            <a:r>
              <a:rPr sz="1250" b="0" dirty="0">
                <a:solidFill>
                  <a:srgbClr val="F2F2F2"/>
                </a:solidFill>
                <a:latin typeface="Consolas"/>
              </a:rPr>
              <a:t>#=d.file_id</a:t>
            </a:r>
          </a:p>
          <a:p>
            <a:pPr>
              <a:spcAft>
                <a:spcPts val="0"/>
              </a:spcAft>
            </a:pPr>
            <a:r>
              <a:rPr sz="1250" b="0" dirty="0">
                <a:solidFill>
                  <a:srgbClr val="F2F2F2"/>
                </a:solidFill>
                <a:latin typeface="Consolas"/>
              </a:rPr>
              <a:t>  4    ORDER BY </a:t>
            </a:r>
            <a:r>
              <a:rPr sz="1250" b="0" dirty="0" err="1">
                <a:solidFill>
                  <a:srgbClr val="F2F2F2"/>
                </a:solidFill>
                <a:latin typeface="Consolas"/>
              </a:rPr>
              <a:t>f.phyrds</a:t>
            </a:r>
            <a:r>
              <a:rPr sz="1250" b="0" dirty="0">
                <a:solidFill>
                  <a:srgbClr val="F2F2F2"/>
                </a:solidFill>
                <a:latin typeface="Consolas"/>
              </a:rPr>
              <a:t> DESC;</a:t>
            </a:r>
          </a:p>
          <a:p>
            <a:pPr>
              <a:spcAft>
                <a:spcPts val="0"/>
              </a:spcAft>
            </a:pPr>
            <a:r>
              <a:rPr sz="1250" b="0" dirty="0">
                <a:solidFill>
                  <a:srgbClr val="F2F2F2"/>
                </a:solidFill>
                <a:latin typeface="Consolas"/>
              </a:rPr>
              <a:t> </a:t>
            </a:r>
          </a:p>
          <a:p>
            <a:pPr>
              <a:spcAft>
                <a:spcPts val="0"/>
              </a:spcAft>
            </a:pPr>
            <a:r>
              <a:rPr sz="1250" b="0" dirty="0">
                <a:solidFill>
                  <a:srgbClr val="F2F2F2"/>
                </a:solidFill>
                <a:latin typeface="Consolas"/>
              </a:rPr>
              <a:t>FILE_NAME                 READS  WRITES  AVG_RD_MS</a:t>
            </a:r>
          </a:p>
          <a:p>
            <a:pPr>
              <a:spcAft>
                <a:spcPts val="0"/>
              </a:spcAft>
            </a:pPr>
            <a:r>
              <a:rPr sz="1250" b="0" dirty="0">
                <a:solidFill>
                  <a:srgbClr val="F2F2F2"/>
                </a:solidFill>
                <a:latin typeface="Consolas"/>
              </a:rPr>
              <a:t>------------------------- ------ ------- ---------</a:t>
            </a:r>
          </a:p>
          <a:p>
            <a:pPr>
              <a:spcAft>
                <a:spcPts val="0"/>
              </a:spcAft>
            </a:pPr>
            <a:r>
              <a:rPr sz="1250" b="0" dirty="0">
                <a:solidFill>
                  <a:srgbClr val="F2F2F2"/>
                </a:solidFill>
                <a:latin typeface="Consolas"/>
              </a:rPr>
              <a:t>system01.dbf              13917    1344      0.34</a:t>
            </a:r>
          </a:p>
          <a:p>
            <a:pPr>
              <a:spcAft>
                <a:spcPts val="0"/>
              </a:spcAft>
            </a:pPr>
            <a:r>
              <a:rPr sz="1250" b="0" dirty="0">
                <a:solidFill>
                  <a:srgbClr val="F2F2F2"/>
                </a:solidFill>
                <a:latin typeface="Consolas"/>
              </a:rPr>
              <a:t>sysaux01.dbf               7222    7584      0.47</a:t>
            </a:r>
          </a:p>
          <a:p>
            <a:pPr>
              <a:spcAft>
                <a:spcPts val="0"/>
              </a:spcAft>
            </a:pPr>
            <a:r>
              <a:rPr sz="1250" b="0" dirty="0">
                <a:solidFill>
                  <a:srgbClr val="F2F2F2"/>
                </a:solidFill>
                <a:latin typeface="Consolas"/>
              </a:rPr>
              <a:t>users01.dbf                2340       0      0.97</a:t>
            </a:r>
          </a:p>
          <a:p>
            <a:pPr>
              <a:spcAft>
                <a:spcPts val="0"/>
              </a:spcAft>
            </a:pPr>
            <a:r>
              <a:rPr sz="1250" b="0" dirty="0">
                <a:solidFill>
                  <a:srgbClr val="F2F2F2"/>
                </a:solidFill>
                <a:latin typeface="Consolas"/>
              </a:rPr>
              <a:t>ts_stg01.dbf                404       0      0.54</a:t>
            </a:r>
          </a:p>
          <a:p>
            <a:pPr>
              <a:spcAft>
                <a:spcPts val="0"/>
              </a:spcAft>
            </a:pPr>
            <a:r>
              <a:rPr sz="1250" b="0" dirty="0">
                <a:solidFill>
                  <a:srgbClr val="F2F2F2"/>
                </a:solidFill>
                <a:latin typeface="Consolas"/>
              </a:rPr>
              <a:t>undotbs01.dbf                68    2007      0.38</a:t>
            </a:r>
          </a:p>
        </p:txBody>
      </p:sp>
    </p:spTree>
    <p:extLst>
      <p:ext uri="{BB962C8B-B14F-4D97-AF65-F5344CB8AC3E}">
        <p14:creationId xmlns:p14="http://schemas.microsoft.com/office/powerpoint/2010/main" val="2854263659"/>
      </p:ext>
    </p:extLst>
  </p:cSld>
  <p:clrMapOvr>
    <a:masterClrMapping/>
  </p:clrMapOvr>
</p:sld>
</file>

<file path=ppt/slides/slide13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편중 판별 — 무엇이 문제인가</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용도로 설명되면 정상, 아니면 조사</a:t>
            </a:r>
          </a:p>
        </p:txBody>
      </p:sp>
      <p:sp>
        <p:nvSpPr>
          <p:cNvPr id="5" name="TextBox 4"/>
          <p:cNvSpPr txBox="1"/>
          <p:nvPr/>
        </p:nvSpPr>
        <p:spPr>
          <a:xfrm>
            <a:off x="640080" y="1737360"/>
            <a:ext cx="10881360" cy="4754879"/>
          </a:xfrm>
          <a:prstGeom prst="rect">
            <a:avLst/>
          </a:prstGeom>
          <a:noFill/>
        </p:spPr>
        <p:txBody>
          <a:bodyPr wrap="square">
            <a:spAutoFit/>
          </a:bodyPr>
          <a:lstStyle/>
          <a:p>
            <a:pPr>
              <a:spcAft>
                <a:spcPts val="600"/>
              </a:spcAft>
            </a:pPr>
            <a:r>
              <a:rPr sz="1600" b="0">
                <a:solidFill>
                  <a:srgbClr val="222222"/>
                </a:solidFill>
                <a:latin typeface="맑은 고딕"/>
              </a:rPr>
              <a:t>•  SYSTEM=읽기, UNDO=쓰기, SYSAUX=균형 → 정상 편중</a:t>
            </a:r>
          </a:p>
          <a:p>
            <a:pPr>
              <a:spcAft>
                <a:spcPts val="600"/>
              </a:spcAft>
            </a:pPr>
            <a:r>
              <a:rPr sz="1600" b="0">
                <a:solidFill>
                  <a:srgbClr val="222222"/>
                </a:solidFill>
                <a:latin typeface="맑은 고딕"/>
              </a:rPr>
              <a:t>•  문제는 '용도로 설명되지 않는 편중'</a:t>
            </a:r>
          </a:p>
          <a:p>
            <a:pPr>
              <a:spcAft>
                <a:spcPts val="600"/>
              </a:spcAft>
            </a:pPr>
            <a:r>
              <a:rPr sz="1600" b="0">
                <a:solidFill>
                  <a:srgbClr val="222222"/>
                </a:solidFill>
                <a:latin typeface="맑은 고딕"/>
              </a:rPr>
              <a:t>•  판정은 절대 임계값이 아니라 같은 인스턴스 다른 파일 대비 배수</a:t>
            </a:r>
          </a:p>
          <a:p>
            <a:pPr>
              <a:spcAft>
                <a:spcPts val="600"/>
              </a:spcAft>
            </a:pPr>
            <a:r>
              <a:rPr sz="1600" b="0">
                <a:solidFill>
                  <a:srgbClr val="222222"/>
                </a:solidFill>
                <a:latin typeface="맑은 고딕"/>
              </a:rPr>
              <a:t>•  읽기 병목(캐시·인덱스)과 쓰기 병목(DBWR·리두)은 조치가 다르다</a:t>
            </a:r>
          </a:p>
        </p:txBody>
      </p:sp>
    </p:spTree>
    <p:extLst>
      <p:ext uri="{BB962C8B-B14F-4D97-AF65-F5344CB8AC3E}">
        <p14:creationId xmlns:p14="http://schemas.microsoft.com/office/powerpoint/2010/main" val="4154906320"/>
      </p:ext>
    </p:extLst>
  </p:cSld>
  <p:clrMapOvr>
    <a:masterClrMapping/>
  </p:clrMapOvr>
</p:sld>
</file>

<file path=ppt/slides/slide13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V$IOSTAT_FILE 실측 — 파일 유형별</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소량(랜덤)·대량(순차) 읽기 구분</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01600" tIns="76200" rtlCol="0" anchor="ctr"/>
          <a:lstStyle/>
          <a:p>
            <a:pPr>
              <a:spcAft>
                <a:spcPts val="0"/>
              </a:spcAft>
            </a:pPr>
            <a:r>
              <a:rPr sz="1250" b="0" dirty="0">
                <a:solidFill>
                  <a:srgbClr val="F2F2F2"/>
                </a:solidFill>
                <a:latin typeface="Consolas"/>
              </a:rPr>
              <a:t>SQL&gt; SELECT </a:t>
            </a:r>
            <a:r>
              <a:rPr sz="1250" b="0" dirty="0" err="1">
                <a:solidFill>
                  <a:srgbClr val="F2F2F2"/>
                </a:solidFill>
                <a:latin typeface="Consolas"/>
              </a:rPr>
              <a:t>filetype_name</a:t>
            </a:r>
            <a:r>
              <a:rPr sz="1250" b="0" dirty="0">
                <a:solidFill>
                  <a:srgbClr val="F2F2F2"/>
                </a:solidFill>
                <a:latin typeface="Consolas"/>
              </a:rPr>
              <a:t>,</a:t>
            </a:r>
          </a:p>
          <a:p>
            <a:pPr>
              <a:spcAft>
                <a:spcPts val="0"/>
              </a:spcAft>
            </a:pPr>
            <a:r>
              <a:rPr sz="1250" b="0" dirty="0">
                <a:solidFill>
                  <a:srgbClr val="F2F2F2"/>
                </a:solidFill>
                <a:latin typeface="Consolas"/>
              </a:rPr>
              <a:t>  2      ROUND(small_read_megabytes,1) </a:t>
            </a:r>
            <a:r>
              <a:rPr sz="1250" b="0" dirty="0" err="1">
                <a:solidFill>
                  <a:srgbClr val="F2F2F2"/>
                </a:solidFill>
                <a:latin typeface="Consolas"/>
              </a:rPr>
              <a:t>sm_rd_mb</a:t>
            </a:r>
            <a:r>
              <a:rPr sz="1250" b="0" dirty="0">
                <a:solidFill>
                  <a:srgbClr val="F2F2F2"/>
                </a:solidFill>
                <a:latin typeface="Consolas"/>
              </a:rPr>
              <a:t>,</a:t>
            </a:r>
          </a:p>
          <a:p>
            <a:pPr>
              <a:spcAft>
                <a:spcPts val="0"/>
              </a:spcAft>
            </a:pPr>
            <a:r>
              <a:rPr sz="1250" b="0" dirty="0">
                <a:solidFill>
                  <a:srgbClr val="F2F2F2"/>
                </a:solidFill>
                <a:latin typeface="Consolas"/>
              </a:rPr>
              <a:t>  3      ROUND(large_read_megabytes,1) </a:t>
            </a:r>
            <a:r>
              <a:rPr sz="1250" b="0" dirty="0" err="1">
                <a:solidFill>
                  <a:srgbClr val="F2F2F2"/>
                </a:solidFill>
                <a:latin typeface="Consolas"/>
              </a:rPr>
              <a:t>lg_rd_mb</a:t>
            </a:r>
            <a:r>
              <a:rPr sz="1250" b="0" dirty="0">
                <a:solidFill>
                  <a:srgbClr val="F2F2F2"/>
                </a:solidFill>
                <a:latin typeface="Consolas"/>
              </a:rPr>
              <a:t>,</a:t>
            </a:r>
          </a:p>
          <a:p>
            <a:pPr>
              <a:spcAft>
                <a:spcPts val="0"/>
              </a:spcAft>
            </a:pPr>
            <a:r>
              <a:rPr sz="1250" b="0" dirty="0">
                <a:solidFill>
                  <a:srgbClr val="F2F2F2"/>
                </a:solidFill>
                <a:latin typeface="Consolas"/>
              </a:rPr>
              <a:t>  4      </a:t>
            </a:r>
            <a:r>
              <a:rPr sz="1250" b="0" dirty="0" err="1">
                <a:solidFill>
                  <a:srgbClr val="F2F2F2"/>
                </a:solidFill>
                <a:latin typeface="Consolas"/>
              </a:rPr>
              <a:t>small_read_reqs</a:t>
            </a:r>
            <a:r>
              <a:rPr sz="1250" b="0" dirty="0">
                <a:solidFill>
                  <a:srgbClr val="F2F2F2"/>
                </a:solidFill>
                <a:latin typeface="Consolas"/>
              </a:rPr>
              <a:t>, </a:t>
            </a:r>
            <a:r>
              <a:rPr sz="1250" b="0" dirty="0" err="1">
                <a:solidFill>
                  <a:srgbClr val="F2F2F2"/>
                </a:solidFill>
                <a:latin typeface="Consolas"/>
              </a:rPr>
              <a:t>large_read_reqs</a:t>
            </a:r>
            <a:endParaRPr sz="1250" b="0" dirty="0">
              <a:solidFill>
                <a:srgbClr val="F2F2F2"/>
              </a:solidFill>
              <a:latin typeface="Consolas"/>
            </a:endParaRPr>
          </a:p>
          <a:p>
            <a:pPr>
              <a:spcAft>
                <a:spcPts val="0"/>
              </a:spcAft>
            </a:pPr>
            <a:r>
              <a:rPr sz="1250" b="0" dirty="0">
                <a:solidFill>
                  <a:srgbClr val="F2F2F2"/>
                </a:solidFill>
                <a:latin typeface="Consolas"/>
              </a:rPr>
              <a:t>  5    FROM </a:t>
            </a:r>
            <a:r>
              <a:rPr sz="1250" b="0" dirty="0" err="1">
                <a:solidFill>
                  <a:srgbClr val="F2F2F2"/>
                </a:solidFill>
                <a:latin typeface="Consolas"/>
              </a:rPr>
              <a:t>v$iostat_file</a:t>
            </a:r>
            <a:r>
              <a:rPr sz="1250" b="0" dirty="0">
                <a:solidFill>
                  <a:srgbClr val="F2F2F2"/>
                </a:solidFill>
                <a:latin typeface="Consolas"/>
              </a:rPr>
              <a:t> ...;</a:t>
            </a:r>
          </a:p>
          <a:p>
            <a:pPr>
              <a:spcAft>
                <a:spcPts val="0"/>
              </a:spcAft>
            </a:pPr>
            <a:r>
              <a:rPr sz="1250" b="0" dirty="0">
                <a:solidFill>
                  <a:srgbClr val="F2F2F2"/>
                </a:solidFill>
                <a:latin typeface="Consolas"/>
              </a:rPr>
              <a:t> </a:t>
            </a:r>
          </a:p>
          <a:p>
            <a:pPr>
              <a:spcAft>
                <a:spcPts val="0"/>
              </a:spcAft>
            </a:pPr>
            <a:r>
              <a:rPr sz="1250" b="0" dirty="0">
                <a:solidFill>
                  <a:srgbClr val="F2F2F2"/>
                </a:solidFill>
                <a:latin typeface="Consolas"/>
              </a:rPr>
              <a:t>FILETYPE_NAME  SM_RD_MB LG_RD_MB SM_REQS  LG_REQS</a:t>
            </a:r>
          </a:p>
          <a:p>
            <a:pPr>
              <a:spcAft>
                <a:spcPts val="0"/>
              </a:spcAft>
            </a:pPr>
            <a:r>
              <a:rPr sz="1250" b="0" dirty="0">
                <a:solidFill>
                  <a:srgbClr val="F2F2F2"/>
                </a:solidFill>
                <a:latin typeface="Consolas"/>
              </a:rPr>
              <a:t>-------------- -------- -------- -------  -------</a:t>
            </a:r>
          </a:p>
          <a:p>
            <a:pPr>
              <a:spcAft>
                <a:spcPts val="0"/>
              </a:spcAft>
            </a:pPr>
            <a:r>
              <a:rPr sz="1250" b="0" dirty="0">
                <a:solidFill>
                  <a:srgbClr val="F2F2F2"/>
                </a:solidFill>
                <a:latin typeface="Consolas"/>
              </a:rPr>
              <a:t>Control File       1776       40  113662       48</a:t>
            </a:r>
          </a:p>
          <a:p>
            <a:pPr>
              <a:spcAft>
                <a:spcPts val="0"/>
              </a:spcAft>
            </a:pPr>
            <a:r>
              <a:rPr sz="1250" b="0" dirty="0">
                <a:solidFill>
                  <a:srgbClr val="F2F2F2"/>
                </a:solidFill>
                <a:latin typeface="Consolas"/>
              </a:rPr>
              <a:t>Data File           113      988   12940     1023</a:t>
            </a:r>
          </a:p>
          <a:p>
            <a:pPr>
              <a:spcAft>
                <a:spcPts val="0"/>
              </a:spcAft>
            </a:pPr>
            <a:r>
              <a:rPr sz="1250" b="0" dirty="0">
                <a:solidFill>
                  <a:srgbClr val="F2F2F2"/>
                </a:solidFill>
                <a:latin typeface="Consolas"/>
              </a:rPr>
              <a:t>Data File            92      888    6356      913</a:t>
            </a:r>
          </a:p>
        </p:txBody>
      </p:sp>
    </p:spTree>
    <p:extLst>
      <p:ext uri="{BB962C8B-B14F-4D97-AF65-F5344CB8AC3E}">
        <p14:creationId xmlns:p14="http://schemas.microsoft.com/office/powerpoint/2010/main" val="2234101595"/>
      </p:ext>
    </p:extLst>
  </p:cSld>
  <p:clrMapOvr>
    <a:masterClrMapping/>
  </p:clrMapOvr>
</p:sld>
</file>

<file path=ppt/slides/slide13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실무 — '디스크가 느리다'를 분포로 번역</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증설 전에 파일 분포부터</a:t>
            </a:r>
          </a:p>
        </p:txBody>
      </p:sp>
      <p:sp>
        <p:nvSpPr>
          <p:cNvPr id="5" name="TextBox 4"/>
          <p:cNvSpPr txBox="1"/>
          <p:nvPr/>
        </p:nvSpPr>
        <p:spPr>
          <a:xfrm>
            <a:off x="640080" y="1737360"/>
            <a:ext cx="10881360" cy="4754879"/>
          </a:xfrm>
          <a:prstGeom prst="rect">
            <a:avLst/>
          </a:prstGeom>
          <a:noFill/>
        </p:spPr>
        <p:txBody>
          <a:bodyPr wrap="square">
            <a:spAutoFit/>
          </a:bodyPr>
          <a:lstStyle/>
          <a:p>
            <a:pPr>
              <a:spcAft>
                <a:spcPts val="600"/>
              </a:spcAft>
            </a:pPr>
            <a:r>
              <a:rPr sz="1600" b="0">
                <a:solidFill>
                  <a:srgbClr val="222222"/>
                </a:solidFill>
                <a:latin typeface="맑은 고딕"/>
              </a:rPr>
              <a:t>•  신고: 야간 배치가 느려짐, 인프라팀은 '스토리지 교체' 주장</a:t>
            </a:r>
          </a:p>
          <a:p>
            <a:pPr>
              <a:spcAft>
                <a:spcPts val="600"/>
              </a:spcAft>
            </a:pPr>
            <a:r>
              <a:rPr sz="1600" b="0">
                <a:solidFill>
                  <a:srgbClr val="222222"/>
                </a:solidFill>
                <a:latin typeface="맑은 고딕"/>
              </a:rPr>
              <a:t>•  1차: V$FILESTAT를 배치 시작·종료에 조회해 델타</a:t>
            </a:r>
          </a:p>
          <a:p>
            <a:pPr>
              <a:spcAft>
                <a:spcPts val="600"/>
              </a:spcAft>
            </a:pPr>
            <a:r>
              <a:rPr sz="1600" b="0">
                <a:solidFill>
                  <a:srgbClr val="222222"/>
                </a:solidFill>
                <a:latin typeface="맑은 고딕"/>
              </a:rPr>
              <a:t>•  발견: 한 업무 파일의 PHYRDS·대량 읽기만 급증</a:t>
            </a:r>
          </a:p>
          <a:p>
            <a:pPr>
              <a:spcAft>
                <a:spcPts val="600"/>
              </a:spcAft>
            </a:pPr>
            <a:r>
              <a:rPr sz="1600" b="0">
                <a:solidFill>
                  <a:srgbClr val="222222"/>
                </a:solidFill>
                <a:latin typeface="맑은 고딕"/>
              </a:rPr>
              <a:t>•  해석: 스토리지 전체가 아니라 한 세그먼트 전체 스캔</a:t>
            </a:r>
          </a:p>
          <a:p>
            <a:pPr>
              <a:spcAft>
                <a:spcPts val="600"/>
              </a:spcAft>
            </a:pPr>
            <a:r>
              <a:rPr sz="1600" b="0">
                <a:solidFill>
                  <a:srgbClr val="222222"/>
                </a:solidFill>
                <a:latin typeface="맑은 고딕"/>
              </a:rPr>
              <a:t>•  조치: 세그먼트→SQL 계획 점검, 그래도면 CALIBRATE_IO로 근거 후 판단</a:t>
            </a:r>
          </a:p>
        </p:txBody>
      </p:sp>
    </p:spTree>
    <p:extLst>
      <p:ext uri="{BB962C8B-B14F-4D97-AF65-F5344CB8AC3E}">
        <p14:creationId xmlns:p14="http://schemas.microsoft.com/office/powerpoint/2010/main" val="463031813"/>
      </p:ext>
    </p:extLst>
  </p:cSld>
  <p:clrMapOvr>
    <a:masterClrMapping/>
  </p:clrMapOvr>
</p:sld>
</file>

<file path=ppt/slides/slide13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34.3</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I/O 캘리브레이션</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r>
              <a:rPr sz="1600" b="0">
                <a:solidFill>
                  <a:srgbClr val="FFFFFF"/>
                </a:solidFill>
                <a:latin typeface="맑은 고딕"/>
              </a:rPr>
              <a:t>•  NOWORKLOAD 확인 — MBRC·SREADTIM NULL</a:t>
            </a:r>
          </a:p>
          <a:p>
            <a:r>
              <a:rPr sz="1600" b="0">
                <a:solidFill>
                  <a:srgbClr val="FFFFFF"/>
                </a:solidFill>
                <a:latin typeface="맑은 고딕"/>
              </a:rPr>
              <a:t>•  CALIBRATE_IO — 랜덤 I/O로 상한 실측</a:t>
            </a:r>
          </a:p>
          <a:p>
            <a:r>
              <a:rPr sz="1600" b="0">
                <a:solidFill>
                  <a:srgbClr val="FFFFFF"/>
                </a:solidFill>
                <a:latin typeface="맑은 고딕"/>
              </a:rPr>
              <a:t>•  결과: max_iops·max_mbps·latency</a:t>
            </a:r>
          </a:p>
        </p:txBody>
      </p:sp>
    </p:spTree>
    <p:extLst>
      <p:ext uri="{BB962C8B-B14F-4D97-AF65-F5344CB8AC3E}">
        <p14:creationId xmlns:p14="http://schemas.microsoft.com/office/powerpoint/2010/main" val="1168473669"/>
      </p:ext>
    </p:extLst>
  </p:cSld>
  <p:clrMapOvr>
    <a:masterClrMapping/>
  </p:clrMapOvr>
</p:sld>
</file>

<file path=ppt/slides/slide13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먼저 상태 확인 — NOWORKLOAD?</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AUX_STATS$ (실측: 미수행)</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01600" tIns="76200" rtlCol="0" anchor="ctr"/>
          <a:lstStyle/>
          <a:p>
            <a:pPr>
              <a:spcAft>
                <a:spcPts val="0"/>
              </a:spcAft>
            </a:pPr>
            <a:r>
              <a:rPr sz="1250" b="0" dirty="0">
                <a:solidFill>
                  <a:srgbClr val="F2F2F2"/>
                </a:solidFill>
                <a:latin typeface="Consolas"/>
              </a:rPr>
              <a:t>SQL&gt; SELECT </a:t>
            </a:r>
            <a:r>
              <a:rPr sz="1250" b="0" dirty="0" err="1">
                <a:solidFill>
                  <a:srgbClr val="F2F2F2"/>
                </a:solidFill>
                <a:latin typeface="Consolas"/>
              </a:rPr>
              <a:t>pname</a:t>
            </a:r>
            <a:r>
              <a:rPr sz="1250" b="0" dirty="0">
                <a:solidFill>
                  <a:srgbClr val="F2F2F2"/>
                </a:solidFill>
                <a:latin typeface="Consolas"/>
              </a:rPr>
              <a:t>, pval1 FROM </a:t>
            </a:r>
            <a:r>
              <a:rPr sz="1250" b="0" dirty="0" err="1">
                <a:solidFill>
                  <a:srgbClr val="F2F2F2"/>
                </a:solidFill>
                <a:latin typeface="Consolas"/>
              </a:rPr>
              <a:t>sys.aux_stats</a:t>
            </a:r>
            <a:r>
              <a:rPr sz="1250" b="0" dirty="0">
                <a:solidFill>
                  <a:srgbClr val="F2F2F2"/>
                </a:solidFill>
                <a:latin typeface="Consolas"/>
              </a:rPr>
              <a:t>$</a:t>
            </a:r>
          </a:p>
          <a:p>
            <a:pPr>
              <a:spcAft>
                <a:spcPts val="0"/>
              </a:spcAft>
            </a:pPr>
            <a:r>
              <a:rPr sz="1250" b="0" dirty="0">
                <a:solidFill>
                  <a:srgbClr val="F2F2F2"/>
                </a:solidFill>
                <a:latin typeface="Consolas"/>
              </a:rPr>
              <a:t>  2    WHERE </a:t>
            </a:r>
            <a:r>
              <a:rPr sz="1250" b="0" dirty="0" err="1">
                <a:solidFill>
                  <a:srgbClr val="F2F2F2"/>
                </a:solidFill>
                <a:latin typeface="Consolas"/>
              </a:rPr>
              <a:t>pname</a:t>
            </a:r>
            <a:r>
              <a:rPr sz="1250" b="0" dirty="0">
                <a:solidFill>
                  <a:srgbClr val="F2F2F2"/>
                </a:solidFill>
                <a:latin typeface="Consolas"/>
              </a:rPr>
              <a:t> IN ('IOSEEKTIM','IOTFRSPEED','MBRC',</a:t>
            </a:r>
          </a:p>
          <a:p>
            <a:pPr>
              <a:spcAft>
                <a:spcPts val="0"/>
              </a:spcAft>
            </a:pPr>
            <a:r>
              <a:rPr sz="1250" b="0" dirty="0">
                <a:solidFill>
                  <a:srgbClr val="F2F2F2"/>
                </a:solidFill>
                <a:latin typeface="Consolas"/>
              </a:rPr>
              <a:t>  3       'SREADTIM','MREADTIM','MAXTHR','SLAVETHR');</a:t>
            </a:r>
          </a:p>
          <a:p>
            <a:pPr>
              <a:spcAft>
                <a:spcPts val="0"/>
              </a:spcAft>
            </a:pPr>
            <a:r>
              <a:rPr sz="1250" b="0" dirty="0">
                <a:solidFill>
                  <a:srgbClr val="F2F2F2"/>
                </a:solidFill>
                <a:latin typeface="Consolas"/>
              </a:rPr>
              <a:t> </a:t>
            </a:r>
          </a:p>
          <a:p>
            <a:pPr>
              <a:spcAft>
                <a:spcPts val="0"/>
              </a:spcAft>
            </a:pPr>
            <a:r>
              <a:rPr sz="1250" b="0" dirty="0">
                <a:solidFill>
                  <a:srgbClr val="F2F2F2"/>
                </a:solidFill>
                <a:latin typeface="Consolas"/>
              </a:rPr>
              <a:t>PNAME            PVAL1</a:t>
            </a:r>
          </a:p>
          <a:p>
            <a:pPr>
              <a:spcAft>
                <a:spcPts val="0"/>
              </a:spcAft>
            </a:pPr>
            <a:r>
              <a:rPr sz="1250" b="0" dirty="0">
                <a:solidFill>
                  <a:srgbClr val="F2F2F2"/>
                </a:solidFill>
                <a:latin typeface="Consolas"/>
              </a:rPr>
              <a:t>---------------- ----------</a:t>
            </a:r>
          </a:p>
          <a:p>
            <a:pPr>
              <a:spcAft>
                <a:spcPts val="0"/>
              </a:spcAft>
            </a:pPr>
            <a:r>
              <a:rPr sz="1250" b="0" dirty="0">
                <a:solidFill>
                  <a:srgbClr val="F2F2F2"/>
                </a:solidFill>
                <a:latin typeface="Consolas"/>
              </a:rPr>
              <a:t>IOSEEKTIM        10</a:t>
            </a:r>
          </a:p>
          <a:p>
            <a:pPr>
              <a:spcAft>
                <a:spcPts val="0"/>
              </a:spcAft>
            </a:pPr>
            <a:r>
              <a:rPr sz="1250" b="0" dirty="0">
                <a:solidFill>
                  <a:srgbClr val="F2F2F2"/>
                </a:solidFill>
                <a:latin typeface="Consolas"/>
              </a:rPr>
              <a:t>IOTFRSPEED       4096</a:t>
            </a:r>
          </a:p>
          <a:p>
            <a:pPr>
              <a:spcAft>
                <a:spcPts val="0"/>
              </a:spcAft>
            </a:pPr>
            <a:r>
              <a:rPr sz="1250" b="0" dirty="0">
                <a:solidFill>
                  <a:srgbClr val="F2F2F2"/>
                </a:solidFill>
                <a:latin typeface="Consolas"/>
              </a:rPr>
              <a:t>MBRC</a:t>
            </a:r>
          </a:p>
          <a:p>
            <a:pPr>
              <a:spcAft>
                <a:spcPts val="0"/>
              </a:spcAft>
            </a:pPr>
            <a:r>
              <a:rPr sz="1250" b="0" dirty="0">
                <a:solidFill>
                  <a:srgbClr val="F2F2F2"/>
                </a:solidFill>
                <a:latin typeface="Consolas"/>
              </a:rPr>
              <a:t>MREADTIM</a:t>
            </a:r>
          </a:p>
          <a:p>
            <a:pPr>
              <a:spcAft>
                <a:spcPts val="0"/>
              </a:spcAft>
            </a:pPr>
            <a:r>
              <a:rPr sz="1250" b="0" dirty="0">
                <a:solidFill>
                  <a:srgbClr val="F2F2F2"/>
                </a:solidFill>
                <a:latin typeface="Consolas"/>
              </a:rPr>
              <a:t>SREADTIM</a:t>
            </a:r>
          </a:p>
        </p:txBody>
      </p:sp>
    </p:spTree>
    <p:extLst>
      <p:ext uri="{BB962C8B-B14F-4D97-AF65-F5344CB8AC3E}">
        <p14:creationId xmlns:p14="http://schemas.microsoft.com/office/powerpoint/2010/main" val="2590739800"/>
      </p:ext>
    </p:extLst>
  </p:cSld>
  <p:clrMapOvr>
    <a:masterClrMapping/>
  </p:clrMapOvr>
</p:sld>
</file>

<file path=ppt/slides/slide13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시스템 통계 두 종류를 구분</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목적이 다르다</a:t>
            </a:r>
          </a:p>
        </p:txBody>
      </p:sp>
      <p:sp>
        <p:nvSpPr>
          <p:cNvPr id="5" name="TextBox 4"/>
          <p:cNvSpPr txBox="1"/>
          <p:nvPr/>
        </p:nvSpPr>
        <p:spPr>
          <a:xfrm>
            <a:off x="640080" y="1737360"/>
            <a:ext cx="10881360" cy="4754879"/>
          </a:xfrm>
          <a:prstGeom prst="rect">
            <a:avLst/>
          </a:prstGeom>
          <a:noFill/>
        </p:spPr>
        <p:txBody>
          <a:bodyPr wrap="square">
            <a:spAutoFit/>
          </a:bodyPr>
          <a:lstStyle/>
          <a:p>
            <a:pPr>
              <a:spcAft>
                <a:spcPts val="600"/>
              </a:spcAft>
            </a:pPr>
            <a:r>
              <a:rPr sz="1600" b="0">
                <a:solidFill>
                  <a:srgbClr val="222222"/>
                </a:solidFill>
                <a:latin typeface="맑은 고딕"/>
              </a:rPr>
              <a:t>•  GATHER_SYSTEM_STATS → 옵티마이저 비용용 SREADTIM·MREADTIM·MBRC</a:t>
            </a:r>
          </a:p>
          <a:p>
            <a:pPr>
              <a:spcAft>
                <a:spcPts val="600"/>
              </a:spcAft>
            </a:pPr>
            <a:r>
              <a:rPr sz="1600" b="0">
                <a:solidFill>
                  <a:srgbClr val="222222"/>
                </a:solidFill>
                <a:latin typeface="맑은 고딕"/>
              </a:rPr>
              <a:t>•  CALIBRATE_IO → 스토리지 상한 max_iops·max_mbps</a:t>
            </a:r>
          </a:p>
          <a:p>
            <a:pPr>
              <a:spcAft>
                <a:spcPts val="600"/>
              </a:spcAft>
            </a:pPr>
            <a:r>
              <a:rPr sz="1600" b="0">
                <a:solidFill>
                  <a:srgbClr val="222222"/>
                </a:solidFill>
                <a:latin typeface="맑은 고딕"/>
              </a:rPr>
              <a:t>•  실측: 둘 다 미수행(NOWORKLOAD)</a:t>
            </a:r>
          </a:p>
          <a:p>
            <a:pPr>
              <a:spcAft>
                <a:spcPts val="600"/>
              </a:spcAft>
            </a:pPr>
            <a:r>
              <a:rPr sz="1600" b="0">
                <a:solidFill>
                  <a:srgbClr val="222222"/>
                </a:solidFill>
                <a:latin typeface="맑은 고딕"/>
              </a:rPr>
              <a:t>•  실습 목표: 미수행 확인 + 실행 절차 습득</a:t>
            </a:r>
          </a:p>
        </p:txBody>
      </p:sp>
    </p:spTree>
    <p:extLst>
      <p:ext uri="{BB962C8B-B14F-4D97-AF65-F5344CB8AC3E}">
        <p14:creationId xmlns:p14="http://schemas.microsoft.com/office/powerpoint/2010/main" val="3139944029"/>
      </p:ext>
    </p:extLst>
  </p:cSld>
  <p:clrMapOvr>
    <a:masterClrMapping/>
  </p:clrMapOvr>
</p:sld>
</file>

<file path=ppt/slides/slide13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CALIBRATE_IO — 전제조건과 절차</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DBMS_RESOURCE_MANAGER.CALIBRATE_IO</a:t>
            </a:r>
          </a:p>
        </p:txBody>
      </p:sp>
      <p:sp>
        <p:nvSpPr>
          <p:cNvPr id="5" name="TextBox 4"/>
          <p:cNvSpPr txBox="1"/>
          <p:nvPr/>
        </p:nvSpPr>
        <p:spPr>
          <a:xfrm>
            <a:off x="640080" y="1737360"/>
            <a:ext cx="10881360" cy="4754879"/>
          </a:xfrm>
          <a:prstGeom prst="rect">
            <a:avLst/>
          </a:prstGeom>
          <a:noFill/>
        </p:spPr>
        <p:txBody>
          <a:bodyPr wrap="square">
            <a:spAutoFit/>
          </a:bodyPr>
          <a:lstStyle/>
          <a:p>
            <a:pPr>
              <a:spcAft>
                <a:spcPts val="600"/>
              </a:spcAft>
            </a:pPr>
            <a:r>
              <a:rPr sz="1600" b="0">
                <a:solidFill>
                  <a:srgbClr val="222222"/>
                </a:solidFill>
                <a:latin typeface="맑은 고딕"/>
              </a:rPr>
              <a:t>•  전제 1: SYSDBA 권한</a:t>
            </a:r>
          </a:p>
          <a:p>
            <a:pPr>
              <a:spcAft>
                <a:spcPts val="600"/>
              </a:spcAft>
            </a:pPr>
            <a:r>
              <a:rPr sz="1600" b="0">
                <a:solidFill>
                  <a:srgbClr val="222222"/>
                </a:solidFill>
                <a:latin typeface="맑은 고딕"/>
              </a:rPr>
              <a:t>•  전제 2: TIMED_STATISTICS = TRUE</a:t>
            </a:r>
          </a:p>
          <a:p>
            <a:pPr>
              <a:spcAft>
                <a:spcPts val="600"/>
              </a:spcAft>
            </a:pPr>
            <a:r>
              <a:rPr sz="1600" b="0">
                <a:solidFill>
                  <a:srgbClr val="222222"/>
                </a:solidFill>
                <a:latin typeface="맑은 고딕"/>
              </a:rPr>
              <a:t>•  전제 3: 데이터파일 비동기 I/O 활성(FILESYSTEMIO_OPTIONS=SETALL 등)</a:t>
            </a:r>
          </a:p>
          <a:p>
            <a:pPr>
              <a:spcAft>
                <a:spcPts val="600"/>
              </a:spcAft>
            </a:pPr>
            <a:r>
              <a:rPr sz="1600" b="0">
                <a:solidFill>
                  <a:srgbClr val="222222"/>
                </a:solidFill>
                <a:latin typeface="맑은 고딕"/>
              </a:rPr>
              <a:t>•  1단계 8KB 랜덤 → max_iops(OLTP), 2단계 1MB 랜덤 → max_mbps(DW)</a:t>
            </a:r>
          </a:p>
          <a:p>
            <a:pPr>
              <a:spcAft>
                <a:spcPts val="600"/>
              </a:spcAft>
            </a:pPr>
            <a:r>
              <a:rPr sz="1600" b="0">
                <a:solidFill>
                  <a:srgbClr val="222222"/>
                </a:solidFill>
                <a:latin typeface="맑은 고딕"/>
              </a:rPr>
              <a:t>•  무거운 I/O 유발 → 반드시 유휴/비피크 시간에만</a:t>
            </a:r>
          </a:p>
        </p:txBody>
      </p:sp>
    </p:spTree>
    <p:extLst>
      <p:ext uri="{BB962C8B-B14F-4D97-AF65-F5344CB8AC3E}">
        <p14:creationId xmlns:p14="http://schemas.microsoft.com/office/powerpoint/2010/main" val="3740033402"/>
      </p:ext>
    </p:extLst>
  </p:cSld>
  <p:clrMapOvr>
    <a:masterClrMapping/>
  </p:clrMapOvr>
</p:sld>
</file>

<file path=ppt/slides/slide13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CALIBRATE_IO 실행</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결과는 스토리지 의존 → &lt;환경값&gt;</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01600" tIns="76200" rtlCol="0" anchor="ctr"/>
          <a:lstStyle/>
          <a:p>
            <a:pPr>
              <a:spcAft>
                <a:spcPts val="0"/>
              </a:spcAft>
            </a:pPr>
            <a:r>
              <a:rPr sz="1250" b="0" dirty="0">
                <a:solidFill>
                  <a:srgbClr val="F2F2F2"/>
                </a:solidFill>
                <a:latin typeface="Consolas"/>
              </a:rPr>
              <a:t>SQL&gt; SET SERVEROUTPUT ON</a:t>
            </a:r>
          </a:p>
          <a:p>
            <a:pPr>
              <a:spcAft>
                <a:spcPts val="0"/>
              </a:spcAft>
            </a:pPr>
            <a:r>
              <a:rPr sz="1250" b="0" dirty="0">
                <a:solidFill>
                  <a:srgbClr val="F2F2F2"/>
                </a:solidFill>
                <a:latin typeface="Consolas"/>
              </a:rPr>
              <a:t>SQL&gt; DECLARE</a:t>
            </a:r>
          </a:p>
          <a:p>
            <a:pPr>
              <a:spcAft>
                <a:spcPts val="0"/>
              </a:spcAft>
            </a:pPr>
            <a:r>
              <a:rPr sz="1250" b="0" dirty="0">
                <a:solidFill>
                  <a:srgbClr val="F2F2F2"/>
                </a:solidFill>
                <a:latin typeface="Consolas"/>
              </a:rPr>
              <a:t>  2    </a:t>
            </a:r>
            <a:r>
              <a:rPr sz="1250" b="0" dirty="0" err="1">
                <a:solidFill>
                  <a:srgbClr val="F2F2F2"/>
                </a:solidFill>
                <a:latin typeface="Consolas"/>
              </a:rPr>
              <a:t>lat</a:t>
            </a:r>
            <a:r>
              <a:rPr sz="1250" b="0" dirty="0">
                <a:solidFill>
                  <a:srgbClr val="F2F2F2"/>
                </a:solidFill>
                <a:latin typeface="Consolas"/>
              </a:rPr>
              <a:t> NUMBER; </a:t>
            </a:r>
            <a:r>
              <a:rPr sz="1250" b="0" dirty="0" err="1">
                <a:solidFill>
                  <a:srgbClr val="F2F2F2"/>
                </a:solidFill>
                <a:latin typeface="Consolas"/>
              </a:rPr>
              <a:t>iops</a:t>
            </a:r>
            <a:r>
              <a:rPr sz="1250" b="0" dirty="0">
                <a:solidFill>
                  <a:srgbClr val="F2F2F2"/>
                </a:solidFill>
                <a:latin typeface="Consolas"/>
              </a:rPr>
              <a:t> INTEGER; </a:t>
            </a:r>
            <a:r>
              <a:rPr sz="1250" b="0" dirty="0" err="1">
                <a:solidFill>
                  <a:srgbClr val="F2F2F2"/>
                </a:solidFill>
                <a:latin typeface="Consolas"/>
              </a:rPr>
              <a:t>mbps</a:t>
            </a:r>
            <a:r>
              <a:rPr sz="1250" b="0" dirty="0">
                <a:solidFill>
                  <a:srgbClr val="F2F2F2"/>
                </a:solidFill>
                <a:latin typeface="Consolas"/>
              </a:rPr>
              <a:t> INTEGER;</a:t>
            </a:r>
          </a:p>
          <a:p>
            <a:pPr>
              <a:spcAft>
                <a:spcPts val="0"/>
              </a:spcAft>
            </a:pPr>
            <a:r>
              <a:rPr sz="1250" b="0" dirty="0">
                <a:solidFill>
                  <a:srgbClr val="F2F2F2"/>
                </a:solidFill>
                <a:latin typeface="Consolas"/>
              </a:rPr>
              <a:t>  3  BEGIN</a:t>
            </a:r>
          </a:p>
          <a:p>
            <a:pPr>
              <a:spcAft>
                <a:spcPts val="0"/>
              </a:spcAft>
            </a:pPr>
            <a:r>
              <a:rPr sz="1250" b="0" dirty="0">
                <a:solidFill>
                  <a:srgbClr val="F2F2F2"/>
                </a:solidFill>
                <a:latin typeface="Consolas"/>
              </a:rPr>
              <a:t>  4    DBMS_RESOURCE_MANAGER.CALIBRATE_IO(2,10,iops,mbps,lat);</a:t>
            </a:r>
          </a:p>
          <a:p>
            <a:pPr>
              <a:spcAft>
                <a:spcPts val="0"/>
              </a:spcAft>
            </a:pPr>
            <a:r>
              <a:rPr sz="1250" b="0" dirty="0">
                <a:solidFill>
                  <a:srgbClr val="F2F2F2"/>
                </a:solidFill>
                <a:latin typeface="Consolas"/>
              </a:rPr>
              <a:t>  5    DBMS_OUTPUT.PUT_LINE('</a:t>
            </a:r>
            <a:r>
              <a:rPr sz="1250" b="0" dirty="0" err="1">
                <a:solidFill>
                  <a:srgbClr val="F2F2F2"/>
                </a:solidFill>
                <a:latin typeface="Consolas"/>
              </a:rPr>
              <a:t>iops</a:t>
            </a:r>
            <a:r>
              <a:rPr sz="1250" b="0" dirty="0">
                <a:solidFill>
                  <a:srgbClr val="F2F2F2"/>
                </a:solidFill>
                <a:latin typeface="Consolas"/>
              </a:rPr>
              <a:t>='||</a:t>
            </a:r>
            <a:r>
              <a:rPr sz="1250" b="0" dirty="0" err="1">
                <a:solidFill>
                  <a:srgbClr val="F2F2F2"/>
                </a:solidFill>
                <a:latin typeface="Consolas"/>
              </a:rPr>
              <a:t>iops</a:t>
            </a:r>
            <a:r>
              <a:rPr sz="1250" b="0" dirty="0">
                <a:solidFill>
                  <a:srgbClr val="F2F2F2"/>
                </a:solidFill>
                <a:latin typeface="Consolas"/>
              </a:rPr>
              <a:t>||' </a:t>
            </a:r>
            <a:r>
              <a:rPr sz="1250" b="0" dirty="0" err="1">
                <a:solidFill>
                  <a:srgbClr val="F2F2F2"/>
                </a:solidFill>
                <a:latin typeface="Consolas"/>
              </a:rPr>
              <a:t>mbps</a:t>
            </a:r>
            <a:r>
              <a:rPr sz="1250" b="0" dirty="0">
                <a:solidFill>
                  <a:srgbClr val="F2F2F2"/>
                </a:solidFill>
                <a:latin typeface="Consolas"/>
              </a:rPr>
              <a:t>='||</a:t>
            </a:r>
            <a:r>
              <a:rPr sz="1250" b="0" dirty="0" err="1">
                <a:solidFill>
                  <a:srgbClr val="F2F2F2"/>
                </a:solidFill>
                <a:latin typeface="Consolas"/>
              </a:rPr>
              <a:t>mbps</a:t>
            </a:r>
            <a:r>
              <a:rPr sz="1250" b="0" dirty="0">
                <a:solidFill>
                  <a:srgbClr val="F2F2F2"/>
                </a:solidFill>
                <a:latin typeface="Consolas"/>
              </a:rPr>
              <a:t>);</a:t>
            </a:r>
          </a:p>
          <a:p>
            <a:pPr>
              <a:spcAft>
                <a:spcPts val="0"/>
              </a:spcAft>
            </a:pPr>
            <a:r>
              <a:rPr sz="1250" b="0" dirty="0">
                <a:solidFill>
                  <a:srgbClr val="F2F2F2"/>
                </a:solidFill>
                <a:latin typeface="Consolas"/>
              </a:rPr>
              <a:t>  6  END;</a:t>
            </a:r>
          </a:p>
          <a:p>
            <a:pPr>
              <a:spcAft>
                <a:spcPts val="0"/>
              </a:spcAft>
            </a:pPr>
            <a:r>
              <a:rPr sz="1250" b="0" dirty="0">
                <a:solidFill>
                  <a:srgbClr val="F2F2F2"/>
                </a:solidFill>
                <a:latin typeface="Consolas"/>
              </a:rPr>
              <a:t>  7  /</a:t>
            </a:r>
          </a:p>
          <a:p>
            <a:pPr>
              <a:spcAft>
                <a:spcPts val="0"/>
              </a:spcAft>
            </a:pPr>
            <a:r>
              <a:rPr sz="1250" b="0" dirty="0" err="1">
                <a:solidFill>
                  <a:srgbClr val="F2F2F2"/>
                </a:solidFill>
                <a:latin typeface="Consolas"/>
              </a:rPr>
              <a:t>max_iops</a:t>
            </a:r>
            <a:r>
              <a:rPr sz="1250" b="0" dirty="0">
                <a:solidFill>
                  <a:srgbClr val="F2F2F2"/>
                </a:solidFill>
                <a:latin typeface="Consolas"/>
              </a:rPr>
              <a:t> = &lt;</a:t>
            </a:r>
            <a:r>
              <a:rPr sz="1250" b="0" dirty="0" err="1">
                <a:solidFill>
                  <a:srgbClr val="F2F2F2"/>
                </a:solidFill>
                <a:latin typeface="Consolas"/>
              </a:rPr>
              <a:t>환경값</a:t>
            </a:r>
            <a:r>
              <a:rPr sz="1250" b="0" dirty="0">
                <a:solidFill>
                  <a:srgbClr val="F2F2F2"/>
                </a:solidFill>
                <a:latin typeface="Consolas"/>
              </a:rPr>
              <a:t>&gt;</a:t>
            </a:r>
          </a:p>
          <a:p>
            <a:pPr>
              <a:spcAft>
                <a:spcPts val="0"/>
              </a:spcAft>
            </a:pPr>
            <a:r>
              <a:rPr sz="1250" b="0" dirty="0" err="1">
                <a:solidFill>
                  <a:srgbClr val="F2F2F2"/>
                </a:solidFill>
                <a:latin typeface="Consolas"/>
              </a:rPr>
              <a:t>max_mbps</a:t>
            </a:r>
            <a:r>
              <a:rPr sz="1250" b="0" dirty="0">
                <a:solidFill>
                  <a:srgbClr val="F2F2F2"/>
                </a:solidFill>
                <a:latin typeface="Consolas"/>
              </a:rPr>
              <a:t> = &lt;</a:t>
            </a:r>
            <a:r>
              <a:rPr sz="1250" b="0" dirty="0" err="1">
                <a:solidFill>
                  <a:srgbClr val="F2F2F2"/>
                </a:solidFill>
                <a:latin typeface="Consolas"/>
              </a:rPr>
              <a:t>환경값</a:t>
            </a:r>
            <a:r>
              <a:rPr sz="1250" b="0" dirty="0">
                <a:solidFill>
                  <a:srgbClr val="F2F2F2"/>
                </a:solidFill>
                <a:latin typeface="Consolas"/>
              </a:rPr>
              <a:t>&gt;</a:t>
            </a:r>
          </a:p>
          <a:p>
            <a:pPr>
              <a:spcAft>
                <a:spcPts val="0"/>
              </a:spcAft>
            </a:pPr>
            <a:r>
              <a:rPr sz="1250" b="0" dirty="0">
                <a:solidFill>
                  <a:srgbClr val="F2F2F2"/>
                </a:solidFill>
                <a:latin typeface="Consolas"/>
              </a:rPr>
              <a:t>latency  = &lt;</a:t>
            </a:r>
            <a:r>
              <a:rPr sz="1250" b="0" dirty="0" err="1">
                <a:solidFill>
                  <a:srgbClr val="F2F2F2"/>
                </a:solidFill>
                <a:latin typeface="Consolas"/>
              </a:rPr>
              <a:t>환경값</a:t>
            </a:r>
            <a:r>
              <a:rPr sz="1250" b="0" dirty="0">
                <a:solidFill>
                  <a:srgbClr val="F2F2F2"/>
                </a:solidFill>
                <a:latin typeface="Consolas"/>
              </a:rPr>
              <a:t>&gt;</a:t>
            </a:r>
          </a:p>
        </p:txBody>
      </p:sp>
    </p:spTree>
    <p:extLst>
      <p:ext uri="{BB962C8B-B14F-4D97-AF65-F5344CB8AC3E}">
        <p14:creationId xmlns:p14="http://schemas.microsoft.com/office/powerpoint/2010/main" val="309022580"/>
      </p:ext>
    </p:extLst>
  </p:cSld>
  <p:clrMapOvr>
    <a:masterClrMapping/>
  </p:clrMapOvr>
</p:sld>
</file>

<file path=ppt/slides/slide13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결과 확인과 해석</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V$IO_CALIBRATION_STATUS / DBA_RSRC_IO_CALIBRATE</a:t>
            </a:r>
          </a:p>
        </p:txBody>
      </p:sp>
      <p:sp>
        <p:nvSpPr>
          <p:cNvPr id="5" name="TextBox 4"/>
          <p:cNvSpPr txBox="1"/>
          <p:nvPr/>
        </p:nvSpPr>
        <p:spPr>
          <a:xfrm>
            <a:off x="640080" y="1737360"/>
            <a:ext cx="10881360" cy="4754879"/>
          </a:xfrm>
          <a:prstGeom prst="rect">
            <a:avLst/>
          </a:prstGeom>
          <a:noFill/>
        </p:spPr>
        <p:txBody>
          <a:bodyPr wrap="square">
            <a:spAutoFit/>
          </a:bodyPr>
          <a:lstStyle/>
          <a:p>
            <a:pPr>
              <a:spcAft>
                <a:spcPts val="600"/>
              </a:spcAft>
            </a:pPr>
            <a:r>
              <a:rPr sz="1600" b="0">
                <a:solidFill>
                  <a:srgbClr val="222222"/>
                </a:solidFill>
                <a:latin typeface="맑은 고딕"/>
              </a:rPr>
              <a:t>•  상태: NOT AVAILABLE → IN PROGRESS → READY</a:t>
            </a:r>
          </a:p>
          <a:p>
            <a:pPr>
              <a:spcAft>
                <a:spcPts val="600"/>
              </a:spcAft>
            </a:pPr>
            <a:r>
              <a:rPr sz="1600" b="0">
                <a:solidFill>
                  <a:srgbClr val="222222"/>
                </a:solidFill>
                <a:latin typeface="맑은 고딕"/>
              </a:rPr>
              <a:t>•  결과 테이블: DBA_RSRC_IO_CALIBRATE (max_iops·max_mbps·latency)</a:t>
            </a:r>
          </a:p>
          <a:p>
            <a:pPr>
              <a:spcAft>
                <a:spcPts val="600"/>
              </a:spcAft>
            </a:pPr>
            <a:r>
              <a:rPr sz="1600" b="0">
                <a:solidFill>
                  <a:srgbClr val="222222"/>
                </a:solidFill>
                <a:latin typeface="맑은 고딕"/>
              </a:rPr>
              <a:t>•  max_iops 낮고 sequential read 크다 → 랜덤 I/O 병목(OLTP)</a:t>
            </a:r>
          </a:p>
          <a:p>
            <a:pPr>
              <a:spcAft>
                <a:spcPts val="600"/>
              </a:spcAft>
            </a:pPr>
            <a:r>
              <a:rPr sz="1600" b="0">
                <a:solidFill>
                  <a:srgbClr val="222222"/>
                </a:solidFill>
                <a:latin typeface="맑은 고딕"/>
              </a:rPr>
              <a:t>•  max_mbps 낮고 scattered read 크다 → 순차 대역폭 병목(DW)</a:t>
            </a:r>
          </a:p>
          <a:p>
            <a:pPr>
              <a:spcAft>
                <a:spcPts val="600"/>
              </a:spcAft>
            </a:pPr>
            <a:r>
              <a:rPr sz="1600" b="0">
                <a:solidFill>
                  <a:srgbClr val="222222"/>
                </a:solidFill>
                <a:latin typeface="맑은 고딕"/>
              </a:rPr>
              <a:t>•  Orion은 소개만 — DB 내부 CALIBRATE_IO 중심</a:t>
            </a:r>
          </a:p>
        </p:txBody>
      </p:sp>
    </p:spTree>
    <p:extLst>
      <p:ext uri="{BB962C8B-B14F-4D97-AF65-F5344CB8AC3E}">
        <p14:creationId xmlns:p14="http://schemas.microsoft.com/office/powerpoint/2010/main" val="946101826"/>
      </p:ext>
    </p:extLst>
  </p:cSld>
  <p:clrMapOvr>
    <a:masterClrMapping/>
  </p:clrMapOvr>
</p:sld>
</file>

<file path=ppt/slides/slide13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34.4</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비동기 I/O와 다중 블록 읽기</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r>
              <a:rPr sz="1600" b="0">
                <a:solidFill>
                  <a:srgbClr val="FFFFFF"/>
                </a:solidFill>
                <a:latin typeface="맑은 고딕"/>
              </a:rPr>
              <a:t>•  동기 vs 비동기 I/O</a:t>
            </a:r>
          </a:p>
          <a:p>
            <a:r>
              <a:rPr sz="1600" b="0">
                <a:solidFill>
                  <a:srgbClr val="FFFFFF"/>
                </a:solidFill>
                <a:latin typeface="맑은 고딕"/>
              </a:rPr>
              <a:t>•  FILESYSTEMIO_OPTIONS · DISK_ASYNCH_IO</a:t>
            </a:r>
          </a:p>
          <a:p>
            <a:r>
              <a:rPr sz="1600" b="0">
                <a:solidFill>
                  <a:srgbClr val="FFFFFF"/>
                </a:solidFill>
                <a:latin typeface="맑은 고딕"/>
              </a:rPr>
              <a:t>•  DB_FILE_MULTIBLOCK_READ_COUNT · 직접 I/O</a:t>
            </a:r>
          </a:p>
        </p:txBody>
      </p:sp>
    </p:spTree>
    <p:extLst>
      <p:ext uri="{BB962C8B-B14F-4D97-AF65-F5344CB8AC3E}">
        <p14:creationId xmlns:p14="http://schemas.microsoft.com/office/powerpoint/2010/main" val="1123356251"/>
      </p:ext>
    </p:extLst>
  </p:cSld>
  <p:clrMapOvr>
    <a:masterClrMapping/>
  </p:clrMapOvr>
</p:sld>
</file>

<file path=ppt/slides/slide13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동기 vs 비동기 I/O</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가능하면 비동기로 병목 회피</a:t>
            </a:r>
          </a:p>
        </p:txBody>
      </p:sp>
      <p:sp>
        <p:nvSpPr>
          <p:cNvPr id="5" name="TextBox 4"/>
          <p:cNvSpPr txBox="1"/>
          <p:nvPr/>
        </p:nvSpPr>
        <p:spPr>
          <a:xfrm>
            <a:off x="640080" y="1737360"/>
            <a:ext cx="10881360" cy="4754879"/>
          </a:xfrm>
          <a:prstGeom prst="rect">
            <a:avLst/>
          </a:prstGeom>
          <a:noFill/>
        </p:spPr>
        <p:txBody>
          <a:bodyPr wrap="square">
            <a:spAutoFit/>
          </a:bodyPr>
          <a:lstStyle/>
          <a:p>
            <a:pPr>
              <a:spcAft>
                <a:spcPts val="600"/>
              </a:spcAft>
            </a:pPr>
            <a:r>
              <a:rPr sz="1600" b="0">
                <a:solidFill>
                  <a:srgbClr val="222222"/>
                </a:solidFill>
                <a:latin typeface="맑은 고딕"/>
              </a:rPr>
              <a:t>•  동기: 요청 제출 후 완료까지 프로세스가 멈춰 대기</a:t>
            </a:r>
          </a:p>
          <a:p>
            <a:pPr>
              <a:spcAft>
                <a:spcPts val="600"/>
              </a:spcAft>
            </a:pPr>
            <a:r>
              <a:rPr sz="1600" b="0">
                <a:solidFill>
                  <a:srgbClr val="222222"/>
                </a:solidFill>
                <a:latin typeface="맑은 고딕"/>
              </a:rPr>
              <a:t>•  비동기: 처리되는 동안 다른 작업을 계속</a:t>
            </a:r>
          </a:p>
          <a:p>
            <a:pPr>
              <a:spcAft>
                <a:spcPts val="600"/>
              </a:spcAft>
            </a:pPr>
            <a:r>
              <a:rPr sz="1600" b="0">
                <a:solidFill>
                  <a:srgbClr val="222222"/>
                </a:solidFill>
                <a:latin typeface="맑은 고딕"/>
              </a:rPr>
              <a:t>•  DBWR 병렬 쓰기·전체 스캔 겹친 읽기에서 효과</a:t>
            </a:r>
          </a:p>
          <a:p>
            <a:pPr>
              <a:spcAft>
                <a:spcPts val="600"/>
              </a:spcAft>
            </a:pPr>
            <a:r>
              <a:rPr sz="1600" b="0">
                <a:solidFill>
                  <a:srgbClr val="222222"/>
                </a:solidFill>
                <a:latin typeface="맑은 고딕"/>
              </a:rPr>
              <a:t>•  플랫폼별로 기본 활성 여부가 다름</a:t>
            </a:r>
          </a:p>
        </p:txBody>
      </p:sp>
    </p:spTree>
    <p:extLst>
      <p:ext uri="{BB962C8B-B14F-4D97-AF65-F5344CB8AC3E}">
        <p14:creationId xmlns:p14="http://schemas.microsoft.com/office/powerpoint/2010/main" val="4061855688"/>
      </p:ext>
    </p:extLst>
  </p:cSld>
  <p:clrMapOvr>
    <a:masterClrMapping/>
  </p:clrMapOvr>
</p:sld>
</file>

<file path=ppt/slides/slide13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I/O 파라미터 실측</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V$PARAMETER (orcl)</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01600" tIns="76200" rtlCol="0" anchor="ctr"/>
          <a:lstStyle/>
          <a:p>
            <a:pPr>
              <a:spcAft>
                <a:spcPts val="0"/>
              </a:spcAft>
            </a:pPr>
            <a:r>
              <a:rPr sz="1250" b="0" dirty="0">
                <a:solidFill>
                  <a:srgbClr val="F2F2F2"/>
                </a:solidFill>
                <a:latin typeface="Consolas"/>
              </a:rPr>
              <a:t>SQL&gt; SELECT name, </a:t>
            </a:r>
            <a:r>
              <a:rPr sz="1250" b="0" dirty="0" err="1">
                <a:solidFill>
                  <a:srgbClr val="F2F2F2"/>
                </a:solidFill>
                <a:latin typeface="Consolas"/>
              </a:rPr>
              <a:t>display_value</a:t>
            </a:r>
            <a:r>
              <a:rPr sz="1250" b="0" dirty="0">
                <a:solidFill>
                  <a:srgbClr val="F2F2F2"/>
                </a:solidFill>
                <a:latin typeface="Consolas"/>
              </a:rPr>
              <a:t> FROM </a:t>
            </a:r>
            <a:r>
              <a:rPr sz="1250" b="0" dirty="0" err="1">
                <a:solidFill>
                  <a:srgbClr val="F2F2F2"/>
                </a:solidFill>
                <a:latin typeface="Consolas"/>
              </a:rPr>
              <a:t>v$parameter</a:t>
            </a:r>
            <a:endParaRPr sz="1250" b="0" dirty="0">
              <a:solidFill>
                <a:srgbClr val="F2F2F2"/>
              </a:solidFill>
              <a:latin typeface="Consolas"/>
            </a:endParaRPr>
          </a:p>
          <a:p>
            <a:pPr>
              <a:spcAft>
                <a:spcPts val="0"/>
              </a:spcAft>
            </a:pPr>
            <a:r>
              <a:rPr sz="1250" b="0" dirty="0">
                <a:solidFill>
                  <a:srgbClr val="F2F2F2"/>
                </a:solidFill>
                <a:latin typeface="Consolas"/>
              </a:rPr>
              <a:t>  2    WHERE name IN ('filesystemio_options','</a:t>
            </a:r>
            <a:r>
              <a:rPr sz="1250" b="0" dirty="0" err="1">
                <a:solidFill>
                  <a:srgbClr val="F2F2F2"/>
                </a:solidFill>
                <a:latin typeface="Consolas"/>
              </a:rPr>
              <a:t>disk_asynch_io</a:t>
            </a:r>
            <a:r>
              <a:rPr sz="1250" b="0" dirty="0">
                <a:solidFill>
                  <a:srgbClr val="F2F2F2"/>
                </a:solidFill>
                <a:latin typeface="Consolas"/>
              </a:rPr>
              <a:t>',</a:t>
            </a:r>
          </a:p>
          <a:p>
            <a:pPr>
              <a:spcAft>
                <a:spcPts val="0"/>
              </a:spcAft>
            </a:pPr>
            <a:r>
              <a:rPr sz="1250" b="0" dirty="0">
                <a:solidFill>
                  <a:srgbClr val="F2F2F2"/>
                </a:solidFill>
                <a:latin typeface="Consolas"/>
              </a:rPr>
              <a:t>  3      'db_file_multiblock_read_count','</a:t>
            </a:r>
            <a:r>
              <a:rPr sz="1250" b="0" dirty="0" err="1">
                <a:solidFill>
                  <a:srgbClr val="F2F2F2"/>
                </a:solidFill>
                <a:latin typeface="Consolas"/>
              </a:rPr>
              <a:t>db_writer_processes</a:t>
            </a:r>
            <a:r>
              <a:rPr sz="1250" b="0" dirty="0">
                <a:solidFill>
                  <a:srgbClr val="F2F2F2"/>
                </a:solidFill>
                <a:latin typeface="Consolas"/>
              </a:rPr>
              <a:t>');</a:t>
            </a:r>
          </a:p>
          <a:p>
            <a:pPr>
              <a:spcAft>
                <a:spcPts val="0"/>
              </a:spcAft>
            </a:pPr>
            <a:r>
              <a:rPr sz="1250" b="0" dirty="0">
                <a:solidFill>
                  <a:srgbClr val="F2F2F2"/>
                </a:solidFill>
                <a:latin typeface="Consolas"/>
              </a:rPr>
              <a:t> </a:t>
            </a:r>
          </a:p>
          <a:p>
            <a:pPr>
              <a:spcAft>
                <a:spcPts val="0"/>
              </a:spcAft>
            </a:pPr>
            <a:r>
              <a:rPr sz="1250" b="0" dirty="0">
                <a:solidFill>
                  <a:srgbClr val="F2F2F2"/>
                </a:solidFill>
                <a:latin typeface="Consolas"/>
              </a:rPr>
              <a:t>NAME                            DISPLAY_VALUE</a:t>
            </a:r>
          </a:p>
          <a:p>
            <a:pPr>
              <a:spcAft>
                <a:spcPts val="0"/>
              </a:spcAft>
            </a:pPr>
            <a:r>
              <a:rPr sz="1250" b="0" dirty="0">
                <a:solidFill>
                  <a:srgbClr val="F2F2F2"/>
                </a:solidFill>
                <a:latin typeface="Consolas"/>
              </a:rPr>
              <a:t>------------------------------- -------------</a:t>
            </a:r>
          </a:p>
          <a:p>
            <a:pPr>
              <a:spcAft>
                <a:spcPts val="0"/>
              </a:spcAft>
            </a:pPr>
            <a:r>
              <a:rPr sz="1250" b="0" dirty="0" err="1">
                <a:solidFill>
                  <a:srgbClr val="F2F2F2"/>
                </a:solidFill>
                <a:latin typeface="Consolas"/>
              </a:rPr>
              <a:t>db_file_multiblock_read_count</a:t>
            </a:r>
            <a:r>
              <a:rPr sz="1250" b="0" dirty="0">
                <a:solidFill>
                  <a:srgbClr val="F2F2F2"/>
                </a:solidFill>
                <a:latin typeface="Consolas"/>
              </a:rPr>
              <a:t>   128</a:t>
            </a:r>
          </a:p>
          <a:p>
            <a:pPr>
              <a:spcAft>
                <a:spcPts val="0"/>
              </a:spcAft>
            </a:pPr>
            <a:r>
              <a:rPr sz="1250" b="0" dirty="0" err="1">
                <a:solidFill>
                  <a:srgbClr val="F2F2F2"/>
                </a:solidFill>
                <a:latin typeface="Consolas"/>
              </a:rPr>
              <a:t>db_writer_processes</a:t>
            </a:r>
            <a:r>
              <a:rPr sz="1250" b="0" dirty="0">
                <a:solidFill>
                  <a:srgbClr val="F2F2F2"/>
                </a:solidFill>
                <a:latin typeface="Consolas"/>
              </a:rPr>
              <a:t>             1</a:t>
            </a:r>
          </a:p>
          <a:p>
            <a:pPr>
              <a:spcAft>
                <a:spcPts val="0"/>
              </a:spcAft>
            </a:pPr>
            <a:r>
              <a:rPr sz="1250" b="0" dirty="0" err="1">
                <a:solidFill>
                  <a:srgbClr val="F2F2F2"/>
                </a:solidFill>
                <a:latin typeface="Consolas"/>
              </a:rPr>
              <a:t>disk_asynch_io</a:t>
            </a:r>
            <a:r>
              <a:rPr sz="1250" b="0" dirty="0">
                <a:solidFill>
                  <a:srgbClr val="F2F2F2"/>
                </a:solidFill>
                <a:latin typeface="Consolas"/>
              </a:rPr>
              <a:t>                  TRUE</a:t>
            </a:r>
          </a:p>
          <a:p>
            <a:pPr>
              <a:spcAft>
                <a:spcPts val="0"/>
              </a:spcAft>
            </a:pPr>
            <a:r>
              <a:rPr sz="1250" b="0" dirty="0" err="1">
                <a:solidFill>
                  <a:srgbClr val="F2F2F2"/>
                </a:solidFill>
                <a:latin typeface="Consolas"/>
              </a:rPr>
              <a:t>filesystemio_options</a:t>
            </a:r>
            <a:r>
              <a:rPr sz="1250" b="0" dirty="0">
                <a:solidFill>
                  <a:srgbClr val="F2F2F2"/>
                </a:solidFill>
                <a:latin typeface="Consolas"/>
              </a:rPr>
              <a:t>            none</a:t>
            </a:r>
          </a:p>
        </p:txBody>
      </p:sp>
    </p:spTree>
    <p:extLst>
      <p:ext uri="{BB962C8B-B14F-4D97-AF65-F5344CB8AC3E}">
        <p14:creationId xmlns:p14="http://schemas.microsoft.com/office/powerpoint/2010/main" val="1518525820"/>
      </p:ext>
    </p:extLst>
  </p:cSld>
  <p:clrMapOvr>
    <a:masterClrMapping/>
  </p:clrMapOvr>
</p:sld>
</file>

<file path=ppt/slides/slide13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FILESYSTEMIO_OPTIONS와 다중 블록 읽기</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값의 의미와 조정 판단</a:t>
            </a:r>
          </a:p>
        </p:txBody>
      </p:sp>
      <p:sp>
        <p:nvSpPr>
          <p:cNvPr id="5" name="TextBox 4"/>
          <p:cNvSpPr txBox="1"/>
          <p:nvPr/>
        </p:nvSpPr>
        <p:spPr>
          <a:xfrm>
            <a:off x="640080" y="1737360"/>
            <a:ext cx="10881360" cy="4754879"/>
          </a:xfrm>
          <a:prstGeom prst="rect">
            <a:avLst/>
          </a:prstGeom>
          <a:noFill/>
        </p:spPr>
        <p:txBody>
          <a:bodyPr wrap="square">
            <a:spAutoFit/>
          </a:bodyPr>
          <a:lstStyle/>
          <a:p>
            <a:pPr>
              <a:spcAft>
                <a:spcPts val="600"/>
              </a:spcAft>
            </a:pPr>
            <a:r>
              <a:rPr sz="1600" b="0">
                <a:solidFill>
                  <a:srgbClr val="222222"/>
                </a:solidFill>
                <a:latin typeface="맑은 고딕"/>
              </a:rPr>
              <a:t>•  ASYNCH / DIRECTIO / SETALL / NONE 네 값</a:t>
            </a:r>
          </a:p>
          <a:p>
            <a:pPr>
              <a:spcAft>
                <a:spcPts val="600"/>
              </a:spcAft>
            </a:pPr>
            <a:r>
              <a:rPr sz="1600" b="0">
                <a:solidFill>
                  <a:srgbClr val="222222"/>
                </a:solidFill>
                <a:latin typeface="맑은 고딕"/>
              </a:rPr>
              <a:t>•  SETALL = 비동기 + 직접 I/O 모두 활성(캘리브레이션 전제)</a:t>
            </a:r>
          </a:p>
          <a:p>
            <a:pPr>
              <a:spcAft>
                <a:spcPts val="600"/>
              </a:spcAft>
            </a:pPr>
            <a:r>
              <a:rPr sz="1600" b="0">
                <a:solidFill>
                  <a:srgbClr val="222222"/>
                </a:solidFill>
                <a:latin typeface="맑은 고딕"/>
              </a:rPr>
              <a:t>•  DB_FILE_MULTIBLOCK_READ_COUNT=128 → 한 번에 최대 약 1MB 순차 읽기</a:t>
            </a:r>
          </a:p>
          <a:p>
            <a:pPr>
              <a:spcAft>
                <a:spcPts val="600"/>
              </a:spcAft>
            </a:pPr>
            <a:r>
              <a:rPr sz="1600" b="0">
                <a:solidFill>
                  <a:srgbClr val="222222"/>
                </a:solidFill>
                <a:latin typeface="맑은 고딕"/>
              </a:rPr>
              <a:t>•  클수록 전체 스캔↑ 그러나 옵티마이저가 스캔 선호 가능</a:t>
            </a:r>
          </a:p>
          <a:p>
            <a:pPr>
              <a:spcAft>
                <a:spcPts val="600"/>
              </a:spcAft>
            </a:pPr>
            <a:r>
              <a:rPr sz="1600" b="0">
                <a:solidFill>
                  <a:srgbClr val="222222"/>
                </a:solidFill>
                <a:latin typeface="맑은 고딕"/>
              </a:rPr>
              <a:t>•  다중 블록 읽기 효과는 db file scattered read로 관찰</a:t>
            </a:r>
          </a:p>
        </p:txBody>
      </p:sp>
    </p:spTree>
    <p:extLst>
      <p:ext uri="{BB962C8B-B14F-4D97-AF65-F5344CB8AC3E}">
        <p14:creationId xmlns:p14="http://schemas.microsoft.com/office/powerpoint/2010/main" val="581575579"/>
      </p:ext>
    </p:extLst>
  </p:cSld>
  <p:clrMapOvr>
    <a:masterClrMapping/>
  </p:clrMapOvr>
</p:sld>
</file>

<file path=ppt/slides/slide13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OS 파일 시스템 캐시와 직접 I/O</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이중 캐싱을 피한다</a:t>
            </a:r>
          </a:p>
        </p:txBody>
      </p:sp>
      <p:sp>
        <p:nvSpPr>
          <p:cNvPr id="5" name="TextBox 4"/>
          <p:cNvSpPr txBox="1"/>
          <p:nvPr/>
        </p:nvSpPr>
        <p:spPr>
          <a:xfrm>
            <a:off x="640080" y="1737360"/>
            <a:ext cx="10881360" cy="4754879"/>
          </a:xfrm>
          <a:prstGeom prst="rect">
            <a:avLst/>
          </a:prstGeom>
          <a:noFill/>
        </p:spPr>
        <p:txBody>
          <a:bodyPr wrap="square">
            <a:spAutoFit/>
          </a:bodyPr>
          <a:lstStyle/>
          <a:p>
            <a:pPr>
              <a:spcAft>
                <a:spcPts val="600"/>
              </a:spcAft>
            </a:pPr>
            <a:r>
              <a:rPr sz="1600" b="0">
                <a:solidFill>
                  <a:srgbClr val="222222"/>
                </a:solidFill>
                <a:latin typeface="맑은 고딕"/>
              </a:rPr>
              <a:t>•  파일 시스템 데이터파일은 기본적으로 FS 캐시를 거침</a:t>
            </a:r>
          </a:p>
          <a:p>
            <a:pPr>
              <a:spcAft>
                <a:spcPts val="600"/>
              </a:spcAft>
            </a:pPr>
            <a:r>
              <a:rPr sz="1600" b="0">
                <a:solidFill>
                  <a:srgbClr val="222222"/>
                </a:solidFill>
                <a:latin typeface="맑은 고딕"/>
              </a:rPr>
              <a:t>•  오라클 버퍼 캐시 + FS 캐시 = 이중 캐싱(메모리·CPU 낭비)</a:t>
            </a:r>
          </a:p>
          <a:p>
            <a:pPr>
              <a:spcAft>
                <a:spcPts val="600"/>
              </a:spcAft>
            </a:pPr>
            <a:r>
              <a:rPr sz="1600" b="0">
                <a:solidFill>
                  <a:srgbClr val="222222"/>
                </a:solidFill>
                <a:latin typeface="맑은 고딕"/>
              </a:rPr>
              <a:t>•  직접 I/O는 FS 캐시 우회 → CPU 절약</a:t>
            </a:r>
          </a:p>
          <a:p>
            <a:pPr>
              <a:spcAft>
                <a:spcPts val="600"/>
              </a:spcAft>
            </a:pPr>
            <a:r>
              <a:rPr sz="1600" b="0">
                <a:solidFill>
                  <a:srgbClr val="222222"/>
                </a:solidFill>
                <a:latin typeface="맑은 고딕"/>
              </a:rPr>
              <a:t>•  단, TEMP·NOCACHE LOB·병렬 직접 읽기는 OS 버퍼가 유리할 수도</a:t>
            </a:r>
          </a:p>
          <a:p>
            <a:pPr>
              <a:spcAft>
                <a:spcPts val="600"/>
              </a:spcAft>
            </a:pPr>
            <a:r>
              <a:rPr sz="1600" b="0">
                <a:solidFill>
                  <a:srgbClr val="222222"/>
                </a:solidFill>
                <a:latin typeface="맑은 고딕"/>
              </a:rPr>
              <a:t>•  Windows는 항상 FS 캐시 우회 → 이 문제 없음</a:t>
            </a:r>
          </a:p>
        </p:txBody>
      </p:sp>
    </p:spTree>
    <p:extLst>
      <p:ext uri="{BB962C8B-B14F-4D97-AF65-F5344CB8AC3E}">
        <p14:creationId xmlns:p14="http://schemas.microsoft.com/office/powerpoint/2010/main" val="3543704553"/>
      </p:ext>
    </p:extLst>
  </p:cSld>
  <p:clrMapOvr>
    <a:masterClrMapping/>
  </p:clrMapOvr>
</p:sld>
</file>

<file path=ppt/slides/slide13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34.5</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병목이 DB 안인가 밖인가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r>
              <a:rPr sz="1600" b="0">
                <a:solidFill>
                  <a:srgbClr val="FFFFFF"/>
                </a:solidFill>
                <a:latin typeface="맑은 고딕"/>
              </a:rPr>
              <a:t>•  V$OSSTAT — CPU·메모리 직접 조회</a:t>
            </a:r>
          </a:p>
          <a:p>
            <a:r>
              <a:rPr sz="1600" b="0">
                <a:solidFill>
                  <a:srgbClr val="FFFFFF"/>
                </a:solidFill>
                <a:latin typeface="맑은 고딕"/>
              </a:rPr>
              <a:t>•  CPU 사용률 계산과 DB 통계 대조</a:t>
            </a:r>
          </a:p>
          <a:p>
            <a:r>
              <a:rPr sz="1600" b="0">
                <a:solidFill>
                  <a:srgbClr val="FFFFFF"/>
                </a:solidFill>
                <a:latin typeface="맑은 고딕"/>
              </a:rPr>
              <a:t>•  메모리 스와핑 징후와 SGA 재검토</a:t>
            </a:r>
          </a:p>
        </p:txBody>
      </p:sp>
    </p:spTree>
    <p:extLst>
      <p:ext uri="{BB962C8B-B14F-4D97-AF65-F5344CB8AC3E}">
        <p14:creationId xmlns:p14="http://schemas.microsoft.com/office/powerpoint/2010/main" val="2057586135"/>
      </p:ext>
    </p:extLst>
  </p:cSld>
  <p:clrMapOvr>
    <a:masterClrMapping/>
  </p:clrMapOvr>
</p:sld>
</file>

<file path=ppt/slides/slide13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왜 DB 밖을 봐야 하는가</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OS 지표는 원인이 아니라 위치를 가른다</a:t>
            </a:r>
          </a:p>
        </p:txBody>
      </p:sp>
      <p:sp>
        <p:nvSpPr>
          <p:cNvPr id="5" name="TextBox 4"/>
          <p:cNvSpPr txBox="1"/>
          <p:nvPr/>
        </p:nvSpPr>
        <p:spPr>
          <a:xfrm>
            <a:off x="640080" y="1737360"/>
            <a:ext cx="10881360" cy="4754879"/>
          </a:xfrm>
          <a:prstGeom prst="rect">
            <a:avLst/>
          </a:prstGeom>
          <a:noFill/>
        </p:spPr>
        <p:txBody>
          <a:bodyPr wrap="square">
            <a:spAutoFit/>
          </a:bodyPr>
          <a:lstStyle/>
          <a:p>
            <a:pPr>
              <a:spcAft>
                <a:spcPts val="600"/>
              </a:spcAft>
            </a:pPr>
            <a:r>
              <a:rPr sz="1600" b="0">
                <a:solidFill>
                  <a:srgbClr val="222222"/>
                </a:solidFill>
                <a:latin typeface="맑은 고딕"/>
              </a:rPr>
              <a:t>•  인스턴스를 튜닝해도 부족하면 시스템 시간을 본다</a:t>
            </a:r>
          </a:p>
          <a:p>
            <a:pPr>
              <a:spcAft>
                <a:spcPts val="600"/>
              </a:spcAft>
            </a:pPr>
            <a:r>
              <a:rPr sz="1600" b="0">
                <a:solidFill>
                  <a:srgbClr val="222222"/>
                </a:solidFill>
                <a:latin typeface="맑은 고딕"/>
              </a:rPr>
              <a:t>•  OS 튜닝의 효과 기대는 낮다 — 구성·앱 변경이 더 크다</a:t>
            </a:r>
          </a:p>
          <a:p>
            <a:pPr>
              <a:spcAft>
                <a:spcPts val="600"/>
              </a:spcAft>
            </a:pPr>
            <a:r>
              <a:rPr sz="1600" b="0">
                <a:solidFill>
                  <a:srgbClr val="222222"/>
                </a:solidFill>
                <a:latin typeface="맑은 고딕"/>
              </a:rPr>
              <a:t>•  OS 지표는 대개 증상(예: buffer busy → 시스템 콜 증가)</a:t>
            </a:r>
          </a:p>
          <a:p>
            <a:pPr>
              <a:spcAft>
                <a:spcPts val="600"/>
              </a:spcAft>
            </a:pPr>
            <a:r>
              <a:rPr sz="1600" b="0">
                <a:solidFill>
                  <a:srgbClr val="222222"/>
                </a:solidFill>
                <a:latin typeface="맑은 고딕"/>
              </a:rPr>
              <a:t>•  목적: OS 튜닝이 아니라 '병목의 위치 판별'</a:t>
            </a:r>
          </a:p>
        </p:txBody>
      </p:sp>
    </p:spTree>
    <p:extLst>
      <p:ext uri="{BB962C8B-B14F-4D97-AF65-F5344CB8AC3E}">
        <p14:creationId xmlns:p14="http://schemas.microsoft.com/office/powerpoint/2010/main" val="3361070403"/>
      </p:ext>
    </p:extLst>
  </p:cSld>
  <p:clrMapOvr>
    <a:masterClrMapping/>
  </p:clrMapOvr>
</p:sld>
</file>

<file path=ppt/slides/slide13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V$OSSTAT 실측 — CPU·메모리</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라이선스 무관 (orcl)</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01600" tIns="76200" rtlCol="0" anchor="ctr"/>
          <a:lstStyle/>
          <a:p>
            <a:pPr>
              <a:spcAft>
                <a:spcPts val="0"/>
              </a:spcAft>
            </a:pPr>
            <a:r>
              <a:rPr sz="1250" b="0" dirty="0">
                <a:solidFill>
                  <a:srgbClr val="F2F2F2"/>
                </a:solidFill>
                <a:latin typeface="Consolas"/>
              </a:rPr>
              <a:t>SQL&gt; SELECT </a:t>
            </a:r>
            <a:r>
              <a:rPr sz="1250" b="0" dirty="0" err="1">
                <a:solidFill>
                  <a:srgbClr val="F2F2F2"/>
                </a:solidFill>
                <a:latin typeface="Consolas"/>
              </a:rPr>
              <a:t>stat_name</a:t>
            </a:r>
            <a:r>
              <a:rPr sz="1250" b="0" dirty="0">
                <a:solidFill>
                  <a:srgbClr val="F2F2F2"/>
                </a:solidFill>
                <a:latin typeface="Consolas"/>
              </a:rPr>
              <a:t>, value FROM </a:t>
            </a:r>
            <a:r>
              <a:rPr sz="1250" b="0" dirty="0" err="1">
                <a:solidFill>
                  <a:srgbClr val="F2F2F2"/>
                </a:solidFill>
                <a:latin typeface="Consolas"/>
              </a:rPr>
              <a:t>v$osstat</a:t>
            </a:r>
            <a:endParaRPr sz="1250" b="0" dirty="0">
              <a:solidFill>
                <a:srgbClr val="F2F2F2"/>
              </a:solidFill>
              <a:latin typeface="Consolas"/>
            </a:endParaRPr>
          </a:p>
          <a:p>
            <a:pPr>
              <a:spcAft>
                <a:spcPts val="0"/>
              </a:spcAft>
            </a:pPr>
            <a:r>
              <a:rPr sz="1250" b="0" dirty="0">
                <a:solidFill>
                  <a:srgbClr val="F2F2F2"/>
                </a:solidFill>
                <a:latin typeface="Consolas"/>
              </a:rPr>
              <a:t>  2    WHERE </a:t>
            </a:r>
            <a:r>
              <a:rPr sz="1250" b="0" dirty="0" err="1">
                <a:solidFill>
                  <a:srgbClr val="F2F2F2"/>
                </a:solidFill>
                <a:latin typeface="Consolas"/>
              </a:rPr>
              <a:t>stat_name</a:t>
            </a:r>
            <a:r>
              <a:rPr sz="1250" b="0" dirty="0">
                <a:solidFill>
                  <a:srgbClr val="F2F2F2"/>
                </a:solidFill>
                <a:latin typeface="Consolas"/>
              </a:rPr>
              <a:t> IN ('NUM_CPUS','NUM_CPU_CORES',</a:t>
            </a:r>
          </a:p>
          <a:p>
            <a:pPr>
              <a:spcAft>
                <a:spcPts val="0"/>
              </a:spcAft>
            </a:pPr>
            <a:r>
              <a:rPr sz="1250" b="0" dirty="0">
                <a:solidFill>
                  <a:srgbClr val="F2F2F2"/>
                </a:solidFill>
                <a:latin typeface="Consolas"/>
              </a:rPr>
              <a:t>  3      'PHYSICAL_MEMORY_BYTES','LOAD','IDLE_TIME','BUSY_TIME');</a:t>
            </a:r>
          </a:p>
          <a:p>
            <a:pPr>
              <a:spcAft>
                <a:spcPts val="0"/>
              </a:spcAft>
            </a:pPr>
            <a:r>
              <a:rPr sz="1250" b="0" dirty="0">
                <a:solidFill>
                  <a:srgbClr val="F2F2F2"/>
                </a:solidFill>
                <a:latin typeface="Consolas"/>
              </a:rPr>
              <a:t> </a:t>
            </a:r>
          </a:p>
          <a:p>
            <a:pPr>
              <a:spcAft>
                <a:spcPts val="0"/>
              </a:spcAft>
            </a:pPr>
            <a:r>
              <a:rPr sz="1250" b="0" dirty="0">
                <a:solidFill>
                  <a:srgbClr val="F2F2F2"/>
                </a:solidFill>
                <a:latin typeface="Consolas"/>
              </a:rPr>
              <a:t>STAT_NAME               VALUE</a:t>
            </a:r>
          </a:p>
          <a:p>
            <a:pPr>
              <a:spcAft>
                <a:spcPts val="0"/>
              </a:spcAft>
            </a:pPr>
            <a:r>
              <a:rPr sz="1250" b="0" dirty="0">
                <a:solidFill>
                  <a:srgbClr val="F2F2F2"/>
                </a:solidFill>
                <a:latin typeface="Consolas"/>
              </a:rPr>
              <a:t>----------------------- ---------------</a:t>
            </a:r>
          </a:p>
          <a:p>
            <a:pPr>
              <a:spcAft>
                <a:spcPts val="0"/>
              </a:spcAft>
            </a:pPr>
            <a:r>
              <a:rPr sz="1250" b="0" dirty="0">
                <a:solidFill>
                  <a:srgbClr val="F2F2F2"/>
                </a:solidFill>
                <a:latin typeface="Consolas"/>
              </a:rPr>
              <a:t>BUSY_TIME                      653492</a:t>
            </a:r>
          </a:p>
          <a:p>
            <a:pPr>
              <a:spcAft>
                <a:spcPts val="0"/>
              </a:spcAft>
            </a:pPr>
            <a:r>
              <a:rPr sz="1250" b="0" dirty="0">
                <a:solidFill>
                  <a:srgbClr val="F2F2F2"/>
                </a:solidFill>
                <a:latin typeface="Consolas"/>
              </a:rPr>
              <a:t>IDLE_TIME                    35695635</a:t>
            </a:r>
          </a:p>
          <a:p>
            <a:pPr>
              <a:spcAft>
                <a:spcPts val="0"/>
              </a:spcAft>
            </a:pPr>
            <a:r>
              <a:rPr sz="1250" b="0" dirty="0">
                <a:solidFill>
                  <a:srgbClr val="F2F2F2"/>
                </a:solidFill>
                <a:latin typeface="Consolas"/>
              </a:rPr>
              <a:t>LOAD                    0.2099609375</a:t>
            </a:r>
          </a:p>
          <a:p>
            <a:pPr>
              <a:spcAft>
                <a:spcPts val="0"/>
              </a:spcAft>
            </a:pPr>
            <a:r>
              <a:rPr sz="1250" b="0" dirty="0">
                <a:solidFill>
                  <a:srgbClr val="F2F2F2"/>
                </a:solidFill>
                <a:latin typeface="Consolas"/>
              </a:rPr>
              <a:t>NUM_CPUS                            8</a:t>
            </a:r>
          </a:p>
          <a:p>
            <a:pPr>
              <a:spcAft>
                <a:spcPts val="0"/>
              </a:spcAft>
            </a:pPr>
            <a:r>
              <a:rPr sz="1250" b="0" dirty="0">
                <a:solidFill>
                  <a:srgbClr val="F2F2F2"/>
                </a:solidFill>
                <a:latin typeface="Consolas"/>
              </a:rPr>
              <a:t>PHYSICAL_MEMORY_BYTES      8044179456</a:t>
            </a:r>
          </a:p>
        </p:txBody>
      </p:sp>
    </p:spTree>
    <p:extLst>
      <p:ext uri="{BB962C8B-B14F-4D97-AF65-F5344CB8AC3E}">
        <p14:creationId xmlns:p14="http://schemas.microsoft.com/office/powerpoint/2010/main" val="1614621532"/>
      </p:ext>
    </p:extLst>
  </p:cSld>
  <p:clrMapOvr>
    <a:masterClrMapping/>
  </p:clrMapOvr>
</p:sld>
</file>

<file path=ppt/slides/slide13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CPU 사용률 계산과 기대치</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숫자 하나로 좋다·나쁘다 못 정한다</a:t>
            </a:r>
          </a:p>
        </p:txBody>
      </p:sp>
      <p:sp>
        <p:nvSpPr>
          <p:cNvPr id="5" name="TextBox 4"/>
          <p:cNvSpPr txBox="1"/>
          <p:nvPr/>
        </p:nvSpPr>
        <p:spPr>
          <a:xfrm>
            <a:off x="640080" y="1737360"/>
            <a:ext cx="10881360" cy="4754879"/>
          </a:xfrm>
          <a:prstGeom prst="rect">
            <a:avLst/>
          </a:prstGeom>
          <a:noFill/>
        </p:spPr>
        <p:txBody>
          <a:bodyPr wrap="square">
            <a:spAutoFit/>
          </a:bodyPr>
          <a:lstStyle/>
          <a:p>
            <a:pPr>
              <a:spcAft>
                <a:spcPts val="600"/>
              </a:spcAft>
            </a:pPr>
            <a:r>
              <a:rPr sz="1600" b="0">
                <a:solidFill>
                  <a:srgbClr val="222222"/>
                </a:solidFill>
                <a:latin typeface="맑은 고딕"/>
              </a:rPr>
              <a:t>•  사용률 = BUSY / (BUSY+IDLE) = 653492 / 36349127 ≈ 1.8%</a:t>
            </a:r>
          </a:p>
          <a:p>
            <a:pPr>
              <a:spcAft>
                <a:spcPts val="600"/>
              </a:spcAft>
            </a:pPr>
            <a:r>
              <a:rPr sz="1600" b="0">
                <a:solidFill>
                  <a:srgbClr val="222222"/>
                </a:solidFill>
                <a:latin typeface="맑은 고딕"/>
              </a:rPr>
              <a:t>•  누적 평균이므로 구간은 델타로 재계산</a:t>
            </a:r>
          </a:p>
          <a:p>
            <a:pPr>
              <a:spcAft>
                <a:spcPts val="600"/>
              </a:spcAft>
            </a:pPr>
            <a:r>
              <a:rPr sz="1600" b="0">
                <a:solidFill>
                  <a:srgbClr val="222222"/>
                </a:solidFill>
                <a:latin typeface="맑은 고딕"/>
              </a:rPr>
              <a:t>•  피크 90%는 정상일 수 있고, 평상시 높으면 위험</a:t>
            </a:r>
          </a:p>
          <a:p>
            <a:pPr>
              <a:spcAft>
                <a:spcPts val="600"/>
              </a:spcAft>
            </a:pPr>
            <a:r>
              <a:rPr sz="1600" b="0">
                <a:solidFill>
                  <a:srgbClr val="222222"/>
                </a:solidFill>
                <a:latin typeface="맑은 고딕"/>
              </a:rPr>
              <a:t>•  실측 1.8% = 무부하 → 병목을 논할 수 없음</a:t>
            </a:r>
          </a:p>
        </p:txBody>
      </p:sp>
    </p:spTree>
    <p:extLst>
      <p:ext uri="{BB962C8B-B14F-4D97-AF65-F5344CB8AC3E}">
        <p14:creationId xmlns:p14="http://schemas.microsoft.com/office/powerpoint/2010/main" val="2396163842"/>
      </p:ext>
    </p:extLst>
  </p:cSld>
  <p:clrMapOvr>
    <a:masterClrMapping/>
  </p:clrMapOvr>
</p:sld>
</file>

<file path=ppt/slides/slide13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판정 논리 — 병목의 위치</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OS CPU와 DB Time을 대조</a:t>
            </a:r>
          </a:p>
        </p:txBody>
      </p:sp>
      <p:sp>
        <p:nvSpPr>
          <p:cNvPr id="5" name="TextBox 4"/>
          <p:cNvSpPr txBox="1"/>
          <p:nvPr/>
        </p:nvSpPr>
        <p:spPr>
          <a:xfrm>
            <a:off x="640080" y="1737360"/>
            <a:ext cx="10881360" cy="4754879"/>
          </a:xfrm>
          <a:prstGeom prst="rect">
            <a:avLst/>
          </a:prstGeom>
          <a:noFill/>
        </p:spPr>
        <p:txBody>
          <a:bodyPr wrap="square">
            <a:spAutoFit/>
          </a:bodyPr>
          <a:lstStyle/>
          <a:p>
            <a:pPr>
              <a:spcAft>
                <a:spcPts val="600"/>
              </a:spcAft>
            </a:pPr>
            <a:r>
              <a:rPr sz="1600" b="0">
                <a:solidFill>
                  <a:srgbClr val="222222"/>
                </a:solidFill>
                <a:latin typeface="맑은 고딕"/>
              </a:rPr>
              <a:t>•  CPU 높고 오라클이 씀 + DB CPU 비중 높음 → 병목 DB 안(SQL 튜닝)</a:t>
            </a:r>
          </a:p>
          <a:p>
            <a:pPr>
              <a:spcAft>
                <a:spcPts val="600"/>
              </a:spcAft>
            </a:pPr>
            <a:r>
              <a:rPr sz="1600" b="0">
                <a:solidFill>
                  <a:srgbClr val="222222"/>
                </a:solidFill>
                <a:latin typeface="맑은 고딕"/>
              </a:rPr>
              <a:t>•  CPU 높지만 비오라클 프로세스가 씀 → 병목 DB 밖</a:t>
            </a:r>
          </a:p>
          <a:p>
            <a:pPr>
              <a:spcAft>
                <a:spcPts val="600"/>
              </a:spcAft>
            </a:pPr>
            <a:r>
              <a:rPr sz="1600" b="0">
                <a:solidFill>
                  <a:srgbClr val="222222"/>
                </a:solidFill>
                <a:latin typeface="맑은 고딕"/>
              </a:rPr>
              <a:t>•  CPU 한가한데 DB Time 대부분 대기 → I/O·잠금 대기</a:t>
            </a:r>
          </a:p>
          <a:p>
            <a:pPr>
              <a:spcAft>
                <a:spcPts val="600"/>
              </a:spcAft>
            </a:pPr>
            <a:r>
              <a:rPr sz="1600" b="0">
                <a:solidFill>
                  <a:srgbClr val="222222"/>
                </a:solidFill>
                <a:latin typeface="맑은 고딕"/>
              </a:rPr>
              <a:t>•  실측은 무부하 → WL_02_io 부하 후 델타로 판정(실습 05)</a:t>
            </a:r>
          </a:p>
        </p:txBody>
      </p:sp>
    </p:spTree>
    <p:extLst>
      <p:ext uri="{BB962C8B-B14F-4D97-AF65-F5344CB8AC3E}">
        <p14:creationId xmlns:p14="http://schemas.microsoft.com/office/powerpoint/2010/main" val="1577748897"/>
      </p:ext>
    </p:extLst>
  </p:cSld>
  <p:clrMapOvr>
    <a:masterClrMapping/>
  </p:clrMapOvr>
</p:sld>
</file>

<file path=ppt/slides/slide13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실무 — 스와핑 서버에서 SGA 확대 유혹</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순서가 거꾸로다</a:t>
            </a:r>
          </a:p>
        </p:txBody>
      </p:sp>
      <p:sp>
        <p:nvSpPr>
          <p:cNvPr id="5" name="TextBox 4"/>
          <p:cNvSpPr txBox="1"/>
          <p:nvPr/>
        </p:nvSpPr>
        <p:spPr>
          <a:xfrm>
            <a:off x="640080" y="1737360"/>
            <a:ext cx="10881360" cy="4754879"/>
          </a:xfrm>
          <a:prstGeom prst="rect">
            <a:avLst/>
          </a:prstGeom>
          <a:noFill/>
        </p:spPr>
        <p:txBody>
          <a:bodyPr wrap="square">
            <a:spAutoFit/>
          </a:bodyPr>
          <a:lstStyle/>
          <a:p>
            <a:pPr>
              <a:spcAft>
                <a:spcPts val="600"/>
              </a:spcAft>
            </a:pPr>
            <a:r>
              <a:rPr sz="1600" b="0">
                <a:solidFill>
                  <a:srgbClr val="222222"/>
                </a:solidFill>
                <a:latin typeface="맑은 고딕"/>
              </a:rPr>
              <a:t>•  제안: '히트율이 낮다' → SGA_TARGET 확대로 캐시 늘리자</a:t>
            </a:r>
          </a:p>
          <a:p>
            <a:pPr>
              <a:spcAft>
                <a:spcPts val="600"/>
              </a:spcAft>
            </a:pPr>
            <a:r>
              <a:rPr sz="1600" b="0">
                <a:solidFill>
                  <a:srgbClr val="222222"/>
                </a:solidFill>
                <a:latin typeface="맑은 고딕"/>
              </a:rPr>
              <a:t>•  그러나 서버 메모리는 이미 빠듯</a:t>
            </a:r>
          </a:p>
          <a:p>
            <a:pPr>
              <a:spcAft>
                <a:spcPts val="600"/>
              </a:spcAft>
            </a:pPr>
            <a:r>
              <a:rPr sz="1600" b="0">
                <a:solidFill>
                  <a:srgbClr val="222222"/>
                </a:solidFill>
                <a:latin typeface="맑은 고딕"/>
              </a:rPr>
              <a:t>•  먼저 볼 것: PHYSICAL_MEMORY vs SGA+PGA, 스왑 si/so</a:t>
            </a:r>
          </a:p>
          <a:p>
            <a:pPr>
              <a:spcAft>
                <a:spcPts val="600"/>
              </a:spcAft>
            </a:pPr>
            <a:r>
              <a:rPr sz="1600" b="0">
                <a:solidFill>
                  <a:srgbClr val="222222"/>
                </a:solidFill>
                <a:latin typeface="맑은 고딕"/>
              </a:rPr>
              <a:t>•  판정: 스와핑 관측되면 SGA 확대는 스왑 악화</a:t>
            </a:r>
          </a:p>
          <a:p>
            <a:pPr>
              <a:spcAft>
                <a:spcPts val="600"/>
              </a:spcAft>
            </a:pPr>
            <a:r>
              <a:rPr sz="1600" b="0">
                <a:solidFill>
                  <a:srgbClr val="222222"/>
                </a:solidFill>
                <a:latin typeface="맑은 고딕"/>
              </a:rPr>
              <a:t>•  조치: 스와핑 해소·프로세스 정리 → 필요시 메모리 증설 후 확대</a:t>
            </a:r>
          </a:p>
        </p:txBody>
      </p:sp>
    </p:spTree>
    <p:extLst>
      <p:ext uri="{BB962C8B-B14F-4D97-AF65-F5344CB8AC3E}">
        <p14:creationId xmlns:p14="http://schemas.microsoft.com/office/powerpoint/2010/main" val="2612708762"/>
      </p:ext>
    </p:extLst>
  </p:cSld>
  <p:clrMapOvr>
    <a:masterClrMapping/>
  </p:clrMapOvr>
</p:sld>
</file>

<file path=ppt/slides/slide13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메모리 스와핑 징후와 SGA 재검토</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최악의 오조치를 피한다</a:t>
            </a:r>
          </a:p>
        </p:txBody>
      </p:sp>
      <p:sp>
        <p:nvSpPr>
          <p:cNvPr id="5" name="TextBox 4"/>
          <p:cNvSpPr txBox="1"/>
          <p:nvPr/>
        </p:nvSpPr>
        <p:spPr>
          <a:xfrm>
            <a:off x="640080" y="1737360"/>
            <a:ext cx="10881360" cy="4754879"/>
          </a:xfrm>
          <a:prstGeom prst="rect">
            <a:avLst/>
          </a:prstGeom>
          <a:noFill/>
        </p:spPr>
        <p:txBody>
          <a:bodyPr wrap="square">
            <a:spAutoFit/>
          </a:bodyPr>
          <a:lstStyle/>
          <a:p>
            <a:pPr>
              <a:spcAft>
                <a:spcPts val="600"/>
              </a:spcAft>
            </a:pPr>
            <a:r>
              <a:rPr sz="1600" b="0">
                <a:solidFill>
                  <a:srgbClr val="222222"/>
                </a:solidFill>
                <a:latin typeface="맑은 고딕"/>
              </a:rPr>
              <a:t>•  물리 메모리 부족 → 페이징·스와핑 → 성능 급락</a:t>
            </a:r>
          </a:p>
          <a:p>
            <a:pPr>
              <a:spcAft>
                <a:spcPts val="600"/>
              </a:spcAft>
            </a:pPr>
            <a:r>
              <a:rPr sz="1600" b="0">
                <a:solidFill>
                  <a:srgbClr val="222222"/>
                </a:solidFill>
                <a:latin typeface="맑은 고딕"/>
              </a:rPr>
              <a:t>•  PHYSICAL_MEMORY_BYTES vs SGA+PGA 합 대조</a:t>
            </a:r>
          </a:p>
          <a:p>
            <a:pPr>
              <a:spcAft>
                <a:spcPts val="600"/>
              </a:spcAft>
            </a:pPr>
            <a:r>
              <a:rPr sz="1600" b="0">
                <a:solidFill>
                  <a:srgbClr val="222222"/>
                </a:solidFill>
                <a:latin typeface="맑은 고딕"/>
              </a:rPr>
              <a:t>•  실측: 물리 약 7.5GiB, ASMM 운영(ch29)</a:t>
            </a:r>
          </a:p>
          <a:p>
            <a:pPr>
              <a:spcAft>
                <a:spcPts val="600"/>
              </a:spcAft>
            </a:pPr>
            <a:r>
              <a:rPr sz="1600" b="0">
                <a:solidFill>
                  <a:srgbClr val="222222"/>
                </a:solidFill>
                <a:latin typeface="맑은 고딕"/>
              </a:rPr>
              <a:t>•  ★ 스와핑 중 SGA 확대는 최악 — 스왑 악화</a:t>
            </a:r>
          </a:p>
          <a:p>
            <a:pPr>
              <a:spcAft>
                <a:spcPts val="600"/>
              </a:spcAft>
            </a:pPr>
            <a:r>
              <a:rPr sz="1600" b="0">
                <a:solidFill>
                  <a:srgbClr val="222222"/>
                </a:solidFill>
                <a:latin typeface="맑은 고딕"/>
              </a:rPr>
              <a:t>•  조치 순서: 스와핑 해소 또는 메모리 증설 → 그 뒤 캐시 확대</a:t>
            </a:r>
          </a:p>
        </p:txBody>
      </p:sp>
    </p:spTree>
    <p:extLst>
      <p:ext uri="{BB962C8B-B14F-4D97-AF65-F5344CB8AC3E}">
        <p14:creationId xmlns:p14="http://schemas.microsoft.com/office/powerpoint/2010/main" val="3331930608"/>
      </p:ext>
    </p:extLst>
  </p:cSld>
  <p:clrMapOvr>
    <a:masterClrMapping/>
  </p:clrMapOvr>
</p:sld>
</file>

<file path=ppt/slides/slide13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34.6</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네트워크 지연 오판</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r>
              <a:rPr sz="1600" b="0">
                <a:solidFill>
                  <a:srgbClr val="FFFFFF"/>
                </a:solidFill>
                <a:latin typeface="맑은 고딕"/>
              </a:rPr>
              <a:t>•  SQL*Net message from client = Idle</a:t>
            </a:r>
          </a:p>
          <a:p>
            <a:r>
              <a:rPr sz="1600" b="0">
                <a:solidFill>
                  <a:srgbClr val="FFFFFF"/>
                </a:solidFill>
                <a:latin typeface="맑은 고딕"/>
              </a:rPr>
              <a:t>•  한가한 시스템일수록 크게 보인다</a:t>
            </a:r>
          </a:p>
          <a:p>
            <a:r>
              <a:rPr sz="1600" b="0">
                <a:solidFill>
                  <a:srgbClr val="FFFFFF"/>
                </a:solidFill>
                <a:latin typeface="맑은 고딕"/>
              </a:rPr>
              <a:t>•  진짜 네트워크는 전송 이벤트로 의심</a:t>
            </a:r>
          </a:p>
        </p:txBody>
      </p:sp>
    </p:spTree>
    <p:extLst>
      <p:ext uri="{BB962C8B-B14F-4D97-AF65-F5344CB8AC3E}">
        <p14:creationId xmlns:p14="http://schemas.microsoft.com/office/powerpoint/2010/main" val="2443320378"/>
      </p:ext>
    </p:extLst>
  </p:cSld>
  <p:clrMapOvr>
    <a:masterClrMapping/>
  </p:clrMapOvr>
</p:sld>
</file>

<file path=ppt/slides/slide13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SQL*Net message from client는 Idle</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네트워크 병목이 아니다</a:t>
            </a:r>
          </a:p>
        </p:txBody>
      </p:sp>
      <p:sp>
        <p:nvSpPr>
          <p:cNvPr id="5" name="TextBox 4"/>
          <p:cNvSpPr txBox="1"/>
          <p:nvPr/>
        </p:nvSpPr>
        <p:spPr>
          <a:xfrm>
            <a:off x="640080" y="1737360"/>
            <a:ext cx="10881360" cy="4754879"/>
          </a:xfrm>
          <a:prstGeom prst="rect">
            <a:avLst/>
          </a:prstGeom>
          <a:noFill/>
        </p:spPr>
        <p:txBody>
          <a:bodyPr wrap="square">
            <a:spAutoFit/>
          </a:bodyPr>
          <a:lstStyle/>
          <a:p>
            <a:pPr>
              <a:spcAft>
                <a:spcPts val="600"/>
              </a:spcAft>
            </a:pPr>
            <a:r>
              <a:rPr sz="1600" b="0">
                <a:solidFill>
                  <a:srgbClr val="222222"/>
                </a:solidFill>
                <a:latin typeface="맑은 고딕"/>
              </a:rPr>
              <a:t>•  DB가 클라이언트의 다음 요청을 기다리는 유휴 시간</a:t>
            </a:r>
          </a:p>
          <a:p>
            <a:pPr>
              <a:spcAft>
                <a:spcPts val="600"/>
              </a:spcAft>
            </a:pPr>
            <a:r>
              <a:rPr sz="1600" b="0">
                <a:solidFill>
                  <a:srgbClr val="222222"/>
                </a:solidFill>
                <a:latin typeface="맑은 고딕"/>
              </a:rPr>
              <a:t>•  사용자 생각·앱 처리 시간이 여기 쌓임 → 대개 상위</a:t>
            </a:r>
          </a:p>
          <a:p>
            <a:pPr>
              <a:spcAft>
                <a:spcPts val="600"/>
              </a:spcAft>
            </a:pPr>
            <a:r>
              <a:rPr sz="1600" b="0">
                <a:solidFill>
                  <a:srgbClr val="222222"/>
                </a:solidFill>
                <a:latin typeface="맑은 고딕"/>
              </a:rPr>
              <a:t>•  한가한 시스템일수록 비중이 큼 → 병목으로 세면 오판</a:t>
            </a:r>
          </a:p>
          <a:p>
            <a:pPr>
              <a:spcAft>
                <a:spcPts val="600"/>
              </a:spcAft>
            </a:pPr>
            <a:r>
              <a:rPr sz="1600" b="0">
                <a:solidFill>
                  <a:srgbClr val="222222"/>
                </a:solidFill>
                <a:latin typeface="맑은 고딕"/>
              </a:rPr>
              <a:t>•  대기 클래스가 Idle → DB Time 병목 순위에서 제외</a:t>
            </a:r>
          </a:p>
        </p:txBody>
      </p:sp>
    </p:spTree>
    <p:extLst>
      <p:ext uri="{BB962C8B-B14F-4D97-AF65-F5344CB8AC3E}">
        <p14:creationId xmlns:p14="http://schemas.microsoft.com/office/powerpoint/2010/main" val="1355335190"/>
      </p:ext>
    </p:extLst>
  </p:cSld>
  <p:clrMapOvr>
    <a:masterClrMapping/>
  </p:clrMapOvr>
</p:sld>
</file>

<file path=ppt/slides/slide13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진짜 네트워크를 의심할 근거</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전송 이벤트와 전송량 대비 시간</a:t>
            </a:r>
          </a:p>
        </p:txBody>
      </p:sp>
      <p:sp>
        <p:nvSpPr>
          <p:cNvPr id="5" name="TextBox 4"/>
          <p:cNvSpPr txBox="1"/>
          <p:nvPr/>
        </p:nvSpPr>
        <p:spPr>
          <a:xfrm>
            <a:off x="640080" y="1737360"/>
            <a:ext cx="10881360" cy="4754879"/>
          </a:xfrm>
          <a:prstGeom prst="rect">
            <a:avLst/>
          </a:prstGeom>
          <a:noFill/>
        </p:spPr>
        <p:txBody>
          <a:bodyPr wrap="square">
            <a:spAutoFit/>
          </a:bodyPr>
          <a:lstStyle/>
          <a:p>
            <a:pPr>
              <a:spcAft>
                <a:spcPts val="600"/>
              </a:spcAft>
            </a:pPr>
            <a:r>
              <a:rPr sz="1600" b="0">
                <a:solidFill>
                  <a:srgbClr val="222222"/>
                </a:solidFill>
                <a:latin typeface="맑은 고딕"/>
              </a:rPr>
              <a:t>•  SQL*Net more data to/from client 큼 → 대량 전송 의심</a:t>
            </a:r>
          </a:p>
          <a:p>
            <a:pPr>
              <a:spcAft>
                <a:spcPts val="600"/>
              </a:spcAft>
            </a:pPr>
            <a:r>
              <a:rPr sz="1600" b="0">
                <a:solidFill>
                  <a:srgbClr val="222222"/>
                </a:solidFill>
                <a:latin typeface="맑은 고딕"/>
              </a:rPr>
              <a:t>•  SQL*Net message from dblink 큼 → 원격 DB·링크 지연</a:t>
            </a:r>
          </a:p>
          <a:p>
            <a:pPr>
              <a:spcAft>
                <a:spcPts val="600"/>
              </a:spcAft>
            </a:pPr>
            <a:r>
              <a:rPr sz="1600" b="0">
                <a:solidFill>
                  <a:srgbClr val="222222"/>
                </a:solidFill>
                <a:latin typeface="맑은 고딕"/>
              </a:rPr>
              <a:t>•  전송량 대비 시간이 길 때만 네트워크 조사</a:t>
            </a:r>
          </a:p>
          <a:p>
            <a:pPr>
              <a:spcAft>
                <a:spcPts val="600"/>
              </a:spcAft>
            </a:pPr>
            <a:r>
              <a:rPr sz="1600" b="0">
                <a:solidFill>
                  <a:srgbClr val="222222"/>
                </a:solidFill>
                <a:latin typeface="맑은 고딕"/>
              </a:rPr>
              <a:t>•  유휴 뒤에 숨은 비유휴 대기(느린 SQL·잠금·I/O)가 진짜 병목</a:t>
            </a:r>
          </a:p>
        </p:txBody>
      </p:sp>
    </p:spTree>
    <p:extLst>
      <p:ext uri="{BB962C8B-B14F-4D97-AF65-F5344CB8AC3E}">
        <p14:creationId xmlns:p14="http://schemas.microsoft.com/office/powerpoint/2010/main" val="265226834"/>
      </p:ext>
    </p:extLst>
  </p:cSld>
  <p:clrMapOvr>
    <a:masterClrMapping/>
  </p:clrMapOvr>
</p:sld>
</file>

<file path=ppt/slides/slide13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34.7</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측정 → 진단 → 조치 → 재측정</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r>
              <a:rPr sz="1600" b="0">
                <a:solidFill>
                  <a:srgbClr val="FFFFFF"/>
                </a:solidFill>
                <a:latin typeface="맑은 고딕"/>
              </a:rPr>
              <a:t>•  20개 장을 하나의 순환으로</a:t>
            </a:r>
          </a:p>
          <a:p>
            <a:r>
              <a:rPr sz="1600" b="0">
                <a:solidFill>
                  <a:srgbClr val="FFFFFF"/>
                </a:solidFill>
                <a:latin typeface="맑은 고딕"/>
              </a:rPr>
              <a:t>•  병목이 DB 안인가 밖인가를 가른다</a:t>
            </a:r>
          </a:p>
          <a:p>
            <a:r>
              <a:rPr sz="1600" b="0">
                <a:solidFill>
                  <a:srgbClr val="FFFFFF"/>
                </a:solidFill>
                <a:latin typeface="맑은 고딕"/>
              </a:rPr>
              <a:t>•  근거를 가지고 옳은 팀에 넘긴다</a:t>
            </a:r>
          </a:p>
        </p:txBody>
      </p:sp>
    </p:spTree>
    <p:extLst>
      <p:ext uri="{BB962C8B-B14F-4D97-AF65-F5344CB8AC3E}">
        <p14:creationId xmlns:p14="http://schemas.microsoft.com/office/powerpoint/2010/main" val="611378275"/>
      </p:ext>
    </p:extLst>
  </p:cSld>
  <p:clrMapOvr>
    <a:masterClrMapping/>
  </p:clrMapOvr>
</p:sld>
</file>

<file path=ppt/slides/slide13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과정 전체를 한 번 꿰다</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ch15에서 ch34까지 하나의 방법론</a:t>
            </a:r>
          </a:p>
        </p:txBody>
      </p:sp>
      <p:sp>
        <p:nvSpPr>
          <p:cNvPr id="5" name="TextBox 4"/>
          <p:cNvSpPr txBox="1"/>
          <p:nvPr/>
        </p:nvSpPr>
        <p:spPr>
          <a:xfrm>
            <a:off x="640080" y="1737360"/>
            <a:ext cx="10881360" cy="4754879"/>
          </a:xfrm>
          <a:prstGeom prst="rect">
            <a:avLst/>
          </a:prstGeom>
          <a:noFill/>
        </p:spPr>
        <p:txBody>
          <a:bodyPr wrap="square">
            <a:spAutoFit/>
          </a:bodyPr>
          <a:lstStyle/>
          <a:p>
            <a:pPr>
              <a:spcAft>
                <a:spcPts val="600"/>
              </a:spcAft>
            </a:pPr>
            <a:r>
              <a:rPr sz="1600" b="0">
                <a:solidFill>
                  <a:srgbClr val="222222"/>
                </a:solidFill>
                <a:latin typeface="맑은 고딕"/>
              </a:rPr>
              <a:t>•  측정: DB Time → 대기 분해 → I/O면 V$FILESTAT, 자원이면 V$OSSTAT</a:t>
            </a:r>
          </a:p>
          <a:p>
            <a:pPr>
              <a:spcAft>
                <a:spcPts val="600"/>
              </a:spcAft>
            </a:pPr>
            <a:r>
              <a:rPr sz="1600" b="0">
                <a:solidFill>
                  <a:srgbClr val="222222"/>
                </a:solidFill>
                <a:latin typeface="맑은 고딕"/>
              </a:rPr>
              <a:t>•  진단: 병목이 DB 안(SQL·구성·메모리)인가 밖(스토리지·CPU·메모리·네트워크)인가</a:t>
            </a:r>
          </a:p>
          <a:p>
            <a:pPr>
              <a:spcAft>
                <a:spcPts val="600"/>
              </a:spcAft>
            </a:pPr>
            <a:r>
              <a:rPr sz="1600" b="0">
                <a:solidFill>
                  <a:srgbClr val="222222"/>
                </a:solidFill>
                <a:latin typeface="맑은 고딕"/>
              </a:rPr>
              <a:t>•  조치: 원인별 처방 — 스와핑이면 SGA를 키우지 않는다</a:t>
            </a:r>
          </a:p>
          <a:p>
            <a:pPr>
              <a:spcAft>
                <a:spcPts val="600"/>
              </a:spcAft>
            </a:pPr>
            <a:r>
              <a:rPr sz="1600" b="0">
                <a:solidFill>
                  <a:srgbClr val="222222"/>
                </a:solidFill>
                <a:latin typeface="맑은 고딕"/>
              </a:rPr>
              <a:t>•  재측정: 같은 지표를 델타로 다시 재어 판정 (조치 전 캡처 필수)</a:t>
            </a:r>
          </a:p>
          <a:p>
            <a:pPr>
              <a:spcAft>
                <a:spcPts val="600"/>
              </a:spcAft>
            </a:pPr>
            <a:r>
              <a:rPr sz="1600" b="0">
                <a:solidFill>
                  <a:srgbClr val="222222"/>
                </a:solidFill>
                <a:latin typeface="맑은 고딕"/>
              </a:rPr>
              <a:t>•  경계 긋기: SQL은 SQL 튜닝으로, 자원 부족은 인프라 증설로</a:t>
            </a:r>
          </a:p>
        </p:txBody>
      </p:sp>
    </p:spTree>
    <p:extLst>
      <p:ext uri="{BB962C8B-B14F-4D97-AF65-F5344CB8AC3E}">
        <p14:creationId xmlns:p14="http://schemas.microsoft.com/office/powerpoint/2010/main" val="183775059"/>
      </p:ext>
    </p:extLst>
  </p:cSld>
  <p:clrMapOvr>
    <a:masterClrMapping/>
  </p:clrMapOvr>
</p:sld>
</file>

<file path=ppt/slides/slide13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퀴즈 (Quiz)</a:t>
            </a:r>
          </a:p>
        </p:txBody>
      </p:sp>
      <p:sp>
        <p:nvSpPr>
          <p:cNvPr id="4" name="TextBox 3"/>
          <p:cNvSpPr txBox="1"/>
          <p:nvPr/>
        </p:nvSpPr>
        <p:spPr>
          <a:xfrm>
            <a:off x="640080" y="1371600"/>
            <a:ext cx="10881360" cy="5120640"/>
          </a:xfrm>
          <a:prstGeom prst="rect">
            <a:avLst/>
          </a:prstGeom>
          <a:noFill/>
        </p:spPr>
        <p:txBody>
          <a:bodyPr wrap="square">
            <a:spAutoFit/>
          </a:bodyPr>
          <a:lstStyle/>
          <a:p>
            <a:pPr>
              <a:spcAft>
                <a:spcPts val="600"/>
              </a:spcAft>
            </a:pPr>
            <a:r>
              <a:rPr sz="1600" b="0">
                <a:solidFill>
                  <a:srgbClr val="222222"/>
                </a:solidFill>
                <a:latin typeface="맑은 고딕"/>
              </a:rPr>
              <a:t>•  Q1. undo=쓰기·system=읽기 편중이 문제가 아닌 이유는?</a:t>
            </a:r>
          </a:p>
          <a:p>
            <a:pPr>
              <a:spcAft>
                <a:spcPts val="600"/>
              </a:spcAft>
            </a:pPr>
            <a:r>
              <a:rPr sz="1600" b="0">
                <a:solidFill>
                  <a:srgbClr val="222222"/>
                </a:solidFill>
                <a:latin typeface="맑은 고딕"/>
              </a:rPr>
              <a:t>•  Q2. MBRC·SREADTIM·MREADTIM이 NULL이면 무엇을 뜻하고 무엇을 하는가?</a:t>
            </a:r>
          </a:p>
          <a:p>
            <a:pPr>
              <a:spcAft>
                <a:spcPts val="600"/>
              </a:spcAft>
            </a:pPr>
            <a:r>
              <a:rPr sz="1600" b="0">
                <a:solidFill>
                  <a:srgbClr val="222222"/>
                </a:solidFill>
                <a:latin typeface="맑은 고딕"/>
              </a:rPr>
              <a:t>•  Q3. CALIBRATE_IO 전제조건 셋과 유휴 시간에만 수행하는 이유는?</a:t>
            </a:r>
          </a:p>
          <a:p>
            <a:pPr>
              <a:spcAft>
                <a:spcPts val="600"/>
              </a:spcAft>
            </a:pPr>
            <a:r>
              <a:rPr sz="1600" b="0">
                <a:solidFill>
                  <a:srgbClr val="222222"/>
                </a:solidFill>
                <a:latin typeface="맑은 고딕"/>
              </a:rPr>
              <a:t>•  Q4. BUSY=653492, IDLE=35695635의 CPU 사용률과 '한가하다' 전 확인할 것은?</a:t>
            </a:r>
          </a:p>
          <a:p>
            <a:pPr>
              <a:spcAft>
                <a:spcPts val="600"/>
              </a:spcAft>
            </a:pPr>
            <a:r>
              <a:rPr sz="1600" b="0">
                <a:solidFill>
                  <a:srgbClr val="222222"/>
                </a:solidFill>
                <a:latin typeface="맑은 고딕"/>
              </a:rPr>
              <a:t>•  Q5. 스와핑 서버에서 SGA를 키우면 안 되는 이유와 올바른 조치 순서는?</a:t>
            </a:r>
          </a:p>
          <a:p>
            <a:pPr>
              <a:spcAft>
                <a:spcPts val="600"/>
              </a:spcAft>
            </a:pPr>
            <a:r>
              <a:rPr sz="1600" b="0">
                <a:solidFill>
                  <a:srgbClr val="222222"/>
                </a:solidFill>
                <a:latin typeface="맑은 고딕"/>
              </a:rPr>
              <a:t>•  Q6. SQL*Net message from client를 네트워크 병목으로 보면 안 되는 이유는?</a:t>
            </a:r>
          </a:p>
        </p:txBody>
      </p:sp>
    </p:spTree>
    <p:extLst>
      <p:ext uri="{BB962C8B-B14F-4D97-AF65-F5344CB8AC3E}">
        <p14:creationId xmlns:p14="http://schemas.microsoft.com/office/powerpoint/2010/main" val="2763386448"/>
      </p:ext>
    </p:extLst>
  </p:cSld>
  <p:clrMapOvr>
    <a:masterClrMapping/>
  </p:clrMapOvr>
</p:sld>
</file>

<file path=ppt/slides/slide13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요약 (Summary)</a:t>
            </a:r>
          </a:p>
        </p:txBody>
      </p:sp>
      <p:sp>
        <p:nvSpPr>
          <p:cNvPr id="4" name="TextBox 3"/>
          <p:cNvSpPr txBox="1"/>
          <p:nvPr/>
        </p:nvSpPr>
        <p:spPr>
          <a:xfrm>
            <a:off x="640080" y="1371600"/>
            <a:ext cx="10881360" cy="5120640"/>
          </a:xfrm>
          <a:prstGeom prst="rect">
            <a:avLst/>
          </a:prstGeom>
          <a:noFill/>
        </p:spPr>
        <p:txBody>
          <a:bodyPr wrap="square">
            <a:spAutoFit/>
          </a:bodyPr>
          <a:lstStyle/>
          <a:p>
            <a:pPr>
              <a:spcAft>
                <a:spcPts val="600"/>
              </a:spcAft>
            </a:pPr>
            <a:r>
              <a:rPr sz="1600" b="0">
                <a:solidFill>
                  <a:srgbClr val="222222"/>
                </a:solidFill>
                <a:latin typeface="맑은 고딕"/>
              </a:rPr>
              <a:t>•  I/O 편중은 V$FILESTAT·V$IOSTAT_FILE로 상대 비교·델타로 판정한다.</a:t>
            </a:r>
          </a:p>
          <a:p>
            <a:pPr>
              <a:spcAft>
                <a:spcPts val="600"/>
              </a:spcAft>
            </a:pPr>
            <a:r>
              <a:rPr sz="1600" b="0">
                <a:solidFill>
                  <a:srgbClr val="222222"/>
                </a:solidFill>
                <a:latin typeface="맑은 고딕"/>
              </a:rPr>
              <a:t>•  NOWORKLOAD(MBRC·SREADTIM NULL)이면 CALIBRATE_IO로 스토리지 상한을 실측한다.</a:t>
            </a:r>
          </a:p>
          <a:p>
            <a:pPr>
              <a:spcAft>
                <a:spcPts val="600"/>
              </a:spcAft>
            </a:pPr>
            <a:r>
              <a:rPr sz="1600" b="0">
                <a:solidFill>
                  <a:srgbClr val="222222"/>
                </a:solidFill>
                <a:latin typeface="맑은 고딕"/>
              </a:rPr>
              <a:t>•  비동기 I/O(disk_asynch_io=TRUE, filesystemio_options=none)·다중 블록 읽기(128)를 점검한다.</a:t>
            </a:r>
          </a:p>
          <a:p>
            <a:pPr>
              <a:spcAft>
                <a:spcPts val="600"/>
              </a:spcAft>
            </a:pPr>
            <a:r>
              <a:rPr sz="1600" b="0">
                <a:solidFill>
                  <a:srgbClr val="222222"/>
                </a:solidFill>
                <a:latin typeface="맑은 고딕"/>
              </a:rPr>
              <a:t>•  V$OSSTAT로 CPU 사용률(실측 약 1.8%, 무부하)을 계산해 DB Time과 대조한다.</a:t>
            </a:r>
          </a:p>
          <a:p>
            <a:pPr>
              <a:spcAft>
                <a:spcPts val="600"/>
              </a:spcAft>
            </a:pPr>
            <a:r>
              <a:rPr sz="1600" b="0">
                <a:solidFill>
                  <a:srgbClr val="222222"/>
                </a:solidFill>
                <a:latin typeface="맑은 고딕"/>
              </a:rPr>
              <a:t>•  스와핑 중 SGA 확대는 금지 — 스와핑부터 해소한다.</a:t>
            </a:r>
          </a:p>
          <a:p>
            <a:pPr>
              <a:spcAft>
                <a:spcPts val="600"/>
              </a:spcAft>
            </a:pPr>
            <a:r>
              <a:rPr sz="1600" b="0">
                <a:solidFill>
                  <a:srgbClr val="222222"/>
                </a:solidFill>
                <a:latin typeface="맑은 고딕"/>
              </a:rPr>
              <a:t>•  SQL*Net message from client는 Idle — 네트워크 오판을 교정한다.</a:t>
            </a:r>
          </a:p>
          <a:p>
            <a:pPr>
              <a:spcAft>
                <a:spcPts val="600"/>
              </a:spcAft>
            </a:pPr>
            <a:r>
              <a:rPr sz="1600" b="0">
                <a:solidFill>
                  <a:srgbClr val="222222"/>
                </a:solidFill>
                <a:latin typeface="맑은 고딕"/>
              </a:rPr>
              <a:t>•  전 과정은 측정→진단→조치→재측정의 한 순환이다.</a:t>
            </a:r>
          </a:p>
        </p:txBody>
      </p:sp>
    </p:spTree>
    <p:extLst>
      <p:ext uri="{BB962C8B-B14F-4D97-AF65-F5344CB8AC3E}">
        <p14:creationId xmlns:p14="http://schemas.microsoft.com/office/powerpoint/2010/main" val="1102024441"/>
      </p:ext>
    </p:extLst>
  </p:cSld>
  <p:clrMapOvr>
    <a:masterClrMapping/>
  </p:clrMapOvr>
</p:sld>
</file>

<file path=ppt/slides/slide13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실습 개요 (Practice Overview)</a:t>
            </a:r>
          </a:p>
        </p:txBody>
      </p:sp>
      <p:sp>
        <p:nvSpPr>
          <p:cNvPr id="4" name="TextBox 3"/>
          <p:cNvSpPr txBox="1"/>
          <p:nvPr/>
        </p:nvSpPr>
        <p:spPr>
          <a:xfrm>
            <a:off x="640080" y="1371600"/>
            <a:ext cx="10881360" cy="5120640"/>
          </a:xfrm>
          <a:prstGeom prst="rect">
            <a:avLst/>
          </a:prstGeom>
          <a:noFill/>
        </p:spPr>
        <p:txBody>
          <a:bodyPr wrap="square">
            <a:spAutoFit/>
          </a:bodyPr>
          <a:lstStyle/>
          <a:p>
            <a:pPr>
              <a:spcAft>
                <a:spcPts val="600"/>
              </a:spcAft>
            </a:pPr>
            <a:r>
              <a:rPr sz="1500" b="0">
                <a:solidFill>
                  <a:srgbClr val="222222"/>
                </a:solidFill>
                <a:latin typeface="맑은 고딕"/>
              </a:rPr>
              <a:t>•  실습 01 — 데이터파일별 I/O 분포와 편중 판별(V$FILESTAT, WL_02_io)</a:t>
            </a:r>
          </a:p>
          <a:p>
            <a:pPr>
              <a:spcAft>
                <a:spcPts val="600"/>
              </a:spcAft>
            </a:pPr>
            <a:r>
              <a:rPr sz="1500" b="0">
                <a:solidFill>
                  <a:srgbClr val="222222"/>
                </a:solidFill>
                <a:latin typeface="맑은 고딕"/>
              </a:rPr>
              <a:t>•  실습 02 — I/O 캘리브레이션과 결과 해석(AUX_STATS$·CALIBRATE_IO)</a:t>
            </a:r>
          </a:p>
          <a:p>
            <a:pPr>
              <a:spcAft>
                <a:spcPts val="600"/>
              </a:spcAft>
            </a:pPr>
            <a:r>
              <a:rPr sz="1500" b="0">
                <a:solidFill>
                  <a:srgbClr val="222222"/>
                </a:solidFill>
                <a:latin typeface="맑은 고딕"/>
              </a:rPr>
              <a:t>•  실습 03 — 비동기 I/O 설정 확인(FILESYSTEMIO_OPTIONS·DISK_ASYNCH_IO)</a:t>
            </a:r>
          </a:p>
          <a:p>
            <a:pPr>
              <a:spcAft>
                <a:spcPts val="600"/>
              </a:spcAft>
            </a:pPr>
            <a:r>
              <a:rPr sz="1500" b="0">
                <a:solidFill>
                  <a:srgbClr val="222222"/>
                </a:solidFill>
                <a:latin typeface="맑은 고딕"/>
              </a:rPr>
              <a:t>•  실습 04 — 다중 블록 읽기와 전체 스캔(DB_FILE_MULTIBLOCK_READ_COUNT, WL_02_io)</a:t>
            </a:r>
          </a:p>
          <a:p>
            <a:pPr>
              <a:spcAft>
                <a:spcPts val="600"/>
              </a:spcAft>
            </a:pPr>
            <a:r>
              <a:rPr sz="1500" b="0">
                <a:solidFill>
                  <a:srgbClr val="222222"/>
                </a:solidFill>
                <a:latin typeface="맑은 고딕"/>
              </a:rPr>
              <a:t>•  실습 05 — OS CPU 사용률과 DB 통계 대조(V$OSSTAT)</a:t>
            </a:r>
          </a:p>
          <a:p>
            <a:pPr>
              <a:spcAft>
                <a:spcPts val="600"/>
              </a:spcAft>
            </a:pPr>
            <a:r>
              <a:rPr sz="1500" b="0">
                <a:solidFill>
                  <a:srgbClr val="222222"/>
                </a:solidFill>
                <a:latin typeface="맑은 고딕"/>
              </a:rPr>
              <a:t>•  실습 06 — 메모리 스와핑 징후와 SGA 재검토</a:t>
            </a:r>
          </a:p>
          <a:p>
            <a:pPr>
              <a:spcAft>
                <a:spcPts val="600"/>
              </a:spcAft>
            </a:pPr>
            <a:r>
              <a:rPr sz="1500" b="0">
                <a:solidFill>
                  <a:srgbClr val="222222"/>
                </a:solidFill>
                <a:latin typeface="맑은 고딕"/>
              </a:rPr>
              <a:t>•  실습 07 — 네트워크 지연 판별(SQL*Net message from client)</a:t>
            </a:r>
          </a:p>
          <a:p>
            <a:pPr>
              <a:spcAft>
                <a:spcPts val="600"/>
              </a:spcAft>
            </a:pPr>
            <a:r>
              <a:rPr sz="1500" b="0">
                <a:solidFill>
                  <a:srgbClr val="222222"/>
                </a:solidFill>
                <a:latin typeface="맑은 고딕"/>
              </a:rPr>
              <a:t>•  ※ 환경: non-CDB orcl 19.3 · 프롬프트 SYS@orcl&gt;/SQLT@orcl&gt; · 조치 전→조회→해석 + 오류 흐름</a:t>
            </a:r>
          </a:p>
        </p:txBody>
      </p:sp>
    </p:spTree>
    <p:extLst>
      <p:ext uri="{BB962C8B-B14F-4D97-AF65-F5344CB8AC3E}">
        <p14:creationId xmlns:p14="http://schemas.microsoft.com/office/powerpoint/2010/main" val="4925657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138</TotalTime>
  <Words>197701</Words>
  <Application>Microsoft Office PowerPoint</Application>
  <PresentationFormat>와이드스크린</PresentationFormat>
  <Paragraphs>12494</Paragraphs>
  <Slides>1345</Slides>
  <Notes>1074</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1345</vt:i4>
      </vt:variant>
    </vt:vector>
  </HeadingPairs>
  <TitlesOfParts>
    <vt:vector size="1351" baseType="lpstr">
      <vt:lpstr>Malgun Gothic</vt:lpstr>
      <vt:lpstr>Malgun Gothic</vt:lpstr>
      <vt:lpstr>Arial</vt:lpstr>
      <vt:lpstr>Calibri</vt:lpstr>
      <vt:lpstr>Consolas</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KEONTAE KIM</cp:lastModifiedBy>
  <cp:revision>12</cp:revision>
  <dcterms:created xsi:type="dcterms:W3CDTF">2013-01-27T09:14:16Z</dcterms:created>
  <dcterms:modified xsi:type="dcterms:W3CDTF">2026-09-29T09:13:52Z</dcterms:modified>
  <cp:category/>
</cp:coreProperties>
</file>
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ch06은 ch05에서 확인한 '인덱스가 유리한 상황'의 바로 다음 질문에 답하는 장이다. 인덱스를 만들기로 했다면 어떤 컬럼을 어떤 순서로 묶을 것인가가 남는데, 이 결정 하나가 실행계획을 통째로 바꿔 놓는다는 사실을 실측으로 보여 준다. 이 장의 모든 값은 진료비청구심사 실습 DB에서 직접 캡처한 것이라 학습자가 같은 인덱스를 만들어 그대로 재현할 수 있다. 첫 시간에 강조할 문장은 하나다. 인덱스는 만들었다고 쓰이는 것이 아니라 조회 조건과 컬럼 순서가 맞아떨어져야 비로소 쓰인다는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첫째는 용어로, 복합 인덱스와 선두 컬럼의 정의를 정확히 세우는 것이다. 둘째는 관찰로, 같은 두 컬럼을 순서만 바꿔 만든 두 인덱스의 실행계획을 읽고 차이가 어디서 생겼는지 지목하는 능력이다. 셋째는 설계 판단으로, 조회 패턴을 근거로 순서를 정하고 인덱스를 몇 개까지 둘지 저울질하는 태도다. 이 장은 새로운 문법을 배우는 장이 아니라 결정을 내리는 기준을 세우는 장이라는 점을 미리 알려 주면 학습자의 기대가 어긋나지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'용어 세우기 → 원리 이해하기 → 순서를 뒤집어 실측으로 확인하기'다. 5.2와 5.3에서 선두 컬럼이라는 개념을 정확히 세우고, 5.4부터 5.6까지가 이 장의 몸통이다. 같은 두 컬럼으로 만든 인덱스 두 개를 두고 동일한 세 조건을 실행한 결과를 나란히 놓고 읽는다. 시간이 부족하면 5.2를 축약하고 5.5와 5.6에 시간을 몰아 주는 편이 학습 효과가 크다. 절이 바뀔 때마다 앞 절의 결론을 한 문장으로 이어 주면 맥락이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인덱스를 '만들면 빨라지는 것'으로 알고 오는데, ch05에서 확인한 것은 인덱스가 유리한 상황이 따로 있다는 사실까지였다. 그 다음 질문인 '어떤 컬럼을 어떤 순서로 묶을 것인가'는 아직 답하지 않았다. 이 절에서는 기법을 하나도 알려 주지 않고, 설계 결정이 왜 필요한지만 합의한다. 학습자에게 지금까지 인덱스를 어떤 기준으로 만들어 왔는지 먼저 물어보고 시작하면 이후 실측 결과가 훨씬 강하게 와닿는다.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ch05과 ch06의 경계를 분명히 그어 준다. ch05은 '인덱스를 쓸 것인가 말 것인가'를 다뤘고, ch06은 '쓰기로 했다면 어떻게 만들 것인가'를 다룬다. 실무에서 성능 사고가 나는 지점은 대개 후자다. 인덱스가 아예 없어서 느린 경우보다, 인덱스는 있는데 조회 조건과 컬럼 순서가 어긋나서 쓰이지 못하는 경우가 훨씬 흔하고 발견하기도 어렵다. 이 장의 실측이 바로 그 상황을 눈으로 확인시켜 준다는 점을 예고해 두면 집중도가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 9번과 직접 연결된다. 현장에서 흔한 장면은 느린 쿼리가 나올 때마다 인덱스를 하나씩 추가하는 것이다. 몇 달 지나면 테이블 하나에 인덱스가 여러 개 쌓이는데, 정작 그중 상당수는 조회 조건과 맞지 않아 쓰이지 않으면서 DML 비용만 늘린다. 쓰이지 않는 인덱스도 비용은 동일하게 낸다는 사실을 여기서 못 박아 두면, 뒤에 나올 트레이드오프 이야기가 훨씬 구체적으로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진행 방식을 먼저 보여 주는 이유는 실험 설계 자체가 이 장의 교육 내용이기 때문이다. 변수를 하나만 바꾸고 나머지를 고정한다는 원칙, 즉 컬럼 구성은 그대로 두고 순서만 뒤집는다는 설계가 결과 해석을 명확하게 만든다. 실습 인덱스에는 접두어를 붙여 두고 차시가 끝나면 반드시 삭제한 뒤 통계를 다시 수집해야 한다는 점도 함께 안내한다. 정리하지 않으면 다음 챕터의 실행계획이 재현되지 않아 이후 실습 전체가 어긋난다.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용어를 정확히 세우는 구간이다. 학습자들이 이미 들어 본 단어들이지만 정의가 흐릿한 채로 쓰는 경우가 많다. 특히 '선두 컬럼'은 이 장 전체를 관통하는 개념이라 여기서 한 번 정확하게 못 박아 둬야 뒤의 실측 해석이 막히지 않는다. 설명은 짧게 하고, 대신 정렬 구조 개념도를 보여 준 뒤 학습자가 직접 '이 인덱스에서 선두 컬럼은 무엇인가'를 답하게 하는 편이 정착률이 높다. 용어가 흔들리면 뒤의 실행계획 해석은 전부 암기가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B-Tree에서 학습자가 반드시 가져가야 할 성질은 트리라는 자료구조가 아니라 '정렬되어 있다'는 한 가지다. 트리의 깊이나 분기 방식은 이 장에서 다루지 않아도 실측 결과를 해석하는 데 지장이 없다. 대신 인덱스가 값과 ROWID만 담는다는 점은 지금 짚어 둬야 한다. 뒤에서 INDEX FAST FULL SCAN이 TABLE ACCESS FULL보다 저렴하게 나오는 이유가 바로 이 성질이기 때문이다. 실습문제 4번이 정확히 이 대목을 묻는다는 점도 함께 예고해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가장 흔한 오해를 정리한다. 복합 인덱스를 '두 컬럼 각각의 인덱스를 합쳐 놓은 것'으로 이해하는 학습자가 많은데, 그렇지 않다. 두 컬럼을 하나의 정렬 기준으로 이어 붙인 단일 구조물이며, 그래서 순서가 곧 성격이 된다. 같은 컬럼 집합인데 순서가 다른 두 인덱스는 데이터베이스 입장에서 완전히 다른 객체라는 점을 분명히 해 둔다. 이 오해가 남아 있으면 뒤의 실측에서 순서만 바꿨는데 결과가 뒤바뀌는 것을 이상하게 여기게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정의를 여기서 정확히 못 박아야 한다. 학습자가 흔히 빠지는 함정은 HOSP_ID처럼 자주 쓰는 컬럼이 '원래 선두 컬럼이어야 하는 컬럼'이라고 믿는 것이다. 선두 컬럼은 컬럼의 성질이 아니라 인덱스 정의에서의 위치다. 뒤에서 인덱스 B를 만들면 같은 HOSP_ID가 후행 컬럼이 되어 정반대 결과가 나오는데, 그 실측이 이 정의를 그대로 증명한다. 실습문제 2번이 바로 이 지점을 서술하게 하는 문항이니 미리 연결해 준다.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개념도를 설명할 때는 전화번호부 비유를 먼저 말하고 도식을 나중에 보여 주는 순서가 이해가 빠르다. 성을 알면 해당 페이지로 바로 넘길 수 있지만 이름만 알면 처음부터 넘겨야 한다는 경험은 누구나 가지고 있기 때문이다. 여기서 '흩어져 있다'는 표현을 강조한다. 후행 컬럼 값이 인덱스에 없는 것이 아니라 분명히 다 들어 있지만 한곳에 모여 있지 않다는 것이 핵심이다. 이 구분이 흐려지면 뒤에서 Fast Full Scan이 왜 결과를 정확히 찾아내는지 설명하기 어려워진다. 실습문제 7번이 이 비유를 실측과 대응시키도록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이론적 중심이다. 여기서 원리를 세워 두면 5.5와 5.6의 실측 결과는 확인 작업이 된다. 반대로 이 절을 대충 넘기면 뒤의 숫자들이 그냥 외워야 할 표로 전락한다. 설명 순서는 정렬 규칙에서 출발해 조건에 선두 컬럼이 있을 때와 없을 때로 갈라 가는 흐름이 자연스럽다. 마지막에 인덱스의 비용을 다루는 이유는, 순서를 못 정하겠으면 인덱스를 두 개 만들면 된다는 손쉬운 결론으로 학습자가 달려가는 것을 막기 위해서다.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규칙을 말로만 설명하면 절반 정도만 따라온다. 앞 슬라이드의 개념도를 다시 띄워 두고 손가락으로 짚어 가며 설명하는 편이 효과적이다. 특히 '구간이 달라지면 후행 컬럼 정렬이 다시 시작된다'는 부분이 핵심이다. 이 성질 때문에 후행 컬럼 값 하나가 인덱스 전체에 흩어지고, 그래서 시작 위치를 짚을 수 없게 된다. 여기까지 이해하면 뒤의 실행계획은 스스로 예측할 수 있게 된다. 예측을 먼저 시키고 실측을 보여 주는 순서를 권한다.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RANGE SCAN이라는 이름을 여기서 풀어 준다. Range는 정렬된 구간을 뜻하고, 시작과 끝을 알고 있으므로 그 사이만 읽는다는 의미다. 이 이름의 뜻을 이해하면 왜 후행 컬럼만으로는 Range Scan이 불가능한지가 자동으로 따라온다. 시작과 끝을 짚을 수 없기 때문이다. 학습자에게 실행계획의 오퍼레이션 이름을 외우게 하지 말고 이름이 무엇을 서술하고 있는지 읽게 하는 습관을 들이면 이후 챕터에서 처음 보는 오퍼레이션도 스스로 해석하게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자주 오해하는 지점을 짚는다. 후행 컬럼만 조건일 때 인덱스가 '못 쓰인다'고 단정하는 경우가 많은데, 정확히는 Range Scan 형태로 못 쓰일 뿐이고 Fast Full Scan이라는 다른 형태로는 쓰일 수 있다. 이 구분이 중요한 이유는 뒤에서 볼 실측에서 실제로 인덱스가 쓰였고, 심지어 Full Table Scan보다 저렴했기 때문이다. 못 쓰인다와 다르게 쓰인다는 전혀 다른 이야기라는 점을 분명히 하고 넘어가야 실측 결과에서 혼란이 생기지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인덱스를 공짜로 여기는 인식을 여기서 교정한다. 개발 단계에서는 데이터가 적고 DML도 드물어 비용이 전혀 드러나지 않는다는 점이 함정이다. 문제는 운영에 올라가 대량 입력이 시작된 뒤에 터진다. 그래서 인덱스를 추가할 때는 이 테이블에 DML이 얼마나 자주, 얼마나 크게 일어나는지를 함께 확인하는 절차가 필요하다는 실무 이야기를 덧붙이면 좋다. 이 장에서는 DML 비용을 실측하지 않고 원리로만 짚는다는 점도 정직하게 밝혀 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6번과 9번의 근거가 된다. 학습자가 가장 쉽게 도달하는 결론이 '둘 다 만들면 되지 않나'인데, 그 판단이 틀렸다는 것이 아니라 비용을 알고 내려야 하는 판단이라는 점을 강조한다. 실시간 대량 INSERT가 계속 일어나는 시스템이라면 인덱스 추가가 오히려 그 INSERT를 느리게 만들 수 있다. 반대로 야간 배치로만 적재되는 테이블이라면 인덱스를 넉넉히 두어도 부담이 적다. 판단의 축이 무엇인지를 알려 주는 것이 이 슬라이드의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짧지만 건너뛰면 안 되는 구간이다. 실험 설계를 이해하지 못한 채 결과표를 보면 숫자만 남고 의미가 남지 않는다. 여기서 확인시킬 것은 두 가지다. 첫째, 두 인덱스는 컬럼 구성이 완전히 같고 순서만 다르다. 둘째, 세 조건은 두 인덱스에서 동일하게 실행된다. 변수를 하나만 바꿨기 때문에 결과 차이의 원인을 순서 하나로 귀속시킬 수 있다는 점이 이 실험의 힘이다. 이 논리를 학습자가 스스로 설명하게 해 보면 좋다.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설계의 원칙을 여기서 한 번 정리해 준다. 변수를 하나만 바꾸고 나머지를 고정한다는 것은 성능 비교의 기본인데, 실무 벤치마크에서 가장 자주 어겨지는 원칙이기도 하다. 인덱스를 바꾸면서 동시에 SQL도 고치고 통계도 다시 수집하면, 개선이 나와도 무엇 덕분인지 말할 수 없다. 이 장의 실험이 깔끔한 결론을 낼 수 있는 이유가 설계에 있다는 점을 짚어 주면, 학습자가 자기 현장에서 벤치마크를 설계할 때 그대로 가져다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SQL을 보여 준 직후 학습자에게 예측을 시킨다. 세 조건 중 어느 것이 가장 저렴할 것 같은지, 그리고 가장 비쌀 것 같은지를 손을 들어 고르게 하고 칠판에 기록해 둔다. 뒤에서 실측과 대조하면 기억에 훨씬 오래 남는다. COUNT(*)를 쓴 이유도 짚어 준다. 결과 컬럼을 가져오려 하면 테이블 접근 단계가 끼어들어 실행계획이 복잡해지는데, 지금 관심사는 인덱스를 어떤 방식으로 읽었는가 하나이기 때문이다. 실험은 관심사 외의 요소를 최대한 걷어 내는 것이 좋다는 원칙도 함께 전한다.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실험의 지도 역할을 한다. 조건 두 개와 인덱스 두 개가 만드는 네 칸의 표를 머릿속에 그려 두면 뒤의 결과가 훨씬 쉽게 읽힌다. 여기서 학습자에게 미리 예측을 적어 두게 하는 것을 권한다. 인덱스 A에서 조건 ②가 저렴했다면 인덱스 B에서는 어떻게 될 것 같은지 답하게 하는 식이다. 대부분 정답에 가깝게 예측하는데, 스스로 예측한 것을 실측으로 확인하는 경험이 개념 정착에 가장 효과가 좋다. 실습문제 1번과 8번이 이 구조를 그대로 묻는다.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 슬라이드는 천천히 넘긴다. 표를 한꺼번에 설명하지 말고 Operation 열만 먼저 세로로 읽히면 부담이 훨씬 적다. 세 행 중 두 행이 같은 오퍼레이션이고 한 행만 다르다는 사실을 학습자가 스스로 발견하게 한 다음, 그 한 행이 왜 다른지를 묻는 순서가 좋다. Buffers 값은 그 뒤에 본다. 숫자를 먼저 보여 주면 크고 작음에만 눈이 가고 왜 그런지는 묻지 않게 된다. 발견하게 만드는 순서가 설명하는 순서보다 언제나 강하다.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준다. 먼저 Operation 열만 세로로 훑어 위 두 행이 같고 세 번째만 다르다는 것을 확인시킨다. 다음으로 그 세 행의 조건을 다시 보게 하면 선두 컬럼의 포함 여부가 갈림길이라는 사실이 스스로 드러난다. Buffers는 마지막에 본다. A-Rows 열도 함께 짚어 주면 좋은데, 결과 건수가 많다고 비싼 것이 아니라는 점이 드러나기 때문이다. 두 번째 행은 세 번째 행보다 결과가 훨씬 많은데도 Buffers는 비교할 수 없이 적다.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결과 건수와 비용의 관계다. 두 번째 행은 결과가 3,058건으로 첫 행보다 훨씬 많은데도 Buffers는 12에 그쳤다. 필요한 구간만 순서대로 읽었기 때문이다. 학습자가 흔히 갖는 오해는 결과가 많으면 무조건 비싸다는 것인데, 인덱스를 제대로 탄 경우에는 결과 건수에 비례해 완만하게 늘어날 뿐이다. 비용이 급격히 튀는 것은 읽는 방식이 바뀔 때다. 다음 슬라이드에서 그 사례를 보게 된다는 예고로 넘어가면 흐름이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반드시 교정할 오해가 있다. RECEIPT_DATE 값이 인덱스에 없어서 못 찾는 것이 아니다. 값은 분명히 다 들어 있고, 다만 여러 HOSP_ID 구간에 흩어져 있어서 어디부터 어디까지 읽으면 되는지를 짚을 수 없을 뿐이다. 그래서 전부 읽고 걸러 내는 방식으로 처리된 것이고, 결과는 정확하지만 비용이 커졌다. 앞의 전화번호부 비유를 다시 꺼내면 이해가 빠르다. 실습문제 1번과 7번이 이 대목을 서술하게 하는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실습문제 4번의 정답 근거다. 학습자가 헷갈리는 이유는 '인덱스를 제대로 못 탔다'와 '인덱스가 도움이 안 됐다'를 같은 말로 받아들이기 때문이다. 실제로는 못 탄 상태에서도 인덱스가 더 작은 구조물이라는 이유만으로 이득이 남았다. 여기서 953과 12의 차이도 함께 상기시켜 준다. Full Table Scan보다 낫다는 사실이 Range Scan을 포기해도 된다는 뜻은 아니기 때문이다. 두 비교를 나란히 놓아야 판단이 균형을 잡는다.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클라이맥스다. 앞 절의 결과를 학습자가 충분히 소화한 상태에서 순서만 뒤집은 인덱스를 던지면 예측과 확인의 리듬이 살아난다. 인덱스 B의 결과표를 바로 보여 주지 말고, 앞 표를 다시 띄운 채로 '순서를 뒤집으면 이 표가 어떻게 바뀔 것 같은가'를 먼저 묻는 것을 강력히 권한다. 정답을 맞히든 틀리든 그 순간에 개념이 정리된다. 절 제목에 Bad SQL이라 적혀 있지만 여기서 나쁜 것은 SQL이 아니라 인덱스 정의라는 점도 짚어 준다. 같은 SQL이 인덱스 하나 때문에 좋은 쿼리도 나쁜 쿼리도 될 수 있다는 사실이 이 절의 메시지다. 이 절만큼은 시간을 아끼지 않는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주석의 마지막 두 줄이 이 슬라이드의 전부다. SQL은 한 글자도 바뀌지 않았는데 HOSP_ID가 후행 컬럼이 되고 RECEIPT_DATE가 선두 컬럼이 됐다. 선두 컬럼이 컬럼의 성질이 아니라 인덱스 정의에서의 위치라는 정의가 여기서 눈으로 확인된다. 인덱스 A를 반드시 먼저 삭제해야 한다는 점도 짚어 준다. 두 인덱스가 동시에 존재하면 옵티마이저가 더 유리한 쪽을 고르기 때문에 순서의 영향만 분리해서 볼 수 없게 된다. 실습에서 학습자들이 가장 자주 놓치는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표와 나란히 놓고 비교하는 것이 핵심이다. 화면을 번갈아 띄우기 어렵다면 두 표의 Buffers 열만 칠판에 옮겨 적어 두는 것도 방법이다. 학습자가 스스로 발견해야 할 것은 세 가지다. 첫 행은 거의 그대로라는 점, 나머지 두 행의 오퍼레이션이 서로 자리를 바꿨다는 점, 그리고 A-Rows 열은 전혀 바뀌지 않았다는 점이다. 마지막 관찰이 특히 중요하다. 결과는 완전히 동일한데 읽는 방식과 비용만 달라졌다는 뜻이기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장에서 가장 중요한 장이다. 실습문제 2번이 정확히 이 현상을 근거로 선두 컬럼의 정의를 설명하게 한다. 강조할 문장은 하나다. 바뀐 것은 인덱스 정의 한 줄뿐이고 SQL도 데이터도 그대로인데 비용이 완전히 뒤집혔다. 실무에서 이 사실이 무서운 이유는, 인덱스를 리팩터링하면서 컬럼 순서를 무심코 바꾸면 잘 돌던 화면 하나가 조용히 느려지기 때문이다. 그런 변경은 코드 리뷰에서 잘 걸러지지 않는다는 점도 함께 말해 준다.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3번의 근거다. 여기서 조심할 것은 '두 컬럼을 다 쓰면 순서는 아무 상관 없다'는 과잉 일반화다. 이번 사례에서 차이가 없었던 것은 최종 결과가 11건으로 매우 적었기 때문이고, 각 컬럼의 선택도가 크게 다른 경우에는 중간 단계에서 걸러지는 양이 달라져 차이가 생길 수 있다. 실측 결과의 적용 범위를 스스로 한정하는 습관을 여기서 가르친다. 이 습관이 없으면 학습자는 하나의 실측을 만능 법칙으로 만들어 버린다.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문장이 이 장 전체의 결론이다. 학습자들이 인덱스를 만들 때 습관적으로 하는 행동은 'PK 순서대로' 또는 '테이블 컬럼 정의 순서대로' 묶는 것인데, 두 기준 모두 조회 패턴과 아무 관련이 없다. 인덱스는 데이터를 위해 만드는 것이 아니라 조회를 위해 만드는 구조물이라는 관점을 여기서 심어 준다. 그래서 설계의 출발점은 테이블 정의서가 아니라 화면 목록과 쿼리 목록이어야 한다는 실무 이야기를 덧붙이면 다음 절로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실측을 설계 판단으로 옮기는 구간이다. 여기서 학습자가 가져가야 할 것은 정답이 아니라 판단의 축이다. 어느 인덱스가 옳은지는 조회 패턴 가정에 따라 달라지고, 가정이 바뀌면 답도 바뀐다. 그래서 실습문제 5번은 정답을 하나로 고정하지 않고 가정과 근거의 타당성으로 평가한다. 이 채점 기준을 미리 알려 주면 학습자가 답을 외우려 하지 않고 근거를 세우는 데 집중하게 된다. 마지막에 종합 비교표를 한 장으로 모아 두는 이유도 같다. 숫자를 외우게 하려는 것이 아니라 순서를 뒤집었을 때 무엇이 어떻게 맞바뀌는지를 한눈에 보여 주기 위해서다.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구체적인 화면을 상상하게 하면 훨씬 잘 와닿는다. 예를 들어 병원별 청구 조회 화면이 콜센터 상담원이 하루 종일 쓰는 화면이라면 호출 빈도가 매우 높고, 기간별 현황 화면이 월 1회 정산 담당자가 쓰는 관리자 화면이라면 상대적으로 드물다. 이런 가정을 세우는 순간 답은 자동으로 따라온다. 반대로 기간별 현황이 실시간 대시보드라면 결론이 뒤집힌다. 정답이 가정에 달려 있다는 사실 자체가 이 절의 교육 내용이라는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6번과 9번을 그대로 다룬다. 특히 9번은 기존 인덱스를 두고 단일 컬럼 인덱스를 추가하는 방안과, 삭제하고 순서를 바꿔 다시 만드는 방안을 비교하게 한다. 전자는 인덱스가 PK를 포함해 셋으로 늘어 DML 비용이 커지고, 후자는 개수는 유지되지만 한쪽 조회를 희생한다. 어느 쪽도 공짜가 아니라는 점, 그리고 선택의 근거를 문서로 남겨야 나중에 되짚을 수 있다는 점을 함께 강조하면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세로로 읽는 방법을 알려 준다. 두 번째와 네 번째 행이 같은 조건이고, 세 번째와 다섯 번째 행이 같은 조건이다. 각 짝의 Buffers를 비교하면 순서를 뒤집었을 때 무슨 일이 일어나는지가 한눈에 들어온다. 첫 행의 베이스라인도 함께 짚어 준다. 인덱스가 아예 없을 때와 비교하면, 후행 컬럼만 매치된 상황조차 여전히 이득이 남는다는 사실이 확인된다. 이 표 하나로 이 장의 결론이 전부 담긴다고 말해도 과장이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관찰이 서로 반대 방향으로 작용한다는 점을 짚어 준다. 하나는 순서가 결정적으로 중요하다는 이야기고, 다른 하나는 순서를 틀려도 인덱스가 없는 것보다는 낫다는 이야기다. 학습자가 둘 중 하나만 기억하면 판단이 한쪽으로 기운다. 실무에서 필요한 태도는 둘을 함께 쥐는 것이다. 순서를 신중하게 정하되, 이미 만들어진 인덱스의 순서가 최적이 아니라는 이유만으로 무조건 재생성에 뛰어들지는 않는 판단이 여기서 나온다. 실습문제 10번이 이 균형을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절차는 실습문제 10번의 모범 답안 골격이다. 학습자가 직접 3단계로 정리해 보게 하고, 여기 적힌 것과 대조하는 순서로 진행하면 좋다. 2단계의 '단독으로도'라는 조건을 특히 강조한다. 이 조건이 없으면 선택도가 높은 컬럼을 무조건 앞에 두는 잘못된 규칙으로 흐르기 쉽다. 선택도는 그다음 고려 사항이지 1차 기준이 아니다. 조회 패턴이 먼저이고 통계적 성질은 그 뒤라는 순서를 마지막으로 한 번 더 확인시키고 절을 닫는다.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 스크립트를 슬라이드로 따로 두는 이유가 있다. 실습이 끝나면 학습자들은 결과를 확인한 것으로 만족하고 뒷정리를 잊는데, 인덱스가 남아 있으면 다음 챕터의 실행계획이 교안과 달라져 실습 자체가 성립하지 않는다. 특히 이 과정은 실측값을 기준으로 진행하기 때문에 환경이 어긋나면 학습자가 자기 결과를 의심하게 된다. 남은 인덱스를 조회해 확인하는 단계까지 반드시 거치도록 안내하고, 통계 재수집까지 마쳐야 원상복구가 끝난다는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줄은 이 장의 핵심을 압축한 것이다. 학습자에게 이 화면을 띄워 둔 채 실습에 들어가게 하고, 각 줄에 대해 근거가 되는 실측값을 하나씩 말해 보게 하면 그 자리에서 복습이 된다. 말로 설명하지 못하는 줄이 곧 다시 봐야 할 부분이다. 특히 네 번째와 여덟 번째 줄은 이후 챕터에서도 반복해서 쓰이는 원칙이라 반드시 기억하게 한다. 다음 장부터는 이 기준 위에서 인덱스를 실제로 어떻게 활용하고 언제 못 쓰게 되는지를 다룬다는 예고로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5번과 10번은 정답이 하나가 아니며 가정과 근거의 타당성으로 평가한다. 실습을 마친 뒤 인덱스를 반드시 삭제하고 통계를 재수집하라는 안내도 다시 강조한다. 정리하지 않으면 다음 챕터의 실행계획이 재현되지 않아 문제 자체가 성립하지 않기 때문이다. 채점 후에는 2번과 4번의 모범 답안을 함께 읽는 시간을 권한다.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ch06</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인덱스 설계</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B-Tree 인덱스 · 복합 인덱스 컬럼 순서 · 선두 컬럼 · RANGE SCAN vs FAST FULL SCAN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B-Tree 인덱스가 컬럼 값을 정렬해 저장하는 구조라는 점을 설명한다</a:t>
            </a:r>
          </a:p>
          <a:p>
            <a:r>
              <a:rPr sz="1600" b="0">
                <a:solidFill>
                  <a:srgbClr val="5A6672"/>
                </a:solidFill>
                <a:latin typeface="Malgun Gothic"/>
              </a:rPr>
              <a:t>    –  단일 컬럼 인덱스와 복합 인덱스의 차이를 구분한다</a:t>
            </a:r>
          </a:p>
          <a:p>
            <a:r>
              <a:rPr sz="1600" b="0">
                <a:solidFill>
                  <a:srgbClr val="5A6672"/>
                </a:solidFill>
                <a:latin typeface="Malgun Gothic"/>
              </a:rPr>
              <a:t>    –  복합 인덱스의 선두 컬럼이 무엇인지 정의하고 그 역할을 설명한다</a:t>
            </a:r>
          </a:p>
          <a:p>
            <a:r>
              <a:rPr sz="1600" b="0">
                <a:solidFill>
                  <a:srgbClr val="5A6672"/>
                </a:solidFill>
                <a:latin typeface="Malgun Gothic"/>
              </a:rPr>
              <a:t>    –  선두 컬럼이 조건에 포함될 때 INDEX RANGE SCAN이 가능한 이유를 설명한다</a:t>
            </a:r>
          </a:p>
          <a:p>
            <a:r>
              <a:rPr sz="1600" b="0">
                <a:solidFill>
                  <a:srgbClr val="5A6672"/>
                </a:solidFill>
                <a:latin typeface="Malgun Gothic"/>
              </a:rPr>
              <a:t>    –  후행 컬럼만 조건일 때 INDEX FAST FULL SCAN으로 전환되는 이유를 설명한다</a:t>
            </a:r>
          </a:p>
          <a:p>
            <a:r>
              <a:rPr sz="1600" b="0">
                <a:solidFill>
                  <a:srgbClr val="5A6672"/>
                </a:solidFill>
                <a:latin typeface="Malgun Gothic"/>
              </a:rPr>
              <a:t>    –  같은 두 컬럼이라도 순서에 따라 Buffers가 뒤바뀌는 실측 결과를 읽는다</a:t>
            </a:r>
          </a:p>
          <a:p>
            <a:r>
              <a:rPr sz="1600" b="0">
                <a:solidFill>
                  <a:srgbClr val="5A6672"/>
                </a:solidFill>
                <a:latin typeface="Malgun Gothic"/>
              </a:rPr>
              <a:t>    –  INDEX FAST FULL SCAN이 TABLE ACCESS FULL보다 저렴한 근거를 든다</a:t>
            </a:r>
          </a:p>
          <a:p>
            <a:r>
              <a:rPr sz="1600" b="0">
                <a:solidFill>
                  <a:srgbClr val="5A6672"/>
                </a:solidFill>
                <a:latin typeface="Malgun Gothic"/>
              </a:rPr>
              <a:t>    –  인덱스가 조회를 돕는 대신 DML 비용을 늘리는 트레이드오프를 설명한다</a:t>
            </a:r>
          </a:p>
          <a:p>
            <a:r>
              <a:rPr sz="1600" b="0">
                <a:solidFill>
                  <a:srgbClr val="5A6672"/>
                </a:solidFill>
                <a:latin typeface="Malgun Gothic"/>
              </a:rPr>
              <a:t>    –  조회 패턴을 근거로 복합 인덱스의 컬럼 순서를 결정하는 절차를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5.1  Why — ch05가 남긴 질문 · 잘못된 인덱스의 대가</a:t>
            </a:r>
          </a:p>
          <a:p>
            <a:r>
              <a:rPr sz="1800" b="0">
                <a:solidFill>
                  <a:srgbClr val="202830"/>
                </a:solidFill>
                <a:latin typeface="Malgun Gothic"/>
              </a:rPr>
              <a:t>•  5.2  Concept — B-Tree · 단일 컬럼 인덱스 · 복합 인덱스 · 선두 컬럼</a:t>
            </a:r>
          </a:p>
          <a:p>
            <a:r>
              <a:rPr sz="1800" b="0">
                <a:solidFill>
                  <a:srgbClr val="202830"/>
                </a:solidFill>
                <a:latin typeface="Malgun Gothic"/>
              </a:rPr>
              <a:t>•  5.3  Oracle Internals — 컬럼 순서가 중요한 이유 · 인덱스의 비용</a:t>
            </a:r>
          </a:p>
          <a:p>
            <a:r>
              <a:rPr sz="1800" b="0">
                <a:solidFill>
                  <a:srgbClr val="202830"/>
                </a:solidFill>
                <a:latin typeface="Malgun Gothic"/>
              </a:rPr>
              <a:t>•  5.4  Example — 인덱스 A (HOSP_ID, RECEIPT_DATE)와 세 가지 조건</a:t>
            </a:r>
          </a:p>
          <a:p>
            <a:r>
              <a:rPr sz="1800" b="0">
                <a:solidFill>
                  <a:srgbClr val="202830"/>
                </a:solidFill>
                <a:latin typeface="Malgun Gothic"/>
              </a:rPr>
              <a:t>•  5.5  Execution Plan — 인덱스 A 실측과 해석</a:t>
            </a:r>
          </a:p>
          <a:p>
            <a:r>
              <a:rPr sz="1800" b="0">
                <a:solidFill>
                  <a:srgbClr val="202830"/>
                </a:solidFill>
                <a:latin typeface="Malgun Gothic"/>
              </a:rPr>
              <a:t>•  5.6  Bad SQL — 컬럼 순서를 반대로 한 인덱스 B 실측</a:t>
            </a:r>
          </a:p>
          <a:p>
            <a:r>
              <a:rPr sz="1800" b="0">
                <a:solidFill>
                  <a:srgbClr val="202830"/>
                </a:solidFill>
                <a:latin typeface="Malgun Gothic"/>
              </a:rPr>
              <a:t>•  5.7  Tuning — 이번 스키마의 조회 패턴에 적용하기</a:t>
            </a:r>
          </a:p>
          <a:p>
            <a:r>
              <a:rPr sz="1800" b="0">
                <a:solidFill>
                  <a:srgbClr val="202830"/>
                </a:solidFill>
                <a:latin typeface="Malgun Gothic"/>
              </a:rPr>
              <a:t>•  5.8  Benchmark — 종합 비교표와 순서 결정 절차</a:t>
            </a:r>
          </a:p>
          <a:p>
            <a:r>
              <a:rPr sz="1800" b="0">
                <a:solidFill>
                  <a:srgbClr val="202830"/>
                </a:solidFill>
                <a:latin typeface="Malgun Gothic"/>
              </a:rPr>
              <a:t>•  5.9~5.10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 설계를 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ch05가 남긴 질문</a:t>
            </a:r>
          </a:p>
          <a:p>
            <a:r>
              <a:rPr sz="1600" b="0">
                <a:solidFill>
                  <a:srgbClr val="C5CED6"/>
                </a:solidFill>
                <a:latin typeface="Malgun Gothic"/>
              </a:rPr>
              <a:t>•  잘못 설계된 인덱스의 대가</a:t>
            </a:r>
          </a:p>
          <a:p>
            <a:r>
              <a:rPr sz="1600" b="0">
                <a:solidFill>
                  <a:srgbClr val="C5CED6"/>
                </a:solidFill>
                <a:latin typeface="Malgun Gothic"/>
              </a:rPr>
              <a:t>•  이번 차시의 목표와 진행 방식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ch05가 남긴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ch05에서 확인한 것 — 인덱스가 유리한 상황이 따로 있다</a:t>
            </a:r>
          </a:p>
          <a:p>
            <a:r>
              <a:rPr sz="1600" b="0">
                <a:solidFill>
                  <a:srgbClr val="5A6672"/>
                </a:solidFill>
                <a:latin typeface="Malgun Gothic"/>
              </a:rPr>
              <a:t>    –  선택도가 낮아 소수의 행만 걸러 내는 조건에서 인덱스가 효과적이었다</a:t>
            </a:r>
          </a:p>
          <a:p>
            <a:r>
              <a:rPr sz="1600" b="0">
                <a:solidFill>
                  <a:srgbClr val="5A6672"/>
                </a:solidFill>
                <a:latin typeface="Malgun Gothic"/>
              </a:rPr>
              <a:t>    –  반대로 넓은 범위를 읽어야 하면 통째로 읽는 편이 나을 수 있었다</a:t>
            </a:r>
          </a:p>
          <a:p>
            <a:r>
              <a:rPr sz="1800" b="0">
                <a:solidFill>
                  <a:srgbClr val="202830"/>
                </a:solidFill>
                <a:latin typeface="Malgun Gothic"/>
              </a:rPr>
              <a:t>•  그러나 아직 답하지 않은 질문이 남아 있다</a:t>
            </a:r>
          </a:p>
          <a:p>
            <a:r>
              <a:rPr sz="1600" b="0">
                <a:solidFill>
                  <a:srgbClr val="5A6672"/>
                </a:solidFill>
                <a:latin typeface="Malgun Gothic"/>
              </a:rPr>
              <a:t>    –  인덱스를 만들기로 했다면 어떤 컬럼을 고를 것인가</a:t>
            </a:r>
          </a:p>
          <a:p>
            <a:r>
              <a:rPr sz="1600" b="0">
                <a:solidFill>
                  <a:srgbClr val="5A6672"/>
                </a:solidFill>
                <a:latin typeface="Malgun Gothic"/>
              </a:rPr>
              <a:t>    –  여러 컬럼을 묶는다면 어떤 순서로 배치할 것인가</a:t>
            </a:r>
          </a:p>
          <a:p>
            <a:r>
              <a:rPr sz="1800" b="0">
                <a:solidFill>
                  <a:srgbClr val="202830"/>
                </a:solidFill>
                <a:latin typeface="Malgun Gothic"/>
              </a:rPr>
              <a:t>•  이번 차시의 목표는 그 순서가 실행계획에 미치는 영향을 실측으로 확인하는 것</a:t>
            </a:r>
          </a:p>
          <a:p>
            <a:r>
              <a:rPr sz="1600" b="0">
                <a:solidFill>
                  <a:srgbClr val="5A6672"/>
                </a:solidFill>
                <a:latin typeface="Malgun Gothic"/>
              </a:rPr>
              <a:t>    –  개념 설명이 아니라 같은 두 컬럼을 순서만 바꿔 만든 두 인덱스를 직접 비교한다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잘못 설계된 인덱스의 대가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잘못 설계된 인덱스는 있어도 안 쓰인다</a:t>
            </a:r>
          </a:p>
          <a:p>
            <a:r>
              <a:rPr sz="1600" b="0">
                <a:solidFill>
                  <a:srgbClr val="5A6672"/>
                </a:solidFill>
                <a:latin typeface="Malgun Gothic"/>
              </a:rPr>
              <a:t>    –  조회 조건이 선두 컬럼과 맞지 않으면 옵티마이저가 그 인덱스를 고르지 않거나</a:t>
            </a:r>
          </a:p>
          <a:p>
            <a:r>
              <a:rPr sz="1600" b="0">
                <a:solidFill>
                  <a:srgbClr val="5A6672"/>
                </a:solidFill>
                <a:latin typeface="Malgun Gothic"/>
              </a:rPr>
              <a:t>    –  고르더라도 전체를 훑는 값비싼 방식으로 처리하게 된다</a:t>
            </a:r>
          </a:p>
          <a:p>
            <a:r>
              <a:rPr sz="1800" b="0">
                <a:solidFill>
                  <a:srgbClr val="202830"/>
                </a:solidFill>
                <a:latin typeface="Malgun Gothic"/>
              </a:rPr>
              <a:t>•  쓰이지 않는 인덱스도 비용은 그대로 낸다</a:t>
            </a:r>
          </a:p>
          <a:p>
            <a:r>
              <a:rPr sz="1600" b="0">
                <a:solidFill>
                  <a:srgbClr val="5A6672"/>
                </a:solidFill>
                <a:latin typeface="Malgun Gothic"/>
              </a:rPr>
              <a:t>    –  저장 공간을 계속 차지하고, DML이 일어날 때마다 함께 갱신된다</a:t>
            </a:r>
          </a:p>
          <a:p>
            <a:r>
              <a:rPr sz="1600" b="0">
                <a:solidFill>
                  <a:srgbClr val="5A6672"/>
                </a:solidFill>
                <a:latin typeface="Malgun Gothic"/>
              </a:rPr>
              <a:t>    –  조회에는 도움을 못 주면서 입력·수정 성능만 갉아먹는 최악의 조합이 된다</a:t>
            </a:r>
          </a:p>
          <a:p>
            <a:r>
              <a:rPr sz="1800" b="0">
                <a:solidFill>
                  <a:srgbClr val="202830"/>
                </a:solidFill>
                <a:latin typeface="Malgun Gothic"/>
              </a:rPr>
              <a:t>•  그래서 인덱스 설계는 '만들까 말까'가 아니라 '어떻게 만들까'의 문제다</a:t>
            </a:r>
          </a:p>
          <a:p>
            <a:r>
              <a:rPr sz="1600" b="0">
                <a:solidFill>
                  <a:srgbClr val="5A6672"/>
                </a:solidFill>
                <a:latin typeface="Malgun Gothic"/>
              </a:rPr>
              <a:t>    –  개수를 늘려 해결하기 전에 컬럼과 순서를 먼저 맞추는 것이 순서다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차시의 진행 방식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소재 — MEDICAL_CLAIMS의 두 컬럼으로 인덱스를 만들어 비교한다</a:t>
            </a:r>
          </a:p>
          <a:p>
            <a:r>
              <a:rPr sz="1600" b="0">
                <a:solidFill>
                  <a:srgbClr val="5A6672"/>
                </a:solidFill>
                <a:latin typeface="Malgun Gothic"/>
              </a:rPr>
              <a:t>    –  인덱스 A : (HOSP_ID, RECEIPT_DATE) 순서</a:t>
            </a:r>
          </a:p>
          <a:p>
            <a:r>
              <a:rPr sz="1600" b="0">
                <a:solidFill>
                  <a:srgbClr val="5A6672"/>
                </a:solidFill>
                <a:latin typeface="Malgun Gothic"/>
              </a:rPr>
              <a:t>    –  인덱스 B : (RECEIPT_DATE, HOSP_ID) — 컬럼 순서만 반대로 한 것</a:t>
            </a:r>
          </a:p>
          <a:p>
            <a:r>
              <a:rPr sz="1800" b="0">
                <a:solidFill>
                  <a:srgbClr val="202830"/>
                </a:solidFill>
                <a:latin typeface="Malgun Gothic"/>
              </a:rPr>
              <a:t>•  동일한 세 가지 조회 조건을 두 인덱스에서 각각 실행해 실행계획을 비교한다</a:t>
            </a:r>
          </a:p>
          <a:p>
            <a:r>
              <a:rPr sz="1600" b="0">
                <a:solidFill>
                  <a:srgbClr val="5A6672"/>
                </a:solidFill>
                <a:latin typeface="Malgun Gothic"/>
              </a:rPr>
              <a:t>    –  두 컬럼을 모두 조건으로 거는 경우</a:t>
            </a:r>
          </a:p>
          <a:p>
            <a:r>
              <a:rPr sz="1600" b="0">
                <a:solidFill>
                  <a:srgbClr val="5A6672"/>
                </a:solidFill>
                <a:latin typeface="Malgun Gothic"/>
              </a:rPr>
              <a:t>    –  앞쪽 컬럼 하나만 조건으로 거는 경우</a:t>
            </a:r>
          </a:p>
          <a:p>
            <a:r>
              <a:rPr sz="1600" b="0">
                <a:solidFill>
                  <a:srgbClr val="5A6672"/>
                </a:solidFill>
                <a:latin typeface="Malgun Gothic"/>
              </a:rPr>
              <a:t>    –  뒤쪽 컬럼 하나만 조건으로 거는 경우</a:t>
            </a:r>
          </a:p>
          <a:p>
            <a:r>
              <a:rPr sz="1800" b="0">
                <a:solidFill>
                  <a:srgbClr val="202830"/>
                </a:solidFill>
                <a:latin typeface="Malgun Gothic"/>
              </a:rPr>
              <a:t>•  본 차시는 실습용 인덱스를 생성·삭제한다 (IX_CH05_ 접두어)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인덱스의 기본 구조와 용어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B-Tree 인덱스란</a:t>
            </a:r>
          </a:p>
          <a:p>
            <a:r>
              <a:rPr sz="1600" b="0">
                <a:solidFill>
                  <a:srgbClr val="C5CED6"/>
                </a:solidFill>
                <a:latin typeface="Malgun Gothic"/>
              </a:rPr>
              <a:t>•  단일 컬럼 인덱스와 복합 인덱스</a:t>
            </a:r>
          </a:p>
          <a:p>
            <a:r>
              <a:rPr sz="1600" b="0">
                <a:solidFill>
                  <a:srgbClr val="C5CED6"/>
                </a:solidFill>
                <a:latin typeface="Malgun Gothic"/>
              </a:rPr>
              <a:t>•  선두 컬럼의 정의</a:t>
            </a:r>
          </a:p>
          <a:p>
            <a:r>
              <a:rPr sz="1600" b="0">
                <a:solidFill>
                  <a:srgbClr val="C5CED6"/>
                </a:solidFill>
                <a:latin typeface="Malgun Gothic"/>
              </a:rPr>
              <a:t>•  정렬 구조 개념도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B-Tree 인덱스란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컬럼 값을 정렬된 트리 구조로 저장하는 인덱스</a:t>
            </a:r>
          </a:p>
          <a:p>
            <a:r>
              <a:rPr sz="1600" b="0">
                <a:solidFill>
                  <a:srgbClr val="5A6672"/>
                </a:solidFill>
                <a:latin typeface="Malgun Gothic"/>
              </a:rPr>
              <a:t>    –  덕분에 특정 값이나 특정 범위를 빠르게 찾아갈 수 있다</a:t>
            </a:r>
          </a:p>
          <a:p>
            <a:r>
              <a:rPr sz="1600" b="0">
                <a:solidFill>
                  <a:srgbClr val="5A6672"/>
                </a:solidFill>
                <a:latin typeface="Malgun Gothic"/>
              </a:rPr>
              <a:t>    –  Oracle에서 별도 지정 없이 CREATE INDEX를 하면 만들어지는 기본 형태다</a:t>
            </a:r>
          </a:p>
          <a:p>
            <a:r>
              <a:rPr sz="1800" b="0">
                <a:solidFill>
                  <a:srgbClr val="202830"/>
                </a:solidFill>
                <a:latin typeface="Malgun Gothic"/>
              </a:rPr>
              <a:t>•  핵심 성질은 '정렬되어 있다'는 것</a:t>
            </a:r>
          </a:p>
          <a:p>
            <a:r>
              <a:rPr sz="1600" b="0">
                <a:solidFill>
                  <a:srgbClr val="5A6672"/>
                </a:solidFill>
                <a:latin typeface="Malgun Gothic"/>
              </a:rPr>
              <a:t>    –  정렬되어 있으므로 찾는 값이 어디쯤 있는지 바로 짚어 갈 수 있다</a:t>
            </a:r>
          </a:p>
          <a:p>
            <a:r>
              <a:rPr sz="1600" b="0">
                <a:solidFill>
                  <a:srgbClr val="5A6672"/>
                </a:solidFill>
                <a:latin typeface="Malgun Gothic"/>
              </a:rPr>
              <a:t>    –  정렬 기준과 맞지 않는 조건이면 이 장점을 쓸 수 없다 — 5.3절의 주제</a:t>
            </a:r>
          </a:p>
          <a:p>
            <a:r>
              <a:rPr sz="1800" b="0">
                <a:solidFill>
                  <a:srgbClr val="202830"/>
                </a:solidFill>
                <a:latin typeface="Malgun Gothic"/>
              </a:rPr>
              <a:t>•  인덱스는 컬럼 값과 행의 위치(ROWID)만 담는다</a:t>
            </a:r>
          </a:p>
          <a:p>
            <a:r>
              <a:rPr sz="1600" b="0">
                <a:solidFill>
                  <a:srgbClr val="5A6672"/>
                </a:solidFill>
                <a:latin typeface="Malgun Gothic"/>
              </a:rPr>
              <a:t>    –  테이블처럼 모든 컬럼을 담지 않으므로 구조물 자체가 테이블보다 작다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단일 컬럼 인덱스와 복합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단일 컬럼 인덱스 — 컬럼 하나만으로 구성한 인덱스</a:t>
            </a:r>
          </a:p>
          <a:p>
            <a:r>
              <a:rPr sz="1600" b="0">
                <a:solidFill>
                  <a:srgbClr val="5A6672"/>
                </a:solidFill>
                <a:latin typeface="Malgun Gothic"/>
              </a:rPr>
              <a:t>    –  그 컬럼을 조건으로 쓰는 조회에만 대응한다</a:t>
            </a:r>
          </a:p>
          <a:p>
            <a:r>
              <a:rPr sz="1800" b="0">
                <a:solidFill>
                  <a:srgbClr val="202830"/>
                </a:solidFill>
                <a:latin typeface="Malgun Gothic"/>
              </a:rPr>
              <a:t>•  복합 인덱스 — 여러 컬럼을 정해진 순서로 묶어 하나로 구성한 인덱스</a:t>
            </a:r>
          </a:p>
          <a:p>
            <a:r>
              <a:rPr sz="1600" b="0">
                <a:solidFill>
                  <a:srgbClr val="5A6672"/>
                </a:solidFill>
                <a:latin typeface="Malgun Gothic"/>
              </a:rPr>
              <a:t>    –  묶는 순서가 인덱스의 성격을 결정한다</a:t>
            </a:r>
          </a:p>
          <a:p>
            <a:r>
              <a:rPr sz="1600" b="0">
                <a:solidFill>
                  <a:srgbClr val="5A6672"/>
                </a:solidFill>
                <a:latin typeface="Malgun Gothic"/>
              </a:rPr>
              <a:t>    –  (HOSP_ID, RECEIPT_DATE)와 (RECEIPT_DATE, HOSP_ID)는 서로 다른 인덱스다</a:t>
            </a:r>
          </a:p>
          <a:p>
            <a:r>
              <a:rPr sz="1800" b="0">
                <a:solidFill>
                  <a:srgbClr val="202830"/>
                </a:solidFill>
                <a:latin typeface="Malgun Gothic"/>
              </a:rPr>
              <a:t>•  같은 컬럼 집합이라도 순서가 다르면 대응하는 조회 패턴이 달라진다</a:t>
            </a:r>
          </a:p>
          <a:p>
            <a:r>
              <a:rPr sz="1600" b="0">
                <a:solidFill>
                  <a:srgbClr val="5A6672"/>
                </a:solidFill>
                <a:latin typeface="Malgun Gothic"/>
              </a:rPr>
              <a:t>    –  이것이 이 장에서 실측으로 확인할 핵심 명제다</a:t>
            </a:r>
          </a:p>
          <a:p>
            <a:r>
              <a:rPr sz="1600" b="0">
                <a:solidFill>
                  <a:srgbClr val="5A6672"/>
                </a:solidFill>
                <a:latin typeface="Malgun Gothic"/>
              </a:rPr>
              <a:t>    –  컬럼을 무엇으로 고를지보다 어떤 순서로 둘지가 더 자주 실수가 나는 지점이다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 (Leading Column)</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복합 인덱스에서 맨 앞에 오는 컬럼</a:t>
            </a:r>
          </a:p>
          <a:p>
            <a:r>
              <a:rPr sz="1600" b="0">
                <a:solidFill>
                  <a:srgbClr val="5A6672"/>
                </a:solidFill>
                <a:latin typeface="Malgun Gothic"/>
              </a:rPr>
              <a:t>    –  인덱스가 정렬되는 1차 기준이 되는 컬럼이다</a:t>
            </a:r>
          </a:p>
          <a:p>
            <a:r>
              <a:rPr sz="1600" b="0">
                <a:solidFill>
                  <a:srgbClr val="5A6672"/>
                </a:solidFill>
                <a:latin typeface="Malgun Gothic"/>
              </a:rPr>
              <a:t>    –  (HOSP_ID, RECEIPT_DATE)의 선두 컬럼은 HOSP_ID다</a:t>
            </a:r>
          </a:p>
          <a:p>
            <a:r>
              <a:rPr sz="1800" b="0">
                <a:solidFill>
                  <a:srgbClr val="202830"/>
                </a:solidFill>
                <a:latin typeface="Malgun Gothic"/>
              </a:rPr>
              <a:t>•  선두 컬럼은 컬럼 이름에 붙는 고정 속성이 아니다</a:t>
            </a:r>
          </a:p>
          <a:p>
            <a:r>
              <a:rPr sz="1600" b="0">
                <a:solidFill>
                  <a:srgbClr val="5A6672"/>
                </a:solidFill>
                <a:latin typeface="Malgun Gothic"/>
              </a:rPr>
              <a:t>    –  인덱스 정의에서 몇 번째에 오는가로 결정된다</a:t>
            </a:r>
          </a:p>
          <a:p>
            <a:r>
              <a:rPr sz="1600" b="0">
                <a:solidFill>
                  <a:srgbClr val="5A6672"/>
                </a:solidFill>
                <a:latin typeface="Malgun Gothic"/>
              </a:rPr>
              <a:t>    –  순서를 바꾸면 같은 컬럼이 선두가 되기도 하고 후행이 되기도 한다</a:t>
            </a:r>
          </a:p>
          <a:p>
            <a:r>
              <a:rPr sz="1800" b="0">
                <a:solidFill>
                  <a:srgbClr val="202830"/>
                </a:solidFill>
                <a:latin typeface="Malgun Gothic"/>
              </a:rPr>
              <a:t>•  선두 컬럼이 아닌 나머지 컬럼을 이 장에서는 후행 컬럼이라 부른다</a:t>
            </a:r>
          </a:p>
          <a:p>
            <a:r>
              <a:rPr sz="1600" b="0">
                <a:solidFill>
                  <a:srgbClr val="5A6672"/>
                </a:solidFill>
                <a:latin typeface="Malgun Gothic"/>
              </a:rPr>
              <a:t>    –  후행 컬럼은 같은 선두 컬럼 값 안에서만 정렬되어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복합 인덱스의 정렬 구조 — 개념도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선두 컬럼이 먼저 정렬되고, 후행 컬럼은 같은 선두 값 안에서만 정렬된다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복합 인덱스 (선두 컬럼, 후행 컬럼) 이 저장되는 순서</a:t>
            </a:r>
          </a:p>
          <a:p>
            <a:r>
              <a:rPr sz="1250" b="0">
                <a:solidFill>
                  <a:srgbClr val="E6E6E6"/>
                </a:solidFill>
                <a:latin typeface="Consolas"/>
              </a:rPr>
              <a:t> </a:t>
            </a:r>
          </a:p>
          <a:p>
            <a:r>
              <a:rPr sz="1250" b="0">
                <a:solidFill>
                  <a:srgbClr val="E6E6E6"/>
                </a:solidFill>
                <a:latin typeface="Consolas"/>
              </a:rPr>
              <a:t>   [ 선두 컬럼 = A ]  -&gt;  그 구간 안에서 후행 컬럼 오름차순</a:t>
            </a:r>
          </a:p>
          <a:p>
            <a:r>
              <a:rPr sz="1250" b="0">
                <a:solidFill>
                  <a:srgbClr val="E6E6E6"/>
                </a:solidFill>
                <a:latin typeface="Consolas"/>
              </a:rPr>
              <a:t>   [ 선두 컬럼 = B ]  -&gt;  그 구간 안에서 후행 컬럼 오름차순</a:t>
            </a:r>
          </a:p>
          <a:p>
            <a:r>
              <a:rPr sz="1250" b="0">
                <a:solidFill>
                  <a:srgbClr val="E6E6E6"/>
                </a:solidFill>
                <a:latin typeface="Consolas"/>
              </a:rPr>
              <a:t>   [ 선두 컬럼 = C ]  -&gt;  그 구간 안에서 후행 컬럼 오름차순</a:t>
            </a:r>
          </a:p>
          <a:p>
            <a:r>
              <a:rPr sz="1250" b="0">
                <a:solidFill>
                  <a:srgbClr val="E6E6E6"/>
                </a:solidFill>
                <a:latin typeface="Consolas"/>
              </a:rPr>
              <a:t> </a:t>
            </a:r>
          </a:p>
          <a:p>
            <a:r>
              <a:rPr sz="1250" b="0">
                <a:solidFill>
                  <a:srgbClr val="7EC699"/>
                </a:solidFill>
                <a:latin typeface="Consolas"/>
              </a:rPr>
              <a:t>-- 선두 컬럼이 조건에 있으면</a:t>
            </a:r>
          </a:p>
          <a:p>
            <a:r>
              <a:rPr sz="1250" b="0">
                <a:solidFill>
                  <a:srgbClr val="7EC699"/>
                </a:solidFill>
                <a:latin typeface="Consolas"/>
              </a:rPr>
              <a:t>--    [B] 구간의 시작 위치로 바로 점프할 수 있다   -&gt;  INDEX RANGE SCAN</a:t>
            </a:r>
          </a:p>
          <a:p>
            <a:r>
              <a:rPr sz="1250" b="0">
                <a:solidFill>
                  <a:srgbClr val="E6E6E6"/>
                </a:solidFill>
                <a:latin typeface="Consolas"/>
              </a:rPr>
              <a:t> </a:t>
            </a:r>
          </a:p>
          <a:p>
            <a:r>
              <a:rPr sz="1250" b="0">
                <a:solidFill>
                  <a:srgbClr val="7EC699"/>
                </a:solidFill>
                <a:latin typeface="Consolas"/>
              </a:rPr>
              <a:t>-- 후행 컬럼만 조건에 있으면</a:t>
            </a:r>
          </a:p>
          <a:p>
            <a:r>
              <a:rPr sz="1250" b="0">
                <a:solidFill>
                  <a:srgbClr val="7EC699"/>
                </a:solidFill>
                <a:latin typeface="Consolas"/>
              </a:rPr>
              <a:t>--    찾는 값이 A / B / C 구간에 흩어져 있다</a:t>
            </a:r>
          </a:p>
          <a:p>
            <a:r>
              <a:rPr sz="1250" b="0">
                <a:solidFill>
                  <a:srgbClr val="7EC699"/>
                </a:solidFill>
                <a:latin typeface="Consolas"/>
              </a:rPr>
              <a:t>--    시작 위치를 짚을 수 없어 인덱스 전체를 훑어야 한다</a:t>
            </a:r>
          </a:p>
          <a:p>
            <a:r>
              <a:rPr sz="1250" b="0">
                <a:solidFill>
                  <a:srgbClr val="E6E6E6"/>
                </a:solidFill>
                <a:latin typeface="Consolas"/>
              </a:rPr>
              <a:t> </a:t>
            </a:r>
          </a:p>
          <a:p>
            <a:r>
              <a:rPr sz="1250" b="0">
                <a:solidFill>
                  <a:srgbClr val="7EC699"/>
                </a:solidFill>
                <a:latin typeface="Consolas"/>
              </a:rPr>
              <a:t>-- 전화번호부 비유</a:t>
            </a:r>
          </a:p>
          <a:p>
            <a:r>
              <a:rPr sz="1250" b="0">
                <a:solidFill>
                  <a:srgbClr val="7EC699"/>
                </a:solidFill>
                <a:latin typeface="Consolas"/>
              </a:rPr>
              <a:t>--    성   = 선두 컬럼  -&gt;  성을 알면 해당 페이지로 바로 넘긴다</a:t>
            </a:r>
          </a:p>
          <a:p>
            <a:r>
              <a:rPr sz="1250" b="0">
                <a:solidFill>
                  <a:srgbClr val="7EC699"/>
                </a:solidFill>
                <a:latin typeface="Consolas"/>
              </a:rPr>
              <a:t>--    이름 = 후행 컬럼  -&gt;  이름만 알면 첫 장부터 넘겨야 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 순서가 중요한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복합 인덱스의 정렬 규칙</a:t>
            </a:r>
          </a:p>
          <a:p>
            <a:r>
              <a:rPr sz="1600" b="0">
                <a:solidFill>
                  <a:srgbClr val="C5CED6"/>
                </a:solidFill>
                <a:latin typeface="Malgun Gothic"/>
              </a:rPr>
              <a:t>•  선두 컬럼이 조건에 있을 때</a:t>
            </a:r>
          </a:p>
          <a:p>
            <a:r>
              <a:rPr sz="1600" b="0">
                <a:solidFill>
                  <a:srgbClr val="C5CED6"/>
                </a:solidFill>
                <a:latin typeface="Malgun Gothic"/>
              </a:rPr>
              <a:t>•  선두 컬럼이 빠졌을 때</a:t>
            </a:r>
          </a:p>
          <a:p>
            <a:r>
              <a:rPr sz="1600" b="0">
                <a:solidFill>
                  <a:srgbClr val="C5CED6"/>
                </a:solidFill>
                <a:latin typeface="Malgun Gothic"/>
              </a:rPr>
              <a:t>•  인덱스의 장점과 비용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복합 인덱스의 정렬 규칙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선두 컬럼 값을 기준으로 먼저 정렬된다</a:t>
            </a:r>
          </a:p>
          <a:p>
            <a:r>
              <a:rPr sz="1600" b="0">
                <a:solidFill>
                  <a:srgbClr val="5A6672"/>
                </a:solidFill>
                <a:latin typeface="Malgun Gothic"/>
              </a:rPr>
              <a:t>    –  인덱스 전체가 선두 컬럼 값의 오름차순으로 늘어서 있다</a:t>
            </a:r>
          </a:p>
          <a:p>
            <a:r>
              <a:rPr sz="1800" b="0">
                <a:solidFill>
                  <a:srgbClr val="202830"/>
                </a:solidFill>
                <a:latin typeface="Malgun Gothic"/>
              </a:rPr>
              <a:t>•  그 안에서 두 번째 컬럼 값이 정렬된다</a:t>
            </a:r>
          </a:p>
          <a:p>
            <a:r>
              <a:rPr sz="1600" b="0">
                <a:solidFill>
                  <a:srgbClr val="5A6672"/>
                </a:solidFill>
                <a:latin typeface="Malgun Gothic"/>
              </a:rPr>
              <a:t>    –  같은 선두 컬럼 값을 가진 구간 내부에서만 후행 컬럼이 정렬되어 있다</a:t>
            </a:r>
          </a:p>
          <a:p>
            <a:r>
              <a:rPr sz="1600" b="0">
                <a:solidFill>
                  <a:srgbClr val="5A6672"/>
                </a:solidFill>
                <a:latin typeface="Malgun Gothic"/>
              </a:rPr>
              <a:t>    –  구간이 달라지면 후행 컬럼의 정렬은 다시 처음부터 시작한다</a:t>
            </a:r>
          </a:p>
          <a:p>
            <a:r>
              <a:rPr sz="1800" b="0">
                <a:solidFill>
                  <a:srgbClr val="202830"/>
                </a:solidFill>
                <a:latin typeface="Malgun Gothic"/>
              </a:rPr>
              <a:t>•  전화번호부와 같은 구조</a:t>
            </a:r>
          </a:p>
          <a:p>
            <a:r>
              <a:rPr sz="1600" b="0">
                <a:solidFill>
                  <a:srgbClr val="5A6672"/>
                </a:solidFill>
                <a:latin typeface="Malgun Gothic"/>
              </a:rPr>
              <a:t>    –  '성'으로 먼저 정렬되고 그 안에서 '이름'으로 정렬되는 것과 동일하다</a:t>
            </a:r>
          </a:p>
          <a:p>
            <a:r>
              <a:rPr sz="1600" b="0">
                <a:solidFill>
                  <a:srgbClr val="5A6672"/>
                </a:solidFill>
                <a:latin typeface="Malgun Gothic"/>
              </a:rPr>
              <a:t>    –  따라서 후행 컬럼 값 하나는 인덱스 여러 구간에 흩어져 존재한다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컬럼이 조건에 있을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조건에 선두 컬럼이 포함되어 있으면</a:t>
            </a:r>
          </a:p>
          <a:p>
            <a:r>
              <a:rPr sz="1600" b="0">
                <a:solidFill>
                  <a:srgbClr val="5A6672"/>
                </a:solidFill>
                <a:latin typeface="Malgun Gothic"/>
              </a:rPr>
              <a:t>    –  인덱스에서 해당 값(또는 범위)의 시작 위치와 끝 위치를 바로 찾아갈 수 있다</a:t>
            </a:r>
          </a:p>
          <a:p>
            <a:r>
              <a:rPr sz="1600" b="0">
                <a:solidFill>
                  <a:srgbClr val="5A6672"/>
                </a:solidFill>
                <a:latin typeface="Malgun Gothic"/>
              </a:rPr>
              <a:t>    –  그 구간만 순서대로 읽으면 되므로 읽는 양이 결과 건수에 비례한다</a:t>
            </a:r>
          </a:p>
          <a:p>
            <a:r>
              <a:rPr sz="1800" b="0">
                <a:solidFill>
                  <a:srgbClr val="202830"/>
                </a:solidFill>
                <a:latin typeface="Malgun Gothic"/>
              </a:rPr>
              <a:t>•  실행계획에는 INDEX RANGE SCAN으로 나타난다</a:t>
            </a:r>
          </a:p>
          <a:p>
            <a:r>
              <a:rPr sz="1600" b="0">
                <a:solidFill>
                  <a:srgbClr val="5A6672"/>
                </a:solidFill>
                <a:latin typeface="Malgun Gothic"/>
              </a:rPr>
              <a:t>    –  Range, 즉 정렬된 구간 하나를 훑는다는 뜻의 이름이다</a:t>
            </a:r>
          </a:p>
          <a:p>
            <a:r>
              <a:rPr sz="1800" b="0">
                <a:solidFill>
                  <a:srgbClr val="202830"/>
                </a:solidFill>
                <a:latin typeface="Malgun Gothic"/>
              </a:rPr>
              <a:t>•  선두 컬럼과 후행 컬럼을 함께 조건으로 걸면 범위가 더 좁아진다</a:t>
            </a:r>
          </a:p>
          <a:p>
            <a:r>
              <a:rPr sz="1600" b="0">
                <a:solidFill>
                  <a:srgbClr val="5A6672"/>
                </a:solidFill>
                <a:latin typeface="Malgun Gothic"/>
              </a:rPr>
              <a:t>    –  선두 컬럼으로 구간을 잡고 그 안에서 후행 컬럼 조건까지 인덱스에서 적용한다</a:t>
            </a:r>
          </a:p>
          <a:p>
            <a:r>
              <a:rPr sz="1600" b="0">
                <a:solidFill>
                  <a:srgbClr val="5A6672"/>
                </a:solidFill>
                <a:latin typeface="Malgun Gothic"/>
              </a:rPr>
              <a:t>    –  이 경우가 복합 인덱스를 가장 온전히 활용하는 형태다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컬럼이 빠졌을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조건에 선두 컬럼이 없고 후행 컬럼만 있으면</a:t>
            </a:r>
          </a:p>
          <a:p>
            <a:r>
              <a:rPr sz="1600" b="0">
                <a:solidFill>
                  <a:srgbClr val="5A6672"/>
                </a:solidFill>
                <a:latin typeface="Malgun Gothic"/>
              </a:rPr>
              <a:t>    –  인덱스가 그 컬럼 기준으로는 정렬되어 있지 않다</a:t>
            </a:r>
          </a:p>
          <a:p>
            <a:r>
              <a:rPr sz="1600" b="0">
                <a:solidFill>
                  <a:srgbClr val="5A6672"/>
                </a:solidFill>
                <a:latin typeface="Malgun Gothic"/>
              </a:rPr>
              <a:t>    –  따라서 시작 위치를 바로 찾아갈 수 없고 구간을 잡을 수 없다</a:t>
            </a:r>
          </a:p>
          <a:p>
            <a:r>
              <a:rPr sz="1800" b="0">
                <a:solidFill>
                  <a:srgbClr val="202830"/>
                </a:solidFill>
                <a:latin typeface="Malgun Gothic"/>
              </a:rPr>
              <a:t>•  옵티마이저가 선택할 수 있는 대안은 두 가지다</a:t>
            </a:r>
          </a:p>
          <a:p>
            <a:r>
              <a:rPr sz="1600" b="0">
                <a:solidFill>
                  <a:srgbClr val="5A6672"/>
                </a:solidFill>
                <a:latin typeface="Malgun Gothic"/>
              </a:rPr>
              <a:t>    –  인덱스 전체를 순서 없이 다 훑는 INDEX FAST FULL SCAN — 인덱스가 작을 때</a:t>
            </a:r>
          </a:p>
          <a:p>
            <a:r>
              <a:rPr sz="1600" b="0">
                <a:solidFill>
                  <a:srgbClr val="5A6672"/>
                </a:solidFill>
                <a:latin typeface="Malgun Gothic"/>
              </a:rPr>
              <a:t>    –  아예 그 인덱스를 쓰지 않고 다른 접근 경로를 고르는 것</a:t>
            </a:r>
          </a:p>
          <a:p>
            <a:r>
              <a:rPr sz="1800" b="0">
                <a:solidFill>
                  <a:srgbClr val="202830"/>
                </a:solidFill>
                <a:latin typeface="Malgun Gothic"/>
              </a:rPr>
              <a:t>•  어느 쪽이든 '인덱스를 만들었으니 빠를 것'이라는 기대는 성립하지 않는다</a:t>
            </a:r>
          </a:p>
          <a:p>
            <a:r>
              <a:rPr sz="1600" b="0">
                <a:solidFill>
                  <a:srgbClr val="5A6672"/>
                </a:solidFill>
                <a:latin typeface="Malgun Gothic"/>
              </a:rPr>
              <a:t>    –  인덱스는 존재만으로 성능을 보장하지 않는다 — 조건과 순서가 맞아야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인덱스의 장점과 비용</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장점 — 조건에 맞는 소수의 행을 빠르게 찾아낸다</a:t>
            </a:r>
          </a:p>
          <a:p>
            <a:r>
              <a:rPr sz="1600" b="0">
                <a:solidFill>
                  <a:srgbClr val="5A6672"/>
                </a:solidFill>
                <a:latin typeface="Malgun Gothic"/>
              </a:rPr>
              <a:t>    –  선택도가 낮을 때 효과적이라는 점은 ch05에서 확인했다</a:t>
            </a:r>
          </a:p>
          <a:p>
            <a:r>
              <a:rPr sz="1800" b="0">
                <a:solidFill>
                  <a:srgbClr val="202830"/>
                </a:solidFill>
                <a:latin typeface="Malgun Gothic"/>
              </a:rPr>
              <a:t>•  비용 ① 저장 공간</a:t>
            </a:r>
          </a:p>
          <a:p>
            <a:r>
              <a:rPr sz="1600" b="0">
                <a:solidFill>
                  <a:srgbClr val="5A6672"/>
                </a:solidFill>
                <a:latin typeface="Malgun Gothic"/>
              </a:rPr>
              <a:t>    –  인덱스는 별도의 구조물이므로 디스크 공간을 추가로 차지한다</a:t>
            </a:r>
          </a:p>
          <a:p>
            <a:r>
              <a:rPr sz="1800" b="0">
                <a:solidFill>
                  <a:srgbClr val="202830"/>
                </a:solidFill>
                <a:latin typeface="Malgun Gothic"/>
              </a:rPr>
              <a:t>•  비용 ② DML 부담</a:t>
            </a:r>
          </a:p>
          <a:p>
            <a:r>
              <a:rPr sz="1600" b="0">
                <a:solidFill>
                  <a:srgbClr val="5A6672"/>
                </a:solidFill>
                <a:latin typeface="Malgun Gothic"/>
              </a:rPr>
              <a:t>    –  원본 테이블에 INSERT·UPDATE·DELETE가 일어날 때마다 인덱스도 함께 갱신된다</a:t>
            </a:r>
          </a:p>
          <a:p>
            <a:r>
              <a:rPr sz="1600" b="0">
                <a:solidFill>
                  <a:srgbClr val="5A6672"/>
                </a:solidFill>
                <a:latin typeface="Malgun Gothic"/>
              </a:rPr>
              <a:t>    –  조회를 위해 만든 구조물이 입력·수정 경로에 작업을 하나 더 얹는 셈이다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차시에서 DML 비용은 실측하지 않고 원리로만 다룬다 — 교안 03절 기준.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인덱스를 너무 많이 만들면</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테이블 하나에 인덱스가 여러 개면</a:t>
            </a:r>
          </a:p>
          <a:p>
            <a:r>
              <a:rPr sz="1600" b="0">
                <a:solidFill>
                  <a:srgbClr val="5A6672"/>
                </a:solidFill>
                <a:latin typeface="Malgun Gothic"/>
              </a:rPr>
              <a:t>    –  DML 한 번에 그 인덱스 개수만큼 추가 갱신이 발생한다</a:t>
            </a:r>
          </a:p>
          <a:p>
            <a:r>
              <a:rPr sz="1600" b="0">
                <a:solidFill>
                  <a:srgbClr val="5A6672"/>
                </a:solidFill>
                <a:latin typeface="Malgun Gothic"/>
              </a:rPr>
              <a:t>    –  인덱스를 늘릴수록 입력·수정 경로가 그만큼 무거워진다</a:t>
            </a:r>
          </a:p>
          <a:p>
            <a:r>
              <a:rPr sz="1800" b="0">
                <a:solidFill>
                  <a:srgbClr val="202830"/>
                </a:solidFill>
                <a:latin typeface="Malgun Gothic"/>
              </a:rPr>
              <a:t>•  조회 성능과 입력·수정 성능은 트레이드오프 관계에 있다</a:t>
            </a:r>
          </a:p>
          <a:p>
            <a:r>
              <a:rPr sz="1600" b="0">
                <a:solidFill>
                  <a:srgbClr val="5A6672"/>
                </a:solidFill>
                <a:latin typeface="Malgun Gothic"/>
              </a:rPr>
              <a:t>    –  조회를 위해 만든 인덱스가 입력·수정 성능을 갉아먹는 구조다</a:t>
            </a:r>
          </a:p>
          <a:p>
            <a:r>
              <a:rPr sz="1600" b="0">
                <a:solidFill>
                  <a:srgbClr val="5A6672"/>
                </a:solidFill>
                <a:latin typeface="Malgun Gothic"/>
              </a:rPr>
              <a:t>    –  어느 쪽을 얼마나 양보할지는 시스템의 성격에 따라 달라진다</a:t>
            </a:r>
          </a:p>
          <a:p>
            <a:r>
              <a:rPr sz="1800" b="0">
                <a:solidFill>
                  <a:srgbClr val="202830"/>
                </a:solidFill>
                <a:latin typeface="Malgun Gothic"/>
              </a:rPr>
              <a:t>•  그래서 '순서를 못 정하겠으면 두 개 만들면 된다'는 손쉬운 결론을 경계한다</a:t>
            </a:r>
          </a:p>
          <a:p>
            <a:r>
              <a:rPr sz="1600" b="0">
                <a:solidFill>
                  <a:srgbClr val="5A6672"/>
                </a:solidFill>
                <a:latin typeface="Malgun Gothic"/>
              </a:rPr>
              <a:t>    –  개수를 늘리기 전에 컬럼 순서로 해결되는지를 먼저 따져야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인덱스 개수를 늘리는 결정은 이 테이블의 DML 빈도와 시점을 확인한 뒤에 내린다.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실습 소재와 세 가지 테스트 조건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 설계 — 무엇을 고정하고 무엇을 바꾸는가</a:t>
            </a:r>
          </a:p>
          <a:p>
            <a:r>
              <a:rPr sz="1600" b="0">
                <a:solidFill>
                  <a:srgbClr val="C5CED6"/>
                </a:solidFill>
                <a:latin typeface="Malgun Gothic"/>
              </a:rPr>
              <a:t>•  인덱스 A 생성과 세 조건 SQL</a:t>
            </a:r>
          </a:p>
          <a:p>
            <a:r>
              <a:rPr sz="1600" b="0">
                <a:solidFill>
                  <a:srgbClr val="C5CED6"/>
                </a:solidFill>
                <a:latin typeface="Malgun Gothic"/>
              </a:rPr>
              <a:t>•  세 조건이 각각 검증하는 것</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설계 — 무엇을 고정하고 무엇을 바꾸는가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대상 테이블 — MEDICAL_CLAIMS</a:t>
            </a:r>
          </a:p>
          <a:p>
            <a:r>
              <a:rPr sz="1600" b="0">
                <a:solidFill>
                  <a:srgbClr val="5A6672"/>
                </a:solidFill>
                <a:latin typeface="Malgun Gothic"/>
              </a:rPr>
              <a:t>    –  실무 조회에서 병원과 접수일자가 함께 쓰이는 대표적인 조합이다</a:t>
            </a:r>
          </a:p>
          <a:p>
            <a:r>
              <a:rPr sz="1800" b="0">
                <a:solidFill>
                  <a:srgbClr val="202830"/>
                </a:solidFill>
                <a:latin typeface="Malgun Gothic"/>
              </a:rPr>
              <a:t>•  고정하는 것</a:t>
            </a:r>
          </a:p>
          <a:p>
            <a:r>
              <a:rPr sz="1600" b="0">
                <a:solidFill>
                  <a:srgbClr val="5A6672"/>
                </a:solidFill>
                <a:latin typeface="Malgun Gothic"/>
              </a:rPr>
              <a:t>    –  인덱스를 구성하는 컬럼 집합 — HOSP_ID와 RECEIPT_DATE 두 개</a:t>
            </a:r>
          </a:p>
          <a:p>
            <a:r>
              <a:rPr sz="1600" b="0">
                <a:solidFill>
                  <a:srgbClr val="5A6672"/>
                </a:solidFill>
                <a:latin typeface="Malgun Gothic"/>
              </a:rPr>
              <a:t>    –  테스트에 사용하는 세 가지 조회 조건</a:t>
            </a:r>
          </a:p>
          <a:p>
            <a:r>
              <a:rPr sz="1800" b="0">
                <a:solidFill>
                  <a:srgbClr val="202830"/>
                </a:solidFill>
                <a:latin typeface="Malgun Gothic"/>
              </a:rPr>
              <a:t>•  바꾸는 것 — 오직 컬럼 순서 하나</a:t>
            </a:r>
          </a:p>
          <a:p>
            <a:r>
              <a:rPr sz="1600" b="0">
                <a:solidFill>
                  <a:srgbClr val="5A6672"/>
                </a:solidFill>
                <a:latin typeface="Malgun Gothic"/>
              </a:rPr>
              <a:t>    –  인덱스 A는 (HOSP_ID, RECEIPT_DATE), 인덱스 B는 (RECEIPT_DATE, HOSP_ID)</a:t>
            </a:r>
          </a:p>
          <a:p>
            <a:r>
              <a:rPr sz="1600" b="0">
                <a:solidFill>
                  <a:srgbClr val="5A6672"/>
                </a:solidFill>
                <a:latin typeface="Malgun Gothic"/>
              </a:rPr>
              <a:t>    –  변수가 하나뿐이므로 결과 차이의 원인을 순서로 특정할 수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A 생성과 세 가지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04절 — 인덱스 A를 만들고 동일한 세 조건으로 테스트한다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인덱스 A: (HOSP_ID, RECEIPT_DATE) 순서</a:t>
            </a:r>
          </a:p>
          <a:p>
            <a:r>
              <a:rPr sz="1250" b="0">
                <a:solidFill>
                  <a:srgbClr val="E6E6E6"/>
                </a:solidFill>
                <a:latin typeface="Consolas"/>
              </a:rPr>
              <a:t>CREATE INDEX ix_hosp_receipt ON medical_claims(hosp_id, receipt_date);</a:t>
            </a:r>
          </a:p>
          <a:p>
            <a:r>
              <a:rPr sz="1250" b="0">
                <a:solidFill>
                  <a:srgbClr val="E6E6E6"/>
                </a:solidFill>
                <a:latin typeface="Consolas"/>
              </a:rPr>
              <a:t> </a:t>
            </a:r>
          </a:p>
          <a:p>
            <a:r>
              <a:rPr sz="1250" b="0">
                <a:solidFill>
                  <a:srgbClr val="7EC699"/>
                </a:solidFill>
                <a:latin typeface="Consolas"/>
              </a:rPr>
              <a:t>-- 세 가지 조건으로 테스트</a:t>
            </a:r>
          </a:p>
          <a:p>
            <a:r>
              <a:rPr sz="1250" b="0">
                <a:solidFill>
                  <a:srgbClr val="E6E6E6"/>
                </a:solidFill>
                <a:latin typeface="Consolas"/>
              </a:rPr>
              <a:t>SELECT COUNT(*) FROM medical_claims</a:t>
            </a:r>
          </a:p>
          <a:p>
            <a:r>
              <a:rPr sz="1250" b="0">
                <a:solidFill>
                  <a:srgbClr val="E6E6E6"/>
                </a:solidFill>
                <a:latin typeface="Consolas"/>
              </a:rPr>
              <a:t> WHERE hosp_id = 1 AND receipt_date = DATE'2024-06-15';   -- 둘 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hosp_id = 1;                                       -- 선두만</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receipt_date = DATE'2024-06-15';                   -- 후행만</a:t>
            </a:r>
          </a:p>
          <a:p>
            <a:r>
              <a:rPr sz="1250" b="0">
                <a:solidFill>
                  <a:srgbClr val="E6E6E6"/>
                </a:solidFill>
                <a:latin typeface="Consolas"/>
              </a:rPr>
              <a:t> </a:t>
            </a:r>
          </a:p>
          <a:p>
            <a:r>
              <a:rPr sz="1250" b="0">
                <a:solidFill>
                  <a:srgbClr val="7EC699"/>
                </a:solidFill>
                <a:latin typeface="Consolas"/>
              </a:rPr>
              <a:t>-- COUNT(*) 로 만든 이유: 테이블 접근 여부가 아니라</a:t>
            </a:r>
          </a:p>
          <a:p>
            <a:r>
              <a:rPr sz="1250" b="0">
                <a:solidFill>
                  <a:srgbClr val="7EC699"/>
                </a:solidFill>
                <a:latin typeface="Consolas"/>
              </a:rPr>
              <a:t>-- 인덱스를 어떤 오퍼레이션으로 읽었는지에 집중하기 위해서다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조건이 각각 검증하는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 ① 두 컬럼을 모두 사용 — 선두 컬럼 포함</a:t>
            </a:r>
          </a:p>
          <a:p>
            <a:r>
              <a:rPr sz="1600" b="0">
                <a:solidFill>
                  <a:srgbClr val="5A6672"/>
                </a:solidFill>
                <a:latin typeface="Malgun Gothic"/>
              </a:rPr>
              <a:t>    –  복합 인덱스를 가장 온전히 쓰는 형태가 실제로 가장 저렴한지 확인한다</a:t>
            </a:r>
          </a:p>
          <a:p>
            <a:r>
              <a:rPr sz="1800" b="0">
                <a:solidFill>
                  <a:srgbClr val="202830"/>
                </a:solidFill>
                <a:latin typeface="Malgun Gothic"/>
              </a:rPr>
              <a:t>•  조건 ② 앞쪽 컬럼 하나만 사용</a:t>
            </a:r>
          </a:p>
          <a:p>
            <a:r>
              <a:rPr sz="1600" b="0">
                <a:solidFill>
                  <a:srgbClr val="5A6672"/>
                </a:solidFill>
                <a:latin typeface="Malgun Gothic"/>
              </a:rPr>
              <a:t>    –  인덱스 A에서는 선두 컬럼 매치 상황이 된다</a:t>
            </a:r>
          </a:p>
          <a:p>
            <a:r>
              <a:rPr sz="1600" b="0">
                <a:solidFill>
                  <a:srgbClr val="5A6672"/>
                </a:solidFill>
                <a:latin typeface="Malgun Gothic"/>
              </a:rPr>
              <a:t>    –  인덱스 B에서는 같은 조건이 후행 컬럼 상황으로 바뀐다</a:t>
            </a:r>
          </a:p>
          <a:p>
            <a:r>
              <a:rPr sz="1800" b="0">
                <a:solidFill>
                  <a:srgbClr val="202830"/>
                </a:solidFill>
                <a:latin typeface="Malgun Gothic"/>
              </a:rPr>
              <a:t>•  조건 ③ 뒤쪽 컬럼 하나만 사용</a:t>
            </a:r>
          </a:p>
          <a:p>
            <a:r>
              <a:rPr sz="1600" b="0">
                <a:solidFill>
                  <a:srgbClr val="5A6672"/>
                </a:solidFill>
                <a:latin typeface="Malgun Gothic"/>
              </a:rPr>
              <a:t>    –  인덱스 A에서는 후행 컬럼만 매치되는 상황이 된다</a:t>
            </a:r>
          </a:p>
          <a:p>
            <a:r>
              <a:rPr sz="1600" b="0">
                <a:solidFill>
                  <a:srgbClr val="5A6672"/>
                </a:solidFill>
                <a:latin typeface="Malgun Gothic"/>
              </a:rPr>
              <a:t>    –  인덱스 B에서는 같은 조건이 선두 컬럼 매치로 바뀐다</a:t>
            </a:r>
          </a:p>
          <a:p>
            <a:r>
              <a:rPr sz="1800" b="0">
                <a:solidFill>
                  <a:srgbClr val="202830"/>
                </a:solidFill>
                <a:latin typeface="Malgun Gothic"/>
              </a:rPr>
              <a:t>•  ②와 ③이 인덱스 A·B에서 정확히 뒤집히는지가 이 실험의 관전 포인트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 A 실행계획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조건의 실측 결과표</a:t>
            </a:r>
          </a:p>
          <a:p>
            <a:r>
              <a:rPr sz="1600" b="0">
                <a:solidFill>
                  <a:srgbClr val="C5CED6"/>
                </a:solidFill>
                <a:latin typeface="Malgun Gothic"/>
              </a:rPr>
              <a:t>•  해석 ① 선두 컬럼이 포함된 경우</a:t>
            </a:r>
          </a:p>
          <a:p>
            <a:r>
              <a:rPr sz="1600" b="0">
                <a:solidFill>
                  <a:srgbClr val="C5CED6"/>
                </a:solidFill>
                <a:latin typeface="Malgun Gothic"/>
              </a:rPr>
              <a:t>•  해석 ② 후행 컬럼만 조건인 경우</a:t>
            </a:r>
          </a:p>
          <a:p>
            <a:r>
              <a:rPr sz="1600" b="0">
                <a:solidFill>
                  <a:srgbClr val="C5CED6"/>
                </a:solidFill>
                <a:latin typeface="Malgun Gothic"/>
              </a:rPr>
              <a:t>•  Fast Full Scan과 Full Table Scan의 비교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A (HOSP_ID, RECEIPT_DATE)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05절 Execution Plan — 동일한 세 조건의 실행계획 실측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조건                           | Operation            | Buffers | A-Rows |</a:t>
            </a:r>
          </a:p>
          <a:p>
            <a:r>
              <a:rPr sz="1250" b="0">
                <a:solidFill>
                  <a:srgbClr val="E6E6E6"/>
                </a:solidFill>
                <a:latin typeface="Consolas"/>
              </a:rPr>
              <a:t>+--------------------------------+----------------------+---------+--------+</a:t>
            </a:r>
          </a:p>
          <a:p>
            <a:r>
              <a:rPr sz="1250" b="0">
                <a:solidFill>
                  <a:srgbClr val="E6E6E6"/>
                </a:solidFill>
                <a:latin typeface="Consolas"/>
              </a:rPr>
              <a:t>| HOSP_ID=1 AND RECEIPT_DATE=..  | INDEX RANGE SCAN     |       3 |     11 |</a:t>
            </a:r>
          </a:p>
          <a:p>
            <a:r>
              <a:rPr sz="1250" b="0">
                <a:solidFill>
                  <a:srgbClr val="E6E6E6"/>
                </a:solidFill>
                <a:latin typeface="Consolas"/>
              </a:rPr>
              <a:t>| HOSP_ID=1          (선두 컬럼) | INDEX RANGE SCAN     |      12 |  3,058 |</a:t>
            </a:r>
          </a:p>
          <a:p>
            <a:r>
              <a:rPr sz="1250" b="0">
                <a:solidFill>
                  <a:srgbClr val="E6E6E6"/>
                </a:solidFill>
                <a:latin typeface="Consolas"/>
              </a:rPr>
              <a:t>| RECEIPT_DATE=..    (후행 컬럼) | INDEX FAST FULL SCAN |     953 |    789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인덱스 A = ix_hosp_receipt (HOSP_ID, RECEIPT_DATE)</a:t>
            </a:r>
          </a:p>
          <a:p>
            <a:r>
              <a:rPr sz="1250" b="0">
                <a:solidFill>
                  <a:srgbClr val="7EC699"/>
                </a:solidFill>
                <a:latin typeface="Consolas"/>
              </a:rPr>
              <a:t>-- 선두 컬럼이 조건에 포함된 위 두 행만 INDEX RANGE SCAN 으로 처리됐다</a:t>
            </a:r>
          </a:p>
          <a:p>
            <a:r>
              <a:rPr sz="1250" b="0">
                <a:solidFill>
                  <a:srgbClr val="7EC699"/>
                </a:solidFill>
                <a:latin typeface="Consolas"/>
              </a:rPr>
              <a:t>-- 세 번째 행만 오퍼레이션이 다르고 Buffers 가 크게 뛰었다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① 선두 컬럼이 포함된 두 경우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컬럼을 모두 조건으로 건 경우 — INDEX RANGE SCAN, Buffers 3</a:t>
            </a:r>
          </a:p>
          <a:p>
            <a:r>
              <a:rPr sz="1600" b="0">
                <a:solidFill>
                  <a:srgbClr val="5A6672"/>
                </a:solidFill>
                <a:latin typeface="Malgun Gothic"/>
              </a:rPr>
              <a:t>    –  선두 컬럼으로 구간을 잡고 그 안에서 후행 컬럼 조건까지 인덱스에서 적용했다</a:t>
            </a:r>
          </a:p>
          <a:p>
            <a:r>
              <a:rPr sz="1600" b="0">
                <a:solidFill>
                  <a:srgbClr val="5A6672"/>
                </a:solidFill>
                <a:latin typeface="Malgun Gothic"/>
              </a:rPr>
              <a:t>    –  결과가 11건으로 매우 적고, 읽은 블록도 그만큼 적다</a:t>
            </a:r>
          </a:p>
          <a:p>
            <a:r>
              <a:rPr sz="1800" b="0">
                <a:solidFill>
                  <a:srgbClr val="202830"/>
                </a:solidFill>
                <a:latin typeface="Malgun Gothic"/>
              </a:rPr>
              <a:t>•  선두 컬럼만 조건으로 건 경우 — INDEX RANGE SCAN, Buffers 12</a:t>
            </a:r>
          </a:p>
          <a:p>
            <a:r>
              <a:rPr sz="1600" b="0">
                <a:solidFill>
                  <a:srgbClr val="5A6672"/>
                </a:solidFill>
                <a:latin typeface="Malgun Gothic"/>
              </a:rPr>
              <a:t>    –  구간의 시작과 끝을 짚을 수 있으므로 그 구간만 순서대로 읽었다</a:t>
            </a:r>
          </a:p>
          <a:p>
            <a:r>
              <a:rPr sz="1600" b="0">
                <a:solidFill>
                  <a:srgbClr val="5A6672"/>
                </a:solidFill>
                <a:latin typeface="Malgun Gothic"/>
              </a:rPr>
              <a:t>    –  결과가 3,058건으로 늘었지만 읽은 블록은 12에 그쳤다</a:t>
            </a:r>
          </a:p>
          <a:p>
            <a:r>
              <a:rPr sz="1800" b="0">
                <a:solidFill>
                  <a:srgbClr val="202830"/>
                </a:solidFill>
                <a:latin typeface="Malgun Gothic"/>
              </a:rPr>
              <a:t>•  공통점 — 조건에 선두 컬럼이 있으면 읽는 양이 결과 건수에 비례한다</a:t>
            </a:r>
          </a:p>
          <a:p>
            <a:r>
              <a:rPr sz="1600" b="0">
                <a:solidFill>
                  <a:srgbClr val="5A6672"/>
                </a:solidFill>
                <a:latin typeface="Malgun Gothic"/>
              </a:rPr>
              <a:t>    –  필요한 만큼만 읽는 것이 인덱스를 제대로 쓰는 모습이다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② 후행 컬럼만 조건일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RECEIPT_DATE만 조건 — INDEX FAST FULL SCAN, Buffers 953</a:t>
            </a:r>
          </a:p>
          <a:p>
            <a:r>
              <a:rPr sz="1600" b="0">
                <a:solidFill>
                  <a:srgbClr val="5A6672"/>
                </a:solidFill>
                <a:latin typeface="Malgun Gothic"/>
              </a:rPr>
              <a:t>    –  인덱스가 RECEIPT_DATE 기준으로는 정렬되어 있지 않다</a:t>
            </a:r>
          </a:p>
          <a:p>
            <a:r>
              <a:rPr sz="1600" b="0">
                <a:solidFill>
                  <a:srgbClr val="5A6672"/>
                </a:solidFill>
                <a:latin typeface="Malgun Gothic"/>
              </a:rPr>
              <a:t>    –  시작 위치를 짚을 수 없어 인덱스 전체를 순서 없이 훑었다</a:t>
            </a:r>
          </a:p>
          <a:p>
            <a:r>
              <a:rPr sz="1800" b="0">
                <a:solidFill>
                  <a:srgbClr val="202830"/>
                </a:solidFill>
                <a:latin typeface="Malgun Gothic"/>
              </a:rPr>
              <a:t>•  결과는 789건인데 Buffers는 953까지 치솟았다</a:t>
            </a:r>
          </a:p>
          <a:p>
            <a:r>
              <a:rPr sz="1600" b="0">
                <a:solidFill>
                  <a:srgbClr val="5A6672"/>
                </a:solidFill>
                <a:latin typeface="Malgun Gothic"/>
              </a:rPr>
              <a:t>    –  읽은 양이 결과 건수가 아니라 인덱스 전체 크기에 비례했다</a:t>
            </a:r>
          </a:p>
          <a:p>
            <a:r>
              <a:rPr sz="1600" b="0">
                <a:solidFill>
                  <a:srgbClr val="5A6672"/>
                </a:solidFill>
                <a:latin typeface="Malgun Gothic"/>
              </a:rPr>
              <a:t>    –  조건에 맞지 않는 행의 엔트리까지 전부 읽고 걸러 낸 것이다</a:t>
            </a:r>
          </a:p>
          <a:p>
            <a:r>
              <a:rPr sz="1800" b="0">
                <a:solidFill>
                  <a:srgbClr val="202830"/>
                </a:solidFill>
                <a:latin typeface="Malgun Gothic"/>
              </a:rPr>
              <a:t>•  같은 인덱스인데 조건에 따라 오퍼레이션이 달라진 이유가 바로 정렬 기준이다</a:t>
            </a:r>
          </a:p>
          <a:p>
            <a:r>
              <a:rPr sz="1600" b="0">
                <a:solidFill>
                  <a:srgbClr val="5A6672"/>
                </a:solidFill>
                <a:latin typeface="Malgun Gothic"/>
              </a:rPr>
              <a:t>    –  인덱스에 값이 없어서가 아니라, 값이 흩어져 있어서 생긴 결과다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Fast Full Scan이 Full Table Scan보다 저렴한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관찰 — Buffers 953은 비싸 보이지만 Full Table Scan보다는 적다</a:t>
            </a:r>
          </a:p>
          <a:p>
            <a:r>
              <a:rPr sz="1600" b="0">
                <a:solidFill>
                  <a:srgbClr val="5A6672"/>
                </a:solidFill>
                <a:latin typeface="Malgun Gothic"/>
              </a:rPr>
              <a:t>    –  ch05 기준 TABLE ACCESS FULL의 Buffers는 3,090이었다</a:t>
            </a:r>
          </a:p>
          <a:p>
            <a:r>
              <a:rPr sz="1800" b="0">
                <a:solidFill>
                  <a:srgbClr val="202830"/>
                </a:solidFill>
                <a:latin typeface="Malgun Gothic"/>
              </a:rPr>
              <a:t>•  이유는 인덱스가 테이블보다 작은 구조물이기 때문이다</a:t>
            </a:r>
          </a:p>
          <a:p>
            <a:r>
              <a:rPr sz="1600" b="0">
                <a:solidFill>
                  <a:srgbClr val="5A6672"/>
                </a:solidFill>
                <a:latin typeface="Malgun Gothic"/>
              </a:rPr>
              <a:t>    –  인덱스는 해당 컬럼 값과 ROWID만 저장한다</a:t>
            </a:r>
          </a:p>
          <a:p>
            <a:r>
              <a:rPr sz="1600" b="0">
                <a:solidFill>
                  <a:srgbClr val="5A6672"/>
                </a:solidFill>
                <a:latin typeface="Malgun Gothic"/>
              </a:rPr>
              <a:t>    –  테이블은 모든 컬럼의 전체 데이터를 저장한다</a:t>
            </a:r>
          </a:p>
          <a:p>
            <a:r>
              <a:rPr sz="1600" b="0">
                <a:solidFill>
                  <a:srgbClr val="5A6672"/>
                </a:solidFill>
                <a:latin typeface="Malgun Gothic"/>
              </a:rPr>
              <a:t>    –  같은 행 수라도 인덱스 엔트리 하나가 테이블 행 전체보다 훨씬 작다</a:t>
            </a:r>
          </a:p>
          <a:p>
            <a:r>
              <a:rPr sz="1800" b="0">
                <a:solidFill>
                  <a:srgbClr val="202830"/>
                </a:solidFill>
                <a:latin typeface="Malgun Gothic"/>
              </a:rPr>
              <a:t>•  정리 — 제대로 된 Range Scan만큼 저렴하지는 않지만</a:t>
            </a:r>
          </a:p>
          <a:p>
            <a:r>
              <a:rPr sz="1600" b="0">
                <a:solidFill>
                  <a:srgbClr val="5A6672"/>
                </a:solidFill>
                <a:latin typeface="Malgun Gothic"/>
              </a:rPr>
              <a:t>    –  인덱스를 훑는 편이 테이블 전체를 읽는 것보다는 여전히 유리하다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 순서를 반대로 하면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인덱스 B 생성과 재실행</a:t>
            </a:r>
          </a:p>
          <a:p>
            <a:r>
              <a:rPr sz="1600" b="0">
                <a:solidFill>
                  <a:srgbClr val="C5CED6"/>
                </a:solidFill>
                <a:latin typeface="Malgun Gothic"/>
              </a:rPr>
              <a:t>•  인덱스 B 실측 결과표</a:t>
            </a:r>
          </a:p>
          <a:p>
            <a:r>
              <a:rPr sz="1600" b="0">
                <a:solidFill>
                  <a:srgbClr val="C5CED6"/>
                </a:solidFill>
                <a:latin typeface="Malgun Gothic"/>
              </a:rPr>
              <a:t>•  정확히 뒤바뀐 결과</a:t>
            </a:r>
          </a:p>
          <a:p>
            <a:r>
              <a:rPr sz="1600" b="0">
                <a:solidFill>
                  <a:srgbClr val="C5CED6"/>
                </a:solidFill>
                <a:latin typeface="Malgun Gothic"/>
              </a:rPr>
              <a:t>•  두 컬럼을 모두 쓸 때는 왜 덜 중요한가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B 생성 — 컬럼 순서만 반대로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06절 — 인덱스 A를 삭제하고 순서를 뒤집은 인덱스 B로 동일한 세 조건을 재실행</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인덱스 A 를 삭제하고</a:t>
            </a:r>
          </a:p>
          <a:p>
            <a:r>
              <a:rPr sz="1250" b="0">
                <a:solidFill>
                  <a:srgbClr val="E6E6E6"/>
                </a:solidFill>
                <a:latin typeface="Consolas"/>
              </a:rPr>
              <a:t>DROP INDEX ix_hosp_receipt;</a:t>
            </a:r>
          </a:p>
          <a:p>
            <a:r>
              <a:rPr sz="1250" b="0">
                <a:solidFill>
                  <a:srgbClr val="E6E6E6"/>
                </a:solidFill>
                <a:latin typeface="Consolas"/>
              </a:rPr>
              <a:t> </a:t>
            </a:r>
          </a:p>
          <a:p>
            <a:r>
              <a:rPr sz="1250" b="0">
                <a:solidFill>
                  <a:srgbClr val="7EC699"/>
                </a:solidFill>
                <a:latin typeface="Consolas"/>
              </a:rPr>
              <a:t>-- 컬럼 순서만 반대로 한 인덱스 B 를 만든다</a:t>
            </a:r>
          </a:p>
          <a:p>
            <a:r>
              <a:rPr sz="1250" b="0">
                <a:solidFill>
                  <a:srgbClr val="E6E6E6"/>
                </a:solidFill>
                <a:latin typeface="Consolas"/>
              </a:rPr>
              <a:t>CREATE INDEX ix_receipt_hosp ON medical_claims(receipt_date, hosp_id);</a:t>
            </a:r>
          </a:p>
          <a:p>
            <a:r>
              <a:rPr sz="1250" b="0">
                <a:solidFill>
                  <a:srgbClr val="E6E6E6"/>
                </a:solidFill>
                <a:latin typeface="Consolas"/>
              </a:rPr>
              <a:t> </a:t>
            </a:r>
          </a:p>
          <a:p>
            <a:r>
              <a:rPr sz="1250" b="0">
                <a:solidFill>
                  <a:srgbClr val="7EC699"/>
                </a:solidFill>
                <a:latin typeface="Consolas"/>
              </a:rPr>
              <a:t>-- 조회 조건은 하나도 바꾸지 않고 그대로 재실행한다</a:t>
            </a:r>
          </a:p>
          <a:p>
            <a:r>
              <a:rPr sz="1250" b="0">
                <a:solidFill>
                  <a:srgbClr val="E6E6E6"/>
                </a:solidFill>
                <a:latin typeface="Consolas"/>
              </a:rPr>
              <a:t>SELECT COUNT(*) FROM medical_claims</a:t>
            </a:r>
          </a:p>
          <a:p>
            <a:r>
              <a:rPr sz="1250" b="0">
                <a:solidFill>
                  <a:srgbClr val="E6E6E6"/>
                </a:solidFill>
                <a:latin typeface="Consolas"/>
              </a:rPr>
              <a:t> WHERE hosp_id = 1 AND receipt_date = DATE'2024-06-15';   -- 둘 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hosp_id = 1;                        -- 이번엔 후행 컬럼이 됐다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receipt_date = DATE'2024-06-15';    -- 이번엔 선두 컬럼이 됐다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B (RECEIPT_DATE, HOSP_ID)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06절 Bad SQL — 동일한 세 조건, 인덱스 컬럼 순서만 반대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조건                           | Operation            | Buffers | A-Rows |</a:t>
            </a:r>
          </a:p>
          <a:p>
            <a:r>
              <a:rPr sz="1250" b="0">
                <a:solidFill>
                  <a:srgbClr val="E6E6E6"/>
                </a:solidFill>
                <a:latin typeface="Consolas"/>
              </a:rPr>
              <a:t>+--------------------------------+----------------------+---------+--------+</a:t>
            </a:r>
          </a:p>
          <a:p>
            <a:r>
              <a:rPr sz="1250" b="0">
                <a:solidFill>
                  <a:srgbClr val="E6E6E6"/>
                </a:solidFill>
                <a:latin typeface="Consolas"/>
              </a:rPr>
              <a:t>| HOSP_ID=1 AND RECEIPT_DATE=..  | INDEX RANGE SCAN     |       3 |     11 |</a:t>
            </a:r>
          </a:p>
          <a:p>
            <a:r>
              <a:rPr sz="1250" b="0">
                <a:solidFill>
                  <a:srgbClr val="E6E6E6"/>
                </a:solidFill>
                <a:latin typeface="Consolas"/>
              </a:rPr>
              <a:t>| HOSP_ID=1          (후행 컬럼) | INDEX FAST FULL SCAN |     954 |  3,058 |</a:t>
            </a:r>
          </a:p>
          <a:p>
            <a:r>
              <a:rPr sz="1250" b="0">
                <a:solidFill>
                  <a:srgbClr val="E6E6E6"/>
                </a:solidFill>
                <a:latin typeface="Consolas"/>
              </a:rPr>
              <a:t>| RECEIPT_DATE=..    (선두 컬럼) | INDEX RANGE SCAN     |       5 |    789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인덱스 B = ix_receipt_hosp (RECEIPT_DATE, HOSP_ID)</a:t>
            </a:r>
          </a:p>
          <a:p>
            <a:r>
              <a:rPr sz="1250" b="0">
                <a:solidFill>
                  <a:srgbClr val="7EC699"/>
                </a:solidFill>
                <a:latin typeface="Consolas"/>
              </a:rPr>
              <a:t>-- 첫 행은 인덱스 A 와 사실상 동일하다 (Buffers 3, A-Rows 11)</a:t>
            </a:r>
          </a:p>
          <a:p>
            <a:r>
              <a:rPr sz="1250" b="0">
                <a:solidFill>
                  <a:srgbClr val="7EC699"/>
                </a:solidFill>
                <a:latin typeface="Consolas"/>
              </a:rPr>
              <a:t>-- 두 번째와 세 번째 행의 오퍼레이션이 인덱스 A 와 정확히 맞바뀌었다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정확히 뒤바뀐 결과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HOSP_ID만 조건일 때</a:t>
            </a:r>
          </a:p>
          <a:p>
            <a:r>
              <a:rPr sz="1600" b="0">
                <a:solidFill>
                  <a:srgbClr val="5A6672"/>
                </a:solidFill>
                <a:latin typeface="Malgun Gothic"/>
              </a:rPr>
              <a:t>    –  인덱스 A에서는 선두 컬럼이라 저렴했다 — Buffers 12</a:t>
            </a:r>
          </a:p>
          <a:p>
            <a:r>
              <a:rPr sz="1600" b="0">
                <a:solidFill>
                  <a:srgbClr val="5A6672"/>
                </a:solidFill>
                <a:latin typeface="Malgun Gothic"/>
              </a:rPr>
              <a:t>    –  인덱스 B에서는 후행 컬럼이 되어 비싸졌다 — Buffers 954</a:t>
            </a:r>
          </a:p>
          <a:p>
            <a:r>
              <a:rPr sz="1800" b="0">
                <a:solidFill>
                  <a:srgbClr val="202830"/>
                </a:solidFill>
                <a:latin typeface="Malgun Gothic"/>
              </a:rPr>
              <a:t>•  RECEIPT_DATE만 조건일 때</a:t>
            </a:r>
          </a:p>
          <a:p>
            <a:r>
              <a:rPr sz="1600" b="0">
                <a:solidFill>
                  <a:srgbClr val="5A6672"/>
                </a:solidFill>
                <a:latin typeface="Malgun Gothic"/>
              </a:rPr>
              <a:t>    –  인덱스 A에서는 후행 컬럼이라 비쌌다 — Buffers 953</a:t>
            </a:r>
          </a:p>
          <a:p>
            <a:r>
              <a:rPr sz="1600" b="0">
                <a:solidFill>
                  <a:srgbClr val="5A6672"/>
                </a:solidFill>
                <a:latin typeface="Malgun Gothic"/>
              </a:rPr>
              <a:t>    –  인덱스 B에서는 선두 컬럼이 되어 저렴해졌다 — Buffers 5</a:t>
            </a:r>
          </a:p>
          <a:p>
            <a:r>
              <a:rPr sz="1800" b="0">
                <a:solidFill>
                  <a:srgbClr val="202830"/>
                </a:solidFill>
                <a:latin typeface="Malgun Gothic"/>
              </a:rPr>
              <a:t>•  선두 컬럼은 컬럼 이름에 고정된 속성이 아니라는 증거</a:t>
            </a:r>
          </a:p>
          <a:p>
            <a:r>
              <a:rPr sz="1600" b="0">
                <a:solidFill>
                  <a:srgbClr val="5A6672"/>
                </a:solidFill>
                <a:latin typeface="Malgun Gothic"/>
              </a:rPr>
              <a:t>    –  인덱스 정의에서 몇 번째에 오는가가 그 컬럼의 운명을 결정한다</a:t>
            </a:r>
          </a:p>
          <a:p>
            <a:r>
              <a:rPr sz="1600" b="0">
                <a:solidFill>
                  <a:srgbClr val="5A6672"/>
                </a:solidFill>
                <a:latin typeface="Malgun Gothic"/>
              </a:rPr>
              <a:t>    –  SQL은 한 글자도 바뀌지 않았고 데이터도 그대로다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컬럼을 모두 쓸 때는 왜 덜 중요한가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조건을 모두 건 첫 번째 경우는 A와 B가 사실상 같았다 — Buffers 3</a:t>
            </a:r>
          </a:p>
          <a:p>
            <a:r>
              <a:rPr sz="1600" b="0">
                <a:solidFill>
                  <a:srgbClr val="5A6672"/>
                </a:solidFill>
                <a:latin typeface="Malgun Gothic"/>
              </a:rPr>
              <a:t>    –  어느 쪽이 선두든 두 컬럼 다 조건에 있으면 인덱스를 온전히 활용할 수 있다</a:t>
            </a:r>
          </a:p>
          <a:p>
            <a:r>
              <a:rPr sz="1600" b="0">
                <a:solidFill>
                  <a:srgbClr val="5A6672"/>
                </a:solidFill>
                <a:latin typeface="Malgun Gothic"/>
              </a:rPr>
              <a:t>    –  선두 컬럼으로 구간을 잡고 그 안에서 나머지 조건까지 인덱스에서 적용한다</a:t>
            </a:r>
          </a:p>
          <a:p>
            <a:r>
              <a:rPr sz="1800" b="0">
                <a:solidFill>
                  <a:srgbClr val="202830"/>
                </a:solidFill>
                <a:latin typeface="Malgun Gothic"/>
              </a:rPr>
              <a:t>•  다만 '완전히 무관하다'는 뜻은 아니다</a:t>
            </a:r>
          </a:p>
          <a:p>
            <a:r>
              <a:rPr sz="1600" b="0">
                <a:solidFill>
                  <a:srgbClr val="5A6672"/>
                </a:solidFill>
                <a:latin typeface="Malgun Gothic"/>
              </a:rPr>
              <a:t>    –  두 컬럼의 선택도가 크게 다르면 중간 단계에서 좁혀지는 후보 행 수가 달라진다</a:t>
            </a:r>
          </a:p>
          <a:p>
            <a:r>
              <a:rPr sz="1600" b="0">
                <a:solidFill>
                  <a:srgbClr val="5A6672"/>
                </a:solidFill>
                <a:latin typeface="Malgun Gothic"/>
              </a:rPr>
              <a:t>    –  이번 사례는 결과가 11건으로 매우 적어 차이가 드러나지 않았을 뿐이다</a:t>
            </a:r>
          </a:p>
          <a:p>
            <a:r>
              <a:rPr sz="1800" b="0">
                <a:solidFill>
                  <a:srgbClr val="202830"/>
                </a:solidFill>
                <a:latin typeface="Malgun Gothic"/>
              </a:rPr>
              <a:t>•  정리 — 순서가 중요해지는 것은 '컬럼 하나만 단독으로 쓰일 때'다</a:t>
            </a:r>
          </a:p>
          <a:p>
            <a:r>
              <a:rPr sz="1600" b="0">
                <a:solidFill>
                  <a:srgbClr val="5A6672"/>
                </a:solidFill>
                <a:latin typeface="Malgun Gothic"/>
              </a:rPr>
              <a:t>    –  항상 두 컬럼을 함께 쓰는 조회라면 순서 결정의 부담이 작아진다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 — 선두 컬럼은 조회 패턴이 결정한다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어떤 컬럼을 선두에 둘지는 인덱스 자체의 성질로 정해지지 않는다</a:t>
            </a:r>
          </a:p>
          <a:p>
            <a:r>
              <a:rPr sz="1600" b="0">
                <a:solidFill>
                  <a:srgbClr val="5A6672"/>
                </a:solidFill>
                <a:latin typeface="Malgun Gothic"/>
              </a:rPr>
              <a:t>    –  '이 인덱스를 어떤 조건으로 조회할 것인가'가 유일한 기준이다</a:t>
            </a:r>
          </a:p>
          <a:p>
            <a:r>
              <a:rPr sz="1800" b="0">
                <a:solidFill>
                  <a:srgbClr val="202830"/>
                </a:solidFill>
                <a:latin typeface="Malgun Gothic"/>
              </a:rPr>
              <a:t>•  두 컬럼을 항상 같이 조건으로 쓴다면</a:t>
            </a:r>
          </a:p>
          <a:p>
            <a:r>
              <a:rPr sz="1600" b="0">
                <a:solidFill>
                  <a:srgbClr val="5A6672"/>
                </a:solidFill>
                <a:latin typeface="Malgun Gothic"/>
              </a:rPr>
              <a:t>    –  순서 결정의 중요도가 상대적으로 낮아진다</a:t>
            </a:r>
          </a:p>
          <a:p>
            <a:r>
              <a:rPr sz="1800" b="0">
                <a:solidFill>
                  <a:srgbClr val="202830"/>
                </a:solidFill>
                <a:latin typeface="Malgun Gothic"/>
              </a:rPr>
              <a:t>•  컬럼 하나만 단독으로 자주 조회한다면</a:t>
            </a:r>
          </a:p>
          <a:p>
            <a:r>
              <a:rPr sz="1600" b="0">
                <a:solidFill>
                  <a:srgbClr val="5A6672"/>
                </a:solidFill>
                <a:latin typeface="Malgun Gothic"/>
              </a:rPr>
              <a:t>    –  그 컬럼이 반드시 선두에 있어야 한다</a:t>
            </a:r>
          </a:p>
          <a:p>
            <a:r>
              <a:rPr sz="1600" b="0">
                <a:solidFill>
                  <a:srgbClr val="5A6672"/>
                </a:solidFill>
                <a:latin typeface="Malgun Gothic"/>
              </a:rPr>
              <a:t>    –  단독 조회가 잦은 컬럼을 후행에 두면 이번 실측의 954 같은 상황이 된다</a:t>
            </a:r>
          </a:p>
          <a:p>
            <a:r>
              <a:rPr sz="1800" b="0">
                <a:solidFill>
                  <a:srgbClr val="202830"/>
                </a:solidFill>
                <a:latin typeface="Malgun Gothic"/>
              </a:rPr>
              <a:t>•  즉 인덱스 설계는 데이터 구조 설계가 아니라 조회 패턴 설계에 가깝다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5.7~5.8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설계 적용과 종합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이번 스키마에 적용한다면</a:t>
            </a:r>
          </a:p>
          <a:p>
            <a:r>
              <a:rPr sz="1600" b="0">
                <a:solidFill>
                  <a:srgbClr val="C5CED6"/>
                </a:solidFill>
                <a:latin typeface="Malgun Gothic"/>
              </a:rPr>
              <a:t>•  두 조회 패턴이 모두 잦다면</a:t>
            </a:r>
          </a:p>
          <a:p>
            <a:r>
              <a:rPr sz="1600" b="0">
                <a:solidFill>
                  <a:srgbClr val="C5CED6"/>
                </a:solidFill>
                <a:latin typeface="Malgun Gothic"/>
              </a:rPr>
              <a:t>•  종합 비교표</a:t>
            </a:r>
          </a:p>
          <a:p>
            <a:r>
              <a:rPr sz="1600" b="0">
                <a:solidFill>
                  <a:srgbClr val="C5CED6"/>
                </a:solidFill>
                <a:latin typeface="Malgun Gothic"/>
              </a:rPr>
              <a:t>•  컬럼 순서 결정 절차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스키마에 적용한다면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MEDICAL_CLAIMS를 실무에서 조회하는 패턴을 가정해 본다</a:t>
            </a:r>
          </a:p>
          <a:p>
            <a:r>
              <a:rPr sz="1800" b="0">
                <a:solidFill>
                  <a:srgbClr val="202830"/>
                </a:solidFill>
                <a:latin typeface="Malgun Gothic"/>
              </a:rPr>
              <a:t>•  '특정 병원의 특정 기간 청구 조회'가 잦다면</a:t>
            </a:r>
          </a:p>
          <a:p>
            <a:r>
              <a:rPr sz="1600" b="0">
                <a:solidFill>
                  <a:srgbClr val="5A6672"/>
                </a:solidFill>
                <a:latin typeface="Malgun Gothic"/>
              </a:rPr>
              <a:t>    –  (HOSP_ID, RECEIPT_DATE)가 적합하다</a:t>
            </a:r>
          </a:p>
          <a:p>
            <a:r>
              <a:rPr sz="1600" b="0">
                <a:solidFill>
                  <a:srgbClr val="5A6672"/>
                </a:solidFill>
                <a:latin typeface="Malgun Gothic"/>
              </a:rPr>
              <a:t>    –  병원 단독 조회도 선두 컬럼 매치로 저렴하게 처리된다</a:t>
            </a:r>
          </a:p>
          <a:p>
            <a:r>
              <a:rPr sz="1800" b="0">
                <a:solidFill>
                  <a:srgbClr val="202830"/>
                </a:solidFill>
                <a:latin typeface="Malgun Gothic"/>
              </a:rPr>
              <a:t>•  '기간 전체 청구 현황 조회(병원 무관)'가 더 잦다면</a:t>
            </a:r>
          </a:p>
          <a:p>
            <a:r>
              <a:rPr sz="1600" b="0">
                <a:solidFill>
                  <a:srgbClr val="5A6672"/>
                </a:solidFill>
                <a:latin typeface="Malgun Gothic"/>
              </a:rPr>
              <a:t>    –  (RECEIPT_DATE, HOSP_ID)가 적합하다</a:t>
            </a:r>
          </a:p>
          <a:p>
            <a:r>
              <a:rPr sz="1600" b="0">
                <a:solidFill>
                  <a:srgbClr val="5A6672"/>
                </a:solidFill>
                <a:latin typeface="Malgun Gothic"/>
              </a:rPr>
              <a:t>    –  기간 단독 조회가 선두 컬럼 매치가 되어 저렴해진다</a:t>
            </a:r>
          </a:p>
          <a:p>
            <a:r>
              <a:rPr sz="1800" b="0">
                <a:solidFill>
                  <a:srgbClr val="202830"/>
                </a:solidFill>
                <a:latin typeface="Malgun Gothic"/>
              </a:rPr>
              <a:t>•  판단의 근거는 실행 빈도와 응답 속도 요구다</a:t>
            </a:r>
          </a:p>
          <a:p>
            <a:r>
              <a:rPr sz="1600" b="0">
                <a:solidFill>
                  <a:srgbClr val="5A6672"/>
                </a:solidFill>
                <a:latin typeface="Malgun Gothic"/>
              </a:rPr>
              <a:t>    –  화면 목록과 쿼리 목록을 먼저 정리하는 것이 설계의 출발점이다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조회 패턴이 모두 잦다면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하나로 두 패턴을 모두 완벽히 커버할 수는 없다</a:t>
            </a:r>
          </a:p>
          <a:p>
            <a:r>
              <a:rPr sz="1600" b="0">
                <a:solidFill>
                  <a:srgbClr val="5A6672"/>
                </a:solidFill>
                <a:latin typeface="Malgun Gothic"/>
              </a:rPr>
              <a:t>    –  어느 쪽을 선두에 두든 나머지 한쪽은 후행 컬럼 상황이 된다</a:t>
            </a:r>
          </a:p>
          <a:p>
            <a:r>
              <a:rPr sz="1800" b="0">
                <a:solidFill>
                  <a:srgbClr val="202830"/>
                </a:solidFill>
                <a:latin typeface="Malgun Gothic"/>
              </a:rPr>
              <a:t>•  선택지 ① 인덱스를 두 개 만든다</a:t>
            </a:r>
          </a:p>
          <a:p>
            <a:r>
              <a:rPr sz="1600" b="0">
                <a:solidFill>
                  <a:srgbClr val="5A6672"/>
                </a:solidFill>
                <a:latin typeface="Malgun Gothic"/>
              </a:rPr>
              <a:t>    –  두 조회 패턴 모두 각자의 전용 인덱스로 최적 처리된다</a:t>
            </a:r>
          </a:p>
          <a:p>
            <a:r>
              <a:rPr sz="1600" b="0">
                <a:solidFill>
                  <a:srgbClr val="5A6672"/>
                </a:solidFill>
                <a:latin typeface="Malgun Gothic"/>
              </a:rPr>
              <a:t>    –  대신 인덱스 개수만큼 DML 비용이 늘어난다 — 5.3절의 트레이드오프</a:t>
            </a:r>
          </a:p>
          <a:p>
            <a:r>
              <a:rPr sz="1800" b="0">
                <a:solidFill>
                  <a:srgbClr val="202830"/>
                </a:solidFill>
                <a:latin typeface="Malgun Gothic"/>
              </a:rPr>
              <a:t>•  선택지 ② 하나만 만들고 다른 조회가 다소 느린 것을 감수한다</a:t>
            </a:r>
          </a:p>
          <a:p>
            <a:r>
              <a:rPr sz="1600" b="0">
                <a:solidFill>
                  <a:srgbClr val="5A6672"/>
                </a:solidFill>
                <a:latin typeface="Malgun Gothic"/>
              </a:rPr>
              <a:t>    –  인덱스 개수는 유지되지만 한쪽 조회 패턴을 희생하게 된다</a:t>
            </a:r>
          </a:p>
          <a:p>
            <a:r>
              <a:rPr sz="1800" b="0">
                <a:solidFill>
                  <a:srgbClr val="202830"/>
                </a:solidFill>
                <a:latin typeface="Malgun Gothic"/>
              </a:rPr>
              <a:t>•  저울질의 기준 — 두 패턴의 상대적 중요도와 이 테이블의 DML 빈도</a:t>
            </a:r>
          </a:p>
          <a:p>
            <a:r>
              <a:rPr sz="1600" b="0">
                <a:solidFill>
                  <a:srgbClr val="5A6672"/>
                </a:solidFill>
                <a:latin typeface="Malgun Gothic"/>
              </a:rPr>
              <a:t>    –  DML이 드물거나 비피크에 몰려 있다면 인덱스 추가를 감수할 만하다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비교표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08절 Benchmark — 인덱스 유무와 컬럼 순서에 따른 Buffers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인덱스                     | 조건             | Buffers | 비고                 |</a:t>
            </a:r>
          </a:p>
          <a:p>
            <a:r>
              <a:rPr sz="1250" b="0">
                <a:solidFill>
                  <a:srgbClr val="E6E6E6"/>
                </a:solidFill>
                <a:latin typeface="Consolas"/>
              </a:rPr>
              <a:t>+----------------------------+------------------+---------+----------------------+</a:t>
            </a:r>
          </a:p>
          <a:p>
            <a:r>
              <a:rPr sz="1250" b="0">
                <a:solidFill>
                  <a:srgbClr val="E6E6E6"/>
                </a:solidFill>
                <a:latin typeface="Consolas"/>
              </a:rPr>
              <a:t>| 없음 (Full Scan)           | 두 컬럼 모두     |   3,090 | ch03 베이스라인 |</a:t>
            </a:r>
          </a:p>
          <a:p>
            <a:r>
              <a:rPr sz="1250" b="0">
                <a:solidFill>
                  <a:srgbClr val="E6E6E6"/>
                </a:solidFill>
                <a:latin typeface="Consolas"/>
              </a:rPr>
              <a:t>| A (HOSP_ID, RECEIPT_DATE)  | HOSP_ID 만       |      12 | 선두 컬럼 매치       |</a:t>
            </a:r>
          </a:p>
          <a:p>
            <a:r>
              <a:rPr sz="1250" b="0">
                <a:solidFill>
                  <a:srgbClr val="E6E6E6"/>
                </a:solidFill>
                <a:latin typeface="Consolas"/>
              </a:rPr>
              <a:t>| A (HOSP_ID, RECEIPT_DATE)  | RECEIPT_DATE 만  |     953 | 후행 컬럼만 매치     |</a:t>
            </a:r>
          </a:p>
          <a:p>
            <a:r>
              <a:rPr sz="1250" b="0">
                <a:solidFill>
                  <a:srgbClr val="E6E6E6"/>
                </a:solidFill>
                <a:latin typeface="Consolas"/>
              </a:rPr>
              <a:t>| B (RECEIPT_DATE, HOSP_ID)  | HOSP_ID 만       |     954 | 이번엔 후행 컬럼     |</a:t>
            </a:r>
          </a:p>
          <a:p>
            <a:r>
              <a:rPr sz="1250" b="0">
                <a:solidFill>
                  <a:srgbClr val="E6E6E6"/>
                </a:solidFill>
                <a:latin typeface="Consolas"/>
              </a:rPr>
              <a:t>| B (RECEIPT_DATE, HOSP_ID)  | RECEIPT_DATE 만  |       5 | 이번엔 선두 컬럼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같은 두 컬럼, 같은 조건인데 순서만 바꾸면</a:t>
            </a:r>
          </a:p>
          <a:p>
            <a:r>
              <a:rPr sz="1250" b="0">
                <a:solidFill>
                  <a:srgbClr val="7EC699"/>
                </a:solidFill>
                <a:latin typeface="Consolas"/>
              </a:rPr>
              <a:t>--    12 &lt;-&gt; 954 ,  953 &lt;-&gt; 5  로 정확히 뒤바뀐다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비교표가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관찰 ① 순서를 바꾸면 비용이 정확히 맞바뀐다</a:t>
            </a:r>
          </a:p>
          <a:p>
            <a:r>
              <a:rPr sz="1600" b="0">
                <a:solidFill>
                  <a:srgbClr val="5A6672"/>
                </a:solidFill>
                <a:latin typeface="Malgun Gothic"/>
              </a:rPr>
              <a:t>    –  HOSP_ID 단독 조건은 12에서 954로, RECEIPT_DATE 단독 조건은 953에서 5로</a:t>
            </a:r>
          </a:p>
          <a:p>
            <a:r>
              <a:rPr sz="1600" b="0">
                <a:solidFill>
                  <a:srgbClr val="5A6672"/>
                </a:solidFill>
                <a:latin typeface="Malgun Gothic"/>
              </a:rPr>
              <a:t>    –  인덱스 정의 한 줄이 두 조회 패턴의 운명을 동시에 뒤집었다</a:t>
            </a:r>
          </a:p>
          <a:p>
            <a:r>
              <a:rPr sz="1800" b="0">
                <a:solidFill>
                  <a:srgbClr val="202830"/>
                </a:solidFill>
                <a:latin typeface="Malgun Gothic"/>
              </a:rPr>
              <a:t>•  관찰 ② 후행 컬럼만 매치돼도 인덱스 없는 것보다는 낫다</a:t>
            </a:r>
          </a:p>
          <a:p>
            <a:r>
              <a:rPr sz="1600" b="0">
                <a:solidFill>
                  <a:srgbClr val="5A6672"/>
                </a:solidFill>
                <a:latin typeface="Malgun Gothic"/>
              </a:rPr>
              <a:t>    –  953·954는 베이스라인 3,090보다 여전히 적다</a:t>
            </a:r>
          </a:p>
          <a:p>
            <a:r>
              <a:rPr sz="1600" b="0">
                <a:solidFill>
                  <a:srgbClr val="5A6672"/>
                </a:solidFill>
                <a:latin typeface="Malgun Gothic"/>
              </a:rPr>
              <a:t>    –  다만 이 사실이 순서를 아무렇게나 정해도 된다는 뜻은 아니다</a:t>
            </a:r>
          </a:p>
          <a:p>
            <a:r>
              <a:rPr sz="1800" b="0">
                <a:solidFill>
                  <a:srgbClr val="202830"/>
                </a:solidFill>
                <a:latin typeface="Malgun Gothic"/>
              </a:rPr>
              <a:t>•  결론 — 선두 컬럼 선택이 복합 인덱스 설계에서 가장 먼저 결정할 사항이다</a:t>
            </a:r>
          </a:p>
          <a:p>
            <a:r>
              <a:rPr sz="1600" b="0">
                <a:solidFill>
                  <a:srgbClr val="5A6672"/>
                </a:solidFill>
                <a:latin typeface="Malgun Gothic"/>
              </a:rPr>
              <a:t>    –  컬럼을 무엇으로 고를지는 그다음 문제다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컬럼 순서 결정 절차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 조회 패턴을 나열한다</a:t>
            </a:r>
          </a:p>
          <a:p>
            <a:r>
              <a:rPr sz="1600" b="0">
                <a:solidFill>
                  <a:srgbClr val="5A6672"/>
                </a:solidFill>
                <a:latin typeface="Malgun Gothic"/>
              </a:rPr>
              <a:t>    –  이 테이블에 대한 주요 조회들이 어떤 컬럼을 조건으로 쓰는지 정리한다</a:t>
            </a:r>
          </a:p>
          <a:p>
            <a:r>
              <a:rPr sz="1600" b="0">
                <a:solidFill>
                  <a:srgbClr val="5A6672"/>
                </a:solidFill>
                <a:latin typeface="Malgun Gothic"/>
              </a:rPr>
              <a:t>    –  각 패턴이 얼마나 자주 실행되는지, 응답 속도 요구가 어떤지도 함께 적는다</a:t>
            </a:r>
          </a:p>
          <a:p>
            <a:r>
              <a:rPr sz="1800" b="0">
                <a:solidFill>
                  <a:srgbClr val="202830"/>
                </a:solidFill>
                <a:latin typeface="Malgun Gothic"/>
              </a:rPr>
              <a:t>•  2단계 — 선두 컬럼 후보를 고른다</a:t>
            </a:r>
          </a:p>
          <a:p>
            <a:r>
              <a:rPr sz="1600" b="0">
                <a:solidFill>
                  <a:srgbClr val="5A6672"/>
                </a:solidFill>
                <a:latin typeface="Malgun Gothic"/>
              </a:rPr>
              <a:t>    –  가장 빈번하거나 가장 중요한 조회에서 단독으로도 자주 쓰이는 컬럼을 고른다</a:t>
            </a:r>
          </a:p>
          <a:p>
            <a:r>
              <a:rPr sz="1600" b="0">
                <a:solidFill>
                  <a:srgbClr val="5A6672"/>
                </a:solidFill>
                <a:latin typeface="Malgun Gothic"/>
              </a:rPr>
              <a:t>    –  '단독으로도'가 핵심 조건이다 — 항상 함께 쓰이는 컬럼은 후보가 아니다</a:t>
            </a:r>
          </a:p>
          <a:p>
            <a:r>
              <a:rPr sz="1800" b="0">
                <a:solidFill>
                  <a:srgbClr val="202830"/>
                </a:solidFill>
                <a:latin typeface="Malgun Gothic"/>
              </a:rPr>
              <a:t>•  3단계 — 나머지 컬럼을 배치하고 남은 패턴을 검토한다</a:t>
            </a:r>
          </a:p>
          <a:p>
            <a:r>
              <a:rPr sz="1600" b="0">
                <a:solidFill>
                  <a:srgbClr val="5A6672"/>
                </a:solidFill>
                <a:latin typeface="Malgun Gothic"/>
              </a:rPr>
              <a:t>    –  두 컬럼을 함께 쓰는 조회의 빈도를 기준으로 후행 컬럼을 배치한다</a:t>
            </a:r>
          </a:p>
          <a:p>
            <a:r>
              <a:rPr sz="1600" b="0">
                <a:solidFill>
                  <a:srgbClr val="5A6672"/>
                </a:solidFill>
                <a:latin typeface="Malgun Gothic"/>
              </a:rPr>
              <a:t>    –  커버되지 않는 패턴은 추가 인덱스가 필요한지 트레이드오프와 함께 판단한다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정리 — 원상복구 스크립트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차시 종료 시 실습 인덱스를 삭제하고 통계를 재수집한다 (교안 도입부 안내)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이 차시에서 만든 실습용 인덱스를 모두 삭제한다</a:t>
            </a:r>
          </a:p>
          <a:p>
            <a:r>
              <a:rPr sz="1250" b="0">
                <a:solidFill>
                  <a:srgbClr val="E6E6E6"/>
                </a:solidFill>
                <a:latin typeface="Consolas"/>
              </a:rPr>
              <a:t>DROP INDEX ix_hosp_receipt;</a:t>
            </a:r>
          </a:p>
          <a:p>
            <a:r>
              <a:rPr sz="1250" b="0">
                <a:solidFill>
                  <a:srgbClr val="E6E6E6"/>
                </a:solidFill>
                <a:latin typeface="Consolas"/>
              </a:rPr>
              <a:t>DROP INDEX ix_receipt_hosp;</a:t>
            </a:r>
          </a:p>
          <a:p>
            <a:r>
              <a:rPr sz="1250" b="0">
                <a:solidFill>
                  <a:srgbClr val="E6E6E6"/>
                </a:solidFill>
                <a:latin typeface="Consolas"/>
              </a:rPr>
              <a:t> </a:t>
            </a:r>
          </a:p>
          <a:p>
            <a:r>
              <a:rPr sz="1250" b="0">
                <a:solidFill>
                  <a:srgbClr val="7EC699"/>
                </a:solidFill>
                <a:latin typeface="Consolas"/>
              </a:rPr>
              <a:t>-- 남아 있는 인덱스를 확인한다</a:t>
            </a:r>
          </a:p>
          <a:p>
            <a:r>
              <a:rPr sz="1250" b="0">
                <a:solidFill>
                  <a:srgbClr val="E6E6E6"/>
                </a:solidFill>
                <a:latin typeface="Consolas"/>
              </a:rPr>
              <a:t>SELECT index_name, uniqueness</a:t>
            </a:r>
          </a:p>
          <a:p>
            <a:r>
              <a:rPr sz="1250" b="0">
                <a:solidFill>
                  <a:srgbClr val="E6E6E6"/>
                </a:solidFill>
                <a:latin typeface="Consolas"/>
              </a:rPr>
              <a:t>  FROM user_indexes</a:t>
            </a:r>
          </a:p>
          <a:p>
            <a:r>
              <a:rPr sz="1250" b="0">
                <a:solidFill>
                  <a:srgbClr val="E6E6E6"/>
                </a:solidFill>
                <a:latin typeface="Consolas"/>
              </a:rPr>
              <a:t> WHERE table_name = 'MEDICAL_CLAIMS';</a:t>
            </a:r>
          </a:p>
          <a:p>
            <a:r>
              <a:rPr sz="1250" b="0">
                <a:solidFill>
                  <a:srgbClr val="E6E6E6"/>
                </a:solidFill>
                <a:latin typeface="Consolas"/>
              </a:rPr>
              <a:t> </a:t>
            </a:r>
          </a:p>
          <a:p>
            <a:r>
              <a:rPr sz="1250" b="0">
                <a:solidFill>
                  <a:srgbClr val="7EC699"/>
                </a:solidFill>
                <a:latin typeface="Consolas"/>
              </a:rPr>
              <a:t>-- PK_MEDICAL_CLAIMS 외의 인덱스가 남아 있으면 안 된다</a:t>
            </a:r>
          </a:p>
          <a:p>
            <a:r>
              <a:rPr sz="1250" b="0">
                <a:solidFill>
                  <a:srgbClr val="E6E6E6"/>
                </a:solidFill>
                <a:latin typeface="Consolas"/>
              </a:rPr>
              <a:t> </a:t>
            </a:r>
          </a:p>
          <a:p>
            <a:r>
              <a:rPr sz="1250" b="0">
                <a:solidFill>
                  <a:srgbClr val="7EC699"/>
                </a:solidFill>
                <a:latin typeface="Consolas"/>
              </a:rPr>
              <a:t>-- 통계를 다시 수집해 원래 상태로 되돌린다</a:t>
            </a:r>
          </a:p>
          <a:p>
            <a:r>
              <a:rPr sz="1250" b="0">
                <a:solidFill>
                  <a:srgbClr val="E6E6E6"/>
                </a:solidFill>
                <a:latin typeface="Consolas"/>
              </a:rPr>
              <a:t>EXEC DBMS_STATS.GATHER_TABLE_STATS(USER, 'MEDICAL_CLAIMS');</a:t>
            </a:r>
          </a:p>
          <a:p>
            <a:r>
              <a:rPr sz="1250" b="0">
                <a:solidFill>
                  <a:srgbClr val="E6E6E6"/>
                </a:solidFill>
                <a:latin typeface="Consolas"/>
              </a:rPr>
              <a:t> </a:t>
            </a:r>
          </a:p>
          <a:p>
            <a:r>
              <a:rPr sz="1250" b="0">
                <a:solidFill>
                  <a:srgbClr val="7EC699"/>
                </a:solidFill>
                <a:latin typeface="Consolas"/>
              </a:rPr>
              <a:t>-- 정리하지 않으면 이후 챕터의 실행계획이 재현되지 않는다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복합 인덱스는 선두 컬럼을 기준으로 먼저 정렬되고, 그 안에서 후행 컬럼이 정렬된다</a:t>
            </a:r>
          </a:p>
          <a:p>
            <a:r>
              <a:rPr sz="1800" b="0">
                <a:solidFill>
                  <a:srgbClr val="202830"/>
                </a:solidFill>
                <a:latin typeface="Malgun Gothic"/>
              </a:rPr>
              <a:t>•  조건에 선두 컬럼이 포함되어야 INDEX RANGE SCAN으로 저렴하게 처리된다</a:t>
            </a:r>
          </a:p>
          <a:p>
            <a:r>
              <a:rPr sz="1800" b="0">
                <a:solidFill>
                  <a:srgbClr val="202830"/>
                </a:solidFill>
                <a:latin typeface="Malgun Gothic"/>
              </a:rPr>
              <a:t>•  후행 컬럼만으로는 INDEX FAST FULL SCAN 또는 미사용으로 전환되어 비용이 커진다</a:t>
            </a:r>
          </a:p>
          <a:p>
            <a:r>
              <a:rPr sz="1800" b="0">
                <a:solidFill>
                  <a:srgbClr val="202830"/>
                </a:solidFill>
                <a:latin typeface="Malgun Gothic"/>
              </a:rPr>
              <a:t>•  선두 컬럼은 컬럼의 성질이 아니라 인덱스 정의에서의 위치로 결정된다</a:t>
            </a:r>
          </a:p>
          <a:p>
            <a:r>
              <a:rPr sz="1800" b="0">
                <a:solidFill>
                  <a:srgbClr val="202830"/>
                </a:solidFill>
                <a:latin typeface="Malgun Gothic"/>
              </a:rPr>
              <a:t>•  순서만 뒤집으면 Buffers가 12↔954, 953↔5로 정확히 맞바뀐다</a:t>
            </a:r>
          </a:p>
          <a:p>
            <a:r>
              <a:rPr sz="1800" b="0">
                <a:solidFill>
                  <a:srgbClr val="202830"/>
                </a:solidFill>
                <a:latin typeface="Malgun Gothic"/>
              </a:rPr>
              <a:t>•  두 컬럼을 모두 조건으로 쓰면 순서의 영향이 작아진다 (Buffers 3)</a:t>
            </a:r>
          </a:p>
          <a:p>
            <a:r>
              <a:rPr sz="1800" b="0">
                <a:solidFill>
                  <a:srgbClr val="202830"/>
                </a:solidFill>
                <a:latin typeface="Malgun Gothic"/>
              </a:rPr>
              <a:t>•  Fast Full Scan도 인덱스가 테이블보다 작아 Full Table Scan(3,090)보다는 저렴하다</a:t>
            </a:r>
          </a:p>
          <a:p>
            <a:r>
              <a:rPr sz="1800" b="0">
                <a:solidFill>
                  <a:srgbClr val="202830"/>
                </a:solidFill>
                <a:latin typeface="Malgun Gothic"/>
              </a:rPr>
              <a:t>•  인덱스는 조회를 돕지만 DML 비용을 늘린다 — 많이 만드는 것이 능사가 아니다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ch06_문제.md</a:t>
            </a:r>
          </a:p>
          <a:p>
            <a:r>
              <a:rPr sz="1600" b="0">
                <a:solidFill>
                  <a:srgbClr val="5A6672"/>
                </a:solidFill>
                <a:latin typeface="Malgun Gothic"/>
              </a:rPr>
              <a:t>    –  1·8번  같은 인덱스인데 조건에 따라 오퍼레이션이 달라지는 이유</a:t>
            </a:r>
          </a:p>
          <a:p>
            <a:r>
              <a:rPr sz="1600" b="0">
                <a:solidFill>
                  <a:srgbClr val="5A6672"/>
                </a:solidFill>
                <a:latin typeface="Malgun Gothic"/>
              </a:rPr>
              <a:t>    –  2번  순서를 뒤집었을 때의 결과로 선두 컬럼의 정의를 설명</a:t>
            </a:r>
          </a:p>
          <a:p>
            <a:r>
              <a:rPr sz="1600" b="0">
                <a:solidFill>
                  <a:srgbClr val="5A6672"/>
                </a:solidFill>
                <a:latin typeface="Malgun Gothic"/>
              </a:rPr>
              <a:t>    –  3번  두 컬럼을 모두 쓸 때 순서의 영향이 작아지는 이유</a:t>
            </a:r>
          </a:p>
          <a:p>
            <a:r>
              <a:rPr sz="1600" b="0">
                <a:solidFill>
                  <a:srgbClr val="5A6672"/>
                </a:solidFill>
                <a:latin typeface="Malgun Gothic"/>
              </a:rPr>
              <a:t>    –  4번  Fast Full Scan이 Full Table Scan보다 저렴한 근거</a:t>
            </a:r>
          </a:p>
          <a:p>
            <a:r>
              <a:rPr sz="1600" b="0">
                <a:solidFill>
                  <a:srgbClr val="5A6672"/>
                </a:solidFill>
                <a:latin typeface="Malgun Gothic"/>
              </a:rPr>
              <a:t>    –  5·6번  실무 조회 빈도 가정과 인덱스를 두 개 만드는 비용</a:t>
            </a:r>
          </a:p>
          <a:p>
            <a:r>
              <a:rPr sz="1600" b="0">
                <a:solidFill>
                  <a:srgbClr val="5A6672"/>
                </a:solidFill>
                <a:latin typeface="Malgun Gothic"/>
              </a:rPr>
              <a:t>    –  7번  전화번호부 비유를 실측 결과와 대응시키기</a:t>
            </a:r>
          </a:p>
          <a:p>
            <a:r>
              <a:rPr sz="1600" b="0">
                <a:solidFill>
                  <a:srgbClr val="5A6672"/>
                </a:solidFill>
                <a:latin typeface="Malgun Gothic"/>
              </a:rPr>
              <a:t>    –  9·10번  단일 컬럼 추가와 순서 변경의 비교, 순서 결정 절차 정리</a:t>
            </a:r>
          </a:p>
          <a:p>
            <a:r>
              <a:rPr sz="1800" b="0">
                <a:solidFill>
                  <a:srgbClr val="202830"/>
                </a:solidFill>
                <a:latin typeface="Malgun Gothic"/>
              </a:rPr>
              <a:t>•  실습 전후 확인 — 인덱스는 IX_CH05_ 접두어로 만들고 종료 시 반드시 삭제한다</a:t>
            </a:r>
          </a:p>
          <a:p>
            <a:r>
              <a:rPr sz="1600" b="0">
                <a:solidFill>
                  <a:srgbClr val="5A6672"/>
                </a:solidFill>
                <a:latin typeface="Malgun Gothic"/>
              </a:rPr>
              <a:t>    –  삭제 후 통계를 재수집해야 이후 챕터의 실행계획이 재현된다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
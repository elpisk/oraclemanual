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ch11은 집합 연산자를 다루지만 문법 수업이 아니다. 핵심 질문은 하나다 — 중복을 제거하는 데 드는 비용은 실행계획의 어느 지표에 나타나는가. 이번 장에서 학습자는 Buffers가 완전히 같은데도 실제 소요 시간은 두 배 이상 차이 나는 사례를 직접 보게 된다. 여기서 앞 장까지 익힌 Buffers 중심의 판단 습관에 처음으로 한계가 생긴다는 점을 미리 예고해 두면 수업 몰입도가 올라간다. DDL 변경은 없고 기존 PK만 사용한다는 점도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목표를 읽어줄 때 세 번째 항목에 무게를 실어야 한다. 앞 장들에서 Buffers를 성능 판단의 1차 지표로 훈련시켰기 때문에, 이번 장의 결론은 그 훈련을 부정하는 것처럼 들릴 수 있다. Buffers를 버리라는 뜻이 아니라 Buffers가 재는 것이 논리적 I/O뿐이라는 정의를 정확히 지키라는 뜻임을 분명히 해 둔다. 마지막 목표인 체크리스트는 이 장 전체를 한 장으로 요약하는 형태이므로 수업 끝에 다시 돌아온다고 예고한다.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장은 크게 두 덩어리로 나뉜다. 앞쪽 9.1부터 9.5까지는 "비용이 분명히 있는데 Buffers에는 안 보이는" 사례이고, 뒤쪽 9.6은 반대로 "비용이 있을 것 같은데 아예 사라지는" 사례다. 두 사례가 정반대 방향이라는 점을 먼저 예고해야 학습자가 뒤에서 혼란을 겪지 않는다. 마지막 9.7~9.8에서 두 사례를 하나의 판단 기준으로 묶으므로, 중간에 결론을 서두르지 말고 실측을 끝까지 따라오게 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절은 문제 제기다. UNION과 UNION ALL 중 무엇을 쓸지 고민한 기억이 있는지 학습자에게 직접 물어보면 좋다. 대부분은 "중복이 생기면 곤란하니까 UNION"이라고 답한다. 그 판단이 틀렸다는 것이 아니라, 판단의 근거가 데이터의 성질이 아니라 불안감이라는 점이 문제다. 이 절에서는 결론을 내지 말고 질문만 남긴 채 다음 절의 개념 정리로 넘어간다. 또한 이 장의 두 실측이 서로 반대 방향의 결론을 낸다는 점을 여기서 미리 예고해 두면, 뒤에서 학습자가 성급하게 규칙 하나로 정리해 버리는 일을 막을 수 있다. 문제 제기만 남기고 넘어가는 것이 요령이다.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강조할 것은 이 선택이 양방향으로 위험하다는 점이다. 성능만 이야기하면 학습자는 "그럼 UNION ALL이 더 빠르니까 그걸 쓰자"로 잘못 정리해 버린다. 뒤에서 다룰 실측이 바로 그 오해를 막는 사례다. 실무 사고는 오히려 UNION ALL 쪽에서 더 많이 난다 — 집계 리포트의 숫자가 부풀려져도 쿼리는 에러 없이 돌기 때문에 한참 뒤에야 발견된다는 점을 짚어준다. 덧붙여 코드 리뷰에서 UNION ALL 변경이 쉽게 통과되는 이유도 짚어준다 — 문법이 단순해지고 빨라 보이기 때문에 결과가 달라진다는 사실이 가려지기 쉽다는 점을 경고해 둔다.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차시는 인덱스를 새로 만들거나 테이블 구조를 바꾸지 않는다. 즉 튜닝 수단이 SQL 작성 방식 하나뿐인 상황이다. 그래서 학습자가 "무엇을 바꿨더니 무엇이 달라졌는가"를 아주 깔끔하게 관찰할 수 있는 장이다. 두 시나리오가 서로 반대 결론을 향한다는 점을 다시 한 번 예고하고, 실습 DB에서 직접 캡처한 값만 사용하므로 수치를 그대로 신뢰해도 좋다고 안내한다. 실습 DB의 데이터 분포는 고정돼 있으므로 각자 돌려도 같은 건수가 나온다는 점을 미리 말해 두면, 결과가 다르게 나왔을 때 조건을 잘못 적었는지를 먼저 확인하는 습관이 생긴다.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개념 정리 절이다. 이미 아는 내용이라 지루해할 수 있으므로, 정의를 읽는 데 그치지 말고 "그래서 이 정의가 실행계획에서 어떤 오퍼레이션으로 나타날 것 같은가"를 먼저 예측하게 한 뒤 다음 절에서 답을 맞춰보는 방식으로 진행하면 좋다. 특히 중복을 제거하려면 값을 서로 비교해야 하고, 비교하려면 같은 값을 한곳에 모아야 한다는 흐름을 학습자 입으로 말하게 만드는 것이 이 절의 목표다. 정의를 읽고 끝내면 남는 것이 없으므로, 각 연산자가 실행계획에서 어떤 이름의 오퍼레이션으로 보일지 이름까지 예측해 적어두게 하면 다음 절의 확인이 훨씬 선명해진다.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학습자가 가장 자주 하는 오해는 UNION ALL을 "UNION의 빠른 버전"으로 이해하는 것이다. 두 연산자는 결과가 다를 수 있는 별개의 연산이며, 결과가 같아지는 것은 두 집합이 서로 겹치지 않는 특수한 경우뿐이다. 튜닝의 대전제인 "같은 결과를 내는 대안들끼리만 비교한다"를 여기서 다시 꺼내면 좋다. 결과가 달라지는 변경은 튜닝이 아니라 사양 변경이라는 표현이 잘 먹힌다. 결과가 달라지는 변경은 튜닝이 아니라 사양 변경이라는 표현이 학습자에게 잘 남는다. 이 문장은 이후 장에서도 계속 재활용되므로 여기서 처음 꺼내 두는 것이 좋다.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DISTINCT가 붙어 있는 쿼리를 만나면 먼저 물어야 할 질문은 "왜 붙였는가"다. 조인 때문에 늘어난 행을 되돌리려고 붙였다면 근본 원인은 조인 쪽에 있으므로 DISTINCT를 지우는 것이 아니라 조인 구조를 손봐야 한다. 반대로 확신이 없어 습관적으로 붙였다면 유일성을 확인한 뒤 지울 수 있다. 이 구분은 이번 장 후반의 판단 기준과 그대로 이어진다는 점을 미리 연결해 준다. 또 DISTINCT는 선택된 컬럼 조합 전체를 기준으로 판정한다는 점도 짚어야 한다. 컬럼을 하나 더 넣는 순간 중복 판정 기준이 달라져 결과 건수가 바뀔 수 있기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학습자에게 예측을 시켜본다 — 중복 제거 단계가 추가되면 실행계획의 어떤 값이 늘어날 것 같은가. 대부분 Buffers를 답한다. 그 예측이 빗나가는 것이 이번 장의 핵심 장면이므로, 답을 알려주지 말고 예측만 칠판에 적어 둔 뒤 실측으로 확인하는 순서를 지키는 것이 좋다. 정렬이든 해시든 전체를 한 번 모아야 한다는 점이 뒤에서 메모리 지표를 읽는 근거가 된다. 정렬과 해시 중 무엇이 선택되는지는 데이터량과 메모리 상황에 따라 옵티마이저가 정한다는 점만 짚고, 선택 기준 자체를 깊이 파고들지는 않는 편이 이 장의 흐름에 맞다.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절이 ch11의 이론적 중심이다. 여기서 세운 원리를 다음 절의 실측이 그대로 확인해 준다. 순서를 뒤집지 말고 원리를 먼저 세우는 편이 좋다 — 실측을 먼저 보여주면 학습자는 숫자를 외우려 들고, 원리를 먼저 세우면 숫자를 근거로 쓰게 된다. 특히 Buffers의 정의를 다시 정확히 확인하는 것이 이 절의 실질적 목표다. 지표의 정의로 돌아가는 훈련은 이번 장뿐 아니라 이후 모든 장에서 반복되므로, 여기서 한 번 확실히 몸에 붙여두면 나중에 같은 설명을 반복할 필요가 크게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 설계 관점에서 이 구조를 짚어주면 학습자의 이해가 깊어진다. 두 쿼리는 접근 경로도, 조건도, 읽는 테이블도 완전히 같고 오직 한 단계만 다르다. 통제 변인이 하나뿐인 실험이라는 뜻이다. 실무 튜닝에서도 비교 대상을 만들 때 이렇게 변수를 하나만 남기는 습관이 중요하다는 점으로 확장하면, 단순한 문법 비교가 방법론 수업으로 바뀐다. 또 UNION 계획을 볼 때 SORT UNIQUE 바로 아래에 UNION-ALL이 있는 모양 자체를 기억하게 하면, 낯선 실행계획에서도 집합 연산의 흔적을 빠르게 찾아낼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지표의 정의로 돌아가는 훈련을 시키는 슬라이드다. Buffers가 늘지 않았다는 관측을 두고 학습자는 흔히 "아무 일도 안 했다"로 해석한다. 그러나 지표는 자기가 정의된 것만 잰다. 온도계가 습도를 못 재는 것이 온도계의 결함이 아니듯이 말이다. 동시 사용자가 많은 운영 환경에서는 CPU가 I/O만큼, 때로는 그 이상으로 희소한 자원이라는 점도 함께 짚어주면 실무 감각이 붙는다. 지표는 자기가 정의된 것만 잰다는 원칙을 여기서 한 문장으로 못 박아 두면, 이후 장에서 다른 지표를 다룰 때도 학습자가 같은 방식으로 접근하게 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실행계획을 세로로 읽는 습관을 만들어 주는 슬라이드다. Buffers 열만 위에서 아래로 훑는 학습자가 대단히 많은데, 실제로는 한 행을 가로로 끝까지 읽어야 그 단계의 성격이 보인다. 작업 메모리 값이 찍혀 있다는 것은 그 단계가 중간 결과를 쌓았다는 증거이고, 데이터가 커지면 그 공간이 부족해져 디스크로 넘어갈 수도 있다는 위험 신호로도 읽힌다는 점을 덧붙이면 좋다. 작업 메모리가 부족해 정렬이 디스크로 넘어가면 그때는 Buffers가 아니라 임시 영역 I/O가 늘어난다는 점까지 언급해 두면, 데이터가 커졌을 때의 위험을 미리 인식시킬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"증명 가능성"이라는 표현을 꼭 짚어야 한다. 학습자는 흔히 데이터에 중복이 실제로 없으면 옵티마이저가 알아서 건너뛸 것이라고 생각하는데, 옵티마이저가 신뢰하는 것은 데이터의 현재 상태가 아니라 제약조건이라는 선언이다. 제약이 없으면 지금 중복이 없더라도 다음 순간 들어올 수 있으므로 생략할 수 없다. 이 차이가 뒤에서 다룰 PK 컬럼과 FK 컬럼의 대비를 이해하는 열쇠가 된다. 제약조건을 성능 자원으로 보는 관점은 학습자에게 낯설기 때문에, 여기서 한 번 명시적으로 말해 두고 다음 절의 실측으로 확인시키는 순서가 가장 효과적이다.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실측 소재를 소개하는 절이다. 쿼리를 보여주기 전에 소재의 의미를 먼저 정리해야 뒤의 숫자가 의미를 갖는다. 특히 두 집합이 겹칠 수 있는지를 학습자가 스스로 판단하게 만든 다음 쿼리를 보여주면, 결과 건수 차이가 나왔을 때 "역시"라는 반응이 나온다. 두 쿼리가 오직 연산자 하나만 다르다는 점도 다시 확인시킨다. 쿼리를 띄우기 전에 두 집합의 이름만 칠판에 적어놓고 겹칠 수 있는지 물어보면, 뒤에 나오는 건수 차이가 단순한 숫자가 아니라 예측의 확인으로 받아들여진다.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반드시 학습자에게 물어야 할 것은 "이 두 집합이 겹칠 수 있는가"다. 스키마를 보고 판단하는 훈련이기 때문이다. 보험 유형은 환자 속성이고 청구 유형은 청구 속성이므로 서로를 배제하지 않는다. 이렇게 컬럼이 어느 테이블의 속성인지를 따지는 습관이 곧 UNION과 UNION ALL의 선택 근거가 된다. 답을 먼저 주지 말고 근거를 말하게 하는 것이 좋다. 스키마를 근거로 판단하는 훈련이므로, 답이 맞았는지보다 어떤 컬럼이 어느 테이블의 속성인지를 짚어 말했는지를 기준으로 피드백을 주는 편이 학습 효과가 크다.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인라인 뷰를 COUNT(*)로 감싼 형태에 주목시킨다. 집합 연산의 결과 건수를 그대로 세는 가장 단순한 확인 방법이다. 여기서 SELECT 목록이 PAT_ID 하나뿐이라는 점도 중요하다 — 중복 판정의 기준이 되는 컬럼 조합이 단순할수록 실행계획도 단순해져 비교가 깨끗해진다. 실습 때는 이 쿼리를 먼저 돌려 결과 건수를 적어 두게 하고, 다음 쿼리와 비교할 준비를 시킨다. 인라인 뷰 바깥의 COUNT(*)가 실행계획에서 SORT AGGREGATE로 나타난다는 점도 미리 언급해 두면, 다음 절에서 계획을 볼 때 낯선 오퍼레이션이 하나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Q1과 Q2를 나란히 놓고 다른 글자가 몇 개인지 세어보게 하면 인상적이다. ALL 세 글자뿐이다. 이렇게 작은 차이가 결과 건수와 소요 시간을 모두 바꾼다는 점이 이 장의 극적인 지점이다. 실습에서는 두 쿼리를 연달아 실행한 뒤 결과 건수를 먼저 비교하고, 그 다음에 실행계획을 열어보는 순서를 지키게 한다. 순서를 바꾸면 학습자가 숫자의 의미보다 계획 모양에 먼저 끌려간다. 또한 두 쿼리를 같은 세션에서 연달아 돌리면 캐시 상태가 비슷해져 비교가 공정해진다는 점도 알려준다. 순서를 바꿔 한 번 더 돌려보게 하면 더 확실해진다.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절이 ch11의 하이라이트다. 슬라이드를 넘기기 전에 앞서 적어 둔 학습자들의 예측을 다시 꺼내 놓고 시작하면 효과가 크다. 대부분 "UNION 쪽 Buffers가 더 클 것"이라고 예측했을 텐데 실측은 완전히 같다. 예측이 빗나간 순간이 가장 잘 기억되므로, 놀란 상태에서 곧바로 원인 해석으로 넘어가지 말고 잠시 관측 사실만 확인하는 시간을 두는 편이 좋다. 관측과 해석을 분리하는 습관을 여기서 훈련시킨다. 무엇이 보이는가를 먼저 다 말하게 한 뒤에야 왜 그런가로 넘어가는 순서가 이 절 전체의 진행 방식이다.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계획을 읽는 순서는 안쪽부터다. 두 테이블을 각각 전체 스캔해 합친 뒤, 그 결과를 정렬해 중복을 제거하고, 마지막에 건수를 센다. 학습자에게 A-Rows 열을 세로로 짚어가며 읽히면 흐름이 눈에 들어온다 — 합친 직후와 중복 제거 직후의 건수가 다르다는 사실이 이 계획의 핵심 정보다. 작업 메모리 관련 값이 오직 SORT UNIQUE 행에만 찍혀 있다는 점도 함께 짚어준다. 또 Id 번호는 계획의 실행 순서가 아니라 트리 구조의 표시일 뿐이라는 점도 다시 확인시켜 두면, 아래에서 위로 읽는 규칙과 번호 순서가 충돌하지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Buffers는 누적값이라는 점을 다시 확인시킨다. 상위 단계의 Buffers는 자기가 새로 읽은 것이 아니라 아래 단계들의 합이다. 그래서 SORT UNIQUE 행의 값이 아래와 같다는 것은 그 단계가 블록을 하나도 새로 읽지 않았다는 뜻이 된다. 반대로 작업 메모리 값은 오직 그 행에만 찍혔다 — 이 대비가 "이 단계는 읽지 않고 모으기만 했다"는 사실을 한눈에 보여주는 증거다. 이 대비를 학습자가 스스로 말로 설명할 수 있게 되면 실습 1번은 사실상 푼 것이나 마찬가지이므로, 여기서 한 명을 지목해 설명을 시켜보는 것도 좋은 방법이다.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Q1과 나란히 놓고 보면 단계 수가 하나 줄었고 Id 번호가 그만큼 당겨졌다는 것을 알 수 있다. 테이블 접근 단계의 Buffers는 3,090과 442로 Q1과 완전히 같다 — 읽는 일 자체는 조금도 달라지지 않았다는 뜻이다. 또 하나 짚을 것은 VIEW 단계의 A-Rows다. Q1에서는 중복이 제거된 뒤의 건수였지만 여기서는 합친 그대로의 건수가 올라온다. 같은 자리의 숫자가 다른 의미를 갖는 지점이다.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학습자에게 "무엇이 달라졌고 무엇이 그대로인가"를 표로 정리하게 하면 좋다. 달라진 것은 단계 하나와 A-Time, 그리고 결과 건수다. 그대로인 것은 접근 경로와 Buffers다. 이렇게 변한 것과 변하지 않은 것을 분리해 적어 두면, 다음 슬라이드에서 원인을 지목할 때 근거가 이미 손에 들려 있는 상태가 된다. 실습 1·2번 문항이 정확히 이 정리를 요구한다. 또 두 계획을 나란히 띄워놓고 화면을 번갈아 보여주면 단계 하나가 빠진 모양이 시각적으로 각인된다. 계획 비교는 말보다 화면이 효과적인 영역이다.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실험의 결론을 정리하는 슬라이드다. 통제 변인이 하나뿐이므로 인과를 특정할 수 있다는 논리를 다시 강조한다. 실무에서는 이렇게 깨끗한 비교가 흔치 않다 — 보통 여러 가지를 한꺼번에 바꿔놓고 어느 것이 효과가 있었는지 모르는 상태가 된다. 튜닝 실험을 설계할 때 한 번에 하나씩만 바꾸라는 원칙을 여기서 자연스럽게 도출해 주면 좋다. 덧붙여 이번 비교가 깨끗했던 이유는 인덱스도 통계도 건드리지 않았기 때문이라는 점을 짚어주면, 실무에서 비교 환경을 통제하는 감각까지 함께 전달할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1번과 3번 문항이 이 슬라이드에서 나온다. 특히 3번은 팀원의 잘못된 결론을 반박하는 형식인데, 반박의 핵심은 Buffers의 정의로 돌아가는 것이다. Buffers는 논리적 I/O 지표이지 종합 비용 지표가 아니다. 실무에서 이런 오판이 위험한 이유는 CPU 부하가 큰 쿼리를 "가벼운 쿼리"로 분류해 동시 실행 건수를 늘려버리는 방식으로 사고가 커지기 때문이라는 점도 덧붙인다. 또한 Buffers가 같다는 관측 자체는 틀린 것이 아니라 불완전한 것임을 분명히 해야 한다. 관측을 부정하는 것이 아니라 해석의 범위를 제한하는 훈련이기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A-Time은 캐시 상태 같은 외부 요인에 흔들릴 수 있는 지표라고 앞 장에서 배웠는데 여기서는 근거로 쓴다. 모순처럼 들릴 수 있으므로 정리해 준다 — 흔들리는 지표라도 다른 조건이 완전히 동일하고 차이가 반복해서 재현되면 근거가 된다. 이번 사례는 접근 경로와 Buffers가 완전히 같고 단계 하나만 다르므로 A-Time 차이를 그 단계에 귀속시킬 수 있다. 실습 2번 문항이 정확히 이 논증을 요구한다.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성능 이야기가 잠시 멈추고 데이터 해석으로 넘어가는 지점이다. 건수 차이를 중복 규모의 측정값으로 쓰는 기법은 실무에서 꽤 유용하다 — UNION을 UNION ALL로 바꿔도 되는지 확신이 서지 않을 때 두 버전의 건수를 세어보면 답이 바로 나온다. 논리적 추론이 어려울 때 데이터로 확인하는 우회로를 하나 쥐여주는 셈이다. 실습 4번 문항이 여기서 나온다. 또 건수 차이가 정확히 겹친 인원수와 같아지는 것은 각 집합 안에 자체 중복이 없을 때 성립한다는 조건도 짚어주면, 숫자를 기계적으로 외우지 않게 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ch11에서 가장 실무적인 슬라이드다. 성능 개선안을 검토할 때 첫 번째 질문은 언제나 "결과가 같은가"여야 한다. 특히 집계 쿼리에서 UNION을 UNION ALL로 바꾸는 변경은 리뷰에서 통과되기 쉽다 — 문법이 단순해지고 빨라지기 때문이다. 그러나 겹칠 수 있는 집합이라면 그 순간부터 리포트의 숫자가 틀린다. 실습 5번 문항이 이 판단을 직접 묻는다. 또한 이런 변경은 테스트에서도 잘 걸리지 않는다. 개발 데이터가 작아 겹침이 없으면 두 결과가 같게 나오기 때문이다. 검증 데이터의 성질까지 함께 봐야 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절과 정반대 방향의 사례로 넘어간다. 앞에서는 "안 보이지만 있는 비용"이었고 여기서는 "있을 것 같지만 없는 비용"이다. 두 사례를 함께 겪어야 학습자가 "중복 제거는 무조건 비싸다" 혹은 "DISTINCT는 무조건 지워야 한다" 같은 단순한 규칙으로 도망가지 않는다. 전환 지점이므로 앞 절의 결론을 한 문장으로 정리한 뒤 넘어가는 것이 좋다. 전환 지점에서 앞 절의 결론을 한 문장으로 정리하게 시키면, 뒤 사례를 볼 때 두 결론이 서로 충돌하는 것이 아니라 나란히 선다는 것을 스스로 알아차린다.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쿼리를 보여준 뒤 곧바로 실행계획을 열지 말고 예측을 시킨다 — Q3에는 중복 제거 오퍼레이션이 나타날 것 같은가. 앞 절에서 SORT UNIQUE의 존재를 확인한 직후이므로 대부분 나타난다고 답한다. 그 예측이 다시 한 번 빗나가는 것이 이 절의 장면이다. HOSP_ID가 HOSPITALS의 기본 키라는 사실을 미리 알려줄지 말지는 강의 호흡에 맞춰 조절한다. 또 조건이 걸러내는 범위가 좁다는 점도 미리 짚어두면, 계획이 두 줄로 끝나는 이유가 DISTINCT 생략 하나 때문만은 아니라는 것을 함께 이해하게 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hash value가 같다는 것은 옵티마이저가 만들어낸 실행계획이 문자 그대로 동일하다는 뜻이다. 비슷한 것이 아니라 같은 것이다. 이 값을 비교하는 습관은 실무에서도 유용하다 — SQL 문장을 손봤을 때 계획이 실제로 바뀌었는지를 눈으로 계획을 대조하지 않고도 한 번에 확인할 수 있기 때문이다. 두 줄짜리 계획이라는 점도 앞 절의 일곱 줄짜리 계획과 대비시켜 보여주면 인상적이다. 또한 계획이 같다는 사실만으로 두 쿼리가 언제나 같은 결과를 낸다고 말할 수는 없다는 점도 덧붙인다. 여기서는 유일성이 보장돼 결과까지 같아진 특수한 경우다.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시점에 빨리 끝났다"가 아니라 "계획 단계에서 아예 빠졌다"는 구분이 중요하다. 옵티마이저는 SQL을 문자 그대로 실행하는 기계가 아니라 같은 결과를 내는 더 나은 방법을 찾는 최적화기다. 이런 변환을 어디까지 해주는지는 옵티마이저가 어떤 사실을 알고 있느냐에 달려 있고, 그 앎의 출처가 바로 제약조건과 통계다. 실습 6번 문항이 이 근거를 설명하도록 요구한다. 또 옵티마이저가 하는 이런 변환을 질의 변환이라 부르며, 이후 장에서 다룰 서브쿼리 처리도 같은 범주에 속한다는 점을 미리 연결해 두면 흐름이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제약조건을 성능 관점에서 다시 보게 만드는 슬라이드다. 실무에서는 성능을 이유로 외래 키 제약을 걸지 않는 설계를 종종 만나는데, 이때 잃는 것은 정합성만이 아니다. 옵티마이저가 쓸 수 있는 사실 하나가 사라지는 것이고, 그만큼 최적화 여지도 줄어든다. 이 관점은 뒤에 나올 조인 관련 챕터에서도 반복되므로 여기서 한 번 심어 두면 나중에 회수하기 좋다. 또한 제약을 선언해 두면 사람이 아니라 DB가 규칙을 지켜준다는 점에서 유지보수 비용도 줄어든다. 성능과 정합성이 같은 방향을 가리키는 드문 사례다.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외우려는 학습자에게 제동을 거는 슬라이드다. "항상"이 들어간 성능 명제는 대부분 전제를 숨기고 있다. 이 명제의 숨은 전제는 옵티마이저가 아무 판단도 하지 않는다는 가정이다. 앞 장에서 다룬 다른 통념들과 같은 구조라는 점을 짚어주면 좋다. 동시에 반대편으로 과도하게 기울어 DISTINCT를 남발하는 것도 막아야 하므로 마지막 두 항목을 분명히 읽어준다. 실습 7번 문항이 이 논증을 요구한다.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8번은 직접 실행하지 않고 원칙만 적용해 추론하는 문제다. 이런 문제가 중요한 이유는 실무에서 매번 실행해 볼 수 있는 것이 아니기 때문이다. 원리를 이해했다면 실행 전에 결과를 예측할 수 있어야 하고, 예측이 맞는지 확인하는 용도로 실행을 쓰는 것이 순서다. 컬럼 이름이 같다는 이유로 성질도 같을 것이라 가정하는 실수는 조인 조건을 작성할 때도 자주 나온다는 점을 덧붙인다. 또 실행 없이 예측한 뒤 확인하는 훈련은 운영 DB를 함부로 건드릴 수 없는 현장에서 특히 값지다. 예측이 틀렸을 때 왜 틀렸는지를 되짚는 과정이 진짜 학습이다.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절은 앞의 두 사례를 하나의 판단 절차로 묶는 자리다. 서로 반대 방향의 결론을 낸 두 사례를 어떻게 한 기준 안에 담을 수 있는지가 관건인데, 답은 "중복 제거가 필요한가"와 "옵티마이저가 알아서 없애줄 수 있는가"를 순서대로 묻는 것이다. 이 순서를 학습자가 스스로 세우도록 유도하면 실습 10번 문항이 훨씬 쉬워진다. 또한 이 절은 앞의 모든 실측을 회수하는 자리이므로, 새로운 내용을 더하기보다 앞에서 나온 관측과 숫자를 다시 인용하면서 정리하는 방식이 효과적이다.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판단의 근거를 구조에서 찾으라는 대목이 실무적으로 가장 중요하다. 개발 데이터에서 두 집합이 겹치지 않았다는 이유로 UNION ALL로 바꿨다가 운영 데이터에서 중복이 발생하는 사고가 전형적이다. 구조적으로 겹칠 수 없다는 말은 어떤 데이터가 들어와도 겹칠 수 없다는 뜻이어야 한다. 확신이 없을 때 건수를 세어보는 방법은 어디까지나 보조 수단이라는 점도 함께 짚어준다. 또 겹침 여부를 문서가 아니라 제약과 컬럼 정의에서 확인하라고 당부한다. 주석이나 설계 문서는 낡을 수 있지만 제약은 DB가 지금 지키고 있는 규칙이다.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예시의 차이를 명확히 대비시켜야 한다. 같은 행의 같은 컬럼이 하나의 값만 가질 수 있다는 사실은 데이터가 아니라 구조가 보장하는 배타성이다. 반면 보험 유형과 청구 유형처럼 서로 다른 테이블의 속성으로 나눈 집합은 서로를 배제하지 않는다. 실습 9번은 학습자가 직접 배타적 예시를 만들어 보게 하는 문제이므로, 여기서 예시 하나를 더 만들어 보라고 즉석에서 시켜보면 좋다. 또한 배타성이 애플리케이션 로직으로만 보장되는 경우는 위험하다는 점도 덧붙인다. DB가 강제하지 않는 규칙은 언젠가 깨진 데이터가 들어올 수 있기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항목이 실무에서 가장 자주 마주치는 상황이다. 결과 건수가 이상하게 많아서 DISTINCT를 붙였더니 숫자가 맞더라는 식의 수정은 원인을 모른 채 증상만 덮은 것이다. 왜 행이 늘었는지 확인하지 않으면 조인 조건이 빠졌거나 잘못된 키로 연결된 진짜 버그를 놓치게 된다. DISTINCT가 붙은 쿼리를 리뷰할 때는 반드시 이유를 물어보라고 당부한다. 또 DISTINCT를 지울 때는 반드시 지우기 전후의 건수를 비교하게 한다. 유일성을 확신했더라도 확인 절차를 생략하지 않는 습관이 사고를 막아준다.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위에서 아래로 읽으면 이 장의 두 이야기가 한눈에 들어온다. 위 두 줄은 Buffers가 같은데 A-Time이 다른 사례이고, 아래 두 줄은 SQL이 다른데 모든 값이 같은 사례다. 학습자에게 어느 줄과 어느 줄을 비교해야 의미가 있는지 물어보면 좋다 — Q1과 Q2, Q3과 Q4끼리만 비교 대상이며 Q1과 Q3을 비교하는 것은 대상 테이블도 건수도 다르므로 아무 의미가 없다는 점을 확인시킨다. 또한 이 표에는 실습 DB에서 실제로 캡처한 값만 들어 있다는 점을 다시 확인시킨다. 환경이 다르면 절대값은 달라져도 두 줄 사이의 관계는 그대로 재현된다.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10번 문항이 요구하는 종합 정리가 이 세 항목이다. 순서가 중요하다는 점을 강조한다 — 먼저 필요 여부를 묻고, 다음에 옵티마이저가 알아서 처리해 주는지를 묻고, 마지막에야 남은 비용을 측정한다. 순서를 뒤집어 측정부터 시작하면 애초에 필요 없는 연산을 열심히 최적화하는 일이 생긴다. 가장 좋은 튜닝은 연산을 빠르게 만드는 것이 아니라 하지 않아도 되게 만드는 것이라는 문장으로 마무리하면 좋다.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요약을 읽을 때 세 번째와 일곱 번째 줄을 나란히 짚어주면 좋다. 하나는 "안 보이지만 있는 비용"이고 다른 하나는 "있을 것 같지만 없는 비용"이다. 두 사례가 공통으로 말하는 것은 실행계획을 읽을 때 지표 하나에 의존하지 말고 어떤 오퍼레이션이 있는지, 그 오퍼레이션의 성격이 무엇인지를 함께 보라는 것이다. 다음 챕터로 넘어가기 전 이 태도를 한 번 더 확인시킨다. 또 요약의 숫자들은 외울 대상이 아니라 논증의 근거라는 점을 분명히 한다. 필요한 것은 값 자체가 아니라 왜 그 값이 그렇게 나왔는지에 대한 설명이다.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문항 난이도가 상과 최상으로만 구성돼 있어 설명형 답안을 요구한다. 실행해서 숫자를 옮겨 적는 것으로는 점수가 나오지 않으므로, 왜 그렇게 되는지를 지표의 정의에서 출발해 서술하도록 안내한다. 특히 8번과 9번은 실행 없이 원칙만으로 추론하는 문제이므로 먼저 답을 적고 나서 확인하는 순서를 지키게 한다. 10번은 이 장 전체의 요약이므로 마지막에 풀도록 권한다. 또한 문항을 풀기 전에 교안의 실행계획 두 개를 다시 열어두게 하면 답안의 근거가 훨씬 구체적으로 나온다. 지표 이름을 정확히 써서 답하는 연습도 함께 시킨다.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ch11</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UNION / UNION ALL / DISTINCT</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중복 제거의 비용 · SORT UNIQUE · Buffers의 사각지대 · 옵티마이저의 DISTINCT 생략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UNION과 UNION ALL의 차이를 결과 집합과 실행계획 양쪽에서 설명할 수 있다</a:t>
            </a:r>
          </a:p>
          <a:p>
            <a:r>
              <a:rPr sz="1600" b="0">
                <a:solidFill>
                  <a:srgbClr val="5A6672"/>
                </a:solidFill>
                <a:latin typeface="Malgun Gothic"/>
              </a:rPr>
              <a:t>    –  UNION이 내부적으로 UNION-ALL 뒤에 SORT UNIQUE 단계를 덧붙인다는 사실을 실행계획에서 확인할 수 있다</a:t>
            </a:r>
          </a:p>
          <a:p>
            <a:r>
              <a:rPr sz="1600" b="0">
                <a:solidFill>
                  <a:srgbClr val="5A6672"/>
                </a:solidFill>
                <a:latin typeface="Malgun Gothic"/>
              </a:rPr>
              <a:t>    –  중복 제거 비용이 Buffers가 아니라 A-Time과 작업 메모리 지표에 나타나는 이유를 설명할 수 있다</a:t>
            </a:r>
          </a:p>
          <a:p>
            <a:r>
              <a:rPr sz="1600" b="0">
                <a:solidFill>
                  <a:srgbClr val="5A6672"/>
                </a:solidFill>
                <a:latin typeface="Malgun Gothic"/>
              </a:rPr>
              <a:t>    –  두 결과 집합이 논리적으로 겹칠 수 있는지를 기준으로 UNION과 UNION ALL을 선택할 수 있다</a:t>
            </a:r>
          </a:p>
          <a:p>
            <a:r>
              <a:rPr sz="1600" b="0">
                <a:solidFill>
                  <a:srgbClr val="5A6672"/>
                </a:solidFill>
                <a:latin typeface="Malgun Gothic"/>
              </a:rPr>
              <a:t>    –  PK·유니크 제약이 걸린 컬럼의 DISTINCT를 옵티마이저가 생략한다는 점을 실행계획으로 증명할 수 있다</a:t>
            </a:r>
          </a:p>
          <a:p>
            <a:r>
              <a:rPr sz="1600" b="0">
                <a:solidFill>
                  <a:srgbClr val="5A6672"/>
                </a:solidFill>
                <a:latin typeface="Malgun Gothic"/>
              </a:rPr>
              <a:t>    –  같은 컬럼명이라도 어느 테이블의 어떤 제약이냐에 따라 DISTINCT 생략 여부가 달라짐을 추론할 수 있다</a:t>
            </a:r>
          </a:p>
          <a:p>
            <a:r>
              <a:rPr sz="1600" b="0">
                <a:solidFill>
                  <a:srgbClr val="5A6672"/>
                </a:solidFill>
                <a:latin typeface="Malgun Gothic"/>
              </a:rPr>
              <a:t>    –  중복 제거 연산의 비용을 판단할 때 확인할 항목을 체크리스트로 정리할 수 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9.1  Why — 습관적인 UNION 선택이 위험한 이유</a:t>
            </a:r>
          </a:p>
          <a:p>
            <a:r>
              <a:rPr sz="1800" b="0">
                <a:solidFill>
                  <a:srgbClr val="202830"/>
                </a:solidFill>
                <a:latin typeface="Malgun Gothic"/>
              </a:rPr>
              <a:t>•  9.2  Concept — UNION · UNION ALL · DISTINCT의 정의</a:t>
            </a:r>
          </a:p>
          <a:p>
            <a:r>
              <a:rPr sz="1800" b="0">
                <a:solidFill>
                  <a:srgbClr val="202830"/>
                </a:solidFill>
                <a:latin typeface="Malgun Gothic"/>
              </a:rPr>
              <a:t>•  9.3  Oracle Internals — 중복 제거 비용은 어디에 나타나는가</a:t>
            </a:r>
          </a:p>
          <a:p>
            <a:r>
              <a:rPr sz="1800" b="0">
                <a:solidFill>
                  <a:srgbClr val="202830"/>
                </a:solidFill>
                <a:latin typeface="Malgun Gothic"/>
              </a:rPr>
              <a:t>•  9.4  Example — UNION vs UNION ALL 실측 소재</a:t>
            </a:r>
          </a:p>
          <a:p>
            <a:r>
              <a:rPr sz="1800" b="0">
                <a:solidFill>
                  <a:srgbClr val="202830"/>
                </a:solidFill>
                <a:latin typeface="Malgun Gothic"/>
              </a:rPr>
              <a:t>•  9.5  Execution Plan — 두 계획의 실측 비교와 해석</a:t>
            </a:r>
          </a:p>
          <a:p>
            <a:r>
              <a:rPr sz="1800" b="0">
                <a:solidFill>
                  <a:srgbClr val="202830"/>
                </a:solidFill>
                <a:latin typeface="Malgun Gothic"/>
              </a:rPr>
              <a:t>•  9.6  Bad SQL — 오히려 완전히 사라지는 DISTINCT</a:t>
            </a:r>
          </a:p>
          <a:p>
            <a:r>
              <a:rPr sz="1800" b="0">
                <a:solidFill>
                  <a:srgbClr val="202830"/>
                </a:solidFill>
                <a:latin typeface="Malgun Gothic"/>
              </a:rPr>
              <a:t>•  9.7~9.8  Tuning 판단 기준과 Benchmark 종합</a:t>
            </a:r>
          </a:p>
          <a:p>
            <a:r>
              <a:rPr sz="1800" b="0">
                <a:solidFill>
                  <a:srgbClr val="202830"/>
                </a:solidFill>
                <a:latin typeface="Malgun Gothic"/>
              </a:rPr>
              <a:t>•  9.9~9.10  Practice ·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9.1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습관적인 UNION 선택이 위험한 이유</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800" b="0">
                <a:solidFill>
                  <a:srgbClr val="C5CED6"/>
                </a:solidFill>
                <a:latin typeface="Malgun Gothic"/>
              </a:rPr>
              <a:t>•  현장에서 UNION과 UNION ALL이 선택되는 방식</a:t>
            </a:r>
          </a:p>
          <a:p>
            <a:r>
              <a:rPr sz="1800" b="0">
                <a:solidFill>
                  <a:srgbClr val="C5CED6"/>
                </a:solidFill>
                <a:latin typeface="Malgun Gothic"/>
              </a:rPr>
              <a:t>•  "일단 안전하게 UNION"이 감추는 비용</a:t>
            </a:r>
          </a:p>
          <a:p>
            <a:r>
              <a:rPr sz="1800" b="0">
                <a:solidFill>
                  <a:srgbClr val="C5CED6"/>
                </a:solidFill>
                <a:latin typeface="Malgun Gothic"/>
              </a:rPr>
              <a:t>•  이 차시의 목표와 범위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현장에서 UNION은 어떻게 선택되는가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UNION과 UNION ALL을 습관적으로 아무거나 쓰는 경우가 많다</a:t>
            </a:r>
          </a:p>
          <a:p>
            <a:r>
              <a:rPr sz="1600" b="0">
                <a:solidFill>
                  <a:srgbClr val="5A6672"/>
                </a:solidFill>
                <a:latin typeface="Malgun Gothic"/>
              </a:rPr>
              <a:t>    –  두 결과 집합에 중복이 있을 수 있는지를 따져보지 않는다</a:t>
            </a:r>
          </a:p>
          <a:p>
            <a:r>
              <a:rPr sz="1600" b="0">
                <a:solidFill>
                  <a:srgbClr val="5A6672"/>
                </a:solidFill>
                <a:latin typeface="Malgun Gothic"/>
              </a:rPr>
              <a:t>    –  "일단 중복 제거되는 UNION을 쓰자"는 식의 선택이 관행처럼 굳어진다</a:t>
            </a:r>
          </a:p>
          <a:p>
            <a:r>
              <a:rPr sz="1800" b="0">
                <a:solidFill>
                  <a:srgbClr val="202830"/>
                </a:solidFill>
                <a:latin typeface="Malgun Gothic"/>
              </a:rPr>
              <a:t>•  이 선택이 위험한 이유는 두 방향 모두다</a:t>
            </a:r>
          </a:p>
          <a:p>
            <a:r>
              <a:rPr sz="1600" b="0">
                <a:solidFill>
                  <a:srgbClr val="5A6672"/>
                </a:solidFill>
                <a:latin typeface="Malgun Gothic"/>
              </a:rPr>
              <a:t>    –  겹칠 수 없는 집합에 UNION을 쓰면 필요 없는 중복 제거 비용을 매번 지불한다</a:t>
            </a:r>
          </a:p>
          <a:p>
            <a:r>
              <a:rPr sz="1600" b="0">
                <a:solidFill>
                  <a:srgbClr val="5A6672"/>
                </a:solidFill>
                <a:latin typeface="Malgun Gothic"/>
              </a:rPr>
              <a:t>    –  겹치는 집합에 UNION ALL을 쓰면 성능이 아니라 결과 자체가 틀어진다</a:t>
            </a:r>
          </a:p>
          <a:p>
            <a:r>
              <a:rPr sz="1800" b="0">
                <a:solidFill>
                  <a:srgbClr val="202830"/>
                </a:solidFill>
                <a:latin typeface="Malgun Gothic"/>
              </a:rPr>
              <a:t>•  판단의 근거는 문법 취향이 아니라 데이터의 성질이어야 한다</a:t>
            </a:r>
          </a:p>
          <a:p>
            <a:r>
              <a:rPr sz="1600" b="0">
                <a:solidFill>
                  <a:srgbClr val="5A6672"/>
                </a:solidFill>
                <a:latin typeface="Malgun Gothic"/>
              </a:rPr>
              <a:t>    –  두 집합이 논리적으로 겹칠 수 있는가 — 이것이 유일한 1차 판단 기준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목표와 범위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목표 1 — 중복 제거에 실제로 어떤 비용이 드는지 실측으로 확인한다</a:t>
            </a:r>
          </a:p>
          <a:p>
            <a:r>
              <a:rPr sz="1600" b="0">
                <a:solidFill>
                  <a:srgbClr val="5A6672"/>
                </a:solidFill>
                <a:latin typeface="Malgun Gothic"/>
              </a:rPr>
              <a:t>    –  개념적으로 "정렬이 필요하다"는 설명을 실행계획 지표로 옮겨 본다</a:t>
            </a:r>
          </a:p>
          <a:p>
            <a:r>
              <a:rPr sz="1800" b="0">
                <a:solidFill>
                  <a:srgbClr val="202830"/>
                </a:solidFill>
                <a:latin typeface="Malgun Gothic"/>
              </a:rPr>
              <a:t>•  목표 2 — 그 비용이 항상 발생하는 것은 아님을 확인한다</a:t>
            </a:r>
          </a:p>
          <a:p>
            <a:r>
              <a:rPr sz="1600" b="0">
                <a:solidFill>
                  <a:srgbClr val="5A6672"/>
                </a:solidFill>
                <a:latin typeface="Malgun Gothic"/>
              </a:rPr>
              <a:t>    –  옵티마이저가 유일성을 증명할 수 있으면 중복 제거 단계 자체가 사라진다</a:t>
            </a:r>
          </a:p>
          <a:p>
            <a:r>
              <a:rPr sz="1800" b="0">
                <a:solidFill>
                  <a:srgbClr val="202830"/>
                </a:solidFill>
                <a:latin typeface="Malgun Gothic"/>
              </a:rPr>
              <a:t>•  소재 — 두 가지 실측 시나리오</a:t>
            </a:r>
          </a:p>
          <a:p>
            <a:r>
              <a:rPr sz="1600" b="0">
                <a:solidFill>
                  <a:srgbClr val="5A6672"/>
                </a:solidFill>
                <a:latin typeface="Malgun Gothic"/>
              </a:rPr>
              <a:t>    –  "입원 청구를 낸 환자" ∪ "의료급여 환자"를 UNION과 UNION ALL로 비교</a:t>
            </a:r>
          </a:p>
          <a:p>
            <a:r>
              <a:rPr sz="1600" b="0">
                <a:solidFill>
                  <a:srgbClr val="5A6672"/>
                </a:solidFill>
                <a:latin typeface="Malgun Gothic"/>
              </a:rPr>
              <a:t>    –  이미 유일함이 보장된 컬럼에 불필요한 DISTINCT를 붙였을 때의 실행계획</a:t>
            </a:r>
          </a:p>
          <a:p>
            <a:r>
              <a:rPr sz="1800" b="0">
                <a:solidFill>
                  <a:srgbClr val="202830"/>
                </a:solidFill>
                <a:latin typeface="Malgun Gothic"/>
              </a:rPr>
              <a:t>•  범위 — DDL 변경 없음. 기존 PK만 사용하며 모든 결과는 실습 DB 실측값</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9.2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UNION · UNION ALL · DISTINCT</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800" b="0">
                <a:solidFill>
                  <a:srgbClr val="C5CED6"/>
                </a:solidFill>
                <a:latin typeface="Malgun Gothic"/>
              </a:rPr>
              <a:t>•  UNION과 UNION ALL의 정의</a:t>
            </a:r>
          </a:p>
          <a:p>
            <a:r>
              <a:rPr sz="1800" b="0">
                <a:solidFill>
                  <a:srgbClr val="C5CED6"/>
                </a:solidFill>
                <a:latin typeface="Malgun Gothic"/>
              </a:rPr>
              <a:t>•  DISTINCT의 정의와 적용 범위</a:t>
            </a:r>
          </a:p>
          <a:p>
            <a:r>
              <a:rPr sz="1800" b="0">
                <a:solidFill>
                  <a:srgbClr val="C5CED6"/>
                </a:solidFill>
                <a:latin typeface="Malgun Gothic"/>
              </a:rPr>
              <a:t>•  중복 제거에 비용이 드는 이유</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UNION과 UNION ALL의 정의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UNION — 두 결과 집합을 합치면서 중복된 행을 제거한다</a:t>
            </a:r>
          </a:p>
          <a:p>
            <a:r>
              <a:rPr sz="1600" b="0">
                <a:solidFill>
                  <a:srgbClr val="5A6672"/>
                </a:solidFill>
                <a:latin typeface="Malgun Gothic"/>
              </a:rPr>
              <a:t>    –  합집합의 수학적 정의에 가깝다. 같은 행이 여러 번 나와도 결과에는 한 번만 남는다</a:t>
            </a:r>
          </a:p>
          <a:p>
            <a:r>
              <a:rPr sz="1600" b="0">
                <a:solidFill>
                  <a:srgbClr val="5A6672"/>
                </a:solidFill>
                <a:latin typeface="Malgun Gothic"/>
              </a:rPr>
              <a:t>    –  중복을 제거하려면 어떤 행이 이미 나왔는지를 알아야 하므로 추가 작업이 필요하다</a:t>
            </a:r>
          </a:p>
          <a:p>
            <a:r>
              <a:rPr sz="1800" b="0">
                <a:solidFill>
                  <a:srgbClr val="202830"/>
                </a:solidFill>
                <a:latin typeface="Malgun Gothic"/>
              </a:rPr>
              <a:t>•  UNION ALL — 두 결과 집합을 그대로 이어붙인다</a:t>
            </a:r>
          </a:p>
          <a:p>
            <a:r>
              <a:rPr sz="1600" b="0">
                <a:solidFill>
                  <a:srgbClr val="5A6672"/>
                </a:solidFill>
                <a:latin typeface="Malgun Gothic"/>
              </a:rPr>
              <a:t>    –  중복 제거가 없다. 앞 집합을 다 내보내고 뒤 집합을 이어서 내보내면 끝이다</a:t>
            </a:r>
          </a:p>
          <a:p>
            <a:r>
              <a:rPr sz="1600" b="0">
                <a:solidFill>
                  <a:srgbClr val="5A6672"/>
                </a:solidFill>
                <a:latin typeface="Malgun Gothic"/>
              </a:rPr>
              <a:t>    –  판단할 것이 없으므로 추가 작업도 없다</a:t>
            </a:r>
          </a:p>
          <a:p>
            <a:r>
              <a:rPr sz="1800" b="0">
                <a:solidFill>
                  <a:srgbClr val="202830"/>
                </a:solidFill>
                <a:latin typeface="Malgun Gothic"/>
              </a:rPr>
              <a:t>•  두 연산자는 성능 옵션이 아니라 서로 다른 결과를 내는 연산이다</a:t>
            </a:r>
          </a:p>
          <a:p>
            <a:r>
              <a:rPr sz="1600" b="0">
                <a:solidFill>
                  <a:srgbClr val="5A6672"/>
                </a:solidFill>
                <a:latin typeface="Malgun Gothic"/>
              </a:rPr>
              <a:t>    –  두 집합에 겹치는 행이 하나도 없을 때에만 두 결과가 같아진다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DISTINCT의 정의와 적용 범위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DISTINCT — 결과 집합에서 중복된 행을 제거한다</a:t>
            </a:r>
          </a:p>
          <a:p>
            <a:r>
              <a:rPr sz="1600" b="0">
                <a:solidFill>
                  <a:srgbClr val="5A6672"/>
                </a:solidFill>
                <a:latin typeface="Malgun Gothic"/>
              </a:rPr>
              <a:t>    –  집합 연산자와 달리 단일 쿼리 하나에도 적용할 수 있다</a:t>
            </a:r>
          </a:p>
          <a:p>
            <a:r>
              <a:rPr sz="1600" b="0">
                <a:solidFill>
                  <a:srgbClr val="5A6672"/>
                </a:solidFill>
                <a:latin typeface="Malgun Gothic"/>
              </a:rPr>
              <a:t>    –  선택된 컬럼 조합 전체를 기준으로 같은 값을 하나로 줄인다</a:t>
            </a:r>
          </a:p>
          <a:p>
            <a:r>
              <a:rPr sz="1800" b="0">
                <a:solidFill>
                  <a:srgbClr val="202830"/>
                </a:solidFill>
                <a:latin typeface="Malgun Gothic"/>
              </a:rPr>
              <a:t>•  UNION이 하는 일과 본질적으로 같은 작업이다</a:t>
            </a:r>
          </a:p>
          <a:p>
            <a:r>
              <a:rPr sz="1600" b="0">
                <a:solidFill>
                  <a:srgbClr val="5A6672"/>
                </a:solidFill>
                <a:latin typeface="Malgun Gothic"/>
              </a:rPr>
              <a:t>    –  UNION = UNION ALL로 합친 결과에 중복 제거를 적용한 것</a:t>
            </a:r>
          </a:p>
          <a:p>
            <a:r>
              <a:rPr sz="1600" b="0">
                <a:solidFill>
                  <a:srgbClr val="5A6672"/>
                </a:solidFill>
                <a:latin typeface="Malgun Gothic"/>
              </a:rPr>
              <a:t>    –  따라서 UNION의 비용을 이해하면 DISTINCT의 비용도 같은 원리로 이해된다</a:t>
            </a:r>
          </a:p>
          <a:p>
            <a:r>
              <a:rPr sz="1800" b="0">
                <a:solidFill>
                  <a:srgbClr val="202830"/>
                </a:solidFill>
                <a:latin typeface="Malgun Gothic"/>
              </a:rPr>
              <a:t>•  실무에서 DISTINCT가 붙는 전형적인 자리</a:t>
            </a:r>
          </a:p>
          <a:p>
            <a:r>
              <a:rPr sz="1600" b="0">
                <a:solidFill>
                  <a:srgbClr val="5A6672"/>
                </a:solidFill>
                <a:latin typeface="Malgun Gothic"/>
              </a:rPr>
              <a:t>    –  조인 때문에 행이 늘어난 결과를 원래 건수로 되돌리려는 목적</a:t>
            </a:r>
          </a:p>
          <a:p>
            <a:r>
              <a:rPr sz="1600" b="0">
                <a:solidFill>
                  <a:srgbClr val="5A6672"/>
                </a:solidFill>
                <a:latin typeface="Malgun Gothic"/>
              </a:rPr>
              <a:t>    –  중복 여부를 확신하지 못해 "혹시 몰라서" 붙여 두는 습관적 사용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중복 제거에는 왜 비용이 드는가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중복을 제거하려면 같은 값을 찾아내야 한다</a:t>
            </a:r>
          </a:p>
          <a:p>
            <a:r>
              <a:rPr sz="1600" b="0">
                <a:solidFill>
                  <a:srgbClr val="5A6672"/>
                </a:solidFill>
                <a:latin typeface="Malgun Gothic"/>
              </a:rPr>
              <a:t>    –  한 행만 보고는 그 행이 중복인지 알 수 없다. 다른 행들과 비교해야 한다</a:t>
            </a:r>
          </a:p>
          <a:p>
            <a:r>
              <a:rPr sz="1800" b="0">
                <a:solidFill>
                  <a:srgbClr val="202830"/>
                </a:solidFill>
                <a:latin typeface="Malgun Gothic"/>
              </a:rPr>
              <a:t>•  DB가 쓰는 대표적인 두 가지 방법</a:t>
            </a:r>
          </a:p>
          <a:p>
            <a:r>
              <a:rPr sz="1600" b="0">
                <a:solidFill>
                  <a:srgbClr val="5A6672"/>
                </a:solidFill>
                <a:latin typeface="Malgun Gothic"/>
              </a:rPr>
              <a:t>    –  정렬(SORT) — 전체 결과를 정렬해 같은 값을 이웃으로 모은 뒤 인접 중복을 걷어낸다</a:t>
            </a:r>
          </a:p>
          <a:p>
            <a:r>
              <a:rPr sz="1600" b="0">
                <a:solidFill>
                  <a:srgbClr val="5A6672"/>
                </a:solidFill>
                <a:latin typeface="Malgun Gothic"/>
              </a:rPr>
              <a:t>    –  해시(HASH) — 값을 해시로 묶어 같은 버킷에 모은 뒤 중복을 판정한다</a:t>
            </a:r>
          </a:p>
          <a:p>
            <a:r>
              <a:rPr sz="1800" b="0">
                <a:solidFill>
                  <a:srgbClr val="202830"/>
                </a:solidFill>
                <a:latin typeface="Malgun Gothic"/>
              </a:rPr>
              <a:t>•  두 방법 모두 결과 전체를 한 번은 모아 두어야 한다</a:t>
            </a:r>
          </a:p>
          <a:p>
            <a:r>
              <a:rPr sz="1600" b="0">
                <a:solidFill>
                  <a:srgbClr val="5A6672"/>
                </a:solidFill>
                <a:latin typeface="Malgun Gothic"/>
              </a:rPr>
              <a:t>    –  앞쪽 몇 건만 보고 결론 낼 수 없으므로 중간 결과를 쌓을 작업 공간이 필요하다</a:t>
            </a:r>
          </a:p>
          <a:p>
            <a:r>
              <a:rPr sz="1600" b="0">
                <a:solidFill>
                  <a:srgbClr val="5A6672"/>
                </a:solidFill>
                <a:latin typeface="Malgun Gothic"/>
              </a:rPr>
              <a:t>    –  즉 CPU 연산량과 작업 메모리를 함께 소비하는 연산이다</a:t>
            </a:r>
          </a:p>
          <a:p>
            <a:r>
              <a:rPr sz="1800" b="0">
                <a:solidFill>
                  <a:srgbClr val="202830"/>
                </a:solidFill>
                <a:latin typeface="Malgun Gothic"/>
              </a:rPr>
              <a:t>•  이 비용이 실행계획의 어느 지표에 나타나는지는 다음 절에서 확인한다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9.3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중복 제거 비용은 어디에 나타나는가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800" b="0">
                <a:solidFill>
                  <a:srgbClr val="C5CED6"/>
                </a:solidFill>
                <a:latin typeface="Malgun Gothic"/>
              </a:rPr>
              <a:t>•  UNION의 내부 구조 — UNION-ALL + SORT UNIQUE</a:t>
            </a:r>
          </a:p>
          <a:p>
            <a:r>
              <a:rPr sz="1800" b="0">
                <a:solidFill>
                  <a:srgbClr val="C5CED6"/>
                </a:solidFill>
                <a:latin typeface="Malgun Gothic"/>
              </a:rPr>
              <a:t>•  Buffers가 재는 것과 재지 못하는 것</a:t>
            </a:r>
          </a:p>
          <a:p>
            <a:r>
              <a:rPr sz="1800" b="0">
                <a:solidFill>
                  <a:srgbClr val="C5CED6"/>
                </a:solidFill>
                <a:latin typeface="Malgun Gothic"/>
              </a:rPr>
              <a:t>•  A-Time과 작업 메모리 지표 읽는 법</a:t>
            </a:r>
          </a:p>
          <a:p>
            <a:r>
              <a:rPr sz="1800" b="0">
                <a:solidFill>
                  <a:srgbClr val="C5CED6"/>
                </a:solidFill>
                <a:latin typeface="Malgun Gothic"/>
              </a:rPr>
              <a:t>•  옵티마이저가 DISTINCT를 지울 수 있는 조건</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UNION의 내부 구조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UNION은 하나의 오퍼레이션이 아니라 두 단계로 실행된다</a:t>
            </a:r>
          </a:p>
          <a:p>
            <a:r>
              <a:rPr sz="1600" b="0">
                <a:solidFill>
                  <a:srgbClr val="5A6672"/>
                </a:solidFill>
                <a:latin typeface="Malgun Gothic"/>
              </a:rPr>
              <a:t>    –  1단계 UNION-ALL — 두 집합을 그대로 합친다</a:t>
            </a:r>
          </a:p>
          <a:p>
            <a:r>
              <a:rPr sz="1600" b="0">
                <a:solidFill>
                  <a:srgbClr val="5A6672"/>
                </a:solidFill>
                <a:latin typeface="Malgun Gothic"/>
              </a:rPr>
              <a:t>    –  2단계 SORT UNIQUE — 합쳐진 결과를 정렬해 중복을 제거한다</a:t>
            </a:r>
          </a:p>
          <a:p>
            <a:r>
              <a:rPr sz="1800" b="0">
                <a:solidFill>
                  <a:srgbClr val="202830"/>
                </a:solidFill>
                <a:latin typeface="Malgun Gothic"/>
              </a:rPr>
              <a:t>•  즉 UNION 실행계획은 UNION ALL 실행계획 위에 한 단계가 더 얹힌 모양이다</a:t>
            </a:r>
          </a:p>
          <a:p>
            <a:r>
              <a:rPr sz="1600" b="0">
                <a:solidFill>
                  <a:srgbClr val="5A6672"/>
                </a:solidFill>
                <a:latin typeface="Malgun Gothic"/>
              </a:rPr>
              <a:t>    –  아래쪽 테이블 접근 단계는 두 쿼리가 완전히 동일하다</a:t>
            </a:r>
          </a:p>
          <a:p>
            <a:r>
              <a:rPr sz="1600" b="0">
                <a:solidFill>
                  <a:srgbClr val="5A6672"/>
                </a:solidFill>
                <a:latin typeface="Malgun Gothic"/>
              </a:rPr>
              <a:t>    –  차이는 UNION-ALL 위에 SORT UNIQUE가 있느냐 없느냐 하나뿐이다</a:t>
            </a:r>
          </a:p>
          <a:p>
            <a:r>
              <a:rPr sz="1800" b="0">
                <a:solidFill>
                  <a:srgbClr val="202830"/>
                </a:solidFill>
                <a:latin typeface="Malgun Gothic"/>
              </a:rPr>
              <a:t>•  이 구조가 이번 장의 실측을 아주 깨끗한 비교로 만들어 준다</a:t>
            </a:r>
          </a:p>
          <a:p>
            <a:r>
              <a:rPr sz="1600" b="0">
                <a:solidFill>
                  <a:srgbClr val="5A6672"/>
                </a:solidFill>
                <a:latin typeface="Malgun Gothic"/>
              </a:rPr>
              <a:t>    –  변수가 딱 하나이므로 관측된 차이의 원인을 그 한 단계로 특정할 수 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Buffers가 재는 것과 재지 못하는 것</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Buffers는 블록을 몇 번 읽었는지를 세는 지표다</a:t>
            </a:r>
          </a:p>
          <a:p>
            <a:r>
              <a:rPr sz="1600" b="0">
                <a:solidFill>
                  <a:srgbClr val="5A6672"/>
                </a:solidFill>
                <a:latin typeface="Malgun Gothic"/>
              </a:rPr>
              <a:t>    –  버퍼 캐시 또는 디스크에서 블록을 가져온 횟수, 즉 논리적 I/O</a:t>
            </a:r>
          </a:p>
          <a:p>
            <a:r>
              <a:rPr sz="1600" b="0">
                <a:solidFill>
                  <a:srgbClr val="5A6672"/>
                </a:solidFill>
                <a:latin typeface="Malgun Gothic"/>
              </a:rPr>
              <a:t>    –  "얼마나 계산했는가"가 아니라 "얼마나 읽었는가"만 센다</a:t>
            </a:r>
          </a:p>
          <a:p>
            <a:r>
              <a:rPr sz="1800" b="0">
                <a:solidFill>
                  <a:srgbClr val="202830"/>
                </a:solidFill>
                <a:latin typeface="Malgun Gothic"/>
              </a:rPr>
              <a:t>•  SORT UNIQUE는 블록을 새로 읽지 않는다</a:t>
            </a:r>
          </a:p>
          <a:p>
            <a:r>
              <a:rPr sz="1600" b="0">
                <a:solidFill>
                  <a:srgbClr val="5A6672"/>
                </a:solidFill>
                <a:latin typeface="Malgun Gothic"/>
              </a:rPr>
              <a:t>    –  대상은 이미 앞 단계에서 메모리로 가져온 결과 집합이다</a:t>
            </a:r>
          </a:p>
          <a:p>
            <a:r>
              <a:rPr sz="1600" b="0">
                <a:solidFill>
                  <a:srgbClr val="5A6672"/>
                </a:solidFill>
                <a:latin typeface="Malgun Gothic"/>
              </a:rPr>
              <a:t>    –  테이블도 인덱스도 다시 건드리지 않으므로 Buffers가 늘어날 이유가 없다</a:t>
            </a:r>
          </a:p>
          <a:p>
            <a:r>
              <a:rPr sz="1800" b="0">
                <a:solidFill>
                  <a:srgbClr val="202830"/>
                </a:solidFill>
                <a:latin typeface="Malgun Gothic"/>
              </a:rPr>
              <a:t>•  따라서 Buffers만으로는 중복 제거 비용이 전혀 보이지 않는다</a:t>
            </a:r>
          </a:p>
          <a:p>
            <a:r>
              <a:rPr sz="1600" b="0">
                <a:solidFill>
                  <a:srgbClr val="5A6672"/>
                </a:solidFill>
                <a:latin typeface="Malgun Gothic"/>
              </a:rPr>
              <a:t>    –  Buffers가 같다는 사실은 "I/O가 같다"는 뜻이지 "비용이 같다"는 뜻이 아니다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Buffers는 I/O 비용만 나타내는 지표이지 전체 비용의 전부가 아니다. 정렬 같은 CPU·메모리 연산은 Buffers에 반영되지 않으므로, 이 지표 하나만 보고 판단하면 CPU 부하가 큰 연산을 통째로 놓칠 수 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A-Time과 작업 메모리 지표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중복 제거 비용은 두 종류의 지표에 흔적을 남긴다</a:t>
            </a:r>
          </a:p>
          <a:p>
            <a:r>
              <a:rPr sz="1600" b="0">
                <a:solidFill>
                  <a:srgbClr val="5A6672"/>
                </a:solidFill>
                <a:latin typeface="Malgun Gothic"/>
              </a:rPr>
              <a:t>    –  A-Time — 그 단계가 실제로 소비한 시간. CPU 연산 시간이 여기에 반영된다</a:t>
            </a:r>
          </a:p>
          <a:p>
            <a:r>
              <a:rPr sz="1600" b="0">
                <a:solidFill>
                  <a:srgbClr val="5A6672"/>
                </a:solidFill>
                <a:latin typeface="Malgun Gothic"/>
              </a:rPr>
              <a:t>    –  OMem · 1Mem · Used-Mem — 그 단계가 사용한 작업 메모리 관련 값</a:t>
            </a:r>
          </a:p>
          <a:p>
            <a:r>
              <a:rPr sz="1800" b="0">
                <a:solidFill>
                  <a:srgbClr val="202830"/>
                </a:solidFill>
                <a:latin typeface="Malgun Gothic"/>
              </a:rPr>
              <a:t>•  작업 메모리 관련 컬럼이 채워져 있다는 것 자체가 신호다</a:t>
            </a:r>
          </a:p>
          <a:p>
            <a:r>
              <a:rPr sz="1600" b="0">
                <a:solidFill>
                  <a:srgbClr val="5A6672"/>
                </a:solidFill>
                <a:latin typeface="Malgun Gothic"/>
              </a:rPr>
              <a:t>    –  테이블 접근 단계에는 이 값들이 비어 있다 — 모을 필요가 없기 때문</a:t>
            </a:r>
          </a:p>
          <a:p>
            <a:r>
              <a:rPr sz="1600" b="0">
                <a:solidFill>
                  <a:srgbClr val="5A6672"/>
                </a:solidFill>
                <a:latin typeface="Malgun Gothic"/>
              </a:rPr>
              <a:t>    –  값이 찍힌 단계는 중간 결과를 모아 두어야 하는 연산이라는 뜻이다</a:t>
            </a:r>
          </a:p>
          <a:p>
            <a:r>
              <a:rPr sz="1800" b="0">
                <a:solidFill>
                  <a:srgbClr val="202830"/>
                </a:solidFill>
                <a:latin typeface="Malgun Gothic"/>
              </a:rPr>
              <a:t>•  실행계획을 읽을 때의 습관</a:t>
            </a:r>
          </a:p>
          <a:p>
            <a:r>
              <a:rPr sz="1600" b="0">
                <a:solidFill>
                  <a:srgbClr val="5A6672"/>
                </a:solidFill>
                <a:latin typeface="Malgun Gothic"/>
              </a:rPr>
              <a:t>    –  Buffers 열만 훑지 말고 A-Time과 메모리 열을 같은 줄에서 함께 읽는다</a:t>
            </a:r>
          </a:p>
          <a:p>
            <a:r>
              <a:rPr sz="1600" b="0">
                <a:solidFill>
                  <a:srgbClr val="5A6672"/>
                </a:solidFill>
                <a:latin typeface="Malgun Gothic"/>
              </a:rPr>
              <a:t>    –  어느 단계에서 시간이 늘었는지를 단계별 A-Time 차이로 좁혀 들어간다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옵티마이저가 DISTINCT를 지울 수 있는 조건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DISTINCT도 원칙적으로는 SORT나 HASH 기반 중복 제거가 필요하다</a:t>
            </a:r>
          </a:p>
          <a:p>
            <a:r>
              <a:rPr sz="1800" b="0">
                <a:solidFill>
                  <a:srgbClr val="202830"/>
                </a:solidFill>
                <a:latin typeface="Malgun Gothic"/>
              </a:rPr>
              <a:t>•  그러나 옵티마이저가 중복이 없음을 증명할 수 있으면 이야기가 달라진다</a:t>
            </a:r>
          </a:p>
          <a:p>
            <a:r>
              <a:rPr sz="1600" b="0">
                <a:solidFill>
                  <a:srgbClr val="5A6672"/>
                </a:solidFill>
                <a:latin typeface="Malgun Gothic"/>
              </a:rPr>
              <a:t>    –  조회 대상 컬럼에 PK나 유니크 인덱스 같은 제약이 걸려 있는 경우</a:t>
            </a:r>
          </a:p>
          <a:p>
            <a:r>
              <a:rPr sz="1600" b="0">
                <a:solidFill>
                  <a:srgbClr val="5A6672"/>
                </a:solidFill>
                <a:latin typeface="Malgun Gothic"/>
              </a:rPr>
              <a:t>    –  제약은 DB가 보장하는 사실이므로 옵티마이저가 메타데이터로 확신할 수 있다</a:t>
            </a:r>
          </a:p>
          <a:p>
            <a:r>
              <a:rPr sz="1600" b="0">
                <a:solidFill>
                  <a:srgbClr val="5A6672"/>
                </a:solidFill>
                <a:latin typeface="Malgun Gothic"/>
              </a:rPr>
              <a:t>    –  중복이 나올 수 없다면 중복 제거 단계를 실행할 이유도 없다 — 통째로 생략</a:t>
            </a:r>
          </a:p>
          <a:p>
            <a:r>
              <a:rPr sz="1800" b="0">
                <a:solidFill>
                  <a:srgbClr val="202830"/>
                </a:solidFill>
                <a:latin typeface="Malgun Gothic"/>
              </a:rPr>
              <a:t>•  생략의 조건은 "실제로 중복이 없다"가 아니라 "증명할 수 있다"이다</a:t>
            </a:r>
          </a:p>
          <a:p>
            <a:r>
              <a:rPr sz="1600" b="0">
                <a:solidFill>
                  <a:srgbClr val="5A6672"/>
                </a:solidFill>
                <a:latin typeface="Malgun Gothic"/>
              </a:rPr>
              <a:t>    –  데이터상 우연히 중복이 없어도 제약이 없으면 옵티마이저는 확신할 수 없다</a:t>
            </a:r>
          </a:p>
          <a:p>
            <a:r>
              <a:rPr sz="1600" b="0">
                <a:solidFill>
                  <a:srgbClr val="5A6672"/>
                </a:solidFill>
                <a:latin typeface="Malgun Gothic"/>
              </a:rPr>
              <a:t>    –  조인을 거친 결과나 제약이 없는 컬럼이라면 자동 생략을 기대할 수 없다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9.4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UNION vs UNION ALL 실측 소재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800" b="0">
                <a:solidFill>
                  <a:srgbClr val="C5CED6"/>
                </a:solidFill>
                <a:latin typeface="Malgun Gothic"/>
              </a:rPr>
              <a:t>•  두 집합의 정의와 겹침 가능성</a:t>
            </a:r>
          </a:p>
          <a:p>
            <a:r>
              <a:rPr sz="1800" b="0">
                <a:solidFill>
                  <a:srgbClr val="C5CED6"/>
                </a:solidFill>
                <a:latin typeface="Malgun Gothic"/>
              </a:rPr>
              <a:t>•  Q1. UNION 버전</a:t>
            </a:r>
          </a:p>
          <a:p>
            <a:r>
              <a:rPr sz="1800" b="0">
                <a:solidFill>
                  <a:srgbClr val="C5CED6"/>
                </a:solidFill>
                <a:latin typeface="Malgun Gothic"/>
              </a:rPr>
              <a:t>•  Q2. UNION ALL 버전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소재 — 두 집합의 정의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집합 A — 입원 청구를 낸 환자</a:t>
            </a:r>
          </a:p>
          <a:p>
            <a:r>
              <a:rPr sz="1600" b="0">
                <a:solidFill>
                  <a:srgbClr val="5A6672"/>
                </a:solidFill>
                <a:latin typeface="Malgun Gothic"/>
              </a:rPr>
              <a:t>    –  MEDICAL_CLAIMS에서 CLAIM_TYPE이 입원인 행의 PAT_ID</a:t>
            </a:r>
          </a:p>
          <a:p>
            <a:r>
              <a:rPr sz="1800" b="0">
                <a:solidFill>
                  <a:srgbClr val="202830"/>
                </a:solidFill>
                <a:latin typeface="Malgun Gothic"/>
              </a:rPr>
              <a:t>•  집합 B — 의료급여 환자</a:t>
            </a:r>
          </a:p>
          <a:p>
            <a:r>
              <a:rPr sz="1600" b="0">
                <a:solidFill>
                  <a:srgbClr val="5A6672"/>
                </a:solidFill>
                <a:latin typeface="Malgun Gothic"/>
              </a:rPr>
              <a:t>    –  PATIENTS에서 INS_TYPE이 의료급여인 행의 PAT_ID</a:t>
            </a:r>
          </a:p>
          <a:p>
            <a:r>
              <a:rPr sz="1800" b="0">
                <a:solidFill>
                  <a:srgbClr val="202830"/>
                </a:solidFill>
                <a:latin typeface="Malgun Gothic"/>
              </a:rPr>
              <a:t>•  두 집합은 논리적으로 겹칠 수 있는가</a:t>
            </a:r>
          </a:p>
          <a:p>
            <a:r>
              <a:rPr sz="1600" b="0">
                <a:solidFill>
                  <a:srgbClr val="5A6672"/>
                </a:solidFill>
                <a:latin typeface="Malgun Gothic"/>
              </a:rPr>
              <a:t>    –  한 환자가 의료급여 대상이면서 입원 청구를 낸 경우를 막을 규칙이 없다</a:t>
            </a:r>
          </a:p>
          <a:p>
            <a:r>
              <a:rPr sz="1600" b="0">
                <a:solidFill>
                  <a:srgbClr val="5A6672"/>
                </a:solidFill>
                <a:latin typeface="Malgun Gothic"/>
              </a:rPr>
              <a:t>    –  즉 겹칠 수 있다 — 그렇다면 중복 제거 여부가 결과 건수를 바꾼다</a:t>
            </a:r>
          </a:p>
          <a:p>
            <a:r>
              <a:rPr sz="1800" b="0">
                <a:solidFill>
                  <a:srgbClr val="202830"/>
                </a:solidFill>
                <a:latin typeface="Malgun Gothic"/>
              </a:rPr>
              <a:t>•  비교 설계</a:t>
            </a:r>
          </a:p>
          <a:p>
            <a:r>
              <a:rPr sz="1600" b="0">
                <a:solidFill>
                  <a:srgbClr val="5A6672"/>
                </a:solidFill>
                <a:latin typeface="Malgun Gothic"/>
              </a:rPr>
              <a:t>    –  두 쿼리는 집합 연산자만 다르고 나머지는 완전히 동일하다</a:t>
            </a:r>
          </a:p>
          <a:p>
            <a:r>
              <a:rPr sz="1600" b="0">
                <a:solidFill>
                  <a:srgbClr val="5A6672"/>
                </a:solidFill>
                <a:latin typeface="Malgun Gothic"/>
              </a:rPr>
              <a:t>    –  바깥에서 COUNT(*)로 감싸 결과 건수를 바로 확인한다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UNION (중복 제거)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9.4절 Example — 두 집합을 UNION으로 합쳐 건수를 센다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Q1. UNION (중복 제거)</a:t>
            </a:r>
          </a:p>
          <a:p>
            <a:r>
              <a:rPr sz="1250" b="0">
                <a:solidFill>
                  <a:srgbClr val="E6E6E6"/>
                </a:solidFill>
                <a:latin typeface="Consolas"/>
              </a:rPr>
              <a:t>SELECT COUNT(*) FROM (</a:t>
            </a:r>
          </a:p>
          <a:p>
            <a:r>
              <a:rPr sz="1250" b="0">
                <a:solidFill>
                  <a:srgbClr val="E6E6E6"/>
                </a:solidFill>
                <a:latin typeface="Consolas"/>
              </a:rPr>
              <a:t>  SELECT pat_id FROM medical_claims WHERE claim_type = '입원'</a:t>
            </a:r>
          </a:p>
          <a:p>
            <a:r>
              <a:rPr sz="1250" b="0">
                <a:solidFill>
                  <a:srgbClr val="E6E6E6"/>
                </a:solidFill>
                <a:latin typeface="Consolas"/>
              </a:rPr>
              <a:t>  UNION</a:t>
            </a:r>
          </a:p>
          <a:p>
            <a:r>
              <a:rPr sz="1250" b="0">
                <a:solidFill>
                  <a:srgbClr val="E6E6E6"/>
                </a:solidFill>
                <a:latin typeface="Consolas"/>
              </a:rPr>
              <a:t>  SELECT pat_id FROM patients WHERE ins_type = '의료급여'</a:t>
            </a:r>
          </a:p>
          <a:p>
            <a:r>
              <a:rPr sz="1250" b="0">
                <a:solidFill>
                  <a:srgbClr val="E6E6E6"/>
                </a:solidFill>
                <a:latin typeface="Consolas"/>
              </a:rP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UNION ALL (중복 미제거)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9.4절 Example — 연산자만 UNION ALL로 바꾼 동일 쿼리</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Q2. UNION ALL (중복 미제거)</a:t>
            </a:r>
          </a:p>
          <a:p>
            <a:r>
              <a:rPr sz="1250" b="0">
                <a:solidFill>
                  <a:srgbClr val="E6E6E6"/>
                </a:solidFill>
                <a:latin typeface="Consolas"/>
              </a:rPr>
              <a:t>SELECT COUNT(*) FROM (</a:t>
            </a:r>
          </a:p>
          <a:p>
            <a:r>
              <a:rPr sz="1250" b="0">
                <a:solidFill>
                  <a:srgbClr val="E6E6E6"/>
                </a:solidFill>
                <a:latin typeface="Consolas"/>
              </a:rPr>
              <a:t>  SELECT pat_id FROM medical_claims WHERE claim_type = '입원'</a:t>
            </a:r>
          </a:p>
          <a:p>
            <a:r>
              <a:rPr sz="1250" b="0">
                <a:solidFill>
                  <a:srgbClr val="E6E6E6"/>
                </a:solidFill>
                <a:latin typeface="Consolas"/>
              </a:rPr>
              <a:t>  UNION ALL</a:t>
            </a:r>
          </a:p>
          <a:p>
            <a:r>
              <a:rPr sz="1250" b="0">
                <a:solidFill>
                  <a:srgbClr val="E6E6E6"/>
                </a:solidFill>
                <a:latin typeface="Consolas"/>
              </a:rPr>
              <a:t>  SELECT pat_id FROM patients WHERE ins_type = '의료급여'</a:t>
            </a:r>
          </a:p>
          <a:p>
            <a:r>
              <a:rPr sz="1250" b="0">
                <a:solidFill>
                  <a:srgbClr val="E6E6E6"/>
                </a:solidFill>
                <a:latin typeface="Consolas"/>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9.5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실행계획 실측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800" b="0">
                <a:solidFill>
                  <a:srgbClr val="C5CED6"/>
                </a:solidFill>
                <a:latin typeface="Malgun Gothic"/>
              </a:rPr>
              <a:t>•  Q1. UNION 실행계획과 해석</a:t>
            </a:r>
          </a:p>
          <a:p>
            <a:r>
              <a:rPr sz="1800" b="0">
                <a:solidFill>
                  <a:srgbClr val="C5CED6"/>
                </a:solidFill>
                <a:latin typeface="Malgun Gothic"/>
              </a:rPr>
              <a:t>•  Q2. UNION ALL 실행계획과 해석</a:t>
            </a:r>
          </a:p>
          <a:p>
            <a:r>
              <a:rPr sz="1800" b="0">
                <a:solidFill>
                  <a:srgbClr val="C5CED6"/>
                </a:solidFill>
                <a:latin typeface="Malgun Gothic"/>
              </a:rPr>
              <a:t>•  두 계획의 유일한 차이와 Buffers·A-Time</a:t>
            </a:r>
          </a:p>
          <a:p>
            <a:r>
              <a:rPr sz="1800" b="0">
                <a:solidFill>
                  <a:srgbClr val="C5CED6"/>
                </a:solidFill>
                <a:latin typeface="Malgun Gothic"/>
              </a:rPr>
              <a:t>•  결과 건수 차이가 말해주는 것</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UNION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9.5절 Execution Plan — SORT UNIQUE 단계에만 작업 메모리 값이 찍혀 있다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 OMem  | 1Mem | Used-Mem  |</a:t>
            </a:r>
          </a:p>
          <a:p>
            <a:r>
              <a:rPr sz="1250" b="0">
                <a:solidFill>
                  <a:srgbClr val="E6E6E6"/>
                </a:solidFill>
                <a:latin typeface="Consolas"/>
              </a:rPr>
              <a:t>| 0  | SELECT STATEMENT       |                |      1 | 00:00:00.07 |    3532 |       |      |           |</a:t>
            </a:r>
          </a:p>
          <a:p>
            <a:r>
              <a:rPr sz="1250" b="0">
                <a:solidFill>
                  <a:srgbClr val="E6E6E6"/>
                </a:solidFill>
                <a:latin typeface="Consolas"/>
              </a:rPr>
              <a:t>| 1  |  SORT AGGREGATE        |                |      1 | 00:00:00.07 |    3532 |       |      |           |</a:t>
            </a:r>
          </a:p>
          <a:p>
            <a:r>
              <a:rPr sz="1250" b="0">
                <a:solidFill>
                  <a:srgbClr val="E6E6E6"/>
                </a:solidFill>
                <a:latin typeface="Consolas"/>
              </a:rPr>
              <a:t>| 2  |   VIEW                 |                |  35985 | 00:00:00.07 |    3532 |       |      |           |</a:t>
            </a:r>
          </a:p>
          <a:p>
            <a:r>
              <a:rPr sz="1250" b="0">
                <a:solidFill>
                  <a:srgbClr val="E6E6E6"/>
                </a:solidFill>
                <a:latin typeface="Consolas"/>
              </a:rPr>
              <a:t>| 3  |    SORT UNIQUE         |                |  35985 | 00:00:00.06 |    3532 | 1824K | 791K | 1621K (0) |</a:t>
            </a:r>
          </a:p>
          <a:p>
            <a:r>
              <a:rPr sz="1250" b="0">
                <a:solidFill>
                  <a:srgbClr val="E6E6E6"/>
                </a:solidFill>
                <a:latin typeface="Consolas"/>
              </a:rPr>
              <a:t>| 4  |     UNION-ALL          |                |  64011 | 00:00:00.04 |    3532 |       |      |           |</a:t>
            </a:r>
          </a:p>
          <a:p>
            <a:r>
              <a:rPr sz="1250" b="0">
                <a:solidFill>
                  <a:srgbClr val="E6E6E6"/>
                </a:solidFill>
                <a:latin typeface="Consolas"/>
              </a:rPr>
              <a:t>| 5  |      TABLE ACCESS FULL | MEDICAL_CLAIMS |  59511 | 00:00:00.02 |    3090 |       |      |           |</a:t>
            </a:r>
          </a:p>
          <a:p>
            <a:r>
              <a:rPr sz="1250" b="0">
                <a:solidFill>
                  <a:srgbClr val="E6E6E6"/>
                </a:solidFill>
                <a:latin typeface="Consolas"/>
              </a:rPr>
              <a:t>| 6  |      TABLE ACCESS FULL | PATIENTS       |   4500 | 00:00:00.01 |     442 |       |      |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실행계획 해석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아래에서 위로 읽는다</a:t>
            </a:r>
          </a:p>
          <a:p>
            <a:r>
              <a:rPr sz="1600" b="0">
                <a:solidFill>
                  <a:srgbClr val="5A6672"/>
                </a:solidFill>
                <a:latin typeface="Malgun Gothic"/>
              </a:rPr>
              <a:t>    –  MEDICAL_CLAIMS와 PATIENTS를 각각 전체 스캔한다</a:t>
            </a:r>
          </a:p>
          <a:p>
            <a:r>
              <a:rPr sz="1600" b="0">
                <a:solidFill>
                  <a:srgbClr val="5A6672"/>
                </a:solidFill>
                <a:latin typeface="Malgun Gothic"/>
              </a:rPr>
              <a:t>    –  UNION-ALL이 두 결과를 그대로 합쳐 64,011건을 만든다</a:t>
            </a:r>
          </a:p>
          <a:p>
            <a:r>
              <a:rPr sz="1600" b="0">
                <a:solidFill>
                  <a:srgbClr val="5A6672"/>
                </a:solidFill>
                <a:latin typeface="Malgun Gothic"/>
              </a:rPr>
              <a:t>    –  SORT UNIQUE가 정렬·중복 제거를 거쳐 35,985건으로 줄인다</a:t>
            </a:r>
          </a:p>
          <a:p>
            <a:r>
              <a:rPr sz="1600" b="0">
                <a:solidFill>
                  <a:srgbClr val="5A6672"/>
                </a:solidFill>
                <a:latin typeface="Malgun Gothic"/>
              </a:rPr>
              <a:t>    –  VIEW를 거쳐 SORT AGGREGATE가 최종 건수를 센다</a:t>
            </a:r>
          </a:p>
          <a:p>
            <a:r>
              <a:rPr sz="1800" b="0">
                <a:solidFill>
                  <a:srgbClr val="202830"/>
                </a:solidFill>
                <a:latin typeface="Malgun Gothic"/>
              </a:rPr>
              <a:t>•  읽어야 할 지표들</a:t>
            </a:r>
          </a:p>
          <a:p>
            <a:r>
              <a:rPr sz="1600" b="0">
                <a:solidFill>
                  <a:srgbClr val="5A6672"/>
                </a:solidFill>
                <a:latin typeface="Malgun Gothic"/>
              </a:rPr>
              <a:t>    –  전체 Buffers는 3,532이고 두 테이블 접근이 각각 3,090과 442를 차지한다</a:t>
            </a:r>
          </a:p>
          <a:p>
            <a:r>
              <a:rPr sz="1600" b="0">
                <a:solidFill>
                  <a:srgbClr val="5A6672"/>
                </a:solidFill>
                <a:latin typeface="Malgun Gothic"/>
              </a:rPr>
              <a:t>    –  SORT UNIQUE 단계의 Buffers는 그 아래 단계와 같은 3,532 — 늘지 않았다</a:t>
            </a:r>
          </a:p>
          <a:p>
            <a:r>
              <a:rPr sz="1600" b="0">
                <a:solidFill>
                  <a:srgbClr val="5A6672"/>
                </a:solidFill>
                <a:latin typeface="Malgun Gothic"/>
              </a:rPr>
              <a:t>    –  작업 메모리 관련 값 1824K · 791K · 1621K는 SORT UNIQUE 행에만 나타난다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UNION ALL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9.5절 Execution Plan — SORT UNIQUE 단계가 통째로 빠져 있다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a:t>
            </a:r>
          </a:p>
          <a:p>
            <a:r>
              <a:rPr sz="1250" b="0">
                <a:solidFill>
                  <a:srgbClr val="E6E6E6"/>
                </a:solidFill>
                <a:latin typeface="Consolas"/>
              </a:rPr>
              <a:t>| 0  | SELECT STATEMENT       |                |      1 | 00:00:00.03 |    3532 |</a:t>
            </a:r>
          </a:p>
          <a:p>
            <a:r>
              <a:rPr sz="1250" b="0">
                <a:solidFill>
                  <a:srgbClr val="E6E6E6"/>
                </a:solidFill>
                <a:latin typeface="Consolas"/>
              </a:rPr>
              <a:t>| 1  |  SORT AGGREGATE        |                |      1 | 00:00:00.03 |    3532 |</a:t>
            </a:r>
          </a:p>
          <a:p>
            <a:r>
              <a:rPr sz="1250" b="0">
                <a:solidFill>
                  <a:srgbClr val="E6E6E6"/>
                </a:solidFill>
                <a:latin typeface="Consolas"/>
              </a:rPr>
              <a:t>| 2  |   VIEW                 |                |  64011 | 00:00:00.02 |    3532 |</a:t>
            </a:r>
          </a:p>
          <a:p>
            <a:r>
              <a:rPr sz="1250" b="0">
                <a:solidFill>
                  <a:srgbClr val="E6E6E6"/>
                </a:solidFill>
                <a:latin typeface="Consolas"/>
              </a:rPr>
              <a:t>| 3  |    UNION-ALL           |                |  64011 | 00:00:00.02 |    3532 |</a:t>
            </a:r>
          </a:p>
          <a:p>
            <a:r>
              <a:rPr sz="1250" b="0">
                <a:solidFill>
                  <a:srgbClr val="E6E6E6"/>
                </a:solidFill>
                <a:latin typeface="Consolas"/>
              </a:rPr>
              <a:t>| 4  |     TABLE ACCESS FULL  | MEDICAL_CLAIMS |  59511 | 00:00:00.01 |    3090 |</a:t>
            </a:r>
          </a:p>
          <a:p>
            <a:r>
              <a:rPr sz="1250" b="0">
                <a:solidFill>
                  <a:srgbClr val="E6E6E6"/>
                </a:solidFill>
                <a:latin typeface="Consolas"/>
              </a:rPr>
              <a:t>| 5  |     TABLE ACCESS FULL  | PATIENTS       |   4500 | 00:00:00.01 |     442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실행계획 해석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Q1에서 한 단계가 빠졌을 뿐 나머지는 동일하다</a:t>
            </a:r>
          </a:p>
          <a:p>
            <a:r>
              <a:rPr sz="1600" b="0">
                <a:solidFill>
                  <a:srgbClr val="5A6672"/>
                </a:solidFill>
                <a:latin typeface="Malgun Gothic"/>
              </a:rPr>
              <a:t>    –  두 테이블 전체 스캔 → UNION-ALL → VIEW → SORT AGGREGATE</a:t>
            </a:r>
          </a:p>
          <a:p>
            <a:r>
              <a:rPr sz="1600" b="0">
                <a:solidFill>
                  <a:srgbClr val="5A6672"/>
                </a:solidFill>
                <a:latin typeface="Malgun Gothic"/>
              </a:rPr>
              <a:t>    –  SORT UNIQUE가 없으므로 합친 64,011건이 그대로 위로 올라간다</a:t>
            </a:r>
          </a:p>
          <a:p>
            <a:r>
              <a:rPr sz="1800" b="0">
                <a:solidFill>
                  <a:srgbClr val="202830"/>
                </a:solidFill>
                <a:latin typeface="Malgun Gothic"/>
              </a:rPr>
              <a:t>•  지표 비교</a:t>
            </a:r>
          </a:p>
          <a:p>
            <a:r>
              <a:rPr sz="1600" b="0">
                <a:solidFill>
                  <a:srgbClr val="5A6672"/>
                </a:solidFill>
                <a:latin typeface="Malgun Gothic"/>
              </a:rPr>
              <a:t>    –  Buffers는 3,532로 Q1과 완전히 같다 — 테이블 접근도 3,090과 442로 동일</a:t>
            </a:r>
          </a:p>
          <a:p>
            <a:r>
              <a:rPr sz="1600" b="0">
                <a:solidFill>
                  <a:srgbClr val="5A6672"/>
                </a:solidFill>
                <a:latin typeface="Malgun Gothic"/>
              </a:rPr>
              <a:t>    –  A-Time은 0.03초로 Q1의 0.07초보다 짧다</a:t>
            </a:r>
          </a:p>
          <a:p>
            <a:r>
              <a:rPr sz="1600" b="0">
                <a:solidFill>
                  <a:srgbClr val="5A6672"/>
                </a:solidFill>
                <a:latin typeface="Malgun Gothic"/>
              </a:rPr>
              <a:t>    –  작업 메모리 관련 컬럼은 애초에 채워질 단계가 없다</a:t>
            </a:r>
          </a:p>
          <a:p>
            <a:r>
              <a:rPr sz="1800" b="0">
                <a:solidFill>
                  <a:srgbClr val="202830"/>
                </a:solidFill>
                <a:latin typeface="Malgun Gothic"/>
              </a:rPr>
              <a:t>•  변수가 하나뿐인 비교이므로 차이의 원인도 하나로 특정된다</a:t>
            </a:r>
          </a:p>
          <a:p>
            <a:r>
              <a:rPr sz="1600" b="0">
                <a:solidFill>
                  <a:srgbClr val="5A6672"/>
                </a:solidFill>
                <a:latin typeface="Malgun Gothic"/>
              </a:rPr>
              <a:t>    –  두 계획의 유일한 차이는 SORT UNIQUE 한 단계다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계획의 유일한 차이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것</a:t>
            </a:r>
          </a:p>
          <a:p>
            <a:r>
              <a:rPr sz="1600" b="0">
                <a:solidFill>
                  <a:srgbClr val="5A6672"/>
                </a:solidFill>
                <a:latin typeface="Malgun Gothic"/>
              </a:rPr>
              <a:t>    –  접근 경로 — 두 테이블 모두 전체 스캔으로 동일</a:t>
            </a:r>
          </a:p>
          <a:p>
            <a:r>
              <a:rPr sz="1600" b="0">
                <a:solidFill>
                  <a:srgbClr val="5A6672"/>
                </a:solidFill>
                <a:latin typeface="Malgun Gothic"/>
              </a:rPr>
              <a:t>    –  단계별 Buffers — MEDICAL_CLAIMS 3,090, PATIENTS 442, 전체 3,532</a:t>
            </a:r>
          </a:p>
          <a:p>
            <a:r>
              <a:rPr sz="1600" b="0">
                <a:solidFill>
                  <a:srgbClr val="5A6672"/>
                </a:solidFill>
                <a:latin typeface="Malgun Gothic"/>
              </a:rPr>
              <a:t>    –  UNION-ALL 단계에서 합쳐진 건수 64,011</a:t>
            </a:r>
          </a:p>
          <a:p>
            <a:r>
              <a:rPr sz="1800" b="0">
                <a:solidFill>
                  <a:srgbClr val="202830"/>
                </a:solidFill>
                <a:latin typeface="Malgun Gothic"/>
              </a:rPr>
              <a:t>•  다른 것</a:t>
            </a:r>
          </a:p>
          <a:p>
            <a:r>
              <a:rPr sz="1600" b="0">
                <a:solidFill>
                  <a:srgbClr val="5A6672"/>
                </a:solidFill>
                <a:latin typeface="Malgun Gothic"/>
              </a:rPr>
              <a:t>    –  Q1에만 SORT UNIQUE 단계가 있다</a:t>
            </a:r>
          </a:p>
          <a:p>
            <a:r>
              <a:rPr sz="1600" b="0">
                <a:solidFill>
                  <a:srgbClr val="5A6672"/>
                </a:solidFill>
                <a:latin typeface="Malgun Gothic"/>
              </a:rPr>
              <a:t>    –  최종 결과 건수 — 35,985 대 64,011</a:t>
            </a:r>
          </a:p>
          <a:p>
            <a:r>
              <a:rPr sz="1600" b="0">
                <a:solidFill>
                  <a:srgbClr val="5A6672"/>
                </a:solidFill>
                <a:latin typeface="Malgun Gothic"/>
              </a:rPr>
              <a:t>    –  A-Time — 0.07초 대 0.03초</a:t>
            </a:r>
          </a:p>
          <a:p>
            <a:r>
              <a:rPr sz="1800" b="0">
                <a:solidFill>
                  <a:srgbClr val="202830"/>
                </a:solidFill>
                <a:latin typeface="Malgun Gothic"/>
              </a:rPr>
              <a:t>•  결론적으로 관측된 모든 차이는 SORT UNIQUE 한 단계에서 비롯된다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Buffers가 같다는 사실이 말해주는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쿼리의 Buffers는 3,532로 완전히 동일했다</a:t>
            </a:r>
          </a:p>
          <a:p>
            <a:r>
              <a:rPr sz="1600" b="0">
                <a:solidFill>
                  <a:srgbClr val="5A6672"/>
                </a:solidFill>
                <a:latin typeface="Malgun Gothic"/>
              </a:rPr>
              <a:t>    –  SORT UNIQUE 단계가 추가됐는데도 한 블록도 더 읽지 않았다</a:t>
            </a:r>
          </a:p>
          <a:p>
            <a:r>
              <a:rPr sz="1800" b="0">
                <a:solidFill>
                  <a:srgbClr val="202830"/>
                </a:solidFill>
                <a:latin typeface="Malgun Gothic"/>
              </a:rPr>
              <a:t>•  왜 늘지 않았는가</a:t>
            </a:r>
          </a:p>
          <a:p>
            <a:r>
              <a:rPr sz="1600" b="0">
                <a:solidFill>
                  <a:srgbClr val="5A6672"/>
                </a:solidFill>
                <a:latin typeface="Malgun Gothic"/>
              </a:rPr>
              <a:t>    –  SORT UNIQUE의 대상은 UNION-ALL이 이미 메모리로 올려놓은 결과 집합이다</a:t>
            </a:r>
          </a:p>
          <a:p>
            <a:r>
              <a:rPr sz="1600" b="0">
                <a:solidFill>
                  <a:srgbClr val="5A6672"/>
                </a:solidFill>
                <a:latin typeface="Malgun Gothic"/>
              </a:rPr>
              <a:t>    –  테이블이나 인덱스 블록을 다시 읽을 필요가 없는 순수 CPU·메모리 연산이다</a:t>
            </a:r>
          </a:p>
          <a:p>
            <a:r>
              <a:rPr sz="1600" b="0">
                <a:solidFill>
                  <a:srgbClr val="5A6672"/>
                </a:solidFill>
                <a:latin typeface="Malgun Gothic"/>
              </a:rPr>
              <a:t>    –  Buffers는 블록을 읽은 횟수만 세므로 이 연산은 지표에 잡히지 않는다</a:t>
            </a:r>
          </a:p>
          <a:p>
            <a:r>
              <a:rPr sz="1800" b="0">
                <a:solidFill>
                  <a:srgbClr val="202830"/>
                </a:solidFill>
                <a:latin typeface="Malgun Gothic"/>
              </a:rPr>
              <a:t>•  해석의 함정</a:t>
            </a:r>
          </a:p>
          <a:p>
            <a:r>
              <a:rPr sz="1600" b="0">
                <a:solidFill>
                  <a:srgbClr val="5A6672"/>
                </a:solidFill>
                <a:latin typeface="Malgun Gothic"/>
              </a:rPr>
              <a:t>    –  "Buffers가 같다"에서 "비용이 같다"로 건너뛰면 안 된다</a:t>
            </a:r>
          </a:p>
          <a:p>
            <a:r>
              <a:rPr sz="1600" b="0">
                <a:solidFill>
                  <a:srgbClr val="5A6672"/>
                </a:solidFill>
                <a:latin typeface="Malgun Gothic"/>
              </a:rPr>
              <a:t>    –  지표가 보여주지 않는다는 것과 비용이 없다는 것은 전혀 다른 말이다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A-Time 차이가 말해주는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A-Time은 Q1이 0.07초, Q2가 0.03초였다</a:t>
            </a:r>
          </a:p>
          <a:p>
            <a:r>
              <a:rPr sz="1600" b="0">
                <a:solidFill>
                  <a:srgbClr val="5A6672"/>
                </a:solidFill>
                <a:latin typeface="Malgun Gothic"/>
              </a:rPr>
              <a:t>    –  두 배 이상의 차이가 Buffers에는 전혀 나타나지 않았다</a:t>
            </a:r>
          </a:p>
          <a:p>
            <a:r>
              <a:rPr sz="1800" b="0">
                <a:solidFill>
                  <a:srgbClr val="202830"/>
                </a:solidFill>
                <a:latin typeface="Malgun Gothic"/>
              </a:rPr>
              <a:t>•  차이가 발생한 자리</a:t>
            </a:r>
          </a:p>
          <a:p>
            <a:r>
              <a:rPr sz="1600" b="0">
                <a:solidFill>
                  <a:srgbClr val="5A6672"/>
                </a:solidFill>
                <a:latin typeface="Malgun Gothic"/>
              </a:rPr>
              <a:t>    –  Q1은 합쳐진 64,011건을 정렬·중복 제거해 35,985건으로 줄이는 일을 더 한다</a:t>
            </a:r>
          </a:p>
          <a:p>
            <a:r>
              <a:rPr sz="1600" b="0">
                <a:solidFill>
                  <a:srgbClr val="5A6672"/>
                </a:solidFill>
                <a:latin typeface="Malgun Gothic"/>
              </a:rPr>
              <a:t>    –  이 작업은 실제 CPU 시간을 소비하므로 A-Time에 그대로 반영된다</a:t>
            </a:r>
          </a:p>
          <a:p>
            <a:r>
              <a:rPr sz="1600" b="0">
                <a:solidFill>
                  <a:srgbClr val="5A6672"/>
                </a:solidFill>
                <a:latin typeface="Malgun Gothic"/>
              </a:rPr>
              <a:t>    –  Q2에는 그 단계가 아예 없으므로 그만큼 시간이 짧다</a:t>
            </a:r>
          </a:p>
          <a:p>
            <a:r>
              <a:rPr sz="1800" b="0">
                <a:solidFill>
                  <a:srgbClr val="202830"/>
                </a:solidFill>
                <a:latin typeface="Malgun Gothic"/>
              </a:rPr>
              <a:t>•  지표를 함께 읽어야 하는 이유</a:t>
            </a:r>
          </a:p>
          <a:p>
            <a:r>
              <a:rPr sz="1600" b="0">
                <a:solidFill>
                  <a:srgbClr val="5A6672"/>
                </a:solidFill>
                <a:latin typeface="Malgun Gothic"/>
              </a:rPr>
              <a:t>    –  Buffers는 I/O 비용, A-Time과 메모리 값은 CPU·메모리 비용을 보여준다</a:t>
            </a:r>
          </a:p>
          <a:p>
            <a:r>
              <a:rPr sz="1600" b="0">
                <a:solidFill>
                  <a:srgbClr val="5A6672"/>
                </a:solidFill>
                <a:latin typeface="Malgun Gothic"/>
              </a:rPr>
              <a:t>    –  같은 Buffers에서도 다른 A-Time이 나올 수 있다는 사실을 실측으로 확인한 셈</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결과 건수 차이 — 28,026건의 의미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결과 건수</a:t>
            </a:r>
          </a:p>
          <a:p>
            <a:r>
              <a:rPr sz="1600" b="0">
                <a:solidFill>
                  <a:srgbClr val="5A6672"/>
                </a:solidFill>
                <a:latin typeface="Malgun Gothic"/>
              </a:rPr>
              <a:t>    –  Q1 UNION = 35,985건 — 중복이 제거된 고유한 환자 수</a:t>
            </a:r>
          </a:p>
          <a:p>
            <a:r>
              <a:rPr sz="1600" b="0">
                <a:solidFill>
                  <a:srgbClr val="5A6672"/>
                </a:solidFill>
                <a:latin typeface="Malgun Gothic"/>
              </a:rPr>
              <a:t>    –  Q2 UNION ALL = 64,011건 — 두 조회 결과를 그대로 이어붙인 건수</a:t>
            </a:r>
          </a:p>
          <a:p>
            <a:r>
              <a:rPr sz="1800" b="0">
                <a:solidFill>
                  <a:srgbClr val="202830"/>
                </a:solidFill>
                <a:latin typeface="Malgun Gothic"/>
              </a:rPr>
              <a:t>•  차이 28,026건이 뜻하는 것</a:t>
            </a:r>
          </a:p>
          <a:p>
            <a:r>
              <a:rPr sz="1600" b="0">
                <a:solidFill>
                  <a:srgbClr val="5A6672"/>
                </a:solidFill>
                <a:latin typeface="Malgun Gothic"/>
              </a:rPr>
              <a:t>    –  입원 청구를 냈으면서 동시에 의료급여 환자이기도 한 사람이 그만큼 있었다</a:t>
            </a:r>
          </a:p>
          <a:p>
            <a:r>
              <a:rPr sz="1600" b="0">
                <a:solidFill>
                  <a:srgbClr val="5A6672"/>
                </a:solidFill>
                <a:latin typeface="Malgun Gothic"/>
              </a:rPr>
              <a:t>    –  UNION ALL 결과에서는 이 사람들이 두 번씩 세어진 상태다</a:t>
            </a:r>
          </a:p>
          <a:p>
            <a:r>
              <a:rPr sz="1800" b="0">
                <a:solidFill>
                  <a:srgbClr val="202830"/>
                </a:solidFill>
                <a:latin typeface="Malgun Gothic"/>
              </a:rPr>
              <a:t>•  건수 차이 자체가 유용한 정보다</a:t>
            </a:r>
          </a:p>
          <a:p>
            <a:r>
              <a:rPr sz="1600" b="0">
                <a:solidFill>
                  <a:srgbClr val="5A6672"/>
                </a:solidFill>
                <a:latin typeface="Malgun Gothic"/>
              </a:rPr>
              <a:t>    –  두 집합에 실제로 중복이 있었는지를 보여주는 직접적인 증거가 된다</a:t>
            </a:r>
          </a:p>
          <a:p>
            <a:r>
              <a:rPr sz="1600" b="0">
                <a:solidFill>
                  <a:srgbClr val="5A6672"/>
                </a:solidFill>
                <a:latin typeface="Malgun Gothic"/>
              </a:rPr>
              <a:t>    –  차이가 0이라면 두 집합이 겹치지 않았다는 뜻이고 UNION ALL로 바꿔도 안전하다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성능이 아니라 정확성의 문제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시나리오에서 UNION ALL은 더 빠르지만 답이 틀린다</a:t>
            </a:r>
          </a:p>
          <a:p>
            <a:r>
              <a:rPr sz="1600" b="0">
                <a:solidFill>
                  <a:srgbClr val="5A6672"/>
                </a:solidFill>
                <a:latin typeface="Malgun Gothic"/>
              </a:rPr>
              <a:t>    –  "환자가 몇 명인지" 세는 것이 목적이라면 중복된 환자가 두 번 카운트된다</a:t>
            </a:r>
          </a:p>
          <a:p>
            <a:r>
              <a:rPr sz="1600" b="0">
                <a:solidFill>
                  <a:srgbClr val="5A6672"/>
                </a:solidFill>
                <a:latin typeface="Malgun Gothic"/>
              </a:rPr>
              <a:t>    –  고유 환자 수는 35,985명인데 64,011이라는 과대 집계된 값을 얻게 된다</a:t>
            </a:r>
          </a:p>
          <a:p>
            <a:r>
              <a:rPr sz="1800" b="0">
                <a:solidFill>
                  <a:srgbClr val="202830"/>
                </a:solidFill>
                <a:latin typeface="Malgun Gothic"/>
              </a:rPr>
              <a:t>•  튜닝의 대전제</a:t>
            </a:r>
          </a:p>
          <a:p>
            <a:r>
              <a:rPr sz="1600" b="0">
                <a:solidFill>
                  <a:srgbClr val="5A6672"/>
                </a:solidFill>
                <a:latin typeface="Malgun Gothic"/>
              </a:rPr>
              <a:t>    –  대안은 "결과가 같다"는 전제 아래에서만 비교할 수 있다</a:t>
            </a:r>
          </a:p>
          <a:p>
            <a:r>
              <a:rPr sz="1600" b="0">
                <a:solidFill>
                  <a:srgbClr val="5A6672"/>
                </a:solidFill>
                <a:latin typeface="Malgun Gothic"/>
              </a:rPr>
              <a:t>    –  결과가 달라지는 변경은 튜닝이 아니라 사양 변경이다</a:t>
            </a:r>
          </a:p>
          <a:p>
            <a:r>
              <a:rPr sz="1800" b="0">
                <a:solidFill>
                  <a:srgbClr val="202830"/>
                </a:solidFill>
                <a:latin typeface="Malgun Gothic"/>
              </a:rPr>
              <a:t>•  실무에서 이 사고가 늦게 발견되는 이유</a:t>
            </a:r>
          </a:p>
          <a:p>
            <a:r>
              <a:rPr sz="1600" b="0">
                <a:solidFill>
                  <a:srgbClr val="5A6672"/>
                </a:solidFill>
                <a:latin typeface="Malgun Gothic"/>
              </a:rPr>
              <a:t>    –  쿼리가 에러 없이 정상 종료되므로 숫자만 조용히 부풀어 오른다</a:t>
            </a:r>
          </a:p>
          <a:p>
            <a:r>
              <a:rPr sz="1600" b="0">
                <a:solidFill>
                  <a:srgbClr val="5A6672"/>
                </a:solidFill>
                <a:latin typeface="Malgun Gothic"/>
              </a:rPr>
              <a:t>    –  집계 리포트는 검증 대상이 되기 어려워 한참 뒤에야 발견되는 경우가 많다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9.6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오히려 완전히 사라지는 DISTINCT</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800" b="0">
                <a:solidFill>
                  <a:srgbClr val="C5CED6"/>
                </a:solidFill>
                <a:latin typeface="Malgun Gothic"/>
              </a:rPr>
              <a:t>•  Q3 · Q4 — DISTINCT를 붙인 쿼리와 안 붙인 쿼리</a:t>
            </a:r>
          </a:p>
          <a:p>
            <a:r>
              <a:rPr sz="1800" b="0">
                <a:solidFill>
                  <a:srgbClr val="C5CED6"/>
                </a:solidFill>
                <a:latin typeface="Malgun Gothic"/>
              </a:rPr>
              <a:t>•  두 쿼리의 공통 실행계획</a:t>
            </a:r>
          </a:p>
          <a:p>
            <a:r>
              <a:rPr sz="1800" b="0">
                <a:solidFill>
                  <a:srgbClr val="C5CED6"/>
                </a:solidFill>
                <a:latin typeface="Malgun Gothic"/>
              </a:rPr>
              <a:t>•  생략이 가능했던 근거와 그 한계</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 Q4 — 유일한 컬럼에 붙인 DISTINCT</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9.6절 Bad SQL — HOSP_ID는 HOSPITALS의 PK다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Q3. 이미 유일함이 보장된 컬럼에 DISTINCT</a:t>
            </a:r>
          </a:p>
          <a:p>
            <a:r>
              <a:rPr sz="1250" b="0">
                <a:solidFill>
                  <a:srgbClr val="E6E6E6"/>
                </a:solidFill>
                <a:latin typeface="Consolas"/>
              </a:rPr>
              <a:t>SELECT DISTINCT hosp_id FROM hospitals WHERE hosp_id &lt;= 100;</a:t>
            </a:r>
          </a:p>
          <a:p>
            <a:r>
              <a:rPr sz="1250" b="0">
                <a:solidFill>
                  <a:srgbClr val="E6E6E6"/>
                </a:solidFill>
                <a:latin typeface="Consolas"/>
              </a:rPr>
              <a:t/>
            </a:r>
          </a:p>
          <a:p>
            <a:r>
              <a:rPr sz="1250" b="0">
                <a:solidFill>
                  <a:srgbClr val="7EC699"/>
                </a:solidFill>
                <a:latin typeface="Consolas"/>
              </a:rPr>
              <a:t>-- Q4. DISTINCT 없이 동일 조회</a:t>
            </a:r>
          </a:p>
          <a:p>
            <a:r>
              <a:rPr sz="1250" b="0">
                <a:solidFill>
                  <a:srgbClr val="E6E6E6"/>
                </a:solidFill>
                <a:latin typeface="Consolas"/>
              </a:rPr>
              <a:t>SELECT hosp_id FROM hospitals WHERE hosp_id &lt;= 100;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 Q4 공통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9.6절 Execution Plan — Plan hash value가 완전히 동일하다 (1619867082)</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a:t>
            </a:r>
          </a:p>
          <a:p>
            <a:r>
              <a:rPr sz="1250" b="0">
                <a:solidFill>
                  <a:srgbClr val="E6E6E6"/>
                </a:solidFill>
                <a:latin typeface="Consolas"/>
              </a:rPr>
              <a:t>| 0  | SELECT STATEMENT   |              |    100 | 00:00:00.01 |       9 |</a:t>
            </a:r>
          </a:p>
          <a:p>
            <a:r>
              <a:rPr sz="1250" b="0">
                <a:solidFill>
                  <a:srgbClr val="E6E6E6"/>
                </a:solidFill>
                <a:latin typeface="Consolas"/>
              </a:rPr>
              <a:t>| 1  |  INDEX RANGE SCAN  | PK_HOSPITALS |    100 | 00:00:00.01 |       9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계획 해석 — 중복 제거 오퍼레이션이 없다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관측 사실</a:t>
            </a:r>
          </a:p>
          <a:p>
            <a:r>
              <a:rPr sz="1600" b="0">
                <a:solidFill>
                  <a:srgbClr val="5A6672"/>
                </a:solidFill>
                <a:latin typeface="Malgun Gothic"/>
              </a:rPr>
              <a:t>    –  DISTINCT를 붙인 Q3과 안 붙인 Q4의 실행계획이 완전히 동일하다</a:t>
            </a:r>
          </a:p>
          <a:p>
            <a:r>
              <a:rPr sz="1600" b="0">
                <a:solidFill>
                  <a:srgbClr val="5A6672"/>
                </a:solidFill>
                <a:latin typeface="Malgun Gothic"/>
              </a:rPr>
              <a:t>    –  SORT UNIQUE도 HASH UNIQUE도 계획에 전혀 나타나지 않는다</a:t>
            </a:r>
          </a:p>
          <a:p>
            <a:r>
              <a:rPr sz="1600" b="0">
                <a:solidFill>
                  <a:srgbClr val="5A6672"/>
                </a:solidFill>
                <a:latin typeface="Malgun Gothic"/>
              </a:rPr>
              <a:t>    –  두 쿼리 모두 PK_HOSPITALS 인덱스 범위 스캔 한 단계로 끝난다</a:t>
            </a:r>
          </a:p>
          <a:p>
            <a:r>
              <a:rPr sz="1800" b="0">
                <a:solidFill>
                  <a:srgbClr val="202830"/>
                </a:solidFill>
                <a:latin typeface="Malgun Gothic"/>
              </a:rPr>
              <a:t>•  지표</a:t>
            </a:r>
          </a:p>
          <a:p>
            <a:r>
              <a:rPr sz="1600" b="0">
                <a:solidFill>
                  <a:srgbClr val="5A6672"/>
                </a:solidFill>
                <a:latin typeface="Malgun Gothic"/>
              </a:rPr>
              <a:t>    –  Buffers는 두 쿼리 모두 9, A-Time도 모두 0.01초</a:t>
            </a:r>
          </a:p>
          <a:p>
            <a:r>
              <a:rPr sz="1600" b="0">
                <a:solidFill>
                  <a:srgbClr val="5A6672"/>
                </a:solidFill>
                <a:latin typeface="Malgun Gothic"/>
              </a:rPr>
              <a:t>    –  중복 제거를 위한 어떤 추가 비용도 관측되지 않는다</a:t>
            </a:r>
          </a:p>
          <a:p>
            <a:r>
              <a:rPr sz="1800" b="0">
                <a:solidFill>
                  <a:srgbClr val="202830"/>
                </a:solidFill>
                <a:latin typeface="Malgun Gothic"/>
              </a:rPr>
              <a:t>•  즉 DISTINCT 요청 자체가 아무 비용 없이 통째로 생략됐다</a:t>
            </a:r>
          </a:p>
          <a:p>
            <a:r>
              <a:rPr sz="1600" b="0">
                <a:solidFill>
                  <a:srgbClr val="5A6672"/>
                </a:solidFill>
                <a:latin typeface="Malgun Gothic"/>
              </a:rPr>
              <a:t>    –  실행 중에 건너뛴 것이 아니라 계획을 세울 때부터 없던 일이 됐다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생략의 근거 — PK 제약과 증명 가능성</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HOSP_ID는 HOSPITALS 테이블의 기본 키다</a:t>
            </a:r>
          </a:p>
          <a:p>
            <a:r>
              <a:rPr sz="1600" b="0">
                <a:solidFill>
                  <a:srgbClr val="5A6672"/>
                </a:solidFill>
                <a:latin typeface="Malgun Gothic"/>
              </a:rPr>
              <a:t>    –  PK는 테이블 안에서 값이 절대 중복될 수 없음을 DB가 보장하는 제약이다</a:t>
            </a:r>
          </a:p>
          <a:p>
            <a:r>
              <a:rPr sz="1600" b="0">
                <a:solidFill>
                  <a:srgbClr val="5A6672"/>
                </a:solidFill>
                <a:latin typeface="Malgun Gothic"/>
              </a:rPr>
              <a:t>    –  옵티마이저는 이 제약을 메타데이터로 알고 있다</a:t>
            </a:r>
          </a:p>
          <a:p>
            <a:r>
              <a:rPr sz="1800" b="0">
                <a:solidFill>
                  <a:srgbClr val="202830"/>
                </a:solidFill>
                <a:latin typeface="Malgun Gothic"/>
              </a:rPr>
              <a:t>•  추론의 흐름</a:t>
            </a:r>
          </a:p>
          <a:p>
            <a:r>
              <a:rPr sz="1600" b="0">
                <a:solidFill>
                  <a:srgbClr val="5A6672"/>
                </a:solidFill>
                <a:latin typeface="Malgun Gothic"/>
              </a:rPr>
              <a:t>    –  이 컬럼을 그대로 조회하면 애초에 중복이 나올 수 없다</a:t>
            </a:r>
          </a:p>
          <a:p>
            <a:r>
              <a:rPr sz="1600" b="0">
                <a:solidFill>
                  <a:srgbClr val="5A6672"/>
                </a:solidFill>
                <a:latin typeface="Malgun Gothic"/>
              </a:rPr>
              <a:t>    –  중복이 없으면 DISTINCT가 요구하는 작업도 할 이유가 없다</a:t>
            </a:r>
          </a:p>
          <a:p>
            <a:r>
              <a:rPr sz="1600" b="0">
                <a:solidFill>
                  <a:srgbClr val="5A6672"/>
                </a:solidFill>
                <a:latin typeface="Malgun Gothic"/>
              </a:rPr>
              <a:t>    –  따라서 그 단계를 계획에서 제거해도 결과가 달라지지 않는다</a:t>
            </a:r>
          </a:p>
          <a:p>
            <a:r>
              <a:rPr sz="1800" b="0">
                <a:solidFill>
                  <a:srgbClr val="202830"/>
                </a:solidFill>
                <a:latin typeface="Malgun Gothic"/>
              </a:rPr>
              <a:t>•  핵심은 "증명할 수 있는가"이지 "실제로 중복이 없는가"가 아니다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제약조건은 성능 기능이 아니라 정합성 기능으로만 이해되는 경우가 많다. 그러나 옵티마이저가 신뢰하고 활용할 수 있는 사실의 출처가 곧 제약조건이므로, 제약을 제대로 선언하는 것 자체가 튜닝의 일부다.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"불필요한 DISTINCT는 항상 낭비"가 틀린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명제는 하나의 전제 위에서만 성립한다</a:t>
            </a:r>
          </a:p>
          <a:p>
            <a:r>
              <a:rPr sz="1600" b="0">
                <a:solidFill>
                  <a:srgbClr val="5A6672"/>
                </a:solidFill>
                <a:latin typeface="Malgun Gothic"/>
              </a:rPr>
              <a:t>    –  전제 — 옵티마이저가 중복 제거를 항상 곧이곧대로 실행한다</a:t>
            </a:r>
          </a:p>
          <a:p>
            <a:r>
              <a:rPr sz="1600" b="0">
                <a:solidFill>
                  <a:srgbClr val="5A6672"/>
                </a:solidFill>
                <a:latin typeface="Malgun Gothic"/>
              </a:rPr>
              <a:t>    –  그러나 Q3과 Q4의 실측이 그 전제를 반증한다</a:t>
            </a:r>
          </a:p>
          <a:p>
            <a:r>
              <a:rPr sz="1800" b="0">
                <a:solidFill>
                  <a:srgbClr val="202830"/>
                </a:solidFill>
                <a:latin typeface="Malgun Gothic"/>
              </a:rPr>
              <a:t>•  실측이 보여준 것</a:t>
            </a:r>
          </a:p>
          <a:p>
            <a:r>
              <a:rPr sz="1600" b="0">
                <a:solidFill>
                  <a:srgbClr val="5A6672"/>
                </a:solidFill>
                <a:latin typeface="Malgun Gothic"/>
              </a:rPr>
              <a:t>    –  유일성을 증명할 수 있는 상황에서는 DISTINCT가 비용 없이 사라진다</a:t>
            </a:r>
          </a:p>
          <a:p>
            <a:r>
              <a:rPr sz="1600" b="0">
                <a:solidFill>
                  <a:srgbClr val="5A6672"/>
                </a:solidFill>
                <a:latin typeface="Malgun Gothic"/>
              </a:rPr>
              <a:t>    –  Q3과 Q4의 계획이 완전히 같으므로 "낭비"라고 할 근거 자체가 없다</a:t>
            </a:r>
          </a:p>
          <a:p>
            <a:r>
              <a:rPr sz="1800" b="0">
                <a:solidFill>
                  <a:srgbClr val="202830"/>
                </a:solidFill>
                <a:latin typeface="Malgun Gothic"/>
              </a:rPr>
              <a:t>•  다만 반대 방향의 오해도 경계해야 한다</a:t>
            </a:r>
          </a:p>
          <a:p>
            <a:r>
              <a:rPr sz="1600" b="0">
                <a:solidFill>
                  <a:srgbClr val="5A6672"/>
                </a:solidFill>
                <a:latin typeface="Malgun Gothic"/>
              </a:rPr>
              <a:t>    –  "DISTINCT를 아무 데나 붙여도 무해하다"는 뜻은 결코 아니다</a:t>
            </a:r>
          </a:p>
          <a:p>
            <a:r>
              <a:rPr sz="1600" b="0">
                <a:solidFill>
                  <a:srgbClr val="5A6672"/>
                </a:solidFill>
                <a:latin typeface="Malgun Gothic"/>
              </a:rPr>
              <a:t>    –  옵티마이저가 유일성을 증명할 수 없는 경우에는 실제 비용이 그대로 발생한다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반례 — 같은 컬럼명, 다른 테이블</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만약 같은 패턴을 MEDICAL_CLAIMS에 적용한다면</a:t>
            </a:r>
          </a:p>
          <a:p>
            <a:r>
              <a:rPr sz="1600" b="0">
                <a:solidFill>
                  <a:srgbClr val="5A6672"/>
                </a:solidFill>
                <a:latin typeface="Malgun Gothic"/>
              </a:rPr>
              <a:t>    –  MEDICAL_CLAIMS의 HOSP_ID는 PK가 아니라 FK 성격의 컬럼이다</a:t>
            </a:r>
          </a:p>
          <a:p>
            <a:r>
              <a:rPr sz="1600" b="0">
                <a:solidFill>
                  <a:srgbClr val="5A6672"/>
                </a:solidFill>
                <a:latin typeface="Malgun Gothic"/>
              </a:rPr>
              <a:t>    –  한 병원에 여러 청구 건이 연결될 수 있으므로 값이 얼마든지 중복된다</a:t>
            </a:r>
          </a:p>
          <a:p>
            <a:r>
              <a:rPr sz="1800" b="0">
                <a:solidFill>
                  <a:srgbClr val="202830"/>
                </a:solidFill>
                <a:latin typeface="Malgun Gothic"/>
              </a:rPr>
              <a:t>•  옵티마이저의 판단은 달라진다</a:t>
            </a:r>
          </a:p>
          <a:p>
            <a:r>
              <a:rPr sz="1600" b="0">
                <a:solidFill>
                  <a:srgbClr val="5A6672"/>
                </a:solidFill>
                <a:latin typeface="Malgun Gothic"/>
              </a:rPr>
              <a:t>    –  "이 컬럼은 중복이 없다"고 증명할 근거가 없다</a:t>
            </a:r>
          </a:p>
          <a:p>
            <a:r>
              <a:rPr sz="1600" b="0">
                <a:solidFill>
                  <a:srgbClr val="5A6672"/>
                </a:solidFill>
                <a:latin typeface="Malgun Gothic"/>
              </a:rPr>
              <a:t>    –  따라서 DISTINCT를 실제로 수행해야 하고 중복 제거 오퍼레이션이 계획에 나타난다</a:t>
            </a:r>
          </a:p>
          <a:p>
            <a:r>
              <a:rPr sz="1800" b="0">
                <a:solidFill>
                  <a:srgbClr val="202830"/>
                </a:solidFill>
                <a:latin typeface="Malgun Gothic"/>
              </a:rPr>
              <a:t>•  얻는 교훈</a:t>
            </a:r>
          </a:p>
          <a:p>
            <a:r>
              <a:rPr sz="1600" b="0">
                <a:solidFill>
                  <a:srgbClr val="5A6672"/>
                </a:solidFill>
                <a:latin typeface="Malgun Gothic"/>
              </a:rPr>
              <a:t>    –  같은 컬럼명이라도 어느 테이블의 어떤 제약을 가진 컬럼이냐가 결론을 바꾼다</a:t>
            </a:r>
          </a:p>
          <a:p>
            <a:r>
              <a:rPr sz="1600" b="0">
                <a:solidFill>
                  <a:srgbClr val="5A6672"/>
                </a:solidFill>
                <a:latin typeface="Malgun Gothic"/>
              </a:rPr>
              <a:t>    –  DISTINCT를 볼 때는 컬럼 이름이 아니라 그 컬럼의 제약을 확인해야 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9.7~9.8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판단 기준과 Benchmark 종합</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800" b="0">
                <a:solidFill>
                  <a:srgbClr val="C5CED6"/>
                </a:solidFill>
                <a:latin typeface="Malgun Gothic"/>
              </a:rPr>
              <a:t>•  UNION과 UNION ALL의 선택 기준</a:t>
            </a:r>
          </a:p>
          <a:p>
            <a:r>
              <a:rPr sz="1800" b="0">
                <a:solidFill>
                  <a:srgbClr val="C5CED6"/>
                </a:solidFill>
                <a:latin typeface="Malgun Gothic"/>
              </a:rPr>
              <a:t>•  겹칠 수 없는 조건의 예시</a:t>
            </a:r>
          </a:p>
          <a:p>
            <a:r>
              <a:rPr sz="1800" b="0">
                <a:solidFill>
                  <a:srgbClr val="C5CED6"/>
                </a:solidFill>
                <a:latin typeface="Malgun Gothic"/>
              </a:rPr>
              <a:t>•  DISTINCT를 빼도 되는가</a:t>
            </a:r>
          </a:p>
          <a:p>
            <a:r>
              <a:rPr sz="1800" b="0">
                <a:solidFill>
                  <a:srgbClr val="C5CED6"/>
                </a:solidFill>
                <a:latin typeface="Malgun Gothic"/>
              </a:rPr>
              <a:t>•  네 쿼리 종합 벤치마크와 체크리스트</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UNION과 UNION ALL의 선택 기준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1차 질문 — 두 결과 집합이 논리적으로 겹칠 수 있는가</a:t>
            </a:r>
          </a:p>
          <a:p>
            <a:r>
              <a:rPr sz="1600" b="0">
                <a:solidFill>
                  <a:srgbClr val="5A6672"/>
                </a:solidFill>
                <a:latin typeface="Malgun Gothic"/>
              </a:rPr>
              <a:t>    –  겹칠 수 있다면 UNION이 맞다. 이번 실습이 그런 경우였다</a:t>
            </a:r>
          </a:p>
          <a:p>
            <a:r>
              <a:rPr sz="1600" b="0">
                <a:solidFill>
                  <a:srgbClr val="5A6672"/>
                </a:solidFill>
                <a:latin typeface="Malgun Gothic"/>
              </a:rPr>
              <a:t>    –  입원 청구를 낸 환자와 의료급여 환자는 겹칠 수 있는 집합이었다</a:t>
            </a:r>
          </a:p>
          <a:p>
            <a:r>
              <a:rPr sz="1800" b="0">
                <a:solidFill>
                  <a:srgbClr val="202830"/>
                </a:solidFill>
                <a:latin typeface="Malgun Gothic"/>
              </a:rPr>
              <a:t>•  겹칠 수 없는 구조라면 UNION ALL로 바꾼다</a:t>
            </a:r>
          </a:p>
          <a:p>
            <a:r>
              <a:rPr sz="1600" b="0">
                <a:solidFill>
                  <a:srgbClr val="5A6672"/>
                </a:solidFill>
                <a:latin typeface="Malgun Gothic"/>
              </a:rPr>
              <a:t>    –  서로 배타적인 조건으로 나뉜 집합이라면 중복이 생길 수 없다</a:t>
            </a:r>
          </a:p>
          <a:p>
            <a:r>
              <a:rPr sz="1600" b="0">
                <a:solidFill>
                  <a:srgbClr val="5A6672"/>
                </a:solidFill>
                <a:latin typeface="Malgun Gothic"/>
              </a:rPr>
              <a:t>    –  불필요한 SORT UNIQUE 비용을 안전하게 아낄 수 있다</a:t>
            </a:r>
          </a:p>
          <a:p>
            <a:r>
              <a:rPr sz="1800" b="0">
                <a:solidFill>
                  <a:srgbClr val="202830"/>
                </a:solidFill>
                <a:latin typeface="Malgun Gothic"/>
              </a:rPr>
              <a:t>•  판단은 데이터의 현재 상태가 아니라 구조에서 나와야 한다</a:t>
            </a:r>
          </a:p>
          <a:p>
            <a:r>
              <a:rPr sz="1600" b="0">
                <a:solidFill>
                  <a:srgbClr val="5A6672"/>
                </a:solidFill>
                <a:latin typeface="Malgun Gothic"/>
              </a:rPr>
              <a:t>    –  지금 우연히 겹치지 않는 것과 구조적으로 겹칠 수 없는 것은 다르다</a:t>
            </a:r>
          </a:p>
          <a:p>
            <a:r>
              <a:rPr sz="1600" b="0">
                <a:solidFill>
                  <a:srgbClr val="5A6672"/>
                </a:solidFill>
                <a:latin typeface="Malgun Gothic"/>
              </a:rPr>
              <a:t>    –  확신이 서지 않으면 두 버전의 건수를 세어 차이가 있는지 확인한다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겹칠 수 없는 조건의 예시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예시 — 입원 청구와 외래 청구</a:t>
            </a:r>
          </a:p>
          <a:p>
            <a:r>
              <a:rPr sz="1600" b="0">
                <a:solidFill>
                  <a:srgbClr val="5A6672"/>
                </a:solidFill>
                <a:latin typeface="Malgun Gothic"/>
              </a:rPr>
              <a:t>    –  CLAIM_TYPE이 입원인 청구와 외래인 청구를 각각 조회한다</a:t>
            </a:r>
          </a:p>
          <a:p>
            <a:r>
              <a:rPr sz="1600" b="0">
                <a:solidFill>
                  <a:srgbClr val="5A6672"/>
                </a:solidFill>
                <a:latin typeface="Malgun Gothic"/>
              </a:rPr>
              <a:t>    –  한 청구 건의 CLAIM_TYPE은 동시에 두 값을 가질 수 없다</a:t>
            </a:r>
          </a:p>
          <a:p>
            <a:r>
              <a:rPr sz="1600" b="0">
                <a:solidFill>
                  <a:srgbClr val="5A6672"/>
                </a:solidFill>
                <a:latin typeface="Malgun Gothic"/>
              </a:rPr>
              <a:t>    –  따라서 두 조회 결과의 CLAIM_ID 집합은 절대 겹칠 수 없다</a:t>
            </a:r>
          </a:p>
          <a:p>
            <a:r>
              <a:rPr sz="1800" b="0">
                <a:solidFill>
                  <a:srgbClr val="202830"/>
                </a:solidFill>
                <a:latin typeface="Malgun Gothic"/>
              </a:rPr>
              <a:t>•  이 경우 UNION을 UNION ALL로 바꿔도 안전하다</a:t>
            </a:r>
          </a:p>
          <a:p>
            <a:r>
              <a:rPr sz="1600" b="0">
                <a:solidFill>
                  <a:srgbClr val="5A6672"/>
                </a:solidFill>
                <a:latin typeface="Malgun Gothic"/>
              </a:rPr>
              <a:t>    –  중복이 생길 수 없으므로 결과가 완전히 동일하다</a:t>
            </a:r>
          </a:p>
          <a:p>
            <a:r>
              <a:rPr sz="1600" b="0">
                <a:solidFill>
                  <a:srgbClr val="5A6672"/>
                </a:solidFill>
                <a:latin typeface="Malgun Gothic"/>
              </a:rPr>
              <a:t>    –  SORT UNIQUE의 CPU 비용을 그대로 절약할 수 있다</a:t>
            </a:r>
          </a:p>
          <a:p>
            <a:r>
              <a:rPr sz="1800" b="0">
                <a:solidFill>
                  <a:srgbClr val="202830"/>
                </a:solidFill>
                <a:latin typeface="Malgun Gothic"/>
              </a:rPr>
              <a:t>•  앞의 소재와 무엇이 달랐는가</a:t>
            </a:r>
          </a:p>
          <a:p>
            <a:r>
              <a:rPr sz="1600" b="0">
                <a:solidFill>
                  <a:srgbClr val="5A6672"/>
                </a:solidFill>
                <a:latin typeface="Malgun Gothic"/>
              </a:rPr>
              <a:t>    –  앞 소재는 서로 다른 테이블의 서로 다른 속성으로 나눈 집합이었다</a:t>
            </a:r>
          </a:p>
          <a:p>
            <a:r>
              <a:rPr sz="1600" b="0">
                <a:solidFill>
                  <a:srgbClr val="5A6672"/>
                </a:solidFill>
                <a:latin typeface="Malgun Gothic"/>
              </a:rPr>
              <a:t>    –  이 예시는 같은 컬럼의 값으로 나눈 집합이라 배타성이 구조에서 보장된다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DISTINCT를 빼도 되는가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조회 대상이 PK나 유니크 인덱스 컬럼이라면</a:t>
            </a:r>
          </a:p>
          <a:p>
            <a:r>
              <a:rPr sz="1600" b="0">
                <a:solidFill>
                  <a:srgbClr val="5A6672"/>
                </a:solidFill>
                <a:latin typeface="Malgun Gothic"/>
              </a:rPr>
              <a:t>    –  DISTINCT를 빼도 결과가 같다</a:t>
            </a:r>
          </a:p>
          <a:p>
            <a:r>
              <a:rPr sz="1600" b="0">
                <a:solidFill>
                  <a:srgbClr val="5A6672"/>
                </a:solidFill>
                <a:latin typeface="Malgun Gothic"/>
              </a:rPr>
              <a:t>    –  옵티마이저가 어차피 생략해줄 가능성이 높으므로 성능 차이도 없다</a:t>
            </a:r>
          </a:p>
          <a:p>
            <a:r>
              <a:rPr sz="1600" b="0">
                <a:solidFill>
                  <a:srgbClr val="5A6672"/>
                </a:solidFill>
                <a:latin typeface="Malgun Gothic"/>
              </a:rPr>
              <a:t>    –  다만 읽는 사람에게 혼란을 주므로 정리해 두는 편이 낫다</a:t>
            </a:r>
          </a:p>
          <a:p>
            <a:r>
              <a:rPr sz="1800" b="0">
                <a:solidFill>
                  <a:srgbClr val="202830"/>
                </a:solidFill>
                <a:latin typeface="Malgun Gothic"/>
              </a:rPr>
              <a:t>•  조인 이후의 컬럼처럼 중복 가능성이 실제로 있는 경우</a:t>
            </a:r>
          </a:p>
          <a:p>
            <a:r>
              <a:rPr sz="1600" b="0">
                <a:solidFill>
                  <a:srgbClr val="5A6672"/>
                </a:solidFill>
                <a:latin typeface="Malgun Gothic"/>
              </a:rPr>
              <a:t>    –  DISTINCT가 결과의 정확성을 위해 반드시 필요하다</a:t>
            </a:r>
          </a:p>
          <a:p>
            <a:r>
              <a:rPr sz="1600" b="0">
                <a:solidFill>
                  <a:srgbClr val="5A6672"/>
                </a:solidFill>
                <a:latin typeface="Malgun Gothic"/>
              </a:rPr>
              <a:t>    –  이때 DISTINCT를 지우는 것은 튜닝이 아니라 결과를 망가뜨리는 변경이다</a:t>
            </a:r>
          </a:p>
          <a:p>
            <a:r>
              <a:rPr sz="1800" b="0">
                <a:solidFill>
                  <a:srgbClr val="202830"/>
                </a:solidFill>
                <a:latin typeface="Malgun Gothic"/>
              </a:rPr>
              <a:t>•  조인 때문에 생긴 중복이라면 근본 해결은 다른 곳에 있다</a:t>
            </a:r>
          </a:p>
          <a:p>
            <a:r>
              <a:rPr sz="1600" b="0">
                <a:solidFill>
                  <a:srgbClr val="5A6672"/>
                </a:solidFill>
                <a:latin typeface="Malgun Gothic"/>
              </a:rPr>
              <a:t>    –  왜 조인 결과에 행이 늘어났는지, 즉 조인 조건과 카디널리티를 먼저 본다</a:t>
            </a:r>
          </a:p>
          <a:p>
            <a:r>
              <a:rPr sz="1600" b="0">
                <a:solidFill>
                  <a:srgbClr val="5A6672"/>
                </a:solidFill>
                <a:latin typeface="Malgun Gothic"/>
              </a:rPr>
              <a:t>    –  DISTINCT로 덮는 것은 증상 처리이고 조인 구조를 고치는 것이 원인 처리다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종합 벤치마크</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9.8절 Benchmark — 네 쿼리 실측 요약</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비교                           | Buffers | A-Time | 비고                                         |</a:t>
            </a:r>
          </a:p>
          <a:p>
            <a:r>
              <a:rPr sz="1250" b="0">
                <a:solidFill>
                  <a:srgbClr val="E6E6E6"/>
                </a:solidFill>
                <a:latin typeface="Consolas"/>
              </a:rPr>
              <a:t>+--------------------------------+---------+--------+----------------------------------------------+</a:t>
            </a:r>
          </a:p>
          <a:p>
            <a:r>
              <a:rPr sz="1250" b="0">
                <a:solidFill>
                  <a:srgbClr val="E6E6E6"/>
                </a:solidFill>
                <a:latin typeface="Consolas"/>
              </a:rPr>
              <a:t>| UNION (Q1)                     |   3,532 | 0.07초 | SORT UNIQUE 추가, 결과 35,985건              |</a:t>
            </a:r>
          </a:p>
          <a:p>
            <a:r>
              <a:rPr sz="1250" b="0">
                <a:solidFill>
                  <a:srgbClr val="E6E6E6"/>
                </a:solidFill>
                <a:latin typeface="Consolas"/>
              </a:rPr>
              <a:t>| UNION ALL (Q2)                 |   3,532 | 0.03초 | SORT UNIQUE 없음, 결과 64,011건(중복 포함)   |</a:t>
            </a:r>
          </a:p>
          <a:p>
            <a:r>
              <a:rPr sz="1250" b="0">
                <a:solidFill>
                  <a:srgbClr val="E6E6E6"/>
                </a:solidFill>
                <a:latin typeface="Consolas"/>
              </a:rPr>
              <a:t>| DISTINCT, PK 컬럼 (Q3)         |       9 | 0.01초 | SORT UNIQUE 완전히 생략됨                    |</a:t>
            </a:r>
          </a:p>
          <a:p>
            <a:r>
              <a:rPr sz="1250" b="0">
                <a:solidFill>
                  <a:srgbClr val="E6E6E6"/>
                </a:solidFill>
                <a:latin typeface="Consolas"/>
              </a:rPr>
              <a:t>| DISTINCT 없음, 동일 조회 (Q4)  |       9 | 0.01초 | Q3과 완전히 동일한 계획                      |</a:t>
            </a:r>
          </a:p>
          <a:p>
            <a:r>
              <a:rPr sz="1250" b="0">
                <a:solidFill>
                  <a:srgbClr val="E6E6E6"/>
                </a:solidFill>
                <a:latin typeface="Consolas"/>
              </a:rPr>
              <a: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중복 제거 비용 판단 체크리스트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① 두 결과가 논리적으로 겹칠 수 있는가</a:t>
            </a:r>
          </a:p>
          <a:p>
            <a:r>
              <a:rPr sz="1600" b="0">
                <a:solidFill>
                  <a:srgbClr val="5A6672"/>
                </a:solidFill>
                <a:latin typeface="Malgun Gothic"/>
              </a:rPr>
              <a:t>    –  겹칠 수 없다면 중복 제거 자체가 필요 없다 — UNION ALL 또는 DISTINCT 제거가 안전하다</a:t>
            </a:r>
          </a:p>
          <a:p>
            <a:r>
              <a:rPr sz="1600" b="0">
                <a:solidFill>
                  <a:srgbClr val="5A6672"/>
                </a:solidFill>
                <a:latin typeface="Malgun Gothic"/>
              </a:rPr>
              <a:t>    –  판단 근거는 데이터의 현재 상태가 아니라 구조적 배타성이어야 한다</a:t>
            </a:r>
          </a:p>
          <a:p>
            <a:r>
              <a:rPr sz="1800" b="0">
                <a:solidFill>
                  <a:srgbClr val="202830"/>
                </a:solidFill>
                <a:latin typeface="Malgun Gothic"/>
              </a:rPr>
              <a:t>•  ② 옵티마이저가 유일성을 증명할 수 있는가</a:t>
            </a:r>
          </a:p>
          <a:p>
            <a:r>
              <a:rPr sz="1600" b="0">
                <a:solidFill>
                  <a:srgbClr val="5A6672"/>
                </a:solidFill>
                <a:latin typeface="Malgun Gothic"/>
              </a:rPr>
              <a:t>    –  PK나 유니크 제약이 걸린 컬럼이라면 붙여 두어도 비용 없이 생략된다</a:t>
            </a:r>
          </a:p>
          <a:p>
            <a:r>
              <a:rPr sz="1600" b="0">
                <a:solidFill>
                  <a:srgbClr val="5A6672"/>
                </a:solidFill>
                <a:latin typeface="Malgun Gothic"/>
              </a:rPr>
              <a:t>    –  제약이 없는 컬럼이나 조인을 거친 결과라면 기대할 수 없다</a:t>
            </a:r>
          </a:p>
          <a:p>
            <a:r>
              <a:rPr sz="1800" b="0">
                <a:solidFill>
                  <a:srgbClr val="202830"/>
                </a:solidFill>
                <a:latin typeface="Malgun Gothic"/>
              </a:rPr>
              <a:t>•  ③ 중복 제거가 실제로 필요하다면 그 비용을 어디서 확인할 것인가</a:t>
            </a:r>
          </a:p>
          <a:p>
            <a:r>
              <a:rPr sz="1600" b="0">
                <a:solidFill>
                  <a:srgbClr val="5A6672"/>
                </a:solidFill>
                <a:latin typeface="Malgun Gothic"/>
              </a:rPr>
              <a:t>    –  Buffers가 아니라 A-Time과 작업 메모리 사용량으로 확인한다</a:t>
            </a:r>
          </a:p>
          <a:p>
            <a:r>
              <a:rPr sz="1600" b="0">
                <a:solidFill>
                  <a:srgbClr val="5A6672"/>
                </a:solidFill>
                <a:latin typeface="Malgun Gothic"/>
              </a:rPr>
              <a:t>    –  Buffers만 보고 "비용이 없다"고 오판하지 않도록 주의한다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UNION은 UNION-ALL로 합친 뒤 SORT UNIQUE로 중복을 제거하는 두 단계 연산이다</a:t>
            </a:r>
          </a:p>
          <a:p>
            <a:r>
              <a:rPr sz="1800" b="0">
                <a:solidFill>
                  <a:srgbClr val="202830"/>
                </a:solidFill>
                <a:latin typeface="Malgun Gothic"/>
              </a:rPr>
              <a:t>•  SORT UNIQUE는 이미 메모리에 있는 데이터를 다루므로 Buffers를 늘리지 않는다</a:t>
            </a:r>
          </a:p>
          <a:p>
            <a:r>
              <a:rPr sz="1800" b="0">
                <a:solidFill>
                  <a:srgbClr val="202830"/>
                </a:solidFill>
                <a:latin typeface="Malgun Gothic"/>
              </a:rPr>
              <a:t>•  실측에서 Q1과 Q2의 Buffers는 3,532로 같았지만 A-Time은 0.07초와 0.03초로 갈렸다</a:t>
            </a:r>
          </a:p>
          <a:p>
            <a:r>
              <a:rPr sz="1800" b="0">
                <a:solidFill>
                  <a:srgbClr val="202830"/>
                </a:solidFill>
                <a:latin typeface="Malgun Gothic"/>
              </a:rPr>
              <a:t>•  Buffers만으로 UNION과 UNION ALL의 비용을 비교하면 안 된다는 것이 이 장의 첫 결론이다</a:t>
            </a:r>
          </a:p>
          <a:p>
            <a:r>
              <a:rPr sz="1800" b="0">
                <a:solidFill>
                  <a:srgbClr val="202830"/>
                </a:solidFill>
                <a:latin typeface="Malgun Gothic"/>
              </a:rPr>
              <a:t>•  결과 건수 35,985와 64,011의 차이 28,026은 두 집합에 실제로 있던 중복의 규모다</a:t>
            </a:r>
          </a:p>
          <a:p>
            <a:r>
              <a:rPr sz="1800" b="0">
                <a:solidFill>
                  <a:srgbClr val="202830"/>
                </a:solidFill>
                <a:latin typeface="Malgun Gothic"/>
              </a:rPr>
              <a:t>•  겹칠 수 있는 집합에서 UNION ALL로 바꾸면 빨라지는 대신 답이 틀린다</a:t>
            </a:r>
          </a:p>
          <a:p>
            <a:r>
              <a:rPr sz="1800" b="0">
                <a:solidFill>
                  <a:srgbClr val="202830"/>
                </a:solidFill>
                <a:latin typeface="Malgun Gothic"/>
              </a:rPr>
              <a:t>•  PK 컬럼에 붙인 DISTINCT는 옵티마이저가 비용 없이 통째로 생략했다 — Q3과 Q4의 계획이 동일</a:t>
            </a:r>
          </a:p>
          <a:p>
            <a:r>
              <a:rPr sz="1800" b="0">
                <a:solidFill>
                  <a:srgbClr val="202830"/>
                </a:solidFill>
                <a:latin typeface="Malgun Gothic"/>
              </a:rPr>
              <a:t>•  생략의 조건은 옵티마이저가 유일성을 증명할 수 있는 경우로 한정된다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ch11_문제.md</a:t>
            </a:r>
          </a:p>
          <a:p>
            <a:r>
              <a:rPr sz="1600" b="0">
                <a:solidFill>
                  <a:srgbClr val="5A6672"/>
                </a:solidFill>
                <a:latin typeface="Malgun Gothic"/>
              </a:rPr>
              <a:t>    –  1~3번  SORT UNIQUE가 있는데 Buffers가 안 늘어난 이유와 A-Time 차이의 원인</a:t>
            </a:r>
          </a:p>
          <a:p>
            <a:r>
              <a:rPr sz="1600" b="0">
                <a:solidFill>
                  <a:srgbClr val="5A6672"/>
                </a:solidFill>
                <a:latin typeface="Malgun Gothic"/>
              </a:rPr>
              <a:t>    –  4~5번  28,026건 차이의 의미와 UNION ALL을 쓰면 안 되는 이유</a:t>
            </a:r>
          </a:p>
          <a:p>
            <a:r>
              <a:rPr sz="1600" b="0">
                <a:solidFill>
                  <a:srgbClr val="5A6672"/>
                </a:solidFill>
                <a:latin typeface="Malgun Gothic"/>
              </a:rPr>
              <a:t>    –  6~7번  DISTINCT 생략의 근거와 "불필요한 DISTINCT는 낭비" 명제 반박</a:t>
            </a:r>
          </a:p>
          <a:p>
            <a:r>
              <a:rPr sz="1600" b="0">
                <a:solidFill>
                  <a:srgbClr val="5A6672"/>
                </a:solidFill>
                <a:latin typeface="Malgun Gothic"/>
              </a:rPr>
              <a:t>    –  8번  FK 컬럼에 같은 패턴을 적용했을 때의 결과 추론</a:t>
            </a:r>
          </a:p>
          <a:p>
            <a:r>
              <a:rPr sz="1600" b="0">
                <a:solidFill>
                  <a:srgbClr val="5A6672"/>
                </a:solidFill>
                <a:latin typeface="Malgun Gothic"/>
              </a:rPr>
              <a:t>    –  9번  이 스키마에서 겹칠 수 없는 두 집합 예시 만들기</a:t>
            </a:r>
          </a:p>
          <a:p>
            <a:r>
              <a:rPr sz="1600" b="0">
                <a:solidFill>
                  <a:srgbClr val="5A6672"/>
                </a:solidFill>
                <a:latin typeface="Malgun Gothic"/>
              </a:rPr>
              <a:t>    –  10번  중복 제거 비용 판단 시 확인할 항목 종합 정리</a:t>
            </a:r>
          </a:p>
          <a:p>
            <a:r>
              <a:rPr sz="1800" b="0">
                <a:solidFill>
                  <a:srgbClr val="202830"/>
                </a:solidFill>
                <a:latin typeface="Malgun Gothic"/>
              </a:rPr>
              <a:t>•  풀이 방법</a:t>
            </a:r>
          </a:p>
          <a:p>
            <a:r>
              <a:rPr sz="1600" b="0">
                <a:solidFill>
                  <a:srgbClr val="5A6672"/>
                </a:solidFill>
                <a:latin typeface="Malgun Gothic"/>
              </a:rPr>
              <a:t>    –  먼저 근거를 문장으로 적고 나서 실행계획으로 확인하는 순서를 지킨다</a:t>
            </a:r>
          </a:p>
          <a:p>
            <a:r>
              <a:rPr sz="1600" b="0">
                <a:solidFill>
                  <a:srgbClr val="5A6672"/>
                </a:solidFill>
                <a:latin typeface="Malgun Gothic"/>
              </a:rPr>
              <a:t>    –  해설은 ch11_해설.md에서 문항 번호와 1:1로 대응한다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
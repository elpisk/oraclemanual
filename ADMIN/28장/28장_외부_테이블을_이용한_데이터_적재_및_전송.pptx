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notesMaster" Target="notesMasters/notesMaster1.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 Id="rId41" Type="http://schemas.openxmlformats.org/officeDocument/2006/relationships/slide" Target="slides/slide34.xml"/><Relationship Id="rId42" Type="http://schemas.openxmlformats.org/officeDocument/2006/relationships/slide" Target="slides/slide35.xml"/><Relationship Id="rId43" Type="http://schemas.openxmlformats.org/officeDocument/2006/relationships/slide" Target="slides/slide36.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외부 테이블은 데이터를 데이터베이스 안에 복사하지 않고도 OS 파일의 내용을 SQL로 조회하게 해 주는 스키마 객체다. 여기서 반드시 이해해야 할 핵심은 실제 데이터가 데이터베이스의 테이블스페이스 세그먼트에 저장되지 않는다는 점이다. 데이터베이스에는 오직 컬럼 정의, 사용할 액세스 드라이버, 파일 위치, 파싱 규칙 같은 메타데이터만 딕셔너리에 저장되고, 실제 데이터 행은 여전히 원본 파일 안에 있다. 사용자가 그 외부 테이블을 SELECT 하는 바로 그 순간에 액세스 드라이버가 파일을 열어 각 레코드를 행과 컬럼으로 변환해 돌려준다. 세그먼트가 없기 때문에 인덱스를 만들 수 없고 기본적으로 읽기 전용이라는 성질이 여기서 비롯된다.</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일반 내부 테이블과 외부 테이블의 차이는 결국 데이터가 어디에 저장되느냐에서 모두 파생된다. 일반 테이블은 데이터가 테이블스페이스 세그먼트에 저장되므로 DML이 자유롭고 인덱스·제약·트리거를 완전히 지원하며 리두와 언두의 보호를 받는다. 반면 외부 테이블은 데이터가 OS 파일에 있으므로 읽기 전용이고 인덱스를 만들 수 없으며 리두·언두가 발생하지 않는다. 따라서 외부 테이블은 데이터를 영구 보관하는 저장소가 아니라 파일을 SQL로 들여다보는 창문에 가깝다. 반복적으로 조회해야 하는 데이터라면 외부 테이블로 한 번 읽어 내부 테이블에 적재한 뒤 그 내부 테이블을 사용하는 것이 바람직하다.</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외부 테이블은 일반 테이블처럼 CREATE TABLE로 만들되 ORGANIZATION EXTERNAL 절을 덧붙인다. 이 절 안에서 TYPE으로 액세스 드라이버를, DEFAULT DIRECTORY로 파일이 놓일 디렉터리 객체를, ACCESS PARAMETERS로 파싱 규칙을, LOCATION으로 읽을 파일을, REJECT LIMIT으로 거부 허용 한도를 지정한다. TYPE을 생략하면 기본값 ORACLE_LOADER가 쓰인다. 반드시 기억할 것은 디렉터리 객체가 선행 작업이라는 점이다. CREATE DIRECTORY로 디렉터리 객체를 만들고 사용할 사용자에게 READ와 WRITE 권한을 부여해야 하며, 그 경로가 서버에 실제로 존재하고 oracle OS 계정이 접근 가능해야 한다.</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이 예제는 외부 테이블 생성의 표준 골격을 보여 준다. 먼저 CREATE DIRECTORY로 디렉터리 객체를 만들고 GRANT READ, WRITE로 권한을 부여한다. 그다음 CREATE TABLE의 컬럼 목록은 파일에서 읽은 값이 어떤 이름과 타입으로 노출될지를 정의한다. ORGANIZATION EXTERNAL 안에서 TYPE ORACLE_LOADER로 드라이버를, DEFAULT DIRECTORY로 파일 위치를, ACCESS PARAMETERS로 파싱 규칙을 지정한다. RECORDS DELIMITED BY NEWLINE은 한 줄을 한 레코드로, FIELDS TERMINATED BY 콤마는 쉼표를 필드 구분자로 삼는다는 뜻이다. MISSING FIELD VALUES ARE NULL은 뒤쪽 필드가 없을 때 NULL로 채워 거부를 방지한다. LOCATION은 읽을 파일이고 REJECT LIMIT UNLIMITED는 거부 건수와 무관하게 읽을 수 있는 행만 반환하게 한다.</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액세스 드라이버는 외부 파일의 바이트 스트림과 데이터베이스가 이해하는 행·컬럼 구조 사이를 중개하는 API 계층으로, 외부 테이블의 두뇌라 할 수 있다. 사용자가 외부 테이블을 SELECT 하면 오라클은 지정된 드라이버를 호출해 파일을 열고, ACCESS PARAMETERS에 적힌 규칙대로 레코드를 분리하고 필드를 추출한 뒤 컬럼 타입에 맞게 변환해 상위 SQL 엔진에 전달한다. 처리 중 생성되는 로그·불량·버림 파일도 드라이버가 기록한다. 중요한 점은 ACCESS PARAMETERS 문법이 SQL 표준이 아니라 각 드라이버가 정의한 고유 문법이라는 것이며, 드라이버는 데이터베이스에 내장되어 있어 별도 설치가 필요 없다.</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DBA가 반드시 구분해야 할 두 드라이버다. ORACLE_LOADER는 SQL*Loader와 동일한 파싱 엔진으로 텍스트·CSV·고정 길이 파일을 읽는 드라이버로 오직 읽기만 가능하다. 데이터 웨어하우스로 외부 시스템의 평문 데이터를 적재할 때 가장 널리 쓰이며 문법이 SQL*Loader 컨트롤 파일과 유사하다. ORACLE_DATAPUMP는 Data Pump와 같은 오라클 이진 덤프 형식으로 데이터를 읽고 쓸 수 있는 드라이버로, 쓰기(언로드)가 가능하다는 점이 결정적 차이다. CREATE TABLE ... AS SELECT로 데이터를 이진 파일로 내보내고 그 파일을 다른 서버로 옮겨 재적재할 수 있으며, 형식이 플랫폼 독립적이라 이기종 전송에 쓰인다. 이 밖에 빅데이터 소스를 위한 ORACLE_HDFS, ORACLE_HIVE 드라이버도 있다.</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ORACLE_LOADER 드라이버의 핵심은 ACCESS PARAMETERS에 파싱 규칙을 정확히 기술하는 것이다. RECORDS DELIMITED BY NEWLINE은 각 줄을 한 레코드로 간주하고, 고정 길이 파일이면 RECORDS FIXED n을 쓴다. FIELDS TERMINATED BY로 필드 구분자를, OPTIONALLY ENCLOSED BY로 값을 감싸는 문자를 지정해 값 안의 쉼표를 구분자로 오인하지 않게 한다. MISSING FIELD VALUES ARE NULL은 뒤쪽 필드가 없을 때 NULL로 채워 거부를 막는다. CHARACTERSET으로 인코딩을 명시하며 한글 파일은 이를 정확히 맞춰야 깨지지 않는다. LOAD WHEN으로 조건에 맞는 레코드만 걸러 읽을 수 있다. BADFILE에는 변환 실패 레코드가, DISCARDFILE에는 조건 불일치 레코드가, LOGFILE에는 처리 로그가 기록된다.</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이 문장은 쉼표로 구분된 CSV를 읽는 외부 테이블을 만든다. TYPE ORACLE_LOADER로 텍스트 드라이버를 지정하고 DEFAULT DIRECTORY로 파일이 놓인 디렉터리를 정한다. ACCESS PARAMETERS 안에서 BADFILE과 LOGFILE을 지정해 거부 레코드와 처리 로그가 어디에 기록될지 정하는데, 이 파일들은 디렉터리 아래에 만들어지므로 WRITE 권한이 반드시 필요하다. FIELDS TERMINATED BY 콤마와 OPTIONALLY ENCLOSED BY 큰따옴표로 CSV를 정확히 파싱한다. LOCATION에 두 파일을 지정하면 병렬 처리의 단위가 되어, PARALLEL과 함께 쓰면 여러 병렬 서버가 파일을 나눠 읽는다. REJECT LIMIT 10은 거부를 10건까지 허용하고 11번째에서 실패하게 한다.</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외부 테이블을 만들면 평범한 테이블처럼 조회할 수 있고 그 결과를 그대로 내부 테이블에 적재할 수 있다. 첫 번째 예처럼 WHERE 조건을 걸어 파일을 직접 조회할 수 있는데, 이때 SELECT 시점에 액세스 드라이버가 파일을 읽는다. 두 번째 예는 CREATE TABLE ... AS SELECT로 대문자 변환과 급여 인상 같은 변환을 적용하면서 조건에 맞는 행만 골라 내부 테이블로 적재하는 전형적인 ETL 패턴이다. 파일을 스테이징 테이블에 먼저 넣고 다시 변환하는 두 단계 없이, 읽으면서 변환해서 적재하는 한 단계로 끝난다. 세 번째 예처럼 INSERT APPEND 힌트를 주면 다이렉트 패스로 기존 테이블에 빠르게 적재할 수 있다. 변환 로직을 SELECT 안에서 처리하는 것이 외부 테이블 적재의 핵심 이점이다.</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ORACLE_DATAPUMP 드라이버는 외부 테이블을 통한 데이터 언로드와 재적재를 가능하게 한다. 원본 데이터베이스에서 CREATE TABLE ... ORGANIZATION EXTERNAL ... TYPE ORACLE_DATAPUMP ... AS SELECT를 실행하면 SELECT 결과가 지정한 디렉터리에 오라클 이진 덤프 파일로 기록된다. 그 덤프 파일을 다른 서버로 복사한 뒤 대상 데이터베이스에서 같은 컬럼 구조의 외부 테이블을 LOCATION만 그 덤프로 지정해 만들면, SELECT 하는 것만으로 데이터를 읽어 들일 수 있다. 이 과정 전체가 플랫폼 독립적이므로 엔디안이 다른 이기종 서버 간 전송 수단이 된다. 언로드 시 COMPRESSION으로 압축, ENCRYPTION으로 암호화, PARALLEL로 병렬 처리를 적용할 수 있다.</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이 문장이 성공하면 data_dir 디렉터리에 emp_dept20.dmp라는 오라클 이진 덤프 파일이 생성된다. AS SELECT 절에서 부서 20만 골라 내보내므로, 언로드 시점에 SELECT의 필터·조인·변환 기능을 그대로 활용할 수 있다는 것이 강점이다. 이 파일은 텍스트 편집기로 읽을 수 없는 오라클 내부 형식이며 로그 파일도 함께 만들어진다. 주의할 점은 ORACLE_DATAPUMP 외부 테이블이 이 CTAS 시점에 단 한 번만 채워지고 이후에는 다른 외부 테이블처럼 읽기 전용이 된다는 것이다. 이미 존재하는 덤프에 데이터를 추가하거나 덮어쓸 수 없다. 두 번째 예처럼 LOCATION에 여러 파일을 주고 PARALLEL을 지정하면 여러 병렬 서버가 데이터를 나눠 여러 덤프 파일로 동시에 기록해 대용량 언로드를 가속한다.</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원본에서 만든 덤프 파일을 scp 등으로 대상 서버의 디렉터리로 복사한 뒤, 대상 데이터베이스에서 같은 컬럼 구조의 외부 테이블을 만든다. 이때는 AS SELECT를 쓰지 않고 LOCATION에 옮겨 온 덤프 파일명만 지정한다는 점이 핵심이다. 이렇게 정의한 외부 테이블을 SELECT 하면 원본에서 언로드한 데이터가 그대로 읽힌다. COUNT로 행이 제대로 읽히는지 확인한 뒤, CREATE TABLE ... AS SELECT로 내부 테이블에 실제 적재하면 전송이 완료된다. 원본과 대상의 운영체제나 하드웨어 아키텍처가 달라도 되므로 이 절차는 이기종 플랫폼 간 데이터 이동의 간단하고 강력한 수단이 된다. 대상 쪽 컬럼 정의는 언로드한 데이터와 호환되어야 한다.</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외부 테이블은 SQL*Loader와 같은 ORACLE_LOADER 파싱 엔진을 공유하면서도 파일을 SQL의 대상으로 승격시키기 때문에 SQL*Loader가 하기 어려운 작업을 자연스럽게 처리한다. 첫째, SELECT에서 조인·서브쿼리·집계·CASE·분석 함수를 자유롭게 쓸 수 있다. 둘째, 파일을 스테이징에 넣고 다시 변환하는 두 단계 대신 INSERT SELECT나 CTAS 한 번으로 읽으면서 변환해서 적재한다. 즉 ETL의 T를 SQL로 처리한다. 셋째, 여러 파일과 PARALLEL로 병렬 처리한다. 넷째, 외부 테이블끼리 또는 외부와 내부 테이블을 조인해 한 번에 처리한다. 다섯째, 적재 전에 파일 자체를 SQL로 프로파일링해 품질을 검증할 수 있다.</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외부 테이블이 모든 상황에서 SQL*Loader보다 우월한 것은 아니다. SQL*Loader의 다이렉트 패스 로드는 버퍼 캐시와 SQL 엔진을 우회해 데이터 블록을 직접 기록하므로 순수 대량 적재 속도에서는 여전히 매우 빠르다. 따라서 변환·조인·병렬·반복 조회가 필요하면 외부 테이블을, 변환 없는 초고속 일회성 적재면 SQL*Loader 다이렉트 패스를 택하면 된다. 두 도구는 경쟁 관계가 아니라 같은 파싱 엔진을 공유하는 상호 보완 도구여서 컨트롤 파일 지식을 그대로 재활용할 수 있다. 전송 측면에서도 소수의 테이블이나 쿼리 결과를 SQL 파이프라인 안에서 옮길 때는 ORACLE_DATAPUMP 외부 테이블이, 스키마 전체나 데이터베이스 전체 이관은 expdp/impdp가 더 적합하다.</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외부 테이블의 강력함은 파일을 테이블처럼 본다는 데서 오지만 바로 그 성질 때문에 제약이 따른다. 첫째, INSERT·UPDATE·DELETE·MERGE를 할 수 없고 시도하면 ORA-30657 오류가 난다. 유일한 예외적 쓰기는 ORACLE_DATAPUMP의 CTAS 언로드뿐이며 테이블 생성 시 단 한 번 이뤄진다. 둘째, 세그먼트가 없어 인덱스를 만들 수 없으므로 조회는 항상 전체 파일 스캔이다. 셋째, PK·UK·FK 제약을 실제로 강제할 수 없고 RELY DISABLE로 선언만 가능하다. 넷째, 파일이 바뀌면 조회 결과도 바뀌므로 스냅샷이 아니다. 다섯째, 내부 테이블 같은 읽기 일관성이 없어 조회 중 파일이 교체되면 예기치 않은 결과나 오류가 생긴다. 데이터를 변경하려면 외부 테이블로 읽어 내부 테이블에 적재한 뒤 그 테이블에서 DML을 수행해야 한다.</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파일을 파싱하다 보면 타입 불일치나 필드 개수 오류로 특정 레코드를 행으로 변환하지 못하는 경우가 생긴다. REJECT LIMIT은 이런 거부 레코드를 몇 건까지 허용할지 정한다. 기본값은 0이라서 단 한 건이라도 거부되면 질의가 실패한다. 숫자 n을 지정하면 n건까지 허용하고 n+1번째에서 실패하며, UNLIMITED로 지정하면 거부 건수와 무관하게 읽을 수 있는 행만 반환한다. 거부된 레코드의 원본은 BADFILE에 기록되므로 나중에 원인을 분석할 수 있다. 선택은 파이프라인 성격에 따른다. 데이터 품질을 엄격히 통제해야 하면 기본값 0으로 즉시 실패시키고, 로그 분석처럼 손상 레코드를 감수하고 최대한 확보하는 것이 목적이면 UNLIMITED가 적합하다.</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PROJECT COLUMN은 외부 테이블 조회 시 액세스 드라이버가 몇 개의 컬럼을 실제로 파싱·검증할지 결정하는 옵션으로 ALTER TABLE로 설정한다. REFERENCED는 기본값으로 SELECT에서 실제 참조된 컬럼만 파싱해 빠르지만, 참조되지 않은 컬럼에 오류가 있어도 그 레코드를 거부하지 않는다. 그래서 같은 파일이라도 참조하는 컬럼 집합에 따라 반환 행 수가 달라질 수 있다. 예를 들어 sal 컬럼에만 잘못된 값이 있으면, sal을 참조하지 않는 질의는 그 행을 반환하지만 sal을 참조하는 질의는 거부한다. ALL은 참조 여부와 무관하게 모든 컬럼을 파싱·검증하므로 어떤 질의든 같은 행 집합을 반환하는 일관성을 보장하지만 파싱 비용이 더 든다. 성능이 중요하면 REFERENCED, 검증·감사가 중요하면 ALL을 택한다.</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외부 테이블도 스키마 객체이므로 딕셔너리에 메타데이터가 저장되고 전용 뷰로 조회할 수 있다. DBA/ALL/USER_EXTERNAL_TABLES는 액세스 드라이버 종류(TYPE_NAME), 기본 디렉터리, REJECT LIMIT, PROJECT COLUMN 설정, ACCESS_PARAMETERS 같은 정의 정보를 담는다. EXTERNAL_LOCATIONS는 각 외부 테이블이 읽는 파일 목록을, DIRECTORIES는 디렉터리 객체의 이름과 실제 OS 경로를 담는다. 접두어 규칙은 다른 뷰와 같아서 USER는 소유 객체만, ALL은 접근 가능한 객체를, DBA는 전체를 보여 주며, 멀티테넌트에서는 CDB_EXTERNAL_TABLES로 여러 PDB의 외부 테이블을 CON_ID와 함께 볼 수 있다. 이 세 뷰를 조합하면 외부 테이블이 어디의 어떤 파일을 어떻게 읽는지 전체 그림을 빠르게 파악할 수 있다.</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이 세 개의 질의는 외부 테이블을 진단할 때 표준적으로 쓰는 조합이다. 첫 번째는 USER_EXTERNAL_TABLES로 외부 테이블의 정의를 확인한다. TYPE_NAME으로 어떤 드라이버(LOADER/DATAPUMP)를 쓰는지, DEFAULT_DIRECTORY_NAME으로 기본 디렉터리를, REJECT_LIMIT과 ACCESS_PARAMETERS로 거부 정책과 파싱 규칙을 파악한다. 두 번째는 USER_EXTERNAL_LOCATIONS로 그 외부 테이블이 실제로 어떤 파일을 읽도록 정의됐는지 확인한다. 세 번째는 DBA_DIRECTORIES로 디렉터리 객체가 가리키는 실제 서버 경로를 확인한다. 이렇게 정의, 파일, 경로를 차례로 조회하면 인계받은 외부 테이블이 어디의 어떤 파일을 어떻게 읽는지 전체 그림을 그릴 수 있어 문제 원인을 빠르게 좁힐 수 있다.</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Q1의 정답은 OS 파일이다. 외부 테이블의 실제 데이터는 데이터베이스 내부 세그먼트가 아니라 서버의 운영체제 파일에 저장되며, 데이터베이스에는 메타데이터만 저장된다. 이것이 외부 테이블의 가장 근본적인 개념이다. Q2의 정답은 ORACLE_LOADER다. SQL*Loader와 같은 파싱 엔진으로 텍스트·CSV·고정 길이 파일을 읽는 읽기 전용 드라이버로, 외부 데이터 적재에 널리 쓰인다. Q3의 정답은 ORACLE_DATAPUMP다. 오라클 이진 덤프 형식으로 데이터를 읽고 쓸 수 있는 드라이버로, CREATE TABLE AS SELECT로 데이터를 언로드하고 다른 데이터베이스에서 외부 테이블로 재적재하는 플랫폼 독립적 전송을 제공한다.</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Q4의 정답은 ORA-30657이다. 외부 테이블은 데이터가 세그먼트에 없어 DML을 지원하지 않으므로 INSERT·UPDATE·DELETE를 시도하면 operation not supported on external organized table 오류가 발생한다. Q5의 정답은 REJECT LIMIT UNLIMITED다. 이 절을 쓰면 거부되는 레코드 건수와 무관하게 읽을 수 있는 행만 반환하며, 거부 레코드는 BADFILE에 기록된다. 기본값은 0으로 한 건만 거부돼도 질의가 실패한다. Q6의 정답은 REFERENCED다. PROJECT COLUMN REFERENCED는 SELECT에서 실제 참조된 컬럼만 파싱해 성능이 좋지만, 참조하는 컬럼 집합에 따라 반환 행 수가 달라질 수 있다. 일관성이 필요하면 ALL을 사용한다.</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88952" cy="219456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5394960"/>
            <a:ext cx="12188952" cy="1463040"/>
          </a:xfrm>
          <a:prstGeom prst="rect">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31520" y="457200"/>
            <a:ext cx="10698480" cy="548640"/>
          </a:xfrm>
          <a:prstGeom prst="rect">
            <a:avLst/>
          </a:prstGeom>
          <a:noFill/>
        </p:spPr>
        <p:txBody>
          <a:bodyPr wrap="square" anchor="t">
            <a:spAutoFit/>
          </a:bodyPr>
          <a:lstStyle/>
          <a:p>
            <a:pPr/>
            <a:r>
              <a:rPr sz="1600" b="0">
                <a:solidFill>
                  <a:srgbClr val="FFFFFF"/>
                </a:solidFill>
                <a:latin typeface="맑은 고딕"/>
              </a:rPr>
              <a:t>Oracle Database 19c Administration Workshop</a:t>
            </a:r>
          </a:p>
        </p:txBody>
      </p:sp>
      <p:sp>
        <p:nvSpPr>
          <p:cNvPr id="6" name="TextBox 5"/>
          <p:cNvSpPr txBox="1"/>
          <p:nvPr/>
        </p:nvSpPr>
        <p:spPr>
          <a:xfrm>
            <a:off x="731520" y="2377440"/>
            <a:ext cx="10698480" cy="1554480"/>
          </a:xfrm>
          <a:prstGeom prst="rect">
            <a:avLst/>
          </a:prstGeom>
          <a:noFill/>
        </p:spPr>
        <p:txBody>
          <a:bodyPr wrap="square" anchor="t">
            <a:spAutoFit/>
          </a:bodyPr>
          <a:lstStyle/>
          <a:p>
            <a:pPr/>
            <a:r>
              <a:rPr sz="3600" b="1">
                <a:solidFill>
                  <a:srgbClr val="C0392B"/>
                </a:solidFill>
                <a:latin typeface="맑은 고딕"/>
              </a:rPr>
              <a:t>외부 테이블을 이용한 데이터 적재 및 전송</a:t>
            </a:r>
          </a:p>
          <a:p>
            <a:pPr/>
            <a:r>
              <a:rPr sz="2200" b="1">
                <a:solidFill>
                  <a:srgbClr val="C0392B"/>
                </a:solidFill>
                <a:latin typeface="맑은 고딕"/>
              </a:rPr>
              <a:t>Using External Tables to Load and Transport Data</a:t>
            </a:r>
          </a:p>
        </p:txBody>
      </p:sp>
      <p:sp>
        <p:nvSpPr>
          <p:cNvPr id="7" name="TextBox 6"/>
          <p:cNvSpPr txBox="1"/>
          <p:nvPr/>
        </p:nvSpPr>
        <p:spPr>
          <a:xfrm>
            <a:off x="731520" y="4114800"/>
            <a:ext cx="10698480" cy="1097280"/>
          </a:xfrm>
          <a:prstGeom prst="rect">
            <a:avLst/>
          </a:prstGeom>
          <a:noFill/>
        </p:spPr>
        <p:txBody>
          <a:bodyPr wrap="square" anchor="t">
            <a:spAutoFit/>
          </a:bodyPr>
          <a:lstStyle/>
          <a:p>
            <a:pPr/>
            <a:r>
              <a:rPr sz="1500" b="0">
                <a:solidFill>
                  <a:srgbClr val="5A6672"/>
                </a:solidFill>
                <a:latin typeface="맑은 고딕"/>
              </a:rPr>
              <a:t>External Table · ORACLE_LOADER · ORACLE_DATAPUMP · 딕셔너리 뷰</a:t>
            </a:r>
          </a:p>
        </p:txBody>
      </p:sp>
      <p:sp>
        <p:nvSpPr>
          <p:cNvPr id="8" name="TextBox 7"/>
          <p:cNvSpPr txBox="1"/>
          <p:nvPr/>
        </p:nvSpPr>
        <p:spPr>
          <a:xfrm>
            <a:off x="731520" y="5577840"/>
            <a:ext cx="10698480" cy="914400"/>
          </a:xfrm>
          <a:prstGeom prst="rect">
            <a:avLst/>
          </a:prstGeom>
          <a:noFill/>
        </p:spPr>
        <p:txBody>
          <a:bodyPr wrap="square" anchor="t">
            <a:spAutoFit/>
          </a:bodyPr>
          <a:lstStyle/>
          <a:p>
            <a:pPr/>
            <a:r>
              <a:rPr sz="2000" b="1">
                <a:solidFill>
                  <a:srgbClr val="C0392B"/>
                </a:solidFill>
                <a:latin typeface="맑은 고딕"/>
              </a:rPr>
              <a:t>제28장</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31520"/>
          </a:xfrm>
          <a:prstGeom prst="rect">
            <a:avLst/>
          </a:prstGeom>
          <a:noFill/>
        </p:spPr>
        <p:txBody>
          <a:bodyPr wrap="square" anchor="ctr">
            <a:spAutoFit/>
          </a:bodyPr>
          <a:lstStyle/>
          <a:p>
            <a:pPr/>
            <a:r>
              <a:rPr sz="2600" b="1">
                <a:solidFill>
                  <a:srgbClr val="FFFFFF"/>
                </a:solidFill>
                <a:latin typeface="맑은 고딕"/>
              </a:rPr>
              <a:t>학습 목표 (Objectives)</a:t>
            </a:r>
          </a:p>
        </p:txBody>
      </p:sp>
      <p:sp>
        <p:nvSpPr>
          <p:cNvPr id="4" name="TextBox 3"/>
          <p:cNvSpPr txBox="1"/>
          <p:nvPr/>
        </p:nvSpPr>
        <p:spPr>
          <a:xfrm>
            <a:off x="640080" y="1463040"/>
            <a:ext cx="10881360" cy="4937760"/>
          </a:xfrm>
          <a:prstGeom prst="rect">
            <a:avLst/>
          </a:prstGeom>
          <a:noFill/>
        </p:spPr>
        <p:txBody>
          <a:bodyPr wrap="square" anchor="t">
            <a:spAutoFit/>
          </a:bodyPr>
          <a:lstStyle/>
          <a:p>
            <a:pPr/>
            <a:r>
              <a:rPr sz="1600" b="0">
                <a:solidFill>
                  <a:srgbClr val="C0392B"/>
                </a:solidFill>
                <a:latin typeface="맑은 고딕"/>
              </a:rPr>
              <a:t>•  외부 테이블(External Table)의 개념과 일반 테이블과의 차이 이해</a:t>
            </a:r>
          </a:p>
          <a:p>
            <a:pPr/>
            <a:r>
              <a:rPr sz="1600" b="0">
                <a:solidFill>
                  <a:srgbClr val="C0392B"/>
                </a:solidFill>
                <a:latin typeface="맑은 고딕"/>
              </a:rPr>
              <a:t>•  CREATE TABLE ... ORGANIZATION EXTERNAL 구문의 구성 요소 작성</a:t>
            </a:r>
          </a:p>
          <a:p>
            <a:pPr/>
            <a:r>
              <a:rPr sz="1600" b="0">
                <a:solidFill>
                  <a:srgbClr val="C0392B"/>
                </a:solidFill>
                <a:latin typeface="맑은 고딕"/>
              </a:rPr>
              <a:t>•  액세스 드라이버 개념과 ORACLE_LOADER · ORACLE_DATAPUMP 구분</a:t>
            </a:r>
          </a:p>
          <a:p>
            <a:pPr/>
            <a:r>
              <a:rPr sz="1600" b="0">
                <a:solidFill>
                  <a:srgbClr val="C0392B"/>
                </a:solidFill>
                <a:latin typeface="맑은 고딕"/>
              </a:rPr>
              <a:t>•  ORACLE_LOADER로 텍스트/CSV 외부 테이블 생성</a:t>
            </a:r>
          </a:p>
          <a:p>
            <a:pPr/>
            <a:r>
              <a:rPr sz="1600" b="0">
                <a:solidFill>
                  <a:srgbClr val="C0392B"/>
                </a:solidFill>
                <a:latin typeface="맑은 고딕"/>
              </a:rPr>
              <a:t>•  ORACLE_DATAPUMP로 이진 덤프 언로드 및 플랫폼 독립 전송</a:t>
            </a:r>
          </a:p>
          <a:p>
            <a:pPr/>
            <a:r>
              <a:rPr sz="1600" b="0">
                <a:solidFill>
                  <a:srgbClr val="C0392B"/>
                </a:solidFill>
                <a:latin typeface="맑은 고딕"/>
              </a:rPr>
              <a:t>•  외부 테이블의 SQL*Loader 대비 이점(병렬·SQL 기능·변환) 설명</a:t>
            </a:r>
          </a:p>
          <a:p>
            <a:pPr/>
            <a:r>
              <a:rPr sz="1600" b="0">
                <a:solidFill>
                  <a:srgbClr val="C0392B"/>
                </a:solidFill>
                <a:latin typeface="맑은 고딕"/>
              </a:rPr>
              <a:t>•  외부 테이블 제약사항(DML 불가·인덱스 불가·읽기 전용) 이해</a:t>
            </a:r>
          </a:p>
          <a:p>
            <a:pPr/>
            <a:r>
              <a:rPr sz="1600" b="0">
                <a:solidFill>
                  <a:srgbClr val="C0392B"/>
                </a:solidFill>
                <a:latin typeface="맑은 고딕"/>
              </a:rPr>
              <a:t>•  REJECT LIMIT · PROJECT COLUMN 옵션의 의미와 효과</a:t>
            </a:r>
          </a:p>
          <a:p>
            <a:pPr/>
            <a:r>
              <a:rPr sz="1600" b="0">
                <a:solidFill>
                  <a:srgbClr val="C0392B"/>
                </a:solidFill>
                <a:latin typeface="맑은 고딕"/>
              </a:rPr>
              <a:t>•  외부 테이블 관련 딕셔너리 뷰로 정보 조회</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31520"/>
          </a:xfrm>
          <a:prstGeom prst="rect">
            <a:avLst/>
          </a:prstGeom>
          <a:noFill/>
        </p:spPr>
        <p:txBody>
          <a:bodyPr wrap="square" anchor="ctr">
            <a:spAutoFit/>
          </a:bodyPr>
          <a:lstStyle/>
          <a:p>
            <a:pPr/>
            <a:r>
              <a:rPr sz="2600" b="1">
                <a:solidFill>
                  <a:srgbClr val="FFFFFF"/>
                </a:solidFill>
                <a:latin typeface="맑은 고딕"/>
              </a:rPr>
              <a:t>이 장의 구성 (Agenda)</a:t>
            </a:r>
          </a:p>
        </p:txBody>
      </p:sp>
      <p:sp>
        <p:nvSpPr>
          <p:cNvPr id="4" name="TextBox 3"/>
          <p:cNvSpPr txBox="1"/>
          <p:nvPr/>
        </p:nvSpPr>
        <p:spPr>
          <a:xfrm>
            <a:off x="640080" y="1463040"/>
            <a:ext cx="10881360" cy="4937760"/>
          </a:xfrm>
          <a:prstGeom prst="rect">
            <a:avLst/>
          </a:prstGeom>
          <a:noFill/>
        </p:spPr>
        <p:txBody>
          <a:bodyPr wrap="square" anchor="t">
            <a:spAutoFit/>
          </a:bodyPr>
          <a:lstStyle/>
          <a:p>
            <a:pPr/>
            <a:r>
              <a:rPr sz="1600" b="0">
                <a:solidFill>
                  <a:srgbClr val="C0392B"/>
                </a:solidFill>
                <a:latin typeface="맑은 고딕"/>
              </a:rPr>
              <a:t>•  28.1  외부 테이블(External Table) 개념</a:t>
            </a:r>
          </a:p>
          <a:p>
            <a:pPr/>
            <a:r>
              <a:rPr sz="1600" b="0">
                <a:solidFill>
                  <a:srgbClr val="C0392B"/>
                </a:solidFill>
                <a:latin typeface="맑은 고딕"/>
              </a:rPr>
              <a:t>•  28.2  CREATE TABLE ... ORGANIZATION EXTERNAL 구문</a:t>
            </a:r>
          </a:p>
          <a:p>
            <a:pPr/>
            <a:r>
              <a:rPr sz="1600" b="0">
                <a:solidFill>
                  <a:srgbClr val="C0392B"/>
                </a:solidFill>
                <a:latin typeface="맑은 고딕"/>
              </a:rPr>
              <a:t>•  28.3  액세스 드라이버(Access Driver) 개념과 종류</a:t>
            </a:r>
          </a:p>
          <a:p>
            <a:pPr/>
            <a:r>
              <a:rPr sz="1600" b="0">
                <a:solidFill>
                  <a:srgbClr val="C0392B"/>
                </a:solidFill>
                <a:latin typeface="맑은 고딕"/>
              </a:rPr>
              <a:t>•  28.4  ORACLE_LOADER 액세스 드라이버로 외부 테이블 생성</a:t>
            </a:r>
          </a:p>
          <a:p>
            <a:pPr/>
            <a:r>
              <a:rPr sz="1600" b="0">
                <a:solidFill>
                  <a:srgbClr val="C0392B"/>
                </a:solidFill>
                <a:latin typeface="맑은 고딕"/>
              </a:rPr>
              <a:t>•  28.5  ORACLE_DATAPUMP 액세스 드라이버로 생성 및 전송</a:t>
            </a:r>
          </a:p>
          <a:p>
            <a:pPr/>
            <a:r>
              <a:rPr sz="1600" b="0">
                <a:solidFill>
                  <a:srgbClr val="C0392B"/>
                </a:solidFill>
                <a:latin typeface="맑은 고딕"/>
              </a:rPr>
              <a:t>•  28.6  외부 테이블의 이점 — SQL*Loader 대비</a:t>
            </a:r>
          </a:p>
          <a:p>
            <a:pPr/>
            <a:r>
              <a:rPr sz="1600" b="0">
                <a:solidFill>
                  <a:srgbClr val="C0392B"/>
                </a:solidFill>
                <a:latin typeface="맑은 고딕"/>
              </a:rPr>
              <a:t>•  28.7  외부 테이블의 제약사항</a:t>
            </a:r>
          </a:p>
          <a:p>
            <a:pPr/>
            <a:r>
              <a:rPr sz="1600" b="0">
                <a:solidFill>
                  <a:srgbClr val="C0392B"/>
                </a:solidFill>
                <a:latin typeface="맑은 고딕"/>
              </a:rPr>
              <a:t>•  28.8  REJECT LIMIT과 PROJECT COLUMN 옵션</a:t>
            </a:r>
          </a:p>
          <a:p>
            <a:pPr/>
            <a:r>
              <a:rPr sz="1600" b="0">
                <a:solidFill>
                  <a:srgbClr val="C0392B"/>
                </a:solidFill>
                <a:latin typeface="맑은 고딕"/>
              </a:rPr>
              <a:t>•  28.9  외부 테이블 정보 조회(딕셔너리 뷰)</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2011680"/>
            <a:ext cx="10515600" cy="1097280"/>
          </a:xfrm>
          <a:prstGeom prst="rect">
            <a:avLst/>
          </a:prstGeom>
          <a:noFill/>
        </p:spPr>
        <p:txBody>
          <a:bodyPr wrap="square" anchor="t">
            <a:spAutoFit/>
          </a:bodyPr>
          <a:lstStyle/>
          <a:p>
            <a:pPr/>
            <a:r>
              <a:rPr sz="4000" b="1">
                <a:solidFill>
                  <a:srgbClr val="FFFFFF"/>
                </a:solidFill>
                <a:latin typeface="맑은 고딕"/>
              </a:rPr>
              <a:t>28.1</a:t>
            </a:r>
          </a:p>
        </p:txBody>
      </p:sp>
      <p:sp>
        <p:nvSpPr>
          <p:cNvPr id="4" name="TextBox 3"/>
          <p:cNvSpPr txBox="1"/>
          <p:nvPr/>
        </p:nvSpPr>
        <p:spPr>
          <a:xfrm>
            <a:off x="822960" y="3017520"/>
            <a:ext cx="10515600" cy="914400"/>
          </a:xfrm>
          <a:prstGeom prst="rect">
            <a:avLst/>
          </a:prstGeom>
          <a:noFill/>
        </p:spPr>
        <p:txBody>
          <a:bodyPr wrap="square" anchor="t">
            <a:spAutoFit/>
          </a:bodyPr>
          <a:lstStyle/>
          <a:p>
            <a:pPr/>
            <a:r>
              <a:rPr sz="2800" b="0">
                <a:solidFill>
                  <a:srgbClr val="FFFFFF"/>
                </a:solidFill>
                <a:latin typeface="맑은 고딕"/>
              </a:rPr>
              <a:t>외부 테이블(External Table) 개념</a:t>
            </a:r>
          </a:p>
        </p:txBody>
      </p:sp>
      <p:sp>
        <p:nvSpPr>
          <p:cNvPr id="5" name="Rectangle 4"/>
          <p:cNvSpPr/>
          <p:nvPr/>
        </p:nvSpPr>
        <p:spPr>
          <a:xfrm>
            <a:off x="822960" y="4114800"/>
            <a:ext cx="5486400" cy="5486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22960" y="4297680"/>
            <a:ext cx="10058400" cy="1828800"/>
          </a:xfrm>
          <a:prstGeom prst="rect">
            <a:avLst/>
          </a:prstGeom>
          <a:noFill/>
        </p:spPr>
        <p:txBody>
          <a:bodyPr wrap="square" anchor="t">
            <a:spAutoFit/>
          </a:bodyPr>
          <a:lstStyle/>
          <a:p>
            <a:pPr/>
            <a:r>
              <a:rPr sz="1600" b="0">
                <a:solidFill>
                  <a:srgbClr val="FFFFFF"/>
                </a:solidFill>
                <a:latin typeface="맑은 고딕"/>
              </a:rPr>
              <a:t>•  OS 파일을 테이블처럼 SELECT</a:t>
            </a:r>
          </a:p>
          <a:p>
            <a:pPr/>
            <a:r>
              <a:rPr sz="1600" b="0">
                <a:solidFill>
                  <a:srgbClr val="FFFFFF"/>
                </a:solidFill>
                <a:latin typeface="맑은 고딕"/>
              </a:rPr>
              <a:t>•  데이터는 DB 내부에 저장되지 않음</a:t>
            </a:r>
          </a:p>
          <a:p>
            <a:pPr/>
            <a:r>
              <a:rPr sz="1600" b="0">
                <a:solidFill>
                  <a:srgbClr val="FFFFFF"/>
                </a:solidFill>
                <a:latin typeface="맑은 고딕"/>
              </a:rPr>
              <a:t>•  적재와 전송의 두 축</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31520"/>
          </a:xfrm>
          <a:prstGeom prst="rect">
            <a:avLst/>
          </a:prstGeom>
          <a:noFill/>
        </p:spPr>
        <p:txBody>
          <a:bodyPr wrap="square" anchor="ctr">
            <a:spAutoFit/>
          </a:bodyPr>
          <a:lstStyle/>
          <a:p>
            <a:pPr/>
            <a:r>
              <a:rPr sz="2600" b="1">
                <a:solidFill>
                  <a:srgbClr val="FFFFFF"/>
                </a:solidFill>
                <a:latin typeface="맑은 고딕"/>
              </a:rPr>
              <a:t>외부 테이블이란 무엇인가</a:t>
            </a:r>
          </a:p>
        </p:txBody>
      </p:sp>
      <p:sp>
        <p:nvSpPr>
          <p:cNvPr id="4" name="TextBox 3"/>
          <p:cNvSpPr txBox="1"/>
          <p:nvPr/>
        </p:nvSpPr>
        <p:spPr>
          <a:xfrm>
            <a:off x="640080" y="1097280"/>
            <a:ext cx="10881360" cy="457200"/>
          </a:xfrm>
          <a:prstGeom prst="rect">
            <a:avLst/>
          </a:prstGeom>
          <a:noFill/>
        </p:spPr>
        <p:txBody>
          <a:bodyPr wrap="square" anchor="t">
            <a:spAutoFit/>
          </a:bodyPr>
          <a:lstStyle/>
          <a:p>
            <a:pPr/>
            <a:r>
              <a:rPr sz="1500" b="0">
                <a:solidFill>
                  <a:srgbClr val="5A6672"/>
                </a:solidFill>
                <a:latin typeface="맑은 고딕"/>
              </a:rPr>
              <a:t>OS 파일을 SQL로 조회하는 창(窓)</a:t>
            </a:r>
          </a:p>
        </p:txBody>
      </p:sp>
      <p:sp>
        <p:nvSpPr>
          <p:cNvPr id="5" name="TextBox 4"/>
          <p:cNvSpPr txBox="1"/>
          <p:nvPr/>
        </p:nvSpPr>
        <p:spPr>
          <a:xfrm>
            <a:off x="640080" y="1737360"/>
            <a:ext cx="10881360" cy="4572000"/>
          </a:xfrm>
          <a:prstGeom prst="rect">
            <a:avLst/>
          </a:prstGeom>
          <a:noFill/>
        </p:spPr>
        <p:txBody>
          <a:bodyPr wrap="square" anchor="t">
            <a:spAutoFit/>
          </a:bodyPr>
          <a:lstStyle/>
          <a:p>
            <a:pPr/>
            <a:r>
              <a:rPr sz="1800" b="0">
                <a:solidFill>
                  <a:srgbClr val="C0392B"/>
                </a:solidFill>
                <a:latin typeface="맑은 고딕"/>
              </a:rPr>
              <a:t>•  서버 OS 파일을 마치 데이터베이스 테이블처럼 SELECT 할 수 있게 해 주는 객체</a:t>
            </a:r>
          </a:p>
          <a:p>
            <a:pPr/>
            <a:r>
              <a:rPr sz="1800" b="0">
                <a:solidFill>
                  <a:srgbClr val="C0392B"/>
                </a:solidFill>
                <a:latin typeface="맑은 고딕"/>
              </a:rPr>
              <a:t>•  실제 데이터 행은 DB 세그먼트가 아니라 원본 OS 파일에 그대로 남는다</a:t>
            </a:r>
          </a:p>
          <a:p>
            <a:pPr/>
            <a:r>
              <a:rPr sz="1800" b="0">
                <a:solidFill>
                  <a:srgbClr val="C0392B"/>
                </a:solidFill>
                <a:latin typeface="맑은 고딕"/>
              </a:rPr>
              <a:t>•  데이터 딕셔너리에는 컬럼 정의·드라이버·파일 위치·파싱 규칙 등 메타데이터만 저장</a:t>
            </a:r>
          </a:p>
          <a:p>
            <a:pPr/>
            <a:r>
              <a:rPr sz="1800" b="0">
                <a:solidFill>
                  <a:srgbClr val="C0392B"/>
                </a:solidFill>
                <a:latin typeface="맑은 고딕"/>
              </a:rPr>
              <a:t>•  SELECT 하는 순간 액세스 드라이버가 파일을 읽어 행·컬럼으로 변환</a:t>
            </a:r>
          </a:p>
          <a:p>
            <a:pPr/>
            <a:r>
              <a:rPr sz="1800" b="0">
                <a:solidFill>
                  <a:srgbClr val="C0392B"/>
                </a:solidFill>
                <a:latin typeface="맑은 고딕"/>
              </a:rPr>
              <a:t>•  세그먼트가 없으므로 기본적으로 읽기 전용</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31520"/>
          </a:xfrm>
          <a:prstGeom prst="rect">
            <a:avLst/>
          </a:prstGeom>
          <a:noFill/>
        </p:spPr>
        <p:txBody>
          <a:bodyPr wrap="square" anchor="ctr">
            <a:spAutoFit/>
          </a:bodyPr>
          <a:lstStyle/>
          <a:p>
            <a:pPr/>
            <a:r>
              <a:rPr sz="2600" b="1">
                <a:solidFill>
                  <a:srgbClr val="FFFFFF"/>
                </a:solidFill>
                <a:latin typeface="맑은 고딕"/>
              </a:rPr>
              <a:t>일반 테이블 vs 외부 테이블</a:t>
            </a:r>
          </a:p>
        </p:txBody>
      </p:sp>
      <p:sp>
        <p:nvSpPr>
          <p:cNvPr id="4" name="TextBox 3"/>
          <p:cNvSpPr txBox="1"/>
          <p:nvPr/>
        </p:nvSpPr>
        <p:spPr>
          <a:xfrm>
            <a:off x="640080" y="1097280"/>
            <a:ext cx="10881360" cy="457200"/>
          </a:xfrm>
          <a:prstGeom prst="rect">
            <a:avLst/>
          </a:prstGeom>
          <a:noFill/>
        </p:spPr>
        <p:txBody>
          <a:bodyPr wrap="square" anchor="t">
            <a:spAutoFit/>
          </a:bodyPr>
          <a:lstStyle/>
          <a:p>
            <a:pPr/>
            <a:r>
              <a:rPr sz="1500" b="0">
                <a:solidFill>
                  <a:srgbClr val="5A6672"/>
                </a:solidFill>
                <a:latin typeface="맑은 고딕"/>
              </a:rPr>
              <a:t>저장 위치가 모든 차이를 만든다</a:t>
            </a:r>
          </a:p>
        </p:txBody>
      </p:sp>
      <p:sp>
        <p:nvSpPr>
          <p:cNvPr id="5" name="TextBox 4"/>
          <p:cNvSpPr txBox="1"/>
          <p:nvPr/>
        </p:nvSpPr>
        <p:spPr>
          <a:xfrm>
            <a:off x="640080" y="1737360"/>
            <a:ext cx="10881360" cy="4572000"/>
          </a:xfrm>
          <a:prstGeom prst="rect">
            <a:avLst/>
          </a:prstGeom>
          <a:noFill/>
        </p:spPr>
        <p:txBody>
          <a:bodyPr wrap="square" anchor="t">
            <a:spAutoFit/>
          </a:bodyPr>
          <a:lstStyle/>
          <a:p>
            <a:pPr/>
            <a:r>
              <a:rPr sz="1800" b="0">
                <a:solidFill>
                  <a:srgbClr val="C0392B"/>
                </a:solidFill>
                <a:latin typeface="맑은 고딕"/>
              </a:rPr>
              <a:t>•  데이터 저장: 일반=DB 세그먼트 / 외부=서버 OS 파일</a:t>
            </a:r>
          </a:p>
          <a:p>
            <a:pPr/>
            <a:r>
              <a:rPr sz="1800" b="0">
                <a:solidFill>
                  <a:srgbClr val="C0392B"/>
                </a:solidFill>
                <a:latin typeface="맑은 고딕"/>
              </a:rPr>
              <a:t>•  DML: 일반=가능 / 외부=불가(ORA-30657)</a:t>
            </a:r>
          </a:p>
          <a:p>
            <a:pPr/>
            <a:r>
              <a:rPr sz="1800" b="0">
                <a:solidFill>
                  <a:srgbClr val="C0392B"/>
                </a:solidFill>
                <a:latin typeface="맑은 고딕"/>
              </a:rPr>
              <a:t>•  인덱스: 일반=가능 / 외부=불가</a:t>
            </a:r>
          </a:p>
          <a:p>
            <a:pPr/>
            <a:r>
              <a:rPr sz="1800" b="0">
                <a:solidFill>
                  <a:srgbClr val="C0392B"/>
                </a:solidFill>
                <a:latin typeface="맑은 고딕"/>
              </a:rPr>
              <a:t>•  리두·언두: 일반=발생 / 외부=발생하지 않음</a:t>
            </a:r>
          </a:p>
          <a:p>
            <a:pPr/>
            <a:r>
              <a:rPr sz="1800" b="0">
                <a:solidFill>
                  <a:srgbClr val="C0392B"/>
                </a:solidFill>
                <a:latin typeface="맑은 고딕"/>
              </a:rPr>
              <a:t>•  용도: 일반=영구 저장 / 외부=파일 적재·언로드·전송</a:t>
            </a:r>
          </a:p>
          <a:p>
            <a:pPr lvl="1"/>
            <a:r>
              <a:rPr sz="1500" b="0">
                <a:solidFill>
                  <a:srgbClr val="5A6672"/>
                </a:solidFill>
                <a:latin typeface="맑은 고딕"/>
              </a:rPr>
              <a:t>     –  외부 테이블은 '저장소'가 아니라 '파일을 보는 창문'</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2011680"/>
            <a:ext cx="10515600" cy="1097280"/>
          </a:xfrm>
          <a:prstGeom prst="rect">
            <a:avLst/>
          </a:prstGeom>
          <a:noFill/>
        </p:spPr>
        <p:txBody>
          <a:bodyPr wrap="square" anchor="t">
            <a:spAutoFit/>
          </a:bodyPr>
          <a:lstStyle/>
          <a:p>
            <a:pPr/>
            <a:r>
              <a:rPr sz="4000" b="1">
                <a:solidFill>
                  <a:srgbClr val="FFFFFF"/>
                </a:solidFill>
                <a:latin typeface="맑은 고딕"/>
              </a:rPr>
              <a:t>28.2</a:t>
            </a:r>
          </a:p>
        </p:txBody>
      </p:sp>
      <p:sp>
        <p:nvSpPr>
          <p:cNvPr id="4" name="TextBox 3"/>
          <p:cNvSpPr txBox="1"/>
          <p:nvPr/>
        </p:nvSpPr>
        <p:spPr>
          <a:xfrm>
            <a:off x="822960" y="3017520"/>
            <a:ext cx="10515600" cy="914400"/>
          </a:xfrm>
          <a:prstGeom prst="rect">
            <a:avLst/>
          </a:prstGeom>
          <a:noFill/>
        </p:spPr>
        <p:txBody>
          <a:bodyPr wrap="square" anchor="t">
            <a:spAutoFit/>
          </a:bodyPr>
          <a:lstStyle/>
          <a:p>
            <a:pPr/>
            <a:r>
              <a:rPr sz="2800" b="0">
                <a:solidFill>
                  <a:srgbClr val="FFFFFF"/>
                </a:solidFill>
                <a:latin typeface="맑은 고딕"/>
              </a:rPr>
              <a:t>ORGANIZATION EXTERNAL 구문</a:t>
            </a:r>
          </a:p>
        </p:txBody>
      </p:sp>
      <p:sp>
        <p:nvSpPr>
          <p:cNvPr id="5" name="Rectangle 4"/>
          <p:cNvSpPr/>
          <p:nvPr/>
        </p:nvSpPr>
        <p:spPr>
          <a:xfrm>
            <a:off x="822960" y="4114800"/>
            <a:ext cx="5486400" cy="5486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22960" y="4297680"/>
            <a:ext cx="10058400" cy="1828800"/>
          </a:xfrm>
          <a:prstGeom prst="rect">
            <a:avLst/>
          </a:prstGeom>
          <a:noFill/>
        </p:spPr>
        <p:txBody>
          <a:bodyPr wrap="square" anchor="t">
            <a:spAutoFit/>
          </a:bodyPr>
          <a:lstStyle/>
          <a:p>
            <a:pPr/>
            <a:r>
              <a:rPr sz="1600" b="0">
                <a:solidFill>
                  <a:srgbClr val="FFFFFF"/>
                </a:solidFill>
                <a:latin typeface="맑은 고딕"/>
              </a:rPr>
              <a:t>•  TYPE · DEFAULT DIRECTORY</a:t>
            </a:r>
          </a:p>
          <a:p>
            <a:pPr/>
            <a:r>
              <a:rPr sz="1600" b="0">
                <a:solidFill>
                  <a:srgbClr val="FFFFFF"/>
                </a:solidFill>
                <a:latin typeface="맑은 고딕"/>
              </a:rPr>
              <a:t>•  ACCESS PARAMETERS · LOCATION</a:t>
            </a:r>
          </a:p>
          <a:p>
            <a:pPr/>
            <a:r>
              <a:rPr sz="1600" b="0">
                <a:solidFill>
                  <a:srgbClr val="FFFFFF"/>
                </a:solidFill>
                <a:latin typeface="맑은 고딕"/>
              </a:rPr>
              <a:t>•  REJECT LIMIT</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31520"/>
          </a:xfrm>
          <a:prstGeom prst="rect">
            <a:avLst/>
          </a:prstGeom>
          <a:noFill/>
        </p:spPr>
        <p:txBody>
          <a:bodyPr wrap="square" anchor="ctr">
            <a:spAutoFit/>
          </a:bodyPr>
          <a:lstStyle/>
          <a:p>
            <a:pPr/>
            <a:r>
              <a:rPr sz="2600" b="1">
                <a:solidFill>
                  <a:srgbClr val="FFFFFF"/>
                </a:solidFill>
                <a:latin typeface="맑은 고딕"/>
              </a:rPr>
              <a:t>ORGANIZATION EXTERNAL 절의 구성</a:t>
            </a:r>
          </a:p>
        </p:txBody>
      </p:sp>
      <p:sp>
        <p:nvSpPr>
          <p:cNvPr id="4" name="TextBox 3"/>
          <p:cNvSpPr txBox="1"/>
          <p:nvPr/>
        </p:nvSpPr>
        <p:spPr>
          <a:xfrm>
            <a:off x="640080" y="1097280"/>
            <a:ext cx="10881360" cy="457200"/>
          </a:xfrm>
          <a:prstGeom prst="rect">
            <a:avLst/>
          </a:prstGeom>
          <a:noFill/>
        </p:spPr>
        <p:txBody>
          <a:bodyPr wrap="square" anchor="t">
            <a:spAutoFit/>
          </a:bodyPr>
          <a:lstStyle/>
          <a:p>
            <a:pPr/>
            <a:r>
              <a:rPr sz="1500" b="0">
                <a:solidFill>
                  <a:srgbClr val="5A6672"/>
                </a:solidFill>
                <a:latin typeface="맑은 고딕"/>
              </a:rPr>
              <a:t>외부에 데이터가 있음을 선언한다</a:t>
            </a:r>
          </a:p>
        </p:txBody>
      </p:sp>
      <p:sp>
        <p:nvSpPr>
          <p:cNvPr id="5" name="TextBox 4"/>
          <p:cNvSpPr txBox="1"/>
          <p:nvPr/>
        </p:nvSpPr>
        <p:spPr>
          <a:xfrm>
            <a:off x="640080" y="1737360"/>
            <a:ext cx="10881360" cy="4572000"/>
          </a:xfrm>
          <a:prstGeom prst="rect">
            <a:avLst/>
          </a:prstGeom>
          <a:noFill/>
        </p:spPr>
        <p:txBody>
          <a:bodyPr wrap="square" anchor="t">
            <a:spAutoFit/>
          </a:bodyPr>
          <a:lstStyle/>
          <a:p>
            <a:pPr/>
            <a:r>
              <a:rPr sz="1800" b="0">
                <a:solidFill>
                  <a:srgbClr val="C0392B"/>
                </a:solidFill>
                <a:latin typeface="맑은 고딕"/>
              </a:rPr>
              <a:t>•  TYPE: 사용할 액세스 드라이버(ORACLE_LOADER / ORACLE_DATAPUMP), 생략 시 LOADER</a:t>
            </a:r>
          </a:p>
          <a:p>
            <a:pPr/>
            <a:r>
              <a:rPr sz="1800" b="0">
                <a:solidFill>
                  <a:srgbClr val="C0392B"/>
                </a:solidFill>
                <a:latin typeface="맑은 고딕"/>
              </a:rPr>
              <a:t>•  DEFAULT DIRECTORY: 파일·로그·불량 파일이 놓일 디렉터리 객체</a:t>
            </a:r>
          </a:p>
          <a:p>
            <a:pPr/>
            <a:r>
              <a:rPr sz="1800" b="0">
                <a:solidFill>
                  <a:srgbClr val="C0392B"/>
                </a:solidFill>
                <a:latin typeface="맑은 고딕"/>
              </a:rPr>
              <a:t>•  ACCESS PARAMETERS: 드라이버별 파싱 규칙(문법은 드라이버마다 다름)</a:t>
            </a:r>
          </a:p>
          <a:p>
            <a:pPr/>
            <a:r>
              <a:rPr sz="1800" b="0">
                <a:solidFill>
                  <a:srgbClr val="C0392B"/>
                </a:solidFill>
                <a:latin typeface="맑은 고딕"/>
              </a:rPr>
              <a:t>•  LOCATION: 실제로 읽을 파일 목록(여러 파일 → 병렬 단위)</a:t>
            </a:r>
          </a:p>
          <a:p>
            <a:pPr/>
            <a:r>
              <a:rPr sz="1800" b="0">
                <a:solidFill>
                  <a:srgbClr val="C0392B"/>
                </a:solidFill>
                <a:latin typeface="맑은 고딕"/>
              </a:rPr>
              <a:t>•  REJECT LIMIT: 거부 레코드 허용 한도</a:t>
            </a:r>
          </a:p>
          <a:p>
            <a:pPr lvl="1"/>
            <a:r>
              <a:rPr sz="1500" b="0">
                <a:solidFill>
                  <a:srgbClr val="5A6672"/>
                </a:solidFill>
                <a:latin typeface="맑은 고딕"/>
              </a:rPr>
              <a:t>     –  디렉터리 객체와 READ/WRITE 권한이 선행되어야 함</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31520"/>
          </a:xfrm>
          <a:prstGeom prst="rect">
            <a:avLst/>
          </a:prstGeom>
          <a:noFill/>
        </p:spPr>
        <p:txBody>
          <a:bodyPr wrap="square" anchor="ctr">
            <a:spAutoFit/>
          </a:bodyPr>
          <a:lstStyle/>
          <a:p>
            <a:pPr/>
            <a:r>
              <a:rPr sz="2600" b="1">
                <a:solidFill>
                  <a:srgbClr val="FFFFFF"/>
                </a:solidFill>
                <a:latin typeface="맑은 고딕"/>
              </a:rPr>
              <a:t>CREATE TABLE ... ORGANIZATION EXTERNAL</a:t>
            </a:r>
          </a:p>
        </p:txBody>
      </p:sp>
      <p:sp>
        <p:nvSpPr>
          <p:cNvPr id="4" name="TextBox 3"/>
          <p:cNvSpPr txBox="1"/>
          <p:nvPr/>
        </p:nvSpPr>
        <p:spPr>
          <a:xfrm>
            <a:off x="640080" y="1097280"/>
            <a:ext cx="10881360" cy="457200"/>
          </a:xfrm>
          <a:prstGeom prst="rect">
            <a:avLst/>
          </a:prstGeom>
          <a:noFill/>
        </p:spPr>
        <p:txBody>
          <a:bodyPr wrap="square" anchor="t">
            <a:spAutoFit/>
          </a:bodyPr>
          <a:lstStyle/>
          <a:p>
            <a:pPr/>
            <a:r>
              <a:rPr sz="1500" b="0">
                <a:solidFill>
                  <a:srgbClr val="5A6672"/>
                </a:solidFill>
                <a:latin typeface="맑은 고딕"/>
              </a:rPr>
              <a:t>구문의 기본 골격</a:t>
            </a:r>
          </a:p>
        </p:txBody>
      </p:sp>
      <p:sp>
        <p:nvSpPr>
          <p:cNvPr id="5" name="Rectangle 4"/>
          <p:cNvSpPr/>
          <p:nvPr/>
        </p:nvSpPr>
        <p:spPr>
          <a:xfrm>
            <a:off x="640080" y="1645920"/>
            <a:ext cx="10881360" cy="4754880"/>
          </a:xfrm>
          <a:prstGeom prst="rect">
            <a:avLst/>
          </a:prstGeom>
          <a:solidFill>
            <a:srgbClr val="1E1E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68680" y="1828800"/>
            <a:ext cx="10424160" cy="4389120"/>
          </a:xfrm>
          <a:prstGeom prst="rect">
            <a:avLst/>
          </a:prstGeom>
          <a:noFill/>
        </p:spPr>
        <p:txBody>
          <a:bodyPr wrap="square" anchor="t">
            <a:spAutoFit/>
          </a:bodyPr>
          <a:lstStyle/>
          <a:p>
            <a:pPr/>
            <a:r>
              <a:rPr sz="1250" b="0">
                <a:solidFill>
                  <a:srgbClr val="7EC699"/>
                </a:solidFill>
                <a:latin typeface="Consolas"/>
              </a:rPr>
              <a:t>-- 디렉터리 객체와 권한을 먼저 준비</a:t>
            </a:r>
          </a:p>
          <a:p>
            <a:pPr/>
            <a:r>
              <a:rPr sz="1250" b="0">
                <a:solidFill>
                  <a:srgbClr val="E6E6E6"/>
                </a:solidFill>
                <a:latin typeface="Consolas"/>
              </a:rPr>
              <a:t>CREATE OR REPLACE DIRECTORY data_dir AS '/u01/app/oracle/extdata';</a:t>
            </a:r>
          </a:p>
          <a:p>
            <a:pPr/>
            <a:r>
              <a:rPr sz="1250" b="0">
                <a:solidFill>
                  <a:srgbClr val="E6E6E6"/>
                </a:solidFill>
                <a:latin typeface="Consolas"/>
              </a:rPr>
              <a:t>GRANT READ, WRITE ON DIRECTORY data_dir TO hr;</a:t>
            </a:r>
          </a:p>
          <a:p>
            <a:pPr/>
            <a:r>
              <a:rPr sz="1250" b="0">
                <a:solidFill>
                  <a:srgbClr val="E6E6E6"/>
                </a:solidFill>
                <a:latin typeface="Consolas"/>
              </a:rPr>
              <a:t> </a:t>
            </a:r>
          </a:p>
          <a:p>
            <a:pPr/>
            <a:r>
              <a:rPr sz="1250" b="0">
                <a:solidFill>
                  <a:srgbClr val="E6E6E6"/>
                </a:solidFill>
                <a:latin typeface="Consolas"/>
              </a:rPr>
              <a:t>CREATE TABLE emp_ext ( empno NUMBER(4), ename VARCHAR2(20),</a:t>
            </a:r>
          </a:p>
          <a:p>
            <a:pPr/>
            <a:r>
              <a:rPr sz="1250" b="0">
                <a:solidFill>
                  <a:srgbClr val="E6E6E6"/>
                </a:solidFill>
                <a:latin typeface="Consolas"/>
              </a:rPr>
              <a:t>                       sal NUMBER(7,2), deptno NUMBER(2) )</a:t>
            </a:r>
          </a:p>
          <a:p>
            <a:pPr/>
            <a:r>
              <a:rPr sz="1250" b="0">
                <a:solidFill>
                  <a:srgbClr val="E6E6E6"/>
                </a:solidFill>
                <a:latin typeface="Consolas"/>
              </a:rPr>
              <a:t>ORGANIZATION EXTERNAL</a:t>
            </a:r>
          </a:p>
          <a:p>
            <a:pPr/>
            <a:r>
              <a:rPr sz="1250" b="0">
                <a:solidFill>
                  <a:srgbClr val="7EC699"/>
                </a:solidFill>
                <a:latin typeface="Consolas"/>
              </a:rPr>
              <a:t>( TYPE ORACLE_LOADER            -- 액세스 드라이버</a:t>
            </a:r>
          </a:p>
          <a:p>
            <a:pPr/>
            <a:r>
              <a:rPr sz="1250" b="0">
                <a:solidFill>
                  <a:srgbClr val="7EC699"/>
                </a:solidFill>
                <a:latin typeface="Consolas"/>
              </a:rPr>
              <a:t>  DEFAULT DIRECTORY data_dir    -- 디렉터리 객체</a:t>
            </a:r>
          </a:p>
          <a:p>
            <a:pPr/>
            <a:r>
              <a:rPr sz="1250" b="0">
                <a:solidFill>
                  <a:srgbClr val="E6E6E6"/>
                </a:solidFill>
                <a:latin typeface="Consolas"/>
              </a:rPr>
              <a:t>  ACCESS PARAMETERS</a:t>
            </a:r>
          </a:p>
          <a:p>
            <a:pPr/>
            <a:r>
              <a:rPr sz="1250" b="0">
                <a:solidFill>
                  <a:srgbClr val="E6E6E6"/>
                </a:solidFill>
                <a:latin typeface="Consolas"/>
              </a:rPr>
              <a:t>  ( RECORDS DELIMITED BY NEWLINE</a:t>
            </a:r>
          </a:p>
          <a:p>
            <a:pPr/>
            <a:r>
              <a:rPr sz="1250" b="0">
                <a:solidFill>
                  <a:srgbClr val="E6E6E6"/>
                </a:solidFill>
                <a:latin typeface="Consolas"/>
              </a:rPr>
              <a:t>    FIELDS TERMINATED BY ','</a:t>
            </a:r>
          </a:p>
          <a:p>
            <a:pPr/>
            <a:r>
              <a:rPr sz="1250" b="0">
                <a:solidFill>
                  <a:srgbClr val="E6E6E6"/>
                </a:solidFill>
                <a:latin typeface="Consolas"/>
              </a:rPr>
              <a:t>    MISSING FIELD VALUES ARE NULL</a:t>
            </a:r>
          </a:p>
          <a:p>
            <a:pPr/>
            <a:r>
              <a:rPr sz="1250" b="0">
                <a:solidFill>
                  <a:srgbClr val="E6E6E6"/>
                </a:solidFill>
                <a:latin typeface="Consolas"/>
              </a:rPr>
              <a:t>    ( empno, ename, sal, deptno ) )</a:t>
            </a:r>
          </a:p>
          <a:p>
            <a:pPr/>
            <a:r>
              <a:rPr sz="1250" b="0">
                <a:solidFill>
                  <a:srgbClr val="7EC699"/>
                </a:solidFill>
                <a:latin typeface="Consolas"/>
              </a:rPr>
              <a:t>  LOCATION ('emp.csv') )        -- 읽을 파일</a:t>
            </a:r>
          </a:p>
          <a:p>
            <a:pPr/>
            <a:r>
              <a:rPr sz="1250" b="0">
                <a:solidFill>
                  <a:srgbClr val="E6E6E6"/>
                </a:solidFill>
                <a:latin typeface="Consolas"/>
              </a:rPr>
              <a:t>REJECT LIMIT UNLIMITED;</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2011680"/>
            <a:ext cx="10515600" cy="1097280"/>
          </a:xfrm>
          <a:prstGeom prst="rect">
            <a:avLst/>
          </a:prstGeom>
          <a:noFill/>
        </p:spPr>
        <p:txBody>
          <a:bodyPr wrap="square" anchor="t">
            <a:spAutoFit/>
          </a:bodyPr>
          <a:lstStyle/>
          <a:p>
            <a:pPr/>
            <a:r>
              <a:rPr sz="4000" b="1">
                <a:solidFill>
                  <a:srgbClr val="FFFFFF"/>
                </a:solidFill>
                <a:latin typeface="맑은 고딕"/>
              </a:rPr>
              <a:t>28.3</a:t>
            </a:r>
          </a:p>
        </p:txBody>
      </p:sp>
      <p:sp>
        <p:nvSpPr>
          <p:cNvPr id="4" name="TextBox 3"/>
          <p:cNvSpPr txBox="1"/>
          <p:nvPr/>
        </p:nvSpPr>
        <p:spPr>
          <a:xfrm>
            <a:off x="822960" y="3017520"/>
            <a:ext cx="10515600" cy="914400"/>
          </a:xfrm>
          <a:prstGeom prst="rect">
            <a:avLst/>
          </a:prstGeom>
          <a:noFill/>
        </p:spPr>
        <p:txBody>
          <a:bodyPr wrap="square" anchor="t">
            <a:spAutoFit/>
          </a:bodyPr>
          <a:lstStyle/>
          <a:p>
            <a:pPr/>
            <a:r>
              <a:rPr sz="2800" b="0">
                <a:solidFill>
                  <a:srgbClr val="FFFFFF"/>
                </a:solidFill>
                <a:latin typeface="맑은 고딕"/>
              </a:rPr>
              <a:t>액세스 드라이버 개념과 종류</a:t>
            </a:r>
          </a:p>
        </p:txBody>
      </p:sp>
      <p:sp>
        <p:nvSpPr>
          <p:cNvPr id="5" name="Rectangle 4"/>
          <p:cNvSpPr/>
          <p:nvPr/>
        </p:nvSpPr>
        <p:spPr>
          <a:xfrm>
            <a:off x="822960" y="4114800"/>
            <a:ext cx="5486400" cy="5486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22960" y="4297680"/>
            <a:ext cx="10058400" cy="1828800"/>
          </a:xfrm>
          <a:prstGeom prst="rect">
            <a:avLst/>
          </a:prstGeom>
          <a:noFill/>
        </p:spPr>
        <p:txBody>
          <a:bodyPr wrap="square" anchor="t">
            <a:spAutoFit/>
          </a:bodyPr>
          <a:lstStyle/>
          <a:p>
            <a:pPr/>
            <a:r>
              <a:rPr sz="1600" b="0">
                <a:solidFill>
                  <a:srgbClr val="FFFFFF"/>
                </a:solidFill>
                <a:latin typeface="맑은 고딕"/>
              </a:rPr>
              <a:t>•  파일 ↔ 행·컬럼을 중개하는 계층</a:t>
            </a:r>
          </a:p>
          <a:p>
            <a:pPr/>
            <a:r>
              <a:rPr sz="1600" b="0">
                <a:solidFill>
                  <a:srgbClr val="FFFFFF"/>
                </a:solidFill>
                <a:latin typeface="맑은 고딕"/>
              </a:rPr>
              <a:t>•  ORACLE_LOADER(읽기 전용)</a:t>
            </a:r>
          </a:p>
          <a:p>
            <a:pPr/>
            <a:r>
              <a:rPr sz="1600" b="0">
                <a:solidFill>
                  <a:srgbClr val="FFFFFF"/>
                </a:solidFill>
                <a:latin typeface="맑은 고딕"/>
              </a:rPr>
              <a:t>•  ORACLE_DATAPUMP(읽기+쓰기)</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31520"/>
          </a:xfrm>
          <a:prstGeom prst="rect">
            <a:avLst/>
          </a:prstGeom>
          <a:noFill/>
        </p:spPr>
        <p:txBody>
          <a:bodyPr wrap="square" anchor="ctr">
            <a:spAutoFit/>
          </a:bodyPr>
          <a:lstStyle/>
          <a:p>
            <a:pPr/>
            <a:r>
              <a:rPr sz="2600" b="1">
                <a:solidFill>
                  <a:srgbClr val="FFFFFF"/>
                </a:solidFill>
                <a:latin typeface="맑은 고딕"/>
              </a:rPr>
              <a:t>액세스 드라이버란</a:t>
            </a:r>
          </a:p>
        </p:txBody>
      </p:sp>
      <p:sp>
        <p:nvSpPr>
          <p:cNvPr id="4" name="TextBox 3"/>
          <p:cNvSpPr txBox="1"/>
          <p:nvPr/>
        </p:nvSpPr>
        <p:spPr>
          <a:xfrm>
            <a:off x="640080" y="1097280"/>
            <a:ext cx="10881360" cy="457200"/>
          </a:xfrm>
          <a:prstGeom prst="rect">
            <a:avLst/>
          </a:prstGeom>
          <a:noFill/>
        </p:spPr>
        <p:txBody>
          <a:bodyPr wrap="square" anchor="t">
            <a:spAutoFit/>
          </a:bodyPr>
          <a:lstStyle/>
          <a:p>
            <a:pPr/>
            <a:r>
              <a:rPr sz="1500" b="0">
                <a:solidFill>
                  <a:srgbClr val="5A6672"/>
                </a:solidFill>
                <a:latin typeface="맑은 고딕"/>
              </a:rPr>
              <a:t>외부 테이블의 두뇌</a:t>
            </a:r>
          </a:p>
        </p:txBody>
      </p:sp>
      <p:sp>
        <p:nvSpPr>
          <p:cNvPr id="5" name="TextBox 4"/>
          <p:cNvSpPr txBox="1"/>
          <p:nvPr/>
        </p:nvSpPr>
        <p:spPr>
          <a:xfrm>
            <a:off x="640080" y="1737360"/>
            <a:ext cx="10881360" cy="4572000"/>
          </a:xfrm>
          <a:prstGeom prst="rect">
            <a:avLst/>
          </a:prstGeom>
          <a:noFill/>
        </p:spPr>
        <p:txBody>
          <a:bodyPr wrap="square" anchor="t">
            <a:spAutoFit/>
          </a:bodyPr>
          <a:lstStyle/>
          <a:p>
            <a:pPr/>
            <a:r>
              <a:rPr sz="1800" b="0">
                <a:solidFill>
                  <a:srgbClr val="C0392B"/>
                </a:solidFill>
                <a:latin typeface="맑은 고딕"/>
              </a:rPr>
              <a:t>•  파일의 바이트 스트림과 DB의 행·컬럼 구조 사이를 중개하는 API 계층</a:t>
            </a:r>
          </a:p>
          <a:p>
            <a:pPr/>
            <a:r>
              <a:rPr sz="1800" b="0">
                <a:solidFill>
                  <a:srgbClr val="C0392B"/>
                </a:solidFill>
                <a:latin typeface="맑은 고딕"/>
              </a:rPr>
              <a:t>•  SELECT 시 파일을 열고, 레코드 분리·필드 추출·타입 변환·거부 처리 수행</a:t>
            </a:r>
          </a:p>
          <a:p>
            <a:pPr/>
            <a:r>
              <a:rPr sz="1800" b="0">
                <a:solidFill>
                  <a:srgbClr val="C0392B"/>
                </a:solidFill>
                <a:latin typeface="맑은 고딕"/>
              </a:rPr>
              <a:t>•  로그·불량·버림 파일도 액세스 드라이버가 기록</a:t>
            </a:r>
          </a:p>
          <a:p>
            <a:pPr/>
            <a:r>
              <a:rPr sz="1800" b="0">
                <a:solidFill>
                  <a:srgbClr val="C0392B"/>
                </a:solidFill>
                <a:latin typeface="맑은 고딕"/>
              </a:rPr>
              <a:t>•  ACCESS PARAMETERS 문법은 SQL 표준이 아니라 드라이버 고유 문법</a:t>
            </a:r>
          </a:p>
          <a:p>
            <a:pPr/>
            <a:r>
              <a:rPr sz="1800" b="0">
                <a:solidFill>
                  <a:srgbClr val="C0392B"/>
                </a:solidFill>
                <a:latin typeface="맑은 고딕"/>
              </a:rPr>
              <a:t>•  별도 설치 불필요 — DB에 내장</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31520"/>
          </a:xfrm>
          <a:prstGeom prst="rect">
            <a:avLst/>
          </a:prstGeom>
          <a:noFill/>
        </p:spPr>
        <p:txBody>
          <a:bodyPr wrap="square" anchor="ctr">
            <a:spAutoFit/>
          </a:bodyPr>
          <a:lstStyle/>
          <a:p>
            <a:pPr/>
            <a:r>
              <a:rPr sz="2600" b="1">
                <a:solidFill>
                  <a:srgbClr val="FFFFFF"/>
                </a:solidFill>
                <a:latin typeface="맑은 고딕"/>
              </a:rPr>
              <a:t>ORACLE_LOADER vs ORACLE_DATAPUMP</a:t>
            </a:r>
          </a:p>
        </p:txBody>
      </p:sp>
      <p:sp>
        <p:nvSpPr>
          <p:cNvPr id="4" name="TextBox 3"/>
          <p:cNvSpPr txBox="1"/>
          <p:nvPr/>
        </p:nvSpPr>
        <p:spPr>
          <a:xfrm>
            <a:off x="640080" y="1097280"/>
            <a:ext cx="10881360" cy="457200"/>
          </a:xfrm>
          <a:prstGeom prst="rect">
            <a:avLst/>
          </a:prstGeom>
          <a:noFill/>
        </p:spPr>
        <p:txBody>
          <a:bodyPr wrap="square" anchor="t">
            <a:spAutoFit/>
          </a:bodyPr>
          <a:lstStyle/>
          <a:p>
            <a:pPr/>
            <a:r>
              <a:rPr sz="1500" b="0">
                <a:solidFill>
                  <a:srgbClr val="5A6672"/>
                </a:solidFill>
                <a:latin typeface="맑은 고딕"/>
              </a:rPr>
              <a:t>무엇을, 어느 방향으로 읽고 쓰는가</a:t>
            </a:r>
          </a:p>
        </p:txBody>
      </p:sp>
      <p:sp>
        <p:nvSpPr>
          <p:cNvPr id="5" name="TextBox 4"/>
          <p:cNvSpPr txBox="1"/>
          <p:nvPr/>
        </p:nvSpPr>
        <p:spPr>
          <a:xfrm>
            <a:off x="640080" y="1737360"/>
            <a:ext cx="10881360" cy="4572000"/>
          </a:xfrm>
          <a:prstGeom prst="rect">
            <a:avLst/>
          </a:prstGeom>
          <a:noFill/>
        </p:spPr>
        <p:txBody>
          <a:bodyPr wrap="square" anchor="t">
            <a:spAutoFit/>
          </a:bodyPr>
          <a:lstStyle/>
          <a:p>
            <a:pPr/>
            <a:r>
              <a:rPr sz="1800" b="0">
                <a:solidFill>
                  <a:srgbClr val="C0392B"/>
                </a:solidFill>
                <a:latin typeface="맑은 고딕"/>
              </a:rPr>
              <a:t>•  ORACLE_LOADER: 입력=텍스트/CSV, 방향=읽기 전용, 용도=외부 데이터 적재</a:t>
            </a:r>
          </a:p>
          <a:p>
            <a:pPr lvl="1"/>
            <a:r>
              <a:rPr sz="1500" b="0">
                <a:solidFill>
                  <a:srgbClr val="5A6672"/>
                </a:solidFill>
                <a:latin typeface="맑은 고딕"/>
              </a:rPr>
              <a:t>     –  SQL*Loader와 같은 파싱 엔진·유사 문법을 사용</a:t>
            </a:r>
          </a:p>
          <a:p>
            <a:pPr/>
            <a:r>
              <a:rPr sz="1800" b="0">
                <a:solidFill>
                  <a:srgbClr val="C0392B"/>
                </a:solidFill>
                <a:latin typeface="맑은 고딕"/>
              </a:rPr>
              <a:t>•  ORACLE_DATAPUMP: 입력=오라클 이진 덤프, 방향=읽기+쓰기, 용도=언로드·전송</a:t>
            </a:r>
          </a:p>
          <a:p>
            <a:pPr lvl="1"/>
            <a:r>
              <a:rPr sz="1500" b="0">
                <a:solidFill>
                  <a:srgbClr val="5A6672"/>
                </a:solidFill>
                <a:latin typeface="맑은 고딕"/>
              </a:rPr>
              <a:t>     –  CTAS로 이진 덤프 생성 → 다른 DB에서 외부 테이블로 재적재</a:t>
            </a:r>
          </a:p>
          <a:p>
            <a:pPr/>
            <a:r>
              <a:rPr sz="1800" b="0">
                <a:solidFill>
                  <a:srgbClr val="C0392B"/>
                </a:solidFill>
                <a:latin typeface="맑은 고딕"/>
              </a:rPr>
              <a:t>•  빅데이터용 ORACLE_HDFS · ORACLE_HIVE 드라이버도 존재</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2011680"/>
            <a:ext cx="10515600" cy="1097280"/>
          </a:xfrm>
          <a:prstGeom prst="rect">
            <a:avLst/>
          </a:prstGeom>
          <a:noFill/>
        </p:spPr>
        <p:txBody>
          <a:bodyPr wrap="square" anchor="t">
            <a:spAutoFit/>
          </a:bodyPr>
          <a:lstStyle/>
          <a:p>
            <a:pPr/>
            <a:r>
              <a:rPr sz="4000" b="1">
                <a:solidFill>
                  <a:srgbClr val="FFFFFF"/>
                </a:solidFill>
                <a:latin typeface="맑은 고딕"/>
              </a:rPr>
              <a:t>28.4</a:t>
            </a:r>
          </a:p>
        </p:txBody>
      </p:sp>
      <p:sp>
        <p:nvSpPr>
          <p:cNvPr id="4" name="TextBox 3"/>
          <p:cNvSpPr txBox="1"/>
          <p:nvPr/>
        </p:nvSpPr>
        <p:spPr>
          <a:xfrm>
            <a:off x="822960" y="3017520"/>
            <a:ext cx="10515600" cy="914400"/>
          </a:xfrm>
          <a:prstGeom prst="rect">
            <a:avLst/>
          </a:prstGeom>
          <a:noFill/>
        </p:spPr>
        <p:txBody>
          <a:bodyPr wrap="square" anchor="t">
            <a:spAutoFit/>
          </a:bodyPr>
          <a:lstStyle/>
          <a:p>
            <a:pPr/>
            <a:r>
              <a:rPr sz="2800" b="0">
                <a:solidFill>
                  <a:srgbClr val="FFFFFF"/>
                </a:solidFill>
                <a:latin typeface="맑은 고딕"/>
              </a:rPr>
              <a:t>ORACLE_LOADER로 외부 테이블 생성</a:t>
            </a:r>
          </a:p>
        </p:txBody>
      </p:sp>
      <p:sp>
        <p:nvSpPr>
          <p:cNvPr id="5" name="Rectangle 4"/>
          <p:cNvSpPr/>
          <p:nvPr/>
        </p:nvSpPr>
        <p:spPr>
          <a:xfrm>
            <a:off x="822960" y="4114800"/>
            <a:ext cx="5486400" cy="5486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22960" y="4297680"/>
            <a:ext cx="10058400" cy="1828800"/>
          </a:xfrm>
          <a:prstGeom prst="rect">
            <a:avLst/>
          </a:prstGeom>
          <a:noFill/>
        </p:spPr>
        <p:txBody>
          <a:bodyPr wrap="square" anchor="t">
            <a:spAutoFit/>
          </a:bodyPr>
          <a:lstStyle/>
          <a:p>
            <a:pPr/>
            <a:r>
              <a:rPr sz="1600" b="0">
                <a:solidFill>
                  <a:srgbClr val="FFFFFF"/>
                </a:solidFill>
                <a:latin typeface="맑은 고딕"/>
              </a:rPr>
              <a:t>•  RECORDS / FIELDS 규칙</a:t>
            </a:r>
          </a:p>
          <a:p>
            <a:pPr/>
            <a:r>
              <a:rPr sz="1600" b="0">
                <a:solidFill>
                  <a:srgbClr val="FFFFFF"/>
                </a:solidFill>
                <a:latin typeface="맑은 고딕"/>
              </a:rPr>
              <a:t>•  BADFILE · LOGFILE · DISCARDFILE</a:t>
            </a:r>
          </a:p>
          <a:p>
            <a:pPr/>
            <a:r>
              <a:rPr sz="1600" b="0">
                <a:solidFill>
                  <a:srgbClr val="FFFFFF"/>
                </a:solidFill>
                <a:latin typeface="맑은 고딕"/>
              </a:rPr>
              <a:t>•  조회·적재·병렬</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31520"/>
          </a:xfrm>
          <a:prstGeom prst="rect">
            <a:avLst/>
          </a:prstGeom>
          <a:noFill/>
        </p:spPr>
        <p:txBody>
          <a:bodyPr wrap="square" anchor="ctr">
            <a:spAutoFit/>
          </a:bodyPr>
          <a:lstStyle/>
          <a:p>
            <a:pPr/>
            <a:r>
              <a:rPr sz="2600" b="1">
                <a:solidFill>
                  <a:srgbClr val="FFFFFF"/>
                </a:solidFill>
                <a:latin typeface="맑은 고딕"/>
              </a:rPr>
              <a:t>ACCESS PARAMETERS 구성 요소</a:t>
            </a:r>
          </a:p>
        </p:txBody>
      </p:sp>
      <p:sp>
        <p:nvSpPr>
          <p:cNvPr id="4" name="TextBox 3"/>
          <p:cNvSpPr txBox="1"/>
          <p:nvPr/>
        </p:nvSpPr>
        <p:spPr>
          <a:xfrm>
            <a:off x="640080" y="1097280"/>
            <a:ext cx="10881360" cy="457200"/>
          </a:xfrm>
          <a:prstGeom prst="rect">
            <a:avLst/>
          </a:prstGeom>
          <a:noFill/>
        </p:spPr>
        <p:txBody>
          <a:bodyPr wrap="square" anchor="t">
            <a:spAutoFit/>
          </a:bodyPr>
          <a:lstStyle/>
          <a:p>
            <a:pPr/>
            <a:r>
              <a:rPr sz="1500" b="0">
                <a:solidFill>
                  <a:srgbClr val="5A6672"/>
                </a:solidFill>
                <a:latin typeface="맑은 고딕"/>
              </a:rPr>
              <a:t>텍스트 파일 파싱 규칙</a:t>
            </a:r>
          </a:p>
        </p:txBody>
      </p:sp>
      <p:sp>
        <p:nvSpPr>
          <p:cNvPr id="5" name="TextBox 4"/>
          <p:cNvSpPr txBox="1"/>
          <p:nvPr/>
        </p:nvSpPr>
        <p:spPr>
          <a:xfrm>
            <a:off x="640080" y="1737360"/>
            <a:ext cx="10881360" cy="4572000"/>
          </a:xfrm>
          <a:prstGeom prst="rect">
            <a:avLst/>
          </a:prstGeom>
          <a:noFill/>
        </p:spPr>
        <p:txBody>
          <a:bodyPr wrap="square" anchor="t">
            <a:spAutoFit/>
          </a:bodyPr>
          <a:lstStyle/>
          <a:p>
            <a:pPr/>
            <a:r>
              <a:rPr sz="1800" b="0">
                <a:solidFill>
                  <a:srgbClr val="C0392B"/>
                </a:solidFill>
                <a:latin typeface="맑은 고딕"/>
              </a:rPr>
              <a:t>•  RECORDS DELIMITED BY NEWLINE — 각 줄을 한 레코드로 (또는 FIXED n)</a:t>
            </a:r>
          </a:p>
          <a:p>
            <a:pPr/>
            <a:r>
              <a:rPr sz="1800" b="0">
                <a:solidFill>
                  <a:srgbClr val="C0392B"/>
                </a:solidFill>
                <a:latin typeface="맑은 고딕"/>
              </a:rPr>
              <a:t>•  FIELDS TERMINATED BY ',' OPTIONALLY ENCLOSED BY '"' — 필드 구분·인용</a:t>
            </a:r>
          </a:p>
          <a:p>
            <a:pPr/>
            <a:r>
              <a:rPr sz="1800" b="0">
                <a:solidFill>
                  <a:srgbClr val="C0392B"/>
                </a:solidFill>
                <a:latin typeface="맑은 고딕"/>
              </a:rPr>
              <a:t>•  MISSING FIELD VALUES ARE NULL — 뒤쪽 필드 없으면 NULL</a:t>
            </a:r>
          </a:p>
          <a:p>
            <a:pPr/>
            <a:r>
              <a:rPr sz="1800" b="0">
                <a:solidFill>
                  <a:srgbClr val="C0392B"/>
                </a:solidFill>
                <a:latin typeface="맑은 고딕"/>
              </a:rPr>
              <a:t>•  CHARACTERSET — 파일 인코딩(AL32UTF8, KO16MSWIN949 등)</a:t>
            </a:r>
          </a:p>
          <a:p>
            <a:pPr/>
            <a:r>
              <a:rPr sz="1800" b="0">
                <a:solidFill>
                  <a:srgbClr val="C0392B"/>
                </a:solidFill>
                <a:latin typeface="맑은 고딕"/>
              </a:rPr>
              <a:t>•  LOAD WHEN — 조건에 맞는 레코드만 읽고 나머지는 버림 파일로</a:t>
            </a:r>
          </a:p>
          <a:p>
            <a:pPr lvl="1"/>
            <a:r>
              <a:rPr sz="1500" b="0">
                <a:solidFill>
                  <a:srgbClr val="5A6672"/>
                </a:solidFill>
                <a:latin typeface="맑은 고딕"/>
              </a:rPr>
              <a:t>     –  BADFILE(오류) · DISCARDFILE(조건 불일치) · LOGFILE(로그)</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31520"/>
          </a:xfrm>
          <a:prstGeom prst="rect">
            <a:avLst/>
          </a:prstGeom>
          <a:noFill/>
        </p:spPr>
        <p:txBody>
          <a:bodyPr wrap="square" anchor="ctr">
            <a:spAutoFit/>
          </a:bodyPr>
          <a:lstStyle/>
          <a:p>
            <a:pPr/>
            <a:r>
              <a:rPr sz="2600" b="1">
                <a:solidFill>
                  <a:srgbClr val="FFFFFF"/>
                </a:solidFill>
                <a:latin typeface="맑은 고딕"/>
              </a:rPr>
              <a:t>ORACLE_LOADER 외부 테이블 생성</a:t>
            </a:r>
          </a:p>
        </p:txBody>
      </p:sp>
      <p:sp>
        <p:nvSpPr>
          <p:cNvPr id="4" name="TextBox 3"/>
          <p:cNvSpPr txBox="1"/>
          <p:nvPr/>
        </p:nvSpPr>
        <p:spPr>
          <a:xfrm>
            <a:off x="640080" y="1097280"/>
            <a:ext cx="10881360" cy="457200"/>
          </a:xfrm>
          <a:prstGeom prst="rect">
            <a:avLst/>
          </a:prstGeom>
          <a:noFill/>
        </p:spPr>
        <p:txBody>
          <a:bodyPr wrap="square" anchor="t">
            <a:spAutoFit/>
          </a:bodyPr>
          <a:lstStyle/>
          <a:p>
            <a:pPr/>
            <a:r>
              <a:rPr sz="1500" b="0">
                <a:solidFill>
                  <a:srgbClr val="5A6672"/>
                </a:solidFill>
                <a:latin typeface="맑은 고딕"/>
              </a:rPr>
              <a:t>CSV를 읽는 전형적인 예</a:t>
            </a:r>
          </a:p>
        </p:txBody>
      </p:sp>
      <p:sp>
        <p:nvSpPr>
          <p:cNvPr id="5" name="Rectangle 4"/>
          <p:cNvSpPr/>
          <p:nvPr/>
        </p:nvSpPr>
        <p:spPr>
          <a:xfrm>
            <a:off x="640080" y="1645920"/>
            <a:ext cx="10881360" cy="4754880"/>
          </a:xfrm>
          <a:prstGeom prst="rect">
            <a:avLst/>
          </a:prstGeom>
          <a:solidFill>
            <a:srgbClr val="1E1E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68680" y="1828800"/>
            <a:ext cx="10424160" cy="4389120"/>
          </a:xfrm>
          <a:prstGeom prst="rect">
            <a:avLst/>
          </a:prstGeom>
          <a:noFill/>
        </p:spPr>
        <p:txBody>
          <a:bodyPr wrap="square" anchor="t">
            <a:spAutoFit/>
          </a:bodyPr>
          <a:lstStyle/>
          <a:p>
            <a:pPr/>
            <a:r>
              <a:rPr sz="1250" b="0">
                <a:solidFill>
                  <a:srgbClr val="E6E6E6"/>
                </a:solidFill>
                <a:latin typeface="Consolas"/>
              </a:rPr>
              <a:t>CREATE TABLE hr.emp_ext</a:t>
            </a:r>
          </a:p>
          <a:p>
            <a:pPr/>
            <a:r>
              <a:rPr sz="1250" b="0">
                <a:solidFill>
                  <a:srgbClr val="E6E6E6"/>
                </a:solidFill>
                <a:latin typeface="Consolas"/>
              </a:rPr>
              <a:t>( empno NUMBER(4), ename VARCHAR2(20), job VARCHAR2(15),</a:t>
            </a:r>
          </a:p>
          <a:p>
            <a:pPr/>
            <a:r>
              <a:rPr sz="1250" b="0">
                <a:solidFill>
                  <a:srgbClr val="E6E6E6"/>
                </a:solidFill>
                <a:latin typeface="Consolas"/>
              </a:rPr>
              <a:t>  sal NUMBER(7,2), deptno NUMBER(2) )</a:t>
            </a:r>
          </a:p>
          <a:p>
            <a:pPr/>
            <a:r>
              <a:rPr sz="1250" b="0">
                <a:solidFill>
                  <a:srgbClr val="E6E6E6"/>
                </a:solidFill>
                <a:latin typeface="Consolas"/>
              </a:rPr>
              <a:t>ORGANIZATION EXTERNAL</a:t>
            </a:r>
          </a:p>
          <a:p>
            <a:pPr/>
            <a:r>
              <a:rPr sz="1250" b="0">
                <a:solidFill>
                  <a:srgbClr val="E6E6E6"/>
                </a:solidFill>
                <a:latin typeface="Consolas"/>
              </a:rPr>
              <a:t>( TYPE ORACLE_LOADER</a:t>
            </a:r>
          </a:p>
          <a:p>
            <a:pPr/>
            <a:r>
              <a:rPr sz="1250" b="0">
                <a:solidFill>
                  <a:srgbClr val="E6E6E6"/>
                </a:solidFill>
                <a:latin typeface="Consolas"/>
              </a:rPr>
              <a:t>  DEFAULT DIRECTORY data_dir</a:t>
            </a:r>
          </a:p>
          <a:p>
            <a:pPr/>
            <a:r>
              <a:rPr sz="1250" b="0">
                <a:solidFill>
                  <a:srgbClr val="E6E6E6"/>
                </a:solidFill>
                <a:latin typeface="Consolas"/>
              </a:rPr>
              <a:t>  ACCESS PARAMETERS</a:t>
            </a:r>
          </a:p>
          <a:p>
            <a:pPr/>
            <a:r>
              <a:rPr sz="1250" b="0">
                <a:solidFill>
                  <a:srgbClr val="E6E6E6"/>
                </a:solidFill>
                <a:latin typeface="Consolas"/>
              </a:rPr>
              <a:t>  ( RECORDS DELIMITED BY NEWLINE</a:t>
            </a:r>
          </a:p>
          <a:p>
            <a:pPr/>
            <a:r>
              <a:rPr sz="1250" b="0">
                <a:solidFill>
                  <a:srgbClr val="E6E6E6"/>
                </a:solidFill>
                <a:latin typeface="Consolas"/>
              </a:rPr>
              <a:t>    BADFILE data_dir:'emp.bad'  LOGFILE data_dir:'emp.log'</a:t>
            </a:r>
          </a:p>
          <a:p>
            <a:pPr/>
            <a:r>
              <a:rPr sz="1250" b="0">
                <a:solidFill>
                  <a:srgbClr val="E6E6E6"/>
                </a:solidFill>
                <a:latin typeface="Consolas"/>
              </a:rPr>
              <a:t>    FIELDS TERMINATED BY ',' OPTIONALLY ENCLOSED BY '"'</a:t>
            </a:r>
          </a:p>
          <a:p>
            <a:pPr/>
            <a:r>
              <a:rPr sz="1250" b="0">
                <a:solidFill>
                  <a:srgbClr val="E6E6E6"/>
                </a:solidFill>
                <a:latin typeface="Consolas"/>
              </a:rPr>
              <a:t>    MISSING FIELD VALUES ARE NULL</a:t>
            </a:r>
          </a:p>
          <a:p>
            <a:pPr/>
            <a:r>
              <a:rPr sz="1250" b="0">
                <a:solidFill>
                  <a:srgbClr val="E6E6E6"/>
                </a:solidFill>
                <a:latin typeface="Consolas"/>
              </a:rPr>
              <a:t>    ( empno, ename, job, sal, deptno ) )</a:t>
            </a:r>
          </a:p>
          <a:p>
            <a:pPr/>
            <a:r>
              <a:rPr sz="1250" b="0">
                <a:solidFill>
                  <a:srgbClr val="7EC699"/>
                </a:solidFill>
                <a:latin typeface="Consolas"/>
              </a:rPr>
              <a:t>  LOCATION ('emp1.csv','emp2.csv') )   -- 두 파일 → 병렬</a:t>
            </a:r>
          </a:p>
          <a:p>
            <a:pPr/>
            <a:r>
              <a:rPr sz="1250" b="0">
                <a:solidFill>
                  <a:srgbClr val="E6E6E6"/>
                </a:solidFill>
                <a:latin typeface="Consolas"/>
              </a:rPr>
              <a:t>REJECT LIMIT 10;</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31520"/>
          </a:xfrm>
          <a:prstGeom prst="rect">
            <a:avLst/>
          </a:prstGeom>
          <a:noFill/>
        </p:spPr>
        <p:txBody>
          <a:bodyPr wrap="square" anchor="ctr">
            <a:spAutoFit/>
          </a:bodyPr>
          <a:lstStyle/>
          <a:p>
            <a:pPr/>
            <a:r>
              <a:rPr sz="2600" b="1">
                <a:solidFill>
                  <a:srgbClr val="FFFFFF"/>
                </a:solidFill>
                <a:latin typeface="맑은 고딕"/>
              </a:rPr>
              <a:t>조회·적재 패턴 (ETL)</a:t>
            </a:r>
          </a:p>
        </p:txBody>
      </p:sp>
      <p:sp>
        <p:nvSpPr>
          <p:cNvPr id="4" name="TextBox 3"/>
          <p:cNvSpPr txBox="1"/>
          <p:nvPr/>
        </p:nvSpPr>
        <p:spPr>
          <a:xfrm>
            <a:off x="640080" y="1097280"/>
            <a:ext cx="10881360" cy="457200"/>
          </a:xfrm>
          <a:prstGeom prst="rect">
            <a:avLst/>
          </a:prstGeom>
          <a:noFill/>
        </p:spPr>
        <p:txBody>
          <a:bodyPr wrap="square" anchor="t">
            <a:spAutoFit/>
          </a:bodyPr>
          <a:lstStyle/>
          <a:p>
            <a:pPr/>
            <a:r>
              <a:rPr sz="1500" b="0">
                <a:solidFill>
                  <a:srgbClr val="5A6672"/>
                </a:solidFill>
                <a:latin typeface="맑은 고딕"/>
              </a:rPr>
              <a:t>읽으면서 변환해서 적재</a:t>
            </a:r>
          </a:p>
        </p:txBody>
      </p:sp>
      <p:sp>
        <p:nvSpPr>
          <p:cNvPr id="5" name="Rectangle 4"/>
          <p:cNvSpPr/>
          <p:nvPr/>
        </p:nvSpPr>
        <p:spPr>
          <a:xfrm>
            <a:off x="640080" y="1645920"/>
            <a:ext cx="10881360" cy="4754880"/>
          </a:xfrm>
          <a:prstGeom prst="rect">
            <a:avLst/>
          </a:prstGeom>
          <a:solidFill>
            <a:srgbClr val="1E1E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68680" y="1828800"/>
            <a:ext cx="10424160" cy="4389120"/>
          </a:xfrm>
          <a:prstGeom prst="rect">
            <a:avLst/>
          </a:prstGeom>
          <a:noFill/>
        </p:spPr>
        <p:txBody>
          <a:bodyPr wrap="square" anchor="t">
            <a:spAutoFit/>
          </a:bodyPr>
          <a:lstStyle/>
          <a:p>
            <a:pPr/>
            <a:r>
              <a:rPr sz="1250" b="0">
                <a:solidFill>
                  <a:srgbClr val="7EC699"/>
                </a:solidFill>
                <a:latin typeface="Consolas"/>
              </a:rPr>
              <a:t>-- 파일을 직접 조회 (SELECT 시점에 파일을 읽는다)</a:t>
            </a:r>
          </a:p>
          <a:p>
            <a:pPr/>
            <a:r>
              <a:rPr sz="1250" b="0">
                <a:solidFill>
                  <a:srgbClr val="E6E6E6"/>
                </a:solidFill>
                <a:latin typeface="Consolas"/>
              </a:rPr>
              <a:t>SELECT * FROM hr.emp_ext WHERE deptno = 20;</a:t>
            </a:r>
          </a:p>
          <a:p>
            <a:pPr/>
            <a:r>
              <a:rPr sz="1250" b="0">
                <a:solidFill>
                  <a:srgbClr val="E6E6E6"/>
                </a:solidFill>
                <a:latin typeface="Consolas"/>
              </a:rPr>
              <a:t> </a:t>
            </a:r>
          </a:p>
          <a:p>
            <a:pPr/>
            <a:r>
              <a:rPr sz="1250" b="0">
                <a:solidFill>
                  <a:srgbClr val="7EC699"/>
                </a:solidFill>
                <a:latin typeface="Consolas"/>
              </a:rPr>
              <a:t>-- 조건·변환을 걸어 내부 테이블로 적재 (CTAS)</a:t>
            </a:r>
          </a:p>
          <a:p>
            <a:pPr/>
            <a:r>
              <a:rPr sz="1250" b="0">
                <a:solidFill>
                  <a:srgbClr val="E6E6E6"/>
                </a:solidFill>
                <a:latin typeface="Consolas"/>
              </a:rPr>
              <a:t>CREATE TABLE hr.emp_stage AS</a:t>
            </a:r>
          </a:p>
          <a:p>
            <a:pPr/>
            <a:r>
              <a:rPr sz="1250" b="0">
                <a:solidFill>
                  <a:srgbClr val="E6E6E6"/>
                </a:solidFill>
                <a:latin typeface="Consolas"/>
              </a:rPr>
              <a:t>SELECT empno, UPPER(ename) ename, job, sal*1.1 sal, deptno</a:t>
            </a:r>
          </a:p>
          <a:p>
            <a:pPr/>
            <a:r>
              <a:rPr sz="1250" b="0">
                <a:solidFill>
                  <a:srgbClr val="E6E6E6"/>
                </a:solidFill>
                <a:latin typeface="Consolas"/>
              </a:rPr>
              <a:t>FROM   hr.emp_ext</a:t>
            </a:r>
          </a:p>
          <a:p>
            <a:pPr/>
            <a:r>
              <a:rPr sz="1250" b="0">
                <a:solidFill>
                  <a:srgbClr val="E6E6E6"/>
                </a:solidFill>
                <a:latin typeface="Consolas"/>
              </a:rPr>
              <a:t>WHERE  sal IS NOT NULL;</a:t>
            </a:r>
          </a:p>
          <a:p>
            <a:pPr/>
            <a:r>
              <a:rPr sz="1250" b="0">
                <a:solidFill>
                  <a:srgbClr val="E6E6E6"/>
                </a:solidFill>
                <a:latin typeface="Consolas"/>
              </a:rPr>
              <a:t> </a:t>
            </a:r>
          </a:p>
          <a:p>
            <a:pPr/>
            <a:r>
              <a:rPr sz="1250" b="0">
                <a:solidFill>
                  <a:srgbClr val="7EC699"/>
                </a:solidFill>
                <a:latin typeface="Consolas"/>
              </a:rPr>
              <a:t>-- 기존 테이블에 다이렉트 패스로 적재</a:t>
            </a:r>
          </a:p>
          <a:p>
            <a:pPr/>
            <a:r>
              <a:rPr sz="1250" b="0">
                <a:solidFill>
                  <a:srgbClr val="E6E6E6"/>
                </a:solidFill>
                <a:latin typeface="Consolas"/>
              </a:rPr>
              <a:t>INSERT /*+ APPEND */ INTO hr.employees_target</a:t>
            </a:r>
          </a:p>
          <a:p>
            <a:pPr/>
            <a:r>
              <a:rPr sz="1250" b="0">
                <a:solidFill>
                  <a:srgbClr val="E6E6E6"/>
                </a:solidFill>
                <a:latin typeface="Consolas"/>
              </a:rPr>
              <a:t>SELECT * FROM hr.emp_ext WHERE deptno IN (10,20);</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2011680"/>
            <a:ext cx="10515600" cy="1097280"/>
          </a:xfrm>
          <a:prstGeom prst="rect">
            <a:avLst/>
          </a:prstGeom>
          <a:noFill/>
        </p:spPr>
        <p:txBody>
          <a:bodyPr wrap="square" anchor="t">
            <a:spAutoFit/>
          </a:bodyPr>
          <a:lstStyle/>
          <a:p>
            <a:pPr/>
            <a:r>
              <a:rPr sz="4000" b="1">
                <a:solidFill>
                  <a:srgbClr val="FFFFFF"/>
                </a:solidFill>
                <a:latin typeface="맑은 고딕"/>
              </a:rPr>
              <a:t>28.5</a:t>
            </a:r>
          </a:p>
        </p:txBody>
      </p:sp>
      <p:sp>
        <p:nvSpPr>
          <p:cNvPr id="4" name="TextBox 3"/>
          <p:cNvSpPr txBox="1"/>
          <p:nvPr/>
        </p:nvSpPr>
        <p:spPr>
          <a:xfrm>
            <a:off x="822960" y="3017520"/>
            <a:ext cx="10515600" cy="914400"/>
          </a:xfrm>
          <a:prstGeom prst="rect">
            <a:avLst/>
          </a:prstGeom>
          <a:noFill/>
        </p:spPr>
        <p:txBody>
          <a:bodyPr wrap="square" anchor="t">
            <a:spAutoFit/>
          </a:bodyPr>
          <a:lstStyle/>
          <a:p>
            <a:pPr/>
            <a:r>
              <a:rPr sz="2800" b="0">
                <a:solidFill>
                  <a:srgbClr val="FFFFFF"/>
                </a:solidFill>
                <a:latin typeface="맑은 고딕"/>
              </a:rPr>
              <a:t>ORACLE_DATAPUMP로 생성 및 전송</a:t>
            </a:r>
          </a:p>
        </p:txBody>
      </p:sp>
      <p:sp>
        <p:nvSpPr>
          <p:cNvPr id="5" name="Rectangle 4"/>
          <p:cNvSpPr/>
          <p:nvPr/>
        </p:nvSpPr>
        <p:spPr>
          <a:xfrm>
            <a:off x="822960" y="4114800"/>
            <a:ext cx="5486400" cy="5486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22960" y="4297680"/>
            <a:ext cx="10058400" cy="1828800"/>
          </a:xfrm>
          <a:prstGeom prst="rect">
            <a:avLst/>
          </a:prstGeom>
          <a:noFill/>
        </p:spPr>
        <p:txBody>
          <a:bodyPr wrap="square" anchor="t">
            <a:spAutoFit/>
          </a:bodyPr>
          <a:lstStyle/>
          <a:p>
            <a:pPr/>
            <a:r>
              <a:rPr sz="1600" b="0">
                <a:solidFill>
                  <a:srgbClr val="FFFFFF"/>
                </a:solidFill>
                <a:latin typeface="맑은 고딕"/>
              </a:rPr>
              <a:t>•  CTAS로 이진 덤프 언로드</a:t>
            </a:r>
          </a:p>
          <a:p>
            <a:pPr/>
            <a:r>
              <a:rPr sz="1600" b="0">
                <a:solidFill>
                  <a:srgbClr val="FFFFFF"/>
                </a:solidFill>
                <a:latin typeface="맑은 고딕"/>
              </a:rPr>
              <a:t>•  파일 이동 후 재적재</a:t>
            </a:r>
          </a:p>
          <a:p>
            <a:pPr/>
            <a:r>
              <a:rPr sz="1600" b="0">
                <a:solidFill>
                  <a:srgbClr val="FFFFFF"/>
                </a:solidFill>
                <a:latin typeface="맑은 고딕"/>
              </a:rPr>
              <a:t>•  플랫폼 독립적 전송</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31520"/>
          </a:xfrm>
          <a:prstGeom prst="rect">
            <a:avLst/>
          </a:prstGeom>
          <a:noFill/>
        </p:spPr>
        <p:txBody>
          <a:bodyPr wrap="square" anchor="ctr">
            <a:spAutoFit/>
          </a:bodyPr>
          <a:lstStyle/>
          <a:p>
            <a:pPr/>
            <a:r>
              <a:rPr sz="2600" b="1">
                <a:solidFill>
                  <a:srgbClr val="FFFFFF"/>
                </a:solidFill>
                <a:latin typeface="맑은 고딕"/>
              </a:rPr>
              <a:t>ORACLE_DATAPUMP 언로드·전송 원리</a:t>
            </a:r>
          </a:p>
        </p:txBody>
      </p:sp>
      <p:sp>
        <p:nvSpPr>
          <p:cNvPr id="4" name="TextBox 3"/>
          <p:cNvSpPr txBox="1"/>
          <p:nvPr/>
        </p:nvSpPr>
        <p:spPr>
          <a:xfrm>
            <a:off x="640080" y="1097280"/>
            <a:ext cx="10881360" cy="457200"/>
          </a:xfrm>
          <a:prstGeom prst="rect">
            <a:avLst/>
          </a:prstGeom>
          <a:noFill/>
        </p:spPr>
        <p:txBody>
          <a:bodyPr wrap="square" anchor="t">
            <a:spAutoFit/>
          </a:bodyPr>
          <a:lstStyle/>
          <a:p>
            <a:pPr/>
            <a:r>
              <a:rPr sz="1500" b="0">
                <a:solidFill>
                  <a:srgbClr val="5A6672"/>
                </a:solidFill>
                <a:latin typeface="맑은 고딕"/>
              </a:rPr>
              <a:t>SQL로 내보내고 SQL로 들여온다</a:t>
            </a:r>
          </a:p>
        </p:txBody>
      </p:sp>
      <p:sp>
        <p:nvSpPr>
          <p:cNvPr id="5" name="TextBox 4"/>
          <p:cNvSpPr txBox="1"/>
          <p:nvPr/>
        </p:nvSpPr>
        <p:spPr>
          <a:xfrm>
            <a:off x="640080" y="1737360"/>
            <a:ext cx="10881360" cy="4572000"/>
          </a:xfrm>
          <a:prstGeom prst="rect">
            <a:avLst/>
          </a:prstGeom>
          <a:noFill/>
        </p:spPr>
        <p:txBody>
          <a:bodyPr wrap="square" anchor="t">
            <a:spAutoFit/>
          </a:bodyPr>
          <a:lstStyle/>
          <a:p>
            <a:pPr/>
            <a:r>
              <a:rPr sz="1800" b="0">
                <a:solidFill>
                  <a:srgbClr val="C0392B"/>
                </a:solidFill>
                <a:latin typeface="맑은 고딕"/>
              </a:rPr>
              <a:t>•  ① 원본에서 CREATE TABLE ... ORGANIZATION EXTERNAL ... AS SELECT → 이진 덤프 생성</a:t>
            </a:r>
          </a:p>
          <a:p>
            <a:pPr/>
            <a:r>
              <a:rPr sz="1800" b="0">
                <a:solidFill>
                  <a:srgbClr val="C0392B"/>
                </a:solidFill>
                <a:latin typeface="맑은 고딕"/>
              </a:rPr>
              <a:t>•  ② 덤프 파일을 대상 서버 디렉터리로 복사(scp/ftp/매체)</a:t>
            </a:r>
          </a:p>
          <a:p>
            <a:pPr/>
            <a:r>
              <a:rPr sz="1800" b="0">
                <a:solidFill>
                  <a:srgbClr val="C0392B"/>
                </a:solidFill>
                <a:latin typeface="맑은 고딕"/>
              </a:rPr>
              <a:t>•  ③ 대상에서 같은 컬럼 구조로 외부 테이블 정의(LOCATION=덤프)</a:t>
            </a:r>
          </a:p>
          <a:p>
            <a:pPr/>
            <a:r>
              <a:rPr sz="1800" b="0">
                <a:solidFill>
                  <a:srgbClr val="C0392B"/>
                </a:solidFill>
                <a:latin typeface="맑은 고딕"/>
              </a:rPr>
              <a:t>•  ④ 그 외부 테이블을 SELECT / CTAS로 재적재</a:t>
            </a:r>
          </a:p>
          <a:p>
            <a:pPr lvl="1"/>
            <a:r>
              <a:rPr sz="1500" b="0">
                <a:solidFill>
                  <a:srgbClr val="5A6672"/>
                </a:solidFill>
                <a:latin typeface="맑은 고딕"/>
              </a:rPr>
              <a:t>     –  이진 형식은 플랫폼 독립적 → 이기종 서버 간 전송 가능</a:t>
            </a:r>
          </a:p>
          <a:p>
            <a:pPr lvl="1"/>
            <a:r>
              <a:rPr sz="1500" b="0">
                <a:solidFill>
                  <a:srgbClr val="5A6672"/>
                </a:solidFill>
                <a:latin typeface="맑은 고딕"/>
              </a:rPr>
              <a:t>     –  압축(COMPRESSION)·암호화(ENCRYPTION)·병렬(PARALLEL) 옵션</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31520"/>
          </a:xfrm>
          <a:prstGeom prst="rect">
            <a:avLst/>
          </a:prstGeom>
          <a:noFill/>
        </p:spPr>
        <p:txBody>
          <a:bodyPr wrap="square" anchor="ctr">
            <a:spAutoFit/>
          </a:bodyPr>
          <a:lstStyle/>
          <a:p>
            <a:pPr/>
            <a:r>
              <a:rPr sz="2600" b="1">
                <a:solidFill>
                  <a:srgbClr val="FFFFFF"/>
                </a:solidFill>
                <a:latin typeface="맑은 고딕"/>
              </a:rPr>
              <a:t>① 원본에서 언로드 (unload)</a:t>
            </a:r>
          </a:p>
        </p:txBody>
      </p:sp>
      <p:sp>
        <p:nvSpPr>
          <p:cNvPr id="4" name="TextBox 3"/>
          <p:cNvSpPr txBox="1"/>
          <p:nvPr/>
        </p:nvSpPr>
        <p:spPr>
          <a:xfrm>
            <a:off x="640080" y="1097280"/>
            <a:ext cx="10881360" cy="457200"/>
          </a:xfrm>
          <a:prstGeom prst="rect">
            <a:avLst/>
          </a:prstGeom>
          <a:noFill/>
        </p:spPr>
        <p:txBody>
          <a:bodyPr wrap="square" anchor="t">
            <a:spAutoFit/>
          </a:bodyPr>
          <a:lstStyle/>
          <a:p>
            <a:pPr/>
            <a:r>
              <a:rPr sz="1500" b="0">
                <a:solidFill>
                  <a:srgbClr val="5A6672"/>
                </a:solidFill>
                <a:latin typeface="맑은 고딕"/>
              </a:rPr>
              <a:t>CTAS로 이진 덤프 생성</a:t>
            </a:r>
          </a:p>
        </p:txBody>
      </p:sp>
      <p:sp>
        <p:nvSpPr>
          <p:cNvPr id="5" name="Rectangle 4"/>
          <p:cNvSpPr/>
          <p:nvPr/>
        </p:nvSpPr>
        <p:spPr>
          <a:xfrm>
            <a:off x="640080" y="1645920"/>
            <a:ext cx="10881360" cy="4754880"/>
          </a:xfrm>
          <a:prstGeom prst="rect">
            <a:avLst/>
          </a:prstGeom>
          <a:solidFill>
            <a:srgbClr val="1E1E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68680" y="1828800"/>
            <a:ext cx="10424160" cy="4389120"/>
          </a:xfrm>
          <a:prstGeom prst="rect">
            <a:avLst/>
          </a:prstGeom>
          <a:noFill/>
        </p:spPr>
        <p:txBody>
          <a:bodyPr wrap="square" anchor="t">
            <a:spAutoFit/>
          </a:bodyPr>
          <a:lstStyle/>
          <a:p>
            <a:pPr/>
            <a:r>
              <a:rPr sz="1250" b="0">
                <a:solidFill>
                  <a:srgbClr val="7EC699"/>
                </a:solidFill>
                <a:latin typeface="Consolas"/>
              </a:rPr>
              <a:t>-- 부서 20 직원을 이진 덤프로 언로드</a:t>
            </a:r>
          </a:p>
          <a:p>
            <a:pPr/>
            <a:r>
              <a:rPr sz="1250" b="0">
                <a:solidFill>
                  <a:srgbClr val="E6E6E6"/>
                </a:solidFill>
                <a:latin typeface="Consolas"/>
              </a:rPr>
              <a:t>CREATE TABLE hr.emp_dp</a:t>
            </a:r>
          </a:p>
          <a:p>
            <a:pPr/>
            <a:r>
              <a:rPr sz="1250" b="0">
                <a:solidFill>
                  <a:srgbClr val="E6E6E6"/>
                </a:solidFill>
                <a:latin typeface="Consolas"/>
              </a:rPr>
              <a:t>ORGANIZATION EXTERNAL</a:t>
            </a:r>
          </a:p>
          <a:p>
            <a:pPr/>
            <a:r>
              <a:rPr sz="1250" b="0">
                <a:solidFill>
                  <a:srgbClr val="E6E6E6"/>
                </a:solidFill>
                <a:latin typeface="Consolas"/>
              </a:rPr>
              <a:t>( TYPE ORACLE_DATAPUMP</a:t>
            </a:r>
          </a:p>
          <a:p>
            <a:pPr/>
            <a:r>
              <a:rPr sz="1250" b="0">
                <a:solidFill>
                  <a:srgbClr val="E6E6E6"/>
                </a:solidFill>
                <a:latin typeface="Consolas"/>
              </a:rPr>
              <a:t>  DEFAULT DIRECTORY data_dir</a:t>
            </a:r>
          </a:p>
          <a:p>
            <a:pPr/>
            <a:r>
              <a:rPr sz="1250" b="0">
                <a:solidFill>
                  <a:srgbClr val="E6E6E6"/>
                </a:solidFill>
                <a:latin typeface="Consolas"/>
              </a:rPr>
              <a:t>  LOCATION ('emp_dept20.dmp') )</a:t>
            </a:r>
          </a:p>
          <a:p>
            <a:pPr/>
            <a:r>
              <a:rPr sz="1250" b="0">
                <a:solidFill>
                  <a:srgbClr val="E6E6E6"/>
                </a:solidFill>
                <a:latin typeface="Consolas"/>
              </a:rPr>
              <a:t>AS SELECT empno, ename, job, sal, deptno</a:t>
            </a:r>
          </a:p>
          <a:p>
            <a:pPr/>
            <a:r>
              <a:rPr sz="1250" b="0">
                <a:solidFill>
                  <a:srgbClr val="E6E6E6"/>
                </a:solidFill>
                <a:latin typeface="Consolas"/>
              </a:rPr>
              <a:t>   FROM hr.employees WHERE deptno = 20;</a:t>
            </a:r>
          </a:p>
          <a:p>
            <a:pPr/>
            <a:r>
              <a:rPr sz="1250" b="0">
                <a:solidFill>
                  <a:srgbClr val="E6E6E6"/>
                </a:solidFill>
                <a:latin typeface="Consolas"/>
              </a:rPr>
              <a:t> </a:t>
            </a:r>
          </a:p>
          <a:p>
            <a:pPr/>
            <a:r>
              <a:rPr sz="1250" b="0">
                <a:solidFill>
                  <a:srgbClr val="7EC699"/>
                </a:solidFill>
                <a:latin typeface="Consolas"/>
              </a:rPr>
              <a:t>-- 여러 파일 + PARALLEL 로 병렬 언로드</a:t>
            </a:r>
          </a:p>
          <a:p>
            <a:pPr/>
            <a:r>
              <a:rPr sz="1250" b="0">
                <a:solidFill>
                  <a:srgbClr val="E6E6E6"/>
                </a:solidFill>
                <a:latin typeface="Consolas"/>
              </a:rPr>
              <a:t>CREATE TABLE hr.emp_dp_p</a:t>
            </a:r>
          </a:p>
          <a:p>
            <a:pPr/>
            <a:r>
              <a:rPr sz="1250" b="0">
                <a:solidFill>
                  <a:srgbClr val="E6E6E6"/>
                </a:solidFill>
                <a:latin typeface="Consolas"/>
              </a:rPr>
              <a:t>ORGANIZATION EXTERNAL ( TYPE ORACLE_DATAPUMP</a:t>
            </a:r>
          </a:p>
          <a:p>
            <a:pPr/>
            <a:r>
              <a:rPr sz="1250" b="0">
                <a:solidFill>
                  <a:srgbClr val="E6E6E6"/>
                </a:solidFill>
                <a:latin typeface="Consolas"/>
              </a:rPr>
              <a:t>  DEFAULT DIRECTORY data_dir</a:t>
            </a:r>
          </a:p>
          <a:p>
            <a:pPr/>
            <a:r>
              <a:rPr sz="1250" b="0">
                <a:solidFill>
                  <a:srgbClr val="E6E6E6"/>
                </a:solidFill>
                <a:latin typeface="Consolas"/>
              </a:rPr>
              <a:t>  LOCATION ('p1.dmp','p2.dmp') ) PARALLEL 2</a:t>
            </a:r>
          </a:p>
          <a:p>
            <a:pPr/>
            <a:r>
              <a:rPr sz="1250" b="0">
                <a:solidFill>
                  <a:srgbClr val="E6E6E6"/>
                </a:solidFill>
                <a:latin typeface="Consolas"/>
              </a:rPr>
              <a:t>AS SELECT * FROM hr.employees;</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31520"/>
          </a:xfrm>
          <a:prstGeom prst="rect">
            <a:avLst/>
          </a:prstGeom>
          <a:noFill/>
        </p:spPr>
        <p:txBody>
          <a:bodyPr wrap="square" anchor="ctr">
            <a:spAutoFit/>
          </a:bodyPr>
          <a:lstStyle/>
          <a:p>
            <a:pPr/>
            <a:r>
              <a:rPr sz="2600" b="1">
                <a:solidFill>
                  <a:srgbClr val="FFFFFF"/>
                </a:solidFill>
                <a:latin typeface="맑은 고딕"/>
              </a:rPr>
              <a:t>② 대상에서 로드 (load)</a:t>
            </a:r>
          </a:p>
        </p:txBody>
      </p:sp>
      <p:sp>
        <p:nvSpPr>
          <p:cNvPr id="4" name="TextBox 3"/>
          <p:cNvSpPr txBox="1"/>
          <p:nvPr/>
        </p:nvSpPr>
        <p:spPr>
          <a:xfrm>
            <a:off x="640080" y="1097280"/>
            <a:ext cx="10881360" cy="457200"/>
          </a:xfrm>
          <a:prstGeom prst="rect">
            <a:avLst/>
          </a:prstGeom>
          <a:noFill/>
        </p:spPr>
        <p:txBody>
          <a:bodyPr wrap="square" anchor="t">
            <a:spAutoFit/>
          </a:bodyPr>
          <a:lstStyle/>
          <a:p>
            <a:pPr/>
            <a:r>
              <a:rPr sz="1500" b="0">
                <a:solidFill>
                  <a:srgbClr val="5A6672"/>
                </a:solidFill>
                <a:latin typeface="맑은 고딕"/>
              </a:rPr>
              <a:t>덤프를 옮겨 재적재</a:t>
            </a:r>
          </a:p>
        </p:txBody>
      </p:sp>
      <p:sp>
        <p:nvSpPr>
          <p:cNvPr id="5" name="Rectangle 4"/>
          <p:cNvSpPr/>
          <p:nvPr/>
        </p:nvSpPr>
        <p:spPr>
          <a:xfrm>
            <a:off x="640080" y="1645920"/>
            <a:ext cx="10881360" cy="4754880"/>
          </a:xfrm>
          <a:prstGeom prst="rect">
            <a:avLst/>
          </a:prstGeom>
          <a:solidFill>
            <a:srgbClr val="1E1E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68680" y="1828800"/>
            <a:ext cx="10424160" cy="4389120"/>
          </a:xfrm>
          <a:prstGeom prst="rect">
            <a:avLst/>
          </a:prstGeom>
          <a:noFill/>
        </p:spPr>
        <p:txBody>
          <a:bodyPr wrap="square" anchor="t">
            <a:spAutoFit/>
          </a:bodyPr>
          <a:lstStyle/>
          <a:p>
            <a:pPr/>
            <a:r>
              <a:rPr sz="1250" b="0">
                <a:solidFill>
                  <a:srgbClr val="7EC699"/>
                </a:solidFill>
                <a:latin typeface="Consolas"/>
              </a:rPr>
              <a:t>-- 덤프 파일을 대상 서버로 복사</a:t>
            </a:r>
          </a:p>
          <a:p>
            <a:pPr/>
            <a:r>
              <a:rPr sz="1250" b="0">
                <a:solidFill>
                  <a:srgbClr val="7EC699"/>
                </a:solidFill>
                <a:latin typeface="Consolas"/>
              </a:rPr>
              <a:t>--   $ scp emp_dept20.dmp target:/u01/app/oracle/extdata/</a:t>
            </a:r>
          </a:p>
          <a:p>
            <a:pPr/>
            <a:r>
              <a:rPr sz="1250" b="0">
                <a:solidFill>
                  <a:srgbClr val="E6E6E6"/>
                </a:solidFill>
                <a:latin typeface="Consolas"/>
              </a:rPr>
              <a:t> </a:t>
            </a:r>
          </a:p>
          <a:p>
            <a:pPr/>
            <a:r>
              <a:rPr sz="1250" b="0">
                <a:solidFill>
                  <a:srgbClr val="7EC699"/>
                </a:solidFill>
                <a:latin typeface="Consolas"/>
              </a:rPr>
              <a:t>-- 대상 DB: 같은 구조의 외부 테이블을 AS SELECT 없이 정의</a:t>
            </a:r>
          </a:p>
          <a:p>
            <a:pPr/>
            <a:r>
              <a:rPr sz="1250" b="0">
                <a:solidFill>
                  <a:srgbClr val="E6E6E6"/>
                </a:solidFill>
                <a:latin typeface="Consolas"/>
              </a:rPr>
              <a:t>CREATE TABLE hr.emp_dp_in</a:t>
            </a:r>
          </a:p>
          <a:p>
            <a:pPr/>
            <a:r>
              <a:rPr sz="1250" b="0">
                <a:solidFill>
                  <a:srgbClr val="E6E6E6"/>
                </a:solidFill>
                <a:latin typeface="Consolas"/>
              </a:rPr>
              <a:t>( empno NUMBER(4), ename VARCHAR2(20), job VARCHAR2(15),</a:t>
            </a:r>
          </a:p>
          <a:p>
            <a:pPr/>
            <a:r>
              <a:rPr sz="1250" b="0">
                <a:solidFill>
                  <a:srgbClr val="E6E6E6"/>
                </a:solidFill>
                <a:latin typeface="Consolas"/>
              </a:rPr>
              <a:t>  sal NUMBER(7,2), deptno NUMBER(2) )</a:t>
            </a:r>
          </a:p>
          <a:p>
            <a:pPr/>
            <a:r>
              <a:rPr sz="1250" b="0">
                <a:solidFill>
                  <a:srgbClr val="E6E6E6"/>
                </a:solidFill>
                <a:latin typeface="Consolas"/>
              </a:rPr>
              <a:t>ORGANIZATION EXTERNAL</a:t>
            </a:r>
          </a:p>
          <a:p>
            <a:pPr/>
            <a:r>
              <a:rPr sz="1250" b="0">
                <a:solidFill>
                  <a:srgbClr val="E6E6E6"/>
                </a:solidFill>
                <a:latin typeface="Consolas"/>
              </a:rPr>
              <a:t>( TYPE ORACLE_DATAPUMP</a:t>
            </a:r>
          </a:p>
          <a:p>
            <a:pPr/>
            <a:r>
              <a:rPr sz="1250" b="0">
                <a:solidFill>
                  <a:srgbClr val="E6E6E6"/>
                </a:solidFill>
                <a:latin typeface="Consolas"/>
              </a:rPr>
              <a:t>  DEFAULT DIRECTORY data_dir</a:t>
            </a:r>
          </a:p>
          <a:p>
            <a:pPr/>
            <a:r>
              <a:rPr sz="1250" b="0">
                <a:solidFill>
                  <a:srgbClr val="E6E6E6"/>
                </a:solidFill>
                <a:latin typeface="Consolas"/>
              </a:rPr>
              <a:t>  LOCATION ('emp_dept20.dmp') );</a:t>
            </a:r>
          </a:p>
          <a:p>
            <a:pPr/>
            <a:r>
              <a:rPr sz="1250" b="0">
                <a:solidFill>
                  <a:srgbClr val="E6E6E6"/>
                </a:solidFill>
                <a:latin typeface="Consolas"/>
              </a:rPr>
              <a:t> </a:t>
            </a:r>
          </a:p>
          <a:p>
            <a:pPr/>
            <a:r>
              <a:rPr sz="1250" b="0">
                <a:solidFill>
                  <a:srgbClr val="7EC699"/>
                </a:solidFill>
                <a:latin typeface="Consolas"/>
              </a:rPr>
              <a:t>SELECT COUNT(*) FROM hr.emp_dp_in;          -- 읽힘 확인</a:t>
            </a:r>
          </a:p>
          <a:p>
            <a:pPr/>
            <a:r>
              <a:rPr sz="1250" b="0">
                <a:solidFill>
                  <a:srgbClr val="E6E6E6"/>
                </a:solidFill>
                <a:latin typeface="Consolas"/>
              </a:rPr>
              <a:t>CREATE TABLE hr.emp_loaded AS SELECT * FROM hr.emp_dp_in;</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2011680"/>
            <a:ext cx="10515600" cy="1097280"/>
          </a:xfrm>
          <a:prstGeom prst="rect">
            <a:avLst/>
          </a:prstGeom>
          <a:noFill/>
        </p:spPr>
        <p:txBody>
          <a:bodyPr wrap="square" anchor="t">
            <a:spAutoFit/>
          </a:bodyPr>
          <a:lstStyle/>
          <a:p>
            <a:pPr/>
            <a:r>
              <a:rPr sz="4000" b="1">
                <a:solidFill>
                  <a:srgbClr val="FFFFFF"/>
                </a:solidFill>
                <a:latin typeface="맑은 고딕"/>
              </a:rPr>
              <a:t>28.6</a:t>
            </a:r>
          </a:p>
        </p:txBody>
      </p:sp>
      <p:sp>
        <p:nvSpPr>
          <p:cNvPr id="4" name="TextBox 3"/>
          <p:cNvSpPr txBox="1"/>
          <p:nvPr/>
        </p:nvSpPr>
        <p:spPr>
          <a:xfrm>
            <a:off x="822960" y="3017520"/>
            <a:ext cx="10515600" cy="914400"/>
          </a:xfrm>
          <a:prstGeom prst="rect">
            <a:avLst/>
          </a:prstGeom>
          <a:noFill/>
        </p:spPr>
        <p:txBody>
          <a:bodyPr wrap="square" anchor="t">
            <a:spAutoFit/>
          </a:bodyPr>
          <a:lstStyle/>
          <a:p>
            <a:pPr/>
            <a:r>
              <a:rPr sz="2800" b="0">
                <a:solidFill>
                  <a:srgbClr val="FFFFFF"/>
                </a:solidFill>
                <a:latin typeface="맑은 고딕"/>
              </a:rPr>
              <a:t>외부 테이블의 이점 — SQL*Loader 대비</a:t>
            </a:r>
          </a:p>
        </p:txBody>
      </p:sp>
      <p:sp>
        <p:nvSpPr>
          <p:cNvPr id="5" name="Rectangle 4"/>
          <p:cNvSpPr/>
          <p:nvPr/>
        </p:nvSpPr>
        <p:spPr>
          <a:xfrm>
            <a:off x="822960" y="4114800"/>
            <a:ext cx="5486400" cy="5486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22960" y="4297680"/>
            <a:ext cx="10058400" cy="1828800"/>
          </a:xfrm>
          <a:prstGeom prst="rect">
            <a:avLst/>
          </a:prstGeom>
          <a:noFill/>
        </p:spPr>
        <p:txBody>
          <a:bodyPr wrap="square" anchor="t">
            <a:spAutoFit/>
          </a:bodyPr>
          <a:lstStyle/>
          <a:p>
            <a:pPr/>
            <a:r>
              <a:rPr sz="1600" b="0">
                <a:solidFill>
                  <a:srgbClr val="FFFFFF"/>
                </a:solidFill>
                <a:latin typeface="맑은 고딕"/>
              </a:rPr>
              <a:t>•  SQL 기능·변환 내장</a:t>
            </a:r>
          </a:p>
          <a:p>
            <a:pPr/>
            <a:r>
              <a:rPr sz="1600" b="0">
                <a:solidFill>
                  <a:srgbClr val="FFFFFF"/>
                </a:solidFill>
                <a:latin typeface="맑은 고딕"/>
              </a:rPr>
              <a:t>•  병렬 처리</a:t>
            </a:r>
          </a:p>
          <a:p>
            <a:pPr/>
            <a:r>
              <a:rPr sz="1600" b="0">
                <a:solidFill>
                  <a:srgbClr val="FFFFFF"/>
                </a:solidFill>
                <a:latin typeface="맑은 고딕"/>
              </a:rPr>
              <a:t>•  상호 보완 도구</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31520"/>
          </a:xfrm>
          <a:prstGeom prst="rect">
            <a:avLst/>
          </a:prstGeom>
          <a:noFill/>
        </p:spPr>
        <p:txBody>
          <a:bodyPr wrap="square" anchor="ctr">
            <a:spAutoFit/>
          </a:bodyPr>
          <a:lstStyle/>
          <a:p>
            <a:pPr/>
            <a:r>
              <a:rPr sz="2600" b="1">
                <a:solidFill>
                  <a:srgbClr val="FFFFFF"/>
                </a:solidFill>
                <a:latin typeface="맑은 고딕"/>
              </a:rPr>
              <a:t>SQL*Loader 대비 이점</a:t>
            </a:r>
          </a:p>
        </p:txBody>
      </p:sp>
      <p:sp>
        <p:nvSpPr>
          <p:cNvPr id="4" name="TextBox 3"/>
          <p:cNvSpPr txBox="1"/>
          <p:nvPr/>
        </p:nvSpPr>
        <p:spPr>
          <a:xfrm>
            <a:off x="640080" y="1097280"/>
            <a:ext cx="10881360" cy="457200"/>
          </a:xfrm>
          <a:prstGeom prst="rect">
            <a:avLst/>
          </a:prstGeom>
          <a:noFill/>
        </p:spPr>
        <p:txBody>
          <a:bodyPr wrap="square" anchor="t">
            <a:spAutoFit/>
          </a:bodyPr>
          <a:lstStyle/>
          <a:p>
            <a:pPr/>
            <a:r>
              <a:rPr sz="1500" b="0">
                <a:solidFill>
                  <a:srgbClr val="5A6672"/>
                </a:solidFill>
                <a:latin typeface="맑은 고딕"/>
              </a:rPr>
              <a:t>파일을 SQL의 대상으로 승격</a:t>
            </a:r>
          </a:p>
        </p:txBody>
      </p:sp>
      <p:sp>
        <p:nvSpPr>
          <p:cNvPr id="5" name="TextBox 4"/>
          <p:cNvSpPr txBox="1"/>
          <p:nvPr/>
        </p:nvSpPr>
        <p:spPr>
          <a:xfrm>
            <a:off x="640080" y="1737360"/>
            <a:ext cx="10881360" cy="4572000"/>
          </a:xfrm>
          <a:prstGeom prst="rect">
            <a:avLst/>
          </a:prstGeom>
          <a:noFill/>
        </p:spPr>
        <p:txBody>
          <a:bodyPr wrap="square" anchor="t">
            <a:spAutoFit/>
          </a:bodyPr>
          <a:lstStyle/>
          <a:p>
            <a:pPr/>
            <a:r>
              <a:rPr sz="1800" b="0">
                <a:solidFill>
                  <a:srgbClr val="C0392B"/>
                </a:solidFill>
                <a:latin typeface="맑은 고딕"/>
              </a:rPr>
              <a:t>•  SQL 기능 완전 활용: 조인·서브쿼리·집계·CASE·분석 함수</a:t>
            </a:r>
          </a:p>
          <a:p>
            <a:pPr/>
            <a:r>
              <a:rPr sz="1800" b="0">
                <a:solidFill>
                  <a:srgbClr val="C0392B"/>
                </a:solidFill>
                <a:latin typeface="맑은 고딕"/>
              </a:rPr>
              <a:t>•  변환 로직 내장: INSERT ... SELECT / CTAS 한 번으로 읽으며 변환·적재</a:t>
            </a:r>
          </a:p>
          <a:p>
            <a:pPr/>
            <a:r>
              <a:rPr sz="1800" b="0">
                <a:solidFill>
                  <a:srgbClr val="C0392B"/>
                </a:solidFill>
                <a:latin typeface="맑은 고딕"/>
              </a:rPr>
              <a:t>•  병렬 처리: 여러 파일 + PARALLEL로 처리량 향상</a:t>
            </a:r>
          </a:p>
          <a:p>
            <a:pPr/>
            <a:r>
              <a:rPr sz="1800" b="0">
                <a:solidFill>
                  <a:srgbClr val="C0392B"/>
                </a:solidFill>
                <a:latin typeface="맑은 고딕"/>
              </a:rPr>
              <a:t>•  여러 소스 결합: 외부 테이블끼리, 외부+내부 테이블 조인</a:t>
            </a:r>
          </a:p>
          <a:p>
            <a:pPr/>
            <a:r>
              <a:rPr sz="1800" b="0">
                <a:solidFill>
                  <a:srgbClr val="C0392B"/>
                </a:solidFill>
                <a:latin typeface="맑은 고딕"/>
              </a:rPr>
              <a:t>•  적재 전 데이터 품질 검증(COUNT·NULL 비율·분포)을 파일에 직접</a:t>
            </a:r>
          </a:p>
          <a:p>
            <a:pPr lvl="1"/>
            <a:r>
              <a:rPr sz="1500" b="0">
                <a:solidFill>
                  <a:srgbClr val="5A6672"/>
                </a:solidFill>
                <a:latin typeface="맑은 고딕"/>
              </a:rPr>
              <a:t>     –  중간 파일 불필요(DATAPUMP): CTAS만으로 이진 파일 생성</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31520"/>
          </a:xfrm>
          <a:prstGeom prst="rect">
            <a:avLst/>
          </a:prstGeom>
          <a:noFill/>
        </p:spPr>
        <p:txBody>
          <a:bodyPr wrap="square" anchor="ctr">
            <a:spAutoFit/>
          </a:bodyPr>
          <a:lstStyle/>
          <a:p>
            <a:pPr/>
            <a:r>
              <a:rPr sz="2600" b="1">
                <a:solidFill>
                  <a:srgbClr val="FFFFFF"/>
                </a:solidFill>
                <a:latin typeface="맑은 고딕"/>
              </a:rPr>
              <a:t>언제 무엇을 쓰나</a:t>
            </a:r>
          </a:p>
        </p:txBody>
      </p:sp>
      <p:sp>
        <p:nvSpPr>
          <p:cNvPr id="4" name="TextBox 3"/>
          <p:cNvSpPr txBox="1"/>
          <p:nvPr/>
        </p:nvSpPr>
        <p:spPr>
          <a:xfrm>
            <a:off x="640080" y="1097280"/>
            <a:ext cx="10881360" cy="457200"/>
          </a:xfrm>
          <a:prstGeom prst="rect">
            <a:avLst/>
          </a:prstGeom>
          <a:noFill/>
        </p:spPr>
        <p:txBody>
          <a:bodyPr wrap="square" anchor="t">
            <a:spAutoFit/>
          </a:bodyPr>
          <a:lstStyle/>
          <a:p>
            <a:pPr/>
            <a:r>
              <a:rPr sz="1500" b="0">
                <a:solidFill>
                  <a:srgbClr val="5A6672"/>
                </a:solidFill>
                <a:latin typeface="맑은 고딕"/>
              </a:rPr>
              <a:t>경쟁이 아니라 상호 보완</a:t>
            </a:r>
          </a:p>
        </p:txBody>
      </p:sp>
      <p:sp>
        <p:nvSpPr>
          <p:cNvPr id="5" name="TextBox 4"/>
          <p:cNvSpPr txBox="1"/>
          <p:nvPr/>
        </p:nvSpPr>
        <p:spPr>
          <a:xfrm>
            <a:off x="640080" y="1737360"/>
            <a:ext cx="10881360" cy="4572000"/>
          </a:xfrm>
          <a:prstGeom prst="rect">
            <a:avLst/>
          </a:prstGeom>
          <a:noFill/>
        </p:spPr>
        <p:txBody>
          <a:bodyPr wrap="square" anchor="t">
            <a:spAutoFit/>
          </a:bodyPr>
          <a:lstStyle/>
          <a:p>
            <a:pPr/>
            <a:r>
              <a:rPr sz="1800" b="0">
                <a:solidFill>
                  <a:srgbClr val="C0392B"/>
                </a:solidFill>
                <a:latin typeface="맑은 고딕"/>
              </a:rPr>
              <a:t>•  변환·조인·필터·병렬·반복 조회가 필요 → 외부 테이블</a:t>
            </a:r>
          </a:p>
          <a:p>
            <a:pPr/>
            <a:r>
              <a:rPr sz="1800" b="0">
                <a:solidFill>
                  <a:srgbClr val="C0392B"/>
                </a:solidFill>
                <a:latin typeface="맑은 고딕"/>
              </a:rPr>
              <a:t>•  변환 없는 초고속 일회성 적재 → SQL*Loader 다이렉트 패스</a:t>
            </a:r>
          </a:p>
          <a:p>
            <a:pPr lvl="1"/>
            <a:r>
              <a:rPr sz="1500" b="0">
                <a:solidFill>
                  <a:srgbClr val="5A6672"/>
                </a:solidFill>
                <a:latin typeface="맑은 고딕"/>
              </a:rPr>
              <a:t>     –  SQL*Loader 다이렉트 패스는 순수 적재 속도에서 여전히 매우 빠름</a:t>
            </a:r>
          </a:p>
          <a:p>
            <a:pPr lvl="1"/>
            <a:r>
              <a:rPr sz="1500" b="0">
                <a:solidFill>
                  <a:srgbClr val="5A6672"/>
                </a:solidFill>
                <a:latin typeface="맑은 고딕"/>
              </a:rPr>
              <a:t>     –  두 도구는 같은 파싱 규칙을 공유 → 지식 재활용</a:t>
            </a:r>
          </a:p>
          <a:p>
            <a:pPr/>
            <a:r>
              <a:rPr sz="1800" b="0">
                <a:solidFill>
                  <a:srgbClr val="C0392B"/>
                </a:solidFill>
                <a:latin typeface="맑은 고딕"/>
              </a:rPr>
              <a:t>•  소수 테이블·쿼리 결과 전송 → ORACLE_DATAPUMP 외부 테이블</a:t>
            </a:r>
          </a:p>
          <a:p>
            <a:pPr/>
            <a:r>
              <a:rPr sz="1800" b="0">
                <a:solidFill>
                  <a:srgbClr val="C0392B"/>
                </a:solidFill>
                <a:latin typeface="맑은 고딕"/>
              </a:rPr>
              <a:t>•  스키마·DB 전체 이관 → expdp / impdp</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2011680"/>
            <a:ext cx="10515600" cy="1097280"/>
          </a:xfrm>
          <a:prstGeom prst="rect">
            <a:avLst/>
          </a:prstGeom>
          <a:noFill/>
        </p:spPr>
        <p:txBody>
          <a:bodyPr wrap="square" anchor="t">
            <a:spAutoFit/>
          </a:bodyPr>
          <a:lstStyle/>
          <a:p>
            <a:pPr/>
            <a:r>
              <a:rPr sz="4000" b="1">
                <a:solidFill>
                  <a:srgbClr val="FFFFFF"/>
                </a:solidFill>
                <a:latin typeface="맑은 고딕"/>
              </a:rPr>
              <a:t>28.7</a:t>
            </a:r>
          </a:p>
        </p:txBody>
      </p:sp>
      <p:sp>
        <p:nvSpPr>
          <p:cNvPr id="4" name="TextBox 3"/>
          <p:cNvSpPr txBox="1"/>
          <p:nvPr/>
        </p:nvSpPr>
        <p:spPr>
          <a:xfrm>
            <a:off x="822960" y="3017520"/>
            <a:ext cx="10515600" cy="914400"/>
          </a:xfrm>
          <a:prstGeom prst="rect">
            <a:avLst/>
          </a:prstGeom>
          <a:noFill/>
        </p:spPr>
        <p:txBody>
          <a:bodyPr wrap="square" anchor="t">
            <a:spAutoFit/>
          </a:bodyPr>
          <a:lstStyle/>
          <a:p>
            <a:pPr/>
            <a:r>
              <a:rPr sz="2800" b="0">
                <a:solidFill>
                  <a:srgbClr val="FFFFFF"/>
                </a:solidFill>
                <a:latin typeface="맑은 고딕"/>
              </a:rPr>
              <a:t>외부 테이블의 제약사항</a:t>
            </a:r>
          </a:p>
        </p:txBody>
      </p:sp>
      <p:sp>
        <p:nvSpPr>
          <p:cNvPr id="5" name="Rectangle 4"/>
          <p:cNvSpPr/>
          <p:nvPr/>
        </p:nvSpPr>
        <p:spPr>
          <a:xfrm>
            <a:off x="822960" y="4114800"/>
            <a:ext cx="5486400" cy="5486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22960" y="4297680"/>
            <a:ext cx="10058400" cy="1828800"/>
          </a:xfrm>
          <a:prstGeom prst="rect">
            <a:avLst/>
          </a:prstGeom>
          <a:noFill/>
        </p:spPr>
        <p:txBody>
          <a:bodyPr wrap="square" anchor="t">
            <a:spAutoFit/>
          </a:bodyPr>
          <a:lstStyle/>
          <a:p>
            <a:pPr/>
            <a:r>
              <a:rPr sz="1600" b="0">
                <a:solidFill>
                  <a:srgbClr val="FFFFFF"/>
                </a:solidFill>
                <a:latin typeface="맑은 고딕"/>
              </a:rPr>
              <a:t>•  DML 불가(ORA-30657)</a:t>
            </a:r>
          </a:p>
          <a:p>
            <a:pPr/>
            <a:r>
              <a:rPr sz="1600" b="0">
                <a:solidFill>
                  <a:srgbClr val="FFFFFF"/>
                </a:solidFill>
                <a:latin typeface="맑은 고딕"/>
              </a:rPr>
              <a:t>•  인덱스 생성 불가</a:t>
            </a:r>
          </a:p>
          <a:p>
            <a:pPr/>
            <a:r>
              <a:rPr sz="1600" b="0">
                <a:solidFill>
                  <a:srgbClr val="FFFFFF"/>
                </a:solidFill>
                <a:latin typeface="맑은 고딕"/>
              </a:rPr>
              <a:t>•  읽기 전용이 기본</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31520"/>
          </a:xfrm>
          <a:prstGeom prst="rect">
            <a:avLst/>
          </a:prstGeom>
          <a:noFill/>
        </p:spPr>
        <p:txBody>
          <a:bodyPr wrap="square" anchor="ctr">
            <a:spAutoFit/>
          </a:bodyPr>
          <a:lstStyle/>
          <a:p>
            <a:pPr/>
            <a:r>
              <a:rPr sz="2600" b="1">
                <a:solidFill>
                  <a:srgbClr val="FFFFFF"/>
                </a:solidFill>
                <a:latin typeface="맑은 고딕"/>
              </a:rPr>
              <a:t>외부 테이블 제약사항</a:t>
            </a:r>
          </a:p>
        </p:txBody>
      </p:sp>
      <p:sp>
        <p:nvSpPr>
          <p:cNvPr id="4" name="TextBox 3"/>
          <p:cNvSpPr txBox="1"/>
          <p:nvPr/>
        </p:nvSpPr>
        <p:spPr>
          <a:xfrm>
            <a:off x="640080" y="1097280"/>
            <a:ext cx="10881360" cy="457200"/>
          </a:xfrm>
          <a:prstGeom prst="rect">
            <a:avLst/>
          </a:prstGeom>
          <a:noFill/>
        </p:spPr>
        <p:txBody>
          <a:bodyPr wrap="square" anchor="t">
            <a:spAutoFit/>
          </a:bodyPr>
          <a:lstStyle/>
          <a:p>
            <a:pPr/>
            <a:r>
              <a:rPr sz="1500" b="0">
                <a:solidFill>
                  <a:srgbClr val="5A6672"/>
                </a:solidFill>
                <a:latin typeface="맑은 고딕"/>
              </a:rPr>
              <a:t>'그릇'이 아니라 '창'이기 때문</a:t>
            </a:r>
          </a:p>
        </p:txBody>
      </p:sp>
      <p:sp>
        <p:nvSpPr>
          <p:cNvPr id="5" name="TextBox 4"/>
          <p:cNvSpPr txBox="1"/>
          <p:nvPr/>
        </p:nvSpPr>
        <p:spPr>
          <a:xfrm>
            <a:off x="640080" y="1737360"/>
            <a:ext cx="10881360" cy="4572000"/>
          </a:xfrm>
          <a:prstGeom prst="rect">
            <a:avLst/>
          </a:prstGeom>
          <a:noFill/>
        </p:spPr>
        <p:txBody>
          <a:bodyPr wrap="square" anchor="t">
            <a:spAutoFit/>
          </a:bodyPr>
          <a:lstStyle/>
          <a:p>
            <a:pPr/>
            <a:r>
              <a:rPr sz="1800" b="0">
                <a:solidFill>
                  <a:srgbClr val="C0392B"/>
                </a:solidFill>
                <a:latin typeface="맑은 고딕"/>
              </a:rPr>
              <a:t>•  DML 불가: INSERT/UPDATE/DELETE/MERGE 시도 시 ORA-30657</a:t>
            </a:r>
          </a:p>
          <a:p>
            <a:pPr/>
            <a:r>
              <a:rPr sz="1800" b="0">
                <a:solidFill>
                  <a:srgbClr val="C0392B"/>
                </a:solidFill>
                <a:latin typeface="맑은 고딕"/>
              </a:rPr>
              <a:t>•  인덱스 생성 불가: 세그먼트가 없어 항상 전체 파일 스캔</a:t>
            </a:r>
          </a:p>
          <a:p>
            <a:pPr/>
            <a:r>
              <a:rPr sz="1800" b="0">
                <a:solidFill>
                  <a:srgbClr val="C0392B"/>
                </a:solidFill>
                <a:latin typeface="맑은 고딕"/>
              </a:rPr>
              <a:t>•  제약조건 강제 불가: PK/UK/FK는 RELY로 선언만 가능(무결성 보장 X)</a:t>
            </a:r>
          </a:p>
          <a:p>
            <a:pPr/>
            <a:r>
              <a:rPr sz="1800" b="0">
                <a:solidFill>
                  <a:srgbClr val="C0392B"/>
                </a:solidFill>
                <a:latin typeface="맑은 고딕"/>
              </a:rPr>
              <a:t>•  읽기 전용: 파일이 바뀌면 조회 결과도 바뀜(스냅샷 아님)</a:t>
            </a:r>
          </a:p>
          <a:p>
            <a:pPr/>
            <a:r>
              <a:rPr sz="1800" b="0">
                <a:solidFill>
                  <a:srgbClr val="C0392B"/>
                </a:solidFill>
                <a:latin typeface="맑은 고딕"/>
              </a:rPr>
              <a:t>•  읽기 일관성 없음: 조회 중 파일 교체 시 예기치 않은 결과·오류</a:t>
            </a:r>
          </a:p>
          <a:p>
            <a:pPr lvl="1"/>
            <a:r>
              <a:rPr sz="1500" b="0">
                <a:solidFill>
                  <a:srgbClr val="5A6672"/>
                </a:solidFill>
                <a:latin typeface="맑은 고딕"/>
              </a:rPr>
              <a:t>     –  데이터를 바꾸려면 내부 테이블에 적재 후 그 테이블에서 DML</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2011680"/>
            <a:ext cx="10515600" cy="1097280"/>
          </a:xfrm>
          <a:prstGeom prst="rect">
            <a:avLst/>
          </a:prstGeom>
          <a:noFill/>
        </p:spPr>
        <p:txBody>
          <a:bodyPr wrap="square" anchor="t">
            <a:spAutoFit/>
          </a:bodyPr>
          <a:lstStyle/>
          <a:p>
            <a:pPr/>
            <a:r>
              <a:rPr sz="4000" b="1">
                <a:solidFill>
                  <a:srgbClr val="FFFFFF"/>
                </a:solidFill>
                <a:latin typeface="맑은 고딕"/>
              </a:rPr>
              <a:t>28.8</a:t>
            </a:r>
          </a:p>
        </p:txBody>
      </p:sp>
      <p:sp>
        <p:nvSpPr>
          <p:cNvPr id="4" name="TextBox 3"/>
          <p:cNvSpPr txBox="1"/>
          <p:nvPr/>
        </p:nvSpPr>
        <p:spPr>
          <a:xfrm>
            <a:off x="822960" y="3017520"/>
            <a:ext cx="10515600" cy="914400"/>
          </a:xfrm>
          <a:prstGeom prst="rect">
            <a:avLst/>
          </a:prstGeom>
          <a:noFill/>
        </p:spPr>
        <p:txBody>
          <a:bodyPr wrap="square" anchor="t">
            <a:spAutoFit/>
          </a:bodyPr>
          <a:lstStyle/>
          <a:p>
            <a:pPr/>
            <a:r>
              <a:rPr sz="2800" b="0">
                <a:solidFill>
                  <a:srgbClr val="FFFFFF"/>
                </a:solidFill>
                <a:latin typeface="맑은 고딕"/>
              </a:rPr>
              <a:t>REJECT LIMIT과 PROJECT COLUMN</a:t>
            </a:r>
          </a:p>
        </p:txBody>
      </p:sp>
      <p:sp>
        <p:nvSpPr>
          <p:cNvPr id="5" name="Rectangle 4"/>
          <p:cNvSpPr/>
          <p:nvPr/>
        </p:nvSpPr>
        <p:spPr>
          <a:xfrm>
            <a:off x="822960" y="4114800"/>
            <a:ext cx="5486400" cy="5486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22960" y="4297680"/>
            <a:ext cx="10058400" cy="1828800"/>
          </a:xfrm>
          <a:prstGeom prst="rect">
            <a:avLst/>
          </a:prstGeom>
          <a:noFill/>
        </p:spPr>
        <p:txBody>
          <a:bodyPr wrap="square" anchor="t">
            <a:spAutoFit/>
          </a:bodyPr>
          <a:lstStyle/>
          <a:p>
            <a:pPr/>
            <a:r>
              <a:rPr sz="1600" b="0">
                <a:solidFill>
                  <a:srgbClr val="FFFFFF"/>
                </a:solidFill>
                <a:latin typeface="맑은 고딕"/>
              </a:rPr>
              <a:t>•  거부 레코드 허용 한도</a:t>
            </a:r>
          </a:p>
          <a:p>
            <a:pPr/>
            <a:r>
              <a:rPr sz="1600" b="0">
                <a:solidFill>
                  <a:srgbClr val="FFFFFF"/>
                </a:solidFill>
                <a:latin typeface="맑은 고딕"/>
              </a:rPr>
              <a:t>•  컬럼 투영 방식</a:t>
            </a:r>
          </a:p>
          <a:p>
            <a:pPr/>
            <a:r>
              <a:rPr sz="1600" b="0">
                <a:solidFill>
                  <a:srgbClr val="FFFFFF"/>
                </a:solidFill>
                <a:latin typeface="맑은 고딕"/>
              </a:rPr>
              <a:t>•  성능 vs 일관성</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31520"/>
          </a:xfrm>
          <a:prstGeom prst="rect">
            <a:avLst/>
          </a:prstGeom>
          <a:noFill/>
        </p:spPr>
        <p:txBody>
          <a:bodyPr wrap="square" anchor="ctr">
            <a:spAutoFit/>
          </a:bodyPr>
          <a:lstStyle/>
          <a:p>
            <a:pPr/>
            <a:r>
              <a:rPr sz="2600" b="1">
                <a:solidFill>
                  <a:srgbClr val="FFFFFF"/>
                </a:solidFill>
                <a:latin typeface="맑은 고딕"/>
              </a:rPr>
              <a:t>REJECT LIMIT — 거부 허용 한도</a:t>
            </a:r>
          </a:p>
        </p:txBody>
      </p:sp>
      <p:sp>
        <p:nvSpPr>
          <p:cNvPr id="4" name="TextBox 3"/>
          <p:cNvSpPr txBox="1"/>
          <p:nvPr/>
        </p:nvSpPr>
        <p:spPr>
          <a:xfrm>
            <a:off x="640080" y="1097280"/>
            <a:ext cx="10881360" cy="457200"/>
          </a:xfrm>
          <a:prstGeom prst="rect">
            <a:avLst/>
          </a:prstGeom>
          <a:noFill/>
        </p:spPr>
        <p:txBody>
          <a:bodyPr wrap="square" anchor="t">
            <a:spAutoFit/>
          </a:bodyPr>
          <a:lstStyle/>
          <a:p>
            <a:pPr/>
            <a:r>
              <a:rPr sz="1500" b="0">
                <a:solidFill>
                  <a:srgbClr val="5A6672"/>
                </a:solidFill>
                <a:latin typeface="맑은 고딕"/>
              </a:rPr>
              <a:t>품질 통제의 강도 조절</a:t>
            </a:r>
          </a:p>
        </p:txBody>
      </p:sp>
      <p:sp>
        <p:nvSpPr>
          <p:cNvPr id="5" name="TextBox 4"/>
          <p:cNvSpPr txBox="1"/>
          <p:nvPr/>
        </p:nvSpPr>
        <p:spPr>
          <a:xfrm>
            <a:off x="640080" y="1737360"/>
            <a:ext cx="10881360" cy="4572000"/>
          </a:xfrm>
          <a:prstGeom prst="rect">
            <a:avLst/>
          </a:prstGeom>
          <a:noFill/>
        </p:spPr>
        <p:txBody>
          <a:bodyPr wrap="square" anchor="t">
            <a:spAutoFit/>
          </a:bodyPr>
          <a:lstStyle/>
          <a:p>
            <a:pPr/>
            <a:r>
              <a:rPr sz="1800" b="0">
                <a:solidFill>
                  <a:srgbClr val="C0392B"/>
                </a:solidFill>
                <a:latin typeface="맑은 고딕"/>
              </a:rPr>
              <a:t>•  파싱 실패(타입/필드 오류) 레코드를 몇 건까지 허용할지 지정</a:t>
            </a:r>
          </a:p>
          <a:p>
            <a:pPr/>
            <a:r>
              <a:rPr sz="1800" b="0">
                <a:solidFill>
                  <a:srgbClr val="C0392B"/>
                </a:solidFill>
                <a:latin typeface="맑은 고딕"/>
              </a:rPr>
              <a:t>•  기본값 0 → 한 건이라도 거부되면 질의 실패</a:t>
            </a:r>
          </a:p>
          <a:p>
            <a:pPr/>
            <a:r>
              <a:rPr sz="1800" b="0">
                <a:solidFill>
                  <a:srgbClr val="C0392B"/>
                </a:solidFill>
                <a:latin typeface="맑은 고딕"/>
              </a:rPr>
              <a:t>•  REJECT LIMIT n → n건까지 허용, n+1에서 실패</a:t>
            </a:r>
          </a:p>
          <a:p>
            <a:pPr/>
            <a:r>
              <a:rPr sz="1800" b="0">
                <a:solidFill>
                  <a:srgbClr val="C0392B"/>
                </a:solidFill>
                <a:latin typeface="맑은 고딕"/>
              </a:rPr>
              <a:t>•  REJECT LIMIT UNLIMITED → 거부 무제한, 읽을 수 있는 행만 반환</a:t>
            </a:r>
          </a:p>
          <a:p>
            <a:pPr/>
            <a:r>
              <a:rPr sz="1800" b="0">
                <a:solidFill>
                  <a:srgbClr val="C0392B"/>
                </a:solidFill>
                <a:latin typeface="맑은 고딕"/>
              </a:rPr>
              <a:t>•  거부 레코드 원본은 BADFILE에 기록 → 원인 분석</a:t>
            </a:r>
          </a:p>
          <a:p>
            <a:pPr lvl="1"/>
            <a:r>
              <a:rPr sz="1500" b="0">
                <a:solidFill>
                  <a:srgbClr val="5A6672"/>
                </a:solidFill>
                <a:latin typeface="맑은 고딕"/>
              </a:rPr>
              <a:t>     –  정합성 중심=0 / 로그 분석 등 최대 확보=UNLIMITED</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31520"/>
          </a:xfrm>
          <a:prstGeom prst="rect">
            <a:avLst/>
          </a:prstGeom>
          <a:noFill/>
        </p:spPr>
        <p:txBody>
          <a:bodyPr wrap="square" anchor="ctr">
            <a:spAutoFit/>
          </a:bodyPr>
          <a:lstStyle/>
          <a:p>
            <a:pPr/>
            <a:r>
              <a:rPr sz="2600" b="1">
                <a:solidFill>
                  <a:srgbClr val="FFFFFF"/>
                </a:solidFill>
                <a:latin typeface="맑은 고딕"/>
              </a:rPr>
              <a:t>PROJECT COLUMN — 컬럼 투영 방식</a:t>
            </a:r>
          </a:p>
        </p:txBody>
      </p:sp>
      <p:sp>
        <p:nvSpPr>
          <p:cNvPr id="4" name="TextBox 3"/>
          <p:cNvSpPr txBox="1"/>
          <p:nvPr/>
        </p:nvSpPr>
        <p:spPr>
          <a:xfrm>
            <a:off x="640080" y="1097280"/>
            <a:ext cx="10881360" cy="457200"/>
          </a:xfrm>
          <a:prstGeom prst="rect">
            <a:avLst/>
          </a:prstGeom>
          <a:noFill/>
        </p:spPr>
        <p:txBody>
          <a:bodyPr wrap="square" anchor="t">
            <a:spAutoFit/>
          </a:bodyPr>
          <a:lstStyle/>
          <a:p>
            <a:pPr/>
            <a:r>
              <a:rPr sz="1500" b="0">
                <a:solidFill>
                  <a:srgbClr val="5A6672"/>
                </a:solidFill>
                <a:latin typeface="맑은 고딕"/>
              </a:rPr>
              <a:t>성능이냐 일관성이냐</a:t>
            </a:r>
          </a:p>
        </p:txBody>
      </p:sp>
      <p:sp>
        <p:nvSpPr>
          <p:cNvPr id="5" name="TextBox 4"/>
          <p:cNvSpPr txBox="1"/>
          <p:nvPr/>
        </p:nvSpPr>
        <p:spPr>
          <a:xfrm>
            <a:off x="640080" y="1737360"/>
            <a:ext cx="10881360" cy="4572000"/>
          </a:xfrm>
          <a:prstGeom prst="rect">
            <a:avLst/>
          </a:prstGeom>
          <a:noFill/>
        </p:spPr>
        <p:txBody>
          <a:bodyPr wrap="square" anchor="t">
            <a:spAutoFit/>
          </a:bodyPr>
          <a:lstStyle/>
          <a:p>
            <a:pPr/>
            <a:r>
              <a:rPr sz="1800" b="0">
                <a:solidFill>
                  <a:srgbClr val="C0392B"/>
                </a:solidFill>
                <a:latin typeface="맑은 고딕"/>
              </a:rPr>
              <a:t>•  REFERENCED(기본): SELECT에 참조된 컬럼만 파싱 → 빠름</a:t>
            </a:r>
          </a:p>
          <a:p>
            <a:pPr lvl="1"/>
            <a:r>
              <a:rPr sz="1500" b="0">
                <a:solidFill>
                  <a:srgbClr val="5A6672"/>
                </a:solidFill>
                <a:latin typeface="맑은 고딕"/>
              </a:rPr>
              <a:t>     –  참조 안 된 컬럼 오류는 거부되지 않음</a:t>
            </a:r>
          </a:p>
          <a:p>
            <a:pPr lvl="1"/>
            <a:r>
              <a:rPr sz="1500" b="0">
                <a:solidFill>
                  <a:srgbClr val="5A6672"/>
                </a:solidFill>
                <a:latin typeface="맑은 고딕"/>
              </a:rPr>
              <a:t>     –  → 참조 컬럼 집합에 따라 반환 행 수가 달라질 수 있음</a:t>
            </a:r>
          </a:p>
          <a:p>
            <a:pPr/>
            <a:r>
              <a:rPr sz="1800" b="0">
                <a:solidFill>
                  <a:srgbClr val="C0392B"/>
                </a:solidFill>
                <a:latin typeface="맑은 고딕"/>
              </a:rPr>
              <a:t>•  ALL: 참조 여부와 무관하게 모든 컬럼 파싱·검증 → 일관성 보장</a:t>
            </a:r>
          </a:p>
          <a:p>
            <a:pPr lvl="1"/>
            <a:r>
              <a:rPr sz="1500" b="0">
                <a:solidFill>
                  <a:srgbClr val="5A6672"/>
                </a:solidFill>
                <a:latin typeface="맑은 고딕"/>
              </a:rPr>
              <a:t>     –  어느 컬럼이든 오류 있으면 레코드 거부, 파싱 비용 증가</a:t>
            </a:r>
          </a:p>
          <a:p>
            <a:pPr/>
            <a:r>
              <a:rPr sz="1800" b="0">
                <a:solidFill>
                  <a:srgbClr val="C0392B"/>
                </a:solidFill>
                <a:latin typeface="맑은 고딕"/>
              </a:rPr>
              <a:t>•  ALTER TABLE ... PROJECT COLUMN REFERENCED | ALL</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2011680"/>
            <a:ext cx="10515600" cy="1097280"/>
          </a:xfrm>
          <a:prstGeom prst="rect">
            <a:avLst/>
          </a:prstGeom>
          <a:noFill/>
        </p:spPr>
        <p:txBody>
          <a:bodyPr wrap="square" anchor="t">
            <a:spAutoFit/>
          </a:bodyPr>
          <a:lstStyle/>
          <a:p>
            <a:pPr/>
            <a:r>
              <a:rPr sz="4000" b="1">
                <a:solidFill>
                  <a:srgbClr val="FFFFFF"/>
                </a:solidFill>
                <a:latin typeface="맑은 고딕"/>
              </a:rPr>
              <a:t>28.9</a:t>
            </a:r>
          </a:p>
        </p:txBody>
      </p:sp>
      <p:sp>
        <p:nvSpPr>
          <p:cNvPr id="4" name="TextBox 3"/>
          <p:cNvSpPr txBox="1"/>
          <p:nvPr/>
        </p:nvSpPr>
        <p:spPr>
          <a:xfrm>
            <a:off x="822960" y="3017520"/>
            <a:ext cx="10515600" cy="914400"/>
          </a:xfrm>
          <a:prstGeom prst="rect">
            <a:avLst/>
          </a:prstGeom>
          <a:noFill/>
        </p:spPr>
        <p:txBody>
          <a:bodyPr wrap="square" anchor="t">
            <a:spAutoFit/>
          </a:bodyPr>
          <a:lstStyle/>
          <a:p>
            <a:pPr/>
            <a:r>
              <a:rPr sz="2800" b="0">
                <a:solidFill>
                  <a:srgbClr val="FFFFFF"/>
                </a:solidFill>
                <a:latin typeface="맑은 고딕"/>
              </a:rPr>
              <a:t>외부 테이블 정보 조회(딕셔너리 뷰)</a:t>
            </a:r>
          </a:p>
        </p:txBody>
      </p:sp>
      <p:sp>
        <p:nvSpPr>
          <p:cNvPr id="5" name="Rectangle 4"/>
          <p:cNvSpPr/>
          <p:nvPr/>
        </p:nvSpPr>
        <p:spPr>
          <a:xfrm>
            <a:off x="822960" y="4114800"/>
            <a:ext cx="5486400" cy="5486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22960" y="4297680"/>
            <a:ext cx="10058400" cy="1828800"/>
          </a:xfrm>
          <a:prstGeom prst="rect">
            <a:avLst/>
          </a:prstGeom>
          <a:noFill/>
        </p:spPr>
        <p:txBody>
          <a:bodyPr wrap="square" anchor="t">
            <a:spAutoFit/>
          </a:bodyPr>
          <a:lstStyle/>
          <a:p>
            <a:pPr/>
            <a:r>
              <a:rPr sz="1600" b="0">
                <a:solidFill>
                  <a:srgbClr val="FFFFFF"/>
                </a:solidFill>
                <a:latin typeface="맑은 고딕"/>
              </a:rPr>
              <a:t>•  EXTERNAL_TABLES</a:t>
            </a:r>
          </a:p>
          <a:p>
            <a:pPr/>
            <a:r>
              <a:rPr sz="1600" b="0">
                <a:solidFill>
                  <a:srgbClr val="FFFFFF"/>
                </a:solidFill>
                <a:latin typeface="맑은 고딕"/>
              </a:rPr>
              <a:t>•  EXTERNAL_LOCATIONS</a:t>
            </a:r>
          </a:p>
          <a:p>
            <a:pPr/>
            <a:r>
              <a:rPr sz="1600" b="0">
                <a:solidFill>
                  <a:srgbClr val="FFFFFF"/>
                </a:solidFill>
                <a:latin typeface="맑은 고딕"/>
              </a:rPr>
              <a:t>•  DIRECTORIES</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31520"/>
          </a:xfrm>
          <a:prstGeom prst="rect">
            <a:avLst/>
          </a:prstGeom>
          <a:noFill/>
        </p:spPr>
        <p:txBody>
          <a:bodyPr wrap="square" anchor="ctr">
            <a:spAutoFit/>
          </a:bodyPr>
          <a:lstStyle/>
          <a:p>
            <a:pPr/>
            <a:r>
              <a:rPr sz="2600" b="1">
                <a:solidFill>
                  <a:srgbClr val="FFFFFF"/>
                </a:solidFill>
                <a:latin typeface="맑은 고딕"/>
              </a:rPr>
              <a:t>외부 테이블 딕셔너리 뷰</a:t>
            </a:r>
          </a:p>
        </p:txBody>
      </p:sp>
      <p:sp>
        <p:nvSpPr>
          <p:cNvPr id="4" name="TextBox 3"/>
          <p:cNvSpPr txBox="1"/>
          <p:nvPr/>
        </p:nvSpPr>
        <p:spPr>
          <a:xfrm>
            <a:off x="640080" y="1097280"/>
            <a:ext cx="10881360" cy="457200"/>
          </a:xfrm>
          <a:prstGeom prst="rect">
            <a:avLst/>
          </a:prstGeom>
          <a:noFill/>
        </p:spPr>
        <p:txBody>
          <a:bodyPr wrap="square" anchor="t">
            <a:spAutoFit/>
          </a:bodyPr>
          <a:lstStyle/>
          <a:p>
            <a:pPr/>
            <a:r>
              <a:rPr sz="1500" b="0">
                <a:solidFill>
                  <a:srgbClr val="5A6672"/>
                </a:solidFill>
                <a:latin typeface="맑은 고딕"/>
              </a:rPr>
              <a:t>정의·파일·경로를 조합해 파악</a:t>
            </a:r>
          </a:p>
        </p:txBody>
      </p:sp>
      <p:sp>
        <p:nvSpPr>
          <p:cNvPr id="5" name="TextBox 4"/>
          <p:cNvSpPr txBox="1"/>
          <p:nvPr/>
        </p:nvSpPr>
        <p:spPr>
          <a:xfrm>
            <a:off x="640080" y="1737360"/>
            <a:ext cx="10881360" cy="4572000"/>
          </a:xfrm>
          <a:prstGeom prst="rect">
            <a:avLst/>
          </a:prstGeom>
          <a:noFill/>
        </p:spPr>
        <p:txBody>
          <a:bodyPr wrap="square" anchor="t">
            <a:spAutoFit/>
          </a:bodyPr>
          <a:lstStyle/>
          <a:p>
            <a:pPr/>
            <a:r>
              <a:rPr sz="1800" b="0">
                <a:solidFill>
                  <a:srgbClr val="C0392B"/>
                </a:solidFill>
                <a:latin typeface="맑은 고딕"/>
              </a:rPr>
              <a:t>•  DBA/ALL/USER_EXTERNAL_TABLES: 드라이버·기본 디렉터리·REJECT LIMIT·파라미터</a:t>
            </a:r>
          </a:p>
          <a:p>
            <a:pPr/>
            <a:r>
              <a:rPr sz="1800" b="0">
                <a:solidFill>
                  <a:srgbClr val="C0392B"/>
                </a:solidFill>
                <a:latin typeface="맑은 고딕"/>
              </a:rPr>
              <a:t>•  DBA/ALL/USER_EXTERNAL_LOCATIONS: 외부 테이블이 읽는 파일 목록</a:t>
            </a:r>
          </a:p>
          <a:p>
            <a:pPr/>
            <a:r>
              <a:rPr sz="1800" b="0">
                <a:solidFill>
                  <a:srgbClr val="C0392B"/>
                </a:solidFill>
                <a:latin typeface="맑은 고딕"/>
              </a:rPr>
              <a:t>•  DBA/ALL_DIRECTORIES: 디렉터리 객체 이름과 실제 OS 경로</a:t>
            </a:r>
          </a:p>
          <a:p>
            <a:pPr/>
            <a:r>
              <a:rPr sz="1800" b="0">
                <a:solidFill>
                  <a:srgbClr val="C0392B"/>
                </a:solidFill>
                <a:latin typeface="맑은 고딕"/>
              </a:rPr>
              <a:t>•  DBA/USER_TABLES: 컬럼 정의 등 공통 테이블 정보</a:t>
            </a:r>
          </a:p>
          <a:p>
            <a:pPr/>
            <a:r>
              <a:rPr sz="1800" b="0">
                <a:solidFill>
                  <a:srgbClr val="C0392B"/>
                </a:solidFill>
                <a:latin typeface="맑은 고딕"/>
              </a:rPr>
              <a:t>•  멀티테넌트: CDB_EXTERNAL_TABLES(CON_ID 포함)</a:t>
            </a:r>
          </a:p>
          <a:p>
            <a:pPr lvl="1"/>
            <a:r>
              <a:rPr sz="1500" b="0">
                <a:solidFill>
                  <a:srgbClr val="5A6672"/>
                </a:solidFill>
                <a:latin typeface="맑은 고딕"/>
              </a:rPr>
              <a:t>     –  세 뷰(TABLES+LOCATIONS+DIRECTORIES)를 조합하면 전체 그림</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31520"/>
          </a:xfrm>
          <a:prstGeom prst="rect">
            <a:avLst/>
          </a:prstGeom>
          <a:noFill/>
        </p:spPr>
        <p:txBody>
          <a:bodyPr wrap="square" anchor="ctr">
            <a:spAutoFit/>
          </a:bodyPr>
          <a:lstStyle/>
          <a:p>
            <a:pPr/>
            <a:r>
              <a:rPr sz="2600" b="1">
                <a:solidFill>
                  <a:srgbClr val="FFFFFF"/>
                </a:solidFill>
                <a:latin typeface="맑은 고딕"/>
              </a:rPr>
              <a:t>외부 테이블 정보 조회 SQL</a:t>
            </a:r>
          </a:p>
        </p:txBody>
      </p:sp>
      <p:sp>
        <p:nvSpPr>
          <p:cNvPr id="4" name="TextBox 3"/>
          <p:cNvSpPr txBox="1"/>
          <p:nvPr/>
        </p:nvSpPr>
        <p:spPr>
          <a:xfrm>
            <a:off x="640080" y="1097280"/>
            <a:ext cx="10881360" cy="457200"/>
          </a:xfrm>
          <a:prstGeom prst="rect">
            <a:avLst/>
          </a:prstGeom>
          <a:noFill/>
        </p:spPr>
        <p:txBody>
          <a:bodyPr wrap="square" anchor="t">
            <a:spAutoFit/>
          </a:bodyPr>
          <a:lstStyle/>
          <a:p>
            <a:pPr/>
            <a:r>
              <a:rPr sz="1500" b="0">
                <a:solidFill>
                  <a:srgbClr val="5A6672"/>
                </a:solidFill>
                <a:latin typeface="맑은 고딕"/>
              </a:rPr>
              <a:t>정의 · 파일 · 경로</a:t>
            </a:r>
          </a:p>
        </p:txBody>
      </p:sp>
      <p:sp>
        <p:nvSpPr>
          <p:cNvPr id="5" name="Rectangle 4"/>
          <p:cNvSpPr/>
          <p:nvPr/>
        </p:nvSpPr>
        <p:spPr>
          <a:xfrm>
            <a:off x="640080" y="1645920"/>
            <a:ext cx="10881360" cy="4754880"/>
          </a:xfrm>
          <a:prstGeom prst="rect">
            <a:avLst/>
          </a:prstGeom>
          <a:solidFill>
            <a:srgbClr val="1E1E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68680" y="1828800"/>
            <a:ext cx="10424160" cy="4389120"/>
          </a:xfrm>
          <a:prstGeom prst="rect">
            <a:avLst/>
          </a:prstGeom>
          <a:noFill/>
        </p:spPr>
        <p:txBody>
          <a:bodyPr wrap="square" anchor="t">
            <a:spAutoFit/>
          </a:bodyPr>
          <a:lstStyle/>
          <a:p>
            <a:pPr/>
            <a:r>
              <a:rPr sz="1250" b="0">
                <a:solidFill>
                  <a:srgbClr val="7EC699"/>
                </a:solidFill>
                <a:latin typeface="Consolas"/>
              </a:rPr>
              <a:t>-- 외부 테이블 정의 확인</a:t>
            </a:r>
          </a:p>
          <a:p>
            <a:pPr/>
            <a:r>
              <a:rPr sz="1250" b="0">
                <a:solidFill>
                  <a:srgbClr val="E6E6E6"/>
                </a:solidFill>
                <a:latin typeface="Consolas"/>
              </a:rPr>
              <a:t>SELECT table_name, type_name, default_directory_name,</a:t>
            </a:r>
          </a:p>
          <a:p>
            <a:pPr/>
            <a:r>
              <a:rPr sz="1250" b="0">
                <a:solidFill>
                  <a:srgbClr val="E6E6E6"/>
                </a:solidFill>
                <a:latin typeface="Consolas"/>
              </a:rPr>
              <a:t>       reject_limit, access_parameters</a:t>
            </a:r>
          </a:p>
          <a:p>
            <a:pPr/>
            <a:r>
              <a:rPr sz="1250" b="0">
                <a:solidFill>
                  <a:srgbClr val="E6E6E6"/>
                </a:solidFill>
                <a:latin typeface="Consolas"/>
              </a:rPr>
              <a:t>FROM   user_external_tables;</a:t>
            </a:r>
          </a:p>
          <a:p>
            <a:pPr/>
            <a:r>
              <a:rPr sz="1250" b="0">
                <a:solidFill>
                  <a:srgbClr val="E6E6E6"/>
                </a:solidFill>
                <a:latin typeface="Consolas"/>
              </a:rPr>
              <a:t> </a:t>
            </a:r>
          </a:p>
          <a:p>
            <a:pPr/>
            <a:r>
              <a:rPr sz="1250" b="0">
                <a:solidFill>
                  <a:srgbClr val="7EC699"/>
                </a:solidFill>
                <a:latin typeface="Consolas"/>
              </a:rPr>
              <a:t>-- 외부 테이블이 읽는 파일 목록</a:t>
            </a:r>
          </a:p>
          <a:p>
            <a:pPr/>
            <a:r>
              <a:rPr sz="1250" b="0">
                <a:solidFill>
                  <a:srgbClr val="E6E6E6"/>
                </a:solidFill>
                <a:latin typeface="Consolas"/>
              </a:rPr>
              <a:t>SELECT table_name, directory_name, location</a:t>
            </a:r>
          </a:p>
          <a:p>
            <a:pPr/>
            <a:r>
              <a:rPr sz="1250" b="0">
                <a:solidFill>
                  <a:srgbClr val="E6E6E6"/>
                </a:solidFill>
                <a:latin typeface="Consolas"/>
              </a:rPr>
              <a:t>FROM   user_external_locations ORDER BY table_name;</a:t>
            </a:r>
          </a:p>
          <a:p>
            <a:pPr/>
            <a:r>
              <a:rPr sz="1250" b="0">
                <a:solidFill>
                  <a:srgbClr val="E6E6E6"/>
                </a:solidFill>
                <a:latin typeface="Consolas"/>
              </a:rPr>
              <a:t> </a:t>
            </a:r>
          </a:p>
          <a:p>
            <a:pPr/>
            <a:r>
              <a:rPr sz="1250" b="0">
                <a:solidFill>
                  <a:srgbClr val="7EC699"/>
                </a:solidFill>
                <a:latin typeface="Consolas"/>
              </a:rPr>
              <a:t>-- 디렉터리 객체의 실제 OS 경로</a:t>
            </a:r>
          </a:p>
          <a:p>
            <a:pPr/>
            <a:r>
              <a:rPr sz="1250" b="0">
                <a:solidFill>
                  <a:srgbClr val="E6E6E6"/>
                </a:solidFill>
                <a:latin typeface="Consolas"/>
              </a:rPr>
              <a:t>SELECT directory_name, directory_path</a:t>
            </a:r>
          </a:p>
          <a:p>
            <a:pPr/>
            <a:r>
              <a:rPr sz="1250" b="0">
                <a:solidFill>
                  <a:srgbClr val="E6E6E6"/>
                </a:solidFill>
                <a:latin typeface="Consolas"/>
              </a:rPr>
              <a:t>FROM   dba_directories WHERE directory_name = 'DATA_DIR';</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2011680"/>
            <a:ext cx="10515600" cy="1097280"/>
          </a:xfrm>
          <a:prstGeom prst="rect">
            <a:avLst/>
          </a:prstGeom>
          <a:noFill/>
        </p:spPr>
        <p:txBody>
          <a:bodyPr wrap="square" anchor="t">
            <a:spAutoFit/>
          </a:bodyPr>
          <a:lstStyle/>
          <a:p>
            <a:pPr/>
            <a:r>
              <a:rPr sz="4000" b="1">
                <a:solidFill>
                  <a:srgbClr val="FFFFFF"/>
                </a:solidFill>
                <a:latin typeface="맑은 고딕"/>
              </a:rPr>
              <a:t>Quiz</a:t>
            </a:r>
          </a:p>
        </p:txBody>
      </p:sp>
      <p:sp>
        <p:nvSpPr>
          <p:cNvPr id="4" name="TextBox 3"/>
          <p:cNvSpPr txBox="1"/>
          <p:nvPr/>
        </p:nvSpPr>
        <p:spPr>
          <a:xfrm>
            <a:off x="822960" y="3017520"/>
            <a:ext cx="10515600" cy="914400"/>
          </a:xfrm>
          <a:prstGeom prst="rect">
            <a:avLst/>
          </a:prstGeom>
          <a:noFill/>
        </p:spPr>
        <p:txBody>
          <a:bodyPr wrap="square" anchor="t">
            <a:spAutoFit/>
          </a:bodyPr>
          <a:lstStyle/>
          <a:p>
            <a:pPr/>
            <a:r>
              <a:rPr sz="2800" b="0">
                <a:solidFill>
                  <a:srgbClr val="FFFFFF"/>
                </a:solidFill>
                <a:latin typeface="맑은 고딕"/>
              </a:rPr>
              <a:t>이해도 점검</a:t>
            </a:r>
          </a:p>
        </p:txBody>
      </p:sp>
      <p:sp>
        <p:nvSpPr>
          <p:cNvPr id="5" name="Rectangle 4"/>
          <p:cNvSpPr/>
          <p:nvPr/>
        </p:nvSpPr>
        <p:spPr>
          <a:xfrm>
            <a:off x="822960" y="4114800"/>
            <a:ext cx="5486400" cy="5486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22960" y="4297680"/>
            <a:ext cx="10058400" cy="1828800"/>
          </a:xfrm>
          <a:prstGeom prst="rect">
            <a:avLst/>
          </a:prstGeom>
          <a:noFill/>
        </p:spPr>
        <p:txBody>
          <a:bodyPr wrap="square" anchor="t">
            <a:spAutoFit/>
          </a:bodyPr>
          <a:lstStyle/>
          <a:p>
            <a:pPr/>
            <a:r>
              <a:rPr sz="1600" b="0">
                <a:solidFill>
                  <a:srgbClr val="FFFFFF"/>
                </a:solidFill>
                <a:latin typeface="맑은 고딕"/>
              </a:rPr>
              <a:t>•  6문항</a:t>
            </a:r>
          </a:p>
          <a:p>
            <a:pPr/>
            <a:r>
              <a:rPr sz="1600" b="0">
                <a:solidFill>
                  <a:srgbClr val="FFFFFF"/>
                </a:solidFill>
                <a:latin typeface="맑은 고딕"/>
              </a:rPr>
              <a:t>•  정답은 노트 참고</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31520"/>
          </a:xfrm>
          <a:prstGeom prst="rect">
            <a:avLst/>
          </a:prstGeom>
          <a:noFill/>
        </p:spPr>
        <p:txBody>
          <a:bodyPr wrap="square" anchor="ctr">
            <a:spAutoFit/>
          </a:bodyPr>
          <a:lstStyle/>
          <a:p>
            <a:pPr/>
            <a:r>
              <a:rPr sz="2600" b="1">
                <a:solidFill>
                  <a:srgbClr val="FFFFFF"/>
                </a:solidFill>
                <a:latin typeface="맑은 고딕"/>
              </a:rPr>
              <a:t>퀴즈 Q1 ~ Q3</a:t>
            </a:r>
          </a:p>
        </p:txBody>
      </p:sp>
      <p:sp>
        <p:nvSpPr>
          <p:cNvPr id="4" name="TextBox 3"/>
          <p:cNvSpPr txBox="1"/>
          <p:nvPr/>
        </p:nvSpPr>
        <p:spPr>
          <a:xfrm>
            <a:off x="640080" y="1097280"/>
            <a:ext cx="10881360" cy="457200"/>
          </a:xfrm>
          <a:prstGeom prst="rect">
            <a:avLst/>
          </a:prstGeom>
          <a:noFill/>
        </p:spPr>
        <p:txBody>
          <a:bodyPr wrap="square" anchor="t">
            <a:spAutoFit/>
          </a:bodyPr>
          <a:lstStyle/>
          <a:p>
            <a:pPr/>
            <a:r>
              <a:rPr sz="1500" b="0">
                <a:solidFill>
                  <a:srgbClr val="5A6672"/>
                </a:solidFill>
                <a:latin typeface="맑은 고딕"/>
              </a:rPr>
              <a:t>개념 점검</a:t>
            </a:r>
          </a:p>
        </p:txBody>
      </p:sp>
      <p:sp>
        <p:nvSpPr>
          <p:cNvPr id="5" name="TextBox 4"/>
          <p:cNvSpPr txBox="1"/>
          <p:nvPr/>
        </p:nvSpPr>
        <p:spPr>
          <a:xfrm>
            <a:off x="640080" y="1737360"/>
            <a:ext cx="10881360" cy="4572000"/>
          </a:xfrm>
          <a:prstGeom prst="rect">
            <a:avLst/>
          </a:prstGeom>
          <a:noFill/>
        </p:spPr>
        <p:txBody>
          <a:bodyPr wrap="square" anchor="t">
            <a:spAutoFit/>
          </a:bodyPr>
          <a:lstStyle/>
          <a:p>
            <a:pPr/>
            <a:r>
              <a:rPr sz="1800" b="0">
                <a:solidFill>
                  <a:srgbClr val="C0392B"/>
                </a:solidFill>
                <a:latin typeface="맑은 고딕"/>
              </a:rPr>
              <a:t>•  Q1. 외부 테이블의 실제 데이터가 저장되는 위치는?</a:t>
            </a:r>
          </a:p>
          <a:p>
            <a:pPr lvl="1"/>
            <a:r>
              <a:rPr sz="1500" b="0">
                <a:solidFill>
                  <a:srgbClr val="5A6672"/>
                </a:solidFill>
                <a:latin typeface="맑은 고딕"/>
              </a:rPr>
              <a:t>     –  (내부 세그먼트 / OS 파일 / 리두 로그 / 언두)</a:t>
            </a:r>
          </a:p>
          <a:p>
            <a:pPr/>
            <a:r>
              <a:rPr sz="1800" b="0">
                <a:solidFill>
                  <a:srgbClr val="C0392B"/>
                </a:solidFill>
                <a:latin typeface="맑은 고딕"/>
              </a:rPr>
              <a:t>•  Q2. 텍스트 CSV를 읽기 전용으로 다루는 액세스 드라이버 이름은?</a:t>
            </a:r>
          </a:p>
          <a:p>
            <a:pPr/>
            <a:r>
              <a:rPr sz="1800" b="0">
                <a:solidFill>
                  <a:srgbClr val="C0392B"/>
                </a:solidFill>
                <a:latin typeface="맑은 고딕"/>
              </a:rPr>
              <a:t>•  Q3. 데이터를 이진 덤프로 언로드하고 다시 로드할 수 있는 드라이버 이름은?</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31520"/>
          </a:xfrm>
          <a:prstGeom prst="rect">
            <a:avLst/>
          </a:prstGeom>
          <a:noFill/>
        </p:spPr>
        <p:txBody>
          <a:bodyPr wrap="square" anchor="ctr">
            <a:spAutoFit/>
          </a:bodyPr>
          <a:lstStyle/>
          <a:p>
            <a:pPr/>
            <a:r>
              <a:rPr sz="2600" b="1">
                <a:solidFill>
                  <a:srgbClr val="FFFFFF"/>
                </a:solidFill>
                <a:latin typeface="맑은 고딕"/>
              </a:rPr>
              <a:t>퀴즈 Q4 ~ Q6</a:t>
            </a:r>
          </a:p>
        </p:txBody>
      </p:sp>
      <p:sp>
        <p:nvSpPr>
          <p:cNvPr id="4" name="TextBox 3"/>
          <p:cNvSpPr txBox="1"/>
          <p:nvPr/>
        </p:nvSpPr>
        <p:spPr>
          <a:xfrm>
            <a:off x="640080" y="1097280"/>
            <a:ext cx="10881360" cy="457200"/>
          </a:xfrm>
          <a:prstGeom prst="rect">
            <a:avLst/>
          </a:prstGeom>
          <a:noFill/>
        </p:spPr>
        <p:txBody>
          <a:bodyPr wrap="square" anchor="t">
            <a:spAutoFit/>
          </a:bodyPr>
          <a:lstStyle/>
          <a:p>
            <a:pPr/>
            <a:r>
              <a:rPr sz="1500" b="0">
                <a:solidFill>
                  <a:srgbClr val="5A6672"/>
                </a:solidFill>
                <a:latin typeface="맑은 고딕"/>
              </a:rPr>
              <a:t>구문·옵션 점검</a:t>
            </a:r>
          </a:p>
        </p:txBody>
      </p:sp>
      <p:sp>
        <p:nvSpPr>
          <p:cNvPr id="5" name="TextBox 4"/>
          <p:cNvSpPr txBox="1"/>
          <p:nvPr/>
        </p:nvSpPr>
        <p:spPr>
          <a:xfrm>
            <a:off x="640080" y="1737360"/>
            <a:ext cx="10881360" cy="4572000"/>
          </a:xfrm>
          <a:prstGeom prst="rect">
            <a:avLst/>
          </a:prstGeom>
          <a:noFill/>
        </p:spPr>
        <p:txBody>
          <a:bodyPr wrap="square" anchor="t">
            <a:spAutoFit/>
          </a:bodyPr>
          <a:lstStyle/>
          <a:p>
            <a:pPr/>
            <a:r>
              <a:rPr sz="1800" b="0">
                <a:solidFill>
                  <a:srgbClr val="C0392B"/>
                </a:solidFill>
                <a:latin typeface="맑은 고딕"/>
              </a:rPr>
              <a:t>•  Q4. 외부 테이블에 INSERT를 시도하면 발생하는 대표 오류 번호는?</a:t>
            </a:r>
          </a:p>
          <a:p>
            <a:pPr/>
            <a:r>
              <a:rPr sz="1800" b="0">
                <a:solidFill>
                  <a:srgbClr val="C0392B"/>
                </a:solidFill>
                <a:latin typeface="맑은 고딕"/>
              </a:rPr>
              <a:t>•  Q5. 거부 레코드 허용 한도를 무제한으로 두는 절은?</a:t>
            </a:r>
          </a:p>
          <a:p>
            <a:pPr/>
            <a:r>
              <a:rPr sz="1800" b="0">
                <a:solidFill>
                  <a:srgbClr val="C0392B"/>
                </a:solidFill>
                <a:latin typeface="맑은 고딕"/>
              </a:rPr>
              <a:t>•  Q6. 참조된 컬럼만 파싱하게 하는 PROJECT COLUMN 값은?</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31520"/>
          </a:xfrm>
          <a:prstGeom prst="rect">
            <a:avLst/>
          </a:prstGeom>
          <a:noFill/>
        </p:spPr>
        <p:txBody>
          <a:bodyPr wrap="square" anchor="ctr">
            <a:spAutoFit/>
          </a:bodyPr>
          <a:lstStyle/>
          <a:p>
            <a:pPr/>
            <a:r>
              <a:rPr sz="2600" b="1">
                <a:solidFill>
                  <a:srgbClr val="FFFFFF"/>
                </a:solidFill>
                <a:latin typeface="맑은 고딕"/>
              </a:rPr>
              <a:t>요약 (Summary)</a:t>
            </a:r>
          </a:p>
        </p:txBody>
      </p:sp>
      <p:sp>
        <p:nvSpPr>
          <p:cNvPr id="4" name="TextBox 3"/>
          <p:cNvSpPr txBox="1"/>
          <p:nvPr/>
        </p:nvSpPr>
        <p:spPr>
          <a:xfrm>
            <a:off x="640080" y="1463040"/>
            <a:ext cx="10881360" cy="4937760"/>
          </a:xfrm>
          <a:prstGeom prst="rect">
            <a:avLst/>
          </a:prstGeom>
          <a:noFill/>
        </p:spPr>
        <p:txBody>
          <a:bodyPr wrap="square" anchor="t">
            <a:spAutoFit/>
          </a:bodyPr>
          <a:lstStyle/>
          <a:p>
            <a:pPr/>
            <a:r>
              <a:rPr sz="1600" b="0">
                <a:solidFill>
                  <a:srgbClr val="C0392B"/>
                </a:solidFill>
                <a:latin typeface="맑은 고딕"/>
              </a:rPr>
              <a:t>•  외부 테이블은 OS 파일을 테이블처럼 SELECT — 데이터는 파일에, 메타데이터만 DB에</a:t>
            </a:r>
          </a:p>
          <a:p>
            <a:pPr/>
            <a:r>
              <a:rPr sz="1600" b="0">
                <a:solidFill>
                  <a:srgbClr val="C0392B"/>
                </a:solidFill>
                <a:latin typeface="맑은 고딕"/>
              </a:rPr>
              <a:t>•  ORGANIZATION EXTERNAL: TYPE·DEFAULT DIRECTORY·ACCESS PARAMETERS·LOCATION·REJECT LIMIT</a:t>
            </a:r>
          </a:p>
          <a:p>
            <a:pPr/>
            <a:r>
              <a:rPr sz="1600" b="0">
                <a:solidFill>
                  <a:srgbClr val="C0392B"/>
                </a:solidFill>
                <a:latin typeface="맑은 고딕"/>
              </a:rPr>
              <a:t>•  액세스 드라이버 — ORACLE_LOADER(텍스트/읽기), ORACLE_DATAPUMP(이진/읽기+쓰기)</a:t>
            </a:r>
          </a:p>
          <a:p>
            <a:pPr/>
            <a:r>
              <a:rPr sz="1600" b="0">
                <a:solidFill>
                  <a:srgbClr val="C0392B"/>
                </a:solidFill>
                <a:latin typeface="맑은 고딕"/>
              </a:rPr>
              <a:t>•  ORACLE_DATAPUMP: CTAS 언로드 → 파일 이동 → 재적재 = 플랫폼 독립 전송</a:t>
            </a:r>
          </a:p>
          <a:p>
            <a:pPr/>
            <a:r>
              <a:rPr sz="1600" b="0">
                <a:solidFill>
                  <a:srgbClr val="C0392B"/>
                </a:solidFill>
                <a:latin typeface="맑은 고딕"/>
              </a:rPr>
              <a:t>•  SQL*Loader 대비 이점: SQL 기능·변환 내장·병렬 / 제약: DML·인덱스 불가, 읽기 전용</a:t>
            </a:r>
          </a:p>
          <a:p>
            <a:pPr/>
            <a:r>
              <a:rPr sz="1600" b="0">
                <a:solidFill>
                  <a:srgbClr val="C0392B"/>
                </a:solidFill>
                <a:latin typeface="맑은 고딕"/>
              </a:rPr>
              <a:t>•  REJECT LIMIT(거부 한도) · PROJECT COLUMN(REFERENCED/ALL)</a:t>
            </a:r>
          </a:p>
          <a:p>
            <a:pPr/>
            <a:r>
              <a:rPr sz="1600" b="0">
                <a:solidFill>
                  <a:srgbClr val="C0392B"/>
                </a:solidFill>
                <a:latin typeface="맑은 고딕"/>
              </a:rPr>
              <a:t>•  USER/ALL/DBA_EXTERNAL_TABLES · EXTERNAL_LOCATIONS · DIRECTORIES로 조회</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31520"/>
          </a:xfrm>
          <a:prstGeom prst="rect">
            <a:avLst/>
          </a:prstGeom>
          <a:noFill/>
        </p:spPr>
        <p:txBody>
          <a:bodyPr wrap="square" anchor="ctr">
            <a:spAutoFit/>
          </a:bodyPr>
          <a:lstStyle/>
          <a:p>
            <a:pPr/>
            <a:r>
              <a:rPr sz="2600" b="1">
                <a:solidFill>
                  <a:srgbClr val="FFFFFF"/>
                </a:solidFill>
                <a:latin typeface="맑은 고딕"/>
              </a:rPr>
              <a:t>실습 28 개요 (4개 트랜스크립트)</a:t>
            </a:r>
          </a:p>
        </p:txBody>
      </p:sp>
      <p:sp>
        <p:nvSpPr>
          <p:cNvPr id="4" name="TextBox 3"/>
          <p:cNvSpPr txBox="1"/>
          <p:nvPr/>
        </p:nvSpPr>
        <p:spPr>
          <a:xfrm>
            <a:off x="640080" y="1463040"/>
            <a:ext cx="10881360" cy="4937760"/>
          </a:xfrm>
          <a:prstGeom prst="rect">
            <a:avLst/>
          </a:prstGeom>
          <a:noFill/>
        </p:spPr>
        <p:txBody>
          <a:bodyPr wrap="square" anchor="t">
            <a:spAutoFit/>
          </a:bodyPr>
          <a:lstStyle/>
          <a:p>
            <a:pPr/>
            <a:r>
              <a:rPr sz="1600" b="0">
                <a:solidFill>
                  <a:srgbClr val="C0392B"/>
                </a:solidFill>
                <a:latin typeface="맑은 고딕"/>
              </a:rPr>
              <a:t>•  실습 01 — 외부 테이블(External Table) 생성 개념 확인</a:t>
            </a:r>
          </a:p>
          <a:p>
            <a:pPr/>
            <a:r>
              <a:rPr sz="1600" b="0">
                <a:solidFill>
                  <a:srgbClr val="C0392B"/>
                </a:solidFill>
                <a:latin typeface="맑은 고딕"/>
              </a:rPr>
              <a:t>•  실습 02 — ORACLE_LOADER 액세스 드라이버로 외부 테이블 생성</a:t>
            </a:r>
          </a:p>
          <a:p>
            <a:pPr/>
            <a:r>
              <a:rPr sz="1600" b="0">
                <a:solidFill>
                  <a:srgbClr val="C0392B"/>
                </a:solidFill>
                <a:latin typeface="맑은 고딕"/>
              </a:rPr>
              <a:t>•  실습 03 — ORACLE_DATAPUMP 액세스 드라이버로 외부 테이블 생성/전송</a:t>
            </a:r>
          </a:p>
          <a:p>
            <a:pPr/>
            <a:r>
              <a:rPr sz="1600" b="0">
                <a:solidFill>
                  <a:srgbClr val="C0392B"/>
                </a:solidFill>
                <a:latin typeface="맑은 고딕"/>
              </a:rPr>
              <a:t>•  실습 04 — 외부 테이블 정보 조회(딕셔너리 뷰)</a:t>
            </a:r>
          </a:p>
          <a:p>
            <a:pPr/>
            <a:r>
              <a:rPr sz="1600" b="0">
                <a:solidFill>
                  <a:srgbClr val="C0392B"/>
                </a:solidFill>
                <a:latin typeface="맑은 고딕"/>
              </a:rPr>
              <a:t>•  각 실습은 SQL*Plus 세션 로그 형식, '오류 → 원인 → 수정' 흐름 포함</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
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언두는 데이터 변경을 되돌리는 데 필요한 변경 전 값이다. 모든 DML은 변경 전 이미지를 언두에 먼저 저장한 뒤 데이터 블록을 바꾸고 그 변경을 리두에 기록한다. 언두는 롤백·읽기 일관성·인스턴스 복구·Flashback이라는 네 용도의 공통 자원이므로 언두 크기와 보존 정책이 이 모두의 성패를 좌우한다. 너무 작으면 ORA-01555나 ORA-30036이 발생한다.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언두의 네 용도를 명확히 구분하는 것이 핵심이다. 롤백은 미완료 변경을 되돌리고, 읽기 일관성은 쿼리 시작 SCN 시점의 이미지를 언두로 재구성해 MVCC를 구현한다. 복구는 리두로 재적용한 뒤 언두로 미커밋 트랜잭션을 롤백해 완성된다. Flashback은 언두의 과거 이미지를 이용한다. 네 가지가 하나의 언두 자원을 공유하므로 보존 정책이 모두에 영향을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트랜잭션이 시작되면 언두 세그먼트가 할당되고 변경마다 변경 전 값이 기록된다. 커밋 후에도 언두는 UNDO_RETENTION 기간 동안 읽기 일관성을 위해 보존된다. 롤백은 변경 전 값을 역순으로 적용하므로 대용량일수록 오래 걸린다. 언두 세그먼트도 DB의 일부라 언두 변경 역시 리두로 보호되어, 장애 복구 시 언두까지 재구성할 수 있다. V$TRANSACTION으로 트랜잭션별 언두 사용량을 추적한다.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언두는 전용 언두 테이블스페이스에 저장되며 사용자 객체를 둘 수 없다. UNDO_TABLESPACE로 사용할 언두 TS를 지정한다. 자동 언두 관리(AUM)는 언두 세그먼트를 자동으로 생성·튜닝하므로 DBA가 수동으로 롤백 세그먼트를 만들 필요가 없다. 12c부터 수동 모드는 미지원이다. 다만 DBA는 V$UNDOSTAT을 보며 크기와 보존 정책이라는 용량 계획은 직접 판단해야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PARAMETER undo로 언두 관리 설정을 한눈에 본다. undo_management=AUTO이고 undo_tablespace가 지정되어 있으면 자동 언두 관리가 동작 중이다. dba_tablespaces에서 contents=UNDO로 언두 테이블스페이스를 확인하고, dba_rollback_segs로 자동 생성된 언두 세그먼트를 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언두와 리두는 서로 다른 방향의 시간 여행이다. 리두는 장애 직전까지 커밋 상태로 재생(roll forward)하고, 언두는 미커밋 변경을 지우거나 과거 이미지를 재구성(roll back)한다. 저장 위치도 목적도 다르며, 인스턴스 복구는 리두 재적용 후 언두 롤백으로 완성된다. 언두 변경 자체도 리두로 보호되어 어떤 장애에서도 트랜잭션 일관성을 재구성할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세션1의 미커밋 변경은 세션2에게 보이지 않으며, 세션2는 언두로 재구성된 변경 전 값을 읽는다(읽기 일관성). 세션1이 ROLLBACK하면 언두로 원래 값이 복원된다. 이미 COMMIT한 뒤에는 ROLLBACK이 아무 효과가 없다는 점도 함께 보여 준다. 언두의 롤백과 읽기 일관성 두 용도를 한 번에 확인하는 데모다.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UNDO_MANAGEMENT는 AUTO가 기본이자 유일 지원값이며 정적 파라미터다. UNDO_TABLESPACE는 사용할 언두 TS를 지정하며 ALTER SYSTEM으로 온라인 전환할 수 있고, 전환 후 기존 TS는 활성 트랜잭션이 끝날 때까지 PENDING OFFLINE 상태다. UNDO_RETENTION은 커밋 언두의 최소 보존 시간(초)으로 동적 파라미터다. 자동확장 TS에서는 하한 목표, 고정 크기에서는 공간에 맞춰 자동 튜닝된다.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UNDO_RETENTION은 동적 파라미터라 ALTER SYSTEM SCOPE=BOTH로 즉시 반영과 SPFILE 기록을 동시에 한다. UNDO_MANAGEMENT를 MANUAL로 바꾸는 것은 12c 이후 권장되지 않으며 실수로 SPFILE에 넣고 재기동하면 문제가 되므로 AUTO를 유지한다.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모드에서는 CDB 루트의 단일 언두 TS를 모든 PDB가 공유해 구성은 단순하지만 격리가 약하다. LOCAL 모드에서는 각 PDB가 자체 언두 TS를 가져 언두 사용이 PDB별로 격리되고, PDB마다 크기·보존·GUARANTEE를 다르게 운영할 수 있다. 12.2에 도입되어 19c 기본값이다. DATABASE_PROPERTIES의 LOCAL_UNDO_ENABLED로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로컬 언두가 19c 표준이 된 결정적 이유는 15장의 고급 PDB 이동성 기능들이 로컬 언두를 요구하기 때문이다. hot clone, refreshable clone, near-zero downtime relocation은 각 PDB가 자체 언두를 가져야 소스와 타깃이 PDB 단위 시점 일관성을 독립적으로 유지할 수 있다. 공유 언두로는 이런 독립 일관성을 보장하기 어렵다. 그래서 19c는 로컬 언두를 기본으로 삼는다.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LOCAL_UNDO_ENABLED가 TRUE이면 로컬 언두 모드다. cdb_tablespaces를 con_id와 함께 조회하면 각 PDB가 자신의 언두 테이블스페이스를 가진 것을 확인할 수 있다. SHARED에서 LOCAL로 전환하려면 CDB를 UPGRADE 모드로 재기동 후 ALTER DATABASE LOCAL UNDO ON을 실행한다.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UNDO TABLESPACE로 원하는 크기의 새 언두 TS를 만들고 ALTER SYSTEM SET UNDO_TABLESPACE로 전환한다. 전환 직후 기존 TS는 활성 트랜잭션이 끝날 때까지 PENDING OFFLINE 상태라 바로 DROP하면 ORA-30013이 난다. 활성 트랜잭션이 모두 종료된 뒤 DROP하면 정상 삭제된다. 고정 크기 전환의 가장 깔끔한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UNDO_RETENTION은 커밋 언두의 최소 보존 시간이다. 자동확장 TS에서는 하한 목표로 필요하면 파일을 확장해 보존한다. 고정 크기에서는 공간에 맞춰 실제 보존 기간이 자동 조정된다. 값을 키운다고 보존이 보장되는 것은 아니며, 진짜 강제하려면 RETENTION GUARANTEE가 필요하다. V$UNDOSTAT의 MAXQUERYLEN으로 가장 긴 쿼리 길이를 확인해 값을 산정한다.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V$UNDOSTAT은 10분 간격 언두 통계를 담는다. TUNED_UNDORETENTION은 실제 적용된 보존 기간, MAXQUERYLEN은 가장 긴 쿼리 길이(초), NOSPACEERRCNT는 언두 공간 부족 오류 횟수다. NOSPACEERRCNT가 0보다 크면 언두 TS 크기를 늘려야 한다는 신호다.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언두 공간은 세 범주로 나뉜다. Uncommitted(ACTIVE)는 활성 트랜잭션 언두로 절대 덮어쓸 수 없다. Committed(UNEXPIRED)는 커밋됐지만 보존 기간 내라 읽기 일관성을 위해 보존 중이다. Expired는 보존 기간이 지나 재사용 1순위다. 익스텐트는 ACTIVE→UNEXPIRED→EXPIRED로 전이하며 순환 재사용된다. 재사용은 Expired부터, 그다음 자동확장, 마지막에 Unexpired 순서다.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DBA_UNDO_EXTENTS의 STATUS로 언두 공간을 범주별로 집계한다. ACTIVE는 미커밋, UNEXPIRED는 커밋됐지만 보존 기간 내, EXPIRED는 재사용 가능한 만료 언두다. ACTIVE 비중이 크면 대용량 미완료 트랜잭션을, UNEXPIRED가 크면 긴 보존 기간을 의심한다.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UNDO_RETENTION은 최선 노력이라 공간 부족 시 unexpired 언두를 덮어써 ORA-01555를 유발할 수 있다. RETENTION GUARANTEE를 켜면 보존을 강제해 긴 쿼리와 Flashback을 보장하지만, 공간 부족 시 새 DML이 ORA-30036으로 실패할 수 있다. TS 단위 속성이므로 LOCAL 모드에서 특정 PDB에만 켤 수 있다. 반드시 충분한 공간이나 자동확장과 함께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 TABLESPACE ... RETENTION GUARANTEE로 보존을 강제하고, dba_tablespaces의 RETENTION 컬럼으로 GUARANTEE/NOGUARANTEE 상태를 확인한다. 일반 OLTP에서는 NOGUARANTEE(기본)를 유지하고, Flashback이나 규제 대응처럼 과거 이미지 보존이 필수인 경우에만 GUARANTEE를 켠다.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언두 관련 두 대표 오류를 구분해 대응한다. ORA-01555는 조회가 참조할 과거 언두가 이미 덮어써졌을 때 발생하며 UNDO_RETENTION 증가, 언두 TS 확대, RETENTION GUARANTEE, 쿼리 단축으로 대응한다. ORA-30036은 활성 트랜잭션이 쓸 언두 공간 자체가 부족할 때 발생하며 언두 TS 확장이나 대용량 트랜잭션 분할 커밋으로 대응한다. V$UNDOSTAT의 NOSPACEERRCNT와 MAXQUERYLEN이 진단의 출발점이다.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언두 TS는 흔히 자동확장으로 두지만, 공간을 예측 가능하게 관리하려면 데이터 파일 AUTOEXTEND를 OFF로 해 고정 크기로 만든다. 고정 크기에서는 Oracle이 공간에 맞춰 실제 보존 기간을 자동 조정하며, DML 실패를 피하려 보통 NOGUARANTEE를 유지한다. 적정 크기는 Undo Advisor나 DBMS_UNDO_ADV.REQUIRED_UNDO_SIZE로 산정한다. 폭증 대비가 필요하면 자동확장 ON에 MAXSIZE 상한을 두는 절충도 흔하다.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DBMS_UNDO_ADV.REQUIRED_UNDO_SIZE(초)는 목표 보존 기간을 만족시키는 데 필요한 언두 크기를 MB로 반환한다. 이 값을 근거로 데이터 파일을 RESIZE한 뒤 AUTOEXTEND OFF로 고정 크기를 만든다. 산정은 대표 부하가 V$UNDOSTAT에 충분히 쌓인 뒤 실행해야 정확하다.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Temporary Undo는 12c 신기능으로, GTT 등 임시 객체 DML의 언두를 영구 언두 TS가 아니라 임시 TS에 저장한다. 기존에는 임시 데이터의 언두도 영구 언두 TS를 소비하고 리두를 생성해 부담이 됐다. GTT는 정의를 공유하되 데이터는 세션별로 격리되어 ETL·리포트 스테이징에 널리 쓰인다. 이런 임시 객체도 언두가 필요한데, 그 위치를 바꾸는 최적화가 Temporary Undo다.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Temporary Undo의 이점은 세 가지다. 첫째, 임시 작업이 영구 언두 TS를 부풀리지 않아 공간을 절약한다. 둘째, 임시 객체 언두가 리두로 보호되지 않아 리두 생성량이 줄고 LGWR 부하·아카이브 로그량이 감소한다. 셋째, 읽기 전용이나 Active Data Guard 대기 DB에서도 GTT를 쓸 수 있다. 혼동 주의: 임시 테이블의 데이터 자체는 원래부터 임시 TS에 저장되며, 바뀌는 것은 언두 위치와 리두 생성 여부다.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Temporary Undo는 TEMP_UNDO_ENABLED로 제어하며 기본값은 FALSE다. 세션 수준과 시스템 수준 모두에서 켤 수 있다. 단, 세션이 이미 임시 테이블을 사용한 후에는 그 세션에서 값을 바꿀 수 없으므로, 세션 수준으로 켜려면 임시 테이블 접근 전에 ALTER SESSION으로 설정해야 한다. 임시 TS 공간이 충분한지도 함께 점검한다.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 수준으로 켜려면 임시 테이블 접근 전에 ALTER SESSION SET TEMP_UNDO_ENABLED=TRUE를 실행한다. 이미 임시 테이블을 사용한 세션에서 값을 바꾸면 ORA-14453이 발생하므로 새 세션에서 설정해야 한다. 인스턴스 전역으로는 ALTER SYSTEM SCOPE=BOTH로 켠다.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임시 언두는 V$TEMP_UNDO_STAT으로 사용량·블록수·익스텐트를 모니터링한다. 리두 감소 효과는 V$SYSSTAT/V$SESSTAT의 redo size 통계를 활성화 전후로 비교해 정량화한다. 세션별 사용 여부는 V$SESSION으로, 임시 TS 사용량은 V$TEMPSEG_USAGE·DBA_TEMP_FREE_SPACE로 함께 본다. 임시 언두를 켜면 임시 TS 부담이 늘므로 부족 여부를 지속 점검한다.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V$TEMP_UNDO_STAT으로 임시 언두 사용 통계를 시간 구간별로 본다. 임시 언두 활성화 전후로 v$sysstat의 redo size를 비교하면 리두 감소 효과를 정량화할 수 있다. GTT를 많이 쓰는 배치에서는 리두 생성량과 아카이브 로그 스위치가 눈에 띄게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언두 관리에 쓰이는 주요 딕셔너리·동적 성능 뷰를 정리한다. V$UNDOSTAT은 사용량과 튜닝된 보존 기간, DBA_UNDO_EXTENTS는 범주별 공간, DBA_ROLLBACK_SEGS는 세그먼트 목록, DBA_TABLESPACES는 보존 보장 상태, V$TRANSACTION은 트랜잭션별 언두 소비를 보여 준다. 임시 언두는 V$TEMP_UNDO_STAT, 언두 모드는 DATABASE_PROPERTIES로 확인한다. 이 뷰들의 용도를 익혀 두면 언두 문제 진단이 빨라진다.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Q1은 언두와 리두의 역할 구분을 묻는다. 커밋된 변경의 재적용(roll forward)은 리두이고 언두는 미완료 트랜잭션 롤백이다. Q2는 로컬 언두 모드가 19c 기본인 이유가 고급 PDB 이동성 기능 때문임을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Q3은 UNDO_RETENTION이 최소 보존 목표(초)이자 동적 파라미터이며 최선 노력임을 확인한다. 실제 보존 강제는 RETENTION GUARANTEE가 담당한다. Q4는 언두 재사용 우선순위가 Expired부터임을 묻는다. 미커밋 활성 언두는 절대 덮어쓰지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Q5는 GUARANTEE의 트레이드오프를 묻는다. 보존을 강제하면 공간 부족 시 새 DML이 ORA-30036으로 실패할 수 있어 충분한 공간이나 자동확장이 필요하다. Q6은 Temporary Undo가 바꾸는 것이 언두 위치와 리두 생성 여부일 뿐 임시 테이블 데이터 위치는 원래부터 임시 TS임을 확인한다.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r>
              <a:rPr sz="1600" b="0">
                <a:solidFill>
                  <a:srgbClr val="FFFFFF"/>
                </a:solidFill>
                <a:latin typeface="Malgun Gothic"/>
                <a:ea typeface="Malgun Gothic"/>
              </a:rPr>
              <a:t>Oracle Database 19c Administration Workshop</a:t>
            </a:r>
          </a:p>
        </p:txBody>
      </p:sp>
      <p:sp>
        <p:nvSpPr>
          <p:cNvPr id="6" name="TextBox 5"/>
          <p:cNvSpPr txBox="1"/>
          <p:nvPr/>
        </p:nvSpPr>
        <p:spPr>
          <a:xfrm>
            <a:off x="731520" y="2468880"/>
            <a:ext cx="10698480" cy="1463040"/>
          </a:xfrm>
          <a:prstGeom prst="rect">
            <a:avLst/>
          </a:prstGeom>
          <a:noFill/>
        </p:spPr>
        <p:txBody>
          <a:bodyPr wrap="square" anchor="t">
            <a:spAutoFit/>
          </a:bodyPr>
          <a:lstStyle/>
          <a:p>
            <a:r>
              <a:rPr sz="4000" b="1">
                <a:solidFill>
                  <a:srgbClr val="C0392B"/>
                </a:solidFill>
                <a:latin typeface="Malgun Gothic"/>
                <a:ea typeface="Malgun Gothic"/>
              </a:rPr>
              <a:t>언두 데이터 관리</a:t>
            </a:r>
          </a:p>
          <a:p>
            <a:r>
              <a:rPr sz="2200" b="0">
                <a:solidFill>
                  <a:srgbClr val="5A6672"/>
                </a:solidFill>
                <a:latin typeface="Malgun Gothic"/>
                <a:ea typeface="Malgun Gothic"/>
              </a:rPr>
              <a:t>Managing Undo Data</a:t>
            </a:r>
          </a:p>
        </p:txBody>
      </p:sp>
      <p:sp>
        <p:nvSpPr>
          <p:cNvPr id="7" name="TextBox 6"/>
          <p:cNvSpPr txBox="1"/>
          <p:nvPr/>
        </p:nvSpPr>
        <p:spPr>
          <a:xfrm>
            <a:off x="731520" y="4114800"/>
            <a:ext cx="10698480" cy="1097280"/>
          </a:xfrm>
          <a:prstGeom prst="rect">
            <a:avLst/>
          </a:prstGeom>
          <a:noFill/>
        </p:spPr>
        <p:txBody>
          <a:bodyPr wrap="square" anchor="t">
            <a:spAutoFit/>
          </a:bodyPr>
          <a:lstStyle/>
          <a:p>
            <a:r>
              <a:rPr sz="1500" b="0">
                <a:solidFill>
                  <a:srgbClr val="5A6672"/>
                </a:solidFill>
                <a:latin typeface="Malgun Gothic"/>
                <a:ea typeface="Malgun Gothic"/>
              </a:rPr>
              <a:t>언두 개요 · 트랜잭션과 언두 · AUM · SHARED/LOCAL 모드 · 보존/보장 · 고정 크기 · Temporary Undo</a:t>
            </a:r>
          </a:p>
        </p:txBody>
      </p:sp>
      <p:sp>
        <p:nvSpPr>
          <p:cNvPr id="8" name="TextBox 7"/>
          <p:cNvSpPr txBox="1"/>
          <p:nvPr/>
        </p:nvSpPr>
        <p:spPr>
          <a:xfrm>
            <a:off x="731520" y="5577840"/>
            <a:ext cx="10698480" cy="914400"/>
          </a:xfrm>
          <a:prstGeom prst="rect">
            <a:avLst/>
          </a:prstGeom>
          <a:noFill/>
        </p:spPr>
        <p:txBody>
          <a:bodyPr wrap="square" anchor="ctr">
            <a:spAutoFit/>
          </a:bodyPr>
          <a:lstStyle/>
          <a:p>
            <a:r>
              <a:rPr sz="2000" b="1">
                <a:solidFill>
                  <a:srgbClr val="C0392B"/>
                </a:solidFill>
                <a:latin typeface="Malgun Gothic"/>
                <a:ea typeface="Malgun Gothic"/>
              </a:rPr>
              <a:t>제20장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학습 목표 (Objectives)</a:t>
            </a:r>
          </a:p>
        </p:txBody>
      </p:sp>
      <p:sp>
        <p:nvSpPr>
          <p:cNvPr id="4" name="TextBox 3"/>
          <p:cNvSpPr txBox="1"/>
          <p:nvPr/>
        </p:nvSpPr>
        <p:spPr>
          <a:xfrm>
            <a:off x="640080" y="1691640"/>
            <a:ext cx="10881360" cy="4572000"/>
          </a:xfrm>
          <a:prstGeom prst="rect">
            <a:avLst/>
          </a:prstGeom>
          <a:noFill/>
        </p:spPr>
        <p:txBody>
          <a:bodyPr wrap="square" anchor="t">
            <a:spAutoFit/>
          </a:bodyPr>
          <a:lstStyle/>
          <a:p>
            <a:pPr>
              <a:spcAft>
                <a:spcPts val="1000"/>
              </a:spcAft>
            </a:pPr>
            <a:r>
              <a:rPr sz="1600" b="0">
                <a:solidFill>
                  <a:srgbClr val="C0392B"/>
                </a:solidFill>
                <a:latin typeface="Malgun Gothic"/>
                <a:ea typeface="Malgun Gothic"/>
              </a:rPr>
              <a:t>•  언두 데이터의 개념과 네 가지 용도(롤백·읽기 일관성·복구·Flashback)를 설명한다</a:t>
            </a:r>
          </a:p>
          <a:p>
            <a:pPr>
              <a:spcAft>
                <a:spcPts val="1000"/>
              </a:spcAft>
            </a:pPr>
            <a:r>
              <a:rPr sz="1600" b="0">
                <a:solidFill>
                  <a:srgbClr val="C0392B"/>
                </a:solidFill>
                <a:latin typeface="Malgun Gothic"/>
                <a:ea typeface="Malgun Gothic"/>
              </a:rPr>
              <a:t>•  트랜잭션 생애주기 속 언두의 생성·보존·재사용을 이해한다</a:t>
            </a:r>
          </a:p>
          <a:p>
            <a:pPr>
              <a:spcAft>
                <a:spcPts val="1000"/>
              </a:spcAft>
            </a:pPr>
            <a:r>
              <a:rPr sz="1600" b="0">
                <a:solidFill>
                  <a:srgbClr val="C0392B"/>
                </a:solidFill>
                <a:latin typeface="Malgun Gothic"/>
                <a:ea typeface="Malgun Gothic"/>
              </a:rPr>
              <a:t>•  언두 테이블스페이스와 자동 언두 관리(AUM)의 동작을 설명한다</a:t>
            </a:r>
          </a:p>
          <a:p>
            <a:pPr>
              <a:spcAft>
                <a:spcPts val="1000"/>
              </a:spcAft>
            </a:pPr>
            <a:r>
              <a:rPr sz="1600" b="0">
                <a:solidFill>
                  <a:srgbClr val="C0392B"/>
                </a:solidFill>
                <a:latin typeface="Malgun Gothic"/>
                <a:ea typeface="Malgun Gothic"/>
              </a:rPr>
              <a:t>•  언두와 리두의 차이를 목적·저장 위치·복구 역할로 비교한다</a:t>
            </a:r>
          </a:p>
          <a:p>
            <a:pPr>
              <a:spcAft>
                <a:spcPts val="1000"/>
              </a:spcAft>
            </a:pPr>
            <a:r>
              <a:rPr sz="1600" b="0">
                <a:solidFill>
                  <a:srgbClr val="C0392B"/>
                </a:solidFill>
                <a:latin typeface="Malgun Gothic"/>
                <a:ea typeface="Malgun Gothic"/>
              </a:rPr>
              <a:t>•  UNDO_MANAGEMENT·UNDO_TABLESPACE·UNDO_RETENTION을 구성한다</a:t>
            </a:r>
          </a:p>
          <a:p>
            <a:pPr>
              <a:spcAft>
                <a:spcPts val="1000"/>
              </a:spcAft>
            </a:pPr>
            <a:r>
              <a:rPr sz="1600" b="0">
                <a:solidFill>
                  <a:srgbClr val="C0392B"/>
                </a:solidFill>
                <a:latin typeface="Malgun Gothic"/>
                <a:ea typeface="Malgun Gothic"/>
              </a:rPr>
              <a:t>•  SHARED와 LOCAL(19c 기본) 언두 모드를 비교하고 전환한다</a:t>
            </a:r>
          </a:p>
          <a:p>
            <a:pPr>
              <a:spcAft>
                <a:spcPts val="1000"/>
              </a:spcAft>
            </a:pPr>
            <a:r>
              <a:rPr sz="1600" b="0">
                <a:solidFill>
                  <a:srgbClr val="C0392B"/>
                </a:solidFill>
                <a:latin typeface="Malgun Gothic"/>
                <a:ea typeface="Malgun Gothic"/>
              </a:rPr>
              <a:t>•  언두 보존을 구성·보장하고, 세 범주를 이해한다</a:t>
            </a:r>
          </a:p>
          <a:p>
            <a:pPr>
              <a:spcAft>
                <a:spcPts val="1000"/>
              </a:spcAft>
            </a:pPr>
            <a:r>
              <a:rPr sz="1600" b="0">
                <a:solidFill>
                  <a:srgbClr val="C0392B"/>
                </a:solidFill>
                <a:latin typeface="Malgun Gothic"/>
                <a:ea typeface="Malgun Gothic"/>
              </a:rPr>
              <a:t>•  언두 TS 고정 크기 전환과 Temporary Undo를 활성화한다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이 장의 구성 (Agenda)</a:t>
            </a:r>
          </a:p>
        </p:txBody>
      </p:sp>
      <p:sp>
        <p:nvSpPr>
          <p:cNvPr id="4" name="TextBox 3"/>
          <p:cNvSpPr txBox="1"/>
          <p:nvPr/>
        </p:nvSpPr>
        <p:spPr>
          <a:xfrm>
            <a:off x="640080" y="1691640"/>
            <a:ext cx="10881360" cy="4572000"/>
          </a:xfrm>
          <a:prstGeom prst="rect">
            <a:avLst/>
          </a:prstGeom>
          <a:noFill/>
        </p:spPr>
        <p:txBody>
          <a:bodyPr wrap="square" anchor="t">
            <a:spAutoFit/>
          </a:bodyPr>
          <a:lstStyle/>
          <a:p>
            <a:pPr>
              <a:spcAft>
                <a:spcPts val="1000"/>
              </a:spcAft>
            </a:pPr>
            <a:r>
              <a:rPr sz="1700" b="0">
                <a:solidFill>
                  <a:srgbClr val="C0392B"/>
                </a:solidFill>
                <a:latin typeface="Malgun Gothic"/>
                <a:ea typeface="Malgun Gothic"/>
              </a:rPr>
              <a:t>•  20.A  언두 개요와 저장  —  20.1~20.4 개념·트랜잭션·AUM·언두 vs 리두</a:t>
            </a:r>
          </a:p>
          <a:p>
            <a:pPr>
              <a:spcAft>
                <a:spcPts val="1000"/>
              </a:spcAft>
            </a:pPr>
            <a:r>
              <a:rPr sz="1700" b="0">
                <a:solidFill>
                  <a:srgbClr val="C0392B"/>
                </a:solidFill>
                <a:latin typeface="Malgun Gothic"/>
                <a:ea typeface="Malgun Gothic"/>
              </a:rPr>
              <a:t>•  20.B  언두 관리와 모드  —  20.5~20.6 파라미터·SHARED/LOCAL</a:t>
            </a:r>
          </a:p>
          <a:p>
            <a:pPr>
              <a:spcAft>
                <a:spcPts val="1000"/>
              </a:spcAft>
            </a:pPr>
            <a:r>
              <a:rPr sz="1700" b="0">
                <a:solidFill>
                  <a:srgbClr val="C0392B"/>
                </a:solidFill>
                <a:latin typeface="Malgun Gothic"/>
                <a:ea typeface="Malgun Gothic"/>
              </a:rPr>
              <a:t>•  20.C  보존과 범주  —  20.7~20.9 보존 기간·세 범주·보존 보장</a:t>
            </a:r>
          </a:p>
          <a:p>
            <a:pPr>
              <a:spcAft>
                <a:spcPts val="1000"/>
              </a:spcAft>
            </a:pPr>
            <a:r>
              <a:rPr sz="1700" b="0">
                <a:solidFill>
                  <a:srgbClr val="C0392B"/>
                </a:solidFill>
                <a:latin typeface="Malgun Gothic"/>
                <a:ea typeface="Malgun Gothic"/>
              </a:rPr>
              <a:t>•  20.D  사이징과 임시 언두  —  20.10~20.14 고정 크기·Temporary Undo</a:t>
            </a:r>
          </a:p>
          <a:p>
            <a:pPr>
              <a:spcAft>
                <a:spcPts val="1000"/>
              </a:spcAft>
            </a:pPr>
            <a:r>
              <a:rPr sz="1700" b="0">
                <a:solidFill>
                  <a:srgbClr val="C0392B"/>
                </a:solidFill>
                <a:latin typeface="Malgun Gothic"/>
                <a:ea typeface="Malgun Gothic"/>
              </a:rPr>
              <a:t>•  확인 학습(Quiz) · 요약 · 실습 20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r>
              <a:rPr sz="4000" b="1">
                <a:solidFill>
                  <a:srgbClr val="FFFFFF"/>
                </a:solidFill>
                <a:latin typeface="Malgun Gothic"/>
                <a:ea typeface="Malgun Gothic"/>
              </a:rPr>
              <a:t>20.A</a:t>
            </a:r>
          </a:p>
        </p:txBody>
      </p:sp>
      <p:sp>
        <p:nvSpPr>
          <p:cNvPr id="4" name="TextBox 3"/>
          <p:cNvSpPr txBox="1"/>
          <p:nvPr/>
        </p:nvSpPr>
        <p:spPr>
          <a:xfrm>
            <a:off x="822960" y="3017520"/>
            <a:ext cx="10515600" cy="914400"/>
          </a:xfrm>
          <a:prstGeom prst="rect">
            <a:avLst/>
          </a:prstGeom>
          <a:noFill/>
        </p:spPr>
        <p:txBody>
          <a:bodyPr wrap="square" anchor="t">
            <a:spAutoFit/>
          </a:bodyPr>
          <a:lstStyle/>
          <a:p>
            <a:r>
              <a:rPr sz="2800" b="1">
                <a:solidFill>
                  <a:srgbClr val="FFFFFF"/>
                </a:solidFill>
                <a:latin typeface="Malgun Gothic"/>
                <a:ea typeface="Malgun Gothic"/>
              </a:rPr>
              <a:t>언두 개요와 저장</a:t>
            </a:r>
          </a:p>
        </p:txBody>
      </p:sp>
      <p:sp>
        <p:nvSpPr>
          <p:cNvPr id="5" name="Rectangle 4"/>
          <p:cNvSpPr/>
          <p:nvPr/>
        </p:nvSpPr>
        <p:spPr>
          <a:xfrm>
            <a:off x="868680" y="4114800"/>
            <a:ext cx="5486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97680"/>
            <a:ext cx="10058400" cy="1828800"/>
          </a:xfrm>
          <a:prstGeom prst="rect">
            <a:avLst/>
          </a:prstGeom>
          <a:noFill/>
        </p:spPr>
        <p:txBody>
          <a:bodyPr wrap="square" anchor="t">
            <a:spAutoFit/>
          </a:bodyPr>
          <a:lstStyle/>
          <a:p>
            <a:pPr>
              <a:spcAft>
                <a:spcPts val="600"/>
              </a:spcAft>
            </a:pPr>
            <a:r>
              <a:rPr sz="1600" b="0">
                <a:solidFill>
                  <a:srgbClr val="FFFFFF"/>
                </a:solidFill>
                <a:latin typeface="Malgun Gothic"/>
                <a:ea typeface="Malgun Gothic"/>
              </a:rPr>
              <a:t>•  언두 데이터의 개념과 4대 용도</a:t>
            </a:r>
          </a:p>
          <a:p>
            <a:pPr>
              <a:spcAft>
                <a:spcPts val="600"/>
              </a:spcAft>
            </a:pPr>
            <a:r>
              <a:rPr sz="1600" b="0">
                <a:solidFill>
                  <a:srgbClr val="FFFFFF"/>
                </a:solidFill>
                <a:latin typeface="Malgun Gothic"/>
                <a:ea typeface="Malgun Gothic"/>
              </a:rPr>
              <a:t>•  트랜잭션과 언두</a:t>
            </a:r>
          </a:p>
          <a:p>
            <a:pPr>
              <a:spcAft>
                <a:spcPts val="600"/>
              </a:spcAft>
            </a:pPr>
            <a:r>
              <a:rPr sz="1600" b="0">
                <a:solidFill>
                  <a:srgbClr val="FFFFFF"/>
                </a:solidFill>
                <a:latin typeface="Malgun Gothic"/>
                <a:ea typeface="Malgun Gothic"/>
              </a:rPr>
              <a:t>•  언두 저장·AUM</a:t>
            </a:r>
          </a:p>
          <a:p>
            <a:pPr>
              <a:spcAft>
                <a:spcPts val="600"/>
              </a:spcAft>
            </a:pPr>
            <a:r>
              <a:rPr sz="1600" b="0">
                <a:solidFill>
                  <a:srgbClr val="FFFFFF"/>
                </a:solidFill>
                <a:latin typeface="Malgun Gothic"/>
                <a:ea typeface="Malgun Gothic"/>
              </a:rPr>
              <a:t>•  언두 vs 리두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데이터 개요</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변경 전 이미지(before image)</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언두 = 변경을 실행 취소(undo)하는 데 필요한 변경 전 원래 값</a:t>
            </a:r>
          </a:p>
          <a:p>
            <a:pPr>
              <a:spcAft>
                <a:spcPts val="1000"/>
              </a:spcAft>
            </a:pPr>
            <a:r>
              <a:rPr sz="1800" b="0">
                <a:solidFill>
                  <a:srgbClr val="C0392B"/>
                </a:solidFill>
                <a:latin typeface="Malgun Gothic"/>
                <a:ea typeface="Malgun Gothic"/>
              </a:rPr>
              <a:t>•  DML 실행 시: ①변경 전 값을 언두에 저장 → ②데이터 블록 변경 → ③변경을 리두에 기록</a:t>
            </a:r>
          </a:p>
          <a:p>
            <a:pPr>
              <a:spcAft>
                <a:spcPts val="1000"/>
              </a:spcAft>
            </a:pPr>
            <a:r>
              <a:rPr sz="1800" b="0">
                <a:solidFill>
                  <a:srgbClr val="C0392B"/>
                </a:solidFill>
                <a:latin typeface="Malgun Gothic"/>
                <a:ea typeface="Malgun Gothic"/>
              </a:rPr>
              <a:t>•  언두는 롤백·읽기 일관성·복구·Flashback의 공통 재료</a:t>
            </a:r>
          </a:p>
          <a:p>
            <a:pPr>
              <a:spcAft>
                <a:spcPts val="1000"/>
              </a:spcAft>
            </a:pPr>
            <a:r>
              <a:rPr sz="1800" b="0">
                <a:solidFill>
                  <a:srgbClr val="C0392B"/>
                </a:solidFill>
                <a:latin typeface="Malgun Gothic"/>
                <a:ea typeface="Malgun Gothic"/>
              </a:rPr>
              <a:t>•  언두 부족 시 ORA-01555(스냅샷)·ORA-30036(공간) 발생</a:t>
            </a:r>
          </a:p>
          <a:p>
            <a:pPr>
              <a:spcAft>
                <a:spcPts val="1000"/>
              </a:spcAft>
            </a:pPr>
            <a:r>
              <a:rPr sz="1800" b="0">
                <a:solidFill>
                  <a:srgbClr val="C0392B"/>
                </a:solidFill>
                <a:latin typeface="Malgun Gothic"/>
                <a:ea typeface="Malgun Gothic"/>
              </a:rPr>
              <a:t>•  균형을 자동으로 맞추는 것이 AUM과 언두 자동 튜닝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언두의 네 가지 용도</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왜 언두가 필요한가</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트랜잭션 롤백: ROLLBACK·실패·PMON 정리 시 원래 값으로 되돌림</a:t>
            </a:r>
          </a:p>
          <a:p>
            <a:pPr>
              <a:spcAft>
                <a:spcPts val="1000"/>
              </a:spcAft>
            </a:pPr>
            <a:r>
              <a:rPr sz="1800" b="0">
                <a:solidFill>
                  <a:srgbClr val="C0392B"/>
                </a:solidFill>
                <a:latin typeface="Malgun Gothic"/>
                <a:ea typeface="Malgun Gothic"/>
              </a:rPr>
              <a:t>•  읽기 일관성(CR): 쿼리 시작 SCN 시점의 일관된 이미지를 언두로 재구성 → MVCC의 엔진</a:t>
            </a:r>
          </a:p>
          <a:p>
            <a:pPr>
              <a:spcAft>
                <a:spcPts val="1000"/>
              </a:spcAft>
            </a:pPr>
            <a:r>
              <a:rPr sz="1800" b="0">
                <a:solidFill>
                  <a:srgbClr val="C0392B"/>
                </a:solidFill>
                <a:latin typeface="Malgun Gothic"/>
                <a:ea typeface="Malgun Gothic"/>
              </a:rPr>
              <a:t>•  데이터베이스 복구: 리두 roll forward 후 미커밋 트랜잭션을 언두로 roll back</a:t>
            </a:r>
          </a:p>
          <a:p>
            <a:pPr>
              <a:spcAft>
                <a:spcPts val="1000"/>
              </a:spcAft>
            </a:pPr>
            <a:r>
              <a:rPr sz="1800" b="0">
                <a:solidFill>
                  <a:srgbClr val="C0392B"/>
                </a:solidFill>
                <a:latin typeface="Malgun Gothic"/>
                <a:ea typeface="Malgun Gothic"/>
              </a:rPr>
              <a:t>•  Flashback: 언두에 보존된 과거 이미지로 과거 시점 조회/복원</a:t>
            </a:r>
          </a:p>
          <a:p>
            <a:pPr>
              <a:spcAft>
                <a:spcPts val="1000"/>
              </a:spcAft>
            </a:pPr>
            <a:r>
              <a:rPr sz="1800" b="0">
                <a:solidFill>
                  <a:srgbClr val="C0392B"/>
                </a:solidFill>
                <a:latin typeface="Malgun Gothic"/>
                <a:ea typeface="Malgun Gothic"/>
              </a:rPr>
              <a:t>•  보존 기간이 짧으면 Flashback 범위·긴 쿼리 성공률이 함께 낮아짐</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트랜잭션과 언두 데이터</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생성 → 보존 → 재사용</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트랜잭션 시작 시 언두 세그먼트가 자동 할당됨</a:t>
            </a:r>
          </a:p>
          <a:p>
            <a:pPr>
              <a:spcAft>
                <a:spcPts val="1000"/>
              </a:spcAft>
            </a:pPr>
            <a:r>
              <a:rPr sz="1800" b="0">
                <a:solidFill>
                  <a:srgbClr val="C0392B"/>
                </a:solidFill>
                <a:latin typeface="Malgun Gothic"/>
                <a:ea typeface="Malgun Gothic"/>
              </a:rPr>
              <a:t>•  변경마다 변경 전 값이 언두 세그먼트에 기록</a:t>
            </a:r>
          </a:p>
          <a:p>
            <a:pPr>
              <a:spcAft>
                <a:spcPts val="1000"/>
              </a:spcAft>
            </a:pPr>
            <a:r>
              <a:rPr sz="1800" b="0">
                <a:solidFill>
                  <a:srgbClr val="C0392B"/>
                </a:solidFill>
                <a:latin typeface="Malgun Gothic"/>
                <a:ea typeface="Malgun Gothic"/>
              </a:rPr>
              <a:t>•  커밋 후에도 즉시 폐기 안 함 → UNDO_RETENTION 동안 읽기 일관성용 보존</a:t>
            </a:r>
          </a:p>
          <a:p>
            <a:pPr>
              <a:spcAft>
                <a:spcPts val="1000"/>
              </a:spcAft>
            </a:pPr>
            <a:r>
              <a:rPr sz="1800" b="0">
                <a:solidFill>
                  <a:srgbClr val="C0392B"/>
                </a:solidFill>
                <a:latin typeface="Malgun Gothic"/>
                <a:ea typeface="Malgun Gothic"/>
              </a:rPr>
              <a:t>•  롤백 시 변경 전 값을 역순 적용(대용량 롤백은 오래 걸림)</a:t>
            </a:r>
          </a:p>
          <a:p>
            <a:pPr>
              <a:spcAft>
                <a:spcPts val="1000"/>
              </a:spcAft>
            </a:pPr>
            <a:r>
              <a:rPr sz="1800" b="0">
                <a:solidFill>
                  <a:srgbClr val="C0392B"/>
                </a:solidFill>
                <a:latin typeface="Malgun Gothic"/>
                <a:ea typeface="Malgun Gothic"/>
              </a:rPr>
              <a:t>•  언두 세그먼트도 DB의 일부 → 언두 변경도 리두로 보호됨</a:t>
            </a:r>
          </a:p>
          <a:p>
            <a:pPr>
              <a:spcAft>
                <a:spcPts val="1000"/>
              </a:spcAft>
            </a:pPr>
            <a:r>
              <a:rPr sz="1800" b="0">
                <a:solidFill>
                  <a:srgbClr val="C0392B"/>
                </a:solidFill>
                <a:latin typeface="Malgun Gothic"/>
                <a:ea typeface="Malgun Gothic"/>
              </a:rPr>
              <a:t>•  V$TRANSACTION의 USED_UBLK/USED_UREC로 트랜잭션별 언두 사용량 확인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정보 저장과 AUM</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자동 언두 관리</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언두는 전용 언두 테이블스페이스에 저장(사용자 객체 배치 불가)</a:t>
            </a:r>
          </a:p>
          <a:p>
            <a:pPr>
              <a:spcAft>
                <a:spcPts val="1000"/>
              </a:spcAft>
            </a:pPr>
            <a:r>
              <a:rPr sz="1800" b="0">
                <a:solidFill>
                  <a:srgbClr val="C0392B"/>
                </a:solidFill>
                <a:latin typeface="Malgun Gothic"/>
                <a:ea typeface="Malgun Gothic"/>
              </a:rPr>
              <a:t>•  non-CDB/SHARED = 활성 언두 TS 1개, LOCAL = PDB마다 자체 언두 TS</a:t>
            </a:r>
          </a:p>
          <a:p>
            <a:pPr>
              <a:spcAft>
                <a:spcPts val="1000"/>
              </a:spcAft>
            </a:pPr>
            <a:r>
              <a:rPr sz="1800" b="0">
                <a:solidFill>
                  <a:srgbClr val="C0392B"/>
                </a:solidFill>
                <a:latin typeface="Malgun Gothic"/>
                <a:ea typeface="Malgun Gothic"/>
              </a:rPr>
              <a:t>•  UNDO_TABLESPACE로 현재 사용할 언두 TS 지정</a:t>
            </a:r>
          </a:p>
          <a:p>
            <a:pPr>
              <a:spcAft>
                <a:spcPts val="1000"/>
              </a:spcAft>
            </a:pPr>
            <a:r>
              <a:rPr sz="1800" b="0">
                <a:solidFill>
                  <a:srgbClr val="C0392B"/>
                </a:solidFill>
                <a:latin typeface="Malgun Gothic"/>
                <a:ea typeface="Malgun Gothic"/>
              </a:rPr>
              <a:t>•  AUM: Oracle이 언두 세그먼트 개수·크기를 워크로드 따라 자동 생성/튜닝</a:t>
            </a:r>
          </a:p>
          <a:p>
            <a:pPr>
              <a:spcAft>
                <a:spcPts val="1000"/>
              </a:spcAft>
            </a:pPr>
            <a:r>
              <a:rPr sz="1800" b="0">
                <a:solidFill>
                  <a:srgbClr val="C0392B"/>
                </a:solidFill>
                <a:latin typeface="Malgun Gothic"/>
                <a:ea typeface="Malgun Gothic"/>
              </a:rPr>
              <a:t>•  12c부터 수동 롤백 세그먼트 관리는 미지원 → AUTO만 사용</a:t>
            </a:r>
          </a:p>
          <a:p>
            <a:pPr>
              <a:spcAft>
                <a:spcPts val="1000"/>
              </a:spcAft>
            </a:pPr>
            <a:r>
              <a:rPr sz="1800" b="0">
                <a:solidFill>
                  <a:srgbClr val="C0392B"/>
                </a:solidFill>
                <a:latin typeface="Malgun Gothic"/>
                <a:ea typeface="Malgun Gothic"/>
              </a:rPr>
              <a:t>•  DBA 역할: 세그먼트 관리가 아닌 크기·보존 정책 설계와 모니터링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파라미터·세그먼트 확인</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SHOW PARAMETER undo / dba_tablespaces</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nchor="t">
            <a:spAutoFit/>
          </a:bodyPr>
          <a:lstStyle/>
          <a:p>
            <a:pPr>
              <a:spcAft>
                <a:spcPts val="200"/>
              </a:spcAft>
            </a:pPr>
            <a:r>
              <a:rPr sz="1200" b="0">
                <a:solidFill>
                  <a:srgbClr val="7EC699"/>
                </a:solidFill>
                <a:latin typeface="Consolas"/>
                <a:ea typeface="Consolas"/>
              </a:rPr>
              <a:t>-- 언두 관련 핵심 파라미터</a:t>
            </a:r>
          </a:p>
          <a:p>
            <a:pPr>
              <a:spcAft>
                <a:spcPts val="200"/>
              </a:spcAft>
            </a:pPr>
            <a:r>
              <a:rPr sz="1200" b="0">
                <a:solidFill>
                  <a:srgbClr val="E6E6E6"/>
                </a:solidFill>
                <a:latin typeface="Consolas"/>
                <a:ea typeface="Consolas"/>
              </a:rPr>
              <a:t>SYS@cdb1&gt; SHOW PARAMETER undo</a:t>
            </a:r>
          </a:p>
          <a:p>
            <a:pPr>
              <a:spcAft>
                <a:spcPts val="200"/>
              </a:spcAft>
            </a:pPr>
            <a:r>
              <a:rPr sz="1200" b="0">
                <a:solidFill>
                  <a:srgbClr val="E6E6E6"/>
                </a:solidFill>
                <a:latin typeface="Consolas"/>
                <a:ea typeface="Consolas"/>
              </a:rPr>
              <a:t> </a:t>
            </a:r>
          </a:p>
          <a:p>
            <a:pPr>
              <a:spcAft>
                <a:spcPts val="200"/>
              </a:spcAft>
            </a:pPr>
            <a:r>
              <a:rPr sz="1200" b="0">
                <a:solidFill>
                  <a:srgbClr val="E6E6E6"/>
                </a:solidFill>
                <a:latin typeface="Consolas"/>
                <a:ea typeface="Consolas"/>
              </a:rPr>
              <a:t>NAME                 TYPE      VALUE</a:t>
            </a:r>
          </a:p>
          <a:p>
            <a:pPr>
              <a:spcAft>
                <a:spcPts val="200"/>
              </a:spcAft>
            </a:pPr>
            <a:r>
              <a:rPr sz="1200" b="0">
                <a:solidFill>
                  <a:srgbClr val="7EC699"/>
                </a:solidFill>
                <a:latin typeface="Consolas"/>
                <a:ea typeface="Consolas"/>
              </a:rPr>
              <a:t>-------------------- --------- --------</a:t>
            </a:r>
          </a:p>
          <a:p>
            <a:pPr>
              <a:spcAft>
                <a:spcPts val="200"/>
              </a:spcAft>
            </a:pPr>
            <a:r>
              <a:rPr sz="1200" b="0">
                <a:solidFill>
                  <a:srgbClr val="E6E6E6"/>
                </a:solidFill>
                <a:latin typeface="Consolas"/>
                <a:ea typeface="Consolas"/>
              </a:rPr>
              <a:t>temp_undo_enabled    boolean   FALSE</a:t>
            </a:r>
          </a:p>
          <a:p>
            <a:pPr>
              <a:spcAft>
                <a:spcPts val="200"/>
              </a:spcAft>
            </a:pPr>
            <a:r>
              <a:rPr sz="1200" b="0">
                <a:solidFill>
                  <a:srgbClr val="E6E6E6"/>
                </a:solidFill>
                <a:latin typeface="Consolas"/>
                <a:ea typeface="Consolas"/>
              </a:rPr>
              <a:t>undo_management      string    AUTO</a:t>
            </a:r>
          </a:p>
          <a:p>
            <a:pPr>
              <a:spcAft>
                <a:spcPts val="200"/>
              </a:spcAft>
            </a:pPr>
            <a:r>
              <a:rPr sz="1200" b="0">
                <a:solidFill>
                  <a:srgbClr val="E6E6E6"/>
                </a:solidFill>
                <a:latin typeface="Consolas"/>
                <a:ea typeface="Consolas"/>
              </a:rPr>
              <a:t>undo_retention       integer   900</a:t>
            </a:r>
          </a:p>
          <a:p>
            <a:pPr>
              <a:spcAft>
                <a:spcPts val="200"/>
              </a:spcAft>
            </a:pPr>
            <a:r>
              <a:rPr sz="1200" b="0">
                <a:solidFill>
                  <a:srgbClr val="E6E6E6"/>
                </a:solidFill>
                <a:latin typeface="Consolas"/>
                <a:ea typeface="Consolas"/>
              </a:rPr>
              <a:t>undo_tablespace      string    UNDOTBS1</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언두 테이블스페이스 확인</a:t>
            </a:r>
          </a:p>
          <a:p>
            <a:pPr>
              <a:spcAft>
                <a:spcPts val="200"/>
              </a:spcAft>
            </a:pPr>
            <a:r>
              <a:rPr sz="1200" b="0">
                <a:solidFill>
                  <a:srgbClr val="E6E6E6"/>
                </a:solidFill>
                <a:latin typeface="Consolas"/>
                <a:ea typeface="Consolas"/>
              </a:rPr>
              <a:t>SYS@cdb1&gt; SELECT tablespace_name, contents, status</a:t>
            </a:r>
          </a:p>
          <a:p>
            <a:pPr>
              <a:spcAft>
                <a:spcPts val="200"/>
              </a:spcAft>
            </a:pPr>
            <a:r>
              <a:rPr sz="1200" b="0">
                <a:solidFill>
                  <a:srgbClr val="E6E6E6"/>
                </a:solidFill>
                <a:latin typeface="Consolas"/>
                <a:ea typeface="Consolas"/>
              </a:rPr>
              <a:t>  2  FROM dba_tablespaces WHERE contents='UNDO';</a:t>
            </a:r>
          </a:p>
          <a:p>
            <a:pPr>
              <a:spcAft>
                <a:spcPts val="200"/>
              </a:spcAft>
            </a:pPr>
            <a:r>
              <a:rPr sz="1200" b="0">
                <a:solidFill>
                  <a:srgbClr val="E6E6E6"/>
                </a:solidFill>
                <a:latin typeface="Consolas"/>
                <a:ea typeface="Consolas"/>
              </a:rPr>
              <a:t> </a:t>
            </a:r>
          </a:p>
          <a:p>
            <a:pPr>
              <a:spcAft>
                <a:spcPts val="200"/>
              </a:spcAft>
            </a:pPr>
            <a:r>
              <a:rPr sz="1200" b="0">
                <a:solidFill>
                  <a:srgbClr val="E6E6E6"/>
                </a:solidFill>
                <a:latin typeface="Consolas"/>
                <a:ea typeface="Consolas"/>
              </a:rPr>
              <a:t>TABLESPACE_NAME  CONTENTS  STATUS</a:t>
            </a:r>
          </a:p>
          <a:p>
            <a:pPr>
              <a:spcAft>
                <a:spcPts val="200"/>
              </a:spcAft>
            </a:pPr>
            <a:r>
              <a:rPr sz="1200" b="0">
                <a:solidFill>
                  <a:srgbClr val="7EC699"/>
                </a:solidFill>
                <a:latin typeface="Consolas"/>
                <a:ea typeface="Consolas"/>
              </a:rPr>
              <a:t>---------------- --------- ------</a:t>
            </a:r>
          </a:p>
          <a:p>
            <a:pPr>
              <a:spcAft>
                <a:spcPts val="200"/>
              </a:spcAft>
            </a:pPr>
            <a:r>
              <a:rPr sz="1200" b="0">
                <a:solidFill>
                  <a:srgbClr val="E6E6E6"/>
                </a:solidFill>
                <a:latin typeface="Consolas"/>
                <a:ea typeface="Consolas"/>
              </a:rPr>
              <a:t>UNDOTBS1         UNDO      ONLINE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데이터 vs 리두 데이터</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되감기 vs 재생</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언두 = 변경 전 값 → 롤백·읽기 일관성·Flashback (과거로 되감기)</a:t>
            </a:r>
          </a:p>
          <a:p>
            <a:pPr>
              <a:spcAft>
                <a:spcPts val="1000"/>
              </a:spcAft>
            </a:pPr>
            <a:r>
              <a:rPr sz="1800" b="0">
                <a:solidFill>
                  <a:srgbClr val="C0392B"/>
                </a:solidFill>
                <a:latin typeface="Malgun Gothic"/>
                <a:ea typeface="Malgun Gothic"/>
              </a:rPr>
              <a:t>•  리두 = 변경 내용 → 커밋된 변경 재적용 (장애 복구, 미래로 재생)</a:t>
            </a:r>
          </a:p>
          <a:p>
            <a:pPr>
              <a:spcAft>
                <a:spcPts val="1000"/>
              </a:spcAft>
            </a:pPr>
            <a:r>
              <a:rPr sz="1800" b="0">
                <a:solidFill>
                  <a:srgbClr val="C0392B"/>
                </a:solidFill>
                <a:latin typeface="Malgun Gothic"/>
                <a:ea typeface="Malgun Gothic"/>
              </a:rPr>
              <a:t>•  저장: 언두=언두 세그먼트 / 리두=리두 로그 버퍼→온라인 리두 로그</a:t>
            </a:r>
          </a:p>
          <a:p>
            <a:pPr>
              <a:spcAft>
                <a:spcPts val="1000"/>
              </a:spcAft>
            </a:pPr>
            <a:r>
              <a:rPr sz="1800" b="0">
                <a:solidFill>
                  <a:srgbClr val="C0392B"/>
                </a:solidFill>
                <a:latin typeface="Malgun Gothic"/>
                <a:ea typeface="Malgun Gothic"/>
              </a:rPr>
              <a:t>•  복구 = 리두 roll forward(재적용) 후 언두 roll back(미커밋 제거)</a:t>
            </a:r>
          </a:p>
          <a:p>
            <a:pPr>
              <a:spcAft>
                <a:spcPts val="1000"/>
              </a:spcAft>
            </a:pPr>
            <a:r>
              <a:rPr sz="1800" b="0">
                <a:solidFill>
                  <a:srgbClr val="C0392B"/>
                </a:solidFill>
                <a:latin typeface="Malgun Gothic"/>
                <a:ea typeface="Malgun Gothic"/>
              </a:rPr>
              <a:t>•  언두 변경도 리두로 보호 → 이중 안전망</a:t>
            </a:r>
          </a:p>
          <a:p>
            <a:pPr>
              <a:spcAft>
                <a:spcPts val="1000"/>
              </a:spcAft>
            </a:pPr>
            <a:r>
              <a:rPr sz="1800" b="0">
                <a:solidFill>
                  <a:srgbClr val="C0392B"/>
                </a:solidFill>
                <a:latin typeface="Malgun Gothic"/>
                <a:ea typeface="Malgun Gothic"/>
              </a:rPr>
              <a:t>•  서로 대체 불가: 온전한 무결성은 둘이 함께일 때 성립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롤백·읽기 일관성 데모</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ROLLBACK / 다른 세션의 일관된 조회</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nchor="t">
            <a:spAutoFit/>
          </a:bodyPr>
          <a:lstStyle/>
          <a:p>
            <a:pPr>
              <a:spcAft>
                <a:spcPts val="200"/>
              </a:spcAft>
            </a:pPr>
            <a:r>
              <a:rPr sz="1200" b="0">
                <a:solidFill>
                  <a:srgbClr val="7EC699"/>
                </a:solidFill>
                <a:latin typeface="Consolas"/>
                <a:ea typeface="Consolas"/>
              </a:rPr>
              <a:t>-- 세션1: 데이터 변경 후 커밋하지 않음</a:t>
            </a:r>
          </a:p>
          <a:p>
            <a:pPr>
              <a:spcAft>
                <a:spcPts val="200"/>
              </a:spcAft>
            </a:pPr>
            <a:r>
              <a:rPr sz="1200" b="0">
                <a:solidFill>
                  <a:srgbClr val="E6E6E6"/>
                </a:solidFill>
                <a:latin typeface="Consolas"/>
                <a:ea typeface="Consolas"/>
              </a:rPr>
              <a:t>S1 SYS@cdb1&gt; UPDATE hr.emp SET sal=sal*1.1 WHERE deptno=10;</a:t>
            </a:r>
          </a:p>
          <a:p>
            <a:pPr>
              <a:spcAft>
                <a:spcPts val="200"/>
              </a:spcAft>
            </a:pPr>
            <a:r>
              <a:rPr sz="1200" b="0">
                <a:solidFill>
                  <a:srgbClr val="E6E6E6"/>
                </a:solidFill>
                <a:latin typeface="Consolas"/>
                <a:ea typeface="Consolas"/>
              </a:rPr>
              <a:t>3 rows updated.</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세션2: 같은 데이터를 조회 → 변경 전 값(언두로 재구성)이 보임</a:t>
            </a:r>
          </a:p>
          <a:p>
            <a:pPr>
              <a:spcAft>
                <a:spcPts val="200"/>
              </a:spcAft>
            </a:pPr>
            <a:r>
              <a:rPr sz="1200" b="0">
                <a:solidFill>
                  <a:srgbClr val="E6E6E6"/>
                </a:solidFill>
                <a:latin typeface="Consolas"/>
                <a:ea typeface="Consolas"/>
              </a:rPr>
              <a:t>S2 SYS@cdb1&gt; SELECT sal FROM hr.emp WHERE deptno=10;  -- 원래 값</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세션1: 롤백 → 언두로 원래 값 복원</a:t>
            </a:r>
          </a:p>
          <a:p>
            <a:pPr>
              <a:spcAft>
                <a:spcPts val="200"/>
              </a:spcAft>
            </a:pPr>
            <a:r>
              <a:rPr sz="1200" b="0">
                <a:solidFill>
                  <a:srgbClr val="E6E6E6"/>
                </a:solidFill>
                <a:latin typeface="Consolas"/>
                <a:ea typeface="Consolas"/>
              </a:rPr>
              <a:t>S1 SYS@cdb1&gt; ROLLBACK;</a:t>
            </a:r>
          </a:p>
          <a:p>
            <a:pPr>
              <a:spcAft>
                <a:spcPts val="200"/>
              </a:spcAft>
            </a:pPr>
            <a:r>
              <a:rPr sz="1200" b="0">
                <a:solidFill>
                  <a:srgbClr val="E6E6E6"/>
                </a:solidFill>
                <a:latin typeface="Consolas"/>
                <a:ea typeface="Consolas"/>
              </a:rPr>
              <a:t>Rollback complete.</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(실수) 커밋 후 롤백 시도 → 되돌릴 수 없음</a:t>
            </a:r>
          </a:p>
          <a:p>
            <a:pPr>
              <a:spcAft>
                <a:spcPts val="200"/>
              </a:spcAft>
            </a:pPr>
            <a:r>
              <a:rPr sz="1200" b="0">
                <a:solidFill>
                  <a:srgbClr val="E6E6E6"/>
                </a:solidFill>
                <a:latin typeface="Consolas"/>
                <a:ea typeface="Consolas"/>
              </a:rPr>
              <a:t>S1 SYS@cdb1&gt; COMMIT;  S1 SYS@cdb1&gt; ROLLBACK;  -- 아무 효과 없음(이미 영속)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r>
              <a:rPr sz="4000" b="1">
                <a:solidFill>
                  <a:srgbClr val="FFFFFF"/>
                </a:solidFill>
                <a:latin typeface="Malgun Gothic"/>
                <a:ea typeface="Malgun Gothic"/>
              </a:rPr>
              <a:t>20.B</a:t>
            </a:r>
          </a:p>
        </p:txBody>
      </p:sp>
      <p:sp>
        <p:nvSpPr>
          <p:cNvPr id="4" name="TextBox 3"/>
          <p:cNvSpPr txBox="1"/>
          <p:nvPr/>
        </p:nvSpPr>
        <p:spPr>
          <a:xfrm>
            <a:off x="822960" y="3017520"/>
            <a:ext cx="10515600" cy="914400"/>
          </a:xfrm>
          <a:prstGeom prst="rect">
            <a:avLst/>
          </a:prstGeom>
          <a:noFill/>
        </p:spPr>
        <p:txBody>
          <a:bodyPr wrap="square" anchor="t">
            <a:spAutoFit/>
          </a:bodyPr>
          <a:lstStyle/>
          <a:p>
            <a:r>
              <a:rPr sz="2800" b="1">
                <a:solidFill>
                  <a:srgbClr val="FFFFFF"/>
                </a:solidFill>
                <a:latin typeface="Malgun Gothic"/>
                <a:ea typeface="Malgun Gothic"/>
              </a:rPr>
              <a:t>언두 관리와 모드</a:t>
            </a:r>
          </a:p>
        </p:txBody>
      </p:sp>
      <p:sp>
        <p:nvSpPr>
          <p:cNvPr id="5" name="Rectangle 4"/>
          <p:cNvSpPr/>
          <p:nvPr/>
        </p:nvSpPr>
        <p:spPr>
          <a:xfrm>
            <a:off x="868680" y="4114800"/>
            <a:ext cx="5486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97680"/>
            <a:ext cx="10058400" cy="1828800"/>
          </a:xfrm>
          <a:prstGeom prst="rect">
            <a:avLst/>
          </a:prstGeom>
          <a:noFill/>
        </p:spPr>
        <p:txBody>
          <a:bodyPr wrap="square" anchor="t">
            <a:spAutoFit/>
          </a:bodyPr>
          <a:lstStyle/>
          <a:p>
            <a:pPr>
              <a:spcAft>
                <a:spcPts val="600"/>
              </a:spcAft>
            </a:pPr>
            <a:r>
              <a:rPr sz="1600" b="0">
                <a:solidFill>
                  <a:srgbClr val="FFFFFF"/>
                </a:solidFill>
                <a:latin typeface="Malgun Gothic"/>
                <a:ea typeface="Malgun Gothic"/>
              </a:rPr>
              <a:t>•  UNDO_MANAGEMENT/TABLESPACE/RETENTION</a:t>
            </a:r>
          </a:p>
          <a:p>
            <a:pPr>
              <a:spcAft>
                <a:spcPts val="600"/>
              </a:spcAft>
            </a:pPr>
            <a:r>
              <a:rPr sz="1600" b="0">
                <a:solidFill>
                  <a:srgbClr val="FFFFFF"/>
                </a:solidFill>
                <a:latin typeface="Malgun Gothic"/>
                <a:ea typeface="Malgun Gothic"/>
              </a:rPr>
              <a:t>•  SHARED vs LOCAL 언두 모드</a:t>
            </a:r>
          </a:p>
          <a:p>
            <a:pPr>
              <a:spcAft>
                <a:spcPts val="600"/>
              </a:spcAft>
            </a:pPr>
            <a:r>
              <a:rPr sz="1600" b="0">
                <a:solidFill>
                  <a:srgbClr val="FFFFFF"/>
                </a:solidFill>
                <a:latin typeface="Malgun Gothic"/>
                <a:ea typeface="Malgun Gothic"/>
              </a:rPr>
              <a:t>•  LOCAL이 19c 표준인 이유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관리 파라미터</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3대 초기화 파라미터</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UNDO_MANAGEMENT: AUTO(기본·유일 지원), 정적 → 재기동 필요</a:t>
            </a:r>
          </a:p>
          <a:p>
            <a:pPr>
              <a:spcAft>
                <a:spcPts val="1000"/>
              </a:spcAft>
            </a:pPr>
            <a:r>
              <a:rPr sz="1800" b="0">
                <a:solidFill>
                  <a:srgbClr val="C0392B"/>
                </a:solidFill>
                <a:latin typeface="Malgun Gothic"/>
                <a:ea typeface="Malgun Gothic"/>
              </a:rPr>
              <a:t>•  UNDO_TABLESPACE: 사용할 언두 TS 지정, ALTER SYSTEM으로 온라인 전환</a:t>
            </a:r>
          </a:p>
          <a:p>
            <a:pPr lvl="1">
              <a:spcAft>
                <a:spcPts val="1000"/>
              </a:spcAft>
            </a:pPr>
            <a:r>
              <a:rPr sz="1600" b="0">
                <a:solidFill>
                  <a:srgbClr val="C0392B"/>
                </a:solidFill>
                <a:latin typeface="Malgun Gothic"/>
                <a:ea typeface="Malgun Gothic"/>
              </a:rPr>
              <a:t>–  전환 후 기존 TS는 활성 트랜잭션 종료까지 PENDING OFFLINE</a:t>
            </a:r>
          </a:p>
          <a:p>
            <a:pPr>
              <a:spcAft>
                <a:spcPts val="1000"/>
              </a:spcAft>
            </a:pPr>
            <a:r>
              <a:rPr sz="1800" b="0">
                <a:solidFill>
                  <a:srgbClr val="C0392B"/>
                </a:solidFill>
                <a:latin typeface="Malgun Gothic"/>
                <a:ea typeface="Malgun Gothic"/>
              </a:rPr>
              <a:t>•  UNDO_RETENTION: 커밋 언두 최소 보존(초), 기본 900, 동적</a:t>
            </a:r>
          </a:p>
          <a:p>
            <a:pPr lvl="1">
              <a:spcAft>
                <a:spcPts val="1000"/>
              </a:spcAft>
            </a:pPr>
            <a:r>
              <a:rPr sz="1600" b="0">
                <a:solidFill>
                  <a:srgbClr val="C0392B"/>
                </a:solidFill>
                <a:latin typeface="Malgun Gothic"/>
                <a:ea typeface="Malgun Gothic"/>
              </a:rPr>
              <a:t>–  자동확장 TS=하한 목표 / 고정 크기 TS=공간 맞춰 autotuning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파라미터 설정</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ALTER SYSTEM으로 동적 변경</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nchor="t">
            <a:spAutoFit/>
          </a:bodyPr>
          <a:lstStyle/>
          <a:p>
            <a:pPr>
              <a:spcAft>
                <a:spcPts val="200"/>
              </a:spcAft>
            </a:pPr>
            <a:r>
              <a:rPr sz="1200" b="0">
                <a:solidFill>
                  <a:srgbClr val="7EC699"/>
                </a:solidFill>
                <a:latin typeface="Consolas"/>
                <a:ea typeface="Consolas"/>
              </a:rPr>
              <a:t>-- UNDO_RETENTION을 1800초(30분)로 변경 (동적)</a:t>
            </a:r>
          </a:p>
          <a:p>
            <a:pPr>
              <a:spcAft>
                <a:spcPts val="200"/>
              </a:spcAft>
            </a:pPr>
            <a:r>
              <a:rPr sz="1200" b="0">
                <a:solidFill>
                  <a:srgbClr val="E6E6E6"/>
                </a:solidFill>
                <a:latin typeface="Consolas"/>
                <a:ea typeface="Consolas"/>
              </a:rPr>
              <a:t>SYS@cdb1&gt; ALTER SYSTEM SET undo_retention=1800 SCOPE=BOTH;</a:t>
            </a:r>
          </a:p>
          <a:p>
            <a:pPr>
              <a:spcAft>
                <a:spcPts val="200"/>
              </a:spcAft>
            </a:pPr>
            <a:r>
              <a:rPr sz="1200" b="0">
                <a:solidFill>
                  <a:srgbClr val="E6E6E6"/>
                </a:solidFill>
                <a:latin typeface="Consolas"/>
                <a:ea typeface="Consolas"/>
              </a:rPr>
              <a:t>System altered.</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(실수) 지원되지 않는 수동 모드로 변경 시도</a:t>
            </a:r>
          </a:p>
          <a:p>
            <a:pPr>
              <a:spcAft>
                <a:spcPts val="200"/>
              </a:spcAft>
            </a:pPr>
            <a:r>
              <a:rPr sz="1200" b="0">
                <a:solidFill>
                  <a:srgbClr val="E6E6E6"/>
                </a:solidFill>
                <a:latin typeface="Consolas"/>
                <a:ea typeface="Consolas"/>
              </a:rPr>
              <a:t>SYS@cdb1&gt; ALTER SYSTEM SET undo_management=MANUAL SCOPE=SPFILE;</a:t>
            </a:r>
          </a:p>
          <a:p>
            <a:pPr>
              <a:spcAft>
                <a:spcPts val="200"/>
              </a:spcAft>
            </a:pPr>
            <a:r>
              <a:rPr sz="1200" b="0">
                <a:solidFill>
                  <a:srgbClr val="7EC699"/>
                </a:solidFill>
                <a:latin typeface="Consolas"/>
                <a:ea typeface="Consolas"/>
              </a:rPr>
              <a:t>-- 12c 이후 MANUAL은 권장 안 됨 → 재기동 시 위험, AUTO 유지가 정답</a:t>
            </a:r>
          </a:p>
          <a:p>
            <a:pPr>
              <a:spcAft>
                <a:spcPts val="200"/>
              </a:spcAft>
            </a:pPr>
            <a:r>
              <a:rPr sz="1200" b="0">
                <a:solidFill>
                  <a:srgbClr val="E6E6E6"/>
                </a:solidFill>
                <a:latin typeface="Consolas"/>
                <a:ea typeface="Consolas"/>
              </a:rPr>
              <a:t> </a:t>
            </a:r>
          </a:p>
          <a:p>
            <a:pPr>
              <a:spcAft>
                <a:spcPts val="200"/>
              </a:spcAft>
            </a:pPr>
            <a:r>
              <a:rPr sz="1200" b="0">
                <a:solidFill>
                  <a:srgbClr val="E6E6E6"/>
                </a:solidFill>
                <a:latin typeface="Consolas"/>
                <a:ea typeface="Consolas"/>
              </a:rPr>
              <a:t>SYS@cdb1&gt; ALTER SYSTEM SET undo_management=AUTO SCOPE=SPFILE;</a:t>
            </a:r>
          </a:p>
          <a:p>
            <a:pPr>
              <a:spcAft>
                <a:spcPts val="200"/>
              </a:spcAft>
            </a:pPr>
            <a:r>
              <a:rPr sz="1200" b="0">
                <a:solidFill>
                  <a:srgbClr val="E6E6E6"/>
                </a:solidFill>
                <a:latin typeface="Consolas"/>
                <a:ea typeface="Consolas"/>
              </a:rPr>
              <a:t>System altered.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SHARED vs LOCAL 언두 모드</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CDB/PDB에서의 언두</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SHARED: CDB 루트의 단일 언두 TS를 모든 PDB가 공유(12.1 방식)</a:t>
            </a:r>
          </a:p>
          <a:p>
            <a:pPr lvl="1">
              <a:spcAft>
                <a:spcPts val="1000"/>
              </a:spcAft>
            </a:pPr>
            <a:r>
              <a:rPr sz="1600" b="0">
                <a:solidFill>
                  <a:srgbClr val="C0392B"/>
                </a:solidFill>
                <a:latin typeface="Malgun Gothic"/>
                <a:ea typeface="Malgun Gothic"/>
              </a:rPr>
              <a:t>–  구성 단순하나 PDB 간 격리 약함 → 한 PDB의 언두 독점이 상호 영향</a:t>
            </a:r>
          </a:p>
          <a:p>
            <a:pPr>
              <a:spcAft>
                <a:spcPts val="1000"/>
              </a:spcAft>
            </a:pPr>
            <a:r>
              <a:rPr sz="1800" b="0">
                <a:solidFill>
                  <a:srgbClr val="C0392B"/>
                </a:solidFill>
                <a:latin typeface="Malgun Gothic"/>
                <a:ea typeface="Malgun Gothic"/>
              </a:rPr>
              <a:t>•  LOCAL: 각 PDB가 자체 언두 TS 보유(12.2 도입, 19c 기본값)</a:t>
            </a:r>
          </a:p>
          <a:p>
            <a:pPr lvl="1">
              <a:spcAft>
                <a:spcPts val="1000"/>
              </a:spcAft>
            </a:pPr>
            <a:r>
              <a:rPr sz="1600" b="0">
                <a:solidFill>
                  <a:srgbClr val="C0392B"/>
                </a:solidFill>
                <a:latin typeface="Malgun Gothic"/>
                <a:ea typeface="Malgun Gothic"/>
              </a:rPr>
              <a:t>–  PDB별 언두 격리 · PDB마다 크기/보존/GUARANTEE 개별 운영</a:t>
            </a:r>
          </a:p>
          <a:p>
            <a:pPr>
              <a:spcAft>
                <a:spcPts val="1000"/>
              </a:spcAft>
            </a:pPr>
            <a:r>
              <a:rPr sz="1800" b="0">
                <a:solidFill>
                  <a:srgbClr val="C0392B"/>
                </a:solidFill>
                <a:latin typeface="Malgun Gothic"/>
                <a:ea typeface="Malgun Gothic"/>
              </a:rPr>
              <a:t>•  LOCAL_UNDO_ENABLED=TRUE면 로컬 언두 모드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LOCAL 언두가 19c 표준인 이유</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고급 PDB 이동성 기능</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PDB hot cloning(운영 중 복제) — 로컬 언두 필요</a:t>
            </a:r>
          </a:p>
          <a:p>
            <a:pPr>
              <a:spcAft>
                <a:spcPts val="1000"/>
              </a:spcAft>
            </a:pPr>
            <a:r>
              <a:rPr sz="1800" b="0">
                <a:solidFill>
                  <a:srgbClr val="C0392B"/>
                </a:solidFill>
                <a:latin typeface="Malgun Gothic"/>
                <a:ea typeface="Malgun Gothic"/>
              </a:rPr>
              <a:t>•  Refreshable clone(증분 갱신 복제) — 로컬 언두 필요</a:t>
            </a:r>
          </a:p>
          <a:p>
            <a:pPr>
              <a:spcAft>
                <a:spcPts val="1000"/>
              </a:spcAft>
            </a:pPr>
            <a:r>
              <a:rPr sz="1800" b="0">
                <a:solidFill>
                  <a:srgbClr val="C0392B"/>
                </a:solidFill>
                <a:latin typeface="Malgun Gothic"/>
                <a:ea typeface="Malgun Gothic"/>
              </a:rPr>
              <a:t>•  Near-zero downtime relocation(무중단급 재배치) — 로컬 언두 필요</a:t>
            </a:r>
          </a:p>
          <a:p>
            <a:pPr>
              <a:spcAft>
                <a:spcPts val="1000"/>
              </a:spcAft>
            </a:pPr>
            <a:r>
              <a:rPr sz="1800" b="0">
                <a:solidFill>
                  <a:srgbClr val="C0392B"/>
                </a:solidFill>
                <a:latin typeface="Malgun Gothic"/>
                <a:ea typeface="Malgun Gothic"/>
              </a:rPr>
              <a:t>•  이유: 소스/타깃이 PDB 단위 시점 일관성을 독립적으로 유지해야 함</a:t>
            </a:r>
          </a:p>
          <a:p>
            <a:pPr>
              <a:spcAft>
                <a:spcPts val="1000"/>
              </a:spcAft>
            </a:pPr>
            <a:r>
              <a:rPr sz="1800" b="0">
                <a:solidFill>
                  <a:srgbClr val="C0392B"/>
                </a:solidFill>
                <a:latin typeface="Malgun Gothic"/>
                <a:ea typeface="Malgun Gothic"/>
              </a:rPr>
              <a:t>•  공유 언두로는 PDB별 독립 일관성 보장 곤란 → LOCAL이 전제 조건</a:t>
            </a:r>
          </a:p>
          <a:p>
            <a:pPr>
              <a:spcAft>
                <a:spcPts val="1000"/>
              </a:spcAft>
            </a:pPr>
            <a:r>
              <a:rPr sz="1800" b="0">
                <a:solidFill>
                  <a:srgbClr val="C0392B"/>
                </a:solidFill>
                <a:latin typeface="Malgun Gothic"/>
                <a:ea typeface="Malgun Gothic"/>
              </a:rPr>
              <a:t>•  12.2부터 도입, DBCA 새 CDB는 기본 LOCAL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모드·PDB별 언두 TS 확인</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LOCAL_UNDO_ENABLED / cdb_tablespaces</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nchor="t">
            <a:spAutoFit/>
          </a:bodyPr>
          <a:lstStyle/>
          <a:p>
            <a:pPr>
              <a:spcAft>
                <a:spcPts val="200"/>
              </a:spcAft>
            </a:pPr>
            <a:r>
              <a:rPr sz="1200" b="0">
                <a:solidFill>
                  <a:srgbClr val="7EC699"/>
                </a:solidFill>
                <a:latin typeface="Consolas"/>
                <a:ea typeface="Consolas"/>
              </a:rPr>
              <a:t>-- 현재 언두 모드 (TRUE면 로컬 언두)</a:t>
            </a:r>
          </a:p>
          <a:p>
            <a:pPr>
              <a:spcAft>
                <a:spcPts val="200"/>
              </a:spcAft>
            </a:pPr>
            <a:r>
              <a:rPr sz="1200" b="0">
                <a:solidFill>
                  <a:srgbClr val="E6E6E6"/>
                </a:solidFill>
                <a:latin typeface="Consolas"/>
                <a:ea typeface="Consolas"/>
              </a:rPr>
              <a:t>SYS@cdb1&gt; SELECT property_name, property_value</a:t>
            </a:r>
          </a:p>
          <a:p>
            <a:pPr>
              <a:spcAft>
                <a:spcPts val="200"/>
              </a:spcAft>
            </a:pPr>
            <a:r>
              <a:rPr sz="1200" b="0">
                <a:solidFill>
                  <a:srgbClr val="E6E6E6"/>
                </a:solidFill>
                <a:latin typeface="Consolas"/>
                <a:ea typeface="Consolas"/>
              </a:rPr>
              <a:t>  2  FROM database_properties</a:t>
            </a:r>
          </a:p>
          <a:p>
            <a:pPr>
              <a:spcAft>
                <a:spcPts val="200"/>
              </a:spcAft>
            </a:pPr>
            <a:r>
              <a:rPr sz="1200" b="0">
                <a:solidFill>
                  <a:srgbClr val="E6E6E6"/>
                </a:solidFill>
                <a:latin typeface="Consolas"/>
                <a:ea typeface="Consolas"/>
              </a:rPr>
              <a:t>  3  WHERE property_name='LOCAL_UNDO_ENABLED';</a:t>
            </a:r>
          </a:p>
          <a:p>
            <a:pPr>
              <a:spcAft>
                <a:spcPts val="200"/>
              </a:spcAft>
            </a:pPr>
            <a:r>
              <a:rPr sz="1200" b="0">
                <a:solidFill>
                  <a:srgbClr val="E6E6E6"/>
                </a:solidFill>
                <a:latin typeface="Consolas"/>
                <a:ea typeface="Consolas"/>
              </a:rPr>
              <a:t> </a:t>
            </a:r>
          </a:p>
          <a:p>
            <a:pPr>
              <a:spcAft>
                <a:spcPts val="200"/>
              </a:spcAft>
            </a:pPr>
            <a:r>
              <a:rPr sz="1200" b="0">
                <a:solidFill>
                  <a:srgbClr val="E6E6E6"/>
                </a:solidFill>
                <a:latin typeface="Consolas"/>
                <a:ea typeface="Consolas"/>
              </a:rPr>
              <a:t>PROPERTY_NAME        PROPERTY_VALUE</a:t>
            </a:r>
          </a:p>
          <a:p>
            <a:pPr>
              <a:spcAft>
                <a:spcPts val="200"/>
              </a:spcAft>
            </a:pPr>
            <a:r>
              <a:rPr sz="1200" b="0">
                <a:solidFill>
                  <a:srgbClr val="7EC699"/>
                </a:solidFill>
                <a:latin typeface="Consolas"/>
                <a:ea typeface="Consolas"/>
              </a:rPr>
              <a:t>-------------------- --------------</a:t>
            </a:r>
          </a:p>
          <a:p>
            <a:pPr>
              <a:spcAft>
                <a:spcPts val="200"/>
              </a:spcAft>
            </a:pPr>
            <a:r>
              <a:rPr sz="1200" b="0">
                <a:solidFill>
                  <a:srgbClr val="E6E6E6"/>
                </a:solidFill>
                <a:latin typeface="Consolas"/>
                <a:ea typeface="Consolas"/>
              </a:rPr>
              <a:t>LOCAL_UNDO_ENABLED   TRUE</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컨테이너별 언두 테이블스페이스</a:t>
            </a:r>
          </a:p>
          <a:p>
            <a:pPr>
              <a:spcAft>
                <a:spcPts val="200"/>
              </a:spcAft>
            </a:pPr>
            <a:r>
              <a:rPr sz="1200" b="0">
                <a:solidFill>
                  <a:srgbClr val="E6E6E6"/>
                </a:solidFill>
                <a:latin typeface="Consolas"/>
                <a:ea typeface="Consolas"/>
              </a:rPr>
              <a:t>SYS@cdb1&gt; SELECT con_id, tablespace_name FROM cdb_tablespaces</a:t>
            </a:r>
          </a:p>
          <a:p>
            <a:pPr>
              <a:spcAft>
                <a:spcPts val="200"/>
              </a:spcAft>
            </a:pPr>
            <a:r>
              <a:rPr sz="1200" b="0">
                <a:solidFill>
                  <a:srgbClr val="E6E6E6"/>
                </a:solidFill>
                <a:latin typeface="Consolas"/>
                <a:ea typeface="Consolas"/>
              </a:rPr>
              <a:t>  2  WHERE contents='UNDO' ORDER BY con_id;</a:t>
            </a:r>
          </a:p>
          <a:p>
            <a:pPr>
              <a:spcAft>
                <a:spcPts val="200"/>
              </a:spcAft>
            </a:pPr>
            <a:r>
              <a:rPr sz="1200" b="0">
                <a:solidFill>
                  <a:srgbClr val="E6E6E6"/>
                </a:solidFill>
                <a:latin typeface="Consolas"/>
                <a:ea typeface="Consolas"/>
              </a:rPr>
              <a:t> </a:t>
            </a:r>
          </a:p>
          <a:p>
            <a:pPr>
              <a:spcAft>
                <a:spcPts val="200"/>
              </a:spcAft>
            </a:pPr>
            <a:r>
              <a:rPr sz="1200" b="0">
                <a:solidFill>
                  <a:srgbClr val="E6E6E6"/>
                </a:solidFill>
                <a:latin typeface="Consolas"/>
                <a:ea typeface="Consolas"/>
              </a:rPr>
              <a:t>    CON_ID TABLESPACE_NAME</a:t>
            </a:r>
          </a:p>
          <a:p>
            <a:pPr>
              <a:spcAft>
                <a:spcPts val="200"/>
              </a:spcAft>
            </a:pPr>
            <a:r>
              <a:rPr sz="1200" b="0">
                <a:solidFill>
                  <a:srgbClr val="7EC699"/>
                </a:solidFill>
                <a:latin typeface="Consolas"/>
                <a:ea typeface="Consolas"/>
              </a:rPr>
              <a:t>---------- ---------------</a:t>
            </a:r>
          </a:p>
          <a:p>
            <a:pPr>
              <a:spcAft>
                <a:spcPts val="200"/>
              </a:spcAft>
            </a:pPr>
            <a:r>
              <a:rPr sz="1200" b="0">
                <a:solidFill>
                  <a:srgbClr val="E6E6E6"/>
                </a:solidFill>
                <a:latin typeface="Consolas"/>
                <a:ea typeface="Consolas"/>
              </a:rPr>
              <a:t>         1 UNDOTBS1</a:t>
            </a:r>
          </a:p>
          <a:p>
            <a:pPr>
              <a:spcAft>
                <a:spcPts val="200"/>
              </a:spcAft>
            </a:pPr>
            <a:r>
              <a:rPr sz="1200" b="0">
                <a:solidFill>
                  <a:srgbClr val="E6E6E6"/>
                </a:solidFill>
                <a:latin typeface="Consolas"/>
                <a:ea typeface="Consolas"/>
              </a:rPr>
              <a:t>         3 UNDOTBS1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TS 생성·전환·삭제</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새 언두 TS로 무중단 교체</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nchor="t">
            <a:spAutoFit/>
          </a:bodyPr>
          <a:lstStyle/>
          <a:p>
            <a:pPr>
              <a:spcAft>
                <a:spcPts val="200"/>
              </a:spcAft>
            </a:pPr>
            <a:r>
              <a:rPr sz="1200" b="0">
                <a:solidFill>
                  <a:srgbClr val="7EC699"/>
                </a:solidFill>
                <a:latin typeface="Consolas"/>
                <a:ea typeface="Consolas"/>
              </a:rPr>
              <a:t>-- 새 언두 테이블스페이스 생성 (고정 크기)</a:t>
            </a:r>
          </a:p>
          <a:p>
            <a:pPr>
              <a:spcAft>
                <a:spcPts val="200"/>
              </a:spcAft>
            </a:pPr>
            <a:r>
              <a:rPr sz="1200" b="0">
                <a:solidFill>
                  <a:srgbClr val="E6E6E6"/>
                </a:solidFill>
                <a:latin typeface="Consolas"/>
                <a:ea typeface="Consolas"/>
              </a:rPr>
              <a:t>SYS@cdb1&gt; CREATE UNDO TABLESPACE undotbs2</a:t>
            </a:r>
          </a:p>
          <a:p>
            <a:pPr>
              <a:spcAft>
                <a:spcPts val="200"/>
              </a:spcAft>
            </a:pPr>
            <a:r>
              <a:rPr sz="1200" b="0">
                <a:solidFill>
                  <a:srgbClr val="E6E6E6"/>
                </a:solidFill>
                <a:latin typeface="Consolas"/>
                <a:ea typeface="Consolas"/>
              </a:rPr>
              <a:t>  2  DATAFILE '/u01/.../undotbs02.dbf' SIZE 350M AUTOEXTEND OFF;</a:t>
            </a:r>
          </a:p>
          <a:p>
            <a:pPr>
              <a:spcAft>
                <a:spcPts val="200"/>
              </a:spcAft>
            </a:pPr>
            <a:r>
              <a:rPr sz="1200" b="0">
                <a:solidFill>
                  <a:srgbClr val="E6E6E6"/>
                </a:solidFill>
                <a:latin typeface="Consolas"/>
                <a:ea typeface="Consolas"/>
              </a:rPr>
              <a:t>Tablespace created.</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현재 인스턴스가 사용할 언두 TS를 전환</a:t>
            </a:r>
          </a:p>
          <a:p>
            <a:pPr>
              <a:spcAft>
                <a:spcPts val="200"/>
              </a:spcAft>
            </a:pPr>
            <a:r>
              <a:rPr sz="1200" b="0">
                <a:solidFill>
                  <a:srgbClr val="E6E6E6"/>
                </a:solidFill>
                <a:latin typeface="Consolas"/>
                <a:ea typeface="Consolas"/>
              </a:rPr>
              <a:t>SYS@cdb1&gt; ALTER SYSTEM SET undo_tablespace=undotbs2 SCOPE=BOTH;</a:t>
            </a:r>
          </a:p>
          <a:p>
            <a:pPr>
              <a:spcAft>
                <a:spcPts val="200"/>
              </a:spcAft>
            </a:pPr>
            <a:r>
              <a:rPr sz="1200" b="0">
                <a:solidFill>
                  <a:srgbClr val="E6E6E6"/>
                </a:solidFill>
                <a:latin typeface="Consolas"/>
                <a:ea typeface="Consolas"/>
              </a:rPr>
              <a:t>System altered.</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(실수) 아직 활성 트랜잭션이 남은 기존 TS 즉시 삭제 시도</a:t>
            </a:r>
          </a:p>
          <a:p>
            <a:pPr>
              <a:spcAft>
                <a:spcPts val="200"/>
              </a:spcAft>
            </a:pPr>
            <a:r>
              <a:rPr sz="1200" b="0">
                <a:solidFill>
                  <a:srgbClr val="E6E6E6"/>
                </a:solidFill>
                <a:latin typeface="Consolas"/>
                <a:ea typeface="Consolas"/>
              </a:rPr>
              <a:t>SYS@cdb1&gt; DROP TABLESPACE undotbs1 INCLUDING CONTENTS AND DATAFILES;</a:t>
            </a:r>
          </a:p>
          <a:p>
            <a:pPr>
              <a:spcAft>
                <a:spcPts val="200"/>
              </a:spcAft>
            </a:pPr>
            <a:r>
              <a:rPr sz="1200" b="0">
                <a:solidFill>
                  <a:srgbClr val="E6E6E6"/>
                </a:solidFill>
                <a:latin typeface="Consolas"/>
                <a:ea typeface="Consolas"/>
              </a:rPr>
              <a:t>ORA-30013: undo tablespace 'UNDOTBS1' is currently in use</a:t>
            </a:r>
          </a:p>
          <a:p>
            <a:pPr>
              <a:spcAft>
                <a:spcPts val="200"/>
              </a:spcAft>
            </a:pPr>
            <a:r>
              <a:rPr sz="1200" b="0">
                <a:solidFill>
                  <a:srgbClr val="7EC699"/>
                </a:solidFill>
                <a:latin typeface="Consolas"/>
                <a:ea typeface="Consolas"/>
              </a:rPr>
              <a:t>-- 원인: PENDING OFFLINE. 활성 트랜잭션 종료 후 재시도하면 성공</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r>
              <a:rPr sz="4000" b="1">
                <a:solidFill>
                  <a:srgbClr val="FFFFFF"/>
                </a:solidFill>
                <a:latin typeface="Malgun Gothic"/>
                <a:ea typeface="Malgun Gothic"/>
              </a:rPr>
              <a:t>20.C</a:t>
            </a:r>
          </a:p>
        </p:txBody>
      </p:sp>
      <p:sp>
        <p:nvSpPr>
          <p:cNvPr id="4" name="TextBox 3"/>
          <p:cNvSpPr txBox="1"/>
          <p:nvPr/>
        </p:nvSpPr>
        <p:spPr>
          <a:xfrm>
            <a:off x="822960" y="3017520"/>
            <a:ext cx="10515600" cy="914400"/>
          </a:xfrm>
          <a:prstGeom prst="rect">
            <a:avLst/>
          </a:prstGeom>
          <a:noFill/>
        </p:spPr>
        <p:txBody>
          <a:bodyPr wrap="square" anchor="t">
            <a:spAutoFit/>
          </a:bodyPr>
          <a:lstStyle/>
          <a:p>
            <a:r>
              <a:rPr sz="2800" b="1">
                <a:solidFill>
                  <a:srgbClr val="FFFFFF"/>
                </a:solidFill>
                <a:latin typeface="Malgun Gothic"/>
                <a:ea typeface="Malgun Gothic"/>
              </a:rPr>
              <a:t>보존과 범주</a:t>
            </a:r>
          </a:p>
        </p:txBody>
      </p:sp>
      <p:sp>
        <p:nvSpPr>
          <p:cNvPr id="5" name="Rectangle 4"/>
          <p:cNvSpPr/>
          <p:nvPr/>
        </p:nvSpPr>
        <p:spPr>
          <a:xfrm>
            <a:off x="868680" y="4114800"/>
            <a:ext cx="5486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97680"/>
            <a:ext cx="10058400" cy="1828800"/>
          </a:xfrm>
          <a:prstGeom prst="rect">
            <a:avLst/>
          </a:prstGeom>
          <a:noFill/>
        </p:spPr>
        <p:txBody>
          <a:bodyPr wrap="square" anchor="t">
            <a:spAutoFit/>
          </a:bodyPr>
          <a:lstStyle/>
          <a:p>
            <a:pPr>
              <a:spcAft>
                <a:spcPts val="600"/>
              </a:spcAft>
            </a:pPr>
            <a:r>
              <a:rPr sz="1600" b="0">
                <a:solidFill>
                  <a:srgbClr val="FFFFFF"/>
                </a:solidFill>
                <a:latin typeface="Malgun Gothic"/>
                <a:ea typeface="Malgun Gothic"/>
              </a:rPr>
              <a:t>•  언두 보존 기간 구성</a:t>
            </a:r>
          </a:p>
          <a:p>
            <a:pPr>
              <a:spcAft>
                <a:spcPts val="600"/>
              </a:spcAft>
            </a:pPr>
            <a:r>
              <a:rPr sz="1600" b="0">
                <a:solidFill>
                  <a:srgbClr val="FFFFFF"/>
                </a:solidFill>
                <a:latin typeface="Malgun Gothic"/>
                <a:ea typeface="Malgun Gothic"/>
              </a:rPr>
              <a:t>•  언두의 세 범주</a:t>
            </a:r>
          </a:p>
          <a:p>
            <a:pPr>
              <a:spcAft>
                <a:spcPts val="600"/>
              </a:spcAft>
            </a:pPr>
            <a:r>
              <a:rPr sz="1600" b="0">
                <a:solidFill>
                  <a:srgbClr val="FFFFFF"/>
                </a:solidFill>
                <a:latin typeface="Malgun Gothic"/>
                <a:ea typeface="Malgun Gothic"/>
              </a:rPr>
              <a:t>•  언두 보존 보장(GUARANTEE)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보존 기간 구성</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UNDO_RETENTION의 진실</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커밋 언두를 최소 얼마나 보존할지(초) → 긴 쿼리 읽기 일관성 지원</a:t>
            </a:r>
          </a:p>
          <a:p>
            <a:pPr>
              <a:spcAft>
                <a:spcPts val="1000"/>
              </a:spcAft>
            </a:pPr>
            <a:r>
              <a:rPr sz="1800" b="0">
                <a:solidFill>
                  <a:srgbClr val="C0392B"/>
                </a:solidFill>
                <a:latin typeface="Malgun Gothic"/>
                <a:ea typeface="Malgun Gothic"/>
              </a:rPr>
              <a:t>•  자동확장 TS: 하한 목표 — 필요 시 데이터 파일 확장해 보존</a:t>
            </a:r>
          </a:p>
          <a:p>
            <a:pPr>
              <a:spcAft>
                <a:spcPts val="1000"/>
              </a:spcAft>
            </a:pPr>
            <a:r>
              <a:rPr sz="1800" b="0">
                <a:solidFill>
                  <a:srgbClr val="C0392B"/>
                </a:solidFill>
                <a:latin typeface="Malgun Gothic"/>
                <a:ea typeface="Malgun Gothic"/>
              </a:rPr>
              <a:t>•  고정 크기 TS: 공간에 맞춰 실제 보존(TUNED_UNDORETENTION) 자동 조정</a:t>
            </a:r>
          </a:p>
          <a:p>
            <a:pPr>
              <a:spcAft>
                <a:spcPts val="1000"/>
              </a:spcAft>
            </a:pPr>
            <a:r>
              <a:rPr sz="1800" b="0">
                <a:solidFill>
                  <a:srgbClr val="C0392B"/>
                </a:solidFill>
                <a:latin typeface="Malgun Gothic"/>
                <a:ea typeface="Malgun Gothic"/>
              </a:rPr>
              <a:t>•  오해 주의: 값을 키워도 보존이 보장되는 것은 아님</a:t>
            </a:r>
          </a:p>
          <a:p>
            <a:pPr>
              <a:spcAft>
                <a:spcPts val="1000"/>
              </a:spcAft>
            </a:pPr>
            <a:r>
              <a:rPr sz="1800" b="0">
                <a:solidFill>
                  <a:srgbClr val="C0392B"/>
                </a:solidFill>
                <a:latin typeface="Malgun Gothic"/>
                <a:ea typeface="Malgun Gothic"/>
              </a:rPr>
              <a:t>•  UNDO_RETENTION=희망, RETENTION GUARANTEE=강제 계약</a:t>
            </a:r>
          </a:p>
          <a:p>
            <a:pPr>
              <a:spcAft>
                <a:spcPts val="1000"/>
              </a:spcAft>
            </a:pPr>
            <a:r>
              <a:rPr sz="1800" b="0">
                <a:solidFill>
                  <a:srgbClr val="C0392B"/>
                </a:solidFill>
                <a:latin typeface="Malgun Gothic"/>
                <a:ea typeface="Malgun Gothic"/>
              </a:rPr>
              <a:t>•  V$UNDOSTAT의 MAXQUERYLEN이 산정 근거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V$UNDOSTAT으로 보존 확인</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TUNED_UNDORETENTION / MAXQUERYLEN</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nchor="t">
            <a:spAutoFit/>
          </a:bodyPr>
          <a:lstStyle/>
          <a:p>
            <a:pPr>
              <a:spcAft>
                <a:spcPts val="200"/>
              </a:spcAft>
            </a:pPr>
            <a:r>
              <a:rPr sz="1200" b="0">
                <a:solidFill>
                  <a:srgbClr val="7EC699"/>
                </a:solidFill>
                <a:latin typeface="Consolas"/>
                <a:ea typeface="Consolas"/>
              </a:rPr>
              <a:t>-- 최근 언두 통계와 튜닝된 보존 기간</a:t>
            </a:r>
          </a:p>
          <a:p>
            <a:pPr>
              <a:spcAft>
                <a:spcPts val="200"/>
              </a:spcAft>
            </a:pPr>
            <a:r>
              <a:rPr sz="1200" b="0">
                <a:solidFill>
                  <a:srgbClr val="E6E6E6"/>
                </a:solidFill>
                <a:latin typeface="Consolas"/>
                <a:ea typeface="Consolas"/>
              </a:rPr>
              <a:t>SYS@cdb1&gt; SELECT begin_time, undoblks, maxquerylen,</a:t>
            </a:r>
          </a:p>
          <a:p>
            <a:pPr>
              <a:spcAft>
                <a:spcPts val="200"/>
              </a:spcAft>
            </a:pPr>
            <a:r>
              <a:rPr sz="1200" b="0">
                <a:solidFill>
                  <a:srgbClr val="E6E6E6"/>
                </a:solidFill>
                <a:latin typeface="Consolas"/>
                <a:ea typeface="Consolas"/>
              </a:rPr>
              <a:t>  2         tuned_undoretention, nospaceerrcnt</a:t>
            </a:r>
          </a:p>
          <a:p>
            <a:pPr>
              <a:spcAft>
                <a:spcPts val="200"/>
              </a:spcAft>
            </a:pPr>
            <a:r>
              <a:rPr sz="1200" b="0">
                <a:solidFill>
                  <a:srgbClr val="E6E6E6"/>
                </a:solidFill>
                <a:latin typeface="Consolas"/>
                <a:ea typeface="Consolas"/>
              </a:rPr>
              <a:t>  3  FROM v$undostat</a:t>
            </a:r>
          </a:p>
          <a:p>
            <a:pPr>
              <a:spcAft>
                <a:spcPts val="200"/>
              </a:spcAft>
            </a:pPr>
            <a:r>
              <a:rPr sz="1200" b="0">
                <a:solidFill>
                  <a:srgbClr val="E6E6E6"/>
                </a:solidFill>
                <a:latin typeface="Consolas"/>
                <a:ea typeface="Consolas"/>
              </a:rPr>
              <a:t>  4  ORDER BY begin_time DESC FETCH FIRST 5 ROWS ONLY;</a:t>
            </a:r>
          </a:p>
          <a:p>
            <a:pPr>
              <a:spcAft>
                <a:spcPts val="200"/>
              </a:spcAft>
            </a:pPr>
            <a:r>
              <a:rPr sz="1200" b="0">
                <a:solidFill>
                  <a:srgbClr val="E6E6E6"/>
                </a:solidFill>
                <a:latin typeface="Consolas"/>
                <a:ea typeface="Consolas"/>
              </a:rPr>
              <a:t> </a:t>
            </a:r>
          </a:p>
          <a:p>
            <a:pPr>
              <a:spcAft>
                <a:spcPts val="200"/>
              </a:spcAft>
            </a:pPr>
            <a:r>
              <a:rPr sz="1200" b="0">
                <a:solidFill>
                  <a:srgbClr val="E6E6E6"/>
                </a:solidFill>
                <a:latin typeface="Consolas"/>
                <a:ea typeface="Consolas"/>
              </a:rPr>
              <a:t>BEGIN_TIME    UNDOBLKS MAXQUERYLEN TUNED_UNDORET NOSPACEERR</a:t>
            </a:r>
          </a:p>
          <a:p>
            <a:pPr>
              <a:spcAft>
                <a:spcPts val="200"/>
              </a:spcAft>
            </a:pPr>
            <a:r>
              <a:rPr sz="1200" b="0">
                <a:solidFill>
                  <a:srgbClr val="7EC699"/>
                </a:solidFill>
                <a:latin typeface="Consolas"/>
                <a:ea typeface="Consolas"/>
              </a:rPr>
              <a:t>------------- -------- ----------- ------------- ----------</a:t>
            </a:r>
          </a:p>
          <a:p>
            <a:pPr>
              <a:spcAft>
                <a:spcPts val="200"/>
              </a:spcAft>
            </a:pPr>
            <a:r>
              <a:rPr sz="1200" b="0">
                <a:solidFill>
                  <a:srgbClr val="E6E6E6"/>
                </a:solidFill>
                <a:latin typeface="Consolas"/>
                <a:ea typeface="Consolas"/>
              </a:rPr>
              <a:t>07-22 14:30       1240         410          2400          0</a:t>
            </a:r>
          </a:p>
          <a:p>
            <a:pPr>
              <a:spcAft>
                <a:spcPts val="200"/>
              </a:spcAft>
            </a:pPr>
            <a:r>
              <a:rPr sz="1200" b="0">
                <a:solidFill>
                  <a:srgbClr val="E6E6E6"/>
                </a:solidFill>
                <a:latin typeface="Consolas"/>
                <a:ea typeface="Consolas"/>
              </a:rPr>
              <a:t>07-22 14:20        980         180          2400          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언두의 세 가지 범주</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Uncommitted / Committed / Expired</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Uncommitted(ACTIVE): 미커밋 활성 트랜잭션 언두 → 절대 덮어쓰기 불가</a:t>
            </a:r>
          </a:p>
          <a:p>
            <a:pPr>
              <a:spcAft>
                <a:spcPts val="1000"/>
              </a:spcAft>
            </a:pPr>
            <a:r>
              <a:rPr sz="1800" b="0">
                <a:solidFill>
                  <a:srgbClr val="C0392B"/>
                </a:solidFill>
                <a:latin typeface="Malgun Gothic"/>
                <a:ea typeface="Malgun Gothic"/>
              </a:rPr>
              <a:t>•  Committed(UNEXPIRED): 커밋됐으나 보존 기간 내 → 읽기 일관성용 보존</a:t>
            </a:r>
          </a:p>
          <a:p>
            <a:pPr>
              <a:spcAft>
                <a:spcPts val="1000"/>
              </a:spcAft>
            </a:pPr>
            <a:r>
              <a:rPr sz="1800" b="0">
                <a:solidFill>
                  <a:srgbClr val="C0392B"/>
                </a:solidFill>
                <a:latin typeface="Malgun Gothic"/>
                <a:ea typeface="Malgun Gothic"/>
              </a:rPr>
              <a:t>•  Expired: 보존 기간 지남 → 재사용(덮어쓰기) 1순위</a:t>
            </a:r>
          </a:p>
          <a:p>
            <a:pPr>
              <a:spcAft>
                <a:spcPts val="1000"/>
              </a:spcAft>
            </a:pPr>
            <a:r>
              <a:rPr sz="1800" b="0">
                <a:solidFill>
                  <a:srgbClr val="C0392B"/>
                </a:solidFill>
                <a:latin typeface="Malgun Gothic"/>
                <a:ea typeface="Malgun Gothic"/>
              </a:rPr>
              <a:t>•  전이: ACTIVE → UNEXPIRED → EXPIRED (원형 버퍼처럼 순환)</a:t>
            </a:r>
          </a:p>
          <a:p>
            <a:pPr>
              <a:spcAft>
                <a:spcPts val="1000"/>
              </a:spcAft>
            </a:pPr>
            <a:r>
              <a:rPr sz="1800" b="0">
                <a:solidFill>
                  <a:srgbClr val="C0392B"/>
                </a:solidFill>
                <a:latin typeface="Malgun Gothic"/>
                <a:ea typeface="Malgun Gothic"/>
              </a:rPr>
              <a:t>•  재사용 우선순위: Expired → (자동확장 시 파일 확장) → Unexpired</a:t>
            </a:r>
          </a:p>
          <a:p>
            <a:pPr>
              <a:spcAft>
                <a:spcPts val="1000"/>
              </a:spcAft>
            </a:pPr>
            <a:r>
              <a:rPr sz="1800" b="0">
                <a:solidFill>
                  <a:srgbClr val="C0392B"/>
                </a:solidFill>
                <a:latin typeface="Malgun Gothic"/>
                <a:ea typeface="Malgun Gothic"/>
              </a:rPr>
              <a:t>•  DBA_UNDO_EXTENTS.STATUS로 범주별 공간 확인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범주별 언두 공간 조회</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DBA_UNDO_EXTENTS.STATUS</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nchor="t">
            <a:spAutoFit/>
          </a:bodyPr>
          <a:lstStyle/>
          <a:p>
            <a:pPr>
              <a:spcAft>
                <a:spcPts val="200"/>
              </a:spcAft>
            </a:pPr>
            <a:r>
              <a:rPr sz="1200" b="0">
                <a:solidFill>
                  <a:srgbClr val="7EC699"/>
                </a:solidFill>
                <a:latin typeface="Consolas"/>
                <a:ea typeface="Consolas"/>
              </a:rPr>
              <a:t>-- 언두 TS의 범주별 공간 사용 현황</a:t>
            </a:r>
          </a:p>
          <a:p>
            <a:pPr>
              <a:spcAft>
                <a:spcPts val="200"/>
              </a:spcAft>
            </a:pPr>
            <a:r>
              <a:rPr sz="1200" b="0">
                <a:solidFill>
                  <a:srgbClr val="E6E6E6"/>
                </a:solidFill>
                <a:latin typeface="Consolas"/>
                <a:ea typeface="Consolas"/>
              </a:rPr>
              <a:t>SYS@cdb1&gt; SELECT tablespace_name, status,</a:t>
            </a:r>
          </a:p>
          <a:p>
            <a:pPr>
              <a:spcAft>
                <a:spcPts val="200"/>
              </a:spcAft>
            </a:pPr>
            <a:r>
              <a:rPr sz="1200" b="0">
                <a:solidFill>
                  <a:srgbClr val="E6E6E6"/>
                </a:solidFill>
                <a:latin typeface="Consolas"/>
                <a:ea typeface="Consolas"/>
              </a:rPr>
              <a:t>  2         SUM(bytes)/1024/1024 AS mb</a:t>
            </a:r>
          </a:p>
          <a:p>
            <a:pPr>
              <a:spcAft>
                <a:spcPts val="200"/>
              </a:spcAft>
            </a:pPr>
            <a:r>
              <a:rPr sz="1200" b="0">
                <a:solidFill>
                  <a:srgbClr val="E6E6E6"/>
                </a:solidFill>
                <a:latin typeface="Consolas"/>
                <a:ea typeface="Consolas"/>
              </a:rPr>
              <a:t>  3  FROM dba_undo_extents</a:t>
            </a:r>
          </a:p>
          <a:p>
            <a:pPr>
              <a:spcAft>
                <a:spcPts val="200"/>
              </a:spcAft>
            </a:pPr>
            <a:r>
              <a:rPr sz="1200" b="0">
                <a:solidFill>
                  <a:srgbClr val="E6E6E6"/>
                </a:solidFill>
                <a:latin typeface="Consolas"/>
                <a:ea typeface="Consolas"/>
              </a:rPr>
              <a:t>  4  GROUP BY tablespace_name, status ORDER BY 1,2;</a:t>
            </a:r>
          </a:p>
          <a:p>
            <a:pPr>
              <a:spcAft>
                <a:spcPts val="200"/>
              </a:spcAft>
            </a:pPr>
            <a:r>
              <a:rPr sz="1200" b="0">
                <a:solidFill>
                  <a:srgbClr val="E6E6E6"/>
                </a:solidFill>
                <a:latin typeface="Consolas"/>
                <a:ea typeface="Consolas"/>
              </a:rPr>
              <a:t> </a:t>
            </a:r>
          </a:p>
          <a:p>
            <a:pPr>
              <a:spcAft>
                <a:spcPts val="200"/>
              </a:spcAft>
            </a:pPr>
            <a:r>
              <a:rPr sz="1200" b="0">
                <a:solidFill>
                  <a:srgbClr val="E6E6E6"/>
                </a:solidFill>
                <a:latin typeface="Consolas"/>
                <a:ea typeface="Consolas"/>
              </a:rPr>
              <a:t>TABLESPACE_NAME  STATUS       MB</a:t>
            </a:r>
          </a:p>
          <a:p>
            <a:pPr>
              <a:spcAft>
                <a:spcPts val="200"/>
              </a:spcAft>
            </a:pPr>
            <a:r>
              <a:rPr sz="1200" b="0">
                <a:solidFill>
                  <a:srgbClr val="7EC699"/>
                </a:solidFill>
                <a:latin typeface="Consolas"/>
                <a:ea typeface="Consolas"/>
              </a:rPr>
              <a:t>---------------- ---------- ------</a:t>
            </a:r>
          </a:p>
          <a:p>
            <a:pPr>
              <a:spcAft>
                <a:spcPts val="200"/>
              </a:spcAft>
            </a:pPr>
            <a:r>
              <a:rPr sz="1200" b="0">
                <a:solidFill>
                  <a:srgbClr val="E6E6E6"/>
                </a:solidFill>
                <a:latin typeface="Consolas"/>
                <a:ea typeface="Consolas"/>
              </a:rPr>
              <a:t>UNDOTBS1         ACTIVE       12.5</a:t>
            </a:r>
          </a:p>
          <a:p>
            <a:pPr>
              <a:spcAft>
                <a:spcPts val="200"/>
              </a:spcAft>
            </a:pPr>
            <a:r>
              <a:rPr sz="1200" b="0">
                <a:solidFill>
                  <a:srgbClr val="E6E6E6"/>
                </a:solidFill>
                <a:latin typeface="Consolas"/>
                <a:ea typeface="Consolas"/>
              </a:rPr>
              <a:t>UNDOTBS1         EXPIRED     180.0</a:t>
            </a:r>
          </a:p>
          <a:p>
            <a:pPr>
              <a:spcAft>
                <a:spcPts val="200"/>
              </a:spcAft>
            </a:pPr>
            <a:r>
              <a:rPr sz="1200" b="0">
                <a:solidFill>
                  <a:srgbClr val="E6E6E6"/>
                </a:solidFill>
                <a:latin typeface="Consolas"/>
                <a:ea typeface="Consolas"/>
              </a:rPr>
              <a:t>UNDOTBS1         UNEXPIRED    45.0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보존 보장</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RETENTION GUARANTEE</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기본은 최선 노력 → 공간 부족 시 unexpired 언두 덮어쓸 수 있음(ORA-01555 위험)</a:t>
            </a:r>
          </a:p>
          <a:p>
            <a:pPr>
              <a:spcAft>
                <a:spcPts val="1000"/>
              </a:spcAft>
            </a:pPr>
            <a:r>
              <a:rPr sz="1800" b="0">
                <a:solidFill>
                  <a:srgbClr val="C0392B"/>
                </a:solidFill>
                <a:latin typeface="Malgun Gothic"/>
                <a:ea typeface="Malgun Gothic"/>
              </a:rPr>
              <a:t>•  ALTER TABLESPACE undotbs1 RETENTION GUARANTEE → 보존 강제</a:t>
            </a:r>
          </a:p>
          <a:p>
            <a:pPr>
              <a:spcAft>
                <a:spcPts val="1000"/>
              </a:spcAft>
            </a:pPr>
            <a:r>
              <a:rPr sz="1800" b="0">
                <a:solidFill>
                  <a:srgbClr val="C0392B"/>
                </a:solidFill>
                <a:latin typeface="Malgun Gothic"/>
                <a:ea typeface="Malgun Gothic"/>
              </a:rPr>
              <a:t>•  용도: Flashback 필수·규제/감사·반드시 완주해야 하는 긴 리포트</a:t>
            </a:r>
          </a:p>
          <a:p>
            <a:pPr>
              <a:spcAft>
                <a:spcPts val="1000"/>
              </a:spcAft>
            </a:pPr>
            <a:r>
              <a:rPr sz="1800" b="0">
                <a:solidFill>
                  <a:srgbClr val="C0392B"/>
                </a:solidFill>
                <a:latin typeface="Malgun Gothic"/>
                <a:ea typeface="Malgun Gothic"/>
              </a:rPr>
              <a:t>•  대가: 공간 부족 시 새 DML이 ORA-30036으로 실패 가능</a:t>
            </a:r>
          </a:p>
          <a:p>
            <a:pPr>
              <a:spcAft>
                <a:spcPts val="1000"/>
              </a:spcAft>
            </a:pPr>
            <a:r>
              <a:rPr sz="1800" b="0">
                <a:solidFill>
                  <a:srgbClr val="C0392B"/>
                </a:solidFill>
                <a:latin typeface="Malgun Gothic"/>
                <a:ea typeface="Malgun Gothic"/>
              </a:rPr>
              <a:t>•  TS 단위 속성 → LOCAL 모드에서 특정 PDB에만 선택 적용 가능</a:t>
            </a:r>
          </a:p>
          <a:p>
            <a:pPr>
              <a:spcAft>
                <a:spcPts val="1000"/>
              </a:spcAft>
            </a:pPr>
            <a:r>
              <a:rPr sz="1800" b="0">
                <a:solidFill>
                  <a:srgbClr val="C0392B"/>
                </a:solidFill>
                <a:latin typeface="Malgun Gothic"/>
                <a:ea typeface="Malgun Gothic"/>
              </a:rPr>
              <a:t>•  GUARANTEE는 반드시 충분한 공간·자동확장과 함께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RETENTION GUARANTEE 설정</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ALTER TABLESPACE ... RETENTION</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nchor="t">
            <a:spAutoFit/>
          </a:bodyPr>
          <a:lstStyle/>
          <a:p>
            <a:pPr>
              <a:spcAft>
                <a:spcPts val="200"/>
              </a:spcAft>
            </a:pPr>
            <a:r>
              <a:rPr sz="1200" b="0">
                <a:solidFill>
                  <a:srgbClr val="7EC699"/>
                </a:solidFill>
                <a:latin typeface="Consolas"/>
                <a:ea typeface="Consolas"/>
              </a:rPr>
              <a:t>-- 보존 보장 활성화</a:t>
            </a:r>
          </a:p>
          <a:p>
            <a:pPr>
              <a:spcAft>
                <a:spcPts val="200"/>
              </a:spcAft>
            </a:pPr>
            <a:r>
              <a:rPr sz="1200" b="0">
                <a:solidFill>
                  <a:srgbClr val="E6E6E6"/>
                </a:solidFill>
                <a:latin typeface="Consolas"/>
                <a:ea typeface="Consolas"/>
              </a:rPr>
              <a:t>SYS@cdb1&gt; ALTER TABLESPACE undotbs1 RETENTION GUARANTEE;</a:t>
            </a:r>
          </a:p>
          <a:p>
            <a:pPr>
              <a:spcAft>
                <a:spcPts val="200"/>
              </a:spcAft>
            </a:pPr>
            <a:r>
              <a:rPr sz="1200" b="0">
                <a:solidFill>
                  <a:srgbClr val="E6E6E6"/>
                </a:solidFill>
                <a:latin typeface="Consolas"/>
                <a:ea typeface="Consolas"/>
              </a:rPr>
              <a:t>Tablespace altered.</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현재 보장 상태 확인</a:t>
            </a:r>
          </a:p>
          <a:p>
            <a:pPr>
              <a:spcAft>
                <a:spcPts val="200"/>
              </a:spcAft>
            </a:pPr>
            <a:r>
              <a:rPr sz="1200" b="0">
                <a:solidFill>
                  <a:srgbClr val="E6E6E6"/>
                </a:solidFill>
                <a:latin typeface="Consolas"/>
                <a:ea typeface="Consolas"/>
              </a:rPr>
              <a:t>SYS@cdb1&gt; SELECT tablespace_name, retention</a:t>
            </a:r>
          </a:p>
          <a:p>
            <a:pPr>
              <a:spcAft>
                <a:spcPts val="200"/>
              </a:spcAft>
            </a:pPr>
            <a:r>
              <a:rPr sz="1200" b="0">
                <a:solidFill>
                  <a:srgbClr val="E6E6E6"/>
                </a:solidFill>
                <a:latin typeface="Consolas"/>
                <a:ea typeface="Consolas"/>
              </a:rPr>
              <a:t>  2  FROM dba_tablespaces WHERE contents='UNDO';</a:t>
            </a:r>
          </a:p>
          <a:p>
            <a:pPr>
              <a:spcAft>
                <a:spcPts val="200"/>
              </a:spcAft>
            </a:pPr>
            <a:r>
              <a:rPr sz="1200" b="0">
                <a:solidFill>
                  <a:srgbClr val="E6E6E6"/>
                </a:solidFill>
                <a:latin typeface="Consolas"/>
                <a:ea typeface="Consolas"/>
              </a:rPr>
              <a:t> </a:t>
            </a:r>
          </a:p>
          <a:p>
            <a:pPr>
              <a:spcAft>
                <a:spcPts val="200"/>
              </a:spcAft>
            </a:pPr>
            <a:r>
              <a:rPr sz="1200" b="0">
                <a:solidFill>
                  <a:srgbClr val="E6E6E6"/>
                </a:solidFill>
                <a:latin typeface="Consolas"/>
                <a:ea typeface="Consolas"/>
              </a:rPr>
              <a:t>TABLESPACE_NAME  RETENTION</a:t>
            </a:r>
          </a:p>
          <a:p>
            <a:pPr>
              <a:spcAft>
                <a:spcPts val="200"/>
              </a:spcAft>
            </a:pPr>
            <a:r>
              <a:rPr sz="1200" b="0">
                <a:solidFill>
                  <a:srgbClr val="7EC699"/>
                </a:solidFill>
                <a:latin typeface="Consolas"/>
                <a:ea typeface="Consolas"/>
              </a:rPr>
              <a:t>---------------- ----------</a:t>
            </a:r>
          </a:p>
          <a:p>
            <a:pPr>
              <a:spcAft>
                <a:spcPts val="200"/>
              </a:spcAft>
            </a:pPr>
            <a:r>
              <a:rPr sz="1200" b="0">
                <a:solidFill>
                  <a:srgbClr val="E6E6E6"/>
                </a:solidFill>
                <a:latin typeface="Consolas"/>
                <a:ea typeface="Consolas"/>
              </a:rPr>
              <a:t>UNDOTBS1         GUARANTEE</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최선 노력 모드로 복귀</a:t>
            </a:r>
          </a:p>
          <a:p>
            <a:pPr>
              <a:spcAft>
                <a:spcPts val="200"/>
              </a:spcAft>
            </a:pPr>
            <a:r>
              <a:rPr sz="1200" b="0">
                <a:solidFill>
                  <a:srgbClr val="E6E6E6"/>
                </a:solidFill>
                <a:latin typeface="Consolas"/>
                <a:ea typeface="Consolas"/>
              </a:rPr>
              <a:t>SYS@cdb1&gt; ALTER TABLESPACE undotbs1 RETENTION NOGUARANTEE;</a:t>
            </a:r>
          </a:p>
          <a:p>
            <a:pPr>
              <a:spcAft>
                <a:spcPts val="200"/>
              </a:spcAft>
            </a:pPr>
            <a:r>
              <a:rPr sz="1200" b="0">
                <a:solidFill>
                  <a:srgbClr val="E6E6E6"/>
                </a:solidFill>
                <a:latin typeface="Consolas"/>
                <a:ea typeface="Consolas"/>
              </a:rPr>
              <a:t>Tablespace altered.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부족 진단과 대응</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ORA-01555 / ORA-30036</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ORA-01555(snapshot too old): 조회가 필요한 과거 언두가 덮어써짐</a:t>
            </a:r>
          </a:p>
          <a:p>
            <a:pPr lvl="1">
              <a:spcAft>
                <a:spcPts val="1000"/>
              </a:spcAft>
            </a:pPr>
            <a:r>
              <a:rPr sz="1600" b="0">
                <a:solidFill>
                  <a:srgbClr val="C0392B"/>
                </a:solidFill>
                <a:latin typeface="Malgun Gothic"/>
                <a:ea typeface="Malgun Gothic"/>
              </a:rPr>
              <a:t>–  대응: UNDO_RETENTION↑, 언두 TS 크기↑, RETENTION GUARANTEE, 쿼리 단축</a:t>
            </a:r>
          </a:p>
          <a:p>
            <a:pPr>
              <a:spcAft>
                <a:spcPts val="1000"/>
              </a:spcAft>
            </a:pPr>
            <a:r>
              <a:rPr sz="1800" b="0">
                <a:solidFill>
                  <a:srgbClr val="C0392B"/>
                </a:solidFill>
                <a:latin typeface="Malgun Gothic"/>
                <a:ea typeface="Malgun Gothic"/>
              </a:rPr>
              <a:t>•  ORA-30036(unable to extend ... undo): 활성 트랜잭션 언두 공간 부족</a:t>
            </a:r>
          </a:p>
          <a:p>
            <a:pPr lvl="1">
              <a:spcAft>
                <a:spcPts val="1000"/>
              </a:spcAft>
            </a:pPr>
            <a:r>
              <a:rPr sz="1600" b="0">
                <a:solidFill>
                  <a:srgbClr val="C0392B"/>
                </a:solidFill>
                <a:latin typeface="Malgun Gothic"/>
                <a:ea typeface="Malgun Gothic"/>
              </a:rPr>
              <a:t>–  대응: 언두 TS 확장/자동확장, 대용량 트랜잭션 분할 커밋</a:t>
            </a:r>
          </a:p>
          <a:p>
            <a:pPr>
              <a:spcAft>
                <a:spcPts val="1000"/>
              </a:spcAft>
            </a:pPr>
            <a:r>
              <a:rPr sz="1800" b="0">
                <a:solidFill>
                  <a:srgbClr val="C0392B"/>
                </a:solidFill>
                <a:latin typeface="Malgun Gothic"/>
                <a:ea typeface="Malgun Gothic"/>
              </a:rPr>
              <a:t>•  진단: V$UNDOSTAT(NOSPACEERRCNT,MAXQUERYLEN), DBA_UNDO_EXTENTS</a:t>
            </a:r>
          </a:p>
          <a:p>
            <a:pPr>
              <a:spcAft>
                <a:spcPts val="1000"/>
              </a:spcAft>
            </a:pPr>
            <a:r>
              <a:rPr sz="1800" b="0">
                <a:solidFill>
                  <a:srgbClr val="C0392B"/>
                </a:solidFill>
                <a:latin typeface="Malgun Gothic"/>
                <a:ea typeface="Malgun Gothic"/>
              </a:rPr>
              <a:t>•  근본 원인: 긴 쿼리 vs 짧은 보존, 또는 언두 TS 절대 크기 부족</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r>
              <a:rPr sz="4000" b="1">
                <a:solidFill>
                  <a:srgbClr val="FFFFFF"/>
                </a:solidFill>
                <a:latin typeface="Malgun Gothic"/>
                <a:ea typeface="Malgun Gothic"/>
              </a:rPr>
              <a:t>20.D</a:t>
            </a:r>
          </a:p>
        </p:txBody>
      </p:sp>
      <p:sp>
        <p:nvSpPr>
          <p:cNvPr id="4" name="TextBox 3"/>
          <p:cNvSpPr txBox="1"/>
          <p:nvPr/>
        </p:nvSpPr>
        <p:spPr>
          <a:xfrm>
            <a:off x="822960" y="3017520"/>
            <a:ext cx="10515600" cy="914400"/>
          </a:xfrm>
          <a:prstGeom prst="rect">
            <a:avLst/>
          </a:prstGeom>
          <a:noFill/>
        </p:spPr>
        <p:txBody>
          <a:bodyPr wrap="square" anchor="t">
            <a:spAutoFit/>
          </a:bodyPr>
          <a:lstStyle/>
          <a:p>
            <a:r>
              <a:rPr sz="2800" b="1">
                <a:solidFill>
                  <a:srgbClr val="FFFFFF"/>
                </a:solidFill>
                <a:latin typeface="Malgun Gothic"/>
                <a:ea typeface="Malgun Gothic"/>
              </a:rPr>
              <a:t>사이징과 임시 언두</a:t>
            </a:r>
          </a:p>
        </p:txBody>
      </p:sp>
      <p:sp>
        <p:nvSpPr>
          <p:cNvPr id="5" name="Rectangle 4"/>
          <p:cNvSpPr/>
          <p:nvPr/>
        </p:nvSpPr>
        <p:spPr>
          <a:xfrm>
            <a:off x="868680" y="4114800"/>
            <a:ext cx="5486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97680"/>
            <a:ext cx="10058400" cy="1828800"/>
          </a:xfrm>
          <a:prstGeom prst="rect">
            <a:avLst/>
          </a:prstGeom>
          <a:noFill/>
        </p:spPr>
        <p:txBody>
          <a:bodyPr wrap="square" anchor="t">
            <a:spAutoFit/>
          </a:bodyPr>
          <a:lstStyle/>
          <a:p>
            <a:pPr>
              <a:spcAft>
                <a:spcPts val="600"/>
              </a:spcAft>
            </a:pPr>
            <a:r>
              <a:rPr sz="1600" b="0">
                <a:solidFill>
                  <a:srgbClr val="FFFFFF"/>
                </a:solidFill>
                <a:latin typeface="Malgun Gothic"/>
                <a:ea typeface="Malgun Gothic"/>
              </a:rPr>
              <a:t>•  언두 TS 고정 크기 전환</a:t>
            </a:r>
          </a:p>
          <a:p>
            <a:pPr>
              <a:spcAft>
                <a:spcPts val="600"/>
              </a:spcAft>
            </a:pPr>
            <a:r>
              <a:rPr sz="1600" b="0">
                <a:solidFill>
                  <a:srgbClr val="FFFFFF"/>
                </a:solidFill>
                <a:latin typeface="Malgun Gothic"/>
                <a:ea typeface="Malgun Gothic"/>
              </a:rPr>
              <a:t>•  Temporary Undo 개요/이점</a:t>
            </a:r>
          </a:p>
          <a:p>
            <a:pPr>
              <a:spcAft>
                <a:spcPts val="600"/>
              </a:spcAft>
            </a:pPr>
            <a:r>
              <a:rPr sz="1600" b="0">
                <a:solidFill>
                  <a:srgbClr val="FFFFFF"/>
                </a:solidFill>
                <a:latin typeface="Malgun Gothic"/>
                <a:ea typeface="Malgun Gothic"/>
              </a:rPr>
              <a:t>•  활성화와 모니터링</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TS 고정 크기 전환</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AUTOEXTEND OFF</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자동확장: 폭증에도 안전하나 공간 예측 불가·한 번 커지면 안 줄어듦</a:t>
            </a:r>
          </a:p>
          <a:p>
            <a:pPr>
              <a:spcAft>
                <a:spcPts val="1000"/>
              </a:spcAft>
            </a:pPr>
            <a:r>
              <a:rPr sz="1800" b="0">
                <a:solidFill>
                  <a:srgbClr val="C0392B"/>
                </a:solidFill>
                <a:latin typeface="Malgun Gothic"/>
                <a:ea typeface="Malgun Gothic"/>
              </a:rPr>
              <a:t>•  고정 크기 핵심: 데이터 파일 AUTOEXTEND OFF</a:t>
            </a:r>
          </a:p>
          <a:p>
            <a:pPr>
              <a:spcAft>
                <a:spcPts val="1000"/>
              </a:spcAft>
            </a:pPr>
            <a:r>
              <a:rPr sz="1800" b="0">
                <a:solidFill>
                  <a:srgbClr val="C0392B"/>
                </a:solidFill>
                <a:latin typeface="Malgun Gothic"/>
                <a:ea typeface="Malgun Gothic"/>
              </a:rPr>
              <a:t>•  고정 시 Oracle이 공간에 맞춰 TUNED_UNDORETENTION 자동 조정</a:t>
            </a:r>
          </a:p>
          <a:p>
            <a:pPr>
              <a:spcAft>
                <a:spcPts val="1000"/>
              </a:spcAft>
            </a:pPr>
            <a:r>
              <a:rPr sz="1800" b="0">
                <a:solidFill>
                  <a:srgbClr val="C0392B"/>
                </a:solidFill>
                <a:latin typeface="Malgun Gothic"/>
                <a:ea typeface="Malgun Gothic"/>
              </a:rPr>
              <a:t>•  고정 크기에서는 대개 NOGUARANTEE 유지(공간 부족 DML 실패 방지)</a:t>
            </a:r>
          </a:p>
          <a:p>
            <a:pPr>
              <a:spcAft>
                <a:spcPts val="1000"/>
              </a:spcAft>
            </a:pPr>
            <a:r>
              <a:rPr sz="1800" b="0">
                <a:solidFill>
                  <a:srgbClr val="C0392B"/>
                </a:solidFill>
                <a:latin typeface="Malgun Gothic"/>
                <a:ea typeface="Malgun Gothic"/>
              </a:rPr>
              <a:t>•  크기 산정: Undo Advisor(EM) 또는 DBMS_UNDO_ADV.REQUIRED_UNDO_SIZE</a:t>
            </a:r>
          </a:p>
          <a:p>
            <a:pPr>
              <a:spcAft>
                <a:spcPts val="1000"/>
              </a:spcAft>
            </a:pPr>
            <a:r>
              <a:rPr sz="1800" b="0">
                <a:solidFill>
                  <a:srgbClr val="C0392B"/>
                </a:solidFill>
                <a:latin typeface="Malgun Gothic"/>
                <a:ea typeface="Malgun Gothic"/>
              </a:rPr>
              <a:t>•  절충안: 자동확장 ON + MAXSIZE 상한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크기 산정과 고정 크기 전환</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DBMS_UNDO_ADV / RESIZE / AUTOEXTEND OFF</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nchor="t">
            <a:spAutoFit/>
          </a:bodyPr>
          <a:lstStyle/>
          <a:p>
            <a:pPr>
              <a:spcAft>
                <a:spcPts val="200"/>
              </a:spcAft>
            </a:pPr>
            <a:r>
              <a:rPr sz="1200" b="0">
                <a:solidFill>
                  <a:srgbClr val="7EC699"/>
                </a:solidFill>
                <a:latin typeface="Consolas"/>
                <a:ea typeface="Consolas"/>
              </a:rPr>
              <a:t>-- 목표 보존(1800초)에 필요한 언두 크기 산정</a:t>
            </a:r>
          </a:p>
          <a:p>
            <a:pPr>
              <a:spcAft>
                <a:spcPts val="200"/>
              </a:spcAft>
            </a:pPr>
            <a:r>
              <a:rPr sz="1200" b="0">
                <a:solidFill>
                  <a:srgbClr val="E6E6E6"/>
                </a:solidFill>
                <a:latin typeface="Consolas"/>
                <a:ea typeface="Consolas"/>
              </a:rPr>
              <a:t>SYS@cdb1&gt; SELECT dbms_undo_adv.required_undo_size(1800)</a:t>
            </a:r>
          </a:p>
          <a:p>
            <a:pPr>
              <a:spcAft>
                <a:spcPts val="200"/>
              </a:spcAft>
            </a:pPr>
            <a:r>
              <a:rPr sz="1200" b="0">
                <a:solidFill>
                  <a:srgbClr val="E6E6E6"/>
                </a:solidFill>
                <a:latin typeface="Consolas"/>
                <a:ea typeface="Consolas"/>
              </a:rPr>
              <a:t>  2  AS need_mb FROM dual;</a:t>
            </a:r>
          </a:p>
          <a:p>
            <a:pPr>
              <a:spcAft>
                <a:spcPts val="200"/>
              </a:spcAft>
            </a:pPr>
            <a:r>
              <a:rPr sz="1200" b="0">
                <a:solidFill>
                  <a:srgbClr val="E6E6E6"/>
                </a:solidFill>
                <a:latin typeface="Consolas"/>
                <a:ea typeface="Consolas"/>
              </a:rPr>
              <a:t> </a:t>
            </a:r>
          </a:p>
          <a:p>
            <a:pPr>
              <a:spcAft>
                <a:spcPts val="200"/>
              </a:spcAft>
            </a:pPr>
            <a:r>
              <a:rPr sz="1200" b="0">
                <a:solidFill>
                  <a:srgbClr val="E6E6E6"/>
                </a:solidFill>
                <a:latin typeface="Consolas"/>
                <a:ea typeface="Consolas"/>
              </a:rPr>
              <a:t>   NEED_MB</a:t>
            </a:r>
          </a:p>
          <a:p>
            <a:pPr>
              <a:spcAft>
                <a:spcPts val="200"/>
              </a:spcAft>
            </a:pPr>
            <a:r>
              <a:rPr sz="1200" b="0">
                <a:solidFill>
                  <a:srgbClr val="7EC699"/>
                </a:solidFill>
                <a:latin typeface="Consolas"/>
                <a:ea typeface="Consolas"/>
              </a:rPr>
              <a:t>----------</a:t>
            </a:r>
          </a:p>
          <a:p>
            <a:pPr>
              <a:spcAft>
                <a:spcPts val="200"/>
              </a:spcAft>
            </a:pPr>
            <a:r>
              <a:rPr sz="1200" b="0">
                <a:solidFill>
                  <a:srgbClr val="E6E6E6"/>
                </a:solidFill>
                <a:latin typeface="Consolas"/>
                <a:ea typeface="Consolas"/>
              </a:rPr>
              <a:t>       350</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리사이즈 후 자동확장 OFF (고정 크기)</a:t>
            </a:r>
          </a:p>
          <a:p>
            <a:pPr>
              <a:spcAft>
                <a:spcPts val="200"/>
              </a:spcAft>
            </a:pPr>
            <a:r>
              <a:rPr sz="1200" b="0">
                <a:solidFill>
                  <a:srgbClr val="E6E6E6"/>
                </a:solidFill>
                <a:latin typeface="Consolas"/>
                <a:ea typeface="Consolas"/>
              </a:rPr>
              <a:t>SYS@cdb1&gt; ALTER DATABASE DATAFILE '/u01/.../undotbs01.dbf' RESIZE 350M;</a:t>
            </a:r>
          </a:p>
          <a:p>
            <a:pPr>
              <a:spcAft>
                <a:spcPts val="200"/>
              </a:spcAft>
            </a:pPr>
            <a:r>
              <a:rPr sz="1200" b="0">
                <a:solidFill>
                  <a:srgbClr val="E6E6E6"/>
                </a:solidFill>
                <a:latin typeface="Consolas"/>
                <a:ea typeface="Consolas"/>
              </a:rPr>
              <a:t>Database altered.</a:t>
            </a:r>
          </a:p>
          <a:p>
            <a:pPr>
              <a:spcAft>
                <a:spcPts val="200"/>
              </a:spcAft>
            </a:pPr>
            <a:r>
              <a:rPr sz="1200" b="0">
                <a:solidFill>
                  <a:srgbClr val="E6E6E6"/>
                </a:solidFill>
                <a:latin typeface="Consolas"/>
                <a:ea typeface="Consolas"/>
              </a:rPr>
              <a:t>SYS@cdb1&gt; ALTER DATABASE DATAFILE '/u01/.../undotbs01.dbf' AUTOEXTEND OFF;</a:t>
            </a:r>
          </a:p>
          <a:p>
            <a:pPr>
              <a:spcAft>
                <a:spcPts val="200"/>
              </a:spcAft>
            </a:pPr>
            <a:r>
              <a:rPr sz="1200" b="0">
                <a:solidFill>
                  <a:srgbClr val="E6E6E6"/>
                </a:solidFill>
                <a:latin typeface="Consolas"/>
                <a:ea typeface="Consolas"/>
              </a:rPr>
              <a:t>Database altered.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Temporary Undo 개요</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12c 신기능</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GTT 등 임시 객체 DML의 언두를 영구 언두 TS 대신 임시 TS에 저장</a:t>
            </a:r>
          </a:p>
          <a:p>
            <a:pPr>
              <a:spcAft>
                <a:spcPts val="1000"/>
              </a:spcAft>
            </a:pPr>
            <a:r>
              <a:rPr sz="1800" b="0">
                <a:solidFill>
                  <a:srgbClr val="C0392B"/>
                </a:solidFill>
                <a:latin typeface="Malgun Gothic"/>
                <a:ea typeface="Malgun Gothic"/>
              </a:rPr>
              <a:t>•  기존: 임시 데이터의 언두도 영구 언두 TS 소비 + 리두 생성</a:t>
            </a:r>
          </a:p>
          <a:p>
            <a:pPr>
              <a:spcAft>
                <a:spcPts val="1000"/>
              </a:spcAft>
            </a:pPr>
            <a:r>
              <a:rPr sz="1800" b="0">
                <a:solidFill>
                  <a:srgbClr val="C0392B"/>
                </a:solidFill>
                <a:latin typeface="Malgun Gothic"/>
                <a:ea typeface="Malgun Gothic"/>
              </a:rPr>
              <a:t>•  GTT: 정의는 공유, 데이터는 세션/트랜잭션별 격리(ETL·리포트 스테이징)</a:t>
            </a:r>
          </a:p>
          <a:p>
            <a:pPr>
              <a:spcAft>
                <a:spcPts val="1000"/>
              </a:spcAft>
            </a:pPr>
            <a:r>
              <a:rPr sz="1800" b="0">
                <a:solidFill>
                  <a:srgbClr val="C0392B"/>
                </a:solidFill>
                <a:latin typeface="Malgun Gothic"/>
                <a:ea typeface="Malgun Gothic"/>
              </a:rPr>
              <a:t>•  임시 객체 DML도 롤백·읽기 일관성 위해 언두 필요</a:t>
            </a:r>
          </a:p>
          <a:p>
            <a:pPr>
              <a:spcAft>
                <a:spcPts val="1000"/>
              </a:spcAft>
            </a:pPr>
            <a:r>
              <a:rPr sz="1800" b="0">
                <a:solidFill>
                  <a:srgbClr val="C0392B"/>
                </a:solidFill>
                <a:latin typeface="Malgun Gothic"/>
                <a:ea typeface="Malgun Gothic"/>
              </a:rPr>
              <a:t>•  Temporary Undo가 그 언두의 저장 위치를 바꾸는 최적화</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Temporary Undo의 이점</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공간·리두·Standby</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영구 언두 공간 절약: 임시 작업이 영구 언두 TS를 부풀리지 않음</a:t>
            </a:r>
          </a:p>
          <a:p>
            <a:pPr>
              <a:spcAft>
                <a:spcPts val="1000"/>
              </a:spcAft>
            </a:pPr>
            <a:r>
              <a:rPr sz="1800" b="0">
                <a:solidFill>
                  <a:srgbClr val="C0392B"/>
                </a:solidFill>
                <a:latin typeface="Malgun Gothic"/>
                <a:ea typeface="Malgun Gothic"/>
              </a:rPr>
              <a:t>•  리두 생성량 감소: 임시 객체 언두가 리두로 보호되지 않음</a:t>
            </a:r>
          </a:p>
          <a:p>
            <a:pPr lvl="1">
              <a:spcAft>
                <a:spcPts val="1000"/>
              </a:spcAft>
            </a:pPr>
            <a:r>
              <a:rPr sz="1600" b="0">
                <a:solidFill>
                  <a:srgbClr val="C0392B"/>
                </a:solidFill>
                <a:latin typeface="Malgun Gothic"/>
                <a:ea typeface="Malgun Gothic"/>
              </a:rPr>
              <a:t>–  → LGWR 부하↓, 로그 스위치↓, 아카이브 로그량↓ (ETL에서 큰 효과)</a:t>
            </a:r>
          </a:p>
          <a:p>
            <a:pPr>
              <a:spcAft>
                <a:spcPts val="1000"/>
              </a:spcAft>
            </a:pPr>
            <a:r>
              <a:rPr sz="1800" b="0">
                <a:solidFill>
                  <a:srgbClr val="C0392B"/>
                </a:solidFill>
                <a:latin typeface="Malgun Gothic"/>
                <a:ea typeface="Malgun Gothic"/>
              </a:rPr>
              <a:t>•  읽기 전용/Active Data Guard에서 GTT 사용 가능</a:t>
            </a:r>
          </a:p>
          <a:p>
            <a:pPr>
              <a:spcAft>
                <a:spcPts val="1000"/>
              </a:spcAft>
            </a:pPr>
            <a:r>
              <a:rPr sz="1800" b="0">
                <a:solidFill>
                  <a:srgbClr val="C0392B"/>
                </a:solidFill>
                <a:latin typeface="Malgun Gothic"/>
                <a:ea typeface="Malgun Gothic"/>
              </a:rPr>
              <a:t>•  주의: 임시 테이블의 데이터 자체는 원래부터 임시 TS에 저장됨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Temporary Undo 활성화</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TEMP_UNDO_ENABLED</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기본값 FALSE → TRUE로 활성화</a:t>
            </a:r>
          </a:p>
          <a:p>
            <a:pPr>
              <a:spcAft>
                <a:spcPts val="1000"/>
              </a:spcAft>
            </a:pPr>
            <a:r>
              <a:rPr sz="1800" b="0">
                <a:solidFill>
                  <a:srgbClr val="C0392B"/>
                </a:solidFill>
                <a:latin typeface="Malgun Gothic"/>
                <a:ea typeface="Malgun Gothic"/>
              </a:rPr>
              <a:t>•  세션 수준(ALTER SESSION)·시스템 수준(ALTER SYSTEM) 모두 가능</a:t>
            </a:r>
          </a:p>
          <a:p>
            <a:pPr>
              <a:spcAft>
                <a:spcPts val="1000"/>
              </a:spcAft>
            </a:pPr>
            <a:r>
              <a:rPr sz="1800" b="0">
                <a:solidFill>
                  <a:srgbClr val="C0392B"/>
                </a:solidFill>
                <a:latin typeface="Malgun Gothic"/>
                <a:ea typeface="Malgun Gothic"/>
              </a:rPr>
              <a:t>•  주의: 세션이 임시 테이블을 이미 사용한 뒤에는 변경 불가</a:t>
            </a:r>
          </a:p>
          <a:p>
            <a:pPr lvl="1">
              <a:spcAft>
                <a:spcPts val="1000"/>
              </a:spcAft>
            </a:pPr>
            <a:r>
              <a:rPr sz="1600" b="0">
                <a:solidFill>
                  <a:srgbClr val="C0392B"/>
                </a:solidFill>
                <a:latin typeface="Malgun Gothic"/>
                <a:ea typeface="Malgun Gothic"/>
              </a:rPr>
              <a:t>–  → 임시 테이블 접근 전에 ALTER SESSION SET TEMP_UNDO_ENABLED=TRUE</a:t>
            </a:r>
          </a:p>
          <a:p>
            <a:pPr>
              <a:spcAft>
                <a:spcPts val="1000"/>
              </a:spcAft>
            </a:pPr>
            <a:r>
              <a:rPr sz="1800" b="0">
                <a:solidFill>
                  <a:srgbClr val="C0392B"/>
                </a:solidFill>
                <a:latin typeface="Malgun Gothic"/>
                <a:ea typeface="Malgun Gothic"/>
              </a:rPr>
              <a:t>•  임시 TS에 충분한 공간이 있는지 함께 점검</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TEMP_UNDO_ENABLED 설정</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ALTER SESSION / ALTER SYSTEM</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nchor="t">
            <a:spAutoFit/>
          </a:bodyPr>
          <a:lstStyle/>
          <a:p>
            <a:pPr>
              <a:spcAft>
                <a:spcPts val="200"/>
              </a:spcAft>
            </a:pPr>
            <a:r>
              <a:rPr sz="1200" b="0">
                <a:solidFill>
                  <a:srgbClr val="7EC699"/>
                </a:solidFill>
                <a:latin typeface="Consolas"/>
                <a:ea typeface="Consolas"/>
              </a:rPr>
              <a:t>-- 세션 수준 활성화 (임시 테이블 접근 전에 실행)</a:t>
            </a:r>
          </a:p>
          <a:p>
            <a:pPr>
              <a:spcAft>
                <a:spcPts val="200"/>
              </a:spcAft>
            </a:pPr>
            <a:r>
              <a:rPr sz="1200" b="0">
                <a:solidFill>
                  <a:srgbClr val="E6E6E6"/>
                </a:solidFill>
                <a:latin typeface="Consolas"/>
                <a:ea typeface="Consolas"/>
              </a:rPr>
              <a:t>SYS@cdb1&gt; ALTER SESSION SET temp_undo_enabled=TRUE;</a:t>
            </a:r>
          </a:p>
          <a:p>
            <a:pPr>
              <a:spcAft>
                <a:spcPts val="200"/>
              </a:spcAft>
            </a:pPr>
            <a:r>
              <a:rPr sz="1200" b="0">
                <a:solidFill>
                  <a:srgbClr val="E6E6E6"/>
                </a:solidFill>
                <a:latin typeface="Consolas"/>
                <a:ea typeface="Consolas"/>
              </a:rPr>
              <a:t>Session altered.</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(실수) 임시 테이블 사용 후 변경 시도 → 오류</a:t>
            </a:r>
          </a:p>
          <a:p>
            <a:pPr>
              <a:spcAft>
                <a:spcPts val="200"/>
              </a:spcAft>
            </a:pPr>
            <a:r>
              <a:rPr sz="1200" b="0">
                <a:solidFill>
                  <a:srgbClr val="E6E6E6"/>
                </a:solidFill>
                <a:latin typeface="Consolas"/>
                <a:ea typeface="Consolas"/>
              </a:rPr>
              <a:t>SYS@cdb1&gt; INSERT INTO gtt_rpt SELECT * FROM sales;  -- GTT 먼저 사용</a:t>
            </a:r>
          </a:p>
          <a:p>
            <a:pPr>
              <a:spcAft>
                <a:spcPts val="200"/>
              </a:spcAft>
            </a:pPr>
            <a:r>
              <a:rPr sz="1200" b="0">
                <a:solidFill>
                  <a:srgbClr val="E6E6E6"/>
                </a:solidFill>
                <a:latin typeface="Consolas"/>
                <a:ea typeface="Consolas"/>
              </a:rPr>
              <a:t>SYS@cdb1&gt; ALTER SESSION SET temp_undo_enabled=FALSE;</a:t>
            </a:r>
          </a:p>
          <a:p>
            <a:pPr>
              <a:spcAft>
                <a:spcPts val="200"/>
              </a:spcAft>
            </a:pPr>
            <a:r>
              <a:rPr sz="1200" b="0">
                <a:solidFill>
                  <a:srgbClr val="E6E6E6"/>
                </a:solidFill>
                <a:latin typeface="Consolas"/>
                <a:ea typeface="Consolas"/>
              </a:rPr>
              <a:t>ERROR: ORA-14453: attempt to use a temporary table ... in use</a:t>
            </a:r>
          </a:p>
          <a:p>
            <a:pPr>
              <a:spcAft>
                <a:spcPts val="200"/>
              </a:spcAft>
            </a:pPr>
            <a:r>
              <a:rPr sz="1200" b="0">
                <a:solidFill>
                  <a:srgbClr val="7EC699"/>
                </a:solidFill>
                <a:latin typeface="Consolas"/>
                <a:ea typeface="Consolas"/>
              </a:rPr>
              <a:t>-- 원인: 세션이 이미 임시 테이블 사용 중 → 새 세션에서 설정</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시스템 수준 전역 활성화</a:t>
            </a:r>
          </a:p>
          <a:p>
            <a:pPr>
              <a:spcAft>
                <a:spcPts val="200"/>
              </a:spcAft>
            </a:pPr>
            <a:r>
              <a:rPr sz="1200" b="0">
                <a:solidFill>
                  <a:srgbClr val="E6E6E6"/>
                </a:solidFill>
                <a:latin typeface="Consolas"/>
                <a:ea typeface="Consolas"/>
              </a:rPr>
              <a:t>SYS@cdb1&gt; ALTER SYSTEM SET temp_undo_enabled=TRUE SCOPE=BOTH;</a:t>
            </a:r>
          </a:p>
          <a:p>
            <a:pPr>
              <a:spcAft>
                <a:spcPts val="200"/>
              </a:spcAft>
            </a:pPr>
            <a:r>
              <a:rPr sz="1200" b="0">
                <a:solidFill>
                  <a:srgbClr val="E6E6E6"/>
                </a:solidFill>
                <a:latin typeface="Consolas"/>
                <a:ea typeface="Consolas"/>
              </a:rPr>
              <a:t>System altered.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Temporary Undo 모니터링</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V$TEMP_UNDO_STAT 등</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V$TEMP_UNDO_STAT: 임시 언두 사용량·블록수·익스텐트·트랜잭션 수</a:t>
            </a:r>
          </a:p>
          <a:p>
            <a:pPr>
              <a:spcAft>
                <a:spcPts val="1000"/>
              </a:spcAft>
            </a:pPr>
            <a:r>
              <a:rPr sz="1800" b="0">
                <a:solidFill>
                  <a:srgbClr val="C0392B"/>
                </a:solidFill>
                <a:latin typeface="Malgun Gothic"/>
                <a:ea typeface="Malgun Gothic"/>
              </a:rPr>
              <a:t>•  리두 감소 효과: V$SYSSTAT/V$SESSTAT의 redo size를 전후 비교</a:t>
            </a:r>
          </a:p>
          <a:p>
            <a:pPr>
              <a:spcAft>
                <a:spcPts val="1000"/>
              </a:spcAft>
            </a:pPr>
            <a:r>
              <a:rPr sz="1800" b="0">
                <a:solidFill>
                  <a:srgbClr val="C0392B"/>
                </a:solidFill>
                <a:latin typeface="Malgun Gothic"/>
                <a:ea typeface="Malgun Gothic"/>
              </a:rPr>
              <a:t>•  세션별 임시 언두 사용 여부: V$SESSION 관련 컬럼</a:t>
            </a:r>
          </a:p>
          <a:p>
            <a:pPr>
              <a:spcAft>
                <a:spcPts val="1000"/>
              </a:spcAft>
            </a:pPr>
            <a:r>
              <a:rPr sz="1800" b="0">
                <a:solidFill>
                  <a:srgbClr val="C0392B"/>
                </a:solidFill>
                <a:latin typeface="Malgun Gothic"/>
                <a:ea typeface="Malgun Gothic"/>
              </a:rPr>
              <a:t>•  임시 TS 사용량: V$TEMPSEG_USAGE·DBA_TEMP_FREE_SPACE로 병행 관찰</a:t>
            </a:r>
          </a:p>
          <a:p>
            <a:pPr>
              <a:spcAft>
                <a:spcPts val="1000"/>
              </a:spcAft>
            </a:pPr>
            <a:r>
              <a:rPr sz="1800" b="0">
                <a:solidFill>
                  <a:srgbClr val="C0392B"/>
                </a:solidFill>
                <a:latin typeface="Malgun Gothic"/>
                <a:ea typeface="Malgun Gothic"/>
              </a:rPr>
              <a:t>•  임시 언두를 켜면 임시 TS 부담↑ → 부족 여부 지속 점검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임시 언두 모니터링</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V$TEMP_UNDO_STAT / redo size</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nchor="t">
            <a:spAutoFit/>
          </a:bodyPr>
          <a:lstStyle/>
          <a:p>
            <a:pPr>
              <a:spcAft>
                <a:spcPts val="200"/>
              </a:spcAft>
            </a:pPr>
            <a:r>
              <a:rPr sz="1200" b="0">
                <a:solidFill>
                  <a:srgbClr val="7EC699"/>
                </a:solidFill>
                <a:latin typeface="Consolas"/>
                <a:ea typeface="Consolas"/>
              </a:rPr>
              <a:t>-- 임시 언두 사용 통계</a:t>
            </a:r>
          </a:p>
          <a:p>
            <a:pPr>
              <a:spcAft>
                <a:spcPts val="200"/>
              </a:spcAft>
            </a:pPr>
            <a:r>
              <a:rPr sz="1200" b="0">
                <a:solidFill>
                  <a:srgbClr val="E6E6E6"/>
                </a:solidFill>
                <a:latin typeface="Consolas"/>
                <a:ea typeface="Consolas"/>
              </a:rPr>
              <a:t>SYS@cdb1&gt; SELECT begin_time, undotsn, txncount,</a:t>
            </a:r>
          </a:p>
          <a:p>
            <a:pPr>
              <a:spcAft>
                <a:spcPts val="200"/>
              </a:spcAft>
            </a:pPr>
            <a:r>
              <a:rPr sz="1200" b="0">
                <a:solidFill>
                  <a:srgbClr val="E6E6E6"/>
                </a:solidFill>
                <a:latin typeface="Consolas"/>
                <a:ea typeface="Consolas"/>
              </a:rPr>
              <a:t>  2         maxconcurrency, undoblkcnt, extcnt</a:t>
            </a:r>
          </a:p>
          <a:p>
            <a:pPr>
              <a:spcAft>
                <a:spcPts val="200"/>
              </a:spcAft>
            </a:pPr>
            <a:r>
              <a:rPr sz="1200" b="0">
                <a:solidFill>
                  <a:srgbClr val="E6E6E6"/>
                </a:solidFill>
                <a:latin typeface="Consolas"/>
                <a:ea typeface="Consolas"/>
              </a:rPr>
              <a:t>  3  FROM v$temp_undo_stat</a:t>
            </a:r>
          </a:p>
          <a:p>
            <a:pPr>
              <a:spcAft>
                <a:spcPts val="200"/>
              </a:spcAft>
            </a:pPr>
            <a:r>
              <a:rPr sz="1200" b="0">
                <a:solidFill>
                  <a:srgbClr val="E6E6E6"/>
                </a:solidFill>
                <a:latin typeface="Consolas"/>
                <a:ea typeface="Consolas"/>
              </a:rPr>
              <a:t>  4  ORDER BY begin_time DESC FETCH FIRST 3 ROWS ONLY;</a:t>
            </a:r>
          </a:p>
          <a:p>
            <a:pPr>
              <a:spcAft>
                <a:spcPts val="200"/>
              </a:spcAft>
            </a:pPr>
            <a:r>
              <a:rPr sz="1200" b="0">
                <a:solidFill>
                  <a:srgbClr val="E6E6E6"/>
                </a:solidFill>
                <a:latin typeface="Consolas"/>
                <a:ea typeface="Consolas"/>
              </a:rPr>
              <a:t> </a:t>
            </a:r>
          </a:p>
          <a:p>
            <a:pPr>
              <a:spcAft>
                <a:spcPts val="200"/>
              </a:spcAft>
            </a:pPr>
            <a:r>
              <a:rPr sz="1200" b="0">
                <a:solidFill>
                  <a:srgbClr val="7EC699"/>
                </a:solidFill>
                <a:latin typeface="Consolas"/>
                <a:ea typeface="Consolas"/>
              </a:rPr>
              <a:t>-- 활성화 전후 리두 생성량 비교</a:t>
            </a:r>
          </a:p>
          <a:p>
            <a:pPr>
              <a:spcAft>
                <a:spcPts val="200"/>
              </a:spcAft>
            </a:pPr>
            <a:r>
              <a:rPr sz="1200" b="0">
                <a:solidFill>
                  <a:srgbClr val="E6E6E6"/>
                </a:solidFill>
                <a:latin typeface="Consolas"/>
                <a:ea typeface="Consolas"/>
              </a:rPr>
              <a:t>SYS@cdb1&gt; SELECT name, value FROM v$sysstat</a:t>
            </a:r>
          </a:p>
          <a:p>
            <a:pPr>
              <a:spcAft>
                <a:spcPts val="200"/>
              </a:spcAft>
            </a:pPr>
            <a:r>
              <a:rPr sz="1200" b="0">
                <a:solidFill>
                  <a:srgbClr val="E6E6E6"/>
                </a:solidFill>
                <a:latin typeface="Consolas"/>
                <a:ea typeface="Consolas"/>
              </a:rPr>
              <a:t>  2  WHERE name='redo size';</a:t>
            </a:r>
          </a:p>
          <a:p>
            <a:pPr>
              <a:spcAft>
                <a:spcPts val="200"/>
              </a:spcAft>
            </a:pPr>
            <a:r>
              <a:rPr sz="1200" b="0">
                <a:solidFill>
                  <a:srgbClr val="E6E6E6"/>
                </a:solidFill>
                <a:latin typeface="Consolas"/>
                <a:ea typeface="Consolas"/>
              </a:rPr>
              <a:t> </a:t>
            </a:r>
          </a:p>
          <a:p>
            <a:pPr>
              <a:spcAft>
                <a:spcPts val="200"/>
              </a:spcAft>
            </a:pPr>
            <a:r>
              <a:rPr sz="1200" b="0">
                <a:solidFill>
                  <a:srgbClr val="E6E6E6"/>
                </a:solidFill>
                <a:latin typeface="Consolas"/>
                <a:ea typeface="Consolas"/>
              </a:rPr>
              <a:t>NAME        VALUE</a:t>
            </a:r>
          </a:p>
          <a:p>
            <a:pPr>
              <a:spcAft>
                <a:spcPts val="200"/>
              </a:spcAft>
            </a:pPr>
            <a:r>
              <a:rPr sz="1200" b="0">
                <a:solidFill>
                  <a:srgbClr val="7EC699"/>
                </a:solidFill>
                <a:latin typeface="Consolas"/>
                <a:ea typeface="Consolas"/>
              </a:rPr>
              <a:t>---------- ------------</a:t>
            </a:r>
          </a:p>
          <a:p>
            <a:pPr>
              <a:spcAft>
                <a:spcPts val="200"/>
              </a:spcAft>
            </a:pPr>
            <a:r>
              <a:rPr sz="1200" b="0">
                <a:solidFill>
                  <a:srgbClr val="E6E6E6"/>
                </a:solidFill>
                <a:latin typeface="Consolas"/>
                <a:ea typeface="Consolas"/>
              </a:rPr>
              <a:t>redo size   8452113920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언두 관리 딕셔너리 뷰 정리</a:t>
            </a:r>
          </a:p>
        </p:txBody>
      </p:sp>
      <p:sp>
        <p:nvSpPr>
          <p:cNvPr id="4" name="TextBox 3"/>
          <p:cNvSpPr txBox="1"/>
          <p:nvPr/>
        </p:nvSpPr>
        <p:spPr>
          <a:xfrm>
            <a:off x="640080" y="1115568"/>
            <a:ext cx="10881360" cy="457200"/>
          </a:xfrm>
          <a:prstGeom prst="rect">
            <a:avLst/>
          </a:prstGeom>
          <a:noFill/>
        </p:spPr>
        <p:txBody>
          <a:bodyPr wrap="square" anchor="t">
            <a:spAutoFit/>
          </a:bodyPr>
          <a:lstStyle/>
          <a:p>
            <a:r>
              <a:rPr sz="1500" b="0">
                <a:solidFill>
                  <a:srgbClr val="5A6672"/>
                </a:solidFill>
                <a:latin typeface="Malgun Gothic"/>
                <a:ea typeface="Malgun Gothic"/>
              </a:rPr>
              <a:t>한눈에 보는 조회 뷰</a:t>
            </a:r>
          </a:p>
        </p:txBody>
      </p:sp>
      <p:sp>
        <p:nvSpPr>
          <p:cNvPr id="5" name="TextBox 4"/>
          <p:cNvSpPr txBox="1"/>
          <p:nvPr/>
        </p:nvSpPr>
        <p:spPr>
          <a:xfrm>
            <a:off x="640080" y="1691640"/>
            <a:ext cx="10881360" cy="4572000"/>
          </a:xfrm>
          <a:prstGeom prst="rect">
            <a:avLst/>
          </a:prstGeom>
          <a:noFill/>
        </p:spPr>
        <p:txBody>
          <a:bodyPr wrap="square" anchor="t">
            <a:spAutoFit/>
          </a:bodyPr>
          <a:lstStyle/>
          <a:p>
            <a:pPr>
              <a:spcAft>
                <a:spcPts val="1000"/>
              </a:spcAft>
            </a:pPr>
            <a:r>
              <a:rPr sz="1800" b="0">
                <a:solidFill>
                  <a:srgbClr val="C0392B"/>
                </a:solidFill>
                <a:latin typeface="Malgun Gothic"/>
                <a:ea typeface="Malgun Gothic"/>
              </a:rPr>
              <a:t>•  V$UNDOSTAT: 언두 사용량·TUNED_UNDORETENTION·MAXQUERYLEN·NOSPACEERRCNT</a:t>
            </a:r>
          </a:p>
          <a:p>
            <a:pPr>
              <a:spcAft>
                <a:spcPts val="1000"/>
              </a:spcAft>
            </a:pPr>
            <a:r>
              <a:rPr sz="1800" b="0">
                <a:solidFill>
                  <a:srgbClr val="C0392B"/>
                </a:solidFill>
                <a:latin typeface="Malgun Gothic"/>
                <a:ea typeface="Malgun Gothic"/>
              </a:rPr>
              <a:t>•  DBA_UNDO_EXTENTS: 범주별(ACTIVE/UNEXPIRED/EXPIRED) 공간</a:t>
            </a:r>
          </a:p>
          <a:p>
            <a:pPr>
              <a:spcAft>
                <a:spcPts val="1000"/>
              </a:spcAft>
            </a:pPr>
            <a:r>
              <a:rPr sz="1800" b="0">
                <a:solidFill>
                  <a:srgbClr val="C0392B"/>
                </a:solidFill>
                <a:latin typeface="Malgun Gothic"/>
                <a:ea typeface="Malgun Gothic"/>
              </a:rPr>
              <a:t>•  DBA_ROLLBACK_SEGS: 언두 세그먼트 목록·상태</a:t>
            </a:r>
          </a:p>
          <a:p>
            <a:pPr>
              <a:spcAft>
                <a:spcPts val="1000"/>
              </a:spcAft>
            </a:pPr>
            <a:r>
              <a:rPr sz="1800" b="0">
                <a:solidFill>
                  <a:srgbClr val="C0392B"/>
                </a:solidFill>
                <a:latin typeface="Malgun Gothic"/>
                <a:ea typeface="Malgun Gothic"/>
              </a:rPr>
              <a:t>•  DBA_TABLESPACES: RETENTION(GUARANTEE/NOGUARANTEE)</a:t>
            </a:r>
          </a:p>
          <a:p>
            <a:pPr>
              <a:spcAft>
                <a:spcPts val="1000"/>
              </a:spcAft>
            </a:pPr>
            <a:r>
              <a:rPr sz="1800" b="0">
                <a:solidFill>
                  <a:srgbClr val="C0392B"/>
                </a:solidFill>
                <a:latin typeface="Malgun Gothic"/>
                <a:ea typeface="Malgun Gothic"/>
              </a:rPr>
              <a:t>•  V$TRANSACTION: 트랜잭션별 언두 사용(USED_UBLK/USED_UREC)</a:t>
            </a:r>
          </a:p>
          <a:p>
            <a:pPr>
              <a:spcAft>
                <a:spcPts val="1000"/>
              </a:spcAft>
            </a:pPr>
            <a:r>
              <a:rPr sz="1800" b="0">
                <a:solidFill>
                  <a:srgbClr val="C0392B"/>
                </a:solidFill>
                <a:latin typeface="Malgun Gothic"/>
                <a:ea typeface="Malgun Gothic"/>
              </a:rPr>
              <a:t>•  V$TEMP_UNDO_STAT / DATABASE_PROPERTIES(LOCAL_UNDO_ENABLED)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확인 학습 (Quiz)</a:t>
            </a:r>
          </a:p>
        </p:txBody>
      </p:sp>
      <p:sp>
        <p:nvSpPr>
          <p:cNvPr id="4" name="TextBox 3"/>
          <p:cNvSpPr txBox="1"/>
          <p:nvPr/>
        </p:nvSpPr>
        <p:spPr>
          <a:xfrm>
            <a:off x="640080" y="1417320"/>
            <a:ext cx="10881360" cy="4937760"/>
          </a:xfrm>
          <a:prstGeom prst="rect">
            <a:avLst/>
          </a:prstGeom>
          <a:noFill/>
        </p:spPr>
        <p:txBody>
          <a:bodyPr wrap="square" anchor="t">
            <a:spAutoFit/>
          </a:bodyPr>
          <a:lstStyle/>
          <a:p>
            <a:pPr>
              <a:spcBef>
                <a:spcPts val="600"/>
              </a:spcBef>
              <a:spcAft>
                <a:spcPts val="300"/>
              </a:spcAft>
            </a:pPr>
            <a:r>
              <a:rPr sz="1700" b="1">
                <a:solidFill>
                  <a:srgbClr val="C0392B"/>
                </a:solidFill>
                <a:latin typeface="Malgun Gothic"/>
                <a:ea typeface="Malgun Gothic"/>
              </a:rPr>
              <a:t>Q1. 언두 데이터의 용도가 아닌 것은?</a:t>
            </a:r>
          </a:p>
          <a:p>
            <a:pPr>
              <a:spcAft>
                <a:spcPts val="300"/>
              </a:spcAft>
            </a:pPr>
            <a:r>
              <a:rPr sz="1400" b="0">
                <a:solidFill>
                  <a:srgbClr val="5A6672"/>
                </a:solidFill>
                <a:latin typeface="Malgun Gothic"/>
                <a:ea typeface="Malgun Gothic"/>
              </a:rPr>
              <a:t>   ① 트랜잭션 롤백  ② 읽기 일관성  ③ 커밋 변경 재적용(roll forward)  ④ Flashback</a:t>
            </a:r>
          </a:p>
          <a:p>
            <a:pPr>
              <a:spcAft>
                <a:spcPts val="800"/>
              </a:spcAft>
            </a:pPr>
            <a:r>
              <a:rPr sz="1400" b="1">
                <a:solidFill>
                  <a:srgbClr val="1F4E79"/>
                </a:solidFill>
                <a:latin typeface="Malgun Gothic"/>
                <a:ea typeface="Malgun Gothic"/>
              </a:rPr>
              <a:t>   ▶ ③ — 재적용(roll forward)은 리두의 역할. 언두는 미완료 트랜잭션을 되돌린다.</a:t>
            </a:r>
          </a:p>
          <a:p>
            <a:pPr>
              <a:spcBef>
                <a:spcPts val="600"/>
              </a:spcBef>
              <a:spcAft>
                <a:spcPts val="300"/>
              </a:spcAft>
            </a:pPr>
            <a:r>
              <a:rPr sz="1700" b="1">
                <a:solidFill>
                  <a:srgbClr val="C0392B"/>
                </a:solidFill>
                <a:latin typeface="Malgun Gothic"/>
                <a:ea typeface="Malgun Gothic"/>
              </a:rPr>
              <a:t>Q2. 19c CDB의 기본 언두 모드와 이유는?</a:t>
            </a:r>
          </a:p>
          <a:p>
            <a:pPr>
              <a:spcAft>
                <a:spcPts val="300"/>
              </a:spcAft>
            </a:pPr>
            <a:r>
              <a:rPr sz="1400" b="0">
                <a:solidFill>
                  <a:srgbClr val="5A6672"/>
                </a:solidFill>
                <a:latin typeface="Malgun Gothic"/>
                <a:ea typeface="Malgun Gothic"/>
              </a:rPr>
              <a:t>   ① SHARED-단순  ② LOCAL-고급 PDB 이동성 기능이 PDB별 언두 요구  ③ SHARED-공간절약  ④ LOCAL-리두감소</a:t>
            </a:r>
          </a:p>
          <a:p>
            <a:pPr>
              <a:spcAft>
                <a:spcPts val="800"/>
              </a:spcAft>
            </a:pPr>
            <a:r>
              <a:rPr sz="1400" b="1">
                <a:solidFill>
                  <a:srgbClr val="1F4E79"/>
                </a:solidFill>
                <a:latin typeface="Malgun Gothic"/>
                <a:ea typeface="Malgun Gothic"/>
              </a:rPr>
              <a:t>   ▶ ② — LOCAL(12.2 도입, 19c 기본): hot clone·relocate·refresh가 자체 언두 요구.</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확인 학습 (Quiz)</a:t>
            </a:r>
          </a:p>
        </p:txBody>
      </p:sp>
      <p:sp>
        <p:nvSpPr>
          <p:cNvPr id="4" name="TextBox 3"/>
          <p:cNvSpPr txBox="1"/>
          <p:nvPr/>
        </p:nvSpPr>
        <p:spPr>
          <a:xfrm>
            <a:off x="640080" y="1417320"/>
            <a:ext cx="10881360" cy="4937760"/>
          </a:xfrm>
          <a:prstGeom prst="rect">
            <a:avLst/>
          </a:prstGeom>
          <a:noFill/>
        </p:spPr>
        <p:txBody>
          <a:bodyPr wrap="square" anchor="t">
            <a:spAutoFit/>
          </a:bodyPr>
          <a:lstStyle/>
          <a:p>
            <a:pPr>
              <a:spcBef>
                <a:spcPts val="600"/>
              </a:spcBef>
              <a:spcAft>
                <a:spcPts val="300"/>
              </a:spcAft>
            </a:pPr>
            <a:r>
              <a:rPr sz="1700" b="1">
                <a:solidFill>
                  <a:srgbClr val="C0392B"/>
                </a:solidFill>
                <a:latin typeface="Malgun Gothic"/>
                <a:ea typeface="Malgun Gothic"/>
              </a:rPr>
              <a:t>Q3. UNDO_RETENTION 설명으로 옳은 것은?</a:t>
            </a:r>
          </a:p>
          <a:p>
            <a:pPr>
              <a:spcAft>
                <a:spcPts val="300"/>
              </a:spcAft>
            </a:pPr>
            <a:r>
              <a:rPr sz="1400" b="0">
                <a:solidFill>
                  <a:srgbClr val="5A6672"/>
                </a:solidFill>
                <a:latin typeface="Malgun Gothic"/>
                <a:ea typeface="Malgun Gothic"/>
              </a:rPr>
              <a:t>   ① 최대 보존 시간  ② 커밋 언두 최소 보존(초), 기본은 최선 노력  ③ 크면 항상 보장  ④ 정적 파라미터</a:t>
            </a:r>
          </a:p>
          <a:p>
            <a:pPr>
              <a:spcAft>
                <a:spcPts val="800"/>
              </a:spcAft>
            </a:pPr>
            <a:r>
              <a:rPr sz="1400" b="1">
                <a:solidFill>
                  <a:srgbClr val="1F4E79"/>
                </a:solidFill>
                <a:latin typeface="Malgun Gothic"/>
                <a:ea typeface="Malgun Gothic"/>
              </a:rPr>
              <a:t>   ▶ ② — 최소 보존 목표(초)이자 동적 파라미터. 보장은 RETENTION GUARANTEE로 별도 설정.</a:t>
            </a:r>
          </a:p>
          <a:p>
            <a:pPr>
              <a:spcBef>
                <a:spcPts val="600"/>
              </a:spcBef>
              <a:spcAft>
                <a:spcPts val="300"/>
              </a:spcAft>
            </a:pPr>
            <a:r>
              <a:rPr sz="1700" b="1">
                <a:solidFill>
                  <a:srgbClr val="C0392B"/>
                </a:solidFill>
                <a:latin typeface="Malgun Gothic"/>
                <a:ea typeface="Malgun Gothic"/>
              </a:rPr>
              <a:t>Q4. 새 트랜잭션이 가장 먼저 재사용하는 언두 범주는?</a:t>
            </a:r>
          </a:p>
          <a:p>
            <a:pPr>
              <a:spcAft>
                <a:spcPts val="300"/>
              </a:spcAft>
            </a:pPr>
            <a:r>
              <a:rPr sz="1400" b="0">
                <a:solidFill>
                  <a:srgbClr val="5A6672"/>
                </a:solidFill>
                <a:latin typeface="Malgun Gothic"/>
                <a:ea typeface="Malgun Gothic"/>
              </a:rPr>
              <a:t>   ① Uncommitted(ACTIVE)  ② Committed/Unexpired  ③ Expired  ④ SYSTEM 세그먼트</a:t>
            </a:r>
          </a:p>
          <a:p>
            <a:pPr>
              <a:spcAft>
                <a:spcPts val="800"/>
              </a:spcAft>
            </a:pPr>
            <a:r>
              <a:rPr sz="1400" b="1">
                <a:solidFill>
                  <a:srgbClr val="1F4E79"/>
                </a:solidFill>
                <a:latin typeface="Malgun Gothic"/>
                <a:ea typeface="Malgun Gothic"/>
              </a:rPr>
              <a:t>   ▶ ③ — 만료된(Expired) 언두가 재사용 1순위. Uncommitted는 절대 덮어쓰지 않음.</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확인 학습 (Quiz)</a:t>
            </a:r>
          </a:p>
        </p:txBody>
      </p:sp>
      <p:sp>
        <p:nvSpPr>
          <p:cNvPr id="4" name="TextBox 3"/>
          <p:cNvSpPr txBox="1"/>
          <p:nvPr/>
        </p:nvSpPr>
        <p:spPr>
          <a:xfrm>
            <a:off x="640080" y="1417320"/>
            <a:ext cx="10881360" cy="4937760"/>
          </a:xfrm>
          <a:prstGeom prst="rect">
            <a:avLst/>
          </a:prstGeom>
          <a:noFill/>
        </p:spPr>
        <p:txBody>
          <a:bodyPr wrap="square" anchor="t">
            <a:spAutoFit/>
          </a:bodyPr>
          <a:lstStyle/>
          <a:p>
            <a:pPr>
              <a:spcBef>
                <a:spcPts val="600"/>
              </a:spcBef>
              <a:spcAft>
                <a:spcPts val="300"/>
              </a:spcAft>
            </a:pPr>
            <a:r>
              <a:rPr sz="1700" b="1">
                <a:solidFill>
                  <a:srgbClr val="C0392B"/>
                </a:solidFill>
                <a:latin typeface="Malgun Gothic"/>
                <a:ea typeface="Malgun Gothic"/>
              </a:rPr>
              <a:t>Q5. 고정 크기 언두 TS에 RETENTION GUARANTEE 설정 시 위험은?</a:t>
            </a:r>
          </a:p>
          <a:p>
            <a:pPr>
              <a:spcAft>
                <a:spcPts val="300"/>
              </a:spcAft>
            </a:pPr>
            <a:r>
              <a:rPr sz="1400" b="0">
                <a:solidFill>
                  <a:srgbClr val="5A6672"/>
                </a:solidFill>
                <a:latin typeface="Malgun Gothic"/>
                <a:ea typeface="Malgun Gothic"/>
              </a:rPr>
              <a:t>   ① 리두 급증  ② 공간 소진 시 DML이 ORA-30036 실패 가능  ③ 읽기 일관성 붕괴  ④ 임시 언두 비활성화</a:t>
            </a:r>
          </a:p>
          <a:p>
            <a:pPr>
              <a:spcAft>
                <a:spcPts val="800"/>
              </a:spcAft>
            </a:pPr>
            <a:r>
              <a:rPr sz="1400" b="1">
                <a:solidFill>
                  <a:srgbClr val="1F4E79"/>
                </a:solidFill>
                <a:latin typeface="Malgun Gothic"/>
                <a:ea typeface="Malgun Gothic"/>
              </a:rPr>
              <a:t>   ▶ ② — 보존이 보장되면 unexpired 재사용 불가 → 공간 부족 시 새 DML 실패.</a:t>
            </a:r>
          </a:p>
          <a:p>
            <a:pPr>
              <a:spcBef>
                <a:spcPts val="600"/>
              </a:spcBef>
              <a:spcAft>
                <a:spcPts val="300"/>
              </a:spcAft>
            </a:pPr>
            <a:r>
              <a:rPr sz="1700" b="1">
                <a:solidFill>
                  <a:srgbClr val="C0392B"/>
                </a:solidFill>
                <a:latin typeface="Malgun Gothic"/>
                <a:ea typeface="Malgun Gothic"/>
              </a:rPr>
              <a:t>Q6. Temporary Undo의 효과가 아닌 것은?</a:t>
            </a:r>
          </a:p>
          <a:p>
            <a:pPr>
              <a:spcAft>
                <a:spcPts val="300"/>
              </a:spcAft>
            </a:pPr>
            <a:r>
              <a:rPr sz="1400" b="0">
                <a:solidFill>
                  <a:srgbClr val="5A6672"/>
                </a:solidFill>
                <a:latin typeface="Malgun Gothic"/>
                <a:ea typeface="Malgun Gothic"/>
              </a:rPr>
              <a:t>   ① 임시 DML 언두를 임시 TS에 저장  ② 리두 감소  ③ 영구 언두 공간 절약  ④ 임시 테이블 데이터를 영구 TS에 저장</a:t>
            </a:r>
          </a:p>
          <a:p>
            <a:pPr>
              <a:spcAft>
                <a:spcPts val="800"/>
              </a:spcAft>
            </a:pPr>
            <a:r>
              <a:rPr sz="1400" b="1">
                <a:solidFill>
                  <a:srgbClr val="1F4E79"/>
                </a:solidFill>
                <a:latin typeface="Malgun Gothic"/>
                <a:ea typeface="Malgun Gothic"/>
              </a:rPr>
              <a:t>   ▶ ④ — 임시 테이블 데이터는 원래부터 임시 TS에 저장. 임시 언두는 언두 위치·리두 여부를 바꿈.</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요약 (Summary)</a:t>
            </a:r>
          </a:p>
        </p:txBody>
      </p:sp>
      <p:sp>
        <p:nvSpPr>
          <p:cNvPr id="4" name="TextBox 3"/>
          <p:cNvSpPr txBox="1"/>
          <p:nvPr/>
        </p:nvSpPr>
        <p:spPr>
          <a:xfrm>
            <a:off x="640080" y="1325880"/>
            <a:ext cx="10881360" cy="4572000"/>
          </a:xfrm>
          <a:prstGeom prst="rect">
            <a:avLst/>
          </a:prstGeom>
          <a:noFill/>
        </p:spPr>
        <p:txBody>
          <a:bodyPr wrap="square" anchor="t">
            <a:spAutoFit/>
          </a:bodyPr>
          <a:lstStyle/>
          <a:p>
            <a:pPr>
              <a:spcAft>
                <a:spcPts val="1000"/>
              </a:spcAft>
            </a:pPr>
            <a:r>
              <a:rPr sz="1600" b="0">
                <a:solidFill>
                  <a:srgbClr val="C0392B"/>
                </a:solidFill>
                <a:latin typeface="Malgun Gothic"/>
                <a:ea typeface="Malgun Gothic"/>
              </a:rPr>
              <a:t>•  언두 = 변경 전 값 → 롤백·읽기 일관성·복구·Flashback 4대 용도</a:t>
            </a:r>
          </a:p>
          <a:p>
            <a:pPr>
              <a:spcAft>
                <a:spcPts val="1000"/>
              </a:spcAft>
            </a:pPr>
            <a:r>
              <a:rPr sz="1600" b="0">
                <a:solidFill>
                  <a:srgbClr val="C0392B"/>
                </a:solidFill>
                <a:latin typeface="Malgun Gothic"/>
                <a:ea typeface="Malgun Gothic"/>
              </a:rPr>
              <a:t>•  커밋 후 UNDO_RETENTION 동안 보존, 언두 변경도 리두로 보호</a:t>
            </a:r>
          </a:p>
          <a:p>
            <a:pPr>
              <a:spcAft>
                <a:spcPts val="1000"/>
              </a:spcAft>
            </a:pPr>
            <a:r>
              <a:rPr sz="1600" b="0">
                <a:solidFill>
                  <a:srgbClr val="C0392B"/>
                </a:solidFill>
                <a:latin typeface="Malgun Gothic"/>
                <a:ea typeface="Malgun Gothic"/>
              </a:rPr>
              <a:t>•  AUM이 언두 세그먼트 자동 관리(12c부터 수동 미지원)</a:t>
            </a:r>
          </a:p>
          <a:p>
            <a:pPr>
              <a:spcAft>
                <a:spcPts val="1000"/>
              </a:spcAft>
            </a:pPr>
            <a:r>
              <a:rPr sz="1600" b="0">
                <a:solidFill>
                  <a:srgbClr val="C0392B"/>
                </a:solidFill>
                <a:latin typeface="Malgun Gothic"/>
                <a:ea typeface="Malgun Gothic"/>
              </a:rPr>
              <a:t>•  언두=roll back, 리두=roll forward, 복구는 둘의 협력</a:t>
            </a:r>
          </a:p>
          <a:p>
            <a:pPr>
              <a:spcAft>
                <a:spcPts val="1000"/>
              </a:spcAft>
            </a:pPr>
            <a:r>
              <a:rPr sz="1600" b="0">
                <a:solidFill>
                  <a:srgbClr val="C0392B"/>
                </a:solidFill>
                <a:latin typeface="Malgun Gothic"/>
                <a:ea typeface="Malgun Gothic"/>
              </a:rPr>
              <a:t>•  핵심 파라미터: UNDO_MANAGEMENT/TABLESPACE/RETENTION</a:t>
            </a:r>
          </a:p>
          <a:p>
            <a:pPr>
              <a:spcAft>
                <a:spcPts val="1000"/>
              </a:spcAft>
            </a:pPr>
            <a:r>
              <a:rPr sz="1600" b="0">
                <a:solidFill>
                  <a:srgbClr val="C0392B"/>
                </a:solidFill>
                <a:latin typeface="Malgun Gothic"/>
                <a:ea typeface="Malgun Gothic"/>
              </a:rPr>
              <a:t>•  19c 기본 LOCAL 언두 = PDB별 격리 + 고급 이동성 기능</a:t>
            </a:r>
          </a:p>
          <a:p>
            <a:pPr>
              <a:spcAft>
                <a:spcPts val="1000"/>
              </a:spcAft>
            </a:pPr>
            <a:r>
              <a:rPr sz="1600" b="0">
                <a:solidFill>
                  <a:srgbClr val="C0392B"/>
                </a:solidFill>
                <a:latin typeface="Malgun Gothic"/>
                <a:ea typeface="Malgun Gothic"/>
              </a:rPr>
              <a:t>•  범주 Uncommitted/Committed/Expired, 재사용은 Expired부터</a:t>
            </a:r>
          </a:p>
          <a:p>
            <a:pPr>
              <a:spcAft>
                <a:spcPts val="1000"/>
              </a:spcAft>
            </a:pPr>
            <a:r>
              <a:rPr sz="1600" b="0">
                <a:solidFill>
                  <a:srgbClr val="C0392B"/>
                </a:solidFill>
                <a:latin typeface="Malgun Gothic"/>
                <a:ea typeface="Malgun Gothic"/>
              </a:rPr>
              <a:t>•  GUARANTEE는 보장하나 DML 실패 위험 / 고정 크기는 AUTOEXTEND OFF</a:t>
            </a:r>
          </a:p>
          <a:p>
            <a:pPr>
              <a:spcAft>
                <a:spcPts val="1000"/>
              </a:spcAft>
            </a:pPr>
            <a:r>
              <a:rPr sz="1600" b="0">
                <a:solidFill>
                  <a:srgbClr val="C0392B"/>
                </a:solidFill>
                <a:latin typeface="Malgun Gothic"/>
                <a:ea typeface="Malgun Gothic"/>
              </a:rPr>
              <a:t>•  Temporary Undo = 영구 언두 절약·리두 감소·Standby GTT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a:spAutoFit/>
          </a:bodyPr>
          <a:lstStyle/>
          <a:p>
            <a:r>
              <a:rPr sz="2600" b="1">
                <a:solidFill>
                  <a:srgbClr val="FFFFFF"/>
                </a:solidFill>
                <a:latin typeface="Malgun Gothic"/>
                <a:ea typeface="Malgun Gothic"/>
              </a:rPr>
              <a:t>실습 20 개요 (Practice Overview)</a:t>
            </a:r>
          </a:p>
        </p:txBody>
      </p:sp>
      <p:sp>
        <p:nvSpPr>
          <p:cNvPr id="4" name="TextBox 3"/>
          <p:cNvSpPr txBox="1"/>
          <p:nvPr/>
        </p:nvSpPr>
        <p:spPr>
          <a:xfrm>
            <a:off x="640080" y="1325880"/>
            <a:ext cx="10881360" cy="4572000"/>
          </a:xfrm>
          <a:prstGeom prst="rect">
            <a:avLst/>
          </a:prstGeom>
          <a:noFill/>
        </p:spPr>
        <p:txBody>
          <a:bodyPr wrap="square" anchor="t">
            <a:spAutoFit/>
          </a:bodyPr>
          <a:lstStyle/>
          <a:p>
            <a:pPr>
              <a:spcAft>
                <a:spcPts val="1000"/>
              </a:spcAft>
            </a:pPr>
            <a:r>
              <a:rPr sz="1700" b="0">
                <a:solidFill>
                  <a:srgbClr val="C0392B"/>
                </a:solidFill>
                <a:latin typeface="Malgun Gothic"/>
                <a:ea typeface="Malgun Gothic"/>
              </a:rPr>
              <a:t>•  20-01 언두 개념 및 자동 언두 관리 확인</a:t>
            </a:r>
          </a:p>
          <a:p>
            <a:pPr>
              <a:spcAft>
                <a:spcPts val="1000"/>
              </a:spcAft>
            </a:pPr>
            <a:r>
              <a:rPr sz="1700" b="0">
                <a:solidFill>
                  <a:srgbClr val="C0392B"/>
                </a:solidFill>
                <a:latin typeface="Malgun Gothic"/>
                <a:ea typeface="Malgun Gothic"/>
              </a:rPr>
              <a:t>•  20-02 UNDO_RETENTION 설정</a:t>
            </a:r>
          </a:p>
          <a:p>
            <a:pPr>
              <a:spcAft>
                <a:spcPts val="1000"/>
              </a:spcAft>
            </a:pPr>
            <a:r>
              <a:rPr sz="1700" b="0">
                <a:solidFill>
                  <a:srgbClr val="C0392B"/>
                </a:solidFill>
                <a:latin typeface="Malgun Gothic"/>
                <a:ea typeface="Malgun Gothic"/>
              </a:rPr>
              <a:t>•  20-03 고정 크기 언두 테이블스페이스 사이징</a:t>
            </a:r>
          </a:p>
          <a:p>
            <a:pPr>
              <a:spcAft>
                <a:spcPts val="1000"/>
              </a:spcAft>
            </a:pPr>
            <a:r>
              <a:rPr sz="1700" b="0">
                <a:solidFill>
                  <a:srgbClr val="C0392B"/>
                </a:solidFill>
                <a:latin typeface="Malgun Gothic"/>
                <a:ea typeface="Malgun Gothic"/>
              </a:rPr>
              <a:t>•  20-04 언두 테이블스페이스 생성/전환</a:t>
            </a:r>
          </a:p>
          <a:p>
            <a:pPr>
              <a:spcAft>
                <a:spcPts val="1000"/>
              </a:spcAft>
            </a:pPr>
            <a:r>
              <a:rPr sz="1700" b="0">
                <a:solidFill>
                  <a:srgbClr val="C0392B"/>
                </a:solidFill>
                <a:latin typeface="Malgun Gothic"/>
                <a:ea typeface="Malgun Gothic"/>
              </a:rPr>
              <a:t>•  20-05 자동 언두 관리로 마이그레이션</a:t>
            </a:r>
          </a:p>
          <a:p>
            <a:pPr>
              <a:spcAft>
                <a:spcPts val="1000"/>
              </a:spcAft>
            </a:pPr>
            <a:r>
              <a:rPr sz="1700" b="0">
                <a:solidFill>
                  <a:srgbClr val="C0392B"/>
                </a:solidFill>
                <a:latin typeface="Malgun Gothic"/>
                <a:ea typeface="Malgun Gothic"/>
              </a:rPr>
              <a:t>•  20-06 임시 언두(Temporary Undo) 활성화 및 이점 확인</a:t>
            </a:r>
          </a:p>
          <a:p>
            <a:pPr>
              <a:spcAft>
                <a:spcPts val="1000"/>
              </a:spcAft>
            </a:pPr>
            <a:r>
              <a:rPr sz="1700" b="0">
                <a:solidFill>
                  <a:srgbClr val="C0392B"/>
                </a:solidFill>
                <a:latin typeface="Malgun Gothic"/>
                <a:ea typeface="Malgun Gothic"/>
              </a:rPr>
              <a:t>•  20-07 언두 데이터 딕셔너리 뷰 조회</a:t>
            </a:r>
          </a:p>
          <a:p>
            <a:pPr>
              <a:spcAft>
                <a:spcPts val="1000"/>
              </a:spcAft>
            </a:pPr>
            <a:r>
              <a:rPr sz="1700" b="0">
                <a:solidFill>
                  <a:srgbClr val="C0392B"/>
                </a:solidFill>
                <a:latin typeface="Malgun Gothic"/>
                <a:ea typeface="Malgun Gothic"/>
              </a:rPr>
              <a:t>•  20-08 언두 사용량 초과 시나리오 및 대응(ORA-01555 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
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D106546GC10 과정의 'Starting Up and Shutting Down a Database Instance'를 한국어 교안 7장으로 재구성한 것이다. 4장(접속)·5~6장(생성)에 이어, 이미 만들어진 데이터베이스를 어떻게 켜고 끄는가를 다룬다. STARTUP 한 줄, SHUTDOWN 한 줄 안에서 인스턴스와 데이터베이스가 여러 상태를 거치며, 종료 모드 선택에 따라 데이터 일관성과 다음 기동 시 복구 필요 여부가 결정된다. 멀티테넌트 환경에서는 PDB 개폐 계층이 더해진다. 장애 상황에서도 근거를 가지고 올바른 명령을 고르는 판단력을 기르는 것이 목표다.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개 목표는 Oracle 공식 코스 Objectives를 따른다. 특히 (1) 기동 단계별 진단, (3) 종료 모드 판정 기준, (4) 인스턴스 복구 vs 미디어 복구 구분, (6) SAVE STATE의 '현재 상태 저장' 원리가 시험과 실무의 단골 포인트다.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기동 단계(7.1)에서 시작해 종료 모드(7.2~7.6), 일관성·복구(7.7), PDB 개폐(7.8)와 자동 오픈(7.9), 퀴즈·요약·실습으로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사용자가 접속하려면 관리자가 인스턴스를 시작해 두어야 한다. 인스턴스와 데이터베이스는 여러 단계를 거쳐 점진적으로 자원을 연다. 각 단계는 누적적이어서 OPEN이 되려면 반드시 NOMOUNT·MOUNT를 순서대로 거친다. 단계를 알면 기동 실패 시 원인을 크게 좁힐 수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STARTUP에 옵션을 붙여 원하는 단계까지만 진행하거나 한 번에 OPEN까지 갈 수 있다. 아무 옵션 없는 STARTUP은 기본값 OPEN까지 진행한다. 이 3단계 경로는 이 장의 골격이며, 각 단계에서 무엇이 준비되는지가 뒤이어 나오는 진단 논리의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STARTUP NOMOUNT는 파라미터 파일을 읽고 SGA를 할당하며 백그라운드 프로세스를 기동한다. 이 시점에 완성되는 것이 인스턴스(메모리+프로세스)다. 아직 컨트롤 파일을 읽지 않았으므로 V$DATABASE는 조회할 수 없고 V$INSTANCE/V$SGA만 가능하다. 상태는 STARTED. NOMOUNT는 일상 운영에서는 거의 쓰이지 않고, 데이터베이스 생성·컨트롤 파일 재생성·특정 복구 시나리오처럼 컨트롤 파일이 없거나 신뢰할 수 없을 때 쓰는 진입점이다.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STARTUP NOMOUNT의 출력에는 SGA 구성요소별 크기가 표시된다. V$INSTANCE.STATUS가 STARTED이면 인스턴스만 기동된 상태다. 이 상태에서 V$DATABASE를 조회하면 ORA-01507(database not mounted) 오류가 난다. 컨트롤 파일을 읽는 MOUNT 이후에만 V$DATABASE 조회가 가능하기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 DATABASE MOUNT는 컨트롤 파일을 열어 데이터베이스를 인스턴스에 연결한다. 컨트롤 파일에는 데이터 파일과 리두 로그의 이름·상태가 담겨 있다. 다만 이 단계는 파일이 실제로 존재하는지 검사하지 않고 목록만 얻는다. 그래서 데이터 파일이 열리지 않아야 안전한 작업들(이름 변경, 전체 복구, ARCHIVELOG 전환)을 MOUNT 상태에서 수행한다. 상태는 MOUNTED이며 V$DATABASE 조회가 가능해진다.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MOUNT 단계로 넘어가면 컨트롤 파일이 열리면서 V$DATABASE.OPEN_MODE가 MOUNTED로 나타난다. 진단 관점에서, MOUNT 단계에서 ORA-00205(컨트롤 파일을 식별할 수 없음)로 멈추면 컨트롤 파일 문제이고, MOUNT는 성공했으나 OPEN에서 ORA-01157/ORA-01110이 나면 데이터 파일 문제다. '어느 단계에서 멈췄는가'가 강력한 진단 단서다.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 DATABASE OPEN은 데이터 파일과 리두 로그를 실제로 열고 검증한다. 비정상 종료 이력이 있으면 이 단계에서 자동 인스턴스 복구가 수행된다. OPEN이 완료되어야 사용자가 데이터에 접근할 수 있다. 멀티테넌트의 핵심 주의점: CDB(루트)를 OPEN해도 각 PDB는 기본적으로 MOUNTED로 남으므로 PDB는 별도로 열어 주어야 한다. 이 사실을 잊으면 재기동 후 애플리케이션이 붙지 못하는 사고로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완료 후 V$INSTANCE.STATUS는 OPEN, CDB 루트의 OPEN_MODE는 READ WRITE가 된다. 그러나 V$PDBS를 보면 사용자 PDB들은 MOUNTED로 남아 있다(PDB$SEED만 항상 READ ONLY). 이 스냅숏이 'CDB OPEN ≠ PDB OPEN'이라는 원칙을 시각적으로 증명한다. 7.8~7.9절에서 PDB 개폐를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STARTUP FORCE는 내부적으로 SHUTDOWN ABORT + STARTUP OPEN이므로 기동 시 인스턴스 복구가 발생한다. RESTRICT는 대량 임포트·통계 재수집처럼 일반 사용자가 접속하면 곤란한 작업에 쓰고, 끝나면 ALTER SYSTEM DISABLE RESTRICTED SESSION으로 개방한다. READ ONLY는 변경을 원천 차단해야 하는 환경, UPGRADE는 패치·업그레이드 절차에서 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정상 운영 DB는 되도록 끄지 않지만, 정적 파라미터 변경·패치·하드웨어 점검·콜드 백업 등에서 종료가 필요하다. SHUTDOWN은 단순 전원 끄기가 아니라, 모드에 따라 세션·트랜잭션 처리와 일관성·복구 여부가 달라진다. 네 모드는 '기다림의 양'과 '정리 여부'의 두 축으로 이해하면 명확하다.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모드 모두 첫 행이 '아니오' — 종료 시작 순간부터 새 접속을 받지 않는다(종료가 끝나지 않는 상황 방지). NORMAL만 세션을 기다리고, NORMAL·TRANSACTIONAL이 트랜잭션을 기다린다. 마지막 행(체크포인트·정상 파일 닫기)을 ABORT만 하지 않으며, 바로 이 '아니오'가 ABORT가 비일관을 남기는 근본 원인이다. 속도는 보통 ABORT가 가장 빠르고 NORMAL이 가장 느리다(세션/트랜잭션 양에 따라 가변).</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SHUTDOWN ABORT는 가장 극단적인 종료다. 최소 작업만 하고 즉시 인스턴스를 중단해 비일관 상태를 남기며, 다음 기동 시 반드시 복구가 필요하다. 직후의 데이터베이스는 일관성이 보장되지 않으므로 이 상태에서 백업을 뜨면 안 된다. 계획 종료에 습관적으로 쓰면 안 되는 응급용 모드다.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ABORT는 다른 종료가 막혔거나, 기동이 고장났거나, 임박한 정전처럼 느긋하게 정리할 수 없는 응급 상황용이다. 내부적으로 현재 SQL을 즉시 끊고, 사용자를 기다리지 않으며, 수정 버퍼·리두 버퍼를 기록하지 않고(체크포인트 생략), 미커밋 트랜잭션을 롤백하지 않은 채 파일도 닫지 않고 종료한다. 이 '정리 생략'이 비일관의 직접 원인이며, 다음 기동에서 SMON이 자동으로 인스턴스 복구를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SHUTDOWN ABORT의 출력은 곧바로 'ORACLE instance shut down.'만 나온다. IMMEDIATE/NORMAL이 출력하는 'Database closed.'와 'Database dismounted.'가 없다는 것이 정상 종료 절차를 건너뛴 증거다. 다음 STARTUP에서 OPEN 단계에 자동 인스턴스 복구가 끼어들며, 이는 관리자 개입 없이 진행된다.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SHUTDOWN IMMEDIATE는 실무에서 가장 널리 쓰인다. '정해진 시간 안에 안전하게 끄기'라는 두 요구를 동시에 만족하기 때문이다. 사용자를 기다리지 않아 종료 시간이 예측 가능하고, 미커밋 트랜잭션을 롤백하고 체크포인트를 수행해 일관성을 지킨다.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IMMEDIATE의 핵심은 '기다리지 않지만 정리는 한다'이다. 현재 SQL을 끊고 세션을 강제 종료하되, 미커밋 트랜잭션을 롤백하고 CLOSE/DISMOUNT 과정에서 체크포인트를 수행한다. 그래서 데이터베이스가 일관 상태로 닫히고 다음 기동 시 인스턴스 복구가 필요 없다. 이 '예측 가능한 시간 + 일관성 보장'의 조합이 IMMEDIATE를 사실상 표준 종료로 만든다. 다만 매우 큰 트랜잭션이 진행 중이면 롤백에 시간이 걸릴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IMMEDIATE의 출력에는 'Database closed.'와 'Database dismounted.'가 차례로 나온다. 이는 CLOSE→DISMOUNT의 정상 종료 절차를 밟았다는 뜻으로, 데이터베이스가 일관 상태로 닫혔음을 의미한다. 계획된 종료의 기본값은 특별한 이유가 없으면 IMMEDIATE로 삼는 것이 좋다. NORMAL은 예측 불가, ABORT는 복구 부담이라는 단점 사이의 균형점이기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SHUTDOWN NORMAL은 모드를 지정하지 않은 SHUTDOWN의 기본값이다. 가장 정중한 종료로 모든 사용자가 스스로 연결을 끊을 때까지 기다린다. 일관성은 완벽히 보장하지만 유휴 세션 하나 때문에 종료가 무한정 지연될 수 있어 실무에서는 잘 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NORMAL은 새 연결을 막고 기존 사용자가 모두 스스로 나갈 때까지 기다린 뒤, 체크포인트를 수행하고 DB를 CLOSE·DISMOUNT한다. 일관성은 이상적으로 보장되지만, 사용자가 세션을 켜 둔 채 자리를 비우거나 커넥션 풀이 유휴 세션을 유지하면 종료가 끝나지 않는다. STARTUP 기본값이 OPEN이듯 SHUTDOWN 기본값은 NORMAL이라는 대칭을 기억하고, 무심코 SHUTDOWN만 입력하지 말고 항상 모드를 명시하자.</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SHUTDOWN TRANSACTIONAL은 NORMAL과 IMMEDIATE 사이의 절충점이다. 목적은 '진행 중인 트랜잭션 결과를 잃지 않게 보호하되, 세션이 끝나기를 마냥 기다리지는 않는 것'이다. 즉 트랜잭션은 존중하되 세션은 존중하지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TRANSACTIONAL은 새 트랜잭션을 막고, 진행 중 트랜잭션이 끝나는 순간 세션을 내보낸다. 모든 트랜잭션이 끝나면 IMMEDIATE처럼 즉시 종료(체크포인트 포함)한다. NORMAL이 '접속 종료'를 기다리는 반면 TRANSACTIONAL은 '트랜잭션 종료'만 기다리므로 유휴 세션 문제를 피한다. 결제·정산이 활발한 시점에 IMMEDIATE는 진행 중 결제를 롤백할 수 있지만 TRANSACTIONAL은 그 결제가 커밋된 뒤 세션을 내보낸다.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표는 네 모드를 여섯 관점으로 종합한다. 기다림의 대상(세션→트랜잭션→없음), 활성 트랜잭션 처리(사용자 커밋→완료 후 종료→서버 롤백→방치), 체크포인트 수행 여부, 종료 후 일관성, 다음 기동 시 복구 필요 여부, 속도가 한눈에 대비된다. 실무 선택의 무게중심은 '복구 필요 여부'와 '시간 예측 가능성'이며, 그래서 대부분 IMMEDIATE가 정답이 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종료 모드는 크게 두 부류다. 정상 종료(NORMAL·TRANSACTIONAL·IMMEDIATE)는 체크포인트로 데이터 파일을 일관 상태로 닫아 복구가 필요 없다. 비정상 종료(ABORT·인스턴스 장애·STARTUP FORCE)는 정리를 생략해 비일관을 남기고, 다음 기동 시 자동 인스턴스 복구를 요한다. 두 부류를 가르는 기준은 '종료 중 체크포인트를 수행해 일관 상태로 닫았는가'이다.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정상 종료는 미커밋 변경을 롤백하고(IMMEDIATE) 버퍼 캐시를 데이터 파일에 기록하는 체크포인트를 수행한 뒤 자원을 해제한다. 그 결과 데이터 파일과 리두 로그가 완전히 동기화된 일관 상태로 닫힌다. '깨끗하게 닫혔다'는 표시가 남으므로 다음 STARTUP은 복구 없이 곧바로 OPEN까지 진행되어 기동도 빠르다.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비정상 종료는 수정 버퍼를 기록하지 않고 미커밋 변경도 롤백하지 않은 채 중단해 비일관을 남긴다. 다음 기동 OPEN 단계에서 SMON이 자동 인스턴스 복구를 수행한다. 1) 롤 포워드(cache recovery): 온라인 리두 로그의 변경을 데이터 파일에 재적용. 2) 롤백(transaction recovery): 언두로 미커밋 변경을 되돌림. 이 두 국면으로 일관성이 회복되고 자원이 해제된 뒤 OPEN이 완료된다. 관리자 개입은 필요 없다.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복구를 혼동하지 말자. 인스턴스 복구(crash recovery)는 ABORT·인스턴스 장애·FORCE 후 온라인 리두 로그와 언두만으로 자동 수행되며 관리자가 개입하지 않는다. 미디어 복구는 데이터 파일 자체가 손상·소실되어 백업과 아카이브 리두로부터 복원해야 하는 경우로, RECOVER 명령을 통한 수동 개입이 필요하다. ABORT는 데이터 파일을 물리적으로 손상시키지 않으므로 미디어 복구가 아니라 인스턴스 복구만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STARTUP/SHUTDOWN은 CDB(인스턴스+루트)를 대상으로 한다. 실제 사용자 데이터는 각 PDB에 있으며, CDB를 OPEN해도 PDB는 MOUNTED로 남으므로 별도로 열어야 한다. 이 절에서 PDB의 네 오픈 모드와 개폐 명령을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PDB를 '시작한다=연다'이며 두 표현이 혼용된다. PDB를 열면 그 데이터 파일이 열린다. 네 오픈 모드는 READ WRITE(정상 운영), READ ONLY(조회 전용, PDB$SEED가 대표), MIGRATE(업그레이드용), MOUNTED(닫힘, CDB OPEN 직후 기본). V$PDBS.OPEN_MODE 조회는 PDB 관리의 가장 기본 점검 동작이므로 반드시 익혀 둔다.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루트 또는 PDB 자체에 접속한 상태에서 ALTER PLUGGABLE DATABASE로 PDB를 개폐한다. 최대 장점은 어떤 오픈 모드에서든 다른 모드로 직접 전환할 수 있다는 점이다(MOUNTED↔READ WRITE↔READ ONLY). 이미 열린 PDB의 모드를 바꿀 때는 FORCE를 붙인다. 여러 PDB는 ALL / ALL EXCEPT로 일괄 처리한다. 운영 기동 스크립트에서 자주 쓰인다.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STARTUP/SHUTDOWN도 PDB에 쓸 수 있다. 단 STARTUP은 대상 PDB에 접속(ALTER SESSION SET CONTAINER)해 있고 그 PDB가 MOUNTED여야 한다. PDB에는 자체 인스턴스가 없으므로 SGA 할당·프로세스 기동은 없고 데이터 파일을 여는 동작만 이뤄진다. 개폐에는 AS SYSDBA/SYSOPER/SYSBACKUP/SYSDG 중 하나의 권한이 필요하며, 일반 사용자 권한으로는 오픈 모드를 바꿀 수 없다.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CDB를 재기동하면 PDB는 기본값 MOUNTED로 돌아가 매번 수동으로 열어야 한다. 이를 자동화하는 것이 SAVE STATE다. 원하는 상태로 PDB를 연 뒤 SAVE STATE하면 재기동 시 그 상태로 자동 복원되고, DISCARD STATE로 저장을 폐기하면 기본(MOUNTED) 동작으로 되돌아간다.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 STATE는 실행 '시점의 오픈 모드'를 저장한다. 그래서 반드시 원하는 상태로 PDB를 연 뒤에 SAVE STATE해야 한다. 저장 시점이 READ WRITE면 재기동 후 READ WRITE로, MOUNTED(닫힘)면 재기동 후에도 MOUNTED로 복원된다. 저장 여부는 DBA_PDB_SAVED_STATES에서 확인하며, 행이 있으면 저장됨, 없으면 기본값(MOUNTED)으로 돌아간다는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원하는 상태로 PDB를 연 뒤 SAVE STATE하면 DBA_PDB_SAVED_STATES에 STATE=OPEN 행이 생긴다. 이후 CDB를 SHUTDOWN→STARTUP하면 저장 시점의 상태가 그대로 복원된다: READ WRITE는 READ WRITE로, MOUNTED는 MOUNTED로, READ ONLY는 READ ONLY로. '저장 시점 상태가 곧 재기동 후 상태'라는 원리가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DISCARD STATE는 저장된 상태 정보를 삭제해 PDB를 기본 동작으로 되돌린다. 폐기 후에는 DBA_PDB_SAVED_STATES에서 해당 행이 사라지고, 이후 CDB 재기동 시 그 PDB는 저장을 따르지 않고 기본값 MOUNTED로 열린다. SAVE STATE와 DISCARD STATE는 'CDB 재기동 시 PDB를 자동으로 열 것인가'를 제어하는 한 쌍의 스위치다. 서비스 필수 PDB에는 SAVE STATE를 적용해 두는 것이 표준 구성이다.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 1: 기동 3단계와 각 단계의 준비 대상을 확인한다. NOMOUNT는 SGA 할당·백그라운드 프로세스, MOUNT는 컨트롤 파일, OPEN은 데이터 파일과 온라인 리두 로그를 연다. 문제 2: MOUNT 단계는 컨트롤 파일만 읽고 데이터 파일을 실제로 열지 않으므로, 데이터 파일이 열리지 않아야 안전한 작업(이름 변경, 로그 모드 전환)에 적합하다.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 3: 종료 4모드의 판정 기준을 확인한다. 세션 종료를 기다리는 유일한 모드는 NORMAL, 체크포인트를 수행하지 않는 유일한 모드는 ABORT이며 그래서 ABORT만 비일관을 남긴다. 문제 4: ABORT 후 기동 시 SMON이 자동 인스턴스 복구(롤 포워드+롤백)를 수행하며, 데이터 파일이 손상되지 않았다면 관리자 수동 개입이 필요 없다. 이는 백업이 필요한 미디어 복구와 구별된다.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 5: PDB의 네 오픈 모드(READ WRITE, READ ONLY, MIGRATE, MOUNTED)와 CDB OPEN 직후 기본 상태가 MOUNTED임을 확인한다. 사용하려면 별도로 열어야 한다. 문제 6: SAVE STATE는 실행 시점의 오픈 모드를 저장한다. MOUNTED 상태에서 저장하면 재기동 후에도 MOUNTED이므로, 자동으로 열리게 하려면 반드시 원하는 상태로 연 뒤 SAVE STATE를 실행해야 한다는 함정을 짚는다.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핵심을 여섯 줄로 압축했다. 기동 4단계와 STARTUP 기본값 OPEN, 종료 4모드의 판정 기준과 IMMEDIATE 표준·ABORT 응급, 비정상 종료 후 자동 인스턴스 복구와 미디어 복구의 구분, CDB OPEN과 PDB OPEN의 분리, SAVE STATE/DISCARD STATE의 한 쌍 스위치. 각 항목은 앞선 슬라이드의 상세 설명과 실습으로 뒷받침된다.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실습으로 이 장을 손으로 검증한다. 각 명령 전에 '지금 어느 단계/상태이고 이 명령이 무엇으로 바꿀지'를 예측한 뒤 결과와 비교하면 학습 효과가 크다. 운영 데이터베이스에서는 ABORT나 반복 재기동을 절대 시도하지 말고, 반드시 학습·테스트용 CDB에서만 수행한다. 실습 파일은 07장 폴더의 07장_실습_01~05 트랜스크립트에 대응한다.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r>
              <a:rPr sz="1800" b="1">
                <a:solidFill>
                  <a:srgbClr val="C0392B"/>
                </a:solidFill>
                <a:latin typeface="Malgun Gothic"/>
              </a:rPr>
              <a:t>Oracle Database 19c Administration Workshop  ·  제7장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데이터베이스 인스턴스 시작과 종료</a:t>
            </a:r>
          </a:p>
        </p:txBody>
      </p:sp>
      <p:sp>
        <p:nvSpPr>
          <p:cNvPr id="5" name="TextBox 4"/>
          <p:cNvSpPr txBox="1"/>
          <p:nvPr/>
        </p:nvSpPr>
        <p:spPr>
          <a:xfrm>
            <a:off x="1188720" y="4297680"/>
            <a:ext cx="10058400" cy="1280160"/>
          </a:xfrm>
          <a:prstGeom prst="rect">
            <a:avLst/>
          </a:prstGeom>
          <a:noFill/>
        </p:spPr>
        <p:txBody>
          <a:bodyPr wrap="square">
            <a:spAutoFit/>
          </a:bodyPr>
          <a:lstStyle/>
          <a:p>
            <a:r>
              <a:rPr sz="1800" b="0">
                <a:solidFill>
                  <a:srgbClr val="C5CED6"/>
                </a:solidFill>
                <a:latin typeface="Malgun Gothic"/>
              </a:rPr>
              <a:t>STARTUP 3단계 · SHUTDOWN 4모드 · 인스턴스 복구 · PDB 개폐 · SAVE STATE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학습 목표 (Objectives)</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인스턴스 기동 4단계(SHUTDOWN→NOMOUNT→MOUNT→OPEN)와 각 단계의 동작을 설명한다</a:t>
            </a:r>
          </a:p>
          <a:p>
            <a:pPr>
              <a:spcAft>
                <a:spcPts val="400"/>
              </a:spcAft>
            </a:pPr>
            <a:r>
              <a:rPr sz="1800" b="0">
                <a:solidFill>
                  <a:srgbClr val="202830"/>
                </a:solidFill>
                <a:latin typeface="Malgun Gothic"/>
              </a:rPr>
              <a:t>•  STARTUP 옵션(NOMOUNT/MOUNT/OPEN/FORCE/RESTRICT/READ ONLY)을 상황에 맞게 선택한다</a:t>
            </a:r>
          </a:p>
          <a:p>
            <a:pPr>
              <a:spcAft>
                <a:spcPts val="400"/>
              </a:spcAft>
            </a:pPr>
            <a:r>
              <a:rPr sz="1800" b="0">
                <a:solidFill>
                  <a:srgbClr val="202830"/>
                </a:solidFill>
                <a:latin typeface="Malgun Gothic"/>
              </a:rPr>
              <a:t>•  SHUTDOWN 4모드(NORMAL/TRANSACTIONAL/IMMEDIATE/ABORT)를 네 기준으로 비교한다</a:t>
            </a:r>
          </a:p>
          <a:p>
            <a:pPr>
              <a:spcAft>
                <a:spcPts val="400"/>
              </a:spcAft>
            </a:pPr>
            <a:r>
              <a:rPr sz="1800" b="0">
                <a:solidFill>
                  <a:srgbClr val="202830"/>
                </a:solidFill>
                <a:latin typeface="Malgun Gothic"/>
              </a:rPr>
              <a:t>•  ABORT·장애·FORCE가 비일관을 남기는 이유와 자동 인스턴스 복구 과정을 설명한다</a:t>
            </a:r>
          </a:p>
          <a:p>
            <a:pPr>
              <a:spcAft>
                <a:spcPts val="400"/>
              </a:spcAft>
            </a:pPr>
            <a:r>
              <a:rPr sz="1800" b="0">
                <a:solidFill>
                  <a:srgbClr val="202830"/>
                </a:solidFill>
                <a:latin typeface="Malgun Gothic"/>
              </a:rPr>
              <a:t>•  ALTER PLUGGABLE DATABASE·STARTUP/SHUTDOWN으로 PDB를 열고 닫는다(4가지 오픈 모드)</a:t>
            </a:r>
          </a:p>
          <a:p>
            <a:pPr>
              <a:spcAft>
                <a:spcPts val="400"/>
              </a:spcAft>
            </a:pPr>
            <a:r>
              <a:rPr sz="1800" b="0">
                <a:solidFill>
                  <a:srgbClr val="202830"/>
                </a:solidFill>
                <a:latin typeface="Malgun Gothic"/>
              </a:rPr>
              <a:t>•  SAVE STATE / DISCARD STATE로 CDB 재기동 시 PDB 자동 오픈을 구성한다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이 장의 구성 (Agenda)</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7.1 인스턴스 시작 단계(NOMOUNT/MOUNT/OPEN) · 7.2 종료 모드 개요</a:t>
            </a:r>
          </a:p>
          <a:p>
            <a:pPr>
              <a:spcAft>
                <a:spcPts val="400"/>
              </a:spcAft>
            </a:pPr>
            <a:r>
              <a:rPr sz="1800" b="0">
                <a:solidFill>
                  <a:srgbClr val="202830"/>
                </a:solidFill>
                <a:latin typeface="Malgun Gothic"/>
              </a:rPr>
              <a:t>•  7.3 ABORT · 7.4 IMMEDIATE · 7.5 NORMAL · 7.6 TRANSACTIONAL 상세</a:t>
            </a:r>
          </a:p>
          <a:p>
            <a:pPr>
              <a:spcAft>
                <a:spcPts val="400"/>
              </a:spcAft>
            </a:pPr>
            <a:r>
              <a:rPr sz="1800" b="0">
                <a:solidFill>
                  <a:srgbClr val="202830"/>
                </a:solidFill>
                <a:latin typeface="Malgun Gothic"/>
              </a:rPr>
              <a:t>•  7.7 종료 모드별 일관성·인스턴스 복구 비교</a:t>
            </a:r>
          </a:p>
          <a:p>
            <a:pPr>
              <a:spcAft>
                <a:spcPts val="400"/>
              </a:spcAft>
            </a:pPr>
            <a:r>
              <a:rPr sz="1800" b="0">
                <a:solidFill>
                  <a:srgbClr val="202830"/>
                </a:solidFill>
                <a:latin typeface="Malgun Gothic"/>
              </a:rPr>
              <a:t>•  7.8 PDB 열기/닫기(ALTER PLUGGABLE DATABASE, 4가지 오픈 모드)</a:t>
            </a:r>
          </a:p>
          <a:p>
            <a:pPr>
              <a:spcAft>
                <a:spcPts val="400"/>
              </a:spcAft>
            </a:pPr>
            <a:r>
              <a:rPr sz="1800" b="0">
                <a:solidFill>
                  <a:srgbClr val="202830"/>
                </a:solidFill>
                <a:latin typeface="Malgun Gothic"/>
              </a:rPr>
              <a:t>•  7.9 PDB 자동 오픈 구성(SAVE STATE / DISCARD STATE)</a:t>
            </a:r>
          </a:p>
          <a:p>
            <a:pPr>
              <a:spcAft>
                <a:spcPts val="400"/>
              </a:spcAft>
            </a:pPr>
            <a:r>
              <a:rPr sz="1800" b="0">
                <a:solidFill>
                  <a:srgbClr val="202830"/>
                </a:solidFill>
                <a:latin typeface="Malgun Gothic"/>
              </a:rPr>
              <a:t>•  7.10 퀴즈 · 7.11 요약 · 7.12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7.1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인스턴스 시작 단계 — NOMOUNT · MOUNT · OPEN</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기동은 SHUTDOWN→NOMOUNT→MOUNT→OPEN의 누적 단계로 진행</a:t>
            </a:r>
          </a:p>
          <a:p>
            <a:pPr>
              <a:spcAft>
                <a:spcPts val="400"/>
              </a:spcAft>
            </a:pPr>
            <a:r>
              <a:rPr sz="1600" b="0">
                <a:solidFill>
                  <a:srgbClr val="C5CED6"/>
                </a:solidFill>
                <a:latin typeface="Malgun Gothic"/>
              </a:rPr>
              <a:t>•  각 단계는 이전 단계가 완료되어야 진입 가능</a:t>
            </a:r>
          </a:p>
          <a:p>
            <a:pPr>
              <a:spcAft>
                <a:spcPts val="400"/>
              </a:spcAft>
            </a:pPr>
            <a:r>
              <a:rPr sz="1600" b="0">
                <a:solidFill>
                  <a:srgbClr val="C5CED6"/>
                </a:solidFill>
                <a:latin typeface="Malgun Gothic"/>
              </a:rPr>
              <a:t>•  STARTUP 기본값은 OPEN(옵션으로 특정 단계까지만 진행 가능)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인스턴스 시작 경로 한눈에 보기</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SHUTDOWN → NOMOUNT → MOUNT → OPEN</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E6E6E6"/>
                </a:solidFill>
                <a:latin typeface="Consolas"/>
              </a:rPr>
              <a:t>SHUTDOWN</a:t>
            </a:r>
          </a:p>
          <a:p>
            <a:pPr>
              <a:spcAft>
                <a:spcPts val="0"/>
              </a:spcAft>
            </a:pPr>
            <a:r>
              <a:rPr sz="1200" b="0">
                <a:solidFill>
                  <a:srgbClr val="E6E6E6"/>
                </a:solidFill>
                <a:latin typeface="Consolas"/>
              </a:rPr>
              <a:t>   |  STARTUP NOMOUNT   -&gt; 인스턴스 시작(SGA 할당 + 백그라운드 프로세스)</a:t>
            </a:r>
          </a:p>
          <a:p>
            <a:pPr>
              <a:spcAft>
                <a:spcPts val="0"/>
              </a:spcAft>
            </a:pPr>
            <a:r>
              <a:rPr sz="1200" b="0">
                <a:solidFill>
                  <a:srgbClr val="E6E6E6"/>
                </a:solidFill>
                <a:latin typeface="Consolas"/>
              </a:rPr>
              <a:t>   v</a:t>
            </a:r>
          </a:p>
          <a:p>
            <a:pPr>
              <a:spcAft>
                <a:spcPts val="0"/>
              </a:spcAft>
            </a:pPr>
            <a:r>
              <a:rPr sz="1200" b="0">
                <a:solidFill>
                  <a:srgbClr val="E6E6E6"/>
                </a:solidFill>
                <a:latin typeface="Consolas"/>
              </a:rPr>
              <a:t>NOMOUNT</a:t>
            </a:r>
          </a:p>
          <a:p>
            <a:pPr>
              <a:spcAft>
                <a:spcPts val="0"/>
              </a:spcAft>
            </a:pPr>
            <a:r>
              <a:rPr sz="1200" b="0">
                <a:solidFill>
                  <a:srgbClr val="E6E6E6"/>
                </a:solidFill>
                <a:latin typeface="Consolas"/>
              </a:rPr>
              <a:t>   |  ALTER DATABASE MOUNT   -&gt; 컨트롤 파일이 열림</a:t>
            </a:r>
          </a:p>
          <a:p>
            <a:pPr>
              <a:spcAft>
                <a:spcPts val="0"/>
              </a:spcAft>
            </a:pPr>
            <a:r>
              <a:rPr sz="1200" b="0">
                <a:solidFill>
                  <a:srgbClr val="E6E6E6"/>
                </a:solidFill>
                <a:latin typeface="Consolas"/>
              </a:rPr>
              <a:t>   v</a:t>
            </a:r>
          </a:p>
          <a:p>
            <a:pPr>
              <a:spcAft>
                <a:spcPts val="0"/>
              </a:spcAft>
            </a:pPr>
            <a:r>
              <a:rPr sz="1200" b="0">
                <a:solidFill>
                  <a:srgbClr val="E6E6E6"/>
                </a:solidFill>
                <a:latin typeface="Consolas"/>
              </a:rPr>
              <a:t>MOUNT</a:t>
            </a:r>
          </a:p>
          <a:p>
            <a:pPr>
              <a:spcAft>
                <a:spcPts val="0"/>
              </a:spcAft>
            </a:pPr>
            <a:r>
              <a:rPr sz="1200" b="0">
                <a:solidFill>
                  <a:srgbClr val="E6E6E6"/>
                </a:solidFill>
                <a:latin typeface="Consolas"/>
              </a:rPr>
              <a:t>   |  ALTER DATABASE OPEN    -&gt; 데이터 파일/리두 로그가 열림</a:t>
            </a:r>
          </a:p>
          <a:p>
            <a:pPr>
              <a:spcAft>
                <a:spcPts val="0"/>
              </a:spcAft>
            </a:pPr>
            <a:r>
              <a:rPr sz="1200" b="0">
                <a:solidFill>
                  <a:srgbClr val="E6E6E6"/>
                </a:solidFill>
                <a:latin typeface="Consolas"/>
              </a:rPr>
              <a:t>   v</a:t>
            </a:r>
          </a:p>
          <a:p>
            <a:pPr>
              <a:spcAft>
                <a:spcPts val="0"/>
              </a:spcAft>
            </a:pPr>
            <a:r>
              <a:rPr sz="1200" b="0">
                <a:solidFill>
                  <a:srgbClr val="E6E6E6"/>
                </a:solidFill>
                <a:latin typeface="Consolas"/>
              </a:rPr>
              <a:t>OPEN  (= STARTUP 기본값)</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NOMOUNT 단계 — 인스턴스만 기동</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초기화 파라미터 파일(SPFILE/PFILE)을 읽어 인스턴스 구성 결정</a:t>
            </a:r>
          </a:p>
          <a:p>
            <a:pPr>
              <a:spcAft>
                <a:spcPts val="400"/>
              </a:spcAft>
            </a:pPr>
            <a:r>
              <a:rPr sz="1800" b="0">
                <a:solidFill>
                  <a:srgbClr val="202830"/>
                </a:solidFill>
                <a:latin typeface="Malgun Gothic"/>
              </a:rPr>
              <a:t>•  SGA에 메모리 할당 + 백그라운드 프로세스(PMON·SMON·DBWn·LGWR·CKPT) 기동</a:t>
            </a:r>
          </a:p>
          <a:p>
            <a:pPr>
              <a:spcAft>
                <a:spcPts val="400"/>
              </a:spcAft>
            </a:pPr>
            <a:r>
              <a:rPr sz="1800" b="0">
                <a:solidFill>
                  <a:srgbClr val="202830"/>
                </a:solidFill>
                <a:latin typeface="Malgun Gothic"/>
              </a:rPr>
              <a:t>•  알림 로그와 트레이스 파일을 엶(진단 준비)</a:t>
            </a:r>
          </a:p>
          <a:p>
            <a:pPr>
              <a:spcAft>
                <a:spcPts val="400"/>
              </a:spcAft>
            </a:pPr>
            <a:r>
              <a:rPr sz="1800" b="0">
                <a:solidFill>
                  <a:srgbClr val="202830"/>
                </a:solidFill>
                <a:latin typeface="Malgun Gothic"/>
              </a:rPr>
              <a:t>•  이 시점의 '인스턴스'는 아직 어떤 데이터베이스와도 연결되지 않음</a:t>
            </a:r>
          </a:p>
          <a:p>
            <a:pPr>
              <a:spcAft>
                <a:spcPts val="400"/>
              </a:spcAft>
            </a:pPr>
            <a:r>
              <a:rPr sz="1800" b="0">
                <a:solidFill>
                  <a:srgbClr val="202830"/>
                </a:solidFill>
                <a:latin typeface="Malgun Gothic"/>
              </a:rPr>
              <a:t>•  V$INSTANCE.STATUS = STARTED, V$DATABASE는 조회 불가(컨트롤 파일 미독)</a:t>
            </a:r>
          </a:p>
          <a:p>
            <a:pPr>
              <a:spcAft>
                <a:spcPts val="400"/>
              </a:spcAft>
            </a:pPr>
            <a:r>
              <a:rPr sz="1800" b="0">
                <a:solidFill>
                  <a:srgbClr val="202830"/>
                </a:solidFill>
                <a:latin typeface="Malgun Gothic"/>
              </a:rPr>
              <a:t>•  쓰임: DB 생성(CREATE DATABASE), 컨트롤 파일 재생성, 일부 백업·복구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NOMOUNT 실습 — STATUS=STARTED 확인</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STARTUP NOMOUNT 후 인스턴스 상태 조회</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7EC699"/>
                </a:solidFill>
                <a:latin typeface="Consolas"/>
              </a:rPr>
              <a:t>-- 인스턴스만 시작(SGA 할당 + 백그라운드 프로세스 기동)</a:t>
            </a:r>
          </a:p>
          <a:p>
            <a:pPr>
              <a:spcAft>
                <a:spcPts val="0"/>
              </a:spcAft>
            </a:pPr>
            <a:r>
              <a:rPr sz="1200" b="0">
                <a:solidFill>
                  <a:srgbClr val="E6E6E6"/>
                </a:solidFill>
                <a:latin typeface="Consolas"/>
              </a:rPr>
              <a:t>SQL&gt; STARTUP NOMOUNT</a:t>
            </a:r>
          </a:p>
          <a:p>
            <a:pPr>
              <a:spcAft>
                <a:spcPts val="0"/>
              </a:spcAft>
            </a:pPr>
            <a:r>
              <a:rPr sz="1200" b="0">
                <a:solidFill>
                  <a:srgbClr val="E6E6E6"/>
                </a:solidFill>
                <a:latin typeface="Consolas"/>
              </a:rPr>
              <a:t>ORACLE instance started.</a:t>
            </a:r>
          </a:p>
          <a:p>
            <a:pPr>
              <a:spcAft>
                <a:spcPts val="0"/>
              </a:spcAft>
            </a:pPr>
            <a:r>
              <a:rPr sz="1200" b="0">
                <a:solidFill>
                  <a:srgbClr val="E6E6E6"/>
                </a:solidFill>
                <a:latin typeface="Consolas"/>
              </a:rPr>
              <a:t> </a:t>
            </a:r>
          </a:p>
          <a:p>
            <a:pPr>
              <a:spcAft>
                <a:spcPts val="0"/>
              </a:spcAft>
            </a:pPr>
            <a:r>
              <a:rPr sz="1200" b="0">
                <a:solidFill>
                  <a:srgbClr val="E6E6E6"/>
                </a:solidFill>
                <a:latin typeface="Consolas"/>
              </a:rPr>
              <a:t>Total System Global Area 2046827888 bytes</a:t>
            </a:r>
          </a:p>
          <a:p>
            <a:pPr>
              <a:spcAft>
                <a:spcPts val="0"/>
              </a:spcAft>
            </a:pPr>
            <a:r>
              <a:rPr sz="1200" b="0">
                <a:solidFill>
                  <a:srgbClr val="E6E6E6"/>
                </a:solidFill>
                <a:latin typeface="Consolas"/>
              </a:rPr>
              <a:t>Database Buffers          671088640 bytes</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아직 데이터베이스와 연결되지 않음(STATUS=STARTED)</a:t>
            </a:r>
          </a:p>
          <a:p>
            <a:pPr>
              <a:spcAft>
                <a:spcPts val="0"/>
              </a:spcAft>
            </a:pPr>
            <a:r>
              <a:rPr sz="1200" b="0">
                <a:solidFill>
                  <a:srgbClr val="E6E6E6"/>
                </a:solidFill>
                <a:latin typeface="Consolas"/>
              </a:rPr>
              <a:t>SQL&gt; SELECT status FROM v$instance;</a:t>
            </a:r>
          </a:p>
          <a:p>
            <a:pPr>
              <a:spcAft>
                <a:spcPts val="0"/>
              </a:spcAft>
            </a:pPr>
            <a:r>
              <a:rPr sz="1200" b="0">
                <a:solidFill>
                  <a:srgbClr val="E6E6E6"/>
                </a:solidFill>
                <a:latin typeface="Consolas"/>
              </a:rPr>
              <a:t>STATUS</a:t>
            </a:r>
          </a:p>
          <a:p>
            <a:pPr>
              <a:spcAft>
                <a:spcPts val="0"/>
              </a:spcAft>
            </a:pPr>
            <a:r>
              <a:rPr sz="1200" b="0">
                <a:solidFill>
                  <a:srgbClr val="7EC699"/>
                </a:solidFill>
                <a:latin typeface="Consolas"/>
              </a:rPr>
              <a:t>------------</a:t>
            </a:r>
          </a:p>
          <a:p>
            <a:pPr>
              <a:spcAft>
                <a:spcPts val="0"/>
              </a:spcAft>
            </a:pPr>
            <a:r>
              <a:rPr sz="1200" b="0">
                <a:solidFill>
                  <a:srgbClr val="E6E6E6"/>
                </a:solidFill>
                <a:latin typeface="Consolas"/>
              </a:rPr>
              <a:t>STARTED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MOUNT 단계 — 컨트롤 파일 열기</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CONTROL_FILES에 지정된 컨트롤 파일을 열고 읽음</a:t>
            </a:r>
          </a:p>
          <a:p>
            <a:pPr>
              <a:spcAft>
                <a:spcPts val="400"/>
              </a:spcAft>
            </a:pPr>
            <a:r>
              <a:rPr sz="1800" b="0">
                <a:solidFill>
                  <a:srgbClr val="202830"/>
                </a:solidFill>
                <a:latin typeface="Malgun Gothic"/>
              </a:rPr>
              <a:t>•  데이터 파일·온라인 리두 로그의 '이름·위치·상태'를 파악(인스턴스↔DB 연결)</a:t>
            </a:r>
          </a:p>
          <a:p>
            <a:pPr>
              <a:spcAft>
                <a:spcPts val="400"/>
              </a:spcAft>
            </a:pPr>
            <a:r>
              <a:rPr sz="1800" b="0">
                <a:solidFill>
                  <a:srgbClr val="202830"/>
                </a:solidFill>
                <a:latin typeface="Malgun Gothic"/>
              </a:rPr>
              <a:t>•  단, 파일의 실제 존재/접근 검사는 하지 않음(검증은 OPEN에서)</a:t>
            </a:r>
          </a:p>
          <a:p>
            <a:pPr>
              <a:spcAft>
                <a:spcPts val="400"/>
              </a:spcAft>
            </a:pPr>
            <a:r>
              <a:rPr sz="1800" b="0">
                <a:solidFill>
                  <a:srgbClr val="202830"/>
                </a:solidFill>
                <a:latin typeface="Malgun Gothic"/>
              </a:rPr>
              <a:t>•  V$INSTANCE.STATUS = MOUNTED, 이제 V$DATABASE 조회 가능</a:t>
            </a:r>
          </a:p>
          <a:p>
            <a:pPr>
              <a:spcAft>
                <a:spcPts val="400"/>
              </a:spcAft>
            </a:pPr>
            <a:r>
              <a:rPr sz="1800" b="0">
                <a:solidFill>
                  <a:srgbClr val="202830"/>
                </a:solidFill>
                <a:latin typeface="Malgun Gothic"/>
              </a:rPr>
              <a:t>•  쓰임: 데이터 파일 이름·경로 변경, 전체 복구, 아카이브 로그 모드 전환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MOUNT 실습 — V$DATABASE 조회 가능</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ALTER DATABASE MOUNT 후 상태 확인</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7EC699"/>
                </a:solidFill>
                <a:latin typeface="Consolas"/>
              </a:rPr>
              <a:t>-- NOMOUNT 상태에서 컨트롤 파일을 열어 MOUNT로 진행</a:t>
            </a:r>
          </a:p>
          <a:p>
            <a:pPr>
              <a:spcAft>
                <a:spcPts val="0"/>
              </a:spcAft>
            </a:pPr>
            <a:r>
              <a:rPr sz="1200" b="0">
                <a:solidFill>
                  <a:srgbClr val="E6E6E6"/>
                </a:solidFill>
                <a:latin typeface="Consolas"/>
              </a:rPr>
              <a:t>SQL&gt; ALTER DATABASE MOUNT;</a:t>
            </a:r>
          </a:p>
          <a:p>
            <a:pPr>
              <a:spcAft>
                <a:spcPts val="0"/>
              </a:spcAft>
            </a:pPr>
            <a:r>
              <a:rPr sz="1200" b="0">
                <a:solidFill>
                  <a:srgbClr val="E6E6E6"/>
                </a:solidFill>
                <a:latin typeface="Consolas"/>
              </a:rPr>
              <a:t>Database altered.</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컨트롤 파일을 읽었으므로 V$DATABASE 조회가 가능</a:t>
            </a:r>
          </a:p>
          <a:p>
            <a:pPr>
              <a:spcAft>
                <a:spcPts val="0"/>
              </a:spcAft>
            </a:pPr>
            <a:r>
              <a:rPr sz="1200" b="0">
                <a:solidFill>
                  <a:srgbClr val="E6E6E6"/>
                </a:solidFill>
                <a:latin typeface="Consolas"/>
              </a:rPr>
              <a:t>SQL&gt; SELECT name, open_mode, log_mode FROM v$database;</a:t>
            </a:r>
          </a:p>
          <a:p>
            <a:pPr>
              <a:spcAft>
                <a:spcPts val="0"/>
              </a:spcAft>
            </a:pPr>
            <a:r>
              <a:rPr sz="1200" b="0">
                <a:solidFill>
                  <a:srgbClr val="E6E6E6"/>
                </a:solidFill>
                <a:latin typeface="Consolas"/>
              </a:rPr>
              <a:t>NAME      OPEN_MODE            LOG_MODE</a:t>
            </a:r>
          </a:p>
          <a:p>
            <a:pPr>
              <a:spcAft>
                <a:spcPts val="0"/>
              </a:spcAft>
            </a:pPr>
            <a:r>
              <a:rPr sz="1200" b="0">
                <a:solidFill>
                  <a:srgbClr val="7EC699"/>
                </a:solidFill>
                <a:latin typeface="Consolas"/>
              </a:rPr>
              <a:t>--------- -------------------- ------------</a:t>
            </a:r>
          </a:p>
          <a:p>
            <a:pPr>
              <a:spcAft>
                <a:spcPts val="0"/>
              </a:spcAft>
            </a:pPr>
            <a:r>
              <a:rPr sz="1200" b="0">
                <a:solidFill>
                  <a:srgbClr val="E6E6E6"/>
                </a:solidFill>
                <a:latin typeface="Consolas"/>
              </a:rPr>
              <a:t>CDB1      MOUNTED              ARCHIVELOG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OPEN 단계 — 데이터 파일·리두 로그 열기</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컨트롤 파일 목록대로 온라인 리두 로그·데이터 파일을 실제로 엶</a:t>
            </a:r>
          </a:p>
          <a:p>
            <a:pPr>
              <a:spcAft>
                <a:spcPts val="400"/>
              </a:spcAft>
            </a:pPr>
            <a:r>
              <a:rPr sz="1800" b="0">
                <a:solidFill>
                  <a:srgbClr val="202830"/>
                </a:solidFill>
                <a:latin typeface="Malgun Gothic"/>
              </a:rPr>
              <a:t>•  이때 파일 존재·접근·SCN 동기화가 검증됨</a:t>
            </a:r>
          </a:p>
          <a:p>
            <a:pPr>
              <a:spcAft>
                <a:spcPts val="400"/>
              </a:spcAft>
            </a:pPr>
            <a:r>
              <a:rPr sz="1800" b="0">
                <a:solidFill>
                  <a:srgbClr val="202830"/>
                </a:solidFill>
                <a:latin typeface="Malgun Gothic"/>
              </a:rPr>
              <a:t>•  마지막 종료가 비정상이었다면 여기서 자동 인스턴스 복구 후 OPEN</a:t>
            </a:r>
          </a:p>
          <a:p>
            <a:pPr>
              <a:spcAft>
                <a:spcPts val="400"/>
              </a:spcAft>
            </a:pPr>
            <a:r>
              <a:rPr sz="1800" b="0">
                <a:solidFill>
                  <a:srgbClr val="202830"/>
                </a:solidFill>
                <a:latin typeface="Malgun Gothic"/>
              </a:rPr>
              <a:t>•  OPEN 완료 시 사용자가 데이터에 접근 가능(STATUS=OPEN, READ WRITE)</a:t>
            </a:r>
          </a:p>
          <a:p>
            <a:pPr>
              <a:spcAft>
                <a:spcPts val="400"/>
              </a:spcAft>
            </a:pPr>
            <a:r>
              <a:rPr sz="1800" b="0">
                <a:solidFill>
                  <a:srgbClr val="202830"/>
                </a:solidFill>
                <a:latin typeface="Malgun Gothic"/>
              </a:rPr>
              <a:t>•  ★ CDB를 OPEN해도 PDB는 자동으로 열리지 않고 MOUNTED로 남음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OPEN 실습 — CDB는 열려도 PDB는 MOUNTED</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ALTER DATABASE OPEN 후 상태·PDB 확인</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E6E6E6"/>
                </a:solidFill>
                <a:latin typeface="Consolas"/>
              </a:rPr>
              <a:t>SQL&gt; ALTER DATABASE OPEN;</a:t>
            </a:r>
          </a:p>
          <a:p>
            <a:pPr>
              <a:spcAft>
                <a:spcPts val="0"/>
              </a:spcAft>
            </a:pPr>
            <a:r>
              <a:rPr sz="1200" b="0">
                <a:solidFill>
                  <a:srgbClr val="E6E6E6"/>
                </a:solidFill>
                <a:latin typeface="Consolas"/>
              </a:rPr>
              <a:t>Database altered.</a:t>
            </a:r>
          </a:p>
          <a:p>
            <a:pPr>
              <a:spcAft>
                <a:spcPts val="0"/>
              </a:spcAft>
            </a:pPr>
            <a:r>
              <a:rPr sz="1200" b="0">
                <a:solidFill>
                  <a:srgbClr val="E6E6E6"/>
                </a:solidFill>
                <a:latin typeface="Consolas"/>
              </a:rPr>
              <a:t> </a:t>
            </a:r>
          </a:p>
          <a:p>
            <a:pPr>
              <a:spcAft>
                <a:spcPts val="0"/>
              </a:spcAft>
            </a:pPr>
            <a:r>
              <a:rPr sz="1200" b="0">
                <a:solidFill>
                  <a:srgbClr val="E6E6E6"/>
                </a:solidFill>
                <a:latin typeface="Consolas"/>
              </a:rPr>
              <a:t>SQL&gt; SELECT status FROM v$instance;</a:t>
            </a:r>
          </a:p>
          <a:p>
            <a:pPr>
              <a:spcAft>
                <a:spcPts val="0"/>
              </a:spcAft>
            </a:pPr>
            <a:r>
              <a:rPr sz="1200" b="0">
                <a:solidFill>
                  <a:srgbClr val="E6E6E6"/>
                </a:solidFill>
                <a:latin typeface="Consolas"/>
              </a:rPr>
              <a:t>STATUS</a:t>
            </a:r>
          </a:p>
          <a:p>
            <a:pPr>
              <a:spcAft>
                <a:spcPts val="0"/>
              </a:spcAft>
            </a:pPr>
            <a:r>
              <a:rPr sz="1200" b="0">
                <a:solidFill>
                  <a:srgbClr val="7EC699"/>
                </a:solidFill>
                <a:latin typeface="Consolas"/>
              </a:rPr>
              <a:t>------------</a:t>
            </a:r>
          </a:p>
          <a:p>
            <a:pPr>
              <a:spcAft>
                <a:spcPts val="0"/>
              </a:spcAft>
            </a:pPr>
            <a:r>
              <a:rPr sz="1200" b="0">
                <a:solidFill>
                  <a:srgbClr val="E6E6E6"/>
                </a:solidFill>
                <a:latin typeface="Consolas"/>
              </a:rPr>
              <a:t>OPEN</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CDB는 열렸지만 PDB는 기본적으로 MOUNTED로 남는다</a:t>
            </a:r>
          </a:p>
          <a:p>
            <a:pPr>
              <a:spcAft>
                <a:spcPts val="0"/>
              </a:spcAft>
            </a:pPr>
            <a:r>
              <a:rPr sz="1200" b="0">
                <a:solidFill>
                  <a:srgbClr val="E6E6E6"/>
                </a:solidFill>
                <a:latin typeface="Consolas"/>
              </a:rPr>
              <a:t>SQL&gt; SELECT name, open_mode FROM v$pdbs ORDER BY con_id;</a:t>
            </a:r>
          </a:p>
          <a:p>
            <a:pPr>
              <a:spcAft>
                <a:spcPts val="0"/>
              </a:spcAft>
            </a:pPr>
            <a:r>
              <a:rPr sz="1200" b="0">
                <a:solidFill>
                  <a:srgbClr val="E6E6E6"/>
                </a:solidFill>
                <a:latin typeface="Consolas"/>
              </a:rPr>
              <a:t>NAME          OPEN_MODE</a:t>
            </a:r>
          </a:p>
          <a:p>
            <a:pPr>
              <a:spcAft>
                <a:spcPts val="0"/>
              </a:spcAft>
            </a:pPr>
            <a:r>
              <a:rPr sz="1200" b="0">
                <a:solidFill>
                  <a:srgbClr val="7EC699"/>
                </a:solidFill>
                <a:latin typeface="Consolas"/>
              </a:rPr>
              <a:t>------------- ----------</a:t>
            </a:r>
          </a:p>
          <a:p>
            <a:pPr>
              <a:spcAft>
                <a:spcPts val="0"/>
              </a:spcAft>
            </a:pPr>
            <a:r>
              <a:rPr sz="1200" b="0">
                <a:solidFill>
                  <a:srgbClr val="E6E6E6"/>
                </a:solidFill>
                <a:latin typeface="Consolas"/>
              </a:rPr>
              <a:t>PDB$SEED      READ ONLY</a:t>
            </a:r>
          </a:p>
          <a:p>
            <a:pPr>
              <a:spcAft>
                <a:spcPts val="0"/>
              </a:spcAft>
            </a:pPr>
            <a:r>
              <a:rPr sz="1200" b="0">
                <a:solidFill>
                  <a:srgbClr val="E6E6E6"/>
                </a:solidFill>
                <a:latin typeface="Consolas"/>
              </a:rPr>
              <a:t>SALESPDB      MOUNTED</a:t>
            </a:r>
          </a:p>
          <a:p>
            <a:pPr>
              <a:spcAft>
                <a:spcPts val="0"/>
              </a:spcAft>
            </a:pPr>
            <a:r>
              <a:rPr sz="1200" b="0">
                <a:solidFill>
                  <a:srgbClr val="E6E6E6"/>
                </a:solidFill>
                <a:latin typeface="Consolas"/>
              </a:rPr>
              <a:t>HRPDB         MOUNTED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STARTUP의 유용한 변형</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STARTUP FORCE — ABORT로 강제 종료 후 즉시 재기동(어중간한 인스턴스 정리)</a:t>
            </a:r>
          </a:p>
          <a:p>
            <a:pPr>
              <a:spcAft>
                <a:spcPts val="400"/>
              </a:spcAft>
            </a:pPr>
            <a:r>
              <a:rPr sz="1800" b="0">
                <a:solidFill>
                  <a:srgbClr val="202830"/>
                </a:solidFill>
                <a:latin typeface="Malgun Gothic"/>
              </a:rPr>
              <a:t>•  STARTUP RESTRICT — RESTRICTED SESSION 권한자만 접속(유지관리용 조용한 환경)</a:t>
            </a:r>
          </a:p>
          <a:p>
            <a:pPr>
              <a:spcAft>
                <a:spcPts val="400"/>
              </a:spcAft>
            </a:pPr>
            <a:r>
              <a:rPr sz="1800" b="0">
                <a:solidFill>
                  <a:srgbClr val="202830"/>
                </a:solidFill>
                <a:latin typeface="Malgun Gothic"/>
              </a:rPr>
              <a:t>•  STARTUP OPEN READ ONLY — 읽기 전용으로 열기(Data Guard 대기·조회 전용)</a:t>
            </a:r>
          </a:p>
          <a:p>
            <a:pPr>
              <a:spcAft>
                <a:spcPts val="400"/>
              </a:spcAft>
            </a:pPr>
            <a:r>
              <a:rPr sz="1800" b="0">
                <a:solidFill>
                  <a:srgbClr val="202830"/>
                </a:solidFill>
                <a:latin typeface="Malgun Gothic"/>
              </a:rPr>
              <a:t>•  STARTUP UPGRADE / DOWNGRADE — 버전 업/다운그레이드 스크립트 실행용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7.2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인스턴스 종료 모드 개요</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종료가 필요한 상황: 정적 파라미터 변경, 패치, 하드웨어 점검, 콜드 백업</a:t>
            </a:r>
          </a:p>
          <a:p>
            <a:pPr>
              <a:spcAft>
                <a:spcPts val="400"/>
              </a:spcAft>
            </a:pPr>
            <a:r>
              <a:rPr sz="1600" b="0">
                <a:solidFill>
                  <a:srgbClr val="C5CED6"/>
                </a:solidFill>
                <a:latin typeface="Malgun Gothic"/>
              </a:rPr>
              <a:t>•  SHUTDOWN 4모드: NORMAL · TRANSACTIONAL · IMMEDIATE · ABORT</a:t>
            </a:r>
          </a:p>
          <a:p>
            <a:pPr>
              <a:spcAft>
                <a:spcPts val="400"/>
              </a:spcAft>
            </a:pPr>
            <a:r>
              <a:rPr sz="1600" b="0">
                <a:solidFill>
                  <a:srgbClr val="C5CED6"/>
                </a:solidFill>
                <a:latin typeface="Malgun Gothic"/>
              </a:rPr>
              <a:t>•  축: '얼마나 기다리는가' × '끄기 전 정리(체크포인트)를 하는가'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SHUTDOWN 4모드 비교 표</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이 장에서 가장 자주 인용되는 핵심 표</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E6E6E6"/>
                </a:solidFill>
                <a:latin typeface="Consolas"/>
              </a:rPr>
              <a:t>동작 / 모드                         ABORT  IMMEDIATE  NORMAL  TRANSACTIONAL</a:t>
            </a:r>
          </a:p>
          <a:p>
            <a:pPr>
              <a:spcAft>
                <a:spcPts val="0"/>
              </a:spcAft>
            </a:pPr>
            <a:r>
              <a:rPr sz="1200" b="0">
                <a:solidFill>
                  <a:srgbClr val="7EC699"/>
                </a:solidFill>
                <a:latin typeface="Consolas"/>
              </a:rPr>
              <a:t>----------------------------------  -----  ---------  ------  -------------</a:t>
            </a:r>
          </a:p>
          <a:p>
            <a:pPr>
              <a:spcAft>
                <a:spcPts val="0"/>
              </a:spcAft>
            </a:pPr>
            <a:r>
              <a:rPr sz="1200" b="0">
                <a:solidFill>
                  <a:srgbClr val="E6E6E6"/>
                </a:solidFill>
                <a:latin typeface="Consolas"/>
              </a:rPr>
              <a:t>새 연결(접속) 허용                    아니오   아니오     아니오    아니오</a:t>
            </a:r>
          </a:p>
          <a:p>
            <a:pPr>
              <a:spcAft>
                <a:spcPts val="0"/>
              </a:spcAft>
            </a:pPr>
            <a:r>
              <a:rPr sz="1200" b="0">
                <a:solidFill>
                  <a:srgbClr val="E6E6E6"/>
                </a:solidFill>
                <a:latin typeface="Consolas"/>
              </a:rPr>
              <a:t>현재 세션이 끝날 때까지 대기            아니오   아니오     예       아니오</a:t>
            </a:r>
          </a:p>
          <a:p>
            <a:pPr>
              <a:spcAft>
                <a:spcPts val="0"/>
              </a:spcAft>
            </a:pPr>
            <a:r>
              <a:rPr sz="1200" b="0">
                <a:solidFill>
                  <a:srgbClr val="E6E6E6"/>
                </a:solidFill>
                <a:latin typeface="Consolas"/>
              </a:rPr>
              <a:t>현재 트랜잭션이 끝날 때까지 대기         아니오   아니오     예       예</a:t>
            </a:r>
          </a:p>
          <a:p>
            <a:pPr>
              <a:spcAft>
                <a:spcPts val="0"/>
              </a:spcAft>
            </a:pPr>
            <a:r>
              <a:rPr sz="1200" b="0">
                <a:solidFill>
                  <a:srgbClr val="E6E6E6"/>
                </a:solidFill>
                <a:latin typeface="Consolas"/>
              </a:rPr>
              <a:t>체크포인트 강제 실행 및 파일 닫기         아니오   예        예       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7.3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ABORT 모드 상세</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종료 전 최소 작업만 수행 → 비일관 상태로 남김 → 다음 기동 시 복구 필요</a:t>
            </a:r>
          </a:p>
          <a:p>
            <a:pPr>
              <a:spcAft>
                <a:spcPts val="400"/>
              </a:spcAft>
            </a:pPr>
            <a:r>
              <a:rPr sz="1600" b="0">
                <a:solidFill>
                  <a:srgbClr val="C5CED6"/>
                </a:solidFill>
                <a:latin typeface="Malgun Gothic"/>
              </a:rPr>
              <a:t>•  '정말 필요할 때만' 쓰는 최후 수단, 직후 백업은 권장하지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ABORT를 써야 하는 상황 &amp; 내부 동작</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언제: 다른 종료가 안 끝날 때 / 기동 자체가 고장났을 때 / 임박한 정전 등 즉시 종료</a:t>
            </a:r>
          </a:p>
          <a:p>
            <a:pPr>
              <a:spcAft>
                <a:spcPts val="400"/>
              </a:spcAft>
            </a:pPr>
            <a:r>
              <a:rPr sz="1800" b="0">
                <a:solidFill>
                  <a:srgbClr val="202830"/>
                </a:solidFill>
                <a:latin typeface="Malgun Gothic"/>
              </a:rPr>
              <a:t>•  현재 SQL 문을 즉시 종료(완료를 기다리지 않음)</a:t>
            </a:r>
          </a:p>
          <a:p>
            <a:pPr>
              <a:spcAft>
                <a:spcPts val="400"/>
              </a:spcAft>
            </a:pPr>
            <a:r>
              <a:rPr sz="1800" b="0">
                <a:solidFill>
                  <a:srgbClr val="202830"/>
                </a:solidFill>
                <a:latin typeface="Malgun Gothic"/>
              </a:rPr>
              <a:t>•  접속 사용자의 연결 종료를 기다리지 않음</a:t>
            </a:r>
          </a:p>
          <a:p>
            <a:pPr>
              <a:spcAft>
                <a:spcPts val="400"/>
              </a:spcAft>
            </a:pPr>
            <a:r>
              <a:rPr sz="1800" b="0">
                <a:solidFill>
                  <a:srgbClr val="202830"/>
                </a:solidFill>
                <a:latin typeface="Malgun Gothic"/>
              </a:rPr>
              <a:t>•  버퍼 캐시·리두 버퍼를 디스크에 기록하지 않음(체크포인트 없음) ← 비일관 원인</a:t>
            </a:r>
          </a:p>
          <a:p>
            <a:pPr>
              <a:spcAft>
                <a:spcPts val="400"/>
              </a:spcAft>
            </a:pPr>
            <a:r>
              <a:rPr sz="1800" b="0">
                <a:solidFill>
                  <a:srgbClr val="202830"/>
                </a:solidFill>
                <a:latin typeface="Malgun Gothic"/>
              </a:rPr>
              <a:t>•  커밋되지 않은 트랜잭션을 롤백하지 않음</a:t>
            </a:r>
          </a:p>
          <a:p>
            <a:pPr>
              <a:spcAft>
                <a:spcPts val="400"/>
              </a:spcAft>
            </a:pPr>
            <a:r>
              <a:rPr sz="1800" b="0">
                <a:solidFill>
                  <a:srgbClr val="202830"/>
                </a:solidFill>
                <a:latin typeface="Malgun Gothic"/>
              </a:rPr>
              <a:t>•  파일을 닫지 않고 인스턴스 종료 → 다음 기동 시 인스턴스 복구(자동)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ABORT 실습 — 정리 없이 죽는 증거</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종료 메시지 차이에 주목</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7EC699"/>
                </a:solidFill>
                <a:latin typeface="Consolas"/>
              </a:rPr>
              <a:t>-- 응급 즉시 종료. 어떤 정리도 하지 않는다</a:t>
            </a:r>
          </a:p>
          <a:p>
            <a:pPr>
              <a:spcAft>
                <a:spcPts val="0"/>
              </a:spcAft>
            </a:pPr>
            <a:r>
              <a:rPr sz="1200" b="0">
                <a:solidFill>
                  <a:srgbClr val="E6E6E6"/>
                </a:solidFill>
                <a:latin typeface="Consolas"/>
              </a:rPr>
              <a:t>SQL&gt; SHUTDOWN ABORT</a:t>
            </a:r>
          </a:p>
          <a:p>
            <a:pPr>
              <a:spcAft>
                <a:spcPts val="0"/>
              </a:spcAft>
            </a:pPr>
            <a:r>
              <a:rPr sz="1200" b="0">
                <a:solidFill>
                  <a:srgbClr val="E6E6E6"/>
                </a:solidFill>
                <a:latin typeface="Consolas"/>
              </a:rPr>
              <a:t>ORACLE instance shut down.</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주목: 'Database closed.'/'Database dismounted.'가 없다</a:t>
            </a:r>
          </a:p>
          <a:p>
            <a:pPr>
              <a:spcAft>
                <a:spcPts val="0"/>
              </a:spcAft>
            </a:pPr>
            <a:r>
              <a:rPr sz="1200" b="0">
                <a:solidFill>
                  <a:srgbClr val="7EC699"/>
                </a:solidFill>
                <a:latin typeface="Consolas"/>
              </a:rPr>
              <a:t>--       = CLOSE/DISMOUNT 절차를 건너뛰고 죽였다는 증거</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다음 기동 시 인스턴스 복구가 자동 수행된 뒤 OPEN</a:t>
            </a:r>
          </a:p>
          <a:p>
            <a:pPr>
              <a:spcAft>
                <a:spcPts val="0"/>
              </a:spcAft>
            </a:pPr>
            <a:r>
              <a:rPr sz="1200" b="0">
                <a:solidFill>
                  <a:srgbClr val="E6E6E6"/>
                </a:solidFill>
                <a:latin typeface="Consolas"/>
              </a:rPr>
              <a:t>SQL&gt; STARTUP</a:t>
            </a:r>
          </a:p>
          <a:p>
            <a:pPr>
              <a:spcAft>
                <a:spcPts val="0"/>
              </a:spcAft>
            </a:pPr>
            <a:r>
              <a:rPr sz="1200" b="0">
                <a:solidFill>
                  <a:srgbClr val="E6E6E6"/>
                </a:solidFill>
                <a:latin typeface="Consolas"/>
              </a:rPr>
              <a:t>ORACLE instance started.</a:t>
            </a:r>
          </a:p>
          <a:p>
            <a:pPr>
              <a:spcAft>
                <a:spcPts val="0"/>
              </a:spcAft>
            </a:pPr>
            <a:r>
              <a:rPr sz="1200" b="0">
                <a:solidFill>
                  <a:srgbClr val="E6E6E6"/>
                </a:solidFill>
                <a:latin typeface="Consolas"/>
              </a:rPr>
              <a:t>Database mounted.</a:t>
            </a:r>
          </a:p>
          <a:p>
            <a:pPr>
              <a:spcAft>
                <a:spcPts val="0"/>
              </a:spcAft>
            </a:pPr>
            <a:r>
              <a:rPr sz="1200" b="0">
                <a:solidFill>
                  <a:srgbClr val="E6E6E6"/>
                </a:solidFill>
                <a:latin typeface="Consolas"/>
              </a:rPr>
              <a:t>Database opened.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7.4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IMMEDIATE 모드 상세</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실무 표준 종료 — 기다리지 않으면서 일관성은 지킴</a:t>
            </a:r>
          </a:p>
          <a:p>
            <a:pPr>
              <a:spcAft>
                <a:spcPts val="400"/>
              </a:spcAft>
            </a:pPr>
            <a:r>
              <a:rPr sz="1600" b="0">
                <a:solidFill>
                  <a:srgbClr val="C5CED6"/>
                </a:solidFill>
                <a:latin typeface="Malgun Gothic"/>
              </a:rPr>
              <a:t>•  활성 트랜잭션 롤백 + 세션 강제 종료 + CLOSE/DISMOUNT(체크포인트)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IMMEDIATE 동작과 실무 지침</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현재 SQL 문은 완료되지 않고 즉시 중단</a:t>
            </a:r>
          </a:p>
          <a:p>
            <a:pPr>
              <a:spcAft>
                <a:spcPts val="400"/>
              </a:spcAft>
            </a:pPr>
            <a:r>
              <a:rPr sz="1800" b="0">
                <a:solidFill>
                  <a:srgbClr val="202830"/>
                </a:solidFill>
                <a:latin typeface="Malgun Gothic"/>
              </a:rPr>
              <a:t>•  사용자 연결 종료를 기다리지 않음</a:t>
            </a:r>
          </a:p>
          <a:p>
            <a:pPr>
              <a:spcAft>
                <a:spcPts val="400"/>
              </a:spcAft>
            </a:pPr>
            <a:r>
              <a:rPr sz="1800" b="0">
                <a:solidFill>
                  <a:srgbClr val="202830"/>
                </a:solidFill>
                <a:latin typeface="Malgun Gothic"/>
              </a:rPr>
              <a:t>•  활성(미커밋) 트랜잭션을 서버가 롤백 ← ABORT와의 결정적 차이</a:t>
            </a:r>
          </a:p>
          <a:p>
            <a:pPr>
              <a:spcAft>
                <a:spcPts val="400"/>
              </a:spcAft>
            </a:pPr>
            <a:r>
              <a:rPr sz="1800" b="0">
                <a:solidFill>
                  <a:srgbClr val="202830"/>
                </a:solidFill>
                <a:latin typeface="Malgun Gothic"/>
              </a:rPr>
              <a:t>•  모든 세션 연결을 강제 종료</a:t>
            </a:r>
          </a:p>
          <a:p>
            <a:pPr>
              <a:spcAft>
                <a:spcPts val="400"/>
              </a:spcAft>
            </a:pPr>
            <a:r>
              <a:rPr sz="1800" b="0">
                <a:solidFill>
                  <a:srgbClr val="202830"/>
                </a:solidFill>
                <a:latin typeface="Malgun Gothic"/>
              </a:rPr>
              <a:t>•  종료 전 DB를 CLOSE·DISMOUNT(이때 체크포인트로 변경 블록을 안전 기록)</a:t>
            </a:r>
          </a:p>
          <a:p>
            <a:pPr>
              <a:spcAft>
                <a:spcPts val="400"/>
              </a:spcAft>
            </a:pPr>
            <a:r>
              <a:rPr sz="1800" b="0">
                <a:solidFill>
                  <a:srgbClr val="202830"/>
                </a:solidFill>
                <a:latin typeface="Malgun Gothic"/>
              </a:rPr>
              <a:t>•  결과: 일관 상태로 닫힘 → 다음 기동 시 복구 불필요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IMMEDIATE 실습 — 정상 종료 메시지</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CLOSE→DISMOUNT 절차를 밟은 흔적</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7EC699"/>
                </a:solidFill>
                <a:latin typeface="Consolas"/>
              </a:rPr>
              <a:t>-- 실무 표준 종료. 롤백 후 세션 종료, 정상 CLOSE/DISMOUNT</a:t>
            </a:r>
          </a:p>
          <a:p>
            <a:pPr>
              <a:spcAft>
                <a:spcPts val="0"/>
              </a:spcAft>
            </a:pPr>
            <a:r>
              <a:rPr sz="1200" b="0">
                <a:solidFill>
                  <a:srgbClr val="E6E6E6"/>
                </a:solidFill>
                <a:latin typeface="Consolas"/>
              </a:rPr>
              <a:t>SQL&gt; SHUTDOWN IMMEDIATE</a:t>
            </a:r>
          </a:p>
          <a:p>
            <a:pPr>
              <a:spcAft>
                <a:spcPts val="0"/>
              </a:spcAft>
            </a:pPr>
            <a:r>
              <a:rPr sz="1200" b="0">
                <a:solidFill>
                  <a:srgbClr val="E6E6E6"/>
                </a:solidFill>
                <a:latin typeface="Consolas"/>
              </a:rPr>
              <a:t>Database closed.</a:t>
            </a:r>
          </a:p>
          <a:p>
            <a:pPr>
              <a:spcAft>
                <a:spcPts val="0"/>
              </a:spcAft>
            </a:pPr>
            <a:r>
              <a:rPr sz="1200" b="0">
                <a:solidFill>
                  <a:srgbClr val="E6E6E6"/>
                </a:solidFill>
                <a:latin typeface="Consolas"/>
              </a:rPr>
              <a:t>Database dismounted.</a:t>
            </a:r>
          </a:p>
          <a:p>
            <a:pPr>
              <a:spcAft>
                <a:spcPts val="0"/>
              </a:spcAft>
            </a:pPr>
            <a:r>
              <a:rPr sz="1200" b="0">
                <a:solidFill>
                  <a:srgbClr val="E6E6E6"/>
                </a:solidFill>
                <a:latin typeface="Consolas"/>
              </a:rPr>
              <a:t>ORACLE instance shut down.</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ABORT와 달리 'Database closed./dismounted.'가 출력된다</a:t>
            </a:r>
          </a:p>
          <a:p>
            <a:pPr>
              <a:spcAft>
                <a:spcPts val="0"/>
              </a:spcAft>
            </a:pPr>
            <a:r>
              <a:rPr sz="1200" b="0">
                <a:solidFill>
                  <a:srgbClr val="7EC699"/>
                </a:solidFill>
                <a:latin typeface="Consolas"/>
              </a:rPr>
              <a:t>-- = 일관 상태로 닫혔다는 뜻 → 다음 STARTUP에 복구 없음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7.5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NORMAL 모드 상세</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SHUTDOWN의 기본값(모드 생략 시 NORMAL)</a:t>
            </a:r>
          </a:p>
          <a:p>
            <a:pPr>
              <a:spcAft>
                <a:spcPts val="400"/>
              </a:spcAft>
            </a:pPr>
            <a:r>
              <a:rPr sz="1600" b="0">
                <a:solidFill>
                  <a:srgbClr val="C5CED6"/>
                </a:solidFill>
                <a:latin typeface="Malgun Gothic"/>
              </a:rPr>
              <a:t>•  모든 사용자가 스스로 나갈 때까지 대기 → 실무에선 잘 안 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NORMAL 동작과 주의점</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새 연결 불가</a:t>
            </a:r>
          </a:p>
          <a:p>
            <a:pPr>
              <a:spcAft>
                <a:spcPts val="400"/>
              </a:spcAft>
            </a:pPr>
            <a:r>
              <a:rPr sz="1800" b="0">
                <a:solidFill>
                  <a:srgbClr val="202830"/>
                </a:solidFill>
                <a:latin typeface="Malgun Gothic"/>
              </a:rPr>
              <a:t>•  현재 접속 사용자 전원이 스스로 연결을 끊을 때까지 대기(한 명이라도 남으면 안 끝남)</a:t>
            </a:r>
          </a:p>
          <a:p>
            <a:pPr>
              <a:spcAft>
                <a:spcPts val="400"/>
              </a:spcAft>
            </a:pPr>
            <a:r>
              <a:rPr sz="1800" b="0">
                <a:solidFill>
                  <a:srgbClr val="202830"/>
                </a:solidFill>
                <a:latin typeface="Malgun Gothic"/>
              </a:rPr>
              <a:t>•  모두 나가면 버퍼 캐시·리두 버퍼를 디스크에 기록(체크포인트)</a:t>
            </a:r>
          </a:p>
          <a:p>
            <a:pPr>
              <a:spcAft>
                <a:spcPts val="400"/>
              </a:spcAft>
            </a:pPr>
            <a:r>
              <a:rPr sz="1800" b="0">
                <a:solidFill>
                  <a:srgbClr val="202830"/>
                </a:solidFill>
                <a:latin typeface="Malgun Gothic"/>
              </a:rPr>
              <a:t>•  백그라운드 프로세스 종료, SGA 메모리 해제</a:t>
            </a:r>
          </a:p>
          <a:p>
            <a:pPr>
              <a:spcAft>
                <a:spcPts val="400"/>
              </a:spcAft>
            </a:pPr>
            <a:r>
              <a:rPr sz="1800" b="0">
                <a:solidFill>
                  <a:srgbClr val="202830"/>
                </a:solidFill>
                <a:latin typeface="Malgun Gothic"/>
              </a:rPr>
              <a:t>•  DB를 CLOSE·DISMOUNT 후 인스턴스 종료(일관 상태)</a:t>
            </a:r>
          </a:p>
          <a:p>
            <a:pPr>
              <a:spcAft>
                <a:spcPts val="400"/>
              </a:spcAft>
            </a:pPr>
            <a:r>
              <a:rPr sz="1800" b="0">
                <a:solidFill>
                  <a:srgbClr val="202830"/>
                </a:solidFill>
                <a:latin typeface="Malgun Gothic"/>
              </a:rPr>
              <a:t>•  ★ SHUTDOWN(옵션 생략)=NORMAL → 항상 모드를 명시하는 습관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7.6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TRANSACTIONAL 모드 상세</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NORMAL과 IMMEDIATE의 절충 — 트랜잭션은 존중, 세션은 존중 안 함</a:t>
            </a:r>
          </a:p>
          <a:p>
            <a:pPr>
              <a:spcAft>
                <a:spcPts val="400"/>
              </a:spcAft>
            </a:pPr>
            <a:r>
              <a:rPr sz="1600" b="0">
                <a:solidFill>
                  <a:srgbClr val="C5CED6"/>
                </a:solidFill>
                <a:latin typeface="Malgun Gothic"/>
              </a:rPr>
              <a:t>•  진행 중 트랜잭션이 끝나는 순간 해당 세션 연결 종료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TRANSACTIONAL 동작과 용도</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새 트랜잭션 시작 불가</a:t>
            </a:r>
          </a:p>
          <a:p>
            <a:pPr>
              <a:spcAft>
                <a:spcPts val="400"/>
              </a:spcAft>
            </a:pPr>
            <a:r>
              <a:rPr sz="1800" b="0">
                <a:solidFill>
                  <a:srgbClr val="202830"/>
                </a:solidFill>
                <a:latin typeface="Malgun Gothic"/>
              </a:rPr>
              <a:t>•  각 클라이언트는 진행 중 트랜잭션을 끝내는(커밋/롤백) 순간 연결 종료</a:t>
            </a:r>
          </a:p>
          <a:p>
            <a:pPr>
              <a:spcAft>
                <a:spcPts val="400"/>
              </a:spcAft>
            </a:pPr>
            <a:r>
              <a:rPr sz="1800" b="0">
                <a:solidFill>
                  <a:srgbClr val="202830"/>
                </a:solidFill>
                <a:latin typeface="Malgun Gothic"/>
              </a:rPr>
              <a:t>•  모든 트랜잭션 완료 시 즉시 종료(이후는 IMMEDIATE와 동일)</a:t>
            </a:r>
          </a:p>
          <a:p>
            <a:pPr>
              <a:spcAft>
                <a:spcPts val="400"/>
              </a:spcAft>
            </a:pPr>
            <a:r>
              <a:rPr sz="1800" b="0">
                <a:solidFill>
                  <a:srgbClr val="202830"/>
                </a:solidFill>
                <a:latin typeface="Malgun Gothic"/>
              </a:rPr>
              <a:t>•  NORMAL은 '세션 종료'를, TRANSACTIONAL은 '트랜잭션 종료'를 기다림</a:t>
            </a:r>
          </a:p>
          <a:p>
            <a:pPr>
              <a:spcAft>
                <a:spcPts val="400"/>
              </a:spcAft>
            </a:pPr>
            <a:r>
              <a:rPr sz="1800" b="0">
                <a:solidFill>
                  <a:srgbClr val="202830"/>
                </a:solidFill>
                <a:latin typeface="Malgun Gothic"/>
              </a:rPr>
              <a:t>•  용도: 결제·정산 트랜잭션을 롤백시키고 싶지 않지만 유휴 세션은 못 기다릴 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종료 4모드 종합 비교</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관점별 한눈 정리</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E6E6E6"/>
                </a:solidFill>
                <a:latin typeface="Consolas"/>
              </a:rPr>
              <a:t>관점              NORMAL        TRANSACTIONAL  IMMEDIATE   ABORT</a:t>
            </a:r>
          </a:p>
          <a:p>
            <a:pPr>
              <a:spcAft>
                <a:spcPts val="0"/>
              </a:spcAft>
            </a:pPr>
            <a:r>
              <a:rPr sz="1200" b="0">
                <a:solidFill>
                  <a:srgbClr val="7EC699"/>
                </a:solidFill>
                <a:latin typeface="Consolas"/>
              </a:rPr>
              <a:t>---------------  ------------  -------------  ---------   -----------</a:t>
            </a:r>
          </a:p>
          <a:p>
            <a:pPr>
              <a:spcAft>
                <a:spcPts val="0"/>
              </a:spcAft>
            </a:pPr>
            <a:r>
              <a:rPr sz="1200" b="0">
                <a:solidFill>
                  <a:srgbClr val="E6E6E6"/>
                </a:solidFill>
                <a:latin typeface="Consolas"/>
              </a:rPr>
              <a:t>기다림의 대상       세션 전체       트랜잭션         없음        없음</a:t>
            </a:r>
          </a:p>
          <a:p>
            <a:pPr>
              <a:spcAft>
                <a:spcPts val="0"/>
              </a:spcAft>
            </a:pPr>
            <a:r>
              <a:rPr sz="1200" b="0">
                <a:solidFill>
                  <a:srgbClr val="E6E6E6"/>
                </a:solidFill>
                <a:latin typeface="Consolas"/>
              </a:rPr>
              <a:t>활성 트랜잭션       사용자가 커밋     완료 후 종료      서버가 롤백    방치(롤백X)</a:t>
            </a:r>
          </a:p>
          <a:p>
            <a:pPr>
              <a:spcAft>
                <a:spcPts val="0"/>
              </a:spcAft>
            </a:pPr>
            <a:r>
              <a:rPr sz="1200" b="0">
                <a:solidFill>
                  <a:srgbClr val="E6E6E6"/>
                </a:solidFill>
                <a:latin typeface="Consolas"/>
              </a:rPr>
              <a:t>체크포인트          예            예             예          아니오</a:t>
            </a:r>
          </a:p>
          <a:p>
            <a:pPr>
              <a:spcAft>
                <a:spcPts val="0"/>
              </a:spcAft>
            </a:pPr>
            <a:r>
              <a:rPr sz="1200" b="0">
                <a:solidFill>
                  <a:srgbClr val="E6E6E6"/>
                </a:solidFill>
                <a:latin typeface="Consolas"/>
              </a:rPr>
              <a:t>종료 후 일관성       일관          일관            일관        비일관</a:t>
            </a:r>
          </a:p>
          <a:p>
            <a:pPr>
              <a:spcAft>
                <a:spcPts val="0"/>
              </a:spcAft>
            </a:pPr>
            <a:r>
              <a:rPr sz="1200" b="0">
                <a:solidFill>
                  <a:srgbClr val="E6E6E6"/>
                </a:solidFill>
                <a:latin typeface="Consolas"/>
              </a:rPr>
              <a:t>다음 기동 복구       불필요         불필요           불필요       필요(자동)</a:t>
            </a:r>
          </a:p>
          <a:p>
            <a:pPr>
              <a:spcAft>
                <a:spcPts val="0"/>
              </a:spcAft>
            </a:pPr>
            <a:r>
              <a:rPr sz="1200" b="0">
                <a:solidFill>
                  <a:srgbClr val="E6E6E6"/>
                </a:solidFill>
                <a:latin typeface="Consolas"/>
              </a:rPr>
              <a:t>종료 속도          가장 느림       느림(가변)        빠름        가장 빠름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7.7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종료 모드별 일관성·인스턴스 복구 비교</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정상 종료(NORMAL/TRANSACTIONAL/IMMEDIATE): 일관 상태로 닫힘 → 복구 불필요</a:t>
            </a:r>
          </a:p>
          <a:p>
            <a:pPr>
              <a:spcAft>
                <a:spcPts val="400"/>
              </a:spcAft>
            </a:pPr>
            <a:r>
              <a:rPr sz="1600" b="0">
                <a:solidFill>
                  <a:srgbClr val="C5CED6"/>
                </a:solidFill>
                <a:latin typeface="Malgun Gothic"/>
              </a:rPr>
              <a:t>•  비정상(ABORT/장애/FORCE): 비일관 → 다음 기동 시 자동 인스턴스 복구</a:t>
            </a:r>
          </a:p>
          <a:p>
            <a:pPr>
              <a:spcAft>
                <a:spcPts val="400"/>
              </a:spcAft>
            </a:pPr>
            <a:r>
              <a:rPr sz="1600" b="0">
                <a:solidFill>
                  <a:srgbClr val="C5CED6"/>
                </a:solidFill>
                <a:latin typeface="Malgun Gothic"/>
              </a:rPr>
              <a:t>•  가르는 기준: 종료 중 체크포인트로 일관 상태로 닫았는가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정상 종료 경로 — 일관 상태로 닫힘</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NORMAL / TRANSACTIONAL / IMMEDIATE</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7EC699"/>
                </a:solidFill>
                <a:latin typeface="Consolas"/>
              </a:rPr>
              <a:t>[ 정상 종료 ]</a:t>
            </a:r>
          </a:p>
          <a:p>
            <a:pPr>
              <a:spcAft>
                <a:spcPts val="0"/>
              </a:spcAft>
            </a:pPr>
            <a:r>
              <a:rPr sz="1200" b="0">
                <a:solidFill>
                  <a:srgbClr val="E6E6E6"/>
                </a:solidFill>
                <a:latin typeface="Consolas"/>
              </a:rPr>
              <a:t> </a:t>
            </a:r>
          </a:p>
          <a:p>
            <a:pPr>
              <a:spcAft>
                <a:spcPts val="0"/>
              </a:spcAft>
            </a:pPr>
            <a:r>
              <a:rPr sz="1200" b="0">
                <a:solidFill>
                  <a:srgbClr val="E6E6E6"/>
                </a:solidFill>
                <a:latin typeface="Consolas"/>
              </a:rPr>
              <a:t> OPEN</a:t>
            </a:r>
          </a:p>
          <a:p>
            <a:pPr>
              <a:spcAft>
                <a:spcPts val="0"/>
              </a:spcAft>
            </a:pPr>
            <a:r>
              <a:rPr sz="1200" b="0">
                <a:solidFill>
                  <a:srgbClr val="E6E6E6"/>
                </a:solidFill>
                <a:latin typeface="Consolas"/>
              </a:rPr>
              <a:t>   |  내려가는 길:</a:t>
            </a:r>
          </a:p>
          <a:p>
            <a:pPr>
              <a:spcAft>
                <a:spcPts val="0"/>
              </a:spcAft>
            </a:pPr>
            <a:r>
              <a:rPr sz="1200" b="0">
                <a:solidFill>
                  <a:srgbClr val="E6E6E6"/>
                </a:solidFill>
                <a:latin typeface="Consolas"/>
              </a:rPr>
              <a:t>   |   - (IMMEDIATE) 미커밋 변경 롤백</a:t>
            </a:r>
          </a:p>
          <a:p>
            <a:pPr>
              <a:spcAft>
                <a:spcPts val="0"/>
              </a:spcAft>
            </a:pPr>
            <a:r>
              <a:rPr sz="1200" b="0">
                <a:solidFill>
                  <a:srgbClr val="E6E6E6"/>
                </a:solidFill>
                <a:latin typeface="Consolas"/>
              </a:rPr>
              <a:t>   |   - 버퍼 캐시가 데이터 파일에 기록됨(체크포인트)</a:t>
            </a:r>
          </a:p>
          <a:p>
            <a:pPr>
              <a:spcAft>
                <a:spcPts val="0"/>
              </a:spcAft>
            </a:pPr>
            <a:r>
              <a:rPr sz="1200" b="0">
                <a:solidFill>
                  <a:srgbClr val="E6E6E6"/>
                </a:solidFill>
                <a:latin typeface="Consolas"/>
              </a:rPr>
              <a:t>   |   - 자원 해제</a:t>
            </a:r>
          </a:p>
          <a:p>
            <a:pPr>
              <a:spcAft>
                <a:spcPts val="0"/>
              </a:spcAft>
            </a:pPr>
            <a:r>
              <a:rPr sz="1200" b="0">
                <a:solidFill>
                  <a:srgbClr val="E6E6E6"/>
                </a:solidFill>
                <a:latin typeface="Consolas"/>
              </a:rPr>
              <a:t>   v</a:t>
            </a:r>
          </a:p>
          <a:p>
            <a:pPr>
              <a:spcAft>
                <a:spcPts val="0"/>
              </a:spcAft>
            </a:pPr>
            <a:r>
              <a:rPr sz="1200" b="0">
                <a:solidFill>
                  <a:srgbClr val="E6E6E6"/>
                </a:solidFill>
                <a:latin typeface="Consolas"/>
              </a:rPr>
              <a:t> SHUTDOWN  ---&gt;  [ 일관된 데이터베이스 ]</a:t>
            </a:r>
          </a:p>
          <a:p>
            <a:pPr>
              <a:spcAft>
                <a:spcPts val="0"/>
              </a:spcAft>
            </a:pPr>
            <a:r>
              <a:rPr sz="1200" b="0">
                <a:solidFill>
                  <a:srgbClr val="E6E6E6"/>
                </a:solidFill>
                <a:latin typeface="Consolas"/>
              </a:rPr>
              <a:t>                   |  올라가는 길: 인스턴스 복구 없음</a:t>
            </a:r>
          </a:p>
          <a:p>
            <a:pPr>
              <a:spcAft>
                <a:spcPts val="0"/>
              </a:spcAft>
            </a:pPr>
            <a:r>
              <a:rPr sz="1200" b="0">
                <a:solidFill>
                  <a:srgbClr val="E6E6E6"/>
                </a:solidFill>
                <a:latin typeface="Consolas"/>
              </a:rPr>
              <a:t>                   v</a:t>
            </a:r>
          </a:p>
          <a:p>
            <a:pPr>
              <a:spcAft>
                <a:spcPts val="0"/>
              </a:spcAft>
            </a:pPr>
            <a:r>
              <a:rPr sz="1200" b="0">
                <a:solidFill>
                  <a:srgbClr val="E6E6E6"/>
                </a:solidFill>
                <a:latin typeface="Consolas"/>
              </a:rPr>
              <a:t>                 OPEN (빠르게 기동 완료)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비정상 종료 경로 — 자동 인스턴스 복구</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ABORT / 인스턴스 장애 / STARTUP FORCE</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7EC699"/>
                </a:solidFill>
                <a:latin typeface="Consolas"/>
              </a:rPr>
              <a:t>[ 비정상 종료 ]</a:t>
            </a:r>
          </a:p>
          <a:p>
            <a:pPr>
              <a:spcAft>
                <a:spcPts val="0"/>
              </a:spcAft>
            </a:pPr>
            <a:r>
              <a:rPr sz="1200" b="0">
                <a:solidFill>
                  <a:srgbClr val="E6E6E6"/>
                </a:solidFill>
                <a:latin typeface="Consolas"/>
              </a:rPr>
              <a:t> </a:t>
            </a:r>
          </a:p>
          <a:p>
            <a:pPr>
              <a:spcAft>
                <a:spcPts val="0"/>
              </a:spcAft>
            </a:pPr>
            <a:r>
              <a:rPr sz="1200" b="0">
                <a:solidFill>
                  <a:srgbClr val="E6E6E6"/>
                </a:solidFill>
                <a:latin typeface="Consolas"/>
              </a:rPr>
              <a:t> OPEN</a:t>
            </a:r>
          </a:p>
          <a:p>
            <a:pPr>
              <a:spcAft>
                <a:spcPts val="0"/>
              </a:spcAft>
            </a:pPr>
            <a:r>
              <a:rPr sz="1200" b="0">
                <a:solidFill>
                  <a:srgbClr val="E6E6E6"/>
                </a:solidFill>
                <a:latin typeface="Consolas"/>
              </a:rPr>
              <a:t>   |  내려가는 길:</a:t>
            </a:r>
          </a:p>
          <a:p>
            <a:pPr>
              <a:spcAft>
                <a:spcPts val="0"/>
              </a:spcAft>
            </a:pPr>
            <a:r>
              <a:rPr sz="1200" b="0">
                <a:solidFill>
                  <a:srgbClr val="E6E6E6"/>
                </a:solidFill>
                <a:latin typeface="Consolas"/>
              </a:rPr>
              <a:t>   |   - 수정된 버퍼가 데이터 파일에 기록되지 않음</a:t>
            </a:r>
          </a:p>
          <a:p>
            <a:pPr>
              <a:spcAft>
                <a:spcPts val="0"/>
              </a:spcAft>
            </a:pPr>
            <a:r>
              <a:rPr sz="1200" b="0">
                <a:solidFill>
                  <a:srgbClr val="E6E6E6"/>
                </a:solidFill>
                <a:latin typeface="Consolas"/>
              </a:rPr>
              <a:t>   |   - 미커밋 변경이 롤백되지 않음</a:t>
            </a:r>
          </a:p>
          <a:p>
            <a:pPr>
              <a:spcAft>
                <a:spcPts val="0"/>
              </a:spcAft>
            </a:pPr>
            <a:r>
              <a:rPr sz="1200" b="0">
                <a:solidFill>
                  <a:srgbClr val="E6E6E6"/>
                </a:solidFill>
                <a:latin typeface="Consolas"/>
              </a:rPr>
              <a:t>   v</a:t>
            </a:r>
          </a:p>
          <a:p>
            <a:pPr>
              <a:spcAft>
                <a:spcPts val="0"/>
              </a:spcAft>
            </a:pPr>
            <a:r>
              <a:rPr sz="1200" b="0">
                <a:solidFill>
                  <a:srgbClr val="E6E6E6"/>
                </a:solidFill>
                <a:latin typeface="Consolas"/>
              </a:rPr>
              <a:t> SHUTDOWN  ---&gt;  [ 비일관 데이터베이스 ]</a:t>
            </a:r>
          </a:p>
          <a:p>
            <a:pPr>
              <a:spcAft>
                <a:spcPts val="0"/>
              </a:spcAft>
            </a:pPr>
            <a:r>
              <a:rPr sz="1200" b="0">
                <a:solidFill>
                  <a:srgbClr val="E6E6E6"/>
                </a:solidFill>
                <a:latin typeface="Consolas"/>
              </a:rPr>
              <a:t>                   |  올라가는 길(자동 인스턴스 복구):</a:t>
            </a:r>
          </a:p>
          <a:p>
            <a:pPr>
              <a:spcAft>
                <a:spcPts val="0"/>
              </a:spcAft>
            </a:pPr>
            <a:r>
              <a:rPr sz="1200" b="0">
                <a:solidFill>
                  <a:srgbClr val="E6E6E6"/>
                </a:solidFill>
                <a:latin typeface="Consolas"/>
              </a:rPr>
              <a:t>                   |   1) 롤 포워드: 온라인 리두 로그로 변경 재적용</a:t>
            </a:r>
          </a:p>
          <a:p>
            <a:pPr>
              <a:spcAft>
                <a:spcPts val="0"/>
              </a:spcAft>
            </a:pPr>
            <a:r>
              <a:rPr sz="1200" b="0">
                <a:solidFill>
                  <a:srgbClr val="E6E6E6"/>
                </a:solidFill>
                <a:latin typeface="Consolas"/>
              </a:rPr>
              <a:t>                   |   2) 롤백: 언두 세그먼트로 미커밋 변경 되돌림</a:t>
            </a:r>
          </a:p>
          <a:p>
            <a:pPr>
              <a:spcAft>
                <a:spcPts val="0"/>
              </a:spcAft>
            </a:pPr>
            <a:r>
              <a:rPr sz="1200" b="0">
                <a:solidFill>
                  <a:srgbClr val="E6E6E6"/>
                </a:solidFill>
                <a:latin typeface="Consolas"/>
              </a:rPr>
              <a:t>                   |   3) 자원 해제</a:t>
            </a:r>
          </a:p>
          <a:p>
            <a:pPr>
              <a:spcAft>
                <a:spcPts val="0"/>
              </a:spcAft>
            </a:pPr>
            <a:r>
              <a:rPr sz="1200" b="0">
                <a:solidFill>
                  <a:srgbClr val="E6E6E6"/>
                </a:solidFill>
                <a:latin typeface="Consolas"/>
              </a:rPr>
              <a:t>                   v</a:t>
            </a:r>
          </a:p>
          <a:p>
            <a:pPr>
              <a:spcAft>
                <a:spcPts val="0"/>
              </a:spcAft>
            </a:pPr>
            <a:r>
              <a:rPr sz="1200" b="0">
                <a:solidFill>
                  <a:srgbClr val="E6E6E6"/>
                </a:solidFill>
                <a:latin typeface="Consolas"/>
              </a:rPr>
              <a:t>                 OPEN (복구 후 기동 완료)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인스턴스 복구 vs 미디어 복구</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인스턴스 복구 — ABORT·장애·FORCE 후, 온라인 리두+언두만으로 자동 수행(SMON)</a:t>
            </a:r>
          </a:p>
          <a:p>
            <a:pPr>
              <a:spcAft>
                <a:spcPts val="400"/>
              </a:spcAft>
            </a:pPr>
            <a:r>
              <a:rPr sz="1800" b="0">
                <a:solidFill>
                  <a:srgbClr val="202830"/>
                </a:solidFill>
                <a:latin typeface="Malgun Gothic"/>
              </a:rPr>
              <a:t>•  관리자 개입 불필요, RECOVER 명령 없이 STARTUP 중 자동 처리</a:t>
            </a:r>
          </a:p>
          <a:p>
            <a:pPr>
              <a:spcAft>
                <a:spcPts val="400"/>
              </a:spcAft>
            </a:pPr>
            <a:r>
              <a:rPr sz="1800" b="0">
                <a:solidFill>
                  <a:srgbClr val="202830"/>
                </a:solidFill>
                <a:latin typeface="Malgun Gothic"/>
              </a:rPr>
              <a:t>•  미디어 복구 — 데이터 파일이 손상·소실되었을 때</a:t>
            </a:r>
          </a:p>
          <a:p>
            <a:pPr>
              <a:spcAft>
                <a:spcPts val="400"/>
              </a:spcAft>
            </a:pPr>
            <a:r>
              <a:rPr sz="1800" b="0">
                <a:solidFill>
                  <a:srgbClr val="202830"/>
                </a:solidFill>
                <a:latin typeface="Malgun Gothic"/>
              </a:rPr>
              <a:t>•  백업 복원 + 아카이브 리두 적용, RECOVER 명령으로 관리자가 수동 개입</a:t>
            </a:r>
          </a:p>
          <a:p>
            <a:pPr>
              <a:spcAft>
                <a:spcPts val="400"/>
              </a:spcAft>
            </a:pPr>
            <a:r>
              <a:rPr sz="1800" b="0">
                <a:solidFill>
                  <a:srgbClr val="202830"/>
                </a:solidFill>
                <a:latin typeface="Malgun Gothic"/>
              </a:rPr>
              <a:t>•  ABORT는 데이터 파일을 손상시키지 않음 → 인스턴스 복구만 필요(미디어 복구 아님)</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7.8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PDB 열기와 닫기</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CDB OPEN해도 PDB는 자동으로 열리지 않음(MOUNTED로 남음)</a:t>
            </a:r>
          </a:p>
          <a:p>
            <a:pPr>
              <a:spcAft>
                <a:spcPts val="400"/>
              </a:spcAft>
            </a:pPr>
            <a:r>
              <a:rPr sz="1600" b="0">
                <a:solidFill>
                  <a:srgbClr val="C5CED6"/>
                </a:solidFill>
                <a:latin typeface="Malgun Gothic"/>
              </a:rPr>
              <a:t>•  PDB 오픈 모드 4가지: READ WRITE / READ ONLY / MIGRATE / MOUNTED</a:t>
            </a:r>
          </a:p>
          <a:p>
            <a:pPr>
              <a:spcAft>
                <a:spcPts val="400"/>
              </a:spcAft>
            </a:pPr>
            <a:r>
              <a:rPr sz="1600" b="0">
                <a:solidFill>
                  <a:srgbClr val="C5CED6"/>
                </a:solidFill>
                <a:latin typeface="Malgun Gothic"/>
              </a:rPr>
              <a:t>•  ALTER PLUGGABLE DATABASE 또는 STARTUP/SHUTDOWN으로 개폐</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PDB의 네 가지 오픈 모드</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READ WRITE — 완전히 열림(조회·변경 가능), 일반 운영 상태</a:t>
            </a:r>
          </a:p>
          <a:p>
            <a:pPr>
              <a:spcAft>
                <a:spcPts val="400"/>
              </a:spcAft>
            </a:pPr>
            <a:r>
              <a:rPr sz="1800" b="0">
                <a:solidFill>
                  <a:srgbClr val="202830"/>
                </a:solidFill>
                <a:latin typeface="Malgun Gothic"/>
              </a:rPr>
              <a:t>•  READ ONLY — 열려 있지만 조회만 가능(PDB$SEED는 항상 READ ONLY)</a:t>
            </a:r>
          </a:p>
          <a:p>
            <a:pPr>
              <a:spcAft>
                <a:spcPts val="400"/>
              </a:spcAft>
            </a:pPr>
            <a:r>
              <a:rPr sz="1800" b="0">
                <a:solidFill>
                  <a:srgbClr val="202830"/>
                </a:solidFill>
                <a:latin typeface="Malgun Gothic"/>
              </a:rPr>
              <a:t>•  MIGRATE — 업그레이드 스크립트 실행용 특수 상태</a:t>
            </a:r>
          </a:p>
          <a:p>
            <a:pPr>
              <a:spcAft>
                <a:spcPts val="400"/>
              </a:spcAft>
            </a:pPr>
            <a:r>
              <a:rPr sz="1800" b="0">
                <a:solidFill>
                  <a:srgbClr val="202830"/>
                </a:solidFill>
                <a:latin typeface="Malgun Gothic"/>
              </a:rPr>
              <a:t>•  MOUNTED — 닫힘(데이터 파일 닫힘), CDB OPEN 직후 PDB의 기본 상태</a:t>
            </a:r>
          </a:p>
          <a:p>
            <a:pPr>
              <a:spcAft>
                <a:spcPts val="400"/>
              </a:spcAft>
            </a:pPr>
            <a:r>
              <a:rPr sz="1800" b="0">
                <a:solidFill>
                  <a:srgbClr val="202830"/>
                </a:solidFill>
                <a:latin typeface="Malgun Gothic"/>
              </a:rPr>
              <a:t>•  확인: SELECT con_id, name, open_mode, restricted FROM v$pdbs;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ALTER PLUGGABLE DATABASE로 개폐</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어떤 모드에서든 다른 모드로 전환 가능</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7EC699"/>
                </a:solidFill>
                <a:latin typeface="Consolas"/>
              </a:rPr>
              <a:t>-- PDB1 열기 (MOUNTED -&gt; READ WRITE)</a:t>
            </a:r>
          </a:p>
          <a:p>
            <a:pPr>
              <a:spcAft>
                <a:spcPts val="0"/>
              </a:spcAft>
            </a:pPr>
            <a:r>
              <a:rPr sz="1200" b="0">
                <a:solidFill>
                  <a:srgbClr val="E6E6E6"/>
                </a:solidFill>
                <a:latin typeface="Consolas"/>
              </a:rPr>
              <a:t>SQL&gt; ALTER PLUGGABLE DATABASE PDB1 OPEN;</a:t>
            </a:r>
          </a:p>
          <a:p>
            <a:pPr>
              <a:spcAft>
                <a:spcPts val="0"/>
              </a:spcAft>
            </a:pPr>
            <a:r>
              <a:rPr sz="1200" b="0">
                <a:solidFill>
                  <a:srgbClr val="E6E6E6"/>
                </a:solidFill>
                <a:latin typeface="Consolas"/>
              </a:rPr>
              <a:t>Pluggable database altered.</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PDB1 닫기 (READ WRITE -&gt; MOUNTED)</a:t>
            </a:r>
          </a:p>
          <a:p>
            <a:pPr>
              <a:spcAft>
                <a:spcPts val="0"/>
              </a:spcAft>
            </a:pPr>
            <a:r>
              <a:rPr sz="1200" b="0">
                <a:solidFill>
                  <a:srgbClr val="E6E6E6"/>
                </a:solidFill>
                <a:latin typeface="Consolas"/>
              </a:rPr>
              <a:t>SQL&gt; ALTER PLUGGABLE DATABASE PDB1 CLOSE;</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읽기 전용으로 열기 / 이미 열린 것을 강제 전환</a:t>
            </a:r>
          </a:p>
          <a:p>
            <a:pPr>
              <a:spcAft>
                <a:spcPts val="0"/>
              </a:spcAft>
            </a:pPr>
            <a:r>
              <a:rPr sz="1200" b="0">
                <a:solidFill>
                  <a:srgbClr val="E6E6E6"/>
                </a:solidFill>
                <a:latin typeface="Consolas"/>
              </a:rPr>
              <a:t>SQL&gt; ALTER PLUGGABLE DATABASE PDB1 OPEN READ ONLY;</a:t>
            </a:r>
          </a:p>
          <a:p>
            <a:pPr>
              <a:spcAft>
                <a:spcPts val="0"/>
              </a:spcAft>
            </a:pPr>
            <a:r>
              <a:rPr sz="1200" b="0">
                <a:solidFill>
                  <a:srgbClr val="E6E6E6"/>
                </a:solidFill>
                <a:latin typeface="Consolas"/>
              </a:rPr>
              <a:t>SQL&gt; ALTER PLUGGABLE DATABASE PDB1 OPEN READ ONLY FORCE;</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여러 PDB 일괄 처리</a:t>
            </a:r>
          </a:p>
          <a:p>
            <a:pPr>
              <a:spcAft>
                <a:spcPts val="0"/>
              </a:spcAft>
            </a:pPr>
            <a:r>
              <a:rPr sz="1200" b="0">
                <a:solidFill>
                  <a:srgbClr val="E6E6E6"/>
                </a:solidFill>
                <a:latin typeface="Consolas"/>
              </a:rPr>
              <a:t>SQL&gt; ALTER PLUGGABLE DATABASE ALL OPEN;</a:t>
            </a:r>
          </a:p>
          <a:p>
            <a:pPr>
              <a:spcAft>
                <a:spcPts val="0"/>
              </a:spcAft>
            </a:pPr>
            <a:r>
              <a:rPr sz="1200" b="0">
                <a:solidFill>
                  <a:srgbClr val="E6E6E6"/>
                </a:solidFill>
                <a:latin typeface="Consolas"/>
              </a:rPr>
              <a:t>SQL&gt; ALTER PLUGGABLE DATABASE ALL EXCEPT SALESPDB OPEN;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STARTUP/SHUTDOWN으로 PDB 개폐</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PDB에 접속 후 사용(MOUNTED 필요)</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7EC699"/>
                </a:solidFill>
                <a:latin typeface="Consolas"/>
              </a:rPr>
              <a:t>-- PDB에 접속한 뒤 STARTUP으로 열기(기본 READ WRITE)</a:t>
            </a:r>
          </a:p>
          <a:p>
            <a:pPr>
              <a:spcAft>
                <a:spcPts val="0"/>
              </a:spcAft>
            </a:pPr>
            <a:r>
              <a:rPr sz="1200" b="0">
                <a:solidFill>
                  <a:srgbClr val="E6E6E6"/>
                </a:solidFill>
                <a:latin typeface="Consolas"/>
              </a:rPr>
              <a:t>SQL&gt; ALTER SESSION SET CONTAINER = PDB1;</a:t>
            </a:r>
          </a:p>
          <a:p>
            <a:pPr>
              <a:spcAft>
                <a:spcPts val="0"/>
              </a:spcAft>
            </a:pPr>
            <a:r>
              <a:rPr sz="1200" b="0">
                <a:solidFill>
                  <a:srgbClr val="E6E6E6"/>
                </a:solidFill>
                <a:latin typeface="Consolas"/>
              </a:rPr>
              <a:t>SQL&gt; STARTUP</a:t>
            </a:r>
          </a:p>
          <a:p>
            <a:pPr>
              <a:spcAft>
                <a:spcPts val="0"/>
              </a:spcAft>
            </a:pPr>
            <a:r>
              <a:rPr sz="1200" b="0">
                <a:solidFill>
                  <a:srgbClr val="E6E6E6"/>
                </a:solidFill>
                <a:latin typeface="Consolas"/>
              </a:rPr>
              <a:t>Pluggable Database opened.</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읽기 전용으로 열기 / 닫기</a:t>
            </a:r>
          </a:p>
          <a:p>
            <a:pPr>
              <a:spcAft>
                <a:spcPts val="0"/>
              </a:spcAft>
            </a:pPr>
            <a:r>
              <a:rPr sz="1200" b="0">
                <a:solidFill>
                  <a:srgbClr val="E6E6E6"/>
                </a:solidFill>
                <a:latin typeface="Consolas"/>
              </a:rPr>
              <a:t>SQL&gt; STARTUP OPEN READ ONLY;</a:t>
            </a:r>
          </a:p>
          <a:p>
            <a:pPr>
              <a:spcAft>
                <a:spcPts val="0"/>
              </a:spcAft>
            </a:pPr>
            <a:r>
              <a:rPr sz="1200" b="0">
                <a:solidFill>
                  <a:srgbClr val="E6E6E6"/>
                </a:solidFill>
                <a:latin typeface="Consolas"/>
              </a:rPr>
              <a:t>SQL&gt; SHUTDOWN IMMEDIATE</a:t>
            </a:r>
          </a:p>
          <a:p>
            <a:pPr>
              <a:spcAft>
                <a:spcPts val="0"/>
              </a:spcAft>
            </a:pPr>
            <a:r>
              <a:rPr sz="1200" b="0">
                <a:solidFill>
                  <a:srgbClr val="E6E6E6"/>
                </a:solidFill>
                <a:latin typeface="Consolas"/>
              </a:rPr>
              <a:t>Pluggable Database closed.</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필요 권한: AS SYSDBA / SYSOPER / SYSBACKUP / SYSDG 중 하나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200400" cy="1371600"/>
          </a:xfrm>
          <a:prstGeom prst="rect">
            <a:avLst/>
          </a:prstGeom>
          <a:noFill/>
        </p:spPr>
        <p:txBody>
          <a:bodyPr wrap="square">
            <a:spAutoFit/>
          </a:bodyPr>
          <a:lstStyle/>
          <a:p>
            <a:r>
              <a:rPr sz="6600" b="1">
                <a:solidFill>
                  <a:srgbClr val="C0392B"/>
                </a:solidFill>
                <a:latin typeface="Malgun Gothic"/>
              </a:rPr>
              <a:t>7.9</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PDB 자동 오픈 — SAVE STATE / DISCARD STATE</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rPr>
              <a:t>•  CDB 재기동 시 PDB는 기본적으로 MOUNTED로 복귀</a:t>
            </a:r>
          </a:p>
          <a:p>
            <a:pPr>
              <a:spcAft>
                <a:spcPts val="400"/>
              </a:spcAft>
            </a:pPr>
            <a:r>
              <a:rPr sz="1600" b="0">
                <a:solidFill>
                  <a:srgbClr val="C5CED6"/>
                </a:solidFill>
                <a:latin typeface="Malgun Gothic"/>
              </a:rPr>
              <a:t>•  SAVE STATE: 현재 오픈 상태를 저장 → 재기동 시 자동 복원</a:t>
            </a:r>
          </a:p>
          <a:p>
            <a:pPr>
              <a:spcAft>
                <a:spcPts val="400"/>
              </a:spcAft>
            </a:pPr>
            <a:r>
              <a:rPr sz="1600" b="0">
                <a:solidFill>
                  <a:srgbClr val="C5CED6"/>
                </a:solidFill>
                <a:latin typeface="Malgun Gothic"/>
              </a:rPr>
              <a:t>•  DISCARD STATE: 저장 폐기 → 기본 동작(MOUNTED)으로 복귀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SAVE STATE — 오픈 상태 저장</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ALTER PLUGGABLE DATABASE pdb1 SAVE STATE; — '현재 오픈 모드'를 저장</a:t>
            </a:r>
          </a:p>
          <a:p>
            <a:pPr>
              <a:spcAft>
                <a:spcPts val="400"/>
              </a:spcAft>
            </a:pPr>
            <a:r>
              <a:rPr sz="1800" b="0">
                <a:solidFill>
                  <a:srgbClr val="202830"/>
                </a:solidFill>
                <a:latin typeface="Malgun Gothic"/>
              </a:rPr>
              <a:t>•  저장 시점이 READ WRITE면 재기동 후 READ WRITE로 자동 오픈</a:t>
            </a:r>
          </a:p>
          <a:p>
            <a:pPr>
              <a:spcAft>
                <a:spcPts val="400"/>
              </a:spcAft>
            </a:pPr>
            <a:r>
              <a:rPr sz="1800" b="0">
                <a:solidFill>
                  <a:srgbClr val="202830"/>
                </a:solidFill>
                <a:latin typeface="Malgun Gothic"/>
              </a:rPr>
              <a:t>•  저장 시점이 MOUNTED면 재기동 후에도 MOUNTED로 남음(주의!)</a:t>
            </a:r>
          </a:p>
          <a:p>
            <a:pPr>
              <a:spcAft>
                <a:spcPts val="400"/>
              </a:spcAft>
            </a:pPr>
            <a:r>
              <a:rPr sz="1800" b="0">
                <a:solidFill>
                  <a:srgbClr val="202830"/>
                </a:solidFill>
                <a:latin typeface="Malgun Gothic"/>
              </a:rPr>
              <a:t>•  ALL SAVE STATE로 일괄 저장, INSTANCES=('...')로 인스턴스 한정(RAC)</a:t>
            </a:r>
          </a:p>
          <a:p>
            <a:pPr>
              <a:spcAft>
                <a:spcPts val="400"/>
              </a:spcAft>
            </a:pPr>
            <a:r>
              <a:rPr sz="1800" b="0">
                <a:solidFill>
                  <a:srgbClr val="202830"/>
                </a:solidFill>
                <a:latin typeface="Malgun Gothic"/>
              </a:rPr>
              <a:t>•  확인: SELECT con_name, state FROM dba_pdb_saved_states;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SAVE STATE 실습 &amp; 복원 3케이스</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저장 시점 상태가 그대로 재현됨</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E6E6E6"/>
                </a:solidFill>
                <a:latin typeface="Consolas"/>
              </a:rPr>
              <a:t>SQL&gt; ALTER PLUGGABLE DATABASE pdb1 OPEN;</a:t>
            </a:r>
          </a:p>
          <a:p>
            <a:pPr>
              <a:spcAft>
                <a:spcPts val="0"/>
              </a:spcAft>
            </a:pPr>
            <a:r>
              <a:rPr sz="1200" b="0">
                <a:solidFill>
                  <a:srgbClr val="E6E6E6"/>
                </a:solidFill>
                <a:latin typeface="Consolas"/>
              </a:rPr>
              <a:t>SQL&gt; ALTER PLUGGABLE DATABASE pdb1 SAVE STATE;</a:t>
            </a:r>
          </a:p>
          <a:p>
            <a:pPr>
              <a:spcAft>
                <a:spcPts val="0"/>
              </a:spcAft>
            </a:pPr>
            <a:r>
              <a:rPr sz="1200" b="0">
                <a:solidFill>
                  <a:srgbClr val="E6E6E6"/>
                </a:solidFill>
                <a:latin typeface="Consolas"/>
              </a:rPr>
              <a:t>SQL&gt; SELECT con_name, state FROM dba_pdb_saved_states;</a:t>
            </a:r>
          </a:p>
          <a:p>
            <a:pPr>
              <a:spcAft>
                <a:spcPts val="0"/>
              </a:spcAft>
            </a:pPr>
            <a:r>
              <a:rPr sz="1200" b="0">
                <a:solidFill>
                  <a:srgbClr val="E6E6E6"/>
                </a:solidFill>
                <a:latin typeface="Consolas"/>
              </a:rPr>
              <a:t>CON_NAME   STATE</a:t>
            </a:r>
          </a:p>
          <a:p>
            <a:pPr>
              <a:spcAft>
                <a:spcPts val="0"/>
              </a:spcAft>
            </a:pPr>
            <a:r>
              <a:rPr sz="1200" b="0">
                <a:solidFill>
                  <a:srgbClr val="7EC699"/>
                </a:solidFill>
                <a:latin typeface="Consolas"/>
              </a:rPr>
              <a:t>---------- -----</a:t>
            </a:r>
          </a:p>
          <a:p>
            <a:pPr>
              <a:spcAft>
                <a:spcPts val="0"/>
              </a:spcAft>
            </a:pPr>
            <a:r>
              <a:rPr sz="1200" b="0">
                <a:solidFill>
                  <a:srgbClr val="E6E6E6"/>
                </a:solidFill>
                <a:latin typeface="Consolas"/>
              </a:rPr>
              <a:t>PDB1       OPEN</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CDB SHUTDOWN -&gt; STARTUP 시 복원 ]</a:t>
            </a:r>
          </a:p>
          <a:p>
            <a:pPr>
              <a:spcAft>
                <a:spcPts val="0"/>
              </a:spcAft>
            </a:pPr>
            <a:r>
              <a:rPr sz="1200" b="0">
                <a:solidFill>
                  <a:srgbClr val="E6E6E6"/>
                </a:solidFill>
                <a:latin typeface="Consolas"/>
              </a:rPr>
              <a:t> Case1) READ WRITE -&gt; READ WRITE   (열린 상태 유지)</a:t>
            </a:r>
          </a:p>
          <a:p>
            <a:pPr>
              <a:spcAft>
                <a:spcPts val="0"/>
              </a:spcAft>
            </a:pPr>
            <a:r>
              <a:rPr sz="1200" b="0">
                <a:solidFill>
                  <a:srgbClr val="E6E6E6"/>
                </a:solidFill>
                <a:latin typeface="Consolas"/>
              </a:rPr>
              <a:t> Case2) MOUNTED    -&gt; MOUNTED      (닫힌 상태 유지)</a:t>
            </a:r>
          </a:p>
          <a:p>
            <a:pPr>
              <a:spcAft>
                <a:spcPts val="0"/>
              </a:spcAft>
            </a:pPr>
            <a:r>
              <a:rPr sz="1200" b="0">
                <a:solidFill>
                  <a:srgbClr val="E6E6E6"/>
                </a:solidFill>
                <a:latin typeface="Consolas"/>
              </a:rPr>
              <a:t> Case3) READ ONLY  -&gt; READ ONLY    (읽기전용 유지)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DISCARD STATE — 저장 폐기</a:t>
            </a:r>
          </a:p>
        </p:txBody>
      </p:sp>
      <p:sp>
        <p:nvSpPr>
          <p:cNvPr id="4" name="TextBox 3"/>
          <p:cNvSpPr txBox="1"/>
          <p:nvPr/>
        </p:nvSpPr>
        <p:spPr>
          <a:xfrm>
            <a:off x="640080" y="1143000"/>
            <a:ext cx="10881360" cy="457200"/>
          </a:xfrm>
          <a:prstGeom prst="rect">
            <a:avLst/>
          </a:prstGeom>
          <a:noFill/>
        </p:spPr>
        <p:txBody>
          <a:bodyPr wrap="square">
            <a:spAutoFit/>
          </a:bodyPr>
          <a:lstStyle/>
          <a:p>
            <a:r>
              <a:rPr sz="1500" b="1">
                <a:solidFill>
                  <a:srgbClr val="202830"/>
                </a:solidFill>
                <a:latin typeface="Malgun Gothic"/>
              </a:rPr>
              <a:t>재기동 시 기본값(MOUNTED)으로 복귀</a:t>
            </a:r>
          </a:p>
        </p:txBody>
      </p:sp>
      <p:sp>
        <p:nvSpPr>
          <p:cNvPr id="5" name="Rectangle 4"/>
          <p:cNvSpPr/>
          <p:nvPr/>
        </p:nvSpPr>
        <p:spPr>
          <a:xfrm>
            <a:off x="640080" y="1691640"/>
            <a:ext cx="1088136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663440"/>
          </a:xfrm>
          <a:prstGeom prst="rect">
            <a:avLst/>
          </a:prstGeom>
          <a:noFill/>
        </p:spPr>
        <p:txBody>
          <a:bodyPr wrap="square">
            <a:spAutoFit/>
          </a:bodyPr>
          <a:lstStyle/>
          <a:p>
            <a:pPr>
              <a:spcAft>
                <a:spcPts val="0"/>
              </a:spcAft>
            </a:pPr>
            <a:r>
              <a:rPr sz="1200" b="0">
                <a:solidFill>
                  <a:srgbClr val="7EC699"/>
                </a:solidFill>
                <a:latin typeface="Consolas"/>
              </a:rPr>
              <a:t>-- 저장된 상태 폐기 -&gt; 이후 재기동 시 기본값(MOUNTED)로</a:t>
            </a:r>
          </a:p>
          <a:p>
            <a:pPr>
              <a:spcAft>
                <a:spcPts val="0"/>
              </a:spcAft>
            </a:pPr>
            <a:r>
              <a:rPr sz="1200" b="0">
                <a:solidFill>
                  <a:srgbClr val="E6E6E6"/>
                </a:solidFill>
                <a:latin typeface="Consolas"/>
              </a:rPr>
              <a:t>SQL&gt; ALTER PLUGGABLE DATABASE pdb1 DISCARD STATE;</a:t>
            </a:r>
          </a:p>
          <a:p>
            <a:pPr>
              <a:spcAft>
                <a:spcPts val="0"/>
              </a:spcAft>
            </a:pPr>
            <a:r>
              <a:rPr sz="1200" b="0">
                <a:solidFill>
                  <a:srgbClr val="E6E6E6"/>
                </a:solidFill>
                <a:latin typeface="Consolas"/>
              </a:rPr>
              <a:t>Pluggable database altered.</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폐기 후 해당 행이 사라진다</a:t>
            </a:r>
          </a:p>
          <a:p>
            <a:pPr>
              <a:spcAft>
                <a:spcPts val="0"/>
              </a:spcAft>
            </a:pPr>
            <a:r>
              <a:rPr sz="1200" b="0">
                <a:solidFill>
                  <a:srgbClr val="E6E6E6"/>
                </a:solidFill>
                <a:latin typeface="Consolas"/>
              </a:rPr>
              <a:t>SQL&gt; SELECT con_name, state FROM dba_pdb_saved_states</a:t>
            </a:r>
          </a:p>
          <a:p>
            <a:pPr>
              <a:spcAft>
                <a:spcPts val="0"/>
              </a:spcAft>
            </a:pPr>
            <a:r>
              <a:rPr sz="1200" b="0">
                <a:solidFill>
                  <a:srgbClr val="E6E6E6"/>
                </a:solidFill>
                <a:latin typeface="Consolas"/>
              </a:rPr>
              <a:t>  2  WHERE con_name='PDB1';</a:t>
            </a:r>
          </a:p>
          <a:p>
            <a:pPr>
              <a:spcAft>
                <a:spcPts val="0"/>
              </a:spcAft>
            </a:pPr>
            <a:r>
              <a:rPr sz="1200" b="0">
                <a:solidFill>
                  <a:srgbClr val="E6E6E6"/>
                </a:solidFill>
                <a:latin typeface="Consolas"/>
              </a:rPr>
              <a:t>no rows selected</a:t>
            </a:r>
          </a:p>
          <a:p>
            <a:pPr>
              <a:spcAft>
                <a:spcPts val="0"/>
              </a:spcAft>
            </a:pPr>
            <a:r>
              <a:rPr sz="1200" b="0">
                <a:solidFill>
                  <a:srgbClr val="E6E6E6"/>
                </a:solidFill>
                <a:latin typeface="Consolas"/>
              </a:rPr>
              <a:t> </a:t>
            </a:r>
          </a:p>
          <a:p>
            <a:pPr>
              <a:spcAft>
                <a:spcPts val="0"/>
              </a:spcAft>
            </a:pPr>
            <a:r>
              <a:rPr sz="1200" b="0">
                <a:solidFill>
                  <a:srgbClr val="7EC699"/>
                </a:solidFill>
                <a:latin typeface="Consolas"/>
              </a:rPr>
              <a:t>[ 동작 ]  PDB1: READ WRITE --DISCARD--&gt; (저장 삭제)</a:t>
            </a:r>
          </a:p>
          <a:p>
            <a:pPr>
              <a:spcAft>
                <a:spcPts val="0"/>
              </a:spcAft>
            </a:pPr>
            <a:r>
              <a:rPr sz="1200" b="0">
                <a:solidFill>
                  <a:srgbClr val="7EC699"/>
                </a:solidFill>
                <a:latin typeface="Consolas"/>
              </a:rPr>
              <a:t>          --(CDB 재기동)--&gt; PDB1: MOUNTED (기본 복귀)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퀴즈 1 · 2</a:t>
            </a:r>
          </a:p>
        </p:txBody>
      </p:sp>
      <p:sp>
        <p:nvSpPr>
          <p:cNvPr id="4" name="TextBox 3"/>
          <p:cNvSpPr txBox="1"/>
          <p:nvPr/>
        </p:nvSpPr>
        <p:spPr>
          <a:xfrm>
            <a:off x="640080" y="1280160"/>
            <a:ext cx="10881360" cy="5212080"/>
          </a:xfrm>
          <a:prstGeom prst="rect">
            <a:avLst/>
          </a:prstGeom>
          <a:noFill/>
        </p:spPr>
        <p:txBody>
          <a:bodyPr wrap="square">
            <a:spAutoFit/>
          </a:bodyPr>
          <a:lstStyle/>
          <a:p>
            <a:pPr>
              <a:spcAft>
                <a:spcPts val="300"/>
              </a:spcAft>
            </a:pPr>
            <a:r>
              <a:rPr sz="1700" b="1">
                <a:solidFill>
                  <a:srgbClr val="C0392B"/>
                </a:solidFill>
                <a:latin typeface="Malgun Gothic"/>
              </a:rPr>
              <a:t>Q. STARTUP의 3단계와 각 단계에서 열리는 대상은?</a:t>
            </a:r>
          </a:p>
          <a:p>
            <a:pPr>
              <a:spcAft>
                <a:spcPts val="1000"/>
              </a:spcAft>
            </a:pPr>
            <a:r>
              <a:rPr sz="1500" b="0">
                <a:solidFill>
                  <a:srgbClr val="202830"/>
                </a:solidFill>
                <a:latin typeface="Malgun Gothic"/>
              </a:rPr>
              <a:t>A. NOMOUNT(SGA+프로세스) → MOUNT(컨트롤 파일) → OPEN(데이터 파일·리두 로그). 누적적이며 기본값은 OPEN.</a:t>
            </a:r>
          </a:p>
          <a:p>
            <a:pPr>
              <a:spcAft>
                <a:spcPts val="300"/>
              </a:spcAft>
            </a:pPr>
            <a:r>
              <a:rPr sz="1700" b="1">
                <a:solidFill>
                  <a:srgbClr val="C0392B"/>
                </a:solidFill>
                <a:latin typeface="Malgun Gothic"/>
              </a:rPr>
              <a:t>Q. 데이터 파일 이름 변경·ARCHIVELOG 전환을 MOUNT에서 하는 이유는?</a:t>
            </a:r>
          </a:p>
          <a:p>
            <a:pPr>
              <a:spcAft>
                <a:spcPts val="1000"/>
              </a:spcAft>
            </a:pPr>
            <a:r>
              <a:rPr sz="1500" b="0">
                <a:solidFill>
                  <a:srgbClr val="202830"/>
                </a:solidFill>
                <a:latin typeface="Malgun Gothic"/>
              </a:rPr>
              <a:t>A. MOUNT는 컨트롤 파일만 읽고 데이터 파일을 열지 않아, 사용자 접근이 없는 이 상태여야 안전하게 수행되기 때문.</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퀴즈 3 · 4</a:t>
            </a:r>
          </a:p>
        </p:txBody>
      </p:sp>
      <p:sp>
        <p:nvSpPr>
          <p:cNvPr id="4" name="TextBox 3"/>
          <p:cNvSpPr txBox="1"/>
          <p:nvPr/>
        </p:nvSpPr>
        <p:spPr>
          <a:xfrm>
            <a:off x="640080" y="1280160"/>
            <a:ext cx="10881360" cy="5212080"/>
          </a:xfrm>
          <a:prstGeom prst="rect">
            <a:avLst/>
          </a:prstGeom>
          <a:noFill/>
        </p:spPr>
        <p:txBody>
          <a:bodyPr wrap="square">
            <a:spAutoFit/>
          </a:bodyPr>
          <a:lstStyle/>
          <a:p>
            <a:pPr>
              <a:spcAft>
                <a:spcPts val="300"/>
              </a:spcAft>
            </a:pPr>
            <a:r>
              <a:rPr sz="1700" b="1">
                <a:solidFill>
                  <a:srgbClr val="C0392B"/>
                </a:solidFill>
                <a:latin typeface="Malgun Gothic"/>
              </a:rPr>
              <a:t>Q. '세션이 끝날 때까지 대기'하는 유일한 모드와 '체크포인트를 안 하는' 유일한 모드는?</a:t>
            </a:r>
          </a:p>
          <a:p>
            <a:pPr>
              <a:spcAft>
                <a:spcPts val="1000"/>
              </a:spcAft>
            </a:pPr>
            <a:r>
              <a:rPr sz="1500" b="0">
                <a:solidFill>
                  <a:srgbClr val="202830"/>
                </a:solidFill>
                <a:latin typeface="Malgun Gothic"/>
              </a:rPr>
              <a:t>A. 세션 대기는 NORMAL, 체크포인트 미수행은 ABORT. ABORT만 비일관을 남긴다.</a:t>
            </a:r>
          </a:p>
          <a:p>
            <a:pPr>
              <a:spcAft>
                <a:spcPts val="300"/>
              </a:spcAft>
            </a:pPr>
            <a:r>
              <a:rPr sz="1700" b="1">
                <a:solidFill>
                  <a:srgbClr val="C0392B"/>
                </a:solidFill>
                <a:latin typeface="Malgun Gothic"/>
              </a:rPr>
              <a:t>Q. SHUTDOWN ABORT 후 STARTUP하면 어떤 복구가 일어나고 수동 개입이 필요한가?</a:t>
            </a:r>
          </a:p>
          <a:p>
            <a:pPr>
              <a:spcAft>
                <a:spcPts val="1000"/>
              </a:spcAft>
            </a:pPr>
            <a:r>
              <a:rPr sz="1500" b="0">
                <a:solidFill>
                  <a:srgbClr val="202830"/>
                </a:solidFill>
                <a:latin typeface="Malgun Gothic"/>
              </a:rPr>
              <a:t>A. OPEN 단계에서 SMON이 롤포워드+롤백으로 자동 인스턴스 복구 수행. 데이터 파일이 온전하면 수동 개입 불필요.</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퀴즈 5 · 6</a:t>
            </a:r>
          </a:p>
        </p:txBody>
      </p:sp>
      <p:sp>
        <p:nvSpPr>
          <p:cNvPr id="4" name="TextBox 3"/>
          <p:cNvSpPr txBox="1"/>
          <p:nvPr/>
        </p:nvSpPr>
        <p:spPr>
          <a:xfrm>
            <a:off x="640080" y="1280160"/>
            <a:ext cx="10881360" cy="5212080"/>
          </a:xfrm>
          <a:prstGeom prst="rect">
            <a:avLst/>
          </a:prstGeom>
          <a:noFill/>
        </p:spPr>
        <p:txBody>
          <a:bodyPr wrap="square">
            <a:spAutoFit/>
          </a:bodyPr>
          <a:lstStyle/>
          <a:p>
            <a:pPr>
              <a:spcAft>
                <a:spcPts val="300"/>
              </a:spcAft>
            </a:pPr>
            <a:r>
              <a:rPr sz="1700" b="1">
                <a:solidFill>
                  <a:srgbClr val="C0392B"/>
                </a:solidFill>
                <a:latin typeface="Malgun Gothic"/>
              </a:rPr>
              <a:t>Q. PDB의 4가지 오픈 모드와 CDB OPEN 직후 PDB의 기본 상태는?</a:t>
            </a:r>
          </a:p>
          <a:p>
            <a:pPr>
              <a:spcAft>
                <a:spcPts val="1000"/>
              </a:spcAft>
            </a:pPr>
            <a:r>
              <a:rPr sz="1500" b="0">
                <a:solidFill>
                  <a:srgbClr val="202830"/>
                </a:solidFill>
                <a:latin typeface="Malgun Gothic"/>
              </a:rPr>
              <a:t>A. READ WRITE / READ ONLY / MIGRATE / MOUNTED. CDB를 OPEN해도 PDB는 기본적으로 MOUNTED로 남는다.</a:t>
            </a:r>
          </a:p>
          <a:p>
            <a:pPr>
              <a:spcAft>
                <a:spcPts val="300"/>
              </a:spcAft>
            </a:pPr>
            <a:r>
              <a:rPr sz="1700" b="1">
                <a:solidFill>
                  <a:srgbClr val="C0392B"/>
                </a:solidFill>
                <a:latin typeface="Malgun Gothic"/>
              </a:rPr>
              <a:t>Q. PDB를 MOUNTED로 둔 채 SAVE STATE하면 재기동 후 PDB 상태는?</a:t>
            </a:r>
          </a:p>
          <a:p>
            <a:pPr>
              <a:spcAft>
                <a:spcPts val="1000"/>
              </a:spcAft>
            </a:pPr>
            <a:r>
              <a:rPr sz="1500" b="0">
                <a:solidFill>
                  <a:srgbClr val="202830"/>
                </a:solidFill>
                <a:latin typeface="Malgun Gothic"/>
              </a:rPr>
              <a:t>A. MOUNTED. SAVE STATE는 '실행 시점 오픈 모드'를 저장하므로, 자동 오픈하려면 READ WRITE로 연 뒤 SAVE STATE해야 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요약 (Summary)</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기동: SHUTDOWN→NOMOUNT(SGA·프로세스)→MOUNT(컨트롤파일)→OPEN(데이터파일). 기본값 OPEN</a:t>
            </a:r>
          </a:p>
          <a:p>
            <a:pPr>
              <a:spcAft>
                <a:spcPts val="400"/>
              </a:spcAft>
            </a:pPr>
            <a:r>
              <a:rPr sz="1800" b="0">
                <a:solidFill>
                  <a:srgbClr val="202830"/>
                </a:solidFill>
                <a:latin typeface="Malgun Gothic"/>
              </a:rPr>
              <a:t>•  종료 4모드: 새 접속은 모두 차단. 세션 대기(NORMAL)/트랜잭션 대기(NORMAL·TX)/체크포인트(ABORT만 X)</a:t>
            </a:r>
          </a:p>
          <a:p>
            <a:pPr>
              <a:spcAft>
                <a:spcPts val="400"/>
              </a:spcAft>
            </a:pPr>
            <a:r>
              <a:rPr sz="1800" b="0">
                <a:solidFill>
                  <a:srgbClr val="202830"/>
                </a:solidFill>
                <a:latin typeface="Malgun Gothic"/>
              </a:rPr>
              <a:t>•  IMMEDIATE=실무 표준(기다림 없이 일관성). ABORT=응급용(비일관). 기본값 NORMAL은 항상 명시</a:t>
            </a:r>
          </a:p>
          <a:p>
            <a:pPr>
              <a:spcAft>
                <a:spcPts val="400"/>
              </a:spcAft>
            </a:pPr>
            <a:r>
              <a:rPr sz="1800" b="0">
                <a:solidFill>
                  <a:srgbClr val="202830"/>
                </a:solidFill>
                <a:latin typeface="Malgun Gothic"/>
              </a:rPr>
              <a:t>•  ABORT·장애·FORCE=비일관 → 다음 기동 시 SMON 자동 인스턴스 복구(≠미디어 복구)</a:t>
            </a:r>
          </a:p>
          <a:p>
            <a:pPr>
              <a:spcAft>
                <a:spcPts val="400"/>
              </a:spcAft>
            </a:pPr>
            <a:r>
              <a:rPr sz="1800" b="0">
                <a:solidFill>
                  <a:srgbClr val="202830"/>
                </a:solidFill>
                <a:latin typeface="Malgun Gothic"/>
              </a:rPr>
              <a:t>•  CDB OPEN≠PDB OPEN. PDB 4모드(RW/RO/MIGRATE/MOUNTED), ALTER PLUGGABLE DATABASE로 개폐</a:t>
            </a:r>
          </a:p>
          <a:p>
            <a:pPr>
              <a:spcAft>
                <a:spcPts val="400"/>
              </a:spcAft>
            </a:pPr>
            <a:r>
              <a:rPr sz="1800" b="0">
                <a:solidFill>
                  <a:srgbClr val="202830"/>
                </a:solidFill>
                <a:latin typeface="Malgun Gothic"/>
              </a:rPr>
              <a:t>•  SAVE STATE=현재 상태 저장·자동 복원, DISCARD STATE=폐기·기본(MOUNTED) 복귀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rPr>
              <a:t>실습 7 개요 (Practice Overview)</a:t>
            </a:r>
          </a:p>
        </p:txBody>
      </p:sp>
      <p:sp>
        <p:nvSpPr>
          <p:cNvPr id="4" name="TextBox 3"/>
          <p:cNvSpPr txBox="1"/>
          <p:nvPr/>
        </p:nvSpPr>
        <p:spPr>
          <a:xfrm>
            <a:off x="640080" y="1280160"/>
            <a:ext cx="10881360" cy="5303520"/>
          </a:xfrm>
          <a:prstGeom prst="rect">
            <a:avLst/>
          </a:prstGeom>
          <a:noFill/>
        </p:spPr>
        <p:txBody>
          <a:bodyPr wrap="square">
            <a:spAutoFit/>
          </a:bodyPr>
          <a:lstStyle/>
          <a:p>
            <a:pPr>
              <a:spcAft>
                <a:spcPts val="400"/>
              </a:spcAft>
            </a:pPr>
            <a:r>
              <a:rPr sz="1800" b="0">
                <a:solidFill>
                  <a:srgbClr val="202830"/>
                </a:solidFill>
                <a:latin typeface="Malgun Gothic"/>
              </a:rPr>
              <a:t>•  실습 7-01 시작단계 — STARTUP NOMOUNT/MOUNT/OPEN 단계별 상태 확인</a:t>
            </a:r>
          </a:p>
          <a:p>
            <a:pPr>
              <a:spcAft>
                <a:spcPts val="400"/>
              </a:spcAft>
            </a:pPr>
            <a:r>
              <a:rPr sz="1800" b="0">
                <a:solidFill>
                  <a:srgbClr val="202830"/>
                </a:solidFill>
                <a:latin typeface="Malgun Gothic"/>
              </a:rPr>
              <a:t>•  실습 7-02 종료모드비교 — NORMAL/TRANSACTIONAL/IMMEDIATE/ABORT 메시지·복구 차이</a:t>
            </a:r>
          </a:p>
          <a:p>
            <a:pPr>
              <a:spcAft>
                <a:spcPts val="400"/>
              </a:spcAft>
            </a:pPr>
            <a:r>
              <a:rPr sz="1800" b="0">
                <a:solidFill>
                  <a:srgbClr val="202830"/>
                </a:solidFill>
                <a:latin typeface="Malgun Gothic"/>
              </a:rPr>
              <a:t>•  실습 7-03 PDB개폐 — ALTER PLUGGABLE DATABASE·STARTUP/SHUTDOWN, 4모드 전환</a:t>
            </a:r>
          </a:p>
          <a:p>
            <a:pPr>
              <a:spcAft>
                <a:spcPts val="400"/>
              </a:spcAft>
            </a:pPr>
            <a:r>
              <a:rPr sz="1800" b="0">
                <a:solidFill>
                  <a:srgbClr val="202830"/>
                </a:solidFill>
                <a:latin typeface="Malgun Gothic"/>
              </a:rPr>
              <a:t>•  실습 7-04 PDB자동오픈 — SAVE STATE/DISCARD STATE와 재기동 전후 상태</a:t>
            </a:r>
          </a:p>
          <a:p>
            <a:pPr>
              <a:spcAft>
                <a:spcPts val="400"/>
              </a:spcAft>
            </a:pPr>
            <a:r>
              <a:rPr sz="1800" b="0">
                <a:solidFill>
                  <a:srgbClr val="202830"/>
                </a:solidFill>
                <a:latin typeface="Malgun Gothic"/>
              </a:rPr>
              <a:t>•  실습 7-05 ABORT복구 — SHUTDOWN ABORT 후 자동 인스턴스 복구 과정 확인</a:t>
            </a:r>
          </a:p>
          <a:p>
            <a:pPr>
              <a:spcAft>
                <a:spcPts val="400"/>
              </a:spcAft>
            </a:pPr>
            <a:r>
              <a:rPr sz="1800" b="0">
                <a:solidFill>
                  <a:srgbClr val="202830"/>
                </a:solidFill>
                <a:latin typeface="Malgun Gothic"/>
              </a:rPr>
              <a:t>•  ※ 반드시 학습·테스트용 CDB에서만 수행할 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
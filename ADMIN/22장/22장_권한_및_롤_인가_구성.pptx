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권한은 특정 유형의 SQL 문을 실행하거나 다른 사용자의 객체에 접근할 수 있는 허가를 말합니다. Oracle은 최소 권한 원칙을 따라, 명시적으로 부여받지 않은 작업은 수행할 수 없습니다. 권한을 사용자에게 전달하는 방법은 두 가지로, 사용자에게 직접 부여하거나 여러 권한을 롤에 묶어 그 롤을 부여합니다. 인증은 사용자가 누구인지 확인하는 절차이고, 인가는 그 사용자가 무엇을 할 수 있는지 결정하는 절차로 서로 구분됩니다. 로그인 성공은 인증 통과일 뿐, 작업 수행 능력은 부여된 권한이 결정합니다.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시스템 권한은 데이터베이스 전반에 걸쳐 특정 종류의 작업을 수행하는 권한으로 CREATE SESSION, CREATE TABLE, CREATE USER 등이 있습니다. 객체 권한은 특정 하나의 객체에 대한 작업 권한으로 테이블의 SELECT·INSERT·UPDATE·DELETE, 프로시저의 EXECUTE 등입니다. 근본 차이는 적용 범위로, 시스템 권한은 작업의 종류를, 객체 권한은 그 대상 객체를 한정합니다. ANY가 붙은 시스템 권한은 모든 스키마 객체에 적용되므로 사실상 전 데이터 접근을 의미해 매우 신중히 다뤄야 합니다. 객체 소유자는 자기 객체에 대한 모든 객체 권한을 자동으로 가집니다.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PUBLIC은 모든 데이터베이스 사용자를 대표하는 특수 그룹으로, PUBLIC에 부여하면 현재·미래의 모든 사용자가 그 권한을 갖게 되므로 매우 신중해야 합니다. 사용자가 SQL을 실행하면 Oracle은 그 문장을 실행할 시스템 권한과 참조 객체에 대한 객체 권한을 확인하는데, 직접 부여·활성 롤·PUBLIC을 모두 합산해 판단합니다. 어느 것으로도 충족되지 못하면 ORA-01031 권한 부족 오류가 나고, 권한이 없어 객체 자체가 보이지 않으면 ORA-00942가 발생합니다. 권한을 부여하려면 그 권한을 WITH ADMIN OPTION으로 보유하거나 GRANT ANY PRIVILEGE를 가져야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시스템 권한은 GRANT 권한 TO 대상 구문으로 부여합니다. 여러 권한을 여러 대상에게 동시에 부여할 수 있지만 추적성을 위해 목적별로 나누는 것이 좋습니다. WITH ADMIN OPTION을 붙이면 권한을 받은 사용자가 그 권한을 다시 다른 사용자에게 부여하거나 회수할 수 있는 관리 위임 능력까지 얻습니다. 통제 범위가 넓어지므로 신중해야 합니다. 부여가 성공하면 Grant succeeded 메시지가 나오고, 이미 가진 권한을 다시 부여해도 오류 없이 성공 처리됩니다. 존재하지 않는 사용자에게 부여하면 ORA-01917 오류가 발생합니다.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시스템 권한 회수는 REVOKE 권한 FROM 대상 구문을 씁니다. 핵심 규칙은 시스템 권한 회수가 연쇄되지 않는다는 점입니다. A가 WITH ADMIN OPTION으로 받은 권한을 B에게 재부여한 뒤 A에게서 회수해도 B의 권한은 그대로 남습니다. 이는 시스템 권한에는 누가 누구에게 주었는지의 부여 경로 의존 관계가 기록되지 않기 때문이며, 뒤에서 볼 객체 권한의 연쇄 회수와 대비되는 중요한 차이입니다. 회수 자격 역시 부여와 대칭으로, WITH ADMIN OPTION 보유 또는 GRANT ANY PRIVILEGE가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시스템 권한을 부여하고 확인하고 회수하는 전체 흐름입니다. 먼저 CREATE SESSION과 CREATE TABLE을 hr_dev에게 부여해 로그인과 테이블 생성 능력을 줍니다. hr_lead에게는 WITH ADMIN OPTION으로 부여해 재부여 권한까지 위임합니다. DBA_SYS_PRIVS 뷰로 특정 사용자에게 직접 부여된 시스템 권한과 ADMIN_OPTION 여부를 확인할 수 있습니다. 마지막 REVOKE는 hr_dev에게서 CREATE TABLE을 회수하는데, 만약 hr_dev가 이 권한을 다른 사용자에게 재부여했더라도 그 부여는 연쇄 회수되지 않고 남는다는 점을 기억해야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ANY가 포함된 시스템 권한은 특정 스키마에 국한되지 않고 모든 스키마 객체에 적용되므로 사실상 전 데이터 접근·변경을 의미합니다. 이런 권한을 일반 사용자에게 편의로 주면 최소 권한 원칙이 무너집니다. SELECT ANY TABLE의 범위는 O7_DICTIONARY_ACCESSIBILITY 파라미터로 통제되어 기본값 FALSE에서는 데이터 딕셔너리 기반 객체까지 열람하지 못합니다. 부여된 권한은 DBA_SYS_PRIVS는 직접 부여를, USER_SYS_PRIVS는 현재 사용자 권한을, SESSION_PRIVS는 실제 활성화된 권한을 보여 줍니다. 관리용 딕셔너리 조회는 SELECT ANY DICTIONARY 권한이나 SELECT_CATALOG_ROLE로 별도 제공합니다.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객체 권한은 GRANT 권한 ON 객체 TO 대상 구문으로 부여합니다. 객체마다 사용 가능한 권한이 다른데 테이블·뷰에는 SELECT·INSERT·UPDATE·DELETE·REFERENCES·ALTER·INDEX가, 시퀀스에는 SELECT·ALTER가, 프로시저에는 EXECUTE가 적용됩니다. INSERT·UPDATE·REFERENCES는 컬럼 단위로도 부여할 수 있어 특정 컬럼만 갱신을 허용하는 세밀한 제어가 가능합니다. ALL PRIVILEGES는 부여 가능한 모든 객체 권한을 한 번에 줍니다. WITH GRANT OPTION은 재부여를 허용하는데, 시스템 권한의 ADMIN OPTION과 달리 롤에는 부여할 수 없고 사용자와 PUBLIC에만 부여할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객체 권한 회수의 가장 중요한 특징은 연쇄 회수입니다. A가 WITH GRANT OPTION으로 받은 권한을 B에게 부여하고 이후 A에게서 회수하면, A가 B에게 준 권한도 자동으로 함께 회수됩니다. 부여 경로가 끊어지면 그 아래로 뻗은 모든 부여가 무효화됩니다. 또 객체 권한을 회수하면 그에 의존하던 뷰나 프로시저가 INVALID 상태가 될 수 있어 사전 점검이 필요합니다. 실무에서는 기반 테이블을 감추고 특정 행·열만 노출하는 뷰를 만들어 그 뷰에만 SELECT를 부여하는 방식으로 세밀한 접근 제어를 구현합니다. 다른 스키마 객체는 소유자를 포함한 완전한 이름을 쓰거나 동의어를 만들어 참조합니다.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객체 소유자 HR이 자신의 EMPLOYEES 테이블 권한을 다루는 예입니다. hr_report에게 SELECT와 INSERT를 부여하고, hr_payroll에게는 salary 컬럼에 대한 UPDATE만 컬럼 수준으로 부여해 급여 컬럼만 수정하도록 제한합니다. USER_TAB_PRIVS로 부여된 객체 권한과 GRANTABLE 여부를 확인할 수 있고, 컬럼 수준 권한은 USER_COL_PRIVS로 봅니다. 마지막 REVOKE는 hr_report의 SELECT를 회수하는데, 만약 hr_report가 WITH GRANT OPTION으로 이 권한을 받아 제3자에게 재부여했다면 그 부여까지 연쇄적으로 회수된다는 점이 시스템 권한과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멀티테넌트에서는 권한도 공통과 로컬로 나뉩니다. 공통 권한은 CDB 루트에서 공통 사용자·공통 롤에게 부여되어 루트와 현재·미래의 모든 PDB에 동일하게 적용됩니다. 로컬 권한은 특정 컨테이너 안에서만 유효합니다. 이런 구분이 필요한 이유는 CDB 전역을 관리하는 DBA에게는 한 번의 공통 부여로 전 컨테이너에 권한을 설정하는 편의가 필요하고, 각 PDB를 독립 운영하는 테넌트에게는 자기 PDB에만 유효한 로컬 권한으로 격리가 보장되어야 하기 때문입니다. 부여가 공통인지 로컬인지는 CDB_SYS_PRIVS 등 CDB_* 뷰의 COMMON 컬럼으로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CONTAINER=ALL은 CDB 루트에 접속한 상태에서만 사용할 수 있고 부여 대상은 반드시 공통 사용자 또는 공통 롤이어야 하며, 이 절을 붙이면 권한이 루트와 모든 PDB에 공통 적용됩니다. CONTAINER=CURRENT는 현재 접속한 컨테이너에만 국한된 로컬 권한을 부여합니다. CONTAINER 절을 생략하면 기본값이 적용되는데, 루트에서 공통 사용자에게 부여하면서 생략하면 CURRENT처럼 동작해 루트에만 적용됩니다. 따라서 모든 PDB에 적용하려면 반드시 CONTAINER=ALL을 명시해야 합니다. PDB 내부에 접속한 상태에서는 CONTAINER=ALL을 쓸 수 없고 항상 그 PDB에 국한된 로컬 부여만 가능합니다.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공통 부여와 로컬 부여를 대비해 보여 줍니다. 먼저 CDB$ROOT에 있음을 확인하고 공통 사용자 c##dba_common에게 CONTAINER=ALL로 CREATE SESSION을 부여하면 모든 컨테이너에서 로그인이 가능해집니다. 그다음 salespdb로 컨테이너를 전환한 뒤 로컬 사용자 hr_dev에게 CREATE TABLE을 부여하는데, PDB 내부에서는 CONTAINER 절이 기본 CURRENT라 이 PDB에서만 유효한 로컬 권한이 됩니다. 공통으로 부여한 권한은 각 PDB에서 로컬로 회수할 수 없고 반드시 루트에서 CONTAINER=ALL로 회수해야 합니다. 위치·대상·CONTAINER 절의 세 조합을 확인하면 관련 오류의 원인이 분명해집니다.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롤은 여러 권한을 하나의 이름으로 묶은 권한의 집합입니다. 개별 권한을 사용자마다 일일이 부여하는 대신 관련 권한을 롤에 담아 그 롤을 부여하면 관리가 단순해집니다. 이점은 세 가지로, 첫째 업무 역할별 롤을 정의하면 신규 사용자에게 롤 하나만 부여하면 되어 권한 관리가 쉬워지고, 둘째 롤에 담긴 권한을 추가·삭제하면 그 롤을 가진 모든 사용자에게 즉시 반영되는 동적 관리가 가능하며, 셋째 롤을 활성·비활성하거나 비밀번호·응용프로그램으로 보호해 선택적으로 가용성을 제어할 수 있습니다. 개발자 30명에게 5개 권한을 직접 주면 150번 부여해야 하지만, 롤을 쓰면 5+30번이면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롤은 CREATE ROLE 문으로 만들며 CREATE ROLE 시스템 권한이 필요합니다. 이름이 사용자·다른 롤과 충돌하면 ORA-01921 등의 오류가 납니다. 만든 롤은 비어 있으므로 GRANT의 TO 절에 롤 이름을 지정해 권한을 담습니다. 롤에는 시스템 권한, 객체 권한, 그리고 다른 롤까지 부여할 수 있어 계층적 롤을 구성할 수 있습니다. 다만 순환 참조는 금지되므로 하위 롤을 상위 롤이 포함하는 단방향 계층으로 설계합니다. 또 롤에는 WITH GRANT OPTION으로 객체 권한을 부여할 수 없다는 제약이 있어, 재부여 옵션은 사용자에게만 부여할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권한이 담긴 롤은 GRANT 롤 TO 사용자 구문으로 부여합니다. 사용자는 부여받은 롤을 통해 그 롤에 담긴 모든 권한을 간접적으로 사용할 수 있습니다. WITH ADMIN OPTION을 붙이면 롤을 받은 사용자가 그 롤을 재부여·회수할 수 있습니다. 롤을 부여하려면 그 롤을 WITH ADMIN OPTION으로 보유하거나 GRANT ANY ROLE을 가져야 합니다. 중요한 제약으로, 정의자 권한으로 컴파일되는 PL/SQL 프로그램 내부에서는 롤을 통해 얻은 권한이 적용되지 않습니다. 따라서 저장 프로그램이 참조하는 객체 권한은 롤이 아니라 소유자에게 직접 부여해야 컴파일 오류를 피할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롤을 만들고 권한을 담아 사용자에게 부여하는 표준 흐름입니다. 먼저 hr_clerk_role을 생성하고 CREATE SESSION 시스템 권한과 hr.employees에 대한 SELECT·INSERT 객체 권한을 담습니다. 그다음 hr_clerk_role을 hr_manager_role에 부여해 관리자 롤이 사원 롤의 권한을 상속하는 계층 구조를 만듭니다. 마지막으로 hr_clerk_role을 사용자 scott에게 부여하면 scott은 롤을 통해 로그인과 사원 테이블 조회·입력 권한을 얻습니다. 롤 내용을 나중에 변경하면 scott을 포함한 모든 보유자에게 즉시 반영되는 것이 롤의 동적 관리 이점입니다.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Oracle은 데이터베이스 생성 시 여러 제공 롤을 함께 만듭니다. CONNECT는 과거 여러 권한을 담았으나 보안 강화로 지금은 사실상 CREATE SESSION 하나만 담습니다. RESOURCE는 CREATE TABLE·PROCEDURE·SEQUENCE·TRIGGER·TYPE 등 객체 생성 권한을 담지만 CREATE SESSION은 없어 단독으로는 로그인이 안 됩니다. DBA는 거의 모든 시스템 권한을 WITH ADMIN OPTION으로 담은 강력한 관리 롤로 일반 사용자에게 주면 안 됩니다. SELECT_CATALOG_ROLE은 DBA_* 딕셔너리 뷰 조회 권한을, EXECUTE_CATALOG_ROLE은 딕셔너리 패키지 실행 권한을, PDB_DBA는 PDB 수준 관리 권한을 제공합니다.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제공 롤은 편리하지만 주의가 필요합니다. RESOURCE에는 CREATE SESSION이 없으므로 RESOURCE만 부여하면 객체는 만들 수 있어도 로그인이 안 되어 보통 CONNECT와 함께 줍니다. 과거 습관대로 CONNECT/RESOURCE를 무조건 부여하는 것은 최소 권한 원칙에 어긋나며 Oracle도 이들을 향후 제거 대상으로 안내합니다. 제공 롤 내용은 버전에 따라 달라질 수 있으므로 ROLE_SYS_PRIVS로 확인하는 습관이 중요합니다. GRANT ANY PRIVILEGE, GRANT ANY ROLE 같은 위임형 권한은 자신이 소유하지 않은 권한까지 부여할 수 있게 하므로 부여 자체를 감사 대상으로 삼고 정기 검토해야 합니다. 보안이 엄격한 환경에서는 전용 롤을 권장합니다.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제공 롤에 실제로 무엇이 담겨 있는지 확인하는 방법입니다. ROLE_SYS_PRIVS 뷰에서 CONNECT 롤을 조회하면 CREATE SESSION 하나만 나오는 것을 볼 수 있는데, 이는 CONNECT가 과거처럼 광범위하지 않다는 것을 보여 줍니다. RESOURCE 롤을 조회하면 여러 객체 생성 권한이 나오지만 CREATE SESSION은 없다는 것을 직접 확인할 수 있습니다. DBA_ROLES 뷰로는 데이터베이스에 존재하는 모든 롤과 그 인증 유형(NONE, PASSWORD, APPLICATION 등)을 볼 수 있습니다. 이렇게 부여 전에 롤 내용을 확인하는 습관이 예상치 못한 과도한 권한 부여를 막습니다.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롤도 사용자처럼 공통 롤과 로컬 롤로 나뉩니다. 공통 롤은 CDB 루트에서 생성되며 루트와 모든 PDB에 존재하고, 이름은 반드시 C## 접두사로 시작해야 합니다. 로컬 롤은 특정 PDB에서 생성되어 그 PDB에만 존재하며 C## 접두사를 쓰면 안 됩니다. CONNECT·RESOURCE·DBA 같은 제공 롤은 오라클이 만든 공통 롤입니다. 공통 롤에 권한을 담거나 사용자에게 부여할 때도 CONTAINER 절이 적용되어, CONTAINER=ALL이면 모든 컨테이너에서, CONTAINER=CURRENT면 현재 컨테이너에서만 유효합니다. 실무에서는 전역 관리·모니터링용만 공통 롤로, 애플리케이션 업무 롤은 각 PDB의 로컬 롤로 만드는 것이 격리에 유리합니다.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공통 롤과 로컬 롤을 각각 만드는 예입니다. CDB$ROOT에서 c##monitor_role을 CONTAINER=ALL로 생성하면 모든 컨테이너에 존재하는 공통 롤이 되며, 이름에 C## 접두사가 반드시 필요합니다. 이 공통 롤에 SELECT_CATALOG_ROLE을 담고 공통 사용자 c##dba_common에게 부여할 때도 CONTAINER=ALL을 붙여 전 컨테이너에 적용합니다. 반면 salespdb로 전환한 뒤 만드는 sales_report_role은 접두사 없이 생성하며 그 PDB에만 존재하는 로컬 롤입니다. 로컬 롤에 C## 접두사를 쓰거나 PDB 내부에서 CONTAINER=ALL을 시도하면 오류가 발생합니다.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롤은 부여되면 로그인과 동시에 자동 활성화되지만, 민감한 권한을 담은 롤은 아무 때나 켜지면 위험합니다. 비밀번호 필요 롤은 CREATE ROLE에 IDENTIFIED BY 절을 붙여 만들며, 이 롤을 활성화하려면 SET ROLE 문에서 올바른 비밀번호를 제시해야 합니다. 사용자에게 롤이 부여되어 있어도 비밀번호를 모르면 롤을 켤 수 없으므로 권한이 항상 켜져 있지 않도록 통제할 수 있습니다. 이런 롤은 보통 DEFAULT ROLE에서 제외해 로그인 시 자동 활성화되지 않게 하고, 삭제나 구조 변경 같은 위험한 작업이 필요할 때만 명시적으로 활성화하도록 운영합니다.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응용프로그램 롤은 CREATE ROLE에 IDENTIFIED USING 스키마.패키지 절을 붙여 만듭니다. 이 롤은 지정된 PL/SQL 패키지가 실행될 때만 활성화될 수 있습니다. 사용자가 SET ROLE로 직접 켜는 것이 아니라 애플리케이션이 인가된 코드 경로 안에서 DBMS_SESSION.SET_ROLE을 호출해야 켜집니다. 패키지 안에서 SYS_CONTEXT로 접속 IP·모듈명·인증 방식 등을 검사한 뒤 조건을 만족할 때만 롤을 켜도록 하면, 지정된 애플리케이션 서버에서 접속했을 때만 권한이 활성화되는 강력한 통제가 가능합니다. 이는 사용자가 SQL*Plus로 직접 접속해 임의로 SET ROLE를 시도해도 롤이 켜지지 않게 하여, SQL 인젝션이나 계정 탈취 상황의 마지막 방어선이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비밀번호 필요 롤을 만들고 사용하는 전체 흐름입니다. hr_admin_role을 IDENTIFIED BY로 만들어 비밀번호로 보호하고, 위험한 DELETE 권한을 담은 뒤 scott에게 부여합니다. 그다음 ALTER USER scott DEFAULT ROLE ALL EXCEPT로 이 롤을 기본 활성화에서 제외하면, scott이 로그인해도 이 롤은 꺼진 상태입니다. scott이 삭제 작업을 하려면 SET ROLE hr_admin_role IDENTIFIED BY로 비밀번호를 제시해 명시적으로 롤을 켜야 합니다. 이렇게 하면 평소에는 위험 권한이 꺼져 있다가 승인된 절차를 거칠 때만 잠깐 켜지므로 오남용을 크게 줄일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사용자에게 부여된 롤은 부여됨과 현재 세션에서 활성화됨이 다른 개념입니다. 기본 롤은 로그인 시 자동 활성화되고 비-기본 롤은 SET ROLE로 명시적으로 켜야 합니다. 기본 롤 목록은 ALTER USER DEFAULT ROLE 절로 제어하는데, ALL은 모든 롤을, ALL EXCEPT는 특정 롤만 제외, 롤목록은 지정 롤만, NONE은 아무 롤도 기본 활성화하지 않습니다. SET ROLE 문은 그 시점에 활성화할 롤 집합을 통째로 지정하므로 추가가 아니라 교체이며, 이번 명령에 없는 롤은 꺼집니다. DBA_ROLE_PRIVS에 롤이 보여도 SESSION_ROLES에 나타나야 실제로 사용 가능합니다. 비밀번호 롤·응용프로그램 롤은 로그인만으로는 SESSION_ROLES에 나타나지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롤의 부여와 활성화가 다르다는 것을 실제로 확인하는 예입니다. USER_ROLE_PRIVS로 scott에게 부여된 롤과 각 롤이 기본 롤인지(DEFAULT_ROLE 컬럼)를 봅니다. 로그인 직후 SESSION_ROLES를 조회하면 기본 롤만 나타나고, 앞서 기본에서 제외한 hr_admin_role은 보이지 않습니다. SET ROLE로 비밀번호를 제시해 hr_admin_role을 활성화한 뒤 다시 SESSION_ROLES를 조회하면 이제 그 롤이 활성 목록에 나타납니다. 이 실습으로 DBA_ROLE_PRIVS나 USER_ROLE_PRIVS에 롤이 있어도 SESSION_ROLES에 나타나야 권한이 실제로 통한다는 점을 명확히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부여의 반대인 회수는 모두 REVOKE 문으로 처리합니다. 시스템 권한은 REVOKE 권한 FROM 대상, 객체 권한은 REVOKE 권한 ON 객체 FROM 대상, 롤은 REVOKE 롤 FROM 대상입니다. 회수 규칙의 핵심은 두 가지로, 시스템 권한과 롤의 회수는 연쇄되지 않아 WITH ADMIN OPTION으로 재부여된 것은 원본을 회수해도 남고, 객체 권한의 회수는 연쇄되어 WITH GRANT OPTION 경로로 퍼진 부여가 함께 회수됩니다. 또 사용자가 롤을 통해 간접적으로 가진 권한은 사용자에게서 직접 회수할 수 없고 롤에서 회수하거나 롤을 회수해야 하며, 직접 부여된 권한은 롤을 회수해도 사라지지 않습니다. 따라서 회수 전 부여 경로를 반드시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세 가지 회수와 실무 체크 흐름을 보여 줍니다. 시스템 권한 CREATE TABLE을 hr_dev에게서 회수해도 그가 재부여한 것은 연쇄되지 않아 남습니다. 반면 HR이 hr_report의 SELECT를 회수하면 WITH GRANT OPTION 경로로 퍼진 부여까지 연쇄 회수됩니다. 롤 회수는 REVOKE 롤 FROM 사용자로 처리합니다. 퇴사자 권한 정리 시에는 먼저 DBA_ROLE_PRIVS로 부여된 롤을, DBA_SYS_PRIVS와 DBA_TAB_PRIVS로 직접 부여된 권한을 각각 확인한 뒤 순서대로 회수합니다. 객체 권한은 연쇄 회수로 하위 사용자에게 영향이 갈 수 있으니 회수 전 부여 트리를 점검하고, 멀티테넌트라면 공통·로컬 여부까지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Q1이 2번, Q2가 2번, Q3이 2번입니다. Q1은 시스템 권한과 객체 권한의 핵심 차이를 묻습니다. 시스템 권한은 CREATE TABLE처럼 작업의 종류를 허가하고, 객체 권한은 특정 테이블에 대한 SELECT처럼 대상 객체를 한정합니다. Q2는 재부여 옵션을 묻는데, 시스템 권한과 롤에는 WITH ADMIN OPTION이, 객체 권한에는 WITH GRANT OPTION이 쓰입니다. 이름과 대상이 다르므로 혼동하지 않아야 합니다. Q3은 회수의 연쇄성을 묻습니다. 시스템 권한은 연쇄되지 않아 재부여분이 남지만, 객체 권한은 연쇄되어 WITH GRANT OPTION으로 퍼진 부여가 함께 회수된다는 대비를 정확히 이해해야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Q4가 2번, Q5가 2번, Q6이 2번입니다. Q4는 멀티테넌트 공통 부여를 묻습니다. 루트에 접속해 공통 대상에게 CONTAINER=ALL로 부여해야 모든 PDB에 공통 적용되며, 절을 생략하면 루트에만 적용되므로 반드시 명시해야 합니다. Q5는 RESOURCE 롤의 함정을 묻습니다. RESOURCE는 객체 생성 권한을 담지만 CREATE SESSION이 없어 단독으로는 로그인이 안 되므로 보통 CONNECT와 함께 부여합니다. Q6은 응용프로그램 롤을 묻습니다. IDENTIFIED USING 스키마.패키지로 만들면 그 패키지가 DBMS_SESSION.SET_ROLE을 호출할 때만 롤이 켜지므로, 인가된 애플리케이션 경로에서만 권한이 활성화되는 강력한 통제가 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r>
              <a:rPr sz="1600" b="0">
                <a:solidFill>
                  <a:srgbClr val="FFFFFF"/>
                </a:solidFill>
                <a:latin typeface="맑은 고딕"/>
                <a:ea typeface="맑은 고딕"/>
              </a:rPr>
              <a:t>Oracle Database 19c Administration Workshop</a:t>
            </a:r>
          </a:p>
        </p:txBody>
      </p:sp>
      <p:sp>
        <p:nvSpPr>
          <p:cNvPr id="6" name="TextBox 5"/>
          <p:cNvSpPr txBox="1"/>
          <p:nvPr/>
        </p:nvSpPr>
        <p:spPr>
          <a:xfrm>
            <a:off x="731520" y="2468880"/>
            <a:ext cx="10698480" cy="1463040"/>
          </a:xfrm>
          <a:prstGeom prst="rect">
            <a:avLst/>
          </a:prstGeom>
          <a:noFill/>
        </p:spPr>
        <p:txBody>
          <a:bodyPr wrap="square">
            <a:spAutoFit/>
          </a:bodyPr>
          <a:lstStyle/>
          <a:p>
            <a:pPr algn="l"/>
            <a:r>
              <a:rPr sz="4000" b="1">
                <a:solidFill>
                  <a:srgbClr val="C0392B"/>
                </a:solidFill>
                <a:latin typeface="맑은 고딕"/>
                <a:ea typeface="맑은 고딕"/>
              </a:rPr>
              <a:t>권한 및 롤 인가 구성</a:t>
            </a:r>
          </a:p>
          <a:p>
            <a:pPr algn="l"/>
            <a:r>
              <a:rPr sz="4000" b="1">
                <a:solidFill>
                  <a:srgbClr val="C0392B"/>
                </a:solidFill>
                <a:latin typeface="맑은 고딕"/>
                <a:ea typeface="맑은 고딕"/>
              </a:rPr>
              <a:t>Configuring Privilege and Role Authorization</a:t>
            </a:r>
          </a:p>
        </p:txBody>
      </p:sp>
      <p:sp>
        <p:nvSpPr>
          <p:cNvPr id="7" name="TextBox 6"/>
          <p:cNvSpPr txBox="1"/>
          <p:nvPr/>
        </p:nvSpPr>
        <p:spPr>
          <a:xfrm>
            <a:off x="731520" y="4114800"/>
            <a:ext cx="10698480" cy="1097280"/>
          </a:xfrm>
          <a:prstGeom prst="rect">
            <a:avLst/>
          </a:prstGeom>
          <a:noFill/>
        </p:spPr>
        <p:txBody>
          <a:bodyPr wrap="square">
            <a:spAutoFit/>
          </a:bodyPr>
          <a:lstStyle/>
          <a:p>
            <a:pPr algn="l"/>
            <a:r>
              <a:rPr sz="1500" b="0">
                <a:solidFill>
                  <a:srgbClr val="5A6672"/>
                </a:solidFill>
                <a:latin typeface="맑은 고딕"/>
                <a:ea typeface="맑은 고딕"/>
              </a:rPr>
              <a:t>시스템/객체 권한 · GRANT/REVOKE · WITH ADMIN/GRANT OPTION · 롤 · 제공 롤 · 보안 롤 · SET ROLE · 멀티테넌트 공통/로컬</a:t>
            </a:r>
          </a:p>
        </p:txBody>
      </p:sp>
      <p:sp>
        <p:nvSpPr>
          <p:cNvPr id="8" name="TextBox 7"/>
          <p:cNvSpPr txBox="1"/>
          <p:nvPr/>
        </p:nvSpPr>
        <p:spPr>
          <a:xfrm>
            <a:off x="731520" y="5577840"/>
            <a:ext cx="10698480" cy="914400"/>
          </a:xfrm>
          <a:prstGeom prst="rect">
            <a:avLst/>
          </a:prstGeom>
          <a:noFill/>
        </p:spPr>
        <p:txBody>
          <a:bodyPr wrap="square">
            <a:spAutoFit/>
          </a:bodyPr>
          <a:lstStyle/>
          <a:p>
            <a:pPr algn="l"/>
            <a:r>
              <a:rPr sz="2000" b="1">
                <a:solidFill>
                  <a:srgbClr val="C0392B"/>
                </a:solidFill>
                <a:latin typeface="맑은 고딕"/>
                <a:ea typeface="맑은 고딕"/>
              </a:rPr>
              <a:t>제22장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학습 목표 (Objectives)</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800"/>
              </a:spcAft>
            </a:pPr>
            <a:r>
              <a:rPr sz="1800">
                <a:solidFill>
                  <a:srgbClr val="C0392B"/>
                </a:solidFill>
                <a:latin typeface="맑은 고딕"/>
                <a:ea typeface="맑은 고딕"/>
              </a:rPr>
              <a:t>•  권한의 개념과 시스템 권한·객체 권한을 구분한다</a:t>
            </a:r>
          </a:p>
          <a:p>
            <a:pPr>
              <a:spcAft>
                <a:spcPts val="800"/>
              </a:spcAft>
            </a:pPr>
            <a:r>
              <a:rPr sz="1800">
                <a:solidFill>
                  <a:srgbClr val="C0392B"/>
                </a:solidFill>
                <a:latin typeface="맑은 고딕"/>
                <a:ea typeface="맑은 고딕"/>
              </a:rPr>
              <a:t>•  GRANT/REVOKE로 시스템·객체 권한을 부여·회수하고 WITH ADMIN/GRANT OPTION을 이해한다</a:t>
            </a:r>
          </a:p>
          <a:p>
            <a:pPr>
              <a:spcAft>
                <a:spcPts val="800"/>
              </a:spcAft>
            </a:pPr>
            <a:r>
              <a:rPr sz="1800">
                <a:solidFill>
                  <a:srgbClr val="C0392B"/>
                </a:solidFill>
                <a:latin typeface="맑은 고딕"/>
                <a:ea typeface="맑은 고딕"/>
              </a:rPr>
              <a:t>•  멀티테넌트에서 CONTAINER=ALL/CURRENT로 공통/로컬 권한을 부여한다</a:t>
            </a:r>
          </a:p>
          <a:p>
            <a:pPr>
              <a:spcAft>
                <a:spcPts val="800"/>
              </a:spcAft>
            </a:pPr>
            <a:r>
              <a:rPr sz="1800">
                <a:solidFill>
                  <a:srgbClr val="C0392B"/>
                </a:solidFill>
                <a:latin typeface="맑은 고딕"/>
                <a:ea typeface="맑은 고딕"/>
              </a:rPr>
              <a:t>•  롤을 생성하고 권한·롤을 담아 사용자에게 부여한다</a:t>
            </a:r>
          </a:p>
          <a:p>
            <a:pPr>
              <a:spcAft>
                <a:spcPts val="800"/>
              </a:spcAft>
            </a:pPr>
            <a:r>
              <a:rPr sz="1800">
                <a:solidFill>
                  <a:srgbClr val="C0392B"/>
                </a:solidFill>
                <a:latin typeface="맑은 고딕"/>
                <a:ea typeface="맑은 고딕"/>
              </a:rPr>
              <a:t>•  Oracle 제공 롤(CONNECT/RESOURCE/DBA 등)의 용도와 주의점을 안다</a:t>
            </a:r>
          </a:p>
          <a:p>
            <a:pPr>
              <a:spcAft>
                <a:spcPts val="800"/>
              </a:spcAft>
            </a:pPr>
            <a:r>
              <a:rPr sz="1800">
                <a:solidFill>
                  <a:srgbClr val="C0392B"/>
                </a:solidFill>
                <a:latin typeface="맑은 고딕"/>
                <a:ea typeface="맑은 고딕"/>
              </a:rPr>
              <a:t>•  비밀번호 롤·응용프로그램 롤로 보안 강화 롤을 구성한다</a:t>
            </a:r>
          </a:p>
          <a:p>
            <a:pPr>
              <a:spcAft>
                <a:spcPts val="800"/>
              </a:spcAft>
            </a:pPr>
            <a:r>
              <a:rPr sz="1800">
                <a:solidFill>
                  <a:srgbClr val="C0392B"/>
                </a:solidFill>
                <a:latin typeface="맑은 고딕"/>
                <a:ea typeface="맑은 고딕"/>
              </a:rPr>
              <a:t>•  SET ROLE·DEFAULT ROLE로 롤을 활성화·제어하고 REVOKE로 회수한다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이 장의 구성 (Agenda)</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800"/>
              </a:spcAft>
            </a:pPr>
            <a:r>
              <a:rPr sz="1800">
                <a:solidFill>
                  <a:srgbClr val="C0392B"/>
                </a:solidFill>
                <a:latin typeface="맑은 고딕"/>
                <a:ea typeface="맑은 고딕"/>
              </a:rPr>
              <a:t>•  22.A  권한 개념과 시스템/객체 권한</a:t>
            </a:r>
          </a:p>
          <a:p>
            <a:pPr>
              <a:spcAft>
                <a:spcPts val="800"/>
              </a:spcAft>
            </a:pPr>
            <a:r>
              <a:rPr sz="1800">
                <a:solidFill>
                  <a:srgbClr val="C0392B"/>
                </a:solidFill>
                <a:latin typeface="맑은 고딕"/>
                <a:ea typeface="맑은 고딕"/>
              </a:rPr>
              <a:t>•  22.B  시스템 권한 부여·회수 (WITH ADMIN OPTION)</a:t>
            </a:r>
          </a:p>
          <a:p>
            <a:pPr>
              <a:spcAft>
                <a:spcPts val="800"/>
              </a:spcAft>
            </a:pPr>
            <a:r>
              <a:rPr sz="1800">
                <a:solidFill>
                  <a:srgbClr val="C0392B"/>
                </a:solidFill>
                <a:latin typeface="맑은 고딕"/>
                <a:ea typeface="맑은 고딕"/>
              </a:rPr>
              <a:t>•  22.C  객체 권한 부여·회수 (WITH GRANT OPTION)</a:t>
            </a:r>
          </a:p>
          <a:p>
            <a:pPr>
              <a:spcAft>
                <a:spcPts val="800"/>
              </a:spcAft>
            </a:pPr>
            <a:r>
              <a:rPr sz="1800">
                <a:solidFill>
                  <a:srgbClr val="C0392B"/>
                </a:solidFill>
                <a:latin typeface="맑은 고딕"/>
                <a:ea typeface="맑은 고딕"/>
              </a:rPr>
              <a:t>•  22.D  멀티테넌트 권한 부여 (CONTAINER 절)</a:t>
            </a:r>
          </a:p>
          <a:p>
            <a:pPr>
              <a:spcAft>
                <a:spcPts val="800"/>
              </a:spcAft>
            </a:pPr>
            <a:r>
              <a:rPr sz="1800">
                <a:solidFill>
                  <a:srgbClr val="C0392B"/>
                </a:solidFill>
                <a:latin typeface="맑은 고딕"/>
                <a:ea typeface="맑은 고딕"/>
              </a:rPr>
              <a:t>•  22.E  롤 개념·생성과 권한 할당</a:t>
            </a:r>
          </a:p>
          <a:p>
            <a:pPr>
              <a:spcAft>
                <a:spcPts val="800"/>
              </a:spcAft>
            </a:pPr>
            <a:r>
              <a:rPr sz="1800">
                <a:solidFill>
                  <a:srgbClr val="C0392B"/>
                </a:solidFill>
                <a:latin typeface="맑은 고딕"/>
                <a:ea typeface="맑은 고딕"/>
              </a:rPr>
              <a:t>•  22.F  Oracle 제공 롤</a:t>
            </a:r>
          </a:p>
          <a:p>
            <a:pPr>
              <a:spcAft>
                <a:spcPts val="800"/>
              </a:spcAft>
            </a:pPr>
            <a:r>
              <a:rPr sz="1800">
                <a:solidFill>
                  <a:srgbClr val="C0392B"/>
                </a:solidFill>
                <a:latin typeface="맑은 고딕"/>
                <a:ea typeface="맑은 고딕"/>
              </a:rPr>
              <a:t>•  22.G  멀티테넌트 롤 (공통/로컬)</a:t>
            </a:r>
          </a:p>
          <a:p>
            <a:pPr>
              <a:spcAft>
                <a:spcPts val="800"/>
              </a:spcAft>
            </a:pPr>
            <a:r>
              <a:rPr sz="1800">
                <a:solidFill>
                  <a:srgbClr val="C0392B"/>
                </a:solidFill>
                <a:latin typeface="맑은 고딕"/>
                <a:ea typeface="맑은 고딕"/>
              </a:rPr>
              <a:t>•  22.H  보안 강화 롤 (비밀번호·응용프로그램)</a:t>
            </a:r>
          </a:p>
          <a:p>
            <a:pPr>
              <a:spcAft>
                <a:spcPts val="800"/>
              </a:spcAft>
            </a:pPr>
            <a:r>
              <a:rPr sz="1800">
                <a:solidFill>
                  <a:srgbClr val="C0392B"/>
                </a:solidFill>
                <a:latin typeface="맑은 고딕"/>
                <a:ea typeface="맑은 고딕"/>
              </a:rPr>
              <a:t>•  22.I  롤 활성화(SET ROLE)·기본 롤</a:t>
            </a:r>
          </a:p>
          <a:p>
            <a:pPr>
              <a:spcAft>
                <a:spcPts val="800"/>
              </a:spcAft>
            </a:pPr>
            <a:r>
              <a:rPr sz="1800">
                <a:solidFill>
                  <a:srgbClr val="C0392B"/>
                </a:solidFill>
                <a:latin typeface="맑은 고딕"/>
                <a:ea typeface="맑은 고딕"/>
              </a:rPr>
              <a:t>•  22.J  롤·권한 회수(REVOKE)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22.A</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권한 개념과 시스템/객체 권한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800"/>
              </a:spcAft>
            </a:pPr>
            <a:r>
              <a:rPr sz="1600">
                <a:solidFill>
                  <a:srgbClr val="FFFFFF"/>
                </a:solidFill>
                <a:latin typeface="맑은 고딕"/>
                <a:ea typeface="맑은 고딕"/>
              </a:rPr>
              <a:t>•  권한의 의미와 최소 권한 원칙</a:t>
            </a:r>
          </a:p>
          <a:p>
            <a:pPr>
              <a:spcAft>
                <a:spcPts val="800"/>
              </a:spcAft>
            </a:pPr>
            <a:r>
              <a:rPr sz="1600">
                <a:solidFill>
                  <a:srgbClr val="FFFFFF"/>
                </a:solidFill>
                <a:latin typeface="맑은 고딕"/>
                <a:ea typeface="맑은 고딕"/>
              </a:rPr>
              <a:t>•  시스템 권한 vs 객체 권한</a:t>
            </a:r>
          </a:p>
          <a:p>
            <a:pPr>
              <a:spcAft>
                <a:spcPts val="800"/>
              </a:spcAft>
            </a:pPr>
            <a:r>
              <a:rPr sz="1600">
                <a:solidFill>
                  <a:srgbClr val="FFFFFF"/>
                </a:solidFill>
                <a:latin typeface="맑은 고딕"/>
                <a:ea typeface="맑은 고딕"/>
              </a:rPr>
              <a:t>•  PUBLIC과 권한 검사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권한(Privilege)이란</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privilege &amp; least privilege</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800"/>
              </a:spcAft>
            </a:pPr>
            <a:r>
              <a:rPr sz="1800">
                <a:solidFill>
                  <a:srgbClr val="C0392B"/>
                </a:solidFill>
                <a:latin typeface="맑은 고딕"/>
                <a:ea typeface="맑은 고딕"/>
              </a:rPr>
              <a:t>•  권한 = 특정 SQL 문 실행 또는 타인 객체 접근에 대한 허가</a:t>
            </a:r>
          </a:p>
          <a:p>
            <a:pPr>
              <a:spcAft>
                <a:spcPts val="800"/>
              </a:spcAft>
            </a:pPr>
            <a:r>
              <a:rPr sz="1800">
                <a:solidFill>
                  <a:srgbClr val="C0392B"/>
                </a:solidFill>
                <a:latin typeface="맑은 고딕"/>
                <a:ea typeface="맑은 고딕"/>
              </a:rPr>
              <a:t>•  Oracle은 최소 권한 원칙: 명시적으로 받지 않은 것은 못 함</a:t>
            </a:r>
          </a:p>
          <a:p>
            <a:pPr>
              <a:spcAft>
                <a:spcPts val="800"/>
              </a:spcAft>
            </a:pPr>
            <a:r>
              <a:rPr sz="1800">
                <a:solidFill>
                  <a:srgbClr val="C0392B"/>
                </a:solidFill>
                <a:latin typeface="맑은 고딕"/>
                <a:ea typeface="맑은 고딕"/>
              </a:rPr>
              <a:t>•  전달 경로: 사용자에게 직접 부여 / 롤에 담아 부여</a:t>
            </a:r>
          </a:p>
          <a:p>
            <a:pPr>
              <a:spcAft>
                <a:spcPts val="800"/>
              </a:spcAft>
            </a:pPr>
            <a:r>
              <a:rPr sz="1800">
                <a:solidFill>
                  <a:srgbClr val="C0392B"/>
                </a:solidFill>
                <a:latin typeface="맑은 고딕"/>
                <a:ea typeface="맑은 고딕"/>
              </a:rPr>
              <a:t>•  인증(누구인가)과 인가(무엇을 할 수 있는가)는 별개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시스템 권한 vs 객체 권한</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system vs object privilege</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800"/>
              </a:spcAft>
            </a:pPr>
            <a:r>
              <a:rPr sz="1800">
                <a:solidFill>
                  <a:srgbClr val="C0392B"/>
                </a:solidFill>
                <a:latin typeface="맑은 고딕"/>
                <a:ea typeface="맑은 고딕"/>
              </a:rPr>
              <a:t>•  시스템 권한: 데이터베이스 전반의 작업 종류 허가 (CREATE SESSION, CREATE TABLE, CREATE ANY TABLE...)</a:t>
            </a:r>
          </a:p>
          <a:p>
            <a:pPr>
              <a:spcAft>
                <a:spcPts val="800"/>
              </a:spcAft>
            </a:pPr>
            <a:r>
              <a:rPr sz="1800">
                <a:solidFill>
                  <a:srgbClr val="C0392B"/>
                </a:solidFill>
                <a:latin typeface="맑은 고딕"/>
                <a:ea typeface="맑은 고딕"/>
              </a:rPr>
              <a:t>•  객체 권한: 특정 객체에 대한 작업 허가 (SELECT/INSERT/UPDATE/DELETE/EXECUTE...)</a:t>
            </a:r>
          </a:p>
          <a:p>
            <a:pPr>
              <a:spcAft>
                <a:spcPts val="800"/>
              </a:spcAft>
            </a:pPr>
            <a:r>
              <a:rPr sz="1800">
                <a:solidFill>
                  <a:srgbClr val="C0392B"/>
                </a:solidFill>
                <a:latin typeface="맑은 고딕"/>
                <a:ea typeface="맑은 고딕"/>
              </a:rPr>
              <a:t>•  'ANY' 권한은 모든 스키마에 적용 → 매우 강력·위험</a:t>
            </a:r>
          </a:p>
          <a:p>
            <a:pPr>
              <a:spcAft>
                <a:spcPts val="800"/>
              </a:spcAft>
            </a:pPr>
            <a:r>
              <a:rPr sz="1800">
                <a:solidFill>
                  <a:srgbClr val="C0392B"/>
                </a:solidFill>
                <a:latin typeface="맑은 고딕"/>
                <a:ea typeface="맑은 고딕"/>
              </a:rPr>
              <a:t>•  객체 소유자는 자기 객체의 모든 권한을 자동 보유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PUBLIC과 권한 검사</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PUBLIC · privilege check</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800"/>
              </a:spcAft>
            </a:pPr>
            <a:r>
              <a:rPr sz="1800">
                <a:solidFill>
                  <a:srgbClr val="C0392B"/>
                </a:solidFill>
                <a:latin typeface="맑은 고딕"/>
                <a:ea typeface="맑은 고딕"/>
              </a:rPr>
              <a:t>•  PUBLIC = 모든 사용자 대표 그룹, 부여 시 전원에게 적용</a:t>
            </a:r>
          </a:p>
          <a:p>
            <a:pPr>
              <a:spcAft>
                <a:spcPts val="800"/>
              </a:spcAft>
            </a:pPr>
            <a:r>
              <a:rPr sz="1800">
                <a:solidFill>
                  <a:srgbClr val="C0392B"/>
                </a:solidFill>
                <a:latin typeface="맑은 고딕"/>
                <a:ea typeface="맑은 고딕"/>
              </a:rPr>
              <a:t>•  권한 판정: 직접 부여 + 활성 롤 + PUBLIC을 합산</a:t>
            </a:r>
          </a:p>
          <a:p>
            <a:pPr>
              <a:spcAft>
                <a:spcPts val="800"/>
              </a:spcAft>
            </a:pPr>
            <a:r>
              <a:rPr sz="1800">
                <a:solidFill>
                  <a:srgbClr val="C0392B"/>
                </a:solidFill>
                <a:latin typeface="맑은 고딕"/>
                <a:ea typeface="맑은 고딕"/>
              </a:rPr>
              <a:t>•  부족 시 ORA-01031(권한 부족), 권한 없어 안 보이면 ORA-00942</a:t>
            </a:r>
          </a:p>
          <a:p>
            <a:pPr>
              <a:spcAft>
                <a:spcPts val="800"/>
              </a:spcAft>
            </a:pPr>
            <a:r>
              <a:rPr sz="1800">
                <a:solidFill>
                  <a:srgbClr val="C0392B"/>
                </a:solidFill>
                <a:latin typeface="맑은 고딕"/>
                <a:ea typeface="맑은 고딕"/>
              </a:rPr>
              <a:t>•  부여 자격: WITH ADMIN OPTION 보유 또는 GRANT ANY PRIVILEGE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22.B</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시스템 권한 부여·회수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800"/>
              </a:spcAft>
            </a:pPr>
            <a:r>
              <a:rPr sz="1600">
                <a:solidFill>
                  <a:srgbClr val="FFFFFF"/>
                </a:solidFill>
                <a:latin typeface="맑은 고딕"/>
                <a:ea typeface="맑은 고딕"/>
              </a:rPr>
              <a:t>•  GRANT ... TO ... [WITH ADMIN OPTION]</a:t>
            </a:r>
          </a:p>
          <a:p>
            <a:pPr>
              <a:spcAft>
                <a:spcPts val="800"/>
              </a:spcAft>
            </a:pPr>
            <a:r>
              <a:rPr sz="1600">
                <a:solidFill>
                  <a:srgbClr val="FFFFFF"/>
                </a:solidFill>
                <a:latin typeface="맑은 고딕"/>
                <a:ea typeface="맑은 고딕"/>
              </a:rPr>
              <a:t>•  회수는 연쇄되지 않음</a:t>
            </a:r>
          </a:p>
          <a:p>
            <a:pPr>
              <a:spcAft>
                <a:spcPts val="800"/>
              </a:spcAft>
            </a:pPr>
            <a:r>
              <a:rPr sz="1600">
                <a:solidFill>
                  <a:srgbClr val="FFFFFF"/>
                </a:solidFill>
                <a:latin typeface="맑은 고딕"/>
                <a:ea typeface="맑은 고딕"/>
              </a:rPr>
              <a:t>•  딕셔너리 뷰 확인</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시스템 권한 부여 (GRANT)</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GRANT system privilege</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800"/>
              </a:spcAft>
            </a:pPr>
            <a:r>
              <a:rPr sz="1800">
                <a:solidFill>
                  <a:srgbClr val="C0392B"/>
                </a:solidFill>
                <a:latin typeface="맑은 고딕"/>
                <a:ea typeface="맑은 고딕"/>
              </a:rPr>
              <a:t>•  GRANT 권한[, ...] TO {사용자|롤|PUBLIC} [WITH ADMIN OPTION]</a:t>
            </a:r>
          </a:p>
          <a:p>
            <a:pPr>
              <a:spcAft>
                <a:spcPts val="800"/>
              </a:spcAft>
            </a:pPr>
            <a:r>
              <a:rPr sz="1800">
                <a:solidFill>
                  <a:srgbClr val="C0392B"/>
                </a:solidFill>
                <a:latin typeface="맑은 고딕"/>
                <a:ea typeface="맑은 고딕"/>
              </a:rPr>
              <a:t>•  여러 권한·여러 대상 동시 부여 가능</a:t>
            </a:r>
          </a:p>
          <a:p>
            <a:pPr>
              <a:spcAft>
                <a:spcPts val="800"/>
              </a:spcAft>
            </a:pPr>
            <a:r>
              <a:rPr sz="1800">
                <a:solidFill>
                  <a:srgbClr val="C0392B"/>
                </a:solidFill>
                <a:latin typeface="맑은 고딕"/>
                <a:ea typeface="맑은 고딕"/>
              </a:rPr>
              <a:t>•  WITH ADMIN OPTION: 받은 사용자가 재부여·회수까지 가능</a:t>
            </a:r>
          </a:p>
          <a:p>
            <a:pPr>
              <a:spcAft>
                <a:spcPts val="800"/>
              </a:spcAft>
            </a:pPr>
            <a:r>
              <a:rPr sz="1800">
                <a:solidFill>
                  <a:srgbClr val="C0392B"/>
                </a:solidFill>
                <a:latin typeface="맑은 고딕"/>
                <a:ea typeface="맑은 고딕"/>
              </a:rPr>
              <a:t>•  성공 시 'Grant succeeded.', 없는 사용자면 ORA-01917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회수와 연쇄 규칙</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REVOKE · non-cascading</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800"/>
              </a:spcAft>
            </a:pPr>
            <a:r>
              <a:rPr sz="1800">
                <a:solidFill>
                  <a:srgbClr val="C0392B"/>
                </a:solidFill>
                <a:latin typeface="맑은 고딕"/>
                <a:ea typeface="맑은 고딕"/>
              </a:rPr>
              <a:t>•  REVOKE 권한 FROM 대상;</a:t>
            </a:r>
          </a:p>
          <a:p>
            <a:pPr>
              <a:spcAft>
                <a:spcPts val="800"/>
              </a:spcAft>
            </a:pPr>
            <a:r>
              <a:rPr sz="1800">
                <a:solidFill>
                  <a:srgbClr val="C0392B"/>
                </a:solidFill>
                <a:latin typeface="맑은 고딕"/>
                <a:ea typeface="맑은 고딕"/>
              </a:rPr>
              <a:t>•  시스템 권한 회수는 연쇄되지 않음(non-cascading)</a:t>
            </a:r>
          </a:p>
          <a:p>
            <a:pPr>
              <a:spcAft>
                <a:spcPts val="800"/>
              </a:spcAft>
            </a:pPr>
            <a:r>
              <a:rPr sz="1800">
                <a:solidFill>
                  <a:srgbClr val="C0392B"/>
                </a:solidFill>
                <a:latin typeface="맑은 고딕"/>
                <a:ea typeface="맑은 고딕"/>
              </a:rPr>
              <a:t>•  A가 WITH ADMIN OPTION으로 B에게 재부여 → A 회수해도 B는 유지</a:t>
            </a:r>
          </a:p>
          <a:p>
            <a:pPr>
              <a:spcAft>
                <a:spcPts val="800"/>
              </a:spcAft>
            </a:pPr>
            <a:r>
              <a:rPr sz="1800">
                <a:solidFill>
                  <a:srgbClr val="C0392B"/>
                </a:solidFill>
                <a:latin typeface="맑은 고딕"/>
                <a:ea typeface="맑은 고딕"/>
              </a:rPr>
              <a:t>•  이유: 시스템 권한엔 부여 경로 의존 관계가 기록되지 않음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실습: 시스템 권한 GRANT/REVOKE</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DBA_SYS_PRIVS 확인</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4572000"/>
          </a:xfrm>
          <a:prstGeom prst="rect">
            <a:avLst/>
          </a:prstGeom>
          <a:noFill/>
        </p:spPr>
        <p:txBody>
          <a:bodyPr wrap="square">
            <a:spAutoFit/>
          </a:bodyPr>
          <a:lstStyle/>
          <a:p>
            <a:r>
              <a:rPr sz="1200">
                <a:solidFill>
                  <a:srgbClr val="7EC699"/>
                </a:solidFill>
                <a:latin typeface="Consolas"/>
                <a:ea typeface="Consolas"/>
              </a:rPr>
              <a:t>-- 시스템 권한 부여</a:t>
            </a:r>
          </a:p>
          <a:p>
            <a:r>
              <a:rPr sz="1200">
                <a:solidFill>
                  <a:srgbClr val="E6E6E6"/>
                </a:solidFill>
                <a:latin typeface="Consolas"/>
                <a:ea typeface="Consolas"/>
              </a:rPr>
              <a:t>SYS@cdb1&gt; GRANT CREATE SESSION, CREATE TABLE TO hr_dev;</a:t>
            </a:r>
          </a:p>
          <a:p>
            <a:r>
              <a:rPr sz="1200">
                <a:solidFill>
                  <a:srgbClr val="E6E6E6"/>
                </a:solidFill>
                <a:latin typeface="Consolas"/>
                <a:ea typeface="Consolas"/>
              </a:rPr>
              <a:t>Grant succeeded.</a:t>
            </a:r>
          </a:p>
          <a:p>
            <a:r>
              <a:rPr sz="1200">
                <a:solidFill>
                  <a:srgbClr val="7EC699"/>
                </a:solidFill>
                <a:latin typeface="Consolas"/>
                <a:ea typeface="Consolas"/>
              </a:rPr>
              <a:t>-- 관리 옵션과 함께 부여</a:t>
            </a:r>
          </a:p>
          <a:p>
            <a:r>
              <a:rPr sz="1200">
                <a:solidFill>
                  <a:srgbClr val="E6E6E6"/>
                </a:solidFill>
                <a:latin typeface="Consolas"/>
                <a:ea typeface="Consolas"/>
              </a:rPr>
              <a:t>SYS@cdb1&gt; GRANT CREATE SESSION TO hr_lead WITH ADMIN OPTION;</a:t>
            </a:r>
          </a:p>
          <a:p>
            <a:r>
              <a:rPr sz="1200">
                <a:solidFill>
                  <a:srgbClr val="7EC699"/>
                </a:solidFill>
                <a:latin typeface="Consolas"/>
                <a:ea typeface="Consolas"/>
              </a:rPr>
              <a:t>-- 직접 부여된 시스템 권한 확인</a:t>
            </a:r>
          </a:p>
          <a:p>
            <a:r>
              <a:rPr sz="1200">
                <a:solidFill>
                  <a:srgbClr val="E6E6E6"/>
                </a:solidFill>
                <a:latin typeface="Consolas"/>
                <a:ea typeface="Consolas"/>
              </a:rPr>
              <a:t>SYS@cdb1&gt; SELECT privilege, admin_option</a:t>
            </a:r>
          </a:p>
          <a:p>
            <a:r>
              <a:rPr sz="1200">
                <a:solidFill>
                  <a:srgbClr val="E6E6E6"/>
                </a:solidFill>
                <a:latin typeface="Consolas"/>
                <a:ea typeface="Consolas"/>
              </a:rPr>
              <a:t>  2  FROM dba_sys_privs WHERE grantee='HR_DEV';</a:t>
            </a:r>
          </a:p>
          <a:p>
            <a:r>
              <a:rPr sz="1200">
                <a:solidFill>
                  <a:srgbClr val="7EC699"/>
                </a:solidFill>
                <a:latin typeface="Consolas"/>
                <a:ea typeface="Consolas"/>
              </a:rPr>
              <a:t>-- 회수 (연쇄 없음)</a:t>
            </a:r>
          </a:p>
          <a:p>
            <a:r>
              <a:rPr sz="1200">
                <a:solidFill>
                  <a:srgbClr val="E6E6E6"/>
                </a:solidFill>
                <a:latin typeface="Consolas"/>
                <a:ea typeface="Consolas"/>
              </a:rPr>
              <a:t>SYS@cdb1&gt; REVOKE CREATE TABLE FROM hr_dev;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ANY 권한과 딕셔너리 뷰</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ANY privileges · views</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800"/>
              </a:spcAft>
            </a:pPr>
            <a:r>
              <a:rPr sz="1800">
                <a:solidFill>
                  <a:srgbClr val="C0392B"/>
                </a:solidFill>
                <a:latin typeface="맑은 고딕"/>
                <a:ea typeface="맑은 고딕"/>
              </a:rPr>
              <a:t>•  CREATE/DROP/SELECT ANY TABLE 등 'ANY'는 모든 스키마 적용</a:t>
            </a:r>
          </a:p>
          <a:p>
            <a:pPr>
              <a:spcAft>
                <a:spcPts val="800"/>
              </a:spcAft>
            </a:pPr>
            <a:r>
              <a:rPr sz="1800">
                <a:solidFill>
                  <a:srgbClr val="C0392B"/>
                </a:solidFill>
                <a:latin typeface="맑은 고딕"/>
                <a:ea typeface="맑은 고딕"/>
              </a:rPr>
              <a:t>•  O7_DICTIONARY_ACCESSIBILITY(기본 FALSE): 딕셔너리 보호</a:t>
            </a:r>
          </a:p>
          <a:p>
            <a:pPr>
              <a:spcAft>
                <a:spcPts val="800"/>
              </a:spcAft>
            </a:pPr>
            <a:r>
              <a:rPr sz="1800">
                <a:solidFill>
                  <a:srgbClr val="C0392B"/>
                </a:solidFill>
                <a:latin typeface="맑은 고딕"/>
                <a:ea typeface="맑은 고딕"/>
              </a:rPr>
              <a:t>•  DBA_SYS_PRIVS / USER_SYS_PRIVS / SESSION_PRIVS로 확인</a:t>
            </a:r>
          </a:p>
          <a:p>
            <a:pPr>
              <a:spcAft>
                <a:spcPts val="800"/>
              </a:spcAft>
            </a:pPr>
            <a:r>
              <a:rPr sz="1800">
                <a:solidFill>
                  <a:srgbClr val="C0392B"/>
                </a:solidFill>
                <a:latin typeface="맑은 고딕"/>
                <a:ea typeface="맑은 고딕"/>
              </a:rPr>
              <a:t>•  딕셔너리 조회는 SELECT ANY DICTIONARY 또는 SELECT_CATALOG_ROLE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22.C</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객체 권한 부여·회수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800"/>
              </a:spcAft>
            </a:pPr>
            <a:r>
              <a:rPr sz="1600">
                <a:solidFill>
                  <a:srgbClr val="FFFFFF"/>
                </a:solidFill>
                <a:latin typeface="맑은 고딕"/>
                <a:ea typeface="맑은 고딕"/>
              </a:rPr>
              <a:t>•  GRANT ... ON ... [WITH GRANT OPTION]</a:t>
            </a:r>
          </a:p>
          <a:p>
            <a:pPr>
              <a:spcAft>
                <a:spcPts val="800"/>
              </a:spcAft>
            </a:pPr>
            <a:r>
              <a:rPr sz="1600">
                <a:solidFill>
                  <a:srgbClr val="FFFFFF"/>
                </a:solidFill>
                <a:latin typeface="맑은 고딕"/>
                <a:ea typeface="맑은 고딕"/>
              </a:rPr>
              <a:t>•  연쇄 회수(cascading revoke)</a:t>
            </a:r>
          </a:p>
          <a:p>
            <a:pPr>
              <a:spcAft>
                <a:spcPts val="800"/>
              </a:spcAft>
            </a:pPr>
            <a:r>
              <a:rPr sz="1600">
                <a:solidFill>
                  <a:srgbClr val="FFFFFF"/>
                </a:solidFill>
                <a:latin typeface="맑은 고딕"/>
                <a:ea typeface="맑은 고딕"/>
              </a:rPr>
              <a:t>•  컬럼 수준·뷰를 통한 제어</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객체 권한 부여</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object privilege · WITH GRANT OPTION</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800"/>
              </a:spcAft>
            </a:pPr>
            <a:r>
              <a:rPr sz="1800">
                <a:solidFill>
                  <a:srgbClr val="C0392B"/>
                </a:solidFill>
                <a:latin typeface="맑은 고딕"/>
                <a:ea typeface="맑은 고딕"/>
              </a:rPr>
              <a:t>•  GRANT {권한[(컬럼)]|ALL} ON [스키마.]객체 TO 대상 [WITH GRANT OPTION]</a:t>
            </a:r>
          </a:p>
          <a:p>
            <a:pPr>
              <a:spcAft>
                <a:spcPts val="800"/>
              </a:spcAft>
            </a:pPr>
            <a:r>
              <a:rPr sz="1800">
                <a:solidFill>
                  <a:srgbClr val="C0392B"/>
                </a:solidFill>
                <a:latin typeface="맑은 고딕"/>
                <a:ea typeface="맑은 고딕"/>
              </a:rPr>
              <a:t>•  테이블/뷰: SELECT/INSERT/UPDATE/DELETE/REFERENCES/ALTER/INDEX</a:t>
            </a:r>
          </a:p>
          <a:p>
            <a:pPr>
              <a:spcAft>
                <a:spcPts val="800"/>
              </a:spcAft>
            </a:pPr>
            <a:r>
              <a:rPr sz="1800">
                <a:solidFill>
                  <a:srgbClr val="C0392B"/>
                </a:solidFill>
                <a:latin typeface="맑은 고딕"/>
                <a:ea typeface="맑은 고딕"/>
              </a:rPr>
              <a:t>•  INSERT/UPDATE/REFERENCES는 컬럼 단위 부여 가능</a:t>
            </a:r>
          </a:p>
          <a:p>
            <a:pPr>
              <a:spcAft>
                <a:spcPts val="800"/>
              </a:spcAft>
            </a:pPr>
            <a:r>
              <a:rPr sz="1800">
                <a:solidFill>
                  <a:srgbClr val="C0392B"/>
                </a:solidFill>
                <a:latin typeface="맑은 고딕"/>
                <a:ea typeface="맑은 고딕"/>
              </a:rPr>
              <a:t>•  WITH GRANT OPTION: 재부여 허용(롤에는 불가, 사용자만)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연쇄 회수와 뷰를 통한 제어</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cascading revoke · views</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800"/>
              </a:spcAft>
            </a:pPr>
            <a:r>
              <a:rPr sz="1800">
                <a:solidFill>
                  <a:srgbClr val="C0392B"/>
                </a:solidFill>
                <a:latin typeface="맑은 고딕"/>
                <a:ea typeface="맑은 고딕"/>
              </a:rPr>
              <a:t>•  객체 권한 회수는 연쇄됨: 재부여 경로가 함께 회수</a:t>
            </a:r>
          </a:p>
          <a:p>
            <a:pPr>
              <a:spcAft>
                <a:spcPts val="800"/>
              </a:spcAft>
            </a:pPr>
            <a:r>
              <a:rPr sz="1800">
                <a:solidFill>
                  <a:srgbClr val="C0392B"/>
                </a:solidFill>
                <a:latin typeface="맑은 고딕"/>
                <a:ea typeface="맑은 고딕"/>
              </a:rPr>
              <a:t>•  회수 시 의존 뷰·프로시저가 INVALID 될 수 있음</a:t>
            </a:r>
          </a:p>
          <a:p>
            <a:pPr>
              <a:spcAft>
                <a:spcPts val="800"/>
              </a:spcAft>
            </a:pPr>
            <a:r>
              <a:rPr sz="1800">
                <a:solidFill>
                  <a:srgbClr val="C0392B"/>
                </a:solidFill>
                <a:latin typeface="맑은 고딕"/>
                <a:ea typeface="맑은 고딕"/>
              </a:rPr>
              <a:t>•  뷰로 위임: 특정 행·열만 노출하는 뷰에 SELECT만 부여</a:t>
            </a:r>
          </a:p>
          <a:p>
            <a:pPr>
              <a:spcAft>
                <a:spcPts val="800"/>
              </a:spcAft>
            </a:pPr>
            <a:r>
              <a:rPr sz="1800">
                <a:solidFill>
                  <a:srgbClr val="C0392B"/>
                </a:solidFill>
                <a:latin typeface="맑은 고딕"/>
                <a:ea typeface="맑은 고딕"/>
              </a:rPr>
              <a:t>•  타 스키마 객체는 완전한 이름(HR.EMPLOYEES) 또는 동의어 사용</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실습: 객체 권한 GRANT/REVOKE</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DBA_TAB_PRIVS · 컬럼 권한</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4572000"/>
          </a:xfrm>
          <a:prstGeom prst="rect">
            <a:avLst/>
          </a:prstGeom>
          <a:noFill/>
        </p:spPr>
        <p:txBody>
          <a:bodyPr wrap="square">
            <a:spAutoFit/>
          </a:bodyPr>
          <a:lstStyle/>
          <a:p>
            <a:r>
              <a:rPr sz="1200">
                <a:solidFill>
                  <a:srgbClr val="7EC699"/>
                </a:solidFill>
                <a:latin typeface="Consolas"/>
                <a:ea typeface="Consolas"/>
              </a:rPr>
              <a:t>-- 소유자가 객체 권한 부여</a:t>
            </a:r>
          </a:p>
          <a:p>
            <a:r>
              <a:rPr sz="1200">
                <a:solidFill>
                  <a:srgbClr val="E6E6E6"/>
                </a:solidFill>
                <a:latin typeface="Consolas"/>
                <a:ea typeface="Consolas"/>
              </a:rPr>
              <a:t>HR@salespdb&gt; GRANT SELECT, INSERT ON employees TO hr_report;</a:t>
            </a:r>
          </a:p>
          <a:p>
            <a:r>
              <a:rPr sz="1200">
                <a:solidFill>
                  <a:srgbClr val="7EC699"/>
                </a:solidFill>
                <a:latin typeface="Consolas"/>
                <a:ea typeface="Consolas"/>
              </a:rPr>
              <a:t>-- 특정 컬럼만 UPDATE 허용</a:t>
            </a:r>
          </a:p>
          <a:p>
            <a:r>
              <a:rPr sz="1200">
                <a:solidFill>
                  <a:srgbClr val="E6E6E6"/>
                </a:solidFill>
                <a:latin typeface="Consolas"/>
                <a:ea typeface="Consolas"/>
              </a:rPr>
              <a:t>HR@salespdb&gt; GRANT UPDATE (salary) ON employees TO hr_payroll;</a:t>
            </a:r>
          </a:p>
          <a:p>
            <a:r>
              <a:rPr sz="1200">
                <a:solidFill>
                  <a:srgbClr val="7EC699"/>
                </a:solidFill>
                <a:latin typeface="Consolas"/>
                <a:ea typeface="Consolas"/>
              </a:rPr>
              <a:t>-- 부여된 객체 권한 확인</a:t>
            </a:r>
          </a:p>
          <a:p>
            <a:r>
              <a:rPr sz="1200">
                <a:solidFill>
                  <a:srgbClr val="E6E6E6"/>
                </a:solidFill>
                <a:latin typeface="Consolas"/>
                <a:ea typeface="Consolas"/>
              </a:rPr>
              <a:t>HR@salespdb&gt; SELECT grantee, privilege, grantable</a:t>
            </a:r>
          </a:p>
          <a:p>
            <a:r>
              <a:rPr sz="1200">
                <a:solidFill>
                  <a:srgbClr val="E6E6E6"/>
                </a:solidFill>
                <a:latin typeface="Consolas"/>
                <a:ea typeface="Consolas"/>
              </a:rPr>
              <a:t>  2  FROM user_tab_privs WHERE table_name='EMPLOYEES';</a:t>
            </a:r>
          </a:p>
          <a:p>
            <a:r>
              <a:rPr sz="1200">
                <a:solidFill>
                  <a:srgbClr val="7EC699"/>
                </a:solidFill>
                <a:latin typeface="Consolas"/>
                <a:ea typeface="Consolas"/>
              </a:rPr>
              <a:t>-- 회수 (연쇄됨)</a:t>
            </a:r>
          </a:p>
          <a:p>
            <a:r>
              <a:rPr sz="1200">
                <a:solidFill>
                  <a:srgbClr val="E6E6E6"/>
                </a:solidFill>
                <a:latin typeface="Consolas"/>
                <a:ea typeface="Consolas"/>
              </a:rPr>
              <a:t>HR@salespdb&gt; REVOKE SELECT ON employees FROM hr_report;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22.D</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멀티테넌트 권한 부여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800"/>
              </a:spcAft>
            </a:pPr>
            <a:r>
              <a:rPr sz="1600">
                <a:solidFill>
                  <a:srgbClr val="FFFFFF"/>
                </a:solidFill>
                <a:latin typeface="맑은 고딕"/>
                <a:ea typeface="맑은 고딕"/>
              </a:rPr>
              <a:t>•  공통 권한 vs 로컬 권한</a:t>
            </a:r>
          </a:p>
          <a:p>
            <a:pPr>
              <a:spcAft>
                <a:spcPts val="800"/>
              </a:spcAft>
            </a:pPr>
            <a:r>
              <a:rPr sz="1600">
                <a:solidFill>
                  <a:srgbClr val="FFFFFF"/>
                </a:solidFill>
                <a:latin typeface="맑은 고딕"/>
                <a:ea typeface="맑은 고딕"/>
              </a:rPr>
              <a:t>•  CONTAINER=ALL / CURRENT</a:t>
            </a:r>
          </a:p>
          <a:p>
            <a:pPr>
              <a:spcAft>
                <a:spcPts val="800"/>
              </a:spcAft>
            </a:pPr>
            <a:r>
              <a:rPr sz="1600">
                <a:solidFill>
                  <a:srgbClr val="FFFFFF"/>
                </a:solidFill>
                <a:latin typeface="맑은 고딕"/>
                <a:ea typeface="맑은 고딕"/>
              </a:rPr>
              <a:t>•  위치·대상·절의 세 조합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공통 권한과 로컬 권한</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common vs local privilege</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800"/>
              </a:spcAft>
            </a:pPr>
            <a:r>
              <a:rPr sz="1800">
                <a:solidFill>
                  <a:srgbClr val="C0392B"/>
                </a:solidFill>
                <a:latin typeface="맑은 고딕"/>
                <a:ea typeface="맑은 고딕"/>
              </a:rPr>
              <a:t>•  공통 권한: 루트에서 공통 대상에 부여, 모든 컨테이너 적용</a:t>
            </a:r>
          </a:p>
          <a:p>
            <a:pPr>
              <a:spcAft>
                <a:spcPts val="800"/>
              </a:spcAft>
            </a:pPr>
            <a:r>
              <a:rPr sz="1800">
                <a:solidFill>
                  <a:srgbClr val="C0392B"/>
                </a:solidFill>
                <a:latin typeface="맑은 고딕"/>
                <a:ea typeface="맑은 고딕"/>
              </a:rPr>
              <a:t>•  로컬 권한: 특정 컨테이너(루트 또는 한 PDB)에서만 유효</a:t>
            </a:r>
          </a:p>
          <a:p>
            <a:pPr>
              <a:spcAft>
                <a:spcPts val="800"/>
              </a:spcAft>
            </a:pPr>
            <a:r>
              <a:rPr sz="1800">
                <a:solidFill>
                  <a:srgbClr val="C0392B"/>
                </a:solidFill>
                <a:latin typeface="맑은 고딕"/>
                <a:ea typeface="맑은 고딕"/>
              </a:rPr>
              <a:t>•  설계 이유: 전역 관리 편의 + PDB 격리 동시 충족</a:t>
            </a:r>
          </a:p>
          <a:p>
            <a:pPr>
              <a:spcAft>
                <a:spcPts val="800"/>
              </a:spcAft>
            </a:pPr>
            <a:r>
              <a:rPr sz="1800">
                <a:solidFill>
                  <a:srgbClr val="C0392B"/>
                </a:solidFill>
                <a:latin typeface="맑은 고딕"/>
                <a:ea typeface="맑은 고딕"/>
              </a:rPr>
              <a:t>•  COMMON 컬럼(CDB_* 뷰)으로 성격 구분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CONTAINER 절의 규칙</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CONTAINER=ALL / CURRENT</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800"/>
              </a:spcAft>
            </a:pPr>
            <a:r>
              <a:rPr sz="1800">
                <a:solidFill>
                  <a:srgbClr val="C0392B"/>
                </a:solidFill>
                <a:latin typeface="맑은 고딕"/>
                <a:ea typeface="맑은 고딕"/>
              </a:rPr>
              <a:t>•  CONTAINER=ALL: 루트 접속 + 공통 대상에서만, 전 컨테이너 적용</a:t>
            </a:r>
          </a:p>
          <a:p>
            <a:pPr>
              <a:spcAft>
                <a:spcPts val="800"/>
              </a:spcAft>
            </a:pPr>
            <a:r>
              <a:rPr sz="1800">
                <a:solidFill>
                  <a:srgbClr val="C0392B"/>
                </a:solidFill>
                <a:latin typeface="맑은 고딕"/>
                <a:ea typeface="맑은 고딕"/>
              </a:rPr>
              <a:t>•  CONTAINER=CURRENT(기본): 현재 컨테이너에만 로컬 적용</a:t>
            </a:r>
          </a:p>
          <a:p>
            <a:pPr>
              <a:spcAft>
                <a:spcPts val="800"/>
              </a:spcAft>
            </a:pPr>
            <a:r>
              <a:rPr sz="1800">
                <a:solidFill>
                  <a:srgbClr val="C0392B"/>
                </a:solidFill>
                <a:latin typeface="맑은 고딕"/>
                <a:ea typeface="맑은 고딕"/>
              </a:rPr>
              <a:t>•  절 생략 시 루트에서도 CURRENT처럼 → 전역이면 ALL 명시 필수</a:t>
            </a:r>
          </a:p>
          <a:p>
            <a:pPr>
              <a:spcAft>
                <a:spcPts val="800"/>
              </a:spcAft>
            </a:pPr>
            <a:r>
              <a:rPr sz="1800">
                <a:solidFill>
                  <a:srgbClr val="C0392B"/>
                </a:solidFill>
                <a:latin typeface="맑은 고딕"/>
                <a:ea typeface="맑은 고딕"/>
              </a:rPr>
              <a:t>•  PDB 내부에서는 ALL 사용 불가(로컬 부여만)</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실습: 멀티테넌트 권한 부여</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공통/로컬 부여</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4572000"/>
          </a:xfrm>
          <a:prstGeom prst="rect">
            <a:avLst/>
          </a:prstGeom>
          <a:noFill/>
        </p:spPr>
        <p:txBody>
          <a:bodyPr wrap="square">
            <a:spAutoFit/>
          </a:bodyPr>
          <a:lstStyle/>
          <a:p>
            <a:r>
              <a:rPr sz="1200">
                <a:solidFill>
                  <a:srgbClr val="7EC699"/>
                </a:solidFill>
                <a:latin typeface="Consolas"/>
                <a:ea typeface="Consolas"/>
              </a:rPr>
              <a:t>-- [CDB$ROOT] 공통 사용자에 공통 권한</a:t>
            </a:r>
          </a:p>
          <a:p>
            <a:r>
              <a:rPr sz="1200">
                <a:solidFill>
                  <a:srgbClr val="E6E6E6"/>
                </a:solidFill>
                <a:latin typeface="Consolas"/>
                <a:ea typeface="Consolas"/>
              </a:rPr>
              <a:t>SYS@cdb1&gt; SHOW con_name</a:t>
            </a:r>
          </a:p>
          <a:p>
            <a:r>
              <a:rPr sz="1200">
                <a:solidFill>
                  <a:srgbClr val="E6E6E6"/>
                </a:solidFill>
                <a:latin typeface="Consolas"/>
                <a:ea typeface="Consolas"/>
              </a:rPr>
              <a:t>CDB$ROOT</a:t>
            </a:r>
          </a:p>
          <a:p>
            <a:r>
              <a:rPr sz="1200">
                <a:solidFill>
                  <a:srgbClr val="E6E6E6"/>
                </a:solidFill>
                <a:latin typeface="Consolas"/>
                <a:ea typeface="Consolas"/>
              </a:rPr>
              <a:t>SYS@cdb1&gt; GRANT CREATE SESSION TO c##dba_common CONTAINER=ALL;</a:t>
            </a:r>
          </a:p>
          <a:p>
            <a:r>
              <a:rPr sz="1200">
                <a:solidFill>
                  <a:srgbClr val="E6E6E6"/>
                </a:solidFill>
                <a:latin typeface="Consolas"/>
                <a:ea typeface="Consolas"/>
              </a:rPr>
              <a:t>Grant succeeded.</a:t>
            </a:r>
          </a:p>
          <a:p>
            <a:r>
              <a:rPr sz="1200">
                <a:solidFill>
                  <a:srgbClr val="7EC699"/>
                </a:solidFill>
                <a:latin typeface="Consolas"/>
                <a:ea typeface="Consolas"/>
              </a:rPr>
              <a:t>-- [PDB] 로컬 권한 (CURRENT 기본)</a:t>
            </a:r>
          </a:p>
          <a:p>
            <a:r>
              <a:rPr sz="1200">
                <a:solidFill>
                  <a:srgbClr val="E6E6E6"/>
                </a:solidFill>
                <a:latin typeface="Consolas"/>
                <a:ea typeface="Consolas"/>
              </a:rPr>
              <a:t>SYS@cdb1&gt; ALTER SESSION SET CONTAINER=salespdb;</a:t>
            </a:r>
          </a:p>
          <a:p>
            <a:r>
              <a:rPr sz="1200">
                <a:solidFill>
                  <a:srgbClr val="E6E6E6"/>
                </a:solidFill>
                <a:latin typeface="Consolas"/>
                <a:ea typeface="Consolas"/>
              </a:rPr>
              <a:t>SYS@salespdb&gt; GRANT CREATE TABLE TO hr_dev;</a:t>
            </a:r>
          </a:p>
          <a:p>
            <a:r>
              <a:rPr sz="1200">
                <a:solidFill>
                  <a:srgbClr val="7EC699"/>
                </a:solidFill>
                <a:latin typeface="Consolas"/>
                <a:ea typeface="Consolas"/>
              </a:rPr>
              <a:t>-- 공통 회수는 루트에서 ALL로</a:t>
            </a:r>
          </a:p>
          <a:p>
            <a:r>
              <a:rPr sz="1200">
                <a:solidFill>
                  <a:srgbClr val="E6E6E6"/>
                </a:solidFill>
                <a:latin typeface="Consolas"/>
                <a:ea typeface="Consolas"/>
              </a:rPr>
              <a:t>SYS@cdb1&gt; REVOKE CREATE SESSION FROM c##dba_common CONTAINER=ALL;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22.E</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롤 개념·생성과 권한 할당</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800"/>
              </a:spcAft>
            </a:pPr>
            <a:r>
              <a:rPr sz="1600">
                <a:solidFill>
                  <a:srgbClr val="FFFFFF"/>
                </a:solidFill>
                <a:latin typeface="맑은 고딕"/>
                <a:ea typeface="맑은 고딕"/>
              </a:rPr>
              <a:t>•  롤의 이점 세 가지</a:t>
            </a:r>
          </a:p>
          <a:p>
            <a:pPr>
              <a:spcAft>
                <a:spcPts val="800"/>
              </a:spcAft>
            </a:pPr>
            <a:r>
              <a:rPr sz="1600">
                <a:solidFill>
                  <a:srgbClr val="FFFFFF"/>
                </a:solidFill>
                <a:latin typeface="맑은 고딕"/>
                <a:ea typeface="맑은 고딕"/>
              </a:rPr>
              <a:t>•  CREATE ROLE</a:t>
            </a:r>
          </a:p>
          <a:p>
            <a:pPr>
              <a:spcAft>
                <a:spcPts val="800"/>
              </a:spcAft>
            </a:pPr>
            <a:r>
              <a:rPr sz="1600">
                <a:solidFill>
                  <a:srgbClr val="FFFFFF"/>
                </a:solidFill>
                <a:latin typeface="맑은 고딕"/>
                <a:ea typeface="맑은 고딕"/>
              </a:rPr>
              <a:t>•  롤에 권한/롤 담기, 사용자에 부여</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롤(Role)의 개념과 이점</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role benefits</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800"/>
              </a:spcAft>
            </a:pPr>
            <a:r>
              <a:rPr sz="1800">
                <a:solidFill>
                  <a:srgbClr val="C0392B"/>
                </a:solidFill>
                <a:latin typeface="맑은 고딕"/>
                <a:ea typeface="맑은 고딕"/>
              </a:rPr>
              <a:t>•  롤 = 여러 권한을 하나의 이름으로 묶은 권한 집합</a:t>
            </a:r>
          </a:p>
          <a:p>
            <a:pPr>
              <a:spcAft>
                <a:spcPts val="800"/>
              </a:spcAft>
            </a:pPr>
            <a:r>
              <a:rPr sz="1800">
                <a:solidFill>
                  <a:srgbClr val="C0392B"/>
                </a:solidFill>
                <a:latin typeface="맑은 고딕"/>
                <a:ea typeface="맑은 고딕"/>
              </a:rPr>
              <a:t>•  ① 권한 관리 용이: 역할 단위로 부여</a:t>
            </a:r>
          </a:p>
          <a:p>
            <a:pPr>
              <a:spcAft>
                <a:spcPts val="800"/>
              </a:spcAft>
            </a:pPr>
            <a:r>
              <a:rPr sz="1800">
                <a:solidFill>
                  <a:srgbClr val="C0392B"/>
                </a:solidFill>
                <a:latin typeface="맑은 고딕"/>
                <a:ea typeface="맑은 고딕"/>
              </a:rPr>
              <a:t>•  ② 동적 관리: 롤 내용 변경이 모든 보유자에 즉시 반영</a:t>
            </a:r>
          </a:p>
          <a:p>
            <a:pPr>
              <a:spcAft>
                <a:spcPts val="800"/>
              </a:spcAft>
            </a:pPr>
            <a:r>
              <a:rPr sz="1800">
                <a:solidFill>
                  <a:srgbClr val="C0392B"/>
                </a:solidFill>
                <a:latin typeface="맑은 고딕"/>
                <a:ea typeface="맑은 고딕"/>
              </a:rPr>
              <a:t>•  ③ 선택적 가용성: 활성/비활성, 비밀번호·앱으로 보호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롤 생성과 권한 담기</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CREATE ROLE · GRANT to role</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800"/>
              </a:spcAft>
            </a:pPr>
            <a:r>
              <a:rPr sz="1800">
                <a:solidFill>
                  <a:srgbClr val="C0392B"/>
                </a:solidFill>
                <a:latin typeface="맑은 고딕"/>
                <a:ea typeface="맑은 고딕"/>
              </a:rPr>
              <a:t>•  CREATE ROLE 롤이름;  (CREATE ROLE 권한 필요)</a:t>
            </a:r>
          </a:p>
          <a:p>
            <a:pPr>
              <a:spcAft>
                <a:spcPts val="800"/>
              </a:spcAft>
            </a:pPr>
            <a:r>
              <a:rPr sz="1800">
                <a:solidFill>
                  <a:srgbClr val="C0392B"/>
                </a:solidFill>
                <a:latin typeface="맑은 고딕"/>
                <a:ea typeface="맑은 고딕"/>
              </a:rPr>
              <a:t>•  GRANT 권한 TO 롤;  → 시스템·객체 권한·다른 롤 담기 가능</a:t>
            </a:r>
          </a:p>
          <a:p>
            <a:pPr>
              <a:spcAft>
                <a:spcPts val="800"/>
              </a:spcAft>
            </a:pPr>
            <a:r>
              <a:rPr sz="1800">
                <a:solidFill>
                  <a:srgbClr val="C0392B"/>
                </a:solidFill>
                <a:latin typeface="맑은 고딕"/>
                <a:ea typeface="맑은 고딕"/>
              </a:rPr>
              <a:t>•  계층적 롤: 롤에 롤 부여(단방향, 순환 금지)</a:t>
            </a:r>
          </a:p>
          <a:p>
            <a:pPr>
              <a:spcAft>
                <a:spcPts val="800"/>
              </a:spcAft>
            </a:pPr>
            <a:r>
              <a:rPr sz="1800">
                <a:solidFill>
                  <a:srgbClr val="C0392B"/>
                </a:solidFill>
                <a:latin typeface="맑은 고딕"/>
                <a:ea typeface="맑은 고딕"/>
              </a:rPr>
              <a:t>•  롤에는 WITH GRANT OPTION 객체 권한 부여 불가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사용자에게 롤 부여</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GRANT role TO user</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800"/>
              </a:spcAft>
            </a:pPr>
            <a:r>
              <a:rPr sz="1800">
                <a:solidFill>
                  <a:srgbClr val="C0392B"/>
                </a:solidFill>
                <a:latin typeface="맑은 고딕"/>
                <a:ea typeface="맑은 고딕"/>
              </a:rPr>
              <a:t>•  GRANT 롤 TO 사용자 [WITH ADMIN OPTION];</a:t>
            </a:r>
          </a:p>
          <a:p>
            <a:pPr>
              <a:spcAft>
                <a:spcPts val="800"/>
              </a:spcAft>
            </a:pPr>
            <a:r>
              <a:rPr sz="1800">
                <a:solidFill>
                  <a:srgbClr val="C0392B"/>
                </a:solidFill>
                <a:latin typeface="맑은 고딕"/>
                <a:ea typeface="맑은 고딕"/>
              </a:rPr>
              <a:t>•  사용자는 롤을 통해 담긴 권한을 간접 사용</a:t>
            </a:r>
          </a:p>
          <a:p>
            <a:pPr>
              <a:spcAft>
                <a:spcPts val="800"/>
              </a:spcAft>
            </a:pPr>
            <a:r>
              <a:rPr sz="1800">
                <a:solidFill>
                  <a:srgbClr val="C0392B"/>
                </a:solidFill>
                <a:latin typeface="맑은 고딕"/>
                <a:ea typeface="맑은 고딕"/>
              </a:rPr>
              <a:t>•  부여 자격: 롤을 WITH ADMIN OPTION 보유 또는 GRANT ANY ROLE</a:t>
            </a:r>
          </a:p>
          <a:p>
            <a:pPr>
              <a:spcAft>
                <a:spcPts val="800"/>
              </a:spcAft>
            </a:pPr>
            <a:r>
              <a:rPr sz="1800">
                <a:solidFill>
                  <a:srgbClr val="C0392B"/>
                </a:solidFill>
                <a:latin typeface="맑은 고딕"/>
                <a:ea typeface="맑은 고딕"/>
              </a:rPr>
              <a:t>•  정의자 권한 PL/SQL 내부에서는 롤 권한 미적용 → 직접 부여 필요</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실습: 롤 생성·부여</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CREATE ROLE · 계층적 롤</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4572000"/>
          </a:xfrm>
          <a:prstGeom prst="rect">
            <a:avLst/>
          </a:prstGeom>
          <a:noFill/>
        </p:spPr>
        <p:txBody>
          <a:bodyPr wrap="square">
            <a:spAutoFit/>
          </a:bodyPr>
          <a:lstStyle/>
          <a:p>
            <a:r>
              <a:rPr sz="1200">
                <a:solidFill>
                  <a:srgbClr val="7EC699"/>
                </a:solidFill>
                <a:latin typeface="Consolas"/>
                <a:ea typeface="Consolas"/>
              </a:rPr>
              <a:t>-- 롤 생성</a:t>
            </a:r>
          </a:p>
          <a:p>
            <a:r>
              <a:rPr sz="1200">
                <a:solidFill>
                  <a:srgbClr val="E6E6E6"/>
                </a:solidFill>
                <a:latin typeface="Consolas"/>
                <a:ea typeface="Consolas"/>
              </a:rPr>
              <a:t>SYS@salespdb&gt; CREATE ROLE hr_clerk_role;</a:t>
            </a:r>
          </a:p>
          <a:p>
            <a:r>
              <a:rPr sz="1200">
                <a:solidFill>
                  <a:srgbClr val="E6E6E6"/>
                </a:solidFill>
                <a:latin typeface="Consolas"/>
                <a:ea typeface="Consolas"/>
              </a:rPr>
              <a:t>Role created.</a:t>
            </a:r>
          </a:p>
          <a:p>
            <a:r>
              <a:rPr sz="1200">
                <a:solidFill>
                  <a:srgbClr val="7EC699"/>
                </a:solidFill>
                <a:latin typeface="Consolas"/>
                <a:ea typeface="Consolas"/>
              </a:rPr>
              <a:t>-- 롤에 권한 담기</a:t>
            </a:r>
          </a:p>
          <a:p>
            <a:r>
              <a:rPr sz="1200">
                <a:solidFill>
                  <a:srgbClr val="E6E6E6"/>
                </a:solidFill>
                <a:latin typeface="Consolas"/>
                <a:ea typeface="Consolas"/>
              </a:rPr>
              <a:t>SYS@salespdb&gt; GRANT CREATE SESSION TO hr_clerk_role;</a:t>
            </a:r>
          </a:p>
          <a:p>
            <a:r>
              <a:rPr sz="1200">
                <a:solidFill>
                  <a:srgbClr val="E6E6E6"/>
                </a:solidFill>
                <a:latin typeface="Consolas"/>
                <a:ea typeface="Consolas"/>
              </a:rPr>
              <a:t>SYS@salespdb&gt; GRANT SELECT, INSERT ON hr.employees TO hr_clerk_role;</a:t>
            </a:r>
          </a:p>
          <a:p>
            <a:r>
              <a:rPr sz="1200">
                <a:solidFill>
                  <a:srgbClr val="7EC699"/>
                </a:solidFill>
                <a:latin typeface="Consolas"/>
                <a:ea typeface="Consolas"/>
              </a:rPr>
              <a:t>-- 계층적 롤</a:t>
            </a:r>
          </a:p>
          <a:p>
            <a:r>
              <a:rPr sz="1200">
                <a:solidFill>
                  <a:srgbClr val="E6E6E6"/>
                </a:solidFill>
                <a:latin typeface="Consolas"/>
                <a:ea typeface="Consolas"/>
              </a:rPr>
              <a:t>SYS@salespdb&gt; GRANT hr_clerk_role TO hr_manager_role;</a:t>
            </a:r>
          </a:p>
          <a:p>
            <a:r>
              <a:rPr sz="1200">
                <a:solidFill>
                  <a:srgbClr val="7EC699"/>
                </a:solidFill>
                <a:latin typeface="Consolas"/>
                <a:ea typeface="Consolas"/>
              </a:rPr>
              <a:t>-- 사용자에게 부여</a:t>
            </a:r>
          </a:p>
          <a:p>
            <a:r>
              <a:rPr sz="1200">
                <a:solidFill>
                  <a:srgbClr val="E6E6E6"/>
                </a:solidFill>
                <a:latin typeface="Consolas"/>
                <a:ea typeface="Consolas"/>
              </a:rPr>
              <a:t>SYS@salespdb&gt; GRANT hr_clerk_role TO scott;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22.F</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Oracle 제공 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800"/>
              </a:spcAft>
            </a:pPr>
            <a:r>
              <a:rPr sz="1600">
                <a:solidFill>
                  <a:srgbClr val="FFFFFF"/>
                </a:solidFill>
                <a:latin typeface="맑은 고딕"/>
                <a:ea typeface="맑은 고딕"/>
              </a:rPr>
              <a:t>•  CONNECT/RESOURCE/DBA</a:t>
            </a:r>
          </a:p>
          <a:p>
            <a:pPr>
              <a:spcAft>
                <a:spcPts val="800"/>
              </a:spcAft>
            </a:pPr>
            <a:r>
              <a:rPr sz="1600">
                <a:solidFill>
                  <a:srgbClr val="FFFFFF"/>
                </a:solidFill>
                <a:latin typeface="맑은 고딕"/>
                <a:ea typeface="맑은 고딕"/>
              </a:rPr>
              <a:t>•  SELECT_CATALOG_ROLE 등</a:t>
            </a:r>
          </a:p>
          <a:p>
            <a:pPr>
              <a:spcAft>
                <a:spcPts val="800"/>
              </a:spcAft>
            </a:pPr>
            <a:r>
              <a:rPr sz="1600">
                <a:solidFill>
                  <a:srgbClr val="FFFFFF"/>
                </a:solidFill>
                <a:latin typeface="맑은 고딕"/>
                <a:ea typeface="맑은 고딕"/>
              </a:rPr>
              <a:t>•  내용 확인 후 신중히 사용</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주요 제공 롤</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predefined roles</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800"/>
              </a:spcAft>
            </a:pPr>
            <a:r>
              <a:rPr sz="1800">
                <a:solidFill>
                  <a:srgbClr val="C0392B"/>
                </a:solidFill>
                <a:latin typeface="맑은 고딕"/>
                <a:ea typeface="맑은 고딕"/>
              </a:rPr>
              <a:t>•  CONNECT: 사실상 CREATE SESSION 하나만</a:t>
            </a:r>
          </a:p>
          <a:p>
            <a:pPr>
              <a:spcAft>
                <a:spcPts val="800"/>
              </a:spcAft>
            </a:pPr>
            <a:r>
              <a:rPr sz="1800">
                <a:solidFill>
                  <a:srgbClr val="C0392B"/>
                </a:solidFill>
                <a:latin typeface="맑은 고딕"/>
                <a:ea typeface="맑은 고딕"/>
              </a:rPr>
              <a:t>•  RESOURCE: 객체 생성 권한(CREATE SESSION 없음)</a:t>
            </a:r>
          </a:p>
          <a:p>
            <a:pPr>
              <a:spcAft>
                <a:spcPts val="800"/>
              </a:spcAft>
            </a:pPr>
            <a:r>
              <a:rPr sz="1800">
                <a:solidFill>
                  <a:srgbClr val="C0392B"/>
                </a:solidFill>
                <a:latin typeface="맑은 고딕"/>
                <a:ea typeface="맑은 고딕"/>
              </a:rPr>
              <a:t>•  DBA: 거의 모든 시스템 권한(WITH ADMIN OPTION)</a:t>
            </a:r>
          </a:p>
          <a:p>
            <a:pPr>
              <a:spcAft>
                <a:spcPts val="800"/>
              </a:spcAft>
            </a:pPr>
            <a:r>
              <a:rPr sz="1800">
                <a:solidFill>
                  <a:srgbClr val="C0392B"/>
                </a:solidFill>
                <a:latin typeface="맑은 고딕"/>
                <a:ea typeface="맑은 고딕"/>
              </a:rPr>
              <a:t>•  SELECT_CATALOG_ROLE: 딕셔너리 조회 / PDB_DBA: PDB 관리</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제공 롤 사용 시 주의</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cautions</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800"/>
              </a:spcAft>
            </a:pPr>
            <a:r>
              <a:rPr sz="1800">
                <a:solidFill>
                  <a:srgbClr val="C0392B"/>
                </a:solidFill>
                <a:latin typeface="맑은 고딕"/>
                <a:ea typeface="맑은 고딕"/>
              </a:rPr>
              <a:t>•  RESOURCE만 주면 로그인 불가 → CONNECT와 함께</a:t>
            </a:r>
          </a:p>
          <a:p>
            <a:pPr>
              <a:spcAft>
                <a:spcPts val="800"/>
              </a:spcAft>
            </a:pPr>
            <a:r>
              <a:rPr sz="1800">
                <a:solidFill>
                  <a:srgbClr val="C0392B"/>
                </a:solidFill>
                <a:latin typeface="맑은 고딕"/>
                <a:ea typeface="맑은 고딕"/>
              </a:rPr>
              <a:t>•  습관적 CONNECT/RESOURCE 부여는 최소 권한 원칙 위배</a:t>
            </a:r>
          </a:p>
          <a:p>
            <a:pPr>
              <a:spcAft>
                <a:spcPts val="800"/>
              </a:spcAft>
            </a:pPr>
            <a:r>
              <a:rPr sz="1800">
                <a:solidFill>
                  <a:srgbClr val="C0392B"/>
                </a:solidFill>
                <a:latin typeface="맑은 고딕"/>
                <a:ea typeface="맑은 고딕"/>
              </a:rPr>
              <a:t>•  버전에 따라 내용 변동 → ROLE_SYS_PRIVS로 확인 후 사용</a:t>
            </a:r>
          </a:p>
          <a:p>
            <a:pPr>
              <a:spcAft>
                <a:spcPts val="800"/>
              </a:spcAft>
            </a:pPr>
            <a:r>
              <a:rPr sz="1800">
                <a:solidFill>
                  <a:srgbClr val="C0392B"/>
                </a:solidFill>
                <a:latin typeface="맑은 고딕"/>
                <a:ea typeface="맑은 고딕"/>
              </a:rPr>
              <a:t>•  GRANT ANY PRIVILEGE/ROLE 등 위임형은 감사 대상</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실습: 제공 롤 내용 확인</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ROLE_SYS_PRIVS · DBA_ROLES</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4572000"/>
          </a:xfrm>
          <a:prstGeom prst="rect">
            <a:avLst/>
          </a:prstGeom>
          <a:noFill/>
        </p:spPr>
        <p:txBody>
          <a:bodyPr wrap="square">
            <a:spAutoFit/>
          </a:bodyPr>
          <a:lstStyle/>
          <a:p>
            <a:r>
              <a:rPr sz="1200">
                <a:solidFill>
                  <a:srgbClr val="7EC699"/>
                </a:solidFill>
                <a:latin typeface="Consolas"/>
                <a:ea typeface="Consolas"/>
              </a:rPr>
              <a:t>-- CONNECT 롤에 담긴 시스템 권한</a:t>
            </a:r>
          </a:p>
          <a:p>
            <a:r>
              <a:rPr sz="1200">
                <a:solidFill>
                  <a:srgbClr val="E6E6E6"/>
                </a:solidFill>
                <a:latin typeface="Consolas"/>
                <a:ea typeface="Consolas"/>
              </a:rPr>
              <a:t>SYS@salespdb&gt; SELECT privilege FROM role_sys_privs</a:t>
            </a:r>
          </a:p>
          <a:p>
            <a:r>
              <a:rPr sz="1200">
                <a:solidFill>
                  <a:srgbClr val="E6E6E6"/>
                </a:solidFill>
                <a:latin typeface="Consolas"/>
                <a:ea typeface="Consolas"/>
              </a:rPr>
              <a:t>  2  WHERE role='CONNECT';</a:t>
            </a:r>
          </a:p>
          <a:p>
            <a:r>
              <a:rPr sz="1200">
                <a:solidFill>
                  <a:srgbClr val="E6E6E6"/>
                </a:solidFill>
                <a:latin typeface="Consolas"/>
                <a:ea typeface="Consolas"/>
              </a:rPr>
              <a:t>PRIVILEGE</a:t>
            </a:r>
          </a:p>
          <a:p>
            <a:r>
              <a:rPr sz="1200">
                <a:solidFill>
                  <a:srgbClr val="7EC699"/>
                </a:solidFill>
                <a:latin typeface="Consolas"/>
                <a:ea typeface="Consolas"/>
              </a:rPr>
              <a:t>--------------------</a:t>
            </a:r>
          </a:p>
          <a:p>
            <a:r>
              <a:rPr sz="1200">
                <a:solidFill>
                  <a:srgbClr val="E6E6E6"/>
                </a:solidFill>
                <a:latin typeface="Consolas"/>
                <a:ea typeface="Consolas"/>
              </a:rPr>
              <a:t>CREATE SESSION</a:t>
            </a:r>
          </a:p>
          <a:p>
            <a:r>
              <a:rPr sz="1200">
                <a:solidFill>
                  <a:srgbClr val="7EC699"/>
                </a:solidFill>
                <a:latin typeface="Consolas"/>
                <a:ea typeface="Consolas"/>
              </a:rPr>
              <a:t>-- RESOURCE 롤 내용(CREATE SESSION 없음 확인)</a:t>
            </a:r>
          </a:p>
          <a:p>
            <a:r>
              <a:rPr sz="1200">
                <a:solidFill>
                  <a:srgbClr val="E6E6E6"/>
                </a:solidFill>
                <a:latin typeface="Consolas"/>
                <a:ea typeface="Consolas"/>
              </a:rPr>
              <a:t>SYS@salespdb&gt; SELECT privilege FROM role_sys_privs WHERE role='RESOURCE';</a:t>
            </a:r>
          </a:p>
          <a:p>
            <a:r>
              <a:rPr sz="1200">
                <a:solidFill>
                  <a:srgbClr val="7EC699"/>
                </a:solidFill>
                <a:latin typeface="Consolas"/>
                <a:ea typeface="Consolas"/>
              </a:rPr>
              <a:t>-- 롤 목록과 인증 유형</a:t>
            </a:r>
          </a:p>
          <a:p>
            <a:r>
              <a:rPr sz="1200">
                <a:solidFill>
                  <a:srgbClr val="E6E6E6"/>
                </a:solidFill>
                <a:latin typeface="Consolas"/>
                <a:ea typeface="Consolas"/>
              </a:rPr>
              <a:t>SYS@salespdb&gt; SELECT role, authentication_type FROM dba_roles;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22.G</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멀티테넌트 롤 (공통/로컬)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800"/>
              </a:spcAft>
            </a:pPr>
            <a:r>
              <a:rPr sz="1600">
                <a:solidFill>
                  <a:srgbClr val="FFFFFF"/>
                </a:solidFill>
                <a:latin typeface="맑은 고딕"/>
                <a:ea typeface="맑은 고딕"/>
              </a:rPr>
              <a:t>•  공통 롤: C## 접두사, 루트 생성</a:t>
            </a:r>
          </a:p>
          <a:p>
            <a:pPr>
              <a:spcAft>
                <a:spcPts val="800"/>
              </a:spcAft>
            </a:pPr>
            <a:r>
              <a:rPr sz="1600">
                <a:solidFill>
                  <a:srgbClr val="FFFFFF"/>
                </a:solidFill>
                <a:latin typeface="맑은 고딕"/>
                <a:ea typeface="맑은 고딕"/>
              </a:rPr>
              <a:t>•  로컬 롤: 접두사 없이 PDB 생성</a:t>
            </a:r>
          </a:p>
          <a:p>
            <a:pPr>
              <a:spcAft>
                <a:spcPts val="800"/>
              </a:spcAft>
            </a:pPr>
            <a:r>
              <a:rPr sz="1600">
                <a:solidFill>
                  <a:srgbClr val="FFFFFF"/>
                </a:solidFill>
                <a:latin typeface="맑은 고딕"/>
                <a:ea typeface="맑은 고딕"/>
              </a:rPr>
              <a:t>•  조합 규칙</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공통 롤과 로컬 롤</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common vs local role</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800"/>
              </a:spcAft>
            </a:pPr>
            <a:r>
              <a:rPr sz="1800">
                <a:solidFill>
                  <a:srgbClr val="C0392B"/>
                </a:solidFill>
                <a:latin typeface="맑은 고딕"/>
                <a:ea typeface="맑은 고딕"/>
              </a:rPr>
              <a:t>•  공통 롤: 루트에서 생성, C## 접두사 필수, 모든 컨테이너 존재</a:t>
            </a:r>
          </a:p>
          <a:p>
            <a:pPr>
              <a:spcAft>
                <a:spcPts val="800"/>
              </a:spcAft>
            </a:pPr>
            <a:r>
              <a:rPr sz="1800">
                <a:solidFill>
                  <a:srgbClr val="C0392B"/>
                </a:solidFill>
                <a:latin typeface="맑은 고딕"/>
                <a:ea typeface="맑은 고딕"/>
              </a:rPr>
              <a:t>•  로컬 롤: 특정 PDB에서 생성, 접두사 금지, 그 PDB에만</a:t>
            </a:r>
          </a:p>
          <a:p>
            <a:pPr>
              <a:spcAft>
                <a:spcPts val="800"/>
              </a:spcAft>
            </a:pPr>
            <a:r>
              <a:rPr sz="1800">
                <a:solidFill>
                  <a:srgbClr val="C0392B"/>
                </a:solidFill>
                <a:latin typeface="맑은 고딕"/>
                <a:ea typeface="맑은 고딕"/>
              </a:rPr>
              <a:t>•  CONNECT/RESOURCE/DBA는 오라클이 만든 공통 롤</a:t>
            </a:r>
          </a:p>
          <a:p>
            <a:pPr>
              <a:spcAft>
                <a:spcPts val="800"/>
              </a:spcAft>
            </a:pPr>
            <a:r>
              <a:rPr sz="1800">
                <a:solidFill>
                  <a:srgbClr val="C0392B"/>
                </a:solidFill>
                <a:latin typeface="맑은 고딕"/>
                <a:ea typeface="맑은 고딕"/>
              </a:rPr>
              <a:t>•  공통 롤 부여도 CONTAINER=ALL/CURRENT 규칙 적용</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실습: 공통/로컬 롤 생성·부여</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CREATE ROLE ... CONTAINER</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4572000"/>
          </a:xfrm>
          <a:prstGeom prst="rect">
            <a:avLst/>
          </a:prstGeom>
          <a:noFill/>
        </p:spPr>
        <p:txBody>
          <a:bodyPr wrap="square">
            <a:spAutoFit/>
          </a:bodyPr>
          <a:lstStyle/>
          <a:p>
            <a:r>
              <a:rPr sz="1200">
                <a:solidFill>
                  <a:srgbClr val="7EC699"/>
                </a:solidFill>
                <a:latin typeface="Consolas"/>
                <a:ea typeface="Consolas"/>
              </a:rPr>
              <a:t>-- [CDB$ROOT] 공통 롤 (C## 필수)</a:t>
            </a:r>
          </a:p>
          <a:p>
            <a:r>
              <a:rPr sz="1200">
                <a:solidFill>
                  <a:srgbClr val="E6E6E6"/>
                </a:solidFill>
                <a:latin typeface="Consolas"/>
                <a:ea typeface="Consolas"/>
              </a:rPr>
              <a:t>SYS@cdb1&gt; CREATE ROLE c##monitor_role CONTAINER=ALL;</a:t>
            </a:r>
          </a:p>
          <a:p>
            <a:r>
              <a:rPr sz="1200">
                <a:solidFill>
                  <a:srgbClr val="E6E6E6"/>
                </a:solidFill>
                <a:latin typeface="Consolas"/>
                <a:ea typeface="Consolas"/>
              </a:rPr>
              <a:t>Role created.</a:t>
            </a:r>
          </a:p>
          <a:p>
            <a:r>
              <a:rPr sz="1200">
                <a:solidFill>
                  <a:srgbClr val="7EC699"/>
                </a:solidFill>
                <a:latin typeface="Consolas"/>
                <a:ea typeface="Consolas"/>
              </a:rPr>
              <a:t>-- 공통 롤에 권한, 공통 사용자에 부여</a:t>
            </a:r>
          </a:p>
          <a:p>
            <a:r>
              <a:rPr sz="1200">
                <a:solidFill>
                  <a:srgbClr val="E6E6E6"/>
                </a:solidFill>
                <a:latin typeface="Consolas"/>
                <a:ea typeface="Consolas"/>
              </a:rPr>
              <a:t>SYS@cdb1&gt; GRANT SELECT_CATALOG_ROLE TO c##monitor_role CONTAINER=ALL;</a:t>
            </a:r>
          </a:p>
          <a:p>
            <a:r>
              <a:rPr sz="1200">
                <a:solidFill>
                  <a:srgbClr val="E6E6E6"/>
                </a:solidFill>
                <a:latin typeface="Consolas"/>
                <a:ea typeface="Consolas"/>
              </a:rPr>
              <a:t>SYS@cdb1&gt; GRANT c##monitor_role TO c##dba_common CONTAINER=ALL;</a:t>
            </a:r>
          </a:p>
          <a:p>
            <a:r>
              <a:rPr sz="1200">
                <a:solidFill>
                  <a:srgbClr val="7EC699"/>
                </a:solidFill>
                <a:latin typeface="Consolas"/>
                <a:ea typeface="Consolas"/>
              </a:rPr>
              <a:t>-- [PDB] 로컬 롤</a:t>
            </a:r>
          </a:p>
          <a:p>
            <a:r>
              <a:rPr sz="1200">
                <a:solidFill>
                  <a:srgbClr val="E6E6E6"/>
                </a:solidFill>
                <a:latin typeface="Consolas"/>
                <a:ea typeface="Consolas"/>
              </a:rPr>
              <a:t>SYS@cdb1&gt; ALTER SESSION SET CONTAINER=salespdb;</a:t>
            </a:r>
          </a:p>
          <a:p>
            <a:r>
              <a:rPr sz="1200">
                <a:solidFill>
                  <a:srgbClr val="E6E6E6"/>
                </a:solidFill>
                <a:latin typeface="Consolas"/>
                <a:ea typeface="Consolas"/>
              </a:rPr>
              <a:t>SYS@salespdb&gt; CREATE ROLE sales_report_role;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22.H</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보안 강화 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800"/>
              </a:spcAft>
            </a:pPr>
            <a:r>
              <a:rPr sz="1600">
                <a:solidFill>
                  <a:srgbClr val="FFFFFF"/>
                </a:solidFill>
                <a:latin typeface="맑은 고딕"/>
                <a:ea typeface="맑은 고딕"/>
              </a:rPr>
              <a:t>•  비밀번호 필요 롤(IDENTIFIED BY)</a:t>
            </a:r>
          </a:p>
          <a:p>
            <a:pPr>
              <a:spcAft>
                <a:spcPts val="800"/>
              </a:spcAft>
            </a:pPr>
            <a:r>
              <a:rPr sz="1600">
                <a:solidFill>
                  <a:srgbClr val="FFFFFF"/>
                </a:solidFill>
                <a:latin typeface="맑은 고딕"/>
                <a:ea typeface="맑은 고딕"/>
              </a:rPr>
              <a:t>•  응용프로그램 롤(IDENTIFIED USING)</a:t>
            </a:r>
          </a:p>
          <a:p>
            <a:pPr>
              <a:spcAft>
                <a:spcPts val="800"/>
              </a:spcAft>
            </a:pPr>
            <a:r>
              <a:rPr sz="1600">
                <a:solidFill>
                  <a:srgbClr val="FFFFFF"/>
                </a:solidFill>
                <a:latin typeface="맑은 고딕"/>
                <a:ea typeface="맑은 고딕"/>
              </a:rPr>
              <a:t>•  민감 권한을 비-기본 롤로</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비밀번호 필요 롤</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IDENTIFIED BY</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800"/>
              </a:spcAft>
            </a:pPr>
            <a:r>
              <a:rPr sz="1800">
                <a:solidFill>
                  <a:srgbClr val="C0392B"/>
                </a:solidFill>
                <a:latin typeface="맑은 고딕"/>
                <a:ea typeface="맑은 고딕"/>
              </a:rPr>
              <a:t>•  CREATE ROLE 롤 IDENTIFIED BY 비밀번호;</a:t>
            </a:r>
          </a:p>
          <a:p>
            <a:pPr>
              <a:spcAft>
                <a:spcPts val="800"/>
              </a:spcAft>
            </a:pPr>
            <a:r>
              <a:rPr sz="1800">
                <a:solidFill>
                  <a:srgbClr val="C0392B"/>
                </a:solidFill>
                <a:latin typeface="맑은 고딕"/>
                <a:ea typeface="맑은 고딕"/>
              </a:rPr>
              <a:t>•  활성화 시 SET ROLE에서 비밀번호 제시 필요</a:t>
            </a:r>
          </a:p>
          <a:p>
            <a:pPr>
              <a:spcAft>
                <a:spcPts val="800"/>
              </a:spcAft>
            </a:pPr>
            <a:r>
              <a:rPr sz="1800">
                <a:solidFill>
                  <a:srgbClr val="C0392B"/>
                </a:solidFill>
                <a:latin typeface="맑은 고딕"/>
                <a:ea typeface="맑은 고딕"/>
              </a:rPr>
              <a:t>•  부여돼 있어도 비밀번호 모르면 못 켬 → 상시 활성 방지</a:t>
            </a:r>
          </a:p>
          <a:p>
            <a:pPr>
              <a:spcAft>
                <a:spcPts val="800"/>
              </a:spcAft>
            </a:pPr>
            <a:r>
              <a:rPr sz="1800">
                <a:solidFill>
                  <a:srgbClr val="C0392B"/>
                </a:solidFill>
                <a:latin typeface="맑은 고딕"/>
                <a:ea typeface="맑은 고딕"/>
              </a:rPr>
              <a:t>•  보통 DEFAULT ROLE에서 제외해 필요 시만 활성화</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응용프로그램 롤</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IDENTIFIED USING (secure application role)</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800"/>
              </a:spcAft>
            </a:pPr>
            <a:r>
              <a:rPr sz="1800">
                <a:solidFill>
                  <a:srgbClr val="C0392B"/>
                </a:solidFill>
                <a:latin typeface="맑은 고딕"/>
                <a:ea typeface="맑은 고딕"/>
              </a:rPr>
              <a:t>•  CREATE ROLE 롤 IDENTIFIED USING 스키마.패키지;</a:t>
            </a:r>
          </a:p>
          <a:p>
            <a:pPr>
              <a:spcAft>
                <a:spcPts val="800"/>
              </a:spcAft>
            </a:pPr>
            <a:r>
              <a:rPr sz="1800">
                <a:solidFill>
                  <a:srgbClr val="C0392B"/>
                </a:solidFill>
                <a:latin typeface="맑은 고딕"/>
                <a:ea typeface="맑은 고딕"/>
              </a:rPr>
              <a:t>•  지정 PL/SQL 패키지가 DBMS_SESSION.SET_ROLE 호출 시만 활성</a:t>
            </a:r>
          </a:p>
          <a:p>
            <a:pPr>
              <a:spcAft>
                <a:spcPts val="800"/>
              </a:spcAft>
            </a:pPr>
            <a:r>
              <a:rPr sz="1800">
                <a:solidFill>
                  <a:srgbClr val="C0392B"/>
                </a:solidFill>
                <a:latin typeface="맑은 고딕"/>
                <a:ea typeface="맑은 고딕"/>
              </a:rPr>
              <a:t>•  패키지 안에서 IP·시간·모듈명 등 조건 검사 가능</a:t>
            </a:r>
          </a:p>
          <a:p>
            <a:pPr>
              <a:spcAft>
                <a:spcPts val="800"/>
              </a:spcAft>
            </a:pPr>
            <a:r>
              <a:rPr sz="1800">
                <a:solidFill>
                  <a:srgbClr val="C0392B"/>
                </a:solidFill>
                <a:latin typeface="맑은 고딕"/>
                <a:ea typeface="맑은 고딕"/>
              </a:rPr>
              <a:t>•  SQL 인젝션·계정 탈취 시에도 오용 차단</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실습: 비밀번호 롤 구성</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IDENTIFIED BY · SET ROLE</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4572000"/>
          </a:xfrm>
          <a:prstGeom prst="rect">
            <a:avLst/>
          </a:prstGeom>
          <a:noFill/>
        </p:spPr>
        <p:txBody>
          <a:bodyPr wrap="square">
            <a:spAutoFit/>
          </a:bodyPr>
          <a:lstStyle/>
          <a:p>
            <a:r>
              <a:rPr sz="1200">
                <a:solidFill>
                  <a:srgbClr val="7EC699"/>
                </a:solidFill>
                <a:latin typeface="Consolas"/>
                <a:ea typeface="Consolas"/>
              </a:rPr>
              <a:t>-- 비밀번호로 보호되는 롤</a:t>
            </a:r>
          </a:p>
          <a:p>
            <a:r>
              <a:rPr sz="1200">
                <a:solidFill>
                  <a:srgbClr val="E6E6E6"/>
                </a:solidFill>
                <a:latin typeface="Consolas"/>
                <a:ea typeface="Consolas"/>
              </a:rPr>
              <a:t>SYS@salespdb&gt; CREATE ROLE hr_admin_role IDENTIFIED BY Adm1n#2024;</a:t>
            </a:r>
          </a:p>
          <a:p>
            <a:r>
              <a:rPr sz="1200">
                <a:solidFill>
                  <a:srgbClr val="E6E6E6"/>
                </a:solidFill>
                <a:latin typeface="Consolas"/>
                <a:ea typeface="Consolas"/>
              </a:rPr>
              <a:t>Role created.</a:t>
            </a:r>
          </a:p>
          <a:p>
            <a:r>
              <a:rPr sz="1200">
                <a:solidFill>
                  <a:srgbClr val="E6E6E6"/>
                </a:solidFill>
                <a:latin typeface="Consolas"/>
                <a:ea typeface="Consolas"/>
              </a:rPr>
              <a:t>SYS@salespdb&gt; GRANT DELETE ON hr.employees TO hr_admin_role;</a:t>
            </a:r>
          </a:p>
          <a:p>
            <a:r>
              <a:rPr sz="1200">
                <a:solidFill>
                  <a:srgbClr val="E6E6E6"/>
                </a:solidFill>
                <a:latin typeface="Consolas"/>
                <a:ea typeface="Consolas"/>
              </a:rPr>
              <a:t>SYS@salespdb&gt; GRANT hr_admin_role TO scott;</a:t>
            </a:r>
          </a:p>
          <a:p>
            <a:r>
              <a:rPr sz="1200">
                <a:solidFill>
                  <a:srgbClr val="7EC699"/>
                </a:solidFill>
                <a:latin typeface="Consolas"/>
                <a:ea typeface="Consolas"/>
              </a:rPr>
              <a:t>-- 기본 롤에서 제외</a:t>
            </a:r>
          </a:p>
          <a:p>
            <a:r>
              <a:rPr sz="1200">
                <a:solidFill>
                  <a:srgbClr val="E6E6E6"/>
                </a:solidFill>
                <a:latin typeface="Consolas"/>
                <a:ea typeface="Consolas"/>
              </a:rPr>
              <a:t>SYS@salespdb&gt; ALTER USER scott DEFAULT ROLE ALL EXCEPT hr_admin_role;</a:t>
            </a:r>
          </a:p>
          <a:p>
            <a:r>
              <a:rPr sz="1200">
                <a:solidFill>
                  <a:srgbClr val="7EC699"/>
                </a:solidFill>
                <a:latin typeface="Consolas"/>
                <a:ea typeface="Consolas"/>
              </a:rPr>
              <a:t>-- 활성화는 비밀번호로만</a:t>
            </a:r>
          </a:p>
          <a:p>
            <a:r>
              <a:rPr sz="1200">
                <a:solidFill>
                  <a:srgbClr val="E6E6E6"/>
                </a:solidFill>
                <a:latin typeface="Consolas"/>
                <a:ea typeface="Consolas"/>
              </a:rPr>
              <a:t>SCOTT@salespdb&gt; SET ROLE hr_admin_role IDENTIFIED BY Adm1n#2024;</a:t>
            </a:r>
          </a:p>
          <a:p>
            <a:r>
              <a:rPr sz="1200">
                <a:solidFill>
                  <a:srgbClr val="E6E6E6"/>
                </a:solidFill>
                <a:latin typeface="Consolas"/>
                <a:ea typeface="Consolas"/>
              </a:rPr>
              <a:t>Role set.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22.I</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롤 활성화·기본 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800"/>
              </a:spcAft>
            </a:pPr>
            <a:r>
              <a:rPr sz="1600">
                <a:solidFill>
                  <a:srgbClr val="FFFFFF"/>
                </a:solidFill>
                <a:latin typeface="맑은 고딕"/>
                <a:ea typeface="맑은 고딕"/>
              </a:rPr>
              <a:t>•  부여됨 ≠ 활성화됨</a:t>
            </a:r>
          </a:p>
          <a:p>
            <a:pPr>
              <a:spcAft>
                <a:spcPts val="800"/>
              </a:spcAft>
            </a:pPr>
            <a:r>
              <a:rPr sz="1600">
                <a:solidFill>
                  <a:srgbClr val="FFFFFF"/>
                </a:solidFill>
                <a:latin typeface="맑은 고딕"/>
                <a:ea typeface="맑은 고딕"/>
              </a:rPr>
              <a:t>•  SET ROLE</a:t>
            </a:r>
          </a:p>
          <a:p>
            <a:pPr>
              <a:spcAft>
                <a:spcPts val="800"/>
              </a:spcAft>
            </a:pPr>
            <a:r>
              <a:rPr sz="1600">
                <a:solidFill>
                  <a:srgbClr val="FFFFFF"/>
                </a:solidFill>
                <a:latin typeface="맑은 고딕"/>
                <a:ea typeface="맑은 고딕"/>
              </a:rPr>
              <a:t>•  DEFAULT ROLE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SET ROLE와 DEFAULT ROLE</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enable roles</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800"/>
              </a:spcAft>
            </a:pPr>
            <a:r>
              <a:rPr sz="1800">
                <a:solidFill>
                  <a:srgbClr val="C0392B"/>
                </a:solidFill>
                <a:latin typeface="맑은 고딕"/>
                <a:ea typeface="맑은 고딕"/>
              </a:rPr>
              <a:t>•  기본 롤: 로그인 시 자동 활성화 / 비-기본 롤: SET ROLE 필요</a:t>
            </a:r>
          </a:p>
          <a:p>
            <a:pPr>
              <a:spcAft>
                <a:spcPts val="800"/>
              </a:spcAft>
            </a:pPr>
            <a:r>
              <a:rPr sz="1800">
                <a:solidFill>
                  <a:srgbClr val="C0392B"/>
                </a:solidFill>
                <a:latin typeface="맑은 고딕"/>
                <a:ea typeface="맑은 고딕"/>
              </a:rPr>
              <a:t>•  ALTER USER ... DEFAULT ROLE ALL|ALL EXCEPT|롤목록|NONE</a:t>
            </a:r>
          </a:p>
          <a:p>
            <a:pPr>
              <a:spcAft>
                <a:spcPts val="800"/>
              </a:spcAft>
            </a:pPr>
            <a:r>
              <a:rPr sz="1800">
                <a:solidFill>
                  <a:srgbClr val="C0392B"/>
                </a:solidFill>
                <a:latin typeface="맑은 고딕"/>
                <a:ea typeface="맑은 고딕"/>
              </a:rPr>
              <a:t>•  SET ROLE는 '지정 집합으로 교체'(추가 아님)</a:t>
            </a:r>
          </a:p>
          <a:p>
            <a:pPr>
              <a:spcAft>
                <a:spcPts val="800"/>
              </a:spcAft>
            </a:pPr>
            <a:r>
              <a:rPr sz="1800">
                <a:solidFill>
                  <a:srgbClr val="C0392B"/>
                </a:solidFill>
                <a:latin typeface="맑은 고딕"/>
                <a:ea typeface="맑은 고딕"/>
              </a:rPr>
              <a:t>•  SESSION_ROLES로 현재 활성 롤 확인, 부여는 DBA_ROLE_PRIVS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실습: 롤 활성화 확인</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SET ROLE · SESSION_ROLES</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4572000"/>
          </a:xfrm>
          <a:prstGeom prst="rect">
            <a:avLst/>
          </a:prstGeom>
          <a:noFill/>
        </p:spPr>
        <p:txBody>
          <a:bodyPr wrap="square">
            <a:spAutoFit/>
          </a:bodyPr>
          <a:lstStyle/>
          <a:p>
            <a:r>
              <a:rPr sz="1200">
                <a:solidFill>
                  <a:srgbClr val="7EC699"/>
                </a:solidFill>
                <a:latin typeface="Consolas"/>
                <a:ea typeface="Consolas"/>
              </a:rPr>
              <a:t>-- 부여된 롤 확인</a:t>
            </a:r>
          </a:p>
          <a:p>
            <a:r>
              <a:rPr sz="1200">
                <a:solidFill>
                  <a:srgbClr val="E6E6E6"/>
                </a:solidFill>
                <a:latin typeface="Consolas"/>
                <a:ea typeface="Consolas"/>
              </a:rPr>
              <a:t>SCOTT@salespdb&gt; SELECT granted_role, default_role</a:t>
            </a:r>
          </a:p>
          <a:p>
            <a:r>
              <a:rPr sz="1200">
                <a:solidFill>
                  <a:srgbClr val="E6E6E6"/>
                </a:solidFill>
                <a:latin typeface="Consolas"/>
                <a:ea typeface="Consolas"/>
              </a:rPr>
              <a:t>  2  FROM user_role_privs;</a:t>
            </a:r>
          </a:p>
          <a:p>
            <a:r>
              <a:rPr sz="1200">
                <a:solidFill>
                  <a:srgbClr val="7EC699"/>
                </a:solidFill>
                <a:latin typeface="Consolas"/>
                <a:ea typeface="Consolas"/>
              </a:rPr>
              <a:t>-- 로그인 직후 활성 롤</a:t>
            </a:r>
          </a:p>
          <a:p>
            <a:r>
              <a:rPr sz="1200">
                <a:solidFill>
                  <a:srgbClr val="E6E6E6"/>
                </a:solidFill>
                <a:latin typeface="Consolas"/>
                <a:ea typeface="Consolas"/>
              </a:rPr>
              <a:t>SCOTT@salespdb&gt; SELECT role FROM session_roles;</a:t>
            </a:r>
          </a:p>
          <a:p>
            <a:r>
              <a:rPr sz="1200">
                <a:solidFill>
                  <a:srgbClr val="7EC699"/>
                </a:solidFill>
                <a:latin typeface="Consolas"/>
                <a:ea typeface="Consolas"/>
              </a:rPr>
              <a:t>-- 비밀번호 롤 활성화</a:t>
            </a:r>
          </a:p>
          <a:p>
            <a:r>
              <a:rPr sz="1200">
                <a:solidFill>
                  <a:srgbClr val="E6E6E6"/>
                </a:solidFill>
                <a:latin typeface="Consolas"/>
                <a:ea typeface="Consolas"/>
              </a:rPr>
              <a:t>SCOTT@salespdb&gt; SET ROLE hr_admin_role IDENTIFIED BY Adm1n#2024;</a:t>
            </a:r>
          </a:p>
          <a:p>
            <a:r>
              <a:rPr sz="1200">
                <a:solidFill>
                  <a:srgbClr val="E6E6E6"/>
                </a:solidFill>
                <a:latin typeface="Consolas"/>
                <a:ea typeface="Consolas"/>
              </a:rPr>
              <a:t>Role set.</a:t>
            </a:r>
          </a:p>
          <a:p>
            <a:r>
              <a:rPr sz="1200">
                <a:solidFill>
                  <a:srgbClr val="7EC699"/>
                </a:solidFill>
                <a:latin typeface="Consolas"/>
                <a:ea typeface="Consolas"/>
              </a:rPr>
              <a:t>-- 다시 확인 → 활성 롤에 추가됨</a:t>
            </a:r>
          </a:p>
          <a:p>
            <a:r>
              <a:rPr sz="1200">
                <a:solidFill>
                  <a:srgbClr val="E6E6E6"/>
                </a:solidFill>
                <a:latin typeface="Consolas"/>
                <a:ea typeface="Consolas"/>
              </a:rPr>
              <a:t>SCOTT@salespdb&gt; SELECT role FROM session_roles;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22.J</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롤·권한 회수 (REVOKE)</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800"/>
              </a:spcAft>
            </a:pPr>
            <a:r>
              <a:rPr sz="1600">
                <a:solidFill>
                  <a:srgbClr val="FFFFFF"/>
                </a:solidFill>
                <a:latin typeface="맑은 고딕"/>
                <a:ea typeface="맑은 고딕"/>
              </a:rPr>
              <a:t>•  시스템/롤 회수는 비연쇄</a:t>
            </a:r>
          </a:p>
          <a:p>
            <a:pPr>
              <a:spcAft>
                <a:spcPts val="800"/>
              </a:spcAft>
            </a:pPr>
            <a:r>
              <a:rPr sz="1600">
                <a:solidFill>
                  <a:srgbClr val="FFFFFF"/>
                </a:solidFill>
                <a:latin typeface="맑은 고딕"/>
                <a:ea typeface="맑은 고딕"/>
              </a:rPr>
              <a:t>•  객체 권한은 연쇄 회수</a:t>
            </a:r>
          </a:p>
          <a:p>
            <a:pPr>
              <a:spcAft>
                <a:spcPts val="800"/>
              </a:spcAft>
            </a:pPr>
            <a:r>
              <a:rPr sz="1600">
                <a:solidFill>
                  <a:srgbClr val="FFFFFF"/>
                </a:solidFill>
                <a:latin typeface="맑은 고딕"/>
                <a:ea typeface="맑은 고딕"/>
              </a:rPr>
              <a:t>•  회수 전 부여 경로 확인</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REVOKE 규칙 정리</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revoke rules</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800"/>
              </a:spcAft>
            </a:pPr>
            <a:r>
              <a:rPr sz="1800">
                <a:solidFill>
                  <a:srgbClr val="C0392B"/>
                </a:solidFill>
                <a:latin typeface="맑은 고딕"/>
                <a:ea typeface="맑은 고딕"/>
              </a:rPr>
              <a:t>•  REVOKE 권한[ ON 객체] FROM 대상; / REVOKE 롤 FROM 대상;</a:t>
            </a:r>
          </a:p>
          <a:p>
            <a:pPr>
              <a:spcAft>
                <a:spcPts val="800"/>
              </a:spcAft>
            </a:pPr>
            <a:r>
              <a:rPr sz="1800">
                <a:solidFill>
                  <a:srgbClr val="C0392B"/>
                </a:solidFill>
                <a:latin typeface="맑은 고딕"/>
                <a:ea typeface="맑은 고딕"/>
              </a:rPr>
              <a:t>•  시스템 권한·롤 회수 → 연쇄 없음(재부여분 유지)</a:t>
            </a:r>
          </a:p>
          <a:p>
            <a:pPr>
              <a:spcAft>
                <a:spcPts val="800"/>
              </a:spcAft>
            </a:pPr>
            <a:r>
              <a:rPr sz="1800">
                <a:solidFill>
                  <a:srgbClr val="C0392B"/>
                </a:solidFill>
                <a:latin typeface="맑은 고딕"/>
                <a:ea typeface="맑은 고딕"/>
              </a:rPr>
              <a:t>•  객체 권한 회수 → 연쇄됨(재부여 경로 함께 회수)</a:t>
            </a:r>
          </a:p>
          <a:p>
            <a:pPr>
              <a:spcAft>
                <a:spcPts val="800"/>
              </a:spcAft>
            </a:pPr>
            <a:r>
              <a:rPr sz="1800">
                <a:solidFill>
                  <a:srgbClr val="C0392B"/>
                </a:solidFill>
                <a:latin typeface="맑은 고딕"/>
                <a:ea typeface="맑은 고딕"/>
              </a:rPr>
              <a:t>•  간접(롤 경유) 권한은 롤에서 회수, 직접 부여는 롤 회수와 무관</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실습: 회수와 연쇄 확인</a:t>
            </a:r>
          </a:p>
        </p:txBody>
      </p:sp>
      <p:sp>
        <p:nvSpPr>
          <p:cNvPr id="4" name="TextBox 3"/>
          <p:cNvSpPr txBox="1"/>
          <p:nvPr/>
        </p:nvSpPr>
        <p:spPr>
          <a:xfrm>
            <a:off x="640080" y="1097280"/>
            <a:ext cx="10881360" cy="457200"/>
          </a:xfrm>
          <a:prstGeom prst="rect">
            <a:avLst/>
          </a:prstGeom>
          <a:noFill/>
        </p:spPr>
        <p:txBody>
          <a:bodyPr wrap="square">
            <a:spAutoFit/>
          </a:bodyPr>
          <a:lstStyle/>
          <a:p>
            <a:pPr algn="l"/>
            <a:r>
              <a:rPr sz="1500" b="0">
                <a:solidFill>
                  <a:srgbClr val="5A6672"/>
                </a:solidFill>
                <a:latin typeface="맑은 고딕"/>
                <a:ea typeface="맑은 고딕"/>
              </a:rPr>
              <a:t>REVOKE cascading</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4572000"/>
          </a:xfrm>
          <a:prstGeom prst="rect">
            <a:avLst/>
          </a:prstGeom>
          <a:noFill/>
        </p:spPr>
        <p:txBody>
          <a:bodyPr wrap="square">
            <a:spAutoFit/>
          </a:bodyPr>
          <a:lstStyle/>
          <a:p>
            <a:r>
              <a:rPr sz="1200">
                <a:solidFill>
                  <a:srgbClr val="7EC699"/>
                </a:solidFill>
                <a:latin typeface="Consolas"/>
                <a:ea typeface="Consolas"/>
              </a:rPr>
              <a:t>-- 시스템 권한 회수 (연쇄 없음)</a:t>
            </a:r>
          </a:p>
          <a:p>
            <a:r>
              <a:rPr sz="1200">
                <a:solidFill>
                  <a:srgbClr val="E6E6E6"/>
                </a:solidFill>
                <a:latin typeface="Consolas"/>
                <a:ea typeface="Consolas"/>
              </a:rPr>
              <a:t>SYS@salespdb&gt; REVOKE CREATE TABLE FROM hr_dev;</a:t>
            </a:r>
          </a:p>
          <a:p>
            <a:r>
              <a:rPr sz="1200">
                <a:solidFill>
                  <a:srgbClr val="7EC699"/>
                </a:solidFill>
                <a:latin typeface="Consolas"/>
                <a:ea typeface="Consolas"/>
              </a:rPr>
              <a:t>-- 객체 권한 회수 (연쇄됨)</a:t>
            </a:r>
          </a:p>
          <a:p>
            <a:r>
              <a:rPr sz="1200">
                <a:solidFill>
                  <a:srgbClr val="E6E6E6"/>
                </a:solidFill>
                <a:latin typeface="Consolas"/>
                <a:ea typeface="Consolas"/>
              </a:rPr>
              <a:t>HR@salespdb&gt; REVOKE SELECT ON employees FROM hr_report;</a:t>
            </a:r>
          </a:p>
          <a:p>
            <a:r>
              <a:rPr sz="1200">
                <a:solidFill>
                  <a:srgbClr val="7EC699"/>
                </a:solidFill>
                <a:latin typeface="Consolas"/>
                <a:ea typeface="Consolas"/>
              </a:rPr>
              <a:t>-- 롤 회수</a:t>
            </a:r>
          </a:p>
          <a:p>
            <a:r>
              <a:rPr sz="1200">
                <a:solidFill>
                  <a:srgbClr val="E6E6E6"/>
                </a:solidFill>
                <a:latin typeface="Consolas"/>
                <a:ea typeface="Consolas"/>
              </a:rPr>
              <a:t>SYS@salespdb&gt; REVOKE hr_clerk_role FROM scott;</a:t>
            </a:r>
          </a:p>
          <a:p>
            <a:r>
              <a:rPr sz="1200">
                <a:solidFill>
                  <a:srgbClr val="7EC699"/>
                </a:solidFill>
                <a:latin typeface="Consolas"/>
                <a:ea typeface="Consolas"/>
              </a:rPr>
              <a:t>-- 퇴사자 처리: 롤·직접 권한 각각 확인 후 회수</a:t>
            </a:r>
          </a:p>
          <a:p>
            <a:r>
              <a:rPr sz="1200">
                <a:solidFill>
                  <a:srgbClr val="E6E6E6"/>
                </a:solidFill>
                <a:latin typeface="Consolas"/>
                <a:ea typeface="Consolas"/>
              </a:rPr>
              <a:t>SYS@salespdb&gt; SELECT granted_role FROM dba_role_privs WHERE grantee='SCOTT';</a:t>
            </a:r>
          </a:p>
          <a:p>
            <a:r>
              <a:rPr sz="1200">
                <a:solidFill>
                  <a:srgbClr val="E6E6E6"/>
                </a:solidFill>
                <a:latin typeface="Consolas"/>
                <a:ea typeface="Consolas"/>
              </a:rPr>
              <a:t>SYS@salespdb&gt; SELECT privilege FROM dba_sys_privs WHERE grantee='SCOTT';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확인 학습 (Quiz) 1/2</a:t>
            </a: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600"/>
              </a:spcBef>
            </a:pPr>
            <a:r>
              <a:rPr sz="1600" b="1">
                <a:solidFill>
                  <a:srgbClr val="C0392B"/>
                </a:solidFill>
                <a:latin typeface="맑은 고딕"/>
                <a:ea typeface="맑은 고딕"/>
              </a:rPr>
              <a:t>Q1. 시스템 권한과 객체 권한의 차이로 옳은 것은?</a:t>
            </a:r>
          </a:p>
          <a:p>
            <a:r>
              <a:rPr sz="1400">
                <a:solidFill>
                  <a:srgbClr val="333333"/>
                </a:solidFill>
                <a:latin typeface="맑은 고딕"/>
                <a:ea typeface="맑은 고딕"/>
              </a:rPr>
              <a:t>   ① 시스템 권한은 특정 객체에만 적용된다</a:t>
            </a:r>
          </a:p>
          <a:p>
            <a:r>
              <a:rPr sz="1400">
                <a:solidFill>
                  <a:srgbClr val="333333"/>
                </a:solidFill>
                <a:latin typeface="맑은 고딕"/>
                <a:ea typeface="맑은 고딕"/>
              </a:rPr>
              <a:t>   ② 시스템 권한은 작업 종류를, 객체 권한은 특정 객체 작업을 허가한다</a:t>
            </a:r>
          </a:p>
          <a:p>
            <a:r>
              <a:rPr sz="1400">
                <a:solidFill>
                  <a:srgbClr val="333333"/>
                </a:solidFill>
                <a:latin typeface="맑은 고딕"/>
                <a:ea typeface="맑은 고딕"/>
              </a:rPr>
              <a:t>   ③ 둘 다 WITH GRANT OPTION으로만 부여</a:t>
            </a:r>
          </a:p>
          <a:p>
            <a:r>
              <a:rPr sz="1400">
                <a:solidFill>
                  <a:srgbClr val="333333"/>
                </a:solidFill>
                <a:latin typeface="맑은 고딕"/>
                <a:ea typeface="맑은 고딕"/>
              </a:rPr>
              <a:t>   ④ 객체 권한은 롤에 담을 수 없다</a:t>
            </a:r>
          </a:p>
          <a:p>
            <a:pPr>
              <a:spcBef>
                <a:spcPts val="600"/>
              </a:spcBef>
            </a:pPr>
            <a:r>
              <a:rPr sz="1600" b="1">
                <a:solidFill>
                  <a:srgbClr val="C0392B"/>
                </a:solidFill>
                <a:latin typeface="맑은 고딕"/>
                <a:ea typeface="맑은 고딕"/>
              </a:rPr>
              <a:t>Q2. 시스템 권한을 재부여할 수 있게 하는 옵션은?</a:t>
            </a:r>
          </a:p>
          <a:p>
            <a:r>
              <a:rPr sz="1400">
                <a:solidFill>
                  <a:srgbClr val="333333"/>
                </a:solidFill>
                <a:latin typeface="맑은 고딕"/>
                <a:ea typeface="맑은 고딕"/>
              </a:rPr>
              <a:t>   ① WITH GRANT OPTION</a:t>
            </a:r>
          </a:p>
          <a:p>
            <a:r>
              <a:rPr sz="1400">
                <a:solidFill>
                  <a:srgbClr val="333333"/>
                </a:solidFill>
                <a:latin typeface="맑은 고딕"/>
                <a:ea typeface="맑은 고딕"/>
              </a:rPr>
              <a:t>   ② WITH ADMIN OPTION</a:t>
            </a:r>
          </a:p>
          <a:p>
            <a:r>
              <a:rPr sz="1400">
                <a:solidFill>
                  <a:srgbClr val="333333"/>
                </a:solidFill>
                <a:latin typeface="맑은 고딕"/>
                <a:ea typeface="맑은 고딕"/>
              </a:rPr>
              <a:t>   ③ WITH CHECK OPTION</a:t>
            </a:r>
          </a:p>
          <a:p>
            <a:r>
              <a:rPr sz="1400">
                <a:solidFill>
                  <a:srgbClr val="333333"/>
                </a:solidFill>
                <a:latin typeface="맑은 고딕"/>
                <a:ea typeface="맑은 고딕"/>
              </a:rPr>
              <a:t>   ④ WITH CASCADE OPTION</a:t>
            </a:r>
          </a:p>
          <a:p>
            <a:pPr>
              <a:spcBef>
                <a:spcPts val="600"/>
              </a:spcBef>
            </a:pPr>
            <a:r>
              <a:rPr sz="1600" b="1">
                <a:solidFill>
                  <a:srgbClr val="C0392B"/>
                </a:solidFill>
                <a:latin typeface="맑은 고딕"/>
                <a:ea typeface="맑은 고딕"/>
              </a:rPr>
              <a:t>Q3. 객체 권한 회수의 특징으로 옳은 것은?</a:t>
            </a:r>
          </a:p>
          <a:p>
            <a:r>
              <a:rPr sz="1400">
                <a:solidFill>
                  <a:srgbClr val="333333"/>
                </a:solidFill>
                <a:latin typeface="맑은 고딕"/>
                <a:ea typeface="맑은 고딕"/>
              </a:rPr>
              <a:t>   ① 재부여분은 그대로 남는다</a:t>
            </a:r>
          </a:p>
          <a:p>
            <a:r>
              <a:rPr sz="1400">
                <a:solidFill>
                  <a:srgbClr val="333333"/>
                </a:solidFill>
                <a:latin typeface="맑은 고딕"/>
                <a:ea typeface="맑은 고딕"/>
              </a:rPr>
              <a:t>   ② WITH GRANT OPTION 경로가 연쇄 회수된다</a:t>
            </a:r>
          </a:p>
          <a:p>
            <a:r>
              <a:rPr sz="1400">
                <a:solidFill>
                  <a:srgbClr val="333333"/>
                </a:solidFill>
                <a:latin typeface="맑은 고딕"/>
                <a:ea typeface="맑은 고딕"/>
              </a:rPr>
              <a:t>   ③ 롤에 담긴 것만 회수</a:t>
            </a:r>
          </a:p>
          <a:p>
            <a:r>
              <a:rPr sz="1400">
                <a:solidFill>
                  <a:srgbClr val="333333"/>
                </a:solidFill>
                <a:latin typeface="맑은 고딕"/>
                <a:ea typeface="맑은 고딕"/>
              </a:rPr>
              <a:t>   ④ 항상 오류가 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확인 학습 (Quiz) 2/2</a:t>
            </a: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600"/>
              </a:spcBef>
            </a:pPr>
            <a:r>
              <a:rPr sz="1600" b="1">
                <a:solidFill>
                  <a:srgbClr val="C0392B"/>
                </a:solidFill>
                <a:latin typeface="맑은 고딕"/>
                <a:ea typeface="맑은 고딕"/>
              </a:rPr>
              <a:t>Q4. 루트에서 모든 PDB에 공통 권한을 부여할 때 필요한 절은?</a:t>
            </a:r>
          </a:p>
          <a:p>
            <a:r>
              <a:rPr sz="1400">
                <a:solidFill>
                  <a:srgbClr val="333333"/>
                </a:solidFill>
                <a:latin typeface="맑은 고딕"/>
                <a:ea typeface="맑은 고딕"/>
              </a:rPr>
              <a:t>   ① CONTAINER=CURRENT</a:t>
            </a:r>
          </a:p>
          <a:p>
            <a:r>
              <a:rPr sz="1400">
                <a:solidFill>
                  <a:srgbClr val="333333"/>
                </a:solidFill>
                <a:latin typeface="맑은 고딕"/>
                <a:ea typeface="맑은 고딕"/>
              </a:rPr>
              <a:t>   ② CONTAINER=ALL</a:t>
            </a:r>
          </a:p>
          <a:p>
            <a:r>
              <a:rPr sz="1400">
                <a:solidFill>
                  <a:srgbClr val="333333"/>
                </a:solidFill>
                <a:latin typeface="맑은 고딕"/>
                <a:ea typeface="맑은 고딕"/>
              </a:rPr>
              <a:t>   ③ CONTAINER=PDB</a:t>
            </a:r>
          </a:p>
          <a:p>
            <a:r>
              <a:rPr sz="1400">
                <a:solidFill>
                  <a:srgbClr val="333333"/>
                </a:solidFill>
                <a:latin typeface="맑은 고딕"/>
                <a:ea typeface="맑은 고딕"/>
              </a:rPr>
              <a:t>   ④ 절이 필요 없다</a:t>
            </a:r>
          </a:p>
          <a:p>
            <a:pPr>
              <a:spcBef>
                <a:spcPts val="600"/>
              </a:spcBef>
            </a:pPr>
            <a:r>
              <a:rPr sz="1600" b="1">
                <a:solidFill>
                  <a:srgbClr val="C0392B"/>
                </a:solidFill>
                <a:latin typeface="맑은 고딕"/>
                <a:ea typeface="맑은 고딕"/>
              </a:rPr>
              <a:t>Q5. RESOURCE 롤에 대한 설명으로 옳은 것은?</a:t>
            </a:r>
          </a:p>
          <a:p>
            <a:r>
              <a:rPr sz="1400">
                <a:solidFill>
                  <a:srgbClr val="333333"/>
                </a:solidFill>
                <a:latin typeface="맑은 고딕"/>
                <a:ea typeface="맑은 고딕"/>
              </a:rPr>
              <a:t>   ① CREATE SESSION 포함, 단독 로그인 가능</a:t>
            </a:r>
          </a:p>
          <a:p>
            <a:r>
              <a:rPr sz="1400">
                <a:solidFill>
                  <a:srgbClr val="333333"/>
                </a:solidFill>
                <a:latin typeface="맑은 고딕"/>
                <a:ea typeface="맑은 고딕"/>
              </a:rPr>
              <a:t>   ② 객체 생성 권한을 담지만 CREATE SESSION은 없음</a:t>
            </a:r>
          </a:p>
          <a:p>
            <a:r>
              <a:rPr sz="1400">
                <a:solidFill>
                  <a:srgbClr val="333333"/>
                </a:solidFill>
                <a:latin typeface="맑은 고딕"/>
                <a:ea typeface="맑은 고딕"/>
              </a:rPr>
              <a:t>   ③ DBA와 동일 권한</a:t>
            </a:r>
          </a:p>
          <a:p>
            <a:r>
              <a:rPr sz="1400">
                <a:solidFill>
                  <a:srgbClr val="333333"/>
                </a:solidFill>
                <a:latin typeface="맑은 고딕"/>
                <a:ea typeface="맑은 고딕"/>
              </a:rPr>
              <a:t>   ④ 로컬 롤이라 PDB마다 생성</a:t>
            </a:r>
          </a:p>
          <a:p>
            <a:pPr>
              <a:spcBef>
                <a:spcPts val="600"/>
              </a:spcBef>
            </a:pPr>
            <a:r>
              <a:rPr sz="1600" b="1">
                <a:solidFill>
                  <a:srgbClr val="C0392B"/>
                </a:solidFill>
                <a:latin typeface="맑은 고딕"/>
                <a:ea typeface="맑은 고딕"/>
              </a:rPr>
              <a:t>Q6. 지정 PL/SQL 패키지 실행 시만 활성화되는 롤을 만드는 절은?</a:t>
            </a:r>
          </a:p>
          <a:p>
            <a:r>
              <a:rPr sz="1400">
                <a:solidFill>
                  <a:srgbClr val="333333"/>
                </a:solidFill>
                <a:latin typeface="맑은 고딕"/>
                <a:ea typeface="맑은 고딕"/>
              </a:rPr>
              <a:t>   ① IDENTIFIED BY 비밀번호</a:t>
            </a:r>
          </a:p>
          <a:p>
            <a:r>
              <a:rPr sz="1400">
                <a:solidFill>
                  <a:srgbClr val="333333"/>
                </a:solidFill>
                <a:latin typeface="맑은 고딕"/>
                <a:ea typeface="맑은 고딕"/>
              </a:rPr>
              <a:t>   ② IDENTIFIED USING 스키마.패키지</a:t>
            </a:r>
          </a:p>
          <a:p>
            <a:r>
              <a:rPr sz="1400">
                <a:solidFill>
                  <a:srgbClr val="333333"/>
                </a:solidFill>
                <a:latin typeface="맑은 고딕"/>
                <a:ea typeface="맑은 고딕"/>
              </a:rPr>
              <a:t>   ③ IDENTIFIED EXTERNALLY</a:t>
            </a:r>
          </a:p>
          <a:p>
            <a:r>
              <a:rPr sz="1400">
                <a:solidFill>
                  <a:srgbClr val="333333"/>
                </a:solidFill>
                <a:latin typeface="맑은 고딕"/>
                <a:ea typeface="맑은 고딕"/>
              </a:rPr>
              <a:t>   ④ NOT IDENTIFIED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요약 (Summary)</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800"/>
              </a:spcAft>
            </a:pPr>
            <a:r>
              <a:rPr sz="1800">
                <a:solidFill>
                  <a:srgbClr val="C0392B"/>
                </a:solidFill>
                <a:latin typeface="맑은 고딕"/>
                <a:ea typeface="맑은 고딕"/>
              </a:rPr>
              <a:t>•  권한 = 시스템 권한(작업 종류) + 객체 권한(대상 객체). 최소 권한 원칙</a:t>
            </a:r>
          </a:p>
          <a:p>
            <a:pPr>
              <a:spcAft>
                <a:spcPts val="800"/>
              </a:spcAft>
            </a:pPr>
            <a:r>
              <a:rPr sz="1800">
                <a:solidFill>
                  <a:srgbClr val="C0392B"/>
                </a:solidFill>
                <a:latin typeface="맑은 고딕"/>
                <a:ea typeface="맑은 고딕"/>
              </a:rPr>
              <a:t>•  시스템 권한: GRANT ... WITH ADMIN OPTION, 회수는 비연쇄</a:t>
            </a:r>
          </a:p>
          <a:p>
            <a:pPr>
              <a:spcAft>
                <a:spcPts val="800"/>
              </a:spcAft>
            </a:pPr>
            <a:r>
              <a:rPr sz="1800">
                <a:solidFill>
                  <a:srgbClr val="C0392B"/>
                </a:solidFill>
                <a:latin typeface="맑은 고딕"/>
                <a:ea typeface="맑은 고딕"/>
              </a:rPr>
              <a:t>•  객체 권한: GRANT ... ON ... WITH GRANT OPTION, 회수는 연쇄</a:t>
            </a:r>
          </a:p>
          <a:p>
            <a:pPr>
              <a:spcAft>
                <a:spcPts val="800"/>
              </a:spcAft>
            </a:pPr>
            <a:r>
              <a:rPr sz="1800">
                <a:solidFill>
                  <a:srgbClr val="C0392B"/>
                </a:solidFill>
                <a:latin typeface="맑은 고딕"/>
                <a:ea typeface="맑은 고딕"/>
              </a:rPr>
              <a:t>•  멀티테넌트: CONTAINER=ALL(공통) / CURRENT(로컬)</a:t>
            </a:r>
          </a:p>
          <a:p>
            <a:pPr>
              <a:spcAft>
                <a:spcPts val="800"/>
              </a:spcAft>
            </a:pPr>
            <a:r>
              <a:rPr sz="1800">
                <a:solidFill>
                  <a:srgbClr val="C0392B"/>
                </a:solidFill>
                <a:latin typeface="맑은 고딕"/>
                <a:ea typeface="맑은 고딕"/>
              </a:rPr>
              <a:t>•  롤: 권한 묶음. CREATE ROLE → 권한/롤 담기 → 사용자 부여</a:t>
            </a:r>
          </a:p>
          <a:p>
            <a:pPr>
              <a:spcAft>
                <a:spcPts val="800"/>
              </a:spcAft>
            </a:pPr>
            <a:r>
              <a:rPr sz="1800">
                <a:solidFill>
                  <a:srgbClr val="C0392B"/>
                </a:solidFill>
                <a:latin typeface="맑은 고딕"/>
                <a:ea typeface="맑은 고딕"/>
              </a:rPr>
              <a:t>•  제공 롤(CONNECT/RESOURCE/DBA...)은 내용 확인 후 신중히</a:t>
            </a:r>
          </a:p>
          <a:p>
            <a:pPr>
              <a:spcAft>
                <a:spcPts val="800"/>
              </a:spcAft>
            </a:pPr>
            <a:r>
              <a:rPr sz="1800">
                <a:solidFill>
                  <a:srgbClr val="C0392B"/>
                </a:solidFill>
                <a:latin typeface="맑은 고딕"/>
                <a:ea typeface="맑은 고딕"/>
              </a:rPr>
              <a:t>•  공통 롤=C## 접두사, 로컬 롤=PDB. 보안 롤=IDENTIFIED BY/USING</a:t>
            </a:r>
          </a:p>
          <a:p>
            <a:pPr>
              <a:spcAft>
                <a:spcPts val="800"/>
              </a:spcAft>
            </a:pPr>
            <a:r>
              <a:rPr sz="1800">
                <a:solidFill>
                  <a:srgbClr val="C0392B"/>
                </a:solidFill>
                <a:latin typeface="맑은 고딕"/>
                <a:ea typeface="맑은 고딕"/>
              </a:rPr>
              <a:t>•  SET ROLE로 활성화, DEFAULT ROLE로 기본 활성화 제어</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pPr algn="l"/>
            <a:r>
              <a:rPr sz="2600" b="1">
                <a:solidFill>
                  <a:srgbClr val="FFFFFF"/>
                </a:solidFill>
                <a:latin typeface="맑은 고딕"/>
                <a:ea typeface="맑은 고딕"/>
              </a:rPr>
              <a:t>실습 22 개요</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800"/>
              </a:spcAft>
            </a:pPr>
            <a:r>
              <a:rPr sz="1800">
                <a:solidFill>
                  <a:srgbClr val="C0392B"/>
                </a:solidFill>
                <a:latin typeface="맑은 고딕"/>
                <a:ea typeface="맑은 고딕"/>
              </a:rPr>
              <a:t>•  실습 01 — 시스템/객체 권한 부여·회수 (WITH ADMIN/GRANT OPTION)</a:t>
            </a:r>
          </a:p>
          <a:p>
            <a:pPr>
              <a:spcAft>
                <a:spcPts val="800"/>
              </a:spcAft>
            </a:pPr>
            <a:r>
              <a:rPr sz="1800">
                <a:solidFill>
                  <a:srgbClr val="C0392B"/>
                </a:solidFill>
                <a:latin typeface="맑은 고딕"/>
                <a:ea typeface="맑은 고딕"/>
              </a:rPr>
              <a:t>•  실습 02 — 멀티테넌트 권한 부여 (CONTAINER=ALL/CURRENT)</a:t>
            </a:r>
          </a:p>
          <a:p>
            <a:pPr>
              <a:spcAft>
                <a:spcPts val="800"/>
              </a:spcAft>
            </a:pPr>
            <a:r>
              <a:rPr sz="1800">
                <a:solidFill>
                  <a:srgbClr val="C0392B"/>
                </a:solidFill>
                <a:latin typeface="맑은 고딕"/>
                <a:ea typeface="맑은 고딕"/>
              </a:rPr>
              <a:t>•  실습 03 — 롤 생성 및 권한 할당 (CREATE ROLE)</a:t>
            </a:r>
          </a:p>
          <a:p>
            <a:pPr>
              <a:spcAft>
                <a:spcPts val="800"/>
              </a:spcAft>
            </a:pPr>
            <a:r>
              <a:rPr sz="1800">
                <a:solidFill>
                  <a:srgbClr val="C0392B"/>
                </a:solidFill>
                <a:latin typeface="맑은 고딕"/>
                <a:ea typeface="맑은 고딕"/>
              </a:rPr>
              <a:t>•  실습 04 — Oracle 제공 롤 확인 및 사용</a:t>
            </a:r>
          </a:p>
          <a:p>
            <a:pPr>
              <a:spcAft>
                <a:spcPts val="800"/>
              </a:spcAft>
            </a:pPr>
            <a:r>
              <a:rPr sz="1800">
                <a:solidFill>
                  <a:srgbClr val="C0392B"/>
                </a:solidFill>
                <a:latin typeface="맑은 고딕"/>
                <a:ea typeface="맑은 고딕"/>
              </a:rPr>
              <a:t>•  실습 05 — 멀티테넌트 롤 부여 (공통/로컬 롤)</a:t>
            </a:r>
          </a:p>
          <a:p>
            <a:pPr>
              <a:spcAft>
                <a:spcPts val="800"/>
              </a:spcAft>
            </a:pPr>
            <a:r>
              <a:rPr sz="1800">
                <a:solidFill>
                  <a:srgbClr val="C0392B"/>
                </a:solidFill>
                <a:latin typeface="맑은 고딕"/>
                <a:ea typeface="맑은 고딕"/>
              </a:rPr>
              <a:t>•  실습 06 — 보안 강화 롤 (IDENTIFIED BY, SET ROLE/DEFAULT ROLE)</a:t>
            </a:r>
          </a:p>
          <a:p>
            <a:pPr>
              <a:spcAft>
                <a:spcPts val="800"/>
              </a:spcAft>
            </a:pPr>
            <a:r>
              <a:rPr sz="1800">
                <a:solidFill>
                  <a:srgbClr val="C0392B"/>
                </a:solidFill>
                <a:latin typeface="맑은 고딕"/>
                <a:ea typeface="맑은 고딕"/>
              </a:rPr>
              <a:t>•  실습 07 — 롤·시스템/객체 권한 회수 (REVOKE, 연쇄 확인)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
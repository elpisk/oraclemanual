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5장에서 우리는 DBCA를 사용해 데이터베이스를 생성했다. DBCA는 대화형(GUI) 모드에서는 마법사 화면을 클릭하는 것만으로, 사일런트 모드에서는 dbca -silent -createDatabase 명령 한 줄로 완전한 CDB를 만들어 준다. DBCA는 템플릿을 복제하거나 스크립트를 실행하고, 초기화 파라미터를 계산하고, 리스너 등록과 EM Express 구성까지 자동으로 처리한다. 이렇게 편리한 도구가 있는데 왜 CREATE DATABASE 문을 직접 다루는 방법을 배워야 할까?</a:t>
            </a:r>
          </a:p>
          <a:p/>
          <a:p>
            <a:r>
              <a:t>첫째, DBCA가 하는 일의 실체를 이해하기 위해서다. DBCA는 마법이 아니라, 결국 인스턴스를 기동하고 CREATE DATABASE 문을 실행하고 카탈로그 스크립트를 돌리는 절차를 자동화한 프로그램일 뿐이다. 실제로 DBCA에게 '스크립트만 생성(Generate Database Creation Scripts)'하도록 지시하면, 그 안에 우리가 이 장에서 배울 CREATE DATABASE 문과 catcdb.sql 호출이 그대로 들어 있는 것을 볼 수 있다. 이면의 절차를 알면 DBCA가 남긴 로그를 읽고 어디에서 무엇이 잘못됐는지 진단할 수 있다.</a:t>
            </a:r>
          </a:p>
          <a:p/>
          <a:p>
            <a:r>
              <a:t>둘째, 자동화 도구가 지원하지 않거나 세밀하게 제어하기 어려운 특수 요구사항 때문이다. 예를 들어 컨트롤 파일과 리두 로그의 물리적 배치를 특정 디스크에 정확히 나누어 다중화하거나, 시드 데이터 파일의 위치를 조직의 표준 디렉터리 규칙에 정확히 맞추거나, 표준 옵션 스크립트 중 일부만 선택적으로 설치하려는 경우, CREATE DATABASE 문을 직접 작성하는 편이 더 투명하고 확실하다.</a:t>
            </a:r>
          </a:p>
          <a:p/>
          <a:p>
            <a:r>
              <a:t>셋째, 자동화가 불가능하거나 GUI를 띄울 수 없는 환경(순수 커맨드라인 서버, 자동 프로비저닝 파이프라인) 때문이다. 물론 DBCA 사일런트 모드도 이런 환경을 위한 것이지만, 응답 파일이나 커맨드 인자로 표현하기 까다로운 구성은 SQL 스크립트로 직접 기술하는 것이 오히려 단순하다. 요컨대 DBCA는 '자동 변속기', CREATE DATABASE는 '수동 변속기'에 해당한다. 평소에는 자동이 편하지만, 수동을 다룰 줄 알아야 진짜 운전자다.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시나리오] DBCA 실패 로그 앞에서 멈추지 않으려면</a:t>
            </a:r>
          </a:p>
          <a:p/>
          <a:p>
            <a:r>
              <a:t>신규 서버에 CDB를 프로비저닝하던 중 DBCA 사일런트 모드가 40% 지점에서 데이터베이스 생성 실패로 중단됐다. GUI가 없는 서버라 화면에는 로그 파일 경로만 찍혀 있었다.</a:t>
            </a:r>
          </a:p>
          <a:p/>
          <a:p>
            <a:r>
              <a:t>DBCA 로그를 열어 보니 실패한 명령은 다름 아닌 CREATE DATABASE 문이었고, 원인은 CONTROL_FILES에 지정한 디렉터리가 존재하지 않아 컨트롤 파일을 마운트 단계에서 만들지 못한 것이었다. CREATE DATABASE 문이 어느 단계에서 무엇을 만드는지 알고 있었기에, 디렉터리를 만들고 같은 문장을 SQL*Plus에서 직접 재실행하여 짧은 시간에 복구했다.</a:t>
            </a:r>
          </a:p>
          <a:p/>
          <a:p>
            <a:r>
              <a:t>교훈: 자동화 도구의 로그는 결국 이 장에서 배우는 수동 명령의 언어로 쓰여 있다. 수동 절차를 알면 자동화의 실패도 읽어낼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명령어로 CDB를 만드는 과정은 크게 세 단계로 요약된다. 이 세 단계는 이후 절 전체를 관통하는 뼈대이므로 먼저 전체 그림을 잡아 두자.</a:t>
            </a:r>
          </a:p>
          <a:p/>
          <a:p>
            <a:r>
              <a:t>1단계 — 인스턴스 시작(Instance): 초기화 파라미터 파일(initCDB1.ora)을 준비하고 ORACLE_SID를 설정한 뒤, STARTUP NOMOUNT로 인스턴스만 먼저 띄운다. 이 시점에는 SGA(메모리)와 백그라운드 프로세스만 존재하며, 아직 어떤 데이터베이스 파일과도 연결되어 있지 않다.</a:t>
            </a:r>
          </a:p>
          <a:p/>
          <a:p>
            <a:r>
              <a:t>2단계 — CDB 생성(Create Database): CREATE DATABASE ... ENABLE PLUGGABLE DATABASE 문을 실행한다. 이 한 문장이 마운트 단계에서 컨트롤 파일을, 오픈 단계에서 리두 로그 파일과 CDB 루트(CDB$ROOT)의 데이터 파일을 만들고, 이어서 CDB 시드(PDB$SEED)까지 생성한다.</a:t>
            </a:r>
          </a:p>
          <a:p/>
          <a:p>
            <a:r>
              <a:t>3단계 — 데이터 딕셔너리 구축(Run Scripts): CDB 루트에서 catcdb.sql 스크립트(또는 catalog.sql + catproc.sql과 옵션 스크립트들)를 실행하여 데이터 딕셔너리 뷰와 표준 PL/SQL 패키지를 설치한다. 이 단계를 마쳐야 비로소 CDB가 관리 가능한 완전한 데이터베이스가 된다.</a:t>
            </a:r>
          </a:p>
          <a:p/>
          <a:p>
            <a:r>
              <a:t>그림으로 표현하면, initCDB1.ora가 인스턴스(SGA + 프로세스 구조)를 기동시키고, CREATE DATABASE 문이 그 인스턴스에 물리적 데이터베이스(컨트롤 파일, 리두 로그, 데이터 파일)를 붙인다. 이때 데이터 파일은 CDB 루트용(SYSTEM/SYSAUX/UNDO/TEMP)과 CDB 시드용(SYSTEM/SYSAUX/TEMP)으로 나뉘어 생성되며, 마지막으로 카탈로그 스크립트가 이 뼈대 위에 데이터 딕셔너리라는 '뇌'를 얹는다. 이 흐름은 원본 슬라이드의 다이어그램이 표현한 'initCDB1.ora → Instance → CDB(데이터 파일·컨트롤 파일·리두 로그) → catcdb.sql'의 순서와 정확히 일치한다.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방식은 결과물(완성된 CDB)이 같지만, 과정과 성격이 다르다. 어느 쪽이 더 좋다기보다, 상황에 맞게 선택하는 것이 중요하다. 아래는 두 방식을 여러 관점에서 비교한 것이다.</a:t>
            </a:r>
          </a:p>
          <a:p/>
          <a:p>
            <a:r>
              <a:t>사용 편의성 — DBCA는 마법사와 기본값이 대부분의 결정을 대신 내려 주므로 초보자도 실수 없이 빠르게 만들 수 있다. SQL 방식은 모든 절을 스스로 작성해야 하므로 학습 곡선이 있지만, 그만큼 세밀하게 제어할 수 있다.</a:t>
            </a:r>
          </a:p>
          <a:p/>
          <a:p>
            <a:r>
              <a:t>투명성과 학습 효과 — SQL 방식은 어떤 파일이 어떤 절에 의해 만들어지는지 문장에 그대로 드러나므로 데이터베이스 생성 원리를 이해하는 데 가장 좋다. DBCA는 편리한 대신 내부에서 무슨 일이 일어나는지 감춰져 있다.</a:t>
            </a:r>
          </a:p>
          <a:p/>
          <a:p>
            <a:r>
              <a:t>자동화 적합성 — DBCA 사일런트 모드와 SQL 스크립트 모두 자동화에 쓸 수 있다. 표준적인 CDB를 대량으로 찍어낼 때는 DBCA 템플릿이 편하고, 조직 고유의 비표준 구성을 정밀하게 반복해야 할 때는 SQL 스크립트가 유리하다.</a:t>
            </a:r>
          </a:p>
          <a:p/>
          <a:p>
            <a:r>
              <a:t>문제 진단 — DBCA가 실패하면 결국 그 로그 속 CREATE DATABASE 문과 카탈로그 스크립트를 읽어야 한다. 따라서 SQL 방식을 이해하고 있어야 DBCA의 실패까지 진단할 수 있다. 두 방식은 대립이 아니라 상호 보완 관계다.</a:t>
            </a:r>
          </a:p>
          <a:p/>
          <a:p>
            <a:r>
              <a:t>결론적으로, 일상적인 표준 데이터베이스 생성은 DBCA로 빠르게 처리하되, DBA라면 CREATE DATABASE 문의 각 절과 3단계 생성 절차를 반드시 손에 익혀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인스턴스를 시작하려면 최소한의 초기화 파라미터가 담긴 파일이 필요하다. 텍스트 형식의 PFILE(예: initCDB1.ora)을 직접 편집기로 작성하는 것이 가장 직관적이다. CDB를 만들기 위해 반드시 또는 자주 지정하는 파라미터는 다음과 같다.</a:t>
            </a:r>
          </a:p>
          <a:p/>
          <a:p>
            <a:r>
              <a:t>DB_NAME — 데이터베이스(정확히는 CDB 루트)의 이름이다. CDB 루트의 전역 데이터베이스 이름이 곧 CDB 전체의 전역 데이터베이스 이름이 된다. 여기서는 CDB1로 지정한다. DB_NAME은 최대 8자이며 데이터베이스 생성 후에는 사실상 바꾸기 어렵다.</a:t>
            </a:r>
          </a:p>
          <a:p/>
          <a:p>
            <a:r>
              <a:t>CONTROL_FILES — 컨트롤 파일의 이름과 경로다. OMF(Oracle Managed Files)를 사용하지 않는 경우 반드시 지정해야 한다. CREATE DATABASE는 여기에 적힌 경로에 컨트롤 파일을 새로 만든다. 안정성을 위해 서로 다른 디스크에 2~3개로 다중화하는 것이 관례다.</a:t>
            </a:r>
          </a:p>
          <a:p/>
          <a:p>
            <a:r>
              <a:t>DB_BLOCK_SIZE — 데이터베이스의 표준 블록 크기다. 생성 후에는 변경할 수 없으므로 워크로드 특성에 맞게 신중히 정한다. 지정하지 않으면 플랫폼 기본값(대개 8KB)이 사용된다.</a:t>
            </a:r>
          </a:p>
          <a:p/>
          <a:p>
            <a:r>
              <a:t>ENABLE_PLUGGABLE_DATABASE — 이 인스턴스가 CDB(멀티테넌트 컨테이너 데이터베이스)를 생성하도록 준비시키는 파라미터다. TRUE로 설정해야 CREATE DATABASE 문의 ENABLE PLUGGABLE DATABASE 절이 의도대로 동작한다.</a:t>
            </a:r>
          </a:p>
          <a:p/>
          <a:p>
            <a:r>
              <a:t>MAX_PDBS — 이 CDB가 담을 수 있는 PDB의 최대 개수를 제한한다. 라이선스나 자원 관리 정책에 맞춰 상한을 두고 싶을 때 사용한다.</a:t>
            </a:r>
          </a:p>
          <a:p/>
          <a:p>
            <a:r>
              <a:t>이 밖에도 메모리 관련 파라미터(SGA_TARGET, PGA_AGGREGATE_TARGET 등), UNDO_TABLESPACE, DB_CREATE_FILE_DEST(OMF 사용 시) 등을 필요에 따라 함께 지정한다. 컨트롤 파일 경로에 적힌 디렉터리는 미리 존재해야 한다는 점에 주의한다.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아래는 CDB1을 위한 최소 형태의 initCDB1.ora 예시다. 컨트롤 파일 경로에 적힌 디렉터리는 미리 존재해야 한다는 점에 주의한다.</a:t>
            </a:r>
          </a:p>
          <a:p/>
          <a:p>
            <a:r>
              <a:t>DB_NAME=CDB1 로 CDB 루트(=CDB 전체) 이름을 정하고, CONTROL_FILES에 서로 다른 디스크(/u01, /u02)로 컨트롤 파일을 이중화했다. DB_BLOCK_SIZE=8192(8KB)는 표준 블록 크기이며 생성 후 변경할 수 없다. ENABLE_PLUGGABLE_DATABASE=TRUE 는 이 인스턴스를 CDB 생성 모드로 준비시키는 핵심 스위치다. MAX_PDBS=10 은 담을 수 있는 PDB 상한이다(시드는 미포함). SGA_TARGET·PGA_AGGREGATE_TARGET 은 메모리, UNDO_TABLESPACE 는 언두 테이블스페이스 이름을 지정한다.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ENABLE_PLUGGABLE_DATABASE는 이 장에서 가장 중요한 초기화 파라미터다. 이 파라미터를 TRUE로 설정하는 것은, 인스턴스가 non-CDB(전통적인 단일 데이터베이스)가 아니라 CDB를 생성할 준비를 하도록 정의하는 데 필요하다. 즉, 이 파라미터는 뒤에 나올 CREATE DATABASE 문에서 ENABLE PLUGGABLE DATABASE 절과 짝을 이루어 '지금 만드는 것은 멀티테넌트 컨테이너 데이터베이스'라는 의도를 인스턴스와 명령 양쪽에서 선언하는 스위치다.</a:t>
            </a:r>
          </a:p>
          <a:p/>
          <a:p>
            <a:r>
              <a:t>Oracle Database 12c부터 도입된 멀티테넌트 아키텍처에서, 하나의 CDB는 CDB 루트(CDB$ROOT), CDB 시드(PDB$SEED), 그리고 하나 이상의 사용자 PDB로 구성된다. ENABLE_PLUGGABLE_DATABASE=TRUE와 CREATE DATABASE의 ENABLE PLUGGABLE DATABASE 절이 함께 있어야, Oracle은 CDB 루트뿐 아니라 향후 PDB 생성의 틀이 되는 CDB 시드까지 생성한다. 참고로 Oracle Database 21c부터는 non-CDB 아키텍처가 제거되어 CDB 생성이 사실상 기본이 되었지만, 파라미터와 절의 의미를 정확히 이해하는 것은 여전히 중요하다.</a:t>
            </a:r>
          </a:p>
          <a:p/>
          <a:p>
            <a:r>
              <a:t>[모범 사례] 파라미터와 절을 세트로 기억하라</a:t>
            </a:r>
          </a:p>
          <a:p>
            <a:r>
              <a:t>ENABLE_PLUGGABLE_DATABASE=TRUE(초기화 파라미터)와 ENABLE PLUGGABLE DATABASE(CREATE DATABASE 절)는 항상 짝으로 함께 쓴다. 파라미터는 인스턴스를 CDB 생성 모드로 준비시키고, 절은 실제 CREATE DATABASE 문에서 CDB 루트와 CDB 시드를 만들도록 지시한다. 둘 중 하나만 지정하면 의도와 다른 결과나 오류로 이어질 수 있다. '인스턴스 준비(파라미터) → 생성 지시(절)'라는 흐름으로 기억하면 헷갈리지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MAX_PDBS 초기화 파라미터는 하나의 CDB가 수용할 수 있는 PDB의 최대 개수를 제한한다(CDB 시드는 이 수에 포함되지 않는다). 이 파라미터는 자원 관리와 라이선스 준수 두 측면에서 유용하다. 예를 들어 특정 CDB를 소규모 워크로드 전용으로 운영하기로 했다면 MAX_PDBS를 낮게 설정해 실수로 과도한 수의 PDB가 생성되는 것을 막을 수 있다. MAX_PDBS는 생성 후에도 ALTER SYSTEM으로 조정할 수 있으므로, 정책 변화에 맞춰 상한을 올리거나 내릴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초기화 파라미터 파일을 준비했다면, 이제 이 인스턴스를 식별할 ORACLE_SID 환경 변수를 설정한다. ORACLE_SID는 같은 서버에서 여러 인스턴스를 구분하는 이름으로, 여기서는 CDB1로 맞춘다. 그런 다음 SQL*Plus를 실행하고, DBA OS 그룹에 속한 OS 인증 사용자로 SYSDBA 권한으로 접속하여 STARTUP NOMOUNT를 실행한다.</a:t>
            </a:r>
          </a:p>
          <a:p/>
          <a:p>
            <a:r>
              <a:t>STARTUP NOMOUNT는 지정한 PFILE(또는 SPFILE)의 파라미터를 읽어 SGA를 할당하고 백그라운드 프로세스를 기동한다. 이 시점에서 인스턴스의 상태는 STARTED이며, 아직 컨트롤 파일을 읽지 않았으므로 어떤 데이터베이스와도 결합되어 있지 않다. 바로 이 '빈 인스턴스' 위에 CREATE DATABASE 문으로 새 데이터베이스를 만들어 붙이는 것이다.</a:t>
            </a:r>
          </a:p>
          <a:p/>
          <a:p>
            <a:r>
              <a:t>[참고] 인스턴스와 데이터베이스는 서로 다른 것</a:t>
            </a:r>
          </a:p>
          <a:p>
            <a:r>
              <a:t>인스턴스(Instance)는 SGA(메모리)와 백그라운드 프로세스의 집합으로, 휘발성이며 서버 메모리에만 존재한다. 데이터베이스(Database)는 컨트롤 파일·데이터 파일·리두 로그로 구성된 디스크상의 영구 구조다. STARTUP NOMOUNT는 '인스턴스만' 띄운 상태다. 아직 데이터베이스가 없기 때문에, 바로 이 상태에서 CREATE DATABASE 문으로 데이터베이스를 새로 만들어 인스턴스에 결합하는 것이다.</a:t>
            </a:r>
          </a:p>
          <a:p/>
          <a:p>
            <a:r>
              <a:t>[참고] ASM 저장소를 사용할 때의 선행 작업</a:t>
            </a:r>
          </a:p>
          <a:p>
            <a:r>
              <a:t>디스크 저장소를 Oracle Automatic Storage Management(ASM)로 관리한다면, CREATE DATABASE를 실행하기 전에 먼저 Oracle ASM 인스턴스를 시작하고 디스크 그룹을 구성해 두어야 한다. 이 경우 데이터 파일·컨트롤 파일·리두 로그의 위치를 파일 시스템 경로 대신 '+DATA'와 같은 디스크 그룹 이름으로 지정한다. ASM에 대한 자세한 내용은 34장에서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ORACLE_SID를 CDB1로 export한 뒤 OS 인증으로 SYSDBA 접속하여 STARTUP NOMOUNT를 실행한다. 'ORACLE instance started.' 메시지와 함께 SGA 구성(Fixed/Variable Size, Database Buffers, Redo Buffers)이 출력되면 인스턴스가 메모리에 올라온 것이다. 이 시점의 상태는 STARTED이며 아직 데이터베이스와 결합되어 있지 않다. 이 빈 인스턴스 위에 다음 절의 CREATE DATABASE 문으로 실제 CDB를 만든다.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인스턴스가 NOMOUNT 상태로 준비되면, 이제 CREATE DATABASE 문을 실행해 실제 CDB를 만든다. CDB를 생성하려면 CREATE DATABASE 문에 ENABLE PLUGGABLE DATABASE 절을 포함해야 한다. 이 절은 지금 만드는 데이터베이스가 멀티테넌트 컨테이너 데이터베이스이며 non-CDB가 아님을 지정한다.</a:t>
            </a:r>
          </a:p>
          <a:p/>
          <a:p>
            <a:r>
              <a:t>SEED FILE_NAME_CONVERT 절과 함께 쓴 가장 간결한 형태부터 보자. 아래 문장은 슬라이드 예제의 뼈대로, CDB1이라는 CDB를 만들면서 시드 파일의 위치만 지정한다. 이 짧은 문장 하나로 CDB 루트(CDB$ROOT)와 CDB 시드(PDB$SEED)가 함께 만들어진다. ENABLE PLUGGABLE DATABASE 절이 CDB 루트와 CDB 시드의 생성을 지시하고, SEED FILE_NAME_CONVERT 절이 시드 데이터 파일을 어디에 둘지 정한다. 이렇게 최소 형태로도 CDB가 만들어지는 이유는, 명시하지 않은 나머지 요소(리두 로그, SYSTEM/SYSAUX 데이터 파일 등)를 Oracle이 기본값이나 OMF로 자동 처리하기 때문이다.</a:t>
            </a:r>
          </a:p>
          <a:p/>
          <a:p>
            <a:r>
              <a:t>[참고] 단일 문자 집합이 CDB 전체에 적용된다</a:t>
            </a:r>
          </a:p>
          <a:p>
            <a:r>
              <a:t>CREATE DATABASE 문에서 정의하는 문자 집합(CHARACTER SET)과 국가 문자 집합(NATIONAL CHARACTER SET)은 CDB에 대해 단일하게 적용된다. CDB 루트와 CDB 시드, 그리고 이 시드로부터 만들어질 PDB들이 원칙적으로 같은 문자 집합을 공유한다. 따라서 5장에서 강조한 '생성 시점의 신중한 문자 집합 선택'은 SQL 명령어로 만들 때에도 그대로 유효하다. 특별한 이유가 없다면 AL32UTF8을 권장한다.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간결한 CREATE DATABASE 형태다. cdb1 이라는 CDB를 만들면서 ENABLE PLUGGABLE DATABASE 절로 CDB 루트와 CDB 시드를 생성하도록 지시하고, SEED FILE_NAME_CONVERT 절로 시드 데이터 파일의 위치만 지정한다(소스 /oracle/dbs → 대상 /oracle/seed). 나머지 리두 로그·SYSTEM/SYSAUX 데이터 파일 등은 Oracle이 기본값·OMF로 자동 처리한다. 'Database created.' 메시지가 출력되면 인스턴스는 자동으로 마운트·오픈을 거쳐 OPEN 상태가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DATABASE 문은 겉보기에 한 번에 실행되지만, 내부적으로는 인스턴스를 마운트하고 여는 과정을 자동으로 밟으면서 물리 파일들을 단계별로 생성한다. 이 순서를 이해하면 어느 단계에서 오류가 나는지 진단할 수 있다.</a:t>
            </a:r>
          </a:p>
          <a:p/>
          <a:p>
            <a:r>
              <a:t>마운트 단계 — 컨트롤 파일 생성: CREATE DATABASE는 먼저 CONTROL_FILES 파라미터(또는 OMF)에 지정된 경로에 새 컨트롤 파일을 만들고, 이 컨트롤 파일을 마운트한다. 컨트롤 파일은 데이터베이스의 물리 구조(데이터 파일·리두 로그의 이름과 위치)를 기록하는 뼈대다. 지정한 디렉터리가 없으면 이 단계에서 실패한다.</a:t>
            </a:r>
          </a:p>
          <a:p/>
          <a:p>
            <a:r>
              <a:t>오픈 단계 — 리두 로그와 CDB 루트 데이터 파일 생성: 이어서 리두 로그 파일 그룹과 CDB 루트의 데이터 파일들을 만들고 데이터베이스를 연다. CDB 루트의 데이터 파일은 Oracle이 제공한 메타데이터와 데이터 딕셔너리를 담는 SYSTEM 테이블스페이스, AWR(Automatic Workload Repository)를 위한 SYSAUX 테이블스페이스, 그리고 언두 테이블스페이스에 사용된다.</a:t>
            </a:r>
          </a:p>
          <a:p/>
          <a:p>
            <a:r>
              <a:t>CDB 시드 생성: 마지막으로 CDB 시드(PDB$SEED)를 만든다. CDB 시드는 자체적인 SYSTEM·SYSAUX·TEMP 테이블스페이스용 데이터 파일을 갖는다. 이 시드 데이터 파일은 앞으로 새 PDB를 만들 때 복제의 원본(템플릿)으로 사용된다.</a:t>
            </a:r>
          </a:p>
          <a:p/>
          <a:p>
            <a:r>
              <a:t>정리하면, CREATE DATABASE ... ENABLE PLUGGABLE DATABASE 한 문장이 (1) 컨트롤 파일, (2) 리두 로그, (3) CDB 루트 데이터 파일(SYSTEM/SYSAUX/UNDO/TEMP), (4) CDB 시드 데이터 파일(SYSTEM/SYSAUX/TEMP)을 차례로 만든다. CDB 시드의 데이터 파일 위치를 지정하는 방법이 바로 SEED FILE_NAME_CONVERT 절이며, 이를 생략하면 OMF가 시드 파일의 이름과 위치를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사용하는 완전한 형태의 CREATE DATABASE 문에는 여러 절이 함께 등장한다. 각 절이 무엇을 정의하는지 미리 훑어 두면 다음 절의 전체 예제를 읽기가 수월하다.</a:t>
            </a:r>
          </a:p>
          <a:p/>
          <a:p>
            <a:r>
              <a:t>USER SYS IDENTIFIED BY / USER SYSTEM IDENTIFIED BY — 새 데이터베이스의 필수 관리자 계정 SYS와 SYSTEM의 비밀번호를 지정한다.</a:t>
            </a:r>
          </a:p>
          <a:p/>
          <a:p>
            <a:r>
              <a:t>LOGFILE GROUP ... SIZE — 온라인 리두 로그 그룹과 각 그룹의 멤버 파일, 크기를 정의한다. 멤버를 둘 이상 지정하면 리두 로그가 다중화된다.</a:t>
            </a:r>
          </a:p>
          <a:p/>
          <a:p>
            <a:r>
              <a:t>CHARACTER SET / NATIONAL CHARACTER SET — 데이터베이스 문자 집합과 국가 문자 집합(NCHAR/NVARCHAR2용)을 지정한다.</a:t>
            </a:r>
          </a:p>
          <a:p/>
          <a:p>
            <a:r>
              <a:t>EXTENT MANAGEMENT LOCAL DATAFILE — SYSTEM 테이블스페이스의 익스텐트 관리 방식과 데이터 파일을 정의한다.</a:t>
            </a:r>
          </a:p>
          <a:p/>
          <a:p>
            <a:r>
              <a:t>SYSAUX DATAFILE / UNDO TABLESPACE ... DATAFILE / DEFAULT TEMPORARY TABLESPACE ... TEMPFILE — 각각 SYSAUX, 언두, 기본 임시 테이블스페이스의 데이터/임시 파일을 정의한다.</a:t>
            </a:r>
          </a:p>
          <a:p/>
          <a:p>
            <a:r>
              <a:t>ENABLE PLUGGABLE DATABASE — 앞서 설명한 대로 CDB 루트와 CDB 시드를 생성하도록 지시한다.</a:t>
            </a:r>
          </a:p>
          <a:p/>
          <a:p>
            <a:r>
              <a:t>SEED FILE_NAME_CONVERT — CDB 루트 데이터 파일 경로를 CDB 시드 데이터 파일 경로로 변환하는 규칙을 정의한다.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 시드(PDB$SEED)의 데이터 파일을 어디에 둘지 선언하는 대표적인 방법이 SEED FILE_NAME_CONVERT 절이다. 이 절은 하나의 규칙 — '소스 디렉터리 문자열을 대상 디렉터리 문자열로 치환하라' — 을 정의한다. 즉 FILE_NAME_CONVERT 절은 CDB 루트 데이터 파일의 소스 디렉터리와, 그로부터 만들어질 CDB 시드 데이터 파일의 대상 디렉터리를 지정한다.</a:t>
            </a:r>
          </a:p>
          <a:p/>
          <a:p>
            <a:r>
              <a:t>SEED FILE_NAME_CONVERT = ('소스', '대상') 형식에서, Oracle은 CDB 루트 데이터 파일의 경로 문자열 중 '소스'에 해당하는 부분을 '대상'으로 바꾸어 시드 데이터 파일의 경로를 결정한다. 예를 들어 소스가 /u01/app/oradata/CDB1이고 대상이 /u01/app/oradata/CDB1/seed라면, 루트의 system01.dbf가 /u01/app/oradata/CDB1/system01.dbf일 때 시드의 대응 파일은 /u01/app/oradata/CDB1/seed/system01.dbf가 된다. 이때 두 디렉터리 모두 미리 존재해야 하며, 존재하지 않으면 CREATE DATABASE가 실패한다.</a:t>
            </a:r>
          </a:p>
          <a:p/>
          <a:p>
            <a:r>
              <a:t>이 치환 방식은 하나의 규칙으로 여러 개의 시드 파일 경로를 한꺼번에 결정한다는 장점이 있다. 루트 데이터 파일이 SYSTEM·SYSAUX·UNDO 등 여러 개라도, 소스 디렉터리에 해당하는 부분만 대상 디렉터리로 바뀌므로 각 파일이 시드 디렉터리 아래 같은 이름으로 대응된다. 반대로 말하면, 루트 파일들이 서로 다른 디렉터리에 흩어져 있다면 하나의 SEED FILE_NAME_CONVERT 규칙만으로는 모두 커버하지 못할 수 있으므로, 파일 배치 계획 단계에서 루트 데이터 파일을 일관된 디렉터리에 모아 두는 것이 편리하다.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아래는 SEED FILE_NAME_CONVERT 절을 사용해 모든 주요 파일을 명시적으로 지정한 완전한 CREATE DATABASE 예제다.</a:t>
            </a:r>
          </a:p>
          <a:p/>
          <a:p>
            <a:r>
              <a:t>이 문장을 절 단위로 해석하면 다음과 같다. USER SYS/USER SYSTEM 절이 관리자 계정 비밀번호를 정하고, LOGFILE 절이 각각 두 개의 멤버로 다중화된 리두 로그 그룹 1·2를 100MB로 만든다. CHARACTER SET 절이 데이터베이스 문자 집합을 AL32UTF8로, 국가 문자 집합을 AL16UTF16으로 정한다. EXTENT MANAGEMENT LOCAL DATAFILE 절이 SYSTEM 테이블스페이스 데이터 파일을 325MB로, SYSAUX/UNDO/임시 테이블스페이스 절이 각각의 파일을 만든다.</a:t>
            </a:r>
          </a:p>
          <a:p/>
          <a:p>
            <a:r>
              <a:t>마지막 두 절이 이 장의 핵심이다. ENABLE PLUGGABLE DATABASE가 CDB 루트와 CDB 시드를 생성하게 하고, SEED FILE_NAME_CONVERT가 루트 데이터 파일 디렉터리 /u01/app/oradata/CDB1을 시드 디렉터리 /u01/app/oradata/CDB1/seed로 치환하여 시드 파일들을 seed 하위 디렉터리에 만든다. 여기서 루트 디렉터리 /u01/app/oradata/CDB1과 시드 디렉터리 /u01/app/oradata/CDB1/seed는 반드시 존재해야 한다. SEED FILE_NAME_CONVERT 절을 생략하고 싶다면, 대신 PDB_FILE_NAME_CONVERT 초기화 파라미터를 사용할 수 있다.</a:t>
            </a:r>
          </a:p>
          <a:p/>
          <a:p>
            <a:r>
              <a:t>[모범 사례] 시드 파일은 별도 하위 디렉터리로 분리</a:t>
            </a:r>
          </a:p>
          <a:p>
            <a:r>
              <a:t>SEED FILE_NAME_CONVERT로 시드 데이터 파일을 루트 데이터 파일과 같은 디렉터리에 섞지 말고, seed 같은 별도 하위 디렉터리로 분리하는 것이 관리에 좋다. 시드 파일이 명확히 구분되면 백업·모니터링·정리 작업에서 루트 파일과 혼동할 위험이 줄고, 향후 PDB가 시드를 복제할 때 원본 위치를 추적하기도 쉽다. 대상 디렉터리는 CREATE DATABASE 실행 전에 반드시 미리 만들어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 이름을 하나하나 명시하는 방식은 통제력이 높지만, 파일이 많아질수록 경로를 일일이 적는 번거로움과 오타의 위험이 커진다. Oracle은 이를 줄이기 위해 두 가지 대안을 제공한다. 하나는 Oracle Managed Files(OMF)로 파일 이름과 위치를 Oracle에게 맡기는 것이고, 다른 하나는 SEED FILE_NAME_CONVERT 절 대신 PDB_FILE_NAME_CONVERT 초기화 파라미터를 사용하는 것이다. 두 대안은 서로 배타적이지 않으며, 실무에서는 OMF로 데이터 파일 위치를 위임하면서 시드 파일만 별도 규칙으로 지정하는 식으로 조합해 쓰기도 한다.</a:t>
            </a:r>
          </a:p>
          <a:p/>
          <a:p>
            <a:r>
              <a:t>명시적 데이터 파일 이름을 사용하지 않으려면 Oracle Managed Files(OMF)를 사용한다. 방법은 간단하다. DB_CREATE_FILE_DEST 초기화 파라미터를, 문장에 지정된 SYSTEM·SYSAUX·UNDO·USERS 테이블스페이스의 데이터 파일을 둘 대상 디렉터리 값으로 설정하면 된다. 그러면 Oracle이 모든 데이터 파일·컨트롤 파일·리두 로그 파일에 대해 표준화된 이름과 기본 크기·속성을 스스로 선택한다. 지정한 디렉터리(예: /u02/app/oradata)는 반드시 존재해야 한다.</a:t>
            </a:r>
          </a:p>
          <a:p/>
          <a:p>
            <a:r>
              <a:t>OMF 예제에는 DATAFILE '...' SIZE ... 같은 파일 명세가 거의 없다. LOGFILE 절도, SEED FILE_NAME_CONVERT 절도 없다. 그럼에도 CDB가 만들어지는 이유는 DB_CREATE_FILE_DEST가 설정되어 있어 Oracle이 필요한 모든 파일을 OMF 규칙에 따라 자동으로 생성하기 때문이다. 컨트롤 파일과 리두 로그, CDB 루트와 CDB 시드의 데이터 파일 모두 /u02/app/oradata 아래에 Oracle이 정한 이름으로 배치된다.</a:t>
            </a:r>
          </a:p>
          <a:p/>
          <a:p>
            <a:r>
              <a:t>[모범 사례] OMF는 실수를 줄이는 안전벨트</a:t>
            </a:r>
          </a:p>
          <a:p>
            <a:r>
              <a:t>파일 이름을 사람이 직접 지정하면 오타·경로 누락·중복 같은 실수가 생기기 쉽다. OMF를 사용하면 Oracle이 이름을 표준 규칙으로 생성하므로 이런 실수가 원천 차단된다. 특히 개발·테스트 환경이나 자동 프로비저닝 파이프라인처럼 데이터베이스를 반복 생성·삭제하는 상황에서 OMF는 스크립트를 단순하고 견고하게 만들어 준다. 다만 파일 배치를 물리 디스크 수준까지 정밀하게 통제해야 하는 운영 환경에서는 명시적 지정이 필요할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OMF를 사용하여 파일 경로를 거의 적지 않고도 CDB2라는 새 CDB를 만드는 예제다. DB_CREATE_FILE_DEST='/u02/app/oradata' 만 설정되어 있으면 CREATE DATABASE 문이 매우 간결해진다. 이 예제에는 DATAFILE '...' SIZE ... 같은 파일 명세가 거의 없고 LOGFILE 절도, SEED FILE_NAME_CONVERT 절도 없다. 그럼에도 CDB가 만들어지는 이유는 DB_CREATE_FILE_DEST가 설정되어 있어 Oracle이 필요한 모든 파일(컨트롤 파일·리두 로그·CDB 루트와 시드의 데이터 파일)을 OMF 규칙에 따라 /u02/app/oradata 아래에 자동 생성하기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FILE_NAME_CONVERT 절을 CREATE DATABASE 문 안에 쓰지 않으려면, 대신 PDB_FILE_NAME_CONVERT 초기화 파라미터를 사용할 수 있다. 이 파라미터는 기존 파일(지금의 경우 CDB 루트 데이터 파일)의 이름을 새 파일 이름(이 경우 CDB 시드 데이터 파일)에 매핑한다. 즉 SEED FILE_NAME_CONVERT 절이 문장 안에서 하던 경로 치환 역할을, 초기화 파라미터 수준에서 대신 수행하는 것이다.</a:t>
            </a:r>
          </a:p>
          <a:p/>
          <a:p>
            <a:r>
              <a:t>위 예시에서 Oracle은 CDB 루트 데이터 파일 경로의 /u02/app/oradata/CDB2 부분을 /u02/app/oradata/seed로 치환하여 CDB 시드 데이터 파일 경로를 만든다. 이때에도 /u02/app/oradata/CDB2와 /u02/app/oradata/seed 두 디렉터리가 모두 존재해야 한다. 결과적으로 SEED FILE_NAME_CONVERT 절과 동일한 효과를 얻되, 치환 규칙을 CREATE DATABASE 문 밖의 파라미터 파일에 둔다는 점만 다르다.</a:t>
            </a:r>
          </a:p>
          <a:p/>
          <a:p>
            <a:r>
              <a:t>[참고] 세 가지 시드 파일 위치 지정 방법 정리</a:t>
            </a:r>
          </a:p>
          <a:p>
            <a:r>
              <a:t>① SEED FILE_NAME_CONVERT 절 — CREATE DATABASE 문 안에서 경로 치환 규칙을 직접 지정. 통제력이 높고 문장만 봐도 의도가 드러난다.</a:t>
            </a:r>
          </a:p>
          <a:p>
            <a:r>
              <a:t>② PDB_FILE_NAME_CONVERT 초기화 파라미터 — 같은 치환 규칙을 파라미터 파일에 둠. 문장은 간결해지지만 규칙이 파일에 숨는다.</a:t>
            </a:r>
          </a:p>
          <a:p>
            <a:r>
              <a:t>③ OMF(DB_CREATE_FILE_DEST) — 위치만 정하고 이름·경로는 Oracle에 위임. 가장 간결하지만 파일명을 직접 정할 수 없다.</a:t>
            </a:r>
          </a:p>
          <a:p>
            <a:r>
              <a:t>세 방법 모두 대상 디렉터리는 사전에 존재해야 한다는 공통 규칙이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FILE_NAME_CONVERT 절을 문장에 쓰는 대신, 초기화 파라미터 파일(initCDB2.ora 등)에 PDB_FILE_NAME_CONVERT를 지정하는 방법이다. Oracle은 CDB 루트 데이터 파일 경로의 /u02/app/oradata/CDB2 부분을 /u02/app/oradata/seed로 치환하여 CDB 시드 데이터 파일 경로를 만든다. 이때에도 두 디렉터리가 모두 존재해야 한다. 효과는 SEED FILE_NAME_CONVERT 절과 동일하며, 치환 규칙을 문장 밖 파라미터 파일에 둔다는 점만 다르다.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DATABASE 문이 성공적으로 끝났다고 해서 데이터베이스가 곧바로 완전히 쓸 수 있는 상태가 되는 것은 아니다. 이 시점의 CDB에는 데이터 파일·리두 로그·컨트롤 파일이라는 '뼈대'와 SYS·SYSTEM 계정, 기본 테이블스페이스는 있지만, 정작 관리에 필수적인 데이터 딕셔너리 뷰(USER_·ALL_·DBA_·CDB_ 뷰 등)와 표준 PL/SQL 패키지가 아직 설치되어 있지 않다. 이 마지막 조립을 담당하는 것이 카탈로그 스크립트다.</a:t>
            </a:r>
          </a:p>
          <a:p/>
          <a:p>
            <a:r>
              <a:t>CREATE DATABASE 실행 후에는 catcdb.sql SQL 스크립트를 실행하여, 데이터 딕셔너리 테이블에 대한 뷰를 구축하고 표준 PL/SQL 패키지를 CDB 루트에 설치한다. catcdb.sql은 $ORACLE_HOME/rdbms/admin 디렉터리에 있으며, 멀티테넌트 환경에 맞게 CDB 루트뿐 아니라 CDB 시드에도 필요한 딕셔너리와 패키지를 설치하도록 설계되어 있다. 데이터 딕셔너리가 구축되어야 비로소 DBA_TABLESPACES, V$DATABASE 같은 뷰를 조회하고 DBMS_ 패키지를 사용할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DATABASE 실행 후 catcdb.sql을 실행하여 데이터 딕셔너리 뷰를 구축하고 표준 PL/SQL 패키지를 CDB 루트에 설치한다. SQL*Plus에서 @?/rdbms/admin/catcdb.sql 로 실행하며, 여기서 ?/ 는 $ORACLE_HOME을 가리키는 SQL*Plus 축약 표기다. catcdb.sql은 멀티테넌트 환경에 맞게 CDB 루트와 CDB 시드 모두에 딕셔너리와 패키지를 설치하며, 실행에는 수십 분이 걸릴 수 있으므로 완료까지 기다린다.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catcdb.sql 대신, 개별 스크립트를 직접 실행할 수도 있다. 대표적으로 catalog.sql과 catproc.sql, 그리고 설치된 옵션과 관련된 다른 모든 SQL 스크립트를 실행하는 방식이다.</a:t>
            </a:r>
          </a:p>
          <a:p/>
          <a:p>
            <a:r>
              <a:t>catalog.sql — 데이터 딕셔너리 테이블 위에 얹히는 동적 성능 뷰(V$·GV$)와 정적 데이터 딕셔너리 뷰(USER_·ALL_·DBA_ 계열)의 정의, 그리고 공개 동의어(public synonym)를 생성한다. 관리자가 데이터베이스 상태를 조회하는 창구가 여기서 만들어진다.</a:t>
            </a:r>
          </a:p>
          <a:p/>
          <a:p>
            <a:r>
              <a:t>catproc.sql — PL/SQL을 사용하기 위해 필요한 모든 것을 설치한다. Oracle이 제공하는 표준 PL/SQL 패키지(DBMS_·UTL_ 계열)와 관련 객체들이 이 스크립트로 구축된다.</a:t>
            </a:r>
          </a:p>
          <a:p/>
          <a:p>
            <a:r>
              <a:t>전통적으로 non-CDB 시절에는 CREATE DATABASE 후 catalog.sql과 catproc.sql을 순서대로 돌리는 것이 정석이었다. 멀티테넌트 CDB에서는 이 작업을 CDB 루트와 CDB 시드 모두에 대해, 그리고 설치한 옵션(예: JVM, 텍스트, 공간 등)에 맞는 추가 스크립트까지 함께 수행해야 하므로, 이를 한데 묶어 조율해 주는 catcdb.sql을 사용하는 편이 더 안전하고 간편하다.</a:t>
            </a:r>
          </a:p>
          <a:p/>
          <a:p>
            <a:r>
              <a:t>[모범 사례] 실무에서는 catcdb.sql 사용을 우선</a:t>
            </a:r>
          </a:p>
          <a:p>
            <a:r>
              <a:t>멀티테넌트 CDB에서는 데이터 딕셔너리와 패키지를 CDB 루트와 CDB 시드에 일관되게 설치해야 하고, 설치된 옵션에 따라 실행해야 할 스크립트도 달라진다. 이를 사람이 일일이 순서대로 실행하면 누락이 생기기 쉽다. catcdb.sql은 이 과정을 표준 순서로 묶어 실행해 주므로, 특별한 이유가 없다면 catalog.sql·catproc.sql을 개별 실행하기보다 catcdb.sql을 사용하는 것을 권장한다. 참고로 DBCA로 데이터베이스를 만들 때에도 내부적으로 이에 상응하는 카탈로그 구축이 수행된다.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카탈로그 스크립트 실행이 끝나면, 데이터 딕셔너리 뷰가 정상적으로 조회되는지 확인하여 데이터베이스가 관리 가능한 상태가 되었는지 검증한다. 예를 들어 컨테이너 목록과 테이블스페이스, 데이터 파일을 조회해 CDB 루트와 CDB 시드가 제대로 만들어졌는지 본다.</a:t>
            </a:r>
          </a:p>
          <a:p/>
          <a:p>
            <a:r>
              <a:t>PDB$SEED가 READ ONLY로 보이는 것이 정상이다. 시드는 새 PDB를 만들기 위한 읽기 전용 템플릿이므로 항상 READ ONLY 상태로 유지된다. DBA_TABLESPACES 같은 딕셔너리 뷰가 오류 없이 조회된다면, 데이터 딕셔너리 구축이 성공한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V$CONTAINERS 조회로 CDB$ROOT(CON_ID 1, READ WRITE)와 PDB$SEED(CON_ID 2, READ ONLY)가 정상 생성됐는지 확인한다. PDB$SEED가 READ ONLY로 보이는 것은 정상이다 — 시드는 새 PDB 생성용 읽기 전용 템플릿이기 때문이다. 이어서 DBA_TABLESPACES 같은 딕셔너리 뷰가 오류 없이 조회되면(COUNT 반환) 데이터 딕셔너리 구축이 성공한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딕셔너리 구축이 끝난 뒤에는 몇 가지 마무리 작업을 관례적으로 수행한다.</a:t>
            </a:r>
          </a:p>
          <a:p/>
          <a:p>
            <a:r>
              <a:t>첫째, utlrp.sql 스크립트를 실행하여 카탈로그 설치 과정에서 생긴 무효(INVALID) 상태의 객체들을 재컴파일한다. 대규모 PL/SQL 패키지를 설치하는 과정에서는 의존성 순서 때문에 일시적으로 무효 상태가 되는 객체가 생기는데, utlrp.sql이 이를 일괄 재컴파일하여 유효(VALID) 상태로 만든다.</a:t>
            </a:r>
          </a:p>
          <a:p/>
          <a:p>
            <a:r>
              <a:t>둘째, 지금까지 텍스트 PFILE로 인스턴스를 운영했다면, CREATE SPFILE FROM PFILE 명령으로 서버 파라미터 파일(SPFILE)을 만들어 이후 파라미터 변경을 ALTER SYSTEM으로 영구히 반영할 수 있게 한다.</a:t>
            </a:r>
          </a:p>
          <a:p/>
          <a:p>
            <a:r>
              <a:t>이 두 작업까지 마치면, SQL 명령어로 생성한 CDB는 DBCA로 만든 것과 기능적으로 동등한, 운영에 투입할 수 있는 완전한 데이터베이스가 된다. 이후에는 7장에서 배울 시작·종료 절차, 8장의 인스턴스 관리, 14~16장의 PDB 관리로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작업의 실행 예다. (1) @?/rdbms/admin/utlrp.sql 로 카탈로그 설치 과정에서 생긴 INVALID 객체를 일괄 재컴파일한다. (2) CREATE SPFILE FROM PFILE 로 텍스트 PFILE에서 서버 파라미터 파일(SPFILE)을 만들어 이후 파라미터 변경을 ALTER SYSTEM으로 영구 반영할 수 있게 한다. 마지막으로 DBA_OBJECTS에서 status='INVALID' 개수가 0이면 무효 객체가 남지 않은 정상 상태다.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실습 1단계. 가장 먼저 데이터 파일·컨트롤 파일·시드 파일이 들어갈 디렉터리를 미리 만든다. CREATE DATABASE는 존재하지 않는 디렉터리에 파일을 만들지 못하므로, 이 사전 준비를 빠뜨리면 반드시 실패한다. mkdir -p로 루트 디렉터리와 시드 하위 디렉터리(.../CDB1/seed), 그리고 컨트롤 파일 이중화 대상(/u02/app/oradata/CDB1)까지 모두 만든 뒤, initCDB1.ora를 작성하고 ORACLE_SID=CDB1을 설정한다.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실습 2단계. SYSDBA로 접속해 STARTUP NOMOUNT로 인스턴스만 기동한다. V$INSTANCE의 STATUS가 STARTED이면 인스턴스(SGA+프로세스)만 올라와 있고 아직 데이터베이스와 결합되지 않은 상태다. 이 빈 인스턴스 위에 3단계에서 CREATE DATABASE로 CDB를 만든다.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실습 3단계. 6.4의 완전한 예제 형태로 CREATE DATABASE 문을 실행한다. 성공하면 'Database created.' 메시지가 출력되며, 인스턴스는 자동으로 마운트·오픈 단계를 거쳐 OPEN 상태가 된다. ENABLE PLUGGABLE DATABASE가 CDB 루트와 시드를, SEED FILE_NAME_CONVERT가 시드 파일을 .../CDB1/seed 아래에 만든다.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실습 4단계. CDB 루트에서 catcdb.sql을 실행하여 데이터 딕셔너리 뷰와 표준 PL/SQL 패키지를 설치한다. 멀티테넌트에 맞게 CDB 루트와 CDB 시드 모두에 설치되며, 실행에 수십 분이 걸릴 수 있으므로 완료까지 기다린다. 필요 시 이후 utlrp.sql로 무효 객체를 재컴파일하고 CREATE SPFILE FROM PFILE로 SPFILE을 생성한다.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실습 5단계. 모든 단계가 끝나면 데이터베이스가 CDB로 열려 있고 시드가 만들어졌는지, 딕셔너리 조회가 되는지를 확인하여 마무리한다. V$DATABASE의 CDB 컬럼이 YES이고 V$PDBS에 PDB$SEED가 보인다면, SQL 명령어만으로 멀티테넌트 CDB를 성공적으로 만든 것이다. 이제 이 CDB 위에 14장·15장에서 배울 방법으로 사용자 PDB를 만들어 나갈 수 있다.</a:t>
            </a:r>
          </a:p>
          <a:p/>
          <a:p>
            <a:r>
              <a:t>[실무 시나리오] '디렉터리가 없어요' — 가장 흔한 실패의 원인</a:t>
            </a:r>
          </a:p>
          <a:p>
            <a:r>
              <a:t>CREATE DATABASE 실습에서 초심자가 가장 자주 마주치는 오류는 데이터 파일 생성 오류나 컨트롤 파일 생성 실패다. 십중팔구 원인은 데이터 파일·컨트롤 파일·시드 파일이 들어갈 디렉터리가 존재하지 않는다는 것이다. CREATE DATABASE 문은 파일은 만들어 주지만 디렉터리는 만들지 않는다. 특히 SEED FILE_NAME_CONVERT의 대상 디렉터리(예: .../CDB1/seed)를 빠뜨리는 실수가 잦다. 해결책은 단순하다. 문장을 실행하기 전에 mkdir -p로 모든 대상 디렉터리를 미리 만들어 두는 것을 체크리스트에 넣어라. 이 한 가지 습관이 실습 실패의 절반 이상을 예방한다.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 1] 정답: (b) ENABLE PLUGGABLE DATABASE.</a:t>
            </a:r>
          </a:p>
          <a:p>
            <a:r>
              <a:t>ENABLE PLUGGABLE DATABASE 절이 지금 만드는 데이터베이스가 CDB이며 non-CDB가 아님을 지정하고, CDB 루트와 CDB 시드를 생성하도록 지시한다.</a:t>
            </a:r>
          </a:p>
          <a:p/>
          <a:p>
            <a:r>
              <a:t>[문제 2] 정답: (c) ENABLE_PLUGGABLE_DATABASE.</a:t>
            </a:r>
          </a:p>
          <a:p>
            <a:r>
              <a:t>ENABLE_PLUGGABLE_DATABASE=TRUE는 CREATE DATABASE의 ENABLE PLUGGABLE DATABASE 절과 짝을 이루어 CDB 생성을 준비시킨다.</a:t>
            </a:r>
          </a:p>
          <a:p/>
          <a:p>
            <a:r>
              <a:t>[문제 3] 정답: (b) 마운트 단계.</a:t>
            </a:r>
          </a:p>
          <a:p>
            <a:r>
              <a:t>컨트롤 파일은 마운트 단계에서 생성되며, 리두 로그 파일과 CDB 루트 데이터 파일은 오픈 단계에서 생성된다.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 4] 정답: (b). 이 절은 소스(루트) 디렉터리를 대상(시드) 디렉터리로 치환하여 CDB 시드 데이터 파일의 위치를 정한다. 두 디렉터리는 미리 존재해야 한다.</a:t>
            </a:r>
          </a:p>
          <a:p/>
          <a:p>
            <a:r>
              <a:t>[문제 5] 정답: (b) DB_CREATE_FILE_DEST. 이를 대상 디렉터리로 설정하면 OMF가 데이터 파일·컨트롤 파일·리두 로그의 이름과 크기·속성을 자동으로 정한다. 해당 디렉터리는 존재해야 한다.</a:t>
            </a:r>
          </a:p>
          <a:p/>
          <a:p>
            <a:r>
              <a:t>[문제 6] 정답: (b) catcdb.sql(또는 catalog.sql + catproc.sql). catcdb.sql은 데이터 딕셔너리 뷰를 구축하고 표준 PL/SQL 패키지를 설치한다. 개별적으로는 catalog.sql(딕셔너리·동적 성능 뷰)과 catproc.sql(PL/SQL 패키지)을 실행할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rPr>
              <a:t>Oracle Database 19c: Administration Workshop  |  제6장</a:t>
            </a:r>
          </a:p>
        </p:txBody>
      </p:sp>
      <p:sp>
        <p:nvSpPr>
          <p:cNvPr id="4" name="TextBox 3"/>
          <p:cNvSpPr txBox="1"/>
          <p:nvPr/>
        </p:nvSpPr>
        <p:spPr>
          <a:xfrm>
            <a:off x="1188720" y="2194560"/>
            <a:ext cx="10332720" cy="2011680"/>
          </a:xfrm>
          <a:prstGeom prst="rect">
            <a:avLst/>
          </a:prstGeom>
          <a:noFill/>
        </p:spPr>
        <p:txBody>
          <a:bodyPr wrap="square">
            <a:spAutoFit/>
          </a:bodyPr>
          <a:lstStyle/>
          <a:p>
            <a:r>
              <a:rPr sz="4000" b="1">
                <a:solidFill>
                  <a:srgbClr val="FFFFFF"/>
                </a:solidFill>
                <a:latin typeface="Malgun Gothic"/>
              </a:rPr>
              <a:t>SQL 명령어를 이용한 Oracle 데이터베이스 생성</a:t>
            </a:r>
          </a:p>
        </p:txBody>
      </p:sp>
      <p:sp>
        <p:nvSpPr>
          <p:cNvPr id="5" name="TextBox 4"/>
          <p:cNvSpPr txBox="1"/>
          <p:nvPr/>
        </p:nvSpPr>
        <p:spPr>
          <a:xfrm>
            <a:off x="1188720" y="4297680"/>
            <a:ext cx="10058400" cy="1463040"/>
          </a:xfrm>
          <a:prstGeom prst="rect">
            <a:avLst/>
          </a:prstGeom>
          <a:noFill/>
        </p:spPr>
        <p:txBody>
          <a:bodyPr wrap="square">
            <a:spAutoFit/>
          </a:bodyPr>
          <a:lstStyle/>
          <a:p>
            <a:r>
              <a:rPr sz="1800" b="0">
                <a:solidFill>
                  <a:srgbClr val="C5CED6"/>
                </a:solidFill>
                <a:latin typeface="Malgun Gothic"/>
              </a:rPr>
              <a:t>CREATE DATABASE · ENABLE PLUGGABLE DATABASE · SEED FILE_NAME_CONVERT · OMF · catcdb.sql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학습 목표 (Objectives)</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DBCA 자동 생성과 SQL 명령어 수동 생성의 차이를 설명하고 선택 기준을 판단한다</a:t>
            </a:r>
          </a:p>
          <a:p>
            <a:pPr/>
            <a:r>
              <a:rPr sz="1800" b="0">
                <a:solidFill>
                  <a:srgbClr val="202830"/>
                </a:solidFill>
                <a:latin typeface="Malgun Gothic"/>
              </a:rPr>
              <a:t>•  CREATE DATABASE 명령으로 멀티테넌트 컨테이너 데이터베이스(CDB)를 생성한다</a:t>
            </a:r>
          </a:p>
          <a:p>
            <a:pPr/>
            <a:r>
              <a:rPr sz="1800" b="0">
                <a:solidFill>
                  <a:srgbClr val="202830"/>
                </a:solidFill>
                <a:latin typeface="Malgun Gothic"/>
              </a:rPr>
              <a:t>•  ENABLE PLUGGABLE DATABASE 절의 의미와 있고 없음의 차이를 설명한다</a:t>
            </a:r>
          </a:p>
          <a:p>
            <a:pPr/>
            <a:r>
              <a:rPr sz="1800" b="0">
                <a:solidFill>
                  <a:srgbClr val="202830"/>
                </a:solidFill>
                <a:latin typeface="Malgun Gothic"/>
              </a:rPr>
              <a:t>•  생성 전 초기화 파라미터(DB_NAME·CONTROL_FILES·DB_BLOCK_SIZE·ENABLE_PLUGGABLE_DATABASE·MAX_PDBS)를 구성한다</a:t>
            </a:r>
          </a:p>
          <a:p>
            <a:pPr/>
            <a:r>
              <a:rPr sz="1800" b="0">
                <a:solidFill>
                  <a:srgbClr val="202830"/>
                </a:solidFill>
                <a:latin typeface="Malgun Gothic"/>
              </a:rPr>
              <a:t>•  STARTUP NOMOUNT에서 CREATE DATABASE가 파일을 단계별로 만드는 과정을 설명한다</a:t>
            </a:r>
          </a:p>
          <a:p>
            <a:pPr/>
            <a:r>
              <a:rPr sz="1800" b="0">
                <a:solidFill>
                  <a:srgbClr val="202830"/>
                </a:solidFill>
                <a:latin typeface="Malgun Gothic"/>
              </a:rPr>
              <a:t>•  SEED FILE_NAME_CONVERT 절로 CDB 시드(PDB$SEED) 데이터 파일 위치를 지정한다</a:t>
            </a:r>
          </a:p>
          <a:p>
            <a:pPr/>
            <a:r>
              <a:rPr sz="1800" b="0">
                <a:solidFill>
                  <a:srgbClr val="202830"/>
                </a:solidFill>
                <a:latin typeface="Malgun Gothic"/>
              </a:rPr>
              <a:t>•  OMF·PDB_FILE_NAME_CONVERT 대안 방식과 catcdb.sql로 데이터 딕셔너리를 구축한다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이 장의 구성 (Agenda)</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6.1  SQL 명령어로 CDB를 생성하는 이유와 전체 개요</a:t>
            </a:r>
          </a:p>
          <a:p>
            <a:pPr/>
            <a:r>
              <a:rPr sz="1800" b="0">
                <a:solidFill>
                  <a:srgbClr val="202830"/>
                </a:solidFill>
                <a:latin typeface="Malgun Gothic"/>
              </a:rPr>
              <a:t>•  6.2  사전 준비 — 초기화 파라미터 파일과 인스턴스 기동</a:t>
            </a:r>
          </a:p>
          <a:p>
            <a:pPr/>
            <a:r>
              <a:rPr sz="1800" b="0">
                <a:solidFill>
                  <a:srgbClr val="202830"/>
                </a:solidFill>
                <a:latin typeface="Malgun Gothic"/>
              </a:rPr>
              <a:t>•  6.3  CREATE DATABASE 문 상세 — ENABLE PLUGGABLE DATABASE 절</a:t>
            </a:r>
          </a:p>
          <a:p>
            <a:pPr/>
            <a:r>
              <a:rPr sz="1800" b="0">
                <a:solidFill>
                  <a:srgbClr val="202830"/>
                </a:solidFill>
                <a:latin typeface="Malgun Gothic"/>
              </a:rPr>
              <a:t>•  6.4  SEED FILE_NAME_CONVERT 절로 시드 파일 위치 지정</a:t>
            </a:r>
          </a:p>
          <a:p>
            <a:pPr/>
            <a:r>
              <a:rPr sz="1800" b="0">
                <a:solidFill>
                  <a:srgbClr val="202830"/>
                </a:solidFill>
                <a:latin typeface="Malgun Gothic"/>
              </a:rPr>
              <a:t>•  6.5  OMF 및 PDB_FILE_NAME_CONVERT를 이용한 대안 방식</a:t>
            </a:r>
          </a:p>
          <a:p>
            <a:pPr/>
            <a:r>
              <a:rPr sz="1800" b="0">
                <a:solidFill>
                  <a:srgbClr val="202830"/>
                </a:solidFill>
                <a:latin typeface="Malgun Gothic"/>
              </a:rPr>
              <a:t>•  6.6  catcdb.sql 실행과 데이터 딕셔너리 구축</a:t>
            </a:r>
          </a:p>
          <a:p>
            <a:pPr/>
            <a:r>
              <a:rPr sz="1800" b="0">
                <a:solidFill>
                  <a:srgbClr val="202830"/>
                </a:solidFill>
                <a:latin typeface="Malgun Gothic"/>
              </a:rPr>
              <a:t>•  6.7  전체 통합 실습  ·  6.8 퀴즈  ·  6.9 요약  ·  6.10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rPr>
              <a:t>6.1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명령어로 CDB를 생성하는 이유와 전체 개요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a:solidFill>
                  <a:srgbClr val="C5CED6"/>
                </a:solidFill>
                <a:latin typeface="Malgun Gothic"/>
              </a:rPr>
              <a:t>•  DBCA 자동화의 이면 — 왜 수동 방식을 배우는가</a:t>
            </a:r>
          </a:p>
          <a:p>
            <a:r>
              <a:rPr sz="1600" b="0">
                <a:solidFill>
                  <a:srgbClr val="C5CED6"/>
                </a:solidFill>
                <a:latin typeface="Malgun Gothic"/>
              </a:rPr>
              <a:t>•  CDB 생성의 3단계 큰 그림과 DBCA·SQL 방식 비교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6.1.1  DBCA 자동화의 이면 — 왜 수동 방식을 배우는가</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DBCA는 GUI 클릭 또는 -silent 명령 한 줄로 완전한 CDB를 자동 생성</a:t>
            </a:r>
          </a:p>
          <a:p>
            <a:pPr/>
            <a:r>
              <a:rPr sz="1800" b="0">
                <a:solidFill>
                  <a:srgbClr val="202830"/>
                </a:solidFill>
                <a:latin typeface="Malgun Gothic"/>
              </a:rPr>
              <a:t>•  그러나 DBCA는 마법이 아니라 CREATE DATABASE + 카탈로그 스크립트를 자동화한 프로그램</a:t>
            </a:r>
          </a:p>
          <a:p>
            <a:pPr/>
            <a:r>
              <a:rPr sz="1800" b="0">
                <a:solidFill>
                  <a:srgbClr val="202830"/>
                </a:solidFill>
                <a:latin typeface="Malgun Gothic"/>
              </a:rPr>
              <a:t>•  ① 실체 이해 — DBCA의 '스크립트 생성'을 보면 이 장의 CREATE DATABASE·catcdb.sql이 그대로 들어 있음</a:t>
            </a:r>
          </a:p>
          <a:p>
            <a:pPr/>
            <a:r>
              <a:rPr sz="1800" b="0">
                <a:solidFill>
                  <a:srgbClr val="202830"/>
                </a:solidFill>
                <a:latin typeface="Malgun Gothic"/>
              </a:rPr>
              <a:t>•  ② 특수 요구 — 파일 물리 배치·다중화·시드 위치를 정밀 제어할 때 직접 작성이 투명·확실</a:t>
            </a:r>
          </a:p>
          <a:p>
            <a:pPr/>
            <a:r>
              <a:rPr sz="1800" b="0">
                <a:solidFill>
                  <a:srgbClr val="202830"/>
                </a:solidFill>
                <a:latin typeface="Malgun Gothic"/>
              </a:rPr>
              <a:t>•  ③ GUI 없는 환경 — 응답 파일로 표현하기 까다로운 구성은 SQL 스크립트가 오히려 단순</a:t>
            </a:r>
          </a:p>
          <a:p>
            <a:pPr/>
            <a:r>
              <a:rPr sz="1800" b="0">
                <a:solidFill>
                  <a:srgbClr val="5A6672"/>
                </a:solidFill>
                <a:latin typeface="Malgun Gothic"/>
              </a:rPr>
              <a:t>•  DBCA=자동 변속기, CREATE DATABASE=수동 변속기. 수동을 알아야 진짜 운전자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실무 시나리오 — DBCA 실패 로그 앞에서 멈추지 않으려면</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1">
                <a:solidFill>
                  <a:srgbClr val="C0392B"/>
                </a:solidFill>
                <a:latin typeface="Malgun Gothic"/>
              </a:rPr>
              <a:t>•  실무 시나리오: </a:t>
            </a:r>
            <a:r>
              <a:rPr sz="1800" b="0">
                <a:solidFill>
                  <a:srgbClr val="202830"/>
                </a:solidFill>
                <a:latin typeface="Malgun Gothic"/>
              </a:rPr>
              <a:t>GUI 없는 신규 서버에서 DBCA -silent가 40% 지점 '데이터베이스 생성 실패'로 중단</a:t>
            </a:r>
          </a:p>
          <a:p>
            <a:pPr/>
            <a:r>
              <a:rPr sz="1800" b="0">
                <a:solidFill>
                  <a:srgbClr val="202830"/>
                </a:solidFill>
                <a:latin typeface="Malgun Gothic"/>
              </a:rPr>
              <a:t>•  화면에는 로그 파일 경로만 출력 — GUI가 없어 원인을 직접 로그에서 찾아야 하는 상황</a:t>
            </a:r>
          </a:p>
          <a:p>
            <a:pPr/>
            <a:r>
              <a:rPr sz="1800" b="0">
                <a:solidFill>
                  <a:srgbClr val="202830"/>
                </a:solidFill>
                <a:latin typeface="Malgun Gothic"/>
              </a:rPr>
              <a:t>•  로그가 가리킨 실패 명령은 다름 아닌 CREATE DATABASE 문</a:t>
            </a:r>
          </a:p>
          <a:p>
            <a:pPr/>
            <a:r>
              <a:rPr sz="1800" b="0">
                <a:solidFill>
                  <a:srgbClr val="202830"/>
                </a:solidFill>
                <a:latin typeface="Malgun Gothic"/>
              </a:rPr>
              <a:t>•  원인: CONTROL_FILES 디렉터리가 없어 마운트 단계에서 컨트롤 파일 생성 실패</a:t>
            </a:r>
          </a:p>
          <a:p>
            <a:pPr/>
            <a:r>
              <a:rPr sz="1800" b="0">
                <a:solidFill>
                  <a:srgbClr val="202830"/>
                </a:solidFill>
                <a:latin typeface="Malgun Gothic"/>
              </a:rPr>
              <a:t>•  CREATE DATABASE의 단계별 동작을 알았기에 디렉터리 생성 후 SQL*Plus에서 같은 문장 재실행 → 신속 복구</a:t>
            </a:r>
          </a:p>
          <a:p>
            <a:pPr/>
            <a:r>
              <a:rPr sz="1800" b="0">
                <a:solidFill>
                  <a:srgbClr val="5A6672"/>
                </a:solidFill>
                <a:latin typeface="Malgun Gothic"/>
              </a:rPr>
              <a:t>•  교훈: 자동화의 로그는 수동 명령의 언어로 쓰여 있다 — 수동을 알면 자동의 실패도 읽는다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6.1.2  CDB 생성의 3단계 큰 그림</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1단계 — 인스턴스 시작: initCDB1.ora 준비 + ORACLE_SID 설정 → STARTUP NOMOUNT (SGA·프로세스만 존재)</a:t>
            </a:r>
          </a:p>
          <a:p>
            <a:pPr/>
            <a:r>
              <a:rPr sz="1800" b="0">
                <a:solidFill>
                  <a:srgbClr val="202830"/>
                </a:solidFill>
                <a:latin typeface="Malgun Gothic"/>
              </a:rPr>
              <a:t>•  2단계 — CDB 생성: CREATE DATABASE ... ENABLE PLUGGABLE DATABASE 실행</a:t>
            </a:r>
          </a:p>
          <a:p>
            <a:pPr/>
            <a:r>
              <a:rPr sz="1800" b="0">
                <a:solidFill>
                  <a:srgbClr val="202830"/>
                </a:solidFill>
                <a:latin typeface="Malgun Gothic"/>
              </a:rPr>
              <a:t>•    이 한 문장이 컨트롤 파일 → 리두 로그 → CDB 루트 데이터 파일 → CDB 시드(PDB$SEED)를 차례로 생성</a:t>
            </a:r>
          </a:p>
          <a:p>
            <a:pPr/>
            <a:r>
              <a:rPr sz="1800" b="0">
                <a:solidFill>
                  <a:srgbClr val="202830"/>
                </a:solidFill>
                <a:latin typeface="Malgun Gothic"/>
              </a:rPr>
              <a:t>•  3단계 — 데이터 딕셔너리 구축: CDB 루트에서 catcdb.sql 실행(뷰 + PL/SQL 패키지 설치)</a:t>
            </a:r>
          </a:p>
          <a:p>
            <a:pPr/>
            <a:r>
              <a:rPr sz="1800" b="0">
                <a:solidFill>
                  <a:srgbClr val="202830"/>
                </a:solidFill>
                <a:latin typeface="Malgun Gothic"/>
              </a:rPr>
              <a:t>•  흐름: initCDB1.ora → Instance → CDB(데이터/컨트롤/리두) → catcdb.sql</a:t>
            </a:r>
          </a:p>
          <a:p>
            <a:pPr/>
            <a:r>
              <a:rPr sz="1800" b="0">
                <a:solidFill>
                  <a:srgbClr val="5A6672"/>
                </a:solidFill>
                <a:latin typeface="Malgun Gothic"/>
              </a:rPr>
              <a:t>•  루트 데이터 파일=SYSTEM/SYSAUX/UNDO/TEMP, 시드 데이터 파일=SYSTEM/SYSAUX/TEMP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6.1.3  DBCA 방식과 SQL 명령어 방식의 비교</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결과물(완성된 CDB)은 같지만 과정과 성격이 다름 — 상황에 맞는 선택이 핵심</a:t>
            </a:r>
          </a:p>
          <a:p>
            <a:pPr/>
            <a:r>
              <a:rPr sz="1800" b="0">
                <a:solidFill>
                  <a:srgbClr val="202830"/>
                </a:solidFill>
                <a:latin typeface="Malgun Gothic"/>
              </a:rPr>
              <a:t>•  사용 편의성 — DBCA는 마법사·기본값으로 초보자도 빠르게, SQL은 학습 곡선 있으나 세밀한 제어</a:t>
            </a:r>
          </a:p>
          <a:p>
            <a:pPr/>
            <a:r>
              <a:rPr sz="1800" b="0">
                <a:solidFill>
                  <a:srgbClr val="202830"/>
                </a:solidFill>
                <a:latin typeface="Malgun Gothic"/>
              </a:rPr>
              <a:t>•  투명성·학습효과 — SQL은 어떤 절이 어떤 파일을 만드는지 문장에 드러나 원리 학습에 최적</a:t>
            </a:r>
          </a:p>
          <a:p>
            <a:pPr/>
            <a:r>
              <a:rPr sz="1800" b="0">
                <a:solidFill>
                  <a:srgbClr val="202830"/>
                </a:solidFill>
                <a:latin typeface="Malgun Gothic"/>
              </a:rPr>
              <a:t>•  자동화 적합성 — 표준 대량 생성은 DBCA 템플릿, 조직 고유 비표준 반복은 SQL 스크립트</a:t>
            </a:r>
          </a:p>
          <a:p>
            <a:pPr/>
            <a:r>
              <a:rPr sz="1800" b="0">
                <a:solidFill>
                  <a:srgbClr val="202830"/>
                </a:solidFill>
                <a:latin typeface="Malgun Gothic"/>
              </a:rPr>
              <a:t>•  문제 진단 — DBCA 실패도 결국 로그 속 CREATE DATABASE·카탈로그를 읽어야 하므로 SQL 이해 필수</a:t>
            </a:r>
          </a:p>
          <a:p>
            <a:pPr/>
            <a:r>
              <a:rPr sz="1800" b="0">
                <a:solidFill>
                  <a:srgbClr val="5A6672"/>
                </a:solidFill>
                <a:latin typeface="Malgun Gothic"/>
              </a:rPr>
              <a:t>•  두 방식은 대립이 아니라 상호 보완 — 일상은 DBCA, 원리·특수구성은 CREATE DATABASE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rPr>
              <a:t>6.2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사전 준비 — 초기화 파라미터 파일과 인스턴스 기동</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a:solidFill>
                  <a:srgbClr val="C5CED6"/>
                </a:solidFill>
                <a:latin typeface="Malgun Gothic"/>
              </a:rPr>
              <a:t>•  초기화 파라미터 파일 작성 · ENABLE_PLUGGABLE_DATABASE · MAX_PDBS</a:t>
            </a:r>
          </a:p>
          <a:p>
            <a:r>
              <a:rPr sz="1600" b="0">
                <a:solidFill>
                  <a:srgbClr val="C5CED6"/>
                </a:solidFill>
                <a:latin typeface="Malgun Gothic"/>
              </a:rPr>
              <a:t>•  ORACLE_SID 설정과 STARTUP NOMOUNT로 '빈 인스턴스' 준비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6.2.1  초기화 파라미터 파일(initCDB1.ora) 작성</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인스턴스 시작에는 최소한의 초기화 파라미터가 담긴 텍스트 PFILE이 필요</a:t>
            </a:r>
          </a:p>
          <a:p>
            <a:pPr/>
            <a:r>
              <a:rPr sz="1800" b="0">
                <a:solidFill>
                  <a:srgbClr val="202830"/>
                </a:solidFill>
                <a:latin typeface="Malgun Gothic"/>
              </a:rPr>
              <a:t>•  DB_NAME — CDB 루트(=CDB 전체)의 이름. 최대 8자, 생성 후 변경 곤란 (여기선 CDB1)</a:t>
            </a:r>
          </a:p>
          <a:p>
            <a:pPr/>
            <a:r>
              <a:rPr sz="1800" b="0">
                <a:solidFill>
                  <a:srgbClr val="202830"/>
                </a:solidFill>
                <a:latin typeface="Malgun Gothic"/>
              </a:rPr>
              <a:t>•  CONTROL_FILES — 컨트롤 파일 경로. OMF 미사용 시 필수, 서로 다른 디스크에 2~3개 다중화 관례</a:t>
            </a:r>
          </a:p>
          <a:p>
            <a:pPr/>
            <a:r>
              <a:rPr sz="1800" b="0">
                <a:solidFill>
                  <a:srgbClr val="202830"/>
                </a:solidFill>
                <a:latin typeface="Malgun Gothic"/>
              </a:rPr>
              <a:t>•  DB_BLOCK_SIZE — 표준 블록 크기. 생성 후 변경 불가(기본 8KB)</a:t>
            </a:r>
          </a:p>
          <a:p>
            <a:pPr/>
            <a:r>
              <a:rPr sz="1800" b="0">
                <a:solidFill>
                  <a:srgbClr val="202830"/>
                </a:solidFill>
                <a:latin typeface="Malgun Gothic"/>
              </a:rPr>
              <a:t>•  ENABLE_PLUGGABLE_DATABASE — CDB 생성 준비 스위치(TRUE), MAX_PDBS — PDB 최대 개수 제한</a:t>
            </a:r>
          </a:p>
          <a:p>
            <a:pPr/>
            <a:r>
              <a:rPr sz="1800" b="0">
                <a:solidFill>
                  <a:srgbClr val="5A6672"/>
                </a:solidFill>
                <a:latin typeface="Malgun Gothic"/>
              </a:rPr>
              <a:t>•  그 외 SGA_TARGET·PGA_AGGREGATE_TARGET·UNDO_TABLESPACE·DB_CREATE_FILE_DEST(OMF) 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초기화 파라미터 파일 예시 — initCDB1.ora</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$ORACLE_HOME/dbs/initCDB1.ora (텍스트 PFILE)</a:t>
            </a:r>
          </a:p>
        </p:txBody>
      </p:sp>
      <p:sp>
        <p:nvSpPr>
          <p:cNvPr id="5" name="Rectangle 4"/>
          <p:cNvSpPr/>
          <p:nvPr/>
        </p:nvSpPr>
        <p:spPr>
          <a:xfrm>
            <a:off x="640080" y="1691640"/>
            <a:ext cx="10881360" cy="287909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2659634"/>
          </a:xfrm>
          <a:prstGeom prst="rect">
            <a:avLst/>
          </a:prstGeom>
          <a:noFill/>
        </p:spPr>
        <p:txBody>
          <a:bodyPr wrap="square" anchor="t">
            <a:spAutoFit/>
          </a:bodyPr>
          <a:lstStyle/>
          <a:p>
            <a:r>
              <a:rPr sz="1300" b="0">
                <a:solidFill>
                  <a:srgbClr val="7EC699"/>
                </a:solidFill>
                <a:latin typeface="Consolas"/>
              </a:rPr>
              <a:t># ---- initCDB1.ora : CDB1 인스턴스 초기화 파라미터 파일 ----</a:t>
            </a:r>
          </a:p>
          <a:p>
            <a:r>
              <a:rPr sz="1300" b="0">
                <a:solidFill>
                  <a:srgbClr val="E6E6E6"/>
                </a:solidFill>
                <a:latin typeface="Consolas"/>
              </a:rPr>
              <a:t>DB_NAME = CDB1</a:t>
            </a:r>
          </a:p>
          <a:p>
            <a:r>
              <a:rPr sz="1300" b="0">
                <a:solidFill>
                  <a:srgbClr val="E6E6E6"/>
                </a:solidFill>
                <a:latin typeface="Consolas"/>
              </a:rPr>
              <a:t>CONTROL_FILES = ('/u01/app/oradata/CDB1/control01.ctl',</a:t>
            </a:r>
          </a:p>
          <a:p>
            <a:r>
              <a:rPr sz="1300" b="0">
                <a:solidFill>
                  <a:srgbClr val="E6E6E6"/>
                </a:solidFill>
                <a:latin typeface="Consolas"/>
              </a:rPr>
              <a:t>                 '/u02/app/oradata/CDB1/control02.ctl')</a:t>
            </a:r>
          </a:p>
          <a:p>
            <a:r>
              <a:rPr sz="1300" b="0">
                <a:solidFill>
                  <a:srgbClr val="E6E6E6"/>
                </a:solidFill>
                <a:latin typeface="Consolas"/>
              </a:rPr>
              <a:t>DB_BLOCK_SIZE = 8192</a:t>
            </a:r>
          </a:p>
          <a:p>
            <a:r>
              <a:rPr sz="1300" b="0">
                <a:solidFill>
                  <a:srgbClr val="E6E6E6"/>
                </a:solidFill>
                <a:latin typeface="Consolas"/>
              </a:rPr>
              <a:t>ENABLE_PLUGGABLE_DATABASE = TRUE</a:t>
            </a:r>
          </a:p>
          <a:p>
            <a:r>
              <a:rPr sz="1300" b="0">
                <a:solidFill>
                  <a:srgbClr val="E6E6E6"/>
                </a:solidFill>
                <a:latin typeface="Consolas"/>
              </a:rPr>
              <a:t>MAX_PDBS = 10</a:t>
            </a:r>
          </a:p>
          <a:p>
            <a:r>
              <a:rPr sz="1300" b="0">
                <a:solidFill>
                  <a:srgbClr val="E6E6E6"/>
                </a:solidFill>
                <a:latin typeface="Consolas"/>
              </a:rPr>
              <a:t>SGA_TARGET = 1536M</a:t>
            </a:r>
          </a:p>
          <a:p>
            <a:r>
              <a:rPr sz="1300" b="0">
                <a:solidFill>
                  <a:srgbClr val="E6E6E6"/>
                </a:solidFill>
                <a:latin typeface="Consolas"/>
              </a:rPr>
              <a:t>PGA_AGGREGATE_TARGET = 512M</a:t>
            </a:r>
          </a:p>
          <a:p>
            <a:r>
              <a:rPr sz="1300" b="0">
                <a:solidFill>
                  <a:srgbClr val="E6E6E6"/>
                </a:solidFill>
                <a:latin typeface="Consolas"/>
              </a:rPr>
              <a:t>UNDO_TABLESPACE = undotbs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6.2.2  ENABLE_PLUGGABLE_DATABASE 파라미터의 역할</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이 장에서 가장 중요한 초기화 파라미터 — 인스턴스를 non-CDB가 아닌 CDB 생성 모드로 정의</a:t>
            </a:r>
          </a:p>
          <a:p>
            <a:pPr/>
            <a:r>
              <a:rPr sz="1800" b="0">
                <a:solidFill>
                  <a:srgbClr val="202830"/>
                </a:solidFill>
                <a:latin typeface="Malgun Gothic"/>
              </a:rPr>
              <a:t>•  CREATE DATABASE의 ENABLE PLUGGABLE DATABASE 절과 짝을 이루는 '스위치'</a:t>
            </a:r>
          </a:p>
          <a:p>
            <a:pPr/>
            <a:r>
              <a:rPr sz="1800" b="0">
                <a:solidFill>
                  <a:srgbClr val="202830"/>
                </a:solidFill>
                <a:latin typeface="Malgun Gothic"/>
              </a:rPr>
              <a:t>•  멀티테넌트: 하나의 CDB = CDB 루트(CDB$ROOT) + CDB 시드(PDB$SEED) + 하나 이상의 사용자 PDB</a:t>
            </a:r>
          </a:p>
          <a:p>
            <a:pPr/>
            <a:r>
              <a:rPr sz="1800" b="0">
                <a:solidFill>
                  <a:srgbClr val="202830"/>
                </a:solidFill>
                <a:latin typeface="Malgun Gothic"/>
              </a:rPr>
              <a:t>•  파라미터 TRUE + 절이 함께 있어야 루트와 향후 PDB의 틀이 되는 시드까지 생성</a:t>
            </a:r>
          </a:p>
          <a:p>
            <a:pPr/>
            <a:r>
              <a:rPr sz="1800" b="0">
                <a:solidFill>
                  <a:srgbClr val="202830"/>
                </a:solidFill>
                <a:latin typeface="Malgun Gothic"/>
              </a:rPr>
              <a:t>•  Oracle 21c부터 non-CDB 아키텍처 제거 → CDB가 사실상 기본</a:t>
            </a:r>
          </a:p>
          <a:p>
            <a:pPr/>
            <a:r>
              <a:rPr sz="1800" b="1">
                <a:solidFill>
                  <a:srgbClr val="C0392B"/>
                </a:solidFill>
                <a:latin typeface="Malgun Gothic"/>
              </a:rPr>
              <a:t>•  모범 사례: </a:t>
            </a:r>
            <a:r>
              <a:rPr sz="1800" b="0">
                <a:solidFill>
                  <a:srgbClr val="202830"/>
                </a:solidFill>
                <a:latin typeface="Malgun Gothic"/>
              </a:rPr>
              <a:t>파라미터(인스턴스 준비)와 절(생성 지시)은 항상 세트로 기억 — 하나만 쓰면 오류·오작동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6.2.3  MAX_PDBS로 PDB 수 제한하기</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MAX_PDBS — 하나의 CDB가 수용할 수 있는 PDB의 최대 개수 제한</a:t>
            </a:r>
          </a:p>
          <a:p>
            <a:pPr/>
            <a:r>
              <a:rPr sz="1800" b="0">
                <a:solidFill>
                  <a:srgbClr val="202830"/>
                </a:solidFill>
                <a:latin typeface="Malgun Gothic"/>
              </a:rPr>
              <a:t>•  CDB 시드(PDB$SEED)는 이 개수에 포함되지 않음</a:t>
            </a:r>
          </a:p>
          <a:p>
            <a:pPr/>
            <a:r>
              <a:rPr sz="1800" b="0">
                <a:solidFill>
                  <a:srgbClr val="202830"/>
                </a:solidFill>
                <a:latin typeface="Malgun Gothic"/>
              </a:rPr>
              <a:t>•  자원 관리 측면 — 소규모 워크로드 전용 CDB에 상한을 두어 과도한 PDB 생성 방지</a:t>
            </a:r>
          </a:p>
          <a:p>
            <a:pPr/>
            <a:r>
              <a:rPr sz="1800" b="0">
                <a:solidFill>
                  <a:srgbClr val="202830"/>
                </a:solidFill>
                <a:latin typeface="Malgun Gothic"/>
              </a:rPr>
              <a:t>•  라이선스 준수 측면 — 정책이 정한 PDB 수를 초과하지 않도록 강제</a:t>
            </a:r>
          </a:p>
          <a:p>
            <a:pPr/>
            <a:r>
              <a:rPr sz="1800" b="0">
                <a:solidFill>
                  <a:srgbClr val="202830"/>
                </a:solidFill>
                <a:latin typeface="Malgun Gothic"/>
              </a:rPr>
              <a:t>•  생성 후에도 ALTER SYSTEM으로 상한을 올리거나 내릴 수 있음(정책 변화 대응)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6.2.4  ORACLE_SID 설정과 STARTUP NOMOUNT</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ORACLE_SID — 같은 서버에서 여러 인스턴스를 구분하는 이름(여기선 CDB1)</a:t>
            </a:r>
          </a:p>
          <a:p>
            <a:pPr/>
            <a:r>
              <a:rPr sz="1800" b="0">
                <a:solidFill>
                  <a:srgbClr val="202830"/>
                </a:solidFill>
                <a:latin typeface="Malgun Gothic"/>
              </a:rPr>
              <a:t>•  SQL*Plus 실행 후 DBA OS 그룹의 OS 인증 사용자로 SYSDBA 접속</a:t>
            </a:r>
          </a:p>
          <a:p>
            <a:pPr/>
            <a:r>
              <a:rPr sz="1800" b="0">
                <a:solidFill>
                  <a:srgbClr val="202830"/>
                </a:solidFill>
                <a:latin typeface="Malgun Gothic"/>
              </a:rPr>
              <a:t>•  STARTUP NOMOUNT — PFILE(또는 SPFILE)을 읽어 SGA 할당 + 백그라운드 프로세스 기동</a:t>
            </a:r>
          </a:p>
          <a:p>
            <a:pPr/>
            <a:r>
              <a:rPr sz="1800" b="0">
                <a:solidFill>
                  <a:srgbClr val="202830"/>
                </a:solidFill>
                <a:latin typeface="Malgun Gothic"/>
              </a:rPr>
              <a:t>•  이 시점 인스턴스 상태 = STARTED, 아직 컨트롤 파일을 읽지 않아 어떤 DB와도 결합 안 됨</a:t>
            </a:r>
          </a:p>
          <a:p>
            <a:pPr/>
            <a:r>
              <a:rPr sz="1800" b="0">
                <a:solidFill>
                  <a:srgbClr val="202830"/>
                </a:solidFill>
                <a:latin typeface="Malgun Gothic"/>
              </a:rPr>
              <a:t>•  바로 이 '빈 인스턴스' 위에 CREATE DATABASE로 새 데이터베이스를 만들어 붙임</a:t>
            </a:r>
          </a:p>
          <a:p>
            <a:pPr/>
            <a:r>
              <a:rPr sz="1800" b="1">
                <a:solidFill>
                  <a:srgbClr val="C0392B"/>
                </a:solidFill>
                <a:latin typeface="Malgun Gothic"/>
              </a:rPr>
              <a:t>•  참고: </a:t>
            </a:r>
            <a:r>
              <a:rPr sz="1800" b="0">
                <a:solidFill>
                  <a:srgbClr val="202830"/>
                </a:solidFill>
                <a:latin typeface="Malgun Gothic"/>
              </a:rPr>
              <a:t>인스턴스(SGA+프로세스, 휘발성) ≠ 데이터베이스(컨트롤/데이터/리두, 영구)</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ORACLE_SID 설정 &amp; STARTUP NOMOUNT</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인스턴스만 먼저 기동 (STATUS=STARTED)</a:t>
            </a:r>
          </a:p>
        </p:txBody>
      </p:sp>
      <p:sp>
        <p:nvSpPr>
          <p:cNvPr id="5" name="Rectangle 4"/>
          <p:cNvSpPr/>
          <p:nvPr/>
        </p:nvSpPr>
        <p:spPr>
          <a:xfrm>
            <a:off x="640080" y="1691640"/>
            <a:ext cx="10881360" cy="390271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3683254"/>
          </a:xfrm>
          <a:prstGeom prst="rect">
            <a:avLst/>
          </a:prstGeom>
          <a:noFill/>
        </p:spPr>
        <p:txBody>
          <a:bodyPr wrap="square" anchor="t">
            <a:spAutoFit/>
          </a:bodyPr>
          <a:lstStyle/>
          <a:p>
            <a:r>
              <a:rPr sz="1300" b="0">
                <a:solidFill>
                  <a:srgbClr val="7EC699"/>
                </a:solidFill>
                <a:latin typeface="Consolas"/>
              </a:rPr>
              <a:t>-- (1) 인스턴스를 식별할 ORACLE_SID를 설정 (Linux/UNIX)</a:t>
            </a:r>
          </a:p>
          <a:p>
            <a:r>
              <a:rPr sz="1300" b="0">
                <a:solidFill>
                  <a:srgbClr val="E6E6E6"/>
                </a:solidFill>
                <a:latin typeface="Consolas"/>
              </a:rPr>
              <a:t>$ export ORACLE_SID=CDB1</a:t>
            </a:r>
          </a:p>
          <a:p>
            <a:r>
              <a:rPr sz="1300" b="0">
                <a:solidFill>
                  <a:srgbClr val="E6E6E6"/>
                </a:solidFill>
                <a:latin typeface="Consolas"/>
              </a:rPr>
              <a:t> </a:t>
            </a:r>
          </a:p>
          <a:p>
            <a:r>
              <a:rPr sz="1300" b="0">
                <a:solidFill>
                  <a:srgbClr val="7EC699"/>
                </a:solidFill>
                <a:latin typeface="Consolas"/>
              </a:rPr>
              <a:t>-- (2) OS 인증으로 SYSDBA 접속 후 인스턴스만 NOMOUNT로 기동</a:t>
            </a:r>
          </a:p>
          <a:p>
            <a:r>
              <a:rPr sz="1300" b="0">
                <a:solidFill>
                  <a:srgbClr val="E6E6E6"/>
                </a:solidFill>
                <a:latin typeface="Consolas"/>
              </a:rPr>
              <a:t>$ sqlplus / as sysdba</a:t>
            </a:r>
          </a:p>
          <a:p>
            <a:r>
              <a:rPr sz="1300" b="0">
                <a:solidFill>
                  <a:srgbClr val="E6E6E6"/>
                </a:solidFill>
                <a:latin typeface="Consolas"/>
              </a:rPr>
              <a:t> </a:t>
            </a:r>
          </a:p>
          <a:p>
            <a:r>
              <a:rPr sz="1300" b="0">
                <a:solidFill>
                  <a:srgbClr val="E6E6E6"/>
                </a:solidFill>
                <a:latin typeface="Consolas"/>
              </a:rPr>
              <a:t>SQL&gt; STARTUP NOMOUNT</a:t>
            </a:r>
          </a:p>
          <a:p>
            <a:r>
              <a:rPr sz="1300" b="0">
                <a:solidFill>
                  <a:srgbClr val="E6E6E6"/>
                </a:solidFill>
                <a:latin typeface="Consolas"/>
              </a:rPr>
              <a:t>ORACLE instance started.</a:t>
            </a:r>
          </a:p>
          <a:p>
            <a:r>
              <a:rPr sz="1300" b="0">
                <a:solidFill>
                  <a:srgbClr val="E6E6E6"/>
                </a:solidFill>
                <a:latin typeface="Consolas"/>
              </a:rPr>
              <a:t> </a:t>
            </a:r>
          </a:p>
          <a:p>
            <a:r>
              <a:rPr sz="1300" b="0">
                <a:solidFill>
                  <a:srgbClr val="E6E6E6"/>
                </a:solidFill>
                <a:latin typeface="Consolas"/>
              </a:rPr>
              <a:t>Total System Global Area  1610612736 bytes</a:t>
            </a:r>
          </a:p>
          <a:p>
            <a:r>
              <a:rPr sz="1300" b="0">
                <a:solidFill>
                  <a:srgbClr val="E6E6E6"/>
                </a:solidFill>
                <a:latin typeface="Consolas"/>
              </a:rPr>
              <a:t>Fixed Size                    9137664 bytes</a:t>
            </a:r>
          </a:p>
          <a:p>
            <a:r>
              <a:rPr sz="1300" b="0">
                <a:solidFill>
                  <a:srgbClr val="E6E6E6"/>
                </a:solidFill>
                <a:latin typeface="Consolas"/>
              </a:rPr>
              <a:t>Variable Size               520093696 bytes</a:t>
            </a:r>
          </a:p>
          <a:p>
            <a:r>
              <a:rPr sz="1300" b="0">
                <a:solidFill>
                  <a:srgbClr val="E6E6E6"/>
                </a:solidFill>
                <a:latin typeface="Consolas"/>
              </a:rPr>
              <a:t>Database Buffers           1073741824 bytes</a:t>
            </a:r>
          </a:p>
          <a:p>
            <a:r>
              <a:rPr sz="1300" b="0">
                <a:solidFill>
                  <a:srgbClr val="E6E6E6"/>
                </a:solidFill>
                <a:latin typeface="Consolas"/>
              </a:rPr>
              <a:t>Redo Buffers                  7639552 bytes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rPr>
              <a:t>6.3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CREATE DATABASE 문 상세 — ENABLE PLUGGABLE DATABASE 절</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a:solidFill>
                  <a:srgbClr val="C5CED6"/>
                </a:solidFill>
                <a:latin typeface="Malgun Gothic"/>
              </a:rPr>
              <a:t>•  가장 단순한 형태부터 단계별 파일 생성 순서까지</a:t>
            </a:r>
          </a:p>
          <a:p>
            <a:r>
              <a:rPr sz="1600" b="0">
                <a:solidFill>
                  <a:srgbClr val="C5CED6"/>
                </a:solidFill>
                <a:latin typeface="Malgun Gothic"/>
              </a:rPr>
              <a:t>•  실무에서 쓰는 완전한 CREATE DATABASE의 주요 절 개관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6.3.1  가장 단순한 형태의 CREATE DATABASE</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NOMOUNT 준비가 끝나면 CREATE DATABASE 문으로 실제 CDB 생성</a:t>
            </a:r>
          </a:p>
          <a:p>
            <a:pPr/>
            <a:r>
              <a:rPr sz="1800" b="0">
                <a:solidFill>
                  <a:srgbClr val="202830"/>
                </a:solidFill>
                <a:latin typeface="Malgun Gothic"/>
              </a:rPr>
              <a:t>•  CDB 생성에는 ENABLE PLUGGABLE DATABASE 절이 반드시 필요(non-CDB 아님을 지정)</a:t>
            </a:r>
          </a:p>
          <a:p>
            <a:pPr/>
            <a:r>
              <a:rPr sz="1800" b="0">
                <a:solidFill>
                  <a:srgbClr val="202830"/>
                </a:solidFill>
                <a:latin typeface="Malgun Gothic"/>
              </a:rPr>
              <a:t>•  가장 간결한 형태: CDB1을 만들며 SEED FILE_NAME_CONVERT로 시드 위치만 지정</a:t>
            </a:r>
          </a:p>
          <a:p>
            <a:pPr/>
            <a:r>
              <a:rPr sz="1800" b="0">
                <a:solidFill>
                  <a:srgbClr val="202830"/>
                </a:solidFill>
                <a:latin typeface="Malgun Gothic"/>
              </a:rPr>
              <a:t>•  이 짧은 문장 하나로 CDB 루트(CDB$ROOT)와 CDB 시드(PDB$SEED)가 함께 생성</a:t>
            </a:r>
          </a:p>
          <a:p>
            <a:pPr/>
            <a:r>
              <a:rPr sz="1800" b="0">
                <a:solidFill>
                  <a:srgbClr val="202830"/>
                </a:solidFill>
                <a:latin typeface="Malgun Gothic"/>
              </a:rPr>
              <a:t>•  명시하지 않은 리두 로그·SYSTEM/SYSAUX 등은 Oracle이 기본값·OMF로 자동 처리</a:t>
            </a:r>
          </a:p>
          <a:p>
            <a:pPr/>
            <a:r>
              <a:rPr sz="1800" b="1">
                <a:solidFill>
                  <a:srgbClr val="C0392B"/>
                </a:solidFill>
                <a:latin typeface="Malgun Gothic"/>
              </a:rPr>
              <a:t>•  참고: </a:t>
            </a:r>
            <a:r>
              <a:rPr sz="1800" b="0">
                <a:solidFill>
                  <a:srgbClr val="202830"/>
                </a:solidFill>
                <a:latin typeface="Malgun Gothic"/>
              </a:rPr>
              <a:t>CHARACTER SET/NATIONAL CHARACTER SET은 CDB 전체에 단일 적용 — 5장의 신중한 선택이 그대로 유효(AL32UTF8 권장)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최소 형태 CREATE DATABASE (SEED FILE_NAME_CONVERT)</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CDB 루트 + CDB 시드가 한 문장으로 생성</a:t>
            </a:r>
          </a:p>
        </p:txBody>
      </p:sp>
      <p:sp>
        <p:nvSpPr>
          <p:cNvPr id="5" name="Rectangle 4"/>
          <p:cNvSpPr/>
          <p:nvPr/>
        </p:nvSpPr>
        <p:spPr>
          <a:xfrm>
            <a:off x="640080" y="1691640"/>
            <a:ext cx="10881360" cy="211137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1891918"/>
          </a:xfrm>
          <a:prstGeom prst="rect">
            <a:avLst/>
          </a:prstGeom>
          <a:noFill/>
        </p:spPr>
        <p:txBody>
          <a:bodyPr wrap="square" anchor="t">
            <a:spAutoFit/>
          </a:bodyPr>
          <a:lstStyle/>
          <a:p>
            <a:r>
              <a:rPr sz="1300" b="0">
                <a:solidFill>
                  <a:srgbClr val="E6E6E6"/>
                </a:solidFill>
                <a:latin typeface="Consolas"/>
              </a:rPr>
              <a:t>SQL&gt; CONNECT / AS SYSDBA</a:t>
            </a:r>
          </a:p>
          <a:p>
            <a:r>
              <a:rPr sz="1300" b="0">
                <a:solidFill>
                  <a:srgbClr val="E6E6E6"/>
                </a:solidFill>
                <a:latin typeface="Consolas"/>
              </a:rPr>
              <a:t>SQL&gt; STARTUP NOMOUNT</a:t>
            </a:r>
          </a:p>
          <a:p>
            <a:r>
              <a:rPr sz="1300" b="0">
                <a:solidFill>
                  <a:srgbClr val="E6E6E6"/>
                </a:solidFill>
                <a:latin typeface="Consolas"/>
              </a:rPr>
              <a:t> </a:t>
            </a:r>
          </a:p>
          <a:p>
            <a:r>
              <a:rPr sz="1300" b="0">
                <a:solidFill>
                  <a:srgbClr val="E6E6E6"/>
                </a:solidFill>
                <a:latin typeface="Consolas"/>
              </a:rPr>
              <a:t>SQL&gt; CREATE DATABASE cdb1 ENABLE PLUGGABLE DATABASE</a:t>
            </a:r>
          </a:p>
          <a:p>
            <a:r>
              <a:rPr sz="1300" b="0">
                <a:solidFill>
                  <a:srgbClr val="E6E6E6"/>
                </a:solidFill>
                <a:latin typeface="Consolas"/>
              </a:rPr>
              <a:t>       SEED FILE_NAME_CONVERT = ('/oracle/dbs','/oracle/seed');</a:t>
            </a:r>
          </a:p>
          <a:p>
            <a:r>
              <a:rPr sz="1300" b="0">
                <a:solidFill>
                  <a:srgbClr val="E6E6E6"/>
                </a:solidFill>
                <a:latin typeface="Consolas"/>
              </a:rPr>
              <a:t> </a:t>
            </a:r>
          </a:p>
          <a:p>
            <a:r>
              <a:rPr sz="1300" b="0">
                <a:solidFill>
                  <a:srgbClr val="E6E6E6"/>
                </a:solidFill>
                <a:latin typeface="Consolas"/>
              </a:rPr>
              <a:t>Database created.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6.3.2  CREATE DATABASE가 단계별로 만드는 것들</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한 문장이지만 내부적으로 마운트·오픈 과정을 자동으로 밟으며 물리 파일을 단계별 생성</a:t>
            </a:r>
          </a:p>
          <a:p>
            <a:pPr/>
            <a:r>
              <a:rPr sz="1800" b="0">
                <a:solidFill>
                  <a:srgbClr val="202830"/>
                </a:solidFill>
                <a:latin typeface="Malgun Gothic"/>
              </a:rPr>
              <a:t>•  마운트 단계 — 컨트롤 파일 생성: CONTROL_FILES(또는 OMF) 경로에 만들고 마운트. 디렉터리 없으면 실패</a:t>
            </a:r>
          </a:p>
          <a:p>
            <a:pPr/>
            <a:r>
              <a:rPr sz="1800" b="0">
                <a:solidFill>
                  <a:srgbClr val="202830"/>
                </a:solidFill>
                <a:latin typeface="Malgun Gothic"/>
              </a:rPr>
              <a:t>•  오픈 단계 — 리두 로그 + CDB 루트 데이터 파일 생성: SYSTEM(딕셔너리)·SYSAUX(AWR)·UNDO</a:t>
            </a:r>
          </a:p>
          <a:p>
            <a:pPr/>
            <a:r>
              <a:rPr sz="1800" b="0">
                <a:solidFill>
                  <a:srgbClr val="202830"/>
                </a:solidFill>
                <a:latin typeface="Malgun Gothic"/>
              </a:rPr>
              <a:t>•  CDB 시드 생성 — 시드는 자체 SYSTEM·SYSAUX·TEMP 데이터 파일 보유(새 PDB 복제의 원본 템플릿)</a:t>
            </a:r>
          </a:p>
          <a:p>
            <a:pPr/>
            <a:r>
              <a:rPr sz="1800" b="0">
                <a:solidFill>
                  <a:srgbClr val="202830"/>
                </a:solidFill>
                <a:latin typeface="Malgun Gothic"/>
              </a:rPr>
              <a:t>•  정리: ①컨트롤 파일 ②리두 로그 ③루트 데이터(SYSTEM/SYSAUX/UNDO/TEMP) ④시드 데이터(SYSTEM/SYSAUX/TEMP)</a:t>
            </a:r>
          </a:p>
          <a:p>
            <a:pPr/>
            <a:r>
              <a:rPr sz="1800" b="0">
                <a:solidFill>
                  <a:srgbClr val="5A6672"/>
                </a:solidFill>
                <a:latin typeface="Malgun Gothic"/>
              </a:rPr>
              <a:t>•  시드 데이터 파일 위치는 SEED FILE_NAME_CONVERT로 지정, 생략 시 OMF가 결정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6.3.3  CREATE DATABASE의 주요 절(clause) 개관</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USER SYS / USER SYSTEM IDENTIFIED BY — 필수 관리자 계정 SYS·SYSTEM의 비밀번호 지정</a:t>
            </a:r>
          </a:p>
          <a:p>
            <a:pPr/>
            <a:r>
              <a:rPr sz="1800" b="0">
                <a:solidFill>
                  <a:srgbClr val="202830"/>
                </a:solidFill>
                <a:latin typeface="Malgun Gothic"/>
              </a:rPr>
              <a:t>•  LOGFILE GROUP ... SIZE — 온라인 리두 로그 그룹·멤버·크기 정의(멤버 2+ 지정 시 다중화)</a:t>
            </a:r>
          </a:p>
          <a:p>
            <a:pPr/>
            <a:r>
              <a:rPr sz="1800" b="0">
                <a:solidFill>
                  <a:srgbClr val="202830"/>
                </a:solidFill>
                <a:latin typeface="Malgun Gothic"/>
              </a:rPr>
              <a:t>•  CHARACTER SET / NATIONAL CHARACTER SET — DB 문자 집합과 국가 문자 집합(NCHAR/NVARCHAR2)</a:t>
            </a:r>
          </a:p>
          <a:p>
            <a:pPr/>
            <a:r>
              <a:rPr sz="1800" b="0">
                <a:solidFill>
                  <a:srgbClr val="202830"/>
                </a:solidFill>
                <a:latin typeface="Malgun Gothic"/>
              </a:rPr>
              <a:t>•  EXTENT MANAGEMENT LOCAL DATAFILE — SYSTEM 테이블스페이스 익스텐트 관리·데이터 파일</a:t>
            </a:r>
          </a:p>
          <a:p>
            <a:pPr/>
            <a:r>
              <a:rPr sz="1800" b="0">
                <a:solidFill>
                  <a:srgbClr val="202830"/>
                </a:solidFill>
                <a:latin typeface="Malgun Gothic"/>
              </a:rPr>
              <a:t>•  SYSAUX DATAFILE / UNDO TABLESPACE / DEFAULT TEMPORARY TABLESPACE — 각 테이블스페이스 파일</a:t>
            </a:r>
          </a:p>
          <a:p>
            <a:pPr/>
            <a:r>
              <a:rPr sz="1800" b="0">
                <a:solidFill>
                  <a:srgbClr val="202830"/>
                </a:solidFill>
                <a:latin typeface="Malgun Gothic"/>
              </a:rPr>
              <a:t>•  ENABLE PLUGGABLE DATABASE — CDB 루트·시드 생성 지시 / SEED FILE_NAME_CONVERT — 시드 경로 치환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rPr>
              <a:t>6.4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SEED FILE_NAME_CONVERT 절로 시드 파일 위치 지정</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a:solidFill>
                  <a:srgbClr val="C5CED6"/>
                </a:solidFill>
                <a:latin typeface="Malgun Gothic"/>
              </a:rPr>
              <a:t>•  경로 치환 규칙으로 CDB 시드(PDB$SEED) 데이터 파일 위치 결정</a:t>
            </a:r>
          </a:p>
          <a:p>
            <a:r>
              <a:rPr sz="1600" b="0">
                <a:solidFill>
                  <a:srgbClr val="C5CED6"/>
                </a:solidFill>
                <a:latin typeface="Malgun Gothic"/>
              </a:rPr>
              <a:t>•  모든 주요 파일을 명시한 완전한 CREATE DATABASE 예제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6.4.1  동작 원리 — 경로 치환</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SEED FILE_NAME_CONVERT = ('소스','대상') — 루트 경로의 '소스' 부분을 '대상'으로 치환</a:t>
            </a:r>
          </a:p>
          <a:p>
            <a:pPr/>
            <a:r>
              <a:rPr sz="1800" b="0">
                <a:solidFill>
                  <a:srgbClr val="202830"/>
                </a:solidFill>
                <a:latin typeface="Malgun Gothic"/>
              </a:rPr>
              <a:t>•  예) 소스 /u01/app/oradata/CDB1 → 대상 .../CDB1/seed</a:t>
            </a:r>
          </a:p>
          <a:p>
            <a:pPr/>
            <a:r>
              <a:rPr sz="1800" b="0">
                <a:solidFill>
                  <a:srgbClr val="202830"/>
                </a:solidFill>
                <a:latin typeface="Malgun Gothic"/>
              </a:rPr>
              <a:t>•    루트 system01.dbf → 시드 .../CDB1/seed/system01.dbf</a:t>
            </a:r>
          </a:p>
          <a:p>
            <a:pPr/>
            <a:r>
              <a:rPr sz="1800" b="0">
                <a:solidFill>
                  <a:srgbClr val="202830"/>
                </a:solidFill>
                <a:latin typeface="Malgun Gothic"/>
              </a:rPr>
              <a:t>•  하나의 규칙으로 SYSTEM·SYSAUX·UNDO 등 여러 시드 파일 경로를 한꺼번에 결정</a:t>
            </a:r>
          </a:p>
          <a:p>
            <a:pPr/>
            <a:r>
              <a:rPr sz="1800" b="0">
                <a:solidFill>
                  <a:srgbClr val="202830"/>
                </a:solidFill>
                <a:latin typeface="Malgun Gothic"/>
              </a:rPr>
              <a:t>•  두 디렉터리(소스·대상) 모두 미리 존재해야 하며, 없으면 CREATE DATABASE 실패</a:t>
            </a:r>
          </a:p>
          <a:p>
            <a:pPr/>
            <a:r>
              <a:rPr sz="1800" b="0">
                <a:solidFill>
                  <a:srgbClr val="5A6672"/>
                </a:solidFill>
                <a:latin typeface="Malgun Gothic"/>
              </a:rPr>
              <a:t>•  루트 파일이 여러 디렉터리에 흩어지면 한 규칙으로 못 덮음 → 루트를 일관 디렉터리에 모으는 게 편리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완전한 예제 — CREATE DATABASE (모든 절 명시)</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각 절이 어떤 파일을 만드는지 확인</a:t>
            </a:r>
          </a:p>
        </p:txBody>
      </p:sp>
      <p:sp>
        <p:nvSpPr>
          <p:cNvPr id="5" name="Rectangle 4"/>
          <p:cNvSpPr/>
          <p:nvPr/>
        </p:nvSpPr>
        <p:spPr>
          <a:xfrm>
            <a:off x="640080" y="1691640"/>
            <a:ext cx="10881360" cy="43357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4116324"/>
          </a:xfrm>
          <a:prstGeom prst="rect">
            <a:avLst/>
          </a:prstGeom>
          <a:noFill/>
        </p:spPr>
        <p:txBody>
          <a:bodyPr wrap="square" anchor="t">
            <a:spAutoFit/>
          </a:bodyPr>
          <a:lstStyle/>
          <a:p>
            <a:r>
              <a:rPr sz="1200" b="0">
                <a:solidFill>
                  <a:srgbClr val="E6E6E6"/>
                </a:solidFill>
                <a:latin typeface="Consolas"/>
              </a:rPr>
              <a:t>SQL&gt; CREATE DATABASE cdb1</a:t>
            </a:r>
          </a:p>
          <a:p>
            <a:r>
              <a:rPr sz="1200" b="0">
                <a:solidFill>
                  <a:srgbClr val="E6E6E6"/>
                </a:solidFill>
                <a:latin typeface="Consolas"/>
              </a:rPr>
              <a:t>     USER SYS IDENTIFIED BY p1 USER SYSTEM IDENTIFIED BY p2</a:t>
            </a:r>
          </a:p>
          <a:p>
            <a:r>
              <a:rPr sz="1200" b="0">
                <a:solidFill>
                  <a:srgbClr val="E6E6E6"/>
                </a:solidFill>
                <a:latin typeface="Consolas"/>
              </a:rPr>
              <a:t>     LOGFILE GROUP 1 ('/u01/app/oradata/CDB1/redo1a.log',</a:t>
            </a:r>
          </a:p>
          <a:p>
            <a:r>
              <a:rPr sz="1200" b="0">
                <a:solidFill>
                  <a:srgbClr val="E6E6E6"/>
                </a:solidFill>
                <a:latin typeface="Consolas"/>
              </a:rPr>
              <a:t>                      '/u02/app/oradata/CDB1/redo1b.log') SIZE 100M,</a:t>
            </a:r>
          </a:p>
          <a:p>
            <a:r>
              <a:rPr sz="1200" b="0">
                <a:solidFill>
                  <a:srgbClr val="E6E6E6"/>
                </a:solidFill>
                <a:latin typeface="Consolas"/>
              </a:rPr>
              <a:t>             GROUP 2 ('/u01/app/oradata/CDB1/redo2a.log',</a:t>
            </a:r>
          </a:p>
          <a:p>
            <a:r>
              <a:rPr sz="1200" b="0">
                <a:solidFill>
                  <a:srgbClr val="E6E6E6"/>
                </a:solidFill>
                <a:latin typeface="Consolas"/>
              </a:rPr>
              <a:t>                      '/u02/app/oradata/CDB1/redo2b.log') SIZE 100M</a:t>
            </a:r>
          </a:p>
          <a:p>
            <a:r>
              <a:rPr sz="1200" b="0">
                <a:solidFill>
                  <a:srgbClr val="E6E6E6"/>
                </a:solidFill>
                <a:latin typeface="Consolas"/>
              </a:rPr>
              <a:t>     CHARACTER SET AL32UTF8 NATIONAL CHARACTER SET AL16UTF16</a:t>
            </a:r>
          </a:p>
          <a:p>
            <a:r>
              <a:rPr sz="1200" b="0">
                <a:solidFill>
                  <a:srgbClr val="E6E6E6"/>
                </a:solidFill>
                <a:latin typeface="Consolas"/>
              </a:rPr>
              <a:t>     EXTENT MANAGEMENT LOCAL DATAFILE</a:t>
            </a:r>
          </a:p>
          <a:p>
            <a:r>
              <a:rPr sz="1200" b="0">
                <a:solidFill>
                  <a:srgbClr val="E6E6E6"/>
                </a:solidFill>
                <a:latin typeface="Consolas"/>
              </a:rPr>
              <a:t>            '/u01/app/oradata/CDB1/system01.dbf' SIZE 325M</a:t>
            </a:r>
          </a:p>
          <a:p>
            <a:r>
              <a:rPr sz="1200" b="0">
                <a:solidFill>
                  <a:srgbClr val="E6E6E6"/>
                </a:solidFill>
                <a:latin typeface="Consolas"/>
              </a:rPr>
              <a:t>     SYSAUX DATAFILE '/u01/app/oradata/CDB1/sysaux01.dbf' SIZE 325M</a:t>
            </a:r>
          </a:p>
          <a:p>
            <a:r>
              <a:rPr sz="1200" b="0">
                <a:solidFill>
                  <a:srgbClr val="E6E6E6"/>
                </a:solidFill>
                <a:latin typeface="Consolas"/>
              </a:rPr>
              <a:t>     DEFAULT TEMPORARY TABLESPACE temptsl</a:t>
            </a:r>
          </a:p>
          <a:p>
            <a:r>
              <a:rPr sz="1200" b="0">
                <a:solidFill>
                  <a:srgbClr val="E6E6E6"/>
                </a:solidFill>
                <a:latin typeface="Consolas"/>
              </a:rPr>
              <a:t>            TEMPFILE '/u01/app/oradata/CDB1/temp01.dbf' SIZE 20M</a:t>
            </a:r>
          </a:p>
          <a:p>
            <a:r>
              <a:rPr sz="1200" b="0">
                <a:solidFill>
                  <a:srgbClr val="E6E6E6"/>
                </a:solidFill>
                <a:latin typeface="Consolas"/>
              </a:rPr>
              <a:t>     UNDO TABLESPACE undotbs</a:t>
            </a:r>
          </a:p>
          <a:p>
            <a:r>
              <a:rPr sz="1200" b="0">
                <a:solidFill>
                  <a:srgbClr val="E6E6E6"/>
                </a:solidFill>
                <a:latin typeface="Consolas"/>
              </a:rPr>
              <a:t>            DATAFILE '/u01/app/oradata/CDB1/undotbs01.dbf' SIZE 200M</a:t>
            </a:r>
          </a:p>
          <a:p>
            <a:r>
              <a:rPr sz="1200" b="0">
                <a:solidFill>
                  <a:srgbClr val="E6E6E6"/>
                </a:solidFill>
                <a:latin typeface="Consolas"/>
              </a:rPr>
              <a:t>     ENABLE PLUGGABLE DATABASE</a:t>
            </a:r>
          </a:p>
          <a:p>
            <a:r>
              <a:rPr sz="1200" b="0">
                <a:solidFill>
                  <a:srgbClr val="E6E6E6"/>
                </a:solidFill>
                <a:latin typeface="Consolas"/>
              </a:rPr>
              <a:t>     SEED FILE_NAME_CONVERT =</a:t>
            </a:r>
          </a:p>
          <a:p>
            <a:r>
              <a:rPr sz="1200" b="0">
                <a:solidFill>
                  <a:srgbClr val="E6E6E6"/>
                </a:solidFill>
                <a:latin typeface="Consolas"/>
              </a:rPr>
              <a:t>          ('/u01/app/oradata/CDB1','/u01/app/oradata/CDB1/seed');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rPr>
              <a:t>6.5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OMF 및 PDB_FILE_NAME_CONVERT를 이용한 대안 방식</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a:solidFill>
                  <a:srgbClr val="C5CED6"/>
                </a:solidFill>
                <a:latin typeface="Malgun Gothic"/>
              </a:rPr>
              <a:t>•  Oracle Managed Files로 파일 이름·위치를 Oracle에 위임</a:t>
            </a:r>
          </a:p>
          <a:p>
            <a:r>
              <a:rPr sz="1600" b="0">
                <a:solidFill>
                  <a:srgbClr val="C5CED6"/>
                </a:solidFill>
                <a:latin typeface="Malgun Gothic"/>
              </a:rPr>
              <a:t>•  SEED FILE_NAME_CONVERT 절 대신 PDB_FILE_NAME_CONVERT 파라미터 사용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6.5.1  Oracle Managed Files(OMF)</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파일 이름을 일일이 명시하면 파일 증가 시 번거로움·오타 위험 증가</a:t>
            </a:r>
          </a:p>
          <a:p>
            <a:pPr/>
            <a:r>
              <a:rPr sz="1800" b="0">
                <a:solidFill>
                  <a:srgbClr val="202830"/>
                </a:solidFill>
                <a:latin typeface="Malgun Gothic"/>
              </a:rPr>
              <a:t>•  OMF — DB_CREATE_FILE_DEST 초기화 파라미터를 대상 디렉터리로 설정하면 끝</a:t>
            </a:r>
          </a:p>
          <a:p>
            <a:pPr/>
            <a:r>
              <a:rPr sz="1800" b="0">
                <a:solidFill>
                  <a:srgbClr val="202830"/>
                </a:solidFill>
                <a:latin typeface="Malgun Gothic"/>
              </a:rPr>
              <a:t>•  Oracle이 모든 데이터·컨트롤·리두 파일에 표준 이름·기본 크기·속성을 자동 선택</a:t>
            </a:r>
          </a:p>
          <a:p>
            <a:pPr/>
            <a:r>
              <a:rPr sz="1800" b="0">
                <a:solidFill>
                  <a:srgbClr val="202830"/>
                </a:solidFill>
                <a:latin typeface="Malgun Gothic"/>
              </a:rPr>
              <a:t>•  지정 디렉터리(예: /u02/app/oradata)는 반드시 사전에 존재해야 함</a:t>
            </a:r>
          </a:p>
          <a:p>
            <a:pPr/>
            <a:r>
              <a:rPr sz="1800" b="0">
                <a:solidFill>
                  <a:srgbClr val="202830"/>
                </a:solidFill>
                <a:latin typeface="Malgun Gothic"/>
              </a:rPr>
              <a:t>•  예제 CDB2 — DATAFILE/LOGFILE/SEED FILE_NAME_CONVERT 없이도 CDB 생성</a:t>
            </a:r>
          </a:p>
          <a:p>
            <a:pPr/>
            <a:r>
              <a:rPr sz="1800" b="1">
                <a:solidFill>
                  <a:srgbClr val="C0392B"/>
                </a:solidFill>
                <a:latin typeface="Malgun Gothic"/>
              </a:rPr>
              <a:t>•  모범 사례: </a:t>
            </a:r>
            <a:r>
              <a:rPr sz="1800" b="0">
                <a:solidFill>
                  <a:srgbClr val="202830"/>
                </a:solidFill>
                <a:latin typeface="Malgun Gothic"/>
              </a:rPr>
              <a:t>OMF는 오타·경로 누락·중복을 원천 차단하는 '안전벨트'. 반복 생성/삭제 환경에 특히 유용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OMF로 CDB 생성 — 매우 간결한 문장</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DB_CREATE_FILE_DEST 만 있으면 파일 명세 불필요</a:t>
            </a:r>
          </a:p>
        </p:txBody>
      </p:sp>
      <p:sp>
        <p:nvSpPr>
          <p:cNvPr id="5" name="Rectangle 4"/>
          <p:cNvSpPr/>
          <p:nvPr/>
        </p:nvSpPr>
        <p:spPr>
          <a:xfrm>
            <a:off x="640080" y="1691640"/>
            <a:ext cx="10881360" cy="386334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3643884"/>
          </a:xfrm>
          <a:prstGeom prst="rect">
            <a:avLst/>
          </a:prstGeom>
          <a:noFill/>
        </p:spPr>
        <p:txBody>
          <a:bodyPr wrap="square" anchor="t">
            <a:spAutoFit/>
          </a:bodyPr>
          <a:lstStyle/>
          <a:p>
            <a:r>
              <a:rPr sz="1200" b="0">
                <a:solidFill>
                  <a:srgbClr val="7EC699"/>
                </a:solidFill>
                <a:latin typeface="Consolas"/>
              </a:rPr>
              <a:t>-- OMF 대상 디렉터리를 초기화 파라미터로 지정</a:t>
            </a:r>
          </a:p>
          <a:p>
            <a:r>
              <a:rPr sz="1200" b="0">
                <a:solidFill>
                  <a:srgbClr val="7EC699"/>
                </a:solidFill>
                <a:latin typeface="Consolas"/>
              </a:rPr>
              <a:t>-- DB_CREATE_FILE_DEST = '/u02/app/oradata'</a:t>
            </a:r>
          </a:p>
          <a:p>
            <a:r>
              <a:rPr sz="1200" b="0">
                <a:solidFill>
                  <a:srgbClr val="E6E6E6"/>
                </a:solidFill>
                <a:latin typeface="Consolas"/>
              </a:rPr>
              <a:t> </a:t>
            </a:r>
          </a:p>
          <a:p>
            <a:r>
              <a:rPr sz="1200" b="0">
                <a:solidFill>
                  <a:srgbClr val="E6E6E6"/>
                </a:solidFill>
                <a:latin typeface="Consolas"/>
              </a:rPr>
              <a:t>SQL&gt; CONNECT / AS SYSDBA</a:t>
            </a:r>
          </a:p>
          <a:p>
            <a:r>
              <a:rPr sz="1200" b="0">
                <a:solidFill>
                  <a:srgbClr val="E6E6E6"/>
                </a:solidFill>
                <a:latin typeface="Consolas"/>
              </a:rPr>
              <a:t>SQL&gt; STARTUP NOMOUNT</a:t>
            </a:r>
          </a:p>
          <a:p>
            <a:r>
              <a:rPr sz="1200" b="0">
                <a:solidFill>
                  <a:srgbClr val="E6E6E6"/>
                </a:solidFill>
                <a:latin typeface="Consolas"/>
              </a:rPr>
              <a:t> </a:t>
            </a:r>
          </a:p>
          <a:p>
            <a:r>
              <a:rPr sz="1200" b="0">
                <a:solidFill>
                  <a:srgbClr val="E6E6E6"/>
                </a:solidFill>
                <a:latin typeface="Consolas"/>
              </a:rPr>
              <a:t>SQL&gt; CREATE DATABASE cdb2</a:t>
            </a:r>
          </a:p>
          <a:p>
            <a:r>
              <a:rPr sz="1200" b="0">
                <a:solidFill>
                  <a:srgbClr val="E6E6E6"/>
                </a:solidFill>
                <a:latin typeface="Consolas"/>
              </a:rPr>
              <a:t>     USER SYS IDENTIFIED BY p1 USER SYSTEM IDENTIFIED BY p2</a:t>
            </a:r>
          </a:p>
          <a:p>
            <a:r>
              <a:rPr sz="1200" b="0">
                <a:solidFill>
                  <a:srgbClr val="E6E6E6"/>
                </a:solidFill>
                <a:latin typeface="Consolas"/>
              </a:rPr>
              <a:t>     EXTENT MANAGEMENT LOCAL</a:t>
            </a:r>
          </a:p>
          <a:p>
            <a:r>
              <a:rPr sz="1200" b="0">
                <a:solidFill>
                  <a:srgbClr val="E6E6E6"/>
                </a:solidFill>
                <a:latin typeface="Consolas"/>
              </a:rPr>
              <a:t>     DEFAULT TEMPORARY TABLESPACE temp</a:t>
            </a:r>
          </a:p>
          <a:p>
            <a:r>
              <a:rPr sz="1200" b="0">
                <a:solidFill>
                  <a:srgbClr val="E6E6E6"/>
                </a:solidFill>
                <a:latin typeface="Consolas"/>
              </a:rPr>
              <a:t>     UNDO TABLESPACE undotbs</a:t>
            </a:r>
          </a:p>
          <a:p>
            <a:r>
              <a:rPr sz="1200" b="0">
                <a:solidFill>
                  <a:srgbClr val="E6E6E6"/>
                </a:solidFill>
                <a:latin typeface="Consolas"/>
              </a:rPr>
              <a:t>     DEFAULT TABLESPACE users</a:t>
            </a:r>
          </a:p>
          <a:p>
            <a:r>
              <a:rPr sz="1200" b="0">
                <a:solidFill>
                  <a:srgbClr val="E6E6E6"/>
                </a:solidFill>
                <a:latin typeface="Consolas"/>
              </a:rPr>
              <a:t>     ENABLE PLUGGABLE DATABASE;</a:t>
            </a:r>
          </a:p>
          <a:p>
            <a:r>
              <a:rPr sz="1200" b="0">
                <a:solidFill>
                  <a:srgbClr val="E6E6E6"/>
                </a:solidFill>
                <a:latin typeface="Consolas"/>
              </a:rPr>
              <a:t> </a:t>
            </a:r>
          </a:p>
          <a:p>
            <a:r>
              <a:rPr sz="1200" b="0">
                <a:solidFill>
                  <a:srgbClr val="E6E6E6"/>
                </a:solidFill>
                <a:latin typeface="Consolas"/>
              </a:rPr>
              <a:t>Database created.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6.5.2  PDB_FILE_NAME_CONVERT 초기화 파라미터</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SEED FILE_NAME_CONVERT 절을 문장 안에 쓰지 않으려면 이 파라미터로 대체</a:t>
            </a:r>
          </a:p>
          <a:p>
            <a:pPr/>
            <a:r>
              <a:rPr sz="1800" b="0">
                <a:solidFill>
                  <a:srgbClr val="202830"/>
                </a:solidFill>
                <a:latin typeface="Malgun Gothic"/>
              </a:rPr>
              <a:t>•  기존 파일(CDB 루트 데이터 파일) 이름을 새 파일(CDB 시드 데이터 파일)에 매핑</a:t>
            </a:r>
          </a:p>
          <a:p>
            <a:pPr/>
            <a:r>
              <a:rPr sz="1800" b="0">
                <a:solidFill>
                  <a:srgbClr val="202830"/>
                </a:solidFill>
                <a:latin typeface="Malgun Gothic"/>
              </a:rPr>
              <a:t>•  절이 문장 안에서 하던 경로 치환을 파라미터 파일 수준에서 대신 수행</a:t>
            </a:r>
          </a:p>
          <a:p>
            <a:pPr/>
            <a:r>
              <a:rPr sz="1800" b="0">
                <a:solidFill>
                  <a:srgbClr val="202830"/>
                </a:solidFill>
                <a:latin typeface="Malgun Gothic"/>
              </a:rPr>
              <a:t>•  예) /u02/app/oradata/CDB2 → /u02/app/oradata/seed 로 치환</a:t>
            </a:r>
          </a:p>
          <a:p>
            <a:pPr/>
            <a:r>
              <a:rPr sz="1800" b="0">
                <a:solidFill>
                  <a:srgbClr val="202830"/>
                </a:solidFill>
                <a:latin typeface="Malgun Gothic"/>
              </a:rPr>
              <a:t>•  두 디렉터리 모두 존재해야 함 — 절과 동일 효과, 치환 규칙 위치만 다름</a:t>
            </a:r>
          </a:p>
          <a:p>
            <a:pPr/>
            <a:r>
              <a:rPr sz="1800" b="1">
                <a:solidFill>
                  <a:srgbClr val="C0392B"/>
                </a:solidFill>
                <a:latin typeface="Malgun Gothic"/>
              </a:rPr>
              <a:t>•  참고: </a:t>
            </a:r>
            <a:r>
              <a:rPr sz="1800" b="0">
                <a:solidFill>
                  <a:srgbClr val="202830"/>
                </a:solidFill>
                <a:latin typeface="Malgun Gothic"/>
              </a:rPr>
              <a:t>시드 위치 지정 3가지 — ①SEED FILE_NAME_CONVERT 절 ②PDB_FILE_NAME_CONVERT 파라미터 ③OMF. 공통: 대상 디렉터리 사전 존재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PDB_FILE_NAME_CONVERT 파라미터 설정</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치환 규칙을 CREATE DATABASE 문 밖(PFILE)에 둠</a:t>
            </a:r>
          </a:p>
        </p:txBody>
      </p:sp>
      <p:sp>
        <p:nvSpPr>
          <p:cNvPr id="5" name="Rectangle 4"/>
          <p:cNvSpPr/>
          <p:nvPr/>
        </p:nvSpPr>
        <p:spPr>
          <a:xfrm>
            <a:off x="640080" y="1691640"/>
            <a:ext cx="10881360" cy="108775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868298"/>
          </a:xfrm>
          <a:prstGeom prst="rect">
            <a:avLst/>
          </a:prstGeom>
          <a:noFill/>
        </p:spPr>
        <p:txBody>
          <a:bodyPr wrap="square" anchor="t">
            <a:spAutoFit/>
          </a:bodyPr>
          <a:lstStyle/>
          <a:p>
            <a:r>
              <a:rPr sz="1300" b="0">
                <a:solidFill>
                  <a:srgbClr val="7EC699"/>
                </a:solidFill>
                <a:latin typeface="Consolas"/>
              </a:rPr>
              <a:t>-- initCDB2.ora 등에 다음 파라미터를 지정</a:t>
            </a:r>
          </a:p>
          <a:p>
            <a:r>
              <a:rPr sz="1300" b="0">
                <a:solidFill>
                  <a:srgbClr val="E6E6E6"/>
                </a:solidFill>
                <a:latin typeface="Consolas"/>
              </a:rPr>
              <a:t>PDB_FILE_NAME_CONVERT =</a:t>
            </a:r>
          </a:p>
          <a:p>
            <a:r>
              <a:rPr sz="1300" b="0">
                <a:solidFill>
                  <a:srgbClr val="E6E6E6"/>
                </a:solidFill>
                <a:latin typeface="Consolas"/>
              </a:rPr>
              <a:t>    '/u02/app/oradata/CDB2','/u02/app/oradata/seed'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rPr>
              <a:t>6.6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catcdb.sql 실행과 데이터 딕셔너리 구축</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a:solidFill>
                  <a:srgbClr val="C5CED6"/>
                </a:solidFill>
                <a:latin typeface="Malgun Gothic"/>
              </a:rPr>
              <a:t>•  카탈로그 스크립트로 딕셔너리 뷰·표준 PL/SQL 패키지 설치</a:t>
            </a:r>
          </a:p>
          <a:p>
            <a:r>
              <a:rPr sz="1600" b="0">
                <a:solidFill>
                  <a:srgbClr val="C5CED6"/>
                </a:solidFill>
                <a:latin typeface="Malgun Gothic"/>
              </a:rPr>
              <a:t>•  구축 결과 확인과 마무리 작업(utlrp.sql · CREATE SPFILE)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6.6.1  catcdb.sql의 역할</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CREATE DATABASE 성공만으로는 완전히 사용 가능한 상태가 아님</a:t>
            </a:r>
          </a:p>
          <a:p>
            <a:pPr/>
            <a:r>
              <a:rPr sz="1800" b="0">
                <a:solidFill>
                  <a:srgbClr val="202830"/>
                </a:solidFill>
                <a:latin typeface="Malgun Gothic"/>
              </a:rPr>
              <a:t>•  이 시점엔 뼈대(데이터/리두/컨트롤)와 SYS·SYSTEM·기본 테이블스페이스만 존재</a:t>
            </a:r>
          </a:p>
          <a:p>
            <a:pPr/>
            <a:r>
              <a:rPr sz="1800" b="0">
                <a:solidFill>
                  <a:srgbClr val="202830"/>
                </a:solidFill>
                <a:latin typeface="Malgun Gothic"/>
              </a:rPr>
              <a:t>•  정작 관리 필수인 딕셔너리 뷰(USER_·ALL_·DBA_·CDB_)와 표준 PL/SQL 패키지가 미설치</a:t>
            </a:r>
          </a:p>
          <a:p>
            <a:pPr/>
            <a:r>
              <a:rPr sz="1800" b="0">
                <a:solidFill>
                  <a:srgbClr val="202830"/>
                </a:solidFill>
                <a:latin typeface="Malgun Gothic"/>
              </a:rPr>
              <a:t>•  catcdb.sql — 딕셔너리 뷰 구축 + 표준 PL/SQL 패키지를 CDB 루트에 설치</a:t>
            </a:r>
          </a:p>
          <a:p>
            <a:pPr/>
            <a:r>
              <a:rPr sz="1800" b="0">
                <a:solidFill>
                  <a:srgbClr val="202830"/>
                </a:solidFill>
                <a:latin typeface="Malgun Gothic"/>
              </a:rPr>
              <a:t>•  위치 $ORACLE_HOME/rdbms/admin, 멀티테넌트에 맞게 CDB 루트·시드 모두에 설치</a:t>
            </a:r>
          </a:p>
          <a:p>
            <a:pPr/>
            <a:r>
              <a:rPr sz="1800" b="0">
                <a:solidFill>
                  <a:srgbClr val="5A6672"/>
                </a:solidFill>
                <a:latin typeface="Malgun Gothic"/>
              </a:rPr>
              <a:t>•  딕셔너리 구축 후에야 DBA_TABLESPACES·V$DATABASE 조회·DBMS_ 패키지 사용 가능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catcdb.sql 실행</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CDB 루트에 딕셔너리·표준 패키지 설치 (수십 분 소요 가능)</a:t>
            </a:r>
          </a:p>
        </p:txBody>
      </p:sp>
      <p:sp>
        <p:nvSpPr>
          <p:cNvPr id="5" name="Rectangle 4"/>
          <p:cNvSpPr/>
          <p:nvPr/>
        </p:nvSpPr>
        <p:spPr>
          <a:xfrm>
            <a:off x="640080" y="1691640"/>
            <a:ext cx="10881360" cy="159956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1380109"/>
          </a:xfrm>
          <a:prstGeom prst="rect">
            <a:avLst/>
          </a:prstGeom>
          <a:noFill/>
        </p:spPr>
        <p:txBody>
          <a:bodyPr wrap="square" anchor="t">
            <a:spAutoFit/>
          </a:bodyPr>
          <a:lstStyle/>
          <a:p>
            <a:r>
              <a:rPr sz="1300" b="0">
                <a:solidFill>
                  <a:srgbClr val="7EC699"/>
                </a:solidFill>
                <a:latin typeface="Consolas"/>
              </a:rPr>
              <a:t>-- CDB 루트에 데이터 딕셔너리와 표준 PL/SQL 패키지 설치</a:t>
            </a:r>
          </a:p>
          <a:p>
            <a:r>
              <a:rPr sz="1300" b="0">
                <a:solidFill>
                  <a:srgbClr val="E6E6E6"/>
                </a:solidFill>
                <a:latin typeface="Consolas"/>
              </a:rPr>
              <a:t>SQL&gt; CONNECT / AS SYSDBA</a:t>
            </a:r>
          </a:p>
          <a:p>
            <a:r>
              <a:rPr sz="1300" b="0">
                <a:solidFill>
                  <a:srgbClr val="E6E6E6"/>
                </a:solidFill>
                <a:latin typeface="Consolas"/>
              </a:rPr>
              <a:t>SQL&gt; @?/rdbms/admin/catcdb.sql</a:t>
            </a:r>
          </a:p>
          <a:p>
            <a:r>
              <a:rPr sz="1300" b="0">
                <a:solidFill>
                  <a:srgbClr val="E6E6E6"/>
                </a:solidFill>
                <a:latin typeface="Consolas"/>
              </a:rPr>
              <a:t> </a:t>
            </a:r>
          </a:p>
          <a:p>
            <a:r>
              <a:rPr sz="1300" b="0">
                <a:solidFill>
                  <a:srgbClr val="7EC699"/>
                </a:solidFill>
                <a:latin typeface="Consolas"/>
              </a:rPr>
              <a:t>-- (?/ 는 $ORACLE_HOME 을 가리키는 SQL*Plus 축약 표기)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6.6.2  catalog.sql과 catproc.sql — 전통적 접근</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catcdb.sql 대신 개별 스크립트를 직접 실행할 수도 있음</a:t>
            </a:r>
          </a:p>
          <a:p>
            <a:pPr/>
            <a:r>
              <a:rPr sz="1800" b="0">
                <a:solidFill>
                  <a:srgbClr val="202830"/>
                </a:solidFill>
                <a:latin typeface="Malgun Gothic"/>
              </a:rPr>
              <a:t>•  catalog.sql — 동적 성능 뷰(V$·GV$)·정적 딕셔너리 뷰(USER_·ALL_·DBA_)·공개 동의어 생성</a:t>
            </a:r>
          </a:p>
          <a:p>
            <a:pPr/>
            <a:r>
              <a:rPr sz="1800" b="0">
                <a:solidFill>
                  <a:srgbClr val="202830"/>
                </a:solidFill>
                <a:latin typeface="Malgun Gothic"/>
              </a:rPr>
              <a:t>•  catproc.sql — PL/SQL 사용에 필요한 표준 패키지(DBMS_·UTL_)와 관련 객체 설치</a:t>
            </a:r>
          </a:p>
          <a:p>
            <a:pPr/>
            <a:r>
              <a:rPr sz="1800" b="0">
                <a:solidFill>
                  <a:srgbClr val="202830"/>
                </a:solidFill>
                <a:latin typeface="Malgun Gothic"/>
              </a:rPr>
              <a:t>•  non-CDB 시절엔 CREATE DATABASE 후 catalog → catproc 순서가 정석</a:t>
            </a:r>
          </a:p>
          <a:p>
            <a:pPr/>
            <a:r>
              <a:rPr sz="1800" b="0">
                <a:solidFill>
                  <a:srgbClr val="202830"/>
                </a:solidFill>
                <a:latin typeface="Malgun Gothic"/>
              </a:rPr>
              <a:t>•  멀티테넌트에선 루트·시드 모두 + 옵션별 추가 스크립트까지 필요</a:t>
            </a:r>
          </a:p>
          <a:p>
            <a:pPr/>
            <a:r>
              <a:rPr sz="1800" b="1">
                <a:solidFill>
                  <a:srgbClr val="C0392B"/>
                </a:solidFill>
                <a:latin typeface="Malgun Gothic"/>
              </a:rPr>
              <a:t>•  모범 사례: </a:t>
            </a:r>
            <a:r>
              <a:rPr sz="1800" b="0">
                <a:solidFill>
                  <a:srgbClr val="202830"/>
                </a:solidFill>
                <a:latin typeface="Malgun Gothic"/>
              </a:rPr>
              <a:t>루트·시드 일관 설치와 옵션 스크립트 누락 방지를 위해 catcdb.sql 사용을 우선 권장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6.6.3  구축 결과 확인</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카탈로그 실행이 끝나면 딕셔너리 뷰가 정상 조회되는지로 완성 여부 검증</a:t>
            </a:r>
          </a:p>
          <a:p>
            <a:pPr/>
            <a:r>
              <a:rPr sz="1800" b="0">
                <a:solidFill>
                  <a:srgbClr val="202830"/>
                </a:solidFill>
                <a:latin typeface="Malgun Gothic"/>
              </a:rPr>
              <a:t>•  컨테이너 목록(V$CONTAINERS)으로 CDB$ROOT(1)·PDB$SEED(2) 생성 확인</a:t>
            </a:r>
          </a:p>
          <a:p>
            <a:pPr/>
            <a:r>
              <a:rPr sz="1800" b="0">
                <a:solidFill>
                  <a:srgbClr val="202830"/>
                </a:solidFill>
                <a:latin typeface="Malgun Gothic"/>
              </a:rPr>
              <a:t>•  CDB$ROOT는 READ WRITE, PDB$SEED는 READ ONLY로 보이는 것이 정상</a:t>
            </a:r>
          </a:p>
          <a:p>
            <a:pPr/>
            <a:r>
              <a:rPr sz="1800" b="0">
                <a:solidFill>
                  <a:srgbClr val="202830"/>
                </a:solidFill>
                <a:latin typeface="Malgun Gothic"/>
              </a:rPr>
              <a:t>•  시드는 새 PDB 생성용 읽기 전용 템플릿이므로 항상 READ ONLY 유지</a:t>
            </a:r>
          </a:p>
          <a:p>
            <a:pPr/>
            <a:r>
              <a:rPr sz="1800" b="0">
                <a:solidFill>
                  <a:srgbClr val="202830"/>
                </a:solidFill>
                <a:latin typeface="Malgun Gothic"/>
              </a:rPr>
              <a:t>•  DBA_TABLESPACES 등 딕셔너리 뷰가 오류 없이 조회되면 구축 성공</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구축 결과 확인 — v$containers / dba_tablespaces</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CDB$ROOT(READ WRITE) · PDB$SEED(READ ONLY)</a:t>
            </a:r>
          </a:p>
        </p:txBody>
      </p:sp>
      <p:sp>
        <p:nvSpPr>
          <p:cNvPr id="5" name="Rectangle 4"/>
          <p:cNvSpPr/>
          <p:nvPr/>
        </p:nvSpPr>
        <p:spPr>
          <a:xfrm>
            <a:off x="640080" y="1691640"/>
            <a:ext cx="10881360" cy="390271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3683254"/>
          </a:xfrm>
          <a:prstGeom prst="rect">
            <a:avLst/>
          </a:prstGeom>
          <a:noFill/>
        </p:spPr>
        <p:txBody>
          <a:bodyPr wrap="square" anchor="t">
            <a:spAutoFit/>
          </a:bodyPr>
          <a:lstStyle/>
          <a:p>
            <a:r>
              <a:rPr sz="1300" b="0">
                <a:solidFill>
                  <a:srgbClr val="7EC699"/>
                </a:solidFill>
                <a:latin typeface="Consolas"/>
              </a:rPr>
              <a:t>-- 컨테이너 구성 확인: CDB$ROOT(1)와 PDB$SEED(2)가 보여야 함</a:t>
            </a:r>
          </a:p>
          <a:p>
            <a:r>
              <a:rPr sz="1300" b="0">
                <a:solidFill>
                  <a:srgbClr val="E6E6E6"/>
                </a:solidFill>
                <a:latin typeface="Consolas"/>
              </a:rPr>
              <a:t>SQL&gt; SELECT con_id, name, open_mode FROM v$containers ORDER BY con_id;</a:t>
            </a:r>
          </a:p>
          <a:p>
            <a:r>
              <a:rPr sz="1300" b="0">
                <a:solidFill>
                  <a:srgbClr val="E6E6E6"/>
                </a:solidFill>
                <a:latin typeface="Consolas"/>
              </a:rPr>
              <a:t> </a:t>
            </a:r>
          </a:p>
          <a:p>
            <a:r>
              <a:rPr sz="1300" b="0">
                <a:solidFill>
                  <a:srgbClr val="E6E6E6"/>
                </a:solidFill>
                <a:latin typeface="Consolas"/>
              </a:rPr>
              <a:t>   CON_ID NAME        OPEN_MODE</a:t>
            </a:r>
          </a:p>
          <a:p>
            <a:r>
              <a:rPr sz="1300" b="0">
                <a:solidFill>
                  <a:srgbClr val="7EC699"/>
                </a:solidFill>
                <a:latin typeface="Consolas"/>
              </a:rPr>
              <a:t>--------- ----------- ----------</a:t>
            </a:r>
          </a:p>
          <a:p>
            <a:r>
              <a:rPr sz="1300" b="0">
                <a:solidFill>
                  <a:srgbClr val="E6E6E6"/>
                </a:solidFill>
                <a:latin typeface="Consolas"/>
              </a:rPr>
              <a:t>        1 CDB$ROOT    READ WRITE</a:t>
            </a:r>
          </a:p>
          <a:p>
            <a:r>
              <a:rPr sz="1300" b="0">
                <a:solidFill>
                  <a:srgbClr val="E6E6E6"/>
                </a:solidFill>
                <a:latin typeface="Consolas"/>
              </a:rPr>
              <a:t>        2 PDB$SEED    READ ONLY</a:t>
            </a:r>
          </a:p>
          <a:p>
            <a:r>
              <a:rPr sz="1300" b="0">
                <a:solidFill>
                  <a:srgbClr val="E6E6E6"/>
                </a:solidFill>
                <a:latin typeface="Consolas"/>
              </a:rPr>
              <a:t> </a:t>
            </a:r>
          </a:p>
          <a:p>
            <a:r>
              <a:rPr sz="1300" b="0">
                <a:solidFill>
                  <a:srgbClr val="7EC699"/>
                </a:solidFill>
                <a:latin typeface="Consolas"/>
              </a:rPr>
              <a:t>-- 데이터 딕셔너리 뷰 조회가 되는지 확인(카탈로그 구축 성공 여부)</a:t>
            </a:r>
          </a:p>
          <a:p>
            <a:r>
              <a:rPr sz="1300" b="0">
                <a:solidFill>
                  <a:srgbClr val="E6E6E6"/>
                </a:solidFill>
                <a:latin typeface="Consolas"/>
              </a:rPr>
              <a:t>SQL&gt; SELECT COUNT(*) FROM dba_tablespaces;</a:t>
            </a:r>
          </a:p>
          <a:p>
            <a:r>
              <a:rPr sz="1300" b="0">
                <a:solidFill>
                  <a:srgbClr val="E6E6E6"/>
                </a:solidFill>
                <a:latin typeface="Consolas"/>
              </a:rPr>
              <a:t> </a:t>
            </a:r>
          </a:p>
          <a:p>
            <a:r>
              <a:rPr sz="1300" b="0">
                <a:solidFill>
                  <a:srgbClr val="E6E6E6"/>
                </a:solidFill>
                <a:latin typeface="Consolas"/>
              </a:rPr>
              <a:t>  COUNT(*)</a:t>
            </a:r>
          </a:p>
          <a:p>
            <a:r>
              <a:rPr sz="1300" b="0">
                <a:solidFill>
                  <a:srgbClr val="7EC699"/>
                </a:solidFill>
                <a:latin typeface="Consolas"/>
              </a:rPr>
              <a:t>----------</a:t>
            </a:r>
          </a:p>
          <a:p>
            <a:r>
              <a:rPr sz="1300" b="0">
                <a:solidFill>
                  <a:srgbClr val="E6E6E6"/>
                </a:solidFill>
                <a:latin typeface="Consolas"/>
              </a:rPr>
              <a:t>         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6.6.4  마무리 작업 — 무효 객체 재컴파일과 SPFILE 생성</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딕셔너리 구축 후 관례적으로 두 가지 마무리 작업 수행</a:t>
            </a:r>
          </a:p>
          <a:p>
            <a:pPr/>
            <a:r>
              <a:rPr sz="1800" b="0">
                <a:solidFill>
                  <a:srgbClr val="202830"/>
                </a:solidFill>
                <a:latin typeface="Malgun Gothic"/>
              </a:rPr>
              <a:t>•  ① utlrp.sql — 카탈로그 설치 중 생긴 INVALID 객체를 일괄 재컴파일</a:t>
            </a:r>
          </a:p>
          <a:p>
            <a:pPr/>
            <a:r>
              <a:rPr sz="1800" b="0">
                <a:solidFill>
                  <a:srgbClr val="202830"/>
                </a:solidFill>
                <a:latin typeface="Malgun Gothic"/>
              </a:rPr>
              <a:t>•    대규모 PL/SQL 설치 시 의존성 순서 때문에 일시적 무효 객체 발생 → VALID로 전환</a:t>
            </a:r>
          </a:p>
          <a:p>
            <a:pPr/>
            <a:r>
              <a:rPr sz="1800" b="0">
                <a:solidFill>
                  <a:srgbClr val="202830"/>
                </a:solidFill>
                <a:latin typeface="Malgun Gothic"/>
              </a:rPr>
              <a:t>•  ② CREATE SPFILE FROM PFILE — 텍스트 PFILE 운영에서 SPFILE 생성</a:t>
            </a:r>
          </a:p>
          <a:p>
            <a:pPr/>
            <a:r>
              <a:rPr sz="1800" b="0">
                <a:solidFill>
                  <a:srgbClr val="202830"/>
                </a:solidFill>
                <a:latin typeface="Malgun Gothic"/>
              </a:rPr>
              <a:t>•    이후 파라미터 변경을 ALTER SYSTEM으로 영구 반영 가능</a:t>
            </a:r>
          </a:p>
          <a:p>
            <a:pPr/>
            <a:r>
              <a:rPr sz="1800" b="0">
                <a:solidFill>
                  <a:srgbClr val="5A6672"/>
                </a:solidFill>
                <a:latin typeface="Malgun Gothic"/>
              </a:rPr>
              <a:t>•  두 작업까지 마치면 DBCA로 만든 것과 기능적으로 동등한 완전한 CDB → 7·8·14~16장으로 연결</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마무리 — utlrp.sql &amp; CREATE SPFILE</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무효 객체 재컴파일 + SPFILE 생성</a:t>
            </a:r>
          </a:p>
        </p:txBody>
      </p:sp>
      <p:sp>
        <p:nvSpPr>
          <p:cNvPr id="5" name="Rectangle 4"/>
          <p:cNvSpPr/>
          <p:nvPr/>
        </p:nvSpPr>
        <p:spPr>
          <a:xfrm>
            <a:off x="640080" y="1691640"/>
            <a:ext cx="10881360" cy="390271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3683254"/>
          </a:xfrm>
          <a:prstGeom prst="rect">
            <a:avLst/>
          </a:prstGeom>
          <a:noFill/>
        </p:spPr>
        <p:txBody>
          <a:bodyPr wrap="square" anchor="t">
            <a:spAutoFit/>
          </a:bodyPr>
          <a:lstStyle/>
          <a:p>
            <a:r>
              <a:rPr sz="1300" b="0">
                <a:solidFill>
                  <a:srgbClr val="7EC699"/>
                </a:solidFill>
                <a:latin typeface="Consolas"/>
              </a:rPr>
              <a:t>-- (1) 카탈로그 설치로 생긴 무효 객체 일괄 재컴파일</a:t>
            </a:r>
          </a:p>
          <a:p>
            <a:r>
              <a:rPr sz="1300" b="0">
                <a:solidFill>
                  <a:srgbClr val="E6E6E6"/>
                </a:solidFill>
                <a:latin typeface="Consolas"/>
              </a:rPr>
              <a:t>SQL&gt; @?/rdbms/admin/utlrp.sql</a:t>
            </a:r>
          </a:p>
          <a:p>
            <a:r>
              <a:rPr sz="1300" b="0">
                <a:solidFill>
                  <a:srgbClr val="E6E6E6"/>
                </a:solidFill>
                <a:latin typeface="Consolas"/>
              </a:rPr>
              <a:t> </a:t>
            </a:r>
          </a:p>
          <a:p>
            <a:r>
              <a:rPr sz="1300" b="0">
                <a:solidFill>
                  <a:srgbClr val="7EC699"/>
                </a:solidFill>
                <a:latin typeface="Consolas"/>
              </a:rPr>
              <a:t>-- (2) 텍스트 PFILE로부터 SPFILE 생성 (이후 ALTER SYSTEM 영구 반영)</a:t>
            </a:r>
          </a:p>
          <a:p>
            <a:r>
              <a:rPr sz="1300" b="0">
                <a:solidFill>
                  <a:srgbClr val="E6E6E6"/>
                </a:solidFill>
                <a:latin typeface="Consolas"/>
              </a:rPr>
              <a:t>SQL&gt; CREATE SPFILE FROM PFILE;</a:t>
            </a:r>
          </a:p>
          <a:p>
            <a:r>
              <a:rPr sz="1300" b="0">
                <a:solidFill>
                  <a:srgbClr val="E6E6E6"/>
                </a:solidFill>
                <a:latin typeface="Consolas"/>
              </a:rPr>
              <a:t> </a:t>
            </a:r>
          </a:p>
          <a:p>
            <a:r>
              <a:rPr sz="1300" b="0">
                <a:solidFill>
                  <a:srgbClr val="E6E6E6"/>
                </a:solidFill>
                <a:latin typeface="Consolas"/>
              </a:rPr>
              <a:t>File created.</a:t>
            </a:r>
          </a:p>
          <a:p>
            <a:r>
              <a:rPr sz="1300" b="0">
                <a:solidFill>
                  <a:srgbClr val="E6E6E6"/>
                </a:solidFill>
                <a:latin typeface="Consolas"/>
              </a:rPr>
              <a:t> </a:t>
            </a:r>
          </a:p>
          <a:p>
            <a:r>
              <a:rPr sz="1300" b="0">
                <a:solidFill>
                  <a:srgbClr val="7EC699"/>
                </a:solidFill>
                <a:latin typeface="Consolas"/>
              </a:rPr>
              <a:t>-- 무효 객체가 남아 있지 않은지 확인 (0이면 정상)</a:t>
            </a:r>
          </a:p>
          <a:p>
            <a:r>
              <a:rPr sz="1300" b="0">
                <a:solidFill>
                  <a:srgbClr val="E6E6E6"/>
                </a:solidFill>
                <a:latin typeface="Consolas"/>
              </a:rPr>
              <a:t>SQL&gt; SELECT COUNT(*) FROM dba_objects WHERE status = 'INVALID';</a:t>
            </a:r>
          </a:p>
          <a:p>
            <a:r>
              <a:rPr sz="1300" b="0">
                <a:solidFill>
                  <a:srgbClr val="E6E6E6"/>
                </a:solidFill>
                <a:latin typeface="Consolas"/>
              </a:rPr>
              <a:t> </a:t>
            </a:r>
          </a:p>
          <a:p>
            <a:r>
              <a:rPr sz="1300" b="0">
                <a:solidFill>
                  <a:srgbClr val="E6E6E6"/>
                </a:solidFill>
                <a:latin typeface="Consolas"/>
              </a:rPr>
              <a:t>  COUNT(*)</a:t>
            </a:r>
          </a:p>
          <a:p>
            <a:r>
              <a:rPr sz="1300" b="0">
                <a:solidFill>
                  <a:srgbClr val="7EC699"/>
                </a:solidFill>
                <a:latin typeface="Consolas"/>
              </a:rPr>
              <a:t>----------</a:t>
            </a:r>
          </a:p>
          <a:p>
            <a:r>
              <a:rPr sz="1300" b="0">
                <a:solidFill>
                  <a:srgbClr val="E6E6E6"/>
                </a:solidFill>
                <a:latin typeface="Consolas"/>
              </a:rPr>
              <a:t>         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none">
            <a:spAutoFit/>
          </a:bodyPr>
          <a:lstStyle/>
          <a:p>
            <a:r>
              <a:rPr sz="6600" b="1">
                <a:solidFill>
                  <a:srgbClr val="C0392B"/>
                </a:solidFill>
                <a:latin typeface="Malgun Gothic"/>
              </a:rPr>
              <a:t>6.7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전체 예제 통합 실습 — 처음부터 끝까지</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a:solidFill>
                  <a:srgbClr val="C5CED6"/>
                </a:solidFill>
                <a:latin typeface="Malgun Gothic"/>
              </a:rPr>
              <a:t>•  6.2~6.6 절차를 하나의 흐름으로 이어 붙인 5단계</a:t>
            </a:r>
          </a:p>
          <a:p>
            <a:r>
              <a:rPr sz="1600" b="0">
                <a:solidFill>
                  <a:srgbClr val="C5CED6"/>
                </a:solidFill>
                <a:latin typeface="Malgun Gothic"/>
              </a:rPr>
              <a:t>•  디렉터리 준비 → NOMOUNT → CREATE DATABASE → catcdb.sql → 최종 확인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6.7  1단계 — 디렉터리 준비와 파라미터 파일 작성</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CREATE DATABASE는 없는 디렉터리에 파일을 못 만든다</a:t>
            </a:r>
          </a:p>
        </p:txBody>
      </p:sp>
      <p:sp>
        <p:nvSpPr>
          <p:cNvPr id="5" name="Rectangle 4"/>
          <p:cNvSpPr/>
          <p:nvPr/>
        </p:nvSpPr>
        <p:spPr>
          <a:xfrm>
            <a:off x="640080" y="1691640"/>
            <a:ext cx="10881360" cy="185547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1636014"/>
          </a:xfrm>
          <a:prstGeom prst="rect">
            <a:avLst/>
          </a:prstGeom>
          <a:noFill/>
        </p:spPr>
        <p:txBody>
          <a:bodyPr wrap="square" anchor="t">
            <a:spAutoFit/>
          </a:bodyPr>
          <a:lstStyle/>
          <a:p>
            <a:r>
              <a:rPr sz="1300" b="0">
                <a:solidFill>
                  <a:srgbClr val="7EC699"/>
                </a:solidFill>
                <a:latin typeface="Consolas"/>
              </a:rPr>
              <a:t>-- 필요한 디렉터리를 먼저 생성 (OS 셸)</a:t>
            </a:r>
          </a:p>
          <a:p>
            <a:r>
              <a:rPr sz="1300" b="0">
                <a:solidFill>
                  <a:srgbClr val="E6E6E6"/>
                </a:solidFill>
                <a:latin typeface="Consolas"/>
              </a:rPr>
              <a:t>$ mkdir -p /u01/app/oradata/CDB1/seed</a:t>
            </a:r>
          </a:p>
          <a:p>
            <a:r>
              <a:rPr sz="1300" b="0">
                <a:solidFill>
                  <a:srgbClr val="E6E6E6"/>
                </a:solidFill>
                <a:latin typeface="Consolas"/>
              </a:rPr>
              <a:t>$ mkdir -p /u02/app/oradata/CDB1</a:t>
            </a:r>
          </a:p>
          <a:p>
            <a:r>
              <a:rPr sz="1300" b="0">
                <a:solidFill>
                  <a:srgbClr val="E6E6E6"/>
                </a:solidFill>
                <a:latin typeface="Consolas"/>
              </a:rPr>
              <a:t> </a:t>
            </a:r>
          </a:p>
          <a:p>
            <a:r>
              <a:rPr sz="1300" b="0">
                <a:solidFill>
                  <a:srgbClr val="7EC699"/>
                </a:solidFill>
                <a:latin typeface="Consolas"/>
              </a:rPr>
              <a:t>-- 초기화 파라미터 파일 initCDB1.ora 작성 후 ORACLE_SID 설정</a:t>
            </a:r>
          </a:p>
          <a:p>
            <a:r>
              <a:rPr sz="1300" b="0">
                <a:solidFill>
                  <a:srgbClr val="E6E6E6"/>
                </a:solidFill>
                <a:latin typeface="Consolas"/>
              </a:rPr>
              <a:t>$ export ORACLE_SID=CDB1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6.7  2단계 — 인스턴스 NOMOUNT 기동</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인스턴스만 존재(STATUS=STARTED), 아직 DB 없음</a:t>
            </a:r>
          </a:p>
        </p:txBody>
      </p:sp>
      <p:sp>
        <p:nvSpPr>
          <p:cNvPr id="5" name="Rectangle 4"/>
          <p:cNvSpPr/>
          <p:nvPr/>
        </p:nvSpPr>
        <p:spPr>
          <a:xfrm>
            <a:off x="640080" y="1691640"/>
            <a:ext cx="10881360" cy="313499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2915539"/>
          </a:xfrm>
          <a:prstGeom prst="rect">
            <a:avLst/>
          </a:prstGeom>
          <a:noFill/>
        </p:spPr>
        <p:txBody>
          <a:bodyPr wrap="square" anchor="t">
            <a:spAutoFit/>
          </a:bodyPr>
          <a:lstStyle/>
          <a:p>
            <a:r>
              <a:rPr sz="1300" b="0">
                <a:solidFill>
                  <a:srgbClr val="E6E6E6"/>
                </a:solidFill>
                <a:latin typeface="Consolas"/>
              </a:rPr>
              <a:t>$ sqlplus / as sysdba</a:t>
            </a:r>
          </a:p>
          <a:p>
            <a:r>
              <a:rPr sz="1300" b="0">
                <a:solidFill>
                  <a:srgbClr val="E6E6E6"/>
                </a:solidFill>
                <a:latin typeface="Consolas"/>
              </a:rPr>
              <a:t> </a:t>
            </a:r>
          </a:p>
          <a:p>
            <a:r>
              <a:rPr sz="1300" b="0">
                <a:solidFill>
                  <a:srgbClr val="E6E6E6"/>
                </a:solidFill>
                <a:latin typeface="Consolas"/>
              </a:rPr>
              <a:t>SQL&gt; STARTUP NOMOUNT</a:t>
            </a:r>
          </a:p>
          <a:p>
            <a:r>
              <a:rPr sz="1300" b="0">
                <a:solidFill>
                  <a:srgbClr val="E6E6E6"/>
                </a:solidFill>
                <a:latin typeface="Consolas"/>
              </a:rPr>
              <a:t>ORACLE instance started.</a:t>
            </a:r>
          </a:p>
          <a:p>
            <a:r>
              <a:rPr sz="1300" b="0">
                <a:solidFill>
                  <a:srgbClr val="E6E6E6"/>
                </a:solidFill>
                <a:latin typeface="Consolas"/>
              </a:rPr>
              <a:t> </a:t>
            </a:r>
          </a:p>
          <a:p>
            <a:r>
              <a:rPr sz="1300" b="0">
                <a:solidFill>
                  <a:srgbClr val="7EC699"/>
                </a:solidFill>
                <a:latin typeface="Consolas"/>
              </a:rPr>
              <a:t>-- 인스턴스만 떠 있고 아직 데이터베이스는 없음(STATUS=STARTED)</a:t>
            </a:r>
          </a:p>
          <a:p>
            <a:r>
              <a:rPr sz="1300" b="0">
                <a:solidFill>
                  <a:srgbClr val="E6E6E6"/>
                </a:solidFill>
                <a:latin typeface="Consolas"/>
              </a:rPr>
              <a:t>SQL&gt; SELECT status FROM v$instance;</a:t>
            </a:r>
          </a:p>
          <a:p>
            <a:r>
              <a:rPr sz="1300" b="0">
                <a:solidFill>
                  <a:srgbClr val="E6E6E6"/>
                </a:solidFill>
                <a:latin typeface="Consolas"/>
              </a:rPr>
              <a:t> </a:t>
            </a:r>
          </a:p>
          <a:p>
            <a:r>
              <a:rPr sz="1300" b="0">
                <a:solidFill>
                  <a:srgbClr val="E6E6E6"/>
                </a:solidFill>
                <a:latin typeface="Consolas"/>
              </a:rPr>
              <a:t>STATUS</a:t>
            </a:r>
          </a:p>
          <a:p>
            <a:r>
              <a:rPr sz="1300" b="0">
                <a:solidFill>
                  <a:srgbClr val="7EC699"/>
                </a:solidFill>
                <a:latin typeface="Consolas"/>
              </a:rPr>
              <a:t>------------</a:t>
            </a:r>
          </a:p>
          <a:p>
            <a:r>
              <a:rPr sz="1300" b="0">
                <a:solidFill>
                  <a:srgbClr val="E6E6E6"/>
                </a:solidFill>
                <a:latin typeface="Consolas"/>
              </a:rPr>
              <a:t>STARTED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6.7  3단계 — CREATE DATABASE 실행</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성공 시 자동 마운트·오픈 → OPEN 상태</a:t>
            </a:r>
          </a:p>
        </p:txBody>
      </p:sp>
      <p:sp>
        <p:nvSpPr>
          <p:cNvPr id="5" name="Rectangle 4"/>
          <p:cNvSpPr/>
          <p:nvPr/>
        </p:nvSpPr>
        <p:spPr>
          <a:xfrm>
            <a:off x="640080" y="1691640"/>
            <a:ext cx="10881360" cy="43357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4116324"/>
          </a:xfrm>
          <a:prstGeom prst="rect">
            <a:avLst/>
          </a:prstGeom>
          <a:noFill/>
        </p:spPr>
        <p:txBody>
          <a:bodyPr wrap="square" anchor="t">
            <a:spAutoFit/>
          </a:bodyPr>
          <a:lstStyle/>
          <a:p>
            <a:r>
              <a:rPr sz="1200" b="0">
                <a:solidFill>
                  <a:srgbClr val="E6E6E6"/>
                </a:solidFill>
                <a:latin typeface="Consolas"/>
              </a:rPr>
              <a:t>SQL&gt; CREATE DATABASE cdb1</a:t>
            </a:r>
          </a:p>
          <a:p>
            <a:r>
              <a:rPr sz="1200" b="0">
                <a:solidFill>
                  <a:srgbClr val="E6E6E6"/>
                </a:solidFill>
                <a:latin typeface="Consolas"/>
              </a:rPr>
              <a:t>     USER SYS IDENTIFIED BY p1 USER SYSTEM IDENTIFIED BY p2</a:t>
            </a:r>
          </a:p>
          <a:p>
            <a:r>
              <a:rPr sz="1200" b="0">
                <a:solidFill>
                  <a:srgbClr val="E6E6E6"/>
                </a:solidFill>
                <a:latin typeface="Consolas"/>
              </a:rPr>
              <a:t>     LOGFILE GROUP 1 ('/u01/app/oradata/CDB1/redo1a.log') SIZE 100M,</a:t>
            </a:r>
          </a:p>
          <a:p>
            <a:r>
              <a:rPr sz="1200" b="0">
                <a:solidFill>
                  <a:srgbClr val="E6E6E6"/>
                </a:solidFill>
                <a:latin typeface="Consolas"/>
              </a:rPr>
              <a:t>             GROUP 2 ('/u01/app/oradata/CDB1/redo2a.log') SIZE 100M</a:t>
            </a:r>
          </a:p>
          <a:p>
            <a:r>
              <a:rPr sz="1200" b="0">
                <a:solidFill>
                  <a:srgbClr val="E6E6E6"/>
                </a:solidFill>
                <a:latin typeface="Consolas"/>
              </a:rPr>
              <a:t>     CHARACTER SET AL32UTF8 NATIONAL CHARACTER SET AL16UTF16</a:t>
            </a:r>
          </a:p>
          <a:p>
            <a:r>
              <a:rPr sz="1200" b="0">
                <a:solidFill>
                  <a:srgbClr val="E6E6E6"/>
                </a:solidFill>
                <a:latin typeface="Consolas"/>
              </a:rPr>
              <a:t>     EXTENT MANAGEMENT LOCAL</a:t>
            </a:r>
          </a:p>
          <a:p>
            <a:r>
              <a:rPr sz="1200" b="0">
                <a:solidFill>
                  <a:srgbClr val="E6E6E6"/>
                </a:solidFill>
                <a:latin typeface="Consolas"/>
              </a:rPr>
              <a:t>     DATAFILE '/u01/app/oradata/CDB1/system01.dbf' SIZE 325M</a:t>
            </a:r>
          </a:p>
          <a:p>
            <a:r>
              <a:rPr sz="1200" b="0">
                <a:solidFill>
                  <a:srgbClr val="E6E6E6"/>
                </a:solidFill>
                <a:latin typeface="Consolas"/>
              </a:rPr>
              <a:t>     SYSAUX DATAFILE '/u01/app/oradata/CDB1/sysaux01.dbf' SIZE 325M</a:t>
            </a:r>
          </a:p>
          <a:p>
            <a:r>
              <a:rPr sz="1200" b="0">
                <a:solidFill>
                  <a:srgbClr val="E6E6E6"/>
                </a:solidFill>
                <a:latin typeface="Consolas"/>
              </a:rPr>
              <a:t>     DEFAULT TEMPORARY TABLESPACE temp</a:t>
            </a:r>
          </a:p>
          <a:p>
            <a:r>
              <a:rPr sz="1200" b="0">
                <a:solidFill>
                  <a:srgbClr val="E6E6E6"/>
                </a:solidFill>
                <a:latin typeface="Consolas"/>
              </a:rPr>
              <a:t>        TEMPFILE '/u01/app/oradata/CDB1/temp01.dbf' SIZE 20M</a:t>
            </a:r>
          </a:p>
          <a:p>
            <a:r>
              <a:rPr sz="1200" b="0">
                <a:solidFill>
                  <a:srgbClr val="E6E6E6"/>
                </a:solidFill>
                <a:latin typeface="Consolas"/>
              </a:rPr>
              <a:t>     UNDO TABLESPACE undotbs</a:t>
            </a:r>
          </a:p>
          <a:p>
            <a:r>
              <a:rPr sz="1200" b="0">
                <a:solidFill>
                  <a:srgbClr val="E6E6E6"/>
                </a:solidFill>
                <a:latin typeface="Consolas"/>
              </a:rPr>
              <a:t>        DATAFILE '/u01/app/oradata/CDB1/undotbs01.dbf' SIZE 200M</a:t>
            </a:r>
          </a:p>
          <a:p>
            <a:r>
              <a:rPr sz="1200" b="0">
                <a:solidFill>
                  <a:srgbClr val="E6E6E6"/>
                </a:solidFill>
                <a:latin typeface="Consolas"/>
              </a:rPr>
              <a:t>     ENABLE PLUGGABLE DATABASE</a:t>
            </a:r>
          </a:p>
          <a:p>
            <a:r>
              <a:rPr sz="1200" b="0">
                <a:solidFill>
                  <a:srgbClr val="E6E6E6"/>
                </a:solidFill>
                <a:latin typeface="Consolas"/>
              </a:rPr>
              <a:t>     SEED FILE_NAME_CONVERT =</a:t>
            </a:r>
          </a:p>
          <a:p>
            <a:r>
              <a:rPr sz="1200" b="0">
                <a:solidFill>
                  <a:srgbClr val="E6E6E6"/>
                </a:solidFill>
                <a:latin typeface="Consolas"/>
              </a:rPr>
              <a:t>        ('/u01/app/oradata/CDB1','/u01/app/oradata/CDB1/seed');</a:t>
            </a:r>
          </a:p>
          <a:p>
            <a:r>
              <a:rPr sz="1200" b="0">
                <a:solidFill>
                  <a:srgbClr val="E6E6E6"/>
                </a:solidFill>
                <a:latin typeface="Consolas"/>
              </a:rPr>
              <a:t> </a:t>
            </a:r>
          </a:p>
          <a:p>
            <a:r>
              <a:rPr sz="1200" b="0">
                <a:solidFill>
                  <a:srgbClr val="E6E6E6"/>
                </a:solidFill>
                <a:latin typeface="Consolas"/>
              </a:rPr>
              <a:t>Database created.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6.7  4단계 — 카탈로그 스크립트로 딕셔너리 구축</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catcdb.sql (완료까지 수십 분 소요 가능)</a:t>
            </a:r>
          </a:p>
        </p:txBody>
      </p:sp>
      <p:sp>
        <p:nvSpPr>
          <p:cNvPr id="5" name="Rectangle 4"/>
          <p:cNvSpPr/>
          <p:nvPr/>
        </p:nvSpPr>
        <p:spPr>
          <a:xfrm>
            <a:off x="640080" y="1691640"/>
            <a:ext cx="10881360" cy="83185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612394"/>
          </a:xfrm>
          <a:prstGeom prst="rect">
            <a:avLst/>
          </a:prstGeom>
          <a:noFill/>
        </p:spPr>
        <p:txBody>
          <a:bodyPr wrap="square" anchor="t">
            <a:spAutoFit/>
          </a:bodyPr>
          <a:lstStyle/>
          <a:p>
            <a:r>
              <a:rPr sz="1300" b="0">
                <a:solidFill>
                  <a:srgbClr val="E6E6E6"/>
                </a:solidFill>
                <a:latin typeface="Consolas"/>
              </a:rPr>
              <a:t>SQL&gt; @?/rdbms/admin/catcdb.sql</a:t>
            </a:r>
          </a:p>
          <a:p>
            <a:r>
              <a:rPr sz="1300" b="0">
                <a:solidFill>
                  <a:srgbClr val="7EC699"/>
                </a:solidFill>
                <a:latin typeface="Consolas"/>
              </a:rPr>
              <a:t>-- (실행에 수십 분이 걸릴 수 있음. 완료까지 기다린다.)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6.7  5단계 — 최종 확인</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CDB=YES, V$PDBS에 PDB$SEED 보이면 성공</a:t>
            </a:r>
          </a:p>
        </p:txBody>
      </p:sp>
      <p:sp>
        <p:nvSpPr>
          <p:cNvPr id="5" name="Rectangle 4"/>
          <p:cNvSpPr/>
          <p:nvPr/>
        </p:nvSpPr>
        <p:spPr>
          <a:xfrm>
            <a:off x="640080" y="1691640"/>
            <a:ext cx="10881360" cy="3134995"/>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469880" cy="2915539"/>
          </a:xfrm>
          <a:prstGeom prst="rect">
            <a:avLst/>
          </a:prstGeom>
          <a:noFill/>
        </p:spPr>
        <p:txBody>
          <a:bodyPr wrap="square" anchor="t">
            <a:spAutoFit/>
          </a:bodyPr>
          <a:lstStyle/>
          <a:p>
            <a:r>
              <a:rPr sz="1300" b="0">
                <a:solidFill>
                  <a:srgbClr val="E6E6E6"/>
                </a:solidFill>
                <a:latin typeface="Consolas"/>
              </a:rPr>
              <a:t>SQL&gt; SELECT name, open_mode, cdb FROM v$database;</a:t>
            </a:r>
          </a:p>
          <a:p>
            <a:r>
              <a:rPr sz="1300" b="0">
                <a:solidFill>
                  <a:srgbClr val="E6E6E6"/>
                </a:solidFill>
                <a:latin typeface="Consolas"/>
              </a:rPr>
              <a:t> </a:t>
            </a:r>
          </a:p>
          <a:p>
            <a:r>
              <a:rPr sz="1300" b="0">
                <a:solidFill>
                  <a:srgbClr val="E6E6E6"/>
                </a:solidFill>
                <a:latin typeface="Consolas"/>
              </a:rPr>
              <a:t>NAME    OPEN_MODE   CDB</a:t>
            </a:r>
          </a:p>
          <a:p>
            <a:r>
              <a:rPr sz="1300" b="0">
                <a:solidFill>
                  <a:srgbClr val="7EC699"/>
                </a:solidFill>
                <a:latin typeface="Consolas"/>
              </a:rPr>
              <a:t>------- ----------- ---</a:t>
            </a:r>
          </a:p>
          <a:p>
            <a:r>
              <a:rPr sz="1300" b="0">
                <a:solidFill>
                  <a:srgbClr val="E6E6E6"/>
                </a:solidFill>
                <a:latin typeface="Consolas"/>
              </a:rPr>
              <a:t>CDB1    READ WRITE  YES</a:t>
            </a:r>
          </a:p>
          <a:p>
            <a:r>
              <a:rPr sz="1300" b="0">
                <a:solidFill>
                  <a:srgbClr val="E6E6E6"/>
                </a:solidFill>
                <a:latin typeface="Consolas"/>
              </a:rPr>
              <a:t> </a:t>
            </a:r>
          </a:p>
          <a:p>
            <a:r>
              <a:rPr sz="1300" b="0">
                <a:solidFill>
                  <a:srgbClr val="E6E6E6"/>
                </a:solidFill>
                <a:latin typeface="Consolas"/>
              </a:rPr>
              <a:t>SQL&gt; SELECT con_id, name FROM v$pdbs ORDER BY con_id;</a:t>
            </a:r>
          </a:p>
          <a:p>
            <a:r>
              <a:rPr sz="1300" b="0">
                <a:solidFill>
                  <a:srgbClr val="E6E6E6"/>
                </a:solidFill>
                <a:latin typeface="Consolas"/>
              </a:rPr>
              <a:t> </a:t>
            </a:r>
          </a:p>
          <a:p>
            <a:r>
              <a:rPr sz="1300" b="0">
                <a:solidFill>
                  <a:srgbClr val="E6E6E6"/>
                </a:solidFill>
                <a:latin typeface="Consolas"/>
              </a:rPr>
              <a:t>   CON_ID NAME</a:t>
            </a:r>
          </a:p>
          <a:p>
            <a:r>
              <a:rPr sz="1300" b="0">
                <a:solidFill>
                  <a:srgbClr val="7EC699"/>
                </a:solidFill>
                <a:latin typeface="Consolas"/>
              </a:rPr>
              <a:t>--------- ---------</a:t>
            </a:r>
          </a:p>
          <a:p>
            <a:r>
              <a:rPr sz="1300" b="0">
                <a:solidFill>
                  <a:srgbClr val="E6E6E6"/>
                </a:solidFill>
                <a:latin typeface="Consolas"/>
              </a:rPr>
              <a:t>        2 PDB$SEED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6.8  퀴즈(Quiz)  ·  문제 1~3</a:t>
            </a:r>
          </a:p>
        </p:txBody>
      </p:sp>
      <p:sp>
        <p:nvSpPr>
          <p:cNvPr id="4" name="TextBox 3"/>
          <p:cNvSpPr txBox="1"/>
          <p:nvPr/>
        </p:nvSpPr>
        <p:spPr>
          <a:xfrm>
            <a:off x="640080" y="1234440"/>
            <a:ext cx="10881360" cy="5029200"/>
          </a:xfrm>
          <a:prstGeom prst="rect">
            <a:avLst/>
          </a:prstGeom>
          <a:noFill/>
        </p:spPr>
        <p:txBody>
          <a:bodyPr wrap="square">
            <a:spAutoFit/>
          </a:bodyPr>
          <a:lstStyle/>
          <a:p>
            <a:r>
              <a:rPr sz="1800" b="1">
                <a:solidFill>
                  <a:srgbClr val="202830"/>
                </a:solidFill>
                <a:latin typeface="Malgun Gothic"/>
              </a:rPr>
              <a:t>•  Q1. CDB 생성의 필수 절 — non-CDB가 아닌 CDB를 만들려면 반드시 포함해야 하는 절은?</a:t>
            </a:r>
          </a:p>
          <a:p>
            <a:pPr lvl="1"/>
            <a:r>
              <a:rPr sz="1500" b="0">
                <a:solidFill>
                  <a:srgbClr val="5A6672"/>
                </a:solidFill>
                <a:latin typeface="Malgun Gothic"/>
              </a:rPr>
              <a:t>    (a) DEFAULT TABLESPACE   (b) ENABLE PLUGGABLE DATABASE   (c) ARCHIVELOG   (d) FORCE LOGGING</a:t>
            </a:r>
          </a:p>
          <a:p>
            <a:r>
              <a:rPr sz="1800" b="1">
                <a:solidFill>
                  <a:srgbClr val="202830"/>
                </a:solidFill>
                <a:latin typeface="Malgun Gothic"/>
              </a:rPr>
              <a:t>•  Q2. 초기화 파라미터 — 인스턴스가 CDB를 생성할 준비를 하도록 TRUE로 설정하는 파라미터는?</a:t>
            </a:r>
          </a:p>
          <a:p>
            <a:pPr lvl="1"/>
            <a:r>
              <a:rPr sz="1500" b="0">
                <a:solidFill>
                  <a:srgbClr val="5A6672"/>
                </a:solidFill>
                <a:latin typeface="Malgun Gothic"/>
              </a:rPr>
              <a:t>    (a) DB_BLOCK_SIZE   (b) MAX_PDBS   (c) ENABLE_PLUGGABLE_DATABASE   (d) CONTROL_FILES</a:t>
            </a:r>
          </a:p>
          <a:p>
            <a:r>
              <a:rPr sz="1800" b="1">
                <a:solidFill>
                  <a:srgbClr val="202830"/>
                </a:solidFill>
                <a:latin typeface="Malgun Gothic"/>
              </a:rPr>
              <a:t>•  Q3. 파일 생성 단계 — CREATE DATABASE에서 컨트롤 파일은 어느 단계에서 생성되는가?</a:t>
            </a:r>
          </a:p>
          <a:p>
            <a:pPr lvl="1"/>
            <a:r>
              <a:rPr sz="1500" b="0">
                <a:solidFill>
                  <a:srgbClr val="5A6672"/>
                </a:solidFill>
                <a:latin typeface="Malgun Gothic"/>
              </a:rPr>
              <a:t>    (a) NOMOUNT 단계   (b) 마운트 단계   (c) 오픈 단계   (d) 스크립트 실행 단계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6.8  퀴즈(Quiz)  ·  문제 4~6</a:t>
            </a:r>
          </a:p>
        </p:txBody>
      </p:sp>
      <p:sp>
        <p:nvSpPr>
          <p:cNvPr id="4" name="TextBox 3"/>
          <p:cNvSpPr txBox="1"/>
          <p:nvPr/>
        </p:nvSpPr>
        <p:spPr>
          <a:xfrm>
            <a:off x="640080" y="1234440"/>
            <a:ext cx="10881360" cy="5029200"/>
          </a:xfrm>
          <a:prstGeom prst="rect">
            <a:avLst/>
          </a:prstGeom>
          <a:noFill/>
        </p:spPr>
        <p:txBody>
          <a:bodyPr wrap="square">
            <a:spAutoFit/>
          </a:bodyPr>
          <a:lstStyle/>
          <a:p>
            <a:r>
              <a:rPr sz="1800" b="1">
                <a:solidFill>
                  <a:srgbClr val="202830"/>
                </a:solidFill>
                <a:latin typeface="Malgun Gothic"/>
              </a:rPr>
              <a:t>•  Q4. SEED FILE_NAME_CONVERT = ('/u01/.../CDB1','/u01/.../CDB1/seed') 절의 역할로 옳은 것은?</a:t>
            </a:r>
          </a:p>
          <a:p>
            <a:pPr lvl="1"/>
            <a:r>
              <a:rPr sz="1500" b="0">
                <a:solidFill>
                  <a:srgbClr val="5A6672"/>
                </a:solidFill>
                <a:latin typeface="Malgun Gothic"/>
              </a:rPr>
              <a:t>    (a) 컨트롤 파일 다중화   (b) 루트 데이터 파일 경로를 시드 경로로 치환   (c) 리두 크기 지정   (d) 문자 집합 지정</a:t>
            </a:r>
          </a:p>
          <a:p>
            <a:r>
              <a:rPr sz="1800" b="1">
                <a:solidFill>
                  <a:srgbClr val="202830"/>
                </a:solidFill>
                <a:latin typeface="Malgun Gothic"/>
              </a:rPr>
              <a:t>•  Q5. OMF — 명시적 파일 이름 없이 Oracle이 파일 이름·위치를 결정하게 하려면 설정하는 파라미터는?</a:t>
            </a:r>
          </a:p>
          <a:p>
            <a:pPr lvl="1"/>
            <a:r>
              <a:rPr sz="1500" b="0">
                <a:solidFill>
                  <a:srgbClr val="5A6672"/>
                </a:solidFill>
                <a:latin typeface="Malgun Gothic"/>
              </a:rPr>
              <a:t>    (a) PDB_FILE_NAME_CONVERT   (b) DB_CREATE_FILE_DEST   (c) DB_NAME   (d) UNDO_TABLESPACE</a:t>
            </a:r>
          </a:p>
          <a:p>
            <a:r>
              <a:rPr sz="1800" b="1">
                <a:solidFill>
                  <a:srgbClr val="202830"/>
                </a:solidFill>
                <a:latin typeface="Malgun Gothic"/>
              </a:rPr>
              <a:t>•  Q6. 데이터 딕셔너리 구축 — CREATE DATABASE 후 딕셔너리 뷰·표준 패키지를 설치하는 스크립트는?</a:t>
            </a:r>
          </a:p>
          <a:p>
            <a:pPr lvl="1"/>
            <a:r>
              <a:rPr sz="1500" b="0">
                <a:solidFill>
                  <a:srgbClr val="5A6672"/>
                </a:solidFill>
                <a:latin typeface="Malgun Gothic"/>
              </a:rPr>
              <a:t>    (a) utlrp.sql만   (b) catcdb.sql (또는 catalog.sql + catproc.sql)   (c) startup.sql   (d) shutdown.sql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6.9  요약 (Summary) — 1/2</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SQL 명령어 수동 생성은 DBCA 자동화의 이면을 이해하고, 특수 구성·GUI 없는 환경을 다루는 필수 역량</a:t>
            </a:r>
          </a:p>
          <a:p>
            <a:pPr/>
            <a:r>
              <a:rPr sz="1800" b="0">
                <a:solidFill>
                  <a:srgbClr val="202830"/>
                </a:solidFill>
                <a:latin typeface="Malgun Gothic"/>
              </a:rPr>
              <a:t>•  CDB 생성 3단계 — ① 인스턴스 NOMOUNT 기동 → ② CREATE DATABASE 실행 → ③ 카탈로그로 딕셔너리 구축</a:t>
            </a:r>
          </a:p>
          <a:p>
            <a:pPr/>
            <a:r>
              <a:rPr sz="1800" b="0">
                <a:solidFill>
                  <a:srgbClr val="202830"/>
                </a:solidFill>
                <a:latin typeface="Malgun Gothic"/>
              </a:rPr>
              <a:t>•  사전 준비 — DB_NAME·CONTROL_FILES·DB_BLOCK_SIZE·ENABLE_PLUGGABLE_DATABASE=TRUE·MAX_PDBS 지정</a:t>
            </a:r>
          </a:p>
          <a:p>
            <a:pPr/>
            <a:r>
              <a:rPr sz="1800" b="0">
                <a:solidFill>
                  <a:srgbClr val="202830"/>
                </a:solidFill>
                <a:latin typeface="Malgun Gothic"/>
              </a:rPr>
              <a:t>•  ORACLE_SID 설정 후 STARTUP NOMOUNT로 '빈 인스턴스'만 먼저 기동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6.9  요약 (Summary) — 2/2</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ENABLE PLUGGABLE DATABASE 절이 CDB 루트·시드 생성 — 컨트롤 파일은 마운트, 리두·루트 데이터는 오픈 단계</a:t>
            </a:r>
          </a:p>
          <a:p>
            <a:pPr/>
            <a:r>
              <a:rPr sz="1800" b="0">
                <a:solidFill>
                  <a:srgbClr val="202830"/>
                </a:solidFill>
                <a:latin typeface="Malgun Gothic"/>
              </a:rPr>
              <a:t>•  시드 파일 위치는 SEED FILE_NAME_CONVERT 절 / PDB_FILE_NAME_CONVERT 파라미터 / OMF 중 하나로 지정</a:t>
            </a:r>
          </a:p>
          <a:p>
            <a:pPr/>
            <a:r>
              <a:rPr sz="1800" b="0">
                <a:solidFill>
                  <a:srgbClr val="202830"/>
                </a:solidFill>
                <a:latin typeface="Malgun Gothic"/>
              </a:rPr>
              <a:t>•  세 방법 공통 규칙 — 대상 디렉터리는 모두 사전에 존재해야 함</a:t>
            </a:r>
          </a:p>
          <a:p>
            <a:pPr/>
            <a:r>
              <a:rPr sz="1800" b="0">
                <a:solidFill>
                  <a:srgbClr val="202830"/>
                </a:solidFill>
                <a:latin typeface="Malgun Gothic"/>
              </a:rPr>
              <a:t>•  CREATE DATABASE 후 catcdb.sql(또는 catalog.sql·catproc.sql) 실행해야 관리 가능한 완전한 CDB 완성</a:t>
            </a:r>
          </a:p>
          <a:p>
            <a:pPr/>
            <a:r>
              <a:rPr sz="1800" b="0">
                <a:solidFill>
                  <a:srgbClr val="202830"/>
                </a:solidFill>
                <a:latin typeface="Malgun Gothic"/>
              </a:rPr>
              <a:t>•  마무리 — utlrp.sql로 무효 객체 재컴파일, CREATE SPFILE FROM PFILE로 SPFILE 생성</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pPr algn="l"/>
            <a:r>
              <a:rPr sz="2600" b="1">
                <a:solidFill>
                  <a:srgbClr val="FFFFFF"/>
                </a:solidFill>
                <a:latin typeface="Malgun Gothic"/>
              </a:rPr>
              <a:t>6.10  실습 개요 (Practice Overview) — Creating a New CDB</a:t>
            </a:r>
          </a:p>
        </p:txBody>
      </p:sp>
      <p:sp>
        <p:nvSpPr>
          <p:cNvPr id="4" name="TextBox 3"/>
          <p:cNvSpPr txBox="1"/>
          <p:nvPr/>
        </p:nvSpPr>
        <p:spPr>
          <a:xfrm>
            <a:off x="640080" y="1280160"/>
            <a:ext cx="10881360" cy="4937760"/>
          </a:xfrm>
          <a:prstGeom prst="rect">
            <a:avLst/>
          </a:prstGeom>
          <a:noFill/>
        </p:spPr>
        <p:txBody>
          <a:bodyPr wrap="square">
            <a:spAutoFit/>
          </a:bodyPr>
          <a:lstStyle/>
          <a:p>
            <a:pPr/>
            <a:r>
              <a:rPr sz="1800" b="0">
                <a:solidFill>
                  <a:srgbClr val="202830"/>
                </a:solidFill>
                <a:latin typeface="Malgun Gothic"/>
              </a:rPr>
              <a:t>•  SQL*Plus에서 CREATE DATABASE로 새 CDB를 처음부터 만들고, 시드 위치 지정·딕셔너리 구축까지 수행</a:t>
            </a:r>
          </a:p>
          <a:p>
            <a:pPr/>
            <a:r>
              <a:rPr sz="1800" b="0">
                <a:solidFill>
                  <a:srgbClr val="202830"/>
                </a:solidFill>
                <a:latin typeface="Malgun Gothic"/>
              </a:rPr>
              <a:t>•  실습 06-01 — CREATE DATABASE(ENABLE PLUGGABLE DATABASE)로 CDB 생성: NOMOUNT→생성→루트·시드 확인</a:t>
            </a:r>
          </a:p>
          <a:p>
            <a:pPr/>
            <a:r>
              <a:rPr sz="1800" b="0">
                <a:solidFill>
                  <a:srgbClr val="202830"/>
                </a:solidFill>
                <a:latin typeface="Malgun Gothic"/>
              </a:rPr>
              <a:t>•  실습 06-02 — SEED FILE_NAME_CONVERT로 시드 PDB 파일 위치 지정: 대상 디렉터리 누락 오류와 해결 경험</a:t>
            </a:r>
          </a:p>
          <a:p>
            <a:pPr/>
            <a:r>
              <a:rPr sz="1800" b="0">
                <a:solidFill>
                  <a:srgbClr val="202830"/>
                </a:solidFill>
                <a:latin typeface="Malgun Gothic"/>
              </a:rPr>
              <a:t>•  실습 06-03 — catcdb.sql 실행으로 데이터 딕셔너리 구축 확인: 카탈로그 실행 후 딕셔너리 뷰 조회로 검증</a:t>
            </a:r>
          </a:p>
          <a:p>
            <a:pPr/>
            <a:r>
              <a:rPr sz="1800" b="0">
                <a:solidFill>
                  <a:srgbClr val="5A6672"/>
                </a:solidFill>
                <a:latin typeface="Malgun Gothic"/>
              </a:rPr>
              <a:t>•  세 개의 실습 트랜스크립트(txt)가 제공된다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
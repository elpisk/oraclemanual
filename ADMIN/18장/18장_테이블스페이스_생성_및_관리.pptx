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테이블스페이스는 데이터베이스의 논리적 저장 단위이며 하나 이상의 물리적 데이터 파일로 뒷받침된다. 테이블·인덱스 같은 세그먼트는 반드시 어떤 테이블스페이스에 속하며, 그 익스텐트는 결국 데이터 파일의 블록으로 실체화된다. 새 애플리케이션 스키마를 배치하거나 데이터 증가에 대비할 때 DBA가 가장 먼저 하는 일이 테이블스페이스 생성이다. 가장 단순한 형태에서는 이름과 데이터 파일의 경로·크기만 지정하면 되며, 크기 단위로 K/M/G/T를 쓸 수 있다. 파일 경로는 OS 절대 경로여야 하고 해당 디렉터리에 oracle 계정의 쓰기 권한이 있어야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단순한 한 문장 안에는 여러 기본값이 숨어 있다. 19c에서는 EXTENT MANAGEMENT LOCAL(AUTOALLOCATE), SEGMENT SPACE MANAGEMENT AUTO, LOGGING이 자동 적용되며, BIGFILE을 지정하지 않으면 스몰파일 테이블스페이스가 된다. 즉 CREATE TABLESPACE users_app DATAFILE ... SIZE 500M 한 줄은 이 모든 기본값을 펼쳐 쓴 것과 동일하다. 이 절들의 의미는 18.2에서 자세히 다룬다. OMF를 쓰면 경로 지정 자체를 생략할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테이블스페이스는 용도에 따라 세 유형으로 나뉜다. 영구 테이블스페이스는 테이블·인덱스 등 영속 세그먼트를 저장하며 DATAFILE 절을 쓴다. 임시 테이블스페이스는 정렬·해시 조인 등 세션 작업 영역을 저장하며 TEMPFILE 절을 쓰고 리두를 남기지 않는다. 언두 테이블스페이스는 트랜잭션의 이전 이미지(undo)를 저장하며 CREATE UNDO TABLESPACE로 생성한다(20장 상세). 각 유형은 저장하는 데이터의 수명과 특성이 다르기 때문에 물리적으로도 분리해 관리한다.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스몰파일 테이블스페이스는 전통적 방식으로 최대 1022개의 데이터 파일을 가질 수 있고, 8KB 블록 기준 파일당 약 32GB로 제한된다. 빅파일 테이블스페이스는 단 하나의 매우 큰 파일로 구성되며 8KB 블록 기준 최대 32TB(32KB 블록에서는 128TB)까지 커진다. 빅파일의 장점은 관리 단순성이다. 파일이 하나이므로 ALTER TABLESPACE ... RESIZE로 테이블스페이스 단위로 직접 크기를 조정할 수 있다. 다만 단일 파일이 한 디스크에 몰리면 I/O 병목이 될 수 있어 ASM/OMF 같은 스트라이핑 스토리지와 함께 쓸 때 진가를 발휘한다.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빅파일은 CREATE BIGFILE TABLESPACE로 만들며 데이터 파일은 정확히 하나다. 파일이 하나이므로 ALTER TABLESPACE sales_big RESIZE 4G처럼 테이블스페이스 자체를 직접 리사이즈할 수 있다(스몰파일에서는 개별 데이터 파일을 리사이즈해야 한다). 데이터베이스의 기본 유형은 ALTER DATABASE SET DEFAULT BIGFILE TABLESPACE로 바꿀 수 있다. 초대형 데이터베이스에서 데이터 파일 개수 폭증을 막고 관리 부담을 줄이려는 목적으로 사용한다.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익스텐트 관리는 테이블스페이스가 세그먼트에 익스텐트를 할당·회수할 때 그 정보를 어디에 두느냐를 결정한다. 로컬 관리(LOCAL)는 각 데이터 파일 헤더의 비트맵으로 익스텐트를 추적해 딕셔너리 갱신이 없으므로 경합이 적고 성능이 좋아 19c 기본이자 권장이다. AUTOALLOCATE는 세그먼트가 커짐에 따라 익스텐트 크기를 64KB부터 점진적으로 키우고, UNIFORM은 모든 익스텐트를 지정한 동일 크기로 할당한다. 세그먼트 공간 관리 AUTO(ASSM)는 비트맵으로 블록의 여유 상태를 관리해 과거의 FREELIST/PCTUSED 튜닝을 불필요하게 만들고 동시 삽입 경합을 줄인다. 과거 DICTIONARY 관리와 MANUAL 공간 관리는 오늘날 사실상 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LOGGING 절은 다이렉트 경로 적재, CTAS, 인덱스 생성 같은 특정 대량 작업이 리두를 생성할지의 기본값을 정한다. LOGGING(기본)이면 이런 작업도 리두를 완전히 남겨 미디어 복구가 가능하다. NOLOGGING이면 최소 리두만 남겨 빨라지지만, 백업 사이에 NOLOGGING으로 적재한 데이터는 미디어 복구로 되살릴 수 없다. 따라서 재적재 가능한 스테이징/ETL 영역에 한정해 쓰고 사용 직후 반드시 백업한다. NOLOGGING은 일반 DML에는 영향을 주지 않는다. DEFAULT 저장 절은 그 테이블스페이스에 만들어지는 객체의 기본 속성(예: DEFAULT COMPRESS)을 정한다.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멀티테넌트에서 테이블스페이스는 컨테이너에 소속된 로컬 객체다. 루트(CDB$ROOT) 또는 특정 PDB의 컨텍스트에서 생성되며 만들어진 컨테이너 안에서만 존재한다. 루트에서 만든 테이블스페이스는 PDB로 자동 전파되지 않는다. 따라서 어느 컨테이너에서 CREATE TABLESPACE를 실행했는가가 결과를 완전히 좌우한다. 공통 사용자가 여러 컨테이너에 같은 이름의 테이블스페이스를 두려면 각 컨테이너에 개별 접속하여 CREATE를 반복해야 한다. 한 번에 여러 컨테이너에 만드는 문법은 없다. 어디에 무엇이 있는지는 루트에서 CDB_TABLESPACES를 CON_ID와 함께 조회해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pdb1과 salespdb에 각각 app_data라는 이름의 테이블스페이스를 만들면 이름은 같지만 완전히 독립적인 두 테이블스페이스가 된다. 각 컨테이너는 자신의 데이터 파일과 저장소 계층을 독립적으로 소유하기 때문이다. 실무에서는 이 때문에 사고가 잘 난다. pdb1의 테이블스페이스를 늘려달라는 요청에 salespdb에 접속한 채 ALTER를 실행하면 엉뚱한 PDB가 바뀐다. 예방책은 SHOW CON_NAME으로 컨테이너 확인, 프롬프트에 컨테이너명 표시, 변경 전 CDB_TABLESPACES로 CON_ID 대조를 습관화하는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영구 테이블스페이스는 사용자 생성 시 DEFAULT TABLESPACE 절을 명시하지 않으면 그 사용자에게 할당되는 테이블스페이스다. 이 값이 제대로 지정되지 않으면 새 사용자의 기본 테이블스페이스가 SYSTEM으로 잡힐 수 있는데, 이는 매우 위험하다. 사용자 객체가 데이터 딕셔너리 전용 공간인 SYSTEM을 잠식하면 딕셔너리 성능 저하와 공간 부족으로 이어진다. 생성 시 CREATE DATABASE/PDB의 DEFAULT TABLESPACE 절로, 이후에는 ALTER DATABASE DEFAULT TABLESPACE로 지정한다. 현재 값은 DATABASE_PROPERTIES에서 확인한다. 기본으로 지정된 테이블스페이스는 다른 것으로 교체하기 전까지 삭제할 수 없는 안전장치가 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 기본 영구 테이블스페이스는 DATABASE_PROPERTIES 뷰의 DEFAULT_PERMANENT_TABLESPACE 속성으로 확인한다. ALTER DATABASE DEFAULT TABLESPACE app_data로 변경하면, 이후 DEFAULT TABLESPACE 절 없이 만든 사용자(예: hr_dev)의 기본 테이블스페이스가 app_data가 된다. 모범 사례는 데이터베이스/PDB 생성 직후 기본 영구 테이블스페이스를 USERS나 전용 업무 테이블스페이스로 지정하고, 계정 생성 표준 절차에 DEFAULT TABLESPACE와 QUOTA를 명시적으로 포함해 기본값에만 의존하지 않는 이중 안전장치를 두는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임시 테이블스페이스는 PGA 메모리를 초과하는 정렬·해시 조인·인덱스 생성 작업 영역을 디스크에 임시로 내려놓는 공간이다. 영구 테이블스페이스와 달리 데이터 파일이 아니라 임시 파일(TEMPFILE)로 구성되며 리두를 발생시키지 않고, 세션이 끝나면 사용하던 임시 세그먼트 공간이 반환된다. TEMPORARY TABLESPACE 절 없이 만든 사용자는 데이터베이스의 기본 임시 테이블스페이스를 쓴다. 이 값은 ALTER DATABASE DEFAULT TEMPORARY TABLESPACE로 바꾸며, 지정된 임시 테이블스페이스도 교체 전까지 삭제할 수 없다. 대형 정렬이 공간을 고갈시키면 ORA-01652가 나므로 자동 확장과 상한을 두고 V$TEMPSEG_USAGE로 모니터링한다.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임시 테이블스페이스는 CREATE TEMPORARY TABLESPACE ... TEMPFILE로 만든다. 임시 테이블스페이스 그룹은 하나 이상의 임시 테이블스페이스를 묶어 하나의 논리적 이름으로 다루는 기능이며, 별도 CREATE 문 없이 테이블스페이스를 그룹에 소속시키는 순간 자동으로 만들어진다. 그룹을 사용자나 데이터베이스의 기본 임시 테이블스페이스로 지정하면, 한 사용자의 병렬 슬레이브들이 여러 임시 테이블스페이스에 정렬 부하를 분산할 수 있고 단일 임시 파일 한계에 부딪히는 상황을 완화할 수 있다. 그룹 구성은 DBA_TABLESPACE_GROUPS로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 TABLESPACE로 상태와 속성을 변경한다. 오프라인으로 만들면 그 안의 세그먼트에 접근할 수 없어 데이터 파일 유지보수나 부분 복구에 쓴다. SYSTEM, 활성 언두, 기본 임시 테이블스페이스는 오프라인으로 만들 수 없다. 오프라인 방식에는 NORMAL(체크포인트 후 정상), TEMPORARY, IMMEDIATE가 있으며 보통 NORMAL을 쓴다. 읽기 전용(READ ONLY)으로 만들면 조회만 되고 갱신이 차단되며, 변경되지 않는 이력 데이터를 담은 테이블스페이스를 읽기 전용으로 두면 백업 대상과 시간을 크게 줄일 수 있다. 전환하려면 진행 중인 트랜잭션이 없어야 한다. 이름은 RENAME TO로 바꾼다(SYSTEM/SYSAUX 제외).</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테이블스페이스를 읽기 전용으로 만들면 그 안의 데이터에 대한 INSERT/UPDATE/DELETE가 ORA-00372/ORA-01110 오류로 차단된다. 이력처럼 더 이상 변경되지 않는 데이터를 읽기 전용으로 두면 이후 백업에서 제외하거나 한 번만 백업해도 되므로 백업 부담을 크게 줄일 수 있다. 다시 갱신이 필요하면 ALTER TABLESPACE ... READ WRITE로 되돌린다. 읽기 전용 전환은 해당 테이블스페이스에 진행 중인 트랜잭션이 없을 때만 성공한다.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더 이상 필요 없는 테이블스페이스는 DROP TABLESPACE로 제거하는데, 절 조합에 따라 결과가 크게 달라진다. 세그먼트가 하나라도 있으면 아무 절 없는 DROP은 ORA-01549로 거부된다(실수 방지 안전장치). 안의 객체까지 지우려면 INCLUDING CONTENTS를, 물리 데이터 파일까지 OS에서 지우려면 INCLUDING CONTENTS AND DATAFILES를 쓴다. AND DATAFILES를 빼면 딕셔너리에서만 제거되고 파일은 디스크에 남아 공간을 낭비하므로, DROP 후 파일이 실제로 사라졌는지 확인해야 한다. 다른 테이블스페이스의 테이블이 외래 키로 이 테이블스페이스를 참조하면 CASCADE CONSTRAINTS도 필요하다. 되돌릴 수 없으므로 사전 백업과 대상 재확인은 필수다.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세그먼트가 든 테이블스페이스를 절 없이 삭제하려 하면 ORA-01549가 발생한다. 안의 객체와 물리 데이터 파일까지 모두 제거하려면 INCLUDING CONTENTS AND DATAFILES를 붙인다. 흔한 실무 문의가 'DROP 했는데 디스크가 안 줄었다'인데, 원인은 AND DATAFILES를 빼먹어 물리 파일이 OS에 남았기 때문이다. DROP 전에 DBA_DATA_FILES에서 파일 경로를 기록해 두고, DROP 후 그 경로가 사라졌는지 확인하는 절차를 권장한다. 파일까지 확실히 정리하려면 처음부터 AND DATAFILES를 사용한다.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테이블스페이스 관리의 절반은 조회다. 현재 어떤 테이블스페이스가 있고 어떤 파일로 구성되며 공간이 얼마나 남았는지 정확히 알아야 올바른 결정을 내릴 수 있다. DBA_TABLESPACES는 전반적 속성(익스텐트 관리·세그먼트 공간 관리·상태·유형·BIGFILE 여부)을, DBA_DATA_FILES/DBA_TEMP_FILES는 파일 정보를, DBA_FREE_SPACE는 여유 익스텐트를 보여준다. 정적 뷰(DBA_*)는 딕셔너리에서, 동적 뷰(V$TABLESPACE/V$DATAFILE)는 제어 파일과 메모리에서 정보를 읽어 관점이 조금 다르다. 모든 컨테이너를 한 번에 보려면 루트에서 CDB_TABLESPACES를 CON_ID와 함께 조회한다.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테이블스페이스별 사용률(%)은 DBA_DATA_FILES(총 용량)와 DBA_FREE_SPACE(여유 용량)를 조인해 계산한다. 이 질의는 용량 계획과 경고 임계값 설정의 출발점이다. 사용률이 높은 테이블스페이스를 먼저 파악해 리사이즈·파일 추가·자동 확장 상한 조정 등의 조치를 취한다. 새로 만든 테이블스페이스가 기대대로 로컬 관리·ASSM으로 만들어졌는지는 DBA_TABLESPACES의 EXTENT_MANAGEMENT, SEGMENT_SPACE_MANAGEMENT, CONTENTS, BIGFILE 컬럼으로 검증한다.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 Managed Files(OMF)는 데이터 파일·임시 파일·제어 파일·온라인 리두 로그 파일의 이름과 위치를 데이터베이스가 자동으로 생성·관리하는 기능이다. OMF를 쓰면 CREATE TABLESPACE에서 파일 경로를 지정할 필요가 없어 오타·충돌 실수가 사라지고, 테이블스페이스를 삭제하면 관련 OMF 파일도 자동 삭제되어 고아 파일이 남지 않는다. 데이터/임시 파일 위치는 DB_CREATE_FILE_DEST로, 리두 로그·제어 파일 위치는 DB_CREATE_ONLINE_LOG_DEST_n으로 지정한다(n으로 멀티플렉싱). 후자를 지정하지 않으면 리두·제어 파일도 DB_CREATE_FILE_DEST 위치에 생성된다. ASM 디스크 그룹(예: '+DATA')을 지정하면 OMF와 ASM이 결합되어 파일 관리가 거의 완전히 자동화된다.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DB_CREATE_FILE_DEST를 설정한 뒤 CREATE TABLESPACE omf_data처럼 경로 없이 실행하면 Oracle이 그 아래에 o1_mf_로 시작하는 이름의 OMF 데이터 파일을 자동 생성한다. 크기를 지정하지 않으면 기본 100MB, 자동 확장 켜짐(무제한)으로 만들어진다. OMF를 쓰면서도 DATAFILE SIZE ... AUTOEXTEND ... MAXSIZE 절은 명시할 수 있어, 이름·경로만 자동화하고 크기 정책은 직접 통제하는 절충이 가능하다. PDB에서 OMF를 쓰면 파일이 각 PDB의 GUID 디렉터리 아래에 정돈되어 컨테이너별 분리가 자연스럽게 이뤄진다.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데이터가 증가하면 세 가지 방법으로 용량을 늘린다. 첫째, ALTER DATABASE DATAFILE ... RESIZE로 기존 파일을 더 큰 크기로 늘린다(파일시스템 여유가 있고 파일 하나로 충분할 때). 둘째, ALTER DATABASE DATAFILE ... AUTOEXTEND ON으로 파일이 꽉 차면 NEXT 증분만큼 자동 확장하게 하고 MAXSIZE로 상한을 둔다. 셋째, ALTER TABLESPACE ... ADD DATAFILE로 새 파일을 붙여 여러 디스크에 I/O를 분산한다. 파일을 줄이는 것도 가능하지만 파일 끝에 사용 중 익스텐트가 있으면 ORA-03297로 그 아래로는 줄일 수 없어, 세그먼트 이동(19장) 후에야 축소된다. 빅파일은 ALTER TABLESPACE ... RESIZE로 직접 조정한다.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가지 확장 방법을 실제 명령으로 보면, 리사이즈는 ALTER DATABASE DATAFILE ... RESIZE, 자동 확장은 같은 파일에 AUTOEXTEND ON NEXT ... MAXSIZE, 파일 추가는 ALTER TABLESPACE ... ADD DATAFILE이다. 모범 사례는 AUTOEXTEND ON은 켜되 반드시 MAXSIZE로 상한을 두는 것이다. 무제한 자동 확장은 폭주하는 세그먼트 하나가 파일시스템 전체를 채워 다른 데이터베이스까지 마비시킬 수 있다. 또한 테이블스페이스 사용률 임계값(예: 85%) 경고를 설정해 자동 확장에만 의존하지 않고 사전에 용량을 계획한다.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 Database 12c부터 인스턴스가 실행 중이고 테이블스페이스가 온라인 상태를 유지한 채로 데이터 파일을 이동하거나 이름을 바꿀 수 있다(온라인 데이터 파일 이동). ALTER DATABASE MOVE DATAFILE 문으로 수행하며, 이동 중에도 조회와 DML이 계속된다는 점이 핵심이다. 11g 이하에서는 테이블스페이스를 오프라인으로 내리고 OS에서 파일을 복사·이동한 뒤 RENAME FILE로 경로를 갱신하고 다시 온라인으로 올리는 여러 단계가 필요했고 그동안 업무가 중단되었다. 온라인 이동은 이를 무중단 단일 명령으로 대체한다. KEEP 절은 이동 후에도 원본을 남기고, REUSE 절은 대상에 이미 있는 같은 이름 파일을 덮어쓴다. 파일 경로 대신 file# 로도 지정할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파일은 ALTER DATABASE MOVE DATAFILE '원본' TO '대상'으로 온라인 이동하며 파일 번호(file#)로도 지정할 수 있다. KEEP를 붙이면 원본을 보존해 문제 시 신속히 되돌릴 수 있고, REUSE를 붙이면 대상의 기존 파일을 덮어쓴다. 진행 상황은 V$SESSION_LONGOPS로 모니터링한다. 이 기능은 노후 스토리지를 무중단으로 교체하는 마이그레이션(로컬→ASM, 구 SAN→신 SAN)에서 특히 값지다. 전 과정에서 애플리케이션의 조회·DML이 중단되지 않는다. 다만 이동은 상당한 I/O를 유발하므로 부하가 낮은 시간대에 수행하고 진행률을 지켜보는 것이 바람직하다.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19c에서 CREATE TABLESPACE를 아무 관리 절 없이 실행하면 자동 적용되는 익스텐트/세그먼트 관리 방식은?</a:t>
            </a:r>
          </a:p>
          <a:p>
            <a:r>
              <a:t>EXTENT MANAGEMENT LOCAL(AUTOALLOCATE) + SEGMENT SPACE MANAGEMENT AUTO(ASSM). 딕셔너리 경합이 없고 FREELIST 튜닝이 불필요한 19c 기본·권장 방식이다.</a:t>
            </a:r>
          </a:p>
          <a:p/>
          <a:p>
            <a:r>
              <a:t>Q2. 빅파일과 스몰파일 테이블스페이스의 근본적 차이는?</a:t>
            </a:r>
          </a:p>
          <a:p>
            <a:r>
              <a:t>빅파일은 정확히 하나의 매우 큰 데이터 파일, 스몰파일은 최대 1022개 파일로 구성된다. 빅파일은 ALTER TABLESPACE ... RESIZE로 테이블스페이스를 직접 리사이즈할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Q3. 새 사용자의 기본 테이블스페이스가 SYSTEM으로 잡히는 것을 막으려면?</a:t>
            </a:r>
          </a:p>
          <a:p>
            <a:r>
              <a:t>ALTER DATABASE DEFAULT TABLESPACE로 기본 영구 테이블스페이스를 USERS나 전용 업무 테이블스페이스로 지정한다. 데이터베이스/PDB 생성 직후 필수 작업이다.</a:t>
            </a:r>
          </a:p>
          <a:p/>
          <a:p>
            <a:r>
              <a:t>Q4. 세그먼트가 든 테이블스페이스를 객체·물리 파일까지 모두 지우려면?</a:t>
            </a:r>
          </a:p>
          <a:p>
            <a:r>
              <a:t>DROP TABLESPACE ts INCLUDING CONTENTS AND DATAFILES. 절 없이는 ORA-01549로 거부되며, 참조 제약이 걸려 있으면 CASCADE CONSTRAINTS도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Q5. DB_CREATE_FILE_DEST 설정 후 CREATE TABLESPACE omf_data; 를 실행하면?</a:t>
            </a:r>
          </a:p>
          <a:p>
            <a:r>
              <a:t>Oracle이 그 위치에 o1_mf_로 시작하는 OMF 데이터 파일을 자동 생성한다(기본 100MB·자동확장). DROP 시 파일도 자동 삭제되어 고아 파일이 없다.</a:t>
            </a:r>
          </a:p>
          <a:p/>
          <a:p>
            <a:r>
              <a:t>Q6. 운영 중 무중단으로 데이터 파일을 다른 스토리지로 옮기려면? 원본 보존은?</a:t>
            </a:r>
          </a:p>
          <a:p>
            <a:r>
              <a:t>ALTER DATABASE MOVE DATAFILE '원본' TO '대상'; 을 사용하며 KEEP 절로 원본을 보존한다. 이동 중에도 DML이 계속되고 REUSE로 기존 파일을 덮어쓸 수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286000"/>
            <a:ext cx="182880"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463040"/>
            <a:ext cx="10058400" cy="548640"/>
          </a:xfrm>
          <a:prstGeom prst="rect">
            <a:avLst/>
          </a:prstGeom>
          <a:noFill/>
        </p:spPr>
        <p:txBody>
          <a:bodyPr wrap="square">
            <a:spAutoFit/>
          </a:bodyPr>
          <a:lstStyle/>
          <a:p>
            <a:r>
              <a:rPr sz="1800" b="1">
                <a:solidFill>
                  <a:srgbClr val="C0392B"/>
                </a:solidFill>
                <a:latin typeface="Malgun Gothic"/>
              </a:rPr>
              <a:t>Oracle Database 19c Administration Workshop</a:t>
            </a:r>
          </a:p>
        </p:txBody>
      </p:sp>
      <p:sp>
        <p:nvSpPr>
          <p:cNvPr id="5" name="TextBox 4"/>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테이블스페이스 생성 및 관리</a:t>
            </a:r>
          </a:p>
          <a:p>
            <a:r>
              <a:rPr sz="2800" b="0">
                <a:solidFill>
                  <a:srgbClr val="C5CED6"/>
                </a:solidFill>
                <a:latin typeface="Malgun Gothic"/>
              </a:rPr>
              <a:t>Creating and Managing Tablespaces</a:t>
            </a:r>
          </a:p>
        </p:txBody>
      </p:sp>
      <p:sp>
        <p:nvSpPr>
          <p:cNvPr id="6" name="TextBox 5"/>
          <p:cNvSpPr txBox="1"/>
          <p:nvPr/>
        </p:nvSpPr>
        <p:spPr>
          <a:xfrm>
            <a:off x="1188720" y="4480560"/>
            <a:ext cx="10515600" cy="1280160"/>
          </a:xfrm>
          <a:prstGeom prst="rect">
            <a:avLst/>
          </a:prstGeom>
          <a:noFill/>
        </p:spPr>
        <p:txBody>
          <a:bodyPr wrap="square">
            <a:spAutoFit/>
          </a:bodyPr>
          <a:lstStyle/>
          <a:p>
            <a:r>
              <a:rPr sz="1600" b="0">
                <a:solidFill>
                  <a:srgbClr val="C5CED6"/>
                </a:solidFill>
                <a:latin typeface="Malgun Gothic"/>
              </a:rPr>
              <a:t>CREATE TABLESPACE · BIGFILE/SMALLFILE · 컨테이너별 생성 · 기본 테이블스페이스 · 임시 그룹 · OMF · 온라인 데이터 파일 이동</a:t>
            </a:r>
          </a:p>
        </p:txBody>
      </p:sp>
      <p:sp>
        <p:nvSpPr>
          <p:cNvPr id="7" name="TextBox 6"/>
          <p:cNvSpPr txBox="1"/>
          <p:nvPr/>
        </p:nvSpPr>
        <p:spPr>
          <a:xfrm>
            <a:off x="1188720" y="5760720"/>
            <a:ext cx="10515600" cy="548640"/>
          </a:xfrm>
          <a:prstGeom prst="rect">
            <a:avLst/>
          </a:prstGeom>
          <a:noFill/>
        </p:spPr>
        <p:txBody>
          <a:bodyPr wrap="square">
            <a:spAutoFit/>
          </a:bodyPr>
          <a:lstStyle/>
          <a:p>
            <a:r>
              <a:rPr sz="1600" b="1">
                <a:solidFill>
                  <a:srgbClr val="C0392B"/>
                </a:solidFill>
                <a:latin typeface="Malgun Gothic"/>
              </a:rPr>
              <a:t>제18장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80160"/>
            <a:ext cx="10881360" cy="5029200"/>
          </a:xfrm>
          <a:prstGeom prst="rect">
            <a:avLst/>
          </a:prstGeom>
          <a:noFill/>
        </p:spPr>
        <p:txBody>
          <a:bodyPr wrap="square">
            <a:spAutoFit/>
          </a:bodyPr>
          <a:lstStyle/>
          <a:p>
            <a:pPr>
              <a:spcAft>
                <a:spcPts val="1000"/>
              </a:spcAft>
            </a:pPr>
            <a:r>
              <a:rPr sz="1600" b="0">
                <a:solidFill>
                  <a:srgbClr val="C0392B"/>
                </a:solidFill>
                <a:latin typeface="Malgun Gothic"/>
              </a:rPr>
              <a:t>•  CREATE TABLESPACE로 영구·임시·언두 테이블스페이스 생성과 파일 지정</a:t>
            </a:r>
          </a:p>
          <a:p>
            <a:pPr>
              <a:spcAft>
                <a:spcPts val="1000"/>
              </a:spcAft>
            </a:pPr>
            <a:r>
              <a:rPr sz="1600" b="0">
                <a:solidFill>
                  <a:srgbClr val="C0392B"/>
                </a:solidFill>
                <a:latin typeface="Malgun Gothic"/>
              </a:rPr>
              <a:t>•  BIGFILE/SMALLFILE, EXTENT/SEGMENT 관리, LOGGING 등 주요 절의 의미</a:t>
            </a:r>
          </a:p>
          <a:p>
            <a:pPr>
              <a:spcAft>
                <a:spcPts val="1000"/>
              </a:spcAft>
            </a:pPr>
            <a:r>
              <a:rPr sz="1600" b="0">
                <a:solidFill>
                  <a:srgbClr val="C0392B"/>
                </a:solidFill>
                <a:latin typeface="Malgun Gothic"/>
              </a:rPr>
              <a:t>•  CDB에서 컨테이너별 영구 테이블스페이스 생성</a:t>
            </a:r>
          </a:p>
          <a:p>
            <a:pPr>
              <a:spcAft>
                <a:spcPts val="1000"/>
              </a:spcAft>
            </a:pPr>
            <a:r>
              <a:rPr sz="1600" b="0">
                <a:solidFill>
                  <a:srgbClr val="C0392B"/>
                </a:solidFill>
                <a:latin typeface="Malgun Gothic"/>
              </a:rPr>
              <a:t>•  기본 영구·임시 테이블스페이스 정의와 임시 테이블스페이스 그룹</a:t>
            </a:r>
          </a:p>
          <a:p>
            <a:pPr>
              <a:spcAft>
                <a:spcPts val="1000"/>
              </a:spcAft>
            </a:pPr>
            <a:r>
              <a:rPr sz="1600" b="0">
                <a:solidFill>
                  <a:srgbClr val="C0392B"/>
                </a:solidFill>
                <a:latin typeface="Malgun Gothic"/>
              </a:rPr>
              <a:t>•  ALTER/DROP TABLESPACE로 변경(온라인/오프라인·읽기전용)과 삭제</a:t>
            </a:r>
          </a:p>
          <a:p>
            <a:pPr>
              <a:spcAft>
                <a:spcPts val="1000"/>
              </a:spcAft>
            </a:pPr>
            <a:r>
              <a:rPr sz="1600" b="0">
                <a:solidFill>
                  <a:srgbClr val="C0392B"/>
                </a:solidFill>
                <a:latin typeface="Malgun Gothic"/>
              </a:rPr>
              <a:t>•  Oracle Managed Files(OMF) 구현과 데이터베이스 확장</a:t>
            </a:r>
          </a:p>
          <a:p>
            <a:pPr>
              <a:spcAft>
                <a:spcPts val="1000"/>
              </a:spcAft>
            </a:pPr>
            <a:r>
              <a:rPr sz="1600" b="0">
                <a:solidFill>
                  <a:srgbClr val="C0392B"/>
                </a:solidFill>
                <a:latin typeface="Malgun Gothic"/>
              </a:rPr>
              <a:t>•  ALTER DATABASE MOVE DATAFILE로 온라인 데이터 파일 이동·이름 변경</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80160"/>
            <a:ext cx="10881360" cy="5029200"/>
          </a:xfrm>
          <a:prstGeom prst="rect">
            <a:avLst/>
          </a:prstGeom>
          <a:noFill/>
        </p:spPr>
        <p:txBody>
          <a:bodyPr wrap="square">
            <a:spAutoFit/>
          </a:bodyPr>
          <a:lstStyle/>
          <a:p>
            <a:pPr>
              <a:spcAft>
                <a:spcPts val="1000"/>
              </a:spcAft>
            </a:pPr>
            <a:r>
              <a:rPr sz="1600" b="0">
                <a:solidFill>
                  <a:srgbClr val="C0392B"/>
                </a:solidFill>
                <a:latin typeface="Malgun Gothic"/>
              </a:rPr>
              <a:t>•  18.1 테이블스페이스 생성 기본  ·  18.2 CREATE TABLESPACE 주요 절</a:t>
            </a:r>
          </a:p>
          <a:p>
            <a:pPr>
              <a:spcAft>
                <a:spcPts val="1000"/>
              </a:spcAft>
            </a:pPr>
            <a:r>
              <a:rPr sz="1600" b="0">
                <a:solidFill>
                  <a:srgbClr val="C0392B"/>
                </a:solidFill>
                <a:latin typeface="Malgun Gothic"/>
              </a:rPr>
              <a:t>•  18.3 컨테이너별 영구 테이블스페이스  ·  18.4 기본 영구 테이블스페이스</a:t>
            </a:r>
          </a:p>
          <a:p>
            <a:pPr>
              <a:spcAft>
                <a:spcPts val="1000"/>
              </a:spcAft>
            </a:pPr>
            <a:r>
              <a:rPr sz="1600" b="0">
                <a:solidFill>
                  <a:srgbClr val="C0392B"/>
                </a:solidFill>
                <a:latin typeface="Malgun Gothic"/>
              </a:rPr>
              <a:t>•  18.5 임시 테이블스페이스와 그룹  ·  18.6 테이블스페이스 변경</a:t>
            </a:r>
          </a:p>
          <a:p>
            <a:pPr>
              <a:spcAft>
                <a:spcPts val="1000"/>
              </a:spcAft>
            </a:pPr>
            <a:r>
              <a:rPr sz="1600" b="0">
                <a:solidFill>
                  <a:srgbClr val="C0392B"/>
                </a:solidFill>
                <a:latin typeface="Malgun Gothic"/>
              </a:rPr>
              <a:t>•  18.7 테이블스페이스 삭제  ·  18.8 정보 조회(딕셔너리 뷰)</a:t>
            </a:r>
          </a:p>
          <a:p>
            <a:pPr>
              <a:spcAft>
                <a:spcPts val="1000"/>
              </a:spcAft>
            </a:pPr>
            <a:r>
              <a:rPr sz="1600" b="0">
                <a:solidFill>
                  <a:srgbClr val="C0392B"/>
                </a:solidFill>
                <a:latin typeface="Malgun Gothic"/>
              </a:rPr>
              <a:t>•  18.9 OMF 구현  ·  18.10 데이터베이스 확장</a:t>
            </a:r>
          </a:p>
          <a:p>
            <a:pPr>
              <a:spcAft>
                <a:spcPts val="1000"/>
              </a:spcAft>
            </a:pPr>
            <a:r>
              <a:rPr sz="1600" b="0">
                <a:solidFill>
                  <a:srgbClr val="C0392B"/>
                </a:solidFill>
                <a:latin typeface="Malgun Gothic"/>
              </a:rPr>
              <a:t>•  18.11 온라인 데이터 파일 이동  ·  확인 퀴즈 · 요약 · 실습 개요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1371600"/>
          </a:xfrm>
          <a:prstGeom prst="rect">
            <a:avLst/>
          </a:prstGeom>
          <a:noFill/>
        </p:spPr>
        <p:txBody>
          <a:bodyPr wrap="square">
            <a:spAutoFit/>
          </a:bodyPr>
          <a:lstStyle/>
          <a:p>
            <a:r>
              <a:rPr sz="6600" b="1">
                <a:solidFill>
                  <a:srgbClr val="C0392B"/>
                </a:solidFill>
                <a:latin typeface="Malgun Gothic"/>
              </a:rPr>
              <a:t>18.1</a:t>
            </a:r>
          </a:p>
        </p:txBody>
      </p:sp>
      <p:sp>
        <p:nvSpPr>
          <p:cNvPr id="4" name="TextBox 3"/>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테이블스페이스 생성의 기본</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spcAft>
                <a:spcPts val="800"/>
              </a:spcAft>
            </a:pPr>
            <a:r>
              <a:rPr sz="1600" b="0">
                <a:solidFill>
                  <a:srgbClr val="C5CED6"/>
                </a:solidFill>
                <a:latin typeface="Malgun Gothic"/>
              </a:rPr>
              <a:t>•  CREATE TABLESPACE 문</a:t>
            </a:r>
          </a:p>
          <a:p>
            <a:pPr>
              <a:spcAft>
                <a:spcPts val="800"/>
              </a:spcAft>
            </a:pPr>
            <a:r>
              <a:rPr sz="1600" b="0">
                <a:solidFill>
                  <a:srgbClr val="C5CED6"/>
                </a:solidFill>
                <a:latin typeface="Malgun Gothic"/>
              </a:rPr>
              <a:t>•  영구·임시·언두 세 가지 유형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테이블스페이스 생성 기본</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논리적 저장 단위를 데이터 파일로 실체화</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1000"/>
              </a:spcAft>
            </a:pPr>
            <a:r>
              <a:rPr sz="1800" b="0">
                <a:solidFill>
                  <a:srgbClr val="C0392B"/>
                </a:solidFill>
                <a:latin typeface="Malgun Gothic"/>
              </a:rPr>
              <a:t>•  테이블스페이스 = 데이터베이스의 논리적 저장 단위, 하나 이상의 데이터 파일로 뒷받침</a:t>
            </a:r>
          </a:p>
          <a:p>
            <a:pPr>
              <a:spcAft>
                <a:spcPts val="1000"/>
              </a:spcAft>
            </a:pPr>
            <a:r>
              <a:rPr sz="1800" b="0">
                <a:solidFill>
                  <a:srgbClr val="C0392B"/>
                </a:solidFill>
                <a:latin typeface="Malgun Gothic"/>
              </a:rPr>
              <a:t>•  테이블·인덱스 세그먼트는 반드시 어떤 테이블스페이스에 속함</a:t>
            </a:r>
          </a:p>
          <a:p>
            <a:pPr>
              <a:spcAft>
                <a:spcPts val="1000"/>
              </a:spcAft>
            </a:pPr>
            <a:r>
              <a:rPr sz="1800" b="0">
                <a:solidFill>
                  <a:srgbClr val="C0392B"/>
                </a:solidFill>
                <a:latin typeface="Malgun Gothic"/>
              </a:rPr>
              <a:t>•  CREATE TABLESPACE로 생성 — 이름 + 데이터 파일 경로·크기 지정</a:t>
            </a:r>
          </a:p>
          <a:p>
            <a:pPr>
              <a:spcAft>
                <a:spcPts val="1000"/>
              </a:spcAft>
            </a:pPr>
            <a:r>
              <a:rPr sz="1800" b="0">
                <a:solidFill>
                  <a:srgbClr val="C0392B"/>
                </a:solidFill>
                <a:latin typeface="Malgun Gothic"/>
              </a:rPr>
              <a:t>•  크기 단위: K / M / G / T,  파일 경로는 OS 절대 경로(oracle 계정 쓰기 권한 필요)</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기본 영구 테이블스페이스 생성</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숨은 기본값이 함께 적용된다</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spcBef>
                <a:spcPts val="0"/>
              </a:spcBef>
              <a:spcAft>
                <a:spcPts val="0"/>
              </a:spcAft>
            </a:pPr>
            <a:r>
              <a:rPr sz="1200" b="0">
                <a:solidFill>
                  <a:srgbClr val="7EC699"/>
                </a:solidFill>
                <a:latin typeface="Consolas"/>
              </a:rPr>
              <a:t>-- 가장 기본적인 영구 테이블스페이스 생성</a:t>
            </a:r>
          </a:p>
          <a:p>
            <a:pPr>
              <a:spcBef>
                <a:spcPts val="0"/>
              </a:spcBef>
              <a:spcAft>
                <a:spcPts val="0"/>
              </a:spcAft>
            </a:pPr>
            <a:r>
              <a:rPr sz="1200" b="0">
                <a:solidFill>
                  <a:srgbClr val="E6E6E6"/>
                </a:solidFill>
                <a:latin typeface="Consolas"/>
              </a:rPr>
              <a:t>SYS@cdb1&gt; ALTER SESSION SET CONTAINER = pdb1;</a:t>
            </a:r>
          </a:p>
          <a:p>
            <a:pPr>
              <a:spcBef>
                <a:spcPts val="0"/>
              </a:spcBef>
              <a:spcAft>
                <a:spcPts val="0"/>
              </a:spcAft>
            </a:pPr>
            <a:r>
              <a:rPr sz="1200" b="0">
                <a:solidFill>
                  <a:srgbClr val="E6E6E6"/>
                </a:solidFill>
                <a:latin typeface="Consolas"/>
              </a:rPr>
              <a:t>Session altered.</a:t>
            </a:r>
          </a:p>
          <a:p>
            <a:pPr>
              <a:spcBef>
                <a:spcPts val="0"/>
              </a:spcBef>
              <a:spcAft>
                <a:spcPts val="0"/>
              </a:spcAft>
            </a:pPr>
            <a:r>
              <a:rPr sz="1200" b="0">
                <a:solidFill>
                  <a:srgbClr val="E6E6E6"/>
                </a:solidFill>
                <a:latin typeface="Consolas"/>
              </a:rPr>
              <a:t> </a:t>
            </a:r>
          </a:p>
          <a:p>
            <a:pPr>
              <a:spcBef>
                <a:spcPts val="0"/>
              </a:spcBef>
              <a:spcAft>
                <a:spcPts val="0"/>
              </a:spcAft>
            </a:pPr>
            <a:r>
              <a:rPr sz="1200" b="0">
                <a:solidFill>
                  <a:srgbClr val="E6E6E6"/>
                </a:solidFill>
                <a:latin typeface="Consolas"/>
              </a:rPr>
              <a:t>SYS@cdb1&gt; CREATE TABLESPACE users_app</a:t>
            </a:r>
          </a:p>
          <a:p>
            <a:pPr>
              <a:spcBef>
                <a:spcPts val="0"/>
              </a:spcBef>
              <a:spcAft>
                <a:spcPts val="0"/>
              </a:spcAft>
            </a:pPr>
            <a:r>
              <a:rPr sz="1200" b="0">
                <a:solidFill>
                  <a:srgbClr val="E6E6E6"/>
                </a:solidFill>
                <a:latin typeface="Consolas"/>
              </a:rPr>
              <a:t>  2    DATAFILE '/u01/.../pdb1/users_app01.dbf'</a:t>
            </a:r>
          </a:p>
          <a:p>
            <a:pPr>
              <a:spcBef>
                <a:spcPts val="0"/>
              </a:spcBef>
              <a:spcAft>
                <a:spcPts val="0"/>
              </a:spcAft>
            </a:pPr>
            <a:r>
              <a:rPr sz="1200" b="0">
                <a:solidFill>
                  <a:srgbClr val="E6E6E6"/>
                </a:solidFill>
                <a:latin typeface="Consolas"/>
              </a:rPr>
              <a:t>  3    SIZE 500M;</a:t>
            </a:r>
          </a:p>
          <a:p>
            <a:pPr>
              <a:spcBef>
                <a:spcPts val="0"/>
              </a:spcBef>
              <a:spcAft>
                <a:spcPts val="0"/>
              </a:spcAft>
            </a:pPr>
            <a:r>
              <a:rPr sz="1200" b="0">
                <a:solidFill>
                  <a:srgbClr val="E6E6E6"/>
                </a:solidFill>
                <a:latin typeface="Consolas"/>
              </a:rPr>
              <a:t>Tablespace created.</a:t>
            </a:r>
          </a:p>
          <a:p>
            <a:pPr>
              <a:spcBef>
                <a:spcPts val="0"/>
              </a:spcBef>
              <a:spcAft>
                <a:spcPts val="0"/>
              </a:spcAft>
            </a:pPr>
            <a:r>
              <a:rPr sz="1200" b="0">
                <a:solidFill>
                  <a:srgbClr val="E6E6E6"/>
                </a:solidFill>
                <a:latin typeface="Consolas"/>
              </a:rPr>
              <a:t> </a:t>
            </a:r>
          </a:p>
          <a:p>
            <a:pPr>
              <a:spcBef>
                <a:spcPts val="0"/>
              </a:spcBef>
              <a:spcAft>
                <a:spcPts val="0"/>
              </a:spcAft>
            </a:pPr>
            <a:r>
              <a:rPr sz="1200" b="0">
                <a:solidFill>
                  <a:srgbClr val="7EC699"/>
                </a:solidFill>
                <a:latin typeface="Consolas"/>
              </a:rPr>
              <a:t>-- 위 명령은 아래 기본값을 자동 적용한 것과 동일(19c)</a:t>
            </a:r>
          </a:p>
          <a:p>
            <a:pPr>
              <a:spcBef>
                <a:spcPts val="0"/>
              </a:spcBef>
              <a:spcAft>
                <a:spcPts val="0"/>
              </a:spcAft>
            </a:pPr>
            <a:r>
              <a:rPr sz="1200" b="0">
                <a:solidFill>
                  <a:srgbClr val="7EC699"/>
                </a:solidFill>
                <a:latin typeface="Consolas"/>
              </a:rPr>
              <a:t>--   LOGGING / EXTENT MANAGEMENT LOCAL AUTOALLOCATE</a:t>
            </a:r>
          </a:p>
          <a:p>
            <a:pPr>
              <a:spcBef>
                <a:spcPts val="0"/>
              </a:spcBef>
              <a:spcAft>
                <a:spcPts val="0"/>
              </a:spcAft>
            </a:pPr>
            <a:r>
              <a:rPr sz="1200" b="0">
                <a:solidFill>
                  <a:srgbClr val="7EC699"/>
                </a:solidFill>
                <a:latin typeface="Consolas"/>
              </a:rPr>
              <a:t>--   SEGMENT SPACE MANAGEMENT AUTO / SMALLFILE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 가지 테이블스페이스 유형</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용도에 따라 파일 종류가 다르다</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1000"/>
              </a:spcAft>
            </a:pPr>
            <a:r>
              <a:rPr sz="1800" b="0">
                <a:solidFill>
                  <a:srgbClr val="C0392B"/>
                </a:solidFill>
                <a:latin typeface="Malgun Gothic"/>
              </a:rPr>
              <a:t>•  영구(permanent): 테이블·인덱스 등 영속 세그먼트 — DATAFILE 절</a:t>
            </a:r>
          </a:p>
          <a:p>
            <a:pPr>
              <a:spcAft>
                <a:spcPts val="1000"/>
              </a:spcAft>
            </a:pPr>
            <a:r>
              <a:rPr sz="1800" b="0">
                <a:solidFill>
                  <a:srgbClr val="C0392B"/>
                </a:solidFill>
                <a:latin typeface="Malgun Gothic"/>
              </a:rPr>
              <a:t>•  임시(temporary): 정렬·해시 조인 작업 영역 — TEMPFILE 절</a:t>
            </a:r>
          </a:p>
          <a:p>
            <a:pPr>
              <a:spcAft>
                <a:spcPts val="1000"/>
              </a:spcAft>
            </a:pPr>
            <a:r>
              <a:rPr sz="1800" b="0">
                <a:solidFill>
                  <a:srgbClr val="C0392B"/>
                </a:solidFill>
                <a:latin typeface="Malgun Gothic"/>
              </a:rPr>
              <a:t>•  언두(undo): 트랜잭션의 이전 이미지 저장 — CREATE UNDO TABLESPACE(20장)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1371600"/>
          </a:xfrm>
          <a:prstGeom prst="rect">
            <a:avLst/>
          </a:prstGeom>
          <a:noFill/>
        </p:spPr>
        <p:txBody>
          <a:bodyPr wrap="square">
            <a:spAutoFit/>
          </a:bodyPr>
          <a:lstStyle/>
          <a:p>
            <a:r>
              <a:rPr sz="6600" b="1">
                <a:solidFill>
                  <a:srgbClr val="C0392B"/>
                </a:solidFill>
                <a:latin typeface="Malgun Gothic"/>
              </a:rPr>
              <a:t>18.2</a:t>
            </a:r>
          </a:p>
        </p:txBody>
      </p:sp>
      <p:sp>
        <p:nvSpPr>
          <p:cNvPr id="4" name="TextBox 3"/>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CREATE TABLESPACE의 주요 절</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spcAft>
                <a:spcPts val="800"/>
              </a:spcAft>
            </a:pPr>
            <a:r>
              <a:rPr sz="1600" b="0">
                <a:solidFill>
                  <a:srgbClr val="C5CED6"/>
                </a:solidFill>
                <a:latin typeface="Malgun Gothic"/>
              </a:rPr>
              <a:t>•  BIGFILE/SMALLFILE</a:t>
            </a:r>
          </a:p>
          <a:p>
            <a:pPr>
              <a:spcAft>
                <a:spcPts val="800"/>
              </a:spcAft>
            </a:pPr>
            <a:r>
              <a:rPr sz="1600" b="0">
                <a:solidFill>
                  <a:srgbClr val="C5CED6"/>
                </a:solidFill>
                <a:latin typeface="Malgun Gothic"/>
              </a:rPr>
              <a:t>•  EXTENT·SEGMENT 관리</a:t>
            </a:r>
          </a:p>
          <a:p>
            <a:pPr>
              <a:spcAft>
                <a:spcPts val="800"/>
              </a:spcAft>
            </a:pPr>
            <a:r>
              <a:rPr sz="1600" b="0">
                <a:solidFill>
                  <a:srgbClr val="C5CED6"/>
                </a:solidFill>
                <a:latin typeface="Malgun Gothic"/>
              </a:rPr>
              <a:t>•  LOGGING/NOLOGGING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BIGFILE와 SMALLFILE</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파일 하나 vs 여러 개</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1000"/>
              </a:spcAft>
            </a:pPr>
            <a:r>
              <a:rPr sz="1800" b="0">
                <a:solidFill>
                  <a:srgbClr val="C0392B"/>
                </a:solidFill>
                <a:latin typeface="Malgun Gothic"/>
              </a:rPr>
              <a:t>•  SMALLFILE(전통·기본): 최대 1022개 데이터 파일, 8KB 블록 기준 파일당 약 32GB</a:t>
            </a:r>
          </a:p>
          <a:p>
            <a:pPr>
              <a:spcAft>
                <a:spcPts val="1000"/>
              </a:spcAft>
            </a:pPr>
            <a:r>
              <a:rPr sz="1800" b="0">
                <a:solidFill>
                  <a:srgbClr val="C0392B"/>
                </a:solidFill>
                <a:latin typeface="Malgun Gothic"/>
              </a:rPr>
              <a:t>•  BIGFILE: 단 하나의 매우 큰 파일, 8KB 블록 기준 최대 32TB</a:t>
            </a:r>
          </a:p>
          <a:p>
            <a:pPr>
              <a:spcAft>
                <a:spcPts val="1000"/>
              </a:spcAft>
            </a:pPr>
            <a:r>
              <a:rPr sz="1800" b="0">
                <a:solidFill>
                  <a:srgbClr val="C0392B"/>
                </a:solidFill>
                <a:latin typeface="Malgun Gothic"/>
              </a:rPr>
              <a:t>•  BIGFILE 장점: 파일 관리 단순, ALTER TABLESPACE ... RESIZE로 직접 크기 조정</a:t>
            </a:r>
          </a:p>
          <a:p>
            <a:pPr>
              <a:spcAft>
                <a:spcPts val="1000"/>
              </a:spcAft>
            </a:pPr>
            <a:r>
              <a:rPr sz="1800" b="0">
                <a:solidFill>
                  <a:srgbClr val="C0392B"/>
                </a:solidFill>
                <a:latin typeface="Malgun Gothic"/>
              </a:rPr>
              <a:t>•  BIGFILE은 ASM/OMF 등 스트라이핑 스토리지와 함께 쓸 때 유리</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빅파일 테이블스페이스 생성</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데이터 파일은 정확히 하나</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spcBef>
                <a:spcPts val="0"/>
              </a:spcBef>
              <a:spcAft>
                <a:spcPts val="0"/>
              </a:spcAft>
            </a:pPr>
            <a:r>
              <a:rPr sz="1200" b="0">
                <a:solidFill>
                  <a:srgbClr val="E6E6E6"/>
                </a:solidFill>
                <a:latin typeface="Consolas"/>
              </a:rPr>
              <a:t>SYS@cdb1&gt; CREATE BIGFILE TABLESPACE sales_big</a:t>
            </a:r>
          </a:p>
          <a:p>
            <a:pPr>
              <a:spcBef>
                <a:spcPts val="0"/>
              </a:spcBef>
              <a:spcAft>
                <a:spcPts val="0"/>
              </a:spcAft>
            </a:pPr>
            <a:r>
              <a:rPr sz="1200" b="0">
                <a:solidFill>
                  <a:srgbClr val="E6E6E6"/>
                </a:solidFill>
                <a:latin typeface="Consolas"/>
              </a:rPr>
              <a:t>  2    DATAFILE '/u01/.../pdb1/sales_big01.dbf'</a:t>
            </a:r>
          </a:p>
          <a:p>
            <a:pPr>
              <a:spcBef>
                <a:spcPts val="0"/>
              </a:spcBef>
              <a:spcAft>
                <a:spcPts val="0"/>
              </a:spcAft>
            </a:pPr>
            <a:r>
              <a:rPr sz="1200" b="0">
                <a:solidFill>
                  <a:srgbClr val="E6E6E6"/>
                </a:solidFill>
                <a:latin typeface="Consolas"/>
              </a:rPr>
              <a:t>  3    SIZE 2G</a:t>
            </a:r>
          </a:p>
          <a:p>
            <a:pPr>
              <a:spcBef>
                <a:spcPts val="0"/>
              </a:spcBef>
              <a:spcAft>
                <a:spcPts val="0"/>
              </a:spcAft>
            </a:pPr>
            <a:r>
              <a:rPr sz="1200" b="0">
                <a:solidFill>
                  <a:srgbClr val="E6E6E6"/>
                </a:solidFill>
                <a:latin typeface="Consolas"/>
              </a:rPr>
              <a:t>  4    AUTOEXTEND ON NEXT 500M MAXSIZE 30G;</a:t>
            </a:r>
          </a:p>
          <a:p>
            <a:pPr>
              <a:spcBef>
                <a:spcPts val="0"/>
              </a:spcBef>
              <a:spcAft>
                <a:spcPts val="0"/>
              </a:spcAft>
            </a:pPr>
            <a:r>
              <a:rPr sz="1200" b="0">
                <a:solidFill>
                  <a:srgbClr val="E6E6E6"/>
                </a:solidFill>
                <a:latin typeface="Consolas"/>
              </a:rPr>
              <a:t>Tablespace created.</a:t>
            </a:r>
          </a:p>
          <a:p>
            <a:pPr>
              <a:spcBef>
                <a:spcPts val="0"/>
              </a:spcBef>
              <a:spcAft>
                <a:spcPts val="0"/>
              </a:spcAft>
            </a:pPr>
            <a:r>
              <a:rPr sz="1200" b="0">
                <a:solidFill>
                  <a:srgbClr val="E6E6E6"/>
                </a:solidFill>
                <a:latin typeface="Consolas"/>
              </a:rPr>
              <a:t> </a:t>
            </a:r>
          </a:p>
          <a:p>
            <a:pPr>
              <a:spcBef>
                <a:spcPts val="0"/>
              </a:spcBef>
              <a:spcAft>
                <a:spcPts val="0"/>
              </a:spcAft>
            </a:pPr>
            <a:r>
              <a:rPr sz="1200" b="0">
                <a:solidFill>
                  <a:srgbClr val="7EC699"/>
                </a:solidFill>
                <a:latin typeface="Consolas"/>
              </a:rPr>
              <a:t>-- 파일이 하나이므로 테이블스페이스 자체를 리사이즈</a:t>
            </a:r>
          </a:p>
          <a:p>
            <a:pPr>
              <a:spcBef>
                <a:spcPts val="0"/>
              </a:spcBef>
              <a:spcAft>
                <a:spcPts val="0"/>
              </a:spcAft>
            </a:pPr>
            <a:r>
              <a:rPr sz="1200" b="0">
                <a:solidFill>
                  <a:srgbClr val="E6E6E6"/>
                </a:solidFill>
                <a:latin typeface="Consolas"/>
              </a:rPr>
              <a:t>SYS@cdb1&gt; ALTER TABLESPACE sales_big RESIZE 4G;</a:t>
            </a:r>
          </a:p>
          <a:p>
            <a:pPr>
              <a:spcBef>
                <a:spcPts val="0"/>
              </a:spcBef>
              <a:spcAft>
                <a:spcPts val="0"/>
              </a:spcAft>
            </a:pPr>
            <a:r>
              <a:rPr sz="1200" b="0">
                <a:solidFill>
                  <a:srgbClr val="E6E6E6"/>
                </a:solidFill>
                <a:latin typeface="Consolas"/>
              </a:rPr>
              <a:t>Tablespace altered.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EXTENT · SEGMENT 공간 관리</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19c 기본값을 존중하라</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1000"/>
              </a:spcAft>
            </a:pPr>
            <a:r>
              <a:rPr sz="1800" b="0">
                <a:solidFill>
                  <a:srgbClr val="C0392B"/>
                </a:solidFill>
                <a:latin typeface="Malgun Gothic"/>
              </a:rPr>
              <a:t>•  EXTENT MANAGEMENT LOCAL: 파일 헤더 비트맵으로 익스텐트 관리 — 딕셔너리 경합 없음(기본·권장)</a:t>
            </a:r>
          </a:p>
          <a:p>
            <a:pPr lvl="1">
              <a:spcAft>
                <a:spcPts val="1000"/>
              </a:spcAft>
            </a:pPr>
            <a:r>
              <a:rPr sz="1500" b="0">
                <a:solidFill>
                  <a:srgbClr val="5A6672"/>
                </a:solidFill>
                <a:latin typeface="Malgun Gothic"/>
              </a:rPr>
              <a:t>–  AUTOALLOCATE: Oracle이 익스텐트 크기 자동 증가(일반 업무용)</a:t>
            </a:r>
          </a:p>
          <a:p>
            <a:pPr lvl="1">
              <a:spcAft>
                <a:spcPts val="1000"/>
              </a:spcAft>
            </a:pPr>
            <a:r>
              <a:rPr sz="1500" b="0">
                <a:solidFill>
                  <a:srgbClr val="5A6672"/>
                </a:solidFill>
                <a:latin typeface="Malgun Gothic"/>
              </a:rPr>
              <a:t>–  UNIFORM SIZE n: 모든 익스텐트를 동일 크기로 할당</a:t>
            </a:r>
          </a:p>
          <a:p>
            <a:pPr>
              <a:spcAft>
                <a:spcPts val="1000"/>
              </a:spcAft>
            </a:pPr>
            <a:r>
              <a:rPr sz="1800" b="0">
                <a:solidFill>
                  <a:srgbClr val="C0392B"/>
                </a:solidFill>
                <a:latin typeface="Malgun Gothic"/>
              </a:rPr>
              <a:t>•  SEGMENT SPACE MANAGEMENT AUTO(ASSM): 비트맵으로 블록 여유 관리 — FREELIST 튜닝 불필요(기본)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LOGGING / NOLOGGING과 기본 저장 절</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대량 작업의 리두 생성 여부</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1000"/>
              </a:spcAft>
            </a:pPr>
            <a:r>
              <a:rPr sz="1800" b="0">
                <a:solidFill>
                  <a:srgbClr val="C0392B"/>
                </a:solidFill>
                <a:latin typeface="Malgun Gothic"/>
              </a:rPr>
              <a:t>•  LOGGING(기본): 다이렉트 적재·CTAS·인덱스 생성도 리두 완전 생성 → 미디어 복구 가능</a:t>
            </a:r>
          </a:p>
          <a:p>
            <a:pPr>
              <a:spcAft>
                <a:spcPts val="1000"/>
              </a:spcAft>
            </a:pPr>
            <a:r>
              <a:rPr sz="1800" b="0">
                <a:solidFill>
                  <a:srgbClr val="C0392B"/>
                </a:solidFill>
                <a:latin typeface="Malgun Gothic"/>
              </a:rPr>
              <a:t>•  NOLOGGING: 최소 리두 → 대량 작업 빠름, 그러나 백업 없인 복구 불가(스테이징 한정)</a:t>
            </a:r>
          </a:p>
          <a:p>
            <a:pPr>
              <a:spcAft>
                <a:spcPts val="1000"/>
              </a:spcAft>
            </a:pPr>
            <a:r>
              <a:rPr sz="1800" b="0">
                <a:solidFill>
                  <a:srgbClr val="C0392B"/>
                </a:solidFill>
                <a:latin typeface="Malgun Gothic"/>
              </a:rPr>
              <a:t>•  NOLOGGING은 일반 DML(INSERT/UPDATE/DELETE)에는 영향 없음</a:t>
            </a:r>
          </a:p>
          <a:p>
            <a:pPr>
              <a:spcAft>
                <a:spcPts val="1000"/>
              </a:spcAft>
            </a:pPr>
            <a:r>
              <a:rPr sz="1800" b="0">
                <a:solidFill>
                  <a:srgbClr val="C0392B"/>
                </a:solidFill>
                <a:latin typeface="Malgun Gothic"/>
              </a:rPr>
              <a:t>•  DEFAULT 저장 절: DEFAULT COMPRESS 등 객체 기본 속성 지정</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1371600"/>
          </a:xfrm>
          <a:prstGeom prst="rect">
            <a:avLst/>
          </a:prstGeom>
          <a:noFill/>
        </p:spPr>
        <p:txBody>
          <a:bodyPr wrap="square">
            <a:spAutoFit/>
          </a:bodyPr>
          <a:lstStyle/>
          <a:p>
            <a:r>
              <a:rPr sz="6600" b="1">
                <a:solidFill>
                  <a:srgbClr val="C0392B"/>
                </a:solidFill>
                <a:latin typeface="Malgun Gothic"/>
              </a:rPr>
              <a:t>18.3</a:t>
            </a:r>
          </a:p>
        </p:txBody>
      </p:sp>
      <p:sp>
        <p:nvSpPr>
          <p:cNvPr id="4" name="TextBox 3"/>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컨테이너별 영구 테이블스페이스</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spcAft>
                <a:spcPts val="800"/>
              </a:spcAft>
            </a:pPr>
            <a:r>
              <a:rPr sz="1600" b="0">
                <a:solidFill>
                  <a:srgbClr val="C5CED6"/>
                </a:solidFill>
                <a:latin typeface="Malgun Gothic"/>
              </a:rPr>
              <a:t>•  테이블스페이스 = 컨테이너 로컬 객체</a:t>
            </a:r>
          </a:p>
          <a:p>
            <a:pPr>
              <a:spcAft>
                <a:spcPts val="800"/>
              </a:spcAft>
            </a:pPr>
            <a:r>
              <a:rPr sz="1600" b="0">
                <a:solidFill>
                  <a:srgbClr val="C5CED6"/>
                </a:solidFill>
                <a:latin typeface="Malgun Gothic"/>
              </a:rPr>
              <a:t>•  각 컨테이너에 개별 생성</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CDB에서 컨테이너별 생성</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어느 컨테이너에서 만들었는가가 전부</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1000"/>
              </a:spcAft>
            </a:pPr>
            <a:r>
              <a:rPr sz="1800" b="0">
                <a:solidFill>
                  <a:srgbClr val="C0392B"/>
                </a:solidFill>
                <a:latin typeface="Malgun Gothic"/>
              </a:rPr>
              <a:t>•  테이블스페이스는 루트 또는 특정 PDB의 컨텍스트 안에서 생성되는 로컬 객체</a:t>
            </a:r>
          </a:p>
          <a:p>
            <a:pPr>
              <a:spcAft>
                <a:spcPts val="1000"/>
              </a:spcAft>
            </a:pPr>
            <a:r>
              <a:rPr sz="1800" b="0">
                <a:solidFill>
                  <a:srgbClr val="C0392B"/>
                </a:solidFill>
                <a:latin typeface="Malgun Gothic"/>
              </a:rPr>
              <a:t>•  루트에서 만든 것은 루트에만, PDB에서 만든 것은 그 PDB에만 존재(자동 전파 없음)</a:t>
            </a:r>
          </a:p>
          <a:p>
            <a:pPr>
              <a:spcAft>
                <a:spcPts val="1000"/>
              </a:spcAft>
            </a:pPr>
            <a:r>
              <a:rPr sz="1800" b="0">
                <a:solidFill>
                  <a:srgbClr val="C0392B"/>
                </a:solidFill>
                <a:latin typeface="Malgun Gothic"/>
              </a:rPr>
              <a:t>•  여러 컨테이너에 같은 이름을 두려면 각 컨테이너에 개별적으로 CREATE 반복</a:t>
            </a:r>
          </a:p>
          <a:p>
            <a:pPr>
              <a:spcAft>
                <a:spcPts val="1000"/>
              </a:spcAft>
            </a:pPr>
            <a:r>
              <a:rPr sz="1800" b="0">
                <a:solidFill>
                  <a:srgbClr val="C0392B"/>
                </a:solidFill>
                <a:latin typeface="Malgun Gothic"/>
              </a:rPr>
              <a:t>•  CDB_TABLESPACES 뷰의 CON_ID로 컨테이너별 테이블스페이스 조회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PDB별 동일 이름 테이블스페이스 생성</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같은 이름, 다른 실체</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spcBef>
                <a:spcPts val="0"/>
              </a:spcBef>
              <a:spcAft>
                <a:spcPts val="0"/>
              </a:spcAft>
            </a:pPr>
            <a:r>
              <a:rPr sz="1200" b="0">
                <a:solidFill>
                  <a:srgbClr val="7EC699"/>
                </a:solidFill>
                <a:latin typeface="Consolas"/>
              </a:rPr>
              <a:t>-- pdb1에 app_data 생성</a:t>
            </a:r>
          </a:p>
          <a:p>
            <a:pPr>
              <a:spcBef>
                <a:spcPts val="0"/>
              </a:spcBef>
              <a:spcAft>
                <a:spcPts val="0"/>
              </a:spcAft>
            </a:pPr>
            <a:r>
              <a:rPr sz="1200" b="0">
                <a:solidFill>
                  <a:srgbClr val="E6E6E6"/>
                </a:solidFill>
                <a:latin typeface="Consolas"/>
              </a:rPr>
              <a:t>SYS@cdb1&gt; ALTER SESSION SET CONTAINER = pdb1;</a:t>
            </a:r>
          </a:p>
          <a:p>
            <a:pPr>
              <a:spcBef>
                <a:spcPts val="0"/>
              </a:spcBef>
              <a:spcAft>
                <a:spcPts val="0"/>
              </a:spcAft>
            </a:pPr>
            <a:r>
              <a:rPr sz="1200" b="0">
                <a:solidFill>
                  <a:srgbClr val="E6E6E6"/>
                </a:solidFill>
                <a:latin typeface="Consolas"/>
              </a:rPr>
              <a:t>SYS@cdb1&gt; CREATE TABLESPACE app_data</a:t>
            </a:r>
          </a:p>
          <a:p>
            <a:pPr>
              <a:spcBef>
                <a:spcPts val="0"/>
              </a:spcBef>
              <a:spcAft>
                <a:spcPts val="0"/>
              </a:spcAft>
            </a:pPr>
            <a:r>
              <a:rPr sz="1200" b="0">
                <a:solidFill>
                  <a:srgbClr val="E6E6E6"/>
                </a:solidFill>
                <a:latin typeface="Consolas"/>
              </a:rPr>
              <a:t>  2    DATAFILE '/u01/.../pdb1/app_data01.dbf' SIZE 300M</a:t>
            </a:r>
          </a:p>
          <a:p>
            <a:pPr>
              <a:spcBef>
                <a:spcPts val="0"/>
              </a:spcBef>
              <a:spcAft>
                <a:spcPts val="0"/>
              </a:spcAft>
            </a:pPr>
            <a:r>
              <a:rPr sz="1200" b="0">
                <a:solidFill>
                  <a:srgbClr val="E6E6E6"/>
                </a:solidFill>
                <a:latin typeface="Consolas"/>
              </a:rPr>
              <a:t>  3    AUTOEXTEND ON NEXT 100M MAXSIZE 5G;</a:t>
            </a:r>
          </a:p>
          <a:p>
            <a:pPr>
              <a:spcBef>
                <a:spcPts val="0"/>
              </a:spcBef>
              <a:spcAft>
                <a:spcPts val="0"/>
              </a:spcAft>
            </a:pPr>
            <a:r>
              <a:rPr sz="1200" b="0">
                <a:solidFill>
                  <a:srgbClr val="E6E6E6"/>
                </a:solidFill>
                <a:latin typeface="Consolas"/>
              </a:rPr>
              <a:t>Tablespace created.</a:t>
            </a:r>
          </a:p>
          <a:p>
            <a:pPr>
              <a:spcBef>
                <a:spcPts val="0"/>
              </a:spcBef>
              <a:spcAft>
                <a:spcPts val="0"/>
              </a:spcAft>
            </a:pPr>
            <a:r>
              <a:rPr sz="1200" b="0">
                <a:solidFill>
                  <a:srgbClr val="E6E6E6"/>
                </a:solidFill>
                <a:latin typeface="Consolas"/>
              </a:rPr>
              <a:t> </a:t>
            </a:r>
          </a:p>
          <a:p>
            <a:pPr>
              <a:spcBef>
                <a:spcPts val="0"/>
              </a:spcBef>
              <a:spcAft>
                <a:spcPts val="0"/>
              </a:spcAft>
            </a:pPr>
            <a:r>
              <a:rPr sz="1200" b="0">
                <a:solidFill>
                  <a:srgbClr val="7EC699"/>
                </a:solidFill>
                <a:latin typeface="Consolas"/>
              </a:rPr>
              <a:t>-- salespdb에도 동일 이름 app_data (서로 독립)</a:t>
            </a:r>
          </a:p>
          <a:p>
            <a:pPr>
              <a:spcBef>
                <a:spcPts val="0"/>
              </a:spcBef>
              <a:spcAft>
                <a:spcPts val="0"/>
              </a:spcAft>
            </a:pPr>
            <a:r>
              <a:rPr sz="1200" b="0">
                <a:solidFill>
                  <a:srgbClr val="E6E6E6"/>
                </a:solidFill>
                <a:latin typeface="Consolas"/>
              </a:rPr>
              <a:t>SYS@cdb1&gt; ALTER SESSION SET CONTAINER = salespdb;</a:t>
            </a:r>
          </a:p>
          <a:p>
            <a:pPr>
              <a:spcBef>
                <a:spcPts val="0"/>
              </a:spcBef>
              <a:spcAft>
                <a:spcPts val="0"/>
              </a:spcAft>
            </a:pPr>
            <a:r>
              <a:rPr sz="1200" b="0">
                <a:solidFill>
                  <a:srgbClr val="E6E6E6"/>
                </a:solidFill>
                <a:latin typeface="Consolas"/>
              </a:rPr>
              <a:t>SYS@cdb1&gt; CREATE TABLESPACE app_data</a:t>
            </a:r>
          </a:p>
          <a:p>
            <a:pPr>
              <a:spcBef>
                <a:spcPts val="0"/>
              </a:spcBef>
              <a:spcAft>
                <a:spcPts val="0"/>
              </a:spcAft>
            </a:pPr>
            <a:r>
              <a:rPr sz="1200" b="0">
                <a:solidFill>
                  <a:srgbClr val="E6E6E6"/>
                </a:solidFill>
                <a:latin typeface="Consolas"/>
              </a:rPr>
              <a:t>  2    DATAFILE '/u01/.../salespdb/app_data01.dbf' SIZE 300M;</a:t>
            </a:r>
          </a:p>
          <a:p>
            <a:pPr>
              <a:spcBef>
                <a:spcPts val="0"/>
              </a:spcBef>
              <a:spcAft>
                <a:spcPts val="0"/>
              </a:spcAft>
            </a:pPr>
            <a:r>
              <a:rPr sz="1200" b="0">
                <a:solidFill>
                  <a:srgbClr val="E6E6E6"/>
                </a:solidFill>
                <a:latin typeface="Consolas"/>
              </a:rPr>
              <a:t>Tablespace created.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1371600"/>
          </a:xfrm>
          <a:prstGeom prst="rect">
            <a:avLst/>
          </a:prstGeom>
          <a:noFill/>
        </p:spPr>
        <p:txBody>
          <a:bodyPr wrap="square">
            <a:spAutoFit/>
          </a:bodyPr>
          <a:lstStyle/>
          <a:p>
            <a:r>
              <a:rPr sz="6600" b="1">
                <a:solidFill>
                  <a:srgbClr val="C0392B"/>
                </a:solidFill>
                <a:latin typeface="Malgun Gothic"/>
              </a:rPr>
              <a:t>18.4</a:t>
            </a:r>
          </a:p>
        </p:txBody>
      </p:sp>
      <p:sp>
        <p:nvSpPr>
          <p:cNvPr id="4" name="TextBox 3"/>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기본 영구 테이블스페이스 정의</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spcAft>
                <a:spcPts val="800"/>
              </a:spcAft>
            </a:pPr>
            <a:r>
              <a:rPr sz="1600" b="0">
                <a:solidFill>
                  <a:srgbClr val="C5CED6"/>
                </a:solidFill>
                <a:latin typeface="Malgun Gothic"/>
              </a:rPr>
              <a:t>•  DEFAULT TABLESPACE 미지정 시 사용</a:t>
            </a:r>
          </a:p>
          <a:p>
            <a:pPr>
              <a:spcAft>
                <a:spcPts val="800"/>
              </a:spcAft>
            </a:pPr>
            <a:r>
              <a:rPr sz="1600" b="0">
                <a:solidFill>
                  <a:srgbClr val="C5CED6"/>
                </a:solidFill>
                <a:latin typeface="Malgun Gothic"/>
              </a:rPr>
              <a:t>•  SYSTEM 보호가 목적</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기본 영구 테이블스페이스</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사용자 객체가 SYSTEM을 잠식하지 않게</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1000"/>
              </a:spcAft>
            </a:pPr>
            <a:r>
              <a:rPr sz="1800" b="0">
                <a:solidFill>
                  <a:srgbClr val="C0392B"/>
                </a:solidFill>
                <a:latin typeface="Malgun Gothic"/>
              </a:rPr>
              <a:t>•  DEFAULT TABLESPACE 절 없이 만든 사용자에게 할당되는 테이블스페이스</a:t>
            </a:r>
          </a:p>
          <a:p>
            <a:pPr>
              <a:spcAft>
                <a:spcPts val="1000"/>
              </a:spcAft>
            </a:pPr>
            <a:r>
              <a:rPr sz="1800" b="0">
                <a:solidFill>
                  <a:srgbClr val="C0392B"/>
                </a:solidFill>
                <a:latin typeface="Malgun Gothic"/>
              </a:rPr>
              <a:t>•  미설정 시 SYSTEM으로 잡힐 위험 → 딕셔너리 공간 잠식·성능 저하</a:t>
            </a:r>
          </a:p>
          <a:p>
            <a:pPr>
              <a:spcAft>
                <a:spcPts val="1000"/>
              </a:spcAft>
            </a:pPr>
            <a:r>
              <a:rPr sz="1800" b="0">
                <a:solidFill>
                  <a:srgbClr val="C0392B"/>
                </a:solidFill>
                <a:latin typeface="Malgun Gothic"/>
              </a:rPr>
              <a:t>•  CREATE DATABASE/PDB의 DEFAULT TABLESPACE 절, 이후 ALTER DATABASE DEFAULT TABLESPACE</a:t>
            </a:r>
          </a:p>
          <a:p>
            <a:pPr>
              <a:spcAft>
                <a:spcPts val="1000"/>
              </a:spcAft>
            </a:pPr>
            <a:r>
              <a:rPr sz="1800" b="0">
                <a:solidFill>
                  <a:srgbClr val="C0392B"/>
                </a:solidFill>
                <a:latin typeface="Malgun Gothic"/>
              </a:rPr>
              <a:t>•  기본으로 지정된 테이블스페이스는 다른 것으로 바꾸기 전까지 삭제 불가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기본 영구 테이블스페이스 지정</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현재 값 확인과 변경</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spcBef>
                <a:spcPts val="0"/>
              </a:spcBef>
              <a:spcAft>
                <a:spcPts val="0"/>
              </a:spcAft>
            </a:pPr>
            <a:r>
              <a:rPr sz="1200" b="0">
                <a:solidFill>
                  <a:srgbClr val="E6E6E6"/>
                </a:solidFill>
                <a:latin typeface="Consolas"/>
              </a:rPr>
              <a:t>SYS@cdb1&gt; ALTER SESSION SET CONTAINER = pdb1;</a:t>
            </a:r>
          </a:p>
          <a:p>
            <a:pPr>
              <a:spcBef>
                <a:spcPts val="0"/>
              </a:spcBef>
              <a:spcAft>
                <a:spcPts val="0"/>
              </a:spcAft>
            </a:pPr>
            <a:r>
              <a:rPr sz="1200" b="0">
                <a:solidFill>
                  <a:srgbClr val="E6E6E6"/>
                </a:solidFill>
                <a:latin typeface="Consolas"/>
              </a:rPr>
              <a:t>SYS@cdb1&gt; SELECT property_value FROM database_properties</a:t>
            </a:r>
          </a:p>
          <a:p>
            <a:pPr>
              <a:spcBef>
                <a:spcPts val="0"/>
              </a:spcBef>
              <a:spcAft>
                <a:spcPts val="0"/>
              </a:spcAft>
            </a:pPr>
            <a:r>
              <a:rPr sz="1200" b="0">
                <a:solidFill>
                  <a:srgbClr val="E6E6E6"/>
                </a:solidFill>
                <a:latin typeface="Consolas"/>
              </a:rPr>
              <a:t>  2  WHERE property_name = 'DEFAULT_PERMANENT_TABLESPACE';</a:t>
            </a:r>
          </a:p>
          <a:p>
            <a:pPr>
              <a:spcBef>
                <a:spcPts val="0"/>
              </a:spcBef>
              <a:spcAft>
                <a:spcPts val="0"/>
              </a:spcAft>
            </a:pPr>
            <a:r>
              <a:rPr sz="1200" b="0">
                <a:solidFill>
                  <a:srgbClr val="E6E6E6"/>
                </a:solidFill>
                <a:latin typeface="Consolas"/>
              </a:rPr>
              <a:t>PROPERTY_VALUE</a:t>
            </a:r>
          </a:p>
          <a:p>
            <a:pPr>
              <a:spcBef>
                <a:spcPts val="0"/>
              </a:spcBef>
              <a:spcAft>
                <a:spcPts val="0"/>
              </a:spcAft>
            </a:pPr>
            <a:r>
              <a:rPr sz="1200" b="0">
                <a:solidFill>
                  <a:srgbClr val="7EC699"/>
                </a:solidFill>
                <a:latin typeface="Consolas"/>
              </a:rPr>
              <a:t>--------------------</a:t>
            </a:r>
          </a:p>
          <a:p>
            <a:pPr>
              <a:spcBef>
                <a:spcPts val="0"/>
              </a:spcBef>
              <a:spcAft>
                <a:spcPts val="0"/>
              </a:spcAft>
            </a:pPr>
            <a:r>
              <a:rPr sz="1200" b="0">
                <a:solidFill>
                  <a:srgbClr val="E6E6E6"/>
                </a:solidFill>
                <a:latin typeface="Consolas"/>
              </a:rPr>
              <a:t>USERS</a:t>
            </a:r>
          </a:p>
          <a:p>
            <a:pPr>
              <a:spcBef>
                <a:spcPts val="0"/>
              </a:spcBef>
              <a:spcAft>
                <a:spcPts val="0"/>
              </a:spcAft>
            </a:pPr>
            <a:r>
              <a:rPr sz="1200" b="0">
                <a:solidFill>
                  <a:srgbClr val="E6E6E6"/>
                </a:solidFill>
                <a:latin typeface="Consolas"/>
              </a:rPr>
              <a:t> </a:t>
            </a:r>
          </a:p>
          <a:p>
            <a:pPr>
              <a:spcBef>
                <a:spcPts val="0"/>
              </a:spcBef>
              <a:spcAft>
                <a:spcPts val="0"/>
              </a:spcAft>
            </a:pPr>
            <a:r>
              <a:rPr sz="1200" b="0">
                <a:solidFill>
                  <a:srgbClr val="7EC699"/>
                </a:solidFill>
                <a:latin typeface="Consolas"/>
              </a:rPr>
              <a:t>-- 기본값을 app_data로 변경</a:t>
            </a:r>
          </a:p>
          <a:p>
            <a:pPr>
              <a:spcBef>
                <a:spcPts val="0"/>
              </a:spcBef>
              <a:spcAft>
                <a:spcPts val="0"/>
              </a:spcAft>
            </a:pPr>
            <a:r>
              <a:rPr sz="1200" b="0">
                <a:solidFill>
                  <a:srgbClr val="E6E6E6"/>
                </a:solidFill>
                <a:latin typeface="Consolas"/>
              </a:rPr>
              <a:t>SYS@cdb1&gt; ALTER DATABASE DEFAULT TABLESPACE app_data;</a:t>
            </a:r>
          </a:p>
          <a:p>
            <a:pPr>
              <a:spcBef>
                <a:spcPts val="0"/>
              </a:spcBef>
              <a:spcAft>
                <a:spcPts val="0"/>
              </a:spcAft>
            </a:pPr>
            <a:r>
              <a:rPr sz="1200" b="0">
                <a:solidFill>
                  <a:srgbClr val="E6E6E6"/>
                </a:solidFill>
                <a:latin typeface="Consolas"/>
              </a:rPr>
              <a:t>Database altered.</a:t>
            </a:r>
          </a:p>
          <a:p>
            <a:pPr>
              <a:spcBef>
                <a:spcPts val="0"/>
              </a:spcBef>
              <a:spcAft>
                <a:spcPts val="0"/>
              </a:spcAft>
            </a:pPr>
            <a:r>
              <a:rPr sz="1200" b="0">
                <a:solidFill>
                  <a:srgbClr val="E6E6E6"/>
                </a:solidFill>
                <a:latin typeface="Consolas"/>
              </a:rPr>
              <a:t> </a:t>
            </a:r>
          </a:p>
          <a:p>
            <a:pPr>
              <a:spcBef>
                <a:spcPts val="0"/>
              </a:spcBef>
              <a:spcAft>
                <a:spcPts val="0"/>
              </a:spcAft>
            </a:pPr>
            <a:r>
              <a:rPr sz="1200" b="0">
                <a:solidFill>
                  <a:srgbClr val="7EC699"/>
                </a:solidFill>
                <a:latin typeface="Consolas"/>
              </a:rPr>
              <a:t>-- 이후 테이블스페이스 미지정 사용자는 app_data 사용</a:t>
            </a:r>
          </a:p>
          <a:p>
            <a:pPr>
              <a:spcBef>
                <a:spcPts val="0"/>
              </a:spcBef>
              <a:spcAft>
                <a:spcPts val="0"/>
              </a:spcAft>
            </a:pPr>
            <a:r>
              <a:rPr sz="1200" b="0">
                <a:solidFill>
                  <a:srgbClr val="E6E6E6"/>
                </a:solidFill>
                <a:latin typeface="Consolas"/>
              </a:rPr>
              <a:t>SYS@cdb1&gt; CREATE USER hr_dev IDENTIFIED BY oracle_1;</a:t>
            </a:r>
          </a:p>
          <a:p>
            <a:pPr>
              <a:spcBef>
                <a:spcPts val="0"/>
              </a:spcBef>
              <a:spcAft>
                <a:spcPts val="0"/>
              </a:spcAft>
            </a:pPr>
            <a:r>
              <a:rPr sz="1200" b="0">
                <a:solidFill>
                  <a:srgbClr val="E6E6E6"/>
                </a:solidFill>
                <a:latin typeface="Consolas"/>
              </a:rPr>
              <a:t>User created.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1371600"/>
          </a:xfrm>
          <a:prstGeom prst="rect">
            <a:avLst/>
          </a:prstGeom>
          <a:noFill/>
        </p:spPr>
        <p:txBody>
          <a:bodyPr wrap="square">
            <a:spAutoFit/>
          </a:bodyPr>
          <a:lstStyle/>
          <a:p>
            <a:r>
              <a:rPr sz="6600" b="1">
                <a:solidFill>
                  <a:srgbClr val="C0392B"/>
                </a:solidFill>
                <a:latin typeface="Malgun Gothic"/>
              </a:rPr>
              <a:t>18.5</a:t>
            </a:r>
          </a:p>
        </p:txBody>
      </p:sp>
      <p:sp>
        <p:nvSpPr>
          <p:cNvPr id="4" name="TextBox 3"/>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임시 테이블스페이스와 그룹</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spcAft>
                <a:spcPts val="800"/>
              </a:spcAft>
            </a:pPr>
            <a:r>
              <a:rPr sz="1600" b="0">
                <a:solidFill>
                  <a:srgbClr val="C5CED6"/>
                </a:solidFill>
                <a:latin typeface="Malgun Gothic"/>
              </a:rPr>
              <a:t>•  정렬·해시 작업 영역</a:t>
            </a:r>
          </a:p>
          <a:p>
            <a:pPr>
              <a:spcAft>
                <a:spcPts val="800"/>
              </a:spcAft>
            </a:pPr>
            <a:r>
              <a:rPr sz="1600" b="0">
                <a:solidFill>
                  <a:srgbClr val="C5CED6"/>
                </a:solidFill>
                <a:latin typeface="Malgun Gothic"/>
              </a:rPr>
              <a:t>•  임시 테이블스페이스 그룹으로 부하 분산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임시 테이블스페이스</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TEMPFILE로 구성, 리두 없음</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1000"/>
              </a:spcAft>
            </a:pPr>
            <a:r>
              <a:rPr sz="1800" b="0">
                <a:solidFill>
                  <a:srgbClr val="C0392B"/>
                </a:solidFill>
                <a:latin typeface="Malgun Gothic"/>
              </a:rPr>
              <a:t>•  정렬(ORDER BY/GROUP BY)·해시 조인·인덱스 생성의 디스크 작업 영역</a:t>
            </a:r>
          </a:p>
          <a:p>
            <a:pPr>
              <a:spcAft>
                <a:spcPts val="1000"/>
              </a:spcAft>
            </a:pPr>
            <a:r>
              <a:rPr sz="1800" b="0">
                <a:solidFill>
                  <a:srgbClr val="C0392B"/>
                </a:solidFill>
                <a:latin typeface="Malgun Gothic"/>
              </a:rPr>
              <a:t>•  DATAFILE이 아니라 TEMPFILE로 구성, 리두 발생 없음</a:t>
            </a:r>
          </a:p>
          <a:p>
            <a:pPr>
              <a:spcAft>
                <a:spcPts val="1000"/>
              </a:spcAft>
            </a:pPr>
            <a:r>
              <a:rPr sz="1800" b="0">
                <a:solidFill>
                  <a:srgbClr val="C0392B"/>
                </a:solidFill>
                <a:latin typeface="Malgun Gothic"/>
              </a:rPr>
              <a:t>•  기본 임시 테이블스페이스: ALTER DATABASE DEFAULT TEMPORARY TABLESPACE</a:t>
            </a:r>
          </a:p>
          <a:p>
            <a:pPr>
              <a:spcAft>
                <a:spcPts val="1000"/>
              </a:spcAft>
            </a:pPr>
            <a:r>
              <a:rPr sz="1800" b="0">
                <a:solidFill>
                  <a:srgbClr val="C0392B"/>
                </a:solidFill>
                <a:latin typeface="Malgun Gothic"/>
              </a:rPr>
              <a:t>•  부족 시 ORA-01652 → 자동 확장·상한 권장, V$TEMPSEG_USAGE로 모니터링</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임시 테이블스페이스와 그룹 구성</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그룹으로 정렬 부하 분산</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spcBef>
                <a:spcPts val="0"/>
              </a:spcBef>
              <a:spcAft>
                <a:spcPts val="0"/>
              </a:spcAft>
            </a:pPr>
            <a:r>
              <a:rPr sz="1200" b="0">
                <a:solidFill>
                  <a:srgbClr val="E6E6E6"/>
                </a:solidFill>
                <a:latin typeface="Consolas"/>
              </a:rPr>
              <a:t>SYS@cdb1&gt; CREATE TEMPORARY TABLESPACE temp_work</a:t>
            </a:r>
          </a:p>
          <a:p>
            <a:pPr>
              <a:spcBef>
                <a:spcPts val="0"/>
              </a:spcBef>
              <a:spcAft>
                <a:spcPts val="0"/>
              </a:spcAft>
            </a:pPr>
            <a:r>
              <a:rPr sz="1200" b="0">
                <a:solidFill>
                  <a:srgbClr val="E6E6E6"/>
                </a:solidFill>
                <a:latin typeface="Consolas"/>
              </a:rPr>
              <a:t>  2    TEMPFILE '/u01/.../pdb1/temp_work01.dbf' SIZE 200M</a:t>
            </a:r>
          </a:p>
          <a:p>
            <a:pPr>
              <a:spcBef>
                <a:spcPts val="0"/>
              </a:spcBef>
              <a:spcAft>
                <a:spcPts val="0"/>
              </a:spcAft>
            </a:pPr>
            <a:r>
              <a:rPr sz="1200" b="0">
                <a:solidFill>
                  <a:srgbClr val="E6E6E6"/>
                </a:solidFill>
                <a:latin typeface="Consolas"/>
              </a:rPr>
              <a:t>  3    AUTOEXTEND ON NEXT 100M MAXSIZE 4G;</a:t>
            </a:r>
          </a:p>
          <a:p>
            <a:pPr>
              <a:spcBef>
                <a:spcPts val="0"/>
              </a:spcBef>
              <a:spcAft>
                <a:spcPts val="0"/>
              </a:spcAft>
            </a:pPr>
            <a:r>
              <a:rPr sz="1200" b="0">
                <a:solidFill>
                  <a:srgbClr val="E6E6E6"/>
                </a:solidFill>
                <a:latin typeface="Consolas"/>
              </a:rPr>
              <a:t>Tablespace created.</a:t>
            </a:r>
          </a:p>
          <a:p>
            <a:pPr>
              <a:spcBef>
                <a:spcPts val="0"/>
              </a:spcBef>
              <a:spcAft>
                <a:spcPts val="0"/>
              </a:spcAft>
            </a:pPr>
            <a:r>
              <a:rPr sz="1200" b="0">
                <a:solidFill>
                  <a:srgbClr val="E6E6E6"/>
                </a:solidFill>
                <a:latin typeface="Consolas"/>
              </a:rPr>
              <a:t> </a:t>
            </a:r>
          </a:p>
          <a:p>
            <a:pPr>
              <a:spcBef>
                <a:spcPts val="0"/>
              </a:spcBef>
              <a:spcAft>
                <a:spcPts val="0"/>
              </a:spcAft>
            </a:pPr>
            <a:r>
              <a:rPr sz="1200" b="0">
                <a:solidFill>
                  <a:srgbClr val="7EC699"/>
                </a:solidFill>
                <a:latin typeface="Consolas"/>
              </a:rPr>
              <a:t>-- 임시 테이블스페이스 그룹에 소속(그룹은 자동 생성)</a:t>
            </a:r>
          </a:p>
          <a:p>
            <a:pPr>
              <a:spcBef>
                <a:spcPts val="0"/>
              </a:spcBef>
              <a:spcAft>
                <a:spcPts val="0"/>
              </a:spcAft>
            </a:pPr>
            <a:r>
              <a:rPr sz="1200" b="0">
                <a:solidFill>
                  <a:srgbClr val="E6E6E6"/>
                </a:solidFill>
                <a:latin typeface="Consolas"/>
              </a:rPr>
              <a:t>SYS@cdb1&gt; ALTER TABLESPACE temp_work TABLESPACE GROUP temp_grp;</a:t>
            </a:r>
          </a:p>
          <a:p>
            <a:pPr>
              <a:spcBef>
                <a:spcPts val="0"/>
              </a:spcBef>
              <a:spcAft>
                <a:spcPts val="0"/>
              </a:spcAft>
            </a:pPr>
            <a:r>
              <a:rPr sz="1200" b="0">
                <a:solidFill>
                  <a:srgbClr val="E6E6E6"/>
                </a:solidFill>
                <a:latin typeface="Consolas"/>
              </a:rPr>
              <a:t>Tablespace altered.</a:t>
            </a:r>
          </a:p>
          <a:p>
            <a:pPr>
              <a:spcBef>
                <a:spcPts val="0"/>
              </a:spcBef>
              <a:spcAft>
                <a:spcPts val="0"/>
              </a:spcAft>
            </a:pPr>
            <a:r>
              <a:rPr sz="1200" b="0">
                <a:solidFill>
                  <a:srgbClr val="E6E6E6"/>
                </a:solidFill>
                <a:latin typeface="Consolas"/>
              </a:rPr>
              <a:t> </a:t>
            </a:r>
          </a:p>
          <a:p>
            <a:pPr>
              <a:spcBef>
                <a:spcPts val="0"/>
              </a:spcBef>
              <a:spcAft>
                <a:spcPts val="0"/>
              </a:spcAft>
            </a:pPr>
            <a:r>
              <a:rPr sz="1200" b="0">
                <a:solidFill>
                  <a:srgbClr val="7EC699"/>
                </a:solidFill>
                <a:latin typeface="Consolas"/>
              </a:rPr>
              <a:t>-- 그룹을 기본 임시 테이블스페이스로 지정</a:t>
            </a:r>
          </a:p>
          <a:p>
            <a:pPr>
              <a:spcBef>
                <a:spcPts val="0"/>
              </a:spcBef>
              <a:spcAft>
                <a:spcPts val="0"/>
              </a:spcAft>
            </a:pPr>
            <a:r>
              <a:rPr sz="1200" b="0">
                <a:solidFill>
                  <a:srgbClr val="E6E6E6"/>
                </a:solidFill>
                <a:latin typeface="Consolas"/>
              </a:rPr>
              <a:t>SYS@cdb1&gt; ALTER DATABASE DEFAULT TEMPORARY TABLESPACE temp_grp;</a:t>
            </a:r>
          </a:p>
          <a:p>
            <a:pPr>
              <a:spcBef>
                <a:spcPts val="0"/>
              </a:spcBef>
              <a:spcAft>
                <a:spcPts val="0"/>
              </a:spcAft>
            </a:pPr>
            <a:r>
              <a:rPr sz="1200" b="0">
                <a:solidFill>
                  <a:srgbClr val="E6E6E6"/>
                </a:solidFill>
                <a:latin typeface="Consolas"/>
              </a:rPr>
              <a:t>Database altered.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1371600"/>
          </a:xfrm>
          <a:prstGeom prst="rect">
            <a:avLst/>
          </a:prstGeom>
          <a:noFill/>
        </p:spPr>
        <p:txBody>
          <a:bodyPr wrap="square">
            <a:spAutoFit/>
          </a:bodyPr>
          <a:lstStyle/>
          <a:p>
            <a:r>
              <a:rPr sz="6600" b="1">
                <a:solidFill>
                  <a:srgbClr val="C0392B"/>
                </a:solidFill>
                <a:latin typeface="Malgun Gothic"/>
              </a:rPr>
              <a:t>18.6</a:t>
            </a:r>
          </a:p>
        </p:txBody>
      </p:sp>
      <p:sp>
        <p:nvSpPr>
          <p:cNvPr id="4" name="TextBox 3"/>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테이블스페이스 변경</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spcAft>
                <a:spcPts val="800"/>
              </a:spcAft>
            </a:pPr>
            <a:r>
              <a:rPr sz="1600" b="0">
                <a:solidFill>
                  <a:srgbClr val="C5CED6"/>
                </a:solidFill>
                <a:latin typeface="Malgun Gothic"/>
              </a:rPr>
              <a:t>•  온라인/오프라인</a:t>
            </a:r>
          </a:p>
          <a:p>
            <a:pPr>
              <a:spcAft>
                <a:spcPts val="800"/>
              </a:spcAft>
            </a:pPr>
            <a:r>
              <a:rPr sz="1600" b="0">
                <a:solidFill>
                  <a:srgbClr val="C5CED6"/>
                </a:solidFill>
                <a:latin typeface="Malgun Gothic"/>
              </a:rPr>
              <a:t>•  읽기전용/읽기쓰기</a:t>
            </a:r>
          </a:p>
          <a:p>
            <a:pPr>
              <a:spcAft>
                <a:spcPts val="800"/>
              </a:spcAft>
            </a:pPr>
            <a:r>
              <a:rPr sz="1600" b="0">
                <a:solidFill>
                  <a:srgbClr val="C5CED6"/>
                </a:solidFill>
                <a:latin typeface="Malgun Gothic"/>
              </a:rPr>
              <a:t>•  이름 변경·파일 관리</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온라인/오프라인·읽기전용</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ALTER TABLESPACE로 상태 전환</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1000"/>
              </a:spcAft>
            </a:pPr>
            <a:r>
              <a:rPr sz="1800" b="0">
                <a:solidFill>
                  <a:srgbClr val="C0392B"/>
                </a:solidFill>
                <a:latin typeface="Malgun Gothic"/>
              </a:rPr>
              <a:t>•  OFFLINE: 세그먼트 접근 차단(유지보수·부분 복구). SYSTEM·활성 UNDO·기본 TEMP는 불가</a:t>
            </a:r>
          </a:p>
          <a:p>
            <a:pPr>
              <a:spcAft>
                <a:spcPts val="1000"/>
              </a:spcAft>
            </a:pPr>
            <a:r>
              <a:rPr sz="1800" b="0">
                <a:solidFill>
                  <a:srgbClr val="C0392B"/>
                </a:solidFill>
                <a:latin typeface="Malgun Gothic"/>
              </a:rPr>
              <a:t>•  ONLINE: 다시 접근 가능하게 전환</a:t>
            </a:r>
          </a:p>
          <a:p>
            <a:pPr>
              <a:spcAft>
                <a:spcPts val="1000"/>
              </a:spcAft>
            </a:pPr>
            <a:r>
              <a:rPr sz="1800" b="0">
                <a:solidFill>
                  <a:srgbClr val="C0392B"/>
                </a:solidFill>
                <a:latin typeface="Malgun Gothic"/>
              </a:rPr>
              <a:t>•  READ ONLY: 조회만 허용, 갱신 차단 → 이력 데이터 백업 대상·시간 절감</a:t>
            </a:r>
          </a:p>
          <a:p>
            <a:pPr>
              <a:spcAft>
                <a:spcPts val="1000"/>
              </a:spcAft>
            </a:pPr>
            <a:r>
              <a:rPr sz="1800" b="0">
                <a:solidFill>
                  <a:srgbClr val="C0392B"/>
                </a:solidFill>
                <a:latin typeface="Malgun Gothic"/>
              </a:rPr>
              <a:t>•  RENAME TO: 테이블스페이스 이름 변경(SYSTEM/SYSAUX 제외)</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읽기 전용 전환과 검증</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갱신 차단 확인</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spcBef>
                <a:spcPts val="0"/>
              </a:spcBef>
              <a:spcAft>
                <a:spcPts val="0"/>
              </a:spcAft>
            </a:pPr>
            <a:r>
              <a:rPr sz="1200" b="0">
                <a:solidFill>
                  <a:srgbClr val="E6E6E6"/>
                </a:solidFill>
                <a:latin typeface="Consolas"/>
              </a:rPr>
              <a:t>SYS@cdb1&gt; ALTER TABLESPACE app_data READ ONLY;</a:t>
            </a:r>
          </a:p>
          <a:p>
            <a:pPr>
              <a:spcBef>
                <a:spcPts val="0"/>
              </a:spcBef>
              <a:spcAft>
                <a:spcPts val="0"/>
              </a:spcAft>
            </a:pPr>
            <a:r>
              <a:rPr sz="1200" b="0">
                <a:solidFill>
                  <a:srgbClr val="E6E6E6"/>
                </a:solidFill>
                <a:latin typeface="Consolas"/>
              </a:rPr>
              <a:t>Tablespace altered.</a:t>
            </a:r>
          </a:p>
          <a:p>
            <a:pPr>
              <a:spcBef>
                <a:spcPts val="0"/>
              </a:spcBef>
              <a:spcAft>
                <a:spcPts val="0"/>
              </a:spcAft>
            </a:pPr>
            <a:r>
              <a:rPr sz="1200" b="0">
                <a:solidFill>
                  <a:srgbClr val="E6E6E6"/>
                </a:solidFill>
                <a:latin typeface="Consolas"/>
              </a:rPr>
              <a:t> </a:t>
            </a:r>
          </a:p>
          <a:p>
            <a:pPr>
              <a:spcBef>
                <a:spcPts val="0"/>
              </a:spcBef>
              <a:spcAft>
                <a:spcPts val="0"/>
              </a:spcAft>
            </a:pPr>
            <a:r>
              <a:rPr sz="1200" b="0">
                <a:solidFill>
                  <a:srgbClr val="7EC699"/>
                </a:solidFill>
                <a:latin typeface="Consolas"/>
              </a:rPr>
              <a:t>-- 읽기 전용에서 갱신 시도 → 실패</a:t>
            </a:r>
          </a:p>
          <a:p>
            <a:pPr>
              <a:spcBef>
                <a:spcPts val="0"/>
              </a:spcBef>
              <a:spcAft>
                <a:spcPts val="0"/>
              </a:spcAft>
            </a:pPr>
            <a:r>
              <a:rPr sz="1200" b="0">
                <a:solidFill>
                  <a:srgbClr val="E6E6E6"/>
                </a:solidFill>
                <a:latin typeface="Consolas"/>
              </a:rPr>
              <a:t>SYS@cdb1&gt; UPDATE hr_dev.orders SET amount = amount*1.1;</a:t>
            </a:r>
          </a:p>
          <a:p>
            <a:pPr>
              <a:spcBef>
                <a:spcPts val="0"/>
              </a:spcBef>
              <a:spcAft>
                <a:spcPts val="0"/>
              </a:spcAft>
            </a:pPr>
            <a:r>
              <a:rPr sz="1200" b="0">
                <a:solidFill>
                  <a:srgbClr val="E6E6E6"/>
                </a:solidFill>
                <a:latin typeface="Consolas"/>
              </a:rPr>
              <a:t>ERROR at line 1:</a:t>
            </a:r>
          </a:p>
          <a:p>
            <a:pPr>
              <a:spcBef>
                <a:spcPts val="0"/>
              </a:spcBef>
              <a:spcAft>
                <a:spcPts val="0"/>
              </a:spcAft>
            </a:pPr>
            <a:r>
              <a:rPr sz="1200" b="0">
                <a:solidFill>
                  <a:srgbClr val="E6E6E6"/>
                </a:solidFill>
                <a:latin typeface="Consolas"/>
              </a:rPr>
              <a:t>ORA-00372: file 27 cannot be modified at this time</a:t>
            </a:r>
          </a:p>
          <a:p>
            <a:pPr>
              <a:spcBef>
                <a:spcPts val="0"/>
              </a:spcBef>
              <a:spcAft>
                <a:spcPts val="0"/>
              </a:spcAft>
            </a:pPr>
            <a:r>
              <a:rPr sz="1200" b="0">
                <a:solidFill>
                  <a:srgbClr val="E6E6E6"/>
                </a:solidFill>
                <a:latin typeface="Consolas"/>
              </a:rPr>
              <a:t>ORA-01110: data file 27: '/u01/.../app_data01.dbf'</a:t>
            </a:r>
          </a:p>
          <a:p>
            <a:pPr>
              <a:spcBef>
                <a:spcPts val="0"/>
              </a:spcBef>
              <a:spcAft>
                <a:spcPts val="0"/>
              </a:spcAft>
            </a:pPr>
            <a:r>
              <a:rPr sz="1200" b="0">
                <a:solidFill>
                  <a:srgbClr val="E6E6E6"/>
                </a:solidFill>
                <a:latin typeface="Consolas"/>
              </a:rPr>
              <a:t> </a:t>
            </a:r>
          </a:p>
          <a:p>
            <a:pPr>
              <a:spcBef>
                <a:spcPts val="0"/>
              </a:spcBef>
              <a:spcAft>
                <a:spcPts val="0"/>
              </a:spcAft>
            </a:pPr>
            <a:r>
              <a:rPr sz="1200" b="0">
                <a:solidFill>
                  <a:srgbClr val="7EC699"/>
                </a:solidFill>
                <a:latin typeface="Consolas"/>
              </a:rPr>
              <a:t>-- 다시 읽기 쓰기로 되돌림</a:t>
            </a:r>
          </a:p>
          <a:p>
            <a:pPr>
              <a:spcBef>
                <a:spcPts val="0"/>
              </a:spcBef>
              <a:spcAft>
                <a:spcPts val="0"/>
              </a:spcAft>
            </a:pPr>
            <a:r>
              <a:rPr sz="1200" b="0">
                <a:solidFill>
                  <a:srgbClr val="E6E6E6"/>
                </a:solidFill>
                <a:latin typeface="Consolas"/>
              </a:rPr>
              <a:t>SYS@cdb1&gt; ALTER TABLESPACE app_data READ WRITE;</a:t>
            </a:r>
          </a:p>
          <a:p>
            <a:pPr>
              <a:spcBef>
                <a:spcPts val="0"/>
              </a:spcBef>
              <a:spcAft>
                <a:spcPts val="0"/>
              </a:spcAft>
            </a:pPr>
            <a:r>
              <a:rPr sz="1200" b="0">
                <a:solidFill>
                  <a:srgbClr val="E6E6E6"/>
                </a:solidFill>
                <a:latin typeface="Consolas"/>
              </a:rPr>
              <a:t>Tablespace altered.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1371600"/>
          </a:xfrm>
          <a:prstGeom prst="rect">
            <a:avLst/>
          </a:prstGeom>
          <a:noFill/>
        </p:spPr>
        <p:txBody>
          <a:bodyPr wrap="square">
            <a:spAutoFit/>
          </a:bodyPr>
          <a:lstStyle/>
          <a:p>
            <a:r>
              <a:rPr sz="6600" b="1">
                <a:solidFill>
                  <a:srgbClr val="C0392B"/>
                </a:solidFill>
                <a:latin typeface="Malgun Gothic"/>
              </a:rPr>
              <a:t>18.7</a:t>
            </a:r>
          </a:p>
        </p:txBody>
      </p:sp>
      <p:sp>
        <p:nvSpPr>
          <p:cNvPr id="4" name="TextBox 3"/>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테이블스페이스 삭제</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spcAft>
                <a:spcPts val="800"/>
              </a:spcAft>
            </a:pPr>
            <a:r>
              <a:rPr sz="1600" b="0">
                <a:solidFill>
                  <a:srgbClr val="C5CED6"/>
                </a:solidFill>
                <a:latin typeface="Malgun Gothic"/>
              </a:rPr>
              <a:t>•  INCLUDING CONTENTS</a:t>
            </a:r>
          </a:p>
          <a:p>
            <a:pPr>
              <a:spcAft>
                <a:spcPts val="800"/>
              </a:spcAft>
            </a:pPr>
            <a:r>
              <a:rPr sz="1600" b="0">
                <a:solidFill>
                  <a:srgbClr val="C5CED6"/>
                </a:solidFill>
                <a:latin typeface="Malgun Gothic"/>
              </a:rPr>
              <a:t>•  AND DATAFILES</a:t>
            </a:r>
          </a:p>
          <a:p>
            <a:pPr>
              <a:spcAft>
                <a:spcPts val="800"/>
              </a:spcAft>
            </a:pPr>
            <a:r>
              <a:rPr sz="1600" b="0">
                <a:solidFill>
                  <a:srgbClr val="C5CED6"/>
                </a:solidFill>
                <a:latin typeface="Malgun Gothic"/>
              </a:rPr>
              <a:t>•  CASCADE CONSTRAINTS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DROP TABLESPACE 옵션</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절 조합에 따라 결과가 크게 달라진다</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1000"/>
              </a:spcAft>
            </a:pPr>
            <a:r>
              <a:rPr sz="1800" b="0">
                <a:solidFill>
                  <a:srgbClr val="C0392B"/>
                </a:solidFill>
                <a:latin typeface="Malgun Gothic"/>
              </a:rPr>
              <a:t>•  DROP TABLESPACE ts: 비어 있어야만 삭제(세그먼트 있으면 ORA-01549)</a:t>
            </a:r>
          </a:p>
          <a:p>
            <a:pPr>
              <a:spcAft>
                <a:spcPts val="1000"/>
              </a:spcAft>
            </a:pPr>
            <a:r>
              <a:rPr sz="1800" b="0">
                <a:solidFill>
                  <a:srgbClr val="C0392B"/>
                </a:solidFill>
                <a:latin typeface="Malgun Gothic"/>
              </a:rPr>
              <a:t>•  INCLUDING CONTENTS: 안의 객체(세그먼트)까지 함께 삭제</a:t>
            </a:r>
          </a:p>
          <a:p>
            <a:pPr>
              <a:spcAft>
                <a:spcPts val="1000"/>
              </a:spcAft>
            </a:pPr>
            <a:r>
              <a:rPr sz="1800" b="0">
                <a:solidFill>
                  <a:srgbClr val="C0392B"/>
                </a:solidFill>
                <a:latin typeface="Malgun Gothic"/>
              </a:rPr>
              <a:t>•  INCLUDING CONTENTS AND DATAFILES: 물리 데이터 파일까지 OS에서 삭제</a:t>
            </a:r>
          </a:p>
          <a:p>
            <a:pPr>
              <a:spcAft>
                <a:spcPts val="1000"/>
              </a:spcAft>
            </a:pPr>
            <a:r>
              <a:rPr sz="1800" b="0">
                <a:solidFill>
                  <a:srgbClr val="C0392B"/>
                </a:solidFill>
                <a:latin typeface="Malgun Gothic"/>
              </a:rPr>
              <a:t>•  CASCADE CONSTRAINTS: 다른 테이블스페이스가 참조하는 무결성 제약도 삭제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안전한 삭제 절차</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오류 → 절 보강</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spcBef>
                <a:spcPts val="0"/>
              </a:spcBef>
              <a:spcAft>
                <a:spcPts val="0"/>
              </a:spcAft>
            </a:pPr>
            <a:r>
              <a:rPr sz="1200" b="0">
                <a:solidFill>
                  <a:srgbClr val="7EC699"/>
                </a:solidFill>
                <a:latin typeface="Consolas"/>
              </a:rPr>
              <a:t>-- 세그먼트가 있는데 그냥 삭제 시도 → 실패</a:t>
            </a:r>
          </a:p>
          <a:p>
            <a:pPr>
              <a:spcBef>
                <a:spcPts val="0"/>
              </a:spcBef>
              <a:spcAft>
                <a:spcPts val="0"/>
              </a:spcAft>
            </a:pPr>
            <a:r>
              <a:rPr sz="1200" b="0">
                <a:solidFill>
                  <a:srgbClr val="E6E6E6"/>
                </a:solidFill>
                <a:latin typeface="Consolas"/>
              </a:rPr>
              <a:t>SYS@cdb1&gt; DROP TABLESPACE app_main;</a:t>
            </a:r>
          </a:p>
          <a:p>
            <a:pPr>
              <a:spcBef>
                <a:spcPts val="0"/>
              </a:spcBef>
              <a:spcAft>
                <a:spcPts val="0"/>
              </a:spcAft>
            </a:pPr>
            <a:r>
              <a:rPr sz="1200" b="0">
                <a:solidFill>
                  <a:srgbClr val="E6E6E6"/>
                </a:solidFill>
                <a:latin typeface="Consolas"/>
              </a:rPr>
              <a:t>ERROR at line 1:</a:t>
            </a:r>
          </a:p>
          <a:p>
            <a:pPr>
              <a:spcBef>
                <a:spcPts val="0"/>
              </a:spcBef>
              <a:spcAft>
                <a:spcPts val="0"/>
              </a:spcAft>
            </a:pPr>
            <a:r>
              <a:rPr sz="1200" b="0">
                <a:solidFill>
                  <a:srgbClr val="E6E6E6"/>
                </a:solidFill>
                <a:latin typeface="Consolas"/>
              </a:rPr>
              <a:t>ORA-01549: tablespace not empty, use INCLUDING</a:t>
            </a:r>
          </a:p>
          <a:p>
            <a:pPr>
              <a:spcBef>
                <a:spcPts val="0"/>
              </a:spcBef>
              <a:spcAft>
                <a:spcPts val="0"/>
              </a:spcAft>
            </a:pPr>
            <a:r>
              <a:rPr sz="1200" b="0">
                <a:solidFill>
                  <a:srgbClr val="E6E6E6"/>
                </a:solidFill>
                <a:latin typeface="Consolas"/>
              </a:rPr>
              <a:t>CONTENTS option</a:t>
            </a:r>
          </a:p>
          <a:p>
            <a:pPr>
              <a:spcBef>
                <a:spcPts val="0"/>
              </a:spcBef>
              <a:spcAft>
                <a:spcPts val="0"/>
              </a:spcAft>
            </a:pPr>
            <a:r>
              <a:rPr sz="1200" b="0">
                <a:solidFill>
                  <a:srgbClr val="E6E6E6"/>
                </a:solidFill>
                <a:latin typeface="Consolas"/>
              </a:rPr>
              <a:t> </a:t>
            </a:r>
          </a:p>
          <a:p>
            <a:pPr>
              <a:spcBef>
                <a:spcPts val="0"/>
              </a:spcBef>
              <a:spcAft>
                <a:spcPts val="0"/>
              </a:spcAft>
            </a:pPr>
            <a:r>
              <a:rPr sz="1200" b="0">
                <a:solidFill>
                  <a:srgbClr val="7EC699"/>
                </a:solidFill>
                <a:latin typeface="Consolas"/>
              </a:rPr>
              <a:t>-- 객체와 데이터 파일까지 함께 삭제</a:t>
            </a:r>
          </a:p>
          <a:p>
            <a:pPr>
              <a:spcBef>
                <a:spcPts val="0"/>
              </a:spcBef>
              <a:spcAft>
                <a:spcPts val="0"/>
              </a:spcAft>
            </a:pPr>
            <a:r>
              <a:rPr sz="1200" b="0">
                <a:solidFill>
                  <a:srgbClr val="E6E6E6"/>
                </a:solidFill>
                <a:latin typeface="Consolas"/>
              </a:rPr>
              <a:t>SYS@cdb1&gt; DROP TABLESPACE app_main</a:t>
            </a:r>
          </a:p>
          <a:p>
            <a:pPr>
              <a:spcBef>
                <a:spcPts val="0"/>
              </a:spcBef>
              <a:spcAft>
                <a:spcPts val="0"/>
              </a:spcAft>
            </a:pPr>
            <a:r>
              <a:rPr sz="1200" b="0">
                <a:solidFill>
                  <a:srgbClr val="E6E6E6"/>
                </a:solidFill>
                <a:latin typeface="Consolas"/>
              </a:rPr>
              <a:t>  2    INCLUDING CONTENTS AND DATAFILES;</a:t>
            </a:r>
          </a:p>
          <a:p>
            <a:pPr>
              <a:spcBef>
                <a:spcPts val="0"/>
              </a:spcBef>
              <a:spcAft>
                <a:spcPts val="0"/>
              </a:spcAft>
            </a:pPr>
            <a:r>
              <a:rPr sz="1200" b="0">
                <a:solidFill>
                  <a:srgbClr val="E6E6E6"/>
                </a:solidFill>
                <a:latin typeface="Consolas"/>
              </a:rPr>
              <a:t>Tablespace dropped.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1371600"/>
          </a:xfrm>
          <a:prstGeom prst="rect">
            <a:avLst/>
          </a:prstGeom>
          <a:noFill/>
        </p:spPr>
        <p:txBody>
          <a:bodyPr wrap="square">
            <a:spAutoFit/>
          </a:bodyPr>
          <a:lstStyle/>
          <a:p>
            <a:r>
              <a:rPr sz="6600" b="1">
                <a:solidFill>
                  <a:srgbClr val="C0392B"/>
                </a:solidFill>
                <a:latin typeface="Malgun Gothic"/>
              </a:rPr>
              <a:t>18.8</a:t>
            </a:r>
          </a:p>
        </p:txBody>
      </p:sp>
      <p:sp>
        <p:nvSpPr>
          <p:cNvPr id="4" name="TextBox 3"/>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테이블스페이스 정보 조회</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spcAft>
                <a:spcPts val="800"/>
              </a:spcAft>
            </a:pPr>
            <a:r>
              <a:rPr sz="1600" b="0">
                <a:solidFill>
                  <a:srgbClr val="C5CED6"/>
                </a:solidFill>
                <a:latin typeface="Malgun Gothic"/>
              </a:rPr>
              <a:t>•  DBA_* 정적 뷰</a:t>
            </a:r>
          </a:p>
          <a:p>
            <a:pPr>
              <a:spcAft>
                <a:spcPts val="800"/>
              </a:spcAft>
            </a:pPr>
            <a:r>
              <a:rPr sz="1600" b="0">
                <a:solidFill>
                  <a:srgbClr val="C5CED6"/>
                </a:solidFill>
                <a:latin typeface="Malgun Gothic"/>
              </a:rPr>
              <a:t>•  V$* 동적 뷰</a:t>
            </a:r>
          </a:p>
          <a:p>
            <a:pPr>
              <a:spcAft>
                <a:spcPts val="800"/>
              </a:spcAft>
            </a:pPr>
            <a:r>
              <a:rPr sz="1600" b="0">
                <a:solidFill>
                  <a:srgbClr val="C5CED6"/>
                </a:solidFill>
                <a:latin typeface="Malgun Gothic"/>
              </a:rPr>
              <a:t>•  사용률 모니터링</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주요 딕셔너리 뷰</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관리의 절반은 조회다</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1000"/>
              </a:spcAft>
            </a:pPr>
            <a:r>
              <a:rPr sz="1800" b="0">
                <a:solidFill>
                  <a:srgbClr val="C0392B"/>
                </a:solidFill>
                <a:latin typeface="Malgun Gothic"/>
              </a:rPr>
              <a:t>•  DBA_TABLESPACES: 전반 속성(관리방식·상태·유형·BIGFILE)</a:t>
            </a:r>
          </a:p>
          <a:p>
            <a:pPr>
              <a:spcAft>
                <a:spcPts val="1000"/>
              </a:spcAft>
            </a:pPr>
            <a:r>
              <a:rPr sz="1800" b="0">
                <a:solidFill>
                  <a:srgbClr val="C0392B"/>
                </a:solidFill>
                <a:latin typeface="Malgun Gothic"/>
              </a:rPr>
              <a:t>•  DBA_DATA_FILES / DBA_TEMP_FILES: 데이터·임시 파일(경로·크기·자동확장)</a:t>
            </a:r>
          </a:p>
          <a:p>
            <a:pPr>
              <a:spcAft>
                <a:spcPts val="1000"/>
              </a:spcAft>
            </a:pPr>
            <a:r>
              <a:rPr sz="1800" b="0">
                <a:solidFill>
                  <a:srgbClr val="C0392B"/>
                </a:solidFill>
                <a:latin typeface="Malgun Gothic"/>
              </a:rPr>
              <a:t>•  DBA_FREE_SPACE: 테이블스페이스별 여유 익스텐트</a:t>
            </a:r>
          </a:p>
          <a:p>
            <a:pPr>
              <a:spcAft>
                <a:spcPts val="1000"/>
              </a:spcAft>
            </a:pPr>
            <a:r>
              <a:rPr sz="1800" b="0">
                <a:solidFill>
                  <a:srgbClr val="C0392B"/>
                </a:solidFill>
                <a:latin typeface="Malgun Gothic"/>
              </a:rPr>
              <a:t>•  V$TABLESPACE / V$DATAFILE: 제어 파일 기반 이름·번호·상태</a:t>
            </a:r>
          </a:p>
          <a:p>
            <a:pPr>
              <a:spcAft>
                <a:spcPts val="1000"/>
              </a:spcAft>
            </a:pPr>
            <a:r>
              <a:rPr sz="1800" b="0">
                <a:solidFill>
                  <a:srgbClr val="C0392B"/>
                </a:solidFill>
                <a:latin typeface="Malgun Gothic"/>
              </a:rPr>
              <a:t>•  CDB_TABLESPACES: 모든 컨테이너의 테이블스페이스(CON_ID 포함)</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테이블스페이스 사용률 조회</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용량 계획의 출발점</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spcBef>
                <a:spcPts val="0"/>
              </a:spcBef>
              <a:spcAft>
                <a:spcPts val="0"/>
              </a:spcAft>
            </a:pPr>
            <a:r>
              <a:rPr sz="1200" b="0">
                <a:solidFill>
                  <a:srgbClr val="E6E6E6"/>
                </a:solidFill>
                <a:latin typeface="Consolas"/>
              </a:rPr>
              <a:t>SYS@cdb1&gt; SELECT df.tablespace_name,</a:t>
            </a:r>
          </a:p>
          <a:p>
            <a:pPr>
              <a:spcBef>
                <a:spcPts val="0"/>
              </a:spcBef>
              <a:spcAft>
                <a:spcPts val="0"/>
              </a:spcAft>
            </a:pPr>
            <a:r>
              <a:rPr sz="1200" b="0">
                <a:solidFill>
                  <a:srgbClr val="E6E6E6"/>
                </a:solidFill>
                <a:latin typeface="Consolas"/>
              </a:rPr>
              <a:t>  2    ROUND(df.total_mb,1) total_mb,</a:t>
            </a:r>
          </a:p>
          <a:p>
            <a:pPr>
              <a:spcBef>
                <a:spcPts val="0"/>
              </a:spcBef>
              <a:spcAft>
                <a:spcPts val="0"/>
              </a:spcAft>
            </a:pPr>
            <a:r>
              <a:rPr sz="1200" b="0">
                <a:solidFill>
                  <a:srgbClr val="E6E6E6"/>
                </a:solidFill>
                <a:latin typeface="Consolas"/>
              </a:rPr>
              <a:t>  3    ROUND(df.total_mb-NVL(fs.free_mb,0),1) used_mb,</a:t>
            </a:r>
          </a:p>
          <a:p>
            <a:pPr>
              <a:spcBef>
                <a:spcPts val="0"/>
              </a:spcBef>
              <a:spcAft>
                <a:spcPts val="0"/>
              </a:spcAft>
            </a:pPr>
            <a:r>
              <a:rPr sz="1200" b="0">
                <a:solidFill>
                  <a:srgbClr val="E6E6E6"/>
                </a:solidFill>
                <a:latin typeface="Consolas"/>
              </a:rPr>
              <a:t>  4    ROUND((df.total_mb-NVL(fs.free_mb,0))</a:t>
            </a:r>
          </a:p>
          <a:p>
            <a:pPr>
              <a:spcBef>
                <a:spcPts val="0"/>
              </a:spcBef>
              <a:spcAft>
                <a:spcPts val="0"/>
              </a:spcAft>
            </a:pPr>
            <a:r>
              <a:rPr sz="1200" b="0">
                <a:solidFill>
                  <a:srgbClr val="E6E6E6"/>
                </a:solidFill>
                <a:latin typeface="Consolas"/>
              </a:rPr>
              <a:t>  5           /df.total_mb*100,1) pct_used</a:t>
            </a:r>
          </a:p>
          <a:p>
            <a:pPr>
              <a:spcBef>
                <a:spcPts val="0"/>
              </a:spcBef>
              <a:spcAft>
                <a:spcPts val="0"/>
              </a:spcAft>
            </a:pPr>
            <a:r>
              <a:rPr sz="1200" b="0">
                <a:solidFill>
                  <a:srgbClr val="E6E6E6"/>
                </a:solidFill>
                <a:latin typeface="Consolas"/>
              </a:rPr>
              <a:t>  6  FROM (SELECT tablespace_name,SUM(bytes)/1048576 total_mb</a:t>
            </a:r>
          </a:p>
          <a:p>
            <a:pPr>
              <a:spcBef>
                <a:spcPts val="0"/>
              </a:spcBef>
              <a:spcAft>
                <a:spcPts val="0"/>
              </a:spcAft>
            </a:pPr>
            <a:r>
              <a:rPr sz="1200" b="0">
                <a:solidFill>
                  <a:srgbClr val="E6E6E6"/>
                </a:solidFill>
                <a:latin typeface="Consolas"/>
              </a:rPr>
              <a:t>  7        FROM dba_data_files GROUP BY tablespace_name) df</a:t>
            </a:r>
          </a:p>
          <a:p>
            <a:pPr>
              <a:spcBef>
                <a:spcPts val="0"/>
              </a:spcBef>
              <a:spcAft>
                <a:spcPts val="0"/>
              </a:spcAft>
            </a:pPr>
            <a:r>
              <a:rPr sz="1200" b="0">
                <a:solidFill>
                  <a:srgbClr val="E6E6E6"/>
                </a:solidFill>
                <a:latin typeface="Consolas"/>
              </a:rPr>
              <a:t>  8  LEFT JOIN (SELECT tablespace_name,SUM(bytes)/1048576 free_mb</a:t>
            </a:r>
          </a:p>
          <a:p>
            <a:pPr>
              <a:spcBef>
                <a:spcPts val="0"/>
              </a:spcBef>
              <a:spcAft>
                <a:spcPts val="0"/>
              </a:spcAft>
            </a:pPr>
            <a:r>
              <a:rPr sz="1200" b="0">
                <a:solidFill>
                  <a:srgbClr val="E6E6E6"/>
                </a:solidFill>
                <a:latin typeface="Consolas"/>
              </a:rPr>
              <a:t>  9        FROM dba_free_space GROUP BY tablespace_name) fs</a:t>
            </a:r>
          </a:p>
          <a:p>
            <a:pPr>
              <a:spcBef>
                <a:spcPts val="0"/>
              </a:spcBef>
              <a:spcAft>
                <a:spcPts val="0"/>
              </a:spcAft>
            </a:pPr>
            <a:r>
              <a:rPr sz="1200" b="0">
                <a:solidFill>
                  <a:srgbClr val="E6E6E6"/>
                </a:solidFill>
                <a:latin typeface="Consolas"/>
              </a:rPr>
              <a:t> 10  ON df.tablespace_name=fs.tablespace_name</a:t>
            </a:r>
          </a:p>
          <a:p>
            <a:pPr>
              <a:spcBef>
                <a:spcPts val="0"/>
              </a:spcBef>
              <a:spcAft>
                <a:spcPts val="0"/>
              </a:spcAft>
            </a:pPr>
            <a:r>
              <a:rPr sz="1200" b="0">
                <a:solidFill>
                  <a:srgbClr val="E6E6E6"/>
                </a:solidFill>
                <a:latin typeface="Consolas"/>
              </a:rPr>
              <a:t> 11  ORDER BY pct_used DESC;</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1371600"/>
          </a:xfrm>
          <a:prstGeom prst="rect">
            <a:avLst/>
          </a:prstGeom>
          <a:noFill/>
        </p:spPr>
        <p:txBody>
          <a:bodyPr wrap="square">
            <a:spAutoFit/>
          </a:bodyPr>
          <a:lstStyle/>
          <a:p>
            <a:r>
              <a:rPr sz="6600" b="1">
                <a:solidFill>
                  <a:srgbClr val="C0392B"/>
                </a:solidFill>
                <a:latin typeface="Malgun Gothic"/>
              </a:rPr>
              <a:t>18.9</a:t>
            </a:r>
          </a:p>
        </p:txBody>
      </p:sp>
      <p:sp>
        <p:nvSpPr>
          <p:cNvPr id="4" name="TextBox 3"/>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Oracle Managed Files(OMF)</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spcAft>
                <a:spcPts val="800"/>
              </a:spcAft>
            </a:pPr>
            <a:r>
              <a:rPr sz="1600" b="0">
                <a:solidFill>
                  <a:srgbClr val="C5CED6"/>
                </a:solidFill>
                <a:latin typeface="Malgun Gothic"/>
              </a:rPr>
              <a:t>•  파일 이름·위치 자동 관리</a:t>
            </a:r>
          </a:p>
          <a:p>
            <a:pPr>
              <a:spcAft>
                <a:spcPts val="800"/>
              </a:spcAft>
            </a:pPr>
            <a:r>
              <a:rPr sz="1600" b="0">
                <a:solidFill>
                  <a:srgbClr val="C5CED6"/>
                </a:solidFill>
                <a:latin typeface="Malgun Gothic"/>
              </a:rPr>
              <a:t>•  DB_CREATE_FILE_DEST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OMF 구현</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파일 이름을 지정하지 않는다</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1000"/>
              </a:spcAft>
            </a:pPr>
            <a:r>
              <a:rPr sz="1800" b="0">
                <a:solidFill>
                  <a:srgbClr val="C0392B"/>
                </a:solidFill>
                <a:latin typeface="Malgun Gothic"/>
              </a:rPr>
              <a:t>•  OMF: 데이터·임시·제어·리두 로그 파일 이름과 위치를 DB가 자동 생성·관리</a:t>
            </a:r>
          </a:p>
          <a:p>
            <a:pPr>
              <a:spcAft>
                <a:spcPts val="1000"/>
              </a:spcAft>
            </a:pPr>
            <a:r>
              <a:rPr sz="1800" b="0">
                <a:solidFill>
                  <a:srgbClr val="C0392B"/>
                </a:solidFill>
                <a:latin typeface="Malgun Gothic"/>
              </a:rPr>
              <a:t>•  DB_CREATE_FILE_DEST: 데이터/임시 파일 기본 생성 위치</a:t>
            </a:r>
          </a:p>
          <a:p>
            <a:pPr>
              <a:spcAft>
                <a:spcPts val="1000"/>
              </a:spcAft>
            </a:pPr>
            <a:r>
              <a:rPr sz="1800" b="0">
                <a:solidFill>
                  <a:srgbClr val="C0392B"/>
                </a:solidFill>
                <a:latin typeface="Malgun Gothic"/>
              </a:rPr>
              <a:t>•  DB_CREATE_ONLINE_LOG_DEST_n: 리두 로그·제어 파일 OMF 위치(멀티플렉싱)</a:t>
            </a:r>
          </a:p>
          <a:p>
            <a:pPr>
              <a:spcAft>
                <a:spcPts val="1000"/>
              </a:spcAft>
            </a:pPr>
            <a:r>
              <a:rPr sz="1800" b="0">
                <a:solidFill>
                  <a:srgbClr val="C0392B"/>
                </a:solidFill>
                <a:latin typeface="Malgun Gothic"/>
              </a:rPr>
              <a:t>•  테이블스페이스 DROP 시 OMF 파일 자동 삭제 → 고아 파일 없음</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OMF로 테이블스페이스 생성</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경로 없이 생성</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spcBef>
                <a:spcPts val="0"/>
              </a:spcBef>
              <a:spcAft>
                <a:spcPts val="0"/>
              </a:spcAft>
            </a:pPr>
            <a:r>
              <a:rPr sz="1200" b="0">
                <a:solidFill>
                  <a:srgbClr val="7EC699"/>
                </a:solidFill>
                <a:latin typeface="Consolas"/>
              </a:rPr>
              <a:t>-- 데이터 파일 기본 생성 위치 지정</a:t>
            </a:r>
          </a:p>
          <a:p>
            <a:pPr>
              <a:spcBef>
                <a:spcPts val="0"/>
              </a:spcBef>
              <a:spcAft>
                <a:spcPts val="0"/>
              </a:spcAft>
            </a:pPr>
            <a:r>
              <a:rPr sz="1200" b="0">
                <a:solidFill>
                  <a:srgbClr val="E6E6E6"/>
                </a:solidFill>
                <a:latin typeface="Consolas"/>
              </a:rPr>
              <a:t>SYS@cdb1&gt; ALTER SYSTEM SET</a:t>
            </a:r>
          </a:p>
          <a:p>
            <a:pPr>
              <a:spcBef>
                <a:spcPts val="0"/>
              </a:spcBef>
              <a:spcAft>
                <a:spcPts val="0"/>
              </a:spcAft>
            </a:pPr>
            <a:r>
              <a:rPr sz="1200" b="0">
                <a:solidFill>
                  <a:srgbClr val="E6E6E6"/>
                </a:solidFill>
                <a:latin typeface="Consolas"/>
              </a:rPr>
              <a:t>  2    db_create_file_dest='/u01/app/oracle/oradata'</a:t>
            </a:r>
          </a:p>
          <a:p>
            <a:pPr>
              <a:spcBef>
                <a:spcPts val="0"/>
              </a:spcBef>
              <a:spcAft>
                <a:spcPts val="0"/>
              </a:spcAft>
            </a:pPr>
            <a:r>
              <a:rPr sz="1200" b="0">
                <a:solidFill>
                  <a:srgbClr val="E6E6E6"/>
                </a:solidFill>
                <a:latin typeface="Consolas"/>
              </a:rPr>
              <a:t>  3    SCOPE=BOTH;</a:t>
            </a:r>
          </a:p>
          <a:p>
            <a:pPr>
              <a:spcBef>
                <a:spcPts val="0"/>
              </a:spcBef>
              <a:spcAft>
                <a:spcPts val="0"/>
              </a:spcAft>
            </a:pPr>
            <a:r>
              <a:rPr sz="1200" b="0">
                <a:solidFill>
                  <a:srgbClr val="E6E6E6"/>
                </a:solidFill>
                <a:latin typeface="Consolas"/>
              </a:rPr>
              <a:t>System altered.</a:t>
            </a:r>
          </a:p>
          <a:p>
            <a:pPr>
              <a:spcBef>
                <a:spcPts val="0"/>
              </a:spcBef>
              <a:spcAft>
                <a:spcPts val="0"/>
              </a:spcAft>
            </a:pPr>
            <a:r>
              <a:rPr sz="1200" b="0">
                <a:solidFill>
                  <a:srgbClr val="E6E6E6"/>
                </a:solidFill>
                <a:latin typeface="Consolas"/>
              </a:rPr>
              <a:t> </a:t>
            </a:r>
          </a:p>
          <a:p>
            <a:pPr>
              <a:spcBef>
                <a:spcPts val="0"/>
              </a:spcBef>
              <a:spcAft>
                <a:spcPts val="0"/>
              </a:spcAft>
            </a:pPr>
            <a:r>
              <a:rPr sz="1200" b="0">
                <a:solidFill>
                  <a:srgbClr val="7EC699"/>
                </a:solidFill>
                <a:latin typeface="Consolas"/>
              </a:rPr>
              <a:t>-- 경로 없이 생성 → 파일 이름 자동 생성(o1_mf_...)</a:t>
            </a:r>
          </a:p>
          <a:p>
            <a:pPr>
              <a:spcBef>
                <a:spcPts val="0"/>
              </a:spcBef>
              <a:spcAft>
                <a:spcPts val="0"/>
              </a:spcAft>
            </a:pPr>
            <a:r>
              <a:rPr sz="1200" b="0">
                <a:solidFill>
                  <a:srgbClr val="E6E6E6"/>
                </a:solidFill>
                <a:latin typeface="Consolas"/>
              </a:rPr>
              <a:t>SYS@cdb1&gt; CREATE TABLESPACE omf_data;</a:t>
            </a:r>
          </a:p>
          <a:p>
            <a:pPr>
              <a:spcBef>
                <a:spcPts val="0"/>
              </a:spcBef>
              <a:spcAft>
                <a:spcPts val="0"/>
              </a:spcAft>
            </a:pPr>
            <a:r>
              <a:rPr sz="1200" b="0">
                <a:solidFill>
                  <a:srgbClr val="E6E6E6"/>
                </a:solidFill>
                <a:latin typeface="Consolas"/>
              </a:rPr>
              <a:t>Tablespace created.</a:t>
            </a:r>
          </a:p>
          <a:p>
            <a:pPr>
              <a:spcBef>
                <a:spcPts val="0"/>
              </a:spcBef>
              <a:spcAft>
                <a:spcPts val="0"/>
              </a:spcAft>
            </a:pPr>
            <a:r>
              <a:rPr sz="1200" b="0">
                <a:solidFill>
                  <a:srgbClr val="E6E6E6"/>
                </a:solidFill>
                <a:latin typeface="Consolas"/>
              </a:rPr>
              <a:t> </a:t>
            </a:r>
          </a:p>
          <a:p>
            <a:pPr>
              <a:spcBef>
                <a:spcPts val="0"/>
              </a:spcBef>
              <a:spcAft>
                <a:spcPts val="0"/>
              </a:spcAft>
            </a:pPr>
            <a:r>
              <a:rPr sz="1200" b="0">
                <a:solidFill>
                  <a:srgbClr val="7EC699"/>
                </a:solidFill>
                <a:latin typeface="Consolas"/>
              </a:rPr>
              <a:t>-- OMF를 쓰되 크기 정책은 직접 지정</a:t>
            </a:r>
          </a:p>
          <a:p>
            <a:pPr>
              <a:spcBef>
                <a:spcPts val="0"/>
              </a:spcBef>
              <a:spcAft>
                <a:spcPts val="0"/>
              </a:spcAft>
            </a:pPr>
            <a:r>
              <a:rPr sz="1200" b="0">
                <a:solidFill>
                  <a:srgbClr val="E6E6E6"/>
                </a:solidFill>
                <a:latin typeface="Consolas"/>
              </a:rPr>
              <a:t>SYS@cdb1&gt; CREATE TABLESPACE omf_sized</a:t>
            </a:r>
          </a:p>
          <a:p>
            <a:pPr>
              <a:spcBef>
                <a:spcPts val="0"/>
              </a:spcBef>
              <a:spcAft>
                <a:spcPts val="0"/>
              </a:spcAft>
            </a:pPr>
            <a:r>
              <a:rPr sz="1200" b="0">
                <a:solidFill>
                  <a:srgbClr val="E6E6E6"/>
                </a:solidFill>
                <a:latin typeface="Consolas"/>
              </a:rPr>
              <a:t>  2    DATAFILE SIZE 500M AUTOEXTEND ON</a:t>
            </a:r>
          </a:p>
          <a:p>
            <a:pPr>
              <a:spcBef>
                <a:spcPts val="0"/>
              </a:spcBef>
              <a:spcAft>
                <a:spcPts val="0"/>
              </a:spcAft>
            </a:pPr>
            <a:r>
              <a:rPr sz="1200" b="0">
                <a:solidFill>
                  <a:srgbClr val="E6E6E6"/>
                </a:solidFill>
                <a:latin typeface="Consolas"/>
              </a:rPr>
              <a:t>  3    NEXT 200M MAXSIZE 10G;</a:t>
            </a:r>
          </a:p>
          <a:p>
            <a:pPr>
              <a:spcBef>
                <a:spcPts val="0"/>
              </a:spcBef>
              <a:spcAft>
                <a:spcPts val="0"/>
              </a:spcAft>
            </a:pPr>
            <a:r>
              <a:rPr sz="1200" b="0">
                <a:solidFill>
                  <a:srgbClr val="E6E6E6"/>
                </a:solidFill>
                <a:latin typeface="Consolas"/>
              </a:rPr>
              <a:t>Tablespace created.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1371600"/>
          </a:xfrm>
          <a:prstGeom prst="rect">
            <a:avLst/>
          </a:prstGeom>
          <a:noFill/>
        </p:spPr>
        <p:txBody>
          <a:bodyPr wrap="square">
            <a:spAutoFit/>
          </a:bodyPr>
          <a:lstStyle/>
          <a:p>
            <a:r>
              <a:rPr sz="6600" b="1">
                <a:solidFill>
                  <a:srgbClr val="C0392B"/>
                </a:solidFill>
                <a:latin typeface="Malgun Gothic"/>
              </a:rPr>
              <a:t>18.10</a:t>
            </a:r>
          </a:p>
        </p:txBody>
      </p:sp>
      <p:sp>
        <p:nvSpPr>
          <p:cNvPr id="4" name="TextBox 3"/>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데이터베이스 확장</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spcAft>
                <a:spcPts val="800"/>
              </a:spcAft>
            </a:pPr>
            <a:r>
              <a:rPr sz="1600" b="0">
                <a:solidFill>
                  <a:srgbClr val="C5CED6"/>
                </a:solidFill>
                <a:latin typeface="Malgun Gothic"/>
              </a:rPr>
              <a:t>•  리사이즈</a:t>
            </a:r>
          </a:p>
          <a:p>
            <a:pPr>
              <a:spcAft>
                <a:spcPts val="800"/>
              </a:spcAft>
            </a:pPr>
            <a:r>
              <a:rPr sz="1600" b="0">
                <a:solidFill>
                  <a:srgbClr val="C5CED6"/>
                </a:solidFill>
                <a:latin typeface="Malgun Gothic"/>
              </a:rPr>
              <a:t>•  자동 확장</a:t>
            </a:r>
          </a:p>
          <a:p>
            <a:pPr>
              <a:spcAft>
                <a:spcPts val="800"/>
              </a:spcAft>
            </a:pPr>
            <a:r>
              <a:rPr sz="1600" b="0">
                <a:solidFill>
                  <a:srgbClr val="C5CED6"/>
                </a:solidFill>
                <a:latin typeface="Malgun Gothic"/>
              </a:rPr>
              <a:t>•  데이터 파일 추가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데이터베이스 확장 3가지 방법</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상황에 맞게 선택·조합</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1000"/>
              </a:spcAft>
            </a:pPr>
            <a:r>
              <a:rPr sz="1800" b="0">
                <a:solidFill>
                  <a:srgbClr val="C0392B"/>
                </a:solidFill>
                <a:latin typeface="Malgun Gothic"/>
              </a:rPr>
              <a:t>•  리사이즈: ALTER DATABASE DATAFILE ... RESIZE — 기존 파일을 더 크게</a:t>
            </a:r>
          </a:p>
          <a:p>
            <a:pPr>
              <a:spcAft>
                <a:spcPts val="1000"/>
              </a:spcAft>
            </a:pPr>
            <a:r>
              <a:rPr sz="1800" b="0">
                <a:solidFill>
                  <a:srgbClr val="C0392B"/>
                </a:solidFill>
                <a:latin typeface="Malgun Gothic"/>
              </a:rPr>
              <a:t>•  자동 확장: ALTER DATABASE DATAFILE ... AUTOEXTEND ON NEXT ... MAXSIZE ...</a:t>
            </a:r>
          </a:p>
          <a:p>
            <a:pPr>
              <a:spcAft>
                <a:spcPts val="1000"/>
              </a:spcAft>
            </a:pPr>
            <a:r>
              <a:rPr sz="1800" b="0">
                <a:solidFill>
                  <a:srgbClr val="C0392B"/>
                </a:solidFill>
                <a:latin typeface="Malgun Gothic"/>
              </a:rPr>
              <a:t>•  파일 추가: ALTER TABLESPACE ... ADD DATAFILE — 여러 디스크로 I/O 분산</a:t>
            </a:r>
          </a:p>
          <a:p>
            <a:pPr>
              <a:spcAft>
                <a:spcPts val="1000"/>
              </a:spcAft>
            </a:pPr>
            <a:r>
              <a:rPr sz="1800" b="0">
                <a:solidFill>
                  <a:srgbClr val="C0392B"/>
                </a:solidFill>
                <a:latin typeface="Malgun Gothic"/>
              </a:rPr>
              <a:t>•  축소는 사용 익스텐트 지점 아래로 불가(ORA-03297) → SHRINK/MOVE 후 가능</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데이터베이스 확장 실행</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리사이즈·자동확장·파일 추가</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spcBef>
                <a:spcPts val="0"/>
              </a:spcBef>
              <a:spcAft>
                <a:spcPts val="0"/>
              </a:spcAft>
            </a:pPr>
            <a:r>
              <a:rPr sz="1200" b="0">
                <a:solidFill>
                  <a:srgbClr val="7EC699"/>
                </a:solidFill>
                <a:latin typeface="Consolas"/>
              </a:rPr>
              <a:t>-- (1) 기존 파일 800MB로 리사이즈</a:t>
            </a:r>
          </a:p>
          <a:p>
            <a:pPr>
              <a:spcBef>
                <a:spcPts val="0"/>
              </a:spcBef>
              <a:spcAft>
                <a:spcPts val="0"/>
              </a:spcAft>
            </a:pPr>
            <a:r>
              <a:rPr sz="1200" b="0">
                <a:solidFill>
                  <a:srgbClr val="E6E6E6"/>
                </a:solidFill>
                <a:latin typeface="Consolas"/>
              </a:rPr>
              <a:t>SYS@cdb1&gt; ALTER DATABASE DATAFILE</a:t>
            </a:r>
          </a:p>
          <a:p>
            <a:pPr>
              <a:spcBef>
                <a:spcPts val="0"/>
              </a:spcBef>
              <a:spcAft>
                <a:spcPts val="0"/>
              </a:spcAft>
            </a:pPr>
            <a:r>
              <a:rPr sz="1200" b="0">
                <a:solidFill>
                  <a:srgbClr val="E6E6E6"/>
                </a:solidFill>
                <a:latin typeface="Consolas"/>
              </a:rPr>
              <a:t>  2    '/u01/.../pdb1/app_main01.dbf' RESIZE 800M;</a:t>
            </a:r>
          </a:p>
          <a:p>
            <a:pPr>
              <a:spcBef>
                <a:spcPts val="0"/>
              </a:spcBef>
              <a:spcAft>
                <a:spcPts val="0"/>
              </a:spcAft>
            </a:pPr>
            <a:r>
              <a:rPr sz="1200" b="0">
                <a:solidFill>
                  <a:srgbClr val="E6E6E6"/>
                </a:solidFill>
                <a:latin typeface="Consolas"/>
              </a:rPr>
              <a:t>Database altered.</a:t>
            </a:r>
          </a:p>
          <a:p>
            <a:pPr>
              <a:spcBef>
                <a:spcPts val="0"/>
              </a:spcBef>
              <a:spcAft>
                <a:spcPts val="0"/>
              </a:spcAft>
            </a:pPr>
            <a:r>
              <a:rPr sz="1200" b="0">
                <a:solidFill>
                  <a:srgbClr val="E6E6E6"/>
                </a:solidFill>
                <a:latin typeface="Consolas"/>
              </a:rPr>
              <a:t> </a:t>
            </a:r>
          </a:p>
          <a:p>
            <a:pPr>
              <a:spcBef>
                <a:spcPts val="0"/>
              </a:spcBef>
              <a:spcAft>
                <a:spcPts val="0"/>
              </a:spcAft>
            </a:pPr>
            <a:r>
              <a:rPr sz="1200" b="0">
                <a:solidFill>
                  <a:srgbClr val="7EC699"/>
                </a:solidFill>
                <a:latin typeface="Consolas"/>
              </a:rPr>
              <a:t>-- (2) 자동 확장 켜기: 100MB씩 최대 8GB</a:t>
            </a:r>
          </a:p>
          <a:p>
            <a:pPr>
              <a:spcBef>
                <a:spcPts val="0"/>
              </a:spcBef>
              <a:spcAft>
                <a:spcPts val="0"/>
              </a:spcAft>
            </a:pPr>
            <a:r>
              <a:rPr sz="1200" b="0">
                <a:solidFill>
                  <a:srgbClr val="E6E6E6"/>
                </a:solidFill>
                <a:latin typeface="Consolas"/>
              </a:rPr>
              <a:t>SYS@cdb1&gt; ALTER DATABASE DATAFILE</a:t>
            </a:r>
          </a:p>
          <a:p>
            <a:pPr>
              <a:spcBef>
                <a:spcPts val="0"/>
              </a:spcBef>
              <a:spcAft>
                <a:spcPts val="0"/>
              </a:spcAft>
            </a:pPr>
            <a:r>
              <a:rPr sz="1200" b="0">
                <a:solidFill>
                  <a:srgbClr val="E6E6E6"/>
                </a:solidFill>
                <a:latin typeface="Consolas"/>
              </a:rPr>
              <a:t>  2    '/u01/.../pdb1/app_main01.dbf'</a:t>
            </a:r>
          </a:p>
          <a:p>
            <a:pPr>
              <a:spcBef>
                <a:spcPts val="0"/>
              </a:spcBef>
              <a:spcAft>
                <a:spcPts val="0"/>
              </a:spcAft>
            </a:pPr>
            <a:r>
              <a:rPr sz="1200" b="0">
                <a:solidFill>
                  <a:srgbClr val="E6E6E6"/>
                </a:solidFill>
                <a:latin typeface="Consolas"/>
              </a:rPr>
              <a:t>  3    AUTOEXTEND ON NEXT 100M MAXSIZE 8G;</a:t>
            </a:r>
          </a:p>
          <a:p>
            <a:pPr>
              <a:spcBef>
                <a:spcPts val="0"/>
              </a:spcBef>
              <a:spcAft>
                <a:spcPts val="0"/>
              </a:spcAft>
            </a:pPr>
            <a:r>
              <a:rPr sz="1200" b="0">
                <a:solidFill>
                  <a:srgbClr val="E6E6E6"/>
                </a:solidFill>
                <a:latin typeface="Consolas"/>
              </a:rPr>
              <a:t>Database altered.</a:t>
            </a:r>
          </a:p>
          <a:p>
            <a:pPr>
              <a:spcBef>
                <a:spcPts val="0"/>
              </a:spcBef>
              <a:spcAft>
                <a:spcPts val="0"/>
              </a:spcAft>
            </a:pPr>
            <a:r>
              <a:rPr sz="1200" b="0">
                <a:solidFill>
                  <a:srgbClr val="E6E6E6"/>
                </a:solidFill>
                <a:latin typeface="Consolas"/>
              </a:rPr>
              <a:t> </a:t>
            </a:r>
          </a:p>
          <a:p>
            <a:pPr>
              <a:spcBef>
                <a:spcPts val="0"/>
              </a:spcBef>
              <a:spcAft>
                <a:spcPts val="0"/>
              </a:spcAft>
            </a:pPr>
            <a:r>
              <a:rPr sz="1200" b="0">
                <a:solidFill>
                  <a:srgbClr val="7EC699"/>
                </a:solidFill>
                <a:latin typeface="Consolas"/>
              </a:rPr>
              <a:t>-- (3) 새 데이터 파일 추가</a:t>
            </a:r>
          </a:p>
          <a:p>
            <a:pPr>
              <a:spcBef>
                <a:spcPts val="0"/>
              </a:spcBef>
              <a:spcAft>
                <a:spcPts val="0"/>
              </a:spcAft>
            </a:pPr>
            <a:r>
              <a:rPr sz="1200" b="0">
                <a:solidFill>
                  <a:srgbClr val="E6E6E6"/>
                </a:solidFill>
                <a:latin typeface="Consolas"/>
              </a:rPr>
              <a:t>SYS@cdb1&gt; ALTER TABLESPACE app_main ADD DATAFILE</a:t>
            </a:r>
          </a:p>
          <a:p>
            <a:pPr>
              <a:spcBef>
                <a:spcPts val="0"/>
              </a:spcBef>
              <a:spcAft>
                <a:spcPts val="0"/>
              </a:spcAft>
            </a:pPr>
            <a:r>
              <a:rPr sz="1200" b="0">
                <a:solidFill>
                  <a:srgbClr val="E6E6E6"/>
                </a:solidFill>
                <a:latin typeface="Consolas"/>
              </a:rPr>
              <a:t>  2    '/u02/.../pdb1/app_main03.dbf' SIZE 500M</a:t>
            </a:r>
          </a:p>
          <a:p>
            <a:pPr>
              <a:spcBef>
                <a:spcPts val="0"/>
              </a:spcBef>
              <a:spcAft>
                <a:spcPts val="0"/>
              </a:spcAft>
            </a:pPr>
            <a:r>
              <a:rPr sz="1200" b="0">
                <a:solidFill>
                  <a:srgbClr val="E6E6E6"/>
                </a:solidFill>
                <a:latin typeface="Consolas"/>
              </a:rPr>
              <a:t>  3    AUTOEXTEND ON NEXT 100M MAXSIZE 8G;</a:t>
            </a:r>
          </a:p>
          <a:p>
            <a:pPr>
              <a:spcBef>
                <a:spcPts val="0"/>
              </a:spcBef>
              <a:spcAft>
                <a:spcPts val="0"/>
              </a:spcAft>
            </a:pPr>
            <a:r>
              <a:rPr sz="1200" b="0">
                <a:solidFill>
                  <a:srgbClr val="E6E6E6"/>
                </a:solidFill>
                <a:latin typeface="Consolas"/>
              </a:rPr>
              <a:t>Tablespace altered.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1371600"/>
          </a:xfrm>
          <a:prstGeom prst="rect">
            <a:avLst/>
          </a:prstGeom>
          <a:noFill/>
        </p:spPr>
        <p:txBody>
          <a:bodyPr wrap="square">
            <a:spAutoFit/>
          </a:bodyPr>
          <a:lstStyle/>
          <a:p>
            <a:r>
              <a:rPr sz="6600" b="1">
                <a:solidFill>
                  <a:srgbClr val="C0392B"/>
                </a:solidFill>
                <a:latin typeface="Malgun Gothic"/>
              </a:rPr>
              <a:t>18.11</a:t>
            </a:r>
          </a:p>
        </p:txBody>
      </p:sp>
      <p:sp>
        <p:nvSpPr>
          <p:cNvPr id="4" name="TextBox 3"/>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온라인 데이터 파일 이동</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spcAft>
                <a:spcPts val="800"/>
              </a:spcAft>
            </a:pPr>
            <a:r>
              <a:rPr sz="1600" b="0">
                <a:solidFill>
                  <a:srgbClr val="C5CED6"/>
                </a:solidFill>
                <a:latin typeface="Malgun Gothic"/>
              </a:rPr>
              <a:t>•  ALTER DATABASE MOVE DATAFILE</a:t>
            </a:r>
          </a:p>
          <a:p>
            <a:pPr>
              <a:spcAft>
                <a:spcPts val="800"/>
              </a:spcAft>
            </a:pPr>
            <a:r>
              <a:rPr sz="1600" b="0">
                <a:solidFill>
                  <a:srgbClr val="C5CED6"/>
                </a:solidFill>
                <a:latin typeface="Malgun Gothic"/>
              </a:rPr>
              <a:t>•  무중단 스토리지 마이그레이션</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온라인 데이터 파일 이동</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인스턴스·테이블스페이스 온라인 유지</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1000"/>
              </a:spcAft>
            </a:pPr>
            <a:r>
              <a:rPr sz="1800" b="0">
                <a:solidFill>
                  <a:srgbClr val="C0392B"/>
                </a:solidFill>
                <a:latin typeface="Malgun Gothic"/>
              </a:rPr>
              <a:t>•  12c부터: 인스턴스 실행·테이블스페이스 온라인 상태로 파일 이동/이름 변경</a:t>
            </a:r>
          </a:p>
          <a:p>
            <a:pPr>
              <a:spcAft>
                <a:spcPts val="1000"/>
              </a:spcAft>
            </a:pPr>
            <a:r>
              <a:rPr sz="1800" b="0">
                <a:solidFill>
                  <a:srgbClr val="C0392B"/>
                </a:solidFill>
                <a:latin typeface="Malgun Gothic"/>
              </a:rPr>
              <a:t>•  ALTER DATABASE MOVE DATAFILE '원본' TO '대상'; (file# 지정도 가능)</a:t>
            </a:r>
          </a:p>
          <a:p>
            <a:pPr>
              <a:spcAft>
                <a:spcPts val="1000"/>
              </a:spcAft>
            </a:pPr>
            <a:r>
              <a:rPr sz="1800" b="0">
                <a:solidFill>
                  <a:srgbClr val="C0392B"/>
                </a:solidFill>
                <a:latin typeface="Malgun Gothic"/>
              </a:rPr>
              <a:t>•  이동 중에도 해당 파일에 대한 조회·DML 계속 가능</a:t>
            </a:r>
          </a:p>
          <a:p>
            <a:pPr>
              <a:spcAft>
                <a:spcPts val="1000"/>
              </a:spcAft>
            </a:pPr>
            <a:r>
              <a:rPr sz="1800" b="0">
                <a:solidFill>
                  <a:srgbClr val="C0392B"/>
                </a:solidFill>
                <a:latin typeface="Malgun Gothic"/>
              </a:rPr>
              <a:t>•  KEEP: 원본 보존, REUSE: 대상 기존 파일 덮어쓰기</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MOVE DATAFILE 실행과 모니터링</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무중단 스토리지 교체</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spcBef>
                <a:spcPts val="0"/>
              </a:spcBef>
              <a:spcAft>
                <a:spcPts val="0"/>
              </a:spcAft>
            </a:pPr>
            <a:r>
              <a:rPr sz="1200" b="0">
                <a:solidFill>
                  <a:srgbClr val="7EC699"/>
                </a:solidFill>
                <a:latin typeface="Consolas"/>
              </a:rPr>
              <a:t>-- /u01 → /u02로 온라인 이동</a:t>
            </a:r>
          </a:p>
          <a:p>
            <a:pPr>
              <a:spcBef>
                <a:spcPts val="0"/>
              </a:spcBef>
              <a:spcAft>
                <a:spcPts val="0"/>
              </a:spcAft>
            </a:pPr>
            <a:r>
              <a:rPr sz="1200" b="0">
                <a:solidFill>
                  <a:srgbClr val="E6E6E6"/>
                </a:solidFill>
                <a:latin typeface="Consolas"/>
              </a:rPr>
              <a:t>SYS@cdb1&gt; ALTER DATABASE MOVE DATAFILE</a:t>
            </a:r>
          </a:p>
          <a:p>
            <a:pPr>
              <a:spcBef>
                <a:spcPts val="0"/>
              </a:spcBef>
              <a:spcAft>
                <a:spcPts val="0"/>
              </a:spcAft>
            </a:pPr>
            <a:r>
              <a:rPr sz="1200" b="0">
                <a:solidFill>
                  <a:srgbClr val="E6E6E6"/>
                </a:solidFill>
                <a:latin typeface="Consolas"/>
              </a:rPr>
              <a:t>  2    '/u01/.../pdb1/app_main01.dbf'</a:t>
            </a:r>
          </a:p>
          <a:p>
            <a:pPr>
              <a:spcBef>
                <a:spcPts val="0"/>
              </a:spcBef>
              <a:spcAft>
                <a:spcPts val="0"/>
              </a:spcAft>
            </a:pPr>
            <a:r>
              <a:rPr sz="1200" b="0">
                <a:solidFill>
                  <a:srgbClr val="E6E6E6"/>
                </a:solidFill>
                <a:latin typeface="Consolas"/>
              </a:rPr>
              <a:t>  3    TO '/u02/.../pdb1/app_main01.dbf';</a:t>
            </a:r>
          </a:p>
          <a:p>
            <a:pPr>
              <a:spcBef>
                <a:spcPts val="0"/>
              </a:spcBef>
              <a:spcAft>
                <a:spcPts val="0"/>
              </a:spcAft>
            </a:pPr>
            <a:r>
              <a:rPr sz="1200" b="0">
                <a:solidFill>
                  <a:srgbClr val="E6E6E6"/>
                </a:solidFill>
                <a:latin typeface="Consolas"/>
              </a:rPr>
              <a:t>Database altered.</a:t>
            </a:r>
          </a:p>
          <a:p>
            <a:pPr>
              <a:spcBef>
                <a:spcPts val="0"/>
              </a:spcBef>
              <a:spcAft>
                <a:spcPts val="0"/>
              </a:spcAft>
            </a:pPr>
            <a:r>
              <a:rPr sz="1200" b="0">
                <a:solidFill>
                  <a:srgbClr val="E6E6E6"/>
                </a:solidFill>
                <a:latin typeface="Consolas"/>
              </a:rPr>
              <a:t> </a:t>
            </a:r>
          </a:p>
          <a:p>
            <a:pPr>
              <a:spcBef>
                <a:spcPts val="0"/>
              </a:spcBef>
              <a:spcAft>
                <a:spcPts val="0"/>
              </a:spcAft>
            </a:pPr>
            <a:r>
              <a:rPr sz="1200" b="0">
                <a:solidFill>
                  <a:srgbClr val="7EC699"/>
                </a:solidFill>
                <a:latin typeface="Consolas"/>
              </a:rPr>
              <a:t>-- 원본 보존(롤백 대비)</a:t>
            </a:r>
          </a:p>
          <a:p>
            <a:pPr>
              <a:spcBef>
                <a:spcPts val="0"/>
              </a:spcBef>
              <a:spcAft>
                <a:spcPts val="0"/>
              </a:spcAft>
            </a:pPr>
            <a:r>
              <a:rPr sz="1200" b="0">
                <a:solidFill>
                  <a:srgbClr val="E6E6E6"/>
                </a:solidFill>
                <a:latin typeface="Consolas"/>
              </a:rPr>
              <a:t>SYS@cdb1&gt; ALTER DATABASE MOVE DATAFILE 27</a:t>
            </a:r>
          </a:p>
          <a:p>
            <a:pPr>
              <a:spcBef>
                <a:spcPts val="0"/>
              </a:spcBef>
              <a:spcAft>
                <a:spcPts val="0"/>
              </a:spcAft>
            </a:pPr>
            <a:r>
              <a:rPr sz="1200" b="0">
                <a:solidFill>
                  <a:srgbClr val="E6E6E6"/>
                </a:solidFill>
                <a:latin typeface="Consolas"/>
              </a:rPr>
              <a:t>  2    TO '/u02/.../app_main01.dbf' KEEP;</a:t>
            </a:r>
          </a:p>
          <a:p>
            <a:pPr>
              <a:spcBef>
                <a:spcPts val="0"/>
              </a:spcBef>
              <a:spcAft>
                <a:spcPts val="0"/>
              </a:spcAft>
            </a:pPr>
            <a:r>
              <a:rPr sz="1200" b="0">
                <a:solidFill>
                  <a:srgbClr val="E6E6E6"/>
                </a:solidFill>
                <a:latin typeface="Consolas"/>
              </a:rPr>
              <a:t>Database altered.</a:t>
            </a:r>
          </a:p>
          <a:p>
            <a:pPr>
              <a:spcBef>
                <a:spcPts val="0"/>
              </a:spcBef>
              <a:spcAft>
                <a:spcPts val="0"/>
              </a:spcAft>
            </a:pPr>
            <a:r>
              <a:rPr sz="1200" b="0">
                <a:solidFill>
                  <a:srgbClr val="E6E6E6"/>
                </a:solidFill>
                <a:latin typeface="Consolas"/>
              </a:rPr>
              <a:t> </a:t>
            </a:r>
          </a:p>
          <a:p>
            <a:pPr>
              <a:spcBef>
                <a:spcPts val="0"/>
              </a:spcBef>
              <a:spcAft>
                <a:spcPts val="0"/>
              </a:spcAft>
            </a:pPr>
            <a:r>
              <a:rPr sz="1200" b="0">
                <a:solidFill>
                  <a:srgbClr val="7EC699"/>
                </a:solidFill>
                <a:latin typeface="Consolas"/>
              </a:rPr>
              <a:t>-- 진행률 모니터링</a:t>
            </a:r>
          </a:p>
          <a:p>
            <a:pPr>
              <a:spcBef>
                <a:spcPts val="0"/>
              </a:spcBef>
              <a:spcAft>
                <a:spcPts val="0"/>
              </a:spcAft>
            </a:pPr>
            <a:r>
              <a:rPr sz="1200" b="0">
                <a:solidFill>
                  <a:srgbClr val="E6E6E6"/>
                </a:solidFill>
                <a:latin typeface="Consolas"/>
              </a:rPr>
              <a:t>SYS@cdb1&gt; SELECT opname, sofar, totalwork</a:t>
            </a:r>
          </a:p>
          <a:p>
            <a:pPr>
              <a:spcBef>
                <a:spcPts val="0"/>
              </a:spcBef>
              <a:spcAft>
                <a:spcPts val="0"/>
              </a:spcAft>
            </a:pPr>
            <a:r>
              <a:rPr sz="1200" b="0">
                <a:solidFill>
                  <a:srgbClr val="E6E6E6"/>
                </a:solidFill>
                <a:latin typeface="Consolas"/>
              </a:rPr>
              <a:t>  2  FROM v$session_longops</a:t>
            </a:r>
          </a:p>
          <a:p>
            <a:pPr>
              <a:spcBef>
                <a:spcPts val="0"/>
              </a:spcBef>
              <a:spcAft>
                <a:spcPts val="0"/>
              </a:spcAft>
            </a:pPr>
            <a:r>
              <a:rPr sz="1200" b="0">
                <a:solidFill>
                  <a:srgbClr val="E6E6E6"/>
                </a:solidFill>
                <a:latin typeface="Consolas"/>
              </a:rPr>
              <a:t>  3  WHERE opname LIKE '%Move%';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확인 퀴즈</a:t>
            </a:r>
          </a:p>
        </p:txBody>
      </p:sp>
      <p:sp>
        <p:nvSpPr>
          <p:cNvPr id="4" name="TextBox 3"/>
          <p:cNvSpPr txBox="1"/>
          <p:nvPr/>
        </p:nvSpPr>
        <p:spPr>
          <a:xfrm>
            <a:off x="640080" y="1280160"/>
            <a:ext cx="10881360" cy="5029200"/>
          </a:xfrm>
          <a:prstGeom prst="rect">
            <a:avLst/>
          </a:prstGeom>
          <a:noFill/>
        </p:spPr>
        <p:txBody>
          <a:bodyPr wrap="square">
            <a:spAutoFit/>
          </a:bodyPr>
          <a:lstStyle/>
          <a:p>
            <a:pPr>
              <a:spcBef>
                <a:spcPts val="600"/>
              </a:spcBef>
              <a:spcAft>
                <a:spcPts val="600"/>
              </a:spcAft>
            </a:pPr>
            <a:r>
              <a:rPr sz="1700" b="1">
                <a:solidFill>
                  <a:srgbClr val="C0392B"/>
                </a:solidFill>
                <a:latin typeface="Malgun Gothic"/>
              </a:rPr>
              <a:t>Q1. 19c에서 CREATE TABLESPACE를 아무 관리 절 없이 실행하면 자동 적용되는 익스텐트/세그먼트 관리 방식은?</a:t>
            </a:r>
          </a:p>
          <a:p>
            <a:pPr>
              <a:spcAft>
                <a:spcPts val="1400"/>
              </a:spcAft>
            </a:pPr>
            <a:r>
              <a:rPr sz="1500" b="0">
                <a:solidFill>
                  <a:srgbClr val="5A6672"/>
                </a:solidFill>
                <a:latin typeface="Malgun Gothic"/>
              </a:rPr>
              <a:t>정답: EXTENT MANAGEMENT LOCAL(AUTOALLOCATE) + SEGMENT SPACE MANAGEMENT AUTO(ASSM). 딕셔너리 경합이 없고 FREELIST 튜닝이 불필요한 19c 기본·권장 방식이다.</a:t>
            </a:r>
          </a:p>
          <a:p>
            <a:pPr>
              <a:spcBef>
                <a:spcPts val="600"/>
              </a:spcBef>
              <a:spcAft>
                <a:spcPts val="600"/>
              </a:spcAft>
            </a:pPr>
            <a:r>
              <a:rPr sz="1700" b="1">
                <a:solidFill>
                  <a:srgbClr val="C0392B"/>
                </a:solidFill>
                <a:latin typeface="Malgun Gothic"/>
              </a:rPr>
              <a:t>Q2. 빅파일과 스몰파일 테이블스페이스의 근본적 차이는?</a:t>
            </a:r>
          </a:p>
          <a:p>
            <a:pPr>
              <a:spcAft>
                <a:spcPts val="1400"/>
              </a:spcAft>
            </a:pPr>
            <a:r>
              <a:rPr sz="1500" b="0">
                <a:solidFill>
                  <a:srgbClr val="5A6672"/>
                </a:solidFill>
                <a:latin typeface="Malgun Gothic"/>
              </a:rPr>
              <a:t>정답: 빅파일은 정확히 하나의 매우 큰 데이터 파일, 스몰파일은 최대 1022개 파일로 구성된다. 빅파일은 ALTER TABLESPACE ... RESIZE로 테이블스페이스를 직접 리사이즈할 수 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확인 퀴즈</a:t>
            </a:r>
          </a:p>
        </p:txBody>
      </p:sp>
      <p:sp>
        <p:nvSpPr>
          <p:cNvPr id="4" name="TextBox 3"/>
          <p:cNvSpPr txBox="1"/>
          <p:nvPr/>
        </p:nvSpPr>
        <p:spPr>
          <a:xfrm>
            <a:off x="640080" y="1280160"/>
            <a:ext cx="10881360" cy="5029200"/>
          </a:xfrm>
          <a:prstGeom prst="rect">
            <a:avLst/>
          </a:prstGeom>
          <a:noFill/>
        </p:spPr>
        <p:txBody>
          <a:bodyPr wrap="square">
            <a:spAutoFit/>
          </a:bodyPr>
          <a:lstStyle/>
          <a:p>
            <a:pPr>
              <a:spcBef>
                <a:spcPts val="600"/>
              </a:spcBef>
              <a:spcAft>
                <a:spcPts val="600"/>
              </a:spcAft>
            </a:pPr>
            <a:r>
              <a:rPr sz="1700" b="1">
                <a:solidFill>
                  <a:srgbClr val="C0392B"/>
                </a:solidFill>
                <a:latin typeface="Malgun Gothic"/>
              </a:rPr>
              <a:t>Q3. 새 사용자의 기본 테이블스페이스가 SYSTEM으로 잡히는 것을 막으려면?</a:t>
            </a:r>
          </a:p>
          <a:p>
            <a:pPr>
              <a:spcAft>
                <a:spcPts val="1400"/>
              </a:spcAft>
            </a:pPr>
            <a:r>
              <a:rPr sz="1500" b="0">
                <a:solidFill>
                  <a:srgbClr val="5A6672"/>
                </a:solidFill>
                <a:latin typeface="Malgun Gothic"/>
              </a:rPr>
              <a:t>정답: ALTER DATABASE DEFAULT TABLESPACE로 기본 영구 테이블스페이스를 USERS나 전용 업무 테이블스페이스로 지정한다. 데이터베이스/PDB 생성 직후 필수 작업이다.</a:t>
            </a:r>
          </a:p>
          <a:p>
            <a:pPr>
              <a:spcBef>
                <a:spcPts val="600"/>
              </a:spcBef>
              <a:spcAft>
                <a:spcPts val="600"/>
              </a:spcAft>
            </a:pPr>
            <a:r>
              <a:rPr sz="1700" b="1">
                <a:solidFill>
                  <a:srgbClr val="C0392B"/>
                </a:solidFill>
                <a:latin typeface="Malgun Gothic"/>
              </a:rPr>
              <a:t>Q4. 세그먼트가 든 테이블스페이스를 객체·물리 파일까지 모두 지우려면?</a:t>
            </a:r>
          </a:p>
          <a:p>
            <a:pPr>
              <a:spcAft>
                <a:spcPts val="1400"/>
              </a:spcAft>
            </a:pPr>
            <a:r>
              <a:rPr sz="1500" b="0">
                <a:solidFill>
                  <a:srgbClr val="5A6672"/>
                </a:solidFill>
                <a:latin typeface="Malgun Gothic"/>
              </a:rPr>
              <a:t>정답: DROP TABLESPACE ts INCLUDING CONTENTS AND DATAFILES. 절 없이는 ORA-01549로 거부되며, 참조 제약이 걸려 있으면 CASCADE CONSTRAINTS도 필요하다.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확인 퀴즈</a:t>
            </a:r>
          </a:p>
        </p:txBody>
      </p:sp>
      <p:sp>
        <p:nvSpPr>
          <p:cNvPr id="4" name="TextBox 3"/>
          <p:cNvSpPr txBox="1"/>
          <p:nvPr/>
        </p:nvSpPr>
        <p:spPr>
          <a:xfrm>
            <a:off x="640080" y="1280160"/>
            <a:ext cx="10881360" cy="5029200"/>
          </a:xfrm>
          <a:prstGeom prst="rect">
            <a:avLst/>
          </a:prstGeom>
          <a:noFill/>
        </p:spPr>
        <p:txBody>
          <a:bodyPr wrap="square">
            <a:spAutoFit/>
          </a:bodyPr>
          <a:lstStyle/>
          <a:p>
            <a:pPr>
              <a:spcBef>
                <a:spcPts val="600"/>
              </a:spcBef>
              <a:spcAft>
                <a:spcPts val="600"/>
              </a:spcAft>
            </a:pPr>
            <a:r>
              <a:rPr sz="1700" b="1">
                <a:solidFill>
                  <a:srgbClr val="C0392B"/>
                </a:solidFill>
                <a:latin typeface="Malgun Gothic"/>
              </a:rPr>
              <a:t>Q5. DB_CREATE_FILE_DEST 설정 후 CREATE TABLESPACE omf_data; 를 실행하면?</a:t>
            </a:r>
          </a:p>
          <a:p>
            <a:pPr>
              <a:spcAft>
                <a:spcPts val="1400"/>
              </a:spcAft>
            </a:pPr>
            <a:r>
              <a:rPr sz="1500" b="0">
                <a:solidFill>
                  <a:srgbClr val="5A6672"/>
                </a:solidFill>
                <a:latin typeface="Malgun Gothic"/>
              </a:rPr>
              <a:t>정답: Oracle이 그 위치에 o1_mf_로 시작하는 OMF 데이터 파일을 자동 생성한다(기본 100MB·자동확장). DROP 시 파일도 자동 삭제되어 고아 파일이 없다.</a:t>
            </a:r>
          </a:p>
          <a:p>
            <a:pPr>
              <a:spcBef>
                <a:spcPts val="600"/>
              </a:spcBef>
              <a:spcAft>
                <a:spcPts val="600"/>
              </a:spcAft>
            </a:pPr>
            <a:r>
              <a:rPr sz="1700" b="1">
                <a:solidFill>
                  <a:srgbClr val="C0392B"/>
                </a:solidFill>
                <a:latin typeface="Malgun Gothic"/>
              </a:rPr>
              <a:t>Q6. 운영 중 무중단으로 데이터 파일을 다른 스토리지로 옮기려면? 원본 보존은?</a:t>
            </a:r>
          </a:p>
          <a:p>
            <a:pPr>
              <a:spcAft>
                <a:spcPts val="1400"/>
              </a:spcAft>
            </a:pPr>
            <a:r>
              <a:rPr sz="1500" b="0">
                <a:solidFill>
                  <a:srgbClr val="5A6672"/>
                </a:solidFill>
                <a:latin typeface="Malgun Gothic"/>
              </a:rPr>
              <a:t>정답: ALTER DATABASE MOVE DATAFILE '원본' TO '대상'; 을 사용하며 KEEP 절로 원본을 보존한다. 이동 중에도 DML이 계속되고 REUSE로 기존 파일을 덮어쓸 수 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80160"/>
            <a:ext cx="10881360" cy="5029200"/>
          </a:xfrm>
          <a:prstGeom prst="rect">
            <a:avLst/>
          </a:prstGeom>
          <a:noFill/>
        </p:spPr>
        <p:txBody>
          <a:bodyPr wrap="square">
            <a:spAutoFit/>
          </a:bodyPr>
          <a:lstStyle/>
          <a:p>
            <a:pPr>
              <a:spcAft>
                <a:spcPts val="1000"/>
              </a:spcAft>
            </a:pPr>
            <a:r>
              <a:rPr sz="1600" b="0">
                <a:solidFill>
                  <a:srgbClr val="C0392B"/>
                </a:solidFill>
                <a:latin typeface="Malgun Gothic"/>
              </a:rPr>
              <a:t>•  CREATE TABLESPACE로 영구·임시·언두 생성 — 19c 기본: 로컬 관리·ASSM·LOGGING·스몰파일</a:t>
            </a:r>
          </a:p>
          <a:p>
            <a:pPr>
              <a:spcAft>
                <a:spcPts val="1000"/>
              </a:spcAft>
            </a:pPr>
            <a:r>
              <a:rPr sz="1600" b="0">
                <a:solidFill>
                  <a:srgbClr val="C0392B"/>
                </a:solidFill>
                <a:latin typeface="Malgun Gothic"/>
              </a:rPr>
              <a:t>•  주요 절: BIGFILE/SMALLFILE, EXTENT/SEGMENT 관리, LOGGING/NOLOGGING의 선택 기준</a:t>
            </a:r>
          </a:p>
          <a:p>
            <a:pPr>
              <a:spcAft>
                <a:spcPts val="1000"/>
              </a:spcAft>
            </a:pPr>
            <a:r>
              <a:rPr sz="1600" b="0">
                <a:solidFill>
                  <a:srgbClr val="C0392B"/>
                </a:solidFill>
                <a:latin typeface="Malgun Gothic"/>
              </a:rPr>
              <a:t>•  CDB에서 테이블스페이스는 컨테이너 로컬 객체 — 각 컨테이너에 개별 생성, CDB_TABLESPACES로 조회</a:t>
            </a:r>
          </a:p>
          <a:p>
            <a:pPr>
              <a:spcAft>
                <a:spcPts val="1000"/>
              </a:spcAft>
            </a:pPr>
            <a:r>
              <a:rPr sz="1600" b="0">
                <a:solidFill>
                  <a:srgbClr val="C0392B"/>
                </a:solidFill>
                <a:latin typeface="Malgun Gothic"/>
              </a:rPr>
              <a:t>•  기본 영구·임시 테이블스페이스 지정으로 SYSTEM 보호, 임시 그룹으로 정렬 부하 분산</a:t>
            </a:r>
          </a:p>
          <a:p>
            <a:pPr>
              <a:spcAft>
                <a:spcPts val="1000"/>
              </a:spcAft>
            </a:pPr>
            <a:r>
              <a:rPr sz="1600" b="0">
                <a:solidFill>
                  <a:srgbClr val="C0392B"/>
                </a:solidFill>
                <a:latin typeface="Malgun Gothic"/>
              </a:rPr>
              <a:t>•  ALTER로 온라인/오프라인·읽기전용 전환, DROP의 INCLUDING CONTENTS/AND DATAFILES/CASCADE</a:t>
            </a:r>
          </a:p>
          <a:p>
            <a:pPr>
              <a:spcAft>
                <a:spcPts val="1000"/>
              </a:spcAft>
            </a:pPr>
            <a:r>
              <a:rPr sz="1600" b="0">
                <a:solidFill>
                  <a:srgbClr val="C0392B"/>
                </a:solidFill>
                <a:latin typeface="Malgun Gothic"/>
              </a:rPr>
              <a:t>•  OMF로 파일 자동화, 리사이즈·자동확장·파일 추가로 확장, MOVE DATAFILE로 무중단 이동</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18 개요</a:t>
            </a:r>
          </a:p>
        </p:txBody>
      </p:sp>
      <p:sp>
        <p:nvSpPr>
          <p:cNvPr id="4" name="TextBox 3"/>
          <p:cNvSpPr txBox="1"/>
          <p:nvPr/>
        </p:nvSpPr>
        <p:spPr>
          <a:xfrm>
            <a:off x="640080" y="1280160"/>
            <a:ext cx="10881360" cy="5029200"/>
          </a:xfrm>
          <a:prstGeom prst="rect">
            <a:avLst/>
          </a:prstGeom>
          <a:noFill/>
        </p:spPr>
        <p:txBody>
          <a:bodyPr wrap="square">
            <a:spAutoFit/>
          </a:bodyPr>
          <a:lstStyle/>
          <a:p>
            <a:pPr>
              <a:spcAft>
                <a:spcPts val="1000"/>
              </a:spcAft>
            </a:pPr>
            <a:r>
              <a:rPr sz="1600" b="0">
                <a:solidFill>
                  <a:srgbClr val="C0392B"/>
                </a:solidFill>
                <a:latin typeface="Malgun Gothic"/>
              </a:rPr>
              <a:t>•  18-01 테이블스페이스 생성 및 주요 절(BIGFILE/SMALLFILE 등)</a:t>
            </a:r>
          </a:p>
          <a:p>
            <a:pPr>
              <a:spcAft>
                <a:spcPts val="1000"/>
              </a:spcAft>
            </a:pPr>
            <a:r>
              <a:rPr sz="1600" b="0">
                <a:solidFill>
                  <a:srgbClr val="C0392B"/>
                </a:solidFill>
                <a:latin typeface="Malgun Gothic"/>
              </a:rPr>
              <a:t>•  18-02 CDB에서 컨테이너별 영구 테이블스페이스 생성</a:t>
            </a:r>
          </a:p>
          <a:p>
            <a:pPr>
              <a:spcAft>
                <a:spcPts val="1000"/>
              </a:spcAft>
            </a:pPr>
            <a:r>
              <a:rPr sz="1600" b="0">
                <a:solidFill>
                  <a:srgbClr val="C0392B"/>
                </a:solidFill>
                <a:latin typeface="Malgun Gothic"/>
              </a:rPr>
              <a:t>•  18-03 기본 영구 테이블스페이스 지정</a:t>
            </a:r>
          </a:p>
          <a:p>
            <a:pPr>
              <a:spcAft>
                <a:spcPts val="1000"/>
              </a:spcAft>
            </a:pPr>
            <a:r>
              <a:rPr sz="1600" b="0">
                <a:solidFill>
                  <a:srgbClr val="C0392B"/>
                </a:solidFill>
                <a:latin typeface="Malgun Gothic"/>
              </a:rPr>
              <a:t>•  18-04 임시 테이블스페이스 및 그룹 생성·관리</a:t>
            </a:r>
          </a:p>
          <a:p>
            <a:pPr>
              <a:spcAft>
                <a:spcPts val="1000"/>
              </a:spcAft>
            </a:pPr>
            <a:r>
              <a:rPr sz="1600" b="0">
                <a:solidFill>
                  <a:srgbClr val="C0392B"/>
                </a:solidFill>
                <a:latin typeface="Malgun Gothic"/>
              </a:rPr>
              <a:t>•  18-05 테이블스페이스 변경(온라인/오프라인·읽기전용) 및 삭제</a:t>
            </a:r>
          </a:p>
          <a:p>
            <a:pPr>
              <a:spcAft>
                <a:spcPts val="1000"/>
              </a:spcAft>
            </a:pPr>
            <a:r>
              <a:rPr sz="1600" b="0">
                <a:solidFill>
                  <a:srgbClr val="C0392B"/>
                </a:solidFill>
                <a:latin typeface="Malgun Gothic"/>
              </a:rPr>
              <a:t>•  18-06 OMF로 테이블스페이스 관리</a:t>
            </a:r>
          </a:p>
          <a:p>
            <a:pPr>
              <a:spcAft>
                <a:spcPts val="1000"/>
              </a:spcAft>
            </a:pPr>
            <a:r>
              <a:rPr sz="1600" b="0">
                <a:solidFill>
                  <a:srgbClr val="C0392B"/>
                </a:solidFill>
                <a:latin typeface="Malgun Gothic"/>
              </a:rPr>
              <a:t>•  18-07 데이터 파일 추가·자동확장으로 데이터베이스 확장</a:t>
            </a:r>
          </a:p>
          <a:p>
            <a:pPr>
              <a:spcAft>
                <a:spcPts val="1000"/>
              </a:spcAft>
            </a:pPr>
            <a:r>
              <a:rPr sz="1600" b="0">
                <a:solidFill>
                  <a:srgbClr val="C0392B"/>
                </a:solidFill>
                <a:latin typeface="Malgun Gothic"/>
              </a:rPr>
              <a:t>•  18-08 온라인 데이터 파일 이동 및 이름 변경</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
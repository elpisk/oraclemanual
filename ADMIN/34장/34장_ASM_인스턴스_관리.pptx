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ASM은 Oracle이 10g에서 도입한 이래 권장해 온 데이터베이스 파일 저장소 관리 방식이다. 논리 볼륨 매니저와 파일 시스템의 역할을 하나로 통합하여, 데이터파일·컨트롤파일·리두로그·아카이브로그·백업 조각 등 데이터베이스가 사용하는 모든 파일을 디스크 그룹 단위로 관리한다. 관리자는 개별 파일의 물리적 위치를 지정하지 않고 디스크 그룹만 지정하며, 실제 배치는 ASM이 자동으로 처리한다. 파일은 디스크 그룹 내 모든 디스크에 스트라이핑되어 I/O 병목이 사라지고, 리던던시 설정에 따라 미러링이 자동 적용되어 디스크 장애에도 데이터가 보존된다.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인스턴스는 일반 데이터베이스 인스턴스와 구조가 유사하여 SGA와 백그라운드 프로세스를 가지지만, 데이터파일을 마운트하거나 오픈하지 않는다는 점이 결정적으로 다르다. ASM 인스턴스에는 제어파일도 데이터 딕셔너리도 사용자 테이블도 없다. 그 임무는 디스크 그룹 메타데이터를 관리하고 데이터베이스 인스턴스에 익스텐트 맵을 제공하는 것이다. 실제 데이터 I/O는 DB 인스턴스가 ASM이 알려준 위치로 직접 수행하므로 ASM이 I/O 병목이 되지 않는다. 고유 프로세스로 리밸런싱을 조율하는 RBAL, 익스텐트를 이동하는 ARBn, DB와 ASM을 연결하는 ASMB가 있으며 단일 노드와 RAC를 모두 지원한다.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ASM은 파일을 익스텐트 단위로 나누어 디스크 그룹의 모든 디스크에 라운드로빈으로 분산한다. 스트라이핑에는 두 방식이 있다. COARSE 스트라이핑은 할당 단위(AU, 기본 1MB) 크기로 분산하여 대용량 순차 I/O에 적합하고, FINE 스트라이핑은 128KB 단위로 더 잘게 쪼개 지연에 민감한 컨트롤파일·리두로그의 작은 I/O에 유리하다. 파일 유형별 스트라이핑과 리던던시는 템플릿으로 결정되며 Oracle이 합리적 기본값을 자동 적용한다. 이렇게 ASM은 사람이 볼륨을 잘게 나누고 배치하는 수고를 없애면서도 성능과 가용성을 동시에 확보한다.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인스턴스도 SPFILE로 구성하며 ASM 전용 파라미터는 대부분 ASM_ 접두어를 가진다. INSTANCE_TYPE을 ASM으로 설정하면 ASM 인스턴스로 기동하고 기본값 RDBMS이면 일반 DB 인스턴스로 기동한다. ASM_DISKGROUPS는 기동 시 자동 마운트할 디스크 그룹 목록으로 SPFILE 사용 시 자동 갱신된다. ASM_DISKSTRING은 디스크 검색 경로 패턴으로 너무 넓으면 검색이 느려지고 좁으면 디스크를 못 찾는다. ASM_POWER_LIMIT은 리밸런싱 속도로 기본 1, 호환성에 따라 0~1024 범위이며 0이면 일시 정지한다. SPFILE은 디스크 그룹에 두어 클러스터 노드가 공유한다.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인스턴스에는 sqlplus / as sysasm로 접속한다. SHOW PARAMETER instance_type로 값이 asm인지 확인하고, SHOW PARAMETER asm으로 ASM 관련 파라미터를 한꺼번에 볼 수 있다. ASM_POWER_LIMIT은 ALTER SYSTEM으로 동적 변경이 가능하며 SCOPE=BOTH로 메모리와 SPFILE에 모두 반영한다. 업무 시간대에는 리밸런싱 부하를 줄이기 위해 낮게(1~2), 유지보수 창에서는 빨리 끝내기 위해 높게 설정하는 것이 실무 지침이다. 값이 클수록 더 많은 ARBn 프로세스가 동원되어 리밸런싱이 빨리 끝나지만 I/O 자원 소비가 커진다.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Oracle은 ASM 관리 권한을 DB 관리 권한과 분리하기 위해 11g에서 SYSASM을 도입했다. SYSASM은 디스크 그룹 생성·삭제, 디스크 추가·삭제, 리밸런싱 등 ASM 전반을 관리하는 최고 권한이다. SYSDBA는 DB 인스턴스가 파일에 접근할 때 사용하지만 ASM 관리 작업에는 권장되지 않으며, SYSOPER는 시작·종료와 마운트·언마운트 같은 운영으로 한정된다. 세 권한은 OS 그룹으로도 반영되어 OSASM(asmadmin)은 SYSASM에, OSDBA for ASM(asmdba)은 SYSDBA에, OSOPER for ASM(asmoper)은 SYSOPER에 매핑된다. 11g 이후 ASM 관리는 SYSASM으로 수행하는 것이 표준이다.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인증에는 두 가지 방식이 있다. 첫째, OS 인증은 OSASM 등 OS 그룹 소속을 근거로 로컬에서 비밀번호 없이 접속하는 방식으로, 서버에 직접 로그인한 관리자에게만 유효하다. 예컨대 asmadmin 그룹에 속한 grid 사용자는 sqlplus / as sysasm로 접속할 수 있다. 둘째, 비밀번호 파일 인증은 원격 접속이나 관리 도구에서 사용자명과 비밀번호로 인증하는 방식으로, ASM 비밀번호 파일이 존재하고 권한을 부여받은 사용자가 등록되어 있어야 한다. 등록된 사용자는 V$PWFILE_USERS 뷰로 확인한다. RAC나 Flex ASM에서는 모든 노드가 동일한 비밀번호 파일을 공유해야 하므로 디스크 그룹에 두는 것이 표준이다.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비밀번호 파일은 원격·비밀번호 기반 인증을 위해 SYSASM 등 관리 권한 사용자의 자격증명을 담는다. orapwd 유틸리티로 생성할 때 asm=y와 format=12 옵션을 주고 대상 경로를 디스크 그룹(+DATA)으로 지정하면 공유 비밀번호 파일이 만들어진다. ASMCMD의 pwget으로 현재 위치를 조회하고, pwcreate로 생성, pwcopy로 복사, pwmove로 이동, pwset으로 인스턴스가 참조할 위치를 등록한다. 로컬 파일 시스템에 노드별로 흩어져 있으면 RAC에서 인증 오류가 발생하므로, pwcopy로 디스크 그룹에 옮기고 pwset으로 등록하여 모든 노드가 하나의 파일을 공유하도록 구성하는 것이 표준이다.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 그룹은 ASM이 관리하는 저장소의 기본 논리 단위다. 하나 이상의 ASM 디스크를 묶어 만들며 데이터베이스는 이를 하나의 큰 저장 공간처럼 사용한다. 저장 파일은 자동으로 모든 디스크에 스트라이핑되고 리던던시에 따라 미러 복사본이 다른 실패 그룹에 배치된다. 보통 데이터파일용 DATA와 백업·아카이브용 FRA를 분리 구성한다. ASM은 내부적으로 저장을 할당 단위(AU)로 나누며 AU_SIZE로 1MB부터 64MB까지 지정한다. 용량 계획에서는 V$ASM_DISKGROUP의 USABLE_FILE_MB로 미러 오버헤드와 예비 공간을 제외한 실제 쓸 수 있는 용량을 판단해야 하며, 이 값이 음수이면 즉시 증설이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DISKGROUP 문으로 디스크 그룹을 만든다. 리던던시 유형(여기서는 NORMAL)을 지정하고, FAILGROUP 절로 실패 그룹을 정의하며 각 디스크에 경로와 NAME을 부여한다. ATTRIBUTE 절에서 au_size(할당 단위 크기)와 호환성 속성을 함께 지정한다. NORMAL 리던던시는 미러 복사본을 다른 실패 그룹에 두어야 하므로 최소 2개의 실패 그룹이 필요하다. 생성 후 V$ASM_DISKGROUP에서 상태가 MOUNTED인지, TOTAL_MB/FREE_MB가 예상과 맞는지 확인한다. 새 디스크 그룹에 사용할 디스크는 V$ASM_DISK에서 HEADER_STATUS가 CANDIDATE 또는 PROVISIONED여야 하며, 이미 MEMBER인 디스크는 강제 옵션 없이 재사용할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리던던시는 디스크 그룹이 데이터의 미러 복사본을 몇 개 유지할지를 정한다. ASM은 익스텐트 단위로 미러링하며 미러 복사본은 반드시 다른 실패 그룹에 배치한다. EXTERNAL은 ASM이 미러링하지 않고 스토리지 어레이의 하드웨어 RAID에 보호를 위임하여 용량이 가장 크지만 보호는 외부에 달려 있다. NORMAL은 2중 미러로 실패 그룹 1개 장애를, HIGH는 3중 미러로 실패 그룹 2개 동시 장애까지 견딘다. 19c의 FLEX는 파일 그룹 단위로 리던던시를 다르게 지정할 수 있다. 리던던시가 높을수록 안전하지만 실제 가용 용량은 NORMAL이 약 1/2, HIGH가 약 1/3로 줄어들므로 용량 설계 시 반드시 고려해야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실패 그룹은 함께 고장 날 수 있는 디스크들의 묶음이다. 같은 디스크 컨트롤러나 같은 스토리지 셸프에 연결된 디스크들은 그 컨트롤러/셸프가 고장 나면 동시에 접근 불가가 되므로 하나의 실패 그룹으로 묶는다. ASM은 어떤 익스텐트의 기본 복사본과 미러 복사본을 절대 같은 실패 그룹에 두지 않으므로, 실패 그룹을 하드웨어 장애 경계에 맞춰 정의하면 컨트롤러 하나가 통째로 죽어도 데이터를 잃지 않는다. 실패 그룹을 명시하지 않으면 각 디스크가 자체 실패 그룹이 되며, 최소한 리던던시 레벨만큼의 실패 그룹(NORMAL 2개, HIGH 3개, FLEX 3개)이 있어야 디스크 그룹을 만들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 그룹 용량을 늘리거나 노후 디스크를 교체하려면 ALTER DISKGROUP으로 디스크를 추가·삭제한다. ADD DISK는 기존 데이터를 새 디스크로 자동 재분산하고 DROP DISK는 데이터를 남은 디스크로 옮긴 뒤 분리한다. 이 재분산이 리밸런싱이며 온라인으로 진행되어 무중단 확장·축소가 가능하다. 여러 디스크를 추가·삭제할 때는 반드시 하나의 문장에 모아 리밸런싱이 한 번만 일어나게 해야 한다. DROP DISK는 문장이 즉시 완료돼도 실제 분리는 리밸런싱 후에 이뤄지므로 STATE가 DROPPING에서 FORMER로 바뀔 때까지 물리 제거를 미뤄야 한다. 진행 상황은 V$ASM_OPERATION의 EST_MINUTES로 확인하고 WAIT로 동기화한다.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 추가와 삭제를 하나의 ALTER DISKGROUP 문에 모으면 리밸런싱이 한 번만 발생한다. ADD DISK와 DROP DISK를 함께 쓰고 REBALANCE POWER로 속도를 지정한다. POWER는 0~1024이며 클수록 빨리 끝나지만 I/O 부하가 크고, 0이면 리밸런싱이 일시 정지된다. 진행 상황은 V$ASM_OPERATION에서 확인하며 STATE가 RUN이면 진행 중, 뷰가 비면 완료다. EST_MINUTES는 예상 남은 시간을 분 단위로 보여준다. 스크립트에서는 REBALANCE POWER n WAIT를 사용하면 리밸런싱이 끝날 때까지 문장이 반환되지 않아 후속 작업과 안전하게 동기화할 수 있다. 리밸런싱 완료 전에 디스크를 물리적으로 뽑으면 데이터 손실이 발생한다.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 스크러빙은 12c에서 도입되고 19c에서 강화된 데이터 무결성 검사·복구 기능이다. 시간이 지나면서 매체 열화나 비트 부패로 인한 논리적 손상이 조용히 쌓일 수 있는데, 스크러빙은 디스크 그룹·디스크·파일 단위로 데이터를 읽어 체크섬을 검증하고 손상을 발견하면 NORMAL/HIGH 리던던시의 미러 복사본으로 자동 복구한다. ALTER DISKGROUP ... SCRUB 문으로 실행하며 REPAIR 옵션을 주면 복구까지, 생략하면 검사만 한다. POWER 절(LOW/HIGH/MAX/AUTO)로 I/O 강도를 조절하고 유휴 대역을 활용해 서비스 영향을 최소화한다. 리밸런싱은 분포를, 미러 재동기화는 변경분 따라잡기를, 스크러빙은 무결성을 다루는 서로 다른 작업이다.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디스크 그룹의 호환성 속성은 그 디스크 그룹에서 사용할 수 있는 기능의 최소 버전을 규정한다. COMPATIBLE.ASM은 메타데이터를 관리하는 ASM 소프트웨어의 최소 버전, COMPATIBLE.RDBMS는 파일을 사용할 수 있는 DB 인스턴스의 최소 버전, COMPATIBLE.ADVM은 ADVM 볼륨과 ACFS를 쓰기 위한 최소 버전이다. COMPATIBLE.ASM은 COMPATIBLE.RDBMS 이상이어야 한다. 가장 중요한 특징은 한 번 올리면 되돌릴 수 없다는 점이므로 롤백 계획이 필요한 환경에서는 신중해야 한다. 반면 Flex 디스크 그룹·파일 그룹·쿼터 그룹·향상된 스크러빙 등 19c 신기능은 호환성을 12.2 또는 19.0 이상으로 올려야 활성화되므로, 새 디스크 그룹은 최신 버전에 맞춰 설정하는 것이 일반적이다.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ASM Flex 디스크 그룹은 멀티테넌트 환경의 저장소 관리를 세분화하기 위한 19c 기능이다. 전통적 디스크 그룹은 리던던시가 전체에 획일 적용되지만, Flex 디스크 그룹은 논리적 경계인 파일 그룹을 두어 DB 또는 PDB 단위로 리던던시와 공간 정책을 개별 설정한다. FLEX REDUNDANCY로 생성하며 최소 3개 실패 그룹과 12.2 이상 호환성이 필요하다. 파일 그룹은 하나의 DB/PDB에 속한 파일 집합으로 데이터베이스 생성 시 자동으로 만들어지며 개별 리던던시를 지정할 수 있다. 쿼터 그룹은 여러 파일 그룹의 합계 사용량 상한을 정해 특정 테넌트가 공간을 독점하지 못하게 하고 부서·고객별 용량을 계약 한도로 통제한다.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 디스크 그룹은 FLEX REDUNDANCY로 생성하며 실패 그룹을 3개 이상 두고 호환성을 19.0으로 설정한다. 쿼터 그룹은 ALTER DISKGROUP ... ADD QUOTAGROUP으로 만들고 quota 속성으로 상한을 지정한다. 파일 그룹은 ADD FILEGROUP으로 만들며 DATABASE 절로 대상 데이터베이스/PDB를 지정하고, redundancy 속성으로 개별 보호 수준을, quota_group 속성으로 소속 쿼터 그룹을 지정한다. 이렇게 하면 salespdb는 HIGH 리던던시로 강하게 보호되면서 sales_qg 쿼터 그룹의 500G 한도 안에서만 공간을 사용한다. 구성 결과는 V$ASM_FILEGROUP과 관련 뷰로 확인하며, MOVE 절로 파일 그룹을 다른 쿼터 그룹으로 재배치할 수도 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파일은 항상 +로 시작하는 이름을 가진다. 완전한 이름은 ASM이 자동 부여하는 시스템 생성 이름으로 +디스크그룹/DB이름/파일유형/태그.파일번호.증분번호 형식이며 유일성이 보장된다. 별칭은 사람이 읽기 쉬운 사용자 지정 이름으로 디렉터리 경로처럼 지정하며 실제 파일을 가리키는 포인터다. 파일 생성 시 +DATA처럼 디스크 그룹만 지정하면 완전한 이름이 자동 생성되고, OMF와 결합하면 파일명을 신경 쓰지 않아도 된다. 템플릿은 파일 유형이 새로 만들어질 때 적용할 기본 리던던시·스트라이핑을 정의한 것으로, 디스크 그룹 생성 시 유형별 시스템 템플릿이 자동 생성된다. ADD TEMPLATE로 사용자 정의 템플릿을 만들어 특정 파일에 다른 정책을 적용할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ASMCMD는 ASM 저장소를 명령행에서 파일 시스템처럼 탐색·관리하는 유틸리티다. asmcmd를 실행하면 ASMCMD&gt; 프롬프트가 나타나고 ls, cd, pwd, mkdir/rmdir, cp, rm, du, find 같은 셸 명령을 쓸 수 있다. ASM 파일을 로컬로, 또는 그 반대로 복사할 수 있어 백업·마이그레이션에도 쓰인다. lsdg는 디스크 그룹과 여유 공간을, lsdsk는 디스크를, lsct는 접속 클라이언트를, lsop은 진행 중인 작업을 보여준다. 디스크 그룹 마운트, SPFILE·비밀번호 파일 관리, 볼륨/ACFS 관리도 지원한다. lsdg의 Usable_file_MB로 리던던시를 반영한 실제 여유 공간을 판단하며, 스크립트에서는 프롬프트 없이 asmcmd 명령 형식으로 자동화한다.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asmcmd -p는 프롬프트에 현재 경로를 표시하는 옵션이다. lsdg는 각 디스크 그룹의 총 용량, 여유 공간, 그리고 리던던시를 반영한 실제 사용 가능 용량(Usable_file_MB)을 보여준다. NORMAL 리던던시 DATA는 총 40960MB지만 미러링 때문에 실제로는 약 17008MB만 새 파일에 쓸 수 있다. cd로 디스크 그룹 내부 디렉터리로 이동하고 ls -l로 리던던시·스트라이핑·시스템 파일 여부까지 확인한다. cp 명령으로 ASM 파일을 로컬 파일 시스템으로 복사해 백업하거나 이관할 수 있다. du는 사용량을, find는 파일 검색을 제공하며 iostat로 디스크별 성능 통계를 모니터링할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파일 시스템의 데이터베이스를 ASM으로 옮기는 표준 방법은 RMAN을 사용하는 것이다. ASM 파일은 OS 명령으로 직접 다룰 수 없으므로 RMAN의 이미지 카피 기반 절차를 쓴다. 먼저 db_create_file_dest를 +DATA로, db_recovery_file_dest를 +FRA로 바꾼다. 데이터베이스를 MOUNT 상태로 두고 BACKUP AS COPY DATABASE FORMAT '+DATA'로 전체 데이터파일을 디스크 그룹에 복사한 뒤 SWITCH DATABASE TO COPY로 컨트롤파일이 ASM 복사본을 현재 데이터파일로 인식하게 만든다. 컨트롤파일·리두로그·임시파일도 각각 ASM으로 재생성·이동한 뒤 오픈하면 완료된다. 이관 후 V$DATAFILE·V$LOGFILE의 경로가 모두 +로 시작하는지 확인하며, 다운타임을 수반하므로 유지보수 창에서 전체 백업을 확보하고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마이그레이션은 MOUNT 상태에서 진행한다. 먼저 db_create_file_dest를 +DATA로 SPFILE에 설정한다. RMAN에 접속해 STARTUP MOUNT 후 BACKUP AS COPY DATABASE FORMAT '+DATA'로 모든 데이터파일을 디스크 그룹에 이미지 카피로 복사한다. SWITCH DATABASE TO COPY를 실행하면 컨트롤파일이 방금 만든 ASM 복사본을 현재 데이터파일로 채택한다. 리두로그는 ALTER DATABASE ADD LOGFILE로 ASM에 새 멤버를 만들고 구멤버를 삭제해 이동하며, 임시 테이블스페이스의 TEMP 파일도 +DATA에 재생성해야 정렬 쿼리 오류(ORA-25153)를 피할 수 있다. 오픈 후 V$DATAFILE 경로가 모두 +DATA로 표시되면 이관이 완결된 것이다.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1번은 ASM 인스턴스가 SGA와 백그라운드 프로세스만 가지며 데이터파일·딕셔너리를 마운트하지 않고 메타데이터·익스텐트 맵만 제공한다는 점, 그리고 INSTANCE_TYPE=ASM으로 기동한다는 점이 정답이다. 2번은 NORMAL이 2중 미러로 실패 그룹 1개 장애를, HIGH가 3중 미러로 실패 그룹 2개 장애를 견딘다. 3번은 여러 디스크의 추가·삭제를 한 문장에 모으면 리밸런싱이 한 번만 일어나 불필요한 반복 I/O를 피할 수 있기 때문이다. 개별 문장으로 나누면 매번 리밸런싱이 반복된다. 학습자가 이 세 가지를 스스로 설명할 수 있는지 점검하도록 유도한다.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4번은 스크러빙이 매체 열화·비트 부패로 쌓이는 논리적 손상을 검사하고, REPAIR 옵션을 주면 NORMAL/HIGH 리던던시의 미러 복사본으로 자동 복구한다는 것이 정답이다. 5번은 호환성 속성은 한 번 올리면 되돌릴 수 없으며 COMPATIBLE.ASM은 COMPATIBLE.RDBMS 이상이어야 한다는 점, 그리고 상향해야만 19c 신기능을 쓸 수 있다는 트레이드오프를 이해하는 것이 핵심이다. 6번은 파일 그룹이 DB/PDB 단위로 리던던시 등 보호 정책을 통제하고, 쿼터 그룹이 여러 파일 그룹의 합계 사용량 상한을 통제한다는 점이 정답이다. 정답은 실습문제 정답 문서에서 확인하도록 안내한다.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2184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84800"/>
            <a:ext cx="12192000" cy="1473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3900" y="457200"/>
            <a:ext cx="10693400" cy="546100"/>
          </a:xfrm>
          <a:prstGeom prst="rect">
            <a:avLst/>
          </a:prstGeom>
          <a:noFill/>
        </p:spPr>
        <p:txBody>
          <a:bodyPr wrap="square" anchor="t">
            <a:spAutoFit/>
          </a:bodyPr>
          <a:lstStyle/>
          <a:p>
            <a:pPr algn="l"/>
            <a:r>
              <a:rPr sz="1600" b="0">
                <a:solidFill>
                  <a:srgbClr val="FFFFFF"/>
                </a:solidFill>
                <a:latin typeface="맑은 고딕"/>
              </a:rPr>
              <a:t>Oracle Database 19c: Administration Workshop</a:t>
            </a:r>
          </a:p>
        </p:txBody>
      </p:sp>
      <p:sp>
        <p:nvSpPr>
          <p:cNvPr id="6" name="TextBox 5"/>
          <p:cNvSpPr txBox="1"/>
          <p:nvPr/>
        </p:nvSpPr>
        <p:spPr>
          <a:xfrm>
            <a:off x="723900" y="2311400"/>
            <a:ext cx="10693400" cy="1651000"/>
          </a:xfrm>
          <a:prstGeom prst="rect">
            <a:avLst/>
          </a:prstGeom>
          <a:noFill/>
        </p:spPr>
        <p:txBody>
          <a:bodyPr wrap="square" anchor="t">
            <a:spAutoFit/>
          </a:bodyPr>
          <a:lstStyle/>
          <a:p>
            <a:pPr algn="l"/>
            <a:r>
              <a:rPr sz="3400" b="1">
                <a:solidFill>
                  <a:srgbClr val="C0392B"/>
                </a:solidFill>
                <a:latin typeface="맑은 고딕"/>
              </a:rPr>
              <a:t>ASM 인스턴스 관리</a:t>
            </a:r>
          </a:p>
          <a:p>
            <a:pPr algn="l"/>
            <a:r>
              <a:rPr sz="3400" b="1">
                <a:solidFill>
                  <a:srgbClr val="C0392B"/>
                </a:solidFill>
                <a:latin typeface="맑은 고딕"/>
              </a:rPr>
              <a:t>Managing the ASM Instance</a:t>
            </a:r>
          </a:p>
        </p:txBody>
      </p:sp>
      <p:sp>
        <p:nvSpPr>
          <p:cNvPr id="7" name="TextBox 6"/>
          <p:cNvSpPr txBox="1"/>
          <p:nvPr/>
        </p:nvSpPr>
        <p:spPr>
          <a:xfrm>
            <a:off x="723900" y="4114800"/>
            <a:ext cx="10693400" cy="1092200"/>
          </a:xfrm>
          <a:prstGeom prst="rect">
            <a:avLst/>
          </a:prstGeom>
          <a:noFill/>
        </p:spPr>
        <p:txBody>
          <a:bodyPr wrap="square" anchor="t">
            <a:spAutoFit/>
          </a:bodyPr>
          <a:lstStyle/>
          <a:p>
            <a:pPr algn="l"/>
            <a:r>
              <a:rPr sz="1500" b="0">
                <a:solidFill>
                  <a:srgbClr val="5A6672"/>
                </a:solidFill>
                <a:latin typeface="맑은 고딕"/>
              </a:rPr>
              <a:t>ASM 아키텍처 · 디스크 그룹 · 리던던시 · 리밸런싱/스크러빙 · Flex · ASMCMD · RMAN 마이그레이션</a:t>
            </a:r>
          </a:p>
        </p:txBody>
      </p:sp>
      <p:sp>
        <p:nvSpPr>
          <p:cNvPr id="8" name="TextBox 7"/>
          <p:cNvSpPr txBox="1"/>
          <p:nvPr/>
        </p:nvSpPr>
        <p:spPr>
          <a:xfrm>
            <a:off x="723900" y="5575300"/>
            <a:ext cx="10693400" cy="914400"/>
          </a:xfrm>
          <a:prstGeom prst="rect">
            <a:avLst/>
          </a:prstGeom>
          <a:noFill/>
        </p:spPr>
        <p:txBody>
          <a:bodyPr wrap="square" anchor="t">
            <a:spAutoFit/>
          </a:bodyPr>
          <a:lstStyle/>
          <a:p>
            <a:pPr algn="l"/>
            <a:r>
              <a:rPr sz="2000" b="1">
                <a:solidFill>
                  <a:srgbClr val="C0392B"/>
                </a:solidFill>
                <a:latin typeface="맑은 고딕"/>
              </a:rPr>
              <a:t>제34장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학습 목표 (Objectives)</a:t>
            </a:r>
          </a:p>
        </p:txBody>
      </p:sp>
      <p:sp>
        <p:nvSpPr>
          <p:cNvPr id="4" name="TextBox 3"/>
          <p:cNvSpPr txBox="1"/>
          <p:nvPr/>
        </p:nvSpPr>
        <p:spPr>
          <a:xfrm>
            <a:off x="635000" y="1270000"/>
            <a:ext cx="10871200" cy="5207000"/>
          </a:xfrm>
          <a:prstGeom prst="rect">
            <a:avLst/>
          </a:prstGeom>
          <a:noFill/>
        </p:spPr>
        <p:txBody>
          <a:bodyPr wrap="square">
            <a:spAutoFit/>
          </a:bodyPr>
          <a:lstStyle/>
          <a:p>
            <a:pPr>
              <a:spcAft>
                <a:spcPts val="800"/>
              </a:spcAft>
            </a:pPr>
            <a:r>
              <a:rPr sz="1600">
                <a:solidFill>
                  <a:srgbClr val="222222"/>
                </a:solidFill>
                <a:latin typeface="맑은 고딕"/>
              </a:rPr>
              <a:t>•  ASM 개념과 아키텍처를 설명하고 ASM 인스턴스와 DB 인스턴스를 구분한다.</a:t>
            </a:r>
          </a:p>
          <a:p>
            <a:pPr>
              <a:spcAft>
                <a:spcPts val="800"/>
              </a:spcAft>
            </a:pPr>
            <a:r>
              <a:rPr sz="1600">
                <a:solidFill>
                  <a:srgbClr val="222222"/>
                </a:solidFill>
                <a:latin typeface="맑은 고딕"/>
              </a:rPr>
              <a:t>•  ASM 초기화 파라미터(INSTANCE_TYPE, ASM_DISKGROUPS, ASM_POWER_LIMIT 등)를 구성한다.</a:t>
            </a:r>
          </a:p>
          <a:p>
            <a:pPr>
              <a:spcAft>
                <a:spcPts val="800"/>
              </a:spcAft>
            </a:pPr>
            <a:r>
              <a:rPr sz="1600">
                <a:solidFill>
                  <a:srgbClr val="222222"/>
                </a:solidFill>
                <a:latin typeface="맑은 고딕"/>
              </a:rPr>
              <a:t>•  SYSASM 권한과 OS/비밀번호 파일 인증 방식을 설명한다.</a:t>
            </a:r>
          </a:p>
          <a:p>
            <a:pPr>
              <a:spcAft>
                <a:spcPts val="800"/>
              </a:spcAft>
            </a:pPr>
            <a:r>
              <a:rPr sz="1600">
                <a:solidFill>
                  <a:srgbClr val="222222"/>
                </a:solidFill>
                <a:latin typeface="맑은 고딕"/>
              </a:rPr>
              <a:t>•  공유 비밀번호 파일을 orapwd·ASMCMD로 관리한다.</a:t>
            </a:r>
          </a:p>
          <a:p>
            <a:pPr>
              <a:spcAft>
                <a:spcPts val="800"/>
              </a:spcAft>
            </a:pPr>
            <a:r>
              <a:rPr sz="1600">
                <a:solidFill>
                  <a:srgbClr val="222222"/>
                </a:solidFill>
                <a:latin typeface="맑은 고딕"/>
              </a:rPr>
              <a:t>•  디스크 그룹을 생성하고 리던던시·실패 그룹을 구성한다.</a:t>
            </a:r>
          </a:p>
          <a:p>
            <a:pPr>
              <a:spcAft>
                <a:spcPts val="800"/>
              </a:spcAft>
            </a:pPr>
            <a:r>
              <a:rPr sz="1600">
                <a:solidFill>
                  <a:srgbClr val="222222"/>
                </a:solidFill>
                <a:latin typeface="맑은 고딕"/>
              </a:rPr>
              <a:t>•  디스크 추가/삭제·리밸런싱·스크러빙을 수행한다.</a:t>
            </a:r>
          </a:p>
          <a:p>
            <a:pPr>
              <a:spcAft>
                <a:spcPts val="800"/>
              </a:spcAft>
            </a:pPr>
            <a:r>
              <a:rPr sz="1600">
                <a:solidFill>
                  <a:srgbClr val="222222"/>
                </a:solidFill>
                <a:latin typeface="맑은 고딕"/>
              </a:rPr>
              <a:t>•  호환성 속성과 Flex 디스크 그룹·파일 그룹/쿼터 그룹을 관리한다.</a:t>
            </a:r>
          </a:p>
          <a:p>
            <a:pPr>
              <a:spcAft>
                <a:spcPts val="800"/>
              </a:spcAft>
            </a:pPr>
            <a:r>
              <a:rPr sz="1600">
                <a:solidFill>
                  <a:srgbClr val="222222"/>
                </a:solidFill>
                <a:latin typeface="맑은 고딕"/>
              </a:rPr>
              <a:t>•  ASM 파일명·ASMCMD·RMAN 마이그레이션을 수행한다.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이 장의 구성 (Agenda)</a:t>
            </a:r>
          </a:p>
        </p:txBody>
      </p:sp>
      <p:sp>
        <p:nvSpPr>
          <p:cNvPr id="4" name="TextBox 3"/>
          <p:cNvSpPr txBox="1"/>
          <p:nvPr/>
        </p:nvSpPr>
        <p:spPr>
          <a:xfrm>
            <a:off x="635000" y="1270000"/>
            <a:ext cx="10871200" cy="5207000"/>
          </a:xfrm>
          <a:prstGeom prst="rect">
            <a:avLst/>
          </a:prstGeom>
          <a:noFill/>
        </p:spPr>
        <p:txBody>
          <a:bodyPr wrap="square">
            <a:spAutoFit/>
          </a:bodyPr>
          <a:lstStyle/>
          <a:p>
            <a:pPr>
              <a:spcAft>
                <a:spcPts val="800"/>
              </a:spcAft>
            </a:pPr>
            <a:r>
              <a:rPr sz="1500">
                <a:solidFill>
                  <a:srgbClr val="222222"/>
                </a:solidFill>
                <a:latin typeface="맑은 고딕"/>
              </a:rPr>
              <a:t>•  34.1  ASM 개념과 아키텍처</a:t>
            </a:r>
          </a:p>
          <a:p>
            <a:pPr>
              <a:spcAft>
                <a:spcPts val="800"/>
              </a:spcAft>
            </a:pPr>
            <a:r>
              <a:rPr sz="1500">
                <a:solidFill>
                  <a:srgbClr val="222222"/>
                </a:solidFill>
                <a:latin typeface="맑은 고딕"/>
              </a:rPr>
              <a:t>•  34.2  ASM 인스턴스 초기화 파라미터</a:t>
            </a:r>
          </a:p>
          <a:p>
            <a:pPr>
              <a:spcAft>
                <a:spcPts val="800"/>
              </a:spcAft>
            </a:pPr>
            <a:r>
              <a:rPr sz="1500">
                <a:solidFill>
                  <a:srgbClr val="222222"/>
                </a:solidFill>
                <a:latin typeface="맑은 고딕"/>
              </a:rPr>
              <a:t>•  34.3  SYSASM 권한과 ASM 인증 방식</a:t>
            </a:r>
          </a:p>
          <a:p>
            <a:pPr>
              <a:spcAft>
                <a:spcPts val="800"/>
              </a:spcAft>
            </a:pPr>
            <a:r>
              <a:rPr sz="1500">
                <a:solidFill>
                  <a:srgbClr val="222222"/>
                </a:solidFill>
                <a:latin typeface="맑은 고딕"/>
              </a:rPr>
              <a:t>•  34.4  ASM 공유 비밀번호 파일 관리</a:t>
            </a:r>
          </a:p>
          <a:p>
            <a:pPr>
              <a:spcAft>
                <a:spcPts val="800"/>
              </a:spcAft>
            </a:pPr>
            <a:r>
              <a:rPr sz="1500">
                <a:solidFill>
                  <a:srgbClr val="222222"/>
                </a:solidFill>
                <a:latin typeface="맑은 고딕"/>
              </a:rPr>
              <a:t>•  34.5  디스크 그룹 개념과 생성</a:t>
            </a:r>
          </a:p>
          <a:p>
            <a:pPr>
              <a:spcAft>
                <a:spcPts val="800"/>
              </a:spcAft>
            </a:pPr>
            <a:r>
              <a:rPr sz="1500">
                <a:solidFill>
                  <a:srgbClr val="222222"/>
                </a:solidFill>
                <a:latin typeface="맑은 고딕"/>
              </a:rPr>
              <a:t>•  34.6  리던던시 유형과 실패 그룹</a:t>
            </a:r>
          </a:p>
          <a:p>
            <a:pPr>
              <a:spcAft>
                <a:spcPts val="800"/>
              </a:spcAft>
            </a:pPr>
            <a:r>
              <a:rPr sz="1500">
                <a:solidFill>
                  <a:srgbClr val="222222"/>
                </a:solidFill>
                <a:latin typeface="맑은 고딕"/>
              </a:rPr>
              <a:t>•  34.7  디스크 추가/삭제와 리밸런싱</a:t>
            </a:r>
          </a:p>
          <a:p>
            <a:pPr>
              <a:spcAft>
                <a:spcPts val="800"/>
              </a:spcAft>
            </a:pPr>
            <a:r>
              <a:rPr sz="1500">
                <a:solidFill>
                  <a:srgbClr val="222222"/>
                </a:solidFill>
                <a:latin typeface="맑은 고딕"/>
              </a:rPr>
              <a:t>•  34.8  디스크 스크러빙 (19c)</a:t>
            </a:r>
          </a:p>
          <a:p>
            <a:pPr>
              <a:spcAft>
                <a:spcPts val="800"/>
              </a:spcAft>
            </a:pPr>
            <a:r>
              <a:rPr sz="1500">
                <a:solidFill>
                  <a:srgbClr val="222222"/>
                </a:solidFill>
                <a:latin typeface="맑은 고딕"/>
              </a:rPr>
              <a:t>•  34.9  디스크 그룹 호환성 속성</a:t>
            </a:r>
          </a:p>
          <a:p>
            <a:pPr>
              <a:spcAft>
                <a:spcPts val="800"/>
              </a:spcAft>
            </a:pPr>
            <a:r>
              <a:rPr sz="1500">
                <a:solidFill>
                  <a:srgbClr val="222222"/>
                </a:solidFill>
                <a:latin typeface="맑은 고딕"/>
              </a:rPr>
              <a:t>•  34.10  Flex 디스크 그룹·파일 그룹/쿼터 그룹 (19c)</a:t>
            </a:r>
          </a:p>
          <a:p>
            <a:pPr>
              <a:spcAft>
                <a:spcPts val="800"/>
              </a:spcAft>
            </a:pPr>
            <a:r>
              <a:rPr sz="1500">
                <a:solidFill>
                  <a:srgbClr val="222222"/>
                </a:solidFill>
                <a:latin typeface="맑은 고딕"/>
              </a:rPr>
              <a:t>•  34.11  ASM 파일명 규칙(별칭/템플릿)</a:t>
            </a:r>
          </a:p>
          <a:p>
            <a:pPr>
              <a:spcAft>
                <a:spcPts val="800"/>
              </a:spcAft>
            </a:pPr>
            <a:r>
              <a:rPr sz="1500">
                <a:solidFill>
                  <a:srgbClr val="222222"/>
                </a:solidFill>
                <a:latin typeface="맑은 고딕"/>
              </a:rPr>
              <a:t>•  34.12  ASMCMD 유틸리티 · 34.13  RMAN 마이그레이션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34.1</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ASM 개념과 아키텍처</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볼륨 매니저 + 파일 시스템 통합</a:t>
            </a:r>
          </a:p>
          <a:p>
            <a:pPr>
              <a:spcAft>
                <a:spcPts val="800"/>
              </a:spcAft>
            </a:pPr>
            <a:r>
              <a:rPr sz="1600">
                <a:solidFill>
                  <a:srgbClr val="FFFFFF"/>
                </a:solidFill>
                <a:latin typeface="맑은 고딕"/>
              </a:rPr>
              <a:t>•  디스크 그룹 단위 관리</a:t>
            </a:r>
          </a:p>
          <a:p>
            <a:pPr>
              <a:spcAft>
                <a:spcPts val="800"/>
              </a:spcAft>
            </a:pPr>
            <a:r>
              <a:rPr sz="1600">
                <a:solidFill>
                  <a:srgbClr val="FFFFFF"/>
                </a:solidFill>
                <a:latin typeface="맑은 고딕"/>
              </a:rPr>
              <a:t>•  자동 스트라이핑·미러링</a:t>
            </a:r>
          </a:p>
          <a:p>
            <a:pPr>
              <a:spcAft>
                <a:spcPts val="800"/>
              </a:spcAft>
            </a:pPr>
            <a:r>
              <a:rPr sz="1600">
                <a:solidFill>
                  <a:srgbClr val="FFFFFF"/>
                </a:solidFill>
                <a:latin typeface="맑은 고딕"/>
              </a:rPr>
              <a:t>•  별도의 ASM 인스턴스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ASM이란 무엇인가</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Automatic Storage Management</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Oracle 권장 데이터베이스 파일 저장소(10g~)</a:t>
            </a:r>
          </a:p>
          <a:p>
            <a:pPr>
              <a:spcAft>
                <a:spcPts val="800"/>
              </a:spcAft>
            </a:pPr>
            <a:r>
              <a:rPr sz="1600">
                <a:solidFill>
                  <a:srgbClr val="222222"/>
                </a:solidFill>
                <a:latin typeface="맑은 고딕"/>
              </a:rPr>
              <a:t>•  볼륨 매니저와 파일 시스템 역할을 하나로 통합</a:t>
            </a:r>
          </a:p>
          <a:p>
            <a:pPr>
              <a:spcAft>
                <a:spcPts val="800"/>
              </a:spcAft>
            </a:pPr>
            <a:r>
              <a:rPr sz="1600">
                <a:solidFill>
                  <a:srgbClr val="222222"/>
                </a:solidFill>
                <a:latin typeface="맑은 고딕"/>
              </a:rPr>
              <a:t>•  데이터파일·컨트롤파일·리두로그·아카이브·백업을 관리</a:t>
            </a:r>
          </a:p>
          <a:p>
            <a:pPr>
              <a:spcAft>
                <a:spcPts val="800"/>
              </a:spcAft>
            </a:pPr>
            <a:r>
              <a:rPr sz="1600">
                <a:solidFill>
                  <a:srgbClr val="222222"/>
                </a:solidFill>
                <a:latin typeface="맑은 고딕"/>
              </a:rPr>
              <a:t>•  관리자는 디스크 그룹만 지정, 물리 배치는 ASM이 자동 처리</a:t>
            </a:r>
          </a:p>
          <a:p>
            <a:pPr>
              <a:spcAft>
                <a:spcPts val="800"/>
              </a:spcAft>
            </a:pPr>
            <a:r>
              <a:rPr sz="1600">
                <a:solidFill>
                  <a:srgbClr val="222222"/>
                </a:solidFill>
                <a:latin typeface="맑은 고딕"/>
              </a:rPr>
              <a:t>•  모든 디스크에 스트라이핑 → I/O 분산, 리던던시 → 자동 미러링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ASM 인스턴스의 구조</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SGA와 프로세스는 있으나 데이터파일은 없다</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ASM 인스턴스: SGA + 백그라운드 프로세스만 존재</a:t>
            </a:r>
          </a:p>
          <a:p>
            <a:pPr>
              <a:spcAft>
                <a:spcPts val="800"/>
              </a:spcAft>
            </a:pPr>
            <a:r>
              <a:rPr sz="1600">
                <a:solidFill>
                  <a:srgbClr val="222222"/>
                </a:solidFill>
                <a:latin typeface="맑은 고딕"/>
              </a:rPr>
              <a:t>•  데이터파일·제어파일·딕셔너리·사용자 테이블 없음</a:t>
            </a:r>
          </a:p>
          <a:p>
            <a:pPr>
              <a:spcAft>
                <a:spcPts val="800"/>
              </a:spcAft>
            </a:pPr>
            <a:r>
              <a:rPr sz="1600">
                <a:solidFill>
                  <a:srgbClr val="222222"/>
                </a:solidFill>
                <a:latin typeface="맑은 고딕"/>
              </a:rPr>
              <a:t>•  디스크 그룹 메타데이터 관리 + 익스텐트 맵 제공</a:t>
            </a:r>
          </a:p>
          <a:p>
            <a:pPr>
              <a:spcAft>
                <a:spcPts val="800"/>
              </a:spcAft>
            </a:pPr>
            <a:r>
              <a:rPr sz="1600">
                <a:solidFill>
                  <a:srgbClr val="222222"/>
                </a:solidFill>
                <a:latin typeface="맑은 고딕"/>
              </a:rPr>
              <a:t>•  실제 데이터 I/O는 DB 인스턴스가 직접 수행(ASM은 경로에 없음)</a:t>
            </a:r>
          </a:p>
          <a:p>
            <a:pPr>
              <a:spcAft>
                <a:spcPts val="800"/>
              </a:spcAft>
            </a:pPr>
            <a:r>
              <a:rPr sz="1600">
                <a:solidFill>
                  <a:srgbClr val="222222"/>
                </a:solidFill>
                <a:latin typeface="맑은 고딕"/>
              </a:rPr>
              <a:t>•  고유 프로세스: RBAL(조율), ARBn(익스텐트 이동), ASMB(연결)</a:t>
            </a:r>
          </a:p>
          <a:p>
            <a:pPr>
              <a:spcAft>
                <a:spcPts val="800"/>
              </a:spcAft>
            </a:pPr>
            <a:r>
              <a:rPr sz="1600">
                <a:solidFill>
                  <a:srgbClr val="222222"/>
                </a:solidFill>
                <a:latin typeface="맑은 고딕"/>
              </a:rPr>
              <a:t>•  단일 노드·RAC 모두 지원, 12c+ Flex ASM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스트라이핑과 미러링</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성능과 가용성을 함께 확보</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파일을 익스텐트 단위로 나눠 모든 디스크에 라운드로빈 분산</a:t>
            </a:r>
          </a:p>
          <a:p>
            <a:pPr>
              <a:spcAft>
                <a:spcPts val="800"/>
              </a:spcAft>
            </a:pPr>
            <a:r>
              <a:rPr sz="1600">
                <a:solidFill>
                  <a:srgbClr val="222222"/>
                </a:solidFill>
                <a:latin typeface="맑은 고딕"/>
              </a:rPr>
              <a:t>•  COARSE 스트라이핑: AU(기본 1MB) 단위 → 대용량 순차 I/O</a:t>
            </a:r>
          </a:p>
          <a:p>
            <a:pPr>
              <a:spcAft>
                <a:spcPts val="800"/>
              </a:spcAft>
            </a:pPr>
            <a:r>
              <a:rPr sz="1600">
                <a:solidFill>
                  <a:srgbClr val="222222"/>
                </a:solidFill>
                <a:latin typeface="맑은 고딕"/>
              </a:rPr>
              <a:t>•  FINE 스트라이핑: 128KB 단위 → 컨트롤파일·리두로그 등 소 I/O</a:t>
            </a:r>
          </a:p>
          <a:p>
            <a:pPr>
              <a:spcAft>
                <a:spcPts val="800"/>
              </a:spcAft>
            </a:pPr>
            <a:r>
              <a:rPr sz="1600">
                <a:solidFill>
                  <a:srgbClr val="222222"/>
                </a:solidFill>
                <a:latin typeface="맑은 고딕"/>
              </a:rPr>
              <a:t>•  미러 복사본은 반드시 서로 다른 실패 그룹에 배치</a:t>
            </a:r>
          </a:p>
          <a:p>
            <a:pPr>
              <a:spcAft>
                <a:spcPts val="800"/>
              </a:spcAft>
            </a:pPr>
            <a:r>
              <a:rPr sz="1600">
                <a:solidFill>
                  <a:srgbClr val="222222"/>
                </a:solidFill>
                <a:latin typeface="맑은 고딕"/>
              </a:rPr>
              <a:t>•  파일 유형별 기본값을 템플릿이 자동 적용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34.2</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ASM 인스턴스 초기화 파라미터</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INSTANCE_TYPE=ASM</a:t>
            </a:r>
          </a:p>
          <a:p>
            <a:pPr>
              <a:spcAft>
                <a:spcPts val="800"/>
              </a:spcAft>
            </a:pPr>
            <a:r>
              <a:rPr sz="1600">
                <a:solidFill>
                  <a:srgbClr val="FFFFFF"/>
                </a:solidFill>
                <a:latin typeface="맑은 고딕"/>
              </a:rPr>
              <a:t>•  ASM_DISKGROUPS / ASM_DISKSTRING</a:t>
            </a:r>
          </a:p>
          <a:p>
            <a:pPr>
              <a:spcAft>
                <a:spcPts val="800"/>
              </a:spcAft>
            </a:pPr>
            <a:r>
              <a:rPr sz="1600">
                <a:solidFill>
                  <a:srgbClr val="FFFFFF"/>
                </a:solidFill>
                <a:latin typeface="맑은 고딕"/>
              </a:rPr>
              <a:t>•  ASM_POWER_LIMIT</a:t>
            </a:r>
          </a:p>
          <a:p>
            <a:pPr>
              <a:spcAft>
                <a:spcPts val="800"/>
              </a:spcAft>
            </a:pPr>
            <a:r>
              <a:rPr sz="1600">
                <a:solidFill>
                  <a:srgbClr val="FFFFFF"/>
                </a:solidFill>
                <a:latin typeface="맑은 고딕"/>
              </a:rPr>
              <a:t>•  SPFILE는 디스크 그룹에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주요 ASM 파라미터</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ASM_ 접두어 파라미터</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INSTANCE_TYPE=ASM: ASM 인스턴스로 기동(기본 RDBMS)</a:t>
            </a:r>
          </a:p>
          <a:p>
            <a:pPr>
              <a:spcAft>
                <a:spcPts val="800"/>
              </a:spcAft>
            </a:pPr>
            <a:r>
              <a:rPr sz="1600">
                <a:solidFill>
                  <a:srgbClr val="222222"/>
                </a:solidFill>
                <a:latin typeface="맑은 고딕"/>
              </a:rPr>
              <a:t>•  ASM_DISKGROUPS: 기동 시 자동 마운트할 디스크 그룹 목록</a:t>
            </a:r>
          </a:p>
          <a:p>
            <a:pPr>
              <a:spcAft>
                <a:spcPts val="800"/>
              </a:spcAft>
            </a:pPr>
            <a:r>
              <a:rPr sz="1600">
                <a:solidFill>
                  <a:srgbClr val="222222"/>
                </a:solidFill>
                <a:latin typeface="맑은 고딕"/>
              </a:rPr>
              <a:t>•  ASM_DISKSTRING: 디스크 검색 경로 패턴(discovery string)</a:t>
            </a:r>
          </a:p>
          <a:p>
            <a:pPr>
              <a:spcAft>
                <a:spcPts val="800"/>
              </a:spcAft>
            </a:pPr>
            <a:r>
              <a:rPr sz="1600">
                <a:solidFill>
                  <a:srgbClr val="222222"/>
                </a:solidFill>
                <a:latin typeface="맑은 고딕"/>
              </a:rPr>
              <a:t>•  ASM_POWER_LIMIT: 리밸런싱 속도(기본 1, 0~1024)</a:t>
            </a:r>
          </a:p>
          <a:p>
            <a:pPr>
              <a:spcAft>
                <a:spcPts val="800"/>
              </a:spcAft>
            </a:pPr>
            <a:r>
              <a:rPr sz="1600">
                <a:solidFill>
                  <a:srgbClr val="222222"/>
                </a:solidFill>
                <a:latin typeface="맑은 고딕"/>
              </a:rPr>
              <a:t>•  ASM_PREFERRED_READ_FAILURE_GROUPS: 우선 읽기 실패 그룹</a:t>
            </a:r>
          </a:p>
          <a:p>
            <a:pPr>
              <a:spcAft>
                <a:spcPts val="800"/>
              </a:spcAft>
            </a:pPr>
            <a:r>
              <a:rPr sz="1600">
                <a:solidFill>
                  <a:srgbClr val="222222"/>
                </a:solidFill>
                <a:latin typeface="맑은 고딕"/>
              </a:rPr>
              <a:t>•  SPFILE은 디스크 그룹에 두어 노드 간 공유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파라미터 확인과 변경</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sqlplus / as sysasm</a:t>
            </a:r>
          </a:p>
        </p:txBody>
      </p:sp>
      <p:sp>
        <p:nvSpPr>
          <p:cNvPr id="5" name="Rectangle 4"/>
          <p:cNvSpPr/>
          <p:nvPr/>
        </p:nvSpPr>
        <p:spPr>
          <a:xfrm>
            <a:off x="635000" y="1600000"/>
            <a:ext cx="10922000" cy="490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rIns="137160"/>
          <a:lstStyle/>
          <a:p>
            <a:pPr algn="ctr">
              <a:spcAft>
                <a:spcPts val="0"/>
              </a:spcAft>
            </a:pPr>
            <a:r>
              <a:rPr sz="1200">
                <a:solidFill>
                  <a:srgbClr val="E6E6E6"/>
                </a:solidFill>
                <a:latin typeface="Consolas"/>
              </a:rPr>
              <a:t>SQL&gt; SHOW PARAMETER instance_type</a:t>
            </a:r>
          </a:p>
          <a:p>
            <a:pPr>
              <a:spcAft>
                <a:spcPts val="0"/>
              </a:spcAft>
            </a:pPr>
            <a:r>
              <a:rPr sz="1200">
                <a:solidFill>
                  <a:srgbClr val="E6E6E6"/>
                </a:solidFill>
                <a:latin typeface="Consolas"/>
              </a:rPr>
              <a:t>NAME            TYPE     VALUE</a:t>
            </a:r>
          </a:p>
          <a:p>
            <a:pPr>
              <a:spcAft>
                <a:spcPts val="0"/>
              </a:spcAft>
            </a:pPr>
            <a:r>
              <a:rPr sz="1200">
                <a:solidFill>
                  <a:srgbClr val="E6E6E6"/>
                </a:solidFill>
                <a:latin typeface="Consolas"/>
              </a:rPr>
              <a:t>--------------- -------- --------</a:t>
            </a:r>
          </a:p>
          <a:p>
            <a:pPr>
              <a:spcAft>
                <a:spcPts val="0"/>
              </a:spcAft>
            </a:pPr>
            <a:r>
              <a:rPr sz="1200">
                <a:solidFill>
                  <a:srgbClr val="E6E6E6"/>
                </a:solidFill>
                <a:latin typeface="Consolas"/>
              </a:rPr>
              <a:t>instance_type   string   asm</a:t>
            </a:r>
          </a:p>
          <a:p>
            <a:pPr>
              <a:spcAft>
                <a:spcPts val="0"/>
              </a:spcAft>
            </a:pPr>
            <a:r>
              <a:rPr sz="1200">
                <a:solidFill>
                  <a:srgbClr val="E6E6E6"/>
                </a:solidFill>
                <a:latin typeface="Consolas"/>
              </a:rPr>
              <a:t/>
            </a:r>
          </a:p>
          <a:p>
            <a:pPr>
              <a:spcAft>
                <a:spcPts val="0"/>
              </a:spcAft>
            </a:pPr>
            <a:r>
              <a:rPr sz="1200">
                <a:solidFill>
                  <a:srgbClr val="E6E6E6"/>
                </a:solidFill>
                <a:latin typeface="Consolas"/>
              </a:rPr>
              <a:t>SQL&gt; SHOW PARAMETER asm_power_limit</a:t>
            </a:r>
          </a:p>
          <a:p>
            <a:pPr>
              <a:spcAft>
                <a:spcPts val="0"/>
              </a:spcAft>
            </a:pPr>
            <a:r>
              <a:rPr sz="1200">
                <a:solidFill>
                  <a:srgbClr val="E6E6E6"/>
                </a:solidFill>
                <a:latin typeface="Consolas"/>
              </a:rPr>
              <a:t>asm_power_limit                  integer  1</a:t>
            </a:r>
          </a:p>
          <a:p>
            <a:pPr>
              <a:spcAft>
                <a:spcPts val="0"/>
              </a:spcAft>
            </a:pPr>
            <a:r>
              <a:rPr sz="1200">
                <a:solidFill>
                  <a:srgbClr val="E6E6E6"/>
                </a:solidFill>
                <a:latin typeface="Consolas"/>
              </a:rPr>
              <a:t/>
            </a:r>
          </a:p>
          <a:p>
            <a:pPr>
              <a:spcAft>
                <a:spcPts val="0"/>
              </a:spcAft>
            </a:pPr>
            <a:r>
              <a:rPr sz="1200">
                <a:solidFill>
                  <a:srgbClr val="E6E6E6"/>
                </a:solidFill>
                <a:latin typeface="Consolas"/>
              </a:rPr>
              <a:t>-- 리밸런싱 속도를 동적으로 변경</a:t>
            </a:r>
          </a:p>
          <a:p>
            <a:pPr>
              <a:spcAft>
                <a:spcPts val="0"/>
              </a:spcAft>
            </a:pPr>
            <a:r>
              <a:rPr sz="1200">
                <a:solidFill>
                  <a:srgbClr val="E6E6E6"/>
                </a:solidFill>
                <a:latin typeface="Consolas"/>
              </a:rPr>
              <a:t>SQL&gt; ALTER SYSTEM SET asm_power_limit = 4 SCOPE=BOTH;</a:t>
            </a:r>
          </a:p>
          <a:p>
            <a:pPr>
              <a:spcAft>
                <a:spcPts val="0"/>
              </a:spcAft>
            </a:pPr>
            <a:r>
              <a:rPr sz="1200">
                <a:solidFill>
                  <a:srgbClr val="E6E6E6"/>
                </a:solidFill>
                <a:latin typeface="Consolas"/>
              </a:rPr>
              <a:t>System altered.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34.3</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SYSASM 권한과 ASM 인증</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SYSASM = ASM 관리 최고 권한</a:t>
            </a:r>
          </a:p>
          <a:p>
            <a:pPr>
              <a:spcAft>
                <a:spcPts val="800"/>
              </a:spcAft>
            </a:pPr>
            <a:r>
              <a:rPr sz="1600">
                <a:solidFill>
                  <a:srgbClr val="FFFFFF"/>
                </a:solidFill>
                <a:latin typeface="맑은 고딕"/>
              </a:rPr>
              <a:t>•  SYSDBA/SYSOPER와 구분</a:t>
            </a:r>
          </a:p>
          <a:p>
            <a:pPr>
              <a:spcAft>
                <a:spcPts val="800"/>
              </a:spcAft>
            </a:pPr>
            <a:r>
              <a:rPr sz="1600">
                <a:solidFill>
                  <a:srgbClr val="FFFFFF"/>
                </a:solidFill>
                <a:latin typeface="맑은 고딕"/>
              </a:rPr>
              <a:t>•  OSASM/OSDBA/OSOPER 그룹</a:t>
            </a:r>
          </a:p>
          <a:p>
            <a:pPr>
              <a:spcAft>
                <a:spcPts val="800"/>
              </a:spcAft>
            </a:pPr>
            <a:r>
              <a:rPr sz="1600">
                <a:solidFill>
                  <a:srgbClr val="FFFFFF"/>
                </a:solidFill>
                <a:latin typeface="맑은 고딕"/>
              </a:rPr>
              <a:t>•  OS 인증 vs 비밀번호 파일 인증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SYSASM · SYSDBA · SYSOPER</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권한과 OS 그룹의 매핑</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SYSASM: ASM 저장소 전반 관리(디스크 그룹·디스크·리밸런싱) — OSASM</a:t>
            </a:r>
          </a:p>
          <a:p>
            <a:pPr>
              <a:spcAft>
                <a:spcPts val="800"/>
              </a:spcAft>
            </a:pPr>
            <a:r>
              <a:rPr sz="1600">
                <a:solidFill>
                  <a:srgbClr val="222222"/>
                </a:solidFill>
                <a:latin typeface="맑은 고딕"/>
              </a:rPr>
              <a:t>•  SYSDBA(for ASM): DB의 파일 접근용, 관리엔 비권장 — OSDBA for ASM</a:t>
            </a:r>
          </a:p>
          <a:p>
            <a:pPr>
              <a:spcAft>
                <a:spcPts val="800"/>
              </a:spcAft>
            </a:pPr>
            <a:r>
              <a:rPr sz="1600">
                <a:solidFill>
                  <a:srgbClr val="222222"/>
                </a:solidFill>
                <a:latin typeface="맑은 고딕"/>
              </a:rPr>
              <a:t>•  SYSOPER(for ASM): 시작/종료·마운트/언마운트 한정 — OSOPER for ASM</a:t>
            </a:r>
          </a:p>
          <a:p>
            <a:pPr>
              <a:spcAft>
                <a:spcPts val="800"/>
              </a:spcAft>
            </a:pPr>
            <a:r>
              <a:rPr sz="1600">
                <a:solidFill>
                  <a:srgbClr val="222222"/>
                </a:solidFill>
                <a:latin typeface="맑은 고딕"/>
              </a:rPr>
              <a:t>•  OS 그룹 예: asmadmin(grid), asmdba(oracle), asmoper</a:t>
            </a:r>
          </a:p>
          <a:p>
            <a:pPr>
              <a:spcAft>
                <a:spcPts val="800"/>
              </a:spcAft>
            </a:pPr>
            <a:r>
              <a:rPr sz="1600">
                <a:solidFill>
                  <a:srgbClr val="222222"/>
                </a:solidFill>
                <a:latin typeface="맑은 고딕"/>
              </a:rPr>
              <a:t>•  11g 이후 ASM 관리 작업은 SYSASM으로 수행이 표준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ASM 인증 방식</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OS 인증과 비밀번호 파일 인증</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OS 인증: OS 그룹 소속을 근거로 로컬 접속(sqlplus / as sysasm)</a:t>
            </a:r>
          </a:p>
          <a:p>
            <a:pPr>
              <a:spcAft>
                <a:spcPts val="800"/>
              </a:spcAft>
            </a:pPr>
            <a:r>
              <a:rPr sz="1600">
                <a:solidFill>
                  <a:srgbClr val="222222"/>
                </a:solidFill>
                <a:latin typeface="맑은 고딕"/>
              </a:rPr>
              <a:t>•    → 서버에 직접 로그인한 관리자에게만 유효</a:t>
            </a:r>
          </a:p>
          <a:p>
            <a:pPr>
              <a:spcAft>
                <a:spcPts val="800"/>
              </a:spcAft>
            </a:pPr>
            <a:r>
              <a:rPr sz="1600">
                <a:solidFill>
                  <a:srgbClr val="222222"/>
                </a:solidFill>
                <a:latin typeface="맑은 고딕"/>
              </a:rPr>
              <a:t>•  비밀번호 파일 인증: 사용자명/비밀번호로 원격·도구 접속</a:t>
            </a:r>
          </a:p>
          <a:p>
            <a:pPr>
              <a:spcAft>
                <a:spcPts val="800"/>
              </a:spcAft>
            </a:pPr>
            <a:r>
              <a:rPr sz="1600">
                <a:solidFill>
                  <a:srgbClr val="222222"/>
                </a:solidFill>
                <a:latin typeface="맑은 고딕"/>
              </a:rPr>
              <a:t>•    → ASM 비밀번호 파일 필요, V$PWFILE_USERS에 등록</a:t>
            </a:r>
          </a:p>
          <a:p>
            <a:pPr>
              <a:spcAft>
                <a:spcPts val="800"/>
              </a:spcAft>
            </a:pPr>
            <a:r>
              <a:rPr sz="1600">
                <a:solidFill>
                  <a:srgbClr val="222222"/>
                </a:solidFill>
                <a:latin typeface="맑은 고딕"/>
              </a:rPr>
              <a:t>•  RAC/Flex ASM: 모든 노드가 동일 비밀번호 파일 공유(디스크 그룹)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34.4</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ASM 공유 비밀번호 파일</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원격/비밀번호 인증용 자격증명</a:t>
            </a:r>
          </a:p>
          <a:p>
            <a:pPr>
              <a:spcAft>
                <a:spcPts val="800"/>
              </a:spcAft>
            </a:pPr>
            <a:r>
              <a:rPr sz="1600">
                <a:solidFill>
                  <a:srgbClr val="FFFFFF"/>
                </a:solidFill>
                <a:latin typeface="맑은 고딕"/>
              </a:rPr>
              <a:t>•  orapwd로 생성</a:t>
            </a:r>
          </a:p>
          <a:p>
            <a:pPr>
              <a:spcAft>
                <a:spcPts val="800"/>
              </a:spcAft>
            </a:pPr>
            <a:r>
              <a:rPr sz="1600">
                <a:solidFill>
                  <a:srgbClr val="FFFFFF"/>
                </a:solidFill>
                <a:latin typeface="맑은 고딕"/>
              </a:rPr>
              <a:t>•  ASMCMD pwcopy/pwmove/pwset</a:t>
            </a:r>
          </a:p>
          <a:p>
            <a:pPr>
              <a:spcAft>
                <a:spcPts val="800"/>
              </a:spcAft>
            </a:pPr>
            <a:r>
              <a:rPr sz="1600">
                <a:solidFill>
                  <a:srgbClr val="FFFFFF"/>
                </a:solidFill>
                <a:latin typeface="맑은 고딕"/>
              </a:rPr>
              <a:t>•  디스크 그룹에 두어 공유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공유 비밀번호 파일 관리</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orapwd + ASMCMD</a:t>
            </a:r>
          </a:p>
        </p:txBody>
      </p:sp>
      <p:sp>
        <p:nvSpPr>
          <p:cNvPr id="5" name="Rectangle 4"/>
          <p:cNvSpPr/>
          <p:nvPr/>
        </p:nvSpPr>
        <p:spPr>
          <a:xfrm>
            <a:off x="635000" y="1600000"/>
            <a:ext cx="10922000" cy="490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rIns="137160"/>
          <a:lstStyle/>
          <a:p>
            <a:pPr algn="ctr">
              <a:spcAft>
                <a:spcPts val="0"/>
              </a:spcAft>
            </a:pPr>
            <a:r>
              <a:rPr sz="1200">
                <a:solidFill>
                  <a:srgbClr val="E6E6E6"/>
                </a:solidFill>
                <a:latin typeface="Consolas"/>
              </a:rPr>
              <a:t>-- 1) 디스크 그룹에 ASM 비밀번호 파일 생성</a:t>
            </a:r>
          </a:p>
          <a:p>
            <a:pPr>
              <a:spcAft>
                <a:spcPts val="0"/>
              </a:spcAft>
            </a:pPr>
            <a:r>
              <a:rPr sz="1200">
                <a:solidFill>
                  <a:srgbClr val="E6E6E6"/>
                </a:solidFill>
                <a:latin typeface="Consolas"/>
              </a:rPr>
              <a:t>$ orapwd file='+DATA/ASM/orapwasm' asm=y \</a:t>
            </a:r>
          </a:p>
          <a:p>
            <a:pPr>
              <a:spcAft>
                <a:spcPts val="0"/>
              </a:spcAft>
            </a:pPr>
            <a:r>
              <a:rPr sz="1200">
                <a:solidFill>
                  <a:srgbClr val="E6E6E6"/>
                </a:solidFill>
                <a:latin typeface="Consolas"/>
              </a:rPr>
              <a:t>         format=12 password=Welcome1#</a:t>
            </a:r>
          </a:p>
          <a:p>
            <a:pPr>
              <a:spcAft>
                <a:spcPts val="0"/>
              </a:spcAft>
            </a:pPr>
            <a:r>
              <a:rPr sz="1200">
                <a:solidFill>
                  <a:srgbClr val="E6E6E6"/>
                </a:solidFill>
                <a:latin typeface="Consolas"/>
              </a:rPr>
              <a:t/>
            </a:r>
          </a:p>
          <a:p>
            <a:pPr>
              <a:spcAft>
                <a:spcPts val="0"/>
              </a:spcAft>
            </a:pPr>
            <a:r>
              <a:rPr sz="1200">
                <a:solidFill>
                  <a:srgbClr val="E6E6E6"/>
                </a:solidFill>
                <a:latin typeface="Consolas"/>
              </a:rPr>
              <a:t>-- 2) 현재 비밀번호 파일 위치 확인</a:t>
            </a:r>
          </a:p>
          <a:p>
            <a:pPr>
              <a:spcAft>
                <a:spcPts val="0"/>
              </a:spcAft>
            </a:pPr>
            <a:r>
              <a:rPr sz="1200">
                <a:solidFill>
                  <a:srgbClr val="E6E6E6"/>
                </a:solidFill>
                <a:latin typeface="Consolas"/>
              </a:rPr>
              <a:t>ASMCMD&gt; pwget --asm</a:t>
            </a:r>
          </a:p>
          <a:p>
            <a:pPr>
              <a:spcAft>
                <a:spcPts val="0"/>
              </a:spcAft>
            </a:pPr>
            <a:r>
              <a:rPr sz="1200">
                <a:solidFill>
                  <a:srgbClr val="E6E6E6"/>
                </a:solidFill>
                <a:latin typeface="Consolas"/>
              </a:rPr>
              <a:t>+DATA/orapwASM</a:t>
            </a:r>
          </a:p>
          <a:p>
            <a:pPr>
              <a:spcAft>
                <a:spcPts val="0"/>
              </a:spcAft>
            </a:pPr>
            <a:r>
              <a:rPr sz="1200">
                <a:solidFill>
                  <a:srgbClr val="E6E6E6"/>
                </a:solidFill>
                <a:latin typeface="Consolas"/>
              </a:rPr>
              <a:t/>
            </a:r>
          </a:p>
          <a:p>
            <a:pPr>
              <a:spcAft>
                <a:spcPts val="0"/>
              </a:spcAft>
            </a:pPr>
            <a:r>
              <a:rPr sz="1200">
                <a:solidFill>
                  <a:srgbClr val="E6E6E6"/>
                </a:solidFill>
                <a:latin typeface="Consolas"/>
              </a:rPr>
              <a:t>-- 3) 로컬 파일을 디스크 그룹으로 복사(공유 전환)</a:t>
            </a:r>
          </a:p>
          <a:p>
            <a:pPr>
              <a:spcAft>
                <a:spcPts val="0"/>
              </a:spcAft>
            </a:pPr>
            <a:r>
              <a:rPr sz="1200">
                <a:solidFill>
                  <a:srgbClr val="E6E6E6"/>
                </a:solidFill>
                <a:latin typeface="Consolas"/>
              </a:rPr>
              <a:t>ASMCMD&gt; pwcopy --asm /u01/.../orapwASM +DATA/orapwASM</a:t>
            </a:r>
          </a:p>
          <a:p>
            <a:pPr>
              <a:spcAft>
                <a:spcPts val="0"/>
              </a:spcAft>
            </a:pPr>
            <a:r>
              <a:rPr sz="1200">
                <a:solidFill>
                  <a:srgbClr val="E6E6E6"/>
                </a:solidFill>
                <a:latin typeface="Consolas"/>
              </a:rPr>
              <a:t>ASMCMD&gt; pwset --asm +DATA/orapwASM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34.5</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디스크 그룹 개념과 생성</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ASM 관리 저장소의 기본 단위</a:t>
            </a:r>
          </a:p>
          <a:p>
            <a:pPr>
              <a:spcAft>
                <a:spcPts val="800"/>
              </a:spcAft>
            </a:pPr>
            <a:r>
              <a:rPr sz="1600">
                <a:solidFill>
                  <a:srgbClr val="FFFFFF"/>
                </a:solidFill>
                <a:latin typeface="맑은 고딕"/>
              </a:rPr>
              <a:t>•  CREATE DISKGROUP</a:t>
            </a:r>
          </a:p>
          <a:p>
            <a:pPr>
              <a:spcAft>
                <a:spcPts val="800"/>
              </a:spcAft>
            </a:pPr>
            <a:r>
              <a:rPr sz="1600">
                <a:solidFill>
                  <a:srgbClr val="FFFFFF"/>
                </a:solidFill>
                <a:latin typeface="맑은 고딕"/>
              </a:rPr>
              <a:t>•  AU_SIZE·호환성 속성</a:t>
            </a:r>
          </a:p>
          <a:p>
            <a:pPr>
              <a:spcAft>
                <a:spcPts val="800"/>
              </a:spcAft>
            </a:pPr>
            <a:r>
              <a:rPr sz="1600">
                <a:solidFill>
                  <a:srgbClr val="FFFFFF"/>
                </a:solidFill>
                <a:latin typeface="맑은 고딕"/>
              </a:rPr>
              <a:t>•  MOUNT 상태에서 사용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디스크 그룹이란</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하나 이상의 ASM 디스크의 논리적 묶음</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여러 물리 디스크/LUN을 묶어 하나의 저장 공간으로</a:t>
            </a:r>
          </a:p>
          <a:p>
            <a:pPr>
              <a:spcAft>
                <a:spcPts val="800"/>
              </a:spcAft>
            </a:pPr>
            <a:r>
              <a:rPr sz="1600">
                <a:solidFill>
                  <a:srgbClr val="222222"/>
                </a:solidFill>
                <a:latin typeface="맑은 고딕"/>
              </a:rPr>
              <a:t>•  저장 파일은 모든 디스크에 자동 스트라이핑</a:t>
            </a:r>
          </a:p>
          <a:p>
            <a:pPr>
              <a:spcAft>
                <a:spcPts val="800"/>
              </a:spcAft>
            </a:pPr>
            <a:r>
              <a:rPr sz="1600">
                <a:solidFill>
                  <a:srgbClr val="222222"/>
                </a:solidFill>
                <a:latin typeface="맑은 고딕"/>
              </a:rPr>
              <a:t>•  리던던시에 따라 미러 복사본을 다른 실패 그룹에 배치</a:t>
            </a:r>
          </a:p>
          <a:p>
            <a:pPr>
              <a:spcAft>
                <a:spcPts val="800"/>
              </a:spcAft>
            </a:pPr>
            <a:r>
              <a:rPr sz="1600">
                <a:solidFill>
                  <a:srgbClr val="222222"/>
                </a:solidFill>
                <a:latin typeface="맑은 고딕"/>
              </a:rPr>
              <a:t>•  관례: 데이터용 DATA + 복구영역용 FRA 분리</a:t>
            </a:r>
          </a:p>
          <a:p>
            <a:pPr>
              <a:spcAft>
                <a:spcPts val="800"/>
              </a:spcAft>
            </a:pPr>
            <a:r>
              <a:rPr sz="1600">
                <a:solidFill>
                  <a:srgbClr val="222222"/>
                </a:solidFill>
                <a:latin typeface="맑은 고딕"/>
              </a:rPr>
              <a:t>•  AU(Allocation Unit): 1MB~64MB, 내부 할당 단위</a:t>
            </a:r>
          </a:p>
          <a:p>
            <a:pPr>
              <a:spcAft>
                <a:spcPts val="800"/>
              </a:spcAft>
            </a:pPr>
            <a:r>
              <a:rPr sz="1600">
                <a:solidFill>
                  <a:srgbClr val="222222"/>
                </a:solidFill>
                <a:latin typeface="맑은 고딕"/>
              </a:rPr>
              <a:t>•  USABLE_FILE_MB로 실제 여유 용량 판단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디스크 그룹 생성</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CREATE DISKGROUP</a:t>
            </a:r>
          </a:p>
        </p:txBody>
      </p:sp>
      <p:sp>
        <p:nvSpPr>
          <p:cNvPr id="5" name="Rectangle 4"/>
          <p:cNvSpPr/>
          <p:nvPr/>
        </p:nvSpPr>
        <p:spPr>
          <a:xfrm>
            <a:off x="635000" y="1600000"/>
            <a:ext cx="10922000" cy="490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rIns="137160"/>
          <a:lstStyle/>
          <a:p>
            <a:pPr algn="ctr">
              <a:spcAft>
                <a:spcPts val="0"/>
              </a:spcAft>
            </a:pPr>
            <a:r>
              <a:rPr sz="1200">
                <a:solidFill>
                  <a:srgbClr val="E6E6E6"/>
                </a:solidFill>
                <a:latin typeface="Consolas"/>
              </a:rPr>
              <a:t>SQL&gt; CREATE DISKGROUP data NORMAL REDUNDANCY</a:t>
            </a:r>
          </a:p>
          <a:p>
            <a:pPr>
              <a:spcAft>
                <a:spcPts val="0"/>
              </a:spcAft>
            </a:pPr>
            <a:r>
              <a:rPr sz="1200">
                <a:solidFill>
                  <a:srgbClr val="E6E6E6"/>
                </a:solidFill>
                <a:latin typeface="Consolas"/>
              </a:rPr>
              <a:t>  2    FAILGROUP fg1 DISK '/dev/.../DISK1' NAME data_0001,</a:t>
            </a:r>
          </a:p>
          <a:p>
            <a:pPr>
              <a:spcAft>
                <a:spcPts val="0"/>
              </a:spcAft>
            </a:pPr>
            <a:r>
              <a:rPr sz="1200">
                <a:solidFill>
                  <a:srgbClr val="E6E6E6"/>
                </a:solidFill>
                <a:latin typeface="Consolas"/>
              </a:rPr>
              <a:t>  3                     '/dev/.../DISK2' NAME data_0002</a:t>
            </a:r>
          </a:p>
          <a:p>
            <a:pPr>
              <a:spcAft>
                <a:spcPts val="0"/>
              </a:spcAft>
            </a:pPr>
            <a:r>
              <a:rPr sz="1200">
                <a:solidFill>
                  <a:srgbClr val="E6E6E6"/>
                </a:solidFill>
                <a:latin typeface="Consolas"/>
              </a:rPr>
              <a:t>  4    FAILGROUP fg2 DISK '/dev/.../DISK3' NAME data_0003,</a:t>
            </a:r>
          </a:p>
          <a:p>
            <a:pPr>
              <a:spcAft>
                <a:spcPts val="0"/>
              </a:spcAft>
            </a:pPr>
            <a:r>
              <a:rPr sz="1200">
                <a:solidFill>
                  <a:srgbClr val="E6E6E6"/>
                </a:solidFill>
                <a:latin typeface="Consolas"/>
              </a:rPr>
              <a:t>  5                     '/dev/.../DISK4' NAME data_0004</a:t>
            </a:r>
          </a:p>
          <a:p>
            <a:pPr>
              <a:spcAft>
                <a:spcPts val="0"/>
              </a:spcAft>
            </a:pPr>
            <a:r>
              <a:rPr sz="1200">
                <a:solidFill>
                  <a:srgbClr val="E6E6E6"/>
                </a:solidFill>
                <a:latin typeface="Consolas"/>
              </a:rPr>
              <a:t>  6    ATTRIBUTE 'au_size'='4M',</a:t>
            </a:r>
          </a:p>
          <a:p>
            <a:pPr>
              <a:spcAft>
                <a:spcPts val="0"/>
              </a:spcAft>
            </a:pPr>
            <a:r>
              <a:rPr sz="1200">
                <a:solidFill>
                  <a:srgbClr val="E6E6E6"/>
                </a:solidFill>
                <a:latin typeface="Consolas"/>
              </a:rPr>
              <a:t>  7              'compatible.asm'='19.0.0.0',</a:t>
            </a:r>
          </a:p>
          <a:p>
            <a:pPr>
              <a:spcAft>
                <a:spcPts val="0"/>
              </a:spcAft>
            </a:pPr>
            <a:r>
              <a:rPr sz="1200">
                <a:solidFill>
                  <a:srgbClr val="E6E6E6"/>
                </a:solidFill>
                <a:latin typeface="Consolas"/>
              </a:rPr>
              <a:t>  8              'compatible.rdbms'='19.0.0.0';</a:t>
            </a:r>
          </a:p>
          <a:p>
            <a:pPr>
              <a:spcAft>
                <a:spcPts val="0"/>
              </a:spcAft>
            </a:pPr>
            <a:r>
              <a:rPr sz="1200">
                <a:solidFill>
                  <a:srgbClr val="E6E6E6"/>
                </a:solidFill>
                <a:latin typeface="Consolas"/>
              </a:rPr>
              <a:t>Diskgroup created.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34.6</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리던던시와 실패 그룹</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EXTERNAL / NORMAL / HIGH / FLEX</a:t>
            </a:r>
          </a:p>
          <a:p>
            <a:pPr>
              <a:spcAft>
                <a:spcPts val="800"/>
              </a:spcAft>
            </a:pPr>
            <a:r>
              <a:rPr sz="1600">
                <a:solidFill>
                  <a:srgbClr val="FFFFFF"/>
                </a:solidFill>
                <a:latin typeface="맑은 고딕"/>
              </a:rPr>
              <a:t>•  미러 복사본은 다른 실패 그룹에</a:t>
            </a:r>
          </a:p>
          <a:p>
            <a:pPr>
              <a:spcAft>
                <a:spcPts val="800"/>
              </a:spcAft>
            </a:pPr>
            <a:r>
              <a:rPr sz="1600">
                <a:solidFill>
                  <a:srgbClr val="FFFFFF"/>
                </a:solidFill>
                <a:latin typeface="맑은 고딕"/>
              </a:rPr>
              <a:t>•  실패 그룹 = 함께 고장 날 디스크 묶음</a:t>
            </a:r>
          </a:p>
          <a:p>
            <a:pPr>
              <a:spcAft>
                <a:spcPts val="800"/>
              </a:spcAft>
            </a:pPr>
            <a:r>
              <a:rPr sz="1600">
                <a:solidFill>
                  <a:srgbClr val="FFFFFF"/>
                </a:solidFill>
                <a:latin typeface="맑은 고딕"/>
              </a:rPr>
              <a:t>•  용량 vs 보호 트레이드오프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리던던시 유형</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미러링 수준과 가용 용량</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EXTERNAL: 미러 없음, 하드웨어 RAID에 위임 → 용량 최대</a:t>
            </a:r>
          </a:p>
          <a:p>
            <a:pPr>
              <a:spcAft>
                <a:spcPts val="800"/>
              </a:spcAft>
            </a:pPr>
            <a:r>
              <a:rPr sz="1600">
                <a:solidFill>
                  <a:srgbClr val="222222"/>
                </a:solidFill>
                <a:latin typeface="맑은 고딕"/>
              </a:rPr>
              <a:t>•  NORMAL: 2중 미러, 실패 그룹 1개 장애 견딤 → 약 1/2</a:t>
            </a:r>
          </a:p>
          <a:p>
            <a:pPr>
              <a:spcAft>
                <a:spcPts val="800"/>
              </a:spcAft>
            </a:pPr>
            <a:r>
              <a:rPr sz="1600">
                <a:solidFill>
                  <a:srgbClr val="222222"/>
                </a:solidFill>
                <a:latin typeface="맑은 고딕"/>
              </a:rPr>
              <a:t>•  HIGH: 3중 미러, 실패 그룹 2개 장애 견딤 → 약 1/3</a:t>
            </a:r>
          </a:p>
          <a:p>
            <a:pPr>
              <a:spcAft>
                <a:spcPts val="800"/>
              </a:spcAft>
            </a:pPr>
            <a:r>
              <a:rPr sz="1600">
                <a:solidFill>
                  <a:srgbClr val="222222"/>
                </a:solidFill>
                <a:latin typeface="맑은 고딕"/>
              </a:rPr>
              <a:t>•  FLEX(19c): 파일 그룹별로 리던던시 개별 지정</a:t>
            </a:r>
          </a:p>
          <a:p>
            <a:pPr>
              <a:spcAft>
                <a:spcPts val="800"/>
              </a:spcAft>
            </a:pPr>
            <a:r>
              <a:rPr sz="1600">
                <a:solidFill>
                  <a:srgbClr val="222222"/>
                </a:solidFill>
                <a:latin typeface="맑은 고딕"/>
              </a:rPr>
              <a:t>•  리던던시가 높을수록 안전하나 가용 용량은 감소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실패 그룹(Failure Group)</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하드웨어 장애 경계에 맞춘 묶음</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함께 고장 날 수 있는 디스크들의 묶음</a:t>
            </a:r>
          </a:p>
          <a:p>
            <a:pPr>
              <a:spcAft>
                <a:spcPts val="800"/>
              </a:spcAft>
            </a:pPr>
            <a:r>
              <a:rPr sz="1600">
                <a:solidFill>
                  <a:srgbClr val="222222"/>
                </a:solidFill>
                <a:latin typeface="맑은 고딕"/>
              </a:rPr>
              <a:t>•  예: 같은 컨트롤러·같은 스토리지 셸프의 디스크</a:t>
            </a:r>
          </a:p>
          <a:p>
            <a:pPr>
              <a:spcAft>
                <a:spcPts val="800"/>
              </a:spcAft>
            </a:pPr>
            <a:r>
              <a:rPr sz="1600">
                <a:solidFill>
                  <a:srgbClr val="222222"/>
                </a:solidFill>
                <a:latin typeface="맑은 고딕"/>
              </a:rPr>
              <a:t>•  기본 복사본과 미러는 절대 같은 실패 그룹에 두지 않음</a:t>
            </a:r>
          </a:p>
          <a:p>
            <a:pPr>
              <a:spcAft>
                <a:spcPts val="800"/>
              </a:spcAft>
            </a:pPr>
            <a:r>
              <a:rPr sz="1600">
                <a:solidFill>
                  <a:srgbClr val="222222"/>
                </a:solidFill>
                <a:latin typeface="맑은 고딕"/>
              </a:rPr>
              <a:t>•  명시 안 하면 각 디스크가 자체 실패 그룹</a:t>
            </a:r>
          </a:p>
          <a:p>
            <a:pPr>
              <a:spcAft>
                <a:spcPts val="800"/>
              </a:spcAft>
            </a:pPr>
            <a:r>
              <a:rPr sz="1600">
                <a:solidFill>
                  <a:srgbClr val="222222"/>
                </a:solidFill>
                <a:latin typeface="맑은 고딕"/>
              </a:rPr>
              <a:t>•  NORMAL은 실패 그룹 2개, HIGH는 3개 이상 필요</a:t>
            </a:r>
          </a:p>
          <a:p>
            <a:pPr>
              <a:spcAft>
                <a:spcPts val="800"/>
              </a:spcAft>
            </a:pPr>
            <a:r>
              <a:rPr sz="1600">
                <a:solidFill>
                  <a:srgbClr val="222222"/>
                </a:solidFill>
                <a:latin typeface="맑은 고딕"/>
              </a:rPr>
              <a:t>•  FLEX는 최소 3개 실패 그룹 요구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34.7</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디스크 추가/삭제와 리밸런싱</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ALTER DISKGROUP ADD/DROP DISK</a:t>
            </a:r>
          </a:p>
          <a:p>
            <a:pPr>
              <a:spcAft>
                <a:spcPts val="800"/>
              </a:spcAft>
            </a:pPr>
            <a:r>
              <a:rPr sz="1600">
                <a:solidFill>
                  <a:srgbClr val="FFFFFF"/>
                </a:solidFill>
                <a:latin typeface="맑은 고딕"/>
              </a:rPr>
              <a:t>•  온라인 리밸런싱</a:t>
            </a:r>
          </a:p>
          <a:p>
            <a:pPr>
              <a:spcAft>
                <a:spcPts val="800"/>
              </a:spcAft>
            </a:pPr>
            <a:r>
              <a:rPr sz="1600">
                <a:solidFill>
                  <a:srgbClr val="FFFFFF"/>
                </a:solidFill>
                <a:latin typeface="맑은 고딕"/>
              </a:rPr>
              <a:t>•  POWER 0~1024로 속도 조절</a:t>
            </a:r>
          </a:p>
          <a:p>
            <a:pPr>
              <a:spcAft>
                <a:spcPts val="800"/>
              </a:spcAft>
            </a:pPr>
            <a:r>
              <a:rPr sz="1600">
                <a:solidFill>
                  <a:srgbClr val="FFFFFF"/>
                </a:solidFill>
                <a:latin typeface="맑은 고딕"/>
              </a:rPr>
              <a:t>•  V$ASM_OPERATION 모니터링</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리밸런싱(Rebalancing)</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온라인 데이터 재분산</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ADD DISK: 새 디스크로 데이터 자동 재분산</a:t>
            </a:r>
          </a:p>
          <a:p>
            <a:pPr>
              <a:spcAft>
                <a:spcPts val="800"/>
              </a:spcAft>
            </a:pPr>
            <a:r>
              <a:rPr sz="1600">
                <a:solidFill>
                  <a:srgbClr val="222222"/>
                </a:solidFill>
                <a:latin typeface="맑은 고딕"/>
              </a:rPr>
              <a:t>•  DROP DISK: 데이터를 남은 디스크로 옮긴 뒤 안전 분리</a:t>
            </a:r>
          </a:p>
          <a:p>
            <a:pPr>
              <a:spcAft>
                <a:spcPts val="800"/>
              </a:spcAft>
            </a:pPr>
            <a:r>
              <a:rPr sz="1600">
                <a:solidFill>
                  <a:srgbClr val="222222"/>
                </a:solidFill>
                <a:latin typeface="맑은 고딕"/>
              </a:rPr>
              <a:t>•  온라인 진행 → 데이터베이스 무중단 확장/축소</a:t>
            </a:r>
          </a:p>
          <a:p>
            <a:pPr>
              <a:spcAft>
                <a:spcPts val="800"/>
              </a:spcAft>
            </a:pPr>
            <a:r>
              <a:rPr sz="1600">
                <a:solidFill>
                  <a:srgbClr val="222222"/>
                </a:solidFill>
                <a:latin typeface="맑은 고딕"/>
              </a:rPr>
              <a:t>•  여러 디스크는 한 문장에 모아 리밸런싱 1회로</a:t>
            </a:r>
          </a:p>
          <a:p>
            <a:pPr>
              <a:spcAft>
                <a:spcPts val="800"/>
              </a:spcAft>
            </a:pPr>
            <a:r>
              <a:rPr sz="1600">
                <a:solidFill>
                  <a:srgbClr val="222222"/>
                </a:solidFill>
                <a:latin typeface="맑은 고딕"/>
              </a:rPr>
              <a:t>•  DROP 후 STATE=DROPPING → 완료 시 FORMER, 그때 물리 제거</a:t>
            </a:r>
          </a:p>
          <a:p>
            <a:pPr>
              <a:spcAft>
                <a:spcPts val="800"/>
              </a:spcAft>
            </a:pPr>
            <a:r>
              <a:rPr sz="1600">
                <a:solidFill>
                  <a:srgbClr val="222222"/>
                </a:solidFill>
                <a:latin typeface="맑은 고딕"/>
              </a:rPr>
              <a:t>•  REBALANCE ... WAIT로 스크립트 동기화</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디스크 추가/삭제와 모니터링</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리밸런싱 1회</a:t>
            </a:r>
          </a:p>
        </p:txBody>
      </p:sp>
      <p:sp>
        <p:nvSpPr>
          <p:cNvPr id="5" name="Rectangle 4"/>
          <p:cNvSpPr/>
          <p:nvPr/>
        </p:nvSpPr>
        <p:spPr>
          <a:xfrm>
            <a:off x="635000" y="1600000"/>
            <a:ext cx="10922000" cy="490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rIns="137160"/>
          <a:lstStyle/>
          <a:p>
            <a:pPr algn="ctr">
              <a:spcAft>
                <a:spcPts val="0"/>
              </a:spcAft>
            </a:pPr>
            <a:r>
              <a:rPr sz="1200">
                <a:solidFill>
                  <a:srgbClr val="E6E6E6"/>
                </a:solidFill>
                <a:latin typeface="Consolas"/>
              </a:rPr>
              <a:t>SQL&gt; ALTER DISKGROUP data</a:t>
            </a:r>
          </a:p>
          <a:p>
            <a:pPr>
              <a:spcAft>
                <a:spcPts val="0"/>
              </a:spcAft>
            </a:pPr>
            <a:r>
              <a:rPr sz="1200">
                <a:solidFill>
                  <a:srgbClr val="E6E6E6"/>
                </a:solidFill>
                <a:latin typeface="Consolas"/>
              </a:rPr>
              <a:t>  2    ADD  DISK '/dev/.../DISK5' NAME data_0005</a:t>
            </a:r>
          </a:p>
          <a:p>
            <a:pPr>
              <a:spcAft>
                <a:spcPts val="0"/>
              </a:spcAft>
            </a:pPr>
            <a:r>
              <a:rPr sz="1200">
                <a:solidFill>
                  <a:srgbClr val="E6E6E6"/>
                </a:solidFill>
                <a:latin typeface="Consolas"/>
              </a:rPr>
              <a:t>  3    DROP DISK data_0002</a:t>
            </a:r>
          </a:p>
          <a:p>
            <a:pPr>
              <a:spcAft>
                <a:spcPts val="0"/>
              </a:spcAft>
            </a:pPr>
            <a:r>
              <a:rPr sz="1200">
                <a:solidFill>
                  <a:srgbClr val="E6E6E6"/>
                </a:solidFill>
                <a:latin typeface="Consolas"/>
              </a:rPr>
              <a:t>  4    REBALANCE POWER 6;</a:t>
            </a:r>
          </a:p>
          <a:p>
            <a:pPr>
              <a:spcAft>
                <a:spcPts val="0"/>
              </a:spcAft>
            </a:pPr>
            <a:r>
              <a:rPr sz="1200">
                <a:solidFill>
                  <a:srgbClr val="E6E6E6"/>
                </a:solidFill>
                <a:latin typeface="Consolas"/>
              </a:rPr>
              <a:t>Diskgroup altered.</a:t>
            </a:r>
          </a:p>
          <a:p>
            <a:pPr>
              <a:spcAft>
                <a:spcPts val="0"/>
              </a:spcAft>
            </a:pPr>
            <a:r>
              <a:rPr sz="1200">
                <a:solidFill>
                  <a:srgbClr val="E6E6E6"/>
                </a:solidFill>
                <a:latin typeface="Consolas"/>
              </a:rPr>
              <a:t/>
            </a:r>
          </a:p>
          <a:p>
            <a:pPr>
              <a:spcAft>
                <a:spcPts val="0"/>
              </a:spcAft>
            </a:pPr>
            <a:r>
              <a:rPr sz="1200">
                <a:solidFill>
                  <a:srgbClr val="E6E6E6"/>
                </a:solidFill>
                <a:latin typeface="Consolas"/>
              </a:rPr>
              <a:t>SQL&gt; SELECT operation, state, power, est_minutes</a:t>
            </a:r>
          </a:p>
          <a:p>
            <a:pPr>
              <a:spcAft>
                <a:spcPts val="0"/>
              </a:spcAft>
            </a:pPr>
            <a:r>
              <a:rPr sz="1200">
                <a:solidFill>
                  <a:srgbClr val="E6E6E6"/>
                </a:solidFill>
                <a:latin typeface="Consolas"/>
              </a:rPr>
              <a:t>  2    FROM v$asm_operation;</a:t>
            </a:r>
          </a:p>
          <a:p>
            <a:pPr>
              <a:spcAft>
                <a:spcPts val="0"/>
              </a:spcAft>
            </a:pPr>
            <a:r>
              <a:rPr sz="1200">
                <a:solidFill>
                  <a:srgbClr val="E6E6E6"/>
                </a:solidFill>
                <a:latin typeface="Consolas"/>
              </a:rPr>
              <a:t>OPERA STATE   POWER EST_MINUTES</a:t>
            </a:r>
          </a:p>
          <a:p>
            <a:pPr>
              <a:spcAft>
                <a:spcPts val="0"/>
              </a:spcAft>
            </a:pPr>
            <a:r>
              <a:rPr sz="1200">
                <a:solidFill>
                  <a:srgbClr val="E6E6E6"/>
                </a:solidFill>
                <a:latin typeface="Consolas"/>
              </a:rPr>
              <a:t>----- ------- ----- -----------</a:t>
            </a:r>
          </a:p>
          <a:p>
            <a:pPr>
              <a:spcAft>
                <a:spcPts val="0"/>
              </a:spcAft>
            </a:pPr>
            <a:r>
              <a:rPr sz="1200">
                <a:solidFill>
                  <a:srgbClr val="E6E6E6"/>
                </a:solidFill>
                <a:latin typeface="Consolas"/>
              </a:rPr>
              <a:t>REBAL RUN         6           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34.8</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디스크 스크러빙 (19c)</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데이터 무결성 검사·복구</a:t>
            </a:r>
          </a:p>
          <a:p>
            <a:pPr>
              <a:spcAft>
                <a:spcPts val="800"/>
              </a:spcAft>
            </a:pPr>
            <a:r>
              <a:rPr sz="1600">
                <a:solidFill>
                  <a:srgbClr val="FFFFFF"/>
                </a:solidFill>
                <a:latin typeface="맑은 고딕"/>
              </a:rPr>
              <a:t>•  논리적 손상(bit rot) 탐지</a:t>
            </a:r>
          </a:p>
          <a:p>
            <a:pPr>
              <a:spcAft>
                <a:spcPts val="800"/>
              </a:spcAft>
            </a:pPr>
            <a:r>
              <a:rPr sz="1600">
                <a:solidFill>
                  <a:srgbClr val="FFFFFF"/>
                </a:solidFill>
                <a:latin typeface="맑은 고딕"/>
              </a:rPr>
              <a:t>•  미러로 자동 복구(REPAIR)</a:t>
            </a:r>
          </a:p>
          <a:p>
            <a:pPr>
              <a:spcAft>
                <a:spcPts val="800"/>
              </a:spcAft>
            </a:pPr>
            <a:r>
              <a:rPr sz="1600">
                <a:solidFill>
                  <a:srgbClr val="FFFFFF"/>
                </a:solidFill>
                <a:latin typeface="맑은 고딕"/>
              </a:rPr>
              <a:t>•  ALTER DISKGROUP ... SCRUB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디스크 스크러빙</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조용한 손상을 선제적으로 제거</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12c 도입, 19c 강화된 무결성 검사·복구 기능</a:t>
            </a:r>
          </a:p>
          <a:p>
            <a:pPr>
              <a:spcAft>
                <a:spcPts val="800"/>
              </a:spcAft>
            </a:pPr>
            <a:r>
              <a:rPr sz="1600">
                <a:solidFill>
                  <a:srgbClr val="222222"/>
                </a:solidFill>
                <a:latin typeface="맑은 고딕"/>
              </a:rPr>
              <a:t>•  매체 열화·비트 부패로 쌓이는 논리적 손상 탐지</a:t>
            </a:r>
          </a:p>
          <a:p>
            <a:pPr>
              <a:spcAft>
                <a:spcPts val="800"/>
              </a:spcAft>
            </a:pPr>
            <a:r>
              <a:rPr sz="1600">
                <a:solidFill>
                  <a:srgbClr val="222222"/>
                </a:solidFill>
                <a:latin typeface="맑은 고딕"/>
              </a:rPr>
              <a:t>•  검사 단위: 디스크 그룹 / 디스크 / 파일</a:t>
            </a:r>
          </a:p>
          <a:p>
            <a:pPr>
              <a:spcAft>
                <a:spcPts val="800"/>
              </a:spcAft>
            </a:pPr>
            <a:r>
              <a:rPr sz="1600">
                <a:solidFill>
                  <a:srgbClr val="222222"/>
                </a:solidFill>
                <a:latin typeface="맑은 고딕"/>
              </a:rPr>
              <a:t>•  REPAIR → 미러 복사본으로 자동 복구(리던던시 필요)</a:t>
            </a:r>
          </a:p>
          <a:p>
            <a:pPr>
              <a:spcAft>
                <a:spcPts val="800"/>
              </a:spcAft>
            </a:pPr>
            <a:r>
              <a:rPr sz="1600">
                <a:solidFill>
                  <a:srgbClr val="222222"/>
                </a:solidFill>
                <a:latin typeface="맑은 고딕"/>
              </a:rPr>
              <a:t>•  POWER(LOW/HIGH/MAX/AUTO)로 I/O 강도 조절</a:t>
            </a:r>
          </a:p>
          <a:p>
            <a:pPr>
              <a:spcAft>
                <a:spcPts val="800"/>
              </a:spcAft>
            </a:pPr>
            <a:r>
              <a:rPr sz="1600">
                <a:solidFill>
                  <a:srgbClr val="222222"/>
                </a:solidFill>
                <a:latin typeface="맑은 고딕"/>
              </a:rPr>
              <a:t>•  리밸런싱·미러 재동기화와 목적이 다름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34.9</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디스크 그룹 호환성 속성</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COMPATIBLE.ASM / RDBMS / ADVM</a:t>
            </a:r>
          </a:p>
          <a:p>
            <a:pPr>
              <a:spcAft>
                <a:spcPts val="800"/>
              </a:spcAft>
            </a:pPr>
            <a:r>
              <a:rPr sz="1600">
                <a:solidFill>
                  <a:srgbClr val="FFFFFF"/>
                </a:solidFill>
                <a:latin typeface="맑은 고딕"/>
              </a:rPr>
              <a:t>•  기능의 최소 버전 규정</a:t>
            </a:r>
          </a:p>
          <a:p>
            <a:pPr>
              <a:spcAft>
                <a:spcPts val="800"/>
              </a:spcAft>
            </a:pPr>
            <a:r>
              <a:rPr sz="1600">
                <a:solidFill>
                  <a:srgbClr val="FFFFFF"/>
                </a:solidFill>
                <a:latin typeface="맑은 고딕"/>
              </a:rPr>
              <a:t>•  상향은 되돌릴 수 없음</a:t>
            </a:r>
          </a:p>
          <a:p>
            <a:pPr>
              <a:spcAft>
                <a:spcPts val="800"/>
              </a:spcAft>
            </a:pPr>
            <a:r>
              <a:rPr sz="1600">
                <a:solidFill>
                  <a:srgbClr val="FFFFFF"/>
                </a:solidFill>
                <a:latin typeface="맑은 고딕"/>
              </a:rPr>
              <a:t>•  19c 신기능은 호환성 상향 필요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호환성 속성(COMPATIBLE.*)</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사용 가능한 기능의 최소 버전</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COMPATIBLE.ASM: 메타데이터를 다루는 ASM SW 최소 버전</a:t>
            </a:r>
          </a:p>
          <a:p>
            <a:pPr>
              <a:spcAft>
                <a:spcPts val="800"/>
              </a:spcAft>
            </a:pPr>
            <a:r>
              <a:rPr sz="1600">
                <a:solidFill>
                  <a:srgbClr val="222222"/>
                </a:solidFill>
                <a:latin typeface="맑은 고딕"/>
              </a:rPr>
              <a:t>•  COMPATIBLE.RDBMS: 파일을 쓸 수 있는 DB 최소 버전</a:t>
            </a:r>
          </a:p>
          <a:p>
            <a:pPr>
              <a:spcAft>
                <a:spcPts val="800"/>
              </a:spcAft>
            </a:pPr>
            <a:r>
              <a:rPr sz="1600">
                <a:solidFill>
                  <a:srgbClr val="222222"/>
                </a:solidFill>
                <a:latin typeface="맑은 고딕"/>
              </a:rPr>
              <a:t>•  COMPATIBLE.ADVM: ADVM 볼륨·ACFS 사용 최소 버전</a:t>
            </a:r>
          </a:p>
          <a:p>
            <a:pPr>
              <a:spcAft>
                <a:spcPts val="800"/>
              </a:spcAft>
            </a:pPr>
            <a:r>
              <a:rPr sz="1600">
                <a:solidFill>
                  <a:srgbClr val="222222"/>
                </a:solidFill>
                <a:latin typeface="맑은 고딕"/>
              </a:rPr>
              <a:t>•  제약: COMPATIBLE.ASM ≥ COMPATIBLE.RDBMS</a:t>
            </a:r>
          </a:p>
          <a:p>
            <a:pPr>
              <a:spcAft>
                <a:spcPts val="800"/>
              </a:spcAft>
            </a:pPr>
            <a:r>
              <a:rPr sz="1600">
                <a:solidFill>
                  <a:srgbClr val="222222"/>
                </a:solidFill>
                <a:latin typeface="맑은 고딕"/>
              </a:rPr>
              <a:t>•  한 번 올리면 되돌릴 수 없음(비가역)</a:t>
            </a:r>
          </a:p>
          <a:p>
            <a:pPr>
              <a:spcAft>
                <a:spcPts val="800"/>
              </a:spcAft>
            </a:pPr>
            <a:r>
              <a:rPr sz="1600">
                <a:solidFill>
                  <a:srgbClr val="222222"/>
                </a:solidFill>
                <a:latin typeface="맑은 고딕"/>
              </a:rPr>
              <a:t>•  Flex·파일 그룹·향상된 스크러빙은 12.2/19.0+ 필요</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34.10</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Flex 디스크 그룹·파일 그룹/쿼터 그룹</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19c 멀티테넌트 저장소 세분화</a:t>
            </a:r>
          </a:p>
          <a:p>
            <a:pPr>
              <a:spcAft>
                <a:spcPts val="800"/>
              </a:spcAft>
            </a:pPr>
            <a:r>
              <a:rPr sz="1600">
                <a:solidFill>
                  <a:srgbClr val="FFFFFF"/>
                </a:solidFill>
                <a:latin typeface="맑은 고딕"/>
              </a:rPr>
              <a:t>•  FLEX REDUNDANCY</a:t>
            </a:r>
          </a:p>
          <a:p>
            <a:pPr>
              <a:spcAft>
                <a:spcPts val="800"/>
              </a:spcAft>
            </a:pPr>
            <a:r>
              <a:rPr sz="1600">
                <a:solidFill>
                  <a:srgbClr val="FFFFFF"/>
                </a:solidFill>
                <a:latin typeface="맑은 고딕"/>
              </a:rPr>
              <a:t>•  파일 그룹: PDB별 리던던시</a:t>
            </a:r>
          </a:p>
          <a:p>
            <a:pPr>
              <a:spcAft>
                <a:spcPts val="800"/>
              </a:spcAft>
            </a:pPr>
            <a:r>
              <a:rPr sz="1600">
                <a:solidFill>
                  <a:srgbClr val="FFFFFF"/>
                </a:solidFill>
                <a:latin typeface="맑은 고딕"/>
              </a:rPr>
              <a:t>•  쿼터 그룹: 합계 용량 상한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Flex 디스크 그룹</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PDB별 차등 보호</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파일 그룹 단위로 리던던시·정책을 개별 지정</a:t>
            </a:r>
          </a:p>
          <a:p>
            <a:pPr>
              <a:spcAft>
                <a:spcPts val="800"/>
              </a:spcAft>
            </a:pPr>
            <a:r>
              <a:rPr sz="1600">
                <a:solidFill>
                  <a:srgbClr val="222222"/>
                </a:solidFill>
                <a:latin typeface="맑은 고딕"/>
              </a:rPr>
              <a:t>•  FLEX REDUNDANCY + 실패 그룹 3개 이상 + 호환성 12.2+</a:t>
            </a:r>
          </a:p>
          <a:p>
            <a:pPr>
              <a:spcAft>
                <a:spcPts val="800"/>
              </a:spcAft>
            </a:pPr>
            <a:r>
              <a:rPr sz="1600">
                <a:solidFill>
                  <a:srgbClr val="222222"/>
                </a:solidFill>
                <a:latin typeface="맑은 고딕"/>
              </a:rPr>
              <a:t>•  중요 PDB는 HIGH, 개발 PDB는 낮게 → 용량 절약</a:t>
            </a:r>
          </a:p>
          <a:p>
            <a:pPr>
              <a:spcAft>
                <a:spcPts val="800"/>
              </a:spcAft>
            </a:pPr>
            <a:r>
              <a:rPr sz="1600">
                <a:solidFill>
                  <a:srgbClr val="222222"/>
                </a:solidFill>
                <a:latin typeface="맑은 고딕"/>
              </a:rPr>
              <a:t>•  파일 그룹: DB/PDB에 속한 파일 집합(자동 생성)</a:t>
            </a:r>
          </a:p>
          <a:p>
            <a:pPr>
              <a:spcAft>
                <a:spcPts val="800"/>
              </a:spcAft>
            </a:pPr>
            <a:r>
              <a:rPr sz="1600">
                <a:solidFill>
                  <a:srgbClr val="222222"/>
                </a:solidFill>
                <a:latin typeface="맑은 고딕"/>
              </a:rPr>
              <a:t>•  쿼터 그룹: 여러 파일 그룹의 합계 사용량 상한(QUOTA)</a:t>
            </a:r>
          </a:p>
          <a:p>
            <a:pPr>
              <a:spcAft>
                <a:spcPts val="800"/>
              </a:spcAft>
            </a:pPr>
            <a:r>
              <a:rPr sz="1600">
                <a:solidFill>
                  <a:srgbClr val="222222"/>
                </a:solidFill>
                <a:latin typeface="맑은 고딕"/>
              </a:rPr>
              <a:t>•  테넌트별 자원 격리·공간 과금 가능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Flex·파일 그룹·쿼터 그룹 구성</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FLEX REDUNDANCY</a:t>
            </a:r>
          </a:p>
        </p:txBody>
      </p:sp>
      <p:sp>
        <p:nvSpPr>
          <p:cNvPr id="5" name="Rectangle 4"/>
          <p:cNvSpPr/>
          <p:nvPr/>
        </p:nvSpPr>
        <p:spPr>
          <a:xfrm>
            <a:off x="635000" y="1600000"/>
            <a:ext cx="10922000" cy="490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rIns="137160"/>
          <a:lstStyle/>
          <a:p>
            <a:pPr algn="ctr">
              <a:spcAft>
                <a:spcPts val="0"/>
              </a:spcAft>
            </a:pPr>
            <a:r>
              <a:rPr sz="1200">
                <a:solidFill>
                  <a:srgbClr val="E6E6E6"/>
                </a:solidFill>
                <a:latin typeface="Consolas"/>
              </a:rPr>
              <a:t>SQL&gt; CREATE DISKGROUP flexdg FLEX REDUNDANCY</a:t>
            </a:r>
          </a:p>
          <a:p>
            <a:pPr>
              <a:spcAft>
                <a:spcPts val="0"/>
              </a:spcAft>
            </a:pPr>
            <a:r>
              <a:rPr sz="1200">
                <a:solidFill>
                  <a:srgbClr val="E6E6E6"/>
                </a:solidFill>
                <a:latin typeface="Consolas"/>
              </a:rPr>
              <a:t>  2    FAILGROUP fg1 DISK '/dev/.../DISK6'</a:t>
            </a:r>
          </a:p>
          <a:p>
            <a:pPr>
              <a:spcAft>
                <a:spcPts val="0"/>
              </a:spcAft>
            </a:pPr>
            <a:r>
              <a:rPr sz="1200">
                <a:solidFill>
                  <a:srgbClr val="E6E6E6"/>
                </a:solidFill>
                <a:latin typeface="Consolas"/>
              </a:rPr>
              <a:t>  3    FAILGROUP fg2 DISK '/dev/.../DISK7'</a:t>
            </a:r>
          </a:p>
          <a:p>
            <a:pPr>
              <a:spcAft>
                <a:spcPts val="0"/>
              </a:spcAft>
            </a:pPr>
            <a:r>
              <a:rPr sz="1200">
                <a:solidFill>
                  <a:srgbClr val="E6E6E6"/>
                </a:solidFill>
                <a:latin typeface="Consolas"/>
              </a:rPr>
              <a:t>  4    FAILGROUP fg3 DISK '/dev/.../DISK8'</a:t>
            </a:r>
          </a:p>
          <a:p>
            <a:pPr>
              <a:spcAft>
                <a:spcPts val="0"/>
              </a:spcAft>
            </a:pPr>
            <a:r>
              <a:rPr sz="1200">
                <a:solidFill>
                  <a:srgbClr val="E6E6E6"/>
                </a:solidFill>
                <a:latin typeface="Consolas"/>
              </a:rPr>
              <a:t>  5    ATTRIBUTE 'compatible.asm'='19.0.0.0',</a:t>
            </a:r>
          </a:p>
          <a:p>
            <a:pPr>
              <a:spcAft>
                <a:spcPts val="0"/>
              </a:spcAft>
            </a:pPr>
            <a:r>
              <a:rPr sz="1200">
                <a:solidFill>
                  <a:srgbClr val="E6E6E6"/>
                </a:solidFill>
                <a:latin typeface="Consolas"/>
              </a:rPr>
              <a:t>  6              'compatible.rdbms'='19.0.0.0';</a:t>
            </a:r>
          </a:p>
          <a:p>
            <a:pPr>
              <a:spcAft>
                <a:spcPts val="0"/>
              </a:spcAft>
            </a:pPr>
            <a:r>
              <a:rPr sz="1200">
                <a:solidFill>
                  <a:srgbClr val="E6E6E6"/>
                </a:solidFill>
                <a:latin typeface="Consolas"/>
              </a:rPr>
              <a:t/>
            </a:r>
          </a:p>
          <a:p>
            <a:pPr>
              <a:spcAft>
                <a:spcPts val="0"/>
              </a:spcAft>
            </a:pPr>
            <a:r>
              <a:rPr sz="1200">
                <a:solidFill>
                  <a:srgbClr val="E6E6E6"/>
                </a:solidFill>
                <a:latin typeface="Consolas"/>
              </a:rPr>
              <a:t>SQL&gt; ALTER DISKGROUP flexdg ADD QUOTAGROUP sales_qg</a:t>
            </a:r>
          </a:p>
          <a:p>
            <a:pPr>
              <a:spcAft>
                <a:spcPts val="0"/>
              </a:spcAft>
            </a:pPr>
            <a:r>
              <a:rPr sz="1200">
                <a:solidFill>
                  <a:srgbClr val="E6E6E6"/>
                </a:solidFill>
                <a:latin typeface="Consolas"/>
              </a:rPr>
              <a:t>  2    SET 'quota'='500G';</a:t>
            </a:r>
          </a:p>
          <a:p>
            <a:pPr>
              <a:spcAft>
                <a:spcPts val="0"/>
              </a:spcAft>
            </a:pPr>
            <a:r>
              <a:rPr sz="1200">
                <a:solidFill>
                  <a:srgbClr val="E6E6E6"/>
                </a:solidFill>
                <a:latin typeface="Consolas"/>
              </a:rPr>
              <a:t>SQL&gt; ALTER DISKGROUP flexdg ADD FILEGROUP salespdb</a:t>
            </a:r>
          </a:p>
          <a:p>
            <a:pPr>
              <a:spcAft>
                <a:spcPts val="0"/>
              </a:spcAft>
            </a:pPr>
            <a:r>
              <a:rPr sz="1200">
                <a:solidFill>
                  <a:srgbClr val="E6E6E6"/>
                </a:solidFill>
                <a:latin typeface="Consolas"/>
              </a:rPr>
              <a:t>  2    DATABASE salespdb SET 'redundancy'='high'</a:t>
            </a:r>
          </a:p>
          <a:p>
            <a:pPr>
              <a:spcAft>
                <a:spcPts val="0"/>
              </a:spcAft>
            </a:pPr>
            <a:r>
              <a:rPr sz="1200">
                <a:solidFill>
                  <a:srgbClr val="E6E6E6"/>
                </a:solidFill>
                <a:latin typeface="Consolas"/>
              </a:rPr>
              <a:t>  3    SET 'quota_group'='sales_qg';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34.11</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ASM 파일명 규칙</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완전한 이름 / 별칭 / 템플릿</a:t>
            </a:r>
          </a:p>
          <a:p>
            <a:pPr>
              <a:spcAft>
                <a:spcPts val="800"/>
              </a:spcAft>
            </a:pPr>
            <a:r>
              <a:rPr sz="1600">
                <a:solidFill>
                  <a:srgbClr val="FFFFFF"/>
                </a:solidFill>
                <a:latin typeface="맑은 고딕"/>
              </a:rPr>
              <a:t>•  +로 시작하는 파일명</a:t>
            </a:r>
          </a:p>
          <a:p>
            <a:pPr>
              <a:spcAft>
                <a:spcPts val="800"/>
              </a:spcAft>
            </a:pPr>
            <a:r>
              <a:rPr sz="1600">
                <a:solidFill>
                  <a:srgbClr val="FFFFFF"/>
                </a:solidFill>
                <a:latin typeface="맑은 고딕"/>
              </a:rPr>
              <a:t>•  OMF와 결합</a:t>
            </a:r>
          </a:p>
          <a:p>
            <a:pPr>
              <a:spcAft>
                <a:spcPts val="800"/>
              </a:spcAft>
            </a:pPr>
            <a:r>
              <a:rPr sz="1600">
                <a:solidFill>
                  <a:srgbClr val="FFFFFF"/>
                </a:solidFill>
                <a:latin typeface="맑은 고딕"/>
              </a:rPr>
              <a:t>•  파일 유형별 기본 속성</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파일명·별칭·템플릿</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+로 시작하는 ASM 파일 이름</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완전한 이름: +DG/DB/유형/태그.파일번호.증분번호(시스템 생성)</a:t>
            </a:r>
          </a:p>
          <a:p>
            <a:pPr>
              <a:spcAft>
                <a:spcPts val="800"/>
              </a:spcAft>
            </a:pPr>
            <a:r>
              <a:rPr sz="1600">
                <a:solidFill>
                  <a:srgbClr val="222222"/>
                </a:solidFill>
                <a:latin typeface="맑은 고딕"/>
              </a:rPr>
              <a:t>•  별칭(Alias): +DATA/orcl/users.dbf 처럼 사람이 읽는 이름</a:t>
            </a:r>
          </a:p>
          <a:p>
            <a:pPr>
              <a:spcAft>
                <a:spcPts val="800"/>
              </a:spcAft>
            </a:pPr>
            <a:r>
              <a:rPr sz="1600">
                <a:solidFill>
                  <a:srgbClr val="222222"/>
                </a:solidFill>
                <a:latin typeface="맑은 고딕"/>
              </a:rPr>
              <a:t>•  생성 시 +DATA만 지정 → 완전한 이름 자동 생성(OMF)</a:t>
            </a:r>
          </a:p>
          <a:p>
            <a:pPr>
              <a:spcAft>
                <a:spcPts val="800"/>
              </a:spcAft>
            </a:pPr>
            <a:r>
              <a:rPr sz="1600">
                <a:solidFill>
                  <a:srgbClr val="222222"/>
                </a:solidFill>
                <a:latin typeface="맑은 고딕"/>
              </a:rPr>
              <a:t>•  템플릿: 파일 유형별 기본 리던던시·스트라이핑 정의</a:t>
            </a:r>
          </a:p>
          <a:p>
            <a:pPr>
              <a:spcAft>
                <a:spcPts val="800"/>
              </a:spcAft>
            </a:pPr>
            <a:r>
              <a:rPr sz="1600">
                <a:solidFill>
                  <a:srgbClr val="222222"/>
                </a:solidFill>
                <a:latin typeface="맑은 고딕"/>
              </a:rPr>
              <a:t>•  예: CONTROLFILE=HIGH/FINE, DATAFILE=디그리던던시/COARSE</a:t>
            </a:r>
          </a:p>
          <a:p>
            <a:pPr>
              <a:spcAft>
                <a:spcPts val="800"/>
              </a:spcAft>
            </a:pPr>
            <a:r>
              <a:rPr sz="1600">
                <a:solidFill>
                  <a:srgbClr val="222222"/>
                </a:solidFill>
                <a:latin typeface="맑은 고딕"/>
              </a:rPr>
              <a:t>•  ADD TEMPLATE로 사용자 정의 정책 적용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nchor="t">
            <a:spAutoFit/>
          </a:bodyPr>
          <a:lstStyle/>
          <a:p>
            <a:pPr algn="l"/>
            <a:r>
              <a:rPr sz="4000" b="1">
                <a:solidFill>
                  <a:srgbClr val="FFFFFF"/>
                </a:solidFill>
                <a:latin typeface="맑은 고딕"/>
              </a:rPr>
              <a:t>34.12 · 34.13</a:t>
            </a:r>
          </a:p>
        </p:txBody>
      </p:sp>
      <p:sp>
        <p:nvSpPr>
          <p:cNvPr id="4" name="TextBox 3"/>
          <p:cNvSpPr txBox="1"/>
          <p:nvPr/>
        </p:nvSpPr>
        <p:spPr>
          <a:xfrm>
            <a:off x="812800" y="3009900"/>
            <a:ext cx="10515600" cy="914400"/>
          </a:xfrm>
          <a:prstGeom prst="rect">
            <a:avLst/>
          </a:prstGeom>
          <a:noFill/>
        </p:spPr>
        <p:txBody>
          <a:bodyPr wrap="square" anchor="t">
            <a:spAutoFit/>
          </a:bodyPr>
          <a:lstStyle/>
          <a:p>
            <a:pPr algn="l"/>
            <a:r>
              <a:rPr sz="2800" b="1">
                <a:solidFill>
                  <a:srgbClr val="FFFFFF"/>
                </a:solidFill>
                <a:latin typeface="맑은 고딕"/>
              </a:rPr>
              <a:t>ASMCMD 유틸리티 · RMAN 마이그레이션</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a:solidFill>
                  <a:srgbClr val="FFFFFF"/>
                </a:solidFill>
                <a:latin typeface="맑은 고딕"/>
              </a:rPr>
              <a:t>•  ASMCMD: 파일 시스템처럼 탐색·관리</a:t>
            </a:r>
          </a:p>
          <a:p>
            <a:pPr>
              <a:spcAft>
                <a:spcPts val="800"/>
              </a:spcAft>
            </a:pPr>
            <a:r>
              <a:rPr sz="1600">
                <a:solidFill>
                  <a:srgbClr val="FFFFFF"/>
                </a:solidFill>
                <a:latin typeface="맑은 고딕"/>
              </a:rPr>
              <a:t>•  ls/cd/cp/du/lsdg/lsdsk</a:t>
            </a:r>
          </a:p>
          <a:p>
            <a:pPr>
              <a:spcAft>
                <a:spcPts val="800"/>
              </a:spcAft>
            </a:pPr>
            <a:r>
              <a:rPr sz="1600">
                <a:solidFill>
                  <a:srgbClr val="FFFFFF"/>
                </a:solidFill>
                <a:latin typeface="맑은 고딕"/>
              </a:rPr>
              <a:t>•  RMAN: non-ASM → ASM 이관</a:t>
            </a:r>
          </a:p>
          <a:p>
            <a:pPr>
              <a:spcAft>
                <a:spcPts val="800"/>
              </a:spcAft>
            </a:pPr>
            <a:r>
              <a:rPr sz="1600">
                <a:solidFill>
                  <a:srgbClr val="FFFFFF"/>
                </a:solidFill>
                <a:latin typeface="맑은 고딕"/>
              </a:rPr>
              <a:t>•  BACKUP AS COPY + SWITCH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ASMCMD 유틸리티</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명령행에서 ASM을 파일 시스템처럼</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asmcmd 실행 → ASMCMD&gt; 프롬프트</a:t>
            </a:r>
          </a:p>
          <a:p>
            <a:pPr>
              <a:spcAft>
                <a:spcPts val="800"/>
              </a:spcAft>
            </a:pPr>
            <a:r>
              <a:rPr sz="1600">
                <a:solidFill>
                  <a:srgbClr val="222222"/>
                </a:solidFill>
                <a:latin typeface="맑은 고딕"/>
              </a:rPr>
              <a:t>•  ls/cd/pwd/mkdir/rmdir/cp/rm/du/find</a:t>
            </a:r>
          </a:p>
          <a:p>
            <a:pPr>
              <a:spcAft>
                <a:spcPts val="800"/>
              </a:spcAft>
            </a:pPr>
            <a:r>
              <a:rPr sz="1600">
                <a:solidFill>
                  <a:srgbClr val="222222"/>
                </a:solidFill>
                <a:latin typeface="맑은 고딕"/>
              </a:rPr>
              <a:t>•  lsdg(디스크 그룹)·lsdsk(디스크)·lsct(클라이언트)·lsop(작업)</a:t>
            </a:r>
          </a:p>
          <a:p>
            <a:pPr>
              <a:spcAft>
                <a:spcPts val="800"/>
              </a:spcAft>
            </a:pPr>
            <a:r>
              <a:rPr sz="1600">
                <a:solidFill>
                  <a:srgbClr val="222222"/>
                </a:solidFill>
                <a:latin typeface="맑은 고딕"/>
              </a:rPr>
              <a:t>•  mount/umount·spget/spcopy·pwget/pwcopy·volcreate</a:t>
            </a:r>
          </a:p>
          <a:p>
            <a:pPr>
              <a:spcAft>
                <a:spcPts val="800"/>
              </a:spcAft>
            </a:pPr>
            <a:r>
              <a:rPr sz="1600">
                <a:solidFill>
                  <a:srgbClr val="222222"/>
                </a:solidFill>
                <a:latin typeface="맑은 고딕"/>
              </a:rPr>
              <a:t>•  Usable_file_MB로 실제 여유 공간 판단</a:t>
            </a:r>
          </a:p>
          <a:p>
            <a:pPr>
              <a:spcAft>
                <a:spcPts val="800"/>
              </a:spcAft>
            </a:pPr>
            <a:r>
              <a:rPr sz="1600">
                <a:solidFill>
                  <a:srgbClr val="222222"/>
                </a:solidFill>
                <a:latin typeface="맑은 고딕"/>
              </a:rPr>
              <a:t>•  'asmcmd &lt;cmd&gt;' 단발 실행으로 자동화</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ASMCMD 사용 예</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asmcmd -p</a:t>
            </a:r>
          </a:p>
        </p:txBody>
      </p:sp>
      <p:sp>
        <p:nvSpPr>
          <p:cNvPr id="5" name="Rectangle 4"/>
          <p:cNvSpPr/>
          <p:nvPr/>
        </p:nvSpPr>
        <p:spPr>
          <a:xfrm>
            <a:off x="635000" y="1600000"/>
            <a:ext cx="10922000" cy="490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rIns="137160"/>
          <a:lstStyle/>
          <a:p>
            <a:pPr algn="ctr">
              <a:spcAft>
                <a:spcPts val="0"/>
              </a:spcAft>
            </a:pPr>
            <a:r>
              <a:rPr sz="1200">
                <a:solidFill>
                  <a:srgbClr val="E6E6E6"/>
                </a:solidFill>
                <a:latin typeface="Consolas"/>
              </a:rPr>
              <a:t>ASMCMD [+] &gt; lsdg</a:t>
            </a:r>
          </a:p>
          <a:p>
            <a:pPr>
              <a:spcAft>
                <a:spcPts val="0"/>
              </a:spcAft>
            </a:pPr>
            <a:r>
              <a:rPr sz="1200">
                <a:solidFill>
                  <a:srgbClr val="E6E6E6"/>
                </a:solidFill>
                <a:latin typeface="Consolas"/>
              </a:rPr>
              <a:t>State    Type    Total_MB  Free_MB  Usable_file_MB  Name</a:t>
            </a:r>
          </a:p>
          <a:p>
            <a:pPr>
              <a:spcAft>
                <a:spcPts val="0"/>
              </a:spcAft>
            </a:pPr>
            <a:r>
              <a:rPr sz="1200">
                <a:solidFill>
                  <a:srgbClr val="E6E6E6"/>
                </a:solidFill>
                <a:latin typeface="Consolas"/>
              </a:rPr>
              <a:t>MOUNTED  NORMAL     40960    38112           17008  DATA/</a:t>
            </a:r>
          </a:p>
          <a:p>
            <a:pPr>
              <a:spcAft>
                <a:spcPts val="0"/>
              </a:spcAft>
            </a:pPr>
            <a:r>
              <a:rPr sz="1200">
                <a:solidFill>
                  <a:srgbClr val="E6E6E6"/>
                </a:solidFill>
                <a:latin typeface="Consolas"/>
              </a:rPr>
              <a:t>MOUNTED  EXTERN     20480    19004           19004  FRA/</a:t>
            </a:r>
          </a:p>
          <a:p>
            <a:pPr>
              <a:spcAft>
                <a:spcPts val="0"/>
              </a:spcAft>
            </a:pPr>
            <a:r>
              <a:rPr sz="1200">
                <a:solidFill>
                  <a:srgbClr val="E6E6E6"/>
                </a:solidFill>
                <a:latin typeface="Consolas"/>
              </a:rPr>
              <a:t/>
            </a:r>
          </a:p>
          <a:p>
            <a:pPr>
              <a:spcAft>
                <a:spcPts val="0"/>
              </a:spcAft>
            </a:pPr>
            <a:r>
              <a:rPr sz="1200">
                <a:solidFill>
                  <a:srgbClr val="E6E6E6"/>
                </a:solidFill>
                <a:latin typeface="Consolas"/>
              </a:rPr>
              <a:t>ASMCMD [+] &gt; cd +DATA/orcl/datafile</a:t>
            </a:r>
          </a:p>
          <a:p>
            <a:pPr>
              <a:spcAft>
                <a:spcPts val="0"/>
              </a:spcAft>
            </a:pPr>
            <a:r>
              <a:rPr sz="1200">
                <a:solidFill>
                  <a:srgbClr val="E6E6E6"/>
                </a:solidFill>
                <a:latin typeface="Consolas"/>
              </a:rPr>
              <a:t>ASMCMD &gt; ls -l</a:t>
            </a:r>
          </a:p>
          <a:p>
            <a:pPr>
              <a:spcAft>
                <a:spcPts val="0"/>
              </a:spcAft>
            </a:pPr>
            <a:r>
              <a:rPr sz="1200">
                <a:solidFill>
                  <a:srgbClr val="E6E6E6"/>
                </a:solidFill>
                <a:latin typeface="Consolas"/>
              </a:rPr>
              <a:t>Type      Redund  Striped  Sys  Name</a:t>
            </a:r>
          </a:p>
          <a:p>
            <a:pPr>
              <a:spcAft>
                <a:spcPts val="0"/>
              </a:spcAft>
            </a:pPr>
            <a:r>
              <a:rPr sz="1200">
                <a:solidFill>
                  <a:srgbClr val="E6E6E6"/>
                </a:solidFill>
                <a:latin typeface="Consolas"/>
              </a:rPr>
              <a:t>DATAFILE  MIRROR  COARSE   Y    users.259.1048576789</a:t>
            </a:r>
          </a:p>
          <a:p>
            <a:pPr>
              <a:spcAft>
                <a:spcPts val="0"/>
              </a:spcAft>
            </a:pPr>
            <a:r>
              <a:rPr sz="1200">
                <a:solidFill>
                  <a:srgbClr val="E6E6E6"/>
                </a:solidFill>
                <a:latin typeface="Consolas"/>
              </a:rPr>
              <a:t/>
            </a:r>
          </a:p>
          <a:p>
            <a:pPr>
              <a:spcAft>
                <a:spcPts val="0"/>
              </a:spcAft>
            </a:pPr>
            <a:r>
              <a:rPr sz="1200">
                <a:solidFill>
                  <a:srgbClr val="E6E6E6"/>
                </a:solidFill>
                <a:latin typeface="Consolas"/>
              </a:rPr>
              <a:t>ASMCMD &gt; cp +DATA/orcl/datafile/users.259... /backup/users.dbf</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RMAN을 이용한 ASM 마이그레이션</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non-ASM → ASM 이관</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ASM 파일은 OS 명령으로 직접 못 다룸 → RMAN 사용</a:t>
            </a:r>
          </a:p>
          <a:p>
            <a:pPr>
              <a:spcAft>
                <a:spcPts val="800"/>
              </a:spcAft>
            </a:pPr>
            <a:r>
              <a:rPr sz="1600">
                <a:solidFill>
                  <a:srgbClr val="222222"/>
                </a:solidFill>
                <a:latin typeface="맑은 고딕"/>
              </a:rPr>
              <a:t>•  파라미터를 ASM 경로로 변경(db_create_file_dest=+DATA)</a:t>
            </a:r>
          </a:p>
          <a:p>
            <a:pPr>
              <a:spcAft>
                <a:spcPts val="800"/>
              </a:spcAft>
            </a:pPr>
            <a:r>
              <a:rPr sz="1600">
                <a:solidFill>
                  <a:srgbClr val="222222"/>
                </a:solidFill>
                <a:latin typeface="맑은 고딕"/>
              </a:rPr>
              <a:t>•  BACKUP AS COPY DATABASE FORMAT '+DATA'</a:t>
            </a:r>
          </a:p>
          <a:p>
            <a:pPr>
              <a:spcAft>
                <a:spcPts val="800"/>
              </a:spcAft>
            </a:pPr>
            <a:r>
              <a:rPr sz="1600">
                <a:solidFill>
                  <a:srgbClr val="222222"/>
                </a:solidFill>
                <a:latin typeface="맑은 고딕"/>
              </a:rPr>
              <a:t>•  SWITCH DATABASE TO COPY → 컨트롤파일이 ASM 복사본 인식</a:t>
            </a:r>
          </a:p>
          <a:p>
            <a:pPr>
              <a:spcAft>
                <a:spcPts val="800"/>
              </a:spcAft>
            </a:pPr>
            <a:r>
              <a:rPr sz="1600">
                <a:solidFill>
                  <a:srgbClr val="222222"/>
                </a:solidFill>
                <a:latin typeface="맑은 고딕"/>
              </a:rPr>
              <a:t>•  컨트롤파일·리두로그·임시파일도 ASM으로 이동</a:t>
            </a:r>
          </a:p>
          <a:p>
            <a:pPr>
              <a:spcAft>
                <a:spcPts val="800"/>
              </a:spcAft>
            </a:pPr>
            <a:r>
              <a:rPr sz="1600">
                <a:solidFill>
                  <a:srgbClr val="222222"/>
                </a:solidFill>
                <a:latin typeface="맑은 고딕"/>
              </a:rPr>
              <a:t>•  V$DATAFILE 경로가 모두 +로 시작하는지 확인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RMAN 마이그레이션 절차</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BACKUP AS COPY + SWITCH</a:t>
            </a:r>
          </a:p>
        </p:txBody>
      </p:sp>
      <p:sp>
        <p:nvSpPr>
          <p:cNvPr id="5" name="Rectangle 4"/>
          <p:cNvSpPr/>
          <p:nvPr/>
        </p:nvSpPr>
        <p:spPr>
          <a:xfrm>
            <a:off x="635000" y="1600000"/>
            <a:ext cx="10922000" cy="490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rIns="137160"/>
          <a:lstStyle/>
          <a:p>
            <a:pPr algn="ctr">
              <a:spcAft>
                <a:spcPts val="0"/>
              </a:spcAft>
            </a:pPr>
            <a:r>
              <a:rPr sz="1200">
                <a:solidFill>
                  <a:srgbClr val="E6E6E6"/>
                </a:solidFill>
                <a:latin typeface="Consolas"/>
              </a:rPr>
              <a:t>SQL&gt; ALTER SYSTEM SET db_create_file_dest='+DATA'</a:t>
            </a:r>
          </a:p>
          <a:p>
            <a:pPr>
              <a:spcAft>
                <a:spcPts val="0"/>
              </a:spcAft>
            </a:pPr>
            <a:r>
              <a:rPr sz="1200">
                <a:solidFill>
                  <a:srgbClr val="E6E6E6"/>
                </a:solidFill>
                <a:latin typeface="Consolas"/>
              </a:rPr>
              <a:t>  2  SCOPE=SPFILE;</a:t>
            </a:r>
          </a:p>
          <a:p>
            <a:pPr>
              <a:spcAft>
                <a:spcPts val="0"/>
              </a:spcAft>
            </a:pPr>
            <a:r>
              <a:rPr sz="1200">
                <a:solidFill>
                  <a:srgbClr val="E6E6E6"/>
                </a:solidFill>
                <a:latin typeface="Consolas"/>
              </a:rPr>
              <a:t/>
            </a:r>
          </a:p>
          <a:p>
            <a:pPr>
              <a:spcAft>
                <a:spcPts val="0"/>
              </a:spcAft>
            </a:pPr>
            <a:r>
              <a:rPr sz="1200">
                <a:solidFill>
                  <a:srgbClr val="E6E6E6"/>
                </a:solidFill>
                <a:latin typeface="Consolas"/>
              </a:rPr>
              <a:t>$ rman target /</a:t>
            </a:r>
          </a:p>
          <a:p>
            <a:pPr>
              <a:spcAft>
                <a:spcPts val="0"/>
              </a:spcAft>
            </a:pPr>
            <a:r>
              <a:rPr sz="1200">
                <a:solidFill>
                  <a:srgbClr val="E6E6E6"/>
                </a:solidFill>
                <a:latin typeface="Consolas"/>
              </a:rPr>
              <a:t>RMAN&gt; STARTUP MOUNT;</a:t>
            </a:r>
          </a:p>
          <a:p>
            <a:pPr>
              <a:spcAft>
                <a:spcPts val="0"/>
              </a:spcAft>
            </a:pPr>
            <a:r>
              <a:rPr sz="1200">
                <a:solidFill>
                  <a:srgbClr val="E6E6E6"/>
                </a:solidFill>
                <a:latin typeface="Consolas"/>
              </a:rPr>
              <a:t>RMAN&gt; BACKUP AS COPY DATABASE FORMAT '+DATA';</a:t>
            </a:r>
          </a:p>
          <a:p>
            <a:pPr>
              <a:spcAft>
                <a:spcPts val="0"/>
              </a:spcAft>
            </a:pPr>
            <a:r>
              <a:rPr sz="1200">
                <a:solidFill>
                  <a:srgbClr val="E6E6E6"/>
                </a:solidFill>
                <a:latin typeface="Consolas"/>
              </a:rPr>
              <a:t>RMAN&gt; SWITCH DATABASE TO COPY;</a:t>
            </a:r>
          </a:p>
          <a:p>
            <a:pPr>
              <a:spcAft>
                <a:spcPts val="0"/>
              </a:spcAft>
            </a:pPr>
            <a:r>
              <a:rPr sz="1200">
                <a:solidFill>
                  <a:srgbClr val="E6E6E6"/>
                </a:solidFill>
                <a:latin typeface="Consolas"/>
              </a:rPr>
              <a:t>RMAN&gt; SQL "ALTER DATABASE ADD LOGFILE '+DATA' SIZE 200M";</a:t>
            </a:r>
          </a:p>
          <a:p>
            <a:pPr>
              <a:spcAft>
                <a:spcPts val="0"/>
              </a:spcAft>
            </a:pPr>
            <a:r>
              <a:rPr sz="1200">
                <a:solidFill>
                  <a:srgbClr val="E6E6E6"/>
                </a:solidFill>
                <a:latin typeface="Consolas"/>
              </a:rPr>
              <a:t>RMAN&gt; ALTER DATABASE OPEN;</a:t>
            </a:r>
          </a:p>
          <a:p>
            <a:pPr>
              <a:spcAft>
                <a:spcPts val="0"/>
              </a:spcAft>
            </a:pPr>
            <a:r>
              <a:rPr sz="1200">
                <a:solidFill>
                  <a:srgbClr val="E6E6E6"/>
                </a:solidFill>
                <a:latin typeface="Consolas"/>
              </a:rPr>
              <a:t>SQL&gt; SELECT name FROM v$datafile;  -- 모두 +DATA/...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퀴즈 (1/2)</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이해도 점검</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1. ASM 인스턴스가 DB 인스턴스와 다른 핵심 차이 두 가지는?</a:t>
            </a:r>
          </a:p>
          <a:p>
            <a:pPr>
              <a:spcAft>
                <a:spcPts val="800"/>
              </a:spcAft>
            </a:pPr>
            <a:r>
              <a:rPr sz="1600">
                <a:solidFill>
                  <a:srgbClr val="222222"/>
                </a:solidFill>
                <a:latin typeface="맑은 고딕"/>
              </a:rPr>
              <a:t>•  2. NORMAL과 HIGH는 각각 미러 복사본 몇 개, 실패 그룹 몇 개 장애를 견디는가?</a:t>
            </a:r>
          </a:p>
          <a:p>
            <a:pPr>
              <a:spcAft>
                <a:spcPts val="800"/>
              </a:spcAft>
            </a:pPr>
            <a:r>
              <a:rPr sz="1600">
                <a:solidFill>
                  <a:srgbClr val="222222"/>
                </a:solidFill>
                <a:latin typeface="맑은 고딕"/>
              </a:rPr>
              <a:t>•  3. 여러 디스크 추가/삭제를 한 문장에 모아야 하는 이유는?</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퀴즈 (2/2)</a:t>
            </a:r>
          </a:p>
        </p:txBody>
      </p:sp>
      <p:sp>
        <p:nvSpPr>
          <p:cNvPr id="4" name="TextBox 3"/>
          <p:cNvSpPr txBox="1"/>
          <p:nvPr/>
        </p:nvSpPr>
        <p:spPr>
          <a:xfrm>
            <a:off x="635000" y="1092200"/>
            <a:ext cx="10871200" cy="457200"/>
          </a:xfrm>
          <a:prstGeom prst="rect">
            <a:avLst/>
          </a:prstGeom>
          <a:noFill/>
        </p:spPr>
        <p:txBody>
          <a:bodyPr wrap="square" anchor="t">
            <a:spAutoFit/>
          </a:bodyPr>
          <a:lstStyle/>
          <a:p>
            <a:pPr algn="l"/>
            <a:r>
              <a:rPr sz="1500" b="0">
                <a:solidFill>
                  <a:srgbClr val="5A6672"/>
                </a:solidFill>
                <a:latin typeface="맑은 고딕"/>
              </a:rPr>
              <a:t>이해도 점검</a:t>
            </a:r>
          </a:p>
        </p:txBody>
      </p:sp>
      <p:sp>
        <p:nvSpPr>
          <p:cNvPr id="5" name="TextBox 4"/>
          <p:cNvSpPr txBox="1"/>
          <p:nvPr/>
        </p:nvSpPr>
        <p:spPr>
          <a:xfrm>
            <a:off x="635000" y="1676400"/>
            <a:ext cx="10871200" cy="4923600"/>
          </a:xfrm>
          <a:prstGeom prst="rect">
            <a:avLst/>
          </a:prstGeom>
          <a:noFill/>
        </p:spPr>
        <p:txBody>
          <a:bodyPr wrap="square">
            <a:spAutoFit/>
          </a:bodyPr>
          <a:lstStyle/>
          <a:p>
            <a:pPr>
              <a:spcAft>
                <a:spcPts val="800"/>
              </a:spcAft>
            </a:pPr>
            <a:r>
              <a:rPr sz="1600">
                <a:solidFill>
                  <a:srgbClr val="222222"/>
                </a:solidFill>
                <a:latin typeface="맑은 고딕"/>
              </a:rPr>
              <a:t>•  4. 디스크 스크러빙의 목적과 REPAIR 옵션의 역할은?</a:t>
            </a:r>
          </a:p>
          <a:p>
            <a:pPr>
              <a:spcAft>
                <a:spcPts val="800"/>
              </a:spcAft>
            </a:pPr>
            <a:r>
              <a:rPr sz="1600">
                <a:solidFill>
                  <a:srgbClr val="222222"/>
                </a:solidFill>
                <a:latin typeface="맑은 고딕"/>
              </a:rPr>
              <a:t>•  5. COMPATIBLE.ASM/RDBMS 상향 시 유의할 점은?</a:t>
            </a:r>
          </a:p>
          <a:p>
            <a:pPr>
              <a:spcAft>
                <a:spcPts val="800"/>
              </a:spcAft>
            </a:pPr>
            <a:r>
              <a:rPr sz="1600">
                <a:solidFill>
                  <a:srgbClr val="222222"/>
                </a:solidFill>
                <a:latin typeface="맑은 고딕"/>
              </a:rPr>
              <a:t>•  6. Flex 디스크 그룹에서 파일 그룹과 쿼터 그룹은 각각 무엇을 통제하는가?</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요약 (Summary)</a:t>
            </a:r>
          </a:p>
        </p:txBody>
      </p:sp>
      <p:sp>
        <p:nvSpPr>
          <p:cNvPr id="4" name="TextBox 3"/>
          <p:cNvSpPr txBox="1"/>
          <p:nvPr/>
        </p:nvSpPr>
        <p:spPr>
          <a:xfrm>
            <a:off x="635000" y="1270000"/>
            <a:ext cx="10871200" cy="5207000"/>
          </a:xfrm>
          <a:prstGeom prst="rect">
            <a:avLst/>
          </a:prstGeom>
          <a:noFill/>
        </p:spPr>
        <p:txBody>
          <a:bodyPr wrap="square">
            <a:spAutoFit/>
          </a:bodyPr>
          <a:lstStyle/>
          <a:p>
            <a:pPr>
              <a:spcAft>
                <a:spcPts val="800"/>
              </a:spcAft>
            </a:pPr>
            <a:r>
              <a:rPr sz="1500">
                <a:solidFill>
                  <a:srgbClr val="222222"/>
                </a:solidFill>
                <a:latin typeface="맑은 고딕"/>
              </a:rPr>
              <a:t>•  ASM은 볼륨 매니저+파일 시스템 통합, 디스크 그룹 단위 자동 스트라이핑·미러링.</a:t>
            </a:r>
          </a:p>
          <a:p>
            <a:pPr>
              <a:spcAft>
                <a:spcPts val="800"/>
              </a:spcAft>
            </a:pPr>
            <a:r>
              <a:rPr sz="1500">
                <a:solidFill>
                  <a:srgbClr val="222222"/>
                </a:solidFill>
                <a:latin typeface="맑은 고딕"/>
              </a:rPr>
              <a:t>•  ASM 인스턴스는 SGA·프로세스만 가지며 메타데이터·익스텐트 맵만 제공(INSTANCE_TYPE=ASM).</a:t>
            </a:r>
          </a:p>
          <a:p>
            <a:pPr>
              <a:spcAft>
                <a:spcPts val="800"/>
              </a:spcAft>
            </a:pPr>
            <a:r>
              <a:rPr sz="1500">
                <a:solidFill>
                  <a:srgbClr val="222222"/>
                </a:solidFill>
                <a:latin typeface="맑은 고딕"/>
              </a:rPr>
              <a:t>•  SYSASM은 ASM 관리 최고 권한(OSASM), 인증은 OS/비밀번호 파일 방식.</a:t>
            </a:r>
          </a:p>
          <a:p>
            <a:pPr>
              <a:spcAft>
                <a:spcPts val="800"/>
              </a:spcAft>
            </a:pPr>
            <a:r>
              <a:rPr sz="1500">
                <a:solidFill>
                  <a:srgbClr val="222222"/>
                </a:solidFill>
                <a:latin typeface="맑은 고딕"/>
              </a:rPr>
              <a:t>•  공유 비밀번호 파일은 orapwd·ASMCMD로 관리하고 디스크 그룹에 둔다.</a:t>
            </a:r>
          </a:p>
          <a:p>
            <a:pPr>
              <a:spcAft>
                <a:spcPts val="800"/>
              </a:spcAft>
            </a:pPr>
            <a:r>
              <a:rPr sz="1500">
                <a:solidFill>
                  <a:srgbClr val="222222"/>
                </a:solidFill>
                <a:latin typeface="맑은 고딕"/>
              </a:rPr>
              <a:t>•  리던던시 EXTERNAL/NORMAL/HIGH/FLEX, 미러는 다른 실패 그룹에 배치.</a:t>
            </a:r>
          </a:p>
          <a:p>
            <a:pPr>
              <a:spcAft>
                <a:spcPts val="800"/>
              </a:spcAft>
            </a:pPr>
            <a:r>
              <a:rPr sz="1500">
                <a:solidFill>
                  <a:srgbClr val="222222"/>
                </a:solidFill>
                <a:latin typeface="맑은 고딕"/>
              </a:rPr>
              <a:t>•  리밸런싱은 온라인·POWER 조절, 19c 스크러빙은 논리 손상 검사·복구.</a:t>
            </a:r>
          </a:p>
          <a:p>
            <a:pPr>
              <a:spcAft>
                <a:spcPts val="800"/>
              </a:spcAft>
            </a:pPr>
            <a:r>
              <a:rPr sz="1500">
                <a:solidFill>
                  <a:srgbClr val="222222"/>
                </a:solidFill>
                <a:latin typeface="맑은 고딕"/>
              </a:rPr>
              <a:t>•  호환성(COMPATIBLE.*) 상향은 비가역, 19c 신기능의 전제.</a:t>
            </a:r>
          </a:p>
          <a:p>
            <a:pPr>
              <a:spcAft>
                <a:spcPts val="800"/>
              </a:spcAft>
            </a:pPr>
            <a:r>
              <a:rPr sz="1500">
                <a:solidFill>
                  <a:srgbClr val="222222"/>
                </a:solidFill>
                <a:latin typeface="맑은 고딕"/>
              </a:rPr>
              <a:t>•  Flex 디스크 그룹은 파일 그룹으로 PDB별 리던던시, 쿼터 그룹으로 용량 상한.</a:t>
            </a:r>
          </a:p>
          <a:p>
            <a:pPr>
              <a:spcAft>
                <a:spcPts val="800"/>
              </a:spcAft>
            </a:pPr>
            <a:r>
              <a:rPr sz="1500">
                <a:solidFill>
                  <a:srgbClr val="222222"/>
                </a:solidFill>
                <a:latin typeface="맑은 고딕"/>
              </a:rPr>
              <a:t>•  ASM 파일명(완전/별칭/템플릿)·ASMCMD 탐색·RMAN(BACKUP AS COPY+SWITCH) 이관.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nchor="t">
            <a:spAutoFit/>
          </a:bodyPr>
          <a:lstStyle/>
          <a:p>
            <a:pPr algn="l"/>
            <a:r>
              <a:rPr sz="2600" b="1">
                <a:solidFill>
                  <a:srgbClr val="FFFFFF"/>
                </a:solidFill>
                <a:latin typeface="맑은 고딕"/>
              </a:rPr>
              <a:t>실습 34 개요</a:t>
            </a:r>
          </a:p>
        </p:txBody>
      </p:sp>
      <p:sp>
        <p:nvSpPr>
          <p:cNvPr id="4" name="TextBox 3"/>
          <p:cNvSpPr txBox="1"/>
          <p:nvPr/>
        </p:nvSpPr>
        <p:spPr>
          <a:xfrm>
            <a:off x="635000" y="1270000"/>
            <a:ext cx="10871200" cy="5207000"/>
          </a:xfrm>
          <a:prstGeom prst="rect">
            <a:avLst/>
          </a:prstGeom>
          <a:noFill/>
        </p:spPr>
        <p:txBody>
          <a:bodyPr wrap="square">
            <a:spAutoFit/>
          </a:bodyPr>
          <a:lstStyle/>
          <a:p>
            <a:pPr>
              <a:spcAft>
                <a:spcPts val="800"/>
              </a:spcAft>
            </a:pPr>
            <a:r>
              <a:rPr sz="1500">
                <a:solidFill>
                  <a:srgbClr val="222222"/>
                </a:solidFill>
                <a:latin typeface="맑은 고딕"/>
              </a:rPr>
              <a:t>•  34-01  ASM 초기화 파라미터 구성</a:t>
            </a:r>
          </a:p>
          <a:p>
            <a:pPr>
              <a:spcAft>
                <a:spcPts val="800"/>
              </a:spcAft>
            </a:pPr>
            <a:r>
              <a:rPr sz="1500">
                <a:solidFill>
                  <a:srgbClr val="222222"/>
                </a:solidFill>
                <a:latin typeface="맑은 고딕"/>
              </a:rPr>
              <a:t>•  34-02  SYSASM/SYSDBA 권한·인증 방식</a:t>
            </a:r>
          </a:p>
          <a:p>
            <a:pPr>
              <a:spcAft>
                <a:spcPts val="800"/>
              </a:spcAft>
            </a:pPr>
            <a:r>
              <a:rPr sz="1500">
                <a:solidFill>
                  <a:srgbClr val="222222"/>
                </a:solidFill>
                <a:latin typeface="맑은 고딕"/>
              </a:rPr>
              <a:t>•  34-03  공유 비밀번호 파일 생성/관리</a:t>
            </a:r>
          </a:p>
          <a:p>
            <a:pPr>
              <a:spcAft>
                <a:spcPts val="800"/>
              </a:spcAft>
            </a:pPr>
            <a:r>
              <a:rPr sz="1500">
                <a:solidFill>
                  <a:srgbClr val="222222"/>
                </a:solidFill>
                <a:latin typeface="맑은 고딕"/>
              </a:rPr>
              <a:t>•  34-04  디스크 그룹 생성·리던던시·실패 그룹</a:t>
            </a:r>
          </a:p>
          <a:p>
            <a:pPr>
              <a:spcAft>
                <a:spcPts val="800"/>
              </a:spcAft>
            </a:pPr>
            <a:r>
              <a:rPr sz="1500">
                <a:solidFill>
                  <a:srgbClr val="222222"/>
                </a:solidFill>
                <a:latin typeface="맑은 고딕"/>
              </a:rPr>
              <a:t>•  34-05  디스크 추가/삭제·리밸런싱·스크러빙</a:t>
            </a:r>
          </a:p>
          <a:p>
            <a:pPr>
              <a:spcAft>
                <a:spcPts val="800"/>
              </a:spcAft>
            </a:pPr>
            <a:r>
              <a:rPr sz="1500">
                <a:solidFill>
                  <a:srgbClr val="222222"/>
                </a:solidFill>
                <a:latin typeface="맑은 고딕"/>
              </a:rPr>
              <a:t>•  34-06  디스크 그룹 호환성 속성 설정</a:t>
            </a:r>
          </a:p>
          <a:p>
            <a:pPr>
              <a:spcAft>
                <a:spcPts val="800"/>
              </a:spcAft>
            </a:pPr>
            <a:r>
              <a:rPr sz="1500">
                <a:solidFill>
                  <a:srgbClr val="222222"/>
                </a:solidFill>
                <a:latin typeface="맑은 고딕"/>
              </a:rPr>
              <a:t>•  34-07  Flex 디스크 그룹·파일 그룹/쿼터 그룹</a:t>
            </a:r>
          </a:p>
          <a:p>
            <a:pPr>
              <a:spcAft>
                <a:spcPts val="800"/>
              </a:spcAft>
            </a:pPr>
            <a:r>
              <a:rPr sz="1500">
                <a:solidFill>
                  <a:srgbClr val="222222"/>
                </a:solidFill>
                <a:latin typeface="맑은 고딕"/>
              </a:rPr>
              <a:t>•  34-08  ASM 파일명·별칭·템플릿 관리</a:t>
            </a:r>
          </a:p>
          <a:p>
            <a:pPr>
              <a:spcAft>
                <a:spcPts val="800"/>
              </a:spcAft>
            </a:pPr>
            <a:r>
              <a:rPr sz="1500">
                <a:solidFill>
                  <a:srgbClr val="222222"/>
                </a:solidFill>
                <a:latin typeface="맑은 고딕"/>
              </a:rPr>
              <a:t>•  34-09  ASMCMD 유틸리티로 파일/디렉터리 관리</a:t>
            </a:r>
          </a:p>
          <a:p>
            <a:pPr>
              <a:spcAft>
                <a:spcPts val="800"/>
              </a:spcAft>
            </a:pPr>
            <a:r>
              <a:rPr sz="1500">
                <a:solidFill>
                  <a:srgbClr val="222222"/>
                </a:solidFill>
                <a:latin typeface="맑은 고딕"/>
              </a:rPr>
              <a:t>•  34-10  RMAN을 이용한 ASM 데이터 마이그레이션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
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튜닝은 감이 아니라 반복 가능한 절차다. 먼저 AWR 보고서의 SQL ordered by Elapsed Time/Gets 섹션이나 ADDM 권고, V$SQL·V$SQLSTATS로 자원을 많이 쓰는 SQL을 식별한다. 이때 단일 실행이 느린 SQL뿐 아니라 개별 실행은 짧아도 초당 수천 번 실행되어 누적 부하가 큰 SQL도 함께 봐야 하므로 총 경과 시간과 실행 횟수를 같이 본다. 이어 실행 계획을 확보해 예상 카디널리티(E-Rows)와 실제 카디널리티(A-Rows)를 비교하면 옵티마이저가 어디서 행 수를 잘못 추정했는지 드러난다. 원인을 통계·편중·상관관계·구문·바인드 민감성으로 분류하고, 각 원인에 맞는 해결책을 적용한 뒤 반드시 데이터로 검증한다. 검증이 만족스럽지 않으면 다시 진단 단계로 돌아가는 순환 구조다.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 진단 단계에서는 잘못된 계획의 근본 원인을 분류하는 것이 핵심이다. 통계가 없거나 낡아 데이터 규모를 잘못 안 경우에는 통계 재수집이, 데이터가 편중되었는데 히스토그램이 없어 선택도를 틀린 경우에는 히스토그램이, 여러 컬럼이 상관관계를 갖는데 독립으로 가정한 경우에는 컬럼 그룹 확장 통계가, 조건절에 함수나 암시적 형변환이 있어 인덱스를 못 쓰는 경우에는 SQL 재작성이 대응된다. 해결책 적용 후에는 체감이 아니라 데이터로 검증한다. 실행 계획이 의도대로 바뀌었는지, 논리적 읽기와 경과 시간이 줄었는지, 다른 SQL에 부작용은 없는지 확인한다. 특히 인덱스는 조회를 빠르게 하지만 그 테이블의 DML을 느리게 하므로 전체 워크로드 관점의 순이익을 따져야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Oracle의 쿼리 옵티마이저는 비용 기반 옵티마이저(CBO)다. 규칙 기반 옵티마이저(RBO)는 오래전 폐기되었고, 현재는 통계에 근거해 여러 후보 실행 계획의 비용을 추정한 뒤 가장 비용이 낮은 계획을 선택한다. 여기서 비용이란 I/O·CPU·네트워크 자원 사용량을 정규화한 추정치이며 실제 시간 단위가 아니라 후보 계획을 상대 비교하기 위한 수치다. 따라서 비용 추정이 정확하려면 그 근거가 되는 옵티마이저 통계가 실제 데이터를 정확히 반영해야 한다. 통계가 부정확하면 비용 추정이 어긋나고, 그 결과 액세스 경로와 조인 방법 선택이 연쇄적으로 잘못된다.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문이 실행되기까지는 파싱, 최적화, 행 소스 생성, 실행 단계를 거친다. 파싱 단계에서는 구문·의미·권한 검사를 하고 라이브러리 캐시에서 동일 SQL의 공유 커서를 찾는다. 이미 파싱된 계획이 있으면 소프트 파스로 최적화를 건너뛰고, 없으면 하드 파스로 옵티마이저가 개입한다. 최적화 단계에서 옵티마이저는 뷰 병합·서브쿼리 언네스팅·조건 전이 같은 질의 변환으로 SQL을 유리한 형태로 바꾸고, 액세스 경로·조인 순서·조인 방법의 조합을 열거해 각 비용을 추정한다. 행 소스 생성기는 선택된 최적 계획을 실행 가능한 반복자 트리로 변환하며, 이 계획은 라이브러리 캐시에 공유 커서로 저장되어 이후 동일 SQL이 하드 파스 없이 재사용한다.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조건절이 걸린 테이블에서 먼저 선택도를 계산한다. 등호 조건의 선택도는 대략 1/NDV(고유값 개수의 역수)이며, 여기에 행 수를 곱한 것이 카디널리티, 즉 예상 결과 행 수다. 카디널리티는 이후 모든 판단의 기초가 된다. 결과가 소수의 행이면 인덱스 접근이, 대다수 행이면 전체 스캔이 유리하기 때문이다. 조인 방법도 카디널리티에 의존한다. Nested Loops는 외부 입력이 적을 때, Hash Join은 큰 결과 집합의 조인에, Sort-Merge는 정렬된 데이터나 부등호 조인에 적합하다. 만약 어느 입력을 100행으로 잘못 추정했지만 실제로 80만 행이라면 옵티마이저가 Nested Loops를 골라 재앙적 성능을 낳는다. 이것이 통계 정확도가 결정적으로 중요한 이유다.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 통계는 네 부류로 나뉜다. 테이블 통계는 행 수(NUM_ROWS)·블록 수(BLOCKS)·평균 행 길이를, 컬럼 통계는 고유값 개수(NDV)·NULL 개수·최소/최대값·히스토그램을, 인덱스 통계는 B-트리 높이(BLEVEL)·리프 블록 수·클러스터링 팩터를, 시스템 통계는 CPU 처리 속도와 I/O 성능 특성을 담는다. 특히 클러스터링 팩터는 인덱스 순서와 실제 행 저장 순서의 일치도를 나타내며 인덱스 사용 여부 판단에 큰 영향을 준다. 이 값들이 실제 데이터를 정확히 반영해야 옵티마이저가 카디널리티와 비용을 올바르게 추정하고 최적 계획을 세울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수집의 표준은 DBMS_STATS 패키지다. 과거의 ANALYZE 명령은 옵티마이저 통계 용도로는 더 이상 쓰지 않으며 무결성 검증이나 체인 행 조회 같은 특수 목적에만 남아 있다. 주요 프로시저는 대상 범위에 따라 GATHER_TABLE_STATS(단일 테이블), GATHER_SCHEMA_STATS(스키마), GATHER_DICTIONARY_STATS(딕셔너리), GATHER_DATABASE_STATS(전체)로 나뉜다. estimate_percent에 AUTO_SAMPLE_SIZE를 주면 옵티마이저가 표본 크기를 스스로 정하고, method_opt의 SIZE AUTO는 히스토그램이 필요한 컬럼을 자동 판단하며, cascade=&gt;TRUE는 인덱스 통계까지 함께 수집한다. 대부분의 운영 환경에서는 이 작업을 사람이 매번 하지 않고 자동 통계 수집 작업이 담당한다.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대부분의 운영 환경에서 통계 수집은 사전 정의된 자동 유지관리 작업인 자동 옵티마이저 통계 수집이 담당한다. 이 작업은 매일 유지관리 윈도우에서 통계가 없거나 오래되어 재수집이 필요한 객체를 찾아 자동으로 수집한다. 어떤 객체가 stale인지는 DBA_TAB_MODIFICATIONS에 누적된 DML 변경량이 기본 임계값 10%를 넘는지로 판단한다. 관리자가 수동 수집을 고민하는 경우는 대량 적재 직후처럼 자동 작업을 기다릴 수 없을 때, 파티션 교체 후, 또는 야간 배치가 낮에 실행되어 통계가 실데이터를 못 따라갈 때다. 수집 시점의 이전 통계는 기본 31일간 자동 보존되어 RESTORE_TABLE_STATS로 되돌릴 수 있고, PUBLISH를 FALSE로 두면 수집된 통계를 보류 상태로 두고 특정 세션에서만 테스트한 뒤 발행할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수집의 세부 동작은 프리퍼런스로 제어하며, 적용 범위에 따라 계층을 이룬다. SET_GLOBAL_PREFS는 전역 기본값을, SET_DATABASE_PREFS는 사용자 테이블 전체를, SET_SCHEMA_PREFS는 특정 스키마를, SET_TABLE_PREFS는 개별 테이블을 대상으로 한다. 좁은 범위 설정이 넓은 범위를 재정의하므로 예외가 필요한 테이블만 개별 지정하면 관리 부담이 준다. 주요 프리퍼런스로는 표본 비율 ESTIMATE_PERCENT, 히스토그램 대상을 정하는 METHOD_OPT, 파티션 통계 수준 GRANULARITY, stale 판단 임계 STALE_PERCENT, 발행 여부 PUBLISH, 증분 통계 INCREMENTAL이 있다. GET_PREFS는 지정한 수준에서 실제로 유효한 값을 계층적으로 해석해 돌려준다.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AUTO_SAMPLE_SIZE는 19c에서 특히 중요하다. 예전에는 표본 비율을 높이면 정확하지만 느리고 낮추면 빠르지만 부정확한 트레이드오프가 있었는데, 현재의 AUTO_SAMPLE_SIZE는 해시 기반 알고리즘으로 전체 행을 한 번 훑으면서도 100% 스캔에 준하는 정확한 NDV를 산출한다. 따라서 표본 비율을 수동 지정할 이유가 거의 없다. METHOD_OPT의 SIZE AUTO는 컬럼의 데이터 분포와 실제 워크로드의 컬럼 사용 이력(SYS.COL_USAGE$)을 참고해 히스토그램이 필요한 컬럼에만 자동으로 히스토그램을 만든다. 대형 파티션 테이블에서는 INCREMENTAL을 켜면 바뀐 파티션만 다시 계산하고 파티션별 시놉시스를 합쳐 전역 통계를 갱신하므로 수집 시간이 크게 준다.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옵티마이저는 기본적으로 컬럼 값이 고르게 분포한다고 가정한다. 그러나 실제 데이터는 편중된 경우가 많다. 예컨대 주문 상태가 CLOSED 95%, OPEN 5%처럼 치우쳐 있으면 균등 분포 가정으로는 OPEN 조건의 카디널리티를 심하게 과대평가한다. 히스토그램은 컬럼 값의 실제 분포를 버킷으로 기술해 이런 편중을 옵티마이저에 알린다. 19c는 상황에 따라 도수 분포, 상위 도수, 높이 균형, 하이브리드 네 종류를 자동 선택한다. 고유값이 버킷 수(기본 254) 이하이면 정확한 도수 히스토그램을, 초과하면 하이브리드 히스토그램을 만든다. 다만 히스토그램은 편중이 실제로 있고 그 컬럼이 조건절에 자주 쓰일 때만 의미가 있으므로 SIZE AUTO가 그 판단을 자동화한다.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확장 통계는 단일 컬럼 통계로 표현할 수 없는 두 상황을 보완한다. 첫째는 컬럼 그룹이다. 여러 컬럼이 함께 조건절에 쓰이면서 상관관계가 있을 때(예: 도시가 사실상 국가를 함축), 옵티마이저는 각 컬럼의 선택도를 곱해 카디널리티를 과소평가한다. 컬럼 그룹 통계를 만들면 그 조합의 실제 NDV를 알게 되어 추정이 정확해진다. 둘째는 표현식 통계로, UPPER(last_name)처럼 함수를 적용한 결과에 대한 통계를 수집해 함수 기반 조건의 선택도를 개선한다. CREATE_EXTENDED_STATS로 확장 통계를 정의한 뒤에는 반드시 해당 테이블 통계를 재수집해야 값이 채워진다. 카디널리티 과소평가로 Nested Loops가 잘못 선택되는 전형적 문제를 확장 통계가 해소한다.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Optimizer Statistics Advisor는 12c Release 2에서 도입되고 19c에서 표준이 된 도구로, 통계 값 자체가 아니라 통계를 수집·관리하는 방식을 규칙 기반으로 점검한다. 내장 규칙은 자동 통계 수집이 활성화되어 있는가, 수동 수집이 자동과 충돌하지 않는가, stale 통계가 방치되어 있는가, 통계가 잠겨 있는가, 표본 비율을 부적절하게 하드코딩하지 않았는가 등을 확인한다. Advisor는 자동 유지관리 작업 AUTO_STATS_ADVISOR_TASK로 매일 실행되며 수동 태스크로도 실행할 수 있다. 결과는 REPORT_STATS_ADVISOR_TASK로 텍스트·HTML·XML로 뽑고, 권고를 실행 가능한 스크립트로 바꾸려면 SCRIPT_ADVISOR_TASK를 쓴다. 점검 대상이 데이터가 아니라 프로세스라는 점이 이 도구의 특징이다.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Optimizer Statistics Advisor가 특별한 이유는 점검 대상이 데이터가 아니라 프로세스라는 데 있다. 예컨대 어떤 관리자가 오래된 습관으로 ESTIMATE_PERCENT를 5%로 하드코딩해 두었다면 Advisor는 AUTO_SAMPLE_SIZE를 쓰라는 규칙 위반으로 이를 잡아낸다. 야간 자동 통계 수집이 비활성화되어 있거나, 특정 스키마 통계가 몇 달째 stale이거나, 실수로 잠긴 통계가 방치되어 있으면 각각 해당 규칙이 발견 사항으로 보고된다. 결과는 DBA_ADVISOR_TASKS·DBA_ADVISOR_FINDINGS 같은 어드바이저 공통 뷰와 DBA_OPTSTAT_OPERATIONS 수집 이력 뷰로 확인한다. 이렇게 사람이 놓치기 쉬운 운영상의 나쁜 관행을 규칙 엔진이 체계적으로 점검해 주므로 통계 품질을 조직 차원에서 표준화하는 데 도움이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적응형 최적화는 옵티마이저가 컴파일 시점과 런타임에 얻은 정보로 계획을 스스로 개선하는 12c 이후 기능군이며, 그 한 축이 SQL Plan Directive다. 디렉티브는 특정 테이블의 특정 컬럼 조합에 대해 옵티마이저가 카디널리티를 반복적으로 잘못 추정했다는 사실을 기록한 추가 지시문이다. 실행 중 옵티마이저가 예상과 실제 행 수의 차이를 자동 재최적화로 감지하면 그 원인이 된 컬럼 조합에 대한 디렉티브를 생성한다. 중요한 점은 디렉티브가 SQL 문 하나가 아니라 컬럼 조합에 귀속된다는 것이다. 따라서 같은 술어 패턴을 가진 여러 SQL이 하나의 디렉티브를 공유해 이득을 본다. 디렉티브는 DBA_SQL_PLAN_DIRECTIVES와 DBA_SQL_PLAN_DIR_OBJECTS 뷰로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디렉티브의 생애주기를 따라가 보자. 어떤 SQL이 두 컬럼을 함께 조건으로 걸어 실행되었는데 예상 10행, 실제 5만 행이었다고 하자. 옵티마이저는 자동 재최적화로 이 오차를 감지하고 그 컬럼 조합에 대한 SQL Plan Directive를 USABLE 상태로 만든다. 이후 같은 조합을 쓰는 SQL이 컴파일될 때 옵티마이저는 디렉티브를 참고해 동적 통계를 수집하거나 컬럼 그룹 확장 통계가 필요하다고 판단한다. 관리자가 그 확장 통계를 만들고 재수집하면 옵티마이저는 이제 정적 통계만으로 정확히 추정할 수 있으므로 디렉티브 상태가 SUPERSEDED로 바뀌어 더 이상 동적 통계를 반복하지 않는다. 일정 기간 사용되지 않은 디렉티브는 자동 정리되며, 필요하면 DBMS_SPD 패키지로 수동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Adaptive Execution Plan은 옵티마이저가 컴파일 시점에 하나의 계획으로 확정하지 못할 때 여러 하위 계획을 담은 적응형 계획을 만들어 두고, 실행 중 실제 처리 행 수를 관찰해 최종 계획을 런타임에 확정하는 기능이다. 대표적 사례가 조인 방법의 적응이다. 옵티마이저는 실행 계획에 통계 수집기를 삽입하고 조인 입력의 실제 행 수가 미리 계산한 임계치를 넘으면 그 자리에서 Hash Join으로, 이하면 Nested Loops로 확정한다. 이 결정은 최초 실행 한 번에서 이뤄지며 이후 같은 커서는 확정된 최종 계획을 쓴다. 병렬 분배 방법(HASH vs BROADCAST)도 실제 행 수에 따라 런타임에 결정된다. OPTIMIZER_ADAPTIVE_PLANS 파라미터(기본 TRUE)로 제어하며, DBMS_XPLAN에 adaptive 포맷을 주면 채택되지 않은 대안 라인까지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19c는 적응형 기능을 두 파라미터로 분리한다. OPTIMIZER_ADAPTIVE_PLANS는 조인 방법·병렬 분배·스타 변환 같은 실행 계획 적응을 켜며 기본 TRUE다. OPTIMIZER_ADAPTIVE_STATISTICS는 SQL Plan Directive 기반 자동 확장통계와 동적 통계 적용 같은 통계 측면의 적응을 제어하며 기본 FALSE다. 12.1에서는 이 기능들이 OPTIMIZER_ADAPTIVE_FEATURES 하나로 묶여 계획 불안정을 유발한다는 지적이 있었고, 12.2 이후 둘로 분리되면서 안정적인 실행 계획 적응은 기본 활성, 변동성이 큰 통계 적응은 기본 비활성으로 정리되었다. 따라서 19c에서 SQL Plan Directive가 자동으로 확장 통계를 만들도록 하려면 OPTIMIZER_ADAPTIVE_STATISTICS를 명시적으로 TRUE로 바꿔야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Tuning Advisor는 문제가 되는 개별 SQL을 옵티마이저의 튜닝 모드로 심층 분석해 구체적 개선안을 권고한다. 일반 최적화는 밀리초 단위로 계획을 뽑아야 하므로 분석 깊이에 한계가 있지만, 튜닝 모드는 시간을 더 들여 네 종류의 분석을 수행한다. 통계 분석은 대상 객체의 통계가 없거나 오래되었는지 점검해 수집을 권고하고, SQL 프로파일 생성은 옵티마이저의 카디널리티 추정을 보정하는 부가 정보를 만들어 SQL을 수정하지 않고도 더 나은 계획을 유도한다. 액세스 경로 분석은 새 인덱스를, SQL 구조 분석은 비효율적 구문의 재작성을 권고한다. 분석 범위는 통계·경로·구문만 빠르게 보는 LIMITED와 SQL 프로파일 생성까지 포함하는 COMPREHENSIVE로 나뉜다.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Tuning Advisor는 DBMS_SQLTUNE 패키지로 제어한다. 분석 대상은 커서 캐시의 SQL_ID, AWR 스냅샷 범위, 또는 SQL 튜닝 세트(STS)로 지정한다. CREATE_TUNING_TASK로 태스크를 만들고 EXECUTE_TUNING_TASK로 실행한 뒤 REPORT_TUNING_TASK로 권고를 확인한다. 권고된 SQL 프로파일은 관리자가 검토한 뒤 ACCEPT_SQL_PROFILE로 수락해야 실제 적용된다. 프로파일은 힌트를 SQL 텍스트에 직접 넣지 않고 데이터 딕셔너리에 별도로 저장하므로 애플리케이션 코드를 건드리지 않고도 계획을 개선할 수 있다는 것이 큰 장점이다. SQL 튜닝 세트는 여러 SQL과 그 실행 통계·바인드·계획을 묶은 객체로, 여러 SQL을 한꺼번에 튜닝하거나 SPA의 입력으로 재사용할 수 있어 이 장의 도구들을 잇는 핵심 매개체다.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프로파일과 SQL Plan Baseline은 자주 혼동되지만 목적이 다르다. SQL 프로파일은 옵티마이저의 추정 오류를 보정하는 보조 정보로, 더 나은 계획을 유도하지만 계획을 고정하지는 않는다. 데이터가 바뀌면 프로파일 보정 위에서 옵티마이저가 다시 최적 계획을 찾는다. 반면 SQL Plan Baseline은 SQL Plan Management의 기능으로 검증된 계획을 고정해 계획 회귀를 방지한다. 따라서 업그레이드나 패치로 인한 계획 변동이 걱정되면 SPM으로 계획을 고정하고, 순수하게 추정 오류를 보정하는 것이 목적이면 프로파일을 쓴다. 수락된 프로파일은 DBA_SQL_PROFILES 뷰로 조회하며, 자동 튜닝이 만든 것은 TYPE이 AUTO로 표시된다.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Access Advisor는 단일 SQL이 아니라 워크로드 전체를 대상으로 액세스 구조를 설계해 주는 도구다. 입력으로 SQL 튜닝 세트나 실제 워크로드를 받아 어떤 인덱스를 만들거나 삭제할지, 어떤 구체화 뷰와 구체화 뷰 로그를 만들지, 파티셔닝을 어떻게 적용할지를 종합 권고한다. 개별 SQL을 하나씩 보는 SQL Tuning Advisor와 달리 전체 워크로드를 함께 고려하므로 인덱스 중복을 피하고 여러 쿼리가 공유할 구조를 제안한다. DBMS_ADVISOR 패키지로 실행하며 권고를 즉시 반영하지 않고 실행 가능한 DDL 스크립트로 뽑아 준다. Advisor는 예상 이득(개선율)과 비용(추가 저장 공간)을 함께 제시하므로 관리자는 이득 대비 비용이 큰 항목부터 선별 적용할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세 어드바이저는 목적이 뚜렷이 다르다. SQL Tuning Advisor는 이미 문제가 된 개별 SQL을 깊이 분석해 프로파일·인덱스·통계·재작성을 권고하고, SQL Access Advisor는 워크로드 전체의 액세스 구조를 설계해 인덱스·구체화 뷰·파티셔닝을 권고하며, SQL Performance Analyzer는 변경 전후의 SQL 성능 영향을 비교해 회귀를 예측한다. 실무에서 흔한 실수는 SQL Access Advisor가 권고한 인덱스를 검토 없이 모두 생성하는 것이다. Advisor는 주어진 워크로드에 최적인 구조를 제안할 뿐, 다른 DML에 주는 부담이나 기존 유사 인덱스와의 중복까지 완벽히 조율하지는 못한다. 따라서 권고 스크립트를 기존 인덱스 목록과 대조하고 읽기·쓰기 비율을 고려해 실제로 만들 것만 선별해야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Performance Analyzer는 데이터베이스 환경 변경이 SQL 성능에 미치는 영향을 실제 운영에 손대지 않고 예측한다. 변경이란 업그레이드, 패치, 옵티마이저 파라미터 조정, 통계 방식 변경, 인덱스 추가, OPTIMIZER_FEATURES_ENABLE 상향 같은 것들이다. 이런 변경은 일부 SQL을 개선하지만 일부는 회귀시킬 수 있는데, SPA는 프로덕션 적용 전에 어떤 SQL이 좋아지고 나빠지는지 미리 알려 준다. 작동 방식은 운영 워크로드를 STS로 캡처하고, 이를 변경 전 상태로 실행해 before 성능을, 변경 적용 후 다시 실행해 after 성능을 측정한 뒤 두 결과를 비교하는 것이다. 계획과 비용만 비교하는 EXPLAIN 모드부터 실제 실행해 런타임 통계를 비교하는 TEST EXECUTE 모드까지 지원한다.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SPA의 결과 보고서는 SQL별 변화를 개선·회귀·불변으로 분류하고 전체 워크로드의 총 응답 시간이 어떻게 달라지는지 집계한다. 덕분에 관리자는 이 변경이 전체적으로 이득인지 손해인지 정량 판단할 수 있다. 예컨대 100개 SQL 중 90개가 개선되고 10개가 회귀한다면 회귀한 10개만 골라 대응하고 나머지는 그대로 적용할 수 있다. 회귀 SQL의 대표적 대응은 SQL Plan Management의 SQL Plan Baseline으로 변경 전의 좋은 계획을 수용된 계획으로 고정하는 것이다. 이렇게 하면 새 버전으로 바꿔도 옵티마이저가 검증된 기존 계획을 계속 사용한다. SPA로 무엇이 나빠질지 예측하고 SPM으로 나빠지지 않게 고정하는 조합은 대규모 업그레이드에서 계획 회귀 위험을 통제하는 표준 패턴이다.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Automatic SQL Tuning은 SQL Tuning Advisor를 사람이 매번 호출하지 않고도 데이터베이스가 야간에 스스로 상위 SQL을 튜닝하도록 만든 자동 유지관리 작업(SYS_AUTO_SQL_TUNING_TASK)이다. 매일 유지관리 윈도우가 열리면 AWR에 기록된 자원 소비 상위 SQL을 후보로 선정하고 각각을 튜닝 모드 옵티마이저로 분석해 프로파일·인덱스·통계·재작성 권고를 만든다. 핵심 특징은 자동 구현 옵션이다. ACCEPT_SQL_PROFILES를 TRUE로 설정하면 검증 결과 최소 3배 이상 좋아질 SQL 프로파일을 관리자 개입 없이 자동 적용한다. 인덱스 생성·재작성 같은 다른 권고는 자동 구현하지 않고 보고만 하며 관리자가 검토 후 수동 반영한다. 자동 적용된 프로파일은 DBA_SQL_PROFILES에서 TYPE이 AUTO로 표시된다.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SQL 튜닝 작업은 자동 옵티마이저 통계 수집, Segment Advisor와 함께 하나의 자동 유지관리 작업 프레임워크 아래에서 야간 윈도우에 실행되며 자원 관리자의 제한을 받아 주간 업무를 침해하지 않는다. 운영에서는 자동 구현을 무조건 켜기보다 처음에는 ACCEPT_SQL_PROFILES를 FALSE로 두고 REPORT_AUTO_TUNING_TASK로 권고 품질을 관찰한 뒤 신뢰가 쌓이면 자동 구현을 켜는 단계적 접근이 안전하다. 자동 구현된 프로파일도 데이터 분포 변화로 무의미해질 수 있으므로 정기적으로 검토·정리한다. 결과는 DBA_ADVISOR_TASKS·EXECUTIONS·FINDINGS로 확인한다. 자동 튜닝은 통계·프로파일 문제에는 강하지만 아직 실행된 적 없는 신규 SQL이나 근본적으로 잘못 설계된 SQL은 예방하지 못하므로 개발 단계의 리뷰가 병행되어야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이 장의 핵심 개념을 스스로 점검하기 위한 것이다. Q1은 DBMS_STATS가 표준이고 ANALYZE는 통계 용도로 폐기되었음을, Q2는 AUTO_SAMPLE_SIZE가 해시 기반으로 전체를 훑어 100% 수준의 정확도를 빠르게 얻으므로 표본 비율 트레이드오프가 사라졌음을 확인한다. Q3은 히스토그램이 단일 컬럼의 데이터 편중을, 확장 통계가 여러 컬럼의 상관관계를 보완한다는 차이를 묻는다. Q4는 디렉티브가 컬럼 조합 단위여서 같은 패턴의 여러 SQL이 공유한다는 점을, Q5는 19c가 계획 적응은 TRUE, 통계 적응은 FALSE로 분리해 계획 안정성을 확보했음을, Q6은 세 도구의 목적 차이를 확인한다. 각 문항을 스스로 설명해 본 뒤 정답지와 대조하도록 안내한다.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18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84800"/>
            <a:ext cx="12192000" cy="1473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3900" y="457200"/>
            <a:ext cx="10693400" cy="546100"/>
          </a:xfrm>
          <a:prstGeom prst="rect">
            <a:avLst/>
          </a:prstGeom>
          <a:noFill/>
        </p:spPr>
        <p:txBody>
          <a:bodyPr wrap="square">
            <a:spAutoFit/>
          </a:bodyPr>
          <a:lstStyle/>
          <a:p>
            <a:pPr>
              <a:spcAft>
                <a:spcPts val="600"/>
              </a:spcAft>
            </a:pPr>
            <a:r>
              <a:rPr sz="1600" b="0">
                <a:solidFill>
                  <a:srgbClr val="FFFFFF"/>
                </a:solidFill>
                <a:latin typeface="맑은 고딕"/>
                <a:ea typeface="맑은 고딕"/>
                <a:cs typeface="맑은 고딕"/>
              </a:rPr>
              <a:t>Oracle Database 19c: Administration Workshop</a:t>
            </a:r>
          </a:p>
        </p:txBody>
      </p:sp>
      <p:sp>
        <p:nvSpPr>
          <p:cNvPr id="6" name="TextBox 5"/>
          <p:cNvSpPr txBox="1"/>
          <p:nvPr/>
        </p:nvSpPr>
        <p:spPr>
          <a:xfrm>
            <a:off x="723900" y="2311400"/>
            <a:ext cx="10693400" cy="1651000"/>
          </a:xfrm>
          <a:prstGeom prst="rect">
            <a:avLst/>
          </a:prstGeom>
          <a:noFill/>
        </p:spPr>
        <p:txBody>
          <a:bodyPr wrap="square">
            <a:spAutoFit/>
          </a:bodyPr>
          <a:lstStyle/>
          <a:p>
            <a:pPr>
              <a:spcAft>
                <a:spcPts val="600"/>
              </a:spcAft>
            </a:pPr>
            <a:r>
              <a:rPr sz="3400" b="1">
                <a:solidFill>
                  <a:srgbClr val="C0392B"/>
                </a:solidFill>
                <a:latin typeface="맑은 고딕"/>
                <a:ea typeface="맑은 고딕"/>
                <a:cs typeface="맑은 고딕"/>
              </a:rPr>
              <a:t>SQL 분석 및 액세스 경로 최적화</a:t>
            </a:r>
          </a:p>
          <a:p>
            <a:pPr>
              <a:spcAft>
                <a:spcPts val="600"/>
              </a:spcAft>
            </a:pPr>
            <a:r>
              <a:rPr sz="2000" b="0">
                <a:solidFill>
                  <a:srgbClr val="5A6672"/>
                </a:solidFill>
                <a:latin typeface="맑은 고딕"/>
                <a:ea typeface="맑은 고딕"/>
                <a:cs typeface="맑은 고딕"/>
              </a:rPr>
              <a:t>Analyzing SQL and Optimizing Access Paths</a:t>
            </a:r>
          </a:p>
        </p:txBody>
      </p:sp>
      <p:sp>
        <p:nvSpPr>
          <p:cNvPr id="7" name="TextBox 6"/>
          <p:cNvSpPr txBox="1"/>
          <p:nvPr/>
        </p:nvSpPr>
        <p:spPr>
          <a:xfrm>
            <a:off x="723900" y="4114800"/>
            <a:ext cx="10693400" cy="1092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SQL 튜닝 프로세스 · 옵티마이저 통계 · 적응형 최적화 · 튜닝 어드바이저 · SPA</a:t>
            </a:r>
          </a:p>
        </p:txBody>
      </p:sp>
      <p:sp>
        <p:nvSpPr>
          <p:cNvPr id="8" name="TextBox 7"/>
          <p:cNvSpPr txBox="1"/>
          <p:nvPr/>
        </p:nvSpPr>
        <p:spPr>
          <a:xfrm>
            <a:off x="723900" y="5575300"/>
            <a:ext cx="10693400" cy="914400"/>
          </a:xfrm>
          <a:prstGeom prst="rect">
            <a:avLst/>
          </a:prstGeom>
          <a:noFill/>
        </p:spPr>
        <p:txBody>
          <a:bodyPr wrap="square">
            <a:spAutoFit/>
          </a:bodyPr>
          <a:lstStyle/>
          <a:p>
            <a:pPr>
              <a:spcAft>
                <a:spcPts val="600"/>
              </a:spcAft>
            </a:pPr>
            <a:r>
              <a:rPr sz="2000" b="1">
                <a:solidFill>
                  <a:srgbClr val="C0392B"/>
                </a:solidFill>
                <a:latin typeface="맑은 고딕"/>
                <a:ea typeface="맑은 고딕"/>
                <a:cs typeface="맑은 고딕"/>
              </a:rPr>
              <a:t>제33장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학습 목표 (Objectives)</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600" b="0">
                <a:solidFill>
                  <a:srgbClr val="222222"/>
                </a:solidFill>
                <a:latin typeface="맑은 고딕"/>
                <a:ea typeface="맑은 고딕"/>
                <a:cs typeface="맑은 고딕"/>
              </a:rPr>
              <a:t>•  SQL 튜닝 프로세스(식별→분석→진단→적용→검증)를 설명한다.</a:t>
            </a:r>
          </a:p>
          <a:p>
            <a:pPr>
              <a:spcAft>
                <a:spcPts val="800"/>
              </a:spcAft>
            </a:pPr>
            <a:r>
              <a:rPr sz="1600" b="0">
                <a:solidFill>
                  <a:srgbClr val="222222"/>
                </a:solidFill>
                <a:latin typeface="맑은 고딕"/>
                <a:ea typeface="맑은 고딕"/>
                <a:cs typeface="맑은 고딕"/>
              </a:rPr>
              <a:t>•  비용 기반 옵티마이저(CBO)의 실행 계획 생성 과정을 이해한다.</a:t>
            </a:r>
          </a:p>
          <a:p>
            <a:pPr>
              <a:spcAft>
                <a:spcPts val="800"/>
              </a:spcAft>
            </a:pPr>
            <a:r>
              <a:rPr sz="1600" b="0">
                <a:solidFill>
                  <a:srgbClr val="222222"/>
                </a:solidFill>
                <a:latin typeface="맑은 고딕"/>
                <a:ea typeface="맑은 고딕"/>
                <a:cs typeface="맑은 고딕"/>
              </a:rPr>
              <a:t>•  DBMS_STATS로 옵티마이저 통계를 수집하고 프리퍼런스를 설정한다.</a:t>
            </a:r>
          </a:p>
          <a:p>
            <a:pPr>
              <a:spcAft>
                <a:spcPts val="800"/>
              </a:spcAft>
            </a:pPr>
            <a:r>
              <a:rPr sz="1600" b="0">
                <a:solidFill>
                  <a:srgbClr val="222222"/>
                </a:solidFill>
                <a:latin typeface="맑은 고딕"/>
                <a:ea typeface="맑은 고딕"/>
                <a:cs typeface="맑은 고딕"/>
              </a:rPr>
              <a:t>•  확장 통계·히스토그램·Optimizer Statistics Advisor(19c)를 활용한다.</a:t>
            </a:r>
          </a:p>
          <a:p>
            <a:pPr>
              <a:spcAft>
                <a:spcPts val="800"/>
              </a:spcAft>
            </a:pPr>
            <a:r>
              <a:rPr sz="1600" b="0">
                <a:solidFill>
                  <a:srgbClr val="222222"/>
                </a:solidFill>
                <a:latin typeface="맑은 고딕"/>
                <a:ea typeface="맑은 고딕"/>
                <a:cs typeface="맑은 고딕"/>
              </a:rPr>
              <a:t>•  SQL Plan Directive와 Adaptive Execution Plan을 이해한다.</a:t>
            </a:r>
          </a:p>
          <a:p>
            <a:pPr>
              <a:spcAft>
                <a:spcPts val="800"/>
              </a:spcAft>
            </a:pPr>
            <a:r>
              <a:rPr sz="1600" b="0">
                <a:solidFill>
                  <a:srgbClr val="222222"/>
                </a:solidFill>
                <a:latin typeface="맑은 고딕"/>
                <a:ea typeface="맑은 고딕"/>
                <a:cs typeface="맑은 고딕"/>
              </a:rPr>
              <a:t>•  SQL Tuning/Access Advisor와 SQL Performance Analyzer를 구분한다.</a:t>
            </a:r>
          </a:p>
          <a:p>
            <a:pPr>
              <a:spcAft>
                <a:spcPts val="800"/>
              </a:spcAft>
            </a:pPr>
            <a:r>
              <a:rPr sz="1600" b="0">
                <a:solidFill>
                  <a:srgbClr val="222222"/>
                </a:solidFill>
                <a:latin typeface="맑은 고딕"/>
                <a:ea typeface="맑은 고딕"/>
                <a:cs typeface="맑은 고딕"/>
              </a:rPr>
              <a:t>•  자동 SQL 튜닝 작업과 자동 구현 옵션을 관리한다.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이 장의 구성 (Agenda)</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600" b="0">
                <a:solidFill>
                  <a:srgbClr val="222222"/>
                </a:solidFill>
                <a:latin typeface="맑은 고딕"/>
                <a:ea typeface="맑은 고딕"/>
                <a:cs typeface="맑은 고딕"/>
              </a:rPr>
              <a:t>•  33.1  SQL 튜닝 프로세스 개요</a:t>
            </a:r>
          </a:p>
          <a:p>
            <a:pPr>
              <a:spcAft>
                <a:spcPts val="800"/>
              </a:spcAft>
            </a:pPr>
            <a:r>
              <a:rPr sz="1600" b="0">
                <a:solidFill>
                  <a:srgbClr val="222222"/>
                </a:solidFill>
                <a:latin typeface="맑은 고딕"/>
                <a:ea typeface="맑은 고딕"/>
                <a:cs typeface="맑은 고딕"/>
              </a:rPr>
              <a:t>•  33.2  쿼리 옵티마이저(CBO) 개요</a:t>
            </a:r>
          </a:p>
          <a:p>
            <a:pPr>
              <a:spcAft>
                <a:spcPts val="800"/>
              </a:spcAft>
            </a:pPr>
            <a:r>
              <a:rPr sz="1600" b="0">
                <a:solidFill>
                  <a:srgbClr val="222222"/>
                </a:solidFill>
                <a:latin typeface="맑은 고딕"/>
                <a:ea typeface="맑은 고딕"/>
                <a:cs typeface="맑은 고딕"/>
              </a:rPr>
              <a:t>•  33.3  옵티마이저 통계 수집(DBMS_STATS)</a:t>
            </a:r>
          </a:p>
          <a:p>
            <a:pPr>
              <a:spcAft>
                <a:spcPts val="800"/>
              </a:spcAft>
            </a:pPr>
            <a:r>
              <a:rPr sz="1600" b="0">
                <a:solidFill>
                  <a:srgbClr val="222222"/>
                </a:solidFill>
                <a:latin typeface="맑은 고딕"/>
                <a:ea typeface="맑은 고딕"/>
                <a:cs typeface="맑은 고딕"/>
              </a:rPr>
              <a:t>•  33.4  통계 환경설정·확장 통계·히스토그램</a:t>
            </a:r>
          </a:p>
          <a:p>
            <a:pPr>
              <a:spcAft>
                <a:spcPts val="800"/>
              </a:spcAft>
            </a:pPr>
            <a:r>
              <a:rPr sz="1600" b="0">
                <a:solidFill>
                  <a:srgbClr val="222222"/>
                </a:solidFill>
                <a:latin typeface="맑은 고딕"/>
                <a:ea typeface="맑은 고딕"/>
                <a:cs typeface="맑은 고딕"/>
              </a:rPr>
              <a:t>•  33.5  Optimizer Statistics Advisor (19c)</a:t>
            </a:r>
          </a:p>
          <a:p>
            <a:pPr>
              <a:spcAft>
                <a:spcPts val="800"/>
              </a:spcAft>
            </a:pPr>
            <a:r>
              <a:rPr sz="1600" b="0">
                <a:solidFill>
                  <a:srgbClr val="222222"/>
                </a:solidFill>
                <a:latin typeface="맑은 고딕"/>
                <a:ea typeface="맑은 고딕"/>
                <a:cs typeface="맑은 고딕"/>
              </a:rPr>
              <a:t>•  33.6  SQL Plan Directives / 33.7  Adaptive Execution Plans</a:t>
            </a:r>
          </a:p>
          <a:p>
            <a:pPr>
              <a:spcAft>
                <a:spcPts val="800"/>
              </a:spcAft>
            </a:pPr>
            <a:r>
              <a:rPr sz="1600" b="0">
                <a:solidFill>
                  <a:srgbClr val="222222"/>
                </a:solidFill>
                <a:latin typeface="맑은 고딕"/>
                <a:ea typeface="맑은 고딕"/>
                <a:cs typeface="맑은 고딕"/>
              </a:rPr>
              <a:t>•  33.8~33.10  SQL Tuning / Access Advisor / SQL Performance Analyzer</a:t>
            </a:r>
          </a:p>
          <a:p>
            <a:pPr>
              <a:spcAft>
                <a:spcPts val="800"/>
              </a:spcAft>
            </a:pPr>
            <a:r>
              <a:rPr sz="1600" b="0">
                <a:solidFill>
                  <a:srgbClr val="222222"/>
                </a:solidFill>
                <a:latin typeface="맑은 고딕"/>
                <a:ea typeface="맑은 고딕"/>
                <a:cs typeface="맑은 고딕"/>
              </a:rPr>
              <a:t>•  33.11  자동 SQL 튜닝 작업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33.1</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SQL 튜닝 프로세스 개요</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반복 가능한 5단계 진단 절차</a:t>
            </a:r>
          </a:p>
          <a:p>
            <a:pPr>
              <a:spcAft>
                <a:spcPts val="800"/>
              </a:spcAft>
            </a:pPr>
            <a:r>
              <a:rPr sz="1600" b="0">
                <a:solidFill>
                  <a:srgbClr val="FFFFFF"/>
                </a:solidFill>
                <a:latin typeface="맑은 고딕"/>
                <a:ea typeface="맑은 고딕"/>
                <a:cs typeface="맑은 고딕"/>
              </a:rPr>
              <a:t>•  워크로드 기반 문제 SQL 식별</a:t>
            </a:r>
          </a:p>
          <a:p>
            <a:pPr>
              <a:spcAft>
                <a:spcPts val="800"/>
              </a:spcAft>
            </a:pPr>
            <a:r>
              <a:rPr sz="1600" b="0">
                <a:solidFill>
                  <a:srgbClr val="FFFFFF"/>
                </a:solidFill>
                <a:latin typeface="맑은 고딕"/>
                <a:ea typeface="맑은 고딕"/>
                <a:cs typeface="맑은 고딕"/>
              </a:rPr>
              <a:t>•  E-Rows vs A-Rows로 추정 오류 발견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SQL 튜닝의 5단계</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무작정 인덱스가 아니라 반복 절차</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① 문제 SQL 식별 — AWR·ADDM·V$SQL로 상위 자원 소비 SQL 선정</a:t>
            </a:r>
          </a:p>
          <a:p>
            <a:pPr>
              <a:spcAft>
                <a:spcPts val="700"/>
              </a:spcAft>
            </a:pPr>
            <a:r>
              <a:rPr sz="1600" b="0">
                <a:solidFill>
                  <a:srgbClr val="222222"/>
                </a:solidFill>
                <a:latin typeface="맑은 고딕"/>
                <a:ea typeface="맑은 고딕"/>
                <a:cs typeface="맑은 고딕"/>
              </a:rPr>
              <a:t>•  ② 실행 계획 분석 — DBMS_XPLAN으로 계획과 실제 통계 확인</a:t>
            </a:r>
          </a:p>
          <a:p>
            <a:pPr>
              <a:spcAft>
                <a:spcPts val="700"/>
              </a:spcAft>
            </a:pPr>
            <a:r>
              <a:rPr sz="1600" b="0">
                <a:solidFill>
                  <a:srgbClr val="222222"/>
                </a:solidFill>
                <a:latin typeface="맑은 고딕"/>
                <a:ea typeface="맑은 고딕"/>
                <a:cs typeface="맑은 고딕"/>
              </a:rPr>
              <a:t>•  ③ 원인 진단 — 통계/편중/상관관계/구문/바인드 민감성 분류</a:t>
            </a:r>
          </a:p>
          <a:p>
            <a:pPr>
              <a:spcAft>
                <a:spcPts val="700"/>
              </a:spcAft>
            </a:pPr>
            <a:r>
              <a:rPr sz="1600" b="0">
                <a:solidFill>
                  <a:srgbClr val="222222"/>
                </a:solidFill>
                <a:latin typeface="맑은 고딕"/>
                <a:ea typeface="맑은 고딕"/>
                <a:cs typeface="맑은 고딕"/>
              </a:rPr>
              <a:t>•  ④ 해결책 적용 — 통계 재수집·히스토그램·확장통계·인덱스·재작성</a:t>
            </a:r>
          </a:p>
          <a:p>
            <a:pPr>
              <a:spcAft>
                <a:spcPts val="700"/>
              </a:spcAft>
            </a:pPr>
            <a:r>
              <a:rPr sz="1600" b="0">
                <a:solidFill>
                  <a:srgbClr val="222222"/>
                </a:solidFill>
                <a:latin typeface="맑은 고딕"/>
                <a:ea typeface="맑은 고딕"/>
                <a:cs typeface="맑은 고딕"/>
              </a:rPr>
              <a:t>•  ⑤ 검증 — 계획 변화·논리적 읽기·경과 시간 데이터로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원인 진단과 검증</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정확한 분류가 정확한 해결을 부른다</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통계 없음/낡음 → 통계 재수집(DBMS_STATS)</a:t>
            </a:r>
          </a:p>
          <a:p>
            <a:pPr>
              <a:spcAft>
                <a:spcPts val="700"/>
              </a:spcAft>
            </a:pPr>
            <a:r>
              <a:rPr sz="1600" b="0">
                <a:solidFill>
                  <a:srgbClr val="222222"/>
                </a:solidFill>
                <a:latin typeface="맑은 고딕"/>
                <a:ea typeface="맑은 고딕"/>
                <a:cs typeface="맑은 고딕"/>
              </a:rPr>
              <a:t>•  데이터 편중 → 히스토그램</a:t>
            </a:r>
          </a:p>
          <a:p>
            <a:pPr>
              <a:spcAft>
                <a:spcPts val="700"/>
              </a:spcAft>
            </a:pPr>
            <a:r>
              <a:rPr sz="1600" b="0">
                <a:solidFill>
                  <a:srgbClr val="222222"/>
                </a:solidFill>
                <a:latin typeface="맑은 고딕"/>
                <a:ea typeface="맑은 고딕"/>
                <a:cs typeface="맑은 고딕"/>
              </a:rPr>
              <a:t>•  컬럼 상관관계 → 확장 통계(컬럼 그룹)</a:t>
            </a:r>
          </a:p>
          <a:p>
            <a:pPr>
              <a:spcAft>
                <a:spcPts val="700"/>
              </a:spcAft>
            </a:pPr>
            <a:r>
              <a:rPr sz="1600" b="0">
                <a:solidFill>
                  <a:srgbClr val="222222"/>
                </a:solidFill>
                <a:latin typeface="맑은 고딕"/>
                <a:ea typeface="맑은 고딕"/>
                <a:cs typeface="맑은 고딕"/>
              </a:rPr>
              <a:t>•  함수·형변환으로 인덱스 미사용 → SQL 재작성</a:t>
            </a:r>
          </a:p>
          <a:p>
            <a:pPr>
              <a:spcAft>
                <a:spcPts val="700"/>
              </a:spcAft>
            </a:pPr>
            <a:r>
              <a:rPr sz="1600" b="0">
                <a:solidFill>
                  <a:srgbClr val="222222"/>
                </a:solidFill>
                <a:latin typeface="맑은 고딕"/>
                <a:ea typeface="맑은 고딕"/>
                <a:cs typeface="맑은 고딕"/>
              </a:rPr>
              <a:t>•  바인드 값에 따라 최적 계획 상이 → 적응형 커서 공유</a:t>
            </a:r>
          </a:p>
          <a:p>
            <a:pPr>
              <a:spcAft>
                <a:spcPts val="700"/>
              </a:spcAft>
            </a:pPr>
            <a:r>
              <a:rPr sz="1600" b="0">
                <a:solidFill>
                  <a:srgbClr val="222222"/>
                </a:solidFill>
                <a:latin typeface="맑은 고딕"/>
                <a:ea typeface="맑은 고딕"/>
                <a:cs typeface="맑은 고딕"/>
              </a:rPr>
              <a:t>•  검증: 인덱스 추가는 조회↑·DML↓ — 전체 워크로드로 순이익 판단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33.2</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쿼리 옵티마이저(CBO) 개요</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비용 기반 최소 비용 계획 선택</a:t>
            </a:r>
          </a:p>
          <a:p>
            <a:pPr>
              <a:spcAft>
                <a:spcPts val="800"/>
              </a:spcAft>
            </a:pPr>
            <a:r>
              <a:rPr sz="1600" b="0">
                <a:solidFill>
                  <a:srgbClr val="FFFFFF"/>
                </a:solidFill>
                <a:latin typeface="맑은 고딕"/>
                <a:ea typeface="맑은 고딕"/>
                <a:cs typeface="맑은 고딕"/>
              </a:rPr>
              <a:t>•  파싱→최적화→행 소스 생성→실행</a:t>
            </a:r>
          </a:p>
          <a:p>
            <a:pPr>
              <a:spcAft>
                <a:spcPts val="800"/>
              </a:spcAft>
            </a:pPr>
            <a:r>
              <a:rPr sz="1600" b="0">
                <a:solidFill>
                  <a:srgbClr val="FFFFFF"/>
                </a:solidFill>
                <a:latin typeface="맑은 고딕"/>
                <a:ea typeface="맑은 고딕"/>
                <a:cs typeface="맑은 고딕"/>
              </a:rPr>
              <a:t>•  카디널리티 추정이 모든 판단의 기초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비용 기반 옵티마이저(CBO)</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통계로 최소 비용 계획을 고른다</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규칙 기반(RBO)은 폐기, 현재는 전부 CBO</a:t>
            </a:r>
          </a:p>
          <a:p>
            <a:pPr>
              <a:spcAft>
                <a:spcPts val="700"/>
              </a:spcAft>
            </a:pPr>
            <a:r>
              <a:rPr sz="1600" b="0">
                <a:solidFill>
                  <a:srgbClr val="222222"/>
                </a:solidFill>
                <a:latin typeface="맑은 고딕"/>
                <a:ea typeface="맑은 고딕"/>
                <a:cs typeface="맑은 고딕"/>
              </a:rPr>
              <a:t>•  비용 = I/O·CPU·네트워크를 정규화한 상대 추정치(시간 단위 아님)</a:t>
            </a:r>
          </a:p>
          <a:p>
            <a:pPr>
              <a:spcAft>
                <a:spcPts val="700"/>
              </a:spcAft>
            </a:pPr>
            <a:r>
              <a:rPr sz="1600" b="0">
                <a:solidFill>
                  <a:srgbClr val="222222"/>
                </a:solidFill>
                <a:latin typeface="맑은 고딕"/>
                <a:ea typeface="맑은 고딕"/>
                <a:cs typeface="맑은 고딕"/>
              </a:rPr>
              <a:t>•  여러 후보 계획의 비용을 통계로 추정 → 최소 비용 선택</a:t>
            </a:r>
          </a:p>
          <a:p>
            <a:pPr>
              <a:spcAft>
                <a:spcPts val="700"/>
              </a:spcAft>
            </a:pPr>
            <a:r>
              <a:rPr sz="1600" b="0">
                <a:solidFill>
                  <a:srgbClr val="222222"/>
                </a:solidFill>
                <a:latin typeface="맑은 고딕"/>
                <a:ea typeface="맑은 고딕"/>
                <a:cs typeface="맑은 고딕"/>
              </a:rPr>
              <a:t>•  비용 추정 정확도 = 옵티마이저 통계 품질에 전적으로 의존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SQL 실행 단계</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파싱 → 최적화 → 행 소스 생성 → 실행</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파싱: 구문·의미·권한 검사, 라이브러리 캐시에서 공유 커서 탐색</a:t>
            </a:r>
          </a:p>
          <a:p>
            <a:pPr>
              <a:spcAft>
                <a:spcPts val="700"/>
              </a:spcAft>
            </a:pPr>
            <a:r>
              <a:rPr sz="1600" b="0">
                <a:solidFill>
                  <a:srgbClr val="222222"/>
                </a:solidFill>
                <a:latin typeface="맑은 고딕"/>
                <a:ea typeface="맑은 고딕"/>
                <a:cs typeface="맑은 고딕"/>
              </a:rPr>
              <a:t>•  소프트 파스(재사용) vs 하드 파스(옵티마이저 개입)</a:t>
            </a:r>
          </a:p>
          <a:p>
            <a:pPr>
              <a:spcAft>
                <a:spcPts val="700"/>
              </a:spcAft>
            </a:pPr>
            <a:r>
              <a:rPr sz="1600" b="0">
                <a:solidFill>
                  <a:srgbClr val="222222"/>
                </a:solidFill>
                <a:latin typeface="맑은 고딕"/>
                <a:ea typeface="맑은 고딕"/>
                <a:cs typeface="맑은 고딕"/>
              </a:rPr>
              <a:t>•  최적화: 질의 변환(뷰 병합·서브쿼리 언네스팅) + 계획 생성</a:t>
            </a:r>
          </a:p>
          <a:p>
            <a:pPr>
              <a:spcAft>
                <a:spcPts val="700"/>
              </a:spcAft>
            </a:pPr>
            <a:r>
              <a:rPr sz="1600" b="0">
                <a:solidFill>
                  <a:srgbClr val="222222"/>
                </a:solidFill>
                <a:latin typeface="맑은 고딕"/>
                <a:ea typeface="맑은 고딕"/>
                <a:cs typeface="맑은 고딕"/>
              </a:rPr>
              <a:t>•  행 소스 생성: 최적 계획 → 실행 가능한 반복자 트리</a:t>
            </a:r>
          </a:p>
          <a:p>
            <a:pPr>
              <a:spcAft>
                <a:spcPts val="700"/>
              </a:spcAft>
            </a:pPr>
            <a:r>
              <a:rPr sz="1600" b="0">
                <a:solidFill>
                  <a:srgbClr val="222222"/>
                </a:solidFill>
                <a:latin typeface="맑은 고딕"/>
                <a:ea typeface="맑은 고딕"/>
                <a:cs typeface="맑은 고딕"/>
              </a:rPr>
              <a:t>•  실행: 공유 커서로 저장되어 이후 재사용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카디널리티와 조인 방법</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추정 오류가 재앙을 부르는 이유</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선택도 ≈ 1/NDV, 카디널리티 = 선택도 × 행 수</a:t>
            </a:r>
          </a:p>
          <a:p>
            <a:pPr>
              <a:spcAft>
                <a:spcPts val="700"/>
              </a:spcAft>
            </a:pPr>
            <a:r>
              <a:rPr sz="1600" b="0">
                <a:solidFill>
                  <a:srgbClr val="222222"/>
                </a:solidFill>
                <a:latin typeface="맑은 고딕"/>
                <a:ea typeface="맑은 고딕"/>
                <a:cs typeface="맑은 고딕"/>
              </a:rPr>
              <a:t>•  소수 행 → 인덱스 접근 유리 / 대다수 행 → 전체 스캔 유리</a:t>
            </a:r>
          </a:p>
          <a:p>
            <a:pPr>
              <a:spcAft>
                <a:spcPts val="700"/>
              </a:spcAft>
            </a:pPr>
            <a:r>
              <a:rPr sz="1600" b="0">
                <a:solidFill>
                  <a:srgbClr val="222222"/>
                </a:solidFill>
                <a:latin typeface="맑은 고딕"/>
                <a:ea typeface="맑은 고딕"/>
                <a:cs typeface="맑은 고딕"/>
              </a:rPr>
              <a:t>•  Nested Loops: 외부 행이 적을 때 유리</a:t>
            </a:r>
          </a:p>
          <a:p>
            <a:pPr>
              <a:spcAft>
                <a:spcPts val="700"/>
              </a:spcAft>
            </a:pPr>
            <a:r>
              <a:rPr sz="1600" b="0">
                <a:solidFill>
                  <a:srgbClr val="222222"/>
                </a:solidFill>
                <a:latin typeface="맑은 고딕"/>
                <a:ea typeface="맑은 고딕"/>
                <a:cs typeface="맑은 고딕"/>
              </a:rPr>
              <a:t>•  Hash Join: 큰 결과 집합 조인에 유리</a:t>
            </a:r>
          </a:p>
          <a:p>
            <a:pPr>
              <a:spcAft>
                <a:spcPts val="700"/>
              </a:spcAft>
            </a:pPr>
            <a:r>
              <a:rPr sz="1600" b="0">
                <a:solidFill>
                  <a:srgbClr val="222222"/>
                </a:solidFill>
                <a:latin typeface="맑은 고딕"/>
                <a:ea typeface="맑은 고딕"/>
                <a:cs typeface="맑은 고딕"/>
              </a:rPr>
              <a:t>•  Sort-Merge: 정렬 데이터·부등호 조인에 적합</a:t>
            </a:r>
          </a:p>
          <a:p>
            <a:pPr>
              <a:spcAft>
                <a:spcPts val="700"/>
              </a:spcAft>
            </a:pPr>
            <a:r>
              <a:rPr sz="1600" b="0">
                <a:solidFill>
                  <a:srgbClr val="222222"/>
                </a:solidFill>
                <a:latin typeface="맑은 고딕"/>
                <a:ea typeface="맑은 고딕"/>
                <a:cs typeface="맑은 고딕"/>
              </a:rPr>
              <a:t>•  카디널리티 100 vs 실제 80만 → NL 오선택 → 성능 재앙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33.3</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옵티마이저 통계 수집</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테이블·컬럼·인덱스·시스템 통계</a:t>
            </a:r>
          </a:p>
          <a:p>
            <a:pPr>
              <a:spcAft>
                <a:spcPts val="800"/>
              </a:spcAft>
            </a:pPr>
            <a:r>
              <a:rPr sz="1600" b="0">
                <a:solidFill>
                  <a:srgbClr val="FFFFFF"/>
                </a:solidFill>
                <a:latin typeface="맑은 고딕"/>
                <a:ea typeface="맑은 고딕"/>
                <a:cs typeface="맑은 고딕"/>
              </a:rPr>
              <a:t>•  DBMS_STATS가 표준(ANALYZE 아님)</a:t>
            </a:r>
          </a:p>
          <a:p>
            <a:pPr>
              <a:spcAft>
                <a:spcPts val="800"/>
              </a:spcAft>
            </a:pPr>
            <a:r>
              <a:rPr sz="1600" b="0">
                <a:solidFill>
                  <a:srgbClr val="FFFFFF"/>
                </a:solidFill>
                <a:latin typeface="맑은 고딕"/>
                <a:ea typeface="맑은 고딕"/>
                <a:cs typeface="맑은 고딕"/>
              </a:rPr>
              <a:t>•  대부분 자동 통계 수집 작업이 담당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옵티마이저 통계의 종류</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옵티마이저가 비용을 추정하는 근거</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테이블 통계: 행 수(NUM_ROWS)·블록 수·평균 행 길이</a:t>
            </a:r>
          </a:p>
          <a:p>
            <a:pPr>
              <a:spcAft>
                <a:spcPts val="700"/>
              </a:spcAft>
            </a:pPr>
            <a:r>
              <a:rPr sz="1600" b="0">
                <a:solidFill>
                  <a:srgbClr val="222222"/>
                </a:solidFill>
                <a:latin typeface="맑은 고딕"/>
                <a:ea typeface="맑은 고딕"/>
                <a:cs typeface="맑은 고딕"/>
              </a:rPr>
              <a:t>•  컬럼 통계: NDV·NULL 수·최소/최대·히스토그램</a:t>
            </a:r>
          </a:p>
          <a:p>
            <a:pPr>
              <a:spcAft>
                <a:spcPts val="700"/>
              </a:spcAft>
            </a:pPr>
            <a:r>
              <a:rPr sz="1600" b="0">
                <a:solidFill>
                  <a:srgbClr val="222222"/>
                </a:solidFill>
                <a:latin typeface="맑은 고딕"/>
                <a:ea typeface="맑은 고딕"/>
                <a:cs typeface="맑은 고딕"/>
              </a:rPr>
              <a:t>•  인덱스 통계: BLEVEL·리프 블록 수·클러스터링 팩터</a:t>
            </a:r>
          </a:p>
          <a:p>
            <a:pPr>
              <a:spcAft>
                <a:spcPts val="700"/>
              </a:spcAft>
            </a:pPr>
            <a:r>
              <a:rPr sz="1600" b="0">
                <a:solidFill>
                  <a:srgbClr val="222222"/>
                </a:solidFill>
                <a:latin typeface="맑은 고딕"/>
                <a:ea typeface="맑은 고딕"/>
                <a:cs typeface="맑은 고딕"/>
              </a:rPr>
              <a:t>•  시스템 통계: CPU 속도·I/O 성능 특성</a:t>
            </a:r>
          </a:p>
          <a:p>
            <a:pPr>
              <a:spcAft>
                <a:spcPts val="700"/>
              </a:spcAft>
            </a:pPr>
            <a:r>
              <a:rPr sz="1600" b="0">
                <a:solidFill>
                  <a:srgbClr val="222222"/>
                </a:solidFill>
                <a:latin typeface="맑은 고딕"/>
                <a:ea typeface="맑은 고딕"/>
                <a:cs typeface="맑은 고딕"/>
              </a:rPr>
              <a:t>•  → 이 값들이 실데이터를 반영해야 올바른 계획이 나온다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DBMS_STATS로 통계 수집</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ANALYZE가 아니라 DBMS_STATS가 표준</a:t>
            </a:r>
          </a:p>
        </p:txBody>
      </p:sp>
      <p:sp>
        <p:nvSpPr>
          <p:cNvPr id="5" name="Rectangle 4"/>
          <p:cNvSpPr/>
          <p:nvPr/>
        </p:nvSpPr>
        <p:spPr>
          <a:xfrm>
            <a:off x="635000" y="1600200"/>
            <a:ext cx="10871200" cy="21971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 단일 테이블(자동 표본, 히스토그램 자동 판단)</a:t>
            </a:r>
          </a:p>
          <a:p>
            <a:pPr>
              <a:spcAft>
                <a:spcPts val="0"/>
              </a:spcAft>
            </a:pPr>
            <a:r>
              <a:rPr sz="1100" b="0">
                <a:solidFill>
                  <a:srgbClr val="E6E6E6"/>
                </a:solidFill>
                <a:latin typeface="Consolas"/>
                <a:ea typeface="Consolas"/>
                <a:cs typeface="Consolas"/>
              </a:rPr>
              <a:t>EXEC DBMS_STATS.GATHER_TABLE_STATS( -</a:t>
            </a:r>
          </a:p>
          <a:p>
            <a:pPr>
              <a:spcAft>
                <a:spcPts val="0"/>
              </a:spcAft>
            </a:pPr>
            <a:r>
              <a:rPr sz="1100" b="0">
                <a:solidFill>
                  <a:srgbClr val="E6E6E6"/>
                </a:solidFill>
                <a:latin typeface="Consolas"/>
                <a:ea typeface="Consolas"/>
                <a:cs typeface="Consolas"/>
              </a:rPr>
              <a:t>  ownname=&gt;'SH', tabname=&gt;'SALES', -</a:t>
            </a:r>
          </a:p>
          <a:p>
            <a:pPr>
              <a:spcAft>
                <a:spcPts val="0"/>
              </a:spcAft>
            </a:pPr>
            <a:r>
              <a:rPr sz="1100" b="0">
                <a:solidFill>
                  <a:srgbClr val="E6E6E6"/>
                </a:solidFill>
                <a:latin typeface="Consolas"/>
                <a:ea typeface="Consolas"/>
                <a:cs typeface="Consolas"/>
              </a:rPr>
              <a:t>  estimate_percent=&gt;DBMS_STATS.AUTO_SAMPLE_SIZE, -</a:t>
            </a:r>
          </a:p>
          <a:p>
            <a:pPr>
              <a:spcAft>
                <a:spcPts val="0"/>
              </a:spcAft>
            </a:pPr>
            <a:r>
              <a:rPr sz="1100" b="0">
                <a:solidFill>
                  <a:srgbClr val="E6E6E6"/>
                </a:solidFill>
                <a:latin typeface="Consolas"/>
                <a:ea typeface="Consolas"/>
                <a:cs typeface="Consolas"/>
              </a:rPr>
              <a:t>  method_opt=&gt;'FOR ALL COLUMNS SIZE AUTO', cascade=&gt;TRUE);</a:t>
            </a:r>
          </a:p>
          <a:p>
            <a:pPr>
              <a:spcAft>
                <a:spcPts val="0"/>
              </a:spcAft>
            </a:pPr>
            <a:r>
              <a:rPr sz="1100" b="0">
                <a:solidFill>
                  <a:srgbClr val="E6E6E6"/>
                </a:solidFill>
                <a:latin typeface="Consolas"/>
                <a:ea typeface="Consolas"/>
                <a:cs typeface="Consolas"/>
              </a:rPr>
              <a:t> </a:t>
            </a:r>
          </a:p>
          <a:p>
            <a:pPr>
              <a:spcAft>
                <a:spcPts val="0"/>
              </a:spcAft>
            </a:pPr>
            <a:r>
              <a:rPr sz="1100" b="0">
                <a:solidFill>
                  <a:srgbClr val="E6E6E6"/>
                </a:solidFill>
                <a:latin typeface="Consolas"/>
                <a:ea typeface="Consolas"/>
                <a:cs typeface="Consolas"/>
              </a:rPr>
              <a:t>-- 스키마 / 데이터베이스 전체</a:t>
            </a:r>
          </a:p>
          <a:p>
            <a:pPr>
              <a:spcAft>
                <a:spcPts val="0"/>
              </a:spcAft>
            </a:pPr>
            <a:r>
              <a:rPr sz="1100" b="0">
                <a:solidFill>
                  <a:srgbClr val="E6E6E6"/>
                </a:solidFill>
                <a:latin typeface="Consolas"/>
                <a:ea typeface="Consolas"/>
                <a:cs typeface="Consolas"/>
              </a:rPr>
              <a:t>EXEC DBMS_STATS.GATHER_SCHEMA_STATS(ownname=&gt;'SH');</a:t>
            </a:r>
          </a:p>
          <a:p>
            <a:pPr>
              <a:spcAft>
                <a:spcPts val="0"/>
              </a:spcAft>
            </a:pPr>
            <a:r>
              <a:rPr sz="1100" b="0">
                <a:solidFill>
                  <a:srgbClr val="E6E6E6"/>
                </a:solidFill>
                <a:latin typeface="Consolas"/>
                <a:ea typeface="Consolas"/>
                <a:cs typeface="Consolas"/>
              </a:rPr>
              <a:t>EXEC DBMS_STATS.GATHER_DATABASE_STATS;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자동 통계 수집과 수동 수집</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언제 사람이 개입하는가</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자동 옵티마이저 통계 수집 = 사전 정의 자동 유지관리 작업</a:t>
            </a:r>
          </a:p>
          <a:p>
            <a:pPr>
              <a:spcAft>
                <a:spcPts val="700"/>
              </a:spcAft>
            </a:pPr>
            <a:r>
              <a:rPr sz="1600" b="0">
                <a:solidFill>
                  <a:srgbClr val="222222"/>
                </a:solidFill>
                <a:latin typeface="맑은 고딕"/>
                <a:ea typeface="맑은 고딕"/>
                <a:cs typeface="맑은 고딕"/>
              </a:rPr>
              <a:t>•  매일 유지관리 윈도우에서 stale/missing 객체를 자동 수집</a:t>
            </a:r>
          </a:p>
          <a:p>
            <a:pPr>
              <a:spcAft>
                <a:spcPts val="700"/>
              </a:spcAft>
            </a:pPr>
            <a:r>
              <a:rPr sz="1600" b="0">
                <a:solidFill>
                  <a:srgbClr val="222222"/>
                </a:solidFill>
                <a:latin typeface="맑은 고딕"/>
                <a:ea typeface="맑은 고딕"/>
                <a:cs typeface="맑은 고딕"/>
              </a:rPr>
              <a:t>•  stale 판단: DBA_TAB_MODIFICATIONS 변경량 &gt; 기본 10%</a:t>
            </a:r>
          </a:p>
          <a:p>
            <a:pPr>
              <a:spcAft>
                <a:spcPts val="700"/>
              </a:spcAft>
            </a:pPr>
            <a:r>
              <a:rPr sz="1600" b="0">
                <a:solidFill>
                  <a:srgbClr val="222222"/>
                </a:solidFill>
                <a:latin typeface="맑은 고딕"/>
                <a:ea typeface="맑은 고딕"/>
                <a:cs typeface="맑은 고딕"/>
              </a:rPr>
              <a:t>•  수동 필요: 대량 적재 직후·파티션 교체·야간배치 낮 실행</a:t>
            </a:r>
          </a:p>
          <a:p>
            <a:pPr>
              <a:spcAft>
                <a:spcPts val="700"/>
              </a:spcAft>
            </a:pPr>
            <a:r>
              <a:rPr sz="1600" b="0">
                <a:solidFill>
                  <a:srgbClr val="222222"/>
                </a:solidFill>
                <a:latin typeface="맑은 고딕"/>
                <a:ea typeface="맑은 고딕"/>
                <a:cs typeface="맑은 고딕"/>
              </a:rPr>
              <a:t>•  통계 이력 자동 보존(31일) → RESTORE_TABLE_STATS로 복구</a:t>
            </a:r>
          </a:p>
          <a:p>
            <a:pPr>
              <a:spcAft>
                <a:spcPts val="700"/>
              </a:spcAft>
            </a:pPr>
            <a:r>
              <a:rPr sz="1600" b="0">
                <a:solidFill>
                  <a:srgbClr val="222222"/>
                </a:solidFill>
                <a:latin typeface="맑은 고딕"/>
                <a:ea typeface="맑은 고딕"/>
                <a:cs typeface="맑은 고딕"/>
              </a:rPr>
              <a:t>•  PUBLISH=FALSE + pending 통계로 발행 전 테스트 가능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33.4</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통계 환경설정·확장 통계·히스토그램</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프리퍼런스 계층: GLOBAL→DATABASE→SCHEMA→TABLE</a:t>
            </a:r>
          </a:p>
          <a:p>
            <a:pPr>
              <a:spcAft>
                <a:spcPts val="800"/>
              </a:spcAft>
            </a:pPr>
            <a:r>
              <a:rPr sz="1600" b="0">
                <a:solidFill>
                  <a:srgbClr val="FFFFFF"/>
                </a:solidFill>
                <a:latin typeface="맑은 고딕"/>
                <a:ea typeface="맑은 고딕"/>
                <a:cs typeface="맑은 고딕"/>
              </a:rPr>
              <a:t>•  히스토그램=편중 보완</a:t>
            </a:r>
          </a:p>
          <a:p>
            <a:pPr>
              <a:spcAft>
                <a:spcPts val="800"/>
              </a:spcAft>
            </a:pPr>
            <a:r>
              <a:rPr sz="1600" b="0">
                <a:solidFill>
                  <a:srgbClr val="FFFFFF"/>
                </a:solidFill>
                <a:latin typeface="맑은 고딕"/>
                <a:ea typeface="맑은 고딕"/>
                <a:cs typeface="맑은 고딕"/>
              </a:rPr>
              <a:t>•  확장 통계=상관관계·표현식 보완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통계 프리퍼런스(Preferences)</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좁은 범위가 넓은 범위를 재정의</a:t>
            </a:r>
          </a:p>
        </p:txBody>
      </p:sp>
      <p:sp>
        <p:nvSpPr>
          <p:cNvPr id="5" name="Rectangle 4"/>
          <p:cNvSpPr/>
          <p:nvPr/>
        </p:nvSpPr>
        <p:spPr>
          <a:xfrm>
            <a:off x="635000" y="1600200"/>
            <a:ext cx="10871200" cy="17653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 개별 테이블: 표본 100%, 히스토그램 억제</a:t>
            </a:r>
          </a:p>
          <a:p>
            <a:pPr>
              <a:spcAft>
                <a:spcPts val="0"/>
              </a:spcAft>
            </a:pPr>
            <a:r>
              <a:rPr sz="1100" b="0">
                <a:solidFill>
                  <a:srgbClr val="E6E6E6"/>
                </a:solidFill>
                <a:latin typeface="Consolas"/>
                <a:ea typeface="Consolas"/>
                <a:cs typeface="Consolas"/>
              </a:rPr>
              <a:t>EXEC DBMS_STATS.SET_TABLE_PREFS('SH','SALES','ESTIMATE_PERCENT','100');</a:t>
            </a:r>
          </a:p>
          <a:p>
            <a:pPr>
              <a:spcAft>
                <a:spcPts val="0"/>
              </a:spcAft>
            </a:pPr>
            <a:r>
              <a:rPr sz="1100" b="0">
                <a:solidFill>
                  <a:srgbClr val="E6E6E6"/>
                </a:solidFill>
                <a:latin typeface="Consolas"/>
                <a:ea typeface="Consolas"/>
                <a:cs typeface="Consolas"/>
              </a:rPr>
              <a:t>EXEC DBMS_STATS.SET_TABLE_PREFS('SH','SALES','METHOD_OPT','FOR ALL COLUMNS SIZE 1');</a:t>
            </a:r>
          </a:p>
          <a:p>
            <a:pPr>
              <a:spcAft>
                <a:spcPts val="0"/>
              </a:spcAft>
            </a:pPr>
            <a:r>
              <a:rPr sz="1100" b="0">
                <a:solidFill>
                  <a:srgbClr val="E6E6E6"/>
                </a:solidFill>
                <a:latin typeface="Consolas"/>
                <a:ea typeface="Consolas"/>
                <a:cs typeface="Consolas"/>
              </a:rPr>
              <a:t>-- 전역 stale 임계값 15%</a:t>
            </a:r>
          </a:p>
          <a:p>
            <a:pPr>
              <a:spcAft>
                <a:spcPts val="0"/>
              </a:spcAft>
            </a:pPr>
            <a:r>
              <a:rPr sz="1100" b="0">
                <a:solidFill>
                  <a:srgbClr val="E6E6E6"/>
                </a:solidFill>
                <a:latin typeface="Consolas"/>
                <a:ea typeface="Consolas"/>
                <a:cs typeface="Consolas"/>
              </a:rPr>
              <a:t>EXEC DBMS_STATS.SET_GLOBAL_PREFS('STALE_PERCENT','15');</a:t>
            </a:r>
          </a:p>
          <a:p>
            <a:pPr>
              <a:spcAft>
                <a:spcPts val="0"/>
              </a:spcAft>
            </a:pPr>
            <a:r>
              <a:rPr sz="1100" b="0">
                <a:solidFill>
                  <a:srgbClr val="E6E6E6"/>
                </a:solidFill>
                <a:latin typeface="Consolas"/>
                <a:ea typeface="Consolas"/>
                <a:cs typeface="Consolas"/>
              </a:rPr>
              <a:t>-- 현재 유효값 확인</a:t>
            </a:r>
          </a:p>
          <a:p>
            <a:pPr>
              <a:spcAft>
                <a:spcPts val="0"/>
              </a:spcAft>
            </a:pPr>
            <a:r>
              <a:rPr sz="1100" b="0">
                <a:solidFill>
                  <a:srgbClr val="E6E6E6"/>
                </a:solidFill>
                <a:latin typeface="Consolas"/>
                <a:ea typeface="Consolas"/>
                <a:cs typeface="Consolas"/>
              </a:rPr>
              <a:t>SELECT DBMS_STATS.GET_PREFS('METHOD_OPT','SH','SALES') FROM dual;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AUTO_SAMPLE_SIZE와 METHOD_OPT</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19c 권장 기본값</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AUTO_SAMPLE_SIZE: 해시 기반으로 전체를 훑되 100% 수준 정확도</a:t>
            </a:r>
          </a:p>
          <a:p>
            <a:pPr>
              <a:spcAft>
                <a:spcPts val="700"/>
              </a:spcAft>
            </a:pPr>
            <a:r>
              <a:rPr sz="1600" b="0">
                <a:solidFill>
                  <a:srgbClr val="222222"/>
                </a:solidFill>
                <a:latin typeface="맑은 고딕"/>
                <a:ea typeface="맑은 고딕"/>
                <a:cs typeface="맑은 고딕"/>
              </a:rPr>
              <a:t>•  → 표본 비율을 수동 지정할 이유가 사실상 없음</a:t>
            </a:r>
          </a:p>
          <a:p>
            <a:pPr>
              <a:spcAft>
                <a:spcPts val="700"/>
              </a:spcAft>
            </a:pPr>
            <a:r>
              <a:rPr sz="1600" b="0">
                <a:solidFill>
                  <a:srgbClr val="222222"/>
                </a:solidFill>
                <a:latin typeface="맑은 고딕"/>
                <a:ea typeface="맑은 고딕"/>
                <a:cs typeface="맑은 고딕"/>
              </a:rPr>
              <a:t>•  METHOD_OPT 'SIZE AUTO': 데이터 분포+컬럼 사용 이력 참고</a:t>
            </a:r>
          </a:p>
          <a:p>
            <a:pPr>
              <a:spcAft>
                <a:spcPts val="700"/>
              </a:spcAft>
            </a:pPr>
            <a:r>
              <a:rPr sz="1600" b="0">
                <a:solidFill>
                  <a:srgbClr val="222222"/>
                </a:solidFill>
                <a:latin typeface="맑은 고딕"/>
                <a:ea typeface="맑은 고딕"/>
                <a:cs typeface="맑은 고딕"/>
              </a:rPr>
              <a:t>•  → 히스토그램이 필요한 컬럼에만 자동 생성</a:t>
            </a:r>
          </a:p>
          <a:p>
            <a:pPr>
              <a:spcAft>
                <a:spcPts val="700"/>
              </a:spcAft>
            </a:pPr>
            <a:r>
              <a:rPr sz="1600" b="0">
                <a:solidFill>
                  <a:srgbClr val="222222"/>
                </a:solidFill>
                <a:latin typeface="맑은 고딕"/>
                <a:ea typeface="맑은 고딕"/>
                <a:cs typeface="맑은 고딕"/>
              </a:rPr>
              <a:t>•  INCREMENTAL=TRUE: 대형 파티션표 전역 통계를 시놉시스로 갱신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히스토그램(Histogram)</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균등 분포 가정의 한계를 보완</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옵티마이저 기본 가정: 컬럼 값이 고르게 분포</a:t>
            </a:r>
          </a:p>
          <a:p>
            <a:pPr>
              <a:spcAft>
                <a:spcPts val="700"/>
              </a:spcAft>
            </a:pPr>
            <a:r>
              <a:rPr sz="1600" b="0">
                <a:solidFill>
                  <a:srgbClr val="222222"/>
                </a:solidFill>
                <a:latin typeface="맑은 고딕"/>
                <a:ea typeface="맑은 고딕"/>
                <a:cs typeface="맑은 고딕"/>
              </a:rPr>
              <a:t>•  실제: 편중(예: 상태값 CLOSED 95% / OPEN 5%)</a:t>
            </a:r>
          </a:p>
          <a:p>
            <a:pPr>
              <a:spcAft>
                <a:spcPts val="700"/>
              </a:spcAft>
            </a:pPr>
            <a:r>
              <a:rPr sz="1600" b="0">
                <a:solidFill>
                  <a:srgbClr val="222222"/>
                </a:solidFill>
                <a:latin typeface="맑은 고딕"/>
                <a:ea typeface="맑은 고딕"/>
                <a:cs typeface="맑은 고딕"/>
              </a:rPr>
              <a:t>•  히스토그램이 실제 분포를 버킷으로 기술 → 선택도 정확화</a:t>
            </a:r>
          </a:p>
          <a:p>
            <a:pPr>
              <a:spcAft>
                <a:spcPts val="700"/>
              </a:spcAft>
            </a:pPr>
            <a:r>
              <a:rPr sz="1600" b="0">
                <a:solidFill>
                  <a:srgbClr val="222222"/>
                </a:solidFill>
                <a:latin typeface="맑은 고딕"/>
                <a:ea typeface="맑은 고딕"/>
                <a:cs typeface="맑은 고딕"/>
              </a:rPr>
              <a:t>•  19c 4종 자동 선택: Frequency·Top-Frequency·Height-Balanced·Hybrid</a:t>
            </a:r>
          </a:p>
          <a:p>
            <a:pPr>
              <a:spcAft>
                <a:spcPts val="700"/>
              </a:spcAft>
            </a:pPr>
            <a:r>
              <a:rPr sz="1600" b="0">
                <a:solidFill>
                  <a:srgbClr val="222222"/>
                </a:solidFill>
                <a:latin typeface="맑은 고딕"/>
                <a:ea typeface="맑은 고딕"/>
                <a:cs typeface="맑은 고딕"/>
              </a:rPr>
              <a:t>•  고유값 ≤ 버킷 수(기본 254) → 도수, 초과 → 하이브리드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확장 통계(Extended Statistics)</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컬럼 그룹·표현식 통계</a:t>
            </a:r>
          </a:p>
        </p:txBody>
      </p:sp>
      <p:sp>
        <p:nvSpPr>
          <p:cNvPr id="5" name="Rectangle 4"/>
          <p:cNvSpPr/>
          <p:nvPr/>
        </p:nvSpPr>
        <p:spPr>
          <a:xfrm>
            <a:off x="635000" y="1600200"/>
            <a:ext cx="10871200" cy="19812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 컬럼 그룹: 상관관계 있는 컬럼 조합</a:t>
            </a:r>
          </a:p>
          <a:p>
            <a:pPr>
              <a:spcAft>
                <a:spcPts val="0"/>
              </a:spcAft>
            </a:pPr>
            <a:r>
              <a:rPr sz="1100" b="0">
                <a:solidFill>
                  <a:srgbClr val="E6E6E6"/>
                </a:solidFill>
                <a:latin typeface="Consolas"/>
                <a:ea typeface="Consolas"/>
                <a:cs typeface="Consolas"/>
              </a:rPr>
              <a:t>SELECT DBMS_STATS.CREATE_EXTENDED_STATS(</a:t>
            </a:r>
          </a:p>
          <a:p>
            <a:pPr>
              <a:spcAft>
                <a:spcPts val="0"/>
              </a:spcAft>
            </a:pPr>
            <a:r>
              <a:rPr sz="1100" b="0">
                <a:solidFill>
                  <a:srgbClr val="E6E6E6"/>
                </a:solidFill>
                <a:latin typeface="Consolas"/>
                <a:ea typeface="Consolas"/>
                <a:cs typeface="Consolas"/>
              </a:rPr>
              <a:t>  'SH','CUSTOMERS','(cust_state_province,country_id)') FROM dual;</a:t>
            </a:r>
          </a:p>
          <a:p>
            <a:pPr>
              <a:spcAft>
                <a:spcPts val="0"/>
              </a:spcAft>
            </a:pPr>
            <a:r>
              <a:rPr sz="1100" b="0">
                <a:solidFill>
                  <a:srgbClr val="E6E6E6"/>
                </a:solidFill>
                <a:latin typeface="Consolas"/>
                <a:ea typeface="Consolas"/>
                <a:cs typeface="Consolas"/>
              </a:rPr>
              <a:t>-- 표현식 통계: 함수 적용 결과</a:t>
            </a:r>
          </a:p>
          <a:p>
            <a:pPr>
              <a:spcAft>
                <a:spcPts val="0"/>
              </a:spcAft>
            </a:pPr>
            <a:r>
              <a:rPr sz="1100" b="0">
                <a:solidFill>
                  <a:srgbClr val="E6E6E6"/>
                </a:solidFill>
                <a:latin typeface="Consolas"/>
                <a:ea typeface="Consolas"/>
                <a:cs typeface="Consolas"/>
              </a:rPr>
              <a:t>SELECT DBMS_STATS.CREATE_EXTENDED_STATS(</a:t>
            </a:r>
          </a:p>
          <a:p>
            <a:pPr>
              <a:spcAft>
                <a:spcPts val="0"/>
              </a:spcAft>
            </a:pPr>
            <a:r>
              <a:rPr sz="1100" b="0">
                <a:solidFill>
                  <a:srgbClr val="E6E6E6"/>
                </a:solidFill>
                <a:latin typeface="Consolas"/>
                <a:ea typeface="Consolas"/>
                <a:cs typeface="Consolas"/>
              </a:rPr>
              <a:t>  'HR','EMPLOYEES','(UPPER(last_name))') FROM dual;</a:t>
            </a:r>
          </a:p>
          <a:p>
            <a:pPr>
              <a:spcAft>
                <a:spcPts val="0"/>
              </a:spcAft>
            </a:pPr>
            <a:r>
              <a:rPr sz="1100" b="0">
                <a:solidFill>
                  <a:srgbClr val="E6E6E6"/>
                </a:solidFill>
                <a:latin typeface="Consolas"/>
                <a:ea typeface="Consolas"/>
                <a:cs typeface="Consolas"/>
              </a:rPr>
              <a:t>-- 생성 후 재수집해야 값이 채워짐</a:t>
            </a:r>
          </a:p>
          <a:p>
            <a:pPr>
              <a:spcAft>
                <a:spcPts val="0"/>
              </a:spcAft>
            </a:pPr>
            <a:r>
              <a:rPr sz="1100" b="0">
                <a:solidFill>
                  <a:srgbClr val="E6E6E6"/>
                </a:solidFill>
                <a:latin typeface="Consolas"/>
                <a:ea typeface="Consolas"/>
                <a:cs typeface="Consolas"/>
              </a:rPr>
              <a:t>EXEC DBMS_STATS.GATHER_TABLE_STATS('SH','CUSTOMERS');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33.5</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Optimizer Statistics Advisor (19c)</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통계 '값'이 아니라 '관리 방식'을 점검</a:t>
            </a:r>
          </a:p>
          <a:p>
            <a:pPr>
              <a:spcAft>
                <a:spcPts val="800"/>
              </a:spcAft>
            </a:pPr>
            <a:r>
              <a:rPr sz="1600" b="0">
                <a:solidFill>
                  <a:srgbClr val="FFFFFF"/>
                </a:solidFill>
                <a:latin typeface="맑은 고딕"/>
                <a:ea typeface="맑은 고딕"/>
                <a:cs typeface="맑은 고딕"/>
              </a:rPr>
              <a:t>•  내장 규칙 기반 진단</a:t>
            </a:r>
          </a:p>
          <a:p>
            <a:pPr>
              <a:spcAft>
                <a:spcPts val="800"/>
              </a:spcAft>
            </a:pPr>
            <a:r>
              <a:rPr sz="1600" b="0">
                <a:solidFill>
                  <a:srgbClr val="FFFFFF"/>
                </a:solidFill>
                <a:latin typeface="맑은 고딕"/>
                <a:ea typeface="맑은 고딕"/>
                <a:cs typeface="맑은 고딕"/>
              </a:rPr>
              <a:t>•  REPORT_STATS_ADVISOR_TASK로 보고</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Optimizer Statistics Advisor</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규칙 기반으로 통계 관행을 점검</a:t>
            </a:r>
          </a:p>
        </p:txBody>
      </p:sp>
      <p:sp>
        <p:nvSpPr>
          <p:cNvPr id="5" name="Rectangle 4"/>
          <p:cNvSpPr/>
          <p:nvPr/>
        </p:nvSpPr>
        <p:spPr>
          <a:xfrm>
            <a:off x="635000" y="1600200"/>
            <a:ext cx="10871200" cy="21971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DECLARE v_task VARCHAR2(64);</a:t>
            </a:r>
          </a:p>
          <a:p>
            <a:pPr>
              <a:spcAft>
                <a:spcPts val="0"/>
              </a:spcAft>
            </a:pPr>
            <a:r>
              <a:rPr sz="1100" b="0">
                <a:solidFill>
                  <a:srgbClr val="E6E6E6"/>
                </a:solidFill>
                <a:latin typeface="Consolas"/>
                <a:ea typeface="Consolas"/>
                <a:cs typeface="Consolas"/>
              </a:rPr>
              <a:t>BEGIN</a:t>
            </a:r>
          </a:p>
          <a:p>
            <a:pPr>
              <a:spcAft>
                <a:spcPts val="0"/>
              </a:spcAft>
            </a:pPr>
            <a:r>
              <a:rPr sz="1100" b="0">
                <a:solidFill>
                  <a:srgbClr val="E6E6E6"/>
                </a:solidFill>
                <a:latin typeface="Consolas"/>
                <a:ea typeface="Consolas"/>
                <a:cs typeface="Consolas"/>
              </a:rPr>
              <a:t>  v_task := DBMS_STATS.CREATE_ADVISOR_TASK('my_stats_task');</a:t>
            </a:r>
          </a:p>
          <a:p>
            <a:pPr>
              <a:spcAft>
                <a:spcPts val="0"/>
              </a:spcAft>
            </a:pPr>
            <a:r>
              <a:rPr sz="1100" b="0">
                <a:solidFill>
                  <a:srgbClr val="E6E6E6"/>
                </a:solidFill>
                <a:latin typeface="Consolas"/>
                <a:ea typeface="Consolas"/>
                <a:cs typeface="Consolas"/>
              </a:rPr>
              <a:t>  v_task := DBMS_STATS.EXECUTE_ADVISOR_TASK('my_stats_task');</a:t>
            </a:r>
          </a:p>
          <a:p>
            <a:pPr>
              <a:spcAft>
                <a:spcPts val="0"/>
              </a:spcAft>
            </a:pPr>
            <a:r>
              <a:rPr sz="1100" b="0">
                <a:solidFill>
                  <a:srgbClr val="E6E6E6"/>
                </a:solidFill>
                <a:latin typeface="Consolas"/>
                <a:ea typeface="Consolas"/>
                <a:cs typeface="Consolas"/>
              </a:rPr>
              <a:t>END;</a:t>
            </a:r>
          </a:p>
          <a:p>
            <a:pPr>
              <a:spcAft>
                <a:spcPts val="0"/>
              </a:spcAft>
            </a:pPr>
            <a:r>
              <a:rPr sz="1100" b="0">
                <a:solidFill>
                  <a:srgbClr val="E6E6E6"/>
                </a:solidFill>
                <a:latin typeface="Consolas"/>
                <a:ea typeface="Consolas"/>
                <a:cs typeface="Consolas"/>
              </a:rPr>
              <a:t>/</a:t>
            </a:r>
          </a:p>
          <a:p>
            <a:pPr>
              <a:spcAft>
                <a:spcPts val="0"/>
              </a:spcAft>
            </a:pPr>
            <a:r>
              <a:rPr sz="1100" b="0">
                <a:solidFill>
                  <a:srgbClr val="E6E6E6"/>
                </a:solidFill>
                <a:latin typeface="Consolas"/>
                <a:ea typeface="Consolas"/>
                <a:cs typeface="Consolas"/>
              </a:rPr>
              <a:t>-- 보고서(TEXT/HTML/XML)</a:t>
            </a:r>
          </a:p>
          <a:p>
            <a:pPr>
              <a:spcAft>
                <a:spcPts val="0"/>
              </a:spcAft>
            </a:pPr>
            <a:r>
              <a:rPr sz="1100" b="0">
                <a:solidFill>
                  <a:srgbClr val="E6E6E6"/>
                </a:solidFill>
                <a:latin typeface="Consolas"/>
                <a:ea typeface="Consolas"/>
                <a:cs typeface="Consolas"/>
              </a:rPr>
              <a:t>SELECT DBMS_STATS.REPORT_STATS_ADVISOR_TASK('my_stats_task') FROM dual;</a:t>
            </a:r>
          </a:p>
          <a:p>
            <a:pPr>
              <a:spcAft>
                <a:spcPts val="0"/>
              </a:spcAft>
            </a:pPr>
            <a:r>
              <a:rPr sz="1100" b="0">
                <a:solidFill>
                  <a:srgbClr val="E6E6E6"/>
                </a:solidFill>
                <a:latin typeface="Consolas"/>
                <a:ea typeface="Consolas"/>
                <a:cs typeface="Consolas"/>
              </a:rPr>
              <a:t>-- 자동 태스크: AUTO_STATS_ADVISOR_TASK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무엇을 잡아내는가</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사람이 놓치기 쉬운 운영 관행</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ESTIMATE_PERCENT를 5%로 하드코딩 → AUTO_SAMPLE_SIZE 권고</a:t>
            </a:r>
          </a:p>
          <a:p>
            <a:pPr>
              <a:spcAft>
                <a:spcPts val="700"/>
              </a:spcAft>
            </a:pPr>
            <a:r>
              <a:rPr sz="1600" b="0">
                <a:solidFill>
                  <a:srgbClr val="222222"/>
                </a:solidFill>
                <a:latin typeface="맑은 고딕"/>
                <a:ea typeface="맑은 고딕"/>
                <a:cs typeface="맑은 고딕"/>
              </a:rPr>
              <a:t>•  야간 자동 통계 수집이 비활성화됨</a:t>
            </a:r>
          </a:p>
          <a:p>
            <a:pPr>
              <a:spcAft>
                <a:spcPts val="700"/>
              </a:spcAft>
            </a:pPr>
            <a:r>
              <a:rPr sz="1600" b="0">
                <a:solidFill>
                  <a:srgbClr val="222222"/>
                </a:solidFill>
                <a:latin typeface="맑은 고딕"/>
                <a:ea typeface="맑은 고딕"/>
                <a:cs typeface="맑은 고딕"/>
              </a:rPr>
              <a:t>•  특정 스키마 통계가 몇 달째 stale</a:t>
            </a:r>
          </a:p>
          <a:p>
            <a:pPr>
              <a:spcAft>
                <a:spcPts val="700"/>
              </a:spcAft>
            </a:pPr>
            <a:r>
              <a:rPr sz="1600" b="0">
                <a:solidFill>
                  <a:srgbClr val="222222"/>
                </a:solidFill>
                <a:latin typeface="맑은 고딕"/>
                <a:ea typeface="맑은 고딕"/>
                <a:cs typeface="맑은 고딕"/>
              </a:rPr>
              <a:t>•  실수로 잠긴(locked) 통계 방치</a:t>
            </a:r>
          </a:p>
          <a:p>
            <a:pPr>
              <a:spcAft>
                <a:spcPts val="700"/>
              </a:spcAft>
            </a:pPr>
            <a:r>
              <a:rPr sz="1600" b="0">
                <a:solidFill>
                  <a:srgbClr val="222222"/>
                </a:solidFill>
                <a:latin typeface="맑은 고딕"/>
                <a:ea typeface="맑은 고딕"/>
                <a:cs typeface="맑은 고딕"/>
              </a:rPr>
              <a:t>•  관련 뷰: DBA_ADVISOR_FINDINGS·DBA_OPTSTAT_OPERATIONS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33.6</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SQL Plan Directives</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적응형 최적화의 한 축</a:t>
            </a:r>
          </a:p>
          <a:p>
            <a:pPr>
              <a:spcAft>
                <a:spcPts val="800"/>
              </a:spcAft>
            </a:pPr>
            <a:r>
              <a:rPr sz="1600" b="0">
                <a:solidFill>
                  <a:srgbClr val="FFFFFF"/>
                </a:solidFill>
                <a:latin typeface="맑은 고딕"/>
                <a:ea typeface="맑은 고딕"/>
                <a:cs typeface="맑은 고딕"/>
              </a:rPr>
              <a:t>•  카디널리티 오추정을 학습</a:t>
            </a:r>
          </a:p>
          <a:p>
            <a:pPr>
              <a:spcAft>
                <a:spcPts val="800"/>
              </a:spcAft>
            </a:pPr>
            <a:r>
              <a:rPr sz="1600" b="0">
                <a:solidFill>
                  <a:srgbClr val="FFFFFF"/>
                </a:solidFill>
                <a:latin typeface="맑은 고딕"/>
                <a:ea typeface="맑은 고딕"/>
                <a:cs typeface="맑은 고딕"/>
              </a:rPr>
              <a:t>•  컬럼 조합 단위로 귀속 → 공유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SQL Plan Directive란</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추정 오류를 학습하는 추가 지시문</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특정 테이블·컬럼 조합의 카디널리티 오추정을 기록</a:t>
            </a:r>
          </a:p>
          <a:p>
            <a:pPr>
              <a:spcAft>
                <a:spcPts val="700"/>
              </a:spcAft>
            </a:pPr>
            <a:r>
              <a:rPr sz="1600" b="0">
                <a:solidFill>
                  <a:srgbClr val="222222"/>
                </a:solidFill>
                <a:latin typeface="맑은 고딕"/>
                <a:ea typeface="맑은 고딕"/>
                <a:cs typeface="맑은 고딕"/>
              </a:rPr>
              <a:t>•  자동 재최적화로 E-Rows vs A-Rows 차이 감지 시 생성</a:t>
            </a:r>
          </a:p>
          <a:p>
            <a:pPr>
              <a:spcAft>
                <a:spcPts val="700"/>
              </a:spcAft>
            </a:pPr>
            <a:r>
              <a:rPr sz="1600" b="0">
                <a:solidFill>
                  <a:srgbClr val="222222"/>
                </a:solidFill>
                <a:latin typeface="맑은 고딕"/>
                <a:ea typeface="맑은 고딕"/>
                <a:cs typeface="맑은 고딕"/>
              </a:rPr>
              <a:t>•  SQL 문이 아니라 '컬럼 조합' 단위 → 여러 SQL이 공유</a:t>
            </a:r>
          </a:p>
          <a:p>
            <a:pPr>
              <a:spcAft>
                <a:spcPts val="700"/>
              </a:spcAft>
            </a:pPr>
            <a:r>
              <a:rPr sz="1600" b="0">
                <a:solidFill>
                  <a:srgbClr val="222222"/>
                </a:solidFill>
                <a:latin typeface="맑은 고딕"/>
                <a:ea typeface="맑은 고딕"/>
                <a:cs typeface="맑은 고딕"/>
              </a:rPr>
              <a:t>•  이후 최적화: 동적 통계 수행 또는 확장 통계 필요 판단</a:t>
            </a:r>
          </a:p>
          <a:p>
            <a:pPr>
              <a:spcAft>
                <a:spcPts val="700"/>
              </a:spcAft>
            </a:pPr>
            <a:r>
              <a:rPr sz="1600" b="0">
                <a:solidFill>
                  <a:srgbClr val="222222"/>
                </a:solidFill>
                <a:latin typeface="맑은 고딕"/>
                <a:ea typeface="맑은 고딕"/>
                <a:cs typeface="맑은 고딕"/>
              </a:rPr>
              <a:t>•  조회: DBA_SQL_PLAN_DIRECTIVES / DBA_SQL_PLAN_DIR_OBJECTS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디렉티브의 생애주기</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학습하고 해소되면 물러난다</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예상 10행, 실제 5만 행 → 오차 감지 → 디렉티브 생성(USABLE)</a:t>
            </a:r>
          </a:p>
          <a:p>
            <a:pPr>
              <a:spcAft>
                <a:spcPts val="700"/>
              </a:spcAft>
            </a:pPr>
            <a:r>
              <a:rPr sz="1600" b="0">
                <a:solidFill>
                  <a:srgbClr val="222222"/>
                </a:solidFill>
                <a:latin typeface="맑은 고딕"/>
                <a:ea typeface="맑은 고딕"/>
                <a:cs typeface="맑은 고딕"/>
              </a:rPr>
              <a:t>•  이후 같은 조합 SQL: 동적 통계 수집으로 보정</a:t>
            </a:r>
          </a:p>
          <a:p>
            <a:pPr>
              <a:spcAft>
                <a:spcPts val="700"/>
              </a:spcAft>
            </a:pPr>
            <a:r>
              <a:rPr sz="1600" b="0">
                <a:solidFill>
                  <a:srgbClr val="222222"/>
                </a:solidFill>
                <a:latin typeface="맑은 고딕"/>
                <a:ea typeface="맑은 고딕"/>
                <a:cs typeface="맑은 고딕"/>
              </a:rPr>
              <a:t>•  관리자가 컬럼 그룹 확장 통계 생성·재수집</a:t>
            </a:r>
          </a:p>
          <a:p>
            <a:pPr>
              <a:spcAft>
                <a:spcPts val="700"/>
              </a:spcAft>
            </a:pPr>
            <a:r>
              <a:rPr sz="1600" b="0">
                <a:solidFill>
                  <a:srgbClr val="222222"/>
                </a:solidFill>
                <a:latin typeface="맑은 고딕"/>
                <a:ea typeface="맑은 고딕"/>
                <a:cs typeface="맑은 고딕"/>
              </a:rPr>
              <a:t>•  정적 통계로 정확 추정 가능 → 상태 SUPERSEDED</a:t>
            </a:r>
          </a:p>
          <a:p>
            <a:pPr>
              <a:spcAft>
                <a:spcPts val="700"/>
              </a:spcAft>
            </a:pPr>
            <a:r>
              <a:rPr sz="1600" b="0">
                <a:solidFill>
                  <a:srgbClr val="222222"/>
                </a:solidFill>
                <a:latin typeface="맑은 고딕"/>
                <a:ea typeface="맑은 고딕"/>
                <a:cs typeface="맑은 고딕"/>
              </a:rPr>
              <a:t>•  미사용 디렉티브는 자동 정리 / DBMS_SPD로 수동 관리</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33.7</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Adaptive Execution Plans</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런타임에 최종 계획 확정</a:t>
            </a:r>
          </a:p>
          <a:p>
            <a:pPr>
              <a:spcAft>
                <a:spcPts val="800"/>
              </a:spcAft>
            </a:pPr>
            <a:r>
              <a:rPr sz="1600" b="0">
                <a:solidFill>
                  <a:srgbClr val="FFFFFF"/>
                </a:solidFill>
                <a:latin typeface="맑은 고딕"/>
                <a:ea typeface="맑은 고딕"/>
                <a:cs typeface="맑은 고딕"/>
              </a:rPr>
              <a:t>•  조인 방법·병렬 분배 적응</a:t>
            </a:r>
          </a:p>
          <a:p>
            <a:pPr>
              <a:spcAft>
                <a:spcPts val="800"/>
              </a:spcAft>
            </a:pPr>
            <a:r>
              <a:rPr sz="1600" b="0">
                <a:solidFill>
                  <a:srgbClr val="FFFFFF"/>
                </a:solidFill>
                <a:latin typeface="맑은 고딕"/>
                <a:ea typeface="맑은 고딕"/>
                <a:cs typeface="맑은 고딕"/>
              </a:rPr>
              <a:t>•  19c: 계획 적응 ON, 통계 적응 OFF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적응형 실행 계획</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실행 중 통계를 보고 계획을 바꾼다</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컴파일 시점에 하나로 확정 못하면 여러 하위 계획 준비</a:t>
            </a:r>
          </a:p>
          <a:p>
            <a:pPr>
              <a:spcAft>
                <a:spcPts val="700"/>
              </a:spcAft>
            </a:pPr>
            <a:r>
              <a:rPr sz="1600" b="0">
                <a:solidFill>
                  <a:srgbClr val="222222"/>
                </a:solidFill>
                <a:latin typeface="맑은 고딕"/>
                <a:ea typeface="맑은 고딕"/>
                <a:cs typeface="맑은 고딕"/>
              </a:rPr>
              <a:t>•  통계 수집기가 실제 행 수를 관찰</a:t>
            </a:r>
          </a:p>
          <a:p>
            <a:pPr>
              <a:spcAft>
                <a:spcPts val="700"/>
              </a:spcAft>
            </a:pPr>
            <a:r>
              <a:rPr sz="1600" b="0">
                <a:solidFill>
                  <a:srgbClr val="222222"/>
                </a:solidFill>
                <a:latin typeface="맑은 고딕"/>
                <a:ea typeface="맑은 고딕"/>
                <a:cs typeface="맑은 고딕"/>
              </a:rPr>
              <a:t>•  임계치(inflection point) 넘으면 Hash Join, 이하면 Nested Loops</a:t>
            </a:r>
          </a:p>
          <a:p>
            <a:pPr>
              <a:spcAft>
                <a:spcPts val="700"/>
              </a:spcAft>
            </a:pPr>
            <a:r>
              <a:rPr sz="1600" b="0">
                <a:solidFill>
                  <a:srgbClr val="222222"/>
                </a:solidFill>
                <a:latin typeface="맑은 고딕"/>
                <a:ea typeface="맑은 고딕"/>
                <a:cs typeface="맑은 고딕"/>
              </a:rPr>
              <a:t>•  병렬 분배(HASH vs BROADCAST)도 런타임 결정</a:t>
            </a:r>
          </a:p>
          <a:p>
            <a:pPr>
              <a:spcAft>
                <a:spcPts val="700"/>
              </a:spcAft>
            </a:pPr>
            <a:r>
              <a:rPr sz="1600" b="0">
                <a:solidFill>
                  <a:srgbClr val="222222"/>
                </a:solidFill>
                <a:latin typeface="맑은 고딕"/>
                <a:ea typeface="맑은 고딕"/>
                <a:cs typeface="맑은 고딕"/>
              </a:rPr>
              <a:t>•  OPTIMIZER_ADAPTIVE_PLANS = TRUE(기본)</a:t>
            </a:r>
          </a:p>
          <a:p>
            <a:pPr>
              <a:spcAft>
                <a:spcPts val="700"/>
              </a:spcAft>
            </a:pPr>
            <a:r>
              <a:rPr sz="1600" b="0">
                <a:solidFill>
                  <a:srgbClr val="222222"/>
                </a:solidFill>
                <a:latin typeface="맑은 고딕"/>
                <a:ea typeface="맑은 고딕"/>
                <a:cs typeface="맑은 고딕"/>
              </a:rPr>
              <a:t>•  DBMS_XPLAN FORMAT 'adaptive'로 대안 라인 확인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두 파라미터의 분리 (19c)</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계획 적응과 통계 적응</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OPTIMIZER_ADAPTIVE_PLANS=TRUE: 조인 방법·분배 적응(안정적)</a:t>
            </a:r>
          </a:p>
          <a:p>
            <a:pPr>
              <a:spcAft>
                <a:spcPts val="700"/>
              </a:spcAft>
            </a:pPr>
            <a:r>
              <a:rPr sz="1600" b="0">
                <a:solidFill>
                  <a:srgbClr val="222222"/>
                </a:solidFill>
                <a:latin typeface="맑은 고딕"/>
                <a:ea typeface="맑은 고딕"/>
                <a:cs typeface="맑은 고딕"/>
              </a:rPr>
              <a:t>•  OPTIMIZER_ADAPTIVE_STATISTICS=FALSE: 디렉티브 기반 통계 적응</a:t>
            </a:r>
          </a:p>
          <a:p>
            <a:pPr>
              <a:spcAft>
                <a:spcPts val="700"/>
              </a:spcAft>
            </a:pPr>
            <a:r>
              <a:rPr sz="1600" b="0">
                <a:solidFill>
                  <a:srgbClr val="222222"/>
                </a:solidFill>
                <a:latin typeface="맑은 고딕"/>
                <a:ea typeface="맑은 고딕"/>
                <a:cs typeface="맑은 고딕"/>
              </a:rPr>
              <a:t>•  12.1은 하나(ADAPTIVE_FEATURES)로 묶여 계획 불안정 유발</a:t>
            </a:r>
          </a:p>
          <a:p>
            <a:pPr>
              <a:spcAft>
                <a:spcPts val="700"/>
              </a:spcAft>
            </a:pPr>
            <a:r>
              <a:rPr sz="1600" b="0">
                <a:solidFill>
                  <a:srgbClr val="222222"/>
                </a:solidFill>
                <a:latin typeface="맑은 고딕"/>
                <a:ea typeface="맑은 고딕"/>
                <a:cs typeface="맑은 고딕"/>
              </a:rPr>
              <a:t>•  12.2+ 분리 → 안정 기능은 ON, 변동 큰 통계 적응은 OFF</a:t>
            </a:r>
          </a:p>
          <a:p>
            <a:pPr>
              <a:spcAft>
                <a:spcPts val="700"/>
              </a:spcAft>
            </a:pPr>
            <a:r>
              <a:rPr sz="1600" b="0">
                <a:solidFill>
                  <a:srgbClr val="222222"/>
                </a:solidFill>
                <a:latin typeface="맑은 고딕"/>
                <a:ea typeface="맑은 고딕"/>
                <a:cs typeface="맑은 고딕"/>
              </a:rPr>
              <a:t>•  디렉티브 자동 확장통계를 원하면 STATISTICS를 명시적 TRUE로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33.8</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SQL Tuning Advisor</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개별 SQL 심층 분석(튜닝 모드)</a:t>
            </a:r>
          </a:p>
          <a:p>
            <a:pPr>
              <a:spcAft>
                <a:spcPts val="800"/>
              </a:spcAft>
            </a:pPr>
            <a:r>
              <a:rPr sz="1600" b="0">
                <a:solidFill>
                  <a:srgbClr val="FFFFFF"/>
                </a:solidFill>
                <a:latin typeface="맑은 고딕"/>
                <a:ea typeface="맑은 고딕"/>
                <a:cs typeface="맑은 고딕"/>
              </a:rPr>
              <a:t>•  프로파일·인덱스·통계·재작성 권고</a:t>
            </a:r>
          </a:p>
          <a:p>
            <a:pPr>
              <a:spcAft>
                <a:spcPts val="800"/>
              </a:spcAft>
            </a:pPr>
            <a:r>
              <a:rPr sz="1600" b="0">
                <a:solidFill>
                  <a:srgbClr val="FFFFFF"/>
                </a:solidFill>
                <a:latin typeface="맑은 고딕"/>
                <a:ea typeface="맑은 고딕"/>
                <a:cs typeface="맑은 고딕"/>
              </a:rPr>
              <a:t>•  DBMS_SQLTUNE + SQL 튜닝 세트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SQL Tuning Advisor</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튜닝 모드 옵티마이저의 4가지 분석</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통계 분석: 없거나 오래된 통계 → 수집 권고</a:t>
            </a:r>
          </a:p>
          <a:p>
            <a:pPr>
              <a:spcAft>
                <a:spcPts val="700"/>
              </a:spcAft>
            </a:pPr>
            <a:r>
              <a:rPr sz="1600" b="0">
                <a:solidFill>
                  <a:srgbClr val="222222"/>
                </a:solidFill>
                <a:latin typeface="맑은 고딕"/>
                <a:ea typeface="맑은 고딕"/>
                <a:cs typeface="맑은 고딕"/>
              </a:rPr>
              <a:t>•  SQL 프로파일: 카디널리티 보정 정보 → SQL 수정 없이 개선</a:t>
            </a:r>
          </a:p>
          <a:p>
            <a:pPr>
              <a:spcAft>
                <a:spcPts val="700"/>
              </a:spcAft>
            </a:pPr>
            <a:r>
              <a:rPr sz="1600" b="0">
                <a:solidFill>
                  <a:srgbClr val="222222"/>
                </a:solidFill>
                <a:latin typeface="맑은 고딕"/>
                <a:ea typeface="맑은 고딕"/>
                <a:cs typeface="맑은 고딕"/>
              </a:rPr>
              <a:t>•  액세스 경로 분석: 새 인덱스 권고</a:t>
            </a:r>
          </a:p>
          <a:p>
            <a:pPr>
              <a:spcAft>
                <a:spcPts val="700"/>
              </a:spcAft>
            </a:pPr>
            <a:r>
              <a:rPr sz="1600" b="0">
                <a:solidFill>
                  <a:srgbClr val="222222"/>
                </a:solidFill>
                <a:latin typeface="맑은 고딕"/>
                <a:ea typeface="맑은 고딕"/>
                <a:cs typeface="맑은 고딕"/>
              </a:rPr>
              <a:t>•  SQL 구조 분석: 비효율 구문 재작성 권고</a:t>
            </a:r>
          </a:p>
          <a:p>
            <a:pPr>
              <a:spcAft>
                <a:spcPts val="700"/>
              </a:spcAft>
            </a:pPr>
            <a:r>
              <a:rPr sz="1600" b="0">
                <a:solidFill>
                  <a:srgbClr val="222222"/>
                </a:solidFill>
                <a:latin typeface="맑은 고딕"/>
                <a:ea typeface="맑은 고딕"/>
                <a:cs typeface="맑은 고딕"/>
              </a:rPr>
              <a:t>•  범위: LIMITED(빠름) vs COMPREHENSIVE(프로파일 포함)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DBMS_SQLTUNE 사용</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SQL_ID·AWR·튜닝 세트를 입력으로</a:t>
            </a:r>
          </a:p>
        </p:txBody>
      </p:sp>
      <p:sp>
        <p:nvSpPr>
          <p:cNvPr id="5" name="Rectangle 4"/>
          <p:cNvSpPr/>
          <p:nvPr/>
        </p:nvSpPr>
        <p:spPr>
          <a:xfrm>
            <a:off x="635000" y="1600200"/>
            <a:ext cx="10871200" cy="2413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DECLARE t VARCHAR2(64);</a:t>
            </a:r>
          </a:p>
          <a:p>
            <a:pPr>
              <a:spcAft>
                <a:spcPts val="0"/>
              </a:spcAft>
            </a:pPr>
            <a:r>
              <a:rPr sz="1100" b="0">
                <a:solidFill>
                  <a:srgbClr val="E6E6E6"/>
                </a:solidFill>
                <a:latin typeface="Consolas"/>
                <a:ea typeface="Consolas"/>
                <a:cs typeface="Consolas"/>
              </a:rPr>
              <a:t>BEGIN</a:t>
            </a:r>
          </a:p>
          <a:p>
            <a:pPr>
              <a:spcAft>
                <a:spcPts val="0"/>
              </a:spcAft>
            </a:pPr>
            <a:r>
              <a:rPr sz="1100" b="0">
                <a:solidFill>
                  <a:srgbClr val="E6E6E6"/>
                </a:solidFill>
                <a:latin typeface="Consolas"/>
                <a:ea typeface="Consolas"/>
                <a:cs typeface="Consolas"/>
              </a:rPr>
              <a:t>  t := DBMS_SQLTUNE.CREATE_TUNING_TASK(sql_id=&gt;'f8tsjfq3n0ksx',</a:t>
            </a:r>
          </a:p>
          <a:p>
            <a:pPr>
              <a:spcAft>
                <a:spcPts val="0"/>
              </a:spcAft>
            </a:pPr>
            <a:r>
              <a:rPr sz="1100" b="0">
                <a:solidFill>
                  <a:srgbClr val="E6E6E6"/>
                </a:solidFill>
                <a:latin typeface="Consolas"/>
                <a:ea typeface="Consolas"/>
                <a:cs typeface="Consolas"/>
              </a:rPr>
              <a:t>         task_name=&gt;'tune_sales_q', scope=&gt;'COMPREHENSIVE');</a:t>
            </a:r>
          </a:p>
          <a:p>
            <a:pPr>
              <a:spcAft>
                <a:spcPts val="0"/>
              </a:spcAft>
            </a:pPr>
            <a:r>
              <a:rPr sz="1100" b="0">
                <a:solidFill>
                  <a:srgbClr val="E6E6E6"/>
                </a:solidFill>
                <a:latin typeface="Consolas"/>
                <a:ea typeface="Consolas"/>
                <a:cs typeface="Consolas"/>
              </a:rPr>
              <a:t>  DBMS_SQLTUNE.EXECUTE_TUNING_TASK('tune_sales_q');</a:t>
            </a:r>
          </a:p>
          <a:p>
            <a:pPr>
              <a:spcAft>
                <a:spcPts val="0"/>
              </a:spcAft>
            </a:pPr>
            <a:r>
              <a:rPr sz="1100" b="0">
                <a:solidFill>
                  <a:srgbClr val="E6E6E6"/>
                </a:solidFill>
                <a:latin typeface="Consolas"/>
                <a:ea typeface="Consolas"/>
                <a:cs typeface="Consolas"/>
              </a:rPr>
              <a:t>END;</a:t>
            </a:r>
          </a:p>
          <a:p>
            <a:pPr>
              <a:spcAft>
                <a:spcPts val="0"/>
              </a:spcAft>
            </a:pPr>
            <a:r>
              <a:rPr sz="1100" b="0">
                <a:solidFill>
                  <a:srgbClr val="E6E6E6"/>
                </a:solidFill>
                <a:latin typeface="Consolas"/>
                <a:ea typeface="Consolas"/>
                <a:cs typeface="Consolas"/>
              </a:rPr>
              <a:t>/</a:t>
            </a:r>
          </a:p>
          <a:p>
            <a:pPr>
              <a:spcAft>
                <a:spcPts val="0"/>
              </a:spcAft>
            </a:pPr>
            <a:r>
              <a:rPr sz="1100" b="0">
                <a:solidFill>
                  <a:srgbClr val="E6E6E6"/>
                </a:solidFill>
                <a:latin typeface="Consolas"/>
                <a:ea typeface="Consolas"/>
                <a:cs typeface="Consolas"/>
              </a:rPr>
              <a:t>SELECT DBMS_SQLTUNE.REPORT_TUNING_TASK('tune_sales_q') FROM dual;</a:t>
            </a:r>
          </a:p>
          <a:p>
            <a:pPr>
              <a:spcAft>
                <a:spcPts val="0"/>
              </a:spcAft>
            </a:pPr>
            <a:r>
              <a:rPr sz="1100" b="0">
                <a:solidFill>
                  <a:srgbClr val="E6E6E6"/>
                </a:solidFill>
                <a:latin typeface="Consolas"/>
                <a:ea typeface="Consolas"/>
                <a:cs typeface="Consolas"/>
              </a:rPr>
              <a:t>-- 권고 프로파일 수락</a:t>
            </a:r>
          </a:p>
          <a:p>
            <a:pPr>
              <a:spcAft>
                <a:spcPts val="0"/>
              </a:spcAft>
            </a:pPr>
            <a:r>
              <a:rPr sz="1100" b="0">
                <a:solidFill>
                  <a:srgbClr val="E6E6E6"/>
                </a:solidFill>
                <a:latin typeface="Consolas"/>
                <a:ea typeface="Consolas"/>
                <a:cs typeface="Consolas"/>
              </a:rPr>
              <a:t>EXEC DBMS_SQLTUNE.ACCEPT_SQL_PROFILE(task_name=&gt;'tune_sales_q');</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프로파일 vs Plan Baseline</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보정이냐 고정이냐</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SQL 프로파일: 추정 오류를 보정하는 보조 정보 → 더 나은 계획 '유도'</a:t>
            </a:r>
          </a:p>
          <a:p>
            <a:pPr>
              <a:spcAft>
                <a:spcPts val="700"/>
              </a:spcAft>
            </a:pPr>
            <a:r>
              <a:rPr sz="1600" b="0">
                <a:solidFill>
                  <a:srgbClr val="222222"/>
                </a:solidFill>
                <a:latin typeface="맑은 고딕"/>
                <a:ea typeface="맑은 고딕"/>
                <a:cs typeface="맑은 고딕"/>
              </a:rPr>
              <a:t>•  SQL Plan Baseline(SPM): 검증된 계획을 '고정' → 회귀 방지</a:t>
            </a:r>
          </a:p>
          <a:p>
            <a:pPr>
              <a:spcAft>
                <a:spcPts val="700"/>
              </a:spcAft>
            </a:pPr>
            <a:r>
              <a:rPr sz="1600" b="0">
                <a:solidFill>
                  <a:srgbClr val="222222"/>
                </a:solidFill>
                <a:latin typeface="맑은 고딕"/>
                <a:ea typeface="맑은 고딕"/>
                <a:cs typeface="맑은 고딕"/>
              </a:rPr>
              <a:t>•  업그레이드·패치 계획 변동 걱정 → SPM으로 고정</a:t>
            </a:r>
          </a:p>
          <a:p>
            <a:pPr>
              <a:spcAft>
                <a:spcPts val="700"/>
              </a:spcAft>
            </a:pPr>
            <a:r>
              <a:rPr sz="1600" b="0">
                <a:solidFill>
                  <a:srgbClr val="222222"/>
                </a:solidFill>
                <a:latin typeface="맑은 고딕"/>
                <a:ea typeface="맑은 고딕"/>
                <a:cs typeface="맑은 고딕"/>
              </a:rPr>
              <a:t>•  추정 오류 보정이 목적 → 프로파일</a:t>
            </a:r>
          </a:p>
          <a:p>
            <a:pPr>
              <a:spcAft>
                <a:spcPts val="700"/>
              </a:spcAft>
            </a:pPr>
            <a:r>
              <a:rPr sz="1600" b="0">
                <a:solidFill>
                  <a:srgbClr val="222222"/>
                </a:solidFill>
                <a:latin typeface="맑은 고딕"/>
                <a:ea typeface="맑은 고딕"/>
                <a:cs typeface="맑은 고딕"/>
              </a:rPr>
              <a:t>•  수락된 프로파일: DBA_SQL_PROFILES로 조회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33.9</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SQL Access Advisor</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워크로드 전체 대상 액세스 구조 설계</a:t>
            </a:r>
          </a:p>
          <a:p>
            <a:pPr>
              <a:spcAft>
                <a:spcPts val="800"/>
              </a:spcAft>
            </a:pPr>
            <a:r>
              <a:rPr sz="1600" b="0">
                <a:solidFill>
                  <a:srgbClr val="FFFFFF"/>
                </a:solidFill>
                <a:latin typeface="맑은 고딕"/>
                <a:ea typeface="맑은 고딕"/>
                <a:cs typeface="맑은 고딕"/>
              </a:rPr>
              <a:t>•  인덱스·구체화 뷰·파티셔닝 권고</a:t>
            </a:r>
          </a:p>
          <a:p>
            <a:pPr>
              <a:spcAft>
                <a:spcPts val="800"/>
              </a:spcAft>
            </a:pPr>
            <a:r>
              <a:rPr sz="1600" b="0">
                <a:solidFill>
                  <a:srgbClr val="FFFFFF"/>
                </a:solidFill>
                <a:latin typeface="맑은 고딕"/>
                <a:ea typeface="맑은 고딕"/>
                <a:cs typeface="맑은 고딕"/>
              </a:rPr>
              <a:t>•  DBMS_ADVISOR + DDL 스크립트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SQL Access Advisor</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단일 SQL이 아니라 워크로드 전체</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입력: SQL 튜닝 세트 또는 실제 워크로드</a:t>
            </a:r>
          </a:p>
          <a:p>
            <a:pPr>
              <a:spcAft>
                <a:spcPts val="700"/>
              </a:spcAft>
            </a:pPr>
            <a:r>
              <a:rPr sz="1600" b="0">
                <a:solidFill>
                  <a:srgbClr val="222222"/>
                </a:solidFill>
                <a:latin typeface="맑은 고딕"/>
                <a:ea typeface="맑은 고딕"/>
                <a:cs typeface="맑은 고딕"/>
              </a:rPr>
              <a:t>•  권고: 인덱스(B-트리·비트맵·함수기반) 생성/삭제</a:t>
            </a:r>
          </a:p>
          <a:p>
            <a:pPr>
              <a:spcAft>
                <a:spcPts val="700"/>
              </a:spcAft>
            </a:pPr>
            <a:r>
              <a:rPr sz="1600" b="0">
                <a:solidFill>
                  <a:srgbClr val="222222"/>
                </a:solidFill>
                <a:latin typeface="맑은 고딕"/>
                <a:ea typeface="맑은 고딕"/>
                <a:cs typeface="맑은 고딕"/>
              </a:rPr>
              <a:t>•  권고: 구체화 뷰 + 구체화 뷰 로그</a:t>
            </a:r>
          </a:p>
          <a:p>
            <a:pPr>
              <a:spcAft>
                <a:spcPts val="700"/>
              </a:spcAft>
            </a:pPr>
            <a:r>
              <a:rPr sz="1600" b="0">
                <a:solidFill>
                  <a:srgbClr val="222222"/>
                </a:solidFill>
                <a:latin typeface="맑은 고딕"/>
                <a:ea typeface="맑은 고딕"/>
                <a:cs typeface="맑은 고딕"/>
              </a:rPr>
              <a:t>•  권고: 파티셔닝</a:t>
            </a:r>
          </a:p>
          <a:p>
            <a:pPr>
              <a:spcAft>
                <a:spcPts val="700"/>
              </a:spcAft>
            </a:pPr>
            <a:r>
              <a:rPr sz="1600" b="0">
                <a:solidFill>
                  <a:srgbClr val="222222"/>
                </a:solidFill>
                <a:latin typeface="맑은 고딕"/>
                <a:ea typeface="맑은 고딕"/>
                <a:cs typeface="맑은 고딕"/>
              </a:rPr>
              <a:t>•  DBMS_ADVISOR.GET_TASK_SCRIPT로 DDL 스크립트 산출</a:t>
            </a:r>
          </a:p>
          <a:p>
            <a:pPr>
              <a:spcAft>
                <a:spcPts val="700"/>
              </a:spcAft>
            </a:pPr>
            <a:r>
              <a:rPr sz="1600" b="0">
                <a:solidFill>
                  <a:srgbClr val="222222"/>
                </a:solidFill>
                <a:latin typeface="맑은 고딕"/>
                <a:ea typeface="맑은 고딕"/>
                <a:cs typeface="맑은 고딕"/>
              </a:rPr>
              <a:t>•  이득(개선율) vs 비용(저장 공간) 함께 제시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세 어드바이저 역할 구분</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혼동하지 말 것</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SQL Tuning Advisor: 이미 있는 개별 SQL 심층 분석</a:t>
            </a:r>
          </a:p>
          <a:p>
            <a:pPr>
              <a:spcAft>
                <a:spcPts val="700"/>
              </a:spcAft>
            </a:pPr>
            <a:r>
              <a:rPr sz="1600" b="0">
                <a:solidFill>
                  <a:srgbClr val="222222"/>
                </a:solidFill>
                <a:latin typeface="맑은 고딕"/>
                <a:ea typeface="맑은 고딕"/>
                <a:cs typeface="맑은 고딕"/>
              </a:rPr>
              <a:t>•  SQL Access Advisor: 워크로드 액세스 구조 설계</a:t>
            </a:r>
          </a:p>
          <a:p>
            <a:pPr>
              <a:spcAft>
                <a:spcPts val="700"/>
              </a:spcAft>
            </a:pPr>
            <a:r>
              <a:rPr sz="1600" b="0">
                <a:solidFill>
                  <a:srgbClr val="222222"/>
                </a:solidFill>
                <a:latin typeface="맑은 고딕"/>
                <a:ea typeface="맑은 고딕"/>
                <a:cs typeface="맑은 고딕"/>
              </a:rPr>
              <a:t>•  SQL Performance Analyzer: 변경 전후 성능 영향 비교</a:t>
            </a:r>
          </a:p>
          <a:p>
            <a:pPr>
              <a:spcAft>
                <a:spcPts val="700"/>
              </a:spcAft>
            </a:pPr>
            <a:r>
              <a:rPr sz="1600" b="0">
                <a:solidFill>
                  <a:srgbClr val="222222"/>
                </a:solidFill>
                <a:latin typeface="맑은 고딕"/>
                <a:ea typeface="맑은 고딕"/>
                <a:cs typeface="맑은 고딕"/>
              </a:rPr>
              <a:t>•  실수: 권고 인덱스를 검토 없이 전부 생성 금지</a:t>
            </a:r>
          </a:p>
          <a:p>
            <a:pPr>
              <a:spcAft>
                <a:spcPts val="700"/>
              </a:spcAft>
            </a:pPr>
            <a:r>
              <a:rPr sz="1600" b="0">
                <a:solidFill>
                  <a:srgbClr val="222222"/>
                </a:solidFill>
                <a:latin typeface="맑은 고딕"/>
                <a:ea typeface="맑은 고딕"/>
                <a:cs typeface="맑은 고딕"/>
              </a:rPr>
              <a:t>•  기존 인덱스 대조 + 읽기/쓰기 비율 고려해 선별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33.10</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SQL Performance Analyzer (SPA)</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환경 변경의 SQL 영향을 사전 예측</a:t>
            </a:r>
          </a:p>
          <a:p>
            <a:pPr>
              <a:spcAft>
                <a:spcPts val="800"/>
              </a:spcAft>
            </a:pPr>
            <a:r>
              <a:rPr sz="1600" b="0">
                <a:solidFill>
                  <a:srgbClr val="FFFFFF"/>
                </a:solidFill>
                <a:latin typeface="맑은 고딕"/>
                <a:ea typeface="맑은 고딕"/>
                <a:cs typeface="맑은 고딕"/>
              </a:rPr>
              <a:t>•  프로덕션 무영향으로 테스트</a:t>
            </a:r>
          </a:p>
          <a:p>
            <a:pPr>
              <a:spcAft>
                <a:spcPts val="800"/>
              </a:spcAft>
            </a:pPr>
            <a:r>
              <a:rPr sz="1600" b="0">
                <a:solidFill>
                  <a:srgbClr val="FFFFFF"/>
                </a:solidFill>
                <a:latin typeface="맑은 고딕"/>
                <a:ea typeface="맑은 고딕"/>
                <a:cs typeface="맑은 고딕"/>
              </a:rPr>
              <a:t>•  STS 기반 before/after 비교</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SPA 흐름</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변경 전후를 비교해 회귀 예측</a:t>
            </a:r>
          </a:p>
        </p:txBody>
      </p:sp>
      <p:sp>
        <p:nvSpPr>
          <p:cNvPr id="5" name="Rectangle 4"/>
          <p:cNvSpPr/>
          <p:nvPr/>
        </p:nvSpPr>
        <p:spPr>
          <a:xfrm>
            <a:off x="635000" y="1600200"/>
            <a:ext cx="10871200" cy="28448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DECLARE t VARCHAR2(64);</a:t>
            </a:r>
          </a:p>
          <a:p>
            <a:pPr>
              <a:spcAft>
                <a:spcPts val="0"/>
              </a:spcAft>
            </a:pPr>
            <a:r>
              <a:rPr sz="1100" b="0">
                <a:solidFill>
                  <a:srgbClr val="E6E6E6"/>
                </a:solidFill>
                <a:latin typeface="Consolas"/>
                <a:ea typeface="Consolas"/>
                <a:cs typeface="Consolas"/>
              </a:rPr>
              <a:t>BEGIN</a:t>
            </a:r>
          </a:p>
          <a:p>
            <a:pPr>
              <a:spcAft>
                <a:spcPts val="0"/>
              </a:spcAft>
            </a:pPr>
            <a:r>
              <a:rPr sz="1100" b="0">
                <a:solidFill>
                  <a:srgbClr val="E6E6E6"/>
                </a:solidFill>
                <a:latin typeface="Consolas"/>
                <a:ea typeface="Consolas"/>
                <a:cs typeface="Consolas"/>
              </a:rPr>
              <a:t>  t := DBMS_SQLPA.CREATE_ANALYSIS_TASK(sqlset_name=&gt;'prod_sts',</a:t>
            </a:r>
          </a:p>
          <a:p>
            <a:pPr>
              <a:spcAft>
                <a:spcPts val="0"/>
              </a:spcAft>
            </a:pPr>
            <a:r>
              <a:rPr sz="1100" b="0">
                <a:solidFill>
                  <a:srgbClr val="E6E6E6"/>
                </a:solidFill>
                <a:latin typeface="Consolas"/>
                <a:ea typeface="Consolas"/>
                <a:cs typeface="Consolas"/>
              </a:rPr>
              <a:t>         task_name=&gt;'upgrade_impact');</a:t>
            </a:r>
          </a:p>
          <a:p>
            <a:pPr>
              <a:spcAft>
                <a:spcPts val="0"/>
              </a:spcAft>
            </a:pPr>
            <a:r>
              <a:rPr sz="1100" b="0">
                <a:solidFill>
                  <a:srgbClr val="E6E6E6"/>
                </a:solidFill>
                <a:latin typeface="Consolas"/>
                <a:ea typeface="Consolas"/>
                <a:cs typeface="Consolas"/>
              </a:rPr>
              <a:t>  DBMS_SQLPA.EXECUTE_ANALYSIS_TASK('upgrade_impact','TEST EXECUTE',</a:t>
            </a:r>
          </a:p>
          <a:p>
            <a:pPr>
              <a:spcAft>
                <a:spcPts val="0"/>
              </a:spcAft>
            </a:pPr>
            <a:r>
              <a:rPr sz="1100" b="0">
                <a:solidFill>
                  <a:srgbClr val="E6E6E6"/>
                </a:solidFill>
                <a:latin typeface="Consolas"/>
                <a:ea typeface="Consolas"/>
                <a:cs typeface="Consolas"/>
              </a:rPr>
              <a:t>         execution_name=&gt;'before');</a:t>
            </a:r>
          </a:p>
          <a:p>
            <a:pPr>
              <a:spcAft>
                <a:spcPts val="0"/>
              </a:spcAft>
            </a:pPr>
            <a:r>
              <a:rPr sz="1100" b="0">
                <a:solidFill>
                  <a:srgbClr val="E6E6E6"/>
                </a:solidFill>
                <a:latin typeface="Consolas"/>
                <a:ea typeface="Consolas"/>
                <a:cs typeface="Consolas"/>
              </a:rPr>
              <a:t>  -- (파라미터·통계 등 환경 변경 적용)</a:t>
            </a:r>
          </a:p>
          <a:p>
            <a:pPr>
              <a:spcAft>
                <a:spcPts val="0"/>
              </a:spcAft>
            </a:pPr>
            <a:r>
              <a:rPr sz="1100" b="0">
                <a:solidFill>
                  <a:srgbClr val="E6E6E6"/>
                </a:solidFill>
                <a:latin typeface="Consolas"/>
                <a:ea typeface="Consolas"/>
                <a:cs typeface="Consolas"/>
              </a:rPr>
              <a:t>  DBMS_SQLPA.EXECUTE_ANALYSIS_TASK('upgrade_impact','TEST EXECUTE',</a:t>
            </a:r>
          </a:p>
          <a:p>
            <a:pPr>
              <a:spcAft>
                <a:spcPts val="0"/>
              </a:spcAft>
            </a:pPr>
            <a:r>
              <a:rPr sz="1100" b="0">
                <a:solidFill>
                  <a:srgbClr val="E6E6E6"/>
                </a:solidFill>
                <a:latin typeface="Consolas"/>
                <a:ea typeface="Consolas"/>
                <a:cs typeface="Consolas"/>
              </a:rPr>
              <a:t>         execution_name=&gt;'after');</a:t>
            </a:r>
          </a:p>
          <a:p>
            <a:pPr>
              <a:spcAft>
                <a:spcPts val="0"/>
              </a:spcAft>
            </a:pPr>
            <a:r>
              <a:rPr sz="1100" b="0">
                <a:solidFill>
                  <a:srgbClr val="E6E6E6"/>
                </a:solidFill>
                <a:latin typeface="Consolas"/>
                <a:ea typeface="Consolas"/>
                <a:cs typeface="Consolas"/>
              </a:rPr>
              <a:t>  DBMS_SQLPA.EXECUTE_ANALYSIS_TASK('upgrade_impact','COMPARE PERFORMANCE');</a:t>
            </a:r>
          </a:p>
          <a:p>
            <a:pPr>
              <a:spcAft>
                <a:spcPts val="0"/>
              </a:spcAft>
            </a:pPr>
            <a:r>
              <a:rPr sz="1100" b="0">
                <a:solidFill>
                  <a:srgbClr val="E6E6E6"/>
                </a:solidFill>
                <a:latin typeface="Consolas"/>
                <a:ea typeface="Consolas"/>
                <a:cs typeface="Consolas"/>
              </a:rPr>
              <a:t>END;</a:t>
            </a:r>
          </a:p>
          <a:p>
            <a:pPr>
              <a:spcAft>
                <a:spcPts val="0"/>
              </a:spcAft>
            </a:pPr>
            <a:r>
              <a:rPr sz="1100" b="0">
                <a:solidFill>
                  <a:srgbClr val="E6E6E6"/>
                </a:solidFill>
                <a:latin typeface="Consolas"/>
                <a:ea typeface="Consolas"/>
                <a:cs typeface="Consolas"/>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SPA 결과 활용</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부분 적용을 가능하게 한다</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SQL별 분류: 개선(improved)·회귀(regressed)·불변</a:t>
            </a:r>
          </a:p>
          <a:p>
            <a:pPr>
              <a:spcAft>
                <a:spcPts val="700"/>
              </a:spcAft>
            </a:pPr>
            <a:r>
              <a:rPr sz="1600" b="0">
                <a:solidFill>
                  <a:srgbClr val="222222"/>
                </a:solidFill>
                <a:latin typeface="맑은 고딕"/>
                <a:ea typeface="맑은 고딕"/>
                <a:cs typeface="맑은 고딕"/>
              </a:rPr>
              <a:t>•  전체 워크로드 총 응답 시간 변화 집계</a:t>
            </a:r>
          </a:p>
          <a:p>
            <a:pPr>
              <a:spcAft>
                <a:spcPts val="700"/>
              </a:spcAft>
            </a:pPr>
            <a:r>
              <a:rPr sz="1600" b="0">
                <a:solidFill>
                  <a:srgbClr val="222222"/>
                </a:solidFill>
                <a:latin typeface="맑은 고딕"/>
                <a:ea typeface="맑은 고딕"/>
                <a:cs typeface="맑은 고딕"/>
              </a:rPr>
              <a:t>•  예: 100개 중 90개 개선, 10개 회귀</a:t>
            </a:r>
          </a:p>
          <a:p>
            <a:pPr>
              <a:spcAft>
                <a:spcPts val="700"/>
              </a:spcAft>
            </a:pPr>
            <a:r>
              <a:rPr sz="1600" b="0">
                <a:solidFill>
                  <a:srgbClr val="222222"/>
                </a:solidFill>
                <a:latin typeface="맑은 고딕"/>
                <a:ea typeface="맑은 고딕"/>
                <a:cs typeface="맑은 고딕"/>
              </a:rPr>
              <a:t>•  → 회귀 10개만 SQL Plan Baseline으로 계획 고정</a:t>
            </a:r>
          </a:p>
          <a:p>
            <a:pPr>
              <a:spcAft>
                <a:spcPts val="700"/>
              </a:spcAft>
            </a:pPr>
            <a:r>
              <a:rPr sz="1600" b="0">
                <a:solidFill>
                  <a:srgbClr val="222222"/>
                </a:solidFill>
                <a:latin typeface="맑은 고딕"/>
                <a:ea typeface="맑은 고딕"/>
                <a:cs typeface="맑은 고딕"/>
              </a:rPr>
              <a:t>•  SPA(예측) + SPM(고정) = 무중단·무회귀 업그레이드</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1905000"/>
            <a:ext cx="10515600" cy="1092200"/>
          </a:xfrm>
          <a:prstGeom prst="rect">
            <a:avLst/>
          </a:prstGeom>
          <a:noFill/>
        </p:spPr>
        <p:txBody>
          <a:bodyPr wrap="square">
            <a:spAutoFit/>
          </a:bodyPr>
          <a:lstStyle/>
          <a:p>
            <a:pPr>
              <a:spcAft>
                <a:spcPts val="600"/>
              </a:spcAft>
            </a:pPr>
            <a:r>
              <a:rPr sz="4000" b="1">
                <a:solidFill>
                  <a:srgbClr val="FFFFFF"/>
                </a:solidFill>
                <a:latin typeface="맑은 고딕"/>
                <a:ea typeface="맑은 고딕"/>
                <a:cs typeface="맑은 고딕"/>
              </a:rPr>
              <a:t>33.11</a:t>
            </a:r>
          </a:p>
        </p:txBody>
      </p:sp>
      <p:sp>
        <p:nvSpPr>
          <p:cNvPr id="4" name="TextBox 3"/>
          <p:cNvSpPr txBox="1"/>
          <p:nvPr/>
        </p:nvSpPr>
        <p:spPr>
          <a:xfrm>
            <a:off x="812800" y="3009900"/>
            <a:ext cx="10515600" cy="914400"/>
          </a:xfrm>
          <a:prstGeom prst="rect">
            <a:avLst/>
          </a:prstGeom>
          <a:noFill/>
        </p:spPr>
        <p:txBody>
          <a:bodyPr wrap="square">
            <a:spAutoFit/>
          </a:bodyPr>
          <a:lstStyle/>
          <a:p>
            <a:pPr>
              <a:spcAft>
                <a:spcPts val="600"/>
              </a:spcAft>
            </a:pPr>
            <a:r>
              <a:rPr sz="2800" b="1">
                <a:solidFill>
                  <a:srgbClr val="FFFFFF"/>
                </a:solidFill>
                <a:latin typeface="맑은 고딕"/>
                <a:ea typeface="맑은 고딕"/>
                <a:cs typeface="맑은 고딕"/>
              </a:rPr>
              <a:t>자동 SQL 튜닝 작업</a:t>
            </a:r>
          </a:p>
        </p:txBody>
      </p:sp>
      <p:sp>
        <p:nvSpPr>
          <p:cNvPr id="5" name="Rectangle 4"/>
          <p:cNvSpPr/>
          <p:nvPr/>
        </p:nvSpPr>
        <p:spPr>
          <a:xfrm>
            <a:off x="812800" y="4114800"/>
            <a:ext cx="5486400" cy="50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10058400" cy="2159000"/>
          </a:xfrm>
          <a:prstGeom prst="rect">
            <a:avLst/>
          </a:prstGeom>
          <a:noFill/>
        </p:spPr>
        <p:txBody>
          <a:bodyPr wrap="square">
            <a:spAutoFit/>
          </a:bodyPr>
          <a:lstStyle/>
          <a:p>
            <a:pPr>
              <a:spcAft>
                <a:spcPts val="800"/>
              </a:spcAft>
            </a:pPr>
            <a:r>
              <a:rPr sz="1600" b="0">
                <a:solidFill>
                  <a:srgbClr val="FFFFFF"/>
                </a:solidFill>
                <a:latin typeface="맑은 고딕"/>
                <a:ea typeface="맑은 고딕"/>
                <a:cs typeface="맑은 고딕"/>
              </a:rPr>
              <a:t>•  야간에 상위 SQL을 자동 튜닝</a:t>
            </a:r>
          </a:p>
          <a:p>
            <a:pPr>
              <a:spcAft>
                <a:spcPts val="800"/>
              </a:spcAft>
            </a:pPr>
            <a:r>
              <a:rPr sz="1600" b="0">
                <a:solidFill>
                  <a:srgbClr val="FFFFFF"/>
                </a:solidFill>
                <a:latin typeface="맑은 고딕"/>
                <a:ea typeface="맑은 고딕"/>
                <a:cs typeface="맑은 고딕"/>
              </a:rPr>
              <a:t>•  자동 구현(Auto-Implementation) 옵션</a:t>
            </a:r>
          </a:p>
          <a:p>
            <a:pPr>
              <a:spcAft>
                <a:spcPts val="800"/>
              </a:spcAft>
            </a:pPr>
            <a:r>
              <a:rPr sz="1600" b="0">
                <a:solidFill>
                  <a:srgbClr val="FFFFFF"/>
                </a:solidFill>
                <a:latin typeface="맑은 고딕"/>
                <a:ea typeface="맑은 고딕"/>
                <a:cs typeface="맑은 고딕"/>
              </a:rPr>
              <a:t>•  DBA_ADVISOR_* 뷰로 결과 확인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Automated SQL Tuning Task</a:t>
            </a:r>
          </a:p>
        </p:txBody>
      </p:sp>
      <p:sp>
        <p:nvSpPr>
          <p:cNvPr id="4" name="TextBox 3"/>
          <p:cNvSpPr txBox="1"/>
          <p:nvPr/>
        </p:nvSpPr>
        <p:spPr>
          <a:xfrm>
            <a:off x="635000" y="1092200"/>
            <a:ext cx="10871200" cy="3810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자동 유지관리 작업의 하나</a:t>
            </a:r>
          </a:p>
        </p:txBody>
      </p:sp>
      <p:sp>
        <p:nvSpPr>
          <p:cNvPr id="5" name="Rectangle 4"/>
          <p:cNvSpPr/>
          <p:nvPr/>
        </p:nvSpPr>
        <p:spPr>
          <a:xfrm>
            <a:off x="635000" y="1600200"/>
            <a:ext cx="10871200" cy="26289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101600" bIns="76200"/>
          <a:lstStyle/>
          <a:p>
            <a:pPr algn="ctr">
              <a:spcAft>
                <a:spcPts val="0"/>
              </a:spcAft>
            </a:pPr>
            <a:r>
              <a:rPr sz="1100" b="0">
                <a:solidFill>
                  <a:srgbClr val="E6E6E6"/>
                </a:solidFill>
                <a:latin typeface="Consolas"/>
                <a:ea typeface="Consolas"/>
                <a:cs typeface="Consolas"/>
              </a:rPr>
              <a:t>-- 자동 프로파일 구현 활성화</a:t>
            </a:r>
          </a:p>
          <a:p>
            <a:pPr>
              <a:spcAft>
                <a:spcPts val="0"/>
              </a:spcAft>
            </a:pPr>
            <a:r>
              <a:rPr sz="1100" b="0">
                <a:solidFill>
                  <a:srgbClr val="E6E6E6"/>
                </a:solidFill>
                <a:latin typeface="Consolas"/>
                <a:ea typeface="Consolas"/>
                <a:cs typeface="Consolas"/>
              </a:rPr>
              <a:t>BEGIN</a:t>
            </a:r>
          </a:p>
          <a:p>
            <a:pPr>
              <a:spcAft>
                <a:spcPts val="0"/>
              </a:spcAft>
            </a:pPr>
            <a:r>
              <a:rPr sz="1100" b="0">
                <a:solidFill>
                  <a:srgbClr val="E6E6E6"/>
                </a:solidFill>
                <a:latin typeface="Consolas"/>
                <a:ea typeface="Consolas"/>
                <a:cs typeface="Consolas"/>
              </a:rPr>
              <a:t>  DBMS_AUTO_SQLTUNE.SET_AUTO_TUNING_TASK_PARAMETER(</a:t>
            </a:r>
          </a:p>
          <a:p>
            <a:pPr>
              <a:spcAft>
                <a:spcPts val="0"/>
              </a:spcAft>
            </a:pPr>
            <a:r>
              <a:rPr sz="1100" b="0">
                <a:solidFill>
                  <a:srgbClr val="E6E6E6"/>
                </a:solidFill>
                <a:latin typeface="Consolas"/>
                <a:ea typeface="Consolas"/>
                <a:cs typeface="Consolas"/>
              </a:rPr>
              <a:t>    parameter=&gt;'ACCEPT_SQL_PROFILES', value=&gt;'TRUE');</a:t>
            </a:r>
          </a:p>
          <a:p>
            <a:pPr>
              <a:spcAft>
                <a:spcPts val="0"/>
              </a:spcAft>
            </a:pPr>
            <a:r>
              <a:rPr sz="1100" b="0">
                <a:solidFill>
                  <a:srgbClr val="E6E6E6"/>
                </a:solidFill>
                <a:latin typeface="Consolas"/>
                <a:ea typeface="Consolas"/>
                <a:cs typeface="Consolas"/>
              </a:rPr>
              <a:t>END;</a:t>
            </a:r>
          </a:p>
          <a:p>
            <a:pPr>
              <a:spcAft>
                <a:spcPts val="0"/>
              </a:spcAft>
            </a:pPr>
            <a:r>
              <a:rPr sz="1100" b="0">
                <a:solidFill>
                  <a:srgbClr val="E6E6E6"/>
                </a:solidFill>
                <a:latin typeface="Consolas"/>
                <a:ea typeface="Consolas"/>
                <a:cs typeface="Consolas"/>
              </a:rPr>
              <a:t>/</a:t>
            </a:r>
          </a:p>
          <a:p>
            <a:pPr>
              <a:spcAft>
                <a:spcPts val="0"/>
              </a:spcAft>
            </a:pPr>
            <a:r>
              <a:rPr sz="1100" b="0">
                <a:solidFill>
                  <a:srgbClr val="E6E6E6"/>
                </a:solidFill>
                <a:latin typeface="Consolas"/>
                <a:ea typeface="Consolas"/>
                <a:cs typeface="Consolas"/>
              </a:rPr>
              <a:t>-- 최근 자동 튜닝 결과 보고서</a:t>
            </a:r>
          </a:p>
          <a:p>
            <a:pPr>
              <a:spcAft>
                <a:spcPts val="0"/>
              </a:spcAft>
            </a:pPr>
            <a:r>
              <a:rPr sz="1100" b="0">
                <a:solidFill>
                  <a:srgbClr val="E6E6E6"/>
                </a:solidFill>
                <a:latin typeface="Consolas"/>
                <a:ea typeface="Consolas"/>
                <a:cs typeface="Consolas"/>
              </a:rPr>
              <a:t>SELECT DBMS_AUTO_SQLTUNE.REPORT_AUTO_TUNING_TASK FROM dual;</a:t>
            </a:r>
          </a:p>
          <a:p>
            <a:pPr>
              <a:spcAft>
                <a:spcPts val="0"/>
              </a:spcAft>
            </a:pPr>
            <a:r>
              <a:rPr sz="1100" b="0">
                <a:solidFill>
                  <a:srgbClr val="E6E6E6"/>
                </a:solidFill>
                <a:latin typeface="Consolas"/>
                <a:ea typeface="Consolas"/>
                <a:cs typeface="Consolas"/>
              </a:rPr>
              <a:t>-- 작업 비활성화(프레임워크)</a:t>
            </a:r>
          </a:p>
          <a:p>
            <a:pPr>
              <a:spcAft>
                <a:spcPts val="0"/>
              </a:spcAft>
            </a:pPr>
            <a:r>
              <a:rPr sz="1100" b="0">
                <a:solidFill>
                  <a:srgbClr val="E6E6E6"/>
                </a:solidFill>
                <a:latin typeface="Consolas"/>
                <a:ea typeface="Consolas"/>
                <a:cs typeface="Consolas"/>
              </a:rPr>
              <a:t>EXEC DBMS_AUTO_TASK_ADMIN.DISABLE( -</a:t>
            </a:r>
          </a:p>
          <a:p>
            <a:pPr>
              <a:spcAft>
                <a:spcPts val="0"/>
              </a:spcAft>
            </a:pPr>
            <a:r>
              <a:rPr sz="1100" b="0">
                <a:solidFill>
                  <a:srgbClr val="E6E6E6"/>
                </a:solidFill>
                <a:latin typeface="Consolas"/>
                <a:ea typeface="Consolas"/>
                <a:cs typeface="Consolas"/>
              </a:rPr>
              <a:t>  client_name=&gt;'sql tuning advisor',operation=&gt;NULL,window_name=&gt;NULL);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자동 튜닝 운영 지침</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단계적 신뢰 구축</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초기: ACCEPT_SQL_PROFILES=FALSE로 권고만 관찰</a:t>
            </a:r>
          </a:p>
          <a:p>
            <a:pPr>
              <a:spcAft>
                <a:spcPts val="700"/>
              </a:spcAft>
            </a:pPr>
            <a:r>
              <a:rPr sz="1600" b="0">
                <a:solidFill>
                  <a:srgbClr val="222222"/>
                </a:solidFill>
                <a:latin typeface="맑은 고딕"/>
                <a:ea typeface="맑은 고딕"/>
                <a:cs typeface="맑은 고딕"/>
              </a:rPr>
              <a:t>•  신뢰 쌓이면 자동 구현 활성화</a:t>
            </a:r>
          </a:p>
          <a:p>
            <a:pPr>
              <a:spcAft>
                <a:spcPts val="700"/>
              </a:spcAft>
            </a:pPr>
            <a:r>
              <a:rPr sz="1600" b="0">
                <a:solidFill>
                  <a:srgbClr val="222222"/>
                </a:solidFill>
                <a:latin typeface="맑은 고딕"/>
                <a:ea typeface="맑은 고딕"/>
                <a:cs typeface="맑은 고딕"/>
              </a:rPr>
              <a:t>•  자동 구현 프로파일도 정기 검토·정리</a:t>
            </a:r>
          </a:p>
          <a:p>
            <a:pPr>
              <a:spcAft>
                <a:spcPts val="700"/>
              </a:spcAft>
            </a:pPr>
            <a:r>
              <a:rPr sz="1600" b="0">
                <a:solidFill>
                  <a:srgbClr val="222222"/>
                </a:solidFill>
                <a:latin typeface="맑은 고딕"/>
                <a:ea typeface="맑은 고딕"/>
                <a:cs typeface="맑은 고딕"/>
              </a:rPr>
              <a:t>•  결과 뷰: DBA_ADVISOR_TASKS/EXECUTIONS/FINDINGS</a:t>
            </a:r>
          </a:p>
          <a:p>
            <a:pPr>
              <a:spcAft>
                <a:spcPts val="700"/>
              </a:spcAft>
            </a:pPr>
            <a:r>
              <a:rPr sz="1600" b="0">
                <a:solidFill>
                  <a:srgbClr val="222222"/>
                </a:solidFill>
                <a:latin typeface="맑은 고딕"/>
                <a:ea typeface="맑은 고딕"/>
                <a:cs typeface="맑은 고딕"/>
              </a:rPr>
              <a:t>•  한계: 신규·잘못 설계된 SQL은 개발 단계에서 잡아야</a:t>
            </a:r>
          </a:p>
          <a:p>
            <a:pPr>
              <a:spcAft>
                <a:spcPts val="700"/>
              </a:spcAft>
            </a:pPr>
            <a:r>
              <a:rPr sz="1600" b="0">
                <a:solidFill>
                  <a:srgbClr val="222222"/>
                </a:solidFill>
                <a:latin typeface="맑은 고딕"/>
                <a:ea typeface="맑은 고딕"/>
                <a:cs typeface="맑은 고딕"/>
              </a:rPr>
              <a:t>•  통계·프로파일 문제엔 강하지만 설계 문제엔 무력</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퀴즈 (이해도 점검)</a:t>
            </a:r>
          </a:p>
        </p:txBody>
      </p:sp>
      <p:sp>
        <p:nvSpPr>
          <p:cNvPr id="4" name="TextBox 3"/>
          <p:cNvSpPr txBox="1"/>
          <p:nvPr/>
        </p:nvSpPr>
        <p:spPr>
          <a:xfrm>
            <a:off x="635000" y="1092200"/>
            <a:ext cx="10871200" cy="457200"/>
          </a:xfrm>
          <a:prstGeom prst="rect">
            <a:avLst/>
          </a:prstGeom>
          <a:noFill/>
        </p:spPr>
        <p:txBody>
          <a:bodyPr wrap="square">
            <a:spAutoFit/>
          </a:bodyPr>
          <a:lstStyle/>
          <a:p>
            <a:pPr>
              <a:spcAft>
                <a:spcPts val="600"/>
              </a:spcAft>
            </a:pPr>
            <a:r>
              <a:rPr sz="1500" b="0">
                <a:solidFill>
                  <a:srgbClr val="5A6672"/>
                </a:solidFill>
                <a:latin typeface="맑은 고딕"/>
                <a:ea typeface="맑은 고딕"/>
                <a:cs typeface="맑은 고딕"/>
              </a:rPr>
              <a:t>정답·해설은 실습문제 정답지 참고</a:t>
            </a:r>
          </a:p>
        </p:txBody>
      </p:sp>
      <p:sp>
        <p:nvSpPr>
          <p:cNvPr id="5" name="TextBox 4"/>
          <p:cNvSpPr txBox="1"/>
          <p:nvPr/>
        </p:nvSpPr>
        <p:spPr>
          <a:xfrm>
            <a:off x="635000" y="1676400"/>
            <a:ext cx="10871200" cy="4800600"/>
          </a:xfrm>
          <a:prstGeom prst="rect">
            <a:avLst/>
          </a:prstGeom>
          <a:noFill/>
        </p:spPr>
        <p:txBody>
          <a:bodyPr wrap="square">
            <a:spAutoFit/>
          </a:bodyPr>
          <a:lstStyle/>
          <a:p>
            <a:pPr>
              <a:spcAft>
                <a:spcPts val="700"/>
              </a:spcAft>
            </a:pPr>
            <a:r>
              <a:rPr sz="1600" b="0">
                <a:solidFill>
                  <a:srgbClr val="222222"/>
                </a:solidFill>
                <a:latin typeface="맑은 고딕"/>
                <a:ea typeface="맑은 고딕"/>
                <a:cs typeface="맑은 고딕"/>
              </a:rPr>
              <a:t>•  Q1. 통계 수집 표준 방법과 폐기된 구식 명령은?</a:t>
            </a:r>
          </a:p>
          <a:p>
            <a:pPr>
              <a:spcAft>
                <a:spcPts val="700"/>
              </a:spcAft>
            </a:pPr>
            <a:r>
              <a:rPr sz="1600" b="0">
                <a:solidFill>
                  <a:srgbClr val="222222"/>
                </a:solidFill>
                <a:latin typeface="맑은 고딕"/>
                <a:ea typeface="맑은 고딕"/>
                <a:cs typeface="맑은 고딕"/>
              </a:rPr>
              <a:t>•  Q2. 19c에서 AUTO_SAMPLE_SIZE가 권장되는 이유는?</a:t>
            </a:r>
          </a:p>
          <a:p>
            <a:pPr>
              <a:spcAft>
                <a:spcPts val="700"/>
              </a:spcAft>
            </a:pPr>
            <a:r>
              <a:rPr sz="1600" b="0">
                <a:solidFill>
                  <a:srgbClr val="222222"/>
                </a:solidFill>
                <a:latin typeface="맑은 고딕"/>
                <a:ea typeface="맑은 고딕"/>
                <a:cs typeface="맑은 고딕"/>
              </a:rPr>
              <a:t>•  Q3. 히스토그램(편중) vs 컬럼 그룹 확장 통계(상관관계)의 차이?</a:t>
            </a:r>
          </a:p>
          <a:p>
            <a:pPr>
              <a:spcAft>
                <a:spcPts val="700"/>
              </a:spcAft>
            </a:pPr>
            <a:r>
              <a:rPr sz="1600" b="0">
                <a:solidFill>
                  <a:srgbClr val="222222"/>
                </a:solidFill>
                <a:latin typeface="맑은 고딕"/>
                <a:ea typeface="맑은 고딕"/>
                <a:cs typeface="맑은 고딕"/>
              </a:rPr>
              <a:t>•  Q4. SQL Plan Directive는 SQL 단위인가 컬럼 조합 단위인가? 이점은?</a:t>
            </a:r>
          </a:p>
          <a:p>
            <a:pPr>
              <a:spcAft>
                <a:spcPts val="700"/>
              </a:spcAft>
            </a:pPr>
            <a:r>
              <a:rPr sz="1600" b="0">
                <a:solidFill>
                  <a:srgbClr val="222222"/>
                </a:solidFill>
                <a:latin typeface="맑은 고딕"/>
                <a:ea typeface="맑은 고딕"/>
                <a:cs typeface="맑은 고딕"/>
              </a:rPr>
              <a:t>•  Q5. ADAPTIVE_PLANS와 ADAPTIVE_STATISTICS의 19c 기본값과 이유?</a:t>
            </a:r>
          </a:p>
          <a:p>
            <a:pPr>
              <a:spcAft>
                <a:spcPts val="700"/>
              </a:spcAft>
            </a:pPr>
            <a:r>
              <a:rPr sz="1600" b="0">
                <a:solidFill>
                  <a:srgbClr val="222222"/>
                </a:solidFill>
                <a:latin typeface="맑은 고딕"/>
                <a:ea typeface="맑은 고딕"/>
                <a:cs typeface="맑은 고딕"/>
              </a:rPr>
              <a:t>•  Q6. Tuning/Access Advisor와 SPA의 목적을 한 줄씩 구분하라.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요약 (Summary)</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600" b="0">
                <a:solidFill>
                  <a:srgbClr val="222222"/>
                </a:solidFill>
                <a:latin typeface="맑은 고딕"/>
                <a:ea typeface="맑은 고딕"/>
                <a:cs typeface="맑은 고딕"/>
              </a:rPr>
              <a:t>•  SQL 튜닝은 식별→계획 분석→원인 진단→해결 적용→검증의 반복 절차다.</a:t>
            </a:r>
          </a:p>
          <a:p>
            <a:pPr>
              <a:spcAft>
                <a:spcPts val="800"/>
              </a:spcAft>
            </a:pPr>
            <a:r>
              <a:rPr sz="1600" b="0">
                <a:solidFill>
                  <a:srgbClr val="222222"/>
                </a:solidFill>
                <a:latin typeface="맑은 고딕"/>
                <a:ea typeface="맑은 고딕"/>
                <a:cs typeface="맑은 고딕"/>
              </a:rPr>
              <a:t>•  옵티마이저는 통계 기반 CBO이며 파싱→최적화→행 소스 생성→실행으로 동작한다.</a:t>
            </a:r>
          </a:p>
          <a:p>
            <a:pPr>
              <a:spcAft>
                <a:spcPts val="800"/>
              </a:spcAft>
            </a:pPr>
            <a:r>
              <a:rPr sz="1600" b="0">
                <a:solidFill>
                  <a:srgbClr val="222222"/>
                </a:solidFill>
                <a:latin typeface="맑은 고딕"/>
                <a:ea typeface="맑은 고딕"/>
                <a:cs typeface="맑은 고딕"/>
              </a:rPr>
              <a:t>•  통계는 DBMS_STATS로 수집하고 대부분 자동 작업이 담당, 프리퍼런스로 정책 조정.</a:t>
            </a:r>
          </a:p>
          <a:p>
            <a:pPr>
              <a:spcAft>
                <a:spcPts val="800"/>
              </a:spcAft>
            </a:pPr>
            <a:r>
              <a:rPr sz="1600" b="0">
                <a:solidFill>
                  <a:srgbClr val="222222"/>
                </a:solidFill>
                <a:latin typeface="맑은 고딕"/>
                <a:ea typeface="맑은 고딕"/>
                <a:cs typeface="맑은 고딕"/>
              </a:rPr>
              <a:t>•  히스토그램은 편중을, 확장 통계는 상관관계·표현식을 보완한다.</a:t>
            </a:r>
          </a:p>
          <a:p>
            <a:pPr>
              <a:spcAft>
                <a:spcPts val="800"/>
              </a:spcAft>
            </a:pPr>
            <a:r>
              <a:rPr sz="1600" b="0">
                <a:solidFill>
                  <a:srgbClr val="222222"/>
                </a:solidFill>
                <a:latin typeface="맑은 고딕"/>
                <a:ea typeface="맑은 고딕"/>
                <a:cs typeface="맑은 고딕"/>
              </a:rPr>
              <a:t>•  SQL Plan Directive·적응형 계획은 추정 오류를 스스로 보정·적응(19c 기본은 계획 ON·통계 OFF).</a:t>
            </a:r>
          </a:p>
          <a:p>
            <a:pPr>
              <a:spcAft>
                <a:spcPts val="800"/>
              </a:spcAft>
            </a:pPr>
            <a:r>
              <a:rPr sz="1600" b="0">
                <a:solidFill>
                  <a:srgbClr val="222222"/>
                </a:solidFill>
                <a:latin typeface="맑은 고딕"/>
                <a:ea typeface="맑은 고딕"/>
                <a:cs typeface="맑은 고딕"/>
              </a:rPr>
              <a:t>•  Tuning(개별 SQL)·Access(워크로드 구조)·SPA(변경 전후 비교)는 목적이 다르다.</a:t>
            </a:r>
          </a:p>
          <a:p>
            <a:pPr>
              <a:spcAft>
                <a:spcPts val="800"/>
              </a:spcAft>
            </a:pPr>
            <a:r>
              <a:rPr sz="1600" b="0">
                <a:solidFill>
                  <a:srgbClr val="222222"/>
                </a:solidFill>
                <a:latin typeface="맑은 고딕"/>
                <a:ea typeface="맑은 고딕"/>
                <a:cs typeface="맑은 고딕"/>
              </a:rPr>
              <a:t>•  자동 SQL 튜닝 작업은 야간에 상위 SQL을 분석하고 조건 충족 시 프로파일을 자동 구현한다.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33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6100" y="88900"/>
            <a:ext cx="10972800" cy="723900"/>
          </a:xfrm>
          <a:prstGeom prst="rect">
            <a:avLst/>
          </a:prstGeom>
          <a:noFill/>
        </p:spPr>
        <p:txBody>
          <a:bodyPr wrap="square">
            <a:spAutoFit/>
          </a:bodyPr>
          <a:lstStyle/>
          <a:p>
            <a:pPr>
              <a:spcAft>
                <a:spcPts val="600"/>
              </a:spcAft>
            </a:pPr>
            <a:r>
              <a:rPr sz="2600" b="1">
                <a:solidFill>
                  <a:srgbClr val="FFFFFF"/>
                </a:solidFill>
                <a:latin typeface="맑은 고딕"/>
                <a:ea typeface="맑은 고딕"/>
                <a:cs typeface="맑은 고딕"/>
              </a:rPr>
              <a:t>실습 33 개요 (Practice Overview)</a:t>
            </a:r>
          </a:p>
        </p:txBody>
      </p:sp>
      <p:sp>
        <p:nvSpPr>
          <p:cNvPr id="4" name="TextBox 3"/>
          <p:cNvSpPr txBox="1"/>
          <p:nvPr/>
        </p:nvSpPr>
        <p:spPr>
          <a:xfrm>
            <a:off x="635000" y="1270000"/>
            <a:ext cx="10871200" cy="5207000"/>
          </a:xfrm>
          <a:prstGeom prst="rect">
            <a:avLst/>
          </a:prstGeom>
          <a:noFill/>
        </p:spPr>
        <p:txBody>
          <a:bodyPr wrap="square">
            <a:spAutoFit/>
          </a:bodyPr>
          <a:lstStyle/>
          <a:p>
            <a:pPr>
              <a:spcAft>
                <a:spcPts val="800"/>
              </a:spcAft>
            </a:pPr>
            <a:r>
              <a:rPr sz="1600" b="0">
                <a:solidFill>
                  <a:srgbClr val="222222"/>
                </a:solidFill>
                <a:latin typeface="맑은 고딕"/>
                <a:ea typeface="맑은 고딕"/>
                <a:cs typeface="맑은 고딕"/>
              </a:rPr>
              <a:t>•  실습 01 — SQL 튜닝 프로세스 및 옵티마이저 개요 확인</a:t>
            </a:r>
          </a:p>
          <a:p>
            <a:pPr>
              <a:spcAft>
                <a:spcPts val="800"/>
              </a:spcAft>
            </a:pPr>
            <a:r>
              <a:rPr sz="1600" b="0">
                <a:solidFill>
                  <a:srgbClr val="222222"/>
                </a:solidFill>
                <a:latin typeface="맑은 고딕"/>
                <a:ea typeface="맑은 고딕"/>
                <a:cs typeface="맑은 고딕"/>
              </a:rPr>
              <a:t>•  실습 02 — 옵티마이저 통계 수집 및 프리퍼런스 실습</a:t>
            </a:r>
          </a:p>
          <a:p>
            <a:pPr>
              <a:spcAft>
                <a:spcPts val="800"/>
              </a:spcAft>
            </a:pPr>
            <a:r>
              <a:rPr sz="1600" b="0">
                <a:solidFill>
                  <a:srgbClr val="222222"/>
                </a:solidFill>
                <a:latin typeface="맑은 고딕"/>
                <a:ea typeface="맑은 고딕"/>
                <a:cs typeface="맑은 고딕"/>
              </a:rPr>
              <a:t>•  실습 03 — Optimizer Statistics Advisor로 통계 문제 분석</a:t>
            </a:r>
          </a:p>
          <a:p>
            <a:pPr>
              <a:spcAft>
                <a:spcPts val="800"/>
              </a:spcAft>
            </a:pPr>
            <a:r>
              <a:rPr sz="1600" b="0">
                <a:solidFill>
                  <a:srgbClr val="222222"/>
                </a:solidFill>
                <a:latin typeface="맑은 고딕"/>
                <a:ea typeface="맑은 고딕"/>
                <a:cs typeface="맑은 고딕"/>
              </a:rPr>
              <a:t>•  실습 04 — SQL Plan Directives 및 Adaptive Execution Plans 확인</a:t>
            </a:r>
          </a:p>
          <a:p>
            <a:pPr>
              <a:spcAft>
                <a:spcPts val="800"/>
              </a:spcAft>
            </a:pPr>
            <a:r>
              <a:rPr sz="1600" b="0">
                <a:solidFill>
                  <a:srgbClr val="222222"/>
                </a:solidFill>
                <a:latin typeface="맑은 고딕"/>
                <a:ea typeface="맑은 고딕"/>
                <a:cs typeface="맑은 고딕"/>
              </a:rPr>
              <a:t>•  실습 05 — SQL Tuning Advisor 개요 확인</a:t>
            </a:r>
          </a:p>
          <a:p>
            <a:pPr>
              <a:spcAft>
                <a:spcPts val="800"/>
              </a:spcAft>
            </a:pPr>
            <a:r>
              <a:rPr sz="1600" b="0">
                <a:solidFill>
                  <a:srgbClr val="222222"/>
                </a:solidFill>
                <a:latin typeface="맑은 고딕"/>
                <a:ea typeface="맑은 고딕"/>
                <a:cs typeface="맑은 고딕"/>
              </a:rPr>
              <a:t>•  실습 06 — SQL Access Advisor 개요 확인</a:t>
            </a:r>
          </a:p>
          <a:p>
            <a:pPr>
              <a:spcAft>
                <a:spcPts val="800"/>
              </a:spcAft>
            </a:pPr>
            <a:r>
              <a:rPr sz="1600" b="0">
                <a:solidFill>
                  <a:srgbClr val="222222"/>
                </a:solidFill>
                <a:latin typeface="맑은 고딕"/>
                <a:ea typeface="맑은 고딕"/>
                <a:cs typeface="맑은 고딕"/>
              </a:rPr>
              <a:t>•  실습 07 — SQL Performance Analyzer 개요 확인</a:t>
            </a:r>
          </a:p>
          <a:p>
            <a:pPr>
              <a:spcAft>
                <a:spcPts val="800"/>
              </a:spcAft>
            </a:pPr>
            <a:r>
              <a:rPr sz="1600" b="0">
                <a:solidFill>
                  <a:srgbClr val="222222"/>
                </a:solidFill>
                <a:latin typeface="맑은 고딕"/>
                <a:ea typeface="맑은 고딕"/>
                <a:cs typeface="맑은 고딕"/>
              </a:rPr>
              <a:t>•  실습 08 — 자동 튜닝 작업(Automated SQL Tuning Task) 관리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
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 운영 중에는 테이블스페이스가 가득 차거나 특정 자원이 한계에 도달하는 등 즉시 알아야 할 사건이 끊임없이 발생한다. 전통적으로 DBA는 스크립트로 이를 주기적으로 폴링했지만, 폴링은 실행 간격 사이의 사각지대가 있고 데이터베이스에 부하를 주며 유지 부담이 크다. 서버 생성 알림은 데이터베이스 서버 자신이 자기 상태를 감시하다가 문제를 감지하면 스스로 알림을 발생시키는 구조로, 폴링보다 즉각적이고 부하가 낮으며 모든 알림이 동일한 인프라로 표준화된다는 장점이 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생성 알림의 핵심 주체는 MMON(Manageability Monitor) 백그라운드 프로세스다. MMON은 AWR 스냅샷을 뜰 때마다, 그리고 더 짧은 주기로도 SGA 안의 여러 메트릭 값을 계산해 미리 설정된 임계값을 넘었는지 확인한다. 임계값을 초과하면 해당 사건을 ALERT_QUE라는 Advanced Queuing 기반 큐에 등록한다. EM이나 사용자 프로그램이 이 큐를 구독하면 알림 도착 즉시 통지를 받을 수 있다. 이 모든 인프라는 STATISTICS_LEVEL이 TYPICAL 또는 ALL일 때 동작한다.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생성 알림은 두 부류로 나뉜다. 사전 정의 알림은 별도 설정 없이 데이터베이스가 기본으로 감시하는 항목으로, 대표적으로 테이블스페이스 공간 부족(기본 85% 경고, 97% 위험), 복구 영역 공간 부족, 스냅샷 too old, 재개 가능 세션 일시중단 등이 있다. 사용자 정의 알림은 관리자가 임계값을 지정해야 활성화되는 메트릭 기반 알림이다. 알림 소비는 EM이 큐를 구독해 통지하는 방식과, 관리자가 DBA_OUTSTANDING_ALERTS 등 딕셔너리 뷰를 조회하거나 DBMS_AQ로 직접 디큐하는 방식을 모두 지원한다.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알림의 판단 기준이 되는 메트릭을 이해하려면 통계와의 차이를 알아야 한다. V$SYSSTAT 같은 원시 통계는 기동 이후 누적되는 절대값이라 "지금 얼마나 바쁜가"를 직관적으로 보여 주지 못한다. 반면 메트릭은 초당 커밋 수, 호출당 응답 시간, 테이블스페이스 사용률처럼 단위 시간 또는 단위 작업당 값으로 가공되어 임계값과 곧바로 비교할 수 있다. MMON은 이런 메트릭을 60초와 15초 간격으로 계산해 SGA에 유지하고 V$SYSMETRIC, V$METRIC 등으로 노출한다.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메트릭 임계값은 두 단계로 설정한다. 경고 임계값은 주의가 필요한 수준으로 관리자에게 대비할 시간을 주고, 위험 임계값은 즉시 조치가 필요한 수준으로 서비스에 실질적 영향이 임박했음을 뜻한다. 두 단계로 나누는 이유는 알림 피로를 줄이면서도 놓치지 않기 위해서다. 경고 단계에서 여유 있게 대응하면 대부분 위험 단계까지 가지 않는다. 19c는 통계적 정상 범위를 자동 학습하는 적응형 임계값도 제공해, 워크로드 특성에 맞춰 임계값을 자동 조정할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임계값을 설정하는 공식 인터페이스는 DBMS_SERVER_ALERT.SET_THRESHOLD 프로시저다. 어떤 메트릭(metrics_id)에, 어떤 연산자(warning_operator/critical_operator)로, 경고·위험 값을 각각 얼마로, 몇 분 관측 구간에서 연속 몇 회(consecutive_occurrences) 초과할 때, 어느 대상(instance_name, object_type/object_name)에 적용할지를 모두 인자로 받는다. consecutive_occurrences는 순간 스파이크로 인한 오탐을 억제하는 중요한 인자다. 설정된 임계값은 DBA_THRESHOLDS 뷰로 확인하고, warning_value와 critical_value를 NULL로 지정해 다시 호출하면 기본값으로 되돌릴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생성 알림은 수명주기 특성에 따라 두 유형으로 나뉜다. 상태 기반 알림은 조건이 성립하는 동안 미해결 상태로 유지되다가 조건이 해소되면 데이터베이스가 자동으로 해제한다. 예를 들어 테이블스페이스 사용률이 경고 임계값을 넘으면 알림이 발생하고, 데이터파일을 추가해 사용률이 임계값 아래로 내려가면 자동으로 지워진다. 반면 상태 없는 이벤트성 알림은 Snapshot too old처럼 사건 발생 자체가 알림인 경우로, 자동 해제 개념이 없고 발생 즉시 이력으로 남는다.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미해결 상태인 상태 기반 알림은 DBA_OUTSTANDING_ALERTS 뷰에서 조회한다. 아직 조건이 해소되지 않아 살아 있는 알림들이 담긴다. 해제된 알림과 이벤트성 알림은 모두 DBA_ALERT_HISTORY에 기록된다. 따라서 "지금 무엇이 문제인가"는 DBA_OUTSTANDING_ALERTS로, "그동안 어떤 알림이 있었는가"는 DBA_ALERT_HISTORY로 확인한다. message_level은 심각도로 값이 작을수록 심각하며, suggested_action 컬럼에는 데이터베이스가 권고하는 조치가 들어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DBA_OUTSTANDING_ALERTS를 조회하면 reason(원인 설명), object_type/object_name(대상), message_level(심각도), creation_time(발생 시각)을 볼 수 있다. 상태 기반 알림은 원인을 해소하면 데이터베이스가 알아서 이 뷰에서 제거하고, resolution과 함께 DBA_ALERT_HISTORY로 옮긴다. 예시의 테이블스페이스 알림은 데이터파일을 추가하거나 자동 확장을 켜 사용률을 임계값 아래로 낮추면 자동 해제된다. 관리자는 EM 콘솔에서 알림을 확인(acknowledge)하거나 임계값을 조정해 재발을 막는 방식으로 대응한다.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알림과 임계값의 바탕에는 데이터베이스가 축적하는 통계와 그것을 가공한 메트릭이 있다. 통계는 인스턴스 기동 이후 누적되는 원시 카운터라 특정 구간의 활동량을 보려면 시작·끝 값을 빼서 델타로 해석해야 한다. 메트릭은 그 카운터의 변화율을 단위 시간당 값으로 정규화한 지표다. DBA는 "지금 얼마나 바쁜가"는 메트릭으로, "누적된 총량과 비율"은 통계로 본다. 대표 통계로는 user commits, session logical reads, physical reads, parse count가 있고, 대표 메트릭으로는 Average Active Sessions, Host CPU Utilization 등이 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V$SYSSTAT은 인스턴스 전체의 시스템 통계를 NAME과 VALUE 쌍으로 담는다. session logical reads는 버퍼 캐시에서 읽은 블록 수로 SQL 작업량을 가장 잘 대변하며, physical reads는 디스크에서 읽은 블록 수, parse count (hard)는 하드 파싱 횟수로 공유 풀 효율과 바인드 변수 사용을 보여 준다. 이 값들은 모두 기동 이후 누적이므로 특정 구간의 활동량을 보려면 구간 시작·끝 값의 차이(델타)로 해석해야 한다. 통계 번호와 이름의 매핑은 V$STATNAME, 세션별 값은 V$SESSTAT으로 조회한다.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V$SYSMETRIC은 MMON이 계산한 최근 시스템 메트릭을 보여 준다. 각 행은 METRIC_NAME, VALUE, METRIC_UNIT, 계산 구간(INTERVAL_SIZE, 보통 60초·15초)으로 구성된다. V$SYSMETRIC_HISTORY는 같은 메트릭의 최근 약 1시간 이력을 시계열로 유지해 추세를 볼 수 있게 한다. 메트릭의 종류와 정의는 V$METRICNAME으로 확인하고, 특정 시점의 값은 V$METRIC과 그 이력인 V$METRIC_HISTORY로 조회한다. 정리하면 이름·정의는 V$METRICNAME, 현재 값은 V$METRIC/V$SYSMETRIC, 이력은 V$METRIC_HISTORY/V$SYSMETRIC_HISTORY로 접근한다.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세션이 작업을 진행하려면 필요한 자원을 확보해야 하는데, 자원이 즉시 확보되지 않으면 그것이 준비될 때까지 기다린다. 이렇게 자원을 기다리며 소비한 시간이 대기이고, 무엇을 기다렸는지를 이름으로 구분한 것이 대기 이벤트다. Oracle의 성능 모델은 응답 시간을 서비스 시간(CPU를 쓴 시간)과 대기 시간의 합으로 보며, DB Time = CPU 시간 + 대기 시간이라는 등식으로 요약한다. 따라서 어떤 대기 이벤트가 DB Time을 많이 소비하는지를 보면 병목의 성격을 알 수 있다. 응답 지연의 실체는 일하는 시간이 아니라 기다리는 시간이다.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개별 대기 이벤트는 수백 종에 달하므로 Oracle은 성격이 비슷한 것끼리 대기 클래스로 묶는다. User I/O는 사용자 세션의 데이터 블록 읽기 대기로 db file sequential read(단일 블록, 인덱스 액세스)와 db file scattered read(다중 블록, 풀 스캔)가 대표적이다. System I/O는 백그라운드 프로세스의 I/O, Concurrency는 buffer busy waits 같은 동시성 경합, Application은 행 락 경합(enq: TX), Commit은 log file sync다. 대기 클래스 단위로 먼저 큰 그림을 보고 개별 이벤트로 좁혀 가는 것이 효율적인 진단 순서다.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특히 주의할 것은 Idle(유휴) 클래스다. SQL*Net message from client처럼 세션이 클라이언트의 다음 요청을 기다리며 노는 대기는 값이 아무리 커도 데이터베이스의 병목이 아니다. 초보자가 흔히 저지르는 실수가 총 대기 시간이 가장 큰 이벤트를 무작정 문제로 지목하는 것인데, 그 대부분이 Idle 이벤트다. 따라서 진단에서는 Idle 클래스를 제외하고 실제로 자원을 기다린 대기부터 본다. 진단 순서는 대기 클래스로 큰 그림을 보고, 지배적 클래스 안에서 개별 이벤트를 확인한 뒤, 그 대기를 겪는 세션을 찾는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이벤트는 관점에 따라 세 층위로 조회한다. V$SYSTEM_EVENT는 기동 이후 모든 세션이 각 이벤트를 기다린 누적 횟수와 시간을 집계해, 인스턴스 전체에서 어떤 대기가 지배적인지 보여 준다. V$SESSION_EVENT는 같은 정보를 세션별로 분해한다. V$SESSION_WAIT와 V$SESSION은 각 세션이 바로 지금 기다리는 대기의 실시간 스냅을 STATE 컬럼으로 보여 준다. V$EVENT_NAME은 모든 대기 이벤트의 카탈로그로, 각 이벤트의 대기 파라미터 P1/P2/P3 의미를 알려 준다. 예컨대 db file sequential read의 P1은 파일 번호, P2는 블록 번호다.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V$SYSTEM_EVENT를 Idle 제외 조건으로 time_waited 내림차순 조회하면 인스턴스에서 어떤 대기가 응답 시간을 지배하는지 한눈에 볼 수 있다. 예시에서는 db file sequential read가 지배적이므로 User I/O 병목을 의심하고 비효율 SQL·인덱스를 점검한다. 실시간으로 지금 대기 중인 세션은 V$SESSION을 STATE가 WAITING인 조건으로 조회한다. 대기 클래스 단위 집계는 V$SYSTEM_WAIT_CLASS와 V$SESSION_WAIT_CLASS로 조회해, 전체 대기 시간 중 User I/O 등이 차지하는 비중을 계산할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V$SESSION은 접속한 모든 세션을 한 행씩 보여 주는 실시간 모니터링의 중심 뷰다. 세션을 식별하는 SID/SERIAL#, 사용자·프로그램·머신 정보, 세션 상태(STATUS), 실행 중인 SQL_ID, 그리고 대기 정보(EVENT/WAIT_CLASS/SECONDS_IN_WAIT/STATE)까지 담는다. STATUS는 SQL 실행 중이면 ACTIVE, 문장을 실행하지 않으면 INACTIVE다. V$SESSION은 다른 진단 뷰로 넘어가는 관문이기도 해서, SQL_ID로 V$SQL·V$SQL_PLAN에, ROW_WAIT_OBJ#로 대기 대상 객체에, PADDR로 서버 프로세스에 연결할 수 있다. 오래 트랜잭션을 연 INACTIVE 세션은 락을 쥐고 경합을 일으킬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세션이 같은 행이나 자원을 두고 경쟁하면 한 세션이 자원을 쥐고 다른 세션을 막는 블로킹이 발생한다. 막힌 세션은 enq: TX - row lock contention 같은 대기에 걸려 진행하지 못한다. V$SESSION의 BLOCKING_SESSION 컬럼은 바로 나를 막고 있는 세션의 SID를 알려 준다. 이 컬럼으로 대기 사슬의 최상단, 즉 근본 원인 세션인 최종 블로커를 곧바로 찾을 수 있다. BLOCKING_SESSION_STATUS 컬럼으로 그 값이 유효한지(VALID)도 확인한다. V$SESSION을 자기 자신과 조인하면 누가 누구를 막는지 한눈에 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장시간 다른 세션을 막거나 폭주하는 잘못된 쿼리를 실행 중인 세션은 관리자가 강제 종료해야 할 때가 있다. ALTER SYSTEM KILL SESSION 구문에 SID와 SERIAL#를 함께 지정하는데, SID는 재사용되므로 둘을 조합해야 종료 시점의 그 세션을 정확히 지목할 수 있다. KILL SESSION은 진행 중이던 트랜잭션을 롤백하고 자원을 회수하며, 즉시 정리가 어려우면 marked for kill 상태가 되었다가 나중에 종료된다. 잘못된 SID/SERIAL#를 지정하면 ORA-00030 오류가 나므로 반드시 V$SESSION으로 값을 먼저 확인한다. 이 작업에는 ALTER SYSTEM 권한이 필요하며 일반 계정은 ORA-01031이 발생한다.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서비스는 데이터베이스를 사용하는 애플리케이션 워크로드를 논리적으로 묶는 이름이다. 하나의 데이터베이스가 주문 처리, 배치 리포트, 온라인 조회 같은 여러 워크로드를 동시에 감당할 때 각 워크로드에 서비스 이름을 부여하면 접속·부하 분산·자원 관리·성능 모니터링을 워크로드 단위로 다룰 수 있다. 클라이언트는 SID가 아니라 서비스 이름으로 접속하며, RAC나 Data Guard에서는 서비스가 어느 인스턴스에서 실행될지를 제어하는 부하 관리 단위가 된다. 모니터링 관점에서 서비스의 가치는 누가 자원을 쓰는가를 애플리케이션 단위로 분해해 준다는 데 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서비스의 정의와 상태는 V$SERVICES 뷰로 확인한다. 서비스 이름, 네트워크 이름, 생성 방식 등이 담긴다. 서비스별 성능 메트릭은 V$SERVICEMETRIC(최근 구간의 서비스별 CPU 시간·DB 시간·호출 수)과 그 이력 V$SERVICEMETRIC_HISTORY로 조회한다. 더 세밀하게 서비스·모듈·액션 조합별 통계는 V$SERV_MOD_ACT_STATS로 본다. 애플리케이션이 DBMS_APPLICATION_INFO로 MODULE·ACTION을 설정하면 같은 서비스 안에서도 주문 등록 모듈과 재고 조회 모듈을 분리해 추적할 수 있다. 이를 통해 SLA를 데이터로 검증하고 배치가 온라인 자원을 잠식하는지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DBMS_SERVER_ALERT.SET_THRESHOLD는 대상 객체를 서비스로 지정할 수 있다. object_type을 OBJECT_TYPE_SERVICE로, object_name을 서비스 이름으로 지정하면 그 서비스에만 적용되는 성능 임계값을 만든다. 대표 메트릭은 두 가지로, ELAPSED_TIME_PER_CALL은 호출당 평균 경과 시간(마이크로초)으로 응답 시간 지표이고 CPU_TIME_PER_CALL은 호출당 평균 CPU 시간이다. 이 임계값을 넘으면 서버 생성 알림이 발생해, 특정 서비스의 성능 저하를 애플리케이션 팀이 인지하기 전에 DBA가 먼저 감지할 수 있다. 이를 활용하면 모호한 "전반적으로 느리다"는 접수에서 원인 서비스를 조기에 식별할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 전체 통계 V$SYSSTAT을 세션 단위로 분해한 것이 V$SESSTAT이다. V$SESSTAT은 세션별로 각 통계 값을 담되 이름 대신 통계 번호(STATISTIC#)만 갖는다. 사람이 읽을 수 있는 이름을 얻으려면 통계 번호와 이름을 매핑하는 사전인 V$STATNAME과 조인해야 한다. 즉 V$SESSTAT(값)과 V$STATNAME(이름), V$SESSION(세션 정보)을 조합하는 것이 세션별 통계 분석의 정석이다. 이 조합으로 어떤 세션이 논리적 읽기를 가장 많이 유발하는지, 어떤 세션이 하드 파싱을 폭발적으로 일으키는지를 세션 단위로 특정할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V$SESSTAT과 V$STATNAME을 statistic#으로 조인하고 다시 V$SESSION과 sid로 조인하면, 특정 통계를 이름과 세션 정보와 함께 조회할 수 있다. 예시는 session logical reads가 가장 많은 세션을 찾는 쿼리다. 성능 진단에서 자주 보는 핵심 통계로는 session logical reads(SQL 작업량의 가장 좋은 대리 지표), physical reads, db block gets/consistent gets, parse count (total)/parse count (hard), redo size 등이 있다. 하드 파싱 비율이 높으면 바인드 변수 미사용이나 공유 풀 문제를 의심한다. 누적 통계는 반드시 델타로 해석한다.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Express의 Performance Hub에는 앞서 본 모든 정보를 한 화면에 시각화한 Top Activity가 있다. 활성 세션 히스토리(ASH)를 기반으로 시간 축을 따라 Average Active Sessions를 대기 클래스별 색으로 쌓아 보여 주고, 어느 순간 어떤 SQL·세션·대기가 지배적이었는지를 클릭으로 파고들 수 있다. 이는 V$ 뷰들을 일일이 조회하지 않고도 병목을 시각적으로 좁혀 가는 도구로 실시간 모니터링과 사후 분석 모두에 유용하다. 결국 명령행의 V$ 뷰와 EM Express의 그래픽 화면은 같은 데이터(통계·메트릭·대기·세션)를 서로 다른 방식으로 보여 주는 두 창인 셈이다.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spcAft>
                <a:spcPts val="600"/>
              </a:spcAft>
            </a:pPr>
            <a:r>
              <a:rPr sz="1600" b="1" lang="en-US">
                <a:solidFill>
                  <a:srgbClr val="FFFFFF"/>
                </a:solidFill>
                <a:latin typeface="맑은 고딕"/>
                <a:ea typeface="맑은 고딕"/>
              </a:rPr>
              <a:t>Oracle Database 19c: Administration Workshop</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600"/>
              </a:spcAft>
            </a:pPr>
            <a:r>
              <a:rPr sz="3400" b="1" lang="en-US">
                <a:solidFill>
                  <a:srgbClr val="C0392B"/>
                </a:solidFill>
                <a:latin typeface="맑은 고딕"/>
                <a:ea typeface="맑은 고딕"/>
              </a:rPr>
              <a:t>데이터베이스 성능 모니터링</a:t>
            </a:r>
          </a:p>
          <a:p>
            <a:pPr algn="l">
              <a:spcAft>
                <a:spcPts val="600"/>
              </a:spcAft>
            </a:pPr>
            <a:r>
              <a:rPr sz="3400" b="1" lang="en-US">
                <a:solidFill>
                  <a:srgbClr val="C0392B"/>
                </a:solidFill>
                <a:latin typeface="맑은 고딕"/>
                <a:ea typeface="맑은 고딕"/>
              </a:rPr>
              <a:t>Monitoring Database Performance</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서버 생성 알림 · 메트릭/임계값 · 대기 이벤트 · 세션 · 서비스 · 통계</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spcAft>
                <a:spcPts val="600"/>
              </a:spcAft>
            </a:pPr>
            <a:r>
              <a:rPr sz="2000" b="1" lang="en-US">
                <a:solidFill>
                  <a:srgbClr val="C0392B"/>
                </a:solidFill>
                <a:latin typeface="맑은 고딕"/>
                <a:ea typeface="맑은 고딕"/>
              </a:rPr>
              <a:t>제32장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lang="en-US">
                <a:solidFill>
                  <a:srgbClr val="222222"/>
                </a:solidFill>
                <a:latin typeface="맑은 고딕"/>
                <a:ea typeface="맑은 고딕"/>
              </a:rPr>
              <a:t>•  서버 생성 알림(Server-Generated Alerts)의 개념과 MMON 기반 동작 구조를 설명한다.</a:t>
            </a:r>
          </a:p>
          <a:p>
            <a:pPr algn="l">
              <a:spcAft>
                <a:spcPts val="800"/>
              </a:spcAft>
            </a:pPr>
            <a:r>
              <a:rPr sz="1600" b="0" lang="en-US">
                <a:solidFill>
                  <a:srgbClr val="222222"/>
                </a:solidFill>
                <a:latin typeface="맑은 고딕"/>
                <a:ea typeface="맑은 고딕"/>
              </a:rPr>
              <a:t>•  DBMS_SERVER_ALERT.SET_THRESHOLD로 메트릭의 경고·위험 임계값을 설정한다.</a:t>
            </a:r>
          </a:p>
          <a:p>
            <a:pPr algn="l">
              <a:spcAft>
                <a:spcPts val="800"/>
              </a:spcAft>
            </a:pPr>
            <a:r>
              <a:rPr sz="1600" b="0" lang="en-US">
                <a:solidFill>
                  <a:srgbClr val="222222"/>
                </a:solidFill>
                <a:latin typeface="맑은 고딕"/>
                <a:ea typeface="맑은 고딕"/>
              </a:rPr>
              <a:t>•  상태 기반/상태 없는 알림을 구분하고 DBA_OUTSTANDING_ALERTS·DBA_ALERT_HISTORY로 조회·해제한다.</a:t>
            </a:r>
          </a:p>
          <a:p>
            <a:pPr algn="l">
              <a:spcAft>
                <a:spcPts val="800"/>
              </a:spcAft>
            </a:pPr>
            <a:r>
              <a:rPr sz="1600" b="0" lang="en-US">
                <a:solidFill>
                  <a:srgbClr val="222222"/>
                </a:solidFill>
                <a:latin typeface="맑은 고딕"/>
                <a:ea typeface="맑은 고딕"/>
              </a:rPr>
              <a:t>•  V$SYSSTAT·V$SYSMETRIC·V$METRICNAME로 서버 통계와 메트릭을 조회한다.</a:t>
            </a:r>
          </a:p>
          <a:p>
            <a:pPr algn="l">
              <a:spcAft>
                <a:spcPts val="800"/>
              </a:spcAft>
            </a:pPr>
            <a:r>
              <a:rPr sz="1600" b="0" lang="en-US">
                <a:solidFill>
                  <a:srgbClr val="222222"/>
                </a:solidFill>
                <a:latin typeface="맑은 고딕"/>
                <a:ea typeface="맑은 고딕"/>
              </a:rPr>
              <a:t>•  대기 이벤트와 대기 클래스를 이해하고 V$SYSTEM_EVENT·V$SESSION_WAIT로 모니터링한다.</a:t>
            </a:r>
          </a:p>
          <a:p>
            <a:pPr algn="l">
              <a:spcAft>
                <a:spcPts val="800"/>
              </a:spcAft>
            </a:pPr>
            <a:r>
              <a:rPr sz="1600" b="0" lang="en-US">
                <a:solidFill>
                  <a:srgbClr val="222222"/>
                </a:solidFill>
                <a:latin typeface="맑은 고딕"/>
                <a:ea typeface="맑은 고딕"/>
              </a:rPr>
              <a:t>•  V$SESSION으로 세션 상태·블로킹 세션을 확인하고 ALTER SYSTEM KILL SESSION으로 종료한다.</a:t>
            </a:r>
          </a:p>
          <a:p>
            <a:pPr algn="l">
              <a:spcAft>
                <a:spcPts val="800"/>
              </a:spcAft>
            </a:pPr>
            <a:r>
              <a:rPr sz="1600" b="0" lang="en-US">
                <a:solidFill>
                  <a:srgbClr val="222222"/>
                </a:solidFill>
                <a:latin typeface="맑은 고딕"/>
                <a:ea typeface="맑은 고딕"/>
              </a:rPr>
              <a:t>•  서비스(Service)를 워크로드 단위로 모니터링하고 서비스별 성능 임계값을 설정한다.</a:t>
            </a:r>
          </a:p>
          <a:p>
            <a:pPr algn="l">
              <a:spcAft>
                <a:spcPts val="800"/>
              </a:spcAft>
            </a:pPr>
            <a:r>
              <a:rPr sz="1600" b="0" lang="en-US">
                <a:solidFill>
                  <a:srgbClr val="222222"/>
                </a:solidFill>
                <a:latin typeface="맑은 고딕"/>
                <a:ea typeface="맑은 고딕"/>
              </a:rPr>
              <a:t>•  V$SESSTAT·V$STATNAME로 세션·시스템 통계를 조회·해석한다.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700"/>
              </a:spcAft>
            </a:pPr>
            <a:r>
              <a:rPr sz="1600" b="0" lang="en-US">
                <a:solidFill>
                  <a:srgbClr val="222222"/>
                </a:solidFill>
                <a:latin typeface="맑은 고딕"/>
                <a:ea typeface="맑은 고딕"/>
              </a:rPr>
              <a:t>•  32.1  서버 생성 알림(Server-Generated Alerts) 개념</a:t>
            </a:r>
          </a:p>
          <a:p>
            <a:pPr algn="l">
              <a:spcAft>
                <a:spcPts val="700"/>
              </a:spcAft>
            </a:pPr>
            <a:r>
              <a:rPr sz="1600" b="0" lang="en-US">
                <a:solidFill>
                  <a:srgbClr val="222222"/>
                </a:solidFill>
                <a:latin typeface="맑은 고딕"/>
                <a:ea typeface="맑은 고딕"/>
              </a:rPr>
              <a:t>•  32.2  메트릭과 메트릭 임계값(Threshold) 설정</a:t>
            </a:r>
          </a:p>
          <a:p>
            <a:pPr algn="l">
              <a:spcAft>
                <a:spcPts val="700"/>
              </a:spcAft>
            </a:pPr>
            <a:r>
              <a:rPr sz="1600" b="0" lang="en-US">
                <a:solidFill>
                  <a:srgbClr val="222222"/>
                </a:solidFill>
                <a:latin typeface="맑은 고딕"/>
                <a:ea typeface="맑은 고딕"/>
              </a:rPr>
              <a:t>•  32.3  알림 유형(상태기반/임계값기반) 및 조회·해제</a:t>
            </a:r>
          </a:p>
          <a:p>
            <a:pPr algn="l">
              <a:spcAft>
                <a:spcPts val="700"/>
              </a:spcAft>
            </a:pPr>
            <a:r>
              <a:rPr sz="1600" b="0" lang="en-US">
                <a:solidFill>
                  <a:srgbClr val="222222"/>
                </a:solidFill>
                <a:latin typeface="맑은 고딕"/>
                <a:ea typeface="맑은 고딕"/>
              </a:rPr>
              <a:t>•  32.4  데이터베이스 서버 통계와 메트릭 조회</a:t>
            </a:r>
          </a:p>
          <a:p>
            <a:pPr algn="l">
              <a:spcAft>
                <a:spcPts val="700"/>
              </a:spcAft>
            </a:pPr>
            <a:r>
              <a:rPr sz="1600" b="0" lang="en-US">
                <a:solidFill>
                  <a:srgbClr val="222222"/>
                </a:solidFill>
                <a:latin typeface="맑은 고딕"/>
                <a:ea typeface="맑은 고딕"/>
              </a:rPr>
              <a:t>•  32.5  대기 이벤트(Wait Events) 개념과 대기 클래스</a:t>
            </a:r>
          </a:p>
          <a:p>
            <a:pPr algn="l">
              <a:spcAft>
                <a:spcPts val="700"/>
              </a:spcAft>
            </a:pPr>
            <a:r>
              <a:rPr sz="1600" b="0" lang="en-US">
                <a:solidFill>
                  <a:srgbClr val="222222"/>
                </a:solidFill>
                <a:latin typeface="맑은 고딕"/>
                <a:ea typeface="맑은 고딕"/>
              </a:rPr>
              <a:t>•  32.6  대기 이벤트 모니터링(V$SYSTEM_EVENT 등)</a:t>
            </a:r>
          </a:p>
          <a:p>
            <a:pPr algn="l">
              <a:spcAft>
                <a:spcPts val="700"/>
              </a:spcAft>
            </a:pPr>
            <a:r>
              <a:rPr sz="1600" b="0" lang="en-US">
                <a:solidFill>
                  <a:srgbClr val="222222"/>
                </a:solidFill>
                <a:latin typeface="맑은 고딕"/>
                <a:ea typeface="맑은 고딕"/>
              </a:rPr>
              <a:t>•  32.7  세션 모니터링(V$SESSION, 블로킹, KILL)</a:t>
            </a:r>
          </a:p>
          <a:p>
            <a:pPr algn="l">
              <a:spcAft>
                <a:spcPts val="700"/>
              </a:spcAft>
            </a:pPr>
            <a:r>
              <a:rPr sz="1600" b="0" lang="en-US">
                <a:solidFill>
                  <a:srgbClr val="222222"/>
                </a:solidFill>
                <a:latin typeface="맑은 고딕"/>
                <a:ea typeface="맑은 고딕"/>
              </a:rPr>
              <a:t>•  32.8  서비스(Services) 모니터링 개념</a:t>
            </a:r>
          </a:p>
          <a:p>
            <a:pPr algn="l">
              <a:spcAft>
                <a:spcPts val="700"/>
              </a:spcAft>
            </a:pPr>
            <a:r>
              <a:rPr sz="1600" b="0" lang="en-US">
                <a:solidFill>
                  <a:srgbClr val="222222"/>
                </a:solidFill>
                <a:latin typeface="맑은 고딕"/>
                <a:ea typeface="맑은 고딕"/>
              </a:rPr>
              <a:t>•  32.9  서비스별 성능 임계값 설정</a:t>
            </a:r>
          </a:p>
          <a:p>
            <a:pPr algn="l">
              <a:spcAft>
                <a:spcPts val="700"/>
              </a:spcAft>
            </a:pPr>
            <a:r>
              <a:rPr sz="1600" b="0" lang="en-US">
                <a:solidFill>
                  <a:srgbClr val="222222"/>
                </a:solidFill>
                <a:latin typeface="맑은 고딕"/>
                <a:ea typeface="맑은 고딕"/>
              </a:rPr>
              <a:t>•  32.10  세션·시스템 통계 조회(V$SESSTAT/V$STATNAME)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lang="en-US">
                <a:solidFill>
                  <a:srgbClr val="FFFFFF"/>
                </a:solidFill>
                <a:latin typeface="맑은 고딕"/>
                <a:ea typeface="맑은 고딕"/>
              </a:rPr>
              <a:t>32.1</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lang="en-US">
                <a:solidFill>
                  <a:srgbClr val="FFFFFF"/>
                </a:solidFill>
                <a:latin typeface="맑은 고딕"/>
                <a:ea typeface="맑은 고딕"/>
              </a:rPr>
              <a:t>서버 생성 알림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800"/>
              </a:spcAft>
            </a:pPr>
            <a:r>
              <a:rPr sz="1600" b="0" lang="en-US">
                <a:solidFill>
                  <a:srgbClr val="FFFFFF"/>
                </a:solidFill>
                <a:latin typeface="맑은 고딕"/>
                <a:ea typeface="맑은 고딕"/>
              </a:rPr>
              <a:t>•  MMON이 자동 감시하는 알림</a:t>
            </a:r>
          </a:p>
          <a:p>
            <a:pPr algn="l">
              <a:spcAft>
                <a:spcPts val="800"/>
              </a:spcAft>
            </a:pPr>
            <a:r>
              <a:rPr sz="1600" b="0" lang="en-US">
                <a:solidFill>
                  <a:srgbClr val="FFFFFF"/>
                </a:solidFill>
                <a:latin typeface="맑은 고딕"/>
                <a:ea typeface="맑은 고딕"/>
              </a:rPr>
              <a:t>•  폴링 없는 즉각적 통지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서버 생성 알림이란</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데이터베이스가 스스로 문제를 알린다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전통적 방식: DBA가 스크립트로 상태를 주기적으로 폴링 → 사각지대·부하·유지부담</a:t>
            </a:r>
          </a:p>
          <a:p>
            <a:pPr algn="l">
              <a:spcAft>
                <a:spcPts val="900"/>
              </a:spcAft>
            </a:pPr>
            <a:r>
              <a:rPr sz="1700" b="0" lang="en-US">
                <a:solidFill>
                  <a:srgbClr val="222222"/>
                </a:solidFill>
                <a:latin typeface="맑은 고딕"/>
                <a:ea typeface="맑은 고딕"/>
              </a:rPr>
              <a:t>•  서버 생성 알림: 데이터베이스 서버가 자기 상태를 감시하다 문제 감지 시 자동 발생</a:t>
            </a:r>
          </a:p>
          <a:p>
            <a:pPr algn="l">
              <a:spcAft>
                <a:spcPts val="900"/>
              </a:spcAft>
            </a:pPr>
            <a:r>
              <a:rPr sz="1700" b="0" lang="en-US">
                <a:solidFill>
                  <a:srgbClr val="222222"/>
                </a:solidFill>
                <a:latin typeface="맑은 고딕"/>
                <a:ea typeface="맑은 고딕"/>
              </a:rPr>
              <a:t>•  즉각적(push)·표준화된 감시로 폴링의 한계를 커널 내부에서 해결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서버 생성 알림의 동작</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MMON → 임계값 평가 → 알림 큐</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감시 주체: MMON 백그라운드 프로세스가 SGA의 메트릭을 주기적으로 평가</a:t>
            </a:r>
          </a:p>
          <a:p>
            <a:pPr algn="l">
              <a:spcAft>
                <a:spcPts val="900"/>
              </a:spcAft>
            </a:pPr>
            <a:r>
              <a:rPr sz="1700" b="0" lang="en-US">
                <a:solidFill>
                  <a:srgbClr val="222222"/>
                </a:solidFill>
                <a:latin typeface="맑은 고딕"/>
                <a:ea typeface="맑은 고딕"/>
              </a:rPr>
              <a:t>•  판단 기준: 미리 설정된 경고(Warning)·위험(Critical) 임계값과 비교</a:t>
            </a:r>
          </a:p>
          <a:p>
            <a:pPr algn="l">
              <a:spcAft>
                <a:spcPts val="900"/>
              </a:spcAft>
            </a:pPr>
            <a:r>
              <a:rPr sz="1700" b="0" lang="en-US">
                <a:solidFill>
                  <a:srgbClr val="222222"/>
                </a:solidFill>
                <a:latin typeface="맑은 고딕"/>
                <a:ea typeface="맑은 고딕"/>
              </a:rPr>
              <a:t>•  전달 경로: 임계값 초과 시 ALERT_QUE(Advanced Queuing)에 등록 → EM/구독자 통지</a:t>
            </a:r>
          </a:p>
          <a:p>
            <a:pPr algn="l">
              <a:spcAft>
                <a:spcPts val="900"/>
              </a:spcAft>
            </a:pPr>
            <a:r>
              <a:rPr sz="1700" b="0" lang="en-US">
                <a:solidFill>
                  <a:srgbClr val="222222"/>
                </a:solidFill>
                <a:latin typeface="맑은 고딕"/>
                <a:ea typeface="맑은 고딕"/>
              </a:rPr>
              <a:t>•  전제: STATISTICS_LEVEL이 TYPICAL(기본) 또는 ALL이어야 동작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사전 정의 알림 vs 사용자 정의 알림</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두 부류의 알림</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사전 정의(predefined): 설정 없이 기본 감시 — 테이블스페이스 사용률(기본 85%/97%),</a:t>
            </a:r>
          </a:p>
          <a:p>
            <a:pPr algn="l">
              <a:spcAft>
                <a:spcPts val="900"/>
              </a:spcAft>
            </a:pPr>
            <a:r>
              <a:rPr sz="1700" b="0" lang="en-US">
                <a:solidFill>
                  <a:srgbClr val="222222"/>
                </a:solidFill>
                <a:latin typeface="맑은 고딕"/>
                <a:ea typeface="맑은 고딕"/>
              </a:rPr>
              <a:t>   복구영역 공간 부족, 스냅샷 too old, 재개가능 세션 일시중단 등</a:t>
            </a:r>
          </a:p>
          <a:p>
            <a:pPr algn="l">
              <a:spcAft>
                <a:spcPts val="900"/>
              </a:spcAft>
            </a:pPr>
            <a:r>
              <a:rPr sz="1700" b="0" lang="en-US">
                <a:solidFill>
                  <a:srgbClr val="222222"/>
                </a:solidFill>
                <a:latin typeface="맑은 고딕"/>
                <a:ea typeface="맑은 고딕"/>
              </a:rPr>
              <a:t>•  사용자 정의: 임계값을 지정해야 활성화 — 평균 응답시간, 블로킹 세션 수 등 메트릭 기반</a:t>
            </a:r>
          </a:p>
          <a:p>
            <a:pPr algn="l">
              <a:spcAft>
                <a:spcPts val="900"/>
              </a:spcAft>
            </a:pPr>
            <a:r>
              <a:rPr sz="1700" b="0" lang="en-US">
                <a:solidFill>
                  <a:srgbClr val="222222"/>
                </a:solidFill>
                <a:latin typeface="맑은 고딕"/>
                <a:ea typeface="맑은 고딕"/>
              </a:rPr>
              <a:t>•  알림은 소비 모델 2가지: EM 구독 통지 / 딕셔너리 뷰·DBMS_AQ 직접 조회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lang="en-US">
                <a:solidFill>
                  <a:srgbClr val="FFFFFF"/>
                </a:solidFill>
                <a:latin typeface="맑은 고딕"/>
                <a:ea typeface="맑은 고딕"/>
              </a:rPr>
              <a:t>32.2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lang="en-US">
                <a:solidFill>
                  <a:srgbClr val="FFFFFF"/>
                </a:solidFill>
                <a:latin typeface="맑은 고딕"/>
                <a:ea typeface="맑은 고딕"/>
              </a:rPr>
              <a:t>메트릭과 임계값 설정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800"/>
              </a:spcAft>
            </a:pPr>
            <a:r>
              <a:rPr sz="1600" b="0" lang="en-US">
                <a:solidFill>
                  <a:srgbClr val="FFFFFF"/>
                </a:solidFill>
                <a:latin typeface="맑은 고딕"/>
                <a:ea typeface="맑은 고딕"/>
              </a:rPr>
              <a:t>•  메트릭 = 정규화된 성능 지표</a:t>
            </a:r>
          </a:p>
          <a:p>
            <a:pPr algn="l">
              <a:spcAft>
                <a:spcPts val="800"/>
              </a:spcAft>
            </a:pPr>
            <a:r>
              <a:rPr sz="1600" b="0" lang="en-US">
                <a:solidFill>
                  <a:srgbClr val="FFFFFF"/>
                </a:solidFill>
                <a:latin typeface="맑은 고딕"/>
                <a:ea typeface="맑은 고딕"/>
              </a:rPr>
              <a:t>•  경고·위험 두 단계 임계값</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메트릭 vs 통계</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왜 메트릭이 필요한가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통계(Statistics): 인스턴스 기동 이후 계속 누적되는 원시 카운터(절대값)</a:t>
            </a:r>
          </a:p>
          <a:p>
            <a:pPr algn="l">
              <a:spcAft>
                <a:spcPts val="900"/>
              </a:spcAft>
            </a:pPr>
            <a:r>
              <a:rPr sz="1700" b="0" lang="en-US">
                <a:solidFill>
                  <a:srgbClr val="222222"/>
                </a:solidFill>
                <a:latin typeface="맑은 고딕"/>
                <a:ea typeface="맑은 고딕"/>
              </a:rPr>
              <a:t>•  메트릭(Metric): 통계의 변화율·비율을 단위 시간/작업당으로 정규화한 지표</a:t>
            </a:r>
          </a:p>
          <a:p>
            <a:pPr algn="l">
              <a:spcAft>
                <a:spcPts val="900"/>
              </a:spcAft>
            </a:pPr>
            <a:r>
              <a:rPr sz="1700" b="0" lang="en-US">
                <a:solidFill>
                  <a:srgbClr val="222222"/>
                </a:solidFill>
                <a:latin typeface="맑은 고딕"/>
                <a:ea typeface="맑은 고딕"/>
              </a:rPr>
              <a:t>•  예: 초당 커밋 수, 초당 물리적 읽기, 호출당 응답시간, 테이블스페이스 사용률(%)</a:t>
            </a:r>
          </a:p>
          <a:p>
            <a:pPr algn="l">
              <a:spcAft>
                <a:spcPts val="900"/>
              </a:spcAft>
            </a:pPr>
            <a:r>
              <a:rPr sz="1700" b="0" lang="en-US">
                <a:solidFill>
                  <a:srgbClr val="222222"/>
                </a:solidFill>
                <a:latin typeface="맑은 고딕"/>
                <a:ea typeface="맑은 고딕"/>
              </a:rPr>
              <a:t>•  MMON이 60초·15초 간격으로 계산 → V$SYSMETRIC·V$METRIC으로 노출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경고와 위험, 두 단계 임계값</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알림 피로를 줄이면서 놓치지 않기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경고(Warning): 주의가 필요한 수준 — 미리 대비할 시간 확보</a:t>
            </a:r>
          </a:p>
          <a:p>
            <a:pPr algn="l">
              <a:spcAft>
                <a:spcPts val="900"/>
              </a:spcAft>
            </a:pPr>
            <a:r>
              <a:rPr sz="1700" b="0" lang="en-US">
                <a:solidFill>
                  <a:srgbClr val="222222"/>
                </a:solidFill>
                <a:latin typeface="맑은 고딕"/>
                <a:ea typeface="맑은 고딕"/>
              </a:rPr>
              <a:t>•  위험(Critical): 즉시 조치가 필요한 수준 — 서비스 영향 임박</a:t>
            </a:r>
          </a:p>
          <a:p>
            <a:pPr algn="l">
              <a:spcAft>
                <a:spcPts val="900"/>
              </a:spcAft>
            </a:pPr>
            <a:r>
              <a:rPr sz="1700" b="0" lang="en-US">
                <a:solidFill>
                  <a:srgbClr val="222222"/>
                </a:solidFill>
                <a:latin typeface="맑은 고딕"/>
                <a:ea typeface="맑은 고딕"/>
              </a:rPr>
              <a:t>•  예: 테이블스페이스 85% 경고, 97% 위험</a:t>
            </a:r>
          </a:p>
          <a:p>
            <a:pPr algn="l">
              <a:spcAft>
                <a:spcPts val="900"/>
              </a:spcAft>
            </a:pPr>
            <a:r>
              <a:rPr sz="1700" b="0" lang="en-US">
                <a:solidFill>
                  <a:srgbClr val="222222"/>
                </a:solidFill>
                <a:latin typeface="맑은 고딕"/>
                <a:ea typeface="맑은 고딕"/>
              </a:rPr>
              <a:t>•  19c는 베이스라인 기반 적응형 임계값(adaptive thresholds)도 제공</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임계값 설정: SET_THRESHOLD</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DBMS_SERVER_ALERT 패키지</a:t>
            </a:r>
          </a:p>
        </p:txBody>
      </p:sp>
      <p:sp>
        <p:nvSpPr>
          <p:cNvPr id="5" name="Rectangle 4"/>
          <p:cNvSpPr/>
          <p:nvPr/>
        </p:nvSpPr>
        <p:spPr>
          <a:xfrm>
            <a:off x="640080" y="173736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spcAft>
                <a:spcPts val="100"/>
              </a:spcAft>
            </a:pPr>
            <a:r>
              <a:rPr sz="1300">
                <a:solidFill>
                  <a:srgbClr val="F2F2F2"/>
                </a:solidFill>
                <a:latin typeface="Consolas"/>
              </a:rPr>
              <a:t>BEGIN</a:t>
            </a:r>
          </a:p>
          <a:p>
            <a:pPr>
              <a:spcAft>
                <a:spcPts val="100"/>
              </a:spcAft>
            </a:pPr>
            <a:r>
              <a:rPr sz="1300">
                <a:solidFill>
                  <a:srgbClr val="F2F2F2"/>
                </a:solidFill>
                <a:latin typeface="Consolas"/>
              </a:rPr>
              <a:t>  DBMS_SERVER_ALERT.SET_THRESHOLD(</a:t>
            </a:r>
          </a:p>
          <a:p>
            <a:pPr>
              <a:spcAft>
                <a:spcPts val="100"/>
              </a:spcAft>
            </a:pPr>
            <a:r>
              <a:rPr sz="1300">
                <a:solidFill>
                  <a:srgbClr val="F2F2F2"/>
                </a:solidFill>
                <a:latin typeface="Consolas"/>
              </a:rPr>
              <a:t>    metrics_id              =&gt; DBMS_SERVER_ALERT.CPU_TIME_PER_CALL,</a:t>
            </a:r>
          </a:p>
          <a:p>
            <a:pPr>
              <a:spcAft>
                <a:spcPts val="100"/>
              </a:spcAft>
            </a:pPr>
            <a:r>
              <a:rPr sz="1300">
                <a:solidFill>
                  <a:srgbClr val="F2F2F2"/>
                </a:solidFill>
                <a:latin typeface="Consolas"/>
              </a:rPr>
              <a:t>    warning_operator        =&gt; DBMS_SERVER_ALERT.OPERATOR_GE,</a:t>
            </a:r>
          </a:p>
          <a:p>
            <a:pPr>
              <a:spcAft>
                <a:spcPts val="100"/>
              </a:spcAft>
            </a:pPr>
            <a:r>
              <a:rPr sz="1300">
                <a:solidFill>
                  <a:srgbClr val="F2F2F2"/>
                </a:solidFill>
                <a:latin typeface="Consolas"/>
              </a:rPr>
              <a:t>    warning_value           =&gt; '30',</a:t>
            </a:r>
          </a:p>
          <a:p>
            <a:pPr>
              <a:spcAft>
                <a:spcPts val="100"/>
              </a:spcAft>
            </a:pPr>
            <a:r>
              <a:rPr sz="1300">
                <a:solidFill>
                  <a:srgbClr val="F2F2F2"/>
                </a:solidFill>
                <a:latin typeface="Consolas"/>
              </a:rPr>
              <a:t>    critical_operator       =&gt; DBMS_SERVER_ALERT.OPERATOR_GE,</a:t>
            </a:r>
          </a:p>
          <a:p>
            <a:pPr>
              <a:spcAft>
                <a:spcPts val="100"/>
              </a:spcAft>
            </a:pPr>
            <a:r>
              <a:rPr sz="1300">
                <a:solidFill>
                  <a:srgbClr val="F2F2F2"/>
                </a:solidFill>
                <a:latin typeface="Consolas"/>
              </a:rPr>
              <a:t>    critical_value          =&gt; '60',</a:t>
            </a:r>
          </a:p>
          <a:p>
            <a:pPr>
              <a:spcAft>
                <a:spcPts val="100"/>
              </a:spcAft>
            </a:pPr>
            <a:r>
              <a:rPr sz="1300">
                <a:solidFill>
                  <a:srgbClr val="F2F2F2"/>
                </a:solidFill>
                <a:latin typeface="Consolas"/>
              </a:rPr>
              <a:t>    observation_period      =&gt; 5,      -- 관측 구간(분)</a:t>
            </a:r>
          </a:p>
          <a:p>
            <a:pPr>
              <a:spcAft>
                <a:spcPts val="100"/>
              </a:spcAft>
            </a:pPr>
            <a:r>
              <a:rPr sz="1300">
                <a:solidFill>
                  <a:srgbClr val="F2F2F2"/>
                </a:solidFill>
                <a:latin typeface="Consolas"/>
              </a:rPr>
              <a:t>    consecutive_occurrences =&gt; 3,      -- 연속 3회 초과 시</a:t>
            </a:r>
          </a:p>
          <a:p>
            <a:pPr>
              <a:spcAft>
                <a:spcPts val="100"/>
              </a:spcAft>
            </a:pPr>
            <a:r>
              <a:rPr sz="1300">
                <a:solidFill>
                  <a:srgbClr val="F2F2F2"/>
                </a:solidFill>
                <a:latin typeface="Consolas"/>
              </a:rPr>
              <a:t>    instance_name           =&gt; 'cdb1',</a:t>
            </a:r>
          </a:p>
          <a:p>
            <a:pPr>
              <a:spcAft>
                <a:spcPts val="100"/>
              </a:spcAft>
            </a:pPr>
            <a:r>
              <a:rPr sz="1300">
                <a:solidFill>
                  <a:srgbClr val="F2F2F2"/>
                </a:solidFill>
                <a:latin typeface="Consolas"/>
              </a:rPr>
              <a:t>    object_type             =&gt; DBMS_SERVER_ALERT.OBJECT_TYPE_SERVICE,</a:t>
            </a:r>
          </a:p>
          <a:p>
            <a:pPr>
              <a:spcAft>
                <a:spcPts val="100"/>
              </a:spcAft>
            </a:pPr>
            <a:r>
              <a:rPr sz="1300">
                <a:solidFill>
                  <a:srgbClr val="F2F2F2"/>
                </a:solidFill>
                <a:latin typeface="Consolas"/>
              </a:rPr>
              <a:t>    object_name             =&gt; 'sales_svc');</a:t>
            </a:r>
          </a:p>
          <a:p>
            <a:pPr>
              <a:spcAft>
                <a:spcPts val="100"/>
              </a:spcAft>
            </a:pPr>
            <a:r>
              <a:rPr sz="1300">
                <a:solidFill>
                  <a:srgbClr val="F2F2F2"/>
                </a:solidFill>
                <a:latin typeface="Consolas"/>
              </a:rPr>
              <a:t>END;</a:t>
            </a:r>
          </a:p>
          <a:p>
            <a:pPr>
              <a:spcAft>
                <a:spcPts val="100"/>
              </a:spcAft>
            </a:pPr>
            <a:r>
              <a:rPr sz="1300">
                <a:solidFill>
                  <a:srgbClr val="F2F2F2"/>
                </a:solidFill>
                <a:latin typeface="Consolas"/>
              </a:rPr>
              <a:t>/</a:t>
            </a:r>
          </a:p>
          <a:p>
            <a:pPr>
              <a:spcAft>
                <a:spcPts val="100"/>
              </a:spcAft>
            </a:pPr>
            <a:r>
              <a:rPr sz="1300">
                <a:solidFill>
                  <a:srgbClr val="F2F2F2"/>
                </a:solidFill>
                <a:latin typeface="Consolas"/>
              </a:rPr>
              <a:t>-- 설정 확인: SELECT * FROM dba_thresholds;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lang="en-US">
                <a:solidFill>
                  <a:srgbClr val="FFFFFF"/>
                </a:solidFill>
                <a:latin typeface="맑은 고딕"/>
                <a:ea typeface="맑은 고딕"/>
              </a:rPr>
              <a:t>32.3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lang="en-US">
                <a:solidFill>
                  <a:srgbClr val="FFFFFF"/>
                </a:solidFill>
                <a:latin typeface="맑은 고딕"/>
                <a:ea typeface="맑은 고딕"/>
              </a:rPr>
              <a:t>알림 유형과 조회·해제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800"/>
              </a:spcAft>
            </a:pPr>
            <a:r>
              <a:rPr sz="1600" b="0" lang="en-US">
                <a:solidFill>
                  <a:srgbClr val="FFFFFF"/>
                </a:solidFill>
                <a:latin typeface="맑은 고딕"/>
                <a:ea typeface="맑은 고딕"/>
              </a:rPr>
              <a:t>•  상태 기반 vs 상태 없는 알림</a:t>
            </a:r>
          </a:p>
          <a:p>
            <a:pPr algn="l">
              <a:spcAft>
                <a:spcPts val="800"/>
              </a:spcAft>
            </a:pPr>
            <a:r>
              <a:rPr sz="1600" b="0" lang="en-US">
                <a:solidFill>
                  <a:srgbClr val="FFFFFF"/>
                </a:solidFill>
                <a:latin typeface="맑은 고딕"/>
                <a:ea typeface="맑은 고딕"/>
              </a:rPr>
              <a:t>•  DBA_OUTSTANDING_ALERTS / HISTORY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알림의 두 유형</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수명주기 관점의 분류</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상태 기반(stateful, 임계값 기반): 조건이 성립하는 동안 유지 → 조건 해소 시 자동 해제(self-clearing)</a:t>
            </a:r>
          </a:p>
          <a:p>
            <a:pPr algn="l">
              <a:spcAft>
                <a:spcPts val="900"/>
              </a:spcAft>
            </a:pPr>
            <a:r>
              <a:rPr sz="1700" b="0" lang="en-US">
                <a:solidFill>
                  <a:srgbClr val="222222"/>
                </a:solidFill>
                <a:latin typeface="맑은 고딕"/>
                <a:ea typeface="맑은 고딕"/>
              </a:rPr>
              <a:t>   예: 테이블스페이스 사용률 알림 — 데이터파일 추가로 사용률 하락 시 자동 clear</a:t>
            </a:r>
          </a:p>
          <a:p>
            <a:pPr algn="l">
              <a:spcAft>
                <a:spcPts val="900"/>
              </a:spcAft>
            </a:pPr>
            <a:r>
              <a:rPr sz="1700" b="0" lang="en-US">
                <a:solidFill>
                  <a:srgbClr val="222222"/>
                </a:solidFill>
                <a:latin typeface="맑은 고딕"/>
                <a:ea typeface="맑은 고딕"/>
              </a:rPr>
              <a:t>•  상태 없는(stateless) 이벤트성: 사건 발생 자체가 알림, 자동 해제 개념 없음</a:t>
            </a:r>
          </a:p>
          <a:p>
            <a:pPr algn="l">
              <a:spcAft>
                <a:spcPts val="900"/>
              </a:spcAft>
            </a:pPr>
            <a:r>
              <a:rPr sz="1700" b="0" lang="en-US">
                <a:solidFill>
                  <a:srgbClr val="222222"/>
                </a:solidFill>
                <a:latin typeface="맑은 고딕"/>
                <a:ea typeface="맑은 고딕"/>
              </a:rPr>
              <a:t>   예: Snapshot too old, Resumable session suspended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알림 조회와 해제</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두 개의 딕셔너리 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DBA_OUTSTANDING_ALERTS: 현재 미해결(살아있는) 상태 기반 알림 → "지금 무엇이 문제인가"</a:t>
            </a:r>
          </a:p>
          <a:p>
            <a:pPr algn="l">
              <a:spcAft>
                <a:spcPts val="900"/>
              </a:spcAft>
            </a:pPr>
            <a:r>
              <a:rPr sz="1700" b="0" lang="en-US">
                <a:solidFill>
                  <a:srgbClr val="222222"/>
                </a:solidFill>
                <a:latin typeface="맑은 고딕"/>
                <a:ea typeface="맑은 고딕"/>
              </a:rPr>
              <a:t>•  DBA_ALERT_HISTORY: 해제·이벤트성 포함 전체 이력 → "그동안 어떤 알림이 있었나"</a:t>
            </a:r>
          </a:p>
          <a:p>
            <a:pPr algn="l">
              <a:spcAft>
                <a:spcPts val="900"/>
              </a:spcAft>
            </a:pPr>
            <a:r>
              <a:rPr sz="1700" b="0" lang="en-US">
                <a:solidFill>
                  <a:srgbClr val="222222"/>
                </a:solidFill>
                <a:latin typeface="맑은 고딕"/>
                <a:ea typeface="맑은 고딕"/>
              </a:rPr>
              <a:t>•  message_level: 값이 작을수록 심각(위험 &lt; 경고)</a:t>
            </a:r>
          </a:p>
          <a:p>
            <a:pPr algn="l">
              <a:spcAft>
                <a:spcPts val="900"/>
              </a:spcAft>
            </a:pPr>
            <a:r>
              <a:rPr sz="1700" b="0" lang="en-US">
                <a:solidFill>
                  <a:srgbClr val="222222"/>
                </a:solidFill>
                <a:latin typeface="맑은 고딕"/>
                <a:ea typeface="맑은 고딕"/>
              </a:rPr>
              <a:t>•  suggested_action: 데이터베이스가 권고하는 조치 안내 포함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알림 조회 실습</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outstanding / history</a:t>
            </a:r>
          </a:p>
        </p:txBody>
      </p:sp>
      <p:sp>
        <p:nvSpPr>
          <p:cNvPr id="5" name="Rectangle 4"/>
          <p:cNvSpPr/>
          <p:nvPr/>
        </p:nvSpPr>
        <p:spPr>
          <a:xfrm>
            <a:off x="640080" y="173736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spcAft>
                <a:spcPts val="100"/>
              </a:spcAft>
            </a:pPr>
            <a:r>
              <a:rPr sz="1300">
                <a:solidFill>
                  <a:srgbClr val="F2F2F2"/>
                </a:solidFill>
                <a:latin typeface="Consolas"/>
              </a:rPr>
              <a:t>-- 현재 미해결 알림</a:t>
            </a:r>
          </a:p>
          <a:p>
            <a:pPr>
              <a:spcAft>
                <a:spcPts val="100"/>
              </a:spcAft>
            </a:pPr>
            <a:r>
              <a:rPr sz="1300">
                <a:solidFill>
                  <a:srgbClr val="F2F2F2"/>
                </a:solidFill>
                <a:latin typeface="Consolas"/>
              </a:rPr>
              <a:t>SQL&gt; SELECT reason, object_type, object_name, message_level, creation_time</a:t>
            </a:r>
          </a:p>
          <a:p>
            <a:pPr>
              <a:spcAft>
                <a:spcPts val="100"/>
              </a:spcAft>
            </a:pPr>
            <a:r>
              <a:rPr sz="1300">
                <a:solidFill>
                  <a:srgbClr val="F2F2F2"/>
                </a:solidFill>
                <a:latin typeface="Consolas"/>
              </a:rPr>
              <a:t>  2       FROM  dba_outstanding_alerts</a:t>
            </a:r>
          </a:p>
          <a:p>
            <a:pPr>
              <a:spcAft>
                <a:spcPts val="100"/>
              </a:spcAft>
            </a:pPr>
            <a:r>
              <a:rPr sz="1300">
                <a:solidFill>
                  <a:srgbClr val="F2F2F2"/>
                </a:solidFill>
                <a:latin typeface="Consolas"/>
              </a:rPr>
              <a:t>  3      ORDER BY creation_time DESC;</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REASON                                OBJECT_TYPE OBJECT_NAME  MESSAGE_LEVEL</a:t>
            </a:r>
          </a:p>
          <a:p>
            <a:pPr>
              <a:spcAft>
                <a:spcPts val="100"/>
              </a:spcAft>
            </a:pPr>
            <a:r>
              <a:rPr sz="1300">
                <a:solidFill>
                  <a:srgbClr val="F2F2F2"/>
                </a:solidFill>
                <a:latin typeface="Consolas"/>
              </a:rPr>
              <a:t>------------------------------------- ----------- ------------ -------------</a:t>
            </a:r>
          </a:p>
          <a:p>
            <a:pPr>
              <a:spcAft>
                <a:spcPts val="100"/>
              </a:spcAft>
            </a:pPr>
            <a:r>
              <a:rPr sz="1300">
                <a:solidFill>
                  <a:srgbClr val="F2F2F2"/>
                </a:solidFill>
                <a:latin typeface="Consolas"/>
              </a:rPr>
              <a:t>Tablespace [USERS] is 87 percent full TABLESPACE  USERS                    5</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 알림 이력(해제된 것 포함)과 권고 조치</a:t>
            </a:r>
          </a:p>
          <a:p>
            <a:pPr>
              <a:spcAft>
                <a:spcPts val="100"/>
              </a:spcAft>
            </a:pPr>
            <a:r>
              <a:rPr sz="1300">
                <a:solidFill>
                  <a:srgbClr val="F2F2F2"/>
                </a:solidFill>
                <a:latin typeface="Consolas"/>
              </a:rPr>
              <a:t>SQL&gt; SELECT reason, resolution, suggested_action</a:t>
            </a:r>
          </a:p>
          <a:p>
            <a:pPr>
              <a:spcAft>
                <a:spcPts val="100"/>
              </a:spcAft>
            </a:pPr>
            <a:r>
              <a:rPr sz="1300">
                <a:solidFill>
                  <a:srgbClr val="F2F2F2"/>
                </a:solidFill>
                <a:latin typeface="Consolas"/>
              </a:rPr>
              <a:t>  2       FROM  dba_alert_history</a:t>
            </a:r>
          </a:p>
          <a:p>
            <a:pPr>
              <a:spcAft>
                <a:spcPts val="100"/>
              </a:spcAft>
            </a:pPr>
            <a:r>
              <a:rPr sz="1300">
                <a:solidFill>
                  <a:srgbClr val="F2F2F2"/>
                </a:solidFill>
                <a:latin typeface="Consolas"/>
              </a:rPr>
              <a:t>  3      WHERE  object_name = 'USERS';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lang="en-US">
                <a:solidFill>
                  <a:srgbClr val="FFFFFF"/>
                </a:solidFill>
                <a:latin typeface="맑은 고딕"/>
                <a:ea typeface="맑은 고딕"/>
              </a:rPr>
              <a:t>32.4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lang="en-US">
                <a:solidFill>
                  <a:srgbClr val="FFFFFF"/>
                </a:solidFill>
                <a:latin typeface="맑은 고딕"/>
                <a:ea typeface="맑은 고딕"/>
              </a:rPr>
              <a:t>서버 통계와 메트릭 조회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800"/>
              </a:spcAft>
            </a:pPr>
            <a:r>
              <a:rPr sz="1600" b="0" lang="en-US">
                <a:solidFill>
                  <a:srgbClr val="FFFFFF"/>
                </a:solidFill>
                <a:latin typeface="맑은 고딕"/>
                <a:ea typeface="맑은 고딕"/>
              </a:rPr>
              <a:t>•  통계 vs 메트릭</a:t>
            </a:r>
          </a:p>
          <a:p>
            <a:pPr algn="l">
              <a:spcAft>
                <a:spcPts val="800"/>
              </a:spcAft>
            </a:pPr>
            <a:r>
              <a:rPr sz="1600" b="0" lang="en-US">
                <a:solidFill>
                  <a:srgbClr val="FFFFFF"/>
                </a:solidFill>
                <a:latin typeface="맑은 고딕"/>
                <a:ea typeface="맑은 고딕"/>
              </a:rPr>
              <a:t>•  V$SYSSTAT · V$SYSMETRIC · V$METRICNAME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통계와 메트릭의 두 층위</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상황에 따라 오간다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통계(V$SYSSTAT): 누적 카운터 → 구간 델타로 해석 ("누적 총량·비율")</a:t>
            </a:r>
          </a:p>
          <a:p>
            <a:pPr algn="l">
              <a:spcAft>
                <a:spcPts val="900"/>
              </a:spcAft>
            </a:pPr>
            <a:r>
              <a:rPr sz="1700" b="0" lang="en-US">
                <a:solidFill>
                  <a:srgbClr val="222222"/>
                </a:solidFill>
                <a:latin typeface="맑은 고딕"/>
                <a:ea typeface="맑은 고딕"/>
              </a:rPr>
              <a:t>•  메트릭(V$SYSMETRIC): 단위 시간당 정규화 값 ("지금 얼마나 바쁜가")</a:t>
            </a:r>
          </a:p>
          <a:p>
            <a:pPr algn="l">
              <a:spcAft>
                <a:spcPts val="900"/>
              </a:spcAft>
            </a:pPr>
            <a:r>
              <a:rPr sz="1700" b="0" lang="en-US">
                <a:solidFill>
                  <a:srgbClr val="222222"/>
                </a:solidFill>
                <a:latin typeface="맑은 고딕"/>
                <a:ea typeface="맑은 고딕"/>
              </a:rPr>
              <a:t>•  대표 통계: user commits, session logical reads, physical reads, parse count</a:t>
            </a:r>
          </a:p>
          <a:p>
            <a:pPr algn="l">
              <a:spcAft>
                <a:spcPts val="900"/>
              </a:spcAft>
            </a:pPr>
            <a:r>
              <a:rPr sz="1700" b="0" lang="en-US">
                <a:solidFill>
                  <a:srgbClr val="222222"/>
                </a:solidFill>
                <a:latin typeface="맑은 고딕"/>
                <a:ea typeface="맑은 고딕"/>
              </a:rPr>
              <a:t>•  대표 메트릭: Average Active Sessions, Host CPU Utilization(%), Logons Per Sec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시스템 통계 조회: V$SYSSTAT</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누적 카운터</a:t>
            </a:r>
          </a:p>
        </p:txBody>
      </p:sp>
      <p:sp>
        <p:nvSpPr>
          <p:cNvPr id="5" name="Rectangle 4"/>
          <p:cNvSpPr/>
          <p:nvPr/>
        </p:nvSpPr>
        <p:spPr>
          <a:xfrm>
            <a:off x="640080" y="173736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spcAft>
                <a:spcPts val="100"/>
              </a:spcAft>
            </a:pPr>
            <a:r>
              <a:rPr sz="1300">
                <a:solidFill>
                  <a:srgbClr val="F2F2F2"/>
                </a:solidFill>
                <a:latin typeface="Consolas"/>
              </a:rPr>
              <a:t>SQL&gt; SELECT name, value FROM v$sysstat</a:t>
            </a:r>
          </a:p>
          <a:p>
            <a:pPr>
              <a:spcAft>
                <a:spcPts val="100"/>
              </a:spcAft>
            </a:pPr>
            <a:r>
              <a:rPr sz="1300">
                <a:solidFill>
                  <a:srgbClr val="F2F2F2"/>
                </a:solidFill>
                <a:latin typeface="Consolas"/>
              </a:rPr>
              <a:t>  2      WHERE name IN ('user commits','session logical reads',</a:t>
            </a:r>
          </a:p>
          <a:p>
            <a:pPr>
              <a:spcAft>
                <a:spcPts val="100"/>
              </a:spcAft>
            </a:pPr>
            <a:r>
              <a:rPr sz="1300">
                <a:solidFill>
                  <a:srgbClr val="F2F2F2"/>
                </a:solidFill>
                <a:latin typeface="Consolas"/>
              </a:rPr>
              <a:t>  3                     'physical reads','parse count (hard)');</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NAME                              VALUE</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user commits                       184203</a:t>
            </a:r>
          </a:p>
          <a:p>
            <a:pPr>
              <a:spcAft>
                <a:spcPts val="100"/>
              </a:spcAft>
            </a:pPr>
            <a:r>
              <a:rPr sz="1300">
                <a:solidFill>
                  <a:srgbClr val="F2F2F2"/>
                </a:solidFill>
                <a:latin typeface="Consolas"/>
              </a:rPr>
              <a:t>session logical reads            51203847</a:t>
            </a:r>
          </a:p>
          <a:p>
            <a:pPr>
              <a:spcAft>
                <a:spcPts val="100"/>
              </a:spcAft>
            </a:pPr>
            <a:r>
              <a:rPr sz="1300">
                <a:solidFill>
                  <a:srgbClr val="F2F2F2"/>
                </a:solidFill>
                <a:latin typeface="Consolas"/>
              </a:rPr>
              <a:t>physical reads                     892014</a:t>
            </a:r>
          </a:p>
          <a:p>
            <a:pPr>
              <a:spcAft>
                <a:spcPts val="100"/>
              </a:spcAft>
            </a:pPr>
            <a:r>
              <a:rPr sz="1300">
                <a:solidFill>
                  <a:srgbClr val="F2F2F2"/>
                </a:solidFill>
                <a:latin typeface="Consolas"/>
              </a:rPr>
              <a:t>parse count (hard)                  20713</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 이름↔번호 매핑은 V$STATNAME, 세션별 값은 V$SESSTAT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시스템 메트릭 뷰</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V$SYSMETRIC · V$METRIC · V$METRICNAME</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V$SYSMETRIC: MMON이 계산한 최근 시스템 메트릭(METRIC_NAME/VALUE/INTERVAL)</a:t>
            </a:r>
          </a:p>
          <a:p>
            <a:pPr algn="l">
              <a:spcAft>
                <a:spcPts val="900"/>
              </a:spcAft>
            </a:pPr>
            <a:r>
              <a:rPr sz="1700" b="0" lang="en-US">
                <a:solidFill>
                  <a:srgbClr val="222222"/>
                </a:solidFill>
                <a:latin typeface="맑은 고딕"/>
                <a:ea typeface="맑은 고딕"/>
              </a:rPr>
              <a:t>•  V$SYSMETRIC_HISTORY: 같은 메트릭의 최근 이력(대략 1시간) 시계열</a:t>
            </a:r>
          </a:p>
          <a:p>
            <a:pPr algn="l">
              <a:spcAft>
                <a:spcPts val="900"/>
              </a:spcAft>
            </a:pPr>
            <a:r>
              <a:rPr sz="1700" b="0" lang="en-US">
                <a:solidFill>
                  <a:srgbClr val="222222"/>
                </a:solidFill>
                <a:latin typeface="맑은 고딕"/>
                <a:ea typeface="맑은 고딕"/>
              </a:rPr>
              <a:t>•  V$METRICNAME: 메트릭의 이름·그룹·단위 정의(카탈로그)</a:t>
            </a:r>
          </a:p>
          <a:p>
            <a:pPr algn="l">
              <a:spcAft>
                <a:spcPts val="900"/>
              </a:spcAft>
            </a:pPr>
            <a:r>
              <a:rPr sz="1700" b="0" lang="en-US">
                <a:solidFill>
                  <a:srgbClr val="222222"/>
                </a:solidFill>
                <a:latin typeface="맑은 고딕"/>
                <a:ea typeface="맑은 고딕"/>
              </a:rPr>
              <a:t>•  V$METRIC / V$METRIC_HISTORY: 전체 메트릭 그룹의 현재값 / 이력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lang="en-US">
                <a:solidFill>
                  <a:srgbClr val="FFFFFF"/>
                </a:solidFill>
                <a:latin typeface="맑은 고딕"/>
                <a:ea typeface="맑은 고딕"/>
              </a:rPr>
              <a:t>32.5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lang="en-US">
                <a:solidFill>
                  <a:srgbClr val="FFFFFF"/>
                </a:solidFill>
                <a:latin typeface="맑은 고딕"/>
                <a:ea typeface="맑은 고딕"/>
              </a:rPr>
              <a:t>대기 이벤트와 대기 클래스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800"/>
              </a:spcAft>
            </a:pPr>
            <a:r>
              <a:rPr sz="1600" b="0" lang="en-US">
                <a:solidFill>
                  <a:srgbClr val="FFFFFF"/>
                </a:solidFill>
                <a:latin typeface="맑은 고딕"/>
                <a:ea typeface="맑은 고딕"/>
              </a:rPr>
              <a:t>•  세션이 무엇을 기다리는가</a:t>
            </a:r>
          </a:p>
          <a:p>
            <a:pPr algn="l">
              <a:spcAft>
                <a:spcPts val="800"/>
              </a:spcAft>
            </a:pPr>
            <a:r>
              <a:rPr sz="1600" b="0" lang="en-US">
                <a:solidFill>
                  <a:srgbClr val="FFFFFF"/>
                </a:solidFill>
                <a:latin typeface="맑은 고딕"/>
                <a:ea typeface="맑은 고딕"/>
              </a:rPr>
              <a:t>•  병목의 성격을 분류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대기 이벤트란</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DB Time = CPU 시간 + 대기 시간</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세션이 자원(블록·락·래치·네트워크)을 기다리며 소비한 시간 = 대기(wait)</a:t>
            </a:r>
          </a:p>
          <a:p>
            <a:pPr algn="l">
              <a:spcAft>
                <a:spcPts val="900"/>
              </a:spcAft>
            </a:pPr>
            <a:r>
              <a:rPr sz="1700" b="0" lang="en-US">
                <a:solidFill>
                  <a:srgbClr val="222222"/>
                </a:solidFill>
                <a:latin typeface="맑은 고딕"/>
                <a:ea typeface="맑은 고딕"/>
              </a:rPr>
              <a:t>•  무엇을 기다렸는지 이름으로 구분한 것 = 대기 이벤트(Wait Event)</a:t>
            </a:r>
          </a:p>
          <a:p>
            <a:pPr algn="l">
              <a:spcAft>
                <a:spcPts val="900"/>
              </a:spcAft>
            </a:pPr>
            <a:r>
              <a:rPr sz="1700" b="0" lang="en-US">
                <a:solidFill>
                  <a:srgbClr val="222222"/>
                </a:solidFill>
                <a:latin typeface="맑은 고딕"/>
                <a:ea typeface="맑은 고딕"/>
              </a:rPr>
              <a:t>•  응답 지연의 실체는 CPU를 쓴 시간이 아니라 기다린 시간</a:t>
            </a:r>
          </a:p>
          <a:p>
            <a:pPr algn="l">
              <a:spcAft>
                <a:spcPts val="900"/>
              </a:spcAft>
            </a:pPr>
            <a:r>
              <a:rPr sz="1700" b="0" lang="en-US">
                <a:solidFill>
                  <a:srgbClr val="222222"/>
                </a:solidFill>
                <a:latin typeface="맑은 고딕"/>
                <a:ea typeface="맑은 고딕"/>
              </a:rPr>
              <a:t>•  어떤 대기가 DB Time을 많이 잡아먹는지 → 병목의 성격 파악</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주요 대기 클래스</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수백 이벤트를 성격별로 묶는다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User I/O: db file sequential read(인덱스), db file scattered read(풀스캔)</a:t>
            </a:r>
          </a:p>
          <a:p>
            <a:pPr algn="l">
              <a:spcAft>
                <a:spcPts val="900"/>
              </a:spcAft>
            </a:pPr>
            <a:r>
              <a:rPr sz="1700" b="0" lang="en-US">
                <a:solidFill>
                  <a:srgbClr val="222222"/>
                </a:solidFill>
                <a:latin typeface="맑은 고딕"/>
                <a:ea typeface="맑은 고딕"/>
              </a:rPr>
              <a:t>•  System I/O: db file parallel write(DBWn), log file parallel write(LGWR)</a:t>
            </a:r>
          </a:p>
          <a:p>
            <a:pPr algn="l">
              <a:spcAft>
                <a:spcPts val="900"/>
              </a:spcAft>
            </a:pPr>
            <a:r>
              <a:rPr sz="1700" b="0" lang="en-US">
                <a:solidFill>
                  <a:srgbClr val="222222"/>
                </a:solidFill>
                <a:latin typeface="맑은 고딕"/>
                <a:ea typeface="맑은 고딕"/>
              </a:rPr>
              <a:t>•  Concurrency: buffer busy waits, latch — 동시성 경합</a:t>
            </a:r>
          </a:p>
          <a:p>
            <a:pPr algn="l">
              <a:spcAft>
                <a:spcPts val="900"/>
              </a:spcAft>
            </a:pPr>
            <a:r>
              <a:rPr sz="1700" b="0" lang="en-US">
                <a:solidFill>
                  <a:srgbClr val="222222"/>
                </a:solidFill>
                <a:latin typeface="맑은 고딕"/>
                <a:ea typeface="맑은 고딕"/>
              </a:rPr>
              <a:t>•  Application: enq: TX - row lock contention — 행 락 경합</a:t>
            </a:r>
          </a:p>
          <a:p>
            <a:pPr algn="l">
              <a:spcAft>
                <a:spcPts val="900"/>
              </a:spcAft>
            </a:pPr>
            <a:r>
              <a:rPr sz="1700" b="0" lang="en-US">
                <a:solidFill>
                  <a:srgbClr val="222222"/>
                </a:solidFill>
                <a:latin typeface="맑은 고딕"/>
                <a:ea typeface="맑은 고딕"/>
              </a:rPr>
              <a:t>•  Commit: log file sync — 커밋 시 리두 기록 완료 대기</a:t>
            </a:r>
          </a:p>
          <a:p>
            <a:pPr algn="l">
              <a:spcAft>
                <a:spcPts val="900"/>
              </a:spcAft>
            </a:pPr>
            <a:r>
              <a:rPr sz="1700" b="0" lang="en-US">
                <a:solidFill>
                  <a:srgbClr val="222222"/>
                </a:solidFill>
                <a:latin typeface="맑은 고딕"/>
                <a:ea typeface="맑은 고딕"/>
              </a:rPr>
              <a:t>•  Network / Configuration / Idle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Idle 클래스에 주의</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큰 값이 항상 병목은 아니다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Idle: 세션이 할 일 없이 대기(SQL*Net message from client 등)</a:t>
            </a:r>
          </a:p>
          <a:p>
            <a:pPr algn="l">
              <a:spcAft>
                <a:spcPts val="900"/>
              </a:spcAft>
            </a:pPr>
            <a:r>
              <a:rPr sz="1700" b="0" lang="en-US">
                <a:solidFill>
                  <a:srgbClr val="222222"/>
                </a:solidFill>
                <a:latin typeface="맑은 고딕"/>
                <a:ea typeface="맑은 고딕"/>
              </a:rPr>
              <a:t>•  값이 아무리 커도 데이터베이스의 병목이 아님 → 진단 시 제외</a:t>
            </a:r>
          </a:p>
          <a:p>
            <a:pPr algn="l">
              <a:spcAft>
                <a:spcPts val="900"/>
              </a:spcAft>
            </a:pPr>
            <a:r>
              <a:rPr sz="1700" b="0" lang="en-US">
                <a:solidFill>
                  <a:srgbClr val="222222"/>
                </a:solidFill>
                <a:latin typeface="맑은 고딕"/>
                <a:ea typeface="맑은 고딕"/>
              </a:rPr>
              <a:t>•  초보의 실수: 총 대기 시간 최대 이벤트를 무작정 문제로 지목(대부분 Idle)</a:t>
            </a:r>
          </a:p>
          <a:p>
            <a:pPr algn="l">
              <a:spcAft>
                <a:spcPts val="900"/>
              </a:spcAft>
            </a:pPr>
            <a:r>
              <a:rPr sz="1700" b="0" lang="en-US">
                <a:solidFill>
                  <a:srgbClr val="222222"/>
                </a:solidFill>
                <a:latin typeface="맑은 고딕"/>
                <a:ea typeface="맑은 고딕"/>
              </a:rPr>
              <a:t>•  진단 순서: 클래스(Idle 제외) → 개별 이벤트 → 겪는 세션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lang="en-US">
                <a:solidFill>
                  <a:srgbClr val="FFFFFF"/>
                </a:solidFill>
                <a:latin typeface="맑은 고딕"/>
                <a:ea typeface="맑은 고딕"/>
              </a:rPr>
              <a:t>32.6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lang="en-US">
                <a:solidFill>
                  <a:srgbClr val="FFFFFF"/>
                </a:solidFill>
                <a:latin typeface="맑은 고딕"/>
                <a:ea typeface="맑은 고딕"/>
              </a:rPr>
              <a:t>대기 이벤트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800"/>
              </a:spcAft>
            </a:pPr>
            <a:r>
              <a:rPr sz="1600" b="0" lang="en-US">
                <a:solidFill>
                  <a:srgbClr val="FFFFFF"/>
                </a:solidFill>
                <a:latin typeface="맑은 고딕"/>
                <a:ea typeface="맑은 고딕"/>
              </a:rPr>
              <a:t>•  세 층위의 뷰</a:t>
            </a:r>
          </a:p>
          <a:p>
            <a:pPr algn="l">
              <a:spcAft>
                <a:spcPts val="800"/>
              </a:spcAft>
            </a:pPr>
            <a:r>
              <a:rPr sz="1600" b="0" lang="en-US">
                <a:solidFill>
                  <a:srgbClr val="FFFFFF"/>
                </a:solidFill>
                <a:latin typeface="맑은 고딕"/>
                <a:ea typeface="맑은 고딕"/>
              </a:rPr>
              <a:t>•  시스템 / 세션 / 실시간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대기 이벤트 뷰의 세 층위</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관점에 따라 골라 쓴다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V$SYSTEM_EVENT: 인스턴스 기동 이후 이벤트별 누적(TOTAL_WAITS/TIME_WAITED)</a:t>
            </a:r>
          </a:p>
          <a:p>
            <a:pPr algn="l">
              <a:spcAft>
                <a:spcPts val="900"/>
              </a:spcAft>
            </a:pPr>
            <a:r>
              <a:rPr sz="1700" b="0" lang="en-US">
                <a:solidFill>
                  <a:srgbClr val="222222"/>
                </a:solidFill>
                <a:latin typeface="맑은 고딕"/>
                <a:ea typeface="맑은 고딕"/>
              </a:rPr>
              <a:t>•  V$SESSION_EVENT: 같은 정보를 세션(SID)별로 분해</a:t>
            </a:r>
          </a:p>
          <a:p>
            <a:pPr algn="l">
              <a:spcAft>
                <a:spcPts val="900"/>
              </a:spcAft>
            </a:pPr>
            <a:r>
              <a:rPr sz="1700" b="0" lang="en-US">
                <a:solidFill>
                  <a:srgbClr val="222222"/>
                </a:solidFill>
                <a:latin typeface="맑은 고딕"/>
                <a:ea typeface="맑은 고딕"/>
              </a:rPr>
              <a:t>•  V$SESSION_WAIT / V$SESSION: 세션이 "바로 지금" 기다리는 실시간 상태(STATE)</a:t>
            </a:r>
          </a:p>
          <a:p>
            <a:pPr algn="l">
              <a:spcAft>
                <a:spcPts val="900"/>
              </a:spcAft>
            </a:pPr>
            <a:r>
              <a:rPr sz="1700" b="0" lang="en-US">
                <a:solidFill>
                  <a:srgbClr val="222222"/>
                </a:solidFill>
                <a:latin typeface="맑은 고딕"/>
                <a:ea typeface="맑은 고딕"/>
              </a:rPr>
              <a:t>•  V$EVENT_NAME: 모든 이벤트 정의(이름·클래스·P1/P2/P3 의미)</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대기 모니터링 실습</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누적 + 실시간</a:t>
            </a:r>
          </a:p>
        </p:txBody>
      </p:sp>
      <p:sp>
        <p:nvSpPr>
          <p:cNvPr id="5" name="Rectangle 4"/>
          <p:cNvSpPr/>
          <p:nvPr/>
        </p:nvSpPr>
        <p:spPr>
          <a:xfrm>
            <a:off x="640080" y="173736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spcAft>
                <a:spcPts val="100"/>
              </a:spcAft>
            </a:pPr>
            <a:r>
              <a:rPr sz="1300">
                <a:solidFill>
                  <a:srgbClr val="F2F2F2"/>
                </a:solidFill>
                <a:latin typeface="Consolas"/>
              </a:rPr>
              <a:t>-- (1) Idle 제외 상위 대기 이벤트(인스턴스 누적)</a:t>
            </a:r>
          </a:p>
          <a:p>
            <a:pPr>
              <a:spcAft>
                <a:spcPts val="100"/>
              </a:spcAft>
            </a:pPr>
            <a:r>
              <a:rPr sz="1300">
                <a:solidFill>
                  <a:srgbClr val="F2F2F2"/>
                </a:solidFill>
                <a:latin typeface="Consolas"/>
              </a:rPr>
              <a:t>SQL&gt; SELECT event, total_waits, time_waited, wait_class</a:t>
            </a:r>
          </a:p>
          <a:p>
            <a:pPr>
              <a:spcAft>
                <a:spcPts val="100"/>
              </a:spcAft>
            </a:pPr>
            <a:r>
              <a:rPr sz="1300">
                <a:solidFill>
                  <a:srgbClr val="F2F2F2"/>
                </a:solidFill>
                <a:latin typeface="Consolas"/>
              </a:rPr>
              <a:t>  2       FROM  v$system_event</a:t>
            </a:r>
          </a:p>
          <a:p>
            <a:pPr>
              <a:spcAft>
                <a:spcPts val="100"/>
              </a:spcAft>
            </a:pPr>
            <a:r>
              <a:rPr sz="1300">
                <a:solidFill>
                  <a:srgbClr val="F2F2F2"/>
                </a:solidFill>
                <a:latin typeface="Consolas"/>
              </a:rPr>
              <a:t>  3      WHERE  wait_class &lt;&gt; 'Idle'</a:t>
            </a:r>
          </a:p>
          <a:p>
            <a:pPr>
              <a:spcAft>
                <a:spcPts val="100"/>
              </a:spcAft>
            </a:pPr>
            <a:r>
              <a:rPr sz="1300">
                <a:solidFill>
                  <a:srgbClr val="F2F2F2"/>
                </a:solidFill>
                <a:latin typeface="Consolas"/>
              </a:rPr>
              <a:t>  4      ORDER BY time_waited DESC FETCH FIRST 5 ROWS ONLY;</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EVENT                       TOTAL_WAITS TIME_WAITED WAIT_CLASS</a:t>
            </a:r>
          </a:p>
          <a:p>
            <a:pPr>
              <a:spcAft>
                <a:spcPts val="100"/>
              </a:spcAft>
            </a:pPr>
            <a:r>
              <a:rPr sz="1300">
                <a:solidFill>
                  <a:srgbClr val="F2F2F2"/>
                </a:solidFill>
                <a:latin typeface="Consolas"/>
              </a:rPr>
              <a:t>--------------------------- ----------- ----------- ----------</a:t>
            </a:r>
          </a:p>
          <a:p>
            <a:pPr>
              <a:spcAft>
                <a:spcPts val="100"/>
              </a:spcAft>
            </a:pPr>
            <a:r>
              <a:rPr sz="1300">
                <a:solidFill>
                  <a:srgbClr val="F2F2F2"/>
                </a:solidFill>
                <a:latin typeface="Consolas"/>
              </a:rPr>
              <a:t>db file sequential read          982013      412034 User I/O</a:t>
            </a:r>
          </a:p>
          <a:p>
            <a:pPr>
              <a:spcAft>
                <a:spcPts val="100"/>
              </a:spcAft>
            </a:pPr>
            <a:r>
              <a:rPr sz="1300">
                <a:solidFill>
                  <a:srgbClr val="F2F2F2"/>
                </a:solidFill>
                <a:latin typeface="Consolas"/>
              </a:rPr>
              <a:t>log file sync                    183992       90211 Commit</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 (2) 지금 기다리는 세션(실시간)</a:t>
            </a:r>
          </a:p>
          <a:p>
            <a:pPr>
              <a:spcAft>
                <a:spcPts val="100"/>
              </a:spcAft>
            </a:pPr>
            <a:r>
              <a:rPr sz="1300">
                <a:solidFill>
                  <a:srgbClr val="F2F2F2"/>
                </a:solidFill>
                <a:latin typeface="Consolas"/>
              </a:rPr>
              <a:t>SQL&gt; SELECT sid, event, wait_class, seconds_in_wait, state</a:t>
            </a:r>
          </a:p>
          <a:p>
            <a:pPr>
              <a:spcAft>
                <a:spcPts val="100"/>
              </a:spcAft>
            </a:pPr>
            <a:r>
              <a:rPr sz="1300">
                <a:solidFill>
                  <a:srgbClr val="F2F2F2"/>
                </a:solidFill>
                <a:latin typeface="Consolas"/>
              </a:rPr>
              <a:t>  2       FROM v$session WHERE wait_class &lt;&gt; 'Idle' AND state='WAITING';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lang="en-US">
                <a:solidFill>
                  <a:srgbClr val="FFFFFF"/>
                </a:solidFill>
                <a:latin typeface="맑은 고딕"/>
                <a:ea typeface="맑은 고딕"/>
              </a:rPr>
              <a:t>32.7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lang="en-US">
                <a:solidFill>
                  <a:srgbClr val="FFFFFF"/>
                </a:solidFill>
                <a:latin typeface="맑은 고딕"/>
                <a:ea typeface="맑은 고딕"/>
              </a:rPr>
              <a:t>세션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800"/>
              </a:spcAft>
            </a:pPr>
            <a:r>
              <a:rPr sz="1600" b="0" lang="en-US">
                <a:solidFill>
                  <a:srgbClr val="FFFFFF"/>
                </a:solidFill>
                <a:latin typeface="맑은 고딕"/>
                <a:ea typeface="맑은 고딕"/>
              </a:rPr>
              <a:t>•  V$SESSION 중심</a:t>
            </a:r>
          </a:p>
          <a:p>
            <a:pPr algn="l">
              <a:spcAft>
                <a:spcPts val="800"/>
              </a:spcAft>
            </a:pPr>
            <a:r>
              <a:rPr sz="1600" b="0" lang="en-US">
                <a:solidFill>
                  <a:srgbClr val="FFFFFF"/>
                </a:solidFill>
                <a:latin typeface="맑은 고딕"/>
                <a:ea typeface="맑은 고딕"/>
              </a:rPr>
              <a:t>•  블로킹 세션 · KILL SESSION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V$SESSION: 실시간 모니터링의 중심</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한 행에서 전방위 진단</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SID/SERIAL#, USERNAME, PROGRAM/MACHINE/OSUSER, STATUS(ACTIVE/INACTIVE)</a:t>
            </a:r>
          </a:p>
          <a:p>
            <a:pPr algn="l">
              <a:spcAft>
                <a:spcPts val="900"/>
              </a:spcAft>
            </a:pPr>
            <a:r>
              <a:rPr sz="1700" b="0" lang="en-US">
                <a:solidFill>
                  <a:srgbClr val="222222"/>
                </a:solidFill>
                <a:latin typeface="맑은 고딕"/>
                <a:ea typeface="맑은 고딕"/>
              </a:rPr>
              <a:t>•  SQL_ID, EVENT/WAIT_CLASS/SECONDS_IN_WAIT/STATE(대기 정보 통합)</a:t>
            </a:r>
          </a:p>
          <a:p>
            <a:pPr algn="l">
              <a:spcAft>
                <a:spcPts val="900"/>
              </a:spcAft>
            </a:pPr>
            <a:r>
              <a:rPr sz="1700" b="0" lang="en-US">
                <a:solidFill>
                  <a:srgbClr val="222222"/>
                </a:solidFill>
                <a:latin typeface="맑은 고딕"/>
                <a:ea typeface="맑은 고딕"/>
              </a:rPr>
              <a:t>•  SQL_ID→V$SQL, ROW_WAIT_OBJ#→객체, PADDR→V$PROCESS로 연결</a:t>
            </a:r>
          </a:p>
          <a:p>
            <a:pPr algn="l">
              <a:spcAft>
                <a:spcPts val="900"/>
              </a:spcAft>
            </a:pPr>
            <a:r>
              <a:rPr sz="1700" b="0" lang="en-US">
                <a:solidFill>
                  <a:srgbClr val="222222"/>
                </a:solidFill>
                <a:latin typeface="맑은 고딕"/>
                <a:ea typeface="맑은 고딕"/>
              </a:rPr>
              <a:t>•  INACTIVE인데 트랜잭션 열어 둔 세션은 락 경합 원인 가능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블로킹 세션 확인</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BLOCKING_SESSION으로 근본 원인 추적</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여러 세션이 같은 행·자원을 경쟁 → 블로킹(blocking) 발생</a:t>
            </a:r>
          </a:p>
          <a:p>
            <a:pPr algn="l">
              <a:spcAft>
                <a:spcPts val="900"/>
              </a:spcAft>
            </a:pPr>
            <a:r>
              <a:rPr sz="1700" b="0" lang="en-US">
                <a:solidFill>
                  <a:srgbClr val="222222"/>
                </a:solidFill>
                <a:latin typeface="맑은 고딕"/>
                <a:ea typeface="맑은 고딕"/>
              </a:rPr>
              <a:t>•  막힌 세션은 enq: TX - row lock contention 대기에 걸림</a:t>
            </a:r>
          </a:p>
          <a:p>
            <a:pPr algn="l">
              <a:spcAft>
                <a:spcPts val="900"/>
              </a:spcAft>
            </a:pPr>
            <a:r>
              <a:rPr sz="1700" b="0" lang="en-US">
                <a:solidFill>
                  <a:srgbClr val="222222"/>
                </a:solidFill>
                <a:latin typeface="맑은 고딕"/>
                <a:ea typeface="맑은 고딕"/>
              </a:rPr>
              <a:t>•  V$SESSION.BLOCKING_SESSION = 나를 막고 있는 세션의 SID</a:t>
            </a:r>
          </a:p>
          <a:p>
            <a:pPr algn="l">
              <a:spcAft>
                <a:spcPts val="900"/>
              </a:spcAft>
            </a:pPr>
            <a:r>
              <a:rPr sz="1700" b="0" lang="en-US">
                <a:solidFill>
                  <a:srgbClr val="222222"/>
                </a:solidFill>
                <a:latin typeface="맑은 고딕"/>
                <a:ea typeface="맑은 고딕"/>
              </a:rPr>
              <a:t>•  BLOCKING_SESSION_STATUS로 유효성(VALID) 확인 → 최종 블로커 식별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세션 종료: KILL SESSION</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SID와 SERIAL#를 함께 지정</a:t>
            </a:r>
          </a:p>
        </p:txBody>
      </p:sp>
      <p:sp>
        <p:nvSpPr>
          <p:cNvPr id="5" name="Rectangle 4"/>
          <p:cNvSpPr/>
          <p:nvPr/>
        </p:nvSpPr>
        <p:spPr>
          <a:xfrm>
            <a:off x="640080" y="173736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spcAft>
                <a:spcPts val="100"/>
              </a:spcAft>
            </a:pPr>
            <a:r>
              <a:rPr sz="1300">
                <a:solidFill>
                  <a:srgbClr val="F2F2F2"/>
                </a:solidFill>
                <a:latin typeface="Consolas"/>
              </a:rPr>
              <a:t>-- 블로커 세션(SID 142, SERIAL# 38291) 강제 종료</a:t>
            </a:r>
          </a:p>
          <a:p>
            <a:pPr>
              <a:spcAft>
                <a:spcPts val="100"/>
              </a:spcAft>
            </a:pPr>
            <a:r>
              <a:rPr sz="1300">
                <a:solidFill>
                  <a:srgbClr val="F2F2F2"/>
                </a:solidFill>
                <a:latin typeface="Consolas"/>
              </a:rPr>
              <a:t>SQL&gt; ALTER SYSTEM KILL SESSION '142, 38291' IMMEDIATE;</a:t>
            </a:r>
          </a:p>
          <a:p>
            <a:pPr>
              <a:spcAft>
                <a:spcPts val="100"/>
              </a:spcAft>
            </a:pPr>
            <a:r>
              <a:rPr sz="1300">
                <a:solidFill>
                  <a:srgbClr val="F2F2F2"/>
                </a:solidFill>
                <a:latin typeface="Consolas"/>
              </a:rPr>
              <a:t>System altered.</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 존재하지 않는 세션을 지정하면 오류</a:t>
            </a:r>
          </a:p>
          <a:p>
            <a:pPr>
              <a:spcAft>
                <a:spcPts val="100"/>
              </a:spcAft>
            </a:pPr>
            <a:r>
              <a:rPr sz="1300">
                <a:solidFill>
                  <a:srgbClr val="F2F2F2"/>
                </a:solidFill>
                <a:latin typeface="Consolas"/>
              </a:rPr>
              <a:t>SQL&gt; ALTER SYSTEM KILL SESSION '999, 12345';</a:t>
            </a:r>
          </a:p>
          <a:p>
            <a:pPr>
              <a:spcAft>
                <a:spcPts val="100"/>
              </a:spcAft>
            </a:pPr>
            <a:r>
              <a:rPr sz="1300">
                <a:solidFill>
                  <a:srgbClr val="F2F2F2"/>
                </a:solidFill>
                <a:latin typeface="Consolas"/>
              </a:rPr>
              <a:t>*</a:t>
            </a:r>
          </a:p>
          <a:p>
            <a:pPr>
              <a:spcAft>
                <a:spcPts val="100"/>
              </a:spcAft>
            </a:pPr>
            <a:r>
              <a:rPr sz="1300">
                <a:solidFill>
                  <a:srgbClr val="F2F2F2"/>
                </a:solidFill>
                <a:latin typeface="Consolas"/>
              </a:rPr>
              <a:t>ERROR at line 1:</a:t>
            </a:r>
          </a:p>
          <a:p>
            <a:pPr>
              <a:spcAft>
                <a:spcPts val="100"/>
              </a:spcAft>
            </a:pPr>
            <a:r>
              <a:rPr sz="1300">
                <a:solidFill>
                  <a:srgbClr val="F2F2F2"/>
                </a:solidFill>
                <a:latin typeface="Consolas"/>
              </a:rPr>
              <a:t>ORA-00030: User session ID does not exist.</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 원인: SID/SERIAL# 조합이 유효하지 않음 → V$SESSION으로 먼저 확인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lang="en-US">
                <a:solidFill>
                  <a:srgbClr val="FFFFFF"/>
                </a:solidFill>
                <a:latin typeface="맑은 고딕"/>
                <a:ea typeface="맑은 고딕"/>
              </a:rPr>
              <a:t>32.8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lang="en-US">
                <a:solidFill>
                  <a:srgbClr val="FFFFFF"/>
                </a:solidFill>
                <a:latin typeface="맑은 고딕"/>
                <a:ea typeface="맑은 고딕"/>
              </a:rPr>
              <a:t>서비스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800"/>
              </a:spcAft>
            </a:pPr>
            <a:r>
              <a:rPr sz="1600" b="0" lang="en-US">
                <a:solidFill>
                  <a:srgbClr val="FFFFFF"/>
                </a:solidFill>
                <a:latin typeface="맑은 고딕"/>
                <a:ea typeface="맑은 고딕"/>
              </a:rPr>
              <a:t>•  워크로드 관리 단위</a:t>
            </a:r>
          </a:p>
          <a:p>
            <a:pPr algn="l">
              <a:spcAft>
                <a:spcPts val="800"/>
              </a:spcAft>
            </a:pPr>
            <a:r>
              <a:rPr sz="1600" b="0" lang="en-US">
                <a:solidFill>
                  <a:srgbClr val="FFFFFF"/>
                </a:solidFill>
                <a:latin typeface="맑은 고딕"/>
                <a:ea typeface="맑은 고딕"/>
              </a:rPr>
              <a:t>•  서비스별 성능 분해</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서비스(Service)란</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워크로드를 논리적으로 묶는 이름</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하나의 DB가 여러 워크로드(sales_svc/batch_svc/web_svc)를 감당</a:t>
            </a:r>
          </a:p>
          <a:p>
            <a:pPr algn="l">
              <a:spcAft>
                <a:spcPts val="900"/>
              </a:spcAft>
            </a:pPr>
            <a:r>
              <a:rPr sz="1700" b="0" lang="en-US">
                <a:solidFill>
                  <a:srgbClr val="222222"/>
                </a:solidFill>
                <a:latin typeface="맑은 고딕"/>
                <a:ea typeface="맑은 고딕"/>
              </a:rPr>
              <a:t>•  클라이언트는 SID가 아니라 서비스 이름으로 접속</a:t>
            </a:r>
          </a:p>
          <a:p>
            <a:pPr algn="l">
              <a:spcAft>
                <a:spcPts val="900"/>
              </a:spcAft>
            </a:pPr>
            <a:r>
              <a:rPr sz="1700" b="0" lang="en-US">
                <a:solidFill>
                  <a:srgbClr val="222222"/>
                </a:solidFill>
                <a:latin typeface="맑은 고딕"/>
                <a:ea typeface="맑은 고딕"/>
              </a:rPr>
              <a:t>•  RAC/Data Guard에서 부하 분산·자원 관리의 단위</a:t>
            </a:r>
          </a:p>
          <a:p>
            <a:pPr algn="l">
              <a:spcAft>
                <a:spcPts val="900"/>
              </a:spcAft>
            </a:pPr>
            <a:r>
              <a:rPr sz="1700" b="0" lang="en-US">
                <a:solidFill>
                  <a:srgbClr val="222222"/>
                </a:solidFill>
                <a:latin typeface="맑은 고딕"/>
                <a:ea typeface="맑은 고딕"/>
              </a:rPr>
              <a:t>•  모니터링 가치: "누가 자원을 쓰는가"를 애플리케이션 단위로 분해</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서비스 모니터링 뷰</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V$SERVICES · V$SERVICEMETRIC</a:t>
            </a:r>
          </a:p>
        </p:txBody>
      </p:sp>
      <p:sp>
        <p:nvSpPr>
          <p:cNvPr id="5" name="Rectangle 4"/>
          <p:cNvSpPr/>
          <p:nvPr/>
        </p:nvSpPr>
        <p:spPr>
          <a:xfrm>
            <a:off x="640080" y="173736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spcAft>
                <a:spcPts val="100"/>
              </a:spcAft>
            </a:pPr>
            <a:r>
              <a:rPr sz="1300">
                <a:solidFill>
                  <a:srgbClr val="F2F2F2"/>
                </a:solidFill>
                <a:latin typeface="Consolas"/>
              </a:rPr>
              <a:t>-- 정의된 서비스 목록</a:t>
            </a:r>
          </a:p>
          <a:p>
            <a:pPr>
              <a:spcAft>
                <a:spcPts val="100"/>
              </a:spcAft>
            </a:pPr>
            <a:r>
              <a:rPr sz="1300">
                <a:solidFill>
                  <a:srgbClr val="F2F2F2"/>
                </a:solidFill>
                <a:latin typeface="Consolas"/>
              </a:rPr>
              <a:t>SQL&gt; SELECT name, network_name FROM v$services ORDER BY name;</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NAME         NETWORK_NAME</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sales_svc    sales_svc</a:t>
            </a:r>
          </a:p>
          <a:p>
            <a:pPr>
              <a:spcAft>
                <a:spcPts val="100"/>
              </a:spcAft>
            </a:pPr>
            <a:r>
              <a:rPr sz="1300">
                <a:solidFill>
                  <a:srgbClr val="F2F2F2"/>
                </a:solidFill>
                <a:latin typeface="Consolas"/>
              </a:rPr>
              <a:t>batch_svc    batch_svc</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 서비스별 최근 성능 메트릭</a:t>
            </a:r>
          </a:p>
          <a:p>
            <a:pPr>
              <a:spcAft>
                <a:spcPts val="100"/>
              </a:spcAft>
            </a:pPr>
            <a:r>
              <a:rPr sz="1300">
                <a:solidFill>
                  <a:srgbClr val="F2F2F2"/>
                </a:solidFill>
                <a:latin typeface="Consolas"/>
              </a:rPr>
              <a:t>SQL&gt; SELECT service_name, ROUND(elapsedpercall,2) elapsed_per_call,</a:t>
            </a:r>
          </a:p>
          <a:p>
            <a:pPr>
              <a:spcAft>
                <a:spcPts val="100"/>
              </a:spcAft>
            </a:pPr>
            <a:r>
              <a:rPr sz="1300">
                <a:solidFill>
                  <a:srgbClr val="F2F2F2"/>
                </a:solidFill>
                <a:latin typeface="Consolas"/>
              </a:rPr>
              <a:t>  2         ROUND(cpupercall,2) cpu_per_call, callspersec</a:t>
            </a:r>
          </a:p>
          <a:p>
            <a:pPr>
              <a:spcAft>
                <a:spcPts val="100"/>
              </a:spcAft>
            </a:pPr>
            <a:r>
              <a:rPr sz="1300">
                <a:solidFill>
                  <a:srgbClr val="F2F2F2"/>
                </a:solidFill>
                <a:latin typeface="Consolas"/>
              </a:rPr>
              <a:t>  3       FROM v$servicemetric WHERE intsize_csec &gt; 5000;</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 서비스·모듈·액션별 통계: V$SERV_MOD_ACT_STATS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lang="en-US">
                <a:solidFill>
                  <a:srgbClr val="FFFFFF"/>
                </a:solidFill>
                <a:latin typeface="맑은 고딕"/>
                <a:ea typeface="맑은 고딕"/>
              </a:rPr>
              <a:t>32.9</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lang="en-US">
                <a:solidFill>
                  <a:srgbClr val="FFFFFF"/>
                </a:solidFill>
                <a:latin typeface="맑은 고딕"/>
                <a:ea typeface="맑은 고딕"/>
              </a:rPr>
              <a:t>서비스별 성능 임계값</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800"/>
              </a:spcAft>
            </a:pPr>
            <a:r>
              <a:rPr sz="1600" b="0" lang="en-US">
                <a:solidFill>
                  <a:srgbClr val="FFFFFF"/>
                </a:solidFill>
                <a:latin typeface="맑은 고딕"/>
                <a:ea typeface="맑은 고딕"/>
              </a:rPr>
              <a:t>•  SET_THRESHOLD + 서비스 대상</a:t>
            </a:r>
          </a:p>
          <a:p>
            <a:pPr algn="l">
              <a:spcAft>
                <a:spcPts val="800"/>
              </a:spcAft>
            </a:pPr>
            <a:r>
              <a:rPr sz="1600" b="0" lang="en-US">
                <a:solidFill>
                  <a:srgbClr val="FFFFFF"/>
                </a:solidFill>
                <a:latin typeface="맑은 고딕"/>
                <a:ea typeface="맑은 고딕"/>
              </a:rPr>
              <a:t>•  ELAPSED_TIME_PER_CALL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서비스별 임계값 설정</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object_type =&gt; SERVICE</a:t>
            </a:r>
          </a:p>
        </p:txBody>
      </p:sp>
      <p:sp>
        <p:nvSpPr>
          <p:cNvPr id="5" name="Rectangle 4"/>
          <p:cNvSpPr/>
          <p:nvPr/>
        </p:nvSpPr>
        <p:spPr>
          <a:xfrm>
            <a:off x="640080" y="173736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spcAft>
                <a:spcPts val="100"/>
              </a:spcAft>
            </a:pPr>
            <a:r>
              <a:rPr sz="1300">
                <a:solidFill>
                  <a:srgbClr val="F2F2F2"/>
                </a:solidFill>
                <a:latin typeface="Consolas"/>
              </a:rPr>
              <a:t>-- sales_svc 서비스 호출당 경과시간 임계값</a:t>
            </a:r>
          </a:p>
          <a:p>
            <a:pPr>
              <a:spcAft>
                <a:spcPts val="100"/>
              </a:spcAft>
            </a:pPr>
            <a:r>
              <a:rPr sz="1300">
                <a:solidFill>
                  <a:srgbClr val="F2F2F2"/>
                </a:solidFill>
                <a:latin typeface="Consolas"/>
              </a:rPr>
              <a:t>-- 경고 0.5초(500000us), 위험 1초(1000000us)</a:t>
            </a:r>
          </a:p>
          <a:p>
            <a:pPr>
              <a:spcAft>
                <a:spcPts val="100"/>
              </a:spcAft>
            </a:pPr>
            <a:r>
              <a:rPr sz="1300">
                <a:solidFill>
                  <a:srgbClr val="F2F2F2"/>
                </a:solidFill>
                <a:latin typeface="Consolas"/>
              </a:rPr>
              <a:t>BEGIN</a:t>
            </a:r>
          </a:p>
          <a:p>
            <a:pPr>
              <a:spcAft>
                <a:spcPts val="100"/>
              </a:spcAft>
            </a:pPr>
            <a:r>
              <a:rPr sz="1300">
                <a:solidFill>
                  <a:srgbClr val="F2F2F2"/>
                </a:solidFill>
                <a:latin typeface="Consolas"/>
              </a:rPr>
              <a:t>  DBMS_SERVER_ALERT.SET_THRESHOLD(</a:t>
            </a:r>
          </a:p>
          <a:p>
            <a:pPr>
              <a:spcAft>
                <a:spcPts val="100"/>
              </a:spcAft>
            </a:pPr>
            <a:r>
              <a:rPr sz="1300">
                <a:solidFill>
                  <a:srgbClr val="F2F2F2"/>
                </a:solidFill>
                <a:latin typeface="Consolas"/>
              </a:rPr>
              <a:t>    metrics_id       =&gt; DBMS_SERVER_ALERT.ELAPSED_TIME_PER_CALL,</a:t>
            </a:r>
          </a:p>
          <a:p>
            <a:pPr>
              <a:spcAft>
                <a:spcPts val="100"/>
              </a:spcAft>
            </a:pPr>
            <a:r>
              <a:rPr sz="1300">
                <a:solidFill>
                  <a:srgbClr val="F2F2F2"/>
                </a:solidFill>
                <a:latin typeface="Consolas"/>
              </a:rPr>
              <a:t>    warning_operator =&gt; DBMS_SERVER_ALERT.OPERATOR_GE,</a:t>
            </a:r>
          </a:p>
          <a:p>
            <a:pPr>
              <a:spcAft>
                <a:spcPts val="100"/>
              </a:spcAft>
            </a:pPr>
            <a:r>
              <a:rPr sz="1300">
                <a:solidFill>
                  <a:srgbClr val="F2F2F2"/>
                </a:solidFill>
                <a:latin typeface="Consolas"/>
              </a:rPr>
              <a:t>    warning_value    =&gt; '500000',</a:t>
            </a:r>
          </a:p>
          <a:p>
            <a:pPr>
              <a:spcAft>
                <a:spcPts val="100"/>
              </a:spcAft>
            </a:pPr>
            <a:r>
              <a:rPr sz="1300">
                <a:solidFill>
                  <a:srgbClr val="F2F2F2"/>
                </a:solidFill>
                <a:latin typeface="Consolas"/>
              </a:rPr>
              <a:t>    critical_operator=&gt; DBMS_SERVER_ALERT.OPERATOR_GE,</a:t>
            </a:r>
          </a:p>
          <a:p>
            <a:pPr>
              <a:spcAft>
                <a:spcPts val="100"/>
              </a:spcAft>
            </a:pPr>
            <a:r>
              <a:rPr sz="1300">
                <a:solidFill>
                  <a:srgbClr val="F2F2F2"/>
                </a:solidFill>
                <a:latin typeface="Consolas"/>
              </a:rPr>
              <a:t>    critical_value   =&gt; '1000000',</a:t>
            </a:r>
          </a:p>
          <a:p>
            <a:pPr>
              <a:spcAft>
                <a:spcPts val="100"/>
              </a:spcAft>
            </a:pPr>
            <a:r>
              <a:rPr sz="1300">
                <a:solidFill>
                  <a:srgbClr val="F2F2F2"/>
                </a:solidFill>
                <a:latin typeface="Consolas"/>
              </a:rPr>
              <a:t>    observation_period=&gt; 1, consecutive_occurrences=&gt; 2,</a:t>
            </a:r>
          </a:p>
          <a:p>
            <a:pPr>
              <a:spcAft>
                <a:spcPts val="100"/>
              </a:spcAft>
            </a:pPr>
            <a:r>
              <a:rPr sz="1300">
                <a:solidFill>
                  <a:srgbClr val="F2F2F2"/>
                </a:solidFill>
                <a:latin typeface="Consolas"/>
              </a:rPr>
              <a:t>    instance_name    =&gt; NULL,</a:t>
            </a:r>
          </a:p>
          <a:p>
            <a:pPr>
              <a:spcAft>
                <a:spcPts val="100"/>
              </a:spcAft>
            </a:pPr>
            <a:r>
              <a:rPr sz="1300">
                <a:solidFill>
                  <a:srgbClr val="F2F2F2"/>
                </a:solidFill>
                <a:latin typeface="Consolas"/>
              </a:rPr>
              <a:t>    object_type      =&gt; DBMS_SERVER_ALERT.OBJECT_TYPE_SERVICE,</a:t>
            </a:r>
          </a:p>
          <a:p>
            <a:pPr>
              <a:spcAft>
                <a:spcPts val="100"/>
              </a:spcAft>
            </a:pPr>
            <a:r>
              <a:rPr sz="1300">
                <a:solidFill>
                  <a:srgbClr val="F2F2F2"/>
                </a:solidFill>
                <a:latin typeface="Consolas"/>
              </a:rPr>
              <a:t>    object_name      =&gt; 'sales_svc');</a:t>
            </a:r>
          </a:p>
          <a:p>
            <a:pPr>
              <a:spcAft>
                <a:spcPts val="100"/>
              </a:spcAft>
            </a:pPr>
            <a:r>
              <a:rPr sz="1300">
                <a:solidFill>
                  <a:srgbClr val="F2F2F2"/>
                </a:solidFill>
                <a:latin typeface="Consolas"/>
              </a:rPr>
              <a:t>END;</a:t>
            </a:r>
          </a:p>
          <a:p>
            <a:pPr>
              <a:spcAft>
                <a:spcPts val="100"/>
              </a:spcAft>
            </a:pPr>
            <a:r>
              <a:rPr sz="1300">
                <a:solidFill>
                  <a:srgbClr val="F2F2F2"/>
                </a:solidFill>
                <a:latin typeface="Consolas"/>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lang="en-US">
                <a:solidFill>
                  <a:srgbClr val="FFFFFF"/>
                </a:solidFill>
                <a:latin typeface="맑은 고딕"/>
                <a:ea typeface="맑은 고딕"/>
              </a:rPr>
              <a:t>32.10</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lang="en-US">
                <a:solidFill>
                  <a:srgbClr val="FFFFFF"/>
                </a:solidFill>
                <a:latin typeface="맑은 고딕"/>
                <a:ea typeface="맑은 고딕"/>
              </a:rPr>
              <a:t>세션·시스템 통계 조회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800"/>
              </a:spcAft>
            </a:pPr>
            <a:r>
              <a:rPr sz="1600" b="0" lang="en-US">
                <a:solidFill>
                  <a:srgbClr val="FFFFFF"/>
                </a:solidFill>
                <a:latin typeface="맑은 고딕"/>
                <a:ea typeface="맑은 고딕"/>
              </a:rPr>
              <a:t>•  V$SESSTAT + V$STATNAME + V$SESSION</a:t>
            </a:r>
          </a:p>
          <a:p>
            <a:pPr algn="l">
              <a:spcAft>
                <a:spcPts val="800"/>
              </a:spcAft>
            </a:pPr>
            <a:r>
              <a:rPr sz="1600" b="0" lang="en-US">
                <a:solidFill>
                  <a:srgbClr val="FFFFFF"/>
                </a:solidFill>
                <a:latin typeface="맑은 고딕"/>
                <a:ea typeface="맑은 고딕"/>
              </a:rPr>
              <a:t>•  핵심 통계 해석</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세션별 통계 분석의 정석</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3자 조인</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V$SESSTAT: 세션(SID)별 통계 값, 단 이름 없이 STATISTIC#만 보유</a:t>
            </a:r>
          </a:p>
          <a:p>
            <a:pPr algn="l">
              <a:spcAft>
                <a:spcPts val="900"/>
              </a:spcAft>
            </a:pPr>
            <a:r>
              <a:rPr sz="1700" b="0" lang="en-US">
                <a:solidFill>
                  <a:srgbClr val="222222"/>
                </a:solidFill>
                <a:latin typeface="맑은 고딕"/>
                <a:ea typeface="맑은 고딕"/>
              </a:rPr>
              <a:t>•  V$STATNAME: 통계 번호↔이름 매핑 사전</a:t>
            </a:r>
          </a:p>
          <a:p>
            <a:pPr algn="l">
              <a:spcAft>
                <a:spcPts val="900"/>
              </a:spcAft>
            </a:pPr>
            <a:r>
              <a:rPr sz="1700" b="0" lang="en-US">
                <a:solidFill>
                  <a:srgbClr val="222222"/>
                </a:solidFill>
                <a:latin typeface="맑은 고딕"/>
                <a:ea typeface="맑은 고딕"/>
              </a:rPr>
              <a:t>•  V$SESSION: 세션 정보(사용자·프로그램)</a:t>
            </a:r>
          </a:p>
          <a:p>
            <a:pPr algn="l">
              <a:spcAft>
                <a:spcPts val="900"/>
              </a:spcAft>
            </a:pPr>
            <a:r>
              <a:rPr sz="1700" b="0" lang="en-US">
                <a:solidFill>
                  <a:srgbClr val="222222"/>
                </a:solidFill>
                <a:latin typeface="맑은 고딕"/>
                <a:ea typeface="맑은 고딕"/>
              </a:rPr>
              <a:t>•  → 세 뷰 조인으로 "어떤 세션이 논리적 읽기·하드파싱을 유발하는가" 특정</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통계 3자 조인 실습</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논리적 읽기 상위 세션</a:t>
            </a:r>
          </a:p>
        </p:txBody>
      </p:sp>
      <p:sp>
        <p:nvSpPr>
          <p:cNvPr id="5" name="Rectangle 4"/>
          <p:cNvSpPr/>
          <p:nvPr/>
        </p:nvSpPr>
        <p:spPr>
          <a:xfrm>
            <a:off x="640080" y="173736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spcAft>
                <a:spcPts val="100"/>
              </a:spcAft>
            </a:pPr>
            <a:r>
              <a:rPr sz="1300">
                <a:solidFill>
                  <a:srgbClr val="F2F2F2"/>
                </a:solidFill>
                <a:latin typeface="Consolas"/>
              </a:rPr>
              <a:t>SQL&gt; SELECT s.sid, s.username, st.value AS logical_reads</a:t>
            </a:r>
          </a:p>
          <a:p>
            <a:pPr>
              <a:spcAft>
                <a:spcPts val="100"/>
              </a:spcAft>
            </a:pPr>
            <a:r>
              <a:rPr sz="1300">
                <a:solidFill>
                  <a:srgbClr val="F2F2F2"/>
                </a:solidFill>
                <a:latin typeface="Consolas"/>
              </a:rPr>
              <a:t>  2       FROM  v$sesstat st</a:t>
            </a:r>
          </a:p>
          <a:p>
            <a:pPr>
              <a:spcAft>
                <a:spcPts val="100"/>
              </a:spcAft>
            </a:pPr>
            <a:r>
              <a:rPr sz="1300">
                <a:solidFill>
                  <a:srgbClr val="F2F2F2"/>
                </a:solidFill>
                <a:latin typeface="Consolas"/>
              </a:rPr>
              <a:t>  3       JOIN  v$statname n ON st.statistic# = n.statistic#</a:t>
            </a:r>
          </a:p>
          <a:p>
            <a:pPr>
              <a:spcAft>
                <a:spcPts val="100"/>
              </a:spcAft>
            </a:pPr>
            <a:r>
              <a:rPr sz="1300">
                <a:solidFill>
                  <a:srgbClr val="F2F2F2"/>
                </a:solidFill>
                <a:latin typeface="Consolas"/>
              </a:rPr>
              <a:t>  4       JOIN  v$session  s ON st.sid = s.sid</a:t>
            </a:r>
          </a:p>
          <a:p>
            <a:pPr>
              <a:spcAft>
                <a:spcPts val="100"/>
              </a:spcAft>
            </a:pPr>
            <a:r>
              <a:rPr sz="1300">
                <a:solidFill>
                  <a:srgbClr val="F2F2F2"/>
                </a:solidFill>
                <a:latin typeface="Consolas"/>
              </a:rPr>
              <a:t>  5      WHERE  n.name = 'session logical reads'</a:t>
            </a:r>
          </a:p>
          <a:p>
            <a:pPr>
              <a:spcAft>
                <a:spcPts val="100"/>
              </a:spcAft>
            </a:pPr>
            <a:r>
              <a:rPr sz="1300">
                <a:solidFill>
                  <a:srgbClr val="F2F2F2"/>
                </a:solidFill>
                <a:latin typeface="Consolas"/>
              </a:rPr>
              <a:t>  6        AND  s.username IS NOT NULL</a:t>
            </a:r>
          </a:p>
          <a:p>
            <a:pPr>
              <a:spcAft>
                <a:spcPts val="100"/>
              </a:spcAft>
            </a:pPr>
            <a:r>
              <a:rPr sz="1300">
                <a:solidFill>
                  <a:srgbClr val="F2F2F2"/>
                </a:solidFill>
                <a:latin typeface="Consolas"/>
              </a:rPr>
              <a:t>  7      ORDER BY st.value DESC FETCH FIRST 5 ROWS ONLY;</a:t>
            </a:r>
          </a:p>
          <a:p>
            <a:pPr>
              <a:spcAft>
                <a:spcPts val="100"/>
              </a:spcAft>
            </a:pPr>
            <a:r>
              <a:rPr sz="1300">
                <a:solidFill>
                  <a:srgbClr val="F2F2F2"/>
                </a:solidFill>
                <a:latin typeface="Consolas"/>
              </a:rPr>
              <a:t> </a:t>
            </a:r>
          </a:p>
          <a:p>
            <a:pPr>
              <a:spcAft>
                <a:spcPts val="100"/>
              </a:spcAft>
            </a:pPr>
            <a:r>
              <a:rPr sz="1300">
                <a:solidFill>
                  <a:srgbClr val="F2F2F2"/>
                </a:solidFill>
                <a:latin typeface="Consolas"/>
              </a:rPr>
              <a:t>   SID USERNAME   LOGICAL_READS</a:t>
            </a:r>
          </a:p>
          <a:p>
            <a:pPr>
              <a:spcAft>
                <a:spcPts val="100"/>
              </a:spcAft>
            </a:pPr>
            <a:r>
              <a:rPr sz="1300">
                <a:solidFill>
                  <a:srgbClr val="F2F2F2"/>
                </a:solidFill>
                <a:latin typeface="Consolas"/>
              </a:rPr>
              <a:t>------ ---------- -------------</a:t>
            </a:r>
          </a:p>
          <a:p>
            <a:pPr>
              <a:spcAft>
                <a:spcPts val="100"/>
              </a:spcAft>
            </a:pPr>
            <a:r>
              <a:rPr sz="1300">
                <a:solidFill>
                  <a:srgbClr val="F2F2F2"/>
                </a:solidFill>
                <a:latin typeface="Consolas"/>
              </a:rPr>
              <a:t>   142 SALES          18402934</a:t>
            </a:r>
          </a:p>
          <a:p>
            <a:pPr>
              <a:spcAft>
                <a:spcPts val="100"/>
              </a:spcAft>
            </a:pPr>
            <a:r>
              <a:rPr sz="1300">
                <a:solidFill>
                  <a:srgbClr val="F2F2F2"/>
                </a:solidFill>
                <a:latin typeface="Consolas"/>
              </a:rPr>
              <a:t>   205 HR              9203841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EM Express와 Top Activity</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같은 데이터, 다른 창</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900"/>
              </a:spcAft>
            </a:pPr>
            <a:r>
              <a:rPr sz="1700" b="0" lang="en-US">
                <a:solidFill>
                  <a:srgbClr val="222222"/>
                </a:solidFill>
                <a:latin typeface="맑은 고딕"/>
                <a:ea typeface="맑은 고딕"/>
              </a:rPr>
              <a:t>•  EM Express Performance Hub의 Top Activity: ASH 기반 성능 화면</a:t>
            </a:r>
          </a:p>
          <a:p>
            <a:pPr algn="l">
              <a:spcAft>
                <a:spcPts val="900"/>
              </a:spcAft>
            </a:pPr>
            <a:r>
              <a:rPr sz="1700" b="0" lang="en-US">
                <a:solidFill>
                  <a:srgbClr val="222222"/>
                </a:solidFill>
                <a:latin typeface="맑은 고딕"/>
                <a:ea typeface="맑은 고딕"/>
              </a:rPr>
              <a:t>•  시간 축으로 Average Active Sessions를 대기 클래스별 색으로 누적</a:t>
            </a:r>
          </a:p>
          <a:p>
            <a:pPr algn="l">
              <a:spcAft>
                <a:spcPts val="900"/>
              </a:spcAft>
            </a:pPr>
            <a:r>
              <a:rPr sz="1700" b="0" lang="en-US">
                <a:solidFill>
                  <a:srgbClr val="222222"/>
                </a:solidFill>
                <a:latin typeface="맑은 고딕"/>
                <a:ea typeface="맑은 고딕"/>
              </a:rPr>
              <a:t>•  어느 순간 어떤 SQL·세션·대기가 지배적이었는지 클릭으로 파고들기</a:t>
            </a:r>
          </a:p>
          <a:p>
            <a:pPr algn="l">
              <a:spcAft>
                <a:spcPts val="900"/>
              </a:spcAft>
            </a:pPr>
            <a:r>
              <a:rPr sz="1700" b="0" lang="en-US">
                <a:solidFill>
                  <a:srgbClr val="222222"/>
                </a:solidFill>
                <a:latin typeface="맑은 고딕"/>
                <a:ea typeface="맑은 고딕"/>
              </a:rPr>
              <a:t>•  V$ 뷰(명령행)와 EM Express(그래픽)는 같은 데이터를 보는 두 창</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퀴즈 (Quiz)</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spcAft>
                <a:spcPts val="600"/>
              </a:spcAft>
            </a:pPr>
            <a:r>
              <a:rPr sz="1500" b="0" lang="en-US">
                <a:solidFill>
                  <a:srgbClr val="5A6672"/>
                </a:solidFill>
                <a:latin typeface="맑은 고딕"/>
                <a:ea typeface="맑은 고딕"/>
              </a:rPr>
              <a:t>이해도 점검 (정답은 실습문제 정답지 참고)</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200"/>
              </a:spcAft>
            </a:pPr>
            <a:r>
              <a:rPr sz="1700" b="0" lang="en-US">
                <a:solidFill>
                  <a:srgbClr val="222222"/>
                </a:solidFill>
                <a:latin typeface="맑은 고딕"/>
                <a:ea typeface="맑은 고딕"/>
              </a:rPr>
              <a:t>•  Q1. 메트릭을 주기적으로 평가해 임계값 초과 시 알림을 생성하는 백그라운드 프로세스는?</a:t>
            </a:r>
          </a:p>
          <a:p>
            <a:pPr algn="l">
              <a:spcAft>
                <a:spcPts val="1200"/>
              </a:spcAft>
            </a:pPr>
            <a:r>
              <a:rPr sz="1700" b="0" lang="en-US">
                <a:solidFill>
                  <a:srgbClr val="222222"/>
                </a:solidFill>
                <a:latin typeface="맑은 고딕"/>
                <a:ea typeface="맑은 고딕"/>
              </a:rPr>
              <a:t>•  Q2. 임계값의 두 단계(경고·위험)와 설정 패키지·프로시저는?</a:t>
            </a:r>
          </a:p>
          <a:p>
            <a:pPr algn="l">
              <a:spcAft>
                <a:spcPts val="1200"/>
              </a:spcAft>
            </a:pPr>
            <a:r>
              <a:rPr sz="1700" b="0" lang="en-US">
                <a:solidFill>
                  <a:srgbClr val="222222"/>
                </a:solidFill>
                <a:latin typeface="맑은 고딕"/>
                <a:ea typeface="맑은 고딕"/>
              </a:rPr>
              <a:t>•  Q3. 미해결 상태 알림 뷰와 전체 이력 뷰는 각각 무엇인가?</a:t>
            </a:r>
          </a:p>
          <a:p>
            <a:pPr algn="l">
              <a:spcAft>
                <a:spcPts val="1200"/>
              </a:spcAft>
            </a:pPr>
            <a:r>
              <a:rPr sz="1700" b="0" lang="en-US">
                <a:solidFill>
                  <a:srgbClr val="222222"/>
                </a:solidFill>
                <a:latin typeface="맑은 고딕"/>
                <a:ea typeface="맑은 고딕"/>
              </a:rPr>
              <a:t>•  Q4. db file sequential read가 속한 대기 클래스와, 진단에서 제외하는 클래스는?</a:t>
            </a:r>
          </a:p>
          <a:p>
            <a:pPr algn="l">
              <a:spcAft>
                <a:spcPts val="1200"/>
              </a:spcAft>
            </a:pPr>
            <a:r>
              <a:rPr sz="1700" b="0" lang="en-US">
                <a:solidFill>
                  <a:srgbClr val="222222"/>
                </a:solidFill>
                <a:latin typeface="맑은 고딕"/>
                <a:ea typeface="맑은 고딕"/>
              </a:rPr>
              <a:t>•  Q5. 블로킹 세션을 찾는 V$SESSION 컬럼과 세션 종료 명령 구문은?</a:t>
            </a:r>
          </a:p>
          <a:p>
            <a:pPr algn="l">
              <a:spcAft>
                <a:spcPts val="1200"/>
              </a:spcAft>
            </a:pPr>
            <a:r>
              <a:rPr sz="1700" b="0" lang="en-US">
                <a:solidFill>
                  <a:srgbClr val="222222"/>
                </a:solidFill>
                <a:latin typeface="맑은 고딕"/>
                <a:ea typeface="맑은 고딕"/>
              </a:rPr>
              <a:t>•  Q6. 세션별 통계를 이름과 함께 조회하려면 어떤 세 뷰를 조인하는가?</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요약 (Summary)</a:t>
            </a:r>
          </a:p>
        </p:txBody>
      </p:sp>
      <p:sp>
        <p:nvSpPr>
          <p:cNvPr id="4" name="TextBox 3"/>
          <p:cNvSpPr txBox="1"/>
          <p:nvPr/>
        </p:nvSpPr>
        <p:spPr>
          <a:xfrm>
            <a:off x="640080" y="1280160"/>
            <a:ext cx="10881360" cy="5120640"/>
          </a:xfrm>
          <a:prstGeom prst="rect">
            <a:avLst/>
          </a:prstGeom>
          <a:noFill/>
        </p:spPr>
        <p:txBody>
          <a:bodyPr wrap="square" anchor="t">
            <a:spAutoFit/>
          </a:bodyPr>
          <a:lstStyle/>
          <a:p>
            <a:pPr algn="l">
              <a:spcAft>
                <a:spcPts val="900"/>
              </a:spcAft>
            </a:pPr>
            <a:r>
              <a:rPr sz="1600" b="0" lang="en-US">
                <a:solidFill>
                  <a:srgbClr val="222222"/>
                </a:solidFill>
                <a:latin typeface="맑은 고딕"/>
                <a:ea typeface="맑은 고딕"/>
              </a:rPr>
              <a:t>•  서버 생성 알림은 MMON이 메트릭을 평가해 임계값 초과 시 자동 발생 — 폴링 없는 표준 감시.</a:t>
            </a:r>
          </a:p>
          <a:p>
            <a:pPr algn="l">
              <a:spcAft>
                <a:spcPts val="900"/>
              </a:spcAft>
            </a:pPr>
            <a:r>
              <a:rPr sz="1600" b="0" lang="en-US">
                <a:solidFill>
                  <a:srgbClr val="222222"/>
                </a:solidFill>
                <a:latin typeface="맑은 고딕"/>
                <a:ea typeface="맑은 고딕"/>
              </a:rPr>
              <a:t>•  메트릭은 정규화된 지표, SET_THRESHOLD로 경고·위험 두 단계 임계값 설정.</a:t>
            </a:r>
          </a:p>
          <a:p>
            <a:pPr algn="l">
              <a:spcAft>
                <a:spcPts val="900"/>
              </a:spcAft>
            </a:pPr>
            <a:r>
              <a:rPr sz="1600" b="0" lang="en-US">
                <a:solidFill>
                  <a:srgbClr val="222222"/>
                </a:solidFill>
                <a:latin typeface="맑은 고딕"/>
                <a:ea typeface="맑은 고딕"/>
              </a:rPr>
              <a:t>•  알림은 상태 기반/이벤트성 — DBA_OUTSTANDING_ALERTS(미해결)·DBA_ALERT_HISTORY(이력).</a:t>
            </a:r>
          </a:p>
          <a:p>
            <a:pPr algn="l">
              <a:spcAft>
                <a:spcPts val="900"/>
              </a:spcAft>
            </a:pPr>
            <a:r>
              <a:rPr sz="1600" b="0" lang="en-US">
                <a:solidFill>
                  <a:srgbClr val="222222"/>
                </a:solidFill>
                <a:latin typeface="맑은 고딕"/>
                <a:ea typeface="맑은 고딕"/>
              </a:rPr>
              <a:t>•  통계는 V$SYSSTAT/V$SESSTAT, 메트릭은 V$SYSMETRIC/V$METRIC(정의 V$METRICNAME).</a:t>
            </a:r>
          </a:p>
          <a:p>
            <a:pPr algn="l">
              <a:spcAft>
                <a:spcPts val="900"/>
              </a:spcAft>
            </a:pPr>
            <a:r>
              <a:rPr sz="1600" b="0" lang="en-US">
                <a:solidFill>
                  <a:srgbClr val="222222"/>
                </a:solidFill>
                <a:latin typeface="맑은 고딕"/>
                <a:ea typeface="맑은 고딕"/>
              </a:rPr>
              <a:t>•  대기 이벤트는 대기 클래스로 분류(Idle 제외), V$SYSTEM_EVENT·V$SESSION_WAIT로 조회.</a:t>
            </a:r>
          </a:p>
          <a:p>
            <a:pPr algn="l">
              <a:spcAft>
                <a:spcPts val="900"/>
              </a:spcAft>
            </a:pPr>
            <a:r>
              <a:rPr sz="1600" b="0" lang="en-US">
                <a:solidFill>
                  <a:srgbClr val="222222"/>
                </a:solidFill>
                <a:latin typeface="맑은 고딕"/>
                <a:ea typeface="맑은 고딕"/>
              </a:rPr>
              <a:t>•  V$SESSION으로 세션·블로킹 확인, ALTER SYSTEM KILL SESSION으로 종료.</a:t>
            </a:r>
          </a:p>
          <a:p>
            <a:pPr algn="l">
              <a:spcAft>
                <a:spcPts val="900"/>
              </a:spcAft>
            </a:pPr>
            <a:r>
              <a:rPr sz="1600" b="0" lang="en-US">
                <a:solidFill>
                  <a:srgbClr val="222222"/>
                </a:solidFill>
                <a:latin typeface="맑은 고딕"/>
                <a:ea typeface="맑은 고딕"/>
              </a:rPr>
              <a:t>•  서비스는 워크로드 단위 — V$SERVICES/V$SERVICEMETRIC, 서비스별 임계값 설정.</a:t>
            </a:r>
          </a:p>
          <a:p>
            <a:pPr algn="l">
              <a:spcAft>
                <a:spcPts val="900"/>
              </a:spcAft>
            </a:pPr>
            <a:r>
              <a:rPr sz="1600" b="0" lang="en-US">
                <a:solidFill>
                  <a:srgbClr val="222222"/>
                </a:solidFill>
                <a:latin typeface="맑은 고딕"/>
                <a:ea typeface="맑은 고딕"/>
              </a:rPr>
              <a:t>•  세션 통계는 V$SESSTAT+V$STATNAME+V$SESSION 3자 조인, EM Express Top Activity로 시각화.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t">
            <a:spAutoFit/>
          </a:bodyPr>
          <a:lstStyle/>
          <a:p>
            <a:pPr algn="l">
              <a:spcAft>
                <a:spcPts val="600"/>
              </a:spcAft>
            </a:pPr>
            <a:r>
              <a:rPr sz="2600" b="1" lang="en-US">
                <a:solidFill>
                  <a:srgbClr val="FFFFFF"/>
                </a:solidFill>
                <a:latin typeface="맑은 고딕"/>
                <a:ea typeface="맑은 고딕"/>
              </a:rPr>
              <a:t>실습 32 개요 (Practice Overview)</a:t>
            </a:r>
          </a:p>
        </p:txBody>
      </p:sp>
      <p:sp>
        <p:nvSpPr>
          <p:cNvPr id="4" name="TextBox 3"/>
          <p:cNvSpPr txBox="1"/>
          <p:nvPr/>
        </p:nvSpPr>
        <p:spPr>
          <a:xfrm>
            <a:off x="640080" y="1280160"/>
            <a:ext cx="10881360" cy="5120640"/>
          </a:xfrm>
          <a:prstGeom prst="rect">
            <a:avLst/>
          </a:prstGeom>
          <a:noFill/>
        </p:spPr>
        <p:txBody>
          <a:bodyPr wrap="square" anchor="t">
            <a:spAutoFit/>
          </a:bodyPr>
          <a:lstStyle/>
          <a:p>
            <a:pPr algn="l">
              <a:spcAft>
                <a:spcPts val="900"/>
              </a:spcAft>
            </a:pPr>
            <a:r>
              <a:rPr sz="1600" b="0" lang="en-US">
                <a:solidFill>
                  <a:srgbClr val="222222"/>
                </a:solidFill>
                <a:latin typeface="맑은 고딕"/>
                <a:ea typeface="맑은 고딕"/>
              </a:rPr>
              <a:t>•  실습 01 — 서버 생성 알림 설정(STATISTICS_LEVEL, 알림 인프라)</a:t>
            </a:r>
          </a:p>
          <a:p>
            <a:pPr algn="l">
              <a:spcAft>
                <a:spcPts val="900"/>
              </a:spcAft>
            </a:pPr>
            <a:r>
              <a:rPr sz="1600" b="0" lang="en-US">
                <a:solidFill>
                  <a:srgbClr val="222222"/>
                </a:solidFill>
                <a:latin typeface="맑은 고딕"/>
                <a:ea typeface="맑은 고딕"/>
              </a:rPr>
              <a:t>•  실습 02 — 메트릭 임계값 설정(SET_THRESHOLD/GET_THRESHOLD, DBA_THRESHOLDS)</a:t>
            </a:r>
          </a:p>
          <a:p>
            <a:pPr algn="l">
              <a:spcAft>
                <a:spcPts val="900"/>
              </a:spcAft>
            </a:pPr>
            <a:r>
              <a:rPr sz="1600" b="0" lang="en-US">
                <a:solidFill>
                  <a:srgbClr val="222222"/>
                </a:solidFill>
                <a:latin typeface="맑은 고딕"/>
                <a:ea typeface="맑은 고딕"/>
              </a:rPr>
              <a:t>•  실습 03 — 알림 대응·유형·해제(DBA_OUTSTANDING_ALERTS/HISTORY)</a:t>
            </a:r>
          </a:p>
          <a:p>
            <a:pPr algn="l">
              <a:spcAft>
                <a:spcPts val="900"/>
              </a:spcAft>
            </a:pPr>
            <a:r>
              <a:rPr sz="1600" b="0" lang="en-US">
                <a:solidFill>
                  <a:srgbClr val="222222"/>
                </a:solidFill>
                <a:latin typeface="맑은 고딕"/>
                <a:ea typeface="맑은 고딕"/>
              </a:rPr>
              <a:t>•  실습 04 — 서버 통계/메트릭 조회(V$SYSSTAT/V$SYSMETRIC/V$METRICNAME)</a:t>
            </a:r>
          </a:p>
          <a:p>
            <a:pPr algn="l">
              <a:spcAft>
                <a:spcPts val="900"/>
              </a:spcAft>
            </a:pPr>
            <a:r>
              <a:rPr sz="1600" b="0" lang="en-US">
                <a:solidFill>
                  <a:srgbClr val="222222"/>
                </a:solidFill>
                <a:latin typeface="맑은 고딕"/>
                <a:ea typeface="맑은 고딕"/>
              </a:rPr>
              <a:t>•  실습 05 — 대기 이벤트 모니터링(V$SYSTEM_EVENT/V$SESSION_WAIT)</a:t>
            </a:r>
          </a:p>
          <a:p>
            <a:pPr algn="l">
              <a:spcAft>
                <a:spcPts val="900"/>
              </a:spcAft>
            </a:pPr>
            <a:r>
              <a:rPr sz="1600" b="0" lang="en-US">
                <a:solidFill>
                  <a:srgbClr val="222222"/>
                </a:solidFill>
                <a:latin typeface="맑은 고딕"/>
                <a:ea typeface="맑은 고딕"/>
              </a:rPr>
              <a:t>•  실습 06 — 세션 모니터링(V$SESSION, 블로킹, KILL SESSION)</a:t>
            </a:r>
          </a:p>
          <a:p>
            <a:pPr algn="l">
              <a:spcAft>
                <a:spcPts val="900"/>
              </a:spcAft>
            </a:pPr>
            <a:r>
              <a:rPr sz="1600" b="0" lang="en-US">
                <a:solidFill>
                  <a:srgbClr val="222222"/>
                </a:solidFill>
                <a:latin typeface="맑은 고딕"/>
                <a:ea typeface="맑은 고딕"/>
              </a:rPr>
              <a:t>•  실습 07 — 서비스 모니터링(V$SERVICES/V$SERVICEMETRIC)</a:t>
            </a:r>
          </a:p>
          <a:p>
            <a:pPr algn="l">
              <a:spcAft>
                <a:spcPts val="900"/>
              </a:spcAft>
            </a:pPr>
            <a:r>
              <a:rPr sz="1600" b="0" lang="en-US">
                <a:solidFill>
                  <a:srgbClr val="222222"/>
                </a:solidFill>
                <a:latin typeface="맑은 고딕"/>
                <a:ea typeface="맑은 고딕"/>
              </a:rPr>
              <a:t>•  실습 08 — 통계 정보 조회(V$SESSTAT/V$STATNAME 3자 조인)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
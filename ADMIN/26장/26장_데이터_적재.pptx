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 id="280" r:id="rId32"/>
    <p:sldId id="281" r:id="rId33"/>
    <p:sldId id="282" r:id="rId34"/>
    <p:sldId id="283" r:id="rId35"/>
    <p:sldId id="284" r:id="rId36"/>
    <p:sldId id="285" r:id="rId37"/>
    <p:sldId id="286" r:id="rId38"/>
    <p:sldId id="287" r:id="rId39"/>
    <p:sldId id="288" r:id="rId40"/>
    <p:sldId id="289" r:id="rId41"/>
    <p:sldId id="290" r:id="rId42"/>
    <p:sldId id="291" r:id="rId43"/>
    <p:sldId id="292" r:id="rId44"/>
    <p:sldId id="293" r:id="rId45"/>
    <p:sldId id="294" r:id="rId46"/>
    <p:sldId id="295" r:id="rId47"/>
    <p:sldId id="296" r:id="rId48"/>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notesMaster" Target="notesMasters/notesMaster1.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 Id="rId31" Type="http://schemas.openxmlformats.org/officeDocument/2006/relationships/slide" Target="slides/slide24.xml"/><Relationship Id="rId32" Type="http://schemas.openxmlformats.org/officeDocument/2006/relationships/slide" Target="slides/slide25.xml"/><Relationship Id="rId33" Type="http://schemas.openxmlformats.org/officeDocument/2006/relationships/slide" Target="slides/slide26.xml"/><Relationship Id="rId34" Type="http://schemas.openxmlformats.org/officeDocument/2006/relationships/slide" Target="slides/slide27.xml"/><Relationship Id="rId35" Type="http://schemas.openxmlformats.org/officeDocument/2006/relationships/slide" Target="slides/slide28.xml"/><Relationship Id="rId36" Type="http://schemas.openxmlformats.org/officeDocument/2006/relationships/slide" Target="slides/slide29.xml"/><Relationship Id="rId37" Type="http://schemas.openxmlformats.org/officeDocument/2006/relationships/slide" Target="slides/slide30.xml"/><Relationship Id="rId38" Type="http://schemas.openxmlformats.org/officeDocument/2006/relationships/slide" Target="slides/slide31.xml"/><Relationship Id="rId39" Type="http://schemas.openxmlformats.org/officeDocument/2006/relationships/slide" Target="slides/slide32.xml"/><Relationship Id="rId40" Type="http://schemas.openxmlformats.org/officeDocument/2006/relationships/slide" Target="slides/slide33.xml"/><Relationship Id="rId41" Type="http://schemas.openxmlformats.org/officeDocument/2006/relationships/slide" Target="slides/slide34.xml"/><Relationship Id="rId42" Type="http://schemas.openxmlformats.org/officeDocument/2006/relationships/slide" Target="slides/slide35.xml"/><Relationship Id="rId43" Type="http://schemas.openxmlformats.org/officeDocument/2006/relationships/slide" Target="slides/slide36.xml"/><Relationship Id="rId44" Type="http://schemas.openxmlformats.org/officeDocument/2006/relationships/slide" Target="slides/slide37.xml"/><Relationship Id="rId45" Type="http://schemas.openxmlformats.org/officeDocument/2006/relationships/slide" Target="slides/slide38.xml"/><Relationship Id="rId46" Type="http://schemas.openxmlformats.org/officeDocument/2006/relationships/slide" Target="slides/slide39.xml"/><Relationship Id="rId47" Type="http://schemas.openxmlformats.org/officeDocument/2006/relationships/slide" Target="slides/slide40.xml"/><Relationship Id="rId48" Type="http://schemas.openxmlformats.org/officeDocument/2006/relationships/slide" Target="slides/slide4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5.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6.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7.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8.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9.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SQL*Loader는 운영체제 파일 시스템의 텍스트 데이터를 오라클 테이블로 고속 적재하는 클라이언트 유틸리티로 명령은 sqlldr이다. 25장에서 개요만 다루었다면 이 장은 실무 상세를 다룬다. Data Pump가 오라클과 오라클 사이의 논리적 이동을 담당하는 반면 SQL*Loader는 오라클이 만들지 않은 형식, 즉 다른 DBMS의 언로드 파일이나 스프레드시트에서 내보낸 CSV, 센서·로그가 남긴 고정폭 레코드를 읽어들이는 데 특화되어 있다. 외부 정산 파일 야간 적재, 레거시 이관, 초기 대량 적재, 스테이징 테이블 채우기 등 외부에서 들어오는 데이터를 처리하는 거의 모든 현장에서 사용된다. 이 장의 컨트롤 파일 문법은 28장의 외부 테이블 ORACLE_LOADER 드라이버와도 공유되므로 여기서 확실히 익혀 두면 좋다.</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SQL*Loader는 다섯 종류의 파일을 다룬다. 컨트롤 파일은 어디서 읽어 어느 테이블에 각 필드를 어떻게 해석해 어떤 방식으로 적재할지를 기술하는 로드의 설계도다. 입력 데이터 파일은 실제 적재할 데이터로 컨트롤 파일에 인라인으로 넣을 수도 있다. 로그 파일은 적재 통계와 오류 요약을 남기고, 불량 파일은 타입 변환 실패나 제약 위반으로 거부된 레코드를 원본 형태로 보관하며, 버림 파일은 WHEN 조건에 맞지 않아 선별 제외된 레코드를 보관한다. 실행하면 로더 엔진이 컨트롤 파일을 파싱해 매핑을 결정하고 데이터 파일을 논리 레코드 단위로 읽어 해석한 뒤 선택된 경로로 적재한다. 해석 실패는 불량 파일로, 선별 제외는 버림 파일로 분리되고 정상 레코드만 반영되므로 일부 레코드에 문제가 있어도 전체 적재가 중단되지 않는다.</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컨트롤 파일은 SQL*Loader 작업의 핵심으로 확장자는 관례적으로 점ctl을 쓴다. LOAD DATA는 컨트롤 파일의 시작을 알리는 키워드로 새 데이터를 적재함을 뜻하며, 중단된 작업을 이어받아 재개할 때는 CONTINUE_LOAD DATA를 쓴다. INFILE은 입력 데이터 파일의 경로를 지정하고, INFILE 별표로 지정하면 데이터가 컨트롤 파일 내부의 BEGINDATA 아래 인라인으로 들어 있음을 의미한다. BADFILE과 DISCARDFILE은 각각 거부 레코드와 버림 레코드를 보관할 파일명을 지정하며 생략하면 데이터 파일명 기반의 기본 이름이 쓰인다. 문자열 상수는 따옴표로 감싸고, 키워드는 대소문자를 구분하지 않지만 관례상 대문자로 적어 데이터 필드명과 구분한다.</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이 컨트롤 파일은 employees.csv를 읽어 employees 테이블에 APPEND 방식으로 적재한다. FIELDS TERMINATED BY 쉼표로 필드를 나누고 OPTIONALLY ENCLOSED BY 큰따옴표로 값 안의 쉼표를 안전하게 처리한다. TRAILING NULLCOLS는 후행 필드가 없는 레코드를 NULL로 채워 거부를 막는다. hire_date는 DATE 형식 문자열을 지정 형식으로 변환하고, salary는 콜론 표기로 필드 값을 참조하는 SQL 표현식 TO_NUMBER로 적재 중 가공한다. 이처럼 컨트롤 파일은 위치·타입·변환을 선언적으로 기술한다. 각 컬럼 뒤에 CONSTANT로 상수를 채우거나 SEQUENCE로 순번을 부여할 수도 있어 SQL*Loader는 가벼운 ETL 도구로도 쓰인다.</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INTO TABLE 앞의 키워드는 대상 테이블에 데이터를 어떻게 반영할지를 결정한다. INSERT는 기본값으로 대상 테이블이 반드시 비어 있어야 하며 행이 있으면 오류가 난다. APPEND는 기존 행을 유지한 채 뒤에 이어 넣어 다이렉트 경로와 잘 어울린다. REPLACE는 기존 행을 모두 DELETE한 뒤 넣으므로 DELETE 트리거가 동작하고 언두가 생성된다. TRUNCATE는 기존 행을 TRUNCATE로 제거한 뒤 넣어 훨씬 빠르지만 롤백이 불가능하다. 대량 초기 적재에서 기존 데이터를 완전히 갈아끼울 때는 TRUNCATE와 다이렉트 경로 조합이 흔히 쓰인다. 반영 방식의 선택은 성능과 안전성, 트리거 동작 여부에 직접 영향을 주므로 요구사항에 맞춰 신중히 정한다.</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FIELDS TERMINATED BY는 필드 구분자를 지정한다. CSV는 쉼표, 탭 구분은 16진수 X'09' 또는 WHITESPACE를 쓴다. OPTIONALLY ENCLOSED BY 큰따옴표는 값이 큰따옴표로 감싸질 수 있음을 뜻하며 이 경우 구분자가 값 안에 포함되어도 하나의 필드로 올바르게 인식된다. TRAILING NULLCOLS는 실무에서 매우 자주 쓰인다. 구분자 기반 데이터에서 마지막 몇 필드가 비어 있거나 없는 레코드가 섞여 있을 때 이 옵션이 없으면 필드 개수 부족으로 레코드가 거부되지만, 지정하면 값이 없는 후행 필드를 NULL로 처리해 적재를 계속한다. NULLIF는 조건 시 NULL, DEFAULTIF는 조건 시 기본값, CONSTANT는 고정값, SEQUENCE는 순번을 부여하는 등 다양한 선언적 가공을 지원한다.</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컨트롤 파일에는 INTO TABLE 절을 여러 개 둘 수 있고 각 절에 WHEN 조건을 붙일 수 있다. WHEN은 레코드의 특정 위치나 필드 값을 기준으로 이 레코드를 이 테이블에 넣을지를 판단한다. 예를 들어 한 파일에 여러 유형의 레코드가 섞여 있을 때 첫 글자가 H면 헤더, D면 상세로 보고 WHEN 조건으로 서로 다른 테이블에 나누어 적재할 수 있다. WHEN 조건에 맞지 않는 레코드는 오류가 아니라 버림 대상이 되어 discard 파일로 보내진다. 이 다중 테이블 적재는 하나의 입력 파일을 여러 정규화된 테이블로 분해할 때 매우 유용하며, 레거시 시스템의 혼합 레코드 파일을 관계형 구조로 재구성하는 전형적 기법이다.</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구분자 기반 형식은 각 필드가 쉼표·탭·파이프 같은 특정 구분자로 분리되는 형식이다. 필드 길이가 레코드마다 달라도 되고 사람이 읽기 쉬우며 스프레드시트나 다른 DBMS의 언로드 결과가 대부분 이 형식이다. 컨트롤 파일에서는 FIELDS TERMINATED BY로 구분자를 선언하고 필드 이름만 순서대로 나열하면 된다. 값에 구분자가 포함될 수 있으면 ENCLOSED BY로 감싸는 문자를 지정한다. 장점은 편집이 쉽고 유연하며 대부분의 도구가 CSV를 지원한다는 점이고, 단점은 값 안에 구분자·개행·감싸는 문자가 들어가면 파싱이 까다로워진다는 점이다. 입력 파일을 처음 받으면 앞 몇 줄을 열어 구분자와 감싸는 문자, 헤더 행 존재 여부, 인코딩을 먼저 파악해야 한다.</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이 예에서 세 번째 레코드의 부서명 SALES, EMEA에는 쉼표가 포함되어 있다. 만약 감싸는 문자를 지정하지 않으면 SQL*Loader는 이 쉼표를 필드 구분자로 오인해 필드가 하나 더 있는 것으로 잘못 파싱한다. OPTIONALLY ENCLOSED BY 큰따옴표를 지정했기 때문에 큰따옴표로 감싼 값 안의 쉼표는 구분자가 아니라 값의 일부로 올바르게 인식된다. OPTIONALLY를 붙였으므로 감싸지 않은 다른 값들도 문제없이 처리된다. 만약 모든 값이 항상 감싸져 있다면 OPTIONALLY 없이 ENCLOSED BY만 쓴다. 실무의 CSV는 값에 쉼표·줄바꿈이 흔히 들어가므로 감싸는 문자 처리는 구분자 기반 적재에서 가장 자주 마주치는 주제다.</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고정길이 형식은 각 필드가 레코드 내에서 고정된 컬럼 위치, 즉 시작부터 끝 바이트까지를 차지하는 형식이다. 구분자가 없고 값이 특정 폭에 맞춰 채워지며 메인프레임이나 레거시 시스템의 언로드 파일에서 흔하다. 컨트롤 파일에서는 각 필드에 POSITION 시작 콜론 끝을 지정한다. 이 방식은 구분자 파싱이 필요 없어 빠르고 값 안에 어떤 문자가 있어도 위치로만 잘라내므로 구분자 충돌 문제가 없다. 다만 필드 폭을 늘리려면 전체 레이아웃을 바꿔야 하고 짧은 값에 공백을 채우므로 공간 낭비가 있을 수 있다. 어느 형식이 더 좋다고 단정할 수 없으며 데이터의 출처가 형식을 결정하는 경우가 많으므로 DBA는 두 형식 모두의 컨트롤 파일 작성법을 익혀야 한다.</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고정길이 데이터에서는 각 필드가 정해진 바이트 위치를 차지한다. empno는 1에서 4바이트, ename은 5에서 11바이트 식으로 잘라낸다. 여기서 INTEGER EXTERNAL과 CHAR는 SQL*Loader의 필드 데이터 타입으로 데이터베이스 컬럼 타입과는 별개로 입력 파일 안에서 값이 어떻게 표현되어 있는지를 나타낸다. EXTERNAL이 붙은 타입은 값이 사람이 읽을 수 있는 텍스트로 표현되어 있음을 의미하고, 붙지 않은 INTEGER나 SMALLINT는 이진 표현을 의미한다. 텍스트 파일을 적재할 때는 대부분 EXTERNAL 계열이나 CHAR를 쓴다. 위치가 정확해야 하므로 입력 파일의 레이아웃 명세를 확보하는 것이 고정길이 적재의 핵심이다.</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전통적 경로는 아무 옵션도 주지 않으면 사용되는 기본값으로 내부적으로 일반 INSERT 문과 동일하게 동작한다. SQL*Loader가 입력 레코드를 읽어 바인드 배열에 모은 뒤 SQL 엔진을 통해 배열 INSERT를 수행하고 데이터는 버퍼 캐시를 경유해 블록에 기록된다. 일반 DML과 완전히 동일하게 취급되므로 모든 INSERT 트리거가 실행되고 모든 무결성 제약이 각 행마다 즉시 검증되며 언두와 리두가 정상 생성되어 롤백과 복구가 완전하게 보장된다. 적재 중에도 다른 세션이 같은 테이블에 자유롭게 DML을 할 수 있고 인덱스는 점진적으로 갱신된다. 따라서 안전성과 동시성이 중요하거나 트리거·복잡한 비즈니스 규칙을 태워야 하거나 적재량이 적은 상황에 적합하다.</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다이렉트 경로는 커맨드라인에 DIRECT=TRUE를 지정해 활성화한다. SQL 처리 계층과 버퍼 캐시를 우회하여 입력 데이터로부터 오라클 데이터 블록을 메모리에서 직접 조립한 뒤 테이블의 HWM 즉 고수위선 위쪽의 새 익스텐트에 블록을 통째로 기록한다. 기존 블록의 빈 공간을 재활용하지 않고 세그먼트 끝에 순차적으로 붙이므로 버퍼 캐시 경합과 행 단위 SQL 처리, 대량 언두 생성을 피할 수 있어 대용량에서 극적으로 빠르다. 그러나 대가가 있다. INSERT 트리거가 실행되지 않고 적재 대상 테이블은 배타적으로 잠겨 다른 세션이 DML을 할 수 없다. NOT NULL과 UNIQUE·PK는 유지되지만 CHECK와 FK 제약은 적재 시작 시 비활성화되었다가 종료 후 재활성화되며 검증된다. 리두는 UNRECOVERABLE로 최소화할 수 있다.</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두 경로의 핵심 차이는 언두와 리두 생성량, 무결성 제약과 트리거의 처리, 그리고 성능이다. 다이렉트 경로는 블록을 통째로 새 익스텐트에 기록하므로 전통적 경로에 비해 언두 생성이 사실상 없고 세그먼트 확장에 대한 최소한의 딕셔너리 언두만 발생하며, 리두도 UNRECOVERABLE 옵션으로 크게 줄이거나 없앨 수 있다. 반면 전통적 경로는 일반 DML처럼 완전한 언두와 리두를 생성한다. 두 경로는 우열의 문제가 아니라 무엇을 우선하느냐, 즉 속도냐 안전성·동시성·범용성이냐에 따라 선택하는 상호 보완적 도구다. 대량 초기 적재·스테이징·야간 배치는 다이렉트를, 트리거·복잡 제약·동시성이 필요하거나 소량이면 전통적 경로를 쓴다. UNRECOVERABLE로 리두를 껐다면 적재 직후 반드시 백업을 수행해야 한다.</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다이렉트 경로가 빠른 또 하나의 이유는 인덱스 유지 방식에 있다. 전통적 경로는 행을 넣을 때마다 인덱스를 점진적으로 갱신하지만 다이렉트 경로는 모든 데이터를 먼저 세그먼트에 기록한 뒤 적재가 끝나는 시점에 새로 들어온 키들을 한꺼번에 정렬해 인덱스에 병합한다. 이 지연 인덱스 유지는 대량 적재에서 인덱스 갱신 비용을 크게 줄인다. 적재 도중에는 인덱스가 일시적으로 UNUSABLE 상태가 될 수 있으며 UNIQUE 제약 위반이나 중간 실패 시 인덱스가 UNUSABLE로 남을 수 있는데 이때는 원인 해소 후 ALTER INDEX REBUILD로 재생성한다. 매우 큰 초기 적재에서는 인덱스를 미리 UNUSABLE로 만들고 SKIP_INDEX_MAINTENANCE로 적재한 뒤 일괄 REBUILD하는 전략이 가장 빠를 때가 많다. SORTED INDEXES 절로 이미 정렬된 입력의 정렬을 생략할 수도 있다.</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sqlldr는 커맨드라인에서 여러 파라미터를 키워드=값 형태로 받는다. userid는 접속 계정과 비밀번호, 접속 식별자를 지정하고 control은 필수인 컨트롤 파일 경로다. log, bad, discard는 각각 결과 파일 경로이고 direct=true는 다이렉트 경로를 활성화한다. rows는 전통적 경로에서 커밋 단위, 다이렉트 경로에서 데이터 저장 지점 단위이며 skip은 헤더 등 앞에서 건너뛸 논리 레코드 수, errors는 허용할 최대 거부 레코드 수로 기본 50이다. errors를 넘으면 적재가 중단되고 errors=0이면 한 건이라도 거부되면 즉시 중단된다. 파라미터는 커맨드라인, 파라미터 파일 PARFILE, 컨트롤 파일 OPTIONS 절 세 곳에 지정할 수 있고 중복 시 일반적으로 커맨드라인이 우선한다. userid는 비밀번호가 노출되므로 실무에서는 프롬프트 입력이나 지갑, OS 인증을 활용한다.</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이 예는 세 가지 실행 방식을 보여준다. 첫째는 전통적 경로로 skip=1로 헤더 한 줄을 건너뛰고 errors=100으로 거부 100건까지 허용한다. 둘째는 direct=true를 추가한 다이렉트 경로다. 셋째는 자주 쓰거나 옵션이 복잡한 작업을 파라미터 파일에 적어 두고 parfile로 불러오는 방식으로 비밀번호를 스크립트에 노출하지 않으려 할 때도 유용하다. 실무에서는 자주 바뀌지 않는 구조적 옵션은 컨트롤 파일에, 실행마다 달라지는 로그 파일명이나 skip 값 같은 것은 커맨드라인이나 PARFILE에 두어 역할을 나눈다. userid의 접속 식별자로 PDB 서비스를 지정하면 그 PDB에 적재된다.</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SQL*Loader가 남기는 세 결과 파일은 적재 성패를 진단하는 핵심 자료다. 로그 파일은 자동 생성되며 사용한 컨트롤·데이터 파일, 컬럼과 필드 매핑, 사용한 적재 경로 Path used, 테이블별 결과 즉 성공 행 수와 데이터 오류로 실패한 행 수, 거부 레코드의 번호와 ORA 오류 사유, 경과 시간을 기록한다. DIRECT=TRUE를 주었는데 Conventional로 표시되면 다이렉트가 거부된 것이니 사유를 확인한다. 불량 파일에는 타입 변환 실패나 제약 위반으로 거부된 레코드가 원본 형태로 남고, 버림 파일에는 WHEN 조건 불일치로 선별 제외된 레코드가 남되 DISCARDFILE을 지정해야 생성된다. 거부 레코드를 재적재할 때 흔한 실수는 원본 전체를 다시 돌려 이미 성공한 행까지 중복 적재하는 것으로 올바른 방법은 불량 파일만 입력으로 삼아 보정 후 넣는 것이다.</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전통적 경로에서 rows 파라미터는 몇 개 행을 적재할 때마다 커밋할지를 결정한다. 값이 크면 커밋 횟수가 줄어 성능이 좋아지지만 중간에 실패하면 마지막 커밋 이후 적재분이 롤백되어 다시 처리할 양이 많아진다. 값이 작으면 복구 지점이 촘촘해져 재작업 부담이 줄지만 커밋 오버헤드가 커진다. 예를 들어 1천만 행을 rows=5000으로 넣으면 약 2천 번 커밋하는데 900만 행째 실패해도 마지막 커밋 이후 소량만 되돌리면 된다. 반대로 rows를 매우 크게 잡아 전체를 한 번에 커밋하면 중간 실패 시 전량 롤백되어 처음부터 다시 해야 한다. 데이터 양과 허용 가능한 재작업 시간을 고려해 적정 값을 정한다. 다이렉트 경로에서 rows는 커밋이 아니라 데이터 저장 지점을 만드는 단위이며 이 정보는 SKIP과 결합해 중단 지점부터의 재개를 가능하게 한다.</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적재 도중 테이블스페이스 공간 부족이나 언두 부족, 사용자 할당량 초과 같은 공간 관련 오류가 발생하면 작업이 실패한다. Resumable Space Allocation을 활성화하면 이런 공간 부족 발생 시 오류로 즉시 실패하지 않고 작업을 일시 중단 상태로 대기시킨다. DBA가 공간을 추가하거나 할당량을 늘리면 중단된 작업이 자동으로 이어서 진행된다. SQL*Loader는 RESUMABLE=TRUE, RESUMABLE_NAME으로 작업 이름, RESUMABLE_TIMEOUT으로 대기 초를 지정해 이 기능을 제어한다. 야간에 대량 적재를 돌릴 때 공간 부족으로 전체 작업이 실패해 처음부터 다시 하는 사태를 예방하는 안전장치다. 중단된 재개 가능 작업은 DBA_RESUMABLE 뷰로 모니터링할 수 있고 관리자가 원인을 해소하면 별도 개입 없이 자동 재개된다.</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UNRECOVERABLE과 RECOVERABLE은 다이렉트 경로 로드에서 리두 로그 생성 여부를 제어한다. RECOVERABLE은 기본값으로 적재된 데이터에 대한 리두를 정상 생성하므로 이후 미디어 장애가 나도 백업과 아카이브 리두로 완전히 복구할 수 있다. UNRECOVERABLE은 리두 생성을 생략해 적재를 더 빠르게 하지만 적재 직후 데이터 파일이 손상되어 복구하면 리두가 없어 그 데이터를 재현할 수 없다. 따라서 UNRECOVERABLE 로드 후에는 반드시 백업을 수행해야 데이터 손실을 막는다. UNRECOVERABLE은 오직 다이렉트 경로에서만 동작하며 전통적 경로에서는 항상 리두가 생성된다. 리두가 없는 구간, 즉 적재 후 백업 전 구간에 미디어 장애가 나면 그 데이터는 소실되므로 아카이브 로그 모드 운영에서는 백업 정책과 함께 신중히 검토해야 한다.</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SQL*Loader Express Mode는 Oracle Database 12c에서 도입되어 19c에서도 제공되는 편의 기능으로 컨트롤 파일을 전혀 작성하지 않고도 CSV를 테이블에 적재할 수 있게 해준다. sqlldr 실행 시 TABLE=테이블명 파라미터만 지정하면 활성화된다. 이때 명명 규칙에 따라 기본값을 자동 결정하는데 입력 데이터 파일 이름은 테이블명 점dat로 가정하고 필드 구분자는 쉼표, 감싸는 문자는 큰따옴표로 가정하며 각 필드는 대상 테이블 컬럼 순서에 그대로 대응한다고 본다. 대상 테이블의 컬럼 데이터 타입을 데이터 딕셔너리에서 읽어와 적절한 필드 정의를 자동 생성하고 기본 적재 경로는 다이렉트를 시도한다. 실행하면 자동 생성한 컨트롤 파일과 로그를 남겨 나중에 세밀한 제어가 필요할 때 그것을 손질해 정식 컨트롤 파일로 발전시킬 수 있다.</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Express Mode는 TABLE=employees 하나만으로 employees.dat를 읽어 EMPLOYEES 테이블에 적재한다. 데이터 파일명, 구분자, 감싸는 문자, 문자집합, 로그·불량·버림 파일 위치, 적재 방식 같은 세부 사항은 모두 커맨드라인 파라미터로 재정의할 수 있다. 즉 기본값이 채워진 상태에서 시작하되 필요한 부분만 덮어쓰는 방식으로 동작한다. 두 번째 예처럼 data와 optionally_enclosed_by를 지정해 파일명과 감싸는 문자를 바꿀 수 있다. Express Mode에서도 다이렉트 경로가 기본 시도되므로 대량 CSV를 빠르게 넣기 좋지만 트리거가 필요한 테이블 등에서는 전통적 경로로 폴백될 수 있다. 컨트롤 파일 작성의 수고를 없애면서도 자동 생성된 점ctl 파일을 보관하면 컨트롤 파일 작성의 좋은 출발점이 된다. 복잡한 변환·WHEN 조건·다중 테이블 적재는 여전히 정식 컨트롤 파일이 필요하다.</a:t>
            </a:r>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멀티테넌트 아키텍처에서 사용자 데이터가 담기는 곳은 루트 컨테이너가 아니라 개별 PDB다. 따라서 SQL*Loader로 적재할 때도 대상 PDB에 정확히 접속해야 한다. 가장 명확한 방법은 userid 파라미터의 접속 식별자로 PDB 서비스를 직접 지정하는 것으로 userid=hr@pdb1처럼 네트 서비스명을 쓰거나 Easy Connect 구문으로 PDB 서비스명을 직접 지정한다. PDB는 기본적으로 자신의 이름과 같은 서비스명으로 리스너에 등록되므로 그 서비스로 접속하면 세션이 해당 PDB 안에 놓인다. 매번 적기 번거로우면 TWO_TASK 환경변수에 네트 서비스명을 설정해 userid=hr만 적어도 접속되게 할 수 있다. 흔한 함정은 서비스명과 PDB명의 혼동인데 접속 후 SHOW CON_NAME으로 실제 어느 컨테이너에 들어왔는지 반드시 확인하는 습관이 안전하다.</a:t>
            </a:r>
          </a:p>
        </p:txBody>
      </p:sp>
      <p:sp>
        <p:nvSpPr>
          <p:cNvPr id="4" name="Slide Number Placeholder 3"/>
          <p:cNvSpPr>
            <a:spLocks noGrp="1"/>
          </p:cNvSpPr>
          <p:nvPr>
            <p:ph type="sldNum" idx="5" sz="quarter"/>
          </p:nvPr>
        </p:nvSpPr>
        <p:spPr/>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이 예는 PDB로 적재하는 세 가지 접속 방식을 보여준다. 첫째는 tnsnames.ora에 정의된 네트 서비스명 pdb1을 쓰는 방식, 둘째는 Easy Connect로 호스트·포트·PDB 서비스명을 직접 지정하는 방식, 셋째는 TWO_TASK 환경변수에 서비스명을 설정해 접속 식별자를 생략하는 방식이다. 적재 전에는 대상 PDB가 READ WRITE 모드로 열려 있는지, 접속 사용자가 대상 테이블에 대한 INSERT 권한과 대상 테이블스페이스에 대한 할당량을 갖고 있는지 확인해야 한다. PDB가 닫혀 있거나 READ ONLY이면 적재가 실패한다. SYS 같은 공통 사용자보다 해당 PDB의 로컬 사용자로 접속해 적재하는 것이 권한 최소화 원칙에 부합한다. PDB로의 적재는 비CDB 시절과 본질적으로 같으며 달라진 점은 어느 컨테이너에 접속하는가를 명확히 지정해야 한다는 것뿐이다.</a:t>
            </a:r>
          </a:p>
        </p:txBody>
      </p:sp>
      <p:sp>
        <p:nvSpPr>
          <p:cNvPr id="4" name="Slide Number Placeholder 3"/>
          <p:cNvSpPr>
            <a:spLocks noGrp="1"/>
          </p:cNvSpPr>
          <p:nvPr>
            <p:ph type="sldNum" idx="5" sz="quarter"/>
          </p:nvPr>
        </p:nvSpPr>
        <p:spPr/>
      </p:sp>
    </p:spTree>
  </p:cSld>
  <p:clrMapOvr>
    <a:masterClrMapping/>
  </p:clrMapOvr>
</p:notes>
</file>

<file path=ppt/notesSlides/notesSlide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Q1 정답은 2번 TRAILING NULLCOLS다. 구분자 기반 데이터에서 마지막 필드들이 비어 있거나 없는 레코드가 섞여 있을 때 이 절이 없으면 필드 개수 부족으로 거부되지만 지정하면 없는 후행 필드를 NULL로 채워 적재를 계속한다. Q2 정답은 2번이다. 다이렉트 경로는 SQL 계층과 버퍼 캐시를 우회해 오라클 블록을 직접 조립한 뒤 HWM 위 새 익스텐트에 통째로 기록해 대용량에서 매우 빠르다. 1번은 틀렸는데 다이렉트 경로에서는 INSERT 트리거가 실행되지 않는다. 4번도 틀렸다. NOT NULL과 UNIQUE·PK는 유지되고 CHECK와 FK는 적재 후 재검증된다.</a:t>
            </a:r>
          </a:p>
        </p:txBody>
      </p:sp>
      <p:sp>
        <p:nvSpPr>
          <p:cNvPr id="4" name="Slide Number Placeholder 3"/>
          <p:cNvSpPr>
            <a:spLocks noGrp="1"/>
          </p:cNvSpPr>
          <p:nvPr>
            <p:ph type="sldNum" idx="5" sz="quarter"/>
          </p:nvPr>
        </p:nvSpPr>
        <p:spPr/>
      </p:sp>
    </p:spTree>
  </p:cSld>
  <p:clrMapOvr>
    <a:masterClrMapping/>
  </p:clrMapOvr>
</p:notes>
</file>

<file path=ppt/notesSlides/notesSlide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Q3 정답은 3번 불량 파일이다. 데이터 타입 변환 실패나 제약 위반으로 거부된 레코드는 원본 형태로 불량 파일에 남는다. 이와 구별해야 할 것이 버림 파일로 WHEN 선별 조건에 맞지 않아 애초에 적재 대상에서 제외된 레코드가 보관되며 이는 오류가 아니다. 거부는 적재를 시도했으나 실패한 것, 버림은 선별에서 제외된 것이라는 성격 차이를 이해해야 한다. Q4 정답은 1번 Express Mode다. 12c에서 도입되어 19c에서도 제공되며 TABLE 파라미터만으로 명명 규칙 기반 기본값을 적용해 컨트롤 파일을 자동 생성하고 CSV를 적재한다. 데이터 파일명은 테이블명 점dat, 구분자는 쉼표를 기본으로 가정한다.</a:t>
            </a:r>
          </a:p>
        </p:txBody>
      </p:sp>
      <p:sp>
        <p:nvSpPr>
          <p:cNvPr id="4" name="Slide Number Placeholder 3"/>
          <p:cNvSpPr>
            <a:spLocks noGrp="1"/>
          </p:cNvSpPr>
          <p:nvPr>
            <p:ph type="sldNum" idx="5" sz="quarter"/>
          </p:nvPr>
        </p:nvSpPr>
        <p:spPr/>
      </p:sp>
    </p:spTree>
  </p:cSld>
  <p:clrMapOvr>
    <a:masterClrMapping/>
  </p:clrMapOvr>
</p:notes>
</file>

<file path=ppt/notesSlides/notesSlide2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Q5 정답은 2번 즉시 백업 수행이다. UNRECOVERABLE은 다이렉트 경로에서 리두 생성을 생략해 더 빠르지만 적재 직후 데이터 파일이 손상되어 복구하면 리두가 없어 그 데이터를 재현할 수 없다. 따라서 적재 직후 반드시 해당 테이블스페이스나 데이터베이스를 백업해야 데이터 손실을 막는다. Q6 정답은 2번이다. 사용자 데이터는 PDB에 있으므로 userid에 PDB 서비스명을 지정하거나 TWO_TASK로 대상 PDB를 지정해 접속해야 한다. 1번은 틀렸는데 루트에 접속하면 루트에 적재를 시도할 뿐 자동으로 PDB로 가지 않는다. 3번도 틀렸다. 대상 PDB는 반드시 READ WRITE로 열려 있어야 하며 MOUNTED나 READ ONLY이면 적재가 실패한다.</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8.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9.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0.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1.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4.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5.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6.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7.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8.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219456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5394960"/>
            <a:ext cx="12191695" cy="1463040"/>
          </a:xfrm>
          <a:prstGeom prst="rect">
            <a:avLst/>
          </a:prstGeom>
          <a:solidFill>
            <a:srgbClr val="F2F2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31520" y="457200"/>
            <a:ext cx="10698480" cy="548640"/>
          </a:xfrm>
          <a:prstGeom prst="rect">
            <a:avLst/>
          </a:prstGeom>
          <a:noFill/>
        </p:spPr>
        <p:txBody>
          <a:bodyPr wrap="square">
            <a:spAutoFit/>
          </a:bodyPr>
          <a:lstStyle/>
          <a:p>
            <a:pPr>
              <a:spcAft>
                <a:spcPts val="600"/>
              </a:spcAft>
            </a:pPr>
            <a:r>
              <a:rPr sz="1600" b="0">
                <a:solidFill>
                  <a:srgbClr val="FFFFFF"/>
                </a:solidFill>
                <a:latin typeface="맑은 고딕"/>
                <a:ea typeface="맑은 고딕"/>
              </a:rPr>
              <a:t>Oracle Database 19c Administration Workshop</a:t>
            </a:r>
          </a:p>
        </p:txBody>
      </p:sp>
      <p:sp>
        <p:nvSpPr>
          <p:cNvPr id="6" name="TextBox 5"/>
          <p:cNvSpPr txBox="1"/>
          <p:nvPr/>
        </p:nvSpPr>
        <p:spPr>
          <a:xfrm>
            <a:off x="731520" y="2468880"/>
            <a:ext cx="10698480" cy="1463040"/>
          </a:xfrm>
          <a:prstGeom prst="rect">
            <a:avLst/>
          </a:prstGeom>
          <a:noFill/>
        </p:spPr>
        <p:txBody>
          <a:bodyPr wrap="square">
            <a:spAutoFit/>
          </a:bodyPr>
          <a:lstStyle/>
          <a:p>
            <a:pPr>
              <a:spcAft>
                <a:spcPts val="600"/>
              </a:spcAft>
            </a:pPr>
            <a:r>
              <a:rPr sz="4000" b="1">
                <a:solidFill>
                  <a:srgbClr val="C0392B"/>
                </a:solidFill>
                <a:latin typeface="맑은 고딕"/>
                <a:ea typeface="맑은 고딕"/>
              </a:rPr>
              <a:t>데이터 적재</a:t>
            </a:r>
          </a:p>
          <a:p>
            <a:pPr>
              <a:spcAft>
                <a:spcPts val="600"/>
              </a:spcAft>
            </a:pPr>
            <a:r>
              <a:rPr sz="4000" b="1">
                <a:solidFill>
                  <a:srgbClr val="C0392B"/>
                </a:solidFill>
                <a:latin typeface="맑은 고딕"/>
                <a:ea typeface="맑은 고딕"/>
              </a:rPr>
              <a:t>Loading Data</a:t>
            </a:r>
          </a:p>
        </p:txBody>
      </p:sp>
      <p:sp>
        <p:nvSpPr>
          <p:cNvPr id="7" name="TextBox 6"/>
          <p:cNvSpPr txBox="1"/>
          <p:nvPr/>
        </p:nvSpPr>
        <p:spPr>
          <a:xfrm>
            <a:off x="731520" y="4114800"/>
            <a:ext cx="10698480" cy="1097280"/>
          </a:xfrm>
          <a:prstGeom prst="rect">
            <a:avLst/>
          </a:prstGeom>
          <a:noFill/>
        </p:spPr>
        <p:txBody>
          <a:bodyPr wrap="square">
            <a:spAutoFit/>
          </a:bodyPr>
          <a:lstStyle/>
          <a:p>
            <a:pPr>
              <a:spcAft>
                <a:spcPts val="600"/>
              </a:spcAft>
            </a:pPr>
            <a:r>
              <a:rPr sz="1500" b="0">
                <a:solidFill>
                  <a:srgbClr val="5A6672"/>
                </a:solidFill>
                <a:latin typeface="맑은 고딕"/>
                <a:ea typeface="맑은 고딕"/>
              </a:rPr>
              <a:t>SQL*Loader · 컨트롤 파일 · 전통적/다이렉트 경로 · Express Mode · PDB 적재</a:t>
            </a:r>
          </a:p>
        </p:txBody>
      </p:sp>
      <p:sp>
        <p:nvSpPr>
          <p:cNvPr id="8" name="TextBox 7"/>
          <p:cNvSpPr txBox="1"/>
          <p:nvPr/>
        </p:nvSpPr>
        <p:spPr>
          <a:xfrm>
            <a:off x="731520" y="5577840"/>
            <a:ext cx="10698480" cy="914400"/>
          </a:xfrm>
          <a:prstGeom prst="rect">
            <a:avLst/>
          </a:prstGeom>
          <a:noFill/>
        </p:spPr>
        <p:txBody>
          <a:bodyPr wrap="square">
            <a:spAutoFit/>
          </a:bodyPr>
          <a:lstStyle/>
          <a:p>
            <a:pPr>
              <a:spcAft>
                <a:spcPts val="600"/>
              </a:spcAft>
            </a:pPr>
            <a:r>
              <a:rPr sz="2000" b="1">
                <a:solidFill>
                  <a:srgbClr val="C0392B"/>
                </a:solidFill>
                <a:latin typeface="맑은 고딕"/>
                <a:ea typeface="맑은 고딕"/>
              </a:rPr>
              <a:t>제26장</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91440"/>
            <a:ext cx="10972800" cy="731520"/>
          </a:xfrm>
          <a:prstGeom prst="rect">
            <a:avLst/>
          </a:prstGeom>
          <a:noFill/>
        </p:spPr>
        <p:txBody>
          <a:bodyPr wrap="square" anchor="ctr">
            <a:spAutoFit/>
          </a:bodyPr>
          <a:lstStyle/>
          <a:p>
            <a:pPr>
              <a:spcAft>
                <a:spcPts val="600"/>
              </a:spcAft>
            </a:pPr>
            <a:r>
              <a:rPr sz="2600" b="1">
                <a:solidFill>
                  <a:srgbClr val="FFFFFF"/>
                </a:solidFill>
                <a:latin typeface="맑은 고딕"/>
                <a:ea typeface="맑은 고딕"/>
              </a:rPr>
              <a:t>학습 목표 (Objectives)</a:t>
            </a:r>
          </a:p>
        </p:txBody>
      </p:sp>
      <p:sp>
        <p:nvSpPr>
          <p:cNvPr id="4" name="TextBox 3"/>
          <p:cNvSpPr txBox="1"/>
          <p:nvPr/>
        </p:nvSpPr>
        <p:spPr>
          <a:xfrm>
            <a:off x="640080" y="1463040"/>
            <a:ext cx="10881360" cy="4937760"/>
          </a:xfrm>
          <a:prstGeom prst="rect">
            <a:avLst/>
          </a:prstGeom>
          <a:noFill/>
        </p:spPr>
        <p:txBody>
          <a:bodyPr wrap="square">
            <a:spAutoFit/>
          </a:bodyPr>
          <a:lstStyle/>
          <a:p>
            <a:pPr>
              <a:spcAft>
                <a:spcPts val="800"/>
              </a:spcAft>
            </a:pPr>
            <a:r>
              <a:rPr sz="1600" b="0">
                <a:solidFill>
                  <a:srgbClr val="C0392B"/>
                </a:solidFill>
                <a:latin typeface="맑은 고딕"/>
                <a:ea typeface="맑은 고딕"/>
              </a:rPr>
              <a:t>•  SQL*Loader의 구성 요소와 데이터 적재 흐름을 설명한다</a:t>
            </a:r>
          </a:p>
          <a:p>
            <a:pPr>
              <a:spcAft>
                <a:spcPts val="800"/>
              </a:spcAft>
            </a:pPr>
            <a:r>
              <a:rPr sz="1600" b="0">
                <a:solidFill>
                  <a:srgbClr val="C0392B"/>
                </a:solidFill>
                <a:latin typeface="맑은 고딕"/>
                <a:ea typeface="맑은 고딕"/>
              </a:rPr>
              <a:t>•  컨트롤 파일 핵심 절(LOAD DATA/INFILE/INTO TABLE/FIELDS/TRAILING NULLCOLS)을 작성한다</a:t>
            </a:r>
          </a:p>
          <a:p>
            <a:pPr>
              <a:spcAft>
                <a:spcPts val="800"/>
              </a:spcAft>
            </a:pPr>
            <a:r>
              <a:rPr sz="1600" b="0">
                <a:solidFill>
                  <a:srgbClr val="C0392B"/>
                </a:solidFill>
                <a:latin typeface="맑은 고딕"/>
                <a:ea typeface="맑은 고딕"/>
              </a:rPr>
              <a:t>•  구분자 기반과 고정길이 데이터 파일 형식을 구분하고 필드를 정의한다</a:t>
            </a:r>
          </a:p>
          <a:p>
            <a:pPr>
              <a:spcAft>
                <a:spcPts val="800"/>
              </a:spcAft>
            </a:pPr>
            <a:r>
              <a:rPr sz="1600" b="0">
                <a:solidFill>
                  <a:srgbClr val="C0392B"/>
                </a:solidFill>
                <a:latin typeface="맑은 고딕"/>
                <a:ea typeface="맑은 고딕"/>
              </a:rPr>
              <a:t>•  전통적 경로와 다이렉트 경로의 언두/리두/제약/성능 차이를 비교한다</a:t>
            </a:r>
          </a:p>
          <a:p>
            <a:pPr>
              <a:spcAft>
                <a:spcPts val="800"/>
              </a:spcAft>
            </a:pPr>
            <a:r>
              <a:rPr sz="1600" b="0">
                <a:solidFill>
                  <a:srgbClr val="C0392B"/>
                </a:solidFill>
                <a:latin typeface="맑은 고딕"/>
                <a:ea typeface="맑은 고딕"/>
              </a:rPr>
              <a:t>•  커맨드라인 옵션(userid/control/log/bad/discard/direct/rows/skip 등)을 이해한다</a:t>
            </a:r>
          </a:p>
          <a:p>
            <a:pPr>
              <a:spcAft>
                <a:spcPts val="800"/>
              </a:spcAft>
            </a:pPr>
            <a:r>
              <a:rPr sz="1600" b="0">
                <a:solidFill>
                  <a:srgbClr val="C0392B"/>
                </a:solidFill>
                <a:latin typeface="맑은 고딕"/>
                <a:ea typeface="맑은 고딕"/>
              </a:rPr>
              <a:t>•  로그·불량·버림 파일로 거부 레코드를 진단·보정한다</a:t>
            </a:r>
          </a:p>
          <a:p>
            <a:pPr>
              <a:spcAft>
                <a:spcPts val="800"/>
              </a:spcAft>
            </a:pPr>
            <a:r>
              <a:rPr sz="1600" b="0">
                <a:solidFill>
                  <a:srgbClr val="C0392B"/>
                </a:solidFill>
                <a:latin typeface="맑은 고딕"/>
                <a:ea typeface="맑은 고딕"/>
              </a:rPr>
              <a:t>•  데이터 손실 방지 옵션(ROWS·Resumable·UNRECOVERABLE)을 설명한다</a:t>
            </a:r>
          </a:p>
          <a:p>
            <a:pPr>
              <a:spcAft>
                <a:spcPts val="800"/>
              </a:spcAft>
            </a:pPr>
            <a:r>
              <a:rPr sz="1600" b="0">
                <a:solidFill>
                  <a:srgbClr val="C0392B"/>
                </a:solidFill>
                <a:latin typeface="맑은 고딕"/>
                <a:ea typeface="맑은 고딕"/>
              </a:rPr>
              <a:t>•  Express Mode와 PDB 내 테이블 적재 방법을 수행한다</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91440"/>
            <a:ext cx="10972800" cy="731520"/>
          </a:xfrm>
          <a:prstGeom prst="rect">
            <a:avLst/>
          </a:prstGeom>
          <a:noFill/>
        </p:spPr>
        <p:txBody>
          <a:bodyPr wrap="square" anchor="ctr">
            <a:spAutoFit/>
          </a:bodyPr>
          <a:lstStyle/>
          <a:p>
            <a:pPr>
              <a:spcAft>
                <a:spcPts val="600"/>
              </a:spcAft>
            </a:pPr>
            <a:r>
              <a:rPr sz="2600" b="1">
                <a:solidFill>
                  <a:srgbClr val="FFFFFF"/>
                </a:solidFill>
                <a:latin typeface="맑은 고딕"/>
                <a:ea typeface="맑은 고딕"/>
              </a:rPr>
              <a:t>이 장의 구성 (Agenda)</a:t>
            </a:r>
          </a:p>
        </p:txBody>
      </p:sp>
      <p:sp>
        <p:nvSpPr>
          <p:cNvPr id="4" name="TextBox 3"/>
          <p:cNvSpPr txBox="1"/>
          <p:nvPr/>
        </p:nvSpPr>
        <p:spPr>
          <a:xfrm>
            <a:off x="640080" y="1463040"/>
            <a:ext cx="10881360" cy="4937760"/>
          </a:xfrm>
          <a:prstGeom prst="rect">
            <a:avLst/>
          </a:prstGeom>
          <a:noFill/>
        </p:spPr>
        <p:txBody>
          <a:bodyPr wrap="square">
            <a:spAutoFit/>
          </a:bodyPr>
          <a:lstStyle/>
          <a:p>
            <a:pPr>
              <a:spcAft>
                <a:spcPts val="800"/>
              </a:spcAft>
            </a:pPr>
            <a:r>
              <a:rPr sz="1600" b="0">
                <a:solidFill>
                  <a:srgbClr val="C0392B"/>
                </a:solidFill>
                <a:latin typeface="맑은 고딕"/>
                <a:ea typeface="맑은 고딕"/>
              </a:rPr>
              <a:t>•  26.A  SQL*Loader 개요 및 데이터 적재 흐름</a:t>
            </a:r>
          </a:p>
          <a:p>
            <a:pPr>
              <a:spcAft>
                <a:spcPts val="800"/>
              </a:spcAft>
            </a:pPr>
            <a:r>
              <a:rPr sz="1600" b="0">
                <a:solidFill>
                  <a:srgbClr val="C0392B"/>
                </a:solidFill>
                <a:latin typeface="맑은 고딕"/>
                <a:ea typeface="맑은 고딕"/>
              </a:rPr>
              <a:t>•  26.B  컨트롤 파일 구조와 작성법</a:t>
            </a:r>
          </a:p>
          <a:p>
            <a:pPr>
              <a:spcAft>
                <a:spcPts val="800"/>
              </a:spcAft>
            </a:pPr>
            <a:r>
              <a:rPr sz="1600" b="0">
                <a:solidFill>
                  <a:srgbClr val="C0392B"/>
                </a:solidFill>
                <a:latin typeface="맑은 고딕"/>
                <a:ea typeface="맑은 고딕"/>
              </a:rPr>
              <a:t>•  26.C  데이터 파일 형식(고정길이/구분자)</a:t>
            </a:r>
          </a:p>
          <a:p>
            <a:pPr>
              <a:spcAft>
                <a:spcPts val="800"/>
              </a:spcAft>
            </a:pPr>
            <a:r>
              <a:rPr sz="1600" b="0">
                <a:solidFill>
                  <a:srgbClr val="C0392B"/>
                </a:solidFill>
                <a:latin typeface="맑은 고딕"/>
                <a:ea typeface="맑은 고딕"/>
              </a:rPr>
              <a:t>•  26.D  전통적 경로 vs 다이렉트 경로</a:t>
            </a:r>
          </a:p>
          <a:p>
            <a:pPr>
              <a:spcAft>
                <a:spcPts val="800"/>
              </a:spcAft>
            </a:pPr>
            <a:r>
              <a:rPr sz="1600" b="0">
                <a:solidFill>
                  <a:srgbClr val="C0392B"/>
                </a:solidFill>
                <a:latin typeface="맑은 고딕"/>
                <a:ea typeface="맑은 고딕"/>
              </a:rPr>
              <a:t>•  26.E  커맨드라인 옵션과 결과 파일(로그/불량/버림)</a:t>
            </a:r>
          </a:p>
          <a:p>
            <a:pPr>
              <a:spcAft>
                <a:spcPts val="800"/>
              </a:spcAft>
            </a:pPr>
            <a:r>
              <a:rPr sz="1600" b="0">
                <a:solidFill>
                  <a:srgbClr val="C0392B"/>
                </a:solidFill>
                <a:latin typeface="맑은 고딕"/>
                <a:ea typeface="맑은 고딕"/>
              </a:rPr>
              <a:t>•  26.F  데이터 손실 방지 옵션</a:t>
            </a:r>
          </a:p>
          <a:p>
            <a:pPr>
              <a:spcAft>
                <a:spcPts val="800"/>
              </a:spcAft>
            </a:pPr>
            <a:r>
              <a:rPr sz="1600" b="0">
                <a:solidFill>
                  <a:srgbClr val="C0392B"/>
                </a:solidFill>
                <a:latin typeface="맑은 고딕"/>
                <a:ea typeface="맑은 고딕"/>
              </a:rPr>
              <a:t>•  26.G  SQL*Loader Express Mode</a:t>
            </a:r>
          </a:p>
          <a:p>
            <a:pPr>
              <a:spcAft>
                <a:spcPts val="800"/>
              </a:spcAft>
            </a:pPr>
            <a:r>
              <a:rPr sz="1600" b="0">
                <a:solidFill>
                  <a:srgbClr val="C0392B"/>
                </a:solidFill>
                <a:latin typeface="맑은 고딕"/>
                <a:ea typeface="맑은 고딕"/>
              </a:rPr>
              <a:t>•  26.H  PDB 내 테이블에 SQL*Loader로 적재</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22960" y="2011680"/>
            <a:ext cx="10515600" cy="1097280"/>
          </a:xfrm>
          <a:prstGeom prst="rect">
            <a:avLst/>
          </a:prstGeom>
          <a:noFill/>
        </p:spPr>
        <p:txBody>
          <a:bodyPr wrap="square">
            <a:spAutoFit/>
          </a:bodyPr>
          <a:lstStyle/>
          <a:p>
            <a:pPr>
              <a:spcAft>
                <a:spcPts val="600"/>
              </a:spcAft>
            </a:pPr>
            <a:r>
              <a:rPr sz="4000" b="1">
                <a:solidFill>
                  <a:srgbClr val="FFFFFF"/>
                </a:solidFill>
                <a:latin typeface="맑은 고딕"/>
                <a:ea typeface="맑은 고딕"/>
              </a:rPr>
              <a:t>26.A</a:t>
            </a:r>
          </a:p>
        </p:txBody>
      </p:sp>
      <p:sp>
        <p:nvSpPr>
          <p:cNvPr id="4" name="TextBox 3"/>
          <p:cNvSpPr txBox="1"/>
          <p:nvPr/>
        </p:nvSpPr>
        <p:spPr>
          <a:xfrm>
            <a:off x="822960" y="3017520"/>
            <a:ext cx="10515600" cy="914400"/>
          </a:xfrm>
          <a:prstGeom prst="rect">
            <a:avLst/>
          </a:prstGeom>
          <a:noFill/>
        </p:spPr>
        <p:txBody>
          <a:bodyPr wrap="square">
            <a:spAutoFit/>
          </a:bodyPr>
          <a:lstStyle/>
          <a:p>
            <a:pPr>
              <a:spcAft>
                <a:spcPts val="600"/>
              </a:spcAft>
            </a:pPr>
            <a:r>
              <a:rPr sz="2800" b="0">
                <a:solidFill>
                  <a:srgbClr val="FFFFFF"/>
                </a:solidFill>
                <a:latin typeface="맑은 고딕"/>
                <a:ea typeface="맑은 고딕"/>
              </a:rPr>
              <a:t>SQL*Loader 개요 및 적재 흐름</a:t>
            </a:r>
          </a:p>
        </p:txBody>
      </p:sp>
      <p:sp>
        <p:nvSpPr>
          <p:cNvPr id="5" name="Rectangle 4"/>
          <p:cNvSpPr/>
          <p:nvPr/>
        </p:nvSpPr>
        <p:spPr>
          <a:xfrm>
            <a:off x="822960" y="4114800"/>
            <a:ext cx="5486400" cy="54864"/>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22960" y="4297680"/>
            <a:ext cx="10058400" cy="1828800"/>
          </a:xfrm>
          <a:prstGeom prst="rect">
            <a:avLst/>
          </a:prstGeom>
          <a:noFill/>
        </p:spPr>
        <p:txBody>
          <a:bodyPr wrap="square">
            <a:spAutoFit/>
          </a:bodyPr>
          <a:lstStyle/>
          <a:p>
            <a:pPr>
              <a:spcAft>
                <a:spcPts val="600"/>
              </a:spcAft>
            </a:pPr>
            <a:r>
              <a:rPr sz="1600" b="0">
                <a:solidFill>
                  <a:srgbClr val="FFFFFF"/>
                </a:solidFill>
                <a:latin typeface="맑은 고딕"/>
                <a:ea typeface="맑은 고딕"/>
              </a:rPr>
              <a:t>•  sqlldr의 역할과 위치</a:t>
            </a:r>
          </a:p>
          <a:p>
            <a:pPr>
              <a:spcAft>
                <a:spcPts val="600"/>
              </a:spcAft>
            </a:pPr>
            <a:r>
              <a:rPr sz="1600" b="0">
                <a:solidFill>
                  <a:srgbClr val="FFFFFF"/>
                </a:solidFill>
                <a:latin typeface="맑은 고딕"/>
                <a:ea typeface="맑은 고딕"/>
              </a:rPr>
              <a:t>•  다섯 종류의 관련 파일</a:t>
            </a:r>
          </a:p>
          <a:p>
            <a:pPr>
              <a:spcAft>
                <a:spcPts val="600"/>
              </a:spcAft>
            </a:pPr>
            <a:r>
              <a:rPr sz="1600" b="0">
                <a:solidFill>
                  <a:srgbClr val="FFFFFF"/>
                </a:solidFill>
                <a:latin typeface="맑은 고딕"/>
                <a:ea typeface="맑은 고딕"/>
              </a:rPr>
              <a:t>•  적재 처리 흐름</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91440"/>
            <a:ext cx="10972800" cy="731520"/>
          </a:xfrm>
          <a:prstGeom prst="rect">
            <a:avLst/>
          </a:prstGeom>
          <a:noFill/>
        </p:spPr>
        <p:txBody>
          <a:bodyPr wrap="square" anchor="ctr">
            <a:spAutoFit/>
          </a:bodyPr>
          <a:lstStyle/>
          <a:p>
            <a:pPr>
              <a:spcAft>
                <a:spcPts val="600"/>
              </a:spcAft>
            </a:pPr>
            <a:r>
              <a:rPr sz="2600" b="1">
                <a:solidFill>
                  <a:srgbClr val="FFFFFF"/>
                </a:solidFill>
                <a:latin typeface="맑은 고딕"/>
                <a:ea typeface="맑은 고딕"/>
              </a:rPr>
              <a:t>SQL*Loader 개요 재확인</a:t>
            </a:r>
          </a:p>
        </p:txBody>
      </p:sp>
      <p:sp>
        <p:nvSpPr>
          <p:cNvPr id="4" name="TextBox 3"/>
          <p:cNvSpPr txBox="1"/>
          <p:nvPr/>
        </p:nvSpPr>
        <p:spPr>
          <a:xfrm>
            <a:off x="640080" y="1097280"/>
            <a:ext cx="10881360" cy="457200"/>
          </a:xfrm>
          <a:prstGeom prst="rect">
            <a:avLst/>
          </a:prstGeom>
          <a:noFill/>
        </p:spPr>
        <p:txBody>
          <a:bodyPr wrap="square">
            <a:spAutoFit/>
          </a:bodyPr>
          <a:lstStyle/>
          <a:p>
            <a:pPr>
              <a:spcAft>
                <a:spcPts val="600"/>
              </a:spcAft>
            </a:pPr>
            <a:r>
              <a:rPr sz="1500" b="0">
                <a:solidFill>
                  <a:srgbClr val="5A6672"/>
                </a:solidFill>
                <a:latin typeface="맑은 고딕"/>
                <a:ea typeface="맑은 고딕"/>
              </a:rPr>
              <a:t>외부 텍스트를 오라클 테이블로</a:t>
            </a:r>
          </a:p>
        </p:txBody>
      </p:sp>
      <p:sp>
        <p:nvSpPr>
          <p:cNvPr id="5" name="TextBox 4"/>
          <p:cNvSpPr txBox="1"/>
          <p:nvPr/>
        </p:nvSpPr>
        <p:spPr>
          <a:xfrm>
            <a:off x="640080" y="1737360"/>
            <a:ext cx="10881360" cy="4572000"/>
          </a:xfrm>
          <a:prstGeom prst="rect">
            <a:avLst/>
          </a:prstGeom>
          <a:noFill/>
        </p:spPr>
        <p:txBody>
          <a:bodyPr wrap="square">
            <a:spAutoFit/>
          </a:bodyPr>
          <a:lstStyle/>
          <a:p>
            <a:pPr>
              <a:spcAft>
                <a:spcPts val="1000"/>
              </a:spcAft>
            </a:pPr>
            <a:r>
              <a:rPr sz="1800" b="0">
                <a:solidFill>
                  <a:srgbClr val="C0392B"/>
                </a:solidFill>
                <a:latin typeface="맑은 고딕"/>
                <a:ea typeface="맑은 고딕"/>
              </a:rPr>
              <a:t>•  sqlldr: 외부 텍스트/CSV/고정폭 파일을 오라클 테이블로 적재하는 표준 유틸리티</a:t>
            </a:r>
          </a:p>
          <a:p>
            <a:pPr>
              <a:spcAft>
                <a:spcPts val="1000"/>
              </a:spcAft>
            </a:pPr>
            <a:r>
              <a:rPr sz="1800" b="0">
                <a:solidFill>
                  <a:srgbClr val="C0392B"/>
                </a:solidFill>
                <a:latin typeface="맑은 고딕"/>
                <a:ea typeface="맑은 고딕"/>
              </a:rPr>
              <a:t>•  Data Pump(오라클↔오라클)와 달리 '오라클 바깥에서 들어오는 데이터' 처리에 특화</a:t>
            </a:r>
          </a:p>
          <a:p>
            <a:pPr>
              <a:spcAft>
                <a:spcPts val="1000"/>
              </a:spcAft>
            </a:pPr>
            <a:r>
              <a:rPr sz="1800" b="0">
                <a:solidFill>
                  <a:srgbClr val="C0392B"/>
                </a:solidFill>
                <a:latin typeface="맑은 고딕"/>
                <a:ea typeface="맑은 고딕"/>
              </a:rPr>
              <a:t>•  다른 DBMS 언로드 파일·스프레드시트 CSV·레거시 고정폭 레코드 적재</a:t>
            </a:r>
          </a:p>
          <a:p>
            <a:pPr>
              <a:spcAft>
                <a:spcPts val="1000"/>
              </a:spcAft>
            </a:pPr>
            <a:r>
              <a:rPr sz="1800" b="0">
                <a:solidFill>
                  <a:srgbClr val="C0392B"/>
                </a:solidFill>
                <a:latin typeface="맑은 고딕"/>
                <a:ea typeface="맑은 고딕"/>
              </a:rPr>
              <a:t>•  외부 테이블·Data Pump와 함께 오라클 데이터 이동 도구군의 한 축</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91440"/>
            <a:ext cx="10972800" cy="731520"/>
          </a:xfrm>
          <a:prstGeom prst="rect">
            <a:avLst/>
          </a:prstGeom>
          <a:noFill/>
        </p:spPr>
        <p:txBody>
          <a:bodyPr wrap="square" anchor="ctr">
            <a:spAutoFit/>
          </a:bodyPr>
          <a:lstStyle/>
          <a:p>
            <a:pPr>
              <a:spcAft>
                <a:spcPts val="600"/>
              </a:spcAft>
            </a:pPr>
            <a:r>
              <a:rPr sz="2600" b="1">
                <a:solidFill>
                  <a:srgbClr val="FFFFFF"/>
                </a:solidFill>
                <a:latin typeface="맑은 고딕"/>
                <a:ea typeface="맑은 고딕"/>
              </a:rPr>
              <a:t>데이터 적재 흐름과 관련 파일</a:t>
            </a:r>
          </a:p>
        </p:txBody>
      </p:sp>
      <p:sp>
        <p:nvSpPr>
          <p:cNvPr id="4" name="TextBox 3"/>
          <p:cNvSpPr txBox="1"/>
          <p:nvPr/>
        </p:nvSpPr>
        <p:spPr>
          <a:xfrm>
            <a:off x="640080" y="1097280"/>
            <a:ext cx="10881360" cy="457200"/>
          </a:xfrm>
          <a:prstGeom prst="rect">
            <a:avLst/>
          </a:prstGeom>
          <a:noFill/>
        </p:spPr>
        <p:txBody>
          <a:bodyPr wrap="square">
            <a:spAutoFit/>
          </a:bodyPr>
          <a:lstStyle/>
          <a:p>
            <a:pPr>
              <a:spcAft>
                <a:spcPts val="600"/>
              </a:spcAft>
            </a:pPr>
            <a:r>
              <a:rPr sz="1500" b="0">
                <a:solidFill>
                  <a:srgbClr val="5A6672"/>
                </a:solidFill>
                <a:latin typeface="맑은 고딕"/>
                <a:ea typeface="맑은 고딕"/>
              </a:rPr>
              <a:t>컨트롤 · 데이터 · 로그 · 불량 · 버림</a:t>
            </a:r>
          </a:p>
        </p:txBody>
      </p:sp>
      <p:sp>
        <p:nvSpPr>
          <p:cNvPr id="5" name="TextBox 4"/>
          <p:cNvSpPr txBox="1"/>
          <p:nvPr/>
        </p:nvSpPr>
        <p:spPr>
          <a:xfrm>
            <a:off x="640080" y="1737360"/>
            <a:ext cx="10881360" cy="4572000"/>
          </a:xfrm>
          <a:prstGeom prst="rect">
            <a:avLst/>
          </a:prstGeom>
          <a:noFill/>
        </p:spPr>
        <p:txBody>
          <a:bodyPr wrap="square">
            <a:spAutoFit/>
          </a:bodyPr>
          <a:lstStyle/>
          <a:p>
            <a:pPr>
              <a:spcAft>
                <a:spcPts val="1000"/>
              </a:spcAft>
            </a:pPr>
            <a:r>
              <a:rPr sz="1800" b="0">
                <a:solidFill>
                  <a:srgbClr val="C0392B"/>
                </a:solidFill>
                <a:latin typeface="맑은 고딕"/>
                <a:ea typeface="맑은 고딕"/>
              </a:rPr>
              <a:t>•  컨트롤 파일(CONTROL=): 적재 방법 정의 — 입력 위치·대상 테이블·필드·옵션</a:t>
            </a:r>
          </a:p>
          <a:p>
            <a:pPr>
              <a:spcAft>
                <a:spcPts val="1000"/>
              </a:spcAft>
            </a:pPr>
            <a:r>
              <a:rPr sz="1800" b="0">
                <a:solidFill>
                  <a:srgbClr val="C0392B"/>
                </a:solidFill>
                <a:latin typeface="맑은 고딕"/>
                <a:ea typeface="맑은 고딕"/>
              </a:rPr>
              <a:t>•  입력 데이터 파일(DATA=/INFILE): 실제 적재 데이터(인라인도 가능)</a:t>
            </a:r>
          </a:p>
          <a:p>
            <a:pPr>
              <a:spcAft>
                <a:spcPts val="1000"/>
              </a:spcAft>
            </a:pPr>
            <a:r>
              <a:rPr sz="1800" b="0">
                <a:solidFill>
                  <a:srgbClr val="C0392B"/>
                </a:solidFill>
                <a:latin typeface="맑은 고딕"/>
                <a:ea typeface="맑은 고딕"/>
              </a:rPr>
              <a:t>•  로그 파일(LOG=): 적재 통계·수행 내역·거부 요약</a:t>
            </a:r>
          </a:p>
          <a:p>
            <a:pPr>
              <a:spcAft>
                <a:spcPts val="1000"/>
              </a:spcAft>
            </a:pPr>
            <a:r>
              <a:rPr sz="1800" b="0">
                <a:solidFill>
                  <a:srgbClr val="C0392B"/>
                </a:solidFill>
                <a:latin typeface="맑은 고딕"/>
                <a:ea typeface="맑은 고딕"/>
              </a:rPr>
              <a:t>•  불량 파일(BAD=): 타입 변환 실패·제약 위반 레코드 / 버림 파일(DISCARD=): WHEN 불일치</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22960" y="2011680"/>
            <a:ext cx="10515600" cy="1097280"/>
          </a:xfrm>
          <a:prstGeom prst="rect">
            <a:avLst/>
          </a:prstGeom>
          <a:noFill/>
        </p:spPr>
        <p:txBody>
          <a:bodyPr wrap="square">
            <a:spAutoFit/>
          </a:bodyPr>
          <a:lstStyle/>
          <a:p>
            <a:pPr>
              <a:spcAft>
                <a:spcPts val="600"/>
              </a:spcAft>
            </a:pPr>
            <a:r>
              <a:rPr sz="4000" b="1">
                <a:solidFill>
                  <a:srgbClr val="FFFFFF"/>
                </a:solidFill>
                <a:latin typeface="맑은 고딕"/>
                <a:ea typeface="맑은 고딕"/>
              </a:rPr>
              <a:t>26.B</a:t>
            </a:r>
          </a:p>
        </p:txBody>
      </p:sp>
      <p:sp>
        <p:nvSpPr>
          <p:cNvPr id="4" name="TextBox 3"/>
          <p:cNvSpPr txBox="1"/>
          <p:nvPr/>
        </p:nvSpPr>
        <p:spPr>
          <a:xfrm>
            <a:off x="822960" y="3017520"/>
            <a:ext cx="10515600" cy="914400"/>
          </a:xfrm>
          <a:prstGeom prst="rect">
            <a:avLst/>
          </a:prstGeom>
          <a:noFill/>
        </p:spPr>
        <p:txBody>
          <a:bodyPr wrap="square">
            <a:spAutoFit/>
          </a:bodyPr>
          <a:lstStyle/>
          <a:p>
            <a:pPr>
              <a:spcAft>
                <a:spcPts val="600"/>
              </a:spcAft>
            </a:pPr>
            <a:r>
              <a:rPr sz="2800" b="0">
                <a:solidFill>
                  <a:srgbClr val="FFFFFF"/>
                </a:solidFill>
                <a:latin typeface="맑은 고딕"/>
                <a:ea typeface="맑은 고딕"/>
              </a:rPr>
              <a:t>컨트롤 파일 구조와 작성법</a:t>
            </a:r>
          </a:p>
        </p:txBody>
      </p:sp>
      <p:sp>
        <p:nvSpPr>
          <p:cNvPr id="5" name="Rectangle 4"/>
          <p:cNvSpPr/>
          <p:nvPr/>
        </p:nvSpPr>
        <p:spPr>
          <a:xfrm>
            <a:off x="822960" y="4114800"/>
            <a:ext cx="5486400" cy="54864"/>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22960" y="4297680"/>
            <a:ext cx="10058400" cy="1828800"/>
          </a:xfrm>
          <a:prstGeom prst="rect">
            <a:avLst/>
          </a:prstGeom>
          <a:noFill/>
        </p:spPr>
        <p:txBody>
          <a:bodyPr wrap="square">
            <a:spAutoFit/>
          </a:bodyPr>
          <a:lstStyle/>
          <a:p>
            <a:pPr>
              <a:spcAft>
                <a:spcPts val="600"/>
              </a:spcAft>
            </a:pPr>
            <a:r>
              <a:rPr sz="1600" b="0">
                <a:solidFill>
                  <a:srgbClr val="FFFFFF"/>
                </a:solidFill>
                <a:latin typeface="맑은 고딕"/>
                <a:ea typeface="맑은 고딕"/>
              </a:rPr>
              <a:t>•  LOAD DATA·INFILE·INTO TABLE</a:t>
            </a:r>
          </a:p>
          <a:p>
            <a:pPr>
              <a:spcAft>
                <a:spcPts val="600"/>
              </a:spcAft>
            </a:pPr>
            <a:r>
              <a:rPr sz="1600" b="0">
                <a:solidFill>
                  <a:srgbClr val="FFFFFF"/>
                </a:solidFill>
                <a:latin typeface="맑은 고딕"/>
                <a:ea typeface="맑은 고딕"/>
              </a:rPr>
              <a:t>•  적재 방식 키워드</a:t>
            </a:r>
          </a:p>
          <a:p>
            <a:pPr>
              <a:spcAft>
                <a:spcPts val="600"/>
              </a:spcAft>
            </a:pPr>
            <a:r>
              <a:rPr sz="1600" b="0">
                <a:solidFill>
                  <a:srgbClr val="FFFFFF"/>
                </a:solidFill>
                <a:latin typeface="맑은 고딕"/>
                <a:ea typeface="맑은 고딕"/>
              </a:rPr>
              <a:t>•  FIELDS·TRAILING NULLCOLS·WHEN</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91440"/>
            <a:ext cx="10972800" cy="731520"/>
          </a:xfrm>
          <a:prstGeom prst="rect">
            <a:avLst/>
          </a:prstGeom>
          <a:noFill/>
        </p:spPr>
        <p:txBody>
          <a:bodyPr wrap="square" anchor="ctr">
            <a:spAutoFit/>
          </a:bodyPr>
          <a:lstStyle/>
          <a:p>
            <a:pPr>
              <a:spcAft>
                <a:spcPts val="600"/>
              </a:spcAft>
            </a:pPr>
            <a:r>
              <a:rPr sz="2600" b="1">
                <a:solidFill>
                  <a:srgbClr val="FFFFFF"/>
                </a:solidFill>
                <a:latin typeface="맑은 고딕"/>
                <a:ea typeface="맑은 고딕"/>
              </a:rPr>
              <a:t>컨트롤 파일의 핵심 절</a:t>
            </a:r>
          </a:p>
        </p:txBody>
      </p:sp>
      <p:sp>
        <p:nvSpPr>
          <p:cNvPr id="4" name="TextBox 3"/>
          <p:cNvSpPr txBox="1"/>
          <p:nvPr/>
        </p:nvSpPr>
        <p:spPr>
          <a:xfrm>
            <a:off x="640080" y="1097280"/>
            <a:ext cx="10881360" cy="457200"/>
          </a:xfrm>
          <a:prstGeom prst="rect">
            <a:avLst/>
          </a:prstGeom>
          <a:noFill/>
        </p:spPr>
        <p:txBody>
          <a:bodyPr wrap="square">
            <a:spAutoFit/>
          </a:bodyPr>
          <a:lstStyle/>
          <a:p>
            <a:pPr>
              <a:spcAft>
                <a:spcPts val="600"/>
              </a:spcAft>
            </a:pPr>
            <a:r>
              <a:rPr sz="1500" b="0">
                <a:solidFill>
                  <a:srgbClr val="5A6672"/>
                </a:solidFill>
                <a:latin typeface="맑은 고딕"/>
                <a:ea typeface="맑은 고딕"/>
              </a:rPr>
              <a:t>적재의 설계도</a:t>
            </a:r>
          </a:p>
        </p:txBody>
      </p:sp>
      <p:sp>
        <p:nvSpPr>
          <p:cNvPr id="5" name="TextBox 4"/>
          <p:cNvSpPr txBox="1"/>
          <p:nvPr/>
        </p:nvSpPr>
        <p:spPr>
          <a:xfrm>
            <a:off x="640080" y="1737360"/>
            <a:ext cx="10881360" cy="4572000"/>
          </a:xfrm>
          <a:prstGeom prst="rect">
            <a:avLst/>
          </a:prstGeom>
          <a:noFill/>
        </p:spPr>
        <p:txBody>
          <a:bodyPr wrap="square">
            <a:spAutoFit/>
          </a:bodyPr>
          <a:lstStyle/>
          <a:p>
            <a:pPr>
              <a:spcAft>
                <a:spcPts val="1000"/>
              </a:spcAft>
            </a:pPr>
            <a:r>
              <a:rPr sz="1800" b="0">
                <a:solidFill>
                  <a:srgbClr val="C0392B"/>
                </a:solidFill>
                <a:latin typeface="맑은 고딕"/>
                <a:ea typeface="맑은 고딕"/>
              </a:rPr>
              <a:t>•  LOAD DATA: 적재 시작 키워드(재개 시 CONTINUE_LOAD DATA)</a:t>
            </a:r>
          </a:p>
          <a:p>
            <a:pPr>
              <a:spcAft>
                <a:spcPts val="1000"/>
              </a:spcAft>
            </a:pPr>
            <a:r>
              <a:rPr sz="1800" b="0">
                <a:solidFill>
                  <a:srgbClr val="C0392B"/>
                </a:solidFill>
                <a:latin typeface="맑은 고딕"/>
                <a:ea typeface="맑은 고딕"/>
              </a:rPr>
              <a:t>•  INFILE: 입력 파일 지정(INFILE * 는 컨트롤 파일 내부 BEGINDATA 데이터)</a:t>
            </a:r>
          </a:p>
          <a:p>
            <a:pPr>
              <a:spcAft>
                <a:spcPts val="1000"/>
              </a:spcAft>
            </a:pPr>
            <a:r>
              <a:rPr sz="1800" b="0">
                <a:solidFill>
                  <a:srgbClr val="C0392B"/>
                </a:solidFill>
                <a:latin typeface="맑은 고딕"/>
                <a:ea typeface="맑은 고딕"/>
              </a:rPr>
              <a:t>•  BADFILE/DISCARDFILE: 거부·버림 레코드 파일명</a:t>
            </a:r>
          </a:p>
          <a:p>
            <a:pPr>
              <a:spcAft>
                <a:spcPts val="1000"/>
              </a:spcAft>
            </a:pPr>
            <a:r>
              <a:rPr sz="1800" b="0">
                <a:solidFill>
                  <a:srgbClr val="C0392B"/>
                </a:solidFill>
                <a:latin typeface="맑은 고딕"/>
                <a:ea typeface="맑은 고딕"/>
              </a:rPr>
              <a:t>•  INTO TABLE + 필드 목록: 대상 테이블과 컬럼 매핑·변환 규칙</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91440"/>
            <a:ext cx="10972800" cy="731520"/>
          </a:xfrm>
          <a:prstGeom prst="rect">
            <a:avLst/>
          </a:prstGeom>
          <a:noFill/>
        </p:spPr>
        <p:txBody>
          <a:bodyPr wrap="square" anchor="ctr">
            <a:spAutoFit/>
          </a:bodyPr>
          <a:lstStyle/>
          <a:p>
            <a:pPr>
              <a:spcAft>
                <a:spcPts val="600"/>
              </a:spcAft>
            </a:pPr>
            <a:r>
              <a:rPr sz="2600" b="1">
                <a:solidFill>
                  <a:srgbClr val="FFFFFF"/>
                </a:solidFill>
                <a:latin typeface="맑은 고딕"/>
                <a:ea typeface="맑은 고딕"/>
              </a:rPr>
              <a:t>컨트롤 파일 예 (구분자 기반)</a:t>
            </a:r>
          </a:p>
        </p:txBody>
      </p:sp>
      <p:sp>
        <p:nvSpPr>
          <p:cNvPr id="4" name="TextBox 3"/>
          <p:cNvSpPr txBox="1"/>
          <p:nvPr/>
        </p:nvSpPr>
        <p:spPr>
          <a:xfrm>
            <a:off x="640080" y="1097280"/>
            <a:ext cx="10881360" cy="457200"/>
          </a:xfrm>
          <a:prstGeom prst="rect">
            <a:avLst/>
          </a:prstGeom>
          <a:noFill/>
        </p:spPr>
        <p:txBody>
          <a:bodyPr wrap="square">
            <a:spAutoFit/>
          </a:bodyPr>
          <a:lstStyle/>
          <a:p>
            <a:pPr>
              <a:spcAft>
                <a:spcPts val="600"/>
              </a:spcAft>
            </a:pPr>
            <a:r>
              <a:rPr sz="1500" b="0">
                <a:solidFill>
                  <a:srgbClr val="5A6672"/>
                </a:solidFill>
                <a:latin typeface="맑은 고딕"/>
                <a:ea typeface="맑은 고딕"/>
              </a:rPr>
              <a:t>employees.ctl</a:t>
            </a:r>
          </a:p>
        </p:txBody>
      </p:sp>
      <p:sp>
        <p:nvSpPr>
          <p:cNvPr id="5" name="Rectangle 4"/>
          <p:cNvSpPr/>
          <p:nvPr/>
        </p:nvSpPr>
        <p:spPr>
          <a:xfrm>
            <a:off x="640080" y="1645920"/>
            <a:ext cx="10881360" cy="4754880"/>
          </a:xfrm>
          <a:prstGeom prst="rect">
            <a:avLst/>
          </a:prstGeom>
          <a:solidFill>
            <a:srgbClr val="1E1E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68680" y="1828800"/>
            <a:ext cx="10424160" cy="4389120"/>
          </a:xfrm>
          <a:prstGeom prst="rect">
            <a:avLst/>
          </a:prstGeom>
          <a:noFill/>
        </p:spPr>
        <p:txBody>
          <a:bodyPr wrap="square">
            <a:spAutoFit/>
          </a:bodyPr>
          <a:lstStyle/>
          <a:p>
            <a:pPr>
              <a:spcAft>
                <a:spcPts val="200"/>
              </a:spcAft>
            </a:pPr>
            <a:r>
              <a:rPr sz="1250">
                <a:solidFill>
                  <a:srgbClr val="7EC699"/>
                </a:solidFill>
                <a:latin typeface="Consolas"/>
                <a:ea typeface="Consolas"/>
              </a:rPr>
              <a:t>-- 컨트롤 파일: employees.ctl</a:t>
            </a:r>
          </a:p>
          <a:p>
            <a:pPr>
              <a:spcAft>
                <a:spcPts val="200"/>
              </a:spcAft>
            </a:pPr>
            <a:r>
              <a:rPr sz="1250">
                <a:solidFill>
                  <a:srgbClr val="E6E6E6"/>
                </a:solidFill>
                <a:latin typeface="Consolas"/>
                <a:ea typeface="Consolas"/>
              </a:rPr>
              <a:t>LOAD DATA</a:t>
            </a:r>
          </a:p>
          <a:p>
            <a:pPr>
              <a:spcAft>
                <a:spcPts val="200"/>
              </a:spcAft>
            </a:pPr>
            <a:r>
              <a:rPr sz="1250">
                <a:solidFill>
                  <a:srgbClr val="E6E6E6"/>
                </a:solidFill>
                <a:latin typeface="Consolas"/>
                <a:ea typeface="Consolas"/>
              </a:rPr>
              <a:t>INFILE 'employees.csv'</a:t>
            </a:r>
          </a:p>
          <a:p>
            <a:pPr>
              <a:spcAft>
                <a:spcPts val="200"/>
              </a:spcAft>
            </a:pPr>
            <a:r>
              <a:rPr sz="1250">
                <a:solidFill>
                  <a:srgbClr val="E6E6E6"/>
                </a:solidFill>
                <a:latin typeface="Consolas"/>
                <a:ea typeface="Consolas"/>
              </a:rPr>
              <a:t>BADFILE 'employees.bad'</a:t>
            </a:r>
          </a:p>
          <a:p>
            <a:pPr>
              <a:spcAft>
                <a:spcPts val="200"/>
              </a:spcAft>
            </a:pPr>
            <a:r>
              <a:rPr sz="1250">
                <a:solidFill>
                  <a:srgbClr val="E6E6E6"/>
                </a:solidFill>
                <a:latin typeface="Consolas"/>
                <a:ea typeface="Consolas"/>
              </a:rPr>
              <a:t>DISCARDFILE 'employees.dsc'</a:t>
            </a:r>
          </a:p>
          <a:p>
            <a:pPr>
              <a:spcAft>
                <a:spcPts val="200"/>
              </a:spcAft>
            </a:pPr>
            <a:r>
              <a:rPr sz="1250">
                <a:solidFill>
                  <a:srgbClr val="E6E6E6"/>
                </a:solidFill>
                <a:latin typeface="Consolas"/>
                <a:ea typeface="Consolas"/>
              </a:rPr>
              <a:t>APPEND</a:t>
            </a:r>
          </a:p>
          <a:p>
            <a:pPr>
              <a:spcAft>
                <a:spcPts val="200"/>
              </a:spcAft>
            </a:pPr>
            <a:r>
              <a:rPr sz="1250">
                <a:solidFill>
                  <a:srgbClr val="E6E6E6"/>
                </a:solidFill>
                <a:latin typeface="Consolas"/>
                <a:ea typeface="Consolas"/>
              </a:rPr>
              <a:t>INTO TABLE employees</a:t>
            </a:r>
          </a:p>
          <a:p>
            <a:pPr>
              <a:spcAft>
                <a:spcPts val="200"/>
              </a:spcAft>
            </a:pPr>
            <a:r>
              <a:rPr sz="1250">
                <a:solidFill>
                  <a:srgbClr val="E6E6E6"/>
                </a:solidFill>
                <a:latin typeface="Consolas"/>
                <a:ea typeface="Consolas"/>
              </a:rPr>
              <a:t>FIELDS TERMINATED BY ',' OPTIONALLY ENCLOSED BY '"'</a:t>
            </a:r>
          </a:p>
          <a:p>
            <a:pPr>
              <a:spcAft>
                <a:spcPts val="200"/>
              </a:spcAft>
            </a:pPr>
            <a:r>
              <a:rPr sz="1250">
                <a:solidFill>
                  <a:srgbClr val="E6E6E6"/>
                </a:solidFill>
                <a:latin typeface="Consolas"/>
                <a:ea typeface="Consolas"/>
              </a:rPr>
              <a:t>TRAILING NULLCOLS</a:t>
            </a:r>
          </a:p>
          <a:p>
            <a:pPr>
              <a:spcAft>
                <a:spcPts val="200"/>
              </a:spcAft>
            </a:pPr>
            <a:r>
              <a:rPr sz="1250">
                <a:solidFill>
                  <a:srgbClr val="E6E6E6"/>
                </a:solidFill>
                <a:latin typeface="Consolas"/>
                <a:ea typeface="Consolas"/>
              </a:rPr>
              <a:t>( employee_id,</a:t>
            </a:r>
          </a:p>
          <a:p>
            <a:pPr>
              <a:spcAft>
                <a:spcPts val="200"/>
              </a:spcAft>
            </a:pPr>
            <a:r>
              <a:rPr sz="1250">
                <a:solidFill>
                  <a:srgbClr val="E6E6E6"/>
                </a:solidFill>
                <a:latin typeface="Consolas"/>
                <a:ea typeface="Consolas"/>
              </a:rPr>
              <a:t>  last_name,</a:t>
            </a:r>
          </a:p>
          <a:p>
            <a:pPr>
              <a:spcAft>
                <a:spcPts val="200"/>
              </a:spcAft>
            </a:pPr>
            <a:r>
              <a:rPr sz="1250">
                <a:solidFill>
                  <a:srgbClr val="E6E6E6"/>
                </a:solidFill>
                <a:latin typeface="Consolas"/>
                <a:ea typeface="Consolas"/>
              </a:rPr>
              <a:t>  hire_date  DATE "YYYY-MM-DD",</a:t>
            </a:r>
          </a:p>
          <a:p>
            <a:pPr>
              <a:spcAft>
                <a:spcPts val="200"/>
              </a:spcAft>
            </a:pPr>
            <a:r>
              <a:rPr sz="1250">
                <a:solidFill>
                  <a:srgbClr val="E6E6E6"/>
                </a:solidFill>
                <a:latin typeface="Consolas"/>
                <a:ea typeface="Consolas"/>
              </a:rPr>
              <a:t>  salary     "TO_NUMBER(:salary,'999999.99')",</a:t>
            </a:r>
          </a:p>
          <a:p>
            <a:pPr>
              <a:spcAft>
                <a:spcPts val="200"/>
              </a:spcAft>
            </a:pPr>
            <a:r>
              <a:rPr sz="1250">
                <a:solidFill>
                  <a:srgbClr val="E6E6E6"/>
                </a:solidFill>
                <a:latin typeface="Consolas"/>
                <a:ea typeface="Consolas"/>
              </a:rPr>
              <a:t>  dept_id )</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91440"/>
            <a:ext cx="10972800" cy="731520"/>
          </a:xfrm>
          <a:prstGeom prst="rect">
            <a:avLst/>
          </a:prstGeom>
          <a:noFill/>
        </p:spPr>
        <p:txBody>
          <a:bodyPr wrap="square" anchor="ctr">
            <a:spAutoFit/>
          </a:bodyPr>
          <a:lstStyle/>
          <a:p>
            <a:pPr>
              <a:spcAft>
                <a:spcPts val="600"/>
              </a:spcAft>
            </a:pPr>
            <a:r>
              <a:rPr sz="2600" b="1">
                <a:solidFill>
                  <a:srgbClr val="FFFFFF"/>
                </a:solidFill>
                <a:latin typeface="맑은 고딕"/>
                <a:ea typeface="맑은 고딕"/>
              </a:rPr>
              <a:t>적재 방식 키워드</a:t>
            </a:r>
          </a:p>
        </p:txBody>
      </p:sp>
      <p:sp>
        <p:nvSpPr>
          <p:cNvPr id="4" name="TextBox 3"/>
          <p:cNvSpPr txBox="1"/>
          <p:nvPr/>
        </p:nvSpPr>
        <p:spPr>
          <a:xfrm>
            <a:off x="640080" y="1463040"/>
            <a:ext cx="10881360" cy="4937760"/>
          </a:xfrm>
          <a:prstGeom prst="rect">
            <a:avLst/>
          </a:prstGeom>
          <a:noFill/>
        </p:spPr>
        <p:txBody>
          <a:bodyPr wrap="square">
            <a:spAutoFit/>
          </a:bodyPr>
          <a:lstStyle/>
          <a:p>
            <a:pPr>
              <a:spcAft>
                <a:spcPts val="800"/>
              </a:spcAft>
            </a:pPr>
            <a:r>
              <a:rPr sz="1800" b="0">
                <a:solidFill>
                  <a:srgbClr val="C0392B"/>
                </a:solidFill>
                <a:latin typeface="맑은 고딕"/>
                <a:ea typeface="맑은 고딕"/>
              </a:rPr>
              <a:t>•  INSERT: 빈 테이블에만 적재(기본값, 행 있으면 오류)</a:t>
            </a:r>
          </a:p>
          <a:p>
            <a:pPr>
              <a:spcAft>
                <a:spcPts val="800"/>
              </a:spcAft>
            </a:pPr>
            <a:r>
              <a:rPr sz="1800" b="0">
                <a:solidFill>
                  <a:srgbClr val="C0392B"/>
                </a:solidFill>
                <a:latin typeface="맑은 고딕"/>
                <a:ea typeface="맑은 고딕"/>
              </a:rPr>
              <a:t>•  APPEND: 기존 행 유지, 뒤에 추가 — 다이렉트 경로와 잘 어울림</a:t>
            </a:r>
          </a:p>
          <a:p>
            <a:pPr>
              <a:spcAft>
                <a:spcPts val="800"/>
              </a:spcAft>
            </a:pPr>
            <a:r>
              <a:rPr sz="1800" b="0">
                <a:solidFill>
                  <a:srgbClr val="C0392B"/>
                </a:solidFill>
                <a:latin typeface="맑은 고딕"/>
                <a:ea typeface="맑은 고딕"/>
              </a:rPr>
              <a:t>•  REPLACE: 기존 행 DELETE 후 적재 — DELETE 트리거·언두 발생</a:t>
            </a:r>
          </a:p>
          <a:p>
            <a:pPr>
              <a:spcAft>
                <a:spcPts val="800"/>
              </a:spcAft>
            </a:pPr>
            <a:r>
              <a:rPr sz="1800" b="0">
                <a:solidFill>
                  <a:srgbClr val="C0392B"/>
                </a:solidFill>
                <a:latin typeface="맑은 고딕"/>
                <a:ea typeface="맑은 고딕"/>
              </a:rPr>
              <a:t>•  TRUNCATE: 기존 행 TRUNCATE 후 적재 — 가장 빠름, 롤백 불가</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91440"/>
            <a:ext cx="10972800" cy="731520"/>
          </a:xfrm>
          <a:prstGeom prst="rect">
            <a:avLst/>
          </a:prstGeom>
          <a:noFill/>
        </p:spPr>
        <p:txBody>
          <a:bodyPr wrap="square" anchor="ctr">
            <a:spAutoFit/>
          </a:bodyPr>
          <a:lstStyle/>
          <a:p>
            <a:pPr>
              <a:spcAft>
                <a:spcPts val="600"/>
              </a:spcAft>
            </a:pPr>
            <a:r>
              <a:rPr sz="2600" b="1">
                <a:solidFill>
                  <a:srgbClr val="FFFFFF"/>
                </a:solidFill>
                <a:latin typeface="맑은 고딕"/>
                <a:ea typeface="맑은 고딕"/>
              </a:rPr>
              <a:t>FIELDS · ENCLOSED · TRAILING NULLCOLS</a:t>
            </a:r>
          </a:p>
        </p:txBody>
      </p:sp>
      <p:sp>
        <p:nvSpPr>
          <p:cNvPr id="4" name="TextBox 3"/>
          <p:cNvSpPr txBox="1"/>
          <p:nvPr/>
        </p:nvSpPr>
        <p:spPr>
          <a:xfrm>
            <a:off x="640080" y="1097280"/>
            <a:ext cx="10881360" cy="457200"/>
          </a:xfrm>
          <a:prstGeom prst="rect">
            <a:avLst/>
          </a:prstGeom>
          <a:noFill/>
        </p:spPr>
        <p:txBody>
          <a:bodyPr wrap="square">
            <a:spAutoFit/>
          </a:bodyPr>
          <a:lstStyle/>
          <a:p>
            <a:pPr>
              <a:spcAft>
                <a:spcPts val="600"/>
              </a:spcAft>
            </a:pPr>
            <a:r>
              <a:rPr sz="1500" b="0">
                <a:solidFill>
                  <a:srgbClr val="5A6672"/>
                </a:solidFill>
                <a:latin typeface="맑은 고딕"/>
                <a:ea typeface="맑은 고딕"/>
              </a:rPr>
              <a:t>필드 해석 규칙</a:t>
            </a:r>
          </a:p>
        </p:txBody>
      </p:sp>
      <p:sp>
        <p:nvSpPr>
          <p:cNvPr id="5" name="TextBox 4"/>
          <p:cNvSpPr txBox="1"/>
          <p:nvPr/>
        </p:nvSpPr>
        <p:spPr>
          <a:xfrm>
            <a:off x="640080" y="1737360"/>
            <a:ext cx="10881360" cy="4572000"/>
          </a:xfrm>
          <a:prstGeom prst="rect">
            <a:avLst/>
          </a:prstGeom>
          <a:noFill/>
        </p:spPr>
        <p:txBody>
          <a:bodyPr wrap="square">
            <a:spAutoFit/>
          </a:bodyPr>
          <a:lstStyle/>
          <a:p>
            <a:pPr>
              <a:spcAft>
                <a:spcPts val="1000"/>
              </a:spcAft>
            </a:pPr>
            <a:r>
              <a:rPr sz="1800" b="0">
                <a:solidFill>
                  <a:srgbClr val="C0392B"/>
                </a:solidFill>
                <a:latin typeface="맑은 고딕"/>
                <a:ea typeface="맑은 고딕"/>
              </a:rPr>
              <a:t>•  FIELDS TERMINATED BY ',' : 구분자(탭은 X'09', WHITESPACE 등)</a:t>
            </a:r>
          </a:p>
          <a:p>
            <a:pPr>
              <a:spcAft>
                <a:spcPts val="1000"/>
              </a:spcAft>
            </a:pPr>
            <a:r>
              <a:rPr sz="1800" b="0">
                <a:solidFill>
                  <a:srgbClr val="C0392B"/>
                </a:solidFill>
                <a:latin typeface="맑은 고딕"/>
                <a:ea typeface="맑은 고딕"/>
              </a:rPr>
              <a:t>•  OPTIONALLY ENCLOSED BY '"' : 값 내부 구분자를 안전 처리</a:t>
            </a:r>
          </a:p>
          <a:p>
            <a:pPr>
              <a:spcAft>
                <a:spcPts val="1000"/>
              </a:spcAft>
            </a:pPr>
            <a:r>
              <a:rPr sz="1800" b="0">
                <a:solidFill>
                  <a:srgbClr val="C0392B"/>
                </a:solidFill>
                <a:latin typeface="맑은 고딕"/>
                <a:ea typeface="맑은 고딕"/>
              </a:rPr>
              <a:t>•  TRAILING NULLCOLS: 없는 후행 필드를 NULL로 채워 거부 방지</a:t>
            </a:r>
          </a:p>
          <a:p>
            <a:pPr>
              <a:spcAft>
                <a:spcPts val="1000"/>
              </a:spcAft>
            </a:pPr>
            <a:r>
              <a:rPr sz="1800" b="0">
                <a:solidFill>
                  <a:srgbClr val="C0392B"/>
                </a:solidFill>
                <a:latin typeface="맑은 고딕"/>
                <a:ea typeface="맑은 고딕"/>
              </a:rPr>
              <a:t>•  NULLIF/DEFAULTIF/CONSTANT/SEQUENCE로 선언적 가공</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91440"/>
            <a:ext cx="10972800" cy="731520"/>
          </a:xfrm>
          <a:prstGeom prst="rect">
            <a:avLst/>
          </a:prstGeom>
          <a:noFill/>
        </p:spPr>
        <p:txBody>
          <a:bodyPr wrap="square" anchor="ctr">
            <a:spAutoFit/>
          </a:bodyPr>
          <a:lstStyle/>
          <a:p>
            <a:pPr>
              <a:spcAft>
                <a:spcPts val="600"/>
              </a:spcAft>
            </a:pPr>
            <a:r>
              <a:rPr sz="2600" b="1">
                <a:solidFill>
                  <a:srgbClr val="FFFFFF"/>
                </a:solidFill>
                <a:latin typeface="맑은 고딕"/>
                <a:ea typeface="맑은 고딕"/>
              </a:rPr>
              <a:t>WHEN 조건과 다중 INTO TABLE</a:t>
            </a:r>
          </a:p>
        </p:txBody>
      </p:sp>
      <p:sp>
        <p:nvSpPr>
          <p:cNvPr id="4" name="TextBox 3"/>
          <p:cNvSpPr txBox="1"/>
          <p:nvPr/>
        </p:nvSpPr>
        <p:spPr>
          <a:xfrm>
            <a:off x="640080" y="1097280"/>
            <a:ext cx="10881360" cy="457200"/>
          </a:xfrm>
          <a:prstGeom prst="rect">
            <a:avLst/>
          </a:prstGeom>
          <a:noFill/>
        </p:spPr>
        <p:txBody>
          <a:bodyPr wrap="square">
            <a:spAutoFit/>
          </a:bodyPr>
          <a:lstStyle/>
          <a:p>
            <a:pPr>
              <a:spcAft>
                <a:spcPts val="600"/>
              </a:spcAft>
            </a:pPr>
            <a:r>
              <a:rPr sz="1500" b="0">
                <a:solidFill>
                  <a:srgbClr val="5A6672"/>
                </a:solidFill>
                <a:latin typeface="맑은 고딕"/>
                <a:ea typeface="맑은 고딕"/>
              </a:rPr>
              <a:t>하나의 파일을 여러 테이블로</a:t>
            </a:r>
          </a:p>
        </p:txBody>
      </p:sp>
      <p:sp>
        <p:nvSpPr>
          <p:cNvPr id="5" name="TextBox 4"/>
          <p:cNvSpPr txBox="1"/>
          <p:nvPr/>
        </p:nvSpPr>
        <p:spPr>
          <a:xfrm>
            <a:off x="640080" y="1737360"/>
            <a:ext cx="10881360" cy="4572000"/>
          </a:xfrm>
          <a:prstGeom prst="rect">
            <a:avLst/>
          </a:prstGeom>
          <a:noFill/>
        </p:spPr>
        <p:txBody>
          <a:bodyPr wrap="square">
            <a:spAutoFit/>
          </a:bodyPr>
          <a:lstStyle/>
          <a:p>
            <a:pPr>
              <a:spcAft>
                <a:spcPts val="1000"/>
              </a:spcAft>
            </a:pPr>
            <a:r>
              <a:rPr sz="1800" b="0">
                <a:solidFill>
                  <a:srgbClr val="C0392B"/>
                </a:solidFill>
                <a:latin typeface="맑은 고딕"/>
                <a:ea typeface="맑은 고딕"/>
              </a:rPr>
              <a:t>•  INTO TABLE을 여러 개 두고 각기 WHEN 조건 지정 가능</a:t>
            </a:r>
          </a:p>
          <a:p>
            <a:pPr>
              <a:spcAft>
                <a:spcPts val="1000"/>
              </a:spcAft>
            </a:pPr>
            <a:r>
              <a:rPr sz="1800" b="0">
                <a:solidFill>
                  <a:srgbClr val="C0392B"/>
                </a:solidFill>
                <a:latin typeface="맑은 고딕"/>
                <a:ea typeface="맑은 고딕"/>
              </a:rPr>
              <a:t>•  예: WHEN (1:1)='H' → 헤더 테이블, WHEN (1:1)='D' → 상세 테이블</a:t>
            </a:r>
          </a:p>
          <a:p>
            <a:pPr>
              <a:spcAft>
                <a:spcPts val="1000"/>
              </a:spcAft>
            </a:pPr>
            <a:r>
              <a:rPr sz="1800" b="0">
                <a:solidFill>
                  <a:srgbClr val="C0392B"/>
                </a:solidFill>
                <a:latin typeface="맑은 고딕"/>
                <a:ea typeface="맑은 고딕"/>
              </a:rPr>
              <a:t>•  WHEN 조건 불일치 레코드는 오류가 아니라 버림(discard) 대상</a:t>
            </a:r>
          </a:p>
          <a:p>
            <a:pPr>
              <a:spcAft>
                <a:spcPts val="1000"/>
              </a:spcAft>
            </a:pPr>
            <a:r>
              <a:rPr sz="1800" b="0">
                <a:solidFill>
                  <a:srgbClr val="C0392B"/>
                </a:solidFill>
                <a:latin typeface="맑은 고딕"/>
                <a:ea typeface="맑은 고딕"/>
              </a:rPr>
              <a:t>•  한 입력 파일을 여러 정규화 테이블로 분해할 때 유용</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22960" y="2011680"/>
            <a:ext cx="10515600" cy="1097280"/>
          </a:xfrm>
          <a:prstGeom prst="rect">
            <a:avLst/>
          </a:prstGeom>
          <a:noFill/>
        </p:spPr>
        <p:txBody>
          <a:bodyPr wrap="square">
            <a:spAutoFit/>
          </a:bodyPr>
          <a:lstStyle/>
          <a:p>
            <a:pPr>
              <a:spcAft>
                <a:spcPts val="600"/>
              </a:spcAft>
            </a:pPr>
            <a:r>
              <a:rPr sz="4000" b="1">
                <a:solidFill>
                  <a:srgbClr val="FFFFFF"/>
                </a:solidFill>
                <a:latin typeface="맑은 고딕"/>
                <a:ea typeface="맑은 고딕"/>
              </a:rPr>
              <a:t>26.C</a:t>
            </a:r>
          </a:p>
        </p:txBody>
      </p:sp>
      <p:sp>
        <p:nvSpPr>
          <p:cNvPr id="4" name="TextBox 3"/>
          <p:cNvSpPr txBox="1"/>
          <p:nvPr/>
        </p:nvSpPr>
        <p:spPr>
          <a:xfrm>
            <a:off x="822960" y="3017520"/>
            <a:ext cx="10515600" cy="914400"/>
          </a:xfrm>
          <a:prstGeom prst="rect">
            <a:avLst/>
          </a:prstGeom>
          <a:noFill/>
        </p:spPr>
        <p:txBody>
          <a:bodyPr wrap="square">
            <a:spAutoFit/>
          </a:bodyPr>
          <a:lstStyle/>
          <a:p>
            <a:pPr>
              <a:spcAft>
                <a:spcPts val="600"/>
              </a:spcAft>
            </a:pPr>
            <a:r>
              <a:rPr sz="2800" b="0">
                <a:solidFill>
                  <a:srgbClr val="FFFFFF"/>
                </a:solidFill>
                <a:latin typeface="맑은 고딕"/>
                <a:ea typeface="맑은 고딕"/>
              </a:rPr>
              <a:t>데이터 파일 형식</a:t>
            </a:r>
          </a:p>
        </p:txBody>
      </p:sp>
      <p:sp>
        <p:nvSpPr>
          <p:cNvPr id="5" name="Rectangle 4"/>
          <p:cNvSpPr/>
          <p:nvPr/>
        </p:nvSpPr>
        <p:spPr>
          <a:xfrm>
            <a:off x="822960" y="4114800"/>
            <a:ext cx="5486400" cy="54864"/>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22960" y="4297680"/>
            <a:ext cx="10058400" cy="1828800"/>
          </a:xfrm>
          <a:prstGeom prst="rect">
            <a:avLst/>
          </a:prstGeom>
          <a:noFill/>
        </p:spPr>
        <p:txBody>
          <a:bodyPr wrap="square">
            <a:spAutoFit/>
          </a:bodyPr>
          <a:lstStyle/>
          <a:p>
            <a:pPr>
              <a:spcAft>
                <a:spcPts val="600"/>
              </a:spcAft>
            </a:pPr>
            <a:r>
              <a:rPr sz="1600" b="0">
                <a:solidFill>
                  <a:srgbClr val="FFFFFF"/>
                </a:solidFill>
                <a:latin typeface="맑은 고딕"/>
                <a:ea typeface="맑은 고딕"/>
              </a:rPr>
              <a:t>•  구분자 기반(Delimited)</a:t>
            </a:r>
          </a:p>
          <a:p>
            <a:pPr>
              <a:spcAft>
                <a:spcPts val="600"/>
              </a:spcAft>
            </a:pPr>
            <a:r>
              <a:rPr sz="1600" b="0">
                <a:solidFill>
                  <a:srgbClr val="FFFFFF"/>
                </a:solidFill>
                <a:latin typeface="맑은 고딕"/>
                <a:ea typeface="맑은 고딕"/>
              </a:rPr>
              <a:t>•  고정길이(Positional)</a:t>
            </a:r>
          </a:p>
          <a:p>
            <a:pPr>
              <a:spcAft>
                <a:spcPts val="600"/>
              </a:spcAft>
            </a:pPr>
            <a:r>
              <a:rPr sz="1600" b="0">
                <a:solidFill>
                  <a:srgbClr val="FFFFFF"/>
                </a:solidFill>
                <a:latin typeface="맑은 고딕"/>
                <a:ea typeface="맑은 고딕"/>
              </a:rPr>
              <a:t>•  SQL*Loader 필드 데이터 타입</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91440"/>
            <a:ext cx="10972800" cy="731520"/>
          </a:xfrm>
          <a:prstGeom prst="rect">
            <a:avLst/>
          </a:prstGeom>
          <a:noFill/>
        </p:spPr>
        <p:txBody>
          <a:bodyPr wrap="square" anchor="ctr">
            <a:spAutoFit/>
          </a:bodyPr>
          <a:lstStyle/>
          <a:p>
            <a:pPr>
              <a:spcAft>
                <a:spcPts val="600"/>
              </a:spcAft>
            </a:pPr>
            <a:r>
              <a:rPr sz="2600" b="1">
                <a:solidFill>
                  <a:srgbClr val="FFFFFF"/>
                </a:solidFill>
                <a:latin typeface="맑은 고딕"/>
                <a:ea typeface="맑은 고딕"/>
              </a:rPr>
              <a:t>구분자 기반(Delimited) 형식</a:t>
            </a:r>
          </a:p>
        </p:txBody>
      </p:sp>
      <p:sp>
        <p:nvSpPr>
          <p:cNvPr id="4" name="TextBox 3"/>
          <p:cNvSpPr txBox="1"/>
          <p:nvPr/>
        </p:nvSpPr>
        <p:spPr>
          <a:xfrm>
            <a:off x="640080" y="1097280"/>
            <a:ext cx="10881360" cy="457200"/>
          </a:xfrm>
          <a:prstGeom prst="rect">
            <a:avLst/>
          </a:prstGeom>
          <a:noFill/>
        </p:spPr>
        <p:txBody>
          <a:bodyPr wrap="square">
            <a:spAutoFit/>
          </a:bodyPr>
          <a:lstStyle/>
          <a:p>
            <a:pPr>
              <a:spcAft>
                <a:spcPts val="600"/>
              </a:spcAft>
            </a:pPr>
            <a:r>
              <a:rPr sz="1500" b="0">
                <a:solidFill>
                  <a:srgbClr val="5A6672"/>
                </a:solidFill>
                <a:latin typeface="맑은 고딕"/>
                <a:ea typeface="맑은 고딕"/>
              </a:rPr>
              <a:t>쉼표·탭·파이프로 분리</a:t>
            </a:r>
          </a:p>
        </p:txBody>
      </p:sp>
      <p:sp>
        <p:nvSpPr>
          <p:cNvPr id="5" name="TextBox 4"/>
          <p:cNvSpPr txBox="1"/>
          <p:nvPr/>
        </p:nvSpPr>
        <p:spPr>
          <a:xfrm>
            <a:off x="640080" y="1737360"/>
            <a:ext cx="10881360" cy="4572000"/>
          </a:xfrm>
          <a:prstGeom prst="rect">
            <a:avLst/>
          </a:prstGeom>
          <a:noFill/>
        </p:spPr>
        <p:txBody>
          <a:bodyPr wrap="square">
            <a:spAutoFit/>
          </a:bodyPr>
          <a:lstStyle/>
          <a:p>
            <a:pPr>
              <a:spcAft>
                <a:spcPts val="1000"/>
              </a:spcAft>
            </a:pPr>
            <a:r>
              <a:rPr sz="1800" b="0">
                <a:solidFill>
                  <a:srgbClr val="C0392B"/>
                </a:solidFill>
                <a:latin typeface="맑은 고딕"/>
                <a:ea typeface="맑은 고딕"/>
              </a:rPr>
              <a:t>•  필드가 구분자로 분리, 필드 길이가 레코드마다 달라도 됨</a:t>
            </a:r>
          </a:p>
          <a:p>
            <a:pPr>
              <a:spcAft>
                <a:spcPts val="1000"/>
              </a:spcAft>
            </a:pPr>
            <a:r>
              <a:rPr sz="1800" b="0">
                <a:solidFill>
                  <a:srgbClr val="C0392B"/>
                </a:solidFill>
                <a:latin typeface="맑은 고딕"/>
                <a:ea typeface="맑은 고딕"/>
              </a:rPr>
              <a:t>•  사람이 읽기 쉽고 스프레드시트·다른 DBMS 언로드의 표준</a:t>
            </a:r>
          </a:p>
          <a:p>
            <a:pPr>
              <a:spcAft>
                <a:spcPts val="1000"/>
              </a:spcAft>
            </a:pPr>
            <a:r>
              <a:rPr sz="1800" b="0">
                <a:solidFill>
                  <a:srgbClr val="C0392B"/>
                </a:solidFill>
                <a:latin typeface="맑은 고딕"/>
                <a:ea typeface="맑은 고딕"/>
              </a:rPr>
              <a:t>•  컨트롤 파일: FIELDS TERMINATED BY + 필드명 나열</a:t>
            </a:r>
          </a:p>
          <a:p>
            <a:pPr>
              <a:spcAft>
                <a:spcPts val="1000"/>
              </a:spcAft>
            </a:pPr>
            <a:r>
              <a:rPr sz="1800" b="0">
                <a:solidFill>
                  <a:srgbClr val="C0392B"/>
                </a:solidFill>
                <a:latin typeface="맑은 고딕"/>
                <a:ea typeface="맑은 고딕"/>
              </a:rPr>
              <a:t>•  값에 구분자 포함 시 ENCLOSED BY로 감싸는 문자 지정</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91440"/>
            <a:ext cx="10972800" cy="731520"/>
          </a:xfrm>
          <a:prstGeom prst="rect">
            <a:avLst/>
          </a:prstGeom>
          <a:noFill/>
        </p:spPr>
        <p:txBody>
          <a:bodyPr wrap="square" anchor="ctr">
            <a:spAutoFit/>
          </a:bodyPr>
          <a:lstStyle/>
          <a:p>
            <a:pPr>
              <a:spcAft>
                <a:spcPts val="600"/>
              </a:spcAft>
            </a:pPr>
            <a:r>
              <a:rPr sz="2600" b="1">
                <a:solidFill>
                  <a:srgbClr val="FFFFFF"/>
                </a:solidFill>
                <a:latin typeface="맑은 고딕"/>
                <a:ea typeface="맑은 고딕"/>
              </a:rPr>
              <a:t>구분자 기반 예</a:t>
            </a:r>
          </a:p>
        </p:txBody>
      </p:sp>
      <p:sp>
        <p:nvSpPr>
          <p:cNvPr id="4" name="TextBox 3"/>
          <p:cNvSpPr txBox="1"/>
          <p:nvPr/>
        </p:nvSpPr>
        <p:spPr>
          <a:xfrm>
            <a:off x="640080" y="1097280"/>
            <a:ext cx="10881360" cy="457200"/>
          </a:xfrm>
          <a:prstGeom prst="rect">
            <a:avLst/>
          </a:prstGeom>
          <a:noFill/>
        </p:spPr>
        <p:txBody>
          <a:bodyPr wrap="square">
            <a:spAutoFit/>
          </a:bodyPr>
          <a:lstStyle/>
          <a:p>
            <a:pPr>
              <a:spcAft>
                <a:spcPts val="600"/>
              </a:spcAft>
            </a:pPr>
            <a:r>
              <a:rPr sz="1500" b="0">
                <a:solidFill>
                  <a:srgbClr val="5A6672"/>
                </a:solidFill>
                <a:latin typeface="맑은 고딕"/>
                <a:ea typeface="맑은 고딕"/>
              </a:rPr>
              <a:t>dept.csv</a:t>
            </a:r>
          </a:p>
        </p:txBody>
      </p:sp>
      <p:sp>
        <p:nvSpPr>
          <p:cNvPr id="5" name="Rectangle 4"/>
          <p:cNvSpPr/>
          <p:nvPr/>
        </p:nvSpPr>
        <p:spPr>
          <a:xfrm>
            <a:off x="640080" y="1645920"/>
            <a:ext cx="10881360" cy="4754880"/>
          </a:xfrm>
          <a:prstGeom prst="rect">
            <a:avLst/>
          </a:prstGeom>
          <a:solidFill>
            <a:srgbClr val="1E1E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68680" y="1828800"/>
            <a:ext cx="10424160" cy="4389120"/>
          </a:xfrm>
          <a:prstGeom prst="rect">
            <a:avLst/>
          </a:prstGeom>
          <a:noFill/>
        </p:spPr>
        <p:txBody>
          <a:bodyPr wrap="square">
            <a:spAutoFit/>
          </a:bodyPr>
          <a:lstStyle/>
          <a:p>
            <a:pPr>
              <a:spcAft>
                <a:spcPts val="200"/>
              </a:spcAft>
            </a:pPr>
            <a:r>
              <a:rPr sz="1250">
                <a:solidFill>
                  <a:srgbClr val="7EC699"/>
                </a:solidFill>
                <a:latin typeface="Consolas"/>
                <a:ea typeface="Consolas"/>
              </a:rPr>
              <a:t>-- 데이터: dept.csv</a:t>
            </a:r>
          </a:p>
          <a:p>
            <a:pPr>
              <a:spcAft>
                <a:spcPts val="200"/>
              </a:spcAft>
            </a:pPr>
            <a:r>
              <a:rPr sz="1250">
                <a:solidFill>
                  <a:srgbClr val="E6E6E6"/>
                </a:solidFill>
                <a:latin typeface="Consolas"/>
                <a:ea typeface="Consolas"/>
              </a:rPr>
              <a:t>10,ACCOUNTING,NEW YORK</a:t>
            </a:r>
          </a:p>
          <a:p>
            <a:pPr>
              <a:spcAft>
                <a:spcPts val="200"/>
              </a:spcAft>
            </a:pPr>
            <a:r>
              <a:rPr sz="1250">
                <a:solidFill>
                  <a:srgbClr val="E6E6E6"/>
                </a:solidFill>
                <a:latin typeface="Consolas"/>
                <a:ea typeface="Consolas"/>
              </a:rPr>
              <a:t>20,RESEARCH,DALLAS</a:t>
            </a:r>
          </a:p>
          <a:p>
            <a:pPr>
              <a:spcAft>
                <a:spcPts val="200"/>
              </a:spcAft>
            </a:pPr>
            <a:r>
              <a:rPr sz="1250">
                <a:solidFill>
                  <a:srgbClr val="E6E6E6"/>
                </a:solidFill>
                <a:latin typeface="Consolas"/>
                <a:ea typeface="Consolas"/>
              </a:rPr>
              <a:t>30,"SALES, EMEA",CHICAGO</a:t>
            </a:r>
          </a:p>
          <a:p>
            <a:pPr>
              <a:spcAft>
                <a:spcPts val="200"/>
              </a:spcAft>
            </a:pPr>
            <a:r>
              <a:rPr sz="1250">
                <a:solidFill>
                  <a:srgbClr val="E6E6E6"/>
                </a:solidFill>
                <a:latin typeface="Consolas"/>
                <a:ea typeface="Consolas"/>
              </a:rPr>
              <a:t> </a:t>
            </a:r>
          </a:p>
          <a:p>
            <a:pPr>
              <a:spcAft>
                <a:spcPts val="200"/>
              </a:spcAft>
            </a:pPr>
            <a:r>
              <a:rPr sz="1250">
                <a:solidFill>
                  <a:srgbClr val="7EC699"/>
                </a:solidFill>
                <a:latin typeface="Consolas"/>
                <a:ea typeface="Consolas"/>
              </a:rPr>
              <a:t>-- 컨트롤 파일 필드 정의</a:t>
            </a:r>
          </a:p>
          <a:p>
            <a:pPr>
              <a:spcAft>
                <a:spcPts val="200"/>
              </a:spcAft>
            </a:pPr>
            <a:r>
              <a:rPr sz="1250">
                <a:solidFill>
                  <a:srgbClr val="E6E6E6"/>
                </a:solidFill>
                <a:latin typeface="Consolas"/>
                <a:ea typeface="Consolas"/>
              </a:rPr>
              <a:t>FIELDS TERMINATED BY ',' OPTIONALLY ENCLOSED BY '"'</a:t>
            </a:r>
          </a:p>
          <a:p>
            <a:pPr>
              <a:spcAft>
                <a:spcPts val="200"/>
              </a:spcAft>
            </a:pPr>
            <a:r>
              <a:rPr sz="1250">
                <a:solidFill>
                  <a:srgbClr val="E6E6E6"/>
                </a:solidFill>
                <a:latin typeface="Consolas"/>
                <a:ea typeface="Consolas"/>
              </a:rPr>
              <a:t>( deptno, dname, loc )</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91440"/>
            <a:ext cx="10972800" cy="731520"/>
          </a:xfrm>
          <a:prstGeom prst="rect">
            <a:avLst/>
          </a:prstGeom>
          <a:noFill/>
        </p:spPr>
        <p:txBody>
          <a:bodyPr wrap="square" anchor="ctr">
            <a:spAutoFit/>
          </a:bodyPr>
          <a:lstStyle/>
          <a:p>
            <a:pPr>
              <a:spcAft>
                <a:spcPts val="600"/>
              </a:spcAft>
            </a:pPr>
            <a:r>
              <a:rPr sz="2600" b="1">
                <a:solidFill>
                  <a:srgbClr val="FFFFFF"/>
                </a:solidFill>
                <a:latin typeface="맑은 고딕"/>
                <a:ea typeface="맑은 고딕"/>
              </a:rPr>
              <a:t>고정길이(Positional) 형식</a:t>
            </a:r>
          </a:p>
        </p:txBody>
      </p:sp>
      <p:sp>
        <p:nvSpPr>
          <p:cNvPr id="4" name="TextBox 3"/>
          <p:cNvSpPr txBox="1"/>
          <p:nvPr/>
        </p:nvSpPr>
        <p:spPr>
          <a:xfrm>
            <a:off x="640080" y="1097280"/>
            <a:ext cx="10881360" cy="457200"/>
          </a:xfrm>
          <a:prstGeom prst="rect">
            <a:avLst/>
          </a:prstGeom>
          <a:noFill/>
        </p:spPr>
        <p:txBody>
          <a:bodyPr wrap="square">
            <a:spAutoFit/>
          </a:bodyPr>
          <a:lstStyle/>
          <a:p>
            <a:pPr>
              <a:spcAft>
                <a:spcPts val="600"/>
              </a:spcAft>
            </a:pPr>
            <a:r>
              <a:rPr sz="1500" b="0">
                <a:solidFill>
                  <a:srgbClr val="5A6672"/>
                </a:solidFill>
                <a:latin typeface="맑은 고딕"/>
                <a:ea typeface="맑은 고딕"/>
              </a:rPr>
              <a:t>컬럼 위치로 필드 구분</a:t>
            </a:r>
          </a:p>
        </p:txBody>
      </p:sp>
      <p:sp>
        <p:nvSpPr>
          <p:cNvPr id="5" name="TextBox 4"/>
          <p:cNvSpPr txBox="1"/>
          <p:nvPr/>
        </p:nvSpPr>
        <p:spPr>
          <a:xfrm>
            <a:off x="640080" y="1737360"/>
            <a:ext cx="10881360" cy="4572000"/>
          </a:xfrm>
          <a:prstGeom prst="rect">
            <a:avLst/>
          </a:prstGeom>
          <a:noFill/>
        </p:spPr>
        <p:txBody>
          <a:bodyPr wrap="square">
            <a:spAutoFit/>
          </a:bodyPr>
          <a:lstStyle/>
          <a:p>
            <a:pPr>
              <a:spcAft>
                <a:spcPts val="1000"/>
              </a:spcAft>
            </a:pPr>
            <a:r>
              <a:rPr sz="1800" b="0">
                <a:solidFill>
                  <a:srgbClr val="C0392B"/>
                </a:solidFill>
                <a:latin typeface="맑은 고딕"/>
                <a:ea typeface="맑은 고딕"/>
              </a:rPr>
              <a:t>•  각 필드가 레코드 내 고정된 컬럼 위치(시작:끝)를 차지</a:t>
            </a:r>
          </a:p>
          <a:p>
            <a:pPr>
              <a:spcAft>
                <a:spcPts val="1000"/>
              </a:spcAft>
            </a:pPr>
            <a:r>
              <a:rPr sz="1800" b="0">
                <a:solidFill>
                  <a:srgbClr val="C0392B"/>
                </a:solidFill>
                <a:latin typeface="맑은 고딕"/>
                <a:ea typeface="맑은 고딕"/>
              </a:rPr>
              <a:t>•  구분자 없음 — 메인프레임·레거시 언로드 파일에 흔함</a:t>
            </a:r>
          </a:p>
          <a:p>
            <a:pPr>
              <a:spcAft>
                <a:spcPts val="1000"/>
              </a:spcAft>
            </a:pPr>
            <a:r>
              <a:rPr sz="1800" b="0">
                <a:solidFill>
                  <a:srgbClr val="C0392B"/>
                </a:solidFill>
                <a:latin typeface="맑은 고딕"/>
                <a:ea typeface="맑은 고딕"/>
              </a:rPr>
              <a:t>•  컨트롤 파일: 각 필드에 POSITION(시작:끝) 지정</a:t>
            </a:r>
          </a:p>
          <a:p>
            <a:pPr>
              <a:spcAft>
                <a:spcPts val="1000"/>
              </a:spcAft>
            </a:pPr>
            <a:r>
              <a:rPr sz="1800" b="0">
                <a:solidFill>
                  <a:srgbClr val="C0392B"/>
                </a:solidFill>
                <a:latin typeface="맑은 고딕"/>
                <a:ea typeface="맑은 고딕"/>
              </a:rPr>
              <a:t>•  파싱이 단순·빠르고 구분자 충돌 문제가 없음</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91440"/>
            <a:ext cx="10972800" cy="731520"/>
          </a:xfrm>
          <a:prstGeom prst="rect">
            <a:avLst/>
          </a:prstGeom>
          <a:noFill/>
        </p:spPr>
        <p:txBody>
          <a:bodyPr wrap="square" anchor="ctr">
            <a:spAutoFit/>
          </a:bodyPr>
          <a:lstStyle/>
          <a:p>
            <a:pPr>
              <a:spcAft>
                <a:spcPts val="600"/>
              </a:spcAft>
            </a:pPr>
            <a:r>
              <a:rPr sz="2600" b="1">
                <a:solidFill>
                  <a:srgbClr val="FFFFFF"/>
                </a:solidFill>
                <a:latin typeface="맑은 고딕"/>
                <a:ea typeface="맑은 고딕"/>
              </a:rPr>
              <a:t>고정길이 예</a:t>
            </a:r>
          </a:p>
        </p:txBody>
      </p:sp>
      <p:sp>
        <p:nvSpPr>
          <p:cNvPr id="4" name="TextBox 3"/>
          <p:cNvSpPr txBox="1"/>
          <p:nvPr/>
        </p:nvSpPr>
        <p:spPr>
          <a:xfrm>
            <a:off x="640080" y="1097280"/>
            <a:ext cx="10881360" cy="457200"/>
          </a:xfrm>
          <a:prstGeom prst="rect">
            <a:avLst/>
          </a:prstGeom>
          <a:noFill/>
        </p:spPr>
        <p:txBody>
          <a:bodyPr wrap="square">
            <a:spAutoFit/>
          </a:bodyPr>
          <a:lstStyle/>
          <a:p>
            <a:pPr>
              <a:spcAft>
                <a:spcPts val="600"/>
              </a:spcAft>
            </a:pPr>
            <a:r>
              <a:rPr sz="1500" b="0">
                <a:solidFill>
                  <a:srgbClr val="5A6672"/>
                </a:solidFill>
                <a:latin typeface="맑은 고딕"/>
                <a:ea typeface="맑은 고딕"/>
              </a:rPr>
              <a:t>emp_fixed.dat</a:t>
            </a:r>
          </a:p>
        </p:txBody>
      </p:sp>
      <p:sp>
        <p:nvSpPr>
          <p:cNvPr id="5" name="Rectangle 4"/>
          <p:cNvSpPr/>
          <p:nvPr/>
        </p:nvSpPr>
        <p:spPr>
          <a:xfrm>
            <a:off x="640080" y="1645920"/>
            <a:ext cx="10881360" cy="4754880"/>
          </a:xfrm>
          <a:prstGeom prst="rect">
            <a:avLst/>
          </a:prstGeom>
          <a:solidFill>
            <a:srgbClr val="1E1E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68680" y="1828800"/>
            <a:ext cx="10424160" cy="4389120"/>
          </a:xfrm>
          <a:prstGeom prst="rect">
            <a:avLst/>
          </a:prstGeom>
          <a:noFill/>
        </p:spPr>
        <p:txBody>
          <a:bodyPr wrap="square">
            <a:spAutoFit/>
          </a:bodyPr>
          <a:lstStyle/>
          <a:p>
            <a:pPr>
              <a:spcAft>
                <a:spcPts val="200"/>
              </a:spcAft>
            </a:pPr>
            <a:r>
              <a:rPr sz="1250">
                <a:solidFill>
                  <a:srgbClr val="7EC699"/>
                </a:solidFill>
                <a:latin typeface="Consolas"/>
                <a:ea typeface="Consolas"/>
              </a:rPr>
              <a:t>-- 데이터: emp_fixed.dat (위치 기반)</a:t>
            </a:r>
          </a:p>
          <a:p>
            <a:pPr>
              <a:spcAft>
                <a:spcPts val="200"/>
              </a:spcAft>
            </a:pPr>
            <a:r>
              <a:rPr sz="1250">
                <a:solidFill>
                  <a:srgbClr val="E6E6E6"/>
                </a:solidFill>
                <a:latin typeface="Consolas"/>
                <a:ea typeface="Consolas"/>
              </a:rPr>
              <a:t>7369SMITH   CLERK 0800</a:t>
            </a:r>
          </a:p>
          <a:p>
            <a:pPr>
              <a:spcAft>
                <a:spcPts val="200"/>
              </a:spcAft>
            </a:pPr>
            <a:r>
              <a:rPr sz="1250">
                <a:solidFill>
                  <a:srgbClr val="E6E6E6"/>
                </a:solidFill>
                <a:latin typeface="Consolas"/>
                <a:ea typeface="Consolas"/>
              </a:rPr>
              <a:t>7499ALLEN   SALES 1600</a:t>
            </a:r>
          </a:p>
          <a:p>
            <a:pPr>
              <a:spcAft>
                <a:spcPts val="200"/>
              </a:spcAft>
            </a:pPr>
            <a:r>
              <a:rPr sz="1250">
                <a:solidFill>
                  <a:srgbClr val="E6E6E6"/>
                </a:solidFill>
                <a:latin typeface="Consolas"/>
                <a:ea typeface="Consolas"/>
              </a:rPr>
              <a:t> </a:t>
            </a:r>
          </a:p>
          <a:p>
            <a:pPr>
              <a:spcAft>
                <a:spcPts val="200"/>
              </a:spcAft>
            </a:pPr>
            <a:r>
              <a:rPr sz="1250">
                <a:solidFill>
                  <a:srgbClr val="7EC699"/>
                </a:solidFill>
                <a:latin typeface="Consolas"/>
                <a:ea typeface="Consolas"/>
              </a:rPr>
              <a:t>-- 컨트롤 파일 필드 정의</a:t>
            </a:r>
          </a:p>
          <a:p>
            <a:pPr>
              <a:spcAft>
                <a:spcPts val="200"/>
              </a:spcAft>
            </a:pPr>
            <a:r>
              <a:rPr sz="1250">
                <a:solidFill>
                  <a:srgbClr val="E6E6E6"/>
                </a:solidFill>
                <a:latin typeface="Consolas"/>
                <a:ea typeface="Consolas"/>
              </a:rPr>
              <a:t>( empno  POSITION(1:4)   INTEGER EXTERNAL,</a:t>
            </a:r>
          </a:p>
          <a:p>
            <a:pPr>
              <a:spcAft>
                <a:spcPts val="200"/>
              </a:spcAft>
            </a:pPr>
            <a:r>
              <a:rPr sz="1250">
                <a:solidFill>
                  <a:srgbClr val="E6E6E6"/>
                </a:solidFill>
                <a:latin typeface="Consolas"/>
                <a:ea typeface="Consolas"/>
              </a:rPr>
              <a:t>  ename  POSITION(5:11)  CHAR,</a:t>
            </a:r>
          </a:p>
          <a:p>
            <a:pPr>
              <a:spcAft>
                <a:spcPts val="200"/>
              </a:spcAft>
            </a:pPr>
            <a:r>
              <a:rPr sz="1250">
                <a:solidFill>
                  <a:srgbClr val="E6E6E6"/>
                </a:solidFill>
                <a:latin typeface="Consolas"/>
                <a:ea typeface="Consolas"/>
              </a:rPr>
              <a:t>  job    POSITION(12:17) CHAR,</a:t>
            </a:r>
          </a:p>
          <a:p>
            <a:pPr>
              <a:spcAft>
                <a:spcPts val="200"/>
              </a:spcAft>
            </a:pPr>
            <a:r>
              <a:rPr sz="1250">
                <a:solidFill>
                  <a:srgbClr val="E6E6E6"/>
                </a:solidFill>
                <a:latin typeface="Consolas"/>
                <a:ea typeface="Consolas"/>
              </a:rPr>
              <a:t>  sal    POSITION(18:21) INTEGER EXTERNAL )</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22960" y="2011680"/>
            <a:ext cx="10515600" cy="1097280"/>
          </a:xfrm>
          <a:prstGeom prst="rect">
            <a:avLst/>
          </a:prstGeom>
          <a:noFill/>
        </p:spPr>
        <p:txBody>
          <a:bodyPr wrap="square">
            <a:spAutoFit/>
          </a:bodyPr>
          <a:lstStyle/>
          <a:p>
            <a:pPr>
              <a:spcAft>
                <a:spcPts val="600"/>
              </a:spcAft>
            </a:pPr>
            <a:r>
              <a:rPr sz="4000" b="1">
                <a:solidFill>
                  <a:srgbClr val="FFFFFF"/>
                </a:solidFill>
                <a:latin typeface="맑은 고딕"/>
                <a:ea typeface="맑은 고딕"/>
              </a:rPr>
              <a:t>26.D</a:t>
            </a:r>
          </a:p>
        </p:txBody>
      </p:sp>
      <p:sp>
        <p:nvSpPr>
          <p:cNvPr id="4" name="TextBox 3"/>
          <p:cNvSpPr txBox="1"/>
          <p:nvPr/>
        </p:nvSpPr>
        <p:spPr>
          <a:xfrm>
            <a:off x="822960" y="3017520"/>
            <a:ext cx="10515600" cy="914400"/>
          </a:xfrm>
          <a:prstGeom prst="rect">
            <a:avLst/>
          </a:prstGeom>
          <a:noFill/>
        </p:spPr>
        <p:txBody>
          <a:bodyPr wrap="square">
            <a:spAutoFit/>
          </a:bodyPr>
          <a:lstStyle/>
          <a:p>
            <a:pPr>
              <a:spcAft>
                <a:spcPts val="600"/>
              </a:spcAft>
            </a:pPr>
            <a:r>
              <a:rPr sz="2800" b="0">
                <a:solidFill>
                  <a:srgbClr val="FFFFFF"/>
                </a:solidFill>
                <a:latin typeface="맑은 고딕"/>
                <a:ea typeface="맑은 고딕"/>
              </a:rPr>
              <a:t>전통적 vs 다이렉트 경로</a:t>
            </a:r>
          </a:p>
        </p:txBody>
      </p:sp>
      <p:sp>
        <p:nvSpPr>
          <p:cNvPr id="5" name="Rectangle 4"/>
          <p:cNvSpPr/>
          <p:nvPr/>
        </p:nvSpPr>
        <p:spPr>
          <a:xfrm>
            <a:off x="822960" y="4114800"/>
            <a:ext cx="5486400" cy="54864"/>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22960" y="4297680"/>
            <a:ext cx="10058400" cy="1828800"/>
          </a:xfrm>
          <a:prstGeom prst="rect">
            <a:avLst/>
          </a:prstGeom>
          <a:noFill/>
        </p:spPr>
        <p:txBody>
          <a:bodyPr wrap="square">
            <a:spAutoFit/>
          </a:bodyPr>
          <a:lstStyle/>
          <a:p>
            <a:pPr>
              <a:spcAft>
                <a:spcPts val="600"/>
              </a:spcAft>
            </a:pPr>
            <a:r>
              <a:rPr sz="1600" b="0">
                <a:solidFill>
                  <a:srgbClr val="FFFFFF"/>
                </a:solidFill>
                <a:latin typeface="맑은 고딕"/>
                <a:ea typeface="맑은 고딕"/>
              </a:rPr>
              <a:t>•  Conventional Path</a:t>
            </a:r>
          </a:p>
          <a:p>
            <a:pPr>
              <a:spcAft>
                <a:spcPts val="600"/>
              </a:spcAft>
            </a:pPr>
            <a:r>
              <a:rPr sz="1600" b="0">
                <a:solidFill>
                  <a:srgbClr val="FFFFFF"/>
                </a:solidFill>
                <a:latin typeface="맑은 고딕"/>
                <a:ea typeface="맑은 고딕"/>
              </a:rPr>
              <a:t>•  Direct Path</a:t>
            </a:r>
          </a:p>
          <a:p>
            <a:pPr>
              <a:spcAft>
                <a:spcPts val="600"/>
              </a:spcAft>
            </a:pPr>
            <a:r>
              <a:rPr sz="1600" b="0">
                <a:solidFill>
                  <a:srgbClr val="FFFFFF"/>
                </a:solidFill>
                <a:latin typeface="맑은 고딕"/>
                <a:ea typeface="맑은 고딕"/>
              </a:rPr>
              <a:t>•  언두·리두·제약·성능 비교</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91440"/>
            <a:ext cx="10972800" cy="731520"/>
          </a:xfrm>
          <a:prstGeom prst="rect">
            <a:avLst/>
          </a:prstGeom>
          <a:noFill/>
        </p:spPr>
        <p:txBody>
          <a:bodyPr wrap="square" anchor="ctr">
            <a:spAutoFit/>
          </a:bodyPr>
          <a:lstStyle/>
          <a:p>
            <a:pPr>
              <a:spcAft>
                <a:spcPts val="600"/>
              </a:spcAft>
            </a:pPr>
            <a:r>
              <a:rPr sz="2600" b="1">
                <a:solidFill>
                  <a:srgbClr val="FFFFFF"/>
                </a:solidFill>
                <a:latin typeface="맑은 고딕"/>
                <a:ea typeface="맑은 고딕"/>
              </a:rPr>
              <a:t>전통적 경로(Conventional Path)</a:t>
            </a:r>
          </a:p>
        </p:txBody>
      </p:sp>
      <p:sp>
        <p:nvSpPr>
          <p:cNvPr id="4" name="TextBox 3"/>
          <p:cNvSpPr txBox="1"/>
          <p:nvPr/>
        </p:nvSpPr>
        <p:spPr>
          <a:xfrm>
            <a:off x="640080" y="1097280"/>
            <a:ext cx="10881360" cy="457200"/>
          </a:xfrm>
          <a:prstGeom prst="rect">
            <a:avLst/>
          </a:prstGeom>
          <a:noFill/>
        </p:spPr>
        <p:txBody>
          <a:bodyPr wrap="square">
            <a:spAutoFit/>
          </a:bodyPr>
          <a:lstStyle/>
          <a:p>
            <a:pPr>
              <a:spcAft>
                <a:spcPts val="600"/>
              </a:spcAft>
            </a:pPr>
            <a:r>
              <a:rPr sz="1500" b="0">
                <a:solidFill>
                  <a:srgbClr val="5A6672"/>
                </a:solidFill>
                <a:latin typeface="맑은 고딕"/>
                <a:ea typeface="맑은 고딕"/>
              </a:rPr>
              <a:t>일반 INSERT와 동일</a:t>
            </a:r>
          </a:p>
        </p:txBody>
      </p:sp>
      <p:sp>
        <p:nvSpPr>
          <p:cNvPr id="5" name="TextBox 4"/>
          <p:cNvSpPr txBox="1"/>
          <p:nvPr/>
        </p:nvSpPr>
        <p:spPr>
          <a:xfrm>
            <a:off x="640080" y="1737360"/>
            <a:ext cx="10881360" cy="4572000"/>
          </a:xfrm>
          <a:prstGeom prst="rect">
            <a:avLst/>
          </a:prstGeom>
          <a:noFill/>
        </p:spPr>
        <p:txBody>
          <a:bodyPr wrap="square">
            <a:spAutoFit/>
          </a:bodyPr>
          <a:lstStyle/>
          <a:p>
            <a:pPr>
              <a:spcAft>
                <a:spcPts val="1000"/>
              </a:spcAft>
            </a:pPr>
            <a:r>
              <a:rPr sz="1800" b="0">
                <a:solidFill>
                  <a:srgbClr val="C0392B"/>
                </a:solidFill>
                <a:latin typeface="맑은 고딕"/>
                <a:ea typeface="맑은 고딕"/>
              </a:rPr>
              <a:t>•  기본값 — 바인드 배열에 모아 SQL 엔진으로 배열 INSERT</a:t>
            </a:r>
          </a:p>
          <a:p>
            <a:pPr>
              <a:spcAft>
                <a:spcPts val="1000"/>
              </a:spcAft>
            </a:pPr>
            <a:r>
              <a:rPr sz="1800" b="0">
                <a:solidFill>
                  <a:srgbClr val="C0392B"/>
                </a:solidFill>
                <a:latin typeface="맑은 고딕"/>
                <a:ea typeface="맑은 고딕"/>
              </a:rPr>
              <a:t>•  데이터가 버퍼 캐시를 경유해 블록에 기록</a:t>
            </a:r>
          </a:p>
          <a:p>
            <a:pPr>
              <a:spcAft>
                <a:spcPts val="1000"/>
              </a:spcAft>
            </a:pPr>
            <a:r>
              <a:rPr sz="1800" b="0">
                <a:solidFill>
                  <a:srgbClr val="C0392B"/>
                </a:solidFill>
                <a:latin typeface="맑은 고딕"/>
                <a:ea typeface="맑은 고딕"/>
              </a:rPr>
              <a:t>•  INSERT 트리거 실행·모든 제약 즉시 검증·완전한 언두/리두</a:t>
            </a:r>
          </a:p>
          <a:p>
            <a:pPr>
              <a:spcAft>
                <a:spcPts val="1000"/>
              </a:spcAft>
            </a:pPr>
            <a:r>
              <a:rPr sz="1800" b="0">
                <a:solidFill>
                  <a:srgbClr val="C0392B"/>
                </a:solidFill>
                <a:latin typeface="맑은 고딕"/>
                <a:ea typeface="맑은 고딕"/>
              </a:rPr>
              <a:t>•  적재 중 동시 DML 가능(행 잠금), 인덱스 점진 갱신</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91440"/>
            <a:ext cx="10972800" cy="731520"/>
          </a:xfrm>
          <a:prstGeom prst="rect">
            <a:avLst/>
          </a:prstGeom>
          <a:noFill/>
        </p:spPr>
        <p:txBody>
          <a:bodyPr wrap="square" anchor="ctr">
            <a:spAutoFit/>
          </a:bodyPr>
          <a:lstStyle/>
          <a:p>
            <a:pPr>
              <a:spcAft>
                <a:spcPts val="600"/>
              </a:spcAft>
            </a:pPr>
            <a:r>
              <a:rPr sz="2600" b="1">
                <a:solidFill>
                  <a:srgbClr val="FFFFFF"/>
                </a:solidFill>
                <a:latin typeface="맑은 고딕"/>
                <a:ea typeface="맑은 고딕"/>
              </a:rPr>
              <a:t>다이렉트 경로(Direct Path)</a:t>
            </a:r>
          </a:p>
        </p:txBody>
      </p:sp>
      <p:sp>
        <p:nvSpPr>
          <p:cNvPr id="4" name="TextBox 3"/>
          <p:cNvSpPr txBox="1"/>
          <p:nvPr/>
        </p:nvSpPr>
        <p:spPr>
          <a:xfrm>
            <a:off x="640080" y="1097280"/>
            <a:ext cx="10881360" cy="457200"/>
          </a:xfrm>
          <a:prstGeom prst="rect">
            <a:avLst/>
          </a:prstGeom>
          <a:noFill/>
        </p:spPr>
        <p:txBody>
          <a:bodyPr wrap="square">
            <a:spAutoFit/>
          </a:bodyPr>
          <a:lstStyle/>
          <a:p>
            <a:pPr>
              <a:spcAft>
                <a:spcPts val="600"/>
              </a:spcAft>
            </a:pPr>
            <a:r>
              <a:rPr sz="1500" b="0">
                <a:solidFill>
                  <a:srgbClr val="5A6672"/>
                </a:solidFill>
                <a:latin typeface="맑은 고딕"/>
                <a:ea typeface="맑은 고딕"/>
              </a:rPr>
              <a:t>DIRECT=TRUE, 버퍼 캐시 우회</a:t>
            </a:r>
          </a:p>
        </p:txBody>
      </p:sp>
      <p:sp>
        <p:nvSpPr>
          <p:cNvPr id="5" name="TextBox 4"/>
          <p:cNvSpPr txBox="1"/>
          <p:nvPr/>
        </p:nvSpPr>
        <p:spPr>
          <a:xfrm>
            <a:off x="640080" y="1737360"/>
            <a:ext cx="10881360" cy="4572000"/>
          </a:xfrm>
          <a:prstGeom prst="rect">
            <a:avLst/>
          </a:prstGeom>
          <a:noFill/>
        </p:spPr>
        <p:txBody>
          <a:bodyPr wrap="square">
            <a:spAutoFit/>
          </a:bodyPr>
          <a:lstStyle/>
          <a:p>
            <a:pPr>
              <a:spcAft>
                <a:spcPts val="1000"/>
              </a:spcAft>
            </a:pPr>
            <a:r>
              <a:rPr sz="1800" b="0">
                <a:solidFill>
                  <a:srgbClr val="C0392B"/>
                </a:solidFill>
                <a:latin typeface="맑은 고딕"/>
                <a:ea typeface="맑은 고딕"/>
              </a:rPr>
              <a:t>•  오라클 블록을 메모리에서 직접 조립해 HWM 위 새 익스텐트에 기록</a:t>
            </a:r>
          </a:p>
          <a:p>
            <a:pPr>
              <a:spcAft>
                <a:spcPts val="1000"/>
              </a:spcAft>
            </a:pPr>
            <a:r>
              <a:rPr sz="1800" b="0">
                <a:solidFill>
                  <a:srgbClr val="C0392B"/>
                </a:solidFill>
                <a:latin typeface="맑은 고딕"/>
                <a:ea typeface="맑은 고딕"/>
              </a:rPr>
              <a:t>•  버퍼 캐시·행 단위 SQL·대량 언두를 피해 대용량에서 극적으로 빠름</a:t>
            </a:r>
          </a:p>
          <a:p>
            <a:pPr>
              <a:spcAft>
                <a:spcPts val="1000"/>
              </a:spcAft>
            </a:pPr>
            <a:r>
              <a:rPr sz="1800" b="0">
                <a:solidFill>
                  <a:srgbClr val="C0392B"/>
                </a:solidFill>
                <a:latin typeface="맑은 고딕"/>
                <a:ea typeface="맑은 고딕"/>
              </a:rPr>
              <a:t>•  INSERT 트리거 미실행, 적재 중 테이블 배타 잠금</a:t>
            </a:r>
          </a:p>
          <a:p>
            <a:pPr>
              <a:spcAft>
                <a:spcPts val="1000"/>
              </a:spcAft>
            </a:pPr>
            <a:r>
              <a:rPr sz="1800" b="0">
                <a:solidFill>
                  <a:srgbClr val="C0392B"/>
                </a:solidFill>
                <a:latin typeface="맑은 고딕"/>
                <a:ea typeface="맑은 고딕"/>
              </a:rPr>
              <a:t>•  CHECK/FK는 비활성화 후 종료 시 재검증, 리두는 UNRECOVERABLE로 최소화</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91440"/>
            <a:ext cx="10972800" cy="731520"/>
          </a:xfrm>
          <a:prstGeom prst="rect">
            <a:avLst/>
          </a:prstGeom>
          <a:noFill/>
        </p:spPr>
        <p:txBody>
          <a:bodyPr wrap="square" anchor="ctr">
            <a:spAutoFit/>
          </a:bodyPr>
          <a:lstStyle/>
          <a:p>
            <a:pPr>
              <a:spcAft>
                <a:spcPts val="600"/>
              </a:spcAft>
            </a:pPr>
            <a:r>
              <a:rPr sz="2600" b="1">
                <a:solidFill>
                  <a:srgbClr val="FFFFFF"/>
                </a:solidFill>
                <a:latin typeface="맑은 고딕"/>
                <a:ea typeface="맑은 고딕"/>
              </a:rPr>
              <a:t>두 경로 비교 요약</a:t>
            </a:r>
          </a:p>
        </p:txBody>
      </p:sp>
      <p:sp>
        <p:nvSpPr>
          <p:cNvPr id="4" name="TextBox 3"/>
          <p:cNvSpPr txBox="1"/>
          <p:nvPr/>
        </p:nvSpPr>
        <p:spPr>
          <a:xfrm>
            <a:off x="640080" y="1463040"/>
            <a:ext cx="10881360" cy="4937760"/>
          </a:xfrm>
          <a:prstGeom prst="rect">
            <a:avLst/>
          </a:prstGeom>
          <a:noFill/>
        </p:spPr>
        <p:txBody>
          <a:bodyPr wrap="square">
            <a:spAutoFit/>
          </a:bodyPr>
          <a:lstStyle/>
          <a:p>
            <a:pPr>
              <a:spcAft>
                <a:spcPts val="800"/>
              </a:spcAft>
            </a:pPr>
            <a:r>
              <a:rPr sz="1600" b="0">
                <a:solidFill>
                  <a:srgbClr val="C0392B"/>
                </a:solidFill>
                <a:latin typeface="맑은 고딕"/>
                <a:ea typeface="맑은 고딕"/>
              </a:rPr>
              <a:t>•  데이터 경로: 버퍼 캐시 경유(전통) vs 우회·HWM 위 직접(다이렉트)</a:t>
            </a:r>
          </a:p>
          <a:p>
            <a:pPr>
              <a:spcAft>
                <a:spcPts val="800"/>
              </a:spcAft>
            </a:pPr>
            <a:r>
              <a:rPr sz="1600" b="0">
                <a:solidFill>
                  <a:srgbClr val="C0392B"/>
                </a:solidFill>
                <a:latin typeface="맑은 고딕"/>
                <a:ea typeface="맑은 고딕"/>
              </a:rPr>
              <a:t>•  트리거: 실행(전통) vs 미실행(다이렉트)</a:t>
            </a:r>
          </a:p>
          <a:p>
            <a:pPr>
              <a:spcAft>
                <a:spcPts val="800"/>
              </a:spcAft>
            </a:pPr>
            <a:r>
              <a:rPr sz="1600" b="0">
                <a:solidFill>
                  <a:srgbClr val="C0392B"/>
                </a:solidFill>
                <a:latin typeface="맑은 고딕"/>
                <a:ea typeface="맑은 고딕"/>
              </a:rPr>
              <a:t>•  CHECK/FK: 즉시 검증(전통) vs 후검증(다이렉트)</a:t>
            </a:r>
          </a:p>
          <a:p>
            <a:pPr>
              <a:spcAft>
                <a:spcPts val="800"/>
              </a:spcAft>
            </a:pPr>
            <a:r>
              <a:rPr sz="1600" b="0">
                <a:solidFill>
                  <a:srgbClr val="C0392B"/>
                </a:solidFill>
                <a:latin typeface="맑은 고딕"/>
                <a:ea typeface="맑은 고딕"/>
              </a:rPr>
              <a:t>•  언두/리두: 정상 생성(전통) vs 거의 없음·최소화(다이렉트)</a:t>
            </a:r>
          </a:p>
          <a:p>
            <a:pPr>
              <a:spcAft>
                <a:spcPts val="800"/>
              </a:spcAft>
            </a:pPr>
            <a:r>
              <a:rPr sz="1600" b="0">
                <a:solidFill>
                  <a:srgbClr val="C0392B"/>
                </a:solidFill>
                <a:latin typeface="맑은 고딕"/>
                <a:ea typeface="맑은 고딕"/>
              </a:rPr>
              <a:t>•  동시 DML: 가능(전통) vs 불가·테이블 잠금(다이렉트)</a:t>
            </a:r>
          </a:p>
          <a:p>
            <a:pPr>
              <a:spcAft>
                <a:spcPts val="800"/>
              </a:spcAft>
            </a:pPr>
            <a:r>
              <a:rPr sz="1600" b="0">
                <a:solidFill>
                  <a:srgbClr val="C0392B"/>
                </a:solidFill>
                <a:latin typeface="맑은 고딕"/>
                <a:ea typeface="맑은 고딕"/>
              </a:rPr>
              <a:t>•  적합: 소량·트리거/동시성(전통) vs 대량·스테이징·배치(다이렉트)</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91440"/>
            <a:ext cx="10972800" cy="731520"/>
          </a:xfrm>
          <a:prstGeom prst="rect">
            <a:avLst/>
          </a:prstGeom>
          <a:noFill/>
        </p:spPr>
        <p:txBody>
          <a:bodyPr wrap="square" anchor="ctr">
            <a:spAutoFit/>
          </a:bodyPr>
          <a:lstStyle/>
          <a:p>
            <a:pPr>
              <a:spcAft>
                <a:spcPts val="600"/>
              </a:spcAft>
            </a:pPr>
            <a:r>
              <a:rPr sz="2600" b="1">
                <a:solidFill>
                  <a:srgbClr val="FFFFFF"/>
                </a:solidFill>
                <a:latin typeface="맑은 고딕"/>
                <a:ea typeface="맑은 고딕"/>
              </a:rPr>
              <a:t>다이렉트 경로의 인덱스 처리</a:t>
            </a:r>
          </a:p>
        </p:txBody>
      </p:sp>
      <p:sp>
        <p:nvSpPr>
          <p:cNvPr id="4" name="TextBox 3"/>
          <p:cNvSpPr txBox="1"/>
          <p:nvPr/>
        </p:nvSpPr>
        <p:spPr>
          <a:xfrm>
            <a:off x="640080" y="1097280"/>
            <a:ext cx="10881360" cy="457200"/>
          </a:xfrm>
          <a:prstGeom prst="rect">
            <a:avLst/>
          </a:prstGeom>
          <a:noFill/>
        </p:spPr>
        <p:txBody>
          <a:bodyPr wrap="square">
            <a:spAutoFit/>
          </a:bodyPr>
          <a:lstStyle/>
          <a:p>
            <a:pPr>
              <a:spcAft>
                <a:spcPts val="600"/>
              </a:spcAft>
            </a:pPr>
            <a:r>
              <a:rPr sz="1500" b="0">
                <a:solidFill>
                  <a:srgbClr val="5A6672"/>
                </a:solidFill>
                <a:latin typeface="맑은 고딕"/>
                <a:ea typeface="맑은 고딕"/>
              </a:rPr>
              <a:t>지연 인덱스 유지</a:t>
            </a:r>
          </a:p>
        </p:txBody>
      </p:sp>
      <p:sp>
        <p:nvSpPr>
          <p:cNvPr id="5" name="TextBox 4"/>
          <p:cNvSpPr txBox="1"/>
          <p:nvPr/>
        </p:nvSpPr>
        <p:spPr>
          <a:xfrm>
            <a:off x="640080" y="1737360"/>
            <a:ext cx="10881360" cy="4572000"/>
          </a:xfrm>
          <a:prstGeom prst="rect">
            <a:avLst/>
          </a:prstGeom>
          <a:noFill/>
        </p:spPr>
        <p:txBody>
          <a:bodyPr wrap="square">
            <a:spAutoFit/>
          </a:bodyPr>
          <a:lstStyle/>
          <a:p>
            <a:pPr>
              <a:spcAft>
                <a:spcPts val="1000"/>
              </a:spcAft>
            </a:pPr>
            <a:r>
              <a:rPr sz="1800" b="0">
                <a:solidFill>
                  <a:srgbClr val="C0392B"/>
                </a:solidFill>
                <a:latin typeface="맑은 고딕"/>
                <a:ea typeface="맑은 고딕"/>
              </a:rPr>
              <a:t>•  적재 종료 시점에 새 키를 한꺼번에 정렬해 인덱스에 병합</a:t>
            </a:r>
          </a:p>
          <a:p>
            <a:pPr>
              <a:spcAft>
                <a:spcPts val="1000"/>
              </a:spcAft>
            </a:pPr>
            <a:r>
              <a:rPr sz="1800" b="0">
                <a:solidFill>
                  <a:srgbClr val="C0392B"/>
                </a:solidFill>
                <a:latin typeface="맑은 고딕"/>
                <a:ea typeface="맑은 고딕"/>
              </a:rPr>
              <a:t>•  적재 중 인덱스가 일시 UNUSABLE 될 수 있음 — 실패 시 REBUILD 필요</a:t>
            </a:r>
          </a:p>
          <a:p>
            <a:pPr>
              <a:spcAft>
                <a:spcPts val="1000"/>
              </a:spcAft>
            </a:pPr>
            <a:r>
              <a:rPr sz="1800" b="0">
                <a:solidFill>
                  <a:srgbClr val="C0392B"/>
                </a:solidFill>
                <a:latin typeface="맑은 고딕"/>
                <a:ea typeface="맑은 고딕"/>
              </a:rPr>
              <a:t>•  초대량: SKIP_INDEX_MAINTENANCE=TRUE 후 일괄 REBUILD 전략</a:t>
            </a:r>
          </a:p>
          <a:p>
            <a:pPr>
              <a:spcAft>
                <a:spcPts val="1000"/>
              </a:spcAft>
            </a:pPr>
            <a:r>
              <a:rPr sz="1800" b="0">
                <a:solidFill>
                  <a:srgbClr val="C0392B"/>
                </a:solidFill>
                <a:latin typeface="맑은 고딕"/>
                <a:ea typeface="맑은 고딕"/>
              </a:rPr>
              <a:t>•  SORTED INDEXES로 이미 정렬된 입력의 정렬 부담 절감</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22960" y="2011680"/>
            <a:ext cx="10515600" cy="1097280"/>
          </a:xfrm>
          <a:prstGeom prst="rect">
            <a:avLst/>
          </a:prstGeom>
          <a:noFill/>
        </p:spPr>
        <p:txBody>
          <a:bodyPr wrap="square">
            <a:spAutoFit/>
          </a:bodyPr>
          <a:lstStyle/>
          <a:p>
            <a:pPr>
              <a:spcAft>
                <a:spcPts val="600"/>
              </a:spcAft>
            </a:pPr>
            <a:r>
              <a:rPr sz="4000" b="1">
                <a:solidFill>
                  <a:srgbClr val="FFFFFF"/>
                </a:solidFill>
                <a:latin typeface="맑은 고딕"/>
                <a:ea typeface="맑은 고딕"/>
              </a:rPr>
              <a:t>26.E</a:t>
            </a:r>
          </a:p>
        </p:txBody>
      </p:sp>
      <p:sp>
        <p:nvSpPr>
          <p:cNvPr id="4" name="TextBox 3"/>
          <p:cNvSpPr txBox="1"/>
          <p:nvPr/>
        </p:nvSpPr>
        <p:spPr>
          <a:xfrm>
            <a:off x="822960" y="3017520"/>
            <a:ext cx="10515600" cy="914400"/>
          </a:xfrm>
          <a:prstGeom prst="rect">
            <a:avLst/>
          </a:prstGeom>
          <a:noFill/>
        </p:spPr>
        <p:txBody>
          <a:bodyPr wrap="square">
            <a:spAutoFit/>
          </a:bodyPr>
          <a:lstStyle/>
          <a:p>
            <a:pPr>
              <a:spcAft>
                <a:spcPts val="600"/>
              </a:spcAft>
            </a:pPr>
            <a:r>
              <a:rPr sz="2800" b="0">
                <a:solidFill>
                  <a:srgbClr val="FFFFFF"/>
                </a:solidFill>
                <a:latin typeface="맑은 고딕"/>
                <a:ea typeface="맑은 고딕"/>
              </a:rPr>
              <a:t>커맨드라인 옵션과 결과 파일</a:t>
            </a:r>
          </a:p>
        </p:txBody>
      </p:sp>
      <p:sp>
        <p:nvSpPr>
          <p:cNvPr id="5" name="Rectangle 4"/>
          <p:cNvSpPr/>
          <p:nvPr/>
        </p:nvSpPr>
        <p:spPr>
          <a:xfrm>
            <a:off x="822960" y="4114800"/>
            <a:ext cx="5486400" cy="54864"/>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22960" y="4297680"/>
            <a:ext cx="10058400" cy="1828800"/>
          </a:xfrm>
          <a:prstGeom prst="rect">
            <a:avLst/>
          </a:prstGeom>
          <a:noFill/>
        </p:spPr>
        <p:txBody>
          <a:bodyPr wrap="square">
            <a:spAutoFit/>
          </a:bodyPr>
          <a:lstStyle/>
          <a:p>
            <a:pPr>
              <a:spcAft>
                <a:spcPts val="600"/>
              </a:spcAft>
            </a:pPr>
            <a:r>
              <a:rPr sz="1600" b="0">
                <a:solidFill>
                  <a:srgbClr val="FFFFFF"/>
                </a:solidFill>
                <a:latin typeface="맑은 고딕"/>
                <a:ea typeface="맑은 고딕"/>
              </a:rPr>
              <a:t>•  userid·control·log·bad·discard</a:t>
            </a:r>
          </a:p>
          <a:p>
            <a:pPr>
              <a:spcAft>
                <a:spcPts val="600"/>
              </a:spcAft>
            </a:pPr>
            <a:r>
              <a:rPr sz="1600" b="0">
                <a:solidFill>
                  <a:srgbClr val="FFFFFF"/>
                </a:solidFill>
                <a:latin typeface="맑은 고딕"/>
                <a:ea typeface="맑은 고딕"/>
              </a:rPr>
              <a:t>•  direct·rows·skip·errors</a:t>
            </a:r>
          </a:p>
          <a:p>
            <a:pPr>
              <a:spcAft>
                <a:spcPts val="600"/>
              </a:spcAft>
            </a:pPr>
            <a:r>
              <a:rPr sz="1600" b="0">
                <a:solidFill>
                  <a:srgbClr val="FFFFFF"/>
                </a:solidFill>
                <a:latin typeface="맑은 고딕"/>
                <a:ea typeface="맑은 고딕"/>
              </a:rPr>
              <a:t>•  로그·불량·버림 파일 읽기</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91440"/>
            <a:ext cx="10972800" cy="731520"/>
          </a:xfrm>
          <a:prstGeom prst="rect">
            <a:avLst/>
          </a:prstGeom>
          <a:noFill/>
        </p:spPr>
        <p:txBody>
          <a:bodyPr wrap="square" anchor="ctr">
            <a:spAutoFit/>
          </a:bodyPr>
          <a:lstStyle/>
          <a:p>
            <a:pPr>
              <a:spcAft>
                <a:spcPts val="600"/>
              </a:spcAft>
            </a:pPr>
            <a:r>
              <a:rPr sz="2600" b="1">
                <a:solidFill>
                  <a:srgbClr val="FFFFFF"/>
                </a:solidFill>
                <a:latin typeface="맑은 고딕"/>
                <a:ea typeface="맑은 고딕"/>
              </a:rPr>
              <a:t>SQL*Loader 커맨드라인 옵션</a:t>
            </a:r>
          </a:p>
        </p:txBody>
      </p:sp>
      <p:sp>
        <p:nvSpPr>
          <p:cNvPr id="4" name="TextBox 3"/>
          <p:cNvSpPr txBox="1"/>
          <p:nvPr/>
        </p:nvSpPr>
        <p:spPr>
          <a:xfrm>
            <a:off x="640080" y="1097280"/>
            <a:ext cx="10881360" cy="457200"/>
          </a:xfrm>
          <a:prstGeom prst="rect">
            <a:avLst/>
          </a:prstGeom>
          <a:noFill/>
        </p:spPr>
        <p:txBody>
          <a:bodyPr wrap="square">
            <a:spAutoFit/>
          </a:bodyPr>
          <a:lstStyle/>
          <a:p>
            <a:pPr>
              <a:spcAft>
                <a:spcPts val="600"/>
              </a:spcAft>
            </a:pPr>
            <a:r>
              <a:rPr sz="1500" b="0">
                <a:solidFill>
                  <a:srgbClr val="5A6672"/>
                </a:solidFill>
                <a:latin typeface="맑은 고딕"/>
                <a:ea typeface="맑은 고딕"/>
              </a:rPr>
              <a:t>키워드=값 형태</a:t>
            </a:r>
          </a:p>
        </p:txBody>
      </p:sp>
      <p:sp>
        <p:nvSpPr>
          <p:cNvPr id="5" name="TextBox 4"/>
          <p:cNvSpPr txBox="1"/>
          <p:nvPr/>
        </p:nvSpPr>
        <p:spPr>
          <a:xfrm>
            <a:off x="640080" y="1737360"/>
            <a:ext cx="10881360" cy="4572000"/>
          </a:xfrm>
          <a:prstGeom prst="rect">
            <a:avLst/>
          </a:prstGeom>
          <a:noFill/>
        </p:spPr>
        <p:txBody>
          <a:bodyPr wrap="square">
            <a:spAutoFit/>
          </a:bodyPr>
          <a:lstStyle/>
          <a:p>
            <a:pPr>
              <a:spcAft>
                <a:spcPts val="1000"/>
              </a:spcAft>
            </a:pPr>
            <a:r>
              <a:rPr sz="1800" b="0">
                <a:solidFill>
                  <a:srgbClr val="C0392B"/>
                </a:solidFill>
                <a:latin typeface="맑은 고딕"/>
                <a:ea typeface="맑은 고딕"/>
              </a:rPr>
              <a:t>•  userid=계정/암호@접속식별자, control=, log=, bad=, discard=</a:t>
            </a:r>
          </a:p>
          <a:p>
            <a:pPr>
              <a:spcAft>
                <a:spcPts val="1000"/>
              </a:spcAft>
            </a:pPr>
            <a:r>
              <a:rPr sz="1800" b="0">
                <a:solidFill>
                  <a:srgbClr val="C0392B"/>
                </a:solidFill>
                <a:latin typeface="맑은 고딕"/>
                <a:ea typeface="맑은 고딕"/>
              </a:rPr>
              <a:t>•  direct=true(다이렉트), rows=(커밋/저장 단위), skip=(건너뛸 레코드)</a:t>
            </a:r>
          </a:p>
          <a:p>
            <a:pPr>
              <a:spcAft>
                <a:spcPts val="1000"/>
              </a:spcAft>
            </a:pPr>
            <a:r>
              <a:rPr sz="1800" b="0">
                <a:solidFill>
                  <a:srgbClr val="C0392B"/>
                </a:solidFill>
                <a:latin typeface="맑은 고딕"/>
                <a:ea typeface="맑은 고딕"/>
              </a:rPr>
              <a:t>•  errors=(허용 거부 수, 기본 50), bindsize=, parallel=true</a:t>
            </a:r>
          </a:p>
          <a:p>
            <a:pPr>
              <a:spcAft>
                <a:spcPts val="1000"/>
              </a:spcAft>
            </a:pPr>
            <a:r>
              <a:rPr sz="1800" b="0">
                <a:solidFill>
                  <a:srgbClr val="C0392B"/>
                </a:solidFill>
                <a:latin typeface="맑은 고딕"/>
                <a:ea typeface="맑은 고딕"/>
              </a:rPr>
              <a:t>•  data=로 INFILE 덮어쓰기, parfile=로 옵션 묶음 실행</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91440"/>
            <a:ext cx="10972800" cy="731520"/>
          </a:xfrm>
          <a:prstGeom prst="rect">
            <a:avLst/>
          </a:prstGeom>
          <a:noFill/>
        </p:spPr>
        <p:txBody>
          <a:bodyPr wrap="square" anchor="ctr">
            <a:spAutoFit/>
          </a:bodyPr>
          <a:lstStyle/>
          <a:p>
            <a:pPr>
              <a:spcAft>
                <a:spcPts val="600"/>
              </a:spcAft>
            </a:pPr>
            <a:r>
              <a:rPr sz="2600" b="1">
                <a:solidFill>
                  <a:srgbClr val="FFFFFF"/>
                </a:solidFill>
                <a:latin typeface="맑은 고딕"/>
                <a:ea typeface="맑은 고딕"/>
              </a:rPr>
              <a:t>sqlldr 실행 예</a:t>
            </a:r>
          </a:p>
        </p:txBody>
      </p:sp>
      <p:sp>
        <p:nvSpPr>
          <p:cNvPr id="4" name="TextBox 3"/>
          <p:cNvSpPr txBox="1"/>
          <p:nvPr/>
        </p:nvSpPr>
        <p:spPr>
          <a:xfrm>
            <a:off x="640080" y="1097280"/>
            <a:ext cx="10881360" cy="457200"/>
          </a:xfrm>
          <a:prstGeom prst="rect">
            <a:avLst/>
          </a:prstGeom>
          <a:noFill/>
        </p:spPr>
        <p:txBody>
          <a:bodyPr wrap="square">
            <a:spAutoFit/>
          </a:bodyPr>
          <a:lstStyle/>
          <a:p>
            <a:pPr>
              <a:spcAft>
                <a:spcPts val="600"/>
              </a:spcAft>
            </a:pPr>
            <a:r>
              <a:rPr sz="1500" b="0">
                <a:solidFill>
                  <a:srgbClr val="5A6672"/>
                </a:solidFill>
                <a:latin typeface="맑은 고딕"/>
                <a:ea typeface="맑은 고딕"/>
              </a:rPr>
              <a:t>전통 · 다이렉트 · PARFILE</a:t>
            </a:r>
          </a:p>
        </p:txBody>
      </p:sp>
      <p:sp>
        <p:nvSpPr>
          <p:cNvPr id="5" name="Rectangle 4"/>
          <p:cNvSpPr/>
          <p:nvPr/>
        </p:nvSpPr>
        <p:spPr>
          <a:xfrm>
            <a:off x="640080" y="1645920"/>
            <a:ext cx="10881360" cy="4754880"/>
          </a:xfrm>
          <a:prstGeom prst="rect">
            <a:avLst/>
          </a:prstGeom>
          <a:solidFill>
            <a:srgbClr val="1E1E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68680" y="1828800"/>
            <a:ext cx="10424160" cy="4389120"/>
          </a:xfrm>
          <a:prstGeom prst="rect">
            <a:avLst/>
          </a:prstGeom>
          <a:noFill/>
        </p:spPr>
        <p:txBody>
          <a:bodyPr wrap="square">
            <a:spAutoFit/>
          </a:bodyPr>
          <a:lstStyle/>
          <a:p>
            <a:pPr>
              <a:spcAft>
                <a:spcPts val="200"/>
              </a:spcAft>
            </a:pPr>
            <a:r>
              <a:rPr sz="1250">
                <a:solidFill>
                  <a:srgbClr val="7EC699"/>
                </a:solidFill>
                <a:latin typeface="Consolas"/>
                <a:ea typeface="Consolas"/>
              </a:rPr>
              <a:t># 전통적 경로(헤더 1줄 건너뛰기, 거부 100건 허용)</a:t>
            </a:r>
          </a:p>
          <a:p>
            <a:pPr>
              <a:spcAft>
                <a:spcPts val="200"/>
              </a:spcAft>
            </a:pPr>
            <a:r>
              <a:rPr sz="1250">
                <a:solidFill>
                  <a:srgbClr val="E6E6E6"/>
                </a:solidFill>
                <a:latin typeface="Consolas"/>
                <a:ea typeface="Consolas"/>
              </a:rPr>
              <a:t>sqlldr userid=hr@pdb1 control=emp.ctl log=emp.log \</a:t>
            </a:r>
          </a:p>
          <a:p>
            <a:pPr>
              <a:spcAft>
                <a:spcPts val="200"/>
              </a:spcAft>
            </a:pPr>
            <a:r>
              <a:rPr sz="1250">
                <a:solidFill>
                  <a:srgbClr val="E6E6E6"/>
                </a:solidFill>
                <a:latin typeface="Consolas"/>
                <a:ea typeface="Consolas"/>
              </a:rPr>
              <a:t>       bad=emp.bad skip=1 errors=100</a:t>
            </a:r>
          </a:p>
          <a:p>
            <a:pPr>
              <a:spcAft>
                <a:spcPts val="200"/>
              </a:spcAft>
            </a:pPr>
            <a:r>
              <a:rPr sz="1250">
                <a:solidFill>
                  <a:srgbClr val="E6E6E6"/>
                </a:solidFill>
                <a:latin typeface="Consolas"/>
                <a:ea typeface="Consolas"/>
              </a:rPr>
              <a:t> </a:t>
            </a:r>
          </a:p>
          <a:p>
            <a:pPr>
              <a:spcAft>
                <a:spcPts val="200"/>
              </a:spcAft>
            </a:pPr>
            <a:r>
              <a:rPr sz="1250">
                <a:solidFill>
                  <a:srgbClr val="7EC699"/>
                </a:solidFill>
                <a:latin typeface="Consolas"/>
                <a:ea typeface="Consolas"/>
              </a:rPr>
              <a:t># 다이렉트 경로</a:t>
            </a:r>
          </a:p>
          <a:p>
            <a:pPr>
              <a:spcAft>
                <a:spcPts val="200"/>
              </a:spcAft>
            </a:pPr>
            <a:r>
              <a:rPr sz="1250">
                <a:solidFill>
                  <a:srgbClr val="E6E6E6"/>
                </a:solidFill>
                <a:latin typeface="Consolas"/>
                <a:ea typeface="Consolas"/>
              </a:rPr>
              <a:t>sqlldr userid=hr@pdb1 control=emp.ctl log=emp.log direct=true</a:t>
            </a:r>
          </a:p>
          <a:p>
            <a:pPr>
              <a:spcAft>
                <a:spcPts val="200"/>
              </a:spcAft>
            </a:pPr>
            <a:r>
              <a:rPr sz="1250">
                <a:solidFill>
                  <a:srgbClr val="E6E6E6"/>
                </a:solidFill>
                <a:latin typeface="Consolas"/>
                <a:ea typeface="Consolas"/>
              </a:rPr>
              <a:t> </a:t>
            </a:r>
          </a:p>
          <a:p>
            <a:pPr>
              <a:spcAft>
                <a:spcPts val="200"/>
              </a:spcAft>
            </a:pPr>
            <a:r>
              <a:rPr sz="1250">
                <a:solidFill>
                  <a:srgbClr val="7EC699"/>
                </a:solidFill>
                <a:latin typeface="Consolas"/>
                <a:ea typeface="Consolas"/>
              </a:rPr>
              <a:t># 파라미터 파일로 옵션 묶어 실행</a:t>
            </a:r>
          </a:p>
          <a:p>
            <a:pPr>
              <a:spcAft>
                <a:spcPts val="200"/>
              </a:spcAft>
            </a:pPr>
            <a:r>
              <a:rPr sz="1250">
                <a:solidFill>
                  <a:srgbClr val="E6E6E6"/>
                </a:solidFill>
                <a:latin typeface="Consolas"/>
                <a:ea typeface="Consolas"/>
              </a:rPr>
              <a:t>sqlldr parfile=load.par</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91440"/>
            <a:ext cx="10972800" cy="731520"/>
          </a:xfrm>
          <a:prstGeom prst="rect">
            <a:avLst/>
          </a:prstGeom>
          <a:noFill/>
        </p:spPr>
        <p:txBody>
          <a:bodyPr wrap="square" anchor="ctr">
            <a:spAutoFit/>
          </a:bodyPr>
          <a:lstStyle/>
          <a:p>
            <a:pPr>
              <a:spcAft>
                <a:spcPts val="600"/>
              </a:spcAft>
            </a:pPr>
            <a:r>
              <a:rPr sz="2600" b="1">
                <a:solidFill>
                  <a:srgbClr val="FFFFFF"/>
                </a:solidFill>
                <a:latin typeface="맑은 고딕"/>
                <a:ea typeface="맑은 고딕"/>
              </a:rPr>
              <a:t>로그 · 불량 · 버림 파일</a:t>
            </a:r>
          </a:p>
        </p:txBody>
      </p:sp>
      <p:sp>
        <p:nvSpPr>
          <p:cNvPr id="4" name="TextBox 3"/>
          <p:cNvSpPr txBox="1"/>
          <p:nvPr/>
        </p:nvSpPr>
        <p:spPr>
          <a:xfrm>
            <a:off x="640080" y="1097280"/>
            <a:ext cx="10881360" cy="457200"/>
          </a:xfrm>
          <a:prstGeom prst="rect">
            <a:avLst/>
          </a:prstGeom>
          <a:noFill/>
        </p:spPr>
        <p:txBody>
          <a:bodyPr wrap="square">
            <a:spAutoFit/>
          </a:bodyPr>
          <a:lstStyle/>
          <a:p>
            <a:pPr>
              <a:spcAft>
                <a:spcPts val="600"/>
              </a:spcAft>
            </a:pPr>
            <a:r>
              <a:rPr sz="1500" b="0">
                <a:solidFill>
                  <a:srgbClr val="5A6672"/>
                </a:solidFill>
                <a:latin typeface="맑은 고딕"/>
                <a:ea typeface="맑은 고딕"/>
              </a:rPr>
              <a:t>결과 진단</a:t>
            </a:r>
          </a:p>
        </p:txBody>
      </p:sp>
      <p:sp>
        <p:nvSpPr>
          <p:cNvPr id="5" name="TextBox 4"/>
          <p:cNvSpPr txBox="1"/>
          <p:nvPr/>
        </p:nvSpPr>
        <p:spPr>
          <a:xfrm>
            <a:off x="640080" y="1737360"/>
            <a:ext cx="10881360" cy="4572000"/>
          </a:xfrm>
          <a:prstGeom prst="rect">
            <a:avLst/>
          </a:prstGeom>
          <a:noFill/>
        </p:spPr>
        <p:txBody>
          <a:bodyPr wrap="square">
            <a:spAutoFit/>
          </a:bodyPr>
          <a:lstStyle/>
          <a:p>
            <a:pPr>
              <a:spcAft>
                <a:spcPts val="1000"/>
              </a:spcAft>
            </a:pPr>
            <a:r>
              <a:rPr sz="1800" b="0">
                <a:solidFill>
                  <a:srgbClr val="C0392B"/>
                </a:solidFill>
                <a:latin typeface="맑은 고딕"/>
                <a:ea typeface="맑은 고딕"/>
              </a:rPr>
              <a:t>•  로그: Path used·테이블별 성공/거부/NULL 통계·거부 사유(ORA-)·경과 시간</a:t>
            </a:r>
          </a:p>
          <a:p>
            <a:pPr>
              <a:spcAft>
                <a:spcPts val="1000"/>
              </a:spcAft>
            </a:pPr>
            <a:r>
              <a:rPr sz="1800" b="0">
                <a:solidFill>
                  <a:srgbClr val="C0392B"/>
                </a:solidFill>
                <a:latin typeface="맑은 고딕"/>
                <a:ea typeface="맑은 고딕"/>
              </a:rPr>
              <a:t>•  불량(bad): 타입 변환 실패·제약 위반으로 거부된 원본 레코드</a:t>
            </a:r>
          </a:p>
          <a:p>
            <a:pPr>
              <a:spcAft>
                <a:spcPts val="1000"/>
              </a:spcAft>
            </a:pPr>
            <a:r>
              <a:rPr sz="1800" b="0">
                <a:solidFill>
                  <a:srgbClr val="C0392B"/>
                </a:solidFill>
                <a:latin typeface="맑은 고딕"/>
                <a:ea typeface="맑은 고딕"/>
              </a:rPr>
              <a:t>•  버림(discard): WHEN 조건 불일치로 선별 제외(지정 시에만 생성)</a:t>
            </a:r>
          </a:p>
          <a:p>
            <a:pPr>
              <a:spcAft>
                <a:spcPts val="1000"/>
              </a:spcAft>
            </a:pPr>
            <a:r>
              <a:rPr sz="1800" b="0">
                <a:solidFill>
                  <a:srgbClr val="C0392B"/>
                </a:solidFill>
                <a:latin typeface="맑은 고딕"/>
                <a:ea typeface="맑은 고딕"/>
              </a:rPr>
              <a:t>•  거부 레코드는 data=파일.bad 로 그 파일만 보정·재적재</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22960" y="2011680"/>
            <a:ext cx="10515600" cy="1097280"/>
          </a:xfrm>
          <a:prstGeom prst="rect">
            <a:avLst/>
          </a:prstGeom>
          <a:noFill/>
        </p:spPr>
        <p:txBody>
          <a:bodyPr wrap="square">
            <a:spAutoFit/>
          </a:bodyPr>
          <a:lstStyle/>
          <a:p>
            <a:pPr>
              <a:spcAft>
                <a:spcPts val="600"/>
              </a:spcAft>
            </a:pPr>
            <a:r>
              <a:rPr sz="4000" b="1">
                <a:solidFill>
                  <a:srgbClr val="FFFFFF"/>
                </a:solidFill>
                <a:latin typeface="맑은 고딕"/>
                <a:ea typeface="맑은 고딕"/>
              </a:rPr>
              <a:t>26.F</a:t>
            </a:r>
          </a:p>
        </p:txBody>
      </p:sp>
      <p:sp>
        <p:nvSpPr>
          <p:cNvPr id="4" name="TextBox 3"/>
          <p:cNvSpPr txBox="1"/>
          <p:nvPr/>
        </p:nvSpPr>
        <p:spPr>
          <a:xfrm>
            <a:off x="822960" y="3017520"/>
            <a:ext cx="10515600" cy="914400"/>
          </a:xfrm>
          <a:prstGeom prst="rect">
            <a:avLst/>
          </a:prstGeom>
          <a:noFill/>
        </p:spPr>
        <p:txBody>
          <a:bodyPr wrap="square">
            <a:spAutoFit/>
          </a:bodyPr>
          <a:lstStyle/>
          <a:p>
            <a:pPr>
              <a:spcAft>
                <a:spcPts val="600"/>
              </a:spcAft>
            </a:pPr>
            <a:r>
              <a:rPr sz="2800" b="0">
                <a:solidFill>
                  <a:srgbClr val="FFFFFF"/>
                </a:solidFill>
                <a:latin typeface="맑은 고딕"/>
                <a:ea typeface="맑은 고딕"/>
              </a:rPr>
              <a:t>데이터 손실 방지 옵션</a:t>
            </a:r>
          </a:p>
        </p:txBody>
      </p:sp>
      <p:sp>
        <p:nvSpPr>
          <p:cNvPr id="5" name="Rectangle 4"/>
          <p:cNvSpPr/>
          <p:nvPr/>
        </p:nvSpPr>
        <p:spPr>
          <a:xfrm>
            <a:off x="822960" y="4114800"/>
            <a:ext cx="5486400" cy="54864"/>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22960" y="4297680"/>
            <a:ext cx="10058400" cy="1828800"/>
          </a:xfrm>
          <a:prstGeom prst="rect">
            <a:avLst/>
          </a:prstGeom>
          <a:noFill/>
        </p:spPr>
        <p:txBody>
          <a:bodyPr wrap="square">
            <a:spAutoFit/>
          </a:bodyPr>
          <a:lstStyle/>
          <a:p>
            <a:pPr>
              <a:spcAft>
                <a:spcPts val="600"/>
              </a:spcAft>
            </a:pPr>
            <a:r>
              <a:rPr sz="1600" b="0">
                <a:solidFill>
                  <a:srgbClr val="FFFFFF"/>
                </a:solidFill>
                <a:latin typeface="맑은 고딕"/>
                <a:ea typeface="맑은 고딕"/>
              </a:rPr>
              <a:t>•  ROWS 커밋 빈도 제어</a:t>
            </a:r>
          </a:p>
          <a:p>
            <a:pPr>
              <a:spcAft>
                <a:spcPts val="600"/>
              </a:spcAft>
            </a:pPr>
            <a:r>
              <a:rPr sz="1600" b="0">
                <a:solidFill>
                  <a:srgbClr val="FFFFFF"/>
                </a:solidFill>
                <a:latin typeface="맑은 고딕"/>
                <a:ea typeface="맑은 고딕"/>
              </a:rPr>
              <a:t>•  Resumable 재시작</a:t>
            </a:r>
          </a:p>
          <a:p>
            <a:pPr>
              <a:spcAft>
                <a:spcPts val="600"/>
              </a:spcAft>
            </a:pPr>
            <a:r>
              <a:rPr sz="1600" b="0">
                <a:solidFill>
                  <a:srgbClr val="FFFFFF"/>
                </a:solidFill>
                <a:latin typeface="맑은 고딕"/>
                <a:ea typeface="맑은 고딕"/>
              </a:rPr>
              <a:t>•  UNRECOVERABLE/RECOVERABLE</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91440"/>
            <a:ext cx="10972800" cy="731520"/>
          </a:xfrm>
          <a:prstGeom prst="rect">
            <a:avLst/>
          </a:prstGeom>
          <a:noFill/>
        </p:spPr>
        <p:txBody>
          <a:bodyPr wrap="square" anchor="ctr">
            <a:spAutoFit/>
          </a:bodyPr>
          <a:lstStyle/>
          <a:p>
            <a:pPr>
              <a:spcAft>
                <a:spcPts val="600"/>
              </a:spcAft>
            </a:pPr>
            <a:r>
              <a:rPr sz="2600" b="1">
                <a:solidFill>
                  <a:srgbClr val="FFFFFF"/>
                </a:solidFill>
                <a:latin typeface="맑은 고딕"/>
                <a:ea typeface="맑은 고딕"/>
              </a:rPr>
              <a:t>ROWS로 커밋 빈도 제어</a:t>
            </a:r>
          </a:p>
        </p:txBody>
      </p:sp>
      <p:sp>
        <p:nvSpPr>
          <p:cNvPr id="4" name="TextBox 3"/>
          <p:cNvSpPr txBox="1"/>
          <p:nvPr/>
        </p:nvSpPr>
        <p:spPr>
          <a:xfrm>
            <a:off x="640080" y="1097280"/>
            <a:ext cx="10881360" cy="457200"/>
          </a:xfrm>
          <a:prstGeom prst="rect">
            <a:avLst/>
          </a:prstGeom>
          <a:noFill/>
        </p:spPr>
        <p:txBody>
          <a:bodyPr wrap="square">
            <a:spAutoFit/>
          </a:bodyPr>
          <a:lstStyle/>
          <a:p>
            <a:pPr>
              <a:spcAft>
                <a:spcPts val="600"/>
              </a:spcAft>
            </a:pPr>
            <a:r>
              <a:rPr sz="1500" b="0">
                <a:solidFill>
                  <a:srgbClr val="5A6672"/>
                </a:solidFill>
                <a:latin typeface="맑은 고딕"/>
                <a:ea typeface="맑은 고딕"/>
              </a:rPr>
              <a:t>성능과 재작업 부담의 균형</a:t>
            </a:r>
          </a:p>
        </p:txBody>
      </p:sp>
      <p:sp>
        <p:nvSpPr>
          <p:cNvPr id="5" name="TextBox 4"/>
          <p:cNvSpPr txBox="1"/>
          <p:nvPr/>
        </p:nvSpPr>
        <p:spPr>
          <a:xfrm>
            <a:off x="640080" y="1737360"/>
            <a:ext cx="10881360" cy="4572000"/>
          </a:xfrm>
          <a:prstGeom prst="rect">
            <a:avLst/>
          </a:prstGeom>
          <a:noFill/>
        </p:spPr>
        <p:txBody>
          <a:bodyPr wrap="square">
            <a:spAutoFit/>
          </a:bodyPr>
          <a:lstStyle/>
          <a:p>
            <a:pPr>
              <a:spcAft>
                <a:spcPts val="1000"/>
              </a:spcAft>
            </a:pPr>
            <a:r>
              <a:rPr sz="1800" b="0">
                <a:solidFill>
                  <a:srgbClr val="C0392B"/>
                </a:solidFill>
                <a:latin typeface="맑은 고딕"/>
                <a:ea typeface="맑은 고딕"/>
              </a:rPr>
              <a:t>•  전통 경로: rows마다 커밋 — 작으면 복구 지점 촘촘, 크면 성능↑</a:t>
            </a:r>
          </a:p>
          <a:p>
            <a:pPr>
              <a:spcAft>
                <a:spcPts val="1000"/>
              </a:spcAft>
            </a:pPr>
            <a:r>
              <a:rPr sz="1800" b="0">
                <a:solidFill>
                  <a:srgbClr val="C0392B"/>
                </a:solidFill>
                <a:latin typeface="맑은 고딕"/>
                <a:ea typeface="맑은 고딕"/>
              </a:rPr>
              <a:t>•  값이 너무 크면 중간 실패 시 전량 롤백 → 처음부터 재작업</a:t>
            </a:r>
          </a:p>
          <a:p>
            <a:pPr>
              <a:spcAft>
                <a:spcPts val="1000"/>
              </a:spcAft>
            </a:pPr>
            <a:r>
              <a:rPr sz="1800" b="0">
                <a:solidFill>
                  <a:srgbClr val="C0392B"/>
                </a:solidFill>
                <a:latin typeface="맑은 고딕"/>
                <a:ea typeface="맑은 고딕"/>
              </a:rPr>
              <a:t>•  너무 잦으면 로그 스위치·언두 관리 오버헤드 증가</a:t>
            </a:r>
          </a:p>
          <a:p>
            <a:pPr>
              <a:spcAft>
                <a:spcPts val="1000"/>
              </a:spcAft>
            </a:pPr>
            <a:r>
              <a:rPr sz="1800" b="0">
                <a:solidFill>
                  <a:srgbClr val="C0392B"/>
                </a:solidFill>
                <a:latin typeface="맑은 고딕"/>
                <a:ea typeface="맑은 고딕"/>
              </a:rPr>
              <a:t>•  다이렉트 경로: rows는 데이터 저장 지점 → SKIP과 결합해 재개</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91440"/>
            <a:ext cx="10972800" cy="731520"/>
          </a:xfrm>
          <a:prstGeom prst="rect">
            <a:avLst/>
          </a:prstGeom>
          <a:noFill/>
        </p:spPr>
        <p:txBody>
          <a:bodyPr wrap="square" anchor="ctr">
            <a:spAutoFit/>
          </a:bodyPr>
          <a:lstStyle/>
          <a:p>
            <a:pPr>
              <a:spcAft>
                <a:spcPts val="600"/>
              </a:spcAft>
            </a:pPr>
            <a:r>
              <a:rPr sz="2600" b="1">
                <a:solidFill>
                  <a:srgbClr val="FFFFFF"/>
                </a:solidFill>
                <a:latin typeface="맑은 고딕"/>
                <a:ea typeface="맑은 고딕"/>
              </a:rPr>
              <a:t>재시작 가능(Resumable) 옵션</a:t>
            </a:r>
          </a:p>
        </p:txBody>
      </p:sp>
      <p:sp>
        <p:nvSpPr>
          <p:cNvPr id="4" name="TextBox 3"/>
          <p:cNvSpPr txBox="1"/>
          <p:nvPr/>
        </p:nvSpPr>
        <p:spPr>
          <a:xfrm>
            <a:off x="640080" y="1097280"/>
            <a:ext cx="10881360" cy="457200"/>
          </a:xfrm>
          <a:prstGeom prst="rect">
            <a:avLst/>
          </a:prstGeom>
          <a:noFill/>
        </p:spPr>
        <p:txBody>
          <a:bodyPr wrap="square">
            <a:spAutoFit/>
          </a:bodyPr>
          <a:lstStyle/>
          <a:p>
            <a:pPr>
              <a:spcAft>
                <a:spcPts val="600"/>
              </a:spcAft>
            </a:pPr>
            <a:r>
              <a:rPr sz="1500" b="0">
                <a:solidFill>
                  <a:srgbClr val="5A6672"/>
                </a:solidFill>
                <a:latin typeface="맑은 고딕"/>
                <a:ea typeface="맑은 고딕"/>
              </a:rPr>
              <a:t>공간 부족 시 대기 후 재개</a:t>
            </a:r>
          </a:p>
        </p:txBody>
      </p:sp>
      <p:sp>
        <p:nvSpPr>
          <p:cNvPr id="5" name="TextBox 4"/>
          <p:cNvSpPr txBox="1"/>
          <p:nvPr/>
        </p:nvSpPr>
        <p:spPr>
          <a:xfrm>
            <a:off x="640080" y="1737360"/>
            <a:ext cx="10881360" cy="4572000"/>
          </a:xfrm>
          <a:prstGeom prst="rect">
            <a:avLst/>
          </a:prstGeom>
          <a:noFill/>
        </p:spPr>
        <p:txBody>
          <a:bodyPr wrap="square">
            <a:spAutoFit/>
          </a:bodyPr>
          <a:lstStyle/>
          <a:p>
            <a:pPr>
              <a:spcAft>
                <a:spcPts val="1000"/>
              </a:spcAft>
            </a:pPr>
            <a:r>
              <a:rPr sz="1800" b="0">
                <a:solidFill>
                  <a:srgbClr val="C0392B"/>
                </a:solidFill>
                <a:latin typeface="맑은 고딕"/>
                <a:ea typeface="맑은 고딕"/>
              </a:rPr>
              <a:t>•  공간 부족(ORA-01653)·언두 부족·할당량 초과 시 실패 대신 일시 중단</a:t>
            </a:r>
          </a:p>
          <a:p>
            <a:pPr>
              <a:spcAft>
                <a:spcPts val="1000"/>
              </a:spcAft>
            </a:pPr>
            <a:r>
              <a:rPr sz="1800" b="0">
                <a:solidFill>
                  <a:srgbClr val="C0392B"/>
                </a:solidFill>
                <a:latin typeface="맑은 고딕"/>
                <a:ea typeface="맑은 고딕"/>
              </a:rPr>
              <a:t>•  DBA가 공간 추가·할당량 확대 시 자동으로 이어서 진행</a:t>
            </a:r>
          </a:p>
          <a:p>
            <a:pPr>
              <a:spcAft>
                <a:spcPts val="1000"/>
              </a:spcAft>
            </a:pPr>
            <a:r>
              <a:rPr sz="1800" b="0">
                <a:solidFill>
                  <a:srgbClr val="C0392B"/>
                </a:solidFill>
                <a:latin typeface="맑은 고딕"/>
                <a:ea typeface="맑은 고딕"/>
              </a:rPr>
              <a:t>•  RESUMABLE=TRUE, RESUMABLE_NAME, RESUMABLE_TIMEOUT로 제어</a:t>
            </a:r>
          </a:p>
          <a:p>
            <a:pPr>
              <a:spcAft>
                <a:spcPts val="1000"/>
              </a:spcAft>
            </a:pPr>
            <a:r>
              <a:rPr sz="1800" b="0">
                <a:solidFill>
                  <a:srgbClr val="C0392B"/>
                </a:solidFill>
                <a:latin typeface="맑은 고딕"/>
                <a:ea typeface="맑은 고딕"/>
              </a:rPr>
              <a:t>•  야간 대량 적재의 공간 부족 전체 실패를 예방</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91440"/>
            <a:ext cx="10972800" cy="731520"/>
          </a:xfrm>
          <a:prstGeom prst="rect">
            <a:avLst/>
          </a:prstGeom>
          <a:noFill/>
        </p:spPr>
        <p:txBody>
          <a:bodyPr wrap="square" anchor="ctr">
            <a:spAutoFit/>
          </a:bodyPr>
          <a:lstStyle/>
          <a:p>
            <a:pPr>
              <a:spcAft>
                <a:spcPts val="600"/>
              </a:spcAft>
            </a:pPr>
            <a:r>
              <a:rPr sz="2600" b="1">
                <a:solidFill>
                  <a:srgbClr val="FFFFFF"/>
                </a:solidFill>
                <a:latin typeface="맑은 고딕"/>
                <a:ea typeface="맑은 고딕"/>
              </a:rPr>
              <a:t>UNRECOVERABLE / RECOVERABLE</a:t>
            </a:r>
          </a:p>
        </p:txBody>
      </p:sp>
      <p:sp>
        <p:nvSpPr>
          <p:cNvPr id="4" name="TextBox 3"/>
          <p:cNvSpPr txBox="1"/>
          <p:nvPr/>
        </p:nvSpPr>
        <p:spPr>
          <a:xfrm>
            <a:off x="640080" y="1097280"/>
            <a:ext cx="10881360" cy="457200"/>
          </a:xfrm>
          <a:prstGeom prst="rect">
            <a:avLst/>
          </a:prstGeom>
          <a:noFill/>
        </p:spPr>
        <p:txBody>
          <a:bodyPr wrap="square">
            <a:spAutoFit/>
          </a:bodyPr>
          <a:lstStyle/>
          <a:p>
            <a:pPr>
              <a:spcAft>
                <a:spcPts val="600"/>
              </a:spcAft>
            </a:pPr>
            <a:r>
              <a:rPr sz="1500" b="0">
                <a:solidFill>
                  <a:srgbClr val="5A6672"/>
                </a:solidFill>
                <a:latin typeface="맑은 고딕"/>
                <a:ea typeface="맑은 고딕"/>
              </a:rPr>
              <a:t>리두 생성 제어</a:t>
            </a:r>
          </a:p>
        </p:txBody>
      </p:sp>
      <p:sp>
        <p:nvSpPr>
          <p:cNvPr id="5" name="TextBox 4"/>
          <p:cNvSpPr txBox="1"/>
          <p:nvPr/>
        </p:nvSpPr>
        <p:spPr>
          <a:xfrm>
            <a:off x="640080" y="1737360"/>
            <a:ext cx="10881360" cy="4572000"/>
          </a:xfrm>
          <a:prstGeom prst="rect">
            <a:avLst/>
          </a:prstGeom>
          <a:noFill/>
        </p:spPr>
        <p:txBody>
          <a:bodyPr wrap="square">
            <a:spAutoFit/>
          </a:bodyPr>
          <a:lstStyle/>
          <a:p>
            <a:pPr>
              <a:spcAft>
                <a:spcPts val="1000"/>
              </a:spcAft>
            </a:pPr>
            <a:r>
              <a:rPr sz="1800" b="0">
                <a:solidFill>
                  <a:srgbClr val="C0392B"/>
                </a:solidFill>
                <a:latin typeface="맑은 고딕"/>
                <a:ea typeface="맑은 고딕"/>
              </a:rPr>
              <a:t>•  RECOVERABLE(기본): 리두 정상 생성 → 미디어 복구 가능</a:t>
            </a:r>
          </a:p>
          <a:p>
            <a:pPr>
              <a:spcAft>
                <a:spcPts val="1000"/>
              </a:spcAft>
            </a:pPr>
            <a:r>
              <a:rPr sz="1800" b="0">
                <a:solidFill>
                  <a:srgbClr val="C0392B"/>
                </a:solidFill>
                <a:latin typeface="맑은 고딕"/>
                <a:ea typeface="맑은 고딕"/>
              </a:rPr>
              <a:t>•  UNRECOVERABLE: 리두 생략 → 더 빠르나 미디어 복구 불가</a:t>
            </a:r>
          </a:p>
          <a:p>
            <a:pPr>
              <a:spcAft>
                <a:spcPts val="1000"/>
              </a:spcAft>
            </a:pPr>
            <a:r>
              <a:rPr sz="1800" b="0">
                <a:solidFill>
                  <a:srgbClr val="C0392B"/>
                </a:solidFill>
                <a:latin typeface="맑은 고딕"/>
                <a:ea typeface="맑은 고딕"/>
              </a:rPr>
              <a:t>•  다이렉트 경로에서만 유효(전통 경로는 항상 리두 생성)</a:t>
            </a:r>
          </a:p>
          <a:p>
            <a:pPr>
              <a:spcAft>
                <a:spcPts val="1000"/>
              </a:spcAft>
            </a:pPr>
            <a:r>
              <a:rPr sz="1800" b="0">
                <a:solidFill>
                  <a:srgbClr val="C0392B"/>
                </a:solidFill>
                <a:latin typeface="맑은 고딕"/>
                <a:ea typeface="맑은 고딕"/>
              </a:rPr>
              <a:t>•  UNRECOVERABLE 로드 직후에는 반드시 백업 수행</a:t>
            </a:r>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22960" y="2011680"/>
            <a:ext cx="10515600" cy="1097280"/>
          </a:xfrm>
          <a:prstGeom prst="rect">
            <a:avLst/>
          </a:prstGeom>
          <a:noFill/>
        </p:spPr>
        <p:txBody>
          <a:bodyPr wrap="square">
            <a:spAutoFit/>
          </a:bodyPr>
          <a:lstStyle/>
          <a:p>
            <a:pPr>
              <a:spcAft>
                <a:spcPts val="600"/>
              </a:spcAft>
            </a:pPr>
            <a:r>
              <a:rPr sz="4000" b="1">
                <a:solidFill>
                  <a:srgbClr val="FFFFFF"/>
                </a:solidFill>
                <a:latin typeface="맑은 고딕"/>
                <a:ea typeface="맑은 고딕"/>
              </a:rPr>
              <a:t>26.G</a:t>
            </a:r>
          </a:p>
        </p:txBody>
      </p:sp>
      <p:sp>
        <p:nvSpPr>
          <p:cNvPr id="4" name="TextBox 3"/>
          <p:cNvSpPr txBox="1"/>
          <p:nvPr/>
        </p:nvSpPr>
        <p:spPr>
          <a:xfrm>
            <a:off x="822960" y="3017520"/>
            <a:ext cx="10515600" cy="914400"/>
          </a:xfrm>
          <a:prstGeom prst="rect">
            <a:avLst/>
          </a:prstGeom>
          <a:noFill/>
        </p:spPr>
        <p:txBody>
          <a:bodyPr wrap="square">
            <a:spAutoFit/>
          </a:bodyPr>
          <a:lstStyle/>
          <a:p>
            <a:pPr>
              <a:spcAft>
                <a:spcPts val="600"/>
              </a:spcAft>
            </a:pPr>
            <a:r>
              <a:rPr sz="2800" b="0">
                <a:solidFill>
                  <a:srgbClr val="FFFFFF"/>
                </a:solidFill>
                <a:latin typeface="맑은 고딕"/>
                <a:ea typeface="맑은 고딕"/>
              </a:rPr>
              <a:t>SQL*Loader Express Mode</a:t>
            </a:r>
          </a:p>
        </p:txBody>
      </p:sp>
      <p:sp>
        <p:nvSpPr>
          <p:cNvPr id="5" name="Rectangle 4"/>
          <p:cNvSpPr/>
          <p:nvPr/>
        </p:nvSpPr>
        <p:spPr>
          <a:xfrm>
            <a:off x="822960" y="4114800"/>
            <a:ext cx="5486400" cy="54864"/>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22960" y="4297680"/>
            <a:ext cx="10058400" cy="1828800"/>
          </a:xfrm>
          <a:prstGeom prst="rect">
            <a:avLst/>
          </a:prstGeom>
          <a:noFill/>
        </p:spPr>
        <p:txBody>
          <a:bodyPr wrap="square">
            <a:spAutoFit/>
          </a:bodyPr>
          <a:lstStyle/>
          <a:p>
            <a:pPr>
              <a:spcAft>
                <a:spcPts val="600"/>
              </a:spcAft>
            </a:pPr>
            <a:r>
              <a:rPr sz="1600" b="0">
                <a:solidFill>
                  <a:srgbClr val="FFFFFF"/>
                </a:solidFill>
                <a:latin typeface="맑은 고딕"/>
                <a:ea typeface="맑은 고딕"/>
              </a:rPr>
              <a:t>•  컨트롤 파일 없는 CSV 적재</a:t>
            </a:r>
          </a:p>
          <a:p>
            <a:pPr>
              <a:spcAft>
                <a:spcPts val="600"/>
              </a:spcAft>
            </a:pPr>
            <a:r>
              <a:rPr sz="1600" b="0">
                <a:solidFill>
                  <a:srgbClr val="FFFFFF"/>
                </a:solidFill>
                <a:latin typeface="맑은 고딕"/>
                <a:ea typeface="맑은 고딕"/>
              </a:rPr>
              <a:t>•  명명 규칙 기반 자동 매핑</a:t>
            </a:r>
          </a:p>
          <a:p>
            <a:pPr>
              <a:spcAft>
                <a:spcPts val="600"/>
              </a:spcAft>
            </a:pPr>
            <a:r>
              <a:rPr sz="1600" b="0">
                <a:solidFill>
                  <a:srgbClr val="FFFFFF"/>
                </a:solidFill>
                <a:latin typeface="맑은 고딕"/>
                <a:ea typeface="맑은 고딕"/>
              </a:rPr>
              <a:t>•  12c+ / 19c 기능</a:t>
            </a:r>
          </a:p>
        </p:txBody>
      </p:sp>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91440"/>
            <a:ext cx="10972800" cy="731520"/>
          </a:xfrm>
          <a:prstGeom prst="rect">
            <a:avLst/>
          </a:prstGeom>
          <a:noFill/>
        </p:spPr>
        <p:txBody>
          <a:bodyPr wrap="square" anchor="ctr">
            <a:spAutoFit/>
          </a:bodyPr>
          <a:lstStyle/>
          <a:p>
            <a:pPr>
              <a:spcAft>
                <a:spcPts val="600"/>
              </a:spcAft>
            </a:pPr>
            <a:r>
              <a:rPr sz="2600" b="1">
                <a:solidFill>
                  <a:srgbClr val="FFFFFF"/>
                </a:solidFill>
                <a:latin typeface="맑은 고딕"/>
                <a:ea typeface="맑은 고딕"/>
              </a:rPr>
              <a:t>Express Mode 개요</a:t>
            </a:r>
          </a:p>
        </p:txBody>
      </p:sp>
      <p:sp>
        <p:nvSpPr>
          <p:cNvPr id="4" name="TextBox 3"/>
          <p:cNvSpPr txBox="1"/>
          <p:nvPr/>
        </p:nvSpPr>
        <p:spPr>
          <a:xfrm>
            <a:off x="640080" y="1097280"/>
            <a:ext cx="10881360" cy="457200"/>
          </a:xfrm>
          <a:prstGeom prst="rect">
            <a:avLst/>
          </a:prstGeom>
          <a:noFill/>
        </p:spPr>
        <p:txBody>
          <a:bodyPr wrap="square">
            <a:spAutoFit/>
          </a:bodyPr>
          <a:lstStyle/>
          <a:p>
            <a:pPr>
              <a:spcAft>
                <a:spcPts val="600"/>
              </a:spcAft>
            </a:pPr>
            <a:r>
              <a:rPr sz="1500" b="0">
                <a:solidFill>
                  <a:srgbClr val="5A6672"/>
                </a:solidFill>
                <a:latin typeface="맑은 고딕"/>
                <a:ea typeface="맑은 고딕"/>
              </a:rPr>
              <a:t>TABLE= 만으로 적재</a:t>
            </a:r>
          </a:p>
        </p:txBody>
      </p:sp>
      <p:sp>
        <p:nvSpPr>
          <p:cNvPr id="5" name="TextBox 4"/>
          <p:cNvSpPr txBox="1"/>
          <p:nvPr/>
        </p:nvSpPr>
        <p:spPr>
          <a:xfrm>
            <a:off x="640080" y="1737360"/>
            <a:ext cx="10881360" cy="4572000"/>
          </a:xfrm>
          <a:prstGeom prst="rect">
            <a:avLst/>
          </a:prstGeom>
          <a:noFill/>
        </p:spPr>
        <p:txBody>
          <a:bodyPr wrap="square">
            <a:spAutoFit/>
          </a:bodyPr>
          <a:lstStyle/>
          <a:p>
            <a:pPr>
              <a:spcAft>
                <a:spcPts val="1000"/>
              </a:spcAft>
            </a:pPr>
            <a:r>
              <a:rPr sz="1800" b="0">
                <a:solidFill>
                  <a:srgbClr val="C0392B"/>
                </a:solidFill>
                <a:latin typeface="맑은 고딕"/>
                <a:ea typeface="맑은 고딕"/>
              </a:rPr>
              <a:t>•  TABLE=테이블명 만 지정하면 Express Mode 활성화(컨트롤 파일 불필요)</a:t>
            </a:r>
          </a:p>
          <a:p>
            <a:pPr>
              <a:spcAft>
                <a:spcPts val="1000"/>
              </a:spcAft>
            </a:pPr>
            <a:r>
              <a:rPr sz="1800" b="0">
                <a:solidFill>
                  <a:srgbClr val="C0392B"/>
                </a:solidFill>
                <a:latin typeface="맑은 고딕"/>
                <a:ea typeface="맑은 고딕"/>
              </a:rPr>
              <a:t>•  기본값: 데이터=테이블명.dat, 구분자=쉼표, 감싸기=큰따옴표</a:t>
            </a:r>
          </a:p>
          <a:p>
            <a:pPr>
              <a:spcAft>
                <a:spcPts val="1000"/>
              </a:spcAft>
            </a:pPr>
            <a:r>
              <a:rPr sz="1800" b="0">
                <a:solidFill>
                  <a:srgbClr val="C0392B"/>
                </a:solidFill>
                <a:latin typeface="맑은 고딕"/>
                <a:ea typeface="맑은 고딕"/>
              </a:rPr>
              <a:t>•  딕셔너리에서 컬럼 타입을 읽어 필드 정의 자동 생성, 컬럼 순서대로 매핑</a:t>
            </a:r>
          </a:p>
          <a:p>
            <a:pPr>
              <a:spcAft>
                <a:spcPts val="1000"/>
              </a:spcAft>
            </a:pPr>
            <a:r>
              <a:rPr sz="1800" b="0">
                <a:solidFill>
                  <a:srgbClr val="C0392B"/>
                </a:solidFill>
                <a:latin typeface="맑은 고딕"/>
                <a:ea typeface="맑은 고딕"/>
              </a:rPr>
              <a:t>•  기본 다이렉트 경로 시도, 자동 생성 .ctl/로그 남김</a:t>
            </a:r>
          </a:p>
        </p:txBody>
      </p:sp>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91440"/>
            <a:ext cx="10972800" cy="731520"/>
          </a:xfrm>
          <a:prstGeom prst="rect">
            <a:avLst/>
          </a:prstGeom>
          <a:noFill/>
        </p:spPr>
        <p:txBody>
          <a:bodyPr wrap="square" anchor="ctr">
            <a:spAutoFit/>
          </a:bodyPr>
          <a:lstStyle/>
          <a:p>
            <a:pPr>
              <a:spcAft>
                <a:spcPts val="600"/>
              </a:spcAft>
            </a:pPr>
            <a:r>
              <a:rPr sz="2600" b="1">
                <a:solidFill>
                  <a:srgbClr val="FFFFFF"/>
                </a:solidFill>
                <a:latin typeface="맑은 고딕"/>
                <a:ea typeface="맑은 고딕"/>
              </a:rPr>
              <a:t>Express Mode 실행</a:t>
            </a:r>
          </a:p>
        </p:txBody>
      </p:sp>
      <p:sp>
        <p:nvSpPr>
          <p:cNvPr id="4" name="TextBox 3"/>
          <p:cNvSpPr txBox="1"/>
          <p:nvPr/>
        </p:nvSpPr>
        <p:spPr>
          <a:xfrm>
            <a:off x="640080" y="1097280"/>
            <a:ext cx="10881360" cy="457200"/>
          </a:xfrm>
          <a:prstGeom prst="rect">
            <a:avLst/>
          </a:prstGeom>
          <a:noFill/>
        </p:spPr>
        <p:txBody>
          <a:bodyPr wrap="square">
            <a:spAutoFit/>
          </a:bodyPr>
          <a:lstStyle/>
          <a:p>
            <a:pPr>
              <a:spcAft>
                <a:spcPts val="600"/>
              </a:spcAft>
            </a:pPr>
            <a:r>
              <a:rPr sz="1500" b="0">
                <a:solidFill>
                  <a:srgbClr val="5A6672"/>
                </a:solidFill>
                <a:latin typeface="맑은 고딕"/>
                <a:ea typeface="맑은 고딕"/>
              </a:rPr>
              <a:t>sqlldr table=</a:t>
            </a:r>
          </a:p>
        </p:txBody>
      </p:sp>
      <p:sp>
        <p:nvSpPr>
          <p:cNvPr id="5" name="Rectangle 4"/>
          <p:cNvSpPr/>
          <p:nvPr/>
        </p:nvSpPr>
        <p:spPr>
          <a:xfrm>
            <a:off x="640080" y="1645920"/>
            <a:ext cx="10881360" cy="4754880"/>
          </a:xfrm>
          <a:prstGeom prst="rect">
            <a:avLst/>
          </a:prstGeom>
          <a:solidFill>
            <a:srgbClr val="1E1E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68680" y="1828800"/>
            <a:ext cx="10424160" cy="4389120"/>
          </a:xfrm>
          <a:prstGeom prst="rect">
            <a:avLst/>
          </a:prstGeom>
          <a:noFill/>
        </p:spPr>
        <p:txBody>
          <a:bodyPr wrap="square">
            <a:spAutoFit/>
          </a:bodyPr>
          <a:lstStyle/>
          <a:p>
            <a:pPr>
              <a:spcAft>
                <a:spcPts val="200"/>
              </a:spcAft>
            </a:pPr>
            <a:r>
              <a:rPr sz="1250">
                <a:solidFill>
                  <a:srgbClr val="7EC699"/>
                </a:solidFill>
                <a:latin typeface="Consolas"/>
                <a:ea typeface="Consolas"/>
              </a:rPr>
              <a:t># 컨트롤 파일 없이 CSV 적재</a:t>
            </a:r>
          </a:p>
          <a:p>
            <a:pPr>
              <a:spcAft>
                <a:spcPts val="200"/>
              </a:spcAft>
            </a:pPr>
            <a:r>
              <a:rPr sz="1250">
                <a:solidFill>
                  <a:srgbClr val="7EC699"/>
                </a:solidFill>
                <a:latin typeface="Consolas"/>
                <a:ea typeface="Consolas"/>
              </a:rPr>
              <a:t># EMPLOYEES 테이블에 employees.dat(기본 CSV) 적재</a:t>
            </a:r>
          </a:p>
          <a:p>
            <a:pPr>
              <a:spcAft>
                <a:spcPts val="200"/>
              </a:spcAft>
            </a:pPr>
            <a:r>
              <a:rPr sz="1250">
                <a:solidFill>
                  <a:srgbClr val="E6E6E6"/>
                </a:solidFill>
                <a:latin typeface="Consolas"/>
                <a:ea typeface="Consolas"/>
              </a:rPr>
              <a:t>sqlldr userid=hr@pdb1 table=employees</a:t>
            </a:r>
          </a:p>
          <a:p>
            <a:pPr>
              <a:spcAft>
                <a:spcPts val="200"/>
              </a:spcAft>
            </a:pPr>
            <a:r>
              <a:rPr sz="1250">
                <a:solidFill>
                  <a:srgbClr val="E6E6E6"/>
                </a:solidFill>
                <a:latin typeface="Consolas"/>
                <a:ea typeface="Consolas"/>
              </a:rPr>
              <a:t> </a:t>
            </a:r>
          </a:p>
          <a:p>
            <a:pPr>
              <a:spcAft>
                <a:spcPts val="200"/>
              </a:spcAft>
            </a:pPr>
            <a:r>
              <a:rPr sz="1250">
                <a:solidFill>
                  <a:srgbClr val="7EC699"/>
                </a:solidFill>
                <a:latin typeface="Consolas"/>
                <a:ea typeface="Consolas"/>
              </a:rPr>
              <a:t># 데이터 파일명·구분자 등을 파라미터로 재정의</a:t>
            </a:r>
          </a:p>
          <a:p>
            <a:pPr>
              <a:spcAft>
                <a:spcPts val="200"/>
              </a:spcAft>
            </a:pPr>
            <a:r>
              <a:rPr sz="1250">
                <a:solidFill>
                  <a:srgbClr val="E6E6E6"/>
                </a:solidFill>
                <a:latin typeface="Consolas"/>
                <a:ea typeface="Consolas"/>
              </a:rPr>
              <a:t>sqlldr userid=hr@pdb1 table=employees \</a:t>
            </a:r>
          </a:p>
          <a:p>
            <a:pPr>
              <a:spcAft>
                <a:spcPts val="200"/>
              </a:spcAft>
            </a:pPr>
            <a:r>
              <a:rPr sz="1250">
                <a:solidFill>
                  <a:srgbClr val="E6E6E6"/>
                </a:solidFill>
                <a:latin typeface="Consolas"/>
                <a:ea typeface="Consolas"/>
              </a:rPr>
              <a:t>       data=emp_2026.csv optionally_enclosed_by='"'</a:t>
            </a:r>
          </a:p>
        </p:txBody>
      </p:sp>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22960" y="2011680"/>
            <a:ext cx="10515600" cy="1097280"/>
          </a:xfrm>
          <a:prstGeom prst="rect">
            <a:avLst/>
          </a:prstGeom>
          <a:noFill/>
        </p:spPr>
        <p:txBody>
          <a:bodyPr wrap="square">
            <a:spAutoFit/>
          </a:bodyPr>
          <a:lstStyle/>
          <a:p>
            <a:pPr>
              <a:spcAft>
                <a:spcPts val="600"/>
              </a:spcAft>
            </a:pPr>
            <a:r>
              <a:rPr sz="4000" b="1">
                <a:solidFill>
                  <a:srgbClr val="FFFFFF"/>
                </a:solidFill>
                <a:latin typeface="맑은 고딕"/>
                <a:ea typeface="맑은 고딕"/>
              </a:rPr>
              <a:t>26.H</a:t>
            </a:r>
          </a:p>
        </p:txBody>
      </p:sp>
      <p:sp>
        <p:nvSpPr>
          <p:cNvPr id="4" name="TextBox 3"/>
          <p:cNvSpPr txBox="1"/>
          <p:nvPr/>
        </p:nvSpPr>
        <p:spPr>
          <a:xfrm>
            <a:off x="822960" y="3017520"/>
            <a:ext cx="10515600" cy="914400"/>
          </a:xfrm>
          <a:prstGeom prst="rect">
            <a:avLst/>
          </a:prstGeom>
          <a:noFill/>
        </p:spPr>
        <p:txBody>
          <a:bodyPr wrap="square">
            <a:spAutoFit/>
          </a:bodyPr>
          <a:lstStyle/>
          <a:p>
            <a:pPr>
              <a:spcAft>
                <a:spcPts val="600"/>
              </a:spcAft>
            </a:pPr>
            <a:r>
              <a:rPr sz="2800" b="0">
                <a:solidFill>
                  <a:srgbClr val="FFFFFF"/>
                </a:solidFill>
                <a:latin typeface="맑은 고딕"/>
                <a:ea typeface="맑은 고딕"/>
              </a:rPr>
              <a:t>PDB 내 테이블에 적재</a:t>
            </a:r>
          </a:p>
        </p:txBody>
      </p:sp>
      <p:sp>
        <p:nvSpPr>
          <p:cNvPr id="5" name="Rectangle 4"/>
          <p:cNvSpPr/>
          <p:nvPr/>
        </p:nvSpPr>
        <p:spPr>
          <a:xfrm>
            <a:off x="822960" y="4114800"/>
            <a:ext cx="5486400" cy="54864"/>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22960" y="4297680"/>
            <a:ext cx="10058400" cy="1828800"/>
          </a:xfrm>
          <a:prstGeom prst="rect">
            <a:avLst/>
          </a:prstGeom>
          <a:noFill/>
        </p:spPr>
        <p:txBody>
          <a:bodyPr wrap="square">
            <a:spAutoFit/>
          </a:bodyPr>
          <a:lstStyle/>
          <a:p>
            <a:pPr>
              <a:spcAft>
                <a:spcPts val="600"/>
              </a:spcAft>
            </a:pPr>
            <a:r>
              <a:rPr sz="1600" b="0">
                <a:solidFill>
                  <a:srgbClr val="FFFFFF"/>
                </a:solidFill>
                <a:latin typeface="맑은 고딕"/>
                <a:ea typeface="맑은 고딕"/>
              </a:rPr>
              <a:t>•  접속 문자열로 PDB 지정</a:t>
            </a:r>
          </a:p>
          <a:p>
            <a:pPr>
              <a:spcAft>
                <a:spcPts val="600"/>
              </a:spcAft>
            </a:pPr>
            <a:r>
              <a:rPr sz="1600" b="0">
                <a:solidFill>
                  <a:srgbClr val="FFFFFF"/>
                </a:solidFill>
                <a:latin typeface="맑은 고딕"/>
                <a:ea typeface="맑은 고딕"/>
              </a:rPr>
              <a:t>•  TWO_TASK 환경변수</a:t>
            </a:r>
          </a:p>
          <a:p>
            <a:pPr>
              <a:spcAft>
                <a:spcPts val="600"/>
              </a:spcAft>
            </a:pPr>
            <a:r>
              <a:rPr sz="1600" b="0">
                <a:solidFill>
                  <a:srgbClr val="FFFFFF"/>
                </a:solidFill>
                <a:latin typeface="맑은 고딕"/>
                <a:ea typeface="맑은 고딕"/>
              </a:rPr>
              <a:t>•  적재 전 점검 사항</a:t>
            </a:r>
          </a:p>
        </p:txBody>
      </p:sp>
    </p:spTree>
  </p:cSld>
  <p:clrMapOvr>
    <a:masterClrMapping/>
  </p:clrMapOvr>
</p:sld>
</file>

<file path=ppt/slides/slide3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91440"/>
            <a:ext cx="10972800" cy="731520"/>
          </a:xfrm>
          <a:prstGeom prst="rect">
            <a:avLst/>
          </a:prstGeom>
          <a:noFill/>
        </p:spPr>
        <p:txBody>
          <a:bodyPr wrap="square" anchor="ctr">
            <a:spAutoFit/>
          </a:bodyPr>
          <a:lstStyle/>
          <a:p>
            <a:pPr>
              <a:spcAft>
                <a:spcPts val="600"/>
              </a:spcAft>
            </a:pPr>
            <a:r>
              <a:rPr sz="2600" b="1">
                <a:solidFill>
                  <a:srgbClr val="FFFFFF"/>
                </a:solidFill>
                <a:latin typeface="맑은 고딕"/>
                <a:ea typeface="맑은 고딕"/>
              </a:rPr>
              <a:t>PDB로의 접속 방법</a:t>
            </a:r>
          </a:p>
        </p:txBody>
      </p:sp>
      <p:sp>
        <p:nvSpPr>
          <p:cNvPr id="4" name="TextBox 3"/>
          <p:cNvSpPr txBox="1"/>
          <p:nvPr/>
        </p:nvSpPr>
        <p:spPr>
          <a:xfrm>
            <a:off x="640080" y="1097280"/>
            <a:ext cx="10881360" cy="457200"/>
          </a:xfrm>
          <a:prstGeom prst="rect">
            <a:avLst/>
          </a:prstGeom>
          <a:noFill/>
        </p:spPr>
        <p:txBody>
          <a:bodyPr wrap="square">
            <a:spAutoFit/>
          </a:bodyPr>
          <a:lstStyle/>
          <a:p>
            <a:pPr>
              <a:spcAft>
                <a:spcPts val="600"/>
              </a:spcAft>
            </a:pPr>
            <a:r>
              <a:rPr sz="1500" b="0">
                <a:solidFill>
                  <a:srgbClr val="5A6672"/>
                </a:solidFill>
                <a:latin typeface="맑은 고딕"/>
                <a:ea typeface="맑은 고딕"/>
              </a:rPr>
              <a:t>대상 컨테이너 지정</a:t>
            </a:r>
          </a:p>
        </p:txBody>
      </p:sp>
      <p:sp>
        <p:nvSpPr>
          <p:cNvPr id="5" name="TextBox 4"/>
          <p:cNvSpPr txBox="1"/>
          <p:nvPr/>
        </p:nvSpPr>
        <p:spPr>
          <a:xfrm>
            <a:off x="640080" y="1737360"/>
            <a:ext cx="10881360" cy="4572000"/>
          </a:xfrm>
          <a:prstGeom prst="rect">
            <a:avLst/>
          </a:prstGeom>
          <a:noFill/>
        </p:spPr>
        <p:txBody>
          <a:bodyPr wrap="square">
            <a:spAutoFit/>
          </a:bodyPr>
          <a:lstStyle/>
          <a:p>
            <a:pPr>
              <a:spcAft>
                <a:spcPts val="1000"/>
              </a:spcAft>
            </a:pPr>
            <a:r>
              <a:rPr sz="1800" b="0">
                <a:solidFill>
                  <a:srgbClr val="C0392B"/>
                </a:solidFill>
                <a:latin typeface="맑은 고딕"/>
                <a:ea typeface="맑은 고딕"/>
              </a:rPr>
              <a:t>•  사용자 데이터는 CDB$ROOT가 아니라 개별 PDB에 존재</a:t>
            </a:r>
          </a:p>
          <a:p>
            <a:pPr>
              <a:spcAft>
                <a:spcPts val="1000"/>
              </a:spcAft>
            </a:pPr>
            <a:r>
              <a:rPr sz="1800" b="0">
                <a:solidFill>
                  <a:srgbClr val="C0392B"/>
                </a:solidFill>
                <a:latin typeface="맑은 고딕"/>
                <a:ea typeface="맑은 고딕"/>
              </a:rPr>
              <a:t>•  userid=hr@pdb1(네트 서비스명) 또는 Easy Connect로 PDB 서비스 지정</a:t>
            </a:r>
          </a:p>
          <a:p>
            <a:pPr>
              <a:spcAft>
                <a:spcPts val="1000"/>
              </a:spcAft>
            </a:pPr>
            <a:r>
              <a:rPr sz="1800" b="0">
                <a:solidFill>
                  <a:srgbClr val="C0392B"/>
                </a:solidFill>
                <a:latin typeface="맑은 고딕"/>
                <a:ea typeface="맑은 고딕"/>
              </a:rPr>
              <a:t>•  TWO_TASK(리눅스)/LOCAL(윈도우)로 기본 접속 대상 PDB 설정</a:t>
            </a:r>
          </a:p>
          <a:p>
            <a:pPr>
              <a:spcAft>
                <a:spcPts val="1000"/>
              </a:spcAft>
            </a:pPr>
            <a:r>
              <a:rPr sz="1800" b="0">
                <a:solidFill>
                  <a:srgbClr val="C0392B"/>
                </a:solidFill>
                <a:latin typeface="맑은 고딕"/>
                <a:ea typeface="맑은 고딕"/>
              </a:rPr>
              <a:t>•  SHOW CON_NAME으로 실제 접속 컨테이너 확인</a:t>
            </a:r>
          </a:p>
        </p:txBody>
      </p:sp>
    </p:spTree>
  </p:cSld>
  <p:clrMapOvr>
    <a:masterClrMapping/>
  </p:clrMapOvr>
</p:sld>
</file>

<file path=ppt/slides/slide3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91440"/>
            <a:ext cx="10972800" cy="731520"/>
          </a:xfrm>
          <a:prstGeom prst="rect">
            <a:avLst/>
          </a:prstGeom>
          <a:noFill/>
        </p:spPr>
        <p:txBody>
          <a:bodyPr wrap="square" anchor="ctr">
            <a:spAutoFit/>
          </a:bodyPr>
          <a:lstStyle/>
          <a:p>
            <a:pPr>
              <a:spcAft>
                <a:spcPts val="600"/>
              </a:spcAft>
            </a:pPr>
            <a:r>
              <a:rPr sz="2600" b="1">
                <a:solidFill>
                  <a:srgbClr val="FFFFFF"/>
                </a:solidFill>
                <a:latin typeface="맑은 고딕"/>
                <a:ea typeface="맑은 고딕"/>
              </a:rPr>
              <a:t>PDB 접속 적재 예</a:t>
            </a:r>
          </a:p>
        </p:txBody>
      </p:sp>
      <p:sp>
        <p:nvSpPr>
          <p:cNvPr id="4" name="TextBox 3"/>
          <p:cNvSpPr txBox="1"/>
          <p:nvPr/>
        </p:nvSpPr>
        <p:spPr>
          <a:xfrm>
            <a:off x="640080" y="1097280"/>
            <a:ext cx="10881360" cy="457200"/>
          </a:xfrm>
          <a:prstGeom prst="rect">
            <a:avLst/>
          </a:prstGeom>
          <a:noFill/>
        </p:spPr>
        <p:txBody>
          <a:bodyPr wrap="square">
            <a:spAutoFit/>
          </a:bodyPr>
          <a:lstStyle/>
          <a:p>
            <a:pPr>
              <a:spcAft>
                <a:spcPts val="600"/>
              </a:spcAft>
            </a:pPr>
            <a:r>
              <a:rPr sz="1500" b="0">
                <a:solidFill>
                  <a:srgbClr val="5A6672"/>
                </a:solidFill>
                <a:latin typeface="맑은 고딕"/>
                <a:ea typeface="맑은 고딕"/>
              </a:rPr>
              <a:t>@서비스명 · TWO_TASK</a:t>
            </a:r>
          </a:p>
        </p:txBody>
      </p:sp>
      <p:sp>
        <p:nvSpPr>
          <p:cNvPr id="5" name="Rectangle 4"/>
          <p:cNvSpPr/>
          <p:nvPr/>
        </p:nvSpPr>
        <p:spPr>
          <a:xfrm>
            <a:off x="640080" y="1645920"/>
            <a:ext cx="10881360" cy="4754880"/>
          </a:xfrm>
          <a:prstGeom prst="rect">
            <a:avLst/>
          </a:prstGeom>
          <a:solidFill>
            <a:srgbClr val="1E1E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68680" y="1828800"/>
            <a:ext cx="10424160" cy="4389120"/>
          </a:xfrm>
          <a:prstGeom prst="rect">
            <a:avLst/>
          </a:prstGeom>
          <a:noFill/>
        </p:spPr>
        <p:txBody>
          <a:bodyPr wrap="square">
            <a:spAutoFit/>
          </a:bodyPr>
          <a:lstStyle/>
          <a:p>
            <a:pPr>
              <a:spcAft>
                <a:spcPts val="200"/>
              </a:spcAft>
            </a:pPr>
            <a:r>
              <a:rPr sz="1250">
                <a:solidFill>
                  <a:srgbClr val="7EC699"/>
                </a:solidFill>
                <a:latin typeface="Consolas"/>
                <a:ea typeface="Consolas"/>
              </a:rPr>
              <a:t># 네트 서비스명으로 PDB 지정</a:t>
            </a:r>
          </a:p>
          <a:p>
            <a:pPr>
              <a:spcAft>
                <a:spcPts val="200"/>
              </a:spcAft>
            </a:pPr>
            <a:r>
              <a:rPr sz="1250">
                <a:solidFill>
                  <a:srgbClr val="E6E6E6"/>
                </a:solidFill>
                <a:latin typeface="Consolas"/>
                <a:ea typeface="Consolas"/>
              </a:rPr>
              <a:t>sqlldr userid=hr@pdb1 control=emp.ctl log=emp.log</a:t>
            </a:r>
          </a:p>
          <a:p>
            <a:pPr>
              <a:spcAft>
                <a:spcPts val="200"/>
              </a:spcAft>
            </a:pPr>
            <a:r>
              <a:rPr sz="1250">
                <a:solidFill>
                  <a:srgbClr val="E6E6E6"/>
                </a:solidFill>
                <a:latin typeface="Consolas"/>
                <a:ea typeface="Consolas"/>
              </a:rPr>
              <a:t> </a:t>
            </a:r>
          </a:p>
          <a:p>
            <a:pPr>
              <a:spcAft>
                <a:spcPts val="200"/>
              </a:spcAft>
            </a:pPr>
            <a:r>
              <a:rPr sz="1250">
                <a:solidFill>
                  <a:srgbClr val="7EC699"/>
                </a:solidFill>
                <a:latin typeface="Consolas"/>
                <a:ea typeface="Consolas"/>
              </a:rPr>
              <a:t># Easy Connect로 PDB 서비스 직접 지정</a:t>
            </a:r>
          </a:p>
          <a:p>
            <a:pPr>
              <a:spcAft>
                <a:spcPts val="200"/>
              </a:spcAft>
            </a:pPr>
            <a:r>
              <a:rPr sz="1250">
                <a:solidFill>
                  <a:srgbClr val="E6E6E6"/>
                </a:solidFill>
                <a:latin typeface="Consolas"/>
                <a:ea typeface="Consolas"/>
              </a:rPr>
              <a:t>sqlldr userid=hr@//dbhost:1521/pdb1.example.com \</a:t>
            </a:r>
          </a:p>
          <a:p>
            <a:pPr>
              <a:spcAft>
                <a:spcPts val="200"/>
              </a:spcAft>
            </a:pPr>
            <a:r>
              <a:rPr sz="1250">
                <a:solidFill>
                  <a:srgbClr val="E6E6E6"/>
                </a:solidFill>
                <a:latin typeface="Consolas"/>
                <a:ea typeface="Consolas"/>
              </a:rPr>
              <a:t>       control=emp.ctl direct=true</a:t>
            </a:r>
          </a:p>
          <a:p>
            <a:pPr>
              <a:spcAft>
                <a:spcPts val="200"/>
              </a:spcAft>
            </a:pPr>
            <a:r>
              <a:rPr sz="1250">
                <a:solidFill>
                  <a:srgbClr val="E6E6E6"/>
                </a:solidFill>
                <a:latin typeface="Consolas"/>
                <a:ea typeface="Consolas"/>
              </a:rPr>
              <a:t> </a:t>
            </a:r>
          </a:p>
          <a:p>
            <a:pPr>
              <a:spcAft>
                <a:spcPts val="200"/>
              </a:spcAft>
            </a:pPr>
            <a:r>
              <a:rPr sz="1250">
                <a:solidFill>
                  <a:srgbClr val="7EC699"/>
                </a:solidFill>
                <a:latin typeface="Consolas"/>
                <a:ea typeface="Consolas"/>
              </a:rPr>
              <a:t># TWO_TASK로 기본 대상 PDB 지정(리눅스/유닉스)</a:t>
            </a:r>
          </a:p>
          <a:p>
            <a:pPr>
              <a:spcAft>
                <a:spcPts val="200"/>
              </a:spcAft>
            </a:pPr>
            <a:r>
              <a:rPr sz="1250">
                <a:solidFill>
                  <a:srgbClr val="E6E6E6"/>
                </a:solidFill>
                <a:latin typeface="Consolas"/>
                <a:ea typeface="Consolas"/>
              </a:rPr>
              <a:t>export TWO_TASK=pdb1</a:t>
            </a:r>
          </a:p>
          <a:p>
            <a:pPr>
              <a:spcAft>
                <a:spcPts val="200"/>
              </a:spcAft>
            </a:pPr>
            <a:r>
              <a:rPr sz="1250">
                <a:solidFill>
                  <a:srgbClr val="E6E6E6"/>
                </a:solidFill>
                <a:latin typeface="Consolas"/>
                <a:ea typeface="Consolas"/>
              </a:rPr>
              <a:t>sqlldr userid=hr control=emp.ctl log=emp.log</a:t>
            </a:r>
          </a:p>
        </p:txBody>
      </p:sp>
    </p:spTree>
  </p:cSld>
  <p:clrMapOvr>
    <a:masterClrMapping/>
  </p:clrMapOvr>
</p:sld>
</file>

<file path=ppt/slides/slide3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91440"/>
            <a:ext cx="10972800" cy="731520"/>
          </a:xfrm>
          <a:prstGeom prst="rect">
            <a:avLst/>
          </a:prstGeom>
          <a:noFill/>
        </p:spPr>
        <p:txBody>
          <a:bodyPr wrap="square" anchor="ctr">
            <a:spAutoFit/>
          </a:bodyPr>
          <a:lstStyle/>
          <a:p>
            <a:pPr>
              <a:spcAft>
                <a:spcPts val="600"/>
              </a:spcAft>
            </a:pPr>
            <a:r>
              <a:rPr sz="2600" b="1">
                <a:solidFill>
                  <a:srgbClr val="FFFFFF"/>
                </a:solidFill>
                <a:latin typeface="맑은 고딕"/>
                <a:ea typeface="맑은 고딕"/>
              </a:rPr>
              <a:t>퀴즈 (Quiz) 1</a:t>
            </a:r>
          </a:p>
        </p:txBody>
      </p:sp>
      <p:sp>
        <p:nvSpPr>
          <p:cNvPr id="4" name="TextBox 3"/>
          <p:cNvSpPr txBox="1"/>
          <p:nvPr/>
        </p:nvSpPr>
        <p:spPr>
          <a:xfrm>
            <a:off x="640080" y="1554480"/>
            <a:ext cx="10881360" cy="4754880"/>
          </a:xfrm>
          <a:prstGeom prst="rect">
            <a:avLst/>
          </a:prstGeom>
          <a:noFill/>
        </p:spPr>
        <p:txBody>
          <a:bodyPr wrap="square">
            <a:spAutoFit/>
          </a:bodyPr>
          <a:lstStyle/>
          <a:p>
            <a:pPr>
              <a:spcAft>
                <a:spcPts val="1000"/>
              </a:spcAft>
            </a:pPr>
            <a:r>
              <a:rPr sz="1800" b="0">
                <a:solidFill>
                  <a:srgbClr val="7030A0"/>
                </a:solidFill>
                <a:latin typeface="맑은 고딕"/>
                <a:ea typeface="맑은 고딕"/>
              </a:rPr>
              <a:t>Q1. 후행 필드가 없는 레코드를 NULL로 처리해 거부를 막는 절은?</a:t>
            </a:r>
          </a:p>
          <a:p>
            <a:pPr>
              <a:spcAft>
                <a:spcPts val="1000"/>
              </a:spcAft>
            </a:pPr>
            <a:r>
              <a:rPr sz="1800" b="0">
                <a:solidFill>
                  <a:srgbClr val="7030A0"/>
                </a:solidFill>
                <a:latin typeface="맑은 고딕"/>
                <a:ea typeface="맑은 고딕"/>
              </a:rPr>
              <a:t>  ① FIELDS TERMINATED BY   ② TRAILING NULLCOLS</a:t>
            </a:r>
          </a:p>
          <a:p>
            <a:pPr>
              <a:spcAft>
                <a:spcPts val="1000"/>
              </a:spcAft>
            </a:pPr>
            <a:r>
              <a:rPr sz="1800" b="0">
                <a:solidFill>
                  <a:srgbClr val="7030A0"/>
                </a:solidFill>
                <a:latin typeface="맑은 고딕"/>
                <a:ea typeface="맑은 고딕"/>
              </a:rPr>
              <a:t>  ③ OPTIONALLY ENCLOSED BY   ④ INFILE *</a:t>
            </a:r>
          </a:p>
          <a:p>
            <a:pPr>
              <a:spcAft>
                <a:spcPts val="1000"/>
              </a:spcAft>
            </a:pPr>
            <a:r>
              <a:rPr sz="1800" b="0">
                <a:solidFill>
                  <a:srgbClr val="7030A0"/>
                </a:solidFill>
                <a:latin typeface="맑은 고딕"/>
                <a:ea typeface="맑은 고딕"/>
              </a:rPr>
              <a:t>정답: ②  (없는 후행 필드를 NULL로 채워 적재를 지속)</a:t>
            </a:r>
          </a:p>
          <a:p>
            <a:pPr>
              <a:spcAft>
                <a:spcPts val="1000"/>
              </a:spcAft>
            </a:pPr>
            <a:r>
              <a:rPr sz="1800" b="0">
                <a:solidFill>
                  <a:srgbClr val="7030A0"/>
                </a:solidFill>
                <a:latin typeface="맑은 고딕"/>
                <a:ea typeface="맑은 고딕"/>
              </a:rPr>
              <a:t/>
            </a:r>
          </a:p>
          <a:p>
            <a:pPr>
              <a:spcAft>
                <a:spcPts val="1000"/>
              </a:spcAft>
            </a:pPr>
            <a:r>
              <a:rPr sz="1800" b="0">
                <a:solidFill>
                  <a:srgbClr val="7030A0"/>
                </a:solidFill>
                <a:latin typeface="맑은 고딕"/>
                <a:ea typeface="맑은 고딕"/>
              </a:rPr>
              <a:t>Q2. 다이렉트 경로(DIRECT=TRUE) 설명으로 옳은 것은?</a:t>
            </a:r>
          </a:p>
          <a:p>
            <a:pPr>
              <a:spcAft>
                <a:spcPts val="1000"/>
              </a:spcAft>
            </a:pPr>
            <a:r>
              <a:rPr sz="1800" b="0">
                <a:solidFill>
                  <a:srgbClr val="7030A0"/>
                </a:solidFill>
                <a:latin typeface="맑은 고딕"/>
                <a:ea typeface="맑은 고딕"/>
              </a:rPr>
              <a:t>  ① INSERT 트리거가 항상 실행된다</a:t>
            </a:r>
          </a:p>
          <a:p>
            <a:pPr>
              <a:spcAft>
                <a:spcPts val="1000"/>
              </a:spcAft>
            </a:pPr>
            <a:r>
              <a:rPr sz="1800" b="0">
                <a:solidFill>
                  <a:srgbClr val="7030A0"/>
                </a:solidFill>
                <a:latin typeface="맑은 고딕"/>
                <a:ea typeface="맑은 고딕"/>
              </a:rPr>
              <a:t>  ② 버퍼 캐시를 우회해 HWM 위에 블록을 직접 기록하여 빠르다</a:t>
            </a:r>
          </a:p>
          <a:p>
            <a:pPr>
              <a:spcAft>
                <a:spcPts val="1000"/>
              </a:spcAft>
            </a:pPr>
            <a:r>
              <a:rPr sz="1800" b="0">
                <a:solidFill>
                  <a:srgbClr val="7030A0"/>
                </a:solidFill>
                <a:latin typeface="맑은 고딕"/>
                <a:ea typeface="맑은 고딕"/>
              </a:rPr>
              <a:t>  ③ 전통적 경로보다 항상 느리다   ④ 제약 검증이 전혀 없다</a:t>
            </a:r>
          </a:p>
          <a:p>
            <a:pPr>
              <a:spcAft>
                <a:spcPts val="1000"/>
              </a:spcAft>
            </a:pPr>
            <a:r>
              <a:rPr sz="1800" b="0">
                <a:solidFill>
                  <a:srgbClr val="7030A0"/>
                </a:solidFill>
                <a:latin typeface="맑은 고딕"/>
                <a:ea typeface="맑은 고딕"/>
              </a:rPr>
              <a:t>정답: ②</a:t>
            </a:r>
          </a:p>
        </p:txBody>
      </p:sp>
    </p:spTree>
  </p:cSld>
  <p:clrMapOvr>
    <a:masterClrMapping/>
  </p:clrMapOvr>
</p:sld>
</file>

<file path=ppt/slides/slide3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91440"/>
            <a:ext cx="10972800" cy="731520"/>
          </a:xfrm>
          <a:prstGeom prst="rect">
            <a:avLst/>
          </a:prstGeom>
          <a:noFill/>
        </p:spPr>
        <p:txBody>
          <a:bodyPr wrap="square" anchor="ctr">
            <a:spAutoFit/>
          </a:bodyPr>
          <a:lstStyle/>
          <a:p>
            <a:pPr>
              <a:spcAft>
                <a:spcPts val="600"/>
              </a:spcAft>
            </a:pPr>
            <a:r>
              <a:rPr sz="2600" b="1">
                <a:solidFill>
                  <a:srgbClr val="FFFFFF"/>
                </a:solidFill>
                <a:latin typeface="맑은 고딕"/>
                <a:ea typeface="맑은 고딕"/>
              </a:rPr>
              <a:t>퀴즈 (Quiz) 2</a:t>
            </a:r>
          </a:p>
        </p:txBody>
      </p:sp>
      <p:sp>
        <p:nvSpPr>
          <p:cNvPr id="4" name="TextBox 3"/>
          <p:cNvSpPr txBox="1"/>
          <p:nvPr/>
        </p:nvSpPr>
        <p:spPr>
          <a:xfrm>
            <a:off x="640080" y="1554480"/>
            <a:ext cx="10881360" cy="4754880"/>
          </a:xfrm>
          <a:prstGeom prst="rect">
            <a:avLst/>
          </a:prstGeom>
          <a:noFill/>
        </p:spPr>
        <p:txBody>
          <a:bodyPr wrap="square">
            <a:spAutoFit/>
          </a:bodyPr>
          <a:lstStyle/>
          <a:p>
            <a:pPr>
              <a:spcAft>
                <a:spcPts val="1000"/>
              </a:spcAft>
            </a:pPr>
            <a:r>
              <a:rPr sz="1800" b="0">
                <a:solidFill>
                  <a:srgbClr val="7030A0"/>
                </a:solidFill>
                <a:latin typeface="맑은 고딕"/>
                <a:ea typeface="맑은 고딕"/>
              </a:rPr>
              <a:t>Q3. 데이터 타입 변환 실패로 거부된 레코드가 원본 형태로 보관되는 파일은?</a:t>
            </a:r>
          </a:p>
          <a:p>
            <a:pPr>
              <a:spcAft>
                <a:spcPts val="1000"/>
              </a:spcAft>
            </a:pPr>
            <a:r>
              <a:rPr sz="1800" b="0">
                <a:solidFill>
                  <a:srgbClr val="7030A0"/>
                </a:solidFill>
                <a:latin typeface="맑은 고딕"/>
                <a:ea typeface="맑은 고딕"/>
              </a:rPr>
              <a:t>  ① 로그 파일   ② 버림(discard) 파일   ③ 불량(bad) 파일   ④ 컨트롤 파일</a:t>
            </a:r>
          </a:p>
          <a:p>
            <a:pPr>
              <a:spcAft>
                <a:spcPts val="1000"/>
              </a:spcAft>
            </a:pPr>
            <a:r>
              <a:rPr sz="1800" b="0">
                <a:solidFill>
                  <a:srgbClr val="7030A0"/>
                </a:solidFill>
                <a:latin typeface="맑은 고딕"/>
                <a:ea typeface="맑은 고딕"/>
              </a:rPr>
              <a:t>정답: ③  (거부는 bad, WHEN 불일치는 discard)</a:t>
            </a:r>
          </a:p>
          <a:p>
            <a:pPr>
              <a:spcAft>
                <a:spcPts val="1000"/>
              </a:spcAft>
            </a:pPr>
            <a:r>
              <a:rPr sz="1800" b="0">
                <a:solidFill>
                  <a:srgbClr val="7030A0"/>
                </a:solidFill>
                <a:latin typeface="맑은 고딕"/>
                <a:ea typeface="맑은 고딕"/>
              </a:rPr>
              <a:t/>
            </a:r>
          </a:p>
          <a:p>
            <a:pPr>
              <a:spcAft>
                <a:spcPts val="1000"/>
              </a:spcAft>
            </a:pPr>
            <a:r>
              <a:rPr sz="1800" b="0">
                <a:solidFill>
                  <a:srgbClr val="7030A0"/>
                </a:solidFill>
                <a:latin typeface="맑은 고딕"/>
                <a:ea typeface="맑은 고딕"/>
              </a:rPr>
              <a:t>Q4. 컨트롤 파일 없이 TABLE= 만으로 CSV를 적재하는 기능은?</a:t>
            </a:r>
          </a:p>
          <a:p>
            <a:pPr>
              <a:spcAft>
                <a:spcPts val="1000"/>
              </a:spcAft>
            </a:pPr>
            <a:r>
              <a:rPr sz="1800" b="0">
                <a:solidFill>
                  <a:srgbClr val="7030A0"/>
                </a:solidFill>
                <a:latin typeface="맑은 고딕"/>
                <a:ea typeface="맑은 고딕"/>
              </a:rPr>
              <a:t>  ① Express Mode   ② Conventional Path</a:t>
            </a:r>
          </a:p>
          <a:p>
            <a:pPr>
              <a:spcAft>
                <a:spcPts val="1000"/>
              </a:spcAft>
            </a:pPr>
            <a:r>
              <a:rPr sz="1800" b="0">
                <a:solidFill>
                  <a:srgbClr val="7030A0"/>
                </a:solidFill>
                <a:latin typeface="맑은 고딕"/>
                <a:ea typeface="맑은 고딕"/>
              </a:rPr>
              <a:t>  ③ Resumable Load   ④ External Table</a:t>
            </a:r>
          </a:p>
          <a:p>
            <a:pPr>
              <a:spcAft>
                <a:spcPts val="1000"/>
              </a:spcAft>
            </a:pPr>
            <a:r>
              <a:rPr sz="1800" b="0">
                <a:solidFill>
                  <a:srgbClr val="7030A0"/>
                </a:solidFill>
                <a:latin typeface="맑은 고딕"/>
                <a:ea typeface="맑은 고딕"/>
              </a:rPr>
              <a:t>정답: ①  (12c+ 명명 규칙 기반 자동 매핑)</a:t>
            </a:r>
          </a:p>
        </p:txBody>
      </p:sp>
    </p:spTree>
  </p:cSld>
  <p:clrMapOvr>
    <a:masterClrMapping/>
  </p:clrMapOvr>
</p:sld>
</file>

<file path=ppt/slides/slide3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91440"/>
            <a:ext cx="10972800" cy="731520"/>
          </a:xfrm>
          <a:prstGeom prst="rect">
            <a:avLst/>
          </a:prstGeom>
          <a:noFill/>
        </p:spPr>
        <p:txBody>
          <a:bodyPr wrap="square" anchor="ctr">
            <a:spAutoFit/>
          </a:bodyPr>
          <a:lstStyle/>
          <a:p>
            <a:pPr>
              <a:spcAft>
                <a:spcPts val="600"/>
              </a:spcAft>
            </a:pPr>
            <a:r>
              <a:rPr sz="2600" b="1">
                <a:solidFill>
                  <a:srgbClr val="FFFFFF"/>
                </a:solidFill>
                <a:latin typeface="맑은 고딕"/>
                <a:ea typeface="맑은 고딕"/>
              </a:rPr>
              <a:t>퀴즈 (Quiz) 3</a:t>
            </a:r>
          </a:p>
        </p:txBody>
      </p:sp>
      <p:sp>
        <p:nvSpPr>
          <p:cNvPr id="4" name="TextBox 3"/>
          <p:cNvSpPr txBox="1"/>
          <p:nvPr/>
        </p:nvSpPr>
        <p:spPr>
          <a:xfrm>
            <a:off x="640080" y="1554480"/>
            <a:ext cx="10881360" cy="4754880"/>
          </a:xfrm>
          <a:prstGeom prst="rect">
            <a:avLst/>
          </a:prstGeom>
          <a:noFill/>
        </p:spPr>
        <p:txBody>
          <a:bodyPr wrap="square">
            <a:spAutoFit/>
          </a:bodyPr>
          <a:lstStyle/>
          <a:p>
            <a:pPr>
              <a:spcAft>
                <a:spcPts val="1000"/>
              </a:spcAft>
            </a:pPr>
            <a:r>
              <a:rPr sz="1800" b="0">
                <a:solidFill>
                  <a:srgbClr val="7030A0"/>
                </a:solidFill>
                <a:latin typeface="맑은 고딕"/>
                <a:ea typeface="맑은 고딕"/>
              </a:rPr>
              <a:t>Q5. 다이렉트 경로에서 UNRECOVERABLE 사용 후 반드시 해야 하는 작업은?</a:t>
            </a:r>
          </a:p>
          <a:p>
            <a:pPr>
              <a:spcAft>
                <a:spcPts val="1000"/>
              </a:spcAft>
            </a:pPr>
            <a:r>
              <a:rPr sz="1800" b="0">
                <a:solidFill>
                  <a:srgbClr val="7030A0"/>
                </a:solidFill>
                <a:latin typeface="맑은 고딕"/>
                <a:ea typeface="맑은 고딕"/>
              </a:rPr>
              <a:t>  ① 인덱스 삭제   ② 즉시 백업 수행</a:t>
            </a:r>
          </a:p>
          <a:p>
            <a:pPr>
              <a:spcAft>
                <a:spcPts val="1000"/>
              </a:spcAft>
            </a:pPr>
            <a:r>
              <a:rPr sz="1800" b="0">
                <a:solidFill>
                  <a:srgbClr val="7030A0"/>
                </a:solidFill>
                <a:latin typeface="맑은 고딕"/>
                <a:ea typeface="맑은 고딕"/>
              </a:rPr>
              <a:t>  ③ 트리거 재작성   ④ 리스너 재시작</a:t>
            </a:r>
          </a:p>
          <a:p>
            <a:pPr>
              <a:spcAft>
                <a:spcPts val="1000"/>
              </a:spcAft>
            </a:pPr>
            <a:r>
              <a:rPr sz="1800" b="0">
                <a:solidFill>
                  <a:srgbClr val="7030A0"/>
                </a:solidFill>
                <a:latin typeface="맑은 고딕"/>
                <a:ea typeface="맑은 고딕"/>
              </a:rPr>
              <a:t>정답: ②  (리두가 없어 미디어 복구 불가 → 적재 직후 백업 필수)</a:t>
            </a:r>
          </a:p>
          <a:p>
            <a:pPr>
              <a:spcAft>
                <a:spcPts val="1000"/>
              </a:spcAft>
            </a:pPr>
            <a:r>
              <a:rPr sz="1800" b="0">
                <a:solidFill>
                  <a:srgbClr val="7030A0"/>
                </a:solidFill>
                <a:latin typeface="맑은 고딕"/>
                <a:ea typeface="맑은 고딕"/>
              </a:rPr>
              <a:t/>
            </a:r>
          </a:p>
          <a:p>
            <a:pPr>
              <a:spcAft>
                <a:spcPts val="1000"/>
              </a:spcAft>
            </a:pPr>
            <a:r>
              <a:rPr sz="1800" b="0">
                <a:solidFill>
                  <a:srgbClr val="7030A0"/>
                </a:solidFill>
                <a:latin typeface="맑은 고딕"/>
                <a:ea typeface="맑은 고딕"/>
              </a:rPr>
              <a:t>Q6. 멀티테넌트 환경에서 PDB 테이블에 적재하는 옳은 방법은?</a:t>
            </a:r>
          </a:p>
          <a:p>
            <a:pPr>
              <a:spcAft>
                <a:spcPts val="1000"/>
              </a:spcAft>
            </a:pPr>
            <a:r>
              <a:rPr sz="1800" b="0">
                <a:solidFill>
                  <a:srgbClr val="7030A0"/>
                </a:solidFill>
                <a:latin typeface="맑은 고딕"/>
                <a:ea typeface="맑은 고딕"/>
              </a:rPr>
              <a:t>  ① CDB$ROOT 접속 시 자동으로 PDB에 적재된다</a:t>
            </a:r>
          </a:p>
          <a:p>
            <a:pPr>
              <a:spcAft>
                <a:spcPts val="1000"/>
              </a:spcAft>
            </a:pPr>
            <a:r>
              <a:rPr sz="1800" b="0">
                <a:solidFill>
                  <a:srgbClr val="7030A0"/>
                </a:solidFill>
                <a:latin typeface="맑은 고딕"/>
                <a:ea typeface="맑은 고딕"/>
              </a:rPr>
              <a:t>  ② userid에 @PDB서비스명 지정 또는 TWO_TASK로 대상 PDB 지정</a:t>
            </a:r>
          </a:p>
          <a:p>
            <a:pPr>
              <a:spcAft>
                <a:spcPts val="1000"/>
              </a:spcAft>
            </a:pPr>
            <a:r>
              <a:rPr sz="1800" b="0">
                <a:solidFill>
                  <a:srgbClr val="7030A0"/>
                </a:solidFill>
                <a:latin typeface="맑은 고딕"/>
                <a:ea typeface="맑은 고딕"/>
              </a:rPr>
              <a:t>  ③ PDB가 MOUNTED여도 적재된다   ④ PDB에는 적재 불가</a:t>
            </a:r>
          </a:p>
          <a:p>
            <a:pPr>
              <a:spcAft>
                <a:spcPts val="1000"/>
              </a:spcAft>
            </a:pPr>
            <a:r>
              <a:rPr sz="1800" b="0">
                <a:solidFill>
                  <a:srgbClr val="7030A0"/>
                </a:solidFill>
                <a:latin typeface="맑은 고딕"/>
                <a:ea typeface="맑은 고딕"/>
              </a:rPr>
              <a:t>정답: ②</a:t>
            </a:r>
          </a:p>
        </p:txBody>
      </p:sp>
    </p:spTree>
  </p:cSld>
  <p:clrMapOvr>
    <a:masterClrMapping/>
  </p:clrMapOvr>
</p:sld>
</file>

<file path=ppt/slides/slide4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91440"/>
            <a:ext cx="10972800" cy="731520"/>
          </a:xfrm>
          <a:prstGeom prst="rect">
            <a:avLst/>
          </a:prstGeom>
          <a:noFill/>
        </p:spPr>
        <p:txBody>
          <a:bodyPr wrap="square" anchor="ctr">
            <a:spAutoFit/>
          </a:bodyPr>
          <a:lstStyle/>
          <a:p>
            <a:pPr>
              <a:spcAft>
                <a:spcPts val="600"/>
              </a:spcAft>
            </a:pPr>
            <a:r>
              <a:rPr sz="2600" b="1">
                <a:solidFill>
                  <a:srgbClr val="FFFFFF"/>
                </a:solidFill>
                <a:latin typeface="맑은 고딕"/>
                <a:ea typeface="맑은 고딕"/>
              </a:rPr>
              <a:t>요약 (Summary)</a:t>
            </a:r>
          </a:p>
        </p:txBody>
      </p:sp>
      <p:sp>
        <p:nvSpPr>
          <p:cNvPr id="4" name="TextBox 3"/>
          <p:cNvSpPr txBox="1"/>
          <p:nvPr/>
        </p:nvSpPr>
        <p:spPr>
          <a:xfrm>
            <a:off x="640080" y="1463040"/>
            <a:ext cx="10881360" cy="4937760"/>
          </a:xfrm>
          <a:prstGeom prst="rect">
            <a:avLst/>
          </a:prstGeom>
          <a:noFill/>
        </p:spPr>
        <p:txBody>
          <a:bodyPr wrap="square">
            <a:spAutoFit/>
          </a:bodyPr>
          <a:lstStyle/>
          <a:p>
            <a:pPr>
              <a:spcAft>
                <a:spcPts val="800"/>
              </a:spcAft>
            </a:pPr>
            <a:r>
              <a:rPr sz="1500" b="0">
                <a:solidFill>
                  <a:srgbClr val="C0392B"/>
                </a:solidFill>
                <a:latin typeface="맑은 고딕"/>
                <a:ea typeface="맑은 고딕"/>
              </a:rPr>
              <a:t>•  SQL*Loader는 외부 텍스트/CSV/고정폭을 테이블로 적재 — 컨트롤·데이터·로그·불량·버림 파일</a:t>
            </a:r>
          </a:p>
          <a:p>
            <a:pPr>
              <a:spcAft>
                <a:spcPts val="800"/>
              </a:spcAft>
            </a:pPr>
            <a:r>
              <a:rPr sz="1500" b="0">
                <a:solidFill>
                  <a:srgbClr val="C0392B"/>
                </a:solidFill>
                <a:latin typeface="맑은 고딕"/>
                <a:ea typeface="맑은 고딕"/>
              </a:rPr>
              <a:t>•  컨트롤 파일: LOAD DATA/INFILE/INTO TABLE/FIELDS/TRAILING NULLCOLS와 INSERT·APPEND·REPLACE·TRUNCATE</a:t>
            </a:r>
          </a:p>
          <a:p>
            <a:pPr>
              <a:spcAft>
                <a:spcPts val="800"/>
              </a:spcAft>
            </a:pPr>
            <a:r>
              <a:rPr sz="1500" b="0">
                <a:solidFill>
                  <a:srgbClr val="C0392B"/>
                </a:solidFill>
                <a:latin typeface="맑은 고딕"/>
                <a:ea typeface="맑은 고딕"/>
              </a:rPr>
              <a:t>•  데이터 형식: 구분자 기반(TERMINATED BY) vs 고정길이(POSITION)</a:t>
            </a:r>
          </a:p>
          <a:p>
            <a:pPr>
              <a:spcAft>
                <a:spcPts val="800"/>
              </a:spcAft>
            </a:pPr>
            <a:r>
              <a:rPr sz="1500" b="0">
                <a:solidFill>
                  <a:srgbClr val="C0392B"/>
                </a:solidFill>
                <a:latin typeface="맑은 고딕"/>
                <a:ea typeface="맑은 고딕"/>
              </a:rPr>
              <a:t>•  전통적 경로(안전·동시성·트리거/제약) vs 다이렉트 경로(대량 고속·버퍼 우회·후검증)</a:t>
            </a:r>
          </a:p>
          <a:p>
            <a:pPr>
              <a:spcAft>
                <a:spcPts val="800"/>
              </a:spcAft>
            </a:pPr>
            <a:r>
              <a:rPr sz="1500" b="0">
                <a:solidFill>
                  <a:srgbClr val="C0392B"/>
                </a:solidFill>
                <a:latin typeface="맑은 고딕"/>
                <a:ea typeface="맑은 고딕"/>
              </a:rPr>
              <a:t>•  옵션: userid·control·direct·rows·skip·errors / 손실 방지: ROWS·Resumable·UNRECOVERABLE 후 백업</a:t>
            </a:r>
          </a:p>
          <a:p>
            <a:pPr>
              <a:spcAft>
                <a:spcPts val="800"/>
              </a:spcAft>
            </a:pPr>
            <a:r>
              <a:rPr sz="1500" b="0">
                <a:solidFill>
                  <a:srgbClr val="C0392B"/>
                </a:solidFill>
                <a:latin typeface="맑은 고딕"/>
                <a:ea typeface="맑은 고딕"/>
              </a:rPr>
              <a:t>•  Express Mode(TABLE= 만으로 적재) · PDB 적재(@서비스명/TWO_TASK, READ WRITE 필요)</a:t>
            </a:r>
          </a:p>
        </p:txBody>
      </p:sp>
    </p:spTree>
  </p:cSld>
  <p:clrMapOvr>
    <a:masterClrMapping/>
  </p:clrMapOvr>
</p:sld>
</file>

<file path=ppt/slides/slide4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91440"/>
            <a:ext cx="10972800" cy="731520"/>
          </a:xfrm>
          <a:prstGeom prst="rect">
            <a:avLst/>
          </a:prstGeom>
          <a:noFill/>
        </p:spPr>
        <p:txBody>
          <a:bodyPr wrap="square" anchor="ctr">
            <a:spAutoFit/>
          </a:bodyPr>
          <a:lstStyle/>
          <a:p>
            <a:pPr>
              <a:spcAft>
                <a:spcPts val="600"/>
              </a:spcAft>
            </a:pPr>
            <a:r>
              <a:rPr sz="2600" b="1">
                <a:solidFill>
                  <a:srgbClr val="FFFFFF"/>
                </a:solidFill>
                <a:latin typeface="맑은 고딕"/>
                <a:ea typeface="맑은 고딕"/>
              </a:rPr>
              <a:t>실습 26 개요</a:t>
            </a:r>
          </a:p>
        </p:txBody>
      </p:sp>
      <p:sp>
        <p:nvSpPr>
          <p:cNvPr id="4" name="TextBox 3"/>
          <p:cNvSpPr txBox="1"/>
          <p:nvPr/>
        </p:nvSpPr>
        <p:spPr>
          <a:xfrm>
            <a:off x="640080" y="1463040"/>
            <a:ext cx="10881360" cy="4937760"/>
          </a:xfrm>
          <a:prstGeom prst="rect">
            <a:avLst/>
          </a:prstGeom>
          <a:noFill/>
        </p:spPr>
        <p:txBody>
          <a:bodyPr wrap="square">
            <a:spAutoFit/>
          </a:bodyPr>
          <a:lstStyle/>
          <a:p>
            <a:pPr>
              <a:spcAft>
                <a:spcPts val="800"/>
              </a:spcAft>
            </a:pPr>
            <a:r>
              <a:rPr sz="1600" b="0">
                <a:solidFill>
                  <a:srgbClr val="C0392B"/>
                </a:solidFill>
                <a:latin typeface="맑은 고딕"/>
                <a:ea typeface="맑은 고딕"/>
              </a:rPr>
              <a:t>•  실습 01 — SQL*Loader 컨트롤 파일 작성(LOAD DATA/INFILE/INTO TABLE/FIELDS/TRAILING NULLCOLS)</a:t>
            </a:r>
          </a:p>
          <a:p>
            <a:pPr>
              <a:spcAft>
                <a:spcPts val="800"/>
              </a:spcAft>
            </a:pPr>
            <a:r>
              <a:rPr sz="1600" b="0">
                <a:solidFill>
                  <a:srgbClr val="C0392B"/>
                </a:solidFill>
                <a:latin typeface="맑은 고딕"/>
                <a:ea typeface="맑은 고딕"/>
              </a:rPr>
              <a:t>•  실습 02 — 적재 방식(전통적/다이렉트 경로) 비교(성능·트리거·제약·잠금)</a:t>
            </a:r>
          </a:p>
          <a:p>
            <a:pPr>
              <a:spcAft>
                <a:spcPts val="800"/>
              </a:spcAft>
            </a:pPr>
            <a:r>
              <a:rPr sz="1600" b="0">
                <a:solidFill>
                  <a:srgbClr val="C0392B"/>
                </a:solidFill>
                <a:latin typeface="맑은 고딕"/>
                <a:ea typeface="맑은 고딕"/>
              </a:rPr>
              <a:t>•  실습 03 — 데이터 손실 방지 옵션(ROWS 커밋·Resumable·UNRECOVERABLE 후 백업)</a:t>
            </a:r>
          </a:p>
          <a:p>
            <a:pPr>
              <a:spcAft>
                <a:spcPts val="800"/>
              </a:spcAft>
            </a:pPr>
            <a:r>
              <a:rPr sz="1600" b="0">
                <a:solidFill>
                  <a:srgbClr val="C0392B"/>
                </a:solidFill>
                <a:latin typeface="맑은 고딕"/>
                <a:ea typeface="맑은 고딕"/>
              </a:rPr>
              <a:t>•  실습 04 — SQL*Loader Express Mode(TABLE= 만으로 CSV 적재, 자동 .ctl 확인)</a:t>
            </a:r>
          </a:p>
          <a:p>
            <a:pPr>
              <a:spcAft>
                <a:spcPts val="800"/>
              </a:spcAft>
            </a:pPr>
            <a:r>
              <a:rPr sz="1600" b="0">
                <a:solidFill>
                  <a:srgbClr val="C0392B"/>
                </a:solidFill>
                <a:latin typeface="맑은 고딕"/>
                <a:ea typeface="맑은 고딕"/>
              </a:rPr>
              <a:t>•  실습 05 — PDB 내 테이블에 SQL*Loader로 적재(@서비스명/TWO_TASK)</a:t>
            </a:r>
          </a:p>
          <a:p>
            <a:pPr>
              <a:spcAft>
                <a:spcPts val="800"/>
              </a:spcAft>
            </a:pPr>
            <a:r>
              <a:rPr sz="1600" b="0">
                <a:solidFill>
                  <a:srgbClr val="C0392B"/>
                </a:solidFill>
                <a:latin typeface="맑은 고딕"/>
                <a:ea typeface="맑은 고딕"/>
              </a:rPr>
              <a:t>•  각 실습은 '오류 발생 → 원인 파악 → 수정' 흐름을 최소 1곳 포함</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
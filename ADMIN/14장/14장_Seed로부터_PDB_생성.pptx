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타이틀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아젠다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CDB에 새 PDB를 프로비저닝하는 방법은 여섯 가지다. ① 시드로부터 생성은 READ ONLY 시드 데이터 파일을 복사해 애플리케이션 데이터가 없는 빈 PDB를 거의 즉각적으로 만든다(본 장 주제). ② 언플러그/플러그는 한 CDB에서 언플러그한 PDB를 동일 또는 다른 CDB에 플러그하는 것으로, PDB만 상위 릴리스로 옮겨 업그레이드하거나 실수로 언플러그한 PDB를 되돌릴 때 쓴다. ③ non-CDB 플러그는 12c 이전 전통적 DB를 PDB로 변환해 통합한다. ④ 복제는 기존 PDB를 원본으로 사본을 만들며 로컬/원격, hot/cold가 있다. ⑤ 재배치는 PDB를 다른 CDB로 옮겨 자원을 재배치하며 다운타임이 거의 없다. ⑥ 프록시 PDB는 데이터를 옮기지 않고 원격 PDB를 가리키는 참조만 만들어 여러 소스의 데이터를 위치 투명하게 집계한다.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방법은 ‘무엇을 원본으로 삼는가’로 나누면 외우기 쉽다. 원본이 시드면 빈 PDB, 언플러그된 PDB면 플러그, non-CDB면 변환 플러그, 살아 있는 다른 PDB면 복제·재배치·프록시다. 특히 뒤 세 가지는 모두 살아 있는 PDB를 원본으로 하지만, 복제는 데이터를 복사하고 재배치는 원본을 옮기며 프록시는 데이터를 옮기지 않고 참조만 만든다는 점이 핵심 차이다. 이 모든 유연성은 각 PDB가 자신의 데이터 딕셔너리·테이블스페이스·사용자·서비스를 온전히 갖춘 자기완결적 단위라는 데서 나온다. 멀티테넌트 이전에는 데이터베이스를 통째로 만들어야 했지만, 이제는 여러 PDB가 하나의 CDB 인스턴스와 루트 공용 메타데이터를 공유하므로 새 PDB 생성이 훨씬 가볍고 빠르다.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PDB 프로비저닝에는 여러 도구를 쓸 수 있다. SQL*Plus는 CREATE PLUGGABLE DATABASE 문을 직접 실행하며 가장 투명하고 스크립트화하기 쉬워 학습·자동화의 표준이다. SQL Developer는 GUI 마법사로 파일 경로와 옵션을 시각적으로 확인하며 진행한다. EM Cloud Control은 수십~수백 개의 데이터베이스를 중앙에서 관리하는 대규모 환경에 적합하고, EM Database Express는 각 DB에 내장된 경량 웹 콘솔로 소규모에 알맞다. DBCA는 대화형 또는 Silent(무인) 모드로 반복 가능한 표준 절차를 만들 때 강력하다. 어떤 도구를 쓰든 화면 뒤에서 실행되는 SQL은 결국 CREATE PLUGGABLE DATABASE 계열이므로, 이 명령의 의미를 알면 어떤 도구로도 자신 있게 작업할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DBCA는 CREATE PLUGGABLE DATABASE의 세 가지 대표 시나리오를 마법사로 안내한다. 첫째는 PDB 시드로부터 복제해 빈 PDB를 만드는 것, 둘째는 기존 PDB로부터 복제하는 것, 셋째는 언플러그된 PDB를 플러그하는 것이다. DBCA는 -silent 옵션과 응답 파일을 함께 쓰면 동일한 PDB를 개발·검증·운영에 일관되게 찍어내는 표준 도구가 된다. 반면 임시로 하나를 빠르게 만들거나 세밀한 절을 실험할 때는 SQL*Plus가 명료하다. Best Practice: 내부 동작 이해와 자동화는 SQL*Plus로, 동일 사양 대량 반복 배포는 DBCA Silent + 응답 파일로 표준화하면 오류가 줄고 변경 이력을 형상관리로 남길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PDB$SEED는 모든 CDB에 기본으로 존재하는 특별한 PDB로, 새 PDB를 찍어내기 위한 템플릿이다. 항상 READ ONLY로 열려 있어 내용이 변하지 않으며, DBA가 직접 쓰지는 않는다. 시드로부터의 생성은 이 READ ONLY 시드 데이터 파일을 CREATE PLUGGABLE DATABASE 문에 정의된 대상 디렉터리로 복사하는 것으로 시작한다. 시드 데이터 파일은 애플리케이션 데이터가 전혀 없는 최소 크기라 복사가 금방 끝나고, 각 PDB가 Oracle 제공 객체 정의를 통째로 복제하지 않고 루트의 공용 정의를 참조하는 구조여서 딕셔너리 구축 비용도 미미하다. 이 둘이 합쳐져 시드 생성이 초 단위로 완료된다. 결과물은 애플리케이션 데이터가 하나도 없지만 완전한 데이터 딕셔너리와 기본 사용자·서비스를 갖춘 빈 PDB다.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시드로부터 생성 시 새 PDB에는 세(네) 종류의 기본 테이블스페이스가 만들어진다. SYSTEM은 Oracle 제공 객체를 가리키는 메타데이터를 포함한 전체 카탈로그(데이터 딕셔너리)를 저장해 각 PDB가 독립적 딕셔너리를 갖게 한다. SYSAUX는 보조 데이터를, UNDO는 로컬 언두 세그먼트를 담는다. 단 UNDO는 19c 기본값인 LOCAL UNDO 모드일 때 만들어지고, SHARED UNDO 모드에서는 루트 공용 언두를 쓰므로 PDB에 별도 UNDO가 없다. 여기에 임시 작업을 위한 TEMP까지 더해 완결적 저장소 구조를 갖춘다. PDB의 카탈로그는 Oracle 제공 객체 정의를 통째로 담지 않고 루트의 공용 메타데이터를 가리키는 포인터와 그 PDB 고유의 로컬 메타데이터로 구성되어, 수백 개 PDB가 있어도 저장공간과 패치 부담이 크게 줄어든다. 이것이 멀티테넌트의 통합 효율 원리다.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시드에는 기본 스키마와 공통 사용자가 존재해, 새 PDB 생성 시 함께 만들어진다. SYS는 새 PDB에서도 모든 슈퍼유저 권한을 갖고 SYSTEM은 PDB를 관리할 수 있으며, 둘은 CDB 전체에 걸친 공통 사용자다. 여기에 DBA가 ADMIN USER 절로 지정한 로컬 PDB 관리자(PDBA)가 새로 생성되고 로컬 PDB_DBA 롤이 부여된다. 중요한 제약: 생성 직후 PDB_DBA 롤은 사실상 비어 있는 롤이다. 따라서 PDB의 SYS가 이 롤에 실제 권한을 부여하기 전까지 새 PDBA는 PDB에 연결하는 것 외에 아무 작업도 못 한다. ADMIN USER 절은 관리자 계정의 틀만 만들 뿐이며, 무엇을 할 수 있는지는 이후 SYS가 롤에 권한을 채워 결정한다. 이는 최소 권한 원칙에 따라 새 관리자에게 무분별한 권한이 자동 부여되는 것을 막는 안전장치다.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PDB가 만들어지면 그 PDB용 기본 서비스도 자동 생성된다. 서비스 이름은 기본적으로 PDB 이름과 같으며, 클라이언트는 이 서비스 이름으로 해당 PDB에 접속한다. 예를 들어 pdb1을 만들면 pdb1 서비스가 생겨 리스너에 등록되고 SERVICE_NAME=pdb1로 접속할 수 있다. 각 PDB가 자신만의 서비스를 갖는다는 것은 애플리케이션 관점에서 각 PDB가 독립된 데이터베이스처럼 보인다는 뜻이다. 실무상 주의점: PDB가 닫혀 있으면 그 서비스도 리스너에 등록되지 않아 접속할 수 없다. CDB 재시작 시 PDB는 기본적으로 MOUNTED로 남으므로, SAVE STATE나 기동 트리거로 자동 오픈을 구성한다. 새 PDB가 ‘생성은 됐는데 접속이 안 된다’면 대개 아직 열리지 않았거나 서비스 미등록이므로 lsnrctl status로 확인하는 습관이 도움이 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기본 방식은 CREATE PLUGGABLE DATABASE 문에 FILE_NAME_CONVERT 절을 붙여 시드 데이터 파일의 원본 위치를 새 PDB의 대상 위치로 매핑하는 것이다. 전제: ① 대상 CDB 루트에 접속, ② CREATE PLUGGABLE DATABASE 시스템 권한을 가진 공통 사용자(SYSDBA 포함), ③ CDB가 READ WRITE로 열려 있고 대상 디렉터리가 준비되어 있어야 한다. FILE_NAME_CONVERT=('A','B')는 원본 파일 경로의 부분 문자열 A를 B로 바꾸는 단순 치환 규칙이므로, 대상 디렉터리 B는 미리 존재해야 한다(OS 디렉터리를 자동 생성하지 않음). 없으면 ORA-19504/ORA-27040 같은 파일 오류가 난다. 실행 전 mkdir로 대상 디렉터리를 만들어 두자.</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명령을 뜯어보자. CONNECT / AS SYSDBA로 루트에 CREATE PLUGGABLE DATABASE 권한을 가진 공통 사용자로 접속한다. ADMIN USER admin1 IDENTIFIED BY p1은 새 PDB 안에 로컬 관리자 admin1을 만들고 비밀번호를 지정한다. ROLES=(CONNECT)는 그 관리자에게 부여할 롤을 지정하며, PDB_DBA 롤은 명시하지 않아도 항상 함께 부여되지만 비어 있으므로 CONNECT 같은 실권한 롤을 함께 줘야 접속이 가능하다. FILE_NAME_CONVERT는 앞 경로(시드 원본)를 뒤 경로(새 PDB 대상)로 치환한다. 이 밖에 STORAGE(최대 용량 제한), DEFAULT TABLESPACE(기본 테이블스페이스), PATH_PREFIX(디렉터리 객체 경로 격리) 같은 선택 절로 다수 PDB 통합 시 자원·파일시스템을 격리할 수 있다. 문이 완료되면 ‘Pluggable database created.’가 뜨지만, 이 시점의 PDB는 STATUS=NEW, OPEN_MODE=MOUNTED로 아직 사용할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 생성 직후와 정상 운영 사이에는 반드시 거쳐야 하는 라이프사이클이 있다. 생성 직후 CDB_PDBS.STATUS는 NEW로, ‘생성됐으나 한 번도 열린 적 없음’을 뜻하며 OPEN_MODE는 MOUNTED다. Oracle이 PDB를 CDB에 완전히 통합하는 마무리 처리는 PDB를 READ WRITE 또는 RESTRICTED로 처음 열 때 자동 수행된다. 즉 한 번 열어야 비로소 통합 처리가 끝나고 STATUS가 NORMAL로 바뀐다. 흐름: ① 생성 → NEW/MOUNTED, ② 처음 OPEN → 통합 처리, ③ 완료 → NORMAL/READ WRITE. NEW 상태에서 데이터 작업을 시도하면 오류가 반환될 수 있으므로, 생성 후 반드시 열기 단계를 거쳐야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CDB_PDBS.STATUS 컬럼으로 라이프사이클을 관찰한다. 생성 직후 조회하면 NEW가 나온다. ALTER PLUGGABLE DATABASE pdb1 OPEN으로 처음 열면 Oracle이 통합 처리를 수행하고, 다시 조회하면 STATUS가 NORMAL로 바뀐 것을 확인할 수 있다. STATUS(NORMAL)와 OPEN_MODE(READ WRITE)는 다른 개념이다. STATUS는 PDB가 CDB에 정상 통합되었는지를 나타내는 영구적 ‘생애 상태’이고, OPEN_MODE는 지금 어떤 모드로 열려 있는지를 나타내는 ‘현재 상태’다. STATUS가 NORMAL이어도 PDB를 닫으면 OPEN_MODE는 MOUNTED가 된다. 두 컬럼을 함께 보면 PDB 상태를 정확히 진단할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방식에도 선택지가 있다. 기본 OPEN은 READ WRITE로 열어 일반 작업을 허용한다. OPEN READ ONLY는 조회만 허용해 보고서용 복제본이나 스탠바이 성격의 PDB에 쓴다. OPEN RESTRICTED는 RESTRICTED SESSION 권한을 가진 관리자만 접속할 수 있는 제한 모드로 개방 전 점검·유지보수에 적합하다. 여러 PDB를 한 번에 열려면 ALL OPEN을, 특정 PDB만 제외하려면 ALL EXCEPT를 쓴다. 어떤 모드로 열든 NEW 상태의 PDB는 처음 열리는 순간 통합 처리가 수행되어 STATUS가 NORMAL이 된다. 실무 시나리오: 새 PDB를 곧바로 READ WRITE로 개방하기보다 먼저 OPEN RESTRICTED로 열어 테이블스페이스·파일·사용자·서비스를 점검하고 PDB_DBA 롤에 권한을 부여한 뒤 다시 OPEN으로 개방하면 안전하다. 새 PDB가 계속 NEW면 미오픈이거나 열기 오류이므로 alert log를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 성공 메시지’와 ‘의도대로 생성됨’은 다르다. 파일이 엉뚱한 위치에 생기거나 언두 모드가 예상과 다르거나 테이블스페이스가 누락될 수 있으므로 생성 직후 검증은 필수다. CDB_PDBS로 새 PDB가 목록에 있고 STATUS가 정상인지, CDB_TABLESPACES로 해당 CON_ID에 SYSTEM·SYSAUX·UNDO가 있는지, CDB_DATA_FILES로 데이터 파일이 지정한 대상 디렉터리에 실제 복사됐는지 물리 경로를 확인한다. CDB_*는 정적 메타데이터를, V$PDBS·V$CONTAINERS는 실시간 OPEN_MODE를 보여 주므로 CON_ID로 조인해 STATUS와 OPEN_MODE를 나란히 보면 좋다. CON_ID는 삭제·재생성 시 재사용되거나 건너뛸 수 있으니 고정값으로 가정하지 말고 이름으로 확인하는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CDB 루트에서 세 뷰를 순서대로 조회한다. 먼저 CDB_PDBS로 새 PDB의 존재와 STATUS를 확인하고, CDB_TABLESPACES로 해당 CON_ID의 SYSTEM·SYSAUX·UNDO 테이블스페이스를 확인하며, CDB_DATA_FILES로 데이터 파일이 의도한 경로에 만들어졌는지 검증한다. CON_ID를 모르면 SELECT name, con_id FROM v$pdbs로 먼저 대응을 확인하거나 CDB_PDBS와 조인해 PDB_NAME으로 필터링한다. 확인이 끝나면 PDB를 열고(필요 시 OPEN RESTRICTED로 점검), 공통 사용자 SYS로 CONNECT sys@pdb1 AS SYSDBA, 또는 ADMIN USER로 만든 관리자로 CONNECT admin1@pdb1 접속을 시도해 계정이 제대로 만들어졌는지 확인한다. Best Practice: ‘3-뷰 점검 → 열기 → SYS·ADMIN 접속 확인’을 표준 루틴·스크립트로 만들어 두면 대량 생성 시에도 일관되게 검증할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FILE_NAME_CONVERT는 경로를 일일이 치환 규칙으로 지정해야 해 PDB가 많아지면 번거롭다. 첫 대안이 OMF다. DB_CREATE_FILE_DEST 초기화 파라미터로 상위 디렉터리 하나만 지정하면, CREATE PLUGGABLE DATABASE 문에 FILE_NAME_CONVERT 절이 없어도 Oracle이 새 PDB의 SYSTEM·SYSAUX·UNDO 데이터 파일을 그 디렉터리 아래에 OMF 규칙으로 자동 생성한다. 파일 이름은 Oracle이 고유하게 부여하므로 관리자가 경로를 신경 쓸 필요가 없어 명령이 매우 간결해진다. 대량 생성이나 ASM 같은 표준 스토리지에서 특히 편리하다. 단 지정한 상위 디렉터리는 미리 존재해야 한다. 생성 후에는 CDB_DATA_FILES로 실제 경로를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OMF가 만드는 파일 이름에는 규칙이 있다. 지정 디렉터리 아래 데이터베이스별·PDB별 하위 디렉터리를 만들고 그 안에 ‘o1_mf_...’ 형태의 고유 이름으로 데이터 파일을 생성한다. 사람이 외우긴 불편하지만 절대 충돌하지 않도록 보장하므로 파일명 중복·덮어쓰기 사고를 원천 차단한다. 또 테이블스페이스를 삭제하면 OMF 데이터 파일이 OS 수준에서 자동 삭제되어 고아 파일이 남지 않는다. 이런 자동 관리 특성 때문에 ASM 디스크 그룹을 쓰는 환경에서는 OMF가 사실상 표준이다(ASM에서는 경로를 사람이 지정하는 것 자체가 부적절). 주의: DB_CREATE_FILE_DEST는 특정 PDB만이 아니라 설정한 컨테이너 범위 전체의 파일 생성 위치에 영향을 준다. 여러 PDB를 서로 다른 디렉터리에 두려면 생성 직전마다 값을 바꾸거나 문장 국소 지정인 CREATE_FILE_DEST 절을 쓰는 편이 깔끔하다.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OMF를 쓰지 않으면서 매번 FILE_NAME_CONVERT 절을 쓰지 않으려면 PDB_FILE_NAME_CONVERT 초기화 파라미터를 활용한다. 이 파라미터는 절과 동일한 ‘원본→대상’ 치환 규칙을 담되, 개별 명령이 아니라 인스턴스 수준에서 한 번 설정한다. 설정해 두면 이후 CREATE PLUGGABLE DATABASE 문에서 절을 생략해도 규칙이 자동 적용된다. 대상 디렉터리는 미리 존재해야 하며, OMF와 달리 파일 이름을 자동 생성하지 않고 원본 파일명을 유지한 채 디렉터리만 치환하므로 원본과 대상 경로 구조가 대응돼야 한다. 생성 후 CDB_PDBS·CDB_TABLESPACES·CDB_DATA_FILES로 검증한다.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PDB_FILE_NAME_CONVERT를 ALTER SYSTEM으로 설정할 때 SCOPE에 주의한다. MEMORY는 현재 인스턴스에만 즉시 적용되고 재시작하면 사라진다. SPFILE은 재시작 후 적용되고, BOTH(기본)는 즉시 적용되면서 SPFILE에도 저장돼 재시작 후에도 유지된다. 하나만 만들고 값을 곧 되돌릴 계획이면 MEMORY가 다른 작업에 영향을 주지 않아 안전하고, 앞으로 만들 모든 PDB가 같은 규칙을 따라야 하면 BOTH로 표준화한다. 파라미터 방식은 한 번 설정해 여러 번 재사용하는 데 강점이지만, 설정이 남아 있는 동안 만들어지는 모든 PDB에 영향을 준다는 점을 늘 의식해야 한다. FILE_NAME_CONVERT 절과 파라미터가 동시에 있으면 문장에 직접 쓴 절이 우선한다. 즉 파라미터로 기본 규칙을 깔아 두고 예외 PDB만 절로 덮어쓰는 조합이 유연하다.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대안은 CREATE PLUGGABLE DATABASE 문 자체에 CREATE_FILE_DEST 절을 붙이는 것이다. 이 절은 OMF의 편의성(파일명 자동 생성)을 그대로 누리면서 그 효과를 오직 해당 CREATE 문에만 국한한다. 즉 인스턴스 수준 DB_CREATE_FILE_DEST 값을 바꾸지 않고 이 PDB의 데이터 파일만 지정 디렉터리에 OMF 방식으로 만든다. 장점: ① 전역 설정을 건드리지 않아 부작용이 없고, ② PDB마다 다른 디렉터리를 문장 하나로 지정할 수 있어 여러 PDB를 각기 다른 위치에 두는 시나리오에 가장 깔끔하며, ③ OMF 자동 파일명을 그대로 활용해 경로 치환 규칙이 필요 없다. 이 절이 지정되면 그 값이 해당 PDB에 대한 DB_CREATE_FILE_DEST처럼 동작하고, 둘이 동시에 있으면 절이 우선한다.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방식은 자동화 정도·적용 범위·파일명 제어에서 다르다. 파일 경로·이름을 사람이 완전히 통제하고 PDB 수가 적으면 FILE_NAME_CONVERT 절이 명료하고, 대량 생성·표준 스토리지면 OMF가 편하며, OMF 자동 파일명은 원치 않지만 경로 규칙을 표준화하려면 PDB_FILE_NAME_CONVERT가, 전역 설정을 건드리지 않으면서 PDB별로 다른 디렉터리에 OMF로 만들려면 CREATE_FILE_DEST 절이 가장 유연하다. 우선순위: Oracle은 먼저 문장의 CREATE_FILE_DEST를, 없으면 FILE_NAME_CONVERT 절을, 그것도 없으면 인스턴스 파라미터(DB_CREATE_FILE_DEST → PDB_FILE_NAME_CONVERT)를 본다. 즉 문장 절이 인스턴스 파라미터를 이기고, 각 단계에서 OMF형이 치환형보다 우선한다. 조직 차원에서 한 방식을 표준으로 정하고 스크립트 템플릿으로 배포하면 운영이 단순해진다.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우선순위를 하나의 흐름으로 정리하면: Oracle은 새 PDB 파일 위치를 결정할 때 먼저 CREATE 문에 CREATE_FILE_DEST 절이 있으면 그 값으로 OMF 생성한다. 없으면 FILE_NAME_CONVERT 절이 있는지 보고 있으면 치환 규칙을 적용한다. 절이 전혀 없으면 인스턴스 파라미터로 내려가, DB_CREATE_FILE_DEST가 있으면 OMF로, 없고 PDB_FILE_NAME_CONVERT가 있으면 치환으로 생성한다. 이 어느 것도 없으면 오류다. 흔한 실수: ① 대상 디렉터리를 미리 만들지 않아 파일 생성 오류(가장 잦음), ② 원본 경로 문자열이 실제 시드 파일 경로와 정확히 일치하지 않아 치환이 안 됨(시드 실제 경로를 CDB_DATA_FILES로 먼저 확인), ③ OMF와 치환 절을 동시에 지정해 의도와 다른 위치에 생성. 방식을 하나로 정하고 생성 후 CDB_DATA_FILES로 실제 경로를 확인하는 습관이 예방책이다.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여섯 방법은 시드 생성, 언플러그 PDB 플러그, non-CDB 플러그, 다른 PDB 복제, 다른 CDB로 재배치, 프록시 PDB다. 시드 생성은 READ ONLY 시드 파일을 복사해 애플리케이션 데이터가 없는 빈 PDB를 거의 즉각적으로 만든다. Q2. SYSTEM(카탈로그/딕셔너리), SYSAUX(보조 데이터), UNDO(로컬 언두)다. 단 UNDO는 LOCAL UNDO 모드일 때 만들어진다. Q3. 함께 부여되는 로컬 PDB_DBA 롤이 생성 직후에는 비어 있는 롤이기 때문이다. PDB의 SYS가 PDB_DBA 롤에 실제 권한을 부여해야 관리 작업이 가능해진다. 이는 최소 권한 원칙에 따른 안전장치다.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 PDB를 READ WRITE 또는 RESTRICTED 모드로 처음 열어야 한다(ALTER PLUGGABLE DATABASE ... OPEN). 처음 열 때 Oracle이 통합 처리를 완료하고 STATUS를 NORMAL로 바꾼다. Q5. OMF는 Oracle이 파일 이름과 경로를 자동 생성하므로 상위 디렉터리만 지정하면 되고, FILE_NAME_CONVERT는 원본 파일명을 유지한 채 디렉터리 부분을 명시적 치환 규칙으로 지정한다. Q6. CREATE PLUGGABLE DATABASE 문에 CREATE_FILE_DEST 절을 사용한다. 이 절은 해당 문장에만 적용되며 DB_CREATE_FILE_DEST보다 우선한다.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개요 슬라이드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ea typeface="Malgun Gothic"/>
              </a:rPr>
              <a:t>Oracle Database 19c Administration Workshop</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ea typeface="Malgun Gothic"/>
              </a:rPr>
              <a:t>Seed로부터 PDB 생성</a:t>
            </a:r>
          </a:p>
          <a:p>
            <a:r>
              <a:rPr sz="4400" b="1">
                <a:solidFill>
                  <a:srgbClr val="FFFFFF"/>
                </a:solidFill>
                <a:latin typeface="Malgun Gothic"/>
                <a:ea typeface="Malgun Gothic"/>
              </a:rPr>
              <a:t>Creating PDBs from Seed</a:t>
            </a:r>
          </a:p>
        </p:txBody>
      </p:sp>
      <p:sp>
        <p:nvSpPr>
          <p:cNvPr id="5" name="TextBox 4"/>
          <p:cNvSpPr txBox="1"/>
          <p:nvPr/>
        </p:nvSpPr>
        <p:spPr>
          <a:xfrm>
            <a:off x="1188720" y="4297680"/>
            <a:ext cx="10058400" cy="1280160"/>
          </a:xfrm>
          <a:prstGeom prst="rect">
            <a:avLst/>
          </a:prstGeom>
          <a:noFill/>
        </p:spPr>
        <p:txBody>
          <a:bodyPr wrap="square">
            <a:spAutoFit/>
          </a:bodyPr>
          <a:lstStyle/>
          <a:p>
            <a:r>
              <a:rPr sz="1800" b="0">
                <a:solidFill>
                  <a:srgbClr val="C5CED6"/>
                </a:solidFill>
                <a:latin typeface="Malgun Gothic"/>
                <a:ea typeface="Malgun Gothic"/>
              </a:rPr>
              <a:t>PDB 프로비저닝 개관 · PDB$SEED 개념 · FILE_NAME_CONVERT · STATUS 라이프사이클 · OMF · PDB_FILE_NAME_CONVERT · CREATE_FILE_DEST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학습 목표 (Objectives)</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CDB에 새 PDB를 프로비저닝하는 여섯 가지 방식을 구분해 설명한다.</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새 PDB 생성 도구(SQL*Plus·SQL Developer·EM·DBCA)를 열거한다.</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PDB$SEED로부터 생성 시 만들어지는 테이블스페이스·카탈로그·사용자·서비스를 설명한다.</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FILE_NAME_CONVERT 절로 CREATE PLUGGABLE DATABASE 문을 실행한다.</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PDB STATUS 라이프사이클(NEW→OPEN→NORMAL)을 이해하고 뷰로 확인한다.</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OMF·PDB_FILE_NAME_CONVERT·CREATE_FILE_DEST 세 방식을 비교·선택한다.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이 장의 구성 (Agenda)</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14.1 프로비저닝 방법 개관 · 14.2 프로비저닝 도구</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14.3 PDB$SEED로부터 생성 개념 · 14.4 FILE_NAME_CONVERT 절</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14.5 STATUS 라이프사이클 · 14.6 CDB_* 뷰로 검증</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14.7 OMF(DB_CREATE_FILE_DEST) · 14.8 PDB_FILE_NAME_CONVERT</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14.9 CREATE_FILE_DEST 절 · 14.10 세 방식 비교</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확인 학습(Quiz) · 요약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새 PDB 프로비저닝 방법 개관</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여섯 가지 프로비저닝 방식</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원본 기준 분류</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PDB는 자기완결적 이동 단위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CDB에 PDB를 프로비저닝하는 여섯 가지 방법</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① PDB$SEED로부터 새 PDB 생성 — 빈 PDB, 거의 즉각적 (본 장)</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② 언플러그된 PDB를 동일/다른 CDB에 플러그 — 업그레이드·복귀</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③ non-CDB를 CDB에 플러그 — 마이그레이션·통합</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④ 다른 PDB로부터 복제(로컬/원격, hot/cold) — 테스트·검증</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⑤ 다른 CDB로 재배치(relocate) — 자원 재배치, Near-Zero Downtime</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⑥ 프록시 PDB — 원격 PDB에 대한 위치 투명 접근·데이터 집계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원본 기준으로 외우는 여섯 가지</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원본이 시드 → 빈 PDB 생성(①)</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원본이 언플러그된 PDB → 플러그(②)</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원본이 non-CDB → 변환 플러그(③)</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원본이 살아 있는 다른 PDB → 복제(④)·재배치(⑤)·프록시(⑥)</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복제=데이터 복사, 재배치=원본 이동, 프록시=참조만 생성</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PDB는 딕셔너리·테이블스페이스·사용자·서비스를 갖춘 자기완결적 단위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새 PDB를 프로비저닝하는 도구</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SQL*Plus·SQL Developer</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EM Cloud Control·EM Express</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DBCA의 세 시나리오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프로비저닝 도구</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SQL*Plus — CREATE PLUGGABLE DATABASE 직접 실행, 스크립트화·자동화 표준</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SQL Developer — GUI 마법사로 생성·복제·플러그</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EM Cloud Control — 다수 CDB/PDB 중앙 관리(대규모)</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EM Database Express — DB 내장 경량 웹 콘솔(소규모)</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DBCA — 대화형/Silent 모드, 반복 표준 절차에 강력</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어떤 도구든 내부는 CREATE PLUGGABLE DATABASE 계열 명령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DBCA의 세 가지 PDB 생성 시나리오</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① PDB 시드로부터 복제 — 빈 PDB 생성</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② 기존 PDB로부터 복제</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③ 언플러그된 PDB를 플러그</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-silent + 응답 파일 → 여러 환경에 동일 PDB 표준 배포</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학습·세밀한 절 실험 → SQL*Plus가 명료</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대량 반복 배포 → DBCA Silent로 오류↓·이력 관리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PDB$SEED로부터 새 PDB 생성 — 개념</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시드는 READ ONLY 템플릿</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복사되는 것들</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빈 PDB의 완결적 구조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PDB$SEED — 새 PDB의 템플릿</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PDB$SEED는 모든 CDB에 기본 존재하는 특별한 PDB</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항상 READ ONLY — 내용이 변하지 않는 원본</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생성 = READ ONLY 시드 데이터 파일을 대상 디렉터리로 복사</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복사량이 작고 정형화 → 거의 즉각적으로 완료</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결과: 애플리케이션 데이터 0, 완전한 딕셔너리·사용자·서비스</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각 PDB는 루트의 공용 정의를 참조 → 딕셔너리 구축 비용 미미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복사·생성되는 것들 — 테이블스페이스와 카탈로그</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SYSTEM — Oracle 제공 객체 메타데이터 포함 전체 카탈로그</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SYSAUX — SYSTEM 부담을 더는 보조 데이터</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UNDO — 로컬 언두 세그먼트 (LOCAL UNDO 모드일 때)</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TEMP — 정렬·해시 조인용 임시 세그먼트</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SHARED UNDO 모드 → PDB에 별도 UNDO 없음(루트 공용 사용)</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딕셔너리 = 루트 공용 메타데이터 포인터 + PDB 고유 로컬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생성되는 사용자 — 공통 사용자와 로컬 PDBA</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공통 사용자 SYS(슈퍼유저)·SYSTEM(관리) — 루트·모든 PDB에서 인식</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ADMIN USER 절 → 로컬 PDB 관리자(PDBA) 생성</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PDBA에게 로컬 PDB_DBA 롤 부여</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 생성 직후 PDB_DBA 롤은 비어 있음</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SYS가 PDB_DBA 롤에 권한을 부여하기 전까지 PDBA는 접속만 가능</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최소 권한 원칙 — 강력 권한 자동 부여 방지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생성되는 기본 서비스</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새 PDB용 기본 서비스가 자동 생성 — 이름은 PDB 이름과 동일</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클라이언트는 SERVICE_NAME=&lt;pdb&gt;로 접속</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각 PDB가 독립된 DB처럼 보이는 근거</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PDB가 닫히면 서비스도 리스너에 미등록 → 접속 불가</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SAVE STATE / 트리거로 기동 시 자동 오픈 구성</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‘생성됐는데 접속 안 됨’ → lsnrctl status로 서비스 등록 확인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FILE_NAME_CONVERT 절로 PDB 생성</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전제 조건</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명령 각 절 분석</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생성 직후 STATUS=NEW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FILE_NAME_CONVERT 절 — 생성 명령</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루트에 SYSDBA 접속 후 CREATE PLUGGABLE DATABASE 실행</a:t>
            </a:r>
          </a:p>
        </p:txBody>
      </p:sp>
      <p:sp>
        <p:nvSpPr>
          <p:cNvPr id="5" name="Rectangle 4"/>
          <p:cNvSpPr/>
          <p:nvPr/>
        </p:nvSpPr>
        <p:spPr>
          <a:xfrm>
            <a:off x="640080" y="1691640"/>
            <a:ext cx="10881360" cy="237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0000"/>
            <a:ext cx="10515600" cy="2210000"/>
          </a:xfrm>
          <a:prstGeom prst="rect">
            <a:avLst/>
          </a:prstGeom>
          <a:noFill/>
        </p:spPr>
        <p:txBody>
          <a:bodyPr wrap="square">
            <a:spAutoFit/>
          </a:bodyPr>
          <a:lstStyle/>
          <a:p>
            <a:pPr>
              <a:lnSpc>
                <a:spcPct val="100000"/>
              </a:lnSpc>
              <a:spcAft>
                <a:spcPts val="0"/>
              </a:spcAft>
            </a:pPr>
            <a:r>
              <a:rPr sz="1200" b="0">
                <a:solidFill>
                  <a:srgbClr val="E6E6E6"/>
                </a:solidFill>
                <a:latin typeface="Consolas"/>
                <a:ea typeface="Consolas"/>
              </a:rPr>
              <a:t>SQL&gt; CONNECT / AS SYSDBA</a:t>
            </a:r>
          </a:p>
          <a:p>
            <a:pPr>
              <a:lnSpc>
                <a:spcPct val="100000"/>
              </a:lnSpc>
              <a:spcAft>
                <a:spcPts val="0"/>
              </a:spcAft>
            </a:pPr>
            <a:r>
              <a:rPr sz="1200" b="0">
                <a:solidFill>
                  <a:srgbClr val="E6E6E6"/>
                </a:solidFill>
                <a:latin typeface="Consolas"/>
                <a:ea typeface="Consolas"/>
              </a:rPr>
              <a:t> </a:t>
            </a:r>
          </a:p>
          <a:p>
            <a:pPr>
              <a:lnSpc>
                <a:spcPct val="100000"/>
              </a:lnSpc>
              <a:spcAft>
                <a:spcPts val="0"/>
              </a:spcAft>
            </a:pPr>
            <a:r>
              <a:rPr sz="1200" b="0">
                <a:solidFill>
                  <a:srgbClr val="E6E6E6"/>
                </a:solidFill>
                <a:latin typeface="Consolas"/>
                <a:ea typeface="Consolas"/>
              </a:rPr>
              <a:t>SQL&gt; CREATE PLUGGABLE DATABASE pdb1</a:t>
            </a:r>
          </a:p>
          <a:p>
            <a:pPr>
              <a:lnSpc>
                <a:spcPct val="100000"/>
              </a:lnSpc>
              <a:spcAft>
                <a:spcPts val="0"/>
              </a:spcAft>
            </a:pPr>
            <a:r>
              <a:rPr sz="1200" b="0">
                <a:solidFill>
                  <a:srgbClr val="E6E6E6"/>
                </a:solidFill>
                <a:latin typeface="Consolas"/>
                <a:ea typeface="Consolas"/>
              </a:rPr>
              <a:t>  2    ADMIN USER admin1 IDENTIFIED BY p1 ROLES=(CONNECT)</a:t>
            </a:r>
          </a:p>
          <a:p>
            <a:pPr>
              <a:lnSpc>
                <a:spcPct val="100000"/>
              </a:lnSpc>
              <a:spcAft>
                <a:spcPts val="0"/>
              </a:spcAft>
            </a:pPr>
            <a:r>
              <a:rPr sz="1200" b="0">
                <a:solidFill>
                  <a:srgbClr val="E6E6E6"/>
                </a:solidFill>
                <a:latin typeface="Consolas"/>
                <a:ea typeface="Consolas"/>
              </a:rPr>
              <a:t>  3    FILE_NAME_CONVERT =</a:t>
            </a:r>
          </a:p>
          <a:p>
            <a:pPr>
              <a:lnSpc>
                <a:spcPct val="100000"/>
              </a:lnSpc>
              <a:spcAft>
                <a:spcPts val="0"/>
              </a:spcAft>
            </a:pPr>
            <a:r>
              <a:rPr sz="1200" b="0">
                <a:solidFill>
                  <a:srgbClr val="E6E6E6"/>
                </a:solidFill>
                <a:latin typeface="Consolas"/>
                <a:ea typeface="Consolas"/>
              </a:rPr>
              <a:t>  4      ('/u01/app/oradata/CDB1/pdbseed',</a:t>
            </a:r>
          </a:p>
          <a:p>
            <a:pPr>
              <a:lnSpc>
                <a:spcPct val="100000"/>
              </a:lnSpc>
              <a:spcAft>
                <a:spcPts val="0"/>
              </a:spcAft>
            </a:pPr>
            <a:r>
              <a:rPr sz="1200" b="0">
                <a:solidFill>
                  <a:srgbClr val="E6E6E6"/>
                </a:solidFill>
                <a:latin typeface="Consolas"/>
                <a:ea typeface="Consolas"/>
              </a:rPr>
              <a:t>  5       '/u01/app/oradata/CDB1/pdb1');</a:t>
            </a:r>
          </a:p>
          <a:p>
            <a:pPr>
              <a:lnSpc>
                <a:spcPct val="100000"/>
              </a:lnSpc>
              <a:spcAft>
                <a:spcPts val="0"/>
              </a:spcAft>
            </a:pPr>
            <a:r>
              <a:rPr sz="1200" b="0">
                <a:solidFill>
                  <a:srgbClr val="E6E6E6"/>
                </a:solidFill>
                <a:latin typeface="Consolas"/>
                <a:ea typeface="Consolas"/>
              </a:rPr>
              <a:t> </a:t>
            </a:r>
          </a:p>
          <a:p>
            <a:pPr>
              <a:lnSpc>
                <a:spcPct val="100000"/>
              </a:lnSpc>
              <a:spcAft>
                <a:spcPts val="0"/>
              </a:spcAft>
            </a:pPr>
            <a:r>
              <a:rPr sz="1200" b="0">
                <a:solidFill>
                  <a:srgbClr val="E6E6E6"/>
                </a:solidFill>
                <a:latin typeface="Consolas"/>
                <a:ea typeface="Consolas"/>
              </a:rPr>
              <a:t>Pluggable database created.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명령의 각 절 분석</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CONNECT / AS SYSDBA — 루트에 CREATE PDB 권한 공통 사용자로 접속</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ADMIN USER admin1 IDENTIFIED BY p1 — 로컬 관리자 계정 생성</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ROLES=(CONNECT) — 관리자에게 부여할 롤(PDB_DBA는 항상 함께 부여)</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FILE_NAME_CONVERT=(원본, 대상) — 시드 경로를 새 PDB 경로로 치환</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선택 절: STORAGE(용량 제한)·DEFAULT TABLESPACE·PATH_PREFIX(격리)</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완료 후 STATUS=NEW, OPEN_MODE=MOUNTED — 아직 사용 불가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PDB STATUS 라이프사이클</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NEW → OPEN → NORMAL</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STATUS vs OPEN_MODE</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OPEN 모드 선택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라이프사이클 — NEW → OPEN → NORMAL</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생성 직후: CDB_PDBS.STATUS = NEW, OPEN_MODE = MOUNTED</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NEW = ‘생성됐으나 한 번도 열린 적 없음’</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READ WRITE/RESTRICTED로 처음 OPEN → Oracle이 통합 처리 수행</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처리 완료 → STATUS = NORMAL</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NEW 상태에서 정상 사용 시도 시 오류 가능</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생성 후 반드시 ‘열기’ 단계를 거쳐야 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STATUS 확인 — NEW에서 NORMAL로</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CDB_PDBS.STATUS와 OPEN 전후 비교</a:t>
            </a:r>
          </a:p>
        </p:txBody>
      </p:sp>
      <p:sp>
        <p:nvSpPr>
          <p:cNvPr id="5" name="Rectangle 4"/>
          <p:cNvSpPr/>
          <p:nvPr/>
        </p:nvSpPr>
        <p:spPr>
          <a:xfrm>
            <a:off x="640080" y="1691640"/>
            <a:ext cx="10881360" cy="329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0000"/>
            <a:ext cx="10515600" cy="3130000"/>
          </a:xfrm>
          <a:prstGeom prst="rect">
            <a:avLst/>
          </a:prstGeom>
          <a:noFill/>
        </p:spPr>
        <p:txBody>
          <a:bodyPr wrap="square">
            <a:spAutoFit/>
          </a:bodyPr>
          <a:lstStyle/>
          <a:p>
            <a:pPr>
              <a:lnSpc>
                <a:spcPct val="100000"/>
              </a:lnSpc>
              <a:spcAft>
                <a:spcPts val="0"/>
              </a:spcAft>
            </a:pPr>
            <a:r>
              <a:rPr sz="1200" b="0">
                <a:solidFill>
                  <a:srgbClr val="7EC699"/>
                </a:solidFill>
                <a:latin typeface="Consolas"/>
                <a:ea typeface="Consolas"/>
              </a:rPr>
              <a:t>-- 생성 직후: STATUS = NEW</a:t>
            </a:r>
          </a:p>
          <a:p>
            <a:pPr>
              <a:lnSpc>
                <a:spcPct val="100000"/>
              </a:lnSpc>
              <a:spcAft>
                <a:spcPts val="0"/>
              </a:spcAft>
            </a:pPr>
            <a:r>
              <a:rPr sz="1200" b="0">
                <a:solidFill>
                  <a:srgbClr val="E6E6E6"/>
                </a:solidFill>
                <a:latin typeface="Consolas"/>
                <a:ea typeface="Consolas"/>
              </a:rPr>
              <a:t>SQL&gt; SELECT pdb_name, status FROM cdb_pdbs</a:t>
            </a:r>
          </a:p>
          <a:p>
            <a:pPr>
              <a:lnSpc>
                <a:spcPct val="100000"/>
              </a:lnSpc>
              <a:spcAft>
                <a:spcPts val="0"/>
              </a:spcAft>
            </a:pPr>
            <a:r>
              <a:rPr sz="1200" b="0">
                <a:solidFill>
                  <a:srgbClr val="E6E6E6"/>
                </a:solidFill>
                <a:latin typeface="Consolas"/>
                <a:ea typeface="Consolas"/>
              </a:rPr>
              <a:t>  2   WHERE pdb_name='PDB1';</a:t>
            </a:r>
          </a:p>
          <a:p>
            <a:pPr>
              <a:lnSpc>
                <a:spcPct val="100000"/>
              </a:lnSpc>
              <a:spcAft>
                <a:spcPts val="0"/>
              </a:spcAft>
            </a:pPr>
            <a:r>
              <a:rPr sz="1200" b="0">
                <a:solidFill>
                  <a:srgbClr val="E6E6E6"/>
                </a:solidFill>
                <a:latin typeface="Consolas"/>
                <a:ea typeface="Consolas"/>
              </a:rPr>
              <a:t>PDB1       NEW</a:t>
            </a:r>
          </a:p>
          <a:p>
            <a:pPr>
              <a:lnSpc>
                <a:spcPct val="100000"/>
              </a:lnSpc>
              <a:spcAft>
                <a:spcPts val="0"/>
              </a:spcAft>
            </a:pPr>
            <a:r>
              <a:rPr sz="1200" b="0">
                <a:solidFill>
                  <a:srgbClr val="E6E6E6"/>
                </a:solidFill>
                <a:latin typeface="Consolas"/>
                <a:ea typeface="Consolas"/>
              </a:rPr>
              <a:t> </a:t>
            </a:r>
          </a:p>
          <a:p>
            <a:pPr>
              <a:lnSpc>
                <a:spcPct val="100000"/>
              </a:lnSpc>
              <a:spcAft>
                <a:spcPts val="0"/>
              </a:spcAft>
            </a:pPr>
            <a:r>
              <a:rPr sz="1200" b="0">
                <a:solidFill>
                  <a:srgbClr val="7EC699"/>
                </a:solidFill>
                <a:latin typeface="Consolas"/>
                <a:ea typeface="Consolas"/>
              </a:rPr>
              <a:t>-- 처음 열기</a:t>
            </a:r>
          </a:p>
          <a:p>
            <a:pPr>
              <a:lnSpc>
                <a:spcPct val="100000"/>
              </a:lnSpc>
              <a:spcAft>
                <a:spcPts val="0"/>
              </a:spcAft>
            </a:pPr>
            <a:r>
              <a:rPr sz="1200" b="0">
                <a:solidFill>
                  <a:srgbClr val="E6E6E6"/>
                </a:solidFill>
                <a:latin typeface="Consolas"/>
                <a:ea typeface="Consolas"/>
              </a:rPr>
              <a:t>SQL&gt; ALTER PLUGGABLE DATABASE pdb1 OPEN;</a:t>
            </a:r>
          </a:p>
          <a:p>
            <a:pPr>
              <a:lnSpc>
                <a:spcPct val="100000"/>
              </a:lnSpc>
              <a:spcAft>
                <a:spcPts val="0"/>
              </a:spcAft>
            </a:pPr>
            <a:r>
              <a:rPr sz="1200" b="0">
                <a:solidFill>
                  <a:srgbClr val="E6E6E6"/>
                </a:solidFill>
                <a:latin typeface="Consolas"/>
                <a:ea typeface="Consolas"/>
              </a:rPr>
              <a:t>Pluggable database altered.</a:t>
            </a:r>
          </a:p>
          <a:p>
            <a:pPr>
              <a:lnSpc>
                <a:spcPct val="100000"/>
              </a:lnSpc>
              <a:spcAft>
                <a:spcPts val="0"/>
              </a:spcAft>
            </a:pPr>
            <a:r>
              <a:rPr sz="1200" b="0">
                <a:solidFill>
                  <a:srgbClr val="E6E6E6"/>
                </a:solidFill>
                <a:latin typeface="Consolas"/>
                <a:ea typeface="Consolas"/>
              </a:rPr>
              <a:t> </a:t>
            </a:r>
          </a:p>
          <a:p>
            <a:pPr>
              <a:lnSpc>
                <a:spcPct val="100000"/>
              </a:lnSpc>
              <a:spcAft>
                <a:spcPts val="0"/>
              </a:spcAft>
            </a:pPr>
            <a:r>
              <a:rPr sz="1200" b="0">
                <a:solidFill>
                  <a:srgbClr val="7EC699"/>
                </a:solidFill>
                <a:latin typeface="Consolas"/>
                <a:ea typeface="Consolas"/>
              </a:rPr>
              <a:t>-- 이제 STATUS = NORMAL</a:t>
            </a:r>
          </a:p>
          <a:p>
            <a:pPr>
              <a:lnSpc>
                <a:spcPct val="100000"/>
              </a:lnSpc>
              <a:spcAft>
                <a:spcPts val="0"/>
              </a:spcAft>
            </a:pPr>
            <a:r>
              <a:rPr sz="1200" b="0">
                <a:solidFill>
                  <a:srgbClr val="E6E6E6"/>
                </a:solidFill>
                <a:latin typeface="Consolas"/>
                <a:ea typeface="Consolas"/>
              </a:rPr>
              <a:t>SQL&gt; SELECT pdb_name, status FROM cdb_pdbs</a:t>
            </a:r>
          </a:p>
          <a:p>
            <a:pPr>
              <a:lnSpc>
                <a:spcPct val="100000"/>
              </a:lnSpc>
              <a:spcAft>
                <a:spcPts val="0"/>
              </a:spcAft>
            </a:pPr>
            <a:r>
              <a:rPr sz="1200" b="0">
                <a:solidFill>
                  <a:srgbClr val="E6E6E6"/>
                </a:solidFill>
                <a:latin typeface="Consolas"/>
                <a:ea typeface="Consolas"/>
              </a:rPr>
              <a:t>  2   WHERE pdb_name='PDB1';</a:t>
            </a:r>
          </a:p>
          <a:p>
            <a:pPr>
              <a:lnSpc>
                <a:spcPct val="100000"/>
              </a:lnSpc>
              <a:spcAft>
                <a:spcPts val="0"/>
              </a:spcAft>
            </a:pPr>
            <a:r>
              <a:rPr sz="1200" b="0">
                <a:solidFill>
                  <a:srgbClr val="E6E6E6"/>
                </a:solidFill>
                <a:latin typeface="Consolas"/>
                <a:ea typeface="Consolas"/>
              </a:rPr>
              <a:t>PDB1       NORMAL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OPEN 모드 선택과 상태값</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OPEN (=READ WRITE) — 일반 읽기·쓰기</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OPEN READ ONLY — 조회 전용(보고서·스탠바이 성격)</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OPEN RESTRICTED — RESTRICTED SESSION 권한자만(개방 전 점검)</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ALL OPEN / ALL EXCEPT — 여러 PDB 일괄 열기</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어느 모드든 처음 열리는 순간 통합 처리 → NORMAL</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계속 NEW면 미오픈/열기 오류 → alert log 확인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CDB_* 뷰로 검증하기</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3개 뷰: PDBS·TABLESPACES·DATA_FILES</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논리·물리 구조 검증</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CON_ID는 이름으로 확인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검증용 3개 뷰</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CDB_PDBS — PDB 목록·상태 (PDB_NAME, STATUS, CON_ID)</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CDB_TABLESPACES — 각 PDB 테이블스페이스 (TABLESPACE_NAME, CON_ID)</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CDB_DATA_FILES — 데이터 파일 물리 경로 (FILE_NAME, CON_ID)</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논리 구조(목록·상태·테이블스페이스) + 물리 구조(파일 경로) 모두 검증</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CDB_*(정적 메타데이터) + V$PDBS/V$CONTAINERS(실시간 상태) 조합</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CON_ID는 고정값 가정 금지 → 항상 이름으로 확인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뷰로 검증하는 쿼리</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CDB 루트에서 3-뷰 점검</a:t>
            </a:r>
          </a:p>
        </p:txBody>
      </p:sp>
      <p:sp>
        <p:nvSpPr>
          <p:cNvPr id="5" name="Rectangle 4"/>
          <p:cNvSpPr/>
          <p:nvPr/>
        </p:nvSpPr>
        <p:spPr>
          <a:xfrm>
            <a:off x="640080" y="1691640"/>
            <a:ext cx="10881360" cy="260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0000"/>
            <a:ext cx="10515600" cy="2440000"/>
          </a:xfrm>
          <a:prstGeom prst="rect">
            <a:avLst/>
          </a:prstGeom>
          <a:noFill/>
        </p:spPr>
        <p:txBody>
          <a:bodyPr wrap="square">
            <a:spAutoFit/>
          </a:bodyPr>
          <a:lstStyle/>
          <a:p>
            <a:pPr>
              <a:lnSpc>
                <a:spcPct val="100000"/>
              </a:lnSpc>
              <a:spcAft>
                <a:spcPts val="0"/>
              </a:spcAft>
            </a:pPr>
            <a:r>
              <a:rPr sz="1200" b="0">
                <a:solidFill>
                  <a:srgbClr val="E6E6E6"/>
                </a:solidFill>
                <a:latin typeface="Consolas"/>
                <a:ea typeface="Consolas"/>
              </a:rPr>
              <a:t>SQL&gt; CONNECT / AS SYSDBA</a:t>
            </a:r>
          </a:p>
          <a:p>
            <a:pPr>
              <a:lnSpc>
                <a:spcPct val="100000"/>
              </a:lnSpc>
              <a:spcAft>
                <a:spcPts val="0"/>
              </a:spcAft>
            </a:pPr>
            <a:r>
              <a:rPr sz="1200" b="0">
                <a:solidFill>
                  <a:srgbClr val="7EC699"/>
                </a:solidFill>
                <a:latin typeface="Consolas"/>
                <a:ea typeface="Consolas"/>
              </a:rPr>
              <a:t>-- 1) PDB 목록과 상태</a:t>
            </a:r>
          </a:p>
          <a:p>
            <a:pPr>
              <a:lnSpc>
                <a:spcPct val="100000"/>
              </a:lnSpc>
              <a:spcAft>
                <a:spcPts val="0"/>
              </a:spcAft>
            </a:pPr>
            <a:r>
              <a:rPr sz="1200" b="0">
                <a:solidFill>
                  <a:srgbClr val="E6E6E6"/>
                </a:solidFill>
                <a:latin typeface="Consolas"/>
                <a:ea typeface="Consolas"/>
              </a:rPr>
              <a:t>SQL&gt; SELECT pdb_name, status, con_id</a:t>
            </a:r>
          </a:p>
          <a:p>
            <a:pPr>
              <a:lnSpc>
                <a:spcPct val="100000"/>
              </a:lnSpc>
              <a:spcAft>
                <a:spcPts val="0"/>
              </a:spcAft>
            </a:pPr>
            <a:r>
              <a:rPr sz="1200" b="0">
                <a:solidFill>
                  <a:srgbClr val="E6E6E6"/>
                </a:solidFill>
                <a:latin typeface="Consolas"/>
                <a:ea typeface="Consolas"/>
              </a:rPr>
              <a:t>  2   FROM cdb_pdbs ORDER BY con_id;</a:t>
            </a:r>
          </a:p>
          <a:p>
            <a:pPr>
              <a:lnSpc>
                <a:spcPct val="100000"/>
              </a:lnSpc>
              <a:spcAft>
                <a:spcPts val="0"/>
              </a:spcAft>
            </a:pPr>
            <a:r>
              <a:rPr sz="1200" b="0">
                <a:solidFill>
                  <a:srgbClr val="7EC699"/>
                </a:solidFill>
                <a:latin typeface="Consolas"/>
                <a:ea typeface="Consolas"/>
              </a:rPr>
              <a:t>-- 2) 새 PDB의 테이블스페이스</a:t>
            </a:r>
          </a:p>
          <a:p>
            <a:pPr>
              <a:lnSpc>
                <a:spcPct val="100000"/>
              </a:lnSpc>
              <a:spcAft>
                <a:spcPts val="0"/>
              </a:spcAft>
            </a:pPr>
            <a:r>
              <a:rPr sz="1200" b="0">
                <a:solidFill>
                  <a:srgbClr val="E6E6E6"/>
                </a:solidFill>
                <a:latin typeface="Consolas"/>
                <a:ea typeface="Consolas"/>
              </a:rPr>
              <a:t>SQL&gt; SELECT con_id, tablespace_name</a:t>
            </a:r>
          </a:p>
          <a:p>
            <a:pPr>
              <a:lnSpc>
                <a:spcPct val="100000"/>
              </a:lnSpc>
              <a:spcAft>
                <a:spcPts val="0"/>
              </a:spcAft>
            </a:pPr>
            <a:r>
              <a:rPr sz="1200" b="0">
                <a:solidFill>
                  <a:srgbClr val="E6E6E6"/>
                </a:solidFill>
                <a:latin typeface="Consolas"/>
                <a:ea typeface="Consolas"/>
              </a:rPr>
              <a:t>  2   FROM cdb_tablespaces WHERE con_id=4;</a:t>
            </a:r>
          </a:p>
          <a:p>
            <a:pPr>
              <a:lnSpc>
                <a:spcPct val="100000"/>
              </a:lnSpc>
              <a:spcAft>
                <a:spcPts val="0"/>
              </a:spcAft>
            </a:pPr>
            <a:r>
              <a:rPr sz="1200" b="0">
                <a:solidFill>
                  <a:srgbClr val="7EC699"/>
                </a:solidFill>
                <a:latin typeface="Consolas"/>
                <a:ea typeface="Consolas"/>
              </a:rPr>
              <a:t>-- 3) 데이터 파일 물리 경로</a:t>
            </a:r>
          </a:p>
          <a:p>
            <a:pPr>
              <a:lnSpc>
                <a:spcPct val="100000"/>
              </a:lnSpc>
              <a:spcAft>
                <a:spcPts val="0"/>
              </a:spcAft>
            </a:pPr>
            <a:r>
              <a:rPr sz="1200" b="0">
                <a:solidFill>
                  <a:srgbClr val="E6E6E6"/>
                </a:solidFill>
                <a:latin typeface="Consolas"/>
                <a:ea typeface="Consolas"/>
              </a:rPr>
              <a:t>SQL&gt; SELECT tablespace_name, file_name</a:t>
            </a:r>
          </a:p>
          <a:p>
            <a:pPr>
              <a:lnSpc>
                <a:spcPct val="100000"/>
              </a:lnSpc>
              <a:spcAft>
                <a:spcPts val="0"/>
              </a:spcAft>
            </a:pPr>
            <a:r>
              <a:rPr sz="1200" b="0">
                <a:solidFill>
                  <a:srgbClr val="E6E6E6"/>
                </a:solidFill>
                <a:latin typeface="Consolas"/>
                <a:ea typeface="Consolas"/>
              </a:rPr>
              <a:t>  2   FROM cdb_data_files WHERE con_id=4;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OMF(DB_CREATE_FILE_DEST) 이용</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파일명·경로 자동 생성</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상위 디렉터리만 지정</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ASM 환경 표준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OMF로 PDB 생성</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DB_CREATE_FILE_DEST 설정 후 절 없이 생성</a:t>
            </a:r>
          </a:p>
        </p:txBody>
      </p:sp>
      <p:sp>
        <p:nvSpPr>
          <p:cNvPr id="5" name="Rectangle 4"/>
          <p:cNvSpPr/>
          <p:nvPr/>
        </p:nvSpPr>
        <p:spPr>
          <a:xfrm>
            <a:off x="640080" y="1691640"/>
            <a:ext cx="10881360" cy="283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0000"/>
            <a:ext cx="10515600" cy="2670000"/>
          </a:xfrm>
          <a:prstGeom prst="rect">
            <a:avLst/>
          </a:prstGeom>
          <a:noFill/>
        </p:spPr>
        <p:txBody>
          <a:bodyPr wrap="square">
            <a:spAutoFit/>
          </a:bodyPr>
          <a:lstStyle/>
          <a:p>
            <a:pPr>
              <a:lnSpc>
                <a:spcPct val="100000"/>
              </a:lnSpc>
              <a:spcAft>
                <a:spcPts val="0"/>
              </a:spcAft>
            </a:pPr>
            <a:r>
              <a:rPr sz="1200" b="0">
                <a:solidFill>
                  <a:srgbClr val="E6E6E6"/>
                </a:solidFill>
                <a:latin typeface="Consolas"/>
                <a:ea typeface="Consolas"/>
              </a:rPr>
              <a:t>SQL&gt; CONNECT / AS SYSDBA</a:t>
            </a:r>
          </a:p>
          <a:p>
            <a:pPr>
              <a:lnSpc>
                <a:spcPct val="100000"/>
              </a:lnSpc>
              <a:spcAft>
                <a:spcPts val="0"/>
              </a:spcAft>
            </a:pPr>
            <a:r>
              <a:rPr sz="1200" b="0">
                <a:solidFill>
                  <a:srgbClr val="7EC699"/>
                </a:solidFill>
                <a:latin typeface="Consolas"/>
                <a:ea typeface="Consolas"/>
              </a:rPr>
              <a:t>-- OMF 대상 디렉터리(미리 존재해야 함)</a:t>
            </a:r>
          </a:p>
          <a:p>
            <a:pPr>
              <a:lnSpc>
                <a:spcPct val="100000"/>
              </a:lnSpc>
              <a:spcAft>
                <a:spcPts val="0"/>
              </a:spcAft>
            </a:pPr>
            <a:r>
              <a:rPr sz="1200" b="0">
                <a:solidFill>
                  <a:srgbClr val="E6E6E6"/>
                </a:solidFill>
                <a:latin typeface="Consolas"/>
                <a:ea typeface="Consolas"/>
              </a:rPr>
              <a:t>SQL&gt; ALTER SYSTEM SET DB_CREATE_FILE_DEST=</a:t>
            </a:r>
          </a:p>
          <a:p>
            <a:pPr>
              <a:lnSpc>
                <a:spcPct val="100000"/>
              </a:lnSpc>
              <a:spcAft>
                <a:spcPts val="0"/>
              </a:spcAft>
            </a:pPr>
            <a:r>
              <a:rPr sz="1200" b="0">
                <a:solidFill>
                  <a:srgbClr val="E6E6E6"/>
                </a:solidFill>
                <a:latin typeface="Consolas"/>
                <a:ea typeface="Consolas"/>
              </a:rPr>
              <a:t>  2    '/u01/app/oradata/CDB1/pdb1';</a:t>
            </a:r>
          </a:p>
          <a:p>
            <a:pPr>
              <a:lnSpc>
                <a:spcPct val="100000"/>
              </a:lnSpc>
              <a:spcAft>
                <a:spcPts val="0"/>
              </a:spcAft>
            </a:pPr>
            <a:r>
              <a:rPr sz="1200" b="0">
                <a:solidFill>
                  <a:srgbClr val="E6E6E6"/>
                </a:solidFill>
                <a:latin typeface="Consolas"/>
                <a:ea typeface="Consolas"/>
              </a:rPr>
              <a:t>System altered.</a:t>
            </a:r>
          </a:p>
          <a:p>
            <a:pPr>
              <a:lnSpc>
                <a:spcPct val="100000"/>
              </a:lnSpc>
              <a:spcAft>
                <a:spcPts val="0"/>
              </a:spcAft>
            </a:pPr>
            <a:r>
              <a:rPr sz="1200" b="0">
                <a:solidFill>
                  <a:srgbClr val="E6E6E6"/>
                </a:solidFill>
                <a:latin typeface="Consolas"/>
                <a:ea typeface="Consolas"/>
              </a:rPr>
              <a:t> </a:t>
            </a:r>
          </a:p>
          <a:p>
            <a:pPr>
              <a:lnSpc>
                <a:spcPct val="100000"/>
              </a:lnSpc>
              <a:spcAft>
                <a:spcPts val="0"/>
              </a:spcAft>
            </a:pPr>
            <a:r>
              <a:rPr sz="1200" b="0">
                <a:solidFill>
                  <a:srgbClr val="7EC699"/>
                </a:solidFill>
                <a:latin typeface="Consolas"/>
                <a:ea typeface="Consolas"/>
              </a:rPr>
              <a:t>-- FILE_NAME_CONVERT 없이 간결하게</a:t>
            </a:r>
          </a:p>
          <a:p>
            <a:pPr>
              <a:lnSpc>
                <a:spcPct val="100000"/>
              </a:lnSpc>
              <a:spcAft>
                <a:spcPts val="0"/>
              </a:spcAft>
            </a:pPr>
            <a:r>
              <a:rPr sz="1200" b="0">
                <a:solidFill>
                  <a:srgbClr val="E6E6E6"/>
                </a:solidFill>
                <a:latin typeface="Consolas"/>
                <a:ea typeface="Consolas"/>
              </a:rPr>
              <a:t>SQL&gt; CREATE PLUGGABLE DATABASE pdb1</a:t>
            </a:r>
          </a:p>
          <a:p>
            <a:pPr>
              <a:lnSpc>
                <a:spcPct val="100000"/>
              </a:lnSpc>
              <a:spcAft>
                <a:spcPts val="0"/>
              </a:spcAft>
            </a:pPr>
            <a:r>
              <a:rPr sz="1200" b="0">
                <a:solidFill>
                  <a:srgbClr val="E6E6E6"/>
                </a:solidFill>
                <a:latin typeface="Consolas"/>
                <a:ea typeface="Consolas"/>
              </a:rPr>
              <a:t>  2    ADMIN USER pdb1_admin IDENTIFIED BY p1</a:t>
            </a:r>
          </a:p>
          <a:p>
            <a:pPr>
              <a:lnSpc>
                <a:spcPct val="100000"/>
              </a:lnSpc>
              <a:spcAft>
                <a:spcPts val="0"/>
              </a:spcAft>
            </a:pPr>
            <a:r>
              <a:rPr sz="1200" b="0">
                <a:solidFill>
                  <a:srgbClr val="E6E6E6"/>
                </a:solidFill>
                <a:latin typeface="Consolas"/>
                <a:ea typeface="Consolas"/>
              </a:rPr>
              <a:t>  3    ROLES=(CONNECT);</a:t>
            </a:r>
          </a:p>
          <a:p>
            <a:pPr>
              <a:lnSpc>
                <a:spcPct val="100000"/>
              </a:lnSpc>
              <a:spcAft>
                <a:spcPts val="0"/>
              </a:spcAft>
            </a:pPr>
            <a:r>
              <a:rPr sz="1200" b="0">
                <a:solidFill>
                  <a:srgbClr val="E6E6E6"/>
                </a:solidFill>
                <a:latin typeface="Consolas"/>
                <a:ea typeface="Consolas"/>
              </a:rPr>
              <a:t>Pluggable database created.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OMF 파일명 규칙과 ASM</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DB별·PDB별 하위 디렉터리 아래 ‘o1_mf_...’ 고유 파일명</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이름 충돌·덮어쓰기 원천 차단</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테이블스페이스 삭제 시 OMF 파일 OS에서 자동 삭제(고아 파일↓)</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ASM 스토리지 → OMF가 사실상 표준(경로를 사람이 지정 부적절)</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DB_CREATE_FILE_DEST는 컨테이너 범위 전체에 영향</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PDB별 다른 위치 → 생성 직전 값 변경 또는 CREATE_FILE_DEST 절</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PDB_FILE_NAME_CONVERT 이용</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인스턴스 수준 치환 규칙</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원본 파일명 유지</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SCOPE와 우선순위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PDB_FILE_NAME_CONVERT로 생성</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인스턴스 파라미터로 치환 규칙 설정 후 절 없이 생성</a:t>
            </a:r>
          </a:p>
        </p:txBody>
      </p:sp>
      <p:sp>
        <p:nvSpPr>
          <p:cNvPr id="5" name="Rectangle 4"/>
          <p:cNvSpPr/>
          <p:nvPr/>
        </p:nvSpPr>
        <p:spPr>
          <a:xfrm>
            <a:off x="640080" y="1691640"/>
            <a:ext cx="10881360" cy="283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0000"/>
            <a:ext cx="10515600" cy="2670000"/>
          </a:xfrm>
          <a:prstGeom prst="rect">
            <a:avLst/>
          </a:prstGeom>
          <a:noFill/>
        </p:spPr>
        <p:txBody>
          <a:bodyPr wrap="square">
            <a:spAutoFit/>
          </a:bodyPr>
          <a:lstStyle/>
          <a:p>
            <a:pPr>
              <a:lnSpc>
                <a:spcPct val="100000"/>
              </a:lnSpc>
              <a:spcAft>
                <a:spcPts val="0"/>
              </a:spcAft>
            </a:pPr>
            <a:r>
              <a:rPr sz="1200" b="0">
                <a:solidFill>
                  <a:srgbClr val="E6E6E6"/>
                </a:solidFill>
                <a:latin typeface="Consolas"/>
                <a:ea typeface="Consolas"/>
              </a:rPr>
              <a:t>SQL&gt; CONNECT / AS SYSDBA</a:t>
            </a:r>
          </a:p>
          <a:p>
            <a:pPr>
              <a:lnSpc>
                <a:spcPct val="100000"/>
              </a:lnSpc>
              <a:spcAft>
                <a:spcPts val="0"/>
              </a:spcAft>
            </a:pPr>
            <a:r>
              <a:rPr sz="1200" b="0">
                <a:solidFill>
                  <a:srgbClr val="7EC699"/>
                </a:solidFill>
                <a:latin typeface="Consolas"/>
                <a:ea typeface="Consolas"/>
              </a:rPr>
              <a:t>-- 시드 경로 -&gt; 새 PDB 경로 치환 규칙</a:t>
            </a:r>
          </a:p>
          <a:p>
            <a:pPr>
              <a:lnSpc>
                <a:spcPct val="100000"/>
              </a:lnSpc>
              <a:spcAft>
                <a:spcPts val="0"/>
              </a:spcAft>
            </a:pPr>
            <a:r>
              <a:rPr sz="1200" b="0">
                <a:solidFill>
                  <a:srgbClr val="E6E6E6"/>
                </a:solidFill>
                <a:latin typeface="Consolas"/>
                <a:ea typeface="Consolas"/>
              </a:rPr>
              <a:t>SQL&gt; ALTER SYSTEM SET PDB_FILE_NAME_CONVERT=</a:t>
            </a:r>
          </a:p>
          <a:p>
            <a:pPr>
              <a:lnSpc>
                <a:spcPct val="100000"/>
              </a:lnSpc>
              <a:spcAft>
                <a:spcPts val="0"/>
              </a:spcAft>
            </a:pPr>
            <a:r>
              <a:rPr sz="1200" b="0">
                <a:solidFill>
                  <a:srgbClr val="E6E6E6"/>
                </a:solidFill>
                <a:latin typeface="Consolas"/>
                <a:ea typeface="Consolas"/>
              </a:rPr>
              <a:t>  2    '/u01/app/oradata/CDB1/pdbseed',</a:t>
            </a:r>
          </a:p>
          <a:p>
            <a:pPr>
              <a:lnSpc>
                <a:spcPct val="100000"/>
              </a:lnSpc>
              <a:spcAft>
                <a:spcPts val="0"/>
              </a:spcAft>
            </a:pPr>
            <a:r>
              <a:rPr sz="1200" b="0">
                <a:solidFill>
                  <a:srgbClr val="E6E6E6"/>
                </a:solidFill>
                <a:latin typeface="Consolas"/>
                <a:ea typeface="Consolas"/>
              </a:rPr>
              <a:t>  3    '/u01/app/oradata/CDB1/pdb1';</a:t>
            </a:r>
          </a:p>
          <a:p>
            <a:pPr>
              <a:lnSpc>
                <a:spcPct val="100000"/>
              </a:lnSpc>
              <a:spcAft>
                <a:spcPts val="0"/>
              </a:spcAft>
            </a:pPr>
            <a:r>
              <a:rPr sz="1200" b="0">
                <a:solidFill>
                  <a:srgbClr val="E6E6E6"/>
                </a:solidFill>
                <a:latin typeface="Consolas"/>
                <a:ea typeface="Consolas"/>
              </a:rPr>
              <a:t>System altered.</a:t>
            </a:r>
          </a:p>
          <a:p>
            <a:pPr>
              <a:lnSpc>
                <a:spcPct val="100000"/>
              </a:lnSpc>
              <a:spcAft>
                <a:spcPts val="0"/>
              </a:spcAft>
            </a:pPr>
            <a:r>
              <a:rPr sz="1200" b="0">
                <a:solidFill>
                  <a:srgbClr val="E6E6E6"/>
                </a:solidFill>
                <a:latin typeface="Consolas"/>
                <a:ea typeface="Consolas"/>
              </a:rPr>
              <a:t> </a:t>
            </a:r>
          </a:p>
          <a:p>
            <a:pPr>
              <a:lnSpc>
                <a:spcPct val="100000"/>
              </a:lnSpc>
              <a:spcAft>
                <a:spcPts val="0"/>
              </a:spcAft>
            </a:pPr>
            <a:r>
              <a:rPr sz="1200" b="0">
                <a:solidFill>
                  <a:srgbClr val="E6E6E6"/>
                </a:solidFill>
                <a:latin typeface="Consolas"/>
                <a:ea typeface="Consolas"/>
              </a:rPr>
              <a:t>SQL&gt; CREATE PLUGGABLE DATABASE pdb1</a:t>
            </a:r>
          </a:p>
          <a:p>
            <a:pPr>
              <a:lnSpc>
                <a:spcPct val="100000"/>
              </a:lnSpc>
              <a:spcAft>
                <a:spcPts val="0"/>
              </a:spcAft>
            </a:pPr>
            <a:r>
              <a:rPr sz="1200" b="0">
                <a:solidFill>
                  <a:srgbClr val="E6E6E6"/>
                </a:solidFill>
                <a:latin typeface="Consolas"/>
                <a:ea typeface="Consolas"/>
              </a:rPr>
              <a:t>  2    ADMIN USER pdb1_admin IDENTIFIED BY p1</a:t>
            </a:r>
          </a:p>
          <a:p>
            <a:pPr>
              <a:lnSpc>
                <a:spcPct val="100000"/>
              </a:lnSpc>
              <a:spcAft>
                <a:spcPts val="0"/>
              </a:spcAft>
            </a:pPr>
            <a:r>
              <a:rPr sz="1200" b="0">
                <a:solidFill>
                  <a:srgbClr val="E6E6E6"/>
                </a:solidFill>
                <a:latin typeface="Consolas"/>
                <a:ea typeface="Consolas"/>
              </a:rPr>
              <a:t>  3    ROLES=(CONNECT);</a:t>
            </a:r>
          </a:p>
          <a:p>
            <a:pPr>
              <a:lnSpc>
                <a:spcPct val="100000"/>
              </a:lnSpc>
              <a:spcAft>
                <a:spcPts val="0"/>
              </a:spcAft>
            </a:pPr>
            <a:r>
              <a:rPr sz="1200" b="0">
                <a:solidFill>
                  <a:srgbClr val="E6E6E6"/>
                </a:solidFill>
                <a:latin typeface="Consolas"/>
                <a:ea typeface="Consolas"/>
              </a:rPr>
              <a:t>Pluggable database created.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SCOPE와 절-파라미터 우선순위</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SCOPE=MEMORY — 현재 인스턴스만, 재시작 시 사라짐</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SCOPE=SPFILE — 재시작 후 적용</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SCOPE=BOTH(기본) — 즉시 적용 + SPFILE 저장</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일회성이면 MEMORY, 표준화면 BOTH</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설정된 동안 만들어지는 모든 PDB에 영향</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FILE_NAME_CONVERT 절이 있으면 파라미터보다 우선</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14.9</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CREATE_FILE_DEST 절 사용</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OMF 편의 + 문장 국소 적용</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전역 설정 불변경</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PDB별 위치 지정에 최적</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CREATE_FILE_DEST 절로 생성</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이 문장에 한해 OMF 대상 디렉터리 지정</a:t>
            </a:r>
          </a:p>
        </p:txBody>
      </p:sp>
      <p:sp>
        <p:nvSpPr>
          <p:cNvPr id="5" name="Rectangle 4"/>
          <p:cNvSpPr/>
          <p:nvPr/>
        </p:nvSpPr>
        <p:spPr>
          <a:xfrm>
            <a:off x="640080" y="1691640"/>
            <a:ext cx="10881360" cy="237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0000"/>
            <a:ext cx="10515600" cy="2210000"/>
          </a:xfrm>
          <a:prstGeom prst="rect">
            <a:avLst/>
          </a:prstGeom>
          <a:noFill/>
        </p:spPr>
        <p:txBody>
          <a:bodyPr wrap="square">
            <a:spAutoFit/>
          </a:bodyPr>
          <a:lstStyle/>
          <a:p>
            <a:pPr>
              <a:lnSpc>
                <a:spcPct val="100000"/>
              </a:lnSpc>
              <a:spcAft>
                <a:spcPts val="0"/>
              </a:spcAft>
            </a:pPr>
            <a:r>
              <a:rPr sz="1200" b="0">
                <a:solidFill>
                  <a:srgbClr val="E6E6E6"/>
                </a:solidFill>
                <a:latin typeface="Consolas"/>
                <a:ea typeface="Consolas"/>
              </a:rPr>
              <a:t>SQL&gt; CONNECT / AS SYSDBA</a:t>
            </a:r>
          </a:p>
          <a:p>
            <a:pPr>
              <a:lnSpc>
                <a:spcPct val="100000"/>
              </a:lnSpc>
              <a:spcAft>
                <a:spcPts val="0"/>
              </a:spcAft>
            </a:pPr>
            <a:r>
              <a:rPr sz="1200" b="0">
                <a:solidFill>
                  <a:srgbClr val="E6E6E6"/>
                </a:solidFill>
                <a:latin typeface="Consolas"/>
                <a:ea typeface="Consolas"/>
              </a:rPr>
              <a:t> </a:t>
            </a:r>
          </a:p>
          <a:p>
            <a:pPr>
              <a:lnSpc>
                <a:spcPct val="100000"/>
              </a:lnSpc>
              <a:spcAft>
                <a:spcPts val="0"/>
              </a:spcAft>
            </a:pPr>
            <a:r>
              <a:rPr sz="1200" b="0">
                <a:solidFill>
                  <a:srgbClr val="E6E6E6"/>
                </a:solidFill>
                <a:latin typeface="Consolas"/>
                <a:ea typeface="Consolas"/>
              </a:rPr>
              <a:t>SQL&gt; CREATE PLUGGABLE DATABASE pdb1</a:t>
            </a:r>
          </a:p>
          <a:p>
            <a:pPr>
              <a:lnSpc>
                <a:spcPct val="100000"/>
              </a:lnSpc>
              <a:spcAft>
                <a:spcPts val="0"/>
              </a:spcAft>
            </a:pPr>
            <a:r>
              <a:rPr sz="1200" b="0">
                <a:solidFill>
                  <a:srgbClr val="E6E6E6"/>
                </a:solidFill>
                <a:latin typeface="Consolas"/>
                <a:ea typeface="Consolas"/>
              </a:rPr>
              <a:t>  2    ADMIN USER pdb1_admin IDENTIFIED BY p1</a:t>
            </a:r>
          </a:p>
          <a:p>
            <a:pPr>
              <a:lnSpc>
                <a:spcPct val="100000"/>
              </a:lnSpc>
              <a:spcAft>
                <a:spcPts val="0"/>
              </a:spcAft>
            </a:pPr>
            <a:r>
              <a:rPr sz="1200" b="0">
                <a:solidFill>
                  <a:srgbClr val="E6E6E6"/>
                </a:solidFill>
                <a:latin typeface="Consolas"/>
                <a:ea typeface="Consolas"/>
              </a:rPr>
              <a:t>  3    ROLES=(CONNECT)</a:t>
            </a:r>
          </a:p>
          <a:p>
            <a:pPr>
              <a:lnSpc>
                <a:spcPct val="100000"/>
              </a:lnSpc>
              <a:spcAft>
                <a:spcPts val="0"/>
              </a:spcAft>
            </a:pPr>
            <a:r>
              <a:rPr sz="1200" b="0">
                <a:solidFill>
                  <a:srgbClr val="E6E6E6"/>
                </a:solidFill>
                <a:latin typeface="Consolas"/>
                <a:ea typeface="Consolas"/>
              </a:rPr>
              <a:t>  4    CREATE_FILE_DEST=</a:t>
            </a:r>
          </a:p>
          <a:p>
            <a:pPr>
              <a:lnSpc>
                <a:spcPct val="100000"/>
              </a:lnSpc>
              <a:spcAft>
                <a:spcPts val="0"/>
              </a:spcAft>
            </a:pPr>
            <a:r>
              <a:rPr sz="1200" b="0">
                <a:solidFill>
                  <a:srgbClr val="E6E6E6"/>
                </a:solidFill>
                <a:latin typeface="Consolas"/>
                <a:ea typeface="Consolas"/>
              </a:rPr>
              <a:t>  5      '/u01/app/oradata/CDB1/pdb1';</a:t>
            </a:r>
          </a:p>
          <a:p>
            <a:pPr>
              <a:lnSpc>
                <a:spcPct val="100000"/>
              </a:lnSpc>
              <a:spcAft>
                <a:spcPts val="0"/>
              </a:spcAft>
            </a:pPr>
            <a:r>
              <a:rPr sz="1200" b="0">
                <a:solidFill>
                  <a:srgbClr val="E6E6E6"/>
                </a:solidFill>
                <a:latin typeface="Consolas"/>
                <a:ea typeface="Consolas"/>
              </a:rPr>
              <a:t> </a:t>
            </a:r>
          </a:p>
          <a:p>
            <a:pPr>
              <a:lnSpc>
                <a:spcPct val="100000"/>
              </a:lnSpc>
              <a:spcAft>
                <a:spcPts val="0"/>
              </a:spcAft>
            </a:pPr>
            <a:r>
              <a:rPr sz="1200" b="0">
                <a:solidFill>
                  <a:srgbClr val="E6E6E6"/>
                </a:solidFill>
                <a:latin typeface="Consolas"/>
                <a:ea typeface="Consolas"/>
              </a:rPr>
              <a:t>Pluggable database created.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14.10</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세 가지 파일 위치 지정 방식 비교</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네 방식의 범위·파일명</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우선순위 흐름</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흔한 실수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네 방식 비교</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FILE_NAME_CONVERT 절 — 문장 범위, 원본명 유지, 명시적 통제(소수 PDB)</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OMF(DB_CREATE_FILE_DEST) — 전역, 자동 파일명, 대량·ASM에 최적</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PDB_FILE_NAME_CONVERT — 전역(SPFILE), 원본명 유지, 경로 규칙 표준화</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CREATE_FILE_DEST 절 — 문장 범위, 자동 파일명(OMF), 유연성 최상</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우선순위: 문장 절 &gt; 인스턴스 파라미터</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각 단계: OMF형 &gt; 치환형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우선순위 흐름과 흔한 실수</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① 문장에 CREATE_FILE_DEST? → OMF 생성</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② 아니면 FILE_NAME_CONVERT 절? → 치환</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③ 아니면 DB_CREATE_FILE_DEST? → OMF 생성</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④ 아니면 PDB_FILE_NAME_CONVERT? → 치환 / 모두 없으면 오류</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실수1: 대상 디렉터리 미생성 → 파일 오류</a:t>
            </a:r>
          </a:p>
          <a:p>
            <a:pPr>
              <a:lnSpc>
                <a:spcPct val="115000"/>
              </a:lnSpc>
              <a:spcAft>
                <a:spcPts val="1000"/>
              </a:spcAft>
            </a:pPr>
            <a:r>
              <a:rPr sz="1800" b="0">
                <a:solidFill>
                  <a:srgbClr val="C0392B"/>
                </a:solidFill>
                <a:latin typeface="Malgun Gothic"/>
                <a:ea typeface="Malgun Gothic"/>
              </a:rPr>
              <a:t>•  </a:t>
            </a:r>
            <a:r>
              <a:rPr sz="1800" b="0">
                <a:solidFill>
                  <a:srgbClr val="202830"/>
                </a:solidFill>
                <a:latin typeface="Malgun Gothic"/>
                <a:ea typeface="Malgun Gothic"/>
              </a:rPr>
              <a:t>실수2: 원본 경로 문자열 불일치 → 치환 안 됨 / 실수3: 방식 혼용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Quiz</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확인 학습</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핵심 개념 점검</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6개 문항</a:t>
            </a:r>
          </a:p>
          <a:p>
            <a:pPr>
              <a:lnSpc>
                <a:spcPct val="115000"/>
              </a:lnSpc>
              <a:spcAft>
                <a:spcPts val="800"/>
              </a:spcAft>
            </a:pPr>
            <a:r>
              <a:rPr sz="1600" b="0">
                <a:solidFill>
                  <a:srgbClr val="C5CED6"/>
                </a:solidFill>
                <a:latin typeface="Malgun Gothic"/>
                <a:ea typeface="Malgun Gothic"/>
              </a:rPr>
              <a:t>•  </a:t>
            </a:r>
            <a:r>
              <a:rPr sz="1600" b="0">
                <a:solidFill>
                  <a:srgbClr val="C5CED6"/>
                </a:solidFill>
                <a:latin typeface="Malgun Gothic"/>
                <a:ea typeface="Malgun Gothic"/>
              </a:rPr>
              <a:t>정답은 실습문제 정답지 참조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확인 학습 (1/2)</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Q1. PDB 프로비저닝 6가지 방법과 ‘시드 생성’의 특징은?</a:t>
            </a:r>
          </a:p>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Q2. 시드 생성 시 자동 생성되는 세 테이블스페이스는?</a:t>
            </a:r>
          </a:p>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Q3. ADMIN USER로 만든 PDBA가 생성 직후 접속만 가능한 이유는?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확인 학습 (2/2)</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Q4. CDB_PDBS.STATUS가 NEW다. NORMAL로 바꾸려면?</a:t>
            </a:r>
          </a:p>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Q5. OMF(DB_CREATE_FILE_DEST)와 FILE_NAME_CONVERT 절의 차이는?</a:t>
            </a:r>
          </a:p>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Q6. 전역 설정을 안 바꾸고 이번 PDB만 특정 디렉터리에 OMF로 두려면?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요약 (Summary)</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PDB 프로비저닝: 시드 생성·플러그·non-CDB 플러그·복제·재배치·프록시(6가지)</a:t>
            </a:r>
          </a:p>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시드 생성 → SYSTEM·SYSAUX·UNDO, 전체 카탈로그, 공통 사용자, 로컬 PDBA, 기본 서비스</a:t>
            </a:r>
          </a:p>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PDBA의 PDB_DBA 롤은 SYS가 권한을 채우기 전까지 비어 있음</a:t>
            </a:r>
          </a:p>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생성 직후 STATUS=NEW·MOUNTED → 처음 OPEN → NORMAL</a:t>
            </a:r>
          </a:p>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CDB_PDBS·CDB_TABLESPACES·CDB_DATA_FILES로 검증</a:t>
            </a:r>
          </a:p>
          <a:p>
            <a:pPr>
              <a:lnSpc>
                <a:spcPct val="115000"/>
              </a:lnSpc>
              <a:spcAft>
                <a:spcPts val="1000"/>
              </a:spcAft>
            </a:pPr>
            <a:r>
              <a:rPr sz="1600" b="0">
                <a:solidFill>
                  <a:srgbClr val="C0392B"/>
                </a:solidFill>
                <a:latin typeface="Malgun Gothic"/>
                <a:ea typeface="Malgun Gothic"/>
              </a:rPr>
              <a:t>•  </a:t>
            </a:r>
            <a:r>
              <a:rPr sz="1600" b="0">
                <a:solidFill>
                  <a:srgbClr val="202830"/>
                </a:solidFill>
                <a:latin typeface="Malgun Gothic"/>
                <a:ea typeface="Malgun Gothic"/>
              </a:rPr>
              <a:t>파일 위치: FILE_NAME_CONVERT·OMF·PDB_FILE_NAME_CONVERT·CREATE_FILE_DEST(문장&gt;인스턴스)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실습 개요 (Practice Overview)</a:t>
            </a:r>
          </a:p>
        </p:txBody>
      </p:sp>
      <p:sp>
        <p:nvSpPr>
          <p:cNvPr id="4" name="TextBox 3"/>
          <p:cNvSpPr txBox="1"/>
          <p:nvPr/>
        </p:nvSpPr>
        <p:spPr>
          <a:xfrm>
            <a:off x="640080" y="1280160"/>
            <a:ext cx="10881360" cy="5394960"/>
          </a:xfrm>
          <a:prstGeom prst="rect">
            <a:avLst/>
          </a:prstGeom>
          <a:noFill/>
        </p:spPr>
        <p:txBody>
          <a:bodyPr wrap="square">
            <a:spAutoFit/>
          </a:bodyPr>
          <a:lstStyle/>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실습 01 — FILE_NAME_CONVERT 절로 PDB$SEED에서 새 PDB 생성</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실습 02 — 생성된 PDB 상태(NEW→NORMAL) 확인 및 OPEN</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실습 03 — OMF(DB_CREATE_FILE_DEST)를 이용한 PDB 생성</a:t>
            </a:r>
          </a:p>
          <a:p>
            <a:pPr>
              <a:lnSpc>
                <a:spcPct val="115000"/>
              </a:lnSpc>
              <a:spcAft>
                <a:spcPts val="1000"/>
              </a:spcAft>
            </a:pPr>
            <a:r>
              <a:rPr sz="1700" b="0">
                <a:solidFill>
                  <a:srgbClr val="C0392B"/>
                </a:solidFill>
                <a:latin typeface="Malgun Gothic"/>
                <a:ea typeface="Malgun Gothic"/>
              </a:rPr>
              <a:t>•  </a:t>
            </a:r>
            <a:r>
              <a:rPr sz="1700" b="0">
                <a:solidFill>
                  <a:srgbClr val="202830"/>
                </a:solidFill>
                <a:latin typeface="Malgun Gothic"/>
                <a:ea typeface="Malgun Gothic"/>
              </a:rPr>
              <a:t>실습 04 — PDB_FILE_NAME_CONVERT 파라미터를 이용한 PDB 생성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
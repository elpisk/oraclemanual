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사용자 계정은 데이터베이스에 접속하여 작업을 수행하는 이름 있는 주체이며, 인증(누구인가)과 인가(무엇을 할 수 있는가)의 기준점입니다. Oracle에서 사용자를 생성하면 같은 이름의 스키마가 자동으로 만들어집니다. 스키마란 그 사용자가 소유하는 테이블·뷰·인덱스·프로시저 같은 객체의 논리적 집합이자 이름 공간입니다. 예를 들어 HR 사용자를 만들면 HR 스키마가 생기고, HR이 만든 테이블은 HR.EMPLOYEES라는 완전한 이름을 가집니다. 따라서 사용자와 스키마는 1:1로 대응하며, 개념적으로 사용자는 접속하는 주체, 스키마는 그 주체가 소유한 객체의 컬렉션이라는 점을 구분해 두면 뒤에 나올 스키마 전용 계정을 이해하기 쉽습니다.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접속은 사용자 프로세스와 인스턴스 사이의 물리적 통신 경로이고, 세션은 특정 사용자로 인증되어 로그인한 논리적 작업 단위입니다. 하나의 사용자가 여러 세션을 동시에 열 수 있으며, 현재 열린 세션은 V$SESSION 뷰의 USERNAME 컬럼으로 조회합니다. 사용자 계정 정보는 데이터 딕셔너리 뷰로 확인하는데, 가장 많이 쓰는 DBA_USERS는 계정 이름·상태·기본/임시 테이블스페이스·프로파일·인증 유형·생성일·공통 여부(COMMON)를 한 번에 보여 줍니다. 멀티테넌트에서 컨테이너 구분과 함께 전역 사용자를 보려면 CDB_USERS를 CON_ID와 함께 조회하고, 현재 사용자 관점의 축약 정보는 USER_USERS·ALL_USERS로 확인합니다. DBA는 이 뷰들로 유휴 계정 탐지와 인증 방식 감사를 수행합니다.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데이터베이스를 생성하면 Oracle은 미리 정의된 관리자 계정을 함께 만듭니다. 가장 핵심은 SYS와 SYSTEM입니다. SYS는 데이터 딕셔너리 전체를 소유하는 최상위 계정으로, 모든 기본 테이블과 뷰가 SYS 스키마에 저장되며 반드시 AS SYSDBA 또는 AS SYSOPER로 접속해 데이터베이스 생성·기동·종료·복구 같은 최고 수준 작업에 사용합니다. SYSTEM은 부가 관리 정보를 담아 일상 DBA 작업에 쓰지만 SYS 딕셔너리를 직접 건드리지는 않습니다. 이 외에도 DBSNMP·AUDSYS·XDB·GSMADMIN_INTERNAL 같은 내부 스키마가 자동 생성되며 대부분 설치 직후 만료·잠금 상태로 배포됩니다. SYS로 일상 작업을 하면 감사 추적이 어렵고 실수의 파급이 크므로, 별도의 명명 DBA 계정에 필요한 권한만 부여하는 것이 모범 사례입니다.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SYS 계정 하나에 모든 권한을 몰아 주는 대신, Oracle은 목적별로 세분화된 관리 권한을 제공합니다. SYSDBA는 최고 관리 권한이고, SYSOPER는 기동·종료 같은 운영 작업에 한정된 권한입니다. 여기에 더해 백업/복구 전용 SYSBACKUP, Data Guard 전용 SYSDG, 암호화 키 관리 전용 SYSKM, RAC 관리 전용 SYSRAC가 있습니다. 이들은 최소 권한 원칙을 구현하기 위한 것으로, 예를 들어 백업 담당자에게 SYSDBA 전체 권한 대신 SYSBACKUP만 부여하면 그 사람은 백업·복구는 할 수 있지만 사용자 데이터를 조회하거나 스키마를 변경할 수는 없습니다. 이런 관리 권한은 데이터 딕셔너리가 아니라 비밀번호 파일이나 OS 그룹 멤버십으로 인증되며, 어떤 계정이 어떤 관리 권한을 가졌는지는 V$PWFILE_USERS 뷰로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화면은 Oracle이 자동 생성한 계정과 그 상태를 조회하는 예입니다. DBA_USERS의 ORACLE_MAINTAINED 컬럼이 Y이면 그 계정은 오라클이 유지관리하는 내부 계정으로, 사용자가 함부로 수정하지 않아야 합니다. 결과를 보면 SYS와 SYSTEM은 OPEN 상태로 열려 있지만, XDB·DBSNMP·AUDSYS 같은 내부 스키마는 EXPIRED &amp; LOCKED 상태로 비활성화되어 있습니다. 이는 해당 기능을 실제로 사용할 때만 선별적으로 열어야 한다는 보안 원칙을 보여 줍니다. 두 번째 쿼리의 V$PWFILE_USERS는 비밀번호 파일에 등록되어 SYSDBA·SYSOPER·SYSBACKUP 같은 관리 권한을 부여받은 계정을 보여 주며, 관리 권한 부여 현황을 감사할 때 유용합니다.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멀티테넌트 아키텍처에서는 하나의 CDB가 루트 컨테이너와 여러 PDB로 구성되므로 사용자도 두 종류로 나뉩니다. 공통 사용자는 CDB 루트에서 생성되며, 루트뿐 아니라 현재와 미래의 모든 PDB에 동일한 정체성으로 존재합니다. 즉 하나의 계정 이름과 하나의 비밀번호가 CDB 전체에서 유효하며, 주로 여러 PDB를 넘나드는 관리·운영 계정으로 씁니다. SYS와 SYSTEM도 오라클이 제공하는 공통 사용자입니다. 반면 로컬 사용자는 특정 PDB 안에서만 생성·존재하며 그 PDB에 국한된 애플리케이션 스키마나 업무 사용자로 사용합니다. 서로 다른 PDB에 같은 이름의 로컬 사용자를 각각 만들 수 있는데, 이들은 이름만 같을 뿐 완전히 독립적인 별개의 계정이어서, 하나의 CDB 안에서 여러 부서나 고객사를 안전하게 격리 수용할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혼동을 막기 위해 Oracle은 사용자가 직접 만드는 공통 사용자의 이름에 규칙을 강제합니다. DBA가 생성하는 공통 사용자의 이름은 반드시 C## 또는 c##로 시작해야 하며, 예를 들어 C##DBADMIN처럼 짓습니다. 이 접두사 덕분에 계정 이름만 보고도 CDB 전역의 공통 사용자임을 알 수 있습니다. 단 SYS·SYSTEM 같은 오라클 제공 공통 사용자는 예외로 접두사가 없고, 반대로 로컬 사용자에는 C##를 쓸 수 없습니다. 공통 사용자 생성에는 제약이 따르는데, 기본·임시 테이블스페이스로 지정하는 대상은 모든 컨테이너에 동일한 이름으로 존재해야 합니다. 그래서 실무에서는 모든 컨테이너에 공통으로 있는 USERS·TEMP를 기본값으로 씁니다. 또한 공통 사용자의 생성·삭제·비밀번호 변경은 오직 루트에서만 가능해, 그 정체성이 CDB 전역에서 항상 일관되게 유지됩니다.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공통 사용자가 모든 PDB에 존재한다고 해서 모든 PDB에서 무엇이든 할 수 있는 것은 아닙니다. 계정이 존재하는 것과 권한을 가지는 것은 별개이기 때문입니다. 공통 사용자에게 권한을 부여할 때 CONTAINER=ALL로 주면 현재와 미래의 모든 컨테이너에서 그 권한이 적용되고, CONTAINER=CURRENT로 주면 현재 접속한 컨테이너에서만 적용됩니다. CREATE USER 문에서 CONTAINER 절은 루트에서 실행하면 ALL이 기본값이라 공통 사용자가 되고, PDB 안에서 실행하면 CURRENT가 기본값이라 로컬 사용자가 됩니다. 따라서 어떤 컨테이너에 접속해 명령을 실행하는지가 공통/로컬 여부를 결정하는 핵심 요소입니다. 이 CONTAINER 개념은 22장의 권한·롤 부여에서도 똑같이 적용되므로 여기서 확실히 이해해 두는 것이 좋습니다.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화면은 공통 사용자와 로컬 사용자를 각각 생성하는 과정을 보여 줍니다. 먼저 루트(cdb1)에서 C##DBADMIN을 CONTAINER=ALL로 만들면 모든 PDB에 존재하는 공통 사용자가 됩니다. 두 번째 명령에서는 공통 사용자를 만들려 하면서 C## 접두사를 빠뜨려 ORA-65096 오류가 발생합니다. 이는 공통 사용자 이름이 반드시 C##로 시작해야 한다는 규칙을 위반했기 때문이며, 이름을 C##DBADMIN처럼 고쳐 다시 실행하면 해결됩니다. 마지막으로 ALTER SESSION SET CONTAINER로 SALESPDB로 전환한 뒤 CREATE USER를 실행하면, PDB 안에서는 CONTAINER의 기본값이 CURRENT이므로 APP_USER가 그 PDB의 로컬 사용자로 생성됩니다. 이렇게 어느 컨테이너에서 명령을 실행하는지에 따라 공통/로컬이 결정되는 것을 실습에서 직접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사용자 계정은 CREATE USER 문으로 생성하며, 이 문을 실행하려면 CREATE USER 시스템 권한이 필요합니다. IDENTIFIED 절은 인증 방식을 결정하는데, BY 비밀번호는 비밀번호 인증, EXTERNALLY는 OS 인증, GLOBALLY는 전역 인증, NO AUTHENTICATION은 로그인이 불가능한 스키마 전용 계정을 만듭니다. DEFAULT TABLESPACE는 객체를 만들 때 테이블스페이스를 명시하지 않으면 사용될 기본 위치이고, TEMPORARY TABLESPACE는 정렬·해시에 쓰는 임시 세그먼트의 저장 위치입니다. QUOTA는 특정 테이블스페이스의 공간 상한, PROFILE은 자원·비밀번호 정책 묶음, ACCOUNT LOCK/UNLOCK은 계정의 잠금 상태를 지정합니다. 지정하지 않은 절은 데이터베이스 기본값을 따르지만, QUOTA를 생략하면 0이 되어 객체를 만들 수 없다는 점에 특히 주의해야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CREATE USER의 각 절을 정리하면 다음과 같습니다. IDENTIFIED BY는 비밀번호 인증을 지정하는 가장 흔한 절입니다. DEFAULT TABLESPACE는 사용자가 CREATE TABLE에서 테이블스페이스를 생략했을 때 객체가 생성되는 곳이며, 미지정 시 데이터베이스 기본 영구 테이블스페이스가 쓰입니다. TEMPORARY TABLESPACE는 정렬·해시 조인·인덱스 생성 등에서 임시 세그먼트가 만들어지는 곳으로, 미지정 시 데이터베이스 기본 임시 테이블스페이스가 적용됩니다. QUOTA는 테이블스페이스별 공간 상한인데, 생략하면 0이 되어 그 테이블스페이스를 전혀 쓸 수 없습니다. PROFILE은 생략 시 DEFAULT가, ACCOUNT는 생략 시 UNLOCK이 적용되고, CONTAINER는 공통/로컬 범위를 결정합니다. 이 절들을 조합해 계정의 인증·저장·정책·상태를 한 번에 정의합니다.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예제는 CREATE USER의 여러 절을 실제로 조합한 모습입니다. 첫 번째는 루트에서 공통 사용자 C##DBADMIN을 만들며, 기본 테이블스페이스 USERS, 임시 테이블스페이스 TEMP, USERS에 대한 무제한 할당량, DEFAULT 프로파일, CONTAINER=ALL을 모두 지정합니다. 두 번째는 SALESPDB 안에서 로컬 사용자 APP_USER를 만들며, APP_DATA를 기본 테이블스페이스로 삼고 그곳에 200MB 할당량을 부여합니다. 여기서 반드시 기억할 점은 마지막 줄입니다. CREATE USER만으로는 사용자가 로그인조차 할 수 없기 때문에, GRANT CREATE SESSION으로 접속 권한을 부여해야 비로소 쓸 수 있는 계정이 됩니다. 실무에서는 이어서 업무에 필요한 최소 권한이나 롤을 추가로 부여하며, 이 권한 부여는 22장에서 자세히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스키마 전용 계정은 Oracle Database 18c에서 도입된 기능으로, 비밀번호·OS·전역 인증 같은 인증 수단을 전혀 갖지 않는 계정입니다. CREATE USER에 NO AUTHENTICATION 절을 지정해 만들며, 이런 계정은 아무도 직접 로그인할 수 없고 DBA_USERS의 AUTHENTICATION_TYPE이 NONE으로 표시됩니다. 로그인도 못 하는 계정을 왜 만드냐면, 목적이 객체를 담는 컨테이너로서의 스키마이기 때문입니다. 많은 애플리케이션이 테이블·프로시저를 담을 스키마를 필요로 하지만 그 스키마로 직접 로그인할 필요는 없습니다. 과거에는 이런 스키마도 비밀번호를 가져야 했고 그 비밀번호가 유출되면 스키마 소유자로 직접 침입당할 위험이 있었는데, 스키마 전용 계정은 로그인 자격 증명 자체를 없애 이 공격 표면을 제거합니다. 필요하면 ALTER USER로 나중에 비밀번호를 부여해 일반 계정으로 전환하거나 되돌릴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화면은 스키마 전용 계정을 만들고 확인하는 과정입니다. NO AUTHENTICATION으로 APP_SCHEMA를 생성하면 인증 수단이 없는 계정이 되고, DBA_USERS의 AUTHENTICATION_TYPE을 조회하면 NONE으로 나타나 아무도 직접 로그인할 수 없음을 확인할 수 있습니다. 이 계정은 APP_DATA 테이블스페이스에 무제한 할당량을 가지므로 객체를 담는 컨테이너 역할을 충분히 합니다. 실제 접속은 개인이나 서비스 계정이 하고, 그들에게 이 스키마 객체에 대한 권한만 부여하면 됩니다. 마지막 줄처럼 유지보수가 필요할 때는 ALTER USER로 임시 비밀번호를 부여해 직접 로그인한 뒤, 작업이 끝나면 다시 NO AUTHENTICATION으로 되돌려 잠글 수 있습니다. 이렇게 스키마 전용 계정은 애플리케이션 스키마의 보안을 크게 강화하는 실무 기법입니다.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인증이란 접속을 시도하는 주체가 정말로 그 계정의 소유자가 맞는지 확인하는 절차입니다. Oracle Database는 여러 인증 방식을 제공하며 계정마다 하나가 설정됩니다. 대표적으로 다섯 가지가 있습니다. 첫째 비밀번호 인증은 딕셔너리에 저장된 검증자와 대조하는 가장 일반적인 방식입니다. 둘째 비밀번호 파일 인증은 데이터베이스가 열리지 않은 상태에서도 SYSDBA 같은 관리 접속을 가능하게 합니다. 셋째 OS 인증은 인증을 운영체제에 위임합니다. 넷째 전역 인증은 LDAP 디렉터리에 자격 증명을 중앙 집중화합니다. 다섯째 프록시 인증은 애플리케이션 서버가 최종 사용자를 대신해 접속하는 방식입니다. 이어지는 슬라이드에서 각 방식을 하나씩 자세히 살펴보겠습니다.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가장 일반적인 방식인 비밀번호 인증은 계정에 비밀번호를 설정하고 접속 시 사용자가 그 비밀번호를 제시하면 Oracle이 데이터 딕셔너리에 저장된 검증자, 즉 비밀번호의 해시와 대조해 인증합니다. 비밀번호 자체는 평문으로 저장되지 않고 해시로만 보관되며, 19c는 SHA-2 기반의 강력한 12C 검증자를 사용합니다. 접속 과정에서도 비밀번호가 네트워크로 평문으로 흐르지 않도록 챌린지-응답 프로토콜로 보호합니다. 19c의 비밀번호는 기본적으로 대소문자를 구분하므로, IDENTIFIED BY에 지정한 대로 정확히 입력해야 인증에 성공합니다. 비밀번호의 복잡도·수명·재사용·잠금 정책은 프로파일과 비밀번호 검증 함수로 강제하는데, 이는 23장에서 다룹니다. 관리자는 DBA_USERS의 AUTHENTICATION_TYPE으로 각 계정의 인증 방식을 감사할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SYSDBA·SYSOPER·SYSBACKUP 같은 관리 권한으로 접속할 때는 특별한 문제가 있습니다. STARTUP이나 SHUTDOWN처럼 데이터베이스가 아직 열리지 않아 데이터 딕셔너리를 읽을 수 없는 단계에서도 인증이 가능해야 하기 때문입니다. 이를 위해 Oracle은 딕셔너리 외부의 별도 파일인 비밀번호 파일에 관리 사용자와 권한 정보를 저장하고, 딕셔너리 없이도 인증할 수 있게 합니다. 비밀번호 파일은 orapwd 유틸리티로 생성·관리하며, 초기화 파라미터 REMOTE_LOGIN_PASSWORDFILE을 EXCLUSIVE나 SHARED로 설정해 사용 여부를 제어합니다. 특히 네트워크를 통해 원격에서 SYSDBA로 접속하려면 반드시 비밀번호 파일 인증이 필요합니다. 12.2부터는 비밀번호 파일 항목이 루트와 PDB에 각각 존재할 수 있어, 멀티테넌트 환경에서 관리 사용자 인증을 컨테이너 단위로 관리할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앞의 방식들이 데이터베이스나 로컬 서버 안에서 완결된다면, 전역 인증과 프록시 인증은 조직 규모의 인프라와 애플리케이션 계층을 끌어들입니다. 전역 인증은 IDENTIFIED GLOBALLY로 지정하며 Oracle Internet Directory 같은 LDAP 디렉터리에 자격 증명을 중앙 집중화하는 방식으로, 엔터프라이즈 사용자 보안이라 부릅니다. 수많은 데이터베이스에 걸쳐 사용자와 롤을 한곳에서 관리할 수 있어 대규모 환경에 적합하고, 사용자는 디렉터리에서 한 번 인증되면 여러 데이터베이스에 접근할 수 있습니다. 프록시 인증은 애플리케이션 서버가 자신의 자격으로 접속한 뒤 실제 최종 사용자를 대신해 세션을 여는 방식으로, ALTER USER에 GRANT CONNECT THROUGH로 설정합니다. 이렇게 하면 커넥션 풀을 공유하면서도 데이터베이스가 실제 최종 사용자의 정체성을 알 수 있어, 감사와 최소 권한 적용이 가능해집니다.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 가지 인증 방식을 용도별로 정리하면 선택 기준이 분명해집니다. 비밀번호 인증은 IDENTIFIED BY로 만드는 가장 흔한 방식으로 일반 사용자와 애플리케이션 계정에 씁니다. 비밀번호 파일 인증은 orapwd로 만든 파일을 이용해 원격 SYSDBA 같은 관리 접속에 사용합니다. OS 인증은 IDENTIFIED EXTERNALLY로 만들어 OS 계정을 신뢰하며 로컬 배치 환경에 적합합니다. 전역 인증은 IDENTIFIED GLOBALLY로 LDAP 디렉터리에 자격 증명을 모아 대규모 엔터프라이즈 환경에 씁니다. 프록시 인증은 GRANT CONNECT THROUGH로 중간 계층이 최종 사용자를 대리하도록 해 커넥션 풀 환경에 적합합니다. 각 방식은 신뢰 경계와 관리 규모가 다르므로, 접속 주체가 누구이고 어디서 접속하는지에 따라 적절한 방식을 선택해야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OS 인증은 데이터베이스가 인증을 운영체제에 위임하는 방식입니다. 이미 OS에 로그인해 신원이 확인된 사용자라면 데이터베이스에 다시 비밀번호를 제시하지 않고도 접속할 수 있게 합니다. 이를 위해 사용자를 IDENTIFIED EXTERNALLY로 생성하고 데이터베이스 계정 이름을 OS 계정 이름과 연결합니다. 이때 초기화 파라미터 OS_AUTHENT_PREFIX가 중요한데, 이는 데이터베이스 사용자 이름과 OS 사용자 이름을 연결할 때 데이터베이스 이름 앞에 붙는 접두사를 지정하며 기본값은 OPS$입니다. 예를 들어 접두사가 기본값이고 OS 계정이 oracle이라면 데이터베이스에는 OPS$ORACLE이라는 IDENTIFIED EXTERNALLY 계정을 만들어야 그 OS 사용자가 자동 인증됩니다. 많은 사이트가 접두사를 빈 문자열로 설정해 OS 이름과 DB 이름을 동일하게 맞추기도 하며, 접두사는 데이터베이스 생성 시점에 정해 두는 것이 좋습니다.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화면은 OS 인증 계정을 만드는 실제 절차입니다. 먼저 SHOW PARAMETER로 OS_AUTHENT_PREFIX가 기본값 OPS$임을 확인합니다. 그다음 OS 계정 oracle에 대응하는 데이터베이스 계정을 OPS$ORACLE이라는 이름으로 IDENTIFIED EXTERNALLY로 생성합니다. 계정 이름이 접두사 OPS$와 OS 이름 ORACLE의 결합이라는 점이 핵심입니다. 이어서 GRANT CREATE SESSION으로 접속 권한을 부여하면 준비가 끝납니다. 이제 서버에서 OS의 oracle 사용자로 로그인한 상태에서 sqlplus / 만 입력하면, 데이터베이스가 OS 사용자 이름 oracle에 접두사를 붙여 OPS$ORACLE 계정을 찾아 비밀번호 없이 자동 인증합니다. 이 방식은 배치 스크립트에서 비밀번호를 하드코딩하지 않아도 되는 장점이 있어 로컬 자동화 환경에서 유용합니다.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OS 인증에는 로컬 인증과 원격 인증의 구분이 있습니다. 로컬 OS 인증은 데이터베이스 서버 자체에 로그인한 사용자를 신뢰하는 것이므로 비교적 안전합니다. 문제는 원격 OS 인증인데, 이는 네트워크 너머 클라이언트 OS가 주장하는 사용자 이름을 그대로 믿는 것입니다. 클라이언트가 자신의 OS 사용자 이름을 위조하기는 매우 쉬우므로, 이를 제어하는 파라미터 REMOTE_OS_AUTHENT를 TRUE로 켜면 공격자가 임의의 OS 사용자를 사칭해 IDENTIFIED EXTERNALLY 계정으로 침입할 수 있습니다. 그래서 이 파라미터의 기본값은 FALSE이며 반드시 FALSE로 유지해야 하고, 보안 위험 때문에 사실상 폐기되었습니다. 정리하면 OS 인증은 서버 접근이 엄격히 통제되는 로컬 환경에서만 제한적으로 쓰고, 원격 사용자에게는 비밀번호 인증이나 더 강력한 인증을 사용하는 것이 원칙입니다.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OS 인증의 가장 실무적인 활용은 SYSDBA·SYSOPER 같은 관리 권한 접속입니다. DBA가 서버에 직접 접속해 sqlplus / as sysdba를 실행하면, 데이터베이스는 그 OS 사용자가 특정 OS 그룹의 멤버인지 확인하여 인증합니다. 유닉스와 리눅스에서는 관례상 dba 그룹인 OSDBA 그룹에 속한 OS 사용자가 SYSDBA로, OSOPER 그룹에 속한 사용자가 SYSOPER로 접속할 수 있습니다. 윈도우에서는 ORA_DBA 그룹이 같은 역할을 합니다. 이 방식의 큰 장점은 데이터베이스가 열려 있지 않아 딕셔너리를 읽을 수 없는 상태에서도 인증이 되므로 STARTUP과 SHUTDOWN이 가능하다는 점입니다. 정리하면 관리 접속에는 두 경로가 있습니다. 로컬 서버 접속은 OS 그룹 인증으로 비밀번호 파일 없이 되고, 원격 접속은 비밀번호 파일 인증이 필요합니다. 두 경로 모두 딕셔너리에 의존하지 않는다는 공통점이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할당량은 특정 사용자가 특정 테이블스페이스에서 사용할 수 있는 공간의 최대치를 정하는 제한입니다. 사용자가 세그먼트를 만들거나 데이터를 추가해 익스텐트가 늘어날 때 할당량을 초과하면 Oracle은 ORA-01536 오류로 작업을 거부합니다. 이는 한 사용자가 폭주해 다른 사용자나 시스템이 쓸 공간까지 잠식하는 것을 막는 안전장치입니다. 가장 중요한 규칙은 명시적으로 할당량을 주지 않으면 기본값이 0이라는 점입니다. DEFAULT TABLESPACE를 USERS로 지정했더라도 USERS에 할당량을 별도로 부여하지 않으면 그 사용자는 USERS에 테이블을 만들 수 없습니다. 이는 초보 DBA가 자주 겪는 함정으로, 계정을 만들고 CREATE TABLE 권한까지 줬는데 테이블 생성이 ORA-01950 오류로 실패하는 원인이 대개 할당량 누락입니다. 한편 정렬에 쓰는 임시 테이블스페이스에는 할당량 개념이 적용되지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화면은 할당량을 부여하고 관련 오류를 진단하는 흐름입니다. 먼저 ALTER USER로 APP_USER에게 USERS에 200MB, APP_DATA에 무제한 할당량을 줍니다. 다음으로 APP_USER가 할당량이 없는 EXAMPLE 테이블스페이스에 테이블을 만들려 하면 ORA-01950 오류가 발생하는데, 이는 그 테이블스페이스에 대한 할당량이 0이기 때문입니다. EXAMPLE에 할당량을 부여하면 해결됩니다. 여기서 두 가지 오류를 구분해 두면 진단이 빨라집니다. ORA-01950은 할당량이 아예 없어 세그먼트를 만들 수 없을 때, ORA-01536은 할당량은 있으나 그 한도를 데이터가 초과했을 때 발생합니다. 마지막 쿼리의 DBA_TS_QUOTAS 뷰는 사용자별로 각 테이블스페이스의 사용량과 할당량을 보여 주며, MAX_BYTES가 -1이면 무제한을 의미합니다. 이 뷰로 할당량 소진이 임박한 계정을 사전에 점검할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할당량을 일일이 부여하는 대신 UNLIMITED TABLESPACE 시스템 권한을 부여할 수도 있습니다. 이 권한을 받은 사용자는 SYSTEM과 SYSAUX를 포함한 모든 테이블스페이스에 무제한으로 객체를 만들 수 있습니다. 편리하지만 매우 강력하므로 남용은 금물입니다. UNLIMITED TABLESPACE는 개별 QUOTA 설정을 사실상 무력화하며, 이 권한을 회수하면 이미 만들어진 객체는 남지만 새 공간 할당은 다시 할당량 규칙을 따르게 됩니다. 일반 애플리케이션 사용자에게는 UNLIMITED TABLESPACE를 주기보다, 필요한 데이터 테이블스페이스에만 구체적인 할당량을 부여하는 편이 통제 관점에서 바람직합니다. 특히 SYSTEM과 SYSAUX에는 사용자 객체가 만들어지지 않도록 관리해야 하는데, UNLIMITED TABLESPACE를 부여하면 사용자가 실수로 SYSTEM에 객체를 만들 수 있으므로 주의해야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모든 사용자는 기본 테이블스페이스와 임시 테이블스페이스를 가집니다. 기본 테이블스페이스는 사용자가 CREATE TABLE에서 TABLESPACE 절을 생략했을 때 객체가 만들어지는 곳이고, 임시 테이블스페이스는 ORDER BY·GROUP BY·해시 조인·인덱스 생성 등에서 메모리로 감당하기 어려운 대용량 정렬이 발생할 때 임시 세그먼트가 만들어지는 곳으로 여러 사용자가 공유합니다. CREATE USER에서 이 둘을 명시하지 않으면 데이터베이스 수준의 기본 영구·임시 테이블스페이스가 상속됩니다. 기본 영구 테이블스페이스가 명시되지 않으면 최후에 SYSTEM이 쓰일 수 있는데, 사용자 객체가 SYSTEM에 만들어지는 것은 반드시 피해야 할 안티패턴이므로 신규 사용자에게는 USERS나 애플리케이션 전용 테이블스페이스를 명시적으로 지정해야 합니다. 임시 테이블스페이스도 반드시 진짜 TEMP를 지정해야 정렬 데이터가 자동 회수되고 리두를 거의 생성하지 않아 효율적입니다.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화면은 데이터베이스의 기본 테이블스페이스를 확인하고 사용자의 테이블스페이스를 변경하는 예입니다. 첫 번째 쿼리의 DATABASE_PROPERTIES 뷰는 데이터베이스 기본 영구 테이블스페이스가 USERS이고 기본 임시 테이블스페이스가 TEMP임을 보여 줍니다. CREATE USER에서 테이블스페이스를 지정하지 않은 사용자는 이 값들을 상속받습니다. 두 번째 명령은 ALTER USER로 APP_USER의 기본 테이블스페이스를 APP_DATA로, 임시 테이블스페이스를 TEMP로 변경합니다. 기존 사용자의 테이블스페이스는 이렇게 언제든 바꿀 수 있으며, 기본 테이블스페이스를 바꿔도 이미 다른 곳에 만들어진 객체는 옮겨지지 않고 이후 새로 만드는 객체의 기본 위치에만 영향을 줍니다. 임시 테이블스페이스는 개별 지정도 가능하지만 대개 데이터베이스 기본 임시 테이블스페이스 하나를 모든 사용자가 공유하도록 두는 것이 일반적입니다.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생성된 계정은 수명주기 전반에 걸쳐 관리되며, 거의 모든 속성은 ALTER USER로 변경합니다. 비밀번호 변경, 기본·임시 테이블스페이스 변경, 할당량 조정, 프로파일 교체, 인증 방식 전환이 모두 ALTER USER로 이뤄집니다. 계정 상태는 크게 잠금 여부와 비밀번호 만료 여부로 나뉩니다. ACCOUNT LOCK은 계정을 잠가 로그인을 차단하고 ACCOUNT UNLOCK은 다시 엽니다. 잠금은 퇴사자 계정처럼 계정과 객체를 삭제하지 않고 접속만 막아야 할 때 유용합니다. PASSWORD EXPIRE는 비밀번호를 만료시켜 다음 로그인 시 반드시 새로 설정하게 하는데, 신규 계정에 초기 비밀번호를 만료 상태로 주면 사용자가 첫 로그인에서 자신만 아는 비밀번호로 바꾸도록 강제할 수 있습니다. 계정 상태는 DBA_USERS의 ACCOUNT_STATUS 컬럼으로 확인하며, OPEN·LOCKED·EXPIRED·EXPIRED &amp; LOCKED 등의 값을 가집니다.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화면은 계정 상태를 관리하는 세 가지 대표 명령을 보여 줍니다. ALTER USER app_user ACCOUNT LOCK은 계정을 잠가 로그인을 차단하고, ACCOUNT UNLOCK은 다시 엽니다. 잠금은 계정과 소유 객체는 그대로 두고 접속만 막을 수 있어, 일시적으로 사용을 중지해야 하는 계정에 유용합니다. PASSWORD EXPIRE는 비밀번호를 만료시켜 다음 로그인 시 새 비밀번호를 반드시 설정하게 만듭니다. 마지막 쿼리에서 DBA_USERS의 ACCOUNT_STATUS를 조회하면 방금 만료시킨 APP_USER가 EXPIRED 상태로 표시됩니다. 프로파일의 FAILED_LOGIN_ATTEMPTS 정책에 의해 로그인 실패가 누적되면 계정이 자동으로 LOCKED 상태가 되기도 하는데, 그런 자동 잠금과 비밀번호 정책은 23장에서 다룹니다. DBA는 이 상태 값들을 주기적으로 점검해 유휴 계정과 잠긴 계정을 관리합니다.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계정을 완전히 제거하려면 DROP USER를 사용합니다. 그 사용자가 객체를 하나도 소유하지 않으면 DROP USER user만으로 삭제되지만, 소유 객체가 있으면 DROP USER user CASCADE로 스키마의 모든 객체를 함께 삭제해야 합니다. CASCADE 없이 객체를 가진 사용자를 지우려 하면 ORA-01922 오류가 발생합니다. DROP USER는 되돌릴 수 없는 파괴적 작업이므로, 삭제 전 반드시 Data Pump 등으로 스키마를 백업하고 다른 스키마가 그 객체를 참조하지 않는지 확인해야 합니다. 현재 접속 중인 사용자는 삭제할 수 없으므로 먼저 계정을 잠그고 세션을 종료한 뒤 삭제합니다. 사용자 정보 조회에는 여러 딕셔너리 뷰를 씁니다. DBA_USERS는 상태와 인증 유형 등 종합 정보를, DBA_TS_QUOTAS는 할당량과 사용량을, CDB_USERS는 CDB 전역의 컨테이너별 사용자를 보여 주며, 공통 여부는 DBA_USERS의 COMMON 컬럼으로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1번 문제는 공통 사용자의 명명 규칙을 확인합니다. 정답은 2번으로, DBA가 직접 만드는 공통 사용자는 반드시 C## 또는 c##로 시작해야 하며, SYS와 SYSTEM 같은 오라클 제공 공통 사용자만 예외적으로 접두사가 없습니다. 2번 문제는 스키마 전용 계정을 만드는 절을 묻습니다. 정답은 3번 NO AUTHENTICATION으로, 18c에서 도입된 이 기능은 인증 수단이 전혀 없어 아무도 직접 로그인할 수 없는 계정을 만듭니다. 4번 ACCOUNT LOCK은 인증 수단은 있으나 잠긴 상태라는 점에서 다릅니다. 3번 문제는 실무에서 자주 겪는 함정입니다. 정답은 2번으로, 사용자에게 DEFAULT TABLESPACE와 CREATE TABLE 권한을 줬더라도 그 테이블스페이스에 할당량을 부여하지 않으면 기본값이 0이라 객체를 만들 수 없고 ORA-01950 오류가 발생합니다. QUOTA를 부여하거나 UNLIMITED TABLESPACE 권한을 줘야 해결됩니다.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4번 문제는 관리 접속의 두 경로를 구분하는지 확인합니다. 정답은 3번 비밀번호 파일입니다. 네트워크를 통한 원격 SYSDBA 접속은 데이터베이스가 열리기 전에도 인증되어야 하므로 반드시 비밀번호 파일 인증이 필요합니다. 1번 OS 그룹 멤버십은 서버에 직접 로그인해 sqlplus / as sysdba로 접속하는 로컬 경로에 쓰입니다. 2번 REMOTE_OS_AUTHENT는 보안 위험으로 FALSE로 유지해야 하므로 오답입니다. 5번 문제는 OS 인증 계정의 이름 규칙을 확인합니다. 정답은 2번 OPS$ORACLE로, 데이터베이스 계정 이름은 접두사 OPS$와 OS 이름 ORACLE의 결합이어야 IDENTIFIED EXTERNALLY 매핑이 성립합니다. 6번 문제는 사용자 삭제를 다룹니다. 정답은 2번으로, 소유 객체가 있는 사용자는 CASCADE로 스키마 객체를 함께 삭제해야 하며, CASCADE를 빠뜨리면 ORA-01922 오류가 발생합니다.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nchor="t" lIns="45720" rIns="45720" tIns="18288" bIns="18288">
            <a:spAutoFit/>
          </a:bodyPr>
          <a:lstStyle/>
          <a:p>
            <a:pPr algn="l"/>
            <a:r>
              <a:rPr sz="1600" b="0">
                <a:solidFill>
                  <a:srgbClr val="FFFFFF"/>
                </a:solidFill>
                <a:latin typeface="맑은 고딕"/>
                <a:ea typeface="맑은 고딕"/>
              </a:rPr>
              <a:t>Oracle Database 19c Administration Workshop</a:t>
            </a:r>
          </a:p>
        </p:txBody>
      </p:sp>
      <p:sp>
        <p:nvSpPr>
          <p:cNvPr id="6" name="TextBox 5"/>
          <p:cNvSpPr txBox="1"/>
          <p:nvPr/>
        </p:nvSpPr>
        <p:spPr>
          <a:xfrm>
            <a:off x="731520" y="2468880"/>
            <a:ext cx="10698480" cy="1463040"/>
          </a:xfrm>
          <a:prstGeom prst="rect">
            <a:avLst/>
          </a:prstGeom>
          <a:noFill/>
        </p:spPr>
        <p:txBody>
          <a:bodyPr wrap="square" anchor="t" lIns="45720" rIns="45720" tIns="18288" bIns="18288">
            <a:spAutoFit/>
          </a:bodyPr>
          <a:lstStyle/>
          <a:p>
            <a:pPr algn="l"/>
            <a:r>
              <a:rPr sz="4000" b="1">
                <a:solidFill>
                  <a:srgbClr val="C0392B"/>
                </a:solidFill>
                <a:latin typeface="맑은 고딕"/>
                <a:ea typeface="맑은 고딕"/>
              </a:rPr>
              <a:t>사용자 계정 생성 및 관리</a:t>
            </a:r>
          </a:p>
          <a:p>
            <a:pPr algn="l"/>
            <a:r>
              <a:rPr sz="2200" b="0">
                <a:solidFill>
                  <a:srgbClr val="5A6672"/>
                </a:solidFill>
                <a:latin typeface="맑은 고딕"/>
                <a:ea typeface="맑은 고딕"/>
              </a:rPr>
              <a:t>Creating and Managing User Accounts</a:t>
            </a:r>
          </a:p>
        </p:txBody>
      </p:sp>
      <p:sp>
        <p:nvSpPr>
          <p:cNvPr id="7" name="TextBox 6"/>
          <p:cNvSpPr txBox="1"/>
          <p:nvPr/>
        </p:nvSpPr>
        <p:spPr>
          <a:xfrm>
            <a:off x="731520" y="4114800"/>
            <a:ext cx="10698480" cy="1097280"/>
          </a:xfrm>
          <a:prstGeom prst="rect">
            <a:avLst/>
          </a:prstGeom>
          <a:noFill/>
        </p:spPr>
        <p:txBody>
          <a:bodyPr wrap="square" anchor="t" lIns="45720" rIns="45720" tIns="18288" bIns="18288">
            <a:spAutoFit/>
          </a:bodyPr>
          <a:lstStyle/>
          <a:p>
            <a:pPr algn="l"/>
            <a:r>
              <a:rPr sz="1500" b="0">
                <a:solidFill>
                  <a:srgbClr val="5A6672"/>
                </a:solidFill>
                <a:latin typeface="맑은 고딕"/>
                <a:ea typeface="맑은 고딕"/>
              </a:rPr>
              <a:t>사용자·스키마 · 공통/로컬 사용자 · CREATE USER · 스키마 전용 계정 · 인증 방식 · OS 인증 · 할당량</a:t>
            </a:r>
          </a:p>
        </p:txBody>
      </p:sp>
      <p:sp>
        <p:nvSpPr>
          <p:cNvPr id="8" name="TextBox 7"/>
          <p:cNvSpPr txBox="1"/>
          <p:nvPr/>
        </p:nvSpPr>
        <p:spPr>
          <a:xfrm>
            <a:off x="731520" y="5577840"/>
            <a:ext cx="10698480" cy="914400"/>
          </a:xfrm>
          <a:prstGeom prst="rect">
            <a:avLst/>
          </a:prstGeom>
          <a:noFill/>
        </p:spPr>
        <p:txBody>
          <a:bodyPr wrap="square" anchor="t" lIns="45720" rIns="45720" tIns="18288" bIns="18288">
            <a:spAutoFit/>
          </a:bodyPr>
          <a:lstStyle/>
          <a:p>
            <a:pPr algn="l"/>
            <a:r>
              <a:rPr sz="2000" b="1">
                <a:solidFill>
                  <a:srgbClr val="C0392B"/>
                </a:solidFill>
                <a:latin typeface="맑은 고딕"/>
                <a:ea typeface="맑은 고딕"/>
              </a:rPr>
              <a:t>제21장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nchor="ctr" lIns="45720" rIns="45720" tIns="18288" bIns="18288">
            <a:spAutoFit/>
          </a:bodyPr>
          <a:lstStyle/>
          <a:p>
            <a:pPr algn="l"/>
            <a:r>
              <a:rPr sz="2600" b="1">
                <a:solidFill>
                  <a:srgbClr val="FFFFFF"/>
                </a:solidFill>
                <a:latin typeface="맑은 고딕"/>
                <a:ea typeface="맑은 고딕"/>
              </a:rPr>
              <a:t>학습 목표 (Objectives)</a:t>
            </a:r>
          </a:p>
        </p:txBody>
      </p:sp>
      <p:sp>
        <p:nvSpPr>
          <p:cNvPr id="4" name="TextBox 3"/>
          <p:cNvSpPr txBox="1"/>
          <p:nvPr/>
        </p:nvSpPr>
        <p:spPr>
          <a:xfrm>
            <a:off x="640080" y="1463040"/>
            <a:ext cx="10881360" cy="4937760"/>
          </a:xfrm>
          <a:prstGeom prst="rect">
            <a:avLst/>
          </a:prstGeom>
          <a:noFill/>
        </p:spPr>
        <p:txBody>
          <a:bodyPr wrap="square" anchor="t" lIns="45720" rIns="45720" tIns="18288" bIns="18288">
            <a:spAutoFit/>
          </a:bodyPr>
          <a:lstStyle/>
          <a:p>
            <a:pPr algn="l">
              <a:spcAft>
                <a:spcPts val="1100"/>
              </a:spcAft>
            </a:pPr>
            <a:r>
              <a:rPr sz="1800" b="0">
                <a:solidFill>
                  <a:srgbClr val="C0392B"/>
                </a:solidFill>
                <a:latin typeface="맑은 고딕"/>
                <a:ea typeface="맑은 고딕"/>
              </a:rPr>
              <a:t>•  데이터베이스 사용자 계정과 스키마의 관계를 이해하고 Oracle 제공 관리자 계정을 구분한다</a:t>
            </a:r>
          </a:p>
          <a:p>
            <a:pPr algn="l">
              <a:spcAft>
                <a:spcPts val="1100"/>
              </a:spcAft>
            </a:pPr>
            <a:r>
              <a:rPr sz="1800" b="0">
                <a:solidFill>
                  <a:srgbClr val="C0392B"/>
                </a:solidFill>
                <a:latin typeface="맑은 고딕"/>
                <a:ea typeface="맑은 고딕"/>
              </a:rPr>
              <a:t>•  멀티테넌트 환경의 공통 사용자(C##)와 로컬 사용자의 차이를 설명한다</a:t>
            </a:r>
          </a:p>
          <a:p>
            <a:pPr algn="l">
              <a:spcAft>
                <a:spcPts val="1100"/>
              </a:spcAft>
            </a:pPr>
            <a:r>
              <a:rPr sz="1800" b="0">
                <a:solidFill>
                  <a:srgbClr val="C0392B"/>
                </a:solidFill>
                <a:latin typeface="맑은 고딕"/>
                <a:ea typeface="맑은 고딕"/>
              </a:rPr>
              <a:t>•  CREATE USER 구문의 주요 절과 스키마 전용 계정(NO AUTHENTICATION)을 사용한다</a:t>
            </a:r>
          </a:p>
          <a:p>
            <a:pPr algn="l">
              <a:spcAft>
                <a:spcPts val="1100"/>
              </a:spcAft>
            </a:pPr>
            <a:r>
              <a:rPr sz="1800" b="0">
                <a:solidFill>
                  <a:srgbClr val="C0392B"/>
                </a:solidFill>
                <a:latin typeface="맑은 고딕"/>
                <a:ea typeface="맑은 고딕"/>
              </a:rPr>
              <a:t>•  비밀번호·비밀번호 파일·OS·전역·프록시 인증 방식을 비교한다</a:t>
            </a:r>
          </a:p>
          <a:p>
            <a:pPr algn="l">
              <a:spcAft>
                <a:spcPts val="1100"/>
              </a:spcAft>
            </a:pPr>
            <a:r>
              <a:rPr sz="1800" b="0">
                <a:solidFill>
                  <a:srgbClr val="C0392B"/>
                </a:solidFill>
                <a:latin typeface="맑은 고딕"/>
                <a:ea typeface="맑은 고딕"/>
              </a:rPr>
              <a:t>•  OS 인증(OS_AUTHENT_PREFIX)과 권한 있는 사용자의 OS 인증을 이해한다</a:t>
            </a:r>
          </a:p>
          <a:p>
            <a:pPr algn="l">
              <a:spcAft>
                <a:spcPts val="1100"/>
              </a:spcAft>
            </a:pPr>
            <a:r>
              <a:rPr sz="1800" b="0">
                <a:solidFill>
                  <a:srgbClr val="C0392B"/>
                </a:solidFill>
                <a:latin typeface="맑은 고딕"/>
                <a:ea typeface="맑은 고딕"/>
              </a:rPr>
              <a:t>•  테이블스페이스 할당량(QUOTA)과 기본/임시 테이블스페이스를 지정한다</a:t>
            </a:r>
          </a:p>
          <a:p>
            <a:pPr algn="l">
              <a:spcAft>
                <a:spcPts val="1100"/>
              </a:spcAft>
            </a:pPr>
            <a:r>
              <a:rPr sz="1800" b="0">
                <a:solidFill>
                  <a:srgbClr val="C0392B"/>
                </a:solidFill>
                <a:latin typeface="맑은 고딕"/>
                <a:ea typeface="맑은 고딕"/>
              </a:rPr>
              <a:t>•  ALTER USER·DROP USER로 계정을 잠금·해제·만료·삭제한다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nchor="ctr" lIns="45720" rIns="45720" tIns="18288" bIns="18288">
            <a:spAutoFit/>
          </a:bodyPr>
          <a:lstStyle/>
          <a:p>
            <a:pPr algn="l"/>
            <a:r>
              <a:rPr sz="2600" b="1">
                <a:solidFill>
                  <a:srgbClr val="FFFFFF"/>
                </a:solidFill>
                <a:latin typeface="맑은 고딕"/>
                <a:ea typeface="맑은 고딕"/>
              </a:rPr>
              <a:t>이 장의 구성 (Agenda)</a:t>
            </a:r>
          </a:p>
        </p:txBody>
      </p:sp>
      <p:sp>
        <p:nvSpPr>
          <p:cNvPr id="4" name="TextBox 3"/>
          <p:cNvSpPr txBox="1"/>
          <p:nvPr/>
        </p:nvSpPr>
        <p:spPr>
          <a:xfrm>
            <a:off x="640080" y="1463040"/>
            <a:ext cx="10881360" cy="4937760"/>
          </a:xfrm>
          <a:prstGeom prst="rect">
            <a:avLst/>
          </a:prstGeom>
          <a:noFill/>
        </p:spPr>
        <p:txBody>
          <a:bodyPr wrap="square" anchor="t" lIns="45720" rIns="45720" tIns="18288" bIns="18288">
            <a:spAutoFit/>
          </a:bodyPr>
          <a:lstStyle/>
          <a:p>
            <a:pPr algn="l">
              <a:spcAft>
                <a:spcPts val="1200"/>
              </a:spcAft>
            </a:pPr>
            <a:r>
              <a:rPr sz="1800" b="0">
                <a:solidFill>
                  <a:srgbClr val="C0392B"/>
                </a:solidFill>
                <a:latin typeface="맑은 고딕"/>
                <a:ea typeface="맑은 고딕"/>
              </a:rPr>
              <a:t>•  21.A  사용자 계정 개념과 Oracle 제공 관리자 계정</a:t>
            </a:r>
          </a:p>
          <a:p>
            <a:pPr algn="l">
              <a:spcAft>
                <a:spcPts val="1200"/>
              </a:spcAft>
            </a:pPr>
            <a:r>
              <a:rPr sz="1800" b="0">
                <a:solidFill>
                  <a:srgbClr val="C0392B"/>
                </a:solidFill>
                <a:latin typeface="맑은 고딕"/>
                <a:ea typeface="맑은 고딕"/>
              </a:rPr>
              <a:t>•  21.B  멀티테넌트 환경의 공통/로컬 사용자 생성</a:t>
            </a:r>
          </a:p>
          <a:p>
            <a:pPr algn="l">
              <a:spcAft>
                <a:spcPts val="1200"/>
              </a:spcAft>
            </a:pPr>
            <a:r>
              <a:rPr sz="1800" b="0">
                <a:solidFill>
                  <a:srgbClr val="C0392B"/>
                </a:solidFill>
                <a:latin typeface="맑은 고딕"/>
                <a:ea typeface="맑은 고딕"/>
              </a:rPr>
              <a:t>•  21.C  CREATE USER 구문과 스키마 전용 계정</a:t>
            </a:r>
          </a:p>
          <a:p>
            <a:pPr algn="l">
              <a:spcAft>
                <a:spcPts val="1200"/>
              </a:spcAft>
            </a:pPr>
            <a:r>
              <a:rPr sz="1800" b="0">
                <a:solidFill>
                  <a:srgbClr val="C0392B"/>
                </a:solidFill>
                <a:latin typeface="맑은 고딕"/>
                <a:ea typeface="맑은 고딕"/>
              </a:rPr>
              <a:t>•  21.D  사용자 인증 방식(비밀번호·파일·전역·프록시)</a:t>
            </a:r>
          </a:p>
          <a:p>
            <a:pPr algn="l">
              <a:spcAft>
                <a:spcPts val="1200"/>
              </a:spcAft>
            </a:pPr>
            <a:r>
              <a:rPr sz="1800" b="0">
                <a:solidFill>
                  <a:srgbClr val="C0392B"/>
                </a:solidFill>
                <a:latin typeface="맑은 고딕"/>
                <a:ea typeface="맑은 고딕"/>
              </a:rPr>
              <a:t>•  21.E  OS 인증과 권한 있는 사용자의 OS 인증</a:t>
            </a:r>
          </a:p>
          <a:p>
            <a:pPr algn="l">
              <a:spcAft>
                <a:spcPts val="1200"/>
              </a:spcAft>
            </a:pPr>
            <a:r>
              <a:rPr sz="1800" b="0">
                <a:solidFill>
                  <a:srgbClr val="C0392B"/>
                </a:solidFill>
                <a:latin typeface="맑은 고딕"/>
                <a:ea typeface="맑은 고딕"/>
              </a:rPr>
              <a:t>•  21.F  사용자 할당량과 기본/임시 테이블스페이스</a:t>
            </a:r>
          </a:p>
          <a:p>
            <a:pPr algn="l">
              <a:spcAft>
                <a:spcPts val="1200"/>
              </a:spcAft>
            </a:pPr>
            <a:r>
              <a:rPr sz="1800" b="0">
                <a:solidFill>
                  <a:srgbClr val="C0392B"/>
                </a:solidFill>
                <a:latin typeface="맑은 고딕"/>
                <a:ea typeface="맑은 고딕"/>
              </a:rPr>
              <a:t>•  21.G  사용자 계정 관리(잠금·만료·삭제) 및 Quiz</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lIns="45720" rIns="45720" tIns="18288" bIns="18288">
            <a:spAutoFit/>
          </a:bodyPr>
          <a:lstStyle/>
          <a:p>
            <a:pPr algn="l"/>
            <a:r>
              <a:rPr sz="4000" b="1">
                <a:solidFill>
                  <a:srgbClr val="FFFFFF"/>
                </a:solidFill>
                <a:latin typeface="맑은 고딕"/>
                <a:ea typeface="맑은 고딕"/>
              </a:rPr>
              <a:t>21.A</a:t>
            </a:r>
          </a:p>
        </p:txBody>
      </p:sp>
      <p:sp>
        <p:nvSpPr>
          <p:cNvPr id="4" name="TextBox 3"/>
          <p:cNvSpPr txBox="1"/>
          <p:nvPr/>
        </p:nvSpPr>
        <p:spPr>
          <a:xfrm>
            <a:off x="822960" y="3017520"/>
            <a:ext cx="10515600" cy="914400"/>
          </a:xfrm>
          <a:prstGeom prst="rect">
            <a:avLst/>
          </a:prstGeom>
          <a:noFill/>
        </p:spPr>
        <p:txBody>
          <a:bodyPr wrap="square" anchor="t" lIns="45720" rIns="45720" tIns="18288" bIns="18288">
            <a:spAutoFit/>
          </a:bodyPr>
          <a:lstStyle/>
          <a:p>
            <a:pPr algn="l"/>
            <a:r>
              <a:rPr sz="2800" b="1">
                <a:solidFill>
                  <a:srgbClr val="FFFFFF"/>
                </a:solidFill>
                <a:latin typeface="맑은 고딕"/>
                <a:ea typeface="맑은 고딕"/>
              </a:rPr>
              <a:t>사용자 계정 개념과 관리자 계정</a:t>
            </a:r>
          </a:p>
        </p:txBody>
      </p:sp>
      <p:sp>
        <p:nvSpPr>
          <p:cNvPr id="5" name="Rectangle 4"/>
          <p:cNvSpPr/>
          <p:nvPr/>
        </p:nvSpPr>
        <p:spPr>
          <a:xfrm>
            <a:off x="868680" y="4114800"/>
            <a:ext cx="5486400" cy="457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4297680"/>
            <a:ext cx="10058400" cy="1828800"/>
          </a:xfrm>
          <a:prstGeom prst="rect">
            <a:avLst/>
          </a:prstGeom>
          <a:noFill/>
        </p:spPr>
        <p:txBody>
          <a:bodyPr wrap="square" anchor="t" lIns="45720" rIns="45720" tIns="18288" bIns="18288">
            <a:spAutoFit/>
          </a:bodyPr>
          <a:lstStyle/>
          <a:p>
            <a:pPr algn="l">
              <a:spcAft>
                <a:spcPts val="400"/>
              </a:spcAft>
            </a:pPr>
            <a:r>
              <a:rPr sz="1600" b="0">
                <a:solidFill>
                  <a:srgbClr val="FFFFFF"/>
                </a:solidFill>
                <a:latin typeface="맑은 고딕"/>
                <a:ea typeface="맑은 고딕"/>
              </a:rPr>
              <a:t>•  사용자와 스키마의 관계</a:t>
            </a:r>
          </a:p>
          <a:p>
            <a:pPr algn="l">
              <a:spcAft>
                <a:spcPts val="400"/>
              </a:spcAft>
            </a:pPr>
            <a:r>
              <a:rPr sz="1600" b="0">
                <a:solidFill>
                  <a:srgbClr val="FFFFFF"/>
                </a:solidFill>
                <a:latin typeface="맑은 고딕"/>
                <a:ea typeface="맑은 고딕"/>
              </a:rPr>
              <a:t>•  세션과 사용자 정보 뷰</a:t>
            </a:r>
          </a:p>
          <a:p>
            <a:pPr algn="l">
              <a:spcAft>
                <a:spcPts val="400"/>
              </a:spcAft>
            </a:pPr>
            <a:r>
              <a:rPr sz="1600" b="0">
                <a:solidFill>
                  <a:srgbClr val="FFFFFF"/>
                </a:solidFill>
                <a:latin typeface="맑은 고딕"/>
                <a:ea typeface="맑은 고딕"/>
              </a:rPr>
              <a:t>•  Oracle 제공 관리자 계정</a:t>
            </a:r>
          </a:p>
          <a:p>
            <a:pPr algn="l">
              <a:spcAft>
                <a:spcPts val="400"/>
              </a:spcAft>
            </a:pPr>
            <a:r>
              <a:rPr sz="1600" b="0">
                <a:solidFill>
                  <a:srgbClr val="FFFFFF"/>
                </a:solidFill>
                <a:latin typeface="맑은 고딕"/>
                <a:ea typeface="맑은 고딕"/>
              </a:rPr>
              <a:t>•  관리 권한의 세분화</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nchor="ctr" lIns="45720" rIns="45720" tIns="18288" bIns="18288">
            <a:spAutoFit/>
          </a:bodyPr>
          <a:lstStyle/>
          <a:p>
            <a:pPr algn="l"/>
            <a:r>
              <a:rPr sz="2600" b="1">
                <a:solidFill>
                  <a:srgbClr val="FFFFFF"/>
                </a:solidFill>
                <a:latin typeface="맑은 고딕"/>
                <a:ea typeface="맑은 고딕"/>
              </a:rPr>
              <a:t>사용자 계정과 스키마</a:t>
            </a:r>
          </a:p>
        </p:txBody>
      </p:sp>
      <p:sp>
        <p:nvSpPr>
          <p:cNvPr id="4" name="TextBox 3"/>
          <p:cNvSpPr txBox="1"/>
          <p:nvPr/>
        </p:nvSpPr>
        <p:spPr>
          <a:xfrm>
            <a:off x="640080" y="1115568"/>
            <a:ext cx="10881360" cy="457200"/>
          </a:xfrm>
          <a:prstGeom prst="rect">
            <a:avLst/>
          </a:prstGeom>
          <a:noFill/>
        </p:spPr>
        <p:txBody>
          <a:bodyPr wrap="square" anchor="t" lIns="45720" rIns="45720" tIns="18288" bIns="18288">
            <a:spAutoFit/>
          </a:bodyPr>
          <a:lstStyle/>
          <a:p>
            <a:pPr algn="l"/>
            <a:r>
              <a:rPr sz="1500" b="0">
                <a:solidFill>
                  <a:srgbClr val="5A6672"/>
                </a:solidFill>
                <a:latin typeface="맑은 고딕"/>
                <a:ea typeface="맑은 고딕"/>
              </a:rPr>
              <a:t>user &amp; schema</a:t>
            </a:r>
          </a:p>
        </p:txBody>
      </p:sp>
      <p:sp>
        <p:nvSpPr>
          <p:cNvPr id="5" name="TextBox 4"/>
          <p:cNvSpPr txBox="1"/>
          <p:nvPr/>
        </p:nvSpPr>
        <p:spPr>
          <a:xfrm>
            <a:off x="640080" y="1691640"/>
            <a:ext cx="10881360" cy="4572000"/>
          </a:xfrm>
          <a:prstGeom prst="rect">
            <a:avLst/>
          </a:prstGeom>
          <a:noFill/>
        </p:spPr>
        <p:txBody>
          <a:bodyPr wrap="square" anchor="t" lIns="45720" rIns="45720" tIns="18288" bIns="18288">
            <a:spAutoFit/>
          </a:bodyPr>
          <a:lstStyle/>
          <a:p>
            <a:pPr algn="l">
              <a:lnSpc>
                <a:spcPct val="105000"/>
              </a:lnSpc>
              <a:spcAft>
                <a:spcPts val="1000"/>
              </a:spcAft>
            </a:pPr>
            <a:r>
              <a:rPr sz="1800" b="0">
                <a:solidFill>
                  <a:srgbClr val="C0392B"/>
                </a:solidFill>
                <a:latin typeface="맑은 고딕"/>
                <a:ea typeface="맑은 고딕"/>
              </a:rPr>
              <a:t>•  사용자 계정 = 데이터베이스 접속·인증·인가의 기준 주체</a:t>
            </a:r>
          </a:p>
          <a:p>
            <a:pPr algn="l">
              <a:lnSpc>
                <a:spcPct val="105000"/>
              </a:lnSpc>
              <a:spcAft>
                <a:spcPts val="1000"/>
              </a:spcAft>
            </a:pPr>
            <a:r>
              <a:rPr sz="1800" b="0">
                <a:solidFill>
                  <a:srgbClr val="C0392B"/>
                </a:solidFill>
                <a:latin typeface="맑은 고딕"/>
                <a:ea typeface="맑은 고딕"/>
              </a:rPr>
              <a:t>•  사용자를 만들면 같은 이름의 스키마가 자동 생성</a:t>
            </a:r>
          </a:p>
          <a:p>
            <a:pPr algn="l">
              <a:lnSpc>
                <a:spcPct val="105000"/>
              </a:lnSpc>
              <a:spcAft>
                <a:spcPts val="1000"/>
              </a:spcAft>
            </a:pPr>
            <a:r>
              <a:rPr sz="1800" b="0">
                <a:solidFill>
                  <a:srgbClr val="C0392B"/>
                </a:solidFill>
                <a:latin typeface="맑은 고딕"/>
                <a:ea typeface="맑은 고딕"/>
              </a:rPr>
              <a:t>•  스키마 = 그 사용자가 소유한 객체(테이블·뷰·인덱스…)의 집합</a:t>
            </a:r>
          </a:p>
          <a:p>
            <a:pPr algn="l">
              <a:lnSpc>
                <a:spcPct val="105000"/>
              </a:lnSpc>
              <a:spcAft>
                <a:spcPts val="1000"/>
              </a:spcAft>
            </a:pPr>
            <a:r>
              <a:rPr sz="1800" b="0">
                <a:solidFill>
                  <a:srgbClr val="C0392B"/>
                </a:solidFill>
                <a:latin typeface="맑은 고딕"/>
                <a:ea typeface="맑은 고딕"/>
              </a:rPr>
              <a:t>•  HR 사용자 → HR 스키마, HR.EMPLOYEES 처럼 소유 관계 표현</a:t>
            </a:r>
          </a:p>
          <a:p>
            <a:pPr algn="l">
              <a:lnSpc>
                <a:spcPct val="105000"/>
              </a:lnSpc>
              <a:spcAft>
                <a:spcPts val="1000"/>
              </a:spcAft>
            </a:pPr>
            <a:r>
              <a:rPr sz="1800" b="0">
                <a:solidFill>
                  <a:srgbClr val="C0392B"/>
                </a:solidFill>
                <a:latin typeface="맑은 고딕"/>
                <a:ea typeface="맑은 고딕"/>
              </a:rPr>
              <a:t>•  사용자=접속 주체, 스키마=소유 객체 컬렉션 (1:1 대응)</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nchor="ctr" lIns="45720" rIns="45720" tIns="18288" bIns="18288">
            <a:spAutoFit/>
          </a:bodyPr>
          <a:lstStyle/>
          <a:p>
            <a:pPr algn="l"/>
            <a:r>
              <a:rPr sz="2600" b="1">
                <a:solidFill>
                  <a:srgbClr val="FFFFFF"/>
                </a:solidFill>
                <a:latin typeface="맑은 고딕"/>
                <a:ea typeface="맑은 고딕"/>
              </a:rPr>
              <a:t>세션과 사용자 정보 조회</a:t>
            </a:r>
          </a:p>
        </p:txBody>
      </p:sp>
      <p:sp>
        <p:nvSpPr>
          <p:cNvPr id="4" name="TextBox 3"/>
          <p:cNvSpPr txBox="1"/>
          <p:nvPr/>
        </p:nvSpPr>
        <p:spPr>
          <a:xfrm>
            <a:off x="640080" y="1115568"/>
            <a:ext cx="10881360" cy="457200"/>
          </a:xfrm>
          <a:prstGeom prst="rect">
            <a:avLst/>
          </a:prstGeom>
          <a:noFill/>
        </p:spPr>
        <p:txBody>
          <a:bodyPr wrap="square" anchor="t" lIns="45720" rIns="45720" tIns="18288" bIns="18288">
            <a:spAutoFit/>
          </a:bodyPr>
          <a:lstStyle/>
          <a:p>
            <a:pPr algn="l"/>
            <a:r>
              <a:rPr sz="1500" b="0">
                <a:solidFill>
                  <a:srgbClr val="5A6672"/>
                </a:solidFill>
                <a:latin typeface="맑은 고딕"/>
                <a:ea typeface="맑은 고딕"/>
              </a:rPr>
              <a:t>session &amp; DBA_USERS</a:t>
            </a:r>
          </a:p>
        </p:txBody>
      </p:sp>
      <p:sp>
        <p:nvSpPr>
          <p:cNvPr id="5" name="TextBox 4"/>
          <p:cNvSpPr txBox="1"/>
          <p:nvPr/>
        </p:nvSpPr>
        <p:spPr>
          <a:xfrm>
            <a:off x="640080" y="1691640"/>
            <a:ext cx="10881360" cy="4572000"/>
          </a:xfrm>
          <a:prstGeom prst="rect">
            <a:avLst/>
          </a:prstGeom>
          <a:noFill/>
        </p:spPr>
        <p:txBody>
          <a:bodyPr wrap="square" anchor="t" lIns="45720" rIns="45720" tIns="18288" bIns="18288">
            <a:spAutoFit/>
          </a:bodyPr>
          <a:lstStyle/>
          <a:p>
            <a:pPr algn="l">
              <a:lnSpc>
                <a:spcPct val="105000"/>
              </a:lnSpc>
              <a:spcAft>
                <a:spcPts val="1000"/>
              </a:spcAft>
            </a:pPr>
            <a:r>
              <a:rPr sz="1800" b="0">
                <a:solidFill>
                  <a:srgbClr val="C0392B"/>
                </a:solidFill>
                <a:latin typeface="맑은 고딕"/>
                <a:ea typeface="맑은 고딕"/>
              </a:rPr>
              <a:t>•  접속(connection)=물리적 통신 경로, 세션(session)=논리적 작업 단위</a:t>
            </a:r>
          </a:p>
          <a:p>
            <a:pPr algn="l">
              <a:lnSpc>
                <a:spcPct val="105000"/>
              </a:lnSpc>
              <a:spcAft>
                <a:spcPts val="1000"/>
              </a:spcAft>
            </a:pPr>
            <a:r>
              <a:rPr sz="1800" b="0">
                <a:solidFill>
                  <a:srgbClr val="C0392B"/>
                </a:solidFill>
                <a:latin typeface="맑은 고딕"/>
                <a:ea typeface="맑은 고딕"/>
              </a:rPr>
              <a:t>•  한 사용자가 여러 세션을 동시에 열 수 있음 → V$SESSION</a:t>
            </a:r>
          </a:p>
          <a:p>
            <a:pPr algn="l">
              <a:lnSpc>
                <a:spcPct val="105000"/>
              </a:lnSpc>
              <a:spcAft>
                <a:spcPts val="1000"/>
              </a:spcAft>
            </a:pPr>
            <a:r>
              <a:rPr sz="1800" b="0">
                <a:solidFill>
                  <a:srgbClr val="C0392B"/>
                </a:solidFill>
                <a:latin typeface="맑은 고딕"/>
                <a:ea typeface="맑은 고딕"/>
              </a:rPr>
              <a:t>•  DBA_USERS: 상태·기본/임시 TS·프로파일·인증유형·COMMON</a:t>
            </a:r>
          </a:p>
          <a:p>
            <a:pPr algn="l">
              <a:lnSpc>
                <a:spcPct val="105000"/>
              </a:lnSpc>
              <a:spcAft>
                <a:spcPts val="1000"/>
              </a:spcAft>
            </a:pPr>
            <a:r>
              <a:rPr sz="1800" b="0">
                <a:solidFill>
                  <a:srgbClr val="C0392B"/>
                </a:solidFill>
                <a:latin typeface="맑은 고딕"/>
                <a:ea typeface="맑은 고딕"/>
              </a:rPr>
              <a:t>•  CDB_USERS: CDB 전역 컨테이너별(CON_ID) 사용자 조회</a:t>
            </a:r>
          </a:p>
          <a:p>
            <a:pPr algn="l">
              <a:lnSpc>
                <a:spcPct val="105000"/>
              </a:lnSpc>
              <a:spcAft>
                <a:spcPts val="1000"/>
              </a:spcAft>
            </a:pPr>
            <a:r>
              <a:rPr sz="1800" b="0">
                <a:solidFill>
                  <a:srgbClr val="C0392B"/>
                </a:solidFill>
                <a:latin typeface="맑은 고딕"/>
                <a:ea typeface="맑은 고딕"/>
              </a:rPr>
              <a:t>•  USER_USERS·ALL_USERS: 현재 사용자 관점의 축약 뷰</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nchor="ctr" lIns="45720" rIns="45720" tIns="18288" bIns="18288">
            <a:spAutoFit/>
          </a:bodyPr>
          <a:lstStyle/>
          <a:p>
            <a:pPr algn="l"/>
            <a:r>
              <a:rPr sz="2600" b="1">
                <a:solidFill>
                  <a:srgbClr val="FFFFFF"/>
                </a:solidFill>
                <a:latin typeface="맑은 고딕"/>
                <a:ea typeface="맑은 고딕"/>
              </a:rPr>
              <a:t>Oracle 제공 관리자 계정</a:t>
            </a:r>
          </a:p>
        </p:txBody>
      </p:sp>
      <p:sp>
        <p:nvSpPr>
          <p:cNvPr id="4" name="TextBox 3"/>
          <p:cNvSpPr txBox="1"/>
          <p:nvPr/>
        </p:nvSpPr>
        <p:spPr>
          <a:xfrm>
            <a:off x="640080" y="1115568"/>
            <a:ext cx="10881360" cy="457200"/>
          </a:xfrm>
          <a:prstGeom prst="rect">
            <a:avLst/>
          </a:prstGeom>
          <a:noFill/>
        </p:spPr>
        <p:txBody>
          <a:bodyPr wrap="square" anchor="t" lIns="45720" rIns="45720" tIns="18288" bIns="18288">
            <a:spAutoFit/>
          </a:bodyPr>
          <a:lstStyle/>
          <a:p>
            <a:pPr algn="l"/>
            <a:r>
              <a:rPr sz="1500" b="0">
                <a:solidFill>
                  <a:srgbClr val="5A6672"/>
                </a:solidFill>
                <a:latin typeface="맑은 고딕"/>
                <a:ea typeface="맑은 고딕"/>
              </a:rPr>
              <a:t>predefined administrator accounts</a:t>
            </a:r>
          </a:p>
        </p:txBody>
      </p:sp>
      <p:sp>
        <p:nvSpPr>
          <p:cNvPr id="5" name="TextBox 4"/>
          <p:cNvSpPr txBox="1"/>
          <p:nvPr/>
        </p:nvSpPr>
        <p:spPr>
          <a:xfrm>
            <a:off x="640080" y="1691640"/>
            <a:ext cx="10881360" cy="4572000"/>
          </a:xfrm>
          <a:prstGeom prst="rect">
            <a:avLst/>
          </a:prstGeom>
          <a:noFill/>
        </p:spPr>
        <p:txBody>
          <a:bodyPr wrap="square" anchor="t" lIns="45720" rIns="45720" tIns="18288" bIns="18288">
            <a:spAutoFit/>
          </a:bodyPr>
          <a:lstStyle/>
          <a:p>
            <a:pPr algn="l">
              <a:lnSpc>
                <a:spcPct val="105000"/>
              </a:lnSpc>
              <a:spcAft>
                <a:spcPts val="1000"/>
              </a:spcAft>
            </a:pPr>
            <a:r>
              <a:rPr sz="1800" b="0">
                <a:solidFill>
                  <a:srgbClr val="C0392B"/>
                </a:solidFill>
                <a:latin typeface="맑은 고딕"/>
                <a:ea typeface="맑은 고딕"/>
              </a:rPr>
              <a:t>•  SYS: 데이터 딕셔너리 전체 소유, AS SYSDBA/SYSOPER로만 접속</a:t>
            </a:r>
          </a:p>
          <a:p>
            <a:pPr algn="l">
              <a:lnSpc>
                <a:spcPct val="105000"/>
              </a:lnSpc>
              <a:spcAft>
                <a:spcPts val="1000"/>
              </a:spcAft>
            </a:pPr>
            <a:r>
              <a:rPr sz="1800" b="0">
                <a:solidFill>
                  <a:srgbClr val="C0392B"/>
                </a:solidFill>
                <a:latin typeface="맑은 고딕"/>
                <a:ea typeface="맑은 고딕"/>
              </a:rPr>
              <a:t>•  SYSTEM: 부가 관리 정보 소유, 일반 DBA 작업용</a:t>
            </a:r>
          </a:p>
          <a:p>
            <a:pPr algn="l">
              <a:lnSpc>
                <a:spcPct val="105000"/>
              </a:lnSpc>
              <a:spcAft>
                <a:spcPts val="1000"/>
              </a:spcAft>
            </a:pPr>
            <a:r>
              <a:rPr sz="1800" b="0">
                <a:solidFill>
                  <a:srgbClr val="C0392B"/>
                </a:solidFill>
                <a:latin typeface="맑은 고딕"/>
                <a:ea typeface="맑은 고딕"/>
              </a:rPr>
              <a:t>•  DBSNMP·AUDSYS·XDB 등 다수 내부 스키마 자동 생성</a:t>
            </a:r>
          </a:p>
          <a:p>
            <a:pPr algn="l">
              <a:lnSpc>
                <a:spcPct val="105000"/>
              </a:lnSpc>
              <a:spcAft>
                <a:spcPts val="1000"/>
              </a:spcAft>
            </a:pPr>
            <a:r>
              <a:rPr sz="1800" b="0">
                <a:solidFill>
                  <a:srgbClr val="C0392B"/>
                </a:solidFill>
                <a:latin typeface="맑은 고딕"/>
                <a:ea typeface="맑은 고딕"/>
              </a:rPr>
              <a:t>•  대부분 설치 직후 EXPIRED &amp; LOCKED 상태로 배포</a:t>
            </a:r>
          </a:p>
          <a:p>
            <a:pPr algn="l">
              <a:lnSpc>
                <a:spcPct val="105000"/>
              </a:lnSpc>
              <a:spcAft>
                <a:spcPts val="1000"/>
              </a:spcAft>
            </a:pPr>
            <a:r>
              <a:rPr sz="1800" b="0">
                <a:solidFill>
                  <a:srgbClr val="C0392B"/>
                </a:solidFill>
                <a:latin typeface="맑은 고딕"/>
                <a:ea typeface="맑은 고딕"/>
              </a:rPr>
              <a:t>•  SYS로 일상 작업 지양 → 감사·실수 파급 위험</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nchor="ctr" lIns="45720" rIns="45720" tIns="18288" bIns="18288">
            <a:spAutoFit/>
          </a:bodyPr>
          <a:lstStyle/>
          <a:p>
            <a:pPr algn="l"/>
            <a:r>
              <a:rPr sz="2600" b="1">
                <a:solidFill>
                  <a:srgbClr val="FFFFFF"/>
                </a:solidFill>
                <a:latin typeface="맑은 고딕"/>
                <a:ea typeface="맑은 고딕"/>
              </a:rPr>
              <a:t>관리 권한의 세분화</a:t>
            </a:r>
          </a:p>
        </p:txBody>
      </p:sp>
      <p:sp>
        <p:nvSpPr>
          <p:cNvPr id="4" name="TextBox 3"/>
          <p:cNvSpPr txBox="1"/>
          <p:nvPr/>
        </p:nvSpPr>
        <p:spPr>
          <a:xfrm>
            <a:off x="640080" y="1115568"/>
            <a:ext cx="10881360" cy="457200"/>
          </a:xfrm>
          <a:prstGeom prst="rect">
            <a:avLst/>
          </a:prstGeom>
          <a:noFill/>
        </p:spPr>
        <p:txBody>
          <a:bodyPr wrap="square" anchor="t" lIns="45720" rIns="45720" tIns="18288" bIns="18288">
            <a:spAutoFit/>
          </a:bodyPr>
          <a:lstStyle/>
          <a:p>
            <a:pPr algn="l"/>
            <a:r>
              <a:rPr sz="1500" b="0">
                <a:solidFill>
                  <a:srgbClr val="5A6672"/>
                </a:solidFill>
                <a:latin typeface="맑은 고딕"/>
                <a:ea typeface="맑은 고딕"/>
              </a:rPr>
              <a:t>least privilege for admins</a:t>
            </a:r>
          </a:p>
        </p:txBody>
      </p:sp>
      <p:sp>
        <p:nvSpPr>
          <p:cNvPr id="5" name="TextBox 4"/>
          <p:cNvSpPr txBox="1"/>
          <p:nvPr/>
        </p:nvSpPr>
        <p:spPr>
          <a:xfrm>
            <a:off x="640080" y="1691640"/>
            <a:ext cx="10881360" cy="4572000"/>
          </a:xfrm>
          <a:prstGeom prst="rect">
            <a:avLst/>
          </a:prstGeom>
          <a:noFill/>
        </p:spPr>
        <p:txBody>
          <a:bodyPr wrap="square" anchor="t" lIns="45720" rIns="45720" tIns="18288" bIns="18288">
            <a:spAutoFit/>
          </a:bodyPr>
          <a:lstStyle/>
          <a:p>
            <a:pPr algn="l">
              <a:lnSpc>
                <a:spcPct val="105000"/>
              </a:lnSpc>
              <a:spcAft>
                <a:spcPts val="1000"/>
              </a:spcAft>
            </a:pPr>
            <a:r>
              <a:rPr sz="1800" b="0">
                <a:solidFill>
                  <a:srgbClr val="C0392B"/>
                </a:solidFill>
                <a:latin typeface="맑은 고딕"/>
                <a:ea typeface="맑은 고딕"/>
              </a:rPr>
              <a:t>•  SYSDBA: 최고 관리 권한(생성·기동/종료·복구 등)</a:t>
            </a:r>
          </a:p>
          <a:p>
            <a:pPr algn="l">
              <a:lnSpc>
                <a:spcPct val="105000"/>
              </a:lnSpc>
              <a:spcAft>
                <a:spcPts val="1000"/>
              </a:spcAft>
            </a:pPr>
            <a:r>
              <a:rPr sz="1800" b="0">
                <a:solidFill>
                  <a:srgbClr val="C0392B"/>
                </a:solidFill>
                <a:latin typeface="맑은 고딕"/>
                <a:ea typeface="맑은 고딕"/>
              </a:rPr>
              <a:t>•  SYSOPER: 운영 권한(기동/종료 등, 데이터 접근 제한)</a:t>
            </a:r>
          </a:p>
          <a:p>
            <a:pPr algn="l">
              <a:lnSpc>
                <a:spcPct val="105000"/>
              </a:lnSpc>
              <a:spcAft>
                <a:spcPts val="1000"/>
              </a:spcAft>
            </a:pPr>
            <a:r>
              <a:rPr sz="1800" b="0">
                <a:solidFill>
                  <a:srgbClr val="C0392B"/>
                </a:solidFill>
                <a:latin typeface="맑은 고딕"/>
                <a:ea typeface="맑은 고딕"/>
              </a:rPr>
              <a:t>•  SYSBACKUP·SYSDG·SYSKM·SYSRAC: 목적별 관리 권한</a:t>
            </a:r>
          </a:p>
          <a:p>
            <a:pPr algn="l">
              <a:lnSpc>
                <a:spcPct val="105000"/>
              </a:lnSpc>
              <a:spcAft>
                <a:spcPts val="1000"/>
              </a:spcAft>
            </a:pPr>
            <a:r>
              <a:rPr sz="1800" b="0">
                <a:solidFill>
                  <a:srgbClr val="C0392B"/>
                </a:solidFill>
                <a:latin typeface="맑은 고딕"/>
                <a:ea typeface="맑은 고딕"/>
              </a:rPr>
              <a:t>•  최소 권한 원칙: 백업 담당자에게 SYSDBA 대신 SYSBACKUP</a:t>
            </a:r>
          </a:p>
          <a:p>
            <a:pPr algn="l">
              <a:lnSpc>
                <a:spcPct val="105000"/>
              </a:lnSpc>
              <a:spcAft>
                <a:spcPts val="1000"/>
              </a:spcAft>
            </a:pPr>
            <a:r>
              <a:rPr sz="1800" b="0">
                <a:solidFill>
                  <a:srgbClr val="C0392B"/>
                </a:solidFill>
                <a:latin typeface="맑은 고딕"/>
                <a:ea typeface="맑은 고딕"/>
              </a:rPr>
              <a:t>•  V$PWFILE_USERS: 관리 권한 부여 계정 확인</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nchor="ctr" lIns="45720" rIns="45720" tIns="18288" bIns="18288">
            <a:spAutoFit/>
          </a:bodyPr>
          <a:lstStyle/>
          <a:p>
            <a:pPr algn="l"/>
            <a:r>
              <a:rPr sz="2600" b="1">
                <a:solidFill>
                  <a:srgbClr val="FFFFFF"/>
                </a:solidFill>
                <a:latin typeface="맑은 고딕"/>
                <a:ea typeface="맑은 고딕"/>
              </a:rPr>
              <a:t>Oracle 제공 계정 조회</a:t>
            </a:r>
          </a:p>
        </p:txBody>
      </p:sp>
      <p:sp>
        <p:nvSpPr>
          <p:cNvPr id="4" name="TextBox 3"/>
          <p:cNvSpPr txBox="1"/>
          <p:nvPr/>
        </p:nvSpPr>
        <p:spPr>
          <a:xfrm>
            <a:off x="640080" y="1115568"/>
            <a:ext cx="10881360" cy="457200"/>
          </a:xfrm>
          <a:prstGeom prst="rect">
            <a:avLst/>
          </a:prstGeom>
          <a:noFill/>
        </p:spPr>
        <p:txBody>
          <a:bodyPr wrap="square" anchor="t" lIns="45720" rIns="45720" tIns="18288" bIns="18288">
            <a:spAutoFit/>
          </a:bodyPr>
          <a:lstStyle/>
          <a:p>
            <a:pPr algn="l"/>
            <a:r>
              <a:rPr sz="1500" b="0">
                <a:solidFill>
                  <a:srgbClr val="5A6672"/>
                </a:solidFill>
                <a:latin typeface="맑은 고딕"/>
                <a:ea typeface="맑은 고딕"/>
              </a:rPr>
              <a:t>DBA_USERS · account_status</a:t>
            </a:r>
          </a:p>
        </p:txBody>
      </p:sp>
      <p:sp>
        <p:nvSpPr>
          <p:cNvPr id="5" name="Rectangle 4"/>
          <p:cNvSpPr/>
          <p:nvPr/>
        </p:nvSpPr>
        <p:spPr>
          <a:xfrm>
            <a:off x="640080" y="1645920"/>
            <a:ext cx="10908792" cy="47091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10515600" cy="4526280"/>
          </a:xfrm>
          <a:prstGeom prst="rect">
            <a:avLst/>
          </a:prstGeom>
          <a:noFill/>
        </p:spPr>
        <p:txBody>
          <a:bodyPr wrap="square">
            <a:spAutoFit/>
          </a:bodyPr>
          <a:lstStyle/>
          <a:p>
            <a:pPr>
              <a:lnSpc>
                <a:spcPct val="100000"/>
              </a:lnSpc>
              <a:spcAft>
                <a:spcPts val="0"/>
              </a:spcAft>
            </a:pPr>
            <a:r>
              <a:rPr sz="1200">
                <a:solidFill>
                  <a:srgbClr val="7EC699"/>
                </a:solidFill>
                <a:latin typeface="Consolas"/>
                <a:ea typeface="Consolas"/>
              </a:rPr>
              <a:t>-- Oracle 제공 계정과 상태 확인 (일부)</a:t>
            </a:r>
          </a:p>
          <a:p>
            <a:pPr>
              <a:lnSpc>
                <a:spcPct val="100000"/>
              </a:lnSpc>
              <a:spcAft>
                <a:spcPts val="0"/>
              </a:spcAft>
            </a:pPr>
            <a:r>
              <a:rPr sz="1200">
                <a:solidFill>
                  <a:srgbClr val="E6E6E6"/>
                </a:solidFill>
                <a:latin typeface="Consolas"/>
                <a:ea typeface="Consolas"/>
              </a:rPr>
              <a:t>SYS@cdb1&gt; SELECT username, account_status, oracle_maintained</a:t>
            </a:r>
          </a:p>
          <a:p>
            <a:pPr>
              <a:lnSpc>
                <a:spcPct val="100000"/>
              </a:lnSpc>
              <a:spcAft>
                <a:spcPts val="0"/>
              </a:spcAft>
            </a:pPr>
            <a:r>
              <a:rPr sz="1200">
                <a:solidFill>
                  <a:srgbClr val="E6E6E6"/>
                </a:solidFill>
                <a:latin typeface="Consolas"/>
                <a:ea typeface="Consolas"/>
              </a:rPr>
              <a:t>  2  FROM dba_users WHERE oracle_maintained='Y' AND rownum&lt;=6;</a:t>
            </a:r>
          </a:p>
          <a:p>
            <a:pPr>
              <a:lnSpc>
                <a:spcPct val="100000"/>
              </a:lnSpc>
              <a:spcAft>
                <a:spcPts val="0"/>
              </a:spcAft>
            </a:pPr>
            <a:r>
              <a:rPr sz="1200">
                <a:solidFill>
                  <a:srgbClr val="E6E6E6"/>
                </a:solidFill>
                <a:latin typeface="Consolas"/>
                <a:ea typeface="Consolas"/>
              </a:rPr>
              <a:t> </a:t>
            </a:r>
          </a:p>
          <a:p>
            <a:pPr>
              <a:lnSpc>
                <a:spcPct val="100000"/>
              </a:lnSpc>
              <a:spcAft>
                <a:spcPts val="0"/>
              </a:spcAft>
            </a:pPr>
            <a:r>
              <a:rPr sz="1200">
                <a:solidFill>
                  <a:srgbClr val="E6E6E6"/>
                </a:solidFill>
                <a:latin typeface="Consolas"/>
                <a:ea typeface="Consolas"/>
              </a:rPr>
              <a:t>USERNAME     ACCOUNT_STATUS       ORACLE_MAINTAINED</a:t>
            </a:r>
          </a:p>
          <a:p>
            <a:pPr>
              <a:lnSpc>
                <a:spcPct val="100000"/>
              </a:lnSpc>
              <a:spcAft>
                <a:spcPts val="0"/>
              </a:spcAft>
            </a:pPr>
            <a:r>
              <a:rPr sz="1200">
                <a:solidFill>
                  <a:srgbClr val="E6E6E6"/>
                </a:solidFill>
                <a:latin typeface="Consolas"/>
                <a:ea typeface="Consolas"/>
              </a:rPr>
              <a:t>------------ -------------------- -----------------</a:t>
            </a:r>
          </a:p>
          <a:p>
            <a:pPr>
              <a:lnSpc>
                <a:spcPct val="100000"/>
              </a:lnSpc>
              <a:spcAft>
                <a:spcPts val="0"/>
              </a:spcAft>
            </a:pPr>
            <a:r>
              <a:rPr sz="1200">
                <a:solidFill>
                  <a:srgbClr val="E6E6E6"/>
                </a:solidFill>
                <a:latin typeface="Consolas"/>
                <a:ea typeface="Consolas"/>
              </a:rPr>
              <a:t>SYS          OPEN                 Y</a:t>
            </a:r>
          </a:p>
          <a:p>
            <a:pPr>
              <a:lnSpc>
                <a:spcPct val="100000"/>
              </a:lnSpc>
              <a:spcAft>
                <a:spcPts val="0"/>
              </a:spcAft>
            </a:pPr>
            <a:r>
              <a:rPr sz="1200">
                <a:solidFill>
                  <a:srgbClr val="E6E6E6"/>
                </a:solidFill>
                <a:latin typeface="Consolas"/>
                <a:ea typeface="Consolas"/>
              </a:rPr>
              <a:t>SYSTEM       OPEN                 Y</a:t>
            </a:r>
          </a:p>
          <a:p>
            <a:pPr>
              <a:lnSpc>
                <a:spcPct val="100000"/>
              </a:lnSpc>
              <a:spcAft>
                <a:spcPts val="0"/>
              </a:spcAft>
            </a:pPr>
            <a:r>
              <a:rPr sz="1200">
                <a:solidFill>
                  <a:srgbClr val="E6E6E6"/>
                </a:solidFill>
                <a:latin typeface="Consolas"/>
                <a:ea typeface="Consolas"/>
              </a:rPr>
              <a:t>XDB          EXPIRED &amp; LOCKED     Y</a:t>
            </a:r>
          </a:p>
          <a:p>
            <a:pPr>
              <a:lnSpc>
                <a:spcPct val="100000"/>
              </a:lnSpc>
              <a:spcAft>
                <a:spcPts val="0"/>
              </a:spcAft>
            </a:pPr>
            <a:r>
              <a:rPr sz="1200">
                <a:solidFill>
                  <a:srgbClr val="E6E6E6"/>
                </a:solidFill>
                <a:latin typeface="Consolas"/>
                <a:ea typeface="Consolas"/>
              </a:rPr>
              <a:t>DBSNMP       EXPIRED &amp; LOCKED     Y</a:t>
            </a:r>
          </a:p>
          <a:p>
            <a:pPr>
              <a:lnSpc>
                <a:spcPct val="100000"/>
              </a:lnSpc>
              <a:spcAft>
                <a:spcPts val="0"/>
              </a:spcAft>
            </a:pPr>
            <a:r>
              <a:rPr sz="1200">
                <a:solidFill>
                  <a:srgbClr val="E6E6E6"/>
                </a:solidFill>
                <a:latin typeface="Consolas"/>
                <a:ea typeface="Consolas"/>
              </a:rPr>
              <a:t>AUDSYS       EXPIRED &amp; LOCKED     Y</a:t>
            </a:r>
          </a:p>
          <a:p>
            <a:pPr>
              <a:lnSpc>
                <a:spcPct val="100000"/>
              </a:lnSpc>
              <a:spcAft>
                <a:spcPts val="0"/>
              </a:spcAft>
            </a:pPr>
            <a:r>
              <a:rPr sz="1200">
                <a:solidFill>
                  <a:srgbClr val="E6E6E6"/>
                </a:solidFill>
                <a:latin typeface="Consolas"/>
                <a:ea typeface="Consolas"/>
              </a:rPr>
              <a:t> </a:t>
            </a:r>
          </a:p>
          <a:p>
            <a:pPr>
              <a:lnSpc>
                <a:spcPct val="100000"/>
              </a:lnSpc>
              <a:spcAft>
                <a:spcPts val="0"/>
              </a:spcAft>
            </a:pPr>
            <a:r>
              <a:rPr sz="1200">
                <a:solidFill>
                  <a:srgbClr val="7EC699"/>
                </a:solidFill>
                <a:latin typeface="Consolas"/>
                <a:ea typeface="Consolas"/>
              </a:rPr>
              <a:t>-- 관리 권한을 가진 계정(비밀번호 파일 등록) 확인</a:t>
            </a:r>
          </a:p>
          <a:p>
            <a:pPr>
              <a:lnSpc>
                <a:spcPct val="100000"/>
              </a:lnSpc>
              <a:spcAft>
                <a:spcPts val="0"/>
              </a:spcAft>
            </a:pPr>
            <a:r>
              <a:rPr sz="1200">
                <a:solidFill>
                  <a:srgbClr val="E6E6E6"/>
                </a:solidFill>
                <a:latin typeface="Consolas"/>
                <a:ea typeface="Consolas"/>
              </a:rPr>
              <a:t>SYS@cdb1&gt; SELECT username, sysdba, sysoper, sysbackup</a:t>
            </a:r>
          </a:p>
          <a:p>
            <a:pPr>
              <a:lnSpc>
                <a:spcPct val="100000"/>
              </a:lnSpc>
              <a:spcAft>
                <a:spcPts val="0"/>
              </a:spcAft>
            </a:pPr>
            <a:r>
              <a:rPr sz="1200">
                <a:solidFill>
                  <a:srgbClr val="E6E6E6"/>
                </a:solidFill>
                <a:latin typeface="Consolas"/>
                <a:ea typeface="Consolas"/>
              </a:rPr>
              <a:t>  2  FROM v$pwfile_users;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lIns="45720" rIns="45720" tIns="18288" bIns="18288">
            <a:spAutoFit/>
          </a:bodyPr>
          <a:lstStyle/>
          <a:p>
            <a:pPr algn="l"/>
            <a:r>
              <a:rPr sz="4000" b="1">
                <a:solidFill>
                  <a:srgbClr val="FFFFFF"/>
                </a:solidFill>
                <a:latin typeface="맑은 고딕"/>
                <a:ea typeface="맑은 고딕"/>
              </a:rPr>
              <a:t>21.B</a:t>
            </a:r>
          </a:p>
        </p:txBody>
      </p:sp>
      <p:sp>
        <p:nvSpPr>
          <p:cNvPr id="4" name="TextBox 3"/>
          <p:cNvSpPr txBox="1"/>
          <p:nvPr/>
        </p:nvSpPr>
        <p:spPr>
          <a:xfrm>
            <a:off x="822960" y="3017520"/>
            <a:ext cx="10515600" cy="914400"/>
          </a:xfrm>
          <a:prstGeom prst="rect">
            <a:avLst/>
          </a:prstGeom>
          <a:noFill/>
        </p:spPr>
        <p:txBody>
          <a:bodyPr wrap="square" anchor="t" lIns="45720" rIns="45720" tIns="18288" bIns="18288">
            <a:spAutoFit/>
          </a:bodyPr>
          <a:lstStyle/>
          <a:p>
            <a:pPr algn="l"/>
            <a:r>
              <a:rPr sz="2800" b="1">
                <a:solidFill>
                  <a:srgbClr val="FFFFFF"/>
                </a:solidFill>
                <a:latin typeface="맑은 고딕"/>
                <a:ea typeface="맑은 고딕"/>
              </a:rPr>
              <a:t>멀티테넌트 환경의 사용자 생성</a:t>
            </a:r>
          </a:p>
        </p:txBody>
      </p:sp>
      <p:sp>
        <p:nvSpPr>
          <p:cNvPr id="5" name="Rectangle 4"/>
          <p:cNvSpPr/>
          <p:nvPr/>
        </p:nvSpPr>
        <p:spPr>
          <a:xfrm>
            <a:off x="868680" y="4114800"/>
            <a:ext cx="5486400" cy="457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4297680"/>
            <a:ext cx="10058400" cy="1828800"/>
          </a:xfrm>
          <a:prstGeom prst="rect">
            <a:avLst/>
          </a:prstGeom>
          <a:noFill/>
        </p:spPr>
        <p:txBody>
          <a:bodyPr wrap="square" anchor="t" lIns="45720" rIns="45720" tIns="18288" bIns="18288">
            <a:spAutoFit/>
          </a:bodyPr>
          <a:lstStyle/>
          <a:p>
            <a:pPr algn="l">
              <a:spcAft>
                <a:spcPts val="400"/>
              </a:spcAft>
            </a:pPr>
            <a:r>
              <a:rPr sz="1600" b="0">
                <a:solidFill>
                  <a:srgbClr val="FFFFFF"/>
                </a:solidFill>
                <a:latin typeface="맑은 고딕"/>
                <a:ea typeface="맑은 고딕"/>
              </a:rPr>
              <a:t>•  공통 사용자 vs 로컬 사용자</a:t>
            </a:r>
          </a:p>
          <a:p>
            <a:pPr algn="l">
              <a:spcAft>
                <a:spcPts val="400"/>
              </a:spcAft>
            </a:pPr>
            <a:r>
              <a:rPr sz="1600" b="0">
                <a:solidFill>
                  <a:srgbClr val="FFFFFF"/>
                </a:solidFill>
                <a:latin typeface="맑은 고딕"/>
                <a:ea typeface="맑은 고딕"/>
              </a:rPr>
              <a:t>•  C## 접두사 규칙</a:t>
            </a:r>
          </a:p>
          <a:p>
            <a:pPr algn="l">
              <a:spcAft>
                <a:spcPts val="400"/>
              </a:spcAft>
            </a:pPr>
            <a:r>
              <a:rPr sz="1600" b="0">
                <a:solidFill>
                  <a:srgbClr val="FFFFFF"/>
                </a:solidFill>
                <a:latin typeface="맑은 고딕"/>
                <a:ea typeface="맑은 고딕"/>
              </a:rPr>
              <a:t>•  공통 사용자 생성 제약</a:t>
            </a:r>
          </a:p>
          <a:p>
            <a:pPr algn="l">
              <a:spcAft>
                <a:spcPts val="400"/>
              </a:spcAft>
            </a:pPr>
            <a:r>
              <a:rPr sz="1600" b="0">
                <a:solidFill>
                  <a:srgbClr val="FFFFFF"/>
                </a:solidFill>
                <a:latin typeface="맑은 고딕"/>
                <a:ea typeface="맑은 고딕"/>
              </a:rPr>
              <a:t>•  CDB·PDB에 사용자 생성</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nchor="ctr" lIns="45720" rIns="45720" tIns="18288" bIns="18288">
            <a:spAutoFit/>
          </a:bodyPr>
          <a:lstStyle/>
          <a:p>
            <a:pPr algn="l"/>
            <a:r>
              <a:rPr sz="2600" b="1">
                <a:solidFill>
                  <a:srgbClr val="FFFFFF"/>
                </a:solidFill>
                <a:latin typeface="맑은 고딕"/>
                <a:ea typeface="맑은 고딕"/>
              </a:rPr>
              <a:t>공통 사용자 vs 로컬 사용자</a:t>
            </a:r>
          </a:p>
        </p:txBody>
      </p:sp>
      <p:sp>
        <p:nvSpPr>
          <p:cNvPr id="4" name="TextBox 3"/>
          <p:cNvSpPr txBox="1"/>
          <p:nvPr/>
        </p:nvSpPr>
        <p:spPr>
          <a:xfrm>
            <a:off x="640080" y="1115568"/>
            <a:ext cx="10881360" cy="457200"/>
          </a:xfrm>
          <a:prstGeom prst="rect">
            <a:avLst/>
          </a:prstGeom>
          <a:noFill/>
        </p:spPr>
        <p:txBody>
          <a:bodyPr wrap="square" anchor="t" lIns="45720" rIns="45720" tIns="18288" bIns="18288">
            <a:spAutoFit/>
          </a:bodyPr>
          <a:lstStyle/>
          <a:p>
            <a:pPr algn="l"/>
            <a:r>
              <a:rPr sz="1500" b="0">
                <a:solidFill>
                  <a:srgbClr val="5A6672"/>
                </a:solidFill>
                <a:latin typeface="맑은 고딕"/>
                <a:ea typeface="맑은 고딕"/>
              </a:rPr>
              <a:t>common vs local user</a:t>
            </a:r>
          </a:p>
        </p:txBody>
      </p:sp>
      <p:sp>
        <p:nvSpPr>
          <p:cNvPr id="5" name="TextBox 4"/>
          <p:cNvSpPr txBox="1"/>
          <p:nvPr/>
        </p:nvSpPr>
        <p:spPr>
          <a:xfrm>
            <a:off x="640080" y="1691640"/>
            <a:ext cx="10881360" cy="4572000"/>
          </a:xfrm>
          <a:prstGeom prst="rect">
            <a:avLst/>
          </a:prstGeom>
          <a:noFill/>
        </p:spPr>
        <p:txBody>
          <a:bodyPr wrap="square" anchor="t" lIns="45720" rIns="45720" tIns="18288" bIns="18288">
            <a:spAutoFit/>
          </a:bodyPr>
          <a:lstStyle/>
          <a:p>
            <a:pPr algn="l">
              <a:lnSpc>
                <a:spcPct val="105000"/>
              </a:lnSpc>
              <a:spcAft>
                <a:spcPts val="1000"/>
              </a:spcAft>
            </a:pPr>
            <a:r>
              <a:rPr sz="1800" b="0">
                <a:solidFill>
                  <a:srgbClr val="C0392B"/>
                </a:solidFill>
                <a:latin typeface="맑은 고딕"/>
                <a:ea typeface="맑은 고딕"/>
              </a:rPr>
              <a:t>•  공통 사용자: CDB 루트에서 생성, 모든 PDB에 동일 정체성 존재</a:t>
            </a:r>
          </a:p>
          <a:p>
            <a:pPr algn="l">
              <a:lnSpc>
                <a:spcPct val="105000"/>
              </a:lnSpc>
              <a:spcAft>
                <a:spcPts val="1000"/>
              </a:spcAft>
            </a:pPr>
            <a:r>
              <a:rPr sz="1800" b="0">
                <a:solidFill>
                  <a:srgbClr val="C0392B"/>
                </a:solidFill>
                <a:latin typeface="맑은 고딕"/>
                <a:ea typeface="맑은 고딕"/>
              </a:rPr>
              <a:t>•  로컬 사용자: 특정 PDB 안에만 존재</a:t>
            </a:r>
          </a:p>
          <a:p>
            <a:pPr algn="l">
              <a:lnSpc>
                <a:spcPct val="105000"/>
              </a:lnSpc>
              <a:spcAft>
                <a:spcPts val="1000"/>
              </a:spcAft>
            </a:pPr>
            <a:r>
              <a:rPr sz="1800" b="0">
                <a:solidFill>
                  <a:srgbClr val="C0392B"/>
                </a:solidFill>
                <a:latin typeface="맑은 고딕"/>
                <a:ea typeface="맑은 고딕"/>
              </a:rPr>
              <a:t>•  공통 사용자 → CDB 전역 관리·운영 계정(SYS·SYSTEM 포함)</a:t>
            </a:r>
          </a:p>
          <a:p>
            <a:pPr algn="l">
              <a:lnSpc>
                <a:spcPct val="105000"/>
              </a:lnSpc>
              <a:spcAft>
                <a:spcPts val="1000"/>
              </a:spcAft>
            </a:pPr>
            <a:r>
              <a:rPr sz="1800" b="0">
                <a:solidFill>
                  <a:srgbClr val="C0392B"/>
                </a:solidFill>
                <a:latin typeface="맑은 고딕"/>
                <a:ea typeface="맑은 고딕"/>
              </a:rPr>
              <a:t>•  로컬 사용자 → 특정 PDB의 애플리케이션·업무 계정</a:t>
            </a:r>
          </a:p>
          <a:p>
            <a:pPr algn="l">
              <a:lnSpc>
                <a:spcPct val="105000"/>
              </a:lnSpc>
              <a:spcAft>
                <a:spcPts val="1000"/>
              </a:spcAft>
            </a:pPr>
            <a:r>
              <a:rPr sz="1800" b="0">
                <a:solidFill>
                  <a:srgbClr val="C0392B"/>
                </a:solidFill>
                <a:latin typeface="맑은 고딕"/>
                <a:ea typeface="맑은 고딕"/>
              </a:rPr>
              <a:t>•  서로 다른 PDB의 같은 이름 로컬 사용자는 완전히 별개</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nchor="ctr" lIns="45720" rIns="45720" tIns="18288" bIns="18288">
            <a:spAutoFit/>
          </a:bodyPr>
          <a:lstStyle/>
          <a:p>
            <a:pPr algn="l"/>
            <a:r>
              <a:rPr sz="2600" b="1">
                <a:solidFill>
                  <a:srgbClr val="FFFFFF"/>
                </a:solidFill>
                <a:latin typeface="맑은 고딕"/>
                <a:ea typeface="맑은 고딕"/>
              </a:rPr>
              <a:t>C## 접두사와 공통 사용자 규칙</a:t>
            </a:r>
          </a:p>
        </p:txBody>
      </p:sp>
      <p:sp>
        <p:nvSpPr>
          <p:cNvPr id="4" name="TextBox 3"/>
          <p:cNvSpPr txBox="1"/>
          <p:nvPr/>
        </p:nvSpPr>
        <p:spPr>
          <a:xfrm>
            <a:off x="640080" y="1115568"/>
            <a:ext cx="10881360" cy="457200"/>
          </a:xfrm>
          <a:prstGeom prst="rect">
            <a:avLst/>
          </a:prstGeom>
          <a:noFill/>
        </p:spPr>
        <p:txBody>
          <a:bodyPr wrap="square" anchor="t" lIns="45720" rIns="45720" tIns="18288" bIns="18288">
            <a:spAutoFit/>
          </a:bodyPr>
          <a:lstStyle/>
          <a:p>
            <a:pPr algn="l"/>
            <a:r>
              <a:rPr sz="1500" b="0">
                <a:solidFill>
                  <a:srgbClr val="5A6672"/>
                </a:solidFill>
                <a:latin typeface="맑은 고딕"/>
                <a:ea typeface="맑은 고딕"/>
              </a:rPr>
              <a:t>C## prefix rules</a:t>
            </a:r>
          </a:p>
        </p:txBody>
      </p:sp>
      <p:sp>
        <p:nvSpPr>
          <p:cNvPr id="5" name="TextBox 4"/>
          <p:cNvSpPr txBox="1"/>
          <p:nvPr/>
        </p:nvSpPr>
        <p:spPr>
          <a:xfrm>
            <a:off x="640080" y="1691640"/>
            <a:ext cx="10881360" cy="4572000"/>
          </a:xfrm>
          <a:prstGeom prst="rect">
            <a:avLst/>
          </a:prstGeom>
          <a:noFill/>
        </p:spPr>
        <p:txBody>
          <a:bodyPr wrap="square" anchor="t" lIns="45720" rIns="45720" tIns="18288" bIns="18288">
            <a:spAutoFit/>
          </a:bodyPr>
          <a:lstStyle/>
          <a:p>
            <a:pPr algn="l">
              <a:lnSpc>
                <a:spcPct val="105000"/>
              </a:lnSpc>
              <a:spcAft>
                <a:spcPts val="1000"/>
              </a:spcAft>
            </a:pPr>
            <a:r>
              <a:rPr sz="1800" b="0">
                <a:solidFill>
                  <a:srgbClr val="C0392B"/>
                </a:solidFill>
                <a:latin typeface="맑은 고딕"/>
                <a:ea typeface="맑은 고딕"/>
              </a:rPr>
              <a:t>•  DBA가 만드는 공통 사용자 이름은 반드시 C##/c## 로 시작</a:t>
            </a:r>
          </a:p>
          <a:p>
            <a:pPr algn="l">
              <a:lnSpc>
                <a:spcPct val="105000"/>
              </a:lnSpc>
              <a:spcAft>
                <a:spcPts val="1000"/>
              </a:spcAft>
            </a:pPr>
            <a:r>
              <a:rPr sz="1800" b="0">
                <a:solidFill>
                  <a:srgbClr val="C0392B"/>
                </a:solidFill>
                <a:latin typeface="맑은 고딕"/>
                <a:ea typeface="맑은 고딕"/>
              </a:rPr>
              <a:t>•  SYS·SYSTEM 등 오라클 제공 공통 사용자는 접두사 예외</a:t>
            </a:r>
          </a:p>
          <a:p>
            <a:pPr algn="l">
              <a:lnSpc>
                <a:spcPct val="105000"/>
              </a:lnSpc>
              <a:spcAft>
                <a:spcPts val="1000"/>
              </a:spcAft>
            </a:pPr>
            <a:r>
              <a:rPr sz="1800" b="0">
                <a:solidFill>
                  <a:srgbClr val="C0392B"/>
                </a:solidFill>
                <a:latin typeface="맑은 고딕"/>
                <a:ea typeface="맑은 고딕"/>
              </a:rPr>
              <a:t>•  로컬 사용자 이름에는 C## 사용 불가</a:t>
            </a:r>
          </a:p>
          <a:p>
            <a:pPr algn="l">
              <a:lnSpc>
                <a:spcPct val="105000"/>
              </a:lnSpc>
              <a:spcAft>
                <a:spcPts val="1000"/>
              </a:spcAft>
            </a:pPr>
            <a:r>
              <a:rPr sz="1800" b="0">
                <a:solidFill>
                  <a:srgbClr val="C0392B"/>
                </a:solidFill>
                <a:latin typeface="맑은 고딕"/>
                <a:ea typeface="맑은 고딕"/>
              </a:rPr>
              <a:t>•  기본/임시 TS는 모든 컨테이너에 동일 이름으로 존재해야 함</a:t>
            </a:r>
          </a:p>
          <a:p>
            <a:pPr algn="l">
              <a:lnSpc>
                <a:spcPct val="105000"/>
              </a:lnSpc>
              <a:spcAft>
                <a:spcPts val="1000"/>
              </a:spcAft>
            </a:pPr>
            <a:r>
              <a:rPr sz="1800" b="0">
                <a:solidFill>
                  <a:srgbClr val="C0392B"/>
                </a:solidFill>
                <a:latin typeface="맑은 고딕"/>
                <a:ea typeface="맑은 고딕"/>
              </a:rPr>
              <a:t>•  공통 사용자 생성·삭제·비밀번호 변경은 루트에서만</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nchor="ctr" lIns="45720" rIns="45720" tIns="18288" bIns="18288">
            <a:spAutoFit/>
          </a:bodyPr>
          <a:lstStyle/>
          <a:p>
            <a:pPr algn="l"/>
            <a:r>
              <a:rPr sz="2600" b="1">
                <a:solidFill>
                  <a:srgbClr val="FFFFFF"/>
                </a:solidFill>
                <a:latin typeface="맑은 고딕"/>
                <a:ea typeface="맑은 고딕"/>
              </a:rPr>
              <a:t>공통 사용자와 권한의 범위</a:t>
            </a:r>
          </a:p>
        </p:txBody>
      </p:sp>
      <p:sp>
        <p:nvSpPr>
          <p:cNvPr id="4" name="TextBox 3"/>
          <p:cNvSpPr txBox="1"/>
          <p:nvPr/>
        </p:nvSpPr>
        <p:spPr>
          <a:xfrm>
            <a:off x="640080" y="1115568"/>
            <a:ext cx="10881360" cy="457200"/>
          </a:xfrm>
          <a:prstGeom prst="rect">
            <a:avLst/>
          </a:prstGeom>
          <a:noFill/>
        </p:spPr>
        <p:txBody>
          <a:bodyPr wrap="square" anchor="t" lIns="45720" rIns="45720" tIns="18288" bIns="18288">
            <a:spAutoFit/>
          </a:bodyPr>
          <a:lstStyle/>
          <a:p>
            <a:pPr algn="l"/>
            <a:r>
              <a:rPr sz="1500" b="0">
                <a:solidFill>
                  <a:srgbClr val="5A6672"/>
                </a:solidFill>
                <a:latin typeface="맑은 고딕"/>
                <a:ea typeface="맑은 고딕"/>
              </a:rPr>
              <a:t>CONTAINER=ALL vs CURRENT</a:t>
            </a:r>
          </a:p>
        </p:txBody>
      </p:sp>
      <p:sp>
        <p:nvSpPr>
          <p:cNvPr id="5" name="TextBox 4"/>
          <p:cNvSpPr txBox="1"/>
          <p:nvPr/>
        </p:nvSpPr>
        <p:spPr>
          <a:xfrm>
            <a:off x="640080" y="1691640"/>
            <a:ext cx="10881360" cy="4572000"/>
          </a:xfrm>
          <a:prstGeom prst="rect">
            <a:avLst/>
          </a:prstGeom>
          <a:noFill/>
        </p:spPr>
        <p:txBody>
          <a:bodyPr wrap="square" anchor="t" lIns="45720" rIns="45720" tIns="18288" bIns="18288">
            <a:spAutoFit/>
          </a:bodyPr>
          <a:lstStyle/>
          <a:p>
            <a:pPr algn="l">
              <a:lnSpc>
                <a:spcPct val="105000"/>
              </a:lnSpc>
              <a:spcAft>
                <a:spcPts val="1000"/>
              </a:spcAft>
            </a:pPr>
            <a:r>
              <a:rPr sz="1800" b="0">
                <a:solidFill>
                  <a:srgbClr val="C0392B"/>
                </a:solidFill>
                <a:latin typeface="맑은 고딕"/>
                <a:ea typeface="맑은 고딕"/>
              </a:rPr>
              <a:t>•  공통 사용자는 모든 컨테이너에 '존재'하지만 권한은 별도</a:t>
            </a:r>
          </a:p>
          <a:p>
            <a:pPr algn="l">
              <a:lnSpc>
                <a:spcPct val="105000"/>
              </a:lnSpc>
              <a:spcAft>
                <a:spcPts val="1000"/>
              </a:spcAft>
            </a:pPr>
            <a:r>
              <a:rPr sz="1800" b="0">
                <a:solidFill>
                  <a:srgbClr val="C0392B"/>
                </a:solidFill>
                <a:latin typeface="맑은 고딕"/>
                <a:ea typeface="맑은 고딕"/>
              </a:rPr>
              <a:t>•  '계정이 존재함'과 '권한을 가짐'은 별개</a:t>
            </a:r>
          </a:p>
          <a:p>
            <a:pPr algn="l">
              <a:lnSpc>
                <a:spcPct val="105000"/>
              </a:lnSpc>
              <a:spcAft>
                <a:spcPts val="1000"/>
              </a:spcAft>
            </a:pPr>
            <a:r>
              <a:rPr sz="1800" b="0">
                <a:solidFill>
                  <a:srgbClr val="C0392B"/>
                </a:solidFill>
                <a:latin typeface="맑은 고딕"/>
                <a:ea typeface="맑은 고딕"/>
              </a:rPr>
              <a:t>•  GRANT … CONTAINER=ALL → 모든 컨테이너에서 권한 적용</a:t>
            </a:r>
          </a:p>
          <a:p>
            <a:pPr algn="l">
              <a:lnSpc>
                <a:spcPct val="105000"/>
              </a:lnSpc>
              <a:spcAft>
                <a:spcPts val="1000"/>
              </a:spcAft>
            </a:pPr>
            <a:r>
              <a:rPr sz="1800" b="0">
                <a:solidFill>
                  <a:srgbClr val="C0392B"/>
                </a:solidFill>
                <a:latin typeface="맑은 고딕"/>
                <a:ea typeface="맑은 고딕"/>
              </a:rPr>
              <a:t>•  GRANT … CONTAINER=CURRENT → 현재 컨테이너에서만 적용</a:t>
            </a:r>
          </a:p>
          <a:p>
            <a:pPr algn="l">
              <a:lnSpc>
                <a:spcPct val="105000"/>
              </a:lnSpc>
              <a:spcAft>
                <a:spcPts val="1000"/>
              </a:spcAft>
            </a:pPr>
            <a:r>
              <a:rPr sz="1800" b="0">
                <a:solidFill>
                  <a:srgbClr val="C0392B"/>
                </a:solidFill>
                <a:latin typeface="맑은 고딕"/>
                <a:ea typeface="맑은 고딕"/>
              </a:rPr>
              <a:t>•  CREATE USER 시 루트=CONTAINER=ALL 기본, PDB=CURRENT 기본</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nchor="ctr" lIns="45720" rIns="45720" tIns="18288" bIns="18288">
            <a:spAutoFit/>
          </a:bodyPr>
          <a:lstStyle/>
          <a:p>
            <a:pPr algn="l"/>
            <a:r>
              <a:rPr sz="2600" b="1">
                <a:solidFill>
                  <a:srgbClr val="FFFFFF"/>
                </a:solidFill>
                <a:latin typeface="맑은 고딕"/>
                <a:ea typeface="맑은 고딕"/>
              </a:rPr>
              <a:t>CDB·PDB에 사용자 생성</a:t>
            </a:r>
          </a:p>
        </p:txBody>
      </p:sp>
      <p:sp>
        <p:nvSpPr>
          <p:cNvPr id="4" name="TextBox 3"/>
          <p:cNvSpPr txBox="1"/>
          <p:nvPr/>
        </p:nvSpPr>
        <p:spPr>
          <a:xfrm>
            <a:off x="640080" y="1115568"/>
            <a:ext cx="10881360" cy="457200"/>
          </a:xfrm>
          <a:prstGeom prst="rect">
            <a:avLst/>
          </a:prstGeom>
          <a:noFill/>
        </p:spPr>
        <p:txBody>
          <a:bodyPr wrap="square" anchor="t" lIns="45720" rIns="45720" tIns="18288" bIns="18288">
            <a:spAutoFit/>
          </a:bodyPr>
          <a:lstStyle/>
          <a:p>
            <a:pPr algn="l"/>
            <a:r>
              <a:rPr sz="1500" b="0">
                <a:solidFill>
                  <a:srgbClr val="5A6672"/>
                </a:solidFill>
                <a:latin typeface="맑은 고딕"/>
                <a:ea typeface="맑은 고딕"/>
              </a:rPr>
              <a:t>common &amp; local user</a:t>
            </a:r>
          </a:p>
        </p:txBody>
      </p:sp>
      <p:sp>
        <p:nvSpPr>
          <p:cNvPr id="5" name="Rectangle 4"/>
          <p:cNvSpPr/>
          <p:nvPr/>
        </p:nvSpPr>
        <p:spPr>
          <a:xfrm>
            <a:off x="640080" y="1645920"/>
            <a:ext cx="10908792" cy="47091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10515600" cy="4526280"/>
          </a:xfrm>
          <a:prstGeom prst="rect">
            <a:avLst/>
          </a:prstGeom>
          <a:noFill/>
        </p:spPr>
        <p:txBody>
          <a:bodyPr wrap="square">
            <a:spAutoFit/>
          </a:bodyPr>
          <a:lstStyle/>
          <a:p>
            <a:pPr>
              <a:lnSpc>
                <a:spcPct val="100000"/>
              </a:lnSpc>
              <a:spcAft>
                <a:spcPts val="0"/>
              </a:spcAft>
            </a:pPr>
            <a:r>
              <a:rPr sz="1200">
                <a:solidFill>
                  <a:srgbClr val="7EC699"/>
                </a:solidFill>
                <a:latin typeface="Consolas"/>
                <a:ea typeface="Consolas"/>
              </a:rPr>
              <a:t>-- [루트] 공통 사용자 생성 (C## 필수, CONTAINER=ALL 기본)</a:t>
            </a:r>
          </a:p>
          <a:p>
            <a:pPr>
              <a:lnSpc>
                <a:spcPct val="100000"/>
              </a:lnSpc>
              <a:spcAft>
                <a:spcPts val="0"/>
              </a:spcAft>
            </a:pPr>
            <a:r>
              <a:rPr sz="1200">
                <a:solidFill>
                  <a:srgbClr val="E6E6E6"/>
                </a:solidFill>
                <a:latin typeface="Consolas"/>
                <a:ea typeface="Consolas"/>
              </a:rPr>
              <a:t>SYS@cdb1&gt; CREATE USER c##dbadmin IDENTIFIED BY Welcome_123</a:t>
            </a:r>
          </a:p>
          <a:p>
            <a:pPr>
              <a:lnSpc>
                <a:spcPct val="100000"/>
              </a:lnSpc>
              <a:spcAft>
                <a:spcPts val="0"/>
              </a:spcAft>
            </a:pPr>
            <a:r>
              <a:rPr sz="1200">
                <a:solidFill>
                  <a:srgbClr val="E6E6E6"/>
                </a:solidFill>
                <a:latin typeface="Consolas"/>
                <a:ea typeface="Consolas"/>
              </a:rPr>
              <a:t>  2  DEFAULT TABLESPACE users TEMPORARY TABLESPACE temp</a:t>
            </a:r>
          </a:p>
          <a:p>
            <a:pPr>
              <a:lnSpc>
                <a:spcPct val="100000"/>
              </a:lnSpc>
              <a:spcAft>
                <a:spcPts val="0"/>
              </a:spcAft>
            </a:pPr>
            <a:r>
              <a:rPr sz="1200">
                <a:solidFill>
                  <a:srgbClr val="E6E6E6"/>
                </a:solidFill>
                <a:latin typeface="Consolas"/>
                <a:ea typeface="Consolas"/>
              </a:rPr>
              <a:t>  3  CONTAINER=ALL;</a:t>
            </a:r>
          </a:p>
          <a:p>
            <a:pPr>
              <a:lnSpc>
                <a:spcPct val="100000"/>
              </a:lnSpc>
              <a:spcAft>
                <a:spcPts val="0"/>
              </a:spcAft>
            </a:pPr>
            <a:r>
              <a:rPr sz="1200">
                <a:solidFill>
                  <a:srgbClr val="E6E6E6"/>
                </a:solidFill>
                <a:latin typeface="Consolas"/>
                <a:ea typeface="Consolas"/>
              </a:rPr>
              <a:t>User created.</a:t>
            </a:r>
          </a:p>
          <a:p>
            <a:pPr>
              <a:lnSpc>
                <a:spcPct val="100000"/>
              </a:lnSpc>
              <a:spcAft>
                <a:spcPts val="0"/>
              </a:spcAft>
            </a:pPr>
            <a:r>
              <a:rPr sz="1200">
                <a:solidFill>
                  <a:srgbClr val="E6E6E6"/>
                </a:solidFill>
                <a:latin typeface="Consolas"/>
                <a:ea typeface="Consolas"/>
              </a:rPr>
              <a:t> </a:t>
            </a:r>
          </a:p>
          <a:p>
            <a:pPr>
              <a:lnSpc>
                <a:spcPct val="100000"/>
              </a:lnSpc>
              <a:spcAft>
                <a:spcPts val="0"/>
              </a:spcAft>
            </a:pPr>
            <a:r>
              <a:rPr sz="1200">
                <a:solidFill>
                  <a:srgbClr val="7EC699"/>
                </a:solidFill>
                <a:latin typeface="Consolas"/>
                <a:ea typeface="Consolas"/>
              </a:rPr>
              <a:t>-- (오류) 공통 사용자인데 C## 접두사 누락</a:t>
            </a:r>
          </a:p>
          <a:p>
            <a:pPr>
              <a:lnSpc>
                <a:spcPct val="100000"/>
              </a:lnSpc>
              <a:spcAft>
                <a:spcPts val="0"/>
              </a:spcAft>
            </a:pPr>
            <a:r>
              <a:rPr sz="1200">
                <a:solidFill>
                  <a:srgbClr val="E6E6E6"/>
                </a:solidFill>
                <a:latin typeface="Consolas"/>
                <a:ea typeface="Consolas"/>
              </a:rPr>
              <a:t>SYS@cdb1&gt; CREATE USER dbadmin IDENTIFIED BY pw CONTAINER=ALL;</a:t>
            </a:r>
          </a:p>
          <a:p>
            <a:pPr>
              <a:lnSpc>
                <a:spcPct val="100000"/>
              </a:lnSpc>
              <a:spcAft>
                <a:spcPts val="0"/>
              </a:spcAft>
            </a:pPr>
            <a:r>
              <a:rPr sz="1200">
                <a:solidFill>
                  <a:srgbClr val="E6E6E6"/>
                </a:solidFill>
                <a:latin typeface="Consolas"/>
                <a:ea typeface="Consolas"/>
              </a:rPr>
              <a:t>ERROR: ORA-65096: 공통 사용자/롤 이름이 부적합합니다.</a:t>
            </a:r>
          </a:p>
          <a:p>
            <a:pPr>
              <a:lnSpc>
                <a:spcPct val="100000"/>
              </a:lnSpc>
              <a:spcAft>
                <a:spcPts val="0"/>
              </a:spcAft>
            </a:pPr>
            <a:r>
              <a:rPr sz="1200">
                <a:solidFill>
                  <a:srgbClr val="7EC699"/>
                </a:solidFill>
                <a:latin typeface="Consolas"/>
                <a:ea typeface="Consolas"/>
              </a:rPr>
              <a:t>-- 원인: 공통 사용자는 C## 로 시작해야 함 → 이름 수정 후 재실행</a:t>
            </a:r>
          </a:p>
          <a:p>
            <a:pPr>
              <a:lnSpc>
                <a:spcPct val="100000"/>
              </a:lnSpc>
              <a:spcAft>
                <a:spcPts val="0"/>
              </a:spcAft>
            </a:pPr>
            <a:r>
              <a:rPr sz="1200">
                <a:solidFill>
                  <a:srgbClr val="E6E6E6"/>
                </a:solidFill>
                <a:latin typeface="Consolas"/>
                <a:ea typeface="Consolas"/>
              </a:rPr>
              <a:t> </a:t>
            </a:r>
          </a:p>
          <a:p>
            <a:pPr>
              <a:lnSpc>
                <a:spcPct val="100000"/>
              </a:lnSpc>
              <a:spcAft>
                <a:spcPts val="0"/>
              </a:spcAft>
            </a:pPr>
            <a:r>
              <a:rPr sz="1200">
                <a:solidFill>
                  <a:srgbClr val="7EC699"/>
                </a:solidFill>
                <a:latin typeface="Consolas"/>
                <a:ea typeface="Consolas"/>
              </a:rPr>
              <a:t>-- [PDB] 로컬 사용자 생성 (CURRENT 기본)</a:t>
            </a:r>
          </a:p>
          <a:p>
            <a:pPr>
              <a:lnSpc>
                <a:spcPct val="100000"/>
              </a:lnSpc>
              <a:spcAft>
                <a:spcPts val="0"/>
              </a:spcAft>
            </a:pPr>
            <a:r>
              <a:rPr sz="1200">
                <a:solidFill>
                  <a:srgbClr val="E6E6E6"/>
                </a:solidFill>
                <a:latin typeface="Consolas"/>
                <a:ea typeface="Consolas"/>
              </a:rPr>
              <a:t>SYS@cdb1&gt; ALTER SESSION SET CONTAINER=salespdb;</a:t>
            </a:r>
          </a:p>
          <a:p>
            <a:pPr>
              <a:lnSpc>
                <a:spcPct val="100000"/>
              </a:lnSpc>
              <a:spcAft>
                <a:spcPts val="0"/>
              </a:spcAft>
            </a:pPr>
            <a:r>
              <a:rPr sz="1200">
                <a:solidFill>
                  <a:srgbClr val="E6E6E6"/>
                </a:solidFill>
                <a:latin typeface="Consolas"/>
                <a:ea typeface="Consolas"/>
              </a:rPr>
              <a:t>SYS@salespdb&gt; CREATE USER app_user IDENTIFIED BY Str0ng_Pw#9;</a:t>
            </a:r>
          </a:p>
          <a:p>
            <a:pPr>
              <a:lnSpc>
                <a:spcPct val="100000"/>
              </a:lnSpc>
              <a:spcAft>
                <a:spcPts val="0"/>
              </a:spcAft>
            </a:pPr>
            <a:r>
              <a:rPr sz="1200">
                <a:solidFill>
                  <a:srgbClr val="E6E6E6"/>
                </a:solidFill>
                <a:latin typeface="Consolas"/>
                <a:ea typeface="Consolas"/>
              </a:rPr>
              <a:t>User created.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lIns="45720" rIns="45720" tIns="18288" bIns="18288">
            <a:spAutoFit/>
          </a:bodyPr>
          <a:lstStyle/>
          <a:p>
            <a:pPr algn="l"/>
            <a:r>
              <a:rPr sz="4000" b="1">
                <a:solidFill>
                  <a:srgbClr val="FFFFFF"/>
                </a:solidFill>
                <a:latin typeface="맑은 고딕"/>
                <a:ea typeface="맑은 고딕"/>
              </a:rPr>
              <a:t>21.C</a:t>
            </a:r>
          </a:p>
        </p:txBody>
      </p:sp>
      <p:sp>
        <p:nvSpPr>
          <p:cNvPr id="4" name="TextBox 3"/>
          <p:cNvSpPr txBox="1"/>
          <p:nvPr/>
        </p:nvSpPr>
        <p:spPr>
          <a:xfrm>
            <a:off x="822960" y="3017520"/>
            <a:ext cx="10515600" cy="914400"/>
          </a:xfrm>
          <a:prstGeom prst="rect">
            <a:avLst/>
          </a:prstGeom>
          <a:noFill/>
        </p:spPr>
        <p:txBody>
          <a:bodyPr wrap="square" anchor="t" lIns="45720" rIns="45720" tIns="18288" bIns="18288">
            <a:spAutoFit/>
          </a:bodyPr>
          <a:lstStyle/>
          <a:p>
            <a:pPr algn="l"/>
            <a:r>
              <a:rPr sz="2800" b="1">
                <a:solidFill>
                  <a:srgbClr val="FFFFFF"/>
                </a:solidFill>
                <a:latin typeface="맑은 고딕"/>
                <a:ea typeface="맑은 고딕"/>
              </a:rPr>
              <a:t>CREATE USER와 스키마 전용 계정</a:t>
            </a:r>
          </a:p>
        </p:txBody>
      </p:sp>
      <p:sp>
        <p:nvSpPr>
          <p:cNvPr id="5" name="Rectangle 4"/>
          <p:cNvSpPr/>
          <p:nvPr/>
        </p:nvSpPr>
        <p:spPr>
          <a:xfrm>
            <a:off x="868680" y="4114800"/>
            <a:ext cx="5486400" cy="457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4297680"/>
            <a:ext cx="10058400" cy="1828800"/>
          </a:xfrm>
          <a:prstGeom prst="rect">
            <a:avLst/>
          </a:prstGeom>
          <a:noFill/>
        </p:spPr>
        <p:txBody>
          <a:bodyPr wrap="square" anchor="t" lIns="45720" rIns="45720" tIns="18288" bIns="18288">
            <a:spAutoFit/>
          </a:bodyPr>
          <a:lstStyle/>
          <a:p>
            <a:pPr algn="l">
              <a:spcAft>
                <a:spcPts val="400"/>
              </a:spcAft>
            </a:pPr>
            <a:r>
              <a:rPr sz="1600" b="0">
                <a:solidFill>
                  <a:srgbClr val="FFFFFF"/>
                </a:solidFill>
                <a:latin typeface="맑은 고딕"/>
                <a:ea typeface="맑은 고딕"/>
              </a:rPr>
              <a:t>•  CREATE USER 구문</a:t>
            </a:r>
          </a:p>
          <a:p>
            <a:pPr algn="l">
              <a:spcAft>
                <a:spcPts val="400"/>
              </a:spcAft>
            </a:pPr>
            <a:r>
              <a:rPr sz="1600" b="0">
                <a:solidFill>
                  <a:srgbClr val="FFFFFF"/>
                </a:solidFill>
                <a:latin typeface="맑은 고딕"/>
                <a:ea typeface="맑은 고딕"/>
              </a:rPr>
              <a:t>•  주요 절의 의미</a:t>
            </a:r>
          </a:p>
          <a:p>
            <a:pPr algn="l">
              <a:spcAft>
                <a:spcPts val="400"/>
              </a:spcAft>
            </a:pPr>
            <a:r>
              <a:rPr sz="1600" b="0">
                <a:solidFill>
                  <a:srgbClr val="FFFFFF"/>
                </a:solidFill>
                <a:latin typeface="맑은 고딕"/>
                <a:ea typeface="맑은 고딕"/>
              </a:rPr>
              <a:t>•  스키마 전용 계정</a:t>
            </a:r>
          </a:p>
          <a:p>
            <a:pPr algn="l">
              <a:spcAft>
                <a:spcPts val="400"/>
              </a:spcAft>
            </a:pPr>
            <a:r>
              <a:rPr sz="1600" b="0">
                <a:solidFill>
                  <a:srgbClr val="FFFFFF"/>
                </a:solidFill>
                <a:latin typeface="맑은 고딕"/>
                <a:ea typeface="맑은 고딕"/>
              </a:rPr>
              <a:t>•  계정 생성 후 권한 부여</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nchor="ctr" lIns="45720" rIns="45720" tIns="18288" bIns="18288">
            <a:spAutoFit/>
          </a:bodyPr>
          <a:lstStyle/>
          <a:p>
            <a:pPr algn="l"/>
            <a:r>
              <a:rPr sz="2600" b="1">
                <a:solidFill>
                  <a:srgbClr val="FFFFFF"/>
                </a:solidFill>
                <a:latin typeface="맑은 고딕"/>
                <a:ea typeface="맑은 고딕"/>
              </a:rPr>
              <a:t>CREATE USER 구문</a:t>
            </a:r>
          </a:p>
        </p:txBody>
      </p:sp>
      <p:sp>
        <p:nvSpPr>
          <p:cNvPr id="4" name="TextBox 3"/>
          <p:cNvSpPr txBox="1"/>
          <p:nvPr/>
        </p:nvSpPr>
        <p:spPr>
          <a:xfrm>
            <a:off x="640080" y="1115568"/>
            <a:ext cx="10881360" cy="457200"/>
          </a:xfrm>
          <a:prstGeom prst="rect">
            <a:avLst/>
          </a:prstGeom>
          <a:noFill/>
        </p:spPr>
        <p:txBody>
          <a:bodyPr wrap="square" anchor="t" lIns="45720" rIns="45720" tIns="18288" bIns="18288">
            <a:spAutoFit/>
          </a:bodyPr>
          <a:lstStyle/>
          <a:p>
            <a:pPr algn="l"/>
            <a:r>
              <a:rPr sz="1500" b="0">
                <a:solidFill>
                  <a:srgbClr val="5A6672"/>
                </a:solidFill>
                <a:latin typeface="맑은 고딕"/>
                <a:ea typeface="맑은 고딕"/>
              </a:rPr>
              <a:t>syntax overview</a:t>
            </a:r>
          </a:p>
        </p:txBody>
      </p:sp>
      <p:sp>
        <p:nvSpPr>
          <p:cNvPr id="5" name="TextBox 4"/>
          <p:cNvSpPr txBox="1"/>
          <p:nvPr/>
        </p:nvSpPr>
        <p:spPr>
          <a:xfrm>
            <a:off x="640080" y="1691640"/>
            <a:ext cx="10881360" cy="4572000"/>
          </a:xfrm>
          <a:prstGeom prst="rect">
            <a:avLst/>
          </a:prstGeom>
          <a:noFill/>
        </p:spPr>
        <p:txBody>
          <a:bodyPr wrap="square" anchor="t" lIns="45720" rIns="45720" tIns="18288" bIns="18288">
            <a:spAutoFit/>
          </a:bodyPr>
          <a:lstStyle/>
          <a:p>
            <a:pPr algn="l">
              <a:lnSpc>
                <a:spcPct val="105000"/>
              </a:lnSpc>
              <a:spcAft>
                <a:spcPts val="1000"/>
              </a:spcAft>
            </a:pPr>
            <a:r>
              <a:rPr sz="1800" b="0">
                <a:solidFill>
                  <a:srgbClr val="C0392B"/>
                </a:solidFill>
                <a:latin typeface="맑은 고딕"/>
                <a:ea typeface="맑은 고딕"/>
              </a:rPr>
              <a:t>•  CREATE USER 실행에는 CREATE USER 시스템 권한 필요</a:t>
            </a:r>
          </a:p>
          <a:p>
            <a:pPr algn="l">
              <a:lnSpc>
                <a:spcPct val="105000"/>
              </a:lnSpc>
              <a:spcAft>
                <a:spcPts val="1000"/>
              </a:spcAft>
            </a:pPr>
            <a:r>
              <a:rPr sz="1800" b="0">
                <a:solidFill>
                  <a:srgbClr val="C0392B"/>
                </a:solidFill>
                <a:latin typeface="맑은 고딕"/>
                <a:ea typeface="맑은 고딕"/>
              </a:rPr>
              <a:t>•  IDENTIFIED BY/EXTERNALLY/GLOBALLY/NO AUTHENTICATION</a:t>
            </a:r>
          </a:p>
          <a:p>
            <a:pPr algn="l">
              <a:lnSpc>
                <a:spcPct val="105000"/>
              </a:lnSpc>
              <a:spcAft>
                <a:spcPts val="1000"/>
              </a:spcAft>
            </a:pPr>
            <a:r>
              <a:rPr sz="1800" b="0">
                <a:solidFill>
                  <a:srgbClr val="C0392B"/>
                </a:solidFill>
                <a:latin typeface="맑은 고딕"/>
                <a:ea typeface="맑은 고딕"/>
              </a:rPr>
              <a:t>•  DEFAULT TABLESPACE / TEMPORARY TABLESPACE</a:t>
            </a:r>
          </a:p>
          <a:p>
            <a:pPr algn="l">
              <a:lnSpc>
                <a:spcPct val="105000"/>
              </a:lnSpc>
              <a:spcAft>
                <a:spcPts val="1000"/>
              </a:spcAft>
            </a:pPr>
            <a:r>
              <a:rPr sz="1800" b="0">
                <a:solidFill>
                  <a:srgbClr val="C0392B"/>
                </a:solidFill>
                <a:latin typeface="맑은 고딕"/>
                <a:ea typeface="맑은 고딕"/>
              </a:rPr>
              <a:t>•  QUOTA n ON ts / PROFILE / ACCOUNT LOCK|UNLOCK</a:t>
            </a:r>
          </a:p>
          <a:p>
            <a:pPr algn="l">
              <a:lnSpc>
                <a:spcPct val="105000"/>
              </a:lnSpc>
              <a:spcAft>
                <a:spcPts val="1000"/>
              </a:spcAft>
            </a:pPr>
            <a:r>
              <a:rPr sz="1800" b="0">
                <a:solidFill>
                  <a:srgbClr val="C0392B"/>
                </a:solidFill>
                <a:latin typeface="맑은 고딕"/>
                <a:ea typeface="맑은 고딕"/>
              </a:rPr>
              <a:t>•  CONTAINER=ALL|CURRENT (공통/로컬 결정)</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nchor="ctr" lIns="45720" rIns="45720" tIns="18288" bIns="18288">
            <a:spAutoFit/>
          </a:bodyPr>
          <a:lstStyle/>
          <a:p>
            <a:pPr algn="l"/>
            <a:r>
              <a:rPr sz="2600" b="1">
                <a:solidFill>
                  <a:srgbClr val="FFFFFF"/>
                </a:solidFill>
                <a:latin typeface="맑은 고딕"/>
                <a:ea typeface="맑은 고딕"/>
              </a:rPr>
              <a:t>CREATE USER 주요 절</a:t>
            </a:r>
          </a:p>
        </p:txBody>
      </p:sp>
      <p:sp>
        <p:nvSpPr>
          <p:cNvPr id="4" name="TextBox 3"/>
          <p:cNvSpPr txBox="1"/>
          <p:nvPr/>
        </p:nvSpPr>
        <p:spPr>
          <a:xfrm>
            <a:off x="640080" y="1115568"/>
            <a:ext cx="10881360" cy="457200"/>
          </a:xfrm>
          <a:prstGeom prst="rect">
            <a:avLst/>
          </a:prstGeom>
          <a:noFill/>
        </p:spPr>
        <p:txBody>
          <a:bodyPr wrap="square" anchor="t" lIns="45720" rIns="45720" tIns="18288" bIns="18288">
            <a:spAutoFit/>
          </a:bodyPr>
          <a:lstStyle/>
          <a:p>
            <a:pPr algn="l"/>
            <a:r>
              <a:rPr sz="1500" b="0">
                <a:solidFill>
                  <a:srgbClr val="5A6672"/>
                </a:solidFill>
                <a:latin typeface="맑은 고딕"/>
                <a:ea typeface="맑은 고딕"/>
              </a:rPr>
              <a:t>clause reference</a:t>
            </a:r>
          </a:p>
        </p:txBody>
      </p:sp>
      <p:sp>
        <p:nvSpPr>
          <p:cNvPr id="5" name="TextBox 4"/>
          <p:cNvSpPr txBox="1"/>
          <p:nvPr/>
        </p:nvSpPr>
        <p:spPr>
          <a:xfrm>
            <a:off x="640080" y="1691640"/>
            <a:ext cx="10881360" cy="4572000"/>
          </a:xfrm>
          <a:prstGeom prst="rect">
            <a:avLst/>
          </a:prstGeom>
          <a:noFill/>
        </p:spPr>
        <p:txBody>
          <a:bodyPr wrap="square" anchor="t" lIns="45720" rIns="45720" tIns="18288" bIns="18288">
            <a:spAutoFit/>
          </a:bodyPr>
          <a:lstStyle/>
          <a:p>
            <a:pPr algn="l">
              <a:lnSpc>
                <a:spcPct val="105000"/>
              </a:lnSpc>
              <a:spcAft>
                <a:spcPts val="1000"/>
              </a:spcAft>
            </a:pPr>
            <a:r>
              <a:rPr sz="1800" b="0">
                <a:solidFill>
                  <a:srgbClr val="C0392B"/>
                </a:solidFill>
                <a:latin typeface="맑은 고딕"/>
                <a:ea typeface="맑은 고딕"/>
              </a:rPr>
              <a:t>•  IDENTIFIED BY … : 비밀번호 인증(가장 일반적)</a:t>
            </a:r>
          </a:p>
          <a:p>
            <a:pPr algn="l">
              <a:lnSpc>
                <a:spcPct val="105000"/>
              </a:lnSpc>
              <a:spcAft>
                <a:spcPts val="1000"/>
              </a:spcAft>
            </a:pPr>
            <a:r>
              <a:rPr sz="1800" b="0">
                <a:solidFill>
                  <a:srgbClr val="C0392B"/>
                </a:solidFill>
                <a:latin typeface="맑은 고딕"/>
                <a:ea typeface="맑은 고딕"/>
              </a:rPr>
              <a:t>•  DEFAULT TABLESPACE … : 객체 생성 기본 저장 위치</a:t>
            </a:r>
          </a:p>
          <a:p>
            <a:pPr algn="l">
              <a:lnSpc>
                <a:spcPct val="105000"/>
              </a:lnSpc>
              <a:spcAft>
                <a:spcPts val="1000"/>
              </a:spcAft>
            </a:pPr>
            <a:r>
              <a:rPr sz="1800" b="0">
                <a:solidFill>
                  <a:srgbClr val="C0392B"/>
                </a:solidFill>
                <a:latin typeface="맑은 고딕"/>
                <a:ea typeface="맑은 고딕"/>
              </a:rPr>
              <a:t>•  TEMPORARY TABLESPACE … : 임시 세그먼트 저장 위치</a:t>
            </a:r>
          </a:p>
          <a:p>
            <a:pPr algn="l">
              <a:lnSpc>
                <a:spcPct val="105000"/>
              </a:lnSpc>
              <a:spcAft>
                <a:spcPts val="1000"/>
              </a:spcAft>
            </a:pPr>
            <a:r>
              <a:rPr sz="1800" b="0">
                <a:solidFill>
                  <a:srgbClr val="C0392B"/>
                </a:solidFill>
                <a:latin typeface="맑은 고딕"/>
                <a:ea typeface="맑은 고딕"/>
              </a:rPr>
              <a:t>•  QUOTA n/UNLIMITED ON … : 공간 할당량(생략 시 0)</a:t>
            </a:r>
          </a:p>
          <a:p>
            <a:pPr algn="l">
              <a:lnSpc>
                <a:spcPct val="105000"/>
              </a:lnSpc>
              <a:spcAft>
                <a:spcPts val="1000"/>
              </a:spcAft>
            </a:pPr>
            <a:r>
              <a:rPr sz="1800" b="0">
                <a:solidFill>
                  <a:srgbClr val="C0392B"/>
                </a:solidFill>
                <a:latin typeface="맑은 고딕"/>
                <a:ea typeface="맑은 고딕"/>
              </a:rPr>
              <a:t>•  PROFILE / ACCOUNT / CONTAINER : 정책·상태·범위</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nchor="ctr" lIns="45720" rIns="45720" tIns="18288" bIns="18288">
            <a:spAutoFit/>
          </a:bodyPr>
          <a:lstStyle/>
          <a:p>
            <a:pPr algn="l"/>
            <a:r>
              <a:rPr sz="2600" b="1">
                <a:solidFill>
                  <a:srgbClr val="FFFFFF"/>
                </a:solidFill>
                <a:latin typeface="맑은 고딕"/>
                <a:ea typeface="맑은 고딕"/>
              </a:rPr>
              <a:t>CREATE USER 예제</a:t>
            </a:r>
          </a:p>
        </p:txBody>
      </p:sp>
      <p:sp>
        <p:nvSpPr>
          <p:cNvPr id="4" name="TextBox 3"/>
          <p:cNvSpPr txBox="1"/>
          <p:nvPr/>
        </p:nvSpPr>
        <p:spPr>
          <a:xfrm>
            <a:off x="640080" y="1115568"/>
            <a:ext cx="10881360" cy="457200"/>
          </a:xfrm>
          <a:prstGeom prst="rect">
            <a:avLst/>
          </a:prstGeom>
          <a:noFill/>
        </p:spPr>
        <p:txBody>
          <a:bodyPr wrap="square" anchor="t" lIns="45720" rIns="45720" tIns="18288" bIns="18288">
            <a:spAutoFit/>
          </a:bodyPr>
          <a:lstStyle/>
          <a:p>
            <a:pPr algn="l"/>
            <a:r>
              <a:rPr sz="1500" b="0">
                <a:solidFill>
                  <a:srgbClr val="5A6672"/>
                </a:solidFill>
                <a:latin typeface="맑은 고딕"/>
                <a:ea typeface="맑은 고딕"/>
              </a:rPr>
              <a:t>공통·로컬 계정 생성</a:t>
            </a:r>
          </a:p>
        </p:txBody>
      </p:sp>
      <p:sp>
        <p:nvSpPr>
          <p:cNvPr id="5" name="Rectangle 4"/>
          <p:cNvSpPr/>
          <p:nvPr/>
        </p:nvSpPr>
        <p:spPr>
          <a:xfrm>
            <a:off x="640080" y="1645920"/>
            <a:ext cx="10908792" cy="47091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10515600" cy="4526280"/>
          </a:xfrm>
          <a:prstGeom prst="rect">
            <a:avLst/>
          </a:prstGeom>
          <a:noFill/>
        </p:spPr>
        <p:txBody>
          <a:bodyPr wrap="square">
            <a:spAutoFit/>
          </a:bodyPr>
          <a:lstStyle/>
          <a:p>
            <a:pPr>
              <a:lnSpc>
                <a:spcPct val="100000"/>
              </a:lnSpc>
              <a:spcAft>
                <a:spcPts val="0"/>
              </a:spcAft>
            </a:pPr>
            <a:r>
              <a:rPr sz="1200">
                <a:solidFill>
                  <a:srgbClr val="7EC699"/>
                </a:solidFill>
                <a:latin typeface="Consolas"/>
                <a:ea typeface="Consolas"/>
              </a:rPr>
              <a:t>-- 공통 사용자: 모든 절 조합 예</a:t>
            </a:r>
          </a:p>
          <a:p>
            <a:pPr>
              <a:lnSpc>
                <a:spcPct val="100000"/>
              </a:lnSpc>
              <a:spcAft>
                <a:spcPts val="0"/>
              </a:spcAft>
            </a:pPr>
            <a:r>
              <a:rPr sz="1200">
                <a:solidFill>
                  <a:srgbClr val="E6E6E6"/>
                </a:solidFill>
                <a:latin typeface="Consolas"/>
                <a:ea typeface="Consolas"/>
              </a:rPr>
              <a:t>SYS@cdb1&gt; CREATE USER c##dbadmin IDENTIFIED BY Welcome_123</a:t>
            </a:r>
          </a:p>
          <a:p>
            <a:pPr>
              <a:lnSpc>
                <a:spcPct val="100000"/>
              </a:lnSpc>
              <a:spcAft>
                <a:spcPts val="0"/>
              </a:spcAft>
            </a:pPr>
            <a:r>
              <a:rPr sz="1200">
                <a:solidFill>
                  <a:srgbClr val="E6E6E6"/>
                </a:solidFill>
                <a:latin typeface="Consolas"/>
                <a:ea typeface="Consolas"/>
              </a:rPr>
              <a:t>  2  DEFAULT TABLESPACE users</a:t>
            </a:r>
          </a:p>
          <a:p>
            <a:pPr>
              <a:lnSpc>
                <a:spcPct val="100000"/>
              </a:lnSpc>
              <a:spcAft>
                <a:spcPts val="0"/>
              </a:spcAft>
            </a:pPr>
            <a:r>
              <a:rPr sz="1200">
                <a:solidFill>
                  <a:srgbClr val="E6E6E6"/>
                </a:solidFill>
                <a:latin typeface="Consolas"/>
                <a:ea typeface="Consolas"/>
              </a:rPr>
              <a:t>  3  TEMPORARY TABLESPACE temp</a:t>
            </a:r>
          </a:p>
          <a:p>
            <a:pPr>
              <a:lnSpc>
                <a:spcPct val="100000"/>
              </a:lnSpc>
              <a:spcAft>
                <a:spcPts val="0"/>
              </a:spcAft>
            </a:pPr>
            <a:r>
              <a:rPr sz="1200">
                <a:solidFill>
                  <a:srgbClr val="E6E6E6"/>
                </a:solidFill>
                <a:latin typeface="Consolas"/>
                <a:ea typeface="Consolas"/>
              </a:rPr>
              <a:t>  4  QUOTA UNLIMITED ON users</a:t>
            </a:r>
          </a:p>
          <a:p>
            <a:pPr>
              <a:lnSpc>
                <a:spcPct val="100000"/>
              </a:lnSpc>
              <a:spcAft>
                <a:spcPts val="0"/>
              </a:spcAft>
            </a:pPr>
            <a:r>
              <a:rPr sz="1200">
                <a:solidFill>
                  <a:srgbClr val="E6E6E6"/>
                </a:solidFill>
                <a:latin typeface="Consolas"/>
                <a:ea typeface="Consolas"/>
              </a:rPr>
              <a:t>  5  PROFILE default</a:t>
            </a:r>
          </a:p>
          <a:p>
            <a:pPr>
              <a:lnSpc>
                <a:spcPct val="100000"/>
              </a:lnSpc>
              <a:spcAft>
                <a:spcPts val="0"/>
              </a:spcAft>
            </a:pPr>
            <a:r>
              <a:rPr sz="1200">
                <a:solidFill>
                  <a:srgbClr val="E6E6E6"/>
                </a:solidFill>
                <a:latin typeface="Consolas"/>
                <a:ea typeface="Consolas"/>
              </a:rPr>
              <a:t>  6  CONTAINER=ALL;</a:t>
            </a:r>
          </a:p>
          <a:p>
            <a:pPr>
              <a:lnSpc>
                <a:spcPct val="100000"/>
              </a:lnSpc>
              <a:spcAft>
                <a:spcPts val="0"/>
              </a:spcAft>
            </a:pPr>
            <a:r>
              <a:rPr sz="1200">
                <a:solidFill>
                  <a:srgbClr val="E6E6E6"/>
                </a:solidFill>
                <a:latin typeface="Consolas"/>
                <a:ea typeface="Consolas"/>
              </a:rPr>
              <a:t>User created.</a:t>
            </a:r>
          </a:p>
          <a:p>
            <a:pPr>
              <a:lnSpc>
                <a:spcPct val="100000"/>
              </a:lnSpc>
              <a:spcAft>
                <a:spcPts val="0"/>
              </a:spcAft>
            </a:pPr>
            <a:r>
              <a:rPr sz="1200">
                <a:solidFill>
                  <a:srgbClr val="E6E6E6"/>
                </a:solidFill>
                <a:latin typeface="Consolas"/>
                <a:ea typeface="Consolas"/>
              </a:rPr>
              <a:t> </a:t>
            </a:r>
          </a:p>
          <a:p>
            <a:pPr>
              <a:lnSpc>
                <a:spcPct val="100000"/>
              </a:lnSpc>
              <a:spcAft>
                <a:spcPts val="0"/>
              </a:spcAft>
            </a:pPr>
            <a:r>
              <a:rPr sz="1200">
                <a:solidFill>
                  <a:srgbClr val="7EC699"/>
                </a:solidFill>
                <a:latin typeface="Consolas"/>
                <a:ea typeface="Consolas"/>
              </a:rPr>
              <a:t>-- 로컬 사용자: PDB 애플리케이션 계정</a:t>
            </a:r>
          </a:p>
          <a:p>
            <a:pPr>
              <a:lnSpc>
                <a:spcPct val="100000"/>
              </a:lnSpc>
              <a:spcAft>
                <a:spcPts val="0"/>
              </a:spcAft>
            </a:pPr>
            <a:r>
              <a:rPr sz="1200">
                <a:solidFill>
                  <a:srgbClr val="E6E6E6"/>
                </a:solidFill>
                <a:latin typeface="Consolas"/>
                <a:ea typeface="Consolas"/>
              </a:rPr>
              <a:t>SYS@salespdb&gt; CREATE USER app_user IDENTIFIED BY Str0ng_Pw#9</a:t>
            </a:r>
          </a:p>
          <a:p>
            <a:pPr>
              <a:lnSpc>
                <a:spcPct val="100000"/>
              </a:lnSpc>
              <a:spcAft>
                <a:spcPts val="0"/>
              </a:spcAft>
            </a:pPr>
            <a:r>
              <a:rPr sz="1200">
                <a:solidFill>
                  <a:srgbClr val="E6E6E6"/>
                </a:solidFill>
                <a:latin typeface="Consolas"/>
                <a:ea typeface="Consolas"/>
              </a:rPr>
              <a:t>  2  DEFAULT TABLESPACE app_data QUOTA 200M ON app_data</a:t>
            </a:r>
          </a:p>
          <a:p>
            <a:pPr>
              <a:lnSpc>
                <a:spcPct val="100000"/>
              </a:lnSpc>
              <a:spcAft>
                <a:spcPts val="0"/>
              </a:spcAft>
            </a:pPr>
            <a:r>
              <a:rPr sz="1200">
                <a:solidFill>
                  <a:srgbClr val="E6E6E6"/>
                </a:solidFill>
                <a:latin typeface="Consolas"/>
                <a:ea typeface="Consolas"/>
              </a:rPr>
              <a:t>  3  ACCOUNT UNLOCK;</a:t>
            </a:r>
          </a:p>
          <a:p>
            <a:pPr>
              <a:lnSpc>
                <a:spcPct val="100000"/>
              </a:lnSpc>
              <a:spcAft>
                <a:spcPts val="0"/>
              </a:spcAft>
            </a:pPr>
            <a:r>
              <a:rPr sz="1200">
                <a:solidFill>
                  <a:srgbClr val="E6E6E6"/>
                </a:solidFill>
                <a:latin typeface="Consolas"/>
                <a:ea typeface="Consolas"/>
              </a:rPr>
              <a:t>User created.</a:t>
            </a:r>
          </a:p>
          <a:p>
            <a:pPr>
              <a:lnSpc>
                <a:spcPct val="100000"/>
              </a:lnSpc>
              <a:spcAft>
                <a:spcPts val="0"/>
              </a:spcAft>
            </a:pPr>
            <a:r>
              <a:rPr sz="1200">
                <a:solidFill>
                  <a:srgbClr val="E6E6E6"/>
                </a:solidFill>
                <a:latin typeface="Consolas"/>
                <a:ea typeface="Consolas"/>
              </a:rPr>
              <a:t>SYS@salespdb&gt; GRANT CREATE SESSION TO app_user;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nchor="ctr" lIns="45720" rIns="45720" tIns="18288" bIns="18288">
            <a:spAutoFit/>
          </a:bodyPr>
          <a:lstStyle/>
          <a:p>
            <a:pPr algn="l"/>
            <a:r>
              <a:rPr sz="2600" b="1">
                <a:solidFill>
                  <a:srgbClr val="FFFFFF"/>
                </a:solidFill>
                <a:latin typeface="맑은 고딕"/>
                <a:ea typeface="맑은 고딕"/>
              </a:rPr>
              <a:t>스키마 전용 계정</a:t>
            </a:r>
          </a:p>
        </p:txBody>
      </p:sp>
      <p:sp>
        <p:nvSpPr>
          <p:cNvPr id="4" name="TextBox 3"/>
          <p:cNvSpPr txBox="1"/>
          <p:nvPr/>
        </p:nvSpPr>
        <p:spPr>
          <a:xfrm>
            <a:off x="640080" y="1115568"/>
            <a:ext cx="10881360" cy="457200"/>
          </a:xfrm>
          <a:prstGeom prst="rect">
            <a:avLst/>
          </a:prstGeom>
          <a:noFill/>
        </p:spPr>
        <p:txBody>
          <a:bodyPr wrap="square" anchor="t" lIns="45720" rIns="45720" tIns="18288" bIns="18288">
            <a:spAutoFit/>
          </a:bodyPr>
          <a:lstStyle/>
          <a:p>
            <a:pPr algn="l"/>
            <a:r>
              <a:rPr sz="1500" b="0">
                <a:solidFill>
                  <a:srgbClr val="5A6672"/>
                </a:solidFill>
                <a:latin typeface="맑은 고딕"/>
                <a:ea typeface="맑은 고딕"/>
              </a:rPr>
              <a:t>Schema Only Account (18c+)</a:t>
            </a:r>
          </a:p>
        </p:txBody>
      </p:sp>
      <p:sp>
        <p:nvSpPr>
          <p:cNvPr id="5" name="TextBox 4"/>
          <p:cNvSpPr txBox="1"/>
          <p:nvPr/>
        </p:nvSpPr>
        <p:spPr>
          <a:xfrm>
            <a:off x="640080" y="1691640"/>
            <a:ext cx="10881360" cy="4572000"/>
          </a:xfrm>
          <a:prstGeom prst="rect">
            <a:avLst/>
          </a:prstGeom>
          <a:noFill/>
        </p:spPr>
        <p:txBody>
          <a:bodyPr wrap="square" anchor="t" lIns="45720" rIns="45720" tIns="18288" bIns="18288">
            <a:spAutoFit/>
          </a:bodyPr>
          <a:lstStyle/>
          <a:p>
            <a:pPr algn="l">
              <a:lnSpc>
                <a:spcPct val="105000"/>
              </a:lnSpc>
              <a:spcAft>
                <a:spcPts val="1000"/>
              </a:spcAft>
            </a:pPr>
            <a:r>
              <a:rPr sz="1800" b="0">
                <a:solidFill>
                  <a:srgbClr val="C0392B"/>
                </a:solidFill>
                <a:latin typeface="맑은 고딕"/>
                <a:ea typeface="맑은 고딕"/>
              </a:rPr>
              <a:t>•  NO AUTHENTICATION → 인증 수단이 전혀 없는 계정</a:t>
            </a:r>
          </a:p>
          <a:p>
            <a:pPr algn="l">
              <a:lnSpc>
                <a:spcPct val="105000"/>
              </a:lnSpc>
              <a:spcAft>
                <a:spcPts val="1000"/>
              </a:spcAft>
            </a:pPr>
            <a:r>
              <a:rPr sz="1800" b="0">
                <a:solidFill>
                  <a:srgbClr val="C0392B"/>
                </a:solidFill>
                <a:latin typeface="맑은 고딕"/>
                <a:ea typeface="맑은 고딕"/>
              </a:rPr>
              <a:t>•  아무도 직접 로그인 불가 (AUTHENTICATION_TYPE=NONE)</a:t>
            </a:r>
          </a:p>
          <a:p>
            <a:pPr algn="l">
              <a:lnSpc>
                <a:spcPct val="105000"/>
              </a:lnSpc>
              <a:spcAft>
                <a:spcPts val="1000"/>
              </a:spcAft>
            </a:pPr>
            <a:r>
              <a:rPr sz="1800" b="0">
                <a:solidFill>
                  <a:srgbClr val="C0392B"/>
                </a:solidFill>
                <a:latin typeface="맑은 고딕"/>
                <a:ea typeface="맑은 고딕"/>
              </a:rPr>
              <a:t>•  목적: 객체만 소유하는 애플리케이션 스키마</a:t>
            </a:r>
          </a:p>
          <a:p>
            <a:pPr algn="l">
              <a:lnSpc>
                <a:spcPct val="105000"/>
              </a:lnSpc>
              <a:spcAft>
                <a:spcPts val="1000"/>
              </a:spcAft>
            </a:pPr>
            <a:r>
              <a:rPr sz="1800" b="0">
                <a:solidFill>
                  <a:srgbClr val="C0392B"/>
                </a:solidFill>
                <a:latin typeface="맑은 고딕"/>
                <a:ea typeface="맑은 고딕"/>
              </a:rPr>
              <a:t>•  로그인 자격 증명 자체가 없어 공격 표면 제거</a:t>
            </a:r>
          </a:p>
          <a:p>
            <a:pPr algn="l">
              <a:lnSpc>
                <a:spcPct val="105000"/>
              </a:lnSpc>
              <a:spcAft>
                <a:spcPts val="1000"/>
              </a:spcAft>
            </a:pPr>
            <a:r>
              <a:rPr sz="1800" b="0">
                <a:solidFill>
                  <a:srgbClr val="C0392B"/>
                </a:solidFill>
                <a:latin typeface="맑은 고딕"/>
                <a:ea typeface="맑은 고딕"/>
              </a:rPr>
              <a:t>•  ALTER USER로 비밀번호 부여/회수하여 전환 가능</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nchor="ctr" lIns="45720" rIns="45720" tIns="18288" bIns="18288">
            <a:spAutoFit/>
          </a:bodyPr>
          <a:lstStyle/>
          <a:p>
            <a:pPr algn="l"/>
            <a:r>
              <a:rPr sz="2600" b="1">
                <a:solidFill>
                  <a:srgbClr val="FFFFFF"/>
                </a:solidFill>
                <a:latin typeface="맑은 고딕"/>
                <a:ea typeface="맑은 고딕"/>
              </a:rPr>
              <a:t>스키마 전용 계정 생성</a:t>
            </a:r>
          </a:p>
        </p:txBody>
      </p:sp>
      <p:sp>
        <p:nvSpPr>
          <p:cNvPr id="4" name="TextBox 3"/>
          <p:cNvSpPr txBox="1"/>
          <p:nvPr/>
        </p:nvSpPr>
        <p:spPr>
          <a:xfrm>
            <a:off x="640080" y="1115568"/>
            <a:ext cx="10881360" cy="457200"/>
          </a:xfrm>
          <a:prstGeom prst="rect">
            <a:avLst/>
          </a:prstGeom>
          <a:noFill/>
        </p:spPr>
        <p:txBody>
          <a:bodyPr wrap="square" anchor="t" lIns="45720" rIns="45720" tIns="18288" bIns="18288">
            <a:spAutoFit/>
          </a:bodyPr>
          <a:lstStyle/>
          <a:p>
            <a:pPr algn="l"/>
            <a:r>
              <a:rPr sz="1500" b="0">
                <a:solidFill>
                  <a:srgbClr val="5A6672"/>
                </a:solidFill>
                <a:latin typeface="맑은 고딕"/>
                <a:ea typeface="맑은 고딕"/>
              </a:rPr>
              <a:t>NO AUTHENTICATION</a:t>
            </a:r>
          </a:p>
        </p:txBody>
      </p:sp>
      <p:sp>
        <p:nvSpPr>
          <p:cNvPr id="5" name="Rectangle 4"/>
          <p:cNvSpPr/>
          <p:nvPr/>
        </p:nvSpPr>
        <p:spPr>
          <a:xfrm>
            <a:off x="640080" y="1645920"/>
            <a:ext cx="10908792" cy="47091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10515600" cy="4526280"/>
          </a:xfrm>
          <a:prstGeom prst="rect">
            <a:avLst/>
          </a:prstGeom>
          <a:noFill/>
        </p:spPr>
        <p:txBody>
          <a:bodyPr wrap="square">
            <a:spAutoFit/>
          </a:bodyPr>
          <a:lstStyle/>
          <a:p>
            <a:pPr>
              <a:lnSpc>
                <a:spcPct val="100000"/>
              </a:lnSpc>
              <a:spcAft>
                <a:spcPts val="0"/>
              </a:spcAft>
            </a:pPr>
            <a:r>
              <a:rPr sz="1200">
                <a:solidFill>
                  <a:srgbClr val="7EC699"/>
                </a:solidFill>
                <a:latin typeface="Consolas"/>
                <a:ea typeface="Consolas"/>
              </a:rPr>
              <a:t>-- 스키마 전용 계정 생성 (로그인 불가)</a:t>
            </a:r>
          </a:p>
          <a:p>
            <a:pPr>
              <a:lnSpc>
                <a:spcPct val="100000"/>
              </a:lnSpc>
              <a:spcAft>
                <a:spcPts val="0"/>
              </a:spcAft>
            </a:pPr>
            <a:r>
              <a:rPr sz="1200">
                <a:solidFill>
                  <a:srgbClr val="E6E6E6"/>
                </a:solidFill>
                <a:latin typeface="Consolas"/>
                <a:ea typeface="Consolas"/>
              </a:rPr>
              <a:t>SYS@salespdb&gt; CREATE USER app_schema NO AUTHENTICATION</a:t>
            </a:r>
          </a:p>
          <a:p>
            <a:pPr>
              <a:lnSpc>
                <a:spcPct val="100000"/>
              </a:lnSpc>
              <a:spcAft>
                <a:spcPts val="0"/>
              </a:spcAft>
            </a:pPr>
            <a:r>
              <a:rPr sz="1200">
                <a:solidFill>
                  <a:srgbClr val="E6E6E6"/>
                </a:solidFill>
                <a:latin typeface="Consolas"/>
                <a:ea typeface="Consolas"/>
              </a:rPr>
              <a:t>  2  DEFAULT TABLESPACE app_data QUOTA UNLIMITED ON app_data;</a:t>
            </a:r>
          </a:p>
          <a:p>
            <a:pPr>
              <a:lnSpc>
                <a:spcPct val="100000"/>
              </a:lnSpc>
              <a:spcAft>
                <a:spcPts val="0"/>
              </a:spcAft>
            </a:pPr>
            <a:r>
              <a:rPr sz="1200">
                <a:solidFill>
                  <a:srgbClr val="E6E6E6"/>
                </a:solidFill>
                <a:latin typeface="Consolas"/>
                <a:ea typeface="Consolas"/>
              </a:rPr>
              <a:t>User created.</a:t>
            </a:r>
          </a:p>
          <a:p>
            <a:pPr>
              <a:lnSpc>
                <a:spcPct val="100000"/>
              </a:lnSpc>
              <a:spcAft>
                <a:spcPts val="0"/>
              </a:spcAft>
            </a:pPr>
            <a:r>
              <a:rPr sz="1200">
                <a:solidFill>
                  <a:srgbClr val="E6E6E6"/>
                </a:solidFill>
                <a:latin typeface="Consolas"/>
                <a:ea typeface="Consolas"/>
              </a:rPr>
              <a:t> </a:t>
            </a:r>
          </a:p>
          <a:p>
            <a:pPr>
              <a:lnSpc>
                <a:spcPct val="100000"/>
              </a:lnSpc>
              <a:spcAft>
                <a:spcPts val="0"/>
              </a:spcAft>
            </a:pPr>
            <a:r>
              <a:rPr sz="1200">
                <a:solidFill>
                  <a:srgbClr val="7EC699"/>
                </a:solidFill>
                <a:latin typeface="Consolas"/>
                <a:ea typeface="Consolas"/>
              </a:rPr>
              <a:t>-- 인증 유형 확인</a:t>
            </a:r>
          </a:p>
          <a:p>
            <a:pPr>
              <a:lnSpc>
                <a:spcPct val="100000"/>
              </a:lnSpc>
              <a:spcAft>
                <a:spcPts val="0"/>
              </a:spcAft>
            </a:pPr>
            <a:r>
              <a:rPr sz="1200">
                <a:solidFill>
                  <a:srgbClr val="E6E6E6"/>
                </a:solidFill>
                <a:latin typeface="Consolas"/>
                <a:ea typeface="Consolas"/>
              </a:rPr>
              <a:t>SYS@salespdb&gt; SELECT username, authentication_type</a:t>
            </a:r>
          </a:p>
          <a:p>
            <a:pPr>
              <a:lnSpc>
                <a:spcPct val="100000"/>
              </a:lnSpc>
              <a:spcAft>
                <a:spcPts val="0"/>
              </a:spcAft>
            </a:pPr>
            <a:r>
              <a:rPr sz="1200">
                <a:solidFill>
                  <a:srgbClr val="E6E6E6"/>
                </a:solidFill>
                <a:latin typeface="Consolas"/>
                <a:ea typeface="Consolas"/>
              </a:rPr>
              <a:t>  2  FROM dba_users WHERE username='APP_SCHEMA';</a:t>
            </a:r>
          </a:p>
          <a:p>
            <a:pPr>
              <a:lnSpc>
                <a:spcPct val="100000"/>
              </a:lnSpc>
              <a:spcAft>
                <a:spcPts val="0"/>
              </a:spcAft>
            </a:pPr>
            <a:r>
              <a:rPr sz="1200">
                <a:solidFill>
                  <a:srgbClr val="E6E6E6"/>
                </a:solidFill>
                <a:latin typeface="Consolas"/>
                <a:ea typeface="Consolas"/>
              </a:rPr>
              <a:t> </a:t>
            </a:r>
          </a:p>
          <a:p>
            <a:pPr>
              <a:lnSpc>
                <a:spcPct val="100000"/>
              </a:lnSpc>
              <a:spcAft>
                <a:spcPts val="0"/>
              </a:spcAft>
            </a:pPr>
            <a:r>
              <a:rPr sz="1200">
                <a:solidFill>
                  <a:srgbClr val="E6E6E6"/>
                </a:solidFill>
                <a:latin typeface="Consolas"/>
                <a:ea typeface="Consolas"/>
              </a:rPr>
              <a:t>USERNAME       AUTHENTICATION_TYPE</a:t>
            </a:r>
          </a:p>
          <a:p>
            <a:pPr>
              <a:lnSpc>
                <a:spcPct val="100000"/>
              </a:lnSpc>
              <a:spcAft>
                <a:spcPts val="0"/>
              </a:spcAft>
            </a:pPr>
            <a:r>
              <a:rPr sz="1200">
                <a:solidFill>
                  <a:srgbClr val="E6E6E6"/>
                </a:solidFill>
                <a:latin typeface="Consolas"/>
                <a:ea typeface="Consolas"/>
              </a:rPr>
              <a:t>-------------- -------------------</a:t>
            </a:r>
          </a:p>
          <a:p>
            <a:pPr>
              <a:lnSpc>
                <a:spcPct val="100000"/>
              </a:lnSpc>
              <a:spcAft>
                <a:spcPts val="0"/>
              </a:spcAft>
            </a:pPr>
            <a:r>
              <a:rPr sz="1200">
                <a:solidFill>
                  <a:srgbClr val="E6E6E6"/>
                </a:solidFill>
                <a:latin typeface="Consolas"/>
                <a:ea typeface="Consolas"/>
              </a:rPr>
              <a:t>APP_SCHEMA     NONE</a:t>
            </a:r>
          </a:p>
          <a:p>
            <a:pPr>
              <a:lnSpc>
                <a:spcPct val="100000"/>
              </a:lnSpc>
              <a:spcAft>
                <a:spcPts val="0"/>
              </a:spcAft>
            </a:pPr>
            <a:r>
              <a:rPr sz="1200">
                <a:solidFill>
                  <a:srgbClr val="E6E6E6"/>
                </a:solidFill>
                <a:latin typeface="Consolas"/>
                <a:ea typeface="Consolas"/>
              </a:rPr>
              <a:t> </a:t>
            </a:r>
          </a:p>
          <a:p>
            <a:pPr>
              <a:lnSpc>
                <a:spcPct val="100000"/>
              </a:lnSpc>
              <a:spcAft>
                <a:spcPts val="0"/>
              </a:spcAft>
            </a:pPr>
            <a:r>
              <a:rPr sz="1200">
                <a:solidFill>
                  <a:srgbClr val="7EC699"/>
                </a:solidFill>
                <a:latin typeface="Consolas"/>
                <a:ea typeface="Consolas"/>
              </a:rPr>
              <a:t>-- 나중에 필요하면 비밀번호 부여하여 일반 계정으로 전환</a:t>
            </a:r>
          </a:p>
          <a:p>
            <a:pPr>
              <a:lnSpc>
                <a:spcPct val="100000"/>
              </a:lnSpc>
              <a:spcAft>
                <a:spcPts val="0"/>
              </a:spcAft>
            </a:pPr>
            <a:r>
              <a:rPr sz="1200">
                <a:solidFill>
                  <a:srgbClr val="E6E6E6"/>
                </a:solidFill>
                <a:latin typeface="Consolas"/>
                <a:ea typeface="Consolas"/>
              </a:rPr>
              <a:t>SYS@salespdb&gt; ALTER USER app_schema IDENTIFIED BY Temp_Pw#1;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lIns="45720" rIns="45720" tIns="18288" bIns="18288">
            <a:spAutoFit/>
          </a:bodyPr>
          <a:lstStyle/>
          <a:p>
            <a:pPr algn="l"/>
            <a:r>
              <a:rPr sz="4000" b="1">
                <a:solidFill>
                  <a:srgbClr val="FFFFFF"/>
                </a:solidFill>
                <a:latin typeface="맑은 고딕"/>
                <a:ea typeface="맑은 고딕"/>
              </a:rPr>
              <a:t>21.D</a:t>
            </a:r>
          </a:p>
        </p:txBody>
      </p:sp>
      <p:sp>
        <p:nvSpPr>
          <p:cNvPr id="4" name="TextBox 3"/>
          <p:cNvSpPr txBox="1"/>
          <p:nvPr/>
        </p:nvSpPr>
        <p:spPr>
          <a:xfrm>
            <a:off x="822960" y="3017520"/>
            <a:ext cx="10515600" cy="914400"/>
          </a:xfrm>
          <a:prstGeom prst="rect">
            <a:avLst/>
          </a:prstGeom>
          <a:noFill/>
        </p:spPr>
        <p:txBody>
          <a:bodyPr wrap="square" anchor="t" lIns="45720" rIns="45720" tIns="18288" bIns="18288">
            <a:spAutoFit/>
          </a:bodyPr>
          <a:lstStyle/>
          <a:p>
            <a:pPr algn="l"/>
            <a:r>
              <a:rPr sz="2800" b="1">
                <a:solidFill>
                  <a:srgbClr val="FFFFFF"/>
                </a:solidFill>
                <a:latin typeface="맑은 고딕"/>
                <a:ea typeface="맑은 고딕"/>
              </a:rPr>
              <a:t>사용자 인증 방식</a:t>
            </a:r>
          </a:p>
        </p:txBody>
      </p:sp>
      <p:sp>
        <p:nvSpPr>
          <p:cNvPr id="5" name="Rectangle 4"/>
          <p:cNvSpPr/>
          <p:nvPr/>
        </p:nvSpPr>
        <p:spPr>
          <a:xfrm>
            <a:off x="868680" y="4114800"/>
            <a:ext cx="5486400" cy="457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4297680"/>
            <a:ext cx="10058400" cy="1828800"/>
          </a:xfrm>
          <a:prstGeom prst="rect">
            <a:avLst/>
          </a:prstGeom>
          <a:noFill/>
        </p:spPr>
        <p:txBody>
          <a:bodyPr wrap="square" anchor="t" lIns="45720" rIns="45720" tIns="18288" bIns="18288">
            <a:spAutoFit/>
          </a:bodyPr>
          <a:lstStyle/>
          <a:p>
            <a:pPr algn="l">
              <a:spcAft>
                <a:spcPts val="400"/>
              </a:spcAft>
            </a:pPr>
            <a:r>
              <a:rPr sz="1600" b="0">
                <a:solidFill>
                  <a:srgbClr val="FFFFFF"/>
                </a:solidFill>
                <a:latin typeface="맑은 고딕"/>
                <a:ea typeface="맑은 고딕"/>
              </a:rPr>
              <a:t>•  인증 방식 개요</a:t>
            </a:r>
          </a:p>
          <a:p>
            <a:pPr algn="l">
              <a:spcAft>
                <a:spcPts val="400"/>
              </a:spcAft>
            </a:pPr>
            <a:r>
              <a:rPr sz="1600" b="0">
                <a:solidFill>
                  <a:srgbClr val="FFFFFF"/>
                </a:solidFill>
                <a:latin typeface="맑은 고딕"/>
                <a:ea typeface="맑은 고딕"/>
              </a:rPr>
              <a:t>•  비밀번호 인증</a:t>
            </a:r>
          </a:p>
          <a:p>
            <a:pPr algn="l">
              <a:spcAft>
                <a:spcPts val="400"/>
              </a:spcAft>
            </a:pPr>
            <a:r>
              <a:rPr sz="1600" b="0">
                <a:solidFill>
                  <a:srgbClr val="FFFFFF"/>
                </a:solidFill>
                <a:latin typeface="맑은 고딕"/>
                <a:ea typeface="맑은 고딕"/>
              </a:rPr>
              <a:t>•  비밀번호 파일 인증</a:t>
            </a:r>
          </a:p>
          <a:p>
            <a:pPr algn="l">
              <a:spcAft>
                <a:spcPts val="400"/>
              </a:spcAft>
            </a:pPr>
            <a:r>
              <a:rPr sz="1600" b="0">
                <a:solidFill>
                  <a:srgbClr val="FFFFFF"/>
                </a:solidFill>
                <a:latin typeface="맑은 고딕"/>
                <a:ea typeface="맑은 고딕"/>
              </a:rPr>
              <a:t>•  전역·프록시 인증</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nchor="ctr" lIns="45720" rIns="45720" tIns="18288" bIns="18288">
            <a:spAutoFit/>
          </a:bodyPr>
          <a:lstStyle/>
          <a:p>
            <a:pPr algn="l"/>
            <a:r>
              <a:rPr sz="2600" b="1">
                <a:solidFill>
                  <a:srgbClr val="FFFFFF"/>
                </a:solidFill>
                <a:latin typeface="맑은 고딕"/>
                <a:ea typeface="맑은 고딕"/>
              </a:rPr>
              <a:t>인증 방식 개요</a:t>
            </a:r>
          </a:p>
        </p:txBody>
      </p:sp>
      <p:sp>
        <p:nvSpPr>
          <p:cNvPr id="4" name="TextBox 3"/>
          <p:cNvSpPr txBox="1"/>
          <p:nvPr/>
        </p:nvSpPr>
        <p:spPr>
          <a:xfrm>
            <a:off x="640080" y="1115568"/>
            <a:ext cx="10881360" cy="457200"/>
          </a:xfrm>
          <a:prstGeom prst="rect">
            <a:avLst/>
          </a:prstGeom>
          <a:noFill/>
        </p:spPr>
        <p:txBody>
          <a:bodyPr wrap="square" anchor="t" lIns="45720" rIns="45720" tIns="18288" bIns="18288">
            <a:spAutoFit/>
          </a:bodyPr>
          <a:lstStyle/>
          <a:p>
            <a:pPr algn="l"/>
            <a:r>
              <a:rPr sz="1500" b="0">
                <a:solidFill>
                  <a:srgbClr val="5A6672"/>
                </a:solidFill>
                <a:latin typeface="맑은 고딕"/>
                <a:ea typeface="맑은 고딕"/>
              </a:rPr>
              <a:t>five authentication methods</a:t>
            </a:r>
          </a:p>
        </p:txBody>
      </p:sp>
      <p:sp>
        <p:nvSpPr>
          <p:cNvPr id="5" name="TextBox 4"/>
          <p:cNvSpPr txBox="1"/>
          <p:nvPr/>
        </p:nvSpPr>
        <p:spPr>
          <a:xfrm>
            <a:off x="640080" y="1691640"/>
            <a:ext cx="10881360" cy="4572000"/>
          </a:xfrm>
          <a:prstGeom prst="rect">
            <a:avLst/>
          </a:prstGeom>
          <a:noFill/>
        </p:spPr>
        <p:txBody>
          <a:bodyPr wrap="square" anchor="t" lIns="45720" rIns="45720" tIns="18288" bIns="18288">
            <a:spAutoFit/>
          </a:bodyPr>
          <a:lstStyle/>
          <a:p>
            <a:pPr algn="l">
              <a:lnSpc>
                <a:spcPct val="105000"/>
              </a:lnSpc>
              <a:spcAft>
                <a:spcPts val="1000"/>
              </a:spcAft>
            </a:pPr>
            <a:r>
              <a:rPr sz="1800" b="0">
                <a:solidFill>
                  <a:srgbClr val="C0392B"/>
                </a:solidFill>
                <a:latin typeface="맑은 고딕"/>
                <a:ea typeface="맑은 고딕"/>
              </a:rPr>
              <a:t>•  인증 = 접속 주체가 계정 소유자가 맞는지 확인하는 절차</a:t>
            </a:r>
          </a:p>
          <a:p>
            <a:pPr algn="l">
              <a:lnSpc>
                <a:spcPct val="105000"/>
              </a:lnSpc>
              <a:spcAft>
                <a:spcPts val="1000"/>
              </a:spcAft>
            </a:pPr>
            <a:r>
              <a:rPr sz="1800" b="0">
                <a:solidFill>
                  <a:srgbClr val="C0392B"/>
                </a:solidFill>
                <a:latin typeface="맑은 고딕"/>
                <a:ea typeface="맑은 고딕"/>
              </a:rPr>
              <a:t>•  ① 비밀번호 인증  ② 비밀번호 파일 인증</a:t>
            </a:r>
          </a:p>
          <a:p>
            <a:pPr algn="l">
              <a:lnSpc>
                <a:spcPct val="105000"/>
              </a:lnSpc>
              <a:spcAft>
                <a:spcPts val="1000"/>
              </a:spcAft>
            </a:pPr>
            <a:r>
              <a:rPr sz="1800" b="0">
                <a:solidFill>
                  <a:srgbClr val="C0392B"/>
                </a:solidFill>
                <a:latin typeface="맑은 고딕"/>
                <a:ea typeface="맑은 고딕"/>
              </a:rPr>
              <a:t>•  ③ OS(외부) 인증  ④ 전역(디렉터리) 인증</a:t>
            </a:r>
          </a:p>
          <a:p>
            <a:pPr algn="l">
              <a:lnSpc>
                <a:spcPct val="105000"/>
              </a:lnSpc>
              <a:spcAft>
                <a:spcPts val="1000"/>
              </a:spcAft>
            </a:pPr>
            <a:r>
              <a:rPr sz="1800" b="0">
                <a:solidFill>
                  <a:srgbClr val="C0392B"/>
                </a:solidFill>
                <a:latin typeface="맑은 고딕"/>
                <a:ea typeface="맑은 고딕"/>
              </a:rPr>
              <a:t>•  ⑤ 프록시 인증(중간 계층 대리 접속)</a:t>
            </a:r>
          </a:p>
          <a:p>
            <a:pPr algn="l">
              <a:lnSpc>
                <a:spcPct val="105000"/>
              </a:lnSpc>
              <a:spcAft>
                <a:spcPts val="1000"/>
              </a:spcAft>
            </a:pPr>
            <a:r>
              <a:rPr sz="1800" b="0">
                <a:solidFill>
                  <a:srgbClr val="C0392B"/>
                </a:solidFill>
                <a:latin typeface="맑은 고딕"/>
                <a:ea typeface="맑은 고딕"/>
              </a:rPr>
              <a:t>•  계정마다 하나의 인증 방식이 설정됨</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nchor="ctr" lIns="45720" rIns="45720" tIns="18288" bIns="18288">
            <a:spAutoFit/>
          </a:bodyPr>
          <a:lstStyle/>
          <a:p>
            <a:pPr algn="l"/>
            <a:r>
              <a:rPr sz="2600" b="1">
                <a:solidFill>
                  <a:srgbClr val="FFFFFF"/>
                </a:solidFill>
                <a:latin typeface="맑은 고딕"/>
                <a:ea typeface="맑은 고딕"/>
              </a:rPr>
              <a:t>비밀번호 인증</a:t>
            </a:r>
          </a:p>
        </p:txBody>
      </p:sp>
      <p:sp>
        <p:nvSpPr>
          <p:cNvPr id="4" name="TextBox 3"/>
          <p:cNvSpPr txBox="1"/>
          <p:nvPr/>
        </p:nvSpPr>
        <p:spPr>
          <a:xfrm>
            <a:off x="640080" y="1115568"/>
            <a:ext cx="10881360" cy="457200"/>
          </a:xfrm>
          <a:prstGeom prst="rect">
            <a:avLst/>
          </a:prstGeom>
          <a:noFill/>
        </p:spPr>
        <p:txBody>
          <a:bodyPr wrap="square" anchor="t" lIns="45720" rIns="45720" tIns="18288" bIns="18288">
            <a:spAutoFit/>
          </a:bodyPr>
          <a:lstStyle/>
          <a:p>
            <a:pPr algn="l"/>
            <a:r>
              <a:rPr sz="1500" b="0">
                <a:solidFill>
                  <a:srgbClr val="5A6672"/>
                </a:solidFill>
                <a:latin typeface="맑은 고딕"/>
                <a:ea typeface="맑은 고딕"/>
              </a:rPr>
              <a:t>password authentication</a:t>
            </a:r>
          </a:p>
        </p:txBody>
      </p:sp>
      <p:sp>
        <p:nvSpPr>
          <p:cNvPr id="5" name="TextBox 4"/>
          <p:cNvSpPr txBox="1"/>
          <p:nvPr/>
        </p:nvSpPr>
        <p:spPr>
          <a:xfrm>
            <a:off x="640080" y="1691640"/>
            <a:ext cx="10881360" cy="4572000"/>
          </a:xfrm>
          <a:prstGeom prst="rect">
            <a:avLst/>
          </a:prstGeom>
          <a:noFill/>
        </p:spPr>
        <p:txBody>
          <a:bodyPr wrap="square" anchor="t" lIns="45720" rIns="45720" tIns="18288" bIns="18288">
            <a:spAutoFit/>
          </a:bodyPr>
          <a:lstStyle/>
          <a:p>
            <a:pPr algn="l">
              <a:lnSpc>
                <a:spcPct val="105000"/>
              </a:lnSpc>
              <a:spcAft>
                <a:spcPts val="1000"/>
              </a:spcAft>
            </a:pPr>
            <a:r>
              <a:rPr sz="1800" b="0">
                <a:solidFill>
                  <a:srgbClr val="C0392B"/>
                </a:solidFill>
                <a:latin typeface="맑은 고딕"/>
                <a:ea typeface="맑은 고딕"/>
              </a:rPr>
              <a:t>•  IDENTIFIED BY 로 설정, 딕셔너리의 검증자(해시)와 대조</a:t>
            </a:r>
          </a:p>
          <a:p>
            <a:pPr algn="l">
              <a:lnSpc>
                <a:spcPct val="105000"/>
              </a:lnSpc>
              <a:spcAft>
                <a:spcPts val="1000"/>
              </a:spcAft>
            </a:pPr>
            <a:r>
              <a:rPr sz="1800" b="0">
                <a:solidFill>
                  <a:srgbClr val="C0392B"/>
                </a:solidFill>
                <a:latin typeface="맑은 고딕"/>
                <a:ea typeface="맑은 고딕"/>
              </a:rPr>
              <a:t>•  비밀번호는 평문 저장 안 함 → SHA-2 기반 12C 검증자</a:t>
            </a:r>
          </a:p>
          <a:p>
            <a:pPr algn="l">
              <a:lnSpc>
                <a:spcPct val="105000"/>
              </a:lnSpc>
              <a:spcAft>
                <a:spcPts val="1000"/>
              </a:spcAft>
            </a:pPr>
            <a:r>
              <a:rPr sz="1800" b="0">
                <a:solidFill>
                  <a:srgbClr val="C0392B"/>
                </a:solidFill>
                <a:latin typeface="맑은 고딕"/>
                <a:ea typeface="맑은 고딕"/>
              </a:rPr>
              <a:t>•  네트워크는 챌린지-응답으로 평문 노출 방지</a:t>
            </a:r>
          </a:p>
          <a:p>
            <a:pPr algn="l">
              <a:lnSpc>
                <a:spcPct val="105000"/>
              </a:lnSpc>
              <a:spcAft>
                <a:spcPts val="1000"/>
              </a:spcAft>
            </a:pPr>
            <a:r>
              <a:rPr sz="1800" b="0">
                <a:solidFill>
                  <a:srgbClr val="C0392B"/>
                </a:solidFill>
                <a:latin typeface="맑은 고딕"/>
                <a:ea typeface="맑은 고딕"/>
              </a:rPr>
              <a:t>•  19c 비밀번호는 기본 대소문자 구분(case-sensitive)</a:t>
            </a:r>
          </a:p>
          <a:p>
            <a:pPr algn="l">
              <a:lnSpc>
                <a:spcPct val="105000"/>
              </a:lnSpc>
              <a:spcAft>
                <a:spcPts val="1000"/>
              </a:spcAft>
            </a:pPr>
            <a:r>
              <a:rPr sz="1800" b="0">
                <a:solidFill>
                  <a:srgbClr val="C0392B"/>
                </a:solidFill>
                <a:latin typeface="맑은 고딕"/>
                <a:ea typeface="맑은 고딕"/>
              </a:rPr>
              <a:t>•  복잡도·수명·잠금 정책은 프로파일로 강제(23장)</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nchor="ctr" lIns="45720" rIns="45720" tIns="18288" bIns="18288">
            <a:spAutoFit/>
          </a:bodyPr>
          <a:lstStyle/>
          <a:p>
            <a:pPr algn="l"/>
            <a:r>
              <a:rPr sz="2600" b="1">
                <a:solidFill>
                  <a:srgbClr val="FFFFFF"/>
                </a:solidFill>
                <a:latin typeface="맑은 고딕"/>
                <a:ea typeface="맑은 고딕"/>
              </a:rPr>
              <a:t>비밀번호 파일 인증</a:t>
            </a:r>
          </a:p>
        </p:txBody>
      </p:sp>
      <p:sp>
        <p:nvSpPr>
          <p:cNvPr id="4" name="TextBox 3"/>
          <p:cNvSpPr txBox="1"/>
          <p:nvPr/>
        </p:nvSpPr>
        <p:spPr>
          <a:xfrm>
            <a:off x="640080" y="1115568"/>
            <a:ext cx="10881360" cy="457200"/>
          </a:xfrm>
          <a:prstGeom prst="rect">
            <a:avLst/>
          </a:prstGeom>
          <a:noFill/>
        </p:spPr>
        <p:txBody>
          <a:bodyPr wrap="square" anchor="t" lIns="45720" rIns="45720" tIns="18288" bIns="18288">
            <a:spAutoFit/>
          </a:bodyPr>
          <a:lstStyle/>
          <a:p>
            <a:pPr algn="l"/>
            <a:r>
              <a:rPr sz="1500" b="0">
                <a:solidFill>
                  <a:srgbClr val="5A6672"/>
                </a:solidFill>
                <a:latin typeface="맑은 고딕"/>
                <a:ea typeface="맑은 고딕"/>
              </a:rPr>
              <a:t>password file authentication</a:t>
            </a:r>
          </a:p>
        </p:txBody>
      </p:sp>
      <p:sp>
        <p:nvSpPr>
          <p:cNvPr id="5" name="TextBox 4"/>
          <p:cNvSpPr txBox="1"/>
          <p:nvPr/>
        </p:nvSpPr>
        <p:spPr>
          <a:xfrm>
            <a:off x="640080" y="1691640"/>
            <a:ext cx="10881360" cy="4572000"/>
          </a:xfrm>
          <a:prstGeom prst="rect">
            <a:avLst/>
          </a:prstGeom>
          <a:noFill/>
        </p:spPr>
        <p:txBody>
          <a:bodyPr wrap="square" anchor="t" lIns="45720" rIns="45720" tIns="18288" bIns="18288">
            <a:spAutoFit/>
          </a:bodyPr>
          <a:lstStyle/>
          <a:p>
            <a:pPr algn="l">
              <a:lnSpc>
                <a:spcPct val="105000"/>
              </a:lnSpc>
              <a:spcAft>
                <a:spcPts val="1000"/>
              </a:spcAft>
            </a:pPr>
            <a:r>
              <a:rPr sz="1800" b="0">
                <a:solidFill>
                  <a:srgbClr val="C0392B"/>
                </a:solidFill>
                <a:latin typeface="맑은 고딕"/>
                <a:ea typeface="맑은 고딕"/>
              </a:rPr>
              <a:t>•  SYSDBA·SYSOPER·SYSBACKUP 등 관리 접속용</a:t>
            </a:r>
          </a:p>
          <a:p>
            <a:pPr algn="l">
              <a:lnSpc>
                <a:spcPct val="105000"/>
              </a:lnSpc>
              <a:spcAft>
                <a:spcPts val="1000"/>
              </a:spcAft>
            </a:pPr>
            <a:r>
              <a:rPr sz="1800" b="0">
                <a:solidFill>
                  <a:srgbClr val="C0392B"/>
                </a:solidFill>
                <a:latin typeface="맑은 고딕"/>
                <a:ea typeface="맑은 고딕"/>
              </a:rPr>
              <a:t>•  DB가 안 열린 NOMOUNT/MOUNT 단계에서도 인증 필요</a:t>
            </a:r>
          </a:p>
          <a:p>
            <a:pPr algn="l">
              <a:lnSpc>
                <a:spcPct val="105000"/>
              </a:lnSpc>
              <a:spcAft>
                <a:spcPts val="1000"/>
              </a:spcAft>
            </a:pPr>
            <a:r>
              <a:rPr sz="1800" b="0">
                <a:solidFill>
                  <a:srgbClr val="C0392B"/>
                </a:solidFill>
                <a:latin typeface="맑은 고딕"/>
                <a:ea typeface="맑은 고딕"/>
              </a:rPr>
              <a:t>•  딕셔너리 밖의 별도 파일(orapwd 유틸리티로 생성)</a:t>
            </a:r>
          </a:p>
          <a:p>
            <a:pPr algn="l">
              <a:lnSpc>
                <a:spcPct val="105000"/>
              </a:lnSpc>
              <a:spcAft>
                <a:spcPts val="1000"/>
              </a:spcAft>
            </a:pPr>
            <a:r>
              <a:rPr sz="1800" b="0">
                <a:solidFill>
                  <a:srgbClr val="C0392B"/>
                </a:solidFill>
                <a:latin typeface="맑은 고딕"/>
                <a:ea typeface="맑은 고딕"/>
              </a:rPr>
              <a:t>•  REMOTE_LOGIN_PASSWORDFILE=EXCLUSIVE|SHARED</a:t>
            </a:r>
          </a:p>
          <a:p>
            <a:pPr algn="l">
              <a:lnSpc>
                <a:spcPct val="105000"/>
              </a:lnSpc>
              <a:spcAft>
                <a:spcPts val="1000"/>
              </a:spcAft>
            </a:pPr>
            <a:r>
              <a:rPr sz="1800" b="0">
                <a:solidFill>
                  <a:srgbClr val="C0392B"/>
                </a:solidFill>
                <a:latin typeface="맑은 고딕"/>
                <a:ea typeface="맑은 고딕"/>
              </a:rPr>
              <a:t>•  원격 SYSDBA 접속(sys@서비스 as sysdba)에 필수</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nchor="ctr" lIns="45720" rIns="45720" tIns="18288" bIns="18288">
            <a:spAutoFit/>
          </a:bodyPr>
          <a:lstStyle/>
          <a:p>
            <a:pPr algn="l"/>
            <a:r>
              <a:rPr sz="2600" b="1">
                <a:solidFill>
                  <a:srgbClr val="FFFFFF"/>
                </a:solidFill>
                <a:latin typeface="맑은 고딕"/>
                <a:ea typeface="맑은 고딕"/>
              </a:rPr>
              <a:t>전역 인증과 프록시 인증</a:t>
            </a:r>
          </a:p>
        </p:txBody>
      </p:sp>
      <p:sp>
        <p:nvSpPr>
          <p:cNvPr id="4" name="TextBox 3"/>
          <p:cNvSpPr txBox="1"/>
          <p:nvPr/>
        </p:nvSpPr>
        <p:spPr>
          <a:xfrm>
            <a:off x="640080" y="1115568"/>
            <a:ext cx="10881360" cy="457200"/>
          </a:xfrm>
          <a:prstGeom prst="rect">
            <a:avLst/>
          </a:prstGeom>
          <a:noFill/>
        </p:spPr>
        <p:txBody>
          <a:bodyPr wrap="square" anchor="t" lIns="45720" rIns="45720" tIns="18288" bIns="18288">
            <a:spAutoFit/>
          </a:bodyPr>
          <a:lstStyle/>
          <a:p>
            <a:pPr algn="l"/>
            <a:r>
              <a:rPr sz="1500" b="0">
                <a:solidFill>
                  <a:srgbClr val="5A6672"/>
                </a:solidFill>
                <a:latin typeface="맑은 고딕"/>
                <a:ea typeface="맑은 고딕"/>
              </a:rPr>
              <a:t>global &amp; proxy authentication</a:t>
            </a:r>
          </a:p>
        </p:txBody>
      </p:sp>
      <p:sp>
        <p:nvSpPr>
          <p:cNvPr id="5" name="TextBox 4"/>
          <p:cNvSpPr txBox="1"/>
          <p:nvPr/>
        </p:nvSpPr>
        <p:spPr>
          <a:xfrm>
            <a:off x="640080" y="1691640"/>
            <a:ext cx="10881360" cy="4572000"/>
          </a:xfrm>
          <a:prstGeom prst="rect">
            <a:avLst/>
          </a:prstGeom>
          <a:noFill/>
        </p:spPr>
        <p:txBody>
          <a:bodyPr wrap="square" anchor="t" lIns="45720" rIns="45720" tIns="18288" bIns="18288">
            <a:spAutoFit/>
          </a:bodyPr>
          <a:lstStyle/>
          <a:p>
            <a:pPr algn="l">
              <a:lnSpc>
                <a:spcPct val="105000"/>
              </a:lnSpc>
              <a:spcAft>
                <a:spcPts val="1000"/>
              </a:spcAft>
            </a:pPr>
            <a:r>
              <a:rPr sz="1800" b="0">
                <a:solidFill>
                  <a:srgbClr val="C0392B"/>
                </a:solidFill>
                <a:latin typeface="맑은 고딕"/>
                <a:ea typeface="맑은 고딕"/>
              </a:rPr>
              <a:t>•  전역 인증: IDENTIFIED GLOBALLY, LDAP 디렉터리 중앙 집중</a:t>
            </a:r>
          </a:p>
          <a:p>
            <a:pPr algn="l">
              <a:lnSpc>
                <a:spcPct val="105000"/>
              </a:lnSpc>
              <a:spcAft>
                <a:spcPts val="1000"/>
              </a:spcAft>
            </a:pPr>
            <a:r>
              <a:rPr sz="1800" b="0">
                <a:solidFill>
                  <a:srgbClr val="C0392B"/>
                </a:solidFill>
                <a:latin typeface="맑은 고딕"/>
                <a:ea typeface="맑은 고딕"/>
              </a:rPr>
              <a:t>•  Enterprise User Security → 다수 DB의 사용자·롤 통합 관리</a:t>
            </a:r>
          </a:p>
          <a:p>
            <a:pPr algn="l">
              <a:lnSpc>
                <a:spcPct val="105000"/>
              </a:lnSpc>
              <a:spcAft>
                <a:spcPts val="1000"/>
              </a:spcAft>
            </a:pPr>
            <a:r>
              <a:rPr sz="1800" b="0">
                <a:solidFill>
                  <a:srgbClr val="C0392B"/>
                </a:solidFill>
                <a:latin typeface="맑은 고딕"/>
                <a:ea typeface="맑은 고딕"/>
              </a:rPr>
              <a:t>•  프록시 인증: 중간 계층이 최종 사용자 대신 세션 오픈</a:t>
            </a:r>
          </a:p>
          <a:p>
            <a:pPr algn="l">
              <a:lnSpc>
                <a:spcPct val="105000"/>
              </a:lnSpc>
              <a:spcAft>
                <a:spcPts val="1000"/>
              </a:spcAft>
            </a:pPr>
            <a:r>
              <a:rPr sz="1800" b="0">
                <a:solidFill>
                  <a:srgbClr val="C0392B"/>
                </a:solidFill>
                <a:latin typeface="맑은 고딕"/>
                <a:ea typeface="맑은 고딕"/>
              </a:rPr>
              <a:t>•  ALTER USER … GRANT CONNECT THROUGH 로 설정</a:t>
            </a:r>
          </a:p>
          <a:p>
            <a:pPr algn="l">
              <a:lnSpc>
                <a:spcPct val="105000"/>
              </a:lnSpc>
              <a:spcAft>
                <a:spcPts val="1000"/>
              </a:spcAft>
            </a:pPr>
            <a:r>
              <a:rPr sz="1800" b="0">
                <a:solidFill>
                  <a:srgbClr val="C0392B"/>
                </a:solidFill>
                <a:latin typeface="맑은 고딕"/>
                <a:ea typeface="맑은 고딕"/>
              </a:rPr>
              <a:t>•  커넥션 풀 공유하면서도 최종 사용자 정체성 유지</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nchor="ctr" lIns="45720" rIns="45720" tIns="18288" bIns="18288">
            <a:spAutoFit/>
          </a:bodyPr>
          <a:lstStyle/>
          <a:p>
            <a:pPr algn="l"/>
            <a:r>
              <a:rPr sz="2600" b="1">
                <a:solidFill>
                  <a:srgbClr val="FFFFFF"/>
                </a:solidFill>
                <a:latin typeface="맑은 고딕"/>
                <a:ea typeface="맑은 고딕"/>
              </a:rPr>
              <a:t>인증 방식 비교</a:t>
            </a:r>
          </a:p>
        </p:txBody>
      </p:sp>
      <p:sp>
        <p:nvSpPr>
          <p:cNvPr id="4" name="TextBox 3"/>
          <p:cNvSpPr txBox="1"/>
          <p:nvPr/>
        </p:nvSpPr>
        <p:spPr>
          <a:xfrm>
            <a:off x="640080" y="1115568"/>
            <a:ext cx="10881360" cy="457200"/>
          </a:xfrm>
          <a:prstGeom prst="rect">
            <a:avLst/>
          </a:prstGeom>
          <a:noFill/>
        </p:spPr>
        <p:txBody>
          <a:bodyPr wrap="square" anchor="t" lIns="45720" rIns="45720" tIns="18288" bIns="18288">
            <a:spAutoFit/>
          </a:bodyPr>
          <a:lstStyle/>
          <a:p>
            <a:pPr algn="l"/>
            <a:r>
              <a:rPr sz="1500" b="0">
                <a:solidFill>
                  <a:srgbClr val="5A6672"/>
                </a:solidFill>
                <a:latin typeface="맑은 고딕"/>
                <a:ea typeface="맑은 고딕"/>
              </a:rPr>
              <a:t>authentication comparison</a:t>
            </a:r>
          </a:p>
        </p:txBody>
      </p:sp>
      <p:sp>
        <p:nvSpPr>
          <p:cNvPr id="5" name="TextBox 4"/>
          <p:cNvSpPr txBox="1"/>
          <p:nvPr/>
        </p:nvSpPr>
        <p:spPr>
          <a:xfrm>
            <a:off x="640080" y="1691640"/>
            <a:ext cx="10881360" cy="4572000"/>
          </a:xfrm>
          <a:prstGeom prst="rect">
            <a:avLst/>
          </a:prstGeom>
          <a:noFill/>
        </p:spPr>
        <p:txBody>
          <a:bodyPr wrap="square" anchor="t" lIns="45720" rIns="45720" tIns="18288" bIns="18288">
            <a:spAutoFit/>
          </a:bodyPr>
          <a:lstStyle/>
          <a:p>
            <a:pPr algn="l">
              <a:lnSpc>
                <a:spcPct val="105000"/>
              </a:lnSpc>
              <a:spcAft>
                <a:spcPts val="1000"/>
              </a:spcAft>
            </a:pPr>
            <a:r>
              <a:rPr sz="1800" b="0">
                <a:solidFill>
                  <a:srgbClr val="C0392B"/>
                </a:solidFill>
                <a:latin typeface="맑은 고딕"/>
                <a:ea typeface="맑은 고딕"/>
              </a:rPr>
              <a:t>•  비밀번호 인증 → 일반 사용자·앱 계정(IDENTIFIED BY)</a:t>
            </a:r>
          </a:p>
          <a:p>
            <a:pPr algn="l">
              <a:lnSpc>
                <a:spcPct val="105000"/>
              </a:lnSpc>
              <a:spcAft>
                <a:spcPts val="1000"/>
              </a:spcAft>
            </a:pPr>
            <a:r>
              <a:rPr sz="1800" b="0">
                <a:solidFill>
                  <a:srgbClr val="C0392B"/>
                </a:solidFill>
                <a:latin typeface="맑은 고딕"/>
                <a:ea typeface="맑은 고딕"/>
              </a:rPr>
              <a:t>•  비밀번호 파일 → 원격 SYSDBA 관리 접속(orapwd)</a:t>
            </a:r>
          </a:p>
          <a:p>
            <a:pPr algn="l">
              <a:lnSpc>
                <a:spcPct val="105000"/>
              </a:lnSpc>
              <a:spcAft>
                <a:spcPts val="1000"/>
              </a:spcAft>
            </a:pPr>
            <a:r>
              <a:rPr sz="1800" b="0">
                <a:solidFill>
                  <a:srgbClr val="C0392B"/>
                </a:solidFill>
                <a:latin typeface="맑은 고딕"/>
                <a:ea typeface="맑은 고딕"/>
              </a:rPr>
              <a:t>•  OS 인증 → OS 계정 신뢰(IDENTIFIED EXTERNALLY)</a:t>
            </a:r>
          </a:p>
          <a:p>
            <a:pPr algn="l">
              <a:lnSpc>
                <a:spcPct val="105000"/>
              </a:lnSpc>
              <a:spcAft>
                <a:spcPts val="1000"/>
              </a:spcAft>
            </a:pPr>
            <a:r>
              <a:rPr sz="1800" b="0">
                <a:solidFill>
                  <a:srgbClr val="C0392B"/>
                </a:solidFill>
                <a:latin typeface="맑은 고딕"/>
                <a:ea typeface="맑은 고딕"/>
              </a:rPr>
              <a:t>•  전역 인증 → LDAP 엔터프라이즈 사용자(GLOBALLY)</a:t>
            </a:r>
          </a:p>
          <a:p>
            <a:pPr algn="l">
              <a:lnSpc>
                <a:spcPct val="105000"/>
              </a:lnSpc>
              <a:spcAft>
                <a:spcPts val="1000"/>
              </a:spcAft>
            </a:pPr>
            <a:r>
              <a:rPr sz="1800" b="0">
                <a:solidFill>
                  <a:srgbClr val="C0392B"/>
                </a:solidFill>
                <a:latin typeface="맑은 고딕"/>
                <a:ea typeface="맑은 고딕"/>
              </a:rPr>
              <a:t>•  프록시 인증 → 중간 계층·커넥션 풀(CONNECT THROUGH)</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lIns="45720" rIns="45720" tIns="18288" bIns="18288">
            <a:spAutoFit/>
          </a:bodyPr>
          <a:lstStyle/>
          <a:p>
            <a:pPr algn="l"/>
            <a:r>
              <a:rPr sz="4000" b="1">
                <a:solidFill>
                  <a:srgbClr val="FFFFFF"/>
                </a:solidFill>
                <a:latin typeface="맑은 고딕"/>
                <a:ea typeface="맑은 고딕"/>
              </a:rPr>
              <a:t>21.E</a:t>
            </a:r>
          </a:p>
        </p:txBody>
      </p:sp>
      <p:sp>
        <p:nvSpPr>
          <p:cNvPr id="4" name="TextBox 3"/>
          <p:cNvSpPr txBox="1"/>
          <p:nvPr/>
        </p:nvSpPr>
        <p:spPr>
          <a:xfrm>
            <a:off x="822960" y="3017520"/>
            <a:ext cx="10515600" cy="914400"/>
          </a:xfrm>
          <a:prstGeom prst="rect">
            <a:avLst/>
          </a:prstGeom>
          <a:noFill/>
        </p:spPr>
        <p:txBody>
          <a:bodyPr wrap="square" anchor="t" lIns="45720" rIns="45720" tIns="18288" bIns="18288">
            <a:spAutoFit/>
          </a:bodyPr>
          <a:lstStyle/>
          <a:p>
            <a:pPr algn="l"/>
            <a:r>
              <a:rPr sz="2800" b="1">
                <a:solidFill>
                  <a:srgbClr val="FFFFFF"/>
                </a:solidFill>
                <a:latin typeface="맑은 고딕"/>
                <a:ea typeface="맑은 고딕"/>
              </a:rPr>
              <a:t>OS 인증</a:t>
            </a:r>
          </a:p>
        </p:txBody>
      </p:sp>
      <p:sp>
        <p:nvSpPr>
          <p:cNvPr id="5" name="Rectangle 4"/>
          <p:cNvSpPr/>
          <p:nvPr/>
        </p:nvSpPr>
        <p:spPr>
          <a:xfrm>
            <a:off x="868680" y="4114800"/>
            <a:ext cx="5486400" cy="457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4297680"/>
            <a:ext cx="10058400" cy="1828800"/>
          </a:xfrm>
          <a:prstGeom prst="rect">
            <a:avLst/>
          </a:prstGeom>
          <a:noFill/>
        </p:spPr>
        <p:txBody>
          <a:bodyPr wrap="square" anchor="t" lIns="45720" rIns="45720" tIns="18288" bIns="18288">
            <a:spAutoFit/>
          </a:bodyPr>
          <a:lstStyle/>
          <a:p>
            <a:pPr algn="l">
              <a:spcAft>
                <a:spcPts val="400"/>
              </a:spcAft>
            </a:pPr>
            <a:r>
              <a:rPr sz="1600" b="0">
                <a:solidFill>
                  <a:srgbClr val="FFFFFF"/>
                </a:solidFill>
                <a:latin typeface="맑은 고딕"/>
                <a:ea typeface="맑은 고딕"/>
              </a:rPr>
              <a:t>•  OS 인증과 OS_AUTHENT_PREFIX</a:t>
            </a:r>
          </a:p>
          <a:p>
            <a:pPr algn="l">
              <a:spcAft>
                <a:spcPts val="400"/>
              </a:spcAft>
            </a:pPr>
            <a:r>
              <a:rPr sz="1600" b="0">
                <a:solidFill>
                  <a:srgbClr val="FFFFFF"/>
                </a:solidFill>
                <a:latin typeface="맑은 고딕"/>
                <a:ea typeface="맑은 고딕"/>
              </a:rPr>
              <a:t>•  OS 인증 계정 생성</a:t>
            </a:r>
          </a:p>
          <a:p>
            <a:pPr algn="l">
              <a:spcAft>
                <a:spcPts val="400"/>
              </a:spcAft>
            </a:pPr>
            <a:r>
              <a:rPr sz="1600" b="0">
                <a:solidFill>
                  <a:srgbClr val="FFFFFF"/>
                </a:solidFill>
                <a:latin typeface="맑은 고딕"/>
                <a:ea typeface="맑은 고딕"/>
              </a:rPr>
              <a:t>•  원격 OS 인증 위험</a:t>
            </a:r>
          </a:p>
          <a:p>
            <a:pPr algn="l">
              <a:spcAft>
                <a:spcPts val="400"/>
              </a:spcAft>
            </a:pPr>
            <a:r>
              <a:rPr sz="1600" b="0">
                <a:solidFill>
                  <a:srgbClr val="FFFFFF"/>
                </a:solidFill>
                <a:latin typeface="맑은 고딕"/>
                <a:ea typeface="맑은 고딕"/>
              </a:rPr>
              <a:t>•  권한 있는 사용자의 OS 인증</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nchor="ctr" lIns="45720" rIns="45720" tIns="18288" bIns="18288">
            <a:spAutoFit/>
          </a:bodyPr>
          <a:lstStyle/>
          <a:p>
            <a:pPr algn="l"/>
            <a:r>
              <a:rPr sz="2600" b="1">
                <a:solidFill>
                  <a:srgbClr val="FFFFFF"/>
                </a:solidFill>
                <a:latin typeface="맑은 고딕"/>
                <a:ea typeface="맑은 고딕"/>
              </a:rPr>
              <a:t>OS 인증과 OS_AUTHENT_PREFIX</a:t>
            </a:r>
          </a:p>
        </p:txBody>
      </p:sp>
      <p:sp>
        <p:nvSpPr>
          <p:cNvPr id="4" name="TextBox 3"/>
          <p:cNvSpPr txBox="1"/>
          <p:nvPr/>
        </p:nvSpPr>
        <p:spPr>
          <a:xfrm>
            <a:off x="640080" y="1115568"/>
            <a:ext cx="10881360" cy="457200"/>
          </a:xfrm>
          <a:prstGeom prst="rect">
            <a:avLst/>
          </a:prstGeom>
          <a:noFill/>
        </p:spPr>
        <p:txBody>
          <a:bodyPr wrap="square" anchor="t" lIns="45720" rIns="45720" tIns="18288" bIns="18288">
            <a:spAutoFit/>
          </a:bodyPr>
          <a:lstStyle/>
          <a:p>
            <a:pPr algn="l"/>
            <a:r>
              <a:rPr sz="1500" b="0">
                <a:solidFill>
                  <a:srgbClr val="5A6672"/>
                </a:solidFill>
                <a:latin typeface="맑은 고딕"/>
                <a:ea typeface="맑은 고딕"/>
              </a:rPr>
              <a:t>operating system authentication</a:t>
            </a:r>
          </a:p>
        </p:txBody>
      </p:sp>
      <p:sp>
        <p:nvSpPr>
          <p:cNvPr id="5" name="TextBox 4"/>
          <p:cNvSpPr txBox="1"/>
          <p:nvPr/>
        </p:nvSpPr>
        <p:spPr>
          <a:xfrm>
            <a:off x="640080" y="1691640"/>
            <a:ext cx="10881360" cy="4572000"/>
          </a:xfrm>
          <a:prstGeom prst="rect">
            <a:avLst/>
          </a:prstGeom>
          <a:noFill/>
        </p:spPr>
        <p:txBody>
          <a:bodyPr wrap="square" anchor="t" lIns="45720" rIns="45720" tIns="18288" bIns="18288">
            <a:spAutoFit/>
          </a:bodyPr>
          <a:lstStyle/>
          <a:p>
            <a:pPr algn="l">
              <a:lnSpc>
                <a:spcPct val="105000"/>
              </a:lnSpc>
              <a:spcAft>
                <a:spcPts val="1000"/>
              </a:spcAft>
            </a:pPr>
            <a:r>
              <a:rPr sz="1800" b="0">
                <a:solidFill>
                  <a:srgbClr val="C0392B"/>
                </a:solidFill>
                <a:latin typeface="맑은 고딕"/>
                <a:ea typeface="맑은 고딕"/>
              </a:rPr>
              <a:t>•  OS 인증 = 인증을 운영체제에 위임(IDENTIFIED EXTERNALLY)</a:t>
            </a:r>
          </a:p>
          <a:p>
            <a:pPr algn="l">
              <a:lnSpc>
                <a:spcPct val="105000"/>
              </a:lnSpc>
              <a:spcAft>
                <a:spcPts val="1000"/>
              </a:spcAft>
            </a:pPr>
            <a:r>
              <a:rPr sz="1800" b="0">
                <a:solidFill>
                  <a:srgbClr val="C0392B"/>
                </a:solidFill>
                <a:latin typeface="맑은 고딕"/>
                <a:ea typeface="맑은 고딕"/>
              </a:rPr>
              <a:t>•  이미 OS에 로그인한 사용자를 DB가 다시 인증 없이 신뢰</a:t>
            </a:r>
          </a:p>
          <a:p>
            <a:pPr algn="l">
              <a:lnSpc>
                <a:spcPct val="105000"/>
              </a:lnSpc>
              <a:spcAft>
                <a:spcPts val="1000"/>
              </a:spcAft>
            </a:pPr>
            <a:r>
              <a:rPr sz="1800" b="0">
                <a:solidFill>
                  <a:srgbClr val="C0392B"/>
                </a:solidFill>
                <a:latin typeface="맑은 고딕"/>
                <a:ea typeface="맑은 고딕"/>
              </a:rPr>
              <a:t>•  OS_AUTHENT_PREFIX: DB 이름 앞 접두사(기본 'OPS$')</a:t>
            </a:r>
          </a:p>
          <a:p>
            <a:pPr algn="l">
              <a:lnSpc>
                <a:spcPct val="105000"/>
              </a:lnSpc>
              <a:spcAft>
                <a:spcPts val="1000"/>
              </a:spcAft>
            </a:pPr>
            <a:r>
              <a:rPr sz="1800" b="0">
                <a:solidFill>
                  <a:srgbClr val="C0392B"/>
                </a:solidFill>
                <a:latin typeface="맑은 고딕"/>
                <a:ea typeface="맑은 고딕"/>
              </a:rPr>
              <a:t>•  OS 계정 oracle → DB 계정 OPS$ORACLE 매핑</a:t>
            </a:r>
          </a:p>
          <a:p>
            <a:pPr algn="l">
              <a:lnSpc>
                <a:spcPct val="105000"/>
              </a:lnSpc>
              <a:spcAft>
                <a:spcPts val="1000"/>
              </a:spcAft>
            </a:pPr>
            <a:r>
              <a:rPr sz="1800" b="0">
                <a:solidFill>
                  <a:srgbClr val="C0392B"/>
                </a:solidFill>
                <a:latin typeface="맑은 고딕"/>
                <a:ea typeface="맑은 고딕"/>
              </a:rPr>
              <a:t>•  접두사를 ''로 두어 이름을 동일하게 맞추기도 함</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nchor="ctr" lIns="45720" rIns="45720" tIns="18288" bIns="18288">
            <a:spAutoFit/>
          </a:bodyPr>
          <a:lstStyle/>
          <a:p>
            <a:pPr algn="l"/>
            <a:r>
              <a:rPr sz="2600" b="1">
                <a:solidFill>
                  <a:srgbClr val="FFFFFF"/>
                </a:solidFill>
                <a:latin typeface="맑은 고딕"/>
                <a:ea typeface="맑은 고딕"/>
              </a:rPr>
              <a:t>OS 인증 계정 생성</a:t>
            </a:r>
          </a:p>
        </p:txBody>
      </p:sp>
      <p:sp>
        <p:nvSpPr>
          <p:cNvPr id="4" name="TextBox 3"/>
          <p:cNvSpPr txBox="1"/>
          <p:nvPr/>
        </p:nvSpPr>
        <p:spPr>
          <a:xfrm>
            <a:off x="640080" y="1115568"/>
            <a:ext cx="10881360" cy="457200"/>
          </a:xfrm>
          <a:prstGeom prst="rect">
            <a:avLst/>
          </a:prstGeom>
          <a:noFill/>
        </p:spPr>
        <p:txBody>
          <a:bodyPr wrap="square" anchor="t" lIns="45720" rIns="45720" tIns="18288" bIns="18288">
            <a:spAutoFit/>
          </a:bodyPr>
          <a:lstStyle/>
          <a:p>
            <a:pPr algn="l"/>
            <a:r>
              <a:rPr sz="1500" b="0">
                <a:solidFill>
                  <a:srgbClr val="5A6672"/>
                </a:solidFill>
                <a:latin typeface="맑은 고딕"/>
                <a:ea typeface="맑은 고딕"/>
              </a:rPr>
              <a:t>IDENTIFIED EXTERNALLY</a:t>
            </a:r>
          </a:p>
        </p:txBody>
      </p:sp>
      <p:sp>
        <p:nvSpPr>
          <p:cNvPr id="5" name="Rectangle 4"/>
          <p:cNvSpPr/>
          <p:nvPr/>
        </p:nvSpPr>
        <p:spPr>
          <a:xfrm>
            <a:off x="640080" y="1645920"/>
            <a:ext cx="10908792" cy="47091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10515600" cy="4526280"/>
          </a:xfrm>
          <a:prstGeom prst="rect">
            <a:avLst/>
          </a:prstGeom>
          <a:noFill/>
        </p:spPr>
        <p:txBody>
          <a:bodyPr wrap="square">
            <a:spAutoFit/>
          </a:bodyPr>
          <a:lstStyle/>
          <a:p>
            <a:pPr>
              <a:lnSpc>
                <a:spcPct val="100000"/>
              </a:lnSpc>
              <a:spcAft>
                <a:spcPts val="0"/>
              </a:spcAft>
            </a:pPr>
            <a:r>
              <a:rPr sz="1200">
                <a:solidFill>
                  <a:srgbClr val="7EC699"/>
                </a:solidFill>
                <a:latin typeface="Consolas"/>
                <a:ea typeface="Consolas"/>
              </a:rPr>
              <a:t>-- OS_AUTHENT_PREFIX 확인 (기본 OPS$)</a:t>
            </a:r>
          </a:p>
          <a:p>
            <a:pPr>
              <a:lnSpc>
                <a:spcPct val="100000"/>
              </a:lnSpc>
              <a:spcAft>
                <a:spcPts val="0"/>
              </a:spcAft>
            </a:pPr>
            <a:r>
              <a:rPr sz="1200">
                <a:solidFill>
                  <a:srgbClr val="E6E6E6"/>
                </a:solidFill>
                <a:latin typeface="Consolas"/>
                <a:ea typeface="Consolas"/>
              </a:rPr>
              <a:t>SYS@cdb1&gt; SHOW PARAMETER os_authent_prefix</a:t>
            </a:r>
          </a:p>
          <a:p>
            <a:pPr>
              <a:lnSpc>
                <a:spcPct val="100000"/>
              </a:lnSpc>
              <a:spcAft>
                <a:spcPts val="0"/>
              </a:spcAft>
            </a:pPr>
            <a:r>
              <a:rPr sz="1200">
                <a:solidFill>
                  <a:srgbClr val="E6E6E6"/>
                </a:solidFill>
                <a:latin typeface="Consolas"/>
                <a:ea typeface="Consolas"/>
              </a:rPr>
              <a:t>NAME                TYPE      VALUE</a:t>
            </a:r>
          </a:p>
          <a:p>
            <a:pPr>
              <a:lnSpc>
                <a:spcPct val="100000"/>
              </a:lnSpc>
              <a:spcAft>
                <a:spcPts val="0"/>
              </a:spcAft>
            </a:pPr>
            <a:r>
              <a:rPr sz="1200">
                <a:solidFill>
                  <a:srgbClr val="E6E6E6"/>
                </a:solidFill>
                <a:latin typeface="Consolas"/>
                <a:ea typeface="Consolas"/>
              </a:rPr>
              <a:t>------------------- --------- -------</a:t>
            </a:r>
          </a:p>
          <a:p>
            <a:pPr>
              <a:lnSpc>
                <a:spcPct val="100000"/>
              </a:lnSpc>
              <a:spcAft>
                <a:spcPts val="0"/>
              </a:spcAft>
            </a:pPr>
            <a:r>
              <a:rPr sz="1200">
                <a:solidFill>
                  <a:srgbClr val="E6E6E6"/>
                </a:solidFill>
                <a:latin typeface="Consolas"/>
                <a:ea typeface="Consolas"/>
              </a:rPr>
              <a:t>os_authent_prefix   string    OPS$</a:t>
            </a:r>
          </a:p>
          <a:p>
            <a:pPr>
              <a:lnSpc>
                <a:spcPct val="100000"/>
              </a:lnSpc>
              <a:spcAft>
                <a:spcPts val="0"/>
              </a:spcAft>
            </a:pPr>
            <a:r>
              <a:rPr sz="1200">
                <a:solidFill>
                  <a:srgbClr val="E6E6E6"/>
                </a:solidFill>
                <a:latin typeface="Consolas"/>
                <a:ea typeface="Consolas"/>
              </a:rPr>
              <a:t> </a:t>
            </a:r>
          </a:p>
          <a:p>
            <a:pPr>
              <a:lnSpc>
                <a:spcPct val="100000"/>
              </a:lnSpc>
              <a:spcAft>
                <a:spcPts val="0"/>
              </a:spcAft>
            </a:pPr>
            <a:r>
              <a:rPr sz="1200">
                <a:solidFill>
                  <a:srgbClr val="7EC699"/>
                </a:solidFill>
                <a:latin typeface="Consolas"/>
                <a:ea typeface="Consolas"/>
              </a:rPr>
              <a:t>-- OS 계정 oracle 을 위한 외부 인증 계정</a:t>
            </a:r>
          </a:p>
          <a:p>
            <a:pPr>
              <a:lnSpc>
                <a:spcPct val="100000"/>
              </a:lnSpc>
              <a:spcAft>
                <a:spcPts val="0"/>
              </a:spcAft>
            </a:pPr>
            <a:r>
              <a:rPr sz="1200">
                <a:solidFill>
                  <a:srgbClr val="E6E6E6"/>
                </a:solidFill>
                <a:latin typeface="Consolas"/>
                <a:ea typeface="Consolas"/>
              </a:rPr>
              <a:t>SYS@salespdb&gt; CREATE USER ops$oracle IDENTIFIED EXTERNALLY</a:t>
            </a:r>
          </a:p>
          <a:p>
            <a:pPr>
              <a:lnSpc>
                <a:spcPct val="100000"/>
              </a:lnSpc>
              <a:spcAft>
                <a:spcPts val="0"/>
              </a:spcAft>
            </a:pPr>
            <a:r>
              <a:rPr sz="1200">
                <a:solidFill>
                  <a:srgbClr val="E6E6E6"/>
                </a:solidFill>
                <a:latin typeface="Consolas"/>
                <a:ea typeface="Consolas"/>
              </a:rPr>
              <a:t>  2  DEFAULT TABLESPACE users QUOTA 10M ON users;</a:t>
            </a:r>
          </a:p>
          <a:p>
            <a:pPr>
              <a:lnSpc>
                <a:spcPct val="100000"/>
              </a:lnSpc>
              <a:spcAft>
                <a:spcPts val="0"/>
              </a:spcAft>
            </a:pPr>
            <a:r>
              <a:rPr sz="1200">
                <a:solidFill>
                  <a:srgbClr val="E6E6E6"/>
                </a:solidFill>
                <a:latin typeface="Consolas"/>
                <a:ea typeface="Consolas"/>
              </a:rPr>
              <a:t>User created.</a:t>
            </a:r>
          </a:p>
          <a:p>
            <a:pPr>
              <a:lnSpc>
                <a:spcPct val="100000"/>
              </a:lnSpc>
              <a:spcAft>
                <a:spcPts val="0"/>
              </a:spcAft>
            </a:pPr>
            <a:r>
              <a:rPr sz="1200">
                <a:solidFill>
                  <a:srgbClr val="E6E6E6"/>
                </a:solidFill>
                <a:latin typeface="Consolas"/>
                <a:ea typeface="Consolas"/>
              </a:rPr>
              <a:t>SYS@salespdb&gt; GRANT CREATE SESSION TO ops$oracle;</a:t>
            </a:r>
          </a:p>
          <a:p>
            <a:pPr>
              <a:lnSpc>
                <a:spcPct val="100000"/>
              </a:lnSpc>
              <a:spcAft>
                <a:spcPts val="0"/>
              </a:spcAft>
            </a:pPr>
            <a:r>
              <a:rPr sz="1200">
                <a:solidFill>
                  <a:srgbClr val="E6E6E6"/>
                </a:solidFill>
                <a:latin typeface="Consolas"/>
                <a:ea typeface="Consolas"/>
              </a:rPr>
              <a:t>Grant succeeded.</a:t>
            </a:r>
          </a:p>
          <a:p>
            <a:pPr>
              <a:lnSpc>
                <a:spcPct val="100000"/>
              </a:lnSpc>
              <a:spcAft>
                <a:spcPts val="0"/>
              </a:spcAft>
            </a:pPr>
            <a:r>
              <a:rPr sz="1200">
                <a:solidFill>
                  <a:srgbClr val="E6E6E6"/>
                </a:solidFill>
                <a:latin typeface="Consolas"/>
                <a:ea typeface="Consolas"/>
              </a:rPr>
              <a:t> </a:t>
            </a:r>
          </a:p>
          <a:p>
            <a:pPr>
              <a:lnSpc>
                <a:spcPct val="100000"/>
              </a:lnSpc>
              <a:spcAft>
                <a:spcPts val="0"/>
              </a:spcAft>
            </a:pPr>
            <a:r>
              <a:rPr sz="1200">
                <a:solidFill>
                  <a:srgbClr val="7EC699"/>
                </a:solidFill>
                <a:latin typeface="Consolas"/>
                <a:ea typeface="Consolas"/>
              </a:rPr>
              <a:t>-- 이제 OS의 oracle 사용자는 비밀번호 없이 접속</a:t>
            </a:r>
          </a:p>
          <a:p>
            <a:pPr>
              <a:lnSpc>
                <a:spcPct val="100000"/>
              </a:lnSpc>
              <a:spcAft>
                <a:spcPts val="0"/>
              </a:spcAft>
            </a:pPr>
            <a:r>
              <a:rPr sz="1200">
                <a:solidFill>
                  <a:srgbClr val="E6E6E6"/>
                </a:solidFill>
                <a:latin typeface="Consolas"/>
                <a:ea typeface="Consolas"/>
              </a:rPr>
              <a:t>[oracle@dbsvr ~]$ sqlplus /</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nchor="ctr" lIns="45720" rIns="45720" tIns="18288" bIns="18288">
            <a:spAutoFit/>
          </a:bodyPr>
          <a:lstStyle/>
          <a:p>
            <a:pPr algn="l"/>
            <a:r>
              <a:rPr sz="2600" b="1">
                <a:solidFill>
                  <a:srgbClr val="FFFFFF"/>
                </a:solidFill>
                <a:latin typeface="맑은 고딕"/>
                <a:ea typeface="맑은 고딕"/>
              </a:rPr>
              <a:t>원격 OS 인증의 위험</a:t>
            </a:r>
          </a:p>
        </p:txBody>
      </p:sp>
      <p:sp>
        <p:nvSpPr>
          <p:cNvPr id="4" name="TextBox 3"/>
          <p:cNvSpPr txBox="1"/>
          <p:nvPr/>
        </p:nvSpPr>
        <p:spPr>
          <a:xfrm>
            <a:off x="640080" y="1115568"/>
            <a:ext cx="10881360" cy="457200"/>
          </a:xfrm>
          <a:prstGeom prst="rect">
            <a:avLst/>
          </a:prstGeom>
          <a:noFill/>
        </p:spPr>
        <p:txBody>
          <a:bodyPr wrap="square" anchor="t" lIns="45720" rIns="45720" tIns="18288" bIns="18288">
            <a:spAutoFit/>
          </a:bodyPr>
          <a:lstStyle/>
          <a:p>
            <a:pPr algn="l"/>
            <a:r>
              <a:rPr sz="1500" b="0">
                <a:solidFill>
                  <a:srgbClr val="5A6672"/>
                </a:solidFill>
                <a:latin typeface="맑은 고딕"/>
                <a:ea typeface="맑은 고딕"/>
              </a:rPr>
              <a:t>REMOTE_OS_AUTHENT</a:t>
            </a:r>
          </a:p>
        </p:txBody>
      </p:sp>
      <p:sp>
        <p:nvSpPr>
          <p:cNvPr id="5" name="TextBox 4"/>
          <p:cNvSpPr txBox="1"/>
          <p:nvPr/>
        </p:nvSpPr>
        <p:spPr>
          <a:xfrm>
            <a:off x="640080" y="1691640"/>
            <a:ext cx="10881360" cy="4572000"/>
          </a:xfrm>
          <a:prstGeom prst="rect">
            <a:avLst/>
          </a:prstGeom>
          <a:noFill/>
        </p:spPr>
        <p:txBody>
          <a:bodyPr wrap="square" anchor="t" lIns="45720" rIns="45720" tIns="18288" bIns="18288">
            <a:spAutoFit/>
          </a:bodyPr>
          <a:lstStyle/>
          <a:p>
            <a:pPr algn="l">
              <a:lnSpc>
                <a:spcPct val="105000"/>
              </a:lnSpc>
              <a:spcAft>
                <a:spcPts val="1000"/>
              </a:spcAft>
            </a:pPr>
            <a:r>
              <a:rPr sz="1800" b="0">
                <a:solidFill>
                  <a:srgbClr val="C0392B"/>
                </a:solidFill>
                <a:latin typeface="맑은 고딕"/>
                <a:ea typeface="맑은 고딕"/>
              </a:rPr>
              <a:t>•  로컬 OS 인증: 서버에 로그인한 사용자 신뢰 → 비교적 안전</a:t>
            </a:r>
          </a:p>
          <a:p>
            <a:pPr algn="l">
              <a:lnSpc>
                <a:spcPct val="105000"/>
              </a:lnSpc>
              <a:spcAft>
                <a:spcPts val="1000"/>
              </a:spcAft>
            </a:pPr>
            <a:r>
              <a:rPr sz="1800" b="0">
                <a:solidFill>
                  <a:srgbClr val="C0392B"/>
                </a:solidFill>
                <a:latin typeface="맑은 고딕"/>
                <a:ea typeface="맑은 고딕"/>
              </a:rPr>
              <a:t>•  원격 OS 인증: 네트워크 너머 클라이언트 OS 이름을 신뢰</a:t>
            </a:r>
          </a:p>
          <a:p>
            <a:pPr algn="l">
              <a:lnSpc>
                <a:spcPct val="105000"/>
              </a:lnSpc>
              <a:spcAft>
                <a:spcPts val="1000"/>
              </a:spcAft>
            </a:pPr>
            <a:r>
              <a:rPr sz="1800" b="0">
                <a:solidFill>
                  <a:srgbClr val="C0392B"/>
                </a:solidFill>
                <a:latin typeface="맑은 고딕"/>
                <a:ea typeface="맑은 고딕"/>
              </a:rPr>
              <a:t>•  클라이언트 OS 사용자 이름은 위조가 매우 쉬움</a:t>
            </a:r>
          </a:p>
          <a:p>
            <a:pPr algn="l">
              <a:lnSpc>
                <a:spcPct val="105000"/>
              </a:lnSpc>
              <a:spcAft>
                <a:spcPts val="1000"/>
              </a:spcAft>
            </a:pPr>
            <a:r>
              <a:rPr sz="1800" b="0">
                <a:solidFill>
                  <a:srgbClr val="C0392B"/>
                </a:solidFill>
                <a:latin typeface="맑은 고딕"/>
                <a:ea typeface="맑은 고딕"/>
              </a:rPr>
              <a:t>•  REMOTE_OS_AUTHENT 기본 FALSE → 반드시 FALSE 유지</a:t>
            </a:r>
          </a:p>
          <a:p>
            <a:pPr algn="l">
              <a:lnSpc>
                <a:spcPct val="105000"/>
              </a:lnSpc>
              <a:spcAft>
                <a:spcPts val="1000"/>
              </a:spcAft>
            </a:pPr>
            <a:r>
              <a:rPr sz="1800" b="0">
                <a:solidFill>
                  <a:srgbClr val="C0392B"/>
                </a:solidFill>
                <a:latin typeface="맑은 고딕"/>
                <a:ea typeface="맑은 고딕"/>
              </a:rPr>
              <a:t>•  보안 위험으로 사실상 폐기(deprecated)</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nchor="ctr" lIns="45720" rIns="45720" tIns="18288" bIns="18288">
            <a:spAutoFit/>
          </a:bodyPr>
          <a:lstStyle/>
          <a:p>
            <a:pPr algn="l"/>
            <a:r>
              <a:rPr sz="2600" b="1">
                <a:solidFill>
                  <a:srgbClr val="FFFFFF"/>
                </a:solidFill>
                <a:latin typeface="맑은 고딕"/>
                <a:ea typeface="맑은 고딕"/>
              </a:rPr>
              <a:t>권한 있는 사용자의 OS 인증</a:t>
            </a:r>
          </a:p>
        </p:txBody>
      </p:sp>
      <p:sp>
        <p:nvSpPr>
          <p:cNvPr id="4" name="TextBox 3"/>
          <p:cNvSpPr txBox="1"/>
          <p:nvPr/>
        </p:nvSpPr>
        <p:spPr>
          <a:xfrm>
            <a:off x="640080" y="1115568"/>
            <a:ext cx="10881360" cy="457200"/>
          </a:xfrm>
          <a:prstGeom prst="rect">
            <a:avLst/>
          </a:prstGeom>
          <a:noFill/>
        </p:spPr>
        <p:txBody>
          <a:bodyPr wrap="square" anchor="t" lIns="45720" rIns="45720" tIns="18288" bIns="18288">
            <a:spAutoFit/>
          </a:bodyPr>
          <a:lstStyle/>
          <a:p>
            <a:pPr algn="l"/>
            <a:r>
              <a:rPr sz="1500" b="0">
                <a:solidFill>
                  <a:srgbClr val="5A6672"/>
                </a:solidFill>
                <a:latin typeface="맑은 고딕"/>
                <a:ea typeface="맑은 고딕"/>
              </a:rPr>
              <a:t>OS auth for privileged users</a:t>
            </a:r>
          </a:p>
        </p:txBody>
      </p:sp>
      <p:sp>
        <p:nvSpPr>
          <p:cNvPr id="5" name="TextBox 4"/>
          <p:cNvSpPr txBox="1"/>
          <p:nvPr/>
        </p:nvSpPr>
        <p:spPr>
          <a:xfrm>
            <a:off x="640080" y="1691640"/>
            <a:ext cx="10881360" cy="4572000"/>
          </a:xfrm>
          <a:prstGeom prst="rect">
            <a:avLst/>
          </a:prstGeom>
          <a:noFill/>
        </p:spPr>
        <p:txBody>
          <a:bodyPr wrap="square" anchor="t" lIns="45720" rIns="45720" tIns="18288" bIns="18288">
            <a:spAutoFit/>
          </a:bodyPr>
          <a:lstStyle/>
          <a:p>
            <a:pPr algn="l">
              <a:lnSpc>
                <a:spcPct val="105000"/>
              </a:lnSpc>
              <a:spcAft>
                <a:spcPts val="1000"/>
              </a:spcAft>
            </a:pPr>
            <a:r>
              <a:rPr sz="1800" b="0">
                <a:solidFill>
                  <a:srgbClr val="C0392B"/>
                </a:solidFill>
                <a:latin typeface="맑은 고딕"/>
                <a:ea typeface="맑은 고딕"/>
              </a:rPr>
              <a:t>•  DBA가 서버에서 sqlplus / as sysdba 실행</a:t>
            </a:r>
          </a:p>
          <a:p>
            <a:pPr algn="l">
              <a:lnSpc>
                <a:spcPct val="105000"/>
              </a:lnSpc>
              <a:spcAft>
                <a:spcPts val="1000"/>
              </a:spcAft>
            </a:pPr>
            <a:r>
              <a:rPr sz="1800" b="0">
                <a:solidFill>
                  <a:srgbClr val="C0392B"/>
                </a:solidFill>
                <a:latin typeface="맑은 고딕"/>
                <a:ea typeface="맑은 고딕"/>
              </a:rPr>
              <a:t>•  OS 그룹 멤버십으로 관리 권한 인증</a:t>
            </a:r>
          </a:p>
          <a:p>
            <a:pPr algn="l">
              <a:lnSpc>
                <a:spcPct val="105000"/>
              </a:lnSpc>
              <a:spcAft>
                <a:spcPts val="1000"/>
              </a:spcAft>
            </a:pPr>
            <a:r>
              <a:rPr sz="1800" b="0">
                <a:solidFill>
                  <a:srgbClr val="C0392B"/>
                </a:solidFill>
                <a:latin typeface="맑은 고딕"/>
                <a:ea typeface="맑은 고딕"/>
              </a:rPr>
              <a:t>•  유닉스: OSDBA(dba)→SYSDBA, OSOPER→SYSOPER</a:t>
            </a:r>
          </a:p>
          <a:p>
            <a:pPr algn="l">
              <a:lnSpc>
                <a:spcPct val="105000"/>
              </a:lnSpc>
              <a:spcAft>
                <a:spcPts val="1000"/>
              </a:spcAft>
            </a:pPr>
            <a:r>
              <a:rPr sz="1800" b="0">
                <a:solidFill>
                  <a:srgbClr val="C0392B"/>
                </a:solidFill>
                <a:latin typeface="맑은 고딕"/>
                <a:ea typeface="맑은 고딕"/>
              </a:rPr>
              <a:t>•  윈도우: ORA_DBA 그룹이 동일 역할</a:t>
            </a:r>
          </a:p>
          <a:p>
            <a:pPr algn="l">
              <a:lnSpc>
                <a:spcPct val="105000"/>
              </a:lnSpc>
              <a:spcAft>
                <a:spcPts val="1000"/>
              </a:spcAft>
            </a:pPr>
            <a:r>
              <a:rPr sz="1800" b="0">
                <a:solidFill>
                  <a:srgbClr val="C0392B"/>
                </a:solidFill>
                <a:latin typeface="맑은 고딕"/>
                <a:ea typeface="맑은 고딕"/>
              </a:rPr>
              <a:t>•  DB가 안 열려 있어도 인증 → STARTUP/SHUTDOWN 가능</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lIns="45720" rIns="45720" tIns="18288" bIns="18288">
            <a:spAutoFit/>
          </a:bodyPr>
          <a:lstStyle/>
          <a:p>
            <a:pPr algn="l"/>
            <a:r>
              <a:rPr sz="4000" b="1">
                <a:solidFill>
                  <a:srgbClr val="FFFFFF"/>
                </a:solidFill>
                <a:latin typeface="맑은 고딕"/>
                <a:ea typeface="맑은 고딕"/>
              </a:rPr>
              <a:t>21.F</a:t>
            </a:r>
          </a:p>
        </p:txBody>
      </p:sp>
      <p:sp>
        <p:nvSpPr>
          <p:cNvPr id="4" name="TextBox 3"/>
          <p:cNvSpPr txBox="1"/>
          <p:nvPr/>
        </p:nvSpPr>
        <p:spPr>
          <a:xfrm>
            <a:off x="822960" y="3017520"/>
            <a:ext cx="10515600" cy="914400"/>
          </a:xfrm>
          <a:prstGeom prst="rect">
            <a:avLst/>
          </a:prstGeom>
          <a:noFill/>
        </p:spPr>
        <p:txBody>
          <a:bodyPr wrap="square" anchor="t" lIns="45720" rIns="45720" tIns="18288" bIns="18288">
            <a:spAutoFit/>
          </a:bodyPr>
          <a:lstStyle/>
          <a:p>
            <a:pPr algn="l"/>
            <a:r>
              <a:rPr sz="2800" b="1">
                <a:solidFill>
                  <a:srgbClr val="FFFFFF"/>
                </a:solidFill>
                <a:latin typeface="맑은 고딕"/>
                <a:ea typeface="맑은 고딕"/>
              </a:rPr>
              <a:t>할당량과 테이블스페이스</a:t>
            </a:r>
          </a:p>
        </p:txBody>
      </p:sp>
      <p:sp>
        <p:nvSpPr>
          <p:cNvPr id="5" name="Rectangle 4"/>
          <p:cNvSpPr/>
          <p:nvPr/>
        </p:nvSpPr>
        <p:spPr>
          <a:xfrm>
            <a:off x="868680" y="4114800"/>
            <a:ext cx="5486400" cy="457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4297680"/>
            <a:ext cx="10058400" cy="1828800"/>
          </a:xfrm>
          <a:prstGeom prst="rect">
            <a:avLst/>
          </a:prstGeom>
          <a:noFill/>
        </p:spPr>
        <p:txBody>
          <a:bodyPr wrap="square" anchor="t" lIns="45720" rIns="45720" tIns="18288" bIns="18288">
            <a:spAutoFit/>
          </a:bodyPr>
          <a:lstStyle/>
          <a:p>
            <a:pPr algn="l">
              <a:spcAft>
                <a:spcPts val="400"/>
              </a:spcAft>
            </a:pPr>
            <a:r>
              <a:rPr sz="1600" b="0">
                <a:solidFill>
                  <a:srgbClr val="FFFFFF"/>
                </a:solidFill>
                <a:latin typeface="맑은 고딕"/>
                <a:ea typeface="맑은 고딕"/>
              </a:rPr>
              <a:t>•  사용자 할당량(QUOTA)</a:t>
            </a:r>
          </a:p>
          <a:p>
            <a:pPr algn="l">
              <a:spcAft>
                <a:spcPts val="400"/>
              </a:spcAft>
            </a:pPr>
            <a:r>
              <a:rPr sz="1600" b="0">
                <a:solidFill>
                  <a:srgbClr val="FFFFFF"/>
                </a:solidFill>
                <a:latin typeface="맑은 고딕"/>
                <a:ea typeface="맑은 고딕"/>
              </a:rPr>
              <a:t>•  할당량 부여와 조회</a:t>
            </a:r>
          </a:p>
          <a:p>
            <a:pPr algn="l">
              <a:spcAft>
                <a:spcPts val="400"/>
              </a:spcAft>
            </a:pPr>
            <a:r>
              <a:rPr sz="1600" b="0">
                <a:solidFill>
                  <a:srgbClr val="FFFFFF"/>
                </a:solidFill>
                <a:latin typeface="맑은 고딕"/>
                <a:ea typeface="맑은 고딕"/>
              </a:rPr>
              <a:t>•  UNLIMITED TABLESPACE</a:t>
            </a:r>
          </a:p>
          <a:p>
            <a:pPr algn="l">
              <a:spcAft>
                <a:spcPts val="400"/>
              </a:spcAft>
            </a:pPr>
            <a:r>
              <a:rPr sz="1600" b="0">
                <a:solidFill>
                  <a:srgbClr val="FFFFFF"/>
                </a:solidFill>
                <a:latin typeface="맑은 고딕"/>
                <a:ea typeface="맑은 고딕"/>
              </a:rPr>
              <a:t>•  기본/임시 테이블스페이스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nchor="ctr" lIns="45720" rIns="45720" tIns="18288" bIns="18288">
            <a:spAutoFit/>
          </a:bodyPr>
          <a:lstStyle/>
          <a:p>
            <a:pPr algn="l"/>
            <a:r>
              <a:rPr sz="2600" b="1">
                <a:solidFill>
                  <a:srgbClr val="FFFFFF"/>
                </a:solidFill>
                <a:latin typeface="맑은 고딕"/>
                <a:ea typeface="맑은 고딕"/>
              </a:rPr>
              <a:t>사용자 할당량(QUOTA)</a:t>
            </a:r>
          </a:p>
        </p:txBody>
      </p:sp>
      <p:sp>
        <p:nvSpPr>
          <p:cNvPr id="4" name="TextBox 3"/>
          <p:cNvSpPr txBox="1"/>
          <p:nvPr/>
        </p:nvSpPr>
        <p:spPr>
          <a:xfrm>
            <a:off x="640080" y="1115568"/>
            <a:ext cx="10881360" cy="457200"/>
          </a:xfrm>
          <a:prstGeom prst="rect">
            <a:avLst/>
          </a:prstGeom>
          <a:noFill/>
        </p:spPr>
        <p:txBody>
          <a:bodyPr wrap="square" anchor="t" lIns="45720" rIns="45720" tIns="18288" bIns="18288">
            <a:spAutoFit/>
          </a:bodyPr>
          <a:lstStyle/>
          <a:p>
            <a:pPr algn="l"/>
            <a:r>
              <a:rPr sz="1500" b="0">
                <a:solidFill>
                  <a:srgbClr val="5A6672"/>
                </a:solidFill>
                <a:latin typeface="맑은 고딕"/>
                <a:ea typeface="맑은 고딕"/>
              </a:rPr>
              <a:t>tablespace quota</a:t>
            </a:r>
          </a:p>
        </p:txBody>
      </p:sp>
      <p:sp>
        <p:nvSpPr>
          <p:cNvPr id="5" name="TextBox 4"/>
          <p:cNvSpPr txBox="1"/>
          <p:nvPr/>
        </p:nvSpPr>
        <p:spPr>
          <a:xfrm>
            <a:off x="640080" y="1691640"/>
            <a:ext cx="10881360" cy="4572000"/>
          </a:xfrm>
          <a:prstGeom prst="rect">
            <a:avLst/>
          </a:prstGeom>
          <a:noFill/>
        </p:spPr>
        <p:txBody>
          <a:bodyPr wrap="square" anchor="t" lIns="45720" rIns="45720" tIns="18288" bIns="18288">
            <a:spAutoFit/>
          </a:bodyPr>
          <a:lstStyle/>
          <a:p>
            <a:pPr algn="l">
              <a:lnSpc>
                <a:spcPct val="105000"/>
              </a:lnSpc>
              <a:spcAft>
                <a:spcPts val="1000"/>
              </a:spcAft>
            </a:pPr>
            <a:r>
              <a:rPr sz="1800" b="0">
                <a:solidFill>
                  <a:srgbClr val="C0392B"/>
                </a:solidFill>
                <a:latin typeface="맑은 고딕"/>
                <a:ea typeface="맑은 고딕"/>
              </a:rPr>
              <a:t>•  QUOTA = 특정 TS에서 사용 가능한 공간 상한</a:t>
            </a:r>
          </a:p>
          <a:p>
            <a:pPr algn="l">
              <a:lnSpc>
                <a:spcPct val="105000"/>
              </a:lnSpc>
              <a:spcAft>
                <a:spcPts val="1000"/>
              </a:spcAft>
            </a:pPr>
            <a:r>
              <a:rPr sz="1800" b="0">
                <a:solidFill>
                  <a:srgbClr val="C0392B"/>
                </a:solidFill>
                <a:latin typeface="맑은 고딕"/>
                <a:ea typeface="맑은 고딕"/>
              </a:rPr>
              <a:t>•  초과 시 ORA-01536(space quota exceeded)</a:t>
            </a:r>
          </a:p>
          <a:p>
            <a:pPr algn="l">
              <a:lnSpc>
                <a:spcPct val="105000"/>
              </a:lnSpc>
              <a:spcAft>
                <a:spcPts val="1000"/>
              </a:spcAft>
            </a:pPr>
            <a:r>
              <a:rPr sz="1800" b="0">
                <a:solidFill>
                  <a:srgbClr val="C0392B"/>
                </a:solidFill>
                <a:latin typeface="맑은 고딕"/>
                <a:ea typeface="맑은 고딕"/>
              </a:rPr>
              <a:t>•  기본 할당량은 0 → 명시 안 하면 객체 생성 불가</a:t>
            </a:r>
          </a:p>
          <a:p>
            <a:pPr algn="l">
              <a:lnSpc>
                <a:spcPct val="105000"/>
              </a:lnSpc>
              <a:spcAft>
                <a:spcPts val="1000"/>
              </a:spcAft>
            </a:pPr>
            <a:r>
              <a:rPr sz="1800" b="0">
                <a:solidFill>
                  <a:srgbClr val="C0392B"/>
                </a:solidFill>
                <a:latin typeface="맑은 고딕"/>
                <a:ea typeface="맑은 고딕"/>
              </a:rPr>
              <a:t>•  QUOTA 없이 CREATE TABLE 시 ORA-01950 발생</a:t>
            </a:r>
          </a:p>
          <a:p>
            <a:pPr algn="l">
              <a:lnSpc>
                <a:spcPct val="105000"/>
              </a:lnSpc>
              <a:spcAft>
                <a:spcPts val="1000"/>
              </a:spcAft>
            </a:pPr>
            <a:r>
              <a:rPr sz="1800" b="0">
                <a:solidFill>
                  <a:srgbClr val="C0392B"/>
                </a:solidFill>
                <a:latin typeface="맑은 고딕"/>
                <a:ea typeface="맑은 고딕"/>
              </a:rPr>
              <a:t>•  임시 TS에는 할당량 개념 적용 안 됨</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nchor="ctr" lIns="45720" rIns="45720" tIns="18288" bIns="18288">
            <a:spAutoFit/>
          </a:bodyPr>
          <a:lstStyle/>
          <a:p>
            <a:pPr algn="l"/>
            <a:r>
              <a:rPr sz="2600" b="1">
                <a:solidFill>
                  <a:srgbClr val="FFFFFF"/>
                </a:solidFill>
                <a:latin typeface="맑은 고딕"/>
                <a:ea typeface="맑은 고딕"/>
              </a:rPr>
              <a:t>할당량 부여와 조회</a:t>
            </a:r>
          </a:p>
        </p:txBody>
      </p:sp>
      <p:sp>
        <p:nvSpPr>
          <p:cNvPr id="4" name="TextBox 3"/>
          <p:cNvSpPr txBox="1"/>
          <p:nvPr/>
        </p:nvSpPr>
        <p:spPr>
          <a:xfrm>
            <a:off x="640080" y="1115568"/>
            <a:ext cx="10881360" cy="457200"/>
          </a:xfrm>
          <a:prstGeom prst="rect">
            <a:avLst/>
          </a:prstGeom>
          <a:noFill/>
        </p:spPr>
        <p:txBody>
          <a:bodyPr wrap="square" anchor="t" lIns="45720" rIns="45720" tIns="18288" bIns="18288">
            <a:spAutoFit/>
          </a:bodyPr>
          <a:lstStyle/>
          <a:p>
            <a:pPr algn="l"/>
            <a:r>
              <a:rPr sz="1500" b="0">
                <a:solidFill>
                  <a:srgbClr val="5A6672"/>
                </a:solidFill>
                <a:latin typeface="맑은 고딕"/>
                <a:ea typeface="맑은 고딕"/>
              </a:rPr>
              <a:t>QUOTA · DBA_TS_QUOTAS</a:t>
            </a:r>
          </a:p>
        </p:txBody>
      </p:sp>
      <p:sp>
        <p:nvSpPr>
          <p:cNvPr id="5" name="Rectangle 4"/>
          <p:cNvSpPr/>
          <p:nvPr/>
        </p:nvSpPr>
        <p:spPr>
          <a:xfrm>
            <a:off x="640080" y="1645920"/>
            <a:ext cx="10908792" cy="47091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10515600" cy="4526280"/>
          </a:xfrm>
          <a:prstGeom prst="rect">
            <a:avLst/>
          </a:prstGeom>
          <a:noFill/>
        </p:spPr>
        <p:txBody>
          <a:bodyPr wrap="square">
            <a:spAutoFit/>
          </a:bodyPr>
          <a:lstStyle/>
          <a:p>
            <a:pPr>
              <a:lnSpc>
                <a:spcPct val="100000"/>
              </a:lnSpc>
              <a:spcAft>
                <a:spcPts val="0"/>
              </a:spcAft>
            </a:pPr>
            <a:r>
              <a:rPr sz="1200">
                <a:solidFill>
                  <a:srgbClr val="7EC699"/>
                </a:solidFill>
                <a:latin typeface="Consolas"/>
                <a:ea typeface="Consolas"/>
              </a:rPr>
              <a:t>-- 할당량 부여: users 200M, app_data 무제한</a:t>
            </a:r>
          </a:p>
          <a:p>
            <a:pPr>
              <a:lnSpc>
                <a:spcPct val="100000"/>
              </a:lnSpc>
              <a:spcAft>
                <a:spcPts val="0"/>
              </a:spcAft>
            </a:pPr>
            <a:r>
              <a:rPr sz="1200">
                <a:solidFill>
                  <a:srgbClr val="E6E6E6"/>
                </a:solidFill>
                <a:latin typeface="Consolas"/>
                <a:ea typeface="Consolas"/>
              </a:rPr>
              <a:t>SYS@salespdb&gt; ALTER USER app_user QUOTA 200M ON users</a:t>
            </a:r>
          </a:p>
          <a:p>
            <a:pPr>
              <a:lnSpc>
                <a:spcPct val="100000"/>
              </a:lnSpc>
              <a:spcAft>
                <a:spcPts val="0"/>
              </a:spcAft>
            </a:pPr>
            <a:r>
              <a:rPr sz="1200">
                <a:solidFill>
                  <a:srgbClr val="E6E6E6"/>
                </a:solidFill>
                <a:latin typeface="Consolas"/>
                <a:ea typeface="Consolas"/>
              </a:rPr>
              <a:t>  2  QUOTA UNLIMITED ON app_data;</a:t>
            </a:r>
          </a:p>
          <a:p>
            <a:pPr>
              <a:lnSpc>
                <a:spcPct val="100000"/>
              </a:lnSpc>
              <a:spcAft>
                <a:spcPts val="0"/>
              </a:spcAft>
            </a:pPr>
            <a:r>
              <a:rPr sz="1200">
                <a:solidFill>
                  <a:srgbClr val="E6E6E6"/>
                </a:solidFill>
                <a:latin typeface="Consolas"/>
                <a:ea typeface="Consolas"/>
              </a:rPr>
              <a:t>User altered.</a:t>
            </a:r>
          </a:p>
          <a:p>
            <a:pPr>
              <a:lnSpc>
                <a:spcPct val="100000"/>
              </a:lnSpc>
              <a:spcAft>
                <a:spcPts val="0"/>
              </a:spcAft>
            </a:pPr>
            <a:r>
              <a:rPr sz="1200">
                <a:solidFill>
                  <a:srgbClr val="E6E6E6"/>
                </a:solidFill>
                <a:latin typeface="Consolas"/>
                <a:ea typeface="Consolas"/>
              </a:rPr>
              <a:t> </a:t>
            </a:r>
          </a:p>
          <a:p>
            <a:pPr>
              <a:lnSpc>
                <a:spcPct val="100000"/>
              </a:lnSpc>
              <a:spcAft>
                <a:spcPts val="0"/>
              </a:spcAft>
            </a:pPr>
            <a:r>
              <a:rPr sz="1200">
                <a:solidFill>
                  <a:srgbClr val="7EC699"/>
                </a:solidFill>
                <a:latin typeface="Consolas"/>
                <a:ea typeface="Consolas"/>
              </a:rPr>
              <a:t>-- (오류) 할당량 없이 테이블 생성 시도</a:t>
            </a:r>
          </a:p>
          <a:p>
            <a:pPr>
              <a:lnSpc>
                <a:spcPct val="100000"/>
              </a:lnSpc>
              <a:spcAft>
                <a:spcPts val="0"/>
              </a:spcAft>
            </a:pPr>
            <a:r>
              <a:rPr sz="1200">
                <a:solidFill>
                  <a:srgbClr val="E6E6E6"/>
                </a:solidFill>
                <a:latin typeface="Consolas"/>
                <a:ea typeface="Consolas"/>
              </a:rPr>
              <a:t>APP_USER@salespdb&gt; CREATE TABLE t1(id NUMBER) TABLESPACE example;</a:t>
            </a:r>
          </a:p>
          <a:p>
            <a:pPr>
              <a:lnSpc>
                <a:spcPct val="100000"/>
              </a:lnSpc>
              <a:spcAft>
                <a:spcPts val="0"/>
              </a:spcAft>
            </a:pPr>
            <a:r>
              <a:rPr sz="1200">
                <a:solidFill>
                  <a:srgbClr val="E6E6E6"/>
                </a:solidFill>
                <a:latin typeface="Consolas"/>
                <a:ea typeface="Consolas"/>
              </a:rPr>
              <a:t>ERROR: ORA-01950: 테이블스페이스 'EXAMPLE'에 대한 권한이 없습니다</a:t>
            </a:r>
          </a:p>
          <a:p>
            <a:pPr>
              <a:lnSpc>
                <a:spcPct val="100000"/>
              </a:lnSpc>
              <a:spcAft>
                <a:spcPts val="0"/>
              </a:spcAft>
            </a:pPr>
            <a:r>
              <a:rPr sz="1200">
                <a:solidFill>
                  <a:srgbClr val="7EC699"/>
                </a:solidFill>
                <a:latin typeface="Consolas"/>
                <a:ea typeface="Consolas"/>
              </a:rPr>
              <a:t>-- 원인: EXAMPLE 에 할당량 0 → 할당량 부여 후 재실행</a:t>
            </a:r>
          </a:p>
          <a:p>
            <a:pPr>
              <a:lnSpc>
                <a:spcPct val="100000"/>
              </a:lnSpc>
              <a:spcAft>
                <a:spcPts val="0"/>
              </a:spcAft>
            </a:pPr>
            <a:r>
              <a:rPr sz="1200">
                <a:solidFill>
                  <a:srgbClr val="E6E6E6"/>
                </a:solidFill>
                <a:latin typeface="Consolas"/>
                <a:ea typeface="Consolas"/>
              </a:rPr>
              <a:t> </a:t>
            </a:r>
          </a:p>
          <a:p>
            <a:pPr>
              <a:lnSpc>
                <a:spcPct val="100000"/>
              </a:lnSpc>
              <a:spcAft>
                <a:spcPts val="0"/>
              </a:spcAft>
            </a:pPr>
            <a:r>
              <a:rPr sz="1200">
                <a:solidFill>
                  <a:srgbClr val="7EC699"/>
                </a:solidFill>
                <a:latin typeface="Consolas"/>
                <a:ea typeface="Consolas"/>
              </a:rPr>
              <a:t>-- 사용자별 할당량과 사용량 확인</a:t>
            </a:r>
          </a:p>
          <a:p>
            <a:pPr>
              <a:lnSpc>
                <a:spcPct val="100000"/>
              </a:lnSpc>
              <a:spcAft>
                <a:spcPts val="0"/>
              </a:spcAft>
            </a:pPr>
            <a:r>
              <a:rPr sz="1200">
                <a:solidFill>
                  <a:srgbClr val="E6E6E6"/>
                </a:solidFill>
                <a:latin typeface="Consolas"/>
                <a:ea typeface="Consolas"/>
              </a:rPr>
              <a:t>SYS@salespdb&gt; SELECT tablespace_name, bytes/1024/1024 used_mb,</a:t>
            </a:r>
          </a:p>
          <a:p>
            <a:pPr>
              <a:lnSpc>
                <a:spcPct val="100000"/>
              </a:lnSpc>
              <a:spcAft>
                <a:spcPts val="0"/>
              </a:spcAft>
            </a:pPr>
            <a:r>
              <a:rPr sz="1200">
                <a:solidFill>
                  <a:srgbClr val="E6E6E6"/>
                </a:solidFill>
                <a:latin typeface="Consolas"/>
                <a:ea typeface="Consolas"/>
              </a:rPr>
              <a:t>  2  DECODE(max_bytes,-1,'UNLIMITED',max_bytes/1048576) quota_mb</a:t>
            </a:r>
          </a:p>
          <a:p>
            <a:pPr>
              <a:lnSpc>
                <a:spcPct val="100000"/>
              </a:lnSpc>
              <a:spcAft>
                <a:spcPts val="0"/>
              </a:spcAft>
            </a:pPr>
            <a:r>
              <a:rPr sz="1200">
                <a:solidFill>
                  <a:srgbClr val="E6E6E6"/>
                </a:solidFill>
                <a:latin typeface="Consolas"/>
                <a:ea typeface="Consolas"/>
              </a:rPr>
              <a:t>  3  FROM dba_ts_quotas WHERE username='APP_USER';</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nchor="ctr" lIns="45720" rIns="45720" tIns="18288" bIns="18288">
            <a:spAutoFit/>
          </a:bodyPr>
          <a:lstStyle/>
          <a:p>
            <a:pPr algn="l"/>
            <a:r>
              <a:rPr sz="2600" b="1">
                <a:solidFill>
                  <a:srgbClr val="FFFFFF"/>
                </a:solidFill>
                <a:latin typeface="맑은 고딕"/>
                <a:ea typeface="맑은 고딕"/>
              </a:rPr>
              <a:t>UNLIMITED TABLESPACE 권한</a:t>
            </a:r>
          </a:p>
        </p:txBody>
      </p:sp>
      <p:sp>
        <p:nvSpPr>
          <p:cNvPr id="4" name="TextBox 3"/>
          <p:cNvSpPr txBox="1"/>
          <p:nvPr/>
        </p:nvSpPr>
        <p:spPr>
          <a:xfrm>
            <a:off x="640080" y="1115568"/>
            <a:ext cx="10881360" cy="457200"/>
          </a:xfrm>
          <a:prstGeom prst="rect">
            <a:avLst/>
          </a:prstGeom>
          <a:noFill/>
        </p:spPr>
        <p:txBody>
          <a:bodyPr wrap="square" anchor="t" lIns="45720" rIns="45720" tIns="18288" bIns="18288">
            <a:spAutoFit/>
          </a:bodyPr>
          <a:lstStyle/>
          <a:p>
            <a:pPr algn="l"/>
            <a:r>
              <a:rPr sz="1500" b="0">
                <a:solidFill>
                  <a:srgbClr val="5A6672"/>
                </a:solidFill>
                <a:latin typeface="맑은 고딕"/>
                <a:ea typeface="맑은 고딕"/>
              </a:rPr>
              <a:t>unlimited tablespace privilege</a:t>
            </a:r>
          </a:p>
        </p:txBody>
      </p:sp>
      <p:sp>
        <p:nvSpPr>
          <p:cNvPr id="5" name="TextBox 4"/>
          <p:cNvSpPr txBox="1"/>
          <p:nvPr/>
        </p:nvSpPr>
        <p:spPr>
          <a:xfrm>
            <a:off x="640080" y="1691640"/>
            <a:ext cx="10881360" cy="4572000"/>
          </a:xfrm>
          <a:prstGeom prst="rect">
            <a:avLst/>
          </a:prstGeom>
          <a:noFill/>
        </p:spPr>
        <p:txBody>
          <a:bodyPr wrap="square" anchor="t" lIns="45720" rIns="45720" tIns="18288" bIns="18288">
            <a:spAutoFit/>
          </a:bodyPr>
          <a:lstStyle/>
          <a:p>
            <a:pPr algn="l">
              <a:lnSpc>
                <a:spcPct val="105000"/>
              </a:lnSpc>
              <a:spcAft>
                <a:spcPts val="1000"/>
              </a:spcAft>
            </a:pPr>
            <a:r>
              <a:rPr sz="1800" b="0">
                <a:solidFill>
                  <a:srgbClr val="C0392B"/>
                </a:solidFill>
                <a:latin typeface="맑은 고딕"/>
                <a:ea typeface="맑은 고딕"/>
              </a:rPr>
              <a:t>•  개별 QUOTA 대신 모든 TS 무제한 사용 권한 부여 가능</a:t>
            </a:r>
          </a:p>
          <a:p>
            <a:pPr algn="l">
              <a:lnSpc>
                <a:spcPct val="105000"/>
              </a:lnSpc>
              <a:spcAft>
                <a:spcPts val="1000"/>
              </a:spcAft>
            </a:pPr>
            <a:r>
              <a:rPr sz="1800" b="0">
                <a:solidFill>
                  <a:srgbClr val="C0392B"/>
                </a:solidFill>
                <a:latin typeface="맑은 고딕"/>
                <a:ea typeface="맑은 고딕"/>
              </a:rPr>
              <a:t>•  SYSTEM·SYSAUX 포함 전체 TS에 무제한 → 강력·위험</a:t>
            </a:r>
          </a:p>
          <a:p>
            <a:pPr algn="l">
              <a:lnSpc>
                <a:spcPct val="105000"/>
              </a:lnSpc>
              <a:spcAft>
                <a:spcPts val="1000"/>
              </a:spcAft>
            </a:pPr>
            <a:r>
              <a:rPr sz="1800" b="0">
                <a:solidFill>
                  <a:srgbClr val="C0392B"/>
                </a:solidFill>
                <a:latin typeface="맑은 고딕"/>
                <a:ea typeface="맑은 고딕"/>
              </a:rPr>
              <a:t>•  개별 QUOTA 설정을 사실상 무력화</a:t>
            </a:r>
          </a:p>
          <a:p>
            <a:pPr algn="l">
              <a:lnSpc>
                <a:spcPct val="105000"/>
              </a:lnSpc>
              <a:spcAft>
                <a:spcPts val="1000"/>
              </a:spcAft>
            </a:pPr>
            <a:r>
              <a:rPr sz="1800" b="0">
                <a:solidFill>
                  <a:srgbClr val="C0392B"/>
                </a:solidFill>
                <a:latin typeface="맑은 고딕"/>
                <a:ea typeface="맑은 고딕"/>
              </a:rPr>
              <a:t>•  회수 시 기존 객체는 유지, 새 할당은 다시 QUOTA 규칙</a:t>
            </a:r>
          </a:p>
          <a:p>
            <a:pPr algn="l">
              <a:lnSpc>
                <a:spcPct val="105000"/>
              </a:lnSpc>
              <a:spcAft>
                <a:spcPts val="1000"/>
              </a:spcAft>
            </a:pPr>
            <a:r>
              <a:rPr sz="1800" b="0">
                <a:solidFill>
                  <a:srgbClr val="C0392B"/>
                </a:solidFill>
                <a:latin typeface="맑은 고딕"/>
                <a:ea typeface="맑은 고딕"/>
              </a:rPr>
              <a:t>•  일반 사용자에는 남발 금지, 구체적 QUOTA 권장</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nchor="ctr" lIns="45720" rIns="45720" tIns="18288" bIns="18288">
            <a:spAutoFit/>
          </a:bodyPr>
          <a:lstStyle/>
          <a:p>
            <a:pPr algn="l"/>
            <a:r>
              <a:rPr sz="2600" b="1">
                <a:solidFill>
                  <a:srgbClr val="FFFFFF"/>
                </a:solidFill>
                <a:latin typeface="맑은 고딕"/>
                <a:ea typeface="맑은 고딕"/>
              </a:rPr>
              <a:t>기본/임시 테이블스페이스</a:t>
            </a:r>
          </a:p>
        </p:txBody>
      </p:sp>
      <p:sp>
        <p:nvSpPr>
          <p:cNvPr id="4" name="TextBox 3"/>
          <p:cNvSpPr txBox="1"/>
          <p:nvPr/>
        </p:nvSpPr>
        <p:spPr>
          <a:xfrm>
            <a:off x="640080" y="1115568"/>
            <a:ext cx="10881360" cy="457200"/>
          </a:xfrm>
          <a:prstGeom prst="rect">
            <a:avLst/>
          </a:prstGeom>
          <a:noFill/>
        </p:spPr>
        <p:txBody>
          <a:bodyPr wrap="square" anchor="t" lIns="45720" rIns="45720" tIns="18288" bIns="18288">
            <a:spAutoFit/>
          </a:bodyPr>
          <a:lstStyle/>
          <a:p>
            <a:pPr algn="l"/>
            <a:r>
              <a:rPr sz="1500" b="0">
                <a:solidFill>
                  <a:srgbClr val="5A6672"/>
                </a:solidFill>
                <a:latin typeface="맑은 고딕"/>
                <a:ea typeface="맑은 고딕"/>
              </a:rPr>
              <a:t>default &amp; temporary tablespace</a:t>
            </a:r>
          </a:p>
        </p:txBody>
      </p:sp>
      <p:sp>
        <p:nvSpPr>
          <p:cNvPr id="5" name="TextBox 4"/>
          <p:cNvSpPr txBox="1"/>
          <p:nvPr/>
        </p:nvSpPr>
        <p:spPr>
          <a:xfrm>
            <a:off x="640080" y="1691640"/>
            <a:ext cx="10881360" cy="4572000"/>
          </a:xfrm>
          <a:prstGeom prst="rect">
            <a:avLst/>
          </a:prstGeom>
          <a:noFill/>
        </p:spPr>
        <p:txBody>
          <a:bodyPr wrap="square" anchor="t" lIns="45720" rIns="45720" tIns="18288" bIns="18288">
            <a:spAutoFit/>
          </a:bodyPr>
          <a:lstStyle/>
          <a:p>
            <a:pPr algn="l">
              <a:lnSpc>
                <a:spcPct val="105000"/>
              </a:lnSpc>
              <a:spcAft>
                <a:spcPts val="1000"/>
              </a:spcAft>
            </a:pPr>
            <a:r>
              <a:rPr sz="1800" b="0">
                <a:solidFill>
                  <a:srgbClr val="C0392B"/>
                </a:solidFill>
                <a:latin typeface="맑은 고딕"/>
                <a:ea typeface="맑은 고딕"/>
              </a:rPr>
              <a:t>•  기본 TS: TABLESPACE 절 생략 시 객체가 생성되는 곳</a:t>
            </a:r>
          </a:p>
          <a:p>
            <a:pPr algn="l">
              <a:lnSpc>
                <a:spcPct val="105000"/>
              </a:lnSpc>
              <a:spcAft>
                <a:spcPts val="1000"/>
              </a:spcAft>
            </a:pPr>
            <a:r>
              <a:rPr sz="1800" b="0">
                <a:solidFill>
                  <a:srgbClr val="C0392B"/>
                </a:solidFill>
                <a:latin typeface="맑은 고딕"/>
                <a:ea typeface="맑은 고딕"/>
              </a:rPr>
              <a:t>•  임시 TS: 정렬·해시·인덱스 생성의 임시 세그먼트 저장</a:t>
            </a:r>
          </a:p>
          <a:p>
            <a:pPr algn="l">
              <a:lnSpc>
                <a:spcPct val="105000"/>
              </a:lnSpc>
              <a:spcAft>
                <a:spcPts val="1000"/>
              </a:spcAft>
            </a:pPr>
            <a:r>
              <a:rPr sz="1800" b="0">
                <a:solidFill>
                  <a:srgbClr val="C0392B"/>
                </a:solidFill>
                <a:latin typeface="맑은 고딕"/>
                <a:ea typeface="맑은 고딕"/>
              </a:rPr>
              <a:t>•  미지정 시 DB 기본 영구/임시 TS 상속</a:t>
            </a:r>
          </a:p>
          <a:p>
            <a:pPr algn="l">
              <a:lnSpc>
                <a:spcPct val="105000"/>
              </a:lnSpc>
              <a:spcAft>
                <a:spcPts val="1000"/>
              </a:spcAft>
            </a:pPr>
            <a:r>
              <a:rPr sz="1800" b="0">
                <a:solidFill>
                  <a:srgbClr val="C0392B"/>
                </a:solidFill>
                <a:latin typeface="맑은 고딕"/>
                <a:ea typeface="맑은 고딕"/>
              </a:rPr>
              <a:t>•  사용자 객체가 SYSTEM에 생기는 것은 안티패턴 → USERS 지정</a:t>
            </a:r>
          </a:p>
          <a:p>
            <a:pPr algn="l">
              <a:lnSpc>
                <a:spcPct val="105000"/>
              </a:lnSpc>
              <a:spcAft>
                <a:spcPts val="1000"/>
              </a:spcAft>
            </a:pPr>
            <a:r>
              <a:rPr sz="1800" b="0">
                <a:solidFill>
                  <a:srgbClr val="C0392B"/>
                </a:solidFill>
                <a:latin typeface="맑은 고딕"/>
                <a:ea typeface="맑은 고딕"/>
              </a:rPr>
              <a:t>•  임시 TS는 반드시 진짜 TEMP를 지정(정렬 회수·리두 최소)</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nchor="ctr" lIns="45720" rIns="45720" tIns="18288" bIns="18288">
            <a:spAutoFit/>
          </a:bodyPr>
          <a:lstStyle/>
          <a:p>
            <a:pPr algn="l"/>
            <a:r>
              <a:rPr sz="2600" b="1">
                <a:solidFill>
                  <a:srgbClr val="FFFFFF"/>
                </a:solidFill>
                <a:latin typeface="맑은 고딕"/>
                <a:ea typeface="맑은 고딕"/>
              </a:rPr>
              <a:t>기본/임시 TS 확인·변경</a:t>
            </a:r>
          </a:p>
        </p:txBody>
      </p:sp>
      <p:sp>
        <p:nvSpPr>
          <p:cNvPr id="4" name="TextBox 3"/>
          <p:cNvSpPr txBox="1"/>
          <p:nvPr/>
        </p:nvSpPr>
        <p:spPr>
          <a:xfrm>
            <a:off x="640080" y="1115568"/>
            <a:ext cx="10881360" cy="457200"/>
          </a:xfrm>
          <a:prstGeom prst="rect">
            <a:avLst/>
          </a:prstGeom>
          <a:noFill/>
        </p:spPr>
        <p:txBody>
          <a:bodyPr wrap="square" anchor="t" lIns="45720" rIns="45720" tIns="18288" bIns="18288">
            <a:spAutoFit/>
          </a:bodyPr>
          <a:lstStyle/>
          <a:p>
            <a:pPr algn="l"/>
            <a:r>
              <a:rPr sz="1500" b="0">
                <a:solidFill>
                  <a:srgbClr val="5A6672"/>
                </a:solidFill>
                <a:latin typeface="맑은 고딕"/>
                <a:ea typeface="맑은 고딕"/>
              </a:rPr>
              <a:t>database_properties · ALTER USER</a:t>
            </a:r>
          </a:p>
        </p:txBody>
      </p:sp>
      <p:sp>
        <p:nvSpPr>
          <p:cNvPr id="5" name="Rectangle 4"/>
          <p:cNvSpPr/>
          <p:nvPr/>
        </p:nvSpPr>
        <p:spPr>
          <a:xfrm>
            <a:off x="640080" y="1645920"/>
            <a:ext cx="10908792" cy="47091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10515600" cy="4526280"/>
          </a:xfrm>
          <a:prstGeom prst="rect">
            <a:avLst/>
          </a:prstGeom>
          <a:noFill/>
        </p:spPr>
        <p:txBody>
          <a:bodyPr wrap="square">
            <a:spAutoFit/>
          </a:bodyPr>
          <a:lstStyle/>
          <a:p>
            <a:pPr>
              <a:lnSpc>
                <a:spcPct val="100000"/>
              </a:lnSpc>
              <a:spcAft>
                <a:spcPts val="0"/>
              </a:spcAft>
            </a:pPr>
            <a:r>
              <a:rPr sz="1200">
                <a:solidFill>
                  <a:srgbClr val="7EC699"/>
                </a:solidFill>
                <a:latin typeface="Consolas"/>
                <a:ea typeface="Consolas"/>
              </a:rPr>
              <a:t>-- 데이터베이스 기본 영구/임시 테이블스페이스 확인</a:t>
            </a:r>
          </a:p>
          <a:p>
            <a:pPr>
              <a:lnSpc>
                <a:spcPct val="100000"/>
              </a:lnSpc>
              <a:spcAft>
                <a:spcPts val="0"/>
              </a:spcAft>
            </a:pPr>
            <a:r>
              <a:rPr sz="1200">
                <a:solidFill>
                  <a:srgbClr val="E6E6E6"/>
                </a:solidFill>
                <a:latin typeface="Consolas"/>
                <a:ea typeface="Consolas"/>
              </a:rPr>
              <a:t>SYS@salespdb&gt; SELECT property_name, property_value</a:t>
            </a:r>
          </a:p>
          <a:p>
            <a:pPr>
              <a:lnSpc>
                <a:spcPct val="100000"/>
              </a:lnSpc>
              <a:spcAft>
                <a:spcPts val="0"/>
              </a:spcAft>
            </a:pPr>
            <a:r>
              <a:rPr sz="1200">
                <a:solidFill>
                  <a:srgbClr val="E6E6E6"/>
                </a:solidFill>
                <a:latin typeface="Consolas"/>
                <a:ea typeface="Consolas"/>
              </a:rPr>
              <a:t>  2  FROM database_properties</a:t>
            </a:r>
          </a:p>
          <a:p>
            <a:pPr>
              <a:lnSpc>
                <a:spcPct val="100000"/>
              </a:lnSpc>
              <a:spcAft>
                <a:spcPts val="0"/>
              </a:spcAft>
            </a:pPr>
            <a:r>
              <a:rPr sz="1200">
                <a:solidFill>
                  <a:srgbClr val="E6E6E6"/>
                </a:solidFill>
                <a:latin typeface="Consolas"/>
                <a:ea typeface="Consolas"/>
              </a:rPr>
              <a:t>  3  WHERE property_name LIKE 'DEFAULT%TABLESPACE';</a:t>
            </a:r>
          </a:p>
          <a:p>
            <a:pPr>
              <a:lnSpc>
                <a:spcPct val="100000"/>
              </a:lnSpc>
              <a:spcAft>
                <a:spcPts val="0"/>
              </a:spcAft>
            </a:pPr>
            <a:r>
              <a:rPr sz="1200">
                <a:solidFill>
                  <a:srgbClr val="E6E6E6"/>
                </a:solidFill>
                <a:latin typeface="Consolas"/>
                <a:ea typeface="Consolas"/>
              </a:rPr>
              <a:t> </a:t>
            </a:r>
          </a:p>
          <a:p>
            <a:pPr>
              <a:lnSpc>
                <a:spcPct val="100000"/>
              </a:lnSpc>
              <a:spcAft>
                <a:spcPts val="0"/>
              </a:spcAft>
            </a:pPr>
            <a:r>
              <a:rPr sz="1200">
                <a:solidFill>
                  <a:srgbClr val="E6E6E6"/>
                </a:solidFill>
                <a:latin typeface="Consolas"/>
                <a:ea typeface="Consolas"/>
              </a:rPr>
              <a:t>PROPERTY_NAME                  PROPERTY_VALUE</a:t>
            </a:r>
          </a:p>
          <a:p>
            <a:pPr>
              <a:lnSpc>
                <a:spcPct val="100000"/>
              </a:lnSpc>
              <a:spcAft>
                <a:spcPts val="0"/>
              </a:spcAft>
            </a:pPr>
            <a:r>
              <a:rPr sz="1200">
                <a:solidFill>
                  <a:srgbClr val="E6E6E6"/>
                </a:solidFill>
                <a:latin typeface="Consolas"/>
                <a:ea typeface="Consolas"/>
              </a:rPr>
              <a:t>------------------------------ --------------</a:t>
            </a:r>
          </a:p>
          <a:p>
            <a:pPr>
              <a:lnSpc>
                <a:spcPct val="100000"/>
              </a:lnSpc>
              <a:spcAft>
                <a:spcPts val="0"/>
              </a:spcAft>
            </a:pPr>
            <a:r>
              <a:rPr sz="1200">
                <a:solidFill>
                  <a:srgbClr val="E6E6E6"/>
                </a:solidFill>
                <a:latin typeface="Consolas"/>
                <a:ea typeface="Consolas"/>
              </a:rPr>
              <a:t>DEFAULT_PERMANENT_TABLESPACE   USERS</a:t>
            </a:r>
          </a:p>
          <a:p>
            <a:pPr>
              <a:lnSpc>
                <a:spcPct val="100000"/>
              </a:lnSpc>
              <a:spcAft>
                <a:spcPts val="0"/>
              </a:spcAft>
            </a:pPr>
            <a:r>
              <a:rPr sz="1200">
                <a:solidFill>
                  <a:srgbClr val="E6E6E6"/>
                </a:solidFill>
                <a:latin typeface="Consolas"/>
                <a:ea typeface="Consolas"/>
              </a:rPr>
              <a:t>DEFAULT_TEMP_TABLESPACE        TEMP</a:t>
            </a:r>
          </a:p>
          <a:p>
            <a:pPr>
              <a:lnSpc>
                <a:spcPct val="100000"/>
              </a:lnSpc>
              <a:spcAft>
                <a:spcPts val="0"/>
              </a:spcAft>
            </a:pPr>
            <a:r>
              <a:rPr sz="1200">
                <a:solidFill>
                  <a:srgbClr val="E6E6E6"/>
                </a:solidFill>
                <a:latin typeface="Consolas"/>
                <a:ea typeface="Consolas"/>
              </a:rPr>
              <a:t> </a:t>
            </a:r>
          </a:p>
          <a:p>
            <a:pPr>
              <a:lnSpc>
                <a:spcPct val="100000"/>
              </a:lnSpc>
              <a:spcAft>
                <a:spcPts val="0"/>
              </a:spcAft>
            </a:pPr>
            <a:r>
              <a:rPr sz="1200">
                <a:solidFill>
                  <a:srgbClr val="7EC699"/>
                </a:solidFill>
                <a:latin typeface="Consolas"/>
                <a:ea typeface="Consolas"/>
              </a:rPr>
              <a:t>-- 기존 사용자의 기본/임시 TS 변경</a:t>
            </a:r>
          </a:p>
          <a:p>
            <a:pPr>
              <a:lnSpc>
                <a:spcPct val="100000"/>
              </a:lnSpc>
              <a:spcAft>
                <a:spcPts val="0"/>
              </a:spcAft>
            </a:pPr>
            <a:r>
              <a:rPr sz="1200">
                <a:solidFill>
                  <a:srgbClr val="E6E6E6"/>
                </a:solidFill>
                <a:latin typeface="Consolas"/>
                <a:ea typeface="Consolas"/>
              </a:rPr>
              <a:t>SYS@salespdb&gt; ALTER USER app_user</a:t>
            </a:r>
          </a:p>
          <a:p>
            <a:pPr>
              <a:lnSpc>
                <a:spcPct val="100000"/>
              </a:lnSpc>
              <a:spcAft>
                <a:spcPts val="0"/>
              </a:spcAft>
            </a:pPr>
            <a:r>
              <a:rPr sz="1200">
                <a:solidFill>
                  <a:srgbClr val="E6E6E6"/>
                </a:solidFill>
                <a:latin typeface="Consolas"/>
                <a:ea typeface="Consolas"/>
              </a:rPr>
              <a:t>  2  DEFAULT TABLESPACE app_data</a:t>
            </a:r>
          </a:p>
          <a:p>
            <a:pPr>
              <a:lnSpc>
                <a:spcPct val="100000"/>
              </a:lnSpc>
              <a:spcAft>
                <a:spcPts val="0"/>
              </a:spcAft>
            </a:pPr>
            <a:r>
              <a:rPr sz="1200">
                <a:solidFill>
                  <a:srgbClr val="E6E6E6"/>
                </a:solidFill>
                <a:latin typeface="Consolas"/>
                <a:ea typeface="Consolas"/>
              </a:rPr>
              <a:t>  3  TEMPORARY TABLESPACE temp;</a:t>
            </a:r>
          </a:p>
          <a:p>
            <a:pPr>
              <a:lnSpc>
                <a:spcPct val="100000"/>
              </a:lnSpc>
              <a:spcAft>
                <a:spcPts val="0"/>
              </a:spcAft>
            </a:pPr>
            <a:r>
              <a:rPr sz="1200">
                <a:solidFill>
                  <a:srgbClr val="E6E6E6"/>
                </a:solidFill>
                <a:latin typeface="Consolas"/>
                <a:ea typeface="Consolas"/>
              </a:rPr>
              <a:t>User altered.</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lIns="45720" rIns="45720" tIns="18288" bIns="18288">
            <a:spAutoFit/>
          </a:bodyPr>
          <a:lstStyle/>
          <a:p>
            <a:pPr algn="l"/>
            <a:r>
              <a:rPr sz="4000" b="1">
                <a:solidFill>
                  <a:srgbClr val="FFFFFF"/>
                </a:solidFill>
                <a:latin typeface="맑은 고딕"/>
                <a:ea typeface="맑은 고딕"/>
              </a:rPr>
              <a:t>21.G</a:t>
            </a:r>
          </a:p>
        </p:txBody>
      </p:sp>
      <p:sp>
        <p:nvSpPr>
          <p:cNvPr id="4" name="TextBox 3"/>
          <p:cNvSpPr txBox="1"/>
          <p:nvPr/>
        </p:nvSpPr>
        <p:spPr>
          <a:xfrm>
            <a:off x="822960" y="3017520"/>
            <a:ext cx="10515600" cy="914400"/>
          </a:xfrm>
          <a:prstGeom prst="rect">
            <a:avLst/>
          </a:prstGeom>
          <a:noFill/>
        </p:spPr>
        <p:txBody>
          <a:bodyPr wrap="square" anchor="t" lIns="45720" rIns="45720" tIns="18288" bIns="18288">
            <a:spAutoFit/>
          </a:bodyPr>
          <a:lstStyle/>
          <a:p>
            <a:pPr algn="l"/>
            <a:r>
              <a:rPr sz="2800" b="1">
                <a:solidFill>
                  <a:srgbClr val="FFFFFF"/>
                </a:solidFill>
                <a:latin typeface="맑은 고딕"/>
                <a:ea typeface="맑은 고딕"/>
              </a:rPr>
              <a:t>사용자 계정 관리</a:t>
            </a:r>
          </a:p>
        </p:txBody>
      </p:sp>
      <p:sp>
        <p:nvSpPr>
          <p:cNvPr id="5" name="Rectangle 4"/>
          <p:cNvSpPr/>
          <p:nvPr/>
        </p:nvSpPr>
        <p:spPr>
          <a:xfrm>
            <a:off x="868680" y="4114800"/>
            <a:ext cx="5486400" cy="457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4297680"/>
            <a:ext cx="10058400" cy="1828800"/>
          </a:xfrm>
          <a:prstGeom prst="rect">
            <a:avLst/>
          </a:prstGeom>
          <a:noFill/>
        </p:spPr>
        <p:txBody>
          <a:bodyPr wrap="square" anchor="t" lIns="45720" rIns="45720" tIns="18288" bIns="18288">
            <a:spAutoFit/>
          </a:bodyPr>
          <a:lstStyle/>
          <a:p>
            <a:pPr algn="l">
              <a:spcAft>
                <a:spcPts val="400"/>
              </a:spcAft>
            </a:pPr>
            <a:r>
              <a:rPr sz="1600" b="0">
                <a:solidFill>
                  <a:srgbClr val="FFFFFF"/>
                </a:solidFill>
                <a:latin typeface="맑은 고딕"/>
                <a:ea typeface="맑은 고딕"/>
              </a:rPr>
              <a:t>•  ALTER USER로 속성 변경</a:t>
            </a:r>
          </a:p>
          <a:p>
            <a:pPr algn="l">
              <a:spcAft>
                <a:spcPts val="400"/>
              </a:spcAft>
            </a:pPr>
            <a:r>
              <a:rPr sz="1600" b="0">
                <a:solidFill>
                  <a:srgbClr val="FFFFFF"/>
                </a:solidFill>
                <a:latin typeface="맑은 고딕"/>
                <a:ea typeface="맑은 고딕"/>
              </a:rPr>
              <a:t>•  계정 잠금·만료</a:t>
            </a:r>
          </a:p>
          <a:p>
            <a:pPr algn="l">
              <a:spcAft>
                <a:spcPts val="400"/>
              </a:spcAft>
            </a:pPr>
            <a:r>
              <a:rPr sz="1600" b="0">
                <a:solidFill>
                  <a:srgbClr val="FFFFFF"/>
                </a:solidFill>
                <a:latin typeface="맑은 고딕"/>
                <a:ea typeface="맑은 고딕"/>
              </a:rPr>
              <a:t>•  사용자 삭제</a:t>
            </a:r>
          </a:p>
          <a:p>
            <a:pPr algn="l">
              <a:spcAft>
                <a:spcPts val="400"/>
              </a:spcAft>
            </a:pPr>
            <a:r>
              <a:rPr sz="1600" b="0">
                <a:solidFill>
                  <a:srgbClr val="FFFFFF"/>
                </a:solidFill>
                <a:latin typeface="맑은 고딕"/>
                <a:ea typeface="맑은 고딕"/>
              </a:rPr>
              <a:t>•  확인 학습(Quiz)</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nchor="ctr" lIns="45720" rIns="45720" tIns="18288" bIns="18288">
            <a:spAutoFit/>
          </a:bodyPr>
          <a:lstStyle/>
          <a:p>
            <a:pPr algn="l"/>
            <a:r>
              <a:rPr sz="2600" b="1">
                <a:solidFill>
                  <a:srgbClr val="FFFFFF"/>
                </a:solidFill>
                <a:latin typeface="맑은 고딕"/>
                <a:ea typeface="맑은 고딕"/>
              </a:rPr>
              <a:t>계정 잠금과 만료</a:t>
            </a:r>
          </a:p>
        </p:txBody>
      </p:sp>
      <p:sp>
        <p:nvSpPr>
          <p:cNvPr id="4" name="TextBox 3"/>
          <p:cNvSpPr txBox="1"/>
          <p:nvPr/>
        </p:nvSpPr>
        <p:spPr>
          <a:xfrm>
            <a:off x="640080" y="1115568"/>
            <a:ext cx="10881360" cy="457200"/>
          </a:xfrm>
          <a:prstGeom prst="rect">
            <a:avLst/>
          </a:prstGeom>
          <a:noFill/>
        </p:spPr>
        <p:txBody>
          <a:bodyPr wrap="square" anchor="t" lIns="45720" rIns="45720" tIns="18288" bIns="18288">
            <a:spAutoFit/>
          </a:bodyPr>
          <a:lstStyle/>
          <a:p>
            <a:pPr algn="l"/>
            <a:r>
              <a:rPr sz="1500" b="0">
                <a:solidFill>
                  <a:srgbClr val="5A6672"/>
                </a:solidFill>
                <a:latin typeface="맑은 고딕"/>
                <a:ea typeface="맑은 고딕"/>
              </a:rPr>
              <a:t>account lock &amp; password expire</a:t>
            </a:r>
          </a:p>
        </p:txBody>
      </p:sp>
      <p:sp>
        <p:nvSpPr>
          <p:cNvPr id="5" name="TextBox 4"/>
          <p:cNvSpPr txBox="1"/>
          <p:nvPr/>
        </p:nvSpPr>
        <p:spPr>
          <a:xfrm>
            <a:off x="640080" y="1691640"/>
            <a:ext cx="10881360" cy="4572000"/>
          </a:xfrm>
          <a:prstGeom prst="rect">
            <a:avLst/>
          </a:prstGeom>
          <a:noFill/>
        </p:spPr>
        <p:txBody>
          <a:bodyPr wrap="square" anchor="t" lIns="45720" rIns="45720" tIns="18288" bIns="18288">
            <a:spAutoFit/>
          </a:bodyPr>
          <a:lstStyle/>
          <a:p>
            <a:pPr algn="l">
              <a:lnSpc>
                <a:spcPct val="105000"/>
              </a:lnSpc>
              <a:spcAft>
                <a:spcPts val="1000"/>
              </a:spcAft>
            </a:pPr>
            <a:r>
              <a:rPr sz="1800" b="0">
                <a:solidFill>
                  <a:srgbClr val="C0392B"/>
                </a:solidFill>
                <a:latin typeface="맑은 고딕"/>
                <a:ea typeface="맑은 고딕"/>
              </a:rPr>
              <a:t>•  ALTER USER 로 거의 모든 속성 변경(비밀번호·TS·QUOTA…)</a:t>
            </a:r>
          </a:p>
          <a:p>
            <a:pPr algn="l">
              <a:lnSpc>
                <a:spcPct val="105000"/>
              </a:lnSpc>
              <a:spcAft>
                <a:spcPts val="1000"/>
              </a:spcAft>
            </a:pPr>
            <a:r>
              <a:rPr sz="1800" b="0">
                <a:solidFill>
                  <a:srgbClr val="C0392B"/>
                </a:solidFill>
                <a:latin typeface="맑은 고딕"/>
                <a:ea typeface="맑은 고딕"/>
              </a:rPr>
              <a:t>•  ACCOUNT LOCK / UNLOCK: 접속 차단 / 해제</a:t>
            </a:r>
          </a:p>
          <a:p>
            <a:pPr algn="l">
              <a:lnSpc>
                <a:spcPct val="105000"/>
              </a:lnSpc>
              <a:spcAft>
                <a:spcPts val="1000"/>
              </a:spcAft>
            </a:pPr>
            <a:r>
              <a:rPr sz="1800" b="0">
                <a:solidFill>
                  <a:srgbClr val="C0392B"/>
                </a:solidFill>
                <a:latin typeface="맑은 고딕"/>
                <a:ea typeface="맑은 고딕"/>
              </a:rPr>
              <a:t>•  PASSWORD EXPIRE: 다음 로그인 시 비밀번호 재설정 강제</a:t>
            </a:r>
          </a:p>
          <a:p>
            <a:pPr algn="l">
              <a:lnSpc>
                <a:spcPct val="105000"/>
              </a:lnSpc>
              <a:spcAft>
                <a:spcPts val="1000"/>
              </a:spcAft>
            </a:pPr>
            <a:r>
              <a:rPr sz="1800" b="0">
                <a:solidFill>
                  <a:srgbClr val="C0392B"/>
                </a:solidFill>
                <a:latin typeface="맑은 고딕"/>
                <a:ea typeface="맑은 고딕"/>
              </a:rPr>
              <a:t>•  신규 계정에 초기 비밀번호 만료 → 첫 로그인 시 변경 유도</a:t>
            </a:r>
          </a:p>
          <a:p>
            <a:pPr algn="l">
              <a:lnSpc>
                <a:spcPct val="105000"/>
              </a:lnSpc>
              <a:spcAft>
                <a:spcPts val="1000"/>
              </a:spcAft>
            </a:pPr>
            <a:r>
              <a:rPr sz="1800" b="0">
                <a:solidFill>
                  <a:srgbClr val="C0392B"/>
                </a:solidFill>
                <a:latin typeface="맑은 고딕"/>
                <a:ea typeface="맑은 고딕"/>
              </a:rPr>
              <a:t>•  ACCOUNT_STATUS: OPEN·LOCKED·EXPIRED·EXPIRED &amp; LOCKED</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nchor="ctr" lIns="45720" rIns="45720" tIns="18288" bIns="18288">
            <a:spAutoFit/>
          </a:bodyPr>
          <a:lstStyle/>
          <a:p>
            <a:pPr algn="l"/>
            <a:r>
              <a:rPr sz="2600" b="1">
                <a:solidFill>
                  <a:srgbClr val="FFFFFF"/>
                </a:solidFill>
                <a:latin typeface="맑은 고딕"/>
                <a:ea typeface="맑은 고딕"/>
              </a:rPr>
              <a:t>계정 상태 관리</a:t>
            </a:r>
          </a:p>
        </p:txBody>
      </p:sp>
      <p:sp>
        <p:nvSpPr>
          <p:cNvPr id="4" name="TextBox 3"/>
          <p:cNvSpPr txBox="1"/>
          <p:nvPr/>
        </p:nvSpPr>
        <p:spPr>
          <a:xfrm>
            <a:off x="640080" y="1115568"/>
            <a:ext cx="10881360" cy="457200"/>
          </a:xfrm>
          <a:prstGeom prst="rect">
            <a:avLst/>
          </a:prstGeom>
          <a:noFill/>
        </p:spPr>
        <p:txBody>
          <a:bodyPr wrap="square" anchor="t" lIns="45720" rIns="45720" tIns="18288" bIns="18288">
            <a:spAutoFit/>
          </a:bodyPr>
          <a:lstStyle/>
          <a:p>
            <a:pPr algn="l"/>
            <a:r>
              <a:rPr sz="1500" b="0">
                <a:solidFill>
                  <a:srgbClr val="5A6672"/>
                </a:solidFill>
                <a:latin typeface="맑은 고딕"/>
                <a:ea typeface="맑은 고딕"/>
              </a:rPr>
              <a:t>ACCOUNT LOCK · PASSWORD EXPIRE</a:t>
            </a:r>
          </a:p>
        </p:txBody>
      </p:sp>
      <p:sp>
        <p:nvSpPr>
          <p:cNvPr id="5" name="Rectangle 4"/>
          <p:cNvSpPr/>
          <p:nvPr/>
        </p:nvSpPr>
        <p:spPr>
          <a:xfrm>
            <a:off x="640080" y="1645920"/>
            <a:ext cx="10908792" cy="47091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10515600" cy="4526280"/>
          </a:xfrm>
          <a:prstGeom prst="rect">
            <a:avLst/>
          </a:prstGeom>
          <a:noFill/>
        </p:spPr>
        <p:txBody>
          <a:bodyPr wrap="square">
            <a:spAutoFit/>
          </a:bodyPr>
          <a:lstStyle/>
          <a:p>
            <a:pPr>
              <a:lnSpc>
                <a:spcPct val="100000"/>
              </a:lnSpc>
              <a:spcAft>
                <a:spcPts val="0"/>
              </a:spcAft>
            </a:pPr>
            <a:r>
              <a:rPr sz="1200">
                <a:solidFill>
                  <a:srgbClr val="7EC699"/>
                </a:solidFill>
                <a:latin typeface="Consolas"/>
                <a:ea typeface="Consolas"/>
              </a:rPr>
              <a:t>-- 계정 잠금 / 해제 / 비밀번호 만료</a:t>
            </a:r>
          </a:p>
          <a:p>
            <a:pPr>
              <a:lnSpc>
                <a:spcPct val="100000"/>
              </a:lnSpc>
              <a:spcAft>
                <a:spcPts val="0"/>
              </a:spcAft>
            </a:pPr>
            <a:r>
              <a:rPr sz="1200">
                <a:solidFill>
                  <a:srgbClr val="E6E6E6"/>
                </a:solidFill>
                <a:latin typeface="Consolas"/>
                <a:ea typeface="Consolas"/>
              </a:rPr>
              <a:t>SYS@salespdb&gt; ALTER USER app_user ACCOUNT LOCK;</a:t>
            </a:r>
          </a:p>
          <a:p>
            <a:pPr>
              <a:lnSpc>
                <a:spcPct val="100000"/>
              </a:lnSpc>
              <a:spcAft>
                <a:spcPts val="0"/>
              </a:spcAft>
            </a:pPr>
            <a:r>
              <a:rPr sz="1200">
                <a:solidFill>
                  <a:srgbClr val="E6E6E6"/>
                </a:solidFill>
                <a:latin typeface="Consolas"/>
                <a:ea typeface="Consolas"/>
              </a:rPr>
              <a:t>User altered.</a:t>
            </a:r>
          </a:p>
          <a:p>
            <a:pPr>
              <a:lnSpc>
                <a:spcPct val="100000"/>
              </a:lnSpc>
              <a:spcAft>
                <a:spcPts val="0"/>
              </a:spcAft>
            </a:pPr>
            <a:r>
              <a:rPr sz="1200">
                <a:solidFill>
                  <a:srgbClr val="E6E6E6"/>
                </a:solidFill>
                <a:latin typeface="Consolas"/>
                <a:ea typeface="Consolas"/>
              </a:rPr>
              <a:t>SYS@salespdb&gt; ALTER USER app_user ACCOUNT UNLOCK;</a:t>
            </a:r>
          </a:p>
          <a:p>
            <a:pPr>
              <a:lnSpc>
                <a:spcPct val="100000"/>
              </a:lnSpc>
              <a:spcAft>
                <a:spcPts val="0"/>
              </a:spcAft>
            </a:pPr>
            <a:r>
              <a:rPr sz="1200">
                <a:solidFill>
                  <a:srgbClr val="E6E6E6"/>
                </a:solidFill>
                <a:latin typeface="Consolas"/>
                <a:ea typeface="Consolas"/>
              </a:rPr>
              <a:t>User altered.</a:t>
            </a:r>
          </a:p>
          <a:p>
            <a:pPr>
              <a:lnSpc>
                <a:spcPct val="100000"/>
              </a:lnSpc>
              <a:spcAft>
                <a:spcPts val="0"/>
              </a:spcAft>
            </a:pPr>
            <a:r>
              <a:rPr sz="1200">
                <a:solidFill>
                  <a:srgbClr val="E6E6E6"/>
                </a:solidFill>
                <a:latin typeface="Consolas"/>
                <a:ea typeface="Consolas"/>
              </a:rPr>
              <a:t>SYS@salespdb&gt; ALTER USER app_user PASSWORD EXPIRE;</a:t>
            </a:r>
          </a:p>
          <a:p>
            <a:pPr>
              <a:lnSpc>
                <a:spcPct val="100000"/>
              </a:lnSpc>
              <a:spcAft>
                <a:spcPts val="0"/>
              </a:spcAft>
            </a:pPr>
            <a:r>
              <a:rPr sz="1200">
                <a:solidFill>
                  <a:srgbClr val="E6E6E6"/>
                </a:solidFill>
                <a:latin typeface="Consolas"/>
                <a:ea typeface="Consolas"/>
              </a:rPr>
              <a:t>User altered.</a:t>
            </a:r>
          </a:p>
          <a:p>
            <a:pPr>
              <a:lnSpc>
                <a:spcPct val="100000"/>
              </a:lnSpc>
              <a:spcAft>
                <a:spcPts val="0"/>
              </a:spcAft>
            </a:pPr>
            <a:r>
              <a:rPr sz="1200">
                <a:solidFill>
                  <a:srgbClr val="E6E6E6"/>
                </a:solidFill>
                <a:latin typeface="Consolas"/>
                <a:ea typeface="Consolas"/>
              </a:rPr>
              <a:t> </a:t>
            </a:r>
          </a:p>
          <a:p>
            <a:pPr>
              <a:lnSpc>
                <a:spcPct val="100000"/>
              </a:lnSpc>
              <a:spcAft>
                <a:spcPts val="0"/>
              </a:spcAft>
            </a:pPr>
            <a:r>
              <a:rPr sz="1200">
                <a:solidFill>
                  <a:srgbClr val="7EC699"/>
                </a:solidFill>
                <a:latin typeface="Consolas"/>
                <a:ea typeface="Consolas"/>
              </a:rPr>
              <a:t>-- 계정 상태 확인</a:t>
            </a:r>
          </a:p>
          <a:p>
            <a:pPr>
              <a:lnSpc>
                <a:spcPct val="100000"/>
              </a:lnSpc>
              <a:spcAft>
                <a:spcPts val="0"/>
              </a:spcAft>
            </a:pPr>
            <a:r>
              <a:rPr sz="1200">
                <a:solidFill>
                  <a:srgbClr val="E6E6E6"/>
                </a:solidFill>
                <a:latin typeface="Consolas"/>
                <a:ea typeface="Consolas"/>
              </a:rPr>
              <a:t>SYS@salespdb&gt; SELECT username, account_status</a:t>
            </a:r>
          </a:p>
          <a:p>
            <a:pPr>
              <a:lnSpc>
                <a:spcPct val="100000"/>
              </a:lnSpc>
              <a:spcAft>
                <a:spcPts val="0"/>
              </a:spcAft>
            </a:pPr>
            <a:r>
              <a:rPr sz="1200">
                <a:solidFill>
                  <a:srgbClr val="E6E6E6"/>
                </a:solidFill>
                <a:latin typeface="Consolas"/>
                <a:ea typeface="Consolas"/>
              </a:rPr>
              <a:t>  2  FROM dba_users WHERE username='APP_USER';</a:t>
            </a:r>
          </a:p>
          <a:p>
            <a:pPr>
              <a:lnSpc>
                <a:spcPct val="100000"/>
              </a:lnSpc>
              <a:spcAft>
                <a:spcPts val="0"/>
              </a:spcAft>
            </a:pPr>
            <a:r>
              <a:rPr sz="1200">
                <a:solidFill>
                  <a:srgbClr val="E6E6E6"/>
                </a:solidFill>
                <a:latin typeface="Consolas"/>
                <a:ea typeface="Consolas"/>
              </a:rPr>
              <a:t> </a:t>
            </a:r>
          </a:p>
          <a:p>
            <a:pPr>
              <a:lnSpc>
                <a:spcPct val="100000"/>
              </a:lnSpc>
              <a:spcAft>
                <a:spcPts val="0"/>
              </a:spcAft>
            </a:pPr>
            <a:r>
              <a:rPr sz="1200">
                <a:solidFill>
                  <a:srgbClr val="E6E6E6"/>
                </a:solidFill>
                <a:latin typeface="Consolas"/>
                <a:ea typeface="Consolas"/>
              </a:rPr>
              <a:t>USERNAME     ACCOUNT_STATUS</a:t>
            </a:r>
          </a:p>
          <a:p>
            <a:pPr>
              <a:lnSpc>
                <a:spcPct val="100000"/>
              </a:lnSpc>
              <a:spcAft>
                <a:spcPts val="0"/>
              </a:spcAft>
            </a:pPr>
            <a:r>
              <a:rPr sz="1200">
                <a:solidFill>
                  <a:srgbClr val="E6E6E6"/>
                </a:solidFill>
                <a:latin typeface="Consolas"/>
                <a:ea typeface="Consolas"/>
              </a:rPr>
              <a:t>------------ ---------------</a:t>
            </a:r>
          </a:p>
          <a:p>
            <a:pPr>
              <a:lnSpc>
                <a:spcPct val="100000"/>
              </a:lnSpc>
              <a:spcAft>
                <a:spcPts val="0"/>
              </a:spcAft>
            </a:pPr>
            <a:r>
              <a:rPr sz="1200">
                <a:solidFill>
                  <a:srgbClr val="E6E6E6"/>
                </a:solidFill>
                <a:latin typeface="Consolas"/>
                <a:ea typeface="Consolas"/>
              </a:rPr>
              <a:t>APP_USER     EXPIRED</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nchor="ctr" lIns="45720" rIns="45720" tIns="18288" bIns="18288">
            <a:spAutoFit/>
          </a:bodyPr>
          <a:lstStyle/>
          <a:p>
            <a:pPr algn="l"/>
            <a:r>
              <a:rPr sz="2600" b="1">
                <a:solidFill>
                  <a:srgbClr val="FFFFFF"/>
                </a:solidFill>
                <a:latin typeface="맑은 고딕"/>
                <a:ea typeface="맑은 고딕"/>
              </a:rPr>
              <a:t>사용자 삭제와 딕셔너리 뷰</a:t>
            </a:r>
          </a:p>
        </p:txBody>
      </p:sp>
      <p:sp>
        <p:nvSpPr>
          <p:cNvPr id="4" name="TextBox 3"/>
          <p:cNvSpPr txBox="1"/>
          <p:nvPr/>
        </p:nvSpPr>
        <p:spPr>
          <a:xfrm>
            <a:off x="640080" y="1115568"/>
            <a:ext cx="10881360" cy="457200"/>
          </a:xfrm>
          <a:prstGeom prst="rect">
            <a:avLst/>
          </a:prstGeom>
          <a:noFill/>
        </p:spPr>
        <p:txBody>
          <a:bodyPr wrap="square" anchor="t" lIns="45720" rIns="45720" tIns="18288" bIns="18288">
            <a:spAutoFit/>
          </a:bodyPr>
          <a:lstStyle/>
          <a:p>
            <a:pPr algn="l"/>
            <a:r>
              <a:rPr sz="1500" b="0">
                <a:solidFill>
                  <a:srgbClr val="5A6672"/>
                </a:solidFill>
                <a:latin typeface="맑은 고딕"/>
                <a:ea typeface="맑은 고딕"/>
              </a:rPr>
              <a:t>DROP USER · dictionary views</a:t>
            </a:r>
          </a:p>
        </p:txBody>
      </p:sp>
      <p:sp>
        <p:nvSpPr>
          <p:cNvPr id="5" name="TextBox 4"/>
          <p:cNvSpPr txBox="1"/>
          <p:nvPr/>
        </p:nvSpPr>
        <p:spPr>
          <a:xfrm>
            <a:off x="640080" y="1691640"/>
            <a:ext cx="10881360" cy="4572000"/>
          </a:xfrm>
          <a:prstGeom prst="rect">
            <a:avLst/>
          </a:prstGeom>
          <a:noFill/>
        </p:spPr>
        <p:txBody>
          <a:bodyPr wrap="square" anchor="t" lIns="45720" rIns="45720" tIns="18288" bIns="18288">
            <a:spAutoFit/>
          </a:bodyPr>
          <a:lstStyle/>
          <a:p>
            <a:pPr algn="l">
              <a:lnSpc>
                <a:spcPct val="105000"/>
              </a:lnSpc>
              <a:spcAft>
                <a:spcPts val="1000"/>
              </a:spcAft>
            </a:pPr>
            <a:r>
              <a:rPr sz="1800" b="0">
                <a:solidFill>
                  <a:srgbClr val="C0392B"/>
                </a:solidFill>
                <a:latin typeface="맑은 고딕"/>
                <a:ea typeface="맑은 고딕"/>
              </a:rPr>
              <a:t>•  DROP USER user: 소유 객체가 없을 때만 삭제</a:t>
            </a:r>
          </a:p>
          <a:p>
            <a:pPr algn="l">
              <a:lnSpc>
                <a:spcPct val="105000"/>
              </a:lnSpc>
              <a:spcAft>
                <a:spcPts val="1000"/>
              </a:spcAft>
            </a:pPr>
            <a:r>
              <a:rPr sz="1800" b="0">
                <a:solidFill>
                  <a:srgbClr val="C0392B"/>
                </a:solidFill>
                <a:latin typeface="맑은 고딕"/>
                <a:ea typeface="맑은 고딕"/>
              </a:rPr>
              <a:t>•  DROP USER user CASCADE: 스키마 객체까지 함께 삭제</a:t>
            </a:r>
          </a:p>
          <a:p>
            <a:pPr algn="l">
              <a:lnSpc>
                <a:spcPct val="105000"/>
              </a:lnSpc>
              <a:spcAft>
                <a:spcPts val="1000"/>
              </a:spcAft>
            </a:pPr>
            <a:r>
              <a:rPr sz="1800" b="0">
                <a:solidFill>
                  <a:srgbClr val="C0392B"/>
                </a:solidFill>
                <a:latin typeface="맑은 고딕"/>
                <a:ea typeface="맑은 고딕"/>
              </a:rPr>
              <a:t>•  객체 보유 시 CASCADE 없이 삭제하면 ORA-01922</a:t>
            </a:r>
          </a:p>
          <a:p>
            <a:pPr algn="l">
              <a:lnSpc>
                <a:spcPct val="105000"/>
              </a:lnSpc>
              <a:spcAft>
                <a:spcPts val="1000"/>
              </a:spcAft>
            </a:pPr>
            <a:r>
              <a:rPr sz="1800" b="0">
                <a:solidFill>
                  <a:srgbClr val="C0392B"/>
                </a:solidFill>
                <a:latin typeface="맑은 고딕"/>
                <a:ea typeface="맑은 고딕"/>
              </a:rPr>
              <a:t>•  접속 중 사용자는 삭제 불가 → 잠그고 세션 종료 후 삭제</a:t>
            </a:r>
          </a:p>
          <a:p>
            <a:pPr algn="l">
              <a:lnSpc>
                <a:spcPct val="105000"/>
              </a:lnSpc>
              <a:spcAft>
                <a:spcPts val="1000"/>
              </a:spcAft>
            </a:pPr>
            <a:r>
              <a:rPr sz="1800" b="0">
                <a:solidFill>
                  <a:srgbClr val="C0392B"/>
                </a:solidFill>
                <a:latin typeface="맑은 고딕"/>
                <a:ea typeface="맑은 고딕"/>
              </a:rPr>
              <a:t>•  DBA_USERS·DBA_TS_QUOTAS·CDB_USERS로 정보 조회</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nchor="ctr" lIns="45720" rIns="45720" tIns="18288" bIns="18288">
            <a:spAutoFit/>
          </a:bodyPr>
          <a:lstStyle/>
          <a:p>
            <a:pPr algn="l"/>
            <a:r>
              <a:rPr sz="2600" b="1">
                <a:solidFill>
                  <a:srgbClr val="FFFFFF"/>
                </a:solidFill>
                <a:latin typeface="맑은 고딕"/>
                <a:ea typeface="맑은 고딕"/>
              </a:rPr>
              <a:t>확인 학습 (Quiz) 1/2</a:t>
            </a:r>
          </a:p>
        </p:txBody>
      </p:sp>
      <p:sp>
        <p:nvSpPr>
          <p:cNvPr id="4" name="TextBox 3"/>
          <p:cNvSpPr txBox="1"/>
          <p:nvPr/>
        </p:nvSpPr>
        <p:spPr>
          <a:xfrm>
            <a:off x="640080" y="1280160"/>
            <a:ext cx="10881360" cy="5120640"/>
          </a:xfrm>
          <a:prstGeom prst="rect">
            <a:avLst/>
          </a:prstGeom>
          <a:noFill/>
        </p:spPr>
        <p:txBody>
          <a:bodyPr wrap="square">
            <a:spAutoFit/>
          </a:bodyPr>
          <a:lstStyle/>
          <a:p>
            <a:pPr>
              <a:spcBef>
                <a:spcPts val="600"/>
              </a:spcBef>
              <a:spcAft>
                <a:spcPts val="200"/>
              </a:spcAft>
            </a:pPr>
            <a:r>
              <a:rPr sz="1700" b="1">
                <a:solidFill>
                  <a:srgbClr val="C0392B"/>
                </a:solidFill>
                <a:latin typeface="맑은 고딕"/>
                <a:ea typeface="맑은 고딕"/>
              </a:rPr>
              <a:t>Q1. DBA가 만드는 공통 사용자의 이름 규칙으로 옳은 것은?</a:t>
            </a:r>
          </a:p>
          <a:p>
            <a:pPr>
              <a:spcAft>
                <a:spcPts val="200"/>
              </a:spcAft>
            </a:pPr>
            <a:r>
              <a:rPr sz="1400">
                <a:solidFill>
                  <a:srgbClr val="5A6672"/>
                </a:solidFill>
                <a:latin typeface="맑은 고딕"/>
                <a:ea typeface="맑은 고딕"/>
              </a:rPr>
              <a:t>   ① SYS_ 로 시작   ② C##/c## 로 시작   ③ 접두사 없음   ④ OPS$ 로 시작</a:t>
            </a:r>
          </a:p>
          <a:p>
            <a:pPr>
              <a:spcAft>
                <a:spcPts val="800"/>
              </a:spcAft>
            </a:pPr>
            <a:r>
              <a:rPr sz="1400" b="1">
                <a:solidFill>
                  <a:srgbClr val="1F4E79"/>
                </a:solidFill>
                <a:latin typeface="맑은 고딕"/>
                <a:ea typeface="맑은 고딕"/>
              </a:rPr>
              <a:t>   ▶ 정답 ② — 공통 사용자는 C## 접두사 강제(SYS·SYSTEM은 예외)</a:t>
            </a:r>
          </a:p>
          <a:p>
            <a:pPr>
              <a:spcBef>
                <a:spcPts val="600"/>
              </a:spcBef>
              <a:spcAft>
                <a:spcPts val="200"/>
              </a:spcAft>
            </a:pPr>
            <a:r>
              <a:rPr sz="1700" b="1">
                <a:solidFill>
                  <a:srgbClr val="C0392B"/>
                </a:solidFill>
                <a:latin typeface="맑은 고딕"/>
                <a:ea typeface="맑은 고딕"/>
              </a:rPr>
              <a:t>Q2. 인증 수단이 없어 직접 로그인이 불가능한 계정을 만드는 절은?</a:t>
            </a:r>
          </a:p>
          <a:p>
            <a:pPr>
              <a:spcAft>
                <a:spcPts val="200"/>
              </a:spcAft>
            </a:pPr>
            <a:r>
              <a:rPr sz="1400">
                <a:solidFill>
                  <a:srgbClr val="5A6672"/>
                </a:solidFill>
                <a:latin typeface="맑은 고딕"/>
                <a:ea typeface="맑은 고딕"/>
              </a:rPr>
              <a:t>   ① IDENTIFIED EXTERNALLY   ② IDENTIFIED GLOBALLY   ③ NO AUTHENTICATION   ④ ACCOUNT LOCK</a:t>
            </a:r>
          </a:p>
          <a:p>
            <a:pPr>
              <a:spcAft>
                <a:spcPts val="800"/>
              </a:spcAft>
            </a:pPr>
            <a:r>
              <a:rPr sz="1400" b="1">
                <a:solidFill>
                  <a:srgbClr val="1F4E79"/>
                </a:solidFill>
                <a:latin typeface="맑은 고딕"/>
                <a:ea typeface="맑은 고딕"/>
              </a:rPr>
              <a:t>   ▶ 정답 ③ — NO AUTHENTICATION = 스키마 전용 계정(18c 신기능)</a:t>
            </a:r>
          </a:p>
          <a:p>
            <a:pPr>
              <a:spcBef>
                <a:spcPts val="600"/>
              </a:spcBef>
              <a:spcAft>
                <a:spcPts val="200"/>
              </a:spcAft>
            </a:pPr>
            <a:r>
              <a:rPr sz="1700" b="1">
                <a:solidFill>
                  <a:srgbClr val="C0392B"/>
                </a:solidFill>
                <a:latin typeface="맑은 고딕"/>
                <a:ea typeface="맑은 고딕"/>
              </a:rPr>
              <a:t>Q3. DEFAULT TABLESPACE와 CREATE TABLE 권한이 있는데 테이블 생성이 실패했다. 원인은?</a:t>
            </a:r>
          </a:p>
          <a:p>
            <a:pPr>
              <a:spcAft>
                <a:spcPts val="200"/>
              </a:spcAft>
            </a:pPr>
            <a:r>
              <a:rPr sz="1400">
                <a:solidFill>
                  <a:srgbClr val="5A6672"/>
                </a:solidFill>
                <a:latin typeface="맑은 고딕"/>
                <a:ea typeface="맑은 고딕"/>
              </a:rPr>
              <a:t>   ① CREATE SESSION 없음   ② 해당 TS 할당량이 0   ③ 임시 TS 없음   ④ 프로파일 미지정</a:t>
            </a:r>
          </a:p>
          <a:p>
            <a:pPr>
              <a:spcAft>
                <a:spcPts val="800"/>
              </a:spcAft>
            </a:pPr>
            <a:r>
              <a:rPr sz="1400" b="1">
                <a:solidFill>
                  <a:srgbClr val="1F4E79"/>
                </a:solidFill>
                <a:latin typeface="맑은 고딕"/>
                <a:ea typeface="맑은 고딕"/>
              </a:rPr>
              <a:t>   ▶ 정답 ② — 할당량 미지정 시 기본 0 → ORA-01950 (QUOTA 필요)</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nchor="ctr" lIns="45720" rIns="45720" tIns="18288" bIns="18288">
            <a:spAutoFit/>
          </a:bodyPr>
          <a:lstStyle/>
          <a:p>
            <a:pPr algn="l"/>
            <a:r>
              <a:rPr sz="2600" b="1">
                <a:solidFill>
                  <a:srgbClr val="FFFFFF"/>
                </a:solidFill>
                <a:latin typeface="맑은 고딕"/>
                <a:ea typeface="맑은 고딕"/>
              </a:rPr>
              <a:t>확인 학습 (Quiz) 2/2</a:t>
            </a:r>
          </a:p>
        </p:txBody>
      </p:sp>
      <p:sp>
        <p:nvSpPr>
          <p:cNvPr id="4" name="TextBox 3"/>
          <p:cNvSpPr txBox="1"/>
          <p:nvPr/>
        </p:nvSpPr>
        <p:spPr>
          <a:xfrm>
            <a:off x="640080" y="1280160"/>
            <a:ext cx="10881360" cy="5120640"/>
          </a:xfrm>
          <a:prstGeom prst="rect">
            <a:avLst/>
          </a:prstGeom>
          <a:noFill/>
        </p:spPr>
        <p:txBody>
          <a:bodyPr wrap="square">
            <a:spAutoFit/>
          </a:bodyPr>
          <a:lstStyle/>
          <a:p>
            <a:pPr>
              <a:spcBef>
                <a:spcPts val="600"/>
              </a:spcBef>
              <a:spcAft>
                <a:spcPts val="200"/>
              </a:spcAft>
            </a:pPr>
            <a:r>
              <a:rPr sz="1700" b="1">
                <a:solidFill>
                  <a:srgbClr val="C0392B"/>
                </a:solidFill>
                <a:latin typeface="맑은 고딕"/>
                <a:ea typeface="맑은 고딕"/>
              </a:rPr>
              <a:t>Q4. 네트워크를 통한 원격 SYSDBA 접속에 반드시 필요한 것은?</a:t>
            </a:r>
          </a:p>
          <a:p>
            <a:pPr>
              <a:spcAft>
                <a:spcPts val="200"/>
              </a:spcAft>
            </a:pPr>
            <a:r>
              <a:rPr sz="1400">
                <a:solidFill>
                  <a:srgbClr val="5A6672"/>
                </a:solidFill>
                <a:latin typeface="맑은 고딕"/>
                <a:ea typeface="맑은 고딕"/>
              </a:rPr>
              <a:t>   ① dba 그룹 멤버십   ② REMOTE_OS_AUTHENT=TRUE   ③ 비밀번호 파일   ④ 스키마 전용 계정</a:t>
            </a:r>
          </a:p>
          <a:p>
            <a:pPr>
              <a:spcAft>
                <a:spcPts val="800"/>
              </a:spcAft>
            </a:pPr>
            <a:r>
              <a:rPr sz="1400" b="1">
                <a:solidFill>
                  <a:srgbClr val="1F4E79"/>
                </a:solidFill>
                <a:latin typeface="맑은 고딕"/>
                <a:ea typeface="맑은 고딕"/>
              </a:rPr>
              <a:t>   ▶ 정답 ③ — 원격 관리 접속은 비밀번호 파일 인증 필수</a:t>
            </a:r>
          </a:p>
          <a:p>
            <a:pPr>
              <a:spcBef>
                <a:spcPts val="600"/>
              </a:spcBef>
              <a:spcAft>
                <a:spcPts val="200"/>
              </a:spcAft>
            </a:pPr>
            <a:r>
              <a:rPr sz="1700" b="1">
                <a:solidFill>
                  <a:srgbClr val="C0392B"/>
                </a:solidFill>
                <a:latin typeface="맑은 고딕"/>
                <a:ea typeface="맑은 고딕"/>
              </a:rPr>
              <a:t>Q5. OS_AUTHENT_PREFIX가 OPS$이고 OS 계정이 oracle일 때 외부 인증 계정 이름은?</a:t>
            </a:r>
          </a:p>
          <a:p>
            <a:pPr>
              <a:spcAft>
                <a:spcPts val="200"/>
              </a:spcAft>
            </a:pPr>
            <a:r>
              <a:rPr sz="1400">
                <a:solidFill>
                  <a:srgbClr val="5A6672"/>
                </a:solidFill>
                <a:latin typeface="맑은 고딕"/>
                <a:ea typeface="맑은 고딕"/>
              </a:rPr>
              <a:t>   ① oracle   ② OPS$ORACLE   ③ C##ORACLE   ④ EXTERNAL_ORACLE</a:t>
            </a:r>
          </a:p>
          <a:p>
            <a:pPr>
              <a:spcAft>
                <a:spcPts val="800"/>
              </a:spcAft>
            </a:pPr>
            <a:r>
              <a:rPr sz="1400" b="1">
                <a:solidFill>
                  <a:srgbClr val="1F4E79"/>
                </a:solidFill>
                <a:latin typeface="맑은 고딕"/>
                <a:ea typeface="맑은 고딕"/>
              </a:rPr>
              <a:t>   ▶ 정답 ② — 접두사(OPS$)+OS 이름(ORACLE) 형태여야 매핑 성립</a:t>
            </a:r>
          </a:p>
          <a:p>
            <a:pPr>
              <a:spcBef>
                <a:spcPts val="600"/>
              </a:spcBef>
              <a:spcAft>
                <a:spcPts val="200"/>
              </a:spcAft>
            </a:pPr>
            <a:r>
              <a:rPr sz="1700" b="1">
                <a:solidFill>
                  <a:srgbClr val="C0392B"/>
                </a:solidFill>
                <a:latin typeface="맑은 고딕"/>
                <a:ea typeface="맑은 고딕"/>
              </a:rPr>
              <a:t>Q6. 객체를 소유한 사용자를 삭제할 때 반드시 필요한 것은?</a:t>
            </a:r>
          </a:p>
          <a:p>
            <a:pPr>
              <a:spcAft>
                <a:spcPts val="200"/>
              </a:spcAft>
            </a:pPr>
            <a:r>
              <a:rPr sz="1400">
                <a:solidFill>
                  <a:srgbClr val="5A6672"/>
                </a:solidFill>
                <a:latin typeface="맑은 고딕"/>
                <a:ea typeface="맑은 고딕"/>
              </a:rPr>
              <a:t>   ① DROP USER … PURGE   ② DROP USER … CASCADE   ③ INCLUDING DATAFILES   ④ 옵션 없이 DROP USER</a:t>
            </a:r>
          </a:p>
          <a:p>
            <a:pPr>
              <a:spcAft>
                <a:spcPts val="800"/>
              </a:spcAft>
            </a:pPr>
            <a:r>
              <a:rPr sz="1400" b="1">
                <a:solidFill>
                  <a:srgbClr val="1F4E79"/>
                </a:solidFill>
                <a:latin typeface="맑은 고딕"/>
                <a:ea typeface="맑은 고딕"/>
              </a:rPr>
              <a:t>   ▶ 정답 ② — 소유 객체가 있으면 CASCADE 필요(없으면 ORA-01922)</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nchor="ctr" lIns="45720" rIns="45720" tIns="18288" bIns="18288">
            <a:spAutoFit/>
          </a:bodyPr>
          <a:lstStyle/>
          <a:p>
            <a:pPr algn="l"/>
            <a:r>
              <a:rPr sz="2600" b="1">
                <a:solidFill>
                  <a:srgbClr val="FFFFFF"/>
                </a:solidFill>
                <a:latin typeface="맑은 고딕"/>
                <a:ea typeface="맑은 고딕"/>
              </a:rPr>
              <a:t>요약 (Summary)</a:t>
            </a:r>
          </a:p>
        </p:txBody>
      </p:sp>
      <p:sp>
        <p:nvSpPr>
          <p:cNvPr id="4" name="TextBox 3"/>
          <p:cNvSpPr txBox="1"/>
          <p:nvPr/>
        </p:nvSpPr>
        <p:spPr>
          <a:xfrm>
            <a:off x="640080" y="1463040"/>
            <a:ext cx="10881360" cy="4937760"/>
          </a:xfrm>
          <a:prstGeom prst="rect">
            <a:avLst/>
          </a:prstGeom>
          <a:noFill/>
        </p:spPr>
        <p:txBody>
          <a:bodyPr wrap="square" anchor="t" lIns="45720" rIns="45720" tIns="18288" bIns="18288">
            <a:spAutoFit/>
          </a:bodyPr>
          <a:lstStyle/>
          <a:p>
            <a:pPr algn="l">
              <a:spcAft>
                <a:spcPts val="1100"/>
              </a:spcAft>
            </a:pPr>
            <a:r>
              <a:rPr sz="1700" b="0">
                <a:solidFill>
                  <a:srgbClr val="C0392B"/>
                </a:solidFill>
                <a:latin typeface="맑은 고딕"/>
                <a:ea typeface="맑은 고딕"/>
              </a:rPr>
              <a:t>•  사용자 계정은 인증·인가의 기준이며 생성 시 동명의 스키마가 함께 생긴다</a:t>
            </a:r>
          </a:p>
          <a:p>
            <a:pPr algn="l">
              <a:spcAft>
                <a:spcPts val="1100"/>
              </a:spcAft>
            </a:pPr>
            <a:r>
              <a:rPr sz="1700" b="0">
                <a:solidFill>
                  <a:srgbClr val="C0392B"/>
                </a:solidFill>
                <a:latin typeface="맑은 고딕"/>
                <a:ea typeface="맑은 고딕"/>
              </a:rPr>
              <a:t>•  공통 사용자(C##)는 CDB 전역에, 로컬 사용자는 특정 PDB에만 존재한다</a:t>
            </a:r>
          </a:p>
          <a:p>
            <a:pPr algn="l">
              <a:spcAft>
                <a:spcPts val="1100"/>
              </a:spcAft>
            </a:pPr>
            <a:r>
              <a:rPr sz="1700" b="0">
                <a:solidFill>
                  <a:srgbClr val="C0392B"/>
                </a:solidFill>
                <a:latin typeface="맑은 고딕"/>
                <a:ea typeface="맑은 고딕"/>
              </a:rPr>
              <a:t>•  CREATE USER의 IDENTIFIED·TABLESPACE·QUOTA·PROFILE·ACCOUNT 절로 계정을 정의한다</a:t>
            </a:r>
          </a:p>
          <a:p>
            <a:pPr algn="l">
              <a:spcAft>
                <a:spcPts val="1100"/>
              </a:spcAft>
            </a:pPr>
            <a:r>
              <a:rPr sz="1700" b="0">
                <a:solidFill>
                  <a:srgbClr val="C0392B"/>
                </a:solidFill>
                <a:latin typeface="맑은 고딕"/>
                <a:ea typeface="맑은 고딕"/>
              </a:rPr>
              <a:t>•  스키마 전용 계정(NO AUTHENTICATION)은 로그인 자격 증명을 없애 보안을 강화한다</a:t>
            </a:r>
          </a:p>
          <a:p>
            <a:pPr algn="l">
              <a:spcAft>
                <a:spcPts val="1100"/>
              </a:spcAft>
            </a:pPr>
            <a:r>
              <a:rPr sz="1700" b="0">
                <a:solidFill>
                  <a:srgbClr val="C0392B"/>
                </a:solidFill>
                <a:latin typeface="맑은 고딕"/>
                <a:ea typeface="맑은 고딕"/>
              </a:rPr>
              <a:t>•  인증은 비밀번호·비밀번호 파일·OS·전역·프록시로 나뉘며 용도가 다르다</a:t>
            </a:r>
          </a:p>
          <a:p>
            <a:pPr algn="l">
              <a:spcAft>
                <a:spcPts val="1100"/>
              </a:spcAft>
            </a:pPr>
            <a:r>
              <a:rPr sz="1700" b="0">
                <a:solidFill>
                  <a:srgbClr val="C0392B"/>
                </a:solidFill>
                <a:latin typeface="맑은 고딕"/>
                <a:ea typeface="맑은 고딕"/>
              </a:rPr>
              <a:t>•  QUOTA는 TS별 공간 상한(기본 0), 원격 SYSDBA는 비밀번호 파일 인증이 필요하다</a:t>
            </a:r>
          </a:p>
          <a:p>
            <a:pPr algn="l">
              <a:spcAft>
                <a:spcPts val="1100"/>
              </a:spcAft>
            </a:pPr>
            <a:r>
              <a:rPr sz="1700" b="0">
                <a:solidFill>
                  <a:srgbClr val="C0392B"/>
                </a:solidFill>
                <a:latin typeface="맑은 고딕"/>
                <a:ea typeface="맑은 고딕"/>
              </a:rPr>
              <a:t>•  ALTER USER로 잠금·해제·만료, DROP USER … CASCADE로 삭제한다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nchor="ctr" lIns="45720" rIns="45720" tIns="18288" bIns="18288">
            <a:spAutoFit/>
          </a:bodyPr>
          <a:lstStyle/>
          <a:p>
            <a:pPr algn="l"/>
            <a:r>
              <a:rPr sz="2600" b="1">
                <a:solidFill>
                  <a:srgbClr val="FFFFFF"/>
                </a:solidFill>
                <a:latin typeface="맑은 고딕"/>
                <a:ea typeface="맑은 고딕"/>
              </a:rPr>
              <a:t>실습 21 개요 (Practice Overview)</a:t>
            </a:r>
          </a:p>
        </p:txBody>
      </p:sp>
      <p:sp>
        <p:nvSpPr>
          <p:cNvPr id="4" name="TextBox 3"/>
          <p:cNvSpPr txBox="1"/>
          <p:nvPr/>
        </p:nvSpPr>
        <p:spPr>
          <a:xfrm>
            <a:off x="640080" y="1463040"/>
            <a:ext cx="10881360" cy="4937760"/>
          </a:xfrm>
          <a:prstGeom prst="rect">
            <a:avLst/>
          </a:prstGeom>
          <a:noFill/>
        </p:spPr>
        <p:txBody>
          <a:bodyPr wrap="square" anchor="t" lIns="45720" rIns="45720" tIns="18288" bIns="18288">
            <a:spAutoFit/>
          </a:bodyPr>
          <a:lstStyle/>
          <a:p>
            <a:pPr algn="l">
              <a:spcAft>
                <a:spcPts val="1100"/>
              </a:spcAft>
            </a:pPr>
            <a:r>
              <a:rPr sz="1700" b="0">
                <a:solidFill>
                  <a:srgbClr val="C0392B"/>
                </a:solidFill>
                <a:latin typeface="맑은 고딕"/>
                <a:ea typeface="맑은 고딕"/>
              </a:rPr>
              <a:t>•  실습 01 — 사용자 계정 개념 및 Oracle 제공 관리자 계정 확인</a:t>
            </a:r>
          </a:p>
          <a:p>
            <a:pPr algn="l">
              <a:spcAft>
                <a:spcPts val="1100"/>
              </a:spcAft>
            </a:pPr>
            <a:r>
              <a:rPr sz="1700" b="0">
                <a:solidFill>
                  <a:srgbClr val="C0392B"/>
                </a:solidFill>
                <a:latin typeface="맑은 고딕"/>
                <a:ea typeface="맑은 고딕"/>
              </a:rPr>
              <a:t>•  실습 02 — 멀티테넌트 환경에서 공통/로컬 사용자 생성</a:t>
            </a:r>
          </a:p>
          <a:p>
            <a:pPr algn="l">
              <a:spcAft>
                <a:spcPts val="1100"/>
              </a:spcAft>
            </a:pPr>
            <a:r>
              <a:rPr sz="1700" b="0">
                <a:solidFill>
                  <a:srgbClr val="C0392B"/>
                </a:solidFill>
                <a:latin typeface="맑은 고딕"/>
                <a:ea typeface="맑은 고딕"/>
              </a:rPr>
              <a:t>•  실습 03 — CDB와 PDB에 공통 사용자 생성 및 컨테이너별 권한</a:t>
            </a:r>
          </a:p>
          <a:p>
            <a:pPr algn="l">
              <a:spcAft>
                <a:spcPts val="1100"/>
              </a:spcAft>
            </a:pPr>
            <a:r>
              <a:rPr sz="1700" b="0">
                <a:solidFill>
                  <a:srgbClr val="C0392B"/>
                </a:solidFill>
                <a:latin typeface="맑은 고딕"/>
                <a:ea typeface="맑은 고딕"/>
              </a:rPr>
              <a:t>•  실습 04 — 스키마 전용 계정(NO AUTHENTICATION) 생성·전환</a:t>
            </a:r>
          </a:p>
          <a:p>
            <a:pPr algn="l">
              <a:spcAft>
                <a:spcPts val="1100"/>
              </a:spcAft>
            </a:pPr>
            <a:r>
              <a:rPr sz="1700" b="0">
                <a:solidFill>
                  <a:srgbClr val="C0392B"/>
                </a:solidFill>
                <a:latin typeface="맑은 고딕"/>
                <a:ea typeface="맑은 고딕"/>
              </a:rPr>
              <a:t>•  실습 05 — 비밀번호 인증 및 비밀번호 파일 인증(orapwd)</a:t>
            </a:r>
          </a:p>
          <a:p>
            <a:pPr algn="l">
              <a:spcAft>
                <a:spcPts val="1100"/>
              </a:spcAft>
            </a:pPr>
            <a:r>
              <a:rPr sz="1700" b="0">
                <a:solidFill>
                  <a:srgbClr val="C0392B"/>
                </a:solidFill>
                <a:latin typeface="맑은 고딕"/>
                <a:ea typeface="맑은 고딕"/>
              </a:rPr>
              <a:t>•  실습 06 — OS 인증 및 권한 있는 사용자의 OS 인증</a:t>
            </a:r>
          </a:p>
          <a:p>
            <a:pPr algn="l">
              <a:spcAft>
                <a:spcPts val="1100"/>
              </a:spcAft>
            </a:pPr>
            <a:r>
              <a:rPr sz="1700" b="0">
                <a:solidFill>
                  <a:srgbClr val="C0392B"/>
                </a:solidFill>
                <a:latin typeface="맑은 고딕"/>
                <a:ea typeface="맑은 고딕"/>
              </a:rPr>
              <a:t>•  실습 07 — 사용자 할당량(QUOTA)·UNLIMITED TABLESPACE 지정</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
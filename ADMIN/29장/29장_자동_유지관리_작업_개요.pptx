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전통적 관리는 문제가 성능 저하나 장애로 드러난 뒤에야 대응하는 사후 대응 방식이었다. 이 방식은 이미 서비스에 영향을 준 뒤에 움직이므로 중단과 야근을 피하기 어렵고, 관리자의 경험과 순발력에 지나치게 의존한다. 시스템 규모가 커질수록 사람이 감당할 수 있는 한계를 금방 넘어선다. Oracle이 지향하는 사전 예방적 방식은 데이터베이스가 스스로 자기 상태를 관측하고 진단하며 정해진 시간대에 조용히 정비를 수행하도록 하여, 사람이 알아채기 전에 문제의 싹을 제거한다. 이로써 DBA의 역할은 모든 작업을 직접 수행하는 것에서 자동화가 잘 돌아가는지 감독하고 정책을 조정하는 것으로 옮겨간다.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사전 예방적 관리 인프라는 세 계층으로 이해할 수 있다. 맨 아래는 AWR로, MMON 백그라운드 프로세스가 기본 1시간마다 성능·워크로드 통계를 스냅샷으로 수집해 SYSAUX 테이블스페이스에 8일간 보관한다. 그 위에는 자가 진단 엔진 ADDM과 각종 어드바이저가 놓여, AWR 데이터를 분석해 병목의 원인과 개선 권고를 만든다. 맨 위에는 이 장의 주제인 자동 유지관리 작업이 있어, 진단과 통계를 근거로 유지관리 윈도우 동안 실제 개선 작업을 수행한다. 자동 유지관리 작업이 정기 예방 정비라면, 서버 생성 알림은 이상 징후 조기 경보로서 두 기능이 함께 사전 예방적 관리를 완성한다.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유지관리 작업은 데이터베이스에 기본 내장되어 있으며 정해진 유지관리 윈도우가 열릴 때 Oracle 스케줄러에 의해 자동 실행되는 관리 작업이다. 관리자가 작업이나 스케줄을 별도로 등록하지 않아도 데이터베이스 생성 시점부터 이미 활성 상태로 존재한다. 이들은 시간과 리소스를 많이 소모하는 무거운 작업이므로 주간 업무 시간이 아니라 부하가 적은 야간·주말에 실행되도록 설계된다. 핵심은 무엇을 할지 정하는 작업과 언제 할지 정하는 윈도우가 분리되어 있고 스케줄러가 둘을 이어 준다는 점이다. 관리는 DBMS_AUTO_TASK_ADMIN 패키지로, 상태 조회는 DBA_AUTOTASK 계열 뷰로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19c가 기본 제공하는 세 가지 자동 유지관리 작업은 자동 옵티마이저 통계 수집, 자동 세그먼트 어드바이저, 자동 SQL 튜닝 어드바이저다. 과거에는 통계 수집·공간 관리·SQL 튜닝이 제각각 다른 방식으로 수행되었지만, 자동 유지관리 프레임워크는 이들을 유지관리 윈도우라는 공통 시간 틀과 DEFAULT_MAINTENANCE_PLAN이라는 공통 자원 틀 아래로 통합했다. 그 결과 세 작업을 한곳에서 켜고 끄고 자원을 배분하고 이력을 조회할 수 있다. 이것들은 관리자가 직접 만든 일반 스케줄러 작업과 달리 실행 시점·자원·중단·재개가 모두 프레임워크에 의해 조율되는 관리되는 작업이라는 점이 핵심 차이다.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비용 기반 옵티마이저는 테이블 행 수, 컬럼 값 분포, 인덱스 선택도 같은 통계를 근거로 실행 계획을 세운다. 통계가 실제 데이터와 크게 어긋나면 옵티마이저는 잘못된 판단을 하고 나쁜 실행 계획과 심각한 성능 저하가 발생한다. 예를 들어 통계상 100건인 테이블에 실제로는 1000만 건이 적재되었는데 통계가 갱신되지 않았다면, 옵티마이저는 그 테이블을 아주 작은 것으로 오해해 부적절한 조인 방식을 선택할 수 있다. 자동 옵티마이저 통계 수집 작업은 내부적으로 DBMS_STATS 패키지를 사용해 이러한 통계 갱신을 자동화한다. 통계를 데이터 변화에 맞춰 꾸준히 갱신하는 일은 성능 관리의 기본이다.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테이블에 대한 DML 변경량을 지속적으로 모니터링하여, 마지막 통계 수집 이후 변경된 행이 대략 전체의 10%를 넘으면 그 통계를 stale로 표시한다. 자동 통계 수집은 stale 객체와 통계가 아예 없는 missing 객체를 대상으로 삼되, 대개 통계가 없는 객체를 더 시급한 것으로 우선 처리한다. 통계가 없는 객체가 가장 위험한 실행 계획을 유발하기 때문이다. 야간 윈도우에서 GATHER_DATABASE_STATS_JOB_PROC 프로시저로 수집이 이뤄진다. AUTOSTATS_TARGET 파라미터로 대상 범위를 조정하고, 파티션 테이블은 증분 통계로 수집 시간을 크게 줄일 수 있다. 대량 적재 직후 즉시 정확한 통계가 필요하면 자동 수집을 기다리지 말고 수동으로 해당 테이블만 GATHER 하는 것이 바람직하다.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조회들은 자동 통계 수집이 어떤 근거로 대상을 고르는지 눈으로 확인하게 해 준다. USER_TAB_MODIFICATIONS는 마지막 통계 수집 이후 발생한 INSERT·UPDATE·DELETE 건수와 TRUNCATE 여부를 보여 주며, 이 변경량이 테이블 크기의 약 10%를 넘으면 통계가 stale로 판정된다. USER_TAB_STATISTICS의 STALE_STATS 컬럼이 YES이면 그 객체는 다음 유지관리 윈도우에서 통계 갱신 대상이 되고, LAST_ANALYZED로 마지막 수집 시각을 확인할 수 있다. 대량 적재를 한 뒤 이 뷰에서 STALE_STATS가 YES로 바뀐 것을 확인하고, 야간 윈도우 후 다시 조회하면 LAST_ANALYZED가 갱신되고 STALE_STATS가 NO로 바뀐 것을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테이블과 인덱스는 DELETE와 UPDATE가 반복되면 세그먼트 내부에 빈 공간이 여기저기 생긴다. 데이터가 지워진 자리는 즉시 회수되지 않고 세그먼트 안에 흩어진 채 남으며, 이 때문에 실제 데이터 양에 비해 세그먼트가 차지하는 공간이 과도하게 커진다. 이런 조각화는 단순한 디스크 낭비를 넘어, 풀 스캔 시 읽어야 할 블록 수를 늘려 성능까지 떨어뜨린다. 자동 세그먼트 어드바이저는 유지관리 윈도우 동안 통계와 공간 사용 패턴을 근거로 회수 가능한 공간이 많을 것으로 보이는 세그먼트를 선별해 분석한다. 데이터베이스 전체를 매번 검사하는 것이 아니라 낭비 가능성이 높은 대상을 시간 예산 안에서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세그먼트 어드바이저는 조각화가 심한 세그먼트에 대해 세그먼트 축소, 즉 ALTER TABLE SHRINK SPACE를 권고하지만 실제 실행은 하지 않는다. SHRINK는 세그먼트 뒤쪽에 흩어진 행들을 앞쪽 빈 공간으로 이동시켜 데이터를 다진 뒤, 비게 된 블록을 반환하고 High Water Mark를 낮춘다. 이 과정에서 행이 물리적으로 이동하므로 대상 테이블에 ENABLE ROW MOVEMENT가 선행되어야 하며, 자동 세그먼트 공간 관리를 쓰는 테이블스페이스에만 적용된다. SHRINK는 잠금과 커서 무효화를 수반해 운영에 영향을 줄 수 있으므로, 어드바이저가 권고만 하고 최종 실행 시점은 서비스 영향이 적은 때를 DBA가 고르도록 남겨 둔다. 권고는 DBA_ADVISOR_FINDINGS나 EM 화면에서 검토한다.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SQL 튜닝 어드바이저는 세 작업 중 가장 정교하다. AWR에 축적된 SQL 실행 통계에서 CPU 시간과 I/O 시간을 합한 부하가 큰 상위 SQL을 자동으로 골라내되, 최근 여러 시간대에 걸쳐 반복적으로 무겁게 나타난 SQL을 우선한다. 일회성 SQL, 이미 튜닝된 SQL, 병렬 쿼리, DDL은 후보에서 제외된다. 각 후보에 대해 통계 분석, SQL 프로파일링, 액세스 경로 분석, SQL 구조 분석의 네 가지를 수행한다. 통계 재수집·인덱스 생성·SQL 재작성도 권고할 수 있지만 자동으로 적용되는 것은 SQL 프로파일뿐이다. 이 기능은 Oracle Tuning Pack 라이선스가 필요하다는 점에 유의해야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프로파일은 옵티마이저에게 특정 SQL에 한해 더 정확한 통계 보정 정보를 제공하는 보조 객체로, 문장 자체를 고치지 않고도 더 나은 실행 계획을 유도한다. 자동 SQL 튜닝 어드바이저의 독특한 점은 이 프로파일 권고를 관리자가 원할 경우 자동으로 적용하도록 설정할 수 있다는 것이다. ACCEPT_SQL_PROFILES 파라미터를 TRUE로 켜 두면 어드바이저가 검증한 결과 성능이 최소 3배 이상 개선되리라 예측되는 프로파일만 사람의 승인 없이 자동 적용된다. 이 자동 적용은 기본적으로 꺼져 있어 어드바이저는 권고만 남기고, 켤지 여부는 조직의 변경 관리 정책에 따라 신중히 결정한다. 실행 결과와 권고는 REPORT_AUTO_TUNING_TASK 함수로 보고서 형태로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유지관리 윈도우란 자동 유지관리 작업이 실행되도록 허용된 시간 구간을 정의하는 스케줄러 윈도우 객체다. 스케줄러에서 윈도우란 특정 시각에 시작해 정해진 기간 지속되는 반복 가능한 시간대를 의미하며, 유지관리 윈도우가 열려 있는 동안에만 작업이 실행되고 닫히면 멈춘다. 윈도우는 세 가지 속성을 갖는다. 스케줄은 언제 시작하는지, 지속 시간은 한 번 열리면 얼마나 지속되는지, 리소스 플랜은 열려 있는 동안 어떤 리소스 관리자 플랜을 적용할지를 정한다. 스케줄러는 윈도우가 열리는 이벤트를 트리거로 삼아 자동태스크 코디네이터를 깨운다. 관리자는 윈도우를 수동으로 강제로 열거나 닫아 유지관리 시간대를 즉석에서 만들거나 조기 종료시킬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Database는 설치 시 유지관리를 위한 윈도우를 미리 만들어 둔다. 월요일부터 금요일까지의 평일 윈도우는 각각 밤 10시에 시작해 4시간 동안 열리고, 토·일요일 주말 윈도우는 오전 6시에 시작해 20시간 동안 열린다. 평일에 4시간으로 제한하는 이유는 다음 날 업무에 지장을 주지 않도록 새벽 2시 전에 유지관리를 끝내기 위해서이며, 이는 가장 급한 통계 갱신과 가벼운 분석을 처리하기에 충분하다. 주말에는 부하가 적어 20시간의 넉넉한 창을 열어 평일에 처리하지 못한 무거운 대상까지 몰아서 수행한다. 과거 10g에는 평일을 묶은 WEEKNIGHT_WINDOW와 주말을 묶은 WEEKEND_WINDOW만 있었으나, 관리 유연성을 높이기 위해 요일별 개별 윈도우로 세분화되었다.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조회는 사전 정의된 유지관리 윈도우의 실제 구성을 보여 준다. REPEAT_INTERVAL 컬럼은 캘린더링 문법으로 윈도우가 언제 반복되는지를 표현하는데, MONDAY_WINDOW는 매주 월요일 22시(byhour=22)에 시작함을 뜻하고 DURATION은 4시간임을 보여 준다. SATURDAY_WINDOW는 매주 토요일 오전 6시에 시작해 20시간 지속된다. ENABLED가 TRUE이면 그 윈도우가 활성 상태로 스케줄에 따라 자동으로 열린다는 의미다. 이 값들은 고정이 아니라 DBMS_SCHEDULER 패키지로 변경할 수 있으며, 각 시스템의 업무 패턴에 맞춰 시작 시각이나 지속 시간을 조정하는 실습은 30장에서 다룬다. 관리자는 이 뷰로 자기 데이터베이스의 유지관리 일정을 한눈에 파악할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요일별 윈도우 7개는 낱개로 흩어져 있는 것이 아니라 MAINTENANCE_WINDOW_GROUP이라는 하나의 윈도우 그룹으로 묶여 관리된다. 자동 유지관리 작업은 개별 윈도우가 아니라 이 그룹에 연결되어 있어서, 그룹에 속한 어떤 윈도우든 열리면 작업이 실행된다. 월요일에는 MONDAY_WINDOW가, 토요일에는 SATURDAY_WINDOW가 열리지만 두 경우 모두 같은 그룹의 멤버가 열린 것이므로 동일하게 작업이 구동된다. 이 구조 덕분에 특정 요일을 유지관리 대상에서 빼려면 해당 윈도우를 그룹에서 제거하고, 새 유지관리 시간대가 필요하면 새 윈도우를 만들어 그룹에 추가하면 된다. 그룹은 겹침과 우선순위도 일관되게 다룰 수 있게 해 준다. 멤버 구성은 DBA_SCHEDULER_WINGROUP_MEMBERS 뷰로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유지관리 윈도우가 열릴 때 자동으로 활성화되는 리소스 관리자 플랜이 DEFAULT_MAINTENANCE_PLAN이다. 사전 정의된 요일별 윈도우들은 모두 이 플랜을 리소스 플랜 속성으로 지정하고 있어, 윈도우가 열리는 순간 스케줄러가 이 플랜을 활성 플랜으로 전환하고 닫히면 원래 플랜으로 되돌린다. 이 플랜 안에는 유지관리 작업 전용 소비자 그룹 ORA$AUTOTASK가 정의되어, 유지관리 작업에 배정되는 CPU 비중과 병렬도의 상한을 정한다. 기본 설정에서 자동 유지관리 작업 그룹은 시스템 자원의 일정 비율 안에서만 동작하도록 통제되고, 나머지 자원은 그 시간대에 들어올 수 있는 다른 작업을 위해 남겨 둔다. 이 자동 전환은 유지관리 작업이 시스템 전체 자원을 독차지하지 못하게 하는 안전장치이며, 자원 배분 조정은 30장에서 실습한다.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유지관리 작업의 생애주기는 다섯 단계로 진행된다. 먼저 MAINTENANCE_WINDOW_GROUP에 속한 윈도우가 스케줄에 따라 열리면서 DEFAULT_MAINTENANCE_PLAN이 활성화된다. 그다음 자동태스크 코디네이터가 그 시점에 실행할 작업들을 우선순위에 따라 큐에 넣는데, 일반적으로 옵티마이저 통계 수집이 가장 우선되고 세그먼트 어드바이저, SQL 튜닝 어드바이저 순으로 자원이 배분된다. 큐에 담긴 작업들은 자원 한도 안에서 병렬 실행되며 진행 상황을 딕셔너리에 기록한다. 지속 시간이 다 되어 윈도우가 닫히면 스케줄러가 미완료 작업을 갑자기 죽이지 않고 안전하게 중단시킨다. 완료하지 못한 작업은 다음 유지관리 윈도우에서 이어서 처리되므로, 한 번에 다 못 하더라도 며칠에 걸쳐 결국 모든 대상이 처리된다.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윈도우 종료로 인한 작업 중단은 오류가 아니라 설계된 정상 동작이다. 남은 작업은 다음 윈도우에서 이어지므로 한 번에 끝나지 않아도 문제가 되지 않는다. 다만 특정 작업이 매 윈도우마다 STOPPED로만 끝나거나 오랫동안 한 번도 성공하지 못한다면, 윈도우가 너무 짧거나 자원이 부족하거나 대상이 지나치게 많다는 신호이므로 원인을 진단해야 한다. 이 전체 흐름은 DBA_AUTOTASK 계열 뷰로 관측한다. 어떤 작업이 언제 실행되어 성공 또는 중단되었는지는 DBA_AUTOTASK_TASK와 DBA_AUTOTASK_JOB_HISTORY로, 각 윈도우에서 어떤 클라이언트가 얼마나 자원을 썼는지는 DBA_AUTOTASK_WINDOW_HISTORY와 DBA_AUTOTASK_WINDOW_CLIENTS로 확인한다. 이러한 관측을 통해 DBA는 자동화가 건강하게 돌아가는지 감독한다.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멀티테넌트 아키텍처에서 자동 유지관리 작업은 컨테이너 단위로 동작한다. 유지관리 윈도우 자체는 CDB 루트에서 정의되는 스케줄러 객체이므로 윈도우가 열리는 시각과 리소스 플랜은 CDB 전체에 공통 적용된다. 반면 어떤 작업을 켤 것인가는 각 PDB에서 독립적으로 제어할 수 있어, 어떤 PDB에서는 자동 SQL 튜닝을 켜고 다른 PDB에서는 끄는 개별 설정이 가능하다. DBMS_AUTO_TASK_ADMIN의 ENABLE/DISABLE을 각 PDB에 접속한 상태에서 실행하면 그 PDB에만 적용된다. 이런 컨테이너별 제어가 가능한 이유는 작업의 활성 상태가 각 컨테이너의 딕셔너리에 개별 저장되기 때문이다. 다만 작업이 실제로 실행되려면 해당 PDB가 윈도우가 열리는 시점에 READ WRITE로 열려 있어야 하며, 닫혀 있거나 READ ONLY인 PDB에서는 그날의 유지관리가 누락될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유지관리 작업과 윈도우의 상태를 파악하려면 자동태스크 계열과 스케줄러 계열 뷰를 알아야 한다. DBA_AUTOTASK_CLIENT는 세 작업 각각의 활성 상태와 자원 사용을 요약해 보여 주며, DBA_AUTOTASK_TASK와 DBA_AUTOTASK_JOB_HISTORY는 개별 작업의 상태와 실행 이력을, DBA_AUTOTASK_WINDOW_CLIENTS와 DBA_AUTOTASK_WINDOW_HISTORY는 윈도우 단위의 실행 정보를 제공한다. 스케줄러 계열에서는 DBA_SCHEDULER_WINDOWS로 윈도우의 스케줄과 지속시간, 리소스 플랜을, DBA_SCHEDULER_WINGROUP_MEMBERS로 윈도우 그룹의 멤버를 확인한다. 멀티테넌트 환경에서 CDB 루트에 접속하면 CDB 접두어를 가진 대응 뷰로 여러 PDB의 정보를 CON_ID로 구분해 한 번에 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조회는 세 가지 자동 유지관리 작업의 활성 상태를 한 번에 보여 준다. 세 작업은 각각 auto optimizer stats collection, auto space advisor, sql tuning advisor라는 클라이언트 이름으로 관리되며, STATUS 컬럼으로 활성 또는 비활성 여부를 즉시 확인할 수 있다. 기본 설치 상태에서는 세 작업 모두 ENABLED로 켜져 있다. ATTRIBUTES 컬럼은 각 작업의 실행 특성을 보여 주는데, 예를 들어 sql tuning advisor의 ONCE PER WINDOW는 윈도우당 한 번 실행됨을 뜻한다. 여기 나오는 클라이언트 이름은 30장에서 DBMS_AUTO_TASK_ADMIN으로 특정 작업을 켜고 끌 때 그대로 사용되므로 정확히 기억해 두어야 한다. 이 뷰는 자동 유지관리가 의도대로 활성화되어 있는지 점검하는 가장 기본적인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퀴즈는 이 장의 핵심 개념을 스스로 점검하도록 구성했다. Q1의 정답은 AWR로, MMON이 기본 1시간마다 스냅샷을 수집해 SYSAUX에 보관한다. Q2는 자동 옵티마이저 통계 수집, 자동 세그먼트 어드바이저, 자동 SQL 튜닝 어드바이저 세 가지다. Q3에서 자동 세그먼트 어드바이저는 SHRINK 권고만 생성하고 실행은 DBA에게 맡긴다. SHRINK가 잠금과 행 이동을 수반하기 때문이다. Q4의 평일 윈도우는 밤 10시에 시작해 4시간 지속된다. Q5의 정답은 DEFAULT_MAINTENANCE_PLAN이며, 윈도우가 닫히면 원래 플랜으로 되돌아간다. Q6은 제어할 수 있다가 정답으로, 윈도우는 CDB 공통이지만 작업 활성 상태는 각 컨테이너 딕셔너리에 개별 저장되어 PDB별로 독립 제어가 가능하기 때문이다. 학습자가 각 문항에 답한 뒤 본문과 대조하도록 지도한다.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1">
                <a:solidFill>
                  <a:srgbClr val="FFFFFF"/>
                </a:solidFill>
                <a:latin typeface="맑은 고딕"/>
              </a:rPr>
              <a:t>Oracle Database 19c: Administration Workshop</a:t>
            </a:r>
          </a:p>
        </p:txBody>
      </p:sp>
      <p:sp>
        <p:nvSpPr>
          <p:cNvPr id="6" name="TextBox 5"/>
          <p:cNvSpPr txBox="1"/>
          <p:nvPr/>
        </p:nvSpPr>
        <p:spPr>
          <a:xfrm>
            <a:off x="731520" y="2377440"/>
            <a:ext cx="10698480" cy="1554480"/>
          </a:xfrm>
          <a:prstGeom prst="rect">
            <a:avLst/>
          </a:prstGeom>
          <a:noFill/>
        </p:spPr>
        <p:txBody>
          <a:bodyPr wrap="square">
            <a:spAutoFit/>
          </a:bodyPr>
          <a:lstStyle/>
          <a:p>
            <a:r>
              <a:rPr sz="3400" b="1">
                <a:solidFill>
                  <a:srgbClr val="C0392B"/>
                </a:solidFill>
                <a:latin typeface="맑은 고딕"/>
              </a:rPr>
              <a:t>자동 유지관리 작업: 개요</a:t>
            </a:r>
          </a:p>
          <a:p>
            <a:r>
              <a:rPr sz="2000" b="0">
                <a:solidFill>
                  <a:srgbClr val="5A6672"/>
                </a:solidFill>
                <a:latin typeface="맑은 고딕"/>
              </a:rPr>
              <a:t>Automated Maintenance Tasks: Overview</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Proactive Maintenance · Automated Tasks · Maintenance Window · Resource Manager</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제29장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800"/>
              </a:spcAft>
            </a:pPr>
            <a:r>
              <a:rPr sz="1600" b="0">
                <a:solidFill>
                  <a:srgbClr val="222222"/>
                </a:solidFill>
                <a:latin typeface="맑은 고딕"/>
              </a:rPr>
              <a:t>•  사전 예방적 유지관리(Proactive Maintenance) 인프라가 AWR을 어떻게 활용하는지 설명한다.</a:t>
            </a:r>
          </a:p>
          <a:p>
            <a:pPr>
              <a:spcAft>
                <a:spcPts val="800"/>
              </a:spcAft>
            </a:pPr>
            <a:r>
              <a:rPr sz="1600" b="0">
                <a:solidFill>
                  <a:srgbClr val="222222"/>
                </a:solidFill>
                <a:latin typeface="맑은 고딕"/>
              </a:rPr>
              <a:t>•  자동 유지관리 작업(Automated Maintenance Tasks)의 개념과 유지관리 윈도우와의 관계를 이해한다.</a:t>
            </a:r>
          </a:p>
          <a:p>
            <a:pPr>
              <a:spcAft>
                <a:spcPts val="800"/>
              </a:spcAft>
            </a:pPr>
            <a:r>
              <a:rPr sz="1600" b="0">
                <a:solidFill>
                  <a:srgbClr val="222222"/>
                </a:solidFill>
                <a:latin typeface="맑은 고딕"/>
              </a:rPr>
              <a:t>•  사전 정의된 세 가지 작업(옵티마이저 통계·세그먼트 어드바이저·SQL 튜닝 어드바이저)을 구분한다.</a:t>
            </a:r>
          </a:p>
          <a:p>
            <a:pPr>
              <a:spcAft>
                <a:spcPts val="800"/>
              </a:spcAft>
            </a:pPr>
            <a:r>
              <a:rPr sz="1600" b="0">
                <a:solidFill>
                  <a:srgbClr val="222222"/>
                </a:solidFill>
                <a:latin typeface="맑은 고딕"/>
              </a:rPr>
              <a:t>•  유지관리 윈도우와 사전 정의된 윈도우(요일별/주말)의 구성을 설명한다.</a:t>
            </a:r>
          </a:p>
          <a:p>
            <a:pPr>
              <a:spcAft>
                <a:spcPts val="800"/>
              </a:spcAft>
            </a:pPr>
            <a:r>
              <a:rPr sz="1600" b="0">
                <a:solidFill>
                  <a:srgbClr val="222222"/>
                </a:solidFill>
                <a:latin typeface="맑은 고딕"/>
              </a:rPr>
              <a:t>•  윈도우 그룹과 리소스 관리자 연동(DEFAULT_MAINTENANCE_PLAN)의 원리를 이해한다.</a:t>
            </a:r>
          </a:p>
          <a:p>
            <a:pPr>
              <a:spcAft>
                <a:spcPts val="800"/>
              </a:spcAft>
            </a:pPr>
            <a:r>
              <a:rPr sz="1600" b="0">
                <a:solidFill>
                  <a:srgbClr val="222222"/>
                </a:solidFill>
                <a:latin typeface="맑은 고딕"/>
              </a:rPr>
              <a:t>•  자동 유지관리 작업의 큐잉·실행·중단·이월 흐름을 설명한다.</a:t>
            </a:r>
          </a:p>
          <a:p>
            <a:pPr>
              <a:spcAft>
                <a:spcPts val="800"/>
              </a:spcAft>
            </a:pPr>
            <a:r>
              <a:rPr sz="1600" b="0">
                <a:solidFill>
                  <a:srgbClr val="222222"/>
                </a:solidFill>
                <a:latin typeface="맑은 고딕"/>
              </a:rPr>
              <a:t>•  멀티테넌트(CDB/PDB) 환경에서의 동작과 관련 딕셔너리 뷰를 활용한다.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800"/>
              </a:spcAft>
            </a:pPr>
            <a:r>
              <a:rPr sz="1600" b="0">
                <a:solidFill>
                  <a:srgbClr val="222222"/>
                </a:solidFill>
                <a:latin typeface="맑은 고딕"/>
              </a:rPr>
              <a:t>•  29.1  사전 예방적 유지관리 인프라 개요</a:t>
            </a:r>
          </a:p>
          <a:p>
            <a:pPr>
              <a:spcAft>
                <a:spcPts val="800"/>
              </a:spcAft>
            </a:pPr>
            <a:r>
              <a:rPr sz="1600" b="0">
                <a:solidFill>
                  <a:srgbClr val="222222"/>
                </a:solidFill>
                <a:latin typeface="맑은 고딕"/>
              </a:rPr>
              <a:t>•  29.2  자동 유지관리 작업 개념</a:t>
            </a:r>
          </a:p>
          <a:p>
            <a:pPr>
              <a:spcAft>
                <a:spcPts val="800"/>
              </a:spcAft>
            </a:pPr>
            <a:r>
              <a:rPr sz="1600" b="0">
                <a:solidFill>
                  <a:srgbClr val="222222"/>
                </a:solidFill>
                <a:latin typeface="맑은 고딕"/>
              </a:rPr>
              <a:t>•  29.3  자동 옵티마이저 통계 수집</a:t>
            </a:r>
          </a:p>
          <a:p>
            <a:pPr>
              <a:spcAft>
                <a:spcPts val="800"/>
              </a:spcAft>
            </a:pPr>
            <a:r>
              <a:rPr sz="1600" b="0">
                <a:solidFill>
                  <a:srgbClr val="222222"/>
                </a:solidFill>
                <a:latin typeface="맑은 고딕"/>
              </a:rPr>
              <a:t>•  29.4  자동 세그먼트 어드바이저</a:t>
            </a:r>
          </a:p>
          <a:p>
            <a:pPr>
              <a:spcAft>
                <a:spcPts val="800"/>
              </a:spcAft>
            </a:pPr>
            <a:r>
              <a:rPr sz="1600" b="0">
                <a:solidFill>
                  <a:srgbClr val="222222"/>
                </a:solidFill>
                <a:latin typeface="맑은 고딕"/>
              </a:rPr>
              <a:t>•  29.5  자동 SQL 튜닝 어드바이저</a:t>
            </a:r>
          </a:p>
          <a:p>
            <a:pPr>
              <a:spcAft>
                <a:spcPts val="800"/>
              </a:spcAft>
            </a:pPr>
            <a:r>
              <a:rPr sz="1600" b="0">
                <a:solidFill>
                  <a:srgbClr val="222222"/>
                </a:solidFill>
                <a:latin typeface="맑은 고딕"/>
              </a:rPr>
              <a:t>•  29.6  유지관리 윈도우 개념</a:t>
            </a:r>
          </a:p>
          <a:p>
            <a:pPr>
              <a:spcAft>
                <a:spcPts val="800"/>
              </a:spcAft>
            </a:pPr>
            <a:r>
              <a:rPr sz="1600" b="0">
                <a:solidFill>
                  <a:srgbClr val="222222"/>
                </a:solidFill>
                <a:latin typeface="맑은 고딕"/>
              </a:rPr>
              <a:t>•  29.7  사전 정의된 윈도우</a:t>
            </a:r>
          </a:p>
          <a:p>
            <a:pPr>
              <a:spcAft>
                <a:spcPts val="800"/>
              </a:spcAft>
            </a:pPr>
            <a:r>
              <a:rPr sz="1600" b="0">
                <a:solidFill>
                  <a:srgbClr val="222222"/>
                </a:solidFill>
                <a:latin typeface="맑은 고딕"/>
              </a:rPr>
              <a:t>•  29.8  윈도우 그룹과 리소스 관리자 연동</a:t>
            </a:r>
          </a:p>
          <a:p>
            <a:pPr>
              <a:spcAft>
                <a:spcPts val="800"/>
              </a:spcAft>
            </a:pPr>
            <a:r>
              <a:rPr sz="1600" b="0">
                <a:solidFill>
                  <a:srgbClr val="222222"/>
                </a:solidFill>
                <a:latin typeface="맑은 고딕"/>
              </a:rPr>
              <a:t>•  29.9  자동 유지관리 작업 전체 흐름</a:t>
            </a:r>
          </a:p>
          <a:p>
            <a:pPr>
              <a:spcAft>
                <a:spcPts val="800"/>
              </a:spcAft>
            </a:pPr>
            <a:r>
              <a:rPr sz="1600" b="0">
                <a:solidFill>
                  <a:srgbClr val="222222"/>
                </a:solidFill>
                <a:latin typeface="맑은 고딕"/>
              </a:rPr>
              <a:t>•  29.10  멀티테넌트 환경에서의 자동 유지관리</a:t>
            </a:r>
          </a:p>
          <a:p>
            <a:pPr>
              <a:spcAft>
                <a:spcPts val="800"/>
              </a:spcAft>
            </a:pPr>
            <a:r>
              <a:rPr sz="1600" b="0">
                <a:solidFill>
                  <a:srgbClr val="222222"/>
                </a:solidFill>
                <a:latin typeface="맑은 고딕"/>
              </a:rPr>
              <a:t>•  29.11  관련 딕셔너리 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29.1</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사전 예방적 유지관리 인프라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Reactive → Proactive</a:t>
            </a:r>
          </a:p>
          <a:p>
            <a:pPr>
              <a:spcAft>
                <a:spcPts val="400"/>
              </a:spcAft>
            </a:pPr>
            <a:r>
              <a:rPr sz="1600" b="0">
                <a:solidFill>
                  <a:srgbClr val="FFFFFF"/>
                </a:solidFill>
                <a:latin typeface="맑은 고딕"/>
              </a:rPr>
              <a:t>•  AWR·ADDM·Automated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사후 대응 vs 사전 예방</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문제를 겪은 뒤가 아니라 미리 정비한다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사후 대응(Reactive): 성능 저하·장애가 드러난 뒤에 조치 → 서비스 중단·야근</a:t>
            </a:r>
          </a:p>
          <a:p>
            <a:pPr>
              <a:spcAft>
                <a:spcPts val="700"/>
              </a:spcAft>
            </a:pPr>
            <a:r>
              <a:rPr sz="1700" b="0">
                <a:solidFill>
                  <a:srgbClr val="222222"/>
                </a:solidFill>
                <a:latin typeface="맑은 고딕"/>
              </a:rPr>
              <a:t>•  사전 예방(Proactive): 데이터베이스가 스스로 관측·진단·정비 → 문제의 싹 제거</a:t>
            </a:r>
          </a:p>
          <a:p>
            <a:pPr>
              <a:spcAft>
                <a:spcPts val="700"/>
              </a:spcAft>
            </a:pPr>
            <a:r>
              <a:rPr sz="1700" b="0">
                <a:solidFill>
                  <a:srgbClr val="222222"/>
                </a:solidFill>
                <a:latin typeface="맑은 고딕"/>
              </a:rPr>
              <a:t>•  시스템이 커질수록 사람이 모든 유지관리를 손으로 챙기는 것은 불가능</a:t>
            </a:r>
          </a:p>
          <a:p>
            <a:pPr>
              <a:spcAft>
                <a:spcPts val="700"/>
              </a:spcAft>
            </a:pPr>
            <a:r>
              <a:rPr sz="1700" b="0">
                <a:solidFill>
                  <a:srgbClr val="222222"/>
                </a:solidFill>
                <a:latin typeface="맑은 고딕"/>
              </a:rPr>
              <a:t>•  DBA의 역할: 직접 수행 → 자동화 감독·정책 조정으로 이동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사전 예방적 관리의 세 기둥</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수집 → 진단 → 자동 실행</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AWR(Automatic Workload Repository): 성능·워크로드 통계를 주기적으로 수집·보관(SYSAUX)</a:t>
            </a:r>
          </a:p>
          <a:p>
            <a:pPr>
              <a:spcAft>
                <a:spcPts val="300"/>
              </a:spcAft>
            </a:pPr>
            <a:r>
              <a:rPr sz="1500" b="0">
                <a:solidFill>
                  <a:srgbClr val="333333"/>
                </a:solidFill>
                <a:latin typeface="맑은 고딕"/>
              </a:rPr>
              <a:t>   –  기본 1시간 간격 스냅샷, 8일 보존, MMON이 생성</a:t>
            </a:r>
          </a:p>
          <a:p>
            <a:pPr>
              <a:spcAft>
                <a:spcPts val="700"/>
              </a:spcAft>
            </a:pPr>
            <a:r>
              <a:rPr sz="1700" b="0">
                <a:solidFill>
                  <a:srgbClr val="222222"/>
                </a:solidFill>
                <a:latin typeface="맑은 고딕"/>
              </a:rPr>
              <a:t>•  ADDM/Advisor: AWR 데이터를 분석해 병목과 개선 권고 생성</a:t>
            </a:r>
          </a:p>
          <a:p>
            <a:pPr>
              <a:spcAft>
                <a:spcPts val="700"/>
              </a:spcAft>
            </a:pPr>
            <a:r>
              <a:rPr sz="1700" b="0">
                <a:solidFill>
                  <a:srgbClr val="222222"/>
                </a:solidFill>
                <a:latin typeface="맑은 고딕"/>
              </a:rPr>
              <a:t>•  Automated Maintenance Tasks: 진단·통계를 근거로 유지관리 윈도우에 실제 개선 수행</a:t>
            </a:r>
          </a:p>
          <a:p>
            <a:pPr>
              <a:spcAft>
                <a:spcPts val="700"/>
              </a:spcAft>
            </a:pPr>
            <a:r>
              <a:rPr sz="1700" b="0">
                <a:solidFill>
                  <a:srgbClr val="222222"/>
                </a:solidFill>
                <a:latin typeface="맑은 고딕"/>
              </a:rPr>
              <a:t>•  서버 생성 알림(Server-Generated Alerts): 이상 징후 조기 경보(32장)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29.2</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유지관리 작업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내장 + 자동 스케줄</a:t>
            </a:r>
          </a:p>
          <a:p>
            <a:pPr>
              <a:spcAft>
                <a:spcPts val="400"/>
              </a:spcAft>
            </a:pPr>
            <a:r>
              <a:rPr sz="1600" b="0">
                <a:solidFill>
                  <a:srgbClr val="FFFFFF"/>
                </a:solidFill>
                <a:latin typeface="맑은 고딕"/>
              </a:rPr>
              <a:t>•  '무엇을' vs '언제'의 분리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자동 유지관리 작업이란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데이터베이스에 내장되어 자동 실행되는 관리 작업</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데이터베이스 생성 시 이미 등록·활성화 → DBA가 별도로 만들 필요 없음</a:t>
            </a:r>
          </a:p>
          <a:p>
            <a:pPr>
              <a:spcAft>
                <a:spcPts val="700"/>
              </a:spcAft>
            </a:pPr>
            <a:r>
              <a:rPr sz="1700" b="0">
                <a:solidFill>
                  <a:srgbClr val="222222"/>
                </a:solidFill>
                <a:latin typeface="맑은 고딕"/>
              </a:rPr>
              <a:t>•  무거운 작업이므로 부하 적은 야간·주말 유지관리 윈도우에서 실행</a:t>
            </a:r>
          </a:p>
          <a:p>
            <a:pPr>
              <a:spcAft>
                <a:spcPts val="700"/>
              </a:spcAft>
            </a:pPr>
            <a:r>
              <a:rPr sz="1700" b="0">
                <a:solidFill>
                  <a:srgbClr val="222222"/>
                </a:solidFill>
                <a:latin typeface="맑은 고딕"/>
              </a:rPr>
              <a:t>•  '무엇을(작업)'과 '언제(윈도우)'가 분리, 스케줄러가 둘을 연결</a:t>
            </a:r>
          </a:p>
          <a:p>
            <a:pPr>
              <a:spcAft>
                <a:spcPts val="700"/>
              </a:spcAft>
            </a:pPr>
            <a:r>
              <a:rPr sz="1700" b="0">
                <a:solidFill>
                  <a:srgbClr val="222222"/>
                </a:solidFill>
                <a:latin typeface="맑은 고딕"/>
              </a:rPr>
              <a:t>•  DBMS_AUTO_TASK_ADMIN 패키지로 켜고 끔(30장), DBA_AUTOTASK_* 뷰로 조회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세 가지 사전 정의 작업</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하나의 프레임워크로 통합 관리</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① 자동 옵티마이저 통계 수집 → 최신 옵티마이저 통계</a:t>
            </a:r>
          </a:p>
          <a:p>
            <a:pPr>
              <a:spcAft>
                <a:spcPts val="700"/>
              </a:spcAft>
            </a:pPr>
            <a:r>
              <a:rPr sz="1700" b="0">
                <a:solidFill>
                  <a:srgbClr val="222222"/>
                </a:solidFill>
                <a:latin typeface="맑은 고딕"/>
              </a:rPr>
              <a:t>•  ② 자동 세그먼트 어드바이저 → SHRINK/재구성 권고</a:t>
            </a:r>
          </a:p>
          <a:p>
            <a:pPr>
              <a:spcAft>
                <a:spcPts val="700"/>
              </a:spcAft>
            </a:pPr>
            <a:r>
              <a:rPr sz="1700" b="0">
                <a:solidFill>
                  <a:srgbClr val="222222"/>
                </a:solidFill>
                <a:latin typeface="맑은 고딕"/>
              </a:rPr>
              <a:t>•  ③ 자동 SQL 튜닝 어드바이저 → SQL 프로파일 권고(선택적 자동 적용)</a:t>
            </a:r>
          </a:p>
          <a:p>
            <a:pPr>
              <a:spcAft>
                <a:spcPts val="700"/>
              </a:spcAft>
            </a:pPr>
            <a:r>
              <a:rPr sz="1700" b="0">
                <a:solidFill>
                  <a:srgbClr val="222222"/>
                </a:solidFill>
                <a:latin typeface="맑은 고딕"/>
              </a:rPr>
              <a:t>•  공통 시간 틀(윈도우) + 공통 자원 틀(DEFAULT_MAINTENANCE_PLAN) 아래 통합</a:t>
            </a:r>
          </a:p>
          <a:p>
            <a:pPr>
              <a:spcAft>
                <a:spcPts val="700"/>
              </a:spcAft>
            </a:pPr>
            <a:r>
              <a:rPr sz="1700" b="0">
                <a:solidFill>
                  <a:srgbClr val="222222"/>
                </a:solidFill>
                <a:latin typeface="맑은 고딕"/>
              </a:rPr>
              <a:t>•  관리되는(managed) 작업: 실행 시점·자원·중단·재개를 프레임워크가 조율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29.3</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옵티마이저 통계 수집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DBMS_STATS 기반</a:t>
            </a:r>
          </a:p>
          <a:p>
            <a:pPr>
              <a:spcAft>
                <a:spcPts val="400"/>
              </a:spcAft>
            </a:pPr>
            <a:r>
              <a:rPr sz="1600" b="0">
                <a:solidFill>
                  <a:srgbClr val="FFFFFF"/>
                </a:solidFill>
                <a:latin typeface="맑은 고딕"/>
              </a:rPr>
              <a:t>•  stale/missing 통계 갱신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왜 통계 자동 수집인가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통계가 낡으면 실행 계획이 뒤틀린다</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옵티마이저(CBO)는 행 수·값 분포·선택도 통계로 실행 계획 수립</a:t>
            </a:r>
          </a:p>
          <a:p>
            <a:pPr>
              <a:spcAft>
                <a:spcPts val="700"/>
              </a:spcAft>
            </a:pPr>
            <a:r>
              <a:rPr sz="1700" b="0">
                <a:solidFill>
                  <a:srgbClr val="222222"/>
                </a:solidFill>
                <a:latin typeface="맑은 고딕"/>
              </a:rPr>
              <a:t>•  통계가 실제 데이터와 어긋나면 잘못된 계획 → 심각한 성능 저하</a:t>
            </a:r>
          </a:p>
          <a:p>
            <a:pPr>
              <a:spcAft>
                <a:spcPts val="700"/>
              </a:spcAft>
            </a:pPr>
            <a:r>
              <a:rPr sz="1700" b="0">
                <a:solidFill>
                  <a:srgbClr val="222222"/>
                </a:solidFill>
                <a:latin typeface="맑은 고딕"/>
              </a:rPr>
              <a:t>•  예: 통계상 100건인 테이블에 실제 1000만 건 → 부적절한 조인 선택</a:t>
            </a:r>
          </a:p>
          <a:p>
            <a:pPr>
              <a:spcAft>
                <a:spcPts val="700"/>
              </a:spcAft>
            </a:pPr>
            <a:r>
              <a:rPr sz="1700" b="0">
                <a:solidFill>
                  <a:srgbClr val="222222"/>
                </a:solidFill>
                <a:latin typeface="맑은 고딕"/>
              </a:rPr>
              <a:t>•  자동 통계 수집이 내부적으로 DBMS_STATS로 갱신을 자동화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stale·missing 통계의 처리</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변경 10% 초과 → stale 표시 → 야간 갱신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DML 변경량 모니터링: 마지막 수집 후 약 10% 변경 시 stale로 표시</a:t>
            </a:r>
          </a:p>
          <a:p>
            <a:pPr>
              <a:spcAft>
                <a:spcPts val="700"/>
              </a:spcAft>
            </a:pPr>
            <a:r>
              <a:rPr sz="1700" b="0">
                <a:solidFill>
                  <a:srgbClr val="222222"/>
                </a:solidFill>
                <a:latin typeface="맑은 고딕"/>
              </a:rPr>
              <a:t>•  통계가 아예 없는(missing) 객체를 더 시급한 것으로 우선 처리</a:t>
            </a:r>
          </a:p>
          <a:p>
            <a:pPr>
              <a:spcAft>
                <a:spcPts val="700"/>
              </a:spcAft>
            </a:pPr>
            <a:r>
              <a:rPr sz="1700" b="0">
                <a:solidFill>
                  <a:srgbClr val="222222"/>
                </a:solidFill>
                <a:latin typeface="맑은 고딕"/>
              </a:rPr>
              <a:t>•  야간 윈도우에서 GATHER_DATABASE_STATS_JOB_PROC로 자동 수집</a:t>
            </a:r>
          </a:p>
          <a:p>
            <a:pPr>
              <a:spcAft>
                <a:spcPts val="700"/>
              </a:spcAft>
            </a:pPr>
            <a:r>
              <a:rPr sz="1700" b="0">
                <a:solidFill>
                  <a:srgbClr val="222222"/>
                </a:solidFill>
                <a:latin typeface="맑은 고딕"/>
              </a:rPr>
              <a:t>•  AUTOSTATS_TARGET(AUTO/ALL/ORACLE), 파티션 증분 통계로 시간 단축</a:t>
            </a:r>
          </a:p>
          <a:p>
            <a:pPr>
              <a:spcAft>
                <a:spcPts val="700"/>
              </a:spcAft>
            </a:pPr>
            <a:r>
              <a:rPr sz="1700" b="0">
                <a:solidFill>
                  <a:srgbClr val="222222"/>
                </a:solidFill>
                <a:latin typeface="맑은 고딕"/>
              </a:rPr>
              <a:t>•  대량 적재 직후 즉시 필요하면 수동 GATHER_TABLE_STATS 권장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통계 상태 조회</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변경량과 stale 여부 확인</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lnSpc>
                <a:spcPct val="100000"/>
              </a:lnSpc>
              <a:spcAft>
                <a:spcPts val="0"/>
              </a:spcAft>
            </a:pPr>
            <a:r>
              <a:rPr sz="1250" b="0">
                <a:solidFill>
                  <a:srgbClr val="F2F2F2"/>
                </a:solidFill>
                <a:latin typeface="Consolas"/>
              </a:rPr>
              <a:t>-- DML 변경량 모니터링 정보</a:t>
            </a:r>
          </a:p>
          <a:p>
            <a:pPr>
              <a:lnSpc>
                <a:spcPct val="100000"/>
              </a:lnSpc>
              <a:spcAft>
                <a:spcPts val="0"/>
              </a:spcAft>
            </a:pPr>
            <a:r>
              <a:rPr sz="1250" b="0">
                <a:solidFill>
                  <a:srgbClr val="F2F2F2"/>
                </a:solidFill>
                <a:latin typeface="Consolas"/>
              </a:rPr>
              <a:t>SELECT table_name, inserts, updates, deletes, truncated</a:t>
            </a:r>
          </a:p>
          <a:p>
            <a:pPr>
              <a:lnSpc>
                <a:spcPct val="100000"/>
              </a:lnSpc>
              <a:spcAft>
                <a:spcPts val="0"/>
              </a:spcAft>
            </a:pPr>
            <a:r>
              <a:rPr sz="1250" b="0">
                <a:solidFill>
                  <a:srgbClr val="F2F2F2"/>
                </a:solidFill>
                <a:latin typeface="Consolas"/>
              </a:rPr>
              <a:t>  FROM  user_tab_modifications</a:t>
            </a:r>
          </a:p>
          <a:p>
            <a:pPr>
              <a:lnSpc>
                <a:spcPct val="100000"/>
              </a:lnSpc>
              <a:spcAft>
                <a:spcPts val="0"/>
              </a:spcAft>
            </a:pPr>
            <a:r>
              <a:rPr sz="1250" b="0">
                <a:solidFill>
                  <a:srgbClr val="F2F2F2"/>
                </a:solidFill>
                <a:latin typeface="Consolas"/>
              </a:rPr>
              <a:t> WHERE table_name = 'ORDERS';</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 통계 stale 여부와 마지막 수집 시각</a:t>
            </a:r>
          </a:p>
          <a:p>
            <a:pPr>
              <a:lnSpc>
                <a:spcPct val="100000"/>
              </a:lnSpc>
              <a:spcAft>
                <a:spcPts val="0"/>
              </a:spcAft>
            </a:pPr>
            <a:r>
              <a:rPr sz="1250" b="0">
                <a:solidFill>
                  <a:srgbClr val="F2F2F2"/>
                </a:solidFill>
                <a:latin typeface="Consolas"/>
              </a:rPr>
              <a:t>SELECT table_name, stale_stats, last_analyzed</a:t>
            </a:r>
          </a:p>
          <a:p>
            <a:pPr>
              <a:lnSpc>
                <a:spcPct val="100000"/>
              </a:lnSpc>
              <a:spcAft>
                <a:spcPts val="0"/>
              </a:spcAft>
            </a:pPr>
            <a:r>
              <a:rPr sz="1250" b="0">
                <a:solidFill>
                  <a:srgbClr val="F2F2F2"/>
                </a:solidFill>
                <a:latin typeface="Consolas"/>
              </a:rPr>
              <a:t>  FROM  user_tab_statistics</a:t>
            </a:r>
          </a:p>
          <a:p>
            <a:pPr>
              <a:lnSpc>
                <a:spcPct val="100000"/>
              </a:lnSpc>
              <a:spcAft>
                <a:spcPts val="0"/>
              </a:spcAft>
            </a:pPr>
            <a:r>
              <a:rPr sz="1250" b="0">
                <a:solidFill>
                  <a:srgbClr val="F2F2F2"/>
                </a:solidFill>
                <a:latin typeface="Consolas"/>
              </a:rPr>
              <a:t> WHERE table_name = 'ORDERS';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29.4</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세그먼트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공간 낭비 세그먼트 식별</a:t>
            </a:r>
          </a:p>
          <a:p>
            <a:pPr>
              <a:spcAft>
                <a:spcPts val="400"/>
              </a:spcAft>
            </a:pPr>
            <a:r>
              <a:rPr sz="1600" b="0">
                <a:solidFill>
                  <a:srgbClr val="FFFFFF"/>
                </a:solidFill>
                <a:latin typeface="맑은 고딕"/>
              </a:rPr>
              <a:t>•  SHRINK 권고 생성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세그먼트 조각화 문제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DELETE/UPDATE 반복 → 빈 공간 흩어짐</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DELETE·UPDATE가 반복되면 세그먼트 내부에 빈 공간(hole) 발생</a:t>
            </a:r>
          </a:p>
          <a:p>
            <a:pPr>
              <a:spcAft>
                <a:spcPts val="700"/>
              </a:spcAft>
            </a:pPr>
            <a:r>
              <a:rPr sz="1700" b="0">
                <a:solidFill>
                  <a:srgbClr val="222222"/>
                </a:solidFill>
                <a:latin typeface="맑은 고딕"/>
              </a:rPr>
              <a:t>•  실제 데이터 대비 세그먼트가 과도하게 큼 → 디스크 낭비</a:t>
            </a:r>
          </a:p>
          <a:p>
            <a:pPr>
              <a:spcAft>
                <a:spcPts val="700"/>
              </a:spcAft>
            </a:pPr>
            <a:r>
              <a:rPr sz="1700" b="0">
                <a:solidFill>
                  <a:srgbClr val="222222"/>
                </a:solidFill>
                <a:latin typeface="맑은 고딕"/>
              </a:rPr>
              <a:t>•  풀 스캔 시 읽을 블록 수 증가 → 성능 저하까지</a:t>
            </a:r>
          </a:p>
          <a:p>
            <a:pPr>
              <a:spcAft>
                <a:spcPts val="700"/>
              </a:spcAft>
            </a:pPr>
            <a:r>
              <a:rPr sz="1700" b="0">
                <a:solidFill>
                  <a:srgbClr val="222222"/>
                </a:solidFill>
                <a:latin typeface="맑은 고딕"/>
              </a:rPr>
              <a:t>•  자동 세그먼트 어드바이저: 공간 비효율 세그먼트를 자동 식별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권고만 생성, 실행은 DBA</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SHRINK는 잠금·행 이동을 수반</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어드바이저는 SHRINK '권고'만 생성, 자동 실행하지 않음</a:t>
            </a:r>
          </a:p>
          <a:p>
            <a:pPr>
              <a:spcAft>
                <a:spcPts val="700"/>
              </a:spcAft>
            </a:pPr>
            <a:r>
              <a:rPr sz="1700" b="0">
                <a:solidFill>
                  <a:srgbClr val="222222"/>
                </a:solidFill>
                <a:latin typeface="맑은 고딕"/>
              </a:rPr>
              <a:t>•  SHRINK: 행을 앞으로 다지고 HWM를 낮춰 공간 반환</a:t>
            </a:r>
          </a:p>
          <a:p>
            <a:pPr>
              <a:spcAft>
                <a:spcPts val="700"/>
              </a:spcAft>
            </a:pPr>
            <a:r>
              <a:rPr sz="1700" b="0">
                <a:solidFill>
                  <a:srgbClr val="222222"/>
                </a:solidFill>
                <a:latin typeface="맑은 고딕"/>
              </a:rPr>
              <a:t>•  선행 조건: ALTER TABLE ... ENABLE ROW MOVEMENT</a:t>
            </a:r>
          </a:p>
          <a:p>
            <a:pPr>
              <a:spcAft>
                <a:spcPts val="700"/>
              </a:spcAft>
            </a:pPr>
            <a:r>
              <a:rPr sz="1700" b="0">
                <a:solidFill>
                  <a:srgbClr val="222222"/>
                </a:solidFill>
                <a:latin typeface="맑은 고딕"/>
              </a:rPr>
              <a:t>•  ASSM 테이블스페이스 세그먼트에만 적용 가능</a:t>
            </a:r>
          </a:p>
          <a:p>
            <a:pPr>
              <a:spcAft>
                <a:spcPts val="700"/>
              </a:spcAft>
            </a:pPr>
            <a:r>
              <a:rPr sz="1700" b="0">
                <a:solidFill>
                  <a:srgbClr val="222222"/>
                </a:solidFill>
                <a:latin typeface="맑은 고딕"/>
              </a:rPr>
              <a:t>•  권고는 DBA_ADVISOR_FINDINGS / EM 화면으로 검토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29.5</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SQL 튜닝 어드바이저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AWR 상위 SQL 분석</a:t>
            </a:r>
          </a:p>
          <a:p>
            <a:pPr>
              <a:spcAft>
                <a:spcPts val="400"/>
              </a:spcAft>
            </a:pPr>
            <a:r>
              <a:rPr sz="1600" b="0">
                <a:solidFill>
                  <a:srgbClr val="FFFFFF"/>
                </a:solidFill>
                <a:latin typeface="맑은 고딕"/>
              </a:rPr>
              <a:t>•  SQL 프로파일 권고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고부하 SQL 자동 분석</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AWR에서 상위 SQL을 스스로 선정</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AWR에 축적된 실행 통계에서 CPU+I/O 부하가 큰 상위 SQL 선정</a:t>
            </a:r>
          </a:p>
          <a:p>
            <a:pPr>
              <a:spcAft>
                <a:spcPts val="700"/>
              </a:spcAft>
            </a:pPr>
            <a:r>
              <a:rPr sz="1700" b="0">
                <a:solidFill>
                  <a:srgbClr val="222222"/>
                </a:solidFill>
                <a:latin typeface="맑은 고딕"/>
              </a:rPr>
              <a:t>•  여러 시간대에 반복적으로 무겁게 나타난 SQL 우선</a:t>
            </a:r>
          </a:p>
          <a:p>
            <a:pPr>
              <a:spcAft>
                <a:spcPts val="700"/>
              </a:spcAft>
            </a:pPr>
            <a:r>
              <a:rPr sz="1700" b="0">
                <a:solidFill>
                  <a:srgbClr val="222222"/>
                </a:solidFill>
                <a:latin typeface="맑은 고딕"/>
              </a:rPr>
              <a:t>•  제외: 일회성 SQL, 이미 튜닝된 SQL, 병렬 쿼리, DDL</a:t>
            </a:r>
          </a:p>
          <a:p>
            <a:pPr>
              <a:spcAft>
                <a:spcPts val="700"/>
              </a:spcAft>
            </a:pPr>
            <a:r>
              <a:rPr sz="1700" b="0">
                <a:solidFill>
                  <a:srgbClr val="222222"/>
                </a:solidFill>
                <a:latin typeface="맑은 고딕"/>
              </a:rPr>
              <a:t>•  네 가지 분석: 통계·SQL 프로파일링·액세스 경로·SQL 구조</a:t>
            </a:r>
          </a:p>
          <a:p>
            <a:pPr>
              <a:spcAft>
                <a:spcPts val="700"/>
              </a:spcAft>
            </a:pPr>
            <a:r>
              <a:rPr sz="1700" b="0">
                <a:solidFill>
                  <a:srgbClr val="222222"/>
                </a:solidFill>
                <a:latin typeface="맑은 고딕"/>
              </a:rPr>
              <a:t>•  자동 적용 대상은 SQL 프로파일에 한정(Tuning Pack 필요)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SQL 프로파일과 자동 적용</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문장을 고치지 않고 더 나은 계획 유도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SQL 프로파일: 옵티마이저에 보정 통계를 제공하는 보조 객체</a:t>
            </a:r>
          </a:p>
          <a:p>
            <a:pPr>
              <a:spcAft>
                <a:spcPts val="700"/>
              </a:spcAft>
            </a:pPr>
            <a:r>
              <a:rPr sz="1700" b="0">
                <a:solidFill>
                  <a:srgbClr val="222222"/>
                </a:solidFill>
                <a:latin typeface="맑은 고딕"/>
              </a:rPr>
              <a:t>•  문장 자체를 바꾸지 않고 더 나은 실행 계획 유도</a:t>
            </a:r>
          </a:p>
          <a:p>
            <a:pPr>
              <a:spcAft>
                <a:spcPts val="700"/>
              </a:spcAft>
            </a:pPr>
            <a:r>
              <a:rPr sz="1700" b="0">
                <a:solidFill>
                  <a:srgbClr val="222222"/>
                </a:solidFill>
                <a:latin typeface="맑은 고딕"/>
              </a:rPr>
              <a:t>•  ACCEPT_SQL_PROFILES=TRUE 시 3배 이상 개선 검증된 프로파일만 자동 적용</a:t>
            </a:r>
          </a:p>
          <a:p>
            <a:pPr>
              <a:spcAft>
                <a:spcPts val="700"/>
              </a:spcAft>
            </a:pPr>
            <a:r>
              <a:rPr sz="1700" b="0">
                <a:solidFill>
                  <a:srgbClr val="222222"/>
                </a:solidFill>
                <a:latin typeface="맑은 고딕"/>
              </a:rPr>
              <a:t>•  기본값은 자동 적용 OFF → 권고만 남김</a:t>
            </a:r>
          </a:p>
          <a:p>
            <a:pPr>
              <a:spcAft>
                <a:spcPts val="700"/>
              </a:spcAft>
            </a:pPr>
            <a:r>
              <a:rPr sz="1700" b="0">
                <a:solidFill>
                  <a:srgbClr val="222222"/>
                </a:solidFill>
                <a:latin typeface="맑은 고딕"/>
              </a:rPr>
              <a:t>•  결과는 DBMS_AUTO_SQLTUNE.REPORT_AUTO_TUNING_TASK로 확인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29.6</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유지관리 윈도우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작업이 실행되는 시간 구간</a:t>
            </a:r>
          </a:p>
          <a:p>
            <a:pPr>
              <a:spcAft>
                <a:spcPts val="400"/>
              </a:spcAft>
            </a:pPr>
            <a:r>
              <a:rPr sz="1600" b="0">
                <a:solidFill>
                  <a:srgbClr val="FFFFFF"/>
                </a:solidFill>
                <a:latin typeface="맑은 고딕"/>
              </a:rPr>
              <a:t>•  스케줄·지속시간·리소스플랜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유지관리 윈도우란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자동 작업이 실행되도록 허용된 시간 구간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스케줄러의 윈도우(window) 객체: 특정 시각 시작, 정해진 기간 지속, 반복</a:t>
            </a:r>
          </a:p>
          <a:p>
            <a:pPr>
              <a:spcAft>
                <a:spcPts val="700"/>
              </a:spcAft>
            </a:pPr>
            <a:r>
              <a:rPr sz="1700" b="0">
                <a:solidFill>
                  <a:srgbClr val="222222"/>
                </a:solidFill>
                <a:latin typeface="맑은 고딕"/>
              </a:rPr>
              <a:t>•  윈도우가 '열린' 동안에만 자동 유지관리 작업 실행</a:t>
            </a:r>
          </a:p>
          <a:p>
            <a:pPr>
              <a:spcAft>
                <a:spcPts val="700"/>
              </a:spcAft>
            </a:pPr>
            <a:r>
              <a:rPr sz="1700" b="0">
                <a:solidFill>
                  <a:srgbClr val="222222"/>
                </a:solidFill>
                <a:latin typeface="맑은 고딕"/>
              </a:rPr>
              <a:t>•  세 가지 속성: 스케줄(언제) · 지속 시간(얼마나) · 리소스 플랜(자원)</a:t>
            </a:r>
          </a:p>
          <a:p>
            <a:pPr>
              <a:spcAft>
                <a:spcPts val="700"/>
              </a:spcAft>
            </a:pPr>
            <a:r>
              <a:rPr sz="1700" b="0">
                <a:solidFill>
                  <a:srgbClr val="222222"/>
                </a:solidFill>
                <a:latin typeface="맑은 고딕"/>
              </a:rPr>
              <a:t>•  윈도우 열림 = 스케줄러가 코디네이터를 깨우는 트리거</a:t>
            </a:r>
          </a:p>
          <a:p>
            <a:pPr>
              <a:spcAft>
                <a:spcPts val="700"/>
              </a:spcAft>
            </a:pPr>
            <a:r>
              <a:rPr sz="1700" b="0">
                <a:solidFill>
                  <a:srgbClr val="222222"/>
                </a:solidFill>
                <a:latin typeface="맑은 고딕"/>
              </a:rPr>
              <a:t>•  수동 OPEN/CLOSE로 즉석 유지관리 시간대 생성·조기 종료 가능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29.7</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사전 정의된 윈도우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요일별 윈도우 + 주말</a:t>
            </a:r>
          </a:p>
          <a:p>
            <a:pPr>
              <a:spcAft>
                <a:spcPts val="400"/>
              </a:spcAft>
            </a:pPr>
            <a:r>
              <a:rPr sz="1600" b="0">
                <a:solidFill>
                  <a:srgbClr val="FFFFFF"/>
                </a:solidFill>
                <a:latin typeface="맑은 고딕"/>
              </a:rPr>
              <a:t>•  평일 4h / 주말 20h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요일별·주말 윈도우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일주일을 빈틈없이 덮는 설계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MONDAY_WINDOW ~ FRIDAY_WINDOW: 밤 10시 시작, 4시간</a:t>
            </a:r>
          </a:p>
          <a:p>
            <a:pPr>
              <a:spcAft>
                <a:spcPts val="700"/>
              </a:spcAft>
            </a:pPr>
            <a:r>
              <a:rPr sz="1700" b="0">
                <a:solidFill>
                  <a:srgbClr val="222222"/>
                </a:solidFill>
                <a:latin typeface="맑은 고딕"/>
              </a:rPr>
              <a:t>•  SATURDAY_WINDOW / SUNDAY_WINDOW: 오전 6시 시작, 20시간</a:t>
            </a:r>
          </a:p>
          <a:p>
            <a:pPr>
              <a:spcAft>
                <a:spcPts val="700"/>
              </a:spcAft>
            </a:pPr>
            <a:r>
              <a:rPr sz="1700" b="0">
                <a:solidFill>
                  <a:srgbClr val="222222"/>
                </a:solidFill>
                <a:latin typeface="맑은 고딕"/>
              </a:rPr>
              <a:t>•  평일: 급한 통계·가벼운 분석만 빠르게 (다음날 업무 배려)</a:t>
            </a:r>
          </a:p>
          <a:p>
            <a:pPr>
              <a:spcAft>
                <a:spcPts val="700"/>
              </a:spcAft>
            </a:pPr>
            <a:r>
              <a:rPr sz="1700" b="0">
                <a:solidFill>
                  <a:srgbClr val="222222"/>
                </a:solidFill>
                <a:latin typeface="맑은 고딕"/>
              </a:rPr>
              <a:t>•  주말: 밀린 무거운 대상까지 철저히 (긴 창 확보)</a:t>
            </a:r>
          </a:p>
          <a:p>
            <a:pPr>
              <a:spcAft>
                <a:spcPts val="700"/>
              </a:spcAft>
            </a:pPr>
            <a:r>
              <a:rPr sz="1700" b="0">
                <a:solidFill>
                  <a:srgbClr val="222222"/>
                </a:solidFill>
                <a:latin typeface="맑은 고딕"/>
              </a:rPr>
              <a:t>•  구 버전 WEEKNIGHT_WINDOW/WEEKEND_WINDOW → 요일별 윈도우로 세분화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사전 정의된 윈도우 조회</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DBA_SCHEDULER_WINDOWS</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lnSpc>
                <a:spcPct val="100000"/>
              </a:lnSpc>
              <a:spcAft>
                <a:spcPts val="0"/>
              </a:spcAft>
            </a:pPr>
            <a:r>
              <a:rPr sz="1250" b="0">
                <a:solidFill>
                  <a:srgbClr val="F2F2F2"/>
                </a:solidFill>
                <a:latin typeface="Consolas"/>
              </a:rPr>
              <a:t>SELECT window_name, repeat_interval, duration, enabled</a:t>
            </a:r>
          </a:p>
          <a:p>
            <a:pPr>
              <a:lnSpc>
                <a:spcPct val="100000"/>
              </a:lnSpc>
              <a:spcAft>
                <a:spcPts val="0"/>
              </a:spcAft>
            </a:pPr>
            <a:r>
              <a:rPr sz="1250" b="0">
                <a:solidFill>
                  <a:srgbClr val="F2F2F2"/>
                </a:solidFill>
                <a:latin typeface="Consolas"/>
              </a:rPr>
              <a:t>  FROM  dba_scheduler_windows</a:t>
            </a:r>
          </a:p>
          <a:p>
            <a:pPr>
              <a:lnSpc>
                <a:spcPct val="100000"/>
              </a:lnSpc>
              <a:spcAft>
                <a:spcPts val="0"/>
              </a:spcAft>
            </a:pPr>
            <a:r>
              <a:rPr sz="1250" b="0">
                <a:solidFill>
                  <a:srgbClr val="F2F2F2"/>
                </a:solidFill>
                <a:latin typeface="Consolas"/>
              </a:rPr>
              <a:t> ORDER BY window_name;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WINDOW_NAME       REPEAT_INTERVAL                           DURATION      ENABLED</a:t>
            </a:r>
          </a:p>
          <a:p>
            <a:pPr>
              <a:lnSpc>
                <a:spcPct val="100000"/>
              </a:lnSpc>
              <a:spcAft>
                <a:spcPts val="0"/>
              </a:spcAft>
            </a:pPr>
            <a:r>
              <a:rPr sz="1250" b="0">
                <a:solidFill>
                  <a:srgbClr val="F2F2F2"/>
                </a:solidFill>
                <a:latin typeface="Consolas"/>
              </a:rPr>
              <a:t>----------------- ----------------------------------------- ------------- -------</a:t>
            </a:r>
          </a:p>
          <a:p>
            <a:pPr>
              <a:lnSpc>
                <a:spcPct val="100000"/>
              </a:lnSpc>
              <a:spcAft>
                <a:spcPts val="0"/>
              </a:spcAft>
            </a:pPr>
            <a:r>
              <a:rPr sz="1250" b="0">
                <a:solidFill>
                  <a:srgbClr val="F2F2F2"/>
                </a:solidFill>
                <a:latin typeface="Consolas"/>
              </a:rPr>
              <a:t>MONDAY_WINDOW     freq=daily;byday=MON;byhour=22;byminute=0  +000 04:00:00 TRUE</a:t>
            </a:r>
          </a:p>
          <a:p>
            <a:pPr>
              <a:lnSpc>
                <a:spcPct val="100000"/>
              </a:lnSpc>
              <a:spcAft>
                <a:spcPts val="0"/>
              </a:spcAft>
            </a:pPr>
            <a:r>
              <a:rPr sz="1250" b="0">
                <a:solidFill>
                  <a:srgbClr val="F2F2F2"/>
                </a:solidFill>
                <a:latin typeface="Consolas"/>
              </a:rPr>
              <a:t>SATURDAY_WINDOW   freq=daily;byday=SAT;byhour=6;byminute=0   +000 20:00:00 TRUE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29.8</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윈도우 그룹과 리소스 관리자 연동</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MAINTENANCE_WINDOW_GROUP</a:t>
            </a:r>
          </a:p>
          <a:p>
            <a:pPr>
              <a:spcAft>
                <a:spcPts val="400"/>
              </a:spcAft>
            </a:pPr>
            <a:r>
              <a:rPr sz="1600" b="0">
                <a:solidFill>
                  <a:srgbClr val="FFFFFF"/>
                </a:solidFill>
                <a:latin typeface="맑은 고딕"/>
              </a:rPr>
              <a:t>•  DEFAULT_MAINTENANCE_PLAN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윈도우 그룹</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요일별 윈도우를 하나로 묶어 관리</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요일별 윈도우 7개 → MAINTENANCE_WINDOW_GROUP으로 묶임</a:t>
            </a:r>
          </a:p>
          <a:p>
            <a:pPr>
              <a:spcAft>
                <a:spcPts val="700"/>
              </a:spcAft>
            </a:pPr>
            <a:r>
              <a:rPr sz="1700" b="0">
                <a:solidFill>
                  <a:srgbClr val="222222"/>
                </a:solidFill>
                <a:latin typeface="맑은 고딕"/>
              </a:rPr>
              <a:t>•  자동 유지관리 작업은 개별 윈도우가 아니라 이 그룹에 연결</a:t>
            </a:r>
          </a:p>
          <a:p>
            <a:pPr>
              <a:spcAft>
                <a:spcPts val="700"/>
              </a:spcAft>
            </a:pPr>
            <a:r>
              <a:rPr sz="1700" b="0">
                <a:solidFill>
                  <a:srgbClr val="222222"/>
                </a:solidFill>
                <a:latin typeface="맑은 고딕"/>
              </a:rPr>
              <a:t>•  그룹의 어떤 윈도우든 열리면 자동 작업 실행</a:t>
            </a:r>
          </a:p>
          <a:p>
            <a:pPr>
              <a:spcAft>
                <a:spcPts val="700"/>
              </a:spcAft>
            </a:pPr>
            <a:r>
              <a:rPr sz="1700" b="0">
                <a:solidFill>
                  <a:srgbClr val="222222"/>
                </a:solidFill>
                <a:latin typeface="맑은 고딕"/>
              </a:rPr>
              <a:t>•  요일 제외/추가로 유지관리 일정을 유연하게 조정</a:t>
            </a:r>
          </a:p>
          <a:p>
            <a:pPr>
              <a:spcAft>
                <a:spcPts val="700"/>
              </a:spcAft>
            </a:pPr>
            <a:r>
              <a:rPr sz="1700" b="0">
                <a:solidFill>
                  <a:srgbClr val="222222"/>
                </a:solidFill>
                <a:latin typeface="맑은 고딕"/>
              </a:rPr>
              <a:t>•  멤버 확인: DBA_SCHEDULER_WINGROUP_MEMBERS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리소스 관리자 연동</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윈도우 열림 → 자동으로 자원 한도 적용</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윈도우 열림 시 DEFAULT_MAINTENANCE_PLAN 자동 활성화, 닫히면 원복</a:t>
            </a:r>
          </a:p>
          <a:p>
            <a:pPr>
              <a:spcAft>
                <a:spcPts val="700"/>
              </a:spcAft>
            </a:pPr>
            <a:r>
              <a:rPr sz="1700" b="0">
                <a:solidFill>
                  <a:srgbClr val="222222"/>
                </a:solidFill>
                <a:latin typeface="맑은 고딕"/>
              </a:rPr>
              <a:t>•  유지관리 작업 전용 소비자 그룹 ORA$AUTOTASK 정의</a:t>
            </a:r>
          </a:p>
          <a:p>
            <a:pPr>
              <a:spcAft>
                <a:spcPts val="700"/>
              </a:spcAft>
            </a:pPr>
            <a:r>
              <a:rPr sz="1700" b="0">
                <a:solidFill>
                  <a:srgbClr val="222222"/>
                </a:solidFill>
                <a:latin typeface="맑은 고딕"/>
              </a:rPr>
              <a:t>•  유지관리 작업 전체 자원 상한 통제(예: CPU 최대 25% 수준)</a:t>
            </a:r>
          </a:p>
          <a:p>
            <a:pPr>
              <a:spcAft>
                <a:spcPts val="700"/>
              </a:spcAft>
            </a:pPr>
            <a:r>
              <a:rPr sz="1700" b="0">
                <a:solidFill>
                  <a:srgbClr val="222222"/>
                </a:solidFill>
                <a:latin typeface="맑은 고딕"/>
              </a:rPr>
              <a:t>•  나머지 자원은 그 시간대의 다른 작업을 위해 남겨 둠</a:t>
            </a:r>
          </a:p>
          <a:p>
            <a:pPr>
              <a:spcAft>
                <a:spcPts val="700"/>
              </a:spcAft>
            </a:pPr>
            <a:r>
              <a:rPr sz="1700" b="0">
                <a:solidFill>
                  <a:srgbClr val="222222"/>
                </a:solidFill>
                <a:latin typeface="맑은 고딕"/>
              </a:rPr>
              <a:t>•  자원 배분 조정은 30장에서 실습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29.9</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자동 유지관리 작업 전체 흐름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큐잉 → 실행</a:t>
            </a:r>
          </a:p>
          <a:p>
            <a:pPr>
              <a:spcAft>
                <a:spcPts val="400"/>
              </a:spcAft>
            </a:pPr>
            <a:r>
              <a:rPr sz="1600" b="0">
                <a:solidFill>
                  <a:srgbClr val="FFFFFF"/>
                </a:solidFill>
                <a:latin typeface="맑은 고딕"/>
              </a:rPr>
              <a:t>•  윈도우 종료 시 중단·이월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작업의 생애주기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윈도우 시작부터 이월까지</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① 윈도우 시작: 그룹의 윈도우가 열리고 DEFAULT_MAINTENANCE_PLAN 활성화</a:t>
            </a:r>
          </a:p>
          <a:p>
            <a:pPr>
              <a:spcAft>
                <a:spcPts val="700"/>
              </a:spcAft>
            </a:pPr>
            <a:r>
              <a:rPr sz="1700" b="0">
                <a:solidFill>
                  <a:srgbClr val="222222"/>
                </a:solidFill>
                <a:latin typeface="맑은 고딕"/>
              </a:rPr>
              <a:t>•  ② 큐잉: 코디네이터가 실행할 작업을 우선순위에 따라 큐에 등록</a:t>
            </a:r>
          </a:p>
          <a:p>
            <a:pPr>
              <a:spcAft>
                <a:spcPts val="700"/>
              </a:spcAft>
            </a:pPr>
            <a:r>
              <a:rPr sz="1700" b="0">
                <a:solidFill>
                  <a:srgbClr val="222222"/>
                </a:solidFill>
                <a:latin typeface="맑은 고딕"/>
              </a:rPr>
              <a:t>•  ③ 실행: 자원 한도 안에서 병렬 실행, 진행 상황 딕셔너리 기록</a:t>
            </a:r>
          </a:p>
          <a:p>
            <a:pPr>
              <a:spcAft>
                <a:spcPts val="700"/>
              </a:spcAft>
            </a:pPr>
            <a:r>
              <a:rPr sz="1700" b="0">
                <a:solidFill>
                  <a:srgbClr val="222222"/>
                </a:solidFill>
                <a:latin typeface="맑은 고딕"/>
              </a:rPr>
              <a:t>•  ④ 윈도우 종료: 미완료 작업을 안전하게 중단(stop)</a:t>
            </a:r>
          </a:p>
          <a:p>
            <a:pPr>
              <a:spcAft>
                <a:spcPts val="700"/>
              </a:spcAft>
            </a:pPr>
            <a:r>
              <a:rPr sz="1700" b="0">
                <a:solidFill>
                  <a:srgbClr val="222222"/>
                </a:solidFill>
                <a:latin typeface="맑은 고딕"/>
              </a:rPr>
              <a:t>•  ⑤ 이월: 남은 작업은 다음 윈도우에서 이어서 처리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'중단'은 실패가 아니다 · 흐름 관측</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이월 메커니즘과 이력 뷰</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윈도우 종료로 인한 중단은 오류가 아니라 설계된 정상 동작</a:t>
            </a:r>
          </a:p>
          <a:p>
            <a:pPr>
              <a:spcAft>
                <a:spcPts val="700"/>
              </a:spcAft>
            </a:pPr>
            <a:r>
              <a:rPr sz="1700" b="0">
                <a:solidFill>
                  <a:srgbClr val="222222"/>
                </a:solidFill>
                <a:latin typeface="맑은 고딕"/>
              </a:rPr>
              <a:t>•  남은 작업은 다음 윈도우에서 이어짐 → 걱정할 필요 없음</a:t>
            </a:r>
          </a:p>
          <a:p>
            <a:pPr>
              <a:spcAft>
                <a:spcPts val="700"/>
              </a:spcAft>
            </a:pPr>
            <a:r>
              <a:rPr sz="1700" b="0">
                <a:solidFill>
                  <a:srgbClr val="222222"/>
                </a:solidFill>
                <a:latin typeface="맑은 고딕"/>
              </a:rPr>
              <a:t>•  매번 중단만 반복 → 윈도우가 짧거나 대상 과다 신호</a:t>
            </a:r>
          </a:p>
          <a:p>
            <a:pPr>
              <a:spcAft>
                <a:spcPts val="700"/>
              </a:spcAft>
            </a:pPr>
            <a:r>
              <a:rPr sz="1700" b="0">
                <a:solidFill>
                  <a:srgbClr val="222222"/>
                </a:solidFill>
                <a:latin typeface="맑은 고딕"/>
              </a:rPr>
              <a:t>•  관측: DBA_AUTOTASK_TASK, DBA_AUTOTASK_JOB_HISTORY</a:t>
            </a:r>
          </a:p>
          <a:p>
            <a:pPr>
              <a:spcAft>
                <a:spcPts val="700"/>
              </a:spcAft>
            </a:pPr>
            <a:r>
              <a:rPr sz="1700" b="0">
                <a:solidFill>
                  <a:srgbClr val="222222"/>
                </a:solidFill>
                <a:latin typeface="맑은 고딕"/>
              </a:rPr>
              <a:t>•  윈도우별: DBA_AUTOTASK_WINDOW_HISTORY / WINDOW_CLIENTS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29.10</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멀티테넌트 환경에서의 자동 유지관리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윈도우는 CDB 공통</a:t>
            </a:r>
          </a:p>
          <a:p>
            <a:pPr>
              <a:spcAft>
                <a:spcPts val="400"/>
              </a:spcAft>
            </a:pPr>
            <a:r>
              <a:rPr sz="1600" b="0">
                <a:solidFill>
                  <a:srgbClr val="FFFFFF"/>
                </a:solidFill>
                <a:latin typeface="맑은 고딕"/>
              </a:rPr>
              <a:t>•  작업 활성화는 PDB별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CDB/PDB 단위 동작</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윈도우는 공통, 작업 활성화는 개별</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유지관리 윈도우·리소스 플랜: CDB 루트에서 정의, CDB 공통</a:t>
            </a:r>
          </a:p>
          <a:p>
            <a:pPr>
              <a:spcAft>
                <a:spcPts val="700"/>
              </a:spcAft>
            </a:pPr>
            <a:r>
              <a:rPr sz="1700" b="0">
                <a:solidFill>
                  <a:srgbClr val="222222"/>
                </a:solidFill>
                <a:latin typeface="맑은 고딕"/>
              </a:rPr>
              <a:t>•  작업 활성/비활성: PDB별로 독립 제어 가능</a:t>
            </a:r>
          </a:p>
          <a:p>
            <a:pPr>
              <a:spcAft>
                <a:spcPts val="700"/>
              </a:spcAft>
            </a:pPr>
            <a:r>
              <a:rPr sz="1700" b="0">
                <a:solidFill>
                  <a:srgbClr val="222222"/>
                </a:solidFill>
                <a:latin typeface="맑은 고딕"/>
              </a:rPr>
              <a:t>•  DBMS_AUTO_TASK_ADMIN.ENABLE/DISABLE를 접속 컨테이너에 적용</a:t>
            </a:r>
          </a:p>
          <a:p>
            <a:pPr>
              <a:spcAft>
                <a:spcPts val="700"/>
              </a:spcAft>
            </a:pPr>
            <a:r>
              <a:rPr sz="1700" b="0">
                <a:solidFill>
                  <a:srgbClr val="222222"/>
                </a:solidFill>
                <a:latin typeface="맑은 고딕"/>
              </a:rPr>
              <a:t>•  작업 실행 전제: 해당 PDB가 윈도우 시점에 READ WRITE로 OPEN</a:t>
            </a:r>
          </a:p>
          <a:p>
            <a:pPr>
              <a:spcAft>
                <a:spcPts val="700"/>
              </a:spcAft>
            </a:pPr>
            <a:r>
              <a:rPr sz="1700" b="0">
                <a:solidFill>
                  <a:srgbClr val="222222"/>
                </a:solidFill>
                <a:latin typeface="맑은 고딕"/>
              </a:rPr>
              <a:t>•  닫히거나 READ ONLY인 PDB는 그날 유지관리 누락 가능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29.11</a:t>
            </a:r>
          </a:p>
        </p:txBody>
      </p:sp>
      <p:sp>
        <p:nvSpPr>
          <p:cNvPr id="4" name="TextBox 3"/>
          <p:cNvSpPr txBox="1"/>
          <p:nvPr/>
        </p:nvSpPr>
        <p:spPr>
          <a:xfrm>
            <a:off x="822960" y="3017520"/>
            <a:ext cx="10515600" cy="914400"/>
          </a:xfrm>
          <a:prstGeom prst="rect">
            <a:avLst/>
          </a:prstGeom>
          <a:noFill/>
        </p:spPr>
        <p:txBody>
          <a:bodyPr wrap="square">
            <a:spAutoFit/>
          </a:bodyPr>
          <a:lstStyle/>
          <a:p>
            <a:r>
              <a:rPr sz="2800" b="1">
                <a:solidFill>
                  <a:srgbClr val="FFFFFF"/>
                </a:solidFill>
                <a:latin typeface="맑은 고딕"/>
              </a:rPr>
              <a:t>관련 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spcAft>
                <a:spcPts val="400"/>
              </a:spcAft>
            </a:pPr>
            <a:r>
              <a:rPr sz="1600" b="0">
                <a:solidFill>
                  <a:srgbClr val="FFFFFF"/>
                </a:solidFill>
                <a:latin typeface="맑은 고딕"/>
              </a:rPr>
              <a:t>•  autotask 계열</a:t>
            </a:r>
          </a:p>
          <a:p>
            <a:pPr>
              <a:spcAft>
                <a:spcPts val="400"/>
              </a:spcAft>
            </a:pPr>
            <a:r>
              <a:rPr sz="1600" b="0">
                <a:solidFill>
                  <a:srgbClr val="FFFFFF"/>
                </a:solidFill>
                <a:latin typeface="맑은 고딕"/>
              </a:rPr>
              <a:t>•  scheduler 계열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주요 딕셔너리 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작업 상태와 윈도우 정보를 조회</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DBA_AUTOTASK_CLIENT: 작업(클라이언트)별 활성 상태·자원 요약</a:t>
            </a:r>
          </a:p>
          <a:p>
            <a:pPr>
              <a:spcAft>
                <a:spcPts val="700"/>
              </a:spcAft>
            </a:pPr>
            <a:r>
              <a:rPr sz="1700" b="0">
                <a:solidFill>
                  <a:srgbClr val="222222"/>
                </a:solidFill>
                <a:latin typeface="맑은 고딕"/>
              </a:rPr>
              <a:t>•  DBA_AUTOTASK_TASK / JOB_HISTORY: 작업 상태·실행 이력</a:t>
            </a:r>
          </a:p>
          <a:p>
            <a:pPr>
              <a:spcAft>
                <a:spcPts val="700"/>
              </a:spcAft>
            </a:pPr>
            <a:r>
              <a:rPr sz="1700" b="0">
                <a:solidFill>
                  <a:srgbClr val="222222"/>
                </a:solidFill>
                <a:latin typeface="맑은 고딕"/>
              </a:rPr>
              <a:t>•  DBA_AUTOTASK_WINDOW_CLIENTS / WINDOW_HISTORY: 윈도우별 실행</a:t>
            </a:r>
          </a:p>
          <a:p>
            <a:pPr>
              <a:spcAft>
                <a:spcPts val="700"/>
              </a:spcAft>
            </a:pPr>
            <a:r>
              <a:rPr sz="1700" b="0">
                <a:solidFill>
                  <a:srgbClr val="222222"/>
                </a:solidFill>
                <a:latin typeface="맑은 고딕"/>
              </a:rPr>
              <a:t>•  DBA_SCHEDULER_WINDOWS: 윈도우 스케줄·지속시간·리소스플랜</a:t>
            </a:r>
          </a:p>
          <a:p>
            <a:pPr>
              <a:spcAft>
                <a:spcPts val="700"/>
              </a:spcAft>
            </a:pPr>
            <a:r>
              <a:rPr sz="1700" b="0">
                <a:solidFill>
                  <a:srgbClr val="222222"/>
                </a:solidFill>
                <a:latin typeface="맑은 고딕"/>
              </a:rPr>
              <a:t>•  DBA_SCHEDULER_WINGROUP_MEMBERS: 윈도우 그룹 멤버</a:t>
            </a:r>
          </a:p>
          <a:p>
            <a:pPr>
              <a:spcAft>
                <a:spcPts val="700"/>
              </a:spcAft>
            </a:pPr>
            <a:r>
              <a:rPr sz="1700" b="0">
                <a:solidFill>
                  <a:srgbClr val="222222"/>
                </a:solidFill>
                <a:latin typeface="맑은 고딕"/>
              </a:rPr>
              <a:t>•  CDB 루트에서는 CDB_* 뷰로 CON_ID별 종합 조회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자동 작업 활성 여부 한눈에 보기</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DBA_AUTOTASK_CLIENT</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37160" rIns="182880"/>
          <a:lstStyle/>
          <a:p>
            <a:pPr algn="ctr">
              <a:lnSpc>
                <a:spcPct val="100000"/>
              </a:lnSpc>
              <a:spcAft>
                <a:spcPts val="0"/>
              </a:spcAft>
            </a:pPr>
            <a:r>
              <a:rPr sz="1250" b="0">
                <a:solidFill>
                  <a:srgbClr val="F2F2F2"/>
                </a:solidFill>
                <a:latin typeface="Consolas"/>
              </a:rPr>
              <a:t>SELECT client_name, status, attributes</a:t>
            </a:r>
          </a:p>
          <a:p>
            <a:pPr>
              <a:lnSpc>
                <a:spcPct val="100000"/>
              </a:lnSpc>
              <a:spcAft>
                <a:spcPts val="0"/>
              </a:spcAft>
            </a:pPr>
            <a:r>
              <a:rPr sz="1250" b="0">
                <a:solidFill>
                  <a:srgbClr val="F2F2F2"/>
                </a:solidFill>
                <a:latin typeface="Consolas"/>
              </a:rPr>
              <a:t>  FROM  dba_autotask_client</a:t>
            </a:r>
          </a:p>
          <a:p>
            <a:pPr>
              <a:lnSpc>
                <a:spcPct val="100000"/>
              </a:lnSpc>
              <a:spcAft>
                <a:spcPts val="0"/>
              </a:spcAft>
            </a:pPr>
            <a:r>
              <a:rPr sz="1250" b="0">
                <a:solidFill>
                  <a:srgbClr val="F2F2F2"/>
                </a:solidFill>
                <a:latin typeface="Consolas"/>
              </a:rPr>
              <a:t> ORDER BY client_name;</a:t>
            </a:r>
          </a:p>
          <a:p>
            <a:pPr>
              <a:lnSpc>
                <a:spcPct val="100000"/>
              </a:lnSpc>
              <a:spcAft>
                <a:spcPts val="0"/>
              </a:spcAft>
            </a:pPr>
            <a:r>
              <a:rPr sz="1250" b="0">
                <a:solidFill>
                  <a:srgbClr val="F2F2F2"/>
                </a:solidFill>
                <a:latin typeface="Consolas"/>
              </a:rPr>
              <a:t> </a:t>
            </a:r>
          </a:p>
          <a:p>
            <a:pPr>
              <a:lnSpc>
                <a:spcPct val="100000"/>
              </a:lnSpc>
              <a:spcAft>
                <a:spcPts val="0"/>
              </a:spcAft>
            </a:pPr>
            <a:r>
              <a:rPr sz="1250" b="0">
                <a:solidFill>
                  <a:srgbClr val="F2F2F2"/>
                </a:solidFill>
                <a:latin typeface="Consolas"/>
              </a:rPr>
              <a:t>CLIENT_NAME                      STATUS   ATTRIBUTES</a:t>
            </a:r>
          </a:p>
          <a:p>
            <a:pPr>
              <a:lnSpc>
                <a:spcPct val="100000"/>
              </a:lnSpc>
              <a:spcAft>
                <a:spcPts val="0"/>
              </a:spcAft>
            </a:pPr>
            <a:r>
              <a:rPr sz="1250" b="0">
                <a:solidFill>
                  <a:srgbClr val="F2F2F2"/>
                </a:solidFill>
                <a:latin typeface="Consolas"/>
              </a:rPr>
              <a:t>-------------------------------- -------- ------------------------------</a:t>
            </a:r>
          </a:p>
          <a:p>
            <a:pPr>
              <a:lnSpc>
                <a:spcPct val="100000"/>
              </a:lnSpc>
              <a:spcAft>
                <a:spcPts val="0"/>
              </a:spcAft>
            </a:pPr>
            <a:r>
              <a:rPr sz="1250" b="0">
                <a:solidFill>
                  <a:srgbClr val="F2F2F2"/>
                </a:solidFill>
                <a:latin typeface="Consolas"/>
              </a:rPr>
              <a:t>auto optimizer stats collection  ENABLED  ON BY DEFAULT, VOLATILE, ...</a:t>
            </a:r>
          </a:p>
          <a:p>
            <a:pPr>
              <a:lnSpc>
                <a:spcPct val="100000"/>
              </a:lnSpc>
              <a:spcAft>
                <a:spcPts val="0"/>
              </a:spcAft>
            </a:pPr>
            <a:r>
              <a:rPr sz="1250" b="0">
                <a:solidFill>
                  <a:srgbClr val="F2F2F2"/>
                </a:solidFill>
                <a:latin typeface="Consolas"/>
              </a:rPr>
              <a:t>auto space advisor               ENABLED  ON BY DEFAULT, VOLATILE, ...</a:t>
            </a:r>
          </a:p>
          <a:p>
            <a:pPr>
              <a:lnSpc>
                <a:spcPct val="100000"/>
              </a:lnSpc>
              <a:spcAft>
                <a:spcPts val="0"/>
              </a:spcAft>
            </a:pPr>
            <a:r>
              <a:rPr sz="1250" b="0">
                <a:solidFill>
                  <a:srgbClr val="F2F2F2"/>
                </a:solidFill>
                <a:latin typeface="Consolas"/>
              </a:rPr>
              <a:t>sql tuning advisor               ENABLED  ONCE PER WINDOW, ON BY DEFAULT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(Quiz)</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이해도 점검 (정답은 실습문제 정답지 참고)</a:t>
            </a: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700"/>
              </a:spcAft>
            </a:pPr>
            <a:r>
              <a:rPr sz="1700" b="0">
                <a:solidFill>
                  <a:srgbClr val="222222"/>
                </a:solidFill>
                <a:latin typeface="맑은 고딕"/>
              </a:rPr>
              <a:t>•  Q1. 성능·워크로드 통계를 주기적으로 수집·보관하는 저장소는?</a:t>
            </a:r>
          </a:p>
          <a:p>
            <a:pPr>
              <a:spcAft>
                <a:spcPts val="700"/>
              </a:spcAft>
            </a:pPr>
            <a:r>
              <a:rPr sz="1700" b="0">
                <a:solidFill>
                  <a:srgbClr val="222222"/>
                </a:solidFill>
                <a:latin typeface="맑은 고딕"/>
              </a:rPr>
              <a:t>•  Q2. 19c 사전 정의된 세 가지 자동 유지관리 작업을 모두 쓰시오.</a:t>
            </a:r>
          </a:p>
          <a:p>
            <a:pPr>
              <a:spcAft>
                <a:spcPts val="700"/>
              </a:spcAft>
            </a:pPr>
            <a:r>
              <a:rPr sz="1700" b="0">
                <a:solidFill>
                  <a:srgbClr val="222222"/>
                </a:solidFill>
                <a:latin typeface="맑은 고딕"/>
              </a:rPr>
              <a:t>•  Q3. 자동 세그먼트 어드바이저는 SHRINK를 자동 실행하는가, 권고만 하는가?</a:t>
            </a:r>
          </a:p>
          <a:p>
            <a:pPr>
              <a:spcAft>
                <a:spcPts val="700"/>
              </a:spcAft>
            </a:pPr>
            <a:r>
              <a:rPr sz="1700" b="0">
                <a:solidFill>
                  <a:srgbClr val="222222"/>
                </a:solidFill>
                <a:latin typeface="맑은 고딕"/>
              </a:rPr>
              <a:t>•  Q4. 평일 요일별 윈도우의 기본 시작 시각과 지속 시간은?</a:t>
            </a:r>
          </a:p>
          <a:p>
            <a:pPr>
              <a:spcAft>
                <a:spcPts val="700"/>
              </a:spcAft>
            </a:pPr>
            <a:r>
              <a:rPr sz="1700" b="0">
                <a:solidFill>
                  <a:srgbClr val="222222"/>
                </a:solidFill>
                <a:latin typeface="맑은 고딕"/>
              </a:rPr>
              <a:t>•  Q5. 윈도우 열림 시 자동 활성화되는 리소스 플랜의 이름은?</a:t>
            </a:r>
          </a:p>
          <a:p>
            <a:pPr>
              <a:spcAft>
                <a:spcPts val="700"/>
              </a:spcAft>
            </a:pPr>
            <a:r>
              <a:rPr sz="1700" b="0">
                <a:solidFill>
                  <a:srgbClr val="222222"/>
                </a:solidFill>
                <a:latin typeface="맑은 고딕"/>
              </a:rPr>
              <a:t>•  Q6. 자동 작업의 활성/비활성을 PDB별로 제어할 수 있는가? 근거는?</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800"/>
              </a:spcAft>
            </a:pPr>
            <a:r>
              <a:rPr sz="1600" b="0">
                <a:solidFill>
                  <a:srgbClr val="222222"/>
                </a:solidFill>
                <a:latin typeface="맑은 고딕"/>
              </a:rPr>
              <a:t>•  사전 예방적 유지관리 = AWR 수집 → ADDM/어드바이저 진단 → 자동 작업 실행의 3계층</a:t>
            </a:r>
          </a:p>
          <a:p>
            <a:pPr>
              <a:spcAft>
                <a:spcPts val="800"/>
              </a:spcAft>
            </a:pPr>
            <a:r>
              <a:rPr sz="1600" b="0">
                <a:solidFill>
                  <a:srgbClr val="222222"/>
                </a:solidFill>
                <a:latin typeface="맑은 고딕"/>
              </a:rPr>
              <a:t>•  자동 유지관리 작업: 내장·자동 실행, '무엇을(작업)'과 '언제(윈도우)'가 분리</a:t>
            </a:r>
          </a:p>
          <a:p>
            <a:pPr>
              <a:spcAft>
                <a:spcPts val="800"/>
              </a:spcAft>
            </a:pPr>
            <a:r>
              <a:rPr sz="1600" b="0">
                <a:solidFill>
                  <a:srgbClr val="222222"/>
                </a:solidFill>
                <a:latin typeface="맑은 고딕"/>
              </a:rPr>
              <a:t>•  세 작업: ①옵티마이저 통계 수집 ②세그먼트 어드바이저(SHRINK 권고) ③SQL 튜닝 어드바이저(프로파일 권고)</a:t>
            </a:r>
          </a:p>
          <a:p>
            <a:pPr>
              <a:spcAft>
                <a:spcPts val="800"/>
              </a:spcAft>
            </a:pPr>
            <a:r>
              <a:rPr sz="1600" b="0">
                <a:solidFill>
                  <a:srgbClr val="222222"/>
                </a:solidFill>
                <a:latin typeface="맑은 고딕"/>
              </a:rPr>
              <a:t>•  요일별 윈도우(평일 밤10시 4h / 주말 오전6시 20h)를 MAINTENANCE_WINDOW_GROUP으로 묶음</a:t>
            </a:r>
          </a:p>
          <a:p>
            <a:pPr>
              <a:spcAft>
                <a:spcPts val="800"/>
              </a:spcAft>
            </a:pPr>
            <a:r>
              <a:rPr sz="1600" b="0">
                <a:solidFill>
                  <a:srgbClr val="222222"/>
                </a:solidFill>
                <a:latin typeface="맑은 고딕"/>
              </a:rPr>
              <a:t>•  윈도우 열림 시 DEFAULT_MAINTENANCE_PLAN 자동 활성화로 자원 통제</a:t>
            </a:r>
          </a:p>
          <a:p>
            <a:pPr>
              <a:spcAft>
                <a:spcPts val="800"/>
              </a:spcAft>
            </a:pPr>
            <a:r>
              <a:rPr sz="1600" b="0">
                <a:solidFill>
                  <a:srgbClr val="222222"/>
                </a:solidFill>
                <a:latin typeface="맑은 고딕"/>
              </a:rPr>
              <a:t>•  흐름: 큐잉 → 실행 → (윈도우 종료 시) 중단 → 다음 윈도우 이월</a:t>
            </a:r>
          </a:p>
          <a:p>
            <a:pPr>
              <a:spcAft>
                <a:spcPts val="800"/>
              </a:spcAft>
            </a:pPr>
            <a:r>
              <a:rPr sz="1600" b="0">
                <a:solidFill>
                  <a:srgbClr val="222222"/>
                </a:solidFill>
                <a:latin typeface="맑은 고딕"/>
              </a:rPr>
              <a:t>•  멀티테넌트: 윈도우는 CDB 공통, 작업 활성화는 PDB별 · READ WRITE 필요</a:t>
            </a:r>
          </a:p>
          <a:p>
            <a:pPr>
              <a:spcAft>
                <a:spcPts val="800"/>
              </a:spcAft>
            </a:pPr>
            <a:r>
              <a:rPr sz="1600" b="0">
                <a:solidFill>
                  <a:srgbClr val="222222"/>
                </a:solidFill>
                <a:latin typeface="맑은 고딕"/>
              </a:rPr>
              <a:t>•  상태 조회: DBA_AUTOTASK_* / DBA_SCHEDULER_WINDOW(S)·WINGROUP_MEMBERS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실습 29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spcAft>
                <a:spcPts val="800"/>
              </a:spcAft>
            </a:pPr>
            <a:r>
              <a:rPr sz="1600" b="0">
                <a:solidFill>
                  <a:srgbClr val="222222"/>
                </a:solidFill>
                <a:latin typeface="맑은 고딕"/>
              </a:rPr>
              <a:t>•  실습 01 — 사전 예방적 유지관리 인프라 개요 확인 (AWR·자동 작업 큰 그림)</a:t>
            </a:r>
          </a:p>
          <a:p>
            <a:pPr>
              <a:spcAft>
                <a:spcPts val="800"/>
              </a:spcAft>
            </a:pPr>
            <a:r>
              <a:rPr sz="1600" b="0">
                <a:solidFill>
                  <a:srgbClr val="222222"/>
                </a:solidFill>
                <a:latin typeface="맑은 고딕"/>
              </a:rPr>
              <a:t>•  실습 02 — 사전 정의된 자동 유지관리 작업 확인 (DBA_AUTOTASK_CLIENT)</a:t>
            </a:r>
          </a:p>
          <a:p>
            <a:pPr>
              <a:spcAft>
                <a:spcPts val="800"/>
              </a:spcAft>
            </a:pPr>
            <a:r>
              <a:rPr sz="1600" b="0">
                <a:solidFill>
                  <a:srgbClr val="222222"/>
                </a:solidFill>
                <a:latin typeface="맑은 고딕"/>
              </a:rPr>
              <a:t>•  실습 03 — 유지관리 윈도우와 사전 정의된 윈도우 확인 (DBA_SCHEDULER_WINDOWS·윈도우 그룹)</a:t>
            </a:r>
          </a:p>
          <a:p>
            <a:pPr>
              <a:spcAft>
                <a:spcPts val="800"/>
              </a:spcAft>
            </a:pPr>
            <a:r>
              <a:rPr sz="1600" b="0">
                <a:solidFill>
                  <a:srgbClr val="222222"/>
                </a:solidFill>
                <a:latin typeface="맑은 고딕"/>
              </a:rPr>
              <a:t>•  실습 04 — 유지관리 윈도우 세부정보 조회 (스케줄·지속시간·리소스 플랜)</a:t>
            </a:r>
          </a:p>
          <a:p>
            <a:pPr>
              <a:spcAft>
                <a:spcPts val="800"/>
              </a:spcAft>
            </a:pPr>
            <a:r>
              <a:rPr sz="1600" b="0">
                <a:solidFill>
                  <a:srgbClr val="222222"/>
                </a:solidFill>
                <a:latin typeface="맑은 고딕"/>
              </a:rPr>
              <a:t>•  실습 05 — 자동 유지관리 작업 전체 흐름 확인 (작업·윈도우 실행 이력)</a:t>
            </a:r>
          </a:p>
          <a:p>
            <a:pPr>
              <a:spcAft>
                <a:spcPts val="800"/>
              </a:spcAft>
            </a:pPr>
            <a:r>
              <a:rPr sz="1600" b="0">
                <a:solidFill>
                  <a:srgbClr val="222222"/>
                </a:solidFill>
                <a:latin typeface="맑은 고딕"/>
              </a:rPr>
              <a:t>•  ※ 이 장은 '조회' 중심. 구성·변경 실습은 30장에서 진행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
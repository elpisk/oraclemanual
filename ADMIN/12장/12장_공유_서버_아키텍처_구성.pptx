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장은 전용 서버와 공유 서버 아키텍처의 차이를 실무 구성 관점에서 심화한다. 공유 서버 활성화, 제어 파라미터, SGA/PGA(UGA) 변화, 부적합 작업 유형을 다룬다.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장을 마치면 공유 서버 활성화와 제어, 메모리 변화 이해, 부적합 작업 구분을 수행할 수 있어야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개요에서 시작해 전용/공유 구조, 활성화, 제어 파라미터, 메모리 변화, 고려사항, 퀴즈·요약·실습 순으로 진행한다.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공유 서버가 왜 필요한지, 언제 고려하는지를 다루는 섹션이다.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클라이언트 부하가 메모리와 자원에 부담을 줄 때 공유 서버로 부하를 완화한다. 전용 서버는 접속마다 전담 프로세스를 생성해 사용자 수에 비례해 자원을 소모하며, 유휴 접속이 많은 웹 환경에서는 낭비가 크다. 공유 서버는 과부하 상태이거나 메모리가 제한적일 때 유용하며, 소수의 서버 프로세스 풀을 여러 클라이언트가 공유하게 해 지원 사용자 수를 늘린다.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공유 서버는 두 가지로 문제를 해결한다. 클라이언트가 서버 프로세스를 공유하게 하고, 그 결과 필요한 프로세스 수가 줄어든다. 소수 서버 풀이 다수 클라이언트를 서비스하므로 프로세스 수가 감소하고 메모리가 효율화된다. Oracle 기본 접속 방식은 전용 서버이며 공유 서버는 관리자가 명시적으로 켜야 한다. 전용·공유는 동시에 활성화될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전용 서버와 공유 서버 구조를 복습하고 심화하는 섹션이다.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전용 서버에서는 하나의 서버 프로세스가 단일 클라이언트의 요청을 처리한다. 리스너가 접속마다 전용 프로세스를 생성하며, 각 프로세스는 CPU와 메모리를 사용한다. 부하가 큰 시스템에서는 이 자원이 과도해져 확장성에 부정적 영향을 준다. 대안은 자원 증설 또는 공유 서버 아키텍처 사용이다.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공유 서버는 여러 클라이언트가 적은 서버 프로세스를 공유하게 한다. 각 서비스는 최소 하나의 디스패처를 갖고, 연결 요청 시 리스너는 전용 프로세스를 만들지 않고 서비스별 디스패처 목록과 부하를 유지하다가 가장 부하가 적은 디스패처로 라우팅한다. 사용자는 세션 동안 같은 디스패처에 연결된다. 단일 디스패처는 수백 연결을 관리하며 실제 작업은 하지 않고, 요청을 SGA 공유 풀의 공통 큐로 전달한다. 공유 서버 프로세스가 큐에서 요청을 꺼내 처리한다.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전용 서버는 1:1 전담, 중간 계층 없음, UGA는 PGA, 장시간·관리·배치에 적합하며 자원이 사용자 수에 비례한다. 공유 서버는 N:1, 디스패처가 중계, UGA는 SGA, 짧고 빈번한 OLTP에 적합하며 소수 프로세스로 다수 사용자를 지원한다. 두 방식은 동시에 활성화할 수 있고 접속 문자열의 SERVER 속성으로 선택한다.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요청 처리 흐름: 클라이언트가 디스패처에 요청을 보내면 디스패처가 공통 요청 큐에 넣고, 유휴 공유 서버 프로세스가 큐에서 요청을 꺼내 완료까지 처리한 뒤 그 디스패처의 응답 큐에 결과를 넣는다. 디스패처는 응답을 클라이언트에게 돌려준다. 공유 서버 프로세스는 전용 서버가 하던 대부분의 작업을 대신하되 특정 사용자에 묶이지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가상 회로는 클라이언트-디스패처-공유 서버로 이어지는 논리적 통신 경로로 SGA에 저장된다. 공통 요청 큐는 인스턴스에 하나만 있고 모든 디스패처가 요청을 넣으며 유휴 공유 서버들이 꺼내 처리한다. 응답 큐는 디스패처마다 하나씩 존재하는데, 응답은 반드시 원래 요청을 보낸 클라이언트가 연결된 디스패처를 거쳐야 하기 때문이다. 이 비대칭 구조가 공유 서버 메모리 모델의 핵심이다.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SHARED_SERVERS와 DISPATCHERS로 공유 서버를 켜는 방법을 다룬다.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SHARED_SERVERS는 인스턴스 시작 시 생성될 공유 서버의 최소 개수를 지정한다. 파라미터 파일에서 0보다 큰 값으로 설정하거나 ALTER SYSTEM으로 활성화한다. 시작 후 데이터베이스는 기존 공유 서버가 얼마나 바쁜지와 요청 큐 길이에 따라 서버 수를 동적으로 늘리고 줄인다. 활성화 상태는 V$SHARED_SERVER, V$DISPATCHER, V$QUEUE로 검증한다.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SHARED_SERVERS를 2로 설정하면 인스턴스가 즉시 2개의 공유 서버 프로세스(S000, S001)를 생성하고 공유 서버 모드를 활성화한다. SCOPE=BOTH이므로 현재 인스턴스와 SPFILE 양쪽에 반영되어 재기동 후에도 유지된다. 공유 서버 프로세스 이름은 ora_s000_SID, 디스패처는 ora_d000_SID 형태다.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공유 서버를 켜는 방법은 두 갈래다. SHARED_SERVERS를 0보다 크게 설정하거나, DISPATCHERS를 하나 이상 정의한다. 후자의 경우 SHARED_SERVERS 기본값은 1이 된다. 두 값이 모두 없거나 SHARED_SERVERS=0이면 전용 서버만 사용된다. 실무에서는 SHARED_SERVERS와 DISPATCHERS를 함께 명시적으로 지정해 구성을 예측 가능하게 하는 것이 좋다. XDB는 이미 공유 서버를 쓰도록 구성되어 있으나, 일반 사용자 접속에는 별도 설정이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공유 서버 동작을 제어하는 다섯 파라미터를 다룬다.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파라미터가 공유 서버를 제어한다. DISPATCHERS는 디스패처를 구성하고, SHARED_SERVERS는 초기이자 최소 공유 서버 수를, MAX_SHARED_SERVERS는 최대 개수를, SHARED_SERVER_SESSIONS는 동시 공유 세션 총수를, CIRCUITS는 가상 회로 수 상한을 지정한다. 뒤의 셋은 자원을 보호하는 상한 파라미터다.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공유 서버 구성에는 최소 하나의 디스패처가 필요하다. 디스패처를 지정하지 않고 SHARED_SERVERS를 0이 아닌 값으로 설정하면 TCP용 디스패처가 하나 자동 생성된다. DISPATCHERS는 PROTOCOL, DISPATCHERS(개수), SERVICE, CONNECTIONS 같은 속성을 키=값으로 지정한다. SHARED_SERVERS로 초기 개수를 설정하며 시작 후 부하와 큐 길이에 따라 동적으로 조정된다.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MAX_SHARED_SERVERS는 PMON이 자동 생성할 공유 서버의 최대 개수를 제한한다. 주된 이유는 다른 프로세스를 위한 자원 확보다. SHARED_SERVER_SESSIONS는 동시 공유 세션 총수를 제한해 전용 서버를 위한 세션을 예약하는 효과를 준다. CIRCUITS는 공유 메모리에 생성될 가상 회로 수를 제한해 공유 메모리를 보호한다. 이 상한들은 SESSIONS·PROCESSES 같은 인스턴스 한도와 균형 있게 설계해야 하며 SHARED_SERVER_SESSIONS는 SESSIONS보다 작게 둔다.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DISPATCHERS로 TCP 디스패처 2개를 구성하고, MAX_SHARED_SERVERS=20으로 최대치를, SHARED_SERVER_SESSIONS=450으로 공유 세션 총수를, CIRCUITS=500으로 가상 회로 수를 제한한다. V$CIRCUIT으로 활성 회로 수를 확인할 수 있다. 상한 파라미터들은 공유 서버가 자원을 과점하지 않게 보호한다.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공유 서버 구성 후에는 동적 성능 뷰로 관찰한다. V$SHARED_SERVER는 서버별 상태, V$DISPATCHER는 디스패처 부하와 busy 비율, V$QUEUE는 요청/응답 큐 대기, V$CIRCUIT은 활성 회로, V$SHARED_SERVER_MONITOR는 최고 수위를 보여 준다. COMMON 요청 큐 평균 대기가 길면 공유 서버가 부족한 것이므로 SHARED_SERVERS/MAX_SHARED_SERVERS를 높이고, DISPATCHER 응답 큐가 밀리면 디스패처를 늘린다. V$DISPATCHER busy가 50%를 넘으면 디스패처 증설을 검토한다.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공유 서버에서 메모리 구조가 어떻게 달라지는지 다룬다.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공유 서버에서는 사용자 세션이 여러 공유 서버 프로세스에 의해 처리될 수 있으므로 세션 데이터를 특정 프로세스의 PGA에 둘 수 없다. 그래서 보통 PGA에 저장되던 UGA가 공유 메모리(기본은 공유 풀)로 이동한다. 라지 풀이 구성되어 있거나 SGA_TARGET이 설정되어 있으면 라지 풀에 저장된다. 반면 프로세스 로컬 변수인 스택 공간은 여전히 PGA에 남는다. '세션 수명=공유 메모리, 프로세스 로컬=PGA'로 기억한다.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공유 서버 구성에서 모든 SQL 문의 텍스트와 파싱된 형태는 SGA에 저장된다. 커서 상태는 검색된 행 같은 런타임 값을 담고 UGA의 일부로서 공유 메모리에 놓인다. 사용자 세션 데이터는 보안과 자원 사용 정보를 담는다. 정렬·해시 영역도 SGA로 간다. 스택 공간은 프로세스 로컬 변수를 담아 PGA에 남는다. 세션에 종속된 데이터는 SGA로, 프로세스에 종속된 데이터는 PGA에 남는다.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SGA/PGA 변경은 사용자에게 투명하지만 관리자는 메모리 사이징을 다시 고려해야 한다. 여러 사용자를 지원하면 LARGE_POOL_SIZE를 늘려 UGA를 라지 풀에 격리해 공유 풀을 보호한다. 각 공유 서버는 모든 세션 데이터에 접근하므로 세션 데이터 공간이 SGA에 할당되며, PRIVATE_SGA로 세션이 할당할 수 있는 양을 제한한다. SGA 사이징 시 공유 서버 요구사항을 고려하지 않으면 ORA-04031이 발생할 수 있다. AMM/ASMM에서는 LARGE_POOL_SIZE를 직접 설정할 필요가 없다.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V$SESSTAT의 'session uga memory' 통계로 세션별 UGA 크기를 확인할 수 있다. 전용 서버 세션은 UGA가 PGA에 있어 이 값이 SGA에 반영되지 않지만, 공유 서버 세션은 UGA가 SGA에 놓여 SGA 사용이 커진다. 라지 풀 사이징은 '동시 공유 세션 수 × 세션당 UGA 평균'으로 산정하는 것이 안전하다.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공유 서버가 부적합한 작업과 접속 경로 선택을 다룬다.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전용 서버 프로세스는 항상 준비되어 있어 큐를 거치지 않고 곧바로 처리하므로 공유 서버보다 빠르며, 장시간 쿼리와 관리 작업에 적합하다. 그러나 유휴 또는 과다한 전용 프로세스는 자원을 비효율적으로 쓴다. 공유 서버는 전용 프로세스의 필요를 없애고 연결당 메모리를 줄여 제한된 메모리에서 더 많은 사용자를 가능하게 한다. 둘은 동시에 활성화될 수 있으므로 짧은 OLTP는 공유, 무거운 작업은 전용으로 나눈다.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 작업은 공유 서버로 수행하면 안 된다. 데이터베이스 관리(인스턴스 시작·종료, 테이블스페이스·데이터파일 생성, 인덱스·테이블 유지관리, 통계 분석), RMAN 백업·복구, 배치·대량 로드, 데이터 웨어하우스 작업이다. 이들은 대용량 데이터를 장시간 다루므로 전용 연결이 필요하다. 관리 작업은 인스턴스가 열리기 전에도 수행되어야 해 공유 서버 경로로는 불가능하다. 모든 DBA 세션은 전용 서버를 선택해야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공유 서버가 대용량 작업에 부적합한 이유는 공통 요청 큐와 공유 응답 큐 구조 때문이다. 무거운 작업 하나가 공유 서버 프로세스를 오래 점유하면 큐의 다른 OLTP 요청들이 지연되어 전체 체감 성능이 무너진다. 클라이언트는 접속 문자열 CONNECT_DATA의 (SERVER=DEDICATED) 또는 (SERVER=SHARED)로 경로를 명시할 수 있다. Oracle XML DB(XDB)는 이미 공유 서버를 사용하도록 구성되어 있으며, 일반 사용자 접속에 공유 서버를 쓰려면 초기화 파라미터를 별도로 수정해야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공유 서버가 켜진 데이터베이스라도 배치나 RMAN 세션은 tnsnames.ora의 CONNECT_DATA에 (SERVER=DEDICATED)를 명시해 전용 서버를 강제한다. (SERVER=SHARED)는 공유 경로를 강제한다. V$SESSION의 SERVER 컬럼으로 각 세션이 어느 경로로 접속했는지 확인할 수 있으며, SHARED는 디스패처 경유, DEDICATED는 전용 경로다. 워크로드별로 접속 문자열을 분리해 경로를 예측 가능하게 통제하는 것이 좋다.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내용을 6문항으로 점검한다.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Q1: 공유 서버는 과부하와 메모리 제한 상황에서 서버 프로세스를 공유해 프로세스 수를 줄인다. Q2: 디스패처는 요청을 SGA 공유 풀의 공통 큐로 전달하고 응답 큐 결과를 클라이언트에 돌려주는 중계자이며, 실제 파싱·실행 작업은 공유 서버 프로세스가 큐에서 요청을 꺼내 수행한다. 단일 디스패처는 수백 개 연결을 관리한다.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Q3: SHARED_SERVERS는 시작 시 생성될 공유 서버의 최소 개수를 지정하며, 이후 데이터베이스가 부하와 큐 길이에 따라 동적으로 조정한다. Q4: SHARED_SERVERS가 없고 DISPATCHERS만 하나 이상 지정되면 공유 서버가 기본 활성화되고 SHARED_SERVERS 기본값은 1이 된다.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Q5: 공유 서버에서는 어떤 공유 서버 프로세스든 어떤 세션의 요청이든 처리해야 하므로 UGA를 SGA(기본 공유 풀, 라지 풀이나 SGA_TARGET 설정 시 라지 풀)에 둔다. 프로세스 로컬인 스택 공간은 PGA에 남는다. Q6: 데이터베이스 관리, 백업·복구(RMAN), 배치·대량 로드, 데이터 웨어하우스는 공유 서버에 부적합하다. 공통 요청 큐와 공유 응답 큐 구조로 대용량 장시간 작업이 다른 사용자를 지연시키고, 관리 작업은 인스턴스가 열리기 전에도 수행되어야 하기 때문이다. 모든 DBA 세션은 전용 서버를 선택해야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전용/공유 차이, 공유 서버 활성화, 다섯 제어 파라미터, UGA의 SGA 이동과 메모리 사이징, 부적합 작업 구분을 요약한다.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개의 실습으로 공유 서버 활성화, 파라미터 구성, 메모리 변화 확인, 제한 작업 확인을 수행하고 마지막에 전용 서버로 원복한다.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286000"/>
            <a:ext cx="182880"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548640"/>
          </a:xfrm>
          <a:prstGeom prst="rect">
            <a:avLst/>
          </a:prstGeom>
          <a:noFill/>
        </p:spPr>
        <p:txBody>
          <a:bodyPr wrap="square" anchor="t">
            <a:spAutoFit/>
          </a:bodyPr>
          <a:lstStyle/>
          <a:p>
            <a:pPr algn="l">
              <a:spcAft>
                <a:spcPts val="600"/>
              </a:spcAft>
            </a:pPr>
            <a:r>
              <a:rPr sz="1800" b="1">
                <a:solidFill>
                  <a:srgbClr val="C0392B"/>
                </a:solidFill>
                <a:latin typeface="Malgun Gothic"/>
              </a:rPr>
              <a:t>Oracle Database 19c Administration Workshop  ·  제12장</a:t>
            </a:r>
          </a:p>
        </p:txBody>
      </p:sp>
      <p:sp>
        <p:nvSpPr>
          <p:cNvPr id="4" name="TextBox 3"/>
          <p:cNvSpPr txBox="1"/>
          <p:nvPr/>
        </p:nvSpPr>
        <p:spPr>
          <a:xfrm>
            <a:off x="1188720" y="2194560"/>
            <a:ext cx="10332720" cy="2011680"/>
          </a:xfrm>
          <a:prstGeom prst="rect">
            <a:avLst/>
          </a:prstGeom>
          <a:noFill/>
        </p:spPr>
        <p:txBody>
          <a:bodyPr wrap="square" anchor="t">
            <a:spAutoFit/>
          </a:bodyPr>
          <a:lstStyle/>
          <a:p>
            <a:pPr algn="l">
              <a:spcAft>
                <a:spcPts val="600"/>
              </a:spcAft>
            </a:pPr>
            <a:r>
              <a:rPr sz="4400" b="1">
                <a:solidFill>
                  <a:srgbClr val="FFFFFF"/>
                </a:solidFill>
                <a:latin typeface="Malgun Gothic"/>
              </a:rPr>
              <a:t>공유 서버 아키텍처 구성</a:t>
            </a:r>
          </a:p>
        </p:txBody>
      </p:sp>
      <p:sp>
        <p:nvSpPr>
          <p:cNvPr id="5" name="TextBox 4"/>
          <p:cNvSpPr txBox="1"/>
          <p:nvPr/>
        </p:nvSpPr>
        <p:spPr>
          <a:xfrm>
            <a:off x="1188720" y="4297680"/>
            <a:ext cx="10058400" cy="1280160"/>
          </a:xfrm>
          <a:prstGeom prst="rect">
            <a:avLst/>
          </a:prstGeom>
          <a:noFill/>
        </p:spPr>
        <p:txBody>
          <a:bodyPr wrap="square" anchor="t">
            <a:spAutoFit/>
          </a:bodyPr>
          <a:lstStyle/>
          <a:p>
            <a:pPr algn="l">
              <a:spcAft>
                <a:spcPts val="600"/>
              </a:spcAft>
            </a:pPr>
            <a:r>
              <a:rPr sz="1800" b="0">
                <a:solidFill>
                  <a:srgbClr val="C5CED6"/>
                </a:solidFill>
                <a:latin typeface="Malgun Gothic"/>
              </a:rPr>
              <a:t>공유 서버 개요 · 전용 vs 공유 · 활성화 · 제어 파라미터 · SGA/PGA(UGA) · 구성 고려사항</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spcAft>
                <a:spcPts val="600"/>
              </a:spcAft>
            </a:pPr>
            <a:r>
              <a:rPr sz="2600" b="1">
                <a:solidFill>
                  <a:srgbClr val="FFFFFF"/>
                </a:solidFill>
                <a:latin typeface="Malgun Gothic"/>
              </a:rPr>
              <a:t>학습 목표 (Objectives)</a:t>
            </a:r>
          </a:p>
        </p:txBody>
      </p:sp>
      <p:sp>
        <p:nvSpPr>
          <p:cNvPr id="4" name="TextBox 3"/>
          <p:cNvSpPr txBox="1"/>
          <p:nvPr/>
        </p:nvSpPr>
        <p:spPr>
          <a:xfrm>
            <a:off x="640080" y="1280160"/>
            <a:ext cx="10881360" cy="5394960"/>
          </a:xfrm>
          <a:prstGeom prst="rect">
            <a:avLst/>
          </a:prstGeom>
          <a:noFill/>
        </p:spPr>
        <p:txBody>
          <a:bodyPr wrap="square" anchor="t">
            <a:spAutoFit/>
          </a:bodyPr>
          <a:lstStyle/>
          <a:p>
            <a:pPr algn="l">
              <a:lnSpc>
                <a:spcPct val="115000"/>
              </a:lnSpc>
              <a:spcAft>
                <a:spcPts val="1200"/>
              </a:spcAft>
            </a:pPr>
            <a:r>
              <a:rPr sz="1800" b="0">
                <a:solidFill>
                  <a:srgbClr val="C0392B"/>
                </a:solidFill>
                <a:latin typeface="Malgun Gothic"/>
              </a:rPr>
              <a:t>•  </a:t>
            </a:r>
            <a:r>
              <a:rPr sz="1800" b="0">
                <a:solidFill>
                  <a:srgbClr val="202830"/>
                </a:solidFill>
                <a:latin typeface="Malgun Gothic"/>
              </a:rPr>
              <a:t>전용 서버와 공유 서버 구성의 구조적 차이와 자원 영향을 설명한다</a:t>
            </a:r>
          </a:p>
          <a:p>
            <a:pPr algn="l">
              <a:lnSpc>
                <a:spcPct val="115000"/>
              </a:lnSpc>
              <a:spcAft>
                <a:spcPts val="1200"/>
              </a:spcAft>
            </a:pPr>
            <a:r>
              <a:rPr sz="1800" b="0">
                <a:solidFill>
                  <a:srgbClr val="C0392B"/>
                </a:solidFill>
                <a:latin typeface="Malgun Gothic"/>
              </a:rPr>
              <a:t>•  </a:t>
            </a:r>
            <a:r>
              <a:rPr sz="1800" b="0">
                <a:solidFill>
                  <a:srgbClr val="202830"/>
                </a:solidFill>
                <a:latin typeface="Malgun Gothic"/>
              </a:rPr>
              <a:t>공유 서버를 언제 고려하는지(과부하·제한된 메모리) 판단한다</a:t>
            </a:r>
          </a:p>
          <a:p>
            <a:pPr algn="l">
              <a:lnSpc>
                <a:spcPct val="115000"/>
              </a:lnSpc>
              <a:spcAft>
                <a:spcPts val="1200"/>
              </a:spcAft>
            </a:pPr>
            <a:r>
              <a:rPr sz="1800" b="0">
                <a:solidFill>
                  <a:srgbClr val="C0392B"/>
                </a:solidFill>
                <a:latin typeface="Malgun Gothic"/>
              </a:rPr>
              <a:t>•  </a:t>
            </a:r>
            <a:r>
              <a:rPr sz="1800" b="0">
                <a:solidFill>
                  <a:srgbClr val="202830"/>
                </a:solidFill>
                <a:latin typeface="Malgun Gothic"/>
              </a:rPr>
              <a:t>SHARED_SERVERS로 공유 서버를 활성화하고 DISPATCHERS 기본 동작을 이해한다</a:t>
            </a:r>
          </a:p>
          <a:p>
            <a:pPr algn="l">
              <a:lnSpc>
                <a:spcPct val="115000"/>
              </a:lnSpc>
              <a:spcAft>
                <a:spcPts val="1200"/>
              </a:spcAft>
            </a:pPr>
            <a:r>
              <a:rPr sz="1800" b="0">
                <a:solidFill>
                  <a:srgbClr val="C0392B"/>
                </a:solidFill>
                <a:latin typeface="Malgun Gothic"/>
              </a:rPr>
              <a:t>•  </a:t>
            </a:r>
            <a:r>
              <a:rPr sz="1800" b="0">
                <a:solidFill>
                  <a:srgbClr val="202830"/>
                </a:solidFill>
                <a:latin typeface="Malgun Gothic"/>
              </a:rPr>
              <a:t>DISPATCHERS·SHARED_SERVERS·MAX_SHARED_SERVERS·SHARED_SERVER_SESSIONS·CIRCUITS를 구성한다</a:t>
            </a:r>
          </a:p>
          <a:p>
            <a:pPr algn="l">
              <a:lnSpc>
                <a:spcPct val="115000"/>
              </a:lnSpc>
              <a:spcAft>
                <a:spcPts val="1200"/>
              </a:spcAft>
            </a:pPr>
            <a:r>
              <a:rPr sz="1800" b="0">
                <a:solidFill>
                  <a:srgbClr val="C0392B"/>
                </a:solidFill>
                <a:latin typeface="Malgun Gothic"/>
              </a:rPr>
              <a:t>•  </a:t>
            </a:r>
            <a:r>
              <a:rPr sz="1800" b="0">
                <a:solidFill>
                  <a:srgbClr val="202830"/>
                </a:solidFill>
                <a:latin typeface="Malgun Gothic"/>
              </a:rPr>
              <a:t>UGA가 PGA에서 SGA로 이동하는 원리와 LARGE_POOL_SIZE·PRIVATE_SGA를 설명한다</a:t>
            </a:r>
          </a:p>
          <a:p>
            <a:pPr algn="l">
              <a:lnSpc>
                <a:spcPct val="115000"/>
              </a:lnSpc>
              <a:spcAft>
                <a:spcPts val="1200"/>
              </a:spcAft>
            </a:pPr>
            <a:r>
              <a:rPr sz="1800" b="0">
                <a:solidFill>
                  <a:srgbClr val="C0392B"/>
                </a:solidFill>
                <a:latin typeface="Malgun Gothic"/>
              </a:rPr>
              <a:t>•  </a:t>
            </a:r>
            <a:r>
              <a:rPr sz="1800" b="0">
                <a:solidFill>
                  <a:srgbClr val="202830"/>
                </a:solidFill>
                <a:latin typeface="Malgun Gothic"/>
              </a:rPr>
              <a:t>관리·백업복구·배치·웨어하우스 등 공유 서버 부적합 작업을 구분한다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spcAft>
                <a:spcPts val="600"/>
              </a:spcAft>
            </a:pPr>
            <a:r>
              <a:rPr sz="2600" b="1">
                <a:solidFill>
                  <a:srgbClr val="FFFFFF"/>
                </a:solidFill>
                <a:latin typeface="Malgun Gothic"/>
              </a:rPr>
              <a:t>이 장의 구성 (Agenda)</a:t>
            </a:r>
          </a:p>
        </p:txBody>
      </p:sp>
      <p:sp>
        <p:nvSpPr>
          <p:cNvPr id="4" name="TextBox 3"/>
          <p:cNvSpPr txBox="1"/>
          <p:nvPr/>
        </p:nvSpPr>
        <p:spPr>
          <a:xfrm>
            <a:off x="640080" y="1280160"/>
            <a:ext cx="10881360" cy="5394960"/>
          </a:xfrm>
          <a:prstGeom prst="rect">
            <a:avLst/>
          </a:prstGeom>
          <a:noFill/>
        </p:spPr>
        <p:txBody>
          <a:bodyPr wrap="square" anchor="t">
            <a:spAutoFit/>
          </a:bodyPr>
          <a:lstStyle/>
          <a:p>
            <a:pPr algn="l">
              <a:lnSpc>
                <a:spcPct val="120000"/>
              </a:lnSpc>
              <a:spcAft>
                <a:spcPts val="1400"/>
              </a:spcAft>
            </a:pPr>
            <a:r>
              <a:rPr sz="1800" b="0">
                <a:solidFill>
                  <a:srgbClr val="C0392B"/>
                </a:solidFill>
                <a:latin typeface="Malgun Gothic"/>
              </a:rPr>
              <a:t>•  </a:t>
            </a:r>
            <a:r>
              <a:rPr sz="1800" b="0">
                <a:solidFill>
                  <a:srgbClr val="202830"/>
                </a:solidFill>
                <a:latin typeface="Malgun Gothic"/>
              </a:rPr>
              <a:t>12.1 공유 서버 개요 · 12.2 전용 vs 공유 구조</a:t>
            </a:r>
          </a:p>
          <a:p>
            <a:pPr algn="l">
              <a:lnSpc>
                <a:spcPct val="120000"/>
              </a:lnSpc>
              <a:spcAft>
                <a:spcPts val="1400"/>
              </a:spcAft>
            </a:pPr>
            <a:r>
              <a:rPr sz="1800" b="0">
                <a:solidFill>
                  <a:srgbClr val="C0392B"/>
                </a:solidFill>
                <a:latin typeface="Malgun Gothic"/>
              </a:rPr>
              <a:t>•  </a:t>
            </a:r>
            <a:r>
              <a:rPr sz="1800" b="0">
                <a:solidFill>
                  <a:srgbClr val="202830"/>
                </a:solidFill>
                <a:latin typeface="Malgun Gothic"/>
              </a:rPr>
              <a:t>12.3 공유 서버 활성화 · 12.4 작업 제어 파라미터</a:t>
            </a:r>
          </a:p>
          <a:p>
            <a:pPr algn="l">
              <a:lnSpc>
                <a:spcPct val="120000"/>
              </a:lnSpc>
              <a:spcAft>
                <a:spcPts val="1400"/>
              </a:spcAft>
            </a:pPr>
            <a:r>
              <a:rPr sz="1800" b="0">
                <a:solidFill>
                  <a:srgbClr val="C0392B"/>
                </a:solidFill>
                <a:latin typeface="Malgun Gothic"/>
              </a:rPr>
              <a:t>•  </a:t>
            </a:r>
            <a:r>
              <a:rPr sz="1800" b="0">
                <a:solidFill>
                  <a:srgbClr val="202830"/>
                </a:solidFill>
                <a:latin typeface="Malgun Gothic"/>
              </a:rPr>
              <a:t>12.5 SGA/PGA(UGA) 사용 변화 · 12.6 구성 고려사항</a:t>
            </a:r>
          </a:p>
          <a:p>
            <a:pPr algn="l">
              <a:lnSpc>
                <a:spcPct val="120000"/>
              </a:lnSpc>
              <a:spcAft>
                <a:spcPts val="1400"/>
              </a:spcAft>
            </a:pPr>
            <a:r>
              <a:rPr sz="1800" b="0">
                <a:solidFill>
                  <a:srgbClr val="C0392B"/>
                </a:solidFill>
                <a:latin typeface="Malgun Gothic"/>
              </a:rPr>
              <a:t>•  </a:t>
            </a:r>
            <a:r>
              <a:rPr sz="1800" b="0">
                <a:solidFill>
                  <a:srgbClr val="202830"/>
                </a:solidFill>
                <a:latin typeface="Malgun Gothic"/>
              </a:rPr>
              <a:t>12.7 퀴즈 · 12.8 요약 · 12.9 실습 12 개요</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nchor="t">
            <a:spAutoFit/>
          </a:bodyPr>
          <a:lstStyle/>
          <a:p>
            <a:pPr algn="l">
              <a:spcAft>
                <a:spcPts val="600"/>
              </a:spcAft>
            </a:pPr>
            <a:r>
              <a:rPr sz="6600" b="1">
                <a:solidFill>
                  <a:srgbClr val="C0392B"/>
                </a:solidFill>
                <a:latin typeface="Malgun Gothic"/>
              </a:rPr>
              <a:t>12.1</a:t>
            </a:r>
          </a:p>
        </p:txBody>
      </p:sp>
      <p:sp>
        <p:nvSpPr>
          <p:cNvPr id="3" name="TextBox 2"/>
          <p:cNvSpPr txBox="1"/>
          <p:nvPr/>
        </p:nvSpPr>
        <p:spPr>
          <a:xfrm>
            <a:off x="822960" y="2743200"/>
            <a:ext cx="10515600" cy="1097280"/>
          </a:xfrm>
          <a:prstGeom prst="rect">
            <a:avLst/>
          </a:prstGeom>
          <a:noFill/>
        </p:spPr>
        <p:txBody>
          <a:bodyPr wrap="square" anchor="t">
            <a:spAutoFit/>
          </a:bodyPr>
          <a:lstStyle/>
          <a:p>
            <a:pPr algn="l">
              <a:spcAft>
                <a:spcPts val="600"/>
              </a:spcAft>
            </a:pPr>
            <a:r>
              <a:rPr sz="3400" b="1">
                <a:solidFill>
                  <a:srgbClr val="FFFFFF"/>
                </a:solidFill>
                <a:latin typeface="Malgun Gothic"/>
              </a:rPr>
              <a:t>공유 서버 아키텍처 개요</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nchor="t">
            <a:spAutoFit/>
          </a:bodyPr>
          <a:lstStyle/>
          <a:p>
            <a:pPr algn="l">
              <a:spcAft>
                <a:spcPts val="600"/>
              </a:spcAft>
            </a:pPr>
            <a:r>
              <a:rPr sz="1600" b="0">
                <a:solidFill>
                  <a:srgbClr val="C5CED6"/>
                </a:solidFill>
                <a:latin typeface="Malgun Gothic"/>
              </a:rPr>
              <a:t>•  </a:t>
            </a:r>
            <a:r>
              <a:rPr sz="1600" b="0">
                <a:solidFill>
                  <a:srgbClr val="C5CED6"/>
                </a:solidFill>
                <a:latin typeface="Malgun Gothic"/>
              </a:rPr>
              <a:t>언제 필요한가: 과부하·제한된 메모리</a:t>
            </a:r>
          </a:p>
          <a:p>
            <a:pPr algn="l">
              <a:spcAft>
                <a:spcPts val="600"/>
              </a:spcAft>
            </a:pPr>
            <a:r>
              <a:rPr sz="1600" b="0">
                <a:solidFill>
                  <a:srgbClr val="C5CED6"/>
                </a:solidFill>
                <a:latin typeface="Malgun Gothic"/>
              </a:rPr>
              <a:t>•  </a:t>
            </a:r>
            <a:r>
              <a:rPr sz="1600" b="0">
                <a:solidFill>
                  <a:srgbClr val="C5CED6"/>
                </a:solidFill>
                <a:latin typeface="Malgun Gothic"/>
              </a:rPr>
              <a:t>클라이언트가 서버 프로세스를 공유</a:t>
            </a:r>
          </a:p>
          <a:p>
            <a:pPr algn="l">
              <a:spcAft>
                <a:spcPts val="600"/>
              </a:spcAft>
            </a:pPr>
            <a:r>
              <a:rPr sz="1600" b="0">
                <a:solidFill>
                  <a:srgbClr val="C5CED6"/>
                </a:solidFill>
                <a:latin typeface="Malgun Gothic"/>
              </a:rPr>
              <a:t>•  </a:t>
            </a:r>
            <a:r>
              <a:rPr sz="1600" b="0">
                <a:solidFill>
                  <a:srgbClr val="C5CED6"/>
                </a:solidFill>
                <a:latin typeface="Malgun Gothic"/>
              </a:rPr>
              <a:t>적은 프로세스로 많은 사용자 지원</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spcAft>
                <a:spcPts val="600"/>
              </a:spcAft>
            </a:pPr>
            <a:r>
              <a:rPr sz="2600" b="1">
                <a:solidFill>
                  <a:srgbClr val="FFFFFF"/>
                </a:solidFill>
                <a:latin typeface="Malgun Gothic"/>
              </a:rPr>
              <a:t>공유 서버는 언제 필요한가</a:t>
            </a:r>
          </a:p>
        </p:txBody>
      </p:sp>
      <p:sp>
        <p:nvSpPr>
          <p:cNvPr id="4" name="TextBox 3"/>
          <p:cNvSpPr txBox="1"/>
          <p:nvPr/>
        </p:nvSpPr>
        <p:spPr>
          <a:xfrm>
            <a:off x="640080" y="1280160"/>
            <a:ext cx="10881360" cy="5394960"/>
          </a:xfrm>
          <a:prstGeom prst="rect">
            <a:avLst/>
          </a:prstGeom>
          <a:noFill/>
        </p:spPr>
        <p:txBody>
          <a:bodyPr wrap="square" anchor="t">
            <a:spAutoFit/>
          </a:bodyPr>
          <a:lstStyle/>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전용 서버: 클라이언트 하나당 서버 프로세스 하나(1:1) → 사용자 수에 비례해 CPU·메모리 소모</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접속은 많지만 대부분 유휴인 웹 환경에서 유휴 프로세스가 메모리만 점유</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공유 서버 고려 상황 ① 시스템 과부하 ② 시스템 메모리 제한</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핵심 아이디어: 소수의 서버 프로세스 풀을 여러 클라이언트가 공유</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spcAft>
                <a:spcPts val="600"/>
              </a:spcAft>
            </a:pPr>
            <a:r>
              <a:rPr sz="2600" b="1">
                <a:solidFill>
                  <a:srgbClr val="FFFFFF"/>
                </a:solidFill>
                <a:latin typeface="Malgun Gothic"/>
              </a:rPr>
              <a:t>공유 서버가 문제를 해결하는 방식</a:t>
            </a:r>
          </a:p>
        </p:txBody>
      </p:sp>
      <p:sp>
        <p:nvSpPr>
          <p:cNvPr id="4" name="TextBox 3"/>
          <p:cNvSpPr txBox="1"/>
          <p:nvPr/>
        </p:nvSpPr>
        <p:spPr>
          <a:xfrm>
            <a:off x="640080" y="1280160"/>
            <a:ext cx="10881360" cy="5394960"/>
          </a:xfrm>
          <a:prstGeom prst="rect">
            <a:avLst/>
          </a:prstGeom>
          <a:noFill/>
        </p:spPr>
        <p:txBody>
          <a:bodyPr wrap="square" anchor="t">
            <a:spAutoFit/>
          </a:bodyPr>
          <a:lstStyle/>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클라이언트 프로세스가 서버 프로세스를 공유하게 만든다</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클라이언트 부하를 지원하는 데 필요한 프로세스 수가 적어진다</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동일 하드웨어로 더 많은 동시 사용자 수용 → 확장성 개선</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기본값은 전용 서버 — 공유 서버는 명시적으로 활성화해야 동작</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nchor="t">
            <a:spAutoFit/>
          </a:bodyPr>
          <a:lstStyle/>
          <a:p>
            <a:pPr algn="l">
              <a:spcAft>
                <a:spcPts val="600"/>
              </a:spcAft>
            </a:pPr>
            <a:r>
              <a:rPr sz="6600" b="1">
                <a:solidFill>
                  <a:srgbClr val="C0392B"/>
                </a:solidFill>
                <a:latin typeface="Malgun Gothic"/>
              </a:rPr>
              <a:t>12.2</a:t>
            </a:r>
          </a:p>
        </p:txBody>
      </p:sp>
      <p:sp>
        <p:nvSpPr>
          <p:cNvPr id="3" name="TextBox 2"/>
          <p:cNvSpPr txBox="1"/>
          <p:nvPr/>
        </p:nvSpPr>
        <p:spPr>
          <a:xfrm>
            <a:off x="822960" y="2743200"/>
            <a:ext cx="10515600" cy="1097280"/>
          </a:xfrm>
          <a:prstGeom prst="rect">
            <a:avLst/>
          </a:prstGeom>
          <a:noFill/>
        </p:spPr>
        <p:txBody>
          <a:bodyPr wrap="square" anchor="t">
            <a:spAutoFit/>
          </a:bodyPr>
          <a:lstStyle/>
          <a:p>
            <a:pPr algn="l">
              <a:spcAft>
                <a:spcPts val="600"/>
              </a:spcAft>
            </a:pPr>
            <a:r>
              <a:rPr sz="3400" b="1">
                <a:solidFill>
                  <a:srgbClr val="FFFFFF"/>
                </a:solidFill>
                <a:latin typeface="Malgun Gothic"/>
              </a:rPr>
              <a:t>전용 서버 vs 공유 서버 구조</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nchor="t">
            <a:spAutoFit/>
          </a:bodyPr>
          <a:lstStyle/>
          <a:p>
            <a:pPr algn="l">
              <a:spcAft>
                <a:spcPts val="600"/>
              </a:spcAft>
            </a:pPr>
            <a:r>
              <a:rPr sz="1600" b="0">
                <a:solidFill>
                  <a:srgbClr val="C5CED6"/>
                </a:solidFill>
                <a:latin typeface="Malgun Gothic"/>
              </a:rPr>
              <a:t>•  </a:t>
            </a:r>
            <a:r>
              <a:rPr sz="1600" b="0">
                <a:solidFill>
                  <a:srgbClr val="C5CED6"/>
                </a:solidFill>
                <a:latin typeface="Malgun Gothic"/>
              </a:rPr>
              <a:t>전용: 1:1 전담 프로세스</a:t>
            </a:r>
          </a:p>
          <a:p>
            <a:pPr algn="l">
              <a:spcAft>
                <a:spcPts val="600"/>
              </a:spcAft>
            </a:pPr>
            <a:r>
              <a:rPr sz="1600" b="0">
                <a:solidFill>
                  <a:srgbClr val="C5CED6"/>
                </a:solidFill>
                <a:latin typeface="Malgun Gothic"/>
              </a:rPr>
              <a:t>•  </a:t>
            </a:r>
            <a:r>
              <a:rPr sz="1600" b="0">
                <a:solidFill>
                  <a:srgbClr val="C5CED6"/>
                </a:solidFill>
                <a:latin typeface="Malgun Gothic"/>
              </a:rPr>
              <a:t>공유: 디스패처+공유 서버 풀</a:t>
            </a:r>
          </a:p>
          <a:p>
            <a:pPr algn="l">
              <a:spcAft>
                <a:spcPts val="600"/>
              </a:spcAft>
            </a:pPr>
            <a:r>
              <a:rPr sz="1600" b="0">
                <a:solidFill>
                  <a:srgbClr val="C5CED6"/>
                </a:solidFill>
                <a:latin typeface="Malgun Gothic"/>
              </a:rPr>
              <a:t>•  </a:t>
            </a:r>
            <a:r>
              <a:rPr sz="1600" b="0">
                <a:solidFill>
                  <a:srgbClr val="C5CED6"/>
                </a:solidFill>
                <a:latin typeface="Malgun Gothic"/>
              </a:rPr>
              <a:t>공통 큐·응답 큐·가상 회로</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spcAft>
                <a:spcPts val="600"/>
              </a:spcAft>
            </a:pPr>
            <a:r>
              <a:rPr sz="2600" b="1">
                <a:solidFill>
                  <a:srgbClr val="FFFFFF"/>
                </a:solidFill>
                <a:latin typeface="Malgun Gothic"/>
              </a:rPr>
              <a:t>전용 서버 구성(Dedicated)</a:t>
            </a:r>
          </a:p>
        </p:txBody>
      </p:sp>
      <p:sp>
        <p:nvSpPr>
          <p:cNvPr id="4" name="TextBox 3"/>
          <p:cNvSpPr txBox="1"/>
          <p:nvPr/>
        </p:nvSpPr>
        <p:spPr>
          <a:xfrm>
            <a:off x="640080" y="1280160"/>
            <a:ext cx="10881360" cy="5394960"/>
          </a:xfrm>
          <a:prstGeom prst="rect">
            <a:avLst/>
          </a:prstGeom>
          <a:noFill/>
        </p:spPr>
        <p:txBody>
          <a:bodyPr wrap="square" anchor="t">
            <a:spAutoFit/>
          </a:bodyPr>
          <a:lstStyle/>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하나의 서버 프로세스가 단일 클라이언트 요청을 처리(1:1)</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세션이 끝날 때까지 클라이언트와 서버 프로세스가 일대일로 대화</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각 프로세스가 CPU·메모리(PGA)를 소비 → 부하 시 자원 과도</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대안: ① 메모리·CPU 증설(스케일 업) ② 공유 서버 아키텍처 사용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spcAft>
                <a:spcPts val="600"/>
              </a:spcAft>
            </a:pPr>
            <a:r>
              <a:rPr sz="2600" b="1">
                <a:solidFill>
                  <a:srgbClr val="FFFFFF"/>
                </a:solidFill>
                <a:latin typeface="Malgun Gothic"/>
              </a:rPr>
              <a:t>공유 서버 구성(Shared)</a:t>
            </a:r>
          </a:p>
        </p:txBody>
      </p:sp>
      <p:sp>
        <p:nvSpPr>
          <p:cNvPr id="4" name="TextBox 3"/>
          <p:cNvSpPr txBox="1"/>
          <p:nvPr/>
        </p:nvSpPr>
        <p:spPr>
          <a:xfrm>
            <a:off x="640080" y="1280160"/>
            <a:ext cx="10881360" cy="5394960"/>
          </a:xfrm>
          <a:prstGeom prst="rect">
            <a:avLst/>
          </a:prstGeom>
          <a:noFill/>
        </p:spPr>
        <p:txBody>
          <a:bodyPr wrap="square" anchor="t">
            <a:spAutoFit/>
          </a:bodyPr>
          <a:lstStyle/>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여러 클라이언트가 적은 수의 서버 프로세스를 공유</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각 서비스는 최소 하나(대개 여러 개)의 디스패처를 가짐</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리스너는 전용 프로세스를 생성하지 않고, 최소 부하 디스패처로 라우팅</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단일 디스패처가 수백 개 연결 관리 — 디스패처는 작업을 직접 처리하지 않음</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요청은 공통 큐로, 공유 서버 프로세스가 큐에서 꺼내 처리</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spcAft>
                <a:spcPts val="600"/>
              </a:spcAft>
            </a:pPr>
            <a:r>
              <a:rPr sz="2600" b="1">
                <a:solidFill>
                  <a:srgbClr val="FFFFFF"/>
                </a:solidFill>
                <a:latin typeface="Malgun Gothic"/>
              </a:rPr>
              <a:t>전용 vs 공유 — 한눈에 비교</a:t>
            </a:r>
          </a:p>
        </p:txBody>
      </p:sp>
      <p:sp>
        <p:nvSpPr>
          <p:cNvPr id="4" name="TextBox 3"/>
          <p:cNvSpPr txBox="1"/>
          <p:nvPr/>
        </p:nvSpPr>
        <p:spPr>
          <a:xfrm>
            <a:off x="640080" y="1280160"/>
            <a:ext cx="10881360" cy="5394960"/>
          </a:xfrm>
          <a:prstGeom prst="rect">
            <a:avLst/>
          </a:prstGeom>
          <a:noFill/>
        </p:spPr>
        <p:txBody>
          <a:bodyPr wrap="square" anchor="t">
            <a:spAutoFit/>
          </a:bodyPr>
          <a:lstStyle/>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프로세스-사용자: 전용 1:1 / 공유 N:1(풀 공유)</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중간 계층: 전용 없음 / 공유 디스패처가 중계</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세션 데이터(UGA): 전용 PGA / 공유 SGA(공유 풀·라지 풀)</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적합 워크로드: 전용 장시간·관리·배치 / 공유 짧고 빈번한 OLTP</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자원 사용: 전용 사용자 수 비례 / 공유 소수 프로세스로 다수 지원</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spcAft>
                <a:spcPts val="600"/>
              </a:spcAft>
            </a:pPr>
            <a:r>
              <a:rPr sz="2600" b="1">
                <a:solidFill>
                  <a:srgbClr val="FFFFFF"/>
                </a:solidFill>
                <a:latin typeface="Malgun Gothic"/>
              </a:rPr>
              <a:t>요청 처리 흐름 — 디스패처와 공유 서버</a:t>
            </a:r>
          </a:p>
        </p:txBody>
      </p:sp>
      <p:sp>
        <p:nvSpPr>
          <p:cNvPr id="4" name="TextBox 3"/>
          <p:cNvSpPr txBox="1"/>
          <p:nvPr/>
        </p:nvSpPr>
        <p:spPr>
          <a:xfrm>
            <a:off x="640080" y="1280160"/>
            <a:ext cx="10881360" cy="5394960"/>
          </a:xfrm>
          <a:prstGeom prst="rect">
            <a:avLst/>
          </a:prstGeom>
          <a:noFill/>
        </p:spPr>
        <p:txBody>
          <a:bodyPr wrap="square" anchor="t">
            <a:spAutoFit/>
          </a:bodyPr>
          <a:lstStyle/>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① 클라이언트가 디스패처에 요청 전송</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② 디스패처가 요청을 공통 큐(요청 큐)에 넣음</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③ 유휴 공유 서버 프로세스가 큐에서 요청을 꺼내 처리</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④ 결과를 요청을 넣은 디스패처의 응답 큐에 넣음</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⑤ 디스패처가 응답을 클라이언트에게 전송</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spcAft>
                <a:spcPts val="600"/>
              </a:spcAft>
            </a:pPr>
            <a:r>
              <a:rPr sz="2600" b="1">
                <a:solidFill>
                  <a:srgbClr val="FFFFFF"/>
                </a:solidFill>
                <a:latin typeface="Malgun Gothic"/>
              </a:rPr>
              <a:t>가상 회로와 두 개의 큐</a:t>
            </a:r>
          </a:p>
        </p:txBody>
      </p:sp>
      <p:sp>
        <p:nvSpPr>
          <p:cNvPr id="4" name="TextBox 3"/>
          <p:cNvSpPr txBox="1"/>
          <p:nvPr/>
        </p:nvSpPr>
        <p:spPr>
          <a:xfrm>
            <a:off x="640080" y="1280160"/>
            <a:ext cx="10881360" cy="5394960"/>
          </a:xfrm>
          <a:prstGeom prst="rect">
            <a:avLst/>
          </a:prstGeom>
          <a:noFill/>
        </p:spPr>
        <p:txBody>
          <a:bodyPr wrap="square" anchor="t">
            <a:spAutoFit/>
          </a:bodyPr>
          <a:lstStyle/>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가상 회로(virtual circuit): 클라이언트-디스패처-공유 서버 통신 경로, SGA에 저장</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공통 요청 큐: 인스턴스에 하나, 여러 디스패처가 쓰고 여러 공유 서버가 읽음</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응답 큐: 디스패처마다 하나 — 응답은 원래 디스패처를 거쳐야 하므로</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'요청 큐는 하나, 응답 큐는 디스패처별'이라는 비대칭 구조가 핵심</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nchor="t">
            <a:spAutoFit/>
          </a:bodyPr>
          <a:lstStyle/>
          <a:p>
            <a:pPr algn="l">
              <a:spcAft>
                <a:spcPts val="600"/>
              </a:spcAft>
            </a:pPr>
            <a:r>
              <a:rPr sz="6600" b="1">
                <a:solidFill>
                  <a:srgbClr val="C0392B"/>
                </a:solidFill>
                <a:latin typeface="Malgun Gothic"/>
              </a:rPr>
              <a:t>12.3</a:t>
            </a:r>
          </a:p>
        </p:txBody>
      </p:sp>
      <p:sp>
        <p:nvSpPr>
          <p:cNvPr id="3" name="TextBox 2"/>
          <p:cNvSpPr txBox="1"/>
          <p:nvPr/>
        </p:nvSpPr>
        <p:spPr>
          <a:xfrm>
            <a:off x="822960" y="2743200"/>
            <a:ext cx="10515600" cy="1097280"/>
          </a:xfrm>
          <a:prstGeom prst="rect">
            <a:avLst/>
          </a:prstGeom>
          <a:noFill/>
        </p:spPr>
        <p:txBody>
          <a:bodyPr wrap="square" anchor="t">
            <a:spAutoFit/>
          </a:bodyPr>
          <a:lstStyle/>
          <a:p>
            <a:pPr algn="l">
              <a:spcAft>
                <a:spcPts val="600"/>
              </a:spcAft>
            </a:pPr>
            <a:r>
              <a:rPr sz="3400" b="1">
                <a:solidFill>
                  <a:srgbClr val="FFFFFF"/>
                </a:solidFill>
                <a:latin typeface="Malgun Gothic"/>
              </a:rPr>
              <a:t>공유 서버 활성화</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nchor="t">
            <a:spAutoFit/>
          </a:bodyPr>
          <a:lstStyle/>
          <a:p>
            <a:pPr algn="l">
              <a:spcAft>
                <a:spcPts val="600"/>
              </a:spcAft>
            </a:pPr>
            <a:r>
              <a:rPr sz="1600" b="0">
                <a:solidFill>
                  <a:srgbClr val="C5CED6"/>
                </a:solidFill>
                <a:latin typeface="Malgun Gothic"/>
              </a:rPr>
              <a:t>•  </a:t>
            </a:r>
            <a:r>
              <a:rPr sz="1600" b="0">
                <a:solidFill>
                  <a:srgbClr val="C5CED6"/>
                </a:solidFill>
                <a:latin typeface="Malgun Gothic"/>
              </a:rPr>
              <a:t>SHARED_SERVERS로 최소 개수 지정</a:t>
            </a:r>
          </a:p>
          <a:p>
            <a:pPr algn="l">
              <a:spcAft>
                <a:spcPts val="600"/>
              </a:spcAft>
            </a:pPr>
            <a:r>
              <a:rPr sz="1600" b="0">
                <a:solidFill>
                  <a:srgbClr val="C5CED6"/>
                </a:solidFill>
                <a:latin typeface="Malgun Gothic"/>
              </a:rPr>
              <a:t>•  </a:t>
            </a:r>
            <a:r>
              <a:rPr sz="1600" b="0">
                <a:solidFill>
                  <a:srgbClr val="C5CED6"/>
                </a:solidFill>
                <a:latin typeface="Malgun Gothic"/>
              </a:rPr>
              <a:t>DISPATCHERS만 정의해도 기본 활성화</a:t>
            </a:r>
          </a:p>
          <a:p>
            <a:pPr algn="l">
              <a:spcAft>
                <a:spcPts val="600"/>
              </a:spcAft>
            </a:pPr>
            <a:r>
              <a:rPr sz="1600" b="0">
                <a:solidFill>
                  <a:srgbClr val="C5CED6"/>
                </a:solidFill>
                <a:latin typeface="Malgun Gothic"/>
              </a:rPr>
              <a:t>•  </a:t>
            </a:r>
            <a:r>
              <a:rPr sz="1600" b="0">
                <a:solidFill>
                  <a:srgbClr val="C5CED6"/>
                </a:solidFill>
                <a:latin typeface="Malgun Gothic"/>
              </a:rPr>
              <a:t>동적으로 서버 수 조정</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spcAft>
                <a:spcPts val="600"/>
              </a:spcAft>
            </a:pPr>
            <a:r>
              <a:rPr sz="2600" b="1">
                <a:solidFill>
                  <a:srgbClr val="FFFFFF"/>
                </a:solidFill>
                <a:latin typeface="Malgun Gothic"/>
              </a:rPr>
              <a:t>SHARED_SERVERS 파라미터</a:t>
            </a:r>
          </a:p>
        </p:txBody>
      </p:sp>
      <p:sp>
        <p:nvSpPr>
          <p:cNvPr id="4" name="TextBox 3"/>
          <p:cNvSpPr txBox="1"/>
          <p:nvPr/>
        </p:nvSpPr>
        <p:spPr>
          <a:xfrm>
            <a:off x="640080" y="1280160"/>
            <a:ext cx="10881360" cy="5394960"/>
          </a:xfrm>
          <a:prstGeom prst="rect">
            <a:avLst/>
          </a:prstGeom>
          <a:noFill/>
        </p:spPr>
        <p:txBody>
          <a:bodyPr wrap="square" anchor="t">
            <a:spAutoFit/>
          </a:bodyPr>
          <a:lstStyle/>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인스턴스 시작 시 생성될 공유 서버의 '최소 개수'를 지정</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파라미터 파일에서 0보다 큰 값으로 설정하거나 ALTER SYSTEM으로 활성화</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시작 후 데이터베이스가 서버 부하·큐 길이에 따라 서버 수를 동적 조정</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검증: V$SHARED_SERVER, V$DISPATCHER, V$QUEUE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spcAft>
                <a:spcPts val="600"/>
              </a:spcAft>
            </a:pPr>
            <a:r>
              <a:rPr sz="2600" b="1">
                <a:solidFill>
                  <a:srgbClr val="FFFFFF"/>
                </a:solidFill>
                <a:latin typeface="Malgun Gothic"/>
              </a:rPr>
              <a:t>공유 서버 활성화 예</a:t>
            </a:r>
          </a:p>
        </p:txBody>
      </p:sp>
      <p:sp>
        <p:nvSpPr>
          <p:cNvPr id="4" name="TextBox 3"/>
          <p:cNvSpPr txBox="1"/>
          <p:nvPr/>
        </p:nvSpPr>
        <p:spPr>
          <a:xfrm>
            <a:off x="640080" y="1143000"/>
            <a:ext cx="10881360" cy="457200"/>
          </a:xfrm>
          <a:prstGeom prst="rect">
            <a:avLst/>
          </a:prstGeom>
          <a:noFill/>
        </p:spPr>
        <p:txBody>
          <a:bodyPr wrap="square" anchor="t">
            <a:spAutoFit/>
          </a:bodyPr>
          <a:lstStyle/>
          <a:p>
            <a:pPr algn="l">
              <a:spcAft>
                <a:spcPts val="600"/>
              </a:spcAft>
            </a:pPr>
            <a:r>
              <a:rPr sz="1500" b="0">
                <a:solidFill>
                  <a:srgbClr val="5A6672"/>
                </a:solidFill>
                <a:latin typeface="Malgun Gothic"/>
              </a:rPr>
              <a:t>SHARED_SERVERS=2 로 즉시 활성화 · SCOPE=BOTH</a:t>
            </a:r>
          </a:p>
        </p:txBody>
      </p:sp>
      <p:sp>
        <p:nvSpPr>
          <p:cNvPr id="5" name="Rectangle 4"/>
          <p:cNvSpPr/>
          <p:nvPr/>
        </p:nvSpPr>
        <p:spPr>
          <a:xfrm>
            <a:off x="640080" y="169164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297680"/>
          </a:xfrm>
          <a:prstGeom prst="rect">
            <a:avLst/>
          </a:prstGeom>
          <a:noFill/>
        </p:spPr>
        <p:txBody>
          <a:bodyPr wrap="square">
            <a:spAutoFit/>
          </a:bodyPr>
          <a:lstStyle/>
          <a:p>
            <a:pPr>
              <a:lnSpc>
                <a:spcPct val="100000"/>
              </a:lnSpc>
              <a:spcAft>
                <a:spcPts val="0"/>
              </a:spcAft>
            </a:pPr>
            <a:r>
              <a:rPr sz="1200">
                <a:solidFill>
                  <a:srgbClr val="7EC699"/>
                </a:solidFill>
                <a:latin typeface="Consolas"/>
              </a:rPr>
              <a:t>-- 현재 상태 확인 (0 이면 전용 서버만 사용)</a:t>
            </a:r>
          </a:p>
          <a:p>
            <a:pPr>
              <a:lnSpc>
                <a:spcPct val="100000"/>
              </a:lnSpc>
              <a:spcAft>
                <a:spcPts val="0"/>
              </a:spcAft>
            </a:pPr>
            <a:r>
              <a:rPr sz="1200">
                <a:solidFill>
                  <a:srgbClr val="E6E6E6"/>
                </a:solidFill>
                <a:latin typeface="Consolas"/>
              </a:rPr>
              <a:t>SYS@cdb1&gt; show parameter shared_servers</a:t>
            </a:r>
          </a:p>
          <a:p>
            <a:pPr>
              <a:lnSpc>
                <a:spcPct val="100000"/>
              </a:lnSpc>
              <a:spcAft>
                <a:spcPts val="0"/>
              </a:spcAft>
            </a:pPr>
            <a:r>
              <a:rPr sz="1200">
                <a:solidFill>
                  <a:srgbClr val="E6E6E6"/>
                </a:solidFill>
                <a:latin typeface="Consolas"/>
              </a:rPr>
              <a:t> </a:t>
            </a:r>
          </a:p>
          <a:p>
            <a:pPr>
              <a:lnSpc>
                <a:spcPct val="100000"/>
              </a:lnSpc>
              <a:spcAft>
                <a:spcPts val="0"/>
              </a:spcAft>
            </a:pPr>
            <a:r>
              <a:rPr sz="1200">
                <a:solidFill>
                  <a:srgbClr val="E6E6E6"/>
                </a:solidFill>
                <a:latin typeface="Consolas"/>
              </a:rPr>
              <a:t>NAME                    TYPE      VALUE</a:t>
            </a:r>
          </a:p>
          <a:p>
            <a:pPr>
              <a:lnSpc>
                <a:spcPct val="100000"/>
              </a:lnSpc>
              <a:spcAft>
                <a:spcPts val="0"/>
              </a:spcAft>
            </a:pPr>
            <a:r>
              <a:rPr sz="1200">
                <a:solidFill>
                  <a:srgbClr val="7EC699"/>
                </a:solidFill>
                <a:latin typeface="Consolas"/>
              </a:rPr>
              <a:t>----------------------- --------- -----</a:t>
            </a:r>
          </a:p>
          <a:p>
            <a:pPr>
              <a:lnSpc>
                <a:spcPct val="100000"/>
              </a:lnSpc>
              <a:spcAft>
                <a:spcPts val="0"/>
              </a:spcAft>
            </a:pPr>
            <a:r>
              <a:rPr sz="1200">
                <a:solidFill>
                  <a:srgbClr val="E6E6E6"/>
                </a:solidFill>
                <a:latin typeface="Consolas"/>
              </a:rPr>
              <a:t>max_shared_servers      integer</a:t>
            </a:r>
          </a:p>
          <a:p>
            <a:pPr>
              <a:lnSpc>
                <a:spcPct val="100000"/>
              </a:lnSpc>
              <a:spcAft>
                <a:spcPts val="0"/>
              </a:spcAft>
            </a:pPr>
            <a:r>
              <a:rPr sz="1200">
                <a:solidFill>
                  <a:srgbClr val="E6E6E6"/>
                </a:solidFill>
                <a:latin typeface="Consolas"/>
              </a:rPr>
              <a:t>shared_servers          integer   0</a:t>
            </a:r>
          </a:p>
          <a:p>
            <a:pPr>
              <a:lnSpc>
                <a:spcPct val="100000"/>
              </a:lnSpc>
              <a:spcAft>
                <a:spcPts val="0"/>
              </a:spcAft>
            </a:pPr>
            <a:r>
              <a:rPr sz="1200">
                <a:solidFill>
                  <a:srgbClr val="E6E6E6"/>
                </a:solidFill>
                <a:latin typeface="Consolas"/>
              </a:rPr>
              <a:t> </a:t>
            </a:r>
          </a:p>
          <a:p>
            <a:pPr>
              <a:lnSpc>
                <a:spcPct val="100000"/>
              </a:lnSpc>
              <a:spcAft>
                <a:spcPts val="0"/>
              </a:spcAft>
            </a:pPr>
            <a:r>
              <a:rPr sz="1200">
                <a:solidFill>
                  <a:srgbClr val="7EC699"/>
                </a:solidFill>
                <a:latin typeface="Consolas"/>
              </a:rPr>
              <a:t>-- 공유 서버를 즉시 활성화: 최소 2개 프로세스 생성</a:t>
            </a:r>
          </a:p>
          <a:p>
            <a:pPr>
              <a:lnSpc>
                <a:spcPct val="100000"/>
              </a:lnSpc>
              <a:spcAft>
                <a:spcPts val="0"/>
              </a:spcAft>
            </a:pPr>
            <a:r>
              <a:rPr sz="1200">
                <a:solidFill>
                  <a:srgbClr val="E6E6E6"/>
                </a:solidFill>
                <a:latin typeface="Consolas"/>
              </a:rPr>
              <a:t>SYS@cdb1&gt; alter system set shared_servers = 2 scope=both;</a:t>
            </a:r>
          </a:p>
          <a:p>
            <a:pPr>
              <a:lnSpc>
                <a:spcPct val="100000"/>
              </a:lnSpc>
              <a:spcAft>
                <a:spcPts val="0"/>
              </a:spcAft>
            </a:pPr>
            <a:r>
              <a:rPr sz="1200">
                <a:solidFill>
                  <a:srgbClr val="E6E6E6"/>
                </a:solidFill>
                <a:latin typeface="Consolas"/>
              </a:rPr>
              <a:t> </a:t>
            </a:r>
          </a:p>
          <a:p>
            <a:pPr>
              <a:lnSpc>
                <a:spcPct val="100000"/>
              </a:lnSpc>
              <a:spcAft>
                <a:spcPts val="0"/>
              </a:spcAft>
            </a:pPr>
            <a:r>
              <a:rPr sz="1200">
                <a:solidFill>
                  <a:srgbClr val="E6E6E6"/>
                </a:solidFill>
                <a:latin typeface="Consolas"/>
              </a:rPr>
              <a:t>System altered.</a:t>
            </a:r>
          </a:p>
          <a:p>
            <a:pPr>
              <a:lnSpc>
                <a:spcPct val="100000"/>
              </a:lnSpc>
              <a:spcAft>
                <a:spcPts val="0"/>
              </a:spcAft>
            </a:pPr>
            <a:r>
              <a:rPr sz="1200">
                <a:solidFill>
                  <a:srgbClr val="7EC699"/>
                </a:solidFill>
                <a:latin typeface="Consolas"/>
              </a:rPr>
              <a:t>-- ora_s000_cdb1, ora_s001_cdb1 프로세스와 TCP 디스패처가 뜬다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spcAft>
                <a:spcPts val="600"/>
              </a:spcAft>
            </a:pPr>
            <a:r>
              <a:rPr sz="2600" b="1">
                <a:solidFill>
                  <a:srgbClr val="FFFFFF"/>
                </a:solidFill>
                <a:latin typeface="Malgun Gothic"/>
              </a:rPr>
              <a:t>DISPATCHERS만 설정했을 때의 기본 활성화</a:t>
            </a:r>
          </a:p>
        </p:txBody>
      </p:sp>
      <p:sp>
        <p:nvSpPr>
          <p:cNvPr id="4" name="TextBox 3"/>
          <p:cNvSpPr txBox="1"/>
          <p:nvPr/>
        </p:nvSpPr>
        <p:spPr>
          <a:xfrm>
            <a:off x="640080" y="1280160"/>
            <a:ext cx="10881360" cy="5394960"/>
          </a:xfrm>
          <a:prstGeom prst="rect">
            <a:avLst/>
          </a:prstGeom>
          <a:noFill/>
        </p:spPr>
        <p:txBody>
          <a:bodyPr wrap="square" anchor="t">
            <a:spAutoFit/>
          </a:bodyPr>
          <a:lstStyle/>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파라미터 파일에 SHARED_SERVERS가 없고 DISPATCHERS만 하나 이상이면 공유 서버 기본 활성화</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이때 SHARED_SERVERS의 기본값은 1</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SHARED_SERVERS만 켜도 TCP용 디스패처 1개는 자동 생성</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실무 권장: 두 파라미터를 함께 명시해 구성을 문서화·예측 가능하게</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nchor="t">
            <a:spAutoFit/>
          </a:bodyPr>
          <a:lstStyle/>
          <a:p>
            <a:pPr algn="l">
              <a:spcAft>
                <a:spcPts val="600"/>
              </a:spcAft>
            </a:pPr>
            <a:r>
              <a:rPr sz="6600" b="1">
                <a:solidFill>
                  <a:srgbClr val="C0392B"/>
                </a:solidFill>
                <a:latin typeface="Malgun Gothic"/>
              </a:rPr>
              <a:t>12.4</a:t>
            </a:r>
          </a:p>
        </p:txBody>
      </p:sp>
      <p:sp>
        <p:nvSpPr>
          <p:cNvPr id="3" name="TextBox 2"/>
          <p:cNvSpPr txBox="1"/>
          <p:nvPr/>
        </p:nvSpPr>
        <p:spPr>
          <a:xfrm>
            <a:off x="822960" y="2743200"/>
            <a:ext cx="10515600" cy="1097280"/>
          </a:xfrm>
          <a:prstGeom prst="rect">
            <a:avLst/>
          </a:prstGeom>
          <a:noFill/>
        </p:spPr>
        <p:txBody>
          <a:bodyPr wrap="square" anchor="t">
            <a:spAutoFit/>
          </a:bodyPr>
          <a:lstStyle/>
          <a:p>
            <a:pPr algn="l">
              <a:spcAft>
                <a:spcPts val="600"/>
              </a:spcAft>
            </a:pPr>
            <a:r>
              <a:rPr sz="3400" b="1">
                <a:solidFill>
                  <a:srgbClr val="FFFFFF"/>
                </a:solidFill>
                <a:latin typeface="Malgun Gothic"/>
              </a:rPr>
              <a:t>공유 서버 작업 제어 파라미터</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nchor="t">
            <a:spAutoFit/>
          </a:bodyPr>
          <a:lstStyle/>
          <a:p>
            <a:pPr algn="l">
              <a:spcAft>
                <a:spcPts val="600"/>
              </a:spcAft>
            </a:pPr>
            <a:r>
              <a:rPr sz="1600" b="0">
                <a:solidFill>
                  <a:srgbClr val="C5CED6"/>
                </a:solidFill>
                <a:latin typeface="Malgun Gothic"/>
              </a:rPr>
              <a:t>•  </a:t>
            </a:r>
            <a:r>
              <a:rPr sz="1600" b="0">
                <a:solidFill>
                  <a:srgbClr val="C5CED6"/>
                </a:solidFill>
                <a:latin typeface="Malgun Gothic"/>
              </a:rPr>
              <a:t>DISPATCHERS·SHARED_SERVERS</a:t>
            </a:r>
          </a:p>
          <a:p>
            <a:pPr algn="l">
              <a:spcAft>
                <a:spcPts val="600"/>
              </a:spcAft>
            </a:pPr>
            <a:r>
              <a:rPr sz="1600" b="0">
                <a:solidFill>
                  <a:srgbClr val="C5CED6"/>
                </a:solidFill>
                <a:latin typeface="Malgun Gothic"/>
              </a:rPr>
              <a:t>•  </a:t>
            </a:r>
            <a:r>
              <a:rPr sz="1600" b="0">
                <a:solidFill>
                  <a:srgbClr val="C5CED6"/>
                </a:solidFill>
                <a:latin typeface="Malgun Gothic"/>
              </a:rPr>
              <a:t>MAX_SHARED_SERVERS·SHARED_SERVER_SESSIONS·CIRCUITS</a:t>
            </a:r>
          </a:p>
          <a:p>
            <a:pPr algn="l">
              <a:spcAft>
                <a:spcPts val="600"/>
              </a:spcAft>
            </a:pPr>
            <a:r>
              <a:rPr sz="1600" b="0">
                <a:solidFill>
                  <a:srgbClr val="C5CED6"/>
                </a:solidFill>
                <a:latin typeface="Malgun Gothic"/>
              </a:rPr>
              <a:t>•  </a:t>
            </a:r>
            <a:r>
              <a:rPr sz="1600" b="0">
                <a:solidFill>
                  <a:srgbClr val="C5CED6"/>
                </a:solidFill>
                <a:latin typeface="Malgun Gothic"/>
              </a:rPr>
              <a:t>상한 파라미터로 자원 보호</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spcAft>
                <a:spcPts val="600"/>
              </a:spcAft>
            </a:pPr>
            <a:r>
              <a:rPr sz="2600" b="1">
                <a:solidFill>
                  <a:srgbClr val="FFFFFF"/>
                </a:solidFill>
                <a:latin typeface="Malgun Gothic"/>
              </a:rPr>
              <a:t>제어 파라미터 5가지</a:t>
            </a:r>
          </a:p>
        </p:txBody>
      </p:sp>
      <p:sp>
        <p:nvSpPr>
          <p:cNvPr id="4" name="TextBox 3"/>
          <p:cNvSpPr txBox="1"/>
          <p:nvPr/>
        </p:nvSpPr>
        <p:spPr>
          <a:xfrm>
            <a:off x="640080" y="1280160"/>
            <a:ext cx="10881360" cy="5394960"/>
          </a:xfrm>
          <a:prstGeom prst="rect">
            <a:avLst/>
          </a:prstGeom>
          <a:noFill/>
        </p:spPr>
        <p:txBody>
          <a:bodyPr wrap="square" anchor="t">
            <a:spAutoFit/>
          </a:bodyPr>
          <a:lstStyle/>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DISPATCHERS — 디스패처 프로세스 구성</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SHARED_SERVERS — 시작할 초기 개수이자 유지할 최소 공유 서버 수</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MAX_SHARED_SERVERS — 동시 실행 가능한 공유 서버의 최대 개수</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SHARED_SERVER_SESSIONS — 동시 공유 서버 사용자 세션의 총 개수</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CIRCUITS — 공유 메모리에 생성 가능한 가상 회로 수의 최대 제한</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spcAft>
                <a:spcPts val="600"/>
              </a:spcAft>
            </a:pPr>
            <a:r>
              <a:rPr sz="2600" b="1">
                <a:solidFill>
                  <a:srgbClr val="FFFFFF"/>
                </a:solidFill>
                <a:latin typeface="Malgun Gothic"/>
              </a:rPr>
              <a:t>DISPATCHERS / SHARED_SERVERS</a:t>
            </a:r>
          </a:p>
        </p:txBody>
      </p:sp>
      <p:sp>
        <p:nvSpPr>
          <p:cNvPr id="4" name="TextBox 3"/>
          <p:cNvSpPr txBox="1"/>
          <p:nvPr/>
        </p:nvSpPr>
        <p:spPr>
          <a:xfrm>
            <a:off x="640080" y="1280160"/>
            <a:ext cx="10881360" cy="5394960"/>
          </a:xfrm>
          <a:prstGeom prst="rect">
            <a:avLst/>
          </a:prstGeom>
          <a:noFill/>
        </p:spPr>
        <p:txBody>
          <a:bodyPr wrap="square" anchor="t">
            <a:spAutoFit/>
          </a:bodyPr>
          <a:lstStyle/>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공유 서버 구성에는 최소 하나의 디스패처가 필요</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디스패처 미지정 + SHARED_SERVERS≠0 → TCP 디스패처 1개 자동 생성</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DISPATCHERS 예: '(PROTOCOL=TCP)(DISPATCHERS=2)(SERVICE=...)(CONNECTIONS=500)'</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SHARED_SERVERS: 초기 개수 설정, 이후 부하·큐 길이 따라 동적 조정</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spcAft>
                <a:spcPts val="600"/>
              </a:spcAft>
            </a:pPr>
            <a:r>
              <a:rPr sz="2600" b="1">
                <a:solidFill>
                  <a:srgbClr val="FFFFFF"/>
                </a:solidFill>
                <a:latin typeface="Malgun Gothic"/>
              </a:rPr>
              <a:t>MAX_SHARED_SERVERS / SHARED_SERVER_SESSIONS / CIRCUITS</a:t>
            </a:r>
          </a:p>
        </p:txBody>
      </p:sp>
      <p:sp>
        <p:nvSpPr>
          <p:cNvPr id="4" name="TextBox 3"/>
          <p:cNvSpPr txBox="1"/>
          <p:nvPr/>
        </p:nvSpPr>
        <p:spPr>
          <a:xfrm>
            <a:off x="640080" y="1280160"/>
            <a:ext cx="10881360" cy="5394960"/>
          </a:xfrm>
          <a:prstGeom prst="rect">
            <a:avLst/>
          </a:prstGeom>
          <a:noFill/>
        </p:spPr>
        <p:txBody>
          <a:bodyPr wrap="square" anchor="t">
            <a:spAutoFit/>
          </a:bodyPr>
          <a:lstStyle/>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MAX_SHARED_SERVERS — PMON이 자동 생성할 공유 서버 최대치 제한(다른 프로세스 자원 확보)</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SHARED_SERVER_SESSIONS — 공유 세션 총수 제한 → 전용 서버용 세션 예약 효과</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CIRCUITS — 가상 회로 수 제한으로 공유 메모리(SGA) 보호</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원칙: SHARED_SERVER_SESSIONS &lt; SESSIONS (전용 세션 여유 확보)</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spcAft>
                <a:spcPts val="600"/>
              </a:spcAft>
            </a:pPr>
            <a:r>
              <a:rPr sz="2600" b="1">
                <a:solidFill>
                  <a:srgbClr val="FFFFFF"/>
                </a:solidFill>
                <a:latin typeface="Malgun Gothic"/>
              </a:rPr>
              <a:t>파라미터 구성 예</a:t>
            </a:r>
          </a:p>
        </p:txBody>
      </p:sp>
      <p:sp>
        <p:nvSpPr>
          <p:cNvPr id="4" name="TextBox 3"/>
          <p:cNvSpPr txBox="1"/>
          <p:nvPr/>
        </p:nvSpPr>
        <p:spPr>
          <a:xfrm>
            <a:off x="640080" y="1143000"/>
            <a:ext cx="10881360" cy="457200"/>
          </a:xfrm>
          <a:prstGeom prst="rect">
            <a:avLst/>
          </a:prstGeom>
          <a:noFill/>
        </p:spPr>
        <p:txBody>
          <a:bodyPr wrap="square" anchor="t">
            <a:spAutoFit/>
          </a:bodyPr>
          <a:lstStyle/>
          <a:p>
            <a:pPr algn="l">
              <a:spcAft>
                <a:spcPts val="600"/>
              </a:spcAft>
            </a:pPr>
            <a:r>
              <a:rPr sz="1500" b="0">
                <a:solidFill>
                  <a:srgbClr val="5A6672"/>
                </a:solidFill>
                <a:latin typeface="Malgun Gothic"/>
              </a:rPr>
              <a:t>디스패처·상한 파라미터 구성</a:t>
            </a:r>
          </a:p>
        </p:txBody>
      </p:sp>
      <p:sp>
        <p:nvSpPr>
          <p:cNvPr id="5" name="Rectangle 4"/>
          <p:cNvSpPr/>
          <p:nvPr/>
        </p:nvSpPr>
        <p:spPr>
          <a:xfrm>
            <a:off x="640080" y="169164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297680"/>
          </a:xfrm>
          <a:prstGeom prst="rect">
            <a:avLst/>
          </a:prstGeom>
          <a:noFill/>
        </p:spPr>
        <p:txBody>
          <a:bodyPr wrap="square">
            <a:spAutoFit/>
          </a:bodyPr>
          <a:lstStyle/>
          <a:p>
            <a:pPr>
              <a:lnSpc>
                <a:spcPct val="100000"/>
              </a:lnSpc>
              <a:spcAft>
                <a:spcPts val="0"/>
              </a:spcAft>
            </a:pPr>
            <a:r>
              <a:rPr sz="1200">
                <a:solidFill>
                  <a:srgbClr val="7EC699"/>
                </a:solidFill>
                <a:latin typeface="Consolas"/>
              </a:rPr>
              <a:t>-- TCP 디스패처 2개 구성</a:t>
            </a:r>
          </a:p>
          <a:p>
            <a:pPr>
              <a:lnSpc>
                <a:spcPct val="100000"/>
              </a:lnSpc>
              <a:spcAft>
                <a:spcPts val="0"/>
              </a:spcAft>
            </a:pPr>
            <a:r>
              <a:rPr sz="1200">
                <a:solidFill>
                  <a:srgbClr val="E6E6E6"/>
                </a:solidFill>
                <a:latin typeface="Consolas"/>
              </a:rPr>
              <a:t>SYS@cdb1&gt; alter system set dispatchers=</a:t>
            </a:r>
          </a:p>
          <a:p>
            <a:pPr>
              <a:lnSpc>
                <a:spcPct val="100000"/>
              </a:lnSpc>
              <a:spcAft>
                <a:spcPts val="0"/>
              </a:spcAft>
            </a:pPr>
            <a:r>
              <a:rPr sz="1200">
                <a:solidFill>
                  <a:srgbClr val="E6E6E6"/>
                </a:solidFill>
                <a:latin typeface="Consolas"/>
              </a:rPr>
              <a:t>  2  '(PROTOCOL=TCP)(DISPATCHERS=2)' scope=both;</a:t>
            </a:r>
          </a:p>
          <a:p>
            <a:pPr>
              <a:lnSpc>
                <a:spcPct val="100000"/>
              </a:lnSpc>
              <a:spcAft>
                <a:spcPts val="0"/>
              </a:spcAft>
            </a:pPr>
            <a:r>
              <a:rPr sz="1200">
                <a:solidFill>
                  <a:srgbClr val="E6E6E6"/>
                </a:solidFill>
                <a:latin typeface="Consolas"/>
              </a:rPr>
              <a:t> </a:t>
            </a:r>
          </a:p>
          <a:p>
            <a:pPr>
              <a:lnSpc>
                <a:spcPct val="100000"/>
              </a:lnSpc>
              <a:spcAft>
                <a:spcPts val="0"/>
              </a:spcAft>
            </a:pPr>
            <a:r>
              <a:rPr sz="1200">
                <a:solidFill>
                  <a:srgbClr val="7EC699"/>
                </a:solidFill>
                <a:latin typeface="Consolas"/>
              </a:rPr>
              <a:t>-- 공유 서버 최대치와 세션·회로 상한 설정</a:t>
            </a:r>
          </a:p>
          <a:p>
            <a:pPr>
              <a:lnSpc>
                <a:spcPct val="100000"/>
              </a:lnSpc>
              <a:spcAft>
                <a:spcPts val="0"/>
              </a:spcAft>
            </a:pPr>
            <a:r>
              <a:rPr sz="1200">
                <a:solidFill>
                  <a:srgbClr val="E6E6E6"/>
                </a:solidFill>
                <a:latin typeface="Consolas"/>
              </a:rPr>
              <a:t>SYS@cdb1&gt; alter system set max_shared_servers = 20 scope=both;</a:t>
            </a:r>
          </a:p>
          <a:p>
            <a:pPr>
              <a:lnSpc>
                <a:spcPct val="100000"/>
              </a:lnSpc>
              <a:spcAft>
                <a:spcPts val="0"/>
              </a:spcAft>
            </a:pPr>
            <a:r>
              <a:rPr sz="1200">
                <a:solidFill>
                  <a:srgbClr val="E6E6E6"/>
                </a:solidFill>
                <a:latin typeface="Consolas"/>
              </a:rPr>
              <a:t>SYS@cdb1&gt; alter system set shared_server_sessions = 450 scope=both;</a:t>
            </a:r>
          </a:p>
          <a:p>
            <a:pPr>
              <a:lnSpc>
                <a:spcPct val="100000"/>
              </a:lnSpc>
              <a:spcAft>
                <a:spcPts val="0"/>
              </a:spcAft>
            </a:pPr>
            <a:r>
              <a:rPr sz="1200">
                <a:solidFill>
                  <a:srgbClr val="E6E6E6"/>
                </a:solidFill>
                <a:latin typeface="Consolas"/>
              </a:rPr>
              <a:t>SYS@cdb1&gt; alter system set circuits = 500 scope=both;</a:t>
            </a:r>
          </a:p>
          <a:p>
            <a:pPr>
              <a:lnSpc>
                <a:spcPct val="100000"/>
              </a:lnSpc>
              <a:spcAft>
                <a:spcPts val="0"/>
              </a:spcAft>
            </a:pPr>
            <a:r>
              <a:rPr sz="1200">
                <a:solidFill>
                  <a:srgbClr val="E6E6E6"/>
                </a:solidFill>
                <a:latin typeface="Consolas"/>
              </a:rPr>
              <a:t> </a:t>
            </a:r>
          </a:p>
          <a:p>
            <a:pPr>
              <a:lnSpc>
                <a:spcPct val="100000"/>
              </a:lnSpc>
              <a:spcAft>
                <a:spcPts val="0"/>
              </a:spcAft>
            </a:pPr>
            <a:r>
              <a:rPr sz="1200">
                <a:solidFill>
                  <a:srgbClr val="E6E6E6"/>
                </a:solidFill>
                <a:latin typeface="Consolas"/>
              </a:rPr>
              <a:t>System altered.</a:t>
            </a:r>
          </a:p>
          <a:p>
            <a:pPr>
              <a:lnSpc>
                <a:spcPct val="100000"/>
              </a:lnSpc>
              <a:spcAft>
                <a:spcPts val="0"/>
              </a:spcAft>
            </a:pPr>
            <a:r>
              <a:rPr sz="1200">
                <a:solidFill>
                  <a:srgbClr val="7EC699"/>
                </a:solidFill>
                <a:latin typeface="Consolas"/>
              </a:rPr>
              <a:t>-- 현재 활성 가상 회로 수 확인</a:t>
            </a:r>
          </a:p>
          <a:p>
            <a:pPr>
              <a:lnSpc>
                <a:spcPct val="100000"/>
              </a:lnSpc>
              <a:spcAft>
                <a:spcPts val="0"/>
              </a:spcAft>
            </a:pPr>
            <a:r>
              <a:rPr sz="1200">
                <a:solidFill>
                  <a:srgbClr val="E6E6E6"/>
                </a:solidFill>
                <a:latin typeface="Consolas"/>
              </a:rPr>
              <a:t>SYS@cdb1&gt; select count(*) from v$circuit;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spcAft>
                <a:spcPts val="600"/>
              </a:spcAft>
            </a:pPr>
            <a:r>
              <a:rPr sz="2600" b="1">
                <a:solidFill>
                  <a:srgbClr val="FFFFFF"/>
                </a:solidFill>
                <a:latin typeface="Malgun Gothic"/>
              </a:rPr>
              <a:t>공유 서버 모니터링 뷰</a:t>
            </a:r>
          </a:p>
        </p:txBody>
      </p:sp>
      <p:sp>
        <p:nvSpPr>
          <p:cNvPr id="4" name="TextBox 3"/>
          <p:cNvSpPr txBox="1"/>
          <p:nvPr/>
        </p:nvSpPr>
        <p:spPr>
          <a:xfrm>
            <a:off x="640080" y="1280160"/>
            <a:ext cx="10881360" cy="5394960"/>
          </a:xfrm>
          <a:prstGeom prst="rect">
            <a:avLst/>
          </a:prstGeom>
          <a:noFill/>
        </p:spPr>
        <p:txBody>
          <a:bodyPr wrap="square" anchor="t">
            <a:spAutoFit/>
          </a:bodyPr>
          <a:lstStyle/>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V$SHARED_SERVER — 서버별 상태·처리 메시지/바이트</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V$DISPATCHER — 디스패처별 상태·연결 수·busy 비율</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V$QUEUE — 요청 큐(COMMON)·응답 큐(DISPATCHER) 대기 항목·평균 대기</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V$CIRCUIT / V$SHARED_SERVER_MONITOR — 회로·최고 수위(highwater)</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진단: COMMON 큐 지연→서버 부족 / DISPATCHER 큐 지연→디스패처 부족</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nchor="t">
            <a:spAutoFit/>
          </a:bodyPr>
          <a:lstStyle/>
          <a:p>
            <a:pPr algn="l">
              <a:spcAft>
                <a:spcPts val="600"/>
              </a:spcAft>
            </a:pPr>
            <a:r>
              <a:rPr sz="6600" b="1">
                <a:solidFill>
                  <a:srgbClr val="C0392B"/>
                </a:solidFill>
                <a:latin typeface="Malgun Gothic"/>
              </a:rPr>
              <a:t>12.5</a:t>
            </a:r>
          </a:p>
        </p:txBody>
      </p:sp>
      <p:sp>
        <p:nvSpPr>
          <p:cNvPr id="3" name="TextBox 2"/>
          <p:cNvSpPr txBox="1"/>
          <p:nvPr/>
        </p:nvSpPr>
        <p:spPr>
          <a:xfrm>
            <a:off x="822960" y="2743200"/>
            <a:ext cx="10515600" cy="1097280"/>
          </a:xfrm>
          <a:prstGeom prst="rect">
            <a:avLst/>
          </a:prstGeom>
          <a:noFill/>
        </p:spPr>
        <p:txBody>
          <a:bodyPr wrap="square" anchor="t">
            <a:spAutoFit/>
          </a:bodyPr>
          <a:lstStyle/>
          <a:p>
            <a:pPr algn="l">
              <a:spcAft>
                <a:spcPts val="600"/>
              </a:spcAft>
            </a:pPr>
            <a:r>
              <a:rPr sz="3400" b="1">
                <a:solidFill>
                  <a:srgbClr val="FFFFFF"/>
                </a:solidFill>
                <a:latin typeface="Malgun Gothic"/>
              </a:rPr>
              <a:t>SGA와 PGA 사용의 변화</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nchor="t">
            <a:spAutoFit/>
          </a:bodyPr>
          <a:lstStyle/>
          <a:p>
            <a:pPr algn="l">
              <a:spcAft>
                <a:spcPts val="600"/>
              </a:spcAft>
            </a:pPr>
            <a:r>
              <a:rPr sz="1600" b="0">
                <a:solidFill>
                  <a:srgbClr val="C5CED6"/>
                </a:solidFill>
                <a:latin typeface="Malgun Gothic"/>
              </a:rPr>
              <a:t>•  </a:t>
            </a:r>
            <a:r>
              <a:rPr sz="1600" b="0">
                <a:solidFill>
                  <a:srgbClr val="C5CED6"/>
                </a:solidFill>
                <a:latin typeface="Malgun Gothic"/>
              </a:rPr>
              <a:t>UGA가 PGA에서 SGA로 이동</a:t>
            </a:r>
          </a:p>
          <a:p>
            <a:pPr algn="l">
              <a:spcAft>
                <a:spcPts val="600"/>
              </a:spcAft>
            </a:pPr>
            <a:r>
              <a:rPr sz="1600" b="0">
                <a:solidFill>
                  <a:srgbClr val="C5CED6"/>
                </a:solidFill>
                <a:latin typeface="Malgun Gothic"/>
              </a:rPr>
              <a:t>•  </a:t>
            </a:r>
            <a:r>
              <a:rPr sz="1600" b="0">
                <a:solidFill>
                  <a:srgbClr val="C5CED6"/>
                </a:solidFill>
                <a:latin typeface="Malgun Gothic"/>
              </a:rPr>
              <a:t>LARGE_POOL_SIZE·PRIVATE_SGA</a:t>
            </a:r>
          </a:p>
          <a:p>
            <a:pPr algn="l">
              <a:spcAft>
                <a:spcPts val="600"/>
              </a:spcAft>
            </a:pPr>
            <a:r>
              <a:rPr sz="1600" b="0">
                <a:solidFill>
                  <a:srgbClr val="C5CED6"/>
                </a:solidFill>
                <a:latin typeface="Malgun Gothic"/>
              </a:rPr>
              <a:t>•  </a:t>
            </a:r>
            <a:r>
              <a:rPr sz="1600" b="0">
                <a:solidFill>
                  <a:srgbClr val="C5CED6"/>
                </a:solidFill>
                <a:latin typeface="Malgun Gothic"/>
              </a:rPr>
              <a:t>SGA 사이징 시 공유 서버 고려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spcAft>
                <a:spcPts val="600"/>
              </a:spcAft>
            </a:pPr>
            <a:r>
              <a:rPr sz="2600" b="1">
                <a:solidFill>
                  <a:srgbClr val="FFFFFF"/>
                </a:solidFill>
                <a:latin typeface="Malgun Gothic"/>
              </a:rPr>
              <a:t>UGA가 PGA에서 SGA로 이동</a:t>
            </a:r>
          </a:p>
        </p:txBody>
      </p:sp>
      <p:sp>
        <p:nvSpPr>
          <p:cNvPr id="4" name="TextBox 3"/>
          <p:cNvSpPr txBox="1"/>
          <p:nvPr/>
        </p:nvSpPr>
        <p:spPr>
          <a:xfrm>
            <a:off x="640080" y="1280160"/>
            <a:ext cx="10881360" cy="5394960"/>
          </a:xfrm>
          <a:prstGeom prst="rect">
            <a:avLst/>
          </a:prstGeom>
          <a:noFill/>
        </p:spPr>
        <p:txBody>
          <a:bodyPr wrap="square" anchor="t">
            <a:spAutoFit/>
          </a:bodyPr>
          <a:lstStyle/>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전용: 세션 데이터가 전담 프로세스의 PGA에 저장</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공유: 세션을 여러 서버가 번갈아 처리 → 특정 PGA에 둘 수 없음</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UGA(사용자 세션 데이터)가 공유 메모리로 이동 — 기본은 공유 풀</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라지 풀 구성 또는 SGA_TARGET 설정 시 → 라지 풀에 저장</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스택 공간(프로세스 로컬 변수)은 여전히 PGA에 남음</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spcAft>
                <a:spcPts val="600"/>
              </a:spcAft>
            </a:pPr>
            <a:r>
              <a:rPr sz="2600" b="1">
                <a:solidFill>
                  <a:srgbClr val="FFFFFF"/>
                </a:solidFill>
                <a:latin typeface="Malgun Gothic"/>
              </a:rPr>
              <a:t>공유 서버에서 SGA/PGA 내용</a:t>
            </a:r>
          </a:p>
        </p:txBody>
      </p:sp>
      <p:sp>
        <p:nvSpPr>
          <p:cNvPr id="4" name="TextBox 3"/>
          <p:cNvSpPr txBox="1"/>
          <p:nvPr/>
        </p:nvSpPr>
        <p:spPr>
          <a:xfrm>
            <a:off x="640080" y="1280160"/>
            <a:ext cx="10881360" cy="5394960"/>
          </a:xfrm>
          <a:prstGeom prst="rect">
            <a:avLst/>
          </a:prstGeom>
          <a:noFill/>
        </p:spPr>
        <p:txBody>
          <a:bodyPr wrap="square" anchor="t">
            <a:spAutoFit/>
          </a:bodyPr>
          <a:lstStyle/>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모든 SQL 텍스트와 파싱된 형태 → SGA(공유 풀)</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커서 상태(검색된 행 등 런타임 값) → UGA로서 SGA</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사용자 세션 데이터(보안·자원 사용 정보) → SGA</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정렬/해시 영역 → SGA(공유 풀·라지 풀)</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스택 공간(로컬 변수) → PGA</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spcAft>
                <a:spcPts val="600"/>
              </a:spcAft>
            </a:pPr>
            <a:r>
              <a:rPr sz="2600" b="1">
                <a:solidFill>
                  <a:srgbClr val="FFFFFF"/>
                </a:solidFill>
                <a:latin typeface="Malgun Gothic"/>
              </a:rPr>
              <a:t>LARGE_POOL_SIZE와 PRIVATE_SGA</a:t>
            </a:r>
          </a:p>
        </p:txBody>
      </p:sp>
      <p:sp>
        <p:nvSpPr>
          <p:cNvPr id="4" name="TextBox 3"/>
          <p:cNvSpPr txBox="1"/>
          <p:nvPr/>
        </p:nvSpPr>
        <p:spPr>
          <a:xfrm>
            <a:off x="640080" y="1280160"/>
            <a:ext cx="10881360" cy="5394960"/>
          </a:xfrm>
          <a:prstGeom prst="rect">
            <a:avLst/>
          </a:prstGeom>
          <a:noFill/>
        </p:spPr>
        <p:txBody>
          <a:bodyPr wrap="square" anchor="t">
            <a:spAutoFit/>
          </a:bodyPr>
          <a:lstStyle/>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변경은 사용자에게 투명 — 그러나 관리자는 메모리 사이징 재고 필요</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여러 사용자 지원 시 LARGE_POOL_SIZE를 늘려 UGA를 라지 풀에 격리</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PRIVATE_SGA(프로파일 자원)로 세션별 SGA 할당량 제한</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SGA 사이징 시 공유 서버 메모리 요구사항 반드시 고려(부족 시 ORA-04031)</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AMM/ASMM 구성 시에는 LARGE_POOL_SIZE를 직접 설정할 필요 없음</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spcAft>
                <a:spcPts val="600"/>
              </a:spcAft>
            </a:pPr>
            <a:r>
              <a:rPr sz="2600" b="1">
                <a:solidFill>
                  <a:srgbClr val="FFFFFF"/>
                </a:solidFill>
                <a:latin typeface="Malgun Gothic"/>
              </a:rPr>
              <a:t>UGA 사용 확인</a:t>
            </a:r>
          </a:p>
        </p:txBody>
      </p:sp>
      <p:sp>
        <p:nvSpPr>
          <p:cNvPr id="4" name="TextBox 3"/>
          <p:cNvSpPr txBox="1"/>
          <p:nvPr/>
        </p:nvSpPr>
        <p:spPr>
          <a:xfrm>
            <a:off x="640080" y="1143000"/>
            <a:ext cx="10881360" cy="457200"/>
          </a:xfrm>
          <a:prstGeom prst="rect">
            <a:avLst/>
          </a:prstGeom>
          <a:noFill/>
        </p:spPr>
        <p:txBody>
          <a:bodyPr wrap="square" anchor="t">
            <a:spAutoFit/>
          </a:bodyPr>
          <a:lstStyle/>
          <a:p>
            <a:pPr algn="l">
              <a:spcAft>
                <a:spcPts val="600"/>
              </a:spcAft>
            </a:pPr>
            <a:r>
              <a:rPr sz="1500" b="0">
                <a:solidFill>
                  <a:srgbClr val="5A6672"/>
                </a:solidFill>
                <a:latin typeface="Malgun Gothic"/>
              </a:rPr>
              <a:t>공유 세션은 UGA가 SGA에 있어 사용량이 큼</a:t>
            </a:r>
          </a:p>
        </p:txBody>
      </p:sp>
      <p:sp>
        <p:nvSpPr>
          <p:cNvPr id="5" name="Rectangle 4"/>
          <p:cNvSpPr/>
          <p:nvPr/>
        </p:nvSpPr>
        <p:spPr>
          <a:xfrm>
            <a:off x="640080" y="169164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297680"/>
          </a:xfrm>
          <a:prstGeom prst="rect">
            <a:avLst/>
          </a:prstGeom>
          <a:noFill/>
        </p:spPr>
        <p:txBody>
          <a:bodyPr wrap="square">
            <a:spAutoFit/>
          </a:bodyPr>
          <a:lstStyle/>
          <a:p>
            <a:pPr>
              <a:lnSpc>
                <a:spcPct val="100000"/>
              </a:lnSpc>
              <a:spcAft>
                <a:spcPts val="0"/>
              </a:spcAft>
            </a:pPr>
            <a:r>
              <a:rPr sz="1200">
                <a:solidFill>
                  <a:srgbClr val="7EC699"/>
                </a:solidFill>
                <a:latin typeface="Consolas"/>
              </a:rPr>
              <a:t>-- 세션별 UGA 메모리와 전용/공유 여부 확인</a:t>
            </a:r>
          </a:p>
          <a:p>
            <a:pPr>
              <a:lnSpc>
                <a:spcPct val="100000"/>
              </a:lnSpc>
              <a:spcAft>
                <a:spcPts val="0"/>
              </a:spcAft>
            </a:pPr>
            <a:r>
              <a:rPr sz="1200">
                <a:solidFill>
                  <a:srgbClr val="E6E6E6"/>
                </a:solidFill>
                <a:latin typeface="Consolas"/>
              </a:rPr>
              <a:t>SYS@cdb1&gt; select s.sid, s.server,</a:t>
            </a:r>
          </a:p>
          <a:p>
            <a:pPr>
              <a:lnSpc>
                <a:spcPct val="100000"/>
              </a:lnSpc>
              <a:spcAft>
                <a:spcPts val="0"/>
              </a:spcAft>
            </a:pPr>
            <a:r>
              <a:rPr sz="1200">
                <a:solidFill>
                  <a:srgbClr val="E6E6E6"/>
                </a:solidFill>
                <a:latin typeface="Consolas"/>
              </a:rPr>
              <a:t>  2         round(m.value/1024) as uga_kb</a:t>
            </a:r>
          </a:p>
          <a:p>
            <a:pPr>
              <a:lnSpc>
                <a:spcPct val="100000"/>
              </a:lnSpc>
              <a:spcAft>
                <a:spcPts val="0"/>
              </a:spcAft>
            </a:pPr>
            <a:r>
              <a:rPr sz="1200">
                <a:solidFill>
                  <a:srgbClr val="E6E6E6"/>
                </a:solidFill>
                <a:latin typeface="Consolas"/>
              </a:rPr>
              <a:t>  3  from v$session s, v$sesstat m, v$statname n</a:t>
            </a:r>
          </a:p>
          <a:p>
            <a:pPr>
              <a:lnSpc>
                <a:spcPct val="100000"/>
              </a:lnSpc>
              <a:spcAft>
                <a:spcPts val="0"/>
              </a:spcAft>
            </a:pPr>
            <a:r>
              <a:rPr sz="1200">
                <a:solidFill>
                  <a:srgbClr val="E6E6E6"/>
                </a:solidFill>
                <a:latin typeface="Consolas"/>
              </a:rPr>
              <a:t>  4  where m.statistic# = n.statistic#</a:t>
            </a:r>
          </a:p>
          <a:p>
            <a:pPr>
              <a:lnSpc>
                <a:spcPct val="100000"/>
              </a:lnSpc>
              <a:spcAft>
                <a:spcPts val="0"/>
              </a:spcAft>
            </a:pPr>
            <a:r>
              <a:rPr sz="1200">
                <a:solidFill>
                  <a:srgbClr val="E6E6E6"/>
                </a:solidFill>
                <a:latin typeface="Consolas"/>
              </a:rPr>
              <a:t>  5    and n.name = 'session uga memory'</a:t>
            </a:r>
          </a:p>
          <a:p>
            <a:pPr>
              <a:lnSpc>
                <a:spcPct val="100000"/>
              </a:lnSpc>
              <a:spcAft>
                <a:spcPts val="0"/>
              </a:spcAft>
            </a:pPr>
            <a:r>
              <a:rPr sz="1200">
                <a:solidFill>
                  <a:srgbClr val="E6E6E6"/>
                </a:solidFill>
                <a:latin typeface="Consolas"/>
              </a:rPr>
              <a:t>  6    and s.sid = m.sid and s.type = 'USER';</a:t>
            </a:r>
          </a:p>
          <a:p>
            <a:pPr>
              <a:lnSpc>
                <a:spcPct val="100000"/>
              </a:lnSpc>
              <a:spcAft>
                <a:spcPts val="0"/>
              </a:spcAft>
            </a:pPr>
            <a:r>
              <a:rPr sz="1200">
                <a:solidFill>
                  <a:srgbClr val="E6E6E6"/>
                </a:solidFill>
                <a:latin typeface="Consolas"/>
              </a:rPr>
              <a:t> </a:t>
            </a:r>
          </a:p>
          <a:p>
            <a:pPr>
              <a:lnSpc>
                <a:spcPct val="100000"/>
              </a:lnSpc>
              <a:spcAft>
                <a:spcPts val="0"/>
              </a:spcAft>
            </a:pPr>
            <a:r>
              <a:rPr sz="1200">
                <a:solidFill>
                  <a:srgbClr val="E6E6E6"/>
                </a:solidFill>
                <a:latin typeface="Consolas"/>
              </a:rPr>
              <a:t>       SID SERVER        UGA_KB</a:t>
            </a:r>
          </a:p>
          <a:p>
            <a:pPr>
              <a:lnSpc>
                <a:spcPct val="100000"/>
              </a:lnSpc>
              <a:spcAft>
                <a:spcPts val="0"/>
              </a:spcAft>
            </a:pPr>
            <a:r>
              <a:rPr sz="1200">
                <a:solidFill>
                  <a:srgbClr val="7EC699"/>
                </a:solidFill>
                <a:latin typeface="Consolas"/>
              </a:rPr>
              <a:t>---------- ---------- ---------</a:t>
            </a:r>
          </a:p>
          <a:p>
            <a:pPr>
              <a:lnSpc>
                <a:spcPct val="100000"/>
              </a:lnSpc>
              <a:spcAft>
                <a:spcPts val="0"/>
              </a:spcAft>
            </a:pPr>
            <a:r>
              <a:rPr sz="1200">
                <a:solidFill>
                  <a:srgbClr val="E6E6E6"/>
                </a:solidFill>
                <a:latin typeface="Consolas"/>
              </a:rPr>
              <a:t>       142 SHARED           612</a:t>
            </a:r>
          </a:p>
          <a:p>
            <a:pPr>
              <a:lnSpc>
                <a:spcPct val="100000"/>
              </a:lnSpc>
              <a:spcAft>
                <a:spcPts val="0"/>
              </a:spcAft>
            </a:pPr>
            <a:r>
              <a:rPr sz="1200">
                <a:solidFill>
                  <a:srgbClr val="E6E6E6"/>
                </a:solidFill>
                <a:latin typeface="Consolas"/>
              </a:rPr>
              <a:t>       155 DEDICATED        118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nchor="t">
            <a:spAutoFit/>
          </a:bodyPr>
          <a:lstStyle/>
          <a:p>
            <a:pPr algn="l">
              <a:spcAft>
                <a:spcPts val="600"/>
              </a:spcAft>
            </a:pPr>
            <a:r>
              <a:rPr sz="6600" b="1">
                <a:solidFill>
                  <a:srgbClr val="C0392B"/>
                </a:solidFill>
                <a:latin typeface="Malgun Gothic"/>
              </a:rPr>
              <a:t>12.6</a:t>
            </a:r>
          </a:p>
        </p:txBody>
      </p:sp>
      <p:sp>
        <p:nvSpPr>
          <p:cNvPr id="3" name="TextBox 2"/>
          <p:cNvSpPr txBox="1"/>
          <p:nvPr/>
        </p:nvSpPr>
        <p:spPr>
          <a:xfrm>
            <a:off x="822960" y="2743200"/>
            <a:ext cx="10515600" cy="1097280"/>
          </a:xfrm>
          <a:prstGeom prst="rect">
            <a:avLst/>
          </a:prstGeom>
          <a:noFill/>
        </p:spPr>
        <p:txBody>
          <a:bodyPr wrap="square" anchor="t">
            <a:spAutoFit/>
          </a:bodyPr>
          <a:lstStyle/>
          <a:p>
            <a:pPr algn="l">
              <a:spcAft>
                <a:spcPts val="600"/>
              </a:spcAft>
            </a:pPr>
            <a:r>
              <a:rPr sz="3400" b="1">
                <a:solidFill>
                  <a:srgbClr val="FFFFFF"/>
                </a:solidFill>
                <a:latin typeface="Malgun Gothic"/>
              </a:rPr>
              <a:t>공유 서버 구성 시 고려사항</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nchor="t">
            <a:spAutoFit/>
          </a:bodyPr>
          <a:lstStyle/>
          <a:p>
            <a:pPr algn="l">
              <a:spcAft>
                <a:spcPts val="600"/>
              </a:spcAft>
            </a:pPr>
            <a:r>
              <a:rPr sz="1600" b="0">
                <a:solidFill>
                  <a:srgbClr val="C5CED6"/>
                </a:solidFill>
                <a:latin typeface="Malgun Gothic"/>
              </a:rPr>
              <a:t>•  </a:t>
            </a:r>
            <a:r>
              <a:rPr sz="1600" b="0">
                <a:solidFill>
                  <a:srgbClr val="C5CED6"/>
                </a:solidFill>
                <a:latin typeface="Malgun Gothic"/>
              </a:rPr>
              <a:t>전용 서버가 나은 경우</a:t>
            </a:r>
          </a:p>
          <a:p>
            <a:pPr algn="l">
              <a:spcAft>
                <a:spcPts val="600"/>
              </a:spcAft>
            </a:pPr>
            <a:r>
              <a:rPr sz="1600" b="0">
                <a:solidFill>
                  <a:srgbClr val="C5CED6"/>
                </a:solidFill>
                <a:latin typeface="Malgun Gothic"/>
              </a:rPr>
              <a:t>•  </a:t>
            </a:r>
            <a:r>
              <a:rPr sz="1600" b="0">
                <a:solidFill>
                  <a:srgbClr val="C5CED6"/>
                </a:solidFill>
                <a:latin typeface="Malgun Gothic"/>
              </a:rPr>
              <a:t>공유 서버 부적합 작업</a:t>
            </a:r>
          </a:p>
          <a:p>
            <a:pPr algn="l">
              <a:spcAft>
                <a:spcPts val="600"/>
              </a:spcAft>
            </a:pPr>
            <a:r>
              <a:rPr sz="1600" b="0">
                <a:solidFill>
                  <a:srgbClr val="C5CED6"/>
                </a:solidFill>
                <a:latin typeface="Malgun Gothic"/>
              </a:rPr>
              <a:t>•  </a:t>
            </a:r>
            <a:r>
              <a:rPr sz="1600" b="0">
                <a:solidFill>
                  <a:srgbClr val="C5CED6"/>
                </a:solidFill>
                <a:latin typeface="Malgun Gothic"/>
              </a:rPr>
              <a:t>접속 경로 선택·XDB</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spcAft>
                <a:spcPts val="600"/>
              </a:spcAft>
            </a:pPr>
            <a:r>
              <a:rPr sz="2600" b="1">
                <a:solidFill>
                  <a:srgbClr val="FFFFFF"/>
                </a:solidFill>
                <a:latin typeface="Malgun Gothic"/>
              </a:rPr>
              <a:t>전용 서버가 더 나은 경우</a:t>
            </a:r>
          </a:p>
        </p:txBody>
      </p:sp>
      <p:sp>
        <p:nvSpPr>
          <p:cNvPr id="4" name="TextBox 3"/>
          <p:cNvSpPr txBox="1"/>
          <p:nvPr/>
        </p:nvSpPr>
        <p:spPr>
          <a:xfrm>
            <a:off x="640080" y="1280160"/>
            <a:ext cx="10881360" cy="5394960"/>
          </a:xfrm>
          <a:prstGeom prst="rect">
            <a:avLst/>
          </a:prstGeom>
          <a:noFill/>
        </p:spPr>
        <p:txBody>
          <a:bodyPr wrap="square" anchor="t">
            <a:spAutoFit/>
          </a:bodyPr>
          <a:lstStyle/>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전용 서버: 항상 준비된 프로세스 → 큐를 안 거쳐 더 빠름</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장시간 실행 쿼리·관리 작업에 적합</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그러나 유휴·과다 전용 프로세스는 자원 비효율</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전용·공유는 동시 활성화 가능 → 워크로드에 따라 분리</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전략: 짧은 OLTP는 공유, 무거운 작업은 전용</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spcAft>
                <a:spcPts val="600"/>
              </a:spcAft>
            </a:pPr>
            <a:r>
              <a:rPr sz="2600" b="1">
                <a:solidFill>
                  <a:srgbClr val="FFFFFF"/>
                </a:solidFill>
                <a:latin typeface="Malgun Gothic"/>
              </a:rPr>
              <a:t>공유 서버를 쓰면 안 되는 작업</a:t>
            </a:r>
          </a:p>
        </p:txBody>
      </p:sp>
      <p:sp>
        <p:nvSpPr>
          <p:cNvPr id="4" name="TextBox 3"/>
          <p:cNvSpPr txBox="1"/>
          <p:nvPr/>
        </p:nvSpPr>
        <p:spPr>
          <a:xfrm>
            <a:off x="640080" y="1280160"/>
            <a:ext cx="10881360" cy="5394960"/>
          </a:xfrm>
          <a:prstGeom prst="rect">
            <a:avLst/>
          </a:prstGeom>
          <a:noFill/>
        </p:spPr>
        <p:txBody>
          <a:bodyPr wrap="square" anchor="t">
            <a:spAutoFit/>
          </a:bodyPr>
          <a:lstStyle/>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데이터베이스 관리(인스턴스 시작·종료, 테이블스페이스·데이터파일 생성 등)</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백업 및 복구 작업 — RMAN은 대용량 데이터, 전용 연결 필요</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배치 처리 및 대량 로드 작업 — 장시간·대용량</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데이터 웨어하우스 작업 — 대용량 스캔·집계</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 모든 DBA 세션은 전용 서버를 선택해야 함</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spcAft>
                <a:spcPts val="600"/>
              </a:spcAft>
            </a:pPr>
            <a:r>
              <a:rPr sz="2600" b="1">
                <a:solidFill>
                  <a:srgbClr val="FFFFFF"/>
                </a:solidFill>
                <a:latin typeface="Malgun Gothic"/>
              </a:rPr>
              <a:t>부적합한 이유와 접속 경로 선택</a:t>
            </a:r>
          </a:p>
        </p:txBody>
      </p:sp>
      <p:sp>
        <p:nvSpPr>
          <p:cNvPr id="4" name="TextBox 3"/>
          <p:cNvSpPr txBox="1"/>
          <p:nvPr/>
        </p:nvSpPr>
        <p:spPr>
          <a:xfrm>
            <a:off x="640080" y="1280160"/>
            <a:ext cx="10881360" cy="5394960"/>
          </a:xfrm>
          <a:prstGeom prst="rect">
            <a:avLst/>
          </a:prstGeom>
          <a:noFill/>
        </p:spPr>
        <p:txBody>
          <a:bodyPr wrap="square" anchor="t">
            <a:spAutoFit/>
          </a:bodyPr>
          <a:lstStyle/>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공통 요청 큐·공유 응답 큐 구조 → 대용량 작업 시 다른 사용자 지연</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무거운 작업이 공유 서버 프로세스를 장기 점유 → OLTP 요청 큐에서 대기</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접속 경로: (SERVER=DEDICATED) / (SERVER=SHARED)를 접속 문자열에 명시</a:t>
            </a:r>
          </a:p>
          <a:p>
            <a:pPr algn="l">
              <a:lnSpc>
                <a:spcPct val="115000"/>
              </a:lnSpc>
              <a:spcAft>
                <a:spcPts val="1000"/>
              </a:spcAft>
            </a:pPr>
            <a:r>
              <a:rPr sz="1800" b="0">
                <a:solidFill>
                  <a:srgbClr val="C0392B"/>
                </a:solidFill>
                <a:latin typeface="Malgun Gothic"/>
              </a:rPr>
              <a:t>•  </a:t>
            </a:r>
            <a:r>
              <a:rPr sz="1800" b="0">
                <a:solidFill>
                  <a:srgbClr val="202830"/>
                </a:solidFill>
                <a:latin typeface="Malgun Gothic"/>
              </a:rPr>
              <a:t>XDB는 이미 공유 서버 사용 — 일반 사용자 접속은 별도 파라미터 설정 필요</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spcAft>
                <a:spcPts val="600"/>
              </a:spcAft>
            </a:pPr>
            <a:r>
              <a:rPr sz="2600" b="1">
                <a:solidFill>
                  <a:srgbClr val="FFFFFF"/>
                </a:solidFill>
                <a:latin typeface="Malgun Gothic"/>
              </a:rPr>
              <a:t>전용 서버 강제 · 접속 경로 확인</a:t>
            </a:r>
          </a:p>
        </p:txBody>
      </p:sp>
      <p:sp>
        <p:nvSpPr>
          <p:cNvPr id="4" name="TextBox 3"/>
          <p:cNvSpPr txBox="1"/>
          <p:nvPr/>
        </p:nvSpPr>
        <p:spPr>
          <a:xfrm>
            <a:off x="640080" y="1143000"/>
            <a:ext cx="10881360" cy="457200"/>
          </a:xfrm>
          <a:prstGeom prst="rect">
            <a:avLst/>
          </a:prstGeom>
          <a:noFill/>
        </p:spPr>
        <p:txBody>
          <a:bodyPr wrap="square" anchor="t">
            <a:spAutoFit/>
          </a:bodyPr>
          <a:lstStyle/>
          <a:p>
            <a:pPr algn="l">
              <a:spcAft>
                <a:spcPts val="600"/>
              </a:spcAft>
            </a:pPr>
            <a:r>
              <a:rPr sz="1500" b="0">
                <a:solidFill>
                  <a:srgbClr val="5A6672"/>
                </a:solidFill>
                <a:latin typeface="Malgun Gothic"/>
              </a:rPr>
              <a:t>배치·RMAN은 (SERVER=DEDICATED) 권장</a:t>
            </a:r>
          </a:p>
        </p:txBody>
      </p:sp>
      <p:sp>
        <p:nvSpPr>
          <p:cNvPr id="5" name="Rectangle 4"/>
          <p:cNvSpPr/>
          <p:nvPr/>
        </p:nvSpPr>
        <p:spPr>
          <a:xfrm>
            <a:off x="640080" y="169164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297680"/>
          </a:xfrm>
          <a:prstGeom prst="rect">
            <a:avLst/>
          </a:prstGeom>
          <a:noFill/>
        </p:spPr>
        <p:txBody>
          <a:bodyPr wrap="square">
            <a:spAutoFit/>
          </a:bodyPr>
          <a:lstStyle/>
          <a:p>
            <a:pPr>
              <a:lnSpc>
                <a:spcPct val="100000"/>
              </a:lnSpc>
              <a:spcAft>
                <a:spcPts val="0"/>
              </a:spcAft>
            </a:pPr>
            <a:r>
              <a:rPr sz="1200">
                <a:solidFill>
                  <a:srgbClr val="7EC699"/>
                </a:solidFill>
                <a:latin typeface="Consolas"/>
              </a:rPr>
              <a:t>-- tnsnames.ora: 배치 계정은 전용 서버 강제</a:t>
            </a:r>
          </a:p>
          <a:p>
            <a:pPr>
              <a:lnSpc>
                <a:spcPct val="100000"/>
              </a:lnSpc>
              <a:spcAft>
                <a:spcPts val="0"/>
              </a:spcAft>
            </a:pPr>
            <a:r>
              <a:rPr sz="1200">
                <a:solidFill>
                  <a:srgbClr val="E6E6E6"/>
                </a:solidFill>
                <a:latin typeface="Consolas"/>
              </a:rPr>
              <a:t>BATCH =</a:t>
            </a:r>
          </a:p>
          <a:p>
            <a:pPr>
              <a:lnSpc>
                <a:spcPct val="100000"/>
              </a:lnSpc>
              <a:spcAft>
                <a:spcPts val="0"/>
              </a:spcAft>
            </a:pPr>
            <a:r>
              <a:rPr sz="1200">
                <a:solidFill>
                  <a:srgbClr val="E6E6E6"/>
                </a:solidFill>
                <a:latin typeface="Consolas"/>
              </a:rPr>
              <a:t>  (DESCRIPTION=</a:t>
            </a:r>
          </a:p>
          <a:p>
            <a:pPr>
              <a:lnSpc>
                <a:spcPct val="100000"/>
              </a:lnSpc>
              <a:spcAft>
                <a:spcPts val="0"/>
              </a:spcAft>
            </a:pPr>
            <a:r>
              <a:rPr sz="1200">
                <a:solidFill>
                  <a:srgbClr val="E6E6E6"/>
                </a:solidFill>
                <a:latin typeface="Consolas"/>
              </a:rPr>
              <a:t>    (ADDRESS=(PROTOCOL=TCP)(HOST=dbsvr)(PORT=1521))</a:t>
            </a:r>
          </a:p>
          <a:p>
            <a:pPr>
              <a:lnSpc>
                <a:spcPct val="100000"/>
              </a:lnSpc>
              <a:spcAft>
                <a:spcPts val="0"/>
              </a:spcAft>
            </a:pPr>
            <a:r>
              <a:rPr sz="1200">
                <a:solidFill>
                  <a:srgbClr val="E6E6E6"/>
                </a:solidFill>
                <a:latin typeface="Consolas"/>
              </a:rPr>
              <a:t>    (CONNECT_DATA=(SERVICE_NAME=cdb1.example.com)</a:t>
            </a:r>
          </a:p>
          <a:p>
            <a:pPr>
              <a:lnSpc>
                <a:spcPct val="100000"/>
              </a:lnSpc>
              <a:spcAft>
                <a:spcPts val="0"/>
              </a:spcAft>
            </a:pPr>
            <a:r>
              <a:rPr sz="1200">
                <a:solidFill>
                  <a:srgbClr val="E6E6E6"/>
                </a:solidFill>
                <a:latin typeface="Consolas"/>
              </a:rPr>
              <a:t>                  (SERVER=DEDICATED)))</a:t>
            </a:r>
          </a:p>
          <a:p>
            <a:pPr>
              <a:lnSpc>
                <a:spcPct val="100000"/>
              </a:lnSpc>
              <a:spcAft>
                <a:spcPts val="0"/>
              </a:spcAft>
            </a:pPr>
            <a:r>
              <a:rPr sz="1200">
                <a:solidFill>
                  <a:srgbClr val="E6E6E6"/>
                </a:solidFill>
                <a:latin typeface="Consolas"/>
              </a:rPr>
              <a:t> </a:t>
            </a:r>
          </a:p>
          <a:p>
            <a:pPr>
              <a:lnSpc>
                <a:spcPct val="100000"/>
              </a:lnSpc>
              <a:spcAft>
                <a:spcPts val="0"/>
              </a:spcAft>
            </a:pPr>
            <a:r>
              <a:rPr sz="1200">
                <a:solidFill>
                  <a:srgbClr val="7EC699"/>
                </a:solidFill>
                <a:latin typeface="Consolas"/>
              </a:rPr>
              <a:t>-- 세션이 전용/공유 중 무엇으로 접속했는지 확인</a:t>
            </a:r>
          </a:p>
          <a:p>
            <a:pPr>
              <a:lnSpc>
                <a:spcPct val="100000"/>
              </a:lnSpc>
              <a:spcAft>
                <a:spcPts val="0"/>
              </a:spcAft>
            </a:pPr>
            <a:r>
              <a:rPr sz="1200">
                <a:solidFill>
                  <a:srgbClr val="E6E6E6"/>
                </a:solidFill>
                <a:latin typeface="Consolas"/>
              </a:rPr>
              <a:t>SYS@cdb1&gt; select sid, username, server, program</a:t>
            </a:r>
          </a:p>
          <a:p>
            <a:pPr>
              <a:lnSpc>
                <a:spcPct val="100000"/>
              </a:lnSpc>
              <a:spcAft>
                <a:spcPts val="0"/>
              </a:spcAft>
            </a:pPr>
            <a:r>
              <a:rPr sz="1200">
                <a:solidFill>
                  <a:srgbClr val="E6E6E6"/>
                </a:solidFill>
                <a:latin typeface="Consolas"/>
              </a:rPr>
              <a:t>  2  from v$session where username is not null order by server;</a:t>
            </a:r>
          </a:p>
          <a:p>
            <a:pPr>
              <a:lnSpc>
                <a:spcPct val="100000"/>
              </a:lnSpc>
              <a:spcAft>
                <a:spcPts val="0"/>
              </a:spcAft>
            </a:pPr>
            <a:r>
              <a:rPr sz="1200">
                <a:solidFill>
                  <a:srgbClr val="7EC699"/>
                </a:solidFill>
                <a:latin typeface="Consolas"/>
              </a:rPr>
              <a:t>-- SERVER='SHARED'=디스패처 경유 / 'DEDICATED'=전용 경로</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nchor="t">
            <a:spAutoFit/>
          </a:bodyPr>
          <a:lstStyle/>
          <a:p>
            <a:pPr algn="l">
              <a:spcAft>
                <a:spcPts val="600"/>
              </a:spcAft>
            </a:pPr>
            <a:r>
              <a:rPr sz="6600" b="1">
                <a:solidFill>
                  <a:srgbClr val="C0392B"/>
                </a:solidFill>
                <a:latin typeface="Malgun Gothic"/>
              </a:rPr>
              <a:t>12.7</a:t>
            </a:r>
          </a:p>
        </p:txBody>
      </p:sp>
      <p:sp>
        <p:nvSpPr>
          <p:cNvPr id="3" name="TextBox 2"/>
          <p:cNvSpPr txBox="1"/>
          <p:nvPr/>
        </p:nvSpPr>
        <p:spPr>
          <a:xfrm>
            <a:off x="822960" y="2743200"/>
            <a:ext cx="10515600" cy="1097280"/>
          </a:xfrm>
          <a:prstGeom prst="rect">
            <a:avLst/>
          </a:prstGeom>
          <a:noFill/>
        </p:spPr>
        <p:txBody>
          <a:bodyPr wrap="square" anchor="t">
            <a:spAutoFit/>
          </a:bodyPr>
          <a:lstStyle/>
          <a:p>
            <a:pPr algn="l">
              <a:spcAft>
                <a:spcPts val="600"/>
              </a:spcAft>
            </a:pPr>
            <a:r>
              <a:rPr sz="3400" b="1">
                <a:solidFill>
                  <a:srgbClr val="FFFFFF"/>
                </a:solidFill>
                <a:latin typeface="Malgun Gothic"/>
              </a:rPr>
              <a:t>이해도 점검 퀴즈</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nchor="t">
            <a:spAutoFit/>
          </a:bodyPr>
          <a:lstStyle/>
          <a:p>
            <a:pPr algn="l">
              <a:spcAft>
                <a:spcPts val="600"/>
              </a:spcAft>
            </a:pPr>
            <a:r>
              <a:rPr sz="1600" b="0">
                <a:solidFill>
                  <a:srgbClr val="C5CED6"/>
                </a:solidFill>
                <a:latin typeface="Malgun Gothic"/>
              </a:rPr>
              <a:t>•  </a:t>
            </a:r>
            <a:r>
              <a:rPr sz="1600" b="0">
                <a:solidFill>
                  <a:srgbClr val="C5CED6"/>
                </a:solidFill>
                <a:latin typeface="Malgun Gothic"/>
              </a:rPr>
              <a:t>개요·구조·활성화</a:t>
            </a:r>
          </a:p>
          <a:p>
            <a:pPr algn="l">
              <a:spcAft>
                <a:spcPts val="600"/>
              </a:spcAft>
            </a:pPr>
            <a:r>
              <a:rPr sz="1600" b="0">
                <a:solidFill>
                  <a:srgbClr val="C5CED6"/>
                </a:solidFill>
                <a:latin typeface="Malgun Gothic"/>
              </a:rPr>
              <a:t>•  </a:t>
            </a:r>
            <a:r>
              <a:rPr sz="1600" b="0">
                <a:solidFill>
                  <a:srgbClr val="C5CED6"/>
                </a:solidFill>
                <a:latin typeface="Malgun Gothic"/>
              </a:rPr>
              <a:t>제어 파라미터·메모리</a:t>
            </a:r>
          </a:p>
          <a:p>
            <a:pPr algn="l">
              <a:spcAft>
                <a:spcPts val="600"/>
              </a:spcAft>
            </a:pPr>
            <a:r>
              <a:rPr sz="1600" b="0">
                <a:solidFill>
                  <a:srgbClr val="C5CED6"/>
                </a:solidFill>
                <a:latin typeface="Malgun Gothic"/>
              </a:rPr>
              <a:t>•  </a:t>
            </a:r>
            <a:r>
              <a:rPr sz="1600" b="0">
                <a:solidFill>
                  <a:srgbClr val="C5CED6"/>
                </a:solidFill>
                <a:latin typeface="Malgun Gothic"/>
              </a:rPr>
              <a:t>부적합 작업</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spcAft>
                <a:spcPts val="600"/>
              </a:spcAft>
            </a:pPr>
            <a:r>
              <a:rPr sz="2600" b="1">
                <a:solidFill>
                  <a:srgbClr val="FFFFFF"/>
                </a:solidFill>
                <a:latin typeface="Malgun Gothic"/>
              </a:rPr>
              <a:t>퀴즈 1 · 2</a:t>
            </a:r>
          </a:p>
        </p:txBody>
      </p:sp>
      <p:sp>
        <p:nvSpPr>
          <p:cNvPr id="4" name="TextBox 3"/>
          <p:cNvSpPr txBox="1"/>
          <p:nvPr/>
        </p:nvSpPr>
        <p:spPr>
          <a:xfrm>
            <a:off x="640080" y="1280160"/>
            <a:ext cx="10881360" cy="5394960"/>
          </a:xfrm>
          <a:prstGeom prst="rect">
            <a:avLst/>
          </a:prstGeom>
          <a:noFill/>
        </p:spPr>
        <p:txBody>
          <a:bodyPr wrap="square" anchor="t">
            <a:spAutoFit/>
          </a:bodyPr>
          <a:lstStyle/>
          <a:p>
            <a:pPr algn="l">
              <a:lnSpc>
                <a:spcPct val="112000"/>
              </a:lnSpc>
              <a:spcAft>
                <a:spcPts val="1000"/>
              </a:spcAft>
            </a:pPr>
            <a:r>
              <a:rPr sz="1700" b="1">
                <a:solidFill>
                  <a:srgbClr val="6A1B7A"/>
                </a:solidFill>
                <a:latin typeface="Malgun Gothic"/>
              </a:rPr>
              <a:t>Q1. 공유 서버를 고려하는 두 상황은?</a:t>
            </a:r>
          </a:p>
          <a:p>
            <a:pPr algn="l">
              <a:lnSpc>
                <a:spcPct val="112000"/>
              </a:lnSpc>
              <a:spcAft>
                <a:spcPts val="1000"/>
              </a:spcAft>
            </a:pPr>
            <a:r>
              <a:rPr sz="1500" b="0">
                <a:solidFill>
                  <a:srgbClr val="C0392B"/>
                </a:solidFill>
                <a:latin typeface="Malgun Gothic"/>
              </a:rPr>
              <a:t>→ </a:t>
            </a:r>
            <a:r>
              <a:rPr sz="1500" b="0">
                <a:solidFill>
                  <a:srgbClr val="202830"/>
                </a:solidFill>
                <a:latin typeface="Malgun Gothic"/>
              </a:rPr>
              <a:t>① 시스템 과부하 ② 시스템 메모리 제한. 서버 프로세스를 공유해 필요한 프로세스 수를 줄인다.</a:t>
            </a:r>
          </a:p>
          <a:p>
            <a:pPr algn="l">
              <a:lnSpc>
                <a:spcPct val="112000"/>
              </a:lnSpc>
              <a:spcAft>
                <a:spcPts val="1000"/>
              </a:spcAft>
            </a:pPr>
            <a:r>
              <a:rPr sz="1700" b="1">
                <a:solidFill>
                  <a:srgbClr val="6A1B7A"/>
                </a:solidFill>
                <a:latin typeface="Malgun Gothic"/>
              </a:rPr>
              <a:t>Q2. 디스패처의 역할과 실제 작업 처리 여부는?</a:t>
            </a:r>
          </a:p>
          <a:p>
            <a:pPr algn="l">
              <a:lnSpc>
                <a:spcPct val="112000"/>
              </a:lnSpc>
              <a:spcAft>
                <a:spcPts val="1000"/>
              </a:spcAft>
            </a:pPr>
            <a:r>
              <a:rPr sz="1500" b="0">
                <a:solidFill>
                  <a:srgbClr val="C0392B"/>
                </a:solidFill>
                <a:latin typeface="Malgun Gothic"/>
              </a:rPr>
              <a:t>→ </a:t>
            </a:r>
            <a:r>
              <a:rPr sz="1500" b="0">
                <a:solidFill>
                  <a:srgbClr val="202830"/>
                </a:solidFill>
                <a:latin typeface="Malgun Gothic"/>
              </a:rPr>
              <a:t>요청을 공통 큐로 전달하고 응답을 클라이언트에 반환하는 중계자. 실제 작업은 공유 서버 프로세스가 큐에서 꺼내 처리한다. 단일 디스패처는 수백 연결 관리.</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spcAft>
                <a:spcPts val="600"/>
              </a:spcAft>
            </a:pPr>
            <a:r>
              <a:rPr sz="2600" b="1">
                <a:solidFill>
                  <a:srgbClr val="FFFFFF"/>
                </a:solidFill>
                <a:latin typeface="Malgun Gothic"/>
              </a:rPr>
              <a:t>퀴즈 3 · 4</a:t>
            </a:r>
          </a:p>
        </p:txBody>
      </p:sp>
      <p:sp>
        <p:nvSpPr>
          <p:cNvPr id="4" name="TextBox 3"/>
          <p:cNvSpPr txBox="1"/>
          <p:nvPr/>
        </p:nvSpPr>
        <p:spPr>
          <a:xfrm>
            <a:off x="640080" y="1280160"/>
            <a:ext cx="10881360" cy="5394960"/>
          </a:xfrm>
          <a:prstGeom prst="rect">
            <a:avLst/>
          </a:prstGeom>
          <a:noFill/>
        </p:spPr>
        <p:txBody>
          <a:bodyPr wrap="square" anchor="t">
            <a:spAutoFit/>
          </a:bodyPr>
          <a:lstStyle/>
          <a:p>
            <a:pPr algn="l">
              <a:lnSpc>
                <a:spcPct val="112000"/>
              </a:lnSpc>
              <a:spcAft>
                <a:spcPts val="1000"/>
              </a:spcAft>
            </a:pPr>
            <a:r>
              <a:rPr sz="1700" b="1">
                <a:solidFill>
                  <a:srgbClr val="6A1B7A"/>
                </a:solidFill>
                <a:latin typeface="Malgun Gothic"/>
              </a:rPr>
              <a:t>Q3. SHARED_SERVERS 값의 의미와 이후 동작은?</a:t>
            </a:r>
          </a:p>
          <a:p>
            <a:pPr algn="l">
              <a:lnSpc>
                <a:spcPct val="112000"/>
              </a:lnSpc>
              <a:spcAft>
                <a:spcPts val="1000"/>
              </a:spcAft>
            </a:pPr>
            <a:r>
              <a:rPr sz="1500" b="0">
                <a:solidFill>
                  <a:srgbClr val="C0392B"/>
                </a:solidFill>
                <a:latin typeface="Malgun Gothic"/>
              </a:rPr>
              <a:t>→ </a:t>
            </a:r>
            <a:r>
              <a:rPr sz="1500" b="0">
                <a:solidFill>
                  <a:srgbClr val="202830"/>
                </a:solidFill>
                <a:latin typeface="Malgun Gothic"/>
              </a:rPr>
              <a:t>인스턴스 시작 시 생성될 공유 서버의 '최소 개수'. 시작 후 서버 부하와 요청 큐 길이에 따라 서버 수를 동적으로 조정한다.</a:t>
            </a:r>
          </a:p>
          <a:p>
            <a:pPr algn="l">
              <a:lnSpc>
                <a:spcPct val="112000"/>
              </a:lnSpc>
              <a:spcAft>
                <a:spcPts val="1000"/>
              </a:spcAft>
            </a:pPr>
            <a:r>
              <a:rPr sz="1700" b="1">
                <a:solidFill>
                  <a:srgbClr val="6A1B7A"/>
                </a:solidFill>
                <a:latin typeface="Malgun Gothic"/>
              </a:rPr>
              <a:t>Q4. SHARED_SERVERS 없이 DISPATCHERS만 지정하면?</a:t>
            </a:r>
          </a:p>
          <a:p>
            <a:pPr algn="l">
              <a:lnSpc>
                <a:spcPct val="112000"/>
              </a:lnSpc>
              <a:spcAft>
                <a:spcPts val="1000"/>
              </a:spcAft>
            </a:pPr>
            <a:r>
              <a:rPr sz="1500" b="0">
                <a:solidFill>
                  <a:srgbClr val="C0392B"/>
                </a:solidFill>
                <a:latin typeface="Malgun Gothic"/>
              </a:rPr>
              <a:t>→ </a:t>
            </a:r>
            <a:r>
              <a:rPr sz="1500" b="0">
                <a:solidFill>
                  <a:srgbClr val="202830"/>
                </a:solidFill>
                <a:latin typeface="Malgun Gothic"/>
              </a:rPr>
              <a:t>공유 서버가 기본 활성화되고 SHARED_SERVERS 기본값은 1이 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spcAft>
                <a:spcPts val="600"/>
              </a:spcAft>
            </a:pPr>
            <a:r>
              <a:rPr sz="2600" b="1">
                <a:solidFill>
                  <a:srgbClr val="FFFFFF"/>
                </a:solidFill>
                <a:latin typeface="Malgun Gothic"/>
              </a:rPr>
              <a:t>퀴즈 5 · 6</a:t>
            </a:r>
          </a:p>
        </p:txBody>
      </p:sp>
      <p:sp>
        <p:nvSpPr>
          <p:cNvPr id="4" name="TextBox 3"/>
          <p:cNvSpPr txBox="1"/>
          <p:nvPr/>
        </p:nvSpPr>
        <p:spPr>
          <a:xfrm>
            <a:off x="640080" y="1280160"/>
            <a:ext cx="10881360" cy="5394960"/>
          </a:xfrm>
          <a:prstGeom prst="rect">
            <a:avLst/>
          </a:prstGeom>
          <a:noFill/>
        </p:spPr>
        <p:txBody>
          <a:bodyPr wrap="square" anchor="t">
            <a:spAutoFit/>
          </a:bodyPr>
          <a:lstStyle/>
          <a:p>
            <a:pPr algn="l">
              <a:lnSpc>
                <a:spcPct val="112000"/>
              </a:lnSpc>
              <a:spcAft>
                <a:spcPts val="1000"/>
              </a:spcAft>
            </a:pPr>
            <a:r>
              <a:rPr sz="1700" b="1">
                <a:solidFill>
                  <a:srgbClr val="6A1B7A"/>
                </a:solidFill>
                <a:latin typeface="Malgun Gothic"/>
              </a:rPr>
              <a:t>Q5. 공유 서버에서 UGA는 어디에? 스택 공간은?</a:t>
            </a:r>
          </a:p>
          <a:p>
            <a:pPr algn="l">
              <a:lnSpc>
                <a:spcPct val="112000"/>
              </a:lnSpc>
              <a:spcAft>
                <a:spcPts val="1000"/>
              </a:spcAft>
            </a:pPr>
            <a:r>
              <a:rPr sz="1500" b="0">
                <a:solidFill>
                  <a:srgbClr val="C0392B"/>
                </a:solidFill>
                <a:latin typeface="Malgun Gothic"/>
              </a:rPr>
              <a:t>→ </a:t>
            </a:r>
            <a:r>
              <a:rPr sz="1500" b="0">
                <a:solidFill>
                  <a:srgbClr val="202830"/>
                </a:solidFill>
                <a:latin typeface="Malgun Gothic"/>
              </a:rPr>
              <a:t>UGA는 SGA(기본 공유 풀, 라지 풀/SGA_TARGET 시 라지 풀)로 이동. 어떤 서버든 어떤 세션을 처리하므로. 스택 공간은 PGA에 남음.</a:t>
            </a:r>
          </a:p>
          <a:p>
            <a:pPr algn="l">
              <a:lnSpc>
                <a:spcPct val="112000"/>
              </a:lnSpc>
              <a:spcAft>
                <a:spcPts val="1000"/>
              </a:spcAft>
            </a:pPr>
            <a:r>
              <a:rPr sz="1700" b="1">
                <a:solidFill>
                  <a:srgbClr val="6A1B7A"/>
                </a:solidFill>
                <a:latin typeface="Malgun Gothic"/>
              </a:rPr>
              <a:t>Q6. 공유 서버 부적합 작업 4가지와 이유는?</a:t>
            </a:r>
          </a:p>
          <a:p>
            <a:pPr algn="l">
              <a:lnSpc>
                <a:spcPct val="112000"/>
              </a:lnSpc>
              <a:spcAft>
                <a:spcPts val="1000"/>
              </a:spcAft>
            </a:pPr>
            <a:r>
              <a:rPr sz="1500" b="0">
                <a:solidFill>
                  <a:srgbClr val="C0392B"/>
                </a:solidFill>
                <a:latin typeface="Malgun Gothic"/>
              </a:rPr>
              <a:t>→ </a:t>
            </a:r>
            <a:r>
              <a:rPr sz="1500" b="0">
                <a:solidFill>
                  <a:srgbClr val="202830"/>
                </a:solidFill>
                <a:latin typeface="Malgun Gothic"/>
              </a:rPr>
              <a:t>관리·백업복구(RMAN)·배치/대량로드·웨어하우스. 공통·공유 큐 구조로 대용량 장시간 작업이 다른 사용자를 지연시키고, 관리 작업은 인스턴스가 열리기 전에도 필요. 모든 DBA 세션은 전용 서버.</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spcAft>
                <a:spcPts val="600"/>
              </a:spcAft>
            </a:pPr>
            <a:r>
              <a:rPr sz="2600" b="1">
                <a:solidFill>
                  <a:srgbClr val="FFFFFF"/>
                </a:solidFill>
                <a:latin typeface="Malgun Gothic"/>
              </a:rPr>
              <a:t>요약 (Summary)</a:t>
            </a:r>
          </a:p>
        </p:txBody>
      </p:sp>
      <p:sp>
        <p:nvSpPr>
          <p:cNvPr id="4" name="TextBox 3"/>
          <p:cNvSpPr txBox="1"/>
          <p:nvPr/>
        </p:nvSpPr>
        <p:spPr>
          <a:xfrm>
            <a:off x="640080" y="1280160"/>
            <a:ext cx="10881360" cy="5394960"/>
          </a:xfrm>
          <a:prstGeom prst="rect">
            <a:avLst/>
          </a:prstGeom>
          <a:noFill/>
        </p:spPr>
        <p:txBody>
          <a:bodyPr wrap="square" anchor="t">
            <a:spAutoFit/>
          </a:bodyPr>
          <a:lstStyle/>
          <a:p>
            <a:pPr algn="l">
              <a:lnSpc>
                <a:spcPct val="115000"/>
              </a:lnSpc>
              <a:spcAft>
                <a:spcPts val="1200"/>
              </a:spcAft>
            </a:pPr>
            <a:r>
              <a:rPr sz="1700" b="0">
                <a:solidFill>
                  <a:srgbClr val="C0392B"/>
                </a:solidFill>
                <a:latin typeface="Malgun Gothic"/>
              </a:rPr>
              <a:t>•  </a:t>
            </a:r>
            <a:r>
              <a:rPr sz="1700" b="0">
                <a:solidFill>
                  <a:srgbClr val="202830"/>
                </a:solidFill>
                <a:latin typeface="Malgun Gothic"/>
              </a:rPr>
              <a:t>전용 vs 공유: 전용은 1:1 단순·빠름·자원 비례, 공유는 디스패처+서버 풀로 확장성 개선</a:t>
            </a:r>
          </a:p>
          <a:p>
            <a:pPr algn="l">
              <a:lnSpc>
                <a:spcPct val="115000"/>
              </a:lnSpc>
              <a:spcAft>
                <a:spcPts val="1200"/>
              </a:spcAft>
            </a:pPr>
            <a:r>
              <a:rPr sz="1700" b="0">
                <a:solidFill>
                  <a:srgbClr val="C0392B"/>
                </a:solidFill>
                <a:latin typeface="Malgun Gothic"/>
              </a:rPr>
              <a:t>•  </a:t>
            </a:r>
            <a:r>
              <a:rPr sz="1700" b="0">
                <a:solidFill>
                  <a:srgbClr val="202830"/>
                </a:solidFill>
                <a:latin typeface="Malgun Gothic"/>
              </a:rPr>
              <a:t>활성화: SHARED_SERVERS&gt;0 또는 DISPATCHERS 정의(기본값 1), TCP 디스패처 자동 생성</a:t>
            </a:r>
          </a:p>
          <a:p>
            <a:pPr algn="l">
              <a:lnSpc>
                <a:spcPct val="115000"/>
              </a:lnSpc>
              <a:spcAft>
                <a:spcPts val="1200"/>
              </a:spcAft>
            </a:pPr>
            <a:r>
              <a:rPr sz="1700" b="0">
                <a:solidFill>
                  <a:srgbClr val="C0392B"/>
                </a:solidFill>
                <a:latin typeface="Malgun Gothic"/>
              </a:rPr>
              <a:t>•  </a:t>
            </a:r>
            <a:r>
              <a:rPr sz="1700" b="0">
                <a:solidFill>
                  <a:srgbClr val="202830"/>
                </a:solidFill>
                <a:latin typeface="Malgun Gothic"/>
              </a:rPr>
              <a:t>제어: DISPATCHERS·SHARED_SERVERS·MAX_SHARED_SERVERS·SHARED_SERVER_SESSIONS·CIRCUITS</a:t>
            </a:r>
          </a:p>
          <a:p>
            <a:pPr algn="l">
              <a:lnSpc>
                <a:spcPct val="115000"/>
              </a:lnSpc>
              <a:spcAft>
                <a:spcPts val="1200"/>
              </a:spcAft>
            </a:pPr>
            <a:r>
              <a:rPr sz="1700" b="0">
                <a:solidFill>
                  <a:srgbClr val="C0392B"/>
                </a:solidFill>
                <a:latin typeface="Malgun Gothic"/>
              </a:rPr>
              <a:t>•  </a:t>
            </a:r>
            <a:r>
              <a:rPr sz="1700" b="0">
                <a:solidFill>
                  <a:srgbClr val="202830"/>
                </a:solidFill>
                <a:latin typeface="Malgun Gothic"/>
              </a:rPr>
              <a:t>메모리: UGA가 PGA→SGA(공유 풀·라지 풀), LARGE_POOL_SIZE·PRIVATE_SGA 고려</a:t>
            </a:r>
          </a:p>
          <a:p>
            <a:pPr algn="l">
              <a:lnSpc>
                <a:spcPct val="115000"/>
              </a:lnSpc>
              <a:spcAft>
                <a:spcPts val="1200"/>
              </a:spcAft>
            </a:pPr>
            <a:r>
              <a:rPr sz="1700" b="0">
                <a:solidFill>
                  <a:srgbClr val="C0392B"/>
                </a:solidFill>
                <a:latin typeface="Malgun Gothic"/>
              </a:rPr>
              <a:t>•  </a:t>
            </a:r>
            <a:r>
              <a:rPr sz="1700" b="0">
                <a:solidFill>
                  <a:srgbClr val="202830"/>
                </a:solidFill>
                <a:latin typeface="Malgun Gothic"/>
              </a:rPr>
              <a:t>고려사항: 관리·백업복구·배치·웨어하우스는 전용 서버, XDB는 이미 공유 서버 사용</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spcAft>
                <a:spcPts val="600"/>
              </a:spcAft>
            </a:pPr>
            <a:r>
              <a:rPr sz="2600" b="1">
                <a:solidFill>
                  <a:srgbClr val="FFFFFF"/>
                </a:solidFill>
                <a:latin typeface="Malgun Gothic"/>
              </a:rPr>
              <a:t>실습 12 개요 (Practice Overview)</a:t>
            </a:r>
          </a:p>
        </p:txBody>
      </p:sp>
      <p:sp>
        <p:nvSpPr>
          <p:cNvPr id="4" name="TextBox 3"/>
          <p:cNvSpPr txBox="1"/>
          <p:nvPr/>
        </p:nvSpPr>
        <p:spPr>
          <a:xfrm>
            <a:off x="640080" y="1280160"/>
            <a:ext cx="10881360" cy="5394960"/>
          </a:xfrm>
          <a:prstGeom prst="rect">
            <a:avLst/>
          </a:prstGeom>
          <a:noFill/>
        </p:spPr>
        <p:txBody>
          <a:bodyPr wrap="square" anchor="t">
            <a:spAutoFit/>
          </a:bodyPr>
          <a:lstStyle/>
          <a:p>
            <a:pPr algn="l">
              <a:lnSpc>
                <a:spcPct val="120000"/>
              </a:lnSpc>
              <a:spcAft>
                <a:spcPts val="1400"/>
              </a:spcAft>
            </a:pPr>
            <a:r>
              <a:rPr sz="1700" b="0">
                <a:solidFill>
                  <a:srgbClr val="C0392B"/>
                </a:solidFill>
                <a:latin typeface="Malgun Gothic"/>
              </a:rPr>
              <a:t>•  </a:t>
            </a:r>
            <a:r>
              <a:rPr sz="1700" b="0">
                <a:solidFill>
                  <a:srgbClr val="202830"/>
                </a:solidFill>
                <a:latin typeface="Malgun Gothic"/>
              </a:rPr>
              <a:t>실습 12-1: SHARED_SERVERS로 공유 서버 활성화 및 프로세스·디스패처 확인</a:t>
            </a:r>
          </a:p>
          <a:p>
            <a:pPr algn="l">
              <a:lnSpc>
                <a:spcPct val="120000"/>
              </a:lnSpc>
              <a:spcAft>
                <a:spcPts val="1400"/>
              </a:spcAft>
            </a:pPr>
            <a:r>
              <a:rPr sz="1700" b="0">
                <a:solidFill>
                  <a:srgbClr val="C0392B"/>
                </a:solidFill>
                <a:latin typeface="Malgun Gothic"/>
              </a:rPr>
              <a:t>•  </a:t>
            </a:r>
            <a:r>
              <a:rPr sz="1700" b="0">
                <a:solidFill>
                  <a:srgbClr val="202830"/>
                </a:solidFill>
                <a:latin typeface="Malgun Gothic"/>
              </a:rPr>
              <a:t>실습 12-2: DISPATCHERS/MAX_SHARED_SERVERS/SHARED_SERVER_SESSIONS/CIRCUITS 구성</a:t>
            </a:r>
          </a:p>
          <a:p>
            <a:pPr algn="l">
              <a:lnSpc>
                <a:spcPct val="120000"/>
              </a:lnSpc>
              <a:spcAft>
                <a:spcPts val="1400"/>
              </a:spcAft>
            </a:pPr>
            <a:r>
              <a:rPr sz="1700" b="0">
                <a:solidFill>
                  <a:srgbClr val="C0392B"/>
                </a:solidFill>
                <a:latin typeface="Malgun Gothic"/>
              </a:rPr>
              <a:t>•  </a:t>
            </a:r>
            <a:r>
              <a:rPr sz="1700" b="0">
                <a:solidFill>
                  <a:srgbClr val="202830"/>
                </a:solidFill>
                <a:latin typeface="Malgun Gothic"/>
              </a:rPr>
              <a:t>실습 12-3: 공유 서버 환경의 SGA/PGA(UGA) 사용 변화 확인</a:t>
            </a:r>
          </a:p>
          <a:p>
            <a:pPr algn="l">
              <a:lnSpc>
                <a:spcPct val="120000"/>
              </a:lnSpc>
              <a:spcAft>
                <a:spcPts val="1400"/>
              </a:spcAft>
            </a:pPr>
            <a:r>
              <a:rPr sz="1700" b="0">
                <a:solidFill>
                  <a:srgbClr val="C0392B"/>
                </a:solidFill>
                <a:latin typeface="Malgun Gothic"/>
              </a:rPr>
              <a:t>•  </a:t>
            </a:r>
            <a:r>
              <a:rPr sz="1700" b="0">
                <a:solidFill>
                  <a:srgbClr val="202830"/>
                </a:solidFill>
                <a:latin typeface="Malgun Gothic"/>
              </a:rPr>
              <a:t>실습 12-4: 공유 서버 제한 작업(DBA·백업복구·배치) 확인 및 전용 서버 강제</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
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장은 서버 측 관문인 Oracle Net Listener의 구성과 관리를 다룬다. 리스너 작동 방식, 동적 서비스 등록과 정적 서비스 등록의 원리와 장단점, 그리고 실무에서의 선택 기준을 명령어와 구성 파일 예제로 설명한다.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 목표 슬라이드. 이 장을 마치면 리스너 작동 방식 설명과 동적·정적 서비스 등록 구성을 수행할 수 있어야 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장의 전체 구성. Oracle Net 복습에서 시작해 리스너 개요·기본 리스너, 동적 등록(LREG), 정적 등록(listener.ora), 두 방식 비교, 퀴즈·요약·실습 순으로 진행한다.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9장에서 배운 Oracle Net의 큰 그림을 복습하는 섹션이다.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Oracle Net Services는 클라이언트와 Oracle 서버 사이의 네트워크 연결을 가능하게 한다. 세션이 확립되면 Oracle Net이 데이터 운반자로 동작한다. 이 그림의 중심에 있는 리스너가 이 장의 주제이며, 10장에서 다룬 연결 기술자의 ADDRESS가 가리키는 목적지가 바로 리스너다.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리스너 자체의 정의와 동작, 제어 유틸리티를 다루는 섹션이다.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리스너는 모든 비로컬 사용자 연결에 대해 Oracle 인스턴스로 향하는 게이트웨이다. 인스턴스와 독립적으로 기동·종료하며, 단일 리스너가 여러 인스턴스와 수천 연결을 서비스할 수 있다. 지정 엔드포인트에서 대기하다 CONNECT 패킷의 서비스 이름을 확인해 서버 프로세스로 연결을 넘기며, 이후 대화에는 개입하지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lsnrctl은 리스너를 제어하는 유틸리티다. start/stop/status/services/reload가 핵심이다. reload는 리스너를 내리지 않고 구성을 다시 읽어 무중단으로 정적 서비스 추가를 반영하지만, 엔드포인트(포트) 변경은 재시작이 필요하다. stop은 기존 세션에 영향을 주지 않고 신규 접속만 막는다. 리스너 로그는 ADR 아래에 남아 접속 오류 진단의 출발점이 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lsnrctl status는 리스너의 별칭(LISTENER), 시작 시각, 대기 엔드포인트(포트 1521), 그리고 등록된 서비스 요약을 보여 준다. 여기 나열된 서비스들은 대부분 동적 등록으로 인스턴스가 자동 등록한 것이다. 더 상세한 핸들러 상태는 lsnrctl services로 본다.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데이터베이스 생성 시 자동으로 만들어지는 기본 리스너를 다루는 섹션이다.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데이터베이스 생성 중 netca가 LISTENER라는 로컬 리스너를 자동 생성한다. 기본 포트 1521에서 대기하고, 동적 서비스 등록으로 서비스가 자동 채워진다. 동적 등록만 쓰면 listener.ora에 서비스 목록이 나타나지 않는다. 인스턴스의 LOCAL_LISTENER 기본값이 1521 리스너를 가리켜 무설정으로도 동적 등록이 성립한다. 리스너는 외부에 열린 관문이므로 ADMIN_RESTRICTIONS와 유효 노드 검사로 강화한다.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동적 서비스 등록의 개념과 이점을 다루는 섹션이다.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동적 서비스 등록은 인스턴스가 자신의 서비스를 리스너에 스스로 자동 등록하는 방식이며 기본값이다. LREG가 리스너를 폴링해 서비스 정보를 등록하고, 마운트 직후 등록 후 60초마다 갱신한다. 기본적으로 모든 PDB가 같은 리스너에 등록되므로 그 리스너를 내리면 모든 PDB 접근이 끊긴다. 동적 등록은 listener.ora를 사용하지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서비스 등록은 관리 편의를 넘어 고가용성의 기반이다. 리스너가 인스턴스 상태를 항상 모니터링하므로 다운 시 다른 인스턴스로 페일오버하고, 부하 정보를 근거로 가장 한가한 핸들러로 로드 밸런싱하며, RAC·Data Guard의 HA를 뒷받침한다. 이 세 이점은 모두 LREG가 실시간 등록하는 상태·부하 정보 덕분이다. 동적 등록에서 관리자가 만지는 것은 리스너 파일이 아니라 인스턴스 파라미터다.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동적 등록을 담당하는 LREG 프로세스의 역할을 다루는 섹션이다.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LREG(Listener Registration) 프로세스는 리스너를 폴링해 인스턴스 이름, 사용 가능한 서비스 이름, 현재·최대 부하, 서비스 핸들러(디스패처·전용 서버)를 등록한다. 부하 정보가 로드 밸런싱의 근거가 된다. 마운트 후 최초 등록하고 60초마다 갱신하며, 어느 리스너에 등록할지는 LOCAL_LISTENER/REMOTE_LISTENER 파라미터가 결정한다. LREG는 인스턴스당 하나뿐이다.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동적 등록을 실제로 구성하는 파라미터를 다루는 섹션이다.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LREG는 LOCAL_LISTENER와 REMOTE_LISTENER 파라미터로 등록할 리스너를 파악한다. 두 파라미터는 리스너 별칭을 가리키고, 이 별칭은 서버 측 tnsnames.ora의 엔드포인트로 해석된다. 여기서 tnsnames는 접속용이 아니라 등록용이며 CONNECT_DATA가 없다. 별칭 대신 주소를 파라미터에 인라인으로 넣으면 tnsnames 정의를 생략할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서버 측 tnsnames.ora에 리스너 별칭을 엔드포인트로 정의하고, ALTER SYSTEM SET LOCAL_LISTENER로 인스턴스가 등록할 리스너를 지정한다. 별칭 대신 주소를 직접 인라인으로 넣을 수도 있다. SERVICE_NAMES는 콤마로 여러 서비스 이름을 광고할 수 있어 워크로드 분리에 쓰인다. 설정 후 lsnrctl services로 핸들러가 READY로 잡혔는지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SERVICE_NAMES는 설치 시 전역 데이터베이스 이름으로 채워지며, 콤마로 여러 이름을 지정해 용도별로 워크로드를 구분할 수 있다. 등록 검증은 SHOW PARAMETER와 lsnrctl services로 한다. ORA-12514는 '리스너는 있으나 서비스 미등록', ORA-12541은 '리스너 자체 미도달'이다. 전자는 서비스 등록을, 후자는 리스너를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서비스 등록을 즉시 강제하는 명령을 다루는 섹션이다.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LREG는 60초 주기로 등록하므로 리스너 재시작 직후에는 서비스가 잠시 비어 보인다. ALTER SYSTEM REGISTER는 다음 폴링을 기다리지 않고 즉시 등록을 강제한다. 리스너 재시작 후, 파라미터 변경 후, 기동 스크립트 말미 등에 유용하다. 기존 세션에 영향이 없고 여러 번 실행해도 무해하다. CDB 루트에서 실행하면 모든 PDB 서비스 등록이 함께 갱신된다.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리스너를 재시작하면 LREG의 다음 등록 주기가 오기 전까지 서비스가 비어 보인다. 인스턴스에서 ALTER SYSTEM REGISTER를 실행하면 즉시 등록되어 lsnrctl status에 서비스가 나타난다. 이 명령은 안전하며 재시작 후 등록 지연을 없애는 관용적 조치다.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정적 서비스 등록의 개념과 이점을 다루는 섹션이다.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정적 서비스 등록은 관리자가 listener.ora에 서비스를 수동 기재하는 방식이다. 리스너는 인스턴스 생존을 모른 채 지원 선언만 하므로 상태가 UNKNOWN으로 표시되며 이는 정상이다. 이점은 특정 PDB용 리스너 분리, 사용자 차단 상태 기동, 그리고 다운 시에도 서비스 존재를 알아 오타인지 다운인지 구별되는 의미 있는 오류 메시지 제공이다.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정적 등록 서비스는 lsnrctl status에서 UNKNOWN으로 표시된다. 동적 등록이 READY/BLOCKED로 실제 상태를 보이는 것과 대조된다. UNKNOWN은 오류가 아니라 리스너가 상태를 확인하지 않기 때문이다. 다만 인스턴스가 죽어도 리스너는 계속 그 서비스를 광고하므로 클라이언트가 접속을 시도하다 뒤늦게 실패할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정적 등록이 반드시 필요한 상황을 다루는 섹션이다.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정적 등록이 반드시 필요한 경우는 외부 프로시저 호출, 이기종 서비스, Oracle Data Guard, EM 외 도구의 원격 startup이다. 공통점은 인스턴스가 정상 OPEN 상태가 아닌 시점에도 리스너가 서비스를 알아야 한다는 것이다. Data Guard 스탠바이는 MOUNT 상태로 대기하므로 동적 등록이 광고하지 못해 정적이 필요하다. 이에 해당하지 않으면 동적이 정답이며 불필요한 정적은 해롭다.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listener.ora로 정적 등록을 구성하는 방법을 다루는 섹션이다.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정적 리스너는 listener.ora에서 두 섹션으로 구성한다. 먼저 리스너와 엔드포인트를 정의하고, SID_LIST_&lt;리스너 이름&gt; 섹션에 서비스를 나열한다. 각 서비스에 GLOBAL_DBNAME(서비스 이름, 도메인까지 클라이언트 요청과 일치해야 함), SID_NAME(인스턴스 SID), ORACLE_HOME을 적는다. 서비스만 바꿨으면 reload, 포트를 바꿨으면 재시작으로 반영한다.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예는 LISTENER_SALESPDBS라는 별도 리스너를 포트 1561에 정의하고, SID_LIST_LISTENER_SALESPDBS 섹션에 PDB1 서비스를 정적 등록한다. 섹션 이름이 SID_LIST_ 접두어 뒤에 리스너 이름을 붙인 형태임에 주목한다. GLOBAL_DBNAME은 클라이언트 서비스 이름과 도메인까지 일치해야 하며, 불일치 시 ORA-12514가 발생한다. 시작 후 서비스는 UNKNOWN 상태로 등록된다.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등록 방식을 비교하고 선택 기준을 정리하는 섹션이다.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동적은 LREG가 자동 등록하고 상태를 READY로 반영하며 페일오버·로드밸런싱을 지원한다. 정적은 관리자가 listener.ora에 수동 기재하고 상태가 UNKNOWN이며 HA를 지원하지 않는다. 선택 기준은 '인스턴스가 없을 때도 리스너가 서비스를 알아야 하는가'이다. 두 방식은 공존 가능하지만 같은 서비스를 양쪽에 중복 등록하면 혼란을 주므로 역할을 나눈다.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퀴즈 1·2. 리스너의 정의(비로컬 연결 게이트웨이)와 기본 리스너의 이름·포트(LISTENER, 1521)를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퀴즈 3·4. 동적 등록의 세 이점(페일오버·로드밸런싱·HA)과 LREG의 등록 정보·주기(60초, 즉시 등록 가능)를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퀴즈 5·6. 정적 등록의 UNKNOWN 상태 이유와 정적 등록 필수 사용처(외부 프로시저·이기종·Data Guard·원격 startup)를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장의 요약. 리스너 개요와 제어, 기본 리스너, 동적 등록(LREG·이점·구성·즉시 등록), 정적 등록(listener.ora·SID_LIST·필수 사용처), 두 방식 비교를 정리한다.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장의 실습 개요. 기본 리스너 상태 조회, 동적 등록 구성, 정적 등록 구성, 즉시 등록의 네 가지를 실습한다. 모든 실습은 테스트용 CDB에서 수행하고 변경 전 백업한다.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Rectangle 1"/>
          <p:cNvSpPr/>
          <p:nvPr/>
        </p:nvSpPr>
        <p:spPr>
          <a:xfrm>
            <a:off x="822960" y="2286000"/>
            <a:ext cx="182880"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548640"/>
          </a:xfrm>
          <a:prstGeom prst="rect">
            <a:avLst/>
          </a:prstGeom>
          <a:noFill/>
        </p:spPr>
        <p:txBody>
          <a:bodyPr wrap="square">
            <a:spAutoFit/>
          </a:bodyPr>
          <a:lstStyle/>
          <a:p>
            <a:r>
              <a:rPr sz="1800" b="1">
                <a:solidFill>
                  <a:srgbClr val="C0392B"/>
                </a:solidFill>
                <a:latin typeface="Malgun Gothic"/>
                <a:ea typeface="Malgun Gothic"/>
              </a:rPr>
              <a:t>Oracle Database 19c Administration Workshop  ·  제11장</a:t>
            </a:r>
          </a:p>
        </p:txBody>
      </p:sp>
      <p:sp>
        <p:nvSpPr>
          <p:cNvPr id="4" name="TextBox 3"/>
          <p:cNvSpPr txBox="1"/>
          <p:nvPr/>
        </p:nvSpPr>
        <p:spPr>
          <a:xfrm>
            <a:off x="1188720" y="2194560"/>
            <a:ext cx="10332720" cy="2011680"/>
          </a:xfrm>
          <a:prstGeom prst="rect">
            <a:avLst/>
          </a:prstGeom>
          <a:noFill/>
        </p:spPr>
        <p:txBody>
          <a:bodyPr wrap="square">
            <a:spAutoFit/>
          </a:bodyPr>
          <a:lstStyle/>
          <a:p>
            <a:r>
              <a:rPr sz="4400" b="1">
                <a:solidFill>
                  <a:srgbClr val="FFFFFF"/>
                </a:solidFill>
                <a:latin typeface="Malgun Gothic"/>
                <a:ea typeface="Malgun Gothic"/>
              </a:rPr>
              <a:t>리스너 구성 및 관리</a:t>
            </a:r>
          </a:p>
        </p:txBody>
      </p:sp>
      <p:sp>
        <p:nvSpPr>
          <p:cNvPr id="5" name="TextBox 4"/>
          <p:cNvSpPr txBox="1"/>
          <p:nvPr/>
        </p:nvSpPr>
        <p:spPr>
          <a:xfrm>
            <a:off x="1188720" y="4297680"/>
            <a:ext cx="10058400" cy="1280160"/>
          </a:xfrm>
          <a:prstGeom prst="rect">
            <a:avLst/>
          </a:prstGeom>
          <a:noFill/>
        </p:spPr>
        <p:txBody>
          <a:bodyPr wrap="square">
            <a:spAutoFit/>
          </a:bodyPr>
          <a:lstStyle/>
          <a:p>
            <a:r>
              <a:rPr sz="1800" b="0">
                <a:solidFill>
                  <a:srgbClr val="C5CED6"/>
                </a:solidFill>
                <a:latin typeface="Malgun Gothic"/>
                <a:ea typeface="Malgun Gothic"/>
              </a:rPr>
              <a:t>리스너 개요 · 기본 리스너 · 동적 서비스 등록 · LREG · 정적 서비스 등록 · listener.ora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학습 목표 (Objectives)</a:t>
            </a:r>
          </a:p>
        </p:txBody>
      </p:sp>
      <p:sp>
        <p:nvSpPr>
          <p:cNvPr id="4" name="TextBox 3"/>
          <p:cNvSpPr txBox="1"/>
          <p:nvPr/>
        </p:nvSpPr>
        <p:spPr>
          <a:xfrm>
            <a:off x="640080" y="1280160"/>
            <a:ext cx="10881360" cy="53949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리스너가 클라이언트 요청을 서버 프로세스로 넘기는 작동 방식을 설명한다</a:t>
            </a:r>
          </a:p>
          <a:p>
            <a:pPr>
              <a:spcAft>
                <a:spcPts val="600"/>
              </a:spcAft>
            </a:pPr>
            <a:r>
              <a:rPr sz="1800" b="0">
                <a:solidFill>
                  <a:srgbClr val="202830"/>
                </a:solidFill>
                <a:latin typeface="Malgun Gothic"/>
                <a:ea typeface="Malgun Gothic"/>
              </a:rPr>
              <a:t>•  기본 리스너(LISTENER)의 이름·포트·자동 등록 방식을 이해한다</a:t>
            </a:r>
          </a:p>
          <a:p>
            <a:pPr>
              <a:spcAft>
                <a:spcPts val="600"/>
              </a:spcAft>
            </a:pPr>
            <a:r>
              <a:rPr sz="1800" b="0">
                <a:solidFill>
                  <a:srgbClr val="202830"/>
                </a:solidFill>
                <a:latin typeface="Malgun Gothic"/>
                <a:ea typeface="Malgun Gothic"/>
              </a:rPr>
              <a:t>•  동적 서비스 등록의 개념과 이점(페일오버·로드밸런싱·고가용성)을 설명한다</a:t>
            </a:r>
          </a:p>
          <a:p>
            <a:pPr>
              <a:spcAft>
                <a:spcPts val="600"/>
              </a:spcAft>
            </a:pPr>
            <a:r>
              <a:rPr sz="1800" b="0">
                <a:solidFill>
                  <a:srgbClr val="202830"/>
                </a:solidFill>
                <a:latin typeface="Malgun Gothic"/>
                <a:ea typeface="Malgun Gothic"/>
              </a:rPr>
              <a:t>•  LREG 프로세스가 등록하는 정보와 등록 주기를 이해한다</a:t>
            </a:r>
          </a:p>
          <a:p>
            <a:pPr>
              <a:spcAft>
                <a:spcPts val="600"/>
              </a:spcAft>
            </a:pPr>
            <a:r>
              <a:rPr sz="1800" b="0">
                <a:solidFill>
                  <a:srgbClr val="202830"/>
                </a:solidFill>
                <a:latin typeface="Malgun Gothic"/>
                <a:ea typeface="Malgun Gothic"/>
              </a:rPr>
              <a:t>•  LOCAL_LISTENER·REMOTE_LISTENER·SERVICE_NAMES로 동적 등록을 구성한다</a:t>
            </a:r>
          </a:p>
          <a:p>
            <a:pPr>
              <a:spcAft>
                <a:spcPts val="600"/>
              </a:spcAft>
            </a:pPr>
            <a:r>
              <a:rPr sz="1800" b="0">
                <a:solidFill>
                  <a:srgbClr val="202830"/>
                </a:solidFill>
                <a:latin typeface="Malgun Gothic"/>
                <a:ea typeface="Malgun Gothic"/>
              </a:rPr>
              <a:t>•  ALTER SYSTEM REGISTER로 즉시 등록을 강제하는 방법을 안다</a:t>
            </a:r>
          </a:p>
          <a:p>
            <a:pPr>
              <a:spcAft>
                <a:spcPts val="600"/>
              </a:spcAft>
            </a:pPr>
            <a:r>
              <a:rPr sz="1800" b="0">
                <a:solidFill>
                  <a:srgbClr val="202830"/>
                </a:solidFill>
                <a:latin typeface="Malgun Gothic"/>
                <a:ea typeface="Malgun Gothic"/>
              </a:rPr>
              <a:t>•  정적 서비스 등록의 개념·이점·필수 사용처를 구분한다</a:t>
            </a:r>
          </a:p>
          <a:p>
            <a:pPr>
              <a:spcAft>
                <a:spcPts val="600"/>
              </a:spcAft>
            </a:pPr>
            <a:r>
              <a:rPr sz="1800" b="0">
                <a:solidFill>
                  <a:srgbClr val="202830"/>
                </a:solidFill>
                <a:latin typeface="Malgun Gothic"/>
                <a:ea typeface="Malgun Gothic"/>
              </a:rPr>
              <a:t>•  listener.ora와 SID_LIST_&lt;리스너명&gt;으로 정적 등록을 구성한다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이 장의 구성 (Agenda)</a:t>
            </a:r>
          </a:p>
        </p:txBody>
      </p:sp>
      <p:sp>
        <p:nvSpPr>
          <p:cNvPr id="4" name="TextBox 3"/>
          <p:cNvSpPr txBox="1"/>
          <p:nvPr/>
        </p:nvSpPr>
        <p:spPr>
          <a:xfrm>
            <a:off x="640080" y="1280160"/>
            <a:ext cx="10881360" cy="53949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11.1 Oracle Net Services 복습 · 11.2 리스너 개요</a:t>
            </a:r>
          </a:p>
          <a:p>
            <a:pPr>
              <a:spcAft>
                <a:spcPts val="600"/>
              </a:spcAft>
            </a:pPr>
            <a:r>
              <a:rPr sz="1800" b="0">
                <a:solidFill>
                  <a:srgbClr val="202830"/>
                </a:solidFill>
                <a:latin typeface="Malgun Gothic"/>
                <a:ea typeface="Malgun Gothic"/>
              </a:rPr>
              <a:t>•  11.3 기본 리스너(LISTENER)</a:t>
            </a:r>
          </a:p>
          <a:p>
            <a:pPr>
              <a:spcAft>
                <a:spcPts val="600"/>
              </a:spcAft>
            </a:pPr>
            <a:r>
              <a:rPr sz="1800" b="0">
                <a:solidFill>
                  <a:srgbClr val="202830"/>
                </a:solidFill>
                <a:latin typeface="Malgun Gothic"/>
                <a:ea typeface="Malgun Gothic"/>
              </a:rPr>
              <a:t>•  11.4 동적 서비스 등록 개념·이점 · 11.5 LREG 프로세스</a:t>
            </a:r>
          </a:p>
          <a:p>
            <a:pPr>
              <a:spcAft>
                <a:spcPts val="600"/>
              </a:spcAft>
            </a:pPr>
            <a:r>
              <a:rPr sz="1800" b="0">
                <a:solidFill>
                  <a:srgbClr val="202830"/>
                </a:solidFill>
                <a:latin typeface="Malgun Gothic"/>
                <a:ea typeface="Malgun Gothic"/>
              </a:rPr>
              <a:t>•  11.6 동적 등록 구성 · 11.7 ALTER SYSTEM REGISTER</a:t>
            </a:r>
          </a:p>
          <a:p>
            <a:pPr>
              <a:spcAft>
                <a:spcPts val="600"/>
              </a:spcAft>
            </a:pPr>
            <a:r>
              <a:rPr sz="1800" b="0">
                <a:solidFill>
                  <a:srgbClr val="202830"/>
                </a:solidFill>
                <a:latin typeface="Malgun Gothic"/>
                <a:ea typeface="Malgun Gothic"/>
              </a:rPr>
              <a:t>•  11.8 정적 등록 개념·이점 · 11.9 정적 필수 사용처</a:t>
            </a:r>
          </a:p>
          <a:p>
            <a:pPr>
              <a:spcAft>
                <a:spcPts val="600"/>
              </a:spcAft>
            </a:pPr>
            <a:r>
              <a:rPr sz="1800" b="0">
                <a:solidFill>
                  <a:srgbClr val="202830"/>
                </a:solidFill>
                <a:latin typeface="Malgun Gothic"/>
                <a:ea typeface="Malgun Gothic"/>
              </a:rPr>
              <a:t>•  11.10 정적 등록 구성(listener.ora) · 11.11 동적 vs 정적</a:t>
            </a:r>
          </a:p>
          <a:p>
            <a:pPr>
              <a:spcAft>
                <a:spcPts val="600"/>
              </a:spcAft>
            </a:pPr>
            <a:r>
              <a:rPr sz="1800" b="0">
                <a:solidFill>
                  <a:srgbClr val="202830"/>
                </a:solidFill>
                <a:latin typeface="Malgun Gothic"/>
                <a:ea typeface="Malgun Gothic"/>
              </a:rPr>
              <a:t>•  11.12 퀴즈 · 11.13 요약 · 11.14 실습</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r>
              <a:rPr sz="6600" b="1">
                <a:solidFill>
                  <a:srgbClr val="C0392B"/>
                </a:solidFill>
                <a:latin typeface="Malgun Gothic"/>
                <a:ea typeface="Malgun Gothic"/>
              </a:rPr>
              <a:t>11.1</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ea typeface="Malgun Gothic"/>
              </a:rPr>
              <a:t>Oracle Net Services 복습</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pPr>
              <a:spcAft>
                <a:spcPts val="400"/>
              </a:spcAft>
            </a:pPr>
            <a:r>
              <a:rPr sz="1600" b="0">
                <a:solidFill>
                  <a:srgbClr val="C5CED6"/>
                </a:solidFill>
                <a:latin typeface="Malgun Gothic"/>
                <a:ea typeface="Malgun Gothic"/>
              </a:rPr>
              <a:t>•  클라이언트↔TCP/IP↔리스너↔DB 서버</a:t>
            </a:r>
          </a:p>
          <a:p>
            <a:pPr>
              <a:spcAft>
                <a:spcPts val="400"/>
              </a:spcAft>
            </a:pPr>
            <a:r>
              <a:rPr sz="1600" b="0">
                <a:solidFill>
                  <a:srgbClr val="C5CED6"/>
                </a:solidFill>
                <a:latin typeface="Malgun Gothic"/>
                <a:ea typeface="Malgun Gothic"/>
              </a:rPr>
              <a:t>•  세션 확립 후 Oracle Net은 데이터 운반자</a:t>
            </a:r>
          </a:p>
          <a:p>
            <a:pPr>
              <a:spcAft>
                <a:spcPts val="400"/>
              </a:spcAft>
            </a:pPr>
            <a:r>
              <a:rPr sz="1600" b="0">
                <a:solidFill>
                  <a:srgbClr val="C5CED6"/>
                </a:solidFill>
                <a:latin typeface="Malgun Gothic"/>
                <a:ea typeface="Malgun Gothic"/>
              </a:rPr>
              <a:t>•  리스너=연결의 관문(gateway)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Oracle Net Services 복습</a:t>
            </a:r>
          </a:p>
        </p:txBody>
      </p:sp>
      <p:sp>
        <p:nvSpPr>
          <p:cNvPr id="4" name="TextBox 3"/>
          <p:cNvSpPr txBox="1"/>
          <p:nvPr/>
        </p:nvSpPr>
        <p:spPr>
          <a:xfrm>
            <a:off x="640080" y="1280160"/>
            <a:ext cx="10881360" cy="53949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Oracle Net = 클라이언트↔Oracle 서버 네트워크 연결 계층</a:t>
            </a:r>
          </a:p>
          <a:p>
            <a:pPr>
              <a:spcAft>
                <a:spcPts val="600"/>
              </a:spcAft>
            </a:pPr>
            <a:r>
              <a:rPr sz="1800" b="0">
                <a:solidFill>
                  <a:srgbClr val="202830"/>
                </a:solidFill>
                <a:latin typeface="Malgun Gothic"/>
                <a:ea typeface="Malgun Gothic"/>
              </a:rPr>
              <a:t>•  구성: 클라이언트/미들티어(App+Oracle Net) ↔ TCP/IP ↔ 리스너 ↔ DB 서버</a:t>
            </a:r>
          </a:p>
          <a:p>
            <a:pPr>
              <a:spcAft>
                <a:spcPts val="600"/>
              </a:spcAft>
            </a:pPr>
            <a:r>
              <a:rPr sz="1800" b="0">
                <a:solidFill>
                  <a:srgbClr val="202830"/>
                </a:solidFill>
                <a:latin typeface="Malgun Gothic"/>
                <a:ea typeface="Malgun Gothic"/>
              </a:rPr>
              <a:t>•  세션 확립 후 Oracle Net은 양쪽을 위한 데이터 운반자 역할</a:t>
            </a:r>
          </a:p>
          <a:p>
            <a:pPr>
              <a:spcAft>
                <a:spcPts val="600"/>
              </a:spcAft>
            </a:pPr>
            <a:r>
              <a:rPr sz="1800" b="0">
                <a:solidFill>
                  <a:srgbClr val="202830"/>
                </a:solidFill>
                <a:latin typeface="Malgun Gothic"/>
                <a:ea typeface="Malgun Gothic"/>
              </a:rPr>
              <a:t>•  리스너 = 클라이언트가 접속 시 가장 먼저 말을 거는 상대</a:t>
            </a:r>
          </a:p>
          <a:p>
            <a:pPr>
              <a:spcAft>
                <a:spcPts val="600"/>
              </a:spcAft>
            </a:pPr>
            <a:r>
              <a:rPr sz="1800" b="0">
                <a:solidFill>
                  <a:srgbClr val="202830"/>
                </a:solidFill>
                <a:latin typeface="Malgun Gothic"/>
                <a:ea typeface="Malgun Gothic"/>
              </a:rPr>
              <a:t>•  10장의 연결 기술자 ADDRESS가 가리키는 목적지 = 이 리스너</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r>
              <a:rPr sz="6600" b="1">
                <a:solidFill>
                  <a:srgbClr val="C0392B"/>
                </a:solidFill>
                <a:latin typeface="Malgun Gothic"/>
                <a:ea typeface="Malgun Gothic"/>
              </a:rPr>
              <a:t>11.2</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ea typeface="Malgun Gothic"/>
              </a:rPr>
              <a:t>Oracle Net Listener 개요</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pPr>
              <a:spcAft>
                <a:spcPts val="400"/>
              </a:spcAft>
            </a:pPr>
            <a:r>
              <a:rPr sz="1600" b="0">
                <a:solidFill>
                  <a:srgbClr val="C5CED6"/>
                </a:solidFill>
                <a:latin typeface="Malgun Gothic"/>
                <a:ea typeface="Malgun Gothic"/>
              </a:rPr>
              <a:t>•  모든 비로컬 연결의 게이트웨이</a:t>
            </a:r>
          </a:p>
          <a:p>
            <a:pPr>
              <a:spcAft>
                <a:spcPts val="400"/>
              </a:spcAft>
            </a:pPr>
            <a:r>
              <a:rPr sz="1600" b="0">
                <a:solidFill>
                  <a:srgbClr val="C5CED6"/>
                </a:solidFill>
                <a:latin typeface="Malgun Gothic"/>
                <a:ea typeface="Malgun Gothic"/>
              </a:rPr>
              <a:t>•  단일 리스너=여러 인스턴스·수천 연결</a:t>
            </a:r>
          </a:p>
          <a:p>
            <a:pPr>
              <a:spcAft>
                <a:spcPts val="400"/>
              </a:spcAft>
            </a:pPr>
            <a:r>
              <a:rPr sz="1600" b="0">
                <a:solidFill>
                  <a:srgbClr val="C5CED6"/>
                </a:solidFill>
                <a:latin typeface="Malgun Gothic"/>
                <a:ea typeface="Malgun Gothic"/>
              </a:rPr>
              <a:t>•  lsnrctl로 시작·중지·상태 조회</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리스너란 무엇인가</a:t>
            </a:r>
          </a:p>
        </p:txBody>
      </p:sp>
      <p:sp>
        <p:nvSpPr>
          <p:cNvPr id="4" name="TextBox 3"/>
          <p:cNvSpPr txBox="1"/>
          <p:nvPr/>
        </p:nvSpPr>
        <p:spPr>
          <a:xfrm>
            <a:off x="640080" y="1280160"/>
            <a:ext cx="10881360" cy="53949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리스너 = 모든 비로컬 사용자 연결의 Oracle 인스턴스 게이트웨이</a:t>
            </a:r>
          </a:p>
          <a:p>
            <a:pPr>
              <a:spcAft>
                <a:spcPts val="600"/>
              </a:spcAft>
            </a:pPr>
            <a:r>
              <a:rPr sz="1800" b="0">
                <a:solidFill>
                  <a:srgbClr val="202830"/>
                </a:solidFill>
                <a:latin typeface="Malgun Gothic"/>
                <a:ea typeface="Malgun Gothic"/>
              </a:rPr>
              <a:t>•  로컬 연결(sqlplus / as sysdba)은 리스너를 거치지 않음</a:t>
            </a:r>
          </a:p>
          <a:p>
            <a:pPr>
              <a:spcAft>
                <a:spcPts val="600"/>
              </a:spcAft>
            </a:pPr>
            <a:r>
              <a:rPr sz="1800" b="0">
                <a:solidFill>
                  <a:srgbClr val="202830"/>
                </a:solidFill>
                <a:latin typeface="Malgun Gothic"/>
                <a:ea typeface="Malgun Gothic"/>
              </a:rPr>
              <a:t>•  인스턴스와 독립된 별도 프로세스(tnslsnr), lsnrctl로 제어</a:t>
            </a:r>
          </a:p>
          <a:p>
            <a:pPr>
              <a:spcAft>
                <a:spcPts val="600"/>
              </a:spcAft>
            </a:pPr>
            <a:r>
              <a:rPr sz="1800" b="0">
                <a:solidFill>
                  <a:srgbClr val="202830"/>
                </a:solidFill>
                <a:latin typeface="Malgun Gothic"/>
                <a:ea typeface="Malgun Gothic"/>
              </a:rPr>
              <a:t>•  단일 리스너가 여러 인스턴스·수천 연결을 서비스 가능</a:t>
            </a:r>
          </a:p>
          <a:p>
            <a:pPr>
              <a:spcAft>
                <a:spcPts val="600"/>
              </a:spcAft>
            </a:pPr>
            <a:r>
              <a:rPr sz="1800" b="0">
                <a:solidFill>
                  <a:srgbClr val="202830"/>
                </a:solidFill>
                <a:latin typeface="Malgun Gothic"/>
                <a:ea typeface="Malgun Gothic"/>
              </a:rPr>
              <a:t>•  동작: 대기 → CONNECT 수신 → 서비스 유효성 확인 → 서버 프로세스로 handoff</a:t>
            </a:r>
          </a:p>
          <a:p>
            <a:pPr lvl="1">
              <a:spcAft>
                <a:spcPts val="600"/>
              </a:spcAft>
            </a:pPr>
            <a:r>
              <a:rPr sz="1600" b="0">
                <a:solidFill>
                  <a:srgbClr val="5A6672"/>
                </a:solidFill>
                <a:latin typeface="Malgun Gothic"/>
                <a:ea typeface="Malgun Gothic"/>
              </a:rPr>
              <a:t>    –  handoff 이후 통신은 클라이언트↔서버 프로세스 직접 수행</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Listener Control 유틸리티(lsnrctl)</a:t>
            </a:r>
          </a:p>
        </p:txBody>
      </p:sp>
      <p:sp>
        <p:nvSpPr>
          <p:cNvPr id="4" name="TextBox 3"/>
          <p:cNvSpPr txBox="1"/>
          <p:nvPr/>
        </p:nvSpPr>
        <p:spPr>
          <a:xfrm>
            <a:off x="640080" y="1280160"/>
            <a:ext cx="10881360" cy="53949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lsnrctl start / stop [이름]: 리스너 시작·중지(기존 세션 영향 없음)</a:t>
            </a:r>
          </a:p>
          <a:p>
            <a:pPr>
              <a:spcAft>
                <a:spcPts val="600"/>
              </a:spcAft>
            </a:pPr>
            <a:r>
              <a:rPr sz="1800" b="0">
                <a:solidFill>
                  <a:srgbClr val="202830"/>
                </a:solidFill>
                <a:latin typeface="Malgun Gothic"/>
                <a:ea typeface="Malgun Gothic"/>
              </a:rPr>
              <a:t>•  lsnrctl status [이름]: 엔드포인트·시작시각·서비스 요약</a:t>
            </a:r>
          </a:p>
          <a:p>
            <a:pPr>
              <a:spcAft>
                <a:spcPts val="600"/>
              </a:spcAft>
            </a:pPr>
            <a:r>
              <a:rPr sz="1800" b="0">
                <a:solidFill>
                  <a:srgbClr val="202830"/>
                </a:solidFill>
                <a:latin typeface="Malgun Gothic"/>
                <a:ea typeface="Malgun Gothic"/>
              </a:rPr>
              <a:t>•  lsnrctl services [이름]: 서비스별 핸들러·상태(READY/UNKNOWN)</a:t>
            </a:r>
          </a:p>
          <a:p>
            <a:pPr>
              <a:spcAft>
                <a:spcPts val="600"/>
              </a:spcAft>
            </a:pPr>
            <a:r>
              <a:rPr sz="1800" b="0">
                <a:solidFill>
                  <a:srgbClr val="202830"/>
                </a:solidFill>
                <a:latin typeface="Malgun Gothic"/>
                <a:ea typeface="Malgun Gothic"/>
              </a:rPr>
              <a:t>•  lsnrctl reload [이름]: 중지 없이 listener.ora 재적재(무중단)</a:t>
            </a:r>
          </a:p>
          <a:p>
            <a:pPr lvl="1">
              <a:spcAft>
                <a:spcPts val="600"/>
              </a:spcAft>
            </a:pPr>
            <a:r>
              <a:rPr sz="1600" b="0">
                <a:solidFill>
                  <a:srgbClr val="5A6672"/>
                </a:solidFill>
                <a:latin typeface="Malgun Gothic"/>
                <a:ea typeface="Malgun Gothic"/>
              </a:rPr>
              <a:t>    –  포트 변경 등 엔드포인트 변경은 reload 불가 → 재시작 필요</a:t>
            </a:r>
          </a:p>
          <a:p>
            <a:pPr>
              <a:spcAft>
                <a:spcPts val="600"/>
              </a:spcAft>
            </a:pPr>
            <a:r>
              <a:rPr sz="1800" b="0">
                <a:solidFill>
                  <a:srgbClr val="202830"/>
                </a:solidFill>
                <a:latin typeface="Malgun Gothic"/>
                <a:ea typeface="Malgun Gothic"/>
              </a:rPr>
              <a:t>•  리스너 로그: ADR diag/tnslsnr/&lt;host&gt;/&lt;listener&gt;/ 아래</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lsnrctl status 출력 예</a:t>
            </a:r>
          </a:p>
        </p:txBody>
      </p:sp>
      <p:sp>
        <p:nvSpPr>
          <p:cNvPr id="4" name="TextBox 3"/>
          <p:cNvSpPr txBox="1"/>
          <p:nvPr/>
        </p:nvSpPr>
        <p:spPr>
          <a:xfrm>
            <a:off x="640080" y="1143000"/>
            <a:ext cx="10881360" cy="457200"/>
          </a:xfrm>
          <a:prstGeom prst="rect">
            <a:avLst/>
          </a:prstGeom>
          <a:noFill/>
        </p:spPr>
        <p:txBody>
          <a:bodyPr wrap="square">
            <a:spAutoFit/>
          </a:bodyPr>
          <a:lstStyle/>
          <a:p>
            <a:r>
              <a:rPr sz="1500" b="0">
                <a:solidFill>
                  <a:srgbClr val="5A6672"/>
                </a:solidFill>
                <a:latin typeface="Malgun Gothic"/>
                <a:ea typeface="Malgun Gothic"/>
              </a:rPr>
              <a:t>기본 리스너 LISTENER · 포트 1521</a:t>
            </a:r>
          </a:p>
        </p:txBody>
      </p:sp>
      <p:sp>
        <p:nvSpPr>
          <p:cNvPr id="5" name="Rectangle 4"/>
          <p:cNvSpPr/>
          <p:nvPr/>
        </p:nvSpPr>
        <p:spPr>
          <a:xfrm>
            <a:off x="640080" y="1691640"/>
            <a:ext cx="10881360" cy="44805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297680"/>
          </a:xfrm>
          <a:prstGeom prst="rect">
            <a:avLst/>
          </a:prstGeom>
          <a:noFill/>
        </p:spPr>
        <p:txBody>
          <a:bodyPr wrap="square">
            <a:spAutoFit/>
          </a:bodyPr>
          <a:lstStyle/>
          <a:p>
            <a:pPr>
              <a:spcAft>
                <a:spcPts val="0"/>
              </a:spcAft>
            </a:pPr>
            <a:r>
              <a:rPr sz="1200" b="0">
                <a:solidFill>
                  <a:srgbClr val="E6E6E6"/>
                </a:solidFill>
                <a:latin typeface="Consolas"/>
                <a:ea typeface="Consolas"/>
              </a:rPr>
              <a:t>$ lsnrctl status</a:t>
            </a:r>
          </a:p>
          <a:p>
            <a:pPr>
              <a:spcAft>
                <a:spcPts val="0"/>
              </a:spcAft>
            </a:pPr>
            <a:r>
              <a:rPr sz="1200" b="0">
                <a:solidFill>
                  <a:srgbClr val="E6E6E6"/>
                </a:solidFill>
                <a:latin typeface="Consolas"/>
                <a:ea typeface="Consolas"/>
              </a:rPr>
              <a:t> </a:t>
            </a:r>
          </a:p>
          <a:p>
            <a:pPr>
              <a:spcAft>
                <a:spcPts val="0"/>
              </a:spcAft>
            </a:pPr>
            <a:r>
              <a:rPr sz="1200" b="0">
                <a:solidFill>
                  <a:srgbClr val="E6E6E6"/>
                </a:solidFill>
                <a:latin typeface="Consolas"/>
                <a:ea typeface="Consolas"/>
              </a:rPr>
              <a:t>STATUS of the LISTENER</a:t>
            </a:r>
          </a:p>
          <a:p>
            <a:pPr>
              <a:spcAft>
                <a:spcPts val="0"/>
              </a:spcAft>
            </a:pPr>
            <a:r>
              <a:rPr sz="1200" b="0">
                <a:solidFill>
                  <a:srgbClr val="7EC699"/>
                </a:solidFill>
                <a:latin typeface="Consolas"/>
                <a:ea typeface="Consolas"/>
              </a:rPr>
              <a:t>------------------------</a:t>
            </a:r>
          </a:p>
          <a:p>
            <a:pPr>
              <a:spcAft>
                <a:spcPts val="0"/>
              </a:spcAft>
            </a:pPr>
            <a:r>
              <a:rPr sz="1200" b="0">
                <a:solidFill>
                  <a:srgbClr val="E6E6E6"/>
                </a:solidFill>
                <a:latin typeface="Consolas"/>
                <a:ea typeface="Consolas"/>
              </a:rPr>
              <a:t>Alias                LISTENER</a:t>
            </a:r>
          </a:p>
          <a:p>
            <a:pPr>
              <a:spcAft>
                <a:spcPts val="0"/>
              </a:spcAft>
            </a:pPr>
            <a:r>
              <a:rPr sz="1200" b="0">
                <a:solidFill>
                  <a:srgbClr val="E6E6E6"/>
                </a:solidFill>
                <a:latin typeface="Consolas"/>
                <a:ea typeface="Consolas"/>
              </a:rPr>
              <a:t>Start Date           03-AUG-2026 09:12:44</a:t>
            </a:r>
          </a:p>
          <a:p>
            <a:pPr>
              <a:spcAft>
                <a:spcPts val="0"/>
              </a:spcAft>
            </a:pPr>
            <a:r>
              <a:rPr sz="1200" b="0">
                <a:solidFill>
                  <a:srgbClr val="E6E6E6"/>
                </a:solidFill>
                <a:latin typeface="Consolas"/>
                <a:ea typeface="Consolas"/>
              </a:rPr>
              <a:t>Listening Endpoints Summary...</a:t>
            </a:r>
          </a:p>
          <a:p>
            <a:pPr>
              <a:spcAft>
                <a:spcPts val="0"/>
              </a:spcAft>
            </a:pPr>
            <a:r>
              <a:rPr sz="1200" b="0">
                <a:solidFill>
                  <a:srgbClr val="E6E6E6"/>
                </a:solidFill>
                <a:latin typeface="Consolas"/>
                <a:ea typeface="Consolas"/>
              </a:rPr>
              <a:t>  (DESCRIPTION=(ADDRESS=(PROTOCOL=tcp)(HOST=dbsvr)(PORT=1521)))</a:t>
            </a:r>
          </a:p>
          <a:p>
            <a:pPr>
              <a:spcAft>
                <a:spcPts val="0"/>
              </a:spcAft>
            </a:pPr>
            <a:r>
              <a:rPr sz="1200" b="0">
                <a:solidFill>
                  <a:srgbClr val="E6E6E6"/>
                </a:solidFill>
                <a:latin typeface="Consolas"/>
                <a:ea typeface="Consolas"/>
              </a:rPr>
              <a:t>Services Summary...</a:t>
            </a:r>
          </a:p>
          <a:p>
            <a:pPr>
              <a:spcAft>
                <a:spcPts val="0"/>
              </a:spcAft>
            </a:pPr>
            <a:r>
              <a:rPr sz="1200" b="0">
                <a:solidFill>
                  <a:srgbClr val="E6E6E6"/>
                </a:solidFill>
                <a:latin typeface="Consolas"/>
                <a:ea typeface="Consolas"/>
              </a:rPr>
              <a:t>Service "cdb1.example.com" has 1 instance(s).</a:t>
            </a:r>
          </a:p>
          <a:p>
            <a:pPr>
              <a:spcAft>
                <a:spcPts val="0"/>
              </a:spcAft>
            </a:pPr>
            <a:r>
              <a:rPr sz="1200" b="0">
                <a:solidFill>
                  <a:srgbClr val="E6E6E6"/>
                </a:solidFill>
                <a:latin typeface="Consolas"/>
                <a:ea typeface="Consolas"/>
              </a:rPr>
              <a:t>Service "salespdb.example.com" has 1 instance(s).</a:t>
            </a:r>
          </a:p>
          <a:p>
            <a:pPr>
              <a:spcAft>
                <a:spcPts val="0"/>
              </a:spcAft>
            </a:pPr>
            <a:r>
              <a:rPr sz="1200" b="0">
                <a:solidFill>
                  <a:srgbClr val="E6E6E6"/>
                </a:solidFill>
                <a:latin typeface="Consolas"/>
                <a:ea typeface="Consolas"/>
              </a:rPr>
              <a:t>The command completed successfully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r>
              <a:rPr sz="6600" b="1">
                <a:solidFill>
                  <a:srgbClr val="C0392B"/>
                </a:solidFill>
                <a:latin typeface="Malgun Gothic"/>
                <a:ea typeface="Malgun Gothic"/>
              </a:rPr>
              <a:t>11.3</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ea typeface="Malgun Gothic"/>
              </a:rPr>
              <a:t>기본 리스너(LISTENER)</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pPr>
              <a:spcAft>
                <a:spcPts val="400"/>
              </a:spcAft>
            </a:pPr>
            <a:r>
              <a:rPr sz="1600" b="0">
                <a:solidFill>
                  <a:srgbClr val="C5CED6"/>
                </a:solidFill>
                <a:latin typeface="Malgun Gothic"/>
                <a:ea typeface="Malgun Gothic"/>
              </a:rPr>
              <a:t>•  netca가 자동 생성, 이름=LISTENER</a:t>
            </a:r>
          </a:p>
          <a:p>
            <a:pPr>
              <a:spcAft>
                <a:spcPts val="400"/>
              </a:spcAft>
            </a:pPr>
            <a:r>
              <a:rPr sz="1600" b="0">
                <a:solidFill>
                  <a:srgbClr val="C5CED6"/>
                </a:solidFill>
                <a:latin typeface="Malgun Gothic"/>
                <a:ea typeface="Malgun Gothic"/>
              </a:rPr>
              <a:t>•  기본 TCP 포트 1521</a:t>
            </a:r>
          </a:p>
          <a:p>
            <a:pPr>
              <a:spcAft>
                <a:spcPts val="400"/>
              </a:spcAft>
            </a:pPr>
            <a:r>
              <a:rPr sz="1600" b="0">
                <a:solidFill>
                  <a:srgbClr val="C5CED6"/>
                </a:solidFill>
                <a:latin typeface="Malgun Gothic"/>
                <a:ea typeface="Malgun Gothic"/>
              </a:rPr>
              <a:t>•  동적 등록으로 서비스 자동 채움</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기본 리스너의 특징</a:t>
            </a:r>
          </a:p>
        </p:txBody>
      </p:sp>
      <p:sp>
        <p:nvSpPr>
          <p:cNvPr id="4" name="TextBox 3"/>
          <p:cNvSpPr txBox="1"/>
          <p:nvPr/>
        </p:nvSpPr>
        <p:spPr>
          <a:xfrm>
            <a:off x="640080" y="1280160"/>
            <a:ext cx="10881360" cy="53949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DBCA/설치 시 Oracle Net Configuration Assistant(netca)가 자동 생성</a:t>
            </a:r>
          </a:p>
          <a:p>
            <a:pPr>
              <a:spcAft>
                <a:spcPts val="600"/>
              </a:spcAft>
            </a:pPr>
            <a:r>
              <a:rPr sz="1800" b="0">
                <a:solidFill>
                  <a:srgbClr val="202830"/>
                </a:solidFill>
                <a:latin typeface="Malgun Gothic"/>
                <a:ea typeface="Malgun Gothic"/>
              </a:rPr>
              <a:t>•  이름 = LISTENER (SID_LIST_LISTENER, lsnrctl 대상 지정에 사용)</a:t>
            </a:r>
          </a:p>
          <a:p>
            <a:pPr>
              <a:spcAft>
                <a:spcPts val="600"/>
              </a:spcAft>
            </a:pPr>
            <a:r>
              <a:rPr sz="1800" b="0">
                <a:solidFill>
                  <a:srgbClr val="202830"/>
                </a:solidFill>
                <a:latin typeface="Malgun Gothic"/>
                <a:ea typeface="Malgun Gothic"/>
              </a:rPr>
              <a:t>•  기본 TCP/IP 포트 1521에서 수신 대기</a:t>
            </a:r>
          </a:p>
          <a:p>
            <a:pPr>
              <a:spcAft>
                <a:spcPts val="600"/>
              </a:spcAft>
            </a:pPr>
            <a:r>
              <a:rPr sz="1800" b="0">
                <a:solidFill>
                  <a:srgbClr val="202830"/>
                </a:solidFill>
                <a:latin typeface="Malgun Gothic"/>
                <a:ea typeface="Malgun Gothic"/>
              </a:rPr>
              <a:t>•  동적 서비스 등록으로 사용 가능한 서비스가 자동으로 채워짐</a:t>
            </a:r>
          </a:p>
          <a:p>
            <a:pPr>
              <a:spcAft>
                <a:spcPts val="600"/>
              </a:spcAft>
            </a:pPr>
            <a:r>
              <a:rPr sz="1800" b="0">
                <a:solidFill>
                  <a:srgbClr val="202830"/>
                </a:solidFill>
                <a:latin typeface="Malgun Gothic"/>
                <a:ea typeface="Malgun Gothic"/>
              </a:rPr>
              <a:t>•  구성 파일: $ORACLE_HOME/network/admin/listener.ora (동적만 쓰면 단출)</a:t>
            </a:r>
          </a:p>
          <a:p>
            <a:pPr lvl="1">
              <a:spcAft>
                <a:spcPts val="600"/>
              </a:spcAft>
            </a:pPr>
            <a:r>
              <a:rPr sz="1600" b="0">
                <a:solidFill>
                  <a:srgbClr val="5A6672"/>
                </a:solidFill>
                <a:latin typeface="Malgun Gothic"/>
                <a:ea typeface="Malgun Gothic"/>
              </a:rPr>
              <a:t>    –  Oracle Restart/RAC 환경에서는 srvctl로 관리, 부팅 시 자동 기동</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r>
              <a:rPr sz="6600" b="1">
                <a:solidFill>
                  <a:srgbClr val="C0392B"/>
                </a:solidFill>
                <a:latin typeface="Malgun Gothic"/>
                <a:ea typeface="Malgun Gothic"/>
              </a:rPr>
              <a:t>11.4</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ea typeface="Malgun Gothic"/>
              </a:rPr>
              <a:t>동적 서비스 등록</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pPr>
              <a:spcAft>
                <a:spcPts val="400"/>
              </a:spcAft>
            </a:pPr>
            <a:r>
              <a:rPr sz="1600" b="0">
                <a:solidFill>
                  <a:srgbClr val="C5CED6"/>
                </a:solidFill>
                <a:latin typeface="Malgun Gothic"/>
                <a:ea typeface="Malgun Gothic"/>
              </a:rPr>
              <a:t>•  인스턴스가 서비스를 자동 등록</a:t>
            </a:r>
          </a:p>
          <a:p>
            <a:pPr>
              <a:spcAft>
                <a:spcPts val="400"/>
              </a:spcAft>
            </a:pPr>
            <a:r>
              <a:rPr sz="1600" b="0">
                <a:solidFill>
                  <a:srgbClr val="C5CED6"/>
                </a:solidFill>
                <a:latin typeface="Malgun Gothic"/>
                <a:ea typeface="Malgun Gothic"/>
              </a:rPr>
              <a:t>•  LREG가 리스너에 등록</a:t>
            </a:r>
          </a:p>
          <a:p>
            <a:pPr>
              <a:spcAft>
                <a:spcPts val="400"/>
              </a:spcAft>
            </a:pPr>
            <a:r>
              <a:rPr sz="1600" b="0">
                <a:solidFill>
                  <a:srgbClr val="C5CED6"/>
                </a:solidFill>
                <a:latin typeface="Malgun Gothic"/>
                <a:ea typeface="Malgun Gothic"/>
              </a:rPr>
              <a:t>•  이점: 페일오버·로드밸런싱·HA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동적 서비스 등록의 개념</a:t>
            </a:r>
          </a:p>
        </p:txBody>
      </p:sp>
      <p:sp>
        <p:nvSpPr>
          <p:cNvPr id="4" name="TextBox 3"/>
          <p:cNvSpPr txBox="1"/>
          <p:nvPr/>
        </p:nvSpPr>
        <p:spPr>
          <a:xfrm>
            <a:off x="640080" y="1280160"/>
            <a:ext cx="10881360" cy="53949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기본값: 인스턴스가 사용 가능한 서비스를 리스너에 자동 등록</a:t>
            </a:r>
          </a:p>
          <a:p>
            <a:pPr>
              <a:spcAft>
                <a:spcPts val="600"/>
              </a:spcAft>
            </a:pPr>
            <a:r>
              <a:rPr sz="1800" b="0">
                <a:solidFill>
                  <a:srgbClr val="202830"/>
                </a:solidFill>
                <a:latin typeface="Malgun Gothic"/>
                <a:ea typeface="Malgun Gothic"/>
              </a:rPr>
              <a:t>•  LREG 프로세스가 리스너 실행 여부를 폴링 후 등록</a:t>
            </a:r>
          </a:p>
          <a:p>
            <a:pPr>
              <a:spcAft>
                <a:spcPts val="600"/>
              </a:spcAft>
            </a:pPr>
            <a:r>
              <a:rPr sz="1800" b="0">
                <a:solidFill>
                  <a:srgbClr val="202830"/>
                </a:solidFill>
                <a:latin typeface="Malgun Gothic"/>
                <a:ea typeface="Malgun Gothic"/>
              </a:rPr>
              <a:t>•  마운트 후 최초 등록, 이후 기본 60초마다 갱신</a:t>
            </a:r>
          </a:p>
          <a:p>
            <a:pPr>
              <a:spcAft>
                <a:spcPts val="600"/>
              </a:spcAft>
            </a:pPr>
            <a:r>
              <a:rPr sz="1800" b="0">
                <a:solidFill>
                  <a:srgbClr val="202830"/>
                </a:solidFill>
                <a:latin typeface="Malgun Gothic"/>
                <a:ea typeface="Malgun Gothic"/>
              </a:rPr>
              <a:t>•  모든 PDB 서비스가 기본적으로 같은 리스너에 등록됨</a:t>
            </a:r>
          </a:p>
          <a:p>
            <a:pPr lvl="1">
              <a:spcAft>
                <a:spcPts val="600"/>
              </a:spcAft>
            </a:pPr>
            <a:r>
              <a:rPr sz="1600" b="0">
                <a:solidFill>
                  <a:srgbClr val="5A6672"/>
                </a:solidFill>
                <a:latin typeface="Malgun Gothic"/>
                <a:ea typeface="Malgun Gothic"/>
              </a:rPr>
              <a:t>    –  → 그 리스너 중지 시 모든 PDB 원격 접근 중단</a:t>
            </a:r>
          </a:p>
          <a:p>
            <a:pPr>
              <a:spcAft>
                <a:spcPts val="600"/>
              </a:spcAft>
            </a:pPr>
            <a:r>
              <a:rPr sz="1800" b="0">
                <a:solidFill>
                  <a:srgbClr val="202830"/>
                </a:solidFill>
                <a:latin typeface="Malgun Gothic"/>
                <a:ea typeface="Malgun Gothic"/>
              </a:rPr>
              <a:t>•  listener.ora를 사용하지 않음(정보가 인스턴스에서 실시간 전달)</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동적 서비스 등록의 이점</a:t>
            </a:r>
          </a:p>
        </p:txBody>
      </p:sp>
      <p:sp>
        <p:nvSpPr>
          <p:cNvPr id="4" name="TextBox 3"/>
          <p:cNvSpPr txBox="1"/>
          <p:nvPr/>
        </p:nvSpPr>
        <p:spPr>
          <a:xfrm>
            <a:off x="640080" y="1280160"/>
            <a:ext cx="10881360" cy="53949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연결 시점 페일오버: 다운된 인스턴스 대신 살아 있는 인스턴스로 자동 전환</a:t>
            </a:r>
          </a:p>
          <a:p>
            <a:pPr>
              <a:spcAft>
                <a:spcPts val="600"/>
              </a:spcAft>
            </a:pPr>
            <a:r>
              <a:rPr sz="1800" b="0">
                <a:solidFill>
                  <a:srgbClr val="202830"/>
                </a:solidFill>
                <a:latin typeface="Malgun Gothic"/>
                <a:ea typeface="Malgun Gothic"/>
              </a:rPr>
              <a:t>•  연결 로드 밸런싱: 부하가 가장 적은 인스턴스·핸들러로 연결 분배</a:t>
            </a:r>
          </a:p>
          <a:p>
            <a:pPr>
              <a:spcAft>
                <a:spcPts val="600"/>
              </a:spcAft>
            </a:pPr>
            <a:r>
              <a:rPr sz="1800" b="0">
                <a:solidFill>
                  <a:srgbClr val="202830"/>
                </a:solidFill>
                <a:latin typeface="Malgun Gothic"/>
                <a:ea typeface="Malgun Gothic"/>
              </a:rPr>
              <a:t>•  RAC·Data Guard에 대한 고가용성 지원</a:t>
            </a:r>
          </a:p>
          <a:p>
            <a:pPr lvl="1">
              <a:spcAft>
                <a:spcPts val="600"/>
              </a:spcAft>
            </a:pPr>
            <a:r>
              <a:rPr sz="1600" b="0">
                <a:solidFill>
                  <a:srgbClr val="5A6672"/>
                </a:solidFill>
                <a:latin typeface="Malgun Gothic"/>
                <a:ea typeface="Malgun Gothic"/>
              </a:rPr>
              <a:t>    –  세 이점 모두 LREG가 실시간으로 밀어 넣는 상태·부하 정보에서 비롯</a:t>
            </a:r>
          </a:p>
          <a:p>
            <a:pPr>
              <a:spcAft>
                <a:spcPts val="600"/>
              </a:spcAft>
            </a:pPr>
            <a:r>
              <a:rPr sz="1800" b="0">
                <a:solidFill>
                  <a:srgbClr val="202830"/>
                </a:solidFill>
                <a:latin typeface="Malgun Gothic"/>
                <a:ea typeface="Malgun Gothic"/>
              </a:rPr>
              <a:t>•  구성 단계: ① 초기화 파라미터 확인 ② 서버 tnsnames 엔드포인트 구성</a:t>
            </a:r>
          </a:p>
          <a:p>
            <a:pPr lvl="1">
              <a:spcAft>
                <a:spcPts val="600"/>
              </a:spcAft>
            </a:pPr>
            <a:r>
              <a:rPr sz="1600" b="0">
                <a:solidFill>
                  <a:srgbClr val="5A6672"/>
                </a:solidFill>
                <a:latin typeface="Malgun Gothic"/>
                <a:ea typeface="Malgun Gothic"/>
              </a:rPr>
              <a:t>    –  리스너가 만지는 파일은 없음 — 관리 대상은 인스턴스 파라미터</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r>
              <a:rPr sz="6600" b="1">
                <a:solidFill>
                  <a:srgbClr val="C0392B"/>
                </a:solidFill>
                <a:latin typeface="Malgun Gothic"/>
                <a:ea typeface="Malgun Gothic"/>
              </a:rPr>
              <a:t>11.5</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ea typeface="Malgun Gothic"/>
              </a:rPr>
              <a:t>LREG 프로세스</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pPr>
              <a:spcAft>
                <a:spcPts val="400"/>
              </a:spcAft>
            </a:pPr>
            <a:r>
              <a:rPr sz="1600" b="0">
                <a:solidFill>
                  <a:srgbClr val="C5CED6"/>
                </a:solidFill>
                <a:latin typeface="Malgun Gothic"/>
                <a:ea typeface="Malgun Gothic"/>
              </a:rPr>
              <a:t>•  리스너를 폴링 후 서비스 등록</a:t>
            </a:r>
          </a:p>
          <a:p>
            <a:pPr>
              <a:spcAft>
                <a:spcPts val="400"/>
              </a:spcAft>
            </a:pPr>
            <a:r>
              <a:rPr sz="1600" b="0">
                <a:solidFill>
                  <a:srgbClr val="C5CED6"/>
                </a:solidFill>
                <a:latin typeface="Malgun Gothic"/>
                <a:ea typeface="Malgun Gothic"/>
              </a:rPr>
              <a:t>•  등록 정보: 이름·부하·핸들러</a:t>
            </a:r>
          </a:p>
          <a:p>
            <a:pPr>
              <a:spcAft>
                <a:spcPts val="400"/>
              </a:spcAft>
            </a:pPr>
            <a:r>
              <a:rPr sz="1600" b="0">
                <a:solidFill>
                  <a:srgbClr val="C5CED6"/>
                </a:solidFill>
                <a:latin typeface="Malgun Gothic"/>
                <a:ea typeface="Malgun Gothic"/>
              </a:rPr>
              <a:t>•  60초 주기 + 즉시 등록 가능</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LREG가 등록하는 정보</a:t>
            </a:r>
          </a:p>
        </p:txBody>
      </p:sp>
      <p:sp>
        <p:nvSpPr>
          <p:cNvPr id="4" name="TextBox 3"/>
          <p:cNvSpPr txBox="1"/>
          <p:nvPr/>
        </p:nvSpPr>
        <p:spPr>
          <a:xfrm>
            <a:off x="640080" y="1280160"/>
            <a:ext cx="10881360" cy="53949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데이터베이스 인스턴스 이름(INSTANCE_NAME)</a:t>
            </a:r>
          </a:p>
          <a:p>
            <a:pPr>
              <a:spcAft>
                <a:spcPts val="600"/>
              </a:spcAft>
            </a:pPr>
            <a:r>
              <a:rPr sz="1800" b="0">
                <a:solidFill>
                  <a:srgbClr val="202830"/>
                </a:solidFill>
                <a:latin typeface="Malgun Gothic"/>
                <a:ea typeface="Malgun Gothic"/>
              </a:rPr>
              <a:t>•  사용 가능한 서비스 이름(예: ORCL.example.com, PDB1.example.com)</a:t>
            </a:r>
          </a:p>
          <a:p>
            <a:pPr>
              <a:spcAft>
                <a:spcPts val="600"/>
              </a:spcAft>
            </a:pPr>
            <a:r>
              <a:rPr sz="1800" b="0">
                <a:solidFill>
                  <a:srgbClr val="202830"/>
                </a:solidFill>
                <a:latin typeface="Malgun Gothic"/>
                <a:ea typeface="Malgun Gothic"/>
              </a:rPr>
              <a:t>•  인스턴스의 현재 부하·최대 부하 → 로드 밸런싱 근거</a:t>
            </a:r>
          </a:p>
          <a:p>
            <a:pPr>
              <a:spcAft>
                <a:spcPts val="600"/>
              </a:spcAft>
            </a:pPr>
            <a:r>
              <a:rPr sz="1800" b="0">
                <a:solidFill>
                  <a:srgbClr val="202830"/>
                </a:solidFill>
                <a:latin typeface="Malgun Gothic"/>
                <a:ea typeface="Malgun Gothic"/>
              </a:rPr>
              <a:t>•  사용 가능한 서비스 핸들러(디스패처·전용 서버)</a:t>
            </a:r>
          </a:p>
          <a:p>
            <a:pPr>
              <a:spcAft>
                <a:spcPts val="600"/>
              </a:spcAft>
            </a:pPr>
            <a:r>
              <a:rPr sz="1800" b="0">
                <a:solidFill>
                  <a:srgbClr val="202830"/>
                </a:solidFill>
                <a:latin typeface="Malgun Gothic"/>
                <a:ea typeface="Malgun Gothic"/>
              </a:rPr>
              <a:t>•  타이밍: 마운트 후 최초 등록, 이후 60초마다 갱신</a:t>
            </a:r>
          </a:p>
          <a:p>
            <a:pPr>
              <a:spcAft>
                <a:spcPts val="600"/>
              </a:spcAft>
            </a:pPr>
            <a:r>
              <a:rPr sz="1800" b="0">
                <a:solidFill>
                  <a:srgbClr val="202830"/>
                </a:solidFill>
                <a:latin typeface="Malgun Gothic"/>
                <a:ea typeface="Malgun Gothic"/>
              </a:rPr>
              <a:t>•  대상 리스너는 LOCAL_LISTENER/REMOTE_LISTENER로 파악</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r>
              <a:rPr sz="6600" b="1">
                <a:solidFill>
                  <a:srgbClr val="C0392B"/>
                </a:solidFill>
                <a:latin typeface="Malgun Gothic"/>
                <a:ea typeface="Malgun Gothic"/>
              </a:rPr>
              <a:t>11.6</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ea typeface="Malgun Gothic"/>
              </a:rPr>
              <a:t>동적 등록 구성</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pPr>
              <a:spcAft>
                <a:spcPts val="400"/>
              </a:spcAft>
            </a:pPr>
            <a:r>
              <a:rPr sz="1600" b="0">
                <a:solidFill>
                  <a:srgbClr val="C5CED6"/>
                </a:solidFill>
                <a:latin typeface="Malgun Gothic"/>
                <a:ea typeface="Malgun Gothic"/>
              </a:rPr>
              <a:t>•  LOCAL/REMOTE_LISTENER=리스너 별칭</a:t>
            </a:r>
          </a:p>
          <a:p>
            <a:pPr>
              <a:spcAft>
                <a:spcPts val="400"/>
              </a:spcAft>
            </a:pPr>
            <a:r>
              <a:rPr sz="1600" b="0">
                <a:solidFill>
                  <a:srgbClr val="C5CED6"/>
                </a:solidFill>
                <a:latin typeface="Malgun Gothic"/>
                <a:ea typeface="Malgun Gothic"/>
              </a:rPr>
              <a:t>•  서버 tnsnames의 엔드포인트로 해석</a:t>
            </a:r>
          </a:p>
          <a:p>
            <a:pPr>
              <a:spcAft>
                <a:spcPts val="400"/>
              </a:spcAft>
            </a:pPr>
            <a:r>
              <a:rPr sz="1600" b="0">
                <a:solidFill>
                  <a:srgbClr val="C5CED6"/>
                </a:solidFill>
                <a:latin typeface="Malgun Gothic"/>
                <a:ea typeface="Malgun Gothic"/>
              </a:rPr>
              <a:t>•  SERVICE_NAMES로 서비스 이름 지정</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LOCAL_LISTENER / REMOTE_LISTENER</a:t>
            </a:r>
          </a:p>
        </p:txBody>
      </p:sp>
      <p:sp>
        <p:nvSpPr>
          <p:cNvPr id="4" name="TextBox 3"/>
          <p:cNvSpPr txBox="1"/>
          <p:nvPr/>
        </p:nvSpPr>
        <p:spPr>
          <a:xfrm>
            <a:off x="640080" y="1280160"/>
            <a:ext cx="10881360" cy="53949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LREG는 LOCAL_LISTENER·REMOTE_LISTENER로 등록 리스너를 파악</a:t>
            </a:r>
          </a:p>
          <a:p>
            <a:pPr>
              <a:spcAft>
                <a:spcPts val="600"/>
              </a:spcAft>
            </a:pPr>
            <a:r>
              <a:rPr sz="1800" b="0">
                <a:solidFill>
                  <a:srgbClr val="202830"/>
                </a:solidFill>
                <a:latin typeface="Malgun Gothic"/>
                <a:ea typeface="Malgun Gothic"/>
              </a:rPr>
              <a:t>•  두 파라미터 모두 여러 값 지정 가능(여러 리스너 등록)</a:t>
            </a:r>
          </a:p>
          <a:p>
            <a:pPr>
              <a:spcAft>
                <a:spcPts val="600"/>
              </a:spcAft>
            </a:pPr>
            <a:r>
              <a:rPr sz="1800" b="0">
                <a:solidFill>
                  <a:srgbClr val="202830"/>
                </a:solidFill>
                <a:latin typeface="Malgun Gothic"/>
                <a:ea typeface="Malgun Gothic"/>
              </a:rPr>
              <a:t>•  별칭은 '서버 측' tnsnames.ora의 엔드포인트로 해석(CONNECT_DATA 없음)</a:t>
            </a:r>
          </a:p>
          <a:p>
            <a:pPr lvl="1">
              <a:spcAft>
                <a:spcPts val="600"/>
              </a:spcAft>
            </a:pPr>
            <a:r>
              <a:rPr sz="1600" b="0">
                <a:solidFill>
                  <a:srgbClr val="5A6672"/>
                </a:solidFill>
                <a:latin typeface="Malgun Gothic"/>
                <a:ea typeface="Malgun Gothic"/>
              </a:rPr>
              <a:t>    –  클라이언트 tnsnames와 목적이 다름 — 접속용 vs 등록용</a:t>
            </a:r>
          </a:p>
          <a:p>
            <a:pPr>
              <a:spcAft>
                <a:spcPts val="600"/>
              </a:spcAft>
            </a:pPr>
            <a:r>
              <a:rPr sz="1800" b="0">
                <a:solidFill>
                  <a:srgbClr val="202830"/>
                </a:solidFill>
                <a:latin typeface="Malgun Gothic"/>
                <a:ea typeface="Malgun Gothic"/>
              </a:rPr>
              <a:t>•  별칭 대신 주소를 파라미터에 인라인으로 직접 지정 가능</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동적 등록 구성 예</a:t>
            </a:r>
          </a:p>
        </p:txBody>
      </p:sp>
      <p:sp>
        <p:nvSpPr>
          <p:cNvPr id="4" name="TextBox 3"/>
          <p:cNvSpPr txBox="1"/>
          <p:nvPr/>
        </p:nvSpPr>
        <p:spPr>
          <a:xfrm>
            <a:off x="640080" y="1143000"/>
            <a:ext cx="10881360" cy="457200"/>
          </a:xfrm>
          <a:prstGeom prst="rect">
            <a:avLst/>
          </a:prstGeom>
          <a:noFill/>
        </p:spPr>
        <p:txBody>
          <a:bodyPr wrap="square">
            <a:spAutoFit/>
          </a:bodyPr>
          <a:lstStyle/>
          <a:p>
            <a:r>
              <a:rPr sz="1500" b="0">
                <a:solidFill>
                  <a:srgbClr val="5A6672"/>
                </a:solidFill>
                <a:latin typeface="Malgun Gothic"/>
                <a:ea typeface="Malgun Gothic"/>
              </a:rPr>
              <a:t>서버 tnsnames 엔드포인트 + LOCAL_LISTENER 설정</a:t>
            </a:r>
          </a:p>
        </p:txBody>
      </p:sp>
      <p:sp>
        <p:nvSpPr>
          <p:cNvPr id="5" name="Rectangle 4"/>
          <p:cNvSpPr/>
          <p:nvPr/>
        </p:nvSpPr>
        <p:spPr>
          <a:xfrm>
            <a:off x="640080" y="1691640"/>
            <a:ext cx="10881360" cy="44805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297680"/>
          </a:xfrm>
          <a:prstGeom prst="rect">
            <a:avLst/>
          </a:prstGeom>
          <a:noFill/>
        </p:spPr>
        <p:txBody>
          <a:bodyPr wrap="square">
            <a:spAutoFit/>
          </a:bodyPr>
          <a:lstStyle/>
          <a:p>
            <a:pPr>
              <a:spcAft>
                <a:spcPts val="0"/>
              </a:spcAft>
            </a:pPr>
            <a:r>
              <a:rPr sz="1200" b="0">
                <a:solidFill>
                  <a:srgbClr val="7EC699"/>
                </a:solidFill>
                <a:latin typeface="Consolas"/>
                <a:ea typeface="Consolas"/>
              </a:rPr>
              <a:t>-- 서버 tnsnames.ora: 별칭 -&gt; 엔드포인트 (CONNECT_DATA 없음)</a:t>
            </a:r>
          </a:p>
          <a:p>
            <a:pPr>
              <a:spcAft>
                <a:spcPts val="0"/>
              </a:spcAft>
            </a:pPr>
            <a:r>
              <a:rPr sz="1200" b="0">
                <a:solidFill>
                  <a:srgbClr val="E6E6E6"/>
                </a:solidFill>
                <a:latin typeface="Consolas"/>
                <a:ea typeface="Consolas"/>
              </a:rPr>
              <a:t>LISTENER_HOST1 =</a:t>
            </a:r>
          </a:p>
          <a:p>
            <a:pPr>
              <a:spcAft>
                <a:spcPts val="0"/>
              </a:spcAft>
            </a:pPr>
            <a:r>
              <a:rPr sz="1200" b="0">
                <a:solidFill>
                  <a:srgbClr val="E6E6E6"/>
                </a:solidFill>
                <a:latin typeface="Consolas"/>
                <a:ea typeface="Consolas"/>
              </a:rPr>
              <a:t>  (ADDRESS = (PROTOCOL = TCP)(HOST = host1.example.com)(PORT = 1521))</a:t>
            </a:r>
          </a:p>
          <a:p>
            <a:pPr>
              <a:spcAft>
                <a:spcPts val="0"/>
              </a:spcAft>
            </a:pPr>
            <a:r>
              <a:rPr sz="1200" b="0">
                <a:solidFill>
                  <a:srgbClr val="E6E6E6"/>
                </a:solidFill>
                <a:latin typeface="Consolas"/>
                <a:ea typeface="Consolas"/>
              </a:rPr>
              <a:t> </a:t>
            </a:r>
          </a:p>
          <a:p>
            <a:pPr>
              <a:spcAft>
                <a:spcPts val="0"/>
              </a:spcAft>
            </a:pPr>
            <a:r>
              <a:rPr sz="1200" b="0">
                <a:solidFill>
                  <a:srgbClr val="7EC699"/>
                </a:solidFill>
                <a:latin typeface="Consolas"/>
                <a:ea typeface="Consolas"/>
              </a:rPr>
              <a:t>-- 인스턴스 파라미터로 리스너 지정 (인라인 주소도 가능)</a:t>
            </a:r>
          </a:p>
          <a:p>
            <a:pPr>
              <a:spcAft>
                <a:spcPts val="0"/>
              </a:spcAft>
            </a:pPr>
            <a:r>
              <a:rPr sz="1200" b="0">
                <a:solidFill>
                  <a:srgbClr val="E6E6E6"/>
                </a:solidFill>
                <a:latin typeface="Consolas"/>
                <a:ea typeface="Consolas"/>
              </a:rPr>
              <a:t>SQL&gt; ALTER SYSTEM SET LOCAL_LISTENER='LISTENER_HOST1' SCOPE=BOTH;</a:t>
            </a:r>
          </a:p>
          <a:p>
            <a:pPr>
              <a:spcAft>
                <a:spcPts val="0"/>
              </a:spcAft>
            </a:pPr>
            <a:r>
              <a:rPr sz="1200" b="0">
                <a:solidFill>
                  <a:srgbClr val="E6E6E6"/>
                </a:solidFill>
                <a:latin typeface="Consolas"/>
                <a:ea typeface="Consolas"/>
              </a:rPr>
              <a:t>SQL&gt; ALTER SYSTEM SET service_names='cdb1.example.com,batch.example.com';</a:t>
            </a:r>
          </a:p>
          <a:p>
            <a:pPr>
              <a:spcAft>
                <a:spcPts val="0"/>
              </a:spcAft>
            </a:pPr>
            <a:r>
              <a:rPr sz="1200" b="0">
                <a:solidFill>
                  <a:srgbClr val="E6E6E6"/>
                </a:solidFill>
                <a:latin typeface="Consolas"/>
                <a:ea typeface="Consolas"/>
              </a:rPr>
              <a:t> </a:t>
            </a:r>
          </a:p>
          <a:p>
            <a:pPr>
              <a:spcAft>
                <a:spcPts val="0"/>
              </a:spcAft>
            </a:pPr>
            <a:r>
              <a:rPr sz="1200" b="0">
                <a:solidFill>
                  <a:srgbClr val="7EC699"/>
                </a:solidFill>
                <a:latin typeface="Consolas"/>
                <a:ea typeface="Consolas"/>
              </a:rPr>
              <a:t>-- 등록 확인</a:t>
            </a:r>
          </a:p>
          <a:p>
            <a:pPr>
              <a:spcAft>
                <a:spcPts val="0"/>
              </a:spcAft>
            </a:pPr>
            <a:r>
              <a:rPr sz="1200" b="0">
                <a:solidFill>
                  <a:srgbClr val="E6E6E6"/>
                </a:solidFill>
                <a:latin typeface="Consolas"/>
                <a:ea typeface="Consolas"/>
              </a:rPr>
              <a:t>$ lsnrctl services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SERVICE_NAMES와 등록 검증</a:t>
            </a:r>
          </a:p>
        </p:txBody>
      </p:sp>
      <p:sp>
        <p:nvSpPr>
          <p:cNvPr id="4" name="TextBox 3"/>
          <p:cNvSpPr txBox="1"/>
          <p:nvPr/>
        </p:nvSpPr>
        <p:spPr>
          <a:xfrm>
            <a:off x="640080" y="1280160"/>
            <a:ext cx="10881360" cy="53949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설치 시 SERVICE_NAMES=전역 DB 이름(DB_NAME.DB_DOMAIN)으로 채워짐</a:t>
            </a:r>
          </a:p>
          <a:p>
            <a:pPr>
              <a:spcAft>
                <a:spcPts val="600"/>
              </a:spcAft>
            </a:pPr>
            <a:r>
              <a:rPr sz="1800" b="0">
                <a:solidFill>
                  <a:srgbClr val="202830"/>
                </a:solidFill>
                <a:latin typeface="Malgun Gothic"/>
                <a:ea typeface="Malgun Gothic"/>
              </a:rPr>
              <a:t>•  콤마로 여러 서비스 이름 지정 가능 → 용도별 워크로드 구분</a:t>
            </a:r>
          </a:p>
          <a:p>
            <a:pPr>
              <a:spcAft>
                <a:spcPts val="600"/>
              </a:spcAft>
            </a:pPr>
            <a:r>
              <a:rPr sz="1800" b="0">
                <a:solidFill>
                  <a:srgbClr val="202830"/>
                </a:solidFill>
                <a:latin typeface="Malgun Gothic"/>
                <a:ea typeface="Malgun Gothic"/>
              </a:rPr>
              <a:t>•  Resource Manager로 서비스별 활동·자원 배분 가능</a:t>
            </a:r>
          </a:p>
          <a:p>
            <a:pPr>
              <a:spcAft>
                <a:spcPts val="600"/>
              </a:spcAft>
            </a:pPr>
            <a:r>
              <a:rPr sz="1800" b="0">
                <a:solidFill>
                  <a:srgbClr val="202830"/>
                </a:solidFill>
                <a:latin typeface="Malgun Gothic"/>
                <a:ea typeface="Malgun Gothic"/>
              </a:rPr>
              <a:t>•  검증: SHOW PARAMETER local_listener / lsnrctl services(READY 확인)</a:t>
            </a:r>
          </a:p>
          <a:p>
            <a:pPr>
              <a:spcAft>
                <a:spcPts val="600"/>
              </a:spcAft>
            </a:pPr>
            <a:r>
              <a:rPr sz="1800" b="0">
                <a:solidFill>
                  <a:srgbClr val="202830"/>
                </a:solidFill>
                <a:latin typeface="Malgun Gothic"/>
                <a:ea typeface="Malgun Gothic"/>
              </a:rPr>
              <a:t>•  ORA-12514 = 리스너 도달했으나 서비스 미등록(오타·미등록·엉뚱한 포트)</a:t>
            </a:r>
          </a:p>
          <a:p>
            <a:pPr>
              <a:spcAft>
                <a:spcPts val="600"/>
              </a:spcAft>
            </a:pPr>
            <a:r>
              <a:rPr sz="1800" b="0">
                <a:solidFill>
                  <a:srgbClr val="202830"/>
                </a:solidFill>
                <a:latin typeface="Malgun Gothic"/>
                <a:ea typeface="Malgun Gothic"/>
              </a:rPr>
              <a:t>•  ORA-12541 = 리스너 자체 미도달(리스너 다운·주소 오류)</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r>
              <a:rPr sz="6600" b="1">
                <a:solidFill>
                  <a:srgbClr val="C0392B"/>
                </a:solidFill>
                <a:latin typeface="Malgun Gothic"/>
                <a:ea typeface="Malgun Gothic"/>
              </a:rPr>
              <a:t>11.7</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ea typeface="Malgun Gothic"/>
              </a:rPr>
              <a:t>ALTER SYSTEM REGISTER</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pPr>
              <a:spcAft>
                <a:spcPts val="400"/>
              </a:spcAft>
            </a:pPr>
            <a:r>
              <a:rPr sz="1600" b="0">
                <a:solidFill>
                  <a:srgbClr val="C5CED6"/>
                </a:solidFill>
                <a:latin typeface="Malgun Gothic"/>
                <a:ea typeface="Malgun Gothic"/>
              </a:rPr>
              <a:t>•  60초 대기 없이 즉시 등록</a:t>
            </a:r>
          </a:p>
          <a:p>
            <a:pPr>
              <a:spcAft>
                <a:spcPts val="400"/>
              </a:spcAft>
            </a:pPr>
            <a:r>
              <a:rPr sz="1600" b="0">
                <a:solidFill>
                  <a:srgbClr val="C5CED6"/>
                </a:solidFill>
                <a:latin typeface="Malgun Gothic"/>
                <a:ea typeface="Malgun Gothic"/>
              </a:rPr>
              <a:t>•  리스너 재시작 후 등록 지연 해소</a:t>
            </a:r>
          </a:p>
          <a:p>
            <a:pPr>
              <a:spcAft>
                <a:spcPts val="400"/>
              </a:spcAft>
            </a:pPr>
            <a:r>
              <a:rPr sz="1600" b="0">
                <a:solidFill>
                  <a:srgbClr val="C5CED6"/>
                </a:solidFill>
                <a:latin typeface="Malgun Gothic"/>
                <a:ea typeface="Malgun Gothic"/>
              </a:rPr>
              <a:t>•  기존 세션에 영향 없는 안전한 명령</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즉시 서비스 등록</a:t>
            </a:r>
          </a:p>
        </p:txBody>
      </p:sp>
      <p:sp>
        <p:nvSpPr>
          <p:cNvPr id="4" name="TextBox 3"/>
          <p:cNvSpPr txBox="1"/>
          <p:nvPr/>
        </p:nvSpPr>
        <p:spPr>
          <a:xfrm>
            <a:off x="640080" y="1280160"/>
            <a:ext cx="10881360" cy="53949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LREG 기본 등록 주기 = 60초 → '지금' 등록이 필요할 때가 있음</a:t>
            </a:r>
          </a:p>
          <a:p>
            <a:pPr>
              <a:spcAft>
                <a:spcPts val="600"/>
              </a:spcAft>
            </a:pPr>
            <a:r>
              <a:rPr sz="1800" b="0">
                <a:solidFill>
                  <a:srgbClr val="202830"/>
                </a:solidFill>
                <a:latin typeface="Malgun Gothic"/>
                <a:ea typeface="Malgun Gothic"/>
              </a:rPr>
              <a:t>•  ALTER SYSTEM REGISTER: 다음 폴링을 기다리지 않고 즉시 등록</a:t>
            </a:r>
          </a:p>
          <a:p>
            <a:pPr>
              <a:spcAft>
                <a:spcPts val="600"/>
              </a:spcAft>
            </a:pPr>
            <a:r>
              <a:rPr sz="1800" b="0">
                <a:solidFill>
                  <a:srgbClr val="202830"/>
                </a:solidFill>
                <a:latin typeface="Malgun Gothic"/>
                <a:ea typeface="Malgun Gothic"/>
              </a:rPr>
              <a:t>•  쓰임: 리스너 재시작 직후, LOCAL_LISTENER·SERVICE_NAMES 변경 직후</a:t>
            </a:r>
          </a:p>
          <a:p>
            <a:pPr lvl="1">
              <a:spcAft>
                <a:spcPts val="600"/>
              </a:spcAft>
            </a:pPr>
            <a:r>
              <a:rPr sz="1600" b="0">
                <a:solidFill>
                  <a:srgbClr val="5A6672"/>
                </a:solidFill>
                <a:latin typeface="Malgun Gothic"/>
                <a:ea typeface="Malgun Gothic"/>
              </a:rPr>
              <a:t>    –  기동 스크립트 말미에 넣어 등록 지연 경합 방지</a:t>
            </a:r>
          </a:p>
          <a:p>
            <a:pPr>
              <a:spcAft>
                <a:spcPts val="600"/>
              </a:spcAft>
            </a:pPr>
            <a:r>
              <a:rPr sz="1800" b="0">
                <a:solidFill>
                  <a:srgbClr val="202830"/>
                </a:solidFill>
                <a:latin typeface="Malgun Gothic"/>
                <a:ea typeface="Malgun Gothic"/>
              </a:rPr>
              <a:t>•  기존 연결·세션에 영향 없음, 여러 번 실행해도 무해</a:t>
            </a:r>
          </a:p>
          <a:p>
            <a:pPr>
              <a:spcAft>
                <a:spcPts val="600"/>
              </a:spcAft>
            </a:pPr>
            <a:r>
              <a:rPr sz="1800" b="0">
                <a:solidFill>
                  <a:srgbClr val="202830"/>
                </a:solidFill>
                <a:latin typeface="Malgun Gothic"/>
                <a:ea typeface="Malgun Gothic"/>
              </a:rPr>
              <a:t>•  CDB 루트에서 실행 시 모든 PDB 서비스 등록을 함께 갱신</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ALTER SYSTEM REGISTER 실습</a:t>
            </a:r>
          </a:p>
        </p:txBody>
      </p:sp>
      <p:sp>
        <p:nvSpPr>
          <p:cNvPr id="4" name="TextBox 3"/>
          <p:cNvSpPr txBox="1"/>
          <p:nvPr/>
        </p:nvSpPr>
        <p:spPr>
          <a:xfrm>
            <a:off x="640080" y="1143000"/>
            <a:ext cx="10881360" cy="457200"/>
          </a:xfrm>
          <a:prstGeom prst="rect">
            <a:avLst/>
          </a:prstGeom>
          <a:noFill/>
        </p:spPr>
        <p:txBody>
          <a:bodyPr wrap="square">
            <a:spAutoFit/>
          </a:bodyPr>
          <a:lstStyle/>
          <a:p>
            <a:r>
              <a:rPr sz="1500" b="0">
                <a:solidFill>
                  <a:srgbClr val="5A6672"/>
                </a:solidFill>
                <a:latin typeface="Malgun Gothic"/>
                <a:ea typeface="Malgun Gothic"/>
              </a:rPr>
              <a:t>재시작 후 등록 지연을 즉시 해소</a:t>
            </a:r>
          </a:p>
        </p:txBody>
      </p:sp>
      <p:sp>
        <p:nvSpPr>
          <p:cNvPr id="5" name="Rectangle 4"/>
          <p:cNvSpPr/>
          <p:nvPr/>
        </p:nvSpPr>
        <p:spPr>
          <a:xfrm>
            <a:off x="640080" y="1691640"/>
            <a:ext cx="10881360" cy="44805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297680"/>
          </a:xfrm>
          <a:prstGeom prst="rect">
            <a:avLst/>
          </a:prstGeom>
          <a:noFill/>
        </p:spPr>
        <p:txBody>
          <a:bodyPr wrap="square">
            <a:spAutoFit/>
          </a:bodyPr>
          <a:lstStyle/>
          <a:p>
            <a:pPr>
              <a:spcAft>
                <a:spcPts val="0"/>
              </a:spcAft>
            </a:pPr>
            <a:r>
              <a:rPr sz="1200" b="0">
                <a:solidFill>
                  <a:srgbClr val="7EC699"/>
                </a:solidFill>
                <a:latin typeface="Consolas"/>
                <a:ea typeface="Consolas"/>
              </a:rPr>
              <a:t>-- 리스너 재시작 직후: 서비스가 아직 안 보임</a:t>
            </a:r>
          </a:p>
          <a:p>
            <a:pPr>
              <a:spcAft>
                <a:spcPts val="0"/>
              </a:spcAft>
            </a:pPr>
            <a:r>
              <a:rPr sz="1200" b="0">
                <a:solidFill>
                  <a:srgbClr val="E6E6E6"/>
                </a:solidFill>
                <a:latin typeface="Consolas"/>
                <a:ea typeface="Consolas"/>
              </a:rPr>
              <a:t>$ lsnrctl status</a:t>
            </a:r>
          </a:p>
          <a:p>
            <a:pPr>
              <a:spcAft>
                <a:spcPts val="0"/>
              </a:spcAft>
            </a:pPr>
            <a:r>
              <a:rPr sz="1200" b="0">
                <a:solidFill>
                  <a:srgbClr val="E6E6E6"/>
                </a:solidFill>
                <a:latin typeface="Consolas"/>
                <a:ea typeface="Consolas"/>
              </a:rPr>
              <a:t>  Services Summary...   (비어 있거나 누락)</a:t>
            </a:r>
          </a:p>
          <a:p>
            <a:pPr>
              <a:spcAft>
                <a:spcPts val="0"/>
              </a:spcAft>
            </a:pPr>
            <a:r>
              <a:rPr sz="1200" b="0">
                <a:solidFill>
                  <a:srgbClr val="E6E6E6"/>
                </a:solidFill>
                <a:latin typeface="Consolas"/>
                <a:ea typeface="Consolas"/>
              </a:rPr>
              <a:t> </a:t>
            </a:r>
          </a:p>
          <a:p>
            <a:pPr>
              <a:spcAft>
                <a:spcPts val="0"/>
              </a:spcAft>
            </a:pPr>
            <a:r>
              <a:rPr sz="1200" b="0">
                <a:solidFill>
                  <a:srgbClr val="7EC699"/>
                </a:solidFill>
                <a:latin typeface="Consolas"/>
                <a:ea typeface="Consolas"/>
              </a:rPr>
              <a:t>-- 인스턴스에서 즉시 등록 강제</a:t>
            </a:r>
          </a:p>
          <a:p>
            <a:pPr>
              <a:spcAft>
                <a:spcPts val="0"/>
              </a:spcAft>
            </a:pPr>
            <a:r>
              <a:rPr sz="1200" b="0">
                <a:solidFill>
                  <a:srgbClr val="E6E6E6"/>
                </a:solidFill>
                <a:latin typeface="Consolas"/>
                <a:ea typeface="Consolas"/>
              </a:rPr>
              <a:t>SQL&gt; ALTER SYSTEM REGISTER;</a:t>
            </a:r>
          </a:p>
          <a:p>
            <a:pPr>
              <a:spcAft>
                <a:spcPts val="0"/>
              </a:spcAft>
            </a:pPr>
            <a:r>
              <a:rPr sz="1200" b="0">
                <a:solidFill>
                  <a:srgbClr val="E6E6E6"/>
                </a:solidFill>
                <a:latin typeface="Consolas"/>
                <a:ea typeface="Consolas"/>
              </a:rPr>
              <a:t>System altered.</a:t>
            </a:r>
          </a:p>
          <a:p>
            <a:pPr>
              <a:spcAft>
                <a:spcPts val="0"/>
              </a:spcAft>
            </a:pPr>
            <a:r>
              <a:rPr sz="1200" b="0">
                <a:solidFill>
                  <a:srgbClr val="E6E6E6"/>
                </a:solidFill>
                <a:latin typeface="Consolas"/>
                <a:ea typeface="Consolas"/>
              </a:rPr>
              <a:t> </a:t>
            </a:r>
          </a:p>
          <a:p>
            <a:pPr>
              <a:spcAft>
                <a:spcPts val="0"/>
              </a:spcAft>
            </a:pPr>
            <a:r>
              <a:rPr sz="1200" b="0">
                <a:solidFill>
                  <a:srgbClr val="7EC699"/>
                </a:solidFill>
                <a:latin typeface="Consolas"/>
                <a:ea typeface="Consolas"/>
              </a:rPr>
              <a:t>-- 다시 확인하면 서비스가 즉시 나타남</a:t>
            </a:r>
          </a:p>
          <a:p>
            <a:pPr>
              <a:spcAft>
                <a:spcPts val="0"/>
              </a:spcAft>
            </a:pPr>
            <a:r>
              <a:rPr sz="1200" b="0">
                <a:solidFill>
                  <a:srgbClr val="E6E6E6"/>
                </a:solidFill>
                <a:latin typeface="Consolas"/>
                <a:ea typeface="Consolas"/>
              </a:rPr>
              <a:t>$ lsnrctl status</a:t>
            </a:r>
          </a:p>
          <a:p>
            <a:pPr>
              <a:spcAft>
                <a:spcPts val="0"/>
              </a:spcAft>
            </a:pPr>
            <a:r>
              <a:rPr sz="1200" b="0">
                <a:solidFill>
                  <a:srgbClr val="E6E6E6"/>
                </a:solidFill>
                <a:latin typeface="Consolas"/>
                <a:ea typeface="Consolas"/>
              </a:rPr>
              <a:t>  Service "cdb1.example.com" has 1 instance(s).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r>
              <a:rPr sz="6600" b="1">
                <a:solidFill>
                  <a:srgbClr val="C0392B"/>
                </a:solidFill>
                <a:latin typeface="Malgun Gothic"/>
                <a:ea typeface="Malgun Gothic"/>
              </a:rPr>
              <a:t>11.8</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ea typeface="Malgun Gothic"/>
              </a:rPr>
              <a:t>정적 서비스 등록</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pPr>
              <a:spcAft>
                <a:spcPts val="400"/>
              </a:spcAft>
            </a:pPr>
            <a:r>
              <a:rPr sz="1600" b="0">
                <a:solidFill>
                  <a:srgbClr val="C5CED6"/>
                </a:solidFill>
                <a:latin typeface="Malgun Gothic"/>
                <a:ea typeface="Malgun Gothic"/>
              </a:rPr>
              <a:t>•  listener.ora에 수동 기재</a:t>
            </a:r>
          </a:p>
          <a:p>
            <a:pPr>
              <a:spcAft>
                <a:spcPts val="400"/>
              </a:spcAft>
            </a:pPr>
            <a:r>
              <a:rPr sz="1600" b="0">
                <a:solidFill>
                  <a:srgbClr val="C5CED6"/>
                </a:solidFill>
                <a:latin typeface="Malgun Gothic"/>
                <a:ea typeface="Malgun Gothic"/>
              </a:rPr>
              <a:t>•  리스너가 실제 상태 모름 → UNKNOWN</a:t>
            </a:r>
          </a:p>
          <a:p>
            <a:pPr>
              <a:spcAft>
                <a:spcPts val="400"/>
              </a:spcAft>
            </a:pPr>
            <a:r>
              <a:rPr sz="1600" b="0">
                <a:solidFill>
                  <a:srgbClr val="C5CED6"/>
                </a:solidFill>
                <a:latin typeface="Malgun Gothic"/>
                <a:ea typeface="Malgun Gothic"/>
              </a:rPr>
              <a:t>•  특정 PDB 분리·의미 있는 오류</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정적 서비스 등록의 개념</a:t>
            </a:r>
          </a:p>
        </p:txBody>
      </p:sp>
      <p:sp>
        <p:nvSpPr>
          <p:cNvPr id="4" name="TextBox 3"/>
          <p:cNvSpPr txBox="1"/>
          <p:nvPr/>
        </p:nvSpPr>
        <p:spPr>
          <a:xfrm>
            <a:off x="640080" y="1280160"/>
            <a:ext cx="10881360" cy="53949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관리자가 listener.ora에 서비스를 수동으로 기재하는 방식</a:t>
            </a:r>
          </a:p>
          <a:p>
            <a:pPr>
              <a:spcAft>
                <a:spcPts val="600"/>
              </a:spcAft>
            </a:pPr>
            <a:r>
              <a:rPr sz="1800" b="0">
                <a:solidFill>
                  <a:srgbClr val="202830"/>
                </a:solidFill>
                <a:latin typeface="Malgun Gothic"/>
                <a:ea typeface="Malgun Gothic"/>
              </a:rPr>
              <a:t>•  리스너는 서비스 실제 존재 여부를 모름 — '지원한다'고 선언만</a:t>
            </a:r>
          </a:p>
          <a:p>
            <a:pPr>
              <a:spcAft>
                <a:spcPts val="600"/>
              </a:spcAft>
            </a:pPr>
            <a:r>
              <a:rPr sz="1800" b="0">
                <a:solidFill>
                  <a:srgbClr val="202830"/>
                </a:solidFill>
                <a:latin typeface="Malgun Gothic"/>
                <a:ea typeface="Malgun Gothic"/>
              </a:rPr>
              <a:t>•  → lsnrctl에서 상태가 UNKNOWN으로 표시(정상)</a:t>
            </a:r>
          </a:p>
          <a:p>
            <a:pPr>
              <a:spcAft>
                <a:spcPts val="600"/>
              </a:spcAft>
            </a:pPr>
            <a:r>
              <a:rPr sz="1800" b="0">
                <a:solidFill>
                  <a:srgbClr val="202830"/>
                </a:solidFill>
                <a:latin typeface="Malgun Gothic"/>
                <a:ea typeface="Malgun Gothic"/>
              </a:rPr>
              <a:t>•  이점1: 특정 PDB만을 위한 별도 리스너 생성 가능</a:t>
            </a:r>
          </a:p>
          <a:p>
            <a:pPr>
              <a:spcAft>
                <a:spcPts val="600"/>
              </a:spcAft>
            </a:pPr>
            <a:r>
              <a:rPr sz="1800" b="0">
                <a:solidFill>
                  <a:srgbClr val="202830"/>
                </a:solidFill>
                <a:latin typeface="Malgun Gothic"/>
                <a:ea typeface="Malgun Gothic"/>
              </a:rPr>
              <a:t>•  이점2: 사용자 접속 차단 상태로 인스턴스 기동 가능</a:t>
            </a:r>
          </a:p>
          <a:p>
            <a:pPr>
              <a:spcAft>
                <a:spcPts val="600"/>
              </a:spcAft>
            </a:pPr>
            <a:r>
              <a:rPr sz="1800" b="0">
                <a:solidFill>
                  <a:srgbClr val="202830"/>
                </a:solidFill>
                <a:latin typeface="Malgun Gothic"/>
                <a:ea typeface="Malgun Gothic"/>
              </a:rPr>
              <a:t>•  이점3: 다운 시에도 존재를 알아 의미 있는 오류 메시지 제공</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정적 등록의 상태 표시(UNKNOWN)</a:t>
            </a:r>
          </a:p>
        </p:txBody>
      </p:sp>
      <p:sp>
        <p:nvSpPr>
          <p:cNvPr id="4" name="TextBox 3"/>
          <p:cNvSpPr txBox="1"/>
          <p:nvPr/>
        </p:nvSpPr>
        <p:spPr>
          <a:xfrm>
            <a:off x="640080" y="1280160"/>
            <a:ext cx="10881360" cy="53949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정적 등록 서비스: status UNKNOWN</a:t>
            </a:r>
          </a:p>
          <a:p>
            <a:pPr>
              <a:spcAft>
                <a:spcPts val="600"/>
              </a:spcAft>
            </a:pPr>
            <a:r>
              <a:rPr sz="1800" b="0">
                <a:solidFill>
                  <a:srgbClr val="202830"/>
                </a:solidFill>
                <a:latin typeface="Malgun Gothic"/>
                <a:ea typeface="Malgun Gothic"/>
              </a:rPr>
              <a:t>•  동적 등록 서비스: status READY / BLOCKED (실제 상태 반영)</a:t>
            </a:r>
          </a:p>
          <a:p>
            <a:pPr>
              <a:spcAft>
                <a:spcPts val="600"/>
              </a:spcAft>
            </a:pPr>
            <a:r>
              <a:rPr sz="1800" b="0">
                <a:solidFill>
                  <a:srgbClr val="202830"/>
                </a:solidFill>
                <a:latin typeface="Malgun Gothic"/>
                <a:ea typeface="Malgun Gothic"/>
              </a:rPr>
              <a:t>•  UNKNOWN은 오류가 아님 — 리스너가 상태를 확인하지 않을 뿐</a:t>
            </a:r>
          </a:p>
          <a:p>
            <a:pPr lvl="1">
              <a:spcAft>
                <a:spcPts val="600"/>
              </a:spcAft>
            </a:pPr>
            <a:r>
              <a:rPr sz="1600" b="0">
                <a:solidFill>
                  <a:srgbClr val="5A6672"/>
                </a:solidFill>
                <a:latin typeface="Malgun Gothic"/>
                <a:ea typeface="Malgun Gothic"/>
              </a:rPr>
              <a:t>    –  단, 인스턴스가 죽어도 리스너는 계속 광고 → 접속 후 뒤늦게 실패 가능</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r>
              <a:rPr sz="6600" b="1">
                <a:solidFill>
                  <a:srgbClr val="C0392B"/>
                </a:solidFill>
                <a:latin typeface="Malgun Gothic"/>
                <a:ea typeface="Malgun Gothic"/>
              </a:rPr>
              <a:t>11.9</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ea typeface="Malgun Gothic"/>
              </a:rPr>
              <a:t>정적 등록 필수 사용처</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pPr>
              <a:spcAft>
                <a:spcPts val="400"/>
              </a:spcAft>
            </a:pPr>
            <a:r>
              <a:rPr sz="1600" b="0">
                <a:solidFill>
                  <a:srgbClr val="C5CED6"/>
                </a:solidFill>
                <a:latin typeface="Malgun Gothic"/>
                <a:ea typeface="Malgun Gothic"/>
              </a:rPr>
              <a:t>•  외부 프로시저·이기종 서비스</a:t>
            </a:r>
          </a:p>
          <a:p>
            <a:pPr>
              <a:spcAft>
                <a:spcPts val="400"/>
              </a:spcAft>
            </a:pPr>
            <a:r>
              <a:rPr sz="1600" b="0">
                <a:solidFill>
                  <a:srgbClr val="C5CED6"/>
                </a:solidFill>
                <a:latin typeface="Malgun Gothic"/>
                <a:ea typeface="Malgun Gothic"/>
              </a:rPr>
              <a:t>•  Oracle Data Guard</a:t>
            </a:r>
          </a:p>
          <a:p>
            <a:pPr>
              <a:spcAft>
                <a:spcPts val="400"/>
              </a:spcAft>
            </a:pPr>
            <a:r>
              <a:rPr sz="1600" b="0">
                <a:solidFill>
                  <a:srgbClr val="C5CED6"/>
                </a:solidFill>
                <a:latin typeface="Malgun Gothic"/>
                <a:ea typeface="Malgun Gothic"/>
              </a:rPr>
              <a:t>•  EM 외 도구의 원격 startup</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정적 등록이 반드시 필요한 경우</a:t>
            </a:r>
          </a:p>
        </p:txBody>
      </p:sp>
      <p:sp>
        <p:nvSpPr>
          <p:cNvPr id="4" name="TextBox 3"/>
          <p:cNvSpPr txBox="1"/>
          <p:nvPr/>
        </p:nvSpPr>
        <p:spPr>
          <a:xfrm>
            <a:off x="640080" y="1280160"/>
            <a:ext cx="10881360" cy="53949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외부 프로시저(external procedure) 호출 사용 시</a:t>
            </a:r>
          </a:p>
          <a:p>
            <a:pPr>
              <a:spcAft>
                <a:spcPts val="600"/>
              </a:spcAft>
            </a:pPr>
            <a:r>
              <a:rPr sz="1800" b="0">
                <a:solidFill>
                  <a:srgbClr val="202830"/>
                </a:solidFill>
                <a:latin typeface="Malgun Gothic"/>
                <a:ea typeface="Malgun Gothic"/>
              </a:rPr>
              <a:t>•  Oracle Heterogeneous Services(이기종 서비스) 사용 시</a:t>
            </a:r>
          </a:p>
          <a:p>
            <a:pPr>
              <a:spcAft>
                <a:spcPts val="600"/>
              </a:spcAft>
            </a:pPr>
            <a:r>
              <a:rPr sz="1800" b="0">
                <a:solidFill>
                  <a:srgbClr val="202830"/>
                </a:solidFill>
                <a:latin typeface="Malgun Gothic"/>
                <a:ea typeface="Malgun Gothic"/>
              </a:rPr>
              <a:t>•  Oracle Data Guard 사용 시(스탠바이가 MOUNT 상태에서도 광고 필요)</a:t>
            </a:r>
          </a:p>
          <a:p>
            <a:pPr>
              <a:spcAft>
                <a:spcPts val="600"/>
              </a:spcAft>
            </a:pPr>
            <a:r>
              <a:rPr sz="1800" b="0">
                <a:solidFill>
                  <a:srgbClr val="202830"/>
                </a:solidFill>
                <a:latin typeface="Malgun Gothic"/>
                <a:ea typeface="Malgun Gothic"/>
              </a:rPr>
              <a:t>•  EM Cloud Control이 아닌 도구로 원격 데이터베이스 startup 시</a:t>
            </a:r>
          </a:p>
          <a:p>
            <a:pPr>
              <a:spcAft>
                <a:spcPts val="600"/>
              </a:spcAft>
            </a:pPr>
            <a:r>
              <a:rPr sz="1800" b="0">
                <a:solidFill>
                  <a:srgbClr val="202830"/>
                </a:solidFill>
                <a:latin typeface="Malgun Gothic"/>
                <a:ea typeface="Malgun Gothic"/>
              </a:rPr>
              <a:t>•  공통점: 인스턴스가 OPEN 아닌 시점에도 리스너가 서비스를 알아야 함</a:t>
            </a:r>
          </a:p>
          <a:p>
            <a:pPr lvl="1">
              <a:spcAft>
                <a:spcPts val="600"/>
              </a:spcAft>
            </a:pPr>
            <a:r>
              <a:rPr sz="1600" b="0">
                <a:solidFill>
                  <a:srgbClr val="5A6672"/>
                </a:solidFill>
                <a:latin typeface="Malgun Gothic"/>
                <a:ea typeface="Malgun Gothic"/>
              </a:rPr>
              <a:t>    –  해당 없으면 동적이 정답 — 불필요한 정적은 오히려 해로움</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r>
              <a:rPr sz="6600" b="1">
                <a:solidFill>
                  <a:srgbClr val="C0392B"/>
                </a:solidFill>
                <a:latin typeface="Malgun Gothic"/>
                <a:ea typeface="Malgun Gothic"/>
              </a:rPr>
              <a:t>11.10</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ea typeface="Malgun Gothic"/>
              </a:rPr>
              <a:t>정적 등록 구성</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pPr>
              <a:spcAft>
                <a:spcPts val="400"/>
              </a:spcAft>
            </a:pPr>
            <a:r>
              <a:rPr sz="1600" b="0">
                <a:solidFill>
                  <a:srgbClr val="C5CED6"/>
                </a:solidFill>
                <a:latin typeface="Malgun Gothic"/>
                <a:ea typeface="Malgun Gothic"/>
              </a:rPr>
              <a:t>•  listener.ora에 리스너+주소 정의</a:t>
            </a:r>
          </a:p>
          <a:p>
            <a:pPr>
              <a:spcAft>
                <a:spcPts val="400"/>
              </a:spcAft>
            </a:pPr>
            <a:r>
              <a:rPr sz="1600" b="0">
                <a:solidFill>
                  <a:srgbClr val="C5CED6"/>
                </a:solidFill>
                <a:latin typeface="Malgun Gothic"/>
                <a:ea typeface="Malgun Gothic"/>
              </a:rPr>
              <a:t>•  SID_LIST_&lt;리스너명&gt; 섹션 작성</a:t>
            </a:r>
          </a:p>
          <a:p>
            <a:pPr>
              <a:spcAft>
                <a:spcPts val="400"/>
              </a:spcAft>
            </a:pPr>
            <a:r>
              <a:rPr sz="1600" b="0">
                <a:solidFill>
                  <a:srgbClr val="C5CED6"/>
                </a:solidFill>
                <a:latin typeface="Malgun Gothic"/>
                <a:ea typeface="Malgun Gothic"/>
              </a:rPr>
              <a:t>•  GLOBAL_DBNAME·SID_NAME·ORACLE_HOME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listener.ora 정적 등록 구성</a:t>
            </a:r>
          </a:p>
        </p:txBody>
      </p:sp>
      <p:sp>
        <p:nvSpPr>
          <p:cNvPr id="4" name="TextBox 3"/>
          <p:cNvSpPr txBox="1"/>
          <p:nvPr/>
        </p:nvSpPr>
        <p:spPr>
          <a:xfrm>
            <a:off x="640080" y="1280160"/>
            <a:ext cx="10881360" cy="53949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$ORACLE_HOME/network/admin/listener.ora 편집</a:t>
            </a:r>
          </a:p>
          <a:p>
            <a:pPr>
              <a:spcAft>
                <a:spcPts val="600"/>
              </a:spcAft>
            </a:pPr>
            <a:r>
              <a:rPr sz="1800" b="0">
                <a:solidFill>
                  <a:srgbClr val="202830"/>
                </a:solidFill>
                <a:latin typeface="Malgun Gothic"/>
                <a:ea typeface="Malgun Gothic"/>
              </a:rPr>
              <a:t>•  (1) 리스너와 프로토콜 주소(엔드포인트) 정의</a:t>
            </a:r>
          </a:p>
          <a:p>
            <a:pPr>
              <a:spcAft>
                <a:spcPts val="600"/>
              </a:spcAft>
            </a:pPr>
            <a:r>
              <a:rPr sz="1800" b="0">
                <a:solidFill>
                  <a:srgbClr val="202830"/>
                </a:solidFill>
                <a:latin typeface="Malgun Gothic"/>
                <a:ea typeface="Malgun Gothic"/>
              </a:rPr>
              <a:t>•  (2) SID_LIST_&lt;리스너 이름&gt; 섹션에 서비스 나열</a:t>
            </a:r>
          </a:p>
          <a:p>
            <a:pPr>
              <a:spcAft>
                <a:spcPts val="600"/>
              </a:spcAft>
            </a:pPr>
            <a:r>
              <a:rPr sz="1800" b="0">
                <a:solidFill>
                  <a:srgbClr val="202830"/>
                </a:solidFill>
                <a:latin typeface="Malgun Gothic"/>
                <a:ea typeface="Malgun Gothic"/>
              </a:rPr>
              <a:t>•  GLOBAL_DBNAME: 서비스 이름(클라이언트 요청과 일치, 도메인까지)</a:t>
            </a:r>
          </a:p>
          <a:p>
            <a:pPr>
              <a:spcAft>
                <a:spcPts val="600"/>
              </a:spcAft>
            </a:pPr>
            <a:r>
              <a:rPr sz="1800" b="0">
                <a:solidFill>
                  <a:srgbClr val="202830"/>
                </a:solidFill>
                <a:latin typeface="Malgun Gothic"/>
                <a:ea typeface="Malgun Gothic"/>
              </a:rPr>
              <a:t>•  SID_NAME: 인스턴스 SID / ORACLE_HOME: 홈 경로</a:t>
            </a:r>
          </a:p>
          <a:p>
            <a:pPr>
              <a:spcAft>
                <a:spcPts val="600"/>
              </a:spcAft>
            </a:pPr>
            <a:r>
              <a:rPr sz="1800" b="0">
                <a:solidFill>
                  <a:srgbClr val="202830"/>
                </a:solidFill>
                <a:latin typeface="Malgun Gothic"/>
                <a:ea typeface="Malgun Gothic"/>
              </a:rPr>
              <a:t>•  반영: 서비스만 변경 → reload, 포트 변경 → 재시작</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listener.ora 정적 등록 예</a:t>
            </a:r>
          </a:p>
        </p:txBody>
      </p:sp>
      <p:sp>
        <p:nvSpPr>
          <p:cNvPr id="4" name="TextBox 3"/>
          <p:cNvSpPr txBox="1"/>
          <p:nvPr/>
        </p:nvSpPr>
        <p:spPr>
          <a:xfrm>
            <a:off x="640080" y="1143000"/>
            <a:ext cx="10881360" cy="457200"/>
          </a:xfrm>
          <a:prstGeom prst="rect">
            <a:avLst/>
          </a:prstGeom>
          <a:noFill/>
        </p:spPr>
        <p:txBody>
          <a:bodyPr wrap="square">
            <a:spAutoFit/>
          </a:bodyPr>
          <a:lstStyle/>
          <a:p>
            <a:r>
              <a:rPr sz="1500" b="0">
                <a:solidFill>
                  <a:srgbClr val="5A6672"/>
                </a:solidFill>
                <a:latin typeface="Malgun Gothic"/>
                <a:ea typeface="Malgun Gothic"/>
              </a:rPr>
              <a:t>별도 리스너 LISTENER_SALESPDBS · 포트 1561</a:t>
            </a:r>
          </a:p>
        </p:txBody>
      </p:sp>
      <p:sp>
        <p:nvSpPr>
          <p:cNvPr id="5" name="Rectangle 4"/>
          <p:cNvSpPr/>
          <p:nvPr/>
        </p:nvSpPr>
        <p:spPr>
          <a:xfrm>
            <a:off x="640080" y="1691640"/>
            <a:ext cx="10881360" cy="44805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297680"/>
          </a:xfrm>
          <a:prstGeom prst="rect">
            <a:avLst/>
          </a:prstGeom>
          <a:noFill/>
        </p:spPr>
        <p:txBody>
          <a:bodyPr wrap="square">
            <a:spAutoFit/>
          </a:bodyPr>
          <a:lstStyle/>
          <a:p>
            <a:pPr>
              <a:spcAft>
                <a:spcPts val="0"/>
              </a:spcAft>
            </a:pPr>
            <a:r>
              <a:rPr sz="1200" b="0">
                <a:solidFill>
                  <a:srgbClr val="7EC699"/>
                </a:solidFill>
                <a:latin typeface="Consolas"/>
                <a:ea typeface="Consolas"/>
              </a:rPr>
              <a:t>-- (1) 리스너와 엔드포인트 정의</a:t>
            </a:r>
          </a:p>
          <a:p>
            <a:pPr>
              <a:spcAft>
                <a:spcPts val="0"/>
              </a:spcAft>
            </a:pPr>
            <a:r>
              <a:rPr sz="1200" b="0">
                <a:solidFill>
                  <a:srgbClr val="E6E6E6"/>
                </a:solidFill>
                <a:latin typeface="Consolas"/>
                <a:ea typeface="Consolas"/>
              </a:rPr>
              <a:t>LISTENER_SALESPDBS =</a:t>
            </a:r>
          </a:p>
          <a:p>
            <a:pPr>
              <a:spcAft>
                <a:spcPts val="0"/>
              </a:spcAft>
            </a:pPr>
            <a:r>
              <a:rPr sz="1200" b="0">
                <a:solidFill>
                  <a:srgbClr val="E6E6E6"/>
                </a:solidFill>
                <a:latin typeface="Consolas"/>
                <a:ea typeface="Consolas"/>
              </a:rPr>
              <a:t>  (DESCRIPTION_LIST =</a:t>
            </a:r>
          </a:p>
          <a:p>
            <a:pPr>
              <a:spcAft>
                <a:spcPts val="0"/>
              </a:spcAft>
            </a:pPr>
            <a:r>
              <a:rPr sz="1200" b="0">
                <a:solidFill>
                  <a:srgbClr val="E6E6E6"/>
                </a:solidFill>
                <a:latin typeface="Consolas"/>
                <a:ea typeface="Consolas"/>
              </a:rPr>
              <a:t>    (DESCRIPTION =</a:t>
            </a:r>
          </a:p>
          <a:p>
            <a:pPr>
              <a:spcAft>
                <a:spcPts val="0"/>
              </a:spcAft>
            </a:pPr>
            <a:r>
              <a:rPr sz="1200" b="0">
                <a:solidFill>
                  <a:srgbClr val="E6E6E6"/>
                </a:solidFill>
                <a:latin typeface="Consolas"/>
                <a:ea typeface="Consolas"/>
              </a:rPr>
              <a:t>      (ADDRESS = (PROTOCOL=TCP)(HOST=host1.example.com)(PORT=1561))</a:t>
            </a:r>
          </a:p>
          <a:p>
            <a:pPr>
              <a:spcAft>
                <a:spcPts val="0"/>
              </a:spcAft>
            </a:pPr>
            <a:r>
              <a:rPr sz="1200" b="0">
                <a:solidFill>
                  <a:srgbClr val="E6E6E6"/>
                </a:solidFill>
                <a:latin typeface="Consolas"/>
                <a:ea typeface="Consolas"/>
              </a:rPr>
              <a:t>    ))</a:t>
            </a:r>
          </a:p>
          <a:p>
            <a:pPr>
              <a:spcAft>
                <a:spcPts val="0"/>
              </a:spcAft>
            </a:pPr>
            <a:r>
              <a:rPr sz="1200" b="0">
                <a:solidFill>
                  <a:srgbClr val="7EC699"/>
                </a:solidFill>
                <a:latin typeface="Consolas"/>
                <a:ea typeface="Consolas"/>
              </a:rPr>
              <a:t>-- (2) 서비스 목록(SID_LIST_&lt;리스너 이름&gt;)</a:t>
            </a:r>
          </a:p>
          <a:p>
            <a:pPr>
              <a:spcAft>
                <a:spcPts val="0"/>
              </a:spcAft>
            </a:pPr>
            <a:r>
              <a:rPr sz="1200" b="0">
                <a:solidFill>
                  <a:srgbClr val="E6E6E6"/>
                </a:solidFill>
                <a:latin typeface="Consolas"/>
                <a:ea typeface="Consolas"/>
              </a:rPr>
              <a:t>SID_LIST_LISTENER_SALESPDBS =</a:t>
            </a:r>
          </a:p>
          <a:p>
            <a:pPr>
              <a:spcAft>
                <a:spcPts val="0"/>
              </a:spcAft>
            </a:pPr>
            <a:r>
              <a:rPr sz="1200" b="0">
                <a:solidFill>
                  <a:srgbClr val="E6E6E6"/>
                </a:solidFill>
                <a:latin typeface="Consolas"/>
                <a:ea typeface="Consolas"/>
              </a:rPr>
              <a:t>  (SID_LIST =</a:t>
            </a:r>
          </a:p>
          <a:p>
            <a:pPr>
              <a:spcAft>
                <a:spcPts val="0"/>
              </a:spcAft>
            </a:pPr>
            <a:r>
              <a:rPr sz="1200" b="0">
                <a:solidFill>
                  <a:srgbClr val="E6E6E6"/>
                </a:solidFill>
                <a:latin typeface="Consolas"/>
                <a:ea typeface="Consolas"/>
              </a:rPr>
              <a:t>    (SID_DESC =</a:t>
            </a:r>
          </a:p>
          <a:p>
            <a:pPr>
              <a:spcAft>
                <a:spcPts val="0"/>
              </a:spcAft>
            </a:pPr>
            <a:r>
              <a:rPr sz="1200" b="0">
                <a:solidFill>
                  <a:srgbClr val="E6E6E6"/>
                </a:solidFill>
                <a:latin typeface="Consolas"/>
                <a:ea typeface="Consolas"/>
              </a:rPr>
              <a:t>      (GLOBAL_DBNAME = PDB1.example.com)</a:t>
            </a:r>
          </a:p>
          <a:p>
            <a:pPr>
              <a:spcAft>
                <a:spcPts val="0"/>
              </a:spcAft>
            </a:pPr>
            <a:r>
              <a:rPr sz="1200" b="0">
                <a:solidFill>
                  <a:srgbClr val="E6E6E6"/>
                </a:solidFill>
                <a:latin typeface="Consolas"/>
                <a:ea typeface="Consolas"/>
              </a:rPr>
              <a:t>      (SID_NAME = ORCL)</a:t>
            </a:r>
          </a:p>
          <a:p>
            <a:pPr>
              <a:spcAft>
                <a:spcPts val="0"/>
              </a:spcAft>
            </a:pPr>
            <a:r>
              <a:rPr sz="1200" b="0">
                <a:solidFill>
                  <a:srgbClr val="E6E6E6"/>
                </a:solidFill>
                <a:latin typeface="Consolas"/>
                <a:ea typeface="Consolas"/>
              </a:rPr>
              <a:t>      (ORACLE_HOME = /u01/app/oracle/product/19.0.0/dbhome_1)))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r>
              <a:rPr sz="6600" b="1">
                <a:solidFill>
                  <a:srgbClr val="C0392B"/>
                </a:solidFill>
                <a:latin typeface="Malgun Gothic"/>
                <a:ea typeface="Malgun Gothic"/>
              </a:rPr>
              <a:t>11.11</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ea typeface="Malgun Gothic"/>
              </a:rPr>
              <a:t>동적 vs 정적 비교</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pPr>
              <a:spcAft>
                <a:spcPts val="400"/>
              </a:spcAft>
            </a:pPr>
            <a:r>
              <a:rPr sz="1600" b="0">
                <a:solidFill>
                  <a:srgbClr val="C5CED6"/>
                </a:solidFill>
                <a:latin typeface="Malgun Gothic"/>
                <a:ea typeface="Malgun Gothic"/>
              </a:rPr>
              <a:t>•  누가 등록하는가 / 상태를 아는가</a:t>
            </a:r>
          </a:p>
          <a:p>
            <a:pPr>
              <a:spcAft>
                <a:spcPts val="400"/>
              </a:spcAft>
            </a:pPr>
            <a:r>
              <a:rPr sz="1600" b="0">
                <a:solidFill>
                  <a:srgbClr val="C5CED6"/>
                </a:solidFill>
                <a:latin typeface="Malgun Gothic"/>
                <a:ea typeface="Malgun Gothic"/>
              </a:rPr>
              <a:t>•  동적=자동·HA / 정적=수동·특수용도</a:t>
            </a:r>
          </a:p>
          <a:p>
            <a:pPr>
              <a:spcAft>
                <a:spcPts val="400"/>
              </a:spcAft>
            </a:pPr>
            <a:r>
              <a:rPr sz="1600" b="0">
                <a:solidFill>
                  <a:srgbClr val="C5CED6"/>
                </a:solidFill>
                <a:latin typeface="Malgun Gothic"/>
                <a:ea typeface="Malgun Gothic"/>
              </a:rPr>
              <a:t>•  두 방식 공존 가능</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동적 vs 정적 서비스 등록</a:t>
            </a:r>
          </a:p>
        </p:txBody>
      </p:sp>
      <p:sp>
        <p:nvSpPr>
          <p:cNvPr id="4" name="TextBox 3"/>
          <p:cNvSpPr txBox="1"/>
          <p:nvPr/>
        </p:nvSpPr>
        <p:spPr>
          <a:xfrm>
            <a:off x="640080" y="1280160"/>
            <a:ext cx="10881360" cy="53949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정보 제공: 동적=LREG 자동 / 정적=관리자 수동(listener.ora)</a:t>
            </a:r>
          </a:p>
          <a:p>
            <a:pPr>
              <a:spcAft>
                <a:spcPts val="600"/>
              </a:spcAft>
            </a:pPr>
            <a:r>
              <a:rPr sz="1800" b="0">
                <a:solidFill>
                  <a:srgbClr val="202830"/>
                </a:solidFill>
                <a:latin typeface="Malgun Gothic"/>
                <a:ea typeface="Malgun Gothic"/>
              </a:rPr>
              <a:t>•  상태 표시: 동적=READY / 정적=UNKNOWN</a:t>
            </a:r>
          </a:p>
          <a:p>
            <a:pPr>
              <a:spcAft>
                <a:spcPts val="600"/>
              </a:spcAft>
            </a:pPr>
            <a:r>
              <a:rPr sz="1800" b="0">
                <a:solidFill>
                  <a:srgbClr val="202830"/>
                </a:solidFill>
                <a:latin typeface="Malgun Gothic"/>
                <a:ea typeface="Malgun Gothic"/>
              </a:rPr>
              <a:t>•  갱신: 동적=60초+REGISTER / 정적=재시작·reload</a:t>
            </a:r>
          </a:p>
          <a:p>
            <a:pPr>
              <a:spcAft>
                <a:spcPts val="600"/>
              </a:spcAft>
            </a:pPr>
            <a:r>
              <a:rPr sz="1800" b="0">
                <a:solidFill>
                  <a:srgbClr val="202830"/>
                </a:solidFill>
                <a:latin typeface="Malgun Gothic"/>
                <a:ea typeface="Malgun Gothic"/>
              </a:rPr>
              <a:t>•  페일오버·로드밸런싱: 동적 지원 / 정적 미지원</a:t>
            </a:r>
          </a:p>
          <a:p>
            <a:pPr>
              <a:spcAft>
                <a:spcPts val="600"/>
              </a:spcAft>
            </a:pPr>
            <a:r>
              <a:rPr sz="1800" b="0">
                <a:solidFill>
                  <a:srgbClr val="202830"/>
                </a:solidFill>
                <a:latin typeface="Malgun Gothic"/>
                <a:ea typeface="Malgun Gothic"/>
              </a:rPr>
              <a:t>•  선택 기준: 인스턴스 없을 때도 광고 필요 → 정적, 아니면 동적</a:t>
            </a:r>
          </a:p>
          <a:p>
            <a:pPr>
              <a:spcAft>
                <a:spcPts val="600"/>
              </a:spcAft>
            </a:pPr>
            <a:r>
              <a:rPr sz="1800" b="0">
                <a:solidFill>
                  <a:srgbClr val="202830"/>
                </a:solidFill>
                <a:latin typeface="Malgun Gothic"/>
                <a:ea typeface="Malgun Gothic"/>
              </a:rPr>
              <a:t>•  두 방식 공존 가능 — 같은 서비스 중복 등록은 지양</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퀴즈 1 · 2</a:t>
            </a:r>
          </a:p>
        </p:txBody>
      </p:sp>
      <p:sp>
        <p:nvSpPr>
          <p:cNvPr id="4" name="TextBox 3"/>
          <p:cNvSpPr txBox="1"/>
          <p:nvPr/>
        </p:nvSpPr>
        <p:spPr>
          <a:xfrm>
            <a:off x="640080" y="1280160"/>
            <a:ext cx="10881360" cy="5212080"/>
          </a:xfrm>
          <a:prstGeom prst="rect">
            <a:avLst/>
          </a:prstGeom>
          <a:noFill/>
        </p:spPr>
        <p:txBody>
          <a:bodyPr wrap="square">
            <a:spAutoFit/>
          </a:bodyPr>
          <a:lstStyle/>
          <a:p>
            <a:pPr>
              <a:spcBef>
                <a:spcPts val="600"/>
              </a:spcBef>
            </a:pPr>
            <a:r>
              <a:rPr sz="1700" b="1">
                <a:solidFill>
                  <a:srgbClr val="C0392B"/>
                </a:solidFill>
                <a:latin typeface="Malgun Gothic"/>
                <a:ea typeface="Malgun Gothic"/>
              </a:rPr>
              <a:t>Q. 리스너의 역할을 한 문장으로?</a:t>
            </a:r>
          </a:p>
          <a:p>
            <a:pPr>
              <a:spcAft>
                <a:spcPts val="1000"/>
              </a:spcAft>
            </a:pPr>
            <a:r>
              <a:rPr sz="1500" b="0">
                <a:solidFill>
                  <a:srgbClr val="202830"/>
                </a:solidFill>
                <a:latin typeface="Malgun Gothic"/>
                <a:ea typeface="Malgun Gothic"/>
              </a:rPr>
              <a:t>A. 모든 비로컬 연결의 게이트웨이로, CONNECT 요청의 서비스 유효성을 확인해 서버 프로세스로 넘긴다. 단일 리스너가 여러 인스턴스·수천 연결을 서비스.</a:t>
            </a:r>
          </a:p>
          <a:p>
            <a:pPr>
              <a:spcBef>
                <a:spcPts val="600"/>
              </a:spcBef>
            </a:pPr>
            <a:r>
              <a:rPr sz="1700" b="1">
                <a:solidFill>
                  <a:srgbClr val="C0392B"/>
                </a:solidFill>
                <a:latin typeface="Malgun Gothic"/>
                <a:ea typeface="Malgun Gothic"/>
              </a:rPr>
              <a:t>Q. 기본 리스너의 이름과 포트는?</a:t>
            </a:r>
          </a:p>
          <a:p>
            <a:pPr>
              <a:spcAft>
                <a:spcPts val="1000"/>
              </a:spcAft>
            </a:pPr>
            <a:r>
              <a:rPr sz="1500" b="0">
                <a:solidFill>
                  <a:srgbClr val="202830"/>
                </a:solidFill>
                <a:latin typeface="Malgun Gothic"/>
                <a:ea typeface="Malgun Gothic"/>
              </a:rPr>
              <a:t>A. 이름 LISTENER, 기본 TCP 포트 1521. netca가 생성하고 동적 등록으로 서비스가 자동 채워진다.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퀴즈 3 · 4</a:t>
            </a:r>
          </a:p>
        </p:txBody>
      </p:sp>
      <p:sp>
        <p:nvSpPr>
          <p:cNvPr id="4" name="TextBox 3"/>
          <p:cNvSpPr txBox="1"/>
          <p:nvPr/>
        </p:nvSpPr>
        <p:spPr>
          <a:xfrm>
            <a:off x="640080" y="1280160"/>
            <a:ext cx="10881360" cy="5212080"/>
          </a:xfrm>
          <a:prstGeom prst="rect">
            <a:avLst/>
          </a:prstGeom>
          <a:noFill/>
        </p:spPr>
        <p:txBody>
          <a:bodyPr wrap="square">
            <a:spAutoFit/>
          </a:bodyPr>
          <a:lstStyle/>
          <a:p>
            <a:pPr>
              <a:spcBef>
                <a:spcPts val="600"/>
              </a:spcBef>
            </a:pPr>
            <a:r>
              <a:rPr sz="1700" b="1">
                <a:solidFill>
                  <a:srgbClr val="C0392B"/>
                </a:solidFill>
                <a:latin typeface="Malgun Gothic"/>
                <a:ea typeface="Malgun Gothic"/>
              </a:rPr>
              <a:t>Q. 동적 서비스 등록의 세 이점은?</a:t>
            </a:r>
          </a:p>
          <a:p>
            <a:pPr>
              <a:spcAft>
                <a:spcPts val="1000"/>
              </a:spcAft>
            </a:pPr>
            <a:r>
              <a:rPr sz="1500" b="0">
                <a:solidFill>
                  <a:srgbClr val="202830"/>
                </a:solidFill>
                <a:latin typeface="Malgun Gothic"/>
                <a:ea typeface="Malgun Gothic"/>
              </a:rPr>
              <a:t>A. ① 연결 시점 페일오버 ② 연결 로드 밸런싱 ③ RAC·Data Guard 고가용성. 모두 LREG의 실시간 상태·부하 등록에서 비롯.</a:t>
            </a:r>
          </a:p>
          <a:p>
            <a:pPr>
              <a:spcBef>
                <a:spcPts val="600"/>
              </a:spcBef>
            </a:pPr>
            <a:r>
              <a:rPr sz="1700" b="1">
                <a:solidFill>
                  <a:srgbClr val="C0392B"/>
                </a:solidFill>
                <a:latin typeface="Malgun Gothic"/>
                <a:ea typeface="Malgun Gothic"/>
              </a:rPr>
              <a:t>Q. LREG가 등록하는 정보와 주기는?</a:t>
            </a:r>
          </a:p>
          <a:p>
            <a:pPr>
              <a:spcAft>
                <a:spcPts val="1000"/>
              </a:spcAft>
            </a:pPr>
            <a:r>
              <a:rPr sz="1500" b="0">
                <a:solidFill>
                  <a:srgbClr val="202830"/>
                </a:solidFill>
                <a:latin typeface="Malgun Gothic"/>
                <a:ea typeface="Malgun Gothic"/>
              </a:rPr>
              <a:t>A. 인스턴스 이름·서비스 이름·현재/최대 부하·서비스 핸들러. 마운트 후 등록, 이후 60초마다 갱신, REGISTER로 즉시.</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퀴즈 5 · 6</a:t>
            </a:r>
          </a:p>
        </p:txBody>
      </p:sp>
      <p:sp>
        <p:nvSpPr>
          <p:cNvPr id="4" name="TextBox 3"/>
          <p:cNvSpPr txBox="1"/>
          <p:nvPr/>
        </p:nvSpPr>
        <p:spPr>
          <a:xfrm>
            <a:off x="640080" y="1280160"/>
            <a:ext cx="10881360" cy="5212080"/>
          </a:xfrm>
          <a:prstGeom prst="rect">
            <a:avLst/>
          </a:prstGeom>
          <a:noFill/>
        </p:spPr>
        <p:txBody>
          <a:bodyPr wrap="square">
            <a:spAutoFit/>
          </a:bodyPr>
          <a:lstStyle/>
          <a:p>
            <a:pPr>
              <a:spcBef>
                <a:spcPts val="600"/>
              </a:spcBef>
            </a:pPr>
            <a:r>
              <a:rPr sz="1700" b="1">
                <a:solidFill>
                  <a:srgbClr val="C0392B"/>
                </a:solidFill>
                <a:latin typeface="Malgun Gothic"/>
                <a:ea typeface="Malgun Gothic"/>
              </a:rPr>
              <a:t>Q. 정적 서비스가 UNKNOWN으로 보이는 이유는?</a:t>
            </a:r>
          </a:p>
          <a:p>
            <a:pPr>
              <a:spcAft>
                <a:spcPts val="1000"/>
              </a:spcAft>
            </a:pPr>
            <a:r>
              <a:rPr sz="1500" b="0">
                <a:solidFill>
                  <a:srgbClr val="202830"/>
                </a:solidFill>
                <a:latin typeface="Malgun Gothic"/>
                <a:ea typeface="Malgun Gothic"/>
              </a:rPr>
              <a:t>A. 리스너가 서비스의 실제 생존을 모르고 지원 선언만 하기 때문. 동적은 상태를 실시간으로 알아 READY로 표시.</a:t>
            </a:r>
          </a:p>
          <a:p>
            <a:pPr>
              <a:spcBef>
                <a:spcPts val="600"/>
              </a:spcBef>
            </a:pPr>
            <a:r>
              <a:rPr sz="1700" b="1">
                <a:solidFill>
                  <a:srgbClr val="C0392B"/>
                </a:solidFill>
                <a:latin typeface="Malgun Gothic"/>
                <a:ea typeface="Malgun Gothic"/>
              </a:rPr>
              <a:t>Q. 정적 등록이 반드시 필요한 사용처는?</a:t>
            </a:r>
          </a:p>
          <a:p>
            <a:pPr>
              <a:spcAft>
                <a:spcPts val="1000"/>
              </a:spcAft>
            </a:pPr>
            <a:r>
              <a:rPr sz="1500" b="0">
                <a:solidFill>
                  <a:srgbClr val="202830"/>
                </a:solidFill>
                <a:latin typeface="Malgun Gothic"/>
                <a:ea typeface="Malgun Gothic"/>
              </a:rPr>
              <a:t>A. 외부 프로시저, 이기종 서비스, Data Guard, EM 외 도구의 원격 startup. 인스턴스가 열리기 전에도 리스너가 알아야 하는 경우.</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요약 (Summary)</a:t>
            </a:r>
          </a:p>
        </p:txBody>
      </p:sp>
      <p:sp>
        <p:nvSpPr>
          <p:cNvPr id="4" name="TextBox 3"/>
          <p:cNvSpPr txBox="1"/>
          <p:nvPr/>
        </p:nvSpPr>
        <p:spPr>
          <a:xfrm>
            <a:off x="640080" y="1280160"/>
            <a:ext cx="10881360" cy="53949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리스너는 비로컬 연결의 게이트웨이, lsnrctl로 제어</a:t>
            </a:r>
          </a:p>
          <a:p>
            <a:pPr>
              <a:spcAft>
                <a:spcPts val="600"/>
              </a:spcAft>
            </a:pPr>
            <a:r>
              <a:rPr sz="1800" b="0">
                <a:solidFill>
                  <a:srgbClr val="202830"/>
                </a:solidFill>
                <a:latin typeface="Malgun Gothic"/>
                <a:ea typeface="Malgun Gothic"/>
              </a:rPr>
              <a:t>•  기본 리스너 LISTENER는 1521 포트에 생성, 동적 등록으로 자동 채움</a:t>
            </a:r>
          </a:p>
          <a:p>
            <a:pPr>
              <a:spcAft>
                <a:spcPts val="600"/>
              </a:spcAft>
            </a:pPr>
            <a:r>
              <a:rPr sz="1800" b="0">
                <a:solidFill>
                  <a:srgbClr val="202830"/>
                </a:solidFill>
                <a:latin typeface="Malgun Gothic"/>
                <a:ea typeface="Malgun Gothic"/>
              </a:rPr>
              <a:t>•  동적 등록: LREG 자동 등록, 페일오버·로드밸런싱·HA, listener.ora 미사용</a:t>
            </a:r>
          </a:p>
          <a:p>
            <a:pPr>
              <a:spcAft>
                <a:spcPts val="600"/>
              </a:spcAft>
            </a:pPr>
            <a:r>
              <a:rPr sz="1800" b="0">
                <a:solidFill>
                  <a:srgbClr val="202830"/>
                </a:solidFill>
                <a:latin typeface="Malgun Gothic"/>
                <a:ea typeface="Malgun Gothic"/>
              </a:rPr>
              <a:t>•  LREG는 이름·부하·핸들러 등록, 60초 주기+ALTER SYSTEM REGISTER</a:t>
            </a:r>
          </a:p>
          <a:p>
            <a:pPr>
              <a:spcAft>
                <a:spcPts val="600"/>
              </a:spcAft>
            </a:pPr>
            <a:r>
              <a:rPr sz="1800" b="0">
                <a:solidFill>
                  <a:srgbClr val="202830"/>
                </a:solidFill>
                <a:latin typeface="Malgun Gothic"/>
                <a:ea typeface="Malgun Gothic"/>
              </a:rPr>
              <a:t>•  정적 등록: SID_LIST_&lt;리스너명&gt;에 수동 기재, UNKNOWN, 특수 용도</a:t>
            </a:r>
          </a:p>
          <a:p>
            <a:pPr>
              <a:spcAft>
                <a:spcPts val="600"/>
              </a:spcAft>
            </a:pPr>
            <a:r>
              <a:rPr sz="1800" b="0">
                <a:solidFill>
                  <a:srgbClr val="202830"/>
                </a:solidFill>
                <a:latin typeface="Malgun Gothic"/>
                <a:ea typeface="Malgun Gothic"/>
              </a:rPr>
              <a:t>•  동적·정적 공존 가능 — 평상시 동적, 특수 요구만 정적</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a:solidFill>
                  <a:srgbClr val="FFFFFF"/>
                </a:solidFill>
                <a:latin typeface="Malgun Gothic"/>
                <a:ea typeface="Malgun Gothic"/>
              </a:rPr>
              <a:t>실습 11 개요 (Practice Overview)</a:t>
            </a:r>
          </a:p>
        </p:txBody>
      </p:sp>
      <p:sp>
        <p:nvSpPr>
          <p:cNvPr id="4" name="TextBox 3"/>
          <p:cNvSpPr txBox="1"/>
          <p:nvPr/>
        </p:nvSpPr>
        <p:spPr>
          <a:xfrm>
            <a:off x="640080" y="1280160"/>
            <a:ext cx="10881360" cy="53949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실습 11-01 기본 리스너 상태 조회 — lsnrctl status/services</a:t>
            </a:r>
          </a:p>
          <a:p>
            <a:pPr>
              <a:spcAft>
                <a:spcPts val="600"/>
              </a:spcAft>
            </a:pPr>
            <a:r>
              <a:rPr sz="1800" b="0">
                <a:solidFill>
                  <a:srgbClr val="202830"/>
                </a:solidFill>
                <a:latin typeface="Malgun Gothic"/>
                <a:ea typeface="Malgun Gothic"/>
              </a:rPr>
              <a:t>•  실습 11-02 동적 서비스 등록 — LOCAL_LISTENER/REMOTE_LISTENER 구성</a:t>
            </a:r>
          </a:p>
          <a:p>
            <a:pPr>
              <a:spcAft>
                <a:spcPts val="600"/>
              </a:spcAft>
            </a:pPr>
            <a:r>
              <a:rPr sz="1800" b="0">
                <a:solidFill>
                  <a:srgbClr val="202830"/>
                </a:solidFill>
                <a:latin typeface="Malgun Gothic"/>
                <a:ea typeface="Malgun Gothic"/>
              </a:rPr>
              <a:t>•  실습 11-03 정적 서비스 등록 — SID_LIST_&lt;리스너명&gt; 작성, UNKNOWN 확인</a:t>
            </a:r>
          </a:p>
          <a:p>
            <a:pPr>
              <a:spcAft>
                <a:spcPts val="600"/>
              </a:spcAft>
            </a:pPr>
            <a:r>
              <a:rPr sz="1800" b="0">
                <a:solidFill>
                  <a:srgbClr val="202830"/>
                </a:solidFill>
                <a:latin typeface="Malgun Gothic"/>
                <a:ea typeface="Malgun Gothic"/>
              </a:rPr>
              <a:t>•  실습 11-04 ALTER SYSTEM REGISTER — 등록 지연 재현 후 즉시 등록</a:t>
            </a:r>
          </a:p>
          <a:p>
            <a:pPr>
              <a:spcAft>
                <a:spcPts val="600"/>
              </a:spcAft>
            </a:pPr>
            <a:r>
              <a:rPr sz="1800" b="0">
                <a:solidFill>
                  <a:srgbClr val="202830"/>
                </a:solidFill>
                <a:latin typeface="Malgun Gothic"/>
                <a:ea typeface="Malgun Gothic"/>
              </a:rPr>
              <a:t>•  ※ 반드시 학습·테스트용 CDB에서만, listener.ora·파라미터 변경 전 백업</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
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프로파일은 데이터베이스 자원의 사용량과 비밀번호 관련 규칙을 하나의 이름으로 묶어 놓은 제한의 집합입니다. 관리자는 프로파일을 만들어 사용자에게 할당함으로써 특정 사용자가 시스템 자원을 과도하게 소비하지 못하도록 막고, 조직의 보안 정책에 맞는 비밀번호 규칙을 강제할 수 있습니다. 하나의 프로파일은 여러 사용자에게 공유될 수 있지만, 한 사용자에게는 항상 정확히 하나의 프로파일만 할당됩니다. 사용자를 만들 때 프로파일을 지정하지 않으면 자동으로 DEFAULT 프로파일이 적용됩니다. 21장의 사용자, 22장의 권한과 롤이 '무엇을 할 수 있는가'를 정했다면, 프로파일은 '얼마나·어떤 조건으로 쓸 수 있는가'를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프로파일이 담당하는 기능은 크게 두 가지입니다. 첫째는 자원 제한으로 세션당 CPU 시간, 동시 세션 수, 접속 유지 시간, 유휴 시간, 논리적 블록 읽기 수, PGA 메모리 사용량 등을 제한합니다. 둘째는 비밀번호 관리로 로그인 실패 시 계정 잠금, 만료·유예 기간, 재사용 제한, 복잡도 검증 함수 적용을 담당합니다. 두 기능 사이에는 중요한 차이가 있습니다. 비밀번호 관련 제한은 항상 적용되지만, 세션·콜 수준의 커널 자원 제한은 RESOURCE_LIMIT 초기화 파라미터가 TRUE일 때만 적용됩니다. 19c 기본값은 TRUE이지만 운영 환경에서는 반드시 실제 값을 확인해야 합니다. 값은 정수, UNLIMITED, DEFAULT 세 가지 방식으로 지정합니다.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프로파일과 자원 제한 상태를 확인하는 기본 조회들입니다. 먼저 SHOW PARAMETER resource_limit로 커널 자원 제한이 실제로 강제되는지 확인합니다. 값이 FALSE이면 CPU_PER_SESSION 같은 자원 파라미터를 아무리 설정해도 무시되므로 이 확인이 선행되어야 합니다. 다음으로 DBA_PROFILES 뷰에서 DEFAULT 프로파일의 각 자원 이름(RESOURCE_NAME), 자원 유형(RESOURCE_TYPE: KERNEL 또는 PASSWORD), 제한 값(LIMIT)을 조회합니다. 이 뷰는 모든 프로파일의 정의를 담고 있어 프로파일 감사의 출발점이 됩니다. 마지막으로 DBA_USERS의 PROFILE 컬럼으로 특정 사용자에게 어떤 프로파일이 붙어 있는지 확인합니다. 프로파일은 테이블스페이스 할당량(QUOTA)이나 자원 관리자(DBRM)와는 별개의 기능이라는 점도 함께 기억합니다.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프로파일을 실제로 다루는 명령은 세 가지입니다. 만들 때 CREATE PROFILE, 값을 바꿀 때 ALTER PROFILE ... LIMIT, 없앨 때 DROP PROFILE입니다. 기본 구조는 프로파일 이름을 지정한 뒤 LIMIT 키워드 다음에 하나 이상의 파라미터 값 쌍을 나열하는 형태이며, 자원 파라미터와 비밀번호 파라미터를 한 문장에 섞어 지정할 수 있습니다. 명시하지 않은 파라미터는 자동으로 DEFAULT 프로파일 값을 상속합니다. 프로파일을 만들려면 CREATE PROFILE 시스템 권한이 필요하고 수정·삭제에는 각각 ALTER PROFILE, DROP PROFILE 권한이 필요합니다. 이미 존재하는 이름으로 만들면 ORA-02380 오류가 나므로, 재정의할 때는 CREATE 대신 ALTER PROFILE ... LIMIT로 개별 파라미터만 바꾸는 것이 안전합니다. 파라미터 나열 순서는 결과에 영향을 주지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프로파일 생성의 전형적인 흐름입니다. 먼저 ALTER SYSTEM SET resource_limit=TRUE로 커널 자원 제한을 활성화합니다. 이 파라미터는 동적이므로 즉시 반영되지만, 이미 접속해 있는 세션에는 소급 적용되지 않고 이후 새로 시작하는 세션부터 적용됩니다. 다음으로 CREATE PROFILE app_prof LIMIT 구문으로 세션 수 제한(SESSIONS_PER_USER 5), CPU 무제한(UNLIMITED), 비밀번호 수명(PASSWORD_LIFE_TIME 90)을 한 문장에 섞어 지정합니다. 여기서 UNLIMITED는 무제한이라는 확정된 값이고, 만약 DEFAULT로 두면 DEFAULT 프로파일의 값을 그때그때 참조한다는 차이가 있습니다. 마지막으로 이미 만든 프로파일의 특정 항목만 바꿀 때는 ALTER PROFILE ... LIMIT로 해당 파라미터만 지정합니다. 전체를 다시 CREATE하면 ORA-02380 오류가 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파라미터들은 세션 자체 또는 각 콜이 소비하는 CPU와 접속 자원을 제한합니다. SESSIONS_PER_USER는 한 사용자 계정이 동시에 열 수 있는 병행 세션의 최대 개수로, 3으로 두면 네 번째 접속에서 ORA-02391 오류가 납니다. 애플리케이션 서비스 계정이 커넥션 풀을 쓰면 풀 최대 크기보다 크게 잡아야 합니다. CPU_PER_SESSION은 한 세션이 접속부터 종료까지 쓸 수 있는 총 CPU 시간을, CPU_PER_CALL은 단일 콜 하나가 쓸 수 있는 CPU 시간을 제한하며 단위는 모두 100분의 1초입니다. 즉 값 3000은 30초를 뜻합니다. 세션 한도를 초과하면 진행 중이던 문장이 롤백되고 ORA-02392와 함께 세션이 종료됩니다. 콜 한도를 초과하면 해당 문장만 ORA-02393으로 중단되고 세션은 유지되므로, 폭주하는 개별 쿼리를 막는 데 CPU_PER_CALL이 유용합니다.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CONNECT_TIME은 세션이 접속을 유지할 수 있는 총 경과 시간을, IDLE_TIME은 세션이 아무 작업 없이 유휴 상태로 있을 수 있는 연속 시간을 제한하며 단위는 모두 분입니다. CONNECT_TIME을 60으로 두면 접속 60분이 지난 세션은 자동 종료됩니다. IDLE_TIME은 장시간 방치된 세션이 잠금이나 임시 공간을 붙잡고 있는 문제를 완화하지만, 실행 중인 장기 쿼리에는 적용되지 않고 순수하게 대기 중인 세션에만 적용됩니다. 세션 한도와 콜 한도의 차이를 이해하면 파라미터 선택이 쉽습니다. 세션 한도는 접속 시작부터 종료까지 누적된 총량을 대상으로 하며 초과 시 세션 자체가 종료됩니다. 콜 한도는 하나의 SQL 문 실행을 대상으로 하며 초과해도 그 문장만 실패하고 세션은 살아남습니다. 대화형 사용자에게는 콜 한도가, 배치성 세션에는 세션 한도가 더 자연스럽습니다.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세션·CPU·시간 제한을 하나의 프로파일에 담고, 콜 CPU 한도 초과 상황을 보여줍니다. oltp_prof 프로파일은 동시 세션 4개, 콜당 CPU 30초(3000 센티초), 총 접속 120분, 유휴 15분을 제한합니다. 주석에 단위를 명시한 것에 주목하세요. CPU는 100분의 1초, 시간은 분 단위입니다. 아래쪽은 이 프로파일을 쓰는 HR 사용자가 인덱스 없는 대형 조인을 실행해 콜당 CPU 한도를 초과한 상황입니다. ORA-02393 오류가 발생하며 해당 문장만 중단되고 세션은 그대로 유지됩니다. 만약 CPU_PER_SESSION을 초과했다면 ORA-02392와 함께 세션 자체가 종료되었을 것입니다. 오류 메시지에 어떤 자원(CPU usage)이 초과되었는지 명시되므로, ORA-0239x 계열 오류를 만나면 메시지의 자원 이름을 보고 해당 프로파일 파라미터를 조정하면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논리적 읽기는 데이터 블록을 읽은 횟수로, 메모리(버퍼 캐시)에서 읽은 것과 디스크에서 읽은 것을 모두 포함합니다. LOGICAL_READS_PER_SESSION은 세션 전체가, LOGICAL_READS_PER_CALL은 콜 하나가 읽을 수 있는 블록 수를 제한하며 단위는 블록입니다. 이 제한은 인덱스를 타지 않는 전체 테이블 스캔이나 카티전 곱 같은 무거운 쿼리가 시스템을 마비시키는 것을 방지합니다. 세션 한도를 넘으면 ORA-02394, 콜 한도를 넘으면 ORA-02395가 발생합니다. 논리적 읽기 제한을 설정할 때는 정상 업무의 실제 블록 소비량을 먼저 파악해야 합니다. 잘 튜닝된 OLTP 쿼리는 콜당 수십에서 수백 블록을 읽지만 통계가 나쁜 쿼리는 수십만 블록을 읽을 수 있습니다. 정상 상한보다 약간 높게 잡으면 폭주 쿼리를 조기 차단하면서 정상 작업은 방해하지 않는 안전장치가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PRIVATE_SGA는 공유 서버 아키텍처에서 한 세션이 SGA(정확히는 라지 풀 안의 UGA)에 할당할 수 있는 사설 메모리의 최대 크기를 바이트 단위로 제한하며, K와 M 접미사로 킬로바이트·메가바이트를 지정할 수 있습니다. 전용 서버에서는 세션 메모리인 UGA가 SGA가 아닌 PGA에 위치하므로 이 파라미터가 사실상 의미가 없습니다. 따라서 PRIVATE_SGA는 공유 서버를 운영할 때만 고려합니다. COMPOSITE_LIMIT은 개별 자원을 각각 제한하는 대신, 여러 자원의 소비량을 가중 합산한 자원 비용의 총합을 하나의 값으로 제한하는 방식입니다. 합산 가중치는 ALTER RESOURCE COST 문으로 CPU_PER_SESSION, CONNECT_TIME, LOGICAL_READS_PER_SESSION, PRIVATE_SGA 네 자원에 대해 설정합니다. 예를 들어 CPU 가중치 1, 논리읽기 가중치 50일 때 CPU 200과 읽기 3000블록을 소비하면 종합 비용은 200 곱하기 1 더하기 3000 곱하기 50, 즉 150200이 됩니다. 개별 한도와 COMPOSITE_LIMIT을 함께 설정하면 둘 중 먼저 초과되는 시점에 세션이 제한됩니다.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종합 자원 비용을 구성하는 흐름입니다. 먼저 ALTER RESOURCE COST로 각 자원의 가중치를 지정합니다. 여기서는 CPU_PER_SESSION에 1, LOGICAL_READS_PER_SESSION에 50의 가중치를 주었는데, 이는 논리 읽기 한 번을 CPU 한 단위의 50배로 계산하겠다는 의미입니다. 가중치는 CPU_PER_SESSION, CONNECT_TIME, LOGICAL_READS_PER_SESSION, PRIVATE_SGA 네 자원에만 설정할 수 있습니다. 다음으로 batch_prof 프로파일에서 콜당 논리 읽기 50만 블록, 공유 서버 UGA 200KB, 그리고 종합 비용 500만이라는 COMPOSITE_LIMIT을 함께 지정합니다. 세션이 소비하는 각 자원에 가중치를 곱해 합산한 값이 500만을 넘거나, 콜당 50만 블록을 넘으면 그 시점에 세션이 제한됩니다. 개별 한도를 일일이 조율하기 번거로울 때 여러 자원을 하나의 예산으로 묶어 관리하는 방식이라고 이해하면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비밀번호 관련 파라미터는 RESOURCE_LIMIT 값과 무관하게 항상 적용됩니다. 그중 계정 잠금 파라미터는 무차별 대입 공격, 즉 비밀번호를 반복 추측하는 공격을 방어합니다. FAILED_LOGIN_ATTEMPTS는 연속된 로그인 실패를 몇 번까지 허용할지 지정하며, 이 횟수만큼 잘못된 비밀번호로 실패하면 계정이 자동으로 잠깁니다. 잠긴 계정으로 로그인하면 ORA-28000 오류가 발생하고, 로그인에 성공하면 실패 카운터는 0으로 초기화됩니다. 19c DEFAULT 프로파일에서 이 값은 10입니다. PASSWORD_LOCK_TIME은 계정이 잠긴 뒤 자동으로 해제될 때까지의 기간을 일 단위로 지정하며 소수도 가능해 1/24는 1시간을 뜻합니다. UNLIMITED로 두면 자동 해제가 되지 않아 관리자가 직접 풀어야 합니다. 계정 상태는 DBA_USERS의 ACCOUNT_STATUS 컬럼으로 확인하며, 로그인 실패 누적으로 잠기면 LOCKED(TIMED)로 표시됩니다. FAILED_LOGIN_ATTEMPTS는 서비스 거부 부작용도 있으므로 다층 방어를 병행합니다.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계정 잠금 정책을 만들고 잠김 상황을 재현하는 흐름입니다. secure_prof 프로파일은 로그인 실패 3회 시 계정을 잠그고, PASSWORD_LOCK_TIME을 0.0417(약 1시간)로 설정해 한 시간 뒤 자동 해제되게 합니다. 이 프로파일을 쓰는 HR 계정에 잘못된 비밀번호로 세 번 로그인을 시도하면 계정이 잠기고, 이후 로그인 시 ORA-28000 오류가 발생합니다. 이때 DBA_USERS의 ACCOUNT_STATUS를 조회하면 LOCKED(TIMED)로 나타나고 LOCK_DATE에 잠긴 시각이 기록됩니다. 자동 해제를 기다리지 않고 즉시 풀려면 ALTER USER hr ACCOUNT UNLOCK을 실행합니다. FAILED_LOGIN_ATTEMPTS는 무차별 대입 공격의 실효성을 크게 떨어뜨리지만, 공격자가 일부러 로그인을 반복 실패시켜 정상 사용자 계정을 잠그는 서비스 거부 부작용도 있으므로, 서비스 계정에는 PASSWORD_LOCK_TIME을 짧게 두거나 네트워크 단 접근 제한을 병행합니다.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PASSWORD_LIFE_TIME은 하나의 비밀번호를 사용할 수 있는 최대 수명을 일 단위로 지정하며, 이 기간이 지나면 비밀번호가 만료됩니다. PASSWORD_GRACE_TIME은 비밀번호가 만료된 뒤에도 로그인은 허용하되 경고를 표시하는 유예 기간입니다. 유예 기간 동안 로그인하면 ORA-28002 경고가 나오며, 이 안에 비밀번호를 바꾸지 않고 유예 기간마저 지나면 계정 상태가 EXPIRED가 되어 다음 로그인 시 반드시 새 비밀번호를 입력해야 합니다. 시간 순서로 정리하면, 비밀번호 설정 시점부터 PASSWORD_LIFE_TIME이 지나면 EXPIRED(GRACE) 상태가 되고, 이때부터 PASSWORD_GRACE_TIME 동안 매 접속마다 만료 임박 경고가 표시됩니다. 이 유예 기간 안에 사용자가 비밀번호를 변경하면 상태가 OPEN으로 돌아가고 수명이 새로 시작됩니다. 19c DEFAULT 프로파일에서 PASSWORD_LIFE_TIME은 180일입니다. 지나치게 짧은 만료 주기는 예측 가능한 비밀번호를 유도해 오히려 보안을 약화시킬 수 있으므로 위험도에 맞춰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PASSWORD_REUSE_TIME과 PASSWORD_REUSE_MAX 두 파라미터는 사용자가 예전 비밀번호를 다시 쓰는 것을 제한합니다. PASSWORD_REUSE_TIME은 같은 비밀번호를 재사용하기까지 최소한 지나야 하는 일수를, PASSWORD_REUSE_MAX는 재사용하기 전에 사이에 거쳐야 하는 서로 다른 비밀번호의 최소 횟수를 지정합니다. 두 파라미터는 함께 동작하며 둘 다 정수 값을 지정해야 재사용 제한이 실제로 작동합니다. 여기에 흔한 오해가 있습니다. 한쪽만 정수로 설정하고 다른 쪽을 UNLIMITED로 두면 의도와 달리 어떤 이전 비밀번호도 영원히 재사용할 수 없는 극단적 정책이 됩니다. 두 조건을 모두 만족해야 재사용을 허용하는데 한쪽이 무제한이면 그 조건이 절대 충족되지 않기 때문입니다. 따라서 재사용을 부분적으로만 허용하려면 반드시 두 값을 모두 유한한 정수로 지정해야 합니다. 재사용 규칙을 위반하고 이전 비밀번호로 변경을 시도하면 ORA-28007 오류가 발생합니다.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비밀번호 수명과 재사용 정책을 하나의 프로파일에 담고 재사용 위반을 재현합니다. pw_prof 프로파일은 비밀번호 수명 90일, 유예 7일, 재사용까지 최소 365일 경과, 그리고 그 사이 최소 5개의 서로 다른 비밀번호를 요구합니다. REUSE_TIME과 REUSE_MAX를 둘 다 정수로 지정했으므로 재사용이 조건부로 허용됩니다. 만약 둘 중 하나만 지정하고 다른 쪽을 UNLIMITED로 두었다면 어떤 비밀번호도 재사용할 수 없게 됩니다. 아래쪽은 HR 사용자가 최근에 사용했던 OldPass#1으로 비밀번호를 되돌리려는 상황입니다. 아직 365일이 지나지 않았거나 5개의 다른 비밀번호를 거치지 않았으므로 ORA-28007 오류가 발생하며 변경이 거부됩니다. 이렇게 수명과 재사용 제한이 함께 작동해 비밀번호가 시간이 지나며 자연스럽게 교체되도록 유도합니다.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비밀번호 복잡도를 사람의 규율에만 맡기면 반드시 약한 비밀번호가 섞여 들어옵니다. 이를 기술적으로 강제하는 장치가 비밀번호 검증 함수입니다. PASSWORD_VERIFY_FUNCTION 파라미터는 사용자가 비밀번호를 설정하거나 변경할 때 그 복잡도를 검사하는 PL/SQL 함수를 지정합니다. 이 함수는 새 비밀번호가 최소 길이, 문자 종류 혼합, 사용자 이름과의 유사성 금지, 이전 비밀번호와의 차이 같은 규칙을 만족하지 않으면 예외를 던져 변경을 거부합니다. Oracle은 SYS 스키마에 미리 만들어진 검증 함수를 제공하며 이를 활성화하는 스크립트가 utlpwdmg.sql입니다. 대표 함수는 ora12c_verify_function(8자 이상, 문자와 숫자 혼합, 이전과 3자 이상 차이), ora12c_strong_verify_function(9자 이상, 대소문자·숫자·특수문자 모두), ora12c_stig_verify_function(미 국방부 STIG 표준)입니다. 과거의 verify_function_11g는 하위 호환용으로만 남아 있어 신규 구축에서는 권장하지 않습니다. 검증 함수를 해제하려면 PASSWORD_VERIFY_FUNCTION을 NULL 또는 DEFAULT로 설정합니다.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Oracle 제공 검증 함수를 설치하고 프로파일에 연결한 뒤 약한 비밀번호를 거부하는 과정입니다. 먼저 SYS로 접속해 utlpwdmg.sql 스크립트를 실행하면 ora12c_verify_function을 비롯한 표준 검증 함수들이 SYS 스키마에 생성됩니다. 경로의 물음표는 ORACLE_HOME을 가리키는 SQL*Plus 축약 표기입니다. 다음으로 ALTER PROFILE ... LIMIT PASSWORD_VERIFY_FUNCTION으로 pw_prof 프로파일에 ora12c_verify_function을 연결합니다. 이제 이 프로파일을 쓰는 HR 사용자가 abc처럼 규칙에 못 미치는(8자 미만, 숫자 없음) 비밀번호로 변경을 시도하면 함수가 예외를 던지고 ORA-28003 오류와 함께 변경이 거부됩니다. 검증 함수는 새 비밀번호가 평문 상태일 때 호출되므로 사용자 이름과의 유사성이나 사전 단어 포함 여부도 검사할 수 있습니다. 조직 고유 규칙이 필요하면 utlpwdmg.sql의 소스를 복사·수정해 자체 함수를 SYS 스키마에 만들고 그 이름을 지정하면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21장에서 사용자를, 22장에서 권한과 롤을 공통·로컬로 구분한 원리는 프로파일에도 그대로 적용됩니다. 멀티테넌트의 핵심 발상은 루트에서 정의한 것은 모든 PDB에 걸쳐 공통으로, PDB에서 정의한 것은 그 안에서만 로컬로 존재한다는 것입니다. 공통 프로파일은 CDB 루트(CDB$ROOT)에서 생성되며 루트와 모든 현재·미래 PDB에 존재합니다. 로컬 프로파일은 특정 PDB 안에서 생성되며 그 PDB 안에서만 유효합니다. 공통 프로파일을 만들려면 루트에 접속한 상태에서 CREATE PROFILE ... CONTAINER=ALL을 사용하고 이름은 반드시 공통 접두사 C##로 시작해야 하며, 어기면 ORA-65094 또는 ORA-65140 오류가 납니다. 로컬 프로파일은 해당 PDB에서 CONTAINER=CURRENT(생략 시 기본값)로 생성하며 C## 접두사를 붙여서는 안 됩니다. 공통 프로파일의 제한 값은 루트에서만 변경할 수 있고 그 변경은 모든 PDB에 전파되며, 개별 PDB에서 로컬로 재정의할 수 없습니다. 공통 여부는 DBA_PROFILES 또는 CDB_PROFILES의 COMMON 컬럼으로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공통 프로파일과 로컬 프로파일을 각각 생성하고 확인하는 과정입니다. 먼저 ALTER SESSION SET CONTAINER=CDB$ROOT로 루트에 접속한 뒤 CREATE PROFILE c##corp_prof ... CONTAINER=ALL로 공통 프로파일을 만듭니다. 이름이 반드시 C## 접두사로 시작해야 하며 그렇지 않으면 ORA-65140 오류가 납니다. CONTAINER=ALL을 지정했으므로 이 프로파일은 루트는 물론 현재와 미래의 모든 PDB에 자동으로 존재하게 됩니다. 다음으로 ALTER SESSION SET CONTAINER=pdb1로 특정 PDB에 접속해 app_local이라는 로컬 프로파일을 만듭니다. 로컬 프로파일은 C## 접두사 없이 만들며 CONTAINER 절을 생략하면 기본값 CURRENT가 적용됩니다. 마지막으로 CDB_PROFILES 뷰를 CON_ID, COMMON 컬럼과 함께 조회하면 공통 프로파일은 루트(CON_ID 1)와 각 PDB에 COMMON=YES로 나타나고, 로컬 프로파일은 자신이 속한 컨테이너에만 COMMON=NO로 나타납니다. 공통 프로파일은 새 PDB에도 자동 상속되어 전사 보안 정책을 일관되게 유지하는 데 큰 이점이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프로파일을 아무리 잘 정의해도 사용자에게 할당되지 않으면 아무 효과가 없습니다. 새로 만든 프로파일은 명시적으로 할당한 사용자에게만 적용되고 나머지는 여전히 DEFAULT를 따릅니다. 프로파일은 사용자를 생성할 때 CREATE USER ... PROFILE 절로 지정하거나, 이미 존재하는 사용자에게 ALTER USER ... PROFILE 문으로 할당·변경합니다. 한 사용자에게는 언제나 하나의 프로파일만 유효하므로 새 프로파일을 할당하면 이전 프로파일은 자동으로 대체됩니다. 할당 규칙에는 컨테이너 제약이 있습니다. 로컬 사용자에게는 그 PDB의 로컬 프로파일 또는 공통 프로파일을 할당할 수 있고, 공통 사용자에게 모든 컨테이너에 적용하려면 공통 프로파일을 루트에서 CONTAINER=ALL로 지정합니다. 존재하지 않는 프로파일을 할당하려 하면 ORA-02380 오류가 납니다. 변경 적용 시점도 구분해야 합니다. 비밀번호 관련 제한은 대체로 다음 로그인이나 다음 비밀번호 변경 시점에, 세션·콜 자원 제한은 새로 시작하는 세션부터 반영되며, 이미 접속 중인 세션에는 소급 적용되지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프로파일을 사용자에게 할당하는 세 가지 상황을 보여줍니다. 먼저 pdb1에 접속한 상태에서 ALTER USER hr PROFILE c##corp_prof로 기존 HR 사용자에게 공통 프로파일을 할당합니다. 로컬 사용자에게 공통 프로파일을 붙이는 것은 허용되며, 이 순간 HR의 이전 프로파일은 자동으로 대체됩니다. 다음으로 CREATE USER ... PROFILE app_local로 새 사용자를 만들면서 처음부터 로컬 프로파일을 지정합니다. 마지막은 흔한 실수로, 존재하지 않는 프로파일 이름을 할당하려 하면 ORA-02380 오류가 발생합니다. 프로파일 이름 철자나 컨테이너 위치를 확인해야 합니다. 여기서 중요한 점은 할당이 즉시 데이터 딕셔너리에 반영되더라도 실행 중인 세션에 곧바로 적용되지는 않는다는 것입니다. 예를 들어 새 프로파일이 SESSIONS_PER_USER를 낮췄더라도 이미 열려 있는 세션은 끊기지 않고, 다만 그 상태에서 새 세션을 열려고 하면 한도 초과로 거부됩니다.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관리자는 프로파일과 별개로 특정 계정을 명시적으로 잠그거나 풀 수 있습니다. ALTER USER ... ACCOUNT LOCK은 계정을 즉시 잠가 로그인을 막고 이 계정으로 접속하면 ORA-28000이 발생하며, ALTER USER ... ACCOUNT UNLOCK은 다시 엽니다. 퇴사자 계정을 삭제하지 않고 보존하면서 접근만 차단하거나 사고 대응 중 특정 계정을 급히 격리할 때 유용합니다. 계정 잠금은 비밀번호 만료와 조합해 사용할 수 있습니다. 계정 잠금과 비밀번호 만료는 목적이 다릅니다. 잠금은 이 계정으로 접속 자체를 막는 통제이고, 만료는 접속하려면 비밀번호를 새로 바꿔야 한다는 통제입니다. 신규 사용자에게 초기 비밀번호를 주면서 ALTER USER ... PASSWORD EXPIRE를 걸어 두면 처음 로그인할 때 반드시 자신만 아는 비밀번호로 변경하도록 강제할 수 있어 초기 비밀번호 유출 위험을 줄입니다. 계정 상태를 종합 점검할 때는 DBA_USERS의 ACCOUNT_STATUS, LOCK_DATE, EXPIRY_DATE, PROFILE 컬럼을 함께 조회하면 상태와 정책을 한눈에 파악할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프로파일은 데이터베이스 생성 시 자동으로 만들어지는 특수한 프로파일입니다. 사용자를 만들 때 프로파일을 지정하지 않으면 DEFAULT가 적용되고, 다른 프로파일에서 어떤 파라미터를 DEFAULT 값으로 두면 그 파라미터의 실제 한도는 DEFAULT 프로파일에서 가져옵니다. 즉 DEFAULT 프로파일은 시스템 전체의 기준선 역할을 합니다. DEFAULT 프로파일 자체의 값을 ALTER PROFILE DEFAULT LIMIT로 바꾸면 그 값을 상속하는 모든 프로파일과 사용자에게 영향이 퍼지므로 신중해야 하며, DEFAULT 프로파일은 삭제할 수 없습니다. 프로파일을 삭제할 때 그 프로파일이 사용자에게 할당돼 있으면 그냥 DROP PROFILE로는 삭제되지 않고 ORA-02382 오류가 납니다. 이때 DROP PROFILE 프로파일명 CASCADE를 사용하면 그 프로파일을 쓰던 사용자들이 자동으로 DEFAULT 프로파일로 재할당되면서 삭제됩니다. 다만 CASCADE는 사용자를 조용히 DEFAULT로 옮기므로, 삭제 대상이 엄격한 정책을 담고 있었다면 정책이 느슨해질 수 있어 사전에 DBA_USERS로 사용자를 확인하고 대체 계획을 세워야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계정 상태 관리와 프로파일 삭제의 실무 흐름입니다. 먼저 ALTER USER hr ACCOUNT LOCK으로 HR 계정을 즉시 잠가 접속을 차단하고, ALTER USER app_svc PASSWORD EXPIRE로 app_svc의 비밀번호를 만료시켜 다음 로그인 때 새 비밀번호를 강제합니다. 잠금과 만료는 목적이 다른 별개의 통제라는 점을 기억하세요. 다음으로 DBA_USERS에서 ACCOUNT_STATUS와 PROFILE을 함께 조회하면 각 계정이 지금 어떤 상태이고 어떤 정책이 적용되는지 한눈에 확인할 수 있습니다. 마지막은 프로파일 삭제입니다. app_local 프로파일에 이미 사용자가 할당돼 있으므로 그냥 DROP PROFILE을 실행하면 ORA-02382 오류가 납니다. DROP PROFILE app_local CASCADE를 사용하면 그 프로파일을 쓰던 사용자들이 자동으로 DEFAULT 프로파일로 재할당되면서 삭제가 완료됩니다. CASCADE는 편리하지만 사용자 정책을 조용히 DEFAULT 수준으로 낮출 수 있으므로, 삭제 전에 어떤 사용자가 그 프로파일을 쓰는지 반드시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퀴즈는 프로파일의 기본 개념과 자원 제한 활성화 조건을 점검합니다. 첫째, 커널 자원 제한(CPU, 세션, 논리 읽기 등)은 RESOURCE_LIMIT 파라미터가 TRUE일 때만 실제로 강제되며 비밀번호 관련 제한은 이와 무관하게 항상 적용된다는 차이가 핵심입니다. 둘째, CPU 관련 파라미터의 단위는 100분의 1초여서 값 3000은 30초를 의미하고, 시간 파라미터(CONNECT_TIME, IDLE_TIME)는 분, 잠금·수명 파라미터는 일 단위라는 점을 구분해야 합니다. 셋째, 한 사용자에게는 항상 정확히 하나의 프로파일만 유효하며 지정하지 않으면 DEFAULT가 적용됩니다. 이 세 가지는 프로파일 운영의 가장 기본이 되는 개념이므로 반드시 숙지해야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퀴즈는 비밀번호 정책과 멀티테넌트 프로파일을 점검합니다. 첫째, 계정이 로그인 실패 누적으로 잠기면 ORA-28000이 발생하고 ACCOUNT_STATUS에는 LOCKED(TIMED)로 표시되며, PASSWORD_LOCK_TIME이 지나면 자동 해제되거나 관리자가 ACCOUNT UNLOCK으로 즉시 풀 수 있습니다. 둘째, 비밀번호 재사용 제한의 함정으로 REUSE_TIME과 REUSE_MAX 중 한쪽만 정수이고 다른 쪽이 UNLIMITED이면 두 조건을 동시에 만족할 수 없어 어떤 비밀번호도 재사용할 수 없게 됩니다. 부분 허용을 원하면 반드시 두 값을 모두 유한한 정수로 지정해야 합니다. 셋째, 공통 프로파일은 CDB 루트에서 C## 접두사 이름과 CONTAINER=ALL로 생성해야 하며 규칙 위반 시 ORA-65140 계열 오류가 발생합니다. 이 규칙들은 실습에서 직접 재현하는 오류들과 직결됩니다.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퀴즈는 프로파일 삭제와 검증 함수, 적용 시점을 점검합니다. 첫째, 사용자가 할당된 프로파일을 삭제하려면 ORA-02382 오류를 피하기 위해 DROP PROFILE ... CASCADE를 사용해야 하며, 이 경우 해당 사용자들이 자동으로 DEFAULT 프로파일로 재할당됩니다. DEFAULT 프로파일 자체는 삭제할 수 없습니다. 둘째, Oracle 제공 비밀번호 검증 함수는 utlpwdmg.sql 스크립트로 설치하며 대표 함수로 ora12c_verify_function, 더 엄격한 ora12c_strong_verify_function, STIG 표준의 ora12c_stig_verify_function이 있습니다. 셋째, 프로파일 값 변경은 데이터 딕셔너리에는 즉시 반영되지만 실행 중인 세션에는 소급 적용되지 않아 자원 제한은 새 세션부터, 비밀번호 제한은 다음 로그인이나 비밀번호 변경 시점부터 적용됩니다. 이 지연 적용 특성은 운영 중 정책 변경의 안전장치이기도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0">
                <a:solidFill>
                  <a:srgbClr val="FFFFFF"/>
                </a:solidFill>
                <a:latin typeface="맑은 고딕"/>
              </a:rPr>
              <a:t>Oracle Database 19c Administration Workshop</a:t>
            </a:r>
          </a:p>
        </p:txBody>
      </p:sp>
      <p:sp>
        <p:nvSpPr>
          <p:cNvPr id="6" name="TextBox 5"/>
          <p:cNvSpPr txBox="1"/>
          <p:nvPr/>
        </p:nvSpPr>
        <p:spPr>
          <a:xfrm>
            <a:off x="731520" y="2468880"/>
            <a:ext cx="10698480" cy="1463040"/>
          </a:xfrm>
          <a:prstGeom prst="rect">
            <a:avLst/>
          </a:prstGeom>
          <a:noFill/>
        </p:spPr>
        <p:txBody>
          <a:bodyPr wrap="square">
            <a:spAutoFit/>
          </a:bodyPr>
          <a:lstStyle/>
          <a:p>
            <a:r>
              <a:rPr sz="4000" b="1">
                <a:solidFill>
                  <a:srgbClr val="C0392B"/>
                </a:solidFill>
                <a:latin typeface="맑은 고딕"/>
              </a:rPr>
              <a:t>사용자 자원 제한 구성</a:t>
            </a:r>
          </a:p>
          <a:p>
            <a:r>
              <a:rPr sz="4000" b="1">
                <a:solidFill>
                  <a:srgbClr val="C0392B"/>
                </a:solidFill>
                <a:latin typeface="맑은 고딕"/>
              </a:rPr>
              <a:t>Configuring User Resource Limits</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프로파일 · 자원/비밀번호 파라미터 · 검증 함수 · 멀티테넌트 공통/로컬 프로파일</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제23장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1000"/>
              </a:spcAft>
            </a:pPr>
            <a:r>
              <a:rPr sz="1800" b="0">
                <a:solidFill>
                  <a:srgbClr val="C0392B"/>
                </a:solidFill>
                <a:latin typeface="맑은 고딕"/>
              </a:rPr>
              <a:t>•  프로파일의 개념과 두 기능(자원 제한·비밀번호 관리) 및 적용 방식을 이해한다</a:t>
            </a:r>
          </a:p>
          <a:p>
            <a:pPr>
              <a:spcAft>
                <a:spcPts val="1000"/>
              </a:spcAft>
            </a:pPr>
            <a:r>
              <a:rPr sz="1800" b="0">
                <a:solidFill>
                  <a:srgbClr val="C0392B"/>
                </a:solidFill>
                <a:latin typeface="맑은 고딕"/>
              </a:rPr>
              <a:t>•  CREATE PROFILE 구문과 RESOURCE_LIMIT 파라미터의 영향을 설명한다</a:t>
            </a:r>
          </a:p>
          <a:p>
            <a:pPr>
              <a:spcAft>
                <a:spcPts val="1000"/>
              </a:spcAft>
            </a:pPr>
            <a:r>
              <a:rPr sz="1800" b="0">
                <a:solidFill>
                  <a:srgbClr val="C0392B"/>
                </a:solidFill>
                <a:latin typeface="맑은 고딕"/>
              </a:rPr>
              <a:t>•  세션·CPU 자원 파라미터를 구성한다 (SESSIONS_PER_USER, CPU_PER_SESSION 등)</a:t>
            </a:r>
          </a:p>
          <a:p>
            <a:pPr>
              <a:spcAft>
                <a:spcPts val="1000"/>
              </a:spcAft>
            </a:pPr>
            <a:r>
              <a:rPr sz="1800" b="0">
                <a:solidFill>
                  <a:srgbClr val="C0392B"/>
                </a:solidFill>
                <a:latin typeface="맑은 고딕"/>
              </a:rPr>
              <a:t>•  논리적 읽기·메모리 파라미터를 구성한다 (LOGICAL_READS, PRIVATE_SGA, COMPOSITE_LIMIT)</a:t>
            </a:r>
          </a:p>
          <a:p>
            <a:pPr>
              <a:spcAft>
                <a:spcPts val="1000"/>
              </a:spcAft>
            </a:pPr>
            <a:r>
              <a:rPr sz="1800" b="0">
                <a:solidFill>
                  <a:srgbClr val="C0392B"/>
                </a:solidFill>
                <a:latin typeface="맑은 고딕"/>
              </a:rPr>
              <a:t>•  계정 잠금·비밀번호 수명·재사용 파라미터로 보안 정책을 강제한다</a:t>
            </a:r>
          </a:p>
          <a:p>
            <a:pPr>
              <a:spcAft>
                <a:spcPts val="1000"/>
              </a:spcAft>
            </a:pPr>
            <a:r>
              <a:rPr sz="1800" b="0">
                <a:solidFill>
                  <a:srgbClr val="C0392B"/>
                </a:solidFill>
                <a:latin typeface="맑은 고딕"/>
              </a:rPr>
              <a:t>•  Oracle 제공 비밀번호 검증 함수를 PASSWORD_VERIFY_FUNCTION에 지정한다</a:t>
            </a:r>
          </a:p>
          <a:p>
            <a:pPr>
              <a:spcAft>
                <a:spcPts val="1000"/>
              </a:spcAft>
            </a:pPr>
            <a:r>
              <a:rPr sz="1800" b="0">
                <a:solidFill>
                  <a:srgbClr val="C0392B"/>
                </a:solidFill>
                <a:latin typeface="맑은 고딕"/>
              </a:rPr>
              <a:t>•  멀티테넌트에서 공통/로컬 프로파일을 생성하고 사용자에게 할당한다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이 장의 구성 (Agenda)</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1000"/>
              </a:spcAft>
            </a:pPr>
            <a:r>
              <a:rPr sz="1800" b="0">
                <a:solidFill>
                  <a:srgbClr val="C0392B"/>
                </a:solidFill>
                <a:latin typeface="맑은 고딕"/>
              </a:rPr>
              <a:t>•  23.A  프로파일 개념 및 자원 제한 개요</a:t>
            </a:r>
          </a:p>
          <a:p>
            <a:pPr>
              <a:spcAft>
                <a:spcPts val="1000"/>
              </a:spcAft>
            </a:pPr>
            <a:r>
              <a:rPr sz="1800" b="0">
                <a:solidFill>
                  <a:srgbClr val="C0392B"/>
                </a:solidFill>
                <a:latin typeface="맑은 고딕"/>
              </a:rPr>
              <a:t>•  23.B  CREATE PROFILE와 RESOURCE_LIMIT 파라미터</a:t>
            </a:r>
          </a:p>
          <a:p>
            <a:pPr>
              <a:spcAft>
                <a:spcPts val="1000"/>
              </a:spcAft>
            </a:pPr>
            <a:r>
              <a:rPr sz="1800" b="0">
                <a:solidFill>
                  <a:srgbClr val="C0392B"/>
                </a:solidFill>
                <a:latin typeface="맑은 고딕"/>
              </a:rPr>
              <a:t>•  23.C  세션·CPU 관련 자원 제한</a:t>
            </a:r>
          </a:p>
          <a:p>
            <a:pPr>
              <a:spcAft>
                <a:spcPts val="1000"/>
              </a:spcAft>
            </a:pPr>
            <a:r>
              <a:rPr sz="1800" b="0">
                <a:solidFill>
                  <a:srgbClr val="C0392B"/>
                </a:solidFill>
                <a:latin typeface="맑은 고딕"/>
              </a:rPr>
              <a:t>•  23.D  논리적 읽기·메모리 관련 자원 제한</a:t>
            </a:r>
          </a:p>
          <a:p>
            <a:pPr>
              <a:spcAft>
                <a:spcPts val="1000"/>
              </a:spcAft>
            </a:pPr>
            <a:r>
              <a:rPr sz="1800" b="0">
                <a:solidFill>
                  <a:srgbClr val="C0392B"/>
                </a:solidFill>
                <a:latin typeface="맑은 고딕"/>
              </a:rPr>
              <a:t>•  23.E  계정 잠금 파라미터</a:t>
            </a:r>
          </a:p>
          <a:p>
            <a:pPr>
              <a:spcAft>
                <a:spcPts val="1000"/>
              </a:spcAft>
            </a:pPr>
            <a:r>
              <a:rPr sz="1800" b="0">
                <a:solidFill>
                  <a:srgbClr val="C0392B"/>
                </a:solidFill>
                <a:latin typeface="맑은 고딕"/>
              </a:rPr>
              <a:t>•  23.F  비밀번호 수명·재사용 파라미터</a:t>
            </a:r>
          </a:p>
          <a:p>
            <a:pPr>
              <a:spcAft>
                <a:spcPts val="1000"/>
              </a:spcAft>
            </a:pPr>
            <a:r>
              <a:rPr sz="1800" b="0">
                <a:solidFill>
                  <a:srgbClr val="C0392B"/>
                </a:solidFill>
                <a:latin typeface="맑은 고딕"/>
              </a:rPr>
              <a:t>•  23.G  Oracle 제공 비밀번호 검증 함수</a:t>
            </a:r>
          </a:p>
          <a:p>
            <a:pPr>
              <a:spcAft>
                <a:spcPts val="1000"/>
              </a:spcAft>
            </a:pPr>
            <a:r>
              <a:rPr sz="1800" b="0">
                <a:solidFill>
                  <a:srgbClr val="C0392B"/>
                </a:solidFill>
                <a:latin typeface="맑은 고딕"/>
              </a:rPr>
              <a:t>•  23.H  멀티테넌트 프로파일 생성 (공통/로컬)</a:t>
            </a:r>
          </a:p>
          <a:p>
            <a:pPr>
              <a:spcAft>
                <a:spcPts val="1000"/>
              </a:spcAft>
            </a:pPr>
            <a:r>
              <a:rPr sz="1800" b="0">
                <a:solidFill>
                  <a:srgbClr val="C0392B"/>
                </a:solidFill>
                <a:latin typeface="맑은 고딕"/>
              </a:rPr>
              <a:t>•  23.I  멀티테넌트 프로파일 할당</a:t>
            </a:r>
          </a:p>
          <a:p>
            <a:pPr>
              <a:spcAft>
                <a:spcPts val="1000"/>
              </a:spcAft>
            </a:pPr>
            <a:r>
              <a:rPr sz="1800" b="0">
                <a:solidFill>
                  <a:srgbClr val="C0392B"/>
                </a:solidFill>
                <a:latin typeface="맑은 고딕"/>
              </a:rPr>
              <a:t>•  23.J  계정 잠금·해제와 DEFAULT 프로파일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23.A</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프로파일 개념 및 자원 제한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프로파일이란 무엇인가</a:t>
            </a:r>
          </a:p>
          <a:p>
            <a:pPr>
              <a:spcAft>
                <a:spcPts val="600"/>
              </a:spcAft>
            </a:pPr>
            <a:r>
              <a:rPr sz="1600" b="0">
                <a:solidFill>
                  <a:srgbClr val="FFFFFF"/>
                </a:solidFill>
                <a:latin typeface="맑은 고딕"/>
              </a:rPr>
              <a:t>•  두 가지 기능: 자원 제한·비밀번호 관리</a:t>
            </a:r>
          </a:p>
          <a:p>
            <a:pPr>
              <a:spcAft>
                <a:spcPts val="600"/>
              </a:spcAft>
            </a:pPr>
            <a:r>
              <a:rPr sz="1600" b="0">
                <a:solidFill>
                  <a:srgbClr val="FFFFFF"/>
                </a:solidFill>
                <a:latin typeface="맑은 고딕"/>
              </a:rPr>
              <a:t>•  DBA_PROFILES로 확인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프로파일(Profile)이란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profile = 제한의 집합</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자원 사용량과 비밀번호 규칙을 하나의 이름으로 묶은 '제한의 집합'</a:t>
            </a:r>
          </a:p>
          <a:p>
            <a:pPr>
              <a:spcAft>
                <a:spcPts val="1000"/>
              </a:spcAft>
            </a:pPr>
            <a:r>
              <a:rPr sz="1800" b="0">
                <a:solidFill>
                  <a:srgbClr val="C0392B"/>
                </a:solidFill>
                <a:latin typeface="맑은 고딕"/>
              </a:rPr>
              <a:t>•  만들어 사용자에게 할당 → 자원 독점 방지, 비밀번호 정책 강제</a:t>
            </a:r>
          </a:p>
          <a:p>
            <a:pPr>
              <a:spcAft>
                <a:spcPts val="1000"/>
              </a:spcAft>
            </a:pPr>
            <a:r>
              <a:rPr sz="1800" b="0">
                <a:solidFill>
                  <a:srgbClr val="C0392B"/>
                </a:solidFill>
                <a:latin typeface="맑은 고딕"/>
              </a:rPr>
              <a:t>•  한 프로파일은 여러 사용자 공유, 한 사용자는 정확히 하나의 프로파일</a:t>
            </a:r>
          </a:p>
          <a:p>
            <a:pPr>
              <a:spcAft>
                <a:spcPts val="1000"/>
              </a:spcAft>
            </a:pPr>
            <a:r>
              <a:rPr sz="1800" b="0">
                <a:solidFill>
                  <a:srgbClr val="C0392B"/>
                </a:solidFill>
                <a:latin typeface="맑은 고딕"/>
              </a:rPr>
              <a:t>•  미지정 시 자동으로 DEFAULT 프로파일 적용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프로파일의 두 기능과 RESOURCE_LIMIT</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resource limit vs password</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자원 제한: CPU·세션 수·접속시간·유휴·논리읽기·PGA 등 제한</a:t>
            </a:r>
          </a:p>
          <a:p>
            <a:pPr>
              <a:spcAft>
                <a:spcPts val="1000"/>
              </a:spcAft>
            </a:pPr>
            <a:r>
              <a:rPr sz="1800" b="0">
                <a:solidFill>
                  <a:srgbClr val="C0392B"/>
                </a:solidFill>
                <a:latin typeface="맑은 고딕"/>
              </a:rPr>
              <a:t>•  비밀번호 관리: 계정 잠금·만료·재사용·복잡도 검증</a:t>
            </a:r>
          </a:p>
          <a:p>
            <a:pPr>
              <a:spcAft>
                <a:spcPts val="1000"/>
              </a:spcAft>
            </a:pPr>
            <a:r>
              <a:rPr sz="1800" b="0">
                <a:solidFill>
                  <a:srgbClr val="C0392B"/>
                </a:solidFill>
                <a:latin typeface="맑은 고딕"/>
              </a:rPr>
              <a:t>•  비밀번호 제한은 항상 적용 / 커널 자원 제한은 RESOURCE_LIMIT=TRUE일 때만</a:t>
            </a:r>
          </a:p>
          <a:p>
            <a:pPr>
              <a:spcAft>
                <a:spcPts val="1000"/>
              </a:spcAft>
            </a:pPr>
            <a:r>
              <a:rPr sz="1800" b="0">
                <a:solidFill>
                  <a:srgbClr val="C0392B"/>
                </a:solidFill>
                <a:latin typeface="맑은 고딕"/>
              </a:rPr>
              <a:t>•  값 지정: 정수 / UNLIMITED(무제한) / DEFAULT(DEFAULT 프로파일 상속)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프로파일·자원 제한 확인</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DBA_PROFILES, RESOURCE_LIMIT</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현재 RESOURCE_LIMIT 파라미터 확인</a:t>
            </a:r>
          </a:p>
          <a:p>
            <a:pPr>
              <a:spcAft>
                <a:spcPts val="200"/>
              </a:spcAft>
            </a:pPr>
            <a:r>
              <a:rPr sz="1200" b="0">
                <a:solidFill>
                  <a:srgbClr val="E6E6E6"/>
                </a:solidFill>
                <a:latin typeface="Consolas"/>
              </a:rPr>
              <a:t>SYS@cdb1&gt; SHOW PARAMETER resource_limit</a:t>
            </a:r>
          </a:p>
          <a:p>
            <a:pPr>
              <a:spcAft>
                <a:spcPts val="200"/>
              </a:spcAft>
            </a:pPr>
            <a:r>
              <a:rPr sz="1200" b="0">
                <a:solidFill>
                  <a:srgbClr val="E6E6E6"/>
                </a:solidFill>
                <a:latin typeface="Consolas"/>
              </a:rPr>
              <a:t>NAME              TYPE     VALUE</a:t>
            </a:r>
          </a:p>
          <a:p>
            <a:pPr>
              <a:spcAft>
                <a:spcPts val="200"/>
              </a:spcAft>
            </a:pPr>
            <a:r>
              <a:rPr sz="1200" b="0">
                <a:solidFill>
                  <a:srgbClr val="E6E6E6"/>
                </a:solidFill>
                <a:latin typeface="Consolas"/>
              </a:rPr>
              <a:t>----------------  -------  -------</a:t>
            </a:r>
          </a:p>
          <a:p>
            <a:pPr>
              <a:spcAft>
                <a:spcPts val="200"/>
              </a:spcAft>
            </a:pPr>
            <a:r>
              <a:rPr sz="1200" b="0">
                <a:solidFill>
                  <a:srgbClr val="E6E6E6"/>
                </a:solidFill>
                <a:latin typeface="Consolas"/>
              </a:rPr>
              <a:t>resource_limit    boolean  TRUE</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DEFAULT 프로파일의 제한 값 조회</a:t>
            </a:r>
          </a:p>
          <a:p>
            <a:pPr>
              <a:spcAft>
                <a:spcPts val="200"/>
              </a:spcAft>
            </a:pPr>
            <a:r>
              <a:rPr sz="1200" b="0">
                <a:solidFill>
                  <a:srgbClr val="E6E6E6"/>
                </a:solidFill>
                <a:latin typeface="Consolas"/>
              </a:rPr>
              <a:t>SYS@cdb1&gt; SELECT resource_name, resource_type, limit</a:t>
            </a:r>
          </a:p>
          <a:p>
            <a:pPr>
              <a:spcAft>
                <a:spcPts val="200"/>
              </a:spcAft>
            </a:pPr>
            <a:r>
              <a:rPr sz="1200" b="0">
                <a:solidFill>
                  <a:srgbClr val="E6E6E6"/>
                </a:solidFill>
                <a:latin typeface="Consolas"/>
              </a:rPr>
              <a:t>  2  FROM dba_profiles WHERE profile='DEFAULT';</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특정 사용자에게 할당된 프로파일 확인</a:t>
            </a:r>
          </a:p>
          <a:p>
            <a:pPr>
              <a:spcAft>
                <a:spcPts val="200"/>
              </a:spcAft>
            </a:pPr>
            <a:r>
              <a:rPr sz="1200" b="0">
                <a:solidFill>
                  <a:srgbClr val="E6E6E6"/>
                </a:solidFill>
                <a:latin typeface="Consolas"/>
              </a:rPr>
              <a:t>SYS@cdb1&gt; SELECT username, profile FROM dba_users</a:t>
            </a:r>
          </a:p>
          <a:p>
            <a:pPr>
              <a:spcAft>
                <a:spcPts val="200"/>
              </a:spcAft>
            </a:pPr>
            <a:r>
              <a:rPr sz="1200" b="0">
                <a:solidFill>
                  <a:srgbClr val="E6E6E6"/>
                </a:solidFill>
                <a:latin typeface="Consolas"/>
              </a:rPr>
              <a:t>  2  WHERE username='HR';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23.B</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CREATE PROFILE와 RESOURCE_LIMIT</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CREATE / ALTER / DROP PROFILE</a:t>
            </a:r>
          </a:p>
          <a:p>
            <a:pPr>
              <a:spcAft>
                <a:spcPts val="600"/>
              </a:spcAft>
            </a:pPr>
            <a:r>
              <a:rPr sz="1600" b="0">
                <a:solidFill>
                  <a:srgbClr val="FFFFFF"/>
                </a:solidFill>
                <a:latin typeface="맑은 고딕"/>
              </a:rPr>
              <a:t>•  RESOURCE_LIMIT 상호작용</a:t>
            </a:r>
          </a:p>
          <a:p>
            <a:pPr>
              <a:spcAft>
                <a:spcPts val="600"/>
              </a:spcAft>
            </a:pPr>
            <a:r>
              <a:rPr sz="1600" b="0">
                <a:solidFill>
                  <a:srgbClr val="FFFFFF"/>
                </a:solidFill>
                <a:latin typeface="맑은 고딕"/>
              </a:rPr>
              <a:t>•  DEFAULT vs UNLIMITED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CREATE PROFILE 구문</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create / alter / drop</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생성 CREATE PROFILE, 변경 ALTER PROFILE ... LIMIT, 삭제 DROP PROFILE</a:t>
            </a:r>
          </a:p>
          <a:p>
            <a:pPr>
              <a:spcAft>
                <a:spcPts val="1000"/>
              </a:spcAft>
            </a:pPr>
            <a:r>
              <a:rPr sz="1800" b="0">
                <a:solidFill>
                  <a:srgbClr val="C0392B"/>
                </a:solidFill>
                <a:latin typeface="맑은 고딕"/>
              </a:rPr>
              <a:t>•  LIMIT 키워드 뒤에 '파라미터 값' 쌍을 나열, 자원·비밀번호 혼용 가능</a:t>
            </a:r>
          </a:p>
          <a:p>
            <a:pPr>
              <a:spcAft>
                <a:spcPts val="1000"/>
              </a:spcAft>
            </a:pPr>
            <a:r>
              <a:rPr sz="1800" b="0">
                <a:solidFill>
                  <a:srgbClr val="C0392B"/>
                </a:solidFill>
                <a:latin typeface="맑은 고딕"/>
              </a:rPr>
              <a:t>•  명시하지 않은 파라미터는 DEFAULT 프로파일 값을 상속</a:t>
            </a:r>
          </a:p>
          <a:p>
            <a:pPr>
              <a:spcAft>
                <a:spcPts val="1000"/>
              </a:spcAft>
            </a:pPr>
            <a:r>
              <a:rPr sz="1800" b="0">
                <a:solidFill>
                  <a:srgbClr val="C0392B"/>
                </a:solidFill>
                <a:latin typeface="맑은 고딕"/>
              </a:rPr>
              <a:t>•  이미 있는 이름으로 생성 시 ORA-02380 → 재정의는 ALTER 사용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프로파일 생성과 RESOURCE_LIMIT</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CREATE PROFILE / ALTER SYSTEM</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자원 제한 활성화 (동적 파라미터)</a:t>
            </a:r>
          </a:p>
          <a:p>
            <a:pPr>
              <a:spcAft>
                <a:spcPts val="200"/>
              </a:spcAft>
            </a:pPr>
            <a:r>
              <a:rPr sz="1200" b="0">
                <a:solidFill>
                  <a:srgbClr val="E6E6E6"/>
                </a:solidFill>
                <a:latin typeface="Consolas"/>
              </a:rPr>
              <a:t>SYS@cdb1&gt; ALTER SYSTEM SET resource_limit=TRUE;</a:t>
            </a:r>
          </a:p>
          <a:p>
            <a:pPr>
              <a:spcAft>
                <a:spcPts val="200"/>
              </a:spcAft>
            </a:pPr>
            <a:r>
              <a:rPr sz="1200" b="0">
                <a:solidFill>
                  <a:srgbClr val="E6E6E6"/>
                </a:solidFill>
                <a:latin typeface="Consolas"/>
              </a:rPr>
              <a:t>System altered.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프로파일 생성 (자원+비밀번호 혼용)</a:t>
            </a:r>
          </a:p>
          <a:p>
            <a:pPr>
              <a:spcAft>
                <a:spcPts val="200"/>
              </a:spcAft>
            </a:pPr>
            <a:r>
              <a:rPr sz="1200" b="0">
                <a:solidFill>
                  <a:srgbClr val="E6E6E6"/>
                </a:solidFill>
                <a:latin typeface="Consolas"/>
              </a:rPr>
              <a:t>SYS@cdb1&gt; CREATE PROFILE app_prof LIMIT</a:t>
            </a:r>
          </a:p>
          <a:p>
            <a:pPr>
              <a:spcAft>
                <a:spcPts val="200"/>
              </a:spcAft>
            </a:pPr>
            <a:r>
              <a:rPr sz="1200" b="0">
                <a:solidFill>
                  <a:srgbClr val="E6E6E6"/>
                </a:solidFill>
                <a:latin typeface="Consolas"/>
              </a:rPr>
              <a:t>  2    SESSIONS_PER_USER 5</a:t>
            </a:r>
          </a:p>
          <a:p>
            <a:pPr>
              <a:spcAft>
                <a:spcPts val="200"/>
              </a:spcAft>
            </a:pPr>
            <a:r>
              <a:rPr sz="1200" b="0">
                <a:solidFill>
                  <a:srgbClr val="E6E6E6"/>
                </a:solidFill>
                <a:latin typeface="Consolas"/>
              </a:rPr>
              <a:t>  3    CPU_PER_SESSION   UNLIMITED</a:t>
            </a:r>
          </a:p>
          <a:p>
            <a:pPr>
              <a:spcAft>
                <a:spcPts val="200"/>
              </a:spcAft>
            </a:pPr>
            <a:r>
              <a:rPr sz="1200" b="0">
                <a:solidFill>
                  <a:srgbClr val="E6E6E6"/>
                </a:solidFill>
                <a:latin typeface="Consolas"/>
              </a:rPr>
              <a:t>  4    PASSWORD_LIFE_TIME 90;</a:t>
            </a:r>
          </a:p>
          <a:p>
            <a:pPr>
              <a:spcAft>
                <a:spcPts val="200"/>
              </a:spcAft>
            </a:pPr>
            <a:r>
              <a:rPr sz="1200" b="0">
                <a:solidFill>
                  <a:srgbClr val="E6E6E6"/>
                </a:solidFill>
                <a:latin typeface="Consolas"/>
              </a:rPr>
              <a:t>Profile created.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개별 파라미터만 변경</a:t>
            </a:r>
          </a:p>
          <a:p>
            <a:pPr>
              <a:spcAft>
                <a:spcPts val="200"/>
              </a:spcAft>
            </a:pPr>
            <a:r>
              <a:rPr sz="1200" b="0">
                <a:solidFill>
                  <a:srgbClr val="E6E6E6"/>
                </a:solidFill>
                <a:latin typeface="Consolas"/>
              </a:rPr>
              <a:t>SYS@cdb1&gt; ALTER PROFILE app_prof LIMIT SESSIONS_PER_USER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23.C</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세션·CPU 관련 자원 제한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SESSIONS_PER_USER</a:t>
            </a:r>
          </a:p>
          <a:p>
            <a:pPr>
              <a:spcAft>
                <a:spcPts val="600"/>
              </a:spcAft>
            </a:pPr>
            <a:r>
              <a:rPr sz="1600" b="0">
                <a:solidFill>
                  <a:srgbClr val="FFFFFF"/>
                </a:solidFill>
                <a:latin typeface="맑은 고딕"/>
              </a:rPr>
              <a:t>•  CPU_PER_SESSION / CPU_PER_CALL</a:t>
            </a:r>
          </a:p>
          <a:p>
            <a:pPr>
              <a:spcAft>
                <a:spcPts val="600"/>
              </a:spcAft>
            </a:pPr>
            <a:r>
              <a:rPr sz="1600" b="0">
                <a:solidFill>
                  <a:srgbClr val="FFFFFF"/>
                </a:solidFill>
                <a:latin typeface="맑은 고딕"/>
              </a:rPr>
              <a:t>•  CONNECT_TIME / IDLE_TIME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세션 수·CPU 제한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SESSIONS_PER_USER · CPU</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SESSIONS_PER_USER: 한 계정 동시 세션 최대 수 (초과 ORA-02391)</a:t>
            </a:r>
          </a:p>
          <a:p>
            <a:pPr>
              <a:spcAft>
                <a:spcPts val="1000"/>
              </a:spcAft>
            </a:pPr>
            <a:r>
              <a:rPr sz="1800" b="0">
                <a:solidFill>
                  <a:srgbClr val="C0392B"/>
                </a:solidFill>
                <a:latin typeface="맑은 고딕"/>
              </a:rPr>
              <a:t>•  CPU_PER_SESSION: 세션 총 CPU 시간, 단위 100분의 1초(centisecond)</a:t>
            </a:r>
          </a:p>
          <a:p>
            <a:pPr>
              <a:spcAft>
                <a:spcPts val="1000"/>
              </a:spcAft>
            </a:pPr>
            <a:r>
              <a:rPr sz="1800" b="0">
                <a:solidFill>
                  <a:srgbClr val="C0392B"/>
                </a:solidFill>
                <a:latin typeface="맑은 고딕"/>
              </a:rPr>
              <a:t>•  CPU_PER_CALL: 단일 콜의 CPU 시간 (폭주 개별 쿼리 차단에 유용)</a:t>
            </a:r>
          </a:p>
          <a:p>
            <a:pPr>
              <a:spcAft>
                <a:spcPts val="1000"/>
              </a:spcAft>
            </a:pPr>
            <a:r>
              <a:rPr sz="1800" b="0">
                <a:solidFill>
                  <a:srgbClr val="C0392B"/>
                </a:solidFill>
                <a:latin typeface="맑은 고딕"/>
              </a:rPr>
              <a:t>•  세션 한도 초과 ORA-02392(세션 종료) / 콜 한도 초과 ORA-02393(문장만 실패)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접속·유휴 시간과 세션/콜 차이</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CONNECT_TIME · IDLE_TIME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CONNECT_TIME: 총 접속 유지 시간(분) 초과 시 세션 자동 종료</a:t>
            </a:r>
          </a:p>
          <a:p>
            <a:pPr>
              <a:spcAft>
                <a:spcPts val="1000"/>
              </a:spcAft>
            </a:pPr>
            <a:r>
              <a:rPr sz="1800" b="0">
                <a:solidFill>
                  <a:srgbClr val="C0392B"/>
                </a:solidFill>
                <a:latin typeface="맑은 고딕"/>
              </a:rPr>
              <a:t>•  IDLE_TIME: 연속 유휴 시간(분) 제한, 실행 중 장기 쿼리에는 미적용</a:t>
            </a:r>
          </a:p>
          <a:p>
            <a:pPr>
              <a:spcAft>
                <a:spcPts val="1000"/>
              </a:spcAft>
            </a:pPr>
            <a:r>
              <a:rPr sz="1800" b="0">
                <a:solidFill>
                  <a:srgbClr val="C0392B"/>
                </a:solidFill>
                <a:latin typeface="맑은 고딕"/>
              </a:rPr>
              <a:t>•  세션 한도 = 접속~종료 누적 총량, 초과 시 세션 종료</a:t>
            </a:r>
          </a:p>
          <a:p>
            <a:pPr>
              <a:spcAft>
                <a:spcPts val="1000"/>
              </a:spcAft>
            </a:pPr>
            <a:r>
              <a:rPr sz="1800" b="0">
                <a:solidFill>
                  <a:srgbClr val="C0392B"/>
                </a:solidFill>
                <a:latin typeface="맑은 고딕"/>
              </a:rPr>
              <a:t>•  콜 한도 = 문장 하나(파싱·실행·페치), 초과해도 세션은 유지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세션·CPU 제한 구성</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CPU_PER_CALL / CONNECT_TIME</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세션·CPU·시간 제한을 담은 프로파일</a:t>
            </a:r>
          </a:p>
          <a:p>
            <a:pPr>
              <a:spcAft>
                <a:spcPts val="200"/>
              </a:spcAft>
            </a:pPr>
            <a:r>
              <a:rPr sz="1200" b="0">
                <a:solidFill>
                  <a:srgbClr val="E6E6E6"/>
                </a:solidFill>
                <a:latin typeface="Consolas"/>
              </a:rPr>
              <a:t>SYS@cdb1&gt; CREATE PROFILE oltp_prof LIMIT</a:t>
            </a:r>
          </a:p>
          <a:p>
            <a:pPr>
              <a:spcAft>
                <a:spcPts val="200"/>
              </a:spcAft>
            </a:pPr>
            <a:r>
              <a:rPr sz="1200" b="0">
                <a:solidFill>
                  <a:srgbClr val="E6E6E6"/>
                </a:solidFill>
                <a:latin typeface="Consolas"/>
              </a:rPr>
              <a:t>  2    SESSIONS_PER_USER  4</a:t>
            </a:r>
          </a:p>
          <a:p>
            <a:pPr>
              <a:spcAft>
                <a:spcPts val="200"/>
              </a:spcAft>
            </a:pPr>
            <a:r>
              <a:rPr sz="1200" b="0">
                <a:solidFill>
                  <a:srgbClr val="E6E6E6"/>
                </a:solidFill>
                <a:latin typeface="Consolas"/>
              </a:rPr>
              <a:t>  3    CPU_PER_CALL       3000     -- 30초</a:t>
            </a:r>
          </a:p>
          <a:p>
            <a:pPr>
              <a:spcAft>
                <a:spcPts val="200"/>
              </a:spcAft>
            </a:pPr>
            <a:r>
              <a:rPr sz="1200" b="0">
                <a:solidFill>
                  <a:srgbClr val="E6E6E6"/>
                </a:solidFill>
                <a:latin typeface="Consolas"/>
              </a:rPr>
              <a:t>  4    CONNECT_TIME       120      -- 120분</a:t>
            </a:r>
          </a:p>
          <a:p>
            <a:pPr>
              <a:spcAft>
                <a:spcPts val="200"/>
              </a:spcAft>
            </a:pPr>
            <a:r>
              <a:rPr sz="1200" b="0">
                <a:solidFill>
                  <a:srgbClr val="E6E6E6"/>
                </a:solidFill>
                <a:latin typeface="Consolas"/>
              </a:rPr>
              <a:t>  5    IDLE_TIME          15;      -- 15분</a:t>
            </a:r>
          </a:p>
          <a:p>
            <a:pPr>
              <a:spcAft>
                <a:spcPts val="200"/>
              </a:spcAft>
            </a:pPr>
            <a:r>
              <a:rPr sz="1200" b="0">
                <a:solidFill>
                  <a:srgbClr val="E6E6E6"/>
                </a:solidFill>
                <a:latin typeface="Consolas"/>
              </a:rPr>
              <a:t>Profile created.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콜 CPU 한도 초과 시 (콜만 실패, 세션 유지)</a:t>
            </a:r>
          </a:p>
          <a:p>
            <a:pPr>
              <a:spcAft>
                <a:spcPts val="200"/>
              </a:spcAft>
            </a:pPr>
            <a:r>
              <a:rPr sz="1200" b="0">
                <a:solidFill>
                  <a:srgbClr val="E6E6E6"/>
                </a:solidFill>
                <a:latin typeface="Consolas"/>
              </a:rPr>
              <a:t>HR@cdb1&gt; SELECT COUNT(*) FROM huge1, huge2;</a:t>
            </a:r>
          </a:p>
          <a:p>
            <a:pPr>
              <a:spcAft>
                <a:spcPts val="200"/>
              </a:spcAft>
            </a:pPr>
            <a:r>
              <a:rPr sz="1200" b="0">
                <a:solidFill>
                  <a:srgbClr val="E6E6E6"/>
                </a:solidFill>
                <a:latin typeface="Consolas"/>
              </a:rPr>
              <a:t>ERROR at line 1:</a:t>
            </a:r>
          </a:p>
          <a:p>
            <a:pPr>
              <a:spcAft>
                <a:spcPts val="200"/>
              </a:spcAft>
            </a:pPr>
            <a:r>
              <a:rPr sz="1200" b="0">
                <a:solidFill>
                  <a:srgbClr val="E6E6E6"/>
                </a:solidFill>
                <a:latin typeface="Consolas"/>
              </a:rPr>
              <a:t>ORA-02393: exceeded call limit on CPU usage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23.D</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논리적 읽기·메모리 관련 자원 제한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LOGICAL_READS_PER_SESSION/CALL</a:t>
            </a:r>
          </a:p>
          <a:p>
            <a:pPr>
              <a:spcAft>
                <a:spcPts val="600"/>
              </a:spcAft>
            </a:pPr>
            <a:r>
              <a:rPr sz="1600" b="0">
                <a:solidFill>
                  <a:srgbClr val="FFFFFF"/>
                </a:solidFill>
                <a:latin typeface="맑은 고딕"/>
              </a:rPr>
              <a:t>•  PRIVATE_SGA (공유 서버)</a:t>
            </a:r>
          </a:p>
          <a:p>
            <a:pPr>
              <a:spcAft>
                <a:spcPts val="600"/>
              </a:spcAft>
            </a:pPr>
            <a:r>
              <a:rPr sz="1600" b="0">
                <a:solidFill>
                  <a:srgbClr val="FFFFFF"/>
                </a:solidFill>
                <a:latin typeface="맑은 고딕"/>
              </a:rPr>
              <a:t>•  COMPOSITE_LIMIT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논리적 읽기 제한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LOGICAL_READS</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논리적 읽기 = 버퍼 캐시+디스크에서 데이터 블록을 읽은 횟수</a:t>
            </a:r>
          </a:p>
          <a:p>
            <a:pPr>
              <a:spcAft>
                <a:spcPts val="1000"/>
              </a:spcAft>
            </a:pPr>
            <a:r>
              <a:rPr sz="1800" b="0">
                <a:solidFill>
                  <a:srgbClr val="C0392B"/>
                </a:solidFill>
                <a:latin typeface="맑은 고딕"/>
              </a:rPr>
              <a:t>•  LOGICAL_READS_PER_SESSION / _PER_CALL, 단위는 블록 수</a:t>
            </a:r>
          </a:p>
          <a:p>
            <a:pPr>
              <a:spcAft>
                <a:spcPts val="1000"/>
              </a:spcAft>
            </a:pPr>
            <a:r>
              <a:rPr sz="1800" b="0">
                <a:solidFill>
                  <a:srgbClr val="C0392B"/>
                </a:solidFill>
                <a:latin typeface="맑은 고딕"/>
              </a:rPr>
              <a:t>•  인덱스 미사용 풀스캔·카티전 곱 등 '무거운' 쿼리 차단</a:t>
            </a:r>
          </a:p>
          <a:p>
            <a:pPr>
              <a:spcAft>
                <a:spcPts val="1000"/>
              </a:spcAft>
            </a:pPr>
            <a:r>
              <a:rPr sz="1800" b="0">
                <a:solidFill>
                  <a:srgbClr val="C0392B"/>
                </a:solidFill>
                <a:latin typeface="맑은 고딕"/>
              </a:rPr>
              <a:t>•  세션 초과 ORA-02394 / 콜 초과 ORA-02395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PRIVATE_SGA와 COMPOSITE_LIMIT</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shared server · composite cost</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PRIVATE_SGA: 공유 서버에서 세션 UGA(라지 풀) 크기 제한(바이트, K/M)</a:t>
            </a:r>
          </a:p>
          <a:p>
            <a:pPr>
              <a:spcAft>
                <a:spcPts val="1000"/>
              </a:spcAft>
            </a:pPr>
            <a:r>
              <a:rPr sz="1800" b="0">
                <a:solidFill>
                  <a:srgbClr val="C0392B"/>
                </a:solidFill>
                <a:latin typeface="맑은 고딕"/>
              </a:rPr>
              <a:t>•  전용 서버는 UGA가 PGA에 위치 → PRIVATE_SGA 사실상 무의미</a:t>
            </a:r>
          </a:p>
          <a:p>
            <a:pPr>
              <a:spcAft>
                <a:spcPts val="1000"/>
              </a:spcAft>
            </a:pPr>
            <a:r>
              <a:rPr sz="1800" b="0">
                <a:solidFill>
                  <a:srgbClr val="C0392B"/>
                </a:solidFill>
                <a:latin typeface="맑은 고딕"/>
              </a:rPr>
              <a:t>•  COMPOSITE_LIMIT: 여러 자원의 가중 합산 '자원 비용' 총합 제한</a:t>
            </a:r>
          </a:p>
          <a:p>
            <a:pPr>
              <a:spcAft>
                <a:spcPts val="1000"/>
              </a:spcAft>
            </a:pPr>
            <a:r>
              <a:rPr sz="1800" b="0">
                <a:solidFill>
                  <a:srgbClr val="C0392B"/>
                </a:solidFill>
                <a:latin typeface="맑은 고딕"/>
              </a:rPr>
              <a:t>•  가중치는 ALTER RESOURCE COST로 지정, 개별 한도와 병행 가능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종합 자원 비용 구성</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ALTER RESOURCE COST / COMPOSITE_LIMIT</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자원별 가중치 설정 (서비스 단위)</a:t>
            </a:r>
          </a:p>
          <a:p>
            <a:pPr>
              <a:spcAft>
                <a:spcPts val="200"/>
              </a:spcAft>
            </a:pPr>
            <a:r>
              <a:rPr sz="1200" b="0">
                <a:solidFill>
                  <a:srgbClr val="E6E6E6"/>
                </a:solidFill>
                <a:latin typeface="Consolas"/>
              </a:rPr>
              <a:t>SYS@cdb1&gt; ALTER RESOURCE COST</a:t>
            </a:r>
          </a:p>
          <a:p>
            <a:pPr>
              <a:spcAft>
                <a:spcPts val="200"/>
              </a:spcAft>
            </a:pPr>
            <a:r>
              <a:rPr sz="1200" b="0">
                <a:solidFill>
                  <a:srgbClr val="E6E6E6"/>
                </a:solidFill>
                <a:latin typeface="Consolas"/>
              </a:rPr>
              <a:t>  2    CPU_PER_SESSION            1</a:t>
            </a:r>
          </a:p>
          <a:p>
            <a:pPr>
              <a:spcAft>
                <a:spcPts val="200"/>
              </a:spcAft>
            </a:pPr>
            <a:r>
              <a:rPr sz="1200" b="0">
                <a:solidFill>
                  <a:srgbClr val="E6E6E6"/>
                </a:solidFill>
                <a:latin typeface="Consolas"/>
              </a:rPr>
              <a:t>  3    LOGICAL_READS_PER_SESSION 50;</a:t>
            </a:r>
          </a:p>
          <a:p>
            <a:pPr>
              <a:spcAft>
                <a:spcPts val="200"/>
              </a:spcAft>
            </a:pPr>
            <a:r>
              <a:rPr sz="1200" b="0">
                <a:solidFill>
                  <a:srgbClr val="E6E6E6"/>
                </a:solidFill>
                <a:latin typeface="Consolas"/>
              </a:rPr>
              <a:t>Resource cost altered.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종합 한도와 개별 읽기 한도를 함께 지정</a:t>
            </a:r>
          </a:p>
          <a:p>
            <a:pPr>
              <a:spcAft>
                <a:spcPts val="200"/>
              </a:spcAft>
            </a:pPr>
            <a:r>
              <a:rPr sz="1200" b="0">
                <a:solidFill>
                  <a:srgbClr val="E6E6E6"/>
                </a:solidFill>
                <a:latin typeface="Consolas"/>
              </a:rPr>
              <a:t>SYS@cdb1&gt; CREATE PROFILE batch_prof LIMIT</a:t>
            </a:r>
          </a:p>
          <a:p>
            <a:pPr>
              <a:spcAft>
                <a:spcPts val="200"/>
              </a:spcAft>
            </a:pPr>
            <a:r>
              <a:rPr sz="1200" b="0">
                <a:solidFill>
                  <a:srgbClr val="E6E6E6"/>
                </a:solidFill>
                <a:latin typeface="Consolas"/>
              </a:rPr>
              <a:t>  2    LOGICAL_READS_PER_CALL 500000</a:t>
            </a:r>
          </a:p>
          <a:p>
            <a:pPr>
              <a:spcAft>
                <a:spcPts val="200"/>
              </a:spcAft>
            </a:pPr>
            <a:r>
              <a:rPr sz="1200" b="0">
                <a:solidFill>
                  <a:srgbClr val="E6E6E6"/>
                </a:solidFill>
                <a:latin typeface="Consolas"/>
              </a:rPr>
              <a:t>  3    PRIVATE_SGA            200K</a:t>
            </a:r>
          </a:p>
          <a:p>
            <a:pPr>
              <a:spcAft>
                <a:spcPts val="200"/>
              </a:spcAft>
            </a:pPr>
            <a:r>
              <a:rPr sz="1200" b="0">
                <a:solidFill>
                  <a:srgbClr val="E6E6E6"/>
                </a:solidFill>
                <a:latin typeface="Consolas"/>
              </a:rPr>
              <a:t>  4    COMPOSITE_LIMIT       5000000;</a:t>
            </a:r>
          </a:p>
          <a:p>
            <a:pPr>
              <a:spcAft>
                <a:spcPts val="200"/>
              </a:spcAft>
            </a:pPr>
            <a:r>
              <a:rPr sz="1200" b="0">
                <a:solidFill>
                  <a:srgbClr val="E6E6E6"/>
                </a:solidFill>
                <a:latin typeface="Consolas"/>
              </a:rPr>
              <a:t>Profile created.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23.E</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계정 잠금 파라미터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FAILED_LOGIN_ATTEMPTS</a:t>
            </a:r>
          </a:p>
          <a:p>
            <a:pPr>
              <a:spcAft>
                <a:spcPts val="600"/>
              </a:spcAft>
            </a:pPr>
            <a:r>
              <a:rPr sz="1600" b="0">
                <a:solidFill>
                  <a:srgbClr val="FFFFFF"/>
                </a:solidFill>
                <a:latin typeface="맑은 고딕"/>
              </a:rPr>
              <a:t>•  PASSWORD_LOCK_TIME</a:t>
            </a:r>
          </a:p>
          <a:p>
            <a:pPr>
              <a:spcAft>
                <a:spcPts val="600"/>
              </a:spcAft>
            </a:pPr>
            <a:r>
              <a:rPr sz="1600" b="0">
                <a:solidFill>
                  <a:srgbClr val="FFFFFF"/>
                </a:solidFill>
                <a:latin typeface="맑은 고딕"/>
              </a:rPr>
              <a:t>•  무차별 대입 공격 방어</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계정 잠금으로 무차별 대입 방어</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FAILED_LOGIN_ATTEMPTS · LOCK_TIME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비밀번호 제한은 RESOURCE_LIMIT과 무관하게 항상 적용</a:t>
            </a:r>
          </a:p>
          <a:p>
            <a:pPr>
              <a:spcAft>
                <a:spcPts val="1000"/>
              </a:spcAft>
            </a:pPr>
            <a:r>
              <a:rPr sz="1800" b="0">
                <a:solidFill>
                  <a:srgbClr val="C0392B"/>
                </a:solidFill>
                <a:latin typeface="맑은 고딕"/>
              </a:rPr>
              <a:t>•  FAILED_LOGIN_ATTEMPTS: 연속 실패 허용 횟수, 초과 시 자동 잠금</a:t>
            </a:r>
          </a:p>
          <a:p>
            <a:pPr>
              <a:spcAft>
                <a:spcPts val="1000"/>
              </a:spcAft>
            </a:pPr>
            <a:r>
              <a:rPr sz="1800" b="0">
                <a:solidFill>
                  <a:srgbClr val="C0392B"/>
                </a:solidFill>
                <a:latin typeface="맑은 고딕"/>
              </a:rPr>
              <a:t>•  잠긴 계정 로그인 → ORA-28000, 로그인 성공 시 카운터 0 초기화</a:t>
            </a:r>
          </a:p>
          <a:p>
            <a:pPr>
              <a:spcAft>
                <a:spcPts val="1000"/>
              </a:spcAft>
            </a:pPr>
            <a:r>
              <a:rPr sz="1800" b="0">
                <a:solidFill>
                  <a:srgbClr val="C0392B"/>
                </a:solidFill>
                <a:latin typeface="맑은 고딕"/>
              </a:rPr>
              <a:t>•  PASSWORD_LOCK_TIME: 자동 잠금 해제까지 기간(일), 1/24=1시간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계정 잠금 파라미터 구성</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FAILED_LOGIN_ATTEMPTS / ORA-28000</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로그인 실패 3회 시 1시간 잠금</a:t>
            </a:r>
          </a:p>
          <a:p>
            <a:pPr>
              <a:spcAft>
                <a:spcPts val="200"/>
              </a:spcAft>
            </a:pPr>
            <a:r>
              <a:rPr sz="1200" b="0">
                <a:solidFill>
                  <a:srgbClr val="E6E6E6"/>
                </a:solidFill>
                <a:latin typeface="Consolas"/>
              </a:rPr>
              <a:t>SYS@cdb1&gt; CREATE PROFILE secure_prof LIMIT</a:t>
            </a:r>
          </a:p>
          <a:p>
            <a:pPr>
              <a:spcAft>
                <a:spcPts val="200"/>
              </a:spcAft>
            </a:pPr>
            <a:r>
              <a:rPr sz="1200" b="0">
                <a:solidFill>
                  <a:srgbClr val="E6E6E6"/>
                </a:solidFill>
                <a:latin typeface="Consolas"/>
              </a:rPr>
              <a:t>  2    FAILED_LOGIN_ATTEMPTS 3</a:t>
            </a:r>
          </a:p>
          <a:p>
            <a:pPr>
              <a:spcAft>
                <a:spcPts val="200"/>
              </a:spcAft>
            </a:pPr>
            <a:r>
              <a:rPr sz="1200" b="0">
                <a:solidFill>
                  <a:srgbClr val="E6E6E6"/>
                </a:solidFill>
                <a:latin typeface="Consolas"/>
              </a:rPr>
              <a:t>  3    PASSWORD_LOCK_TIME    0.0417;  -- 1시간</a:t>
            </a:r>
          </a:p>
          <a:p>
            <a:pPr>
              <a:spcAft>
                <a:spcPts val="200"/>
              </a:spcAft>
            </a:pPr>
            <a:r>
              <a:rPr sz="1200" b="0">
                <a:solidFill>
                  <a:srgbClr val="E6E6E6"/>
                </a:solidFill>
                <a:latin typeface="Consolas"/>
              </a:rPr>
              <a:t>Profile created.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-- 3회 실패 후 잠긴 계정 로그인 시도</a:t>
            </a:r>
          </a:p>
          <a:p>
            <a:pPr>
              <a:spcAft>
                <a:spcPts val="200"/>
              </a:spcAft>
            </a:pPr>
            <a:r>
              <a:rPr sz="1200" b="0">
                <a:solidFill>
                  <a:srgbClr val="E6E6E6"/>
                </a:solidFill>
                <a:latin typeface="Consolas"/>
              </a:rPr>
              <a:t>$ sqlplus hr/wrongpw@pdb1</a:t>
            </a:r>
          </a:p>
          <a:p>
            <a:pPr>
              <a:spcAft>
                <a:spcPts val="200"/>
              </a:spcAft>
            </a:pPr>
            <a:r>
              <a:rPr sz="1200" b="0">
                <a:solidFill>
                  <a:srgbClr val="E6E6E6"/>
                </a:solidFill>
                <a:latin typeface="Consolas"/>
              </a:rPr>
              <a:t>ERROR:</a:t>
            </a:r>
          </a:p>
          <a:p>
            <a:pPr>
              <a:spcAft>
                <a:spcPts val="200"/>
              </a:spcAft>
            </a:pPr>
            <a:r>
              <a:rPr sz="1200" b="0">
                <a:solidFill>
                  <a:srgbClr val="E6E6E6"/>
                </a:solidFill>
                <a:latin typeface="Consolas"/>
              </a:rPr>
              <a:t>ORA-28000: the account is locked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상태 확인 및 수동 해제</a:t>
            </a:r>
          </a:p>
          <a:p>
            <a:pPr>
              <a:spcAft>
                <a:spcPts val="200"/>
              </a:spcAft>
            </a:pPr>
            <a:r>
              <a:rPr sz="1200" b="0">
                <a:solidFill>
                  <a:srgbClr val="E6E6E6"/>
                </a:solidFill>
                <a:latin typeface="Consolas"/>
              </a:rPr>
              <a:t>SYS@cdb1&gt; ALTER USER hr ACCOUNT UNLOCK;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23.F</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비밀번호 수명·재사용 파라미터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PASSWORD_LIFE_TIME / GRACE_TIME</a:t>
            </a:r>
          </a:p>
          <a:p>
            <a:pPr>
              <a:spcAft>
                <a:spcPts val="600"/>
              </a:spcAft>
            </a:pPr>
            <a:r>
              <a:rPr sz="1600" b="0">
                <a:solidFill>
                  <a:srgbClr val="FFFFFF"/>
                </a:solidFill>
                <a:latin typeface="맑은 고딕"/>
              </a:rPr>
              <a:t>•  PASSWORD_REUSE_TIME / MAX</a:t>
            </a:r>
          </a:p>
          <a:p>
            <a:pPr>
              <a:spcAft>
                <a:spcPts val="600"/>
              </a:spcAft>
            </a:pPr>
            <a:r>
              <a:rPr sz="1600" b="0">
                <a:solidFill>
                  <a:srgbClr val="FFFFFF"/>
                </a:solidFill>
                <a:latin typeface="맑은 고딕"/>
              </a:rPr>
              <a:t>•  유예 기간 동작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비밀번호 수명과 유예 기간</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LIFE_TIME · GRACE_TIME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PASSWORD_LIFE_TIME: 비밀번호 최대 수명(일), 경과 시 만료</a:t>
            </a:r>
          </a:p>
          <a:p>
            <a:pPr>
              <a:spcAft>
                <a:spcPts val="1000"/>
              </a:spcAft>
            </a:pPr>
            <a:r>
              <a:rPr sz="1800" b="0">
                <a:solidFill>
                  <a:srgbClr val="C0392B"/>
                </a:solidFill>
                <a:latin typeface="맑은 고딕"/>
              </a:rPr>
              <a:t>•  PASSWORD_GRACE_TIME: 만료 후 로그인 허용+경고 유예 기간(일)</a:t>
            </a:r>
          </a:p>
          <a:p>
            <a:pPr>
              <a:spcAft>
                <a:spcPts val="1000"/>
              </a:spcAft>
            </a:pPr>
            <a:r>
              <a:rPr sz="1800" b="0">
                <a:solidFill>
                  <a:srgbClr val="C0392B"/>
                </a:solidFill>
                <a:latin typeface="맑은 고딕"/>
              </a:rPr>
              <a:t>•  유예 중 로그인 → ORA-28002 경고, 유예 지나면 상태 EXPIRED</a:t>
            </a:r>
          </a:p>
          <a:p>
            <a:pPr>
              <a:spcAft>
                <a:spcPts val="1000"/>
              </a:spcAft>
            </a:pPr>
            <a:r>
              <a:rPr sz="1800" b="0">
                <a:solidFill>
                  <a:srgbClr val="C0392B"/>
                </a:solidFill>
                <a:latin typeface="맑은 고딕"/>
              </a:rPr>
              <a:t>•  19c DEFAULT의 PASSWORD_LIFE_TIME은 180일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비밀번호 재사용 제한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REUSE_TIME · REUSE_MAX</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PASSWORD_REUSE_TIME: 같은 비밀번호 재사용까지 최소 경과 일수</a:t>
            </a:r>
          </a:p>
          <a:p>
            <a:pPr>
              <a:spcAft>
                <a:spcPts val="1000"/>
              </a:spcAft>
            </a:pPr>
            <a:r>
              <a:rPr sz="1800" b="0">
                <a:solidFill>
                  <a:srgbClr val="C0392B"/>
                </a:solidFill>
                <a:latin typeface="맑은 고딕"/>
              </a:rPr>
              <a:t>•  PASSWORD_REUSE_MAX: 재사용 전 거쳐야 할 서로 다른 비밀번호 수</a:t>
            </a:r>
          </a:p>
          <a:p>
            <a:pPr>
              <a:spcAft>
                <a:spcPts val="1000"/>
              </a:spcAft>
            </a:pPr>
            <a:r>
              <a:rPr sz="1800" b="0">
                <a:solidFill>
                  <a:srgbClr val="C0392B"/>
                </a:solidFill>
                <a:latin typeface="맑은 고딕"/>
              </a:rPr>
              <a:t>•  두 값 모두 정수여야 재사용이 실제로 허용됨</a:t>
            </a:r>
          </a:p>
          <a:p>
            <a:pPr>
              <a:spcAft>
                <a:spcPts val="1000"/>
              </a:spcAft>
            </a:pPr>
            <a:r>
              <a:rPr sz="1800" b="0">
                <a:solidFill>
                  <a:srgbClr val="C0392B"/>
                </a:solidFill>
                <a:latin typeface="맑은 고딕"/>
              </a:rPr>
              <a:t>•  한쪽만 정수+다른 쪽 UNLIMITED → 어떤 비밀번호도 재사용 불가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비밀번호 수명·재사용 구성</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PASSWORD_REUSE / ORA-28007</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수명·유예·재사용을 함께 지정</a:t>
            </a:r>
          </a:p>
          <a:p>
            <a:pPr>
              <a:spcAft>
                <a:spcPts val="200"/>
              </a:spcAft>
            </a:pPr>
            <a:r>
              <a:rPr sz="1200" b="0">
                <a:solidFill>
                  <a:srgbClr val="E6E6E6"/>
                </a:solidFill>
                <a:latin typeface="Consolas"/>
              </a:rPr>
              <a:t>SYS@cdb1&gt; CREATE PROFILE pw_prof LIMIT</a:t>
            </a:r>
          </a:p>
          <a:p>
            <a:pPr>
              <a:spcAft>
                <a:spcPts val="200"/>
              </a:spcAft>
            </a:pPr>
            <a:r>
              <a:rPr sz="1200" b="0">
                <a:solidFill>
                  <a:srgbClr val="E6E6E6"/>
                </a:solidFill>
                <a:latin typeface="Consolas"/>
              </a:rPr>
              <a:t>  2    PASSWORD_LIFE_TIME   90</a:t>
            </a:r>
          </a:p>
          <a:p>
            <a:pPr>
              <a:spcAft>
                <a:spcPts val="200"/>
              </a:spcAft>
            </a:pPr>
            <a:r>
              <a:rPr sz="1200" b="0">
                <a:solidFill>
                  <a:srgbClr val="E6E6E6"/>
                </a:solidFill>
                <a:latin typeface="Consolas"/>
              </a:rPr>
              <a:t>  3    PASSWORD_GRACE_TIME  7</a:t>
            </a:r>
          </a:p>
          <a:p>
            <a:pPr>
              <a:spcAft>
                <a:spcPts val="200"/>
              </a:spcAft>
            </a:pPr>
            <a:r>
              <a:rPr sz="1200" b="0">
                <a:solidFill>
                  <a:srgbClr val="E6E6E6"/>
                </a:solidFill>
                <a:latin typeface="Consolas"/>
              </a:rPr>
              <a:t>  4    PASSWORD_REUSE_TIME  365</a:t>
            </a:r>
          </a:p>
          <a:p>
            <a:pPr>
              <a:spcAft>
                <a:spcPts val="200"/>
              </a:spcAft>
            </a:pPr>
            <a:r>
              <a:rPr sz="1200" b="0">
                <a:solidFill>
                  <a:srgbClr val="E6E6E6"/>
                </a:solidFill>
                <a:latin typeface="Consolas"/>
              </a:rPr>
              <a:t>  5    PASSWORD_REUSE_MAX   5;</a:t>
            </a:r>
          </a:p>
          <a:p>
            <a:pPr>
              <a:spcAft>
                <a:spcPts val="200"/>
              </a:spcAft>
            </a:pPr>
            <a:r>
              <a:rPr sz="1200" b="0">
                <a:solidFill>
                  <a:srgbClr val="E6E6E6"/>
                </a:solidFill>
                <a:latin typeface="Consolas"/>
              </a:rPr>
              <a:t>Profile created.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최근 사용한 비밀번호로 되돌리려 하면</a:t>
            </a:r>
          </a:p>
          <a:p>
            <a:pPr>
              <a:spcAft>
                <a:spcPts val="200"/>
              </a:spcAft>
            </a:pPr>
            <a:r>
              <a:rPr sz="1200" b="0">
                <a:solidFill>
                  <a:srgbClr val="E6E6E6"/>
                </a:solidFill>
                <a:latin typeface="Consolas"/>
              </a:rPr>
              <a:t>HR@pdb1&gt; ALTER USER hr IDENTIFIED BY OldPass#1;</a:t>
            </a:r>
          </a:p>
          <a:p>
            <a:pPr>
              <a:spcAft>
                <a:spcPts val="200"/>
              </a:spcAft>
            </a:pPr>
            <a:r>
              <a:rPr sz="1200" b="0">
                <a:solidFill>
                  <a:srgbClr val="E6E6E6"/>
                </a:solidFill>
                <a:latin typeface="Consolas"/>
              </a:rPr>
              <a:t>ERROR at line 1:</a:t>
            </a:r>
          </a:p>
          <a:p>
            <a:pPr>
              <a:spcAft>
                <a:spcPts val="200"/>
              </a:spcAft>
            </a:pPr>
            <a:r>
              <a:rPr sz="1200" b="0">
                <a:solidFill>
                  <a:srgbClr val="E6E6E6"/>
                </a:solidFill>
                <a:latin typeface="Consolas"/>
              </a:rPr>
              <a:t>ORA-28007: the password cannot be reused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23.G</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Oracle 제공 비밀번호 검증 함수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PASSWORD_VERIFY_FUNCTION</a:t>
            </a:r>
          </a:p>
          <a:p>
            <a:pPr>
              <a:spcAft>
                <a:spcPts val="600"/>
              </a:spcAft>
            </a:pPr>
            <a:r>
              <a:rPr sz="1600" b="0">
                <a:solidFill>
                  <a:srgbClr val="FFFFFF"/>
                </a:solidFill>
                <a:latin typeface="맑은 고딕"/>
              </a:rPr>
              <a:t>•  ora12c_verify_function 계열</a:t>
            </a:r>
          </a:p>
          <a:p>
            <a:pPr>
              <a:spcAft>
                <a:spcPts val="600"/>
              </a:spcAft>
            </a:pPr>
            <a:r>
              <a:rPr sz="1600" b="0">
                <a:solidFill>
                  <a:srgbClr val="FFFFFF"/>
                </a:solidFill>
                <a:latin typeface="맑은 고딕"/>
              </a:rPr>
              <a:t>•  utlpwdmg.sql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비밀번호 검증 함수</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PASSWORD_VERIFY_FUNCTION</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복잡도를 기술적으로 강제하는 PL/SQL 함수를 프로파일에 연결</a:t>
            </a:r>
          </a:p>
          <a:p>
            <a:pPr>
              <a:spcAft>
                <a:spcPts val="1000"/>
              </a:spcAft>
            </a:pPr>
            <a:r>
              <a:rPr sz="1800" b="0">
                <a:solidFill>
                  <a:srgbClr val="C0392B"/>
                </a:solidFill>
                <a:latin typeface="맑은 고딕"/>
              </a:rPr>
              <a:t>•  규칙 위반 시 비밀번호 설정/변경 자체를 거부(ORA-28003)</a:t>
            </a:r>
          </a:p>
          <a:p>
            <a:pPr>
              <a:spcAft>
                <a:spcPts val="1000"/>
              </a:spcAft>
            </a:pPr>
            <a:r>
              <a:rPr sz="1800" b="0">
                <a:solidFill>
                  <a:srgbClr val="C0392B"/>
                </a:solidFill>
                <a:latin typeface="맑은 고딕"/>
              </a:rPr>
              <a:t>•  제공 함수: ora12c_verify_function, ora12c_strong/stig_verify_function</a:t>
            </a:r>
          </a:p>
          <a:p>
            <a:pPr>
              <a:spcAft>
                <a:spcPts val="1000"/>
              </a:spcAft>
            </a:pPr>
            <a:r>
              <a:rPr sz="1800" b="0">
                <a:solidFill>
                  <a:srgbClr val="C0392B"/>
                </a:solidFill>
                <a:latin typeface="맑은 고딕"/>
              </a:rPr>
              <a:t>•  활성화 스크립트 $ORACLE_HOME/rdbms/admin/utlpwdmg.sql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검증 함수 적용</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utlpwdmg.sql / ORA-28003</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제공 검증 함수 설치 (SYS로 1회 실행)</a:t>
            </a:r>
          </a:p>
          <a:p>
            <a:pPr>
              <a:spcAft>
                <a:spcPts val="200"/>
              </a:spcAft>
            </a:pPr>
            <a:r>
              <a:rPr sz="1200" b="0">
                <a:solidFill>
                  <a:srgbClr val="E6E6E6"/>
                </a:solidFill>
                <a:latin typeface="Consolas"/>
              </a:rPr>
              <a:t>SYS@cdb1&gt; @?/rdbms/admin/utlpwdmg.sql</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프로파일에 검증 함수 연결</a:t>
            </a:r>
          </a:p>
          <a:p>
            <a:pPr>
              <a:spcAft>
                <a:spcPts val="200"/>
              </a:spcAft>
            </a:pPr>
            <a:r>
              <a:rPr sz="1200" b="0">
                <a:solidFill>
                  <a:srgbClr val="E6E6E6"/>
                </a:solidFill>
                <a:latin typeface="Consolas"/>
              </a:rPr>
              <a:t>SYS@cdb1&gt; ALTER PROFILE pw_prof LIMIT</a:t>
            </a:r>
          </a:p>
          <a:p>
            <a:pPr>
              <a:spcAft>
                <a:spcPts val="200"/>
              </a:spcAft>
            </a:pPr>
            <a:r>
              <a:rPr sz="1200" b="0">
                <a:solidFill>
                  <a:srgbClr val="E6E6E6"/>
                </a:solidFill>
                <a:latin typeface="Consolas"/>
              </a:rPr>
              <a:t>  2    PASSWORD_VERIFY_FUNCTION ora12c_verify_function;</a:t>
            </a:r>
          </a:p>
          <a:p>
            <a:pPr>
              <a:spcAft>
                <a:spcPts val="200"/>
              </a:spcAft>
            </a:pPr>
            <a:r>
              <a:rPr sz="1200" b="0">
                <a:solidFill>
                  <a:srgbClr val="E6E6E6"/>
                </a:solidFill>
                <a:latin typeface="Consolas"/>
              </a:rPr>
              <a:t>Profile altered.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규칙에 못 미치는 약한 비밀번호 설정 시</a:t>
            </a:r>
          </a:p>
          <a:p>
            <a:pPr>
              <a:spcAft>
                <a:spcPts val="200"/>
              </a:spcAft>
            </a:pPr>
            <a:r>
              <a:rPr sz="1200" b="0">
                <a:solidFill>
                  <a:srgbClr val="E6E6E6"/>
                </a:solidFill>
                <a:latin typeface="Consolas"/>
              </a:rPr>
              <a:t>HR@pdb1&gt; ALTER USER hr IDENTIFIED BY abc;</a:t>
            </a:r>
          </a:p>
          <a:p>
            <a:pPr>
              <a:spcAft>
                <a:spcPts val="200"/>
              </a:spcAft>
            </a:pPr>
            <a:r>
              <a:rPr sz="1200" b="0">
                <a:solidFill>
                  <a:srgbClr val="E6E6E6"/>
                </a:solidFill>
                <a:latin typeface="Consolas"/>
              </a:rPr>
              <a:t>ERROR at line 1:</a:t>
            </a:r>
          </a:p>
          <a:p>
            <a:pPr>
              <a:spcAft>
                <a:spcPts val="200"/>
              </a:spcAft>
            </a:pPr>
            <a:r>
              <a:rPr sz="1200" b="0">
                <a:solidFill>
                  <a:srgbClr val="E6E6E6"/>
                </a:solidFill>
                <a:latin typeface="Consolas"/>
              </a:rPr>
              <a:t>ORA-28003: password verification for the</a:t>
            </a:r>
          </a:p>
          <a:p>
            <a:pPr>
              <a:spcAft>
                <a:spcPts val="200"/>
              </a:spcAft>
            </a:pPr>
            <a:r>
              <a:rPr sz="1200" b="0">
                <a:solidFill>
                  <a:srgbClr val="E6E6E6"/>
                </a:solidFill>
                <a:latin typeface="Consolas"/>
              </a:rPr>
              <a:t>specified password failed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23.H</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멀티테넌트 프로파일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공통(common) vs 로컬(local)</a:t>
            </a:r>
          </a:p>
          <a:p>
            <a:pPr>
              <a:spcAft>
                <a:spcPts val="600"/>
              </a:spcAft>
            </a:pPr>
            <a:r>
              <a:rPr sz="1600" b="0">
                <a:solidFill>
                  <a:srgbClr val="FFFFFF"/>
                </a:solidFill>
                <a:latin typeface="맑은 고딕"/>
              </a:rPr>
              <a:t>•  CONTAINER=ALL / C## 접두사</a:t>
            </a:r>
          </a:p>
          <a:p>
            <a:pPr>
              <a:spcAft>
                <a:spcPts val="600"/>
              </a:spcAft>
            </a:pPr>
            <a:r>
              <a:rPr sz="1600" b="0">
                <a:solidFill>
                  <a:srgbClr val="FFFFFF"/>
                </a:solidFill>
                <a:latin typeface="맑은 고딕"/>
              </a:rPr>
              <a:t>•  CDB_PROFILES.COMMON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공통 프로파일과 로컬 프로파일</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common / local profile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공통: CDB$ROOT에서 생성, 루트+모든 현재·미래 PDB에 존재</a:t>
            </a:r>
          </a:p>
          <a:p>
            <a:pPr>
              <a:spcAft>
                <a:spcPts val="1000"/>
              </a:spcAft>
            </a:pPr>
            <a:r>
              <a:rPr sz="1800" b="0">
                <a:solidFill>
                  <a:srgbClr val="C0392B"/>
                </a:solidFill>
                <a:latin typeface="맑은 고딕"/>
              </a:rPr>
              <a:t>•  로컬: 특정 PDB에서 생성, 그 PDB 안에서만 유효</a:t>
            </a:r>
          </a:p>
          <a:p>
            <a:pPr>
              <a:spcAft>
                <a:spcPts val="1000"/>
              </a:spcAft>
            </a:pPr>
            <a:r>
              <a:rPr sz="1800" b="0">
                <a:solidFill>
                  <a:srgbClr val="C0392B"/>
                </a:solidFill>
                <a:latin typeface="맑은 고딕"/>
              </a:rPr>
              <a:t>•  공통 생성: 루트에서 CREATE PROFILE ... CONTAINER=ALL, 이름 C## 접두사</a:t>
            </a:r>
          </a:p>
          <a:p>
            <a:pPr>
              <a:spcAft>
                <a:spcPts val="1000"/>
              </a:spcAft>
            </a:pPr>
            <a:r>
              <a:rPr sz="1800" b="0">
                <a:solidFill>
                  <a:srgbClr val="C0392B"/>
                </a:solidFill>
                <a:latin typeface="맑은 고딕"/>
              </a:rPr>
              <a:t>•  규칙 위반 시 ORA-65094/ORA-65140, COMMON 컬럼으로 구분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공통/로컬 프로파일 생성</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CONTAINER=ALL / CDB_PROFILES</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루트에서 공통 프로파일 생성 (C## 접두사)</a:t>
            </a:r>
          </a:p>
          <a:p>
            <a:pPr>
              <a:spcAft>
                <a:spcPts val="200"/>
              </a:spcAft>
            </a:pPr>
            <a:r>
              <a:rPr sz="1200" b="0">
                <a:solidFill>
                  <a:srgbClr val="E6E6E6"/>
                </a:solidFill>
                <a:latin typeface="Consolas"/>
              </a:rPr>
              <a:t>SYS@cdb1&gt; ALTER SESSION SET CONTAINER=CDB$ROOT;</a:t>
            </a:r>
          </a:p>
          <a:p>
            <a:pPr>
              <a:spcAft>
                <a:spcPts val="200"/>
              </a:spcAft>
            </a:pPr>
            <a:r>
              <a:rPr sz="1200" b="0">
                <a:solidFill>
                  <a:srgbClr val="E6E6E6"/>
                </a:solidFill>
                <a:latin typeface="Consolas"/>
              </a:rPr>
              <a:t>SYS@cdb1&gt; CREATE PROFILE c##corp_prof LIMIT</a:t>
            </a:r>
          </a:p>
          <a:p>
            <a:pPr>
              <a:spcAft>
                <a:spcPts val="200"/>
              </a:spcAft>
            </a:pPr>
            <a:r>
              <a:rPr sz="1200" b="0">
                <a:solidFill>
                  <a:srgbClr val="E6E6E6"/>
                </a:solidFill>
                <a:latin typeface="Consolas"/>
              </a:rPr>
              <a:t>  2    FAILED_LOGIN_ATTEMPTS 5</a:t>
            </a:r>
          </a:p>
          <a:p>
            <a:pPr>
              <a:spcAft>
                <a:spcPts val="200"/>
              </a:spcAft>
            </a:pPr>
            <a:r>
              <a:rPr sz="1200" b="0">
                <a:solidFill>
                  <a:srgbClr val="E6E6E6"/>
                </a:solidFill>
                <a:latin typeface="Consolas"/>
              </a:rPr>
              <a:t>  3    PASSWORD_LIFE_TIME    90</a:t>
            </a:r>
          </a:p>
          <a:p>
            <a:pPr>
              <a:spcAft>
                <a:spcPts val="200"/>
              </a:spcAft>
            </a:pPr>
            <a:r>
              <a:rPr sz="1200" b="0">
                <a:solidFill>
                  <a:srgbClr val="E6E6E6"/>
                </a:solidFill>
                <a:latin typeface="Consolas"/>
              </a:rPr>
              <a:t>  4    CONTAINER=ALL;</a:t>
            </a:r>
          </a:p>
          <a:p>
            <a:pPr>
              <a:spcAft>
                <a:spcPts val="200"/>
              </a:spcAft>
            </a:pPr>
            <a:r>
              <a:rPr sz="1200" b="0">
                <a:solidFill>
                  <a:srgbClr val="E6E6E6"/>
                </a:solidFill>
                <a:latin typeface="Consolas"/>
              </a:rPr>
              <a:t>Profile created.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PDB에서 로컬 프로파일 생성</a:t>
            </a:r>
          </a:p>
          <a:p>
            <a:pPr>
              <a:spcAft>
                <a:spcPts val="200"/>
              </a:spcAft>
            </a:pPr>
            <a:r>
              <a:rPr sz="1200" b="0">
                <a:solidFill>
                  <a:srgbClr val="E6E6E6"/>
                </a:solidFill>
                <a:latin typeface="Consolas"/>
              </a:rPr>
              <a:t>SYS@cdb1&gt; ALTER SESSION SET CONTAINER=pdb1;</a:t>
            </a:r>
          </a:p>
          <a:p>
            <a:pPr>
              <a:spcAft>
                <a:spcPts val="200"/>
              </a:spcAft>
            </a:pPr>
            <a:r>
              <a:rPr sz="1200" b="0">
                <a:solidFill>
                  <a:srgbClr val="E6E6E6"/>
                </a:solidFill>
                <a:latin typeface="Consolas"/>
              </a:rPr>
              <a:t>SYS@cdb1&gt; CREATE PROFILE app_local LIMIT SESSIONS_PER_USER 8;</a:t>
            </a:r>
          </a:p>
          <a:p>
            <a:pPr>
              <a:spcAft>
                <a:spcPts val="200"/>
              </a:spcAft>
            </a:pPr>
            <a:r>
              <a:rPr sz="1200" b="0">
                <a:solidFill>
                  <a:srgbClr val="7EC699"/>
                </a:solidFill>
                <a:latin typeface="Consolas"/>
              </a:rPr>
              <a:t>-- 컨테이너별 확인</a:t>
            </a:r>
          </a:p>
          <a:p>
            <a:pPr>
              <a:spcAft>
                <a:spcPts val="200"/>
              </a:spcAft>
            </a:pPr>
            <a:r>
              <a:rPr sz="1200" b="0">
                <a:solidFill>
                  <a:srgbClr val="E6E6E6"/>
                </a:solidFill>
                <a:latin typeface="Consolas"/>
              </a:rPr>
              <a:t>SYS@cdb1&gt; SELECT profile, common, con_id FROM cdb_profiles;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23.I</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멀티테넌트 프로파일 할당</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CREATE/ALTER USER ... PROFILE</a:t>
            </a:r>
          </a:p>
          <a:p>
            <a:pPr>
              <a:spcAft>
                <a:spcPts val="600"/>
              </a:spcAft>
            </a:pPr>
            <a:r>
              <a:rPr sz="1600" b="0">
                <a:solidFill>
                  <a:srgbClr val="FFFFFF"/>
                </a:solidFill>
                <a:latin typeface="맑은 고딕"/>
              </a:rPr>
              <a:t>•  컨테이너 할당 규칙</a:t>
            </a:r>
          </a:p>
          <a:p>
            <a:pPr>
              <a:spcAft>
                <a:spcPts val="600"/>
              </a:spcAft>
            </a:pPr>
            <a:r>
              <a:rPr sz="1600" b="0">
                <a:solidFill>
                  <a:srgbClr val="FFFFFF"/>
                </a:solidFill>
                <a:latin typeface="맑은 고딕"/>
              </a:rPr>
              <a:t>•  변경 적용 시점</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프로파일 할당과 적용 시점</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ALTER USER ... PROFILE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CREATE USER ... PROFILE 또는 ALTER USER ... PROFILE로 할당</a:t>
            </a:r>
          </a:p>
          <a:p>
            <a:pPr>
              <a:spcAft>
                <a:spcPts val="1000"/>
              </a:spcAft>
            </a:pPr>
            <a:r>
              <a:rPr sz="1800" b="0">
                <a:solidFill>
                  <a:srgbClr val="C0392B"/>
                </a:solidFill>
                <a:latin typeface="맑은 고딕"/>
              </a:rPr>
              <a:t>•  사용자당 하나만 유효, 새 할당 시 이전 프로파일 자동 대체</a:t>
            </a:r>
          </a:p>
          <a:p>
            <a:pPr>
              <a:spcAft>
                <a:spcPts val="1000"/>
              </a:spcAft>
            </a:pPr>
            <a:r>
              <a:rPr sz="1800" b="0">
                <a:solidFill>
                  <a:srgbClr val="C0392B"/>
                </a:solidFill>
                <a:latin typeface="맑은 고딕"/>
              </a:rPr>
              <a:t>•  로컬 사용자에 로컬/공통 프로파일 가능, 없는 프로파일은 ORA-02380</a:t>
            </a:r>
          </a:p>
          <a:p>
            <a:pPr>
              <a:spcAft>
                <a:spcPts val="1000"/>
              </a:spcAft>
            </a:pPr>
            <a:r>
              <a:rPr sz="1800" b="0">
                <a:solidFill>
                  <a:srgbClr val="C0392B"/>
                </a:solidFill>
                <a:latin typeface="맑은 고딕"/>
              </a:rPr>
              <a:t>•  비밀번호 제한은 다음 로그인, 자원 제한은 새 세션부터 적용</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프로파일 할당</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CREATE/ALTER USER ... PROFILE</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PDB에 접속해 사용자에게 프로파일 할당</a:t>
            </a:r>
          </a:p>
          <a:p>
            <a:pPr>
              <a:spcAft>
                <a:spcPts val="200"/>
              </a:spcAft>
            </a:pPr>
            <a:r>
              <a:rPr sz="1200" b="0">
                <a:solidFill>
                  <a:srgbClr val="E6E6E6"/>
                </a:solidFill>
                <a:latin typeface="Consolas"/>
              </a:rPr>
              <a:t>SYS@cdb1&gt; ALTER SESSION SET CONTAINER=pdb1;</a:t>
            </a:r>
          </a:p>
          <a:p>
            <a:pPr>
              <a:spcAft>
                <a:spcPts val="200"/>
              </a:spcAft>
            </a:pPr>
            <a:r>
              <a:rPr sz="1200" b="0">
                <a:solidFill>
                  <a:srgbClr val="E6E6E6"/>
                </a:solidFill>
                <a:latin typeface="Consolas"/>
              </a:rPr>
              <a:t>SYS@cdb1&gt; ALTER USER hr PROFILE c##corp_prof;</a:t>
            </a:r>
          </a:p>
          <a:p>
            <a:pPr>
              <a:spcAft>
                <a:spcPts val="200"/>
              </a:spcAft>
            </a:pPr>
            <a:r>
              <a:rPr sz="1200" b="0">
                <a:solidFill>
                  <a:srgbClr val="E6E6E6"/>
                </a:solidFill>
                <a:latin typeface="Consolas"/>
              </a:rPr>
              <a:t>User altered.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새 사용자 생성 시 프로파일 지정</a:t>
            </a:r>
          </a:p>
          <a:p>
            <a:pPr>
              <a:spcAft>
                <a:spcPts val="200"/>
              </a:spcAft>
            </a:pPr>
            <a:r>
              <a:rPr sz="1200" b="0">
                <a:solidFill>
                  <a:srgbClr val="E6E6E6"/>
                </a:solidFill>
                <a:latin typeface="Consolas"/>
              </a:rPr>
              <a:t>SYS@cdb1&gt; CREATE USER app_svc IDENTIFIED BY Svc#2024</a:t>
            </a:r>
          </a:p>
          <a:p>
            <a:pPr>
              <a:spcAft>
                <a:spcPts val="200"/>
              </a:spcAft>
            </a:pPr>
            <a:r>
              <a:rPr sz="1200" b="0">
                <a:solidFill>
                  <a:srgbClr val="E6E6E6"/>
                </a:solidFill>
                <a:latin typeface="Consolas"/>
              </a:rPr>
              <a:t>  2    PROFILE app_local;</a:t>
            </a:r>
          </a:p>
          <a:p>
            <a:pPr>
              <a:spcAft>
                <a:spcPts val="200"/>
              </a:spcAft>
            </a:pPr>
            <a:r>
              <a:rPr sz="1200" b="0">
                <a:solidFill>
                  <a:srgbClr val="E6E6E6"/>
                </a:solidFill>
                <a:latin typeface="Consolas"/>
              </a:rPr>
              <a:t>User created.</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존재하지 않는 프로파일 할당 시 오류</a:t>
            </a:r>
          </a:p>
          <a:p>
            <a:pPr>
              <a:spcAft>
                <a:spcPts val="200"/>
              </a:spcAft>
            </a:pPr>
            <a:r>
              <a:rPr sz="1200" b="0">
                <a:solidFill>
                  <a:srgbClr val="E6E6E6"/>
                </a:solidFill>
                <a:latin typeface="Consolas"/>
              </a:rPr>
              <a:t>SYS@cdb1&gt; ALTER USER hr PROFILE no_such_prof;</a:t>
            </a:r>
          </a:p>
          <a:p>
            <a:pPr>
              <a:spcAft>
                <a:spcPts val="200"/>
              </a:spcAft>
            </a:pPr>
            <a:r>
              <a:rPr sz="1200" b="0">
                <a:solidFill>
                  <a:srgbClr val="E6E6E6"/>
                </a:solidFill>
                <a:latin typeface="Consolas"/>
              </a:rPr>
              <a:t>ORA-02380: profile NO_SUCH_PROF does not exist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23.J</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계정 잠금·해제와 DEFAULT 프로파일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600"/>
              </a:spcAft>
            </a:pPr>
            <a:r>
              <a:rPr sz="1600" b="0">
                <a:solidFill>
                  <a:srgbClr val="FFFFFF"/>
                </a:solidFill>
                <a:latin typeface="맑은 고딕"/>
              </a:rPr>
              <a:t>•  ACCOUNT LOCK / UNLOCK</a:t>
            </a:r>
          </a:p>
          <a:p>
            <a:pPr>
              <a:spcAft>
                <a:spcPts val="600"/>
              </a:spcAft>
            </a:pPr>
            <a:r>
              <a:rPr sz="1600" b="0">
                <a:solidFill>
                  <a:srgbClr val="FFFFFF"/>
                </a:solidFill>
                <a:latin typeface="맑은 고딕"/>
              </a:rPr>
              <a:t>•  DEFAULT 프로파일의 역할</a:t>
            </a:r>
          </a:p>
          <a:p>
            <a:pPr>
              <a:spcAft>
                <a:spcPts val="600"/>
              </a:spcAft>
            </a:pPr>
            <a:r>
              <a:rPr sz="1600" b="0">
                <a:solidFill>
                  <a:srgbClr val="FFFFFF"/>
                </a:solidFill>
                <a:latin typeface="맑은 고딕"/>
              </a:rPr>
              <a:t>•  DROP PROFILE ... CASCADE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수동 계정 잠금·해제와 만료</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ACCOUNT LOCK/UNLOCK · EXPIRE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ALTER USER ... ACCOUNT LOCK: 즉시 잠금(ORA-28000) / UNLOCK: 해제</a:t>
            </a:r>
          </a:p>
          <a:p>
            <a:pPr>
              <a:spcAft>
                <a:spcPts val="1000"/>
              </a:spcAft>
            </a:pPr>
            <a:r>
              <a:rPr sz="1800" b="0">
                <a:solidFill>
                  <a:srgbClr val="C0392B"/>
                </a:solidFill>
                <a:latin typeface="맑은 고딕"/>
              </a:rPr>
              <a:t>•  ALTER USER ... PASSWORD EXPIRE: 다음 로그인 시 새 비밀번호 강제</a:t>
            </a:r>
          </a:p>
          <a:p>
            <a:pPr>
              <a:spcAft>
                <a:spcPts val="1000"/>
              </a:spcAft>
            </a:pPr>
            <a:r>
              <a:rPr sz="1800" b="0">
                <a:solidFill>
                  <a:srgbClr val="C0392B"/>
                </a:solidFill>
                <a:latin typeface="맑은 고딕"/>
              </a:rPr>
              <a:t>•  잠금은 '접속 자체 차단', 만료는 '비밀번호 변경 요구'로 목적이 다름</a:t>
            </a:r>
          </a:p>
          <a:p>
            <a:pPr>
              <a:spcAft>
                <a:spcPts val="1000"/>
              </a:spcAft>
            </a:pPr>
            <a:r>
              <a:rPr sz="1800" b="0">
                <a:solidFill>
                  <a:srgbClr val="C0392B"/>
                </a:solidFill>
                <a:latin typeface="맑은 고딕"/>
              </a:rPr>
              <a:t>•  상태 점검: DBA_USERS의 ACCOUNT_STATUS·LOCK_DATE·EXPIRY_DATE·PROFILE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DEFAULT 프로파일과 삭제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DEFAULT profile · DROP CASCADE</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1000"/>
              </a:spcAft>
            </a:pPr>
            <a:r>
              <a:rPr sz="1800" b="0">
                <a:solidFill>
                  <a:srgbClr val="C0392B"/>
                </a:solidFill>
                <a:latin typeface="맑은 고딕"/>
              </a:rPr>
              <a:t>•  DEFAULT: DB 생성 시 자동 생성, 시스템 전체의 기준선 역할</a:t>
            </a:r>
          </a:p>
          <a:p>
            <a:pPr>
              <a:spcAft>
                <a:spcPts val="1000"/>
              </a:spcAft>
            </a:pPr>
            <a:r>
              <a:rPr sz="1800" b="0">
                <a:solidFill>
                  <a:srgbClr val="C0392B"/>
                </a:solidFill>
                <a:latin typeface="맑은 고딕"/>
              </a:rPr>
              <a:t>•  미지정 사용자와 DEFAULT 상속 파라미터의 실제 값을 제공</a:t>
            </a:r>
          </a:p>
          <a:p>
            <a:pPr>
              <a:spcAft>
                <a:spcPts val="1000"/>
              </a:spcAft>
            </a:pPr>
            <a:r>
              <a:rPr sz="1800" b="0">
                <a:solidFill>
                  <a:srgbClr val="C0392B"/>
                </a:solidFill>
                <a:latin typeface="맑은 고딕"/>
              </a:rPr>
              <a:t>•  ALTER PROFILE DEFAULT LIMIT 변경은 광범위 영향 → 신중, 삭제 불가</a:t>
            </a:r>
          </a:p>
          <a:p>
            <a:pPr>
              <a:spcAft>
                <a:spcPts val="1000"/>
              </a:spcAft>
            </a:pPr>
            <a:r>
              <a:rPr sz="1800" b="0">
                <a:solidFill>
                  <a:srgbClr val="C0392B"/>
                </a:solidFill>
                <a:latin typeface="맑은 고딕"/>
              </a:rPr>
              <a:t>•  할당 사용자 있는 프로파일 삭제 시 ORA-02382 → DROP ... CASCADE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계정 관리와 프로파일 삭제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ACCOUNT LOCK / DROP CASCADE</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4572000"/>
          </a:xfrm>
          <a:prstGeom prst="rect">
            <a:avLst/>
          </a:prstGeom>
          <a:noFill/>
        </p:spPr>
        <p:txBody>
          <a:bodyPr wrap="square">
            <a:spAutoFit/>
          </a:bodyPr>
          <a:lstStyle/>
          <a:p>
            <a:pPr>
              <a:spcAft>
                <a:spcPts val="200"/>
              </a:spcAft>
            </a:pPr>
            <a:r>
              <a:rPr sz="1200" b="0">
                <a:solidFill>
                  <a:srgbClr val="7EC699"/>
                </a:solidFill>
                <a:latin typeface="Consolas"/>
              </a:rPr>
              <a:t>-- 계정 즉시 잠금 및 비밀번호 만료</a:t>
            </a:r>
          </a:p>
          <a:p>
            <a:pPr>
              <a:spcAft>
                <a:spcPts val="200"/>
              </a:spcAft>
            </a:pPr>
            <a:r>
              <a:rPr sz="1200" b="0">
                <a:solidFill>
                  <a:srgbClr val="E6E6E6"/>
                </a:solidFill>
                <a:latin typeface="Consolas"/>
              </a:rPr>
              <a:t>SYS@cdb1&gt; ALTER USER hr ACCOUNT LOCK;</a:t>
            </a:r>
          </a:p>
          <a:p>
            <a:pPr>
              <a:spcAft>
                <a:spcPts val="200"/>
              </a:spcAft>
            </a:pPr>
            <a:r>
              <a:rPr sz="1200" b="0">
                <a:solidFill>
                  <a:srgbClr val="E6E6E6"/>
                </a:solidFill>
                <a:latin typeface="Consolas"/>
              </a:rPr>
              <a:t>SYS@cdb1&gt; ALTER USER app_svc PASSWORD EXPIRE;</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상태 종합 조회</a:t>
            </a:r>
          </a:p>
          <a:p>
            <a:pPr>
              <a:spcAft>
                <a:spcPts val="200"/>
              </a:spcAft>
            </a:pPr>
            <a:r>
              <a:rPr sz="1200" b="0">
                <a:solidFill>
                  <a:srgbClr val="E6E6E6"/>
                </a:solidFill>
                <a:latin typeface="Consolas"/>
              </a:rPr>
              <a:t>SYS@cdb1&gt; SELECT username, account_status, profile</a:t>
            </a:r>
          </a:p>
          <a:p>
            <a:pPr>
              <a:spcAft>
                <a:spcPts val="200"/>
              </a:spcAft>
            </a:pPr>
            <a:r>
              <a:rPr sz="1200" b="0">
                <a:solidFill>
                  <a:srgbClr val="E6E6E6"/>
                </a:solidFill>
                <a:latin typeface="Consolas"/>
              </a:rPr>
              <a:t>  2  FROM dba_users WHERE username IN ('HR','APP_SVC');</a:t>
            </a:r>
          </a:p>
          <a:p>
            <a:pPr>
              <a:spcAft>
                <a:spcPts val="200"/>
              </a:spcAft>
            </a:pPr>
            <a:r>
              <a:rPr sz="1200" b="0">
                <a:solidFill>
                  <a:srgbClr val="E6E6E6"/>
                </a:solidFill>
                <a:latin typeface="Consolas"/>
              </a:rPr>
              <a:t/>
            </a:r>
          </a:p>
          <a:p>
            <a:pPr>
              <a:spcAft>
                <a:spcPts val="200"/>
              </a:spcAft>
            </a:pPr>
            <a:r>
              <a:rPr sz="1200" b="0">
                <a:solidFill>
                  <a:srgbClr val="7EC699"/>
                </a:solidFill>
                <a:latin typeface="Consolas"/>
              </a:rPr>
              <a:t>-- 할당 사용자가 있는 프로파일 삭제 시도</a:t>
            </a:r>
          </a:p>
          <a:p>
            <a:pPr>
              <a:spcAft>
                <a:spcPts val="200"/>
              </a:spcAft>
            </a:pPr>
            <a:r>
              <a:rPr sz="1200" b="0">
                <a:solidFill>
                  <a:srgbClr val="E6E6E6"/>
                </a:solidFill>
                <a:latin typeface="Consolas"/>
              </a:rPr>
              <a:t>SYS@cdb1&gt; DROP PROFILE app_local;</a:t>
            </a:r>
          </a:p>
          <a:p>
            <a:pPr>
              <a:spcAft>
                <a:spcPts val="200"/>
              </a:spcAft>
            </a:pPr>
            <a:r>
              <a:rPr sz="1200" b="0">
                <a:solidFill>
                  <a:srgbClr val="E6E6E6"/>
                </a:solidFill>
                <a:latin typeface="Consolas"/>
              </a:rPr>
              <a:t>ORA-02382: profile APP_LOCAL has users assigned,</a:t>
            </a:r>
          </a:p>
          <a:p>
            <a:pPr>
              <a:spcAft>
                <a:spcPts val="200"/>
              </a:spcAft>
            </a:pPr>
            <a:r>
              <a:rPr sz="1200" b="0">
                <a:solidFill>
                  <a:srgbClr val="E6E6E6"/>
                </a:solidFill>
                <a:latin typeface="Consolas"/>
              </a:rPr>
              <a:t>cannot delete without CASCADE</a:t>
            </a:r>
          </a:p>
          <a:p>
            <a:pPr>
              <a:spcAft>
                <a:spcPts val="200"/>
              </a:spcAft>
            </a:pPr>
            <a:r>
              <a:rPr sz="1200" b="0">
                <a:solidFill>
                  <a:srgbClr val="E6E6E6"/>
                </a:solidFill>
                <a:latin typeface="Consolas"/>
              </a:rPr>
              <a:t>SYS@cdb1&gt; DROP PROFILE app_local CASCADE;</a:t>
            </a:r>
          </a:p>
          <a:p>
            <a:pPr>
              <a:spcAft>
                <a:spcPts val="200"/>
              </a:spcAft>
            </a:pPr>
            <a:r>
              <a:rPr sz="1200" b="0">
                <a:solidFill>
                  <a:srgbClr val="E6E6E6"/>
                </a:solidFill>
                <a:latin typeface="Consolas"/>
              </a:rPr>
              <a:t>Profile deleted.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확인 학습 (Quiz) 1</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1">
                <a:solidFill>
                  <a:srgbClr val="C0392B"/>
                </a:solidFill>
                <a:latin typeface="맑은 고딕"/>
              </a:rPr>
              <a:t>Q. 프로파일의 커널 자원 제한이 실제로 적용되려면 어떤 초기화 파라미터가 TRUE여야 하는가?</a:t>
            </a:r>
          </a:p>
          <a:p>
            <a:pPr>
              <a:spcAft>
                <a:spcPts val="600"/>
              </a:spcAft>
            </a:pPr>
            <a:r>
              <a:rPr sz="1600" b="0">
                <a:solidFill>
                  <a:srgbClr val="5A6672"/>
                </a:solidFill>
                <a:latin typeface="맑은 고딕"/>
              </a:rPr>
              <a:t>A. RESOURCE_LIMIT. 비밀번호 제한은 항상 적용되지만 커널 자원 제한은 이 값이 TRUE일 때만 강제된다.</a:t>
            </a:r>
          </a:p>
          <a:p>
            <a:pPr>
              <a:spcAft>
                <a:spcPts val="600"/>
              </a:spcAft>
            </a:pPr>
            <a:r>
              <a:rPr sz="1600" b="0">
                <a:solidFill>
                  <a:srgbClr val="5A6672"/>
                </a:solidFill>
                <a:latin typeface="맑은 고딕"/>
              </a:rPr>
              <a:t/>
            </a:r>
          </a:p>
          <a:p>
            <a:pPr>
              <a:spcAft>
                <a:spcPts val="600"/>
              </a:spcAft>
            </a:pPr>
            <a:r>
              <a:rPr sz="1600" b="1">
                <a:solidFill>
                  <a:srgbClr val="C0392B"/>
                </a:solidFill>
                <a:latin typeface="맑은 고딕"/>
              </a:rPr>
              <a:t>Q. CPU_PER_SESSION의 단위와, 값 3000이 의미하는 시간은?</a:t>
            </a:r>
          </a:p>
          <a:p>
            <a:pPr>
              <a:spcAft>
                <a:spcPts val="600"/>
              </a:spcAft>
            </a:pPr>
            <a:r>
              <a:rPr sz="1600" b="0">
                <a:solidFill>
                  <a:srgbClr val="5A6672"/>
                </a:solidFill>
                <a:latin typeface="맑은 고딕"/>
              </a:rPr>
              <a:t>A. 단위는 100분의 1초(centisecond). 3000은 30초를 뜻한다.</a:t>
            </a:r>
          </a:p>
          <a:p>
            <a:pPr>
              <a:spcAft>
                <a:spcPts val="600"/>
              </a:spcAft>
            </a:pPr>
            <a:r>
              <a:rPr sz="1600" b="0">
                <a:solidFill>
                  <a:srgbClr val="5A6672"/>
                </a:solidFill>
                <a:latin typeface="맑은 고딕"/>
              </a:rPr>
              <a:t/>
            </a:r>
          </a:p>
          <a:p>
            <a:pPr>
              <a:spcAft>
                <a:spcPts val="600"/>
              </a:spcAft>
            </a:pPr>
            <a:r>
              <a:rPr sz="1600" b="1">
                <a:solidFill>
                  <a:srgbClr val="C0392B"/>
                </a:solidFill>
                <a:latin typeface="맑은 고딕"/>
              </a:rPr>
              <a:t>Q. 한 사용자에게 동시에 몇 개의 프로파일을 할당할 수 있는가?</a:t>
            </a:r>
          </a:p>
          <a:p>
            <a:pPr>
              <a:spcAft>
                <a:spcPts val="600"/>
              </a:spcAft>
            </a:pPr>
            <a:r>
              <a:rPr sz="1600" b="0">
                <a:solidFill>
                  <a:srgbClr val="5A6672"/>
                </a:solidFill>
                <a:latin typeface="맑은 고딕"/>
              </a:rPr>
              <a:t>A. 정확히 하나. 미지정 시 DEFAULT가 적용되며, 새 프로파일 할당 시 이전 것이 대체된다.</a:t>
            </a:r>
          </a:p>
          <a:p>
            <a:pPr>
              <a:spcAft>
                <a:spcPts val="600"/>
              </a:spcAft>
            </a:pPr>
            <a:r>
              <a:rPr sz="1600" b="0">
                <a:solidFill>
                  <a:srgbClr val="5A6672"/>
                </a:solidFill>
                <a:latin typeface="맑은 고딕"/>
              </a:rPr>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확인 학습 (Quiz) 2</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1">
                <a:solidFill>
                  <a:srgbClr val="C0392B"/>
                </a:solidFill>
                <a:latin typeface="맑은 고딕"/>
              </a:rPr>
              <a:t>Q. FAILED_LOGIN_ATTEMPTS를 초과해 잠긴 계정으로 로그인하면 나는 오류 번호는?</a:t>
            </a:r>
          </a:p>
          <a:p>
            <a:pPr>
              <a:spcAft>
                <a:spcPts val="600"/>
              </a:spcAft>
            </a:pPr>
            <a:r>
              <a:rPr sz="1600" b="0">
                <a:solidFill>
                  <a:srgbClr val="5A6672"/>
                </a:solidFill>
                <a:latin typeface="맑은 고딕"/>
              </a:rPr>
              <a:t>A. ORA-28000: the account is locked. PASSWORD_LOCK_TIME 후 자동 해제되거나 ACCOUNT UNLOCK으로 해제한다.</a:t>
            </a:r>
          </a:p>
          <a:p>
            <a:pPr>
              <a:spcAft>
                <a:spcPts val="600"/>
              </a:spcAft>
            </a:pPr>
            <a:r>
              <a:rPr sz="1600" b="0">
                <a:solidFill>
                  <a:srgbClr val="5A6672"/>
                </a:solidFill>
                <a:latin typeface="맑은 고딕"/>
              </a:rPr>
              <a:t/>
            </a:r>
          </a:p>
          <a:p>
            <a:pPr>
              <a:spcAft>
                <a:spcPts val="600"/>
              </a:spcAft>
            </a:pPr>
            <a:r>
              <a:rPr sz="1600" b="1">
                <a:solidFill>
                  <a:srgbClr val="C0392B"/>
                </a:solidFill>
                <a:latin typeface="맑은 고딕"/>
              </a:rPr>
              <a:t>Q. PASSWORD_REUSE_TIME만 정수로 두고 PASSWORD_REUSE_MAX를 UNLIMITED로 두면?</a:t>
            </a:r>
          </a:p>
          <a:p>
            <a:pPr>
              <a:spcAft>
                <a:spcPts val="600"/>
              </a:spcAft>
            </a:pPr>
            <a:r>
              <a:rPr sz="1600" b="0">
                <a:solidFill>
                  <a:srgbClr val="5A6672"/>
                </a:solidFill>
                <a:latin typeface="맑은 고딕"/>
              </a:rPr>
              <a:t>A. 두 조건이 모두 충족돼야 재사용이 허용되므로, 어떤 이전 비밀번호도 재사용할 수 없게 된다.</a:t>
            </a:r>
          </a:p>
          <a:p>
            <a:pPr>
              <a:spcAft>
                <a:spcPts val="600"/>
              </a:spcAft>
            </a:pPr>
            <a:r>
              <a:rPr sz="1600" b="0">
                <a:solidFill>
                  <a:srgbClr val="5A6672"/>
                </a:solidFill>
                <a:latin typeface="맑은 고딕"/>
              </a:rPr>
              <a:t/>
            </a:r>
          </a:p>
          <a:p>
            <a:pPr>
              <a:spcAft>
                <a:spcPts val="600"/>
              </a:spcAft>
            </a:pPr>
            <a:r>
              <a:rPr sz="1600" b="1">
                <a:solidFill>
                  <a:srgbClr val="C0392B"/>
                </a:solidFill>
                <a:latin typeface="맑은 고딕"/>
              </a:rPr>
              <a:t>Q. 공통 프로파일을 루트에서 만들 때 이름과 CONTAINER 절의 규칙은?</a:t>
            </a:r>
          </a:p>
          <a:p>
            <a:pPr>
              <a:spcAft>
                <a:spcPts val="600"/>
              </a:spcAft>
            </a:pPr>
            <a:r>
              <a:rPr sz="1600" b="0">
                <a:solidFill>
                  <a:srgbClr val="5A6672"/>
                </a:solidFill>
                <a:latin typeface="맑은 고딕"/>
              </a:rPr>
              <a:t>A. 이름은 C## 접두사로 시작, CONTAINER=ALL 지정. 위반 시 ORA-65140 등이 발생한다.</a:t>
            </a:r>
          </a:p>
          <a:p>
            <a:pPr>
              <a:spcAft>
                <a:spcPts val="600"/>
              </a:spcAft>
            </a:pPr>
            <a:r>
              <a:rPr sz="1600" b="0">
                <a:solidFill>
                  <a:srgbClr val="5A6672"/>
                </a:solidFill>
                <a:latin typeface="맑은 고딕"/>
              </a:rPr>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확인 학습 (Quiz) 3</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600"/>
              </a:spcAft>
            </a:pPr>
            <a:r>
              <a:rPr sz="1600" b="1">
                <a:solidFill>
                  <a:srgbClr val="C0392B"/>
                </a:solidFill>
                <a:latin typeface="맑은 고딕"/>
              </a:rPr>
              <a:t>Q. 사용자가 할당된 프로파일을 그냥 DROP PROFILE 하면 나는 오류와 해결책은?</a:t>
            </a:r>
          </a:p>
          <a:p>
            <a:pPr>
              <a:spcAft>
                <a:spcPts val="600"/>
              </a:spcAft>
            </a:pPr>
            <a:r>
              <a:rPr sz="1600" b="0">
                <a:solidFill>
                  <a:srgbClr val="5A6672"/>
                </a:solidFill>
                <a:latin typeface="맑은 고딕"/>
              </a:rPr>
              <a:t>A. ORA-02382 발생. DROP PROFILE ... CASCADE로 사용자를 DEFAULT로 옮기며 삭제한다.</a:t>
            </a:r>
          </a:p>
          <a:p>
            <a:pPr>
              <a:spcAft>
                <a:spcPts val="600"/>
              </a:spcAft>
            </a:pPr>
            <a:r>
              <a:rPr sz="1600" b="0">
                <a:solidFill>
                  <a:srgbClr val="5A6672"/>
                </a:solidFill>
                <a:latin typeface="맑은 고딕"/>
              </a:rPr>
              <a:t/>
            </a:r>
          </a:p>
          <a:p>
            <a:pPr>
              <a:spcAft>
                <a:spcPts val="600"/>
              </a:spcAft>
            </a:pPr>
            <a:r>
              <a:rPr sz="1600" b="1">
                <a:solidFill>
                  <a:srgbClr val="C0392B"/>
                </a:solidFill>
                <a:latin typeface="맑은 고딕"/>
              </a:rPr>
              <a:t>Q. Oracle 제공 검증 함수를 설치하는 스크립트와 대표 함수 이름은?</a:t>
            </a:r>
          </a:p>
          <a:p>
            <a:pPr>
              <a:spcAft>
                <a:spcPts val="600"/>
              </a:spcAft>
            </a:pPr>
            <a:r>
              <a:rPr sz="1600" b="0">
                <a:solidFill>
                  <a:srgbClr val="5A6672"/>
                </a:solidFill>
                <a:latin typeface="맑은 고딕"/>
              </a:rPr>
              <a:t>A. utlpwdmg.sql 실행. ora12c_verify_function, ora12c_strong/stig_verify_function.</a:t>
            </a:r>
          </a:p>
          <a:p>
            <a:pPr>
              <a:spcAft>
                <a:spcPts val="600"/>
              </a:spcAft>
            </a:pPr>
            <a:r>
              <a:rPr sz="1600" b="0">
                <a:solidFill>
                  <a:srgbClr val="5A6672"/>
                </a:solidFill>
                <a:latin typeface="맑은 고딕"/>
              </a:rPr>
              <a:t/>
            </a:r>
          </a:p>
          <a:p>
            <a:pPr>
              <a:spcAft>
                <a:spcPts val="600"/>
              </a:spcAft>
            </a:pPr>
            <a:r>
              <a:rPr sz="1600" b="1">
                <a:solidFill>
                  <a:srgbClr val="C0392B"/>
                </a:solidFill>
                <a:latin typeface="맑은 고딕"/>
              </a:rPr>
              <a:t>Q. 프로파일 값 변경은 이미 접속 중인 세션에 즉시 적용되는가?</a:t>
            </a:r>
          </a:p>
          <a:p>
            <a:pPr>
              <a:spcAft>
                <a:spcPts val="600"/>
              </a:spcAft>
            </a:pPr>
            <a:r>
              <a:rPr sz="1600" b="0">
                <a:solidFill>
                  <a:srgbClr val="5A6672"/>
                </a:solidFill>
                <a:latin typeface="맑은 고딕"/>
              </a:rPr>
              <a:t>A. 아니다. 자원 제한은 새 세션부터, 비밀번호 제한은 다음 로그인/변경 시점부터 적용된다.</a:t>
            </a:r>
          </a:p>
          <a:p>
            <a:pPr>
              <a:spcAft>
                <a:spcPts val="600"/>
              </a:spcAft>
            </a:pPr>
            <a:r>
              <a:rPr sz="1600" b="0">
                <a:solidFill>
                  <a:srgbClr val="5A6672"/>
                </a:solidFill>
                <a:latin typeface="맑은 고딕"/>
              </a:rPr>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1000"/>
              </a:spcAft>
            </a:pPr>
            <a:r>
              <a:rPr sz="1800" b="0">
                <a:solidFill>
                  <a:srgbClr val="C0392B"/>
                </a:solidFill>
                <a:latin typeface="맑은 고딕"/>
              </a:rPr>
              <a:t>•  프로파일 = 자원 제한+비밀번호 관리의 집합, 사용자당 하나, 미지정 시 DEFAULT</a:t>
            </a:r>
          </a:p>
          <a:p>
            <a:pPr>
              <a:spcAft>
                <a:spcPts val="1000"/>
              </a:spcAft>
            </a:pPr>
            <a:r>
              <a:rPr sz="1800" b="0">
                <a:solidFill>
                  <a:srgbClr val="C0392B"/>
                </a:solidFill>
                <a:latin typeface="맑은 고딕"/>
              </a:rPr>
              <a:t>•  비밀번호 제한은 항상, 커널 자원 제한은 RESOURCE_LIMIT=TRUE일 때만 적용</a:t>
            </a:r>
          </a:p>
          <a:p>
            <a:pPr>
              <a:spcAft>
                <a:spcPts val="1000"/>
              </a:spcAft>
            </a:pPr>
            <a:r>
              <a:rPr sz="1800" b="0">
                <a:solidFill>
                  <a:srgbClr val="C0392B"/>
                </a:solidFill>
                <a:latin typeface="맑은 고딕"/>
              </a:rPr>
              <a:t>•  세션·CPU: SESSIONS_PER_USER, CPU_PER_SESSION/CALL(센티초), CONNECT/IDLE_TIME(분)</a:t>
            </a:r>
          </a:p>
          <a:p>
            <a:pPr>
              <a:spcAft>
                <a:spcPts val="1000"/>
              </a:spcAft>
            </a:pPr>
            <a:r>
              <a:rPr sz="1800" b="0">
                <a:solidFill>
                  <a:srgbClr val="C0392B"/>
                </a:solidFill>
                <a:latin typeface="맑은 고딕"/>
              </a:rPr>
              <a:t>•  읽기·메모리: LOGICAL_READS(블록), PRIVATE_SGA(공유서버), COMPOSITE_LIMIT</a:t>
            </a:r>
          </a:p>
          <a:p>
            <a:pPr>
              <a:spcAft>
                <a:spcPts val="1000"/>
              </a:spcAft>
            </a:pPr>
            <a:r>
              <a:rPr sz="1800" b="0">
                <a:solidFill>
                  <a:srgbClr val="C0392B"/>
                </a:solidFill>
                <a:latin typeface="맑은 고딕"/>
              </a:rPr>
              <a:t>•  잠금 FAILED_LOGIN_ATTEMPTS(ORA-28000), 수명 LIFE/GRACE, 재사용 REUSE_TIME/MAX</a:t>
            </a:r>
          </a:p>
          <a:p>
            <a:pPr>
              <a:spcAft>
                <a:spcPts val="1000"/>
              </a:spcAft>
            </a:pPr>
            <a:r>
              <a:rPr sz="1800" b="0">
                <a:solidFill>
                  <a:srgbClr val="C0392B"/>
                </a:solidFill>
                <a:latin typeface="맑은 고딕"/>
              </a:rPr>
              <a:t>•  복잡도 강제 PASSWORD_VERIFY_FUNCTION(ora12c_verify_function, utlpwdmg.sql)</a:t>
            </a:r>
          </a:p>
          <a:p>
            <a:pPr>
              <a:spcAft>
                <a:spcPts val="1000"/>
              </a:spcAft>
            </a:pPr>
            <a:r>
              <a:rPr sz="1800" b="0">
                <a:solidFill>
                  <a:srgbClr val="C0392B"/>
                </a:solidFill>
                <a:latin typeface="맑은 고딕"/>
              </a:rPr>
              <a:t>•  멀티테넌트: 공통(루트·C##·CONTAINER=ALL)/로컬, 할당 ALTER USER ... PROFILE</a:t>
            </a:r>
          </a:p>
          <a:p>
            <a:pPr>
              <a:spcAft>
                <a:spcPts val="1000"/>
              </a:spcAft>
            </a:pPr>
            <a:r>
              <a:rPr sz="1800" b="0">
                <a:solidFill>
                  <a:srgbClr val="C0392B"/>
                </a:solidFill>
                <a:latin typeface="맑은 고딕"/>
              </a:rPr>
              <a:t>•  관리: DROP PROFILE ... CASCADE로 DEFAULT 재할당하며 삭제, DEFAULT는 삭제 불가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실습 23 개요</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1000"/>
              </a:spcAft>
            </a:pPr>
            <a:r>
              <a:rPr sz="1800" b="0">
                <a:solidFill>
                  <a:srgbClr val="C0392B"/>
                </a:solidFill>
                <a:latin typeface="맑은 고딕"/>
              </a:rPr>
              <a:t>•  실습 01 — 프로파일 개념 및 자원 제한 확인 (DBA_PROFILES, RESOURCE_LIMIT)</a:t>
            </a:r>
          </a:p>
          <a:p>
            <a:pPr>
              <a:spcAft>
                <a:spcPts val="1000"/>
              </a:spcAft>
            </a:pPr>
            <a:r>
              <a:rPr sz="1800" b="0">
                <a:solidFill>
                  <a:srgbClr val="C0392B"/>
                </a:solidFill>
                <a:latin typeface="맑은 고딕"/>
              </a:rPr>
              <a:t>•  실습 02 — 멀티테넌트에서 프로파일 생성 (공통 C##/로컬, CONTAINER=ALL)</a:t>
            </a:r>
          </a:p>
          <a:p>
            <a:pPr>
              <a:spcAft>
                <a:spcPts val="1000"/>
              </a:spcAft>
            </a:pPr>
            <a:r>
              <a:rPr sz="1800" b="0">
                <a:solidFill>
                  <a:srgbClr val="C0392B"/>
                </a:solidFill>
                <a:latin typeface="맑은 고딕"/>
              </a:rPr>
              <a:t>•  실습 03 — 자원 파라미터 구성 및 한도 초과 확인 (세션·CPU·IDLE_TIME)</a:t>
            </a:r>
          </a:p>
          <a:p>
            <a:pPr>
              <a:spcAft>
                <a:spcPts val="1000"/>
              </a:spcAft>
            </a:pPr>
            <a:r>
              <a:rPr sz="1800" b="0">
                <a:solidFill>
                  <a:srgbClr val="C0392B"/>
                </a:solidFill>
                <a:latin typeface="맑은 고딕"/>
              </a:rPr>
              <a:t>•  실습 04 — 계정 잠금·비밀번호 파라미터 구성 (FAILED_LOGIN_ATTEMPTS, ORA-28000)</a:t>
            </a:r>
          </a:p>
          <a:p>
            <a:pPr>
              <a:spcAft>
                <a:spcPts val="1000"/>
              </a:spcAft>
            </a:pPr>
            <a:r>
              <a:rPr sz="1800" b="0">
                <a:solidFill>
                  <a:srgbClr val="C0392B"/>
                </a:solidFill>
                <a:latin typeface="맑은 고딕"/>
              </a:rPr>
              <a:t>•  실습 05 — Oracle 제공 비밀번호 검증 함수 적용 (ora12c_verify_function, ORA-28003)</a:t>
            </a:r>
          </a:p>
          <a:p>
            <a:pPr>
              <a:spcAft>
                <a:spcPts val="1000"/>
              </a:spcAft>
            </a:pPr>
            <a:r>
              <a:rPr sz="1800" b="0">
                <a:solidFill>
                  <a:srgbClr val="C0392B"/>
                </a:solidFill>
                <a:latin typeface="맑은 고딕"/>
              </a:rPr>
              <a:t>•  실습 06 — 멀티테넌트에서 프로파일 할당 (ALTER USER ... PROFILE, DROP ... CASCADE)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
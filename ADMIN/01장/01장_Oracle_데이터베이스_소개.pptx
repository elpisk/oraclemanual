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본 장은 Oracle Database 19c: Administration Workshop(D106546GC10) 과정의 첫 번째 장으로, DBA가 반드시 이해해야 할 서버 아키텍처의 큰 그림을 다룬다. 구체적 관리 명령에 앞서 데이터베이스 서버가 어떤 구성요소로 이루어지며 그것들이 어떻게 협력하는지를 조망한다. 이 장의 개념적 뼈대는 프로세스(2장), 메모리(3장), 저장소(17장), 멀티테넌트(14~16장) 등 이후 모든 장의 기반이 된다. Word 실측 25페이지, 15,041단어 분량의 본문을 발표용으로 압축한 자료이며, 각 슬라이드의 발표자 노트에 본문 상세 설명을 수록하였다.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이 장의 세 가지 학습 목표는 Oracle 공식 코스의 Objectives 슬라이드를 그대로 따른 것이다. (1) 주요 아키텍처 구성요소 나열 — 메모리/프로세스/저장소, 인스턴스와 데이터베이스의 구분. (2) 멀티테넌트 아키텍처 설명 — CDB/PDB 구조와 공유·격리. (3) 데이터베이스 샤딩 설명 — 수평 분할, 무공유, SDB. 이 목표들을 기준으로 요약(1.7)에서 성취도를 점검한다.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이 장의 전체 흐름을 안내하는 목차 슬라이드다. 서버 아키텍처 개요에서 인스턴스와 데이터베이스를 구분한 뒤, 멀티테넌트를 소개(개념)하고 아키텍처(내부 구조)로 심화하며, 인스턴스 구성(단일/RAC)과 샤딩으로 확장 아키텍처를 비교한다. 마지막에 퀴즈·요약·실습으로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Oracle 서버 아키텍처는 메모리 구조, 프로세스 구조, 저장소 구조의 세 가지로 나뉜다. 이 셋이 결합해 하나의 데이터베이스 시스템을 이룬다. 가장 기본 형태는 하나의 Oracle 데이터베이스와 하나의 데이터베이스 인스턴스로 구성된다. 이 둘은 자주 혼용되지만 엄밀히 구분해야 하며, 그 구분이 DBA 실무의 출발점이다.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데이터베이스는 디스크에 영구 저장되는 물리적·논리적 구조의 집합으로 데이터 파일, 리두 로그 파일, 제어 파일을 포함한다. 물리 구조와 논리 구조가 분리되어 있어, 논리 접근에 영향을 주지 않고 물리 저장 방식을 관리할 수 있다. 예: 사용자는 EMPLOYEES 테이블을 질의하지만 실제 저장 위치는 몰라도 되고, DBA는 애플리케이션 중단 없이 데이터 파일을 이동/확장할 수 있다. 인스턴스는 메모리에 존재하는 휘발성 구조(SGA)와 백그라운드 프로세스의 집합이다. 인스턴스 시작 시 SGA가 할당되고 백그라운드 프로세스가 기동된다. 전원을 끄면 인스턴스는 사라지지만 데이터베이스(파일)는 남고, 다음 기동 때 새 인스턴스가 다시 연결된다. 클라이언트-서버 관점에서는 사용자 프로세스 ↔ 서버 프로세스 ↔ 인스턴스(SGA) ↔ 데이터베이스(파일) 흐름으로 이해한다. 물리적 통신 경로가 접속(connection), 그 위 논리적 작업 단위가 세션(session)이며, 접속 방식·리스너 구성은 9~12장에서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Oracle 인스턴스 메모리는 SGA와 PGA로 나뉜다. SGA는 인스턴스의 모든 서버·백그라운드 프로세스가 공유하는 영역으로 인스턴스 시작 시 할당되며 데이터베이스 버퍼 캐시, 리두 로그 버퍼, 공유 풀, 라지 풀, 자바 풀로 구성된다. 반복 데이터를 캐시하고 SQL·실행계획을 재사용하도록 저장하는 것이 핵심 역할이다. PGA는 하나의 서버 프로세스가 전용으로 쓰는 영역으로 정렬 공간, 세션 정보, 커서 상태 등을 담는다. 각 접속마다 서버 프로세스가 대응되고 그 프로세스와 PGA가 짝을 이룬다. 사용자 프로세스는 클라이언트 측(SQL*Plus 등), 서버 프로세스는 서버 측이며 Oracle Net 연결로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데이터베이스 버퍼 캐시는 디스크에서 읽은 데이터 블록 복사본을 담아 반복 읽기 시 I/O를 줄인다. 리두 로그 버퍼는 변경 리두 엔트리를 임시로 담았다가 LGWR가 리두 로그 파일로 기록한다. 공유 풀은 파싱된 SQL·실행계획을 담는 라이브러리 캐시와 데이터 딕셔너리 정보를 담는 딕셔너리 캐시로 나뉘어 동일 SQL 재사용(soft parse)을 가능하게 한다. 이 밖에 대용량 할당용 라지 풀, 자바 실행용 자바 풀이 있다. 실제 크기는 V$SGAINFO로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V$SGAINFO는 SGA를 구성하는 각 영역(Database Buffers, Redo Buffers, Shared Pool 등)의 크기와 동적 리사이즈 가능 여부(RES)를 보여 준다. Redo Buffers처럼 리사이즈 불가한 영역도 있다. 이 조회는 실습 1-1에서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저장소도 논리와 물리 두 층으로 이해한다. 물리적으로 데이터베이스는 데이터 파일들의 집합이지만, 논리적으로는 테이블스페이스 → 세그먼트 → 익스텐트 → 데이터 블록의 계층이다. 하나의 테이블스페이스는 하나 이상의 데이터 파일로 이루어지고, 객체는 세그먼트로 저장되며, 세그먼트는 익스텐트들로, 익스텐트는 최소 I/O 단위인 블록들로 이루어진다. 이 계층 덕분에 사용자는 파일 위치를 몰라도 테이블을 다루고, DBA는 논리 구조를 건드리지 않고 물리 파일을 재배치할 수 있다. 상세는 17장에서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프로세스는 메모리 안에서 동작하는 작업으로, 운영체제가 일련의 단계를 실행하게 하는 제어의 흐름이다. 인스턴스가 시작되면 여러 백그라운드 프로세스가 자동 기동된다. DBWn(변경 버퍼를 데이터 파일에 기록), LGWR(리두 버퍼를 리두 로그 파일에 기록), CKPT(체크포인트 갱신), SMON(인스턴스 복구·정리), PMON/PMAN(실패 프로세스·자원 정리) 등이 대표적이다. 상세 종류·역할은 2장에서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백그라운드 프로세스는 세 부류로 이해하면 좋다. 첫째 I/O 관련(DBWn, LGWR)은 데이터를 디스크와 메모리 사이에서 옮긴다. 둘째 정합성·복구(CKPT, SMON, PMON/PMAN). 셋째 관리성·부가기능(MMON 통계·자동작업, ARCn 아카이브, LREG 서비스 등록, RECO 복구 조정). 이들은 명시 호출 없이 인스턴스가 살아 있는 동안 자동 동작하여, 사용자는 데이터 일관성·복구를 직접 신경 쓰지 않아도 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인스턴스 시작 후 소프트웨어는 인스턴스를 특정 데이터베이스와 연관시키는데 이를 '마운트'라 한다. 마운트 후 오픈되면 인가된 사용자가 접근할 수 있다. 세 단계: NOMOUNT는 초기화 파라미터를 읽어 SGA 할당·프로세스 기동만 된 상태(DB 미연결), MOUNT는 제어 파일을 읽어 물리 구조를 인식한 상태(데이터 접근 불가), OPEN은 데이터·리두 로그 파일을 열어 사용자 접근이 가능한 상태다. DB 이름 변경, 아카이브 로그 모드 전환, 제어 파일 복구 등은 MOUNT에서 수행한다. 단계별 시작/종료는 7장에서 실습한다.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V$INSTANCE는 인스턴스의 이름·상태·기동 시각을, V$DATABASE는 데이터베이스의 이름·로그 모드·오픈 모드 등을 보여 준다. STATUS가 OPEN이면 NOMOUNT→MOUNT→OPEN을 모두 거친 정상 사용 상태다. V$DATABASE의 CDB 컬럼이 YES이면 멀티테넌트 컨테이너 데이터베이스이며, 이것이 다음 절의 주제로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1.1절 정리: 3대 구조는 메모리·프로세스·저장소이고, 2대 실체는 인스턴스(메모리+프로세스, 휘발성)와 데이터베이스(저장소, 영구)다. 이 골격 위에 기동/종료, 메모리 튜닝, 저장소 관리, 멀티테넌트 등 이후 모든 관리 주제가 얹힌다.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12c부터 도입된 멀티테넌트 아키텍처는 Oracle 역사상 가장 큰 구조적 변화 중 하나이며, 19c에서 사실상 표준이 되었다. 비-CDB는 12c 시점부터 폐기 예정으로 공지되었고, 19c에서 새 DB를 만들면 기본으로 CDB로 생성된다. 따라서 현대 DBA는 멀티테넌트를 선택이 아닌 필수로 이해해야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멀티테넌트가 표준이 되었다는 것은 DBA의 일상 업무 방식이 바뀌었다는 뜻이다. 과거에는 '데이터베이스=인스턴스' 대응만 알면 되었지만, 이제는 '하나의 CDB 인스턴스 아래 여러 PDB'라는 2계층 구조를 늘 의식해야 한다. 사용자 생성, 권한 부여, 테이블스페이스 관리, 파라미터 설정 등 거의 모든 작업이 '루트 수준인가 특정 PDB 수준인가'의 선택을 동반한다. 이 구조를 정확히 이해하면 21~24장, 17~20장 등 대부분의 관리 장 학습이 수월해진다.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멀티테넌트 이해의 열쇠는 두 용어다. 컨테이너는 멀티테넌트 안에서 데이터/메타데이터의 논리적 집합으로 root, seed, PDB를 아우르는 상위 개념이다. PDB(플러거블 데이터베이스)는 스키마·스키마 객체·비-스키마 객체의 이식 가능한 집합으로, CDB에 꽂았다 뺐다 할 수 있는 독립 애플리케이션 데이터베이스처럼 동작한다.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멀티테넌트 CDB 안에는 여러 종류의 컨테이너가 있다. CDB root(CDB$ROOT) 최상위 컨테이너, System 컨테이너(루트+모든 PDB 통칭), Application 컨테이너(여러 PDB가 공통 데이터·메타데이터 공유), Root PDB(애플리케이션 컨테이너의 루트), 사용자 생성 PDB(일반 애플리케이션 PDB)이다.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멀티테넌트의 본질적 이점은 '공유를 통한 중복 제거'다. 물리 수준에서 CDB도 비-CDB처럼 하나의 인스턴스와 DB 파일을 갖지만, 백그라운드 프로세스·메모리 할당·여러 딕셔너리에 걸친 Oracle 메타데이터의 중복을 회피한다. 하나의 CDB는 하나의 인스턴스, 한 세트의 백그라운드 프로세스, 하나의 SGA, 루트의 하나의 데이터 딕셔너리를 갖는다. 루트 딕셔너리는 모든 PDB에 공통 적용되고, 각 PDB는 별도로 자신의 애플리케이션 딕셔너리를 유지한다. 즉 공통 메타데이터는 루트에 한 번, 고유 객체 정보는 PDB별로 두는 이중 구조로 저장·메모리·관리 부담이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공유 구조의 가장 실무적인 이점은 패치와 업그레이드다. 유지관리 작업은 CDB에 단 한 번만 수행되며 모든 애플리케이션이 동시에 갱신된다. 100개 PDB를 하나의 CDB로 통합하면 소프트웨어 패치를 100번이 아니라 1번으로 100개 전체가 패치된다. 이는 SaaS나 대규모 통합 환경에서 운영 비용을 극적으로 낮추는 요인이다.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라이선스 관점: 하나의 CDB에 단일 PDB만 두는 구성(single-tenant)은 별도 Multitenant 옵션 없이 사용 가능하여 19c에서 비-CDB를 대체하는 기본 형태로 널리 쓰인다. 반면 하나의 CDB에 여러 사용자 PDB를 두어 통합하려면 에디션과 PDB 개수에 따라 Oracle Multitenant 옵션이 필요할 수 있다. '멀티테넌트 아키텍처를 쓴다'는 것과 '여러 PDB를 통합한다'는 것은 라이선스 측면에서 구분되므로 통합 규모 설계 시 반드시 확인해야 한다. 어느 경우든 DB는 CDB로 만들어지므로 멀티테넌트 구조는 필수로 익혀야 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CDB 내부 구조를 구체적으로 본다. CDB는 하나의 루트 컨테이너, 하나의 시드 PDB, 하나 이상의 사용자 생성 PDB로 이루어진다. 사용자/애플리케이션 관점에서 PDB는 논리적으로 별개의 데이터베이스처럼 보인다. 즉 애플리케이션은 독립 DB에 접속했다고 느끼지만 물리적으로는 여러 PDB가 하나의 CDB 인스턴스를 공유한다.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CDB를 구성하는 세 컨테이너. 첫째 루트(CDB$ROOT): Oracle 공급 메타데이터와 공통 사용자를 저장하고 모든 PDB와 공유한다. SYS, SYSTEM 같은 기본 계정이 공통 사용자로 루트에 정의된다. 둘째 시드(PDB$SEED): 시스템 제공 템플릿으로 새 PDB의 복제 원본이며 직접 수정하지 않고 항상 READ ONLY다. 셋째 사용자 생성 PDB: 특정 애플리케이션(예: SALES, HR)의 데이터·코드를 담는다. 사용자·애플리케이션은 이 PDB들과만 상호작용하며, 목표는 각 PDB가 하나의 애플리케이션과 일대일 관계를 갖는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원본 아키텍처 다이어그램은 하나의 CDB 안에서 여러 PDB가 백그라운드 프로세스, 공유 프로세스 메모리(SGA), Oracle 메타데이터, 리두 로그 파일, 제어 파일, 언두 테이블스페이스를 공유함을 보여 준다. 반면 각 PDB는 자신만의 데이터 파일을 갖는다. 저장소는 CDB root 데이터 파일, PDB seed 데이터 파일, SALES/HR 데이터 파일로 구분되고, 그 아래 공유 제어 파일·리두 로그 파일이 위치한다. 핵심은 '프로세스·메모리·리두·제어·언두는 공유, 각 애플리케이션 데이터 파일은 PDB별 분리'다. 19c 기본은 로컬 언두 모드(20장).</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멀티테넌트에서 DBA는 현재 어느 컨테이너에 있는지 늘 의식해야 한다. 각 컨테이너는 CON_ID로 식별되며 CDB$ROOT는 항상 1, PDB$SEED는 2, 사용자 PDB는 3 이상이다. V$PDBS는 동적 성능 뷰로 현재 인스턴스가 인식하는 PDB의 상태(오픈 모드 등)를, CDB_PDBS는 데이터 딕셔너리 뷰로 PDB 구성 정보를 보여 준다. PDB$SEED는 항상 READ ONLY다.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V$PDBS로 CON_ID·이름·오픈 모드를 조회하면 PDB$SEED(2, READ ONLY), SALES(3), HR(4)이 보인다. 시드는 복제 원본이므로 절대 쓰기 모드로 열리지 않는다. CDB_PDBS는 데이터 딕셔너리 뷰로 PDB의 구성 정보를 보여 준다. 이 조회는 실습 1-2에서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특정 PDB로 접속 컨텍스트를 전환할 때는 ALTER SESSION SET CONTAINER를 사용한다. SALES로 전환 후 SHOW CON_NAME은 SALES를 반환하며, CDB$ROOT로 되돌아올 수 있다. 이 컨텍스트 전환은 멀티테넌트 관리의 기본 동작으로 실습 1-2에서 반복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멀티테넌트에서는 사용자도 두 종류다. 공통 사용자는 루트에 정의되어 CDB의 모든 컨테이너(현재·미래 PDB 포함)에서 동일하게 인식된다. SYS, SYSTEM이 대표적이고, 관리자가 만드는 공통 사용자는 이름이 반드시 C## 또는 c## 접두사로 시작해야 한다. 로컬 사용자는 특정 하나의 PDB 안에서만 존재·인식되며, 서로 다른 PDB에 동명의 로컬 사용자가 독립적으로 존재할 수 있다(PDB가 격리된 별개 DB처럼 동작하기 때문). 공통/로컬 사용자와 권한 부여(CONTAINER 절)의 상세는 21~22장에서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애플리케이션 컨테이너는 공통 데이터·메타데이터를 공유하는 여러 PDB를 하나의 애플리케이션 단위로 묶는 선택적 컨테이너다. 자체 루트(애플리케이션 루트, Root PDB)를 가지며, 여기에 애플리케이션 공통 객체(여러 테넌트가 공유하는 마스터 테이블 등)를 두면 그 컨테이너에 속한 모든 애플리케이션 PDB가 공유한다. SaaS 사업자가 다수 고객에게 동일 애플리케이션을 제공할 때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인스턴스와 데이터베이스는 항상 1:1일까? 기본 원칙: 각 인스턴스는 오직 하나의 데이터베이스와만 연관되고, 하나의 인스턴스는 공유될 수 없다. 같은 서버에 여러 DB가 있으면 각 DB마다 별개 인스턴스가 존재한다. 이 원칙 위에서 비클러스터(1:1)와 클러스터(RAC)를 대비한다.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규칙의 실무적 함의: 한 서버에서 여러 DB를 운영하면 각 DB는 자신만의 인스턴스(고유 SGA와 백그라운드 프로세스 집합)를 갖고, 서로 다른 인스턴스는 ORACLE_SID로 구분된다. sqlplus 접속이나 기동/종료 시 어느 인스턴스가 대상인지는 ORACLE_SID로 결정된다. 반대로 멀티테넌트를 도입하면 DB마다 별도 인스턴스를 띄우는 대신 하나의 CDB에 여러 PDB를 넣어 인스턴스 수를 줄일 수 있어, 1.2~1.3절과 이 절의 논의가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인스턴스 구성은 크게 두 형태다. 비클러스터 시스템에서는 각 서버가 자신만의 로컬 스토리지를 갖고, 각 스토리지(D1,D2)에 하나의 인스턴스(I1,I2)가 대응한다. 인스턴스와 데이터베이스가 물리·논리 모두 1:1인 가장 기본적인 단일 인스턴스 구성이다. 클러스터 시스템에서는 여러 서버가 하나의 공유 스토리지(D)를 함께 바라보고, 그 위에 여러 인스턴스(I1,I2,I3)가 동시에 존재하여 동일한 하나의 데이터베이스를 공유한다. 이것이 Oracle RAC 구성이다.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RAC 데이터베이스는 일반적으로 별개의 여러 서버 위에서 하나의 공유 데이터베이스에 대해 여러 인스턴스를 갖는다. 동일 DB가 각 RAC 인스턴스와 연관되므로 '하나의 인스턴스에는 최대 하나의 DB만 연관' 규칙은 유지된다. RAC는 규칙을 깨는 것이 아니라 '데이터베이스 1 : 인스턴스 N' 방향으로 확장한 것이다. 가치는 두 가지: 고가용성(한 노드 장애에도 나머지 노드가 서비스)과 확장성(노드 추가로 수평 확장). 여러 인스턴스는 캐시 퓨전으로 SGA 버퍼를 인터커넥트로 주고받아 하나의 논리 DB를 일관되게 유지한다. 구성에는 공유 스토리지(ASM)와 클러스터웨어(Grid Infrastructure)가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RAC 환경에서 전체 인스턴스를 한꺼번에 조회하려면 GV$ 계열 전역 동적 성능 뷰를 쓴다. V$INSTANCE가 접속한 인스턴스 하나를 보여 준다면, GV$INSTANCE는 클러스터의 모든 인스턴스를 INST_ID 컬럼과 함께 보여 준다. 단일 인스턴스에서는 한 행만 반환된다.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이 장의 마지막 주제는 대규모 확장성·가용성을 위한 데이터베이스 샤딩이다. 원본 코스는 샤딩을 세 문장으로 요약한다: (1) 확장성·가용성을 위한 무공유 아키텍처, (2) 독립 데이터베이스들에 걸쳐 데이터를 수평 분할, (3) 클러스터웨어 없이 느슨하게 결합된 데이터 계층. RAC가 하나의 강력한 공유 DB를 여러 인스턴스로 보강하는 수직에 가까운 확장이라면, 샤딩은 데이터 자체를 여러 독립 DB로 쪼개는 수평 확장이다.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샤딩은 데이터가 여러 독립적인 데이터베이스에 걸쳐 수평 분할되는 데이터 계층 아키텍처다. 각 데이터베이스를 샤드라 부르고, 모든 샤드를 합친 하나의 논리적 데이터베이스를 샤디드 데이터베이스(SDB)라 한다. 원본 다이어그램은 왼쪽에 하나의 DB에 들어 있는 샤딩되지 않은 테이블, 오른쪽에 서버 A·B·C 세 대에 나뉜 샤딩된 테이블을 대비하며 이 셋을 합쳐 하나의 SDB로 본다.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핵심은 수평 분할이다. 수평 분할은 하나의 테이블을 여러 샤드에 나누되 각 샤드가 동일한 컬럼을 가지면서 서로 다른 행의 부분집합을 담도록 하는 것이다. 예: 고객 테이블을 고객ID 범위나 해시로 샤드1은 1~100만, 샤드2는 100만~200만, 샤드3은 200만 이상으로 나눈다. 컬럼 구조(스키마)는 모든 샤드 동일하지만 행 데이터는 겹치지 않고 분산된다. 이는 컬럼 단위로 쪼개는 수직 분할과 대비된다.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샤딩은 무공유 아키텍처다. 샤드들이 CPU·메모리·스토리지를 서로 공유하지 않기 때문이다. RAC는 여러 인스턴스가 하나의 공유 스토리지·DB를 함께 쓰는 공유 아키텍처인 반면, 샤딩은 각 샤드가 독립 자원만 쓰는 무공유다. 또한 샤드들은 느슨하게 결합되어 있고 클러스터웨어를 실행하지 않는다(RAC가 Grid Infrastructure를 필수로 요구하는 것과 정반대). 이 무공유·무클러스터웨어 특성 덕분에 수천 대 규모로 선형 확장할 수 있고, 한 샤드 장애가 다른 샤드에 파급되지 않아 결함 격리가 뛰어나다. DBA 관점에서 SDB는 집합적·개별적 관리 가능한 여러 DB로, 개발자 관점에서는 하나의 단일 DB처럼 투명하게 보인다.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Oracle Sharding은 애플리케이션 투명성과 집합적 관리를 실현하기 위해 핵심 구성요소를 둔다. 샤드 카탈로그는 SDB 전체 구성 정보(샤드 목록, 샤딩 키와 청크 매핑, 중앙 스키마 원본)를 관리하고 교차 샤드 질의를 조정하는 특별한 Oracle DB다. 샤드 디렉터는 각 지역에 배치되는 전역 서비스 관리자(GSM)로 접속 요청을 샤딩 키에 따라 올바른 샤드로 라우팅하고 부하 분산·지역 인식 라우팅을 한다. 샤드는 실제 데이터를 담는 개별 Oracle DB로 독립 백업·복구·패치가 가능하다. 글로벌 서비스는 여러 샤드에 걸친 서비스로 애플리케이션은 이 서비스에 접속한다. 샤딩 방법으로는 해시 기반 시스템 관리형, 범위/리스트 기반 사용자 정의형, 복합 샤딩이 있고, 복제 테이블·테이블 패밀리 개념도 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GDS는 지리적으로 분산되었거나 복제된 여러 DB에 걸쳐 서비스 수준의 로드 밸런싱, 장애 조치, 지역 인식 라우팅을 제공하는 프레임워크다. Oracle Sharding은 이 GDS 인프라를 토대로 동작한다. 샤드 디렉터는 실제로 GDS의 전역 서비스 관리자(GSM)이고, 샤드 카탈로그는 GDS 카탈로그 역할을 겸한다. 따라서 샤딩 배포는 개별 샤드 DB뿐 아니라 GDS 계층(카탈로그·디렉터)을 함께 구성하는 것이다. 이 인프라가 협력하여 애플리케이션은 샤딩 키가 담긴 접속 요청만 보내면 자동으로 올바른 샤드에 연결되고, DBA는 SDB 전체를 하나의 논리 단위로 관리할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샤딩이 특히 적합한 워크로드는 대규모 웹/모바일 OLTP다. 수억 명 사용자의 프로필·활동 데이터를 하나의 DB로 감당하기 어려울 때 사용자ID를 샤딩 키로 삼아 수십~수백 개 샤드로 분산하면 각 샤드 부하가 낮아진다. 이점: 선형 확장성(샤드 추가만큼 용량 선형 증가, 무공유라 경합 없음), 결함 격리(한 샤드 장애가 그 데이터에만 영향), 지역 인식 배치(지연 감소·데이터 주권 충족), 롤링 업그레이드(샤드별 순차 패치로 무중단). 반대로 복잡한 다중 샤드 조인·강한 교차 샤드 트랜잭션이 잦으면 오버헤드가 크므로 샤딩 키와 테이블 패밀리 설계가 성능 관건이며, 도입 전 데이터 모델·접근 패턴 분석이 선행되어야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세 아키텍처 비교 정리: RAC는 하나의 DB를 여러 인스턴스가 공유하여 단일 DB 고가용성·수직에 가까운 확장을 제공한다. 멀티테넌트는 여러 애플리케이션 DB를 하나의 인스턴스로 통합·격리하여 통합·관리 효율을 준다. 샤딩은 데이터를 여러 독립 DB로 수평 분할(무공유)하여 초대규모 OLTP의 선형 확장·결함 격리를 제공한다. 목적이 다르므로 요구사항에 따라 단독 또는 조합해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정답: (a), (c). 해설: 인스턴스는 메모리 구조(SGA)와 백그라운드 프로세스의 집합으로 휘발성이다. 데이터 파일·제어 파일·리두 로그 파일은 디스크에 영구 저장되는 '데이터베이스'의 구성요소다.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정답: (b) MOUNT. 해설: NOMOUNT는 SGA 할당·프로세스 기동만 된 상태, MOUNT는 제어 파일을 읽어 구조를 인식한 상태, OPEN은 데이터 파일·리두 로그를 열어 사용자가 데이터에 접근 가능한 상태다.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정답: (1) PDB$SEED  (2) CDB$ROOT. 해설: PDB$SEED는 항상 READ ONLY로 열리며, CDB$ROOT는 CON_ID=1의 루트 컨테이너다.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정답: (c) 1번. 해설: 유지관리 작업은 CDB에 단 한 번만 수행되며, 그 결과 모든 PDB가 동시에 갱신된다. 이것이 멀티테넌트 통합의 대표적 운영 이점이다.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정답: (b) Oracle Sharding(SDB). 해설: RAC는 공유 스토리지와 클러스터웨어(Grid Infrastructure)를 사용하는 공유 아키텍처인 반면, 샤딩은 샤드 간 CPU·메모리·스토리지를 공유하지 않고 클러스터웨어도 실행하지 않는 무공유 아키텍처다.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정답: (b). 해설: 수평 분할은 스키마(컬럼)는 모든 샤드가 동일하게 유지하고, 행(row)만 겹치지 않게 분산하는 방식이다.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세 학습 목표 성취 정리: (1) 주요 아키텍처 구성요소를 나열할 수 있다 — 메모리(SGA/PGA), 프로세스, 저장소이며 메모리·프로세스가 인스턴스, 저장소가 데이터베이스를 구성하고 NOMOUNT→MOUNT→OPEN으로 사용 가능해진다. (2) 멀티테넌트를 설명할 수 있다 — CDB는 루트·시드·사용자 PDB로 구성, PDB는 이식 가능한 독립 DB처럼 동작하며 프로세스·SGA·공통 메타데이터·리두·제어·언두를 공유해 중복 제거·패치 1회, 12c 도입·19c 표준. (3) 샤딩을 설명할 수 있다 — 데이터를 여러 독립 DB(샤드)에 수평 분할하는 무공유 아키텍처로 합쳐 하나의 SDB, 클러스터웨어 없이 느슨 결합, 애플리케이션에 투명하며 Oracle Sharding은 샤드 카탈로그·디렉터(GSM)·글로벌 서비스로 구현한다. 다음 장(2장)에서는 이 인스턴스를 구성하는 백그라운드 프로세스를 하나씩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Malgun Gothic"/>
              </a:rPr>
              <a:t>이 장의 실습은 관리 작업보다 배운 아키텍처 구성요소를 조회로 확인하는 데 목적이 있다. SQL*Plus로 CDB에 SYSDBA로 접속한 뒤 세 트랜스크립트를 순서대로 수행한다. 실습 1-1은 서버 아키텍처(인스턴스+메모리+프로세스+저장소) 개요 확인, 실습 1-2는 멀티테넌트 CDB 구성요소(root/PDB$SEED/PDB) 확인 및 컨텍스트 전환, 실습 1-3은 샤딩 개념 확인과 RAC/멀티테넌트/샤딩 비교다. 상세 트랜스크립트는 별도 실습 자료에서 제공한다.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nchor="t" lIns="45720" rIns="45720" tIns="18288" bIns="18288">
            <a:spAutoFit/>
          </a:bodyPr>
          <a:lstStyle/>
          <a:p>
            <a:r>
              <a:rPr sz="1800" b="1">
                <a:solidFill>
                  <a:srgbClr val="C0392B"/>
                </a:solidFill>
                <a:latin typeface="Malgun Gothic"/>
              </a:rPr>
              <a:t>Oracle Database 19c Administration Workshop  ·  제1장</a:t>
            </a:r>
          </a:p>
        </p:txBody>
      </p:sp>
      <p:sp>
        <p:nvSpPr>
          <p:cNvPr id="4" name="TextBox 3"/>
          <p:cNvSpPr txBox="1"/>
          <p:nvPr/>
        </p:nvSpPr>
        <p:spPr>
          <a:xfrm>
            <a:off x="1188720" y="2194560"/>
            <a:ext cx="10332720" cy="2011680"/>
          </a:xfrm>
          <a:prstGeom prst="rect">
            <a:avLst/>
          </a:prstGeom>
          <a:noFill/>
        </p:spPr>
        <p:txBody>
          <a:bodyPr wrap="square" anchor="t" lIns="45720" rIns="45720" tIns="18288" bIns="18288">
            <a:spAutoFit/>
          </a:bodyPr>
          <a:lstStyle/>
          <a:p>
            <a:r>
              <a:rPr sz="4400" b="1">
                <a:solidFill>
                  <a:srgbClr val="FFFFFF"/>
                </a:solidFill>
                <a:latin typeface="Malgun Gothic"/>
              </a:rPr>
              <a:t>Oracle 데이터베이스 소개</a:t>
            </a:r>
          </a:p>
        </p:txBody>
      </p:sp>
      <p:sp>
        <p:nvSpPr>
          <p:cNvPr id="5" name="TextBox 4"/>
          <p:cNvSpPr txBox="1"/>
          <p:nvPr/>
        </p:nvSpPr>
        <p:spPr>
          <a:xfrm>
            <a:off x="1188720" y="4297680"/>
            <a:ext cx="10058400" cy="1097280"/>
          </a:xfrm>
          <a:prstGeom prst="rect">
            <a:avLst/>
          </a:prstGeom>
          <a:noFill/>
        </p:spPr>
        <p:txBody>
          <a:bodyPr wrap="square" anchor="t" lIns="45720" rIns="45720" tIns="18288" bIns="18288">
            <a:spAutoFit/>
          </a:bodyPr>
          <a:lstStyle/>
          <a:p>
            <a:r>
              <a:rPr sz="1800" b="0">
                <a:solidFill>
                  <a:srgbClr val="C5CED6"/>
                </a:solidFill>
                <a:latin typeface="Malgun Gothic"/>
              </a:rPr>
              <a:t>서버 아키텍처 · 멀티테넌트(CDB/PDB) · 인스턴스 구성(RAC) · 데이터베이스 샤딩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이 장을 마치면 다음을 수행할 수 있어야 한다.</a:t>
            </a:r>
          </a:p>
          <a:p>
            <a:pPr>
              <a:lnSpc>
                <a:spcPct val="105000"/>
              </a:lnSpc>
              <a:spcAft>
                <a:spcPts val="1000"/>
              </a:spcAft>
            </a:pPr>
            <a:r>
              <a:rPr sz="1600" b="0">
                <a:solidFill>
                  <a:srgbClr val="5A6672"/>
                </a:solidFill>
                <a:latin typeface="Malgun Gothic"/>
              </a:rPr>
              <a:t>    –  Oracle 데이터베이스의 주요 아키텍처 구성요소를 나열한다</a:t>
            </a:r>
          </a:p>
          <a:p>
            <a:pPr>
              <a:lnSpc>
                <a:spcPct val="105000"/>
              </a:lnSpc>
              <a:spcAft>
                <a:spcPts val="1000"/>
              </a:spcAft>
            </a:pPr>
            <a:r>
              <a:rPr sz="1600" b="0">
                <a:solidFill>
                  <a:srgbClr val="5A6672"/>
                </a:solidFill>
                <a:latin typeface="Malgun Gothic"/>
              </a:rPr>
              <a:t>    –  멀티테넌트(Multitenant) 아키텍처를 설명한다</a:t>
            </a:r>
          </a:p>
          <a:p>
            <a:pPr>
              <a:lnSpc>
                <a:spcPct val="105000"/>
              </a:lnSpc>
              <a:spcAft>
                <a:spcPts val="1000"/>
              </a:spcAft>
            </a:pPr>
            <a:r>
              <a:rPr sz="1600" b="0">
                <a:solidFill>
                  <a:srgbClr val="5A6672"/>
                </a:solidFill>
                <a:latin typeface="Malgun Gothic"/>
              </a:rPr>
              <a:t>    –  데이터베이스 샤딩(Database Sharding)을 설명한다</a:t>
            </a:r>
          </a:p>
          <a:p>
            <a:pPr>
              <a:lnSpc>
                <a:spcPct val="105000"/>
              </a:lnSpc>
              <a:spcAft>
                <a:spcPts val="1000"/>
              </a:spcAft>
            </a:pPr>
            <a:r>
              <a:rPr sz="1800" b="0">
                <a:solidFill>
                  <a:srgbClr val="202830"/>
                </a:solidFill>
                <a:latin typeface="Malgun Gothic"/>
              </a:rPr>
              <a:t>•  이 세 가지 목표는 각각 1.1(아키텍처 개요), 1.2~1.3(멀티테넌트), 1.5(샤딩)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1.1  Oracle 데이터베이스 서버 아키텍처: 개요</a:t>
            </a:r>
          </a:p>
          <a:p>
            <a:pPr>
              <a:lnSpc>
                <a:spcPct val="105000"/>
              </a:lnSpc>
              <a:spcAft>
                <a:spcPts val="1000"/>
              </a:spcAft>
            </a:pPr>
            <a:r>
              <a:rPr sz="1800" b="0">
                <a:solidFill>
                  <a:srgbClr val="202830"/>
                </a:solidFill>
                <a:latin typeface="Malgun Gothic"/>
              </a:rPr>
              <a:t>•  1.2  Oracle 멀티테넌트 컨테이너 데이터베이스: 소개</a:t>
            </a:r>
          </a:p>
          <a:p>
            <a:pPr>
              <a:lnSpc>
                <a:spcPct val="105000"/>
              </a:lnSpc>
              <a:spcAft>
                <a:spcPts val="1000"/>
              </a:spcAft>
            </a:pPr>
            <a:r>
              <a:rPr sz="1800" b="0">
                <a:solidFill>
                  <a:srgbClr val="202830"/>
                </a:solidFill>
                <a:latin typeface="Malgun Gothic"/>
              </a:rPr>
              <a:t>•  1.3  Oracle 멀티테넌트 컨테이너 데이터베이스: 아키텍처</a:t>
            </a:r>
          </a:p>
          <a:p>
            <a:pPr>
              <a:lnSpc>
                <a:spcPct val="105000"/>
              </a:lnSpc>
              <a:spcAft>
                <a:spcPts val="1000"/>
              </a:spcAft>
            </a:pPr>
            <a:r>
              <a:rPr sz="1800" b="0">
                <a:solidFill>
                  <a:srgbClr val="202830"/>
                </a:solidFill>
                <a:latin typeface="Malgun Gothic"/>
              </a:rPr>
              <a:t>•  1.4  Oracle 데이터베이스 인스턴스 구성 (비클러스터 / RAC)</a:t>
            </a:r>
          </a:p>
          <a:p>
            <a:pPr>
              <a:lnSpc>
                <a:spcPct val="105000"/>
              </a:lnSpc>
              <a:spcAft>
                <a:spcPts val="1000"/>
              </a:spcAft>
            </a:pPr>
            <a:r>
              <a:rPr sz="1800" b="0">
                <a:solidFill>
                  <a:srgbClr val="202830"/>
                </a:solidFill>
                <a:latin typeface="Malgun Gothic"/>
              </a:rPr>
              <a:t>•  1.5  데이터베이스 샤딩(Database Sharding)</a:t>
            </a:r>
          </a:p>
          <a:p>
            <a:pPr>
              <a:lnSpc>
                <a:spcPct val="105000"/>
              </a:lnSpc>
              <a:spcAft>
                <a:spcPts val="1000"/>
              </a:spcAft>
            </a:pPr>
            <a:r>
              <a:rPr sz="1800" b="0">
                <a:solidFill>
                  <a:srgbClr val="202830"/>
                </a:solidFill>
                <a:latin typeface="Malgun Gothic"/>
              </a:rPr>
              <a:t>•  1.6 퀴즈 · 1.7 요약 · 1.8 실습 1 개요</a:t>
            </a:r>
          </a:p>
        </p:txBody>
      </p:sp>
      <p:sp>
        <p:nvSpPr>
          <p:cNvPr id="5" name="Rectangle 4"/>
          <p:cNvSpPr/>
          <p:nvPr/>
        </p:nvSpPr>
        <p:spPr>
          <a:xfrm>
            <a:off x="640080" y="5623560"/>
            <a:ext cx="10908792" cy="960120"/>
          </a:xfrm>
          <a:prstGeom prst="rect">
            <a:avLst/>
          </a:prstGeom>
          <a:solidFill>
            <a:srgbClr val="F2F4F6"/>
          </a:solidFill>
          <a:ln w="12700">
            <a:solidFill>
              <a:srgbClr val="B88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B88600"/>
                </a:solidFill>
                <a:latin typeface="Malgun Gothic"/>
              </a:rPr>
              <a:t>참고:</a:t>
            </a:r>
          </a:p>
          <a:p>
            <a:r>
              <a:rPr sz="1250" b="0">
                <a:solidFill>
                  <a:srgbClr val="202830"/>
                </a:solidFill>
                <a:latin typeface="Malgun Gothic"/>
              </a:rPr>
              <a:t>이 장은 '개념 조망(overview)' 장이다. 아키텍처의 지도를 그리는 데 집중하고, 각 구성요소의 상세 관리 방법은 후속 장에서 다룬다. 등장하는 SQL은 대부분 구조를 확인하는 조회(SELECT) 위주다.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lIns="45720" rIns="45720" tIns="18288" bIns="18288">
            <a:spAutoFit/>
          </a:bodyPr>
          <a:lstStyle/>
          <a:p>
            <a:r>
              <a:rPr sz="6600" b="1">
                <a:solidFill>
                  <a:srgbClr val="C0392B"/>
                </a:solidFill>
                <a:latin typeface="Malgun Gothic"/>
              </a:rPr>
              <a:t>1.1</a:t>
            </a:r>
          </a:p>
        </p:txBody>
      </p:sp>
      <p:sp>
        <p:nvSpPr>
          <p:cNvPr id="3" name="TextBox 2"/>
          <p:cNvSpPr txBox="1"/>
          <p:nvPr/>
        </p:nvSpPr>
        <p:spPr>
          <a:xfrm>
            <a:off x="822960" y="2743200"/>
            <a:ext cx="10515600" cy="1097280"/>
          </a:xfrm>
          <a:prstGeom prst="rect">
            <a:avLst/>
          </a:prstGeom>
          <a:noFill/>
        </p:spPr>
        <p:txBody>
          <a:bodyPr wrap="square" anchor="t" lIns="45720" rIns="45720" tIns="18288" bIns="18288">
            <a:spAutoFit/>
          </a:bodyPr>
          <a:lstStyle/>
          <a:p>
            <a:r>
              <a:rPr sz="3400" b="1">
                <a:solidFill>
                  <a:srgbClr val="FFFFFF"/>
                </a:solidFill>
                <a:latin typeface="Malgun Gothic"/>
              </a:rPr>
              <a:t>Oracle 데이터베이스 서버 아키텍처: 개요</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nchor="t" lIns="45720" rIns="45720" tIns="18288" bIns="18288">
            <a:spAutoFit/>
          </a:bodyPr>
          <a:lstStyle/>
          <a:p>
            <a:pPr>
              <a:spcAft>
                <a:spcPts val="600"/>
              </a:spcAft>
            </a:pPr>
            <a:r>
              <a:rPr sz="1600" b="0">
                <a:solidFill>
                  <a:srgbClr val="C5CED6"/>
                </a:solidFill>
                <a:latin typeface="Malgun Gothic"/>
              </a:rPr>
              <a:t>•  3대 구조: 메모리(Memory) · 프로세스(Process) · 저장소(Storage)</a:t>
            </a:r>
          </a:p>
          <a:p>
            <a:pPr>
              <a:spcAft>
                <a:spcPts val="600"/>
              </a:spcAft>
            </a:pPr>
            <a:r>
              <a:rPr sz="1600" b="0">
                <a:solidFill>
                  <a:srgbClr val="C5CED6"/>
                </a:solidFill>
                <a:latin typeface="Malgun Gothic"/>
              </a:rPr>
              <a:t>•  2대 실체: 인스턴스(휘발성) · 데이터베이스(영구)</a:t>
            </a:r>
          </a:p>
          <a:p>
            <a:pPr>
              <a:spcAft>
                <a:spcPts val="600"/>
              </a:spcAft>
            </a:pPr>
            <a:r>
              <a:rPr sz="1600" b="0">
                <a:solidFill>
                  <a:srgbClr val="C5CED6"/>
                </a:solidFill>
                <a:latin typeface="Malgun Gothic"/>
              </a:rPr>
              <a:t>•  DBA 실무의 출발점 = 인스턴스와 데이터베이스의 구분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데이터베이스와 인스턴스의 구분</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데이터베이스: 디스크에 영구 저장되는 물리적·논리적 구조의 집합</a:t>
            </a:r>
          </a:p>
          <a:p>
            <a:pPr>
              <a:lnSpc>
                <a:spcPct val="105000"/>
              </a:lnSpc>
              <a:spcAft>
                <a:spcPts val="1000"/>
              </a:spcAft>
            </a:pPr>
            <a:r>
              <a:rPr sz="1600" b="0">
                <a:solidFill>
                  <a:srgbClr val="5A6672"/>
                </a:solidFill>
                <a:latin typeface="Malgun Gothic"/>
              </a:rPr>
              <a:t>    –  데이터 파일 · 리두 로그 파일 · 제어 파일</a:t>
            </a:r>
          </a:p>
          <a:p>
            <a:pPr>
              <a:lnSpc>
                <a:spcPct val="105000"/>
              </a:lnSpc>
              <a:spcAft>
                <a:spcPts val="1000"/>
              </a:spcAft>
            </a:pPr>
            <a:r>
              <a:rPr sz="1600" b="0">
                <a:solidFill>
                  <a:srgbClr val="5A6672"/>
                </a:solidFill>
                <a:latin typeface="Malgun Gothic"/>
              </a:rPr>
              <a:t>    –  물리 구조와 논리 구조가 '분리'되어 있어 물리 재배치가 논리 접근에 무영향</a:t>
            </a:r>
          </a:p>
          <a:p>
            <a:pPr>
              <a:lnSpc>
                <a:spcPct val="105000"/>
              </a:lnSpc>
              <a:spcAft>
                <a:spcPts val="1000"/>
              </a:spcAft>
            </a:pPr>
            <a:r>
              <a:rPr sz="1800" b="0">
                <a:solidFill>
                  <a:srgbClr val="202830"/>
                </a:solidFill>
                <a:latin typeface="Malgun Gothic"/>
              </a:rPr>
              <a:t>•  인스턴스: 메모리(SGA)와 백그라운드 프로세스의 집합 (휘발성)</a:t>
            </a:r>
          </a:p>
          <a:p>
            <a:pPr>
              <a:lnSpc>
                <a:spcPct val="105000"/>
              </a:lnSpc>
              <a:spcAft>
                <a:spcPts val="1000"/>
              </a:spcAft>
            </a:pPr>
            <a:r>
              <a:rPr sz="1600" b="0">
                <a:solidFill>
                  <a:srgbClr val="5A6672"/>
                </a:solidFill>
                <a:latin typeface="Malgun Gothic"/>
              </a:rPr>
              <a:t>    –  전원을 끄면 사라지고, 다음 기동 때 새 인스턴스가 같은 DB에 연결</a:t>
            </a:r>
          </a:p>
          <a:p>
            <a:pPr>
              <a:lnSpc>
                <a:spcPct val="105000"/>
              </a:lnSpc>
              <a:spcAft>
                <a:spcPts val="1000"/>
              </a:spcAft>
            </a:pPr>
            <a:r>
              <a:rPr sz="1800" b="0">
                <a:solidFill>
                  <a:srgbClr val="202830"/>
                </a:solidFill>
                <a:latin typeface="Malgun Gothic"/>
              </a:rPr>
              <a:t>•  흐름: 사용자 프로세스 ↔ 서버 프로세스 ↔ 인스턴스(SGA) ↔ 데이터베이스(파일)</a:t>
            </a:r>
          </a:p>
        </p:txBody>
      </p:sp>
      <p:sp>
        <p:nvSpPr>
          <p:cNvPr id="5" name="Rectangle 4"/>
          <p:cNvSpPr/>
          <p:nvPr/>
        </p:nvSpPr>
        <p:spPr>
          <a:xfrm>
            <a:off x="640080" y="5623560"/>
            <a:ext cx="10908792" cy="960120"/>
          </a:xfrm>
          <a:prstGeom prst="rect">
            <a:avLst/>
          </a:prstGeom>
          <a:solidFill>
            <a:srgbClr val="F2F4F6"/>
          </a:solidFill>
          <a:ln w="12700">
            <a:solidFill>
              <a:srgbClr val="B88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B88600"/>
                </a:solidFill>
                <a:latin typeface="Malgun Gothic"/>
              </a:rPr>
              <a:t>참고:</a:t>
            </a:r>
          </a:p>
          <a:p>
            <a:r>
              <a:rPr sz="1250" b="0">
                <a:solidFill>
                  <a:srgbClr val="202830"/>
                </a:solidFill>
                <a:latin typeface="Malgun Gothic"/>
              </a:rPr>
              <a:t>database = 디스크의 파일 집합(전원 꺼도 남음). instance = 메모리와 백그라운드 프로세스(종료 시 사라짐). startup 시 인스턴스가 먼저 기동되고 DB를 mount→open 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메모리 구조: SGA와 PGA</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SGA(System Global Area): 모든 서버·백그라운드 프로세스가 '공유'하는 메모리</a:t>
            </a:r>
          </a:p>
          <a:p>
            <a:pPr>
              <a:lnSpc>
                <a:spcPct val="105000"/>
              </a:lnSpc>
              <a:spcAft>
                <a:spcPts val="1000"/>
              </a:spcAft>
            </a:pPr>
            <a:r>
              <a:rPr sz="1600" b="0">
                <a:solidFill>
                  <a:srgbClr val="5A6672"/>
                </a:solidFill>
                <a:latin typeface="Malgun Gothic"/>
              </a:rPr>
              <a:t>    –  데이터베이스 버퍼 캐시 · 리두 로그 버퍼 · 공유 풀 · 라지 풀 · 자바 풀</a:t>
            </a:r>
          </a:p>
          <a:p>
            <a:pPr>
              <a:lnSpc>
                <a:spcPct val="105000"/>
              </a:lnSpc>
              <a:spcAft>
                <a:spcPts val="1000"/>
              </a:spcAft>
            </a:pPr>
            <a:r>
              <a:rPr sz="1600" b="0">
                <a:solidFill>
                  <a:srgbClr val="5A6672"/>
                </a:solidFill>
                <a:latin typeface="Malgun Gothic"/>
              </a:rPr>
              <a:t>    –  데이터/실행계획을 캐시하여 디스크 I/O와 재파싱을 줄임</a:t>
            </a:r>
          </a:p>
          <a:p>
            <a:pPr>
              <a:lnSpc>
                <a:spcPct val="105000"/>
              </a:lnSpc>
              <a:spcAft>
                <a:spcPts val="1000"/>
              </a:spcAft>
            </a:pPr>
            <a:r>
              <a:rPr sz="1800" b="0">
                <a:solidFill>
                  <a:srgbClr val="202830"/>
                </a:solidFill>
                <a:latin typeface="Malgun Gothic"/>
              </a:rPr>
              <a:t>•  PGA(Program Global Area): 하나의 서버 프로세스가 '전용'으로 쓰는 메모리</a:t>
            </a:r>
          </a:p>
          <a:p>
            <a:pPr>
              <a:lnSpc>
                <a:spcPct val="105000"/>
              </a:lnSpc>
              <a:spcAft>
                <a:spcPts val="1000"/>
              </a:spcAft>
            </a:pPr>
            <a:r>
              <a:rPr sz="1600" b="0">
                <a:solidFill>
                  <a:srgbClr val="5A6672"/>
                </a:solidFill>
                <a:latin typeface="Malgun Gothic"/>
              </a:rPr>
              <a:t>    –  정렬 공간 · 세션 정보 · 커서 상태 등, 접속마다 서버 프로세스와 짝을 이룸</a:t>
            </a:r>
          </a:p>
          <a:p>
            <a:pPr>
              <a:lnSpc>
                <a:spcPct val="105000"/>
              </a:lnSpc>
              <a:spcAft>
                <a:spcPts val="1000"/>
              </a:spcAft>
            </a:pPr>
            <a:r>
              <a:rPr sz="1800" b="0">
                <a:solidFill>
                  <a:srgbClr val="202830"/>
                </a:solidFill>
                <a:latin typeface="Malgun Gothic"/>
              </a:rPr>
              <a:t>•  메모리 상세·튜닝은 3장에서 다룸 · 크기는 V$SGAINFO로 확인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SGA 하위 구성요소</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데이터베이스 버퍼 캐시: 디스크 데이터 블록 복사본 → 반복 읽기 시 I/O 감소</a:t>
            </a:r>
          </a:p>
          <a:p>
            <a:pPr>
              <a:lnSpc>
                <a:spcPct val="105000"/>
              </a:lnSpc>
              <a:spcAft>
                <a:spcPts val="1000"/>
              </a:spcAft>
            </a:pPr>
            <a:r>
              <a:rPr sz="1800" b="0">
                <a:solidFill>
                  <a:srgbClr val="202830"/>
                </a:solidFill>
                <a:latin typeface="Malgun Gothic"/>
              </a:rPr>
              <a:t>•  리두 로그 버퍼: 변경 리두 엔트리를 임시 보관 → LGWR가 리두 로그 파일에 기록</a:t>
            </a:r>
          </a:p>
          <a:p>
            <a:pPr>
              <a:lnSpc>
                <a:spcPct val="105000"/>
              </a:lnSpc>
              <a:spcAft>
                <a:spcPts val="1000"/>
              </a:spcAft>
            </a:pPr>
            <a:r>
              <a:rPr sz="1800" b="0">
                <a:solidFill>
                  <a:srgbClr val="202830"/>
                </a:solidFill>
                <a:latin typeface="Malgun Gothic"/>
              </a:rPr>
              <a:t>•  공유 풀: 라이브러리 캐시(파싱된 SQL·실행계획) + 딕셔너리 캐시 → soft parse 가능</a:t>
            </a:r>
          </a:p>
          <a:p>
            <a:pPr>
              <a:lnSpc>
                <a:spcPct val="105000"/>
              </a:lnSpc>
              <a:spcAft>
                <a:spcPts val="1000"/>
              </a:spcAft>
            </a:pPr>
            <a:r>
              <a:rPr sz="1800" b="0">
                <a:solidFill>
                  <a:srgbClr val="202830"/>
                </a:solidFill>
                <a:latin typeface="Malgun Gothic"/>
              </a:rPr>
              <a:t>•  라지 풀: 대용량 메모리 할당용</a:t>
            </a:r>
          </a:p>
          <a:p>
            <a:pPr>
              <a:lnSpc>
                <a:spcPct val="105000"/>
              </a:lnSpc>
              <a:spcAft>
                <a:spcPts val="1000"/>
              </a:spcAft>
            </a:pPr>
            <a:r>
              <a:rPr sz="1800" b="0">
                <a:solidFill>
                  <a:srgbClr val="202830"/>
                </a:solidFill>
                <a:latin typeface="Malgun Gothic"/>
              </a:rPr>
              <a:t>•  자바 풀: 자바 실행용</a:t>
            </a:r>
          </a:p>
          <a:p>
            <a:pPr>
              <a:lnSpc>
                <a:spcPct val="105000"/>
              </a:lnSpc>
              <a:spcAft>
                <a:spcPts val="1000"/>
              </a:spcAft>
            </a:pPr>
            <a:r>
              <a:rPr sz="1800" b="0">
                <a:solidFill>
                  <a:srgbClr val="202830"/>
                </a:solidFill>
                <a:latin typeface="Malgun Gothic"/>
              </a:rPr>
              <a:t>•  각 구성요소 실제 크기는 V$SGAINFO 뷰로 확인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SGA 구성요소별 크기 확인</a:t>
            </a:r>
          </a:p>
        </p:txBody>
      </p:sp>
      <p:sp>
        <p:nvSpPr>
          <p:cNvPr id="4" name="TextBox 3"/>
          <p:cNvSpPr txBox="1"/>
          <p:nvPr/>
        </p:nvSpPr>
        <p:spPr>
          <a:xfrm>
            <a:off x="640080" y="1188720"/>
            <a:ext cx="10881360" cy="457200"/>
          </a:xfrm>
          <a:prstGeom prst="rect">
            <a:avLst/>
          </a:prstGeom>
          <a:noFill/>
        </p:spPr>
        <p:txBody>
          <a:bodyPr wrap="square" anchor="t" lIns="45720" rIns="45720" tIns="18288" bIns="18288">
            <a:spAutoFit/>
          </a:bodyPr>
          <a:lstStyle/>
          <a:p>
            <a:r>
              <a:rPr sz="1500" b="0">
                <a:solidFill>
                  <a:srgbClr val="5A6672"/>
                </a:solidFill>
                <a:latin typeface="Malgun Gothic"/>
              </a:rPr>
              <a:t>V$SGAINFO — SGA 각 구성요소의 크기와 리사이즈 가능 여부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chor="t" lIns="45720" rIns="45720" tIns="18288" bIns="18288">
            <a:spAutoFit/>
          </a:bodyPr>
          <a:lstStyle/>
          <a:p>
            <a:pPr>
              <a:lnSpc>
                <a:spcPct val="100000"/>
              </a:lnSpc>
            </a:pPr>
            <a:r>
              <a:rPr sz="1250" b="0">
                <a:solidFill>
                  <a:srgbClr val="7EC699"/>
                </a:solidFill>
                <a:latin typeface="Consolas"/>
              </a:rPr>
              <a:t>-- SGA 구성요소별 크기 확인</a:t>
            </a:r>
          </a:p>
          <a:p>
            <a:pPr>
              <a:lnSpc>
                <a:spcPct val="100000"/>
              </a:lnSpc>
            </a:pPr>
            <a:r>
              <a:rPr sz="1250" b="0">
                <a:solidFill>
                  <a:srgbClr val="E6E6E6"/>
                </a:solidFill>
                <a:latin typeface="Consolas"/>
              </a:rPr>
              <a:t>SQL&gt; SELECT name, ROUND(bytes/1024/1024, 1) AS mb, resizeable</a:t>
            </a:r>
          </a:p>
          <a:p>
            <a:pPr>
              <a:lnSpc>
                <a:spcPct val="100000"/>
              </a:lnSpc>
            </a:pPr>
            <a:r>
              <a:rPr sz="1250" b="0">
                <a:solidFill>
                  <a:srgbClr val="E6E6E6"/>
                </a:solidFill>
                <a:latin typeface="Consolas"/>
              </a:rPr>
              <a:t>  2  FROM   v$sgainfo</a:t>
            </a:r>
          </a:p>
          <a:p>
            <a:pPr>
              <a:lnSpc>
                <a:spcPct val="100000"/>
              </a:lnSpc>
            </a:pPr>
            <a:r>
              <a:rPr sz="1250" b="0">
                <a:solidFill>
                  <a:srgbClr val="E6E6E6"/>
                </a:solidFill>
                <a:latin typeface="Consolas"/>
              </a:rPr>
              <a:t>  3  ORDER  BY name;</a:t>
            </a:r>
          </a:p>
          <a:p>
            <a:pPr>
              <a:lnSpc>
                <a:spcPct val="100000"/>
              </a:lnSpc>
            </a:pPr>
            <a:r>
              <a:rPr sz="1250" b="0">
                <a:solidFill>
                  <a:srgbClr val="E6E6E6"/>
                </a:solidFill>
                <a:latin typeface="Consolas"/>
              </a:rPr>
              <a:t> </a:t>
            </a:r>
          </a:p>
          <a:p>
            <a:pPr>
              <a:lnSpc>
                <a:spcPct val="100000"/>
              </a:lnSpc>
            </a:pPr>
            <a:r>
              <a:rPr sz="1250" b="0">
                <a:solidFill>
                  <a:srgbClr val="E6E6E6"/>
                </a:solidFill>
                <a:latin typeface="Consolas"/>
              </a:rPr>
              <a:t>NAME                             MB   RES</a:t>
            </a:r>
          </a:p>
          <a:p>
            <a:pPr>
              <a:lnSpc>
                <a:spcPct val="100000"/>
              </a:lnSpc>
            </a:pPr>
            <a:r>
              <a:rPr sz="1250" b="0">
                <a:solidFill>
                  <a:srgbClr val="7EC699"/>
                </a:solidFill>
                <a:latin typeface="Consolas"/>
              </a:rPr>
              <a:t>-------------------------------- ---- ---</a:t>
            </a:r>
          </a:p>
          <a:p>
            <a:pPr>
              <a:lnSpc>
                <a:spcPct val="100000"/>
              </a:lnSpc>
            </a:pPr>
            <a:r>
              <a:rPr sz="1250" b="0">
                <a:solidFill>
                  <a:srgbClr val="E6E6E6"/>
                </a:solidFill>
                <a:latin typeface="Consolas"/>
              </a:rPr>
              <a:t>Database Buffers                 512  Yes</a:t>
            </a:r>
          </a:p>
          <a:p>
            <a:pPr>
              <a:lnSpc>
                <a:spcPct val="100000"/>
              </a:lnSpc>
            </a:pPr>
            <a:r>
              <a:rPr sz="1250" b="0">
                <a:solidFill>
                  <a:srgbClr val="E6E6E6"/>
                </a:solidFill>
                <a:latin typeface="Consolas"/>
              </a:rPr>
              <a:t>Redo Buffers                       8  No</a:t>
            </a:r>
          </a:p>
          <a:p>
            <a:pPr>
              <a:lnSpc>
                <a:spcPct val="100000"/>
              </a:lnSpc>
            </a:pPr>
            <a:r>
              <a:rPr sz="1250" b="0">
                <a:solidFill>
                  <a:srgbClr val="E6E6E6"/>
                </a:solidFill>
                <a:latin typeface="Consolas"/>
              </a:rPr>
              <a:t>Shared Pool Size                 256  Yes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저장소 구조 (논리 vs 물리)</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물리: 데이터베이스 = 데이터 파일(data file)들의 집합</a:t>
            </a:r>
          </a:p>
          <a:p>
            <a:pPr>
              <a:lnSpc>
                <a:spcPct val="105000"/>
              </a:lnSpc>
              <a:spcAft>
                <a:spcPts val="1000"/>
              </a:spcAft>
            </a:pPr>
            <a:r>
              <a:rPr sz="1800" b="0">
                <a:solidFill>
                  <a:srgbClr val="202830"/>
                </a:solidFill>
                <a:latin typeface="Malgun Gothic"/>
              </a:rPr>
              <a:t>•  논리: 테이블스페이스 → 세그먼트 → 익스텐트 → 데이터 블록의 계층</a:t>
            </a:r>
          </a:p>
          <a:p>
            <a:pPr>
              <a:lnSpc>
                <a:spcPct val="105000"/>
              </a:lnSpc>
              <a:spcAft>
                <a:spcPts val="1000"/>
              </a:spcAft>
            </a:pPr>
            <a:r>
              <a:rPr sz="1600" b="0">
                <a:solidFill>
                  <a:srgbClr val="5A6672"/>
                </a:solidFill>
                <a:latin typeface="Malgun Gothic"/>
              </a:rPr>
              <a:t>    –  하나의 테이블스페이스 = 하나 이상의 데이터 파일</a:t>
            </a:r>
          </a:p>
          <a:p>
            <a:pPr>
              <a:lnSpc>
                <a:spcPct val="105000"/>
              </a:lnSpc>
              <a:spcAft>
                <a:spcPts val="1000"/>
              </a:spcAft>
            </a:pPr>
            <a:r>
              <a:rPr sz="1600" b="0">
                <a:solidFill>
                  <a:srgbClr val="5A6672"/>
                </a:solidFill>
                <a:latin typeface="Malgun Gothic"/>
              </a:rPr>
              <a:t>    –  테이블·인덱스 = 세그먼트, 연속 블록 묶음 = 익스텐트, 최소 I/O 단위 = 블록</a:t>
            </a:r>
          </a:p>
          <a:p>
            <a:pPr>
              <a:lnSpc>
                <a:spcPct val="105000"/>
              </a:lnSpc>
              <a:spcAft>
                <a:spcPts val="1000"/>
              </a:spcAft>
            </a:pPr>
            <a:r>
              <a:rPr sz="1800" b="0">
                <a:solidFill>
                  <a:srgbClr val="202830"/>
                </a:solidFill>
                <a:latin typeface="Malgun Gothic"/>
              </a:rPr>
              <a:t>•  논리 계층 덕분에 사용자는 파일 위치를 몰라도 되고 DBA는 물리 재배치 자유</a:t>
            </a:r>
          </a:p>
          <a:p>
            <a:pPr>
              <a:lnSpc>
                <a:spcPct val="105000"/>
              </a:lnSpc>
              <a:spcAft>
                <a:spcPts val="1000"/>
              </a:spcAft>
            </a:pPr>
            <a:r>
              <a:rPr sz="1800" b="0">
                <a:solidFill>
                  <a:srgbClr val="202830"/>
                </a:solidFill>
                <a:latin typeface="Malgun Gothic"/>
              </a:rPr>
              <a:t>•  저장소 상세는 17장에서 다룸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프로세스 구조</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프로세스 = 메모리 안에서 동작하는 '작업', 제어의 흐름(thread of control)</a:t>
            </a:r>
          </a:p>
          <a:p>
            <a:pPr>
              <a:lnSpc>
                <a:spcPct val="105000"/>
              </a:lnSpc>
              <a:spcAft>
                <a:spcPts val="1000"/>
              </a:spcAft>
            </a:pPr>
            <a:r>
              <a:rPr sz="1800" b="0">
                <a:solidFill>
                  <a:srgbClr val="202830"/>
                </a:solidFill>
                <a:latin typeface="Malgun Gothic"/>
              </a:rPr>
              <a:t>•  인스턴스 시작 시 여러 백그라운드 프로세스가 자동 기동</a:t>
            </a:r>
          </a:p>
          <a:p>
            <a:pPr>
              <a:lnSpc>
                <a:spcPct val="105000"/>
              </a:lnSpc>
              <a:spcAft>
                <a:spcPts val="1000"/>
              </a:spcAft>
            </a:pPr>
            <a:r>
              <a:rPr sz="1600" b="0">
                <a:solidFill>
                  <a:srgbClr val="5A6672"/>
                </a:solidFill>
                <a:latin typeface="Malgun Gothic"/>
              </a:rPr>
              <a:t>    –  DBWn(변경 버퍼→데이터 파일), LGWR(리두 버퍼→리두 로그 파일)</a:t>
            </a:r>
          </a:p>
          <a:p>
            <a:pPr>
              <a:lnSpc>
                <a:spcPct val="105000"/>
              </a:lnSpc>
              <a:spcAft>
                <a:spcPts val="1000"/>
              </a:spcAft>
            </a:pPr>
            <a:r>
              <a:rPr sz="1600" b="0">
                <a:solidFill>
                  <a:srgbClr val="5A6672"/>
                </a:solidFill>
                <a:latin typeface="Malgun Gothic"/>
              </a:rPr>
              <a:t>    –  CKPT(체크포인트), SMON(인스턴스 복구·정리), PMON/PMAN(실패 정리)</a:t>
            </a:r>
          </a:p>
          <a:p>
            <a:pPr>
              <a:lnSpc>
                <a:spcPct val="105000"/>
              </a:lnSpc>
              <a:spcAft>
                <a:spcPts val="1000"/>
              </a:spcAft>
            </a:pPr>
            <a:r>
              <a:rPr sz="1800" b="0">
                <a:solidFill>
                  <a:srgbClr val="202830"/>
                </a:solidFill>
                <a:latin typeface="Malgun Gothic"/>
              </a:rPr>
              <a:t>•  사용자가 명시 호출하지 않아도 각자의 주기·트리거로 자동 동작</a:t>
            </a:r>
          </a:p>
          <a:p>
            <a:pPr>
              <a:lnSpc>
                <a:spcPct val="105000"/>
              </a:lnSpc>
              <a:spcAft>
                <a:spcPts val="1000"/>
              </a:spcAft>
            </a:pPr>
            <a:r>
              <a:rPr sz="1800" b="0">
                <a:solidFill>
                  <a:srgbClr val="202830"/>
                </a:solidFill>
                <a:latin typeface="Malgun Gothic"/>
              </a:rPr>
              <a:t>•  프로세스 상세는 2장에서 다룸</a:t>
            </a:r>
          </a:p>
        </p:txBody>
      </p:sp>
      <p:sp>
        <p:nvSpPr>
          <p:cNvPr id="5" name="Rectangle 4"/>
          <p:cNvSpPr/>
          <p:nvPr/>
        </p:nvSpPr>
        <p:spPr>
          <a:xfrm>
            <a:off x="640080" y="5623560"/>
            <a:ext cx="10908792" cy="960120"/>
          </a:xfrm>
          <a:prstGeom prst="rect">
            <a:avLst/>
          </a:prstGeom>
          <a:solidFill>
            <a:srgbClr val="F2F4F6"/>
          </a:solidFill>
          <a:ln w="12700">
            <a:solidFill>
              <a:srgbClr val="1F5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1F5CA8"/>
                </a:solidFill>
                <a:latin typeface="Malgun Gothic"/>
              </a:rPr>
              <a:t>실무 시나리오:</a:t>
            </a:r>
          </a:p>
          <a:p>
            <a:r>
              <a:rPr sz="1250" b="0">
                <a:solidFill>
                  <a:srgbClr val="202830"/>
                </a:solidFill>
                <a:latin typeface="Malgun Gothic"/>
              </a:rPr>
              <a:t>인스턴스가 어떤 백그라운드 프로세스를 기동했는지는 V$BGPROCESS, V$PROCESS로 확인한다. 장애 분석 시 특정 프로세스(예: LGWR)의 생존·트레이스 파일 확인이 1차 진단 출발점이다.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백그라운드 프로세스: 세 부류로 이해</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① I/O 관련: 메모리↔디스크 데이터 이동 — DBWn, LGWR</a:t>
            </a:r>
          </a:p>
          <a:p>
            <a:pPr>
              <a:lnSpc>
                <a:spcPct val="105000"/>
              </a:lnSpc>
              <a:spcAft>
                <a:spcPts val="1000"/>
              </a:spcAft>
            </a:pPr>
            <a:r>
              <a:rPr sz="1800" b="0">
                <a:solidFill>
                  <a:srgbClr val="202830"/>
                </a:solidFill>
                <a:latin typeface="Malgun Gothic"/>
              </a:rPr>
              <a:t>•  ② 정합성·복구: CKPT, SMON, PMON/PMAN</a:t>
            </a:r>
          </a:p>
          <a:p>
            <a:pPr>
              <a:lnSpc>
                <a:spcPct val="105000"/>
              </a:lnSpc>
              <a:spcAft>
                <a:spcPts val="1000"/>
              </a:spcAft>
            </a:pPr>
            <a:r>
              <a:rPr sz="1800" b="0">
                <a:solidFill>
                  <a:srgbClr val="202830"/>
                </a:solidFill>
                <a:latin typeface="Malgun Gothic"/>
              </a:rPr>
              <a:t>•  ③ 관리성·부가기능: MMON(통계·자동작업), ARCn(아카이브), LREG(서비스 등록), RECO</a:t>
            </a:r>
          </a:p>
          <a:p>
            <a:pPr>
              <a:lnSpc>
                <a:spcPct val="105000"/>
              </a:lnSpc>
              <a:spcAft>
                <a:spcPts val="1000"/>
              </a:spcAft>
            </a:pPr>
            <a:r>
              <a:rPr sz="1800" b="0">
                <a:solidFill>
                  <a:srgbClr val="202830"/>
                </a:solidFill>
                <a:latin typeface="Malgun Gothic"/>
              </a:rPr>
              <a:t>•  인스턴스가 살아 있는 동안 각자의 주기·트리거 조건에 따라 자동 동작</a:t>
            </a:r>
          </a:p>
          <a:p>
            <a:pPr>
              <a:lnSpc>
                <a:spcPct val="105000"/>
              </a:lnSpc>
              <a:spcAft>
                <a:spcPts val="1000"/>
              </a:spcAft>
            </a:pPr>
            <a:r>
              <a:rPr sz="1800" b="0">
                <a:solidFill>
                  <a:srgbClr val="202830"/>
                </a:solidFill>
                <a:latin typeface="Malgun Gothic"/>
              </a:rPr>
              <a:t>•  덕분에 사용자는 일관성·복구를 직접 신경 쓰지 않아도 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인스턴스-DB 연결: NOMOUNT / MOUNT / OPEN</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NOMOUNT (인스턴스 시작): 초기화 파라미터 읽어 SGA 할당·프로세스 기동, DB 미연결</a:t>
            </a:r>
          </a:p>
          <a:p>
            <a:pPr>
              <a:lnSpc>
                <a:spcPct val="105000"/>
              </a:lnSpc>
              <a:spcAft>
                <a:spcPts val="1000"/>
              </a:spcAft>
            </a:pPr>
            <a:r>
              <a:rPr sz="1800" b="0">
                <a:solidFill>
                  <a:srgbClr val="202830"/>
                </a:solidFill>
                <a:latin typeface="Malgun Gothic"/>
              </a:rPr>
              <a:t>•  MOUNT (DB 마운트): 제어 파일 읽어 데이터·리두 로그 파일 위치 등 물리 구조 인식</a:t>
            </a:r>
          </a:p>
          <a:p>
            <a:pPr>
              <a:lnSpc>
                <a:spcPct val="105000"/>
              </a:lnSpc>
              <a:spcAft>
                <a:spcPts val="1000"/>
              </a:spcAft>
            </a:pPr>
            <a:r>
              <a:rPr sz="1800" b="0">
                <a:solidFill>
                  <a:srgbClr val="202830"/>
                </a:solidFill>
                <a:latin typeface="Malgun Gothic"/>
              </a:rPr>
              <a:t>•  OPEN (DB 오픈): 데이터·리두 로그 파일을 열어 일반 사용자 접근 가능</a:t>
            </a:r>
          </a:p>
          <a:p>
            <a:pPr>
              <a:lnSpc>
                <a:spcPct val="105000"/>
              </a:lnSpc>
              <a:spcAft>
                <a:spcPts val="1000"/>
              </a:spcAft>
            </a:pPr>
            <a:r>
              <a:rPr sz="1800" b="0">
                <a:solidFill>
                  <a:srgbClr val="202830"/>
                </a:solidFill>
                <a:latin typeface="Malgun Gothic"/>
              </a:rPr>
              <a:t>•  단계별 작업 예: DB 이름 변경·아카이브 로그 모드 전환·제어 파일 복구 = MOUNT</a:t>
            </a:r>
          </a:p>
          <a:p>
            <a:pPr>
              <a:lnSpc>
                <a:spcPct val="105000"/>
              </a:lnSpc>
              <a:spcAft>
                <a:spcPts val="1000"/>
              </a:spcAft>
            </a:pPr>
            <a:r>
              <a:rPr sz="1800" b="0">
                <a:solidFill>
                  <a:srgbClr val="202830"/>
                </a:solidFill>
                <a:latin typeface="Malgun Gothic"/>
              </a:rPr>
              <a:t>•  핵심: 인스턴스가 먼저 뜨고, 그다음 DB가 마운트·오픈된다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인스턴스/데이터베이스 상태 확인</a:t>
            </a:r>
          </a:p>
        </p:txBody>
      </p:sp>
      <p:sp>
        <p:nvSpPr>
          <p:cNvPr id="4" name="TextBox 3"/>
          <p:cNvSpPr txBox="1"/>
          <p:nvPr/>
        </p:nvSpPr>
        <p:spPr>
          <a:xfrm>
            <a:off x="640080" y="1188720"/>
            <a:ext cx="10881360" cy="457200"/>
          </a:xfrm>
          <a:prstGeom prst="rect">
            <a:avLst/>
          </a:prstGeom>
          <a:noFill/>
        </p:spPr>
        <p:txBody>
          <a:bodyPr wrap="square" anchor="t" lIns="45720" rIns="45720" tIns="18288" bIns="18288">
            <a:spAutoFit/>
          </a:bodyPr>
          <a:lstStyle/>
          <a:p>
            <a:r>
              <a:rPr sz="1500" b="0">
                <a:solidFill>
                  <a:srgbClr val="5A6672"/>
                </a:solidFill>
                <a:latin typeface="Malgun Gothic"/>
              </a:rPr>
              <a:t>V$INSTANCE / V$DATABASE — STATUS=OPEN은 3단계를 모두 거친 정상 상태, CDB=YES는 멀티테넌트 CDB</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chor="t" lIns="45720" rIns="45720" tIns="18288" bIns="18288">
            <a:spAutoFit/>
          </a:bodyPr>
          <a:lstStyle/>
          <a:p>
            <a:pPr>
              <a:lnSpc>
                <a:spcPct val="100000"/>
              </a:lnSpc>
            </a:pPr>
            <a:r>
              <a:rPr sz="1250" b="0">
                <a:solidFill>
                  <a:srgbClr val="7EC699"/>
                </a:solidFill>
                <a:latin typeface="Consolas"/>
              </a:rPr>
              <a:t>-- 현재 인스턴스 상태 확인</a:t>
            </a:r>
          </a:p>
          <a:p>
            <a:pPr>
              <a:lnSpc>
                <a:spcPct val="100000"/>
              </a:lnSpc>
            </a:pPr>
            <a:r>
              <a:rPr sz="1250" b="0">
                <a:solidFill>
                  <a:srgbClr val="E6E6E6"/>
                </a:solidFill>
                <a:latin typeface="Consolas"/>
              </a:rPr>
              <a:t>SQL&gt; SELECT instance_name, status, database_status, startup_time</a:t>
            </a:r>
          </a:p>
          <a:p>
            <a:pPr>
              <a:lnSpc>
                <a:spcPct val="100000"/>
              </a:lnSpc>
            </a:pPr>
            <a:r>
              <a:rPr sz="1250" b="0">
                <a:solidFill>
                  <a:srgbClr val="E6E6E6"/>
                </a:solidFill>
                <a:latin typeface="Consolas"/>
              </a:rPr>
              <a:t>  2  FROM   v$instance;</a:t>
            </a:r>
          </a:p>
          <a:p>
            <a:pPr>
              <a:lnSpc>
                <a:spcPct val="100000"/>
              </a:lnSpc>
            </a:pPr>
            <a:r>
              <a:rPr sz="1250" b="0">
                <a:solidFill>
                  <a:srgbClr val="E6E6E6"/>
                </a:solidFill>
                <a:latin typeface="Consolas"/>
              </a:rPr>
              <a:t>INSTANCE_NAME    STATUS   DATABASE_STATUS  STARTUP_TIME</a:t>
            </a:r>
          </a:p>
          <a:p>
            <a:pPr>
              <a:lnSpc>
                <a:spcPct val="100000"/>
              </a:lnSpc>
            </a:pPr>
            <a:r>
              <a:rPr sz="1250" b="0">
                <a:solidFill>
                  <a:srgbClr val="7EC699"/>
                </a:solidFill>
                <a:latin typeface="Consolas"/>
              </a:rPr>
              <a:t>---------------- -------- ---------------- -------------------</a:t>
            </a:r>
          </a:p>
          <a:p>
            <a:pPr>
              <a:lnSpc>
                <a:spcPct val="100000"/>
              </a:lnSpc>
            </a:pPr>
            <a:r>
              <a:rPr sz="1250" b="0">
                <a:solidFill>
                  <a:srgbClr val="E6E6E6"/>
                </a:solidFill>
                <a:latin typeface="Consolas"/>
              </a:rPr>
              <a:t>orcl             OPEN     ACTIVE           22-JUL-2026 09:14:03</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데이터베이스 상태 (오픈 모드·로그 모드·CDB 여부)</a:t>
            </a:r>
          </a:p>
          <a:p>
            <a:pPr>
              <a:lnSpc>
                <a:spcPct val="100000"/>
              </a:lnSpc>
            </a:pPr>
            <a:r>
              <a:rPr sz="1250" b="0">
                <a:solidFill>
                  <a:srgbClr val="E6E6E6"/>
                </a:solidFill>
                <a:latin typeface="Consolas"/>
              </a:rPr>
              <a:t>SQL&gt; SELECT name, open_mode, log_mode, cdb FROM v$database;</a:t>
            </a:r>
          </a:p>
          <a:p>
            <a:pPr>
              <a:lnSpc>
                <a:spcPct val="100000"/>
              </a:lnSpc>
            </a:pPr>
            <a:r>
              <a:rPr sz="1250" b="0">
                <a:solidFill>
                  <a:srgbClr val="E6E6E6"/>
                </a:solidFill>
                <a:latin typeface="Consolas"/>
              </a:rPr>
              <a:t>NAME    OPEN_MODE     LOG_MODE     CDB</a:t>
            </a:r>
          </a:p>
          <a:p>
            <a:pPr>
              <a:lnSpc>
                <a:spcPct val="100000"/>
              </a:lnSpc>
            </a:pPr>
            <a:r>
              <a:rPr sz="1250" b="0">
                <a:solidFill>
                  <a:srgbClr val="7EC699"/>
                </a:solidFill>
                <a:latin typeface="Consolas"/>
              </a:rPr>
              <a:t>------- ------------- ------------ ---</a:t>
            </a:r>
          </a:p>
          <a:p>
            <a:pPr>
              <a:lnSpc>
                <a:spcPct val="100000"/>
              </a:lnSpc>
            </a:pPr>
            <a:r>
              <a:rPr sz="1250" b="0">
                <a:solidFill>
                  <a:srgbClr val="E6E6E6"/>
                </a:solidFill>
                <a:latin typeface="Consolas"/>
              </a:rPr>
              <a:t>ORCL    READ WRITE    ARCHIVELOG   YES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아키텍처를 '3+2'로 기억하기</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3대 구조: 메모리(Memory) · 프로세스(Process) · 저장소(Storage)</a:t>
            </a:r>
          </a:p>
          <a:p>
            <a:pPr>
              <a:lnSpc>
                <a:spcPct val="105000"/>
              </a:lnSpc>
              <a:spcAft>
                <a:spcPts val="1000"/>
              </a:spcAft>
            </a:pPr>
            <a:r>
              <a:rPr sz="1800" b="0">
                <a:solidFill>
                  <a:srgbClr val="202830"/>
                </a:solidFill>
                <a:latin typeface="Malgun Gothic"/>
              </a:rPr>
              <a:t>•  2대 실체: 인스턴스(메모리+프로세스, 휘발성) · 데이터베이스(저장소, 영구)</a:t>
            </a:r>
          </a:p>
          <a:p>
            <a:pPr>
              <a:lnSpc>
                <a:spcPct val="105000"/>
              </a:lnSpc>
              <a:spcAft>
                <a:spcPts val="1000"/>
              </a:spcAft>
            </a:pPr>
            <a:r>
              <a:rPr sz="1800" b="0">
                <a:solidFill>
                  <a:srgbClr val="202830"/>
                </a:solidFill>
                <a:latin typeface="Malgun Gothic"/>
              </a:rPr>
              <a:t>•  이 골격 위에 이후 모든 관리 주제가 얹힌다</a:t>
            </a:r>
          </a:p>
          <a:p>
            <a:pPr>
              <a:lnSpc>
                <a:spcPct val="105000"/>
              </a:lnSpc>
              <a:spcAft>
                <a:spcPts val="1000"/>
              </a:spcAft>
            </a:pPr>
            <a:r>
              <a:rPr sz="1600" b="0">
                <a:solidFill>
                  <a:srgbClr val="5A6672"/>
                </a:solidFill>
                <a:latin typeface="Malgun Gothic"/>
              </a:rPr>
              <a:t>    –  기동/종료(7장) · 메모리 튜닝(3장) · 저장소 관리(17장) · 멀티테넌트(14~16장)</a:t>
            </a:r>
          </a:p>
        </p:txBody>
      </p:sp>
      <p:sp>
        <p:nvSpPr>
          <p:cNvPr id="5" name="Rectangle 4"/>
          <p:cNvSpPr/>
          <p:nvPr/>
        </p:nvSpPr>
        <p:spPr>
          <a:xfrm>
            <a:off x="640080" y="5623560"/>
            <a:ext cx="10908792" cy="960120"/>
          </a:xfrm>
          <a:prstGeom prst="rect">
            <a:avLst/>
          </a:prstGeom>
          <a:solidFill>
            <a:srgbClr val="F2F4F6"/>
          </a:solidFill>
          <a:ln w="12700">
            <a:solidFill>
              <a:srgbClr val="1E7E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1E7E34"/>
                </a:solidFill>
                <a:latin typeface="Malgun Gothic"/>
              </a:rPr>
              <a:t>모범 사례:</a:t>
            </a:r>
          </a:p>
          <a:p>
            <a:r>
              <a:rPr sz="1250" b="0">
                <a:solidFill>
                  <a:srgbClr val="202830"/>
                </a:solidFill>
                <a:latin typeface="Malgun Gothic"/>
              </a:rPr>
              <a:t>3대 구조(메모리·프로세스·저장소)와 2대 실체(인스턴스·데이터베이스)를 한 세트로 암기하면, 이후 등장하는 모든 세부 관리 주제가 이 골격의 어느 부분에 속하는지 자연스럽게 위치시킬 수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lIns="45720" rIns="45720" tIns="18288" bIns="18288">
            <a:spAutoFit/>
          </a:bodyPr>
          <a:lstStyle/>
          <a:p>
            <a:r>
              <a:rPr sz="6600" b="1">
                <a:solidFill>
                  <a:srgbClr val="C0392B"/>
                </a:solidFill>
                <a:latin typeface="Malgun Gothic"/>
              </a:rPr>
              <a:t>1.2</a:t>
            </a:r>
          </a:p>
        </p:txBody>
      </p:sp>
      <p:sp>
        <p:nvSpPr>
          <p:cNvPr id="3" name="TextBox 2"/>
          <p:cNvSpPr txBox="1"/>
          <p:nvPr/>
        </p:nvSpPr>
        <p:spPr>
          <a:xfrm>
            <a:off x="822960" y="2743200"/>
            <a:ext cx="10515600" cy="1097280"/>
          </a:xfrm>
          <a:prstGeom prst="rect">
            <a:avLst/>
          </a:prstGeom>
          <a:noFill/>
        </p:spPr>
        <p:txBody>
          <a:bodyPr wrap="square" anchor="t" lIns="45720" rIns="45720" tIns="18288" bIns="18288">
            <a:spAutoFit/>
          </a:bodyPr>
          <a:lstStyle/>
          <a:p>
            <a:r>
              <a:rPr sz="3400" b="1">
                <a:solidFill>
                  <a:srgbClr val="FFFFFF"/>
                </a:solidFill>
                <a:latin typeface="Malgun Gothic"/>
              </a:rPr>
              <a:t>Oracle 멀티테넌트 컨테이너 데이터베이스: 소개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nchor="t" lIns="45720" rIns="45720" tIns="18288" bIns="18288">
            <a:spAutoFit/>
          </a:bodyPr>
          <a:lstStyle/>
          <a:p>
            <a:pPr>
              <a:spcAft>
                <a:spcPts val="600"/>
              </a:spcAft>
            </a:pPr>
            <a:r>
              <a:rPr sz="1600" b="0">
                <a:solidFill>
                  <a:srgbClr val="C5CED6"/>
                </a:solidFill>
                <a:latin typeface="Malgun Gothic"/>
              </a:rPr>
              <a:t>•  12c(2013) 도입, 19c에서 표준 아키텍처로 정착</a:t>
            </a:r>
          </a:p>
          <a:p>
            <a:pPr>
              <a:spcAft>
                <a:spcPts val="600"/>
              </a:spcAft>
            </a:pPr>
            <a:r>
              <a:rPr sz="1600" b="0">
                <a:solidFill>
                  <a:srgbClr val="C5CED6"/>
                </a:solidFill>
                <a:latin typeface="Malgun Gothic"/>
              </a:rPr>
              <a:t>•  비-CDB는 폐기(deprecated) 예정, 19c는 기본이 CDB</a:t>
            </a:r>
          </a:p>
          <a:p>
            <a:pPr>
              <a:spcAft>
                <a:spcPts val="600"/>
              </a:spcAft>
            </a:pPr>
            <a:r>
              <a:rPr sz="1600" b="0">
                <a:solidFill>
                  <a:srgbClr val="C5CED6"/>
                </a:solidFill>
                <a:latin typeface="Malgun Gothic"/>
              </a:rPr>
              <a:t>•  핵심: 공유를 통한 중복 제거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멀티테넌트가 표준이 되었다는 것의 의미</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과거 비-CDB: '데이터베이스 = 인스턴스'라는 단순 대응만 알면 됨</a:t>
            </a:r>
          </a:p>
          <a:p>
            <a:pPr>
              <a:lnSpc>
                <a:spcPct val="105000"/>
              </a:lnSpc>
              <a:spcAft>
                <a:spcPts val="1000"/>
              </a:spcAft>
            </a:pPr>
            <a:r>
              <a:rPr sz="1800" b="0">
                <a:solidFill>
                  <a:srgbClr val="202830"/>
                </a:solidFill>
                <a:latin typeface="Malgun Gothic"/>
              </a:rPr>
              <a:t>•  현재: '하나의 CDB 인스턴스 아래 여러 PDB'라는 2계층 구조 상시 의식</a:t>
            </a:r>
          </a:p>
          <a:p>
            <a:pPr>
              <a:lnSpc>
                <a:spcPct val="105000"/>
              </a:lnSpc>
              <a:spcAft>
                <a:spcPts val="1000"/>
              </a:spcAft>
            </a:pPr>
            <a:r>
              <a:rPr sz="1800" b="0">
                <a:solidFill>
                  <a:srgbClr val="202830"/>
                </a:solidFill>
                <a:latin typeface="Malgun Gothic"/>
              </a:rPr>
              <a:t>•  거의 모든 관리 작업이 '루트 수준 vs 특정 PDB 수준' 선택을 동반</a:t>
            </a:r>
          </a:p>
          <a:p>
            <a:pPr>
              <a:lnSpc>
                <a:spcPct val="105000"/>
              </a:lnSpc>
              <a:spcAft>
                <a:spcPts val="1000"/>
              </a:spcAft>
            </a:pPr>
            <a:r>
              <a:rPr sz="1600" b="0">
                <a:solidFill>
                  <a:srgbClr val="5A6672"/>
                </a:solidFill>
                <a:latin typeface="Malgun Gothic"/>
              </a:rPr>
              <a:t>    –  사용자 생성 · 권한 부여 · 테이블스페이스 관리 · 파라미터 설정</a:t>
            </a:r>
          </a:p>
          <a:p>
            <a:pPr>
              <a:lnSpc>
                <a:spcPct val="105000"/>
              </a:lnSpc>
              <a:spcAft>
                <a:spcPts val="1000"/>
              </a:spcAft>
            </a:pPr>
            <a:r>
              <a:rPr sz="1800" b="0">
                <a:solidFill>
                  <a:srgbClr val="202830"/>
                </a:solidFill>
                <a:latin typeface="Malgun Gothic"/>
              </a:rPr>
              <a:t>•  이 구조를 이해하면 21~24장·17~20장 학습이 수월해짐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핵심 용어: 컨테이너와 PDB</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컨테이너(Container): 데이터/메타데이터의 '논리적 집합'</a:t>
            </a:r>
          </a:p>
          <a:p>
            <a:pPr>
              <a:lnSpc>
                <a:spcPct val="105000"/>
              </a:lnSpc>
              <a:spcAft>
                <a:spcPts val="1000"/>
              </a:spcAft>
            </a:pPr>
            <a:r>
              <a:rPr sz="1600" b="0">
                <a:solidFill>
                  <a:srgbClr val="5A6672"/>
                </a:solidFill>
                <a:latin typeface="Malgun Gothic"/>
              </a:rPr>
              <a:t>    –  root, seed, PDB를 모두 아우르는 상위 개념</a:t>
            </a:r>
          </a:p>
          <a:p>
            <a:pPr>
              <a:lnSpc>
                <a:spcPct val="105000"/>
              </a:lnSpc>
              <a:spcAft>
                <a:spcPts val="1000"/>
              </a:spcAft>
            </a:pPr>
            <a:r>
              <a:rPr sz="1800" b="0">
                <a:solidFill>
                  <a:srgbClr val="202830"/>
                </a:solidFill>
                <a:latin typeface="Malgun Gothic"/>
              </a:rPr>
              <a:t>•  플러거블 데이터베이스(PDB): 스키마·스키마 객체·비-스키마 객체의 '이식 가능한 집합'</a:t>
            </a:r>
          </a:p>
          <a:p>
            <a:pPr>
              <a:lnSpc>
                <a:spcPct val="105000"/>
              </a:lnSpc>
              <a:spcAft>
                <a:spcPts val="1000"/>
              </a:spcAft>
            </a:pPr>
            <a:r>
              <a:rPr sz="1600" b="0">
                <a:solidFill>
                  <a:srgbClr val="5A6672"/>
                </a:solidFill>
                <a:latin typeface="Malgun Gothic"/>
              </a:rPr>
              <a:t>    –  CDB에 꽂았다(plug in)/뺐다(unplug) 할 수 있는 독립 애플리케이션 DB처럼 동작</a:t>
            </a:r>
          </a:p>
        </p:txBody>
      </p:sp>
      <p:sp>
        <p:nvSpPr>
          <p:cNvPr id="5" name="Rectangle 4"/>
          <p:cNvSpPr/>
          <p:nvPr/>
        </p:nvSpPr>
        <p:spPr>
          <a:xfrm>
            <a:off x="640080" y="5623560"/>
            <a:ext cx="10908792" cy="960120"/>
          </a:xfrm>
          <a:prstGeom prst="rect">
            <a:avLst/>
          </a:prstGeom>
          <a:solidFill>
            <a:srgbClr val="F2F4F6"/>
          </a:solidFill>
          <a:ln w="12700">
            <a:solidFill>
              <a:srgbClr val="1E7E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1E7E34"/>
                </a:solidFill>
                <a:latin typeface="Malgun Gothic"/>
              </a:rPr>
              <a:t>모범 사례:</a:t>
            </a:r>
          </a:p>
          <a:p>
            <a:r>
              <a:rPr sz="1250" b="0">
                <a:solidFill>
                  <a:srgbClr val="202830"/>
                </a:solidFill>
                <a:latin typeface="Malgun Gothic"/>
              </a:rPr>
              <a:t>왜 12c에서 멀티테넌트가 등장했나: 서버당 여러 인스턴스는 SGA·프로세스·딕셔너리 중복으로 낭비가 컸고, 하나의 인스턴스에 여러 스키마는 이름 충돌·격리 부족 문제가 있었다. 멀티테넌트는 인스턴스는 공유하되 PDB 단위로 완전히 격리하여 두 문제를 동시에 해결했다.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CDB 안의 여러 컨테이너 종류</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CDB root 컨테이너: CDB$ROOT 라는 이름의 최상위 컨테이너</a:t>
            </a:r>
          </a:p>
          <a:p>
            <a:pPr>
              <a:lnSpc>
                <a:spcPct val="105000"/>
              </a:lnSpc>
              <a:spcAft>
                <a:spcPts val="1000"/>
              </a:spcAft>
            </a:pPr>
            <a:r>
              <a:rPr sz="1800" b="0">
                <a:solidFill>
                  <a:srgbClr val="202830"/>
                </a:solidFill>
                <a:latin typeface="Malgun Gothic"/>
              </a:rPr>
              <a:t>•  System 컨테이너: 루트 + 모든 PDB를 통칭하는 논리적 범위</a:t>
            </a:r>
          </a:p>
          <a:p>
            <a:pPr>
              <a:lnSpc>
                <a:spcPct val="105000"/>
              </a:lnSpc>
              <a:spcAft>
                <a:spcPts val="1000"/>
              </a:spcAft>
            </a:pPr>
            <a:r>
              <a:rPr sz="1800" b="0">
                <a:solidFill>
                  <a:srgbClr val="202830"/>
                </a:solidFill>
                <a:latin typeface="Malgun Gothic"/>
              </a:rPr>
              <a:t>•  Application 컨테이너: 여러 PDB가 공통 데이터/메타데이터를 공유하도록 묶는 선택적 컨테이너</a:t>
            </a:r>
          </a:p>
          <a:p>
            <a:pPr>
              <a:lnSpc>
                <a:spcPct val="105000"/>
              </a:lnSpc>
              <a:spcAft>
                <a:spcPts val="1000"/>
              </a:spcAft>
            </a:pPr>
            <a:r>
              <a:rPr sz="1800" b="0">
                <a:solidFill>
                  <a:srgbClr val="202830"/>
                </a:solidFill>
                <a:latin typeface="Malgun Gothic"/>
              </a:rPr>
              <a:t>•  Root PDB(애플리케이션 루트): 애플리케이션 컨테이너의 루트 역할 PDB</a:t>
            </a:r>
          </a:p>
          <a:p>
            <a:pPr>
              <a:lnSpc>
                <a:spcPct val="105000"/>
              </a:lnSpc>
              <a:spcAft>
                <a:spcPts val="1000"/>
              </a:spcAft>
            </a:pPr>
            <a:r>
              <a:rPr sz="1800" b="0">
                <a:solidFill>
                  <a:srgbClr val="202830"/>
                </a:solidFill>
                <a:latin typeface="Malgun Gothic"/>
              </a:rPr>
              <a:t>•  사용자 생성 PDB: DBA가 애플리케이션을 위해 만드는 일반 PDB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모든 PDB가 공유하는 것 · CDB가 제거하는 중복</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물리 수준: CDB도 비-CDB처럼 하나의 인스턴스와 DB 파일을 가짐</a:t>
            </a:r>
          </a:p>
          <a:p>
            <a:pPr>
              <a:lnSpc>
                <a:spcPct val="105000"/>
              </a:lnSpc>
              <a:spcAft>
                <a:spcPts val="1000"/>
              </a:spcAft>
            </a:pPr>
            <a:r>
              <a:rPr sz="1800" b="0">
                <a:solidFill>
                  <a:srgbClr val="202830"/>
                </a:solidFill>
                <a:latin typeface="Malgun Gothic"/>
              </a:rPr>
              <a:t>•  CDB가 회피하는 중복:</a:t>
            </a:r>
          </a:p>
          <a:p>
            <a:pPr>
              <a:lnSpc>
                <a:spcPct val="105000"/>
              </a:lnSpc>
              <a:spcAft>
                <a:spcPts val="1000"/>
              </a:spcAft>
            </a:pPr>
            <a:r>
              <a:rPr sz="1600" b="0">
                <a:solidFill>
                  <a:srgbClr val="5A6672"/>
                </a:solidFill>
                <a:latin typeface="Malgun Gothic"/>
              </a:rPr>
              <a:t>    –  백그라운드 프로세스의 중복</a:t>
            </a:r>
          </a:p>
          <a:p>
            <a:pPr>
              <a:lnSpc>
                <a:spcPct val="105000"/>
              </a:lnSpc>
              <a:spcAft>
                <a:spcPts val="1000"/>
              </a:spcAft>
            </a:pPr>
            <a:r>
              <a:rPr sz="1600" b="0">
                <a:solidFill>
                  <a:srgbClr val="5A6672"/>
                </a:solidFill>
                <a:latin typeface="Malgun Gothic"/>
              </a:rPr>
              <a:t>    –  메모리 할당의 중복</a:t>
            </a:r>
          </a:p>
          <a:p>
            <a:pPr>
              <a:lnSpc>
                <a:spcPct val="105000"/>
              </a:lnSpc>
              <a:spcAft>
                <a:spcPts val="1000"/>
              </a:spcAft>
            </a:pPr>
            <a:r>
              <a:rPr sz="1600" b="0">
                <a:solidFill>
                  <a:srgbClr val="5A6672"/>
                </a:solidFill>
                <a:latin typeface="Malgun Gothic"/>
              </a:rPr>
              <a:t>    –  여러 데이터 딕셔너리에 걸친 Oracle 메타데이터의 중복</a:t>
            </a:r>
          </a:p>
          <a:p>
            <a:pPr>
              <a:lnSpc>
                <a:spcPct val="105000"/>
              </a:lnSpc>
              <a:spcAft>
                <a:spcPts val="1000"/>
              </a:spcAft>
            </a:pPr>
            <a:r>
              <a:rPr sz="1800" b="0">
                <a:solidFill>
                  <a:srgbClr val="202830"/>
                </a:solidFill>
                <a:latin typeface="Malgun Gothic"/>
              </a:rPr>
              <a:t>•  구조: 루트에 공통 딕셔너리 1개(공유) + 각 PDB의 애플리케이션 딕셔너리(개별)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공유 구조의 실무 이점: 패치를 1회로</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애플리케이션 패치/업그레이드는 CDB에 '단 한 번(only once)'만 수행</a:t>
            </a:r>
          </a:p>
          <a:p>
            <a:pPr>
              <a:lnSpc>
                <a:spcPct val="105000"/>
              </a:lnSpc>
              <a:spcAft>
                <a:spcPts val="1000"/>
              </a:spcAft>
            </a:pPr>
            <a:r>
              <a:rPr sz="1800" b="0">
                <a:solidFill>
                  <a:srgbClr val="202830"/>
                </a:solidFill>
                <a:latin typeface="Malgun Gothic"/>
              </a:rPr>
              <a:t>•  그 결과 모든 애플리케이션(PDB)이 동시에 갱신됨</a:t>
            </a:r>
          </a:p>
          <a:p>
            <a:pPr>
              <a:lnSpc>
                <a:spcPct val="105000"/>
              </a:lnSpc>
              <a:spcAft>
                <a:spcPts val="1000"/>
              </a:spcAft>
            </a:pPr>
            <a:r>
              <a:rPr sz="1600" b="0">
                <a:solidFill>
                  <a:srgbClr val="5A6672"/>
                </a:solidFill>
                <a:latin typeface="Malgun Gothic"/>
              </a:rPr>
              <a:t>    –  예: 100개 PDB 통합 → 패치를 100번이 아니라 1번</a:t>
            </a:r>
          </a:p>
          <a:p>
            <a:pPr>
              <a:lnSpc>
                <a:spcPct val="105000"/>
              </a:lnSpc>
              <a:spcAft>
                <a:spcPts val="1000"/>
              </a:spcAft>
            </a:pPr>
            <a:r>
              <a:rPr sz="1800" b="0">
                <a:solidFill>
                  <a:srgbClr val="202830"/>
                </a:solidFill>
                <a:latin typeface="Malgun Gothic"/>
              </a:rPr>
              <a:t>•  SaaS·대규모 통합(consolidation) 환경에서 운영 비용을 극적으로 낮춤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멀티테넌트와 라이선스</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단일 PDB 구성(single-tenant): 별도 Multitenant 옵션 없이 사용 가능</a:t>
            </a:r>
          </a:p>
          <a:p>
            <a:pPr>
              <a:lnSpc>
                <a:spcPct val="105000"/>
              </a:lnSpc>
              <a:spcAft>
                <a:spcPts val="1000"/>
              </a:spcAft>
            </a:pPr>
            <a:r>
              <a:rPr sz="1600" b="0">
                <a:solidFill>
                  <a:srgbClr val="5A6672"/>
                </a:solidFill>
                <a:latin typeface="Malgun Gothic"/>
              </a:rPr>
              <a:t>    –  19c에서 비-CDB를 대체하는 기본 형태로 폭넓게 사용</a:t>
            </a:r>
          </a:p>
          <a:p>
            <a:pPr>
              <a:lnSpc>
                <a:spcPct val="105000"/>
              </a:lnSpc>
              <a:spcAft>
                <a:spcPts val="1000"/>
              </a:spcAft>
            </a:pPr>
            <a:r>
              <a:rPr sz="1800" b="0">
                <a:solidFill>
                  <a:srgbClr val="202830"/>
                </a:solidFill>
                <a:latin typeface="Malgun Gothic"/>
              </a:rPr>
              <a:t>•  여러 사용자 PDB 통합: 에디션·PDB 개수에 따라 Oracle Multitenant 옵션 필요할 수 있음</a:t>
            </a:r>
          </a:p>
          <a:p>
            <a:pPr>
              <a:lnSpc>
                <a:spcPct val="105000"/>
              </a:lnSpc>
              <a:spcAft>
                <a:spcPts val="1000"/>
              </a:spcAft>
            </a:pPr>
            <a:r>
              <a:rPr sz="1800" b="0">
                <a:solidFill>
                  <a:srgbClr val="202830"/>
                </a:solidFill>
                <a:latin typeface="Malgun Gothic"/>
              </a:rPr>
              <a:t>•  '멀티테넌트를 쓴다' ≠ '여러 PDB를 통합한다' — 라이선스 측면에서 구분</a:t>
            </a:r>
          </a:p>
          <a:p>
            <a:pPr>
              <a:lnSpc>
                <a:spcPct val="105000"/>
              </a:lnSpc>
              <a:spcAft>
                <a:spcPts val="1000"/>
              </a:spcAft>
            </a:pPr>
            <a:r>
              <a:rPr sz="1800" b="0">
                <a:solidFill>
                  <a:srgbClr val="202830"/>
                </a:solidFill>
                <a:latin typeface="Malgun Gothic"/>
              </a:rPr>
              <a:t>•  어느 경우든 DB는 CDB로 생성 → 멀티테넌트 구조 자체는 필수 학습</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lIns="45720" rIns="45720" tIns="18288" bIns="18288">
            <a:spAutoFit/>
          </a:bodyPr>
          <a:lstStyle/>
          <a:p>
            <a:r>
              <a:rPr sz="6600" b="1">
                <a:solidFill>
                  <a:srgbClr val="C0392B"/>
                </a:solidFill>
                <a:latin typeface="Malgun Gothic"/>
              </a:rPr>
              <a:t>1.3</a:t>
            </a:r>
          </a:p>
        </p:txBody>
      </p:sp>
      <p:sp>
        <p:nvSpPr>
          <p:cNvPr id="3" name="TextBox 2"/>
          <p:cNvSpPr txBox="1"/>
          <p:nvPr/>
        </p:nvSpPr>
        <p:spPr>
          <a:xfrm>
            <a:off x="822960" y="2743200"/>
            <a:ext cx="10515600" cy="1097280"/>
          </a:xfrm>
          <a:prstGeom prst="rect">
            <a:avLst/>
          </a:prstGeom>
          <a:noFill/>
        </p:spPr>
        <p:txBody>
          <a:bodyPr wrap="square" anchor="t" lIns="45720" rIns="45720" tIns="18288" bIns="18288">
            <a:spAutoFit/>
          </a:bodyPr>
          <a:lstStyle/>
          <a:p>
            <a:r>
              <a:rPr sz="3400" b="1">
                <a:solidFill>
                  <a:srgbClr val="FFFFFF"/>
                </a:solidFill>
                <a:latin typeface="Malgun Gothic"/>
              </a:rPr>
              <a:t>Oracle 멀티테넌트 컨테이너 데이터베이스: 아키텍처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nchor="t" lIns="45720" rIns="45720" tIns="18288" bIns="18288">
            <a:spAutoFit/>
          </a:bodyPr>
          <a:lstStyle/>
          <a:p>
            <a:pPr>
              <a:spcAft>
                <a:spcPts val="600"/>
              </a:spcAft>
            </a:pPr>
            <a:r>
              <a:rPr sz="1600" b="0">
                <a:solidFill>
                  <a:srgbClr val="C5CED6"/>
                </a:solidFill>
                <a:latin typeface="Malgun Gothic"/>
              </a:rPr>
              <a:t>•  CDB = 1 루트(root) + 1 시드(seed PDB) + 하나 이상의 사용자 PDB</a:t>
            </a:r>
          </a:p>
          <a:p>
            <a:pPr>
              <a:spcAft>
                <a:spcPts val="600"/>
              </a:spcAft>
            </a:pPr>
            <a:r>
              <a:rPr sz="1600" b="0">
                <a:solidFill>
                  <a:srgbClr val="C5CED6"/>
                </a:solidFill>
                <a:latin typeface="Malgun Gothic"/>
              </a:rPr>
              <a:t>•  사용자/애플리케이션 관점에서 PDB는 '별개의 데이터베이스'처럼 보임</a:t>
            </a:r>
          </a:p>
          <a:p>
            <a:pPr>
              <a:spcAft>
                <a:spcPts val="600"/>
              </a:spcAft>
            </a:pPr>
            <a:r>
              <a:rPr sz="1600" b="0">
                <a:solidFill>
                  <a:srgbClr val="C5CED6"/>
                </a:solidFill>
                <a:latin typeface="Malgun Gothic"/>
              </a:rPr>
              <a:t>•  물리적으로는 여러 PDB가 하나의 CDB 인스턴스를 공유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세 종류의 컨테이너</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① 루트 컨테이너(CDB$ROOT): Oracle 공급 메타데이터 + 공통 사용자 저장 → 모든 PDB와 공유</a:t>
            </a:r>
          </a:p>
          <a:p>
            <a:pPr>
              <a:lnSpc>
                <a:spcPct val="105000"/>
              </a:lnSpc>
              <a:spcAft>
                <a:spcPts val="1000"/>
              </a:spcAft>
            </a:pPr>
            <a:r>
              <a:rPr sz="1600" b="0">
                <a:solidFill>
                  <a:srgbClr val="5A6672"/>
                </a:solidFill>
                <a:latin typeface="Malgun Gothic"/>
              </a:rPr>
              <a:t>    –  예: SYS, SYSTEM 같은 기본 관리 계정은 공통 사용자로 루트에 정의</a:t>
            </a:r>
          </a:p>
          <a:p>
            <a:pPr>
              <a:lnSpc>
                <a:spcPct val="105000"/>
              </a:lnSpc>
              <a:spcAft>
                <a:spcPts val="1000"/>
              </a:spcAft>
            </a:pPr>
            <a:r>
              <a:rPr sz="1800" b="0">
                <a:solidFill>
                  <a:srgbClr val="202830"/>
                </a:solidFill>
                <a:latin typeface="Malgun Gothic"/>
              </a:rPr>
              <a:t>•  ② 시드 PDB(PDB$SEED): 시스템 제공 PDB '템플릿', 새 PDB 생성의 복제 원본</a:t>
            </a:r>
          </a:p>
          <a:p>
            <a:pPr>
              <a:lnSpc>
                <a:spcPct val="105000"/>
              </a:lnSpc>
              <a:spcAft>
                <a:spcPts val="1000"/>
              </a:spcAft>
            </a:pPr>
            <a:r>
              <a:rPr sz="1600" b="0">
                <a:solidFill>
                  <a:srgbClr val="5A6672"/>
                </a:solidFill>
                <a:latin typeface="Malgun Gothic"/>
              </a:rPr>
              <a:t>    –  직접 수정 불가, 항상 READ ONLY, 새 PDB는 시드 복제로 생성</a:t>
            </a:r>
          </a:p>
          <a:p>
            <a:pPr>
              <a:lnSpc>
                <a:spcPct val="105000"/>
              </a:lnSpc>
              <a:spcAft>
                <a:spcPts val="1000"/>
              </a:spcAft>
            </a:pPr>
            <a:r>
              <a:rPr sz="1800" b="0">
                <a:solidFill>
                  <a:srgbClr val="202830"/>
                </a:solidFill>
                <a:latin typeface="Malgun Gothic"/>
              </a:rPr>
              <a:t>•  ③ 사용자 생성 PDB: 특정 애플리케이션의 데이터·코드 (예: SALES, HR)</a:t>
            </a:r>
          </a:p>
          <a:p>
            <a:pPr>
              <a:lnSpc>
                <a:spcPct val="105000"/>
              </a:lnSpc>
              <a:spcAft>
                <a:spcPts val="1000"/>
              </a:spcAft>
            </a:pPr>
            <a:r>
              <a:rPr sz="1600" b="0">
                <a:solidFill>
                  <a:srgbClr val="5A6672"/>
                </a:solidFill>
                <a:latin typeface="Malgun Gothic"/>
              </a:rPr>
              <a:t>    –  목표: 각 PDB가 하나의 애플리케이션과 일대일(one-to-one) 관계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단일 CDB가 공유하는 물리 요소 vs PDB별 분리</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여러 PDB가 공유(share)하는 물리 요소:</a:t>
            </a:r>
          </a:p>
          <a:p>
            <a:pPr>
              <a:lnSpc>
                <a:spcPct val="105000"/>
              </a:lnSpc>
              <a:spcAft>
                <a:spcPts val="1000"/>
              </a:spcAft>
            </a:pPr>
            <a:r>
              <a:rPr sz="1600" b="0">
                <a:solidFill>
                  <a:srgbClr val="5A6672"/>
                </a:solidFill>
                <a:latin typeface="Malgun Gothic"/>
              </a:rPr>
              <a:t>    –  백그라운드 프로세스 · 공유 프로세스 메모리(SGA) · Oracle 메타데이터</a:t>
            </a:r>
          </a:p>
          <a:p>
            <a:pPr>
              <a:lnSpc>
                <a:spcPct val="105000"/>
              </a:lnSpc>
              <a:spcAft>
                <a:spcPts val="1000"/>
              </a:spcAft>
            </a:pPr>
            <a:r>
              <a:rPr sz="1600" b="0">
                <a:solidFill>
                  <a:srgbClr val="5A6672"/>
                </a:solidFill>
                <a:latin typeface="Malgun Gothic"/>
              </a:rPr>
              <a:t>    –  리두 로그 파일 · 제어 파일 · 언두 테이블스페이스</a:t>
            </a:r>
          </a:p>
          <a:p>
            <a:pPr>
              <a:lnSpc>
                <a:spcPct val="105000"/>
              </a:lnSpc>
              <a:spcAft>
                <a:spcPts val="1000"/>
              </a:spcAft>
            </a:pPr>
            <a:r>
              <a:rPr sz="1800" b="0">
                <a:solidFill>
                  <a:srgbClr val="202830"/>
                </a:solidFill>
                <a:latin typeface="Malgun Gothic"/>
              </a:rPr>
              <a:t>•  각 PDB는 자신만의 데이터 파일을 가짐 (SALES/HR 데이터 파일 분리)</a:t>
            </a:r>
          </a:p>
          <a:p>
            <a:pPr>
              <a:lnSpc>
                <a:spcPct val="105000"/>
              </a:lnSpc>
              <a:spcAft>
                <a:spcPts val="1000"/>
              </a:spcAft>
            </a:pPr>
            <a:r>
              <a:rPr sz="1800" b="0">
                <a:solidFill>
                  <a:srgbClr val="202830"/>
                </a:solidFill>
                <a:latin typeface="Malgun Gothic"/>
              </a:rPr>
              <a:t>•  핵심: 프로세스·메모리·리두·제어·언두는 공유, 실제 데이터 파일은 PDB별 분리</a:t>
            </a:r>
          </a:p>
        </p:txBody>
      </p:sp>
      <p:sp>
        <p:nvSpPr>
          <p:cNvPr id="5" name="Rectangle 4"/>
          <p:cNvSpPr/>
          <p:nvPr/>
        </p:nvSpPr>
        <p:spPr>
          <a:xfrm>
            <a:off x="640080" y="5623560"/>
            <a:ext cx="10908792" cy="960120"/>
          </a:xfrm>
          <a:prstGeom prst="rect">
            <a:avLst/>
          </a:prstGeom>
          <a:solidFill>
            <a:srgbClr val="F2F4F6"/>
          </a:solidFill>
          <a:ln w="12700">
            <a:solidFill>
              <a:srgbClr val="B88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B88600"/>
                </a:solidFill>
                <a:latin typeface="Malgun Gothic"/>
              </a:rPr>
              <a:t>참고:</a:t>
            </a:r>
          </a:p>
          <a:p>
            <a:r>
              <a:rPr sz="1250" b="0">
                <a:solidFill>
                  <a:srgbClr val="202830"/>
                </a:solidFill>
                <a:latin typeface="Malgun Gothic"/>
              </a:rPr>
              <a:t>19c 기본은 리두·언두를 PDB별로 분리하는 로컬 언두(Local Undo) 모드이며, 상세는 20장에서 다룬다.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컨테이너 식별과 조회: CON_ID</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멀티테넌트에서 DBA는 '지금 어느 컨테이너에 있는가'를 항상 의식</a:t>
            </a:r>
          </a:p>
          <a:p>
            <a:pPr>
              <a:lnSpc>
                <a:spcPct val="105000"/>
              </a:lnSpc>
              <a:spcAft>
                <a:spcPts val="1000"/>
              </a:spcAft>
            </a:pPr>
            <a:r>
              <a:rPr sz="1800" b="0">
                <a:solidFill>
                  <a:srgbClr val="202830"/>
                </a:solidFill>
                <a:latin typeface="Malgun Gothic"/>
              </a:rPr>
              <a:t>•  각 컨테이너는 컨테이너 ID(CON_ID)로 식별</a:t>
            </a:r>
          </a:p>
          <a:p>
            <a:pPr>
              <a:lnSpc>
                <a:spcPct val="105000"/>
              </a:lnSpc>
              <a:spcAft>
                <a:spcPts val="1000"/>
              </a:spcAft>
            </a:pPr>
            <a:r>
              <a:rPr sz="1600" b="0">
                <a:solidFill>
                  <a:srgbClr val="5A6672"/>
                </a:solidFill>
                <a:latin typeface="Malgun Gothic"/>
              </a:rPr>
              <a:t>    –  CDB$ROOT = CON_ID 1</a:t>
            </a:r>
          </a:p>
          <a:p>
            <a:pPr>
              <a:lnSpc>
                <a:spcPct val="105000"/>
              </a:lnSpc>
              <a:spcAft>
                <a:spcPts val="1000"/>
              </a:spcAft>
            </a:pPr>
            <a:r>
              <a:rPr sz="1600" b="0">
                <a:solidFill>
                  <a:srgbClr val="5A6672"/>
                </a:solidFill>
                <a:latin typeface="Malgun Gothic"/>
              </a:rPr>
              <a:t>    –  PDB$SEED = CON_ID 2</a:t>
            </a:r>
          </a:p>
          <a:p>
            <a:pPr>
              <a:lnSpc>
                <a:spcPct val="105000"/>
              </a:lnSpc>
              <a:spcAft>
                <a:spcPts val="1000"/>
              </a:spcAft>
            </a:pPr>
            <a:r>
              <a:rPr sz="1600" b="0">
                <a:solidFill>
                  <a:srgbClr val="5A6672"/>
                </a:solidFill>
                <a:latin typeface="Malgun Gothic"/>
              </a:rPr>
              <a:t>    –  사용자 PDB = 3 이상</a:t>
            </a:r>
          </a:p>
          <a:p>
            <a:pPr>
              <a:lnSpc>
                <a:spcPct val="105000"/>
              </a:lnSpc>
              <a:spcAft>
                <a:spcPts val="1000"/>
              </a:spcAft>
            </a:pPr>
            <a:r>
              <a:rPr sz="1800" b="0">
                <a:solidFill>
                  <a:srgbClr val="202830"/>
                </a:solidFill>
                <a:latin typeface="Malgun Gothic"/>
              </a:rPr>
              <a:t>•  V$PDBS(동적 성능 뷰) · CDB_PDBS(데이터 딕셔너리 뷰)로 조회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PDB 목록 조회: V$PDBS / CDB_PDBS</a:t>
            </a:r>
          </a:p>
        </p:txBody>
      </p:sp>
      <p:sp>
        <p:nvSpPr>
          <p:cNvPr id="4" name="TextBox 3"/>
          <p:cNvSpPr txBox="1"/>
          <p:nvPr/>
        </p:nvSpPr>
        <p:spPr>
          <a:xfrm>
            <a:off x="640080" y="1188720"/>
            <a:ext cx="10881360" cy="457200"/>
          </a:xfrm>
          <a:prstGeom prst="rect">
            <a:avLst/>
          </a:prstGeom>
          <a:noFill/>
        </p:spPr>
        <p:txBody>
          <a:bodyPr wrap="square" anchor="t" lIns="45720" rIns="45720" tIns="18288" bIns="18288">
            <a:spAutoFit/>
          </a:bodyPr>
          <a:lstStyle/>
          <a:p>
            <a:r>
              <a:rPr sz="1500" b="0">
                <a:solidFill>
                  <a:srgbClr val="5A6672"/>
                </a:solidFill>
                <a:latin typeface="Malgun Gothic"/>
              </a:rPr>
              <a:t>PDB$SEED는 항상 READ ONLY (복제 원본이므로 쓰기 모드로 열리지 않음)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chor="t" lIns="45720" rIns="45720" tIns="18288" bIns="18288">
            <a:spAutoFit/>
          </a:bodyPr>
          <a:lstStyle/>
          <a:p>
            <a:pPr>
              <a:lnSpc>
                <a:spcPct val="100000"/>
              </a:lnSpc>
            </a:pPr>
            <a:r>
              <a:rPr sz="1250" b="0">
                <a:solidFill>
                  <a:srgbClr val="7EC699"/>
                </a:solidFill>
                <a:latin typeface="Consolas"/>
              </a:rPr>
              <a:t>-- 현재 접속한 컨테이너 확인</a:t>
            </a:r>
          </a:p>
          <a:p>
            <a:pPr>
              <a:lnSpc>
                <a:spcPct val="100000"/>
              </a:lnSpc>
            </a:pPr>
            <a:r>
              <a:rPr sz="1250" b="0">
                <a:solidFill>
                  <a:srgbClr val="E6E6E6"/>
                </a:solidFill>
                <a:latin typeface="Consolas"/>
              </a:rPr>
              <a:t>SQL&gt; SHOW CON_NAME</a:t>
            </a:r>
          </a:p>
          <a:p>
            <a:pPr>
              <a:lnSpc>
                <a:spcPct val="100000"/>
              </a:lnSpc>
            </a:pPr>
            <a:r>
              <a:rPr sz="1250" b="0">
                <a:solidFill>
                  <a:srgbClr val="E6E6E6"/>
                </a:solidFill>
                <a:latin typeface="Consolas"/>
              </a:rPr>
              <a:t>CDB$ROOT</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루트에서 이 CDB에 속한 모든 PDB 목록</a:t>
            </a:r>
          </a:p>
          <a:p>
            <a:pPr>
              <a:lnSpc>
                <a:spcPct val="100000"/>
              </a:lnSpc>
            </a:pPr>
            <a:r>
              <a:rPr sz="1250" b="0">
                <a:solidFill>
                  <a:srgbClr val="E6E6E6"/>
                </a:solidFill>
                <a:latin typeface="Consolas"/>
              </a:rPr>
              <a:t>SQL&gt; SELECT con_id, name, open_mode FROM v$pdbs ORDER BY con_id;</a:t>
            </a:r>
          </a:p>
          <a:p>
            <a:pPr>
              <a:lnSpc>
                <a:spcPct val="100000"/>
              </a:lnSpc>
            </a:pPr>
            <a:r>
              <a:rPr sz="1250" b="0">
                <a:solidFill>
                  <a:srgbClr val="E6E6E6"/>
                </a:solidFill>
                <a:latin typeface="Consolas"/>
              </a:rPr>
              <a:t>CON_ID NAME          OPEN_MODE</a:t>
            </a:r>
          </a:p>
          <a:p>
            <a:pPr>
              <a:lnSpc>
                <a:spcPct val="100000"/>
              </a:lnSpc>
            </a:pPr>
            <a:r>
              <a:rPr sz="1250" b="0">
                <a:solidFill>
                  <a:srgbClr val="7EC699"/>
                </a:solidFill>
                <a:latin typeface="Consolas"/>
              </a:rPr>
              <a:t>------ ------------- ----------</a:t>
            </a:r>
          </a:p>
          <a:p>
            <a:pPr>
              <a:lnSpc>
                <a:spcPct val="100000"/>
              </a:lnSpc>
            </a:pPr>
            <a:r>
              <a:rPr sz="1250" b="0">
                <a:solidFill>
                  <a:srgbClr val="E6E6E6"/>
                </a:solidFill>
                <a:latin typeface="Consolas"/>
              </a:rPr>
              <a:t>     2 PDB$SEED      READ ONLY</a:t>
            </a:r>
          </a:p>
          <a:p>
            <a:pPr>
              <a:lnSpc>
                <a:spcPct val="100000"/>
              </a:lnSpc>
            </a:pPr>
            <a:r>
              <a:rPr sz="1250" b="0">
                <a:solidFill>
                  <a:srgbClr val="E6E6E6"/>
                </a:solidFill>
                <a:latin typeface="Consolas"/>
              </a:rPr>
              <a:t>     3 SALES         READ WRITE</a:t>
            </a:r>
          </a:p>
          <a:p>
            <a:pPr>
              <a:lnSpc>
                <a:spcPct val="100000"/>
              </a:lnSpc>
            </a:pPr>
            <a:r>
              <a:rPr sz="1250" b="0">
                <a:solidFill>
                  <a:srgbClr val="E6E6E6"/>
                </a:solidFill>
                <a:latin typeface="Consolas"/>
              </a:rPr>
              <a:t>     4 HR            READ WRITE</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데이터 딕셔너리 뷰로 PDB 상세</a:t>
            </a:r>
          </a:p>
          <a:p>
            <a:pPr>
              <a:lnSpc>
                <a:spcPct val="100000"/>
              </a:lnSpc>
            </a:pPr>
            <a:r>
              <a:rPr sz="1250" b="0">
                <a:solidFill>
                  <a:srgbClr val="E6E6E6"/>
                </a:solidFill>
                <a:latin typeface="Consolas"/>
              </a:rPr>
              <a:t>SQL&gt; SELECT pdb_id, pdb_name, status, con_id FROM cdb_pdbs ORDER BY pdb_id;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컨텍스트 전환: ALTER SESSION SET CONTAINER</a:t>
            </a:r>
          </a:p>
        </p:txBody>
      </p:sp>
      <p:sp>
        <p:nvSpPr>
          <p:cNvPr id="4" name="TextBox 3"/>
          <p:cNvSpPr txBox="1"/>
          <p:nvPr/>
        </p:nvSpPr>
        <p:spPr>
          <a:xfrm>
            <a:off x="640080" y="1188720"/>
            <a:ext cx="10881360" cy="457200"/>
          </a:xfrm>
          <a:prstGeom prst="rect">
            <a:avLst/>
          </a:prstGeom>
          <a:noFill/>
        </p:spPr>
        <p:txBody>
          <a:bodyPr wrap="square" anchor="t" lIns="45720" rIns="45720" tIns="18288" bIns="18288">
            <a:spAutoFit/>
          </a:bodyPr>
          <a:lstStyle/>
          <a:p>
            <a:r>
              <a:rPr sz="1500" b="0">
                <a:solidFill>
                  <a:srgbClr val="5A6672"/>
                </a:solidFill>
                <a:latin typeface="Malgun Gothic"/>
              </a:rPr>
              <a:t>루트와 PDB 사이를 오가며 관리 컨텍스트를 전환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chor="t" lIns="45720" rIns="45720" tIns="18288" bIns="18288">
            <a:spAutoFit/>
          </a:bodyPr>
          <a:lstStyle/>
          <a:p>
            <a:pPr>
              <a:lnSpc>
                <a:spcPct val="100000"/>
              </a:lnSpc>
            </a:pPr>
            <a:r>
              <a:rPr sz="1250" b="0">
                <a:solidFill>
                  <a:srgbClr val="7EC699"/>
                </a:solidFill>
                <a:latin typeface="Consolas"/>
              </a:rPr>
              <a:t>-- 루트에서 특정 PDB로 컨텍스트 전환</a:t>
            </a:r>
          </a:p>
          <a:p>
            <a:pPr>
              <a:lnSpc>
                <a:spcPct val="100000"/>
              </a:lnSpc>
            </a:pPr>
            <a:r>
              <a:rPr sz="1250" b="0">
                <a:solidFill>
                  <a:srgbClr val="E6E6E6"/>
                </a:solidFill>
                <a:latin typeface="Consolas"/>
              </a:rPr>
              <a:t>SQL&gt; ALTER SESSION SET CONTAINER = SALES;</a:t>
            </a:r>
          </a:p>
          <a:p>
            <a:pPr>
              <a:lnSpc>
                <a:spcPct val="100000"/>
              </a:lnSpc>
            </a:pPr>
            <a:r>
              <a:rPr sz="1250" b="0">
                <a:solidFill>
                  <a:srgbClr val="E6E6E6"/>
                </a:solidFill>
                <a:latin typeface="Consolas"/>
              </a:rPr>
              <a:t>Session altered.</a:t>
            </a:r>
          </a:p>
          <a:p>
            <a:pPr>
              <a:lnSpc>
                <a:spcPct val="100000"/>
              </a:lnSpc>
            </a:pPr>
            <a:r>
              <a:rPr sz="1250" b="0">
                <a:solidFill>
                  <a:srgbClr val="E6E6E6"/>
                </a:solidFill>
                <a:latin typeface="Consolas"/>
              </a:rPr>
              <a:t> </a:t>
            </a:r>
          </a:p>
          <a:p>
            <a:pPr>
              <a:lnSpc>
                <a:spcPct val="100000"/>
              </a:lnSpc>
            </a:pPr>
            <a:r>
              <a:rPr sz="1250" b="0">
                <a:solidFill>
                  <a:srgbClr val="E6E6E6"/>
                </a:solidFill>
                <a:latin typeface="Consolas"/>
              </a:rPr>
              <a:t>SQL&gt; SHOW CON_NAME</a:t>
            </a:r>
          </a:p>
          <a:p>
            <a:pPr>
              <a:lnSpc>
                <a:spcPct val="100000"/>
              </a:lnSpc>
            </a:pPr>
            <a:r>
              <a:rPr sz="1250" b="0">
                <a:solidFill>
                  <a:srgbClr val="E6E6E6"/>
                </a:solidFill>
                <a:latin typeface="Consolas"/>
              </a:rPr>
              <a:t>SALES</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다시 루트로 복귀</a:t>
            </a:r>
          </a:p>
          <a:p>
            <a:pPr>
              <a:lnSpc>
                <a:spcPct val="100000"/>
              </a:lnSpc>
            </a:pPr>
            <a:r>
              <a:rPr sz="1250" b="0">
                <a:solidFill>
                  <a:srgbClr val="E6E6E6"/>
                </a:solidFill>
                <a:latin typeface="Consolas"/>
              </a:rPr>
              <a:t>SQL&gt; ALTER SESSION SET CONTAINER = CDB$ROOT;</a:t>
            </a:r>
          </a:p>
          <a:p>
            <a:pPr>
              <a:lnSpc>
                <a:spcPct val="100000"/>
              </a:lnSpc>
            </a:pPr>
            <a:r>
              <a:rPr sz="1250" b="0">
                <a:solidFill>
                  <a:srgbClr val="E6E6E6"/>
                </a:solidFill>
                <a:latin typeface="Consolas"/>
              </a:rPr>
              <a:t>Session altered.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공통 사용자와 로컬 사용자</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공통 사용자(common user): 루트에 정의, 모든 컨테이너에서 인식</a:t>
            </a:r>
          </a:p>
          <a:p>
            <a:pPr>
              <a:lnSpc>
                <a:spcPct val="105000"/>
              </a:lnSpc>
              <a:spcAft>
                <a:spcPts val="1000"/>
              </a:spcAft>
            </a:pPr>
            <a:r>
              <a:rPr sz="1600" b="0">
                <a:solidFill>
                  <a:srgbClr val="5A6672"/>
                </a:solidFill>
                <a:latin typeface="Malgun Gothic"/>
              </a:rPr>
              <a:t>    –  Oracle 기본 SYS, SYSTEM / 관리자 생성 시 C## 또는 c## 접두사 필수 (예: C##ADMIN)</a:t>
            </a:r>
          </a:p>
          <a:p>
            <a:pPr>
              <a:lnSpc>
                <a:spcPct val="105000"/>
              </a:lnSpc>
              <a:spcAft>
                <a:spcPts val="1000"/>
              </a:spcAft>
            </a:pPr>
            <a:r>
              <a:rPr sz="1800" b="0">
                <a:solidFill>
                  <a:srgbClr val="202830"/>
                </a:solidFill>
                <a:latin typeface="Malgun Gothic"/>
              </a:rPr>
              <a:t>•  로컬 사용자(local user): 특정 하나의 PDB 안에서만 존재·인식</a:t>
            </a:r>
          </a:p>
          <a:p>
            <a:pPr>
              <a:lnSpc>
                <a:spcPct val="105000"/>
              </a:lnSpc>
              <a:spcAft>
                <a:spcPts val="1000"/>
              </a:spcAft>
            </a:pPr>
            <a:r>
              <a:rPr sz="1600" b="0">
                <a:solidFill>
                  <a:srgbClr val="5A6672"/>
                </a:solidFill>
                <a:latin typeface="Malgun Gothic"/>
              </a:rPr>
              <a:t>    –  서로 다른 PDB에 동명의 로컬 사용자가 각각 독립적으로 존재 가능</a:t>
            </a:r>
          </a:p>
          <a:p>
            <a:pPr>
              <a:lnSpc>
                <a:spcPct val="105000"/>
              </a:lnSpc>
              <a:spcAft>
                <a:spcPts val="1000"/>
              </a:spcAft>
            </a:pPr>
            <a:r>
              <a:rPr sz="1800" b="0">
                <a:solidFill>
                  <a:srgbClr val="202830"/>
                </a:solidFill>
                <a:latin typeface="Malgun Gothic"/>
              </a:rPr>
              <a:t>•  상세(CONTAINER 절 등)는 21~22장에서 다룸</a:t>
            </a:r>
          </a:p>
        </p:txBody>
      </p:sp>
      <p:sp>
        <p:nvSpPr>
          <p:cNvPr id="5" name="Rectangle 4"/>
          <p:cNvSpPr/>
          <p:nvPr/>
        </p:nvSpPr>
        <p:spPr>
          <a:xfrm>
            <a:off x="640080" y="5623560"/>
            <a:ext cx="10908792" cy="960120"/>
          </a:xfrm>
          <a:prstGeom prst="rect">
            <a:avLst/>
          </a:prstGeom>
          <a:solidFill>
            <a:srgbClr val="F2F4F6"/>
          </a:solidFill>
          <a:ln w="12700">
            <a:solidFill>
              <a:srgbClr val="1F5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1F5CA8"/>
                </a:solidFill>
                <a:latin typeface="Malgun Gothic"/>
              </a:rPr>
              <a:t>실무 시나리오:</a:t>
            </a:r>
          </a:p>
          <a:p>
            <a:r>
              <a:rPr sz="1250" b="0">
                <a:solidFill>
                  <a:srgbClr val="202830"/>
                </a:solidFill>
                <a:latin typeface="Malgun Gothic"/>
              </a:rPr>
              <a:t>루트에서 CDB_TABLES, CDB_USERS 같은 CDB_* 뷰를 조회하면 CON_ID와 함께 모든 PDB 정보를 한 번에 본다. 특정 PDB에서 DBA_TABLES는 그 PDB 하나만 보인다. '전체 조망은 루트의 CDB_* 뷰, 개별 관리는 해당 PDB의 DBA_* 뷰'가 실무 원칙이다.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애플리케이션 컨테이너</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공통 데이터·메타데이터를 공유하는 여러 PDB를 하나의 애플리케이션 단위로 묶는 선택적 컨테이너</a:t>
            </a:r>
          </a:p>
          <a:p>
            <a:pPr>
              <a:lnSpc>
                <a:spcPct val="105000"/>
              </a:lnSpc>
              <a:spcAft>
                <a:spcPts val="1000"/>
              </a:spcAft>
            </a:pPr>
            <a:r>
              <a:rPr sz="1800" b="0">
                <a:solidFill>
                  <a:srgbClr val="202830"/>
                </a:solidFill>
                <a:latin typeface="Malgun Gothic"/>
              </a:rPr>
              <a:t>•  자체 루트(애플리케이션 루트, Root PDB)를 가짐</a:t>
            </a:r>
          </a:p>
          <a:p>
            <a:pPr>
              <a:lnSpc>
                <a:spcPct val="105000"/>
              </a:lnSpc>
              <a:spcAft>
                <a:spcPts val="1000"/>
              </a:spcAft>
            </a:pPr>
            <a:r>
              <a:rPr sz="1600" b="0">
                <a:solidFill>
                  <a:srgbClr val="5A6672"/>
                </a:solidFill>
                <a:latin typeface="Malgun Gothic"/>
              </a:rPr>
              <a:t>    –  애플리케이션 공통 객체(예: 여러 테넌트가 공유하는 마스터 테이블)를 루트에 배치</a:t>
            </a:r>
          </a:p>
          <a:p>
            <a:pPr>
              <a:lnSpc>
                <a:spcPct val="105000"/>
              </a:lnSpc>
              <a:spcAft>
                <a:spcPts val="1000"/>
              </a:spcAft>
            </a:pPr>
            <a:r>
              <a:rPr sz="1600" b="0">
                <a:solidFill>
                  <a:srgbClr val="5A6672"/>
                </a:solidFill>
                <a:latin typeface="Malgun Gothic"/>
              </a:rPr>
              <a:t>    –  그 컨테이너의 모든 애플리케이션 PDB가 이를 공유</a:t>
            </a:r>
          </a:p>
          <a:p>
            <a:pPr>
              <a:lnSpc>
                <a:spcPct val="105000"/>
              </a:lnSpc>
              <a:spcAft>
                <a:spcPts val="1000"/>
              </a:spcAft>
            </a:pPr>
            <a:r>
              <a:rPr sz="1800" b="0">
                <a:solidFill>
                  <a:srgbClr val="202830"/>
                </a:solidFill>
                <a:latin typeface="Malgun Gothic"/>
              </a:rPr>
              <a:t>•  SaaS 사업자가 다수 고객(테넌트)에게 동일 애플리케이션을 제공할 때 유용</a:t>
            </a:r>
          </a:p>
        </p:txBody>
      </p:sp>
      <p:sp>
        <p:nvSpPr>
          <p:cNvPr id="5" name="Rectangle 4"/>
          <p:cNvSpPr/>
          <p:nvPr/>
        </p:nvSpPr>
        <p:spPr>
          <a:xfrm>
            <a:off x="640080" y="5623560"/>
            <a:ext cx="10908792" cy="960120"/>
          </a:xfrm>
          <a:prstGeom prst="rect">
            <a:avLst/>
          </a:prstGeom>
          <a:solidFill>
            <a:srgbClr val="F2F4F6"/>
          </a:solidFill>
          <a:ln w="12700">
            <a:solidFill>
              <a:srgbClr val="B88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B88600"/>
                </a:solidFill>
                <a:latin typeface="Malgun Gothic"/>
              </a:rPr>
              <a:t>참고:</a:t>
            </a:r>
          </a:p>
          <a:p>
            <a:r>
              <a:rPr sz="1250" b="0">
                <a:solidFill>
                  <a:srgbClr val="202830"/>
                </a:solidFill>
                <a:latin typeface="Malgun Gothic"/>
              </a:rPr>
              <a:t>PDB는 UNPLUG로 한 CDB에서 분리해 다른 CDB에 PLUG IN 할 수 있다(14~15장). 이 이식성 덕분에 개발 CDB에서 테스트한 PDB를 운영 CDB로 옮기거나, 상위 버전 CDB에 꽂아 업그레이드할 수 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lIns="45720" rIns="45720" tIns="18288" bIns="18288">
            <a:spAutoFit/>
          </a:bodyPr>
          <a:lstStyle/>
          <a:p>
            <a:r>
              <a:rPr sz="6600" b="1">
                <a:solidFill>
                  <a:srgbClr val="C0392B"/>
                </a:solidFill>
                <a:latin typeface="Malgun Gothic"/>
              </a:rPr>
              <a:t>1.4</a:t>
            </a:r>
          </a:p>
        </p:txBody>
      </p:sp>
      <p:sp>
        <p:nvSpPr>
          <p:cNvPr id="3" name="TextBox 2"/>
          <p:cNvSpPr txBox="1"/>
          <p:nvPr/>
        </p:nvSpPr>
        <p:spPr>
          <a:xfrm>
            <a:off x="822960" y="2743200"/>
            <a:ext cx="10515600" cy="1097280"/>
          </a:xfrm>
          <a:prstGeom prst="rect">
            <a:avLst/>
          </a:prstGeom>
          <a:noFill/>
        </p:spPr>
        <p:txBody>
          <a:bodyPr wrap="square" anchor="t" lIns="45720" rIns="45720" tIns="18288" bIns="18288">
            <a:spAutoFit/>
          </a:bodyPr>
          <a:lstStyle/>
          <a:p>
            <a:r>
              <a:rPr sz="3400" b="1">
                <a:solidFill>
                  <a:srgbClr val="FFFFFF"/>
                </a:solidFill>
                <a:latin typeface="Malgun Gothic"/>
              </a:rPr>
              <a:t>Oracle 데이터베이스 인스턴스 구성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nchor="t" lIns="45720" rIns="45720" tIns="18288" bIns="18288">
            <a:spAutoFit/>
          </a:bodyPr>
          <a:lstStyle/>
          <a:p>
            <a:pPr>
              <a:spcAft>
                <a:spcPts val="600"/>
              </a:spcAft>
            </a:pPr>
            <a:r>
              <a:rPr sz="1600" b="0">
                <a:solidFill>
                  <a:srgbClr val="C5CED6"/>
                </a:solidFill>
                <a:latin typeface="Malgun Gothic"/>
              </a:rPr>
              <a:t>•  각 인스턴스는 오직 하나의 데이터베이스와만 연관</a:t>
            </a:r>
          </a:p>
          <a:p>
            <a:pPr>
              <a:spcAft>
                <a:spcPts val="600"/>
              </a:spcAft>
            </a:pPr>
            <a:r>
              <a:rPr sz="1600" b="0">
                <a:solidFill>
                  <a:srgbClr val="C5CED6"/>
                </a:solidFill>
                <a:latin typeface="Malgun Gothic"/>
              </a:rPr>
              <a:t>•  하나의 인스턴스는 공유될 수 없음</a:t>
            </a:r>
          </a:p>
          <a:p>
            <a:pPr>
              <a:spcAft>
                <a:spcPts val="600"/>
              </a:spcAft>
            </a:pPr>
            <a:r>
              <a:rPr sz="1600" b="0">
                <a:solidFill>
                  <a:srgbClr val="C5CED6"/>
                </a:solidFill>
                <a:latin typeface="Malgun Gothic"/>
              </a:rPr>
              <a:t>•  비클러스터(1:1) vs 클러스터(RAC, 1 DB : N 인스턴스)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인스턴스-데이터베이스 관계 규칙</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각 데이터베이스 인스턴스는 오직 하나의 데이터베이스와만 연관</a:t>
            </a:r>
          </a:p>
          <a:p>
            <a:pPr>
              <a:lnSpc>
                <a:spcPct val="105000"/>
              </a:lnSpc>
              <a:spcAft>
                <a:spcPts val="1000"/>
              </a:spcAft>
            </a:pPr>
            <a:r>
              <a:rPr sz="1800" b="0">
                <a:solidFill>
                  <a:srgbClr val="202830"/>
                </a:solidFill>
                <a:latin typeface="Malgun Gothic"/>
              </a:rPr>
              <a:t>•  하나의 데이터베이스 인스턴스는 공유될 수 없음</a:t>
            </a:r>
          </a:p>
          <a:p>
            <a:pPr>
              <a:lnSpc>
                <a:spcPct val="105000"/>
              </a:lnSpc>
              <a:spcAft>
                <a:spcPts val="1000"/>
              </a:spcAft>
            </a:pPr>
            <a:r>
              <a:rPr sz="1800" b="0">
                <a:solidFill>
                  <a:srgbClr val="202830"/>
                </a:solidFill>
                <a:latin typeface="Malgun Gothic"/>
              </a:rPr>
              <a:t>•  한 서버에서 여러 DB 운영 → 각 DB마다 고유 SGA·백그라운드 프로세스 집합</a:t>
            </a:r>
          </a:p>
          <a:p>
            <a:pPr>
              <a:lnSpc>
                <a:spcPct val="105000"/>
              </a:lnSpc>
              <a:spcAft>
                <a:spcPts val="1000"/>
              </a:spcAft>
            </a:pPr>
            <a:r>
              <a:rPr sz="1600" b="0">
                <a:solidFill>
                  <a:srgbClr val="5A6672"/>
                </a:solidFill>
                <a:latin typeface="Malgun Gothic"/>
              </a:rPr>
              <a:t>    –  서로 다른 인스턴스는 환경변수 ORACLE_SID로 구분</a:t>
            </a:r>
          </a:p>
          <a:p>
            <a:pPr>
              <a:lnSpc>
                <a:spcPct val="105000"/>
              </a:lnSpc>
              <a:spcAft>
                <a:spcPts val="1000"/>
              </a:spcAft>
            </a:pPr>
            <a:r>
              <a:rPr sz="1800" b="0">
                <a:solidFill>
                  <a:srgbClr val="202830"/>
                </a:solidFill>
                <a:latin typeface="Malgun Gothic"/>
              </a:rPr>
              <a:t>•  멀티테넌트 도입 시: DB마다 별도 인스턴스 대신 하나의 CDB에 여러 PDB로 인스턴스 수 감소</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비클러스터 구성 vs 클러스터 구성</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비클러스터 시스템(Nonclustered):</a:t>
            </a:r>
          </a:p>
          <a:p>
            <a:pPr>
              <a:lnSpc>
                <a:spcPct val="105000"/>
              </a:lnSpc>
              <a:spcAft>
                <a:spcPts val="1000"/>
              </a:spcAft>
            </a:pPr>
            <a:r>
              <a:rPr sz="1600" b="0">
                <a:solidFill>
                  <a:srgbClr val="5A6672"/>
                </a:solidFill>
                <a:latin typeface="Malgun Gothic"/>
              </a:rPr>
              <a:t>    –  각 서버가 자신만의 로컬 스토리지, 스토리지(D1,D2)마다 인스턴스(I1,I2) 1:1</a:t>
            </a:r>
          </a:p>
          <a:p>
            <a:pPr>
              <a:lnSpc>
                <a:spcPct val="105000"/>
              </a:lnSpc>
              <a:spcAft>
                <a:spcPts val="1000"/>
              </a:spcAft>
            </a:pPr>
            <a:r>
              <a:rPr sz="1600" b="0">
                <a:solidFill>
                  <a:srgbClr val="5A6672"/>
                </a:solidFill>
                <a:latin typeface="Malgun Gothic"/>
              </a:rPr>
              <a:t>    –  인스턴스와 데이터베이스가 물리·논리 모두 1:1 (단일 인스턴스 구성)</a:t>
            </a:r>
          </a:p>
          <a:p>
            <a:pPr>
              <a:lnSpc>
                <a:spcPct val="105000"/>
              </a:lnSpc>
              <a:spcAft>
                <a:spcPts val="1000"/>
              </a:spcAft>
            </a:pPr>
            <a:r>
              <a:rPr sz="1800" b="0">
                <a:solidFill>
                  <a:srgbClr val="202830"/>
                </a:solidFill>
                <a:latin typeface="Malgun Gothic"/>
              </a:rPr>
              <a:t>•  클러스터 시스템(Clustered):</a:t>
            </a:r>
          </a:p>
          <a:p>
            <a:pPr>
              <a:lnSpc>
                <a:spcPct val="105000"/>
              </a:lnSpc>
              <a:spcAft>
                <a:spcPts val="1000"/>
              </a:spcAft>
            </a:pPr>
            <a:r>
              <a:rPr sz="1600" b="0">
                <a:solidFill>
                  <a:srgbClr val="5A6672"/>
                </a:solidFill>
                <a:latin typeface="Malgun Gothic"/>
              </a:rPr>
              <a:t>    –  여러 서버가 하나의 공유 스토리지(D)를 함께 바라봄</a:t>
            </a:r>
          </a:p>
          <a:p>
            <a:pPr>
              <a:lnSpc>
                <a:spcPct val="105000"/>
              </a:lnSpc>
              <a:spcAft>
                <a:spcPts val="1000"/>
              </a:spcAft>
            </a:pPr>
            <a:r>
              <a:rPr sz="1600" b="0">
                <a:solidFill>
                  <a:srgbClr val="5A6672"/>
                </a:solidFill>
                <a:latin typeface="Malgun Gothic"/>
              </a:rPr>
              <a:t>    –  그 위에 여러 인스턴스(I1,I2,I3)가 동일한 하나의 DB를 공유 → RAC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Oracle Real Application Clusters (RAC)</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여러 서버 위에서 하나의 공유 데이터베이스에 대해 여러 인스턴스</a:t>
            </a:r>
          </a:p>
          <a:p>
            <a:pPr>
              <a:lnSpc>
                <a:spcPct val="105000"/>
              </a:lnSpc>
              <a:spcAft>
                <a:spcPts val="1000"/>
              </a:spcAft>
            </a:pPr>
            <a:r>
              <a:rPr sz="1800" b="0">
                <a:solidFill>
                  <a:srgbClr val="202830"/>
                </a:solidFill>
                <a:latin typeface="Malgun Gothic"/>
              </a:rPr>
              <a:t>•  '인스턴스 1 : DB 1' 규칙은 유지 → '데이터베이스 1 : 인스턴스 N' 방향 확장</a:t>
            </a:r>
          </a:p>
          <a:p>
            <a:pPr>
              <a:lnSpc>
                <a:spcPct val="105000"/>
              </a:lnSpc>
              <a:spcAft>
                <a:spcPts val="1000"/>
              </a:spcAft>
            </a:pPr>
            <a:r>
              <a:rPr sz="1800" b="0">
                <a:solidFill>
                  <a:srgbClr val="202830"/>
                </a:solidFill>
                <a:latin typeface="Malgun Gothic"/>
              </a:rPr>
              <a:t>•  대표 가치:</a:t>
            </a:r>
          </a:p>
          <a:p>
            <a:pPr>
              <a:lnSpc>
                <a:spcPct val="105000"/>
              </a:lnSpc>
              <a:spcAft>
                <a:spcPts val="1000"/>
              </a:spcAft>
            </a:pPr>
            <a:r>
              <a:rPr sz="1600" b="0">
                <a:solidFill>
                  <a:srgbClr val="5A6672"/>
                </a:solidFill>
                <a:latin typeface="Malgun Gothic"/>
              </a:rPr>
              <a:t>    –  고가용성(HA): 한 노드 장애 시 나머지 노드가 계속 서비스</a:t>
            </a:r>
          </a:p>
          <a:p>
            <a:pPr>
              <a:lnSpc>
                <a:spcPct val="105000"/>
              </a:lnSpc>
              <a:spcAft>
                <a:spcPts val="1000"/>
              </a:spcAft>
            </a:pPr>
            <a:r>
              <a:rPr sz="1600" b="0">
                <a:solidFill>
                  <a:srgbClr val="5A6672"/>
                </a:solidFill>
                <a:latin typeface="Malgun Gothic"/>
              </a:rPr>
              <a:t>    –  확장성: 노드 추가로 처리 능력을 수평 확장</a:t>
            </a:r>
          </a:p>
          <a:p>
            <a:pPr>
              <a:lnSpc>
                <a:spcPct val="105000"/>
              </a:lnSpc>
              <a:spcAft>
                <a:spcPts val="1000"/>
              </a:spcAft>
            </a:pPr>
            <a:r>
              <a:rPr sz="1800" b="0">
                <a:solidFill>
                  <a:srgbClr val="202830"/>
                </a:solidFill>
                <a:latin typeface="Malgun Gothic"/>
              </a:rPr>
              <a:t>•  캐시 퓨전(Cache Fusion)으로 인터커넥트를 통해 버퍼 공유</a:t>
            </a:r>
          </a:p>
          <a:p>
            <a:pPr>
              <a:lnSpc>
                <a:spcPct val="105000"/>
              </a:lnSpc>
              <a:spcAft>
                <a:spcPts val="1000"/>
              </a:spcAft>
            </a:pPr>
            <a:r>
              <a:rPr sz="1800" b="0">
                <a:solidFill>
                  <a:srgbClr val="202830"/>
                </a:solidFill>
                <a:latin typeface="Malgun Gothic"/>
              </a:rPr>
              <a:t>•  필요: 공유 스토리지(Oracle ASM) + 클러스터웨어(Grid Infrastructure)</a:t>
            </a:r>
          </a:p>
        </p:txBody>
      </p:sp>
      <p:sp>
        <p:nvSpPr>
          <p:cNvPr id="5" name="Rectangle 4"/>
          <p:cNvSpPr/>
          <p:nvPr/>
        </p:nvSpPr>
        <p:spPr>
          <a:xfrm>
            <a:off x="640080" y="5623560"/>
            <a:ext cx="10908792" cy="960120"/>
          </a:xfrm>
          <a:prstGeom prst="rect">
            <a:avLst/>
          </a:prstGeom>
          <a:solidFill>
            <a:srgbClr val="F2F4F6"/>
          </a:solidFill>
          <a:ln w="12700">
            <a:solidFill>
              <a:srgbClr val="B88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B88600"/>
                </a:solidFill>
                <a:latin typeface="Malgun Gothic"/>
              </a:rPr>
              <a:t>참고:</a:t>
            </a:r>
          </a:p>
          <a:p>
            <a:r>
              <a:rPr sz="1250" b="0">
                <a:solidFill>
                  <a:srgbClr val="202830"/>
                </a:solidFill>
                <a:latin typeface="Malgun Gothic"/>
              </a:rPr>
              <a:t>멀티테넌트(CDB/PDB)와 RAC는 배타적이지 않다. RAC 위에 CDB를 올리면 여러 인스턴스가 하나의 CDB를 공유하고, 각 PDB는 모든 인스턴스에서 서비스되거나 특정 인스턴스에 매핑될 수 있다. 즉 자원 공유(RAC)+논리 격리(PDB)를 동시에 달성한다.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RAC 전체 인스턴스 조회: GV$INSTANCE</a:t>
            </a:r>
          </a:p>
        </p:txBody>
      </p:sp>
      <p:sp>
        <p:nvSpPr>
          <p:cNvPr id="4" name="TextBox 3"/>
          <p:cNvSpPr txBox="1"/>
          <p:nvPr/>
        </p:nvSpPr>
        <p:spPr>
          <a:xfrm>
            <a:off x="640080" y="1188720"/>
            <a:ext cx="10881360" cy="457200"/>
          </a:xfrm>
          <a:prstGeom prst="rect">
            <a:avLst/>
          </a:prstGeom>
          <a:noFill/>
        </p:spPr>
        <p:txBody>
          <a:bodyPr wrap="square" anchor="t" lIns="45720" rIns="45720" tIns="18288" bIns="18288">
            <a:spAutoFit/>
          </a:bodyPr>
          <a:lstStyle/>
          <a:p>
            <a:r>
              <a:rPr sz="1500" b="0">
                <a:solidFill>
                  <a:srgbClr val="5A6672"/>
                </a:solidFill>
                <a:latin typeface="Malgun Gothic"/>
              </a:rPr>
              <a:t>V$INSTANCE = 내가 접속한 인스턴스 하나, GV$INSTANCE = 클러스터 모든 인스턴스(INST_ID)</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nchor="t" lIns="45720" rIns="45720" tIns="18288" bIns="18288">
            <a:spAutoFit/>
          </a:bodyPr>
          <a:lstStyle/>
          <a:p>
            <a:pPr>
              <a:lnSpc>
                <a:spcPct val="100000"/>
              </a:lnSpc>
            </a:pPr>
            <a:r>
              <a:rPr sz="1250" b="0">
                <a:solidFill>
                  <a:srgbClr val="7EC699"/>
                </a:solidFill>
                <a:latin typeface="Consolas"/>
              </a:rPr>
              <a:t>-- 단일 인스턴스 정보</a:t>
            </a:r>
          </a:p>
          <a:p>
            <a:pPr>
              <a:lnSpc>
                <a:spcPct val="100000"/>
              </a:lnSpc>
            </a:pPr>
            <a:r>
              <a:rPr sz="1250" b="0">
                <a:solidFill>
                  <a:srgbClr val="E6E6E6"/>
                </a:solidFill>
                <a:latin typeface="Consolas"/>
              </a:rPr>
              <a:t>SQL&gt; SELECT instance_number, instance_name, host_name, status</a:t>
            </a:r>
          </a:p>
          <a:p>
            <a:pPr>
              <a:lnSpc>
                <a:spcPct val="100000"/>
              </a:lnSpc>
            </a:pPr>
            <a:r>
              <a:rPr sz="1250" b="0">
                <a:solidFill>
                  <a:srgbClr val="E6E6E6"/>
                </a:solidFill>
                <a:latin typeface="Consolas"/>
              </a:rPr>
              <a:t>  2  FROM   v$instance;</a:t>
            </a:r>
          </a:p>
          <a:p>
            <a:pPr>
              <a:lnSpc>
                <a:spcPct val="100000"/>
              </a:lnSpc>
            </a:pPr>
            <a:r>
              <a:rPr sz="1250" b="0">
                <a:solidFill>
                  <a:srgbClr val="E6E6E6"/>
                </a:solidFill>
                <a:latin typeface="Consolas"/>
              </a:rPr>
              <a:t> </a:t>
            </a:r>
          </a:p>
          <a:p>
            <a:pPr>
              <a:lnSpc>
                <a:spcPct val="100000"/>
              </a:lnSpc>
            </a:pPr>
            <a:r>
              <a:rPr sz="1250" b="0">
                <a:solidFill>
                  <a:srgbClr val="7EC699"/>
                </a:solidFill>
                <a:latin typeface="Consolas"/>
              </a:rPr>
              <a:t>-- RAC의 모든 인스턴스를 한 번에 (전역 뷰)</a:t>
            </a:r>
          </a:p>
          <a:p>
            <a:pPr>
              <a:lnSpc>
                <a:spcPct val="100000"/>
              </a:lnSpc>
            </a:pPr>
            <a:r>
              <a:rPr sz="1250" b="0">
                <a:solidFill>
                  <a:srgbClr val="E6E6E6"/>
                </a:solidFill>
                <a:latin typeface="Consolas"/>
              </a:rPr>
              <a:t>SQL&gt; SELECT inst_id, instance_name, host_name, status</a:t>
            </a:r>
          </a:p>
          <a:p>
            <a:pPr>
              <a:lnSpc>
                <a:spcPct val="100000"/>
              </a:lnSpc>
            </a:pPr>
            <a:r>
              <a:rPr sz="1250" b="0">
                <a:solidFill>
                  <a:srgbClr val="E6E6E6"/>
                </a:solidFill>
                <a:latin typeface="Consolas"/>
              </a:rPr>
              <a:t>  2  FROM   gv$instance ORDER BY inst_id;</a:t>
            </a:r>
          </a:p>
          <a:p>
            <a:pPr>
              <a:lnSpc>
                <a:spcPct val="100000"/>
              </a:lnSpc>
            </a:pPr>
            <a:r>
              <a:rPr sz="1250" b="0">
                <a:solidFill>
                  <a:srgbClr val="E6E6E6"/>
                </a:solidFill>
                <a:latin typeface="Consolas"/>
              </a:rPr>
              <a:t>INST_ID INSTANCE_NAME  HOST_NAME    STATUS</a:t>
            </a:r>
          </a:p>
          <a:p>
            <a:pPr>
              <a:lnSpc>
                <a:spcPct val="100000"/>
              </a:lnSpc>
            </a:pPr>
            <a:r>
              <a:rPr sz="1250" b="0">
                <a:solidFill>
                  <a:srgbClr val="7EC699"/>
                </a:solidFill>
                <a:latin typeface="Consolas"/>
              </a:rPr>
              <a:t>------- -------------- ------------ ------</a:t>
            </a:r>
          </a:p>
          <a:p>
            <a:pPr>
              <a:lnSpc>
                <a:spcPct val="100000"/>
              </a:lnSpc>
            </a:pPr>
            <a:r>
              <a:rPr sz="1250" b="0">
                <a:solidFill>
                  <a:srgbClr val="E6E6E6"/>
                </a:solidFill>
                <a:latin typeface="Consolas"/>
              </a:rPr>
              <a:t>      1 orcl1          rac-node1    OPEN</a:t>
            </a:r>
          </a:p>
          <a:p>
            <a:pPr>
              <a:lnSpc>
                <a:spcPct val="100000"/>
              </a:lnSpc>
            </a:pPr>
            <a:r>
              <a:rPr sz="1250" b="0">
                <a:solidFill>
                  <a:srgbClr val="E6E6E6"/>
                </a:solidFill>
                <a:latin typeface="Consolas"/>
              </a:rPr>
              <a:t>      2 orcl2          rac-node2    OPEN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nchor="t" lIns="45720" rIns="45720" tIns="18288" bIns="18288">
            <a:spAutoFit/>
          </a:bodyPr>
          <a:lstStyle/>
          <a:p>
            <a:r>
              <a:rPr sz="6600" b="1">
                <a:solidFill>
                  <a:srgbClr val="C0392B"/>
                </a:solidFill>
                <a:latin typeface="Malgun Gothic"/>
              </a:rPr>
              <a:t>1.5</a:t>
            </a:r>
          </a:p>
        </p:txBody>
      </p:sp>
      <p:sp>
        <p:nvSpPr>
          <p:cNvPr id="3" name="TextBox 2"/>
          <p:cNvSpPr txBox="1"/>
          <p:nvPr/>
        </p:nvSpPr>
        <p:spPr>
          <a:xfrm>
            <a:off x="822960" y="2743200"/>
            <a:ext cx="10515600" cy="1097280"/>
          </a:xfrm>
          <a:prstGeom prst="rect">
            <a:avLst/>
          </a:prstGeom>
          <a:noFill/>
        </p:spPr>
        <p:txBody>
          <a:bodyPr wrap="square" anchor="t" lIns="45720" rIns="45720" tIns="18288" bIns="18288">
            <a:spAutoFit/>
          </a:bodyPr>
          <a:lstStyle/>
          <a:p>
            <a:r>
              <a:rPr sz="3400" b="1">
                <a:solidFill>
                  <a:srgbClr val="FFFFFF"/>
                </a:solidFill>
                <a:latin typeface="Malgun Gothic"/>
              </a:rPr>
              <a:t>데이터베이스 샤딩(Database Sharding)</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nchor="t" lIns="45720" rIns="45720" tIns="18288" bIns="18288">
            <a:spAutoFit/>
          </a:bodyPr>
          <a:lstStyle/>
          <a:p>
            <a:pPr>
              <a:spcAft>
                <a:spcPts val="600"/>
              </a:spcAft>
            </a:pPr>
            <a:r>
              <a:rPr sz="1600" b="0">
                <a:solidFill>
                  <a:srgbClr val="C5CED6"/>
                </a:solidFill>
                <a:latin typeface="Malgun Gothic"/>
              </a:rPr>
              <a:t>•  확장성·가용성을 위한 무공유(shared-nothing) 아키텍처</a:t>
            </a:r>
          </a:p>
          <a:p>
            <a:pPr>
              <a:spcAft>
                <a:spcPts val="600"/>
              </a:spcAft>
            </a:pPr>
            <a:r>
              <a:rPr sz="1600" b="0">
                <a:solidFill>
                  <a:srgbClr val="C5CED6"/>
                </a:solidFill>
                <a:latin typeface="Malgun Gothic"/>
              </a:rPr>
              <a:t>•  독립적인 데이터베이스들에 걸쳐 데이터를 수평 분할</a:t>
            </a:r>
          </a:p>
          <a:p>
            <a:pPr>
              <a:spcAft>
                <a:spcPts val="600"/>
              </a:spcAft>
            </a:pPr>
            <a:r>
              <a:rPr sz="1600" b="0">
                <a:solidFill>
                  <a:srgbClr val="C5CED6"/>
                </a:solidFill>
                <a:latin typeface="Malgun Gothic"/>
              </a:rPr>
              <a:t>•  클러스터웨어 없이 느슨하게 결합된(loosely coupled) 데이터 계층</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샤딩이란 무엇인가</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샤딩(Sharding): 데이터가 여러 '독립적인 데이터베이스'에 걸쳐 수평 분할되는 데이터 계층 아키텍처</a:t>
            </a:r>
          </a:p>
          <a:p>
            <a:pPr>
              <a:lnSpc>
                <a:spcPct val="105000"/>
              </a:lnSpc>
              <a:spcAft>
                <a:spcPts val="1000"/>
              </a:spcAft>
            </a:pPr>
            <a:r>
              <a:rPr sz="1800" b="0">
                <a:solidFill>
                  <a:srgbClr val="202830"/>
                </a:solidFill>
                <a:latin typeface="Malgun Gothic"/>
              </a:rPr>
              <a:t>•  각각의 데이터베이스 = 샤드(shard)</a:t>
            </a:r>
          </a:p>
          <a:p>
            <a:pPr>
              <a:lnSpc>
                <a:spcPct val="105000"/>
              </a:lnSpc>
              <a:spcAft>
                <a:spcPts val="1000"/>
              </a:spcAft>
            </a:pPr>
            <a:r>
              <a:rPr sz="1800" b="0">
                <a:solidFill>
                  <a:srgbClr val="202830"/>
                </a:solidFill>
                <a:latin typeface="Malgun Gothic"/>
              </a:rPr>
              <a:t>•  모든 샤드를 합친 하나의 논리적 데이터베이스 = 샤디드 데이터베이스(SDB)</a:t>
            </a:r>
          </a:p>
          <a:p>
            <a:pPr>
              <a:lnSpc>
                <a:spcPct val="105000"/>
              </a:lnSpc>
              <a:spcAft>
                <a:spcPts val="1000"/>
              </a:spcAft>
            </a:pPr>
            <a:r>
              <a:rPr sz="1800" b="0">
                <a:solidFill>
                  <a:srgbClr val="202830"/>
                </a:solidFill>
                <a:latin typeface="Malgun Gothic"/>
              </a:rPr>
              <a:t>•  예: 서버 A·B·C 세 대에 나뉜 샤딩된 테이블을 합쳐 하나의 SDB로 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수평 분할(Horizontal Partitioning)</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하나의 테이블을 여러 샤드에 나누되:</a:t>
            </a:r>
          </a:p>
          <a:p>
            <a:pPr>
              <a:lnSpc>
                <a:spcPct val="105000"/>
              </a:lnSpc>
              <a:spcAft>
                <a:spcPts val="1000"/>
              </a:spcAft>
            </a:pPr>
            <a:r>
              <a:rPr sz="1600" b="0">
                <a:solidFill>
                  <a:srgbClr val="5A6672"/>
                </a:solidFill>
                <a:latin typeface="Malgun Gothic"/>
              </a:rPr>
              <a:t>    –  각 샤드가 '동일한 컬럼(same columns)'을 가짐</a:t>
            </a:r>
          </a:p>
          <a:p>
            <a:pPr>
              <a:lnSpc>
                <a:spcPct val="105000"/>
              </a:lnSpc>
              <a:spcAft>
                <a:spcPts val="1000"/>
              </a:spcAft>
            </a:pPr>
            <a:r>
              <a:rPr sz="1600" b="0">
                <a:solidFill>
                  <a:srgbClr val="5A6672"/>
                </a:solidFill>
                <a:latin typeface="Malgun Gothic"/>
              </a:rPr>
              <a:t>    –  '서로 다른 행의 부분집합(different subset of rows)'을 담음</a:t>
            </a:r>
          </a:p>
          <a:p>
            <a:pPr>
              <a:lnSpc>
                <a:spcPct val="105000"/>
              </a:lnSpc>
              <a:spcAft>
                <a:spcPts val="1000"/>
              </a:spcAft>
            </a:pPr>
            <a:r>
              <a:rPr sz="1800" b="0">
                <a:solidFill>
                  <a:srgbClr val="202830"/>
                </a:solidFill>
                <a:latin typeface="Malgun Gothic"/>
              </a:rPr>
              <a:t>•  예: 고객 테이블을 고객ID 범위/해시로 샤드1(1~100만)·샤드2(100만~200만)·샤드3(200만~)</a:t>
            </a:r>
          </a:p>
          <a:p>
            <a:pPr>
              <a:lnSpc>
                <a:spcPct val="105000"/>
              </a:lnSpc>
              <a:spcAft>
                <a:spcPts val="1000"/>
              </a:spcAft>
            </a:pPr>
            <a:r>
              <a:rPr sz="1800" b="0">
                <a:solidFill>
                  <a:srgbClr val="202830"/>
                </a:solidFill>
                <a:latin typeface="Malgun Gothic"/>
              </a:rPr>
              <a:t>•  컬럼 구조(스키마)는 모든 샤드 동일, 행 데이터는 겹치지 않고 분산</a:t>
            </a:r>
          </a:p>
          <a:p>
            <a:pPr>
              <a:lnSpc>
                <a:spcPct val="105000"/>
              </a:lnSpc>
              <a:spcAft>
                <a:spcPts val="1000"/>
              </a:spcAft>
            </a:pPr>
            <a:r>
              <a:rPr sz="1800" b="0">
                <a:solidFill>
                  <a:srgbClr val="202830"/>
                </a:solidFill>
                <a:latin typeface="Malgun Gothic"/>
              </a:rPr>
              <a:t>•  컬럼 단위로 쪼개는 수직 분할과 대비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무공유(Shared-Nothing) 아키텍처</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샤드들은 CPU·메모리·스토리지 장치를 서로 공유하지 않음</a:t>
            </a:r>
          </a:p>
          <a:p>
            <a:pPr>
              <a:lnSpc>
                <a:spcPct val="105000"/>
              </a:lnSpc>
              <a:spcAft>
                <a:spcPts val="1000"/>
              </a:spcAft>
            </a:pPr>
            <a:r>
              <a:rPr sz="1800" b="0">
                <a:solidFill>
                  <a:srgbClr val="202830"/>
                </a:solidFill>
                <a:latin typeface="Malgun Gothic"/>
              </a:rPr>
              <a:t>•  RAC와 결정적 대비:</a:t>
            </a:r>
          </a:p>
          <a:p>
            <a:pPr>
              <a:lnSpc>
                <a:spcPct val="105000"/>
              </a:lnSpc>
              <a:spcAft>
                <a:spcPts val="1000"/>
              </a:spcAft>
            </a:pPr>
            <a:r>
              <a:rPr sz="1600" b="0">
                <a:solidFill>
                  <a:srgbClr val="5A6672"/>
                </a:solidFill>
                <a:latin typeface="Malgun Gothic"/>
              </a:rPr>
              <a:t>    –  RAC = 여러 인스턴스가 하나의 공유 스토리지·DB를 함께 쓰는 공유 아키텍처</a:t>
            </a:r>
          </a:p>
          <a:p>
            <a:pPr>
              <a:lnSpc>
                <a:spcPct val="105000"/>
              </a:lnSpc>
              <a:spcAft>
                <a:spcPts val="1000"/>
              </a:spcAft>
            </a:pPr>
            <a:r>
              <a:rPr sz="1600" b="0">
                <a:solidFill>
                  <a:srgbClr val="5A6672"/>
                </a:solidFill>
                <a:latin typeface="Malgun Gothic"/>
              </a:rPr>
              <a:t>    –  샤딩 = 각 샤드가 완전히 독립된 자기 자원만 쓰는 무공유 아키텍처</a:t>
            </a:r>
          </a:p>
          <a:p>
            <a:pPr>
              <a:lnSpc>
                <a:spcPct val="105000"/>
              </a:lnSpc>
              <a:spcAft>
                <a:spcPts val="1000"/>
              </a:spcAft>
            </a:pPr>
            <a:r>
              <a:rPr sz="1800" b="0">
                <a:solidFill>
                  <a:srgbClr val="202830"/>
                </a:solidFill>
                <a:latin typeface="Malgun Gothic"/>
              </a:rPr>
              <a:t>•  샤드는 느슨하게 결합, 클러스터웨어를 실행하지 않음 (RAC와 정반대)</a:t>
            </a:r>
          </a:p>
          <a:p>
            <a:pPr>
              <a:lnSpc>
                <a:spcPct val="105000"/>
              </a:lnSpc>
              <a:spcAft>
                <a:spcPts val="1000"/>
              </a:spcAft>
            </a:pPr>
            <a:r>
              <a:rPr sz="1800" b="0">
                <a:solidFill>
                  <a:srgbClr val="202830"/>
                </a:solidFill>
                <a:latin typeface="Malgun Gothic"/>
              </a:rPr>
              <a:t>•  → 수천 대 규모 선형 확장, 결함 격리(fault isolation) 우수</a:t>
            </a:r>
          </a:p>
        </p:txBody>
      </p:sp>
      <p:sp>
        <p:nvSpPr>
          <p:cNvPr id="5" name="Rectangle 4"/>
          <p:cNvSpPr/>
          <p:nvPr/>
        </p:nvSpPr>
        <p:spPr>
          <a:xfrm>
            <a:off x="640080" y="5623560"/>
            <a:ext cx="10908792" cy="960120"/>
          </a:xfrm>
          <a:prstGeom prst="rect">
            <a:avLst/>
          </a:prstGeom>
          <a:solidFill>
            <a:srgbClr val="F2F4F6"/>
          </a:solidFill>
          <a:ln w="12700">
            <a:solidFill>
              <a:srgbClr val="1E7E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1E7E34"/>
                </a:solidFill>
                <a:latin typeface="Malgun Gothic"/>
              </a:rPr>
              <a:t>모범 사례:</a:t>
            </a:r>
          </a:p>
          <a:p>
            <a:r>
              <a:rPr sz="1250" b="0">
                <a:solidFill>
                  <a:srgbClr val="202830"/>
                </a:solidFill>
                <a:latin typeface="Malgun Gothic"/>
              </a:rPr>
              <a:t>RAC: 하나의 DB를 여러 인스턴스가 공유 → 단일 DB 고가용성·수직 확장. 멀티테넌트: 여러 애플리케이션 DB를 하나의 인스턴스로 통합·격리 → 통합·관리 효율. 샤딩: 데이터를 여러 독립 DB로 수평 분할(무공유) → 초대규모 OLTP 선형 확장·결함 격리. 목적이 다르며 요구사항에 따라 단독/조합 사용.</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Oracle Sharding 제품 구성요소</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샤드 카탈로그(Shard Catalog): SDB 전체 구성 정보(샤드 목록·샤딩 키·청크 매핑·중앙 스키마 원본), 교차 샤드 질의 조정</a:t>
            </a:r>
          </a:p>
          <a:p>
            <a:pPr>
              <a:lnSpc>
                <a:spcPct val="105000"/>
              </a:lnSpc>
              <a:spcAft>
                <a:spcPts val="1000"/>
              </a:spcAft>
            </a:pPr>
            <a:r>
              <a:rPr sz="1800" b="0">
                <a:solidFill>
                  <a:srgbClr val="202830"/>
                </a:solidFill>
                <a:latin typeface="Malgun Gothic"/>
              </a:rPr>
              <a:t>•  샤드 디렉터(Shard Director): 전역 서비스 관리자(GSM), 샤딩 키에 따라 올바른 샤드로 라우팅·부하 분산</a:t>
            </a:r>
          </a:p>
          <a:p>
            <a:pPr>
              <a:lnSpc>
                <a:spcPct val="105000"/>
              </a:lnSpc>
              <a:spcAft>
                <a:spcPts val="1000"/>
              </a:spcAft>
            </a:pPr>
            <a:r>
              <a:rPr sz="1800" b="0">
                <a:solidFill>
                  <a:srgbClr val="202830"/>
                </a:solidFill>
                <a:latin typeface="Malgun Gothic"/>
              </a:rPr>
              <a:t>•  샤드(Shard): 실제 데이터를 담는 개별 Oracle DB (독립 백업·복구·패치)</a:t>
            </a:r>
          </a:p>
          <a:p>
            <a:pPr>
              <a:lnSpc>
                <a:spcPct val="105000"/>
              </a:lnSpc>
              <a:spcAft>
                <a:spcPts val="1000"/>
              </a:spcAft>
            </a:pPr>
            <a:r>
              <a:rPr sz="1800" b="0">
                <a:solidFill>
                  <a:srgbClr val="202830"/>
                </a:solidFill>
                <a:latin typeface="Malgun Gothic"/>
              </a:rPr>
              <a:t>•  글로벌 서비스(Global Service): 여러 샤드에 걸친 서비스, 애플리케이션은 개별 샤드가 아닌 이 서비스에 접속</a:t>
            </a:r>
          </a:p>
          <a:p>
            <a:pPr>
              <a:lnSpc>
                <a:spcPct val="105000"/>
              </a:lnSpc>
              <a:spcAft>
                <a:spcPts val="1000"/>
              </a:spcAft>
            </a:pPr>
            <a:r>
              <a:rPr sz="1800" b="0">
                <a:solidFill>
                  <a:srgbClr val="202830"/>
                </a:solidFill>
                <a:latin typeface="Malgun Gothic"/>
              </a:rPr>
              <a:t>•  모두 Oracle Global Data Services(GDS) 프레임워크 위에서 동작</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Oracle Global Data Services (GDS)</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GDS: 지리적으로 분산·복제된 여러 DB에 걸쳐 서비스 수준 로드 밸런싱·장애 조치·지역 인식 라우팅 제공 프레임워크</a:t>
            </a:r>
          </a:p>
          <a:p>
            <a:pPr>
              <a:lnSpc>
                <a:spcPct val="105000"/>
              </a:lnSpc>
              <a:spcAft>
                <a:spcPts val="1000"/>
              </a:spcAft>
            </a:pPr>
            <a:r>
              <a:rPr sz="1800" b="0">
                <a:solidFill>
                  <a:srgbClr val="202830"/>
                </a:solidFill>
                <a:latin typeface="Malgun Gothic"/>
              </a:rPr>
              <a:t>•  Oracle Sharding은 GDS 인프라를 토대로 동작</a:t>
            </a:r>
          </a:p>
          <a:p>
            <a:pPr>
              <a:lnSpc>
                <a:spcPct val="105000"/>
              </a:lnSpc>
              <a:spcAft>
                <a:spcPts val="1000"/>
              </a:spcAft>
            </a:pPr>
            <a:r>
              <a:rPr sz="1600" b="0">
                <a:solidFill>
                  <a:srgbClr val="5A6672"/>
                </a:solidFill>
                <a:latin typeface="Malgun Gothic"/>
              </a:rPr>
              <a:t>    –  샤드 디렉터 = GDS의 전역 서비스 관리자(GSM)</a:t>
            </a:r>
          </a:p>
          <a:p>
            <a:pPr>
              <a:lnSpc>
                <a:spcPct val="105000"/>
              </a:lnSpc>
              <a:spcAft>
                <a:spcPts val="1000"/>
              </a:spcAft>
            </a:pPr>
            <a:r>
              <a:rPr sz="1600" b="0">
                <a:solidFill>
                  <a:srgbClr val="5A6672"/>
                </a:solidFill>
                <a:latin typeface="Malgun Gothic"/>
              </a:rPr>
              <a:t>    –  샤드 카탈로그 = GDS 카탈로그 역할 겸함</a:t>
            </a:r>
          </a:p>
          <a:p>
            <a:pPr>
              <a:lnSpc>
                <a:spcPct val="105000"/>
              </a:lnSpc>
              <a:spcAft>
                <a:spcPts val="1000"/>
              </a:spcAft>
            </a:pPr>
            <a:r>
              <a:rPr sz="1800" b="0">
                <a:solidFill>
                  <a:srgbClr val="202830"/>
                </a:solidFill>
                <a:latin typeface="Malgun Gothic"/>
              </a:rPr>
              <a:t>•  샤딩 배포 = 개별 샤드 + GDS 계층(카탈로그·디렉터)을 함께 구성</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샤딩의 활용 시나리오와 이점</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적합 워크로드: 대규모 웹/모바일 OLTP (수억 명 사용자 프로필·활동 데이터)</a:t>
            </a:r>
          </a:p>
          <a:p>
            <a:pPr>
              <a:lnSpc>
                <a:spcPct val="105000"/>
              </a:lnSpc>
              <a:spcAft>
                <a:spcPts val="1000"/>
              </a:spcAft>
            </a:pPr>
            <a:r>
              <a:rPr sz="1800" b="0">
                <a:solidFill>
                  <a:srgbClr val="202830"/>
                </a:solidFill>
                <a:latin typeface="Malgun Gothic"/>
              </a:rPr>
              <a:t>•  이점:</a:t>
            </a:r>
          </a:p>
          <a:p>
            <a:pPr>
              <a:lnSpc>
                <a:spcPct val="105000"/>
              </a:lnSpc>
              <a:spcAft>
                <a:spcPts val="1000"/>
              </a:spcAft>
            </a:pPr>
            <a:r>
              <a:rPr sz="1600" b="0">
                <a:solidFill>
                  <a:srgbClr val="5A6672"/>
                </a:solidFill>
                <a:latin typeface="Malgun Gothic"/>
              </a:rPr>
              <a:t>    –  선형 확장성: 샤드 추가만큼 처리·저장 용량이 거의 선형 증가</a:t>
            </a:r>
          </a:p>
          <a:p>
            <a:pPr>
              <a:lnSpc>
                <a:spcPct val="105000"/>
              </a:lnSpc>
              <a:spcAft>
                <a:spcPts val="1000"/>
              </a:spcAft>
            </a:pPr>
            <a:r>
              <a:rPr sz="1600" b="0">
                <a:solidFill>
                  <a:srgbClr val="5A6672"/>
                </a:solidFill>
                <a:latin typeface="Malgun Gothic"/>
              </a:rPr>
              <a:t>    –  결함 격리: 한 샤드 장애·유지보수가 그 샤드 데이터에만 영향</a:t>
            </a:r>
          </a:p>
          <a:p>
            <a:pPr>
              <a:lnSpc>
                <a:spcPct val="105000"/>
              </a:lnSpc>
              <a:spcAft>
                <a:spcPts val="1000"/>
              </a:spcAft>
            </a:pPr>
            <a:r>
              <a:rPr sz="1600" b="0">
                <a:solidFill>
                  <a:srgbClr val="5A6672"/>
                </a:solidFill>
                <a:latin typeface="Malgun Gothic"/>
              </a:rPr>
              <a:t>    –  지역 인식 배치: 지연 시간 감소, 데이터 주권(residency) 규제 충족</a:t>
            </a:r>
          </a:p>
          <a:p>
            <a:pPr>
              <a:lnSpc>
                <a:spcPct val="105000"/>
              </a:lnSpc>
              <a:spcAft>
                <a:spcPts val="1000"/>
              </a:spcAft>
            </a:pPr>
            <a:r>
              <a:rPr sz="1600" b="0">
                <a:solidFill>
                  <a:srgbClr val="5A6672"/>
                </a:solidFill>
                <a:latin typeface="Malgun Gothic"/>
              </a:rPr>
              <a:t>    –  롤링 업그레이드: 샤드별 순차 패치로 무중단 유지관리</a:t>
            </a:r>
          </a:p>
          <a:p>
            <a:pPr>
              <a:lnSpc>
                <a:spcPct val="105000"/>
              </a:lnSpc>
              <a:spcAft>
                <a:spcPts val="1000"/>
              </a:spcAft>
            </a:pPr>
            <a:r>
              <a:rPr sz="1800" b="0">
                <a:solidFill>
                  <a:srgbClr val="202830"/>
                </a:solidFill>
                <a:latin typeface="Malgun Gothic"/>
              </a:rPr>
              <a:t>•  주의: 복잡한 다중 샤드 조인·교차 샤드 트랜잭션이 잦으면 오버헤드 큼 → 샤딩 키·테이블 패밀리 설계가 관건</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RAC · 멀티테넌트 · 샤딩 — 언제 무엇을?</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RAC: 하나의 DB를 여러 인스턴스가 공유(shared) → 단일 DB 고가용성·수직에 가까운 확장</a:t>
            </a:r>
          </a:p>
          <a:p>
            <a:pPr>
              <a:lnSpc>
                <a:spcPct val="105000"/>
              </a:lnSpc>
              <a:spcAft>
                <a:spcPts val="1000"/>
              </a:spcAft>
            </a:pPr>
            <a:r>
              <a:rPr sz="1800" b="0">
                <a:solidFill>
                  <a:srgbClr val="202830"/>
                </a:solidFill>
                <a:latin typeface="Malgun Gothic"/>
              </a:rPr>
              <a:t>•  멀티테넌트(CDB/PDB): 여러 애플리케이션 DB를 하나의 인스턴스로 통합·격리 → 통합·관리 효율</a:t>
            </a:r>
          </a:p>
          <a:p>
            <a:pPr>
              <a:lnSpc>
                <a:spcPct val="105000"/>
              </a:lnSpc>
              <a:spcAft>
                <a:spcPts val="1000"/>
              </a:spcAft>
            </a:pPr>
            <a:r>
              <a:rPr sz="1800" b="0">
                <a:solidFill>
                  <a:srgbClr val="202830"/>
                </a:solidFill>
                <a:latin typeface="Malgun Gothic"/>
              </a:rPr>
              <a:t>•  샤딩(SDB): 데이터를 여러 독립 DB로 수평 분할(shared-nothing) → 초대규모 OLTP 선형 확장·결함 격리</a:t>
            </a:r>
          </a:p>
          <a:p>
            <a:pPr>
              <a:lnSpc>
                <a:spcPct val="105000"/>
              </a:lnSpc>
              <a:spcAft>
                <a:spcPts val="1000"/>
              </a:spcAft>
            </a:pPr>
            <a:r>
              <a:rPr sz="1800" b="0">
                <a:solidFill>
                  <a:srgbClr val="202830"/>
                </a:solidFill>
                <a:latin typeface="Malgun Gothic"/>
              </a:rPr>
              <a:t>•  세 가지는 목적이 다르며, 요구사항에 따라 단독 또는 조합 사용</a:t>
            </a:r>
          </a:p>
        </p:txBody>
      </p:sp>
      <p:sp>
        <p:nvSpPr>
          <p:cNvPr id="5" name="Rectangle 4"/>
          <p:cNvSpPr/>
          <p:nvPr/>
        </p:nvSpPr>
        <p:spPr>
          <a:xfrm>
            <a:off x="640080" y="5623560"/>
            <a:ext cx="10908792" cy="960120"/>
          </a:xfrm>
          <a:prstGeom prst="rect">
            <a:avLst/>
          </a:prstGeom>
          <a:solidFill>
            <a:srgbClr val="F2F4F6"/>
          </a:solidFill>
          <a:ln w="12700">
            <a:solidFill>
              <a:srgbClr val="1E7E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1E7E34"/>
                </a:solidFill>
                <a:latin typeface="Malgun Gothic"/>
              </a:rPr>
              <a:t>모범 사례:</a:t>
            </a:r>
          </a:p>
          <a:p>
            <a:r>
              <a:rPr sz="1250" b="0">
                <a:solidFill>
                  <a:srgbClr val="202830"/>
                </a:solidFill>
                <a:latin typeface="Malgun Gothic"/>
              </a:rPr>
              <a:t>세 확장/통합 아키텍처를 함께 비교하는 이유는 각각이 해결하려는 문제(고가용성, 통합·격리, 초대규모 수평 확장)가 다르기 때문이다. 현장에서는 이들을 요구사항에 맞게 선택하거나 조합해 사용한다.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퀴즈 1</a:t>
            </a:r>
          </a:p>
        </p:txBody>
      </p:sp>
      <p:sp>
        <p:nvSpPr>
          <p:cNvPr id="4" name="TextBox 3"/>
          <p:cNvSpPr txBox="1"/>
          <p:nvPr/>
        </p:nvSpPr>
        <p:spPr>
          <a:xfrm>
            <a:off x="640080" y="1280160"/>
            <a:ext cx="10881360" cy="548640"/>
          </a:xfrm>
          <a:prstGeom prst="rect">
            <a:avLst/>
          </a:prstGeom>
          <a:noFill/>
        </p:spPr>
        <p:txBody>
          <a:bodyPr wrap="square" anchor="t" lIns="45720" rIns="45720" tIns="18288" bIns="18288">
            <a:spAutoFit/>
          </a:bodyPr>
          <a:lstStyle/>
          <a:p>
            <a:r>
              <a:rPr sz="2000" b="1">
                <a:solidFill>
                  <a:srgbClr val="1F5CA8"/>
                </a:solidFill>
                <a:latin typeface="Malgun Gothic"/>
              </a:rPr>
              <a:t>인스턴스와 데이터베이스</a:t>
            </a:r>
          </a:p>
        </p:txBody>
      </p:sp>
      <p:sp>
        <p:nvSpPr>
          <p:cNvPr id="5" name="TextBox 4"/>
          <p:cNvSpPr txBox="1"/>
          <p:nvPr/>
        </p:nvSpPr>
        <p:spPr>
          <a:xfrm>
            <a:off x="640080" y="1920240"/>
            <a:ext cx="10881360" cy="1371600"/>
          </a:xfrm>
          <a:prstGeom prst="rect">
            <a:avLst/>
          </a:prstGeom>
          <a:noFill/>
        </p:spPr>
        <p:txBody>
          <a:bodyPr wrap="square" anchor="t" lIns="45720" rIns="45720" tIns="18288" bIns="18288">
            <a:spAutoFit/>
          </a:bodyPr>
          <a:lstStyle/>
          <a:p>
            <a:r>
              <a:rPr sz="1800" b="0">
                <a:solidFill>
                  <a:srgbClr val="202830"/>
                </a:solidFill>
                <a:latin typeface="Malgun Gothic"/>
              </a:rPr>
              <a:t>다음 중 '인스턴스'에 속하는 구성요소를 모두 고르시오.</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chor="t" lIns="45720" rIns="45720" tIns="18288" bIns="18288">
            <a:spAutoFit/>
          </a:bodyPr>
          <a:lstStyle/>
          <a:p>
            <a:pPr>
              <a:spcAft>
                <a:spcPts val="900"/>
              </a:spcAft>
            </a:pPr>
            <a:r>
              <a:rPr sz="1700" b="0">
                <a:solidFill>
                  <a:srgbClr val="202830"/>
                </a:solidFill>
                <a:latin typeface="Malgun Gothic"/>
              </a:rPr>
              <a:t>(a) SGA</a:t>
            </a:r>
          </a:p>
          <a:p>
            <a:pPr>
              <a:spcAft>
                <a:spcPts val="900"/>
              </a:spcAft>
            </a:pPr>
            <a:r>
              <a:rPr sz="1700" b="0">
                <a:solidFill>
                  <a:srgbClr val="202830"/>
                </a:solidFill>
                <a:latin typeface="Malgun Gothic"/>
              </a:rPr>
              <a:t>(b) 데이터 파일</a:t>
            </a:r>
          </a:p>
          <a:p>
            <a:pPr>
              <a:spcAft>
                <a:spcPts val="900"/>
              </a:spcAft>
            </a:pPr>
            <a:r>
              <a:rPr sz="1700" b="0">
                <a:solidFill>
                  <a:srgbClr val="202830"/>
                </a:solidFill>
                <a:latin typeface="Malgun Gothic"/>
              </a:rPr>
              <a:t>(c) 백그라운드 프로세스</a:t>
            </a:r>
          </a:p>
          <a:p>
            <a:pPr>
              <a:spcAft>
                <a:spcPts val="900"/>
              </a:spcAft>
            </a:pPr>
            <a:r>
              <a:rPr sz="1700" b="0">
                <a:solidFill>
                  <a:srgbClr val="202830"/>
                </a:solidFill>
                <a:latin typeface="Malgun Gothic"/>
              </a:rPr>
              <a:t>(d) 제어 파일</a:t>
            </a:r>
          </a:p>
          <a:p>
            <a:pPr>
              <a:spcAft>
                <a:spcPts val="900"/>
              </a:spcAft>
            </a:pPr>
            <a:r>
              <a:rPr sz="1700" b="0">
                <a:solidFill>
                  <a:srgbClr val="202830"/>
                </a:solidFill>
                <a:latin typeface="Malgun Gothic"/>
              </a:rPr>
              <a:t>(e) 리두 로그 파일</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퀴즈 2</a:t>
            </a:r>
          </a:p>
        </p:txBody>
      </p:sp>
      <p:sp>
        <p:nvSpPr>
          <p:cNvPr id="4" name="TextBox 3"/>
          <p:cNvSpPr txBox="1"/>
          <p:nvPr/>
        </p:nvSpPr>
        <p:spPr>
          <a:xfrm>
            <a:off x="640080" y="1280160"/>
            <a:ext cx="10881360" cy="548640"/>
          </a:xfrm>
          <a:prstGeom prst="rect">
            <a:avLst/>
          </a:prstGeom>
          <a:noFill/>
        </p:spPr>
        <p:txBody>
          <a:bodyPr wrap="square" anchor="t" lIns="45720" rIns="45720" tIns="18288" bIns="18288">
            <a:spAutoFit/>
          </a:bodyPr>
          <a:lstStyle/>
          <a:p>
            <a:r>
              <a:rPr sz="2000" b="1">
                <a:solidFill>
                  <a:srgbClr val="1F5CA8"/>
                </a:solidFill>
                <a:latin typeface="Malgun Gothic"/>
              </a:rPr>
              <a:t>시작 단계</a:t>
            </a:r>
          </a:p>
        </p:txBody>
      </p:sp>
      <p:sp>
        <p:nvSpPr>
          <p:cNvPr id="5" name="TextBox 4"/>
          <p:cNvSpPr txBox="1"/>
          <p:nvPr/>
        </p:nvSpPr>
        <p:spPr>
          <a:xfrm>
            <a:off x="640080" y="1920240"/>
            <a:ext cx="10881360" cy="1371600"/>
          </a:xfrm>
          <a:prstGeom prst="rect">
            <a:avLst/>
          </a:prstGeom>
          <a:noFill/>
        </p:spPr>
        <p:txBody>
          <a:bodyPr wrap="square" anchor="t" lIns="45720" rIns="45720" tIns="18288" bIns="18288">
            <a:spAutoFit/>
          </a:bodyPr>
          <a:lstStyle/>
          <a:p>
            <a:r>
              <a:rPr sz="1800" b="0">
                <a:solidFill>
                  <a:srgbClr val="202830"/>
                </a:solidFill>
                <a:latin typeface="Malgun Gothic"/>
              </a:rPr>
              <a:t>인스턴스는 기동되었으나 아직 데이터에 접근할 수 없고, 제어 파일만 읽어 데이터베이스의 물리 구조를 인식한 단계는?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chor="t" lIns="45720" rIns="45720" tIns="18288" bIns="18288">
            <a:spAutoFit/>
          </a:bodyPr>
          <a:lstStyle/>
          <a:p>
            <a:pPr>
              <a:spcAft>
                <a:spcPts val="900"/>
              </a:spcAft>
            </a:pPr>
            <a:r>
              <a:rPr sz="1700" b="0">
                <a:solidFill>
                  <a:srgbClr val="202830"/>
                </a:solidFill>
                <a:latin typeface="Malgun Gothic"/>
              </a:rPr>
              <a:t>(a) NOMOUNT</a:t>
            </a:r>
          </a:p>
          <a:p>
            <a:pPr>
              <a:spcAft>
                <a:spcPts val="900"/>
              </a:spcAft>
            </a:pPr>
            <a:r>
              <a:rPr sz="1700" b="0">
                <a:solidFill>
                  <a:srgbClr val="202830"/>
                </a:solidFill>
                <a:latin typeface="Malgun Gothic"/>
              </a:rPr>
              <a:t>(b) MOUNT</a:t>
            </a:r>
          </a:p>
          <a:p>
            <a:pPr>
              <a:spcAft>
                <a:spcPts val="900"/>
              </a:spcAft>
            </a:pPr>
            <a:r>
              <a:rPr sz="1700" b="0">
                <a:solidFill>
                  <a:srgbClr val="202830"/>
                </a:solidFill>
                <a:latin typeface="Malgun Gothic"/>
              </a:rPr>
              <a:t>(c) OPEN</a:t>
            </a:r>
          </a:p>
          <a:p>
            <a:pPr>
              <a:spcAft>
                <a:spcPts val="900"/>
              </a:spcAft>
            </a:pPr>
            <a:r>
              <a:rPr sz="1700" b="0">
                <a:solidFill>
                  <a:srgbClr val="202830"/>
                </a:solidFill>
                <a:latin typeface="Malgun Gothic"/>
              </a:rPr>
              <a:t>(d) SHUTDOWN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퀴즈 3</a:t>
            </a:r>
          </a:p>
        </p:txBody>
      </p:sp>
      <p:sp>
        <p:nvSpPr>
          <p:cNvPr id="4" name="TextBox 3"/>
          <p:cNvSpPr txBox="1"/>
          <p:nvPr/>
        </p:nvSpPr>
        <p:spPr>
          <a:xfrm>
            <a:off x="640080" y="1280160"/>
            <a:ext cx="10881360" cy="548640"/>
          </a:xfrm>
          <a:prstGeom prst="rect">
            <a:avLst/>
          </a:prstGeom>
          <a:noFill/>
        </p:spPr>
        <p:txBody>
          <a:bodyPr wrap="square" anchor="t" lIns="45720" rIns="45720" tIns="18288" bIns="18288">
            <a:spAutoFit/>
          </a:bodyPr>
          <a:lstStyle/>
          <a:p>
            <a:r>
              <a:rPr sz="2000" b="1">
                <a:solidFill>
                  <a:srgbClr val="1F5CA8"/>
                </a:solidFill>
                <a:latin typeface="Malgun Gothic"/>
              </a:rPr>
              <a:t>멀티테넌트 컨테이너</a:t>
            </a:r>
          </a:p>
        </p:txBody>
      </p:sp>
      <p:sp>
        <p:nvSpPr>
          <p:cNvPr id="5" name="TextBox 4"/>
          <p:cNvSpPr txBox="1"/>
          <p:nvPr/>
        </p:nvSpPr>
        <p:spPr>
          <a:xfrm>
            <a:off x="640080" y="1920240"/>
            <a:ext cx="10881360" cy="1371600"/>
          </a:xfrm>
          <a:prstGeom prst="rect">
            <a:avLst/>
          </a:prstGeom>
          <a:noFill/>
        </p:spPr>
        <p:txBody>
          <a:bodyPr wrap="square" anchor="t" lIns="45720" rIns="45720" tIns="18288" bIns="18288">
            <a:spAutoFit/>
          </a:bodyPr>
          <a:lstStyle/>
          <a:p>
            <a:r>
              <a:rPr sz="1800" b="0">
                <a:solidFill>
                  <a:srgbClr val="202830"/>
                </a:solidFill>
                <a:latin typeface="Malgun Gothic"/>
              </a:rPr>
              <a:t>설명에 해당하는 컨테이너 이름을 쓰시오. (1) 새 PDB 생성 시 복제 원본이 되는 읽기 전용 템플릿 PDB  (2) Oracle 공급 메타데이터와 공통 사용자를 담아 모든 PDB와 공유하는 최상위 컨테이너</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chor="t" lIns="45720" rIns="45720" tIns="18288" bIns="18288">
            <a:spAutoFit/>
          </a:bodyPr>
          <a:lstStyle/>
          <a:p>
            <a:pPr>
              <a:spcAft>
                <a:spcPts val="900"/>
              </a:spcAft>
            </a:pPr>
            <a:r>
              <a:rPr sz="1700" b="0">
                <a:solidFill>
                  <a:srgbClr val="202830"/>
                </a:solidFill>
                <a:latin typeface="Malgun Gothic"/>
              </a:rPr>
              <a:t>(1) __________</a:t>
            </a:r>
          </a:p>
          <a:p>
            <a:pPr>
              <a:spcAft>
                <a:spcPts val="900"/>
              </a:spcAft>
            </a:pPr>
            <a:r>
              <a:rPr sz="1700" b="0">
                <a:solidFill>
                  <a:srgbClr val="202830"/>
                </a:solidFill>
                <a:latin typeface="Malgun Gothic"/>
              </a:rPr>
              <a:t>(2) __________</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퀴즈 4</a:t>
            </a:r>
          </a:p>
        </p:txBody>
      </p:sp>
      <p:sp>
        <p:nvSpPr>
          <p:cNvPr id="4" name="TextBox 3"/>
          <p:cNvSpPr txBox="1"/>
          <p:nvPr/>
        </p:nvSpPr>
        <p:spPr>
          <a:xfrm>
            <a:off x="640080" y="1280160"/>
            <a:ext cx="10881360" cy="548640"/>
          </a:xfrm>
          <a:prstGeom prst="rect">
            <a:avLst/>
          </a:prstGeom>
          <a:noFill/>
        </p:spPr>
        <p:txBody>
          <a:bodyPr wrap="square" anchor="t" lIns="45720" rIns="45720" tIns="18288" bIns="18288">
            <a:spAutoFit/>
          </a:bodyPr>
          <a:lstStyle/>
          <a:p>
            <a:r>
              <a:rPr sz="2000" b="1">
                <a:solidFill>
                  <a:srgbClr val="1F5CA8"/>
                </a:solidFill>
                <a:latin typeface="Malgun Gothic"/>
              </a:rPr>
              <a:t>멀티테넌트의 이점</a:t>
            </a:r>
          </a:p>
        </p:txBody>
      </p:sp>
      <p:sp>
        <p:nvSpPr>
          <p:cNvPr id="5" name="TextBox 4"/>
          <p:cNvSpPr txBox="1"/>
          <p:nvPr/>
        </p:nvSpPr>
        <p:spPr>
          <a:xfrm>
            <a:off x="640080" y="1920240"/>
            <a:ext cx="10881360" cy="1371600"/>
          </a:xfrm>
          <a:prstGeom prst="rect">
            <a:avLst/>
          </a:prstGeom>
          <a:noFill/>
        </p:spPr>
        <p:txBody>
          <a:bodyPr wrap="square" anchor="t" lIns="45720" rIns="45720" tIns="18288" bIns="18288">
            <a:spAutoFit/>
          </a:bodyPr>
          <a:lstStyle/>
          <a:p>
            <a:r>
              <a:rPr sz="1800" b="0">
                <a:solidFill>
                  <a:srgbClr val="202830"/>
                </a:solidFill>
                <a:latin typeface="Malgun Gothic"/>
              </a:rPr>
              <a:t>하나의 CDB로 100개 애플리케이션(PDB)을 통합했을 때, 데이터베이스 소프트웨어 패치를 적용하는 횟수는?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chor="t" lIns="45720" rIns="45720" tIns="18288" bIns="18288">
            <a:spAutoFit/>
          </a:bodyPr>
          <a:lstStyle/>
          <a:p>
            <a:pPr>
              <a:spcAft>
                <a:spcPts val="900"/>
              </a:spcAft>
            </a:pPr>
            <a:r>
              <a:rPr sz="1700" b="0">
                <a:solidFill>
                  <a:srgbClr val="202830"/>
                </a:solidFill>
                <a:latin typeface="Malgun Gothic"/>
              </a:rPr>
              <a:t>(a) 100번</a:t>
            </a:r>
          </a:p>
          <a:p>
            <a:pPr>
              <a:spcAft>
                <a:spcPts val="900"/>
              </a:spcAft>
            </a:pPr>
            <a:r>
              <a:rPr sz="1700" b="0">
                <a:solidFill>
                  <a:srgbClr val="202830"/>
                </a:solidFill>
                <a:latin typeface="Malgun Gothic"/>
              </a:rPr>
              <a:t>(b) 50번</a:t>
            </a:r>
          </a:p>
          <a:p>
            <a:pPr>
              <a:spcAft>
                <a:spcPts val="900"/>
              </a:spcAft>
            </a:pPr>
            <a:r>
              <a:rPr sz="1700" b="0">
                <a:solidFill>
                  <a:srgbClr val="202830"/>
                </a:solidFill>
                <a:latin typeface="Malgun Gothic"/>
              </a:rPr>
              <a:t>(c) 1번</a:t>
            </a:r>
          </a:p>
          <a:p>
            <a:pPr>
              <a:spcAft>
                <a:spcPts val="900"/>
              </a:spcAft>
            </a:pPr>
            <a:r>
              <a:rPr sz="1700" b="0">
                <a:solidFill>
                  <a:srgbClr val="202830"/>
                </a:solidFill>
                <a:latin typeface="Malgun Gothic"/>
              </a:rPr>
              <a:t>(d) PDB마다 다름</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퀴즈 5</a:t>
            </a:r>
          </a:p>
        </p:txBody>
      </p:sp>
      <p:sp>
        <p:nvSpPr>
          <p:cNvPr id="4" name="TextBox 3"/>
          <p:cNvSpPr txBox="1"/>
          <p:nvPr/>
        </p:nvSpPr>
        <p:spPr>
          <a:xfrm>
            <a:off x="640080" y="1280160"/>
            <a:ext cx="10881360" cy="548640"/>
          </a:xfrm>
          <a:prstGeom prst="rect">
            <a:avLst/>
          </a:prstGeom>
          <a:noFill/>
        </p:spPr>
        <p:txBody>
          <a:bodyPr wrap="square" anchor="t" lIns="45720" rIns="45720" tIns="18288" bIns="18288">
            <a:spAutoFit/>
          </a:bodyPr>
          <a:lstStyle/>
          <a:p>
            <a:r>
              <a:rPr sz="2000" b="1">
                <a:solidFill>
                  <a:srgbClr val="1F5CA8"/>
                </a:solidFill>
                <a:latin typeface="Malgun Gothic"/>
              </a:rPr>
              <a:t>RAC vs 샤딩</a:t>
            </a:r>
          </a:p>
        </p:txBody>
      </p:sp>
      <p:sp>
        <p:nvSpPr>
          <p:cNvPr id="5" name="TextBox 4"/>
          <p:cNvSpPr txBox="1"/>
          <p:nvPr/>
        </p:nvSpPr>
        <p:spPr>
          <a:xfrm>
            <a:off x="640080" y="1920240"/>
            <a:ext cx="10881360" cy="1371600"/>
          </a:xfrm>
          <a:prstGeom prst="rect">
            <a:avLst/>
          </a:prstGeom>
          <a:noFill/>
        </p:spPr>
        <p:txBody>
          <a:bodyPr wrap="square" anchor="t" lIns="45720" rIns="45720" tIns="18288" bIns="18288">
            <a:spAutoFit/>
          </a:bodyPr>
          <a:lstStyle/>
          <a:p>
            <a:r>
              <a:rPr sz="1800" b="0">
                <a:solidFill>
                  <a:srgbClr val="202830"/>
                </a:solidFill>
                <a:latin typeface="Malgun Gothic"/>
              </a:rPr>
              <a:t>다음 중 '무공유(shared-nothing)' 아키텍처에 해당하며 클러스터웨어를 사용하지 않는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chor="t" lIns="45720" rIns="45720" tIns="18288" bIns="18288">
            <a:spAutoFit/>
          </a:bodyPr>
          <a:lstStyle/>
          <a:p>
            <a:pPr>
              <a:spcAft>
                <a:spcPts val="900"/>
              </a:spcAft>
            </a:pPr>
            <a:r>
              <a:rPr sz="1700" b="0">
                <a:solidFill>
                  <a:srgbClr val="202830"/>
                </a:solidFill>
                <a:latin typeface="Malgun Gothic"/>
              </a:rPr>
              <a:t>(a) Oracle RAC</a:t>
            </a:r>
          </a:p>
          <a:p>
            <a:pPr>
              <a:spcAft>
                <a:spcPts val="900"/>
              </a:spcAft>
            </a:pPr>
            <a:r>
              <a:rPr sz="1700" b="0">
                <a:solidFill>
                  <a:srgbClr val="202830"/>
                </a:solidFill>
                <a:latin typeface="Malgun Gothic"/>
              </a:rPr>
              <a:t>(b) Oracle Sharding(SDB)</a:t>
            </a:r>
          </a:p>
          <a:p>
            <a:pPr>
              <a:spcAft>
                <a:spcPts val="900"/>
              </a:spcAft>
            </a:pPr>
            <a:r>
              <a:rPr sz="1700" b="0">
                <a:solidFill>
                  <a:srgbClr val="202830"/>
                </a:solidFill>
                <a:latin typeface="Malgun Gothic"/>
              </a:rPr>
              <a:t>(c) 단일 인스턴스</a:t>
            </a:r>
          </a:p>
          <a:p>
            <a:pPr>
              <a:spcAft>
                <a:spcPts val="900"/>
              </a:spcAft>
            </a:pPr>
            <a:r>
              <a:rPr sz="1700" b="0">
                <a:solidFill>
                  <a:srgbClr val="202830"/>
                </a:solidFill>
                <a:latin typeface="Malgun Gothic"/>
              </a:rPr>
              <a:t>(d) PDB$SEED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퀴즈 6</a:t>
            </a:r>
          </a:p>
        </p:txBody>
      </p:sp>
      <p:sp>
        <p:nvSpPr>
          <p:cNvPr id="4" name="TextBox 3"/>
          <p:cNvSpPr txBox="1"/>
          <p:nvPr/>
        </p:nvSpPr>
        <p:spPr>
          <a:xfrm>
            <a:off x="640080" y="1280160"/>
            <a:ext cx="10881360" cy="548640"/>
          </a:xfrm>
          <a:prstGeom prst="rect">
            <a:avLst/>
          </a:prstGeom>
          <a:noFill/>
        </p:spPr>
        <p:txBody>
          <a:bodyPr wrap="square" anchor="t" lIns="45720" rIns="45720" tIns="18288" bIns="18288">
            <a:spAutoFit/>
          </a:bodyPr>
          <a:lstStyle/>
          <a:p>
            <a:r>
              <a:rPr sz="2000" b="1">
                <a:solidFill>
                  <a:srgbClr val="1F5CA8"/>
                </a:solidFill>
                <a:latin typeface="Malgun Gothic"/>
              </a:rPr>
              <a:t>수평 분할</a:t>
            </a:r>
          </a:p>
        </p:txBody>
      </p:sp>
      <p:sp>
        <p:nvSpPr>
          <p:cNvPr id="5" name="TextBox 4"/>
          <p:cNvSpPr txBox="1"/>
          <p:nvPr/>
        </p:nvSpPr>
        <p:spPr>
          <a:xfrm>
            <a:off x="640080" y="1920240"/>
            <a:ext cx="10881360" cy="1371600"/>
          </a:xfrm>
          <a:prstGeom prst="rect">
            <a:avLst/>
          </a:prstGeom>
          <a:noFill/>
        </p:spPr>
        <p:txBody>
          <a:bodyPr wrap="square" anchor="t" lIns="45720" rIns="45720" tIns="18288" bIns="18288">
            <a:spAutoFit/>
          </a:bodyPr>
          <a:lstStyle/>
          <a:p>
            <a:r>
              <a:rPr sz="1800" b="0">
                <a:solidFill>
                  <a:srgbClr val="202830"/>
                </a:solidFill>
                <a:latin typeface="Malgun Gothic"/>
              </a:rPr>
              <a:t>샤딩에서의 '수평 분할(horizontal partitioning)'을 가장 정확히 설명한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nchor="t" lIns="45720" rIns="45720" tIns="18288" bIns="18288">
            <a:spAutoFit/>
          </a:bodyPr>
          <a:lstStyle/>
          <a:p>
            <a:pPr>
              <a:spcAft>
                <a:spcPts val="900"/>
              </a:spcAft>
            </a:pPr>
            <a:r>
              <a:rPr sz="1700" b="0">
                <a:solidFill>
                  <a:srgbClr val="202830"/>
                </a:solidFill>
                <a:latin typeface="Malgun Gothic"/>
              </a:rPr>
              <a:t>(a) 테이블을 컬럼 단위로 나누어 서로 다른 샤드에 저장한다.</a:t>
            </a:r>
          </a:p>
          <a:p>
            <a:pPr>
              <a:spcAft>
                <a:spcPts val="900"/>
              </a:spcAft>
            </a:pPr>
            <a:r>
              <a:rPr sz="1700" b="0">
                <a:solidFill>
                  <a:srgbClr val="202830"/>
                </a:solidFill>
                <a:latin typeface="Malgun Gothic"/>
              </a:rPr>
              <a:t>(b) 각 샤드가 동일한 컬럼 구조를 갖되 서로 다른 행의 부분집합을 저장한다.</a:t>
            </a:r>
          </a:p>
          <a:p>
            <a:pPr>
              <a:spcAft>
                <a:spcPts val="900"/>
              </a:spcAft>
            </a:pPr>
            <a:r>
              <a:rPr sz="1700" b="0">
                <a:solidFill>
                  <a:srgbClr val="202830"/>
                </a:solidFill>
                <a:latin typeface="Malgun Gothic"/>
              </a:rPr>
              <a:t>(c) 하나의 행을 여러 샤드에 복제하여 저장한다.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주요 아키텍처 구성요소: 메모리(SGA/PGA)·프로세스·저장소, 인스턴스(메모리+프로세스) vs 데이터베이스(저장소), NOMOUNT→MOUNT→OPEN</a:t>
            </a:r>
          </a:p>
          <a:p>
            <a:pPr>
              <a:lnSpc>
                <a:spcPct val="105000"/>
              </a:lnSpc>
              <a:spcAft>
                <a:spcPts val="1000"/>
              </a:spcAft>
            </a:pPr>
            <a:r>
              <a:rPr sz="1800" b="0">
                <a:solidFill>
                  <a:srgbClr val="202830"/>
                </a:solidFill>
                <a:latin typeface="Malgun Gothic"/>
              </a:rPr>
              <a:t>•  멀티테넌트: CDB = 루트(CDB$ROOT)+시드(PDB$SEED)+사용자 PDB, 프로세스·SGA·메타데이터·리두·제어·언두 공유, 패치 1회 (12c 도입, 19c 표준)</a:t>
            </a:r>
          </a:p>
          <a:p>
            <a:pPr>
              <a:lnSpc>
                <a:spcPct val="105000"/>
              </a:lnSpc>
              <a:spcAft>
                <a:spcPts val="1000"/>
              </a:spcAft>
            </a:pPr>
            <a:r>
              <a:rPr sz="1800" b="0">
                <a:solidFill>
                  <a:srgbClr val="202830"/>
                </a:solidFill>
                <a:latin typeface="Malgun Gothic"/>
              </a:rPr>
              <a:t>•  샤딩: 데이터를 여러 독립 DB(샤드)에 수평 분할하는 무공유 아키텍처, 합쳐 하나의 SDB, 애플리케이션에 투명, GDS(샤드 카탈로그·디렉터) 기반</a:t>
            </a:r>
          </a:p>
          <a:p>
            <a:pPr>
              <a:lnSpc>
                <a:spcPct val="105000"/>
              </a:lnSpc>
              <a:spcAft>
                <a:spcPts val="1000"/>
              </a:spcAft>
            </a:pPr>
            <a:r>
              <a:rPr sz="1800" b="0">
                <a:solidFill>
                  <a:srgbClr val="202830"/>
                </a:solidFill>
                <a:latin typeface="Malgun Gothic"/>
              </a:rPr>
              <a:t>•  세 확장/통합 아키텍처(RAC·멀티테넌트·샤딩)는 목적이 다르며 조합 가능</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lIns="45720" rIns="45720" tIns="18288" bIns="18288">
            <a:spAutoFit/>
          </a:bodyPr>
          <a:lstStyle/>
          <a:p>
            <a:r>
              <a:rPr sz="2600" b="1">
                <a:solidFill>
                  <a:srgbClr val="FFFFFF"/>
                </a:solidFill>
                <a:latin typeface="Malgun Gothic"/>
              </a:rPr>
              <a:t>실습 1 개요</a:t>
            </a:r>
          </a:p>
        </p:txBody>
      </p:sp>
      <p:sp>
        <p:nvSpPr>
          <p:cNvPr id="4" name="TextBox 3"/>
          <p:cNvSpPr txBox="1"/>
          <p:nvPr/>
        </p:nvSpPr>
        <p:spPr>
          <a:xfrm>
            <a:off x="640080" y="1234440"/>
            <a:ext cx="10881360" cy="4937760"/>
          </a:xfrm>
          <a:prstGeom prst="rect">
            <a:avLst/>
          </a:prstGeom>
          <a:noFill/>
        </p:spPr>
        <p:txBody>
          <a:bodyPr wrap="square" anchor="t" lIns="45720" rIns="45720" tIns="18288" bIns="18288">
            <a:spAutoFit/>
          </a:bodyPr>
          <a:lstStyle/>
          <a:p>
            <a:pPr>
              <a:lnSpc>
                <a:spcPct val="105000"/>
              </a:lnSpc>
              <a:spcAft>
                <a:spcPts val="1000"/>
              </a:spcAft>
            </a:pPr>
            <a:r>
              <a:rPr sz="1800" b="0">
                <a:solidFill>
                  <a:srgbClr val="202830"/>
                </a:solidFill>
                <a:latin typeface="Malgun Gothic"/>
              </a:rPr>
              <a:t>•  목적: 관리 작업보다 아키텍처 구성요소를 '조회로 눈으로 확인'</a:t>
            </a:r>
          </a:p>
          <a:p>
            <a:pPr>
              <a:lnSpc>
                <a:spcPct val="105000"/>
              </a:lnSpc>
              <a:spcAft>
                <a:spcPts val="1000"/>
              </a:spcAft>
            </a:pPr>
            <a:r>
              <a:rPr sz="1800" b="0">
                <a:solidFill>
                  <a:srgbClr val="202830"/>
                </a:solidFill>
                <a:latin typeface="Malgun Gothic"/>
              </a:rPr>
              <a:t>•  SQL*Plus로 CDB에 SYSDBA 접속 후 세 트랜스크립트 순서 수행</a:t>
            </a:r>
          </a:p>
          <a:p>
            <a:pPr>
              <a:lnSpc>
                <a:spcPct val="105000"/>
              </a:lnSpc>
              <a:spcAft>
                <a:spcPts val="1000"/>
              </a:spcAft>
            </a:pPr>
            <a:r>
              <a:rPr sz="1600" b="0">
                <a:solidFill>
                  <a:srgbClr val="5A6672"/>
                </a:solidFill>
                <a:latin typeface="Malgun Gothic"/>
              </a:rPr>
              <a:t>    –  실습 1-1: 서버 아키텍처 확인 — V$INSTANCE/V$DATABASE, V$SGA/V$SGAINFO, V$BGPROCESS, V$DATAFILE/V$CONTROLFILE/V$LOG</a:t>
            </a:r>
          </a:p>
          <a:p>
            <a:pPr>
              <a:lnSpc>
                <a:spcPct val="105000"/>
              </a:lnSpc>
              <a:spcAft>
                <a:spcPts val="1000"/>
              </a:spcAft>
            </a:pPr>
            <a:r>
              <a:rPr sz="1600" b="0">
                <a:solidFill>
                  <a:srgbClr val="5A6672"/>
                </a:solidFill>
                <a:latin typeface="Malgun Gothic"/>
              </a:rPr>
              <a:t>    –  실습 1-2: CDB 구성요소 확인 — SHOW CON_NAME, V$PDBS, CDB_PDBS, ALTER SESSION SET CONTAINER</a:t>
            </a:r>
          </a:p>
          <a:p>
            <a:pPr>
              <a:lnSpc>
                <a:spcPct val="105000"/>
              </a:lnSpc>
              <a:spcAft>
                <a:spcPts val="1000"/>
              </a:spcAft>
            </a:pPr>
            <a:r>
              <a:rPr sz="1600" b="0">
                <a:solidFill>
                  <a:srgbClr val="5A6672"/>
                </a:solidFill>
                <a:latin typeface="Malgun Gothic"/>
              </a:rPr>
              <a:t>    –  실습 1-3: 샤딩 개념 확인 — 샤딩 관련 뷰·개념, RAC/멀티테넌트/샤딩 차이 비교 정리</a:t>
            </a:r>
          </a:p>
        </p:txBody>
      </p:sp>
      <p:sp>
        <p:nvSpPr>
          <p:cNvPr id="5" name="Rectangle 4"/>
          <p:cNvSpPr/>
          <p:nvPr/>
        </p:nvSpPr>
        <p:spPr>
          <a:xfrm>
            <a:off x="640080" y="5623560"/>
            <a:ext cx="10908792" cy="960120"/>
          </a:xfrm>
          <a:prstGeom prst="rect">
            <a:avLst/>
          </a:prstGeom>
          <a:solidFill>
            <a:srgbClr val="F2F4F6"/>
          </a:solidFill>
          <a:ln w="12700">
            <a:solidFill>
              <a:srgbClr val="B88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nchor="ctr" lIns="45720" rIns="45720" tIns="18288" bIns="18288">
            <a:spAutoFit/>
          </a:bodyPr>
          <a:lstStyle/>
          <a:p>
            <a:r>
              <a:rPr sz="1300" b="1">
                <a:solidFill>
                  <a:srgbClr val="B88600"/>
                </a:solidFill>
                <a:latin typeface="Malgun Gothic"/>
              </a:rPr>
              <a:t>참고:</a:t>
            </a:r>
          </a:p>
          <a:p>
            <a:r>
              <a:rPr sz="1250" b="0">
                <a:solidFill>
                  <a:srgbClr val="202830"/>
                </a:solidFill>
                <a:latin typeface="Malgun Gothic"/>
              </a:rPr>
              <a:t>실습은 19c 멀티테넌트 CDB 환경을 전제로 한다. V$/GV$ 조회에는 SYSDBA 또는 SELECT_CATALOG_ROLE 권한이 필요하다. GV$INSTANCE에서 여러 행이 보이려면 RAC 환경이어야 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
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자동 유지관리 작업을 관리하는 핵심 패키지인 DBMS_AUTO_TASK_ADMIN을 소개한다. 29장에서 배웠듯 세 가지 자동 유지관리 작업은 데이터베이스 생성 시점에 이미 활성화되어 있으므로, DBA가 새로 만들 필요는 없고 운영 환경에 맞게 조정하는 것이 역할이다. 이 패키지에서 가장 자주 쓰는 프로시저는 ENABLE과 DISABLE이며, 두 프로시저 모두 client_name, operation, window_name 세 파라미터를 받는다. 인자를 하나도 주지 않으면 AUTOTASK 프레임워크 전체가 대상이 되고, client_name만 주면 특정 작업 전체가, window_name까지 함께 주면 그 작업을 그 윈도우에서만 제어한다. 이렇게 제어 범위를 단계적으로 좁힐 수 있다는 점이 이 패키지의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유지관리 작업의 제어를 이해하려면 클라이언트, 오퍼레이션, 태스크의 계층 관계를 알아야 한다. 클라이언트는 하나의 자동 유지관리 기능 단위를 가리키는 이름이고, 그 하위의 오퍼레이션이 윈도우가 열릴 때마다 실제 태스크 또는 잡으로 인스턴스화되어 실행된다. DBMS_AUTO_TASK_ADMIN은 이 계층을 각각 겨냥하는 client_name, operation_name, window_name 파라미터를 제공한다. 또한 자동 유지관리는 세 패키지의 협업으로 동작한다는 점이 중요하다. DBMS_AUTO_TASK_ADMIN은 무엇을 켜고 끌지를, DBMS_SCHEDULER는 언제 열지를, DBMS_RESOURCE_MANAGER는 얼마나 자원을 줄지를 담당한다. 실제 실행은 ora$at_로 시작하는 스케줄러 잡으로 이루어지며, 자동태스크 코디네이터가 윈도우 시점에 실행할 오퍼레이션을 판단해 큐잉한다.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자동 유지관리 작업의 현재 상태를 확인하는 기본 조회를 보여 준다. DBA_AUTOTASK_CLIENT 뷰는 각 클라이언트(작업)의 이름, 활성 상태(STATUS), 속성(ATTRIBUTES)을 담고 있다. STATUS가 ENABLED이면 그 작업이 유지관리 윈도우에서 실행될 수 있는 상태이고 DISABLED이면 실행되지 않는다. 다만 여기서 주의할 점은, 개별 클라이언트가 ENABLED로 보이더라도 DBMS_AUTO_TASK_ADMIN 최상위 스위치가 꺼져 있으면 실제로는 아무 작업도 큐잉되지 않는다는 것이다. 그래서 상태 점검은 클라이언트 STATUS와 함께 실제 실행 이력(DBA_AUTOTASK_JOB_HISTORY)을 병행해서 확인하는 것이 안전하다. 세 가지 사전 정의 작업의 이름이 소문자 문자열로 나타난다는 점도 눈여겨봐야 하는데, 이 문자열이 곧 ENABLE/DISABLE의 client_name 인자로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ENABLE과 DISABLE의 제어 범위를 정리한다. 가장 단순한 형태는 인자를 생략하고 프레임워크 전체를 토글하는 것인데, 이는 대규모 마이그레이션처럼 야간 자원을 100% 확보해야 하는 예외적 상황에서만 신중하게 사용한다. 실무에서는 대부분 client_name을 지정한 클라이언트 단위 제어로 충분하다. 특정 작업을 특정 윈도우에서만 멈추고 싶으면 window_name을 함께 지정한다. 여기서 반드시 기억할 것은 계층 관계다. 프레임워크 전체를 DISABLE한 뒤 개별 클라이언트를 ENABLE하더라도, 최상위 스위치가 꺼져 있으면 실행은 일어나지 않는다. 또한 ENABLE/DISABLE은 멱등에 가깝게 동작해서 이미 꺼진 작업을 다시 꺼도, 이미 켜진 작업을 다시 켜도 오류가 나지 않는다. 덕분에 운영 스크립트에서 상태를 확신할 수 없을 때도 안전하게 원하는 상태를 강제할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두 가지 수준의 비활성화를 대비해서 보여 준다. 첫 번째 블록은 인자 없이 DISABLE과 ENABLE을 호출해 AUTOTASK 프레임워크 전체를 껐다가 켜는 예다. 프레임워크 전체를 끄면 세 가지 사전 정의 작업이 모두 유지관리 윈도우에서 실행되지 않으므로, 개별 작업만 잠깐 멈추고 싶을 때는 이 방식을 쓰면 안 된다. 두 번째 블록은 client_name에 'auto optimizer stats collection'을 지정해 옵티마이저 통계 수집 작업만 비활성화하는 예다. operation과 window_name을 NULL로 두었으므로 그 작업의 모든 오퍼레이션이 모든 윈도우에서 비활성화된다. client_name 문자열은 대소문자를 구분하지 않지만, DBA_AUTOTASK_CLIENT에 나타나는 소문자 형태를 그대로 쓰는 것이 안전하다. 잘못된 이름을 넘기면 의도한 작업이 제어되지 않으므로, 호출 전에 정확한 이름을 확인하는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세 가지 사전 정의 클라이언트의 성격 차이와 그에 따른 제어 정책을 설명한다. 자동 옵티마이저 통계 수집은 비용 기반 옵티마이저의 실행 계획 품질에 직접 영향을 주므로 되도록 항상 켜 두는 것이 원칙이다. 자동 세그먼트(공간) 어드바이저는 조각화가 심한 세그먼트에 대해 SHRINK를 권고만 할 뿐 자동 실행하지 않기 때문에 부담이 작아 그대로 두는 편이 좋다. 반면 자동 SQL 튜닝 어드바이저는 AWR에 축적된 상위 SQL을 대상으로 튜닝 시뮬레이션을 수행하므로 세 작업 중 가장 무겁다. 따라서 유지관리 시간대에도 부하 여유가 크지 않은 시스템이라면 SQL 튜닝 어드바이저를 우선적인 조정 대상으로 삼는 것이 합리적이다. 세 작업을 켜고 끄는 방법은 client_name에 넣는 문자열만 다를 뿐 완전히 동일하다.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클라이언트별 제어와 윈도우별 제어를 함께 보여 준다. 첫 번째 예는 sql tuning advisor만 비활성화하는 것으로, 세그먼트 어드바이저와 통계 수집은 그대로 유지된다. 이렇게 하면 가장 무거운 작업만 선택적으로 멈출 수 있다. 두 번째 예는 window_name을 함께 지정해 옵티마이저 통계 수집을 SATURDAY_WINDOW에서만 비활성화한다. 이 경우 다른 요일 윈도우에서는 통계가 정상적으로 수집되고, 지정한 토요일 윈도우에서만 건너뛴다. 이렇게 윈도우 단위로 제어하면 작업을 완전히 끄지 않으면서도 특정 시간대의 자원 경합만 회피할 수 있다. 자동 통계 수집을 전체적으로 끄는 것은 실행 계획 저하 위험이 크므로, 이처럼 윈도우 단위나 대상 예외 처리로 최소한만 제어하는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사용자 정의 유지관리 윈도우를 만드는 DBMS_SCHEDULER.CREATE_WINDOW 프로시저의 핵심 파라미터를 정리한다. window_name은 윈도우의 고유 이름이고, resource_plan은 윈도우가 열릴 때 자동 활성화할 리소스 관리자 플랜이다. repeat_interval은 언제·얼마나 자주 열릴지를 정하는 캘린더 표현식으로 freq, byday, byhour 같은 키워드를 조합해 표현한다. duration은 윈도우가 열려 있는 기간을 INTERVAL 리터럴로 지정한다. 여기서 반드시 기억할 점은, 새로 만든 윈도우는 기본적으로 활성화된 상태로 생성되지만 그것만으로는 자동 유지관리 작업이 실행되지 않는다는 것이다. 자동 작업이 그 윈도우에서 돌게 하려면 30.6에서 다루는 MAINTENANCE_WINDOW_GROUP에 멤버로 추가해야 한다. 그룹에 넣지 않은 독립 윈도우는 열려도 자동 유지관리 작업을 큐잉하지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매일 새벽 1시에 열려 3시간 동안 지속되는 사용자 정의 유지관리 윈도우 FINANCE_MAINT_WINDOW를 생성한다. repeat_interval의 'freq=daily;byhour=1;byminute=0'은 매일 1시 정각 시작을 의미하고, duration의 INTERVAL '3' HOUR는 3시간 지속을 의미한다. resource_plan에 DEFAULT_MAINTENANCE_PLAN을 지정했으므로 이 윈도우가 열리면 자동으로 그 리소스 플랜이 활성화되어 유지관리 작업의 자원이 통제된다. 이런 사용자 정의 윈도우는 사전 정의된 밤 10시 윈도우가 서비스 트래픽과 겹치는 경우, 유지관리 부하를 한산한 새벽 시간대로 옮기는 데 유용하다. 다만 앞서 강조했듯 이 윈도우를 실제 자동 유지관리에 참여시키려면 MAINTENANCE_WINDOW_GROUP에 추가하는 후속 작업이 반드시 필요하다. 생성 직후 DBA_SCHEDULER_WINDOWS 뷰로 윈도우가 제대로 만들어졌는지 확인하는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이미 만들어 둔 윈도우를 수정·중지·삭제하는 방법을 정리한다. 속성 변경은 DBMS_SCHEDULER.SET_ATTRIBUTE로 하며, 지속 시간(DURATION), 반복 규칙(REPEAT_INTERVAL), 연결된 리소스 플랜(RESOURCE_PLAN) 등을 바꿀 수 있다. 특히 RESOURCE_PLAN을 바꾸면 그 윈도우가 열릴 때 적용되는 자원 정책 자체를 교체할 수 있다. 현재 열려 있는 윈도우의 속성을 바꾸면 변경은 대개 다음번 열림부터 반영된다는 점에 유의한다. 윈도우를 일시적으로 멈추려면 삭제하지 말고 DISABLE로 비활성화하는 것이 원칙이다. 비활성화된 윈도우는 스케줄이 되어도 열리지 않으며 다시 ENABLE하면 원래 속성 그대로 복귀하므로, 지웠다 다시 만드는 것보다 안전하고 이력 관리에 유리하다. 열려 있는 윈도우를 즉시 닫아야 한다면 force 인자를 쓰지만 진행 중인 작업이 중단되므로 신중해야 한다. 더 이상 필요 없는 윈도우는 DROP_WINDOW로 삭제한다.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윈도우 관리의 전형적인 작업들을 한 화면에 모아 보여 준다. 첫 번째는 SET_ATTRIBUTE로 지속 시간을 3시간에서 4시간으로 늘리는 예다. attribute에 'DURATION'을, value에 INTERVAL 리터럴을 전달하는데, 속성마다 값의 타입이 다르므로 타입을 맞춰야 오류가 나지 않는다. 두 번째는 DISABLE과 ENABLE로 윈도우를 일시 중지했다가 재개하는 예로, 비활성화 중에는 스케줄이 되어도 열리지 않고 재활성화하면 원래 속성이 그대로 유지된다. 세 번째는 열려 있는 윈도우를 force 인자로 강제 종료한 뒤 DROP_WINDOW로 삭제하는 예다. 윈도우가 현재 열려 있는 상태에서 그냥 DISABLE이나 DROP을 시도하면 거부될 수 있으므로 force가 필요하다. 다만 강제 종료는 진행 중이던 유지관리 작업을 중단시키므로 실제 운영에서는 신중히 사용해야 한다. 또한 그룹 멤버인 윈도우는 삭제 전에 그룹에서 먼저 제거해야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윈도우 그룹의 역할과 관리 방법을 설명한다. 사전 정의된 요일별 윈도우 7개는 낱개로 흩어져 있지 않고 MAINTENANCE_WINDOW_GROUP이라는 하나의 윈도우 그룹으로 묶여 있다. 자동 유지관리 작업은 바로 이 그룹에 속한 윈도우가 열릴 때만 실행되므로, 사용자 정의 윈도우를 자동 유지관리에 참여시키려면 반드시 이 그룹의 멤버로 추가해야 한다. 추가는 ADD_WINDOW_GROUP_MEMBER, 제거는 REMOVE_WINDOW_GROUP_MEMBER로 한다. 이 구조 덕분에 관리자는 그룹의 멤버를 넣고 빼는 것만으로 유지관리가 일어나는 시간대 전체를 재구성할 수 있다. 예를 들어 토요일에 대규모 배포가 예정되면 SATURDAY_WINDOW를 그룹에서 빼고, 대신 일요일 새벽에 열리는 사용자 정의 윈도우를 추가하는 식이다. 한 가지 주의할 점은 그룹 내 두 윈도우의 시간대가 겹치면 먼저 열린 윈도우가 우선한다는 것이므로, 중복 시간대 설계에 유의해야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윈도우 그룹의 멤버를 조정하고 확인하는 방법을 보여 준다. 첫 번째 문장은 앞서 만든 FINANCE_MAINT_WINDOW를 MAINTENANCE_WINDOW_GROUP에 추가한다. 이 한 줄로 사용자 정의 윈도우가 비로소 자동 유지관리 작업을 실행하는 유효한 시간대가 된다. 두 번째 문장은 SATURDAY_WINDOW를 그룹에서 제거해 토요일에는 자동 유지관리 작업이 돌지 않게 한다. 이때 윈도우 객체 자체가 삭제되는 것은 아니고 그룹 소속만 해제되므로, 나중에 다시 추가할 수 있다. 세 번째 문장은 DBA_SCHEDULER_WINGROUP_MEMBERS 뷰로 현재 그룹에 어떤 윈도우가 속해 있는지 확인한다. 유지관리 시간대를 변경한 뒤에는 반드시 이 뷰로 의도한 대로 멤버가 구성되었는지 검증해야 한다. 자동 유지관리 프레임워크가 참조하는 그룹은 MAINTENANCE_WINDOW_GROUP으로 고정되어 있으므로, 시간대를 바꾸려면 새 그룹을 만들기보다 이 표준 그룹의 멤버를 조정하는 것이 맞다.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유지관리 시간대의 자원이 어떻게 통제되는지를 설명한다. 유지관리 윈도우가 열릴 때는 단순히 시간대만 여는 것이 아니라, 그 윈도우에 지정된 리소스 관리자 플랜이 함께 자동 활성화된다. 사전 정의된 요일별 윈도우에는 DEFAULT_MAINTENANCE_PLAN이 연결되어 있다. 이 플랜의 목적은 유지관리 작업이 아무리 무거워도 데이터베이스의 CPU를 독점하지 못하도록 상한을 두어, 같은 시간대의 다른 작업 특히 야간 배치를 보호하는 것이다. DEFAULT_MAINTENANCE_PLAN은 최상위에서 CPU를 세 갈래로 나눈다. 자동 유지관리 작업 전용의 ORA$AUTOTASK, 진단용 ORA$DIAGNOSTICS, 그리고 그 외 모든 세션이 속하는 OTHER_GROUPS다. 리소스 플랜은 소비자 그룹별 자원 배분 규칙이며, 활성화되면 각 그룹의 상한을 강제한다. 이것이 유지관리 작업과 업무가 자원을 두고 다투지 않게 하는 실제 메커니즘이다.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ORA$AUTOTASK 서브플랜 내부가 작업의 급박함에 따라 어떻게 세분화되는지를 보여 준다. ORA$AUTOTASK는 자기 자신이 다시 하위 소비자 그룹으로 자원을 나누는 서브플랜이다. 긴급 작업용 ORA$AUTOTASK_URGENT, 상태 점검용 ORA$AUTOTASK_HEALTH_CHECK, SQL 튜닝용 ORA$AUTOTASK_SQL_TUNE, 통계 수집용 ORA$AUTOTASK_STATS, 공간 어드바이저용 ORA$AUTOTASK_SPACE, 일반 우선순위용 ORA$AUTOTASK_MEDIUM 등으로 나뉜다. 이렇게 세분화하는 이유는 같은 유지관리 시간대 안에서도 급박한 작업과 느긋한 작업이 서로 다른 자원 비중으로 실행되도록 하기 위해서다. 예를 들어 긴급 작업은 더 많은 자원을 우선 배정받고, 통계 수집이나 공간 어드바이저 같은 일상 작업은 상대적으로 낮은 비중으로 실행된다. 실제 배분 비율은 데이터베이스 버전과 패치 수준에 따라 다를 수 있으므로, 특정 숫자를 외우기보다 DBA_RSRC_PLAN_DIRECTIVES로 현재 값을 확인하는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자동 유지관리 작업에 배분된 자원을 조회하는 방법을 정리한다. 핵심 뷰는 DBA_RSRC_PLAN_DIRECTIVES로, 각 리소스 플랜이 어떤 소비자 그룹 또는 서브플랜에 어떤 관리 파라미터를 배정하는지 보여 준다. MGMT_P1부터 MGMT_P8까지는 8단계 우선순위 레벨별 CPU 배분 비율을 뜻하며, 레벨 1에서 먼저 배분하고 남은 자원을 레벨 2에서 다시 나누는 계단식 구조다. GROUP_OR_SUBPLAN 값이 소비자 그룹인지 서브플랜인지는 TYPE 컬럼으로 구분하는데, TYPE이 PLAN이면 그 항목 자체가 다시 하위로 자원을 나누는 서브플랜이고 CONSUMER_GROUP이면 세션이 실제로 매핑되는 그룹이다. 현재 어떤 플랜이 활성 상태인지는 V$RSRC_PLAN으로 확인한다. 유지관리 윈도우가 열려 있는 동안 이 뷰를 조회하면 DEFAULT_MAINTENANCE_PLAN이 활성으로 나타나고, 윈도우가 닫히면 원래 플랜으로 돌아간다.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DEFAULT_MAINTENANCE_PLAN의 자원 배분을 실제로 조회한 결과다. 결과를 보면 ORA$AUTOTASK에 MGMT_P1=25가 배정되어 있는데, 이는 우선순위 레벨 1에서 자동 유지관리 작업이 CPU를 최대 25%까지 사용할 수 있다는 의미다. ORA$DIAGNOSTICS에 5%, 나머지 70%는 OTHER_GROUPS 즉 그 시간대의 사용자 세션과 배치에 남겨 둔다. 바로 이 비율이 유지관리 작업과 야간 업무가 자원을 두고 다투지 않게 하는 핵심 장치다. 유지관리 작업이 아무리 바빠도 정해진 25% 상한을 넘겨 다른 작업을 굶기지 못한다. 여기 표시된 값은 데이터베이스 버전과 패치 수준에 따라 다를 수 있으므로, 특정 숫자를 외우기보다 이 조회로 현재 값을 직접 확인하는 것이 중요하다. 서브플랜 내부의 세부 배분까지 보려면 plan 조건을 'ORA$AUTOTASK'로 바꿔 다시 조회하면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유지관리 작업의 자원 할당을 바꾸는 표준 절차인 Pending Area 워크플로우를 설명한다. 리소스 관리자의 모든 변경은 곧바로 적용되지 않고 반드시 Pending Area라는 대기 영역을 거친다. 먼저 CREATE_PENDING_AREA로 변경 작업 공간을 열고, UPDATE_PLAN_DIRECTIVE 같은 프로시저로 디렉티브를 수정하며, VALIDATE_PENDING_AREA로 비율 합계나 참조 무결성 같은 정합성을 검증한 뒤, SUBMIT_PENDING_AREA로 변경을 실제 적용한다. 제출 전이라면 CLEAR_PENDING_AREA로 변경을 폐기해 되돌릴 수 있다. 이 워크플로우는 리소스 플랜의 정합성을 지키기 위한 안전장치다. 만약 CREATE_PENDING_AREA 없이 UPDATE나 SUBMIT을 호출하면 대기 영역이 없다는 오류가 발생한다. 변경이 필요한 전형적 상황은 유지관리 작업이 자원을 너무 적게 받아 계속 이월되거나, 반대로 야간 배치의 CPU를 잠식하는 경우다. 어느 쪽이든 목표는 유지관리와 업무가 공존하도록 자원 경계를 다시 긋는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DEFAULT_MAINTENANCE_PLAN에서 ORA$AUTOTASK에 배정된 CPU 상한을 25%에서 40%로 올리는 예다. CREATE_PENDING_AREA로 대기 영역을 열고, UPDATE_PLAN_DIRECTIVE로 ORA$AUTOTASK의 new_mgmt_p1을 40으로 지정한 뒤, VALIDATE_PENDING_AREA로 검증하고 SUBMIT_PENDING_AREA로 적용한다. 이 순서를 지키지 않으면 오류가 나므로 반드시 CREATE, UPDATE, VALIDATE, SUBMIT 흐름을 그대로 따라야 한다. 특히 CREATE_PENDING_AREA를 빠뜨린 채 UPDATE나 SUBMIT을 호출하면 대기 영역이 없다는 ORA-29371 계열 오류가 발생한다. 상한을 올리면 유지관리 작업이 윈도우 안에서 더 빨리 끝날 수 있지만, 그만큼 야간 배치가 받는 자원은 줄어든다. 따라서 상한 조정은 보수적으로 소폭만 하고 이후 모니터링으로 영향을 확인하는 것이 바람직하다. 변경 전의 DBA_RSRC_PLAN_DIRECTIVES 값을 기록해 두면 그대로 롤백 스크립트가 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자동 유지관리 작업을 모니터링하는 뷰들과 진단 순서를 정리한다. 구성을 변경한 뒤에는 반드시 실제 실행 결과를 검증해야 한다. 모니터링에서 자주 확인하는 것은 세 가지다. 첫째 작업이 켜져 있는가는 DBA_AUTOTASK_CLIENT의 STATUS로, 둘째 실제로 실행됐는가는 DBA_AUTOTASK_JOB_HISTORY의 JOB_STATUS와 시각으로, 셋째 언제 다시 실행되는가는 DBA_AUTOTASK_SCHEDULE로 확인한다. 작업이 예상과 달리 실행되지 않았다면 원인을 단계적으로 좁힌다. 프레임워크 전체가 꺼져 있는지, 해당 클라이언트가 꺼져 있는지, 그 윈도우에서만 비활성화되어 있는지, 또는 유지관리 윈도우 자체가 열리지 않았는지를 DBA_AUTOTASK_WINDOW_CLIENTS와 DBA_SCHEDULER_WINDOW_LOG 등을 통해 차례로 확인하면 대부분의 문제를 진단할 수 있다. 이렇게 상위에서 하위로 내려가며 점검하는 습관이 안정적인 운영의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DBA_AUTOTASK_JOB_HISTORY 뷰로 최근 자동 유지관리 잡의 실행 이력을 조회한다. 각 행은 어떤 클라이언트의 잡이 언제 시작되어 어떤 상태로 끝났는지를 보여 준다. JOB_STATUS가 SUCCEEDED이면 정상 완료, FAILED이면 실패, STOPPED이면 윈도우 종료 등으로 중단되었음을 뜻한다. 여기서 STOPPED는 오류가 아니라, 윈도우가 닫히면서 아직 끝나지 않은 작업이 중단되고 다음 윈도우로 이월되는 정상적인 설계 동작이라는 점을 이해해야 한다. 결과를 보면 밤 10시 무렵에 통계 수집과 공간 어드바이저가 먼저 실행되고, 이어서 SQL 튜닝 어드바이저가 실행된 것을 확인할 수 있다. 구성을 변경한 다음에는 이 뷰로 실제 실행 여부와 결과를 확인해, 설정이 의도대로 반영되고 실행까지 정상인지 끝까지 검증하는 것이 안전한 운영 습관이다. 자동 SQL 튜닝의 상세 권고는 DBMS_AUTO_SQLTUNE.REPORT_AUTO_TUNING_TASK로 별도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멀티테넌트 환경에서 자동 유지관리 작업이 어떻게 관리되는지를 설명한다. 핵심은 언제 열지와 무엇을 돌릴지가 서로 다른 계층에서 관리된다는 점이다. 유지관리 윈도우와 리소스 관리자 플랜은 CDB 루트에서 정의되는 CDB 공통 자원이고, 각 자동 유지관리 작업의 활성과 비활성은 컨테이너별로 개별 제어된다. 즉 언제 열리는지는 CDB가 정하고 그 시간에 무엇을 돌릴지는 각 PDB가 정한다. 하나의 윈도우가 열리면 그 윈도우는 CDB 전체에 대해 열리므로 모든 PDB에서 동시에 유지관리 시간대가 시작되지만, 실제로 어떤 작업이 도는지는 PDB별 활성화 설정에 따라 달라진다. 자원 측면에서도 CDB 플랜이 PDB 간 배분을, PDB 플랜이 PDB 내부 배분을 계층적으로 통제하므로, 특정 PDB의 유지관리 부하가 다른 PDB의 업무를 침해하지 않도록 보호된다. 전체 컨테이너 상태는 루트에서 CDB_AUTOTASK_CLIENT를 CON_ID와 함께 조회해 한눈에 파악할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 슬라이드는 30장의 핵심 개념을 스스로 점검하도록 구성했다. Q1은 DBMS_AUTO_TASK_ADMIN 패키지와 ENABLE·DISABLE 프로시저를 묻는 것으로, 자동 유지관리 작업 제어의 기본 도구를 확인한다. Q2는 인자 없는 DISABLE 호출이 AUTOTASK 프레임워크 전체를 대상으로 한다는 계층 개념을 점검한다. Q3은 DBMS_SCHEDULER.CREATE_WINDOW로 윈도우를 만들고, 그것을 MAINTENANCE_WINDOW_GROUP에 추가해야 자동 작업에 참여한다는 두 단계를 확인한다. Q4는 DEFAULT_MAINTENANCE_PLAN이라는 이름을 정확히 기억하는지 묻는다. Q5는 CREATE_PENDING_AREA, UPDATE_PLAN_DIRECTIVE, VALIDATE_PENDING_AREA, SUBMIT_PENDING_AREA로 이어지는 Pending Area 워크플로우를 순서대로 이해했는지 점검한다. Q6은 멀티테넌트에서 윈도우와 리소스 플랜은 CDB 루트에서, 작업 활성화는 각 PDB에서 관리한다는 책임 분담을 확인한다. 각 문항은 앞선 슬라이드의 핵심을 되짚는 것이므로, 답이 막히면 해당 절로 돌아가 복습하도록 안내한다.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Administration Workshop</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자동 유지관리 작업: 작업 및 윈도우 관리</a:t>
            </a:r>
          </a:p>
          <a:p>
            <a:r>
              <a:rPr sz="2000" b="0">
                <a:solidFill>
                  <a:srgbClr val="5A6672"/>
                </a:solidFill>
                <a:latin typeface="맑은 고딕"/>
              </a:rPr>
              <a:t>Automated Maintenance Tasks: Managing Tasks and Windows</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DBMS_AUTO_TASK_ADMIN · Maintenance Windows · Resource Allocation</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제30장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DBMS_AUTO_TASK_ADMIN의 ENABLE/DISABLE로 자동 유지관리 작업을 제어한다.</a:t>
            </a:r>
          </a:p>
          <a:p>
            <a:pPr>
              <a:spcAft>
                <a:spcPts val="600"/>
              </a:spcAft>
            </a:pPr>
            <a:r>
              <a:rPr sz="1600" b="0">
                <a:solidFill>
                  <a:srgbClr val="222222"/>
                </a:solidFill>
                <a:latin typeface="맑은 고딕"/>
              </a:rPr>
              <a:t>•  작업을 프레임워크 전체·클라이언트·윈도우 단위로 활성화/비활성화한다.</a:t>
            </a:r>
          </a:p>
          <a:p>
            <a:pPr>
              <a:spcAft>
                <a:spcPts val="600"/>
              </a:spcAft>
            </a:pPr>
            <a:r>
              <a:rPr sz="1600" b="0">
                <a:solidFill>
                  <a:srgbClr val="222222"/>
                </a:solidFill>
                <a:latin typeface="맑은 고딕"/>
              </a:rPr>
              <a:t>•  옵티마이저 통계·세그먼트 어드바이저·SQL 튜닝 어드바이저를 개별 제어한다.</a:t>
            </a:r>
          </a:p>
          <a:p>
            <a:pPr>
              <a:spcAft>
                <a:spcPts val="600"/>
              </a:spcAft>
            </a:pPr>
            <a:r>
              <a:rPr sz="1600" b="0">
                <a:solidFill>
                  <a:srgbClr val="222222"/>
                </a:solidFill>
                <a:latin typeface="맑은 고딕"/>
              </a:rPr>
              <a:t>•  DBMS_SCHEDULER.CREATE_WINDOW로 사용자 정의 유지관리 윈도우를 만든다.</a:t>
            </a:r>
          </a:p>
          <a:p>
            <a:pPr>
              <a:spcAft>
                <a:spcPts val="600"/>
              </a:spcAft>
            </a:pPr>
            <a:r>
              <a:rPr sz="1600" b="0">
                <a:solidFill>
                  <a:srgbClr val="222222"/>
                </a:solidFill>
                <a:latin typeface="맑은 고딕"/>
              </a:rPr>
              <a:t>•  SET_ATTRIBUTE·ENABLE·DISABLE·DROP_WINDOW로 윈도우를 관리한다.</a:t>
            </a:r>
          </a:p>
          <a:p>
            <a:pPr>
              <a:spcAft>
                <a:spcPts val="600"/>
              </a:spcAft>
            </a:pPr>
            <a:r>
              <a:rPr sz="1600" b="0">
                <a:solidFill>
                  <a:srgbClr val="222222"/>
                </a:solidFill>
                <a:latin typeface="맑은 고딕"/>
              </a:rPr>
              <a:t>•  윈도우 그룹(ADD_WINDOW_GROUP_MEMBER)을 관리한다.</a:t>
            </a:r>
          </a:p>
          <a:p>
            <a:pPr>
              <a:spcAft>
                <a:spcPts val="600"/>
              </a:spcAft>
            </a:pPr>
            <a:r>
              <a:rPr sz="1600" b="0">
                <a:solidFill>
                  <a:srgbClr val="222222"/>
                </a:solidFill>
                <a:latin typeface="맑은 고딕"/>
              </a:rPr>
              <a:t>•  DEFAULT_MAINTENANCE_PLAN의 자원 배분을 조회하고 변경한다.</a:t>
            </a:r>
          </a:p>
          <a:p>
            <a:pPr>
              <a:spcAft>
                <a:spcPts val="600"/>
              </a:spcAft>
            </a:pPr>
            <a:r>
              <a:rPr sz="1600" b="0">
                <a:solidFill>
                  <a:srgbClr val="222222"/>
                </a:solidFill>
                <a:latin typeface="맑은 고딕"/>
              </a:rPr>
              <a:t>•  Pending Area 워크플로우로 유지관리 작업 리소스 할당을 변경한다.</a:t>
            </a:r>
          </a:p>
          <a:p>
            <a:pPr>
              <a:spcAft>
                <a:spcPts val="600"/>
              </a:spcAft>
            </a:pPr>
            <a:r>
              <a:rPr sz="1600" b="0">
                <a:solidFill>
                  <a:srgbClr val="222222"/>
                </a:solidFill>
                <a:latin typeface="맑은 고딕"/>
              </a:rPr>
              <a:t>•  DBA_AUTOTASK_* 뷰로 작업을 모니터링하고, CDB/PDB 관리 차이를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30.1  DBMS_AUTO_TASK_ADMIN 패키지 개요</a:t>
            </a:r>
          </a:p>
          <a:p>
            <a:pPr>
              <a:spcAft>
                <a:spcPts val="600"/>
              </a:spcAft>
            </a:pPr>
            <a:r>
              <a:rPr sz="1600" b="0">
                <a:solidFill>
                  <a:srgbClr val="222222"/>
                </a:solidFill>
                <a:latin typeface="맑은 고딕"/>
              </a:rPr>
              <a:t>•  30.2  자동 유지관리 작업 활성화/비활성화(ENABLE/DISABLE)</a:t>
            </a:r>
          </a:p>
          <a:p>
            <a:pPr>
              <a:spcAft>
                <a:spcPts val="600"/>
              </a:spcAft>
            </a:pPr>
            <a:r>
              <a:rPr sz="1600" b="0">
                <a:solidFill>
                  <a:srgbClr val="222222"/>
                </a:solidFill>
                <a:latin typeface="맑은 고딕"/>
              </a:rPr>
              <a:t>•  30.3  클라이언트별 작업 제어</a:t>
            </a:r>
          </a:p>
          <a:p>
            <a:pPr>
              <a:spcAft>
                <a:spcPts val="600"/>
              </a:spcAft>
            </a:pPr>
            <a:r>
              <a:rPr sz="1600" b="0">
                <a:solidFill>
                  <a:srgbClr val="222222"/>
                </a:solidFill>
                <a:latin typeface="맑은 고딕"/>
              </a:rPr>
              <a:t>•  30.4  유지관리 윈도우 생성(CREATE_WINDOW)</a:t>
            </a:r>
          </a:p>
          <a:p>
            <a:pPr>
              <a:spcAft>
                <a:spcPts val="600"/>
              </a:spcAft>
            </a:pPr>
            <a:r>
              <a:rPr sz="1600" b="0">
                <a:solidFill>
                  <a:srgbClr val="222222"/>
                </a:solidFill>
                <a:latin typeface="맑은 고딕"/>
              </a:rPr>
              <a:t>•  30.5  윈도우 수정/삭제 및 활성화/비활성화</a:t>
            </a:r>
          </a:p>
          <a:p>
            <a:pPr>
              <a:spcAft>
                <a:spcPts val="600"/>
              </a:spcAft>
            </a:pPr>
            <a:r>
              <a:rPr sz="1600" b="0">
                <a:solidFill>
                  <a:srgbClr val="222222"/>
                </a:solidFill>
                <a:latin typeface="맑은 고딕"/>
              </a:rPr>
              <a:t>•  30.6  윈도우 그룹 관리</a:t>
            </a:r>
          </a:p>
          <a:p>
            <a:pPr>
              <a:spcAft>
                <a:spcPts val="600"/>
              </a:spcAft>
            </a:pPr>
            <a:r>
              <a:rPr sz="1600" b="0">
                <a:solidFill>
                  <a:srgbClr val="222222"/>
                </a:solidFill>
                <a:latin typeface="맑은 고딕"/>
              </a:rPr>
              <a:t>•  30.7  자동 유지관리 작업 리소스 할당 개념</a:t>
            </a:r>
          </a:p>
          <a:p>
            <a:pPr>
              <a:spcAft>
                <a:spcPts val="600"/>
              </a:spcAft>
            </a:pPr>
            <a:r>
              <a:rPr sz="1600" b="0">
                <a:solidFill>
                  <a:srgbClr val="222222"/>
                </a:solidFill>
                <a:latin typeface="맑은 고딕"/>
              </a:rPr>
              <a:t>•  30.8  리소스 관리자 플랜 조회(DBA_RSRC_PLAN_DIRECTIVES)</a:t>
            </a:r>
          </a:p>
          <a:p>
            <a:pPr>
              <a:spcAft>
                <a:spcPts val="600"/>
              </a:spcAft>
            </a:pPr>
            <a:r>
              <a:rPr sz="1600" b="0">
                <a:solidFill>
                  <a:srgbClr val="222222"/>
                </a:solidFill>
                <a:latin typeface="맑은 고딕"/>
              </a:rPr>
              <a:t>•  30.9  리소스 할당 변경(Pending Area 워크플로우)</a:t>
            </a:r>
          </a:p>
          <a:p>
            <a:pPr>
              <a:spcAft>
                <a:spcPts val="600"/>
              </a:spcAft>
            </a:pPr>
            <a:r>
              <a:rPr sz="1600" b="0">
                <a:solidFill>
                  <a:srgbClr val="222222"/>
                </a:solidFill>
                <a:latin typeface="맑은 고딕"/>
              </a:rPr>
              <a:t>•  30.10  자동 유지관리 작업 모니터링</a:t>
            </a:r>
          </a:p>
          <a:p>
            <a:pPr>
              <a:spcAft>
                <a:spcPts val="600"/>
              </a:spcAft>
            </a:pPr>
            <a:r>
              <a:rPr sz="1600" b="0">
                <a:solidFill>
                  <a:srgbClr val="222222"/>
                </a:solidFill>
                <a:latin typeface="맑은 고딕"/>
              </a:rPr>
              <a:t>•  30.11  멀티테넌트 환경에서의 자동 작업 관리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30.1</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DBMS_AUTO_TASK_ADMIN 패키지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자동 유지관리 작업의 관리 진입점</a:t>
            </a:r>
          </a:p>
          <a:p>
            <a:pPr>
              <a:spcAft>
                <a:spcPts val="400"/>
              </a:spcAft>
            </a:pPr>
            <a:r>
              <a:rPr sz="1600" b="0">
                <a:solidFill>
                  <a:srgbClr val="FFFFFF"/>
                </a:solidFill>
                <a:latin typeface="맑은 고딕"/>
              </a:rPr>
              <a:t>•  ENABLE / DISABLE 로 범위별 제어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DBMS_AUTO_TASK_ADMIN 패키지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자동 유지관리 작업의 관리 인터페이스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자동 유지관리 작업은 DB 생성 시 이미 등록·활성화 → DBA는 '조정'만 담당</a:t>
            </a:r>
          </a:p>
          <a:p>
            <a:pPr>
              <a:spcAft>
                <a:spcPts val="800"/>
              </a:spcAft>
            </a:pPr>
            <a:r>
              <a:rPr sz="1700" b="0">
                <a:solidFill>
                  <a:srgbClr val="222222"/>
                </a:solidFill>
                <a:latin typeface="맑은 고딕"/>
              </a:rPr>
              <a:t>•  ENABLE / DISABLE : 인자 조합으로 제어 범위(scope) 결정</a:t>
            </a:r>
          </a:p>
          <a:p>
            <a:pPr>
              <a:spcAft>
                <a:spcPts val="800"/>
              </a:spcAft>
            </a:pPr>
            <a:r>
              <a:rPr sz="1700" b="0">
                <a:solidFill>
                  <a:srgbClr val="222222"/>
                </a:solidFill>
                <a:latin typeface="맑은 고딕"/>
              </a:rPr>
              <a:t>•  인자 없음 → 프레임워크 전체 / client_name → 특정 작업 / +window_name → 윈도우 단위</a:t>
            </a:r>
          </a:p>
          <a:p>
            <a:pPr>
              <a:spcAft>
                <a:spcPts val="800"/>
              </a:spcAft>
            </a:pPr>
            <a:r>
              <a:rPr sz="1700" b="0">
                <a:solidFill>
                  <a:srgbClr val="222222"/>
                </a:solidFill>
                <a:latin typeface="맑은 고딕"/>
              </a:rPr>
              <a:t>•  부가: GET_/SET_CLIENT_ATTRIBUTES, P1 자원 조회/설정 프로시저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작업의 계층 구조와 세 패키지의 역할</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client · operation · task, 그리고 협업하는 패키지</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클라이언트(client): '자동 옵티마이저 통계 수집' 같은 기능 단위</a:t>
            </a:r>
          </a:p>
          <a:p>
            <a:pPr>
              <a:spcAft>
                <a:spcPts val="800"/>
              </a:spcAft>
            </a:pPr>
            <a:r>
              <a:rPr sz="1700" b="0">
                <a:solidFill>
                  <a:srgbClr val="222222"/>
                </a:solidFill>
                <a:latin typeface="맑은 고딕"/>
              </a:rPr>
              <a:t>•  오퍼레이션(operation): 클라이언트 하위 실행 단위 → 윈도우 열림 시 태스크(job)로 실행</a:t>
            </a:r>
          </a:p>
          <a:p>
            <a:pPr>
              <a:spcAft>
                <a:spcPts val="800"/>
              </a:spcAft>
            </a:pPr>
            <a:r>
              <a:rPr sz="1700" b="0">
                <a:solidFill>
                  <a:srgbClr val="222222"/>
                </a:solidFill>
                <a:latin typeface="맑은 고딕"/>
              </a:rPr>
              <a:t>•  DBMS_AUTO_TASK_ADMIN=무엇을 켤지 / DBMS_SCHEDULER=언제 열지 / DBMS_RESOURCE_MANAGER=자원</a:t>
            </a:r>
          </a:p>
          <a:p>
            <a:pPr>
              <a:spcAft>
                <a:spcPts val="800"/>
              </a:spcAft>
            </a:pPr>
            <a:r>
              <a:rPr sz="1700" b="0">
                <a:solidFill>
                  <a:srgbClr val="222222"/>
                </a:solidFill>
                <a:latin typeface="맑은 고딕"/>
              </a:rPr>
              <a:t>•  내부적으로 'ora$at_...' 스케줄러 잡을 자동태스크 코디네이터가 큐잉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작업 활성 상태 조회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DBA_AUTOTASK_CLIENT</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AUTOTASK 클라이언트(작업)별 현재 활성 상태</a:t>
            </a:r>
          </a:p>
          <a:p>
            <a:pPr>
              <a:spcAft>
                <a:spcPts val="0"/>
              </a:spcAft>
            </a:pPr>
            <a:r>
              <a:rPr sz="1250" b="0">
                <a:solidFill>
                  <a:srgbClr val="F2F2F2"/>
                </a:solidFill>
                <a:latin typeface="Consolas"/>
              </a:rPr>
              <a:t>COLUMN client_name FORMAT A34</a:t>
            </a:r>
          </a:p>
          <a:p>
            <a:pPr>
              <a:spcAft>
                <a:spcPts val="0"/>
              </a:spcAft>
            </a:pPr>
            <a:r>
              <a:rPr sz="1250" b="0">
                <a:solidFill>
                  <a:srgbClr val="F2F2F2"/>
                </a:solidFill>
                <a:latin typeface="Consolas"/>
              </a:rPr>
              <a:t>SELECT client_name, status, attributes</a:t>
            </a:r>
          </a:p>
          <a:p>
            <a:pPr>
              <a:spcAft>
                <a:spcPts val="0"/>
              </a:spcAft>
            </a:pPr>
            <a:r>
              <a:rPr sz="1250" b="0">
                <a:solidFill>
                  <a:srgbClr val="F2F2F2"/>
                </a:solidFill>
                <a:latin typeface="Consolas"/>
              </a:rPr>
              <a:t>  FROM  dba_autotask_client</a:t>
            </a:r>
          </a:p>
          <a:p>
            <a:pPr>
              <a:spcAft>
                <a:spcPts val="0"/>
              </a:spcAft>
            </a:pPr>
            <a:r>
              <a:rPr sz="1250" b="0">
                <a:solidFill>
                  <a:srgbClr val="F2F2F2"/>
                </a:solidFill>
                <a:latin typeface="Consolas"/>
              </a:rPr>
              <a:t> ORDER BY client_name;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CLIENT_NAME                       STATUS</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auto optimizer stats collection   ENABLED</a:t>
            </a:r>
          </a:p>
          <a:p>
            <a:pPr>
              <a:spcAft>
                <a:spcPts val="0"/>
              </a:spcAft>
            </a:pPr>
            <a:r>
              <a:rPr sz="1250" b="0">
                <a:solidFill>
                  <a:srgbClr val="F2F2F2"/>
                </a:solidFill>
                <a:latin typeface="Consolas"/>
              </a:rPr>
              <a:t>auto space advisor                ENABLED</a:t>
            </a:r>
          </a:p>
          <a:p>
            <a:pPr>
              <a:spcAft>
                <a:spcPts val="0"/>
              </a:spcAft>
            </a:pPr>
            <a:r>
              <a:rPr sz="1250" b="0">
                <a:solidFill>
                  <a:srgbClr val="F2F2F2"/>
                </a:solidFill>
                <a:latin typeface="Consolas"/>
              </a:rPr>
              <a:t>sql tuning advisor                ENABLED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유지관리 작업 활성화/비활성화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ENABLE / DISABLE 표준 절차</a:t>
            </a:r>
          </a:p>
          <a:p>
            <a:pPr>
              <a:spcAft>
                <a:spcPts val="400"/>
              </a:spcAft>
            </a:pPr>
            <a:r>
              <a:rPr sz="1600" b="0">
                <a:solidFill>
                  <a:srgbClr val="FFFFFF"/>
                </a:solidFill>
                <a:latin typeface="맑은 고딕"/>
              </a:rPr>
              <a:t>•  프레임워크·클라이언트·윈도우 단위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ENABLE / DISABLE 의 범위</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제어 정밀도를 조절한다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인자 없이 호출 → AUTOTASK 프레임워크 전체 토글(예외적 상황에서만 사용)</a:t>
            </a:r>
          </a:p>
          <a:p>
            <a:pPr>
              <a:spcAft>
                <a:spcPts val="800"/>
              </a:spcAft>
            </a:pPr>
            <a:r>
              <a:rPr sz="1700" b="0">
                <a:solidFill>
                  <a:srgbClr val="222222"/>
                </a:solidFill>
                <a:latin typeface="맑은 고딕"/>
              </a:rPr>
              <a:t>•  client_name 지정 → 특정 작업만 제어(실무 표준)</a:t>
            </a:r>
          </a:p>
          <a:p>
            <a:pPr>
              <a:spcAft>
                <a:spcPts val="800"/>
              </a:spcAft>
            </a:pPr>
            <a:r>
              <a:rPr sz="1700" b="0">
                <a:solidFill>
                  <a:srgbClr val="222222"/>
                </a:solidFill>
                <a:latin typeface="맑은 고딕"/>
              </a:rPr>
              <a:t>•  client_name + window_name → 특정 작업을 특정 윈도우에서만 제어</a:t>
            </a:r>
          </a:p>
          <a:p>
            <a:pPr>
              <a:spcAft>
                <a:spcPts val="800"/>
              </a:spcAft>
            </a:pPr>
            <a:r>
              <a:rPr sz="1700" b="0">
                <a:solidFill>
                  <a:srgbClr val="222222"/>
                </a:solidFill>
                <a:latin typeface="맑은 고딕"/>
              </a:rPr>
              <a:t>•  계층적: 상위(프레임워크)가 꺼져 있으면 하위 설정은 효력 없음</a:t>
            </a:r>
          </a:p>
          <a:p>
            <a:pPr>
              <a:spcAft>
                <a:spcPts val="800"/>
              </a:spcAft>
            </a:pPr>
            <a:r>
              <a:rPr sz="1700" b="0">
                <a:solidFill>
                  <a:srgbClr val="222222"/>
                </a:solidFill>
                <a:latin typeface="맑은 고딕"/>
              </a:rPr>
              <a:t>•  멱등에 가깝게 동작 → 반복 호출해도 오류 없이 원하는 상태 강제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프레임워크 전체 / 클라이언트 단위 제어</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DBMS_AUTO_TASK_ADMIN.DISABLE</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(1) 프레임워크 전체 비활성화 → 다시 활성화</a:t>
            </a:r>
          </a:p>
          <a:p>
            <a:pPr>
              <a:spcAft>
                <a:spcPts val="0"/>
              </a:spcAft>
            </a:pPr>
            <a:r>
              <a:rPr sz="1250" b="0">
                <a:solidFill>
                  <a:srgbClr val="F2F2F2"/>
                </a:solidFill>
                <a:latin typeface="Consolas"/>
              </a:rPr>
              <a:t>EXEC DBMS_AUTO_TASK_ADMIN.DISABLE;</a:t>
            </a:r>
          </a:p>
          <a:p>
            <a:pPr>
              <a:spcAft>
                <a:spcPts val="0"/>
              </a:spcAft>
            </a:pPr>
            <a:r>
              <a:rPr sz="1250" b="0">
                <a:solidFill>
                  <a:srgbClr val="F2F2F2"/>
                </a:solidFill>
                <a:latin typeface="Consolas"/>
              </a:rPr>
              <a:t>EXEC DBMS_AUTO_TASK_ADMIN.ENABLE;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(2) 옵티마이저 통계 수집 작업만 비활성화</a:t>
            </a:r>
          </a:p>
          <a:p>
            <a:pPr>
              <a:spcAft>
                <a:spcPts val="0"/>
              </a:spcAft>
            </a:pPr>
            <a:r>
              <a:rPr sz="1250" b="0">
                <a:solidFill>
                  <a:srgbClr val="F2F2F2"/>
                </a:solidFill>
                <a:latin typeface="Consolas"/>
              </a:rPr>
              <a:t>BEGIN</a:t>
            </a:r>
          </a:p>
          <a:p>
            <a:pPr>
              <a:spcAft>
                <a:spcPts val="0"/>
              </a:spcAft>
            </a:pPr>
            <a:r>
              <a:rPr sz="1250" b="0">
                <a:solidFill>
                  <a:srgbClr val="F2F2F2"/>
                </a:solidFill>
                <a:latin typeface="Consolas"/>
              </a:rPr>
              <a:t>  DBMS_AUTO_TASK_ADMIN.DISABLE(</a:t>
            </a:r>
          </a:p>
          <a:p>
            <a:pPr>
              <a:spcAft>
                <a:spcPts val="0"/>
              </a:spcAft>
            </a:pPr>
            <a:r>
              <a:rPr sz="1250" b="0">
                <a:solidFill>
                  <a:srgbClr val="F2F2F2"/>
                </a:solidFill>
                <a:latin typeface="Consolas"/>
              </a:rPr>
              <a:t>    client_name =&gt; 'auto optimizer stats collection',</a:t>
            </a:r>
          </a:p>
          <a:p>
            <a:pPr>
              <a:spcAft>
                <a:spcPts val="0"/>
              </a:spcAft>
            </a:pPr>
            <a:r>
              <a:rPr sz="1250" b="0">
                <a:solidFill>
                  <a:srgbClr val="F2F2F2"/>
                </a:solidFill>
                <a:latin typeface="Consolas"/>
              </a:rPr>
              <a:t>    operation   =&gt; NULL,</a:t>
            </a:r>
          </a:p>
          <a:p>
            <a:pPr>
              <a:spcAft>
                <a:spcPts val="0"/>
              </a:spcAft>
            </a:pPr>
            <a:r>
              <a:rPr sz="1250" b="0">
                <a:solidFill>
                  <a:srgbClr val="F2F2F2"/>
                </a:solidFill>
                <a:latin typeface="Consolas"/>
              </a:rPr>
              <a:t>    window_name =&gt; NULL);</a:t>
            </a:r>
          </a:p>
          <a:p>
            <a:pPr>
              <a:spcAft>
                <a:spcPts val="0"/>
              </a:spcAft>
            </a:pPr>
            <a:r>
              <a:rPr sz="1250" b="0">
                <a:solidFill>
                  <a:srgbClr val="F2F2F2"/>
                </a:solidFill>
                <a:latin typeface="Consolas"/>
              </a:rPr>
              <a:t>END;</a:t>
            </a:r>
          </a:p>
          <a:p>
            <a:pPr>
              <a:spcAft>
                <a:spcPts val="0"/>
              </a:spcAft>
            </a:pPr>
            <a:r>
              <a:rPr sz="1250" b="0">
                <a:solidFill>
                  <a:srgbClr val="F2F2F2"/>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클라이언트별 작업 제어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세 작업의 성격 차이</a:t>
            </a:r>
          </a:p>
          <a:p>
            <a:pPr>
              <a:spcAft>
                <a:spcPts val="400"/>
              </a:spcAft>
            </a:pPr>
            <a:r>
              <a:rPr sz="1600" b="0">
                <a:solidFill>
                  <a:srgbClr val="FFFFFF"/>
                </a:solidFill>
                <a:latin typeface="맑은 고딕"/>
              </a:rPr>
              <a:t>•  작업별·윈도우별 개별 제어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세 가지 클라이언트의 성격</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성격에 따라 제어 정책이 다르다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auto optimizer stats collection : 실행 계획 품질의 근간 → 되도록 항상 유지</a:t>
            </a:r>
          </a:p>
          <a:p>
            <a:pPr>
              <a:spcAft>
                <a:spcPts val="800"/>
              </a:spcAft>
            </a:pPr>
            <a:r>
              <a:rPr sz="1700" b="0">
                <a:solidFill>
                  <a:srgbClr val="222222"/>
                </a:solidFill>
                <a:latin typeface="맑은 고딕"/>
              </a:rPr>
              <a:t>•  auto space advisor : SHRINK '권고'만 생성, 부담 작음 → 유지 권장</a:t>
            </a:r>
          </a:p>
          <a:p>
            <a:pPr>
              <a:spcAft>
                <a:spcPts val="800"/>
              </a:spcAft>
            </a:pPr>
            <a:r>
              <a:rPr sz="1700" b="0">
                <a:solidFill>
                  <a:srgbClr val="222222"/>
                </a:solidFill>
                <a:latin typeface="맑은 고딕"/>
              </a:rPr>
              <a:t>•  sql tuning advisor : AWR 상위 SQL 튜닝, 세 작업 중 가장 무거움 → 우선 조정 대상</a:t>
            </a:r>
          </a:p>
          <a:p>
            <a:pPr>
              <a:spcAft>
                <a:spcPts val="800"/>
              </a:spcAft>
            </a:pPr>
            <a:r>
              <a:rPr sz="1700" b="0">
                <a:solidFill>
                  <a:srgbClr val="222222"/>
                </a:solidFill>
                <a:latin typeface="맑은 고딕"/>
              </a:rPr>
              <a:t>•  제어 방법은 client_name 문자열만 바꾸면 동일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작업별 · 윈도우별 제어</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client_name / window_name 조합</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SQL 튜닝 어드바이저만 비활성화(다른 작업 유지)</a:t>
            </a:r>
          </a:p>
          <a:p>
            <a:pPr>
              <a:spcAft>
                <a:spcPts val="0"/>
              </a:spcAft>
            </a:pPr>
            <a:r>
              <a:rPr sz="1250" b="0">
                <a:solidFill>
                  <a:srgbClr val="F2F2F2"/>
                </a:solidFill>
                <a:latin typeface="Consolas"/>
              </a:rPr>
              <a:t>EXEC DBMS_AUTO_TASK_ADMIN.DISABLE(-</a:t>
            </a:r>
          </a:p>
          <a:p>
            <a:pPr>
              <a:spcAft>
                <a:spcPts val="0"/>
              </a:spcAft>
            </a:pPr>
            <a:r>
              <a:rPr sz="1250" b="0">
                <a:solidFill>
                  <a:srgbClr val="F2F2F2"/>
                </a:solidFill>
                <a:latin typeface="Consolas"/>
              </a:rPr>
              <a:t>  client_name=&gt;'sql tuning advisor');</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통계 수집을 SATURDAY_WINDOW 에서만 비활성화</a:t>
            </a:r>
          </a:p>
          <a:p>
            <a:pPr>
              <a:spcAft>
                <a:spcPts val="0"/>
              </a:spcAft>
            </a:pPr>
            <a:r>
              <a:rPr sz="1250" b="0">
                <a:solidFill>
                  <a:srgbClr val="F2F2F2"/>
                </a:solidFill>
                <a:latin typeface="Consolas"/>
              </a:rPr>
              <a:t>BEGIN</a:t>
            </a:r>
          </a:p>
          <a:p>
            <a:pPr>
              <a:spcAft>
                <a:spcPts val="0"/>
              </a:spcAft>
            </a:pPr>
            <a:r>
              <a:rPr sz="1250" b="0">
                <a:solidFill>
                  <a:srgbClr val="F2F2F2"/>
                </a:solidFill>
                <a:latin typeface="Consolas"/>
              </a:rPr>
              <a:t>  DBMS_AUTO_TASK_ADMIN.DISABLE(</a:t>
            </a:r>
          </a:p>
          <a:p>
            <a:pPr>
              <a:spcAft>
                <a:spcPts val="0"/>
              </a:spcAft>
            </a:pPr>
            <a:r>
              <a:rPr sz="1250" b="0">
                <a:solidFill>
                  <a:srgbClr val="F2F2F2"/>
                </a:solidFill>
                <a:latin typeface="Consolas"/>
              </a:rPr>
              <a:t>    client_name =&gt; 'auto optimizer stats collection',</a:t>
            </a:r>
          </a:p>
          <a:p>
            <a:pPr>
              <a:spcAft>
                <a:spcPts val="0"/>
              </a:spcAft>
            </a:pPr>
            <a:r>
              <a:rPr sz="1250" b="0">
                <a:solidFill>
                  <a:srgbClr val="F2F2F2"/>
                </a:solidFill>
                <a:latin typeface="Consolas"/>
              </a:rPr>
              <a:t>    window_name =&gt; 'SATURDAY_WINDOW');</a:t>
            </a:r>
          </a:p>
          <a:p>
            <a:pPr>
              <a:spcAft>
                <a:spcPts val="0"/>
              </a:spcAft>
            </a:pPr>
            <a:r>
              <a:rPr sz="1250" b="0">
                <a:solidFill>
                  <a:srgbClr val="F2F2F2"/>
                </a:solidFill>
                <a:latin typeface="Consolas"/>
              </a:rPr>
              <a:t>END;</a:t>
            </a:r>
          </a:p>
          <a:p>
            <a:pPr>
              <a:spcAft>
                <a:spcPts val="0"/>
              </a:spcAft>
            </a:pPr>
            <a:r>
              <a:rPr sz="1250" b="0">
                <a:solidFill>
                  <a:srgbClr val="F2F2F2"/>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유지관리 윈도우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DBMS_SCHEDULER.CREATE_WINDOW</a:t>
            </a:r>
          </a:p>
          <a:p>
            <a:pPr>
              <a:spcAft>
                <a:spcPts val="400"/>
              </a:spcAft>
            </a:pPr>
            <a:r>
              <a:rPr sz="1600" b="0">
                <a:solidFill>
                  <a:srgbClr val="FFFFFF"/>
                </a:solidFill>
                <a:latin typeface="맑은 고딕"/>
              </a:rPr>
              <a:t>•  repeat_interval · duration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CREATE_WINDOW 파라미터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언제·얼마나·어떤 자원으로 열지 정의</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window_name : 윈도우 고유 이름</a:t>
            </a:r>
          </a:p>
          <a:p>
            <a:pPr>
              <a:spcAft>
                <a:spcPts val="800"/>
              </a:spcAft>
            </a:pPr>
            <a:r>
              <a:rPr sz="1700" b="0">
                <a:solidFill>
                  <a:srgbClr val="222222"/>
                </a:solidFill>
                <a:latin typeface="맑은 고딕"/>
              </a:rPr>
              <a:t>•  resource_plan : 열릴 때 활성화할 리소스 플랜(예: DEFAULT_MAINTENANCE_PLAN)</a:t>
            </a:r>
          </a:p>
          <a:p>
            <a:pPr>
              <a:spcAft>
                <a:spcPts val="800"/>
              </a:spcAft>
            </a:pPr>
            <a:r>
              <a:rPr sz="1700" b="0">
                <a:solidFill>
                  <a:srgbClr val="222222"/>
                </a:solidFill>
                <a:latin typeface="맑은 고딕"/>
              </a:rPr>
              <a:t>•  repeat_interval : 반복 규칙(캘린더 표현식) — freq/byday/byhour ...</a:t>
            </a:r>
          </a:p>
          <a:p>
            <a:pPr>
              <a:spcAft>
                <a:spcPts val="800"/>
              </a:spcAft>
            </a:pPr>
            <a:r>
              <a:rPr sz="1700" b="0">
                <a:solidFill>
                  <a:srgbClr val="222222"/>
                </a:solidFill>
                <a:latin typeface="맑은 고딕"/>
              </a:rPr>
              <a:t>•  duration : 지속 시간(INTERVAL '3' HOUR 등)</a:t>
            </a:r>
          </a:p>
          <a:p>
            <a:pPr>
              <a:spcAft>
                <a:spcPts val="800"/>
              </a:spcAft>
            </a:pPr>
            <a:r>
              <a:rPr sz="1700" b="0">
                <a:solidFill>
                  <a:srgbClr val="222222"/>
                </a:solidFill>
                <a:latin typeface="맑은 고딕"/>
              </a:rPr>
              <a:t>•  생성된 윈도우는 MAINTENANCE_WINDOW_GROUP에 추가해야 자동 작업 참여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사용자 정의 윈도우 생성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CREATE_WINDOW</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매일 새벽 1시에 열려 3시간 지속되는 윈도우</a:t>
            </a:r>
          </a:p>
          <a:p>
            <a:pPr>
              <a:spcAft>
                <a:spcPts val="0"/>
              </a:spcAft>
            </a:pPr>
            <a:r>
              <a:rPr sz="1250" b="0">
                <a:solidFill>
                  <a:srgbClr val="F2F2F2"/>
                </a:solidFill>
                <a:latin typeface="Consolas"/>
              </a:rPr>
              <a:t>BEGIN</a:t>
            </a:r>
          </a:p>
          <a:p>
            <a:pPr>
              <a:spcAft>
                <a:spcPts val="0"/>
              </a:spcAft>
            </a:pPr>
            <a:r>
              <a:rPr sz="1250" b="0">
                <a:solidFill>
                  <a:srgbClr val="F2F2F2"/>
                </a:solidFill>
                <a:latin typeface="Consolas"/>
              </a:rPr>
              <a:t>  DBMS_SCHEDULER.CREATE_WINDOW(</a:t>
            </a:r>
          </a:p>
          <a:p>
            <a:pPr>
              <a:spcAft>
                <a:spcPts val="0"/>
              </a:spcAft>
            </a:pPr>
            <a:r>
              <a:rPr sz="1250" b="0">
                <a:solidFill>
                  <a:srgbClr val="F2F2F2"/>
                </a:solidFill>
                <a:latin typeface="Consolas"/>
              </a:rPr>
              <a:t>    window_name     =&gt; 'FINANCE_MAINT_WINDOW',</a:t>
            </a:r>
          </a:p>
          <a:p>
            <a:pPr>
              <a:spcAft>
                <a:spcPts val="0"/>
              </a:spcAft>
            </a:pPr>
            <a:r>
              <a:rPr sz="1250" b="0">
                <a:solidFill>
                  <a:srgbClr val="F2F2F2"/>
                </a:solidFill>
                <a:latin typeface="Consolas"/>
              </a:rPr>
              <a:t>    resource_plan   =&gt; 'DEFAULT_MAINTENANCE_PLAN',</a:t>
            </a:r>
          </a:p>
          <a:p>
            <a:pPr>
              <a:spcAft>
                <a:spcPts val="0"/>
              </a:spcAft>
            </a:pPr>
            <a:r>
              <a:rPr sz="1250" b="0">
                <a:solidFill>
                  <a:srgbClr val="F2F2F2"/>
                </a:solidFill>
                <a:latin typeface="Consolas"/>
              </a:rPr>
              <a:t>    repeat_interval =&gt; 'freq=daily;byhour=1;byminute=0',</a:t>
            </a:r>
          </a:p>
          <a:p>
            <a:pPr>
              <a:spcAft>
                <a:spcPts val="0"/>
              </a:spcAft>
            </a:pPr>
            <a:r>
              <a:rPr sz="1250" b="0">
                <a:solidFill>
                  <a:srgbClr val="F2F2F2"/>
                </a:solidFill>
                <a:latin typeface="Consolas"/>
              </a:rPr>
              <a:t>    duration        =&gt; INTERVAL '3' HOUR,</a:t>
            </a:r>
          </a:p>
          <a:p>
            <a:pPr>
              <a:spcAft>
                <a:spcPts val="0"/>
              </a:spcAft>
            </a:pPr>
            <a:r>
              <a:rPr sz="1250" b="0">
                <a:solidFill>
                  <a:srgbClr val="F2F2F2"/>
                </a:solidFill>
                <a:latin typeface="Consolas"/>
              </a:rPr>
              <a:t>    comments        =&gt; '회계 배치 이후 야간 유지관리용');</a:t>
            </a:r>
          </a:p>
          <a:p>
            <a:pPr>
              <a:spcAft>
                <a:spcPts val="0"/>
              </a:spcAft>
            </a:pPr>
            <a:r>
              <a:rPr sz="1250" b="0">
                <a:solidFill>
                  <a:srgbClr val="F2F2F2"/>
                </a:solidFill>
                <a:latin typeface="Consolas"/>
              </a:rPr>
              <a:t>END;</a:t>
            </a:r>
          </a:p>
          <a:p>
            <a:pPr>
              <a:spcAft>
                <a:spcPts val="0"/>
              </a:spcAft>
            </a:pPr>
            <a:r>
              <a:rPr sz="1250" b="0">
                <a:solidFill>
                  <a:srgbClr val="F2F2F2"/>
                </a:solidFill>
                <a:latin typeface="Consolas"/>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윈도우 수정/삭제 및 활성화/비활성화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SET_ATTRIBUTE 로 속성 변경</a:t>
            </a:r>
          </a:p>
          <a:p>
            <a:pPr>
              <a:spcAft>
                <a:spcPts val="400"/>
              </a:spcAft>
            </a:pPr>
            <a:r>
              <a:rPr sz="1600" b="0">
                <a:solidFill>
                  <a:srgbClr val="FFFFFF"/>
                </a:solidFill>
                <a:latin typeface="맑은 고딕"/>
              </a:rPr>
              <a:t>•  ENABLE/DISABLE/DROP_WINDOW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윈도우 수정과 제거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안전하게 바꾸고 멈추고 지운다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SET_ATTRIBUTE : DURATION·REPEAT_INTERVAL·RESOURCE_PLAN 등 변경</a:t>
            </a:r>
          </a:p>
          <a:p>
            <a:pPr>
              <a:spcAft>
                <a:spcPts val="800"/>
              </a:spcAft>
            </a:pPr>
            <a:r>
              <a:rPr sz="1700" b="0">
                <a:solidFill>
                  <a:srgbClr val="222222"/>
                </a:solidFill>
                <a:latin typeface="맑은 고딕"/>
              </a:rPr>
              <a:t>•  열려 있는(ACTIVE) 윈도우 변경 → 보통 '다음 열림'부터 반영</a:t>
            </a:r>
          </a:p>
          <a:p>
            <a:pPr>
              <a:spcAft>
                <a:spcPts val="800"/>
              </a:spcAft>
            </a:pPr>
            <a:r>
              <a:rPr sz="1700" b="0">
                <a:solidFill>
                  <a:srgbClr val="222222"/>
                </a:solidFill>
                <a:latin typeface="맑은 고딕"/>
              </a:rPr>
              <a:t>•  일시 중지는 삭제 대신 DISABLE → 재개는 ENABLE(원 속성 유지)</a:t>
            </a:r>
          </a:p>
          <a:p>
            <a:pPr>
              <a:spcAft>
                <a:spcPts val="800"/>
              </a:spcAft>
            </a:pPr>
            <a:r>
              <a:rPr sz="1700" b="0">
                <a:solidFill>
                  <a:srgbClr val="222222"/>
                </a:solidFill>
                <a:latin typeface="맑은 고딕"/>
              </a:rPr>
              <a:t>•  열린 윈도우 강제 비활성화 : DISABLE(..., force=&gt;TRUE)</a:t>
            </a:r>
          </a:p>
          <a:p>
            <a:pPr>
              <a:spcAft>
                <a:spcPts val="800"/>
              </a:spcAft>
            </a:pPr>
            <a:r>
              <a:rPr sz="1700" b="0">
                <a:solidFill>
                  <a:srgbClr val="222222"/>
                </a:solidFill>
                <a:latin typeface="맑은 고딕"/>
              </a:rPr>
              <a:t>•  완전 제거 : DROP_WINDOW(그룹 멤버면 먼저 그룹에서 제거)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윈도우 속성 변경 · 비활성화 · 삭제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SET_ATTRIBUTE / DISABLE / DROP_WINDOW</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지속 시간 3h → 4h 변경</a:t>
            </a:r>
          </a:p>
          <a:p>
            <a:pPr>
              <a:spcAft>
                <a:spcPts val="0"/>
              </a:spcAft>
            </a:pPr>
            <a:r>
              <a:rPr sz="1250" b="0">
                <a:solidFill>
                  <a:srgbClr val="F2F2F2"/>
                </a:solidFill>
                <a:latin typeface="Consolas"/>
              </a:rPr>
              <a:t>BEGIN DBMS_SCHEDULER.SET_ATTRIBUTE(</a:t>
            </a:r>
          </a:p>
          <a:p>
            <a:pPr>
              <a:spcAft>
                <a:spcPts val="0"/>
              </a:spcAft>
            </a:pPr>
            <a:r>
              <a:rPr sz="1250" b="0">
                <a:solidFill>
                  <a:srgbClr val="F2F2F2"/>
                </a:solidFill>
                <a:latin typeface="Consolas"/>
              </a:rPr>
              <a:t>  name=&gt;'FINANCE_MAINT_WINDOW',</a:t>
            </a:r>
          </a:p>
          <a:p>
            <a:pPr>
              <a:spcAft>
                <a:spcPts val="0"/>
              </a:spcAft>
            </a:pPr>
            <a:r>
              <a:rPr sz="1250" b="0">
                <a:solidFill>
                  <a:srgbClr val="F2F2F2"/>
                </a:solidFill>
                <a:latin typeface="Consolas"/>
              </a:rPr>
              <a:t>  attribute=&gt;'DURATION', value=&gt;INTERVAL '4' HOUR); END;</a:t>
            </a:r>
          </a:p>
          <a:p>
            <a:pPr>
              <a:spcAft>
                <a:spcPts val="0"/>
              </a:spcAft>
            </a:pPr>
            <a:r>
              <a:rPr sz="1250" b="0">
                <a:solidFill>
                  <a:srgbClr val="F2F2F2"/>
                </a:solidFill>
                <a:latin typeface="Consolas"/>
              </a:rPr>
              <a:t>/</a:t>
            </a:r>
          </a:p>
          <a:p>
            <a:pPr>
              <a:spcAft>
                <a:spcPts val="0"/>
              </a:spcAft>
            </a:pPr>
            <a:r>
              <a:rPr sz="1250" b="0">
                <a:solidFill>
                  <a:srgbClr val="F2F2F2"/>
                </a:solidFill>
                <a:latin typeface="Consolas"/>
              </a:rPr>
              <a:t>-- 비활성화 / 재활성화</a:t>
            </a:r>
          </a:p>
          <a:p>
            <a:pPr>
              <a:spcAft>
                <a:spcPts val="0"/>
              </a:spcAft>
            </a:pPr>
            <a:r>
              <a:rPr sz="1250" b="0">
                <a:solidFill>
                  <a:srgbClr val="F2F2F2"/>
                </a:solidFill>
                <a:latin typeface="Consolas"/>
              </a:rPr>
              <a:t>EXEC DBMS_SCHEDULER.DISABLE('FINANCE_MAINT_WINDOW');</a:t>
            </a:r>
          </a:p>
          <a:p>
            <a:pPr>
              <a:spcAft>
                <a:spcPts val="0"/>
              </a:spcAft>
            </a:pPr>
            <a:r>
              <a:rPr sz="1250" b="0">
                <a:solidFill>
                  <a:srgbClr val="F2F2F2"/>
                </a:solidFill>
                <a:latin typeface="Consolas"/>
              </a:rPr>
              <a:t>EXEC DBMS_SCHEDULER.ENABLE ('FINANCE_MAINT_WINDOW');</a:t>
            </a:r>
          </a:p>
          <a:p>
            <a:pPr>
              <a:spcAft>
                <a:spcPts val="0"/>
              </a:spcAft>
            </a:pPr>
            <a:r>
              <a:rPr sz="1250" b="0">
                <a:solidFill>
                  <a:srgbClr val="F2F2F2"/>
                </a:solidFill>
                <a:latin typeface="Consolas"/>
              </a:rPr>
              <a:t>-- 열린 윈도우 강제 종료 후 삭제</a:t>
            </a:r>
          </a:p>
          <a:p>
            <a:pPr>
              <a:spcAft>
                <a:spcPts val="0"/>
              </a:spcAft>
            </a:pPr>
            <a:r>
              <a:rPr sz="1250" b="0">
                <a:solidFill>
                  <a:srgbClr val="F2F2F2"/>
                </a:solidFill>
                <a:latin typeface="Consolas"/>
              </a:rPr>
              <a:t>EXEC DBMS_SCHEDULER.DISABLE('FINANCE_MAINT_WINDOW', force=&gt;TRUE);</a:t>
            </a:r>
          </a:p>
          <a:p>
            <a:pPr>
              <a:spcAft>
                <a:spcPts val="0"/>
              </a:spcAft>
            </a:pPr>
            <a:r>
              <a:rPr sz="1250" b="0">
                <a:solidFill>
                  <a:srgbClr val="F2F2F2"/>
                </a:solidFill>
                <a:latin typeface="Consolas"/>
              </a:rPr>
              <a:t>EXEC DBMS_SCHEDULER.DROP_WINDOW('FINANCE_MAINT_WINDOW');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윈도우 그룹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MAINTENANCE_WINDOW_GROUP</a:t>
            </a:r>
          </a:p>
          <a:p>
            <a:pPr>
              <a:spcAft>
                <a:spcPts val="400"/>
              </a:spcAft>
            </a:pPr>
            <a:r>
              <a:rPr sz="1600" b="0">
                <a:solidFill>
                  <a:srgbClr val="FFFFFF"/>
                </a:solidFill>
                <a:latin typeface="맑은 고딕"/>
              </a:rPr>
              <a:t>•  ADD / REMOVE_WINDOW_GROUP_MEMBER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윈도우 그룹으로 유지관리 시간대 구성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그룹 멤버 조정 = 유지관리 시간대 재구성</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요일별 윈도우 7개 → MAINTENANCE_WINDOW_GROUP 으로 묶임</a:t>
            </a:r>
          </a:p>
          <a:p>
            <a:pPr>
              <a:spcAft>
                <a:spcPts val="800"/>
              </a:spcAft>
            </a:pPr>
            <a:r>
              <a:rPr sz="1700" b="0">
                <a:solidFill>
                  <a:srgbClr val="222222"/>
                </a:solidFill>
                <a:latin typeface="맑은 고딕"/>
              </a:rPr>
              <a:t>•  자동 유지관리 작업은 '이 그룹의 멤버 윈도우'가 열릴 때만 실행</a:t>
            </a:r>
          </a:p>
          <a:p>
            <a:pPr>
              <a:spcAft>
                <a:spcPts val="800"/>
              </a:spcAft>
            </a:pPr>
            <a:r>
              <a:rPr sz="1700" b="0">
                <a:solidFill>
                  <a:srgbClr val="222222"/>
                </a:solidFill>
                <a:latin typeface="맑은 고딕"/>
              </a:rPr>
              <a:t>•  ADD_WINDOW_GROUP_MEMBER : 사용자 정의 윈도우를 참여시킴</a:t>
            </a:r>
          </a:p>
          <a:p>
            <a:pPr>
              <a:spcAft>
                <a:spcPts val="800"/>
              </a:spcAft>
            </a:pPr>
            <a:r>
              <a:rPr sz="1700" b="0">
                <a:solidFill>
                  <a:srgbClr val="222222"/>
                </a:solidFill>
                <a:latin typeface="맑은 고딕"/>
              </a:rPr>
              <a:t>•  REMOVE_WINDOW_GROUP_MEMBER : 특정 요일을 유지관리에서 제외</a:t>
            </a:r>
          </a:p>
          <a:p>
            <a:pPr>
              <a:spcAft>
                <a:spcPts val="800"/>
              </a:spcAft>
            </a:pPr>
            <a:r>
              <a:rPr sz="1700" b="0">
                <a:solidFill>
                  <a:srgbClr val="222222"/>
                </a:solidFill>
                <a:latin typeface="맑은 고딕"/>
              </a:rPr>
              <a:t>•  겹침 시 먼저 열린 윈도우 우선 → 중복 시간대 설계 주의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그룹 멤버 추가/제거와 확인</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ADD/REMOVE_WINDOW_GROUP_MEMBER</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 사용자 정의 윈도우를 유지관리 그룹에 추가</a:t>
            </a:r>
          </a:p>
          <a:p>
            <a:pPr>
              <a:spcAft>
                <a:spcPts val="0"/>
              </a:spcAft>
            </a:pPr>
            <a:r>
              <a:rPr sz="1250" b="0">
                <a:solidFill>
                  <a:srgbClr val="F2F2F2"/>
                </a:solidFill>
                <a:latin typeface="Consolas"/>
              </a:rPr>
              <a:t>EXEC DBMS_SCHEDULER.ADD_WINDOW_GROUP_MEMBER(-</a:t>
            </a:r>
          </a:p>
          <a:p>
            <a:pPr>
              <a:spcAft>
                <a:spcPts val="0"/>
              </a:spcAft>
            </a:pPr>
            <a:r>
              <a:rPr sz="1250" b="0">
                <a:solidFill>
                  <a:srgbClr val="F2F2F2"/>
                </a:solidFill>
                <a:latin typeface="Consolas"/>
              </a:rPr>
              <a:t>  'MAINTENANCE_WINDOW_GROUP','FINANCE_MAINT_WINDOW');</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특정 요일 윈도우를 유지관리 대상에서 제외</a:t>
            </a:r>
          </a:p>
          <a:p>
            <a:pPr>
              <a:spcAft>
                <a:spcPts val="0"/>
              </a:spcAft>
            </a:pPr>
            <a:r>
              <a:rPr sz="1250" b="0">
                <a:solidFill>
                  <a:srgbClr val="F2F2F2"/>
                </a:solidFill>
                <a:latin typeface="Consolas"/>
              </a:rPr>
              <a:t>EXEC DBMS_SCHEDULER.REMOVE_WINDOW_GROUP_MEMBER(-</a:t>
            </a:r>
          </a:p>
          <a:p>
            <a:pPr>
              <a:spcAft>
                <a:spcPts val="0"/>
              </a:spcAft>
            </a:pPr>
            <a:r>
              <a:rPr sz="1250" b="0">
                <a:solidFill>
                  <a:srgbClr val="F2F2F2"/>
                </a:solidFill>
                <a:latin typeface="Consolas"/>
              </a:rPr>
              <a:t>  'MAINTENANCE_WINDOW_GROUP','SATURDAY_WINDOW');</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 그룹 구성원 확인</a:t>
            </a:r>
          </a:p>
          <a:p>
            <a:pPr>
              <a:spcAft>
                <a:spcPts val="0"/>
              </a:spcAft>
            </a:pPr>
            <a:r>
              <a:rPr sz="1250" b="0">
                <a:solidFill>
                  <a:srgbClr val="F2F2F2"/>
                </a:solidFill>
                <a:latin typeface="Consolas"/>
              </a:rPr>
              <a:t>SELECT window_group_name, window_name</a:t>
            </a:r>
          </a:p>
          <a:p>
            <a:pPr>
              <a:spcAft>
                <a:spcPts val="0"/>
              </a:spcAft>
            </a:pPr>
            <a:r>
              <a:rPr sz="1250" b="0">
                <a:solidFill>
                  <a:srgbClr val="F2F2F2"/>
                </a:solidFill>
                <a:latin typeface="Consolas"/>
              </a:rPr>
              <a:t>  FROM dba_scheduler_wingroup_members;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유지관리 작업 리소스 할당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DEFAULT_MAINTENANCE_PLAN</a:t>
            </a:r>
          </a:p>
          <a:p>
            <a:pPr>
              <a:spcAft>
                <a:spcPts val="400"/>
              </a:spcAft>
            </a:pPr>
            <a:r>
              <a:rPr sz="1600" b="0">
                <a:solidFill>
                  <a:srgbClr val="FFFFFF"/>
                </a:solidFill>
                <a:latin typeface="맑은 고딕"/>
              </a:rPr>
              <a:t>•  ORA$AUTOTASK 소비자 그룹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유지관리 시간대의 자원 통제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윈도우가 열리면 리소스 플랜도 함께 켜진다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윈도우 열림 → 지정된 DEFAULT_MAINTENANCE_PLAN 자동 활성화</a:t>
            </a:r>
          </a:p>
          <a:p>
            <a:pPr>
              <a:spcAft>
                <a:spcPts val="800"/>
              </a:spcAft>
            </a:pPr>
            <a:r>
              <a:rPr sz="1700" b="0">
                <a:solidFill>
                  <a:srgbClr val="222222"/>
                </a:solidFill>
                <a:latin typeface="맑은 고딕"/>
              </a:rPr>
              <a:t>•  목적: 유지관리 작업이 CPU를 독점하지 못하게 상한을 둠</a:t>
            </a:r>
          </a:p>
          <a:p>
            <a:pPr>
              <a:spcAft>
                <a:spcPts val="800"/>
              </a:spcAft>
            </a:pPr>
            <a:r>
              <a:rPr sz="1700" b="0">
                <a:solidFill>
                  <a:srgbClr val="222222"/>
                </a:solidFill>
                <a:latin typeface="맑은 고딕"/>
              </a:rPr>
              <a:t>•  최상위 3갈래: ORA$AUTOTASK(작업 전용) / ORA$DIAGNOSTICS / OTHER_GROUPS</a:t>
            </a:r>
          </a:p>
          <a:p>
            <a:pPr>
              <a:spcAft>
                <a:spcPts val="800"/>
              </a:spcAft>
            </a:pPr>
            <a:r>
              <a:rPr sz="1700" b="0">
                <a:solidFill>
                  <a:srgbClr val="222222"/>
                </a:solidFill>
                <a:latin typeface="맑은 고딕"/>
              </a:rPr>
              <a:t>•  리소스 플랜 = 소비자 그룹별 자원 배분 규칙, 활성 시 상한 강제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ORA$AUTOTASK 소비자 그룹 세분화</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급박함에 따라 자원 비중이 다르다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ORA$AUTOTASK_URGENT : 긴급 유지관리 작업</a:t>
            </a:r>
          </a:p>
          <a:p>
            <a:pPr>
              <a:spcAft>
                <a:spcPts val="800"/>
              </a:spcAft>
            </a:pPr>
            <a:r>
              <a:rPr sz="1700" b="0">
                <a:solidFill>
                  <a:srgbClr val="222222"/>
                </a:solidFill>
                <a:latin typeface="맑은 고딕"/>
              </a:rPr>
              <a:t>•  ORA$AUTOTASK_HEALTH_CHECK : 상태 점검 작업</a:t>
            </a:r>
          </a:p>
          <a:p>
            <a:pPr>
              <a:spcAft>
                <a:spcPts val="800"/>
              </a:spcAft>
            </a:pPr>
            <a:r>
              <a:rPr sz="1700" b="0">
                <a:solidFill>
                  <a:srgbClr val="222222"/>
                </a:solidFill>
                <a:latin typeface="맑은 고딕"/>
              </a:rPr>
              <a:t>•  ORA$AUTOTASK_SQL_TUNE : 자동 SQL 튜닝 어드바이저</a:t>
            </a:r>
          </a:p>
          <a:p>
            <a:pPr>
              <a:spcAft>
                <a:spcPts val="800"/>
              </a:spcAft>
            </a:pPr>
            <a:r>
              <a:rPr sz="1700" b="0">
                <a:solidFill>
                  <a:srgbClr val="222222"/>
                </a:solidFill>
                <a:latin typeface="맑은 고딕"/>
              </a:rPr>
              <a:t>•  ORA$AUTOTASK_STATS : 자동 옵티마이저 통계 수집</a:t>
            </a:r>
          </a:p>
          <a:p>
            <a:pPr>
              <a:spcAft>
                <a:spcPts val="800"/>
              </a:spcAft>
            </a:pPr>
            <a:r>
              <a:rPr sz="1700" b="0">
                <a:solidFill>
                  <a:srgbClr val="222222"/>
                </a:solidFill>
                <a:latin typeface="맑은 고딕"/>
              </a:rPr>
              <a:t>•  ORA$AUTOTASK_SPACE : 자동 세그먼트(공간) 어드바이저</a:t>
            </a:r>
          </a:p>
          <a:p>
            <a:pPr>
              <a:spcAft>
                <a:spcPts val="800"/>
              </a:spcAft>
            </a:pPr>
            <a:r>
              <a:rPr sz="1700" b="0">
                <a:solidFill>
                  <a:srgbClr val="222222"/>
                </a:solidFill>
                <a:latin typeface="맑은 고딕"/>
              </a:rPr>
              <a:t>•  ORA$AUTOTASK_MEDIUM : 일반 우선순위 유지관리 작업</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리소스 관리자 플랜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DBA_RSRC_PLAN_DIRECTIVES</a:t>
            </a:r>
          </a:p>
          <a:p>
            <a:pPr>
              <a:spcAft>
                <a:spcPts val="400"/>
              </a:spcAft>
            </a:pPr>
            <a:r>
              <a:rPr sz="1600" b="0">
                <a:solidFill>
                  <a:srgbClr val="FFFFFF"/>
                </a:solidFill>
                <a:latin typeface="맑은 고딕"/>
              </a:rPr>
              <a:t>•  MGMT_P1~P8 · V$RSRC_PLAN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자원 배분 조회 방법</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누가 얼마나 자원을 받는가</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DBA_RSRC_PLAN_DIRECTIVES : 플랜별 소비자 그룹/서브플랜의 배분(MGMT_P1~P8)</a:t>
            </a:r>
          </a:p>
          <a:p>
            <a:pPr>
              <a:spcAft>
                <a:spcPts val="800"/>
              </a:spcAft>
            </a:pPr>
            <a:r>
              <a:rPr sz="1700" b="0">
                <a:solidFill>
                  <a:srgbClr val="222222"/>
                </a:solidFill>
                <a:latin typeface="맑은 고딕"/>
              </a:rPr>
              <a:t>•  MGMT_P1~P8 : 8단계 우선순위 레벨별 CPU 비율(계단식 배분)</a:t>
            </a:r>
          </a:p>
          <a:p>
            <a:pPr>
              <a:spcAft>
                <a:spcPts val="800"/>
              </a:spcAft>
            </a:pPr>
            <a:r>
              <a:rPr sz="1700" b="0">
                <a:solidFill>
                  <a:srgbClr val="222222"/>
                </a:solidFill>
                <a:latin typeface="맑은 고딕"/>
              </a:rPr>
              <a:t>•  TYPE 컬럼 : CONSUMER_GROUP(세션 매핑) vs PLAN(서브플랜) 구분</a:t>
            </a:r>
          </a:p>
          <a:p>
            <a:pPr>
              <a:spcAft>
                <a:spcPts val="800"/>
              </a:spcAft>
            </a:pPr>
            <a:r>
              <a:rPr sz="1700" b="0">
                <a:solidFill>
                  <a:srgbClr val="222222"/>
                </a:solidFill>
                <a:latin typeface="맑은 고딕"/>
              </a:rPr>
              <a:t>•  V$RSRC_PLAN : 현재 활성 플랜 확인(윈도우 열림 시 DEFAULT_MAINTENANCE_PLAN)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DEFAULT_MAINTENANCE_PLAN 배분 조회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DBA_RSRC_PLAN_DIRECTIVES</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COLUMN plan             FORMAT A26</a:t>
            </a:r>
          </a:p>
          <a:p>
            <a:pPr>
              <a:spcAft>
                <a:spcPts val="0"/>
              </a:spcAft>
            </a:pPr>
            <a:r>
              <a:rPr sz="1250" b="0">
                <a:solidFill>
                  <a:srgbClr val="F2F2F2"/>
                </a:solidFill>
                <a:latin typeface="Consolas"/>
              </a:rPr>
              <a:t>COLUMN group_or_subplan FORMAT A22</a:t>
            </a:r>
          </a:p>
          <a:p>
            <a:pPr>
              <a:spcAft>
                <a:spcPts val="0"/>
              </a:spcAft>
            </a:pPr>
            <a:r>
              <a:rPr sz="1250" b="0">
                <a:solidFill>
                  <a:srgbClr val="F2F2F2"/>
                </a:solidFill>
                <a:latin typeface="Consolas"/>
              </a:rPr>
              <a:t>SELECT plan, group_or_subplan, mgmt_p1</a:t>
            </a:r>
          </a:p>
          <a:p>
            <a:pPr>
              <a:spcAft>
                <a:spcPts val="0"/>
              </a:spcAft>
            </a:pPr>
            <a:r>
              <a:rPr sz="1250" b="0">
                <a:solidFill>
                  <a:srgbClr val="F2F2F2"/>
                </a:solidFill>
                <a:latin typeface="Consolas"/>
              </a:rPr>
              <a:t>  FROM  dba_rsrc_plan_directives</a:t>
            </a:r>
          </a:p>
          <a:p>
            <a:pPr>
              <a:spcAft>
                <a:spcPts val="0"/>
              </a:spcAft>
            </a:pPr>
            <a:r>
              <a:rPr sz="1250" b="0">
                <a:solidFill>
                  <a:srgbClr val="F2F2F2"/>
                </a:solidFill>
                <a:latin typeface="Consolas"/>
              </a:rPr>
              <a:t> WHERE plan = 'DEFAULT_MAINTENANCE_PLAN'</a:t>
            </a:r>
          </a:p>
          <a:p>
            <a:pPr>
              <a:spcAft>
                <a:spcPts val="0"/>
              </a:spcAft>
            </a:pPr>
            <a:r>
              <a:rPr sz="1250" b="0">
                <a:solidFill>
                  <a:srgbClr val="F2F2F2"/>
                </a:solidFill>
                <a:latin typeface="Consolas"/>
              </a:rPr>
              <a:t> ORDER BY group_or_subplan;</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PLAN                      GROUP_OR_SUBPLAN   MGMT_P1</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DEFAULT_MAINTENANCE_PLAN  ORA$AUTOTASK            25</a:t>
            </a:r>
          </a:p>
          <a:p>
            <a:pPr>
              <a:spcAft>
                <a:spcPts val="0"/>
              </a:spcAft>
            </a:pPr>
            <a:r>
              <a:rPr sz="1250" b="0">
                <a:solidFill>
                  <a:srgbClr val="F2F2F2"/>
                </a:solidFill>
                <a:latin typeface="Consolas"/>
              </a:rPr>
              <a:t>DEFAULT_MAINTENANCE_PLAN  ORA$DIAGNOSTICS         5</a:t>
            </a:r>
          </a:p>
          <a:p>
            <a:pPr>
              <a:spcAft>
                <a:spcPts val="0"/>
              </a:spcAft>
            </a:pPr>
            <a:r>
              <a:rPr sz="1250" b="0">
                <a:solidFill>
                  <a:srgbClr val="F2F2F2"/>
                </a:solidFill>
                <a:latin typeface="Consolas"/>
              </a:rPr>
              <a:t>DEFAULT_MAINTENANCE_PLAN  OTHER_GROUPS           70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리소스 할당 변경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DBMS_RESOURCE_MANAGER</a:t>
            </a:r>
          </a:p>
          <a:p>
            <a:pPr>
              <a:spcAft>
                <a:spcPts val="400"/>
              </a:spcAft>
            </a:pPr>
            <a:r>
              <a:rPr sz="1600" b="0">
                <a:solidFill>
                  <a:srgbClr val="FFFFFF"/>
                </a:solidFill>
                <a:latin typeface="맑은 고딕"/>
              </a:rPr>
              <a:t>•  Pending Area 워크플로우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Pending Area 워크플로우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안전하게 자원 정책을 바꾸는 4단계</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1) CREATE_PENDING_AREA : 변경 작업 공간 오픈(필수 선행)</a:t>
            </a:r>
          </a:p>
          <a:p>
            <a:pPr>
              <a:spcAft>
                <a:spcPts val="800"/>
              </a:spcAft>
            </a:pPr>
            <a:r>
              <a:rPr sz="1700" b="0">
                <a:solidFill>
                  <a:srgbClr val="222222"/>
                </a:solidFill>
                <a:latin typeface="맑은 고딕"/>
              </a:rPr>
              <a:t>•  2) UPDATE_PLAN_DIRECTIVE : 디렉티브 수정/추가/삭제</a:t>
            </a:r>
          </a:p>
          <a:p>
            <a:pPr>
              <a:spcAft>
                <a:spcPts val="800"/>
              </a:spcAft>
            </a:pPr>
            <a:r>
              <a:rPr sz="1700" b="0">
                <a:solidFill>
                  <a:srgbClr val="222222"/>
                </a:solidFill>
                <a:latin typeface="맑은 고딕"/>
              </a:rPr>
              <a:t>•  3) VALIDATE_PENDING_AREA : 정합성 검증(비율 합계 등)</a:t>
            </a:r>
          </a:p>
          <a:p>
            <a:pPr>
              <a:spcAft>
                <a:spcPts val="800"/>
              </a:spcAft>
            </a:pPr>
            <a:r>
              <a:rPr sz="1700" b="0">
                <a:solidFill>
                  <a:srgbClr val="222222"/>
                </a:solidFill>
                <a:latin typeface="맑은 고딕"/>
              </a:rPr>
              <a:t>•  4) SUBMIT_PENDING_AREA : 변경을 실제 적용</a:t>
            </a:r>
          </a:p>
          <a:p>
            <a:pPr>
              <a:spcAft>
                <a:spcPts val="800"/>
              </a:spcAft>
            </a:pPr>
            <a:r>
              <a:rPr sz="1700" b="0">
                <a:solidFill>
                  <a:srgbClr val="222222"/>
                </a:solidFill>
                <a:latin typeface="맑은 고딕"/>
              </a:rPr>
              <a:t>•  되돌리기: SUBMIT 전 CLEAR_PENDING_AREA 로 폐기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ORA$AUTOTASK CPU 상한 변경</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 → UPDATE → VALIDATE → SUBMIT</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BEGIN</a:t>
            </a:r>
          </a:p>
          <a:p>
            <a:pPr>
              <a:spcAft>
                <a:spcPts val="0"/>
              </a:spcAft>
            </a:pPr>
            <a:r>
              <a:rPr sz="1250" b="0">
                <a:solidFill>
                  <a:srgbClr val="F2F2F2"/>
                </a:solidFill>
                <a:latin typeface="Consolas"/>
              </a:rPr>
              <a:t>  DBMS_RESOURCE_MANAGER.CREATE_PENDING_AREA();</a:t>
            </a:r>
          </a:p>
          <a:p>
            <a:pPr>
              <a:spcAft>
                <a:spcPts val="0"/>
              </a:spcAft>
            </a:pPr>
            <a:r>
              <a:rPr sz="1250" b="0">
                <a:solidFill>
                  <a:srgbClr val="F2F2F2"/>
                </a:solidFill>
                <a:latin typeface="Consolas"/>
              </a:rPr>
              <a:t>  DBMS_RESOURCE_MANAGER.UPDATE_PLAN_DIRECTIVE(</a:t>
            </a:r>
          </a:p>
          <a:p>
            <a:pPr>
              <a:spcAft>
                <a:spcPts val="0"/>
              </a:spcAft>
            </a:pPr>
            <a:r>
              <a:rPr sz="1250" b="0">
                <a:solidFill>
                  <a:srgbClr val="F2F2F2"/>
                </a:solidFill>
                <a:latin typeface="Consolas"/>
              </a:rPr>
              <a:t>    plan             =&gt; 'DEFAULT_MAINTENANCE_PLAN',</a:t>
            </a:r>
          </a:p>
          <a:p>
            <a:pPr>
              <a:spcAft>
                <a:spcPts val="0"/>
              </a:spcAft>
            </a:pPr>
            <a:r>
              <a:rPr sz="1250" b="0">
                <a:solidFill>
                  <a:srgbClr val="F2F2F2"/>
                </a:solidFill>
                <a:latin typeface="Consolas"/>
              </a:rPr>
              <a:t>    group_or_subplan =&gt; 'ORA$AUTOTASK',</a:t>
            </a:r>
          </a:p>
          <a:p>
            <a:pPr>
              <a:spcAft>
                <a:spcPts val="0"/>
              </a:spcAft>
            </a:pPr>
            <a:r>
              <a:rPr sz="1250" b="0">
                <a:solidFill>
                  <a:srgbClr val="F2F2F2"/>
                </a:solidFill>
                <a:latin typeface="Consolas"/>
              </a:rPr>
              <a:t>    new_mgmt_p1      =&gt; 40);</a:t>
            </a:r>
          </a:p>
          <a:p>
            <a:pPr>
              <a:spcAft>
                <a:spcPts val="0"/>
              </a:spcAft>
            </a:pPr>
            <a:r>
              <a:rPr sz="1250" b="0">
                <a:solidFill>
                  <a:srgbClr val="F2F2F2"/>
                </a:solidFill>
                <a:latin typeface="Consolas"/>
              </a:rPr>
              <a:t>  DBMS_RESOURCE_MANAGER.VALIDATE_PENDING_AREA();</a:t>
            </a:r>
          </a:p>
          <a:p>
            <a:pPr>
              <a:spcAft>
                <a:spcPts val="0"/>
              </a:spcAft>
            </a:pPr>
            <a:r>
              <a:rPr sz="1250" b="0">
                <a:solidFill>
                  <a:srgbClr val="F2F2F2"/>
                </a:solidFill>
                <a:latin typeface="Consolas"/>
              </a:rPr>
              <a:t>  DBMS_RESOURCE_MANAGER.SUBMIT_PENDING_AREA();</a:t>
            </a:r>
          </a:p>
          <a:p>
            <a:pPr>
              <a:spcAft>
                <a:spcPts val="0"/>
              </a:spcAft>
            </a:pPr>
            <a:r>
              <a:rPr sz="1250" b="0">
                <a:solidFill>
                  <a:srgbClr val="F2F2F2"/>
                </a:solidFill>
                <a:latin typeface="Consolas"/>
              </a:rPr>
              <a:t>END;</a:t>
            </a:r>
          </a:p>
          <a:p>
            <a:pPr>
              <a:spcAft>
                <a:spcPts val="0"/>
              </a:spcAft>
            </a:pPr>
            <a:r>
              <a:rPr sz="1250" b="0">
                <a:solidFill>
                  <a:srgbClr val="F2F2F2"/>
                </a:solidFill>
                <a:latin typeface="Consolas"/>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30.10</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유지관리 작업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DBA_AUTOTASK_* 뷰</a:t>
            </a:r>
          </a:p>
          <a:p>
            <a:pPr>
              <a:spcAft>
                <a:spcPts val="400"/>
              </a:spcAft>
            </a:pPr>
            <a:r>
              <a:rPr sz="1600" b="0">
                <a:solidFill>
                  <a:srgbClr val="FFFFFF"/>
                </a:solidFill>
                <a:latin typeface="맑은 고딕"/>
              </a:rPr>
              <a:t>•  실행 이력과 스케줄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모니터링 뷰와 진단 순서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켜졌는가·실행됐는가·언제 다시</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DBA_AUTOTASK_CLIENT : 작업별 활성 상태·누적 통계</a:t>
            </a:r>
          </a:p>
          <a:p>
            <a:pPr>
              <a:spcAft>
                <a:spcPts val="800"/>
              </a:spcAft>
            </a:pPr>
            <a:r>
              <a:rPr sz="1700" b="0">
                <a:solidFill>
                  <a:srgbClr val="222222"/>
                </a:solidFill>
                <a:latin typeface="맑은 고딕"/>
              </a:rPr>
              <a:t>•  DBA_AUTOTASK_JOB_HISTORY : 잡 실행 이력(SUCCEEDED/FAILED/STOPPED)</a:t>
            </a:r>
          </a:p>
          <a:p>
            <a:pPr>
              <a:spcAft>
                <a:spcPts val="800"/>
              </a:spcAft>
            </a:pPr>
            <a:r>
              <a:rPr sz="1700" b="0">
                <a:solidFill>
                  <a:srgbClr val="222222"/>
                </a:solidFill>
                <a:latin typeface="맑은 고딕"/>
              </a:rPr>
              <a:t>•  DBA_AUTOTASK_CLIENT_JOB / _WINDOW_CLIENTS / _SCHEDULE : 실행·참여·예정</a:t>
            </a:r>
          </a:p>
          <a:p>
            <a:pPr>
              <a:spcAft>
                <a:spcPts val="800"/>
              </a:spcAft>
            </a:pPr>
            <a:r>
              <a:rPr sz="1700" b="0">
                <a:solidFill>
                  <a:srgbClr val="222222"/>
                </a:solidFill>
                <a:latin typeface="맑은 고딕"/>
              </a:rPr>
              <a:t>•  작업이 안 돌 때: 프레임워크→클라이언트→윈도우 참여→윈도우 열림 순 점검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최근 실행 이력 조회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DBA_AUTOTASK_JOB_HISTORY</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Aft>
                <a:spcPts val="0"/>
              </a:spcAft>
            </a:pPr>
            <a:r>
              <a:rPr sz="1250" b="0">
                <a:solidFill>
                  <a:srgbClr val="F2F2F2"/>
                </a:solidFill>
                <a:latin typeface="Consolas"/>
              </a:rPr>
              <a:t>COLUMN client_name FORMAT A32</a:t>
            </a:r>
          </a:p>
          <a:p>
            <a:pPr>
              <a:spcAft>
                <a:spcPts val="0"/>
              </a:spcAft>
            </a:pPr>
            <a:r>
              <a:rPr sz="1250" b="0">
                <a:solidFill>
                  <a:srgbClr val="F2F2F2"/>
                </a:solidFill>
                <a:latin typeface="Consolas"/>
              </a:rPr>
              <a:t>SELECT client_name, job_status,</a:t>
            </a:r>
          </a:p>
          <a:p>
            <a:pPr>
              <a:spcAft>
                <a:spcPts val="0"/>
              </a:spcAft>
            </a:pPr>
            <a:r>
              <a:rPr sz="1250" b="0">
                <a:solidFill>
                  <a:srgbClr val="F2F2F2"/>
                </a:solidFill>
                <a:latin typeface="Consolas"/>
              </a:rPr>
              <a:t>       TO_CHAR(job_start_time,'MM-DD HH24:MI') started</a:t>
            </a:r>
          </a:p>
          <a:p>
            <a:pPr>
              <a:spcAft>
                <a:spcPts val="0"/>
              </a:spcAft>
            </a:pPr>
            <a:r>
              <a:rPr sz="1250" b="0">
                <a:solidFill>
                  <a:srgbClr val="F2F2F2"/>
                </a:solidFill>
                <a:latin typeface="Consolas"/>
              </a:rPr>
              <a:t>  FROM  dba_autotask_job_history</a:t>
            </a:r>
          </a:p>
          <a:p>
            <a:pPr>
              <a:spcAft>
                <a:spcPts val="0"/>
              </a:spcAft>
            </a:pPr>
            <a:r>
              <a:rPr sz="1250" b="0">
                <a:solidFill>
                  <a:srgbClr val="F2F2F2"/>
                </a:solidFill>
                <a:latin typeface="Consolas"/>
              </a:rPr>
              <a:t> ORDER BY job_start_time DESC</a:t>
            </a:r>
          </a:p>
          <a:p>
            <a:pPr>
              <a:spcAft>
                <a:spcPts val="0"/>
              </a:spcAft>
            </a:pPr>
            <a:r>
              <a:rPr sz="1250" b="0">
                <a:solidFill>
                  <a:srgbClr val="F2F2F2"/>
                </a:solidFill>
                <a:latin typeface="Consolas"/>
              </a:rPr>
              <a:t> FETCH FIRST 6 ROWS ONLY;</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CLIENT_NAME                     JOB_STATUS STARTED</a:t>
            </a:r>
          </a:p>
          <a:p>
            <a:pPr>
              <a:spcAft>
                <a:spcPts val="0"/>
              </a:spcAft>
            </a:pPr>
            <a:r>
              <a:rPr sz="1250" b="0">
                <a:solidFill>
                  <a:srgbClr val="F2F2F2"/>
                </a:solidFill>
                <a:latin typeface="Consolas"/>
              </a:rPr>
              <a:t>------------------------------- ---------- ----------</a:t>
            </a:r>
          </a:p>
          <a:p>
            <a:pPr>
              <a:spcAft>
                <a:spcPts val="0"/>
              </a:spcAft>
            </a:pPr>
            <a:r>
              <a:rPr sz="1250" b="0">
                <a:solidFill>
                  <a:srgbClr val="F2F2F2"/>
                </a:solidFill>
                <a:latin typeface="Consolas"/>
              </a:rPr>
              <a:t>auto optimizer stats collection SUCCEEDED  08-10 22:04</a:t>
            </a:r>
          </a:p>
          <a:p>
            <a:pPr>
              <a:spcAft>
                <a:spcPts val="0"/>
              </a:spcAft>
            </a:pPr>
            <a:r>
              <a:rPr sz="1250" b="0">
                <a:solidFill>
                  <a:srgbClr val="F2F2F2"/>
                </a:solidFill>
                <a:latin typeface="Consolas"/>
              </a:rPr>
              <a:t>auto space advisor              SUCCEEDED  08-10 22:06</a:t>
            </a:r>
          </a:p>
          <a:p>
            <a:pPr>
              <a:spcAft>
                <a:spcPts val="0"/>
              </a:spcAft>
            </a:pPr>
            <a:r>
              <a:rPr sz="1250" b="0">
                <a:solidFill>
                  <a:srgbClr val="F2F2F2"/>
                </a:solidFill>
                <a:latin typeface="Consolas"/>
              </a:rPr>
              <a:t>sql tuning advisor              SUCCEEDED  08-10 22:31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30.11</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멀티테넌트 환경에서의 자동 작업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윈도우/플랜은 CDB 공통</a:t>
            </a:r>
          </a:p>
          <a:p>
            <a:pPr>
              <a:spcAft>
                <a:spcPts val="400"/>
              </a:spcAft>
            </a:pPr>
            <a:r>
              <a:rPr sz="1600" b="0">
                <a:solidFill>
                  <a:srgbClr val="FFFFFF"/>
                </a:solidFill>
                <a:latin typeface="맑은 고딕"/>
              </a:rPr>
              <a:t>•  작업 활성화는 PDB별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CDB / PDB 책임 분담</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언제는 공통, 무엇을은 개별</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유지관리 윈도우·리소스 플랜 : CDB 루트에서 정의(CDB 공통)</a:t>
            </a:r>
          </a:p>
          <a:p>
            <a:pPr>
              <a:spcAft>
                <a:spcPts val="800"/>
              </a:spcAft>
            </a:pPr>
            <a:r>
              <a:rPr sz="1700" b="0">
                <a:solidFill>
                  <a:srgbClr val="222222"/>
                </a:solidFill>
                <a:latin typeface="맑은 고딕"/>
              </a:rPr>
              <a:t>•  자동 작업 활성/비활성 : 각 PDB에서 개별 제어(DBMS_AUTO_TASK_ADMIN)</a:t>
            </a:r>
          </a:p>
          <a:p>
            <a:pPr>
              <a:spcAft>
                <a:spcPts val="800"/>
              </a:spcAft>
            </a:pPr>
            <a:r>
              <a:rPr sz="1700" b="0">
                <a:solidFill>
                  <a:srgbClr val="222222"/>
                </a:solidFill>
                <a:latin typeface="맑은 고딕"/>
              </a:rPr>
              <a:t>•  윈도우 열림은 CDB 전체 동시 → 실제 실행 작업은 PDB 설정에 따라</a:t>
            </a:r>
          </a:p>
          <a:p>
            <a:pPr>
              <a:spcAft>
                <a:spcPts val="800"/>
              </a:spcAft>
            </a:pPr>
            <a:r>
              <a:rPr sz="1700" b="0">
                <a:solidFill>
                  <a:srgbClr val="222222"/>
                </a:solidFill>
                <a:latin typeface="맑은 고딕"/>
              </a:rPr>
              <a:t>•  자원: CDB 플랜(PDB 간 배분) + PDB 플랜(내부 배분) 계층 적용</a:t>
            </a:r>
          </a:p>
          <a:p>
            <a:pPr>
              <a:spcAft>
                <a:spcPts val="800"/>
              </a:spcAft>
            </a:pPr>
            <a:r>
              <a:rPr sz="1700" b="0">
                <a:solidFill>
                  <a:srgbClr val="222222"/>
                </a:solidFill>
                <a:latin typeface="맑은 고딕"/>
              </a:rPr>
              <a:t>•  조회: CDB_AUTOTASK_*(전체, CON_ID) / DBA_AUTOTASK_*(현재 컨테이너)</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(Quiz)</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이해도 점검 (정답은 실습문제 정답지 참고)</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800"/>
              </a:spcAft>
            </a:pPr>
            <a:r>
              <a:rPr sz="1700" b="0">
                <a:solidFill>
                  <a:srgbClr val="222222"/>
                </a:solidFill>
                <a:latin typeface="맑은 고딕"/>
              </a:rPr>
              <a:t>•  Q1. 자동 유지관리 작업을 켜고 끄는 표준 패키지와 대표 프로시저 두 개는?</a:t>
            </a:r>
          </a:p>
          <a:p>
            <a:pPr>
              <a:spcAft>
                <a:spcPts val="800"/>
              </a:spcAft>
            </a:pPr>
            <a:r>
              <a:rPr sz="1700" b="0">
                <a:solidFill>
                  <a:srgbClr val="222222"/>
                </a:solidFill>
                <a:latin typeface="맑은 고딕"/>
              </a:rPr>
              <a:t>•  Q2. DISABLE을 인자 없이 호출하면 어떤 범위가 대상이 되는가?</a:t>
            </a:r>
          </a:p>
          <a:p>
            <a:pPr>
              <a:spcAft>
                <a:spcPts val="800"/>
              </a:spcAft>
            </a:pPr>
            <a:r>
              <a:rPr sz="1700" b="0">
                <a:solidFill>
                  <a:srgbClr val="222222"/>
                </a:solidFill>
                <a:latin typeface="맑은 고딕"/>
              </a:rPr>
              <a:t>•  Q3. 사용자 정의 윈도우 생성 프로시저와, 자동 작업에 참여시키기 위한 추가 작업은?</a:t>
            </a:r>
          </a:p>
          <a:p>
            <a:pPr>
              <a:spcAft>
                <a:spcPts val="800"/>
              </a:spcAft>
            </a:pPr>
            <a:r>
              <a:rPr sz="1700" b="0">
                <a:solidFill>
                  <a:srgbClr val="222222"/>
                </a:solidFill>
                <a:latin typeface="맑은 고딕"/>
              </a:rPr>
              <a:t>•  Q4. 유지관리 윈도우가 열릴 때 자동 활성화되는 리소스 플랜의 이름은?</a:t>
            </a:r>
          </a:p>
          <a:p>
            <a:pPr>
              <a:spcAft>
                <a:spcPts val="800"/>
              </a:spcAft>
            </a:pPr>
            <a:r>
              <a:rPr sz="1700" b="0">
                <a:solidFill>
                  <a:srgbClr val="222222"/>
                </a:solidFill>
                <a:latin typeface="맑은 고딕"/>
              </a:rPr>
              <a:t>•  Q5. 리소스 관리자 변경의 4단계 워크플로우를 순서대로 쓰시오.</a:t>
            </a:r>
          </a:p>
          <a:p>
            <a:pPr>
              <a:spcAft>
                <a:spcPts val="800"/>
              </a:spcAft>
            </a:pPr>
            <a:r>
              <a:rPr sz="1700" b="0">
                <a:solidFill>
                  <a:srgbClr val="222222"/>
                </a:solidFill>
                <a:latin typeface="맑은 고딕"/>
              </a:rPr>
              <a:t>•  Q6. 멀티테넌트에서 윈도우 정의와 작업 활성화는 각각 어느 계층에서 관리되는가?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DBMS_AUTO_TASK_ADMIN : ENABLE/DISABLE로 프레임워크·클라이언트·윈도우 단위 제어</a:t>
            </a:r>
          </a:p>
          <a:p>
            <a:pPr>
              <a:spcAft>
                <a:spcPts val="600"/>
              </a:spcAft>
            </a:pPr>
            <a:r>
              <a:rPr sz="1600" b="0">
                <a:solidFill>
                  <a:srgbClr val="222222"/>
                </a:solidFill>
                <a:latin typeface="맑은 고딕"/>
              </a:rPr>
              <a:t>•  세 클라이언트: 통계 수집·공간 어드바이저·SQL 튜닝 어드바이저를 개별 제어</a:t>
            </a:r>
          </a:p>
          <a:p>
            <a:pPr>
              <a:spcAft>
                <a:spcPts val="600"/>
              </a:spcAft>
            </a:pPr>
            <a:r>
              <a:rPr sz="1600" b="0">
                <a:solidFill>
                  <a:srgbClr val="222222"/>
                </a:solidFill>
                <a:latin typeface="맑은 고딕"/>
              </a:rPr>
              <a:t>•  윈도우: CREATE_WINDOW로 생성, SET_ATTRIBUTE로 수정, ENABLE/DISABLE/DROP</a:t>
            </a:r>
          </a:p>
          <a:p>
            <a:pPr>
              <a:spcAft>
                <a:spcPts val="600"/>
              </a:spcAft>
            </a:pPr>
            <a:r>
              <a:rPr sz="1600" b="0">
                <a:solidFill>
                  <a:srgbClr val="222222"/>
                </a:solidFill>
                <a:latin typeface="맑은 고딕"/>
              </a:rPr>
              <a:t>•  자동 작업 참여: ADD_WINDOW_GROUP_MEMBER로 MAINTENANCE_WINDOW_GROUP에 추가</a:t>
            </a:r>
          </a:p>
          <a:p>
            <a:pPr>
              <a:spcAft>
                <a:spcPts val="600"/>
              </a:spcAft>
            </a:pPr>
            <a:r>
              <a:rPr sz="1600" b="0">
                <a:solidFill>
                  <a:srgbClr val="222222"/>
                </a:solidFill>
                <a:latin typeface="맑은 고딕"/>
              </a:rPr>
              <a:t>•  자원: DEFAULT_MAINTENANCE_PLAN(ORA$AUTOTASK), DBA_RSRC_PLAN_DIRECTIVES로 조회</a:t>
            </a:r>
          </a:p>
          <a:p>
            <a:pPr>
              <a:spcAft>
                <a:spcPts val="600"/>
              </a:spcAft>
            </a:pPr>
            <a:r>
              <a:rPr sz="1600" b="0">
                <a:solidFill>
                  <a:srgbClr val="222222"/>
                </a:solidFill>
                <a:latin typeface="맑은 고딕"/>
              </a:rPr>
              <a:t>•  변경: DBMS_RESOURCE_MANAGER의 CREATE→UPDATE→VALIDATE→SUBMIT 워크플로우</a:t>
            </a:r>
          </a:p>
          <a:p>
            <a:pPr>
              <a:spcAft>
                <a:spcPts val="600"/>
              </a:spcAft>
            </a:pPr>
            <a:r>
              <a:rPr sz="1600" b="0">
                <a:solidFill>
                  <a:srgbClr val="222222"/>
                </a:solidFill>
                <a:latin typeface="맑은 고딕"/>
              </a:rPr>
              <a:t>•  모니터링: DBA_AUTOTASK_JOB_HISTORY·DBA_AUTOTASK_CLIENT</a:t>
            </a:r>
          </a:p>
          <a:p>
            <a:pPr>
              <a:spcAft>
                <a:spcPts val="600"/>
              </a:spcAft>
            </a:pPr>
            <a:r>
              <a:rPr sz="1600" b="0">
                <a:solidFill>
                  <a:srgbClr val="222222"/>
                </a:solidFill>
                <a:latin typeface="맑은 고딕"/>
              </a:rPr>
              <a:t>•  멀티테넌트: 윈도우/플랜은 CDB 공통, 작업 활성화는 PDB별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실습 30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실습 01 — 자동 유지관리 작업 구성(DBMS_AUTO_TASK_ADMIN)</a:t>
            </a:r>
          </a:p>
          <a:p>
            <a:pPr>
              <a:spcAft>
                <a:spcPts val="600"/>
              </a:spcAft>
            </a:pPr>
            <a:r>
              <a:rPr sz="1600" b="0">
                <a:solidFill>
                  <a:srgbClr val="222222"/>
                </a:solidFill>
                <a:latin typeface="맑은 고딕"/>
              </a:rPr>
              <a:t>•  실습 02 — 자동 유지관리 작업 활성화/비활성화(client_name 단위)</a:t>
            </a:r>
          </a:p>
          <a:p>
            <a:pPr>
              <a:spcAft>
                <a:spcPts val="600"/>
              </a:spcAft>
            </a:pPr>
            <a:r>
              <a:rPr sz="1600" b="0">
                <a:solidFill>
                  <a:srgbClr val="222222"/>
                </a:solidFill>
                <a:latin typeface="맑은 고딕"/>
              </a:rPr>
              <a:t>•  실습 03 — 유지관리 윈도우 생성 및 관리(CREATE_WINDOW/그룹)</a:t>
            </a:r>
          </a:p>
          <a:p>
            <a:pPr>
              <a:spcAft>
                <a:spcPts val="600"/>
              </a:spcAft>
            </a:pPr>
            <a:r>
              <a:rPr sz="1600" b="0">
                <a:solidFill>
                  <a:srgbClr val="222222"/>
                </a:solidFill>
                <a:latin typeface="맑은 고딕"/>
              </a:rPr>
              <a:t>•  실습 04 — 자동 유지관리 작업 리소스 할당 확인(DBA_RSRC_PLAN_DIRECTIVES)</a:t>
            </a:r>
          </a:p>
          <a:p>
            <a:pPr>
              <a:spcAft>
                <a:spcPts val="600"/>
              </a:spcAft>
            </a:pPr>
            <a:r>
              <a:rPr sz="1600" b="0">
                <a:solidFill>
                  <a:srgbClr val="222222"/>
                </a:solidFill>
                <a:latin typeface="맑은 고딕"/>
              </a:rPr>
              <a:t>•  실습 05 — 유지관리 작업 리소스 할당 변경(Pending Area)</a:t>
            </a:r>
          </a:p>
          <a:p>
            <a:pPr>
              <a:spcAft>
                <a:spcPts val="600"/>
              </a:spcAft>
            </a:pPr>
            <a:r>
              <a:rPr sz="1600" b="0">
                <a:solidFill>
                  <a:srgbClr val="222222"/>
                </a:solidFill>
                <a:latin typeface="맑은 고딕"/>
              </a:rPr>
              <a:t>•  ※ 이 장은 '구성·변경·관리' 실무 중심 (29장의 '조회' 중심과 대비)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